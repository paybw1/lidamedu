
<file path=[Content_Types].xml><?xml version="1.0" encoding="utf-8"?>
<Types xmlns="http://schemas.openxmlformats.org/package/2006/content-types">
  <Default Extension="emf" ContentType="image/x-emf"/>
  <Default Extension="fntdata" ContentType="application/x-fontdata"/>
  <Default Extension="gif" ContentType="image/gif"/>
  <Default Extension="jpeg" ContentType="image/jpeg"/>
  <Default Extension="png" ContentType="image/png"/>
  <Default Extension="rels" ContentType="application/vnd.openxmlformats-package.relationships+xml"/>
  <Default Extension="wdp" ContentType="image/vnd.ms-photo"/>
  <Default Extension="wmf" ContentType="image/x-wmf"/>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3.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thumbnail" Target="docProps/thumbnail.jpeg"/><Relationship Id="rId2" Type="http://schemas.openxmlformats.org/officeDocument/2006/relationships/officeDocument" Target="ppt/presentation.xml"/><Relationship Id="rId1" Type="http://schemas.microsoft.com/office/2011/relationships/webextensiontaskpanes" Target="ppt/webextensions/taskpanes.xml"/><Relationship Id="rId5" Type="http://schemas.openxmlformats.org/officeDocument/2006/relationships/extended-properties" Target="docProps/app.xml"/><Relationship Id="rId4" Type="http://schemas.openxmlformats.org/package/2006/relationships/metadata/core-properties" Target="docProps/core.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embedTrueTypeFonts="1" saveSubsetFonts="1">
  <p:sldMasterIdLst>
    <p:sldMasterId id="2147483658" r:id="rId1"/>
    <p:sldMasterId id="2147483668" r:id="rId2"/>
    <p:sldMasterId id="2147483672" r:id="rId3"/>
    <p:sldMasterId id="2147483685" r:id="rId4"/>
  </p:sldMasterIdLst>
  <p:notesMasterIdLst>
    <p:notesMasterId r:id="rId608"/>
  </p:notesMasterIdLst>
  <p:handoutMasterIdLst>
    <p:handoutMasterId r:id="rId609"/>
  </p:handoutMasterIdLst>
  <p:sldIdLst>
    <p:sldId id="2349" r:id="rId5"/>
    <p:sldId id="316" r:id="rId6"/>
    <p:sldId id="2138" r:id="rId7"/>
    <p:sldId id="2045" r:id="rId8"/>
    <p:sldId id="299" r:id="rId9"/>
    <p:sldId id="309" r:id="rId10"/>
    <p:sldId id="262" r:id="rId11"/>
    <p:sldId id="265" r:id="rId12"/>
    <p:sldId id="264" r:id="rId13"/>
    <p:sldId id="2018" r:id="rId14"/>
    <p:sldId id="266" r:id="rId15"/>
    <p:sldId id="267" r:id="rId16"/>
    <p:sldId id="300" r:id="rId17"/>
    <p:sldId id="319" r:id="rId18"/>
    <p:sldId id="260" r:id="rId19"/>
    <p:sldId id="290" r:id="rId20"/>
    <p:sldId id="291" r:id="rId21"/>
    <p:sldId id="292" r:id="rId22"/>
    <p:sldId id="293" r:id="rId23"/>
    <p:sldId id="294" r:id="rId24"/>
    <p:sldId id="2046" r:id="rId25"/>
    <p:sldId id="296" r:id="rId26"/>
    <p:sldId id="263" r:id="rId27"/>
    <p:sldId id="318" r:id="rId28"/>
    <p:sldId id="2136" r:id="rId29"/>
    <p:sldId id="2019" r:id="rId30"/>
    <p:sldId id="268" r:id="rId31"/>
    <p:sldId id="270" r:id="rId32"/>
    <p:sldId id="306" r:id="rId33"/>
    <p:sldId id="701" r:id="rId34"/>
    <p:sldId id="271" r:id="rId35"/>
    <p:sldId id="699" r:id="rId36"/>
    <p:sldId id="2137" r:id="rId37"/>
    <p:sldId id="272" r:id="rId38"/>
    <p:sldId id="273" r:id="rId39"/>
    <p:sldId id="274" r:id="rId40"/>
    <p:sldId id="275" r:id="rId41"/>
    <p:sldId id="276" r:id="rId42"/>
    <p:sldId id="277" r:id="rId43"/>
    <p:sldId id="278" r:id="rId44"/>
    <p:sldId id="2139" r:id="rId45"/>
    <p:sldId id="2017" r:id="rId46"/>
    <p:sldId id="279" r:id="rId47"/>
    <p:sldId id="280" r:id="rId48"/>
    <p:sldId id="282" r:id="rId49"/>
    <p:sldId id="302" r:id="rId50"/>
    <p:sldId id="303" r:id="rId51"/>
    <p:sldId id="2047" r:id="rId52"/>
    <p:sldId id="281" r:id="rId53"/>
    <p:sldId id="304" r:id="rId54"/>
    <p:sldId id="305" r:id="rId55"/>
    <p:sldId id="2140" r:id="rId56"/>
    <p:sldId id="2071" r:id="rId57"/>
    <p:sldId id="2348" r:id="rId58"/>
    <p:sldId id="2141" r:id="rId59"/>
    <p:sldId id="283" r:id="rId60"/>
    <p:sldId id="284" r:id="rId61"/>
    <p:sldId id="376" r:id="rId62"/>
    <p:sldId id="285" r:id="rId63"/>
    <p:sldId id="287" r:id="rId64"/>
    <p:sldId id="288" r:id="rId65"/>
    <p:sldId id="289" r:id="rId66"/>
    <p:sldId id="2142" r:id="rId67"/>
    <p:sldId id="2143" r:id="rId68"/>
    <p:sldId id="2144" r:id="rId69"/>
    <p:sldId id="2146" r:id="rId70"/>
    <p:sldId id="379" r:id="rId71"/>
    <p:sldId id="2069" r:id="rId72"/>
    <p:sldId id="2147" r:id="rId73"/>
    <p:sldId id="2148" r:id="rId74"/>
    <p:sldId id="2149" r:id="rId75"/>
    <p:sldId id="295" r:id="rId76"/>
    <p:sldId id="2150" r:id="rId77"/>
    <p:sldId id="298" r:id="rId78"/>
    <p:sldId id="2151" r:id="rId79"/>
    <p:sldId id="2152" r:id="rId80"/>
    <p:sldId id="357" r:id="rId81"/>
    <p:sldId id="301" r:id="rId82"/>
    <p:sldId id="387" r:id="rId83"/>
    <p:sldId id="388" r:id="rId84"/>
    <p:sldId id="2070" r:id="rId85"/>
    <p:sldId id="2153" r:id="rId86"/>
    <p:sldId id="2154" r:id="rId87"/>
    <p:sldId id="2155" r:id="rId88"/>
    <p:sldId id="355" r:id="rId89"/>
    <p:sldId id="787" r:id="rId90"/>
    <p:sldId id="2156" r:id="rId91"/>
    <p:sldId id="788" r:id="rId92"/>
    <p:sldId id="2157" r:id="rId93"/>
    <p:sldId id="307" r:id="rId94"/>
    <p:sldId id="308" r:id="rId95"/>
    <p:sldId id="2158" r:id="rId96"/>
    <p:sldId id="312" r:id="rId97"/>
    <p:sldId id="311" r:id="rId98"/>
    <p:sldId id="313" r:id="rId99"/>
    <p:sldId id="315" r:id="rId100"/>
    <p:sldId id="314" r:id="rId101"/>
    <p:sldId id="2159" r:id="rId102"/>
    <p:sldId id="317" r:id="rId103"/>
    <p:sldId id="2020" r:id="rId104"/>
    <p:sldId id="321" r:id="rId105"/>
    <p:sldId id="2160" r:id="rId106"/>
    <p:sldId id="2161" r:id="rId107"/>
    <p:sldId id="786" r:id="rId108"/>
    <p:sldId id="2162" r:id="rId109"/>
    <p:sldId id="2163" r:id="rId110"/>
    <p:sldId id="2066" r:id="rId111"/>
    <p:sldId id="2164" r:id="rId112"/>
    <p:sldId id="320" r:id="rId113"/>
    <p:sldId id="322" r:id="rId114"/>
    <p:sldId id="383" r:id="rId115"/>
    <p:sldId id="2074" r:id="rId116"/>
    <p:sldId id="323" r:id="rId117"/>
    <p:sldId id="2023" r:id="rId118"/>
    <p:sldId id="2024" r:id="rId119"/>
    <p:sldId id="380" r:id="rId120"/>
    <p:sldId id="381" r:id="rId121"/>
    <p:sldId id="324" r:id="rId122"/>
    <p:sldId id="325" r:id="rId123"/>
    <p:sldId id="789" r:id="rId124"/>
    <p:sldId id="334" r:id="rId125"/>
    <p:sldId id="790" r:id="rId126"/>
    <p:sldId id="335" r:id="rId127"/>
    <p:sldId id="382" r:id="rId128"/>
    <p:sldId id="337" r:id="rId129"/>
    <p:sldId id="2021" r:id="rId130"/>
    <p:sldId id="354" r:id="rId131"/>
    <p:sldId id="339" r:id="rId132"/>
    <p:sldId id="2165" r:id="rId133"/>
    <p:sldId id="340" r:id="rId134"/>
    <p:sldId id="342" r:id="rId135"/>
    <p:sldId id="384" r:id="rId136"/>
    <p:sldId id="344" r:id="rId137"/>
    <p:sldId id="2067" r:id="rId138"/>
    <p:sldId id="345" r:id="rId139"/>
    <p:sldId id="346" r:id="rId140"/>
    <p:sldId id="385" r:id="rId141"/>
    <p:sldId id="386" r:id="rId142"/>
    <p:sldId id="347" r:id="rId143"/>
    <p:sldId id="348" r:id="rId144"/>
    <p:sldId id="349" r:id="rId145"/>
    <p:sldId id="2022" r:id="rId146"/>
    <p:sldId id="2166" r:id="rId147"/>
    <p:sldId id="351" r:id="rId148"/>
    <p:sldId id="2064" r:id="rId149"/>
    <p:sldId id="353" r:id="rId150"/>
    <p:sldId id="356" r:id="rId151"/>
    <p:sldId id="352" r:id="rId152"/>
    <p:sldId id="2350" r:id="rId153"/>
    <p:sldId id="2167" r:id="rId154"/>
    <p:sldId id="2351" r:id="rId155"/>
    <p:sldId id="2050" r:id="rId156"/>
    <p:sldId id="2168" r:id="rId157"/>
    <p:sldId id="257" r:id="rId158"/>
    <p:sldId id="258" r:id="rId159"/>
    <p:sldId id="259" r:id="rId160"/>
    <p:sldId id="2169" r:id="rId161"/>
    <p:sldId id="261" r:id="rId162"/>
    <p:sldId id="2170" r:id="rId163"/>
    <p:sldId id="2171" r:id="rId164"/>
    <p:sldId id="2172" r:id="rId165"/>
    <p:sldId id="2173" r:id="rId166"/>
    <p:sldId id="2174" r:id="rId167"/>
    <p:sldId id="2175" r:id="rId168"/>
    <p:sldId id="269" r:id="rId169"/>
    <p:sldId id="2176" r:id="rId170"/>
    <p:sldId id="2177" r:id="rId171"/>
    <p:sldId id="2178" r:id="rId172"/>
    <p:sldId id="2032" r:id="rId173"/>
    <p:sldId id="2179" r:id="rId174"/>
    <p:sldId id="2180" r:id="rId175"/>
    <p:sldId id="2181" r:id="rId176"/>
    <p:sldId id="2025" r:id="rId177"/>
    <p:sldId id="2182" r:id="rId178"/>
    <p:sldId id="2183" r:id="rId179"/>
    <p:sldId id="2184" r:id="rId180"/>
    <p:sldId id="2185" r:id="rId181"/>
    <p:sldId id="2186" r:id="rId182"/>
    <p:sldId id="2187" r:id="rId183"/>
    <p:sldId id="2188" r:id="rId184"/>
    <p:sldId id="286" r:id="rId185"/>
    <p:sldId id="2189" r:id="rId186"/>
    <p:sldId id="2190" r:id="rId187"/>
    <p:sldId id="2191" r:id="rId188"/>
    <p:sldId id="2192" r:id="rId189"/>
    <p:sldId id="2193" r:id="rId190"/>
    <p:sldId id="2194" r:id="rId191"/>
    <p:sldId id="2195" r:id="rId192"/>
    <p:sldId id="2196" r:id="rId193"/>
    <p:sldId id="2197" r:id="rId194"/>
    <p:sldId id="2198" r:id="rId195"/>
    <p:sldId id="2199" r:id="rId196"/>
    <p:sldId id="2200" r:id="rId197"/>
    <p:sldId id="2201" r:id="rId198"/>
    <p:sldId id="2202" r:id="rId199"/>
    <p:sldId id="2203" r:id="rId200"/>
    <p:sldId id="2204" r:id="rId201"/>
    <p:sldId id="2205" r:id="rId202"/>
    <p:sldId id="2206" r:id="rId203"/>
    <p:sldId id="2207" r:id="rId204"/>
    <p:sldId id="2208" r:id="rId205"/>
    <p:sldId id="2209" r:id="rId206"/>
    <p:sldId id="2135" r:id="rId207"/>
    <p:sldId id="2210" r:id="rId208"/>
    <p:sldId id="2211" r:id="rId209"/>
    <p:sldId id="2212" r:id="rId210"/>
    <p:sldId id="458" r:id="rId211"/>
    <p:sldId id="2213" r:id="rId212"/>
    <p:sldId id="2214" r:id="rId213"/>
    <p:sldId id="2215" r:id="rId214"/>
    <p:sldId id="2034" r:id="rId215"/>
    <p:sldId id="2033" r:id="rId216"/>
    <p:sldId id="310" r:id="rId217"/>
    <p:sldId id="2216" r:id="rId218"/>
    <p:sldId id="2217" r:id="rId219"/>
    <p:sldId id="2218" r:id="rId220"/>
    <p:sldId id="2219" r:id="rId221"/>
    <p:sldId id="2220" r:id="rId222"/>
    <p:sldId id="2221" r:id="rId223"/>
    <p:sldId id="2222" r:id="rId224"/>
    <p:sldId id="343" r:id="rId225"/>
    <p:sldId id="2223" r:id="rId226"/>
    <p:sldId id="2224" r:id="rId227"/>
    <p:sldId id="2225" r:id="rId228"/>
    <p:sldId id="2226" r:id="rId229"/>
    <p:sldId id="2227" r:id="rId230"/>
    <p:sldId id="2053" r:id="rId231"/>
    <p:sldId id="2228" r:id="rId232"/>
    <p:sldId id="2229" r:id="rId233"/>
    <p:sldId id="2230" r:id="rId234"/>
    <p:sldId id="2231" r:id="rId235"/>
    <p:sldId id="326" r:id="rId236"/>
    <p:sldId id="2232" r:id="rId237"/>
    <p:sldId id="2233" r:id="rId238"/>
    <p:sldId id="331" r:id="rId239"/>
    <p:sldId id="329" r:id="rId240"/>
    <p:sldId id="330" r:id="rId241"/>
    <p:sldId id="332" r:id="rId242"/>
    <p:sldId id="2234" r:id="rId243"/>
    <p:sldId id="328" r:id="rId244"/>
    <p:sldId id="2026" r:id="rId245"/>
    <p:sldId id="333" r:id="rId246"/>
    <p:sldId id="350" r:id="rId247"/>
    <p:sldId id="2052" r:id="rId248"/>
    <p:sldId id="2235" r:id="rId249"/>
    <p:sldId id="336" r:id="rId250"/>
    <p:sldId id="2236" r:id="rId251"/>
    <p:sldId id="338" r:id="rId252"/>
    <p:sldId id="2049" r:id="rId253"/>
    <p:sldId id="2237" r:id="rId254"/>
    <p:sldId id="2238" r:id="rId255"/>
    <p:sldId id="2239" r:id="rId256"/>
    <p:sldId id="2240" r:id="rId257"/>
    <p:sldId id="2241" r:id="rId258"/>
    <p:sldId id="443" r:id="rId259"/>
    <p:sldId id="444" r:id="rId260"/>
    <p:sldId id="445" r:id="rId261"/>
    <p:sldId id="2242" r:id="rId262"/>
    <p:sldId id="490" r:id="rId263"/>
    <p:sldId id="446" r:id="rId264"/>
    <p:sldId id="447" r:id="rId265"/>
    <p:sldId id="448" r:id="rId266"/>
    <p:sldId id="449" r:id="rId267"/>
    <p:sldId id="389" r:id="rId268"/>
    <p:sldId id="2243" r:id="rId269"/>
    <p:sldId id="489" r:id="rId270"/>
    <p:sldId id="2244" r:id="rId271"/>
    <p:sldId id="450" r:id="rId272"/>
    <p:sldId id="452" r:id="rId273"/>
    <p:sldId id="480" r:id="rId274"/>
    <p:sldId id="461" r:id="rId275"/>
    <p:sldId id="463" r:id="rId276"/>
    <p:sldId id="462" r:id="rId277"/>
    <p:sldId id="466" r:id="rId278"/>
    <p:sldId id="465" r:id="rId279"/>
    <p:sldId id="464" r:id="rId280"/>
    <p:sldId id="468" r:id="rId281"/>
    <p:sldId id="467" r:id="rId282"/>
    <p:sldId id="2245" r:id="rId283"/>
    <p:sldId id="459" r:id="rId284"/>
    <p:sldId id="457" r:id="rId285"/>
    <p:sldId id="469" r:id="rId286"/>
    <p:sldId id="470" r:id="rId287"/>
    <p:sldId id="473" r:id="rId288"/>
    <p:sldId id="474" r:id="rId289"/>
    <p:sldId id="481" r:id="rId290"/>
    <p:sldId id="491" r:id="rId291"/>
    <p:sldId id="2246" r:id="rId292"/>
    <p:sldId id="475" r:id="rId293"/>
    <p:sldId id="476" r:id="rId294"/>
    <p:sldId id="479" r:id="rId295"/>
    <p:sldId id="477" r:id="rId296"/>
    <p:sldId id="478" r:id="rId297"/>
    <p:sldId id="2248" r:id="rId298"/>
    <p:sldId id="2249" r:id="rId299"/>
    <p:sldId id="2250" r:id="rId300"/>
    <p:sldId id="2251" r:id="rId301"/>
    <p:sldId id="2252" r:id="rId302"/>
    <p:sldId id="2253" r:id="rId303"/>
    <p:sldId id="2039" r:id="rId304"/>
    <p:sldId id="2254" r:id="rId305"/>
    <p:sldId id="2255" r:id="rId306"/>
    <p:sldId id="2256" r:id="rId307"/>
    <p:sldId id="482" r:id="rId308"/>
    <p:sldId id="483" r:id="rId309"/>
    <p:sldId id="2055" r:id="rId310"/>
    <p:sldId id="702" r:id="rId311"/>
    <p:sldId id="484" r:id="rId312"/>
    <p:sldId id="485" r:id="rId313"/>
    <p:sldId id="2257" r:id="rId314"/>
    <p:sldId id="486" r:id="rId315"/>
    <p:sldId id="488" r:id="rId316"/>
    <p:sldId id="2258" r:id="rId317"/>
    <p:sldId id="487" r:id="rId318"/>
    <p:sldId id="517" r:id="rId319"/>
    <p:sldId id="703" r:id="rId320"/>
    <p:sldId id="2259" r:id="rId321"/>
    <p:sldId id="783" r:id="rId322"/>
    <p:sldId id="492" r:id="rId323"/>
    <p:sldId id="494" r:id="rId324"/>
    <p:sldId id="495" r:id="rId325"/>
    <p:sldId id="500" r:id="rId326"/>
    <p:sldId id="503" r:id="rId327"/>
    <p:sldId id="504" r:id="rId328"/>
    <p:sldId id="2056" r:id="rId329"/>
    <p:sldId id="704" r:id="rId330"/>
    <p:sldId id="705" r:id="rId331"/>
    <p:sldId id="806" r:id="rId332"/>
    <p:sldId id="513" r:id="rId333"/>
    <p:sldId id="505" r:id="rId334"/>
    <p:sldId id="514" r:id="rId335"/>
    <p:sldId id="519" r:id="rId336"/>
    <p:sldId id="516" r:id="rId337"/>
    <p:sldId id="795" r:id="rId338"/>
    <p:sldId id="796" r:id="rId339"/>
    <p:sldId id="797" r:id="rId340"/>
    <p:sldId id="798" r:id="rId341"/>
    <p:sldId id="799" r:id="rId342"/>
    <p:sldId id="533" r:id="rId343"/>
    <p:sldId id="534" r:id="rId344"/>
    <p:sldId id="2260" r:id="rId345"/>
    <p:sldId id="2261" r:id="rId346"/>
    <p:sldId id="2262" r:id="rId347"/>
    <p:sldId id="800" r:id="rId348"/>
    <p:sldId id="2012" r:id="rId349"/>
    <p:sldId id="2013" r:id="rId350"/>
    <p:sldId id="2037" r:id="rId351"/>
    <p:sldId id="2014" r:id="rId352"/>
    <p:sldId id="2057" r:id="rId353"/>
    <p:sldId id="2058" r:id="rId354"/>
    <p:sldId id="2263" r:id="rId355"/>
    <p:sldId id="706" r:id="rId356"/>
    <p:sldId id="801" r:id="rId357"/>
    <p:sldId id="802" r:id="rId358"/>
    <p:sldId id="2059" r:id="rId359"/>
    <p:sldId id="541" r:id="rId360"/>
    <p:sldId id="708" r:id="rId361"/>
    <p:sldId id="2264" r:id="rId362"/>
    <p:sldId id="545" r:id="rId363"/>
    <p:sldId id="546" r:id="rId364"/>
    <p:sldId id="550" r:id="rId365"/>
    <p:sldId id="562" r:id="rId366"/>
    <p:sldId id="563" r:id="rId367"/>
    <p:sldId id="564" r:id="rId368"/>
    <p:sldId id="565" r:id="rId369"/>
    <p:sldId id="561" r:id="rId370"/>
    <p:sldId id="566" r:id="rId371"/>
    <p:sldId id="568" r:id="rId372"/>
    <p:sldId id="2265" r:id="rId373"/>
    <p:sldId id="567" r:id="rId374"/>
    <p:sldId id="572" r:id="rId375"/>
    <p:sldId id="573" r:id="rId376"/>
    <p:sldId id="575" r:id="rId377"/>
    <p:sldId id="574" r:id="rId378"/>
    <p:sldId id="576" r:id="rId379"/>
    <p:sldId id="577" r:id="rId380"/>
    <p:sldId id="579" r:id="rId381"/>
    <p:sldId id="584" r:id="rId382"/>
    <p:sldId id="588" r:id="rId383"/>
    <p:sldId id="589" r:id="rId384"/>
    <p:sldId id="794" r:id="rId385"/>
    <p:sldId id="591" r:id="rId386"/>
    <p:sldId id="590" r:id="rId387"/>
    <p:sldId id="593" r:id="rId388"/>
    <p:sldId id="594" r:id="rId389"/>
    <p:sldId id="622" r:id="rId390"/>
    <p:sldId id="614" r:id="rId391"/>
    <p:sldId id="615" r:id="rId392"/>
    <p:sldId id="620" r:id="rId393"/>
    <p:sldId id="616" r:id="rId394"/>
    <p:sldId id="2266" r:id="rId395"/>
    <p:sldId id="710" r:id="rId396"/>
    <p:sldId id="2267" r:id="rId397"/>
    <p:sldId id="2268" r:id="rId398"/>
    <p:sldId id="2269" r:id="rId399"/>
    <p:sldId id="642" r:id="rId400"/>
    <p:sldId id="644" r:id="rId401"/>
    <p:sldId id="804" r:id="rId402"/>
    <p:sldId id="647" r:id="rId403"/>
    <p:sldId id="805" r:id="rId404"/>
    <p:sldId id="2016" r:id="rId405"/>
    <p:sldId id="2015" r:id="rId406"/>
    <p:sldId id="2040" r:id="rId407"/>
    <p:sldId id="2060" r:id="rId408"/>
    <p:sldId id="2061" r:id="rId409"/>
    <p:sldId id="2051" r:id="rId410"/>
    <p:sldId id="2270" r:id="rId411"/>
    <p:sldId id="621" r:id="rId412"/>
    <p:sldId id="2041" r:id="rId413"/>
    <p:sldId id="2054" r:id="rId414"/>
    <p:sldId id="648" r:id="rId415"/>
    <p:sldId id="650" r:id="rId416"/>
    <p:sldId id="659" r:id="rId417"/>
    <p:sldId id="652" r:id="rId418"/>
    <p:sldId id="651" r:id="rId419"/>
    <p:sldId id="715" r:id="rId420"/>
    <p:sldId id="2271" r:id="rId421"/>
    <p:sldId id="653" r:id="rId422"/>
    <p:sldId id="792" r:id="rId423"/>
    <p:sldId id="2035" r:id="rId424"/>
    <p:sldId id="716" r:id="rId425"/>
    <p:sldId id="656" r:id="rId426"/>
    <p:sldId id="657" r:id="rId427"/>
    <p:sldId id="660" r:id="rId428"/>
    <p:sldId id="661" r:id="rId429"/>
    <p:sldId id="662" r:id="rId430"/>
    <p:sldId id="663" r:id="rId431"/>
    <p:sldId id="666" r:id="rId432"/>
    <p:sldId id="664" r:id="rId433"/>
    <p:sldId id="665" r:id="rId434"/>
    <p:sldId id="658" r:id="rId435"/>
    <p:sldId id="2272" r:id="rId436"/>
    <p:sldId id="667" r:id="rId437"/>
    <p:sldId id="668" r:id="rId438"/>
    <p:sldId id="671" r:id="rId439"/>
    <p:sldId id="670" r:id="rId440"/>
    <p:sldId id="2273" r:id="rId441"/>
    <p:sldId id="2274" r:id="rId442"/>
    <p:sldId id="2352" r:id="rId443"/>
    <p:sldId id="2275" r:id="rId444"/>
    <p:sldId id="2276" r:id="rId445"/>
    <p:sldId id="672" r:id="rId446"/>
    <p:sldId id="692" r:id="rId447"/>
    <p:sldId id="691" r:id="rId448"/>
    <p:sldId id="693" r:id="rId449"/>
    <p:sldId id="695" r:id="rId450"/>
    <p:sldId id="697" r:id="rId451"/>
    <p:sldId id="830" r:id="rId452"/>
    <p:sldId id="698" r:id="rId453"/>
    <p:sldId id="2277" r:id="rId454"/>
    <p:sldId id="2278" r:id="rId455"/>
    <p:sldId id="2279" r:id="rId456"/>
    <p:sldId id="700" r:id="rId457"/>
    <p:sldId id="781" r:id="rId458"/>
    <p:sldId id="2280" r:id="rId459"/>
    <p:sldId id="2029" r:id="rId460"/>
    <p:sldId id="2281" r:id="rId461"/>
    <p:sldId id="2282" r:id="rId462"/>
    <p:sldId id="2283" r:id="rId463"/>
    <p:sldId id="2284" r:id="rId464"/>
    <p:sldId id="707" r:id="rId465"/>
    <p:sldId id="2285" r:id="rId466"/>
    <p:sldId id="782" r:id="rId467"/>
    <p:sldId id="2286" r:id="rId468"/>
    <p:sldId id="822" r:id="rId469"/>
    <p:sldId id="2287" r:id="rId470"/>
    <p:sldId id="2028" r:id="rId471"/>
    <p:sldId id="2288" r:id="rId472"/>
    <p:sldId id="2289" r:id="rId473"/>
    <p:sldId id="784" r:id="rId474"/>
    <p:sldId id="785" r:id="rId475"/>
    <p:sldId id="2290" r:id="rId476"/>
    <p:sldId id="2291" r:id="rId477"/>
    <p:sldId id="2292" r:id="rId478"/>
    <p:sldId id="2293" r:id="rId479"/>
    <p:sldId id="2294" r:id="rId480"/>
    <p:sldId id="711" r:id="rId481"/>
    <p:sldId id="2295" r:id="rId482"/>
    <p:sldId id="2296" r:id="rId483"/>
    <p:sldId id="717" r:id="rId484"/>
    <p:sldId id="2297" r:id="rId485"/>
    <p:sldId id="2298" r:id="rId486"/>
    <p:sldId id="828" r:id="rId487"/>
    <p:sldId id="2299" r:id="rId488"/>
    <p:sldId id="719" r:id="rId489"/>
    <p:sldId id="829" r:id="rId490"/>
    <p:sldId id="827" r:id="rId491"/>
    <p:sldId id="2300" r:id="rId492"/>
    <p:sldId id="823" r:id="rId493"/>
    <p:sldId id="821" r:id="rId494"/>
    <p:sldId id="2301" r:id="rId495"/>
    <p:sldId id="2031" r:id="rId496"/>
    <p:sldId id="720" r:id="rId497"/>
    <p:sldId id="712" r:id="rId498"/>
    <p:sldId id="791" r:id="rId499"/>
    <p:sldId id="2302" r:id="rId500"/>
    <p:sldId id="721" r:id="rId501"/>
    <p:sldId id="2303" r:id="rId502"/>
    <p:sldId id="722" r:id="rId503"/>
    <p:sldId id="725" r:id="rId504"/>
    <p:sldId id="724" r:id="rId505"/>
    <p:sldId id="2030" r:id="rId506"/>
    <p:sldId id="2027" r:id="rId507"/>
    <p:sldId id="2036" r:id="rId508"/>
    <p:sldId id="726" r:id="rId509"/>
    <p:sldId id="2304" r:id="rId510"/>
    <p:sldId id="2145" r:id="rId511"/>
    <p:sldId id="2305" r:id="rId512"/>
    <p:sldId id="2306" r:id="rId513"/>
    <p:sldId id="2307" r:id="rId514"/>
    <p:sldId id="731" r:id="rId515"/>
    <p:sldId id="732" r:id="rId516"/>
    <p:sldId id="733" r:id="rId517"/>
    <p:sldId id="734" r:id="rId518"/>
    <p:sldId id="2308" r:id="rId519"/>
    <p:sldId id="735" r:id="rId520"/>
    <p:sldId id="736" r:id="rId521"/>
    <p:sldId id="738" r:id="rId522"/>
    <p:sldId id="714" r:id="rId523"/>
    <p:sldId id="2309" r:id="rId524"/>
    <p:sldId id="713" r:id="rId525"/>
    <p:sldId id="2310" r:id="rId526"/>
    <p:sldId id="2311" r:id="rId527"/>
    <p:sldId id="728" r:id="rId528"/>
    <p:sldId id="727" r:id="rId529"/>
    <p:sldId id="2312" r:id="rId530"/>
    <p:sldId id="740" r:id="rId531"/>
    <p:sldId id="741" r:id="rId532"/>
    <p:sldId id="739" r:id="rId533"/>
    <p:sldId id="743" r:id="rId534"/>
    <p:sldId id="2313" r:id="rId535"/>
    <p:sldId id="745" r:id="rId536"/>
    <p:sldId id="746" r:id="rId537"/>
    <p:sldId id="747" r:id="rId538"/>
    <p:sldId id="824" r:id="rId539"/>
    <p:sldId id="748" r:id="rId540"/>
    <p:sldId id="2314" r:id="rId541"/>
    <p:sldId id="825" r:id="rId542"/>
    <p:sldId id="749" r:id="rId543"/>
    <p:sldId id="2315" r:id="rId544"/>
    <p:sldId id="2316" r:id="rId545"/>
    <p:sldId id="2134" r:id="rId546"/>
    <p:sldId id="2317" r:id="rId547"/>
    <p:sldId id="2318" r:id="rId548"/>
    <p:sldId id="752" r:id="rId549"/>
    <p:sldId id="2133" r:id="rId550"/>
    <p:sldId id="2319" r:id="rId551"/>
    <p:sldId id="754" r:id="rId552"/>
    <p:sldId id="2353" r:id="rId553"/>
    <p:sldId id="2320" r:id="rId554"/>
    <p:sldId id="2321" r:id="rId555"/>
    <p:sldId id="2322" r:id="rId556"/>
    <p:sldId id="2323" r:id="rId557"/>
    <p:sldId id="2324" r:id="rId558"/>
    <p:sldId id="842" r:id="rId559"/>
    <p:sldId id="2325" r:id="rId560"/>
    <p:sldId id="755" r:id="rId561"/>
    <p:sldId id="761" r:id="rId562"/>
    <p:sldId id="762" r:id="rId563"/>
    <p:sldId id="2326" r:id="rId564"/>
    <p:sldId id="2327" r:id="rId565"/>
    <p:sldId id="2328" r:id="rId566"/>
    <p:sldId id="2329" r:id="rId567"/>
    <p:sldId id="770" r:id="rId568"/>
    <p:sldId id="826" r:id="rId569"/>
    <p:sldId id="2330" r:id="rId570"/>
    <p:sldId id="793" r:id="rId571"/>
    <p:sldId id="2331" r:id="rId572"/>
    <p:sldId id="2332" r:id="rId573"/>
    <p:sldId id="2333" r:id="rId574"/>
    <p:sldId id="776" r:id="rId575"/>
    <p:sldId id="2334" r:id="rId576"/>
    <p:sldId id="777" r:id="rId577"/>
    <p:sldId id="778" r:id="rId578"/>
    <p:sldId id="812" r:id="rId579"/>
    <p:sldId id="813" r:id="rId580"/>
    <p:sldId id="2335" r:id="rId581"/>
    <p:sldId id="2336" r:id="rId582"/>
    <p:sldId id="2337" r:id="rId583"/>
    <p:sldId id="807" r:id="rId584"/>
    <p:sldId id="2338" r:id="rId585"/>
    <p:sldId id="843" r:id="rId586"/>
    <p:sldId id="803" r:id="rId587"/>
    <p:sldId id="2339" r:id="rId588"/>
    <p:sldId id="2340" r:id="rId589"/>
    <p:sldId id="2341" r:id="rId590"/>
    <p:sldId id="808" r:id="rId591"/>
    <p:sldId id="809" r:id="rId592"/>
    <p:sldId id="815" r:id="rId593"/>
    <p:sldId id="810" r:id="rId594"/>
    <p:sldId id="816" r:id="rId595"/>
    <p:sldId id="817" r:id="rId596"/>
    <p:sldId id="818" r:id="rId597"/>
    <p:sldId id="819" r:id="rId598"/>
    <p:sldId id="820" r:id="rId599"/>
    <p:sldId id="2342" r:id="rId600"/>
    <p:sldId id="2009" r:id="rId601"/>
    <p:sldId id="2343" r:id="rId602"/>
    <p:sldId id="2344" r:id="rId603"/>
    <p:sldId id="2345" r:id="rId604"/>
    <p:sldId id="2346" r:id="rId605"/>
    <p:sldId id="835" r:id="rId606"/>
    <p:sldId id="2347" r:id="rId607"/>
  </p:sldIdLst>
  <p:sldSz cx="12192000" cy="6858000"/>
  <p:notesSz cx="7104063" cy="10234613"/>
  <p:embeddedFontLst>
    <p:embeddedFont>
      <p:font typeface="Yoon가변 윤명조 320_TT" panose="02020603020101020101" pitchFamily="18" charset="-127"/>
      <p:regular r:id="rId610"/>
    </p:embeddedFont>
    <p:embeddedFont>
      <p:font typeface="옥션고딕 M" panose="020B0600000101010101" charset="-127"/>
      <p:regular r:id="rId611"/>
    </p:embeddedFont>
    <p:embeddedFont>
      <p:font typeface="한양신명조" panose="02030600000101010101" pitchFamily="18" charset="-127"/>
      <p:regular r:id="rId612"/>
    </p:embeddedFont>
    <p:embeddedFont>
      <p:font typeface="Frutiger LT 65 Bold" panose="020B0800000000000000" pitchFamily="34" charset="0"/>
      <p:regular r:id="rId613"/>
    </p:embeddedFont>
    <p:embeddedFont>
      <p:font typeface="Frutiger LT 75 Black" panose="02000A03050000020004" pitchFamily="2" charset="0"/>
      <p:regular r:id="rId614"/>
    </p:embeddedFont>
    <p:embeddedFont>
      <p:font typeface="HY각헤드라인M" panose="02030600000101010101" pitchFamily="18" charset="-127"/>
      <p:regular r:id="rId615"/>
    </p:embeddedFont>
    <p:embeddedFont>
      <p:font typeface="KoPub바탕체 Medium" panose="02020603020101020101" pitchFamily="18" charset="-127"/>
      <p:regular r:id="rId616"/>
    </p:embeddedFont>
    <p:embeddedFont>
      <p:font typeface="Rix모던고딕 B" panose="02020603020101020101" pitchFamily="18" charset="-127"/>
      <p:regular r:id="rId617"/>
    </p:embeddedFont>
    <p:embeddedFont>
      <p:font typeface="Rix모던고딕 EB" panose="02020603020101020101" pitchFamily="18" charset="-127"/>
      <p:regular r:id="rId618"/>
    </p:embeddedFont>
    <p:embeddedFont>
      <p:font typeface="Rix모던고딕 L" panose="02020603020101020101" pitchFamily="18" charset="-127"/>
      <p:regular r:id="rId619"/>
    </p:embeddedFont>
    <p:embeddedFont>
      <p:font typeface="Rix모던고딕 M" panose="02020603020101020101" pitchFamily="18" charset="-127"/>
      <p:regular r:id="rId620"/>
    </p:embeddedFont>
    <p:embeddedFont>
      <p:font typeface="Rix모던명조 B" panose="02020603020101020101" pitchFamily="18" charset="-127"/>
      <p:regular r:id="rId621"/>
    </p:embeddedFont>
    <p:embeddedFont>
      <p:font typeface="Rix모던명조 L" panose="02020603020101020101" pitchFamily="18" charset="-127"/>
      <p:regular r:id="rId622"/>
    </p:embeddedFont>
    <p:embeddedFont>
      <p:font typeface="Rix모던명조 M" panose="02020603020101020101" pitchFamily="18" charset="-127"/>
      <p:regular r:id="rId623"/>
    </p:embeddedFont>
    <p:embeddedFont>
      <p:font typeface="Rix커피향 M" panose="02020603020101020101" pitchFamily="18" charset="-127"/>
      <p:regular r:id="rId624"/>
    </p:embeddedFont>
    <p:embeddedFont>
      <p:font typeface="맑은 고딕" panose="020B0503020000020004" pitchFamily="50" charset="-127"/>
      <p:regular r:id="rId625"/>
      <p:bold r:id="rId626"/>
    </p:embeddedFont>
    <p:embeddedFont>
      <p:font typeface="산돌신문제비 L" panose="02030504000101010101" pitchFamily="18" charset="-127"/>
      <p:regular r:id="rId627"/>
    </p:embeddedFont>
    <p:embeddedFont>
      <p:font typeface="함초롬바탕" panose="02030504000101010101" pitchFamily="18" charset="-127"/>
      <p:regular r:id="rId628"/>
      <p:bold r:id="rId629"/>
    </p:embeddedFont>
  </p:embeddedFontLst>
  <p:defaultTex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63"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52525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301B821-A1FF-4177-AEE7-76D212191A09}" styleName="보통 스타일 1 - 강조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BC89EF96-8CEA-46FF-86C4-4CE0E7609802}" styleName="밝은 스타일 3 - 강조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8799B23B-EC83-4686-B30A-512413B5E67A}" styleName="밝은 스타일 3 - 강조 3">
    <a:wholeTbl>
      <a:tcTxStyle>
        <a:fontRef idx="minor">
          <a:scrgbClr r="0" g="0" b="0"/>
        </a:fontRef>
        <a:schemeClr val="tx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noFill/>
        </a:fill>
      </a:tcStyle>
    </a:wholeTbl>
    <a:band1H>
      <a:tcStyle>
        <a:tcBdr/>
        <a:fill>
          <a:solidFill>
            <a:schemeClr val="accent3">
              <a:alpha val="20000"/>
            </a:schemeClr>
          </a:solidFill>
        </a:fill>
      </a:tcStyle>
    </a:band1H>
    <a:band1V>
      <a:tcStyle>
        <a:tcBdr/>
        <a:fill>
          <a:solidFill>
            <a:schemeClr val="accent3">
              <a:alpha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noFill/>
        </a:fill>
      </a:tcStyle>
    </a:lastRow>
    <a:firstRow>
      <a:tcTxStyle b="on"/>
      <a:tcStyle>
        <a:tcBdr>
          <a:bottom>
            <a:ln w="25400" cmpd="sng">
              <a:solidFill>
                <a:schemeClr val="accent3"/>
              </a:solidFill>
            </a:ln>
          </a:bottom>
        </a:tcBdr>
        <a:fill>
          <a:noFill/>
        </a:fill>
      </a:tcStyle>
    </a:firstRow>
  </a:tblStyle>
  <a:tblStyle styleId="{1FECB4D8-DB02-4DC6-A0A2-4F2EBAE1DC90}" styleName="보통 스타일 1 - 강조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8743" autoAdjust="0"/>
    <p:restoredTop sz="83273" autoAdjust="0"/>
  </p:normalViewPr>
  <p:slideViewPr>
    <p:cSldViewPr snapToGrid="0">
      <p:cViewPr varScale="1">
        <p:scale>
          <a:sx n="88" d="100"/>
          <a:sy n="88" d="100"/>
        </p:scale>
        <p:origin x="684" y="90"/>
      </p:cViewPr>
      <p:guideLst>
        <p:guide orient="horz" pos="2160"/>
        <p:guide pos="3863"/>
      </p:guideLst>
    </p:cSldViewPr>
  </p:slideViewPr>
  <p:notesTextViewPr>
    <p:cViewPr>
      <p:scale>
        <a:sx n="3" d="2"/>
        <a:sy n="3" d="2"/>
      </p:scale>
      <p:origin x="0" y="0"/>
    </p:cViewPr>
  </p:notesTextViewPr>
  <p:notesViewPr>
    <p:cSldViewPr snapToGrid="0">
      <p:cViewPr varScale="1">
        <p:scale>
          <a:sx n="76" d="100"/>
          <a:sy n="76" d="100"/>
        </p:scale>
        <p:origin x="3096" y="102"/>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1" Type="http://schemas.openxmlformats.org/officeDocument/2006/relationships/slide" Target="slides/slide17.xml"/><Relationship Id="rId324" Type="http://schemas.openxmlformats.org/officeDocument/2006/relationships/slide" Target="slides/slide320.xml"/><Relationship Id="rId531" Type="http://schemas.openxmlformats.org/officeDocument/2006/relationships/slide" Target="slides/slide527.xml"/><Relationship Id="rId629" Type="http://schemas.openxmlformats.org/officeDocument/2006/relationships/font" Target="fonts/font20.fntdata"/><Relationship Id="rId170" Type="http://schemas.openxmlformats.org/officeDocument/2006/relationships/slide" Target="slides/slide166.xml"/><Relationship Id="rId268" Type="http://schemas.openxmlformats.org/officeDocument/2006/relationships/slide" Target="slides/slide264.xml"/><Relationship Id="rId475" Type="http://schemas.openxmlformats.org/officeDocument/2006/relationships/slide" Target="slides/slide471.xml"/><Relationship Id="rId32" Type="http://schemas.openxmlformats.org/officeDocument/2006/relationships/slide" Target="slides/slide28.xml"/><Relationship Id="rId128" Type="http://schemas.openxmlformats.org/officeDocument/2006/relationships/slide" Target="slides/slide124.xml"/><Relationship Id="rId335" Type="http://schemas.openxmlformats.org/officeDocument/2006/relationships/slide" Target="slides/slide331.xml"/><Relationship Id="rId542" Type="http://schemas.openxmlformats.org/officeDocument/2006/relationships/slide" Target="slides/slide538.xml"/><Relationship Id="rId181" Type="http://schemas.openxmlformats.org/officeDocument/2006/relationships/slide" Target="slides/slide177.xml"/><Relationship Id="rId402" Type="http://schemas.openxmlformats.org/officeDocument/2006/relationships/slide" Target="slides/slide398.xml"/><Relationship Id="rId279" Type="http://schemas.openxmlformats.org/officeDocument/2006/relationships/slide" Target="slides/slide275.xml"/><Relationship Id="rId486" Type="http://schemas.openxmlformats.org/officeDocument/2006/relationships/slide" Target="slides/slide482.xml"/><Relationship Id="rId43" Type="http://schemas.openxmlformats.org/officeDocument/2006/relationships/slide" Target="slides/slide39.xml"/><Relationship Id="rId139" Type="http://schemas.openxmlformats.org/officeDocument/2006/relationships/slide" Target="slides/slide135.xml"/><Relationship Id="rId346" Type="http://schemas.openxmlformats.org/officeDocument/2006/relationships/slide" Target="slides/slide342.xml"/><Relationship Id="rId553" Type="http://schemas.openxmlformats.org/officeDocument/2006/relationships/slide" Target="slides/slide549.xml"/><Relationship Id="rId192" Type="http://schemas.openxmlformats.org/officeDocument/2006/relationships/slide" Target="slides/slide188.xml"/><Relationship Id="rId206" Type="http://schemas.openxmlformats.org/officeDocument/2006/relationships/slide" Target="slides/slide202.xml"/><Relationship Id="rId413" Type="http://schemas.openxmlformats.org/officeDocument/2006/relationships/slide" Target="slides/slide409.xml"/><Relationship Id="rId497" Type="http://schemas.openxmlformats.org/officeDocument/2006/relationships/slide" Target="slides/slide493.xml"/><Relationship Id="rId620" Type="http://schemas.openxmlformats.org/officeDocument/2006/relationships/font" Target="fonts/font11.fntdata"/><Relationship Id="rId357" Type="http://schemas.openxmlformats.org/officeDocument/2006/relationships/slide" Target="slides/slide353.xml"/><Relationship Id="rId54" Type="http://schemas.openxmlformats.org/officeDocument/2006/relationships/slide" Target="slides/slide50.xml"/><Relationship Id="rId217" Type="http://schemas.openxmlformats.org/officeDocument/2006/relationships/slide" Target="slides/slide213.xml"/><Relationship Id="rId564" Type="http://schemas.openxmlformats.org/officeDocument/2006/relationships/slide" Target="slides/slide560.xml"/><Relationship Id="rId424" Type="http://schemas.openxmlformats.org/officeDocument/2006/relationships/slide" Target="slides/slide420.xml"/><Relationship Id="rId631" Type="http://schemas.openxmlformats.org/officeDocument/2006/relationships/viewProps" Target="viewProps.xml"/><Relationship Id="rId270" Type="http://schemas.openxmlformats.org/officeDocument/2006/relationships/slide" Target="slides/slide266.xml"/><Relationship Id="rId65" Type="http://schemas.openxmlformats.org/officeDocument/2006/relationships/slide" Target="slides/slide61.xml"/><Relationship Id="rId130" Type="http://schemas.openxmlformats.org/officeDocument/2006/relationships/slide" Target="slides/slide126.xml"/><Relationship Id="rId368" Type="http://schemas.openxmlformats.org/officeDocument/2006/relationships/slide" Target="slides/slide364.xml"/><Relationship Id="rId575" Type="http://schemas.openxmlformats.org/officeDocument/2006/relationships/slide" Target="slides/slide571.xml"/><Relationship Id="rId228" Type="http://schemas.openxmlformats.org/officeDocument/2006/relationships/slide" Target="slides/slide224.xml"/><Relationship Id="rId435" Type="http://schemas.openxmlformats.org/officeDocument/2006/relationships/slide" Target="slides/slide431.xml"/><Relationship Id="rId281" Type="http://schemas.openxmlformats.org/officeDocument/2006/relationships/slide" Target="slides/slide277.xml"/><Relationship Id="rId502" Type="http://schemas.openxmlformats.org/officeDocument/2006/relationships/slide" Target="slides/slide498.xml"/><Relationship Id="rId76" Type="http://schemas.openxmlformats.org/officeDocument/2006/relationships/slide" Target="slides/slide72.xml"/><Relationship Id="rId141" Type="http://schemas.openxmlformats.org/officeDocument/2006/relationships/slide" Target="slides/slide137.xml"/><Relationship Id="rId379" Type="http://schemas.openxmlformats.org/officeDocument/2006/relationships/slide" Target="slides/slide375.xml"/><Relationship Id="rId586" Type="http://schemas.openxmlformats.org/officeDocument/2006/relationships/slide" Target="slides/slide582.xml"/><Relationship Id="rId7" Type="http://schemas.openxmlformats.org/officeDocument/2006/relationships/slide" Target="slides/slide3.xml"/><Relationship Id="rId239" Type="http://schemas.openxmlformats.org/officeDocument/2006/relationships/slide" Target="slides/slide235.xml"/><Relationship Id="rId446" Type="http://schemas.openxmlformats.org/officeDocument/2006/relationships/slide" Target="slides/slide442.xml"/><Relationship Id="rId292" Type="http://schemas.openxmlformats.org/officeDocument/2006/relationships/slide" Target="slides/slide288.xml"/><Relationship Id="rId306" Type="http://schemas.openxmlformats.org/officeDocument/2006/relationships/slide" Target="slides/slide302.xml"/><Relationship Id="rId87" Type="http://schemas.openxmlformats.org/officeDocument/2006/relationships/slide" Target="slides/slide83.xml"/><Relationship Id="rId513" Type="http://schemas.openxmlformats.org/officeDocument/2006/relationships/slide" Target="slides/slide509.xml"/><Relationship Id="rId597" Type="http://schemas.openxmlformats.org/officeDocument/2006/relationships/slide" Target="slides/slide593.xml"/><Relationship Id="rId152" Type="http://schemas.openxmlformats.org/officeDocument/2006/relationships/slide" Target="slides/slide148.xml"/><Relationship Id="rId457" Type="http://schemas.openxmlformats.org/officeDocument/2006/relationships/slide" Target="slides/slide453.xml"/><Relationship Id="rId14" Type="http://schemas.openxmlformats.org/officeDocument/2006/relationships/slide" Target="slides/slide10.xml"/><Relationship Id="rId317" Type="http://schemas.openxmlformats.org/officeDocument/2006/relationships/slide" Target="slides/slide313.xml"/><Relationship Id="rId524" Type="http://schemas.openxmlformats.org/officeDocument/2006/relationships/slide" Target="slides/slide520.xml"/><Relationship Id="rId98" Type="http://schemas.openxmlformats.org/officeDocument/2006/relationships/slide" Target="slides/slide94.xml"/><Relationship Id="rId163" Type="http://schemas.openxmlformats.org/officeDocument/2006/relationships/slide" Target="slides/slide159.xml"/><Relationship Id="rId370" Type="http://schemas.openxmlformats.org/officeDocument/2006/relationships/slide" Target="slides/slide366.xml"/><Relationship Id="rId230" Type="http://schemas.openxmlformats.org/officeDocument/2006/relationships/slide" Target="slides/slide226.xml"/><Relationship Id="rId468" Type="http://schemas.openxmlformats.org/officeDocument/2006/relationships/slide" Target="slides/slide464.xml"/><Relationship Id="rId25" Type="http://schemas.openxmlformats.org/officeDocument/2006/relationships/slide" Target="slides/slide21.xml"/><Relationship Id="rId328" Type="http://schemas.openxmlformats.org/officeDocument/2006/relationships/slide" Target="slides/slide324.xml"/><Relationship Id="rId535" Type="http://schemas.openxmlformats.org/officeDocument/2006/relationships/slide" Target="slides/slide531.xml"/><Relationship Id="rId174" Type="http://schemas.openxmlformats.org/officeDocument/2006/relationships/slide" Target="slides/slide170.xml"/><Relationship Id="rId381" Type="http://schemas.openxmlformats.org/officeDocument/2006/relationships/slide" Target="slides/slide377.xml"/><Relationship Id="rId602" Type="http://schemas.openxmlformats.org/officeDocument/2006/relationships/slide" Target="slides/slide598.xml"/><Relationship Id="rId241" Type="http://schemas.openxmlformats.org/officeDocument/2006/relationships/slide" Target="slides/slide237.xml"/><Relationship Id="rId479" Type="http://schemas.openxmlformats.org/officeDocument/2006/relationships/slide" Target="slides/slide475.xml"/><Relationship Id="rId36" Type="http://schemas.openxmlformats.org/officeDocument/2006/relationships/slide" Target="slides/slide32.xml"/><Relationship Id="rId339" Type="http://schemas.openxmlformats.org/officeDocument/2006/relationships/slide" Target="slides/slide335.xml"/><Relationship Id="rId546" Type="http://schemas.openxmlformats.org/officeDocument/2006/relationships/slide" Target="slides/slide542.xml"/><Relationship Id="rId101" Type="http://schemas.openxmlformats.org/officeDocument/2006/relationships/slide" Target="slides/slide97.xml"/><Relationship Id="rId185" Type="http://schemas.openxmlformats.org/officeDocument/2006/relationships/slide" Target="slides/slide181.xml"/><Relationship Id="rId406" Type="http://schemas.openxmlformats.org/officeDocument/2006/relationships/slide" Target="slides/slide402.xml"/><Relationship Id="rId9" Type="http://schemas.openxmlformats.org/officeDocument/2006/relationships/slide" Target="slides/slide5.xml"/><Relationship Id="rId210" Type="http://schemas.openxmlformats.org/officeDocument/2006/relationships/slide" Target="slides/slide206.xml"/><Relationship Id="rId392" Type="http://schemas.openxmlformats.org/officeDocument/2006/relationships/slide" Target="slides/slide388.xml"/><Relationship Id="rId448" Type="http://schemas.openxmlformats.org/officeDocument/2006/relationships/slide" Target="slides/slide444.xml"/><Relationship Id="rId613" Type="http://schemas.openxmlformats.org/officeDocument/2006/relationships/font" Target="fonts/font4.fntdata"/><Relationship Id="rId252" Type="http://schemas.openxmlformats.org/officeDocument/2006/relationships/slide" Target="slides/slide248.xml"/><Relationship Id="rId294" Type="http://schemas.openxmlformats.org/officeDocument/2006/relationships/slide" Target="slides/slide290.xml"/><Relationship Id="rId308" Type="http://schemas.openxmlformats.org/officeDocument/2006/relationships/slide" Target="slides/slide304.xml"/><Relationship Id="rId515" Type="http://schemas.openxmlformats.org/officeDocument/2006/relationships/slide" Target="slides/slide511.xml"/><Relationship Id="rId47" Type="http://schemas.openxmlformats.org/officeDocument/2006/relationships/slide" Target="slides/slide43.xml"/><Relationship Id="rId89" Type="http://schemas.openxmlformats.org/officeDocument/2006/relationships/slide" Target="slides/slide85.xml"/><Relationship Id="rId112" Type="http://schemas.openxmlformats.org/officeDocument/2006/relationships/slide" Target="slides/slide108.xml"/><Relationship Id="rId154" Type="http://schemas.openxmlformats.org/officeDocument/2006/relationships/slide" Target="slides/slide150.xml"/><Relationship Id="rId361" Type="http://schemas.openxmlformats.org/officeDocument/2006/relationships/slide" Target="slides/slide357.xml"/><Relationship Id="rId557" Type="http://schemas.openxmlformats.org/officeDocument/2006/relationships/slide" Target="slides/slide553.xml"/><Relationship Id="rId599" Type="http://schemas.openxmlformats.org/officeDocument/2006/relationships/slide" Target="slides/slide595.xml"/><Relationship Id="rId196" Type="http://schemas.openxmlformats.org/officeDocument/2006/relationships/slide" Target="slides/slide192.xml"/><Relationship Id="rId417" Type="http://schemas.openxmlformats.org/officeDocument/2006/relationships/slide" Target="slides/slide413.xml"/><Relationship Id="rId459" Type="http://schemas.openxmlformats.org/officeDocument/2006/relationships/slide" Target="slides/slide455.xml"/><Relationship Id="rId624" Type="http://schemas.openxmlformats.org/officeDocument/2006/relationships/font" Target="fonts/font15.fntdata"/><Relationship Id="rId16" Type="http://schemas.openxmlformats.org/officeDocument/2006/relationships/slide" Target="slides/slide12.xml"/><Relationship Id="rId221" Type="http://schemas.openxmlformats.org/officeDocument/2006/relationships/slide" Target="slides/slide217.xml"/><Relationship Id="rId263" Type="http://schemas.openxmlformats.org/officeDocument/2006/relationships/slide" Target="slides/slide259.xml"/><Relationship Id="rId319" Type="http://schemas.openxmlformats.org/officeDocument/2006/relationships/slide" Target="slides/slide315.xml"/><Relationship Id="rId470" Type="http://schemas.openxmlformats.org/officeDocument/2006/relationships/slide" Target="slides/slide466.xml"/><Relationship Id="rId526" Type="http://schemas.openxmlformats.org/officeDocument/2006/relationships/slide" Target="slides/slide522.xml"/><Relationship Id="rId58" Type="http://schemas.openxmlformats.org/officeDocument/2006/relationships/slide" Target="slides/slide54.xml"/><Relationship Id="rId123" Type="http://schemas.openxmlformats.org/officeDocument/2006/relationships/slide" Target="slides/slide119.xml"/><Relationship Id="rId330" Type="http://schemas.openxmlformats.org/officeDocument/2006/relationships/slide" Target="slides/slide326.xml"/><Relationship Id="rId568" Type="http://schemas.openxmlformats.org/officeDocument/2006/relationships/slide" Target="slides/slide564.xml"/><Relationship Id="rId165" Type="http://schemas.openxmlformats.org/officeDocument/2006/relationships/slide" Target="slides/slide161.xml"/><Relationship Id="rId372" Type="http://schemas.openxmlformats.org/officeDocument/2006/relationships/slide" Target="slides/slide368.xml"/><Relationship Id="rId428" Type="http://schemas.openxmlformats.org/officeDocument/2006/relationships/slide" Target="slides/slide424.xml"/><Relationship Id="rId232" Type="http://schemas.openxmlformats.org/officeDocument/2006/relationships/slide" Target="slides/slide228.xml"/><Relationship Id="rId274" Type="http://schemas.openxmlformats.org/officeDocument/2006/relationships/slide" Target="slides/slide270.xml"/><Relationship Id="rId481" Type="http://schemas.openxmlformats.org/officeDocument/2006/relationships/slide" Target="slides/slide477.xml"/><Relationship Id="rId27" Type="http://schemas.openxmlformats.org/officeDocument/2006/relationships/slide" Target="slides/slide23.xml"/><Relationship Id="rId69" Type="http://schemas.openxmlformats.org/officeDocument/2006/relationships/slide" Target="slides/slide65.xml"/><Relationship Id="rId134" Type="http://schemas.openxmlformats.org/officeDocument/2006/relationships/slide" Target="slides/slide130.xml"/><Relationship Id="rId537" Type="http://schemas.openxmlformats.org/officeDocument/2006/relationships/slide" Target="slides/slide533.xml"/><Relationship Id="rId579" Type="http://schemas.openxmlformats.org/officeDocument/2006/relationships/slide" Target="slides/slide575.xml"/><Relationship Id="rId80" Type="http://schemas.openxmlformats.org/officeDocument/2006/relationships/slide" Target="slides/slide76.xml"/><Relationship Id="rId176" Type="http://schemas.openxmlformats.org/officeDocument/2006/relationships/slide" Target="slides/slide172.xml"/><Relationship Id="rId341" Type="http://schemas.openxmlformats.org/officeDocument/2006/relationships/slide" Target="slides/slide337.xml"/><Relationship Id="rId383" Type="http://schemas.openxmlformats.org/officeDocument/2006/relationships/slide" Target="slides/slide379.xml"/><Relationship Id="rId439" Type="http://schemas.openxmlformats.org/officeDocument/2006/relationships/slide" Target="slides/slide435.xml"/><Relationship Id="rId590" Type="http://schemas.openxmlformats.org/officeDocument/2006/relationships/slide" Target="slides/slide586.xml"/><Relationship Id="rId604" Type="http://schemas.openxmlformats.org/officeDocument/2006/relationships/slide" Target="slides/slide600.xml"/><Relationship Id="rId201" Type="http://schemas.openxmlformats.org/officeDocument/2006/relationships/slide" Target="slides/slide197.xml"/><Relationship Id="rId243" Type="http://schemas.openxmlformats.org/officeDocument/2006/relationships/slide" Target="slides/slide239.xml"/><Relationship Id="rId285" Type="http://schemas.openxmlformats.org/officeDocument/2006/relationships/slide" Target="slides/slide281.xml"/><Relationship Id="rId450" Type="http://schemas.openxmlformats.org/officeDocument/2006/relationships/slide" Target="slides/slide446.xml"/><Relationship Id="rId506" Type="http://schemas.openxmlformats.org/officeDocument/2006/relationships/slide" Target="slides/slide502.xml"/><Relationship Id="rId38" Type="http://schemas.openxmlformats.org/officeDocument/2006/relationships/slide" Target="slides/slide34.xml"/><Relationship Id="rId103" Type="http://schemas.openxmlformats.org/officeDocument/2006/relationships/slide" Target="slides/slide99.xml"/><Relationship Id="rId310" Type="http://schemas.openxmlformats.org/officeDocument/2006/relationships/slide" Target="slides/slide306.xml"/><Relationship Id="rId492" Type="http://schemas.openxmlformats.org/officeDocument/2006/relationships/slide" Target="slides/slide488.xml"/><Relationship Id="rId548" Type="http://schemas.openxmlformats.org/officeDocument/2006/relationships/slide" Target="slides/slide544.xml"/><Relationship Id="rId91" Type="http://schemas.openxmlformats.org/officeDocument/2006/relationships/slide" Target="slides/slide87.xml"/><Relationship Id="rId145" Type="http://schemas.openxmlformats.org/officeDocument/2006/relationships/slide" Target="slides/slide141.xml"/><Relationship Id="rId187" Type="http://schemas.openxmlformats.org/officeDocument/2006/relationships/slide" Target="slides/slide183.xml"/><Relationship Id="rId352" Type="http://schemas.openxmlformats.org/officeDocument/2006/relationships/slide" Target="slides/slide348.xml"/><Relationship Id="rId394" Type="http://schemas.openxmlformats.org/officeDocument/2006/relationships/slide" Target="slides/slide390.xml"/><Relationship Id="rId408" Type="http://schemas.openxmlformats.org/officeDocument/2006/relationships/slide" Target="slides/slide404.xml"/><Relationship Id="rId615" Type="http://schemas.openxmlformats.org/officeDocument/2006/relationships/font" Target="fonts/font6.fntdata"/><Relationship Id="rId212" Type="http://schemas.openxmlformats.org/officeDocument/2006/relationships/slide" Target="slides/slide208.xml"/><Relationship Id="rId254" Type="http://schemas.openxmlformats.org/officeDocument/2006/relationships/slide" Target="slides/slide250.xml"/><Relationship Id="rId49" Type="http://schemas.openxmlformats.org/officeDocument/2006/relationships/slide" Target="slides/slide45.xml"/><Relationship Id="rId114" Type="http://schemas.openxmlformats.org/officeDocument/2006/relationships/slide" Target="slides/slide110.xml"/><Relationship Id="rId296" Type="http://schemas.openxmlformats.org/officeDocument/2006/relationships/slide" Target="slides/slide292.xml"/><Relationship Id="rId461" Type="http://schemas.openxmlformats.org/officeDocument/2006/relationships/slide" Target="slides/slide457.xml"/><Relationship Id="rId517" Type="http://schemas.openxmlformats.org/officeDocument/2006/relationships/slide" Target="slides/slide513.xml"/><Relationship Id="rId559" Type="http://schemas.openxmlformats.org/officeDocument/2006/relationships/slide" Target="slides/slide555.xml"/><Relationship Id="rId60" Type="http://schemas.openxmlformats.org/officeDocument/2006/relationships/slide" Target="slides/slide56.xml"/><Relationship Id="rId156" Type="http://schemas.openxmlformats.org/officeDocument/2006/relationships/slide" Target="slides/slide152.xml"/><Relationship Id="rId198" Type="http://schemas.openxmlformats.org/officeDocument/2006/relationships/slide" Target="slides/slide194.xml"/><Relationship Id="rId321" Type="http://schemas.openxmlformats.org/officeDocument/2006/relationships/slide" Target="slides/slide317.xml"/><Relationship Id="rId363" Type="http://schemas.openxmlformats.org/officeDocument/2006/relationships/slide" Target="slides/slide359.xml"/><Relationship Id="rId419" Type="http://schemas.openxmlformats.org/officeDocument/2006/relationships/slide" Target="slides/slide415.xml"/><Relationship Id="rId570" Type="http://schemas.openxmlformats.org/officeDocument/2006/relationships/slide" Target="slides/slide566.xml"/><Relationship Id="rId626" Type="http://schemas.openxmlformats.org/officeDocument/2006/relationships/font" Target="fonts/font17.fntdata"/><Relationship Id="rId223" Type="http://schemas.openxmlformats.org/officeDocument/2006/relationships/slide" Target="slides/slide219.xml"/><Relationship Id="rId430" Type="http://schemas.openxmlformats.org/officeDocument/2006/relationships/slide" Target="slides/slide426.xml"/><Relationship Id="rId18" Type="http://schemas.openxmlformats.org/officeDocument/2006/relationships/slide" Target="slides/slide14.xml"/><Relationship Id="rId265" Type="http://schemas.openxmlformats.org/officeDocument/2006/relationships/slide" Target="slides/slide261.xml"/><Relationship Id="rId472" Type="http://schemas.openxmlformats.org/officeDocument/2006/relationships/slide" Target="slides/slide468.xml"/><Relationship Id="rId528" Type="http://schemas.openxmlformats.org/officeDocument/2006/relationships/slide" Target="slides/slide524.xml"/><Relationship Id="rId125" Type="http://schemas.openxmlformats.org/officeDocument/2006/relationships/slide" Target="slides/slide121.xml"/><Relationship Id="rId167" Type="http://schemas.openxmlformats.org/officeDocument/2006/relationships/slide" Target="slides/slide163.xml"/><Relationship Id="rId332" Type="http://schemas.openxmlformats.org/officeDocument/2006/relationships/slide" Target="slides/slide328.xml"/><Relationship Id="rId374" Type="http://schemas.openxmlformats.org/officeDocument/2006/relationships/slide" Target="slides/slide370.xml"/><Relationship Id="rId581" Type="http://schemas.openxmlformats.org/officeDocument/2006/relationships/slide" Target="slides/slide577.xml"/><Relationship Id="rId71" Type="http://schemas.openxmlformats.org/officeDocument/2006/relationships/slide" Target="slides/slide67.xml"/><Relationship Id="rId234" Type="http://schemas.openxmlformats.org/officeDocument/2006/relationships/slide" Target="slides/slide230.xml"/><Relationship Id="rId2" Type="http://schemas.openxmlformats.org/officeDocument/2006/relationships/slideMaster" Target="slideMasters/slideMaster2.xml"/><Relationship Id="rId29" Type="http://schemas.openxmlformats.org/officeDocument/2006/relationships/slide" Target="slides/slide25.xml"/><Relationship Id="rId276" Type="http://schemas.openxmlformats.org/officeDocument/2006/relationships/slide" Target="slides/slide272.xml"/><Relationship Id="rId441" Type="http://schemas.openxmlformats.org/officeDocument/2006/relationships/slide" Target="slides/slide437.xml"/><Relationship Id="rId483" Type="http://schemas.openxmlformats.org/officeDocument/2006/relationships/slide" Target="slides/slide479.xml"/><Relationship Id="rId539" Type="http://schemas.openxmlformats.org/officeDocument/2006/relationships/slide" Target="slides/slide535.xml"/><Relationship Id="rId40" Type="http://schemas.openxmlformats.org/officeDocument/2006/relationships/slide" Target="slides/slide36.xml"/><Relationship Id="rId136" Type="http://schemas.openxmlformats.org/officeDocument/2006/relationships/slide" Target="slides/slide132.xml"/><Relationship Id="rId178" Type="http://schemas.openxmlformats.org/officeDocument/2006/relationships/slide" Target="slides/slide174.xml"/><Relationship Id="rId301" Type="http://schemas.openxmlformats.org/officeDocument/2006/relationships/slide" Target="slides/slide297.xml"/><Relationship Id="rId343" Type="http://schemas.openxmlformats.org/officeDocument/2006/relationships/slide" Target="slides/slide339.xml"/><Relationship Id="rId550" Type="http://schemas.openxmlformats.org/officeDocument/2006/relationships/slide" Target="slides/slide546.xml"/><Relationship Id="rId82" Type="http://schemas.openxmlformats.org/officeDocument/2006/relationships/slide" Target="slides/slide78.xml"/><Relationship Id="rId203" Type="http://schemas.openxmlformats.org/officeDocument/2006/relationships/slide" Target="slides/slide199.xml"/><Relationship Id="rId385" Type="http://schemas.openxmlformats.org/officeDocument/2006/relationships/slide" Target="slides/slide381.xml"/><Relationship Id="rId592" Type="http://schemas.openxmlformats.org/officeDocument/2006/relationships/slide" Target="slides/slide588.xml"/><Relationship Id="rId606" Type="http://schemas.openxmlformats.org/officeDocument/2006/relationships/slide" Target="slides/slide602.xml"/><Relationship Id="rId245" Type="http://schemas.openxmlformats.org/officeDocument/2006/relationships/slide" Target="slides/slide241.xml"/><Relationship Id="rId287" Type="http://schemas.openxmlformats.org/officeDocument/2006/relationships/slide" Target="slides/slide283.xml"/><Relationship Id="rId410" Type="http://schemas.openxmlformats.org/officeDocument/2006/relationships/slide" Target="slides/slide406.xml"/><Relationship Id="rId452" Type="http://schemas.openxmlformats.org/officeDocument/2006/relationships/slide" Target="slides/slide448.xml"/><Relationship Id="rId494" Type="http://schemas.openxmlformats.org/officeDocument/2006/relationships/slide" Target="slides/slide490.xml"/><Relationship Id="rId508" Type="http://schemas.openxmlformats.org/officeDocument/2006/relationships/slide" Target="slides/slide504.xml"/><Relationship Id="rId105" Type="http://schemas.openxmlformats.org/officeDocument/2006/relationships/slide" Target="slides/slide101.xml"/><Relationship Id="rId147" Type="http://schemas.openxmlformats.org/officeDocument/2006/relationships/slide" Target="slides/slide143.xml"/><Relationship Id="rId312" Type="http://schemas.openxmlformats.org/officeDocument/2006/relationships/slide" Target="slides/slide308.xml"/><Relationship Id="rId354" Type="http://schemas.openxmlformats.org/officeDocument/2006/relationships/slide" Target="slides/slide350.xml"/><Relationship Id="rId51" Type="http://schemas.openxmlformats.org/officeDocument/2006/relationships/slide" Target="slides/slide47.xml"/><Relationship Id="rId93" Type="http://schemas.openxmlformats.org/officeDocument/2006/relationships/slide" Target="slides/slide89.xml"/><Relationship Id="rId189" Type="http://schemas.openxmlformats.org/officeDocument/2006/relationships/slide" Target="slides/slide185.xml"/><Relationship Id="rId396" Type="http://schemas.openxmlformats.org/officeDocument/2006/relationships/slide" Target="slides/slide392.xml"/><Relationship Id="rId561" Type="http://schemas.openxmlformats.org/officeDocument/2006/relationships/slide" Target="slides/slide557.xml"/><Relationship Id="rId617" Type="http://schemas.openxmlformats.org/officeDocument/2006/relationships/font" Target="fonts/font8.fntdata"/><Relationship Id="rId214" Type="http://schemas.openxmlformats.org/officeDocument/2006/relationships/slide" Target="slides/slide210.xml"/><Relationship Id="rId256" Type="http://schemas.openxmlformats.org/officeDocument/2006/relationships/slide" Target="slides/slide252.xml"/><Relationship Id="rId298" Type="http://schemas.openxmlformats.org/officeDocument/2006/relationships/slide" Target="slides/slide294.xml"/><Relationship Id="rId421" Type="http://schemas.openxmlformats.org/officeDocument/2006/relationships/slide" Target="slides/slide417.xml"/><Relationship Id="rId463" Type="http://schemas.openxmlformats.org/officeDocument/2006/relationships/slide" Target="slides/slide459.xml"/><Relationship Id="rId519" Type="http://schemas.openxmlformats.org/officeDocument/2006/relationships/slide" Target="slides/slide515.xml"/><Relationship Id="rId116" Type="http://schemas.openxmlformats.org/officeDocument/2006/relationships/slide" Target="slides/slide112.xml"/><Relationship Id="rId158" Type="http://schemas.openxmlformats.org/officeDocument/2006/relationships/slide" Target="slides/slide154.xml"/><Relationship Id="rId323" Type="http://schemas.openxmlformats.org/officeDocument/2006/relationships/slide" Target="slides/slide319.xml"/><Relationship Id="rId530" Type="http://schemas.openxmlformats.org/officeDocument/2006/relationships/slide" Target="slides/slide526.xml"/><Relationship Id="rId20" Type="http://schemas.openxmlformats.org/officeDocument/2006/relationships/slide" Target="slides/slide16.xml"/><Relationship Id="rId62" Type="http://schemas.openxmlformats.org/officeDocument/2006/relationships/slide" Target="slides/slide58.xml"/><Relationship Id="rId365" Type="http://schemas.openxmlformats.org/officeDocument/2006/relationships/slide" Target="slides/slide361.xml"/><Relationship Id="rId572" Type="http://schemas.openxmlformats.org/officeDocument/2006/relationships/slide" Target="slides/slide568.xml"/><Relationship Id="rId628" Type="http://schemas.openxmlformats.org/officeDocument/2006/relationships/font" Target="fonts/font19.fntdata"/><Relationship Id="rId225" Type="http://schemas.openxmlformats.org/officeDocument/2006/relationships/slide" Target="slides/slide221.xml"/><Relationship Id="rId267" Type="http://schemas.openxmlformats.org/officeDocument/2006/relationships/slide" Target="slides/slide263.xml"/><Relationship Id="rId432" Type="http://schemas.openxmlformats.org/officeDocument/2006/relationships/slide" Target="slides/slide428.xml"/><Relationship Id="rId474" Type="http://schemas.openxmlformats.org/officeDocument/2006/relationships/slide" Target="slides/slide470.xml"/><Relationship Id="rId127" Type="http://schemas.openxmlformats.org/officeDocument/2006/relationships/slide" Target="slides/slide123.xml"/><Relationship Id="rId31" Type="http://schemas.openxmlformats.org/officeDocument/2006/relationships/slide" Target="slides/slide27.xml"/><Relationship Id="rId73" Type="http://schemas.openxmlformats.org/officeDocument/2006/relationships/slide" Target="slides/slide69.xml"/><Relationship Id="rId169" Type="http://schemas.openxmlformats.org/officeDocument/2006/relationships/slide" Target="slides/slide165.xml"/><Relationship Id="rId334" Type="http://schemas.openxmlformats.org/officeDocument/2006/relationships/slide" Target="slides/slide330.xml"/><Relationship Id="rId376" Type="http://schemas.openxmlformats.org/officeDocument/2006/relationships/slide" Target="slides/slide372.xml"/><Relationship Id="rId541" Type="http://schemas.openxmlformats.org/officeDocument/2006/relationships/slide" Target="slides/slide537.xml"/><Relationship Id="rId583" Type="http://schemas.openxmlformats.org/officeDocument/2006/relationships/slide" Target="slides/slide579.xml"/><Relationship Id="rId4" Type="http://schemas.openxmlformats.org/officeDocument/2006/relationships/slideMaster" Target="slideMasters/slideMaster4.xml"/><Relationship Id="rId180" Type="http://schemas.openxmlformats.org/officeDocument/2006/relationships/slide" Target="slides/slide176.xml"/><Relationship Id="rId236" Type="http://schemas.openxmlformats.org/officeDocument/2006/relationships/slide" Target="slides/slide232.xml"/><Relationship Id="rId278" Type="http://schemas.openxmlformats.org/officeDocument/2006/relationships/slide" Target="slides/slide274.xml"/><Relationship Id="rId401" Type="http://schemas.openxmlformats.org/officeDocument/2006/relationships/slide" Target="slides/slide397.xml"/><Relationship Id="rId443" Type="http://schemas.openxmlformats.org/officeDocument/2006/relationships/slide" Target="slides/slide439.xml"/><Relationship Id="rId303" Type="http://schemas.openxmlformats.org/officeDocument/2006/relationships/slide" Target="slides/slide299.xml"/><Relationship Id="rId485" Type="http://schemas.openxmlformats.org/officeDocument/2006/relationships/slide" Target="slides/slide481.xml"/><Relationship Id="rId42" Type="http://schemas.openxmlformats.org/officeDocument/2006/relationships/slide" Target="slides/slide38.xml"/><Relationship Id="rId84" Type="http://schemas.openxmlformats.org/officeDocument/2006/relationships/slide" Target="slides/slide80.xml"/><Relationship Id="rId138" Type="http://schemas.openxmlformats.org/officeDocument/2006/relationships/slide" Target="slides/slide134.xml"/><Relationship Id="rId345" Type="http://schemas.openxmlformats.org/officeDocument/2006/relationships/slide" Target="slides/slide341.xml"/><Relationship Id="rId387" Type="http://schemas.openxmlformats.org/officeDocument/2006/relationships/slide" Target="slides/slide383.xml"/><Relationship Id="rId510" Type="http://schemas.openxmlformats.org/officeDocument/2006/relationships/slide" Target="slides/slide506.xml"/><Relationship Id="rId552" Type="http://schemas.openxmlformats.org/officeDocument/2006/relationships/slide" Target="slides/slide548.xml"/><Relationship Id="rId594" Type="http://schemas.openxmlformats.org/officeDocument/2006/relationships/slide" Target="slides/slide590.xml"/><Relationship Id="rId608" Type="http://schemas.openxmlformats.org/officeDocument/2006/relationships/notesMaster" Target="notesMasters/notesMaster1.xml"/><Relationship Id="rId191" Type="http://schemas.openxmlformats.org/officeDocument/2006/relationships/slide" Target="slides/slide187.xml"/><Relationship Id="rId205" Type="http://schemas.openxmlformats.org/officeDocument/2006/relationships/slide" Target="slides/slide201.xml"/><Relationship Id="rId247" Type="http://schemas.openxmlformats.org/officeDocument/2006/relationships/slide" Target="slides/slide243.xml"/><Relationship Id="rId412" Type="http://schemas.openxmlformats.org/officeDocument/2006/relationships/slide" Target="slides/slide408.xml"/><Relationship Id="rId107" Type="http://schemas.openxmlformats.org/officeDocument/2006/relationships/slide" Target="slides/slide103.xml"/><Relationship Id="rId289" Type="http://schemas.openxmlformats.org/officeDocument/2006/relationships/slide" Target="slides/slide285.xml"/><Relationship Id="rId454" Type="http://schemas.openxmlformats.org/officeDocument/2006/relationships/slide" Target="slides/slide450.xml"/><Relationship Id="rId496" Type="http://schemas.openxmlformats.org/officeDocument/2006/relationships/slide" Target="slides/slide492.xml"/><Relationship Id="rId11" Type="http://schemas.openxmlformats.org/officeDocument/2006/relationships/slide" Target="slides/slide7.xml"/><Relationship Id="rId53" Type="http://schemas.openxmlformats.org/officeDocument/2006/relationships/slide" Target="slides/slide49.xml"/><Relationship Id="rId149" Type="http://schemas.openxmlformats.org/officeDocument/2006/relationships/slide" Target="slides/slide145.xml"/><Relationship Id="rId314" Type="http://schemas.openxmlformats.org/officeDocument/2006/relationships/slide" Target="slides/slide310.xml"/><Relationship Id="rId356" Type="http://schemas.openxmlformats.org/officeDocument/2006/relationships/slide" Target="slides/slide352.xml"/><Relationship Id="rId398" Type="http://schemas.openxmlformats.org/officeDocument/2006/relationships/slide" Target="slides/slide394.xml"/><Relationship Id="rId521" Type="http://schemas.openxmlformats.org/officeDocument/2006/relationships/slide" Target="slides/slide517.xml"/><Relationship Id="rId563" Type="http://schemas.openxmlformats.org/officeDocument/2006/relationships/slide" Target="slides/slide559.xml"/><Relationship Id="rId619" Type="http://schemas.openxmlformats.org/officeDocument/2006/relationships/font" Target="fonts/font10.fntdata"/><Relationship Id="rId95" Type="http://schemas.openxmlformats.org/officeDocument/2006/relationships/slide" Target="slides/slide91.xml"/><Relationship Id="rId160" Type="http://schemas.openxmlformats.org/officeDocument/2006/relationships/slide" Target="slides/slide156.xml"/><Relationship Id="rId216" Type="http://schemas.openxmlformats.org/officeDocument/2006/relationships/slide" Target="slides/slide212.xml"/><Relationship Id="rId423" Type="http://schemas.openxmlformats.org/officeDocument/2006/relationships/slide" Target="slides/slide419.xml"/><Relationship Id="rId258" Type="http://schemas.openxmlformats.org/officeDocument/2006/relationships/slide" Target="slides/slide254.xml"/><Relationship Id="rId465" Type="http://schemas.openxmlformats.org/officeDocument/2006/relationships/slide" Target="slides/slide461.xml"/><Relationship Id="rId630" Type="http://schemas.openxmlformats.org/officeDocument/2006/relationships/presProps" Target="presProps.xml"/><Relationship Id="rId22" Type="http://schemas.openxmlformats.org/officeDocument/2006/relationships/slide" Target="slides/slide18.xml"/><Relationship Id="rId64" Type="http://schemas.openxmlformats.org/officeDocument/2006/relationships/slide" Target="slides/slide60.xml"/><Relationship Id="rId118" Type="http://schemas.openxmlformats.org/officeDocument/2006/relationships/slide" Target="slides/slide114.xml"/><Relationship Id="rId325" Type="http://schemas.openxmlformats.org/officeDocument/2006/relationships/slide" Target="slides/slide321.xml"/><Relationship Id="rId367" Type="http://schemas.openxmlformats.org/officeDocument/2006/relationships/slide" Target="slides/slide363.xml"/><Relationship Id="rId532" Type="http://schemas.openxmlformats.org/officeDocument/2006/relationships/slide" Target="slides/slide528.xml"/><Relationship Id="rId574" Type="http://schemas.openxmlformats.org/officeDocument/2006/relationships/slide" Target="slides/slide570.xml"/><Relationship Id="rId171" Type="http://schemas.openxmlformats.org/officeDocument/2006/relationships/slide" Target="slides/slide167.xml"/><Relationship Id="rId227" Type="http://schemas.openxmlformats.org/officeDocument/2006/relationships/slide" Target="slides/slide223.xml"/><Relationship Id="rId269" Type="http://schemas.openxmlformats.org/officeDocument/2006/relationships/slide" Target="slides/slide265.xml"/><Relationship Id="rId434" Type="http://schemas.openxmlformats.org/officeDocument/2006/relationships/slide" Target="slides/slide430.xml"/><Relationship Id="rId476" Type="http://schemas.openxmlformats.org/officeDocument/2006/relationships/slide" Target="slides/slide472.xml"/><Relationship Id="rId33" Type="http://schemas.openxmlformats.org/officeDocument/2006/relationships/slide" Target="slides/slide29.xml"/><Relationship Id="rId129" Type="http://schemas.openxmlformats.org/officeDocument/2006/relationships/slide" Target="slides/slide125.xml"/><Relationship Id="rId280" Type="http://schemas.openxmlformats.org/officeDocument/2006/relationships/slide" Target="slides/slide276.xml"/><Relationship Id="rId336" Type="http://schemas.openxmlformats.org/officeDocument/2006/relationships/slide" Target="slides/slide332.xml"/><Relationship Id="rId501" Type="http://schemas.openxmlformats.org/officeDocument/2006/relationships/slide" Target="slides/slide497.xml"/><Relationship Id="rId543" Type="http://schemas.openxmlformats.org/officeDocument/2006/relationships/slide" Target="slides/slide539.xml"/><Relationship Id="rId75" Type="http://schemas.openxmlformats.org/officeDocument/2006/relationships/slide" Target="slides/slide71.xml"/><Relationship Id="rId140" Type="http://schemas.openxmlformats.org/officeDocument/2006/relationships/slide" Target="slides/slide136.xml"/><Relationship Id="rId182" Type="http://schemas.openxmlformats.org/officeDocument/2006/relationships/slide" Target="slides/slide178.xml"/><Relationship Id="rId378" Type="http://schemas.openxmlformats.org/officeDocument/2006/relationships/slide" Target="slides/slide374.xml"/><Relationship Id="rId403" Type="http://schemas.openxmlformats.org/officeDocument/2006/relationships/slide" Target="slides/slide399.xml"/><Relationship Id="rId585" Type="http://schemas.openxmlformats.org/officeDocument/2006/relationships/slide" Target="slides/slide581.xml"/><Relationship Id="rId6" Type="http://schemas.openxmlformats.org/officeDocument/2006/relationships/slide" Target="slides/slide2.xml"/><Relationship Id="rId238" Type="http://schemas.openxmlformats.org/officeDocument/2006/relationships/slide" Target="slides/slide234.xml"/><Relationship Id="rId445" Type="http://schemas.openxmlformats.org/officeDocument/2006/relationships/slide" Target="slides/slide441.xml"/><Relationship Id="rId487" Type="http://schemas.openxmlformats.org/officeDocument/2006/relationships/slide" Target="slides/slide483.xml"/><Relationship Id="rId610" Type="http://schemas.openxmlformats.org/officeDocument/2006/relationships/font" Target="fonts/font1.fntdata"/><Relationship Id="rId291" Type="http://schemas.openxmlformats.org/officeDocument/2006/relationships/slide" Target="slides/slide287.xml"/><Relationship Id="rId305" Type="http://schemas.openxmlformats.org/officeDocument/2006/relationships/slide" Target="slides/slide301.xml"/><Relationship Id="rId347" Type="http://schemas.openxmlformats.org/officeDocument/2006/relationships/slide" Target="slides/slide343.xml"/><Relationship Id="rId512" Type="http://schemas.openxmlformats.org/officeDocument/2006/relationships/slide" Target="slides/slide508.xml"/><Relationship Id="rId44" Type="http://schemas.openxmlformats.org/officeDocument/2006/relationships/slide" Target="slides/slide40.xml"/><Relationship Id="rId86" Type="http://schemas.openxmlformats.org/officeDocument/2006/relationships/slide" Target="slides/slide82.xml"/><Relationship Id="rId151" Type="http://schemas.openxmlformats.org/officeDocument/2006/relationships/slide" Target="slides/slide147.xml"/><Relationship Id="rId389" Type="http://schemas.openxmlformats.org/officeDocument/2006/relationships/slide" Target="slides/slide385.xml"/><Relationship Id="rId554" Type="http://schemas.openxmlformats.org/officeDocument/2006/relationships/slide" Target="slides/slide550.xml"/><Relationship Id="rId596" Type="http://schemas.openxmlformats.org/officeDocument/2006/relationships/slide" Target="slides/slide592.xml"/><Relationship Id="rId193" Type="http://schemas.openxmlformats.org/officeDocument/2006/relationships/slide" Target="slides/slide189.xml"/><Relationship Id="rId207" Type="http://schemas.openxmlformats.org/officeDocument/2006/relationships/slide" Target="slides/slide203.xml"/><Relationship Id="rId249" Type="http://schemas.openxmlformats.org/officeDocument/2006/relationships/slide" Target="slides/slide245.xml"/><Relationship Id="rId414" Type="http://schemas.openxmlformats.org/officeDocument/2006/relationships/slide" Target="slides/slide410.xml"/><Relationship Id="rId456" Type="http://schemas.openxmlformats.org/officeDocument/2006/relationships/slide" Target="slides/slide452.xml"/><Relationship Id="rId498" Type="http://schemas.openxmlformats.org/officeDocument/2006/relationships/slide" Target="slides/slide494.xml"/><Relationship Id="rId621" Type="http://schemas.openxmlformats.org/officeDocument/2006/relationships/font" Target="fonts/font12.fntdata"/><Relationship Id="rId13" Type="http://schemas.openxmlformats.org/officeDocument/2006/relationships/slide" Target="slides/slide9.xml"/><Relationship Id="rId109" Type="http://schemas.openxmlformats.org/officeDocument/2006/relationships/slide" Target="slides/slide105.xml"/><Relationship Id="rId260" Type="http://schemas.openxmlformats.org/officeDocument/2006/relationships/slide" Target="slides/slide256.xml"/><Relationship Id="rId316" Type="http://schemas.openxmlformats.org/officeDocument/2006/relationships/slide" Target="slides/slide312.xml"/><Relationship Id="rId523" Type="http://schemas.openxmlformats.org/officeDocument/2006/relationships/slide" Target="slides/slide519.xml"/><Relationship Id="rId55" Type="http://schemas.openxmlformats.org/officeDocument/2006/relationships/slide" Target="slides/slide51.xml"/><Relationship Id="rId97" Type="http://schemas.openxmlformats.org/officeDocument/2006/relationships/slide" Target="slides/slide93.xml"/><Relationship Id="rId120" Type="http://schemas.openxmlformats.org/officeDocument/2006/relationships/slide" Target="slides/slide116.xml"/><Relationship Id="rId358" Type="http://schemas.openxmlformats.org/officeDocument/2006/relationships/slide" Target="slides/slide354.xml"/><Relationship Id="rId565" Type="http://schemas.openxmlformats.org/officeDocument/2006/relationships/slide" Target="slides/slide561.xml"/><Relationship Id="rId162" Type="http://schemas.openxmlformats.org/officeDocument/2006/relationships/slide" Target="slides/slide158.xml"/><Relationship Id="rId218" Type="http://schemas.openxmlformats.org/officeDocument/2006/relationships/slide" Target="slides/slide214.xml"/><Relationship Id="rId425" Type="http://schemas.openxmlformats.org/officeDocument/2006/relationships/slide" Target="slides/slide421.xml"/><Relationship Id="rId467" Type="http://schemas.openxmlformats.org/officeDocument/2006/relationships/slide" Target="slides/slide463.xml"/><Relationship Id="rId632" Type="http://schemas.openxmlformats.org/officeDocument/2006/relationships/theme" Target="theme/theme1.xml"/><Relationship Id="rId271" Type="http://schemas.openxmlformats.org/officeDocument/2006/relationships/slide" Target="slides/slide267.xml"/><Relationship Id="rId24" Type="http://schemas.openxmlformats.org/officeDocument/2006/relationships/slide" Target="slides/slide20.xml"/><Relationship Id="rId66" Type="http://schemas.openxmlformats.org/officeDocument/2006/relationships/slide" Target="slides/slide62.xml"/><Relationship Id="rId131" Type="http://schemas.openxmlformats.org/officeDocument/2006/relationships/slide" Target="slides/slide127.xml"/><Relationship Id="rId327" Type="http://schemas.openxmlformats.org/officeDocument/2006/relationships/slide" Target="slides/slide323.xml"/><Relationship Id="rId369" Type="http://schemas.openxmlformats.org/officeDocument/2006/relationships/slide" Target="slides/slide365.xml"/><Relationship Id="rId534" Type="http://schemas.openxmlformats.org/officeDocument/2006/relationships/slide" Target="slides/slide530.xml"/><Relationship Id="rId576" Type="http://schemas.openxmlformats.org/officeDocument/2006/relationships/slide" Target="slides/slide572.xml"/><Relationship Id="rId173" Type="http://schemas.openxmlformats.org/officeDocument/2006/relationships/slide" Target="slides/slide169.xml"/><Relationship Id="rId229" Type="http://schemas.openxmlformats.org/officeDocument/2006/relationships/slide" Target="slides/slide225.xml"/><Relationship Id="rId380" Type="http://schemas.openxmlformats.org/officeDocument/2006/relationships/slide" Target="slides/slide376.xml"/><Relationship Id="rId436" Type="http://schemas.openxmlformats.org/officeDocument/2006/relationships/slide" Target="slides/slide432.xml"/><Relationship Id="rId601" Type="http://schemas.openxmlformats.org/officeDocument/2006/relationships/slide" Target="slides/slide597.xml"/><Relationship Id="rId240" Type="http://schemas.openxmlformats.org/officeDocument/2006/relationships/slide" Target="slides/slide236.xml"/><Relationship Id="rId478" Type="http://schemas.openxmlformats.org/officeDocument/2006/relationships/slide" Target="slides/slide474.xml"/><Relationship Id="rId35" Type="http://schemas.openxmlformats.org/officeDocument/2006/relationships/slide" Target="slides/slide31.xml"/><Relationship Id="rId77" Type="http://schemas.openxmlformats.org/officeDocument/2006/relationships/slide" Target="slides/slide73.xml"/><Relationship Id="rId100" Type="http://schemas.openxmlformats.org/officeDocument/2006/relationships/slide" Target="slides/slide96.xml"/><Relationship Id="rId282" Type="http://schemas.openxmlformats.org/officeDocument/2006/relationships/slide" Target="slides/slide278.xml"/><Relationship Id="rId338" Type="http://schemas.openxmlformats.org/officeDocument/2006/relationships/slide" Target="slides/slide334.xml"/><Relationship Id="rId503" Type="http://schemas.openxmlformats.org/officeDocument/2006/relationships/slide" Target="slides/slide499.xml"/><Relationship Id="rId545" Type="http://schemas.openxmlformats.org/officeDocument/2006/relationships/slide" Target="slides/slide541.xml"/><Relationship Id="rId587" Type="http://schemas.openxmlformats.org/officeDocument/2006/relationships/slide" Target="slides/slide583.xml"/><Relationship Id="rId8" Type="http://schemas.openxmlformats.org/officeDocument/2006/relationships/slide" Target="slides/slide4.xml"/><Relationship Id="rId142" Type="http://schemas.openxmlformats.org/officeDocument/2006/relationships/slide" Target="slides/slide138.xml"/><Relationship Id="rId184" Type="http://schemas.openxmlformats.org/officeDocument/2006/relationships/slide" Target="slides/slide180.xml"/><Relationship Id="rId391" Type="http://schemas.openxmlformats.org/officeDocument/2006/relationships/slide" Target="slides/slide387.xml"/><Relationship Id="rId405" Type="http://schemas.openxmlformats.org/officeDocument/2006/relationships/slide" Target="slides/slide401.xml"/><Relationship Id="rId447" Type="http://schemas.openxmlformats.org/officeDocument/2006/relationships/slide" Target="slides/slide443.xml"/><Relationship Id="rId612" Type="http://schemas.openxmlformats.org/officeDocument/2006/relationships/font" Target="fonts/font3.fntdata"/><Relationship Id="rId251" Type="http://schemas.openxmlformats.org/officeDocument/2006/relationships/slide" Target="slides/slide247.xml"/><Relationship Id="rId489" Type="http://schemas.openxmlformats.org/officeDocument/2006/relationships/slide" Target="slides/slide485.xml"/><Relationship Id="rId46" Type="http://schemas.openxmlformats.org/officeDocument/2006/relationships/slide" Target="slides/slide42.xml"/><Relationship Id="rId293" Type="http://schemas.openxmlformats.org/officeDocument/2006/relationships/slide" Target="slides/slide289.xml"/><Relationship Id="rId307" Type="http://schemas.openxmlformats.org/officeDocument/2006/relationships/slide" Target="slides/slide303.xml"/><Relationship Id="rId349" Type="http://schemas.openxmlformats.org/officeDocument/2006/relationships/slide" Target="slides/slide345.xml"/><Relationship Id="rId514" Type="http://schemas.openxmlformats.org/officeDocument/2006/relationships/slide" Target="slides/slide510.xml"/><Relationship Id="rId556" Type="http://schemas.openxmlformats.org/officeDocument/2006/relationships/slide" Target="slides/slide552.xml"/><Relationship Id="rId88" Type="http://schemas.openxmlformats.org/officeDocument/2006/relationships/slide" Target="slides/slide84.xml"/><Relationship Id="rId111" Type="http://schemas.openxmlformats.org/officeDocument/2006/relationships/slide" Target="slides/slide107.xml"/><Relationship Id="rId153" Type="http://schemas.openxmlformats.org/officeDocument/2006/relationships/slide" Target="slides/slide149.xml"/><Relationship Id="rId195" Type="http://schemas.openxmlformats.org/officeDocument/2006/relationships/slide" Target="slides/slide191.xml"/><Relationship Id="rId209" Type="http://schemas.openxmlformats.org/officeDocument/2006/relationships/slide" Target="slides/slide205.xml"/><Relationship Id="rId360" Type="http://schemas.openxmlformats.org/officeDocument/2006/relationships/slide" Target="slides/slide356.xml"/><Relationship Id="rId416" Type="http://schemas.openxmlformats.org/officeDocument/2006/relationships/slide" Target="slides/slide412.xml"/><Relationship Id="rId598" Type="http://schemas.openxmlformats.org/officeDocument/2006/relationships/slide" Target="slides/slide594.xml"/><Relationship Id="rId220" Type="http://schemas.openxmlformats.org/officeDocument/2006/relationships/slide" Target="slides/slide216.xml"/><Relationship Id="rId458" Type="http://schemas.openxmlformats.org/officeDocument/2006/relationships/slide" Target="slides/slide454.xml"/><Relationship Id="rId623" Type="http://schemas.openxmlformats.org/officeDocument/2006/relationships/font" Target="fonts/font14.fntdata"/><Relationship Id="rId15" Type="http://schemas.openxmlformats.org/officeDocument/2006/relationships/slide" Target="slides/slide11.xml"/><Relationship Id="rId57" Type="http://schemas.openxmlformats.org/officeDocument/2006/relationships/slide" Target="slides/slide53.xml"/><Relationship Id="rId262" Type="http://schemas.openxmlformats.org/officeDocument/2006/relationships/slide" Target="slides/slide258.xml"/><Relationship Id="rId318" Type="http://schemas.openxmlformats.org/officeDocument/2006/relationships/slide" Target="slides/slide314.xml"/><Relationship Id="rId525" Type="http://schemas.openxmlformats.org/officeDocument/2006/relationships/slide" Target="slides/slide521.xml"/><Relationship Id="rId567" Type="http://schemas.openxmlformats.org/officeDocument/2006/relationships/slide" Target="slides/slide563.xml"/><Relationship Id="rId99" Type="http://schemas.openxmlformats.org/officeDocument/2006/relationships/slide" Target="slides/slide95.xml"/><Relationship Id="rId122" Type="http://schemas.openxmlformats.org/officeDocument/2006/relationships/slide" Target="slides/slide118.xml"/><Relationship Id="rId164" Type="http://schemas.openxmlformats.org/officeDocument/2006/relationships/slide" Target="slides/slide160.xml"/><Relationship Id="rId371" Type="http://schemas.openxmlformats.org/officeDocument/2006/relationships/slide" Target="slides/slide367.xml"/><Relationship Id="rId427" Type="http://schemas.openxmlformats.org/officeDocument/2006/relationships/slide" Target="slides/slide423.xml"/><Relationship Id="rId469" Type="http://schemas.openxmlformats.org/officeDocument/2006/relationships/slide" Target="slides/slide465.xml"/><Relationship Id="rId26" Type="http://schemas.openxmlformats.org/officeDocument/2006/relationships/slide" Target="slides/slide22.xml"/><Relationship Id="rId231" Type="http://schemas.openxmlformats.org/officeDocument/2006/relationships/slide" Target="slides/slide227.xml"/><Relationship Id="rId273" Type="http://schemas.openxmlformats.org/officeDocument/2006/relationships/slide" Target="slides/slide269.xml"/><Relationship Id="rId329" Type="http://schemas.openxmlformats.org/officeDocument/2006/relationships/slide" Target="slides/slide325.xml"/><Relationship Id="rId480" Type="http://schemas.openxmlformats.org/officeDocument/2006/relationships/slide" Target="slides/slide476.xml"/><Relationship Id="rId536" Type="http://schemas.openxmlformats.org/officeDocument/2006/relationships/slide" Target="slides/slide532.xml"/><Relationship Id="rId68" Type="http://schemas.openxmlformats.org/officeDocument/2006/relationships/slide" Target="slides/slide64.xml"/><Relationship Id="rId133" Type="http://schemas.openxmlformats.org/officeDocument/2006/relationships/slide" Target="slides/slide129.xml"/><Relationship Id="rId175" Type="http://schemas.openxmlformats.org/officeDocument/2006/relationships/slide" Target="slides/slide171.xml"/><Relationship Id="rId340" Type="http://schemas.openxmlformats.org/officeDocument/2006/relationships/slide" Target="slides/slide336.xml"/><Relationship Id="rId578" Type="http://schemas.openxmlformats.org/officeDocument/2006/relationships/slide" Target="slides/slide574.xml"/><Relationship Id="rId200" Type="http://schemas.openxmlformats.org/officeDocument/2006/relationships/slide" Target="slides/slide196.xml"/><Relationship Id="rId382" Type="http://schemas.openxmlformats.org/officeDocument/2006/relationships/slide" Target="slides/slide378.xml"/><Relationship Id="rId438" Type="http://schemas.openxmlformats.org/officeDocument/2006/relationships/slide" Target="slides/slide434.xml"/><Relationship Id="rId603" Type="http://schemas.openxmlformats.org/officeDocument/2006/relationships/slide" Target="slides/slide599.xml"/><Relationship Id="rId242" Type="http://schemas.openxmlformats.org/officeDocument/2006/relationships/slide" Target="slides/slide238.xml"/><Relationship Id="rId284" Type="http://schemas.openxmlformats.org/officeDocument/2006/relationships/slide" Target="slides/slide280.xml"/><Relationship Id="rId491" Type="http://schemas.openxmlformats.org/officeDocument/2006/relationships/slide" Target="slides/slide487.xml"/><Relationship Id="rId505" Type="http://schemas.openxmlformats.org/officeDocument/2006/relationships/slide" Target="slides/slide501.xml"/><Relationship Id="rId37" Type="http://schemas.openxmlformats.org/officeDocument/2006/relationships/slide" Target="slides/slide33.xml"/><Relationship Id="rId79" Type="http://schemas.openxmlformats.org/officeDocument/2006/relationships/slide" Target="slides/slide75.xml"/><Relationship Id="rId102" Type="http://schemas.openxmlformats.org/officeDocument/2006/relationships/slide" Target="slides/slide98.xml"/><Relationship Id="rId144" Type="http://schemas.openxmlformats.org/officeDocument/2006/relationships/slide" Target="slides/slide140.xml"/><Relationship Id="rId547" Type="http://schemas.openxmlformats.org/officeDocument/2006/relationships/slide" Target="slides/slide543.xml"/><Relationship Id="rId589" Type="http://schemas.openxmlformats.org/officeDocument/2006/relationships/slide" Target="slides/slide585.xml"/><Relationship Id="rId90" Type="http://schemas.openxmlformats.org/officeDocument/2006/relationships/slide" Target="slides/slide86.xml"/><Relationship Id="rId186" Type="http://schemas.openxmlformats.org/officeDocument/2006/relationships/slide" Target="slides/slide182.xml"/><Relationship Id="rId351" Type="http://schemas.openxmlformats.org/officeDocument/2006/relationships/slide" Target="slides/slide347.xml"/><Relationship Id="rId393" Type="http://schemas.openxmlformats.org/officeDocument/2006/relationships/slide" Target="slides/slide389.xml"/><Relationship Id="rId407" Type="http://schemas.openxmlformats.org/officeDocument/2006/relationships/slide" Target="slides/slide403.xml"/><Relationship Id="rId449" Type="http://schemas.openxmlformats.org/officeDocument/2006/relationships/slide" Target="slides/slide445.xml"/><Relationship Id="rId614" Type="http://schemas.openxmlformats.org/officeDocument/2006/relationships/font" Target="fonts/font5.fntdata"/><Relationship Id="rId211" Type="http://schemas.openxmlformats.org/officeDocument/2006/relationships/slide" Target="slides/slide207.xml"/><Relationship Id="rId253" Type="http://schemas.openxmlformats.org/officeDocument/2006/relationships/slide" Target="slides/slide249.xml"/><Relationship Id="rId295" Type="http://schemas.openxmlformats.org/officeDocument/2006/relationships/slide" Target="slides/slide291.xml"/><Relationship Id="rId309" Type="http://schemas.openxmlformats.org/officeDocument/2006/relationships/slide" Target="slides/slide305.xml"/><Relationship Id="rId460" Type="http://schemas.openxmlformats.org/officeDocument/2006/relationships/slide" Target="slides/slide456.xml"/><Relationship Id="rId516" Type="http://schemas.openxmlformats.org/officeDocument/2006/relationships/slide" Target="slides/slide512.xml"/><Relationship Id="rId48" Type="http://schemas.openxmlformats.org/officeDocument/2006/relationships/slide" Target="slides/slide44.xml"/><Relationship Id="rId113" Type="http://schemas.openxmlformats.org/officeDocument/2006/relationships/slide" Target="slides/slide109.xml"/><Relationship Id="rId320" Type="http://schemas.openxmlformats.org/officeDocument/2006/relationships/slide" Target="slides/slide316.xml"/><Relationship Id="rId558" Type="http://schemas.openxmlformats.org/officeDocument/2006/relationships/slide" Target="slides/slide554.xml"/><Relationship Id="rId155" Type="http://schemas.openxmlformats.org/officeDocument/2006/relationships/slide" Target="slides/slide151.xml"/><Relationship Id="rId197" Type="http://schemas.openxmlformats.org/officeDocument/2006/relationships/slide" Target="slides/slide193.xml"/><Relationship Id="rId362" Type="http://schemas.openxmlformats.org/officeDocument/2006/relationships/slide" Target="slides/slide358.xml"/><Relationship Id="rId418" Type="http://schemas.openxmlformats.org/officeDocument/2006/relationships/slide" Target="slides/slide414.xml"/><Relationship Id="rId625" Type="http://schemas.openxmlformats.org/officeDocument/2006/relationships/font" Target="fonts/font16.fntdata"/><Relationship Id="rId222" Type="http://schemas.openxmlformats.org/officeDocument/2006/relationships/slide" Target="slides/slide218.xml"/><Relationship Id="rId264" Type="http://schemas.openxmlformats.org/officeDocument/2006/relationships/slide" Target="slides/slide260.xml"/><Relationship Id="rId471" Type="http://schemas.openxmlformats.org/officeDocument/2006/relationships/slide" Target="slides/slide467.xml"/><Relationship Id="rId17" Type="http://schemas.openxmlformats.org/officeDocument/2006/relationships/slide" Target="slides/slide13.xml"/><Relationship Id="rId59" Type="http://schemas.openxmlformats.org/officeDocument/2006/relationships/slide" Target="slides/slide55.xml"/><Relationship Id="rId124" Type="http://schemas.openxmlformats.org/officeDocument/2006/relationships/slide" Target="slides/slide120.xml"/><Relationship Id="rId527" Type="http://schemas.openxmlformats.org/officeDocument/2006/relationships/slide" Target="slides/slide523.xml"/><Relationship Id="rId569" Type="http://schemas.openxmlformats.org/officeDocument/2006/relationships/slide" Target="slides/slide565.xml"/><Relationship Id="rId70" Type="http://schemas.openxmlformats.org/officeDocument/2006/relationships/slide" Target="slides/slide66.xml"/><Relationship Id="rId166" Type="http://schemas.openxmlformats.org/officeDocument/2006/relationships/slide" Target="slides/slide162.xml"/><Relationship Id="rId331" Type="http://schemas.openxmlformats.org/officeDocument/2006/relationships/slide" Target="slides/slide327.xml"/><Relationship Id="rId373" Type="http://schemas.openxmlformats.org/officeDocument/2006/relationships/slide" Target="slides/slide369.xml"/><Relationship Id="rId429" Type="http://schemas.openxmlformats.org/officeDocument/2006/relationships/slide" Target="slides/slide425.xml"/><Relationship Id="rId580" Type="http://schemas.openxmlformats.org/officeDocument/2006/relationships/slide" Target="slides/slide576.xml"/><Relationship Id="rId1" Type="http://schemas.openxmlformats.org/officeDocument/2006/relationships/slideMaster" Target="slideMasters/slideMaster1.xml"/><Relationship Id="rId233" Type="http://schemas.openxmlformats.org/officeDocument/2006/relationships/slide" Target="slides/slide229.xml"/><Relationship Id="rId440" Type="http://schemas.openxmlformats.org/officeDocument/2006/relationships/slide" Target="slides/slide436.xml"/><Relationship Id="rId28" Type="http://schemas.openxmlformats.org/officeDocument/2006/relationships/slide" Target="slides/slide24.xml"/><Relationship Id="rId275" Type="http://schemas.openxmlformats.org/officeDocument/2006/relationships/slide" Target="slides/slide271.xml"/><Relationship Id="rId300" Type="http://schemas.openxmlformats.org/officeDocument/2006/relationships/slide" Target="slides/slide296.xml"/><Relationship Id="rId482" Type="http://schemas.openxmlformats.org/officeDocument/2006/relationships/slide" Target="slides/slide478.xml"/><Relationship Id="rId538" Type="http://schemas.openxmlformats.org/officeDocument/2006/relationships/slide" Target="slides/slide534.xml"/><Relationship Id="rId81" Type="http://schemas.openxmlformats.org/officeDocument/2006/relationships/slide" Target="slides/slide77.xml"/><Relationship Id="rId135" Type="http://schemas.openxmlformats.org/officeDocument/2006/relationships/slide" Target="slides/slide131.xml"/><Relationship Id="rId177" Type="http://schemas.openxmlformats.org/officeDocument/2006/relationships/slide" Target="slides/slide173.xml"/><Relationship Id="rId342" Type="http://schemas.openxmlformats.org/officeDocument/2006/relationships/slide" Target="slides/slide338.xml"/><Relationship Id="rId384" Type="http://schemas.openxmlformats.org/officeDocument/2006/relationships/slide" Target="slides/slide380.xml"/><Relationship Id="rId591" Type="http://schemas.openxmlformats.org/officeDocument/2006/relationships/slide" Target="slides/slide587.xml"/><Relationship Id="rId605" Type="http://schemas.openxmlformats.org/officeDocument/2006/relationships/slide" Target="slides/slide601.xml"/><Relationship Id="rId202" Type="http://schemas.openxmlformats.org/officeDocument/2006/relationships/slide" Target="slides/slide198.xml"/><Relationship Id="rId244" Type="http://schemas.openxmlformats.org/officeDocument/2006/relationships/slide" Target="slides/slide240.xml"/><Relationship Id="rId39" Type="http://schemas.openxmlformats.org/officeDocument/2006/relationships/slide" Target="slides/slide35.xml"/><Relationship Id="rId286" Type="http://schemas.openxmlformats.org/officeDocument/2006/relationships/slide" Target="slides/slide282.xml"/><Relationship Id="rId451" Type="http://schemas.openxmlformats.org/officeDocument/2006/relationships/slide" Target="slides/slide447.xml"/><Relationship Id="rId493" Type="http://schemas.openxmlformats.org/officeDocument/2006/relationships/slide" Target="slides/slide489.xml"/><Relationship Id="rId507" Type="http://schemas.openxmlformats.org/officeDocument/2006/relationships/slide" Target="slides/slide503.xml"/><Relationship Id="rId549" Type="http://schemas.openxmlformats.org/officeDocument/2006/relationships/slide" Target="slides/slide545.xml"/><Relationship Id="rId50" Type="http://schemas.openxmlformats.org/officeDocument/2006/relationships/slide" Target="slides/slide46.xml"/><Relationship Id="rId104" Type="http://schemas.openxmlformats.org/officeDocument/2006/relationships/slide" Target="slides/slide100.xml"/><Relationship Id="rId146" Type="http://schemas.openxmlformats.org/officeDocument/2006/relationships/slide" Target="slides/slide142.xml"/><Relationship Id="rId188" Type="http://schemas.openxmlformats.org/officeDocument/2006/relationships/slide" Target="slides/slide184.xml"/><Relationship Id="rId311" Type="http://schemas.openxmlformats.org/officeDocument/2006/relationships/slide" Target="slides/slide307.xml"/><Relationship Id="rId353" Type="http://schemas.openxmlformats.org/officeDocument/2006/relationships/slide" Target="slides/slide349.xml"/><Relationship Id="rId395" Type="http://schemas.openxmlformats.org/officeDocument/2006/relationships/slide" Target="slides/slide391.xml"/><Relationship Id="rId409" Type="http://schemas.openxmlformats.org/officeDocument/2006/relationships/slide" Target="slides/slide405.xml"/><Relationship Id="rId560" Type="http://schemas.openxmlformats.org/officeDocument/2006/relationships/slide" Target="slides/slide556.xml"/><Relationship Id="rId92" Type="http://schemas.openxmlformats.org/officeDocument/2006/relationships/slide" Target="slides/slide88.xml"/><Relationship Id="rId213" Type="http://schemas.openxmlformats.org/officeDocument/2006/relationships/slide" Target="slides/slide209.xml"/><Relationship Id="rId420" Type="http://schemas.openxmlformats.org/officeDocument/2006/relationships/slide" Target="slides/slide416.xml"/><Relationship Id="rId616" Type="http://schemas.openxmlformats.org/officeDocument/2006/relationships/font" Target="fonts/font7.fntdata"/><Relationship Id="rId255" Type="http://schemas.openxmlformats.org/officeDocument/2006/relationships/slide" Target="slides/slide251.xml"/><Relationship Id="rId297" Type="http://schemas.openxmlformats.org/officeDocument/2006/relationships/slide" Target="slides/slide293.xml"/><Relationship Id="rId462" Type="http://schemas.openxmlformats.org/officeDocument/2006/relationships/slide" Target="slides/slide458.xml"/><Relationship Id="rId518" Type="http://schemas.openxmlformats.org/officeDocument/2006/relationships/slide" Target="slides/slide514.xml"/><Relationship Id="rId115" Type="http://schemas.openxmlformats.org/officeDocument/2006/relationships/slide" Target="slides/slide111.xml"/><Relationship Id="rId157" Type="http://schemas.openxmlformats.org/officeDocument/2006/relationships/slide" Target="slides/slide153.xml"/><Relationship Id="rId322" Type="http://schemas.openxmlformats.org/officeDocument/2006/relationships/slide" Target="slides/slide318.xml"/><Relationship Id="rId364" Type="http://schemas.openxmlformats.org/officeDocument/2006/relationships/slide" Target="slides/slide360.xml"/><Relationship Id="rId61" Type="http://schemas.openxmlformats.org/officeDocument/2006/relationships/slide" Target="slides/slide57.xml"/><Relationship Id="rId199" Type="http://schemas.openxmlformats.org/officeDocument/2006/relationships/slide" Target="slides/slide195.xml"/><Relationship Id="rId571" Type="http://schemas.openxmlformats.org/officeDocument/2006/relationships/slide" Target="slides/slide567.xml"/><Relationship Id="rId627" Type="http://schemas.openxmlformats.org/officeDocument/2006/relationships/font" Target="fonts/font18.fntdata"/><Relationship Id="rId19" Type="http://schemas.openxmlformats.org/officeDocument/2006/relationships/slide" Target="slides/slide15.xml"/><Relationship Id="rId224" Type="http://schemas.openxmlformats.org/officeDocument/2006/relationships/slide" Target="slides/slide220.xml"/><Relationship Id="rId266" Type="http://schemas.openxmlformats.org/officeDocument/2006/relationships/slide" Target="slides/slide262.xml"/><Relationship Id="rId431" Type="http://schemas.openxmlformats.org/officeDocument/2006/relationships/slide" Target="slides/slide427.xml"/><Relationship Id="rId473" Type="http://schemas.openxmlformats.org/officeDocument/2006/relationships/slide" Target="slides/slide469.xml"/><Relationship Id="rId529" Type="http://schemas.openxmlformats.org/officeDocument/2006/relationships/slide" Target="slides/slide525.xml"/><Relationship Id="rId30" Type="http://schemas.openxmlformats.org/officeDocument/2006/relationships/slide" Target="slides/slide26.xml"/><Relationship Id="rId126" Type="http://schemas.openxmlformats.org/officeDocument/2006/relationships/slide" Target="slides/slide122.xml"/><Relationship Id="rId168" Type="http://schemas.openxmlformats.org/officeDocument/2006/relationships/slide" Target="slides/slide164.xml"/><Relationship Id="rId333" Type="http://schemas.openxmlformats.org/officeDocument/2006/relationships/slide" Target="slides/slide329.xml"/><Relationship Id="rId540" Type="http://schemas.openxmlformats.org/officeDocument/2006/relationships/slide" Target="slides/slide536.xml"/><Relationship Id="rId72" Type="http://schemas.openxmlformats.org/officeDocument/2006/relationships/slide" Target="slides/slide68.xml"/><Relationship Id="rId375" Type="http://schemas.openxmlformats.org/officeDocument/2006/relationships/slide" Target="slides/slide371.xml"/><Relationship Id="rId582" Type="http://schemas.openxmlformats.org/officeDocument/2006/relationships/slide" Target="slides/slide578.xml"/><Relationship Id="rId3" Type="http://schemas.openxmlformats.org/officeDocument/2006/relationships/slideMaster" Target="slideMasters/slideMaster3.xml"/><Relationship Id="rId235" Type="http://schemas.openxmlformats.org/officeDocument/2006/relationships/slide" Target="slides/slide231.xml"/><Relationship Id="rId277" Type="http://schemas.openxmlformats.org/officeDocument/2006/relationships/slide" Target="slides/slide273.xml"/><Relationship Id="rId400" Type="http://schemas.openxmlformats.org/officeDocument/2006/relationships/slide" Target="slides/slide396.xml"/><Relationship Id="rId442" Type="http://schemas.openxmlformats.org/officeDocument/2006/relationships/slide" Target="slides/slide438.xml"/><Relationship Id="rId484" Type="http://schemas.openxmlformats.org/officeDocument/2006/relationships/slide" Target="slides/slide480.xml"/><Relationship Id="rId137" Type="http://schemas.openxmlformats.org/officeDocument/2006/relationships/slide" Target="slides/slide133.xml"/><Relationship Id="rId302" Type="http://schemas.openxmlformats.org/officeDocument/2006/relationships/slide" Target="slides/slide298.xml"/><Relationship Id="rId344" Type="http://schemas.openxmlformats.org/officeDocument/2006/relationships/slide" Target="slides/slide340.xml"/><Relationship Id="rId41" Type="http://schemas.openxmlformats.org/officeDocument/2006/relationships/slide" Target="slides/slide37.xml"/><Relationship Id="rId83" Type="http://schemas.openxmlformats.org/officeDocument/2006/relationships/slide" Target="slides/slide79.xml"/><Relationship Id="rId179" Type="http://schemas.openxmlformats.org/officeDocument/2006/relationships/slide" Target="slides/slide175.xml"/><Relationship Id="rId386" Type="http://schemas.openxmlformats.org/officeDocument/2006/relationships/slide" Target="slides/slide382.xml"/><Relationship Id="rId551" Type="http://schemas.openxmlformats.org/officeDocument/2006/relationships/slide" Target="slides/slide547.xml"/><Relationship Id="rId593" Type="http://schemas.openxmlformats.org/officeDocument/2006/relationships/slide" Target="slides/slide589.xml"/><Relationship Id="rId607" Type="http://schemas.openxmlformats.org/officeDocument/2006/relationships/slide" Target="slides/slide603.xml"/><Relationship Id="rId190" Type="http://schemas.openxmlformats.org/officeDocument/2006/relationships/slide" Target="slides/slide186.xml"/><Relationship Id="rId204" Type="http://schemas.openxmlformats.org/officeDocument/2006/relationships/slide" Target="slides/slide200.xml"/><Relationship Id="rId246" Type="http://schemas.openxmlformats.org/officeDocument/2006/relationships/slide" Target="slides/slide242.xml"/><Relationship Id="rId288" Type="http://schemas.openxmlformats.org/officeDocument/2006/relationships/slide" Target="slides/slide284.xml"/><Relationship Id="rId411" Type="http://schemas.openxmlformats.org/officeDocument/2006/relationships/slide" Target="slides/slide407.xml"/><Relationship Id="rId453" Type="http://schemas.openxmlformats.org/officeDocument/2006/relationships/slide" Target="slides/slide449.xml"/><Relationship Id="rId509" Type="http://schemas.openxmlformats.org/officeDocument/2006/relationships/slide" Target="slides/slide505.xml"/><Relationship Id="rId106" Type="http://schemas.openxmlformats.org/officeDocument/2006/relationships/slide" Target="slides/slide102.xml"/><Relationship Id="rId313" Type="http://schemas.openxmlformats.org/officeDocument/2006/relationships/slide" Target="slides/slide309.xml"/><Relationship Id="rId495" Type="http://schemas.openxmlformats.org/officeDocument/2006/relationships/slide" Target="slides/slide491.xml"/><Relationship Id="rId10" Type="http://schemas.openxmlformats.org/officeDocument/2006/relationships/slide" Target="slides/slide6.xml"/><Relationship Id="rId52" Type="http://schemas.openxmlformats.org/officeDocument/2006/relationships/slide" Target="slides/slide48.xml"/><Relationship Id="rId94" Type="http://schemas.openxmlformats.org/officeDocument/2006/relationships/slide" Target="slides/slide90.xml"/><Relationship Id="rId148" Type="http://schemas.openxmlformats.org/officeDocument/2006/relationships/slide" Target="slides/slide144.xml"/><Relationship Id="rId355" Type="http://schemas.openxmlformats.org/officeDocument/2006/relationships/slide" Target="slides/slide351.xml"/><Relationship Id="rId397" Type="http://schemas.openxmlformats.org/officeDocument/2006/relationships/slide" Target="slides/slide393.xml"/><Relationship Id="rId520" Type="http://schemas.openxmlformats.org/officeDocument/2006/relationships/slide" Target="slides/slide516.xml"/><Relationship Id="rId562" Type="http://schemas.openxmlformats.org/officeDocument/2006/relationships/slide" Target="slides/slide558.xml"/><Relationship Id="rId618" Type="http://schemas.openxmlformats.org/officeDocument/2006/relationships/font" Target="fonts/font9.fntdata"/><Relationship Id="rId215" Type="http://schemas.openxmlformats.org/officeDocument/2006/relationships/slide" Target="slides/slide211.xml"/><Relationship Id="rId257" Type="http://schemas.openxmlformats.org/officeDocument/2006/relationships/slide" Target="slides/slide253.xml"/><Relationship Id="rId422" Type="http://schemas.openxmlformats.org/officeDocument/2006/relationships/slide" Target="slides/slide418.xml"/><Relationship Id="rId464" Type="http://schemas.openxmlformats.org/officeDocument/2006/relationships/slide" Target="slides/slide460.xml"/><Relationship Id="rId299" Type="http://schemas.openxmlformats.org/officeDocument/2006/relationships/slide" Target="slides/slide295.xml"/><Relationship Id="rId63" Type="http://schemas.openxmlformats.org/officeDocument/2006/relationships/slide" Target="slides/slide59.xml"/><Relationship Id="rId159" Type="http://schemas.openxmlformats.org/officeDocument/2006/relationships/slide" Target="slides/slide155.xml"/><Relationship Id="rId366" Type="http://schemas.openxmlformats.org/officeDocument/2006/relationships/slide" Target="slides/slide362.xml"/><Relationship Id="rId573" Type="http://schemas.openxmlformats.org/officeDocument/2006/relationships/slide" Target="slides/slide569.xml"/><Relationship Id="rId226" Type="http://schemas.openxmlformats.org/officeDocument/2006/relationships/slide" Target="slides/slide222.xml"/><Relationship Id="rId433" Type="http://schemas.openxmlformats.org/officeDocument/2006/relationships/slide" Target="slides/slide429.xml"/><Relationship Id="rId74" Type="http://schemas.openxmlformats.org/officeDocument/2006/relationships/slide" Target="slides/slide70.xml"/><Relationship Id="rId377" Type="http://schemas.openxmlformats.org/officeDocument/2006/relationships/slide" Target="slides/slide373.xml"/><Relationship Id="rId500" Type="http://schemas.openxmlformats.org/officeDocument/2006/relationships/slide" Target="slides/slide496.xml"/><Relationship Id="rId584" Type="http://schemas.openxmlformats.org/officeDocument/2006/relationships/slide" Target="slides/slide580.xml"/><Relationship Id="rId5" Type="http://schemas.openxmlformats.org/officeDocument/2006/relationships/slide" Target="slides/slide1.xml"/><Relationship Id="rId237" Type="http://schemas.openxmlformats.org/officeDocument/2006/relationships/slide" Target="slides/slide233.xml"/><Relationship Id="rId444" Type="http://schemas.openxmlformats.org/officeDocument/2006/relationships/slide" Target="slides/slide440.xml"/><Relationship Id="rId290" Type="http://schemas.openxmlformats.org/officeDocument/2006/relationships/slide" Target="slides/slide286.xml"/><Relationship Id="rId304" Type="http://schemas.openxmlformats.org/officeDocument/2006/relationships/slide" Target="slides/slide300.xml"/><Relationship Id="rId388" Type="http://schemas.openxmlformats.org/officeDocument/2006/relationships/slide" Target="slides/slide384.xml"/><Relationship Id="rId511" Type="http://schemas.openxmlformats.org/officeDocument/2006/relationships/slide" Target="slides/slide507.xml"/><Relationship Id="rId609" Type="http://schemas.openxmlformats.org/officeDocument/2006/relationships/handoutMaster" Target="handoutMasters/handoutMaster1.xml"/><Relationship Id="rId85" Type="http://schemas.openxmlformats.org/officeDocument/2006/relationships/slide" Target="slides/slide81.xml"/><Relationship Id="rId150" Type="http://schemas.openxmlformats.org/officeDocument/2006/relationships/slide" Target="slides/slide146.xml"/><Relationship Id="rId595" Type="http://schemas.openxmlformats.org/officeDocument/2006/relationships/slide" Target="slides/slide591.xml"/><Relationship Id="rId248" Type="http://schemas.openxmlformats.org/officeDocument/2006/relationships/slide" Target="slides/slide244.xml"/><Relationship Id="rId455" Type="http://schemas.openxmlformats.org/officeDocument/2006/relationships/slide" Target="slides/slide451.xml"/><Relationship Id="rId12" Type="http://schemas.openxmlformats.org/officeDocument/2006/relationships/slide" Target="slides/slide8.xml"/><Relationship Id="rId108" Type="http://schemas.openxmlformats.org/officeDocument/2006/relationships/slide" Target="slides/slide104.xml"/><Relationship Id="rId315" Type="http://schemas.openxmlformats.org/officeDocument/2006/relationships/slide" Target="slides/slide311.xml"/><Relationship Id="rId522" Type="http://schemas.openxmlformats.org/officeDocument/2006/relationships/slide" Target="slides/slide518.xml"/><Relationship Id="rId96" Type="http://schemas.openxmlformats.org/officeDocument/2006/relationships/slide" Target="slides/slide92.xml"/><Relationship Id="rId161" Type="http://schemas.openxmlformats.org/officeDocument/2006/relationships/slide" Target="slides/slide157.xml"/><Relationship Id="rId399" Type="http://schemas.openxmlformats.org/officeDocument/2006/relationships/slide" Target="slides/slide395.xml"/><Relationship Id="rId259" Type="http://schemas.openxmlformats.org/officeDocument/2006/relationships/slide" Target="slides/slide255.xml"/><Relationship Id="rId466" Type="http://schemas.openxmlformats.org/officeDocument/2006/relationships/slide" Target="slides/slide462.xml"/><Relationship Id="rId23" Type="http://schemas.openxmlformats.org/officeDocument/2006/relationships/slide" Target="slides/slide19.xml"/><Relationship Id="rId119" Type="http://schemas.openxmlformats.org/officeDocument/2006/relationships/slide" Target="slides/slide115.xml"/><Relationship Id="rId326" Type="http://schemas.openxmlformats.org/officeDocument/2006/relationships/slide" Target="slides/slide322.xml"/><Relationship Id="rId533" Type="http://schemas.openxmlformats.org/officeDocument/2006/relationships/slide" Target="slides/slide529.xml"/><Relationship Id="rId172" Type="http://schemas.openxmlformats.org/officeDocument/2006/relationships/slide" Target="slides/slide168.xml"/><Relationship Id="rId477" Type="http://schemas.openxmlformats.org/officeDocument/2006/relationships/slide" Target="slides/slide473.xml"/><Relationship Id="rId600" Type="http://schemas.openxmlformats.org/officeDocument/2006/relationships/slide" Target="slides/slide596.xml"/><Relationship Id="rId337" Type="http://schemas.openxmlformats.org/officeDocument/2006/relationships/slide" Target="slides/slide333.xml"/><Relationship Id="rId34" Type="http://schemas.openxmlformats.org/officeDocument/2006/relationships/slide" Target="slides/slide30.xml"/><Relationship Id="rId544" Type="http://schemas.openxmlformats.org/officeDocument/2006/relationships/slide" Target="slides/slide540.xml"/><Relationship Id="rId183" Type="http://schemas.openxmlformats.org/officeDocument/2006/relationships/slide" Target="slides/slide179.xml"/><Relationship Id="rId390" Type="http://schemas.openxmlformats.org/officeDocument/2006/relationships/slide" Target="slides/slide386.xml"/><Relationship Id="rId404" Type="http://schemas.openxmlformats.org/officeDocument/2006/relationships/slide" Target="slides/slide400.xml"/><Relationship Id="rId611" Type="http://schemas.openxmlformats.org/officeDocument/2006/relationships/font" Target="fonts/font2.fntdata"/><Relationship Id="rId250" Type="http://schemas.openxmlformats.org/officeDocument/2006/relationships/slide" Target="slides/slide246.xml"/><Relationship Id="rId488" Type="http://schemas.openxmlformats.org/officeDocument/2006/relationships/slide" Target="slides/slide484.xml"/><Relationship Id="rId45" Type="http://schemas.openxmlformats.org/officeDocument/2006/relationships/slide" Target="slides/slide41.xml"/><Relationship Id="rId110" Type="http://schemas.openxmlformats.org/officeDocument/2006/relationships/slide" Target="slides/slide106.xml"/><Relationship Id="rId348" Type="http://schemas.openxmlformats.org/officeDocument/2006/relationships/slide" Target="slides/slide344.xml"/><Relationship Id="rId555" Type="http://schemas.openxmlformats.org/officeDocument/2006/relationships/slide" Target="slides/slide551.xml"/><Relationship Id="rId194" Type="http://schemas.openxmlformats.org/officeDocument/2006/relationships/slide" Target="slides/slide190.xml"/><Relationship Id="rId208" Type="http://schemas.openxmlformats.org/officeDocument/2006/relationships/slide" Target="slides/slide204.xml"/><Relationship Id="rId415" Type="http://schemas.openxmlformats.org/officeDocument/2006/relationships/slide" Target="slides/slide411.xml"/><Relationship Id="rId622" Type="http://schemas.openxmlformats.org/officeDocument/2006/relationships/font" Target="fonts/font13.fntdata"/><Relationship Id="rId261" Type="http://schemas.openxmlformats.org/officeDocument/2006/relationships/slide" Target="slides/slide257.xml"/><Relationship Id="rId499" Type="http://schemas.openxmlformats.org/officeDocument/2006/relationships/slide" Target="slides/slide495.xml"/><Relationship Id="rId56" Type="http://schemas.openxmlformats.org/officeDocument/2006/relationships/slide" Target="slides/slide52.xml"/><Relationship Id="rId359" Type="http://schemas.openxmlformats.org/officeDocument/2006/relationships/slide" Target="slides/slide355.xml"/><Relationship Id="rId566" Type="http://schemas.openxmlformats.org/officeDocument/2006/relationships/slide" Target="slides/slide562.xml"/><Relationship Id="rId121" Type="http://schemas.openxmlformats.org/officeDocument/2006/relationships/slide" Target="slides/slide117.xml"/><Relationship Id="rId219" Type="http://schemas.openxmlformats.org/officeDocument/2006/relationships/slide" Target="slides/slide215.xml"/><Relationship Id="rId426" Type="http://schemas.openxmlformats.org/officeDocument/2006/relationships/slide" Target="slides/slide422.xml"/><Relationship Id="rId633" Type="http://schemas.openxmlformats.org/officeDocument/2006/relationships/tableStyles" Target="tableStyles.xml"/><Relationship Id="rId67" Type="http://schemas.openxmlformats.org/officeDocument/2006/relationships/slide" Target="slides/slide63.xml"/><Relationship Id="rId272" Type="http://schemas.openxmlformats.org/officeDocument/2006/relationships/slide" Target="slides/slide268.xml"/><Relationship Id="rId577" Type="http://schemas.openxmlformats.org/officeDocument/2006/relationships/slide" Target="slides/slide573.xml"/><Relationship Id="rId132" Type="http://schemas.openxmlformats.org/officeDocument/2006/relationships/slide" Target="slides/slide128.xml"/><Relationship Id="rId437" Type="http://schemas.openxmlformats.org/officeDocument/2006/relationships/slide" Target="slides/slide433.xml"/><Relationship Id="rId283" Type="http://schemas.openxmlformats.org/officeDocument/2006/relationships/slide" Target="slides/slide279.xml"/><Relationship Id="rId490" Type="http://schemas.openxmlformats.org/officeDocument/2006/relationships/slide" Target="slides/slide486.xml"/><Relationship Id="rId504" Type="http://schemas.openxmlformats.org/officeDocument/2006/relationships/slide" Target="slides/slide500.xml"/><Relationship Id="rId78" Type="http://schemas.openxmlformats.org/officeDocument/2006/relationships/slide" Target="slides/slide74.xml"/><Relationship Id="rId143" Type="http://schemas.openxmlformats.org/officeDocument/2006/relationships/slide" Target="slides/slide139.xml"/><Relationship Id="rId350" Type="http://schemas.openxmlformats.org/officeDocument/2006/relationships/slide" Target="slides/slide346.xml"/><Relationship Id="rId588" Type="http://schemas.openxmlformats.org/officeDocument/2006/relationships/slide" Target="slides/slide584.xml"/></Relationships>
</file>

<file path=ppt/diagrams/colors1.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18B391F-FD4E-469D-9A65-61511CBC9A51}" type="doc">
      <dgm:prSet loTypeId="urn:microsoft.com/office/officeart/2005/8/layout/chart3" loCatId="relationship" qsTypeId="urn:microsoft.com/office/officeart/2005/8/quickstyle/simple5" qsCatId="simple" csTypeId="urn:microsoft.com/office/officeart/2005/8/colors/colorful3" csCatId="colorful" phldr="1"/>
      <dgm:spPr/>
    </dgm:pt>
    <dgm:pt modelId="{3D042E5B-969A-4AC8-873B-2728CB0D2298}">
      <dgm:prSet phldrT="[텍스트]" custT="1"/>
      <dgm:spPr/>
      <dgm:t>
        <a:bodyPr/>
        <a:lstStyle/>
        <a:p>
          <a:pPr latinLnBrk="1">
            <a:lnSpc>
              <a:spcPct val="100000"/>
            </a:lnSpc>
            <a:spcAft>
              <a:spcPts val="0"/>
            </a:spcAft>
          </a:pPr>
          <a:r>
            <a:rPr lang="ko-KR" altLang="en-US" sz="1600" dirty="0">
              <a:latin typeface="+mj-ea"/>
              <a:ea typeface="+mj-ea"/>
            </a:rPr>
            <a:t>경제적 </a:t>
          </a:r>
          <a:endParaRPr lang="en-US" altLang="ko-KR" sz="1600" dirty="0">
            <a:latin typeface="+mj-ea"/>
            <a:ea typeface="+mj-ea"/>
          </a:endParaRPr>
        </a:p>
        <a:p>
          <a:pPr latinLnBrk="1">
            <a:lnSpc>
              <a:spcPct val="100000"/>
            </a:lnSpc>
            <a:spcAft>
              <a:spcPts val="0"/>
            </a:spcAft>
          </a:pPr>
          <a:r>
            <a:rPr lang="ko-KR" altLang="en-US" sz="1600" dirty="0">
              <a:latin typeface="+mj-ea"/>
              <a:ea typeface="+mj-ea"/>
            </a:rPr>
            <a:t>유용성</a:t>
          </a:r>
        </a:p>
      </dgm:t>
    </dgm:pt>
    <dgm:pt modelId="{3C3F911F-E337-48B9-B5CC-1124049B5303}" type="parTrans" cxnId="{80E3ED3D-3D51-4D11-9FEF-8CBF78A0AF85}">
      <dgm:prSet/>
      <dgm:spPr/>
      <dgm:t>
        <a:bodyPr/>
        <a:lstStyle/>
        <a:p>
          <a:pPr latinLnBrk="1"/>
          <a:endParaRPr lang="ko-KR" altLang="en-US" sz="1200">
            <a:latin typeface="+mj-ea"/>
            <a:ea typeface="+mj-ea"/>
          </a:endParaRPr>
        </a:p>
      </dgm:t>
    </dgm:pt>
    <dgm:pt modelId="{9A44C0EA-0788-48A6-B2BC-E055856F4039}" type="sibTrans" cxnId="{80E3ED3D-3D51-4D11-9FEF-8CBF78A0AF85}">
      <dgm:prSet/>
      <dgm:spPr/>
      <dgm:t>
        <a:bodyPr/>
        <a:lstStyle/>
        <a:p>
          <a:pPr latinLnBrk="1"/>
          <a:endParaRPr lang="ko-KR" altLang="en-US" sz="1200">
            <a:latin typeface="+mj-ea"/>
            <a:ea typeface="+mj-ea"/>
          </a:endParaRPr>
        </a:p>
      </dgm:t>
    </dgm:pt>
    <dgm:pt modelId="{FA06914A-9B07-4881-8AAA-17E54096A3F5}">
      <dgm:prSet phldrT="[텍스트]" custT="1"/>
      <dgm:spPr/>
      <dgm:t>
        <a:bodyPr/>
        <a:lstStyle/>
        <a:p>
          <a:pPr latinLnBrk="1"/>
          <a:r>
            <a:rPr lang="ko-KR" altLang="en-US" sz="1600" dirty="0" err="1">
              <a:latin typeface="+mj-ea"/>
              <a:ea typeface="+mj-ea"/>
            </a:rPr>
            <a:t>비밀관리성</a:t>
          </a:r>
          <a:endParaRPr lang="ko-KR" altLang="en-US" sz="1600" dirty="0">
            <a:latin typeface="+mj-ea"/>
            <a:ea typeface="+mj-ea"/>
          </a:endParaRPr>
        </a:p>
      </dgm:t>
    </dgm:pt>
    <dgm:pt modelId="{4005F19D-B727-4060-8A18-3FDFE76ED439}" type="parTrans" cxnId="{67FFB57F-A80B-47F9-A949-33A22DA1DC51}">
      <dgm:prSet/>
      <dgm:spPr/>
      <dgm:t>
        <a:bodyPr/>
        <a:lstStyle/>
        <a:p>
          <a:pPr latinLnBrk="1"/>
          <a:endParaRPr lang="ko-KR" altLang="en-US" sz="1200">
            <a:latin typeface="+mj-ea"/>
            <a:ea typeface="+mj-ea"/>
          </a:endParaRPr>
        </a:p>
      </dgm:t>
    </dgm:pt>
    <dgm:pt modelId="{9A2512FF-A076-4B8E-900C-F371036BC678}" type="sibTrans" cxnId="{67FFB57F-A80B-47F9-A949-33A22DA1DC51}">
      <dgm:prSet/>
      <dgm:spPr/>
      <dgm:t>
        <a:bodyPr/>
        <a:lstStyle/>
        <a:p>
          <a:pPr latinLnBrk="1"/>
          <a:endParaRPr lang="ko-KR" altLang="en-US" sz="1200">
            <a:latin typeface="+mj-ea"/>
            <a:ea typeface="+mj-ea"/>
          </a:endParaRPr>
        </a:p>
      </dgm:t>
    </dgm:pt>
    <dgm:pt modelId="{EEEC3B84-ABF1-455D-A19E-C7F496794C8F}">
      <dgm:prSet phldrT="[텍스트]" custT="1"/>
      <dgm:spPr/>
      <dgm:t>
        <a:bodyPr/>
        <a:lstStyle/>
        <a:p>
          <a:pPr latinLnBrk="1"/>
          <a:r>
            <a:rPr lang="ko-KR" altLang="en-US" sz="1600" dirty="0" err="1">
              <a:latin typeface="+mj-ea"/>
              <a:ea typeface="+mj-ea"/>
            </a:rPr>
            <a:t>비공지성</a:t>
          </a:r>
          <a:endParaRPr lang="ko-KR" altLang="en-US" sz="1600" dirty="0">
            <a:latin typeface="+mj-ea"/>
            <a:ea typeface="+mj-ea"/>
          </a:endParaRPr>
        </a:p>
      </dgm:t>
    </dgm:pt>
    <dgm:pt modelId="{F07E17E7-CA5B-4BFE-BDBF-32222ADDDF83}" type="parTrans" cxnId="{7E157CD7-5D78-4638-8C1F-7974E3D34E97}">
      <dgm:prSet/>
      <dgm:spPr/>
      <dgm:t>
        <a:bodyPr/>
        <a:lstStyle/>
        <a:p>
          <a:pPr latinLnBrk="1"/>
          <a:endParaRPr lang="ko-KR" altLang="en-US" sz="1200">
            <a:latin typeface="+mj-ea"/>
            <a:ea typeface="+mj-ea"/>
          </a:endParaRPr>
        </a:p>
      </dgm:t>
    </dgm:pt>
    <dgm:pt modelId="{237DF7DB-C8B3-4657-B346-5512AD1BAA10}" type="sibTrans" cxnId="{7E157CD7-5D78-4638-8C1F-7974E3D34E97}">
      <dgm:prSet/>
      <dgm:spPr/>
      <dgm:t>
        <a:bodyPr/>
        <a:lstStyle/>
        <a:p>
          <a:pPr latinLnBrk="1"/>
          <a:endParaRPr lang="ko-KR" altLang="en-US" sz="1200">
            <a:latin typeface="+mj-ea"/>
            <a:ea typeface="+mj-ea"/>
          </a:endParaRPr>
        </a:p>
      </dgm:t>
    </dgm:pt>
    <dgm:pt modelId="{5CF1F6A1-4540-40B5-A16F-8D80E594939A}" type="pres">
      <dgm:prSet presAssocID="{918B391F-FD4E-469D-9A65-61511CBC9A51}" presName="compositeShape" presStyleCnt="0">
        <dgm:presLayoutVars>
          <dgm:chMax val="7"/>
          <dgm:dir/>
          <dgm:resizeHandles val="exact"/>
        </dgm:presLayoutVars>
      </dgm:prSet>
      <dgm:spPr/>
    </dgm:pt>
    <dgm:pt modelId="{71E0097F-0575-4296-84D5-573BE8063687}" type="pres">
      <dgm:prSet presAssocID="{918B391F-FD4E-469D-9A65-61511CBC9A51}" presName="wedge1" presStyleLbl="node1" presStyleIdx="0" presStyleCnt="3"/>
      <dgm:spPr/>
    </dgm:pt>
    <dgm:pt modelId="{8822D6E0-9A93-4B2E-BCC2-84FA9C55DAD4}" type="pres">
      <dgm:prSet presAssocID="{918B391F-FD4E-469D-9A65-61511CBC9A51}" presName="wedge1Tx" presStyleLbl="node1" presStyleIdx="0" presStyleCnt="3">
        <dgm:presLayoutVars>
          <dgm:chMax val="0"/>
          <dgm:chPref val="0"/>
          <dgm:bulletEnabled val="1"/>
        </dgm:presLayoutVars>
      </dgm:prSet>
      <dgm:spPr/>
    </dgm:pt>
    <dgm:pt modelId="{C605CB60-0742-460A-AAC6-4FC0C78F0E65}" type="pres">
      <dgm:prSet presAssocID="{918B391F-FD4E-469D-9A65-61511CBC9A51}" presName="wedge2" presStyleLbl="node1" presStyleIdx="1" presStyleCnt="3"/>
      <dgm:spPr/>
    </dgm:pt>
    <dgm:pt modelId="{BB38F336-7C79-4FC5-8519-8C8A060D0CA5}" type="pres">
      <dgm:prSet presAssocID="{918B391F-FD4E-469D-9A65-61511CBC9A51}" presName="wedge2Tx" presStyleLbl="node1" presStyleIdx="1" presStyleCnt="3">
        <dgm:presLayoutVars>
          <dgm:chMax val="0"/>
          <dgm:chPref val="0"/>
          <dgm:bulletEnabled val="1"/>
        </dgm:presLayoutVars>
      </dgm:prSet>
      <dgm:spPr/>
    </dgm:pt>
    <dgm:pt modelId="{64C08589-240C-4543-902D-9C4440F85A1A}" type="pres">
      <dgm:prSet presAssocID="{918B391F-FD4E-469D-9A65-61511CBC9A51}" presName="wedge3" presStyleLbl="node1" presStyleIdx="2" presStyleCnt="3"/>
      <dgm:spPr/>
    </dgm:pt>
    <dgm:pt modelId="{09C8972C-B180-431C-8019-8BAE1D473F4C}" type="pres">
      <dgm:prSet presAssocID="{918B391F-FD4E-469D-9A65-61511CBC9A51}" presName="wedge3Tx" presStyleLbl="node1" presStyleIdx="2" presStyleCnt="3">
        <dgm:presLayoutVars>
          <dgm:chMax val="0"/>
          <dgm:chPref val="0"/>
          <dgm:bulletEnabled val="1"/>
        </dgm:presLayoutVars>
      </dgm:prSet>
      <dgm:spPr/>
    </dgm:pt>
  </dgm:ptLst>
  <dgm:cxnLst>
    <dgm:cxn modelId="{5955BC31-B5FD-4E25-97E5-E17CC20AEB70}" type="presOf" srcId="{3D042E5B-969A-4AC8-873B-2728CB0D2298}" destId="{8822D6E0-9A93-4B2E-BCC2-84FA9C55DAD4}" srcOrd="1" destOrd="0" presId="urn:microsoft.com/office/officeart/2005/8/layout/chart3"/>
    <dgm:cxn modelId="{80E3ED3D-3D51-4D11-9FEF-8CBF78A0AF85}" srcId="{918B391F-FD4E-469D-9A65-61511CBC9A51}" destId="{3D042E5B-969A-4AC8-873B-2728CB0D2298}" srcOrd="0" destOrd="0" parTransId="{3C3F911F-E337-48B9-B5CC-1124049B5303}" sibTransId="{9A44C0EA-0788-48A6-B2BC-E055856F4039}"/>
    <dgm:cxn modelId="{FBF3D161-C72F-49E2-8FA1-7C016C6D043A}" type="presOf" srcId="{EEEC3B84-ABF1-455D-A19E-C7F496794C8F}" destId="{09C8972C-B180-431C-8019-8BAE1D473F4C}" srcOrd="1" destOrd="0" presId="urn:microsoft.com/office/officeart/2005/8/layout/chart3"/>
    <dgm:cxn modelId="{94B47865-001B-4F89-9B61-806282C180F1}" type="presOf" srcId="{EEEC3B84-ABF1-455D-A19E-C7F496794C8F}" destId="{64C08589-240C-4543-902D-9C4440F85A1A}" srcOrd="0" destOrd="0" presId="urn:microsoft.com/office/officeart/2005/8/layout/chart3"/>
    <dgm:cxn modelId="{3AD43C66-C923-4A12-9662-2B673B9EB03D}" type="presOf" srcId="{3D042E5B-969A-4AC8-873B-2728CB0D2298}" destId="{71E0097F-0575-4296-84D5-573BE8063687}" srcOrd="0" destOrd="0" presId="urn:microsoft.com/office/officeart/2005/8/layout/chart3"/>
    <dgm:cxn modelId="{905B937C-3495-438C-98E7-52570F6810A6}" type="presOf" srcId="{FA06914A-9B07-4881-8AAA-17E54096A3F5}" destId="{C605CB60-0742-460A-AAC6-4FC0C78F0E65}" srcOrd="0" destOrd="0" presId="urn:microsoft.com/office/officeart/2005/8/layout/chart3"/>
    <dgm:cxn modelId="{67FFB57F-A80B-47F9-A949-33A22DA1DC51}" srcId="{918B391F-FD4E-469D-9A65-61511CBC9A51}" destId="{FA06914A-9B07-4881-8AAA-17E54096A3F5}" srcOrd="1" destOrd="0" parTransId="{4005F19D-B727-4060-8A18-3FDFE76ED439}" sibTransId="{9A2512FF-A076-4B8E-900C-F371036BC678}"/>
    <dgm:cxn modelId="{57B35B83-7B09-445C-ACA2-D0E7C9307266}" type="presOf" srcId="{FA06914A-9B07-4881-8AAA-17E54096A3F5}" destId="{BB38F336-7C79-4FC5-8519-8C8A060D0CA5}" srcOrd="1" destOrd="0" presId="urn:microsoft.com/office/officeart/2005/8/layout/chart3"/>
    <dgm:cxn modelId="{C079C0B7-0926-44A2-A20F-5F8006A1A2DD}" type="presOf" srcId="{918B391F-FD4E-469D-9A65-61511CBC9A51}" destId="{5CF1F6A1-4540-40B5-A16F-8D80E594939A}" srcOrd="0" destOrd="0" presId="urn:microsoft.com/office/officeart/2005/8/layout/chart3"/>
    <dgm:cxn modelId="{7E157CD7-5D78-4638-8C1F-7974E3D34E97}" srcId="{918B391F-FD4E-469D-9A65-61511CBC9A51}" destId="{EEEC3B84-ABF1-455D-A19E-C7F496794C8F}" srcOrd="2" destOrd="0" parTransId="{F07E17E7-CA5B-4BFE-BDBF-32222ADDDF83}" sibTransId="{237DF7DB-C8B3-4657-B346-5512AD1BAA10}"/>
    <dgm:cxn modelId="{920B5639-AEE3-4CFD-8461-8DA04F0D654A}" type="presParOf" srcId="{5CF1F6A1-4540-40B5-A16F-8D80E594939A}" destId="{71E0097F-0575-4296-84D5-573BE8063687}" srcOrd="0" destOrd="0" presId="urn:microsoft.com/office/officeart/2005/8/layout/chart3"/>
    <dgm:cxn modelId="{53A8340A-F806-46BF-BF62-7F723BDCD235}" type="presParOf" srcId="{5CF1F6A1-4540-40B5-A16F-8D80E594939A}" destId="{8822D6E0-9A93-4B2E-BCC2-84FA9C55DAD4}" srcOrd="1" destOrd="0" presId="urn:microsoft.com/office/officeart/2005/8/layout/chart3"/>
    <dgm:cxn modelId="{EE72CC28-E422-43DB-B719-2F4D78FC988F}" type="presParOf" srcId="{5CF1F6A1-4540-40B5-A16F-8D80E594939A}" destId="{C605CB60-0742-460A-AAC6-4FC0C78F0E65}" srcOrd="2" destOrd="0" presId="urn:microsoft.com/office/officeart/2005/8/layout/chart3"/>
    <dgm:cxn modelId="{4CDEFA08-9189-458F-8754-E6AD34828FEA}" type="presParOf" srcId="{5CF1F6A1-4540-40B5-A16F-8D80E594939A}" destId="{BB38F336-7C79-4FC5-8519-8C8A060D0CA5}" srcOrd="3" destOrd="0" presId="urn:microsoft.com/office/officeart/2005/8/layout/chart3"/>
    <dgm:cxn modelId="{DF86D32E-0759-498D-B943-8E2B5664E50B}" type="presParOf" srcId="{5CF1F6A1-4540-40B5-A16F-8D80E594939A}" destId="{64C08589-240C-4543-902D-9C4440F85A1A}" srcOrd="4" destOrd="0" presId="urn:microsoft.com/office/officeart/2005/8/layout/chart3"/>
    <dgm:cxn modelId="{F1A8F501-058C-4B89-A64E-CDB8FEA638B2}" type="presParOf" srcId="{5CF1F6A1-4540-40B5-A16F-8D80E594939A}" destId="{09C8972C-B180-431C-8019-8BAE1D473F4C}" srcOrd="5" destOrd="0" presId="urn:microsoft.com/office/officeart/2005/8/layout/chart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A7EEF6D8-356D-4BFE-8C3B-447B02F5EE0A}" type="doc">
      <dgm:prSet loTypeId="urn:microsoft.com/office/officeart/2005/8/layout/process2" loCatId="process" qsTypeId="urn:microsoft.com/office/officeart/2005/8/quickstyle/simple1" qsCatId="simple" csTypeId="urn:microsoft.com/office/officeart/2005/8/colors/colorful1" csCatId="colorful" phldr="1"/>
      <dgm:spPr/>
    </dgm:pt>
    <dgm:pt modelId="{1B500376-06BF-4D62-984D-2BCAD5DE622D}">
      <dgm:prSet phldrT="[텍스트]"/>
      <dgm:spPr/>
      <dgm:t>
        <a:bodyPr/>
        <a:lstStyle/>
        <a:p>
          <a:pPr latinLnBrk="1"/>
          <a:r>
            <a:rPr lang="ko-KR" altLang="en-US" dirty="0"/>
            <a:t>보상규정의 작성 및 변경</a:t>
          </a:r>
        </a:p>
      </dgm:t>
    </dgm:pt>
    <dgm:pt modelId="{6D1E23D3-35A0-4E8E-BDE3-32266361E3C3}" type="parTrans" cxnId="{1AE85C69-FDB4-4629-BBDE-841F7A43BD6B}">
      <dgm:prSet/>
      <dgm:spPr/>
      <dgm:t>
        <a:bodyPr/>
        <a:lstStyle/>
        <a:p>
          <a:pPr latinLnBrk="1"/>
          <a:endParaRPr lang="ko-KR" altLang="en-US"/>
        </a:p>
      </dgm:t>
    </dgm:pt>
    <dgm:pt modelId="{B50784FC-D17E-4291-8DE3-0E425580823B}" type="sibTrans" cxnId="{1AE85C69-FDB4-4629-BBDE-841F7A43BD6B}">
      <dgm:prSet/>
      <dgm:spPr/>
      <dgm:t>
        <a:bodyPr/>
        <a:lstStyle/>
        <a:p>
          <a:pPr latinLnBrk="1"/>
          <a:endParaRPr lang="ko-KR" altLang="en-US"/>
        </a:p>
      </dgm:t>
    </dgm:pt>
    <dgm:pt modelId="{1EC80BE8-9193-41AA-AB71-6C3CCBDB6FAA}">
      <dgm:prSet phldrT="[텍스트]"/>
      <dgm:spPr/>
      <dgm:t>
        <a:bodyPr/>
        <a:lstStyle/>
        <a:p>
          <a:pPr latinLnBrk="1"/>
          <a:r>
            <a:rPr lang="ko-KR" altLang="en-US" dirty="0"/>
            <a:t>보상사항의 통지</a:t>
          </a:r>
        </a:p>
      </dgm:t>
    </dgm:pt>
    <dgm:pt modelId="{81B82FBA-2F57-4243-B27F-F24F2B6CAEDC}" type="parTrans" cxnId="{41D1A40C-F855-423B-83E2-B702C573518C}">
      <dgm:prSet/>
      <dgm:spPr/>
      <dgm:t>
        <a:bodyPr/>
        <a:lstStyle/>
        <a:p>
          <a:pPr latinLnBrk="1"/>
          <a:endParaRPr lang="ko-KR" altLang="en-US"/>
        </a:p>
      </dgm:t>
    </dgm:pt>
    <dgm:pt modelId="{E3B10E4F-51DC-481C-A613-68270D4F4911}" type="sibTrans" cxnId="{41D1A40C-F855-423B-83E2-B702C573518C}">
      <dgm:prSet/>
      <dgm:spPr/>
      <dgm:t>
        <a:bodyPr/>
        <a:lstStyle/>
        <a:p>
          <a:pPr latinLnBrk="1"/>
          <a:endParaRPr lang="ko-KR" altLang="en-US"/>
        </a:p>
      </dgm:t>
    </dgm:pt>
    <dgm:pt modelId="{B774D765-8596-4594-853F-06A98650FEE6}">
      <dgm:prSet phldrT="[텍스트]"/>
      <dgm:spPr/>
      <dgm:t>
        <a:bodyPr/>
        <a:lstStyle/>
        <a:p>
          <a:pPr latinLnBrk="1"/>
          <a:r>
            <a:rPr lang="ko-KR" altLang="en-US" dirty="0"/>
            <a:t>보상의 효력</a:t>
          </a:r>
        </a:p>
      </dgm:t>
    </dgm:pt>
    <dgm:pt modelId="{A4F59F25-8AAE-4024-9E96-31211FBF4024}" type="parTrans" cxnId="{509084A0-003F-4170-B92D-7F921FB9CF49}">
      <dgm:prSet/>
      <dgm:spPr/>
      <dgm:t>
        <a:bodyPr/>
        <a:lstStyle/>
        <a:p>
          <a:pPr latinLnBrk="1"/>
          <a:endParaRPr lang="ko-KR" altLang="en-US"/>
        </a:p>
      </dgm:t>
    </dgm:pt>
    <dgm:pt modelId="{96CE64F8-56C7-46B0-A405-7423E3049364}" type="sibTrans" cxnId="{509084A0-003F-4170-B92D-7F921FB9CF49}">
      <dgm:prSet/>
      <dgm:spPr/>
      <dgm:t>
        <a:bodyPr/>
        <a:lstStyle/>
        <a:p>
          <a:pPr latinLnBrk="1"/>
          <a:endParaRPr lang="ko-KR" altLang="en-US"/>
        </a:p>
      </dgm:t>
    </dgm:pt>
    <dgm:pt modelId="{D96D613F-BDCE-4A6F-9DF5-658C7B3A5673}" type="pres">
      <dgm:prSet presAssocID="{A7EEF6D8-356D-4BFE-8C3B-447B02F5EE0A}" presName="linearFlow" presStyleCnt="0">
        <dgm:presLayoutVars>
          <dgm:resizeHandles val="exact"/>
        </dgm:presLayoutVars>
      </dgm:prSet>
      <dgm:spPr/>
    </dgm:pt>
    <dgm:pt modelId="{32AE926B-FEEB-49E7-BBF0-B3D9B662FFD9}" type="pres">
      <dgm:prSet presAssocID="{1B500376-06BF-4D62-984D-2BCAD5DE622D}" presName="node" presStyleLbl="node1" presStyleIdx="0" presStyleCnt="3">
        <dgm:presLayoutVars>
          <dgm:bulletEnabled val="1"/>
        </dgm:presLayoutVars>
      </dgm:prSet>
      <dgm:spPr/>
    </dgm:pt>
    <dgm:pt modelId="{90C1BA4D-619E-4FFD-8C86-77999078976F}" type="pres">
      <dgm:prSet presAssocID="{B50784FC-D17E-4291-8DE3-0E425580823B}" presName="sibTrans" presStyleLbl="sibTrans2D1" presStyleIdx="0" presStyleCnt="2"/>
      <dgm:spPr/>
    </dgm:pt>
    <dgm:pt modelId="{7F0153A7-104C-4BF2-9758-9EBDCD49C276}" type="pres">
      <dgm:prSet presAssocID="{B50784FC-D17E-4291-8DE3-0E425580823B}" presName="connectorText" presStyleLbl="sibTrans2D1" presStyleIdx="0" presStyleCnt="2"/>
      <dgm:spPr/>
    </dgm:pt>
    <dgm:pt modelId="{BD0B095D-9854-41EE-8AA4-0941E55FB5C1}" type="pres">
      <dgm:prSet presAssocID="{1EC80BE8-9193-41AA-AB71-6C3CCBDB6FAA}" presName="node" presStyleLbl="node1" presStyleIdx="1" presStyleCnt="3">
        <dgm:presLayoutVars>
          <dgm:bulletEnabled val="1"/>
        </dgm:presLayoutVars>
      </dgm:prSet>
      <dgm:spPr/>
    </dgm:pt>
    <dgm:pt modelId="{9B3DDB7F-39CD-459C-8148-0D2C28BECB46}" type="pres">
      <dgm:prSet presAssocID="{E3B10E4F-51DC-481C-A613-68270D4F4911}" presName="sibTrans" presStyleLbl="sibTrans2D1" presStyleIdx="1" presStyleCnt="2"/>
      <dgm:spPr/>
    </dgm:pt>
    <dgm:pt modelId="{B449B651-68B9-4F30-BD60-DDAED9712888}" type="pres">
      <dgm:prSet presAssocID="{E3B10E4F-51DC-481C-A613-68270D4F4911}" presName="connectorText" presStyleLbl="sibTrans2D1" presStyleIdx="1" presStyleCnt="2"/>
      <dgm:spPr/>
    </dgm:pt>
    <dgm:pt modelId="{ED743B82-D8B1-46FB-A4D4-2E51FD026FD2}" type="pres">
      <dgm:prSet presAssocID="{B774D765-8596-4594-853F-06A98650FEE6}" presName="node" presStyleLbl="node1" presStyleIdx="2" presStyleCnt="3">
        <dgm:presLayoutVars>
          <dgm:bulletEnabled val="1"/>
        </dgm:presLayoutVars>
      </dgm:prSet>
      <dgm:spPr/>
    </dgm:pt>
  </dgm:ptLst>
  <dgm:cxnLst>
    <dgm:cxn modelId="{41D1A40C-F855-423B-83E2-B702C573518C}" srcId="{A7EEF6D8-356D-4BFE-8C3B-447B02F5EE0A}" destId="{1EC80BE8-9193-41AA-AB71-6C3CCBDB6FAA}" srcOrd="1" destOrd="0" parTransId="{81B82FBA-2F57-4243-B27F-F24F2B6CAEDC}" sibTransId="{E3B10E4F-51DC-481C-A613-68270D4F4911}"/>
    <dgm:cxn modelId="{0A11523F-7AC5-41A8-9F53-ED432DDCDA86}" type="presOf" srcId="{1B500376-06BF-4D62-984D-2BCAD5DE622D}" destId="{32AE926B-FEEB-49E7-BBF0-B3D9B662FFD9}" srcOrd="0" destOrd="0" presId="urn:microsoft.com/office/officeart/2005/8/layout/process2"/>
    <dgm:cxn modelId="{A6DA3146-2E33-43F9-9C1E-C7656531D3CB}" type="presOf" srcId="{B50784FC-D17E-4291-8DE3-0E425580823B}" destId="{90C1BA4D-619E-4FFD-8C86-77999078976F}" srcOrd="0" destOrd="0" presId="urn:microsoft.com/office/officeart/2005/8/layout/process2"/>
    <dgm:cxn modelId="{1AE85C69-FDB4-4629-BBDE-841F7A43BD6B}" srcId="{A7EEF6D8-356D-4BFE-8C3B-447B02F5EE0A}" destId="{1B500376-06BF-4D62-984D-2BCAD5DE622D}" srcOrd="0" destOrd="0" parTransId="{6D1E23D3-35A0-4E8E-BDE3-32266361E3C3}" sibTransId="{B50784FC-D17E-4291-8DE3-0E425580823B}"/>
    <dgm:cxn modelId="{10F03279-B13D-4A06-A28D-F07BBFDC0405}" type="presOf" srcId="{E3B10E4F-51DC-481C-A613-68270D4F4911}" destId="{B449B651-68B9-4F30-BD60-DDAED9712888}" srcOrd="1" destOrd="0" presId="urn:microsoft.com/office/officeart/2005/8/layout/process2"/>
    <dgm:cxn modelId="{C0766186-2093-435F-BB47-2B2132B467FE}" type="presOf" srcId="{1EC80BE8-9193-41AA-AB71-6C3CCBDB6FAA}" destId="{BD0B095D-9854-41EE-8AA4-0941E55FB5C1}" srcOrd="0" destOrd="0" presId="urn:microsoft.com/office/officeart/2005/8/layout/process2"/>
    <dgm:cxn modelId="{61576D91-2379-49BF-ABEC-D643881350F6}" type="presOf" srcId="{B774D765-8596-4594-853F-06A98650FEE6}" destId="{ED743B82-D8B1-46FB-A4D4-2E51FD026FD2}" srcOrd="0" destOrd="0" presId="urn:microsoft.com/office/officeart/2005/8/layout/process2"/>
    <dgm:cxn modelId="{FCF7DB9B-C978-4847-ACBE-75307E6852C1}" type="presOf" srcId="{B50784FC-D17E-4291-8DE3-0E425580823B}" destId="{7F0153A7-104C-4BF2-9758-9EBDCD49C276}" srcOrd="1" destOrd="0" presId="urn:microsoft.com/office/officeart/2005/8/layout/process2"/>
    <dgm:cxn modelId="{509084A0-003F-4170-B92D-7F921FB9CF49}" srcId="{A7EEF6D8-356D-4BFE-8C3B-447B02F5EE0A}" destId="{B774D765-8596-4594-853F-06A98650FEE6}" srcOrd="2" destOrd="0" parTransId="{A4F59F25-8AAE-4024-9E96-31211FBF4024}" sibTransId="{96CE64F8-56C7-46B0-A405-7423E3049364}"/>
    <dgm:cxn modelId="{319E84F9-1A68-4BEF-B24C-8C00C7F670CA}" type="presOf" srcId="{A7EEF6D8-356D-4BFE-8C3B-447B02F5EE0A}" destId="{D96D613F-BDCE-4A6F-9DF5-658C7B3A5673}" srcOrd="0" destOrd="0" presId="urn:microsoft.com/office/officeart/2005/8/layout/process2"/>
    <dgm:cxn modelId="{93280FFF-1769-4C74-B53F-A2021BACA78C}" type="presOf" srcId="{E3B10E4F-51DC-481C-A613-68270D4F4911}" destId="{9B3DDB7F-39CD-459C-8148-0D2C28BECB46}" srcOrd="0" destOrd="0" presId="urn:microsoft.com/office/officeart/2005/8/layout/process2"/>
    <dgm:cxn modelId="{C6F6F978-E750-4F7D-8A97-E9FCC0D6470A}" type="presParOf" srcId="{D96D613F-BDCE-4A6F-9DF5-658C7B3A5673}" destId="{32AE926B-FEEB-49E7-BBF0-B3D9B662FFD9}" srcOrd="0" destOrd="0" presId="urn:microsoft.com/office/officeart/2005/8/layout/process2"/>
    <dgm:cxn modelId="{124B2134-B39E-49F1-A344-95168017DC88}" type="presParOf" srcId="{D96D613F-BDCE-4A6F-9DF5-658C7B3A5673}" destId="{90C1BA4D-619E-4FFD-8C86-77999078976F}" srcOrd="1" destOrd="0" presId="urn:microsoft.com/office/officeart/2005/8/layout/process2"/>
    <dgm:cxn modelId="{A3C2D0D7-7278-4292-A7BC-BBAB71A7AF16}" type="presParOf" srcId="{90C1BA4D-619E-4FFD-8C86-77999078976F}" destId="{7F0153A7-104C-4BF2-9758-9EBDCD49C276}" srcOrd="0" destOrd="0" presId="urn:microsoft.com/office/officeart/2005/8/layout/process2"/>
    <dgm:cxn modelId="{58FB4FD2-046F-40C2-9363-D0450A37F6C4}" type="presParOf" srcId="{D96D613F-BDCE-4A6F-9DF5-658C7B3A5673}" destId="{BD0B095D-9854-41EE-8AA4-0941E55FB5C1}" srcOrd="2" destOrd="0" presId="urn:microsoft.com/office/officeart/2005/8/layout/process2"/>
    <dgm:cxn modelId="{898B85D0-BD0E-45D7-9F91-F267B9DEC305}" type="presParOf" srcId="{D96D613F-BDCE-4A6F-9DF5-658C7B3A5673}" destId="{9B3DDB7F-39CD-459C-8148-0D2C28BECB46}" srcOrd="3" destOrd="0" presId="urn:microsoft.com/office/officeart/2005/8/layout/process2"/>
    <dgm:cxn modelId="{F574C437-C710-47D8-B924-24597529EF7E}" type="presParOf" srcId="{9B3DDB7F-39CD-459C-8148-0D2C28BECB46}" destId="{B449B651-68B9-4F30-BD60-DDAED9712888}" srcOrd="0" destOrd="0" presId="urn:microsoft.com/office/officeart/2005/8/layout/process2"/>
    <dgm:cxn modelId="{D62990F9-96E8-4C41-AC28-775A276570B7}" type="presParOf" srcId="{D96D613F-BDCE-4A6F-9DF5-658C7B3A5673}" destId="{ED743B82-D8B1-46FB-A4D4-2E51FD026FD2}" srcOrd="4" destOrd="0" presId="urn:microsoft.com/office/officeart/2005/8/layout/process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7C237217-0BCB-4A4F-AE5D-4DC019D96040}" type="doc">
      <dgm:prSet loTypeId="urn:microsoft.com/office/officeart/2005/8/layout/cycle3" loCatId="cycle" qsTypeId="urn:microsoft.com/office/officeart/2005/8/quickstyle/simple2" qsCatId="simple" csTypeId="urn:microsoft.com/office/officeart/2005/8/colors/colorful2" csCatId="colorful" phldr="1"/>
      <dgm:spPr/>
    </dgm:pt>
    <dgm:pt modelId="{5FDB91EA-FE45-46E7-8563-3AC5A3ABD86D}">
      <dgm:prSet phldrT="[텍스트]" custT="1"/>
      <dgm:spPr/>
      <dgm:t>
        <a:bodyPr/>
        <a:lstStyle/>
        <a:p>
          <a:pPr latinLnBrk="1"/>
          <a:r>
            <a:rPr lang="ko-KR" altLang="en-US" sz="1400" b="1" dirty="0">
              <a:latin typeface="+mn-ea"/>
              <a:ea typeface="+mn-ea"/>
            </a:rPr>
            <a:t>불필요</a:t>
          </a:r>
          <a:br>
            <a:rPr lang="en-US" altLang="ko-KR" sz="1400" b="1" dirty="0">
              <a:latin typeface="+mn-ea"/>
              <a:ea typeface="+mn-ea"/>
            </a:rPr>
          </a:br>
          <a:r>
            <a:rPr lang="ko-KR" altLang="en-US" sz="1400" b="1" dirty="0">
              <a:latin typeface="+mn-ea"/>
              <a:ea typeface="+mn-ea"/>
            </a:rPr>
            <a:t>해외출원</a:t>
          </a:r>
          <a:br>
            <a:rPr lang="en-US" altLang="ko-KR" sz="1400" b="1" dirty="0">
              <a:latin typeface="+mn-ea"/>
              <a:ea typeface="+mn-ea"/>
            </a:rPr>
          </a:br>
          <a:r>
            <a:rPr lang="ko-KR" altLang="en-US" sz="1400" b="1" dirty="0">
              <a:latin typeface="+mn-ea"/>
              <a:ea typeface="+mn-ea"/>
            </a:rPr>
            <a:t>방지</a:t>
          </a:r>
        </a:p>
      </dgm:t>
    </dgm:pt>
    <dgm:pt modelId="{C5FFAF14-4B8F-4005-A870-92B379636126}" type="parTrans" cxnId="{3321AA74-9308-4A10-902A-8E370B9E7621}">
      <dgm:prSet/>
      <dgm:spPr/>
      <dgm:t>
        <a:bodyPr/>
        <a:lstStyle/>
        <a:p>
          <a:pPr latinLnBrk="1"/>
          <a:endParaRPr lang="ko-KR" altLang="en-US" sz="1400" b="1">
            <a:latin typeface="+mn-ea"/>
            <a:ea typeface="+mn-ea"/>
          </a:endParaRPr>
        </a:p>
      </dgm:t>
    </dgm:pt>
    <dgm:pt modelId="{6DC79147-E7CD-4F00-92CD-98EF03525908}" type="sibTrans" cxnId="{3321AA74-9308-4A10-902A-8E370B9E7621}">
      <dgm:prSet/>
      <dgm:spPr/>
      <dgm:t>
        <a:bodyPr/>
        <a:lstStyle/>
        <a:p>
          <a:pPr latinLnBrk="1"/>
          <a:endParaRPr lang="ko-KR" altLang="en-US" sz="1400" b="1">
            <a:latin typeface="+mn-ea"/>
            <a:ea typeface="+mn-ea"/>
          </a:endParaRPr>
        </a:p>
      </dgm:t>
    </dgm:pt>
    <dgm:pt modelId="{64689CF1-B320-4BD8-8790-5682B5D82C0C}">
      <dgm:prSet phldrT="[텍스트]" custT="1"/>
      <dgm:spPr/>
      <dgm:t>
        <a:bodyPr/>
        <a:lstStyle/>
        <a:p>
          <a:pPr latinLnBrk="1"/>
          <a:r>
            <a:rPr lang="ko-KR" altLang="en-US" sz="1400" b="1" dirty="0">
              <a:latin typeface="+mn-ea"/>
              <a:ea typeface="+mn-ea"/>
            </a:rPr>
            <a:t>소요되는</a:t>
          </a:r>
          <a:br>
            <a:rPr lang="en-US" altLang="ko-KR" sz="1400" b="1" dirty="0">
              <a:latin typeface="+mn-ea"/>
              <a:ea typeface="+mn-ea"/>
            </a:rPr>
          </a:br>
          <a:r>
            <a:rPr lang="ko-KR" altLang="en-US" sz="1400" b="1" dirty="0">
              <a:latin typeface="+mn-ea"/>
              <a:ea typeface="+mn-ea"/>
            </a:rPr>
            <a:t>비용 및 시간</a:t>
          </a:r>
          <a:br>
            <a:rPr lang="en-US" altLang="ko-KR" sz="1400" b="1" dirty="0">
              <a:latin typeface="+mn-ea"/>
              <a:ea typeface="+mn-ea"/>
            </a:rPr>
          </a:br>
          <a:r>
            <a:rPr lang="ko-KR" altLang="en-US" sz="1400" b="1" dirty="0">
              <a:latin typeface="+mn-ea"/>
              <a:ea typeface="+mn-ea"/>
            </a:rPr>
            <a:t>절약</a:t>
          </a:r>
        </a:p>
      </dgm:t>
    </dgm:pt>
    <dgm:pt modelId="{5DE0F178-CBEE-48DD-BB3C-836BD81DF6E5}" type="parTrans" cxnId="{C02C0853-F84B-45BA-871C-42A981D925D2}">
      <dgm:prSet/>
      <dgm:spPr/>
      <dgm:t>
        <a:bodyPr/>
        <a:lstStyle/>
        <a:p>
          <a:pPr latinLnBrk="1"/>
          <a:endParaRPr lang="ko-KR" altLang="en-US" sz="1400" b="1">
            <a:latin typeface="+mn-ea"/>
            <a:ea typeface="+mn-ea"/>
          </a:endParaRPr>
        </a:p>
      </dgm:t>
    </dgm:pt>
    <dgm:pt modelId="{370DD535-0BCE-4B12-B3E4-65D4F29817D7}" type="sibTrans" cxnId="{C02C0853-F84B-45BA-871C-42A981D925D2}">
      <dgm:prSet/>
      <dgm:spPr/>
      <dgm:t>
        <a:bodyPr/>
        <a:lstStyle/>
        <a:p>
          <a:pPr latinLnBrk="1"/>
          <a:endParaRPr lang="ko-KR" altLang="en-US" sz="1400" b="1">
            <a:latin typeface="+mn-ea"/>
            <a:ea typeface="+mn-ea"/>
          </a:endParaRPr>
        </a:p>
      </dgm:t>
    </dgm:pt>
    <dgm:pt modelId="{A9EB2FE9-0827-419A-B03C-A5B9D8F58920}">
      <dgm:prSet phldrT="[텍스트]" custT="1"/>
      <dgm:spPr/>
      <dgm:t>
        <a:bodyPr/>
        <a:lstStyle/>
        <a:p>
          <a:pPr latinLnBrk="1"/>
          <a:r>
            <a:rPr lang="ko-KR" altLang="en-US" sz="1400" b="0" dirty="0">
              <a:latin typeface="+mn-ea"/>
              <a:ea typeface="+mn-ea"/>
            </a:rPr>
            <a:t>강한</a:t>
          </a:r>
          <a:br>
            <a:rPr lang="en-US" altLang="ko-KR" sz="1400" b="0" dirty="0">
              <a:latin typeface="+mn-ea"/>
              <a:ea typeface="+mn-ea"/>
            </a:rPr>
          </a:br>
          <a:r>
            <a:rPr lang="ko-KR" altLang="en-US" sz="1400" b="0" dirty="0">
              <a:latin typeface="+mn-ea"/>
              <a:ea typeface="+mn-ea"/>
            </a:rPr>
            <a:t>해외 특허권</a:t>
          </a:r>
          <a:br>
            <a:rPr lang="en-US" altLang="ko-KR" sz="1400" b="0" dirty="0">
              <a:latin typeface="+mn-ea"/>
              <a:ea typeface="+mn-ea"/>
            </a:rPr>
          </a:br>
          <a:r>
            <a:rPr lang="ko-KR" altLang="en-US" sz="1400" b="0" dirty="0">
              <a:latin typeface="+mn-ea"/>
              <a:ea typeface="+mn-ea"/>
            </a:rPr>
            <a:t>확보</a:t>
          </a:r>
        </a:p>
      </dgm:t>
    </dgm:pt>
    <dgm:pt modelId="{746BDAE1-293B-4D29-B25E-5572835A2D35}" type="parTrans" cxnId="{7ED6CFC8-7D06-4AE8-88EA-C4FA90C3E736}">
      <dgm:prSet/>
      <dgm:spPr/>
      <dgm:t>
        <a:bodyPr/>
        <a:lstStyle/>
        <a:p>
          <a:pPr latinLnBrk="1"/>
          <a:endParaRPr lang="ko-KR" altLang="en-US" sz="1400" b="1">
            <a:latin typeface="+mn-ea"/>
            <a:ea typeface="+mn-ea"/>
          </a:endParaRPr>
        </a:p>
      </dgm:t>
    </dgm:pt>
    <dgm:pt modelId="{F1E742C0-F58C-4607-8D51-6EA06A47EB67}" type="sibTrans" cxnId="{7ED6CFC8-7D06-4AE8-88EA-C4FA90C3E736}">
      <dgm:prSet/>
      <dgm:spPr/>
      <dgm:t>
        <a:bodyPr/>
        <a:lstStyle/>
        <a:p>
          <a:pPr latinLnBrk="1"/>
          <a:endParaRPr lang="ko-KR" altLang="en-US" sz="1400" b="1">
            <a:latin typeface="+mn-ea"/>
            <a:ea typeface="+mn-ea"/>
          </a:endParaRPr>
        </a:p>
      </dgm:t>
    </dgm:pt>
    <dgm:pt modelId="{F4DF8D30-8190-4C49-969B-0CA5F32C440F}">
      <dgm:prSet custT="1"/>
      <dgm:spPr/>
      <dgm:t>
        <a:bodyPr/>
        <a:lstStyle/>
        <a:p>
          <a:pPr latinLnBrk="1"/>
          <a:r>
            <a:rPr lang="ko-KR" altLang="en-US" sz="1400" dirty="0">
              <a:latin typeface="+mn-ea"/>
              <a:ea typeface="+mn-ea"/>
            </a:rPr>
            <a:t>성공적 해외 </a:t>
          </a:r>
          <a:r>
            <a:rPr lang="en-US" altLang="ko-KR" sz="1400" dirty="0">
              <a:latin typeface="+mn-ea"/>
              <a:ea typeface="+mn-ea"/>
            </a:rPr>
            <a:t>IP </a:t>
          </a:r>
          <a:r>
            <a:rPr lang="ko-KR" altLang="en-US" sz="1400" dirty="0">
              <a:latin typeface="+mn-ea"/>
              <a:ea typeface="+mn-ea"/>
            </a:rPr>
            <a:t>권리화 및 사업화</a:t>
          </a:r>
        </a:p>
      </dgm:t>
    </dgm:pt>
    <dgm:pt modelId="{7CCC1091-20C2-421D-A21A-B370BFCDCD7D}" type="parTrans" cxnId="{B0D42E8B-5356-4C36-94CE-75F173975CD3}">
      <dgm:prSet/>
      <dgm:spPr/>
      <dgm:t>
        <a:bodyPr/>
        <a:lstStyle/>
        <a:p>
          <a:pPr latinLnBrk="1"/>
          <a:endParaRPr lang="ko-KR" altLang="en-US">
            <a:latin typeface="+mn-ea"/>
            <a:ea typeface="+mn-ea"/>
          </a:endParaRPr>
        </a:p>
      </dgm:t>
    </dgm:pt>
    <dgm:pt modelId="{942E7287-5B2A-4879-ADDE-C59EB39F922E}" type="sibTrans" cxnId="{B0D42E8B-5356-4C36-94CE-75F173975CD3}">
      <dgm:prSet/>
      <dgm:spPr/>
      <dgm:t>
        <a:bodyPr/>
        <a:lstStyle/>
        <a:p>
          <a:pPr latinLnBrk="1"/>
          <a:endParaRPr lang="ko-KR" altLang="en-US">
            <a:latin typeface="+mn-ea"/>
            <a:ea typeface="+mn-ea"/>
          </a:endParaRPr>
        </a:p>
      </dgm:t>
    </dgm:pt>
    <dgm:pt modelId="{2A45B199-753F-4625-83FC-AFA482D290B5}" type="pres">
      <dgm:prSet presAssocID="{7C237217-0BCB-4A4F-AE5D-4DC019D96040}" presName="Name0" presStyleCnt="0">
        <dgm:presLayoutVars>
          <dgm:dir/>
          <dgm:resizeHandles val="exact"/>
        </dgm:presLayoutVars>
      </dgm:prSet>
      <dgm:spPr/>
    </dgm:pt>
    <dgm:pt modelId="{2CC334A3-B686-4F8B-8135-2EF408FBC271}" type="pres">
      <dgm:prSet presAssocID="{7C237217-0BCB-4A4F-AE5D-4DC019D96040}" presName="cycle" presStyleCnt="0"/>
      <dgm:spPr/>
    </dgm:pt>
    <dgm:pt modelId="{5DA53DBF-5613-42D1-901A-9AD37587F257}" type="pres">
      <dgm:prSet presAssocID="{5FDB91EA-FE45-46E7-8563-3AC5A3ABD86D}" presName="nodeFirstNode" presStyleLbl="node1" presStyleIdx="0" presStyleCnt="4">
        <dgm:presLayoutVars>
          <dgm:bulletEnabled val="1"/>
        </dgm:presLayoutVars>
      </dgm:prSet>
      <dgm:spPr/>
    </dgm:pt>
    <dgm:pt modelId="{8CD54EE8-6D44-4AF5-8FD7-FBB502E77F56}" type="pres">
      <dgm:prSet presAssocID="{6DC79147-E7CD-4F00-92CD-98EF03525908}" presName="sibTransFirstNode" presStyleLbl="bgShp" presStyleIdx="0" presStyleCnt="1"/>
      <dgm:spPr/>
    </dgm:pt>
    <dgm:pt modelId="{C450BBB3-579D-4EDA-8790-99EEBABAAFC1}" type="pres">
      <dgm:prSet presAssocID="{64689CF1-B320-4BD8-8790-5682B5D82C0C}" presName="nodeFollowingNodes" presStyleLbl="node1" presStyleIdx="1" presStyleCnt="4">
        <dgm:presLayoutVars>
          <dgm:bulletEnabled val="1"/>
        </dgm:presLayoutVars>
      </dgm:prSet>
      <dgm:spPr/>
    </dgm:pt>
    <dgm:pt modelId="{22964866-689A-47F1-9515-89F94FAFA586}" type="pres">
      <dgm:prSet presAssocID="{A9EB2FE9-0827-419A-B03C-A5B9D8F58920}" presName="nodeFollowingNodes" presStyleLbl="node1" presStyleIdx="2" presStyleCnt="4">
        <dgm:presLayoutVars>
          <dgm:bulletEnabled val="1"/>
        </dgm:presLayoutVars>
      </dgm:prSet>
      <dgm:spPr/>
    </dgm:pt>
    <dgm:pt modelId="{6555C718-3B22-49E6-A042-800ABE742697}" type="pres">
      <dgm:prSet presAssocID="{F4DF8D30-8190-4C49-969B-0CA5F32C440F}" presName="nodeFollowingNodes" presStyleLbl="node1" presStyleIdx="3" presStyleCnt="4">
        <dgm:presLayoutVars>
          <dgm:bulletEnabled val="1"/>
        </dgm:presLayoutVars>
      </dgm:prSet>
      <dgm:spPr/>
    </dgm:pt>
  </dgm:ptLst>
  <dgm:cxnLst>
    <dgm:cxn modelId="{26192C40-5601-4071-85B0-C4B1630FA166}" type="presOf" srcId="{A9EB2FE9-0827-419A-B03C-A5B9D8F58920}" destId="{22964866-689A-47F1-9515-89F94FAFA586}" srcOrd="0" destOrd="0" presId="urn:microsoft.com/office/officeart/2005/8/layout/cycle3"/>
    <dgm:cxn modelId="{C02C0853-F84B-45BA-871C-42A981D925D2}" srcId="{7C237217-0BCB-4A4F-AE5D-4DC019D96040}" destId="{64689CF1-B320-4BD8-8790-5682B5D82C0C}" srcOrd="1" destOrd="0" parTransId="{5DE0F178-CBEE-48DD-BB3C-836BD81DF6E5}" sibTransId="{370DD535-0BCE-4B12-B3E4-65D4F29817D7}"/>
    <dgm:cxn modelId="{3321AA74-9308-4A10-902A-8E370B9E7621}" srcId="{7C237217-0BCB-4A4F-AE5D-4DC019D96040}" destId="{5FDB91EA-FE45-46E7-8563-3AC5A3ABD86D}" srcOrd="0" destOrd="0" parTransId="{C5FFAF14-4B8F-4005-A870-92B379636126}" sibTransId="{6DC79147-E7CD-4F00-92CD-98EF03525908}"/>
    <dgm:cxn modelId="{FBFB7586-B443-4D95-9594-632324EAB6D4}" type="presOf" srcId="{F4DF8D30-8190-4C49-969B-0CA5F32C440F}" destId="{6555C718-3B22-49E6-A042-800ABE742697}" srcOrd="0" destOrd="0" presId="urn:microsoft.com/office/officeart/2005/8/layout/cycle3"/>
    <dgm:cxn modelId="{A034CF8A-F139-4233-A6A2-93A683ED3F59}" type="presOf" srcId="{64689CF1-B320-4BD8-8790-5682B5D82C0C}" destId="{C450BBB3-579D-4EDA-8790-99EEBABAAFC1}" srcOrd="0" destOrd="0" presId="urn:microsoft.com/office/officeart/2005/8/layout/cycle3"/>
    <dgm:cxn modelId="{B0D42E8B-5356-4C36-94CE-75F173975CD3}" srcId="{7C237217-0BCB-4A4F-AE5D-4DC019D96040}" destId="{F4DF8D30-8190-4C49-969B-0CA5F32C440F}" srcOrd="3" destOrd="0" parTransId="{7CCC1091-20C2-421D-A21A-B370BFCDCD7D}" sibTransId="{942E7287-5B2A-4879-ADDE-C59EB39F922E}"/>
    <dgm:cxn modelId="{BACAB3B8-3C07-4338-AC91-17DF853560C1}" type="presOf" srcId="{7C237217-0BCB-4A4F-AE5D-4DC019D96040}" destId="{2A45B199-753F-4625-83FC-AFA482D290B5}" srcOrd="0" destOrd="0" presId="urn:microsoft.com/office/officeart/2005/8/layout/cycle3"/>
    <dgm:cxn modelId="{7ED6CFC8-7D06-4AE8-88EA-C4FA90C3E736}" srcId="{7C237217-0BCB-4A4F-AE5D-4DC019D96040}" destId="{A9EB2FE9-0827-419A-B03C-A5B9D8F58920}" srcOrd="2" destOrd="0" parTransId="{746BDAE1-293B-4D29-B25E-5572835A2D35}" sibTransId="{F1E742C0-F58C-4607-8D51-6EA06A47EB67}"/>
    <dgm:cxn modelId="{FC2916CD-F514-40A2-BB25-BDB721530C0D}" type="presOf" srcId="{5FDB91EA-FE45-46E7-8563-3AC5A3ABD86D}" destId="{5DA53DBF-5613-42D1-901A-9AD37587F257}" srcOrd="0" destOrd="0" presId="urn:microsoft.com/office/officeart/2005/8/layout/cycle3"/>
    <dgm:cxn modelId="{61C7D6D4-B717-490A-838B-7151442DC6F3}" type="presOf" srcId="{6DC79147-E7CD-4F00-92CD-98EF03525908}" destId="{8CD54EE8-6D44-4AF5-8FD7-FBB502E77F56}" srcOrd="0" destOrd="0" presId="urn:microsoft.com/office/officeart/2005/8/layout/cycle3"/>
    <dgm:cxn modelId="{E5DE380F-CFE6-4525-972B-B7AE11CE8838}" type="presParOf" srcId="{2A45B199-753F-4625-83FC-AFA482D290B5}" destId="{2CC334A3-B686-4F8B-8135-2EF408FBC271}" srcOrd="0" destOrd="0" presId="urn:microsoft.com/office/officeart/2005/8/layout/cycle3"/>
    <dgm:cxn modelId="{1C1169C1-CDBD-470C-B42E-A1348B8930D4}" type="presParOf" srcId="{2CC334A3-B686-4F8B-8135-2EF408FBC271}" destId="{5DA53DBF-5613-42D1-901A-9AD37587F257}" srcOrd="0" destOrd="0" presId="urn:microsoft.com/office/officeart/2005/8/layout/cycle3"/>
    <dgm:cxn modelId="{CCCCFE2E-541E-4505-BE66-FA3A233DA6EC}" type="presParOf" srcId="{2CC334A3-B686-4F8B-8135-2EF408FBC271}" destId="{8CD54EE8-6D44-4AF5-8FD7-FBB502E77F56}" srcOrd="1" destOrd="0" presId="urn:microsoft.com/office/officeart/2005/8/layout/cycle3"/>
    <dgm:cxn modelId="{8F0E676A-2BDA-42F3-9384-2CC76204579F}" type="presParOf" srcId="{2CC334A3-B686-4F8B-8135-2EF408FBC271}" destId="{C450BBB3-579D-4EDA-8790-99EEBABAAFC1}" srcOrd="2" destOrd="0" presId="urn:microsoft.com/office/officeart/2005/8/layout/cycle3"/>
    <dgm:cxn modelId="{8ECADDAF-0B12-4D8E-A8F7-BC256A7049A7}" type="presParOf" srcId="{2CC334A3-B686-4F8B-8135-2EF408FBC271}" destId="{22964866-689A-47F1-9515-89F94FAFA586}" srcOrd="3" destOrd="0" presId="urn:microsoft.com/office/officeart/2005/8/layout/cycle3"/>
    <dgm:cxn modelId="{214092D3-E10C-4E5C-B14A-D94C2A668E81}" type="presParOf" srcId="{2CC334A3-B686-4F8B-8135-2EF408FBC271}" destId="{6555C718-3B22-49E6-A042-800ABE742697}" srcOrd="4" destOrd="0" presId="urn:microsoft.com/office/officeart/2005/8/layout/cycle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1E0097F-0575-4296-84D5-573BE8063687}">
      <dsp:nvSpPr>
        <dsp:cNvPr id="0" name=""/>
        <dsp:cNvSpPr/>
      </dsp:nvSpPr>
      <dsp:spPr>
        <a:xfrm>
          <a:off x="779772" y="206811"/>
          <a:ext cx="2573649" cy="2573649"/>
        </a:xfrm>
        <a:prstGeom prst="pie">
          <a:avLst>
            <a:gd name="adj1" fmla="val 16200000"/>
            <a:gd name="adj2" fmla="val 1800000"/>
          </a:avLst>
        </a:prstGeom>
        <a:gradFill rotWithShape="0">
          <a:gsLst>
            <a:gs pos="0">
              <a:schemeClr val="accent3">
                <a:hueOff val="0"/>
                <a:satOff val="0"/>
                <a:lumOff val="0"/>
                <a:alphaOff val="0"/>
                <a:satMod val="103000"/>
                <a:lumMod val="102000"/>
                <a:tint val="94000"/>
              </a:schemeClr>
            </a:gs>
            <a:gs pos="50000">
              <a:schemeClr val="accent3">
                <a:hueOff val="0"/>
                <a:satOff val="0"/>
                <a:lumOff val="0"/>
                <a:alphaOff val="0"/>
                <a:satMod val="110000"/>
                <a:lumMod val="100000"/>
                <a:shade val="100000"/>
              </a:schemeClr>
            </a:gs>
            <a:gs pos="100000">
              <a:schemeClr val="accent3">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latinLnBrk="1">
            <a:lnSpc>
              <a:spcPct val="100000"/>
            </a:lnSpc>
            <a:spcBef>
              <a:spcPct val="0"/>
            </a:spcBef>
            <a:spcAft>
              <a:spcPts val="0"/>
            </a:spcAft>
            <a:buNone/>
          </a:pPr>
          <a:r>
            <a:rPr lang="ko-KR" altLang="en-US" sz="1600" kern="1200" dirty="0">
              <a:latin typeface="+mj-ea"/>
              <a:ea typeface="+mj-ea"/>
            </a:rPr>
            <a:t>경제적 </a:t>
          </a:r>
          <a:endParaRPr lang="en-US" altLang="ko-KR" sz="1600" kern="1200" dirty="0">
            <a:latin typeface="+mj-ea"/>
            <a:ea typeface="+mj-ea"/>
          </a:endParaRPr>
        </a:p>
        <a:p>
          <a:pPr marL="0" lvl="0" indent="0" algn="ctr" defTabSz="711200" latinLnBrk="1">
            <a:lnSpc>
              <a:spcPct val="100000"/>
            </a:lnSpc>
            <a:spcBef>
              <a:spcPct val="0"/>
            </a:spcBef>
            <a:spcAft>
              <a:spcPts val="0"/>
            </a:spcAft>
            <a:buNone/>
          </a:pPr>
          <a:r>
            <a:rPr lang="ko-KR" altLang="en-US" sz="1600" kern="1200" dirty="0">
              <a:latin typeface="+mj-ea"/>
              <a:ea typeface="+mj-ea"/>
            </a:rPr>
            <a:t>유용성</a:t>
          </a:r>
        </a:p>
      </dsp:txBody>
      <dsp:txXfrm>
        <a:off x="2179040" y="681710"/>
        <a:ext cx="873202" cy="857883"/>
      </dsp:txXfrm>
    </dsp:sp>
    <dsp:sp modelId="{C605CB60-0742-460A-AAC6-4FC0C78F0E65}">
      <dsp:nvSpPr>
        <dsp:cNvPr id="0" name=""/>
        <dsp:cNvSpPr/>
      </dsp:nvSpPr>
      <dsp:spPr>
        <a:xfrm>
          <a:off x="647106" y="283407"/>
          <a:ext cx="2573649" cy="2573649"/>
        </a:xfrm>
        <a:prstGeom prst="pie">
          <a:avLst>
            <a:gd name="adj1" fmla="val 1800000"/>
            <a:gd name="adj2" fmla="val 9000000"/>
          </a:avLst>
        </a:prstGeom>
        <a:gradFill rotWithShape="0">
          <a:gsLst>
            <a:gs pos="0">
              <a:schemeClr val="accent3">
                <a:hueOff val="1355300"/>
                <a:satOff val="50000"/>
                <a:lumOff val="-7353"/>
                <a:alphaOff val="0"/>
                <a:satMod val="103000"/>
                <a:lumMod val="102000"/>
                <a:tint val="94000"/>
              </a:schemeClr>
            </a:gs>
            <a:gs pos="50000">
              <a:schemeClr val="accent3">
                <a:hueOff val="1355300"/>
                <a:satOff val="50000"/>
                <a:lumOff val="-7353"/>
                <a:alphaOff val="0"/>
                <a:satMod val="110000"/>
                <a:lumMod val="100000"/>
                <a:shade val="100000"/>
              </a:schemeClr>
            </a:gs>
            <a:gs pos="100000">
              <a:schemeClr val="accent3">
                <a:hueOff val="1355300"/>
                <a:satOff val="50000"/>
                <a:lumOff val="-7353"/>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latinLnBrk="1">
            <a:lnSpc>
              <a:spcPct val="90000"/>
            </a:lnSpc>
            <a:spcBef>
              <a:spcPct val="0"/>
            </a:spcBef>
            <a:spcAft>
              <a:spcPct val="35000"/>
            </a:spcAft>
            <a:buNone/>
          </a:pPr>
          <a:r>
            <a:rPr lang="ko-KR" altLang="en-US" sz="1600" kern="1200" dirty="0" err="1">
              <a:latin typeface="+mj-ea"/>
              <a:ea typeface="+mj-ea"/>
            </a:rPr>
            <a:t>비밀관리성</a:t>
          </a:r>
          <a:endParaRPr lang="ko-KR" altLang="en-US" sz="1600" kern="1200" dirty="0">
            <a:latin typeface="+mj-ea"/>
            <a:ea typeface="+mj-ea"/>
          </a:endParaRPr>
        </a:p>
      </dsp:txBody>
      <dsp:txXfrm>
        <a:off x="1351796" y="1907257"/>
        <a:ext cx="1164269" cy="796605"/>
      </dsp:txXfrm>
    </dsp:sp>
    <dsp:sp modelId="{64C08589-240C-4543-902D-9C4440F85A1A}">
      <dsp:nvSpPr>
        <dsp:cNvPr id="0" name=""/>
        <dsp:cNvSpPr/>
      </dsp:nvSpPr>
      <dsp:spPr>
        <a:xfrm>
          <a:off x="647106" y="283407"/>
          <a:ext cx="2573649" cy="2573649"/>
        </a:xfrm>
        <a:prstGeom prst="pie">
          <a:avLst>
            <a:gd name="adj1" fmla="val 9000000"/>
            <a:gd name="adj2" fmla="val 16200000"/>
          </a:avLst>
        </a:prstGeom>
        <a:gradFill rotWithShape="0">
          <a:gsLst>
            <a:gs pos="0">
              <a:schemeClr val="accent3">
                <a:hueOff val="2710599"/>
                <a:satOff val="100000"/>
                <a:lumOff val="-14706"/>
                <a:alphaOff val="0"/>
                <a:satMod val="103000"/>
                <a:lumMod val="102000"/>
                <a:tint val="94000"/>
              </a:schemeClr>
            </a:gs>
            <a:gs pos="50000">
              <a:schemeClr val="accent3">
                <a:hueOff val="2710599"/>
                <a:satOff val="100000"/>
                <a:lumOff val="-14706"/>
                <a:alphaOff val="0"/>
                <a:satMod val="110000"/>
                <a:lumMod val="100000"/>
                <a:shade val="100000"/>
              </a:schemeClr>
            </a:gs>
            <a:gs pos="100000">
              <a:schemeClr val="accent3">
                <a:hueOff val="2710599"/>
                <a:satOff val="100000"/>
                <a:lumOff val="-14706"/>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latinLnBrk="1">
            <a:lnSpc>
              <a:spcPct val="90000"/>
            </a:lnSpc>
            <a:spcBef>
              <a:spcPct val="0"/>
            </a:spcBef>
            <a:spcAft>
              <a:spcPct val="35000"/>
            </a:spcAft>
            <a:buNone/>
          </a:pPr>
          <a:r>
            <a:rPr lang="ko-KR" altLang="en-US" sz="1600" kern="1200" dirty="0" err="1">
              <a:latin typeface="+mj-ea"/>
              <a:ea typeface="+mj-ea"/>
            </a:rPr>
            <a:t>비공지성</a:t>
          </a:r>
          <a:endParaRPr lang="ko-KR" altLang="en-US" sz="1600" kern="1200" dirty="0">
            <a:latin typeface="+mj-ea"/>
            <a:ea typeface="+mj-ea"/>
          </a:endParaRPr>
        </a:p>
      </dsp:txBody>
      <dsp:txXfrm>
        <a:off x="922854" y="788946"/>
        <a:ext cx="873202" cy="85788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2AE926B-FEEB-49E7-BBF0-B3D9B662FFD9}">
      <dsp:nvSpPr>
        <dsp:cNvPr id="0" name=""/>
        <dsp:cNvSpPr/>
      </dsp:nvSpPr>
      <dsp:spPr>
        <a:xfrm>
          <a:off x="280558" y="0"/>
          <a:ext cx="1148237" cy="637909"/>
        </a:xfrm>
        <a:prstGeom prst="roundRect">
          <a:avLst>
            <a:gd name="adj" fmla="val 10000"/>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latinLnBrk="1">
            <a:lnSpc>
              <a:spcPct val="90000"/>
            </a:lnSpc>
            <a:spcBef>
              <a:spcPct val="0"/>
            </a:spcBef>
            <a:spcAft>
              <a:spcPct val="35000"/>
            </a:spcAft>
            <a:buNone/>
          </a:pPr>
          <a:r>
            <a:rPr lang="ko-KR" altLang="en-US" sz="1400" kern="1200" dirty="0"/>
            <a:t>보상규정의 작성 및 변경</a:t>
          </a:r>
        </a:p>
      </dsp:txBody>
      <dsp:txXfrm>
        <a:off x="299242" y="18684"/>
        <a:ext cx="1110869" cy="600541"/>
      </dsp:txXfrm>
    </dsp:sp>
    <dsp:sp modelId="{90C1BA4D-619E-4FFD-8C86-77999078976F}">
      <dsp:nvSpPr>
        <dsp:cNvPr id="0" name=""/>
        <dsp:cNvSpPr/>
      </dsp:nvSpPr>
      <dsp:spPr>
        <a:xfrm rot="5400000">
          <a:off x="735069" y="653857"/>
          <a:ext cx="239216" cy="287059"/>
        </a:xfrm>
        <a:prstGeom prst="rightArrow">
          <a:avLst>
            <a:gd name="adj1" fmla="val 60000"/>
            <a:gd name="adj2" fmla="val 50000"/>
          </a:avLst>
        </a:prstGeom>
        <a:solidFill>
          <a:schemeClr val="accent2">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488950" latinLnBrk="1">
            <a:lnSpc>
              <a:spcPct val="90000"/>
            </a:lnSpc>
            <a:spcBef>
              <a:spcPct val="0"/>
            </a:spcBef>
            <a:spcAft>
              <a:spcPct val="35000"/>
            </a:spcAft>
            <a:buNone/>
          </a:pPr>
          <a:endParaRPr lang="ko-KR" altLang="en-US" sz="1100" kern="1200"/>
        </a:p>
      </dsp:txBody>
      <dsp:txXfrm rot="-5400000">
        <a:off x="768560" y="677779"/>
        <a:ext cx="172235" cy="167451"/>
      </dsp:txXfrm>
    </dsp:sp>
    <dsp:sp modelId="{BD0B095D-9854-41EE-8AA4-0941E55FB5C1}">
      <dsp:nvSpPr>
        <dsp:cNvPr id="0" name=""/>
        <dsp:cNvSpPr/>
      </dsp:nvSpPr>
      <dsp:spPr>
        <a:xfrm>
          <a:off x="280558" y="956864"/>
          <a:ext cx="1148237" cy="637909"/>
        </a:xfrm>
        <a:prstGeom prst="roundRect">
          <a:avLst>
            <a:gd name="adj" fmla="val 10000"/>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latinLnBrk="1">
            <a:lnSpc>
              <a:spcPct val="90000"/>
            </a:lnSpc>
            <a:spcBef>
              <a:spcPct val="0"/>
            </a:spcBef>
            <a:spcAft>
              <a:spcPct val="35000"/>
            </a:spcAft>
            <a:buNone/>
          </a:pPr>
          <a:r>
            <a:rPr lang="ko-KR" altLang="en-US" sz="1400" kern="1200" dirty="0"/>
            <a:t>보상사항의 통지</a:t>
          </a:r>
        </a:p>
      </dsp:txBody>
      <dsp:txXfrm>
        <a:off x="299242" y="975548"/>
        <a:ext cx="1110869" cy="600541"/>
      </dsp:txXfrm>
    </dsp:sp>
    <dsp:sp modelId="{9B3DDB7F-39CD-459C-8148-0D2C28BECB46}">
      <dsp:nvSpPr>
        <dsp:cNvPr id="0" name=""/>
        <dsp:cNvSpPr/>
      </dsp:nvSpPr>
      <dsp:spPr>
        <a:xfrm rot="5400000">
          <a:off x="735069" y="1610722"/>
          <a:ext cx="239216" cy="287059"/>
        </a:xfrm>
        <a:prstGeom prst="rightArrow">
          <a:avLst>
            <a:gd name="adj1" fmla="val 60000"/>
            <a:gd name="adj2" fmla="val 50000"/>
          </a:avLst>
        </a:prstGeom>
        <a:solidFill>
          <a:schemeClr val="accent3">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488950" latinLnBrk="1">
            <a:lnSpc>
              <a:spcPct val="90000"/>
            </a:lnSpc>
            <a:spcBef>
              <a:spcPct val="0"/>
            </a:spcBef>
            <a:spcAft>
              <a:spcPct val="35000"/>
            </a:spcAft>
            <a:buNone/>
          </a:pPr>
          <a:endParaRPr lang="ko-KR" altLang="en-US" sz="1100" kern="1200"/>
        </a:p>
      </dsp:txBody>
      <dsp:txXfrm rot="-5400000">
        <a:off x="768560" y="1634644"/>
        <a:ext cx="172235" cy="167451"/>
      </dsp:txXfrm>
    </dsp:sp>
    <dsp:sp modelId="{ED743B82-D8B1-46FB-A4D4-2E51FD026FD2}">
      <dsp:nvSpPr>
        <dsp:cNvPr id="0" name=""/>
        <dsp:cNvSpPr/>
      </dsp:nvSpPr>
      <dsp:spPr>
        <a:xfrm>
          <a:off x="280558" y="1913729"/>
          <a:ext cx="1148237" cy="637909"/>
        </a:xfrm>
        <a:prstGeom prst="roundRect">
          <a:avLst>
            <a:gd name="adj" fmla="val 10000"/>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latinLnBrk="1">
            <a:lnSpc>
              <a:spcPct val="90000"/>
            </a:lnSpc>
            <a:spcBef>
              <a:spcPct val="0"/>
            </a:spcBef>
            <a:spcAft>
              <a:spcPct val="35000"/>
            </a:spcAft>
            <a:buNone/>
          </a:pPr>
          <a:r>
            <a:rPr lang="ko-KR" altLang="en-US" sz="1400" kern="1200" dirty="0"/>
            <a:t>보상의 효력</a:t>
          </a:r>
        </a:p>
      </dsp:txBody>
      <dsp:txXfrm>
        <a:off x="299242" y="1932413"/>
        <a:ext cx="1110869" cy="600541"/>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CD54EE8-6D44-4AF5-8FD7-FBB502E77F56}">
      <dsp:nvSpPr>
        <dsp:cNvPr id="0" name=""/>
        <dsp:cNvSpPr/>
      </dsp:nvSpPr>
      <dsp:spPr>
        <a:xfrm>
          <a:off x="1224685" y="-57471"/>
          <a:ext cx="3215257" cy="3215257"/>
        </a:xfrm>
        <a:prstGeom prst="circularArrow">
          <a:avLst>
            <a:gd name="adj1" fmla="val 4668"/>
            <a:gd name="adj2" fmla="val 272909"/>
            <a:gd name="adj3" fmla="val 13027138"/>
            <a:gd name="adj4" fmla="val 17898846"/>
            <a:gd name="adj5" fmla="val 4847"/>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5DA53DBF-5613-42D1-901A-9AD37587F257}">
      <dsp:nvSpPr>
        <dsp:cNvPr id="0" name=""/>
        <dsp:cNvSpPr/>
      </dsp:nvSpPr>
      <dsp:spPr>
        <a:xfrm>
          <a:off x="1815834" y="1340"/>
          <a:ext cx="2032960" cy="1016480"/>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latinLnBrk="1">
            <a:lnSpc>
              <a:spcPct val="90000"/>
            </a:lnSpc>
            <a:spcBef>
              <a:spcPct val="0"/>
            </a:spcBef>
            <a:spcAft>
              <a:spcPct val="35000"/>
            </a:spcAft>
            <a:buNone/>
          </a:pPr>
          <a:r>
            <a:rPr lang="ko-KR" altLang="en-US" sz="1400" b="1" kern="1200" dirty="0">
              <a:latin typeface="+mn-ea"/>
              <a:ea typeface="+mn-ea"/>
            </a:rPr>
            <a:t>불필요</a:t>
          </a:r>
          <a:br>
            <a:rPr lang="en-US" altLang="ko-KR" sz="1400" b="1" kern="1200" dirty="0">
              <a:latin typeface="+mn-ea"/>
              <a:ea typeface="+mn-ea"/>
            </a:rPr>
          </a:br>
          <a:r>
            <a:rPr lang="ko-KR" altLang="en-US" sz="1400" b="1" kern="1200" dirty="0">
              <a:latin typeface="+mn-ea"/>
              <a:ea typeface="+mn-ea"/>
            </a:rPr>
            <a:t>해외출원</a:t>
          </a:r>
          <a:br>
            <a:rPr lang="en-US" altLang="ko-KR" sz="1400" b="1" kern="1200" dirty="0">
              <a:latin typeface="+mn-ea"/>
              <a:ea typeface="+mn-ea"/>
            </a:rPr>
          </a:br>
          <a:r>
            <a:rPr lang="ko-KR" altLang="en-US" sz="1400" b="1" kern="1200" dirty="0">
              <a:latin typeface="+mn-ea"/>
              <a:ea typeface="+mn-ea"/>
            </a:rPr>
            <a:t>방지</a:t>
          </a:r>
        </a:p>
      </dsp:txBody>
      <dsp:txXfrm>
        <a:off x="1865454" y="50960"/>
        <a:ext cx="1933720" cy="917240"/>
      </dsp:txXfrm>
    </dsp:sp>
    <dsp:sp modelId="{C450BBB3-579D-4EDA-8790-99EEBABAAFC1}">
      <dsp:nvSpPr>
        <dsp:cNvPr id="0" name=""/>
        <dsp:cNvSpPr/>
      </dsp:nvSpPr>
      <dsp:spPr>
        <a:xfrm>
          <a:off x="2970325" y="1155831"/>
          <a:ext cx="2032960" cy="1016480"/>
        </a:xfrm>
        <a:prstGeom prst="roundRect">
          <a:avLst/>
        </a:prstGeom>
        <a:solidFill>
          <a:schemeClr val="accent2">
            <a:hueOff val="-485121"/>
            <a:satOff val="-27976"/>
            <a:lumOff val="2876"/>
            <a:alphaOff val="0"/>
          </a:schemeClr>
        </a:solidFill>
        <a:ln w="1905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latinLnBrk="1">
            <a:lnSpc>
              <a:spcPct val="90000"/>
            </a:lnSpc>
            <a:spcBef>
              <a:spcPct val="0"/>
            </a:spcBef>
            <a:spcAft>
              <a:spcPct val="35000"/>
            </a:spcAft>
            <a:buNone/>
          </a:pPr>
          <a:r>
            <a:rPr lang="ko-KR" altLang="en-US" sz="1400" b="1" kern="1200" dirty="0">
              <a:latin typeface="+mn-ea"/>
              <a:ea typeface="+mn-ea"/>
            </a:rPr>
            <a:t>소요되는</a:t>
          </a:r>
          <a:br>
            <a:rPr lang="en-US" altLang="ko-KR" sz="1400" b="1" kern="1200" dirty="0">
              <a:latin typeface="+mn-ea"/>
              <a:ea typeface="+mn-ea"/>
            </a:rPr>
          </a:br>
          <a:r>
            <a:rPr lang="ko-KR" altLang="en-US" sz="1400" b="1" kern="1200" dirty="0">
              <a:latin typeface="+mn-ea"/>
              <a:ea typeface="+mn-ea"/>
            </a:rPr>
            <a:t>비용 및 시간</a:t>
          </a:r>
          <a:br>
            <a:rPr lang="en-US" altLang="ko-KR" sz="1400" b="1" kern="1200" dirty="0">
              <a:latin typeface="+mn-ea"/>
              <a:ea typeface="+mn-ea"/>
            </a:rPr>
          </a:br>
          <a:r>
            <a:rPr lang="ko-KR" altLang="en-US" sz="1400" b="1" kern="1200" dirty="0">
              <a:latin typeface="+mn-ea"/>
              <a:ea typeface="+mn-ea"/>
            </a:rPr>
            <a:t>절약</a:t>
          </a:r>
        </a:p>
      </dsp:txBody>
      <dsp:txXfrm>
        <a:off x="3019945" y="1205451"/>
        <a:ext cx="1933720" cy="917240"/>
      </dsp:txXfrm>
    </dsp:sp>
    <dsp:sp modelId="{22964866-689A-47F1-9515-89F94FAFA586}">
      <dsp:nvSpPr>
        <dsp:cNvPr id="0" name=""/>
        <dsp:cNvSpPr/>
      </dsp:nvSpPr>
      <dsp:spPr>
        <a:xfrm>
          <a:off x="1815834" y="2310322"/>
          <a:ext cx="2032960" cy="1016480"/>
        </a:xfrm>
        <a:prstGeom prst="roundRect">
          <a:avLst/>
        </a:prstGeom>
        <a:solidFill>
          <a:schemeClr val="accent2">
            <a:hueOff val="-970242"/>
            <a:satOff val="-55952"/>
            <a:lumOff val="5752"/>
            <a:alphaOff val="0"/>
          </a:schemeClr>
        </a:solidFill>
        <a:ln w="1905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latinLnBrk="1">
            <a:lnSpc>
              <a:spcPct val="90000"/>
            </a:lnSpc>
            <a:spcBef>
              <a:spcPct val="0"/>
            </a:spcBef>
            <a:spcAft>
              <a:spcPct val="35000"/>
            </a:spcAft>
            <a:buNone/>
          </a:pPr>
          <a:r>
            <a:rPr lang="ko-KR" altLang="en-US" sz="1400" b="0" kern="1200" dirty="0">
              <a:latin typeface="+mn-ea"/>
              <a:ea typeface="+mn-ea"/>
            </a:rPr>
            <a:t>강한</a:t>
          </a:r>
          <a:br>
            <a:rPr lang="en-US" altLang="ko-KR" sz="1400" b="0" kern="1200" dirty="0">
              <a:latin typeface="+mn-ea"/>
              <a:ea typeface="+mn-ea"/>
            </a:rPr>
          </a:br>
          <a:r>
            <a:rPr lang="ko-KR" altLang="en-US" sz="1400" b="0" kern="1200" dirty="0">
              <a:latin typeface="+mn-ea"/>
              <a:ea typeface="+mn-ea"/>
            </a:rPr>
            <a:t>해외 특허권</a:t>
          </a:r>
          <a:br>
            <a:rPr lang="en-US" altLang="ko-KR" sz="1400" b="0" kern="1200" dirty="0">
              <a:latin typeface="+mn-ea"/>
              <a:ea typeface="+mn-ea"/>
            </a:rPr>
          </a:br>
          <a:r>
            <a:rPr lang="ko-KR" altLang="en-US" sz="1400" b="0" kern="1200" dirty="0">
              <a:latin typeface="+mn-ea"/>
              <a:ea typeface="+mn-ea"/>
            </a:rPr>
            <a:t>확보</a:t>
          </a:r>
        </a:p>
      </dsp:txBody>
      <dsp:txXfrm>
        <a:off x="1865454" y="2359942"/>
        <a:ext cx="1933720" cy="917240"/>
      </dsp:txXfrm>
    </dsp:sp>
    <dsp:sp modelId="{6555C718-3B22-49E6-A042-800ABE742697}">
      <dsp:nvSpPr>
        <dsp:cNvPr id="0" name=""/>
        <dsp:cNvSpPr/>
      </dsp:nvSpPr>
      <dsp:spPr>
        <a:xfrm>
          <a:off x="661343" y="1155831"/>
          <a:ext cx="2032960" cy="1016480"/>
        </a:xfrm>
        <a:prstGeom prst="roundRect">
          <a:avLst/>
        </a:prstGeom>
        <a:solidFill>
          <a:schemeClr val="accent2">
            <a:hueOff val="-1455363"/>
            <a:satOff val="-83928"/>
            <a:lumOff val="8628"/>
            <a:alphaOff val="0"/>
          </a:schemeClr>
        </a:solidFill>
        <a:ln w="1905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latinLnBrk="1">
            <a:lnSpc>
              <a:spcPct val="90000"/>
            </a:lnSpc>
            <a:spcBef>
              <a:spcPct val="0"/>
            </a:spcBef>
            <a:spcAft>
              <a:spcPct val="35000"/>
            </a:spcAft>
            <a:buNone/>
          </a:pPr>
          <a:r>
            <a:rPr lang="ko-KR" altLang="en-US" sz="1400" kern="1200" dirty="0">
              <a:latin typeface="+mn-ea"/>
              <a:ea typeface="+mn-ea"/>
            </a:rPr>
            <a:t>성공적 해외 </a:t>
          </a:r>
          <a:r>
            <a:rPr lang="en-US" altLang="ko-KR" sz="1400" kern="1200" dirty="0">
              <a:latin typeface="+mn-ea"/>
              <a:ea typeface="+mn-ea"/>
            </a:rPr>
            <a:t>IP </a:t>
          </a:r>
          <a:r>
            <a:rPr lang="ko-KR" altLang="en-US" sz="1400" kern="1200" dirty="0">
              <a:latin typeface="+mn-ea"/>
              <a:ea typeface="+mn-ea"/>
            </a:rPr>
            <a:t>권리화 및 사업화</a:t>
          </a:r>
        </a:p>
      </dsp:txBody>
      <dsp:txXfrm>
        <a:off x="710963" y="1205451"/>
        <a:ext cx="1933720" cy="917240"/>
      </dsp:txXfrm>
    </dsp:sp>
  </dsp:spTree>
</dsp:drawing>
</file>

<file path=ppt/diagrams/layout1.xml><?xml version="1.0" encoding="utf-8"?>
<dgm:layoutDef xmlns:dgm="http://schemas.openxmlformats.org/drawingml/2006/diagram" xmlns:a="http://schemas.openxmlformats.org/drawingml/2006/main" uniqueId="urn:microsoft.com/office/officeart/2005/8/layout/chart3">
  <dgm:title val=""/>
  <dgm:desc val=""/>
  <dgm:catLst>
    <dgm:cat type="relationship" pri="27000"/>
    <dgm:cat type="cycle" pri="8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ompositeShape">
    <dgm:varLst>
      <dgm:chMax val="7"/>
      <dgm:dir/>
      <dgm:resizeHandles val="exact"/>
    </dgm:varLst>
    <dgm:alg type="composite">
      <dgm:param type="horzAlign" val="ctr"/>
      <dgm:param type="vertAlign" val="mid"/>
      <dgm:param type="ar" val="1"/>
    </dgm:alg>
    <dgm:presOf/>
    <dgm:shape xmlns:r="http://schemas.openxmlformats.org/officeDocument/2006/relationships" r:blip="">
      <dgm:adjLst/>
    </dgm:shape>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wedge1Tx" refType="w" fact="0.205"/>
          <dgm:constr type="t" for="ch" forName="wedge1Tx" refType="h" fact="0.205"/>
          <dgm:constr type="w" for="ch" forName="wedge1Tx" refType="w" fact="0.59"/>
          <dgm:constr type="h" for="ch" forName="wedge1Tx" refType="h" fact="0.59"/>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wedge1Tx" refType="w" fact="0.52"/>
          <dgm:constr type="t" for="ch" forName="wedge1Tx" refType="h" fact="0.205"/>
          <dgm:constr type="w" for="ch" forName="wedge1Tx" refType="w" fact="0.295"/>
          <dgm:constr type="h" for="ch" forName="wedge1Tx" refType="h" fact="0.59"/>
          <dgm:constr type="l" for="ch" forName="wedge2" refType="w" fact="0.08"/>
          <dgm:constr type="t" for="ch" forName="wedge2" refType="w" fact="0.08"/>
          <dgm:constr type="w" for="ch" forName="wedge2" refType="w" fact="0.84"/>
          <dgm:constr type="h" for="ch" forName="wedge2" refType="h" fact="0.84"/>
          <dgm:constr type="l" for="ch" forName="wedge2Tx" refType="w" fact="0.2"/>
          <dgm:constr type="t" for="ch" forName="wedge2Tx" refType="h" fact="0.205"/>
          <dgm:constr type="w" for="ch" forName="wedge2Tx" refType="w" fact="0.295"/>
          <dgm:constr type="h" for="ch" forName="wedge2Tx" refType="h" fact="0.59"/>
          <dgm:constr type="primFontSz" for="ch" ptType="node" op="equ"/>
        </dgm:constrLst>
      </dgm:if>
      <dgm:if name="Name3" axis="ch" ptType="node" func="cnt" op="equ" val="3">
        <dgm:choose name="Name4">
          <dgm:if name="Name5" func="var" arg="dir" op="equ" val="norm">
            <dgm:constrLst>
              <dgm:constr type="l" for="ch" forName="wedge1" refType="w" fact="0.1233"/>
              <dgm:constr type="t" for="ch" forName="wedge1" refType="w" fact="0.055"/>
              <dgm:constr type="w" for="ch" forName="wedge1" refType="w" fact="0.84"/>
              <dgm:constr type="h" for="ch" forName="wedge1" refType="h" fact="0.84"/>
              <dgm:constr type="l" for="ch" forName="wedge1Tx" refType="w" fact="0.58"/>
              <dgm:constr type="t" for="ch" forName="wedge1Tx" refType="h" fact="0.21"/>
              <dgm:constr type="w" for="ch" forName="wedge1Tx" refType="w" fact="0.285"/>
              <dgm:constr type="h" for="ch" forName="wedge1Tx" refType="h" fact="0.28"/>
              <dgm:constr type="l" for="ch" forName="wedge2" refType="w" fact="0.08"/>
              <dgm:constr type="t" for="ch" forName="wedge2" refType="w" fact="0.08"/>
              <dgm:constr type="w" for="ch" forName="wedge2" refType="w" fact="0.84"/>
              <dgm:constr type="h" for="ch" forName="wedge2" refType="h" fact="0.84"/>
              <dgm:constr type="l" for="ch" forName="wedge2Tx" refType="w" fact="0.31"/>
              <dgm:constr type="t" for="ch" forName="wedge2Tx" refType="h" fact="0.61"/>
              <dgm:constr type="w" for="ch" forName="wedge2Tx" refType="w" fact="0.38"/>
              <dgm:constr type="h" for="ch" forName="wedge2Tx" refType="h" fact="0.26"/>
              <dgm:constr type="l" for="ch" forName="wedge3" refType="w" fact="0.08"/>
              <dgm:constr type="t" for="ch" forName="wedge3" refType="w" fact="0.08"/>
              <dgm:constr type="w" for="ch" forName="wedge3" refType="w" fact="0.84"/>
              <dgm:constr type="h" for="ch" forName="wedge3" refType="h" fact="0.84"/>
              <dgm:constr type="l" for="ch" forName="wedge3Tx" refType="w" fact="0.17"/>
              <dgm:constr type="t" for="ch" forName="wedge3Tx" refType="h" fact="0.245"/>
              <dgm:constr type="w" for="ch" forName="wedge3Tx" refType="w" fact="0.285"/>
              <dgm:constr type="h" for="ch" forName="wedge3Tx" refType="h" fact="0.28"/>
              <dgm:constr type="primFontSz" for="ch" ptType="node" op="equ"/>
            </dgm:constrLst>
          </dgm:if>
          <dgm:else name="Name6">
            <dgm:constrLst>
              <dgm:constr type="l" for="ch" forName="wedge1" refType="w" fact="0.08"/>
              <dgm:constr type="t" for="ch" forName="wedge1" refType="w" fact="0.08"/>
              <dgm:constr type="w" for="ch" forName="wedge1" refType="w" fact="0.84"/>
              <dgm:constr type="h" for="ch" forName="wedge1" refType="h" fact="0.84"/>
              <dgm:constr type="l" for="ch" forName="wedge1Tx" refType="w" fact="0.545"/>
              <dgm:constr type="t" for="ch" forName="wedge1Tx" refType="h" fact="0.245"/>
              <dgm:constr type="w" for="ch" forName="wedge1Tx" refType="w" fact="0.285"/>
              <dgm:constr type="h" for="ch" forName="wedge1Tx" refType="h" fact="0.28"/>
              <dgm:constr type="l" for="ch" forName="wedge2" refType="w" fact="0.08"/>
              <dgm:constr type="t" for="ch" forName="wedge2" refType="w" fact="0.08"/>
              <dgm:constr type="w" for="ch" forName="wedge2" refType="w" fact="0.84"/>
              <dgm:constr type="h" for="ch" forName="wedge2" refType="h" fact="0.84"/>
              <dgm:constr type="l" for="ch" forName="wedge2Tx" refType="w" fact="0.31"/>
              <dgm:constr type="t" for="ch" forName="wedge2Tx" refType="h" fact="0.61"/>
              <dgm:constr type="w" for="ch" forName="wedge2Tx" refType="w" fact="0.38"/>
              <dgm:constr type="h" for="ch" forName="wedge2Tx" refType="h" fact="0.26"/>
              <dgm:constr type="l" for="ch" forName="wedge3" refType="w" fact="0.0367"/>
              <dgm:constr type="t" for="ch" forName="wedge3" refType="w" fact="0.055"/>
              <dgm:constr type="w" for="ch" forName="wedge3" refType="w" fact="0.84"/>
              <dgm:constr type="h" for="ch" forName="wedge3" refType="h" fact="0.84"/>
              <dgm:constr type="l" for="ch" forName="wedge3Tx" refType="w" fact="0.14"/>
              <dgm:constr type="t" for="ch" forName="wedge3Tx" refType="h" fact="0.21"/>
              <dgm:constr type="w" for="ch" forName="wedge3Tx" refType="w" fact="0.285"/>
              <dgm:constr type="h" for="ch" forName="wedge3Tx" refType="h" fact="0.28"/>
              <dgm:constr type="primFontSz" for="ch" ptType="node" op="equ"/>
            </dgm:constrLst>
          </dgm:else>
        </dgm:choose>
      </dgm:if>
      <dgm:if name="Name7" axis="ch" ptType="node" func="cnt" op="equ" val="4">
        <dgm:choose name="Name8">
          <dgm:if name="Name9" func="var" arg="dir" op="equ" val="norm">
            <dgm:constrLst>
              <dgm:constr type="l" for="ch" forName="wedge1" refType="w" fact="0.1154"/>
              <dgm:constr type="t" for="ch" forName="wedge1" refType="w" fact="0.0446"/>
              <dgm:constr type="w" for="ch" forName="wedge1" refType="w" fact="0.84"/>
              <dgm:constr type="h" for="ch" forName="wedge1" refType="h" fact="0.84"/>
              <dgm:constr type="l" for="ch" forName="wedge1Tx" refType="w" fact="0.545"/>
              <dgm:constr type="t" for="ch" forName="wedge1Tx" refType="h" fact="0.2"/>
              <dgm:constr type="w" for="ch" forName="wedge1Tx" refType="w" fact="0.31"/>
              <dgm:constr type="h" for="ch" forName="wedge1Tx" refType="h" fact="0.25"/>
              <dgm:constr type="l" for="ch" forName="wedge2" refType="w" fact="0.08"/>
              <dgm:constr type="t" for="ch" forName="wedge2" refType="w" fact="0.08"/>
              <dgm:constr type="w" for="ch" forName="wedge2" refType="w" fact="0.84"/>
              <dgm:constr type="h" for="ch" forName="wedge2" refType="h" fact="0.84"/>
              <dgm:constr type="l" for="ch" forName="wedge2Tx" refType="w" fact="0.515"/>
              <dgm:constr type="t" for="ch" forName="wedge2Tx" refType="h" fact="0.515"/>
              <dgm:constr type="w" for="ch" forName="wedge2Tx" refType="w" fact="0.31"/>
              <dgm:constr type="h" for="ch" forName="wedge2Tx" refType="h" fact="0.25"/>
              <dgm:constr type="l" for="ch" forName="wedge3" refType="w" fact="0.08"/>
              <dgm:constr type="t" for="ch" forName="wedge3" refType="w" fact="0.08"/>
              <dgm:constr type="w" for="ch" forName="wedge3" refType="w" fact="0.84"/>
              <dgm:constr type="h" for="ch" forName="wedge3" refType="h" fact="0.84"/>
              <dgm:constr type="l" for="ch" forName="wedge3Tx" refType="w" fact="0.175"/>
              <dgm:constr type="t" for="ch" forName="wedge3Tx" refType="h" fact="0.515"/>
              <dgm:constr type="w" for="ch" forName="wedge3Tx" refType="w" fact="0.31"/>
              <dgm:constr type="h" for="ch" forName="wedge3Tx" refType="h" fact="0.25"/>
              <dgm:constr type="l" for="ch" forName="wedge4" refType="w" fact="0.08"/>
              <dgm:constr type="t" for="ch" forName="wedge4" refType="h" fact="0.08"/>
              <dgm:constr type="w" for="ch" forName="wedge4" refType="w" fact="0.84"/>
              <dgm:constr type="h" for="ch" forName="wedge4" refType="h" fact="0.84"/>
              <dgm:constr type="l" for="ch" forName="wedge4Tx" refType="w" fact="0.175"/>
              <dgm:constr type="t" for="ch" forName="wedge4Tx" refType="h" fact="0.235"/>
              <dgm:constr type="w" for="ch" forName="wedge4Tx" refType="w" fact="0.31"/>
              <dgm:constr type="h" for="ch" forName="wedge4Tx" refType="h" fact="0.25"/>
              <dgm:constr type="primFontSz" for="ch" ptType="node" op="equ"/>
            </dgm:constrLst>
          </dgm:if>
          <dgm:else name="Name10">
            <dgm:constrLst>
              <dgm:constr type="l" for="ch" forName="wedge1" refType="w" fact="0.08"/>
              <dgm:constr type="t" for="ch" forName="wedge1" refType="w" fact="0.08"/>
              <dgm:constr type="w" for="ch" forName="wedge1" refType="w" fact="0.84"/>
              <dgm:constr type="h" for="ch" forName="wedge1" refType="h" fact="0.84"/>
              <dgm:constr type="l" for="ch" forName="wedge1Tx" refType="w" fact="0.515"/>
              <dgm:constr type="t" for="ch" forName="wedge1Tx" refType="h" fact="0.235"/>
              <dgm:constr type="w" for="ch" forName="wedge1Tx" refType="w" fact="0.31"/>
              <dgm:constr type="h" for="ch" forName="wedge1Tx" refType="h" fact="0.25"/>
              <dgm:constr type="l" for="ch" forName="wedge2" refType="w" fact="0.08"/>
              <dgm:constr type="t" for="ch" forName="wedge2" refType="w" fact="0.08"/>
              <dgm:constr type="w" for="ch" forName="wedge2" refType="w" fact="0.84"/>
              <dgm:constr type="h" for="ch" forName="wedge2" refType="h" fact="0.84"/>
              <dgm:constr type="l" for="ch" forName="wedge2Tx" refType="w" fact="0.515"/>
              <dgm:constr type="t" for="ch" forName="wedge2Tx" refType="h" fact="0.515"/>
              <dgm:constr type="w" for="ch" forName="wedge2Tx" refType="w" fact="0.31"/>
              <dgm:constr type="h" for="ch" forName="wedge2Tx" refType="h" fact="0.25"/>
              <dgm:constr type="l" for="ch" forName="wedge3" refType="w" fact="0.08"/>
              <dgm:constr type="t" for="ch" forName="wedge3" refType="w" fact="0.08"/>
              <dgm:constr type="w" for="ch" forName="wedge3" refType="w" fact="0.84"/>
              <dgm:constr type="h" for="ch" forName="wedge3" refType="h" fact="0.84"/>
              <dgm:constr type="l" for="ch" forName="wedge3Tx" refType="w" fact="0.175"/>
              <dgm:constr type="t" for="ch" forName="wedge3Tx" refType="h" fact="0.515"/>
              <dgm:constr type="w" for="ch" forName="wedge3Tx" refType="w" fact="0.31"/>
              <dgm:constr type="h" for="ch" forName="wedge3Tx" refType="h" fact="0.25"/>
              <dgm:constr type="l" for="ch" forName="wedge4" refType="w" fact="0.0446"/>
              <dgm:constr type="t" for="ch" forName="wedge4" refType="h" fact="0.0446"/>
              <dgm:constr type="w" for="ch" forName="wedge4" refType="w" fact="0.84"/>
              <dgm:constr type="h" for="ch" forName="wedge4" refType="h" fact="0.84"/>
              <dgm:constr type="l" for="ch" forName="wedge4Tx" refType="w" fact="0.145"/>
              <dgm:constr type="t" for="ch" forName="wedge4Tx" refType="h" fact="0.2"/>
              <dgm:constr type="w" for="ch" forName="wedge4Tx" refType="w" fact="0.31"/>
              <dgm:constr type="h" for="ch" forName="wedge4Tx" refType="h" fact="0.25"/>
              <dgm:constr type="primFontSz" for="ch" ptType="node" op="equ"/>
            </dgm:constrLst>
          </dgm:else>
        </dgm:choose>
      </dgm:if>
      <dgm:if name="Name11" axis="ch" ptType="node" func="cnt" op="equ" val="5">
        <dgm:choose name="Name12">
          <dgm:if name="Name13" func="var" arg="dir" op="equ" val="norm">
            <dgm:constrLst>
              <dgm:constr type="l" for="ch" forName="wedge1" refType="w" fact="0.1094"/>
              <dgm:constr type="t" for="ch" forName="wedge1" refType="w" fact="0.0395"/>
              <dgm:constr type="w" for="ch" forName="wedge1" refType="w" fact="0.84"/>
              <dgm:constr type="h" for="ch" forName="wedge1" refType="h" fact="0.84"/>
              <dgm:constr type="l" for="ch" forName="wedge1Tx" refType="w" fact="0.54"/>
              <dgm:constr type="t" for="ch" forName="wedge1Tx" refType="h" fact="0.165"/>
              <dgm:constr type="w" for="ch" forName="wedge1Tx" refType="w" fact="0.285"/>
              <dgm:constr type="h" for="ch" forName="wedge1Tx" refType="h" fact="0.195"/>
              <dgm:constr type="l" for="ch" forName="wedge2" refType="w" fact="0.08"/>
              <dgm:constr type="t" for="ch" forName="wedge2" refType="w" fact="0.08"/>
              <dgm:constr type="w" for="ch" forName="wedge2" refType="w" fact="0.84"/>
              <dgm:constr type="h" for="ch" forName="wedge2" refType="h" fact="0.84"/>
              <dgm:constr type="l" for="ch" forName="wedge2Tx" refType="w" fact="0.629"/>
              <dgm:constr type="t" for="ch" forName="wedge2Tx" refType="h" fact="0.46"/>
              <dgm:constr type="w" for="ch" forName="wedge2Tx" refType="w" fact="0.25"/>
              <dgm:constr type="h" for="ch" forName="wedge2Tx" refType="h" fact="0.211"/>
              <dgm:constr type="l" for="ch" forName="wedge3" refType="w" fact="0.08"/>
              <dgm:constr type="t" for="ch" forName="wedge3" refType="w" fact="0.08"/>
              <dgm:constr type="w" for="ch" forName="wedge3" refType="w" fact="0.84"/>
              <dgm:constr type="h" for="ch" forName="wedge3" refType="h" fact="0.84"/>
              <dgm:constr type="l" for="ch" forName="wedge3Tx" refType="w" fact="0.35"/>
              <dgm:constr type="t" for="ch" forName="wedge3Tx" refType="h" fact="0.71"/>
              <dgm:constr type="w" for="ch" forName="wedge3Tx" refType="w" fact="0.3"/>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12"/>
              <dgm:constr type="t" for="ch" forName="wedge4Tx" refType="h" fact="0.46"/>
              <dgm:constr type="w" for="ch" forName="wedge4Tx" refType="w" fact="0.25"/>
              <dgm:constr type="h" for="ch" forName="wedge4Tx" refType="h" fact="0.211"/>
              <dgm:constr type="l" for="ch" forName="wedge5" refType="w" fact="0.08"/>
              <dgm:constr type="t" for="ch" forName="wedge5" refType="h" fact="0.08"/>
              <dgm:constr type="w" for="ch" forName="wedge5" refType="w" fact="0.84"/>
              <dgm:constr type="h" for="ch" forName="wedge5" refType="h" fact="0.84"/>
              <dgm:constr type="l" for="ch" forName="wedge5Tx" refType="w" fact="0.2025"/>
              <dgm:constr type="t" for="ch" forName="wedge5Tx" refType="h" fact="0.208"/>
              <dgm:constr type="w" for="ch" forName="wedge5Tx" refType="w" fact="0.285"/>
              <dgm:constr type="h" for="ch" forName="wedge5Tx" refType="h" fact="0.195"/>
              <dgm:constr type="primFontSz" for="ch" ptType="node" op="equ"/>
            </dgm:constrLst>
          </dgm:if>
          <dgm:else name="Name14">
            <dgm:constrLst>
              <dgm:constr type="l" for="ch" forName="wedge1" refType="w" fact="0.08"/>
              <dgm:constr type="t" for="ch" forName="wedge1" refType="w" fact="0.08"/>
              <dgm:constr type="w" for="ch" forName="wedge1" refType="w" fact="0.84"/>
              <dgm:constr type="h" for="ch" forName="wedge1" refType="h" fact="0.84"/>
              <dgm:constr type="l" for="ch" forName="wedge1Tx" refType="w" fact="0.51"/>
              <dgm:constr type="t" for="ch" forName="wedge1Tx" refType="h" fact="0.208"/>
              <dgm:constr type="w" for="ch" forName="wedge1Tx" refType="w" fact="0.285"/>
              <dgm:constr type="h" for="ch" forName="wedge1Tx" refType="h" fact="0.195"/>
              <dgm:constr type="l" for="ch" forName="wedge2" refType="w" fact="0.08"/>
              <dgm:constr type="t" for="ch" forName="wedge2" refType="w" fact="0.08"/>
              <dgm:constr type="w" for="ch" forName="wedge2" refType="w" fact="0.84"/>
              <dgm:constr type="h" for="ch" forName="wedge2" refType="h" fact="0.84"/>
              <dgm:constr type="l" for="ch" forName="wedge2Tx" refType="w" fact="0.629"/>
              <dgm:constr type="t" for="ch" forName="wedge2Tx" refType="h" fact="0.46"/>
              <dgm:constr type="w" for="ch" forName="wedge2Tx" refType="w" fact="0.25"/>
              <dgm:constr type="h" for="ch" forName="wedge2Tx" refType="h" fact="0.211"/>
              <dgm:constr type="l" for="ch" forName="wedge3" refType="w" fact="0.08"/>
              <dgm:constr type="t" for="ch" forName="wedge3" refType="w" fact="0.08"/>
              <dgm:constr type="w" for="ch" forName="wedge3" refType="w" fact="0.84"/>
              <dgm:constr type="h" for="ch" forName="wedge3" refType="h" fact="0.84"/>
              <dgm:constr type="l" for="ch" forName="wedge3Tx" refType="w" fact="0.35"/>
              <dgm:constr type="t" for="ch" forName="wedge3Tx" refType="h" fact="0.71"/>
              <dgm:constr type="w" for="ch" forName="wedge3Tx" refType="w" fact="0.3"/>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12"/>
              <dgm:constr type="t" for="ch" forName="wedge4Tx" refType="h" fact="0.46"/>
              <dgm:constr type="w" for="ch" forName="wedge4Tx" refType="w" fact="0.25"/>
              <dgm:constr type="h" for="ch" forName="wedge4Tx" refType="h" fact="0.211"/>
              <dgm:constr type="l" for="ch" forName="wedge5" refType="w" fact="0.0506"/>
              <dgm:constr type="t" for="ch" forName="wedge5" refType="h" fact="0.0395"/>
              <dgm:constr type="w" for="ch" forName="wedge5" refType="w" fact="0.84"/>
              <dgm:constr type="h" for="ch" forName="wedge5" refType="h" fact="0.84"/>
              <dgm:constr type="l" for="ch" forName="wedge5Tx" refType="w" fact="0.18"/>
              <dgm:constr type="t" for="ch" forName="wedge5Tx" refType="h" fact="0.165"/>
              <dgm:constr type="w" for="ch" forName="wedge5Tx" refType="w" fact="0.285"/>
              <dgm:constr type="h" for="ch" forName="wedge5Tx" refType="h" fact="0.195"/>
              <dgm:constr type="primFontSz" for="ch" ptType="node" op="equ"/>
            </dgm:constrLst>
          </dgm:else>
        </dgm:choose>
      </dgm:if>
      <dgm:if name="Name15" axis="ch" ptType="node" func="cnt" op="equ" val="6">
        <dgm:choose name="Name16">
          <dgm:if name="Name17" func="var" arg="dir" op="equ" val="norm">
            <dgm:constrLst>
              <dgm:constr type="l" for="ch" forName="wedge1" refType="w" fact="0.105"/>
              <dgm:constr type="t" for="ch" forName="wedge1" refType="w" fact="0.0367"/>
              <dgm:constr type="w" for="ch" forName="wedge1" refType="w" fact="0.84"/>
              <dgm:constr type="h" for="ch" forName="wedge1" refType="h" fact="0.84"/>
              <dgm:constr type="l" for="ch" forName="wedge1Tx" refType="w" fact="0.534"/>
              <dgm:constr type="t" for="ch" forName="wedge1Tx" refType="h" fact="0.1267"/>
              <dgm:constr type="w" for="ch" forName="wedge1Tx" refType="w" fact="0.245"/>
              <dgm:constr type="h" for="ch" forName="wedge1Tx" refType="h" fact="0.18"/>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415"/>
              <dgm:constr type="w" for="ch" forName="wedge2Tx" refType="w" fact="0.254"/>
              <dgm:constr type="h" for="ch" forName="wedge2Tx" refType="h" fact="0.17"/>
              <dgm:constr type="l" for="ch" forName="wedge3" refType="w" fact="0.08"/>
              <dgm:constr type="t" for="ch" forName="wedge3" refType="w" fact="0.08"/>
              <dgm:constr type="w" for="ch" forName="wedge3" refType="w" fact="0.84"/>
              <dgm:constr type="h" for="ch" forName="wedge3" refType="h" fact="0.84"/>
              <dgm:constr type="l" for="ch" forName="wedge3Tx" refType="w" fact="0.509"/>
              <dgm:constr type="t" for="ch" forName="wedge3Tx" refType="h" fact="0.65"/>
              <dgm:constr type="w" for="ch" forName="wedge3Tx" refType="w" fact="0.245"/>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246"/>
              <dgm:constr type="t" for="ch" forName="wedge4Tx" refType="h" fact="0.65"/>
              <dgm:constr type="w" for="ch" forName="wedge4Tx" refType="w" fact="0.245"/>
              <dgm:constr type="h" for="ch" forName="wedge4Tx" refType="h" fact="0.18"/>
              <dgm:constr type="l" for="ch" forName="wedge5" refType="w" fact="0.08"/>
              <dgm:constr type="t" for="ch" forName="wedge5" refType="h" fact="0.08"/>
              <dgm:constr type="w" for="ch" forName="wedge5" refType="w" fact="0.84"/>
              <dgm:constr type="h" for="ch" forName="wedge5" refType="h" fact="0.84"/>
              <dgm:constr type="l" for="ch" forName="wedge5Tx" refType="w" fact="0.093"/>
              <dgm:constr type="t" for="ch" forName="wedge5Tx" refType="h" fact="0.415"/>
              <dgm:constr type="w" for="ch" forName="wedge5Tx" refType="w" fact="0.254"/>
              <dgm:constr type="h" for="ch" forName="wedge5Tx" refType="h" fact="0.17"/>
              <dgm:constr type="l" for="ch" forName="wedge6" refType="w" fact="0.08"/>
              <dgm:constr type="t" for="ch" forName="wedge6" refType="h" fact="0.08"/>
              <dgm:constr type="w" for="ch" forName="wedge6" refType="w" fact="0.84"/>
              <dgm:constr type="h" for="ch" forName="wedge6" refType="h" fact="0.84"/>
              <dgm:constr type="l" for="ch" forName="wedge6Tx" refType="w" fact="0.246"/>
              <dgm:constr type="t" for="ch" forName="wedge6Tx" refType="h" fact="0.17"/>
              <dgm:constr type="w" for="ch" forName="wedge6Tx" refType="w" fact="0.245"/>
              <dgm:constr type="h" for="ch" forName="wedge6Tx" refType="h" fact="0.18"/>
              <dgm:constr type="primFontSz" for="ch" ptType="node" op="equ"/>
            </dgm:constrLst>
          </dgm:if>
          <dgm:else name="Name18">
            <dgm:constrLst>
              <dgm:constr type="l" for="ch" forName="wedge1" refType="w" fact="0.08"/>
              <dgm:constr type="t" for="ch" forName="wedge1" refType="w" fact="0.08"/>
              <dgm:constr type="w" for="ch" forName="wedge1" refType="w" fact="0.84"/>
              <dgm:constr type="h" for="ch" forName="wedge1" refType="h" fact="0.84"/>
              <dgm:constr type="l" for="ch" forName="wedge1Tx" refType="w" fact="0.509"/>
              <dgm:constr type="t" for="ch" forName="wedge1Tx" refType="h" fact="0.17"/>
              <dgm:constr type="w" for="ch" forName="wedge1Tx" refType="w" fact="0.245"/>
              <dgm:constr type="h" for="ch" forName="wedge1Tx" refType="h" fact="0.18"/>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415"/>
              <dgm:constr type="w" for="ch" forName="wedge2Tx" refType="w" fact="0.254"/>
              <dgm:constr type="h" for="ch" forName="wedge2Tx" refType="h" fact="0.17"/>
              <dgm:constr type="l" for="ch" forName="wedge3" refType="w" fact="0.08"/>
              <dgm:constr type="t" for="ch" forName="wedge3" refType="w" fact="0.08"/>
              <dgm:constr type="w" for="ch" forName="wedge3" refType="w" fact="0.84"/>
              <dgm:constr type="h" for="ch" forName="wedge3" refType="h" fact="0.84"/>
              <dgm:constr type="l" for="ch" forName="wedge3Tx" refType="w" fact="0.509"/>
              <dgm:constr type="t" for="ch" forName="wedge3Tx" refType="h" fact="0.65"/>
              <dgm:constr type="w" for="ch" forName="wedge3Tx" refType="w" fact="0.245"/>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246"/>
              <dgm:constr type="t" for="ch" forName="wedge4Tx" refType="h" fact="0.65"/>
              <dgm:constr type="w" for="ch" forName="wedge4Tx" refType="w" fact="0.245"/>
              <dgm:constr type="h" for="ch" forName="wedge4Tx" refType="h" fact="0.18"/>
              <dgm:constr type="l" for="ch" forName="wedge5" refType="w" fact="0.08"/>
              <dgm:constr type="t" for="ch" forName="wedge5" refType="h" fact="0.08"/>
              <dgm:constr type="w" for="ch" forName="wedge5" refType="w" fact="0.84"/>
              <dgm:constr type="h" for="ch" forName="wedge5" refType="h" fact="0.84"/>
              <dgm:constr type="l" for="ch" forName="wedge5Tx" refType="w" fact="0.093"/>
              <dgm:constr type="t" for="ch" forName="wedge5Tx" refType="h" fact="0.415"/>
              <dgm:constr type="w" for="ch" forName="wedge5Tx" refType="w" fact="0.254"/>
              <dgm:constr type="h" for="ch" forName="wedge5Tx" refType="h" fact="0.17"/>
              <dgm:constr type="l" for="ch" forName="wedge6" refType="w" fact="0.055"/>
              <dgm:constr type="t" for="ch" forName="wedge6" refType="h" fact="0.0367"/>
              <dgm:constr type="w" for="ch" forName="wedge6" refType="w" fact="0.84"/>
              <dgm:constr type="h" for="ch" forName="wedge6" refType="h" fact="0.84"/>
              <dgm:constr type="l" for="ch" forName="wedge6Tx" refType="w" fact="0.221"/>
              <dgm:constr type="t" for="ch" forName="wedge6Tx" refType="h" fact="0.1267"/>
              <dgm:constr type="w" for="ch" forName="wedge6Tx" refType="w" fact="0.245"/>
              <dgm:constr type="h" for="ch" forName="wedge6Tx" refType="h" fact="0.18"/>
              <dgm:constr type="primFontSz" for="ch" ptType="node" op="equ"/>
            </dgm:constrLst>
          </dgm:else>
        </dgm:choose>
      </dgm:if>
      <dgm:else name="Name19">
        <dgm:choose name="Name20">
          <dgm:if name="Name21" func="var" arg="dir" op="equ" val="norm">
            <dgm:constrLst>
              <dgm:constr type="l" for="ch" forName="wedge1" refType="w" fact="0.1017"/>
              <dgm:constr type="t" for="ch" forName="wedge1" refType="w" fact="0.035"/>
              <dgm:constr type="w" for="ch" forName="wedge1" refType="w" fact="0.84"/>
              <dgm:constr type="h" for="ch" forName="wedge1" refType="h" fact="0.84"/>
              <dgm:constr type="l" for="ch" forName="wedge1Tx" refType="w" fact="0.53"/>
              <dgm:constr type="t" for="ch" forName="wedge1Tx" refType="h" fact="0.115"/>
              <dgm:constr type="w" for="ch" forName="wedge1Tx" refType="w" fact="0.23"/>
              <dgm:constr type="h" for="ch" forName="wedge1Tx" refType="h" fact="0.145"/>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38"/>
              <dgm:constr type="w" for="ch" forName="wedge2Tx" refType="w" fact="0.244"/>
              <dgm:constr type="h" for="ch" forName="wedge2Tx" refType="h" fact="0.155"/>
              <dgm:constr type="l" for="ch" forName="wedge3" refType="w" fact="0.08"/>
              <dgm:constr type="t" for="ch" forName="wedge3" refType="w" fact="0.08"/>
              <dgm:constr type="w" for="ch" forName="wedge3" refType="w" fact="0.84"/>
              <dgm:constr type="h" for="ch" forName="wedge3" refType="h" fact="0.84"/>
              <dgm:constr type="l" for="ch" forName="wedge3Tx" refType="w" fact="0.62"/>
              <dgm:constr type="t" for="ch" forName="wedge3Tx" refType="h" fact="0.58"/>
              <dgm:constr type="w" for="ch" forName="wedge3Tx" refType="w" fact="0.22"/>
              <dgm:constr type="h" for="ch" forName="wedge3Tx" refType="h" fact="0.16"/>
              <dgm:constr type="l" for="ch" forName="wedge4" refType="w" fact="0.08"/>
              <dgm:constr type="t" for="ch" forName="wedge4" refType="h" fact="0.08"/>
              <dgm:constr type="w" for="ch" forName="wedge4" refType="w" fact="0.84"/>
              <dgm:constr type="h" for="ch" forName="wedge4" refType="h" fact="0.84"/>
              <dgm:constr type="l" for="ch" forName="wedge4Tx" refType="w" fact="0.3875"/>
              <dgm:constr type="t" for="ch" forName="wedge4Tx" refType="h" fact="0.74"/>
              <dgm:constr type="w" for="ch" forName="wedge4Tx" refType="w" fact="0.225"/>
              <dgm:constr type="h" for="ch" forName="wedge4Tx" refType="h" fact="0.16"/>
              <dgm:constr type="l" for="ch" forName="wedge5" refType="w" fact="0.08"/>
              <dgm:constr type="t" for="ch" forName="wedge5" refType="h" fact="0.08"/>
              <dgm:constr type="w" for="ch" forName="wedge5" refType="w" fact="0.84"/>
              <dgm:constr type="h" for="ch" forName="wedge5" refType="h" fact="0.84"/>
              <dgm:constr type="l" for="ch" forName="wedge5Tx" refType="w" fact="0.16"/>
              <dgm:constr type="t" for="ch" forName="wedge5Tx" refType="h" fact="0.58"/>
              <dgm:constr type="w" for="ch" forName="wedge5Tx" refType="w" fact="0.22"/>
              <dgm:constr type="h" for="ch" forName="wedge5Tx" refType="h" fact="0.16"/>
              <dgm:constr type="l" for="ch" forName="wedge6" refType="w" fact="0.08"/>
              <dgm:constr type="t" for="ch" forName="wedge6" refType="h" fact="0.08"/>
              <dgm:constr type="w" for="ch" forName="wedge6" refType="w" fact="0.84"/>
              <dgm:constr type="h" for="ch" forName="wedge6" refType="h" fact="0.84"/>
              <dgm:constr type="l" for="ch" forName="wedge6Tx" refType="w" fact="0.101"/>
              <dgm:constr type="t" for="ch" forName="wedge6Tx" refType="h" fact="0.38"/>
              <dgm:constr type="w" for="ch" forName="wedge6Tx" refType="w" fact="0.244"/>
              <dgm:constr type="h" for="ch" forName="wedge6Tx" refType="h" fact="0.155"/>
              <dgm:constr type="l" for="ch" forName="wedge7" refType="w" fact="0.08"/>
              <dgm:constr type="t" for="ch" forName="wedge7" refType="h" fact="0.08"/>
              <dgm:constr type="w" for="ch" forName="wedge7" refType="w" fact="0.84"/>
              <dgm:constr type="h" for="ch" forName="wedge7" refType="h" fact="0.84"/>
              <dgm:constr type="l" for="ch" forName="wedge7Tx" refType="w" fact="0.262"/>
              <dgm:constr type="t" for="ch" forName="wedge7Tx" refType="h" fact="0.16"/>
              <dgm:constr type="w" for="ch" forName="wedge7Tx" refType="w" fact="0.23"/>
              <dgm:constr type="h" for="ch" forName="wedge7Tx" refType="h" fact="0.145"/>
              <dgm:constr type="primFontSz" for="ch" ptType="node" op="equ"/>
            </dgm:constrLst>
          </dgm:if>
          <dgm:else name="Name22">
            <dgm:constrLst>
              <dgm:constr type="l" for="ch" forName="wedge1" refType="w" fact="0.08"/>
              <dgm:constr type="t" for="ch" forName="wedge1" refType="w" fact="0.08"/>
              <dgm:constr type="w" for="ch" forName="wedge1" refType="w" fact="0.84"/>
              <dgm:constr type="h" for="ch" forName="wedge1" refType="h" fact="0.84"/>
              <dgm:constr type="l" for="ch" forName="wedge1Tx" refType="w" fact="0.508"/>
              <dgm:constr type="t" for="ch" forName="wedge1Tx" refType="h" fact="0.16"/>
              <dgm:constr type="w" for="ch" forName="wedge1Tx" refType="w" fact="0.23"/>
              <dgm:constr type="h" for="ch" forName="wedge1Tx" refType="h" fact="0.145"/>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38"/>
              <dgm:constr type="w" for="ch" forName="wedge2Tx" refType="w" fact="0.244"/>
              <dgm:constr type="h" for="ch" forName="wedge2Tx" refType="h" fact="0.155"/>
              <dgm:constr type="l" for="ch" forName="wedge3" refType="w" fact="0.08"/>
              <dgm:constr type="t" for="ch" forName="wedge3" refType="w" fact="0.08"/>
              <dgm:constr type="w" for="ch" forName="wedge3" refType="w" fact="0.84"/>
              <dgm:constr type="h" for="ch" forName="wedge3" refType="h" fact="0.84"/>
              <dgm:constr type="l" for="ch" forName="wedge3Tx" refType="w" fact="0.62"/>
              <dgm:constr type="t" for="ch" forName="wedge3Tx" refType="h" fact="0.58"/>
              <dgm:constr type="w" for="ch" forName="wedge3Tx" refType="w" fact="0.22"/>
              <dgm:constr type="h" for="ch" forName="wedge3Tx" refType="h" fact="0.16"/>
              <dgm:constr type="l" for="ch" forName="wedge4" refType="w" fact="0.08"/>
              <dgm:constr type="t" for="ch" forName="wedge4" refType="h" fact="0.08"/>
              <dgm:constr type="w" for="ch" forName="wedge4" refType="w" fact="0.84"/>
              <dgm:constr type="h" for="ch" forName="wedge4" refType="h" fact="0.84"/>
              <dgm:constr type="l" for="ch" forName="wedge4Tx" refType="w" fact="0.3875"/>
              <dgm:constr type="t" for="ch" forName="wedge4Tx" refType="h" fact="0.74"/>
              <dgm:constr type="w" for="ch" forName="wedge4Tx" refType="w" fact="0.225"/>
              <dgm:constr type="h" for="ch" forName="wedge4Tx" refType="h" fact="0.16"/>
              <dgm:constr type="l" for="ch" forName="wedge5" refType="w" fact="0.08"/>
              <dgm:constr type="t" for="ch" forName="wedge5" refType="h" fact="0.08"/>
              <dgm:constr type="w" for="ch" forName="wedge5" refType="w" fact="0.84"/>
              <dgm:constr type="h" for="ch" forName="wedge5" refType="h" fact="0.84"/>
              <dgm:constr type="l" for="ch" forName="wedge5Tx" refType="w" fact="0.16"/>
              <dgm:constr type="t" for="ch" forName="wedge5Tx" refType="h" fact="0.58"/>
              <dgm:constr type="w" for="ch" forName="wedge5Tx" refType="w" fact="0.22"/>
              <dgm:constr type="h" for="ch" forName="wedge5Tx" refType="h" fact="0.16"/>
              <dgm:constr type="l" for="ch" forName="wedge6" refType="w" fact="0.08"/>
              <dgm:constr type="t" for="ch" forName="wedge6" refType="h" fact="0.08"/>
              <dgm:constr type="w" for="ch" forName="wedge6" refType="w" fact="0.84"/>
              <dgm:constr type="h" for="ch" forName="wedge6" refType="h" fact="0.84"/>
              <dgm:constr type="l" for="ch" forName="wedge6Tx" refType="w" fact="0.101"/>
              <dgm:constr type="t" for="ch" forName="wedge6Tx" refType="h" fact="0.38"/>
              <dgm:constr type="w" for="ch" forName="wedge6Tx" refType="w" fact="0.244"/>
              <dgm:constr type="h" for="ch" forName="wedge6Tx" refType="h" fact="0.155"/>
              <dgm:constr type="l" for="ch" forName="wedge7" refType="w" fact="0.0583"/>
              <dgm:constr type="t" for="ch" forName="wedge7" refType="h" fact="0.035"/>
              <dgm:constr type="w" for="ch" forName="wedge7" refType="w" fact="0.84"/>
              <dgm:constr type="h" for="ch" forName="wedge7" refType="h" fact="0.84"/>
              <dgm:constr type="l" for="ch" forName="wedge7Tx" refType="w" fact="0.2403"/>
              <dgm:constr type="t" for="ch" forName="wedge7Tx" refType="h" fact="0.115"/>
              <dgm:constr type="w" for="ch" forName="wedge7Tx" refType="w" fact="0.23"/>
              <dgm:constr type="h" for="ch" forName="wedge7Tx" refType="h" fact="0.145"/>
              <dgm:constr type="primFontSz" for="ch" ptType="node" op="equ"/>
            </dgm:constrLst>
          </dgm:else>
        </dgm:choose>
      </dgm:else>
    </dgm:choose>
    <dgm:ruleLst/>
    <dgm:choose name="Name23">
      <dgm:if name="Name24" axis="ch" ptType="node" func="cnt" op="gte" val="1">
        <dgm:layoutNode name="wedge1">
          <dgm:alg type="sp"/>
          <dgm:choose name="Name25">
            <dgm:if name="Name26" axis="ch" ptType="node" func="cnt" op="equ" val="1">
              <dgm:shape xmlns:r="http://schemas.openxmlformats.org/officeDocument/2006/relationships" type="ellipse" r:blip="">
                <dgm:adjLst/>
              </dgm:shape>
            </dgm:if>
            <dgm:if name="Name27" axis="ch" ptType="node" func="cnt" op="equ" val="2">
              <dgm:shape xmlns:r="http://schemas.openxmlformats.org/officeDocument/2006/relationships" type="pie" r:blip="">
                <dgm:adjLst>
                  <dgm:adj idx="1" val="270"/>
                  <dgm:adj idx="2" val="90"/>
                </dgm:adjLst>
              </dgm:shape>
            </dgm:if>
            <dgm:if name="Name28" axis="ch" ptType="node" func="cnt" op="equ" val="3">
              <dgm:shape xmlns:r="http://schemas.openxmlformats.org/officeDocument/2006/relationships" type="pie" r:blip="">
                <dgm:adjLst>
                  <dgm:adj idx="1" val="270"/>
                  <dgm:adj idx="2" val="30"/>
                </dgm:adjLst>
              </dgm:shape>
            </dgm:if>
            <dgm:if name="Name29" axis="ch" ptType="node" func="cnt" op="equ" val="4">
              <dgm:shape xmlns:r="http://schemas.openxmlformats.org/officeDocument/2006/relationships" type="pie" r:blip="">
                <dgm:adjLst>
                  <dgm:adj idx="1" val="270"/>
                  <dgm:adj idx="2" val="0"/>
                </dgm:adjLst>
              </dgm:shape>
            </dgm:if>
            <dgm:if name="Name30" axis="ch" ptType="node" func="cnt" op="equ" val="5">
              <dgm:shape xmlns:r="http://schemas.openxmlformats.org/officeDocument/2006/relationships" type="pie" r:blip="">
                <dgm:adjLst>
                  <dgm:adj idx="1" val="270"/>
                  <dgm:adj idx="2" val="342"/>
                </dgm:adjLst>
              </dgm:shape>
            </dgm:if>
            <dgm:if name="Name31" axis="ch" ptType="node" func="cnt" op="equ" val="6">
              <dgm:shape xmlns:r="http://schemas.openxmlformats.org/officeDocument/2006/relationships" type="pie" r:blip="">
                <dgm:adjLst>
                  <dgm:adj idx="1" val="270"/>
                  <dgm:adj idx="2" val="330"/>
                </dgm:adjLst>
              </dgm:shape>
            </dgm:if>
            <dgm:else name="Name32">
              <dgm:shape xmlns:r="http://schemas.openxmlformats.org/officeDocument/2006/relationships" type="pie" r:blip="">
                <dgm:adjLst>
                  <dgm:adj idx="1" val="270"/>
                  <dgm:adj idx="2" val="321.4286"/>
                </dgm:adjLst>
              </dgm:shape>
            </dgm:else>
          </dgm:choose>
          <dgm:choose name="Name33">
            <dgm:if name="Name34" func="var" arg="dir" op="equ" val="norm">
              <dgm:presOf axis="ch desOrSelf" ptType="node node" st="1 1" cnt="1 0"/>
            </dgm:if>
            <dgm:else name="Name35">
              <dgm:choose name="Name36">
                <dgm:if name="Name37" axis="ch" ptType="node" func="cnt" op="equ" val="1">
                  <dgm:presOf axis="ch desOrSelf" ptType="node node" st="1 1" cnt="1 0"/>
                </dgm:if>
                <dgm:if name="Name38" axis="ch" ptType="node" func="cnt" op="equ" val="2">
                  <dgm:presOf axis="ch desOrSelf" ptType="node node" st="2 1" cnt="1 0"/>
                </dgm:if>
                <dgm:if name="Name39" axis="ch" ptType="node" func="cnt" op="equ" val="3">
                  <dgm:presOf axis="ch desOrSelf" ptType="node node" st="3 1" cnt="1 0"/>
                </dgm:if>
                <dgm:if name="Name40" axis="ch" ptType="node" func="cnt" op="equ" val="4">
                  <dgm:presOf axis="ch desOrSelf" ptType="node node" st="4 1" cnt="1 0"/>
                </dgm:if>
                <dgm:if name="Name41" axis="ch" ptType="node" func="cnt" op="equ" val="5">
                  <dgm:presOf axis="ch desOrSelf" ptType="node node" st="5 1" cnt="1 0"/>
                </dgm:if>
                <dgm:if name="Name42" axis="ch" ptType="node" func="cnt" op="equ" val="6">
                  <dgm:presOf axis="ch desOrSelf" ptType="node node" st="6 1" cnt="1 0"/>
                </dgm:if>
                <dgm:else name="Name43">
                  <dgm:presOf axis="ch desOrSelf" ptType="node node" st="7 1" cnt="1 0"/>
                </dgm:else>
              </dgm:choose>
            </dgm:else>
          </dgm:choose>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44">
            <dgm:if name="Name45" func="var" arg="dir" op="equ" val="norm">
              <dgm:presOf axis="ch desOrSelf" ptType="node node" st="1 1" cnt="1 0"/>
            </dgm:if>
            <dgm:else name="Name46">
              <dgm:choose name="Name47">
                <dgm:if name="Name48" axis="ch" ptType="node" func="cnt" op="equ" val="1">
                  <dgm:presOf axis="ch desOrSelf" ptType="node node" st="1 1" cnt="1 0"/>
                </dgm:if>
                <dgm:if name="Name49" axis="ch" ptType="node" func="cnt" op="equ" val="2">
                  <dgm:presOf axis="ch desOrSelf" ptType="node node" st="2 1" cnt="1 0"/>
                </dgm:if>
                <dgm:if name="Name50" axis="ch" ptType="node" func="cnt" op="equ" val="3">
                  <dgm:presOf axis="ch desOrSelf" ptType="node node" st="3 1" cnt="1 0"/>
                </dgm:if>
                <dgm:if name="Name51" axis="ch" ptType="node" func="cnt" op="equ" val="4">
                  <dgm:presOf axis="ch desOrSelf" ptType="node node" st="4 1" cnt="1 0"/>
                </dgm:if>
                <dgm:if name="Name52" axis="ch" ptType="node" func="cnt" op="equ" val="5">
                  <dgm:presOf axis="ch desOrSelf" ptType="node node" st="5 1" cnt="1 0"/>
                </dgm:if>
                <dgm:if name="Name53" axis="ch" ptType="node" func="cnt" op="equ" val="6">
                  <dgm:presOf axis="ch desOrSelf" ptType="node node" st="6 1" cnt="1 0"/>
                </dgm:if>
                <dgm:else name="Name54">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55"/>
    </dgm:choose>
    <dgm:choose name="Name56">
      <dgm:if name="Name57" axis="ch" ptType="node" func="cnt" op="gte" val="2">
        <dgm:layoutNode name="wedge2">
          <dgm:alg type="sp"/>
          <dgm:choose name="Name58">
            <dgm:if name="Name59" axis="ch" ptType="node" func="cnt" op="equ" val="2">
              <dgm:shape xmlns:r="http://schemas.openxmlformats.org/officeDocument/2006/relationships" type="pie" r:blip="">
                <dgm:adjLst>
                  <dgm:adj idx="1" val="90"/>
                  <dgm:adj idx="2" val="270"/>
                </dgm:adjLst>
              </dgm:shape>
            </dgm:if>
            <dgm:if name="Name60" axis="ch" ptType="node" func="cnt" op="equ" val="3">
              <dgm:shape xmlns:r="http://schemas.openxmlformats.org/officeDocument/2006/relationships" type="pie" r:blip="">
                <dgm:adjLst>
                  <dgm:adj idx="1" val="30"/>
                  <dgm:adj idx="2" val="150"/>
                </dgm:adjLst>
              </dgm:shape>
            </dgm:if>
            <dgm:if name="Name61" axis="ch" ptType="node" func="cnt" op="equ" val="4">
              <dgm:shape xmlns:r="http://schemas.openxmlformats.org/officeDocument/2006/relationships" type="pie" r:blip="">
                <dgm:adjLst>
                  <dgm:adj idx="1" val="0"/>
                  <dgm:adj idx="2" val="90"/>
                </dgm:adjLst>
              </dgm:shape>
            </dgm:if>
            <dgm:if name="Name62" axis="ch" ptType="node" func="cnt" op="equ" val="5">
              <dgm:shape xmlns:r="http://schemas.openxmlformats.org/officeDocument/2006/relationships" type="pie" r:blip="">
                <dgm:adjLst>
                  <dgm:adj idx="1" val="342"/>
                  <dgm:adj idx="2" val="54"/>
                </dgm:adjLst>
              </dgm:shape>
            </dgm:if>
            <dgm:if name="Name63" axis="ch" ptType="node" func="cnt" op="equ" val="6">
              <dgm:shape xmlns:r="http://schemas.openxmlformats.org/officeDocument/2006/relationships" type="pie" r:blip="">
                <dgm:adjLst>
                  <dgm:adj idx="1" val="330"/>
                  <dgm:adj idx="2" val="30"/>
                </dgm:adjLst>
              </dgm:shape>
            </dgm:if>
            <dgm:else name="Name64">
              <dgm:shape xmlns:r="http://schemas.openxmlformats.org/officeDocument/2006/relationships" type="pie" r:blip="">
                <dgm:adjLst>
                  <dgm:adj idx="1" val="321.4286"/>
                  <dgm:adj idx="2" val="12.85714"/>
                </dgm:adjLst>
              </dgm:shape>
            </dgm:else>
          </dgm:choose>
          <dgm:choose name="Name65">
            <dgm:if name="Name66" func="var" arg="dir" op="equ" val="norm">
              <dgm:presOf axis="ch desOrSelf" ptType="node node" st="2 1" cnt="1 0"/>
            </dgm:if>
            <dgm:else name="Name67">
              <dgm:choose name="Name68">
                <dgm:if name="Name69" axis="ch" ptType="node" func="cnt" op="equ" val="2">
                  <dgm:presOf axis="ch desOrSelf" ptType="node node" st="1 1" cnt="1 0"/>
                </dgm:if>
                <dgm:if name="Name70" axis="ch" ptType="node" func="cnt" op="equ" val="3">
                  <dgm:presOf axis="ch desOrSelf" ptType="node node" st="2 1" cnt="1 0"/>
                </dgm:if>
                <dgm:if name="Name71" axis="ch" ptType="node" func="cnt" op="equ" val="4">
                  <dgm:presOf axis="ch desOrSelf" ptType="node node" st="3 1" cnt="1 0"/>
                </dgm:if>
                <dgm:if name="Name72" axis="ch" ptType="node" func="cnt" op="equ" val="5">
                  <dgm:presOf axis="ch desOrSelf" ptType="node node" st="4 1" cnt="1 0"/>
                </dgm:if>
                <dgm:if name="Name73" axis="ch" ptType="node" func="cnt" op="equ" val="6">
                  <dgm:presOf axis="ch desOrSelf" ptType="node node" st="5 1" cnt="1 0"/>
                </dgm:if>
                <dgm:else name="Name74">
                  <dgm:presOf axis="ch desOrSelf" ptType="node node" st="6 1" cnt="1 0"/>
                </dgm:else>
              </dgm:choose>
            </dgm:else>
          </dgm:choose>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75">
            <dgm:if name="Name76" func="var" arg="dir" op="equ" val="norm">
              <dgm:presOf axis="ch desOrSelf" ptType="node node" st="2 1" cnt="1 0"/>
            </dgm:if>
            <dgm:else name="Name77">
              <dgm:choose name="Name78">
                <dgm:if name="Name79" axis="ch" ptType="node" func="cnt" op="equ" val="2">
                  <dgm:presOf axis="ch desOrSelf" ptType="node node" st="1 1" cnt="1 0"/>
                </dgm:if>
                <dgm:if name="Name80" axis="ch" ptType="node" func="cnt" op="equ" val="3">
                  <dgm:presOf axis="ch desOrSelf" ptType="node node" st="2 1" cnt="1 0"/>
                </dgm:if>
                <dgm:if name="Name81" axis="ch" ptType="node" func="cnt" op="equ" val="4">
                  <dgm:presOf axis="ch desOrSelf" ptType="node node" st="3 1" cnt="1 0"/>
                </dgm:if>
                <dgm:if name="Name82" axis="ch" ptType="node" func="cnt" op="equ" val="5">
                  <dgm:presOf axis="ch desOrSelf" ptType="node node" st="4 1" cnt="1 0"/>
                </dgm:if>
                <dgm:if name="Name83" axis="ch" ptType="node" func="cnt" op="equ" val="6">
                  <dgm:presOf axis="ch desOrSelf" ptType="node node" st="5 1" cnt="1 0"/>
                </dgm:if>
                <dgm:else name="Name84">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85"/>
    </dgm:choose>
    <dgm:choose name="Name86">
      <dgm:if name="Name87" axis="ch" ptType="node" func="cnt" op="gte" val="3">
        <dgm:layoutNode name="wedge3">
          <dgm:alg type="sp"/>
          <dgm:choose name="Name88">
            <dgm:if name="Name89" axis="ch" ptType="node" func="cnt" op="equ" val="3">
              <dgm:shape xmlns:r="http://schemas.openxmlformats.org/officeDocument/2006/relationships" type="pie" r:blip="">
                <dgm:adjLst>
                  <dgm:adj idx="1" val="150"/>
                  <dgm:adj idx="2" val="270"/>
                </dgm:adjLst>
              </dgm:shape>
            </dgm:if>
            <dgm:if name="Name90" axis="ch" ptType="node" func="cnt" op="equ" val="4">
              <dgm:shape xmlns:r="http://schemas.openxmlformats.org/officeDocument/2006/relationships" type="pie" r:blip="">
                <dgm:adjLst>
                  <dgm:adj idx="1" val="90"/>
                  <dgm:adj idx="2" val="180"/>
                </dgm:adjLst>
              </dgm:shape>
            </dgm:if>
            <dgm:if name="Name91" axis="ch" ptType="node" func="cnt" op="equ" val="5">
              <dgm:shape xmlns:r="http://schemas.openxmlformats.org/officeDocument/2006/relationships" type="pie" r:blip="">
                <dgm:adjLst>
                  <dgm:adj idx="1" val="54"/>
                  <dgm:adj idx="2" val="126"/>
                </dgm:adjLst>
              </dgm:shape>
            </dgm:if>
            <dgm:if name="Name92" axis="ch" ptType="node" func="cnt" op="equ" val="6">
              <dgm:shape xmlns:r="http://schemas.openxmlformats.org/officeDocument/2006/relationships" type="pie" r:blip="">
                <dgm:adjLst>
                  <dgm:adj idx="1" val="30"/>
                  <dgm:adj idx="2" val="90"/>
                </dgm:adjLst>
              </dgm:shape>
            </dgm:if>
            <dgm:else name="Name93">
              <dgm:shape xmlns:r="http://schemas.openxmlformats.org/officeDocument/2006/relationships" type="pie" r:blip="">
                <dgm:adjLst>
                  <dgm:adj idx="1" val="12.85714"/>
                  <dgm:adj idx="2" val="64.28571"/>
                </dgm:adjLst>
              </dgm:shape>
            </dgm:else>
          </dgm:choose>
          <dgm:choose name="Name94">
            <dgm:if name="Name95" func="var" arg="dir" op="equ" val="norm">
              <dgm:presOf axis="ch desOrSelf" ptType="node node" st="3 1" cnt="1 0"/>
            </dgm:if>
            <dgm:else name="Name96">
              <dgm:choose name="Name97">
                <dgm:if name="Name98" axis="ch" ptType="node" func="cnt" op="equ" val="3">
                  <dgm:presOf axis="ch desOrSelf" ptType="node node" st="1 1" cnt="1 0"/>
                </dgm:if>
                <dgm:if name="Name99" axis="ch" ptType="node" func="cnt" op="equ" val="4">
                  <dgm:presOf axis="ch desOrSelf" ptType="node node" st="2 1" cnt="1 0"/>
                </dgm:if>
                <dgm:if name="Name100" axis="ch" ptType="node" func="cnt" op="equ" val="5">
                  <dgm:presOf axis="ch desOrSelf" ptType="node node" st="3 1" cnt="1 0"/>
                </dgm:if>
                <dgm:if name="Name101" axis="ch" ptType="node" func="cnt" op="equ" val="6">
                  <dgm:presOf axis="ch desOrSelf" ptType="node node" st="4 1" cnt="1 0"/>
                </dgm:if>
                <dgm:else name="Name102">
                  <dgm:presOf axis="ch desOrSelf" ptType="node node" st="5 1" cnt="1 0"/>
                </dgm:else>
              </dgm:choose>
            </dgm:else>
          </dgm:choose>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103">
            <dgm:if name="Name104" func="var" arg="dir" op="equ" val="norm">
              <dgm:presOf axis="ch desOrSelf" ptType="node node" st="3 1" cnt="1 0"/>
            </dgm:if>
            <dgm:else name="Name105">
              <dgm:choose name="Name106">
                <dgm:if name="Name107" axis="ch" ptType="node" func="cnt" op="equ" val="3">
                  <dgm:presOf axis="ch desOrSelf" ptType="node node" st="1 1" cnt="1 0"/>
                </dgm:if>
                <dgm:if name="Name108" axis="ch" ptType="node" func="cnt" op="equ" val="4">
                  <dgm:presOf axis="ch desOrSelf" ptType="node node" st="2 1" cnt="1 0"/>
                </dgm:if>
                <dgm:if name="Name109" axis="ch" ptType="node" func="cnt" op="equ" val="5">
                  <dgm:presOf axis="ch desOrSelf" ptType="node node" st="3 1" cnt="1 0"/>
                </dgm:if>
                <dgm:if name="Name110" axis="ch" ptType="node" func="cnt" op="equ" val="6">
                  <dgm:presOf axis="ch desOrSelf" ptType="node node" st="4 1" cnt="1 0"/>
                </dgm:if>
                <dgm:else name="Name111">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12"/>
    </dgm:choose>
    <dgm:choose name="Name113">
      <dgm:if name="Name114" axis="ch" ptType="node" func="cnt" op="gte" val="4">
        <dgm:layoutNode name="wedge4">
          <dgm:alg type="sp"/>
          <dgm:choose name="Name115">
            <dgm:if name="Name116" axis="ch" ptType="node" func="cnt" op="equ" val="4">
              <dgm:shape xmlns:r="http://schemas.openxmlformats.org/officeDocument/2006/relationships" type="pie" r:blip="">
                <dgm:adjLst>
                  <dgm:adj idx="1" val="180"/>
                  <dgm:adj idx="2" val="270"/>
                </dgm:adjLst>
              </dgm:shape>
            </dgm:if>
            <dgm:if name="Name117" axis="ch" ptType="node" func="cnt" op="equ" val="5">
              <dgm:shape xmlns:r="http://schemas.openxmlformats.org/officeDocument/2006/relationships" type="pie" r:blip="">
                <dgm:adjLst>
                  <dgm:adj idx="1" val="126"/>
                  <dgm:adj idx="2" val="198"/>
                </dgm:adjLst>
              </dgm:shape>
            </dgm:if>
            <dgm:if name="Name118" axis="ch" ptType="node" func="cnt" op="equ" val="6">
              <dgm:shape xmlns:r="http://schemas.openxmlformats.org/officeDocument/2006/relationships" type="pie" r:blip="">
                <dgm:adjLst>
                  <dgm:adj idx="1" val="90"/>
                  <dgm:adj idx="2" val="150"/>
                </dgm:adjLst>
              </dgm:shape>
            </dgm:if>
            <dgm:else name="Name119">
              <dgm:shape xmlns:r="http://schemas.openxmlformats.org/officeDocument/2006/relationships" type="pie" r:blip="">
                <dgm:adjLst>
                  <dgm:adj idx="1" val="64.2871"/>
                  <dgm:adj idx="2" val="115.7143"/>
                </dgm:adjLst>
              </dgm:shape>
            </dgm:else>
          </dgm:choose>
          <dgm:choose name="Name120">
            <dgm:if name="Name121" func="var" arg="dir" op="equ" val="norm">
              <dgm:presOf axis="ch desOrSelf" ptType="node node" st="4 1" cnt="1 0"/>
            </dgm:if>
            <dgm:else name="Name122">
              <dgm:choose name="Name123">
                <dgm:if name="Name124" axis="ch" ptType="node" func="cnt" op="equ" val="4">
                  <dgm:presOf axis="ch desOrSelf" ptType="node node" st="1 1" cnt="1 0"/>
                </dgm:if>
                <dgm:if name="Name125" axis="ch" ptType="node" func="cnt" op="equ" val="5">
                  <dgm:presOf axis="ch desOrSelf" ptType="node node" st="2 1" cnt="1 0"/>
                </dgm:if>
                <dgm:if name="Name126" axis="ch" ptType="node" func="cnt" op="equ" val="6">
                  <dgm:presOf axis="ch desOrSelf" ptType="node node" st="3 1" cnt="1 0"/>
                </dgm:if>
                <dgm:else name="Name127">
                  <dgm:presOf axis="ch desOrSelf" ptType="node node" st="4 1" cnt="1 0"/>
                </dgm:else>
              </dgm:choose>
            </dgm:else>
          </dgm:choose>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28">
            <dgm:if name="Name129" func="var" arg="dir" op="equ" val="norm">
              <dgm:presOf axis="ch desOrSelf" ptType="node node" st="4 1" cnt="1 0"/>
            </dgm:if>
            <dgm:else name="Name130">
              <dgm:choose name="Name131">
                <dgm:if name="Name132" axis="ch" ptType="node" func="cnt" op="equ" val="4">
                  <dgm:presOf axis="ch desOrSelf" ptType="node node" st="1 1" cnt="1 0"/>
                </dgm:if>
                <dgm:if name="Name133" axis="ch" ptType="node" func="cnt" op="equ" val="5">
                  <dgm:presOf axis="ch desOrSelf" ptType="node node" st="2 1" cnt="1 0"/>
                </dgm:if>
                <dgm:if name="Name134" axis="ch" ptType="node" func="cnt" op="equ" val="6">
                  <dgm:presOf axis="ch desOrSelf" ptType="node node" st="3 1" cnt="1 0"/>
                </dgm:if>
                <dgm:else name="Name135">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36"/>
    </dgm:choose>
    <dgm:choose name="Name137">
      <dgm:if name="Name138" axis="ch" ptType="node" func="cnt" op="gte" val="5">
        <dgm:layoutNode name="wedge5">
          <dgm:alg type="sp"/>
          <dgm:choose name="Name139">
            <dgm:if name="Name140" axis="ch" ptType="node" func="cnt" op="equ" val="5">
              <dgm:shape xmlns:r="http://schemas.openxmlformats.org/officeDocument/2006/relationships" type="pie" r:blip="">
                <dgm:adjLst>
                  <dgm:adj idx="1" val="198"/>
                  <dgm:adj idx="2" val="270"/>
                </dgm:adjLst>
              </dgm:shape>
            </dgm:if>
            <dgm:if name="Name141" axis="ch" ptType="node" func="cnt" op="equ" val="6">
              <dgm:shape xmlns:r="http://schemas.openxmlformats.org/officeDocument/2006/relationships" type="pie" r:blip="">
                <dgm:adjLst>
                  <dgm:adj idx="1" val="150"/>
                  <dgm:adj idx="2" val="210"/>
                </dgm:adjLst>
              </dgm:shape>
            </dgm:if>
            <dgm:else name="Name142">
              <dgm:shape xmlns:r="http://schemas.openxmlformats.org/officeDocument/2006/relationships" type="pie" r:blip="">
                <dgm:adjLst>
                  <dgm:adj idx="1" val="115.7143"/>
                  <dgm:adj idx="2" val="167.1429"/>
                </dgm:adjLst>
              </dgm:shape>
            </dgm:else>
          </dgm:choose>
          <dgm:choose name="Name143">
            <dgm:if name="Name144" func="var" arg="dir" op="equ" val="norm">
              <dgm:presOf axis="ch desOrSelf" ptType="node node" st="5 1" cnt="1 0"/>
            </dgm:if>
            <dgm:else name="Name145">
              <dgm:choose name="Name146">
                <dgm:if name="Name147" axis="ch" ptType="node" func="cnt" op="equ" val="5">
                  <dgm:presOf axis="ch desOrSelf" ptType="node node" st="1 1" cnt="1 0"/>
                </dgm:if>
                <dgm:if name="Name148" axis="ch" ptType="node" func="cnt" op="equ" val="6">
                  <dgm:presOf axis="ch desOrSelf" ptType="node node" st="2 1" cnt="1 0"/>
                </dgm:if>
                <dgm:else name="Name149">
                  <dgm:presOf axis="ch desOrSelf" ptType="node node" st="3 1" cnt="1 0"/>
                </dgm:else>
              </dgm:choose>
            </dgm:else>
          </dgm:choose>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50">
            <dgm:if name="Name151" func="var" arg="dir" op="equ" val="norm">
              <dgm:presOf axis="ch desOrSelf" ptType="node node" st="5 1" cnt="1 0"/>
            </dgm:if>
            <dgm:else name="Name152">
              <dgm:choose name="Name153">
                <dgm:if name="Name154" axis="ch" ptType="node" func="cnt" op="equ" val="5">
                  <dgm:presOf axis="ch desOrSelf" ptType="node node" st="1 1" cnt="1 0"/>
                </dgm:if>
                <dgm:if name="Name155" axis="ch" ptType="node" func="cnt" op="equ" val="6">
                  <dgm:presOf axis="ch desOrSelf" ptType="node node" st="2 1" cnt="1 0"/>
                </dgm:if>
                <dgm:else name="Name156">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57"/>
    </dgm:choose>
    <dgm:choose name="Name158">
      <dgm:if name="Name159" axis="ch" ptType="node" func="cnt" op="gte" val="6">
        <dgm:layoutNode name="wedge6">
          <dgm:alg type="sp"/>
          <dgm:choose name="Name160">
            <dgm:if name="Name161" axis="ch" ptType="node" func="cnt" op="equ" val="6">
              <dgm:shape xmlns:r="http://schemas.openxmlformats.org/officeDocument/2006/relationships" type="pie" r:blip="">
                <dgm:adjLst>
                  <dgm:adj idx="1" val="210"/>
                  <dgm:adj idx="2" val="270"/>
                </dgm:adjLst>
              </dgm:shape>
            </dgm:if>
            <dgm:else name="Name162">
              <dgm:shape xmlns:r="http://schemas.openxmlformats.org/officeDocument/2006/relationships" type="pie" r:blip="">
                <dgm:adjLst>
                  <dgm:adj idx="1" val="167.1429"/>
                  <dgm:adj idx="2" val="218.5714"/>
                </dgm:adjLst>
              </dgm:shape>
            </dgm:else>
          </dgm:choose>
          <dgm:choose name="Name163">
            <dgm:if name="Name164" func="var" arg="dir" op="equ" val="norm">
              <dgm:presOf axis="ch desOrSelf" ptType="node node" st="6 1" cnt="1 0"/>
            </dgm:if>
            <dgm:else name="Name165">
              <dgm:choose name="Name166">
                <dgm:if name="Name167" axis="ch" ptType="node" func="cnt" op="equ" val="6">
                  <dgm:presOf axis="ch desOrSelf" ptType="node node" st="1 1" cnt="1 0"/>
                </dgm:if>
                <dgm:else name="Name168">
                  <dgm:presOf axis="ch desOrSelf" ptType="node node" st="2 1" cnt="1 0"/>
                </dgm:else>
              </dgm:choose>
            </dgm:else>
          </dgm:choose>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69">
            <dgm:if name="Name170" func="var" arg="dir" op="equ" val="norm">
              <dgm:presOf axis="ch desOrSelf" ptType="node node" st="6 1" cnt="1 0"/>
            </dgm:if>
            <dgm:else name="Name171">
              <dgm:choose name="Name172">
                <dgm:if name="Name173" axis="ch" ptType="node" func="cnt" op="equ" val="6">
                  <dgm:presOf axis="ch desOrSelf" ptType="node node" st="1 1" cnt="1 0"/>
                </dgm:if>
                <dgm:else name="Name174">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75"/>
    </dgm:choose>
    <dgm:choose name="Name176">
      <dgm:if name="Name177" axis="ch" ptType="node" func="cnt" op="gte" val="7">
        <dgm:layoutNode name="wedge7">
          <dgm:alg type="sp"/>
          <dgm:shape xmlns:r="http://schemas.openxmlformats.org/officeDocument/2006/relationships" type="pie" r:blip="">
            <dgm:adjLst>
              <dgm:adj idx="1" val="218.5714"/>
              <dgm:adj idx="2" val="270"/>
            </dgm:adjLst>
          </dgm:shape>
          <dgm:choose name="Name178">
            <dgm:if name="Name179" func="var" arg="dir" op="equ" val="norm">
              <dgm:presOf axis="ch desOrSelf" ptType="node node" st="7 1" cnt="1 0"/>
            </dgm:if>
            <dgm:else name="Name180">
              <dgm:presOf axis="ch desOrSelf" ptType="node node" st="1 1" cnt="1 0"/>
            </dgm:else>
          </dgm:choose>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81">
            <dgm:if name="Name182" func="var" arg="dir" op="equ" val="norm">
              <dgm:presOf axis="ch desOrSelf" ptType="node node" st="7 1" cnt="1 0"/>
            </dgm:if>
            <dgm:else name="Name183">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84"/>
    </dgm:choose>
  </dgm:layoutNode>
</dgm:layoutDef>
</file>

<file path=ppt/diagrams/layout2.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cycle3">
  <dgm:title val=""/>
  <dgm:desc val=""/>
  <dgm:catLst>
    <dgm:cat type="cycle" pri="5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axis="ch" ptType="node" func="cnt" op="equ" val="2">
        <dgm:alg type="composite">
          <dgm:param type="ar" val="0.9"/>
        </dgm:alg>
        <dgm:shape xmlns:r="http://schemas.openxmlformats.org/officeDocument/2006/relationships" r:blip="">
          <dgm:adjLst/>
        </dgm:shape>
        <dgm:presOf/>
        <dgm:constrLst>
          <dgm:constr type="primFontSz" for="ch" ptType="node" op="equ" val="65"/>
          <dgm:constr type="ctrX" for="ch" forName="node1" refType="w" fact="0.5"/>
          <dgm:constr type="t" for="ch" forName="node1"/>
          <dgm:constr type="w" for="ch" forName="node1" refType="w" fact="0.8"/>
          <dgm:constr type="h" for="ch" forName="node1" refType="w" refFor="ch" refForName="node1" fact="0.5"/>
          <dgm:constr type="ctrX" for="ch" forName="sibTrans" refType="w" fact="0.5"/>
          <dgm:constr type="t" for="ch" forName="sibTrans"/>
          <dgm:constr type="w" for="ch" forName="sibTrans" refType="w" fact="0.8"/>
          <dgm:constr type="h" for="ch" forName="sibTrans" refType="w" refFor="ch" refForName="node1" fact="0.5"/>
          <dgm:constr type="userA" for="ch" forName="sibTrans" refType="w" fact="1.07"/>
          <dgm:constr type="ctrX" for="ch" forName="node2" refType="w" fact="0.5"/>
          <dgm:constr type="b" for="ch" forName="node2" refType="h"/>
          <dgm:constr type="w" for="ch" forName="node2" refType="w" fact="0.8"/>
          <dgm:constr type="h" for="ch" forName="node2" refType="w" refFor="ch" refForName="node1" fact="0.5"/>
          <dgm:constr type="l" for="ch" forName="sp1"/>
          <dgm:constr type="t" for="ch" forName="sp1" refType="h" fact="0.5"/>
          <dgm:constr type="w" for="ch" forName="sp1" val="1"/>
          <dgm:constr type="h" for="ch" forName="sp1" val="1"/>
          <dgm:constr type="r" for="ch" forName="sp2" refType="w"/>
          <dgm:constr type="t" for="ch" forName="sp2" refType="h" fact="0.5"/>
          <dgm:constr type="w" for="ch" forName="sp2" val="1"/>
          <dgm:constr type="h" for="ch" forName="sp2" val="1"/>
        </dgm:constrLst>
        <dgm:ruleLst/>
      </dgm:if>
      <dgm:else name="Name3">
        <dgm:alg type="composite"/>
        <dgm:shape xmlns:r="http://schemas.openxmlformats.org/officeDocument/2006/relationships" r:blip="">
          <dgm:adjLst/>
        </dgm:shape>
        <dgm:presOf/>
        <dgm:constrLst>
          <dgm:constr type="primFontSz" for="ch" ptType="node" op="equ" val="65"/>
        </dgm:constrLst>
        <dgm:ruleLst/>
      </dgm:else>
    </dgm:choose>
    <dgm:choose name="Name4">
      <dgm:if name="Name5" axis="ch" ptType="node" func="cnt" op="equ" val="2">
        <dgm:layoutNode name="node1">
          <dgm:varLst>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ibTrans" styleLbl="bgShp">
          <dgm:choose name="Name6">
            <dgm:if name="Name7" func="var" arg="dir" op="equ" val="norm">
              <dgm:alg type="conn">
                <dgm:param type="connRout" val="longCurve"/>
                <dgm:param type="begPts" val="midR"/>
                <dgm:param type="endPts" val="midL"/>
                <dgm:param type="dstNode" val="node1"/>
              </dgm:alg>
              <dgm:shape xmlns:r="http://schemas.openxmlformats.org/officeDocument/2006/relationships" type="conn" r:blip="" zOrderOff="-2">
                <dgm:adjLst/>
              </dgm:shape>
              <dgm:presOf axis="ch" ptType="sibTrans"/>
              <dgm:constrLst>
                <dgm:constr type="userA"/>
                <dgm:constr type="diam" refType="userA" fact="-1"/>
                <dgm:constr type="wArH" refType="userA" fact="0.05"/>
                <dgm:constr type="hArH" refType="userA" fact="0.1"/>
                <dgm:constr type="stemThick" refType="userA" fact="0.06"/>
                <dgm:constr type="begPad" refType="connDist" fact="-0.2"/>
                <dgm:constr type="endPad" refType="connDist" fact="0.05"/>
              </dgm:constrLst>
            </dgm:if>
            <dgm:else name="Name8">
              <dgm:alg type="conn">
                <dgm:param type="connRout" val="longCurve"/>
                <dgm:param type="begPts" val="midL"/>
                <dgm:param type="endPts" val="midR"/>
                <dgm:param type="dstNode" val="node1"/>
              </dgm:alg>
              <dgm:shape xmlns:r="http://schemas.openxmlformats.org/officeDocument/2006/relationships" type="conn" r:blip="" zOrderOff="-2">
                <dgm:adjLst/>
              </dgm:shape>
              <dgm:presOf axis="ch" ptType="sibTrans"/>
              <dgm:constrLst>
                <dgm:constr type="userA"/>
                <dgm:constr type="diam" refType="userA"/>
                <dgm:constr type="wArH" refType="userA" fact="0.05"/>
                <dgm:constr type="hArH" refType="userA" fact="0.1"/>
                <dgm:constr type="stemThick" refType="userA" fact="0.06"/>
                <dgm:constr type="begPad" refType="connDist" fact="-0.2"/>
                <dgm:constr type="endPad" refType="connDist" fact="0.05"/>
              </dgm:constrLst>
            </dgm:else>
          </dgm:choose>
          <dgm:ruleLst/>
        </dgm:layoutNode>
        <dgm:layoutNode name="node2">
          <dgm:varLst>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p1">
          <dgm:alg type="sp"/>
          <dgm:shape xmlns:r="http://schemas.openxmlformats.org/officeDocument/2006/relationships" r:blip="">
            <dgm:adjLst/>
          </dgm:shape>
          <dgm:presOf/>
          <dgm:constrLst/>
          <dgm:ruleLst/>
        </dgm:layoutNode>
        <dgm:layoutNode name="sp2">
          <dgm:alg type="sp"/>
          <dgm:shape xmlns:r="http://schemas.openxmlformats.org/officeDocument/2006/relationships" r:blip="">
            <dgm:adjLst/>
          </dgm:shape>
          <dgm:presOf/>
          <dgm:constrLst/>
          <dgm:ruleLst/>
        </dgm:layoutNode>
      </dgm:if>
      <dgm:else name="Name9">
        <dgm:layoutNode name="cycle">
          <dgm:choose name="Name10">
            <dgm:if name="Name11" func="var" arg="dir" op="equ" val="norm">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fact="-1"/>
                <dgm:constr type="wArH" for="ch" ptType="sibTrans" refType="diam" op="equ" fact="0.05"/>
                <dgm:constr type="hArH" for="ch" ptType="sibTrans" refType="diam" op="equ" fact="0.1"/>
                <dgm:constr type="stemThick" for="ch" ptType="sibTrans" refType="diam" op="equ" fact="0.065"/>
                <dgm:constr type="primFontSz" for="ch" ptType="node" op="equ"/>
              </dgm:constrLst>
            </dgm:if>
            <dgm:else name="Name12">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dgm:constr type="wArH" for="ch" ptType="sibTrans" refType="diam" op="equ" fact="0.05"/>
                <dgm:constr type="hArH" for="ch" ptType="sibTrans" refType="diam" op="equ" fact="0.1"/>
                <dgm:constr type="stemThick" for="ch" ptType="sibTrans" refType="diam" op="equ" fact="0.065"/>
                <dgm:constr type="primFontSz" for="ch" ptType="node" op="equ"/>
              </dgm:constrLst>
            </dgm:else>
          </dgm:choose>
          <dgm:ruleLst/>
          <dgm:forEach name="nodesFirstNodeForEach" axis="ch" ptType="node" cnt="1">
            <dgm:layoutNode name="nodeFirstNode">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FirstNode" styleLbl="bgShp">
                <dgm:choose name="Name13">
                  <dgm:if name="Name14" func="var" arg="dir" op="equ" val="norm">
                    <dgm:alg type="conn">
                      <dgm:param type="connRout" val="longCurve"/>
                      <dgm:param type="begPts" val="midR"/>
                      <dgm:param type="endPts" val="midL"/>
                      <dgm:param type="dstNode" val="nodeFirstNode"/>
                    </dgm:alg>
                  </dgm:if>
                  <dgm:else name="Name15">
                    <dgm:alg type="conn">
                      <dgm:param type="connRout" val="longCurve"/>
                      <dgm:param type="begPts" val="midL"/>
                      <dgm:param type="endPts" val="midR"/>
                      <dgm:param type="dstNode" val="nodeFirstNode"/>
                    </dgm:alg>
                  </dgm:else>
                </dgm:choose>
                <dgm:shape xmlns:r="http://schemas.openxmlformats.org/officeDocument/2006/relationships" type="conn" r:blip="" zOrderOff="-2">
                  <dgm:adjLst/>
                </dgm:shape>
                <dgm:presOf axis="self"/>
                <dgm:choose name="Name16">
                  <dgm:if name="Name17" axis="par ch" ptType="doc node" func="cnt" op="equ" val="3">
                    <dgm:constrLst>
                      <dgm:constr type="userA"/>
                      <dgm:constr type="diam" refType="userA" fact="1.01"/>
                      <dgm:constr type="begPad" refType="connDist" fact="-0.2"/>
                      <dgm:constr type="endPad" refType="connDist" fact="0.05"/>
                    </dgm:constrLst>
                  </dgm:if>
                  <dgm:if name="Name18" axis="par ch" ptType="doc node" func="cnt" op="equ" val="4">
                    <dgm:constrLst>
                      <dgm:constr type="userA"/>
                      <dgm:constr type="diam" refType="userA" fact="1.26"/>
                      <dgm:constr type="begPad" refType="connDist" fact="-0.2"/>
                      <dgm:constr type="endPad" refType="connDist" fact="0.05"/>
                    </dgm:constrLst>
                  </dgm:if>
                  <dgm:if name="Name19" axis="par ch" ptType="doc node" func="cnt" op="equ" val="5">
                    <dgm:constrLst>
                      <dgm:constr type="userA"/>
                      <dgm:constr type="diam" refType="userA" fact="1.04"/>
                      <dgm:constr type="begPad" refType="connDist" fact="-0.2"/>
                      <dgm:constr type="endPad" refType="connDist" fact="0.05"/>
                    </dgm:constrLst>
                  </dgm:if>
                  <dgm:if name="Name20" axis="par ch" ptType="doc node" func="cnt" op="equ" val="6">
                    <dgm:constrLst>
                      <dgm:constr type="userA"/>
                      <dgm:constr type="diam" refType="userA" fact="1.1"/>
                      <dgm:constr type="begPad" refType="connDist" fact="-0.2"/>
                      <dgm:constr type="endPad" refType="connDist" fact="0.05"/>
                    </dgm:constrLst>
                  </dgm:if>
                  <dgm:else name="Name21">
                    <dgm:constrLst>
                      <dgm:constr type="userA"/>
                      <dgm:constr type="diam" refType="userA" fact="1.04"/>
                      <dgm:constr type="begPad" refType="connDist" fact="-0.2"/>
                      <dgm:constr type="endPad" refType="connDist" fact="0.05"/>
                    </dgm:constrLst>
                  </dgm:else>
                </dgm:choose>
                <dgm:ruleLst/>
              </dgm:layoutNode>
            </dgm:forEach>
          </dgm:forEach>
          <dgm:forEach name="followingNodesForEach" axis="ch" ptType="node" st="2">
            <dgm:layoutNode name="nodeFollowingNodes">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dgm:layoutNode>
      </dgm:else>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0"/>
            <a:ext cx="3078163" cy="512763"/>
          </a:xfrm>
          <a:prstGeom prst="rect">
            <a:avLst/>
          </a:prstGeom>
        </p:spPr>
        <p:txBody>
          <a:bodyPr vert="horz" lIns="91440" tIns="45720" rIns="91440" bIns="45720" rtlCol="0"/>
          <a:lstStyle>
            <a:lvl1pPr algn="l">
              <a:defRPr sz="1200"/>
            </a:lvl1pPr>
          </a:lstStyle>
          <a:p>
            <a:endParaRPr lang="ko-KR" altLang="en-US" dirty="0">
              <a:latin typeface="Rix모던고딕 L" panose="02020603020101020101" pitchFamily="18" charset="-127"/>
              <a:ea typeface="Rix모던고딕 L" panose="02020603020101020101" pitchFamily="18" charset="-127"/>
            </a:endParaRPr>
          </a:p>
        </p:txBody>
      </p:sp>
      <p:sp>
        <p:nvSpPr>
          <p:cNvPr id="3" name="날짜 개체 틀 2"/>
          <p:cNvSpPr>
            <a:spLocks noGrp="1"/>
          </p:cNvSpPr>
          <p:nvPr>
            <p:ph type="dt" sz="quarter" idx="1"/>
          </p:nvPr>
        </p:nvSpPr>
        <p:spPr>
          <a:xfrm>
            <a:off x="4024313" y="0"/>
            <a:ext cx="3078162" cy="512763"/>
          </a:xfrm>
          <a:prstGeom prst="rect">
            <a:avLst/>
          </a:prstGeom>
        </p:spPr>
        <p:txBody>
          <a:bodyPr vert="horz" lIns="91440" tIns="45720" rIns="91440" bIns="45720" rtlCol="0"/>
          <a:lstStyle>
            <a:lvl1pPr algn="r">
              <a:defRPr sz="1200"/>
            </a:lvl1pPr>
          </a:lstStyle>
          <a:p>
            <a:fld id="{D265D610-DFC9-4B0C-B47E-740E87AA1476}" type="datetimeFigureOut">
              <a:rPr lang="ko-KR" altLang="en-US" smtClean="0">
                <a:latin typeface="Rix모던고딕 L" panose="02020603020101020101" pitchFamily="18" charset="-127"/>
                <a:ea typeface="Rix모던고딕 L" panose="02020603020101020101" pitchFamily="18" charset="-127"/>
              </a:rPr>
              <a:t>2026-06-13</a:t>
            </a:fld>
            <a:endParaRPr lang="ko-KR" altLang="en-US" dirty="0">
              <a:latin typeface="Rix모던고딕 L" panose="02020603020101020101" pitchFamily="18" charset="-127"/>
              <a:ea typeface="Rix모던고딕 L" panose="02020603020101020101" pitchFamily="18" charset="-127"/>
            </a:endParaRPr>
          </a:p>
        </p:txBody>
      </p:sp>
      <p:sp>
        <p:nvSpPr>
          <p:cNvPr id="4" name="바닥글 개체 틀 3"/>
          <p:cNvSpPr>
            <a:spLocks noGrp="1"/>
          </p:cNvSpPr>
          <p:nvPr>
            <p:ph type="ftr" sz="quarter" idx="2"/>
          </p:nvPr>
        </p:nvSpPr>
        <p:spPr>
          <a:xfrm>
            <a:off x="0" y="9721850"/>
            <a:ext cx="3078163" cy="512763"/>
          </a:xfrm>
          <a:prstGeom prst="rect">
            <a:avLst/>
          </a:prstGeom>
        </p:spPr>
        <p:txBody>
          <a:bodyPr vert="horz" lIns="91440" tIns="45720" rIns="91440" bIns="45720" rtlCol="0" anchor="b"/>
          <a:lstStyle>
            <a:lvl1pPr algn="l">
              <a:defRPr sz="1200"/>
            </a:lvl1pPr>
          </a:lstStyle>
          <a:p>
            <a:endParaRPr lang="ko-KR" altLang="en-US" dirty="0">
              <a:latin typeface="Rix모던고딕 L" panose="02020603020101020101" pitchFamily="18" charset="-127"/>
              <a:ea typeface="Rix모던고딕 L" panose="02020603020101020101" pitchFamily="18" charset="-127"/>
            </a:endParaRPr>
          </a:p>
        </p:txBody>
      </p:sp>
      <p:sp>
        <p:nvSpPr>
          <p:cNvPr id="5" name="슬라이드 번호 개체 틀 4"/>
          <p:cNvSpPr>
            <a:spLocks noGrp="1"/>
          </p:cNvSpPr>
          <p:nvPr>
            <p:ph type="sldNum" sz="quarter" idx="3"/>
          </p:nvPr>
        </p:nvSpPr>
        <p:spPr>
          <a:xfrm>
            <a:off x="4024313" y="9721850"/>
            <a:ext cx="3078162" cy="512763"/>
          </a:xfrm>
          <a:prstGeom prst="rect">
            <a:avLst/>
          </a:prstGeom>
        </p:spPr>
        <p:txBody>
          <a:bodyPr vert="horz" lIns="91440" tIns="45720" rIns="91440" bIns="45720" rtlCol="0" anchor="b"/>
          <a:lstStyle>
            <a:lvl1pPr algn="r">
              <a:defRPr sz="1200"/>
            </a:lvl1pPr>
          </a:lstStyle>
          <a:p>
            <a:fld id="{2AD60739-7E54-4EEE-A557-D980F97BF9D4}" type="slidenum">
              <a:rPr lang="ko-KR" altLang="en-US" smtClean="0">
                <a:latin typeface="Rix모던고딕 L" panose="02020603020101020101" pitchFamily="18" charset="-127"/>
                <a:ea typeface="Rix모던고딕 L" panose="02020603020101020101" pitchFamily="18" charset="-127"/>
              </a:rPr>
              <a:t>‹#›</a:t>
            </a:fld>
            <a:endParaRPr lang="ko-KR" altLang="en-US" dirty="0">
              <a:latin typeface="Rix모던고딕 L" panose="02020603020101020101" pitchFamily="18" charset="-127"/>
              <a:ea typeface="Rix모던고딕 L" panose="02020603020101020101" pitchFamily="18" charset="-127"/>
            </a:endParaRPr>
          </a:p>
        </p:txBody>
      </p:sp>
    </p:spTree>
    <p:extLst>
      <p:ext uri="{BB962C8B-B14F-4D97-AF65-F5344CB8AC3E}">
        <p14:creationId xmlns:p14="http://schemas.microsoft.com/office/powerpoint/2010/main" val="2281610329"/>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머리글 개체 틀 1"/>
          <p:cNvSpPr>
            <a:spLocks noGrp="1"/>
          </p:cNvSpPr>
          <p:nvPr>
            <p:ph type="hdr" sz="quarter"/>
          </p:nvPr>
        </p:nvSpPr>
        <p:spPr>
          <a:xfrm>
            <a:off x="0" y="2"/>
            <a:ext cx="3078428" cy="513508"/>
          </a:xfrm>
          <a:prstGeom prst="rect">
            <a:avLst/>
          </a:prstGeom>
        </p:spPr>
        <p:txBody>
          <a:bodyPr vert="horz" lIns="94657" tIns="47329" rIns="94657" bIns="47329" rtlCol="0"/>
          <a:lstStyle>
            <a:lvl1pPr algn="l">
              <a:defRPr sz="1200">
                <a:latin typeface="Rix모던고딕 L" panose="02020603020101020101" pitchFamily="18" charset="-127"/>
                <a:ea typeface="Rix모던고딕 L" panose="02020603020101020101" pitchFamily="18" charset="-127"/>
              </a:defRPr>
            </a:lvl1pPr>
          </a:lstStyle>
          <a:p>
            <a:endParaRPr lang="ko-KR" altLang="en-US" dirty="0"/>
          </a:p>
        </p:txBody>
      </p:sp>
      <p:sp>
        <p:nvSpPr>
          <p:cNvPr id="3" name="날짜 개체 틀 2"/>
          <p:cNvSpPr>
            <a:spLocks noGrp="1"/>
          </p:cNvSpPr>
          <p:nvPr>
            <p:ph type="dt" idx="1"/>
          </p:nvPr>
        </p:nvSpPr>
        <p:spPr>
          <a:xfrm>
            <a:off x="4023992" y="2"/>
            <a:ext cx="3078428" cy="513508"/>
          </a:xfrm>
          <a:prstGeom prst="rect">
            <a:avLst/>
          </a:prstGeom>
        </p:spPr>
        <p:txBody>
          <a:bodyPr vert="horz" lIns="94657" tIns="47329" rIns="94657" bIns="47329" rtlCol="0"/>
          <a:lstStyle>
            <a:lvl1pPr algn="r">
              <a:defRPr sz="1200">
                <a:latin typeface="Rix모던고딕 L" panose="02020603020101020101" pitchFamily="18" charset="-127"/>
                <a:ea typeface="Rix모던고딕 L" panose="02020603020101020101" pitchFamily="18" charset="-127"/>
              </a:defRPr>
            </a:lvl1pPr>
          </a:lstStyle>
          <a:p>
            <a:fld id="{782597F2-0C3F-472E-942C-F0680216029B}" type="datetimeFigureOut">
              <a:rPr lang="ko-KR" altLang="en-US" smtClean="0"/>
              <a:pPr/>
              <a:t>2026-06-13</a:t>
            </a:fld>
            <a:endParaRPr lang="ko-KR" altLang="en-US" dirty="0"/>
          </a:p>
        </p:txBody>
      </p:sp>
      <p:sp>
        <p:nvSpPr>
          <p:cNvPr id="4" name="슬라이드 이미지 개체 틀 3"/>
          <p:cNvSpPr>
            <a:spLocks noGrp="1" noRot="1" noChangeAspect="1"/>
          </p:cNvSpPr>
          <p:nvPr>
            <p:ph type="sldImg" idx="2"/>
          </p:nvPr>
        </p:nvSpPr>
        <p:spPr>
          <a:xfrm>
            <a:off x="481013" y="1279525"/>
            <a:ext cx="6142037" cy="3454400"/>
          </a:xfrm>
          <a:prstGeom prst="rect">
            <a:avLst/>
          </a:prstGeom>
          <a:noFill/>
          <a:ln w="12700">
            <a:solidFill>
              <a:prstClr val="black"/>
            </a:solidFill>
          </a:ln>
        </p:spPr>
        <p:txBody>
          <a:bodyPr vert="horz" lIns="94657" tIns="47329" rIns="94657" bIns="47329" rtlCol="0" anchor="ctr"/>
          <a:lstStyle/>
          <a:p>
            <a:endParaRPr lang="ko-KR" altLang="en-US" dirty="0"/>
          </a:p>
        </p:txBody>
      </p:sp>
      <p:sp>
        <p:nvSpPr>
          <p:cNvPr id="5" name="슬라이드 노트 개체 틀 4"/>
          <p:cNvSpPr>
            <a:spLocks noGrp="1"/>
          </p:cNvSpPr>
          <p:nvPr>
            <p:ph type="body" sz="quarter" idx="3"/>
          </p:nvPr>
        </p:nvSpPr>
        <p:spPr>
          <a:xfrm>
            <a:off x="710407" y="4925409"/>
            <a:ext cx="5683250" cy="4029879"/>
          </a:xfrm>
          <a:prstGeom prst="rect">
            <a:avLst/>
          </a:prstGeom>
        </p:spPr>
        <p:txBody>
          <a:bodyPr vert="horz" lIns="94657" tIns="47329" rIns="94657" bIns="47329" rtlCol="0"/>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6" name="바닥글 개체 틀 5"/>
          <p:cNvSpPr>
            <a:spLocks noGrp="1"/>
          </p:cNvSpPr>
          <p:nvPr>
            <p:ph type="ftr" sz="quarter" idx="4"/>
          </p:nvPr>
        </p:nvSpPr>
        <p:spPr>
          <a:xfrm>
            <a:off x="0" y="9721107"/>
            <a:ext cx="3078428" cy="513507"/>
          </a:xfrm>
          <a:prstGeom prst="rect">
            <a:avLst/>
          </a:prstGeom>
        </p:spPr>
        <p:txBody>
          <a:bodyPr vert="horz" lIns="94657" tIns="47329" rIns="94657" bIns="47329" rtlCol="0" anchor="b"/>
          <a:lstStyle>
            <a:lvl1pPr algn="l">
              <a:defRPr sz="1200">
                <a:latin typeface="Rix모던고딕 L" panose="02020603020101020101" pitchFamily="18" charset="-127"/>
                <a:ea typeface="Rix모던고딕 L" panose="02020603020101020101" pitchFamily="18" charset="-127"/>
              </a:defRPr>
            </a:lvl1pPr>
          </a:lstStyle>
          <a:p>
            <a:endParaRPr lang="ko-KR" altLang="en-US" dirty="0"/>
          </a:p>
        </p:txBody>
      </p:sp>
      <p:sp>
        <p:nvSpPr>
          <p:cNvPr id="7" name="슬라이드 번호 개체 틀 6"/>
          <p:cNvSpPr>
            <a:spLocks noGrp="1"/>
          </p:cNvSpPr>
          <p:nvPr>
            <p:ph type="sldNum" sz="quarter" idx="5"/>
          </p:nvPr>
        </p:nvSpPr>
        <p:spPr>
          <a:xfrm>
            <a:off x="4023992" y="9721107"/>
            <a:ext cx="3078428" cy="513507"/>
          </a:xfrm>
          <a:prstGeom prst="rect">
            <a:avLst/>
          </a:prstGeom>
        </p:spPr>
        <p:txBody>
          <a:bodyPr vert="horz" lIns="94657" tIns="47329" rIns="94657" bIns="47329" rtlCol="0" anchor="b"/>
          <a:lstStyle>
            <a:lvl1pPr algn="r">
              <a:defRPr sz="1200">
                <a:latin typeface="Rix모던고딕 L" panose="02020603020101020101" pitchFamily="18" charset="-127"/>
                <a:ea typeface="Rix모던고딕 L" panose="02020603020101020101" pitchFamily="18" charset="-127"/>
              </a:defRPr>
            </a:lvl1pPr>
          </a:lstStyle>
          <a:p>
            <a:fld id="{30C005C8-BD53-41EA-B159-BC12A6DFFB7D}" type="slidenum">
              <a:rPr lang="ko-KR" altLang="en-US" smtClean="0"/>
              <a:pPr/>
              <a:t>‹#›</a:t>
            </a:fld>
            <a:endParaRPr lang="ko-KR" altLang="en-US" dirty="0"/>
          </a:p>
        </p:txBody>
      </p:sp>
    </p:spTree>
    <p:extLst>
      <p:ext uri="{BB962C8B-B14F-4D97-AF65-F5344CB8AC3E}">
        <p14:creationId xmlns:p14="http://schemas.microsoft.com/office/powerpoint/2010/main" val="1813274519"/>
      </p:ext>
    </p:extLst>
  </p:cSld>
  <p:clrMap bg1="lt1" tx1="dk1" bg2="lt2" tx2="dk2" accent1="accent1" accent2="accent2" accent3="accent3" accent4="accent4" accent5="accent5" accent6="accent6" hlink="hlink" folHlink="folHlink"/>
  <p:notesStyle>
    <a:lvl1pPr marL="0" algn="l" defTabSz="914400" rtl="0" eaLnBrk="1" latinLnBrk="1" hangingPunct="1">
      <a:defRPr sz="1200" kern="1200">
        <a:solidFill>
          <a:schemeClr val="tx1"/>
        </a:solidFill>
        <a:latin typeface="Rix모던고딕 L" panose="02020603020101020101" pitchFamily="18" charset="-127"/>
        <a:ea typeface="Rix모던고딕 L" panose="02020603020101020101" pitchFamily="18" charset="-127"/>
        <a:cs typeface="+mn-cs"/>
      </a:defRPr>
    </a:lvl1pPr>
    <a:lvl2pPr marL="457200" algn="l" defTabSz="914400" rtl="0" eaLnBrk="1" latinLnBrk="1" hangingPunct="1">
      <a:defRPr sz="1200" kern="1200">
        <a:solidFill>
          <a:schemeClr val="tx1"/>
        </a:solidFill>
        <a:latin typeface="Rix모던고딕 L" panose="02020603020101020101" pitchFamily="18" charset="-127"/>
        <a:ea typeface="Rix모던고딕 L" panose="02020603020101020101" pitchFamily="18" charset="-127"/>
        <a:cs typeface="+mn-cs"/>
      </a:defRPr>
    </a:lvl2pPr>
    <a:lvl3pPr marL="914400" algn="l" defTabSz="914400" rtl="0" eaLnBrk="1" latinLnBrk="1" hangingPunct="1">
      <a:defRPr sz="1200" kern="1200">
        <a:solidFill>
          <a:schemeClr val="tx1"/>
        </a:solidFill>
        <a:latin typeface="Rix모던고딕 L" panose="02020603020101020101" pitchFamily="18" charset="-127"/>
        <a:ea typeface="Rix모던고딕 L" panose="02020603020101020101" pitchFamily="18" charset="-127"/>
        <a:cs typeface="+mn-cs"/>
      </a:defRPr>
    </a:lvl3pPr>
    <a:lvl4pPr marL="1371600" algn="l" defTabSz="914400" rtl="0" eaLnBrk="1" latinLnBrk="1" hangingPunct="1">
      <a:defRPr sz="1200" kern="1200">
        <a:solidFill>
          <a:schemeClr val="tx1"/>
        </a:solidFill>
        <a:latin typeface="Rix모던고딕 L" panose="02020603020101020101" pitchFamily="18" charset="-127"/>
        <a:ea typeface="Rix모던고딕 L" panose="02020603020101020101" pitchFamily="18" charset="-127"/>
        <a:cs typeface="+mn-cs"/>
      </a:defRPr>
    </a:lvl4pPr>
    <a:lvl5pPr marL="1828800" algn="l" defTabSz="914400" rtl="0" eaLnBrk="1" latinLnBrk="1" hangingPunct="1">
      <a:defRPr sz="1200" kern="1200">
        <a:solidFill>
          <a:schemeClr val="tx1"/>
        </a:solidFill>
        <a:latin typeface="Rix모던고딕 L" panose="02020603020101020101" pitchFamily="18" charset="-127"/>
        <a:ea typeface="Rix모던고딕 L" panose="02020603020101020101" pitchFamily="18" charset="-127"/>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530.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531.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547.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548.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552.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554.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555.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556.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558.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560.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561.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562.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563.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564.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566.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567.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568.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569.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570.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571.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572.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573.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574.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575.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576.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577.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57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0</a:t>
            </a:fld>
            <a:endParaRPr lang="ko-KR" altLang="en-US"/>
          </a:p>
        </p:txBody>
      </p:sp>
    </p:spTree>
    <p:extLst>
      <p:ext uri="{BB962C8B-B14F-4D97-AF65-F5344CB8AC3E}">
        <p14:creationId xmlns:p14="http://schemas.microsoft.com/office/powerpoint/2010/main" val="393866269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1</a:t>
            </a:fld>
            <a:endParaRPr lang="ko-KR" altLang="en-US"/>
          </a:p>
        </p:txBody>
      </p:sp>
    </p:spTree>
    <p:extLst>
      <p:ext uri="{BB962C8B-B14F-4D97-AF65-F5344CB8AC3E}">
        <p14:creationId xmlns:p14="http://schemas.microsoft.com/office/powerpoint/2010/main" val="346918447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a:t>
            </a:fld>
            <a:endParaRPr lang="ko-KR" altLang="en-US"/>
          </a:p>
        </p:txBody>
      </p:sp>
    </p:spTree>
    <p:extLst>
      <p:ext uri="{BB962C8B-B14F-4D97-AF65-F5344CB8AC3E}">
        <p14:creationId xmlns:p14="http://schemas.microsoft.com/office/powerpoint/2010/main" val="26382150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슬라이드 이미지 개체 틀 1"/>
          <p:cNvSpPr>
            <a:spLocks noGrp="1" noRot="1" noChangeAspect="1" noTextEdit="1"/>
          </p:cNvSpPr>
          <p:nvPr>
            <p:ph type="sldImg"/>
          </p:nvPr>
        </p:nvSpPr>
        <p:spPr>
          <a:ln/>
        </p:spPr>
      </p:sp>
      <p:sp>
        <p:nvSpPr>
          <p:cNvPr id="34819" name="슬라이드 노트 개체 틀 2"/>
          <p:cNvSpPr>
            <a:spLocks noGrp="1"/>
          </p:cNvSpPr>
          <p:nvPr>
            <p:ph type="body" idx="1"/>
          </p:nvPr>
        </p:nvSpPr>
        <p:spPr>
          <a:noFill/>
          <a:ln/>
        </p:spPr>
        <p:txBody>
          <a:bodyPr/>
          <a:lstStyle/>
          <a:p>
            <a:endParaRPr lang="ko-KR" altLang="en-US"/>
          </a:p>
        </p:txBody>
      </p:sp>
      <p:sp>
        <p:nvSpPr>
          <p:cNvPr id="34820" name="슬라이드 번호 개체 틀 3"/>
          <p:cNvSpPr>
            <a:spLocks noGrp="1"/>
          </p:cNvSpPr>
          <p:nvPr>
            <p:ph type="sldNum" sz="quarter" idx="5"/>
          </p:nvPr>
        </p:nvSpPr>
        <p:spPr>
          <a:noFill/>
        </p:spPr>
        <p:txBody>
          <a:bodyPr/>
          <a:lstStyle/>
          <a:p>
            <a:fld id="{2368A6AE-AA83-40F7-9164-AFA1096595C9}" type="slidenum">
              <a:rPr lang="ko-KR" altLang="en-US" smtClean="0"/>
              <a:pPr/>
              <a:t>4</a:t>
            </a:fld>
            <a:endParaRPr lang="ko-KR" altLang="en-US"/>
          </a:p>
        </p:txBody>
      </p:sp>
    </p:spTree>
    <p:extLst>
      <p:ext uri="{BB962C8B-B14F-4D97-AF65-F5344CB8AC3E}">
        <p14:creationId xmlns:p14="http://schemas.microsoft.com/office/powerpoint/2010/main" val="274806874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슬라이드 이미지 개체 틀 1"/>
          <p:cNvSpPr>
            <a:spLocks noGrp="1" noRot="1" noChangeAspect="1" noTextEdit="1"/>
          </p:cNvSpPr>
          <p:nvPr>
            <p:ph type="sldImg"/>
          </p:nvPr>
        </p:nvSpPr>
        <p:spPr>
          <a:ln/>
        </p:spPr>
      </p:sp>
      <p:sp>
        <p:nvSpPr>
          <p:cNvPr id="34819" name="슬라이드 노트 개체 틀 2"/>
          <p:cNvSpPr>
            <a:spLocks noGrp="1"/>
          </p:cNvSpPr>
          <p:nvPr>
            <p:ph type="body" idx="1"/>
          </p:nvPr>
        </p:nvSpPr>
        <p:spPr>
          <a:noFill/>
          <a:ln/>
        </p:spPr>
        <p:txBody>
          <a:bodyPr/>
          <a:lstStyle/>
          <a:p>
            <a:endParaRPr lang="ko-KR" altLang="en-US"/>
          </a:p>
        </p:txBody>
      </p:sp>
      <p:sp>
        <p:nvSpPr>
          <p:cNvPr id="34820" name="슬라이드 번호 개체 틀 3"/>
          <p:cNvSpPr>
            <a:spLocks noGrp="1"/>
          </p:cNvSpPr>
          <p:nvPr>
            <p:ph type="sldNum" sz="quarter" idx="5"/>
          </p:nvPr>
        </p:nvSpPr>
        <p:spPr>
          <a:noFill/>
        </p:spPr>
        <p:txBody>
          <a:bodyPr/>
          <a:lstStyle/>
          <a:p>
            <a:fld id="{2368A6AE-AA83-40F7-9164-AFA1096595C9}" type="slidenum">
              <a:rPr lang="ko-KR" altLang="en-US" smtClean="0"/>
              <a:pPr/>
              <a:t>5</a:t>
            </a:fld>
            <a:endParaRPr lang="ko-KR" altLang="en-US"/>
          </a:p>
        </p:txBody>
      </p:sp>
    </p:spTree>
    <p:extLst>
      <p:ext uri="{BB962C8B-B14F-4D97-AF65-F5344CB8AC3E}">
        <p14:creationId xmlns:p14="http://schemas.microsoft.com/office/powerpoint/2010/main" val="274806874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6</a:t>
            </a:fld>
            <a:endParaRPr lang="ko-KR" altLang="en-US"/>
          </a:p>
        </p:txBody>
      </p:sp>
    </p:spTree>
    <p:extLst>
      <p:ext uri="{BB962C8B-B14F-4D97-AF65-F5344CB8AC3E}">
        <p14:creationId xmlns:p14="http://schemas.microsoft.com/office/powerpoint/2010/main" val="144769844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7</a:t>
            </a:fld>
            <a:endParaRPr lang="ko-KR" altLang="en-US"/>
          </a:p>
        </p:txBody>
      </p:sp>
    </p:spTree>
    <p:extLst>
      <p:ext uri="{BB962C8B-B14F-4D97-AF65-F5344CB8AC3E}">
        <p14:creationId xmlns:p14="http://schemas.microsoft.com/office/powerpoint/2010/main" val="68985204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8</a:t>
            </a:fld>
            <a:endParaRPr lang="ko-KR" altLang="en-US"/>
          </a:p>
        </p:txBody>
      </p:sp>
    </p:spTree>
    <p:extLst>
      <p:ext uri="{BB962C8B-B14F-4D97-AF65-F5344CB8AC3E}">
        <p14:creationId xmlns:p14="http://schemas.microsoft.com/office/powerpoint/2010/main" val="372870803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9</a:t>
            </a:fld>
            <a:endParaRPr lang="ko-KR" altLang="en-US"/>
          </a:p>
        </p:txBody>
      </p:sp>
    </p:spTree>
    <p:extLst>
      <p:ext uri="{BB962C8B-B14F-4D97-AF65-F5344CB8AC3E}">
        <p14:creationId xmlns:p14="http://schemas.microsoft.com/office/powerpoint/2010/main" val="18913536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10</a:t>
            </a:fld>
            <a:endParaRPr lang="ko-KR" altLang="en-US"/>
          </a:p>
        </p:txBody>
      </p:sp>
    </p:spTree>
    <p:extLst>
      <p:ext uri="{BB962C8B-B14F-4D97-AF65-F5344CB8AC3E}">
        <p14:creationId xmlns:p14="http://schemas.microsoft.com/office/powerpoint/2010/main" val="202291088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11</a:t>
            </a:fld>
            <a:endParaRPr lang="ko-KR" altLang="en-US"/>
          </a:p>
        </p:txBody>
      </p:sp>
    </p:spTree>
    <p:extLst>
      <p:ext uri="{BB962C8B-B14F-4D97-AF65-F5344CB8AC3E}">
        <p14:creationId xmlns:p14="http://schemas.microsoft.com/office/powerpoint/2010/main" val="45240882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12</a:t>
            </a:fld>
            <a:endParaRPr lang="ko-KR" altLang="en-US"/>
          </a:p>
        </p:txBody>
      </p:sp>
    </p:spTree>
    <p:extLst>
      <p:ext uri="{BB962C8B-B14F-4D97-AF65-F5344CB8AC3E}">
        <p14:creationId xmlns:p14="http://schemas.microsoft.com/office/powerpoint/2010/main" val="105744769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13</a:t>
            </a:fld>
            <a:endParaRPr lang="ko-KR" altLang="en-US"/>
          </a:p>
        </p:txBody>
      </p:sp>
    </p:spTree>
    <p:extLst>
      <p:ext uri="{BB962C8B-B14F-4D97-AF65-F5344CB8AC3E}">
        <p14:creationId xmlns:p14="http://schemas.microsoft.com/office/powerpoint/2010/main" val="54498267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14</a:t>
            </a:fld>
            <a:endParaRPr lang="ko-KR" altLang="en-US"/>
          </a:p>
        </p:txBody>
      </p:sp>
    </p:spTree>
    <p:extLst>
      <p:ext uri="{BB962C8B-B14F-4D97-AF65-F5344CB8AC3E}">
        <p14:creationId xmlns:p14="http://schemas.microsoft.com/office/powerpoint/2010/main" val="420722543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15</a:t>
            </a:fld>
            <a:endParaRPr lang="ko-KR" altLang="en-US"/>
          </a:p>
        </p:txBody>
      </p:sp>
    </p:spTree>
    <p:extLst>
      <p:ext uri="{BB962C8B-B14F-4D97-AF65-F5344CB8AC3E}">
        <p14:creationId xmlns:p14="http://schemas.microsoft.com/office/powerpoint/2010/main" val="369794315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16</a:t>
            </a:fld>
            <a:endParaRPr lang="ko-KR" altLang="en-US"/>
          </a:p>
        </p:txBody>
      </p:sp>
    </p:spTree>
    <p:extLst>
      <p:ext uri="{BB962C8B-B14F-4D97-AF65-F5344CB8AC3E}">
        <p14:creationId xmlns:p14="http://schemas.microsoft.com/office/powerpoint/2010/main" val="249983306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17</a:t>
            </a:fld>
            <a:endParaRPr lang="ko-KR" altLang="en-US"/>
          </a:p>
        </p:txBody>
      </p:sp>
    </p:spTree>
    <p:extLst>
      <p:ext uri="{BB962C8B-B14F-4D97-AF65-F5344CB8AC3E}">
        <p14:creationId xmlns:p14="http://schemas.microsoft.com/office/powerpoint/2010/main" val="65825085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18</a:t>
            </a:fld>
            <a:endParaRPr lang="ko-KR" altLang="en-US"/>
          </a:p>
        </p:txBody>
      </p:sp>
    </p:spTree>
    <p:extLst>
      <p:ext uri="{BB962C8B-B14F-4D97-AF65-F5344CB8AC3E}">
        <p14:creationId xmlns:p14="http://schemas.microsoft.com/office/powerpoint/2010/main" val="419693689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19</a:t>
            </a:fld>
            <a:endParaRPr lang="ko-KR" altLang="en-US"/>
          </a:p>
        </p:txBody>
      </p:sp>
    </p:spTree>
    <p:extLst>
      <p:ext uri="{BB962C8B-B14F-4D97-AF65-F5344CB8AC3E}">
        <p14:creationId xmlns:p14="http://schemas.microsoft.com/office/powerpoint/2010/main" val="178330750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20</a:t>
            </a:fld>
            <a:endParaRPr lang="ko-KR" altLang="en-US"/>
          </a:p>
        </p:txBody>
      </p:sp>
    </p:spTree>
    <p:extLst>
      <p:ext uri="{BB962C8B-B14F-4D97-AF65-F5344CB8AC3E}">
        <p14:creationId xmlns:p14="http://schemas.microsoft.com/office/powerpoint/2010/main" val="236080398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21</a:t>
            </a:fld>
            <a:endParaRPr lang="ko-KR" altLang="en-US"/>
          </a:p>
        </p:txBody>
      </p:sp>
    </p:spTree>
    <p:extLst>
      <p:ext uri="{BB962C8B-B14F-4D97-AF65-F5344CB8AC3E}">
        <p14:creationId xmlns:p14="http://schemas.microsoft.com/office/powerpoint/2010/main" val="394025322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22</a:t>
            </a:fld>
            <a:endParaRPr lang="ko-KR" altLang="en-US"/>
          </a:p>
        </p:txBody>
      </p:sp>
    </p:spTree>
    <p:extLst>
      <p:ext uri="{BB962C8B-B14F-4D97-AF65-F5344CB8AC3E}">
        <p14:creationId xmlns:p14="http://schemas.microsoft.com/office/powerpoint/2010/main" val="128539447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23</a:t>
            </a:fld>
            <a:endParaRPr lang="ko-KR" altLang="en-US"/>
          </a:p>
        </p:txBody>
      </p:sp>
    </p:spTree>
    <p:extLst>
      <p:ext uri="{BB962C8B-B14F-4D97-AF65-F5344CB8AC3E}">
        <p14:creationId xmlns:p14="http://schemas.microsoft.com/office/powerpoint/2010/main" val="127639931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25</a:t>
            </a:fld>
            <a:endParaRPr lang="ko-KR" altLang="en-US"/>
          </a:p>
        </p:txBody>
      </p:sp>
    </p:spTree>
    <p:extLst>
      <p:ext uri="{BB962C8B-B14F-4D97-AF65-F5344CB8AC3E}">
        <p14:creationId xmlns:p14="http://schemas.microsoft.com/office/powerpoint/2010/main" val="278063591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26</a:t>
            </a:fld>
            <a:endParaRPr lang="ko-KR" altLang="en-US"/>
          </a:p>
        </p:txBody>
      </p:sp>
    </p:spTree>
    <p:extLst>
      <p:ext uri="{BB962C8B-B14F-4D97-AF65-F5344CB8AC3E}">
        <p14:creationId xmlns:p14="http://schemas.microsoft.com/office/powerpoint/2010/main" val="112496756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27</a:t>
            </a:fld>
            <a:endParaRPr lang="ko-KR" altLang="en-US"/>
          </a:p>
        </p:txBody>
      </p:sp>
    </p:spTree>
    <p:extLst>
      <p:ext uri="{BB962C8B-B14F-4D97-AF65-F5344CB8AC3E}">
        <p14:creationId xmlns:p14="http://schemas.microsoft.com/office/powerpoint/2010/main" val="270338322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28</a:t>
            </a:fld>
            <a:endParaRPr lang="ko-KR" altLang="en-US"/>
          </a:p>
        </p:txBody>
      </p:sp>
    </p:spTree>
    <p:extLst>
      <p:ext uri="{BB962C8B-B14F-4D97-AF65-F5344CB8AC3E}">
        <p14:creationId xmlns:p14="http://schemas.microsoft.com/office/powerpoint/2010/main" val="189552243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29</a:t>
            </a:fld>
            <a:endParaRPr lang="ko-KR" altLang="en-US"/>
          </a:p>
        </p:txBody>
      </p:sp>
    </p:spTree>
    <p:extLst>
      <p:ext uri="{BB962C8B-B14F-4D97-AF65-F5344CB8AC3E}">
        <p14:creationId xmlns:p14="http://schemas.microsoft.com/office/powerpoint/2010/main" val="73829462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30</a:t>
            </a:fld>
            <a:endParaRPr lang="ko-KR" altLang="en-US"/>
          </a:p>
        </p:txBody>
      </p:sp>
    </p:spTree>
    <p:extLst>
      <p:ext uri="{BB962C8B-B14F-4D97-AF65-F5344CB8AC3E}">
        <p14:creationId xmlns:p14="http://schemas.microsoft.com/office/powerpoint/2010/main" val="346316978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31</a:t>
            </a:fld>
            <a:endParaRPr lang="ko-KR" altLang="en-US"/>
          </a:p>
        </p:txBody>
      </p:sp>
    </p:spTree>
    <p:extLst>
      <p:ext uri="{BB962C8B-B14F-4D97-AF65-F5344CB8AC3E}">
        <p14:creationId xmlns:p14="http://schemas.microsoft.com/office/powerpoint/2010/main" val="329298738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32</a:t>
            </a:fld>
            <a:endParaRPr lang="ko-KR" altLang="en-US"/>
          </a:p>
        </p:txBody>
      </p:sp>
    </p:spTree>
    <p:extLst>
      <p:ext uri="{BB962C8B-B14F-4D97-AF65-F5344CB8AC3E}">
        <p14:creationId xmlns:p14="http://schemas.microsoft.com/office/powerpoint/2010/main" val="175873814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33</a:t>
            </a:fld>
            <a:endParaRPr lang="ko-KR" altLang="en-US"/>
          </a:p>
        </p:txBody>
      </p:sp>
    </p:spTree>
    <p:extLst>
      <p:ext uri="{BB962C8B-B14F-4D97-AF65-F5344CB8AC3E}">
        <p14:creationId xmlns:p14="http://schemas.microsoft.com/office/powerpoint/2010/main" val="418284375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34</a:t>
            </a:fld>
            <a:endParaRPr lang="ko-KR" altLang="en-US"/>
          </a:p>
        </p:txBody>
      </p:sp>
    </p:spTree>
    <p:extLst>
      <p:ext uri="{BB962C8B-B14F-4D97-AF65-F5344CB8AC3E}">
        <p14:creationId xmlns:p14="http://schemas.microsoft.com/office/powerpoint/2010/main" val="377093407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35</a:t>
            </a:fld>
            <a:endParaRPr lang="ko-KR" altLang="en-US"/>
          </a:p>
        </p:txBody>
      </p:sp>
    </p:spTree>
    <p:extLst>
      <p:ext uri="{BB962C8B-B14F-4D97-AF65-F5344CB8AC3E}">
        <p14:creationId xmlns:p14="http://schemas.microsoft.com/office/powerpoint/2010/main" val="117211943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36</a:t>
            </a:fld>
            <a:endParaRPr lang="ko-KR" altLang="en-US"/>
          </a:p>
        </p:txBody>
      </p:sp>
    </p:spTree>
    <p:extLst>
      <p:ext uri="{BB962C8B-B14F-4D97-AF65-F5344CB8AC3E}">
        <p14:creationId xmlns:p14="http://schemas.microsoft.com/office/powerpoint/2010/main" val="403164628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37</a:t>
            </a:fld>
            <a:endParaRPr lang="ko-KR" altLang="en-US"/>
          </a:p>
        </p:txBody>
      </p:sp>
    </p:spTree>
    <p:extLst>
      <p:ext uri="{BB962C8B-B14F-4D97-AF65-F5344CB8AC3E}">
        <p14:creationId xmlns:p14="http://schemas.microsoft.com/office/powerpoint/2010/main" val="231268943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38</a:t>
            </a:fld>
            <a:endParaRPr lang="ko-KR" altLang="en-US"/>
          </a:p>
        </p:txBody>
      </p:sp>
    </p:spTree>
    <p:extLst>
      <p:ext uri="{BB962C8B-B14F-4D97-AF65-F5344CB8AC3E}">
        <p14:creationId xmlns:p14="http://schemas.microsoft.com/office/powerpoint/2010/main" val="224658149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39</a:t>
            </a:fld>
            <a:endParaRPr lang="ko-KR" altLang="en-US"/>
          </a:p>
        </p:txBody>
      </p:sp>
    </p:spTree>
    <p:extLst>
      <p:ext uri="{BB962C8B-B14F-4D97-AF65-F5344CB8AC3E}">
        <p14:creationId xmlns:p14="http://schemas.microsoft.com/office/powerpoint/2010/main" val="421555042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B45BA8-0018-E38E-8D71-2B5EAD8439E6}"/>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43F4D0D-A059-9390-5D5B-0AFF6F733D35}"/>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CEDCF1F1-6A27-ED98-EBFF-574FFF6A8022}"/>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3B3CEBDF-EEA1-3A32-78B3-7F1D761069DF}"/>
              </a:ext>
            </a:extLst>
          </p:cNvPr>
          <p:cNvSpPr>
            <a:spLocks noGrp="1"/>
          </p:cNvSpPr>
          <p:nvPr>
            <p:ph type="sldNum" sz="quarter" idx="10"/>
          </p:nvPr>
        </p:nvSpPr>
        <p:spPr/>
        <p:txBody>
          <a:bodyPr/>
          <a:lstStyle/>
          <a:p>
            <a:fld id="{30C005C8-BD53-41EA-B159-BC12A6DFFB7D}" type="slidenum">
              <a:rPr lang="ko-KR" altLang="en-US" smtClean="0"/>
              <a:t>40</a:t>
            </a:fld>
            <a:endParaRPr lang="ko-KR" altLang="en-US"/>
          </a:p>
        </p:txBody>
      </p:sp>
    </p:spTree>
    <p:extLst>
      <p:ext uri="{BB962C8B-B14F-4D97-AF65-F5344CB8AC3E}">
        <p14:creationId xmlns:p14="http://schemas.microsoft.com/office/powerpoint/2010/main" val="96246049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41</a:t>
            </a:fld>
            <a:endParaRPr lang="ko-KR" altLang="en-US"/>
          </a:p>
        </p:txBody>
      </p:sp>
    </p:spTree>
    <p:extLst>
      <p:ext uri="{BB962C8B-B14F-4D97-AF65-F5344CB8AC3E}">
        <p14:creationId xmlns:p14="http://schemas.microsoft.com/office/powerpoint/2010/main" val="231136773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42</a:t>
            </a:fld>
            <a:endParaRPr lang="ko-KR" altLang="en-US"/>
          </a:p>
        </p:txBody>
      </p:sp>
    </p:spTree>
    <p:extLst>
      <p:ext uri="{BB962C8B-B14F-4D97-AF65-F5344CB8AC3E}">
        <p14:creationId xmlns:p14="http://schemas.microsoft.com/office/powerpoint/2010/main" val="85851231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43</a:t>
            </a:fld>
            <a:endParaRPr lang="ko-KR" altLang="en-US"/>
          </a:p>
        </p:txBody>
      </p:sp>
    </p:spTree>
    <p:extLst>
      <p:ext uri="{BB962C8B-B14F-4D97-AF65-F5344CB8AC3E}">
        <p14:creationId xmlns:p14="http://schemas.microsoft.com/office/powerpoint/2010/main" val="144792413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44</a:t>
            </a:fld>
            <a:endParaRPr lang="ko-KR" altLang="en-US"/>
          </a:p>
        </p:txBody>
      </p:sp>
    </p:spTree>
    <p:extLst>
      <p:ext uri="{BB962C8B-B14F-4D97-AF65-F5344CB8AC3E}">
        <p14:creationId xmlns:p14="http://schemas.microsoft.com/office/powerpoint/2010/main" val="268823225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45</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46</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47</a:t>
            </a:fld>
            <a:endParaRPr lang="ko-KR" altLang="en-US"/>
          </a:p>
        </p:txBody>
      </p:sp>
    </p:spTree>
    <p:extLst>
      <p:ext uri="{BB962C8B-B14F-4D97-AF65-F5344CB8AC3E}">
        <p14:creationId xmlns:p14="http://schemas.microsoft.com/office/powerpoint/2010/main" val="104702519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48</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49</a:t>
            </a:fld>
            <a:endParaRPr lang="ko-KR" altLang="en-US"/>
          </a:p>
        </p:txBody>
      </p:sp>
    </p:spTree>
    <p:extLst>
      <p:ext uri="{BB962C8B-B14F-4D97-AF65-F5344CB8AC3E}">
        <p14:creationId xmlns:p14="http://schemas.microsoft.com/office/powerpoint/2010/main" val="175049499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50</a:t>
            </a:fld>
            <a:endParaRPr lang="ko-KR" altLang="en-US"/>
          </a:p>
        </p:txBody>
      </p:sp>
    </p:spTree>
    <p:extLst>
      <p:ext uri="{BB962C8B-B14F-4D97-AF65-F5344CB8AC3E}">
        <p14:creationId xmlns:p14="http://schemas.microsoft.com/office/powerpoint/2010/main" val="269304670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53</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346918447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69</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306873922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73</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255381543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89</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223765768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90</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55536393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91</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309853570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100</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101</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102</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105</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106</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74015199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108</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109</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110</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287248848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111</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59362948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112</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115</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425220744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116</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221893631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117</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118</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119</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222689422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120</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121</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233976338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122</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123</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42965226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124</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125</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251744053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128</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05744769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129</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130</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131</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401403939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132</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133</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46008567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134</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135</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136</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7671393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137</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265137559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138</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139</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140</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141</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308194473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142</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85614256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143</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144</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208628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145</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146</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Rix모던고딕 L" panose="02020603020101020101" pitchFamily="18" charset="-127"/>
                <a:ea typeface="Rix모던고딕 L" panose="02020603020101020101" pitchFamily="18"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147</a:t>
            </a:fld>
            <a:endParaRPr kumimoji="0" lang="ko-KR" altLang="en-US" sz="1200" b="0" i="0" u="none" strike="noStrike" kern="1200" cap="none" spc="0" normalizeH="0" baseline="0" noProof="0">
              <a:ln>
                <a:noFill/>
              </a:ln>
              <a:solidFill>
                <a:prstClr val="black"/>
              </a:solidFill>
              <a:effectLst/>
              <a:uLnTx/>
              <a:uFillTx/>
              <a:latin typeface="Rix모던고딕 L" panose="02020603020101020101" pitchFamily="18" charset="-127"/>
              <a:ea typeface="Rix모던고딕 L" panose="02020603020101020101" pitchFamily="18" charset="-127"/>
              <a:cs typeface="+mn-cs"/>
            </a:endParaRPr>
          </a:p>
        </p:txBody>
      </p:sp>
    </p:spTree>
    <p:extLst>
      <p:ext uri="{BB962C8B-B14F-4D97-AF65-F5344CB8AC3E}">
        <p14:creationId xmlns:p14="http://schemas.microsoft.com/office/powerpoint/2010/main" val="151288024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151</a:t>
            </a:fld>
            <a:endParaRPr lang="ko-KR" altLang="en-US"/>
          </a:p>
        </p:txBody>
      </p:sp>
    </p:spTree>
    <p:extLst>
      <p:ext uri="{BB962C8B-B14F-4D97-AF65-F5344CB8AC3E}">
        <p14:creationId xmlns:p14="http://schemas.microsoft.com/office/powerpoint/2010/main" val="3469184475"/>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204</a:t>
            </a:fld>
            <a:endParaRPr lang="ko-KR" altLang="en-US"/>
          </a:p>
        </p:txBody>
      </p:sp>
    </p:spTree>
    <p:extLst>
      <p:ext uri="{BB962C8B-B14F-4D97-AF65-F5344CB8AC3E}">
        <p14:creationId xmlns:p14="http://schemas.microsoft.com/office/powerpoint/2010/main" val="344292532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206</a:t>
            </a:fld>
            <a:endParaRPr lang="ko-KR" altLang="en-US"/>
          </a:p>
        </p:txBody>
      </p:sp>
    </p:spTree>
    <p:extLst>
      <p:ext uri="{BB962C8B-B14F-4D97-AF65-F5344CB8AC3E}">
        <p14:creationId xmlns:p14="http://schemas.microsoft.com/office/powerpoint/2010/main" val="169607484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208</a:t>
            </a:fld>
            <a:endParaRPr lang="ko-KR" altLang="en-US"/>
          </a:p>
        </p:txBody>
      </p:sp>
    </p:spTree>
    <p:extLst>
      <p:ext uri="{BB962C8B-B14F-4D97-AF65-F5344CB8AC3E}">
        <p14:creationId xmlns:p14="http://schemas.microsoft.com/office/powerpoint/2010/main" val="85878668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209</a:t>
            </a:fld>
            <a:endParaRPr lang="ko-KR" altLang="en-US"/>
          </a:p>
        </p:txBody>
      </p:sp>
    </p:spTree>
    <p:extLst>
      <p:ext uri="{BB962C8B-B14F-4D97-AF65-F5344CB8AC3E}">
        <p14:creationId xmlns:p14="http://schemas.microsoft.com/office/powerpoint/2010/main" val="26814570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211</a:t>
            </a:fld>
            <a:endParaRPr lang="ko-KR" altLang="en-US"/>
          </a:p>
        </p:txBody>
      </p:sp>
    </p:spTree>
    <p:extLst>
      <p:ext uri="{BB962C8B-B14F-4D97-AF65-F5344CB8AC3E}">
        <p14:creationId xmlns:p14="http://schemas.microsoft.com/office/powerpoint/2010/main" val="85878668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5"/>
          </p:nvPr>
        </p:nvSpPr>
        <p:spPr/>
        <p:txBody>
          <a:bodyPr/>
          <a:lstStyle/>
          <a:p>
            <a:fld id="{30C005C8-BD53-41EA-B159-BC12A6DFFB7D}" type="slidenum">
              <a:rPr lang="ko-KR" altLang="en-US" smtClean="0"/>
              <a:t>240</a:t>
            </a:fld>
            <a:endParaRPr lang="ko-KR" altLang="en-US"/>
          </a:p>
        </p:txBody>
      </p:sp>
    </p:spTree>
    <p:extLst>
      <p:ext uri="{BB962C8B-B14F-4D97-AF65-F5344CB8AC3E}">
        <p14:creationId xmlns:p14="http://schemas.microsoft.com/office/powerpoint/2010/main" val="1308209312"/>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245</a:t>
            </a:fld>
            <a:endParaRPr lang="ko-KR" altLang="en-US"/>
          </a:p>
        </p:txBody>
      </p:sp>
    </p:spTree>
    <p:extLst>
      <p:ext uri="{BB962C8B-B14F-4D97-AF65-F5344CB8AC3E}">
        <p14:creationId xmlns:p14="http://schemas.microsoft.com/office/powerpoint/2010/main" val="151450712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246</a:t>
            </a:fld>
            <a:endParaRPr lang="ko-KR" altLang="en-US"/>
          </a:p>
        </p:txBody>
      </p:sp>
    </p:spTree>
    <p:extLst>
      <p:ext uri="{BB962C8B-B14F-4D97-AF65-F5344CB8AC3E}">
        <p14:creationId xmlns:p14="http://schemas.microsoft.com/office/powerpoint/2010/main" val="252383108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247</a:t>
            </a:fld>
            <a:endParaRPr lang="ko-KR" altLang="en-US"/>
          </a:p>
        </p:txBody>
      </p:sp>
    </p:spTree>
    <p:extLst>
      <p:ext uri="{BB962C8B-B14F-4D97-AF65-F5344CB8AC3E}">
        <p14:creationId xmlns:p14="http://schemas.microsoft.com/office/powerpoint/2010/main" val="3658780608"/>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251</a:t>
            </a:fld>
            <a:endParaRPr lang="ko-KR" altLang="en-US"/>
          </a:p>
        </p:txBody>
      </p:sp>
    </p:spTree>
    <p:extLst>
      <p:ext uri="{BB962C8B-B14F-4D97-AF65-F5344CB8AC3E}">
        <p14:creationId xmlns:p14="http://schemas.microsoft.com/office/powerpoint/2010/main" val="346918447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267</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268</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269</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270</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271</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272</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273</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278</a:t>
            </a:fld>
            <a:endParaRPr lang="ko-KR" altLang="en-US"/>
          </a:p>
        </p:txBody>
      </p:sp>
    </p:spTree>
    <p:extLst>
      <p:ext uri="{BB962C8B-B14F-4D97-AF65-F5344CB8AC3E}">
        <p14:creationId xmlns:p14="http://schemas.microsoft.com/office/powerpoint/2010/main" val="277698929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279</a:t>
            </a:fld>
            <a:endParaRPr lang="ko-KR" altLang="en-US"/>
          </a:p>
        </p:txBody>
      </p:sp>
    </p:spTree>
    <p:extLst>
      <p:ext uri="{BB962C8B-B14F-4D97-AF65-F5344CB8AC3E}">
        <p14:creationId xmlns:p14="http://schemas.microsoft.com/office/powerpoint/2010/main" val="990126177"/>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280</a:t>
            </a:fld>
            <a:endParaRPr lang="ko-KR" altLang="en-US"/>
          </a:p>
        </p:txBody>
      </p:sp>
    </p:spTree>
    <p:extLst>
      <p:ext uri="{BB962C8B-B14F-4D97-AF65-F5344CB8AC3E}">
        <p14:creationId xmlns:p14="http://schemas.microsoft.com/office/powerpoint/2010/main" val="423916160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283</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284</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287</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288</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289</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290</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dirty="0">
              <a:latin typeface="Rix모던고딕 L" panose="02020603020101020101" pitchFamily="18" charset="-127"/>
              <a:ea typeface="Rix모던고딕 L" panose="02020603020101020101" pitchFamily="18" charset="-127"/>
            </a:endParaRPr>
          </a:p>
        </p:txBody>
      </p:sp>
      <p:sp>
        <p:nvSpPr>
          <p:cNvPr id="136196" name="슬라이드 번호 개체 틀 3"/>
          <p:cNvSpPr>
            <a:spLocks noGrp="1"/>
          </p:cNvSpPr>
          <p:nvPr>
            <p:ph type="sldNum" sz="quarter" idx="5"/>
          </p:nvPr>
        </p:nvSpPr>
        <p:spPr>
          <a:noFill/>
        </p:spPr>
        <p:txBody>
          <a:bodyPr/>
          <a:lstStyle/>
          <a:p>
            <a:fld id="{01AD53DB-3456-474F-B3C9-2433955C3C87}" type="slidenum">
              <a:rPr lang="en-US" altLang="ko-KR" smtClean="0">
                <a:latin typeface="Rix모던고딕 L" panose="02020603020101020101" pitchFamily="18" charset="-127"/>
                <a:ea typeface="Rix모던고딕 L" panose="02020603020101020101" pitchFamily="18" charset="-127"/>
              </a:rPr>
              <a:pPr/>
              <a:t>291</a:t>
            </a:fld>
            <a:endParaRPr lang="en-US" altLang="ko-KR" dirty="0">
              <a:latin typeface="Rix모던고딕 L" panose="02020603020101020101" pitchFamily="18" charset="-127"/>
              <a:ea typeface="Rix모던고딕 L" panose="02020603020101020101" pitchFamily="18" charset="-127"/>
            </a:endParaRPr>
          </a:p>
        </p:txBody>
      </p:sp>
    </p:spTree>
    <p:extLst>
      <p:ext uri="{BB962C8B-B14F-4D97-AF65-F5344CB8AC3E}">
        <p14:creationId xmlns:p14="http://schemas.microsoft.com/office/powerpoint/2010/main" val="122897979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dirty="0">
              <a:latin typeface="Rix모던고딕 L" panose="02020603020101020101" pitchFamily="18" charset="-127"/>
              <a:ea typeface="Rix모던고딕 L" panose="02020603020101020101" pitchFamily="18" charset="-127"/>
            </a:endParaRPr>
          </a:p>
        </p:txBody>
      </p:sp>
      <p:sp>
        <p:nvSpPr>
          <p:cNvPr id="136196" name="슬라이드 번호 개체 틀 3"/>
          <p:cNvSpPr>
            <a:spLocks noGrp="1"/>
          </p:cNvSpPr>
          <p:nvPr>
            <p:ph type="sldNum" sz="quarter" idx="5"/>
          </p:nvPr>
        </p:nvSpPr>
        <p:spPr>
          <a:noFill/>
        </p:spPr>
        <p:txBody>
          <a:bodyPr/>
          <a:lstStyle/>
          <a:p>
            <a:fld id="{01AD53DB-3456-474F-B3C9-2433955C3C87}" type="slidenum">
              <a:rPr lang="en-US" altLang="ko-KR" smtClean="0">
                <a:latin typeface="Rix모던고딕 L" panose="02020603020101020101" pitchFamily="18" charset="-127"/>
                <a:ea typeface="Rix모던고딕 L" panose="02020603020101020101" pitchFamily="18" charset="-127"/>
              </a:rPr>
              <a:pPr/>
              <a:t>292</a:t>
            </a:fld>
            <a:endParaRPr lang="en-US" altLang="ko-KR" dirty="0">
              <a:latin typeface="Rix모던고딕 L" panose="02020603020101020101" pitchFamily="18" charset="-127"/>
              <a:ea typeface="Rix모던고딕 L" panose="02020603020101020101" pitchFamily="18" charset="-127"/>
            </a:endParaRPr>
          </a:p>
        </p:txBody>
      </p:sp>
    </p:spTree>
    <p:extLst>
      <p:ext uri="{BB962C8B-B14F-4D97-AF65-F5344CB8AC3E}">
        <p14:creationId xmlns:p14="http://schemas.microsoft.com/office/powerpoint/2010/main" val="122897979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295</a:t>
            </a:fld>
            <a:endParaRPr lang="ko-KR" altLang="en-US"/>
          </a:p>
        </p:txBody>
      </p:sp>
    </p:spTree>
    <p:extLst>
      <p:ext uri="{BB962C8B-B14F-4D97-AF65-F5344CB8AC3E}">
        <p14:creationId xmlns:p14="http://schemas.microsoft.com/office/powerpoint/2010/main" val="346918447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317</a:t>
            </a:fld>
            <a:endParaRPr lang="ko-KR" altLang="en-US"/>
          </a:p>
        </p:txBody>
      </p:sp>
    </p:spTree>
    <p:extLst>
      <p:ext uri="{BB962C8B-B14F-4D97-AF65-F5344CB8AC3E}">
        <p14:creationId xmlns:p14="http://schemas.microsoft.com/office/powerpoint/2010/main" val="3366200202"/>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F58882-A3B7-EA01-2C28-44E8E6032ACA}"/>
            </a:ext>
          </a:extLst>
        </p:cNvPr>
        <p:cNvGrpSpPr/>
        <p:nvPr/>
      </p:nvGrpSpPr>
      <p:grpSpPr>
        <a:xfrm>
          <a:off x="0" y="0"/>
          <a:ext cx="0" cy="0"/>
          <a:chOff x="0" y="0"/>
          <a:chExt cx="0" cy="0"/>
        </a:xfrm>
      </p:grpSpPr>
      <p:sp>
        <p:nvSpPr>
          <p:cNvPr id="129026" name="슬라이드 이미지 개체 틀 1">
            <a:extLst>
              <a:ext uri="{FF2B5EF4-FFF2-40B4-BE49-F238E27FC236}">
                <a16:creationId xmlns:a16="http://schemas.microsoft.com/office/drawing/2014/main" id="{B1DD0B34-EA1C-EBF2-4194-2D8E6FED95B6}"/>
              </a:ext>
            </a:extLst>
          </p:cNvPr>
          <p:cNvSpPr>
            <a:spLocks noGrp="1" noRot="1" noChangeAspect="1" noTextEdit="1"/>
          </p:cNvSpPr>
          <p:nvPr>
            <p:ph type="sldImg"/>
          </p:nvPr>
        </p:nvSpPr>
        <p:spPr>
          <a:ln/>
        </p:spPr>
      </p:sp>
      <p:sp>
        <p:nvSpPr>
          <p:cNvPr id="129027" name="슬라이드 노트 개체 틀 2">
            <a:extLst>
              <a:ext uri="{FF2B5EF4-FFF2-40B4-BE49-F238E27FC236}">
                <a16:creationId xmlns:a16="http://schemas.microsoft.com/office/drawing/2014/main" id="{7CECEBE4-5009-5DC6-7BEC-B3A33DD47F78}"/>
              </a:ext>
            </a:extLst>
          </p:cNvPr>
          <p:cNvSpPr>
            <a:spLocks noGrp="1"/>
          </p:cNvSpPr>
          <p:nvPr>
            <p:ph type="body" idx="1"/>
          </p:nvPr>
        </p:nvSpPr>
        <p:spPr>
          <a:noFill/>
          <a:ln/>
        </p:spPr>
        <p:txBody>
          <a:bodyPr/>
          <a:lstStyle/>
          <a:p>
            <a:endParaRPr lang="ko-KR" altLang="en-US" dirty="0"/>
          </a:p>
        </p:txBody>
      </p:sp>
      <p:sp>
        <p:nvSpPr>
          <p:cNvPr id="129028" name="슬라이드 번호 개체 틀 3">
            <a:extLst>
              <a:ext uri="{FF2B5EF4-FFF2-40B4-BE49-F238E27FC236}">
                <a16:creationId xmlns:a16="http://schemas.microsoft.com/office/drawing/2014/main" id="{A205E1B1-15E7-29F4-4E77-97B3A0A22C0A}"/>
              </a:ext>
            </a:extLst>
          </p:cNvPr>
          <p:cNvSpPr>
            <a:spLocks noGrp="1"/>
          </p:cNvSpPr>
          <p:nvPr>
            <p:ph type="sldNum" sz="quarter" idx="5"/>
          </p:nvPr>
        </p:nvSpPr>
        <p:spPr>
          <a:noFill/>
        </p:spPr>
        <p:txBody>
          <a:bodyPr/>
          <a:lstStyle/>
          <a:p>
            <a:fld id="{0FEF4288-44A2-476D-940D-77CB62538A16}" type="slidenum">
              <a:rPr lang="en-US" altLang="ko-KR" smtClean="0"/>
              <a:pPr/>
              <a:t>324</a:t>
            </a:fld>
            <a:endParaRPr lang="en-US" altLang="ko-KR" dirty="0"/>
          </a:p>
        </p:txBody>
      </p:sp>
    </p:spTree>
    <p:extLst>
      <p:ext uri="{BB962C8B-B14F-4D97-AF65-F5344CB8AC3E}">
        <p14:creationId xmlns:p14="http://schemas.microsoft.com/office/powerpoint/2010/main" val="1854837120"/>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슬라이드 이미지 개체 틀 1"/>
          <p:cNvSpPr>
            <a:spLocks noGrp="1" noRot="1" noChangeAspect="1" noTextEdit="1"/>
          </p:cNvSpPr>
          <p:nvPr>
            <p:ph type="sldImg"/>
          </p:nvPr>
        </p:nvSpPr>
        <p:spPr>
          <a:ln/>
        </p:spPr>
      </p:sp>
      <p:sp>
        <p:nvSpPr>
          <p:cNvPr id="129027" name="슬라이드 노트 개체 틀 2"/>
          <p:cNvSpPr>
            <a:spLocks noGrp="1"/>
          </p:cNvSpPr>
          <p:nvPr>
            <p:ph type="body" idx="1"/>
          </p:nvPr>
        </p:nvSpPr>
        <p:spPr>
          <a:noFill/>
          <a:ln/>
        </p:spPr>
        <p:txBody>
          <a:bodyPr/>
          <a:lstStyle/>
          <a:p>
            <a:endParaRPr lang="ko-KR" altLang="en-US" dirty="0"/>
          </a:p>
        </p:txBody>
      </p:sp>
      <p:sp>
        <p:nvSpPr>
          <p:cNvPr id="129028" name="슬라이드 번호 개체 틀 3"/>
          <p:cNvSpPr>
            <a:spLocks noGrp="1"/>
          </p:cNvSpPr>
          <p:nvPr>
            <p:ph type="sldNum" sz="quarter" idx="5"/>
          </p:nvPr>
        </p:nvSpPr>
        <p:spPr>
          <a:noFill/>
        </p:spPr>
        <p:txBody>
          <a:bodyPr/>
          <a:lstStyle/>
          <a:p>
            <a:fld id="{0FEF4288-44A2-476D-940D-77CB62538A16}" type="slidenum">
              <a:rPr lang="en-US" altLang="ko-KR" smtClean="0"/>
              <a:pPr/>
              <a:t>325</a:t>
            </a:fld>
            <a:endParaRPr lang="en-US" altLang="ko-KR" dirty="0"/>
          </a:p>
        </p:txBody>
      </p:sp>
    </p:spTree>
    <p:extLst>
      <p:ext uri="{BB962C8B-B14F-4D97-AF65-F5344CB8AC3E}">
        <p14:creationId xmlns:p14="http://schemas.microsoft.com/office/powerpoint/2010/main" val="1216775125"/>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슬라이드 이미지 개체 틀 1"/>
          <p:cNvSpPr>
            <a:spLocks noGrp="1" noRot="1" noChangeAspect="1" noTextEdit="1"/>
          </p:cNvSpPr>
          <p:nvPr>
            <p:ph type="sldImg"/>
          </p:nvPr>
        </p:nvSpPr>
        <p:spPr>
          <a:ln/>
        </p:spPr>
      </p:sp>
      <p:sp>
        <p:nvSpPr>
          <p:cNvPr id="129027" name="슬라이드 노트 개체 틀 2"/>
          <p:cNvSpPr>
            <a:spLocks noGrp="1"/>
          </p:cNvSpPr>
          <p:nvPr>
            <p:ph type="body" idx="1"/>
          </p:nvPr>
        </p:nvSpPr>
        <p:spPr>
          <a:noFill/>
          <a:ln/>
        </p:spPr>
        <p:txBody>
          <a:bodyPr/>
          <a:lstStyle/>
          <a:p>
            <a:endParaRPr lang="ko-KR" altLang="en-US" dirty="0"/>
          </a:p>
        </p:txBody>
      </p:sp>
      <p:sp>
        <p:nvSpPr>
          <p:cNvPr id="129028" name="슬라이드 번호 개체 틀 3"/>
          <p:cNvSpPr>
            <a:spLocks noGrp="1"/>
          </p:cNvSpPr>
          <p:nvPr>
            <p:ph type="sldNum" sz="quarter" idx="5"/>
          </p:nvPr>
        </p:nvSpPr>
        <p:spPr>
          <a:noFill/>
        </p:spPr>
        <p:txBody>
          <a:bodyPr/>
          <a:lstStyle/>
          <a:p>
            <a:fld id="{0FEF4288-44A2-476D-940D-77CB62538A16}" type="slidenum">
              <a:rPr lang="en-US" altLang="ko-KR" smtClean="0"/>
              <a:pPr/>
              <a:t>326</a:t>
            </a:fld>
            <a:endParaRPr lang="en-US" altLang="ko-KR" dirty="0"/>
          </a:p>
        </p:txBody>
      </p:sp>
    </p:spTree>
    <p:extLst>
      <p:ext uri="{BB962C8B-B14F-4D97-AF65-F5344CB8AC3E}">
        <p14:creationId xmlns:p14="http://schemas.microsoft.com/office/powerpoint/2010/main" val="1633129672"/>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슬라이드 이미지 개체 틀 1"/>
          <p:cNvSpPr>
            <a:spLocks noGrp="1" noRot="1" noChangeAspect="1" noTextEdit="1"/>
          </p:cNvSpPr>
          <p:nvPr>
            <p:ph type="sldImg"/>
          </p:nvPr>
        </p:nvSpPr>
        <p:spPr>
          <a:ln/>
        </p:spPr>
      </p:sp>
      <p:sp>
        <p:nvSpPr>
          <p:cNvPr id="129027" name="슬라이드 노트 개체 틀 2"/>
          <p:cNvSpPr>
            <a:spLocks noGrp="1"/>
          </p:cNvSpPr>
          <p:nvPr>
            <p:ph type="body" idx="1"/>
          </p:nvPr>
        </p:nvSpPr>
        <p:spPr>
          <a:noFill/>
          <a:ln/>
        </p:spPr>
        <p:txBody>
          <a:bodyPr/>
          <a:lstStyle/>
          <a:p>
            <a:endParaRPr lang="ko-KR" altLang="en-US" dirty="0"/>
          </a:p>
        </p:txBody>
      </p:sp>
      <p:sp>
        <p:nvSpPr>
          <p:cNvPr id="129028" name="슬라이드 번호 개체 틀 3"/>
          <p:cNvSpPr>
            <a:spLocks noGrp="1"/>
          </p:cNvSpPr>
          <p:nvPr>
            <p:ph type="sldNum" sz="quarter" idx="5"/>
          </p:nvPr>
        </p:nvSpPr>
        <p:spPr>
          <a:noFill/>
        </p:spPr>
        <p:txBody>
          <a:bodyPr/>
          <a:lstStyle/>
          <a:p>
            <a:fld id="{0FEF4288-44A2-476D-940D-77CB62538A16}" type="slidenum">
              <a:rPr lang="en-US" altLang="ko-KR" smtClean="0"/>
              <a:pPr/>
              <a:t>327</a:t>
            </a:fld>
            <a:endParaRPr lang="en-US" altLang="ko-KR" dirty="0"/>
          </a:p>
        </p:txBody>
      </p:sp>
    </p:spTree>
    <p:extLst>
      <p:ext uri="{BB962C8B-B14F-4D97-AF65-F5344CB8AC3E}">
        <p14:creationId xmlns:p14="http://schemas.microsoft.com/office/powerpoint/2010/main" val="49630935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슬라이드 이미지 개체 틀 1"/>
          <p:cNvSpPr>
            <a:spLocks noGrp="1" noRot="1" noChangeAspect="1" noTextEdit="1"/>
          </p:cNvSpPr>
          <p:nvPr>
            <p:ph type="sldImg"/>
          </p:nvPr>
        </p:nvSpPr>
        <p:spPr>
          <a:ln/>
        </p:spPr>
      </p:sp>
      <p:sp>
        <p:nvSpPr>
          <p:cNvPr id="115715" name="슬라이드 노트 개체 틀 2"/>
          <p:cNvSpPr>
            <a:spLocks noGrp="1"/>
          </p:cNvSpPr>
          <p:nvPr>
            <p:ph type="body" idx="1"/>
          </p:nvPr>
        </p:nvSpPr>
        <p:spPr>
          <a:noFill/>
          <a:ln/>
        </p:spPr>
        <p:txBody>
          <a:bodyPr/>
          <a:lstStyle/>
          <a:p>
            <a:endParaRPr lang="ko-KR" altLang="en-US" dirty="0"/>
          </a:p>
        </p:txBody>
      </p:sp>
      <p:sp>
        <p:nvSpPr>
          <p:cNvPr id="115716" name="슬라이드 번호 개체 틀 3"/>
          <p:cNvSpPr>
            <a:spLocks noGrp="1"/>
          </p:cNvSpPr>
          <p:nvPr>
            <p:ph type="sldNum" sz="quarter" idx="5"/>
          </p:nvPr>
        </p:nvSpPr>
        <p:spPr>
          <a:noFill/>
        </p:spPr>
        <p:txBody>
          <a:bodyPr/>
          <a:lstStyle/>
          <a:p>
            <a:fld id="{62658B1A-0BAC-4515-8601-4EFAC453F6FD}" type="slidenum">
              <a:rPr lang="en-US" altLang="ko-KR" smtClean="0"/>
              <a:pPr/>
              <a:t>329</a:t>
            </a:fld>
            <a:endParaRPr lang="en-US" altLang="ko-KR" dirty="0"/>
          </a:p>
        </p:txBody>
      </p:sp>
    </p:spTree>
    <p:extLst>
      <p:ext uri="{BB962C8B-B14F-4D97-AF65-F5344CB8AC3E}">
        <p14:creationId xmlns:p14="http://schemas.microsoft.com/office/powerpoint/2010/main" val="471182039"/>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슬라이드 이미지 개체 틀 1"/>
          <p:cNvSpPr>
            <a:spLocks noGrp="1" noRot="1" noChangeAspect="1" noTextEdit="1"/>
          </p:cNvSpPr>
          <p:nvPr>
            <p:ph type="sldImg"/>
          </p:nvPr>
        </p:nvSpPr>
        <p:spPr>
          <a:ln/>
        </p:spPr>
      </p:sp>
      <p:sp>
        <p:nvSpPr>
          <p:cNvPr id="115715" name="슬라이드 노트 개체 틀 2"/>
          <p:cNvSpPr>
            <a:spLocks noGrp="1"/>
          </p:cNvSpPr>
          <p:nvPr>
            <p:ph type="body" idx="1"/>
          </p:nvPr>
        </p:nvSpPr>
        <p:spPr>
          <a:noFill/>
          <a:ln/>
        </p:spPr>
        <p:txBody>
          <a:bodyPr/>
          <a:lstStyle/>
          <a:p>
            <a:endParaRPr lang="ko-KR" altLang="en-US" dirty="0"/>
          </a:p>
        </p:txBody>
      </p:sp>
      <p:sp>
        <p:nvSpPr>
          <p:cNvPr id="115716" name="슬라이드 번호 개체 틀 3"/>
          <p:cNvSpPr>
            <a:spLocks noGrp="1"/>
          </p:cNvSpPr>
          <p:nvPr>
            <p:ph type="sldNum" sz="quarter" idx="5"/>
          </p:nvPr>
        </p:nvSpPr>
        <p:spPr>
          <a:noFill/>
        </p:spPr>
        <p:txBody>
          <a:bodyPr/>
          <a:lstStyle/>
          <a:p>
            <a:fld id="{62658B1A-0BAC-4515-8601-4EFAC453F6FD}" type="slidenum">
              <a:rPr lang="en-US" altLang="ko-KR" smtClean="0"/>
              <a:pPr/>
              <a:t>330</a:t>
            </a:fld>
            <a:endParaRPr lang="en-US" altLang="ko-KR" dirty="0"/>
          </a:p>
        </p:txBody>
      </p:sp>
    </p:spTree>
    <p:extLst>
      <p:ext uri="{BB962C8B-B14F-4D97-AF65-F5344CB8AC3E}">
        <p14:creationId xmlns:p14="http://schemas.microsoft.com/office/powerpoint/2010/main" val="47118203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슬라이드 이미지 개체 틀 1"/>
          <p:cNvSpPr>
            <a:spLocks noGrp="1" noRot="1" noChangeAspect="1" noTextEdit="1"/>
          </p:cNvSpPr>
          <p:nvPr>
            <p:ph type="sldImg"/>
          </p:nvPr>
        </p:nvSpPr>
        <p:spPr>
          <a:ln/>
        </p:spPr>
      </p:sp>
      <p:sp>
        <p:nvSpPr>
          <p:cNvPr id="115715" name="슬라이드 노트 개체 틀 2"/>
          <p:cNvSpPr>
            <a:spLocks noGrp="1"/>
          </p:cNvSpPr>
          <p:nvPr>
            <p:ph type="body" idx="1"/>
          </p:nvPr>
        </p:nvSpPr>
        <p:spPr>
          <a:noFill/>
          <a:ln/>
        </p:spPr>
        <p:txBody>
          <a:bodyPr/>
          <a:lstStyle/>
          <a:p>
            <a:endParaRPr lang="ko-KR" altLang="en-US" dirty="0"/>
          </a:p>
        </p:txBody>
      </p:sp>
      <p:sp>
        <p:nvSpPr>
          <p:cNvPr id="115716" name="슬라이드 번호 개체 틀 3"/>
          <p:cNvSpPr>
            <a:spLocks noGrp="1"/>
          </p:cNvSpPr>
          <p:nvPr>
            <p:ph type="sldNum" sz="quarter" idx="5"/>
          </p:nvPr>
        </p:nvSpPr>
        <p:spPr>
          <a:noFill/>
        </p:spPr>
        <p:txBody>
          <a:bodyPr/>
          <a:lstStyle/>
          <a:p>
            <a:fld id="{62658B1A-0BAC-4515-8601-4EFAC453F6FD}" type="slidenum">
              <a:rPr lang="en-US" altLang="ko-KR" smtClean="0"/>
              <a:pPr/>
              <a:t>331</a:t>
            </a:fld>
            <a:endParaRPr lang="en-US" altLang="ko-KR" dirty="0"/>
          </a:p>
        </p:txBody>
      </p:sp>
    </p:spTree>
    <p:extLst>
      <p:ext uri="{BB962C8B-B14F-4D97-AF65-F5344CB8AC3E}">
        <p14:creationId xmlns:p14="http://schemas.microsoft.com/office/powerpoint/2010/main" val="47118203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슬라이드 이미지 개체 틀 1"/>
          <p:cNvSpPr>
            <a:spLocks noGrp="1" noRot="1" noChangeAspect="1" noTextEdit="1"/>
          </p:cNvSpPr>
          <p:nvPr>
            <p:ph type="sldImg"/>
          </p:nvPr>
        </p:nvSpPr>
        <p:spPr>
          <a:ln/>
        </p:spPr>
      </p:sp>
      <p:sp>
        <p:nvSpPr>
          <p:cNvPr id="115715" name="슬라이드 노트 개체 틀 2"/>
          <p:cNvSpPr>
            <a:spLocks noGrp="1"/>
          </p:cNvSpPr>
          <p:nvPr>
            <p:ph type="body" idx="1"/>
          </p:nvPr>
        </p:nvSpPr>
        <p:spPr>
          <a:noFill/>
          <a:ln/>
        </p:spPr>
        <p:txBody>
          <a:bodyPr/>
          <a:lstStyle/>
          <a:p>
            <a:endParaRPr lang="ko-KR" altLang="en-US" dirty="0"/>
          </a:p>
        </p:txBody>
      </p:sp>
      <p:sp>
        <p:nvSpPr>
          <p:cNvPr id="115716" name="슬라이드 번호 개체 틀 3"/>
          <p:cNvSpPr>
            <a:spLocks noGrp="1"/>
          </p:cNvSpPr>
          <p:nvPr>
            <p:ph type="sldNum" sz="quarter" idx="5"/>
          </p:nvPr>
        </p:nvSpPr>
        <p:spPr>
          <a:noFill/>
        </p:spPr>
        <p:txBody>
          <a:bodyPr/>
          <a:lstStyle/>
          <a:p>
            <a:fld id="{62658B1A-0BAC-4515-8601-4EFAC453F6FD}" type="slidenum">
              <a:rPr lang="en-US" altLang="ko-KR" smtClean="0"/>
              <a:pPr/>
              <a:t>332</a:t>
            </a:fld>
            <a:endParaRPr lang="en-US" altLang="ko-KR" dirty="0"/>
          </a:p>
        </p:txBody>
      </p:sp>
    </p:spTree>
    <p:extLst>
      <p:ext uri="{BB962C8B-B14F-4D97-AF65-F5344CB8AC3E}">
        <p14:creationId xmlns:p14="http://schemas.microsoft.com/office/powerpoint/2010/main" val="47118203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슬라이드 이미지 개체 틀 1"/>
          <p:cNvSpPr>
            <a:spLocks noGrp="1" noRot="1" noChangeAspect="1" noTextEdit="1"/>
          </p:cNvSpPr>
          <p:nvPr>
            <p:ph type="sldImg"/>
          </p:nvPr>
        </p:nvSpPr>
        <p:spPr>
          <a:ln/>
        </p:spPr>
      </p:sp>
      <p:sp>
        <p:nvSpPr>
          <p:cNvPr id="121859" name="슬라이드 노트 개체 틀 2"/>
          <p:cNvSpPr>
            <a:spLocks noGrp="1"/>
          </p:cNvSpPr>
          <p:nvPr>
            <p:ph type="body" idx="1"/>
          </p:nvPr>
        </p:nvSpPr>
        <p:spPr>
          <a:noFill/>
          <a:ln/>
        </p:spPr>
        <p:txBody>
          <a:bodyPr/>
          <a:lstStyle/>
          <a:p>
            <a:endParaRPr lang="ko-KR" altLang="en-US" dirty="0"/>
          </a:p>
        </p:txBody>
      </p:sp>
      <p:sp>
        <p:nvSpPr>
          <p:cNvPr id="121860" name="슬라이드 번호 개체 틀 3"/>
          <p:cNvSpPr>
            <a:spLocks noGrp="1"/>
          </p:cNvSpPr>
          <p:nvPr>
            <p:ph type="sldNum" sz="quarter" idx="5"/>
          </p:nvPr>
        </p:nvSpPr>
        <p:spPr>
          <a:noFill/>
        </p:spPr>
        <p:txBody>
          <a:bodyPr/>
          <a:lstStyle/>
          <a:p>
            <a:fld id="{8257DEC3-CB2E-4E7F-BFCF-51C8366DB624}" type="slidenum">
              <a:rPr lang="en-US" altLang="ko-KR" smtClean="0"/>
              <a:pPr/>
              <a:t>339</a:t>
            </a:fld>
            <a:endParaRPr lang="en-US" altLang="ko-KR" dirty="0"/>
          </a:p>
        </p:txBody>
      </p:sp>
    </p:spTree>
    <p:extLst>
      <p:ext uri="{BB962C8B-B14F-4D97-AF65-F5344CB8AC3E}">
        <p14:creationId xmlns:p14="http://schemas.microsoft.com/office/powerpoint/2010/main" val="426883926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340</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슬라이드 이미지 개체 틀 1"/>
          <p:cNvSpPr>
            <a:spLocks noGrp="1" noRot="1" noChangeAspect="1" noTextEdit="1"/>
          </p:cNvSpPr>
          <p:nvPr>
            <p:ph type="sldImg"/>
          </p:nvPr>
        </p:nvSpPr>
        <p:spPr>
          <a:ln/>
        </p:spPr>
      </p:sp>
      <p:sp>
        <p:nvSpPr>
          <p:cNvPr id="115715" name="슬라이드 노트 개체 틀 2"/>
          <p:cNvSpPr>
            <a:spLocks noGrp="1"/>
          </p:cNvSpPr>
          <p:nvPr>
            <p:ph type="body" idx="1"/>
          </p:nvPr>
        </p:nvSpPr>
        <p:spPr>
          <a:noFill/>
          <a:ln/>
        </p:spPr>
        <p:txBody>
          <a:bodyPr/>
          <a:lstStyle/>
          <a:p>
            <a:endParaRPr lang="ko-KR" altLang="en-US" dirty="0"/>
          </a:p>
        </p:txBody>
      </p:sp>
      <p:sp>
        <p:nvSpPr>
          <p:cNvPr id="115716" name="슬라이드 번호 개체 틀 3"/>
          <p:cNvSpPr>
            <a:spLocks noGrp="1"/>
          </p:cNvSpPr>
          <p:nvPr>
            <p:ph type="sldNum" sz="quarter" idx="5"/>
          </p:nvPr>
        </p:nvSpPr>
        <p:spPr>
          <a:noFill/>
        </p:spPr>
        <p:txBody>
          <a:bodyPr/>
          <a:lstStyle/>
          <a:p>
            <a:fld id="{62658B1A-0BAC-4515-8601-4EFAC453F6FD}" type="slidenum">
              <a:rPr lang="en-US" altLang="ko-KR" smtClean="0"/>
              <a:pPr/>
              <a:t>341</a:t>
            </a:fld>
            <a:endParaRPr lang="en-US" altLang="ko-KR" dirty="0"/>
          </a:p>
        </p:txBody>
      </p:sp>
    </p:spTree>
    <p:extLst>
      <p:ext uri="{BB962C8B-B14F-4D97-AF65-F5344CB8AC3E}">
        <p14:creationId xmlns:p14="http://schemas.microsoft.com/office/powerpoint/2010/main" val="3416513549"/>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슬라이드 이미지 개체 틀 1"/>
          <p:cNvSpPr>
            <a:spLocks noGrp="1" noRot="1" noChangeAspect="1" noTextEdit="1"/>
          </p:cNvSpPr>
          <p:nvPr>
            <p:ph type="sldImg"/>
          </p:nvPr>
        </p:nvSpPr>
        <p:spPr>
          <a:ln/>
        </p:spPr>
      </p:sp>
      <p:sp>
        <p:nvSpPr>
          <p:cNvPr id="115715" name="슬라이드 노트 개체 틀 2"/>
          <p:cNvSpPr>
            <a:spLocks noGrp="1"/>
          </p:cNvSpPr>
          <p:nvPr>
            <p:ph type="body" idx="1"/>
          </p:nvPr>
        </p:nvSpPr>
        <p:spPr>
          <a:noFill/>
          <a:ln/>
        </p:spPr>
        <p:txBody>
          <a:bodyPr/>
          <a:lstStyle/>
          <a:p>
            <a:endParaRPr lang="ko-KR" altLang="en-US" dirty="0"/>
          </a:p>
        </p:txBody>
      </p:sp>
      <p:sp>
        <p:nvSpPr>
          <p:cNvPr id="115716" name="슬라이드 번호 개체 틀 3"/>
          <p:cNvSpPr>
            <a:spLocks noGrp="1"/>
          </p:cNvSpPr>
          <p:nvPr>
            <p:ph type="sldNum" sz="quarter" idx="5"/>
          </p:nvPr>
        </p:nvSpPr>
        <p:spPr>
          <a:noFill/>
        </p:spPr>
        <p:txBody>
          <a:bodyPr/>
          <a:lstStyle/>
          <a:p>
            <a:fld id="{62658B1A-0BAC-4515-8601-4EFAC453F6FD}" type="slidenum">
              <a:rPr lang="en-US" altLang="ko-KR" smtClean="0"/>
              <a:pPr/>
              <a:t>343</a:t>
            </a:fld>
            <a:endParaRPr lang="en-US" altLang="ko-KR" dirty="0"/>
          </a:p>
        </p:txBody>
      </p:sp>
    </p:spTree>
    <p:extLst>
      <p:ext uri="{BB962C8B-B14F-4D97-AF65-F5344CB8AC3E}">
        <p14:creationId xmlns:p14="http://schemas.microsoft.com/office/powerpoint/2010/main" val="1851373920"/>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슬라이드 이미지 개체 틀 1"/>
          <p:cNvSpPr>
            <a:spLocks noGrp="1" noRot="1" noChangeAspect="1" noTextEdit="1"/>
          </p:cNvSpPr>
          <p:nvPr>
            <p:ph type="sldImg"/>
          </p:nvPr>
        </p:nvSpPr>
        <p:spPr>
          <a:ln/>
        </p:spPr>
      </p:sp>
      <p:sp>
        <p:nvSpPr>
          <p:cNvPr id="115715" name="슬라이드 노트 개체 틀 2"/>
          <p:cNvSpPr>
            <a:spLocks noGrp="1"/>
          </p:cNvSpPr>
          <p:nvPr>
            <p:ph type="body" idx="1"/>
          </p:nvPr>
        </p:nvSpPr>
        <p:spPr>
          <a:noFill/>
          <a:ln/>
        </p:spPr>
        <p:txBody>
          <a:bodyPr/>
          <a:lstStyle/>
          <a:p>
            <a:endParaRPr lang="ko-KR" altLang="en-US" dirty="0"/>
          </a:p>
        </p:txBody>
      </p:sp>
      <p:sp>
        <p:nvSpPr>
          <p:cNvPr id="115716" name="슬라이드 번호 개체 틀 3"/>
          <p:cNvSpPr>
            <a:spLocks noGrp="1"/>
          </p:cNvSpPr>
          <p:nvPr>
            <p:ph type="sldNum" sz="quarter" idx="5"/>
          </p:nvPr>
        </p:nvSpPr>
        <p:spPr>
          <a:noFill/>
        </p:spPr>
        <p:txBody>
          <a:bodyPr/>
          <a:lstStyle/>
          <a:p>
            <a:fld id="{62658B1A-0BAC-4515-8601-4EFAC453F6FD}" type="slidenum">
              <a:rPr lang="en-US" altLang="ko-KR" smtClean="0"/>
              <a:pPr/>
              <a:t>344</a:t>
            </a:fld>
            <a:endParaRPr lang="en-US" altLang="ko-KR" dirty="0"/>
          </a:p>
        </p:txBody>
      </p:sp>
    </p:spTree>
    <p:extLst>
      <p:ext uri="{BB962C8B-B14F-4D97-AF65-F5344CB8AC3E}">
        <p14:creationId xmlns:p14="http://schemas.microsoft.com/office/powerpoint/2010/main" val="252105227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슬라이드 이미지 개체 틀 1"/>
          <p:cNvSpPr>
            <a:spLocks noGrp="1" noRot="1" noChangeAspect="1" noTextEdit="1"/>
          </p:cNvSpPr>
          <p:nvPr>
            <p:ph type="sldImg"/>
          </p:nvPr>
        </p:nvSpPr>
        <p:spPr>
          <a:ln/>
        </p:spPr>
      </p:sp>
      <p:sp>
        <p:nvSpPr>
          <p:cNvPr id="115715" name="슬라이드 노트 개체 틀 2"/>
          <p:cNvSpPr>
            <a:spLocks noGrp="1"/>
          </p:cNvSpPr>
          <p:nvPr>
            <p:ph type="body" idx="1"/>
          </p:nvPr>
        </p:nvSpPr>
        <p:spPr>
          <a:noFill/>
          <a:ln/>
        </p:spPr>
        <p:txBody>
          <a:bodyPr/>
          <a:lstStyle/>
          <a:p>
            <a:endParaRPr lang="ko-KR" altLang="en-US" dirty="0"/>
          </a:p>
        </p:txBody>
      </p:sp>
      <p:sp>
        <p:nvSpPr>
          <p:cNvPr id="115716" name="슬라이드 번호 개체 틀 3"/>
          <p:cNvSpPr>
            <a:spLocks noGrp="1"/>
          </p:cNvSpPr>
          <p:nvPr>
            <p:ph type="sldNum" sz="quarter" idx="5"/>
          </p:nvPr>
        </p:nvSpPr>
        <p:spPr>
          <a:noFill/>
        </p:spPr>
        <p:txBody>
          <a:bodyPr/>
          <a:lstStyle/>
          <a:p>
            <a:fld id="{62658B1A-0BAC-4515-8601-4EFAC453F6FD}" type="slidenum">
              <a:rPr lang="en-US" altLang="ko-KR" smtClean="0"/>
              <a:pPr/>
              <a:t>345</a:t>
            </a:fld>
            <a:endParaRPr lang="en-US" altLang="ko-KR" dirty="0"/>
          </a:p>
        </p:txBody>
      </p:sp>
    </p:spTree>
    <p:extLst>
      <p:ext uri="{BB962C8B-B14F-4D97-AF65-F5344CB8AC3E}">
        <p14:creationId xmlns:p14="http://schemas.microsoft.com/office/powerpoint/2010/main" val="325518629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슬라이드 이미지 개체 틀 1"/>
          <p:cNvSpPr>
            <a:spLocks noGrp="1" noRot="1" noChangeAspect="1" noTextEdit="1"/>
          </p:cNvSpPr>
          <p:nvPr>
            <p:ph type="sldImg"/>
          </p:nvPr>
        </p:nvSpPr>
        <p:spPr>
          <a:ln/>
        </p:spPr>
      </p:sp>
      <p:sp>
        <p:nvSpPr>
          <p:cNvPr id="115715" name="슬라이드 노트 개체 틀 2"/>
          <p:cNvSpPr>
            <a:spLocks noGrp="1"/>
          </p:cNvSpPr>
          <p:nvPr>
            <p:ph type="body" idx="1"/>
          </p:nvPr>
        </p:nvSpPr>
        <p:spPr>
          <a:noFill/>
          <a:ln/>
        </p:spPr>
        <p:txBody>
          <a:bodyPr/>
          <a:lstStyle/>
          <a:p>
            <a:endParaRPr lang="ko-KR" altLang="en-US" dirty="0"/>
          </a:p>
        </p:txBody>
      </p:sp>
      <p:sp>
        <p:nvSpPr>
          <p:cNvPr id="115716" name="슬라이드 번호 개체 틀 3"/>
          <p:cNvSpPr>
            <a:spLocks noGrp="1"/>
          </p:cNvSpPr>
          <p:nvPr>
            <p:ph type="sldNum" sz="quarter" idx="5"/>
          </p:nvPr>
        </p:nvSpPr>
        <p:spPr>
          <a:noFill/>
        </p:spPr>
        <p:txBody>
          <a:bodyPr/>
          <a:lstStyle/>
          <a:p>
            <a:fld id="{62658B1A-0BAC-4515-8601-4EFAC453F6FD}" type="slidenum">
              <a:rPr lang="en-US" altLang="ko-KR" smtClean="0"/>
              <a:pPr/>
              <a:t>346</a:t>
            </a:fld>
            <a:endParaRPr lang="en-US" altLang="ko-KR" dirty="0"/>
          </a:p>
        </p:txBody>
      </p:sp>
    </p:spTree>
    <p:extLst>
      <p:ext uri="{BB962C8B-B14F-4D97-AF65-F5344CB8AC3E}">
        <p14:creationId xmlns:p14="http://schemas.microsoft.com/office/powerpoint/2010/main" val="380824040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슬라이드 이미지 개체 틀 1"/>
          <p:cNvSpPr>
            <a:spLocks noGrp="1" noRot="1" noChangeAspect="1" noTextEdit="1"/>
          </p:cNvSpPr>
          <p:nvPr>
            <p:ph type="sldImg"/>
          </p:nvPr>
        </p:nvSpPr>
        <p:spPr>
          <a:ln/>
        </p:spPr>
      </p:sp>
      <p:sp>
        <p:nvSpPr>
          <p:cNvPr id="115715" name="슬라이드 노트 개체 틀 2"/>
          <p:cNvSpPr>
            <a:spLocks noGrp="1"/>
          </p:cNvSpPr>
          <p:nvPr>
            <p:ph type="body" idx="1"/>
          </p:nvPr>
        </p:nvSpPr>
        <p:spPr>
          <a:noFill/>
          <a:ln/>
        </p:spPr>
        <p:txBody>
          <a:bodyPr/>
          <a:lstStyle/>
          <a:p>
            <a:endParaRPr lang="ko-KR" altLang="en-US" dirty="0"/>
          </a:p>
        </p:txBody>
      </p:sp>
      <p:sp>
        <p:nvSpPr>
          <p:cNvPr id="115716" name="슬라이드 번호 개체 틀 3"/>
          <p:cNvSpPr>
            <a:spLocks noGrp="1"/>
          </p:cNvSpPr>
          <p:nvPr>
            <p:ph type="sldNum" sz="quarter" idx="5"/>
          </p:nvPr>
        </p:nvSpPr>
        <p:spPr>
          <a:noFill/>
        </p:spPr>
        <p:txBody>
          <a:bodyPr/>
          <a:lstStyle/>
          <a:p>
            <a:fld id="{62658B1A-0BAC-4515-8601-4EFAC453F6FD}" type="slidenum">
              <a:rPr lang="en-US" altLang="ko-KR" smtClean="0"/>
              <a:pPr/>
              <a:t>347</a:t>
            </a:fld>
            <a:endParaRPr lang="en-US" altLang="ko-KR" dirty="0"/>
          </a:p>
        </p:txBody>
      </p:sp>
    </p:spTree>
    <p:extLst>
      <p:ext uri="{BB962C8B-B14F-4D97-AF65-F5344CB8AC3E}">
        <p14:creationId xmlns:p14="http://schemas.microsoft.com/office/powerpoint/2010/main" val="1654507349"/>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9C01CF-2F47-706D-C3D0-E3F758636DF2}"/>
            </a:ext>
          </a:extLst>
        </p:cNvPr>
        <p:cNvGrpSpPr/>
        <p:nvPr/>
      </p:nvGrpSpPr>
      <p:grpSpPr>
        <a:xfrm>
          <a:off x="0" y="0"/>
          <a:ext cx="0" cy="0"/>
          <a:chOff x="0" y="0"/>
          <a:chExt cx="0" cy="0"/>
        </a:xfrm>
      </p:grpSpPr>
      <p:sp>
        <p:nvSpPr>
          <p:cNvPr id="115714" name="슬라이드 이미지 개체 틀 1">
            <a:extLst>
              <a:ext uri="{FF2B5EF4-FFF2-40B4-BE49-F238E27FC236}">
                <a16:creationId xmlns:a16="http://schemas.microsoft.com/office/drawing/2014/main" id="{832944A8-0F18-7A36-3657-F01CB2B2A812}"/>
              </a:ext>
            </a:extLst>
          </p:cNvPr>
          <p:cNvSpPr>
            <a:spLocks noGrp="1" noRot="1" noChangeAspect="1" noTextEdit="1"/>
          </p:cNvSpPr>
          <p:nvPr>
            <p:ph type="sldImg"/>
          </p:nvPr>
        </p:nvSpPr>
        <p:spPr>
          <a:ln/>
        </p:spPr>
      </p:sp>
      <p:sp>
        <p:nvSpPr>
          <p:cNvPr id="115715" name="슬라이드 노트 개체 틀 2">
            <a:extLst>
              <a:ext uri="{FF2B5EF4-FFF2-40B4-BE49-F238E27FC236}">
                <a16:creationId xmlns:a16="http://schemas.microsoft.com/office/drawing/2014/main" id="{5F7DA72D-BBED-294C-BD0C-1F8633D33F2B}"/>
              </a:ext>
            </a:extLst>
          </p:cNvPr>
          <p:cNvSpPr>
            <a:spLocks noGrp="1"/>
          </p:cNvSpPr>
          <p:nvPr>
            <p:ph type="body" idx="1"/>
          </p:nvPr>
        </p:nvSpPr>
        <p:spPr>
          <a:noFill/>
          <a:ln/>
        </p:spPr>
        <p:txBody>
          <a:bodyPr/>
          <a:lstStyle/>
          <a:p>
            <a:endParaRPr lang="ko-KR" altLang="en-US" dirty="0"/>
          </a:p>
        </p:txBody>
      </p:sp>
      <p:sp>
        <p:nvSpPr>
          <p:cNvPr id="115716" name="슬라이드 번호 개체 틀 3">
            <a:extLst>
              <a:ext uri="{FF2B5EF4-FFF2-40B4-BE49-F238E27FC236}">
                <a16:creationId xmlns:a16="http://schemas.microsoft.com/office/drawing/2014/main" id="{6BD1CB57-8ADC-2ABB-FA22-12B29DA0C792}"/>
              </a:ext>
            </a:extLst>
          </p:cNvPr>
          <p:cNvSpPr>
            <a:spLocks noGrp="1"/>
          </p:cNvSpPr>
          <p:nvPr>
            <p:ph type="sldNum" sz="quarter" idx="5"/>
          </p:nvPr>
        </p:nvSpPr>
        <p:spPr>
          <a:noFill/>
        </p:spPr>
        <p:txBody>
          <a:bodyPr/>
          <a:lstStyle/>
          <a:p>
            <a:fld id="{62658B1A-0BAC-4515-8601-4EFAC453F6FD}" type="slidenum">
              <a:rPr lang="en-US" altLang="ko-KR" smtClean="0"/>
              <a:pPr/>
              <a:t>348</a:t>
            </a:fld>
            <a:endParaRPr lang="en-US" altLang="ko-KR" dirty="0"/>
          </a:p>
        </p:txBody>
      </p:sp>
    </p:spTree>
    <p:extLst>
      <p:ext uri="{BB962C8B-B14F-4D97-AF65-F5344CB8AC3E}">
        <p14:creationId xmlns:p14="http://schemas.microsoft.com/office/powerpoint/2010/main" val="4189073503"/>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13CBB7-8339-B474-1CD6-20D7AF895952}"/>
            </a:ext>
          </a:extLst>
        </p:cNvPr>
        <p:cNvGrpSpPr/>
        <p:nvPr/>
      </p:nvGrpSpPr>
      <p:grpSpPr>
        <a:xfrm>
          <a:off x="0" y="0"/>
          <a:ext cx="0" cy="0"/>
          <a:chOff x="0" y="0"/>
          <a:chExt cx="0" cy="0"/>
        </a:xfrm>
      </p:grpSpPr>
      <p:sp>
        <p:nvSpPr>
          <p:cNvPr id="115714" name="슬라이드 이미지 개체 틀 1">
            <a:extLst>
              <a:ext uri="{FF2B5EF4-FFF2-40B4-BE49-F238E27FC236}">
                <a16:creationId xmlns:a16="http://schemas.microsoft.com/office/drawing/2014/main" id="{8A1485D2-11B2-BBF9-2F1E-3AEEDF92414C}"/>
              </a:ext>
            </a:extLst>
          </p:cNvPr>
          <p:cNvSpPr>
            <a:spLocks noGrp="1" noRot="1" noChangeAspect="1" noTextEdit="1"/>
          </p:cNvSpPr>
          <p:nvPr>
            <p:ph type="sldImg"/>
          </p:nvPr>
        </p:nvSpPr>
        <p:spPr>
          <a:ln/>
        </p:spPr>
      </p:sp>
      <p:sp>
        <p:nvSpPr>
          <p:cNvPr id="115715" name="슬라이드 노트 개체 틀 2">
            <a:extLst>
              <a:ext uri="{FF2B5EF4-FFF2-40B4-BE49-F238E27FC236}">
                <a16:creationId xmlns:a16="http://schemas.microsoft.com/office/drawing/2014/main" id="{3D81D24E-7DB4-86EF-8A7C-8FAC0FD5F36E}"/>
              </a:ext>
            </a:extLst>
          </p:cNvPr>
          <p:cNvSpPr>
            <a:spLocks noGrp="1"/>
          </p:cNvSpPr>
          <p:nvPr>
            <p:ph type="body" idx="1"/>
          </p:nvPr>
        </p:nvSpPr>
        <p:spPr>
          <a:noFill/>
          <a:ln/>
        </p:spPr>
        <p:txBody>
          <a:bodyPr/>
          <a:lstStyle/>
          <a:p>
            <a:endParaRPr lang="ko-KR" altLang="en-US" dirty="0"/>
          </a:p>
        </p:txBody>
      </p:sp>
      <p:sp>
        <p:nvSpPr>
          <p:cNvPr id="115716" name="슬라이드 번호 개체 틀 3">
            <a:extLst>
              <a:ext uri="{FF2B5EF4-FFF2-40B4-BE49-F238E27FC236}">
                <a16:creationId xmlns:a16="http://schemas.microsoft.com/office/drawing/2014/main" id="{951FA198-8F1A-8AE3-941E-74B441558D08}"/>
              </a:ext>
            </a:extLst>
          </p:cNvPr>
          <p:cNvSpPr>
            <a:spLocks noGrp="1"/>
          </p:cNvSpPr>
          <p:nvPr>
            <p:ph type="sldNum" sz="quarter" idx="5"/>
          </p:nvPr>
        </p:nvSpPr>
        <p:spPr>
          <a:noFill/>
        </p:spPr>
        <p:txBody>
          <a:bodyPr/>
          <a:lstStyle/>
          <a:p>
            <a:fld id="{62658B1A-0BAC-4515-8601-4EFAC453F6FD}" type="slidenum">
              <a:rPr lang="en-US" altLang="ko-KR" smtClean="0"/>
              <a:pPr/>
              <a:t>349</a:t>
            </a:fld>
            <a:endParaRPr lang="en-US" altLang="ko-KR" dirty="0"/>
          </a:p>
        </p:txBody>
      </p:sp>
    </p:spTree>
    <p:extLst>
      <p:ext uri="{BB962C8B-B14F-4D97-AF65-F5344CB8AC3E}">
        <p14:creationId xmlns:p14="http://schemas.microsoft.com/office/powerpoint/2010/main" val="1364433653"/>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슬라이드 이미지 개체 틀 1"/>
          <p:cNvSpPr>
            <a:spLocks noGrp="1" noRot="1" noChangeAspect="1" noTextEdit="1"/>
          </p:cNvSpPr>
          <p:nvPr>
            <p:ph type="sldImg"/>
          </p:nvPr>
        </p:nvSpPr>
        <p:spPr>
          <a:ln/>
        </p:spPr>
      </p:sp>
      <p:sp>
        <p:nvSpPr>
          <p:cNvPr id="115715" name="슬라이드 노트 개체 틀 2"/>
          <p:cNvSpPr>
            <a:spLocks noGrp="1"/>
          </p:cNvSpPr>
          <p:nvPr>
            <p:ph type="body" idx="1"/>
          </p:nvPr>
        </p:nvSpPr>
        <p:spPr>
          <a:noFill/>
          <a:ln/>
        </p:spPr>
        <p:txBody>
          <a:bodyPr/>
          <a:lstStyle/>
          <a:p>
            <a:endParaRPr lang="ko-KR" altLang="en-US" dirty="0"/>
          </a:p>
        </p:txBody>
      </p:sp>
      <p:sp>
        <p:nvSpPr>
          <p:cNvPr id="115716" name="슬라이드 번호 개체 틀 3"/>
          <p:cNvSpPr>
            <a:spLocks noGrp="1"/>
          </p:cNvSpPr>
          <p:nvPr>
            <p:ph type="sldNum" sz="quarter" idx="5"/>
          </p:nvPr>
        </p:nvSpPr>
        <p:spPr>
          <a:noFill/>
        </p:spPr>
        <p:txBody>
          <a:bodyPr/>
          <a:lstStyle/>
          <a:p>
            <a:fld id="{62658B1A-0BAC-4515-8601-4EFAC453F6FD}" type="slidenum">
              <a:rPr lang="en-US" altLang="ko-KR" smtClean="0"/>
              <a:pPr/>
              <a:t>350</a:t>
            </a:fld>
            <a:endParaRPr lang="en-US" altLang="ko-KR" dirty="0"/>
          </a:p>
        </p:txBody>
      </p:sp>
    </p:spTree>
    <p:extLst>
      <p:ext uri="{BB962C8B-B14F-4D97-AF65-F5344CB8AC3E}">
        <p14:creationId xmlns:p14="http://schemas.microsoft.com/office/powerpoint/2010/main" val="3200977912"/>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351</a:t>
            </a:fld>
            <a:endParaRPr lang="ko-KR" altLang="en-US"/>
          </a:p>
        </p:txBody>
      </p:sp>
    </p:spTree>
    <p:extLst>
      <p:ext uri="{BB962C8B-B14F-4D97-AF65-F5344CB8AC3E}">
        <p14:creationId xmlns:p14="http://schemas.microsoft.com/office/powerpoint/2010/main" val="171928361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352</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353</a:t>
            </a:fld>
            <a:endParaRPr lang="ko-KR" altLang="en-US"/>
          </a:p>
        </p:txBody>
      </p:sp>
    </p:spTree>
    <p:extLst>
      <p:ext uri="{BB962C8B-B14F-4D97-AF65-F5344CB8AC3E}">
        <p14:creationId xmlns:p14="http://schemas.microsoft.com/office/powerpoint/2010/main" val="701713306"/>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06A97B-66F7-7AE5-E3D7-6A2B339D2298}"/>
            </a:ext>
          </a:extLst>
        </p:cNvPr>
        <p:cNvGrpSpPr/>
        <p:nvPr/>
      </p:nvGrpSpPr>
      <p:grpSpPr>
        <a:xfrm>
          <a:off x="0" y="0"/>
          <a:ext cx="0" cy="0"/>
          <a:chOff x="0" y="0"/>
          <a:chExt cx="0" cy="0"/>
        </a:xfrm>
      </p:grpSpPr>
      <p:sp>
        <p:nvSpPr>
          <p:cNvPr id="2" name="슬라이드 이미지 개체 틀 1">
            <a:extLst>
              <a:ext uri="{FF2B5EF4-FFF2-40B4-BE49-F238E27FC236}">
                <a16:creationId xmlns:a16="http://schemas.microsoft.com/office/drawing/2014/main" id="{1E86AF0B-7FFD-8DA3-0F93-CD24E103BE0E}"/>
              </a:ext>
            </a:extLst>
          </p:cNvPr>
          <p:cNvSpPr>
            <a:spLocks noGrp="1" noRot="1" noChangeAspect="1"/>
          </p:cNvSpPr>
          <p:nvPr>
            <p:ph type="sldImg"/>
          </p:nvPr>
        </p:nvSpPr>
        <p:spPr/>
      </p:sp>
      <p:sp>
        <p:nvSpPr>
          <p:cNvPr id="3" name="슬라이드 노트 개체 틀 2">
            <a:extLst>
              <a:ext uri="{FF2B5EF4-FFF2-40B4-BE49-F238E27FC236}">
                <a16:creationId xmlns:a16="http://schemas.microsoft.com/office/drawing/2014/main" id="{E7C462E8-FA0B-67BC-D7EF-F0691D39A9B3}"/>
              </a:ext>
            </a:extLst>
          </p:cNvPr>
          <p:cNvSpPr>
            <a:spLocks noGrp="1"/>
          </p:cNvSpPr>
          <p:nvPr>
            <p:ph type="body" idx="1"/>
          </p:nvPr>
        </p:nvSpPr>
        <p:spPr/>
        <p:txBody>
          <a:bodyPr/>
          <a:lstStyle/>
          <a:p>
            <a:endParaRPr lang="ko-KR" altLang="en-US" dirty="0"/>
          </a:p>
        </p:txBody>
      </p:sp>
      <p:sp>
        <p:nvSpPr>
          <p:cNvPr id="4" name="슬라이드 번호 개체 틀 3">
            <a:extLst>
              <a:ext uri="{FF2B5EF4-FFF2-40B4-BE49-F238E27FC236}">
                <a16:creationId xmlns:a16="http://schemas.microsoft.com/office/drawing/2014/main" id="{7FF8D578-C66A-75F7-495E-265581EAAAF0}"/>
              </a:ext>
            </a:extLst>
          </p:cNvPr>
          <p:cNvSpPr>
            <a:spLocks noGrp="1"/>
          </p:cNvSpPr>
          <p:nvPr>
            <p:ph type="sldNum" sz="quarter" idx="10"/>
          </p:nvPr>
        </p:nvSpPr>
        <p:spPr/>
        <p:txBody>
          <a:bodyPr/>
          <a:lstStyle/>
          <a:p>
            <a:fld id="{30C005C8-BD53-41EA-B159-BC12A6DFFB7D}" type="slidenum">
              <a:rPr lang="ko-KR" altLang="en-US" smtClean="0"/>
              <a:t>354</a:t>
            </a:fld>
            <a:endParaRPr lang="ko-KR" altLang="en-US"/>
          </a:p>
        </p:txBody>
      </p:sp>
    </p:spTree>
    <p:extLst>
      <p:ext uri="{BB962C8B-B14F-4D97-AF65-F5344CB8AC3E}">
        <p14:creationId xmlns:p14="http://schemas.microsoft.com/office/powerpoint/2010/main" val="3592101683"/>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356</a:t>
            </a:fld>
            <a:endParaRPr lang="ko-KR" altLang="en-US"/>
          </a:p>
        </p:txBody>
      </p:sp>
    </p:spTree>
    <p:extLst>
      <p:ext uri="{BB962C8B-B14F-4D97-AF65-F5344CB8AC3E}">
        <p14:creationId xmlns:p14="http://schemas.microsoft.com/office/powerpoint/2010/main" val="1185259600"/>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357</a:t>
            </a:fld>
            <a:endParaRPr lang="ko-KR" altLang="en-US"/>
          </a:p>
        </p:txBody>
      </p:sp>
    </p:spTree>
    <p:extLst>
      <p:ext uri="{BB962C8B-B14F-4D97-AF65-F5344CB8AC3E}">
        <p14:creationId xmlns:p14="http://schemas.microsoft.com/office/powerpoint/2010/main" val="856142564"/>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358</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dirty="0"/>
          </a:p>
        </p:txBody>
      </p:sp>
      <p:sp>
        <p:nvSpPr>
          <p:cNvPr id="136196" name="슬라이드 번호 개체 틀 3"/>
          <p:cNvSpPr>
            <a:spLocks noGrp="1"/>
          </p:cNvSpPr>
          <p:nvPr>
            <p:ph type="sldNum" sz="quarter" idx="5"/>
          </p:nvPr>
        </p:nvSpPr>
        <p:spPr>
          <a:noFill/>
        </p:spPr>
        <p:txBody>
          <a:bodyPr/>
          <a:lstStyle/>
          <a:p>
            <a:fld id="{01AD53DB-3456-474F-B3C9-2433955C3C87}" type="slidenum">
              <a:rPr lang="en-US" altLang="ko-KR" smtClean="0"/>
              <a:pPr/>
              <a:t>359</a:t>
            </a:fld>
            <a:endParaRPr lang="en-US" altLang="ko-KR" dirty="0"/>
          </a:p>
        </p:txBody>
      </p:sp>
    </p:spTree>
    <p:extLst>
      <p:ext uri="{BB962C8B-B14F-4D97-AF65-F5344CB8AC3E}">
        <p14:creationId xmlns:p14="http://schemas.microsoft.com/office/powerpoint/2010/main" val="3231253062"/>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368</a:t>
            </a:fld>
            <a:endParaRPr lang="ko-KR" altLang="en-US"/>
          </a:p>
        </p:txBody>
      </p:sp>
    </p:spTree>
    <p:extLst>
      <p:ext uri="{BB962C8B-B14F-4D97-AF65-F5344CB8AC3E}">
        <p14:creationId xmlns:p14="http://schemas.microsoft.com/office/powerpoint/2010/main" val="1895522434"/>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dirty="0"/>
          </a:p>
        </p:txBody>
      </p:sp>
      <p:sp>
        <p:nvSpPr>
          <p:cNvPr id="136196" name="슬라이드 번호 개체 틀 3"/>
          <p:cNvSpPr>
            <a:spLocks noGrp="1"/>
          </p:cNvSpPr>
          <p:nvPr>
            <p:ph type="sldNum" sz="quarter" idx="5"/>
          </p:nvPr>
        </p:nvSpPr>
        <p:spPr>
          <a:noFill/>
        </p:spPr>
        <p:txBody>
          <a:bodyPr/>
          <a:lstStyle/>
          <a:p>
            <a:fld id="{01AD53DB-3456-474F-B3C9-2433955C3C87}" type="slidenum">
              <a:rPr lang="en-US" altLang="ko-KR" smtClean="0"/>
              <a:pPr/>
              <a:t>372</a:t>
            </a:fld>
            <a:endParaRPr lang="en-US" altLang="ko-KR" dirty="0"/>
          </a:p>
        </p:txBody>
      </p:sp>
    </p:spTree>
    <p:extLst>
      <p:ext uri="{BB962C8B-B14F-4D97-AF65-F5344CB8AC3E}">
        <p14:creationId xmlns:p14="http://schemas.microsoft.com/office/powerpoint/2010/main" val="3231253062"/>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dirty="0"/>
          </a:p>
        </p:txBody>
      </p:sp>
      <p:sp>
        <p:nvSpPr>
          <p:cNvPr id="136196" name="슬라이드 번호 개체 틀 3"/>
          <p:cNvSpPr>
            <a:spLocks noGrp="1"/>
          </p:cNvSpPr>
          <p:nvPr>
            <p:ph type="sldNum" sz="quarter" idx="5"/>
          </p:nvPr>
        </p:nvSpPr>
        <p:spPr>
          <a:noFill/>
        </p:spPr>
        <p:txBody>
          <a:bodyPr/>
          <a:lstStyle/>
          <a:p>
            <a:fld id="{01AD53DB-3456-474F-B3C9-2433955C3C87}" type="slidenum">
              <a:rPr lang="en-US" altLang="ko-KR" smtClean="0"/>
              <a:pPr/>
              <a:t>373</a:t>
            </a:fld>
            <a:endParaRPr lang="en-US" altLang="ko-KR" dirty="0"/>
          </a:p>
        </p:txBody>
      </p:sp>
    </p:spTree>
    <p:extLst>
      <p:ext uri="{BB962C8B-B14F-4D97-AF65-F5344CB8AC3E}">
        <p14:creationId xmlns:p14="http://schemas.microsoft.com/office/powerpoint/2010/main" val="323125306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47209" y="4861442"/>
            <a:ext cx="5209647" cy="4605576"/>
          </a:xfrm>
          <a:noFill/>
          <a:ln/>
        </p:spPr>
        <p:txBody>
          <a:bodyPr/>
          <a:lstStyle/>
          <a:p>
            <a:endParaRPr lang="ko-KR" altLang="en-US"/>
          </a:p>
        </p:txBody>
      </p:sp>
    </p:spTree>
    <p:extLst>
      <p:ext uri="{BB962C8B-B14F-4D97-AF65-F5344CB8AC3E}">
        <p14:creationId xmlns:p14="http://schemas.microsoft.com/office/powerpoint/2010/main" val="490016902"/>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47209" y="4861442"/>
            <a:ext cx="5209647" cy="4605576"/>
          </a:xfrm>
          <a:noFill/>
          <a:ln/>
        </p:spPr>
        <p:txBody>
          <a:bodyPr/>
          <a:lstStyle/>
          <a:p>
            <a:endParaRPr lang="ko-KR" altLang="en-US"/>
          </a:p>
        </p:txBody>
      </p:sp>
    </p:spTree>
    <p:extLst>
      <p:ext uri="{BB962C8B-B14F-4D97-AF65-F5344CB8AC3E}">
        <p14:creationId xmlns:p14="http://schemas.microsoft.com/office/powerpoint/2010/main" val="49001690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47209" y="4861442"/>
            <a:ext cx="5209647" cy="4605576"/>
          </a:xfrm>
          <a:noFill/>
          <a:ln/>
        </p:spPr>
        <p:txBody>
          <a:bodyPr/>
          <a:lstStyle/>
          <a:p>
            <a:endParaRPr lang="ko-KR" altLang="en-US"/>
          </a:p>
        </p:txBody>
      </p:sp>
    </p:spTree>
    <p:extLst>
      <p:ext uri="{BB962C8B-B14F-4D97-AF65-F5344CB8AC3E}">
        <p14:creationId xmlns:p14="http://schemas.microsoft.com/office/powerpoint/2010/main" val="490016902"/>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47209" y="4861442"/>
            <a:ext cx="5209647" cy="4605576"/>
          </a:xfrm>
          <a:noFill/>
          <a:ln/>
        </p:spPr>
        <p:txBody>
          <a:bodyPr/>
          <a:lstStyle/>
          <a:p>
            <a:endParaRPr lang="ko-KR" altLang="en-US"/>
          </a:p>
        </p:txBody>
      </p:sp>
    </p:spTree>
    <p:extLst>
      <p:ext uri="{BB962C8B-B14F-4D97-AF65-F5344CB8AC3E}">
        <p14:creationId xmlns:p14="http://schemas.microsoft.com/office/powerpoint/2010/main" val="490016902"/>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47209" y="4861442"/>
            <a:ext cx="5209647" cy="4605576"/>
          </a:xfrm>
          <a:noFill/>
          <a:ln/>
        </p:spPr>
        <p:txBody>
          <a:bodyPr/>
          <a:lstStyle/>
          <a:p>
            <a:endParaRPr lang="ko-KR" altLang="en-US"/>
          </a:p>
        </p:txBody>
      </p:sp>
    </p:spTree>
    <p:extLst>
      <p:ext uri="{BB962C8B-B14F-4D97-AF65-F5344CB8AC3E}">
        <p14:creationId xmlns:p14="http://schemas.microsoft.com/office/powerpoint/2010/main" val="490016902"/>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47209" y="4861442"/>
            <a:ext cx="5209647" cy="4605576"/>
          </a:xfrm>
          <a:noFill/>
          <a:ln/>
        </p:spPr>
        <p:txBody>
          <a:bodyPr/>
          <a:lstStyle/>
          <a:p>
            <a:endParaRPr lang="ko-KR" altLang="en-US"/>
          </a:p>
        </p:txBody>
      </p:sp>
    </p:spTree>
    <p:extLst>
      <p:ext uri="{BB962C8B-B14F-4D97-AF65-F5344CB8AC3E}">
        <p14:creationId xmlns:p14="http://schemas.microsoft.com/office/powerpoint/2010/main" val="490016902"/>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47209" y="4861442"/>
            <a:ext cx="5209647" cy="4605576"/>
          </a:xfrm>
          <a:noFill/>
          <a:ln/>
        </p:spPr>
        <p:txBody>
          <a:bodyPr/>
          <a:lstStyle/>
          <a:p>
            <a:endParaRPr lang="ko-KR" altLang="en-US"/>
          </a:p>
        </p:txBody>
      </p:sp>
    </p:spTree>
    <p:extLst>
      <p:ext uri="{BB962C8B-B14F-4D97-AF65-F5344CB8AC3E}">
        <p14:creationId xmlns:p14="http://schemas.microsoft.com/office/powerpoint/2010/main" val="490016902"/>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47209" y="4861442"/>
            <a:ext cx="5209647" cy="4605576"/>
          </a:xfrm>
          <a:noFill/>
          <a:ln/>
        </p:spPr>
        <p:txBody>
          <a:bodyPr/>
          <a:lstStyle/>
          <a:p>
            <a:endParaRPr lang="ko-KR" altLang="en-US"/>
          </a:p>
        </p:txBody>
      </p:sp>
    </p:spTree>
    <p:extLst>
      <p:ext uri="{BB962C8B-B14F-4D97-AF65-F5344CB8AC3E}">
        <p14:creationId xmlns:p14="http://schemas.microsoft.com/office/powerpoint/2010/main" val="3658624357"/>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47209" y="4861442"/>
            <a:ext cx="5209647" cy="4605576"/>
          </a:xfrm>
          <a:noFill/>
          <a:ln/>
        </p:spPr>
        <p:txBody>
          <a:bodyPr/>
          <a:lstStyle/>
          <a:p>
            <a:endParaRPr lang="ko-KR" altLang="en-US"/>
          </a:p>
        </p:txBody>
      </p:sp>
    </p:spTree>
    <p:extLst>
      <p:ext uri="{BB962C8B-B14F-4D97-AF65-F5344CB8AC3E}">
        <p14:creationId xmlns:p14="http://schemas.microsoft.com/office/powerpoint/2010/main" val="3268168032"/>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47209" y="4861442"/>
            <a:ext cx="5209647" cy="4605576"/>
          </a:xfrm>
          <a:noFill/>
          <a:ln/>
        </p:spPr>
        <p:txBody>
          <a:bodyPr/>
          <a:lstStyle/>
          <a:p>
            <a:endParaRPr lang="ko-KR" altLang="en-US"/>
          </a:p>
        </p:txBody>
      </p:sp>
    </p:spTree>
    <p:extLst>
      <p:ext uri="{BB962C8B-B14F-4D97-AF65-F5344CB8AC3E}">
        <p14:creationId xmlns:p14="http://schemas.microsoft.com/office/powerpoint/2010/main" val="3615653673"/>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47209" y="4861442"/>
            <a:ext cx="5209647" cy="4605576"/>
          </a:xfrm>
          <a:noFill/>
          <a:ln/>
        </p:spPr>
        <p:txBody>
          <a:bodyPr/>
          <a:lstStyle/>
          <a:p>
            <a:endParaRPr lang="ko-KR" altLang="en-US"/>
          </a:p>
        </p:txBody>
      </p:sp>
    </p:spTree>
    <p:extLst>
      <p:ext uri="{BB962C8B-B14F-4D97-AF65-F5344CB8AC3E}">
        <p14:creationId xmlns:p14="http://schemas.microsoft.com/office/powerpoint/2010/main" val="2215166156"/>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541D30-2AE6-735D-7633-F3D5138EB1A2}"/>
            </a:ext>
          </a:extLst>
        </p:cNvPr>
        <p:cNvGrpSpPr/>
        <p:nvPr/>
      </p:nvGrpSpPr>
      <p:grpSpPr>
        <a:xfrm>
          <a:off x="0" y="0"/>
          <a:ext cx="0" cy="0"/>
          <a:chOff x="0" y="0"/>
          <a:chExt cx="0" cy="0"/>
        </a:xfrm>
      </p:grpSpPr>
      <p:sp>
        <p:nvSpPr>
          <p:cNvPr id="115714" name="슬라이드 이미지 개체 틀 1">
            <a:extLst>
              <a:ext uri="{FF2B5EF4-FFF2-40B4-BE49-F238E27FC236}">
                <a16:creationId xmlns:a16="http://schemas.microsoft.com/office/drawing/2014/main" id="{77389DA2-174C-0A54-17B5-E6875D3E0C45}"/>
              </a:ext>
            </a:extLst>
          </p:cNvPr>
          <p:cNvSpPr>
            <a:spLocks noGrp="1" noRot="1" noChangeAspect="1" noTextEdit="1"/>
          </p:cNvSpPr>
          <p:nvPr>
            <p:ph type="sldImg"/>
          </p:nvPr>
        </p:nvSpPr>
        <p:spPr>
          <a:ln/>
        </p:spPr>
      </p:sp>
      <p:sp>
        <p:nvSpPr>
          <p:cNvPr id="115715" name="슬라이드 노트 개체 틀 2">
            <a:extLst>
              <a:ext uri="{FF2B5EF4-FFF2-40B4-BE49-F238E27FC236}">
                <a16:creationId xmlns:a16="http://schemas.microsoft.com/office/drawing/2014/main" id="{6F95009A-6502-DA26-5B9F-5439D8C3E747}"/>
              </a:ext>
            </a:extLst>
          </p:cNvPr>
          <p:cNvSpPr>
            <a:spLocks noGrp="1"/>
          </p:cNvSpPr>
          <p:nvPr>
            <p:ph type="body" idx="1"/>
          </p:nvPr>
        </p:nvSpPr>
        <p:spPr>
          <a:noFill/>
          <a:ln/>
        </p:spPr>
        <p:txBody>
          <a:bodyPr/>
          <a:lstStyle/>
          <a:p>
            <a:endParaRPr lang="ko-KR" altLang="en-US" dirty="0"/>
          </a:p>
        </p:txBody>
      </p:sp>
      <p:sp>
        <p:nvSpPr>
          <p:cNvPr id="115716" name="슬라이드 번호 개체 틀 3">
            <a:extLst>
              <a:ext uri="{FF2B5EF4-FFF2-40B4-BE49-F238E27FC236}">
                <a16:creationId xmlns:a16="http://schemas.microsoft.com/office/drawing/2014/main" id="{EC84BFB4-1CC2-B2C7-5FD3-78A6A7156B06}"/>
              </a:ext>
            </a:extLst>
          </p:cNvPr>
          <p:cNvSpPr>
            <a:spLocks noGrp="1"/>
          </p:cNvSpPr>
          <p:nvPr>
            <p:ph type="sldNum" sz="quarter" idx="5"/>
          </p:nvPr>
        </p:nvSpPr>
        <p:spPr>
          <a:noFill/>
        </p:spPr>
        <p:txBody>
          <a:bodyPr/>
          <a:lstStyle/>
          <a:p>
            <a:fld id="{62658B1A-0BAC-4515-8601-4EFAC453F6FD}" type="slidenum">
              <a:rPr lang="en-US" altLang="ko-KR" smtClean="0"/>
              <a:pPr/>
              <a:t>403</a:t>
            </a:fld>
            <a:endParaRPr lang="en-US" altLang="ko-KR" dirty="0"/>
          </a:p>
        </p:txBody>
      </p:sp>
    </p:spTree>
    <p:extLst>
      <p:ext uri="{BB962C8B-B14F-4D97-AF65-F5344CB8AC3E}">
        <p14:creationId xmlns:p14="http://schemas.microsoft.com/office/powerpoint/2010/main" val="2149684558"/>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8B1C21-9064-BFDC-6335-374D2B7F90D9}"/>
            </a:ext>
          </a:extLst>
        </p:cNvPr>
        <p:cNvGrpSpPr/>
        <p:nvPr/>
      </p:nvGrpSpPr>
      <p:grpSpPr>
        <a:xfrm>
          <a:off x="0" y="0"/>
          <a:ext cx="0" cy="0"/>
          <a:chOff x="0" y="0"/>
          <a:chExt cx="0" cy="0"/>
        </a:xfrm>
      </p:grpSpPr>
      <p:sp>
        <p:nvSpPr>
          <p:cNvPr id="115714" name="슬라이드 이미지 개체 틀 1">
            <a:extLst>
              <a:ext uri="{FF2B5EF4-FFF2-40B4-BE49-F238E27FC236}">
                <a16:creationId xmlns:a16="http://schemas.microsoft.com/office/drawing/2014/main" id="{71281422-02E6-87E1-2FA6-B7FA4E6FFAC0}"/>
              </a:ext>
            </a:extLst>
          </p:cNvPr>
          <p:cNvSpPr>
            <a:spLocks noGrp="1" noRot="1" noChangeAspect="1" noTextEdit="1"/>
          </p:cNvSpPr>
          <p:nvPr>
            <p:ph type="sldImg"/>
          </p:nvPr>
        </p:nvSpPr>
        <p:spPr>
          <a:ln/>
        </p:spPr>
      </p:sp>
      <p:sp>
        <p:nvSpPr>
          <p:cNvPr id="115715" name="슬라이드 노트 개체 틀 2">
            <a:extLst>
              <a:ext uri="{FF2B5EF4-FFF2-40B4-BE49-F238E27FC236}">
                <a16:creationId xmlns:a16="http://schemas.microsoft.com/office/drawing/2014/main" id="{70A1F560-8AF4-4735-5C54-C1D5F9CA170E}"/>
              </a:ext>
            </a:extLst>
          </p:cNvPr>
          <p:cNvSpPr>
            <a:spLocks noGrp="1"/>
          </p:cNvSpPr>
          <p:nvPr>
            <p:ph type="body" idx="1"/>
          </p:nvPr>
        </p:nvSpPr>
        <p:spPr>
          <a:noFill/>
          <a:ln/>
        </p:spPr>
        <p:txBody>
          <a:bodyPr/>
          <a:lstStyle/>
          <a:p>
            <a:endParaRPr lang="ko-KR" altLang="en-US" dirty="0"/>
          </a:p>
        </p:txBody>
      </p:sp>
      <p:sp>
        <p:nvSpPr>
          <p:cNvPr id="115716" name="슬라이드 번호 개체 틀 3">
            <a:extLst>
              <a:ext uri="{FF2B5EF4-FFF2-40B4-BE49-F238E27FC236}">
                <a16:creationId xmlns:a16="http://schemas.microsoft.com/office/drawing/2014/main" id="{53EE0545-F512-343F-4047-5C508C3D924E}"/>
              </a:ext>
            </a:extLst>
          </p:cNvPr>
          <p:cNvSpPr>
            <a:spLocks noGrp="1"/>
          </p:cNvSpPr>
          <p:nvPr>
            <p:ph type="sldNum" sz="quarter" idx="5"/>
          </p:nvPr>
        </p:nvSpPr>
        <p:spPr>
          <a:noFill/>
        </p:spPr>
        <p:txBody>
          <a:bodyPr/>
          <a:lstStyle/>
          <a:p>
            <a:fld id="{62658B1A-0BAC-4515-8601-4EFAC453F6FD}" type="slidenum">
              <a:rPr lang="en-US" altLang="ko-KR" smtClean="0"/>
              <a:pPr/>
              <a:t>404</a:t>
            </a:fld>
            <a:endParaRPr lang="en-US" altLang="ko-KR" dirty="0"/>
          </a:p>
        </p:txBody>
      </p:sp>
    </p:spTree>
    <p:extLst>
      <p:ext uri="{BB962C8B-B14F-4D97-AF65-F5344CB8AC3E}">
        <p14:creationId xmlns:p14="http://schemas.microsoft.com/office/powerpoint/2010/main" val="3178283417"/>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405</a:t>
            </a:fld>
            <a:endParaRPr lang="ko-KR" altLang="en-US"/>
          </a:p>
        </p:txBody>
      </p:sp>
    </p:spTree>
    <p:extLst>
      <p:ext uri="{BB962C8B-B14F-4D97-AF65-F5344CB8AC3E}">
        <p14:creationId xmlns:p14="http://schemas.microsoft.com/office/powerpoint/2010/main" val="1292166019"/>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409</a:t>
            </a:fld>
            <a:endParaRPr lang="ko-KR" altLang="en-US"/>
          </a:p>
        </p:txBody>
      </p:sp>
    </p:spTree>
    <p:extLst>
      <p:ext uri="{BB962C8B-B14F-4D97-AF65-F5344CB8AC3E}">
        <p14:creationId xmlns:p14="http://schemas.microsoft.com/office/powerpoint/2010/main" val="290059376"/>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413</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414</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415</a:t>
            </a:fld>
            <a:endParaRPr lang="ko-KR" altLang="en-US"/>
          </a:p>
        </p:txBody>
      </p:sp>
    </p:spTree>
    <p:extLst>
      <p:ext uri="{BB962C8B-B14F-4D97-AF65-F5344CB8AC3E}">
        <p14:creationId xmlns:p14="http://schemas.microsoft.com/office/powerpoint/2010/main" val="857218565"/>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417</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420</a:t>
            </a:fld>
            <a:endParaRPr lang="ko-KR" altLang="en-US"/>
          </a:p>
        </p:txBody>
      </p:sp>
    </p:spTree>
    <p:extLst>
      <p:ext uri="{BB962C8B-B14F-4D97-AF65-F5344CB8AC3E}">
        <p14:creationId xmlns:p14="http://schemas.microsoft.com/office/powerpoint/2010/main" val="2017662967"/>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433</a:t>
            </a:fld>
            <a:endParaRPr lang="ko-KR" altLang="en-US"/>
          </a:p>
        </p:txBody>
      </p:sp>
    </p:spTree>
    <p:extLst>
      <p:ext uri="{BB962C8B-B14F-4D97-AF65-F5344CB8AC3E}">
        <p14:creationId xmlns:p14="http://schemas.microsoft.com/office/powerpoint/2010/main" val="1512880247"/>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439</a:t>
            </a:fld>
            <a:endParaRPr lang="ko-KR" altLang="en-US"/>
          </a:p>
        </p:txBody>
      </p:sp>
    </p:spTree>
    <p:extLst>
      <p:ext uri="{BB962C8B-B14F-4D97-AF65-F5344CB8AC3E}">
        <p14:creationId xmlns:p14="http://schemas.microsoft.com/office/powerpoint/2010/main" val="3469184475"/>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슬라이드 이미지 개체 틀 1"/>
          <p:cNvSpPr>
            <a:spLocks noGrp="1" noRot="1" noChangeAspect="1" noTextEdit="1"/>
          </p:cNvSpPr>
          <p:nvPr>
            <p:ph type="sldImg"/>
          </p:nvPr>
        </p:nvSpPr>
        <p:spPr>
          <a:ln/>
        </p:spPr>
      </p:sp>
      <p:sp>
        <p:nvSpPr>
          <p:cNvPr id="453635" name="슬라이드 노트 개체 틀 2"/>
          <p:cNvSpPr>
            <a:spLocks noGrp="1"/>
          </p:cNvSpPr>
          <p:nvPr>
            <p:ph type="body" idx="1"/>
          </p:nvPr>
        </p:nvSpPr>
        <p:spPr>
          <a:noFill/>
          <a:ln/>
        </p:spPr>
        <p:txBody>
          <a:bodyPr/>
          <a:lstStyle/>
          <a:p>
            <a:endParaRPr lang="ko-KR" altLang="en-US"/>
          </a:p>
        </p:txBody>
      </p:sp>
      <p:sp>
        <p:nvSpPr>
          <p:cNvPr id="453636" name="슬라이드 번호 개체 틀 3"/>
          <p:cNvSpPr>
            <a:spLocks noGrp="1"/>
          </p:cNvSpPr>
          <p:nvPr>
            <p:ph type="sldNum" sz="quarter" idx="5"/>
          </p:nvPr>
        </p:nvSpPr>
        <p:spPr>
          <a:noFill/>
        </p:spPr>
        <p:txBody>
          <a:bodyPr/>
          <a:lstStyle/>
          <a:p>
            <a:fld id="{93D03F6C-DDD1-4452-B0C1-68DFE0FFD434}" type="slidenum">
              <a:rPr lang="en-US" altLang="ko-KR" smtClean="0"/>
              <a:pPr/>
              <a:t>441</a:t>
            </a:fld>
            <a:endParaRPr lang="en-US" altLang="ko-KR"/>
          </a:p>
        </p:txBody>
      </p:sp>
    </p:spTree>
    <p:extLst>
      <p:ext uri="{BB962C8B-B14F-4D97-AF65-F5344CB8AC3E}">
        <p14:creationId xmlns:p14="http://schemas.microsoft.com/office/powerpoint/2010/main" val="3855613672"/>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455</a:t>
            </a:fld>
            <a:endParaRPr lang="ko-KR" altLang="en-US"/>
          </a:p>
        </p:txBody>
      </p:sp>
    </p:spTree>
    <p:extLst>
      <p:ext uri="{BB962C8B-B14F-4D97-AF65-F5344CB8AC3E}">
        <p14:creationId xmlns:p14="http://schemas.microsoft.com/office/powerpoint/2010/main" val="4067874618"/>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463</a:t>
            </a:fld>
            <a:endParaRPr lang="ko-KR" altLang="en-US"/>
          </a:p>
        </p:txBody>
      </p:sp>
    </p:spTree>
    <p:extLst>
      <p:ext uri="{BB962C8B-B14F-4D97-AF65-F5344CB8AC3E}">
        <p14:creationId xmlns:p14="http://schemas.microsoft.com/office/powerpoint/2010/main" val="329106589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465</a:t>
            </a:fld>
            <a:endParaRPr lang="ko-KR" altLang="en-US"/>
          </a:p>
        </p:txBody>
      </p:sp>
    </p:spTree>
    <p:extLst>
      <p:ext uri="{BB962C8B-B14F-4D97-AF65-F5344CB8AC3E}">
        <p14:creationId xmlns:p14="http://schemas.microsoft.com/office/powerpoint/2010/main" val="1937456753"/>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466</a:t>
            </a:fld>
            <a:endParaRPr lang="ko-KR" altLang="en-US"/>
          </a:p>
        </p:txBody>
      </p:sp>
    </p:spTree>
    <p:extLst>
      <p:ext uri="{BB962C8B-B14F-4D97-AF65-F5344CB8AC3E}">
        <p14:creationId xmlns:p14="http://schemas.microsoft.com/office/powerpoint/2010/main" val="3734745502"/>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467</a:t>
            </a:fld>
            <a:endParaRPr lang="ko-KR" altLang="en-US"/>
          </a:p>
        </p:txBody>
      </p:sp>
    </p:spTree>
    <p:extLst>
      <p:ext uri="{BB962C8B-B14F-4D97-AF65-F5344CB8AC3E}">
        <p14:creationId xmlns:p14="http://schemas.microsoft.com/office/powerpoint/2010/main" val="1786762747"/>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47209" y="4861442"/>
            <a:ext cx="5209647" cy="4605576"/>
          </a:xfrm>
          <a:noFill/>
          <a:ln/>
        </p:spPr>
        <p:txBody>
          <a:bodyPr/>
          <a:lstStyle/>
          <a:p>
            <a:endParaRPr lang="ko-KR" altLang="en-US"/>
          </a:p>
        </p:txBody>
      </p:sp>
    </p:spTree>
    <p:extLst>
      <p:ext uri="{BB962C8B-B14F-4D97-AF65-F5344CB8AC3E}">
        <p14:creationId xmlns:p14="http://schemas.microsoft.com/office/powerpoint/2010/main" val="766190716"/>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슬라이드 이미지 개체 틀 1"/>
          <p:cNvSpPr>
            <a:spLocks noGrp="1" noRot="1" noChangeAspect="1" noTextEdit="1"/>
          </p:cNvSpPr>
          <p:nvPr>
            <p:ph type="sldImg"/>
          </p:nvPr>
        </p:nvSpPr>
        <p:spPr>
          <a:ln/>
        </p:spPr>
      </p:sp>
      <p:sp>
        <p:nvSpPr>
          <p:cNvPr id="453635" name="슬라이드 노트 개체 틀 2"/>
          <p:cNvSpPr>
            <a:spLocks noGrp="1"/>
          </p:cNvSpPr>
          <p:nvPr>
            <p:ph type="body" idx="1"/>
          </p:nvPr>
        </p:nvSpPr>
        <p:spPr>
          <a:noFill/>
          <a:ln/>
        </p:spPr>
        <p:txBody>
          <a:bodyPr/>
          <a:lstStyle/>
          <a:p>
            <a:endParaRPr lang="ko-KR" altLang="en-US"/>
          </a:p>
        </p:txBody>
      </p:sp>
      <p:sp>
        <p:nvSpPr>
          <p:cNvPr id="453636" name="슬라이드 번호 개체 틀 3"/>
          <p:cNvSpPr>
            <a:spLocks noGrp="1"/>
          </p:cNvSpPr>
          <p:nvPr>
            <p:ph type="sldNum" sz="quarter" idx="5"/>
          </p:nvPr>
        </p:nvSpPr>
        <p:spPr>
          <a:noFill/>
        </p:spPr>
        <p:txBody>
          <a:bodyPr/>
          <a:lstStyle/>
          <a:p>
            <a:fld id="{93D03F6C-DDD1-4452-B0C1-68DFE0FFD434}" type="slidenum">
              <a:rPr lang="en-US" altLang="ko-KR" smtClean="0"/>
              <a:pPr/>
              <a:t>529</a:t>
            </a:fld>
            <a:endParaRPr lang="en-US" altLang="ko-KR"/>
          </a:p>
        </p:txBody>
      </p:sp>
    </p:spTree>
    <p:extLst>
      <p:ext uri="{BB962C8B-B14F-4D97-AF65-F5344CB8AC3E}">
        <p14:creationId xmlns:p14="http://schemas.microsoft.com/office/powerpoint/2010/main" val="3855613672"/>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슬라이드 이미지 개체 틀 1"/>
          <p:cNvSpPr>
            <a:spLocks noGrp="1" noRot="1" noChangeAspect="1" noTextEdit="1"/>
          </p:cNvSpPr>
          <p:nvPr>
            <p:ph type="sldImg"/>
          </p:nvPr>
        </p:nvSpPr>
        <p:spPr>
          <a:ln/>
        </p:spPr>
      </p:sp>
      <p:sp>
        <p:nvSpPr>
          <p:cNvPr id="453635" name="슬라이드 노트 개체 틀 2"/>
          <p:cNvSpPr>
            <a:spLocks noGrp="1"/>
          </p:cNvSpPr>
          <p:nvPr>
            <p:ph type="body" idx="1"/>
          </p:nvPr>
        </p:nvSpPr>
        <p:spPr>
          <a:noFill/>
          <a:ln/>
        </p:spPr>
        <p:txBody>
          <a:bodyPr/>
          <a:lstStyle/>
          <a:p>
            <a:endParaRPr lang="ko-KR" altLang="en-US"/>
          </a:p>
        </p:txBody>
      </p:sp>
      <p:sp>
        <p:nvSpPr>
          <p:cNvPr id="453636" name="슬라이드 번호 개체 틀 3"/>
          <p:cNvSpPr>
            <a:spLocks noGrp="1"/>
          </p:cNvSpPr>
          <p:nvPr>
            <p:ph type="sldNum" sz="quarter" idx="5"/>
          </p:nvPr>
        </p:nvSpPr>
        <p:spPr>
          <a:noFill/>
        </p:spPr>
        <p:txBody>
          <a:bodyPr/>
          <a:lstStyle/>
          <a:p>
            <a:fld id="{93D03F6C-DDD1-4452-B0C1-68DFE0FFD434}" type="slidenum">
              <a:rPr lang="en-US" altLang="ko-KR" smtClean="0"/>
              <a:pPr/>
              <a:t>530</a:t>
            </a:fld>
            <a:endParaRPr lang="en-US" altLang="ko-KR"/>
          </a:p>
        </p:txBody>
      </p:sp>
    </p:spTree>
    <p:extLst>
      <p:ext uri="{BB962C8B-B14F-4D97-AF65-F5344CB8AC3E}">
        <p14:creationId xmlns:p14="http://schemas.microsoft.com/office/powerpoint/2010/main" val="2541848431"/>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dirty="0"/>
          </a:p>
        </p:txBody>
      </p:sp>
      <p:sp>
        <p:nvSpPr>
          <p:cNvPr id="4" name="슬라이드 번호 개체 틀 3"/>
          <p:cNvSpPr>
            <a:spLocks noGrp="1"/>
          </p:cNvSpPr>
          <p:nvPr>
            <p:ph type="sldNum" sz="quarter" idx="10"/>
          </p:nvPr>
        </p:nvSpPr>
        <p:spPr/>
        <p:txBody>
          <a:bodyPr/>
          <a:lstStyle/>
          <a:p>
            <a:fld id="{30C005C8-BD53-41EA-B159-BC12A6DFFB7D}" type="slidenum">
              <a:rPr lang="ko-KR" altLang="en-US" smtClean="0"/>
              <a:t>546</a:t>
            </a:fld>
            <a:endParaRPr lang="ko-KR" altLang="en-US"/>
          </a:p>
        </p:txBody>
      </p:sp>
    </p:spTree>
    <p:extLst>
      <p:ext uri="{BB962C8B-B14F-4D97-AF65-F5344CB8AC3E}">
        <p14:creationId xmlns:p14="http://schemas.microsoft.com/office/powerpoint/2010/main" val="782656020"/>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슬라이드 이미지 개체 틀 1"/>
          <p:cNvSpPr>
            <a:spLocks noGrp="1" noRot="1" noChangeAspect="1" noTextEdit="1"/>
          </p:cNvSpPr>
          <p:nvPr>
            <p:ph type="sldImg"/>
          </p:nvPr>
        </p:nvSpPr>
        <p:spPr>
          <a:ln/>
        </p:spPr>
      </p:sp>
      <p:sp>
        <p:nvSpPr>
          <p:cNvPr id="453635" name="슬라이드 노트 개체 틀 2"/>
          <p:cNvSpPr>
            <a:spLocks noGrp="1"/>
          </p:cNvSpPr>
          <p:nvPr>
            <p:ph type="body" idx="1"/>
          </p:nvPr>
        </p:nvSpPr>
        <p:spPr>
          <a:noFill/>
          <a:ln/>
        </p:spPr>
        <p:txBody>
          <a:bodyPr/>
          <a:lstStyle/>
          <a:p>
            <a:endParaRPr lang="ko-KR" altLang="en-US"/>
          </a:p>
        </p:txBody>
      </p:sp>
      <p:sp>
        <p:nvSpPr>
          <p:cNvPr id="453636" name="슬라이드 번호 개체 틀 3"/>
          <p:cNvSpPr>
            <a:spLocks noGrp="1"/>
          </p:cNvSpPr>
          <p:nvPr>
            <p:ph type="sldNum" sz="quarter" idx="5"/>
          </p:nvPr>
        </p:nvSpPr>
        <p:spPr>
          <a:noFill/>
        </p:spPr>
        <p:txBody>
          <a:bodyPr/>
          <a:lstStyle/>
          <a:p>
            <a:fld id="{93D03F6C-DDD1-4452-B0C1-68DFE0FFD434}" type="slidenum">
              <a:rPr lang="en-US" altLang="ko-KR" smtClean="0"/>
              <a:pPr/>
              <a:t>547</a:t>
            </a:fld>
            <a:endParaRPr lang="en-US" altLang="ko-KR"/>
          </a:p>
        </p:txBody>
      </p:sp>
    </p:spTree>
    <p:extLst>
      <p:ext uri="{BB962C8B-B14F-4D97-AF65-F5344CB8AC3E}">
        <p14:creationId xmlns:p14="http://schemas.microsoft.com/office/powerpoint/2010/main" val="385561367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30C005C8-BD53-41EA-B159-BC12A6DFFB7D}"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551</a:t>
            </a:fld>
            <a:endPar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3469184475"/>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normAutofit/>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A7C1EB2B-CABE-490A-9E3C-EEC5379B65FC}"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553</a:t>
            </a:fld>
            <a:endPar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91913720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normAutofit/>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A7C1EB2B-CABE-490A-9E3C-EEC5379B65FC}"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554</a:t>
            </a:fld>
            <a:endPar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3008007538"/>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normAutofit/>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A7C1EB2B-CABE-490A-9E3C-EEC5379B65FC}"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555</a:t>
            </a:fld>
            <a:endPar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2830733209"/>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p:cNvSpPr>
            <a:spLocks noGrp="1" noRot="1" noChangeAspect="1" noChangeArrowheads="1" noTextEdit="1"/>
          </p:cNvSpPr>
          <p:nvPr>
            <p:ph type="sldImg"/>
          </p:nvPr>
        </p:nvSpPr>
        <p:spPr>
          <a:ln/>
        </p:spPr>
      </p:sp>
      <p:sp>
        <p:nvSpPr>
          <p:cNvPr id="53251" name="Rectangle 3"/>
          <p:cNvSpPr>
            <a:spLocks noGrp="1" noChangeArrowheads="1"/>
          </p:cNvSpPr>
          <p:nvPr>
            <p:ph type="body" idx="1"/>
          </p:nvPr>
        </p:nvSpPr>
        <p:spPr>
          <a:xfrm>
            <a:off x="641278" y="5574458"/>
            <a:ext cx="5406747" cy="5281656"/>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ko-KR" altLang="en-US" sz="1400" dirty="0"/>
          </a:p>
        </p:txBody>
      </p:sp>
    </p:spTree>
    <p:extLst>
      <p:ext uri="{BB962C8B-B14F-4D97-AF65-F5344CB8AC3E}">
        <p14:creationId xmlns:p14="http://schemas.microsoft.com/office/powerpoint/2010/main" val="539440254"/>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a:spLocks noGrp="1" noChangeArrowheads="1"/>
          </p:cNvSpPr>
          <p:nvPr>
            <p:ph type="sldNum" sz="quarter" idx="5"/>
          </p:nvPr>
        </p:nvSpPr>
        <p:spPr>
          <a:ln/>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6CBB0B75-A2E4-4E38-9584-5D835D784A85}" type="slidenum">
              <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557</a:t>
            </a:fld>
            <a:endParaRPr kumimoji="0" lang="en-US" altLang="ko-KR"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
        <p:nvSpPr>
          <p:cNvPr id="362498" name="Rectangle 7"/>
          <p:cNvSpPr txBox="1">
            <a:spLocks noGrp="1" noChangeArrowheads="1"/>
          </p:cNvSpPr>
          <p:nvPr/>
        </p:nvSpPr>
        <p:spPr bwMode="auto">
          <a:xfrm>
            <a:off x="3625640" y="11147531"/>
            <a:ext cx="2773680" cy="586820"/>
          </a:xfrm>
          <a:prstGeom prst="rect">
            <a:avLst/>
          </a:prstGeom>
          <a:noFill/>
          <a:ln w="9525">
            <a:noFill/>
            <a:miter lim="800000"/>
            <a:headEnd/>
            <a:tailEnd/>
          </a:ln>
        </p:spPr>
        <p:txBody>
          <a:bodyPr anchor="b"/>
          <a:lstStyle/>
          <a:p>
            <a:pPr marL="0" marR="0" lvl="0" indent="0" algn="r" defTabSz="914400" rtl="0" eaLnBrk="1" fontAlgn="auto" latinLnBrk="1" hangingPunct="1">
              <a:lnSpc>
                <a:spcPct val="100000"/>
              </a:lnSpc>
              <a:spcBef>
                <a:spcPts val="0"/>
              </a:spcBef>
              <a:spcAft>
                <a:spcPts val="0"/>
              </a:spcAft>
              <a:buClrTx/>
              <a:buSzTx/>
              <a:buFontTx/>
              <a:buNone/>
              <a:tabLst/>
              <a:defRPr/>
            </a:pPr>
            <a:fld id="{95ABE415-5D6B-46E3-A8AE-ED591CD8A5B1}" type="slidenum">
              <a:rPr kumimoji="1" lang="en-US" altLang="ko-KR" sz="1200" b="0" i="0" u="none" strike="noStrike" kern="1200" cap="none" spc="0" normalizeH="0" baseline="0" noProof="0">
                <a:ln>
                  <a:noFill/>
                </a:ln>
                <a:solidFill>
                  <a:prstClr val="black"/>
                </a:solidFill>
                <a:effectLst/>
                <a:uLnTx/>
                <a:uFillTx/>
                <a:latin typeface="굴림" pitchFamily="50" charset="-127"/>
                <a:ea typeface="굴림"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557</a:t>
            </a:fld>
            <a:endParaRPr kumimoji="1" lang="en-US" altLang="ko-KR" sz="1200" b="0" i="0" u="none" strike="noStrike" kern="1200" cap="none" spc="0" normalizeH="0" baseline="0" noProof="0">
              <a:ln>
                <a:noFill/>
              </a:ln>
              <a:solidFill>
                <a:prstClr val="black"/>
              </a:solidFill>
              <a:effectLst/>
              <a:uLnTx/>
              <a:uFillTx/>
              <a:latin typeface="굴림" pitchFamily="50" charset="-127"/>
              <a:ea typeface="굴림" pitchFamily="50" charset="-127"/>
              <a:cs typeface="+mn-cs"/>
            </a:endParaRPr>
          </a:p>
        </p:txBody>
      </p:sp>
      <p:sp>
        <p:nvSpPr>
          <p:cNvPr id="362499" name="Rectangle 2"/>
          <p:cNvSpPr>
            <a:spLocks noGrp="1" noRot="1" noChangeAspect="1" noChangeArrowheads="1" noTextEdit="1"/>
          </p:cNvSpPr>
          <p:nvPr>
            <p:ph type="sldImg"/>
          </p:nvPr>
        </p:nvSpPr>
        <p:spPr>
          <a:ln/>
        </p:spPr>
      </p:sp>
      <p:sp>
        <p:nvSpPr>
          <p:cNvPr id="362500" name="Rectangle 3"/>
          <p:cNvSpPr>
            <a:spLocks noGrp="1" noChangeArrowheads="1"/>
          </p:cNvSpPr>
          <p:nvPr>
            <p:ph type="body" idx="1"/>
          </p:nvPr>
        </p:nvSpPr>
        <p:spPr/>
        <p:txBody>
          <a:bodyPr/>
          <a:lstStyle/>
          <a:p>
            <a:endParaRPr lang="ko-KR" altLang="en-US" dirty="0">
              <a:ea typeface="굴림" pitchFamily="50" charset="-127"/>
            </a:endParaRPr>
          </a:p>
        </p:txBody>
      </p:sp>
    </p:spTree>
    <p:extLst>
      <p:ext uri="{BB962C8B-B14F-4D97-AF65-F5344CB8AC3E}">
        <p14:creationId xmlns:p14="http://schemas.microsoft.com/office/powerpoint/2010/main" val="280402397"/>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a:latin typeface="굴림" charset="-127"/>
              <a:ea typeface="굴림" charset="-127"/>
            </a:endParaRPr>
          </a:p>
        </p:txBody>
      </p:sp>
      <p:sp>
        <p:nvSpPr>
          <p:cNvPr id="136196" name="슬라이드 번호 개체 틀 3"/>
          <p:cNvSpPr>
            <a:spLocks noGrp="1"/>
          </p:cNvSpPr>
          <p:nvPr>
            <p:ph type="sldNum" sz="quarter" idx="5"/>
          </p:nvPr>
        </p:nvSpPr>
        <p:spPr>
          <a:noFill/>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01AD53DB-3456-474F-B3C9-2433955C3C87}" type="slidenum">
              <a:rPr kumimoji="0" lang="en-US" altLang="ko-KR" sz="1200" b="0" i="0" u="none" strike="noStrike" kern="1200" cap="none" spc="0" normalizeH="0" baseline="0" noProof="0" smtClean="0">
                <a:ln>
                  <a:noFill/>
                </a:ln>
                <a:solidFill>
                  <a:prstClr val="black"/>
                </a:solidFill>
                <a:effectLst/>
                <a:uLnTx/>
                <a:uFillTx/>
                <a:latin typeface="굴림" charset="-127"/>
                <a:ea typeface="굴림"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558</a:t>
            </a:fld>
            <a:endParaRPr kumimoji="0" lang="en-US" altLang="ko-KR" sz="1200" b="0" i="0" u="none" strike="noStrike" kern="1200" cap="none" spc="0" normalizeH="0" baseline="0" noProof="0">
              <a:ln>
                <a:noFill/>
              </a:ln>
              <a:solidFill>
                <a:prstClr val="black"/>
              </a:solidFill>
              <a:effectLst/>
              <a:uLnTx/>
              <a:uFillTx/>
              <a:latin typeface="굴림" charset="-127"/>
              <a:ea typeface="굴림" charset="-127"/>
              <a:cs typeface="+mn-cs"/>
            </a:endParaRPr>
          </a:p>
        </p:txBody>
      </p:sp>
    </p:spTree>
    <p:extLst>
      <p:ext uri="{BB962C8B-B14F-4D97-AF65-F5344CB8AC3E}">
        <p14:creationId xmlns:p14="http://schemas.microsoft.com/office/powerpoint/2010/main" val="108142118"/>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a:latin typeface="굴림" charset="-127"/>
              <a:ea typeface="굴림" charset="-127"/>
            </a:endParaRPr>
          </a:p>
        </p:txBody>
      </p:sp>
      <p:sp>
        <p:nvSpPr>
          <p:cNvPr id="136196" name="슬라이드 번호 개체 틀 3"/>
          <p:cNvSpPr>
            <a:spLocks noGrp="1"/>
          </p:cNvSpPr>
          <p:nvPr>
            <p:ph type="sldNum" sz="quarter" idx="5"/>
          </p:nvPr>
        </p:nvSpPr>
        <p:spPr>
          <a:noFill/>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01AD53DB-3456-474F-B3C9-2433955C3C87}" type="slidenum">
              <a:rPr kumimoji="0" lang="en-US" altLang="ko-KR" sz="1200" b="0" i="0" u="none" strike="noStrike" kern="1200" cap="none" spc="0" normalizeH="0" baseline="0" noProof="0" smtClean="0">
                <a:ln>
                  <a:noFill/>
                </a:ln>
                <a:solidFill>
                  <a:prstClr val="black"/>
                </a:solidFill>
                <a:effectLst/>
                <a:uLnTx/>
                <a:uFillTx/>
                <a:latin typeface="굴림" charset="-127"/>
                <a:ea typeface="굴림"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559</a:t>
            </a:fld>
            <a:endParaRPr kumimoji="0" lang="en-US" altLang="ko-KR" sz="1200" b="0" i="0" u="none" strike="noStrike" kern="1200" cap="none" spc="0" normalizeH="0" baseline="0" noProof="0">
              <a:ln>
                <a:noFill/>
              </a:ln>
              <a:solidFill>
                <a:prstClr val="black"/>
              </a:solidFill>
              <a:effectLst/>
              <a:uLnTx/>
              <a:uFillTx/>
              <a:latin typeface="굴림" charset="-127"/>
              <a:ea typeface="굴림" charset="-127"/>
              <a:cs typeface="+mn-cs"/>
            </a:endParaRPr>
          </a:p>
        </p:txBody>
      </p:sp>
    </p:spTree>
    <p:extLst>
      <p:ext uri="{BB962C8B-B14F-4D97-AF65-F5344CB8AC3E}">
        <p14:creationId xmlns:p14="http://schemas.microsoft.com/office/powerpoint/2010/main" val="3584497291"/>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a:latin typeface="굴림" charset="-127"/>
              <a:ea typeface="굴림" charset="-127"/>
            </a:endParaRPr>
          </a:p>
        </p:txBody>
      </p:sp>
      <p:sp>
        <p:nvSpPr>
          <p:cNvPr id="136196" name="슬라이드 번호 개체 틀 3"/>
          <p:cNvSpPr>
            <a:spLocks noGrp="1"/>
          </p:cNvSpPr>
          <p:nvPr>
            <p:ph type="sldNum" sz="quarter" idx="5"/>
          </p:nvPr>
        </p:nvSpPr>
        <p:spPr>
          <a:noFill/>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01AD53DB-3456-474F-B3C9-2433955C3C87}" type="slidenum">
              <a:rPr kumimoji="0" lang="en-US" altLang="ko-KR" sz="1200" b="0" i="0" u="none" strike="noStrike" kern="1200" cap="none" spc="0" normalizeH="0" baseline="0" noProof="0" smtClean="0">
                <a:ln>
                  <a:noFill/>
                </a:ln>
                <a:solidFill>
                  <a:prstClr val="black"/>
                </a:solidFill>
                <a:effectLst/>
                <a:uLnTx/>
                <a:uFillTx/>
                <a:latin typeface="굴림" charset="-127"/>
                <a:ea typeface="굴림"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560</a:t>
            </a:fld>
            <a:endParaRPr kumimoji="0" lang="en-US" altLang="ko-KR" sz="1200" b="0" i="0" u="none" strike="noStrike" kern="1200" cap="none" spc="0" normalizeH="0" baseline="0" noProof="0">
              <a:ln>
                <a:noFill/>
              </a:ln>
              <a:solidFill>
                <a:prstClr val="black"/>
              </a:solidFill>
              <a:effectLst/>
              <a:uLnTx/>
              <a:uFillTx/>
              <a:latin typeface="굴림" charset="-127"/>
              <a:ea typeface="굴림" charset="-127"/>
              <a:cs typeface="+mn-cs"/>
            </a:endParaRPr>
          </a:p>
        </p:txBody>
      </p:sp>
    </p:spTree>
    <p:extLst>
      <p:ext uri="{BB962C8B-B14F-4D97-AF65-F5344CB8AC3E}">
        <p14:creationId xmlns:p14="http://schemas.microsoft.com/office/powerpoint/2010/main" val="1294622500"/>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a:latin typeface="굴림" charset="-127"/>
              <a:ea typeface="굴림" charset="-127"/>
            </a:endParaRPr>
          </a:p>
        </p:txBody>
      </p:sp>
      <p:sp>
        <p:nvSpPr>
          <p:cNvPr id="136196" name="슬라이드 번호 개체 틀 3"/>
          <p:cNvSpPr>
            <a:spLocks noGrp="1"/>
          </p:cNvSpPr>
          <p:nvPr>
            <p:ph type="sldNum" sz="quarter" idx="5"/>
          </p:nvPr>
        </p:nvSpPr>
        <p:spPr>
          <a:noFill/>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01AD53DB-3456-474F-B3C9-2433955C3C87}" type="slidenum">
              <a:rPr kumimoji="0" lang="en-US" altLang="ko-KR" sz="1200" b="0" i="0" u="none" strike="noStrike" kern="1200" cap="none" spc="0" normalizeH="0" baseline="0" noProof="0" smtClean="0">
                <a:ln>
                  <a:noFill/>
                </a:ln>
                <a:solidFill>
                  <a:prstClr val="black"/>
                </a:solidFill>
                <a:effectLst/>
                <a:uLnTx/>
                <a:uFillTx/>
                <a:latin typeface="굴림" charset="-127"/>
                <a:ea typeface="굴림"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561</a:t>
            </a:fld>
            <a:endParaRPr kumimoji="0" lang="en-US" altLang="ko-KR" sz="1200" b="0" i="0" u="none" strike="noStrike" kern="1200" cap="none" spc="0" normalizeH="0" baseline="0" noProof="0">
              <a:ln>
                <a:noFill/>
              </a:ln>
              <a:solidFill>
                <a:prstClr val="black"/>
              </a:solidFill>
              <a:effectLst/>
              <a:uLnTx/>
              <a:uFillTx/>
              <a:latin typeface="굴림" charset="-127"/>
              <a:ea typeface="굴림" charset="-127"/>
              <a:cs typeface="+mn-cs"/>
            </a:endParaRPr>
          </a:p>
        </p:txBody>
      </p:sp>
    </p:spTree>
    <p:extLst>
      <p:ext uri="{BB962C8B-B14F-4D97-AF65-F5344CB8AC3E}">
        <p14:creationId xmlns:p14="http://schemas.microsoft.com/office/powerpoint/2010/main" val="3321668713"/>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a:latin typeface="굴림" charset="-127"/>
              <a:ea typeface="굴림" charset="-127"/>
            </a:endParaRPr>
          </a:p>
        </p:txBody>
      </p:sp>
      <p:sp>
        <p:nvSpPr>
          <p:cNvPr id="136196" name="슬라이드 번호 개체 틀 3"/>
          <p:cNvSpPr>
            <a:spLocks noGrp="1"/>
          </p:cNvSpPr>
          <p:nvPr>
            <p:ph type="sldNum" sz="quarter" idx="5"/>
          </p:nvPr>
        </p:nvSpPr>
        <p:spPr>
          <a:noFill/>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01AD53DB-3456-474F-B3C9-2433955C3C87}" type="slidenum">
              <a:rPr kumimoji="0" lang="en-US" altLang="ko-KR" sz="1200" b="0" i="0" u="none" strike="noStrike" kern="1200" cap="none" spc="0" normalizeH="0" baseline="0" noProof="0" smtClean="0">
                <a:ln>
                  <a:noFill/>
                </a:ln>
                <a:solidFill>
                  <a:prstClr val="black"/>
                </a:solidFill>
                <a:effectLst/>
                <a:uLnTx/>
                <a:uFillTx/>
                <a:latin typeface="굴림" charset="-127"/>
                <a:ea typeface="굴림"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562</a:t>
            </a:fld>
            <a:endParaRPr kumimoji="0" lang="en-US" altLang="ko-KR" sz="1200" b="0" i="0" u="none" strike="noStrike" kern="1200" cap="none" spc="0" normalizeH="0" baseline="0" noProof="0">
              <a:ln>
                <a:noFill/>
              </a:ln>
              <a:solidFill>
                <a:prstClr val="black"/>
              </a:solidFill>
              <a:effectLst/>
              <a:uLnTx/>
              <a:uFillTx/>
              <a:latin typeface="굴림" charset="-127"/>
              <a:ea typeface="굴림" charset="-127"/>
              <a:cs typeface="+mn-cs"/>
            </a:endParaRPr>
          </a:p>
        </p:txBody>
      </p:sp>
    </p:spTree>
    <p:extLst>
      <p:ext uri="{BB962C8B-B14F-4D97-AF65-F5344CB8AC3E}">
        <p14:creationId xmlns:p14="http://schemas.microsoft.com/office/powerpoint/2010/main" val="1015378090"/>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a:latin typeface="굴림" charset="-127"/>
              <a:ea typeface="굴림" charset="-127"/>
            </a:endParaRPr>
          </a:p>
        </p:txBody>
      </p:sp>
      <p:sp>
        <p:nvSpPr>
          <p:cNvPr id="136196" name="슬라이드 번호 개체 틀 3"/>
          <p:cNvSpPr>
            <a:spLocks noGrp="1"/>
          </p:cNvSpPr>
          <p:nvPr>
            <p:ph type="sldNum" sz="quarter" idx="5"/>
          </p:nvPr>
        </p:nvSpPr>
        <p:spPr>
          <a:noFill/>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01AD53DB-3456-474F-B3C9-2433955C3C87}" type="slidenum">
              <a:rPr kumimoji="0" lang="en-US" altLang="ko-KR" sz="1200" b="0" i="0" u="none" strike="noStrike" kern="1200" cap="none" spc="0" normalizeH="0" baseline="0" noProof="0" smtClean="0">
                <a:ln>
                  <a:noFill/>
                </a:ln>
                <a:solidFill>
                  <a:prstClr val="black"/>
                </a:solidFill>
                <a:effectLst/>
                <a:uLnTx/>
                <a:uFillTx/>
                <a:latin typeface="굴림" charset="-127"/>
                <a:ea typeface="굴림"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563</a:t>
            </a:fld>
            <a:endParaRPr kumimoji="0" lang="en-US" altLang="ko-KR" sz="1200" b="0" i="0" u="none" strike="noStrike" kern="1200" cap="none" spc="0" normalizeH="0" baseline="0" noProof="0">
              <a:ln>
                <a:noFill/>
              </a:ln>
              <a:solidFill>
                <a:prstClr val="black"/>
              </a:solidFill>
              <a:effectLst/>
              <a:uLnTx/>
              <a:uFillTx/>
              <a:latin typeface="굴림" charset="-127"/>
              <a:ea typeface="굴림" charset="-127"/>
              <a:cs typeface="+mn-cs"/>
            </a:endParaRPr>
          </a:p>
        </p:txBody>
      </p:sp>
    </p:spTree>
    <p:extLst>
      <p:ext uri="{BB962C8B-B14F-4D97-AF65-F5344CB8AC3E}">
        <p14:creationId xmlns:p14="http://schemas.microsoft.com/office/powerpoint/2010/main" val="267337800"/>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a:latin typeface="굴림" charset="-127"/>
              <a:ea typeface="굴림" charset="-127"/>
            </a:endParaRPr>
          </a:p>
        </p:txBody>
      </p:sp>
      <p:sp>
        <p:nvSpPr>
          <p:cNvPr id="136196" name="슬라이드 번호 개체 틀 3"/>
          <p:cNvSpPr>
            <a:spLocks noGrp="1"/>
          </p:cNvSpPr>
          <p:nvPr>
            <p:ph type="sldNum" sz="quarter" idx="5"/>
          </p:nvPr>
        </p:nvSpPr>
        <p:spPr>
          <a:noFill/>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01AD53DB-3456-474F-B3C9-2433955C3C87}" type="slidenum">
              <a:rPr kumimoji="0" lang="en-US" altLang="ko-KR" sz="1200" b="0" i="0" u="none" strike="noStrike" kern="1200" cap="none" spc="0" normalizeH="0" baseline="0" noProof="0" smtClean="0">
                <a:ln>
                  <a:noFill/>
                </a:ln>
                <a:solidFill>
                  <a:prstClr val="black"/>
                </a:solidFill>
                <a:effectLst/>
                <a:uLnTx/>
                <a:uFillTx/>
                <a:latin typeface="굴림" charset="-127"/>
                <a:ea typeface="굴림"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565</a:t>
            </a:fld>
            <a:endParaRPr kumimoji="0" lang="en-US" altLang="ko-KR" sz="1200" b="0" i="0" u="none" strike="noStrike" kern="1200" cap="none" spc="0" normalizeH="0" baseline="0" noProof="0">
              <a:ln>
                <a:noFill/>
              </a:ln>
              <a:solidFill>
                <a:prstClr val="black"/>
              </a:solidFill>
              <a:effectLst/>
              <a:uLnTx/>
              <a:uFillTx/>
              <a:latin typeface="굴림" charset="-127"/>
              <a:ea typeface="굴림" charset="-127"/>
              <a:cs typeface="+mn-cs"/>
            </a:endParaRPr>
          </a:p>
        </p:txBody>
      </p:sp>
    </p:spTree>
    <p:extLst>
      <p:ext uri="{BB962C8B-B14F-4D97-AF65-F5344CB8AC3E}">
        <p14:creationId xmlns:p14="http://schemas.microsoft.com/office/powerpoint/2010/main" val="1254578021"/>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a:latin typeface="굴림" charset="-127"/>
              <a:ea typeface="굴림" charset="-127"/>
            </a:endParaRPr>
          </a:p>
        </p:txBody>
      </p:sp>
      <p:sp>
        <p:nvSpPr>
          <p:cNvPr id="136196" name="슬라이드 번호 개체 틀 3"/>
          <p:cNvSpPr>
            <a:spLocks noGrp="1"/>
          </p:cNvSpPr>
          <p:nvPr>
            <p:ph type="sldNum" sz="quarter" idx="5"/>
          </p:nvPr>
        </p:nvSpPr>
        <p:spPr>
          <a:noFill/>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01AD53DB-3456-474F-B3C9-2433955C3C87}" type="slidenum">
              <a:rPr kumimoji="0" lang="en-US" altLang="ko-KR" sz="1200" b="0" i="0" u="none" strike="noStrike" kern="1200" cap="none" spc="0" normalizeH="0" baseline="0" noProof="0" smtClean="0">
                <a:ln>
                  <a:noFill/>
                </a:ln>
                <a:solidFill>
                  <a:prstClr val="black"/>
                </a:solidFill>
                <a:effectLst/>
                <a:uLnTx/>
                <a:uFillTx/>
                <a:latin typeface="굴림" charset="-127"/>
                <a:ea typeface="굴림"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566</a:t>
            </a:fld>
            <a:endParaRPr kumimoji="0" lang="en-US" altLang="ko-KR" sz="1200" b="0" i="0" u="none" strike="noStrike" kern="1200" cap="none" spc="0" normalizeH="0" baseline="0" noProof="0">
              <a:ln>
                <a:noFill/>
              </a:ln>
              <a:solidFill>
                <a:prstClr val="black"/>
              </a:solidFill>
              <a:effectLst/>
              <a:uLnTx/>
              <a:uFillTx/>
              <a:latin typeface="굴림" charset="-127"/>
              <a:ea typeface="굴림" charset="-127"/>
              <a:cs typeface="+mn-cs"/>
            </a:endParaRPr>
          </a:p>
        </p:txBody>
      </p:sp>
    </p:spTree>
    <p:extLst>
      <p:ext uri="{BB962C8B-B14F-4D97-AF65-F5344CB8AC3E}">
        <p14:creationId xmlns:p14="http://schemas.microsoft.com/office/powerpoint/2010/main" val="909813129"/>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a:latin typeface="굴림" charset="-127"/>
              <a:ea typeface="굴림" charset="-127"/>
            </a:endParaRPr>
          </a:p>
        </p:txBody>
      </p:sp>
      <p:sp>
        <p:nvSpPr>
          <p:cNvPr id="136196" name="슬라이드 번호 개체 틀 3"/>
          <p:cNvSpPr>
            <a:spLocks noGrp="1"/>
          </p:cNvSpPr>
          <p:nvPr>
            <p:ph type="sldNum" sz="quarter" idx="5"/>
          </p:nvPr>
        </p:nvSpPr>
        <p:spPr>
          <a:noFill/>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01AD53DB-3456-474F-B3C9-2433955C3C87}" type="slidenum">
              <a:rPr kumimoji="0" lang="en-US" altLang="ko-KR" sz="1200" b="0" i="0" u="none" strike="noStrike" kern="1200" cap="none" spc="0" normalizeH="0" baseline="0" noProof="0" smtClean="0">
                <a:ln>
                  <a:noFill/>
                </a:ln>
                <a:solidFill>
                  <a:prstClr val="black"/>
                </a:solidFill>
                <a:effectLst/>
                <a:uLnTx/>
                <a:uFillTx/>
                <a:latin typeface="굴림" charset="-127"/>
                <a:ea typeface="굴림"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567</a:t>
            </a:fld>
            <a:endParaRPr kumimoji="0" lang="en-US" altLang="ko-KR" sz="1200" b="0" i="0" u="none" strike="noStrike" kern="1200" cap="none" spc="0" normalizeH="0" baseline="0" noProof="0">
              <a:ln>
                <a:noFill/>
              </a:ln>
              <a:solidFill>
                <a:prstClr val="black"/>
              </a:solidFill>
              <a:effectLst/>
              <a:uLnTx/>
              <a:uFillTx/>
              <a:latin typeface="굴림" charset="-127"/>
              <a:ea typeface="굴림" charset="-127"/>
              <a:cs typeface="+mn-cs"/>
            </a:endParaRPr>
          </a:p>
        </p:txBody>
      </p:sp>
    </p:spTree>
    <p:extLst>
      <p:ext uri="{BB962C8B-B14F-4D97-AF65-F5344CB8AC3E}">
        <p14:creationId xmlns:p14="http://schemas.microsoft.com/office/powerpoint/2010/main" val="2240047102"/>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a:latin typeface="굴림" charset="-127"/>
              <a:ea typeface="굴림" charset="-127"/>
            </a:endParaRPr>
          </a:p>
        </p:txBody>
      </p:sp>
      <p:sp>
        <p:nvSpPr>
          <p:cNvPr id="136196" name="슬라이드 번호 개체 틀 3"/>
          <p:cNvSpPr>
            <a:spLocks noGrp="1"/>
          </p:cNvSpPr>
          <p:nvPr>
            <p:ph type="sldNum" sz="quarter" idx="5"/>
          </p:nvPr>
        </p:nvSpPr>
        <p:spPr>
          <a:noFill/>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01AD53DB-3456-474F-B3C9-2433955C3C87}" type="slidenum">
              <a:rPr kumimoji="0" lang="en-US" altLang="ko-KR" sz="1200" b="0" i="0" u="none" strike="noStrike" kern="1200" cap="none" spc="0" normalizeH="0" baseline="0" noProof="0" smtClean="0">
                <a:ln>
                  <a:noFill/>
                </a:ln>
                <a:solidFill>
                  <a:prstClr val="black"/>
                </a:solidFill>
                <a:effectLst/>
                <a:uLnTx/>
                <a:uFillTx/>
                <a:latin typeface="굴림" charset="-127"/>
                <a:ea typeface="굴림"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568</a:t>
            </a:fld>
            <a:endParaRPr kumimoji="0" lang="en-US" altLang="ko-KR" sz="1200" b="0" i="0" u="none" strike="noStrike" kern="1200" cap="none" spc="0" normalizeH="0" baseline="0" noProof="0">
              <a:ln>
                <a:noFill/>
              </a:ln>
              <a:solidFill>
                <a:prstClr val="black"/>
              </a:solidFill>
              <a:effectLst/>
              <a:uLnTx/>
              <a:uFillTx/>
              <a:latin typeface="굴림" charset="-127"/>
              <a:ea typeface="굴림" charset="-127"/>
              <a:cs typeface="+mn-cs"/>
            </a:endParaRPr>
          </a:p>
        </p:txBody>
      </p:sp>
    </p:spTree>
    <p:extLst>
      <p:ext uri="{BB962C8B-B14F-4D97-AF65-F5344CB8AC3E}">
        <p14:creationId xmlns:p14="http://schemas.microsoft.com/office/powerpoint/2010/main" val="3439947318"/>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슬라이드 이미지 개체 틀 1"/>
          <p:cNvSpPr>
            <a:spLocks noGrp="1" noRot="1" noChangeAspect="1" noTextEdit="1"/>
          </p:cNvSpPr>
          <p:nvPr>
            <p:ph type="sldImg"/>
          </p:nvPr>
        </p:nvSpPr>
        <p:spPr>
          <a:ln/>
        </p:spPr>
      </p:sp>
      <p:sp>
        <p:nvSpPr>
          <p:cNvPr id="136195" name="슬라이드 노트 개체 틀 2"/>
          <p:cNvSpPr>
            <a:spLocks noGrp="1"/>
          </p:cNvSpPr>
          <p:nvPr>
            <p:ph type="body" idx="1"/>
          </p:nvPr>
        </p:nvSpPr>
        <p:spPr>
          <a:noFill/>
          <a:ln/>
        </p:spPr>
        <p:txBody>
          <a:bodyPr/>
          <a:lstStyle/>
          <a:p>
            <a:endParaRPr lang="ko-KR" altLang="en-US">
              <a:latin typeface="굴림" charset="-127"/>
              <a:ea typeface="굴림" charset="-127"/>
            </a:endParaRPr>
          </a:p>
        </p:txBody>
      </p:sp>
      <p:sp>
        <p:nvSpPr>
          <p:cNvPr id="136196" name="슬라이드 번호 개체 틀 3"/>
          <p:cNvSpPr>
            <a:spLocks noGrp="1"/>
          </p:cNvSpPr>
          <p:nvPr>
            <p:ph type="sldNum" sz="quarter" idx="5"/>
          </p:nvPr>
        </p:nvSpPr>
        <p:spPr>
          <a:noFill/>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01AD53DB-3456-474F-B3C9-2433955C3C87}" type="slidenum">
              <a:rPr kumimoji="0" lang="en-US" altLang="ko-KR" sz="1200" b="0" i="0" u="none" strike="noStrike" kern="1200" cap="none" spc="0" normalizeH="0" baseline="0" noProof="0" smtClean="0">
                <a:ln>
                  <a:noFill/>
                </a:ln>
                <a:solidFill>
                  <a:prstClr val="black"/>
                </a:solidFill>
                <a:effectLst/>
                <a:uLnTx/>
                <a:uFillTx/>
                <a:latin typeface="굴림" charset="-127"/>
                <a:ea typeface="굴림"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569</a:t>
            </a:fld>
            <a:endParaRPr kumimoji="0" lang="en-US" altLang="ko-KR" sz="1200" b="0" i="0" u="none" strike="noStrike" kern="1200" cap="none" spc="0" normalizeH="0" baseline="0" noProof="0">
              <a:ln>
                <a:noFill/>
              </a:ln>
              <a:solidFill>
                <a:prstClr val="black"/>
              </a:solidFill>
              <a:effectLst/>
              <a:uLnTx/>
              <a:uFillTx/>
              <a:latin typeface="굴림" charset="-127"/>
              <a:ea typeface="굴림" charset="-127"/>
              <a:cs typeface="+mn-cs"/>
            </a:endParaRPr>
          </a:p>
        </p:txBody>
      </p:sp>
    </p:spTree>
    <p:extLst>
      <p:ext uri="{BB962C8B-B14F-4D97-AF65-F5344CB8AC3E}">
        <p14:creationId xmlns:p14="http://schemas.microsoft.com/office/powerpoint/2010/main" val="231106425"/>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normAutofit/>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A7C1EB2B-CABE-490A-9E3C-EEC5379B65FC}"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570</a:t>
            </a:fld>
            <a:endPar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4030330549"/>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normAutofit/>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A7C1EB2B-CABE-490A-9E3C-EEC5379B65FC}"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571</a:t>
            </a:fld>
            <a:endPar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3330155563"/>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normAutofit/>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A7C1EB2B-CABE-490A-9E3C-EEC5379B65FC}"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572</a:t>
            </a:fld>
            <a:endPar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2443300049"/>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normAutofit/>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A7C1EB2B-CABE-490A-9E3C-EEC5379B65FC}"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573</a:t>
            </a:fld>
            <a:endPar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4206254225"/>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normAutofit/>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A7C1EB2B-CABE-490A-9E3C-EEC5379B65FC}"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574</a:t>
            </a:fld>
            <a:endPar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3243770195"/>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normAutofit/>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A7C1EB2B-CABE-490A-9E3C-EEC5379B65FC}"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575</a:t>
            </a:fld>
            <a:endPar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3243770195"/>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normAutofit/>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A7C1EB2B-CABE-490A-9E3C-EEC5379B65FC}"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576</a:t>
            </a:fld>
            <a:endPar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3243770195"/>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이미지 개체 틀 1"/>
          <p:cNvSpPr>
            <a:spLocks noGrp="1" noRot="1" noChangeAspect="1"/>
          </p:cNvSpPr>
          <p:nvPr>
            <p:ph type="sldImg"/>
          </p:nvPr>
        </p:nvSpPr>
        <p:spPr/>
      </p:sp>
      <p:sp>
        <p:nvSpPr>
          <p:cNvPr id="3" name="슬라이드 노트 개체 틀 2"/>
          <p:cNvSpPr>
            <a:spLocks noGrp="1"/>
          </p:cNvSpPr>
          <p:nvPr>
            <p:ph type="body" idx="1"/>
          </p:nvPr>
        </p:nvSpPr>
        <p:spPr/>
        <p:txBody>
          <a:bodyPr>
            <a:normAutofit/>
          </a:bodyPr>
          <a:lstStyle/>
          <a:p>
            <a:endParaRPr lang="ko-KR" altLang="en-US"/>
          </a:p>
        </p:txBody>
      </p:sp>
      <p:sp>
        <p:nvSpPr>
          <p:cNvPr id="4" name="슬라이드 번호 개체 틀 3"/>
          <p:cNvSpPr>
            <a:spLocks noGrp="1"/>
          </p:cNvSpPr>
          <p:nvPr>
            <p:ph type="sldNum" sz="quarter" idx="10"/>
          </p:nvPr>
        </p:nvSpPr>
        <p:spPr/>
        <p:txBody>
          <a:bodyPr/>
          <a:lstStyle/>
          <a:p>
            <a:pPr marL="0" marR="0" lvl="0" indent="0" algn="r" defTabSz="914400" rtl="0" eaLnBrk="1" fontAlgn="auto" latinLnBrk="1" hangingPunct="1">
              <a:lnSpc>
                <a:spcPct val="100000"/>
              </a:lnSpc>
              <a:spcBef>
                <a:spcPts val="0"/>
              </a:spcBef>
              <a:spcAft>
                <a:spcPts val="0"/>
              </a:spcAft>
              <a:buClrTx/>
              <a:buSzTx/>
              <a:buFontTx/>
              <a:buNone/>
              <a:tabLst/>
              <a:defRPr/>
            </a:pPr>
            <a:fld id="{A7C1EB2B-CABE-490A-9E3C-EEC5379B65FC}" type="slidenum">
              <a:rPr kumimoji="0" lang="ko-KR" altLang="en-US" sz="1200" b="0" i="0" u="none" strike="noStrike" kern="1200" cap="none" spc="0" normalizeH="0" baseline="0" noProof="0" smtClean="0">
                <a:ln>
                  <a:noFill/>
                </a:ln>
                <a:solidFill>
                  <a:prstClr val="black"/>
                </a:solidFill>
                <a:effectLst/>
                <a:uLnTx/>
                <a:uFillTx/>
                <a:latin typeface="맑은 고딕"/>
                <a:ea typeface="맑은 고딕" panose="020B0503020000020004" pitchFamily="50" charset="-127"/>
                <a:cs typeface="+mn-cs"/>
              </a:rPr>
              <a:pPr marL="0" marR="0" lvl="0" indent="0" algn="r" defTabSz="914400" rtl="0" eaLnBrk="1" fontAlgn="auto" latinLnBrk="1" hangingPunct="1">
                <a:lnSpc>
                  <a:spcPct val="100000"/>
                </a:lnSpc>
                <a:spcBef>
                  <a:spcPts val="0"/>
                </a:spcBef>
                <a:spcAft>
                  <a:spcPts val="0"/>
                </a:spcAft>
                <a:buClrTx/>
                <a:buSzTx/>
                <a:buFontTx/>
                <a:buNone/>
                <a:tabLst/>
                <a:defRPr/>
              </a:pPr>
              <a:t>577</a:t>
            </a:fld>
            <a:endParaRPr kumimoji="0" lang="ko-KR" altLang="en-US" sz="1200" b="0" i="0" u="none" strike="noStrike" kern="1200" cap="none" spc="0" normalizeH="0" baseline="0" noProof="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59941584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9_제목 슬라이드">
    <p:spTree>
      <p:nvGrpSpPr>
        <p:cNvPr id="1" name=""/>
        <p:cNvGrpSpPr/>
        <p:nvPr/>
      </p:nvGrpSpPr>
      <p:grpSpPr>
        <a:xfrm>
          <a:off x="0" y="0"/>
          <a:ext cx="0" cy="0"/>
          <a:chOff x="0" y="0"/>
          <a:chExt cx="0" cy="0"/>
        </a:xfrm>
      </p:grpSpPr>
      <p:sp>
        <p:nvSpPr>
          <p:cNvPr id="10" name="직사각형 9"/>
          <p:cNvSpPr/>
          <p:nvPr userDrawn="1"/>
        </p:nvSpPr>
        <p:spPr>
          <a:xfrm>
            <a:off x="2290709" y="0"/>
            <a:ext cx="9901291" cy="6898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rIns="216000" rtlCol="0" anchor="ctr"/>
          <a:lstStyle/>
          <a:p>
            <a:endParaRPr lang="ko-KR" altLang="en-US" sz="2400" dirty="0">
              <a:solidFill>
                <a:schemeClr val="accent3">
                  <a:lumMod val="50000"/>
                </a:schemeClr>
              </a:solidFill>
            </a:endParaRPr>
          </a:p>
        </p:txBody>
      </p:sp>
      <p:sp>
        <p:nvSpPr>
          <p:cNvPr id="4" name="날짜 개체 틀 3"/>
          <p:cNvSpPr>
            <a:spLocks noGrp="1"/>
          </p:cNvSpPr>
          <p:nvPr>
            <p:ph type="dt" sz="half" idx="10"/>
          </p:nvPr>
        </p:nvSpPr>
        <p:spPr/>
        <p:txBody>
          <a:bodyPr/>
          <a:lstStyle/>
          <a:p>
            <a:fld id="{ADCCE72D-2D75-40FD-B9C5-E48E40FDAF15}" type="datetime1">
              <a:rPr lang="ko-KR" altLang="en-US" smtClean="0"/>
              <a:t>2026-06-13</a:t>
            </a:fld>
            <a:endParaRPr lang="ko-KR" altLang="en-US"/>
          </a:p>
        </p:txBody>
      </p:sp>
      <p:sp>
        <p:nvSpPr>
          <p:cNvPr id="5" name="바닥글 개체 틀 4"/>
          <p:cNvSpPr>
            <a:spLocks noGrp="1"/>
          </p:cNvSpPr>
          <p:nvPr>
            <p:ph type="ftr" sz="quarter" idx="11"/>
          </p:nvPr>
        </p:nvSpPr>
        <p:spPr/>
        <p:txBody>
          <a:bodyPr/>
          <a:lstStyle/>
          <a:p>
            <a:endParaRPr lang="ko-KR" altLang="en-US"/>
          </a:p>
        </p:txBody>
      </p:sp>
      <p:grpSp>
        <p:nvGrpSpPr>
          <p:cNvPr id="13" name="그룹 12"/>
          <p:cNvGrpSpPr/>
          <p:nvPr userDrawn="1"/>
        </p:nvGrpSpPr>
        <p:grpSpPr>
          <a:xfrm>
            <a:off x="0" y="0"/>
            <a:ext cx="2844800" cy="923385"/>
            <a:chOff x="0" y="1206500"/>
            <a:chExt cx="2343150" cy="689865"/>
          </a:xfrm>
        </p:grpSpPr>
        <p:sp>
          <p:nvSpPr>
            <p:cNvPr id="11" name="제목 1"/>
            <p:cNvSpPr txBox="1">
              <a:spLocks/>
            </p:cNvSpPr>
            <p:nvPr userDrawn="1"/>
          </p:nvSpPr>
          <p:spPr>
            <a:xfrm>
              <a:off x="0" y="1206501"/>
              <a:ext cx="2243303" cy="689864"/>
            </a:xfrm>
            <a:prstGeom prst="rect">
              <a:avLst/>
            </a:prstGeom>
            <a:solidFill>
              <a:schemeClr val="bg1">
                <a:lumMod val="50000"/>
              </a:schemeClr>
            </a:solidFill>
          </p:spPr>
          <p:txBody>
            <a:bodyPr vert="horz" lIns="180000" tIns="0" rIns="18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endParaRPr lang="ko-KR" altLang="en-US" sz="2400" dirty="0">
                <a:solidFill>
                  <a:schemeClr val="accent4"/>
                </a:solidFill>
                <a:latin typeface="+mn-ea"/>
                <a:ea typeface="+mn-ea"/>
                <a:cs typeface="Tahoma" panose="020B0604030504040204" pitchFamily="34" charset="0"/>
              </a:endParaRPr>
            </a:p>
          </p:txBody>
        </p:sp>
        <p:sp>
          <p:nvSpPr>
            <p:cNvPr id="12" name="직사각형 11"/>
            <p:cNvSpPr/>
            <p:nvPr userDrawn="1"/>
          </p:nvSpPr>
          <p:spPr>
            <a:xfrm>
              <a:off x="2243083" y="1206500"/>
              <a:ext cx="100067" cy="6898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4" name="TextBox 13"/>
          <p:cNvSpPr txBox="1"/>
          <p:nvPr userDrawn="1"/>
        </p:nvSpPr>
        <p:spPr>
          <a:xfrm>
            <a:off x="-1" y="677165"/>
            <a:ext cx="2723309" cy="246220"/>
          </a:xfrm>
          <a:prstGeom prst="rect">
            <a:avLst/>
          </a:prstGeom>
          <a:noFill/>
        </p:spPr>
        <p:txBody>
          <a:bodyPr wrap="square" rtlCol="0">
            <a:spAutoFit/>
          </a:bodyPr>
          <a:lstStyle/>
          <a:p>
            <a:pPr algn="dist"/>
            <a:r>
              <a:rPr lang="en-US" altLang="ko-KR" sz="1000" baseline="0" dirty="0" err="1">
                <a:solidFill>
                  <a:schemeClr val="bg2"/>
                </a:solidFill>
              </a:rPr>
              <a:t>Yim</a:t>
            </a:r>
            <a:r>
              <a:rPr lang="en-US" altLang="ko-KR" sz="1000" baseline="0" dirty="0">
                <a:solidFill>
                  <a:schemeClr val="bg2"/>
                </a:solidFill>
              </a:rPr>
              <a:t>, </a:t>
            </a:r>
            <a:r>
              <a:rPr lang="en-US" altLang="ko-KR" sz="1000" baseline="0" dirty="0" err="1">
                <a:solidFill>
                  <a:schemeClr val="bg2"/>
                </a:solidFill>
              </a:rPr>
              <a:t>Byung-Woong</a:t>
            </a:r>
            <a:r>
              <a:rPr lang="en-US" altLang="ko-KR" sz="1000" baseline="0" dirty="0">
                <a:solidFill>
                  <a:schemeClr val="bg2"/>
                </a:solidFill>
              </a:rPr>
              <a:t> </a:t>
            </a:r>
            <a:r>
              <a:rPr lang="en-US" altLang="ko-KR" sz="1000" dirty="0">
                <a:solidFill>
                  <a:schemeClr val="bg2"/>
                </a:solidFill>
              </a:rPr>
              <a:t>All Right</a:t>
            </a:r>
            <a:r>
              <a:rPr lang="en-US" altLang="ko-KR" sz="1000" baseline="0" dirty="0">
                <a:solidFill>
                  <a:schemeClr val="bg2"/>
                </a:solidFill>
              </a:rPr>
              <a:t>s Reserved.</a:t>
            </a:r>
            <a:endParaRPr lang="ko-KR" altLang="en-US" sz="1000" dirty="0">
              <a:solidFill>
                <a:schemeClr val="bg2"/>
              </a:solidFill>
            </a:endParaRPr>
          </a:p>
        </p:txBody>
      </p:sp>
      <p:cxnSp>
        <p:nvCxnSpPr>
          <p:cNvPr id="16" name="직선 연결선 15"/>
          <p:cNvCxnSpPr/>
          <p:nvPr userDrawn="1"/>
        </p:nvCxnSpPr>
        <p:spPr>
          <a:xfrm flipH="1">
            <a:off x="0" y="685800"/>
            <a:ext cx="28448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7" name="제목 개체 틀 1"/>
          <p:cNvSpPr>
            <a:spLocks noGrp="1"/>
          </p:cNvSpPr>
          <p:nvPr>
            <p:ph type="title"/>
          </p:nvPr>
        </p:nvSpPr>
        <p:spPr>
          <a:xfrm>
            <a:off x="0" y="274320"/>
            <a:ext cx="2708636" cy="398526"/>
          </a:xfrm>
          <a:prstGeom prst="rect">
            <a:avLst/>
          </a:prstGeom>
        </p:spPr>
        <p:txBody>
          <a:bodyPr vert="horz" lIns="91440" tIns="45720" rIns="91440" bIns="45720" rtlCol="0" anchor="ctr">
            <a:noAutofit/>
          </a:bodyPr>
          <a:lstStyle>
            <a:lvl1pPr algn="ctr">
              <a:defRPr sz="2400">
                <a:solidFill>
                  <a:schemeClr val="accent4"/>
                </a:solidFill>
                <a:latin typeface="Rix모던명조 B" panose="02020603020101020101" pitchFamily="18" charset="-127"/>
                <a:ea typeface="Rix모던명조 B" panose="02020603020101020101" pitchFamily="18" charset="-127"/>
              </a:defRPr>
            </a:lvl1pPr>
          </a:lstStyle>
          <a:p>
            <a:r>
              <a:rPr lang="ko-KR" altLang="en-US" dirty="0"/>
              <a:t>마스터 제목 스타일 편집</a:t>
            </a:r>
          </a:p>
        </p:txBody>
      </p:sp>
      <p:sp>
        <p:nvSpPr>
          <p:cNvPr id="18" name="제목 개체 틀 1"/>
          <p:cNvSpPr txBox="1">
            <a:spLocks/>
          </p:cNvSpPr>
          <p:nvPr userDrawn="1"/>
        </p:nvSpPr>
        <p:spPr>
          <a:xfrm>
            <a:off x="2864182" y="69055"/>
            <a:ext cx="9327818" cy="603791"/>
          </a:xfrm>
          <a:prstGeom prst="rect">
            <a:avLst/>
          </a:prstGeom>
        </p:spPr>
        <p:txBody>
          <a:bodyPr vert="horz" lIns="91440" tIns="45720" rIns="91440" bIns="45720" rtlCol="0" anchor="ctr">
            <a:noAutofit/>
          </a:bodyPr>
          <a:lstStyle>
            <a:lvl1pPr algn="ctr" defTabSz="914400" rtl="0" eaLnBrk="1" latinLnBrk="1" hangingPunct="1">
              <a:lnSpc>
                <a:spcPct val="90000"/>
              </a:lnSpc>
              <a:spcBef>
                <a:spcPct val="0"/>
              </a:spcBef>
              <a:buNone/>
              <a:defRPr sz="2400" kern="1200">
                <a:solidFill>
                  <a:schemeClr val="accent4"/>
                </a:solidFill>
                <a:latin typeface="+mj-lt"/>
                <a:ea typeface="+mj-ea"/>
                <a:cs typeface="+mj-cs"/>
              </a:defRPr>
            </a:lvl1pPr>
          </a:lstStyle>
          <a:p>
            <a:pPr algn="l"/>
            <a:endParaRPr lang="ko-KR" altLang="en-US" dirty="0">
              <a:solidFill>
                <a:schemeClr val="accent3">
                  <a:lumMod val="50000"/>
                </a:schemeClr>
              </a:solidFill>
            </a:endParaRPr>
          </a:p>
        </p:txBody>
      </p:sp>
      <p:sp>
        <p:nvSpPr>
          <p:cNvPr id="22" name="텍스트 개체 틀 21"/>
          <p:cNvSpPr>
            <a:spLocks noGrp="1"/>
          </p:cNvSpPr>
          <p:nvPr>
            <p:ph type="body" sz="quarter" idx="13"/>
          </p:nvPr>
        </p:nvSpPr>
        <p:spPr>
          <a:xfrm>
            <a:off x="2959100" y="69055"/>
            <a:ext cx="9232899" cy="603791"/>
          </a:xfrm>
        </p:spPr>
        <p:txBody>
          <a:bodyPr anchor="ctr"/>
          <a:lstStyle>
            <a:lvl1pPr marL="0" indent="0">
              <a:buNone/>
              <a:defRPr b="1">
                <a:solidFill>
                  <a:schemeClr val="accent3">
                    <a:lumMod val="50000"/>
                  </a:schemeClr>
                </a:solidFill>
                <a:latin typeface="Rix모던명조 B" panose="02020603020101020101" pitchFamily="18" charset="-127"/>
                <a:ea typeface="Rix모던명조 B" panose="02020603020101020101" pitchFamily="18" charset="-127"/>
              </a:defRPr>
            </a:lvl1pPr>
          </a:lstStyle>
          <a:p>
            <a:pPr lvl="0"/>
            <a:r>
              <a:rPr lang="ko-KR" altLang="en-US" dirty="0"/>
              <a:t>마스터 텍스트 스타일 편집</a:t>
            </a:r>
          </a:p>
        </p:txBody>
      </p:sp>
      <p:sp>
        <p:nvSpPr>
          <p:cNvPr id="2" name="직사각형 1">
            <a:extLst>
              <a:ext uri="{FF2B5EF4-FFF2-40B4-BE49-F238E27FC236}">
                <a16:creationId xmlns:a16="http://schemas.microsoft.com/office/drawing/2014/main" id="{C7D14E75-92C3-4B89-BE74-A6BDEFD9235C}"/>
              </a:ext>
            </a:extLst>
          </p:cNvPr>
          <p:cNvSpPr/>
          <p:nvPr userDrawn="1"/>
        </p:nvSpPr>
        <p:spPr>
          <a:xfrm>
            <a:off x="-4710" y="0"/>
            <a:ext cx="2723309" cy="261758"/>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dist"/>
            <a:r>
              <a:rPr lang="en-US" altLang="ko-KR" b="1" dirty="0"/>
              <a:t>CASE STUDY</a:t>
            </a:r>
            <a:endParaRPr lang="ko-KR" altLang="en-US" b="1" dirty="0"/>
          </a:p>
        </p:txBody>
      </p:sp>
    </p:spTree>
    <p:extLst>
      <p:ext uri="{BB962C8B-B14F-4D97-AF65-F5344CB8AC3E}">
        <p14:creationId xmlns:p14="http://schemas.microsoft.com/office/powerpoint/2010/main" val="323354126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제목 슬라이드">
    <p:spTree>
      <p:nvGrpSpPr>
        <p:cNvPr id="1" name=""/>
        <p:cNvGrpSpPr/>
        <p:nvPr/>
      </p:nvGrpSpPr>
      <p:grpSpPr>
        <a:xfrm>
          <a:off x="0" y="0"/>
          <a:ext cx="0" cy="0"/>
          <a:chOff x="0" y="0"/>
          <a:chExt cx="0" cy="0"/>
        </a:xfrm>
      </p:grpSpPr>
      <p:sp>
        <p:nvSpPr>
          <p:cNvPr id="10" name="직사각형 9"/>
          <p:cNvSpPr/>
          <p:nvPr userDrawn="1"/>
        </p:nvSpPr>
        <p:spPr>
          <a:xfrm>
            <a:off x="2290709" y="0"/>
            <a:ext cx="9901291" cy="6898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rIns="216000" rtlCol="0" anchor="ctr"/>
          <a:lstStyle/>
          <a:p>
            <a:endParaRPr lang="ko-KR" altLang="en-US" sz="2400" dirty="0">
              <a:solidFill>
                <a:schemeClr val="accent3">
                  <a:lumMod val="50000"/>
                </a:schemeClr>
              </a:solidFill>
            </a:endParaRPr>
          </a:p>
        </p:txBody>
      </p:sp>
      <p:sp>
        <p:nvSpPr>
          <p:cNvPr id="4" name="날짜 개체 틀 3"/>
          <p:cNvSpPr>
            <a:spLocks noGrp="1"/>
          </p:cNvSpPr>
          <p:nvPr>
            <p:ph type="dt" sz="half" idx="10"/>
          </p:nvPr>
        </p:nvSpPr>
        <p:spPr/>
        <p:txBody>
          <a:bodyPr/>
          <a:lstStyle/>
          <a:p>
            <a:fld id="{4530897E-1F52-470C-BAEF-8EC700A71E38}" type="datetime1">
              <a:rPr lang="ko-KR" altLang="en-US" smtClean="0"/>
              <a:t>2026-06-13</a:t>
            </a:fld>
            <a:endParaRPr lang="ko-KR" altLang="en-US"/>
          </a:p>
        </p:txBody>
      </p:sp>
      <p:sp>
        <p:nvSpPr>
          <p:cNvPr id="5" name="바닥글 개체 틀 4"/>
          <p:cNvSpPr>
            <a:spLocks noGrp="1"/>
          </p:cNvSpPr>
          <p:nvPr>
            <p:ph type="ftr" sz="quarter" idx="11"/>
          </p:nvPr>
        </p:nvSpPr>
        <p:spPr/>
        <p:txBody>
          <a:bodyPr/>
          <a:lstStyle/>
          <a:p>
            <a:endParaRPr lang="ko-KR" altLang="en-US"/>
          </a:p>
        </p:txBody>
      </p:sp>
      <p:sp>
        <p:nvSpPr>
          <p:cNvPr id="6" name="슬라이드 번호 개체 틀 5"/>
          <p:cNvSpPr>
            <a:spLocks noGrp="1"/>
          </p:cNvSpPr>
          <p:nvPr>
            <p:ph type="sldNum" sz="quarter" idx="12"/>
          </p:nvPr>
        </p:nvSpPr>
        <p:spPr/>
        <p:txBody>
          <a:bodyPr/>
          <a:lstStyle/>
          <a:p>
            <a:fld id="{3875FC6C-1516-4DC4-8C58-3090F7D4F003}" type="slidenum">
              <a:rPr lang="ko-KR" altLang="en-US" smtClean="0"/>
              <a:t>‹#›</a:t>
            </a:fld>
            <a:endParaRPr lang="ko-KR" altLang="en-US"/>
          </a:p>
        </p:txBody>
      </p:sp>
      <p:grpSp>
        <p:nvGrpSpPr>
          <p:cNvPr id="13" name="그룹 12"/>
          <p:cNvGrpSpPr/>
          <p:nvPr userDrawn="1"/>
        </p:nvGrpSpPr>
        <p:grpSpPr>
          <a:xfrm>
            <a:off x="0" y="0"/>
            <a:ext cx="2844800" cy="923385"/>
            <a:chOff x="0" y="1206500"/>
            <a:chExt cx="2343150" cy="689865"/>
          </a:xfrm>
        </p:grpSpPr>
        <p:sp>
          <p:nvSpPr>
            <p:cNvPr id="11" name="제목 1"/>
            <p:cNvSpPr txBox="1">
              <a:spLocks/>
            </p:cNvSpPr>
            <p:nvPr userDrawn="1"/>
          </p:nvSpPr>
          <p:spPr>
            <a:xfrm>
              <a:off x="0" y="1206501"/>
              <a:ext cx="2243303" cy="689864"/>
            </a:xfrm>
            <a:prstGeom prst="rect">
              <a:avLst/>
            </a:prstGeom>
            <a:solidFill>
              <a:schemeClr val="bg1">
                <a:lumMod val="50000"/>
              </a:schemeClr>
            </a:solidFill>
          </p:spPr>
          <p:txBody>
            <a:bodyPr vert="horz" lIns="180000" tIns="0" rIns="18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endParaRPr lang="ko-KR" altLang="en-US" sz="2400" dirty="0">
                <a:solidFill>
                  <a:schemeClr val="accent4"/>
                </a:solidFill>
                <a:latin typeface="+mn-ea"/>
                <a:ea typeface="+mn-ea"/>
                <a:cs typeface="Tahoma" panose="020B0604030504040204" pitchFamily="34" charset="0"/>
              </a:endParaRPr>
            </a:p>
          </p:txBody>
        </p:sp>
        <p:sp>
          <p:nvSpPr>
            <p:cNvPr id="12" name="직사각형 11"/>
            <p:cNvSpPr/>
            <p:nvPr userDrawn="1"/>
          </p:nvSpPr>
          <p:spPr>
            <a:xfrm>
              <a:off x="2243083" y="1206500"/>
              <a:ext cx="100067" cy="6898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4" name="TextBox 13"/>
          <p:cNvSpPr txBox="1"/>
          <p:nvPr userDrawn="1"/>
        </p:nvSpPr>
        <p:spPr>
          <a:xfrm>
            <a:off x="1" y="677164"/>
            <a:ext cx="2723308" cy="246221"/>
          </a:xfrm>
          <a:prstGeom prst="rect">
            <a:avLst/>
          </a:prstGeom>
          <a:noFill/>
        </p:spPr>
        <p:txBody>
          <a:bodyPr wrap="square" rtlCol="0">
            <a:spAutoFit/>
          </a:bodyPr>
          <a:lstStyle/>
          <a:p>
            <a:pPr algn="dist"/>
            <a:r>
              <a:rPr lang="en-US" altLang="ko-KR" sz="1000" baseline="0" dirty="0" err="1">
                <a:solidFill>
                  <a:schemeClr val="bg2"/>
                </a:solidFill>
              </a:rPr>
              <a:t>Yim</a:t>
            </a:r>
            <a:r>
              <a:rPr lang="en-US" altLang="ko-KR" sz="1000" baseline="0" dirty="0">
                <a:solidFill>
                  <a:schemeClr val="bg2"/>
                </a:solidFill>
              </a:rPr>
              <a:t>, </a:t>
            </a:r>
            <a:r>
              <a:rPr lang="en-US" altLang="ko-KR" sz="1000" baseline="0" dirty="0" err="1">
                <a:solidFill>
                  <a:schemeClr val="bg2"/>
                </a:solidFill>
              </a:rPr>
              <a:t>Byung-Woong</a:t>
            </a:r>
            <a:r>
              <a:rPr lang="en-US" altLang="ko-KR" sz="1000" baseline="0" dirty="0">
                <a:solidFill>
                  <a:schemeClr val="bg2"/>
                </a:solidFill>
              </a:rPr>
              <a:t> </a:t>
            </a:r>
            <a:r>
              <a:rPr lang="en-US" altLang="ko-KR" sz="1000" dirty="0">
                <a:solidFill>
                  <a:schemeClr val="bg2"/>
                </a:solidFill>
              </a:rPr>
              <a:t>All Right</a:t>
            </a:r>
            <a:r>
              <a:rPr lang="en-US" altLang="ko-KR" sz="1000" baseline="0" dirty="0">
                <a:solidFill>
                  <a:schemeClr val="bg2"/>
                </a:solidFill>
              </a:rPr>
              <a:t>s Reserved.</a:t>
            </a:r>
            <a:endParaRPr lang="ko-KR" altLang="en-US" sz="1000" dirty="0">
              <a:solidFill>
                <a:schemeClr val="bg2"/>
              </a:solidFill>
            </a:endParaRPr>
          </a:p>
        </p:txBody>
      </p:sp>
      <p:cxnSp>
        <p:nvCxnSpPr>
          <p:cNvPr id="16" name="직선 연결선 15"/>
          <p:cNvCxnSpPr/>
          <p:nvPr userDrawn="1"/>
        </p:nvCxnSpPr>
        <p:spPr>
          <a:xfrm flipH="1">
            <a:off x="0" y="685800"/>
            <a:ext cx="28448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7" name="제목 개체 틀 1"/>
          <p:cNvSpPr>
            <a:spLocks noGrp="1"/>
          </p:cNvSpPr>
          <p:nvPr>
            <p:ph type="title"/>
          </p:nvPr>
        </p:nvSpPr>
        <p:spPr>
          <a:xfrm>
            <a:off x="0" y="69055"/>
            <a:ext cx="2708636" cy="603791"/>
          </a:xfrm>
          <a:prstGeom prst="rect">
            <a:avLst/>
          </a:prstGeom>
        </p:spPr>
        <p:txBody>
          <a:bodyPr vert="horz" lIns="91440" tIns="45720" rIns="91440" bIns="45720" rtlCol="0" anchor="ctr">
            <a:noAutofit/>
          </a:bodyPr>
          <a:lstStyle>
            <a:lvl1pPr algn="ctr">
              <a:defRPr sz="2400">
                <a:solidFill>
                  <a:schemeClr val="accent4"/>
                </a:solidFill>
                <a:latin typeface="Rix모던명조 B" panose="02020603020101020101" pitchFamily="18" charset="-127"/>
                <a:ea typeface="Rix모던명조 B" panose="02020603020101020101" pitchFamily="18" charset="-127"/>
              </a:defRPr>
            </a:lvl1pPr>
          </a:lstStyle>
          <a:p>
            <a:r>
              <a:rPr lang="ko-KR" altLang="en-US" dirty="0"/>
              <a:t>마스터 제목 스타일 편집</a:t>
            </a:r>
          </a:p>
        </p:txBody>
      </p:sp>
      <p:sp>
        <p:nvSpPr>
          <p:cNvPr id="18" name="제목 개체 틀 1"/>
          <p:cNvSpPr txBox="1">
            <a:spLocks/>
          </p:cNvSpPr>
          <p:nvPr userDrawn="1"/>
        </p:nvSpPr>
        <p:spPr>
          <a:xfrm>
            <a:off x="2864182" y="69055"/>
            <a:ext cx="9327818" cy="603791"/>
          </a:xfrm>
          <a:prstGeom prst="rect">
            <a:avLst/>
          </a:prstGeom>
        </p:spPr>
        <p:txBody>
          <a:bodyPr vert="horz" lIns="91440" tIns="45720" rIns="91440" bIns="45720" rtlCol="0" anchor="ctr">
            <a:noAutofit/>
          </a:bodyPr>
          <a:lstStyle>
            <a:lvl1pPr algn="ctr" defTabSz="914400" rtl="0" eaLnBrk="1" latinLnBrk="1" hangingPunct="1">
              <a:lnSpc>
                <a:spcPct val="90000"/>
              </a:lnSpc>
              <a:spcBef>
                <a:spcPct val="0"/>
              </a:spcBef>
              <a:buNone/>
              <a:defRPr sz="2400" kern="1200">
                <a:solidFill>
                  <a:schemeClr val="accent4"/>
                </a:solidFill>
                <a:latin typeface="+mj-lt"/>
                <a:ea typeface="+mj-ea"/>
                <a:cs typeface="+mj-cs"/>
              </a:defRPr>
            </a:lvl1pPr>
          </a:lstStyle>
          <a:p>
            <a:pPr algn="l"/>
            <a:endParaRPr lang="ko-KR" altLang="en-US" dirty="0">
              <a:solidFill>
                <a:schemeClr val="accent3">
                  <a:lumMod val="50000"/>
                </a:schemeClr>
              </a:solidFill>
            </a:endParaRPr>
          </a:p>
        </p:txBody>
      </p:sp>
      <p:sp>
        <p:nvSpPr>
          <p:cNvPr id="22" name="텍스트 개체 틀 21"/>
          <p:cNvSpPr>
            <a:spLocks noGrp="1"/>
          </p:cNvSpPr>
          <p:nvPr>
            <p:ph type="body" sz="quarter" idx="13"/>
          </p:nvPr>
        </p:nvSpPr>
        <p:spPr>
          <a:xfrm>
            <a:off x="2959100" y="69055"/>
            <a:ext cx="9232899" cy="603791"/>
          </a:xfrm>
        </p:spPr>
        <p:txBody>
          <a:bodyPr anchor="ctr"/>
          <a:lstStyle>
            <a:lvl1pPr marL="0" indent="0">
              <a:buNone/>
              <a:defRPr b="1">
                <a:solidFill>
                  <a:schemeClr val="accent3">
                    <a:lumMod val="50000"/>
                  </a:schemeClr>
                </a:solidFill>
                <a:latin typeface="Rix모던명조 B" panose="02020603020101020101" pitchFamily="18" charset="-127"/>
                <a:ea typeface="Rix모던명조 B" panose="02020603020101020101" pitchFamily="18" charset="-127"/>
              </a:defRPr>
            </a:lvl1pPr>
          </a:lstStyle>
          <a:p>
            <a:pPr lvl="0"/>
            <a:r>
              <a:rPr lang="ko-KR" altLang="en-US" dirty="0"/>
              <a:t>마스터 텍스트 스타일 편집</a:t>
            </a:r>
          </a:p>
        </p:txBody>
      </p:sp>
    </p:spTree>
    <p:extLst>
      <p:ext uri="{BB962C8B-B14F-4D97-AF65-F5344CB8AC3E}">
        <p14:creationId xmlns:p14="http://schemas.microsoft.com/office/powerpoint/2010/main" val="89036127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제목 슬라이드">
    <p:spTree>
      <p:nvGrpSpPr>
        <p:cNvPr id="1" name=""/>
        <p:cNvGrpSpPr/>
        <p:nvPr/>
      </p:nvGrpSpPr>
      <p:grpSpPr>
        <a:xfrm>
          <a:off x="0" y="0"/>
          <a:ext cx="0" cy="0"/>
          <a:chOff x="0" y="0"/>
          <a:chExt cx="0" cy="0"/>
        </a:xfrm>
      </p:grpSpPr>
      <p:sp>
        <p:nvSpPr>
          <p:cNvPr id="4" name="날짜 개체 틀 3"/>
          <p:cNvSpPr>
            <a:spLocks noGrp="1"/>
          </p:cNvSpPr>
          <p:nvPr>
            <p:ph type="dt" sz="half" idx="10"/>
          </p:nvPr>
        </p:nvSpPr>
        <p:spPr/>
        <p:txBody>
          <a:bodyPr/>
          <a:lstStyle/>
          <a:p>
            <a:fld id="{AE8C7522-D46F-4EA2-96CE-BF082140555B}" type="datetime1">
              <a:rPr lang="ko-KR" altLang="en-US" smtClean="0"/>
              <a:t>2026-06-13</a:t>
            </a:fld>
            <a:endParaRPr lang="ko-KR" altLang="en-US"/>
          </a:p>
        </p:txBody>
      </p:sp>
      <p:sp>
        <p:nvSpPr>
          <p:cNvPr id="5" name="바닥글 개체 틀 4"/>
          <p:cNvSpPr>
            <a:spLocks noGrp="1"/>
          </p:cNvSpPr>
          <p:nvPr>
            <p:ph type="ftr" sz="quarter" idx="11"/>
          </p:nvPr>
        </p:nvSpPr>
        <p:spPr/>
        <p:txBody>
          <a:bodyPr/>
          <a:lstStyle/>
          <a:p>
            <a:endParaRPr lang="ko-KR" altLang="en-US"/>
          </a:p>
        </p:txBody>
      </p:sp>
      <p:sp>
        <p:nvSpPr>
          <p:cNvPr id="6" name="슬라이드 번호 개체 틀 5"/>
          <p:cNvSpPr>
            <a:spLocks noGrp="1"/>
          </p:cNvSpPr>
          <p:nvPr>
            <p:ph type="sldNum" sz="quarter" idx="12"/>
          </p:nvPr>
        </p:nvSpPr>
        <p:spPr/>
        <p:txBody>
          <a:bodyPr/>
          <a:lstStyle/>
          <a:p>
            <a:fld id="{3875FC6C-1516-4DC4-8C58-3090F7D4F003}" type="slidenum">
              <a:rPr lang="ko-KR" altLang="en-US" smtClean="0"/>
              <a:t>‹#›</a:t>
            </a:fld>
            <a:endParaRPr lang="ko-KR" altLang="en-US"/>
          </a:p>
        </p:txBody>
      </p:sp>
      <p:sp>
        <p:nvSpPr>
          <p:cNvPr id="10" name="직사각형 9"/>
          <p:cNvSpPr/>
          <p:nvPr userDrawn="1"/>
        </p:nvSpPr>
        <p:spPr>
          <a:xfrm>
            <a:off x="2290709" y="0"/>
            <a:ext cx="9901291" cy="6898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rIns="216000" rtlCol="0" anchor="ctr"/>
          <a:lstStyle/>
          <a:p>
            <a:endParaRPr lang="ko-KR" altLang="en-US" sz="2400" dirty="0">
              <a:solidFill>
                <a:schemeClr val="accent3">
                  <a:lumMod val="50000"/>
                </a:schemeClr>
              </a:solidFill>
            </a:endParaRPr>
          </a:p>
        </p:txBody>
      </p:sp>
      <p:sp>
        <p:nvSpPr>
          <p:cNvPr id="12" name="제목 1"/>
          <p:cNvSpPr txBox="1">
            <a:spLocks/>
          </p:cNvSpPr>
          <p:nvPr userDrawn="1"/>
        </p:nvSpPr>
        <p:spPr>
          <a:xfrm>
            <a:off x="0" y="1"/>
            <a:ext cx="2723577" cy="923384"/>
          </a:xfrm>
          <a:prstGeom prst="rect">
            <a:avLst/>
          </a:prstGeom>
          <a:solidFill>
            <a:schemeClr val="accent1">
              <a:lumMod val="75000"/>
            </a:schemeClr>
          </a:solidFill>
        </p:spPr>
        <p:txBody>
          <a:bodyPr vert="horz" lIns="180000" tIns="0" rIns="18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endParaRPr lang="ko-KR" altLang="en-US" sz="2400" dirty="0">
              <a:solidFill>
                <a:schemeClr val="accent4"/>
              </a:solidFill>
              <a:latin typeface="+mn-ea"/>
              <a:ea typeface="+mn-ea"/>
              <a:cs typeface="Tahoma" panose="020B0604030504040204" pitchFamily="34" charset="0"/>
            </a:endParaRPr>
          </a:p>
        </p:txBody>
      </p:sp>
      <p:sp>
        <p:nvSpPr>
          <p:cNvPr id="13" name="직사각형 12"/>
          <p:cNvSpPr/>
          <p:nvPr userDrawn="1"/>
        </p:nvSpPr>
        <p:spPr>
          <a:xfrm>
            <a:off x="2723309" y="0"/>
            <a:ext cx="121491" cy="923384"/>
          </a:xfrm>
          <a:prstGeom prst="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p:cNvSpPr txBox="1"/>
          <p:nvPr userDrawn="1"/>
        </p:nvSpPr>
        <p:spPr>
          <a:xfrm>
            <a:off x="0" y="677164"/>
            <a:ext cx="2723308" cy="246221"/>
          </a:xfrm>
          <a:prstGeom prst="rect">
            <a:avLst/>
          </a:prstGeom>
          <a:noFill/>
        </p:spPr>
        <p:txBody>
          <a:bodyPr wrap="square" rtlCol="0">
            <a:spAutoFit/>
          </a:bodyPr>
          <a:lstStyle/>
          <a:p>
            <a:pPr algn="dist"/>
            <a:r>
              <a:rPr lang="en-US" altLang="ko-KR" sz="1000" baseline="0" dirty="0" err="1">
                <a:solidFill>
                  <a:schemeClr val="bg2"/>
                </a:solidFill>
              </a:rPr>
              <a:t>Yim</a:t>
            </a:r>
            <a:r>
              <a:rPr lang="en-US" altLang="ko-KR" sz="1000" baseline="0" dirty="0">
                <a:solidFill>
                  <a:schemeClr val="bg2"/>
                </a:solidFill>
              </a:rPr>
              <a:t>, </a:t>
            </a:r>
            <a:r>
              <a:rPr lang="en-US" altLang="ko-KR" sz="1000" baseline="0" dirty="0" err="1">
                <a:solidFill>
                  <a:schemeClr val="bg2"/>
                </a:solidFill>
              </a:rPr>
              <a:t>Byung-Woong</a:t>
            </a:r>
            <a:r>
              <a:rPr lang="en-US" altLang="ko-KR" sz="1000" baseline="0" dirty="0">
                <a:solidFill>
                  <a:schemeClr val="bg2"/>
                </a:solidFill>
              </a:rPr>
              <a:t> </a:t>
            </a:r>
            <a:r>
              <a:rPr lang="en-US" altLang="ko-KR" sz="1000" dirty="0">
                <a:solidFill>
                  <a:schemeClr val="bg2"/>
                </a:solidFill>
              </a:rPr>
              <a:t>All Right</a:t>
            </a:r>
            <a:r>
              <a:rPr lang="en-US" altLang="ko-KR" sz="1000" baseline="0" dirty="0">
                <a:solidFill>
                  <a:schemeClr val="bg2"/>
                </a:solidFill>
              </a:rPr>
              <a:t>s Reserved.</a:t>
            </a:r>
            <a:endParaRPr lang="ko-KR" altLang="en-US" sz="1000" dirty="0">
              <a:solidFill>
                <a:schemeClr val="bg2"/>
              </a:solidFill>
            </a:endParaRPr>
          </a:p>
        </p:txBody>
      </p:sp>
      <p:cxnSp>
        <p:nvCxnSpPr>
          <p:cNvPr id="15" name="직선 연결선 14"/>
          <p:cNvCxnSpPr/>
          <p:nvPr userDrawn="1"/>
        </p:nvCxnSpPr>
        <p:spPr>
          <a:xfrm flipH="1">
            <a:off x="0" y="685800"/>
            <a:ext cx="28448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userDrawn="1">
            <p:ph type="title"/>
          </p:nvPr>
        </p:nvSpPr>
        <p:spPr>
          <a:xfrm>
            <a:off x="0" y="69055"/>
            <a:ext cx="2708636" cy="603791"/>
          </a:xfrm>
          <a:prstGeom prst="rect">
            <a:avLst/>
          </a:prstGeom>
        </p:spPr>
        <p:txBody>
          <a:bodyPr vert="horz" lIns="91440" tIns="45720" rIns="91440" bIns="45720" rtlCol="0" anchor="ctr">
            <a:noAutofit/>
          </a:bodyPr>
          <a:lstStyle>
            <a:lvl1pPr algn="ctr">
              <a:defRPr sz="2400">
                <a:solidFill>
                  <a:srgbClr val="FFFF00"/>
                </a:solidFill>
                <a:latin typeface="Rix모던명조 B" panose="02020603020101020101" pitchFamily="18" charset="-127"/>
                <a:ea typeface="Rix모던명조 B" panose="02020603020101020101" pitchFamily="18" charset="-127"/>
              </a:defRPr>
            </a:lvl1pPr>
          </a:lstStyle>
          <a:p>
            <a:r>
              <a:rPr lang="ko-KR" altLang="en-US" dirty="0"/>
              <a:t>마스터 제목 스타일 편집</a:t>
            </a:r>
          </a:p>
        </p:txBody>
      </p:sp>
      <p:sp>
        <p:nvSpPr>
          <p:cNvPr id="17" name="제목 개체 틀 1"/>
          <p:cNvSpPr txBox="1">
            <a:spLocks/>
          </p:cNvSpPr>
          <p:nvPr userDrawn="1"/>
        </p:nvSpPr>
        <p:spPr>
          <a:xfrm>
            <a:off x="2864182" y="69055"/>
            <a:ext cx="9327818" cy="603791"/>
          </a:xfrm>
          <a:prstGeom prst="rect">
            <a:avLst/>
          </a:prstGeom>
        </p:spPr>
        <p:txBody>
          <a:bodyPr vert="horz" lIns="91440" tIns="45720" rIns="91440" bIns="45720" rtlCol="0" anchor="ctr">
            <a:noAutofit/>
          </a:bodyPr>
          <a:lstStyle>
            <a:lvl1pPr algn="ctr" defTabSz="914400" rtl="0" eaLnBrk="1" latinLnBrk="1" hangingPunct="1">
              <a:lnSpc>
                <a:spcPct val="90000"/>
              </a:lnSpc>
              <a:spcBef>
                <a:spcPct val="0"/>
              </a:spcBef>
              <a:buNone/>
              <a:defRPr sz="2400" kern="1200">
                <a:solidFill>
                  <a:schemeClr val="accent4"/>
                </a:solidFill>
                <a:latin typeface="+mj-lt"/>
                <a:ea typeface="+mj-ea"/>
                <a:cs typeface="+mj-cs"/>
              </a:defRPr>
            </a:lvl1pPr>
          </a:lstStyle>
          <a:p>
            <a:pPr algn="l"/>
            <a:endParaRPr lang="ko-KR" altLang="en-US" dirty="0">
              <a:solidFill>
                <a:schemeClr val="accent3">
                  <a:lumMod val="50000"/>
                </a:schemeClr>
              </a:solidFill>
            </a:endParaRPr>
          </a:p>
        </p:txBody>
      </p:sp>
      <p:sp>
        <p:nvSpPr>
          <p:cNvPr id="18" name="텍스트 개체 틀 21"/>
          <p:cNvSpPr>
            <a:spLocks noGrp="1"/>
          </p:cNvSpPr>
          <p:nvPr userDrawn="1">
            <p:ph type="body" sz="quarter" idx="13"/>
          </p:nvPr>
        </p:nvSpPr>
        <p:spPr>
          <a:xfrm>
            <a:off x="2959100" y="69055"/>
            <a:ext cx="9232899" cy="603791"/>
          </a:xfrm>
        </p:spPr>
        <p:txBody>
          <a:bodyPr anchor="ctr"/>
          <a:lstStyle>
            <a:lvl1pPr marL="0" indent="0">
              <a:buNone/>
              <a:defRPr b="1">
                <a:solidFill>
                  <a:schemeClr val="accent3">
                    <a:lumMod val="50000"/>
                  </a:schemeClr>
                </a:solidFill>
                <a:latin typeface="Rix모던명조 B" panose="02020603020101020101" pitchFamily="18" charset="-127"/>
                <a:ea typeface="Rix모던명조 B" panose="02020603020101020101" pitchFamily="18" charset="-127"/>
              </a:defRPr>
            </a:lvl1pPr>
          </a:lstStyle>
          <a:p>
            <a:pPr lvl="0"/>
            <a:r>
              <a:rPr lang="ko-KR" altLang="en-US" dirty="0"/>
              <a:t>마스터 텍스트 스타일 편집</a:t>
            </a:r>
          </a:p>
        </p:txBody>
      </p:sp>
    </p:spTree>
    <p:extLst>
      <p:ext uri="{BB962C8B-B14F-4D97-AF65-F5344CB8AC3E}">
        <p14:creationId xmlns:p14="http://schemas.microsoft.com/office/powerpoint/2010/main" val="375901793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제목 슬라이드">
    <p:spTree>
      <p:nvGrpSpPr>
        <p:cNvPr id="1" name=""/>
        <p:cNvGrpSpPr/>
        <p:nvPr/>
      </p:nvGrpSpPr>
      <p:grpSpPr>
        <a:xfrm>
          <a:off x="0" y="0"/>
          <a:ext cx="0" cy="0"/>
          <a:chOff x="0" y="0"/>
          <a:chExt cx="0" cy="0"/>
        </a:xfrm>
      </p:grpSpPr>
      <p:sp>
        <p:nvSpPr>
          <p:cNvPr id="4" name="날짜 개체 틀 3"/>
          <p:cNvSpPr>
            <a:spLocks noGrp="1"/>
          </p:cNvSpPr>
          <p:nvPr>
            <p:ph type="dt" sz="half" idx="10"/>
          </p:nvPr>
        </p:nvSpPr>
        <p:spPr/>
        <p:txBody>
          <a:bodyPr/>
          <a:lstStyle/>
          <a:p>
            <a:fld id="{1EFBDF58-DCC8-4D77-B255-9696E376AAF6}" type="datetime1">
              <a:rPr lang="ko-KR" altLang="en-US" smtClean="0"/>
              <a:t>2026-06-13</a:t>
            </a:fld>
            <a:endParaRPr lang="ko-KR" altLang="en-US"/>
          </a:p>
        </p:txBody>
      </p:sp>
      <p:sp>
        <p:nvSpPr>
          <p:cNvPr id="5" name="바닥글 개체 틀 4"/>
          <p:cNvSpPr>
            <a:spLocks noGrp="1"/>
          </p:cNvSpPr>
          <p:nvPr>
            <p:ph type="ftr" sz="quarter" idx="11"/>
          </p:nvPr>
        </p:nvSpPr>
        <p:spPr/>
        <p:txBody>
          <a:bodyPr/>
          <a:lstStyle/>
          <a:p>
            <a:endParaRPr lang="ko-KR" altLang="en-US"/>
          </a:p>
        </p:txBody>
      </p:sp>
      <p:sp>
        <p:nvSpPr>
          <p:cNvPr id="6" name="슬라이드 번호 개체 틀 5"/>
          <p:cNvSpPr>
            <a:spLocks noGrp="1"/>
          </p:cNvSpPr>
          <p:nvPr>
            <p:ph type="sldNum" sz="quarter" idx="12"/>
          </p:nvPr>
        </p:nvSpPr>
        <p:spPr/>
        <p:txBody>
          <a:bodyPr/>
          <a:lstStyle/>
          <a:p>
            <a:fld id="{3875FC6C-1516-4DC4-8C58-3090F7D4F003}" type="slidenum">
              <a:rPr lang="ko-KR" altLang="en-US" smtClean="0"/>
              <a:t>‹#›</a:t>
            </a:fld>
            <a:endParaRPr lang="ko-KR" altLang="en-US"/>
          </a:p>
        </p:txBody>
      </p:sp>
      <p:sp>
        <p:nvSpPr>
          <p:cNvPr id="10" name="직사각형 9"/>
          <p:cNvSpPr/>
          <p:nvPr userDrawn="1"/>
        </p:nvSpPr>
        <p:spPr>
          <a:xfrm>
            <a:off x="2290709" y="0"/>
            <a:ext cx="9901291" cy="6898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rIns="216000" rtlCol="0" anchor="ctr"/>
          <a:lstStyle/>
          <a:p>
            <a:endParaRPr lang="ko-KR" altLang="en-US" sz="2400" dirty="0">
              <a:solidFill>
                <a:schemeClr val="accent3">
                  <a:lumMod val="50000"/>
                </a:schemeClr>
              </a:solidFill>
            </a:endParaRPr>
          </a:p>
        </p:txBody>
      </p:sp>
      <p:sp>
        <p:nvSpPr>
          <p:cNvPr id="12" name="제목 1"/>
          <p:cNvSpPr txBox="1">
            <a:spLocks/>
          </p:cNvSpPr>
          <p:nvPr userDrawn="1"/>
        </p:nvSpPr>
        <p:spPr>
          <a:xfrm>
            <a:off x="0" y="1"/>
            <a:ext cx="2723577" cy="685799"/>
          </a:xfrm>
          <a:prstGeom prst="rect">
            <a:avLst/>
          </a:prstGeom>
          <a:solidFill>
            <a:schemeClr val="accent6">
              <a:lumMod val="50000"/>
            </a:schemeClr>
          </a:solidFill>
        </p:spPr>
        <p:txBody>
          <a:bodyPr vert="horz" lIns="180000" tIns="0" rIns="18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endParaRPr lang="ko-KR" altLang="en-US" sz="2400" dirty="0">
              <a:solidFill>
                <a:schemeClr val="accent4"/>
              </a:solidFill>
              <a:latin typeface="+mn-ea"/>
              <a:ea typeface="+mn-ea"/>
              <a:cs typeface="Tahoma" panose="020B0604030504040204" pitchFamily="34" charset="0"/>
            </a:endParaRPr>
          </a:p>
        </p:txBody>
      </p:sp>
      <p:sp>
        <p:nvSpPr>
          <p:cNvPr id="13" name="직사각형 12"/>
          <p:cNvSpPr/>
          <p:nvPr userDrawn="1"/>
        </p:nvSpPr>
        <p:spPr>
          <a:xfrm>
            <a:off x="2723309" y="0"/>
            <a:ext cx="121491" cy="685800"/>
          </a:xfrm>
          <a:prstGeom prst="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 name="직선 연결선 14"/>
          <p:cNvCxnSpPr/>
          <p:nvPr userDrawn="1"/>
        </p:nvCxnSpPr>
        <p:spPr>
          <a:xfrm flipH="1">
            <a:off x="0" y="685800"/>
            <a:ext cx="28448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userDrawn="1">
            <p:ph type="title" hasCustomPrompt="1"/>
          </p:nvPr>
        </p:nvSpPr>
        <p:spPr>
          <a:xfrm>
            <a:off x="0" y="69055"/>
            <a:ext cx="2708636" cy="603791"/>
          </a:xfrm>
          <a:prstGeom prst="rect">
            <a:avLst/>
          </a:prstGeom>
        </p:spPr>
        <p:txBody>
          <a:bodyPr vert="horz" lIns="91440" tIns="45720" rIns="91440" bIns="45720" rtlCol="0" anchor="ctr">
            <a:noAutofit/>
          </a:bodyPr>
          <a:lstStyle>
            <a:lvl1pPr algn="ctr">
              <a:defRPr sz="2400">
                <a:solidFill>
                  <a:srgbClr val="FFFF00"/>
                </a:solidFill>
                <a:latin typeface="Rix모던명조 B" panose="02020603020101020101" pitchFamily="18" charset="-127"/>
                <a:ea typeface="Rix모던명조 B" panose="02020603020101020101" pitchFamily="18" charset="-127"/>
              </a:defRPr>
            </a:lvl1pPr>
          </a:lstStyle>
          <a:p>
            <a:r>
              <a:rPr lang="en-US" altLang="ko-KR" dirty="0"/>
              <a:t>TEST</a:t>
            </a:r>
            <a:endParaRPr lang="ko-KR" altLang="en-US" dirty="0"/>
          </a:p>
        </p:txBody>
      </p:sp>
      <p:sp>
        <p:nvSpPr>
          <p:cNvPr id="17" name="제목 개체 틀 1"/>
          <p:cNvSpPr txBox="1">
            <a:spLocks/>
          </p:cNvSpPr>
          <p:nvPr userDrawn="1"/>
        </p:nvSpPr>
        <p:spPr>
          <a:xfrm>
            <a:off x="2864182" y="69055"/>
            <a:ext cx="9327818" cy="603791"/>
          </a:xfrm>
          <a:prstGeom prst="rect">
            <a:avLst/>
          </a:prstGeom>
        </p:spPr>
        <p:txBody>
          <a:bodyPr vert="horz" lIns="91440" tIns="45720" rIns="91440" bIns="45720" rtlCol="0" anchor="ctr">
            <a:noAutofit/>
          </a:bodyPr>
          <a:lstStyle>
            <a:lvl1pPr algn="ctr" defTabSz="914400" rtl="0" eaLnBrk="1" latinLnBrk="1" hangingPunct="1">
              <a:lnSpc>
                <a:spcPct val="90000"/>
              </a:lnSpc>
              <a:spcBef>
                <a:spcPct val="0"/>
              </a:spcBef>
              <a:buNone/>
              <a:defRPr sz="2400" kern="1200">
                <a:solidFill>
                  <a:schemeClr val="accent4"/>
                </a:solidFill>
                <a:latin typeface="+mj-lt"/>
                <a:ea typeface="+mj-ea"/>
                <a:cs typeface="+mj-cs"/>
              </a:defRPr>
            </a:lvl1pPr>
          </a:lstStyle>
          <a:p>
            <a:pPr algn="l"/>
            <a:endParaRPr lang="ko-KR" altLang="en-US" dirty="0">
              <a:solidFill>
                <a:schemeClr val="accent3">
                  <a:lumMod val="50000"/>
                </a:schemeClr>
              </a:solidFill>
            </a:endParaRPr>
          </a:p>
        </p:txBody>
      </p:sp>
      <p:sp>
        <p:nvSpPr>
          <p:cNvPr id="18" name="텍스트 개체 틀 21"/>
          <p:cNvSpPr>
            <a:spLocks noGrp="1"/>
          </p:cNvSpPr>
          <p:nvPr userDrawn="1">
            <p:ph type="body" sz="quarter" idx="13"/>
          </p:nvPr>
        </p:nvSpPr>
        <p:spPr>
          <a:xfrm>
            <a:off x="2959100" y="69055"/>
            <a:ext cx="9232899" cy="603791"/>
          </a:xfrm>
        </p:spPr>
        <p:txBody>
          <a:bodyPr anchor="ctr"/>
          <a:lstStyle>
            <a:lvl1pPr marL="0" indent="0">
              <a:buNone/>
              <a:defRPr b="1">
                <a:solidFill>
                  <a:schemeClr val="accent3">
                    <a:lumMod val="50000"/>
                  </a:schemeClr>
                </a:solidFill>
                <a:latin typeface="Rix모던명조 B" panose="02020603020101020101" pitchFamily="18" charset="-127"/>
                <a:ea typeface="Rix모던명조 B" panose="02020603020101020101" pitchFamily="18" charset="-127"/>
              </a:defRPr>
            </a:lvl1pPr>
          </a:lstStyle>
          <a:p>
            <a:pPr lvl="0"/>
            <a:r>
              <a:rPr lang="ko-KR" altLang="en-US" dirty="0"/>
              <a:t>마스터 텍스트 스타일 편집</a:t>
            </a:r>
          </a:p>
        </p:txBody>
      </p:sp>
    </p:spTree>
    <p:extLst>
      <p:ext uri="{BB962C8B-B14F-4D97-AF65-F5344CB8AC3E}">
        <p14:creationId xmlns:p14="http://schemas.microsoft.com/office/powerpoint/2010/main" val="105527559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4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71677"/>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133608954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5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71677"/>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376955003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6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71677"/>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254815303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7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71677"/>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8822129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8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71677"/>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190679937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71677"/>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187009327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5"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8016"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0423" y="549176"/>
            <a:ext cx="2886612"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신문제비 L" panose="02030504000101010101" charset="-127"/>
                <a:ea typeface="산돌신문제비 L" panose="02030504000101010101"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6"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8" y="1315935"/>
            <a:ext cx="6655698" cy="269882"/>
          </a:xfrm>
          <a:noFill/>
          <a:ln>
            <a:solidFill>
              <a:schemeClr val="bg1">
                <a:lumMod val="50000"/>
              </a:schemeClr>
            </a:solidFill>
          </a:ln>
        </p:spPr>
        <p:txBody>
          <a:bodyPr wrap="square" anchor="t">
            <a:spAutoFit/>
          </a:bodyPr>
          <a:lstStyle>
            <a:lvl1pPr marL="143246" indent="-143246" algn="just">
              <a:lnSpc>
                <a:spcPts val="1504"/>
              </a:lnSpc>
              <a:spcBef>
                <a:spcPts val="0"/>
              </a:spcBef>
              <a:buNone/>
              <a:defRPr sz="952">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
        <p:nvSpPr>
          <p:cNvPr id="14" name="텍스트 개체 틀 28"/>
          <p:cNvSpPr>
            <a:spLocks noGrp="1"/>
          </p:cNvSpPr>
          <p:nvPr>
            <p:ph type="body" sz="quarter" idx="18"/>
          </p:nvPr>
        </p:nvSpPr>
        <p:spPr>
          <a:xfrm>
            <a:off x="732408" y="1742184"/>
            <a:ext cx="6655698" cy="271677"/>
          </a:xfrm>
          <a:noFill/>
          <a:ln>
            <a:noFill/>
          </a:ln>
        </p:spPr>
        <p:txBody>
          <a:bodyPr wrap="square"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Tree>
    <p:extLst>
      <p:ext uri="{BB962C8B-B14F-4D97-AF65-F5344CB8AC3E}">
        <p14:creationId xmlns:p14="http://schemas.microsoft.com/office/powerpoint/2010/main" val="351050963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사용자 지정 레이아웃">
    <p:spTree>
      <p:nvGrpSpPr>
        <p:cNvPr id="1" name=""/>
        <p:cNvGrpSpPr/>
        <p:nvPr/>
      </p:nvGrpSpPr>
      <p:grpSpPr>
        <a:xfrm>
          <a:off x="0" y="0"/>
          <a:ext cx="0" cy="0"/>
          <a:chOff x="0" y="0"/>
          <a:chExt cx="0" cy="0"/>
        </a:xfrm>
      </p:grpSpPr>
      <p:sp>
        <p:nvSpPr>
          <p:cNvPr id="6" name="직사각형 5">
            <a:extLst>
              <a:ext uri="{FF2B5EF4-FFF2-40B4-BE49-F238E27FC236}">
                <a16:creationId xmlns:a16="http://schemas.microsoft.com/office/drawing/2014/main" id="{CE5E0D24-7585-4FA7-9EC5-459AC23046CD}"/>
              </a:ext>
            </a:extLst>
          </p:cNvPr>
          <p:cNvSpPr/>
          <p:nvPr userDrawn="1"/>
        </p:nvSpPr>
        <p:spPr>
          <a:xfrm>
            <a:off x="730881" y="544312"/>
            <a:ext cx="10826767" cy="5786884"/>
          </a:xfrm>
          <a:prstGeom prst="rect">
            <a:avLst/>
          </a:prstGeom>
          <a:no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5" dirty="0">
              <a:latin typeface="Rix커피향 M" pitchFamily="18" charset="-127"/>
              <a:ea typeface="Rix커피향 M" pitchFamily="18" charset="-127"/>
            </a:endParaRPr>
          </a:p>
        </p:txBody>
      </p:sp>
    </p:spTree>
    <p:extLst>
      <p:ext uri="{BB962C8B-B14F-4D97-AF65-F5344CB8AC3E}">
        <p14:creationId xmlns:p14="http://schemas.microsoft.com/office/powerpoint/2010/main" val="403964380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제목 슬라이드">
    <p:spTree>
      <p:nvGrpSpPr>
        <p:cNvPr id="1" name=""/>
        <p:cNvGrpSpPr/>
        <p:nvPr/>
      </p:nvGrpSpPr>
      <p:grpSpPr>
        <a:xfrm>
          <a:off x="0" y="0"/>
          <a:ext cx="0" cy="0"/>
          <a:chOff x="0" y="0"/>
          <a:chExt cx="0" cy="0"/>
        </a:xfrm>
      </p:grpSpPr>
      <p:sp>
        <p:nvSpPr>
          <p:cNvPr id="10" name="직사각형 9"/>
          <p:cNvSpPr/>
          <p:nvPr userDrawn="1"/>
        </p:nvSpPr>
        <p:spPr>
          <a:xfrm>
            <a:off x="2290709" y="0"/>
            <a:ext cx="9901291" cy="6898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rIns="216000" rtlCol="0" anchor="ctr"/>
          <a:lstStyle/>
          <a:p>
            <a:endParaRPr lang="ko-KR" altLang="en-US" sz="2400" dirty="0">
              <a:solidFill>
                <a:schemeClr val="accent3">
                  <a:lumMod val="50000"/>
                </a:schemeClr>
              </a:solidFill>
            </a:endParaRPr>
          </a:p>
        </p:txBody>
      </p:sp>
      <p:sp>
        <p:nvSpPr>
          <p:cNvPr id="4" name="날짜 개체 틀 3"/>
          <p:cNvSpPr>
            <a:spLocks noGrp="1"/>
          </p:cNvSpPr>
          <p:nvPr>
            <p:ph type="dt" sz="half" idx="10"/>
          </p:nvPr>
        </p:nvSpPr>
        <p:spPr/>
        <p:txBody>
          <a:bodyPr/>
          <a:lstStyle/>
          <a:p>
            <a:fld id="{92BC2B1A-0928-4613-A87B-96D0E69C19EA}" type="datetime1">
              <a:rPr lang="ko-KR" altLang="en-US" smtClean="0"/>
              <a:t>2026-06-13</a:t>
            </a:fld>
            <a:endParaRPr lang="ko-KR" altLang="en-US"/>
          </a:p>
        </p:txBody>
      </p:sp>
      <p:sp>
        <p:nvSpPr>
          <p:cNvPr id="5" name="바닥글 개체 틀 4"/>
          <p:cNvSpPr>
            <a:spLocks noGrp="1"/>
          </p:cNvSpPr>
          <p:nvPr>
            <p:ph type="ftr" sz="quarter" idx="11"/>
          </p:nvPr>
        </p:nvSpPr>
        <p:spPr/>
        <p:txBody>
          <a:bodyPr/>
          <a:lstStyle/>
          <a:p>
            <a:endParaRPr lang="ko-KR" altLang="en-US"/>
          </a:p>
        </p:txBody>
      </p:sp>
      <p:sp>
        <p:nvSpPr>
          <p:cNvPr id="6" name="슬라이드 번호 개체 틀 5"/>
          <p:cNvSpPr>
            <a:spLocks noGrp="1"/>
          </p:cNvSpPr>
          <p:nvPr>
            <p:ph type="sldNum" sz="quarter" idx="12"/>
          </p:nvPr>
        </p:nvSpPr>
        <p:spPr/>
        <p:txBody>
          <a:bodyPr/>
          <a:lstStyle/>
          <a:p>
            <a:fld id="{3875FC6C-1516-4DC4-8C58-3090F7D4F003}" type="slidenum">
              <a:rPr lang="ko-KR" altLang="en-US" smtClean="0"/>
              <a:t>‹#›</a:t>
            </a:fld>
            <a:endParaRPr lang="ko-KR" altLang="en-US"/>
          </a:p>
        </p:txBody>
      </p:sp>
      <p:grpSp>
        <p:nvGrpSpPr>
          <p:cNvPr id="13" name="그룹 12"/>
          <p:cNvGrpSpPr/>
          <p:nvPr userDrawn="1"/>
        </p:nvGrpSpPr>
        <p:grpSpPr>
          <a:xfrm>
            <a:off x="0" y="0"/>
            <a:ext cx="2844800" cy="923385"/>
            <a:chOff x="0" y="1206500"/>
            <a:chExt cx="2343150" cy="689865"/>
          </a:xfrm>
        </p:grpSpPr>
        <p:sp>
          <p:nvSpPr>
            <p:cNvPr id="11" name="제목 1"/>
            <p:cNvSpPr txBox="1">
              <a:spLocks/>
            </p:cNvSpPr>
            <p:nvPr userDrawn="1"/>
          </p:nvSpPr>
          <p:spPr>
            <a:xfrm>
              <a:off x="0" y="1206501"/>
              <a:ext cx="2243303" cy="689864"/>
            </a:xfrm>
            <a:prstGeom prst="rect">
              <a:avLst/>
            </a:prstGeom>
            <a:solidFill>
              <a:schemeClr val="bg1">
                <a:lumMod val="50000"/>
              </a:schemeClr>
            </a:solidFill>
          </p:spPr>
          <p:txBody>
            <a:bodyPr vert="horz" lIns="180000" tIns="0" rIns="18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endParaRPr lang="ko-KR" altLang="en-US" sz="2400" dirty="0">
                <a:solidFill>
                  <a:schemeClr val="accent4"/>
                </a:solidFill>
                <a:latin typeface="+mn-ea"/>
                <a:ea typeface="+mn-ea"/>
                <a:cs typeface="Tahoma" panose="020B0604030504040204" pitchFamily="34" charset="0"/>
              </a:endParaRPr>
            </a:p>
          </p:txBody>
        </p:sp>
        <p:sp>
          <p:nvSpPr>
            <p:cNvPr id="12" name="직사각형 11"/>
            <p:cNvSpPr/>
            <p:nvPr userDrawn="1"/>
          </p:nvSpPr>
          <p:spPr>
            <a:xfrm>
              <a:off x="2243083" y="1206500"/>
              <a:ext cx="100067" cy="6898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4" name="TextBox 13"/>
          <p:cNvSpPr txBox="1"/>
          <p:nvPr userDrawn="1"/>
        </p:nvSpPr>
        <p:spPr>
          <a:xfrm>
            <a:off x="0" y="677164"/>
            <a:ext cx="2589170" cy="246221"/>
          </a:xfrm>
          <a:prstGeom prst="rect">
            <a:avLst/>
          </a:prstGeom>
          <a:noFill/>
        </p:spPr>
        <p:txBody>
          <a:bodyPr wrap="none" rtlCol="0">
            <a:spAutoFit/>
          </a:bodyPr>
          <a:lstStyle/>
          <a:p>
            <a:r>
              <a:rPr lang="en-US" altLang="ko-KR" sz="1000" baseline="0" dirty="0" err="1">
                <a:solidFill>
                  <a:schemeClr val="bg2"/>
                </a:solidFill>
              </a:rPr>
              <a:t>Yim</a:t>
            </a:r>
            <a:r>
              <a:rPr lang="en-US" altLang="ko-KR" sz="1000" baseline="0" dirty="0">
                <a:solidFill>
                  <a:schemeClr val="bg2"/>
                </a:solidFill>
              </a:rPr>
              <a:t>, </a:t>
            </a:r>
            <a:r>
              <a:rPr lang="en-US" altLang="ko-KR" sz="1000" baseline="0" dirty="0" err="1">
                <a:solidFill>
                  <a:schemeClr val="bg2"/>
                </a:solidFill>
              </a:rPr>
              <a:t>Byung-Woong</a:t>
            </a:r>
            <a:r>
              <a:rPr lang="en-US" altLang="ko-KR" sz="1000" baseline="0" dirty="0">
                <a:solidFill>
                  <a:schemeClr val="bg2"/>
                </a:solidFill>
              </a:rPr>
              <a:t> </a:t>
            </a:r>
            <a:r>
              <a:rPr lang="en-US" altLang="ko-KR" sz="1000" dirty="0">
                <a:solidFill>
                  <a:schemeClr val="bg2"/>
                </a:solidFill>
              </a:rPr>
              <a:t>All Right</a:t>
            </a:r>
            <a:r>
              <a:rPr lang="en-US" altLang="ko-KR" sz="1000" baseline="0" dirty="0">
                <a:solidFill>
                  <a:schemeClr val="bg2"/>
                </a:solidFill>
              </a:rPr>
              <a:t>s Reserved.</a:t>
            </a:r>
            <a:endParaRPr lang="ko-KR" altLang="en-US" sz="1000" dirty="0">
              <a:solidFill>
                <a:schemeClr val="bg2"/>
              </a:solidFill>
            </a:endParaRPr>
          </a:p>
        </p:txBody>
      </p:sp>
      <p:cxnSp>
        <p:nvCxnSpPr>
          <p:cNvPr id="16" name="직선 연결선 15"/>
          <p:cNvCxnSpPr/>
          <p:nvPr userDrawn="1"/>
        </p:nvCxnSpPr>
        <p:spPr>
          <a:xfrm flipH="1">
            <a:off x="0" y="685800"/>
            <a:ext cx="28448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7" name="제목 개체 틀 1"/>
          <p:cNvSpPr>
            <a:spLocks noGrp="1"/>
          </p:cNvSpPr>
          <p:nvPr>
            <p:ph type="title"/>
          </p:nvPr>
        </p:nvSpPr>
        <p:spPr>
          <a:xfrm>
            <a:off x="0" y="69055"/>
            <a:ext cx="2708636" cy="603791"/>
          </a:xfrm>
          <a:prstGeom prst="rect">
            <a:avLst/>
          </a:prstGeom>
        </p:spPr>
        <p:txBody>
          <a:bodyPr vert="horz" lIns="91440" tIns="45720" rIns="91440" bIns="45720" rtlCol="0" anchor="ctr">
            <a:noAutofit/>
          </a:bodyPr>
          <a:lstStyle>
            <a:lvl1pPr algn="ctr">
              <a:defRPr sz="2400">
                <a:solidFill>
                  <a:schemeClr val="accent4"/>
                </a:solidFill>
                <a:latin typeface="Rix모던명조 B" panose="02020603020101020101" pitchFamily="18" charset="-127"/>
                <a:ea typeface="Rix모던명조 B" panose="02020603020101020101" pitchFamily="18" charset="-127"/>
              </a:defRPr>
            </a:lvl1pPr>
          </a:lstStyle>
          <a:p>
            <a:r>
              <a:rPr lang="ko-KR" altLang="en-US" dirty="0"/>
              <a:t>마스터 제목 스타일 편집</a:t>
            </a:r>
          </a:p>
        </p:txBody>
      </p:sp>
      <p:sp>
        <p:nvSpPr>
          <p:cNvPr id="18" name="제목 개체 틀 1"/>
          <p:cNvSpPr txBox="1">
            <a:spLocks/>
          </p:cNvSpPr>
          <p:nvPr userDrawn="1"/>
        </p:nvSpPr>
        <p:spPr>
          <a:xfrm>
            <a:off x="2864182" y="69055"/>
            <a:ext cx="9327818" cy="603791"/>
          </a:xfrm>
          <a:prstGeom prst="rect">
            <a:avLst/>
          </a:prstGeom>
        </p:spPr>
        <p:txBody>
          <a:bodyPr vert="horz" lIns="91440" tIns="45720" rIns="91440" bIns="45720" rtlCol="0" anchor="ctr">
            <a:noAutofit/>
          </a:bodyPr>
          <a:lstStyle>
            <a:lvl1pPr algn="ctr" defTabSz="914400" rtl="0" eaLnBrk="1" latinLnBrk="1" hangingPunct="1">
              <a:lnSpc>
                <a:spcPct val="90000"/>
              </a:lnSpc>
              <a:spcBef>
                <a:spcPct val="0"/>
              </a:spcBef>
              <a:buNone/>
              <a:defRPr sz="2400" kern="1200">
                <a:solidFill>
                  <a:schemeClr val="accent4"/>
                </a:solidFill>
                <a:latin typeface="+mj-lt"/>
                <a:ea typeface="+mj-ea"/>
                <a:cs typeface="+mj-cs"/>
              </a:defRPr>
            </a:lvl1pPr>
          </a:lstStyle>
          <a:p>
            <a:pPr algn="l"/>
            <a:endParaRPr lang="ko-KR" altLang="en-US" dirty="0">
              <a:solidFill>
                <a:schemeClr val="accent3">
                  <a:lumMod val="50000"/>
                </a:schemeClr>
              </a:solidFill>
            </a:endParaRPr>
          </a:p>
        </p:txBody>
      </p:sp>
      <p:sp>
        <p:nvSpPr>
          <p:cNvPr id="22" name="텍스트 개체 틀 21"/>
          <p:cNvSpPr>
            <a:spLocks noGrp="1"/>
          </p:cNvSpPr>
          <p:nvPr>
            <p:ph type="body" sz="quarter" idx="13"/>
          </p:nvPr>
        </p:nvSpPr>
        <p:spPr>
          <a:xfrm>
            <a:off x="2959100" y="69055"/>
            <a:ext cx="9232899" cy="603791"/>
          </a:xfrm>
        </p:spPr>
        <p:txBody>
          <a:bodyPr anchor="ctr"/>
          <a:lstStyle>
            <a:lvl1pPr marL="0" indent="0">
              <a:buNone/>
              <a:defRPr b="1">
                <a:solidFill>
                  <a:schemeClr val="accent3">
                    <a:lumMod val="50000"/>
                  </a:schemeClr>
                </a:solidFill>
                <a:latin typeface="Rix모던명조 B" panose="02020603020101020101" pitchFamily="18" charset="-127"/>
                <a:ea typeface="Rix모던명조 B" panose="02020603020101020101" pitchFamily="18" charset="-127"/>
              </a:defRPr>
            </a:lvl1pPr>
          </a:lstStyle>
          <a:p>
            <a:pPr lvl="0"/>
            <a:r>
              <a:rPr lang="ko-KR" altLang="en-US" dirty="0"/>
              <a:t>마스터 텍스트 스타일 편집</a:t>
            </a:r>
          </a:p>
        </p:txBody>
      </p:sp>
    </p:spTree>
    <p:extLst>
      <p:ext uri="{BB962C8B-B14F-4D97-AF65-F5344CB8AC3E}">
        <p14:creationId xmlns:p14="http://schemas.microsoft.com/office/powerpoint/2010/main" val="111687293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제목 슬라이드">
    <p:spTree>
      <p:nvGrpSpPr>
        <p:cNvPr id="1" name=""/>
        <p:cNvGrpSpPr/>
        <p:nvPr/>
      </p:nvGrpSpPr>
      <p:grpSpPr>
        <a:xfrm>
          <a:off x="0" y="0"/>
          <a:ext cx="0" cy="0"/>
          <a:chOff x="0" y="0"/>
          <a:chExt cx="0" cy="0"/>
        </a:xfrm>
      </p:grpSpPr>
      <p:sp>
        <p:nvSpPr>
          <p:cNvPr id="4" name="날짜 개체 틀 3"/>
          <p:cNvSpPr>
            <a:spLocks noGrp="1"/>
          </p:cNvSpPr>
          <p:nvPr>
            <p:ph type="dt" sz="half" idx="10"/>
          </p:nvPr>
        </p:nvSpPr>
        <p:spPr/>
        <p:txBody>
          <a:bodyPr/>
          <a:lstStyle/>
          <a:p>
            <a:fld id="{D763D2F8-962F-44A2-B5D9-A4610AC003D8}" type="datetime1">
              <a:rPr lang="ko-KR" altLang="en-US" smtClean="0"/>
              <a:t>2026-06-13</a:t>
            </a:fld>
            <a:endParaRPr lang="ko-KR" altLang="en-US"/>
          </a:p>
        </p:txBody>
      </p:sp>
      <p:sp>
        <p:nvSpPr>
          <p:cNvPr id="5" name="바닥글 개체 틀 4"/>
          <p:cNvSpPr>
            <a:spLocks noGrp="1"/>
          </p:cNvSpPr>
          <p:nvPr>
            <p:ph type="ftr" sz="quarter" idx="11"/>
          </p:nvPr>
        </p:nvSpPr>
        <p:spPr/>
        <p:txBody>
          <a:bodyPr/>
          <a:lstStyle/>
          <a:p>
            <a:endParaRPr lang="ko-KR" altLang="en-US"/>
          </a:p>
        </p:txBody>
      </p:sp>
      <p:sp>
        <p:nvSpPr>
          <p:cNvPr id="6" name="슬라이드 번호 개체 틀 5"/>
          <p:cNvSpPr>
            <a:spLocks noGrp="1"/>
          </p:cNvSpPr>
          <p:nvPr>
            <p:ph type="sldNum" sz="quarter" idx="12"/>
          </p:nvPr>
        </p:nvSpPr>
        <p:spPr/>
        <p:txBody>
          <a:bodyPr/>
          <a:lstStyle/>
          <a:p>
            <a:fld id="{3875FC6C-1516-4DC4-8C58-3090F7D4F003}" type="slidenum">
              <a:rPr lang="ko-KR" altLang="en-US" smtClean="0"/>
              <a:t>‹#›</a:t>
            </a:fld>
            <a:endParaRPr lang="ko-KR" altLang="en-US"/>
          </a:p>
        </p:txBody>
      </p:sp>
      <p:sp>
        <p:nvSpPr>
          <p:cNvPr id="10" name="직사각형 9"/>
          <p:cNvSpPr/>
          <p:nvPr userDrawn="1"/>
        </p:nvSpPr>
        <p:spPr>
          <a:xfrm>
            <a:off x="2290709" y="0"/>
            <a:ext cx="9901291" cy="6898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rIns="216000" rtlCol="0" anchor="ctr"/>
          <a:lstStyle/>
          <a:p>
            <a:endParaRPr lang="ko-KR" altLang="en-US" sz="2400" dirty="0">
              <a:solidFill>
                <a:schemeClr val="accent3">
                  <a:lumMod val="50000"/>
                </a:schemeClr>
              </a:solidFill>
            </a:endParaRPr>
          </a:p>
        </p:txBody>
      </p:sp>
      <p:sp>
        <p:nvSpPr>
          <p:cNvPr id="12" name="제목 1"/>
          <p:cNvSpPr txBox="1">
            <a:spLocks/>
          </p:cNvSpPr>
          <p:nvPr userDrawn="1"/>
        </p:nvSpPr>
        <p:spPr>
          <a:xfrm>
            <a:off x="0" y="1"/>
            <a:ext cx="2723577" cy="923384"/>
          </a:xfrm>
          <a:prstGeom prst="rect">
            <a:avLst/>
          </a:prstGeom>
          <a:solidFill>
            <a:schemeClr val="accent1">
              <a:lumMod val="75000"/>
            </a:schemeClr>
          </a:solidFill>
        </p:spPr>
        <p:txBody>
          <a:bodyPr vert="horz" lIns="180000" tIns="0" rIns="18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endParaRPr lang="ko-KR" altLang="en-US" sz="2400" dirty="0">
              <a:solidFill>
                <a:schemeClr val="accent4"/>
              </a:solidFill>
              <a:latin typeface="+mn-ea"/>
              <a:ea typeface="+mn-ea"/>
              <a:cs typeface="Tahoma" panose="020B0604030504040204" pitchFamily="34" charset="0"/>
            </a:endParaRPr>
          </a:p>
        </p:txBody>
      </p:sp>
      <p:sp>
        <p:nvSpPr>
          <p:cNvPr id="13" name="직사각형 12"/>
          <p:cNvSpPr/>
          <p:nvPr userDrawn="1"/>
        </p:nvSpPr>
        <p:spPr>
          <a:xfrm>
            <a:off x="2723309" y="0"/>
            <a:ext cx="121491" cy="923384"/>
          </a:xfrm>
          <a:prstGeom prst="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p:cNvSpPr txBox="1"/>
          <p:nvPr userDrawn="1"/>
        </p:nvSpPr>
        <p:spPr>
          <a:xfrm>
            <a:off x="0" y="677164"/>
            <a:ext cx="2589170" cy="246221"/>
          </a:xfrm>
          <a:prstGeom prst="rect">
            <a:avLst/>
          </a:prstGeom>
          <a:noFill/>
        </p:spPr>
        <p:txBody>
          <a:bodyPr wrap="none" rtlCol="0">
            <a:spAutoFit/>
          </a:bodyPr>
          <a:lstStyle/>
          <a:p>
            <a:r>
              <a:rPr lang="en-US" altLang="ko-KR" sz="1000" baseline="0" dirty="0" err="1">
                <a:solidFill>
                  <a:schemeClr val="bg2"/>
                </a:solidFill>
              </a:rPr>
              <a:t>Yim</a:t>
            </a:r>
            <a:r>
              <a:rPr lang="en-US" altLang="ko-KR" sz="1000" baseline="0" dirty="0">
                <a:solidFill>
                  <a:schemeClr val="bg2"/>
                </a:solidFill>
              </a:rPr>
              <a:t>, </a:t>
            </a:r>
            <a:r>
              <a:rPr lang="en-US" altLang="ko-KR" sz="1000" baseline="0" dirty="0" err="1">
                <a:solidFill>
                  <a:schemeClr val="bg2"/>
                </a:solidFill>
              </a:rPr>
              <a:t>Byung-Woong</a:t>
            </a:r>
            <a:r>
              <a:rPr lang="en-US" altLang="ko-KR" sz="1000" baseline="0" dirty="0">
                <a:solidFill>
                  <a:schemeClr val="bg2"/>
                </a:solidFill>
              </a:rPr>
              <a:t> </a:t>
            </a:r>
            <a:r>
              <a:rPr lang="en-US" altLang="ko-KR" sz="1000" dirty="0">
                <a:solidFill>
                  <a:schemeClr val="bg2"/>
                </a:solidFill>
              </a:rPr>
              <a:t>All Right</a:t>
            </a:r>
            <a:r>
              <a:rPr lang="en-US" altLang="ko-KR" sz="1000" baseline="0" dirty="0">
                <a:solidFill>
                  <a:schemeClr val="bg2"/>
                </a:solidFill>
              </a:rPr>
              <a:t>s Reserved.</a:t>
            </a:r>
            <a:endParaRPr lang="ko-KR" altLang="en-US" sz="1000" dirty="0">
              <a:solidFill>
                <a:schemeClr val="bg2"/>
              </a:solidFill>
            </a:endParaRPr>
          </a:p>
        </p:txBody>
      </p:sp>
      <p:cxnSp>
        <p:nvCxnSpPr>
          <p:cNvPr id="15" name="직선 연결선 14"/>
          <p:cNvCxnSpPr/>
          <p:nvPr userDrawn="1"/>
        </p:nvCxnSpPr>
        <p:spPr>
          <a:xfrm flipH="1">
            <a:off x="0" y="685800"/>
            <a:ext cx="28448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userDrawn="1">
            <p:ph type="title"/>
          </p:nvPr>
        </p:nvSpPr>
        <p:spPr>
          <a:xfrm>
            <a:off x="0" y="69055"/>
            <a:ext cx="2708636" cy="603791"/>
          </a:xfrm>
          <a:prstGeom prst="rect">
            <a:avLst/>
          </a:prstGeom>
        </p:spPr>
        <p:txBody>
          <a:bodyPr vert="horz" lIns="91440" tIns="45720" rIns="91440" bIns="45720" rtlCol="0" anchor="ctr">
            <a:noAutofit/>
          </a:bodyPr>
          <a:lstStyle>
            <a:lvl1pPr algn="ctr">
              <a:defRPr sz="2400">
                <a:solidFill>
                  <a:srgbClr val="FFFF00"/>
                </a:solidFill>
                <a:latin typeface="Rix모던명조 B" panose="02020603020101020101" pitchFamily="18" charset="-127"/>
                <a:ea typeface="Rix모던명조 B" panose="02020603020101020101" pitchFamily="18" charset="-127"/>
              </a:defRPr>
            </a:lvl1pPr>
          </a:lstStyle>
          <a:p>
            <a:r>
              <a:rPr lang="ko-KR" altLang="en-US" dirty="0"/>
              <a:t>마스터 제목 스타일 편집</a:t>
            </a:r>
          </a:p>
        </p:txBody>
      </p:sp>
      <p:sp>
        <p:nvSpPr>
          <p:cNvPr id="17" name="제목 개체 틀 1"/>
          <p:cNvSpPr txBox="1">
            <a:spLocks/>
          </p:cNvSpPr>
          <p:nvPr userDrawn="1"/>
        </p:nvSpPr>
        <p:spPr>
          <a:xfrm>
            <a:off x="2864182" y="69055"/>
            <a:ext cx="9327818" cy="603791"/>
          </a:xfrm>
          <a:prstGeom prst="rect">
            <a:avLst/>
          </a:prstGeom>
        </p:spPr>
        <p:txBody>
          <a:bodyPr vert="horz" lIns="91440" tIns="45720" rIns="91440" bIns="45720" rtlCol="0" anchor="ctr">
            <a:noAutofit/>
          </a:bodyPr>
          <a:lstStyle>
            <a:lvl1pPr algn="ctr" defTabSz="914400" rtl="0" eaLnBrk="1" latinLnBrk="1" hangingPunct="1">
              <a:lnSpc>
                <a:spcPct val="90000"/>
              </a:lnSpc>
              <a:spcBef>
                <a:spcPct val="0"/>
              </a:spcBef>
              <a:buNone/>
              <a:defRPr sz="2400" kern="1200">
                <a:solidFill>
                  <a:schemeClr val="accent4"/>
                </a:solidFill>
                <a:latin typeface="+mj-lt"/>
                <a:ea typeface="+mj-ea"/>
                <a:cs typeface="+mj-cs"/>
              </a:defRPr>
            </a:lvl1pPr>
          </a:lstStyle>
          <a:p>
            <a:pPr algn="l"/>
            <a:endParaRPr lang="ko-KR" altLang="en-US" dirty="0">
              <a:solidFill>
                <a:schemeClr val="accent3">
                  <a:lumMod val="50000"/>
                </a:schemeClr>
              </a:solidFill>
            </a:endParaRPr>
          </a:p>
        </p:txBody>
      </p:sp>
      <p:sp>
        <p:nvSpPr>
          <p:cNvPr id="18" name="텍스트 개체 틀 21"/>
          <p:cNvSpPr>
            <a:spLocks noGrp="1"/>
          </p:cNvSpPr>
          <p:nvPr userDrawn="1">
            <p:ph type="body" sz="quarter" idx="13"/>
          </p:nvPr>
        </p:nvSpPr>
        <p:spPr>
          <a:xfrm>
            <a:off x="2959100" y="69055"/>
            <a:ext cx="9232899" cy="603791"/>
          </a:xfrm>
        </p:spPr>
        <p:txBody>
          <a:bodyPr anchor="ctr"/>
          <a:lstStyle>
            <a:lvl1pPr marL="0" indent="0">
              <a:buNone/>
              <a:defRPr b="1">
                <a:solidFill>
                  <a:schemeClr val="accent3">
                    <a:lumMod val="50000"/>
                  </a:schemeClr>
                </a:solidFill>
                <a:latin typeface="Rix모던명조 B" panose="02020603020101020101" pitchFamily="18" charset="-127"/>
                <a:ea typeface="Rix모던명조 B" panose="02020603020101020101" pitchFamily="18" charset="-127"/>
              </a:defRPr>
            </a:lvl1pPr>
          </a:lstStyle>
          <a:p>
            <a:pPr lvl="0"/>
            <a:r>
              <a:rPr lang="ko-KR" altLang="en-US" dirty="0"/>
              <a:t>마스터 텍스트 스타일 편집</a:t>
            </a:r>
          </a:p>
        </p:txBody>
      </p:sp>
    </p:spTree>
    <p:extLst>
      <p:ext uri="{BB962C8B-B14F-4D97-AF65-F5344CB8AC3E}">
        <p14:creationId xmlns:p14="http://schemas.microsoft.com/office/powerpoint/2010/main" val="358944122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_제목 슬라이드">
    <p:spTree>
      <p:nvGrpSpPr>
        <p:cNvPr id="1" name=""/>
        <p:cNvGrpSpPr/>
        <p:nvPr/>
      </p:nvGrpSpPr>
      <p:grpSpPr>
        <a:xfrm>
          <a:off x="0" y="0"/>
          <a:ext cx="0" cy="0"/>
          <a:chOff x="0" y="0"/>
          <a:chExt cx="0" cy="0"/>
        </a:xfrm>
      </p:grpSpPr>
      <p:sp>
        <p:nvSpPr>
          <p:cNvPr id="4" name="날짜 개체 틀 3"/>
          <p:cNvSpPr>
            <a:spLocks noGrp="1"/>
          </p:cNvSpPr>
          <p:nvPr>
            <p:ph type="dt" sz="half" idx="10"/>
          </p:nvPr>
        </p:nvSpPr>
        <p:spPr/>
        <p:txBody>
          <a:bodyPr/>
          <a:lstStyle/>
          <a:p>
            <a:fld id="{7BB7FE5F-0BC0-4E69-9583-89D0B26E7497}" type="datetime1">
              <a:rPr lang="ko-KR" altLang="en-US" smtClean="0"/>
              <a:t>2026-06-13</a:t>
            </a:fld>
            <a:endParaRPr lang="ko-KR" altLang="en-US"/>
          </a:p>
        </p:txBody>
      </p:sp>
      <p:sp>
        <p:nvSpPr>
          <p:cNvPr id="5" name="바닥글 개체 틀 4"/>
          <p:cNvSpPr>
            <a:spLocks noGrp="1"/>
          </p:cNvSpPr>
          <p:nvPr>
            <p:ph type="ftr" sz="quarter" idx="11"/>
          </p:nvPr>
        </p:nvSpPr>
        <p:spPr/>
        <p:txBody>
          <a:bodyPr/>
          <a:lstStyle/>
          <a:p>
            <a:endParaRPr lang="ko-KR" altLang="en-US"/>
          </a:p>
        </p:txBody>
      </p:sp>
      <p:sp>
        <p:nvSpPr>
          <p:cNvPr id="6" name="슬라이드 번호 개체 틀 5"/>
          <p:cNvSpPr>
            <a:spLocks noGrp="1"/>
          </p:cNvSpPr>
          <p:nvPr>
            <p:ph type="sldNum" sz="quarter" idx="12"/>
          </p:nvPr>
        </p:nvSpPr>
        <p:spPr/>
        <p:txBody>
          <a:bodyPr/>
          <a:lstStyle/>
          <a:p>
            <a:fld id="{3875FC6C-1516-4DC4-8C58-3090F7D4F003}" type="slidenum">
              <a:rPr lang="ko-KR" altLang="en-US" smtClean="0"/>
              <a:t>‹#›</a:t>
            </a:fld>
            <a:endParaRPr lang="ko-KR" altLang="en-US"/>
          </a:p>
        </p:txBody>
      </p:sp>
      <p:sp>
        <p:nvSpPr>
          <p:cNvPr id="10" name="직사각형 9"/>
          <p:cNvSpPr/>
          <p:nvPr userDrawn="1"/>
        </p:nvSpPr>
        <p:spPr>
          <a:xfrm>
            <a:off x="2290709" y="0"/>
            <a:ext cx="9901291" cy="6898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rIns="216000" rtlCol="0" anchor="ctr"/>
          <a:lstStyle/>
          <a:p>
            <a:endParaRPr lang="ko-KR" altLang="en-US" sz="2400" dirty="0">
              <a:solidFill>
                <a:schemeClr val="accent3">
                  <a:lumMod val="50000"/>
                </a:schemeClr>
              </a:solidFill>
            </a:endParaRPr>
          </a:p>
        </p:txBody>
      </p:sp>
      <p:sp>
        <p:nvSpPr>
          <p:cNvPr id="12" name="제목 1"/>
          <p:cNvSpPr txBox="1">
            <a:spLocks/>
          </p:cNvSpPr>
          <p:nvPr userDrawn="1"/>
        </p:nvSpPr>
        <p:spPr>
          <a:xfrm>
            <a:off x="0" y="1"/>
            <a:ext cx="2723577" cy="685799"/>
          </a:xfrm>
          <a:prstGeom prst="rect">
            <a:avLst/>
          </a:prstGeom>
          <a:solidFill>
            <a:schemeClr val="accent6">
              <a:lumMod val="50000"/>
            </a:schemeClr>
          </a:solidFill>
        </p:spPr>
        <p:txBody>
          <a:bodyPr vert="horz" lIns="180000" tIns="0" rIns="18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endParaRPr lang="ko-KR" altLang="en-US" sz="2400" dirty="0">
              <a:solidFill>
                <a:schemeClr val="accent4"/>
              </a:solidFill>
              <a:latin typeface="+mn-ea"/>
              <a:ea typeface="+mn-ea"/>
              <a:cs typeface="Tahoma" panose="020B0604030504040204" pitchFamily="34" charset="0"/>
            </a:endParaRPr>
          </a:p>
        </p:txBody>
      </p:sp>
      <p:sp>
        <p:nvSpPr>
          <p:cNvPr id="13" name="직사각형 12"/>
          <p:cNvSpPr/>
          <p:nvPr userDrawn="1"/>
        </p:nvSpPr>
        <p:spPr>
          <a:xfrm>
            <a:off x="2723309" y="0"/>
            <a:ext cx="121491" cy="685800"/>
          </a:xfrm>
          <a:prstGeom prst="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5" name="직선 연결선 14"/>
          <p:cNvCxnSpPr/>
          <p:nvPr userDrawn="1"/>
        </p:nvCxnSpPr>
        <p:spPr>
          <a:xfrm flipH="1">
            <a:off x="0" y="685800"/>
            <a:ext cx="28448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userDrawn="1">
            <p:ph type="title" hasCustomPrompt="1"/>
          </p:nvPr>
        </p:nvSpPr>
        <p:spPr>
          <a:xfrm>
            <a:off x="0" y="69055"/>
            <a:ext cx="2708636" cy="603791"/>
          </a:xfrm>
          <a:prstGeom prst="rect">
            <a:avLst/>
          </a:prstGeom>
        </p:spPr>
        <p:txBody>
          <a:bodyPr vert="horz" lIns="91440" tIns="45720" rIns="91440" bIns="45720" rtlCol="0" anchor="ctr">
            <a:noAutofit/>
          </a:bodyPr>
          <a:lstStyle>
            <a:lvl1pPr algn="ctr">
              <a:defRPr sz="2400">
                <a:solidFill>
                  <a:srgbClr val="FFFF00"/>
                </a:solidFill>
                <a:latin typeface="Rix모던명조 B" panose="02020603020101020101" pitchFamily="18" charset="-127"/>
                <a:ea typeface="Rix모던명조 B" panose="02020603020101020101" pitchFamily="18" charset="-127"/>
              </a:defRPr>
            </a:lvl1pPr>
          </a:lstStyle>
          <a:p>
            <a:r>
              <a:rPr lang="en-US" altLang="ko-KR" dirty="0"/>
              <a:t>TEST</a:t>
            </a:r>
            <a:endParaRPr lang="ko-KR" altLang="en-US" dirty="0"/>
          </a:p>
        </p:txBody>
      </p:sp>
      <p:sp>
        <p:nvSpPr>
          <p:cNvPr id="17" name="제목 개체 틀 1"/>
          <p:cNvSpPr txBox="1">
            <a:spLocks/>
          </p:cNvSpPr>
          <p:nvPr userDrawn="1"/>
        </p:nvSpPr>
        <p:spPr>
          <a:xfrm>
            <a:off x="2864182" y="69055"/>
            <a:ext cx="9327818" cy="603791"/>
          </a:xfrm>
          <a:prstGeom prst="rect">
            <a:avLst/>
          </a:prstGeom>
        </p:spPr>
        <p:txBody>
          <a:bodyPr vert="horz" lIns="91440" tIns="45720" rIns="91440" bIns="45720" rtlCol="0" anchor="ctr">
            <a:noAutofit/>
          </a:bodyPr>
          <a:lstStyle>
            <a:lvl1pPr algn="ctr" defTabSz="914400" rtl="0" eaLnBrk="1" latinLnBrk="1" hangingPunct="1">
              <a:lnSpc>
                <a:spcPct val="90000"/>
              </a:lnSpc>
              <a:spcBef>
                <a:spcPct val="0"/>
              </a:spcBef>
              <a:buNone/>
              <a:defRPr sz="2400" kern="1200">
                <a:solidFill>
                  <a:schemeClr val="accent4"/>
                </a:solidFill>
                <a:latin typeface="+mj-lt"/>
                <a:ea typeface="+mj-ea"/>
                <a:cs typeface="+mj-cs"/>
              </a:defRPr>
            </a:lvl1pPr>
          </a:lstStyle>
          <a:p>
            <a:pPr algn="l"/>
            <a:endParaRPr lang="ko-KR" altLang="en-US" dirty="0">
              <a:solidFill>
                <a:schemeClr val="accent3">
                  <a:lumMod val="50000"/>
                </a:schemeClr>
              </a:solidFill>
            </a:endParaRPr>
          </a:p>
        </p:txBody>
      </p:sp>
      <p:sp>
        <p:nvSpPr>
          <p:cNvPr id="18" name="텍스트 개체 틀 21"/>
          <p:cNvSpPr>
            <a:spLocks noGrp="1"/>
          </p:cNvSpPr>
          <p:nvPr userDrawn="1">
            <p:ph type="body" sz="quarter" idx="13"/>
          </p:nvPr>
        </p:nvSpPr>
        <p:spPr>
          <a:xfrm>
            <a:off x="2959100" y="69055"/>
            <a:ext cx="9232899" cy="603791"/>
          </a:xfrm>
        </p:spPr>
        <p:txBody>
          <a:bodyPr anchor="ctr"/>
          <a:lstStyle>
            <a:lvl1pPr marL="0" indent="0">
              <a:buNone/>
              <a:defRPr b="1">
                <a:solidFill>
                  <a:schemeClr val="accent3">
                    <a:lumMod val="50000"/>
                  </a:schemeClr>
                </a:solidFill>
                <a:latin typeface="Rix모던명조 B" panose="02020603020101020101" pitchFamily="18" charset="-127"/>
                <a:ea typeface="Rix모던명조 B" panose="02020603020101020101" pitchFamily="18" charset="-127"/>
              </a:defRPr>
            </a:lvl1pPr>
          </a:lstStyle>
          <a:p>
            <a:pPr lvl="0"/>
            <a:r>
              <a:rPr lang="ko-KR" altLang="en-US" dirty="0"/>
              <a:t>마스터 텍스트 스타일 편집</a:t>
            </a:r>
          </a:p>
        </p:txBody>
      </p:sp>
    </p:spTree>
    <p:extLst>
      <p:ext uri="{BB962C8B-B14F-4D97-AF65-F5344CB8AC3E}">
        <p14:creationId xmlns:p14="http://schemas.microsoft.com/office/powerpoint/2010/main" val="20326916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4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86479"/>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85305446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10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5"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8016"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0423" y="549176"/>
            <a:ext cx="2886612"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6"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8" y="1315935"/>
            <a:ext cx="6655698" cy="286479"/>
          </a:xfrm>
          <a:noFill/>
          <a:ln>
            <a:solidFill>
              <a:schemeClr val="bg1">
                <a:lumMod val="50000"/>
              </a:schemeClr>
            </a:solidFill>
          </a:ln>
        </p:spPr>
        <p:txBody>
          <a:bodyPr wrap="square" anchor="t">
            <a:spAutoFit/>
          </a:bodyPr>
          <a:lstStyle>
            <a:lvl1pPr marL="143246" indent="-143246" algn="just">
              <a:lnSpc>
                <a:spcPts val="1504"/>
              </a:lnSpc>
              <a:spcBef>
                <a:spcPts val="0"/>
              </a:spcBef>
              <a:buNone/>
              <a:defRPr sz="952">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
        <p:nvSpPr>
          <p:cNvPr id="14" name="텍스트 개체 틀 28"/>
          <p:cNvSpPr>
            <a:spLocks noGrp="1"/>
          </p:cNvSpPr>
          <p:nvPr>
            <p:ph type="body" sz="quarter" idx="18"/>
          </p:nvPr>
        </p:nvSpPr>
        <p:spPr>
          <a:xfrm>
            <a:off x="732408" y="1742184"/>
            <a:ext cx="6655698" cy="286479"/>
          </a:xfrm>
          <a:noFill/>
          <a:ln>
            <a:noFill/>
          </a:ln>
        </p:spPr>
        <p:txBody>
          <a:bodyPr wrap="square"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Tree>
    <p:extLst>
      <p:ext uri="{BB962C8B-B14F-4D97-AF65-F5344CB8AC3E}">
        <p14:creationId xmlns:p14="http://schemas.microsoft.com/office/powerpoint/2010/main" val="195454910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5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86479"/>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214007505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6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5"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8016"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0423" y="549176"/>
            <a:ext cx="2886612"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6"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8" y="1315935"/>
            <a:ext cx="6655698" cy="286479"/>
          </a:xfrm>
          <a:noFill/>
          <a:ln>
            <a:solidFill>
              <a:schemeClr val="bg1">
                <a:lumMod val="50000"/>
              </a:schemeClr>
            </a:solidFill>
          </a:ln>
        </p:spPr>
        <p:txBody>
          <a:bodyPr wrap="square" anchor="t">
            <a:spAutoFit/>
          </a:bodyPr>
          <a:lstStyle>
            <a:lvl1pPr marL="143246" indent="-143246" algn="just">
              <a:lnSpc>
                <a:spcPts val="1504"/>
              </a:lnSpc>
              <a:spcBef>
                <a:spcPts val="0"/>
              </a:spcBef>
              <a:buNone/>
              <a:defRPr sz="952">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
        <p:nvSpPr>
          <p:cNvPr id="14" name="텍스트 개체 틀 28"/>
          <p:cNvSpPr>
            <a:spLocks noGrp="1"/>
          </p:cNvSpPr>
          <p:nvPr>
            <p:ph type="body" sz="quarter" idx="18"/>
          </p:nvPr>
        </p:nvSpPr>
        <p:spPr>
          <a:xfrm>
            <a:off x="732408" y="1742184"/>
            <a:ext cx="6655698" cy="286479"/>
          </a:xfrm>
          <a:noFill/>
          <a:ln>
            <a:noFill/>
          </a:ln>
        </p:spPr>
        <p:txBody>
          <a:bodyPr wrap="square"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Tree>
    <p:extLst>
      <p:ext uri="{BB962C8B-B14F-4D97-AF65-F5344CB8AC3E}">
        <p14:creationId xmlns:p14="http://schemas.microsoft.com/office/powerpoint/2010/main" val="368409095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7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86479"/>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396015685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8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86479"/>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374339226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9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86479"/>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224398449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11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산돌다솔 L" panose="020D0304000101010101" pitchFamily="50" charset="-127"/>
                <a:ea typeface="산돌다솔 L" panose="020D0304000101010101" pitchFamily="50"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71677"/>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224834924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2_제목 슬라이드">
    <p:spTree>
      <p:nvGrpSpPr>
        <p:cNvPr id="1" name=""/>
        <p:cNvGrpSpPr/>
        <p:nvPr/>
      </p:nvGrpSpPr>
      <p:grpSpPr>
        <a:xfrm>
          <a:off x="0" y="0"/>
          <a:ext cx="0" cy="0"/>
          <a:chOff x="0" y="0"/>
          <a:chExt cx="0" cy="0"/>
        </a:xfrm>
      </p:grpSpPr>
      <p:sp>
        <p:nvSpPr>
          <p:cNvPr id="10" name="직사각형 9"/>
          <p:cNvSpPr/>
          <p:nvPr userDrawn="1"/>
        </p:nvSpPr>
        <p:spPr>
          <a:xfrm>
            <a:off x="2290709" y="0"/>
            <a:ext cx="9901291" cy="6898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rIns="216000" rtlCol="0" anchor="ctr"/>
          <a:lstStyle/>
          <a:p>
            <a:endParaRPr lang="ko-KR" altLang="en-US" sz="2400" dirty="0">
              <a:solidFill>
                <a:schemeClr val="accent3">
                  <a:lumMod val="50000"/>
                </a:schemeClr>
              </a:solidFill>
            </a:endParaRPr>
          </a:p>
        </p:txBody>
      </p:sp>
      <p:sp>
        <p:nvSpPr>
          <p:cNvPr id="4" name="날짜 개체 틀 3"/>
          <p:cNvSpPr>
            <a:spLocks noGrp="1"/>
          </p:cNvSpPr>
          <p:nvPr>
            <p:ph type="dt" sz="half" idx="10"/>
          </p:nvPr>
        </p:nvSpPr>
        <p:spPr/>
        <p:txBody>
          <a:bodyPr/>
          <a:lstStyle/>
          <a:p>
            <a:fld id="{ADCCE72D-2D75-40FD-B9C5-E48E40FDAF15}" type="datetime1">
              <a:rPr lang="ko-KR" altLang="en-US" smtClean="0"/>
              <a:t>2026-06-13</a:t>
            </a:fld>
            <a:endParaRPr lang="ko-KR" altLang="en-US"/>
          </a:p>
        </p:txBody>
      </p:sp>
      <p:sp>
        <p:nvSpPr>
          <p:cNvPr id="5" name="바닥글 개체 틀 4"/>
          <p:cNvSpPr>
            <a:spLocks noGrp="1"/>
          </p:cNvSpPr>
          <p:nvPr>
            <p:ph type="ftr" sz="quarter" idx="11"/>
          </p:nvPr>
        </p:nvSpPr>
        <p:spPr/>
        <p:txBody>
          <a:bodyPr/>
          <a:lstStyle/>
          <a:p>
            <a:endParaRPr lang="ko-KR" altLang="en-US"/>
          </a:p>
        </p:txBody>
      </p:sp>
      <p:grpSp>
        <p:nvGrpSpPr>
          <p:cNvPr id="13" name="그룹 12"/>
          <p:cNvGrpSpPr/>
          <p:nvPr userDrawn="1"/>
        </p:nvGrpSpPr>
        <p:grpSpPr>
          <a:xfrm>
            <a:off x="0" y="0"/>
            <a:ext cx="2844800" cy="923385"/>
            <a:chOff x="0" y="1206500"/>
            <a:chExt cx="2343150" cy="689865"/>
          </a:xfrm>
        </p:grpSpPr>
        <p:sp>
          <p:nvSpPr>
            <p:cNvPr id="11" name="제목 1"/>
            <p:cNvSpPr txBox="1">
              <a:spLocks/>
            </p:cNvSpPr>
            <p:nvPr userDrawn="1"/>
          </p:nvSpPr>
          <p:spPr>
            <a:xfrm>
              <a:off x="0" y="1206501"/>
              <a:ext cx="2243303" cy="689864"/>
            </a:xfrm>
            <a:prstGeom prst="rect">
              <a:avLst/>
            </a:prstGeom>
            <a:solidFill>
              <a:schemeClr val="bg1">
                <a:lumMod val="50000"/>
              </a:schemeClr>
            </a:solidFill>
          </p:spPr>
          <p:txBody>
            <a:bodyPr vert="horz" lIns="180000" tIns="0" rIns="18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endParaRPr lang="ko-KR" altLang="en-US" sz="2400" dirty="0">
                <a:solidFill>
                  <a:schemeClr val="accent4"/>
                </a:solidFill>
                <a:latin typeface="+mn-ea"/>
                <a:ea typeface="+mn-ea"/>
                <a:cs typeface="Tahoma" panose="020B0604030504040204" pitchFamily="34" charset="0"/>
              </a:endParaRPr>
            </a:p>
          </p:txBody>
        </p:sp>
        <p:sp>
          <p:nvSpPr>
            <p:cNvPr id="12" name="직사각형 11"/>
            <p:cNvSpPr/>
            <p:nvPr userDrawn="1"/>
          </p:nvSpPr>
          <p:spPr>
            <a:xfrm>
              <a:off x="2243083" y="1206500"/>
              <a:ext cx="100067" cy="6898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4" name="TextBox 13"/>
          <p:cNvSpPr txBox="1"/>
          <p:nvPr userDrawn="1"/>
        </p:nvSpPr>
        <p:spPr>
          <a:xfrm>
            <a:off x="-1" y="677165"/>
            <a:ext cx="2723309" cy="246220"/>
          </a:xfrm>
          <a:prstGeom prst="rect">
            <a:avLst/>
          </a:prstGeom>
          <a:noFill/>
        </p:spPr>
        <p:txBody>
          <a:bodyPr wrap="square" rtlCol="0">
            <a:spAutoFit/>
          </a:bodyPr>
          <a:lstStyle/>
          <a:p>
            <a:pPr algn="dist"/>
            <a:r>
              <a:rPr lang="en-US" altLang="ko-KR" sz="1000" baseline="0" dirty="0" err="1">
                <a:solidFill>
                  <a:schemeClr val="bg2"/>
                </a:solidFill>
              </a:rPr>
              <a:t>Yim</a:t>
            </a:r>
            <a:r>
              <a:rPr lang="en-US" altLang="ko-KR" sz="1000" baseline="0" dirty="0">
                <a:solidFill>
                  <a:schemeClr val="bg2"/>
                </a:solidFill>
              </a:rPr>
              <a:t>, </a:t>
            </a:r>
            <a:r>
              <a:rPr lang="en-US" altLang="ko-KR" sz="1000" baseline="0" dirty="0" err="1">
                <a:solidFill>
                  <a:schemeClr val="bg2"/>
                </a:solidFill>
              </a:rPr>
              <a:t>Byung-Woong</a:t>
            </a:r>
            <a:r>
              <a:rPr lang="en-US" altLang="ko-KR" sz="1000" baseline="0" dirty="0">
                <a:solidFill>
                  <a:schemeClr val="bg2"/>
                </a:solidFill>
              </a:rPr>
              <a:t> </a:t>
            </a:r>
            <a:r>
              <a:rPr lang="en-US" altLang="ko-KR" sz="1000" dirty="0">
                <a:solidFill>
                  <a:schemeClr val="bg2"/>
                </a:solidFill>
              </a:rPr>
              <a:t>All Right</a:t>
            </a:r>
            <a:r>
              <a:rPr lang="en-US" altLang="ko-KR" sz="1000" baseline="0" dirty="0">
                <a:solidFill>
                  <a:schemeClr val="bg2"/>
                </a:solidFill>
              </a:rPr>
              <a:t>s Reserved.</a:t>
            </a:r>
            <a:endParaRPr lang="ko-KR" altLang="en-US" sz="1000" dirty="0">
              <a:solidFill>
                <a:schemeClr val="bg2"/>
              </a:solidFill>
            </a:endParaRPr>
          </a:p>
        </p:txBody>
      </p:sp>
      <p:cxnSp>
        <p:nvCxnSpPr>
          <p:cNvPr id="16" name="직선 연결선 15"/>
          <p:cNvCxnSpPr/>
          <p:nvPr userDrawn="1"/>
        </p:nvCxnSpPr>
        <p:spPr>
          <a:xfrm flipH="1">
            <a:off x="0" y="685800"/>
            <a:ext cx="28448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7" name="제목 개체 틀 1"/>
          <p:cNvSpPr>
            <a:spLocks noGrp="1"/>
          </p:cNvSpPr>
          <p:nvPr>
            <p:ph type="title"/>
          </p:nvPr>
        </p:nvSpPr>
        <p:spPr>
          <a:xfrm>
            <a:off x="0" y="274320"/>
            <a:ext cx="2708636" cy="398526"/>
          </a:xfrm>
          <a:prstGeom prst="rect">
            <a:avLst/>
          </a:prstGeom>
        </p:spPr>
        <p:txBody>
          <a:bodyPr vert="horz" lIns="91440" tIns="45720" rIns="91440" bIns="45720" rtlCol="0" anchor="ctr">
            <a:noAutofit/>
          </a:bodyPr>
          <a:lstStyle>
            <a:lvl1pPr algn="ctr">
              <a:defRPr sz="2400">
                <a:solidFill>
                  <a:schemeClr val="accent4"/>
                </a:solidFill>
                <a:latin typeface="Rix모던명조 B" panose="02020603020101020101" pitchFamily="18" charset="-127"/>
                <a:ea typeface="Rix모던명조 B" panose="02020603020101020101" pitchFamily="18" charset="-127"/>
              </a:defRPr>
            </a:lvl1pPr>
          </a:lstStyle>
          <a:p>
            <a:r>
              <a:rPr lang="ko-KR" altLang="en-US" dirty="0"/>
              <a:t>마스터 제목 스타일 편집</a:t>
            </a:r>
          </a:p>
        </p:txBody>
      </p:sp>
      <p:sp>
        <p:nvSpPr>
          <p:cNvPr id="18" name="제목 개체 틀 1"/>
          <p:cNvSpPr txBox="1">
            <a:spLocks/>
          </p:cNvSpPr>
          <p:nvPr userDrawn="1"/>
        </p:nvSpPr>
        <p:spPr>
          <a:xfrm>
            <a:off x="2864182" y="69055"/>
            <a:ext cx="9327818" cy="603791"/>
          </a:xfrm>
          <a:prstGeom prst="rect">
            <a:avLst/>
          </a:prstGeom>
        </p:spPr>
        <p:txBody>
          <a:bodyPr vert="horz" lIns="91440" tIns="45720" rIns="91440" bIns="45720" rtlCol="0" anchor="ctr">
            <a:noAutofit/>
          </a:bodyPr>
          <a:lstStyle>
            <a:lvl1pPr algn="ctr" defTabSz="914400" rtl="0" eaLnBrk="1" latinLnBrk="1" hangingPunct="1">
              <a:lnSpc>
                <a:spcPct val="90000"/>
              </a:lnSpc>
              <a:spcBef>
                <a:spcPct val="0"/>
              </a:spcBef>
              <a:buNone/>
              <a:defRPr sz="2400" kern="1200">
                <a:solidFill>
                  <a:schemeClr val="accent4"/>
                </a:solidFill>
                <a:latin typeface="+mj-lt"/>
                <a:ea typeface="+mj-ea"/>
                <a:cs typeface="+mj-cs"/>
              </a:defRPr>
            </a:lvl1pPr>
          </a:lstStyle>
          <a:p>
            <a:pPr algn="l"/>
            <a:endParaRPr lang="ko-KR" altLang="en-US" dirty="0">
              <a:solidFill>
                <a:schemeClr val="accent3">
                  <a:lumMod val="50000"/>
                </a:schemeClr>
              </a:solidFill>
            </a:endParaRPr>
          </a:p>
        </p:txBody>
      </p:sp>
      <p:sp>
        <p:nvSpPr>
          <p:cNvPr id="22" name="텍스트 개체 틀 21"/>
          <p:cNvSpPr>
            <a:spLocks noGrp="1"/>
          </p:cNvSpPr>
          <p:nvPr>
            <p:ph type="body" sz="quarter" idx="13"/>
          </p:nvPr>
        </p:nvSpPr>
        <p:spPr>
          <a:xfrm>
            <a:off x="2959100" y="69055"/>
            <a:ext cx="9232899" cy="603791"/>
          </a:xfrm>
        </p:spPr>
        <p:txBody>
          <a:bodyPr anchor="ctr"/>
          <a:lstStyle>
            <a:lvl1pPr marL="0" indent="0">
              <a:buNone/>
              <a:defRPr b="1">
                <a:solidFill>
                  <a:schemeClr val="accent3">
                    <a:lumMod val="50000"/>
                  </a:schemeClr>
                </a:solidFill>
                <a:latin typeface="Rix모던명조 B" panose="02020603020101020101" pitchFamily="18" charset="-127"/>
                <a:ea typeface="Rix모던명조 B" panose="02020603020101020101" pitchFamily="18" charset="-127"/>
              </a:defRPr>
            </a:lvl1pPr>
          </a:lstStyle>
          <a:p>
            <a:pPr lvl="0"/>
            <a:r>
              <a:rPr lang="ko-KR" altLang="en-US" dirty="0"/>
              <a:t>마스터 텍스트 스타일 편집</a:t>
            </a:r>
          </a:p>
        </p:txBody>
      </p:sp>
      <p:sp>
        <p:nvSpPr>
          <p:cNvPr id="2" name="직사각형 1">
            <a:extLst>
              <a:ext uri="{FF2B5EF4-FFF2-40B4-BE49-F238E27FC236}">
                <a16:creationId xmlns:a16="http://schemas.microsoft.com/office/drawing/2014/main" id="{C7D14E75-92C3-4B89-BE74-A6BDEFD9235C}"/>
              </a:ext>
            </a:extLst>
          </p:cNvPr>
          <p:cNvSpPr/>
          <p:nvPr userDrawn="1"/>
        </p:nvSpPr>
        <p:spPr>
          <a:xfrm>
            <a:off x="-4710" y="0"/>
            <a:ext cx="2723309" cy="261758"/>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dist"/>
            <a:r>
              <a:rPr lang="en-US" altLang="ko-KR" b="1" dirty="0"/>
              <a:t>CASE STUDY</a:t>
            </a:r>
            <a:endParaRPr lang="ko-KR" altLang="en-US" b="1" dirty="0"/>
          </a:p>
        </p:txBody>
      </p:sp>
    </p:spTree>
    <p:extLst>
      <p:ext uri="{BB962C8B-B14F-4D97-AF65-F5344CB8AC3E}">
        <p14:creationId xmlns:p14="http://schemas.microsoft.com/office/powerpoint/2010/main" val="340802843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제목 슬라이드">
    <p:spTree>
      <p:nvGrpSpPr>
        <p:cNvPr id="1" name=""/>
        <p:cNvGrpSpPr/>
        <p:nvPr/>
      </p:nvGrpSpPr>
      <p:grpSpPr>
        <a:xfrm>
          <a:off x="0" y="0"/>
          <a:ext cx="0" cy="0"/>
          <a:chOff x="0" y="0"/>
          <a:chExt cx="0" cy="0"/>
        </a:xfrm>
      </p:grpSpPr>
      <p:sp>
        <p:nvSpPr>
          <p:cNvPr id="10" name="직사각형 9"/>
          <p:cNvSpPr/>
          <p:nvPr userDrawn="1"/>
        </p:nvSpPr>
        <p:spPr>
          <a:xfrm>
            <a:off x="2290709" y="0"/>
            <a:ext cx="9901291" cy="6898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rIns="216000" rtlCol="0" anchor="ctr"/>
          <a:lstStyle/>
          <a:p>
            <a:endParaRPr lang="ko-KR" altLang="en-US" sz="2400" dirty="0">
              <a:solidFill>
                <a:schemeClr val="accent3">
                  <a:lumMod val="50000"/>
                </a:schemeClr>
              </a:solidFill>
            </a:endParaRPr>
          </a:p>
        </p:txBody>
      </p:sp>
      <p:sp>
        <p:nvSpPr>
          <p:cNvPr id="4" name="날짜 개체 틀 3"/>
          <p:cNvSpPr>
            <a:spLocks noGrp="1"/>
          </p:cNvSpPr>
          <p:nvPr>
            <p:ph type="dt" sz="half" idx="10"/>
          </p:nvPr>
        </p:nvSpPr>
        <p:spPr/>
        <p:txBody>
          <a:bodyPr/>
          <a:lstStyle/>
          <a:p>
            <a:fld id="{ADCCE72D-2D75-40FD-B9C5-E48E40FDAF15}" type="datetime1">
              <a:rPr lang="ko-KR" altLang="en-US" smtClean="0"/>
              <a:t>2026-06-13</a:t>
            </a:fld>
            <a:endParaRPr lang="ko-KR" altLang="en-US"/>
          </a:p>
        </p:txBody>
      </p:sp>
      <p:sp>
        <p:nvSpPr>
          <p:cNvPr id="5" name="바닥글 개체 틀 4"/>
          <p:cNvSpPr>
            <a:spLocks noGrp="1"/>
          </p:cNvSpPr>
          <p:nvPr>
            <p:ph type="ftr" sz="quarter" idx="11"/>
          </p:nvPr>
        </p:nvSpPr>
        <p:spPr/>
        <p:txBody>
          <a:bodyPr/>
          <a:lstStyle/>
          <a:p>
            <a:endParaRPr lang="ko-KR" altLang="en-US"/>
          </a:p>
        </p:txBody>
      </p:sp>
      <p:grpSp>
        <p:nvGrpSpPr>
          <p:cNvPr id="13" name="그룹 12"/>
          <p:cNvGrpSpPr/>
          <p:nvPr userDrawn="1"/>
        </p:nvGrpSpPr>
        <p:grpSpPr>
          <a:xfrm>
            <a:off x="0" y="0"/>
            <a:ext cx="2844800" cy="923385"/>
            <a:chOff x="0" y="1206500"/>
            <a:chExt cx="2343150" cy="689865"/>
          </a:xfrm>
        </p:grpSpPr>
        <p:sp>
          <p:nvSpPr>
            <p:cNvPr id="11" name="제목 1"/>
            <p:cNvSpPr txBox="1">
              <a:spLocks/>
            </p:cNvSpPr>
            <p:nvPr userDrawn="1"/>
          </p:nvSpPr>
          <p:spPr>
            <a:xfrm>
              <a:off x="0" y="1206501"/>
              <a:ext cx="2243303" cy="689864"/>
            </a:xfrm>
            <a:prstGeom prst="rect">
              <a:avLst/>
            </a:prstGeom>
            <a:solidFill>
              <a:schemeClr val="bg1">
                <a:lumMod val="50000"/>
              </a:schemeClr>
            </a:solidFill>
          </p:spPr>
          <p:txBody>
            <a:bodyPr vert="horz" lIns="180000" tIns="0" rIns="18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endParaRPr lang="ko-KR" altLang="en-US" sz="2400" dirty="0">
                <a:solidFill>
                  <a:schemeClr val="accent4"/>
                </a:solidFill>
                <a:latin typeface="+mn-ea"/>
                <a:ea typeface="+mn-ea"/>
                <a:cs typeface="Tahoma" panose="020B0604030504040204" pitchFamily="34" charset="0"/>
              </a:endParaRPr>
            </a:p>
          </p:txBody>
        </p:sp>
        <p:sp>
          <p:nvSpPr>
            <p:cNvPr id="12" name="직사각형 11"/>
            <p:cNvSpPr/>
            <p:nvPr userDrawn="1"/>
          </p:nvSpPr>
          <p:spPr>
            <a:xfrm>
              <a:off x="2243083" y="1206500"/>
              <a:ext cx="100067" cy="6898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4" name="TextBox 13"/>
          <p:cNvSpPr txBox="1"/>
          <p:nvPr userDrawn="1"/>
        </p:nvSpPr>
        <p:spPr>
          <a:xfrm>
            <a:off x="-1" y="677165"/>
            <a:ext cx="2723309" cy="246220"/>
          </a:xfrm>
          <a:prstGeom prst="rect">
            <a:avLst/>
          </a:prstGeom>
          <a:noFill/>
        </p:spPr>
        <p:txBody>
          <a:bodyPr wrap="square" rtlCol="0">
            <a:spAutoFit/>
          </a:bodyPr>
          <a:lstStyle/>
          <a:p>
            <a:pPr algn="dist"/>
            <a:r>
              <a:rPr lang="en-US" altLang="ko-KR" sz="1000" baseline="0" dirty="0" err="1">
                <a:solidFill>
                  <a:schemeClr val="bg2"/>
                </a:solidFill>
              </a:rPr>
              <a:t>Yim</a:t>
            </a:r>
            <a:r>
              <a:rPr lang="en-US" altLang="ko-KR" sz="1000" baseline="0" dirty="0">
                <a:solidFill>
                  <a:schemeClr val="bg2"/>
                </a:solidFill>
              </a:rPr>
              <a:t>, </a:t>
            </a:r>
            <a:r>
              <a:rPr lang="en-US" altLang="ko-KR" sz="1000" baseline="0" dirty="0" err="1">
                <a:solidFill>
                  <a:schemeClr val="bg2"/>
                </a:solidFill>
              </a:rPr>
              <a:t>Byung-Woong</a:t>
            </a:r>
            <a:r>
              <a:rPr lang="en-US" altLang="ko-KR" sz="1000" baseline="0" dirty="0">
                <a:solidFill>
                  <a:schemeClr val="bg2"/>
                </a:solidFill>
              </a:rPr>
              <a:t> </a:t>
            </a:r>
            <a:r>
              <a:rPr lang="en-US" altLang="ko-KR" sz="1000" dirty="0">
                <a:solidFill>
                  <a:schemeClr val="bg2"/>
                </a:solidFill>
              </a:rPr>
              <a:t>All Right</a:t>
            </a:r>
            <a:r>
              <a:rPr lang="en-US" altLang="ko-KR" sz="1000" baseline="0" dirty="0">
                <a:solidFill>
                  <a:schemeClr val="bg2"/>
                </a:solidFill>
              </a:rPr>
              <a:t>s Reserved.</a:t>
            </a:r>
            <a:endParaRPr lang="ko-KR" altLang="en-US" sz="1000" dirty="0">
              <a:solidFill>
                <a:schemeClr val="bg2"/>
              </a:solidFill>
            </a:endParaRPr>
          </a:p>
        </p:txBody>
      </p:sp>
      <p:cxnSp>
        <p:nvCxnSpPr>
          <p:cNvPr id="16" name="직선 연결선 15"/>
          <p:cNvCxnSpPr/>
          <p:nvPr userDrawn="1"/>
        </p:nvCxnSpPr>
        <p:spPr>
          <a:xfrm flipH="1">
            <a:off x="0" y="685800"/>
            <a:ext cx="28448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7" name="제목 개체 틀 1"/>
          <p:cNvSpPr>
            <a:spLocks noGrp="1"/>
          </p:cNvSpPr>
          <p:nvPr>
            <p:ph type="title"/>
          </p:nvPr>
        </p:nvSpPr>
        <p:spPr>
          <a:xfrm>
            <a:off x="0" y="69055"/>
            <a:ext cx="2708636" cy="603791"/>
          </a:xfrm>
          <a:prstGeom prst="rect">
            <a:avLst/>
          </a:prstGeom>
        </p:spPr>
        <p:txBody>
          <a:bodyPr vert="horz" lIns="91440" tIns="45720" rIns="91440" bIns="45720" rtlCol="0" anchor="ctr">
            <a:noAutofit/>
          </a:bodyPr>
          <a:lstStyle>
            <a:lvl1pPr algn="ctr">
              <a:defRPr sz="2400">
                <a:solidFill>
                  <a:schemeClr val="accent4"/>
                </a:solidFill>
                <a:latin typeface="Rix모던명조 B" panose="02020603020101020101" pitchFamily="18" charset="-127"/>
                <a:ea typeface="Rix모던명조 B" panose="02020603020101020101" pitchFamily="18" charset="-127"/>
              </a:defRPr>
            </a:lvl1pPr>
          </a:lstStyle>
          <a:p>
            <a:r>
              <a:rPr lang="ko-KR" altLang="en-US" dirty="0"/>
              <a:t>마스터 제목 스타일 편집</a:t>
            </a:r>
          </a:p>
        </p:txBody>
      </p:sp>
      <p:sp>
        <p:nvSpPr>
          <p:cNvPr id="18" name="제목 개체 틀 1"/>
          <p:cNvSpPr txBox="1">
            <a:spLocks/>
          </p:cNvSpPr>
          <p:nvPr userDrawn="1"/>
        </p:nvSpPr>
        <p:spPr>
          <a:xfrm>
            <a:off x="2864182" y="69055"/>
            <a:ext cx="9327818" cy="603791"/>
          </a:xfrm>
          <a:prstGeom prst="rect">
            <a:avLst/>
          </a:prstGeom>
        </p:spPr>
        <p:txBody>
          <a:bodyPr vert="horz" lIns="91440" tIns="45720" rIns="91440" bIns="45720" rtlCol="0" anchor="ctr">
            <a:noAutofit/>
          </a:bodyPr>
          <a:lstStyle>
            <a:lvl1pPr algn="ctr" defTabSz="914400" rtl="0" eaLnBrk="1" latinLnBrk="1" hangingPunct="1">
              <a:lnSpc>
                <a:spcPct val="90000"/>
              </a:lnSpc>
              <a:spcBef>
                <a:spcPct val="0"/>
              </a:spcBef>
              <a:buNone/>
              <a:defRPr sz="2400" kern="1200">
                <a:solidFill>
                  <a:schemeClr val="accent4"/>
                </a:solidFill>
                <a:latin typeface="+mj-lt"/>
                <a:ea typeface="+mj-ea"/>
                <a:cs typeface="+mj-cs"/>
              </a:defRPr>
            </a:lvl1pPr>
          </a:lstStyle>
          <a:p>
            <a:pPr algn="l"/>
            <a:endParaRPr lang="ko-KR" altLang="en-US" dirty="0">
              <a:solidFill>
                <a:schemeClr val="accent3">
                  <a:lumMod val="50000"/>
                </a:schemeClr>
              </a:solidFill>
            </a:endParaRPr>
          </a:p>
        </p:txBody>
      </p:sp>
      <p:sp>
        <p:nvSpPr>
          <p:cNvPr id="22" name="텍스트 개체 틀 21"/>
          <p:cNvSpPr>
            <a:spLocks noGrp="1"/>
          </p:cNvSpPr>
          <p:nvPr>
            <p:ph type="body" sz="quarter" idx="13"/>
          </p:nvPr>
        </p:nvSpPr>
        <p:spPr>
          <a:xfrm>
            <a:off x="2959100" y="69055"/>
            <a:ext cx="9232899" cy="603791"/>
          </a:xfrm>
        </p:spPr>
        <p:txBody>
          <a:bodyPr anchor="ctr"/>
          <a:lstStyle>
            <a:lvl1pPr marL="0" indent="0">
              <a:buNone/>
              <a:defRPr b="1">
                <a:solidFill>
                  <a:schemeClr val="accent3">
                    <a:lumMod val="50000"/>
                  </a:schemeClr>
                </a:solidFill>
                <a:latin typeface="Rix모던명조 B" panose="02020603020101020101" pitchFamily="18" charset="-127"/>
                <a:ea typeface="Rix모던명조 B" panose="02020603020101020101" pitchFamily="18" charset="-127"/>
              </a:defRPr>
            </a:lvl1pPr>
          </a:lstStyle>
          <a:p>
            <a:pPr lvl="0"/>
            <a:r>
              <a:rPr lang="ko-KR" altLang="en-US" dirty="0"/>
              <a:t>마스터 텍스트 스타일 편집</a:t>
            </a:r>
          </a:p>
        </p:txBody>
      </p:sp>
    </p:spTree>
    <p:extLst>
      <p:ext uri="{BB962C8B-B14F-4D97-AF65-F5344CB8AC3E}">
        <p14:creationId xmlns:p14="http://schemas.microsoft.com/office/powerpoint/2010/main" val="131505317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3_제목 슬라이드">
    <p:spTree>
      <p:nvGrpSpPr>
        <p:cNvPr id="1" name=""/>
        <p:cNvGrpSpPr/>
        <p:nvPr/>
      </p:nvGrpSpPr>
      <p:grpSpPr>
        <a:xfrm>
          <a:off x="0" y="0"/>
          <a:ext cx="0" cy="0"/>
          <a:chOff x="0" y="0"/>
          <a:chExt cx="0" cy="0"/>
        </a:xfrm>
      </p:grpSpPr>
      <p:sp>
        <p:nvSpPr>
          <p:cNvPr id="10" name="직사각형 9"/>
          <p:cNvSpPr/>
          <p:nvPr userDrawn="1"/>
        </p:nvSpPr>
        <p:spPr>
          <a:xfrm>
            <a:off x="2290709" y="0"/>
            <a:ext cx="9901291" cy="6898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rIns="216000" rtlCol="0" anchor="ctr"/>
          <a:lstStyle/>
          <a:p>
            <a:endParaRPr lang="ko-KR" altLang="en-US" sz="2400" dirty="0">
              <a:solidFill>
                <a:schemeClr val="accent3">
                  <a:lumMod val="50000"/>
                </a:schemeClr>
              </a:solidFill>
            </a:endParaRPr>
          </a:p>
        </p:txBody>
      </p:sp>
      <p:sp>
        <p:nvSpPr>
          <p:cNvPr id="4" name="날짜 개체 틀 3"/>
          <p:cNvSpPr>
            <a:spLocks noGrp="1"/>
          </p:cNvSpPr>
          <p:nvPr>
            <p:ph type="dt" sz="half" idx="10"/>
          </p:nvPr>
        </p:nvSpPr>
        <p:spPr/>
        <p:txBody>
          <a:bodyPr/>
          <a:lstStyle/>
          <a:p>
            <a:fld id="{ADCCE72D-2D75-40FD-B9C5-E48E40FDAF15}" type="datetime1">
              <a:rPr lang="ko-KR" altLang="en-US" smtClean="0"/>
              <a:t>2026-06-13</a:t>
            </a:fld>
            <a:endParaRPr lang="ko-KR" altLang="en-US"/>
          </a:p>
        </p:txBody>
      </p:sp>
      <p:sp>
        <p:nvSpPr>
          <p:cNvPr id="5" name="바닥글 개체 틀 4"/>
          <p:cNvSpPr>
            <a:spLocks noGrp="1"/>
          </p:cNvSpPr>
          <p:nvPr>
            <p:ph type="ftr" sz="quarter" idx="11"/>
          </p:nvPr>
        </p:nvSpPr>
        <p:spPr/>
        <p:txBody>
          <a:bodyPr/>
          <a:lstStyle/>
          <a:p>
            <a:endParaRPr lang="ko-KR" altLang="en-US"/>
          </a:p>
        </p:txBody>
      </p:sp>
      <p:grpSp>
        <p:nvGrpSpPr>
          <p:cNvPr id="13" name="그룹 12"/>
          <p:cNvGrpSpPr/>
          <p:nvPr userDrawn="1"/>
        </p:nvGrpSpPr>
        <p:grpSpPr>
          <a:xfrm>
            <a:off x="0" y="0"/>
            <a:ext cx="2844800" cy="923385"/>
            <a:chOff x="0" y="1206500"/>
            <a:chExt cx="2343150" cy="689865"/>
          </a:xfrm>
        </p:grpSpPr>
        <p:sp>
          <p:nvSpPr>
            <p:cNvPr id="11" name="제목 1"/>
            <p:cNvSpPr txBox="1">
              <a:spLocks/>
            </p:cNvSpPr>
            <p:nvPr userDrawn="1"/>
          </p:nvSpPr>
          <p:spPr>
            <a:xfrm>
              <a:off x="0" y="1206501"/>
              <a:ext cx="2243303" cy="689864"/>
            </a:xfrm>
            <a:prstGeom prst="rect">
              <a:avLst/>
            </a:prstGeom>
            <a:solidFill>
              <a:schemeClr val="bg1">
                <a:lumMod val="50000"/>
              </a:schemeClr>
            </a:solidFill>
          </p:spPr>
          <p:txBody>
            <a:bodyPr vert="horz" lIns="180000" tIns="0" rIns="18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endParaRPr lang="ko-KR" altLang="en-US" sz="2400" dirty="0">
                <a:solidFill>
                  <a:schemeClr val="accent4"/>
                </a:solidFill>
                <a:latin typeface="+mn-ea"/>
                <a:ea typeface="+mn-ea"/>
                <a:cs typeface="Tahoma" panose="020B0604030504040204" pitchFamily="34" charset="0"/>
              </a:endParaRPr>
            </a:p>
          </p:txBody>
        </p:sp>
        <p:sp>
          <p:nvSpPr>
            <p:cNvPr id="12" name="직사각형 11"/>
            <p:cNvSpPr/>
            <p:nvPr userDrawn="1"/>
          </p:nvSpPr>
          <p:spPr>
            <a:xfrm>
              <a:off x="2243083" y="1206500"/>
              <a:ext cx="100067" cy="6898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4" name="TextBox 13"/>
          <p:cNvSpPr txBox="1"/>
          <p:nvPr userDrawn="1"/>
        </p:nvSpPr>
        <p:spPr>
          <a:xfrm>
            <a:off x="-1" y="677165"/>
            <a:ext cx="2723309" cy="246220"/>
          </a:xfrm>
          <a:prstGeom prst="rect">
            <a:avLst/>
          </a:prstGeom>
          <a:noFill/>
        </p:spPr>
        <p:txBody>
          <a:bodyPr wrap="square" rtlCol="0">
            <a:spAutoFit/>
          </a:bodyPr>
          <a:lstStyle/>
          <a:p>
            <a:pPr algn="dist"/>
            <a:r>
              <a:rPr lang="en-US" altLang="ko-KR" sz="1000" baseline="0" dirty="0" err="1">
                <a:solidFill>
                  <a:schemeClr val="bg2"/>
                </a:solidFill>
              </a:rPr>
              <a:t>Yim</a:t>
            </a:r>
            <a:r>
              <a:rPr lang="en-US" altLang="ko-KR" sz="1000" baseline="0" dirty="0">
                <a:solidFill>
                  <a:schemeClr val="bg2"/>
                </a:solidFill>
              </a:rPr>
              <a:t>, </a:t>
            </a:r>
            <a:r>
              <a:rPr lang="en-US" altLang="ko-KR" sz="1000" baseline="0" dirty="0" err="1">
                <a:solidFill>
                  <a:schemeClr val="bg2"/>
                </a:solidFill>
              </a:rPr>
              <a:t>Byung-Woong</a:t>
            </a:r>
            <a:r>
              <a:rPr lang="en-US" altLang="ko-KR" sz="1000" baseline="0" dirty="0">
                <a:solidFill>
                  <a:schemeClr val="bg2"/>
                </a:solidFill>
              </a:rPr>
              <a:t> </a:t>
            </a:r>
            <a:r>
              <a:rPr lang="en-US" altLang="ko-KR" sz="1000" dirty="0">
                <a:solidFill>
                  <a:schemeClr val="bg2"/>
                </a:solidFill>
              </a:rPr>
              <a:t>All Right</a:t>
            </a:r>
            <a:r>
              <a:rPr lang="en-US" altLang="ko-KR" sz="1000" baseline="0" dirty="0">
                <a:solidFill>
                  <a:schemeClr val="bg2"/>
                </a:solidFill>
              </a:rPr>
              <a:t>s Reserved.</a:t>
            </a:r>
            <a:endParaRPr lang="ko-KR" altLang="en-US" sz="1000" dirty="0">
              <a:solidFill>
                <a:schemeClr val="bg2"/>
              </a:solidFill>
            </a:endParaRPr>
          </a:p>
        </p:txBody>
      </p:sp>
      <p:cxnSp>
        <p:nvCxnSpPr>
          <p:cNvPr id="16" name="직선 연결선 15"/>
          <p:cNvCxnSpPr/>
          <p:nvPr userDrawn="1"/>
        </p:nvCxnSpPr>
        <p:spPr>
          <a:xfrm flipH="1">
            <a:off x="0" y="685800"/>
            <a:ext cx="28448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7" name="제목 개체 틀 1"/>
          <p:cNvSpPr>
            <a:spLocks noGrp="1"/>
          </p:cNvSpPr>
          <p:nvPr>
            <p:ph type="title"/>
          </p:nvPr>
        </p:nvSpPr>
        <p:spPr>
          <a:xfrm>
            <a:off x="0" y="274320"/>
            <a:ext cx="2708636" cy="398526"/>
          </a:xfrm>
          <a:prstGeom prst="rect">
            <a:avLst/>
          </a:prstGeom>
        </p:spPr>
        <p:txBody>
          <a:bodyPr vert="horz" lIns="91440" tIns="45720" rIns="91440" bIns="45720" rtlCol="0" anchor="ctr">
            <a:noAutofit/>
          </a:bodyPr>
          <a:lstStyle>
            <a:lvl1pPr algn="ctr">
              <a:defRPr sz="2400">
                <a:solidFill>
                  <a:schemeClr val="accent4"/>
                </a:solidFill>
                <a:latin typeface="Rix모던명조 B" panose="02020603020101020101" pitchFamily="18" charset="-127"/>
                <a:ea typeface="Rix모던명조 B" panose="02020603020101020101" pitchFamily="18" charset="-127"/>
              </a:defRPr>
            </a:lvl1pPr>
          </a:lstStyle>
          <a:p>
            <a:r>
              <a:rPr lang="ko-KR" altLang="en-US" dirty="0"/>
              <a:t>마스터 제목 스타일 편집</a:t>
            </a:r>
          </a:p>
        </p:txBody>
      </p:sp>
      <p:sp>
        <p:nvSpPr>
          <p:cNvPr id="18" name="제목 개체 틀 1"/>
          <p:cNvSpPr txBox="1">
            <a:spLocks/>
          </p:cNvSpPr>
          <p:nvPr userDrawn="1"/>
        </p:nvSpPr>
        <p:spPr>
          <a:xfrm>
            <a:off x="2864182" y="69055"/>
            <a:ext cx="9327818" cy="603791"/>
          </a:xfrm>
          <a:prstGeom prst="rect">
            <a:avLst/>
          </a:prstGeom>
        </p:spPr>
        <p:txBody>
          <a:bodyPr vert="horz" lIns="91440" tIns="45720" rIns="91440" bIns="45720" rtlCol="0" anchor="ctr">
            <a:noAutofit/>
          </a:bodyPr>
          <a:lstStyle>
            <a:lvl1pPr algn="ctr" defTabSz="914400" rtl="0" eaLnBrk="1" latinLnBrk="1" hangingPunct="1">
              <a:lnSpc>
                <a:spcPct val="90000"/>
              </a:lnSpc>
              <a:spcBef>
                <a:spcPct val="0"/>
              </a:spcBef>
              <a:buNone/>
              <a:defRPr sz="2400" kern="1200">
                <a:solidFill>
                  <a:schemeClr val="accent4"/>
                </a:solidFill>
                <a:latin typeface="+mj-lt"/>
                <a:ea typeface="+mj-ea"/>
                <a:cs typeface="+mj-cs"/>
              </a:defRPr>
            </a:lvl1pPr>
          </a:lstStyle>
          <a:p>
            <a:pPr algn="l"/>
            <a:endParaRPr lang="ko-KR" altLang="en-US" dirty="0">
              <a:solidFill>
                <a:schemeClr val="accent3">
                  <a:lumMod val="50000"/>
                </a:schemeClr>
              </a:solidFill>
            </a:endParaRPr>
          </a:p>
        </p:txBody>
      </p:sp>
      <p:sp>
        <p:nvSpPr>
          <p:cNvPr id="22" name="텍스트 개체 틀 21"/>
          <p:cNvSpPr>
            <a:spLocks noGrp="1"/>
          </p:cNvSpPr>
          <p:nvPr>
            <p:ph type="body" sz="quarter" idx="13"/>
          </p:nvPr>
        </p:nvSpPr>
        <p:spPr>
          <a:xfrm>
            <a:off x="2959100" y="69055"/>
            <a:ext cx="9232899" cy="603791"/>
          </a:xfrm>
        </p:spPr>
        <p:txBody>
          <a:bodyPr anchor="ctr"/>
          <a:lstStyle>
            <a:lvl1pPr marL="0" indent="0">
              <a:buNone/>
              <a:defRPr b="1">
                <a:solidFill>
                  <a:schemeClr val="accent3">
                    <a:lumMod val="50000"/>
                  </a:schemeClr>
                </a:solidFill>
                <a:latin typeface="Rix모던명조 B" panose="02020603020101020101" pitchFamily="18" charset="-127"/>
                <a:ea typeface="Rix모던명조 B" panose="02020603020101020101" pitchFamily="18" charset="-127"/>
              </a:defRPr>
            </a:lvl1pPr>
          </a:lstStyle>
          <a:p>
            <a:pPr lvl="0"/>
            <a:r>
              <a:rPr lang="ko-KR" altLang="en-US" dirty="0"/>
              <a:t>마스터 텍스트 스타일 편집</a:t>
            </a:r>
          </a:p>
        </p:txBody>
      </p:sp>
      <p:sp>
        <p:nvSpPr>
          <p:cNvPr id="2" name="직사각형 1">
            <a:extLst>
              <a:ext uri="{FF2B5EF4-FFF2-40B4-BE49-F238E27FC236}">
                <a16:creationId xmlns:a16="http://schemas.microsoft.com/office/drawing/2014/main" id="{C7D14E75-92C3-4B89-BE74-A6BDEFD9235C}"/>
              </a:ext>
            </a:extLst>
          </p:cNvPr>
          <p:cNvSpPr/>
          <p:nvPr userDrawn="1"/>
        </p:nvSpPr>
        <p:spPr>
          <a:xfrm>
            <a:off x="-4710" y="0"/>
            <a:ext cx="2723309" cy="261758"/>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dist"/>
            <a:r>
              <a:rPr lang="en-US" altLang="ko-KR" b="1" dirty="0"/>
              <a:t>CASE STUDY</a:t>
            </a:r>
            <a:endParaRPr lang="ko-KR" altLang="en-US" b="1" dirty="0"/>
          </a:p>
        </p:txBody>
      </p:sp>
    </p:spTree>
    <p:extLst>
      <p:ext uri="{BB962C8B-B14F-4D97-AF65-F5344CB8AC3E}">
        <p14:creationId xmlns:p14="http://schemas.microsoft.com/office/powerpoint/2010/main" val="80253086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1_제목 슬라이드">
    <p:spTree>
      <p:nvGrpSpPr>
        <p:cNvPr id="1" name=""/>
        <p:cNvGrpSpPr/>
        <p:nvPr/>
      </p:nvGrpSpPr>
      <p:grpSpPr>
        <a:xfrm>
          <a:off x="0" y="0"/>
          <a:ext cx="0" cy="0"/>
          <a:chOff x="0" y="0"/>
          <a:chExt cx="0" cy="0"/>
        </a:xfrm>
      </p:grpSpPr>
      <p:sp>
        <p:nvSpPr>
          <p:cNvPr id="4" name="날짜 개체 틀 3"/>
          <p:cNvSpPr>
            <a:spLocks noGrp="1"/>
          </p:cNvSpPr>
          <p:nvPr>
            <p:ph type="dt" sz="half" idx="10"/>
          </p:nvPr>
        </p:nvSpPr>
        <p:spPr/>
        <p:txBody>
          <a:bodyPr/>
          <a:lstStyle/>
          <a:p>
            <a:fld id="{61BCE929-8EFF-45A1-94DE-CC72DB08EDB3}" type="datetime1">
              <a:rPr lang="ko-KR" altLang="en-US" smtClean="0"/>
              <a:t>2026-06-13</a:t>
            </a:fld>
            <a:endParaRPr lang="ko-KR" altLang="en-US"/>
          </a:p>
        </p:txBody>
      </p:sp>
      <p:sp>
        <p:nvSpPr>
          <p:cNvPr id="5" name="바닥글 개체 틀 4"/>
          <p:cNvSpPr>
            <a:spLocks noGrp="1"/>
          </p:cNvSpPr>
          <p:nvPr>
            <p:ph type="ftr" sz="quarter" idx="11"/>
          </p:nvPr>
        </p:nvSpPr>
        <p:spPr/>
        <p:txBody>
          <a:bodyPr/>
          <a:lstStyle/>
          <a:p>
            <a:endParaRPr lang="ko-KR" altLang="en-US"/>
          </a:p>
        </p:txBody>
      </p:sp>
      <p:sp>
        <p:nvSpPr>
          <p:cNvPr id="6" name="슬라이드 번호 개체 틀 5"/>
          <p:cNvSpPr>
            <a:spLocks noGrp="1"/>
          </p:cNvSpPr>
          <p:nvPr>
            <p:ph type="sldNum" sz="quarter" idx="12"/>
          </p:nvPr>
        </p:nvSpPr>
        <p:spPr/>
        <p:txBody>
          <a:bodyPr/>
          <a:lstStyle/>
          <a:p>
            <a:fld id="{3875FC6C-1516-4DC4-8C58-3090F7D4F003}" type="slidenum">
              <a:rPr lang="ko-KR" altLang="en-US" smtClean="0"/>
              <a:t>‹#›</a:t>
            </a:fld>
            <a:endParaRPr lang="ko-KR" altLang="en-US"/>
          </a:p>
        </p:txBody>
      </p:sp>
      <p:sp>
        <p:nvSpPr>
          <p:cNvPr id="10" name="직사각형 9"/>
          <p:cNvSpPr/>
          <p:nvPr userDrawn="1"/>
        </p:nvSpPr>
        <p:spPr>
          <a:xfrm>
            <a:off x="2290709" y="0"/>
            <a:ext cx="9901291" cy="6898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rIns="216000" rtlCol="0" anchor="ctr"/>
          <a:lstStyle/>
          <a:p>
            <a:endParaRPr lang="ko-KR" altLang="en-US" sz="2400" dirty="0">
              <a:solidFill>
                <a:schemeClr val="accent3">
                  <a:lumMod val="50000"/>
                </a:schemeClr>
              </a:solidFill>
            </a:endParaRPr>
          </a:p>
        </p:txBody>
      </p:sp>
      <p:sp>
        <p:nvSpPr>
          <p:cNvPr id="12" name="제목 1"/>
          <p:cNvSpPr txBox="1">
            <a:spLocks/>
          </p:cNvSpPr>
          <p:nvPr userDrawn="1"/>
        </p:nvSpPr>
        <p:spPr>
          <a:xfrm>
            <a:off x="0" y="1"/>
            <a:ext cx="2723577" cy="923384"/>
          </a:xfrm>
          <a:prstGeom prst="rect">
            <a:avLst/>
          </a:prstGeom>
          <a:solidFill>
            <a:schemeClr val="accent1">
              <a:lumMod val="75000"/>
            </a:schemeClr>
          </a:solidFill>
        </p:spPr>
        <p:txBody>
          <a:bodyPr vert="horz" lIns="180000" tIns="0" rIns="18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endParaRPr lang="ko-KR" altLang="en-US" sz="2400" dirty="0">
              <a:solidFill>
                <a:schemeClr val="accent4"/>
              </a:solidFill>
              <a:latin typeface="+mn-ea"/>
              <a:ea typeface="+mn-ea"/>
              <a:cs typeface="Tahoma" panose="020B0604030504040204" pitchFamily="34" charset="0"/>
            </a:endParaRPr>
          </a:p>
        </p:txBody>
      </p:sp>
      <p:sp>
        <p:nvSpPr>
          <p:cNvPr id="13" name="직사각형 12"/>
          <p:cNvSpPr/>
          <p:nvPr userDrawn="1"/>
        </p:nvSpPr>
        <p:spPr>
          <a:xfrm>
            <a:off x="2723309" y="0"/>
            <a:ext cx="121491" cy="923384"/>
          </a:xfrm>
          <a:prstGeom prst="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TextBox 13"/>
          <p:cNvSpPr txBox="1"/>
          <p:nvPr userDrawn="1"/>
        </p:nvSpPr>
        <p:spPr>
          <a:xfrm>
            <a:off x="-1" y="677165"/>
            <a:ext cx="2723309" cy="246220"/>
          </a:xfrm>
          <a:prstGeom prst="rect">
            <a:avLst/>
          </a:prstGeom>
          <a:noFill/>
        </p:spPr>
        <p:txBody>
          <a:bodyPr wrap="square" rtlCol="0">
            <a:spAutoFit/>
          </a:bodyPr>
          <a:lstStyle/>
          <a:p>
            <a:pPr algn="dist"/>
            <a:r>
              <a:rPr lang="en-US" altLang="ko-KR" sz="1000" b="0" baseline="0" dirty="0" err="1">
                <a:solidFill>
                  <a:schemeClr val="bg2"/>
                </a:solidFill>
              </a:rPr>
              <a:t>Yim</a:t>
            </a:r>
            <a:r>
              <a:rPr lang="en-US" altLang="ko-KR" sz="1000" b="0" baseline="0" dirty="0">
                <a:solidFill>
                  <a:schemeClr val="bg2"/>
                </a:solidFill>
              </a:rPr>
              <a:t>, </a:t>
            </a:r>
            <a:r>
              <a:rPr lang="en-US" altLang="ko-KR" sz="1000" b="0" baseline="0" dirty="0" err="1">
                <a:solidFill>
                  <a:schemeClr val="bg2"/>
                </a:solidFill>
              </a:rPr>
              <a:t>Byung-Woong</a:t>
            </a:r>
            <a:r>
              <a:rPr lang="en-US" altLang="ko-KR" sz="1000" b="0" baseline="0" dirty="0">
                <a:solidFill>
                  <a:schemeClr val="bg2"/>
                </a:solidFill>
              </a:rPr>
              <a:t> </a:t>
            </a:r>
            <a:r>
              <a:rPr lang="en-US" altLang="ko-KR" sz="1000" b="0" dirty="0">
                <a:solidFill>
                  <a:schemeClr val="bg2"/>
                </a:solidFill>
              </a:rPr>
              <a:t>All Right</a:t>
            </a:r>
            <a:r>
              <a:rPr lang="en-US" altLang="ko-KR" sz="1000" b="0" baseline="0" dirty="0">
                <a:solidFill>
                  <a:schemeClr val="bg2"/>
                </a:solidFill>
              </a:rPr>
              <a:t>s Reserved.</a:t>
            </a:r>
            <a:endParaRPr lang="ko-KR" altLang="en-US" sz="1000" b="0" dirty="0">
              <a:solidFill>
                <a:schemeClr val="bg2"/>
              </a:solidFill>
            </a:endParaRPr>
          </a:p>
        </p:txBody>
      </p:sp>
      <p:cxnSp>
        <p:nvCxnSpPr>
          <p:cNvPr id="15" name="직선 연결선 14"/>
          <p:cNvCxnSpPr/>
          <p:nvPr userDrawn="1"/>
        </p:nvCxnSpPr>
        <p:spPr>
          <a:xfrm flipH="1">
            <a:off x="0" y="685800"/>
            <a:ext cx="28448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제목 개체 틀 1"/>
          <p:cNvSpPr>
            <a:spLocks noGrp="1"/>
          </p:cNvSpPr>
          <p:nvPr userDrawn="1">
            <p:ph type="title"/>
          </p:nvPr>
        </p:nvSpPr>
        <p:spPr>
          <a:xfrm>
            <a:off x="0" y="69055"/>
            <a:ext cx="2708636" cy="603791"/>
          </a:xfrm>
          <a:prstGeom prst="rect">
            <a:avLst/>
          </a:prstGeom>
        </p:spPr>
        <p:txBody>
          <a:bodyPr vert="horz" lIns="91440" tIns="45720" rIns="91440" bIns="45720" rtlCol="0" anchor="ctr">
            <a:noAutofit/>
          </a:bodyPr>
          <a:lstStyle>
            <a:lvl1pPr algn="ctr">
              <a:defRPr sz="2400">
                <a:solidFill>
                  <a:srgbClr val="FFFF00"/>
                </a:solidFill>
                <a:latin typeface="Rix모던명조 B" panose="02020603020101020101" pitchFamily="18" charset="-127"/>
                <a:ea typeface="Rix모던명조 B" panose="02020603020101020101" pitchFamily="18" charset="-127"/>
              </a:defRPr>
            </a:lvl1pPr>
          </a:lstStyle>
          <a:p>
            <a:r>
              <a:rPr lang="ko-KR" altLang="en-US" dirty="0"/>
              <a:t>마스터 제목 스타일 편집</a:t>
            </a:r>
          </a:p>
        </p:txBody>
      </p:sp>
      <p:sp>
        <p:nvSpPr>
          <p:cNvPr id="17" name="제목 개체 틀 1"/>
          <p:cNvSpPr txBox="1">
            <a:spLocks/>
          </p:cNvSpPr>
          <p:nvPr userDrawn="1"/>
        </p:nvSpPr>
        <p:spPr>
          <a:xfrm>
            <a:off x="2864182" y="69055"/>
            <a:ext cx="9327818" cy="603791"/>
          </a:xfrm>
          <a:prstGeom prst="rect">
            <a:avLst/>
          </a:prstGeom>
        </p:spPr>
        <p:txBody>
          <a:bodyPr vert="horz" lIns="91440" tIns="45720" rIns="91440" bIns="45720" rtlCol="0" anchor="ctr">
            <a:noAutofit/>
          </a:bodyPr>
          <a:lstStyle>
            <a:lvl1pPr algn="ctr" defTabSz="914400" rtl="0" eaLnBrk="1" latinLnBrk="1" hangingPunct="1">
              <a:lnSpc>
                <a:spcPct val="90000"/>
              </a:lnSpc>
              <a:spcBef>
                <a:spcPct val="0"/>
              </a:spcBef>
              <a:buNone/>
              <a:defRPr sz="2400" kern="1200">
                <a:solidFill>
                  <a:schemeClr val="accent4"/>
                </a:solidFill>
                <a:latin typeface="+mj-lt"/>
                <a:ea typeface="+mj-ea"/>
                <a:cs typeface="+mj-cs"/>
              </a:defRPr>
            </a:lvl1pPr>
          </a:lstStyle>
          <a:p>
            <a:pPr algn="l"/>
            <a:endParaRPr lang="ko-KR" altLang="en-US" dirty="0">
              <a:solidFill>
                <a:schemeClr val="accent3">
                  <a:lumMod val="50000"/>
                </a:schemeClr>
              </a:solidFill>
            </a:endParaRPr>
          </a:p>
        </p:txBody>
      </p:sp>
      <p:sp>
        <p:nvSpPr>
          <p:cNvPr id="18" name="텍스트 개체 틀 21"/>
          <p:cNvSpPr>
            <a:spLocks noGrp="1"/>
          </p:cNvSpPr>
          <p:nvPr userDrawn="1">
            <p:ph type="body" sz="quarter" idx="13"/>
          </p:nvPr>
        </p:nvSpPr>
        <p:spPr>
          <a:xfrm>
            <a:off x="2959100" y="69055"/>
            <a:ext cx="9232899" cy="603791"/>
          </a:xfrm>
        </p:spPr>
        <p:txBody>
          <a:bodyPr anchor="ctr"/>
          <a:lstStyle>
            <a:lvl1pPr marL="0" indent="0">
              <a:buNone/>
              <a:defRPr b="1">
                <a:solidFill>
                  <a:schemeClr val="accent3">
                    <a:lumMod val="50000"/>
                  </a:schemeClr>
                </a:solidFill>
                <a:latin typeface="Rix모던명조 B" panose="02020603020101020101" pitchFamily="18" charset="-127"/>
                <a:ea typeface="Rix모던명조 B" panose="02020603020101020101" pitchFamily="18" charset="-127"/>
              </a:defRPr>
            </a:lvl1pPr>
          </a:lstStyle>
          <a:p>
            <a:pPr lvl="0"/>
            <a:r>
              <a:rPr lang="ko-KR" altLang="en-US" dirty="0"/>
              <a:t>마스터 텍스트 스타일 편집</a:t>
            </a:r>
          </a:p>
        </p:txBody>
      </p:sp>
    </p:spTree>
    <p:extLst>
      <p:ext uri="{BB962C8B-B14F-4D97-AF65-F5344CB8AC3E}">
        <p14:creationId xmlns:p14="http://schemas.microsoft.com/office/powerpoint/2010/main" val="386873678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2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5"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8016"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Rix모던고딕 L" panose="02020603020101020101" pitchFamily="18" charset="-127"/>
                <a:ea typeface="Rix모던고딕 L" panose="02020603020101020101" pitchFamily="18"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0423" y="549176"/>
            <a:ext cx="2886612"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Rix모던고딕 L" panose="02020603020101020101" pitchFamily="18" charset="-127"/>
                <a:ea typeface="Rix모던고딕 L" panose="02020603020101020101" pitchFamily="18"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6"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8" y="1315935"/>
            <a:ext cx="6655698" cy="269882"/>
          </a:xfrm>
          <a:noFill/>
          <a:ln>
            <a:solidFill>
              <a:schemeClr val="bg1">
                <a:lumMod val="50000"/>
              </a:schemeClr>
            </a:solidFill>
          </a:ln>
        </p:spPr>
        <p:txBody>
          <a:bodyPr wrap="square" anchor="t">
            <a:spAutoFit/>
          </a:bodyPr>
          <a:lstStyle>
            <a:lvl1pPr marL="143246" indent="-143246" algn="just">
              <a:lnSpc>
                <a:spcPts val="1504"/>
              </a:lnSpc>
              <a:spcBef>
                <a:spcPts val="0"/>
              </a:spcBef>
              <a:buNone/>
              <a:defRPr sz="952">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
        <p:nvSpPr>
          <p:cNvPr id="14" name="텍스트 개체 틀 28"/>
          <p:cNvSpPr>
            <a:spLocks noGrp="1"/>
          </p:cNvSpPr>
          <p:nvPr>
            <p:ph type="body" sz="quarter" idx="18"/>
          </p:nvPr>
        </p:nvSpPr>
        <p:spPr>
          <a:xfrm>
            <a:off x="732408" y="1742184"/>
            <a:ext cx="6655698" cy="271677"/>
          </a:xfrm>
          <a:noFill/>
          <a:ln>
            <a:noFill/>
          </a:ln>
        </p:spPr>
        <p:txBody>
          <a:bodyPr wrap="square"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Tree>
    <p:extLst>
      <p:ext uri="{BB962C8B-B14F-4D97-AF65-F5344CB8AC3E}">
        <p14:creationId xmlns:p14="http://schemas.microsoft.com/office/powerpoint/2010/main" val="178282655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5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Rix모던고딕 L" panose="02020603020101020101" pitchFamily="18" charset="-127"/>
                <a:ea typeface="Rix모던고딕 L" panose="02020603020101020101" pitchFamily="18"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Rix모던고딕 L" panose="02020603020101020101" pitchFamily="18" charset="-127"/>
                <a:ea typeface="Rix모던고딕 L" panose="02020603020101020101" pitchFamily="18"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71677"/>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2710266263"/>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6_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730881" y="911580"/>
            <a:ext cx="6657226" cy="285420"/>
          </a:xfrm>
        </p:spPr>
        <p:txBody>
          <a:bodyPr lIns="90000" anchor="t">
            <a:spAutoFit/>
          </a:bodyPr>
          <a:lstStyle>
            <a:lvl1pPr algn="just">
              <a:lnSpc>
                <a:spcPts val="1504"/>
              </a:lnSpc>
              <a:defRPr sz="1103">
                <a:latin typeface="Rix모던고딕 M" panose="02020603020101020101" pitchFamily="18" charset="-127"/>
                <a:ea typeface="Rix모던고딕 M" panose="02020603020101020101" pitchFamily="18" charset="-127"/>
              </a:defRPr>
            </a:lvl1pPr>
          </a:lstStyle>
          <a:p>
            <a:r>
              <a:rPr lang="ko-KR" altLang="en-US" dirty="0"/>
              <a:t>마스터 제목 스타일 편집</a:t>
            </a:r>
          </a:p>
        </p:txBody>
      </p:sp>
      <p:sp>
        <p:nvSpPr>
          <p:cNvPr id="3" name="부제목 2"/>
          <p:cNvSpPr>
            <a:spLocks noGrp="1"/>
          </p:cNvSpPr>
          <p:nvPr>
            <p:ph type="subTitle" idx="1"/>
          </p:nvPr>
        </p:nvSpPr>
        <p:spPr>
          <a:xfrm>
            <a:off x="7388107" y="916735"/>
            <a:ext cx="4169541" cy="5417531"/>
          </a:xfrm>
        </p:spPr>
        <p:txBody>
          <a:bodyPr lIns="54000" rIns="0">
            <a:noAutofit/>
          </a:bodyPr>
          <a:lstStyle>
            <a:lvl1pPr marL="0" indent="0" algn="just">
              <a:lnSpc>
                <a:spcPts val="1103"/>
              </a:lnSpc>
              <a:buNone/>
              <a:defRPr sz="852">
                <a:solidFill>
                  <a:schemeClr val="tx1"/>
                </a:solidFill>
                <a:latin typeface="산돌신문제비 L" pitchFamily="18" charset="-127"/>
                <a:ea typeface="산돌신문제비 L" pitchFamily="18" charset="-127"/>
              </a:defRPr>
            </a:lvl1pPr>
            <a:lvl2pPr marL="458389" indent="0" algn="ctr">
              <a:buNone/>
              <a:defRPr>
                <a:solidFill>
                  <a:schemeClr val="tx1">
                    <a:tint val="75000"/>
                  </a:schemeClr>
                </a:solidFill>
              </a:defRPr>
            </a:lvl2pPr>
            <a:lvl3pPr marL="916777" indent="0" algn="ctr">
              <a:buNone/>
              <a:defRPr>
                <a:solidFill>
                  <a:schemeClr val="tx1">
                    <a:tint val="75000"/>
                  </a:schemeClr>
                </a:solidFill>
              </a:defRPr>
            </a:lvl3pPr>
            <a:lvl4pPr marL="1375166" indent="0" algn="ctr">
              <a:buNone/>
              <a:defRPr>
                <a:solidFill>
                  <a:schemeClr val="tx1">
                    <a:tint val="75000"/>
                  </a:schemeClr>
                </a:solidFill>
              </a:defRPr>
            </a:lvl4pPr>
            <a:lvl5pPr marL="1833555" indent="0" algn="ctr">
              <a:buNone/>
              <a:defRPr>
                <a:solidFill>
                  <a:schemeClr val="tx1">
                    <a:tint val="75000"/>
                  </a:schemeClr>
                </a:solidFill>
              </a:defRPr>
            </a:lvl5pPr>
            <a:lvl6pPr marL="2291944" indent="0" algn="ctr">
              <a:buNone/>
              <a:defRPr>
                <a:solidFill>
                  <a:schemeClr val="tx1">
                    <a:tint val="75000"/>
                  </a:schemeClr>
                </a:solidFill>
              </a:defRPr>
            </a:lvl6pPr>
            <a:lvl7pPr marL="2750332" indent="0" algn="ctr">
              <a:buNone/>
              <a:defRPr>
                <a:solidFill>
                  <a:schemeClr val="tx1">
                    <a:tint val="75000"/>
                  </a:schemeClr>
                </a:solidFill>
              </a:defRPr>
            </a:lvl7pPr>
            <a:lvl8pPr marL="3208721" indent="0" algn="ctr">
              <a:buNone/>
              <a:defRPr>
                <a:solidFill>
                  <a:schemeClr val="tx1">
                    <a:tint val="75000"/>
                  </a:schemeClr>
                </a:solidFill>
              </a:defRPr>
            </a:lvl8pPr>
            <a:lvl9pPr marL="3667110" indent="0" algn="ctr">
              <a:buNone/>
              <a:defRPr>
                <a:solidFill>
                  <a:schemeClr val="tx1">
                    <a:tint val="75000"/>
                  </a:schemeClr>
                </a:solidFill>
              </a:defRPr>
            </a:lvl9pPr>
          </a:lstStyle>
          <a:p>
            <a:r>
              <a:rPr lang="ko-KR" altLang="en-US" dirty="0"/>
              <a:t>마스터 부제목 스타일 편집</a:t>
            </a:r>
          </a:p>
        </p:txBody>
      </p:sp>
      <p:cxnSp>
        <p:nvCxnSpPr>
          <p:cNvPr id="7" name="직선 연결선 6"/>
          <p:cNvCxnSpPr/>
          <p:nvPr userDrawn="1"/>
        </p:nvCxnSpPr>
        <p:spPr>
          <a:xfrm>
            <a:off x="7388107" y="540361"/>
            <a:ext cx="0" cy="579390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모서리가 둥근 직사각형 9"/>
          <p:cNvSpPr/>
          <p:nvPr userDrawn="1"/>
        </p:nvSpPr>
        <p:spPr>
          <a:xfrm>
            <a:off x="7487537" y="549176"/>
            <a:ext cx="803668" cy="284700"/>
          </a:xfrm>
          <a:prstGeom prst="roundRect">
            <a:avLst>
              <a:gd name="adj" fmla="val 0"/>
            </a:avLst>
          </a:prstGeom>
          <a:solidFill>
            <a:schemeClr val="accent1">
              <a:lumMod val="60000"/>
              <a:lumOff val="40000"/>
            </a:schemeClr>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3" dirty="0">
                <a:solidFill>
                  <a:schemeClr val="tx1"/>
                </a:solidFill>
                <a:latin typeface="Rix커피향 M" panose="02020603020101020101" pitchFamily="18" charset="-127"/>
                <a:ea typeface="Rix커피향 M" panose="02020603020101020101" pitchFamily="18" charset="-127"/>
              </a:rPr>
              <a:t>해 설</a:t>
            </a:r>
          </a:p>
        </p:txBody>
      </p:sp>
      <p:sp>
        <p:nvSpPr>
          <p:cNvPr id="13" name="모서리가 둥근 직사각형 12"/>
          <p:cNvSpPr/>
          <p:nvPr userDrawn="1"/>
        </p:nvSpPr>
        <p:spPr>
          <a:xfrm>
            <a:off x="7388106" y="6342676"/>
            <a:ext cx="635127" cy="229360"/>
          </a:xfrm>
          <a:prstGeom prst="round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3" b="1" dirty="0">
                <a:solidFill>
                  <a:schemeClr val="tx2"/>
                </a:solidFill>
                <a:latin typeface="Rix커피향 M" panose="02020603020101020101" pitchFamily="18" charset="-127"/>
                <a:ea typeface="Rix커피향 M" panose="02020603020101020101" pitchFamily="18" charset="-127"/>
              </a:rPr>
              <a:t>정 답</a:t>
            </a:r>
          </a:p>
        </p:txBody>
      </p:sp>
      <p:sp>
        <p:nvSpPr>
          <p:cNvPr id="29" name="텍스트 개체 틀 28"/>
          <p:cNvSpPr>
            <a:spLocks noGrp="1"/>
          </p:cNvSpPr>
          <p:nvPr>
            <p:ph type="body" sz="quarter" idx="10"/>
          </p:nvPr>
        </p:nvSpPr>
        <p:spPr>
          <a:xfrm>
            <a:off x="732408" y="549176"/>
            <a:ext cx="2529141" cy="286479"/>
          </a:xfrm>
          <a:solidFill>
            <a:schemeClr val="accent1">
              <a:lumMod val="60000"/>
              <a:lumOff val="40000"/>
            </a:schemeClr>
          </a:solidFill>
          <a:ln>
            <a:solidFill>
              <a:schemeClr val="bg1">
                <a:lumMod val="85000"/>
              </a:schemeClr>
            </a:solidFill>
          </a:ln>
        </p:spPr>
        <p:txBody>
          <a:bodyPr lIns="36000" rIns="36000" anchor="ctr">
            <a:noAutofit/>
          </a:bodyPr>
          <a:lstStyle>
            <a:lvl1pPr marL="0" indent="0" algn="ctr">
              <a:buNone/>
              <a:defRPr sz="1053">
                <a:latin typeface="Rix모던고딕 L" panose="02020603020101020101" pitchFamily="18" charset="-127"/>
                <a:ea typeface="Rix모던고딕 L" panose="02020603020101020101" pitchFamily="18" charset="-127"/>
              </a:defRPr>
            </a:lvl1pPr>
          </a:lstStyle>
          <a:p>
            <a:pPr lvl="0"/>
            <a:r>
              <a:rPr lang="ko-KR" altLang="en-US" dirty="0"/>
              <a:t>마스터 텍스트 스타일을 편집합니다</a:t>
            </a:r>
          </a:p>
        </p:txBody>
      </p:sp>
      <p:sp>
        <p:nvSpPr>
          <p:cNvPr id="30" name="텍스트 개체 틀 28"/>
          <p:cNvSpPr>
            <a:spLocks noGrp="1"/>
          </p:cNvSpPr>
          <p:nvPr>
            <p:ph type="body" sz="quarter" idx="11"/>
          </p:nvPr>
        </p:nvSpPr>
        <p:spPr>
          <a:xfrm>
            <a:off x="3261549" y="549176"/>
            <a:ext cx="2885485" cy="286479"/>
          </a:xfrm>
          <a:solidFill>
            <a:schemeClr val="accent1">
              <a:lumMod val="20000"/>
              <a:lumOff val="80000"/>
            </a:schemeClr>
          </a:solidFill>
          <a:ln>
            <a:solidFill>
              <a:schemeClr val="bg1">
                <a:lumMod val="85000"/>
              </a:schemeClr>
            </a:solidFill>
          </a:ln>
        </p:spPr>
        <p:txBody>
          <a:bodyPr lIns="36000" rIns="36000" anchor="ctr">
            <a:normAutofit/>
          </a:bodyPr>
          <a:lstStyle>
            <a:lvl1pPr marL="0" indent="0" algn="ctr">
              <a:buNone/>
              <a:defRPr sz="1053">
                <a:latin typeface="Rix모던고딕 L" panose="02020603020101020101" pitchFamily="18" charset="-127"/>
                <a:ea typeface="Rix모던고딕 L" panose="02020603020101020101" pitchFamily="18" charset="-127"/>
              </a:defRPr>
            </a:lvl1pPr>
          </a:lstStyle>
          <a:p>
            <a:pPr lvl="0"/>
            <a:r>
              <a:rPr lang="ko-KR" altLang="en-US" dirty="0"/>
              <a:t>마스터 텍스트 스타일을 편집합니다</a:t>
            </a:r>
          </a:p>
        </p:txBody>
      </p:sp>
      <p:sp>
        <p:nvSpPr>
          <p:cNvPr id="31" name="텍스트 개체 틀 28"/>
          <p:cNvSpPr>
            <a:spLocks noGrp="1"/>
          </p:cNvSpPr>
          <p:nvPr>
            <p:ph type="body" sz="quarter" idx="12"/>
          </p:nvPr>
        </p:nvSpPr>
        <p:spPr>
          <a:xfrm>
            <a:off x="6144263" y="549176"/>
            <a:ext cx="1141160" cy="286479"/>
          </a:xfrm>
          <a:solidFill>
            <a:schemeClr val="bg1">
              <a:lumMod val="95000"/>
            </a:schemeClr>
          </a:solidFill>
          <a:ln>
            <a:solidFill>
              <a:schemeClr val="bg1">
                <a:lumMod val="85000"/>
              </a:schemeClr>
            </a:solidFill>
          </a:ln>
        </p:spPr>
        <p:txBody>
          <a:bodyPr lIns="36000" rIns="36000" anchor="ctr">
            <a:noAutofit/>
          </a:bodyPr>
          <a:lstStyle>
            <a:lvl1pPr marL="0" indent="0" algn="ctr">
              <a:buNone/>
              <a:defRPr sz="1053">
                <a:latin typeface="Rix커피향 M" panose="02020603020101020101" pitchFamily="18" charset="-127"/>
                <a:ea typeface="Rix커피향 M" panose="02020603020101020101" pitchFamily="18" charset="-127"/>
              </a:defRPr>
            </a:lvl1pPr>
          </a:lstStyle>
          <a:p>
            <a:pPr lvl="0"/>
            <a:r>
              <a:rPr lang="ko-KR" altLang="en-US" dirty="0"/>
              <a:t>마스터 텍스트 스타일을 편집합니다</a:t>
            </a:r>
          </a:p>
        </p:txBody>
      </p:sp>
      <p:sp>
        <p:nvSpPr>
          <p:cNvPr id="32" name="텍스트 개체 틀 28"/>
          <p:cNvSpPr>
            <a:spLocks noGrp="1"/>
          </p:cNvSpPr>
          <p:nvPr>
            <p:ph type="body" sz="quarter" idx="13"/>
          </p:nvPr>
        </p:nvSpPr>
        <p:spPr>
          <a:xfrm>
            <a:off x="8163058" y="6309034"/>
            <a:ext cx="3562305" cy="286479"/>
          </a:xfrm>
          <a:noFill/>
          <a:ln>
            <a:noFill/>
          </a:ln>
        </p:spPr>
        <p:txBody>
          <a:bodyPr anchor="ctr">
            <a:noAutofit/>
          </a:bodyPr>
          <a:lstStyle>
            <a:lvl1pPr marL="0" indent="0" algn="l">
              <a:buNone/>
              <a:defRPr sz="1103">
                <a:latin typeface="Rix모던고딕 B" pitchFamily="18" charset="-127"/>
                <a:ea typeface="Rix모던고딕 B" pitchFamily="18" charset="-127"/>
              </a:defRPr>
            </a:lvl1pPr>
          </a:lstStyle>
          <a:p>
            <a:pPr lvl="0"/>
            <a:r>
              <a:rPr lang="ko-KR" altLang="en-US" dirty="0"/>
              <a:t>마스터 텍스트 스타일을 편집합니다</a:t>
            </a:r>
          </a:p>
        </p:txBody>
      </p:sp>
      <p:sp>
        <p:nvSpPr>
          <p:cNvPr id="34" name="텍스트 개체 틀 28"/>
          <p:cNvSpPr>
            <a:spLocks noGrp="1"/>
          </p:cNvSpPr>
          <p:nvPr>
            <p:ph type="body" sz="quarter" idx="14"/>
          </p:nvPr>
        </p:nvSpPr>
        <p:spPr>
          <a:xfrm>
            <a:off x="732407" y="1742184"/>
            <a:ext cx="6655700" cy="271677"/>
          </a:xfrm>
          <a:noFill/>
          <a:ln>
            <a:noFill/>
          </a:ln>
        </p:spPr>
        <p:txBody>
          <a:bodyPr anchor="t">
            <a:spAutoFit/>
          </a:bodyPr>
          <a:lstStyle>
            <a:lvl1pPr marL="143246" indent="-143246" algn="just">
              <a:lnSpc>
                <a:spcPts val="1504"/>
              </a:lnSpc>
              <a:spcBef>
                <a:spcPts val="0"/>
              </a:spcBef>
              <a:buNone/>
              <a:defRPr sz="1003">
                <a:latin typeface="Rix모던명조 L" pitchFamily="18" charset="-127"/>
                <a:ea typeface="Rix모던명조 L" pitchFamily="18" charset="-127"/>
              </a:defRPr>
            </a:lvl1pPr>
          </a:lstStyle>
          <a:p>
            <a:pPr lvl="0"/>
            <a:r>
              <a:rPr lang="ko-KR" altLang="en-US" dirty="0"/>
              <a:t>마스터 텍스트 스타일을 편집합니다</a:t>
            </a:r>
          </a:p>
        </p:txBody>
      </p:sp>
      <p:sp>
        <p:nvSpPr>
          <p:cNvPr id="6" name="슬라이드 번호 개체 틀 5"/>
          <p:cNvSpPr>
            <a:spLocks noGrp="1"/>
          </p:cNvSpPr>
          <p:nvPr>
            <p:ph type="sldNum" sz="quarter" idx="17"/>
          </p:nvPr>
        </p:nvSpPr>
        <p:spPr>
          <a:xfrm>
            <a:off x="8712296" y="425377"/>
            <a:ext cx="2845351" cy="408498"/>
          </a:xfrm>
        </p:spPr>
        <p:txBody>
          <a:bodyPr/>
          <a:lstStyle>
            <a:lvl1pPr>
              <a:defRPr sz="3208" b="1" cap="none" spc="0">
                <a:ln w="10160">
                  <a:solidFill>
                    <a:schemeClr val="tx1">
                      <a:lumMod val="50000"/>
                      <a:lumOff val="50000"/>
                    </a:schemeClr>
                  </a:solidFill>
                  <a:prstDash val="solid"/>
                </a:ln>
                <a:solidFill>
                  <a:srgbClr val="FFFFFF"/>
                </a:solidFill>
                <a:effectLst/>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357808859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2.xml"/><Relationship Id="rId2" Type="http://schemas.openxmlformats.org/officeDocument/2006/relationships/slideLayout" Target="../slideLayouts/slideLayout11.xml"/><Relationship Id="rId1" Type="http://schemas.openxmlformats.org/officeDocument/2006/relationships/slideLayout" Target="../slideLayouts/slideLayout10.xml"/><Relationship Id="rId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theme" Target="../theme/theme3.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27.xml"/><Relationship Id="rId7" Type="http://schemas.openxmlformats.org/officeDocument/2006/relationships/theme" Target="../theme/theme4.xml"/><Relationship Id="rId2" Type="http://schemas.openxmlformats.org/officeDocument/2006/relationships/slideLayout" Target="../slideLayouts/slideLayout26.xml"/><Relationship Id="rId1" Type="http://schemas.openxmlformats.org/officeDocument/2006/relationships/slideLayout" Target="../slideLayouts/slideLayout25.xml"/><Relationship Id="rId6" Type="http://schemas.openxmlformats.org/officeDocument/2006/relationships/slideLayout" Target="../slideLayouts/slideLayout30.xml"/><Relationship Id="rId5" Type="http://schemas.openxmlformats.org/officeDocument/2006/relationships/slideLayout" Target="../slideLayouts/slideLayout29.xml"/><Relationship Id="rId4" Type="http://schemas.openxmlformats.org/officeDocument/2006/relationships/slideLayout" Target="../slideLayouts/slideLayout2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ko-KR" altLang="en-US"/>
              <a:t>마스터 제목 스타일 편집</a:t>
            </a:r>
          </a:p>
        </p:txBody>
      </p:sp>
      <p:sp>
        <p:nvSpPr>
          <p:cNvPr id="3" name="텍스트 개체 틀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날짜 개체 틀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B69A018-C336-4EBA-84EE-074C32CA2982}" type="datetime1">
              <a:rPr lang="ko-KR" altLang="en-US" smtClean="0"/>
              <a:t>2026-06-13</a:t>
            </a:fld>
            <a:endParaRPr lang="ko-KR" altLang="en-US"/>
          </a:p>
        </p:txBody>
      </p:sp>
      <p:sp>
        <p:nvSpPr>
          <p:cNvPr id="5" name="바닥글 개체 틀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ko-KR" altLang="en-US"/>
          </a:p>
        </p:txBody>
      </p:sp>
      <p:sp>
        <p:nvSpPr>
          <p:cNvPr id="6" name="슬라이드 번호 개체 틀 5"/>
          <p:cNvSpPr>
            <a:spLocks noGrp="1"/>
          </p:cNvSpPr>
          <p:nvPr>
            <p:ph type="sldNum" sz="quarter" idx="4"/>
          </p:nvPr>
        </p:nvSpPr>
        <p:spPr>
          <a:xfrm>
            <a:off x="11125200" y="0"/>
            <a:ext cx="1066800" cy="676275"/>
          </a:xfrm>
          <a:prstGeom prst="rect">
            <a:avLst/>
          </a:prstGeom>
        </p:spPr>
        <p:txBody>
          <a:bodyPr vert="horz" lIns="91440" tIns="45720" rIns="91440" bIns="45720" rtlCol="0" anchor="ctr"/>
          <a:lstStyle>
            <a:lvl1pPr algn="ctr">
              <a:defRPr sz="3600" b="1" cap="none" spc="0">
                <a:ln w="12700">
                  <a:solidFill>
                    <a:schemeClr val="tx2">
                      <a:satMod val="155000"/>
                    </a:schemeClr>
                  </a:solidFill>
                  <a:prstDash val="solid"/>
                </a:ln>
                <a:solidFill>
                  <a:schemeClr val="bg2">
                    <a:tint val="85000"/>
                    <a:satMod val="155000"/>
                  </a:schemeClr>
                </a:solidFill>
                <a:effectLst/>
              </a:defRPr>
            </a:lvl1pPr>
          </a:lstStyle>
          <a:p>
            <a:fld id="{3875FC6C-1516-4DC4-8C58-3090F7D4F003}" type="slidenum">
              <a:rPr lang="ko-KR" altLang="en-US" smtClean="0"/>
              <a:pPr/>
              <a:t>‹#›</a:t>
            </a:fld>
            <a:endParaRPr lang="ko-KR" altLang="en-US"/>
          </a:p>
        </p:txBody>
      </p:sp>
    </p:spTree>
    <p:extLst>
      <p:ext uri="{BB962C8B-B14F-4D97-AF65-F5344CB8AC3E}">
        <p14:creationId xmlns:p14="http://schemas.microsoft.com/office/powerpoint/2010/main" val="2544289465"/>
      </p:ext>
    </p:extLst>
  </p:cSld>
  <p:clrMap bg1="lt1" tx1="dk1" bg2="lt2" tx2="dk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3" r:id="rId5"/>
    <p:sldLayoutId id="2147483664" r:id="rId6"/>
    <p:sldLayoutId id="2147483665" r:id="rId7"/>
    <p:sldLayoutId id="2147483666" r:id="rId8"/>
    <p:sldLayoutId id="2147483667" r:id="rId9"/>
  </p:sldLayoutIdLst>
  <p:hf hdr="0" ftr="0" dt="0"/>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610015" y="275339"/>
            <a:ext cx="10971973" cy="1142735"/>
          </a:xfrm>
          <a:prstGeom prst="rect">
            <a:avLst/>
          </a:prstGeom>
        </p:spPr>
        <p:txBody>
          <a:bodyPr vert="horz" lIns="91440" tIns="45720" rIns="91440" bIns="45720"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610015" y="1599511"/>
            <a:ext cx="10971973" cy="4526375"/>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610014" y="6356660"/>
            <a:ext cx="2845351" cy="364466"/>
          </a:xfrm>
          <a:prstGeom prst="rect">
            <a:avLst/>
          </a:prstGeom>
        </p:spPr>
        <p:txBody>
          <a:bodyPr vert="horz" lIns="91440" tIns="45720" rIns="91440" bIns="45720" rtlCol="0" anchor="ctr"/>
          <a:lstStyle>
            <a:lvl1pPr algn="l">
              <a:defRPr sz="1203">
                <a:solidFill>
                  <a:schemeClr val="tx1">
                    <a:tint val="75000"/>
                  </a:schemeClr>
                </a:solidFill>
                <a:latin typeface="Rix모던고딕 L" panose="02020603020101020101" pitchFamily="18" charset="-127"/>
                <a:ea typeface="Rix모던고딕 L" panose="02020603020101020101" pitchFamily="18" charset="-127"/>
              </a:defRPr>
            </a:lvl1pPr>
          </a:lstStyle>
          <a:p>
            <a:fld id="{DA871C45-21D4-4A4B-8C59-D313832DD3AA}" type="datetime1">
              <a:rPr lang="ko-KR" altLang="en-US" smtClean="0"/>
              <a:pPr/>
              <a:t>2026-06-13</a:t>
            </a:fld>
            <a:endParaRPr lang="ko-KR" altLang="en-US" dirty="0"/>
          </a:p>
        </p:txBody>
      </p:sp>
      <p:sp>
        <p:nvSpPr>
          <p:cNvPr id="5" name="바닥글 개체 틀 4"/>
          <p:cNvSpPr>
            <a:spLocks noGrp="1"/>
          </p:cNvSpPr>
          <p:nvPr>
            <p:ph type="ftr" sz="quarter" idx="3"/>
          </p:nvPr>
        </p:nvSpPr>
        <p:spPr>
          <a:xfrm>
            <a:off x="4164635" y="6356660"/>
            <a:ext cx="3862730" cy="364466"/>
          </a:xfrm>
          <a:prstGeom prst="rect">
            <a:avLst/>
          </a:prstGeom>
        </p:spPr>
        <p:txBody>
          <a:bodyPr vert="horz" lIns="91440" tIns="45720" rIns="91440" bIns="45720" rtlCol="0" anchor="ctr"/>
          <a:lstStyle>
            <a:lvl1pPr algn="ctr">
              <a:defRPr sz="1203">
                <a:solidFill>
                  <a:schemeClr val="tx1">
                    <a:tint val="75000"/>
                  </a:schemeClr>
                </a:solidFill>
                <a:latin typeface="Rix모던고딕 L" panose="02020603020101020101" pitchFamily="18" charset="-127"/>
                <a:ea typeface="Rix모던고딕 L" panose="02020603020101020101" pitchFamily="18" charset="-127"/>
              </a:defRPr>
            </a:lvl1pPr>
          </a:lstStyle>
          <a:p>
            <a:endParaRPr lang="ko-KR" altLang="en-US" dirty="0"/>
          </a:p>
        </p:txBody>
      </p:sp>
      <p:sp>
        <p:nvSpPr>
          <p:cNvPr id="6" name="슬라이드 번호 개체 틀 5"/>
          <p:cNvSpPr>
            <a:spLocks noGrp="1"/>
          </p:cNvSpPr>
          <p:nvPr>
            <p:ph type="sldNum" sz="quarter" idx="4"/>
          </p:nvPr>
        </p:nvSpPr>
        <p:spPr>
          <a:xfrm>
            <a:off x="8736636" y="6356660"/>
            <a:ext cx="2845351" cy="364466"/>
          </a:xfrm>
          <a:prstGeom prst="rect">
            <a:avLst/>
          </a:prstGeom>
        </p:spPr>
        <p:txBody>
          <a:bodyPr vert="horz" lIns="91440" tIns="45720" rIns="91440" bIns="45720" rtlCol="0" anchor="ctr"/>
          <a:lstStyle>
            <a:lvl1pPr algn="r">
              <a:defRPr sz="1203">
                <a:solidFill>
                  <a:schemeClr val="tx1">
                    <a:tint val="75000"/>
                  </a:schemeClr>
                </a:solidFill>
                <a:latin typeface="Rix모던고딕 L" panose="02020603020101020101" pitchFamily="18" charset="-127"/>
                <a:ea typeface="Rix모던고딕 L" panose="02020603020101020101" pitchFamily="18" charset="-127"/>
              </a:defRPr>
            </a:lvl1pPr>
          </a:lstStyle>
          <a:p>
            <a:fld id="{67DDBD9C-31A1-4AC6-979A-EBB296D195A4}" type="slidenum">
              <a:rPr lang="ko-KR" altLang="en-US" smtClean="0"/>
              <a:pPr/>
              <a:t>‹#›</a:t>
            </a:fld>
            <a:endParaRPr lang="ko-KR" altLang="en-US" dirty="0"/>
          </a:p>
        </p:txBody>
      </p:sp>
    </p:spTree>
    <p:extLst>
      <p:ext uri="{BB962C8B-B14F-4D97-AF65-F5344CB8AC3E}">
        <p14:creationId xmlns:p14="http://schemas.microsoft.com/office/powerpoint/2010/main" val="2768567984"/>
      </p:ext>
    </p:extLst>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Lst>
  <p:hf hdr="0" ftr="0" dt="0"/>
  <p:txStyles>
    <p:titleStyle>
      <a:lvl1pPr algn="ctr" defTabSz="916777" rtl="0" eaLnBrk="1" latinLnBrk="1" hangingPunct="1">
        <a:spcBef>
          <a:spcPct val="0"/>
        </a:spcBef>
        <a:buNone/>
        <a:defRPr sz="4411" kern="1200">
          <a:solidFill>
            <a:schemeClr val="tx1"/>
          </a:solidFill>
          <a:latin typeface="Rix모던고딕 L" panose="02020603020101020101" pitchFamily="18" charset="-127"/>
          <a:ea typeface="Rix모던고딕 L" panose="02020603020101020101" pitchFamily="18" charset="-127"/>
          <a:cs typeface="+mj-cs"/>
        </a:defRPr>
      </a:lvl1pPr>
    </p:titleStyle>
    <p:bodyStyle>
      <a:lvl1pPr marL="343792" indent="-343792" algn="l" defTabSz="916777" rtl="0" eaLnBrk="1" latinLnBrk="1" hangingPunct="1">
        <a:spcBef>
          <a:spcPct val="20000"/>
        </a:spcBef>
        <a:buFont typeface="Arial" pitchFamily="34" charset="0"/>
        <a:buChar char="•"/>
        <a:defRPr sz="3208" kern="1200">
          <a:solidFill>
            <a:schemeClr val="tx1"/>
          </a:solidFill>
          <a:latin typeface="Rix모던고딕 L" panose="02020603020101020101" pitchFamily="18" charset="-127"/>
          <a:ea typeface="Rix모던고딕 L" panose="02020603020101020101" pitchFamily="18" charset="-127"/>
          <a:cs typeface="+mn-cs"/>
        </a:defRPr>
      </a:lvl1pPr>
      <a:lvl2pPr marL="744882" indent="-286493" algn="l" defTabSz="916777" rtl="0" eaLnBrk="1" latinLnBrk="1" hangingPunct="1">
        <a:spcBef>
          <a:spcPct val="20000"/>
        </a:spcBef>
        <a:buFont typeface="Arial" pitchFamily="34" charset="0"/>
        <a:buChar char="–"/>
        <a:defRPr sz="2807" kern="1200">
          <a:solidFill>
            <a:schemeClr val="tx1"/>
          </a:solidFill>
          <a:latin typeface="Rix모던고딕 L" panose="02020603020101020101" pitchFamily="18" charset="-127"/>
          <a:ea typeface="Rix모던고딕 L" panose="02020603020101020101" pitchFamily="18" charset="-127"/>
          <a:cs typeface="+mn-cs"/>
        </a:defRPr>
      </a:lvl2pPr>
      <a:lvl3pPr marL="1145972" indent="-229194" algn="l" defTabSz="916777" rtl="0" eaLnBrk="1" latinLnBrk="1" hangingPunct="1">
        <a:spcBef>
          <a:spcPct val="20000"/>
        </a:spcBef>
        <a:buFont typeface="Arial" pitchFamily="34" charset="0"/>
        <a:buChar char="•"/>
        <a:defRPr sz="2406" kern="1200">
          <a:solidFill>
            <a:schemeClr val="tx1"/>
          </a:solidFill>
          <a:latin typeface="Rix모던고딕 L" panose="02020603020101020101" pitchFamily="18" charset="-127"/>
          <a:ea typeface="Rix모던고딕 L" panose="02020603020101020101" pitchFamily="18" charset="-127"/>
          <a:cs typeface="+mn-cs"/>
        </a:defRPr>
      </a:lvl3pPr>
      <a:lvl4pPr marL="1604361" indent="-229194" algn="l" defTabSz="916777" rtl="0" eaLnBrk="1" latinLnBrk="1" hangingPunct="1">
        <a:spcBef>
          <a:spcPct val="20000"/>
        </a:spcBef>
        <a:buFont typeface="Arial" pitchFamily="34" charset="0"/>
        <a:buChar char="–"/>
        <a:defRPr sz="2005" kern="1200">
          <a:solidFill>
            <a:schemeClr val="tx1"/>
          </a:solidFill>
          <a:latin typeface="Rix모던고딕 L" panose="02020603020101020101" pitchFamily="18" charset="-127"/>
          <a:ea typeface="Rix모던고딕 L" panose="02020603020101020101" pitchFamily="18" charset="-127"/>
          <a:cs typeface="+mn-cs"/>
        </a:defRPr>
      </a:lvl4pPr>
      <a:lvl5pPr marL="2062749" indent="-229194" algn="l" defTabSz="916777" rtl="0" eaLnBrk="1" latinLnBrk="1" hangingPunct="1">
        <a:spcBef>
          <a:spcPct val="20000"/>
        </a:spcBef>
        <a:buFont typeface="Arial" pitchFamily="34" charset="0"/>
        <a:buChar char="»"/>
        <a:defRPr sz="2005" kern="1200">
          <a:solidFill>
            <a:schemeClr val="tx1"/>
          </a:solidFill>
          <a:latin typeface="Rix모던고딕 L" panose="02020603020101020101" pitchFamily="18" charset="-127"/>
          <a:ea typeface="Rix모던고딕 L" panose="02020603020101020101" pitchFamily="18" charset="-127"/>
          <a:cs typeface="+mn-cs"/>
        </a:defRPr>
      </a:lvl5pPr>
      <a:lvl6pPr marL="2521138" indent="-229194" algn="l" defTabSz="916777" rtl="0" eaLnBrk="1" latinLnBrk="1" hangingPunct="1">
        <a:spcBef>
          <a:spcPct val="20000"/>
        </a:spcBef>
        <a:buFont typeface="Arial" pitchFamily="34" charset="0"/>
        <a:buChar char="•"/>
        <a:defRPr sz="2005" kern="1200">
          <a:solidFill>
            <a:schemeClr val="tx1"/>
          </a:solidFill>
          <a:latin typeface="+mn-lt"/>
          <a:ea typeface="+mn-ea"/>
          <a:cs typeface="+mn-cs"/>
        </a:defRPr>
      </a:lvl6pPr>
      <a:lvl7pPr marL="2979527" indent="-229194" algn="l" defTabSz="916777" rtl="0" eaLnBrk="1" latinLnBrk="1" hangingPunct="1">
        <a:spcBef>
          <a:spcPct val="20000"/>
        </a:spcBef>
        <a:buFont typeface="Arial" pitchFamily="34" charset="0"/>
        <a:buChar char="•"/>
        <a:defRPr sz="2005" kern="1200">
          <a:solidFill>
            <a:schemeClr val="tx1"/>
          </a:solidFill>
          <a:latin typeface="+mn-lt"/>
          <a:ea typeface="+mn-ea"/>
          <a:cs typeface="+mn-cs"/>
        </a:defRPr>
      </a:lvl7pPr>
      <a:lvl8pPr marL="3437915" indent="-229194" algn="l" defTabSz="916777" rtl="0" eaLnBrk="1" latinLnBrk="1" hangingPunct="1">
        <a:spcBef>
          <a:spcPct val="20000"/>
        </a:spcBef>
        <a:buFont typeface="Arial" pitchFamily="34" charset="0"/>
        <a:buChar char="•"/>
        <a:defRPr sz="2005" kern="1200">
          <a:solidFill>
            <a:schemeClr val="tx1"/>
          </a:solidFill>
          <a:latin typeface="+mn-lt"/>
          <a:ea typeface="+mn-ea"/>
          <a:cs typeface="+mn-cs"/>
        </a:defRPr>
      </a:lvl8pPr>
      <a:lvl9pPr marL="3896304" indent="-229194" algn="l" defTabSz="916777" rtl="0" eaLnBrk="1" latinLnBrk="1" hangingPunct="1">
        <a:spcBef>
          <a:spcPct val="20000"/>
        </a:spcBef>
        <a:buFont typeface="Arial" pitchFamily="34" charset="0"/>
        <a:buChar char="•"/>
        <a:defRPr sz="2005" kern="1200">
          <a:solidFill>
            <a:schemeClr val="tx1"/>
          </a:solidFill>
          <a:latin typeface="+mn-lt"/>
          <a:ea typeface="+mn-ea"/>
          <a:cs typeface="+mn-cs"/>
        </a:defRPr>
      </a:lvl9pPr>
    </p:bodyStyle>
    <p:otherStyle>
      <a:defPPr>
        <a:defRPr lang="ko-KR"/>
      </a:defPPr>
      <a:lvl1pPr marL="0" algn="l" defTabSz="916777" rtl="0" eaLnBrk="1" latinLnBrk="1" hangingPunct="1">
        <a:defRPr sz="1805" kern="1200">
          <a:solidFill>
            <a:schemeClr val="tx1"/>
          </a:solidFill>
          <a:latin typeface="+mn-lt"/>
          <a:ea typeface="+mn-ea"/>
          <a:cs typeface="+mn-cs"/>
        </a:defRPr>
      </a:lvl1pPr>
      <a:lvl2pPr marL="458389" algn="l" defTabSz="916777" rtl="0" eaLnBrk="1" latinLnBrk="1" hangingPunct="1">
        <a:defRPr sz="1805" kern="1200">
          <a:solidFill>
            <a:schemeClr val="tx1"/>
          </a:solidFill>
          <a:latin typeface="+mn-lt"/>
          <a:ea typeface="+mn-ea"/>
          <a:cs typeface="+mn-cs"/>
        </a:defRPr>
      </a:lvl2pPr>
      <a:lvl3pPr marL="916777" algn="l" defTabSz="916777" rtl="0" eaLnBrk="1" latinLnBrk="1" hangingPunct="1">
        <a:defRPr sz="1805" kern="1200">
          <a:solidFill>
            <a:schemeClr val="tx1"/>
          </a:solidFill>
          <a:latin typeface="+mn-lt"/>
          <a:ea typeface="+mn-ea"/>
          <a:cs typeface="+mn-cs"/>
        </a:defRPr>
      </a:lvl3pPr>
      <a:lvl4pPr marL="1375166" algn="l" defTabSz="916777" rtl="0" eaLnBrk="1" latinLnBrk="1" hangingPunct="1">
        <a:defRPr sz="1805" kern="1200">
          <a:solidFill>
            <a:schemeClr val="tx1"/>
          </a:solidFill>
          <a:latin typeface="+mn-lt"/>
          <a:ea typeface="+mn-ea"/>
          <a:cs typeface="+mn-cs"/>
        </a:defRPr>
      </a:lvl4pPr>
      <a:lvl5pPr marL="1833555" algn="l" defTabSz="916777" rtl="0" eaLnBrk="1" latinLnBrk="1" hangingPunct="1">
        <a:defRPr sz="1805" kern="1200">
          <a:solidFill>
            <a:schemeClr val="tx1"/>
          </a:solidFill>
          <a:latin typeface="+mn-lt"/>
          <a:ea typeface="+mn-ea"/>
          <a:cs typeface="+mn-cs"/>
        </a:defRPr>
      </a:lvl5pPr>
      <a:lvl6pPr marL="2291944" algn="l" defTabSz="916777" rtl="0" eaLnBrk="1" latinLnBrk="1" hangingPunct="1">
        <a:defRPr sz="1805" kern="1200">
          <a:solidFill>
            <a:schemeClr val="tx1"/>
          </a:solidFill>
          <a:latin typeface="+mn-lt"/>
          <a:ea typeface="+mn-ea"/>
          <a:cs typeface="+mn-cs"/>
        </a:defRPr>
      </a:lvl6pPr>
      <a:lvl7pPr marL="2750332" algn="l" defTabSz="916777" rtl="0" eaLnBrk="1" latinLnBrk="1" hangingPunct="1">
        <a:defRPr sz="1805" kern="1200">
          <a:solidFill>
            <a:schemeClr val="tx1"/>
          </a:solidFill>
          <a:latin typeface="+mn-lt"/>
          <a:ea typeface="+mn-ea"/>
          <a:cs typeface="+mn-cs"/>
        </a:defRPr>
      </a:lvl7pPr>
      <a:lvl8pPr marL="3208721" algn="l" defTabSz="916777" rtl="0" eaLnBrk="1" latinLnBrk="1" hangingPunct="1">
        <a:defRPr sz="1805" kern="1200">
          <a:solidFill>
            <a:schemeClr val="tx1"/>
          </a:solidFill>
          <a:latin typeface="+mn-lt"/>
          <a:ea typeface="+mn-ea"/>
          <a:cs typeface="+mn-cs"/>
        </a:defRPr>
      </a:lvl8pPr>
      <a:lvl9pPr marL="3667110" algn="l" defTabSz="916777" rtl="0" eaLnBrk="1" latinLnBrk="1" hangingPunct="1">
        <a:defRPr sz="1805"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ko-KR" altLang="en-US"/>
              <a:t>마스터 제목 스타일 편집</a:t>
            </a:r>
          </a:p>
        </p:txBody>
      </p:sp>
      <p:sp>
        <p:nvSpPr>
          <p:cNvPr id="3" name="텍스트 개체 틀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날짜 개체 틀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73CABE0B-2BDA-44D9-83EA-6A1F9C08CE8D}" type="datetime1">
              <a:rPr lang="ko-KR" altLang="en-US" smtClean="0"/>
              <a:t>2026-06-13</a:t>
            </a:fld>
            <a:endParaRPr lang="ko-KR" altLang="en-US"/>
          </a:p>
        </p:txBody>
      </p:sp>
      <p:sp>
        <p:nvSpPr>
          <p:cNvPr id="5" name="바닥글 개체 틀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ko-KR" altLang="en-US"/>
          </a:p>
        </p:txBody>
      </p:sp>
      <p:sp>
        <p:nvSpPr>
          <p:cNvPr id="6" name="슬라이드 번호 개체 틀 5"/>
          <p:cNvSpPr>
            <a:spLocks noGrp="1"/>
          </p:cNvSpPr>
          <p:nvPr>
            <p:ph type="sldNum" sz="quarter" idx="4"/>
          </p:nvPr>
        </p:nvSpPr>
        <p:spPr>
          <a:xfrm>
            <a:off x="11125200" y="0"/>
            <a:ext cx="1066800" cy="694267"/>
          </a:xfrm>
          <a:prstGeom prst="rect">
            <a:avLst/>
          </a:prstGeom>
        </p:spPr>
        <p:txBody>
          <a:bodyPr vert="horz" lIns="91440" tIns="45720" rIns="91440" bIns="45720" rtlCol="0" anchor="ctr"/>
          <a:lstStyle>
            <a:lvl1pPr algn="ctr">
              <a:defRPr sz="3600" b="1" cap="none" spc="0">
                <a:ln w="12700">
                  <a:solidFill>
                    <a:schemeClr val="tx2">
                      <a:satMod val="155000"/>
                    </a:schemeClr>
                  </a:solidFill>
                  <a:prstDash val="solid"/>
                </a:ln>
                <a:solidFill>
                  <a:schemeClr val="bg2">
                    <a:tint val="85000"/>
                    <a:satMod val="155000"/>
                  </a:schemeClr>
                </a:solidFill>
                <a:effectLst/>
              </a:defRPr>
            </a:lvl1pPr>
          </a:lstStyle>
          <a:p>
            <a:fld id="{3875FC6C-1516-4DC4-8C58-3090F7D4F003}" type="slidenum">
              <a:rPr lang="ko-KR" altLang="en-US" smtClean="0"/>
              <a:pPr/>
              <a:t>‹#›</a:t>
            </a:fld>
            <a:endParaRPr lang="ko-KR" altLang="en-US"/>
          </a:p>
        </p:txBody>
      </p:sp>
    </p:spTree>
    <p:extLst>
      <p:ext uri="{BB962C8B-B14F-4D97-AF65-F5344CB8AC3E}">
        <p14:creationId xmlns:p14="http://schemas.microsoft.com/office/powerpoint/2010/main" val="3028920703"/>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4" r:id="rId12"/>
  </p:sldLayoutIdLst>
  <p:hf hdr="0" ftr="0" dt="0"/>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ko-KR" altLang="en-US"/>
              <a:t>마스터 제목 스타일 편집</a:t>
            </a:r>
          </a:p>
        </p:txBody>
      </p:sp>
      <p:sp>
        <p:nvSpPr>
          <p:cNvPr id="3" name="텍스트 개체 틀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날짜 개체 틀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16AA719-D96A-4F3C-897B-F269EE83DF44}" type="datetime1">
              <a:rPr lang="ko-KR" altLang="en-US" smtClean="0"/>
              <a:t>2026-06-13</a:t>
            </a:fld>
            <a:endParaRPr lang="ko-KR" altLang="en-US"/>
          </a:p>
        </p:txBody>
      </p:sp>
      <p:sp>
        <p:nvSpPr>
          <p:cNvPr id="5" name="바닥글 개체 틀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ko-KR" altLang="en-US"/>
          </a:p>
        </p:txBody>
      </p:sp>
      <p:sp>
        <p:nvSpPr>
          <p:cNvPr id="6" name="슬라이드 번호 개체 틀 5"/>
          <p:cNvSpPr>
            <a:spLocks noGrp="1"/>
          </p:cNvSpPr>
          <p:nvPr>
            <p:ph type="sldNum" sz="quarter" idx="4"/>
          </p:nvPr>
        </p:nvSpPr>
        <p:spPr>
          <a:xfrm>
            <a:off x="11129210" y="0"/>
            <a:ext cx="1062789" cy="733926"/>
          </a:xfrm>
          <a:prstGeom prst="rect">
            <a:avLst/>
          </a:prstGeom>
        </p:spPr>
        <p:txBody>
          <a:bodyPr vert="horz" lIns="91440" tIns="45720" rIns="91440" bIns="45720" rtlCol="0" anchor="ctr"/>
          <a:lstStyle>
            <a:lvl1pPr algn="ctr">
              <a:defRPr sz="3600" b="1" cap="none" spc="0">
                <a:ln w="12700">
                  <a:solidFill>
                    <a:schemeClr val="tx2">
                      <a:satMod val="155000"/>
                    </a:schemeClr>
                  </a:solidFill>
                  <a:prstDash val="solid"/>
                </a:ln>
                <a:solidFill>
                  <a:schemeClr val="bg2">
                    <a:tint val="85000"/>
                    <a:satMod val="155000"/>
                  </a:schemeClr>
                </a:solidFill>
                <a:effectLst/>
              </a:defRPr>
            </a:lvl1pPr>
          </a:lstStyle>
          <a:p>
            <a:fld id="{3875FC6C-1516-4DC4-8C58-3090F7D4F003}" type="slidenum">
              <a:rPr lang="ko-KR" altLang="en-US" smtClean="0"/>
              <a:pPr/>
              <a:t>‹#›</a:t>
            </a:fld>
            <a:endParaRPr lang="ko-KR" altLang="en-US" dirty="0"/>
          </a:p>
        </p:txBody>
      </p:sp>
    </p:spTree>
    <p:extLst>
      <p:ext uri="{BB962C8B-B14F-4D97-AF65-F5344CB8AC3E}">
        <p14:creationId xmlns:p14="http://schemas.microsoft.com/office/powerpoint/2010/main" val="2748634420"/>
      </p:ext>
    </p:extLst>
  </p:cSld>
  <p:clrMap bg1="lt1" tx1="dk1" bg2="lt2" tx2="dk2" accent1="accent1" accent2="accent2" accent3="accent3" accent4="accent4" accent5="accent5" accent6="accent6" hlink="hlink" folHlink="folHlink"/>
  <p:sldLayoutIdLst>
    <p:sldLayoutId id="2147483686" r:id="rId1"/>
    <p:sldLayoutId id="2147483687" r:id="rId2"/>
    <p:sldLayoutId id="2147483688" r:id="rId3"/>
    <p:sldLayoutId id="2147483689" r:id="rId4"/>
    <p:sldLayoutId id="2147483690" r:id="rId5"/>
    <p:sldLayoutId id="2147483691" r:id="rId6"/>
  </p:sldLayoutIdLst>
  <p:hf hdr="0" ftr="0" dt="0"/>
  <p:txStyles>
    <p:titleStyle>
      <a:lvl1pPr algn="l" defTabSz="914400" rtl="0" eaLnBrk="1" latinLnBrk="1"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5.xml"/></Relationships>
</file>

<file path=ppt/slides/_rels/slide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2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5.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7.xml"/></Relationships>
</file>

<file path=ppt/slides/_rels/slide1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3.xml"/><Relationship Id="rId1" Type="http://schemas.openxmlformats.org/officeDocument/2006/relationships/slideLayout" Target="../slideLayouts/slideLayout26.xml"/><Relationship Id="rId4" Type="http://schemas.openxmlformats.org/officeDocument/2006/relationships/image" Target="../media/image3.jpeg"/></Relationships>
</file>

<file path=ppt/slides/_rels/slide1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4.xml"/><Relationship Id="rId1" Type="http://schemas.openxmlformats.org/officeDocument/2006/relationships/slideLayout" Target="../slideLayouts/slideLayout2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7.xml"/></Relationships>
</file>

<file path=ppt/slides/_rels/slide1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6.xml"/><Relationship Id="rId1" Type="http://schemas.openxmlformats.org/officeDocument/2006/relationships/slideLayout" Target="../slideLayouts/slideLayout27.xml"/><Relationship Id="rId4" Type="http://schemas.openxmlformats.org/officeDocument/2006/relationships/image" Target="../media/image6.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7.xml"/></Relationships>
</file>

<file path=ppt/slides/_rels/slide2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0.xml"/><Relationship Id="rId1" Type="http://schemas.openxmlformats.org/officeDocument/2006/relationships/slideLayout" Target="../slideLayouts/slideLayout27.xml"/><Relationship Id="rId4" Type="http://schemas.openxmlformats.org/officeDocument/2006/relationships/image" Target="../media/image8.png"/></Relationships>
</file>

<file path=ppt/slides/_rels/slide22.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21.xml"/><Relationship Id="rId1" Type="http://schemas.openxmlformats.org/officeDocument/2006/relationships/slideLayout" Target="../slideLayouts/slideLayout27.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6.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6.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7.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73.xml"/><Relationship Id="rId1" Type="http://schemas.openxmlformats.org/officeDocument/2006/relationships/slideLayout" Target="../slideLayouts/slideLayout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24.xml.rels><?xml version="1.0" encoding="UTF-8" standalone="yes"?>
<Relationships xmlns="http://schemas.openxmlformats.org/package/2006/relationships"><Relationship Id="rId3" Type="http://schemas.openxmlformats.org/officeDocument/2006/relationships/image" Target="../media/image11.gif"/><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81.xml"/><Relationship Id="rId1" Type="http://schemas.openxmlformats.org/officeDocument/2006/relationships/slideLayout" Target="../slideLayouts/slideLayout2.xml"/><Relationship Id="rId4" Type="http://schemas.microsoft.com/office/2007/relationships/hdphoto" Target="../media/hdphoto1.wdp"/></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88.xml"/><Relationship Id="rId1" Type="http://schemas.openxmlformats.org/officeDocument/2006/relationships/slideLayout" Target="../slideLayouts/slideLayout1.xml"/><Relationship Id="rId5" Type="http://schemas.openxmlformats.org/officeDocument/2006/relationships/image" Target="../media/image15.png"/><Relationship Id="rId4" Type="http://schemas.openxmlformats.org/officeDocument/2006/relationships/image" Target="../media/image14.png"/></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1.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7.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3.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3.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3.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3.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1.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1.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1.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1.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3" Type="http://schemas.openxmlformats.org/officeDocument/2006/relationships/image" Target="../media/image17.jpeg"/><Relationship Id="rId7" Type="http://schemas.openxmlformats.org/officeDocument/2006/relationships/image" Target="../media/image19.jpeg"/><Relationship Id="rId2" Type="http://schemas.openxmlformats.org/officeDocument/2006/relationships/hyperlink" Target="http://anyf.co.kr/mart7/mall.php?cat=062004001&amp;query=view&amp;no=31166" TargetMode="External"/><Relationship Id="rId1" Type="http://schemas.openxmlformats.org/officeDocument/2006/relationships/slideLayout" Target="../slideLayouts/slideLayout2.xml"/><Relationship Id="rId6" Type="http://schemas.openxmlformats.org/officeDocument/2006/relationships/hyperlink" Target="http://anyf.co.kr/mart7/mall.php?cat=062004001&amp;query=view&amp;no=31162" TargetMode="External"/><Relationship Id="rId5" Type="http://schemas.openxmlformats.org/officeDocument/2006/relationships/image" Target="../media/image18.jpeg"/><Relationship Id="rId4" Type="http://schemas.openxmlformats.org/officeDocument/2006/relationships/hyperlink" Target="http://anyf.co.kr/mart7/mall.php?cat=080001002&amp;query=view&amp;no=28749" TargetMode="External"/></Relationships>
</file>

<file path=ppt/slides/_rels/slide335.xml.rels><?xml version="1.0" encoding="UTF-8" standalone="yes"?>
<Relationships xmlns="http://schemas.openxmlformats.org/package/2006/relationships"><Relationship Id="rId8" Type="http://schemas.openxmlformats.org/officeDocument/2006/relationships/hyperlink" Target="http://anyf.co.kr/mart7/mall.php?cat=062004001&amp;query=view&amp;no=31166" TargetMode="External"/><Relationship Id="rId3" Type="http://schemas.openxmlformats.org/officeDocument/2006/relationships/image" Target="../media/image20.jpeg"/><Relationship Id="rId7" Type="http://schemas.openxmlformats.org/officeDocument/2006/relationships/image" Target="../media/image18.jpeg"/><Relationship Id="rId2" Type="http://schemas.openxmlformats.org/officeDocument/2006/relationships/hyperlink" Target="http://anyf.co.kr/mart7/mall.php?cat=080001002&amp;query=view&amp;no=28747" TargetMode="External"/><Relationship Id="rId1" Type="http://schemas.openxmlformats.org/officeDocument/2006/relationships/slideLayout" Target="../slideLayouts/slideLayout2.xml"/><Relationship Id="rId6" Type="http://schemas.openxmlformats.org/officeDocument/2006/relationships/hyperlink" Target="http://anyf.co.kr/mart7/mall.php?cat=080001002&amp;query=view&amp;no=28749" TargetMode="External"/><Relationship Id="rId11" Type="http://schemas.openxmlformats.org/officeDocument/2006/relationships/image" Target="../media/image19.jpeg"/><Relationship Id="rId5" Type="http://schemas.openxmlformats.org/officeDocument/2006/relationships/image" Target="../media/image21.jpeg"/><Relationship Id="rId10" Type="http://schemas.openxmlformats.org/officeDocument/2006/relationships/hyperlink" Target="http://anyf.co.kr/mart7/mall.php?cat=062004001&amp;query=view&amp;no=31162" TargetMode="External"/><Relationship Id="rId4" Type="http://schemas.openxmlformats.org/officeDocument/2006/relationships/hyperlink" Target="http://anyf.co.kr/mart7/mall.php?cat=080001002&amp;query=view&amp;no=28748" TargetMode="External"/><Relationship Id="rId9" Type="http://schemas.openxmlformats.org/officeDocument/2006/relationships/image" Target="../media/image17.jpeg"/></Relationships>
</file>

<file path=ppt/slides/_rels/slide336.xml.rels><?xml version="1.0" encoding="UTF-8" standalone="yes"?>
<Relationships xmlns="http://schemas.openxmlformats.org/package/2006/relationships"><Relationship Id="rId8" Type="http://schemas.openxmlformats.org/officeDocument/2006/relationships/hyperlink" Target="http://anyf.co.kr/mart7/mall.php?cat=062004001&amp;query=view&amp;no=31160" TargetMode="External"/><Relationship Id="rId13" Type="http://schemas.openxmlformats.org/officeDocument/2006/relationships/image" Target="../media/image21.jpeg"/><Relationship Id="rId3" Type="http://schemas.openxmlformats.org/officeDocument/2006/relationships/image" Target="../media/image20.jpeg"/><Relationship Id="rId7" Type="http://schemas.openxmlformats.org/officeDocument/2006/relationships/image" Target="../media/image23.jpeg"/><Relationship Id="rId12" Type="http://schemas.openxmlformats.org/officeDocument/2006/relationships/hyperlink" Target="http://anyf.co.kr/mart7/mall.php?cat=080001002&amp;query=view&amp;no=28748" TargetMode="External"/><Relationship Id="rId2" Type="http://schemas.openxmlformats.org/officeDocument/2006/relationships/hyperlink" Target="http://anyf.co.kr/mart7/mall.php?cat=080001002&amp;query=view&amp;no=28747" TargetMode="External"/><Relationship Id="rId1" Type="http://schemas.openxmlformats.org/officeDocument/2006/relationships/slideLayout" Target="../slideLayouts/slideLayout2.xml"/><Relationship Id="rId6" Type="http://schemas.openxmlformats.org/officeDocument/2006/relationships/hyperlink" Target="http://anyf.co.kr/mart7/mall.php?cat=062004001&amp;query=view&amp;no=31157" TargetMode="External"/><Relationship Id="rId11" Type="http://schemas.openxmlformats.org/officeDocument/2006/relationships/image" Target="../media/image17.jpeg"/><Relationship Id="rId5" Type="http://schemas.openxmlformats.org/officeDocument/2006/relationships/image" Target="../media/image22.jpeg"/><Relationship Id="rId10" Type="http://schemas.openxmlformats.org/officeDocument/2006/relationships/hyperlink" Target="http://anyf.co.kr/mart7/mall.php?cat=062004001&amp;query=view&amp;no=31166" TargetMode="External"/><Relationship Id="rId4" Type="http://schemas.openxmlformats.org/officeDocument/2006/relationships/hyperlink" Target="http://anyf.co.kr/mart7/mall.php?cat=062005002&amp;query=view&amp;no=31687" TargetMode="External"/><Relationship Id="rId9" Type="http://schemas.openxmlformats.org/officeDocument/2006/relationships/image" Target="../media/image24.jpeg"/></Relationships>
</file>

<file path=ppt/slides/_rels/slide337.xml.rels><?xml version="1.0" encoding="UTF-8" standalone="yes"?>
<Relationships xmlns="http://schemas.openxmlformats.org/package/2006/relationships"><Relationship Id="rId8" Type="http://schemas.openxmlformats.org/officeDocument/2006/relationships/hyperlink" Target="http://anyf.co.kr/mart7/mall.php?cat=062004001&amp;query=view&amp;no=31166" TargetMode="External"/><Relationship Id="rId13" Type="http://schemas.openxmlformats.org/officeDocument/2006/relationships/image" Target="../media/image24.jpeg"/><Relationship Id="rId3" Type="http://schemas.openxmlformats.org/officeDocument/2006/relationships/image" Target="../media/image25.jpeg"/><Relationship Id="rId7" Type="http://schemas.openxmlformats.org/officeDocument/2006/relationships/image" Target="../media/image23.jpeg"/><Relationship Id="rId12" Type="http://schemas.openxmlformats.org/officeDocument/2006/relationships/hyperlink" Target="http://anyf.co.kr/mart7/mall.php?cat=062004001&amp;query=view&amp;no=31160" TargetMode="External"/><Relationship Id="rId2" Type="http://schemas.openxmlformats.org/officeDocument/2006/relationships/hyperlink" Target="http://anyf.co.kr/mart7/mall.php?cat=062006001&amp;query=view&amp;no=30961" TargetMode="External"/><Relationship Id="rId1" Type="http://schemas.openxmlformats.org/officeDocument/2006/relationships/slideLayout" Target="../slideLayouts/slideLayout2.xml"/><Relationship Id="rId6" Type="http://schemas.openxmlformats.org/officeDocument/2006/relationships/hyperlink" Target="http://anyf.co.kr/mart7/mall.php?cat=062004001&amp;query=view&amp;no=31157" TargetMode="External"/><Relationship Id="rId11" Type="http://schemas.openxmlformats.org/officeDocument/2006/relationships/image" Target="../media/image22.jpeg"/><Relationship Id="rId5" Type="http://schemas.openxmlformats.org/officeDocument/2006/relationships/image" Target="../media/image21.jpeg"/><Relationship Id="rId10" Type="http://schemas.openxmlformats.org/officeDocument/2006/relationships/hyperlink" Target="http://anyf.co.kr/mart7/mall.php?cat=062005002&amp;query=view&amp;no=31687" TargetMode="External"/><Relationship Id="rId4" Type="http://schemas.openxmlformats.org/officeDocument/2006/relationships/hyperlink" Target="http://anyf.co.kr/mart7/mall.php?cat=080001002&amp;query=view&amp;no=28748" TargetMode="External"/><Relationship Id="rId9" Type="http://schemas.openxmlformats.org/officeDocument/2006/relationships/image" Target="../media/image17.jpeg"/></Relationships>
</file>

<file path=ppt/slides/_rels/slide338.xml.rels><?xml version="1.0" encoding="UTF-8" standalone="yes"?>
<Relationships xmlns="http://schemas.openxmlformats.org/package/2006/relationships"><Relationship Id="rId8" Type="http://schemas.openxmlformats.org/officeDocument/2006/relationships/hyperlink" Target="http://anyf.co.kr/mart7/mall.php?cat=080001002&amp;query=view&amp;no=28747" TargetMode="External"/><Relationship Id="rId13" Type="http://schemas.openxmlformats.org/officeDocument/2006/relationships/image" Target="../media/image24.jpeg"/><Relationship Id="rId18" Type="http://schemas.openxmlformats.org/officeDocument/2006/relationships/hyperlink" Target="http://anyf.co.kr/mart7/mall.php?cat=062006001&amp;query=view&amp;no=30961" TargetMode="External"/><Relationship Id="rId3" Type="http://schemas.openxmlformats.org/officeDocument/2006/relationships/image" Target="../media/image17.jpeg"/><Relationship Id="rId7" Type="http://schemas.openxmlformats.org/officeDocument/2006/relationships/image" Target="../media/image19.jpeg"/><Relationship Id="rId12" Type="http://schemas.openxmlformats.org/officeDocument/2006/relationships/hyperlink" Target="http://anyf.co.kr/mart7/mall.php?cat=062004001&amp;query=view&amp;no=31160" TargetMode="External"/><Relationship Id="rId17" Type="http://schemas.openxmlformats.org/officeDocument/2006/relationships/image" Target="../media/image22.jpeg"/><Relationship Id="rId2" Type="http://schemas.openxmlformats.org/officeDocument/2006/relationships/hyperlink" Target="http://anyf.co.kr/mart7/mall.php?cat=062004001&amp;query=view&amp;no=31166" TargetMode="External"/><Relationship Id="rId16" Type="http://schemas.openxmlformats.org/officeDocument/2006/relationships/hyperlink" Target="http://anyf.co.kr/mart7/mall.php?cat=062005002&amp;query=view&amp;no=31687" TargetMode="External"/><Relationship Id="rId1" Type="http://schemas.openxmlformats.org/officeDocument/2006/relationships/slideLayout" Target="../slideLayouts/slideLayout2.xml"/><Relationship Id="rId6" Type="http://schemas.openxmlformats.org/officeDocument/2006/relationships/hyperlink" Target="http://anyf.co.kr/mart7/mall.php?cat=062004001&amp;query=view&amp;no=31162" TargetMode="External"/><Relationship Id="rId11" Type="http://schemas.openxmlformats.org/officeDocument/2006/relationships/image" Target="../media/image21.jpeg"/><Relationship Id="rId5" Type="http://schemas.openxmlformats.org/officeDocument/2006/relationships/image" Target="../media/image18.jpeg"/><Relationship Id="rId15" Type="http://schemas.openxmlformats.org/officeDocument/2006/relationships/image" Target="../media/image23.jpeg"/><Relationship Id="rId10" Type="http://schemas.openxmlformats.org/officeDocument/2006/relationships/hyperlink" Target="http://anyf.co.kr/mart7/mall.php?cat=080001002&amp;query=view&amp;no=28748" TargetMode="External"/><Relationship Id="rId19" Type="http://schemas.openxmlformats.org/officeDocument/2006/relationships/image" Target="../media/image26.jpeg"/><Relationship Id="rId4" Type="http://schemas.openxmlformats.org/officeDocument/2006/relationships/hyperlink" Target="http://anyf.co.kr/mart7/mall.php?cat=080001002&amp;query=view&amp;no=28749" TargetMode="External"/><Relationship Id="rId9" Type="http://schemas.openxmlformats.org/officeDocument/2006/relationships/image" Target="../media/image20.jpeg"/><Relationship Id="rId14" Type="http://schemas.openxmlformats.org/officeDocument/2006/relationships/hyperlink" Target="http://anyf.co.kr/mart7/mall.php?cat=062004001&amp;query=view&amp;no=31157" TargetMode="Externa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3.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1.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1.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39.xml"/><Relationship Id="rId1" Type="http://schemas.openxmlformats.org/officeDocument/2006/relationships/slideLayout" Target="../slideLayouts/slideLayout1.xml"/><Relationship Id="rId6" Type="http://schemas.openxmlformats.org/officeDocument/2006/relationships/image" Target="../media/image30.png"/><Relationship Id="rId5" Type="http://schemas.openxmlformats.org/officeDocument/2006/relationships/image" Target="../media/image29.png"/><Relationship Id="rId4" Type="http://schemas.openxmlformats.org/officeDocument/2006/relationships/image" Target="../media/image28.png"/></Relationships>
</file>

<file path=ppt/slides/_rels/slide345.xml.rels><?xml version="1.0" encoding="UTF-8" standalone="yes"?>
<Relationships xmlns="http://schemas.openxmlformats.org/package/2006/relationships"><Relationship Id="rId8" Type="http://schemas.openxmlformats.org/officeDocument/2006/relationships/image" Target="../media/image36.emf"/><Relationship Id="rId3" Type="http://schemas.openxmlformats.org/officeDocument/2006/relationships/image" Target="../media/image31.emf"/><Relationship Id="rId7" Type="http://schemas.openxmlformats.org/officeDocument/2006/relationships/image" Target="../media/image35.emf"/><Relationship Id="rId2" Type="http://schemas.openxmlformats.org/officeDocument/2006/relationships/notesSlide" Target="../notesSlides/notesSlide140.xml"/><Relationship Id="rId1" Type="http://schemas.openxmlformats.org/officeDocument/2006/relationships/slideLayout" Target="../slideLayouts/slideLayout1.xml"/><Relationship Id="rId6" Type="http://schemas.openxmlformats.org/officeDocument/2006/relationships/image" Target="../media/image34.emf"/><Relationship Id="rId5" Type="http://schemas.openxmlformats.org/officeDocument/2006/relationships/image" Target="../media/image33.emf"/><Relationship Id="rId4" Type="http://schemas.openxmlformats.org/officeDocument/2006/relationships/image" Target="../media/image32.emf"/></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1.xml"/></Relationships>
</file>

<file path=ppt/slides/_rels/slide347.xml.rels><?xml version="1.0" encoding="UTF-8" standalone="yes"?>
<Relationships xmlns="http://schemas.openxmlformats.org/package/2006/relationships"><Relationship Id="rId3" Type="http://schemas.openxmlformats.org/officeDocument/2006/relationships/image" Target="../media/image37.emf"/><Relationship Id="rId2" Type="http://schemas.openxmlformats.org/officeDocument/2006/relationships/notesSlide" Target="../notesSlides/notesSlide142.xml"/><Relationship Id="rId1" Type="http://schemas.openxmlformats.org/officeDocument/2006/relationships/slideLayout" Target="../slideLayouts/slideLayout1.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1.xml"/></Relationships>
</file>

<file path=ppt/slides/_rels/slide349.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44.xml"/><Relationship Id="rId1" Type="http://schemas.openxmlformats.org/officeDocument/2006/relationships/slideLayout" Target="../slideLayouts/slideLayout1.xml"/></Relationships>
</file>

<file path=ppt/slides/_rels/slide350.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1.xml"/></Relationships>
</file>

<file path=ppt/slides/_rels/slide351.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xml"/></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xml"/></Relationships>
</file>

<file path=ppt/slides/_rels/slide35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48.xml"/><Relationship Id="rId1" Type="http://schemas.openxmlformats.org/officeDocument/2006/relationships/slideLayout" Target="../slideLayouts/slideLayout1.xml"/><Relationship Id="rId5" Type="http://schemas.openxmlformats.org/officeDocument/2006/relationships/image" Target="../media/image15.png"/><Relationship Id="rId4" Type="http://schemas.openxmlformats.org/officeDocument/2006/relationships/image" Target="../media/image14.png"/></Relationships>
</file>

<file path=ppt/slides/_rels/slide35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49.xml"/><Relationship Id="rId1" Type="http://schemas.openxmlformats.org/officeDocument/2006/relationships/slideLayout" Target="../slideLayouts/slideLayout1.xml"/><Relationship Id="rId5" Type="http://schemas.microsoft.com/office/2007/relationships/hdphoto" Target="../media/hdphoto2.wdp"/><Relationship Id="rId4" Type="http://schemas.openxmlformats.org/officeDocument/2006/relationships/image" Target="../media/image40.png"/></Relationships>
</file>

<file path=ppt/slides/_rels/slide355.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1.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1.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1.xml"/></Relationships>
</file>

<file path=ppt/slides/_rels/slide359.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360.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2.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9.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2.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3.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2.xml"/></Relationships>
</file>

<file path=ppt/slides/_rels/slide374.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384.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1.xml"/></Relationships>
</file>

<file path=ppt/slides/_rels/slide385.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7.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388.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1.xml"/></Relationships>
</file>

<file path=ppt/slides/_rels/slide389.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390.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xml"/></Relationships>
</file>

<file path=ppt/slides/_rels/slide391.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392.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393.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394.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2.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8.xml.rels><?xml version="1.0" encoding="UTF-8" standalone="yes"?>
<Relationships xmlns="http://schemas.openxmlformats.org/package/2006/relationships"><Relationship Id="rId2" Type="http://schemas.openxmlformats.org/officeDocument/2006/relationships/image" Target="../media/image41.wmf"/><Relationship Id="rId1" Type="http://schemas.openxmlformats.org/officeDocument/2006/relationships/slideLayout" Target="../slideLayouts/slideLayout1.xml"/></Relationships>
</file>

<file path=ppt/slides/_rels/slide39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1.xml"/></Relationships>
</file>

<file path=ppt/slides/_rels/slide400.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image" Target="../media/image43.png"/><Relationship Id="rId1" Type="http://schemas.openxmlformats.org/officeDocument/2006/relationships/slideLayout" Target="../slideLayouts/slideLayout1.xml"/><Relationship Id="rId4" Type="http://schemas.openxmlformats.org/officeDocument/2006/relationships/image" Target="../media/image45.emf"/></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4.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1.xml"/></Relationships>
</file>

<file path=ppt/slides/_rels/slide405.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1.xml"/></Relationships>
</file>

<file path=ppt/slides/_rels/slide406.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1.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0.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172.xml"/><Relationship Id="rId1" Type="http://schemas.openxmlformats.org/officeDocument/2006/relationships/slideLayout" Target="../slideLayouts/slideLayout1.xml"/><Relationship Id="rId4" Type="http://schemas.openxmlformats.org/officeDocument/2006/relationships/image" Target="../media/image47.png"/></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4.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415.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416.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1.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8.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1.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3.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4.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3.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0.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3.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2.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6.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1.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4.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1.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1.xml"/></Relationships>
</file>

<file path=ppt/slides/_rels/slide467.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1.xml"/></Relationships>
</file>

<file path=ppt/slides/_rels/slide468.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1.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3.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1.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0.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3.xml"/></Relationships>
</file>

<file path=ppt/slides/_rels/slide531.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3.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7.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1.xml"/></Relationships>
</file>

<file path=ppt/slides/_rels/slide548.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3.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552.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14.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554.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14.xml"/></Relationships>
</file>

<file path=ppt/slides/_rels/slide555.xml.rels><?xml version="1.0" encoding="UTF-8" standalone="yes"?>
<Relationships xmlns="http://schemas.openxmlformats.org/package/2006/relationships"><Relationship Id="rId3" Type="http://schemas.openxmlformats.org/officeDocument/2006/relationships/image" Target="../media/image49.wmf"/><Relationship Id="rId2" Type="http://schemas.openxmlformats.org/officeDocument/2006/relationships/notesSlide" Target="../notesSlides/notesSlide193.xml"/><Relationship Id="rId1" Type="http://schemas.openxmlformats.org/officeDocument/2006/relationships/slideLayout" Target="../slideLayouts/slideLayout14.xml"/><Relationship Id="rId4" Type="http://schemas.openxmlformats.org/officeDocument/2006/relationships/image" Target="../media/image50.gif"/></Relationships>
</file>

<file path=ppt/slides/_rels/slide556.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14.xml"/></Relationships>
</file>

<file path=ppt/slides/_rels/slide557.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195.xml"/><Relationship Id="rId1" Type="http://schemas.openxmlformats.org/officeDocument/2006/relationships/slideLayout" Target="../slideLayouts/slideLayout14.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558.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14.xml"/></Relationships>
</file>

<file path=ppt/slides/_rels/slide559.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14.xml"/></Relationships>
</file>

<file path=ppt/slides/_rels/slide560.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14.xml"/></Relationships>
</file>

<file path=ppt/slides/_rels/slide561.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14.xml"/></Relationships>
</file>

<file path=ppt/slides/_rels/slide562.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14.xml"/></Relationships>
</file>

<file path=ppt/slides/_rels/slide563.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14.xml"/></Relationships>
</file>

<file path=ppt/slides/_rels/slide564.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13.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566.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13.xml"/></Relationships>
</file>

<file path=ppt/slides/_rels/slide567.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13.xml"/></Relationships>
</file>

<file path=ppt/slides/_rels/slide568.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13.xml"/></Relationships>
</file>

<file path=ppt/slides/_rels/slide569.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13.xml"/></Relationships>
</file>

<file path=ppt/slides/_rels/slide570.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13.xml"/></Relationships>
</file>

<file path=ppt/slides/_rels/slide571.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13.xml"/></Relationships>
</file>

<file path=ppt/slides/_rels/slide572.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13.xml"/></Relationships>
</file>

<file path=ppt/slides/_rels/slide573.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13.xml"/></Relationships>
</file>

<file path=ppt/slides/_rels/slide574.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13.xml"/></Relationships>
</file>

<file path=ppt/slides/_rels/slide575.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13.xml"/></Relationships>
</file>

<file path=ppt/slides/_rels/slide576.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13.xml"/></Relationships>
</file>

<file path=ppt/slides/_rels/slide577.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13.xml"/></Relationships>
</file>

<file path=ppt/slides/_rels/slide578.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13.xml"/></Relationships>
</file>

<file path=ppt/slides/_rels/slide57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0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60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 name="직사각형 11"/>
          <p:cNvSpPr/>
          <p:nvPr/>
        </p:nvSpPr>
        <p:spPr>
          <a:xfrm>
            <a:off x="11129211" y="44623"/>
            <a:ext cx="1062789" cy="966965"/>
          </a:xfrm>
          <a:prstGeom prst="rect">
            <a:avLst/>
          </a:prstGeom>
          <a:solidFill>
            <a:schemeClr val="tx1">
              <a:lumMod val="65000"/>
              <a:lumOff val="3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accent4"/>
                </a:solidFill>
              </a:rPr>
              <a:t>총칙</a:t>
            </a:r>
            <a:r>
              <a:rPr lang="en-US" altLang="ko-KR" sz="2000" b="1" dirty="0">
                <a:solidFill>
                  <a:schemeClr val="accent4"/>
                </a:solidFill>
              </a:rPr>
              <a:t>/</a:t>
            </a:r>
          </a:p>
          <a:p>
            <a:pPr algn="ctr"/>
            <a:r>
              <a:rPr lang="ko-KR" altLang="en-US" sz="2000" b="1" dirty="0" err="1">
                <a:solidFill>
                  <a:schemeClr val="accent4"/>
                </a:solidFill>
              </a:rPr>
              <a:t>보칙</a:t>
            </a:r>
            <a:endParaRPr lang="ko-KR" altLang="en-US" sz="2000" b="1" dirty="0">
              <a:solidFill>
                <a:schemeClr val="accent4"/>
              </a:solidFill>
            </a:endParaRPr>
          </a:p>
        </p:txBody>
      </p:sp>
      <p:sp>
        <p:nvSpPr>
          <p:cNvPr id="13" name="직사각형 12"/>
          <p:cNvSpPr/>
          <p:nvPr/>
        </p:nvSpPr>
        <p:spPr>
          <a:xfrm>
            <a:off x="11129211" y="1011588"/>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특허</a:t>
            </a:r>
            <a:endParaRPr lang="en-US" altLang="ko-KR" sz="2000" b="1" dirty="0"/>
          </a:p>
          <a:p>
            <a:pPr algn="ctr"/>
            <a:r>
              <a:rPr lang="ko-KR" altLang="en-US" sz="2000" b="1" dirty="0"/>
              <a:t>요건</a:t>
            </a:r>
          </a:p>
        </p:txBody>
      </p:sp>
      <p:sp>
        <p:nvSpPr>
          <p:cNvPr id="14" name="직사각형 13"/>
          <p:cNvSpPr/>
          <p:nvPr/>
        </p:nvSpPr>
        <p:spPr>
          <a:xfrm>
            <a:off x="11129211" y="1978552"/>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이익</a:t>
            </a:r>
            <a:endParaRPr lang="en-US" altLang="ko-KR" sz="2000" b="1" dirty="0"/>
          </a:p>
          <a:p>
            <a:pPr algn="ctr"/>
            <a:r>
              <a:rPr lang="ko-KR" altLang="en-US" sz="2000" b="1" dirty="0"/>
              <a:t>제도</a:t>
            </a:r>
          </a:p>
        </p:txBody>
      </p:sp>
      <p:sp>
        <p:nvSpPr>
          <p:cNvPr id="15" name="직사각형 14"/>
          <p:cNvSpPr/>
          <p:nvPr/>
        </p:nvSpPr>
        <p:spPr>
          <a:xfrm>
            <a:off x="11129211" y="2945517"/>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심사</a:t>
            </a:r>
            <a:endParaRPr lang="en-US" altLang="ko-KR" sz="2000" b="1" dirty="0"/>
          </a:p>
          <a:p>
            <a:pPr algn="ctr"/>
            <a:r>
              <a:rPr lang="en-US" altLang="ko-KR" sz="2000" b="1" dirty="0"/>
              <a:t>(</a:t>
            </a:r>
            <a:r>
              <a:rPr lang="ko-KR" altLang="en-US" sz="2000" b="1" dirty="0"/>
              <a:t>제도</a:t>
            </a:r>
            <a:r>
              <a:rPr lang="en-US" altLang="ko-KR" sz="2000" b="1" dirty="0"/>
              <a:t>)</a:t>
            </a:r>
            <a:endParaRPr lang="ko-KR" altLang="en-US" sz="2000" b="1" dirty="0"/>
          </a:p>
        </p:txBody>
      </p:sp>
      <p:sp>
        <p:nvSpPr>
          <p:cNvPr id="16" name="직사각형 15"/>
          <p:cNvSpPr/>
          <p:nvPr/>
        </p:nvSpPr>
        <p:spPr>
          <a:xfrm>
            <a:off x="11129211" y="3912483"/>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특허권</a:t>
            </a:r>
          </a:p>
        </p:txBody>
      </p:sp>
      <p:sp>
        <p:nvSpPr>
          <p:cNvPr id="17" name="직사각형 16"/>
          <p:cNvSpPr/>
          <p:nvPr/>
        </p:nvSpPr>
        <p:spPr>
          <a:xfrm>
            <a:off x="11129211" y="4879448"/>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심판</a:t>
            </a:r>
            <a:r>
              <a:rPr lang="en-US" altLang="ko-KR" sz="2000" b="1" dirty="0"/>
              <a:t>/</a:t>
            </a:r>
          </a:p>
          <a:p>
            <a:pPr algn="ctr"/>
            <a:r>
              <a:rPr lang="ko-KR" altLang="en-US" sz="2000" b="1" dirty="0"/>
              <a:t>소송</a:t>
            </a:r>
          </a:p>
        </p:txBody>
      </p:sp>
      <p:sp>
        <p:nvSpPr>
          <p:cNvPr id="18" name="직사각형 17"/>
          <p:cNvSpPr/>
          <p:nvPr/>
        </p:nvSpPr>
        <p:spPr>
          <a:xfrm>
            <a:off x="11129211" y="5846412"/>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2000" b="1" dirty="0"/>
              <a:t>PCT</a:t>
            </a:r>
            <a:endParaRPr lang="ko-KR" altLang="en-US" sz="2000" b="1" dirty="0"/>
          </a:p>
        </p:txBody>
      </p:sp>
      <p:sp>
        <p:nvSpPr>
          <p:cNvPr id="21" name="제목 1">
            <a:extLst>
              <a:ext uri="{FF2B5EF4-FFF2-40B4-BE49-F238E27FC236}">
                <a16:creationId xmlns:a16="http://schemas.microsoft.com/office/drawing/2014/main" id="{659FB31F-8893-589E-D96C-BD44EFC8E761}"/>
              </a:ext>
            </a:extLst>
          </p:cNvPr>
          <p:cNvSpPr txBox="1">
            <a:spLocks/>
          </p:cNvSpPr>
          <p:nvPr/>
        </p:nvSpPr>
        <p:spPr>
          <a:xfrm>
            <a:off x="1961128" y="1991045"/>
            <a:ext cx="7162800" cy="1193800"/>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2400" kern="1200">
                <a:solidFill>
                  <a:schemeClr val="accent4"/>
                </a:solidFill>
                <a:latin typeface="Rix모던명조 B" panose="02020603020101020101" pitchFamily="18" charset="-127"/>
                <a:ea typeface="Rix모던명조 B" panose="02020603020101020101" pitchFamily="18" charset="-127"/>
                <a:cs typeface="+mj-cs"/>
              </a:defRPr>
            </a:lvl1pPr>
          </a:lstStyle>
          <a:p>
            <a:r>
              <a:rPr lang="ko-KR" altLang="en-US" sz="8000" dirty="0">
                <a:solidFill>
                  <a:schemeClr val="tx1">
                    <a:lumMod val="50000"/>
                    <a:lumOff val="50000"/>
                  </a:schemeClr>
                </a:solidFill>
                <a:latin typeface="Rix모던고딕 EB" panose="02020603020101020101" pitchFamily="18" charset="-127"/>
                <a:ea typeface="Rix모던고딕 EB" panose="02020603020101020101" pitchFamily="18" charset="-127"/>
              </a:rPr>
              <a:t>특허법 강의노트</a:t>
            </a:r>
          </a:p>
        </p:txBody>
      </p:sp>
      <p:sp>
        <p:nvSpPr>
          <p:cNvPr id="22" name="제목 1">
            <a:extLst>
              <a:ext uri="{FF2B5EF4-FFF2-40B4-BE49-F238E27FC236}">
                <a16:creationId xmlns:a16="http://schemas.microsoft.com/office/drawing/2014/main" id="{5BEF12BF-7E29-93F0-83B2-F81F53C94BF9}"/>
              </a:ext>
            </a:extLst>
          </p:cNvPr>
          <p:cNvSpPr txBox="1">
            <a:spLocks/>
          </p:cNvSpPr>
          <p:nvPr/>
        </p:nvSpPr>
        <p:spPr>
          <a:xfrm>
            <a:off x="2185246" y="3197545"/>
            <a:ext cx="6684682" cy="104455"/>
          </a:xfrm>
          <a:prstGeom prst="rect">
            <a:avLst/>
          </a:prstGeom>
          <a:solidFill>
            <a:schemeClr val="bg2">
              <a:lumMod val="90000"/>
            </a:schemeClr>
          </a:solidFill>
        </p:spPr>
        <p:txBody>
          <a:bodyPr vert="horz" lIns="540000" tIns="0" rIns="54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pPr algn="dist"/>
            <a:endParaRPr lang="ko-KR" altLang="en-US" sz="4000" dirty="0">
              <a:solidFill>
                <a:schemeClr val="accent4"/>
              </a:solidFill>
              <a:latin typeface="+mn-ea"/>
              <a:ea typeface="+mn-ea"/>
              <a:cs typeface="Tahoma" panose="020B0604030504040204" pitchFamily="34" charset="0"/>
            </a:endParaRPr>
          </a:p>
        </p:txBody>
      </p:sp>
      <p:sp>
        <p:nvSpPr>
          <p:cNvPr id="23" name="제목 1">
            <a:extLst>
              <a:ext uri="{FF2B5EF4-FFF2-40B4-BE49-F238E27FC236}">
                <a16:creationId xmlns:a16="http://schemas.microsoft.com/office/drawing/2014/main" id="{44AAFD81-C4E6-5CB5-9106-863F7748ADDC}"/>
              </a:ext>
            </a:extLst>
          </p:cNvPr>
          <p:cNvSpPr txBox="1">
            <a:spLocks/>
          </p:cNvSpPr>
          <p:nvPr/>
        </p:nvSpPr>
        <p:spPr>
          <a:xfrm>
            <a:off x="4565375" y="4873198"/>
            <a:ext cx="1954306" cy="649061"/>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r>
              <a:rPr lang="en-US" altLang="ko-KR" sz="3600">
                <a:solidFill>
                  <a:schemeClr val="tx1">
                    <a:lumMod val="50000"/>
                    <a:lumOff val="50000"/>
                  </a:schemeClr>
                </a:solidFill>
                <a:latin typeface="Rix모던고딕 EB" panose="02020603020101020101" pitchFamily="18" charset="-127"/>
                <a:ea typeface="Rix모던고딕 EB" panose="02020603020101020101" pitchFamily="18" charset="-127"/>
              </a:rPr>
              <a:t>2026</a:t>
            </a:r>
            <a:endParaRPr lang="ko-KR" altLang="en-US" sz="3600" dirty="0">
              <a:solidFill>
                <a:schemeClr val="tx1">
                  <a:lumMod val="50000"/>
                  <a:lumOff val="50000"/>
                </a:schemeClr>
              </a:solidFill>
              <a:latin typeface="Rix모던고딕 EB" panose="02020603020101020101" pitchFamily="18" charset="-127"/>
              <a:ea typeface="Rix모던고딕 EB" panose="02020603020101020101" pitchFamily="18" charset="-127"/>
            </a:endParaRPr>
          </a:p>
        </p:txBody>
      </p:sp>
      <p:sp>
        <p:nvSpPr>
          <p:cNvPr id="24" name="제목 1">
            <a:extLst>
              <a:ext uri="{FF2B5EF4-FFF2-40B4-BE49-F238E27FC236}">
                <a16:creationId xmlns:a16="http://schemas.microsoft.com/office/drawing/2014/main" id="{02E0A04C-2DB3-8DEF-DD5F-64796A224621}"/>
              </a:ext>
            </a:extLst>
          </p:cNvPr>
          <p:cNvSpPr txBox="1">
            <a:spLocks/>
          </p:cNvSpPr>
          <p:nvPr/>
        </p:nvSpPr>
        <p:spPr>
          <a:xfrm>
            <a:off x="2185246" y="3467433"/>
            <a:ext cx="6684682" cy="545768"/>
          </a:xfrm>
          <a:prstGeom prst="roundRect">
            <a:avLst>
              <a:gd name="adj" fmla="val 50000"/>
            </a:avLst>
          </a:prstGeom>
          <a:solidFill>
            <a:schemeClr val="accent4"/>
          </a:solidFill>
        </p:spPr>
        <p:txBody>
          <a:bodyPr vert="horz" lIns="0" tIns="0" rIns="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r>
              <a:rPr lang="en-US" altLang="ko-KR" sz="2800" dirty="0" err="1">
                <a:solidFill>
                  <a:schemeClr val="bg1"/>
                </a:solidFill>
                <a:latin typeface="Rix모던고딕 EB" panose="02020603020101020101" pitchFamily="18" charset="-127"/>
                <a:ea typeface="Rix모던고딕 EB" panose="02020603020101020101" pitchFamily="18" charset="-127"/>
              </a:rPr>
              <a:t>Yim</a:t>
            </a:r>
            <a:r>
              <a:rPr lang="en-US" altLang="ko-KR" sz="2800" dirty="0">
                <a:solidFill>
                  <a:schemeClr val="bg1"/>
                </a:solidFill>
                <a:latin typeface="Rix모던고딕 EB" panose="02020603020101020101" pitchFamily="18" charset="-127"/>
                <a:ea typeface="Rix모던고딕 EB" panose="02020603020101020101" pitchFamily="18" charset="-127"/>
              </a:rPr>
              <a:t>, </a:t>
            </a:r>
            <a:r>
              <a:rPr lang="en-US" altLang="ko-KR" sz="2800" dirty="0" err="1">
                <a:solidFill>
                  <a:schemeClr val="bg1"/>
                </a:solidFill>
                <a:latin typeface="Rix모던고딕 EB" panose="02020603020101020101" pitchFamily="18" charset="-127"/>
                <a:ea typeface="Rix모던고딕 EB" panose="02020603020101020101" pitchFamily="18" charset="-127"/>
              </a:rPr>
              <a:t>Byung-Woong</a:t>
            </a:r>
            <a:r>
              <a:rPr lang="en-US" altLang="ko-KR" sz="2800" dirty="0">
                <a:solidFill>
                  <a:schemeClr val="bg1"/>
                </a:solidFill>
                <a:latin typeface="Rix모던고딕 EB" panose="02020603020101020101" pitchFamily="18" charset="-127"/>
                <a:ea typeface="Rix모던고딕 EB" panose="02020603020101020101" pitchFamily="18" charset="-127"/>
              </a:rPr>
              <a:t> All Rights Reserved.</a:t>
            </a:r>
            <a:endParaRPr lang="ko-KR" altLang="en-US" sz="2800" dirty="0">
              <a:solidFill>
                <a:schemeClr val="bg1"/>
              </a:solidFill>
              <a:latin typeface="Rix모던고딕 EB" panose="02020603020101020101" pitchFamily="18" charset="-127"/>
              <a:ea typeface="Rix모던고딕 EB" panose="02020603020101020101" pitchFamily="18" charset="-127"/>
            </a:endParaRPr>
          </a:p>
        </p:txBody>
      </p:sp>
    </p:spTree>
    <p:extLst>
      <p:ext uri="{BB962C8B-B14F-4D97-AF65-F5344CB8AC3E}">
        <p14:creationId xmlns:p14="http://schemas.microsoft.com/office/powerpoint/2010/main" val="199551508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1</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6" name="직사각형 5"/>
          <p:cNvSpPr/>
          <p:nvPr/>
        </p:nvSpPr>
        <p:spPr>
          <a:xfrm>
            <a:off x="1244284" y="2152137"/>
            <a:ext cx="552862" cy="498328"/>
          </a:xfrm>
          <a:prstGeom prst="rect">
            <a:avLst/>
          </a:prstGeom>
          <a:ln w="6350"/>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t>총칙</a:t>
            </a:r>
            <a:r>
              <a:rPr lang="en-US" altLang="ko-KR" sz="1200" dirty="0"/>
              <a:t>/</a:t>
            </a:r>
          </a:p>
          <a:p>
            <a:pPr algn="ctr"/>
            <a:r>
              <a:rPr lang="ko-KR" altLang="en-US" sz="1200" dirty="0" err="1"/>
              <a:t>보칙</a:t>
            </a:r>
            <a:endParaRPr lang="ko-KR" altLang="en-US" sz="1200" dirty="0"/>
          </a:p>
        </p:txBody>
      </p:sp>
      <p:sp>
        <p:nvSpPr>
          <p:cNvPr id="7" name="직사각형 6"/>
          <p:cNvSpPr/>
          <p:nvPr/>
        </p:nvSpPr>
        <p:spPr>
          <a:xfrm>
            <a:off x="2118397" y="99429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목적</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a:t>
            </a:r>
            <a:endParaRPr lang="ko-KR" altLang="en-US" sz="1000" dirty="0">
              <a:solidFill>
                <a:schemeClr val="tx1"/>
              </a:solidFill>
            </a:endParaRPr>
          </a:p>
        </p:txBody>
      </p:sp>
      <p:sp>
        <p:nvSpPr>
          <p:cNvPr id="8" name="직사각형 7"/>
          <p:cNvSpPr/>
          <p:nvPr/>
        </p:nvSpPr>
        <p:spPr>
          <a:xfrm>
            <a:off x="2118397" y="12362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a:t>
            </a:r>
            <a:endParaRPr lang="ko-KR" altLang="en-US" sz="1000" dirty="0">
              <a:solidFill>
                <a:schemeClr val="tx1"/>
              </a:solidFill>
            </a:endParaRPr>
          </a:p>
        </p:txBody>
      </p:sp>
      <p:sp>
        <p:nvSpPr>
          <p:cNvPr id="9" name="직사각형 8"/>
          <p:cNvSpPr/>
          <p:nvPr/>
        </p:nvSpPr>
        <p:spPr>
          <a:xfrm>
            <a:off x="2118397" y="1471128"/>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행위능력</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3~5①)</a:t>
            </a:r>
            <a:endParaRPr lang="ko-KR" altLang="en-US" sz="1000" dirty="0">
              <a:solidFill>
                <a:schemeClr val="tx1"/>
              </a:solidFill>
            </a:endParaRPr>
          </a:p>
        </p:txBody>
      </p:sp>
      <p:sp>
        <p:nvSpPr>
          <p:cNvPr id="10" name="직사각형 9"/>
          <p:cNvSpPr/>
          <p:nvPr/>
        </p:nvSpPr>
        <p:spPr>
          <a:xfrm>
            <a:off x="2118397" y="1713120"/>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대리인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3②, 5②~10, 12)</a:t>
            </a:r>
            <a:endParaRPr lang="ko-KR" altLang="en-US" sz="1000" dirty="0">
              <a:solidFill>
                <a:schemeClr val="tx1"/>
              </a:solidFill>
            </a:endParaRPr>
          </a:p>
        </p:txBody>
      </p:sp>
      <p:sp>
        <p:nvSpPr>
          <p:cNvPr id="11" name="직사각형 10"/>
          <p:cNvSpPr/>
          <p:nvPr/>
        </p:nvSpPr>
        <p:spPr>
          <a:xfrm>
            <a:off x="2118397" y="1945643"/>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복수당사자 대표</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11)</a:t>
            </a:r>
            <a:endParaRPr lang="ko-KR" altLang="en-US" sz="1000" dirty="0">
              <a:solidFill>
                <a:schemeClr val="tx1"/>
              </a:solidFill>
            </a:endParaRPr>
          </a:p>
        </p:txBody>
      </p:sp>
      <p:sp>
        <p:nvSpPr>
          <p:cNvPr id="12" name="직사각형 11"/>
          <p:cNvSpPr/>
          <p:nvPr/>
        </p:nvSpPr>
        <p:spPr>
          <a:xfrm>
            <a:off x="2118397" y="218763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err="1">
                <a:solidFill>
                  <a:schemeClr val="tx1"/>
                </a:solidFill>
              </a:rPr>
              <a:t>재외자의</a:t>
            </a:r>
            <a:r>
              <a:rPr lang="ko-KR" altLang="en-US" sz="1000" dirty="0">
                <a:solidFill>
                  <a:schemeClr val="tx1"/>
                </a:solidFill>
              </a:rPr>
              <a:t> 재판관할</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13)</a:t>
            </a:r>
            <a:endParaRPr lang="ko-KR" altLang="en-US" sz="1000" dirty="0">
              <a:solidFill>
                <a:schemeClr val="tx1"/>
              </a:solidFill>
            </a:endParaRPr>
          </a:p>
        </p:txBody>
      </p:sp>
      <p:sp>
        <p:nvSpPr>
          <p:cNvPr id="13" name="직사각형 12"/>
          <p:cNvSpPr/>
          <p:nvPr/>
        </p:nvSpPr>
        <p:spPr>
          <a:xfrm>
            <a:off x="2118397" y="243841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기일과 기간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14, 15)</a:t>
            </a:r>
            <a:endParaRPr lang="ko-KR" altLang="en-US" sz="1000" dirty="0">
              <a:solidFill>
                <a:schemeClr val="tx1"/>
              </a:solidFill>
            </a:endParaRPr>
          </a:p>
        </p:txBody>
      </p:sp>
      <p:sp>
        <p:nvSpPr>
          <p:cNvPr id="14" name="직사각형 13"/>
          <p:cNvSpPr/>
          <p:nvPr/>
        </p:nvSpPr>
        <p:spPr>
          <a:xfrm>
            <a:off x="2118397" y="2670267"/>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특허에 관한 절차 일반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16, 28~28</a:t>
            </a:r>
            <a:r>
              <a:rPr lang="ko-KR" altLang="en-US" sz="1000" dirty="0">
                <a:solidFill>
                  <a:schemeClr val="tx1"/>
                </a:solidFill>
              </a:rPr>
              <a:t>의</a:t>
            </a:r>
            <a:r>
              <a:rPr lang="en-US" altLang="ko-KR" sz="1000" dirty="0">
                <a:solidFill>
                  <a:schemeClr val="tx1"/>
                </a:solidFill>
              </a:rPr>
              <a:t>5)</a:t>
            </a:r>
            <a:endParaRPr lang="ko-KR" altLang="en-US" sz="1000" dirty="0">
              <a:solidFill>
                <a:schemeClr val="tx1"/>
              </a:solidFill>
            </a:endParaRPr>
          </a:p>
        </p:txBody>
      </p:sp>
      <p:sp>
        <p:nvSpPr>
          <p:cNvPr id="15" name="직사각형 14"/>
          <p:cNvSpPr/>
          <p:nvPr/>
        </p:nvSpPr>
        <p:spPr>
          <a:xfrm>
            <a:off x="2118397" y="290844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추후보완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17, 67</a:t>
            </a:r>
            <a:r>
              <a:rPr lang="ko-KR" altLang="en-US" sz="1000" dirty="0">
                <a:solidFill>
                  <a:schemeClr val="tx1"/>
                </a:solidFill>
              </a:rPr>
              <a:t>의</a:t>
            </a:r>
            <a:r>
              <a:rPr lang="en-US" altLang="ko-KR" sz="1000">
                <a:solidFill>
                  <a:schemeClr val="tx1"/>
                </a:solidFill>
              </a:rPr>
              <a:t>3)</a:t>
            </a:r>
            <a:endParaRPr lang="ko-KR" altLang="en-US" sz="1000" dirty="0">
              <a:solidFill>
                <a:schemeClr val="tx1"/>
              </a:solidFill>
            </a:endParaRPr>
          </a:p>
        </p:txBody>
      </p:sp>
      <p:sp>
        <p:nvSpPr>
          <p:cNvPr id="16" name="직사각형 15"/>
          <p:cNvSpPr/>
          <p:nvPr/>
        </p:nvSpPr>
        <p:spPr>
          <a:xfrm>
            <a:off x="2118397" y="313988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절차의 효력의 승계 및 절차의 속행</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18, 19)</a:t>
            </a:r>
            <a:endParaRPr lang="ko-KR" altLang="en-US" sz="1000" dirty="0">
              <a:solidFill>
                <a:schemeClr val="tx1"/>
              </a:solidFill>
            </a:endParaRPr>
          </a:p>
        </p:txBody>
      </p:sp>
      <p:sp>
        <p:nvSpPr>
          <p:cNvPr id="17" name="직사각형 16"/>
          <p:cNvSpPr/>
          <p:nvPr/>
        </p:nvSpPr>
        <p:spPr>
          <a:xfrm>
            <a:off x="2118397" y="337173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절차의 정지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20~24, 78, 164)</a:t>
            </a:r>
            <a:endParaRPr lang="ko-KR" altLang="en-US" sz="1000" dirty="0">
              <a:solidFill>
                <a:schemeClr val="tx1"/>
              </a:solidFill>
            </a:endParaRPr>
          </a:p>
        </p:txBody>
      </p:sp>
      <p:cxnSp>
        <p:nvCxnSpPr>
          <p:cNvPr id="18" name="꺾인 연결선 17"/>
          <p:cNvCxnSpPr>
            <a:cxnSpLocks/>
            <a:stCxn id="6" idx="3"/>
            <a:endCxn id="7" idx="1"/>
          </p:cNvCxnSpPr>
          <p:nvPr/>
        </p:nvCxnSpPr>
        <p:spPr>
          <a:xfrm flipV="1">
            <a:off x="1797146" y="1085041"/>
            <a:ext cx="321251" cy="131626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cxnSpLocks/>
            <a:stCxn id="6" idx="3"/>
            <a:endCxn id="17" idx="1"/>
          </p:cNvCxnSpPr>
          <p:nvPr/>
        </p:nvCxnSpPr>
        <p:spPr>
          <a:xfrm>
            <a:off x="1797146" y="2401301"/>
            <a:ext cx="321251" cy="106118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cxnSpLocks/>
            <a:stCxn id="6" idx="3"/>
            <a:endCxn id="8" idx="1"/>
          </p:cNvCxnSpPr>
          <p:nvPr/>
        </p:nvCxnSpPr>
        <p:spPr>
          <a:xfrm flipV="1">
            <a:off x="1797146" y="1327033"/>
            <a:ext cx="321251" cy="107426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cxnSpLocks/>
            <a:stCxn id="6" idx="3"/>
            <a:endCxn id="9" idx="1"/>
          </p:cNvCxnSpPr>
          <p:nvPr/>
        </p:nvCxnSpPr>
        <p:spPr>
          <a:xfrm flipV="1">
            <a:off x="1797146" y="1561875"/>
            <a:ext cx="321251" cy="8394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꺾인 연결선 21"/>
          <p:cNvCxnSpPr>
            <a:cxnSpLocks/>
            <a:stCxn id="6" idx="3"/>
            <a:endCxn id="13" idx="1"/>
          </p:cNvCxnSpPr>
          <p:nvPr/>
        </p:nvCxnSpPr>
        <p:spPr>
          <a:xfrm>
            <a:off x="1797146" y="2401301"/>
            <a:ext cx="321251" cy="12786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cxnSpLocks/>
            <a:stCxn id="6" idx="3"/>
            <a:endCxn id="14" idx="1"/>
          </p:cNvCxnSpPr>
          <p:nvPr/>
        </p:nvCxnSpPr>
        <p:spPr>
          <a:xfrm>
            <a:off x="1797146" y="2401301"/>
            <a:ext cx="321251" cy="35971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cxnSpLocks/>
            <a:stCxn id="6" idx="3"/>
            <a:endCxn id="15" idx="1"/>
          </p:cNvCxnSpPr>
          <p:nvPr/>
        </p:nvCxnSpPr>
        <p:spPr>
          <a:xfrm>
            <a:off x="1797146" y="2401301"/>
            <a:ext cx="321251" cy="5978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cxnSpLocks/>
            <a:stCxn id="6" idx="3"/>
            <a:endCxn id="16" idx="1"/>
          </p:cNvCxnSpPr>
          <p:nvPr/>
        </p:nvCxnSpPr>
        <p:spPr>
          <a:xfrm>
            <a:off x="1797146" y="2401301"/>
            <a:ext cx="321251" cy="82933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cxnSpLocks/>
            <a:stCxn id="6" idx="3"/>
            <a:endCxn id="10" idx="1"/>
          </p:cNvCxnSpPr>
          <p:nvPr/>
        </p:nvCxnSpPr>
        <p:spPr>
          <a:xfrm flipV="1">
            <a:off x="1797146" y="1803867"/>
            <a:ext cx="321251" cy="59743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cxnSpLocks/>
            <a:stCxn id="6" idx="3"/>
            <a:endCxn id="11" idx="1"/>
          </p:cNvCxnSpPr>
          <p:nvPr/>
        </p:nvCxnSpPr>
        <p:spPr>
          <a:xfrm flipV="1">
            <a:off x="1797146" y="2036390"/>
            <a:ext cx="321251" cy="36491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cxnSpLocks/>
            <a:stCxn id="6" idx="3"/>
            <a:endCxn id="12" idx="1"/>
          </p:cNvCxnSpPr>
          <p:nvPr/>
        </p:nvCxnSpPr>
        <p:spPr>
          <a:xfrm flipV="1">
            <a:off x="1797146" y="2278382"/>
            <a:ext cx="321251" cy="122919"/>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 name="그룹 28"/>
          <p:cNvGrpSpPr/>
          <p:nvPr/>
        </p:nvGrpSpPr>
        <p:grpSpPr>
          <a:xfrm>
            <a:off x="6536267" y="1171792"/>
            <a:ext cx="4444979" cy="2279356"/>
            <a:chOff x="3987793" y="1037128"/>
            <a:chExt cx="3733785" cy="1752532"/>
          </a:xfrm>
        </p:grpSpPr>
        <p:sp>
          <p:nvSpPr>
            <p:cNvPr id="30" name="직사각형 29"/>
            <p:cNvSpPr/>
            <p:nvPr/>
          </p:nvSpPr>
          <p:spPr>
            <a:xfrm>
              <a:off x="3987793" y="1888138"/>
              <a:ext cx="398311" cy="385993"/>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특허</a:t>
              </a:r>
              <a:endParaRPr lang="en-US" altLang="ko-KR" sz="1200" dirty="0"/>
            </a:p>
            <a:p>
              <a:pPr algn="ctr"/>
              <a:r>
                <a:rPr lang="ko-KR" altLang="en-US" sz="1200" dirty="0"/>
                <a:t>요건</a:t>
              </a:r>
            </a:p>
          </p:txBody>
        </p:sp>
        <p:sp>
          <p:nvSpPr>
            <p:cNvPr id="31" name="직사각형 30"/>
            <p:cNvSpPr/>
            <p:nvPr/>
          </p:nvSpPr>
          <p:spPr>
            <a:xfrm>
              <a:off x="4546567" y="160536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없는 발명</a:t>
              </a:r>
            </a:p>
          </p:txBody>
        </p:sp>
        <p:sp>
          <p:nvSpPr>
            <p:cNvPr id="32" name="직사각형 31"/>
            <p:cNvSpPr/>
            <p:nvPr/>
          </p:nvSpPr>
          <p:spPr>
            <a:xfrm>
              <a:off x="4546568" y="1990474"/>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자</a:t>
              </a:r>
            </a:p>
          </p:txBody>
        </p:sp>
        <p:sp>
          <p:nvSpPr>
            <p:cNvPr id="33" name="직사각형 32"/>
            <p:cNvSpPr/>
            <p:nvPr/>
          </p:nvSpPr>
          <p:spPr>
            <a:xfrm>
              <a:off x="4546567" y="120511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발명</a:t>
              </a:r>
            </a:p>
          </p:txBody>
        </p:sp>
        <p:sp>
          <p:nvSpPr>
            <p:cNvPr id="34" name="직사각형 33"/>
            <p:cNvSpPr/>
            <p:nvPr/>
          </p:nvSpPr>
          <p:spPr>
            <a:xfrm>
              <a:off x="4546568" y="2378317"/>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출원</a:t>
              </a:r>
            </a:p>
          </p:txBody>
        </p:sp>
        <p:grpSp>
          <p:nvGrpSpPr>
            <p:cNvPr id="35" name="그룹 34"/>
            <p:cNvGrpSpPr/>
            <p:nvPr/>
          </p:nvGrpSpPr>
          <p:grpSpPr>
            <a:xfrm>
              <a:off x="5713090" y="1037128"/>
              <a:ext cx="2008488" cy="1752532"/>
              <a:chOff x="9836379" y="3177270"/>
              <a:chExt cx="2251744" cy="1752532"/>
            </a:xfrm>
            <a:solidFill>
              <a:schemeClr val="accent1">
                <a:lumMod val="20000"/>
                <a:lumOff val="80000"/>
              </a:schemeClr>
            </a:solidFill>
          </p:grpSpPr>
          <p:sp>
            <p:nvSpPr>
              <p:cNvPr id="49" name="직사각형 48"/>
              <p:cNvSpPr/>
              <p:nvPr/>
            </p:nvSpPr>
            <p:spPr>
              <a:xfrm>
                <a:off x="9836379" y="317727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협의의 특허요건</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29)</a:t>
                </a:r>
                <a:endParaRPr lang="ko-KR" altLang="en-US" sz="1000" dirty="0">
                  <a:solidFill>
                    <a:schemeClr val="tx1"/>
                  </a:solidFill>
                </a:endParaRPr>
              </a:p>
            </p:txBody>
          </p:sp>
          <p:sp>
            <p:nvSpPr>
              <p:cNvPr id="50" name="직사각형 49"/>
              <p:cNvSpPr/>
              <p:nvPr/>
            </p:nvSpPr>
            <p:spPr>
              <a:xfrm>
                <a:off x="9836379" y="338513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선출원주의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36)</a:t>
                </a:r>
                <a:endParaRPr lang="ko-KR" altLang="en-US" sz="1000" dirty="0">
                  <a:solidFill>
                    <a:schemeClr val="tx1"/>
                  </a:solidFill>
                </a:endParaRPr>
              </a:p>
            </p:txBody>
          </p:sp>
          <p:sp>
            <p:nvSpPr>
              <p:cNvPr id="51" name="직사각형 50"/>
              <p:cNvSpPr/>
              <p:nvPr/>
            </p:nvSpPr>
            <p:spPr>
              <a:xfrm>
                <a:off x="9836379" y="357434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불특허발명</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32)</a:t>
                </a:r>
                <a:endParaRPr lang="ko-KR" altLang="en-US" sz="1000" dirty="0">
                  <a:solidFill>
                    <a:schemeClr val="tx1"/>
                  </a:solidFill>
                </a:endParaRPr>
              </a:p>
            </p:txBody>
          </p:sp>
          <p:sp>
            <p:nvSpPr>
              <p:cNvPr id="52" name="직사각형 51"/>
              <p:cNvSpPr/>
              <p:nvPr/>
            </p:nvSpPr>
            <p:spPr>
              <a:xfrm>
                <a:off x="9836379" y="378220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국방상 필요한 발명</a:t>
                </a:r>
                <a:r>
                  <a:rPr lang="en-US" altLang="ko-KR" sz="1000" dirty="0">
                    <a:solidFill>
                      <a:schemeClr val="tx1"/>
                    </a:solidFill>
                  </a:rPr>
                  <a:t>(</a:t>
                </a:r>
                <a:r>
                  <a:rPr lang="ko-KR" altLang="en-US" sz="1000" dirty="0">
                    <a:solidFill>
                      <a:schemeClr val="tx1"/>
                    </a:solidFill>
                  </a:rPr>
                  <a:t>法</a:t>
                </a:r>
                <a:r>
                  <a:rPr lang="en-US" altLang="ko-KR" sz="1000" dirty="0">
                    <a:solidFill>
                      <a:schemeClr val="tx1"/>
                    </a:solidFill>
                  </a:rPr>
                  <a:t> 41, 106)</a:t>
                </a:r>
                <a:endParaRPr lang="ko-KR" altLang="en-US" sz="1000" dirty="0">
                  <a:solidFill>
                    <a:schemeClr val="tx1"/>
                  </a:solidFill>
                </a:endParaRPr>
              </a:p>
            </p:txBody>
          </p:sp>
          <p:sp>
            <p:nvSpPr>
              <p:cNvPr id="53" name="직사각형 52"/>
              <p:cNvSpPr/>
              <p:nvPr/>
            </p:nvSpPr>
            <p:spPr>
              <a:xfrm>
                <a:off x="9836379" y="3969271"/>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출원인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25, 33, 44)</a:t>
                </a:r>
                <a:endParaRPr lang="ko-KR" altLang="en-US" sz="1000" dirty="0">
                  <a:solidFill>
                    <a:schemeClr val="tx1"/>
                  </a:solidFill>
                </a:endParaRPr>
              </a:p>
            </p:txBody>
          </p:sp>
          <p:sp>
            <p:nvSpPr>
              <p:cNvPr id="54" name="직사각형 53"/>
              <p:cNvSpPr/>
              <p:nvPr/>
            </p:nvSpPr>
            <p:spPr>
              <a:xfrm>
                <a:off x="9836379" y="4160199"/>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있는 권리</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37, 38)</a:t>
                </a:r>
                <a:endParaRPr lang="ko-KR" altLang="en-US" sz="1000" dirty="0">
                  <a:solidFill>
                    <a:schemeClr val="tx1"/>
                  </a:solidFill>
                </a:endParaRPr>
              </a:p>
            </p:txBody>
          </p:sp>
          <p:sp>
            <p:nvSpPr>
              <p:cNvPr id="55" name="직사각형 54"/>
              <p:cNvSpPr/>
              <p:nvPr/>
            </p:nvSpPr>
            <p:spPr>
              <a:xfrm>
                <a:off x="9836379" y="435867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직무발명</a:t>
                </a:r>
                <a:r>
                  <a:rPr lang="en-US" altLang="ko-KR" sz="1000" dirty="0">
                    <a:solidFill>
                      <a:schemeClr val="tx1"/>
                    </a:solidFill>
                  </a:rPr>
                  <a:t>(</a:t>
                </a:r>
                <a:r>
                  <a:rPr lang="ko-KR" altLang="en-US" sz="1000" dirty="0" err="1">
                    <a:solidFill>
                      <a:schemeClr val="tx1"/>
                    </a:solidFill>
                  </a:rPr>
                  <a:t>발진법</a:t>
                </a:r>
                <a:r>
                  <a:rPr lang="ko-KR" altLang="en-US" sz="1000" dirty="0">
                    <a:solidFill>
                      <a:schemeClr val="tx1"/>
                    </a:solidFill>
                  </a:rPr>
                  <a:t> </a:t>
                </a:r>
                <a:r>
                  <a:rPr lang="en-US" altLang="ko-KR" sz="1000" dirty="0">
                    <a:solidFill>
                      <a:schemeClr val="tx1"/>
                    </a:solidFill>
                  </a:rPr>
                  <a:t>2, 10~19, 58)</a:t>
                </a:r>
                <a:endParaRPr lang="ko-KR" altLang="en-US" sz="1000" dirty="0">
                  <a:solidFill>
                    <a:schemeClr val="tx1"/>
                  </a:solidFill>
                </a:endParaRPr>
              </a:p>
            </p:txBody>
          </p:sp>
          <p:sp>
            <p:nvSpPr>
              <p:cNvPr id="56" name="직사각형 55"/>
              <p:cNvSpPr/>
              <p:nvPr/>
            </p:nvSpPr>
            <p:spPr>
              <a:xfrm>
                <a:off x="9836379" y="4558495"/>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42~42</a:t>
                </a:r>
                <a:r>
                  <a:rPr lang="ko-KR" altLang="en-US" sz="1000" dirty="0">
                    <a:solidFill>
                      <a:schemeClr val="tx1"/>
                    </a:solidFill>
                  </a:rPr>
                  <a:t>의</a:t>
                </a:r>
                <a:r>
                  <a:rPr lang="en-US" altLang="ko-KR" sz="1000" dirty="0">
                    <a:solidFill>
                      <a:schemeClr val="tx1"/>
                    </a:solidFill>
                  </a:rPr>
                  <a:t>3, 43)</a:t>
                </a:r>
                <a:endParaRPr lang="ko-KR" altLang="en-US" sz="1000" dirty="0">
                  <a:solidFill>
                    <a:schemeClr val="tx1"/>
                  </a:solidFill>
                </a:endParaRPr>
              </a:p>
            </p:txBody>
          </p:sp>
          <p:sp>
            <p:nvSpPr>
              <p:cNvPr id="57" name="직사각형 56"/>
              <p:cNvSpPr/>
              <p:nvPr/>
            </p:nvSpPr>
            <p:spPr>
              <a:xfrm>
                <a:off x="9836379" y="477390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하나의 특허출원의 범위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45)</a:t>
                </a:r>
                <a:endParaRPr lang="ko-KR" altLang="en-US" sz="1000" dirty="0">
                  <a:solidFill>
                    <a:schemeClr val="tx1"/>
                  </a:solidFill>
                </a:endParaRPr>
              </a:p>
            </p:txBody>
          </p:sp>
        </p:grpSp>
        <p:cxnSp>
          <p:nvCxnSpPr>
            <p:cNvPr id="36" name="꺾인 연결선 35"/>
            <p:cNvCxnSpPr>
              <a:stCxn id="30" idx="3"/>
              <a:endCxn id="33" idx="1"/>
            </p:cNvCxnSpPr>
            <p:nvPr/>
          </p:nvCxnSpPr>
          <p:spPr>
            <a:xfrm flipV="1">
              <a:off x="4386104" y="1374002"/>
              <a:ext cx="160463" cy="70713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30" idx="3"/>
              <a:endCxn id="34" idx="1"/>
            </p:cNvCxnSpPr>
            <p:nvPr/>
          </p:nvCxnSpPr>
          <p:spPr>
            <a:xfrm>
              <a:off x="4386104" y="2081135"/>
              <a:ext cx="160464" cy="46607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30" idx="3"/>
              <a:endCxn id="31" idx="1"/>
            </p:cNvCxnSpPr>
            <p:nvPr/>
          </p:nvCxnSpPr>
          <p:spPr>
            <a:xfrm flipV="1">
              <a:off x="4386104" y="1774252"/>
              <a:ext cx="160463" cy="30688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30" idx="3"/>
              <a:endCxn id="32" idx="1"/>
            </p:cNvCxnSpPr>
            <p:nvPr/>
          </p:nvCxnSpPr>
          <p:spPr>
            <a:xfrm>
              <a:off x="4386104" y="2081135"/>
              <a:ext cx="160464" cy="7822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33" idx="3"/>
              <a:endCxn id="49" idx="1"/>
            </p:cNvCxnSpPr>
            <p:nvPr/>
          </p:nvCxnSpPr>
          <p:spPr>
            <a:xfrm flipV="1">
              <a:off x="5496870" y="1115076"/>
              <a:ext cx="216220" cy="2589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33" idx="3"/>
              <a:endCxn id="50" idx="1"/>
            </p:cNvCxnSpPr>
            <p:nvPr/>
          </p:nvCxnSpPr>
          <p:spPr>
            <a:xfrm flipV="1">
              <a:off x="5496870" y="1322938"/>
              <a:ext cx="216220" cy="5106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31" idx="3"/>
              <a:endCxn id="51" idx="1"/>
            </p:cNvCxnSpPr>
            <p:nvPr/>
          </p:nvCxnSpPr>
          <p:spPr>
            <a:xfrm flipV="1">
              <a:off x="5496870" y="1512146"/>
              <a:ext cx="216220" cy="26210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31" idx="3"/>
              <a:endCxn id="52" idx="1"/>
            </p:cNvCxnSpPr>
            <p:nvPr/>
          </p:nvCxnSpPr>
          <p:spPr>
            <a:xfrm flipV="1">
              <a:off x="5496870" y="1720008"/>
              <a:ext cx="216220" cy="5424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32" idx="3"/>
              <a:endCxn id="53" idx="1"/>
            </p:cNvCxnSpPr>
            <p:nvPr/>
          </p:nvCxnSpPr>
          <p:spPr>
            <a:xfrm flipV="1">
              <a:off x="5496870" y="1907077"/>
              <a:ext cx="216220" cy="25228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32" idx="3"/>
              <a:endCxn id="54" idx="1"/>
            </p:cNvCxnSpPr>
            <p:nvPr/>
          </p:nvCxnSpPr>
          <p:spPr>
            <a:xfrm flipV="1">
              <a:off x="5496870" y="2098005"/>
              <a:ext cx="216220" cy="613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32" idx="3"/>
              <a:endCxn id="55" idx="1"/>
            </p:cNvCxnSpPr>
            <p:nvPr/>
          </p:nvCxnSpPr>
          <p:spPr>
            <a:xfrm>
              <a:off x="5496870" y="2159362"/>
              <a:ext cx="216220" cy="13712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34" idx="3"/>
              <a:endCxn id="56" idx="1"/>
            </p:cNvCxnSpPr>
            <p:nvPr/>
          </p:nvCxnSpPr>
          <p:spPr>
            <a:xfrm flipV="1">
              <a:off x="5496870" y="2496301"/>
              <a:ext cx="216220" cy="5090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34" idx="3"/>
              <a:endCxn id="57" idx="1"/>
            </p:cNvCxnSpPr>
            <p:nvPr/>
          </p:nvCxnSpPr>
          <p:spPr>
            <a:xfrm>
              <a:off x="5496870" y="2547205"/>
              <a:ext cx="216220" cy="16450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9" name="직사각형 58"/>
          <p:cNvSpPr/>
          <p:nvPr/>
        </p:nvSpPr>
        <p:spPr>
          <a:xfrm>
            <a:off x="906097" y="4898289"/>
            <a:ext cx="472526" cy="503727"/>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이익</a:t>
            </a:r>
            <a:endParaRPr lang="en-US" altLang="ko-KR" sz="1200" dirty="0"/>
          </a:p>
          <a:p>
            <a:pPr algn="ctr"/>
            <a:r>
              <a:rPr lang="ko-KR" altLang="en-US" sz="1200" dirty="0"/>
              <a:t>제도</a:t>
            </a:r>
          </a:p>
        </p:txBody>
      </p:sp>
      <p:sp>
        <p:nvSpPr>
          <p:cNvPr id="72" name="직사각형 71"/>
          <p:cNvSpPr/>
          <p:nvPr/>
        </p:nvSpPr>
        <p:spPr>
          <a:xfrm>
            <a:off x="2487992" y="422619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공지예외적용주장출원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30)</a:t>
            </a:r>
            <a:endParaRPr lang="ko-KR" altLang="en-US" sz="1000" dirty="0">
              <a:solidFill>
                <a:schemeClr val="tx1"/>
              </a:solidFill>
            </a:endParaRPr>
          </a:p>
        </p:txBody>
      </p:sp>
      <p:sp>
        <p:nvSpPr>
          <p:cNvPr id="73" name="직사각형 72"/>
          <p:cNvSpPr/>
          <p:nvPr/>
        </p:nvSpPr>
        <p:spPr>
          <a:xfrm>
            <a:off x="2487992" y="4599179"/>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정당한 권리자의 보호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34, 35, 99</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74" name="직사각형 73"/>
          <p:cNvSpPr/>
          <p:nvPr/>
        </p:nvSpPr>
        <p:spPr>
          <a:xfrm>
            <a:off x="2487992" y="48704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보정</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46, 47, 51)</a:t>
            </a:r>
            <a:endParaRPr lang="ko-KR" altLang="en-US" sz="1000" dirty="0">
              <a:solidFill>
                <a:schemeClr val="tx1"/>
              </a:solidFill>
            </a:endParaRPr>
          </a:p>
        </p:txBody>
      </p:sp>
      <p:sp>
        <p:nvSpPr>
          <p:cNvPr id="75" name="직사각형 74"/>
          <p:cNvSpPr/>
          <p:nvPr/>
        </p:nvSpPr>
        <p:spPr>
          <a:xfrm>
            <a:off x="2487992" y="5446506"/>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분리출원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52</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76" name="직사각형 75"/>
          <p:cNvSpPr/>
          <p:nvPr/>
        </p:nvSpPr>
        <p:spPr>
          <a:xfrm>
            <a:off x="2487992" y="571777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변경출원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53)</a:t>
            </a:r>
            <a:endParaRPr lang="ko-KR" altLang="en-US" sz="1000" dirty="0">
              <a:solidFill>
                <a:schemeClr val="tx1"/>
              </a:solidFill>
            </a:endParaRPr>
          </a:p>
        </p:txBody>
      </p:sp>
      <p:sp>
        <p:nvSpPr>
          <p:cNvPr id="77" name="직사각형 76"/>
          <p:cNvSpPr/>
          <p:nvPr/>
        </p:nvSpPr>
        <p:spPr>
          <a:xfrm>
            <a:off x="2487992" y="60229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조약우선권주장출원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54)</a:t>
            </a:r>
            <a:endParaRPr lang="ko-KR" altLang="en-US" sz="1000" dirty="0">
              <a:solidFill>
                <a:schemeClr val="tx1"/>
              </a:solidFill>
            </a:endParaRPr>
          </a:p>
        </p:txBody>
      </p:sp>
      <p:sp>
        <p:nvSpPr>
          <p:cNvPr id="78" name="직사각형 77"/>
          <p:cNvSpPr/>
          <p:nvPr/>
        </p:nvSpPr>
        <p:spPr>
          <a:xfrm>
            <a:off x="2487992" y="6294208"/>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국내우선권주장출원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55, 56)</a:t>
            </a:r>
            <a:endParaRPr lang="ko-KR" altLang="en-US" sz="1000" dirty="0">
              <a:solidFill>
                <a:schemeClr val="tx1"/>
              </a:solidFill>
            </a:endParaRPr>
          </a:p>
        </p:txBody>
      </p:sp>
      <p:sp>
        <p:nvSpPr>
          <p:cNvPr id="61" name="직사각형 60"/>
          <p:cNvSpPr/>
          <p:nvPr/>
        </p:nvSpPr>
        <p:spPr>
          <a:xfrm>
            <a:off x="1519197" y="5145136"/>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출원일</a:t>
            </a:r>
            <a:endParaRPr lang="en-US" altLang="ko-KR" sz="1000" dirty="0">
              <a:solidFill>
                <a:schemeClr val="tx1"/>
              </a:solidFill>
            </a:endParaRPr>
          </a:p>
          <a:p>
            <a:pPr algn="ctr"/>
            <a:r>
              <a:rPr lang="ko-KR" altLang="en-US" sz="1000" dirty="0">
                <a:solidFill>
                  <a:schemeClr val="tx1"/>
                </a:solidFill>
              </a:rPr>
              <a:t>소급제도</a:t>
            </a:r>
          </a:p>
        </p:txBody>
      </p:sp>
      <p:sp>
        <p:nvSpPr>
          <p:cNvPr id="62" name="직사각형 61"/>
          <p:cNvSpPr/>
          <p:nvPr/>
        </p:nvSpPr>
        <p:spPr>
          <a:xfrm>
            <a:off x="1519197" y="6056851"/>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판단시점</a:t>
            </a:r>
            <a:endParaRPr lang="en-US" altLang="ko-KR" sz="1000" dirty="0">
              <a:solidFill>
                <a:schemeClr val="tx1"/>
              </a:solidFill>
            </a:endParaRPr>
          </a:p>
          <a:p>
            <a:pPr algn="ctr"/>
            <a:r>
              <a:rPr lang="ko-KR" altLang="en-US" sz="1000">
                <a:solidFill>
                  <a:schemeClr val="tx1"/>
                </a:solidFill>
              </a:rPr>
              <a:t>소급제도</a:t>
            </a:r>
            <a:endParaRPr lang="ko-KR" altLang="en-US" sz="1000" dirty="0">
              <a:solidFill>
                <a:schemeClr val="tx1"/>
              </a:solidFill>
            </a:endParaRPr>
          </a:p>
        </p:txBody>
      </p:sp>
      <p:cxnSp>
        <p:nvCxnSpPr>
          <p:cNvPr id="63" name="꺾인 연결선 62"/>
          <p:cNvCxnSpPr>
            <a:stCxn id="59" idx="3"/>
            <a:endCxn id="72" idx="1"/>
          </p:cNvCxnSpPr>
          <p:nvPr/>
        </p:nvCxnSpPr>
        <p:spPr>
          <a:xfrm flipV="1">
            <a:off x="1378623" y="4327915"/>
            <a:ext cx="1109369" cy="822238"/>
          </a:xfrm>
          <a:prstGeom prst="bentConnector3">
            <a:avLst>
              <a:gd name="adj1" fmla="val 6212"/>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꺾인 연결선 63"/>
          <p:cNvCxnSpPr>
            <a:stCxn id="59" idx="3"/>
            <a:endCxn id="62" idx="1"/>
          </p:cNvCxnSpPr>
          <p:nvPr/>
        </p:nvCxnSpPr>
        <p:spPr>
          <a:xfrm>
            <a:off x="1378623" y="5150153"/>
            <a:ext cx="140574" cy="1127101"/>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꺾인 연결선 64"/>
          <p:cNvCxnSpPr>
            <a:stCxn id="59" idx="3"/>
            <a:endCxn id="61" idx="1"/>
          </p:cNvCxnSpPr>
          <p:nvPr/>
        </p:nvCxnSpPr>
        <p:spPr>
          <a:xfrm>
            <a:off x="1378623" y="5150153"/>
            <a:ext cx="140574" cy="215386"/>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61" idx="3"/>
            <a:endCxn id="73" idx="1"/>
          </p:cNvCxnSpPr>
          <p:nvPr/>
        </p:nvCxnSpPr>
        <p:spPr>
          <a:xfrm flipV="1">
            <a:off x="2241819" y="4700903"/>
            <a:ext cx="246173" cy="66463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꺾인 연결선 66"/>
          <p:cNvCxnSpPr>
            <a:stCxn id="61" idx="3"/>
            <a:endCxn id="76" idx="1"/>
          </p:cNvCxnSpPr>
          <p:nvPr/>
        </p:nvCxnSpPr>
        <p:spPr>
          <a:xfrm>
            <a:off x="2241819" y="5365539"/>
            <a:ext cx="246173" cy="4539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꺾인 연결선 67"/>
          <p:cNvCxnSpPr>
            <a:stCxn id="61" idx="3"/>
            <a:endCxn id="74" idx="1"/>
          </p:cNvCxnSpPr>
          <p:nvPr/>
        </p:nvCxnSpPr>
        <p:spPr>
          <a:xfrm flipV="1">
            <a:off x="2241819" y="4972167"/>
            <a:ext cx="246173" cy="393371"/>
          </a:xfrm>
          <a:prstGeom prst="bentConnector3">
            <a:avLst>
              <a:gd name="adj1" fmla="val 50001"/>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꺾인 연결선 68"/>
          <p:cNvCxnSpPr>
            <a:stCxn id="61" idx="3"/>
            <a:endCxn id="75" idx="1"/>
          </p:cNvCxnSpPr>
          <p:nvPr/>
        </p:nvCxnSpPr>
        <p:spPr>
          <a:xfrm>
            <a:off x="2241819" y="5365539"/>
            <a:ext cx="246173" cy="1826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69"/>
          <p:cNvCxnSpPr>
            <a:cxnSpLocks/>
            <a:stCxn id="62" idx="3"/>
            <a:endCxn id="77" idx="1"/>
          </p:cNvCxnSpPr>
          <p:nvPr/>
        </p:nvCxnSpPr>
        <p:spPr>
          <a:xfrm flipV="1">
            <a:off x="2241819" y="6124667"/>
            <a:ext cx="246173" cy="15258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cxnSpLocks/>
            <a:stCxn id="62" idx="3"/>
            <a:endCxn id="78" idx="1"/>
          </p:cNvCxnSpPr>
          <p:nvPr/>
        </p:nvCxnSpPr>
        <p:spPr>
          <a:xfrm>
            <a:off x="2241819" y="6277254"/>
            <a:ext cx="246173" cy="11867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9" name="그룹 78"/>
          <p:cNvGrpSpPr/>
          <p:nvPr/>
        </p:nvGrpSpPr>
        <p:grpSpPr>
          <a:xfrm>
            <a:off x="7001934" y="4076201"/>
            <a:ext cx="3979312" cy="2368895"/>
            <a:chOff x="7340600" y="4076201"/>
            <a:chExt cx="3640645" cy="2368895"/>
          </a:xfrm>
        </p:grpSpPr>
        <p:sp>
          <p:nvSpPr>
            <p:cNvPr id="80" name="직사각형 79"/>
            <p:cNvSpPr/>
            <p:nvPr/>
          </p:nvSpPr>
          <p:spPr>
            <a:xfrm>
              <a:off x="7340600" y="5011587"/>
              <a:ext cx="448769" cy="399529"/>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심사</a:t>
              </a:r>
              <a:endParaRPr lang="en-US" altLang="ko-KR" sz="1200" dirty="0"/>
            </a:p>
            <a:p>
              <a:pPr algn="ctr"/>
              <a:r>
                <a:rPr lang="en-US" altLang="ko-KR" sz="1200" dirty="0"/>
                <a:t>(</a:t>
              </a:r>
              <a:r>
                <a:rPr lang="ko-KR" altLang="en-US" sz="1200" dirty="0"/>
                <a:t>제도</a:t>
              </a:r>
              <a:r>
                <a:rPr lang="en-US" altLang="ko-KR" sz="1200" dirty="0"/>
                <a:t>)</a:t>
              </a:r>
              <a:endParaRPr lang="ko-KR" altLang="en-US" sz="1200" dirty="0"/>
            </a:p>
          </p:txBody>
        </p:sp>
        <p:grpSp>
          <p:nvGrpSpPr>
            <p:cNvPr id="81" name="그룹 80"/>
            <p:cNvGrpSpPr/>
            <p:nvPr/>
          </p:nvGrpSpPr>
          <p:grpSpPr>
            <a:xfrm>
              <a:off x="7967112" y="4305504"/>
              <a:ext cx="471444" cy="1770110"/>
              <a:chOff x="2707314" y="4441447"/>
              <a:chExt cx="786730" cy="1770110"/>
            </a:xfrm>
          </p:grpSpPr>
          <p:sp>
            <p:nvSpPr>
              <p:cNvPr id="108" name="직사각형 107"/>
              <p:cNvSpPr/>
              <p:nvPr/>
            </p:nvSpPr>
            <p:spPr>
              <a:xfrm>
                <a:off x="2707314" y="4441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주체</a:t>
                </a:r>
              </a:p>
            </p:txBody>
          </p:sp>
          <p:sp>
            <p:nvSpPr>
              <p:cNvPr id="109" name="직사각형 108"/>
              <p:cNvSpPr/>
              <p:nvPr/>
            </p:nvSpPr>
            <p:spPr>
              <a:xfrm>
                <a:off x="2707314" y="4839210"/>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청구</a:t>
                </a:r>
              </a:p>
            </p:txBody>
          </p:sp>
          <p:sp>
            <p:nvSpPr>
              <p:cNvPr id="110" name="직사각형 109"/>
              <p:cNvSpPr/>
              <p:nvPr/>
            </p:nvSpPr>
            <p:spPr>
              <a:xfrm>
                <a:off x="2707314" y="5258685"/>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진행</a:t>
                </a:r>
              </a:p>
            </p:txBody>
          </p:sp>
          <p:sp>
            <p:nvSpPr>
              <p:cNvPr id="111" name="직사각형 110"/>
              <p:cNvSpPr/>
              <p:nvPr/>
            </p:nvSpPr>
            <p:spPr>
              <a:xfrm>
                <a:off x="2707314" y="5656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종료</a:t>
                </a:r>
              </a:p>
            </p:txBody>
          </p:sp>
          <p:sp>
            <p:nvSpPr>
              <p:cNvPr id="112" name="직사각형 111"/>
              <p:cNvSpPr/>
              <p:nvPr/>
            </p:nvSpPr>
            <p:spPr>
              <a:xfrm>
                <a:off x="2707314" y="6036746"/>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관련</a:t>
                </a:r>
              </a:p>
            </p:txBody>
          </p:sp>
        </p:grpSp>
        <p:cxnSp>
          <p:nvCxnSpPr>
            <p:cNvPr id="82" name="꺾인 연결선 81"/>
            <p:cNvCxnSpPr>
              <a:stCxn id="80" idx="3"/>
              <a:endCxn id="108" idx="1"/>
            </p:cNvCxnSpPr>
            <p:nvPr/>
          </p:nvCxnSpPr>
          <p:spPr>
            <a:xfrm flipV="1">
              <a:off x="7789369" y="4392910"/>
              <a:ext cx="177743" cy="81844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꺾인 연결선 82"/>
            <p:cNvCxnSpPr>
              <a:stCxn id="80" idx="3"/>
              <a:endCxn id="112" idx="1"/>
            </p:cNvCxnSpPr>
            <p:nvPr/>
          </p:nvCxnSpPr>
          <p:spPr>
            <a:xfrm>
              <a:off x="7789369" y="5211352"/>
              <a:ext cx="177743" cy="77685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꺾인 연결선 83"/>
            <p:cNvCxnSpPr>
              <a:stCxn id="80" idx="3"/>
              <a:endCxn id="109" idx="1"/>
            </p:cNvCxnSpPr>
            <p:nvPr/>
          </p:nvCxnSpPr>
          <p:spPr>
            <a:xfrm flipV="1">
              <a:off x="7789369" y="4790673"/>
              <a:ext cx="177743" cy="42067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꺾인 연결선 84"/>
            <p:cNvCxnSpPr>
              <a:stCxn id="80" idx="3"/>
              <a:endCxn id="111" idx="1"/>
            </p:cNvCxnSpPr>
            <p:nvPr/>
          </p:nvCxnSpPr>
          <p:spPr>
            <a:xfrm>
              <a:off x="7789369" y="5211352"/>
              <a:ext cx="177743" cy="3965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80" idx="3"/>
              <a:endCxn id="110" idx="1"/>
            </p:cNvCxnSpPr>
            <p:nvPr/>
          </p:nvCxnSpPr>
          <p:spPr>
            <a:xfrm flipV="1">
              <a:off x="7789369" y="5210148"/>
              <a:ext cx="177743" cy="120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 name="그룹 86"/>
            <p:cNvGrpSpPr/>
            <p:nvPr/>
          </p:nvGrpSpPr>
          <p:grpSpPr>
            <a:xfrm>
              <a:off x="8563424" y="4076201"/>
              <a:ext cx="2417821" cy="2368895"/>
              <a:chOff x="3618912" y="4212144"/>
              <a:chExt cx="3438525" cy="2368895"/>
            </a:xfrm>
          </p:grpSpPr>
          <p:sp>
            <p:nvSpPr>
              <p:cNvPr id="98" name="직사각형 97"/>
              <p:cNvSpPr/>
              <p:nvPr/>
            </p:nvSpPr>
            <p:spPr>
              <a:xfrm>
                <a:off x="3618912" y="4212144"/>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57</a:t>
                </a:r>
                <a:r>
                  <a:rPr lang="en-US" altLang="ko-KR" sz="1000">
                    <a:solidFill>
                      <a:schemeClr val="tx1"/>
                    </a:solidFill>
                  </a:rPr>
                  <a:t>, 68)</a:t>
                </a:r>
                <a:endParaRPr lang="ko-KR" altLang="en-US" sz="1000" dirty="0">
                  <a:solidFill>
                    <a:schemeClr val="tx1"/>
                  </a:solidFill>
                </a:endParaRPr>
              </a:p>
            </p:txBody>
          </p:sp>
          <p:sp>
            <p:nvSpPr>
              <p:cNvPr id="99" name="직사각형 98"/>
              <p:cNvSpPr/>
              <p:nvPr/>
            </p:nvSpPr>
            <p:spPr>
              <a:xfrm>
                <a:off x="3618912" y="4435206"/>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전문기관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58, 58</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100" name="직사각형 99"/>
              <p:cNvSpPr/>
              <p:nvPr/>
            </p:nvSpPr>
            <p:spPr>
              <a:xfrm>
                <a:off x="3618912" y="547999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출원의 무효</a:t>
                </a:r>
                <a:r>
                  <a:rPr lang="en-US" altLang="ko-KR" sz="1000" dirty="0">
                    <a:solidFill>
                      <a:schemeClr val="tx1"/>
                    </a:solidFill>
                  </a:rPr>
                  <a:t>, </a:t>
                </a:r>
                <a:r>
                  <a:rPr lang="ko-KR" altLang="en-US" sz="1000" dirty="0">
                    <a:solidFill>
                      <a:schemeClr val="tx1"/>
                    </a:solidFill>
                  </a:rPr>
                  <a:t>취하</a:t>
                </a:r>
                <a:r>
                  <a:rPr lang="en-US" altLang="ko-KR" sz="1000" dirty="0">
                    <a:solidFill>
                      <a:schemeClr val="tx1"/>
                    </a:solidFill>
                  </a:rPr>
                  <a:t>, </a:t>
                </a:r>
                <a:r>
                  <a:rPr lang="ko-KR" altLang="en-US" sz="1000" dirty="0">
                    <a:solidFill>
                      <a:schemeClr val="tx1"/>
                    </a:solidFill>
                  </a:rPr>
                  <a:t>포기</a:t>
                </a:r>
                <a:r>
                  <a:rPr lang="en-US" altLang="ko-KR" sz="1000" dirty="0">
                    <a:solidFill>
                      <a:schemeClr val="tx1"/>
                    </a:solidFill>
                  </a:rPr>
                  <a:t>(</a:t>
                </a:r>
                <a:r>
                  <a:rPr lang="ko-KR" altLang="en-US" sz="1000" dirty="0">
                    <a:solidFill>
                      <a:schemeClr val="tx1"/>
                    </a:solidFill>
                  </a:rPr>
                  <a:t>제도</a:t>
                </a:r>
                <a:r>
                  <a:rPr lang="en-US" altLang="ko-KR" sz="1000" dirty="0">
                    <a:solidFill>
                      <a:schemeClr val="tx1"/>
                    </a:solidFill>
                  </a:rPr>
                  <a:t>)</a:t>
                </a:r>
                <a:endParaRPr lang="ko-KR" altLang="en-US" sz="1000" dirty="0">
                  <a:solidFill>
                    <a:schemeClr val="tx1"/>
                  </a:solidFill>
                </a:endParaRPr>
              </a:p>
            </p:txBody>
          </p:sp>
          <p:sp>
            <p:nvSpPr>
              <p:cNvPr id="101" name="직사각형 100"/>
              <p:cNvSpPr/>
              <p:nvPr/>
            </p:nvSpPr>
            <p:spPr>
              <a:xfrm>
                <a:off x="3618912" y="5703059"/>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특허여부결정</a:t>
                </a:r>
                <a:r>
                  <a:rPr lang="en-US" altLang="ko-KR" sz="1000" dirty="0">
                    <a:solidFill>
                      <a:schemeClr val="tx1"/>
                    </a:solidFill>
                  </a:rPr>
                  <a:t>(</a:t>
                </a:r>
                <a:r>
                  <a:rPr lang="ko-KR" altLang="en-US" sz="1000" dirty="0">
                    <a:solidFill>
                      <a:schemeClr val="tx1"/>
                    </a:solidFill>
                  </a:rPr>
                  <a:t>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62, 63, 66~67</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102" name="직사각형 101"/>
              <p:cNvSpPr/>
              <p:nvPr/>
            </p:nvSpPr>
            <p:spPr>
              <a:xfrm>
                <a:off x="3618912" y="466874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심사청구제도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59, 60)</a:t>
                </a:r>
                <a:endParaRPr lang="ko-KR" altLang="en-US" sz="1000" dirty="0">
                  <a:solidFill>
                    <a:schemeClr val="tx1"/>
                  </a:solidFill>
                </a:endParaRPr>
              </a:p>
            </p:txBody>
          </p:sp>
          <p:sp>
            <p:nvSpPr>
              <p:cNvPr id="103" name="직사각형 102"/>
              <p:cNvSpPr/>
              <p:nvPr/>
            </p:nvSpPr>
            <p:spPr>
              <a:xfrm>
                <a:off x="3618912" y="489180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우선심사제도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61)</a:t>
                </a:r>
                <a:endParaRPr lang="ko-KR" altLang="en-US" sz="1000" dirty="0">
                  <a:solidFill>
                    <a:schemeClr val="tx1"/>
                  </a:solidFill>
                </a:endParaRPr>
              </a:p>
            </p:txBody>
          </p:sp>
          <p:sp>
            <p:nvSpPr>
              <p:cNvPr id="104" name="직사각형 103"/>
              <p:cNvSpPr/>
              <p:nvPr/>
            </p:nvSpPr>
            <p:spPr>
              <a:xfrm>
                <a:off x="3618912" y="517897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심사의 진행</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62, 63, 63</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105" name="직사각형 104"/>
              <p:cNvSpPr/>
              <p:nvPr/>
            </p:nvSpPr>
            <p:spPr>
              <a:xfrm>
                <a:off x="3618912" y="5955831"/>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정보제공제도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63</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106" name="직사각형 105"/>
              <p:cNvSpPr/>
              <p:nvPr/>
            </p:nvSpPr>
            <p:spPr>
              <a:xfrm>
                <a:off x="3618912" y="617889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출원공개제도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64, 65)</a:t>
                </a:r>
                <a:endParaRPr lang="ko-KR" altLang="en-US" sz="1000" dirty="0">
                  <a:solidFill>
                    <a:schemeClr val="tx1"/>
                  </a:solidFill>
                </a:endParaRPr>
              </a:p>
            </p:txBody>
          </p:sp>
          <p:sp>
            <p:nvSpPr>
              <p:cNvPr id="107" name="직사각형 106"/>
              <p:cNvSpPr/>
              <p:nvPr/>
            </p:nvSpPr>
            <p:spPr>
              <a:xfrm>
                <a:off x="3618912" y="640622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타절차와의</a:t>
                </a:r>
                <a:r>
                  <a:rPr lang="ko-KR" altLang="en-US" sz="1000" dirty="0">
                    <a:solidFill>
                      <a:schemeClr val="tx1"/>
                    </a:solidFill>
                  </a:rPr>
                  <a:t> 관계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78)</a:t>
                </a:r>
                <a:endParaRPr lang="ko-KR" altLang="en-US" sz="1000" dirty="0">
                  <a:solidFill>
                    <a:schemeClr val="tx1"/>
                  </a:solidFill>
                </a:endParaRPr>
              </a:p>
            </p:txBody>
          </p:sp>
        </p:grpSp>
        <p:cxnSp>
          <p:nvCxnSpPr>
            <p:cNvPr id="88" name="꺾인 연결선 87"/>
            <p:cNvCxnSpPr>
              <a:stCxn id="108" idx="3"/>
              <a:endCxn id="98" idx="1"/>
            </p:cNvCxnSpPr>
            <p:nvPr/>
          </p:nvCxnSpPr>
          <p:spPr>
            <a:xfrm flipV="1">
              <a:off x="8438556" y="4163607"/>
              <a:ext cx="124868" cy="22930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꺾인 연결선 88"/>
            <p:cNvCxnSpPr>
              <a:stCxn id="108" idx="3"/>
              <a:endCxn id="99" idx="1"/>
            </p:cNvCxnSpPr>
            <p:nvPr/>
          </p:nvCxnSpPr>
          <p:spPr>
            <a:xfrm flipV="1">
              <a:off x="8438556" y="4386669"/>
              <a:ext cx="124868" cy="62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꺾인 연결선 89"/>
            <p:cNvCxnSpPr>
              <a:stCxn id="109" idx="3"/>
              <a:endCxn id="102" idx="1"/>
            </p:cNvCxnSpPr>
            <p:nvPr/>
          </p:nvCxnSpPr>
          <p:spPr>
            <a:xfrm flipV="1">
              <a:off x="8438556" y="4620206"/>
              <a:ext cx="124868" cy="1704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꺾인 연결선 90"/>
            <p:cNvCxnSpPr>
              <a:stCxn id="109" idx="3"/>
              <a:endCxn id="103" idx="1"/>
            </p:cNvCxnSpPr>
            <p:nvPr/>
          </p:nvCxnSpPr>
          <p:spPr>
            <a:xfrm>
              <a:off x="8438556" y="4790673"/>
              <a:ext cx="124868" cy="525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꺾인 연결선 91"/>
            <p:cNvCxnSpPr>
              <a:stCxn id="110" idx="3"/>
              <a:endCxn id="104" idx="1"/>
            </p:cNvCxnSpPr>
            <p:nvPr/>
          </p:nvCxnSpPr>
          <p:spPr>
            <a:xfrm flipV="1">
              <a:off x="8438556" y="5130438"/>
              <a:ext cx="124868" cy="797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꺾인 연결선 92"/>
            <p:cNvCxnSpPr>
              <a:stCxn id="111" idx="3"/>
              <a:endCxn id="100" idx="1"/>
            </p:cNvCxnSpPr>
            <p:nvPr/>
          </p:nvCxnSpPr>
          <p:spPr>
            <a:xfrm flipV="1">
              <a:off x="8438556" y="5431461"/>
              <a:ext cx="124868" cy="17644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꺾인 연결선 93"/>
            <p:cNvCxnSpPr>
              <a:stCxn id="111" idx="3"/>
              <a:endCxn id="101" idx="1"/>
            </p:cNvCxnSpPr>
            <p:nvPr/>
          </p:nvCxnSpPr>
          <p:spPr>
            <a:xfrm>
              <a:off x="8438556" y="5607910"/>
              <a:ext cx="124868" cy="466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꺾인 연결선 94"/>
            <p:cNvCxnSpPr>
              <a:stCxn id="112" idx="3"/>
              <a:endCxn id="105" idx="1"/>
            </p:cNvCxnSpPr>
            <p:nvPr/>
          </p:nvCxnSpPr>
          <p:spPr>
            <a:xfrm flipV="1">
              <a:off x="8438556" y="5907294"/>
              <a:ext cx="124868" cy="809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꺾인 연결선 95"/>
            <p:cNvCxnSpPr>
              <a:stCxn id="112" idx="3"/>
              <a:endCxn id="106" idx="1"/>
            </p:cNvCxnSpPr>
            <p:nvPr/>
          </p:nvCxnSpPr>
          <p:spPr>
            <a:xfrm>
              <a:off x="8438556" y="5988209"/>
              <a:ext cx="124868" cy="14214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꺾인 연결선 96"/>
            <p:cNvCxnSpPr>
              <a:stCxn id="112" idx="3"/>
              <a:endCxn id="107" idx="1"/>
            </p:cNvCxnSpPr>
            <p:nvPr/>
          </p:nvCxnSpPr>
          <p:spPr>
            <a:xfrm>
              <a:off x="8438556" y="5988209"/>
              <a:ext cx="124868" cy="36948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13" name="직사각형 112"/>
          <p:cNvSpPr/>
          <p:nvPr/>
        </p:nvSpPr>
        <p:spPr>
          <a:xfrm>
            <a:off x="5960556" y="3393490"/>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특허법</a:t>
            </a:r>
            <a:endParaRPr lang="en-US" altLang="ko-KR" dirty="0"/>
          </a:p>
          <a:p>
            <a:pPr algn="ctr"/>
            <a:r>
              <a:rPr lang="ko-KR" altLang="en-US" dirty="0"/>
              <a:t>체계도</a:t>
            </a:r>
          </a:p>
        </p:txBody>
      </p:sp>
      <p:sp>
        <p:nvSpPr>
          <p:cNvPr id="114" name="타원 113"/>
          <p:cNvSpPr/>
          <p:nvPr/>
        </p:nvSpPr>
        <p:spPr>
          <a:xfrm>
            <a:off x="880857" y="2219587"/>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115" name="타원 114"/>
          <p:cNvSpPr/>
          <p:nvPr/>
        </p:nvSpPr>
        <p:spPr>
          <a:xfrm>
            <a:off x="6163733" y="2366819"/>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116" name="타원 115"/>
          <p:cNvSpPr/>
          <p:nvPr/>
        </p:nvSpPr>
        <p:spPr>
          <a:xfrm>
            <a:off x="542670" y="5005703"/>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117" name="타원 116"/>
          <p:cNvSpPr/>
          <p:nvPr/>
        </p:nvSpPr>
        <p:spPr>
          <a:xfrm>
            <a:off x="6647019" y="5043860"/>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4</a:t>
            </a:r>
            <a:endParaRPr lang="ko-KR" altLang="en-US" dirty="0"/>
          </a:p>
        </p:txBody>
      </p:sp>
      <p:sp>
        <p:nvSpPr>
          <p:cNvPr id="118" name="자유형 117"/>
          <p:cNvSpPr/>
          <p:nvPr/>
        </p:nvSpPr>
        <p:spPr>
          <a:xfrm>
            <a:off x="1049867" y="2582332"/>
            <a:ext cx="4893733" cy="1423457"/>
          </a:xfrm>
          <a:custGeom>
            <a:avLst/>
            <a:gdLst>
              <a:gd name="connsiteX0" fmla="*/ 4893733 w 4893733"/>
              <a:gd name="connsiteY0" fmla="*/ 1295400 h 1295400"/>
              <a:gd name="connsiteX1" fmla="*/ 4893733 w 4893733"/>
              <a:gd name="connsiteY1" fmla="*/ 1295400 h 1295400"/>
              <a:gd name="connsiteX2" fmla="*/ 0 w 4893733"/>
              <a:gd name="connsiteY2" fmla="*/ 1295400 h 1295400"/>
              <a:gd name="connsiteX3" fmla="*/ 0 w 4893733"/>
              <a:gd name="connsiteY3" fmla="*/ 0 h 1295400"/>
            </a:gdLst>
            <a:ahLst/>
            <a:cxnLst>
              <a:cxn ang="0">
                <a:pos x="connsiteX0" y="connsiteY0"/>
              </a:cxn>
              <a:cxn ang="0">
                <a:pos x="connsiteX1" y="connsiteY1"/>
              </a:cxn>
              <a:cxn ang="0">
                <a:pos x="connsiteX2" y="connsiteY2"/>
              </a:cxn>
              <a:cxn ang="0">
                <a:pos x="connsiteX3" y="connsiteY3"/>
              </a:cxn>
            </a:cxnLst>
            <a:rect l="l" t="t" r="r" b="b"/>
            <a:pathLst>
              <a:path w="4893733" h="1295400">
                <a:moveTo>
                  <a:pt x="4893733" y="1295400"/>
                </a:moveTo>
                <a:lnTo>
                  <a:pt x="4893733" y="1295400"/>
                </a:lnTo>
                <a:lnTo>
                  <a:pt x="0" y="1295400"/>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19" name="자유형 118"/>
          <p:cNvSpPr/>
          <p:nvPr/>
        </p:nvSpPr>
        <p:spPr>
          <a:xfrm>
            <a:off x="718458" y="3993619"/>
            <a:ext cx="5233610" cy="997811"/>
          </a:xfrm>
          <a:custGeom>
            <a:avLst/>
            <a:gdLst>
              <a:gd name="connsiteX0" fmla="*/ 5215467 w 5215467"/>
              <a:gd name="connsiteY0" fmla="*/ 0 h 965200"/>
              <a:gd name="connsiteX1" fmla="*/ 0 w 5215467"/>
              <a:gd name="connsiteY1" fmla="*/ 0 h 965200"/>
              <a:gd name="connsiteX2" fmla="*/ 0 w 5215467"/>
              <a:gd name="connsiteY2" fmla="*/ 965200 h 965200"/>
            </a:gdLst>
            <a:ahLst/>
            <a:cxnLst>
              <a:cxn ang="0">
                <a:pos x="connsiteX0" y="connsiteY0"/>
              </a:cxn>
              <a:cxn ang="0">
                <a:pos x="connsiteX1" y="connsiteY1"/>
              </a:cxn>
              <a:cxn ang="0">
                <a:pos x="connsiteX2" y="connsiteY2"/>
              </a:cxn>
            </a:cxnLst>
            <a:rect l="l" t="t" r="r" b="b"/>
            <a:pathLst>
              <a:path w="5215467" h="965200">
                <a:moveTo>
                  <a:pt x="5215467" y="0"/>
                </a:moveTo>
                <a:lnTo>
                  <a:pt x="0" y="0"/>
                </a:lnTo>
                <a:lnTo>
                  <a:pt x="0" y="9652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0" name="자유형 119"/>
          <p:cNvSpPr/>
          <p:nvPr/>
        </p:nvSpPr>
        <p:spPr>
          <a:xfrm>
            <a:off x="6383867" y="2726267"/>
            <a:ext cx="0" cy="668866"/>
          </a:xfrm>
          <a:custGeom>
            <a:avLst/>
            <a:gdLst>
              <a:gd name="connsiteX0" fmla="*/ 0 w 0"/>
              <a:gd name="connsiteY0" fmla="*/ 668866 h 668866"/>
              <a:gd name="connsiteX1" fmla="*/ 0 w 0"/>
              <a:gd name="connsiteY1" fmla="*/ 0 h 668866"/>
            </a:gdLst>
            <a:ahLst/>
            <a:cxnLst>
              <a:cxn ang="0">
                <a:pos x="connsiteX0" y="connsiteY0"/>
              </a:cxn>
              <a:cxn ang="0">
                <a:pos x="connsiteX1" y="connsiteY1"/>
              </a:cxn>
            </a:cxnLst>
            <a:rect l="l" t="t" r="r" b="b"/>
            <a:pathLst>
              <a:path h="668866">
                <a:moveTo>
                  <a:pt x="0" y="668866"/>
                </a:move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cxnSp>
        <p:nvCxnSpPr>
          <p:cNvPr id="121" name="직선 연결선 120"/>
          <p:cNvCxnSpPr>
            <a:stCxn id="113" idx="2"/>
            <a:endCxn id="113" idx="2"/>
          </p:cNvCxnSpPr>
          <p:nvPr/>
        </p:nvCxnSpPr>
        <p:spPr>
          <a:xfrm>
            <a:off x="6417756" y="4307890"/>
            <a:ext cx="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2" name="자유형 121"/>
          <p:cNvSpPr/>
          <p:nvPr/>
        </p:nvSpPr>
        <p:spPr>
          <a:xfrm>
            <a:off x="6400800" y="4318000"/>
            <a:ext cx="262467" cy="897467"/>
          </a:xfrm>
          <a:custGeom>
            <a:avLst/>
            <a:gdLst>
              <a:gd name="connsiteX0" fmla="*/ 0 w 262467"/>
              <a:gd name="connsiteY0" fmla="*/ 0 h 897467"/>
              <a:gd name="connsiteX1" fmla="*/ 0 w 262467"/>
              <a:gd name="connsiteY1" fmla="*/ 0 h 897467"/>
              <a:gd name="connsiteX2" fmla="*/ 0 w 262467"/>
              <a:gd name="connsiteY2" fmla="*/ 897467 h 897467"/>
              <a:gd name="connsiteX3" fmla="*/ 262467 w 262467"/>
              <a:gd name="connsiteY3" fmla="*/ 897467 h 897467"/>
            </a:gdLst>
            <a:ahLst/>
            <a:cxnLst>
              <a:cxn ang="0">
                <a:pos x="connsiteX0" y="connsiteY0"/>
              </a:cxn>
              <a:cxn ang="0">
                <a:pos x="connsiteX1" y="connsiteY1"/>
              </a:cxn>
              <a:cxn ang="0">
                <a:pos x="connsiteX2" y="connsiteY2"/>
              </a:cxn>
              <a:cxn ang="0">
                <a:pos x="connsiteX3" y="connsiteY3"/>
              </a:cxn>
            </a:cxnLst>
            <a:rect l="l" t="t" r="r" b="b"/>
            <a:pathLst>
              <a:path w="262467" h="897467">
                <a:moveTo>
                  <a:pt x="0" y="0"/>
                </a:moveTo>
                <a:lnTo>
                  <a:pt x="0" y="0"/>
                </a:lnTo>
                <a:lnTo>
                  <a:pt x="0" y="897467"/>
                </a:lnTo>
                <a:lnTo>
                  <a:pt x="262467" y="897467"/>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5" name="직사각형 124">
            <a:extLst>
              <a:ext uri="{FF2B5EF4-FFF2-40B4-BE49-F238E27FC236}">
                <a16:creationId xmlns:a16="http://schemas.microsoft.com/office/drawing/2014/main" id="{9012F393-65ED-4311-A56D-1073EA0A0D99}"/>
              </a:ext>
            </a:extLst>
          </p:cNvPr>
          <p:cNvSpPr/>
          <p:nvPr/>
        </p:nvSpPr>
        <p:spPr>
          <a:xfrm>
            <a:off x="2487992" y="5160972"/>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분할출원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52)</a:t>
            </a:r>
            <a:endParaRPr lang="ko-KR" altLang="en-US" sz="1000" dirty="0">
              <a:solidFill>
                <a:schemeClr val="tx1"/>
              </a:solidFill>
            </a:endParaRPr>
          </a:p>
        </p:txBody>
      </p:sp>
      <p:cxnSp>
        <p:nvCxnSpPr>
          <p:cNvPr id="127" name="꺾인 연결선 67">
            <a:extLst>
              <a:ext uri="{FF2B5EF4-FFF2-40B4-BE49-F238E27FC236}">
                <a16:creationId xmlns:a16="http://schemas.microsoft.com/office/drawing/2014/main" id="{E6B18D36-32CC-497B-A148-E8CED33A916F}"/>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꺾인 연결선 68">
            <a:extLst>
              <a:ext uri="{FF2B5EF4-FFF2-40B4-BE49-F238E27FC236}">
                <a16:creationId xmlns:a16="http://schemas.microsoft.com/office/drawing/2014/main" id="{15731FFB-002A-4D1A-B931-E4E3AE5EC565}"/>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6" name="직사각형 135">
            <a:extLst>
              <a:ext uri="{FF2B5EF4-FFF2-40B4-BE49-F238E27FC236}">
                <a16:creationId xmlns:a16="http://schemas.microsoft.com/office/drawing/2014/main" id="{88952097-4047-B4C7-1974-88AE224120C6}"/>
              </a:ext>
            </a:extLst>
          </p:cNvPr>
          <p:cNvSpPr/>
          <p:nvPr/>
        </p:nvSpPr>
        <p:spPr>
          <a:xfrm>
            <a:off x="2118397" y="36224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err="1">
                <a:solidFill>
                  <a:schemeClr val="tx1"/>
                </a:solidFill>
              </a:rPr>
              <a:t>보칙</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215-224</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Tree>
    <p:extLst>
      <p:ext uri="{BB962C8B-B14F-4D97-AF65-F5344CB8AC3E}">
        <p14:creationId xmlns:p14="http://schemas.microsoft.com/office/powerpoint/2010/main" val="182495329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2</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124" name="직사각형 123"/>
          <p:cNvSpPr/>
          <p:nvPr/>
        </p:nvSpPr>
        <p:spPr>
          <a:xfrm>
            <a:off x="680604" y="2547021"/>
            <a:ext cx="545064" cy="552230"/>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a:t>특허권</a:t>
            </a:r>
            <a:endParaRPr lang="ko-KR" altLang="en-US" sz="1200" dirty="0"/>
          </a:p>
        </p:txBody>
      </p:sp>
      <p:sp>
        <p:nvSpPr>
          <p:cNvPr id="125" name="직사각형 124"/>
          <p:cNvSpPr/>
          <p:nvPr/>
        </p:nvSpPr>
        <p:spPr>
          <a:xfrm>
            <a:off x="1383335" y="123999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발생</a:t>
            </a:r>
          </a:p>
        </p:txBody>
      </p:sp>
      <p:sp>
        <p:nvSpPr>
          <p:cNvPr id="126" name="직사각형 125"/>
          <p:cNvSpPr/>
          <p:nvPr/>
        </p:nvSpPr>
        <p:spPr>
          <a:xfrm>
            <a:off x="1383335" y="1789781"/>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효력</a:t>
            </a:r>
          </a:p>
        </p:txBody>
      </p:sp>
      <p:sp>
        <p:nvSpPr>
          <p:cNvPr id="127" name="직사각형 126"/>
          <p:cNvSpPr/>
          <p:nvPr/>
        </p:nvSpPr>
        <p:spPr>
          <a:xfrm>
            <a:off x="1383335" y="2944739"/>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변동</a:t>
            </a:r>
          </a:p>
        </p:txBody>
      </p:sp>
      <p:sp>
        <p:nvSpPr>
          <p:cNvPr id="128" name="직사각형 127"/>
          <p:cNvSpPr/>
          <p:nvPr/>
        </p:nvSpPr>
        <p:spPr>
          <a:xfrm>
            <a:off x="1383335" y="366808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소멸</a:t>
            </a:r>
          </a:p>
        </p:txBody>
      </p:sp>
      <p:sp>
        <p:nvSpPr>
          <p:cNvPr id="129" name="직사각형 128"/>
          <p:cNvSpPr/>
          <p:nvPr/>
        </p:nvSpPr>
        <p:spPr>
          <a:xfrm>
            <a:off x="1383335" y="4175764"/>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관련</a:t>
            </a:r>
          </a:p>
        </p:txBody>
      </p:sp>
      <p:cxnSp>
        <p:nvCxnSpPr>
          <p:cNvPr id="130" name="꺾인 연결선 129"/>
          <p:cNvCxnSpPr>
            <a:stCxn id="124" idx="3"/>
            <a:endCxn id="125" idx="1"/>
          </p:cNvCxnSpPr>
          <p:nvPr/>
        </p:nvCxnSpPr>
        <p:spPr>
          <a:xfrm flipV="1">
            <a:off x="1225668" y="1360804"/>
            <a:ext cx="157667" cy="146233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꺾인 연결선 130"/>
          <p:cNvCxnSpPr>
            <a:stCxn id="124" idx="3"/>
            <a:endCxn id="129" idx="1"/>
          </p:cNvCxnSpPr>
          <p:nvPr/>
        </p:nvCxnSpPr>
        <p:spPr>
          <a:xfrm>
            <a:off x="1225668" y="2823136"/>
            <a:ext cx="157667" cy="147344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124" idx="3"/>
            <a:endCxn id="126" idx="1"/>
          </p:cNvCxnSpPr>
          <p:nvPr/>
        </p:nvCxnSpPr>
        <p:spPr>
          <a:xfrm flipV="1">
            <a:off x="1225668" y="1910593"/>
            <a:ext cx="157667" cy="9125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꺾인 연결선 132"/>
          <p:cNvCxnSpPr>
            <a:stCxn id="124" idx="3"/>
            <a:endCxn id="128" idx="1"/>
          </p:cNvCxnSpPr>
          <p:nvPr/>
        </p:nvCxnSpPr>
        <p:spPr>
          <a:xfrm>
            <a:off x="1225668" y="2823136"/>
            <a:ext cx="157667" cy="96575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stCxn id="124" idx="3"/>
            <a:endCxn id="127" idx="1"/>
          </p:cNvCxnSpPr>
          <p:nvPr/>
        </p:nvCxnSpPr>
        <p:spPr>
          <a:xfrm>
            <a:off x="1225668" y="2823136"/>
            <a:ext cx="157667" cy="2424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5" name="직사각형 134"/>
          <p:cNvSpPr/>
          <p:nvPr/>
        </p:nvSpPr>
        <p:spPr>
          <a:xfrm>
            <a:off x="1927293" y="1027643"/>
            <a:ext cx="1744315" cy="12863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특허료의 납부 등</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79~86)</a:t>
            </a:r>
            <a:endParaRPr lang="ko-KR" altLang="en-US" sz="1000" dirty="0">
              <a:solidFill>
                <a:schemeClr val="tx2"/>
              </a:solidFill>
            </a:endParaRPr>
          </a:p>
        </p:txBody>
      </p:sp>
      <p:sp>
        <p:nvSpPr>
          <p:cNvPr id="136" name="직사각형 135"/>
          <p:cNvSpPr/>
          <p:nvPr/>
        </p:nvSpPr>
        <p:spPr>
          <a:xfrm>
            <a:off x="1927294" y="1199840"/>
            <a:ext cx="1744314" cy="14679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설정등록 및 등록공고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87)</a:t>
            </a:r>
            <a:endParaRPr lang="ko-KR" altLang="en-US" sz="1000" dirty="0">
              <a:solidFill>
                <a:schemeClr val="tx2"/>
              </a:solidFill>
            </a:endParaRPr>
          </a:p>
        </p:txBody>
      </p:sp>
      <p:sp>
        <p:nvSpPr>
          <p:cNvPr id="137" name="직사각형 136"/>
          <p:cNvSpPr/>
          <p:nvPr/>
        </p:nvSpPr>
        <p:spPr>
          <a:xfrm>
            <a:off x="1927295" y="3385001"/>
            <a:ext cx="991185" cy="18765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질권</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121~123)</a:t>
            </a:r>
            <a:endParaRPr lang="ko-KR" altLang="en-US" sz="1000" dirty="0">
              <a:solidFill>
                <a:schemeClr val="tx2"/>
              </a:solidFill>
            </a:endParaRPr>
          </a:p>
        </p:txBody>
      </p:sp>
      <p:sp>
        <p:nvSpPr>
          <p:cNvPr id="138" name="직사각형 137"/>
          <p:cNvSpPr/>
          <p:nvPr/>
        </p:nvSpPr>
        <p:spPr>
          <a:xfrm>
            <a:off x="1931244" y="3908454"/>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효과</a:t>
            </a:r>
          </a:p>
        </p:txBody>
      </p:sp>
      <p:sp>
        <p:nvSpPr>
          <p:cNvPr id="139" name="직사각형 138"/>
          <p:cNvSpPr/>
          <p:nvPr/>
        </p:nvSpPr>
        <p:spPr>
          <a:xfrm>
            <a:off x="1927295" y="1600786"/>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범위</a:t>
            </a:r>
          </a:p>
        </p:txBody>
      </p:sp>
      <p:sp>
        <p:nvSpPr>
          <p:cNvPr id="140" name="직사각형 139"/>
          <p:cNvSpPr/>
          <p:nvPr/>
        </p:nvSpPr>
        <p:spPr>
          <a:xfrm>
            <a:off x="1927295" y="2235641"/>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내용</a:t>
            </a:r>
          </a:p>
        </p:txBody>
      </p:sp>
      <p:sp>
        <p:nvSpPr>
          <p:cNvPr id="141" name="직사각형 140"/>
          <p:cNvSpPr/>
          <p:nvPr/>
        </p:nvSpPr>
        <p:spPr>
          <a:xfrm>
            <a:off x="1927295" y="3187241"/>
            <a:ext cx="99118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000" dirty="0" err="1">
                <a:solidFill>
                  <a:schemeClr val="tx2"/>
                </a:solidFill>
              </a:rPr>
              <a:t>실시권</a:t>
            </a:r>
            <a:endParaRPr lang="ko-KR" altLang="en-US" sz="1000" dirty="0">
              <a:solidFill>
                <a:schemeClr val="tx2"/>
              </a:solidFill>
            </a:endParaRPr>
          </a:p>
        </p:txBody>
      </p:sp>
      <p:sp>
        <p:nvSpPr>
          <p:cNvPr id="142" name="직사각형 141"/>
          <p:cNvSpPr/>
          <p:nvPr/>
        </p:nvSpPr>
        <p:spPr>
          <a:xfrm>
            <a:off x="1926619" y="4143059"/>
            <a:ext cx="1355344" cy="15351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실시보고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125)</a:t>
            </a:r>
            <a:endParaRPr lang="ko-KR" altLang="en-US" sz="1000" dirty="0">
              <a:solidFill>
                <a:schemeClr val="tx2"/>
              </a:solidFill>
            </a:endParaRPr>
          </a:p>
        </p:txBody>
      </p:sp>
      <p:sp>
        <p:nvSpPr>
          <p:cNvPr id="143" name="직사각형 142"/>
          <p:cNvSpPr/>
          <p:nvPr/>
        </p:nvSpPr>
        <p:spPr>
          <a:xfrm>
            <a:off x="1926619" y="4320845"/>
            <a:ext cx="1355344" cy="13417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집행권원</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125</a:t>
            </a:r>
            <a:r>
              <a:rPr lang="ko-KR" altLang="en-US" sz="1000" dirty="0">
                <a:solidFill>
                  <a:schemeClr val="tx2"/>
                </a:solidFill>
              </a:rPr>
              <a:t>의</a:t>
            </a:r>
            <a:r>
              <a:rPr lang="en-US" altLang="ko-KR" sz="1000" dirty="0">
                <a:solidFill>
                  <a:schemeClr val="tx2"/>
                </a:solidFill>
              </a:rPr>
              <a:t>2)</a:t>
            </a:r>
            <a:endParaRPr lang="ko-KR" altLang="en-US" sz="1000" dirty="0">
              <a:solidFill>
                <a:schemeClr val="tx2"/>
              </a:solidFill>
            </a:endParaRPr>
          </a:p>
        </p:txBody>
      </p:sp>
      <p:cxnSp>
        <p:nvCxnSpPr>
          <p:cNvPr id="144" name="꺾인 연결선 143"/>
          <p:cNvCxnSpPr>
            <a:stCxn id="125" idx="3"/>
            <a:endCxn id="135" idx="1"/>
          </p:cNvCxnSpPr>
          <p:nvPr/>
        </p:nvCxnSpPr>
        <p:spPr>
          <a:xfrm flipV="1">
            <a:off x="1774346" y="1091961"/>
            <a:ext cx="152947" cy="26884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꺾인 연결선 144"/>
          <p:cNvCxnSpPr>
            <a:stCxn id="125" idx="3"/>
            <a:endCxn id="136" idx="1"/>
          </p:cNvCxnSpPr>
          <p:nvPr/>
        </p:nvCxnSpPr>
        <p:spPr>
          <a:xfrm flipV="1">
            <a:off x="1774346" y="1273240"/>
            <a:ext cx="152948" cy="875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꺾인 연결선 145"/>
          <p:cNvCxnSpPr>
            <a:stCxn id="126" idx="3"/>
            <a:endCxn id="139" idx="1"/>
          </p:cNvCxnSpPr>
          <p:nvPr/>
        </p:nvCxnSpPr>
        <p:spPr>
          <a:xfrm flipV="1">
            <a:off x="1774346" y="1680091"/>
            <a:ext cx="152949" cy="2305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꺾인 연결선 146"/>
          <p:cNvCxnSpPr>
            <a:stCxn id="126" idx="3"/>
            <a:endCxn id="140" idx="1"/>
          </p:cNvCxnSpPr>
          <p:nvPr/>
        </p:nvCxnSpPr>
        <p:spPr>
          <a:xfrm>
            <a:off x="1774346" y="1910593"/>
            <a:ext cx="152949" cy="4043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꺾인 연결선 147"/>
          <p:cNvCxnSpPr>
            <a:stCxn id="127" idx="3"/>
            <a:endCxn id="141" idx="1"/>
          </p:cNvCxnSpPr>
          <p:nvPr/>
        </p:nvCxnSpPr>
        <p:spPr>
          <a:xfrm>
            <a:off x="1774346" y="3065551"/>
            <a:ext cx="152949" cy="2009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꺾인 연결선 148"/>
          <p:cNvCxnSpPr>
            <a:stCxn id="128" idx="3"/>
            <a:endCxn id="138" idx="1"/>
          </p:cNvCxnSpPr>
          <p:nvPr/>
        </p:nvCxnSpPr>
        <p:spPr>
          <a:xfrm>
            <a:off x="1774346" y="3788895"/>
            <a:ext cx="156898" cy="1988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꺾인 연결선 149"/>
          <p:cNvCxnSpPr>
            <a:stCxn id="129" idx="3"/>
            <a:endCxn id="142" idx="1"/>
          </p:cNvCxnSpPr>
          <p:nvPr/>
        </p:nvCxnSpPr>
        <p:spPr>
          <a:xfrm flipV="1">
            <a:off x="1774346" y="4219817"/>
            <a:ext cx="152273" cy="767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1" name="꺾인 연결선 150"/>
          <p:cNvCxnSpPr>
            <a:stCxn id="129" idx="3"/>
            <a:endCxn id="143" idx="1"/>
          </p:cNvCxnSpPr>
          <p:nvPr/>
        </p:nvCxnSpPr>
        <p:spPr>
          <a:xfrm>
            <a:off x="1774346" y="4296575"/>
            <a:ext cx="152273" cy="913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2" name="직사각형 151"/>
          <p:cNvSpPr/>
          <p:nvPr/>
        </p:nvSpPr>
        <p:spPr>
          <a:xfrm>
            <a:off x="2490834" y="1502332"/>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시간적</a:t>
            </a:r>
          </a:p>
        </p:txBody>
      </p:sp>
      <p:sp>
        <p:nvSpPr>
          <p:cNvPr id="153" name="직사각형 152"/>
          <p:cNvSpPr/>
          <p:nvPr/>
        </p:nvSpPr>
        <p:spPr>
          <a:xfrm>
            <a:off x="2490834" y="1753955"/>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내용적</a:t>
            </a:r>
          </a:p>
        </p:txBody>
      </p:sp>
      <p:sp>
        <p:nvSpPr>
          <p:cNvPr id="154" name="직사각형 153"/>
          <p:cNvSpPr/>
          <p:nvPr/>
        </p:nvSpPr>
        <p:spPr>
          <a:xfrm>
            <a:off x="2490834" y="1966576"/>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지역적</a:t>
            </a:r>
          </a:p>
        </p:txBody>
      </p:sp>
      <p:sp>
        <p:nvSpPr>
          <p:cNvPr id="155" name="직사각형 154"/>
          <p:cNvSpPr/>
          <p:nvPr/>
        </p:nvSpPr>
        <p:spPr>
          <a:xfrm>
            <a:off x="3028012" y="1406769"/>
            <a:ext cx="1665788"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존속기간</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88)</a:t>
            </a:r>
            <a:endParaRPr lang="ko-KR" altLang="en-US" sz="1000" dirty="0">
              <a:solidFill>
                <a:schemeClr val="tx2"/>
              </a:solidFill>
            </a:endParaRPr>
          </a:p>
        </p:txBody>
      </p:sp>
      <p:sp>
        <p:nvSpPr>
          <p:cNvPr id="156" name="직사각형 155"/>
          <p:cNvSpPr/>
          <p:nvPr/>
        </p:nvSpPr>
        <p:spPr>
          <a:xfrm>
            <a:off x="3028012" y="1577847"/>
            <a:ext cx="1665790" cy="149257"/>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존속기간의 연장</a:t>
            </a:r>
            <a:r>
              <a:rPr lang="en-US" altLang="ko-KR" sz="800" dirty="0">
                <a:solidFill>
                  <a:schemeClr val="tx2"/>
                </a:solidFill>
              </a:rPr>
              <a:t>(</a:t>
            </a:r>
            <a:r>
              <a:rPr lang="ko-KR" altLang="en-US" sz="800" dirty="0">
                <a:solidFill>
                  <a:schemeClr val="tx2"/>
                </a:solidFill>
              </a:rPr>
              <a:t>法 </a:t>
            </a:r>
            <a:r>
              <a:rPr lang="en-US" altLang="ko-KR" sz="800" dirty="0">
                <a:solidFill>
                  <a:schemeClr val="tx2"/>
                </a:solidFill>
              </a:rPr>
              <a:t>89~93, 95)</a:t>
            </a:r>
            <a:endParaRPr lang="ko-KR" altLang="en-US" sz="800" dirty="0">
              <a:solidFill>
                <a:schemeClr val="tx2"/>
              </a:solidFill>
            </a:endParaRPr>
          </a:p>
        </p:txBody>
      </p:sp>
      <p:sp>
        <p:nvSpPr>
          <p:cNvPr id="157" name="직사각형 156"/>
          <p:cNvSpPr/>
          <p:nvPr/>
        </p:nvSpPr>
        <p:spPr>
          <a:xfrm>
            <a:off x="3028012" y="1745004"/>
            <a:ext cx="1665788" cy="18577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청구범위</a:t>
            </a:r>
          </a:p>
        </p:txBody>
      </p:sp>
      <p:sp>
        <p:nvSpPr>
          <p:cNvPr id="158" name="직사각형 157"/>
          <p:cNvSpPr/>
          <p:nvPr/>
        </p:nvSpPr>
        <p:spPr>
          <a:xfrm>
            <a:off x="3028011" y="1966575"/>
            <a:ext cx="1665789" cy="15861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속지주의</a:t>
            </a:r>
          </a:p>
        </p:txBody>
      </p:sp>
      <p:sp>
        <p:nvSpPr>
          <p:cNvPr id="159" name="직사각형 158"/>
          <p:cNvSpPr/>
          <p:nvPr/>
        </p:nvSpPr>
        <p:spPr>
          <a:xfrm>
            <a:off x="2500115" y="2247804"/>
            <a:ext cx="41836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의의</a:t>
            </a:r>
          </a:p>
        </p:txBody>
      </p:sp>
      <p:sp>
        <p:nvSpPr>
          <p:cNvPr id="160" name="직사각형 159"/>
          <p:cNvSpPr/>
          <p:nvPr/>
        </p:nvSpPr>
        <p:spPr>
          <a:xfrm>
            <a:off x="2500114" y="2523982"/>
            <a:ext cx="2193687" cy="16340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제한</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81</a:t>
            </a:r>
            <a:r>
              <a:rPr lang="ko-KR" altLang="en-US" sz="1000" dirty="0">
                <a:solidFill>
                  <a:schemeClr val="tx2"/>
                </a:solidFill>
              </a:rPr>
              <a:t>의</a:t>
            </a:r>
            <a:r>
              <a:rPr lang="en-US" altLang="ko-KR" sz="1000" dirty="0">
                <a:solidFill>
                  <a:schemeClr val="tx2"/>
                </a:solidFill>
              </a:rPr>
              <a:t>3④, 96, 181/98)</a:t>
            </a:r>
            <a:endParaRPr lang="ko-KR" altLang="en-US" sz="1000" dirty="0">
              <a:solidFill>
                <a:schemeClr val="tx2"/>
              </a:solidFill>
            </a:endParaRPr>
          </a:p>
        </p:txBody>
      </p:sp>
      <p:sp>
        <p:nvSpPr>
          <p:cNvPr id="161" name="직사각형 160"/>
          <p:cNvSpPr/>
          <p:nvPr/>
        </p:nvSpPr>
        <p:spPr>
          <a:xfrm>
            <a:off x="2500114" y="2714241"/>
            <a:ext cx="2193687"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확장</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127)</a:t>
            </a:r>
            <a:endParaRPr lang="ko-KR" altLang="en-US" sz="1000" dirty="0">
              <a:solidFill>
                <a:schemeClr val="tx2"/>
              </a:solidFill>
            </a:endParaRPr>
          </a:p>
        </p:txBody>
      </p:sp>
      <p:sp>
        <p:nvSpPr>
          <p:cNvPr id="162" name="직사각형 161"/>
          <p:cNvSpPr/>
          <p:nvPr/>
        </p:nvSpPr>
        <p:spPr>
          <a:xfrm>
            <a:off x="1927295" y="2927413"/>
            <a:ext cx="1564240" cy="19388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이전 및 공유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99, 99</a:t>
            </a:r>
            <a:r>
              <a:rPr lang="ko-KR" altLang="en-US" sz="1000" dirty="0">
                <a:solidFill>
                  <a:schemeClr val="tx2"/>
                </a:solidFill>
              </a:rPr>
              <a:t>의</a:t>
            </a:r>
            <a:r>
              <a:rPr lang="en-US" altLang="ko-KR" sz="1000" dirty="0">
                <a:solidFill>
                  <a:schemeClr val="tx2"/>
                </a:solidFill>
              </a:rPr>
              <a:t>2)</a:t>
            </a:r>
            <a:endParaRPr lang="ko-KR" altLang="en-US" sz="1000" dirty="0">
              <a:solidFill>
                <a:schemeClr val="tx2"/>
              </a:solidFill>
            </a:endParaRPr>
          </a:p>
        </p:txBody>
      </p:sp>
      <p:sp>
        <p:nvSpPr>
          <p:cNvPr id="163" name="직사각형 162"/>
          <p:cNvSpPr/>
          <p:nvPr/>
        </p:nvSpPr>
        <p:spPr>
          <a:xfrm>
            <a:off x="3109057" y="3518950"/>
            <a:ext cx="2829345" cy="133282"/>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강제실시권</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106</a:t>
            </a:r>
            <a:r>
              <a:rPr lang="ko-KR" altLang="en-US" sz="1000" dirty="0">
                <a:solidFill>
                  <a:schemeClr val="tx2"/>
                </a:solidFill>
              </a:rPr>
              <a:t>의</a:t>
            </a:r>
            <a:r>
              <a:rPr lang="en-US" altLang="ko-KR" sz="1000" dirty="0">
                <a:solidFill>
                  <a:schemeClr val="tx2"/>
                </a:solidFill>
              </a:rPr>
              <a:t>2, 107~115, 138)</a:t>
            </a:r>
            <a:endParaRPr lang="ko-KR" altLang="en-US" sz="1000" dirty="0">
              <a:solidFill>
                <a:schemeClr val="tx2"/>
              </a:solidFill>
            </a:endParaRPr>
          </a:p>
        </p:txBody>
      </p:sp>
      <p:sp>
        <p:nvSpPr>
          <p:cNvPr id="164" name="직사각형 163"/>
          <p:cNvSpPr/>
          <p:nvPr/>
        </p:nvSpPr>
        <p:spPr>
          <a:xfrm>
            <a:off x="3109057" y="3339094"/>
            <a:ext cx="2829345" cy="13973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법정실시권</a:t>
            </a:r>
            <a:r>
              <a:rPr lang="en-US" altLang="ko-KR" sz="800" dirty="0">
                <a:solidFill>
                  <a:schemeClr val="tx2"/>
                </a:solidFill>
              </a:rPr>
              <a:t>(</a:t>
            </a:r>
            <a:r>
              <a:rPr lang="ko-KR" altLang="en-US" sz="800" dirty="0">
                <a:solidFill>
                  <a:schemeClr val="tx2"/>
                </a:solidFill>
              </a:rPr>
              <a:t>法 </a:t>
            </a:r>
            <a:r>
              <a:rPr lang="en-US" altLang="ko-KR" sz="800" dirty="0">
                <a:solidFill>
                  <a:schemeClr val="tx2"/>
                </a:solidFill>
              </a:rPr>
              <a:t>81</a:t>
            </a:r>
            <a:r>
              <a:rPr lang="ko-KR" altLang="en-US" sz="800" dirty="0">
                <a:solidFill>
                  <a:schemeClr val="tx2"/>
                </a:solidFill>
              </a:rPr>
              <a:t>의</a:t>
            </a:r>
            <a:r>
              <a:rPr lang="en-US" altLang="ko-KR" sz="800" dirty="0">
                <a:solidFill>
                  <a:schemeClr val="tx2"/>
                </a:solidFill>
              </a:rPr>
              <a:t>3, 103~105, 122, 182,183, </a:t>
            </a:r>
            <a:r>
              <a:rPr lang="ko-KR" altLang="en-US" sz="800" dirty="0" err="1">
                <a:solidFill>
                  <a:schemeClr val="tx2"/>
                </a:solidFill>
              </a:rPr>
              <a:t>발진법</a:t>
            </a:r>
            <a:r>
              <a:rPr lang="en-US" altLang="ko-KR" sz="800" dirty="0">
                <a:solidFill>
                  <a:schemeClr val="tx2"/>
                </a:solidFill>
              </a:rPr>
              <a:t>10</a:t>
            </a:r>
            <a:r>
              <a:rPr lang="ko-KR" altLang="en-US" sz="800" dirty="0">
                <a:solidFill>
                  <a:schemeClr val="tx2"/>
                </a:solidFill>
              </a:rPr>
              <a:t>①</a:t>
            </a:r>
            <a:r>
              <a:rPr lang="en-US" altLang="ko-KR" sz="800" dirty="0">
                <a:solidFill>
                  <a:schemeClr val="tx2"/>
                </a:solidFill>
              </a:rPr>
              <a:t>)</a:t>
            </a:r>
            <a:endParaRPr lang="ko-KR" altLang="en-US" sz="800" dirty="0">
              <a:solidFill>
                <a:schemeClr val="tx2"/>
              </a:solidFill>
            </a:endParaRPr>
          </a:p>
        </p:txBody>
      </p:sp>
      <p:sp>
        <p:nvSpPr>
          <p:cNvPr id="165" name="직사각형 164"/>
          <p:cNvSpPr/>
          <p:nvPr/>
        </p:nvSpPr>
        <p:spPr>
          <a:xfrm>
            <a:off x="3109057" y="3151440"/>
            <a:ext cx="2829345"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일반론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100~102, 118)</a:t>
            </a:r>
            <a:endParaRPr lang="ko-KR" altLang="en-US" sz="1000" dirty="0">
              <a:solidFill>
                <a:schemeClr val="tx2"/>
              </a:solidFill>
            </a:endParaRPr>
          </a:p>
        </p:txBody>
      </p:sp>
      <p:sp>
        <p:nvSpPr>
          <p:cNvPr id="166" name="직사각형 165"/>
          <p:cNvSpPr/>
          <p:nvPr/>
        </p:nvSpPr>
        <p:spPr>
          <a:xfrm>
            <a:off x="1931244" y="3709590"/>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원인</a:t>
            </a:r>
          </a:p>
        </p:txBody>
      </p:sp>
      <p:sp>
        <p:nvSpPr>
          <p:cNvPr id="167" name="직사각형 166"/>
          <p:cNvSpPr/>
          <p:nvPr/>
        </p:nvSpPr>
        <p:spPr>
          <a:xfrm>
            <a:off x="2426794" y="3883877"/>
            <a:ext cx="1721991" cy="20938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장래소멸</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119, 120, 124)</a:t>
            </a:r>
            <a:endParaRPr lang="ko-KR" altLang="en-US" sz="1000" dirty="0">
              <a:solidFill>
                <a:schemeClr val="tx2"/>
              </a:solidFill>
            </a:endParaRPr>
          </a:p>
        </p:txBody>
      </p:sp>
      <p:sp>
        <p:nvSpPr>
          <p:cNvPr id="168" name="직사각형 167"/>
          <p:cNvSpPr/>
          <p:nvPr/>
        </p:nvSpPr>
        <p:spPr>
          <a:xfrm>
            <a:off x="2426794" y="3698412"/>
            <a:ext cx="1721991"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소급소멸</a:t>
            </a:r>
          </a:p>
        </p:txBody>
      </p:sp>
      <p:cxnSp>
        <p:nvCxnSpPr>
          <p:cNvPr id="169" name="꺾인 연결선 168"/>
          <p:cNvCxnSpPr>
            <a:stCxn id="139" idx="3"/>
            <a:endCxn id="152" idx="1"/>
          </p:cNvCxnSpPr>
          <p:nvPr/>
        </p:nvCxnSpPr>
        <p:spPr>
          <a:xfrm flipV="1">
            <a:off x="2314769" y="1581638"/>
            <a:ext cx="176065" cy="984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꺾인 연결선 169"/>
          <p:cNvCxnSpPr>
            <a:stCxn id="139" idx="3"/>
            <a:endCxn id="153" idx="1"/>
          </p:cNvCxnSpPr>
          <p:nvPr/>
        </p:nvCxnSpPr>
        <p:spPr>
          <a:xfrm>
            <a:off x="2314769" y="1680091"/>
            <a:ext cx="176065" cy="15316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꺾인 연결선 170"/>
          <p:cNvCxnSpPr>
            <a:stCxn id="139" idx="3"/>
            <a:endCxn id="154" idx="1"/>
          </p:cNvCxnSpPr>
          <p:nvPr/>
        </p:nvCxnSpPr>
        <p:spPr>
          <a:xfrm>
            <a:off x="2314769" y="1680091"/>
            <a:ext cx="176065" cy="36579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꺾인 연결선 171"/>
          <p:cNvCxnSpPr>
            <a:stCxn id="152" idx="3"/>
            <a:endCxn id="155" idx="1"/>
          </p:cNvCxnSpPr>
          <p:nvPr/>
        </p:nvCxnSpPr>
        <p:spPr>
          <a:xfrm flipV="1">
            <a:off x="2918481" y="1486075"/>
            <a:ext cx="109531" cy="9556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꺾인 연결선 172"/>
          <p:cNvCxnSpPr>
            <a:stCxn id="152" idx="3"/>
            <a:endCxn id="156" idx="1"/>
          </p:cNvCxnSpPr>
          <p:nvPr/>
        </p:nvCxnSpPr>
        <p:spPr>
          <a:xfrm>
            <a:off x="2918481" y="1581638"/>
            <a:ext cx="109531" cy="7083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직선 연결선 173"/>
          <p:cNvCxnSpPr>
            <a:stCxn id="153" idx="3"/>
            <a:endCxn id="157" idx="1"/>
          </p:cNvCxnSpPr>
          <p:nvPr/>
        </p:nvCxnSpPr>
        <p:spPr>
          <a:xfrm>
            <a:off x="2918481" y="1833260"/>
            <a:ext cx="109531" cy="4630"/>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직선 연결선 174"/>
          <p:cNvCxnSpPr>
            <a:stCxn id="154" idx="3"/>
            <a:endCxn id="158" idx="1"/>
          </p:cNvCxnSpPr>
          <p:nvPr/>
        </p:nvCxnSpPr>
        <p:spPr>
          <a:xfrm flipV="1">
            <a:off x="2918481" y="2045880"/>
            <a:ext cx="109530" cy="1"/>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꺾인 연결선 175"/>
          <p:cNvCxnSpPr>
            <a:stCxn id="140" idx="3"/>
            <a:endCxn id="161" idx="1"/>
          </p:cNvCxnSpPr>
          <p:nvPr/>
        </p:nvCxnSpPr>
        <p:spPr>
          <a:xfrm>
            <a:off x="2314769" y="2314946"/>
            <a:ext cx="185345" cy="4786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꺾인 연결선 176"/>
          <p:cNvCxnSpPr>
            <a:stCxn id="140" idx="3"/>
            <a:endCxn id="159" idx="1"/>
          </p:cNvCxnSpPr>
          <p:nvPr/>
        </p:nvCxnSpPr>
        <p:spPr>
          <a:xfrm>
            <a:off x="2314769" y="2314946"/>
            <a:ext cx="185346" cy="1216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꺾인 연결선 177"/>
          <p:cNvCxnSpPr>
            <a:stCxn id="140" idx="3"/>
            <a:endCxn id="160" idx="1"/>
          </p:cNvCxnSpPr>
          <p:nvPr/>
        </p:nvCxnSpPr>
        <p:spPr>
          <a:xfrm>
            <a:off x="2314769" y="2314946"/>
            <a:ext cx="185345" cy="2907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9" name="꺾인 연결선 178"/>
          <p:cNvCxnSpPr>
            <a:stCxn id="127" idx="3"/>
            <a:endCxn id="162" idx="1"/>
          </p:cNvCxnSpPr>
          <p:nvPr/>
        </p:nvCxnSpPr>
        <p:spPr>
          <a:xfrm flipV="1">
            <a:off x="1774346" y="3024355"/>
            <a:ext cx="152949" cy="411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꺾인 연결선 179"/>
          <p:cNvCxnSpPr>
            <a:stCxn id="127" idx="3"/>
            <a:endCxn id="137" idx="1"/>
          </p:cNvCxnSpPr>
          <p:nvPr/>
        </p:nvCxnSpPr>
        <p:spPr>
          <a:xfrm>
            <a:off x="1774346" y="3065551"/>
            <a:ext cx="152949" cy="4132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꺾인 연결선 180"/>
          <p:cNvCxnSpPr>
            <a:stCxn id="141" idx="3"/>
            <a:endCxn id="163" idx="1"/>
          </p:cNvCxnSpPr>
          <p:nvPr/>
        </p:nvCxnSpPr>
        <p:spPr>
          <a:xfrm>
            <a:off x="2918481" y="3266547"/>
            <a:ext cx="190576" cy="31904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꺾인 연결선 181"/>
          <p:cNvCxnSpPr>
            <a:stCxn id="141" idx="3"/>
            <a:endCxn id="165" idx="1"/>
          </p:cNvCxnSpPr>
          <p:nvPr/>
        </p:nvCxnSpPr>
        <p:spPr>
          <a:xfrm flipV="1">
            <a:off x="2918481" y="3230745"/>
            <a:ext cx="190576" cy="3580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3" name="꺾인 연결선 182"/>
          <p:cNvCxnSpPr>
            <a:stCxn id="141" idx="3"/>
            <a:endCxn id="164" idx="1"/>
          </p:cNvCxnSpPr>
          <p:nvPr/>
        </p:nvCxnSpPr>
        <p:spPr>
          <a:xfrm>
            <a:off x="2918481" y="3266547"/>
            <a:ext cx="190576" cy="14241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4" name="꺾인 연결선 183"/>
          <p:cNvCxnSpPr>
            <a:stCxn id="128" idx="3"/>
            <a:endCxn id="166" idx="1"/>
          </p:cNvCxnSpPr>
          <p:nvPr/>
        </p:nvCxnSpPr>
        <p:spPr>
          <a:xfrm>
            <a:off x="1774346" y="3788895"/>
            <a:ext cx="156898" cy="127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5" name="꺾인 연결선 184"/>
          <p:cNvCxnSpPr>
            <a:stCxn id="166" idx="3"/>
            <a:endCxn id="167" idx="1"/>
          </p:cNvCxnSpPr>
          <p:nvPr/>
        </p:nvCxnSpPr>
        <p:spPr>
          <a:xfrm>
            <a:off x="2314770" y="3788895"/>
            <a:ext cx="112024" cy="1996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6" name="꺾인 연결선 185"/>
          <p:cNvCxnSpPr>
            <a:stCxn id="166" idx="3"/>
            <a:endCxn id="168" idx="1"/>
          </p:cNvCxnSpPr>
          <p:nvPr/>
        </p:nvCxnSpPr>
        <p:spPr>
          <a:xfrm flipV="1">
            <a:off x="2314770" y="3777717"/>
            <a:ext cx="112024" cy="1117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7" name="직사각형 186"/>
          <p:cNvSpPr/>
          <p:nvPr/>
        </p:nvSpPr>
        <p:spPr>
          <a:xfrm>
            <a:off x="3281962" y="2158301"/>
            <a:ext cx="1411839" cy="16756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적극적 효력</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94)</a:t>
            </a:r>
            <a:endParaRPr lang="ko-KR" altLang="en-US" sz="1000" dirty="0">
              <a:solidFill>
                <a:schemeClr val="tx2"/>
              </a:solidFill>
            </a:endParaRPr>
          </a:p>
        </p:txBody>
      </p:sp>
      <p:sp>
        <p:nvSpPr>
          <p:cNvPr id="188" name="직사각형 187"/>
          <p:cNvSpPr/>
          <p:nvPr/>
        </p:nvSpPr>
        <p:spPr>
          <a:xfrm>
            <a:off x="3281962" y="2341797"/>
            <a:ext cx="1411839" cy="15393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소극적 효력</a:t>
            </a:r>
            <a:r>
              <a:rPr lang="en-US" altLang="ko-KR" sz="1000" dirty="0">
                <a:solidFill>
                  <a:schemeClr val="tx2"/>
                </a:solidFill>
              </a:rPr>
              <a:t>(</a:t>
            </a:r>
            <a:r>
              <a:rPr lang="ko-KR" altLang="en-US" sz="1000" dirty="0">
                <a:solidFill>
                  <a:schemeClr val="tx2"/>
                </a:solidFill>
              </a:rPr>
              <a:t>침해</a:t>
            </a:r>
            <a:r>
              <a:rPr lang="en-US" altLang="ko-KR" sz="1000" dirty="0">
                <a:solidFill>
                  <a:schemeClr val="tx2"/>
                </a:solidFill>
              </a:rPr>
              <a:t>)</a:t>
            </a:r>
            <a:endParaRPr lang="ko-KR" altLang="en-US" sz="1000" dirty="0">
              <a:solidFill>
                <a:schemeClr val="tx2"/>
              </a:solidFill>
            </a:endParaRPr>
          </a:p>
        </p:txBody>
      </p:sp>
      <p:cxnSp>
        <p:nvCxnSpPr>
          <p:cNvPr id="189" name="꺾인 연결선 188"/>
          <p:cNvCxnSpPr>
            <a:stCxn id="159" idx="3"/>
            <a:endCxn id="188" idx="1"/>
          </p:cNvCxnSpPr>
          <p:nvPr/>
        </p:nvCxnSpPr>
        <p:spPr>
          <a:xfrm>
            <a:off x="2918481" y="2327109"/>
            <a:ext cx="363481" cy="9165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0" name="꺾인 연결선 189"/>
          <p:cNvCxnSpPr>
            <a:stCxn id="159" idx="3"/>
            <a:endCxn id="187" idx="1"/>
          </p:cNvCxnSpPr>
          <p:nvPr/>
        </p:nvCxnSpPr>
        <p:spPr>
          <a:xfrm flipV="1">
            <a:off x="2918481" y="2242081"/>
            <a:ext cx="363481" cy="850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1" name="직사각형 190"/>
          <p:cNvSpPr/>
          <p:nvPr/>
        </p:nvSpPr>
        <p:spPr>
          <a:xfrm>
            <a:off x="4891070" y="1400340"/>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성립요건</a:t>
            </a:r>
          </a:p>
        </p:txBody>
      </p:sp>
      <p:sp>
        <p:nvSpPr>
          <p:cNvPr id="192" name="직사각형 191"/>
          <p:cNvSpPr/>
          <p:nvPr/>
        </p:nvSpPr>
        <p:spPr>
          <a:xfrm>
            <a:off x="4891070" y="1771241"/>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종류</a:t>
            </a:r>
          </a:p>
        </p:txBody>
      </p:sp>
      <p:sp>
        <p:nvSpPr>
          <p:cNvPr id="193" name="직사각형 192"/>
          <p:cNvSpPr/>
          <p:nvPr/>
        </p:nvSpPr>
        <p:spPr>
          <a:xfrm>
            <a:off x="4891070" y="2381537"/>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조치</a:t>
            </a:r>
          </a:p>
        </p:txBody>
      </p:sp>
      <p:cxnSp>
        <p:nvCxnSpPr>
          <p:cNvPr id="194" name="꺾인 연결선 193"/>
          <p:cNvCxnSpPr>
            <a:stCxn id="188" idx="3"/>
            <a:endCxn id="191" idx="1"/>
          </p:cNvCxnSpPr>
          <p:nvPr/>
        </p:nvCxnSpPr>
        <p:spPr>
          <a:xfrm flipV="1">
            <a:off x="4693801" y="1479645"/>
            <a:ext cx="197269" cy="939118"/>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꺾인 연결선 194"/>
          <p:cNvCxnSpPr>
            <a:stCxn id="188" idx="3"/>
            <a:endCxn id="193" idx="1"/>
          </p:cNvCxnSpPr>
          <p:nvPr/>
        </p:nvCxnSpPr>
        <p:spPr>
          <a:xfrm>
            <a:off x="4693801" y="2418763"/>
            <a:ext cx="197269" cy="42079"/>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꺾인 연결선 195"/>
          <p:cNvCxnSpPr>
            <a:stCxn id="188" idx="3"/>
            <a:endCxn id="192" idx="1"/>
          </p:cNvCxnSpPr>
          <p:nvPr/>
        </p:nvCxnSpPr>
        <p:spPr>
          <a:xfrm flipV="1">
            <a:off x="4693801" y="1850546"/>
            <a:ext cx="197269" cy="568217"/>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7" name="직사각형 196"/>
          <p:cNvSpPr/>
          <p:nvPr/>
        </p:nvSpPr>
        <p:spPr>
          <a:xfrm>
            <a:off x="5586610" y="1528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직접침해</a:t>
            </a:r>
            <a:endParaRPr lang="en-US" altLang="ko-KR" sz="1000" dirty="0">
              <a:solidFill>
                <a:schemeClr val="tx2"/>
              </a:solidFill>
            </a:endParaRPr>
          </a:p>
          <a:p>
            <a:pPr algn="ctr" fontAlgn="base"/>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97, 98)</a:t>
            </a:r>
            <a:endParaRPr lang="ko-KR" altLang="en-US" sz="1000" dirty="0">
              <a:solidFill>
                <a:schemeClr val="tx2"/>
              </a:solidFill>
            </a:endParaRPr>
          </a:p>
        </p:txBody>
      </p:sp>
      <p:sp>
        <p:nvSpPr>
          <p:cNvPr id="198" name="직사각형 197"/>
          <p:cNvSpPr/>
          <p:nvPr/>
        </p:nvSpPr>
        <p:spPr>
          <a:xfrm>
            <a:off x="5586610" y="1904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간접침해</a:t>
            </a:r>
            <a:endParaRPr lang="en-US" altLang="ko-KR" sz="1000" dirty="0">
              <a:solidFill>
                <a:schemeClr val="tx2"/>
              </a:solidFill>
            </a:endParaRPr>
          </a:p>
          <a:p>
            <a:pPr algn="ctr" fontAlgn="base"/>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127)</a:t>
            </a:r>
            <a:endParaRPr lang="ko-KR" altLang="en-US" sz="1000" dirty="0">
              <a:solidFill>
                <a:schemeClr val="tx2"/>
              </a:solidFill>
            </a:endParaRPr>
          </a:p>
        </p:txBody>
      </p:sp>
      <p:cxnSp>
        <p:nvCxnSpPr>
          <p:cNvPr id="199" name="꺾인 연결선 198"/>
          <p:cNvCxnSpPr>
            <a:stCxn id="192" idx="3"/>
            <a:endCxn id="197" idx="1"/>
          </p:cNvCxnSpPr>
          <p:nvPr/>
        </p:nvCxnSpPr>
        <p:spPr>
          <a:xfrm flipV="1">
            <a:off x="5452482" y="1689718"/>
            <a:ext cx="134128" cy="1608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0" name="꺾인 연결선 199"/>
          <p:cNvCxnSpPr>
            <a:stCxn id="192" idx="3"/>
            <a:endCxn id="198" idx="1"/>
          </p:cNvCxnSpPr>
          <p:nvPr/>
        </p:nvCxnSpPr>
        <p:spPr>
          <a:xfrm>
            <a:off x="5452482" y="1850546"/>
            <a:ext cx="134128" cy="21517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1" name="모서리가 둥근 직사각형 200"/>
          <p:cNvSpPr/>
          <p:nvPr/>
        </p:nvSpPr>
        <p:spPr>
          <a:xfrm>
            <a:off x="5586610" y="2318465"/>
            <a:ext cx="833380" cy="300825"/>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algn="ctr"/>
            <a:r>
              <a:rPr lang="ko-KR" altLang="en-US" sz="1000" dirty="0">
                <a:solidFill>
                  <a:schemeClr val="tx2"/>
                </a:solidFill>
              </a:rPr>
              <a:t>민사적 조치</a:t>
            </a:r>
            <a:endParaRPr lang="en-US" altLang="ko-KR" sz="1000" dirty="0">
              <a:solidFill>
                <a:schemeClr val="tx2"/>
              </a:solidFill>
            </a:endParaRPr>
          </a:p>
          <a:p>
            <a:pPr algn="ct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126-132)</a:t>
            </a:r>
            <a:endParaRPr lang="ko-KR" altLang="en-US" sz="1000" dirty="0">
              <a:solidFill>
                <a:schemeClr val="tx2"/>
              </a:solidFill>
            </a:endParaRPr>
          </a:p>
        </p:txBody>
      </p:sp>
      <p:sp>
        <p:nvSpPr>
          <p:cNvPr id="202" name="모서리가 둥근 직사각형 201"/>
          <p:cNvSpPr/>
          <p:nvPr/>
        </p:nvSpPr>
        <p:spPr>
          <a:xfrm>
            <a:off x="5586609" y="2663316"/>
            <a:ext cx="833381" cy="341821"/>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algn="ctr"/>
            <a:r>
              <a:rPr lang="ko-KR" altLang="en-US" sz="1000" dirty="0">
                <a:solidFill>
                  <a:schemeClr val="tx2"/>
                </a:solidFill>
              </a:rPr>
              <a:t>형사적 조치</a:t>
            </a:r>
            <a:endParaRPr lang="en-US" altLang="ko-KR" sz="1000" dirty="0">
              <a:solidFill>
                <a:schemeClr val="tx2"/>
              </a:solidFill>
            </a:endParaRPr>
          </a:p>
          <a:p>
            <a:pPr algn="ct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225-232)</a:t>
            </a:r>
            <a:endParaRPr lang="ko-KR" altLang="en-US" sz="1000" dirty="0">
              <a:solidFill>
                <a:schemeClr val="tx2"/>
              </a:solidFill>
            </a:endParaRPr>
          </a:p>
        </p:txBody>
      </p:sp>
      <p:cxnSp>
        <p:nvCxnSpPr>
          <p:cNvPr id="203" name="꺾인 연결선 202"/>
          <p:cNvCxnSpPr>
            <a:stCxn id="193" idx="3"/>
            <a:endCxn id="201" idx="1"/>
          </p:cNvCxnSpPr>
          <p:nvPr/>
        </p:nvCxnSpPr>
        <p:spPr>
          <a:xfrm>
            <a:off x="5452482" y="2460843"/>
            <a:ext cx="134128" cy="803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4" name="꺾인 연결선 203"/>
          <p:cNvCxnSpPr>
            <a:stCxn id="193" idx="3"/>
            <a:endCxn id="202" idx="1"/>
          </p:cNvCxnSpPr>
          <p:nvPr/>
        </p:nvCxnSpPr>
        <p:spPr>
          <a:xfrm>
            <a:off x="5452482" y="2460843"/>
            <a:ext cx="134127" cy="37338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5" name="직사각형 204"/>
          <p:cNvSpPr/>
          <p:nvPr/>
        </p:nvSpPr>
        <p:spPr>
          <a:xfrm>
            <a:off x="7780806" y="2184608"/>
            <a:ext cx="555844" cy="610645"/>
          </a:xfrm>
          <a:prstGeom prst="rect">
            <a:avLst/>
          </a:prstGeom>
          <a:solidFill>
            <a:schemeClr val="accent6">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solidFill>
                  <a:schemeClr val="bg1"/>
                </a:solidFill>
              </a:rPr>
              <a:t>심판절차 </a:t>
            </a:r>
            <a:endParaRPr lang="en-US" altLang="ko-KR" sz="1000" dirty="0">
              <a:solidFill>
                <a:schemeClr val="bg1"/>
              </a:solidFill>
            </a:endParaRPr>
          </a:p>
          <a:p>
            <a:pPr algn="ctr"/>
            <a:r>
              <a:rPr lang="ko-KR" altLang="en-US" sz="1000" dirty="0">
                <a:solidFill>
                  <a:schemeClr val="bg1"/>
                </a:solidFill>
              </a:rPr>
              <a:t>일반</a:t>
            </a:r>
            <a:endParaRPr lang="en-US" altLang="ko-KR" sz="1000" dirty="0">
              <a:solidFill>
                <a:schemeClr val="bg1"/>
              </a:solidFill>
            </a:endParaRPr>
          </a:p>
          <a:p>
            <a:pPr algn="ctr"/>
            <a:r>
              <a:rPr lang="en-US" altLang="ko-KR" sz="1000" dirty="0">
                <a:solidFill>
                  <a:schemeClr val="bg1"/>
                </a:solidFill>
              </a:rPr>
              <a:t>(</a:t>
            </a:r>
            <a:r>
              <a:rPr lang="ko-KR" altLang="en-US" sz="1000" dirty="0">
                <a:solidFill>
                  <a:schemeClr val="bg1"/>
                </a:solidFill>
              </a:rPr>
              <a:t>총론</a:t>
            </a:r>
            <a:r>
              <a:rPr lang="en-US" altLang="ko-KR" sz="1000" dirty="0">
                <a:solidFill>
                  <a:schemeClr val="bg1"/>
                </a:solidFill>
              </a:rPr>
              <a:t>)</a:t>
            </a:r>
            <a:endParaRPr lang="ko-KR" altLang="en-US" sz="1000" dirty="0">
              <a:solidFill>
                <a:schemeClr val="bg1"/>
              </a:solidFill>
            </a:endParaRPr>
          </a:p>
        </p:txBody>
      </p:sp>
      <p:sp>
        <p:nvSpPr>
          <p:cNvPr id="206" name="직사각형 205"/>
          <p:cNvSpPr/>
          <p:nvPr/>
        </p:nvSpPr>
        <p:spPr>
          <a:xfrm>
            <a:off x="7780806" y="4163272"/>
            <a:ext cx="555844" cy="610645"/>
          </a:xfrm>
          <a:prstGeom prst="rect">
            <a:avLst/>
          </a:prstGeom>
          <a:solidFill>
            <a:schemeClr val="accent5">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solidFill>
                  <a:schemeClr val="bg1"/>
                </a:solidFill>
              </a:rPr>
              <a:t>심판의</a:t>
            </a:r>
            <a:endParaRPr lang="en-US" altLang="ko-KR" sz="1000" dirty="0">
              <a:solidFill>
                <a:schemeClr val="bg1"/>
              </a:solidFill>
            </a:endParaRPr>
          </a:p>
          <a:p>
            <a:pPr algn="ctr"/>
            <a:r>
              <a:rPr lang="ko-KR" altLang="en-US" sz="1000" dirty="0">
                <a:solidFill>
                  <a:schemeClr val="bg1"/>
                </a:solidFill>
              </a:rPr>
              <a:t>종류</a:t>
            </a:r>
            <a:endParaRPr lang="en-US" altLang="ko-KR" sz="1000" dirty="0">
              <a:solidFill>
                <a:schemeClr val="bg1"/>
              </a:solidFill>
            </a:endParaRPr>
          </a:p>
          <a:p>
            <a:pPr algn="ctr"/>
            <a:r>
              <a:rPr lang="en-US" altLang="ko-KR" sz="1000" dirty="0">
                <a:solidFill>
                  <a:schemeClr val="bg1"/>
                </a:solidFill>
              </a:rPr>
              <a:t>(</a:t>
            </a:r>
            <a:r>
              <a:rPr lang="ko-KR" altLang="en-US" sz="1000" dirty="0">
                <a:solidFill>
                  <a:schemeClr val="bg1"/>
                </a:solidFill>
              </a:rPr>
              <a:t>각론</a:t>
            </a:r>
            <a:r>
              <a:rPr lang="en-US" altLang="ko-KR" sz="1000" dirty="0">
                <a:solidFill>
                  <a:schemeClr val="bg1"/>
                </a:solidFill>
              </a:rPr>
              <a:t>)</a:t>
            </a:r>
            <a:endParaRPr lang="ko-KR" altLang="en-US" sz="1000" dirty="0">
              <a:solidFill>
                <a:schemeClr val="bg1"/>
              </a:solidFill>
            </a:endParaRPr>
          </a:p>
        </p:txBody>
      </p:sp>
      <p:sp>
        <p:nvSpPr>
          <p:cNvPr id="207" name="직사각형 206"/>
          <p:cNvSpPr/>
          <p:nvPr/>
        </p:nvSpPr>
        <p:spPr>
          <a:xfrm>
            <a:off x="8500191" y="131308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a:t>주체</a:t>
            </a:r>
            <a:endParaRPr lang="ko-KR" altLang="en-US" sz="1000" dirty="0"/>
          </a:p>
        </p:txBody>
      </p:sp>
      <p:sp>
        <p:nvSpPr>
          <p:cNvPr id="208" name="직사각형 207"/>
          <p:cNvSpPr/>
          <p:nvPr/>
        </p:nvSpPr>
        <p:spPr>
          <a:xfrm>
            <a:off x="8500191" y="180459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청구</a:t>
            </a:r>
          </a:p>
        </p:txBody>
      </p:sp>
      <p:sp>
        <p:nvSpPr>
          <p:cNvPr id="209" name="직사각형 208"/>
          <p:cNvSpPr/>
          <p:nvPr/>
        </p:nvSpPr>
        <p:spPr>
          <a:xfrm>
            <a:off x="8500191" y="2449052"/>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진행</a:t>
            </a:r>
          </a:p>
        </p:txBody>
      </p:sp>
      <p:sp>
        <p:nvSpPr>
          <p:cNvPr id="210" name="직사각형 209"/>
          <p:cNvSpPr/>
          <p:nvPr/>
        </p:nvSpPr>
        <p:spPr>
          <a:xfrm>
            <a:off x="8500191" y="2977875"/>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종료</a:t>
            </a:r>
          </a:p>
        </p:txBody>
      </p:sp>
      <p:sp>
        <p:nvSpPr>
          <p:cNvPr id="211" name="직사각형 210"/>
          <p:cNvSpPr/>
          <p:nvPr/>
        </p:nvSpPr>
        <p:spPr>
          <a:xfrm>
            <a:off x="9363869" y="8056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심판원</a:t>
            </a:r>
            <a:r>
              <a:rPr lang="en-US" altLang="ko-KR" sz="1000" dirty="0"/>
              <a:t>(</a:t>
            </a:r>
            <a:r>
              <a:rPr lang="ko-KR" altLang="en-US" sz="1000" dirty="0"/>
              <a:t>法 </a:t>
            </a:r>
            <a:r>
              <a:rPr lang="en-US" altLang="ko-KR" sz="1000" dirty="0"/>
              <a:t>132</a:t>
            </a:r>
            <a:r>
              <a:rPr lang="ko-KR" altLang="en-US" sz="1000" dirty="0"/>
              <a:t>의</a:t>
            </a:r>
            <a:r>
              <a:rPr lang="en-US" altLang="ko-KR" sz="1000" dirty="0"/>
              <a:t>16, 143~153</a:t>
            </a:r>
            <a:r>
              <a:rPr lang="ko-KR" altLang="en-US" sz="1000" dirty="0"/>
              <a:t>의</a:t>
            </a:r>
            <a:r>
              <a:rPr lang="en-US" altLang="ko-KR" sz="1000" dirty="0"/>
              <a:t>2)</a:t>
            </a:r>
            <a:endParaRPr lang="ko-KR" altLang="en-US" sz="1000" dirty="0"/>
          </a:p>
        </p:txBody>
      </p:sp>
      <p:sp>
        <p:nvSpPr>
          <p:cNvPr id="212" name="직사각형 211"/>
          <p:cNvSpPr/>
          <p:nvPr/>
        </p:nvSpPr>
        <p:spPr>
          <a:xfrm>
            <a:off x="9363869" y="9962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당사자</a:t>
            </a:r>
            <a:r>
              <a:rPr lang="en-US" altLang="ko-KR" sz="1000" dirty="0"/>
              <a:t>(</a:t>
            </a:r>
            <a:r>
              <a:rPr lang="ko-KR" altLang="en-US" sz="1000" dirty="0"/>
              <a:t>法 </a:t>
            </a:r>
            <a:r>
              <a:rPr lang="en-US" altLang="ko-KR" sz="1000" dirty="0"/>
              <a:t>139)</a:t>
            </a:r>
            <a:endParaRPr lang="ko-KR" altLang="en-US" sz="1000" dirty="0"/>
          </a:p>
        </p:txBody>
      </p:sp>
      <p:sp>
        <p:nvSpPr>
          <p:cNvPr id="213" name="직사각형 212"/>
          <p:cNvSpPr/>
          <p:nvPr/>
        </p:nvSpPr>
        <p:spPr>
          <a:xfrm>
            <a:off x="9363869" y="118351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참가인</a:t>
            </a:r>
            <a:r>
              <a:rPr lang="en-US" altLang="ko-KR" sz="1000" dirty="0"/>
              <a:t>(</a:t>
            </a:r>
            <a:r>
              <a:rPr lang="ko-KR" altLang="en-US" sz="1000" dirty="0"/>
              <a:t>法 </a:t>
            </a:r>
            <a:r>
              <a:rPr lang="en-US" altLang="ko-KR" sz="1000" dirty="0"/>
              <a:t>155, 156)</a:t>
            </a:r>
            <a:endParaRPr lang="ko-KR" altLang="en-US" sz="1000" dirty="0"/>
          </a:p>
        </p:txBody>
      </p:sp>
      <p:sp>
        <p:nvSpPr>
          <p:cNvPr id="214" name="직사각형 213"/>
          <p:cNvSpPr/>
          <p:nvPr/>
        </p:nvSpPr>
        <p:spPr>
          <a:xfrm>
            <a:off x="9363869" y="1703773"/>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청구</a:t>
            </a:r>
            <a:r>
              <a:rPr lang="en-US" altLang="ko-KR" sz="1000" dirty="0"/>
              <a:t>(</a:t>
            </a:r>
            <a:r>
              <a:rPr lang="ko-KR" altLang="en-US" sz="1000" dirty="0"/>
              <a:t>法 </a:t>
            </a:r>
            <a:r>
              <a:rPr lang="en-US" altLang="ko-KR" sz="1000" dirty="0"/>
              <a:t>140, 140</a:t>
            </a:r>
            <a:r>
              <a:rPr lang="ko-KR" altLang="en-US" sz="1000" dirty="0"/>
              <a:t>의</a:t>
            </a:r>
            <a:r>
              <a:rPr lang="en-US" altLang="ko-KR" sz="1000" dirty="0"/>
              <a:t>2)</a:t>
            </a:r>
            <a:endParaRPr lang="ko-KR" altLang="en-US" sz="1000" dirty="0"/>
          </a:p>
        </p:txBody>
      </p:sp>
      <p:sp>
        <p:nvSpPr>
          <p:cNvPr id="215" name="직사각형 214"/>
          <p:cNvSpPr/>
          <p:nvPr/>
        </p:nvSpPr>
        <p:spPr>
          <a:xfrm>
            <a:off x="9363869" y="18943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심판청구서의 보정</a:t>
            </a:r>
            <a:r>
              <a:rPr lang="en-US" altLang="ko-KR" sz="1000" dirty="0"/>
              <a:t>(</a:t>
            </a:r>
            <a:r>
              <a:rPr lang="ko-KR" altLang="en-US" sz="1000" dirty="0"/>
              <a:t>法 </a:t>
            </a:r>
            <a:r>
              <a:rPr lang="en-US" altLang="ko-KR" sz="1000" dirty="0"/>
              <a:t>140②, 140</a:t>
            </a:r>
            <a:r>
              <a:rPr lang="ko-KR" altLang="en-US" sz="1000" dirty="0"/>
              <a:t>의</a:t>
            </a:r>
            <a:r>
              <a:rPr lang="en-US" altLang="ko-KR" sz="1000" dirty="0"/>
              <a:t>2②)</a:t>
            </a:r>
          </a:p>
        </p:txBody>
      </p:sp>
      <p:sp>
        <p:nvSpPr>
          <p:cNvPr id="216" name="직사각형 215"/>
          <p:cNvSpPr/>
          <p:nvPr/>
        </p:nvSpPr>
        <p:spPr>
          <a:xfrm>
            <a:off x="9363869" y="22698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방식심리</a:t>
            </a:r>
            <a:r>
              <a:rPr lang="en-US" altLang="ko-KR" sz="1000" dirty="0"/>
              <a:t>(</a:t>
            </a:r>
            <a:r>
              <a:rPr lang="ko-KR" altLang="en-US" sz="1000" dirty="0"/>
              <a:t>法 </a:t>
            </a:r>
            <a:r>
              <a:rPr lang="en-US" altLang="ko-KR" sz="1000" dirty="0"/>
              <a:t>141)</a:t>
            </a:r>
            <a:endParaRPr lang="ko-KR" altLang="en-US" sz="1000" dirty="0"/>
          </a:p>
        </p:txBody>
      </p:sp>
      <p:sp>
        <p:nvSpPr>
          <p:cNvPr id="217" name="직사각형 216"/>
          <p:cNvSpPr/>
          <p:nvPr/>
        </p:nvSpPr>
        <p:spPr>
          <a:xfrm>
            <a:off x="9363869" y="245801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적법성 심리</a:t>
            </a:r>
            <a:r>
              <a:rPr lang="en-US" altLang="ko-KR" sz="1000" dirty="0"/>
              <a:t>(</a:t>
            </a:r>
            <a:r>
              <a:rPr lang="ko-KR" altLang="en-US" sz="1000" dirty="0"/>
              <a:t>法 </a:t>
            </a:r>
            <a:r>
              <a:rPr lang="en-US" altLang="ko-KR" sz="1000" dirty="0"/>
              <a:t>142)</a:t>
            </a:r>
            <a:endParaRPr lang="ko-KR" altLang="en-US" sz="1000" dirty="0"/>
          </a:p>
        </p:txBody>
      </p:sp>
      <p:sp>
        <p:nvSpPr>
          <p:cNvPr id="218" name="직사각형 217"/>
          <p:cNvSpPr/>
          <p:nvPr/>
        </p:nvSpPr>
        <p:spPr>
          <a:xfrm>
            <a:off x="9363869" y="264666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본안심리</a:t>
            </a:r>
            <a:r>
              <a:rPr lang="en-US" altLang="ko-KR" sz="1000" dirty="0"/>
              <a:t>(</a:t>
            </a:r>
            <a:r>
              <a:rPr lang="ko-KR" altLang="en-US" sz="1000" dirty="0"/>
              <a:t>法 </a:t>
            </a:r>
            <a:r>
              <a:rPr lang="en-US" altLang="ko-KR" sz="1000" dirty="0"/>
              <a:t>154, 157-160)</a:t>
            </a:r>
            <a:endParaRPr lang="ko-KR" altLang="en-US" sz="1000" dirty="0"/>
          </a:p>
        </p:txBody>
      </p:sp>
      <p:sp>
        <p:nvSpPr>
          <p:cNvPr id="219" name="직사각형 218"/>
          <p:cNvSpPr/>
          <p:nvPr/>
        </p:nvSpPr>
        <p:spPr>
          <a:xfrm>
            <a:off x="9363869" y="288449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심판청구의 취하</a:t>
            </a:r>
            <a:r>
              <a:rPr lang="en-US" altLang="ko-KR" sz="1000" dirty="0"/>
              <a:t>(</a:t>
            </a:r>
            <a:r>
              <a:rPr lang="ko-KR" altLang="en-US" sz="1000" dirty="0"/>
              <a:t>法 </a:t>
            </a:r>
            <a:r>
              <a:rPr lang="en-US" altLang="ko-KR" sz="1000" dirty="0"/>
              <a:t>161)</a:t>
            </a:r>
            <a:endParaRPr lang="ko-KR" altLang="en-US" sz="1000" dirty="0"/>
          </a:p>
        </p:txBody>
      </p:sp>
      <p:sp>
        <p:nvSpPr>
          <p:cNvPr id="220" name="직사각형 219"/>
          <p:cNvSpPr/>
          <p:nvPr/>
        </p:nvSpPr>
        <p:spPr>
          <a:xfrm>
            <a:off x="9363869" y="307268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심결</a:t>
            </a:r>
            <a:r>
              <a:rPr lang="en-US" altLang="ko-KR" sz="1000" dirty="0"/>
              <a:t>(</a:t>
            </a:r>
            <a:r>
              <a:rPr lang="ko-KR" altLang="en-US" sz="1000" dirty="0"/>
              <a:t>法 </a:t>
            </a:r>
            <a:r>
              <a:rPr lang="en-US" altLang="ko-KR" sz="1000" dirty="0"/>
              <a:t>162, 163)</a:t>
            </a:r>
            <a:endParaRPr lang="ko-KR" altLang="en-US" sz="1000" dirty="0"/>
          </a:p>
        </p:txBody>
      </p:sp>
      <p:sp>
        <p:nvSpPr>
          <p:cNvPr id="221" name="직사각형 220"/>
          <p:cNvSpPr/>
          <p:nvPr/>
        </p:nvSpPr>
        <p:spPr>
          <a:xfrm>
            <a:off x="8500191" y="4104276"/>
            <a:ext cx="710030" cy="171015"/>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결정계</a:t>
            </a:r>
            <a:r>
              <a:rPr lang="ko-KR" altLang="en-US" sz="1000" dirty="0"/>
              <a:t> 심판</a:t>
            </a:r>
          </a:p>
        </p:txBody>
      </p:sp>
      <p:sp>
        <p:nvSpPr>
          <p:cNvPr id="222" name="직사각형 221"/>
          <p:cNvSpPr/>
          <p:nvPr/>
        </p:nvSpPr>
        <p:spPr>
          <a:xfrm>
            <a:off x="8500191" y="4475324"/>
            <a:ext cx="710030" cy="364286"/>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당사자계 </a:t>
            </a:r>
            <a:endParaRPr lang="en-US" altLang="ko-KR" sz="1000" dirty="0"/>
          </a:p>
          <a:p>
            <a:pPr algn="ctr"/>
            <a:r>
              <a:rPr lang="ko-KR" altLang="en-US" sz="1000" dirty="0"/>
              <a:t>심판</a:t>
            </a:r>
          </a:p>
        </p:txBody>
      </p:sp>
      <p:sp>
        <p:nvSpPr>
          <p:cNvPr id="223" name="직사각형 222"/>
          <p:cNvSpPr/>
          <p:nvPr/>
        </p:nvSpPr>
        <p:spPr>
          <a:xfrm>
            <a:off x="8500189" y="5251229"/>
            <a:ext cx="1308145"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재심</a:t>
            </a:r>
            <a:r>
              <a:rPr lang="en-US" altLang="ko-KR" sz="1000" dirty="0"/>
              <a:t>(</a:t>
            </a:r>
            <a:r>
              <a:rPr lang="ko-KR" altLang="en-US" sz="1000" dirty="0"/>
              <a:t>法 </a:t>
            </a:r>
            <a:r>
              <a:rPr lang="en-US" altLang="ko-KR" sz="1000" dirty="0"/>
              <a:t>178~185)</a:t>
            </a:r>
            <a:endParaRPr lang="ko-KR" altLang="en-US" sz="1000" dirty="0"/>
          </a:p>
        </p:txBody>
      </p:sp>
      <p:sp>
        <p:nvSpPr>
          <p:cNvPr id="224" name="직사각형 223"/>
          <p:cNvSpPr/>
          <p:nvPr/>
        </p:nvSpPr>
        <p:spPr>
          <a:xfrm>
            <a:off x="9363869" y="401219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거절결정불복심판</a:t>
            </a:r>
            <a:r>
              <a:rPr lang="en-US" altLang="ko-KR" sz="900" dirty="0"/>
              <a:t>(</a:t>
            </a:r>
            <a:r>
              <a:rPr lang="ko-KR" altLang="en-US" sz="900" dirty="0"/>
              <a:t>法 </a:t>
            </a:r>
            <a:r>
              <a:rPr lang="en-US" altLang="ko-KR" sz="900" dirty="0"/>
              <a:t>132</a:t>
            </a:r>
            <a:r>
              <a:rPr lang="ko-KR" altLang="en-US" sz="900" dirty="0"/>
              <a:t>의</a:t>
            </a:r>
            <a:r>
              <a:rPr lang="en-US" altLang="ko-KR" sz="900" dirty="0"/>
              <a:t>17, 170~172, 176)</a:t>
            </a:r>
            <a:endParaRPr lang="ko-KR" altLang="en-US" sz="900" dirty="0"/>
          </a:p>
        </p:txBody>
      </p:sp>
      <p:sp>
        <p:nvSpPr>
          <p:cNvPr id="225" name="직사각형 224"/>
          <p:cNvSpPr/>
          <p:nvPr/>
        </p:nvSpPr>
        <p:spPr>
          <a:xfrm>
            <a:off x="9363869" y="420277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정정심판</a:t>
            </a:r>
            <a:r>
              <a:rPr lang="en-US" altLang="ko-KR" sz="1000" dirty="0"/>
              <a:t>(</a:t>
            </a:r>
            <a:r>
              <a:rPr lang="ko-KR" altLang="en-US" sz="1000" dirty="0"/>
              <a:t>法 </a:t>
            </a:r>
            <a:r>
              <a:rPr lang="en-US" altLang="ko-KR" sz="1000" dirty="0"/>
              <a:t>136)</a:t>
            </a:r>
            <a:endParaRPr lang="ko-KR" altLang="en-US" sz="1000" dirty="0"/>
          </a:p>
        </p:txBody>
      </p:sp>
      <p:sp>
        <p:nvSpPr>
          <p:cNvPr id="226" name="직사각형 225"/>
          <p:cNvSpPr/>
          <p:nvPr/>
        </p:nvSpPr>
        <p:spPr>
          <a:xfrm>
            <a:off x="9363869" y="438375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무효심판</a:t>
            </a:r>
            <a:r>
              <a:rPr lang="en-US" altLang="ko-KR" sz="1000" dirty="0"/>
              <a:t>(</a:t>
            </a:r>
            <a:r>
              <a:rPr lang="ko-KR" altLang="en-US" sz="1000" dirty="0"/>
              <a:t>法 </a:t>
            </a:r>
            <a:r>
              <a:rPr lang="en-US" altLang="ko-KR" sz="1000" dirty="0"/>
              <a:t>133, 134, 137)</a:t>
            </a:r>
            <a:endParaRPr lang="ko-KR" altLang="en-US" sz="1000" dirty="0"/>
          </a:p>
        </p:txBody>
      </p:sp>
      <p:sp>
        <p:nvSpPr>
          <p:cNvPr id="227" name="직사각형 226"/>
          <p:cNvSpPr/>
          <p:nvPr/>
        </p:nvSpPr>
        <p:spPr>
          <a:xfrm>
            <a:off x="9363869" y="457975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권리범위확인심판</a:t>
            </a:r>
            <a:r>
              <a:rPr lang="en-US" altLang="ko-KR" sz="1000" dirty="0"/>
              <a:t>(</a:t>
            </a:r>
            <a:r>
              <a:rPr lang="ko-KR" altLang="en-US" sz="1000" dirty="0"/>
              <a:t>法 </a:t>
            </a:r>
            <a:r>
              <a:rPr lang="en-US" altLang="ko-KR" sz="1000" dirty="0"/>
              <a:t>135)</a:t>
            </a:r>
            <a:endParaRPr lang="ko-KR" altLang="en-US" sz="1000" dirty="0"/>
          </a:p>
        </p:txBody>
      </p:sp>
      <p:sp>
        <p:nvSpPr>
          <p:cNvPr id="228" name="직사각형 227"/>
          <p:cNvSpPr/>
          <p:nvPr/>
        </p:nvSpPr>
        <p:spPr>
          <a:xfrm>
            <a:off x="9363869" y="477033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통상실시권허락심판</a:t>
            </a:r>
            <a:r>
              <a:rPr lang="en-US" altLang="ko-KR" sz="1000" dirty="0"/>
              <a:t>(</a:t>
            </a:r>
            <a:r>
              <a:rPr lang="ko-KR" altLang="en-US" sz="1000" dirty="0"/>
              <a:t>法 </a:t>
            </a:r>
            <a:r>
              <a:rPr lang="en-US" altLang="ko-KR" sz="1000" dirty="0"/>
              <a:t>138)</a:t>
            </a:r>
            <a:endParaRPr lang="ko-KR" altLang="en-US" sz="1000" dirty="0"/>
          </a:p>
        </p:txBody>
      </p:sp>
      <p:cxnSp>
        <p:nvCxnSpPr>
          <p:cNvPr id="229" name="꺾인 연결선 228"/>
          <p:cNvCxnSpPr>
            <a:stCxn id="205" idx="1"/>
            <a:endCxn id="252" idx="3"/>
          </p:cNvCxnSpPr>
          <p:nvPr/>
        </p:nvCxnSpPr>
        <p:spPr>
          <a:xfrm rot="10800000" flipV="1">
            <a:off x="7557110" y="2489931"/>
            <a:ext cx="223697" cy="347276"/>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꺾인 연결선 229"/>
          <p:cNvCxnSpPr>
            <a:stCxn id="205" idx="3"/>
            <a:endCxn id="207" idx="1"/>
          </p:cNvCxnSpPr>
          <p:nvPr/>
        </p:nvCxnSpPr>
        <p:spPr>
          <a:xfrm flipV="1">
            <a:off x="8336650" y="1398592"/>
            <a:ext cx="163541" cy="10913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꺾인 연결선 230"/>
          <p:cNvCxnSpPr>
            <a:stCxn id="205" idx="3"/>
            <a:endCxn id="210" idx="1"/>
          </p:cNvCxnSpPr>
          <p:nvPr/>
        </p:nvCxnSpPr>
        <p:spPr>
          <a:xfrm>
            <a:off x="8336650" y="2489931"/>
            <a:ext cx="163541" cy="573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꺾인 연결선 231"/>
          <p:cNvCxnSpPr>
            <a:stCxn id="205" idx="3"/>
            <a:endCxn id="208" idx="1"/>
          </p:cNvCxnSpPr>
          <p:nvPr/>
        </p:nvCxnSpPr>
        <p:spPr>
          <a:xfrm flipV="1">
            <a:off x="8336650" y="1890102"/>
            <a:ext cx="163541" cy="5998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3" name="꺾인 연결선 232"/>
          <p:cNvCxnSpPr>
            <a:stCxn id="205" idx="3"/>
            <a:endCxn id="209" idx="1"/>
          </p:cNvCxnSpPr>
          <p:nvPr/>
        </p:nvCxnSpPr>
        <p:spPr>
          <a:xfrm>
            <a:off x="8336650" y="2489931"/>
            <a:ext cx="163541" cy="446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꺾인 연결선 233"/>
          <p:cNvCxnSpPr>
            <a:stCxn id="207" idx="3"/>
            <a:endCxn id="211" idx="1"/>
          </p:cNvCxnSpPr>
          <p:nvPr/>
        </p:nvCxnSpPr>
        <p:spPr>
          <a:xfrm flipV="1">
            <a:off x="9210221" y="874930"/>
            <a:ext cx="153648" cy="52366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5" name="꺾인 연결선 234"/>
          <p:cNvCxnSpPr>
            <a:stCxn id="207" idx="3"/>
            <a:endCxn id="213" idx="1"/>
          </p:cNvCxnSpPr>
          <p:nvPr/>
        </p:nvCxnSpPr>
        <p:spPr>
          <a:xfrm flipV="1">
            <a:off x="9210221" y="1252790"/>
            <a:ext cx="153648" cy="1458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6" name="꺾인 연결선 235"/>
          <p:cNvCxnSpPr>
            <a:cxnSpLocks/>
            <a:stCxn id="207" idx="3"/>
            <a:endCxn id="288" idx="1"/>
          </p:cNvCxnSpPr>
          <p:nvPr/>
        </p:nvCxnSpPr>
        <p:spPr>
          <a:xfrm>
            <a:off x="9210221" y="1398592"/>
            <a:ext cx="148622" cy="1108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7" name="꺾인 연결선 236"/>
          <p:cNvCxnSpPr>
            <a:stCxn id="208" idx="3"/>
            <a:endCxn id="214" idx="1"/>
          </p:cNvCxnSpPr>
          <p:nvPr/>
        </p:nvCxnSpPr>
        <p:spPr>
          <a:xfrm flipV="1">
            <a:off x="9210221" y="1773052"/>
            <a:ext cx="153648" cy="1170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8" name="꺾인 연결선 237"/>
          <p:cNvCxnSpPr>
            <a:stCxn id="208" idx="3"/>
            <a:endCxn id="215" idx="1"/>
          </p:cNvCxnSpPr>
          <p:nvPr/>
        </p:nvCxnSpPr>
        <p:spPr>
          <a:xfrm>
            <a:off x="9210221" y="1890102"/>
            <a:ext cx="153648" cy="735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9" name="꺾인 연결선 238"/>
          <p:cNvCxnSpPr>
            <a:stCxn id="209" idx="3"/>
            <a:endCxn id="216" idx="1"/>
          </p:cNvCxnSpPr>
          <p:nvPr/>
        </p:nvCxnSpPr>
        <p:spPr>
          <a:xfrm flipV="1">
            <a:off x="9210221" y="2339108"/>
            <a:ext cx="153648" cy="195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0" name="꺾인 연결선 239"/>
          <p:cNvCxnSpPr>
            <a:stCxn id="209" idx="3"/>
            <a:endCxn id="218" idx="1"/>
          </p:cNvCxnSpPr>
          <p:nvPr/>
        </p:nvCxnSpPr>
        <p:spPr>
          <a:xfrm>
            <a:off x="9210221" y="2534560"/>
            <a:ext cx="153648" cy="18138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1" name="꺾인 연결선 240"/>
          <p:cNvCxnSpPr>
            <a:stCxn id="209" idx="3"/>
            <a:endCxn id="217" idx="1"/>
          </p:cNvCxnSpPr>
          <p:nvPr/>
        </p:nvCxnSpPr>
        <p:spPr>
          <a:xfrm flipV="1">
            <a:off x="9210221" y="2527293"/>
            <a:ext cx="153648" cy="72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꺾인 연결선 241"/>
          <p:cNvCxnSpPr>
            <a:stCxn id="221" idx="1"/>
            <a:endCxn id="206" idx="3"/>
          </p:cNvCxnSpPr>
          <p:nvPr/>
        </p:nvCxnSpPr>
        <p:spPr>
          <a:xfrm rot="10800000" flipV="1">
            <a:off x="8336651" y="4189783"/>
            <a:ext cx="163541" cy="2788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3" name="꺾인 연결선 242"/>
          <p:cNvCxnSpPr>
            <a:stCxn id="206" idx="3"/>
            <a:endCxn id="223" idx="1"/>
          </p:cNvCxnSpPr>
          <p:nvPr/>
        </p:nvCxnSpPr>
        <p:spPr>
          <a:xfrm>
            <a:off x="8336650" y="4468595"/>
            <a:ext cx="163539" cy="86197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4" name="꺾인 연결선 243"/>
          <p:cNvCxnSpPr>
            <a:stCxn id="206" idx="3"/>
            <a:endCxn id="222" idx="1"/>
          </p:cNvCxnSpPr>
          <p:nvPr/>
        </p:nvCxnSpPr>
        <p:spPr>
          <a:xfrm>
            <a:off x="8336650" y="4468595"/>
            <a:ext cx="163541" cy="1888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꺾인 연결선 244"/>
          <p:cNvCxnSpPr>
            <a:stCxn id="210" idx="3"/>
            <a:endCxn id="219" idx="1"/>
          </p:cNvCxnSpPr>
          <p:nvPr/>
        </p:nvCxnSpPr>
        <p:spPr>
          <a:xfrm flipV="1">
            <a:off x="9210221" y="2953778"/>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꺾인 연결선 245"/>
          <p:cNvCxnSpPr>
            <a:stCxn id="210" idx="3"/>
            <a:endCxn id="220" idx="1"/>
          </p:cNvCxnSpPr>
          <p:nvPr/>
        </p:nvCxnSpPr>
        <p:spPr>
          <a:xfrm>
            <a:off x="9210221" y="3063383"/>
            <a:ext cx="153648" cy="7858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7" name="꺾인 연결선 246"/>
          <p:cNvCxnSpPr>
            <a:stCxn id="221" idx="3"/>
            <a:endCxn id="224" idx="1"/>
          </p:cNvCxnSpPr>
          <p:nvPr/>
        </p:nvCxnSpPr>
        <p:spPr>
          <a:xfrm flipV="1">
            <a:off x="9210221" y="4081472"/>
            <a:ext cx="153648" cy="1083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8" name="꺾인 연결선 247"/>
          <p:cNvCxnSpPr>
            <a:stCxn id="221" idx="3"/>
            <a:endCxn id="225" idx="1"/>
          </p:cNvCxnSpPr>
          <p:nvPr/>
        </p:nvCxnSpPr>
        <p:spPr>
          <a:xfrm>
            <a:off x="9210221" y="4189784"/>
            <a:ext cx="153648" cy="8226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9" name="꺾인 연결선 248"/>
          <p:cNvCxnSpPr>
            <a:stCxn id="222" idx="3"/>
            <a:endCxn id="226" idx="1"/>
          </p:cNvCxnSpPr>
          <p:nvPr/>
        </p:nvCxnSpPr>
        <p:spPr>
          <a:xfrm flipV="1">
            <a:off x="9210221" y="4453030"/>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0" name="꺾인 연결선 249"/>
          <p:cNvCxnSpPr>
            <a:stCxn id="222" idx="3"/>
            <a:endCxn id="227" idx="1"/>
          </p:cNvCxnSpPr>
          <p:nvPr/>
        </p:nvCxnSpPr>
        <p:spPr>
          <a:xfrm flipV="1">
            <a:off x="9210221" y="4649032"/>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1" name="꺾인 연결선 250"/>
          <p:cNvCxnSpPr>
            <a:stCxn id="222" idx="3"/>
            <a:endCxn id="228" idx="1"/>
          </p:cNvCxnSpPr>
          <p:nvPr/>
        </p:nvCxnSpPr>
        <p:spPr>
          <a:xfrm>
            <a:off x="9210221" y="4657467"/>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2" name="직사각형 251"/>
          <p:cNvSpPr/>
          <p:nvPr/>
        </p:nvSpPr>
        <p:spPr>
          <a:xfrm>
            <a:off x="7136327" y="2620124"/>
            <a:ext cx="420782" cy="434166"/>
          </a:xfrm>
          <a:prstGeom prst="rect">
            <a:avLst/>
          </a:prstGeom>
          <a:solidFill>
            <a:schemeClr val="accent5"/>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200" dirty="0">
                <a:solidFill>
                  <a:schemeClr val="bg1"/>
                </a:solidFill>
              </a:rPr>
              <a:t>심판</a:t>
            </a:r>
            <a:endParaRPr lang="en-US" altLang="ko-KR" sz="1200" dirty="0">
              <a:solidFill>
                <a:schemeClr val="bg1"/>
              </a:solidFill>
            </a:endParaRPr>
          </a:p>
          <a:p>
            <a:pPr algn="ctr"/>
            <a:r>
              <a:rPr lang="ko-KR" altLang="en-US" sz="1200" dirty="0">
                <a:solidFill>
                  <a:schemeClr val="bg1"/>
                </a:solidFill>
              </a:rPr>
              <a:t>제도</a:t>
            </a:r>
          </a:p>
        </p:txBody>
      </p:sp>
      <p:cxnSp>
        <p:nvCxnSpPr>
          <p:cNvPr id="253" name="꺾인 연결선 252"/>
          <p:cNvCxnSpPr>
            <a:stCxn id="252" idx="3"/>
            <a:endCxn id="206" idx="1"/>
          </p:cNvCxnSpPr>
          <p:nvPr/>
        </p:nvCxnSpPr>
        <p:spPr>
          <a:xfrm>
            <a:off x="7557109" y="2837207"/>
            <a:ext cx="223697" cy="163138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4" name="직사각형 253"/>
          <p:cNvSpPr/>
          <p:nvPr/>
        </p:nvSpPr>
        <p:spPr>
          <a:xfrm>
            <a:off x="8500189" y="5000342"/>
            <a:ext cx="2075729"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특허취소신청</a:t>
            </a:r>
            <a:r>
              <a:rPr lang="en-US" altLang="ko-KR" sz="1000" dirty="0"/>
              <a:t>(</a:t>
            </a:r>
            <a:r>
              <a:rPr lang="ko-KR" altLang="en-US" sz="1000" dirty="0"/>
              <a:t>法 </a:t>
            </a:r>
            <a:r>
              <a:rPr lang="en-US" altLang="ko-KR" sz="1000" dirty="0"/>
              <a:t>132</a:t>
            </a:r>
            <a:r>
              <a:rPr lang="ko-KR" altLang="en-US" sz="1000" dirty="0"/>
              <a:t>의</a:t>
            </a:r>
            <a:r>
              <a:rPr lang="en-US" altLang="ko-KR" sz="1000" dirty="0"/>
              <a:t>2~132</a:t>
            </a:r>
            <a:r>
              <a:rPr lang="ko-KR" altLang="en-US" sz="1000" dirty="0"/>
              <a:t>의</a:t>
            </a:r>
            <a:r>
              <a:rPr lang="en-US" altLang="ko-KR" sz="1000" dirty="0"/>
              <a:t>15)</a:t>
            </a:r>
            <a:endParaRPr lang="ko-KR" altLang="en-US" sz="1000" dirty="0"/>
          </a:p>
        </p:txBody>
      </p:sp>
      <p:cxnSp>
        <p:nvCxnSpPr>
          <p:cNvPr id="255" name="꺾인 연결선 254"/>
          <p:cNvCxnSpPr>
            <a:stCxn id="206" idx="3"/>
            <a:endCxn id="254" idx="1"/>
          </p:cNvCxnSpPr>
          <p:nvPr/>
        </p:nvCxnSpPr>
        <p:spPr>
          <a:xfrm>
            <a:off x="8336650" y="4468595"/>
            <a:ext cx="163539" cy="6110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6" name="직사각형 255"/>
          <p:cNvSpPr/>
          <p:nvPr/>
        </p:nvSpPr>
        <p:spPr>
          <a:xfrm>
            <a:off x="9363869" y="2079620"/>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중복심판청구금지</a:t>
            </a:r>
            <a:r>
              <a:rPr lang="en-US" altLang="ko-KR" sz="1000" dirty="0"/>
              <a:t>(</a:t>
            </a:r>
            <a:r>
              <a:rPr lang="ko-KR" altLang="en-US" sz="1000" dirty="0"/>
              <a:t>法 </a:t>
            </a:r>
            <a:r>
              <a:rPr lang="en-US" altLang="ko-KR" sz="1000" dirty="0"/>
              <a:t>154⑧ </a:t>
            </a:r>
            <a:r>
              <a:rPr lang="ko-KR" altLang="en-US" sz="1000" dirty="0"/>
              <a:t>준용</a:t>
            </a:r>
            <a:r>
              <a:rPr lang="en-US" altLang="ko-KR" sz="1000" dirty="0"/>
              <a:t> </a:t>
            </a:r>
            <a:r>
              <a:rPr lang="ko-KR" altLang="en-US" sz="1000" dirty="0"/>
              <a:t>민소</a:t>
            </a:r>
            <a:r>
              <a:rPr lang="en-US" altLang="ko-KR" sz="1000" dirty="0"/>
              <a:t>259)</a:t>
            </a:r>
          </a:p>
        </p:txBody>
      </p:sp>
      <p:sp>
        <p:nvSpPr>
          <p:cNvPr id="257" name="직사각형 256"/>
          <p:cNvSpPr/>
          <p:nvPr/>
        </p:nvSpPr>
        <p:spPr>
          <a:xfrm>
            <a:off x="8237008" y="5752000"/>
            <a:ext cx="420212"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en-US" altLang="ko-KR" sz="1200" dirty="0">
                <a:solidFill>
                  <a:schemeClr val="bg1"/>
                </a:solidFill>
              </a:rPr>
              <a:t>PCT</a:t>
            </a:r>
            <a:endParaRPr lang="ko-KR" altLang="en-US" sz="1200" dirty="0">
              <a:solidFill>
                <a:schemeClr val="bg1"/>
              </a:solidFill>
            </a:endParaRPr>
          </a:p>
        </p:txBody>
      </p:sp>
      <p:sp>
        <p:nvSpPr>
          <p:cNvPr id="258" name="직사각형 257"/>
          <p:cNvSpPr/>
          <p:nvPr/>
        </p:nvSpPr>
        <p:spPr>
          <a:xfrm>
            <a:off x="8810868" y="566042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특허출원절차</a:t>
            </a:r>
            <a:r>
              <a:rPr lang="en-US" altLang="ko-KR" sz="1000" dirty="0"/>
              <a:t>(</a:t>
            </a:r>
            <a:r>
              <a:rPr lang="ko-KR" altLang="en-US" sz="1000" dirty="0"/>
              <a:t>法 </a:t>
            </a:r>
            <a:r>
              <a:rPr lang="en-US" altLang="ko-KR" sz="1000" dirty="0"/>
              <a:t>192~198)</a:t>
            </a:r>
            <a:endParaRPr lang="ko-KR" altLang="en-US" sz="1000" dirty="0"/>
          </a:p>
        </p:txBody>
      </p:sp>
      <p:sp>
        <p:nvSpPr>
          <p:cNvPr id="259" name="직사각형 258"/>
          <p:cNvSpPr/>
          <p:nvPr/>
        </p:nvSpPr>
        <p:spPr>
          <a:xfrm>
            <a:off x="8810868" y="5856429"/>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국제조사 및 국제예비심사</a:t>
            </a:r>
            <a:r>
              <a:rPr lang="en-US" altLang="ko-KR" sz="1000" dirty="0"/>
              <a:t>(</a:t>
            </a:r>
            <a:r>
              <a:rPr lang="ko-KR" altLang="en-US" sz="1000" dirty="0"/>
              <a:t>法 </a:t>
            </a:r>
            <a:r>
              <a:rPr lang="en-US" altLang="ko-KR" sz="1000" dirty="0"/>
              <a:t>198</a:t>
            </a:r>
            <a:r>
              <a:rPr lang="ko-KR" altLang="en-US" sz="1000" dirty="0"/>
              <a:t>의</a:t>
            </a:r>
            <a:r>
              <a:rPr lang="en-US" altLang="ko-KR" sz="1000" dirty="0"/>
              <a:t>2)</a:t>
            </a:r>
            <a:endParaRPr lang="ko-KR" altLang="en-US" sz="1000" dirty="0"/>
          </a:p>
        </p:txBody>
      </p:sp>
      <p:sp>
        <p:nvSpPr>
          <p:cNvPr id="260" name="직사각형 259"/>
          <p:cNvSpPr/>
          <p:nvPr/>
        </p:nvSpPr>
        <p:spPr>
          <a:xfrm>
            <a:off x="8810868" y="604700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국제특허출원에 관한 특례</a:t>
            </a:r>
            <a:r>
              <a:rPr lang="en-US" altLang="ko-KR" sz="1000" dirty="0"/>
              <a:t>(</a:t>
            </a:r>
            <a:r>
              <a:rPr lang="ko-KR" altLang="en-US" sz="1000" dirty="0"/>
              <a:t>法 </a:t>
            </a:r>
            <a:r>
              <a:rPr lang="en-US" altLang="ko-KR" sz="1000" dirty="0"/>
              <a:t>199~214)</a:t>
            </a:r>
            <a:endParaRPr lang="ko-KR" altLang="en-US" sz="1000" dirty="0"/>
          </a:p>
        </p:txBody>
      </p:sp>
      <p:cxnSp>
        <p:nvCxnSpPr>
          <p:cNvPr id="261" name="꺾인 연결선 260"/>
          <p:cNvCxnSpPr>
            <a:stCxn id="257" idx="3"/>
            <a:endCxn id="258" idx="1"/>
          </p:cNvCxnSpPr>
          <p:nvPr/>
        </p:nvCxnSpPr>
        <p:spPr>
          <a:xfrm flipV="1">
            <a:off x="8657220" y="5729706"/>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꺾인 연결선 261"/>
          <p:cNvCxnSpPr>
            <a:stCxn id="257" idx="3"/>
            <a:endCxn id="259" idx="1"/>
          </p:cNvCxnSpPr>
          <p:nvPr/>
        </p:nvCxnSpPr>
        <p:spPr>
          <a:xfrm flipV="1">
            <a:off x="8657220" y="5925708"/>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꺾인 연결선 262"/>
          <p:cNvCxnSpPr>
            <a:stCxn id="257" idx="3"/>
            <a:endCxn id="260" idx="1"/>
          </p:cNvCxnSpPr>
          <p:nvPr/>
        </p:nvCxnSpPr>
        <p:spPr>
          <a:xfrm>
            <a:off x="8657220" y="5934143"/>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꺾인 연결선 263"/>
          <p:cNvCxnSpPr>
            <a:stCxn id="273" idx="3"/>
            <a:endCxn id="295" idx="1"/>
          </p:cNvCxnSpPr>
          <p:nvPr/>
        </p:nvCxnSpPr>
        <p:spPr>
          <a:xfrm flipV="1">
            <a:off x="4278775" y="4164703"/>
            <a:ext cx="168733" cy="44072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5" name="꺾인 연결선 264"/>
          <p:cNvCxnSpPr>
            <a:stCxn id="273" idx="3"/>
            <a:endCxn id="296" idx="1"/>
          </p:cNvCxnSpPr>
          <p:nvPr/>
        </p:nvCxnSpPr>
        <p:spPr>
          <a:xfrm flipV="1">
            <a:off x="4278775" y="4328505"/>
            <a:ext cx="168733" cy="27692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6" name="직사각형 265"/>
          <p:cNvSpPr/>
          <p:nvPr/>
        </p:nvSpPr>
        <p:spPr>
          <a:xfrm>
            <a:off x="612833" y="5324052"/>
            <a:ext cx="355015"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200" dirty="0">
                <a:solidFill>
                  <a:schemeClr val="bg1"/>
                </a:solidFill>
              </a:rPr>
              <a:t>소송</a:t>
            </a:r>
          </a:p>
        </p:txBody>
      </p:sp>
      <p:sp>
        <p:nvSpPr>
          <p:cNvPr id="267" name="직사각형 266"/>
          <p:cNvSpPr/>
          <p:nvPr/>
        </p:nvSpPr>
        <p:spPr>
          <a:xfrm>
            <a:off x="1121497" y="523247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err="1"/>
              <a:t>심결취소소송</a:t>
            </a:r>
            <a:r>
              <a:rPr lang="en-US" altLang="ko-KR" sz="1000" dirty="0"/>
              <a:t>(</a:t>
            </a:r>
            <a:r>
              <a:rPr lang="ko-KR" altLang="en-US" sz="1000" dirty="0"/>
              <a:t>法 </a:t>
            </a:r>
            <a:r>
              <a:rPr lang="en-US" altLang="ko-KR" sz="1000" dirty="0"/>
              <a:t>186~189)</a:t>
            </a:r>
            <a:endParaRPr lang="ko-KR" altLang="en-US" sz="1000" dirty="0"/>
          </a:p>
        </p:txBody>
      </p:sp>
      <p:sp>
        <p:nvSpPr>
          <p:cNvPr id="268" name="직사각형 267"/>
          <p:cNvSpPr/>
          <p:nvPr/>
        </p:nvSpPr>
        <p:spPr>
          <a:xfrm>
            <a:off x="1121497" y="5428481"/>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보상금</a:t>
            </a:r>
            <a:r>
              <a:rPr lang="en-US" altLang="ko-KR" sz="1000" dirty="0"/>
              <a:t>/</a:t>
            </a:r>
            <a:r>
              <a:rPr lang="ko-KR" altLang="en-US" sz="1000" dirty="0"/>
              <a:t>대가에 대한 소송</a:t>
            </a:r>
            <a:r>
              <a:rPr lang="en-US" altLang="ko-KR" sz="1000" dirty="0"/>
              <a:t>(</a:t>
            </a:r>
            <a:r>
              <a:rPr lang="ko-KR" altLang="en-US" sz="1000" dirty="0"/>
              <a:t>法 </a:t>
            </a:r>
            <a:r>
              <a:rPr lang="en-US" altLang="ko-KR" sz="1000" dirty="0"/>
              <a:t>190, 191)</a:t>
            </a:r>
            <a:endParaRPr lang="ko-KR" altLang="en-US" sz="1000" dirty="0"/>
          </a:p>
        </p:txBody>
      </p:sp>
      <p:sp>
        <p:nvSpPr>
          <p:cNvPr id="269" name="직사각형 268"/>
          <p:cNvSpPr/>
          <p:nvPr/>
        </p:nvSpPr>
        <p:spPr>
          <a:xfrm>
            <a:off x="1121497" y="561905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변리사 보수</a:t>
            </a:r>
            <a:r>
              <a:rPr lang="en-US" altLang="ko-KR" sz="1000" dirty="0"/>
              <a:t>(</a:t>
            </a:r>
            <a:r>
              <a:rPr lang="ko-KR" altLang="en-US" sz="1000" dirty="0"/>
              <a:t>法 </a:t>
            </a:r>
            <a:r>
              <a:rPr lang="en-US" altLang="ko-KR" sz="1000" dirty="0"/>
              <a:t>191</a:t>
            </a:r>
            <a:r>
              <a:rPr lang="ko-KR" altLang="en-US" sz="1000" dirty="0"/>
              <a:t>의</a:t>
            </a:r>
            <a:r>
              <a:rPr lang="en-US" altLang="ko-KR" sz="1000" dirty="0"/>
              <a:t>2)</a:t>
            </a:r>
            <a:endParaRPr lang="ko-KR" altLang="en-US" sz="1000" dirty="0"/>
          </a:p>
        </p:txBody>
      </p:sp>
      <p:cxnSp>
        <p:nvCxnSpPr>
          <p:cNvPr id="270" name="꺾인 연결선 269"/>
          <p:cNvCxnSpPr>
            <a:stCxn id="266" idx="3"/>
            <a:endCxn id="267" idx="1"/>
          </p:cNvCxnSpPr>
          <p:nvPr/>
        </p:nvCxnSpPr>
        <p:spPr>
          <a:xfrm flipV="1">
            <a:off x="967848" y="5301758"/>
            <a:ext cx="153649"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1" name="꺾인 연결선 270"/>
          <p:cNvCxnSpPr>
            <a:stCxn id="266" idx="3"/>
            <a:endCxn id="268" idx="1"/>
          </p:cNvCxnSpPr>
          <p:nvPr/>
        </p:nvCxnSpPr>
        <p:spPr>
          <a:xfrm flipV="1">
            <a:off x="967848" y="5497760"/>
            <a:ext cx="153649"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2" name="꺾인 연결선 271"/>
          <p:cNvCxnSpPr>
            <a:stCxn id="266" idx="3"/>
            <a:endCxn id="269" idx="1"/>
          </p:cNvCxnSpPr>
          <p:nvPr/>
        </p:nvCxnSpPr>
        <p:spPr>
          <a:xfrm>
            <a:off x="967848" y="5506195"/>
            <a:ext cx="153649"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3" name="직사각형 272"/>
          <p:cNvSpPr/>
          <p:nvPr/>
        </p:nvSpPr>
        <p:spPr>
          <a:xfrm>
            <a:off x="3609544" y="4480740"/>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accent3">
                    <a:lumMod val="50000"/>
                  </a:schemeClr>
                </a:solidFill>
              </a:rPr>
              <a:t>소송요건</a:t>
            </a:r>
            <a:endParaRPr lang="en-US" altLang="ko-KR" sz="1000" dirty="0">
              <a:solidFill>
                <a:schemeClr val="accent3">
                  <a:lumMod val="50000"/>
                </a:schemeClr>
              </a:solidFill>
            </a:endParaRPr>
          </a:p>
          <a:p>
            <a:pPr algn="ctr"/>
            <a:r>
              <a:rPr lang="en-US" altLang="ko-KR" sz="700" dirty="0">
                <a:solidFill>
                  <a:schemeClr val="accent3">
                    <a:lumMod val="50000"/>
                  </a:schemeClr>
                </a:solidFill>
              </a:rPr>
              <a:t>(</a:t>
            </a:r>
            <a:r>
              <a:rPr lang="ko-KR" altLang="en-US" sz="700" dirty="0">
                <a:solidFill>
                  <a:schemeClr val="accent3">
                    <a:lumMod val="50000"/>
                  </a:schemeClr>
                </a:solidFill>
              </a:rPr>
              <a:t>法 </a:t>
            </a:r>
            <a:r>
              <a:rPr lang="en-US" altLang="ko-KR" sz="700" dirty="0">
                <a:solidFill>
                  <a:schemeClr val="accent3">
                    <a:lumMod val="50000"/>
                  </a:schemeClr>
                </a:solidFill>
              </a:rPr>
              <a:t>186, 187)</a:t>
            </a:r>
            <a:endParaRPr lang="ko-KR" altLang="en-US" sz="700" dirty="0">
              <a:solidFill>
                <a:schemeClr val="accent3">
                  <a:lumMod val="50000"/>
                </a:schemeClr>
              </a:solidFill>
            </a:endParaRPr>
          </a:p>
        </p:txBody>
      </p:sp>
      <p:sp>
        <p:nvSpPr>
          <p:cNvPr id="274" name="직사각형 273"/>
          <p:cNvSpPr/>
          <p:nvPr/>
        </p:nvSpPr>
        <p:spPr>
          <a:xfrm>
            <a:off x="3609544" y="5109654"/>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소송제기</a:t>
            </a:r>
          </a:p>
        </p:txBody>
      </p:sp>
      <p:sp>
        <p:nvSpPr>
          <p:cNvPr id="275" name="직사각형 274"/>
          <p:cNvSpPr/>
          <p:nvPr/>
        </p:nvSpPr>
        <p:spPr>
          <a:xfrm>
            <a:off x="3609544" y="5640678"/>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소송심리</a:t>
            </a:r>
          </a:p>
        </p:txBody>
      </p:sp>
      <p:sp>
        <p:nvSpPr>
          <p:cNvPr id="276" name="직사각형 275"/>
          <p:cNvSpPr/>
          <p:nvPr/>
        </p:nvSpPr>
        <p:spPr>
          <a:xfrm>
            <a:off x="3609544" y="6249551"/>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소송종료</a:t>
            </a:r>
          </a:p>
        </p:txBody>
      </p:sp>
      <p:cxnSp>
        <p:nvCxnSpPr>
          <p:cNvPr id="277" name="꺾인 연결선 276"/>
          <p:cNvCxnSpPr>
            <a:stCxn id="267" idx="3"/>
            <a:endCxn id="273" idx="1"/>
          </p:cNvCxnSpPr>
          <p:nvPr/>
        </p:nvCxnSpPr>
        <p:spPr>
          <a:xfrm flipV="1">
            <a:off x="3454709" y="4605428"/>
            <a:ext cx="154835" cy="696330"/>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꺾인 연결선 277"/>
          <p:cNvCxnSpPr>
            <a:stCxn id="267" idx="3"/>
            <a:endCxn id="276" idx="1"/>
          </p:cNvCxnSpPr>
          <p:nvPr/>
        </p:nvCxnSpPr>
        <p:spPr>
          <a:xfrm>
            <a:off x="3454709" y="5301758"/>
            <a:ext cx="154835" cy="1072481"/>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꺾인 연결선 278"/>
          <p:cNvCxnSpPr>
            <a:stCxn id="267" idx="3"/>
            <a:endCxn id="274" idx="1"/>
          </p:cNvCxnSpPr>
          <p:nvPr/>
        </p:nvCxnSpPr>
        <p:spPr>
          <a:xfrm flipV="1">
            <a:off x="3454709" y="5234342"/>
            <a:ext cx="154835" cy="6741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꺾인 연결선 279"/>
          <p:cNvCxnSpPr>
            <a:stCxn id="267" idx="3"/>
            <a:endCxn id="275" idx="1"/>
          </p:cNvCxnSpPr>
          <p:nvPr/>
        </p:nvCxnSpPr>
        <p:spPr>
          <a:xfrm>
            <a:off x="3454709" y="5301758"/>
            <a:ext cx="154835" cy="46360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꺾인 연결선 280"/>
          <p:cNvCxnSpPr>
            <a:stCxn id="273" idx="3"/>
            <a:endCxn id="297" idx="1"/>
          </p:cNvCxnSpPr>
          <p:nvPr/>
        </p:nvCxnSpPr>
        <p:spPr>
          <a:xfrm flipV="1">
            <a:off x="4278775" y="4489475"/>
            <a:ext cx="168733" cy="1159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꺾인 연결선 281"/>
          <p:cNvCxnSpPr>
            <a:stCxn id="274" idx="3"/>
            <a:endCxn id="298" idx="1"/>
          </p:cNvCxnSpPr>
          <p:nvPr/>
        </p:nvCxnSpPr>
        <p:spPr>
          <a:xfrm flipV="1">
            <a:off x="4278775" y="5070329"/>
            <a:ext cx="168733" cy="16401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꺾인 연결선 282"/>
          <p:cNvCxnSpPr>
            <a:stCxn id="274" idx="3"/>
            <a:endCxn id="299" idx="1"/>
          </p:cNvCxnSpPr>
          <p:nvPr/>
        </p:nvCxnSpPr>
        <p:spPr>
          <a:xfrm flipV="1">
            <a:off x="4278775" y="5234131"/>
            <a:ext cx="168733" cy="2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4" name="꺾인 연결선 283"/>
          <p:cNvCxnSpPr>
            <a:stCxn id="275" idx="3"/>
            <a:endCxn id="300" idx="1"/>
          </p:cNvCxnSpPr>
          <p:nvPr/>
        </p:nvCxnSpPr>
        <p:spPr>
          <a:xfrm flipV="1">
            <a:off x="4278775" y="5762383"/>
            <a:ext cx="168733" cy="298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5" name="꺾인 연결선 284"/>
          <p:cNvCxnSpPr>
            <a:cxnSpLocks/>
            <a:stCxn id="275" idx="3"/>
            <a:endCxn id="301" idx="1"/>
          </p:cNvCxnSpPr>
          <p:nvPr/>
        </p:nvCxnSpPr>
        <p:spPr>
          <a:xfrm>
            <a:off x="4278775" y="5765366"/>
            <a:ext cx="168733" cy="2485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6" name="꺾인 연결선 285"/>
          <p:cNvCxnSpPr>
            <a:stCxn id="276" idx="3"/>
            <a:endCxn id="302" idx="1"/>
          </p:cNvCxnSpPr>
          <p:nvPr/>
        </p:nvCxnSpPr>
        <p:spPr>
          <a:xfrm flipV="1">
            <a:off x="4278775" y="6284664"/>
            <a:ext cx="168733" cy="895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7" name="꺾인 연결선 286"/>
          <p:cNvCxnSpPr>
            <a:cxnSpLocks/>
            <a:stCxn id="276" idx="3"/>
            <a:endCxn id="303" idx="1"/>
          </p:cNvCxnSpPr>
          <p:nvPr/>
        </p:nvCxnSpPr>
        <p:spPr>
          <a:xfrm>
            <a:off x="4278775" y="6374239"/>
            <a:ext cx="168733" cy="1744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9" name="직사각형 288"/>
          <p:cNvSpPr/>
          <p:nvPr/>
        </p:nvSpPr>
        <p:spPr>
          <a:xfrm>
            <a:off x="5954614" y="5228714"/>
            <a:ext cx="1396961" cy="32899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변론주의 원칙</a:t>
            </a:r>
            <a:endParaRPr lang="en-US" altLang="ko-KR" sz="1000" dirty="0"/>
          </a:p>
          <a:p>
            <a:pPr algn="ctr"/>
            <a:r>
              <a:rPr lang="en-US" altLang="ko-KR" sz="1000" dirty="0"/>
              <a:t>(</a:t>
            </a:r>
            <a:r>
              <a:rPr lang="ko-KR" altLang="en-US" sz="1000" dirty="0"/>
              <a:t>직권주의 가미</a:t>
            </a:r>
            <a:r>
              <a:rPr lang="en-US" altLang="ko-KR" sz="1000" dirty="0"/>
              <a:t>)</a:t>
            </a:r>
            <a:endParaRPr lang="ko-KR" altLang="en-US" sz="1000" dirty="0"/>
          </a:p>
        </p:txBody>
      </p:sp>
      <p:sp>
        <p:nvSpPr>
          <p:cNvPr id="290" name="직사각형 289"/>
          <p:cNvSpPr/>
          <p:nvPr/>
        </p:nvSpPr>
        <p:spPr>
          <a:xfrm>
            <a:off x="5954614" y="5591097"/>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위법판단의 기준시점</a:t>
            </a:r>
          </a:p>
        </p:txBody>
      </p:sp>
      <p:sp>
        <p:nvSpPr>
          <p:cNvPr id="291" name="직사각형 290"/>
          <p:cNvSpPr/>
          <p:nvPr/>
        </p:nvSpPr>
        <p:spPr>
          <a:xfrm>
            <a:off x="5954614" y="575324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심리범위</a:t>
            </a:r>
          </a:p>
        </p:txBody>
      </p:sp>
      <p:sp>
        <p:nvSpPr>
          <p:cNvPr id="292" name="직사각형 291"/>
          <p:cNvSpPr/>
          <p:nvPr/>
        </p:nvSpPr>
        <p:spPr>
          <a:xfrm>
            <a:off x="5954614" y="591100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주장증명책임</a:t>
            </a:r>
          </a:p>
        </p:txBody>
      </p:sp>
      <p:sp>
        <p:nvSpPr>
          <p:cNvPr id="293" name="직사각형 292"/>
          <p:cNvSpPr/>
          <p:nvPr/>
        </p:nvSpPr>
        <p:spPr>
          <a:xfrm>
            <a:off x="5954614" y="6071372"/>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자백</a:t>
            </a:r>
          </a:p>
        </p:txBody>
      </p:sp>
      <p:sp>
        <p:nvSpPr>
          <p:cNvPr id="295" name="직사각형 294"/>
          <p:cNvSpPr/>
          <p:nvPr/>
        </p:nvSpPr>
        <p:spPr>
          <a:xfrm>
            <a:off x="4447508" y="410052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err="1"/>
              <a:t>소송물</a:t>
            </a:r>
            <a:endParaRPr lang="ko-KR" altLang="en-US" sz="1000" dirty="0"/>
          </a:p>
        </p:txBody>
      </p:sp>
      <p:sp>
        <p:nvSpPr>
          <p:cNvPr id="296" name="직사각형 295"/>
          <p:cNvSpPr/>
          <p:nvPr/>
        </p:nvSpPr>
        <p:spPr>
          <a:xfrm>
            <a:off x="4447508" y="426432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소의 이익</a:t>
            </a:r>
          </a:p>
        </p:txBody>
      </p:sp>
      <p:sp>
        <p:nvSpPr>
          <p:cNvPr id="297" name="직사각형 296"/>
          <p:cNvSpPr/>
          <p:nvPr/>
        </p:nvSpPr>
        <p:spPr>
          <a:xfrm>
            <a:off x="4447508" y="442529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관할</a:t>
            </a:r>
          </a:p>
        </p:txBody>
      </p:sp>
      <p:sp>
        <p:nvSpPr>
          <p:cNvPr id="298" name="직사각형 297"/>
          <p:cNvSpPr/>
          <p:nvPr/>
        </p:nvSpPr>
        <p:spPr>
          <a:xfrm>
            <a:off x="4447508" y="5006153"/>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소장의 제출</a:t>
            </a:r>
          </a:p>
        </p:txBody>
      </p:sp>
      <p:sp>
        <p:nvSpPr>
          <p:cNvPr id="299" name="직사각형 298"/>
          <p:cNvSpPr/>
          <p:nvPr/>
        </p:nvSpPr>
        <p:spPr>
          <a:xfrm>
            <a:off x="4447508" y="516995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심판원장에게 통지</a:t>
            </a:r>
            <a:r>
              <a:rPr lang="en-US" altLang="ko-KR" sz="600" dirty="0">
                <a:solidFill>
                  <a:schemeClr val="tx1"/>
                </a:solidFill>
              </a:rPr>
              <a:t>(</a:t>
            </a:r>
            <a:r>
              <a:rPr lang="ko-KR" altLang="en-US" sz="600" dirty="0">
                <a:solidFill>
                  <a:schemeClr val="tx1"/>
                </a:solidFill>
              </a:rPr>
              <a:t>法 </a:t>
            </a:r>
            <a:r>
              <a:rPr lang="en-US" altLang="ko-KR" sz="600" dirty="0">
                <a:solidFill>
                  <a:schemeClr val="tx1"/>
                </a:solidFill>
              </a:rPr>
              <a:t>188)</a:t>
            </a:r>
            <a:endParaRPr lang="en-US" altLang="ko-KR" sz="1000" dirty="0">
              <a:solidFill>
                <a:schemeClr val="tx1"/>
              </a:solidFill>
            </a:endParaRPr>
          </a:p>
        </p:txBody>
      </p:sp>
      <p:sp>
        <p:nvSpPr>
          <p:cNvPr id="300" name="직사각형 299"/>
          <p:cNvSpPr/>
          <p:nvPr/>
        </p:nvSpPr>
        <p:spPr>
          <a:xfrm>
            <a:off x="4447508" y="569820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err="1"/>
              <a:t>본안심리</a:t>
            </a:r>
            <a:endParaRPr lang="ko-KR" altLang="en-US" sz="1000" dirty="0"/>
          </a:p>
        </p:txBody>
      </p:sp>
      <p:sp>
        <p:nvSpPr>
          <p:cNvPr id="301" name="직사각형 300"/>
          <p:cNvSpPr/>
          <p:nvPr/>
        </p:nvSpPr>
        <p:spPr>
          <a:xfrm>
            <a:off x="4447508" y="5859952"/>
            <a:ext cx="1380067" cy="30802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기술심리관의 관여</a:t>
            </a:r>
            <a:endParaRPr lang="en-US" altLang="ko-KR" sz="1000" dirty="0">
              <a:solidFill>
                <a:schemeClr val="tx1"/>
              </a:solidFill>
            </a:endParaRPr>
          </a:p>
          <a:p>
            <a:pPr algn="ctr"/>
            <a:r>
              <a:rPr lang="en-US" altLang="ko-KR" sz="800" dirty="0">
                <a:solidFill>
                  <a:schemeClr val="tx1"/>
                </a:solidFill>
              </a:rPr>
              <a:t>(</a:t>
            </a:r>
            <a:r>
              <a:rPr lang="ko-KR" altLang="en-US" sz="800" dirty="0">
                <a:solidFill>
                  <a:schemeClr val="tx1"/>
                </a:solidFill>
              </a:rPr>
              <a:t>法 </a:t>
            </a:r>
            <a:r>
              <a:rPr lang="en-US" altLang="ko-KR" sz="800" dirty="0">
                <a:solidFill>
                  <a:schemeClr val="tx1"/>
                </a:solidFill>
              </a:rPr>
              <a:t>188</a:t>
            </a:r>
            <a:r>
              <a:rPr lang="ko-KR" altLang="en-US" sz="800" dirty="0">
                <a:solidFill>
                  <a:schemeClr val="tx1"/>
                </a:solidFill>
              </a:rPr>
              <a:t>의</a:t>
            </a:r>
            <a:r>
              <a:rPr lang="en-US" altLang="ko-KR" sz="800" dirty="0">
                <a:solidFill>
                  <a:schemeClr val="tx1"/>
                </a:solidFill>
              </a:rPr>
              <a:t>2)</a:t>
            </a:r>
            <a:endParaRPr lang="ko-KR" altLang="en-US" sz="1000" dirty="0">
              <a:solidFill>
                <a:schemeClr val="tx1"/>
              </a:solidFill>
            </a:endParaRPr>
          </a:p>
        </p:txBody>
      </p:sp>
      <p:sp>
        <p:nvSpPr>
          <p:cNvPr id="302" name="직사각형 301"/>
          <p:cNvSpPr/>
          <p:nvPr/>
        </p:nvSpPr>
        <p:spPr>
          <a:xfrm>
            <a:off x="4447508" y="622048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당사자에 의한 종결</a:t>
            </a:r>
          </a:p>
        </p:txBody>
      </p:sp>
      <p:sp>
        <p:nvSpPr>
          <p:cNvPr id="303" name="직사각형 302"/>
          <p:cNvSpPr/>
          <p:nvPr/>
        </p:nvSpPr>
        <p:spPr>
          <a:xfrm>
            <a:off x="4447508" y="6382234"/>
            <a:ext cx="1380067" cy="33289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종국판결에 의한 종결</a:t>
            </a:r>
            <a:endParaRPr lang="en-US" altLang="ko-KR" sz="1000" dirty="0">
              <a:solidFill>
                <a:schemeClr val="tx1"/>
              </a:solidFill>
            </a:endParaRPr>
          </a:p>
          <a:p>
            <a:pPr algn="ctr"/>
            <a:r>
              <a:rPr lang="en-US" altLang="ko-KR" sz="800" dirty="0">
                <a:solidFill>
                  <a:schemeClr val="tx1"/>
                </a:solidFill>
              </a:rPr>
              <a:t>(</a:t>
            </a:r>
            <a:r>
              <a:rPr lang="ko-KR" altLang="en-US" sz="800" dirty="0">
                <a:solidFill>
                  <a:schemeClr val="tx1"/>
                </a:solidFill>
              </a:rPr>
              <a:t>法 </a:t>
            </a:r>
            <a:r>
              <a:rPr lang="en-US" altLang="ko-KR" sz="800" dirty="0">
                <a:solidFill>
                  <a:schemeClr val="tx1"/>
                </a:solidFill>
              </a:rPr>
              <a:t>189)</a:t>
            </a:r>
            <a:endParaRPr lang="ko-KR" altLang="en-US" sz="1000" dirty="0">
              <a:solidFill>
                <a:schemeClr val="tx1"/>
              </a:solidFill>
            </a:endParaRPr>
          </a:p>
        </p:txBody>
      </p:sp>
      <p:sp>
        <p:nvSpPr>
          <p:cNvPr id="304" name="직사각형 303"/>
          <p:cNvSpPr/>
          <p:nvPr/>
        </p:nvSpPr>
        <p:spPr>
          <a:xfrm>
            <a:off x="4447508" y="459403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당사자</a:t>
            </a:r>
          </a:p>
        </p:txBody>
      </p:sp>
      <p:sp>
        <p:nvSpPr>
          <p:cNvPr id="305" name="직사각형 304"/>
          <p:cNvSpPr/>
          <p:nvPr/>
        </p:nvSpPr>
        <p:spPr>
          <a:xfrm>
            <a:off x="4447508" y="554183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소송요건의 심리</a:t>
            </a:r>
            <a:endParaRPr lang="en-US" altLang="ko-KR" sz="1000" dirty="0"/>
          </a:p>
        </p:txBody>
      </p:sp>
      <p:sp>
        <p:nvSpPr>
          <p:cNvPr id="306" name="직사각형 305"/>
          <p:cNvSpPr/>
          <p:nvPr/>
        </p:nvSpPr>
        <p:spPr>
          <a:xfrm>
            <a:off x="4447508" y="5338441"/>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소장의 심사</a:t>
            </a:r>
            <a:endParaRPr lang="en-US" altLang="ko-KR" sz="1000" dirty="0"/>
          </a:p>
        </p:txBody>
      </p:sp>
      <p:sp>
        <p:nvSpPr>
          <p:cNvPr id="307" name="직사각형 306"/>
          <p:cNvSpPr/>
          <p:nvPr/>
        </p:nvSpPr>
        <p:spPr>
          <a:xfrm>
            <a:off x="4447508" y="476412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제소기간</a:t>
            </a:r>
          </a:p>
        </p:txBody>
      </p:sp>
      <p:cxnSp>
        <p:nvCxnSpPr>
          <p:cNvPr id="309" name="꺾인 연결선 308"/>
          <p:cNvCxnSpPr>
            <a:stCxn id="273" idx="3"/>
            <a:endCxn id="304" idx="1"/>
          </p:cNvCxnSpPr>
          <p:nvPr/>
        </p:nvCxnSpPr>
        <p:spPr>
          <a:xfrm>
            <a:off x="4278775" y="4605428"/>
            <a:ext cx="168733" cy="527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0" name="꺾인 연결선 309"/>
          <p:cNvCxnSpPr>
            <a:stCxn id="273" idx="3"/>
            <a:endCxn id="307" idx="1"/>
          </p:cNvCxnSpPr>
          <p:nvPr/>
        </p:nvCxnSpPr>
        <p:spPr>
          <a:xfrm>
            <a:off x="4278775" y="4605428"/>
            <a:ext cx="168733" cy="2228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꺾인 연결선 310"/>
          <p:cNvCxnSpPr>
            <a:stCxn id="274" idx="3"/>
            <a:endCxn id="306" idx="1"/>
          </p:cNvCxnSpPr>
          <p:nvPr/>
        </p:nvCxnSpPr>
        <p:spPr>
          <a:xfrm>
            <a:off x="4278775" y="5234342"/>
            <a:ext cx="168733" cy="1682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꺾인 연결선 311"/>
          <p:cNvCxnSpPr>
            <a:stCxn id="275" idx="3"/>
            <a:endCxn id="305" idx="1"/>
          </p:cNvCxnSpPr>
          <p:nvPr/>
        </p:nvCxnSpPr>
        <p:spPr>
          <a:xfrm flipV="1">
            <a:off x="4278775" y="5606011"/>
            <a:ext cx="168733" cy="15935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꺾인 연결선 312"/>
          <p:cNvCxnSpPr>
            <a:stCxn id="300" idx="3"/>
            <a:endCxn id="289" idx="1"/>
          </p:cNvCxnSpPr>
          <p:nvPr/>
        </p:nvCxnSpPr>
        <p:spPr>
          <a:xfrm flipV="1">
            <a:off x="5827575" y="5393209"/>
            <a:ext cx="127039" cy="36917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꺾인 연결선 313"/>
          <p:cNvCxnSpPr>
            <a:stCxn id="300" idx="3"/>
            <a:endCxn id="290" idx="1"/>
          </p:cNvCxnSpPr>
          <p:nvPr/>
        </p:nvCxnSpPr>
        <p:spPr>
          <a:xfrm flipV="1">
            <a:off x="5827575" y="5655273"/>
            <a:ext cx="127039" cy="1071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꺾인 연결선 314"/>
          <p:cNvCxnSpPr>
            <a:stCxn id="300" idx="3"/>
            <a:endCxn id="291" idx="1"/>
          </p:cNvCxnSpPr>
          <p:nvPr/>
        </p:nvCxnSpPr>
        <p:spPr>
          <a:xfrm>
            <a:off x="5827575" y="5762383"/>
            <a:ext cx="127039" cy="5503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6" name="꺾인 연결선 315"/>
          <p:cNvCxnSpPr>
            <a:stCxn id="300" idx="3"/>
            <a:endCxn id="292" idx="1"/>
          </p:cNvCxnSpPr>
          <p:nvPr/>
        </p:nvCxnSpPr>
        <p:spPr>
          <a:xfrm>
            <a:off x="5827575" y="5762383"/>
            <a:ext cx="127039" cy="21279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꺾인 연결선 316"/>
          <p:cNvCxnSpPr>
            <a:endCxn id="293" idx="1"/>
          </p:cNvCxnSpPr>
          <p:nvPr/>
        </p:nvCxnSpPr>
        <p:spPr>
          <a:xfrm rot="16200000" flipH="1">
            <a:off x="5802218" y="5983152"/>
            <a:ext cx="293982" cy="10810"/>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8" name="직사각형 317"/>
          <p:cNvSpPr/>
          <p:nvPr/>
        </p:nvSpPr>
        <p:spPr>
          <a:xfrm>
            <a:off x="6103431" y="3574465"/>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특허법</a:t>
            </a:r>
            <a:endParaRPr lang="en-US" altLang="ko-KR" dirty="0"/>
          </a:p>
          <a:p>
            <a:pPr algn="ctr"/>
            <a:r>
              <a:rPr lang="ko-KR" altLang="en-US" dirty="0"/>
              <a:t>체계도</a:t>
            </a:r>
          </a:p>
        </p:txBody>
      </p:sp>
      <p:sp>
        <p:nvSpPr>
          <p:cNvPr id="319" name="타원 318"/>
          <p:cNvSpPr/>
          <p:nvPr/>
        </p:nvSpPr>
        <p:spPr>
          <a:xfrm>
            <a:off x="322118" y="268689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5</a:t>
            </a:r>
            <a:endParaRPr lang="ko-KR" altLang="en-US" dirty="0"/>
          </a:p>
        </p:txBody>
      </p:sp>
      <p:sp>
        <p:nvSpPr>
          <p:cNvPr id="320" name="타원 319"/>
          <p:cNvSpPr/>
          <p:nvPr/>
        </p:nvSpPr>
        <p:spPr>
          <a:xfrm>
            <a:off x="262164" y="5316045"/>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7</a:t>
            </a:r>
            <a:endParaRPr lang="ko-KR" altLang="en-US" dirty="0"/>
          </a:p>
        </p:txBody>
      </p:sp>
      <p:sp>
        <p:nvSpPr>
          <p:cNvPr id="321" name="타원 320"/>
          <p:cNvSpPr/>
          <p:nvPr/>
        </p:nvSpPr>
        <p:spPr>
          <a:xfrm>
            <a:off x="7873581" y="5757616"/>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8</a:t>
            </a:r>
            <a:endParaRPr lang="ko-KR" altLang="en-US" dirty="0"/>
          </a:p>
        </p:txBody>
      </p:sp>
      <p:sp>
        <p:nvSpPr>
          <p:cNvPr id="322" name="타원 321"/>
          <p:cNvSpPr/>
          <p:nvPr/>
        </p:nvSpPr>
        <p:spPr>
          <a:xfrm>
            <a:off x="6772900" y="266696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6</a:t>
            </a:r>
            <a:endParaRPr lang="ko-KR" altLang="en-US" dirty="0"/>
          </a:p>
        </p:txBody>
      </p:sp>
      <p:sp>
        <p:nvSpPr>
          <p:cNvPr id="323" name="자유형 322"/>
          <p:cNvSpPr/>
          <p:nvPr/>
        </p:nvSpPr>
        <p:spPr>
          <a:xfrm>
            <a:off x="523875" y="3059642"/>
            <a:ext cx="5571067" cy="1845733"/>
          </a:xfrm>
          <a:custGeom>
            <a:avLst/>
            <a:gdLst>
              <a:gd name="connsiteX0" fmla="*/ 5571067 w 5571067"/>
              <a:gd name="connsiteY0" fmla="*/ 872066 h 1845733"/>
              <a:gd name="connsiteX1" fmla="*/ 3708400 w 5571067"/>
              <a:gd name="connsiteY1" fmla="*/ 872066 h 1845733"/>
              <a:gd name="connsiteX2" fmla="*/ 3708400 w 5571067"/>
              <a:gd name="connsiteY2" fmla="*/ 1244600 h 1845733"/>
              <a:gd name="connsiteX3" fmla="*/ 2853267 w 5571067"/>
              <a:gd name="connsiteY3" fmla="*/ 1244600 h 1845733"/>
              <a:gd name="connsiteX4" fmla="*/ 2853267 w 5571067"/>
              <a:gd name="connsiteY4" fmla="*/ 1845733 h 1845733"/>
              <a:gd name="connsiteX5" fmla="*/ 0 w 5571067"/>
              <a:gd name="connsiteY5" fmla="*/ 1845733 h 1845733"/>
              <a:gd name="connsiteX6" fmla="*/ 0 w 5571067"/>
              <a:gd name="connsiteY6" fmla="*/ 0 h 184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1067" h="1845733">
                <a:moveTo>
                  <a:pt x="5571067" y="872066"/>
                </a:moveTo>
                <a:lnTo>
                  <a:pt x="3708400" y="872066"/>
                </a:lnTo>
                <a:lnTo>
                  <a:pt x="3708400" y="1244600"/>
                </a:lnTo>
                <a:lnTo>
                  <a:pt x="2853267" y="1244600"/>
                </a:lnTo>
                <a:lnTo>
                  <a:pt x="2853267" y="1845733"/>
                </a:lnTo>
                <a:lnTo>
                  <a:pt x="0" y="1845733"/>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4" name="자유형 323"/>
          <p:cNvSpPr/>
          <p:nvPr/>
        </p:nvSpPr>
        <p:spPr>
          <a:xfrm>
            <a:off x="422275" y="4905375"/>
            <a:ext cx="84667" cy="397933"/>
          </a:xfrm>
          <a:custGeom>
            <a:avLst/>
            <a:gdLst>
              <a:gd name="connsiteX0" fmla="*/ 84667 w 84667"/>
              <a:gd name="connsiteY0" fmla="*/ 0 h 397933"/>
              <a:gd name="connsiteX1" fmla="*/ 0 w 84667"/>
              <a:gd name="connsiteY1" fmla="*/ 0 h 397933"/>
              <a:gd name="connsiteX2" fmla="*/ 0 w 84667"/>
              <a:gd name="connsiteY2" fmla="*/ 397933 h 397933"/>
            </a:gdLst>
            <a:ahLst/>
            <a:cxnLst>
              <a:cxn ang="0">
                <a:pos x="connsiteX0" y="connsiteY0"/>
              </a:cxn>
              <a:cxn ang="0">
                <a:pos x="connsiteX1" y="connsiteY1"/>
              </a:cxn>
              <a:cxn ang="0">
                <a:pos x="connsiteX2" y="connsiteY2"/>
              </a:cxn>
            </a:cxnLst>
            <a:rect l="l" t="t" r="r" b="b"/>
            <a:pathLst>
              <a:path w="84667" h="397933">
                <a:moveTo>
                  <a:pt x="84667" y="0"/>
                </a:moveTo>
                <a:lnTo>
                  <a:pt x="0" y="0"/>
                </a:lnTo>
                <a:lnTo>
                  <a:pt x="0" y="397933"/>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5" name="자유형 324"/>
          <p:cNvSpPr/>
          <p:nvPr/>
        </p:nvSpPr>
        <p:spPr>
          <a:xfrm>
            <a:off x="6569075" y="2839508"/>
            <a:ext cx="186267" cy="745067"/>
          </a:xfrm>
          <a:custGeom>
            <a:avLst/>
            <a:gdLst>
              <a:gd name="connsiteX0" fmla="*/ 0 w 186267"/>
              <a:gd name="connsiteY0" fmla="*/ 745067 h 745067"/>
              <a:gd name="connsiteX1" fmla="*/ 0 w 186267"/>
              <a:gd name="connsiteY1" fmla="*/ 745067 h 745067"/>
              <a:gd name="connsiteX2" fmla="*/ 0 w 186267"/>
              <a:gd name="connsiteY2" fmla="*/ 0 h 745067"/>
              <a:gd name="connsiteX3" fmla="*/ 186267 w 186267"/>
              <a:gd name="connsiteY3" fmla="*/ 0 h 745067"/>
            </a:gdLst>
            <a:ahLst/>
            <a:cxnLst>
              <a:cxn ang="0">
                <a:pos x="connsiteX0" y="connsiteY0"/>
              </a:cxn>
              <a:cxn ang="0">
                <a:pos x="connsiteX1" y="connsiteY1"/>
              </a:cxn>
              <a:cxn ang="0">
                <a:pos x="connsiteX2" y="connsiteY2"/>
              </a:cxn>
              <a:cxn ang="0">
                <a:pos x="connsiteX3" y="connsiteY3"/>
              </a:cxn>
            </a:cxnLst>
            <a:rect l="l" t="t" r="r" b="b"/>
            <a:pathLst>
              <a:path w="186267" h="745067">
                <a:moveTo>
                  <a:pt x="0" y="745067"/>
                </a:moveTo>
                <a:lnTo>
                  <a:pt x="0" y="745067"/>
                </a:lnTo>
                <a:lnTo>
                  <a:pt x="0" y="0"/>
                </a:lnTo>
                <a:lnTo>
                  <a:pt x="186267"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6" name="자유형 325"/>
          <p:cNvSpPr/>
          <p:nvPr/>
        </p:nvSpPr>
        <p:spPr>
          <a:xfrm>
            <a:off x="6577542" y="4498975"/>
            <a:ext cx="1498600" cy="1244600"/>
          </a:xfrm>
          <a:custGeom>
            <a:avLst/>
            <a:gdLst>
              <a:gd name="connsiteX0" fmla="*/ 0 w 1498600"/>
              <a:gd name="connsiteY0" fmla="*/ 0 h 1244600"/>
              <a:gd name="connsiteX1" fmla="*/ 0 w 1498600"/>
              <a:gd name="connsiteY1" fmla="*/ 423333 h 1244600"/>
              <a:gd name="connsiteX2" fmla="*/ 1498600 w 1498600"/>
              <a:gd name="connsiteY2" fmla="*/ 423333 h 1244600"/>
              <a:gd name="connsiteX3" fmla="*/ 1498600 w 1498600"/>
              <a:gd name="connsiteY3" fmla="*/ 1244600 h 1244600"/>
            </a:gdLst>
            <a:ahLst/>
            <a:cxnLst>
              <a:cxn ang="0">
                <a:pos x="connsiteX0" y="connsiteY0"/>
              </a:cxn>
              <a:cxn ang="0">
                <a:pos x="connsiteX1" y="connsiteY1"/>
              </a:cxn>
              <a:cxn ang="0">
                <a:pos x="connsiteX2" y="connsiteY2"/>
              </a:cxn>
              <a:cxn ang="0">
                <a:pos x="connsiteX3" y="connsiteY3"/>
              </a:cxn>
            </a:cxnLst>
            <a:rect l="l" t="t" r="r" b="b"/>
            <a:pathLst>
              <a:path w="1498600" h="1244600">
                <a:moveTo>
                  <a:pt x="0" y="0"/>
                </a:moveTo>
                <a:lnTo>
                  <a:pt x="0" y="423333"/>
                </a:lnTo>
                <a:lnTo>
                  <a:pt x="1498600" y="423333"/>
                </a:lnTo>
                <a:lnTo>
                  <a:pt x="1498600" y="12446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94" name="직사각형 293">
            <a:extLst>
              <a:ext uri="{FF2B5EF4-FFF2-40B4-BE49-F238E27FC236}">
                <a16:creationId xmlns:a16="http://schemas.microsoft.com/office/drawing/2014/main" id="{9B6DE0DF-BFFF-497F-9FD1-C58A8CA97621}"/>
              </a:ext>
            </a:extLst>
          </p:cNvPr>
          <p:cNvSpPr/>
          <p:nvPr/>
        </p:nvSpPr>
        <p:spPr>
          <a:xfrm>
            <a:off x="8500191" y="3384273"/>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관련</a:t>
            </a:r>
          </a:p>
        </p:txBody>
      </p:sp>
      <p:sp>
        <p:nvSpPr>
          <p:cNvPr id="327" name="직사각형 326">
            <a:extLst>
              <a:ext uri="{FF2B5EF4-FFF2-40B4-BE49-F238E27FC236}">
                <a16:creationId xmlns:a16="http://schemas.microsoft.com/office/drawing/2014/main" id="{A6BC253F-D9C4-4A98-984C-D8D62D28E8E9}"/>
              </a:ext>
            </a:extLst>
          </p:cNvPr>
          <p:cNvSpPr/>
          <p:nvPr/>
        </p:nvSpPr>
        <p:spPr>
          <a:xfrm>
            <a:off x="9363869" y="3290897"/>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타절차와의 관계</a:t>
            </a:r>
            <a:r>
              <a:rPr lang="en-US" altLang="ko-KR" sz="1000" dirty="0"/>
              <a:t>(</a:t>
            </a:r>
            <a:r>
              <a:rPr lang="ko-KR" altLang="en-US" sz="1000" dirty="0"/>
              <a:t>法 </a:t>
            </a:r>
            <a:r>
              <a:rPr lang="en-US" altLang="ko-KR" sz="1000" dirty="0"/>
              <a:t>164)</a:t>
            </a:r>
            <a:endParaRPr lang="ko-KR" altLang="en-US" sz="1000" dirty="0"/>
          </a:p>
        </p:txBody>
      </p:sp>
      <p:sp>
        <p:nvSpPr>
          <p:cNvPr id="328" name="직사각형 327">
            <a:extLst>
              <a:ext uri="{FF2B5EF4-FFF2-40B4-BE49-F238E27FC236}">
                <a16:creationId xmlns:a16="http://schemas.microsoft.com/office/drawing/2014/main" id="{855EA2A3-2862-42AE-AC8B-FB8E8761530B}"/>
              </a:ext>
            </a:extLst>
          </p:cNvPr>
          <p:cNvSpPr/>
          <p:nvPr/>
        </p:nvSpPr>
        <p:spPr>
          <a:xfrm>
            <a:off x="9363869" y="372062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심판비용</a:t>
            </a:r>
            <a:r>
              <a:rPr lang="en-US" altLang="ko-KR" sz="1000" dirty="0"/>
              <a:t>(</a:t>
            </a:r>
            <a:r>
              <a:rPr lang="ko-KR" altLang="en-US" sz="1000" dirty="0"/>
              <a:t>法 </a:t>
            </a:r>
            <a:r>
              <a:rPr lang="en-US" altLang="ko-KR" sz="1000" dirty="0"/>
              <a:t>165, 166)</a:t>
            </a:r>
            <a:endParaRPr lang="ko-KR" altLang="en-US" sz="1000" dirty="0"/>
          </a:p>
        </p:txBody>
      </p:sp>
      <p:cxnSp>
        <p:nvCxnSpPr>
          <p:cNvPr id="329" name="꺾인 연결선 244">
            <a:extLst>
              <a:ext uri="{FF2B5EF4-FFF2-40B4-BE49-F238E27FC236}">
                <a16:creationId xmlns:a16="http://schemas.microsoft.com/office/drawing/2014/main" id="{A54F89B3-B4E9-4E0A-BB23-C1DB0F7A25D8}"/>
              </a:ext>
            </a:extLst>
          </p:cNvPr>
          <p:cNvCxnSpPr>
            <a:cxnSpLocks/>
            <a:stCxn id="294" idx="3"/>
            <a:endCxn id="308" idx="1"/>
          </p:cNvCxnSpPr>
          <p:nvPr/>
        </p:nvCxnSpPr>
        <p:spPr>
          <a:xfrm>
            <a:off x="9210221" y="3469781"/>
            <a:ext cx="151225" cy="1077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0" name="꺾인 연결선 245">
            <a:extLst>
              <a:ext uri="{FF2B5EF4-FFF2-40B4-BE49-F238E27FC236}">
                <a16:creationId xmlns:a16="http://schemas.microsoft.com/office/drawing/2014/main" id="{48543D6B-7C92-4D3D-B213-6D84DC780C17}"/>
              </a:ext>
            </a:extLst>
          </p:cNvPr>
          <p:cNvCxnSpPr>
            <a:cxnSpLocks/>
            <a:stCxn id="294" idx="3"/>
            <a:endCxn id="328" idx="1"/>
          </p:cNvCxnSpPr>
          <p:nvPr/>
        </p:nvCxnSpPr>
        <p:spPr>
          <a:xfrm>
            <a:off x="9210221" y="3469781"/>
            <a:ext cx="153648" cy="32012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연결선: 꺾임 6">
            <a:extLst>
              <a:ext uri="{FF2B5EF4-FFF2-40B4-BE49-F238E27FC236}">
                <a16:creationId xmlns:a16="http://schemas.microsoft.com/office/drawing/2014/main" id="{B370871F-6F80-4244-8543-0634A44D09BD}"/>
              </a:ext>
            </a:extLst>
          </p:cNvPr>
          <p:cNvCxnSpPr>
            <a:stCxn id="205" idx="3"/>
            <a:endCxn id="294" idx="1"/>
          </p:cNvCxnSpPr>
          <p:nvPr/>
        </p:nvCxnSpPr>
        <p:spPr>
          <a:xfrm>
            <a:off x="8336650" y="2489931"/>
            <a:ext cx="163541" cy="9798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8" name="직사각형 287">
            <a:extLst>
              <a:ext uri="{FF2B5EF4-FFF2-40B4-BE49-F238E27FC236}">
                <a16:creationId xmlns:a16="http://schemas.microsoft.com/office/drawing/2014/main" id="{CCF75EB5-ACDA-45AD-A3D7-EAD9647556E3}"/>
              </a:ext>
            </a:extLst>
          </p:cNvPr>
          <p:cNvSpPr/>
          <p:nvPr/>
        </p:nvSpPr>
        <p:spPr>
          <a:xfrm>
            <a:off x="9358843" y="1365202"/>
            <a:ext cx="2333212" cy="288480"/>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국선대리인</a:t>
            </a:r>
            <a:r>
              <a:rPr lang="en-US" altLang="ko-KR" sz="1000" dirty="0">
                <a:solidFill>
                  <a:schemeClr val="tx1"/>
                </a:solidFill>
              </a:rPr>
              <a:t>, </a:t>
            </a:r>
            <a:r>
              <a:rPr lang="ko-KR" altLang="en-US" sz="1000" dirty="0">
                <a:solidFill>
                  <a:schemeClr val="tx1"/>
                </a:solidFill>
              </a:rPr>
              <a:t>전문심리위원 및 참고인</a:t>
            </a:r>
            <a:endParaRPr lang="en-US" altLang="ko-KR" sz="1000" dirty="0">
              <a:solidFill>
                <a:schemeClr val="tx1"/>
              </a:solidFill>
            </a:endParaRPr>
          </a:p>
          <a:p>
            <a:pPr algn="ctr"/>
            <a:r>
              <a:rPr lang="en-US" altLang="ko-KR" sz="900" dirty="0">
                <a:solidFill>
                  <a:schemeClr val="tx1"/>
                </a:solidFill>
              </a:rPr>
              <a:t>(</a:t>
            </a:r>
            <a:r>
              <a:rPr lang="ko-KR" altLang="en-US" sz="900" dirty="0">
                <a:solidFill>
                  <a:schemeClr val="tx1"/>
                </a:solidFill>
              </a:rPr>
              <a:t>法 </a:t>
            </a:r>
            <a:r>
              <a:rPr lang="en-US" altLang="ko-KR" sz="900" dirty="0">
                <a:solidFill>
                  <a:schemeClr val="tx1"/>
                </a:solidFill>
              </a:rPr>
              <a:t>139</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3)</a:t>
            </a:r>
            <a:endParaRPr lang="ko-KR" altLang="en-US" sz="1100" dirty="0">
              <a:solidFill>
                <a:schemeClr val="tx1"/>
              </a:solidFill>
            </a:endParaRPr>
          </a:p>
        </p:txBody>
      </p:sp>
      <p:sp>
        <p:nvSpPr>
          <p:cNvPr id="308" name="직사각형 307">
            <a:extLst>
              <a:ext uri="{FF2B5EF4-FFF2-40B4-BE49-F238E27FC236}">
                <a16:creationId xmlns:a16="http://schemas.microsoft.com/office/drawing/2014/main" id="{FBCE5317-4D8A-4C1C-92B6-ECD14431C289}"/>
              </a:ext>
            </a:extLst>
          </p:cNvPr>
          <p:cNvSpPr/>
          <p:nvPr/>
        </p:nvSpPr>
        <p:spPr>
          <a:xfrm>
            <a:off x="9361446" y="3486404"/>
            <a:ext cx="2330609" cy="182239"/>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조정위원회 회부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164</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cxnSp>
        <p:nvCxnSpPr>
          <p:cNvPr id="331" name="꺾인 연결선 245">
            <a:extLst>
              <a:ext uri="{FF2B5EF4-FFF2-40B4-BE49-F238E27FC236}">
                <a16:creationId xmlns:a16="http://schemas.microsoft.com/office/drawing/2014/main" id="{8272E89B-C399-461C-82CA-028F1E621707}"/>
              </a:ext>
            </a:extLst>
          </p:cNvPr>
          <p:cNvCxnSpPr>
            <a:cxnSpLocks/>
            <a:stCxn id="294" idx="3"/>
            <a:endCxn id="327" idx="1"/>
          </p:cNvCxnSpPr>
          <p:nvPr/>
        </p:nvCxnSpPr>
        <p:spPr>
          <a:xfrm flipV="1">
            <a:off x="9210221" y="3360176"/>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818306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a:t>
            </a:r>
            <a:r>
              <a:rPr lang="ko-KR" altLang="en-US" dirty="0"/>
              <a:t>조</a:t>
            </a:r>
          </a:p>
        </p:txBody>
      </p:sp>
      <p:sp>
        <p:nvSpPr>
          <p:cNvPr id="4" name="텍스트 개체 틀 3"/>
          <p:cNvSpPr>
            <a:spLocks noGrp="1"/>
          </p:cNvSpPr>
          <p:nvPr>
            <p:ph type="body" sz="quarter" idx="13"/>
          </p:nvPr>
        </p:nvSpPr>
        <p:spPr/>
        <p:txBody>
          <a:bodyPr/>
          <a:lstStyle/>
          <a:p>
            <a:r>
              <a:rPr lang="ko-KR" altLang="en-US" dirty="0"/>
              <a:t>지식재산권의 분류</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3</a:t>
            </a:fld>
            <a:endParaRPr lang="ko-KR" altLang="en-US"/>
          </a:p>
        </p:txBody>
      </p:sp>
      <p:sp>
        <p:nvSpPr>
          <p:cNvPr id="7" name="TextBox 6"/>
          <p:cNvSpPr txBox="1"/>
          <p:nvPr/>
        </p:nvSpPr>
        <p:spPr>
          <a:xfrm>
            <a:off x="77875" y="986046"/>
            <a:ext cx="11936323" cy="1600438"/>
          </a:xfrm>
          <a:prstGeom prst="rect">
            <a:avLst/>
          </a:prstGeom>
          <a:noFill/>
        </p:spPr>
        <p:txBody>
          <a:bodyPr wrap="square" rtlCol="0">
            <a:spAutoFit/>
          </a:bodyPr>
          <a:lstStyle/>
          <a:p>
            <a:pPr fontAlgn="base"/>
            <a:r>
              <a:rPr lang="ko-KR" altLang="en-US" sz="1400" dirty="0">
                <a:solidFill>
                  <a:schemeClr val="tx2"/>
                </a:solidFill>
              </a:rPr>
              <a:t>기존의 전통적인 분류에 의하면 지식재산권은 보호의 목적에 따라</a:t>
            </a:r>
            <a:r>
              <a:rPr lang="ko-KR" altLang="en-US" sz="1400" dirty="0"/>
              <a:t> </a:t>
            </a:r>
            <a:r>
              <a:rPr lang="ko-KR" altLang="en-US" sz="1400" dirty="0">
                <a:highlight>
                  <a:srgbClr val="FFFF00"/>
                </a:highlight>
              </a:rPr>
              <a:t>산업발전에 이바지할 수 있는 창작물 등을 객체로 하는 권리인  산업재산권과 문화 및 관련 산업의 향상발전에 이바지할 수 있는 창작물을 객체로 하는 권리인 저작권</a:t>
            </a:r>
            <a:r>
              <a:rPr lang="ko-KR" altLang="en-US" sz="1400" dirty="0"/>
              <a:t>으로</a:t>
            </a:r>
            <a:r>
              <a:rPr lang="ko-KR" altLang="en-US" sz="1400" dirty="0">
                <a:solidFill>
                  <a:schemeClr val="tx2"/>
                </a:solidFill>
              </a:rPr>
              <a:t> 구별된다</a:t>
            </a:r>
            <a:r>
              <a:rPr lang="en-US" altLang="ko-KR" sz="1400" dirty="0">
                <a:solidFill>
                  <a:schemeClr val="tx2"/>
                </a:solidFill>
              </a:rPr>
              <a:t>.  </a:t>
            </a:r>
            <a:r>
              <a:rPr lang="ko-KR" altLang="en-US" sz="1400" dirty="0">
                <a:solidFill>
                  <a:schemeClr val="tx2"/>
                </a:solidFill>
              </a:rPr>
              <a:t>산업재산권</a:t>
            </a:r>
            <a:r>
              <a:rPr lang="en-US" altLang="ko-KR" sz="1400" dirty="0">
                <a:solidFill>
                  <a:schemeClr val="tx2"/>
                </a:solidFill>
              </a:rPr>
              <a:t>(Industrial property)</a:t>
            </a:r>
            <a:r>
              <a:rPr lang="ko-KR" altLang="en-US" sz="1400" dirty="0">
                <a:solidFill>
                  <a:schemeClr val="tx2"/>
                </a:solidFill>
              </a:rPr>
              <a:t>은 발명</a:t>
            </a:r>
            <a:r>
              <a:rPr lang="en-US" altLang="ko-KR" sz="1400" dirty="0">
                <a:solidFill>
                  <a:schemeClr val="tx2"/>
                </a:solidFill>
              </a:rPr>
              <a:t>, </a:t>
            </a:r>
            <a:r>
              <a:rPr lang="ko-KR" altLang="en-US" sz="1400" dirty="0">
                <a:solidFill>
                  <a:schemeClr val="tx2"/>
                </a:solidFill>
              </a:rPr>
              <a:t>고안</a:t>
            </a:r>
            <a:r>
              <a:rPr lang="en-US" altLang="ko-KR" sz="1400" dirty="0">
                <a:solidFill>
                  <a:schemeClr val="tx2"/>
                </a:solidFill>
              </a:rPr>
              <a:t>, </a:t>
            </a:r>
            <a:r>
              <a:rPr lang="ko-KR" altLang="en-US" sz="1400" dirty="0">
                <a:solidFill>
                  <a:schemeClr val="tx2"/>
                </a:solidFill>
              </a:rPr>
              <a:t>디자인</a:t>
            </a:r>
            <a:r>
              <a:rPr lang="en-US" altLang="ko-KR" sz="1400" dirty="0">
                <a:solidFill>
                  <a:schemeClr val="tx2"/>
                </a:solidFill>
              </a:rPr>
              <a:t>, </a:t>
            </a:r>
            <a:r>
              <a:rPr lang="ko-KR" altLang="en-US" sz="1400" dirty="0">
                <a:solidFill>
                  <a:schemeClr val="tx2"/>
                </a:solidFill>
              </a:rPr>
              <a:t>상표 등을 보호하는 권리인 특허권</a:t>
            </a:r>
            <a:r>
              <a:rPr lang="en-US" altLang="ko-KR" sz="1400" dirty="0">
                <a:solidFill>
                  <a:schemeClr val="tx2"/>
                </a:solidFill>
              </a:rPr>
              <a:t>, </a:t>
            </a:r>
            <a:r>
              <a:rPr lang="ko-KR" altLang="en-US" sz="1400" dirty="0" err="1">
                <a:solidFill>
                  <a:schemeClr val="tx2"/>
                </a:solidFill>
              </a:rPr>
              <a:t>실용신안권</a:t>
            </a:r>
            <a:r>
              <a:rPr lang="en-US" altLang="ko-KR" sz="1400" dirty="0">
                <a:solidFill>
                  <a:schemeClr val="tx2"/>
                </a:solidFill>
              </a:rPr>
              <a:t>, </a:t>
            </a:r>
            <a:r>
              <a:rPr lang="ko-KR" altLang="en-US" sz="1400" dirty="0" err="1">
                <a:solidFill>
                  <a:schemeClr val="tx2"/>
                </a:solidFill>
              </a:rPr>
              <a:t>디자인권</a:t>
            </a:r>
            <a:r>
              <a:rPr lang="en-US" altLang="ko-KR" sz="1400" dirty="0">
                <a:solidFill>
                  <a:schemeClr val="tx2"/>
                </a:solidFill>
              </a:rPr>
              <a:t>, </a:t>
            </a:r>
            <a:r>
              <a:rPr lang="ko-KR" altLang="en-US" sz="1400" dirty="0">
                <a:solidFill>
                  <a:schemeClr val="tx2"/>
                </a:solidFill>
              </a:rPr>
              <a:t>상표권으로 다시 분류할 수 있다</a:t>
            </a:r>
            <a:r>
              <a:rPr lang="en-US" altLang="ko-KR" sz="1400" dirty="0">
                <a:solidFill>
                  <a:schemeClr val="tx2"/>
                </a:solidFill>
              </a:rPr>
              <a:t>. </a:t>
            </a:r>
          </a:p>
          <a:p>
            <a:pPr fontAlgn="base"/>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지식재산권의 보호 객체인 지식재산은 그 개념이 고정되어 있다기보다는 </a:t>
            </a:r>
            <a:r>
              <a:rPr lang="ko-KR" altLang="en-US" sz="1400" dirty="0" err="1">
                <a:solidFill>
                  <a:schemeClr val="tx2"/>
                </a:solidFill>
              </a:rPr>
              <a:t>경제ㆍ사회</a:t>
            </a:r>
            <a:r>
              <a:rPr lang="ko-KR" altLang="en-US" sz="1400" dirty="0">
                <a:solidFill>
                  <a:schemeClr val="tx2"/>
                </a:solidFill>
              </a:rPr>
              <a:t> 또는 문화의 변화나 과학기술의 발전에 따라 그 외연이 점차 확대되어 종래와는 다른 새로운 개념</a:t>
            </a:r>
            <a:r>
              <a:rPr lang="en-US" altLang="ko-KR" sz="1400" dirty="0">
                <a:solidFill>
                  <a:schemeClr val="tx2"/>
                </a:solidFill>
              </a:rPr>
              <a:t>(</a:t>
            </a:r>
            <a:r>
              <a:rPr lang="ko-KR" altLang="en-US" sz="1400" dirty="0">
                <a:solidFill>
                  <a:schemeClr val="tx2"/>
                </a:solidFill>
              </a:rPr>
              <a:t>예를 들어</a:t>
            </a:r>
            <a:r>
              <a:rPr lang="en-US" altLang="ko-KR" sz="1400" dirty="0">
                <a:solidFill>
                  <a:schemeClr val="tx2"/>
                </a:solidFill>
              </a:rPr>
              <a:t>, </a:t>
            </a:r>
            <a:r>
              <a:rPr lang="ko-KR" altLang="en-US" sz="1400" dirty="0">
                <a:solidFill>
                  <a:schemeClr val="tx2"/>
                </a:solidFill>
              </a:rPr>
              <a:t>컴퓨터 프로그램</a:t>
            </a:r>
            <a:r>
              <a:rPr lang="en-US" altLang="ko-KR" sz="1400" dirty="0">
                <a:solidFill>
                  <a:schemeClr val="tx2"/>
                </a:solidFill>
              </a:rPr>
              <a:t>, </a:t>
            </a:r>
            <a:r>
              <a:rPr lang="ko-KR" altLang="en-US" sz="1400" dirty="0">
                <a:solidFill>
                  <a:schemeClr val="tx2"/>
                </a:solidFill>
              </a:rPr>
              <a:t>반도체 </a:t>
            </a:r>
            <a:r>
              <a:rPr lang="ko-KR" altLang="en-US" sz="1400" dirty="0" err="1">
                <a:solidFill>
                  <a:schemeClr val="tx2"/>
                </a:solidFill>
              </a:rPr>
              <a:t>배치설계</a:t>
            </a:r>
            <a:r>
              <a:rPr lang="en-US" altLang="ko-KR" sz="1400" dirty="0">
                <a:solidFill>
                  <a:schemeClr val="tx2"/>
                </a:solidFill>
              </a:rPr>
              <a:t>, </a:t>
            </a:r>
            <a:r>
              <a:rPr lang="ko-KR" altLang="en-US" sz="1400" dirty="0" err="1">
                <a:solidFill>
                  <a:schemeClr val="tx2"/>
                </a:solidFill>
              </a:rPr>
              <a:t>식물신품종</a:t>
            </a:r>
            <a:r>
              <a:rPr lang="en-US" altLang="ko-KR" sz="1400" dirty="0">
                <a:solidFill>
                  <a:schemeClr val="tx2"/>
                </a:solidFill>
              </a:rPr>
              <a:t>, </a:t>
            </a:r>
            <a:r>
              <a:rPr lang="ko-KR" altLang="en-US" sz="1400" dirty="0">
                <a:solidFill>
                  <a:schemeClr val="tx2"/>
                </a:solidFill>
              </a:rPr>
              <a:t>데이터베이스 등</a:t>
            </a:r>
            <a:r>
              <a:rPr lang="en-US" altLang="ko-KR" sz="1400" dirty="0">
                <a:solidFill>
                  <a:schemeClr val="tx2"/>
                </a:solidFill>
              </a:rPr>
              <a:t>)</a:t>
            </a:r>
            <a:r>
              <a:rPr lang="ko-KR" altLang="en-US" sz="1400" dirty="0">
                <a:solidFill>
                  <a:schemeClr val="tx2"/>
                </a:solidFill>
              </a:rPr>
              <a:t>에서의 보호되어야 할 </a:t>
            </a:r>
            <a:r>
              <a:rPr lang="ko-KR" altLang="en-US" sz="1400" dirty="0">
                <a:solidFill>
                  <a:schemeClr val="tx2"/>
                </a:solidFill>
                <a:highlight>
                  <a:srgbClr val="FFFF00"/>
                </a:highlight>
              </a:rPr>
              <a:t>지식재산이 등장</a:t>
            </a:r>
            <a:r>
              <a:rPr lang="ko-KR" altLang="en-US" sz="1400" dirty="0">
                <a:solidFill>
                  <a:schemeClr val="tx2"/>
                </a:solidFill>
              </a:rPr>
              <a:t>하고 있다</a:t>
            </a:r>
            <a:r>
              <a:rPr lang="en-US" altLang="ko-KR" sz="1400" dirty="0">
                <a:solidFill>
                  <a:schemeClr val="tx2"/>
                </a:solidFill>
              </a:rPr>
              <a:t>. </a:t>
            </a:r>
            <a:r>
              <a:rPr lang="ko-KR" altLang="en-US" sz="1400" dirty="0">
                <a:solidFill>
                  <a:schemeClr val="tx2"/>
                </a:solidFill>
              </a:rPr>
              <a:t>이러한</a:t>
            </a:r>
            <a:r>
              <a:rPr lang="ko-KR" altLang="en-US" sz="1400" dirty="0">
                <a:solidFill>
                  <a:srgbClr val="FF0000"/>
                </a:solidFill>
              </a:rPr>
              <a:t> </a:t>
            </a:r>
            <a:r>
              <a:rPr lang="ko-KR" altLang="en-US" sz="1400" dirty="0">
                <a:highlight>
                  <a:srgbClr val="FFFF00"/>
                </a:highlight>
              </a:rPr>
              <a:t>새로운 지식재산에 대해서는 기존의 전통적인 권리의 테두리 안에서 보호하거나 새로운 법을 제정하여 권리로써 보호</a:t>
            </a:r>
            <a:r>
              <a:rPr lang="ko-KR" altLang="en-US" sz="1400" dirty="0">
                <a:solidFill>
                  <a:schemeClr val="tx2"/>
                </a:solidFill>
              </a:rPr>
              <a:t>하려는 노력을 하고 있으며</a:t>
            </a:r>
            <a:r>
              <a:rPr lang="en-US" altLang="ko-KR" sz="1400" dirty="0">
                <a:solidFill>
                  <a:schemeClr val="tx2"/>
                </a:solidFill>
              </a:rPr>
              <a:t>, </a:t>
            </a:r>
            <a:r>
              <a:rPr lang="ko-KR" altLang="en-US" sz="1400" dirty="0">
                <a:solidFill>
                  <a:schemeClr val="tx2"/>
                </a:solidFill>
              </a:rPr>
              <a:t>이를 </a:t>
            </a:r>
            <a:r>
              <a:rPr lang="ko-KR" altLang="en-US" sz="1400" dirty="0" err="1">
                <a:highlight>
                  <a:srgbClr val="FFFF00"/>
                </a:highlight>
              </a:rPr>
              <a:t>신지식재산권</a:t>
            </a:r>
            <a:r>
              <a:rPr lang="ko-KR" altLang="en-US" sz="1400" dirty="0" err="1">
                <a:solidFill>
                  <a:schemeClr val="tx2"/>
                </a:solidFill>
              </a:rPr>
              <a:t>이라고</a:t>
            </a:r>
            <a:r>
              <a:rPr lang="ko-KR" altLang="en-US" sz="1400" dirty="0">
                <a:solidFill>
                  <a:schemeClr val="tx2"/>
                </a:solidFill>
              </a:rPr>
              <a:t> 부르고 있다</a:t>
            </a:r>
            <a:r>
              <a:rPr lang="en-US" altLang="ko-KR" sz="1400" dirty="0">
                <a:solidFill>
                  <a:schemeClr val="tx2"/>
                </a:solidFill>
              </a:rPr>
              <a:t>.</a:t>
            </a:r>
            <a:endParaRPr lang="ko-KR" altLang="en-US" sz="1400" dirty="0">
              <a:solidFill>
                <a:schemeClr val="tx2"/>
              </a:solidFill>
            </a:endParaRPr>
          </a:p>
        </p:txBody>
      </p:sp>
      <p:cxnSp>
        <p:nvCxnSpPr>
          <p:cNvPr id="51" name="직선 연결선 50"/>
          <p:cNvCxnSpPr/>
          <p:nvPr/>
        </p:nvCxnSpPr>
        <p:spPr>
          <a:xfrm>
            <a:off x="0" y="258179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 name="그룹 5">
            <a:extLst>
              <a:ext uri="{FF2B5EF4-FFF2-40B4-BE49-F238E27FC236}">
                <a16:creationId xmlns:a16="http://schemas.microsoft.com/office/drawing/2014/main" id="{18D7B69C-D921-73FA-B396-961EE0AA7BA3}"/>
              </a:ext>
            </a:extLst>
          </p:cNvPr>
          <p:cNvGrpSpPr/>
          <p:nvPr/>
        </p:nvGrpSpPr>
        <p:grpSpPr>
          <a:xfrm>
            <a:off x="839215" y="2787777"/>
            <a:ext cx="10257337" cy="3792441"/>
            <a:chOff x="839215" y="2787777"/>
            <a:chExt cx="10257337" cy="3792441"/>
          </a:xfrm>
        </p:grpSpPr>
        <p:sp>
          <p:nvSpPr>
            <p:cNvPr id="22" name="직사각형 21"/>
            <p:cNvSpPr/>
            <p:nvPr/>
          </p:nvSpPr>
          <p:spPr>
            <a:xfrm>
              <a:off x="839215" y="4227203"/>
              <a:ext cx="977349" cy="310662"/>
            </a:xfrm>
            <a:prstGeom prst="rect">
              <a:avLst/>
            </a:prstGeom>
            <a:solidFill>
              <a:schemeClr val="bg2">
                <a:lumMod val="1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00" b="1" dirty="0">
                  <a:latin typeface="+mn-ea"/>
                </a:rPr>
                <a:t>지식재산의 보호</a:t>
              </a:r>
            </a:p>
          </p:txBody>
        </p:sp>
        <p:sp>
          <p:nvSpPr>
            <p:cNvPr id="75" name="직사각형 74">
              <a:extLst>
                <a:ext uri="{FF2B5EF4-FFF2-40B4-BE49-F238E27FC236}">
                  <a16:creationId xmlns:a16="http://schemas.microsoft.com/office/drawing/2014/main" id="{36B2A593-A252-44A0-A412-2DD08C8C335E}"/>
                </a:ext>
              </a:extLst>
            </p:cNvPr>
            <p:cNvSpPr/>
            <p:nvPr/>
          </p:nvSpPr>
          <p:spPr>
            <a:xfrm>
              <a:off x="2209581" y="3525329"/>
              <a:ext cx="511193" cy="461719"/>
            </a:xfrm>
            <a:prstGeom prst="rect">
              <a:avLst/>
            </a:prstGeom>
            <a:solidFill>
              <a:schemeClr val="bg2">
                <a:lumMod val="1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00" b="1" dirty="0">
                  <a:latin typeface="+mn-ea"/>
                </a:rPr>
                <a:t>권리</a:t>
              </a:r>
              <a:endParaRPr lang="en-US" altLang="ko-KR" sz="1000" b="1" dirty="0">
                <a:latin typeface="+mn-ea"/>
              </a:endParaRPr>
            </a:p>
            <a:p>
              <a:pPr algn="ctr"/>
              <a:r>
                <a:rPr lang="ko-KR" altLang="en-US" sz="1000" b="1" dirty="0">
                  <a:latin typeface="+mn-ea"/>
                </a:rPr>
                <a:t>부여</a:t>
              </a:r>
            </a:p>
          </p:txBody>
        </p:sp>
        <p:sp>
          <p:nvSpPr>
            <p:cNvPr id="76" name="직사각형 75">
              <a:extLst>
                <a:ext uri="{FF2B5EF4-FFF2-40B4-BE49-F238E27FC236}">
                  <a16:creationId xmlns:a16="http://schemas.microsoft.com/office/drawing/2014/main" id="{5C48899C-FC8E-48C6-A2B7-64357D38482C}"/>
                </a:ext>
              </a:extLst>
            </p:cNvPr>
            <p:cNvSpPr/>
            <p:nvPr/>
          </p:nvSpPr>
          <p:spPr>
            <a:xfrm>
              <a:off x="2209581" y="5951060"/>
              <a:ext cx="511193" cy="461719"/>
            </a:xfrm>
            <a:prstGeom prst="rect">
              <a:avLst/>
            </a:prstGeom>
            <a:solidFill>
              <a:schemeClr val="bg2">
                <a:lumMod val="1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00" b="1" dirty="0">
                  <a:latin typeface="+mn-ea"/>
                </a:rPr>
                <a:t>행위</a:t>
              </a:r>
              <a:endParaRPr lang="en-US" altLang="ko-KR" sz="1000" b="1" dirty="0">
                <a:latin typeface="+mn-ea"/>
              </a:endParaRPr>
            </a:p>
            <a:p>
              <a:pPr algn="ctr"/>
              <a:r>
                <a:rPr lang="ko-KR" altLang="en-US" sz="1000" b="1" dirty="0">
                  <a:latin typeface="+mn-ea"/>
                </a:rPr>
                <a:t>규제</a:t>
              </a:r>
            </a:p>
          </p:txBody>
        </p:sp>
        <p:cxnSp>
          <p:nvCxnSpPr>
            <p:cNvPr id="77" name="연결선: 꺾임 76">
              <a:extLst>
                <a:ext uri="{FF2B5EF4-FFF2-40B4-BE49-F238E27FC236}">
                  <a16:creationId xmlns:a16="http://schemas.microsoft.com/office/drawing/2014/main" id="{F6516EE3-0222-4715-83CF-720CC80D18E2}"/>
                </a:ext>
              </a:extLst>
            </p:cNvPr>
            <p:cNvCxnSpPr>
              <a:cxnSpLocks/>
              <a:stCxn id="22" idx="3"/>
              <a:endCxn id="75" idx="1"/>
            </p:cNvCxnSpPr>
            <p:nvPr/>
          </p:nvCxnSpPr>
          <p:spPr>
            <a:xfrm flipV="1">
              <a:off x="1816564" y="3756189"/>
              <a:ext cx="393017" cy="62634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연결선: 꺾임 78">
              <a:extLst>
                <a:ext uri="{FF2B5EF4-FFF2-40B4-BE49-F238E27FC236}">
                  <a16:creationId xmlns:a16="http://schemas.microsoft.com/office/drawing/2014/main" id="{628BBD52-B5D5-4BA3-B0A5-1955583D919C}"/>
                </a:ext>
              </a:extLst>
            </p:cNvPr>
            <p:cNvCxnSpPr>
              <a:cxnSpLocks/>
              <a:stCxn id="22" idx="3"/>
              <a:endCxn id="76" idx="1"/>
            </p:cNvCxnSpPr>
            <p:nvPr/>
          </p:nvCxnSpPr>
          <p:spPr>
            <a:xfrm>
              <a:off x="1816564" y="4382534"/>
              <a:ext cx="393017" cy="179938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8" name="그룹 57"/>
            <p:cNvGrpSpPr/>
            <p:nvPr/>
          </p:nvGrpSpPr>
          <p:grpSpPr>
            <a:xfrm flipH="1">
              <a:off x="7637568" y="5548854"/>
              <a:ext cx="45719" cy="218202"/>
              <a:chOff x="2474392" y="6228804"/>
              <a:chExt cx="144016" cy="504056"/>
            </a:xfrm>
          </p:grpSpPr>
          <p:sp>
            <p:nvSpPr>
              <p:cNvPr id="52" name="타원 51"/>
              <p:cNvSpPr/>
              <p:nvPr/>
            </p:nvSpPr>
            <p:spPr>
              <a:xfrm>
                <a:off x="2474392" y="6228804"/>
                <a:ext cx="144016" cy="144016"/>
              </a:xfrm>
              <a:prstGeom prst="ellipse">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타원 52"/>
              <p:cNvSpPr/>
              <p:nvPr/>
            </p:nvSpPr>
            <p:spPr>
              <a:xfrm>
                <a:off x="2474392" y="6406687"/>
                <a:ext cx="144016" cy="144016"/>
              </a:xfrm>
              <a:prstGeom prst="ellipse">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타원 53"/>
              <p:cNvSpPr/>
              <p:nvPr/>
            </p:nvSpPr>
            <p:spPr>
              <a:xfrm>
                <a:off x="2474392" y="6588844"/>
                <a:ext cx="144016" cy="144016"/>
              </a:xfrm>
              <a:prstGeom prst="ellipse">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15" name="직사각형 14"/>
            <p:cNvSpPr/>
            <p:nvPr/>
          </p:nvSpPr>
          <p:spPr>
            <a:xfrm>
              <a:off x="3370092" y="3926061"/>
              <a:ext cx="1121820" cy="248238"/>
            </a:xfrm>
            <a:prstGeom prst="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저작권</a:t>
              </a:r>
              <a:endParaRPr lang="ko-KR" altLang="en-US" sz="600" dirty="0">
                <a:solidFill>
                  <a:schemeClr val="bg1"/>
                </a:solidFill>
                <a:latin typeface="+mn-ea"/>
              </a:endParaRPr>
            </a:p>
          </p:txBody>
        </p:sp>
        <p:sp>
          <p:nvSpPr>
            <p:cNvPr id="20" name="직사각형 19"/>
            <p:cNvSpPr/>
            <p:nvPr/>
          </p:nvSpPr>
          <p:spPr>
            <a:xfrm>
              <a:off x="3370092" y="2973174"/>
              <a:ext cx="1121820" cy="248238"/>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산업재산권</a:t>
              </a:r>
            </a:p>
          </p:txBody>
        </p:sp>
        <p:sp>
          <p:nvSpPr>
            <p:cNvPr id="21" name="직사각형 20"/>
            <p:cNvSpPr/>
            <p:nvPr/>
          </p:nvSpPr>
          <p:spPr>
            <a:xfrm>
              <a:off x="3370092" y="4555276"/>
              <a:ext cx="1121820" cy="248238"/>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신지식재산권</a:t>
              </a:r>
            </a:p>
          </p:txBody>
        </p:sp>
        <p:sp>
          <p:nvSpPr>
            <p:cNvPr id="11" name="직사각형 10"/>
            <p:cNvSpPr/>
            <p:nvPr/>
          </p:nvSpPr>
          <p:spPr>
            <a:xfrm>
              <a:off x="4743672" y="2787777"/>
              <a:ext cx="1675182" cy="212283"/>
            </a:xfrm>
            <a:prstGeom prst="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특허권</a:t>
              </a:r>
              <a:endParaRPr lang="ko-KR" altLang="en-US" sz="600" dirty="0">
                <a:solidFill>
                  <a:schemeClr val="bg1"/>
                </a:solidFill>
                <a:latin typeface="+mn-ea"/>
              </a:endParaRPr>
            </a:p>
          </p:txBody>
        </p:sp>
        <p:sp>
          <p:nvSpPr>
            <p:cNvPr id="12" name="직사각형 11"/>
            <p:cNvSpPr/>
            <p:nvPr/>
          </p:nvSpPr>
          <p:spPr>
            <a:xfrm>
              <a:off x="4743672" y="3069017"/>
              <a:ext cx="1675182" cy="212283"/>
            </a:xfrm>
            <a:prstGeom prst="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err="1">
                  <a:solidFill>
                    <a:schemeClr val="bg1"/>
                  </a:solidFill>
                  <a:latin typeface="+mn-ea"/>
                </a:rPr>
                <a:t>실용신안권</a:t>
              </a:r>
              <a:endParaRPr lang="ko-KR" altLang="en-US" sz="1050" dirty="0">
                <a:solidFill>
                  <a:schemeClr val="bg1"/>
                </a:solidFill>
                <a:latin typeface="+mn-ea"/>
              </a:endParaRPr>
            </a:p>
          </p:txBody>
        </p:sp>
        <p:sp>
          <p:nvSpPr>
            <p:cNvPr id="13" name="직사각형 12"/>
            <p:cNvSpPr/>
            <p:nvPr/>
          </p:nvSpPr>
          <p:spPr>
            <a:xfrm>
              <a:off x="4743672" y="3350256"/>
              <a:ext cx="1675182" cy="212283"/>
            </a:xfrm>
            <a:prstGeom prst="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err="1">
                  <a:solidFill>
                    <a:schemeClr val="bg1"/>
                  </a:solidFill>
                  <a:latin typeface="+mn-ea"/>
                </a:rPr>
                <a:t>디자인권</a:t>
              </a:r>
              <a:endParaRPr lang="ko-KR" altLang="en-US" sz="1050" dirty="0">
                <a:solidFill>
                  <a:schemeClr val="bg1"/>
                </a:solidFill>
                <a:latin typeface="+mn-ea"/>
              </a:endParaRPr>
            </a:p>
          </p:txBody>
        </p:sp>
        <p:sp>
          <p:nvSpPr>
            <p:cNvPr id="14" name="직사각형 13"/>
            <p:cNvSpPr/>
            <p:nvPr/>
          </p:nvSpPr>
          <p:spPr>
            <a:xfrm>
              <a:off x="4743672" y="3631495"/>
              <a:ext cx="1675182" cy="212283"/>
            </a:xfrm>
            <a:prstGeom prst="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상표권</a:t>
              </a:r>
              <a:r>
                <a:rPr lang="en-US" altLang="ko-KR" sz="1050" dirty="0">
                  <a:solidFill>
                    <a:schemeClr val="bg1"/>
                  </a:solidFill>
                  <a:latin typeface="+mn-ea"/>
                </a:rPr>
                <a:t>(</a:t>
              </a:r>
              <a:r>
                <a:rPr lang="ko-KR" altLang="en-US" sz="1050" dirty="0" err="1">
                  <a:solidFill>
                    <a:schemeClr val="bg1"/>
                  </a:solidFill>
                  <a:latin typeface="+mn-ea"/>
                </a:rPr>
                <a:t>서비스권</a:t>
              </a:r>
              <a:r>
                <a:rPr lang="en-US" altLang="ko-KR" sz="1050" dirty="0">
                  <a:solidFill>
                    <a:schemeClr val="bg1"/>
                  </a:solidFill>
                  <a:latin typeface="+mn-ea"/>
                </a:rPr>
                <a:t>)</a:t>
              </a:r>
              <a:endParaRPr lang="ko-KR" altLang="en-US" sz="1050" dirty="0">
                <a:solidFill>
                  <a:schemeClr val="bg1"/>
                </a:solidFill>
                <a:latin typeface="+mn-ea"/>
              </a:endParaRPr>
            </a:p>
          </p:txBody>
        </p:sp>
        <p:sp>
          <p:nvSpPr>
            <p:cNvPr id="17" name="직사각형 16"/>
            <p:cNvSpPr/>
            <p:nvPr/>
          </p:nvSpPr>
          <p:spPr>
            <a:xfrm>
              <a:off x="4779886" y="4259678"/>
              <a:ext cx="1675182" cy="212283"/>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저작권</a:t>
              </a:r>
              <a:endParaRPr lang="ko-KR" altLang="en-US" sz="600" dirty="0">
                <a:solidFill>
                  <a:schemeClr val="bg1"/>
                </a:solidFill>
                <a:latin typeface="+mn-ea"/>
              </a:endParaRPr>
            </a:p>
          </p:txBody>
        </p:sp>
        <p:sp>
          <p:nvSpPr>
            <p:cNvPr id="18" name="직사각형 17"/>
            <p:cNvSpPr/>
            <p:nvPr/>
          </p:nvSpPr>
          <p:spPr>
            <a:xfrm>
              <a:off x="4779886" y="4540918"/>
              <a:ext cx="1675182" cy="212283"/>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저작권 및 특허권</a:t>
              </a:r>
            </a:p>
          </p:txBody>
        </p:sp>
        <p:sp>
          <p:nvSpPr>
            <p:cNvPr id="19" name="직사각형 18"/>
            <p:cNvSpPr/>
            <p:nvPr/>
          </p:nvSpPr>
          <p:spPr>
            <a:xfrm>
              <a:off x="4779886" y="4814475"/>
              <a:ext cx="1675182" cy="212283"/>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err="1">
                  <a:solidFill>
                    <a:schemeClr val="bg1"/>
                  </a:solidFill>
                  <a:latin typeface="+mn-ea"/>
                </a:rPr>
                <a:t>품종보호권</a:t>
              </a:r>
              <a:endParaRPr lang="ko-KR" altLang="en-US" sz="1050" dirty="0">
                <a:solidFill>
                  <a:schemeClr val="bg1"/>
                </a:solidFill>
                <a:latin typeface="+mn-ea"/>
              </a:endParaRPr>
            </a:p>
          </p:txBody>
        </p:sp>
        <p:sp>
          <p:nvSpPr>
            <p:cNvPr id="42" name="모서리가 둥근 직사각형 41"/>
            <p:cNvSpPr/>
            <p:nvPr/>
          </p:nvSpPr>
          <p:spPr>
            <a:xfrm>
              <a:off x="6825596" y="2787778"/>
              <a:ext cx="1815164" cy="212283"/>
            </a:xfrm>
            <a:prstGeom prst="round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발명</a:t>
              </a:r>
            </a:p>
          </p:txBody>
        </p:sp>
        <p:sp>
          <p:nvSpPr>
            <p:cNvPr id="43" name="모서리가 둥근 직사각형 42"/>
            <p:cNvSpPr/>
            <p:nvPr/>
          </p:nvSpPr>
          <p:spPr>
            <a:xfrm>
              <a:off x="6825596" y="3069018"/>
              <a:ext cx="1815164" cy="212283"/>
            </a:xfrm>
            <a:prstGeom prst="round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고안</a:t>
              </a:r>
            </a:p>
          </p:txBody>
        </p:sp>
        <p:sp>
          <p:nvSpPr>
            <p:cNvPr id="44" name="모서리가 둥근 직사각형 43"/>
            <p:cNvSpPr/>
            <p:nvPr/>
          </p:nvSpPr>
          <p:spPr>
            <a:xfrm>
              <a:off x="6825596" y="3350257"/>
              <a:ext cx="1815164" cy="212283"/>
            </a:xfrm>
            <a:prstGeom prst="round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디자인</a:t>
              </a:r>
            </a:p>
          </p:txBody>
        </p:sp>
        <p:sp>
          <p:nvSpPr>
            <p:cNvPr id="45" name="모서리가 둥근 직사각형 44"/>
            <p:cNvSpPr/>
            <p:nvPr/>
          </p:nvSpPr>
          <p:spPr>
            <a:xfrm>
              <a:off x="6825596" y="3631496"/>
              <a:ext cx="1815164" cy="212283"/>
            </a:xfrm>
            <a:prstGeom prst="round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상표</a:t>
              </a:r>
              <a:r>
                <a:rPr lang="en-US" altLang="ko-KR" sz="1050" dirty="0">
                  <a:solidFill>
                    <a:schemeClr val="bg1"/>
                  </a:solidFill>
                  <a:latin typeface="+mn-ea"/>
                </a:rPr>
                <a:t>(</a:t>
              </a:r>
              <a:r>
                <a:rPr lang="ko-KR" altLang="en-US" sz="1050" dirty="0" err="1">
                  <a:solidFill>
                    <a:schemeClr val="bg1"/>
                  </a:solidFill>
                  <a:latin typeface="+mn-ea"/>
                </a:rPr>
                <a:t>서비스표</a:t>
              </a:r>
              <a:r>
                <a:rPr lang="en-US" altLang="ko-KR" sz="1050" dirty="0">
                  <a:solidFill>
                    <a:schemeClr val="bg1"/>
                  </a:solidFill>
                  <a:latin typeface="+mn-ea"/>
                </a:rPr>
                <a:t>)</a:t>
              </a:r>
              <a:endParaRPr lang="ko-KR" altLang="en-US" sz="1050" dirty="0">
                <a:solidFill>
                  <a:schemeClr val="bg1"/>
                </a:solidFill>
                <a:latin typeface="+mn-ea"/>
              </a:endParaRPr>
            </a:p>
          </p:txBody>
        </p:sp>
        <p:sp>
          <p:nvSpPr>
            <p:cNvPr id="46" name="모서리가 둥근 직사각형 45"/>
            <p:cNvSpPr/>
            <p:nvPr/>
          </p:nvSpPr>
          <p:spPr>
            <a:xfrm>
              <a:off x="6825596" y="3944520"/>
              <a:ext cx="1815164" cy="212283"/>
            </a:xfrm>
            <a:prstGeom prst="round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저작물</a:t>
              </a:r>
            </a:p>
          </p:txBody>
        </p:sp>
        <p:sp>
          <p:nvSpPr>
            <p:cNvPr id="48" name="모서리가 둥근 직사각형 47"/>
            <p:cNvSpPr/>
            <p:nvPr/>
          </p:nvSpPr>
          <p:spPr>
            <a:xfrm>
              <a:off x="6816545" y="4262059"/>
              <a:ext cx="1815164" cy="212283"/>
            </a:xfrm>
            <a:prstGeom prst="round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데이터베이스</a:t>
              </a:r>
            </a:p>
          </p:txBody>
        </p:sp>
        <p:sp>
          <p:nvSpPr>
            <p:cNvPr id="49" name="모서리가 둥근 직사각형 48"/>
            <p:cNvSpPr/>
            <p:nvPr/>
          </p:nvSpPr>
          <p:spPr>
            <a:xfrm>
              <a:off x="6816545" y="4543299"/>
              <a:ext cx="1815164" cy="212283"/>
            </a:xfrm>
            <a:prstGeom prst="round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컴퓨터프로그램</a:t>
              </a:r>
            </a:p>
          </p:txBody>
        </p:sp>
        <p:sp>
          <p:nvSpPr>
            <p:cNvPr id="50" name="모서리가 둥근 직사각형 49"/>
            <p:cNvSpPr/>
            <p:nvPr/>
          </p:nvSpPr>
          <p:spPr>
            <a:xfrm>
              <a:off x="6816545" y="4816856"/>
              <a:ext cx="1815164" cy="212283"/>
            </a:xfrm>
            <a:prstGeom prst="round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식물신품종</a:t>
              </a:r>
            </a:p>
          </p:txBody>
        </p:sp>
        <p:sp>
          <p:nvSpPr>
            <p:cNvPr id="60" name="직사각형 59"/>
            <p:cNvSpPr/>
            <p:nvPr/>
          </p:nvSpPr>
          <p:spPr>
            <a:xfrm>
              <a:off x="4779886" y="5089858"/>
              <a:ext cx="1675182" cy="362860"/>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err="1">
                  <a:solidFill>
                    <a:schemeClr val="bg1"/>
                  </a:solidFill>
                  <a:latin typeface="+mn-ea"/>
                </a:rPr>
                <a:t>배치설계권</a:t>
              </a:r>
              <a:endParaRPr lang="ko-KR" altLang="en-US" sz="1050" dirty="0">
                <a:solidFill>
                  <a:schemeClr val="bg1"/>
                </a:solidFill>
                <a:latin typeface="+mn-ea"/>
              </a:endParaRPr>
            </a:p>
          </p:txBody>
        </p:sp>
        <p:sp>
          <p:nvSpPr>
            <p:cNvPr id="62" name="모서리가 둥근 직사각형 61"/>
            <p:cNvSpPr/>
            <p:nvPr/>
          </p:nvSpPr>
          <p:spPr>
            <a:xfrm>
              <a:off x="6816545" y="5092239"/>
              <a:ext cx="1815164" cy="362860"/>
            </a:xfrm>
            <a:prstGeom prst="round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반도체 </a:t>
              </a:r>
              <a:r>
                <a:rPr lang="ko-KR" altLang="en-US" sz="1050" dirty="0" err="1">
                  <a:solidFill>
                    <a:schemeClr val="bg1"/>
                  </a:solidFill>
                  <a:latin typeface="+mn-ea"/>
                </a:rPr>
                <a:t>배치설계</a:t>
              </a:r>
              <a:endParaRPr lang="ko-KR" altLang="en-US" sz="1050" dirty="0">
                <a:solidFill>
                  <a:schemeClr val="bg1"/>
                </a:solidFill>
                <a:latin typeface="+mn-ea"/>
              </a:endParaRPr>
            </a:p>
          </p:txBody>
        </p:sp>
        <p:sp>
          <p:nvSpPr>
            <p:cNvPr id="68" name="모서리가 둥근 직사각형 49">
              <a:extLst>
                <a:ext uri="{FF2B5EF4-FFF2-40B4-BE49-F238E27FC236}">
                  <a16:creationId xmlns:a16="http://schemas.microsoft.com/office/drawing/2014/main" id="{7C4B2164-3E31-4B94-ACEC-636F503026C7}"/>
                </a:ext>
              </a:extLst>
            </p:cNvPr>
            <p:cNvSpPr/>
            <p:nvPr/>
          </p:nvSpPr>
          <p:spPr>
            <a:xfrm>
              <a:off x="6816545" y="5811187"/>
              <a:ext cx="1815164" cy="212283"/>
            </a:xfrm>
            <a:prstGeom prst="roundRect">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부정경쟁행위</a:t>
              </a:r>
            </a:p>
          </p:txBody>
        </p:sp>
        <p:sp>
          <p:nvSpPr>
            <p:cNvPr id="71" name="모서리가 둥근 직사각형 61">
              <a:extLst>
                <a:ext uri="{FF2B5EF4-FFF2-40B4-BE49-F238E27FC236}">
                  <a16:creationId xmlns:a16="http://schemas.microsoft.com/office/drawing/2014/main" id="{37D31224-B247-418A-A845-408626A05810}"/>
                </a:ext>
              </a:extLst>
            </p:cNvPr>
            <p:cNvSpPr/>
            <p:nvPr/>
          </p:nvSpPr>
          <p:spPr>
            <a:xfrm>
              <a:off x="6816545" y="6086570"/>
              <a:ext cx="1815164" cy="212283"/>
            </a:xfrm>
            <a:prstGeom prst="roundRect">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영업비밀침해행위</a:t>
              </a:r>
            </a:p>
          </p:txBody>
        </p:sp>
        <p:sp>
          <p:nvSpPr>
            <p:cNvPr id="91" name="직사각형 90">
              <a:extLst>
                <a:ext uri="{FF2B5EF4-FFF2-40B4-BE49-F238E27FC236}">
                  <a16:creationId xmlns:a16="http://schemas.microsoft.com/office/drawing/2014/main" id="{319EFFFF-0926-4A16-9858-1B602D76C545}"/>
                </a:ext>
              </a:extLst>
            </p:cNvPr>
            <p:cNvSpPr/>
            <p:nvPr/>
          </p:nvSpPr>
          <p:spPr>
            <a:xfrm>
              <a:off x="9312728" y="2788250"/>
              <a:ext cx="1747610" cy="21228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tx1"/>
                  </a:solidFill>
                  <a:latin typeface="+mn-ea"/>
                </a:rPr>
                <a:t>특허법</a:t>
              </a:r>
              <a:endParaRPr lang="ko-KR" altLang="en-US" sz="600" dirty="0">
                <a:solidFill>
                  <a:schemeClr val="tx1"/>
                </a:solidFill>
                <a:latin typeface="+mn-ea"/>
              </a:endParaRPr>
            </a:p>
          </p:txBody>
        </p:sp>
        <p:sp>
          <p:nvSpPr>
            <p:cNvPr id="92" name="직사각형 91">
              <a:extLst>
                <a:ext uri="{FF2B5EF4-FFF2-40B4-BE49-F238E27FC236}">
                  <a16:creationId xmlns:a16="http://schemas.microsoft.com/office/drawing/2014/main" id="{2D69F8E6-6F98-4A58-B0BA-4C9E95499D59}"/>
                </a:ext>
              </a:extLst>
            </p:cNvPr>
            <p:cNvSpPr/>
            <p:nvPr/>
          </p:nvSpPr>
          <p:spPr>
            <a:xfrm>
              <a:off x="9312728" y="3069490"/>
              <a:ext cx="1747610" cy="21228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tx1"/>
                  </a:solidFill>
                  <a:latin typeface="+mn-ea"/>
                </a:rPr>
                <a:t>실용신안법</a:t>
              </a:r>
            </a:p>
          </p:txBody>
        </p:sp>
        <p:sp>
          <p:nvSpPr>
            <p:cNvPr id="93" name="직사각형 92">
              <a:extLst>
                <a:ext uri="{FF2B5EF4-FFF2-40B4-BE49-F238E27FC236}">
                  <a16:creationId xmlns:a16="http://schemas.microsoft.com/office/drawing/2014/main" id="{43722BC9-D0F1-4CFB-97C1-2034EC274505}"/>
                </a:ext>
              </a:extLst>
            </p:cNvPr>
            <p:cNvSpPr/>
            <p:nvPr/>
          </p:nvSpPr>
          <p:spPr>
            <a:xfrm>
              <a:off x="9312728" y="3350729"/>
              <a:ext cx="1747610" cy="21228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tx1"/>
                  </a:solidFill>
                  <a:latin typeface="+mn-ea"/>
                </a:rPr>
                <a:t>디자인보호법</a:t>
              </a:r>
            </a:p>
          </p:txBody>
        </p:sp>
        <p:sp>
          <p:nvSpPr>
            <p:cNvPr id="94" name="직사각형 93">
              <a:extLst>
                <a:ext uri="{FF2B5EF4-FFF2-40B4-BE49-F238E27FC236}">
                  <a16:creationId xmlns:a16="http://schemas.microsoft.com/office/drawing/2014/main" id="{420BA846-6326-4FCD-B7AD-587406CD1653}"/>
                </a:ext>
              </a:extLst>
            </p:cNvPr>
            <p:cNvSpPr/>
            <p:nvPr/>
          </p:nvSpPr>
          <p:spPr>
            <a:xfrm>
              <a:off x="9312728" y="3631968"/>
              <a:ext cx="1747610" cy="21228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tx1"/>
                  </a:solidFill>
                  <a:latin typeface="+mn-ea"/>
                </a:rPr>
                <a:t>상표법</a:t>
              </a:r>
            </a:p>
          </p:txBody>
        </p:sp>
        <p:sp>
          <p:nvSpPr>
            <p:cNvPr id="95" name="직사각형 94">
              <a:extLst>
                <a:ext uri="{FF2B5EF4-FFF2-40B4-BE49-F238E27FC236}">
                  <a16:creationId xmlns:a16="http://schemas.microsoft.com/office/drawing/2014/main" id="{E1C75262-95E6-450A-9F6D-21BF65F783A2}"/>
                </a:ext>
              </a:extLst>
            </p:cNvPr>
            <p:cNvSpPr/>
            <p:nvPr/>
          </p:nvSpPr>
          <p:spPr>
            <a:xfrm>
              <a:off x="9348942" y="4260789"/>
              <a:ext cx="1747610" cy="212283"/>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tx1"/>
                  </a:solidFill>
                  <a:latin typeface="+mn-ea"/>
                </a:rPr>
                <a:t>저작권법</a:t>
              </a:r>
              <a:endParaRPr lang="ko-KR" altLang="en-US" sz="600" dirty="0">
                <a:solidFill>
                  <a:schemeClr val="tx1"/>
                </a:solidFill>
                <a:latin typeface="+mn-ea"/>
              </a:endParaRPr>
            </a:p>
          </p:txBody>
        </p:sp>
        <p:sp>
          <p:nvSpPr>
            <p:cNvPr id="96" name="직사각형 95">
              <a:extLst>
                <a:ext uri="{FF2B5EF4-FFF2-40B4-BE49-F238E27FC236}">
                  <a16:creationId xmlns:a16="http://schemas.microsoft.com/office/drawing/2014/main" id="{2A7F5407-188C-489B-B85B-0FC93D15A1B5}"/>
                </a:ext>
              </a:extLst>
            </p:cNvPr>
            <p:cNvSpPr/>
            <p:nvPr/>
          </p:nvSpPr>
          <p:spPr>
            <a:xfrm>
              <a:off x="9348942" y="4542029"/>
              <a:ext cx="1747610" cy="212283"/>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tx1"/>
                  </a:solidFill>
                  <a:latin typeface="+mn-ea"/>
                </a:rPr>
                <a:t>저작권법 및 특허법</a:t>
              </a:r>
            </a:p>
          </p:txBody>
        </p:sp>
        <p:sp>
          <p:nvSpPr>
            <p:cNvPr id="97" name="직사각형 96">
              <a:extLst>
                <a:ext uri="{FF2B5EF4-FFF2-40B4-BE49-F238E27FC236}">
                  <a16:creationId xmlns:a16="http://schemas.microsoft.com/office/drawing/2014/main" id="{ADC4A631-55E0-4DD3-B646-212AA52D30A7}"/>
                </a:ext>
              </a:extLst>
            </p:cNvPr>
            <p:cNvSpPr/>
            <p:nvPr/>
          </p:nvSpPr>
          <p:spPr>
            <a:xfrm>
              <a:off x="9348942" y="4815586"/>
              <a:ext cx="1747610" cy="212283"/>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err="1">
                  <a:solidFill>
                    <a:schemeClr val="tx1"/>
                  </a:solidFill>
                  <a:latin typeface="+mn-ea"/>
                </a:rPr>
                <a:t>식물신품종보호법</a:t>
              </a:r>
              <a:endParaRPr lang="ko-KR" altLang="en-US" sz="1050" dirty="0">
                <a:solidFill>
                  <a:schemeClr val="tx1"/>
                </a:solidFill>
                <a:latin typeface="+mn-ea"/>
              </a:endParaRPr>
            </a:p>
          </p:txBody>
        </p:sp>
        <p:sp>
          <p:nvSpPr>
            <p:cNvPr id="98" name="직사각형 97">
              <a:extLst>
                <a:ext uri="{FF2B5EF4-FFF2-40B4-BE49-F238E27FC236}">
                  <a16:creationId xmlns:a16="http://schemas.microsoft.com/office/drawing/2014/main" id="{70C7559B-BAEB-405F-BD42-BFFA6E179BE5}"/>
                </a:ext>
              </a:extLst>
            </p:cNvPr>
            <p:cNvSpPr/>
            <p:nvPr/>
          </p:nvSpPr>
          <p:spPr>
            <a:xfrm>
              <a:off x="9348942" y="5090969"/>
              <a:ext cx="1747610" cy="36286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tx1"/>
                  </a:solidFill>
                  <a:latin typeface="+mn-ea"/>
                </a:rPr>
                <a:t>반도체집적회로의 배치설계에 관한 법률</a:t>
              </a:r>
            </a:p>
          </p:txBody>
        </p:sp>
        <p:sp>
          <p:nvSpPr>
            <p:cNvPr id="99" name="직사각형 98">
              <a:extLst>
                <a:ext uri="{FF2B5EF4-FFF2-40B4-BE49-F238E27FC236}">
                  <a16:creationId xmlns:a16="http://schemas.microsoft.com/office/drawing/2014/main" id="{661CAEE0-8819-43B4-B8E7-768D483C8491}"/>
                </a:ext>
              </a:extLst>
            </p:cNvPr>
            <p:cNvSpPr/>
            <p:nvPr/>
          </p:nvSpPr>
          <p:spPr>
            <a:xfrm>
              <a:off x="9348942" y="5811188"/>
              <a:ext cx="1747610" cy="487665"/>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tx1"/>
                  </a:solidFill>
                  <a:latin typeface="+mn-ea"/>
                </a:rPr>
                <a:t>부정경쟁방지 및 </a:t>
              </a:r>
              <a:endParaRPr lang="en-US" altLang="ko-KR" sz="1050" dirty="0">
                <a:solidFill>
                  <a:schemeClr val="tx1"/>
                </a:solidFill>
                <a:latin typeface="+mn-ea"/>
              </a:endParaRPr>
            </a:p>
            <a:p>
              <a:pPr algn="ctr"/>
              <a:r>
                <a:rPr lang="ko-KR" altLang="en-US" sz="1050" dirty="0">
                  <a:solidFill>
                    <a:schemeClr val="tx1"/>
                  </a:solidFill>
                  <a:latin typeface="+mn-ea"/>
                </a:rPr>
                <a:t>영업비밀보호에 관한 법률</a:t>
              </a:r>
            </a:p>
          </p:txBody>
        </p:sp>
        <p:sp>
          <p:nvSpPr>
            <p:cNvPr id="102" name="직사각형 101">
              <a:extLst>
                <a:ext uri="{FF2B5EF4-FFF2-40B4-BE49-F238E27FC236}">
                  <a16:creationId xmlns:a16="http://schemas.microsoft.com/office/drawing/2014/main" id="{B8526FF9-F856-440B-848C-F9F96E937F97}"/>
                </a:ext>
              </a:extLst>
            </p:cNvPr>
            <p:cNvSpPr/>
            <p:nvPr/>
          </p:nvSpPr>
          <p:spPr>
            <a:xfrm>
              <a:off x="9348942" y="6369510"/>
              <a:ext cx="1747610" cy="210708"/>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a:solidFill>
                    <a:schemeClr val="tx1"/>
                  </a:solidFill>
                  <a:latin typeface="+mn-ea"/>
                </a:rPr>
                <a:t>민법</a:t>
              </a:r>
              <a:endParaRPr lang="ko-KR" altLang="en-US" sz="1050" dirty="0">
                <a:solidFill>
                  <a:schemeClr val="tx1"/>
                </a:solidFill>
                <a:latin typeface="+mn-ea"/>
              </a:endParaRPr>
            </a:p>
          </p:txBody>
        </p:sp>
        <p:sp>
          <p:nvSpPr>
            <p:cNvPr id="103" name="모서리가 둥근 직사각형 61">
              <a:extLst>
                <a:ext uri="{FF2B5EF4-FFF2-40B4-BE49-F238E27FC236}">
                  <a16:creationId xmlns:a16="http://schemas.microsoft.com/office/drawing/2014/main" id="{B24F8D3D-64A8-45FE-9B2F-B7E1B9CDB23F}"/>
                </a:ext>
              </a:extLst>
            </p:cNvPr>
            <p:cNvSpPr/>
            <p:nvPr/>
          </p:nvSpPr>
          <p:spPr>
            <a:xfrm>
              <a:off x="6816545" y="6367935"/>
              <a:ext cx="1815164" cy="212283"/>
            </a:xfrm>
            <a:prstGeom prst="roundRect">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bg1"/>
                  </a:solidFill>
                  <a:latin typeface="+mn-ea"/>
                </a:rPr>
                <a:t>불법행위</a:t>
              </a:r>
            </a:p>
          </p:txBody>
        </p:sp>
        <p:cxnSp>
          <p:nvCxnSpPr>
            <p:cNvPr id="105" name="연결선: 꺾임 104">
              <a:extLst>
                <a:ext uri="{FF2B5EF4-FFF2-40B4-BE49-F238E27FC236}">
                  <a16:creationId xmlns:a16="http://schemas.microsoft.com/office/drawing/2014/main" id="{4D4BB6A9-340F-4286-8BE3-4FAAC5722EBF}"/>
                </a:ext>
              </a:extLst>
            </p:cNvPr>
            <p:cNvCxnSpPr>
              <a:stCxn id="75" idx="3"/>
              <a:endCxn id="20" idx="1"/>
            </p:cNvCxnSpPr>
            <p:nvPr/>
          </p:nvCxnSpPr>
          <p:spPr>
            <a:xfrm flipV="1">
              <a:off x="2720774" y="3097293"/>
              <a:ext cx="649318" cy="65889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연결선: 꺾임 106">
              <a:extLst>
                <a:ext uri="{FF2B5EF4-FFF2-40B4-BE49-F238E27FC236}">
                  <a16:creationId xmlns:a16="http://schemas.microsoft.com/office/drawing/2014/main" id="{5B07AB83-102E-4A74-9AE9-CDE314DEA1AD}"/>
                </a:ext>
              </a:extLst>
            </p:cNvPr>
            <p:cNvCxnSpPr>
              <a:stCxn id="75" idx="3"/>
              <a:endCxn id="15" idx="1"/>
            </p:cNvCxnSpPr>
            <p:nvPr/>
          </p:nvCxnSpPr>
          <p:spPr>
            <a:xfrm>
              <a:off x="2720774" y="3756189"/>
              <a:ext cx="649318" cy="29399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연결선: 꺾임 108">
              <a:extLst>
                <a:ext uri="{FF2B5EF4-FFF2-40B4-BE49-F238E27FC236}">
                  <a16:creationId xmlns:a16="http://schemas.microsoft.com/office/drawing/2014/main" id="{60F74D45-B3DE-441C-A9B3-82A6B9A31FD2}"/>
                </a:ext>
              </a:extLst>
            </p:cNvPr>
            <p:cNvCxnSpPr>
              <a:stCxn id="75" idx="3"/>
              <a:endCxn id="21" idx="1"/>
            </p:cNvCxnSpPr>
            <p:nvPr/>
          </p:nvCxnSpPr>
          <p:spPr>
            <a:xfrm>
              <a:off x="2720774" y="3756189"/>
              <a:ext cx="649318" cy="92320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연결선: 꺾임 118">
              <a:extLst>
                <a:ext uri="{FF2B5EF4-FFF2-40B4-BE49-F238E27FC236}">
                  <a16:creationId xmlns:a16="http://schemas.microsoft.com/office/drawing/2014/main" id="{52A52FBD-376E-4EB2-9518-B5B6D415BEE0}"/>
                </a:ext>
              </a:extLst>
            </p:cNvPr>
            <p:cNvCxnSpPr>
              <a:cxnSpLocks/>
              <a:stCxn id="20" idx="3"/>
              <a:endCxn id="11" idx="1"/>
            </p:cNvCxnSpPr>
            <p:nvPr/>
          </p:nvCxnSpPr>
          <p:spPr>
            <a:xfrm flipV="1">
              <a:off x="4491912" y="2893919"/>
              <a:ext cx="251760" cy="20337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연결선: 꺾임 120">
              <a:extLst>
                <a:ext uri="{FF2B5EF4-FFF2-40B4-BE49-F238E27FC236}">
                  <a16:creationId xmlns:a16="http://schemas.microsoft.com/office/drawing/2014/main" id="{11488D6B-8454-4AC0-857D-191AABCF4FE2}"/>
                </a:ext>
              </a:extLst>
            </p:cNvPr>
            <p:cNvCxnSpPr>
              <a:cxnSpLocks/>
              <a:stCxn id="20" idx="3"/>
              <a:endCxn id="12" idx="1"/>
            </p:cNvCxnSpPr>
            <p:nvPr/>
          </p:nvCxnSpPr>
          <p:spPr>
            <a:xfrm>
              <a:off x="4491912" y="3097293"/>
              <a:ext cx="251760" cy="7786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연결선: 꺾임 122">
              <a:extLst>
                <a:ext uri="{FF2B5EF4-FFF2-40B4-BE49-F238E27FC236}">
                  <a16:creationId xmlns:a16="http://schemas.microsoft.com/office/drawing/2014/main" id="{31F6FC3F-CF3A-4223-9997-19641DA1231E}"/>
                </a:ext>
              </a:extLst>
            </p:cNvPr>
            <p:cNvCxnSpPr>
              <a:cxnSpLocks/>
              <a:stCxn id="20" idx="3"/>
              <a:endCxn id="13" idx="1"/>
            </p:cNvCxnSpPr>
            <p:nvPr/>
          </p:nvCxnSpPr>
          <p:spPr>
            <a:xfrm>
              <a:off x="4491912" y="3097293"/>
              <a:ext cx="251760" cy="35910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5" name="연결선: 꺾임 124">
              <a:extLst>
                <a:ext uri="{FF2B5EF4-FFF2-40B4-BE49-F238E27FC236}">
                  <a16:creationId xmlns:a16="http://schemas.microsoft.com/office/drawing/2014/main" id="{25D17925-43B2-4046-9CAF-4470F78B9E78}"/>
                </a:ext>
              </a:extLst>
            </p:cNvPr>
            <p:cNvCxnSpPr>
              <a:cxnSpLocks/>
              <a:stCxn id="20" idx="3"/>
              <a:endCxn id="14" idx="1"/>
            </p:cNvCxnSpPr>
            <p:nvPr/>
          </p:nvCxnSpPr>
          <p:spPr>
            <a:xfrm>
              <a:off x="4491912" y="3097293"/>
              <a:ext cx="251760" cy="64034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7" name="연결선: 꺾임 126">
              <a:extLst>
                <a:ext uri="{FF2B5EF4-FFF2-40B4-BE49-F238E27FC236}">
                  <a16:creationId xmlns:a16="http://schemas.microsoft.com/office/drawing/2014/main" id="{00E45AA8-65FA-4001-A1FA-06C2910FE896}"/>
                </a:ext>
              </a:extLst>
            </p:cNvPr>
            <p:cNvCxnSpPr>
              <a:cxnSpLocks/>
              <a:stCxn id="11" idx="3"/>
              <a:endCxn id="42" idx="1"/>
            </p:cNvCxnSpPr>
            <p:nvPr/>
          </p:nvCxnSpPr>
          <p:spPr>
            <a:xfrm>
              <a:off x="6418854" y="2893919"/>
              <a:ext cx="406742" cy="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연결선: 꺾임 128">
              <a:extLst>
                <a:ext uri="{FF2B5EF4-FFF2-40B4-BE49-F238E27FC236}">
                  <a16:creationId xmlns:a16="http://schemas.microsoft.com/office/drawing/2014/main" id="{B7C066A6-C085-482C-849F-A3642CCA0137}"/>
                </a:ext>
              </a:extLst>
            </p:cNvPr>
            <p:cNvCxnSpPr>
              <a:stCxn id="12" idx="3"/>
              <a:endCxn id="43" idx="1"/>
            </p:cNvCxnSpPr>
            <p:nvPr/>
          </p:nvCxnSpPr>
          <p:spPr>
            <a:xfrm>
              <a:off x="6418854" y="3175159"/>
              <a:ext cx="406742" cy="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연결선: 꺾임 130">
              <a:extLst>
                <a:ext uri="{FF2B5EF4-FFF2-40B4-BE49-F238E27FC236}">
                  <a16:creationId xmlns:a16="http://schemas.microsoft.com/office/drawing/2014/main" id="{5F75B0B7-7881-4F5A-BEF4-1989FA9A7846}"/>
                </a:ext>
              </a:extLst>
            </p:cNvPr>
            <p:cNvCxnSpPr>
              <a:cxnSpLocks/>
              <a:stCxn id="13" idx="3"/>
              <a:endCxn id="44" idx="1"/>
            </p:cNvCxnSpPr>
            <p:nvPr/>
          </p:nvCxnSpPr>
          <p:spPr>
            <a:xfrm>
              <a:off x="6418854" y="3456398"/>
              <a:ext cx="406742" cy="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연결선: 꺾임 133">
              <a:extLst>
                <a:ext uri="{FF2B5EF4-FFF2-40B4-BE49-F238E27FC236}">
                  <a16:creationId xmlns:a16="http://schemas.microsoft.com/office/drawing/2014/main" id="{921EF6C0-0942-4602-A1D0-D332BA9A7EBD}"/>
                </a:ext>
              </a:extLst>
            </p:cNvPr>
            <p:cNvCxnSpPr>
              <a:cxnSpLocks/>
              <a:stCxn id="14" idx="3"/>
              <a:endCxn id="45" idx="1"/>
            </p:cNvCxnSpPr>
            <p:nvPr/>
          </p:nvCxnSpPr>
          <p:spPr>
            <a:xfrm>
              <a:off x="6418854" y="3737637"/>
              <a:ext cx="406742" cy="1"/>
            </a:xfrm>
            <a:prstGeom prst="bentConnector3">
              <a:avLst>
                <a:gd name="adj1" fmla="val 53747"/>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연결선: 꺾임 147">
              <a:extLst>
                <a:ext uri="{FF2B5EF4-FFF2-40B4-BE49-F238E27FC236}">
                  <a16:creationId xmlns:a16="http://schemas.microsoft.com/office/drawing/2014/main" id="{AA58EE66-FD75-4DE7-989F-8F5CFC2D94D7}"/>
                </a:ext>
              </a:extLst>
            </p:cNvPr>
            <p:cNvCxnSpPr>
              <a:cxnSpLocks/>
              <a:stCxn id="21" idx="3"/>
              <a:endCxn id="17" idx="1"/>
            </p:cNvCxnSpPr>
            <p:nvPr/>
          </p:nvCxnSpPr>
          <p:spPr>
            <a:xfrm flipV="1">
              <a:off x="4491912" y="4365820"/>
              <a:ext cx="287974" cy="31357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연결선: 꺾임 149">
              <a:extLst>
                <a:ext uri="{FF2B5EF4-FFF2-40B4-BE49-F238E27FC236}">
                  <a16:creationId xmlns:a16="http://schemas.microsoft.com/office/drawing/2014/main" id="{1EE34F40-B5B4-4155-8F30-5DDE11D97DF7}"/>
                </a:ext>
              </a:extLst>
            </p:cNvPr>
            <p:cNvCxnSpPr>
              <a:cxnSpLocks/>
              <a:stCxn id="21" idx="3"/>
              <a:endCxn id="18" idx="1"/>
            </p:cNvCxnSpPr>
            <p:nvPr/>
          </p:nvCxnSpPr>
          <p:spPr>
            <a:xfrm flipV="1">
              <a:off x="4491912" y="4647060"/>
              <a:ext cx="287974" cy="3233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 name="연결선: 꺾임 151">
              <a:extLst>
                <a:ext uri="{FF2B5EF4-FFF2-40B4-BE49-F238E27FC236}">
                  <a16:creationId xmlns:a16="http://schemas.microsoft.com/office/drawing/2014/main" id="{052BE524-ADE7-41B5-9157-B9EE24EC8287}"/>
                </a:ext>
              </a:extLst>
            </p:cNvPr>
            <p:cNvCxnSpPr>
              <a:cxnSpLocks/>
              <a:stCxn id="21" idx="3"/>
              <a:endCxn id="19" idx="1"/>
            </p:cNvCxnSpPr>
            <p:nvPr/>
          </p:nvCxnSpPr>
          <p:spPr>
            <a:xfrm>
              <a:off x="4491912" y="4679395"/>
              <a:ext cx="287974" cy="24122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연결선: 꺾임 153">
              <a:extLst>
                <a:ext uri="{FF2B5EF4-FFF2-40B4-BE49-F238E27FC236}">
                  <a16:creationId xmlns:a16="http://schemas.microsoft.com/office/drawing/2014/main" id="{D3495E55-47EF-4E72-865C-09FA3F7ED674}"/>
                </a:ext>
              </a:extLst>
            </p:cNvPr>
            <p:cNvCxnSpPr>
              <a:cxnSpLocks/>
              <a:stCxn id="21" idx="3"/>
              <a:endCxn id="60" idx="1"/>
            </p:cNvCxnSpPr>
            <p:nvPr/>
          </p:nvCxnSpPr>
          <p:spPr>
            <a:xfrm>
              <a:off x="4491912" y="4679395"/>
              <a:ext cx="287974" cy="59189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연결선: 꺾임 155">
              <a:extLst>
                <a:ext uri="{FF2B5EF4-FFF2-40B4-BE49-F238E27FC236}">
                  <a16:creationId xmlns:a16="http://schemas.microsoft.com/office/drawing/2014/main" id="{42571724-F495-4EB3-AC4F-EF8E79BEE53B}"/>
                </a:ext>
              </a:extLst>
            </p:cNvPr>
            <p:cNvCxnSpPr>
              <a:stCxn id="17" idx="3"/>
              <a:endCxn id="48" idx="1"/>
            </p:cNvCxnSpPr>
            <p:nvPr/>
          </p:nvCxnSpPr>
          <p:spPr>
            <a:xfrm>
              <a:off x="6455068" y="4365820"/>
              <a:ext cx="361477" cy="238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7" name="연결선: 꺾임 156">
              <a:extLst>
                <a:ext uri="{FF2B5EF4-FFF2-40B4-BE49-F238E27FC236}">
                  <a16:creationId xmlns:a16="http://schemas.microsoft.com/office/drawing/2014/main" id="{E496CA6E-957E-474D-B70E-BA87A08C6493}"/>
                </a:ext>
              </a:extLst>
            </p:cNvPr>
            <p:cNvCxnSpPr>
              <a:cxnSpLocks/>
              <a:stCxn id="18" idx="3"/>
              <a:endCxn id="49" idx="1"/>
            </p:cNvCxnSpPr>
            <p:nvPr/>
          </p:nvCxnSpPr>
          <p:spPr>
            <a:xfrm>
              <a:off x="6455068" y="4647060"/>
              <a:ext cx="361477" cy="238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8" name="연결선: 꺾임 157">
              <a:extLst>
                <a:ext uri="{FF2B5EF4-FFF2-40B4-BE49-F238E27FC236}">
                  <a16:creationId xmlns:a16="http://schemas.microsoft.com/office/drawing/2014/main" id="{C459EF4A-BEE8-428E-A5F8-E2E8B61BF782}"/>
                </a:ext>
              </a:extLst>
            </p:cNvPr>
            <p:cNvCxnSpPr>
              <a:cxnSpLocks/>
              <a:stCxn id="19" idx="3"/>
              <a:endCxn id="50" idx="1"/>
            </p:cNvCxnSpPr>
            <p:nvPr/>
          </p:nvCxnSpPr>
          <p:spPr>
            <a:xfrm>
              <a:off x="6455068" y="4920617"/>
              <a:ext cx="361477" cy="238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9" name="연결선: 꺾임 158">
              <a:extLst>
                <a:ext uri="{FF2B5EF4-FFF2-40B4-BE49-F238E27FC236}">
                  <a16:creationId xmlns:a16="http://schemas.microsoft.com/office/drawing/2014/main" id="{986AA70C-7251-4D62-94C5-30AF48D317FE}"/>
                </a:ext>
              </a:extLst>
            </p:cNvPr>
            <p:cNvCxnSpPr>
              <a:cxnSpLocks/>
              <a:stCxn id="60" idx="3"/>
              <a:endCxn id="62" idx="1"/>
            </p:cNvCxnSpPr>
            <p:nvPr/>
          </p:nvCxnSpPr>
          <p:spPr>
            <a:xfrm>
              <a:off x="6455068" y="5271288"/>
              <a:ext cx="361477" cy="238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연결선: 꺾임 173">
              <a:extLst>
                <a:ext uri="{FF2B5EF4-FFF2-40B4-BE49-F238E27FC236}">
                  <a16:creationId xmlns:a16="http://schemas.microsoft.com/office/drawing/2014/main" id="{4403E067-2B8A-4B33-8B5D-49B27B651AC5}"/>
                </a:ext>
              </a:extLst>
            </p:cNvPr>
            <p:cNvCxnSpPr>
              <a:cxnSpLocks/>
              <a:stCxn id="76" idx="3"/>
              <a:endCxn id="68" idx="1"/>
            </p:cNvCxnSpPr>
            <p:nvPr/>
          </p:nvCxnSpPr>
          <p:spPr>
            <a:xfrm flipV="1">
              <a:off x="2720774" y="5917329"/>
              <a:ext cx="4095771" cy="26459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연결선: 꺾임 175">
              <a:extLst>
                <a:ext uri="{FF2B5EF4-FFF2-40B4-BE49-F238E27FC236}">
                  <a16:creationId xmlns:a16="http://schemas.microsoft.com/office/drawing/2014/main" id="{A550633D-4DA3-44C1-81CA-0FB45970E8B5}"/>
                </a:ext>
              </a:extLst>
            </p:cNvPr>
            <p:cNvCxnSpPr>
              <a:cxnSpLocks/>
              <a:stCxn id="76" idx="3"/>
              <a:endCxn id="71" idx="1"/>
            </p:cNvCxnSpPr>
            <p:nvPr/>
          </p:nvCxnSpPr>
          <p:spPr>
            <a:xfrm>
              <a:off x="2720774" y="6181920"/>
              <a:ext cx="4095771" cy="1079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연결선: 꺾임 177">
              <a:extLst>
                <a:ext uri="{FF2B5EF4-FFF2-40B4-BE49-F238E27FC236}">
                  <a16:creationId xmlns:a16="http://schemas.microsoft.com/office/drawing/2014/main" id="{B74F8373-2DBE-4013-9F22-05131DB0042F}"/>
                </a:ext>
              </a:extLst>
            </p:cNvPr>
            <p:cNvCxnSpPr>
              <a:cxnSpLocks/>
              <a:stCxn id="76" idx="3"/>
              <a:endCxn id="103" idx="1"/>
            </p:cNvCxnSpPr>
            <p:nvPr/>
          </p:nvCxnSpPr>
          <p:spPr>
            <a:xfrm>
              <a:off x="2720774" y="6181920"/>
              <a:ext cx="4095771" cy="29215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연결선: 꺾임 88">
              <a:extLst>
                <a:ext uri="{FF2B5EF4-FFF2-40B4-BE49-F238E27FC236}">
                  <a16:creationId xmlns:a16="http://schemas.microsoft.com/office/drawing/2014/main" id="{751305D8-105E-EE2A-7AB8-6A3403FFB8B6}"/>
                </a:ext>
              </a:extLst>
            </p:cNvPr>
            <p:cNvCxnSpPr>
              <a:cxnSpLocks/>
              <a:stCxn id="42" idx="3"/>
              <a:endCxn id="91" idx="1"/>
            </p:cNvCxnSpPr>
            <p:nvPr/>
          </p:nvCxnSpPr>
          <p:spPr>
            <a:xfrm>
              <a:off x="8640760" y="2893920"/>
              <a:ext cx="671968" cy="47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연결선: 꺾임 100">
              <a:extLst>
                <a:ext uri="{FF2B5EF4-FFF2-40B4-BE49-F238E27FC236}">
                  <a16:creationId xmlns:a16="http://schemas.microsoft.com/office/drawing/2014/main" id="{623A5F00-DB6E-1FDE-58E6-F4A3632D6C64}"/>
                </a:ext>
              </a:extLst>
            </p:cNvPr>
            <p:cNvCxnSpPr>
              <a:cxnSpLocks/>
              <a:stCxn id="43" idx="3"/>
              <a:endCxn id="92" idx="1"/>
            </p:cNvCxnSpPr>
            <p:nvPr/>
          </p:nvCxnSpPr>
          <p:spPr>
            <a:xfrm>
              <a:off x="8640760" y="3175160"/>
              <a:ext cx="671968" cy="47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연결선: 꺾임 107">
              <a:extLst>
                <a:ext uri="{FF2B5EF4-FFF2-40B4-BE49-F238E27FC236}">
                  <a16:creationId xmlns:a16="http://schemas.microsoft.com/office/drawing/2014/main" id="{76783B07-181E-A93D-6A34-5B0850172F83}"/>
                </a:ext>
              </a:extLst>
            </p:cNvPr>
            <p:cNvCxnSpPr>
              <a:cxnSpLocks/>
              <a:stCxn id="44" idx="3"/>
              <a:endCxn id="93" idx="1"/>
            </p:cNvCxnSpPr>
            <p:nvPr/>
          </p:nvCxnSpPr>
          <p:spPr>
            <a:xfrm>
              <a:off x="8640760" y="3456399"/>
              <a:ext cx="671968" cy="47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연결선: 꺾임 113">
              <a:extLst>
                <a:ext uri="{FF2B5EF4-FFF2-40B4-BE49-F238E27FC236}">
                  <a16:creationId xmlns:a16="http://schemas.microsoft.com/office/drawing/2014/main" id="{C625FCF4-5ECF-4F6D-9CEE-3DD9C8D197E4}"/>
                </a:ext>
              </a:extLst>
            </p:cNvPr>
            <p:cNvCxnSpPr>
              <a:cxnSpLocks/>
              <a:stCxn id="45" idx="3"/>
              <a:endCxn id="94" idx="1"/>
            </p:cNvCxnSpPr>
            <p:nvPr/>
          </p:nvCxnSpPr>
          <p:spPr>
            <a:xfrm>
              <a:off x="8640760" y="3737638"/>
              <a:ext cx="671968" cy="47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연결선: 꺾임 119">
              <a:extLst>
                <a:ext uri="{FF2B5EF4-FFF2-40B4-BE49-F238E27FC236}">
                  <a16:creationId xmlns:a16="http://schemas.microsoft.com/office/drawing/2014/main" id="{047A0813-DF79-CECA-3281-3EF1326C58E3}"/>
                </a:ext>
              </a:extLst>
            </p:cNvPr>
            <p:cNvCxnSpPr>
              <a:cxnSpLocks/>
              <a:stCxn id="46" idx="3"/>
              <a:endCxn id="124" idx="1"/>
            </p:cNvCxnSpPr>
            <p:nvPr/>
          </p:nvCxnSpPr>
          <p:spPr>
            <a:xfrm>
              <a:off x="8640760" y="4050662"/>
              <a:ext cx="671968" cy="161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직사각형 123">
              <a:extLst>
                <a:ext uri="{FF2B5EF4-FFF2-40B4-BE49-F238E27FC236}">
                  <a16:creationId xmlns:a16="http://schemas.microsoft.com/office/drawing/2014/main" id="{351D1B14-8585-9DDF-B63C-723865377C08}"/>
                </a:ext>
              </a:extLst>
            </p:cNvPr>
            <p:cNvSpPr/>
            <p:nvPr/>
          </p:nvSpPr>
          <p:spPr>
            <a:xfrm>
              <a:off x="9312728" y="3946133"/>
              <a:ext cx="1747610" cy="212283"/>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r>
                <a:rPr lang="ko-KR" altLang="en-US" sz="1050" dirty="0">
                  <a:solidFill>
                    <a:schemeClr val="tx1"/>
                  </a:solidFill>
                  <a:latin typeface="+mn-ea"/>
                </a:rPr>
                <a:t>저작권법</a:t>
              </a:r>
            </a:p>
          </p:txBody>
        </p:sp>
        <p:cxnSp>
          <p:nvCxnSpPr>
            <p:cNvPr id="130" name="연결선: 꺾임 129">
              <a:extLst>
                <a:ext uri="{FF2B5EF4-FFF2-40B4-BE49-F238E27FC236}">
                  <a16:creationId xmlns:a16="http://schemas.microsoft.com/office/drawing/2014/main" id="{98464F19-9A64-1C7D-AE56-4514607A0456}"/>
                </a:ext>
              </a:extLst>
            </p:cNvPr>
            <p:cNvCxnSpPr>
              <a:cxnSpLocks/>
              <a:stCxn id="15" idx="3"/>
              <a:endCxn id="46" idx="1"/>
            </p:cNvCxnSpPr>
            <p:nvPr/>
          </p:nvCxnSpPr>
          <p:spPr>
            <a:xfrm>
              <a:off x="4491912" y="4050180"/>
              <a:ext cx="2333684" cy="482"/>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6" name="연결선: 꺾임 135">
              <a:extLst>
                <a:ext uri="{FF2B5EF4-FFF2-40B4-BE49-F238E27FC236}">
                  <a16:creationId xmlns:a16="http://schemas.microsoft.com/office/drawing/2014/main" id="{021735CF-BE61-F839-94A3-545EC5CEEC64}"/>
                </a:ext>
              </a:extLst>
            </p:cNvPr>
            <p:cNvCxnSpPr>
              <a:cxnSpLocks/>
              <a:stCxn id="48" idx="3"/>
              <a:endCxn id="95" idx="1"/>
            </p:cNvCxnSpPr>
            <p:nvPr/>
          </p:nvCxnSpPr>
          <p:spPr>
            <a:xfrm flipV="1">
              <a:off x="8631709" y="4366931"/>
              <a:ext cx="717233" cy="127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1" name="연결선: 꺾임 140">
              <a:extLst>
                <a:ext uri="{FF2B5EF4-FFF2-40B4-BE49-F238E27FC236}">
                  <a16:creationId xmlns:a16="http://schemas.microsoft.com/office/drawing/2014/main" id="{9681B905-174F-3D1A-655A-14332834BE4A}"/>
                </a:ext>
              </a:extLst>
            </p:cNvPr>
            <p:cNvCxnSpPr>
              <a:cxnSpLocks/>
              <a:stCxn id="49" idx="3"/>
              <a:endCxn id="96" idx="1"/>
            </p:cNvCxnSpPr>
            <p:nvPr/>
          </p:nvCxnSpPr>
          <p:spPr>
            <a:xfrm flipV="1">
              <a:off x="8631709" y="4648171"/>
              <a:ext cx="717233" cy="127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연결선: 꺾임 146">
              <a:extLst>
                <a:ext uri="{FF2B5EF4-FFF2-40B4-BE49-F238E27FC236}">
                  <a16:creationId xmlns:a16="http://schemas.microsoft.com/office/drawing/2014/main" id="{28F87552-B942-1430-4030-BA6C58519016}"/>
                </a:ext>
              </a:extLst>
            </p:cNvPr>
            <p:cNvCxnSpPr>
              <a:cxnSpLocks/>
              <a:stCxn id="50" idx="3"/>
              <a:endCxn id="97" idx="1"/>
            </p:cNvCxnSpPr>
            <p:nvPr/>
          </p:nvCxnSpPr>
          <p:spPr>
            <a:xfrm flipV="1">
              <a:off x="8631709" y="4921728"/>
              <a:ext cx="717233" cy="127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연결선: 꺾임 152">
              <a:extLst>
                <a:ext uri="{FF2B5EF4-FFF2-40B4-BE49-F238E27FC236}">
                  <a16:creationId xmlns:a16="http://schemas.microsoft.com/office/drawing/2014/main" id="{91E5784B-5A93-ADA9-1047-F6142B1D27C7}"/>
                </a:ext>
              </a:extLst>
            </p:cNvPr>
            <p:cNvCxnSpPr>
              <a:cxnSpLocks/>
              <a:stCxn id="62" idx="3"/>
              <a:endCxn id="98" idx="1"/>
            </p:cNvCxnSpPr>
            <p:nvPr/>
          </p:nvCxnSpPr>
          <p:spPr>
            <a:xfrm flipV="1">
              <a:off x="8631709" y="5272399"/>
              <a:ext cx="717233" cy="127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1" name="연결선: 꺾임 160">
              <a:extLst>
                <a:ext uri="{FF2B5EF4-FFF2-40B4-BE49-F238E27FC236}">
                  <a16:creationId xmlns:a16="http://schemas.microsoft.com/office/drawing/2014/main" id="{3695EF9F-45FE-AE7F-68BC-FE27928549BB}"/>
                </a:ext>
              </a:extLst>
            </p:cNvPr>
            <p:cNvCxnSpPr>
              <a:cxnSpLocks/>
              <a:stCxn id="68" idx="3"/>
              <a:endCxn id="99" idx="1"/>
            </p:cNvCxnSpPr>
            <p:nvPr/>
          </p:nvCxnSpPr>
          <p:spPr>
            <a:xfrm>
              <a:off x="8631709" y="5917329"/>
              <a:ext cx="717233" cy="13769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4" name="연결선: 꺾임 163">
              <a:extLst>
                <a:ext uri="{FF2B5EF4-FFF2-40B4-BE49-F238E27FC236}">
                  <a16:creationId xmlns:a16="http://schemas.microsoft.com/office/drawing/2014/main" id="{EF508B38-D705-B81F-AA49-9F94B6407CD2}"/>
                </a:ext>
              </a:extLst>
            </p:cNvPr>
            <p:cNvCxnSpPr>
              <a:cxnSpLocks/>
              <a:endCxn id="99" idx="1"/>
            </p:cNvCxnSpPr>
            <p:nvPr/>
          </p:nvCxnSpPr>
          <p:spPr>
            <a:xfrm flipV="1">
              <a:off x="8631709" y="6055021"/>
              <a:ext cx="717233" cy="12941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7" name="연결선: 꺾임 166">
              <a:extLst>
                <a:ext uri="{FF2B5EF4-FFF2-40B4-BE49-F238E27FC236}">
                  <a16:creationId xmlns:a16="http://schemas.microsoft.com/office/drawing/2014/main" id="{933AEA0A-D84A-45C8-BB7D-E32B1B98D904}"/>
                </a:ext>
              </a:extLst>
            </p:cNvPr>
            <p:cNvCxnSpPr>
              <a:cxnSpLocks/>
              <a:stCxn id="103" idx="3"/>
              <a:endCxn id="102" idx="1"/>
            </p:cNvCxnSpPr>
            <p:nvPr/>
          </p:nvCxnSpPr>
          <p:spPr>
            <a:xfrm>
              <a:off x="8631709" y="6474077"/>
              <a:ext cx="717233" cy="78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42070985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그림 27"/>
          <p:cNvPicPr>
            <a:picLocks noChangeAspect="1"/>
          </p:cNvPicPr>
          <p:nvPr/>
        </p:nvPicPr>
        <p:blipFill>
          <a:blip r:embed="rId3"/>
          <a:stretch>
            <a:fillRect/>
          </a:stretch>
        </p:blipFill>
        <p:spPr>
          <a:xfrm>
            <a:off x="3423969" y="2424314"/>
            <a:ext cx="4715525" cy="2414151"/>
          </a:xfrm>
          <a:prstGeom prst="rect">
            <a:avLst/>
          </a:prstGeom>
        </p:spPr>
      </p:pic>
      <p:sp>
        <p:nvSpPr>
          <p:cNvPr id="30" name="타원 29"/>
          <p:cNvSpPr/>
          <p:nvPr/>
        </p:nvSpPr>
        <p:spPr>
          <a:xfrm>
            <a:off x="4167893" y="2051566"/>
            <a:ext cx="3971601" cy="3452420"/>
          </a:xfrm>
          <a:prstGeom prst="ellipse">
            <a:avLst/>
          </a:prstGeom>
          <a:no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1" name="TextBox 30"/>
          <p:cNvSpPr txBox="1"/>
          <p:nvPr/>
        </p:nvSpPr>
        <p:spPr>
          <a:xfrm>
            <a:off x="8400257" y="1352322"/>
            <a:ext cx="2138983" cy="307777"/>
          </a:xfrm>
          <a:prstGeom prst="rect">
            <a:avLst/>
          </a:prstGeom>
          <a:noFill/>
        </p:spPr>
        <p:txBody>
          <a:bodyPr wrap="none" rtlCol="0">
            <a:spAutoFit/>
          </a:bodyPr>
          <a:lstStyle/>
          <a:p>
            <a:r>
              <a:rPr lang="ko-KR" altLang="en-US" sz="1400" dirty="0">
                <a:solidFill>
                  <a:srgbClr val="C00000"/>
                </a:solidFill>
                <a:latin typeface="+mj-ea"/>
                <a:ea typeface="+mj-ea"/>
              </a:rPr>
              <a:t>상표권</a:t>
            </a:r>
            <a:r>
              <a:rPr lang="en-US" altLang="ko-KR" sz="1400" dirty="0">
                <a:solidFill>
                  <a:srgbClr val="C00000"/>
                </a:solidFill>
                <a:latin typeface="+mj-ea"/>
                <a:ea typeface="+mj-ea"/>
              </a:rPr>
              <a:t>(Trademark Right)</a:t>
            </a:r>
            <a:endParaRPr lang="ko-KR" altLang="en-US" sz="1400" dirty="0">
              <a:solidFill>
                <a:srgbClr val="C00000"/>
              </a:solidFill>
              <a:latin typeface="+mj-ea"/>
              <a:ea typeface="+mj-ea"/>
            </a:endParaRPr>
          </a:p>
        </p:txBody>
      </p:sp>
      <p:sp>
        <p:nvSpPr>
          <p:cNvPr id="32" name="TextBox 31"/>
          <p:cNvSpPr txBox="1"/>
          <p:nvPr/>
        </p:nvSpPr>
        <p:spPr>
          <a:xfrm>
            <a:off x="8400256" y="1712362"/>
            <a:ext cx="3646063" cy="1577355"/>
          </a:xfrm>
          <a:prstGeom prst="rect">
            <a:avLst/>
          </a:prstGeom>
          <a:noFill/>
        </p:spPr>
        <p:txBody>
          <a:bodyPr wrap="none" rtlCol="0">
            <a:spAutoFit/>
          </a:bodyPr>
          <a:lstStyle/>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보호대상</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상품의 명칭</a:t>
            </a:r>
            <a:endParaRPr lang="en-US" altLang="ko-KR" sz="1400" dirty="0">
              <a:solidFill>
                <a:schemeClr val="tx1">
                  <a:lumMod val="65000"/>
                  <a:lumOff val="35000"/>
                </a:schemeClr>
              </a:solidFill>
              <a:latin typeface="+mn-ea"/>
            </a:endParaRPr>
          </a:p>
          <a:p>
            <a:pPr>
              <a:spcAft>
                <a:spcPts val="300"/>
              </a:spcAft>
            </a:pPr>
            <a:r>
              <a:rPr lang="en-US" altLang="ko-KR" sz="1400" dirty="0">
                <a:solidFill>
                  <a:schemeClr val="tx1">
                    <a:lumMod val="65000"/>
                    <a:lumOff val="35000"/>
                  </a:schemeClr>
                </a:solidFill>
                <a:latin typeface="+mn-ea"/>
              </a:rPr>
              <a:t>   ex) </a:t>
            </a:r>
            <a:r>
              <a:rPr lang="ko-KR" altLang="en-US" sz="1400" dirty="0">
                <a:solidFill>
                  <a:schemeClr val="tx1">
                    <a:lumMod val="65000"/>
                    <a:lumOff val="35000"/>
                  </a:schemeClr>
                </a:solidFill>
                <a:latin typeface="+mn-ea"/>
              </a:rPr>
              <a:t>자동차 명칭</a:t>
            </a:r>
            <a:r>
              <a:rPr lang="en-US" altLang="ko-KR" sz="1400" dirty="0">
                <a:solidFill>
                  <a:schemeClr val="tx1">
                    <a:lumMod val="65000"/>
                    <a:lumOff val="35000"/>
                  </a:schemeClr>
                </a:solidFill>
                <a:latin typeface="+mn-ea"/>
              </a:rPr>
              <a:t>(</a:t>
            </a:r>
            <a:r>
              <a:rPr lang="ko-KR" altLang="en-US" sz="1400" dirty="0" err="1">
                <a:solidFill>
                  <a:schemeClr val="tx1">
                    <a:lumMod val="65000"/>
                    <a:lumOff val="35000"/>
                  </a:schemeClr>
                </a:solidFill>
                <a:latin typeface="+mn-ea"/>
              </a:rPr>
              <a:t>제네시스</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제작사 명칭</a:t>
            </a:r>
            <a:r>
              <a:rPr lang="en-US" altLang="ko-KR" sz="1400" dirty="0">
                <a:solidFill>
                  <a:schemeClr val="tx1">
                    <a:lumMod val="65000"/>
                    <a:lumOff val="35000"/>
                  </a:schemeClr>
                </a:solidFill>
                <a:latin typeface="+mn-ea"/>
              </a:rPr>
              <a:t>(</a:t>
            </a:r>
            <a:r>
              <a:rPr lang="ko-KR" altLang="en-US" sz="1400" dirty="0">
                <a:solidFill>
                  <a:schemeClr val="tx1">
                    <a:lumMod val="65000"/>
                    <a:lumOff val="35000"/>
                  </a:schemeClr>
                </a:solidFill>
                <a:latin typeface="+mn-ea"/>
              </a:rPr>
              <a:t>현대</a:t>
            </a:r>
            <a:r>
              <a:rPr lang="en-US" altLang="ko-KR" sz="1400" dirty="0">
                <a:solidFill>
                  <a:schemeClr val="tx1">
                    <a:lumMod val="65000"/>
                    <a:lumOff val="35000"/>
                  </a:schemeClr>
                </a:solidFill>
                <a:latin typeface="+mn-ea"/>
              </a:rPr>
              <a:t>)</a:t>
            </a:r>
          </a:p>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권리해석</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문자</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도형 등의 상표견본</a:t>
            </a:r>
            <a:endParaRPr lang="en-US" altLang="ko-KR" sz="1400" dirty="0">
              <a:solidFill>
                <a:schemeClr val="tx1">
                  <a:lumMod val="65000"/>
                  <a:lumOff val="35000"/>
                </a:schemeClr>
              </a:solidFill>
              <a:latin typeface="+mn-ea"/>
            </a:endParaRPr>
          </a:p>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침해판단</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상표의 동일 또는 유사</a:t>
            </a:r>
            <a:endParaRPr lang="en-US" altLang="ko-KR" sz="1400" dirty="0">
              <a:solidFill>
                <a:schemeClr val="tx1">
                  <a:lumMod val="65000"/>
                  <a:lumOff val="35000"/>
                </a:schemeClr>
              </a:solidFill>
              <a:latin typeface="+mn-ea"/>
            </a:endParaRPr>
          </a:p>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보호기간</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등록일로부터 </a:t>
            </a:r>
            <a:r>
              <a:rPr lang="en-US" altLang="ko-KR" sz="1400" dirty="0">
                <a:solidFill>
                  <a:schemeClr val="tx1">
                    <a:lumMod val="65000"/>
                    <a:lumOff val="35000"/>
                  </a:schemeClr>
                </a:solidFill>
                <a:latin typeface="+mn-ea"/>
              </a:rPr>
              <a:t>10</a:t>
            </a:r>
            <a:r>
              <a:rPr lang="ko-KR" altLang="en-US" sz="1400" dirty="0">
                <a:solidFill>
                  <a:schemeClr val="tx1">
                    <a:lumMod val="65000"/>
                    <a:lumOff val="35000"/>
                  </a:schemeClr>
                </a:solidFill>
                <a:latin typeface="+mn-ea"/>
              </a:rPr>
              <a:t>년</a:t>
            </a:r>
            <a:endParaRPr lang="en-US" altLang="ko-KR" sz="1400" dirty="0">
              <a:solidFill>
                <a:schemeClr val="tx1">
                  <a:lumMod val="65000"/>
                  <a:lumOff val="35000"/>
                </a:schemeClr>
              </a:solidFill>
              <a:latin typeface="+mn-ea"/>
            </a:endParaRPr>
          </a:p>
          <a:p>
            <a:pPr>
              <a:spcAft>
                <a:spcPts val="300"/>
              </a:spcAft>
            </a:pPr>
            <a:r>
              <a:rPr lang="en-US" altLang="ko-KR" sz="1400" dirty="0">
                <a:solidFill>
                  <a:schemeClr val="tx1">
                    <a:lumMod val="65000"/>
                    <a:lumOff val="35000"/>
                  </a:schemeClr>
                </a:solidFill>
                <a:latin typeface="+mn-ea"/>
              </a:rPr>
              <a:t>  * </a:t>
            </a:r>
            <a:r>
              <a:rPr lang="ko-KR" altLang="en-US" sz="1400" dirty="0">
                <a:solidFill>
                  <a:schemeClr val="tx1">
                    <a:lumMod val="65000"/>
                    <a:lumOff val="35000"/>
                  </a:schemeClr>
                </a:solidFill>
                <a:latin typeface="+mn-ea"/>
              </a:rPr>
              <a:t>갱신가능</a:t>
            </a:r>
            <a:r>
              <a:rPr lang="en-US" altLang="ko-KR" sz="1400" dirty="0">
                <a:solidFill>
                  <a:schemeClr val="tx1">
                    <a:lumMod val="65000"/>
                    <a:lumOff val="35000"/>
                  </a:schemeClr>
                </a:solidFill>
                <a:latin typeface="+mn-ea"/>
              </a:rPr>
              <a:t>(</a:t>
            </a:r>
            <a:r>
              <a:rPr lang="ko-KR" altLang="en-US" sz="1400" dirty="0">
                <a:solidFill>
                  <a:schemeClr val="tx1">
                    <a:lumMod val="65000"/>
                    <a:lumOff val="35000"/>
                  </a:schemeClr>
                </a:solidFill>
                <a:latin typeface="+mn-ea"/>
              </a:rPr>
              <a:t>반영구적 보호</a:t>
            </a:r>
            <a:r>
              <a:rPr lang="en-US" altLang="ko-KR" sz="1400" dirty="0">
                <a:solidFill>
                  <a:schemeClr val="tx1">
                    <a:lumMod val="65000"/>
                    <a:lumOff val="35000"/>
                  </a:schemeClr>
                </a:solidFill>
                <a:latin typeface="+mn-ea"/>
              </a:rPr>
              <a:t>)</a:t>
            </a:r>
            <a:endParaRPr lang="ko-KR" altLang="en-US" sz="1400" dirty="0">
              <a:solidFill>
                <a:schemeClr val="tx1">
                  <a:lumMod val="65000"/>
                  <a:lumOff val="35000"/>
                </a:schemeClr>
              </a:solidFill>
              <a:latin typeface="+mn-ea"/>
            </a:endParaRPr>
          </a:p>
        </p:txBody>
      </p:sp>
      <p:sp>
        <p:nvSpPr>
          <p:cNvPr id="33" name="TextBox 32"/>
          <p:cNvSpPr txBox="1"/>
          <p:nvPr/>
        </p:nvSpPr>
        <p:spPr>
          <a:xfrm>
            <a:off x="340902" y="1568346"/>
            <a:ext cx="1999265" cy="307777"/>
          </a:xfrm>
          <a:prstGeom prst="rect">
            <a:avLst/>
          </a:prstGeom>
          <a:noFill/>
        </p:spPr>
        <p:txBody>
          <a:bodyPr wrap="none" rtlCol="0">
            <a:spAutoFit/>
          </a:bodyPr>
          <a:lstStyle/>
          <a:p>
            <a:r>
              <a:rPr lang="ko-KR" altLang="en-US" sz="1400" dirty="0" err="1">
                <a:solidFill>
                  <a:srgbClr val="C00000"/>
                </a:solidFill>
                <a:latin typeface="+mj-ea"/>
                <a:ea typeface="+mj-ea"/>
              </a:rPr>
              <a:t>디자인권</a:t>
            </a:r>
            <a:r>
              <a:rPr lang="en-US" altLang="ko-KR" sz="1400" dirty="0">
                <a:solidFill>
                  <a:srgbClr val="C00000"/>
                </a:solidFill>
                <a:latin typeface="+mj-ea"/>
                <a:ea typeface="+mj-ea"/>
              </a:rPr>
              <a:t>(Design Right)</a:t>
            </a:r>
            <a:endParaRPr lang="ko-KR" altLang="en-US" sz="1400" dirty="0">
              <a:solidFill>
                <a:srgbClr val="C00000"/>
              </a:solidFill>
              <a:latin typeface="+mj-ea"/>
              <a:ea typeface="+mj-ea"/>
            </a:endParaRPr>
          </a:p>
        </p:txBody>
      </p:sp>
      <p:sp>
        <p:nvSpPr>
          <p:cNvPr id="34" name="TextBox 33"/>
          <p:cNvSpPr txBox="1"/>
          <p:nvPr/>
        </p:nvSpPr>
        <p:spPr>
          <a:xfrm>
            <a:off x="373263" y="1938240"/>
            <a:ext cx="3344698" cy="1323439"/>
          </a:xfrm>
          <a:prstGeom prst="rect">
            <a:avLst/>
          </a:prstGeom>
          <a:noFill/>
        </p:spPr>
        <p:txBody>
          <a:bodyPr wrap="none" rtlCol="0">
            <a:spAutoFit/>
          </a:bodyPr>
          <a:lstStyle/>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보호대상</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물품의 외관</a:t>
            </a:r>
            <a:endParaRPr lang="en-US" altLang="ko-KR" sz="1400" dirty="0">
              <a:solidFill>
                <a:schemeClr val="tx1">
                  <a:lumMod val="65000"/>
                  <a:lumOff val="35000"/>
                </a:schemeClr>
              </a:solidFill>
              <a:latin typeface="+mn-ea"/>
            </a:endParaRPr>
          </a:p>
          <a:p>
            <a:pPr>
              <a:spcAft>
                <a:spcPts val="300"/>
              </a:spcAft>
            </a:pPr>
            <a:r>
              <a:rPr lang="en-US" altLang="ko-KR" sz="1400" dirty="0">
                <a:solidFill>
                  <a:schemeClr val="tx1">
                    <a:lumMod val="65000"/>
                    <a:lumOff val="35000"/>
                  </a:schemeClr>
                </a:solidFill>
                <a:latin typeface="+mn-ea"/>
              </a:rPr>
              <a:t>  ex) </a:t>
            </a:r>
            <a:r>
              <a:rPr lang="ko-KR" altLang="en-US" sz="1400" dirty="0">
                <a:solidFill>
                  <a:schemeClr val="tx1">
                    <a:lumMod val="65000"/>
                    <a:lumOff val="35000"/>
                  </a:schemeClr>
                </a:solidFill>
                <a:latin typeface="+mn-ea"/>
              </a:rPr>
              <a:t>자체 형상</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전방램프 형상</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의자형상 등</a:t>
            </a:r>
            <a:endParaRPr lang="en-US" altLang="ko-KR" sz="1400" dirty="0">
              <a:solidFill>
                <a:schemeClr val="tx1">
                  <a:lumMod val="65000"/>
                  <a:lumOff val="35000"/>
                </a:schemeClr>
              </a:solidFill>
              <a:latin typeface="+mn-ea"/>
            </a:endParaRPr>
          </a:p>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권리해석</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물품의 도면</a:t>
            </a:r>
            <a:endParaRPr lang="en-US" altLang="ko-KR" sz="1400" dirty="0">
              <a:solidFill>
                <a:schemeClr val="tx1">
                  <a:lumMod val="65000"/>
                  <a:lumOff val="35000"/>
                </a:schemeClr>
              </a:solidFill>
              <a:latin typeface="+mn-ea"/>
            </a:endParaRPr>
          </a:p>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침해판단</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디자인의 동일 또는 유사</a:t>
            </a:r>
            <a:endParaRPr lang="en-US" altLang="ko-KR" sz="1400" dirty="0">
              <a:solidFill>
                <a:schemeClr val="tx1">
                  <a:lumMod val="65000"/>
                  <a:lumOff val="35000"/>
                </a:schemeClr>
              </a:solidFill>
              <a:latin typeface="+mn-ea"/>
            </a:endParaRPr>
          </a:p>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보호기간</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등록된 후 출원일로부터 </a:t>
            </a:r>
            <a:r>
              <a:rPr lang="en-US" altLang="ko-KR" sz="1400" dirty="0">
                <a:solidFill>
                  <a:schemeClr val="tx1">
                    <a:lumMod val="65000"/>
                    <a:lumOff val="35000"/>
                  </a:schemeClr>
                </a:solidFill>
                <a:latin typeface="+mn-ea"/>
              </a:rPr>
              <a:t>20</a:t>
            </a:r>
            <a:r>
              <a:rPr lang="ko-KR" altLang="en-US" sz="1400" dirty="0">
                <a:solidFill>
                  <a:schemeClr val="tx1">
                    <a:lumMod val="65000"/>
                    <a:lumOff val="35000"/>
                  </a:schemeClr>
                </a:solidFill>
                <a:latin typeface="+mn-ea"/>
              </a:rPr>
              <a:t>년</a:t>
            </a:r>
          </a:p>
        </p:txBody>
      </p:sp>
      <p:sp>
        <p:nvSpPr>
          <p:cNvPr id="35" name="TextBox 34"/>
          <p:cNvSpPr txBox="1"/>
          <p:nvPr/>
        </p:nvSpPr>
        <p:spPr>
          <a:xfrm>
            <a:off x="340902" y="4253661"/>
            <a:ext cx="2648482" cy="523220"/>
          </a:xfrm>
          <a:prstGeom prst="rect">
            <a:avLst/>
          </a:prstGeom>
          <a:noFill/>
        </p:spPr>
        <p:txBody>
          <a:bodyPr wrap="none" rtlCol="0">
            <a:spAutoFit/>
          </a:bodyPr>
          <a:lstStyle/>
          <a:p>
            <a:r>
              <a:rPr lang="ko-KR" altLang="en-US" sz="1400" dirty="0">
                <a:solidFill>
                  <a:srgbClr val="C00000"/>
                </a:solidFill>
                <a:latin typeface="+mj-ea"/>
                <a:ea typeface="+mj-ea"/>
              </a:rPr>
              <a:t>특허권</a:t>
            </a:r>
            <a:r>
              <a:rPr lang="en-US" altLang="ko-KR" sz="1400" dirty="0">
                <a:solidFill>
                  <a:srgbClr val="C00000"/>
                </a:solidFill>
                <a:latin typeface="+mj-ea"/>
                <a:ea typeface="+mj-ea"/>
              </a:rPr>
              <a:t>(Patent Right)/</a:t>
            </a:r>
          </a:p>
          <a:p>
            <a:r>
              <a:rPr lang="ko-KR" altLang="en-US" sz="1400" dirty="0" err="1">
                <a:solidFill>
                  <a:srgbClr val="C00000"/>
                </a:solidFill>
                <a:latin typeface="+mj-ea"/>
                <a:ea typeface="+mj-ea"/>
              </a:rPr>
              <a:t>실용신안권</a:t>
            </a:r>
            <a:r>
              <a:rPr lang="en-US" altLang="ko-KR" sz="1400" dirty="0">
                <a:solidFill>
                  <a:srgbClr val="C00000"/>
                </a:solidFill>
                <a:latin typeface="+mj-ea"/>
                <a:ea typeface="+mj-ea"/>
              </a:rPr>
              <a:t>(Utility model Right)</a:t>
            </a:r>
            <a:endParaRPr lang="ko-KR" altLang="en-US" sz="1400" dirty="0">
              <a:solidFill>
                <a:srgbClr val="C00000"/>
              </a:solidFill>
              <a:latin typeface="+mj-ea"/>
              <a:ea typeface="+mj-ea"/>
            </a:endParaRPr>
          </a:p>
        </p:txBody>
      </p:sp>
      <p:sp>
        <p:nvSpPr>
          <p:cNvPr id="36" name="TextBox 35"/>
          <p:cNvSpPr txBox="1"/>
          <p:nvPr/>
        </p:nvSpPr>
        <p:spPr>
          <a:xfrm>
            <a:off x="373264" y="4838466"/>
            <a:ext cx="4851328" cy="1323439"/>
          </a:xfrm>
          <a:prstGeom prst="rect">
            <a:avLst/>
          </a:prstGeom>
          <a:noFill/>
        </p:spPr>
        <p:txBody>
          <a:bodyPr wrap="none" rtlCol="0">
            <a:spAutoFit/>
          </a:bodyPr>
          <a:lstStyle/>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보호대상</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기술</a:t>
            </a:r>
            <a:endParaRPr lang="en-US" altLang="ko-KR" sz="1400" dirty="0">
              <a:solidFill>
                <a:schemeClr val="tx1">
                  <a:lumMod val="65000"/>
                  <a:lumOff val="35000"/>
                </a:schemeClr>
              </a:solidFill>
              <a:latin typeface="+mn-ea"/>
            </a:endParaRPr>
          </a:p>
          <a:p>
            <a:pPr>
              <a:spcAft>
                <a:spcPts val="300"/>
              </a:spcAft>
            </a:pPr>
            <a:r>
              <a:rPr lang="en-US" altLang="ko-KR" sz="1400" dirty="0">
                <a:solidFill>
                  <a:schemeClr val="tx1">
                    <a:lumMod val="65000"/>
                    <a:lumOff val="35000"/>
                  </a:schemeClr>
                </a:solidFill>
                <a:latin typeface="+mn-ea"/>
              </a:rPr>
              <a:t>  ex) ABS</a:t>
            </a:r>
            <a:r>
              <a:rPr lang="ko-KR" altLang="en-US" sz="1400" dirty="0">
                <a:solidFill>
                  <a:schemeClr val="tx1">
                    <a:lumMod val="65000"/>
                    <a:lumOff val="35000"/>
                  </a:schemeClr>
                </a:solidFill>
                <a:latin typeface="+mn-ea"/>
              </a:rPr>
              <a:t>브레이크</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변속기</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의자높낮이 조절 등</a:t>
            </a:r>
            <a:endParaRPr lang="en-US" altLang="ko-KR" sz="1400" dirty="0">
              <a:solidFill>
                <a:schemeClr val="tx1">
                  <a:lumMod val="65000"/>
                  <a:lumOff val="35000"/>
                </a:schemeClr>
              </a:solidFill>
              <a:latin typeface="+mn-ea"/>
            </a:endParaRPr>
          </a:p>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권리해석</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청구범위</a:t>
            </a:r>
            <a:endParaRPr lang="en-US" altLang="ko-KR" sz="1400" dirty="0">
              <a:solidFill>
                <a:schemeClr val="tx1">
                  <a:lumMod val="65000"/>
                  <a:lumOff val="35000"/>
                </a:schemeClr>
              </a:solidFill>
              <a:latin typeface="+mn-ea"/>
            </a:endParaRPr>
          </a:p>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침해판단</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청구범위에 기재된 발명 실시 여부</a:t>
            </a:r>
            <a:endParaRPr lang="en-US" altLang="ko-KR" sz="1400" dirty="0">
              <a:solidFill>
                <a:schemeClr val="tx1">
                  <a:lumMod val="65000"/>
                  <a:lumOff val="35000"/>
                </a:schemeClr>
              </a:solidFill>
              <a:latin typeface="+mn-ea"/>
            </a:endParaRPr>
          </a:p>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보호기간</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등록된 후 출원일로부터 </a:t>
            </a:r>
            <a:r>
              <a:rPr lang="en-US" altLang="ko-KR" sz="1400" dirty="0">
                <a:solidFill>
                  <a:schemeClr val="tx1">
                    <a:lumMod val="65000"/>
                    <a:lumOff val="35000"/>
                  </a:schemeClr>
                </a:solidFill>
                <a:latin typeface="+mn-ea"/>
              </a:rPr>
              <a:t>20</a:t>
            </a:r>
            <a:r>
              <a:rPr lang="ko-KR" altLang="en-US" sz="1400" dirty="0">
                <a:solidFill>
                  <a:schemeClr val="tx1">
                    <a:lumMod val="65000"/>
                    <a:lumOff val="35000"/>
                  </a:schemeClr>
                </a:solidFill>
                <a:latin typeface="+mn-ea"/>
              </a:rPr>
              <a:t>년</a:t>
            </a:r>
            <a:r>
              <a:rPr lang="en-US" altLang="ko-KR" sz="1400" dirty="0">
                <a:solidFill>
                  <a:schemeClr val="tx1">
                    <a:lumMod val="65000"/>
                    <a:lumOff val="35000"/>
                  </a:schemeClr>
                </a:solidFill>
                <a:latin typeface="+mn-ea"/>
              </a:rPr>
              <a:t>(</a:t>
            </a:r>
            <a:r>
              <a:rPr lang="ko-KR" altLang="en-US" sz="1400" dirty="0">
                <a:solidFill>
                  <a:schemeClr val="tx1">
                    <a:lumMod val="65000"/>
                    <a:lumOff val="35000"/>
                  </a:schemeClr>
                </a:solidFill>
                <a:latin typeface="+mn-ea"/>
              </a:rPr>
              <a:t>특허</a:t>
            </a:r>
            <a:r>
              <a:rPr lang="en-US" altLang="ko-KR" sz="1400" dirty="0">
                <a:solidFill>
                  <a:schemeClr val="tx1">
                    <a:lumMod val="65000"/>
                    <a:lumOff val="35000"/>
                  </a:schemeClr>
                </a:solidFill>
                <a:latin typeface="+mn-ea"/>
              </a:rPr>
              <a:t>), 10</a:t>
            </a:r>
            <a:r>
              <a:rPr lang="ko-KR" altLang="en-US" sz="1400" dirty="0">
                <a:solidFill>
                  <a:schemeClr val="tx1">
                    <a:lumMod val="65000"/>
                    <a:lumOff val="35000"/>
                  </a:schemeClr>
                </a:solidFill>
                <a:latin typeface="+mn-ea"/>
              </a:rPr>
              <a:t>년</a:t>
            </a:r>
            <a:r>
              <a:rPr lang="en-US" altLang="ko-KR" sz="1400" dirty="0">
                <a:solidFill>
                  <a:schemeClr val="tx1">
                    <a:lumMod val="65000"/>
                    <a:lumOff val="35000"/>
                  </a:schemeClr>
                </a:solidFill>
                <a:latin typeface="+mn-ea"/>
              </a:rPr>
              <a:t>(</a:t>
            </a:r>
            <a:r>
              <a:rPr lang="ko-KR" altLang="en-US" sz="1400" dirty="0">
                <a:solidFill>
                  <a:schemeClr val="tx1">
                    <a:lumMod val="65000"/>
                    <a:lumOff val="35000"/>
                  </a:schemeClr>
                </a:solidFill>
                <a:latin typeface="+mn-ea"/>
              </a:rPr>
              <a:t>실용신안</a:t>
            </a:r>
            <a:r>
              <a:rPr lang="en-US" altLang="ko-KR" sz="1400" dirty="0">
                <a:solidFill>
                  <a:schemeClr val="tx1">
                    <a:lumMod val="65000"/>
                    <a:lumOff val="35000"/>
                  </a:schemeClr>
                </a:solidFill>
                <a:latin typeface="+mn-ea"/>
              </a:rPr>
              <a:t>)</a:t>
            </a:r>
            <a:endParaRPr lang="ko-KR" altLang="en-US" sz="1400" dirty="0">
              <a:solidFill>
                <a:schemeClr val="tx1">
                  <a:lumMod val="65000"/>
                  <a:lumOff val="35000"/>
                </a:schemeClr>
              </a:solidFill>
              <a:latin typeface="+mn-ea"/>
            </a:endParaRPr>
          </a:p>
        </p:txBody>
      </p:sp>
      <p:sp>
        <p:nvSpPr>
          <p:cNvPr id="37" name="TextBox 36"/>
          <p:cNvSpPr txBox="1"/>
          <p:nvPr/>
        </p:nvSpPr>
        <p:spPr>
          <a:xfrm>
            <a:off x="8400257" y="4068881"/>
            <a:ext cx="1675074" cy="307777"/>
          </a:xfrm>
          <a:prstGeom prst="rect">
            <a:avLst/>
          </a:prstGeom>
          <a:noFill/>
        </p:spPr>
        <p:txBody>
          <a:bodyPr wrap="none" rtlCol="0">
            <a:spAutoFit/>
          </a:bodyPr>
          <a:lstStyle/>
          <a:p>
            <a:r>
              <a:rPr lang="ko-KR" altLang="en-US" sz="1400" dirty="0">
                <a:solidFill>
                  <a:srgbClr val="C00000"/>
                </a:solidFill>
                <a:latin typeface="+mj-ea"/>
                <a:ea typeface="+mj-ea"/>
              </a:rPr>
              <a:t>저작권</a:t>
            </a:r>
            <a:r>
              <a:rPr lang="en-US" altLang="ko-KR" sz="1400" dirty="0">
                <a:solidFill>
                  <a:srgbClr val="C00000"/>
                </a:solidFill>
                <a:latin typeface="+mj-ea"/>
                <a:ea typeface="+mj-ea"/>
              </a:rPr>
              <a:t>(Copy Right)</a:t>
            </a:r>
            <a:endParaRPr lang="ko-KR" altLang="en-US" sz="1400" dirty="0">
              <a:solidFill>
                <a:srgbClr val="C00000"/>
              </a:solidFill>
              <a:latin typeface="+mj-ea"/>
              <a:ea typeface="+mj-ea"/>
            </a:endParaRPr>
          </a:p>
        </p:txBody>
      </p:sp>
      <p:sp>
        <p:nvSpPr>
          <p:cNvPr id="38" name="TextBox 37"/>
          <p:cNvSpPr txBox="1"/>
          <p:nvPr/>
        </p:nvSpPr>
        <p:spPr>
          <a:xfrm>
            <a:off x="8400256" y="4376658"/>
            <a:ext cx="3642664" cy="1323439"/>
          </a:xfrm>
          <a:prstGeom prst="rect">
            <a:avLst/>
          </a:prstGeom>
          <a:noFill/>
        </p:spPr>
        <p:txBody>
          <a:bodyPr wrap="none" rtlCol="0">
            <a:spAutoFit/>
          </a:bodyPr>
          <a:lstStyle/>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보호대상</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인간의 사상과 감정을 표현한 창작물</a:t>
            </a:r>
            <a:endParaRPr lang="en-US" altLang="ko-KR" sz="1400" dirty="0">
              <a:solidFill>
                <a:schemeClr val="tx1">
                  <a:lumMod val="65000"/>
                  <a:lumOff val="35000"/>
                </a:schemeClr>
              </a:solidFill>
              <a:latin typeface="+mn-ea"/>
            </a:endParaRPr>
          </a:p>
          <a:p>
            <a:pPr>
              <a:spcAft>
                <a:spcPts val="300"/>
              </a:spcAft>
            </a:pPr>
            <a:r>
              <a:rPr lang="en-US" altLang="ko-KR" sz="1400" dirty="0">
                <a:solidFill>
                  <a:schemeClr val="tx1">
                    <a:lumMod val="65000"/>
                    <a:lumOff val="35000"/>
                  </a:schemeClr>
                </a:solidFill>
                <a:latin typeface="+mn-ea"/>
              </a:rPr>
              <a:t>   ex) </a:t>
            </a:r>
            <a:r>
              <a:rPr lang="ko-KR" altLang="en-US" sz="1400" dirty="0">
                <a:solidFill>
                  <a:schemeClr val="tx1">
                    <a:lumMod val="65000"/>
                    <a:lumOff val="35000"/>
                  </a:schemeClr>
                </a:solidFill>
                <a:latin typeface="+mn-ea"/>
              </a:rPr>
              <a:t>디지털 </a:t>
            </a:r>
            <a:r>
              <a:rPr lang="ko-KR" altLang="en-US" sz="1400" dirty="0" err="1">
                <a:solidFill>
                  <a:schemeClr val="tx1">
                    <a:lumMod val="65000"/>
                    <a:lumOff val="35000"/>
                  </a:schemeClr>
                </a:solidFill>
                <a:latin typeface="+mn-ea"/>
              </a:rPr>
              <a:t>컨텐츠</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멜로디</a:t>
            </a:r>
            <a:endParaRPr lang="en-US" altLang="ko-KR" sz="1400" dirty="0">
              <a:solidFill>
                <a:schemeClr val="tx1">
                  <a:lumMod val="65000"/>
                  <a:lumOff val="35000"/>
                </a:schemeClr>
              </a:solidFill>
              <a:latin typeface="+mn-ea"/>
            </a:endParaRPr>
          </a:p>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권리해석</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저작물에 대한 표현</a:t>
            </a:r>
            <a:endParaRPr lang="en-US" altLang="ko-KR" sz="1400" dirty="0">
              <a:solidFill>
                <a:schemeClr val="tx1">
                  <a:lumMod val="65000"/>
                  <a:lumOff val="35000"/>
                </a:schemeClr>
              </a:solidFill>
              <a:latin typeface="+mn-ea"/>
            </a:endParaRPr>
          </a:p>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침해판단</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저작물의 카피</a:t>
            </a:r>
            <a:r>
              <a:rPr lang="en-US" altLang="ko-KR" sz="1400" dirty="0">
                <a:solidFill>
                  <a:schemeClr val="tx1">
                    <a:lumMod val="65000"/>
                    <a:lumOff val="35000"/>
                  </a:schemeClr>
                </a:solidFill>
                <a:latin typeface="+mn-ea"/>
              </a:rPr>
              <a:t>(Copy)</a:t>
            </a:r>
          </a:p>
          <a:p>
            <a:pPr marL="84138" indent="-84138">
              <a:spcAft>
                <a:spcPts val="300"/>
              </a:spcAft>
              <a:buFont typeface="Arial" panose="020B0604020202020204" pitchFamily="34" charset="0"/>
              <a:buChar char="•"/>
            </a:pPr>
            <a:r>
              <a:rPr lang="ko-KR" altLang="en-US" sz="1400" dirty="0">
                <a:solidFill>
                  <a:schemeClr val="tx1">
                    <a:lumMod val="65000"/>
                    <a:lumOff val="35000"/>
                  </a:schemeClr>
                </a:solidFill>
                <a:latin typeface="+mn-ea"/>
              </a:rPr>
              <a:t>보호기간</a:t>
            </a:r>
            <a:r>
              <a:rPr lang="en-US" altLang="ko-KR" sz="1400" dirty="0">
                <a:solidFill>
                  <a:schemeClr val="tx1">
                    <a:lumMod val="65000"/>
                    <a:lumOff val="35000"/>
                  </a:schemeClr>
                </a:solidFill>
                <a:latin typeface="+mn-ea"/>
              </a:rPr>
              <a:t>: </a:t>
            </a:r>
            <a:r>
              <a:rPr lang="ko-KR" altLang="en-US" sz="1400" dirty="0">
                <a:solidFill>
                  <a:schemeClr val="tx1">
                    <a:lumMod val="65000"/>
                    <a:lumOff val="35000"/>
                  </a:schemeClr>
                </a:solidFill>
                <a:latin typeface="+mn-ea"/>
              </a:rPr>
              <a:t>저작자 사후 </a:t>
            </a:r>
            <a:r>
              <a:rPr lang="en-US" altLang="ko-KR" sz="1400" dirty="0">
                <a:solidFill>
                  <a:schemeClr val="tx1">
                    <a:lumMod val="65000"/>
                    <a:lumOff val="35000"/>
                  </a:schemeClr>
                </a:solidFill>
                <a:latin typeface="+mn-ea"/>
              </a:rPr>
              <a:t>70</a:t>
            </a:r>
            <a:r>
              <a:rPr lang="ko-KR" altLang="en-US" sz="1400" dirty="0">
                <a:solidFill>
                  <a:schemeClr val="tx1">
                    <a:lumMod val="65000"/>
                    <a:lumOff val="35000"/>
                  </a:schemeClr>
                </a:solidFill>
                <a:latin typeface="+mn-ea"/>
              </a:rPr>
              <a:t>년</a:t>
            </a:r>
          </a:p>
        </p:txBody>
      </p:sp>
      <p:sp>
        <p:nvSpPr>
          <p:cNvPr id="39" name="자유형 38"/>
          <p:cNvSpPr/>
          <p:nvPr/>
        </p:nvSpPr>
        <p:spPr>
          <a:xfrm>
            <a:off x="7570177" y="1683170"/>
            <a:ext cx="4557656" cy="904775"/>
          </a:xfrm>
          <a:custGeom>
            <a:avLst/>
            <a:gdLst>
              <a:gd name="connsiteX0" fmla="*/ 0 w 3570973"/>
              <a:gd name="connsiteY0" fmla="*/ 904775 h 904775"/>
              <a:gd name="connsiteX1" fmla="*/ 404261 w 3570973"/>
              <a:gd name="connsiteY1" fmla="*/ 904775 h 904775"/>
              <a:gd name="connsiteX2" fmla="*/ 693019 w 3570973"/>
              <a:gd name="connsiteY2" fmla="*/ 0 h 904775"/>
              <a:gd name="connsiteX3" fmla="*/ 3570973 w 3570973"/>
              <a:gd name="connsiteY3" fmla="*/ 0 h 904775"/>
            </a:gdLst>
            <a:ahLst/>
            <a:cxnLst>
              <a:cxn ang="0">
                <a:pos x="connsiteX0" y="connsiteY0"/>
              </a:cxn>
              <a:cxn ang="0">
                <a:pos x="connsiteX1" y="connsiteY1"/>
              </a:cxn>
              <a:cxn ang="0">
                <a:pos x="connsiteX2" y="connsiteY2"/>
              </a:cxn>
              <a:cxn ang="0">
                <a:pos x="connsiteX3" y="connsiteY3"/>
              </a:cxn>
            </a:cxnLst>
            <a:rect l="l" t="t" r="r" b="b"/>
            <a:pathLst>
              <a:path w="3570973" h="904775">
                <a:moveTo>
                  <a:pt x="0" y="904775"/>
                </a:moveTo>
                <a:lnTo>
                  <a:pt x="404261" y="904775"/>
                </a:lnTo>
                <a:lnTo>
                  <a:pt x="693019" y="0"/>
                </a:lnTo>
                <a:lnTo>
                  <a:pt x="3570973" y="0"/>
                </a:lnTo>
              </a:path>
            </a:pathLst>
          </a:custGeom>
          <a:no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자유형 39"/>
          <p:cNvSpPr/>
          <p:nvPr/>
        </p:nvSpPr>
        <p:spPr>
          <a:xfrm>
            <a:off x="179674" y="1923802"/>
            <a:ext cx="4209448" cy="1001027"/>
          </a:xfrm>
          <a:custGeom>
            <a:avLst/>
            <a:gdLst>
              <a:gd name="connsiteX0" fmla="*/ 3253339 w 3253339"/>
              <a:gd name="connsiteY0" fmla="*/ 1001027 h 1001027"/>
              <a:gd name="connsiteX1" fmla="*/ 2954955 w 3253339"/>
              <a:gd name="connsiteY1" fmla="*/ 1001027 h 1001027"/>
              <a:gd name="connsiteX2" fmla="*/ 2954955 w 3253339"/>
              <a:gd name="connsiteY2" fmla="*/ 0 h 1001027"/>
              <a:gd name="connsiteX3" fmla="*/ 0 w 3253339"/>
              <a:gd name="connsiteY3" fmla="*/ 0 h 1001027"/>
            </a:gdLst>
            <a:ahLst/>
            <a:cxnLst>
              <a:cxn ang="0">
                <a:pos x="connsiteX0" y="connsiteY0"/>
              </a:cxn>
              <a:cxn ang="0">
                <a:pos x="connsiteX1" y="connsiteY1"/>
              </a:cxn>
              <a:cxn ang="0">
                <a:pos x="connsiteX2" y="connsiteY2"/>
              </a:cxn>
              <a:cxn ang="0">
                <a:pos x="connsiteX3" y="connsiteY3"/>
              </a:cxn>
            </a:cxnLst>
            <a:rect l="l" t="t" r="r" b="b"/>
            <a:pathLst>
              <a:path w="3253339" h="1001027">
                <a:moveTo>
                  <a:pt x="3253339" y="1001027"/>
                </a:moveTo>
                <a:lnTo>
                  <a:pt x="2954955" y="1001027"/>
                </a:lnTo>
                <a:lnTo>
                  <a:pt x="2954955" y="0"/>
                </a:lnTo>
                <a:lnTo>
                  <a:pt x="0" y="0"/>
                </a:lnTo>
              </a:path>
            </a:pathLst>
          </a:custGeom>
          <a:no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자유형 40"/>
          <p:cNvSpPr/>
          <p:nvPr/>
        </p:nvSpPr>
        <p:spPr>
          <a:xfrm>
            <a:off x="192507" y="4455245"/>
            <a:ext cx="4106932" cy="365760"/>
          </a:xfrm>
          <a:custGeom>
            <a:avLst/>
            <a:gdLst>
              <a:gd name="connsiteX0" fmla="*/ 3147461 w 3147461"/>
              <a:gd name="connsiteY0" fmla="*/ 0 h 365760"/>
              <a:gd name="connsiteX1" fmla="*/ 2820202 w 3147461"/>
              <a:gd name="connsiteY1" fmla="*/ 365760 h 365760"/>
              <a:gd name="connsiteX2" fmla="*/ 0 w 3147461"/>
              <a:gd name="connsiteY2" fmla="*/ 365760 h 365760"/>
            </a:gdLst>
            <a:ahLst/>
            <a:cxnLst>
              <a:cxn ang="0">
                <a:pos x="connsiteX0" y="connsiteY0"/>
              </a:cxn>
              <a:cxn ang="0">
                <a:pos x="connsiteX1" y="connsiteY1"/>
              </a:cxn>
              <a:cxn ang="0">
                <a:pos x="connsiteX2" y="connsiteY2"/>
              </a:cxn>
            </a:cxnLst>
            <a:rect l="l" t="t" r="r" b="b"/>
            <a:pathLst>
              <a:path w="3147461" h="365760">
                <a:moveTo>
                  <a:pt x="3147461" y="0"/>
                </a:moveTo>
                <a:lnTo>
                  <a:pt x="2820202" y="365760"/>
                </a:lnTo>
                <a:lnTo>
                  <a:pt x="0" y="365760"/>
                </a:lnTo>
              </a:path>
            </a:pathLst>
          </a:custGeom>
          <a:no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자유형 41"/>
          <p:cNvSpPr/>
          <p:nvPr/>
        </p:nvSpPr>
        <p:spPr>
          <a:xfrm>
            <a:off x="8085221" y="4118362"/>
            <a:ext cx="4042611" cy="250257"/>
          </a:xfrm>
          <a:custGeom>
            <a:avLst/>
            <a:gdLst>
              <a:gd name="connsiteX0" fmla="*/ 0 w 3031958"/>
              <a:gd name="connsiteY0" fmla="*/ 0 h 250257"/>
              <a:gd name="connsiteX1" fmla="*/ 250257 w 3031958"/>
              <a:gd name="connsiteY1" fmla="*/ 250257 h 250257"/>
              <a:gd name="connsiteX2" fmla="*/ 3031958 w 3031958"/>
              <a:gd name="connsiteY2" fmla="*/ 250257 h 250257"/>
            </a:gdLst>
            <a:ahLst/>
            <a:cxnLst>
              <a:cxn ang="0">
                <a:pos x="connsiteX0" y="connsiteY0"/>
              </a:cxn>
              <a:cxn ang="0">
                <a:pos x="connsiteX1" y="connsiteY1"/>
              </a:cxn>
              <a:cxn ang="0">
                <a:pos x="connsiteX2" y="connsiteY2"/>
              </a:cxn>
            </a:cxnLst>
            <a:rect l="l" t="t" r="r" b="b"/>
            <a:pathLst>
              <a:path w="3031958" h="250257">
                <a:moveTo>
                  <a:pt x="0" y="0"/>
                </a:moveTo>
                <a:lnTo>
                  <a:pt x="250257" y="250257"/>
                </a:lnTo>
                <a:lnTo>
                  <a:pt x="3031958" y="250257"/>
                </a:lnTo>
              </a:path>
            </a:pathLst>
          </a:custGeom>
          <a:no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제목 1"/>
          <p:cNvSpPr>
            <a:spLocks noGrp="1"/>
          </p:cNvSpPr>
          <p:nvPr>
            <p:ph type="title"/>
          </p:nvPr>
        </p:nvSpPr>
        <p:spPr/>
        <p:txBody>
          <a:bodyPr/>
          <a:lstStyle/>
          <a:p>
            <a:r>
              <a:rPr lang="ko-KR" altLang="en-US" dirty="0"/>
              <a:t>제</a:t>
            </a:r>
            <a:r>
              <a:rPr lang="en-US" altLang="ko-KR" dirty="0"/>
              <a:t>1</a:t>
            </a:r>
            <a:r>
              <a:rPr lang="ko-KR" altLang="en-US" dirty="0"/>
              <a:t>조</a:t>
            </a:r>
          </a:p>
        </p:txBody>
      </p:sp>
      <p:sp>
        <p:nvSpPr>
          <p:cNvPr id="3" name="텍스트 개체 틀 2"/>
          <p:cNvSpPr>
            <a:spLocks noGrp="1"/>
          </p:cNvSpPr>
          <p:nvPr>
            <p:ph type="body" sz="quarter" idx="13"/>
          </p:nvPr>
        </p:nvSpPr>
        <p:spPr/>
        <p:txBody>
          <a:bodyPr/>
          <a:lstStyle/>
          <a:p>
            <a:r>
              <a:rPr lang="ko-KR" altLang="en-US" dirty="0"/>
              <a:t>전통적인 분류에 의한 보호 예시</a:t>
            </a:r>
          </a:p>
        </p:txBody>
      </p:sp>
      <p:sp>
        <p:nvSpPr>
          <p:cNvPr id="4" name="슬라이드 번호 개체 틀 3"/>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4</a:t>
            </a:fld>
            <a:endParaRPr lang="ko-KR" altLang="en-US"/>
          </a:p>
        </p:txBody>
      </p:sp>
    </p:spTree>
    <p:extLst>
      <p:ext uri="{BB962C8B-B14F-4D97-AF65-F5344CB8AC3E}">
        <p14:creationId xmlns:p14="http://schemas.microsoft.com/office/powerpoint/2010/main" val="34337908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a:t>
            </a:r>
            <a:r>
              <a:rPr lang="ko-KR" altLang="en-US" dirty="0"/>
              <a:t>조</a:t>
            </a:r>
          </a:p>
        </p:txBody>
      </p:sp>
      <p:sp>
        <p:nvSpPr>
          <p:cNvPr id="3" name="텍스트 개체 틀 2"/>
          <p:cNvSpPr>
            <a:spLocks noGrp="1"/>
          </p:cNvSpPr>
          <p:nvPr>
            <p:ph type="body" sz="quarter" idx="13"/>
          </p:nvPr>
        </p:nvSpPr>
        <p:spPr/>
        <p:txBody>
          <a:bodyPr/>
          <a:lstStyle/>
          <a:p>
            <a:r>
              <a:rPr lang="ko-KR" altLang="en-US" dirty="0"/>
              <a:t>특허제도의 존립근거</a:t>
            </a:r>
          </a:p>
        </p:txBody>
      </p:sp>
      <p:sp>
        <p:nvSpPr>
          <p:cNvPr id="5" name="슬라이드 번호 개체 틀 4"/>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5</a:t>
            </a:fld>
            <a:endParaRPr lang="ko-KR" altLang="en-US"/>
          </a:p>
        </p:txBody>
      </p:sp>
      <p:grpSp>
        <p:nvGrpSpPr>
          <p:cNvPr id="18" name="그룹 17"/>
          <p:cNvGrpSpPr/>
          <p:nvPr/>
        </p:nvGrpSpPr>
        <p:grpSpPr>
          <a:xfrm>
            <a:off x="456507" y="1365496"/>
            <a:ext cx="5152986" cy="5199063"/>
            <a:chOff x="342379" y="980728"/>
            <a:chExt cx="5165725" cy="5199063"/>
          </a:xfrm>
        </p:grpSpPr>
        <p:sp>
          <p:nvSpPr>
            <p:cNvPr id="19" name="자유형 18"/>
            <p:cNvSpPr/>
            <p:nvPr/>
          </p:nvSpPr>
          <p:spPr>
            <a:xfrm>
              <a:off x="2215629" y="2869853"/>
              <a:ext cx="1420813" cy="1420813"/>
            </a:xfrm>
            <a:custGeom>
              <a:avLst/>
              <a:gdLst>
                <a:gd name="connsiteX0" fmla="*/ 0 w 1420731"/>
                <a:gd name="connsiteY0" fmla="*/ 710366 h 1420731"/>
                <a:gd name="connsiteX1" fmla="*/ 710366 w 1420731"/>
                <a:gd name="connsiteY1" fmla="*/ 0 h 1420731"/>
                <a:gd name="connsiteX2" fmla="*/ 1420732 w 1420731"/>
                <a:gd name="connsiteY2" fmla="*/ 710366 h 1420731"/>
                <a:gd name="connsiteX3" fmla="*/ 710366 w 1420731"/>
                <a:gd name="connsiteY3" fmla="*/ 1420732 h 1420731"/>
                <a:gd name="connsiteX4" fmla="*/ 0 w 1420731"/>
                <a:gd name="connsiteY4" fmla="*/ 710366 h 1420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31" h="1420731">
                  <a:moveTo>
                    <a:pt x="0" y="710366"/>
                  </a:moveTo>
                  <a:cubicBezTo>
                    <a:pt x="0" y="318042"/>
                    <a:pt x="318042" y="0"/>
                    <a:pt x="710366" y="0"/>
                  </a:cubicBezTo>
                  <a:cubicBezTo>
                    <a:pt x="1102690" y="0"/>
                    <a:pt x="1420732" y="318042"/>
                    <a:pt x="1420732" y="710366"/>
                  </a:cubicBezTo>
                  <a:cubicBezTo>
                    <a:pt x="1420732" y="1102690"/>
                    <a:pt x="1102690" y="1420732"/>
                    <a:pt x="710366" y="1420732"/>
                  </a:cubicBezTo>
                  <a:cubicBezTo>
                    <a:pt x="318042" y="1420732"/>
                    <a:pt x="0" y="1102690"/>
                    <a:pt x="0" y="710366"/>
                  </a:cubicBez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230921" tIns="230921" rIns="230921" bIns="230921" spcCol="1270" anchor="ctr"/>
            <a:lstStyle/>
            <a:p>
              <a:pPr algn="ctr" defTabSz="800100">
                <a:lnSpc>
                  <a:spcPct val="90000"/>
                </a:lnSpc>
                <a:spcAft>
                  <a:spcPct val="35000"/>
                </a:spcAft>
                <a:defRPr/>
              </a:pPr>
              <a:r>
                <a:rPr lang="en-US" altLang="ko-KR" sz="1800" dirty="0">
                  <a:solidFill>
                    <a:prstClr val="white"/>
                  </a:solidFill>
                </a:rPr>
                <a:t>PATENT</a:t>
              </a:r>
              <a:endParaRPr lang="ko-KR" altLang="en-US" sz="1800" dirty="0">
                <a:solidFill>
                  <a:prstClr val="white"/>
                </a:solidFill>
              </a:endParaRPr>
            </a:p>
          </p:txBody>
        </p:sp>
        <p:sp>
          <p:nvSpPr>
            <p:cNvPr id="20" name="자유형 19"/>
            <p:cNvSpPr/>
            <p:nvPr/>
          </p:nvSpPr>
          <p:spPr>
            <a:xfrm rot="16200000">
              <a:off x="2749029" y="2306291"/>
              <a:ext cx="352425" cy="482600"/>
            </a:xfrm>
            <a:custGeom>
              <a:avLst/>
              <a:gdLst>
                <a:gd name="connsiteX0" fmla="*/ 0 w 352365"/>
                <a:gd name="connsiteY0" fmla="*/ 241524 h 483048"/>
                <a:gd name="connsiteX1" fmla="*/ 176183 w 352365"/>
                <a:gd name="connsiteY1" fmla="*/ 0 h 483048"/>
                <a:gd name="connsiteX2" fmla="*/ 176183 w 352365"/>
                <a:gd name="connsiteY2" fmla="*/ 120762 h 483048"/>
                <a:gd name="connsiteX3" fmla="*/ 352365 w 352365"/>
                <a:gd name="connsiteY3" fmla="*/ 120762 h 483048"/>
                <a:gd name="connsiteX4" fmla="*/ 352365 w 352365"/>
                <a:gd name="connsiteY4" fmla="*/ 362286 h 483048"/>
                <a:gd name="connsiteX5" fmla="*/ 176183 w 352365"/>
                <a:gd name="connsiteY5" fmla="*/ 362286 h 483048"/>
                <a:gd name="connsiteX6" fmla="*/ 176183 w 352365"/>
                <a:gd name="connsiteY6" fmla="*/ 483048 h 483048"/>
                <a:gd name="connsiteX7" fmla="*/ 0 w 352365"/>
                <a:gd name="connsiteY7" fmla="*/ 241524 h 4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5" h="483048">
                  <a:moveTo>
                    <a:pt x="0" y="241524"/>
                  </a:moveTo>
                  <a:lnTo>
                    <a:pt x="176183" y="0"/>
                  </a:lnTo>
                  <a:lnTo>
                    <a:pt x="176183" y="120762"/>
                  </a:lnTo>
                  <a:lnTo>
                    <a:pt x="352365" y="120762"/>
                  </a:lnTo>
                  <a:lnTo>
                    <a:pt x="352365" y="362286"/>
                  </a:lnTo>
                  <a:lnTo>
                    <a:pt x="176183" y="362286"/>
                  </a:lnTo>
                  <a:lnTo>
                    <a:pt x="176183" y="483048"/>
                  </a:lnTo>
                  <a:lnTo>
                    <a:pt x="0" y="241524"/>
                  </a:lnTo>
                  <a:close/>
                </a:path>
              </a:pathLst>
            </a:custGeom>
          </p:spPr>
          <p:style>
            <a:lnRef idx="0">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lIns="-1" tIns="96610" rIns="105710" bIns="96609" spcCol="1270" anchor="ctr"/>
            <a:lstStyle/>
            <a:p>
              <a:pPr algn="ctr" defTabSz="622300">
                <a:lnSpc>
                  <a:spcPct val="90000"/>
                </a:lnSpc>
                <a:spcAft>
                  <a:spcPct val="35000"/>
                </a:spcAft>
                <a:defRPr/>
              </a:pPr>
              <a:endParaRPr lang="ko-KR" altLang="en-US" sz="1400" b="0" dirty="0">
                <a:solidFill>
                  <a:prstClr val="white"/>
                </a:solidFill>
              </a:endParaRPr>
            </a:p>
          </p:txBody>
        </p:sp>
        <p:sp>
          <p:nvSpPr>
            <p:cNvPr id="21" name="자유형 20"/>
            <p:cNvSpPr/>
            <p:nvPr/>
          </p:nvSpPr>
          <p:spPr>
            <a:xfrm>
              <a:off x="2329929" y="980728"/>
              <a:ext cx="1190625" cy="1223963"/>
            </a:xfrm>
            <a:custGeom>
              <a:avLst/>
              <a:gdLst>
                <a:gd name="connsiteX0" fmla="*/ 0 w 1190359"/>
                <a:gd name="connsiteY0" fmla="*/ 198397 h 1224130"/>
                <a:gd name="connsiteX1" fmla="*/ 198397 w 1190359"/>
                <a:gd name="connsiteY1" fmla="*/ 0 h 1224130"/>
                <a:gd name="connsiteX2" fmla="*/ 991962 w 1190359"/>
                <a:gd name="connsiteY2" fmla="*/ 0 h 1224130"/>
                <a:gd name="connsiteX3" fmla="*/ 1190359 w 1190359"/>
                <a:gd name="connsiteY3" fmla="*/ 198397 h 1224130"/>
                <a:gd name="connsiteX4" fmla="*/ 1190359 w 1190359"/>
                <a:gd name="connsiteY4" fmla="*/ 1025733 h 1224130"/>
                <a:gd name="connsiteX5" fmla="*/ 991962 w 1190359"/>
                <a:gd name="connsiteY5" fmla="*/ 1224130 h 1224130"/>
                <a:gd name="connsiteX6" fmla="*/ 198397 w 1190359"/>
                <a:gd name="connsiteY6" fmla="*/ 1224130 h 1224130"/>
                <a:gd name="connsiteX7" fmla="*/ 0 w 1190359"/>
                <a:gd name="connsiteY7" fmla="*/ 1025733 h 1224130"/>
                <a:gd name="connsiteX8" fmla="*/ 0 w 1190359"/>
                <a:gd name="connsiteY8" fmla="*/ 198397 h 122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359" h="1224130">
                  <a:moveTo>
                    <a:pt x="0" y="198397"/>
                  </a:moveTo>
                  <a:cubicBezTo>
                    <a:pt x="0" y="88825"/>
                    <a:pt x="88825" y="0"/>
                    <a:pt x="198397" y="0"/>
                  </a:cubicBezTo>
                  <a:lnTo>
                    <a:pt x="991962" y="0"/>
                  </a:lnTo>
                  <a:cubicBezTo>
                    <a:pt x="1101534" y="0"/>
                    <a:pt x="1190359" y="88825"/>
                    <a:pt x="1190359" y="198397"/>
                  </a:cubicBezTo>
                  <a:lnTo>
                    <a:pt x="1190359" y="1025733"/>
                  </a:lnTo>
                  <a:cubicBezTo>
                    <a:pt x="1190359" y="1135305"/>
                    <a:pt x="1101534" y="1224130"/>
                    <a:pt x="991962" y="1224130"/>
                  </a:cubicBezTo>
                  <a:lnTo>
                    <a:pt x="198397" y="1224130"/>
                  </a:lnTo>
                  <a:cubicBezTo>
                    <a:pt x="88825" y="1224130"/>
                    <a:pt x="0" y="1135305"/>
                    <a:pt x="0" y="1025733"/>
                  </a:cubicBezTo>
                  <a:lnTo>
                    <a:pt x="0" y="198397"/>
                  </a:lnTo>
                  <a:close/>
                </a:path>
              </a:pathLst>
            </a:custGeom>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lIns="78429" tIns="78429" rIns="78429" bIns="78429" spcCol="1270" anchor="ctr"/>
            <a:lstStyle/>
            <a:p>
              <a:pPr algn="ctr" defTabSz="711200">
                <a:lnSpc>
                  <a:spcPct val="90000"/>
                </a:lnSpc>
                <a:spcAft>
                  <a:spcPct val="35000"/>
                </a:spcAft>
                <a:defRPr/>
              </a:pPr>
              <a:r>
                <a:rPr lang="ko-KR" altLang="en-US" sz="1600" b="0" dirty="0">
                  <a:solidFill>
                    <a:prstClr val="white"/>
                  </a:solidFill>
                </a:rPr>
                <a:t>정부</a:t>
              </a:r>
              <a:endParaRPr lang="en-US" altLang="ko-KR" sz="1600" b="0" dirty="0">
                <a:solidFill>
                  <a:prstClr val="white"/>
                </a:solidFill>
              </a:endParaRPr>
            </a:p>
            <a:p>
              <a:pPr algn="ctr" defTabSz="711200">
                <a:lnSpc>
                  <a:spcPct val="90000"/>
                </a:lnSpc>
                <a:spcAft>
                  <a:spcPct val="35000"/>
                </a:spcAft>
                <a:defRPr/>
              </a:pPr>
              <a:r>
                <a:rPr lang="en-US" altLang="ko-KR" sz="1600" b="0" dirty="0">
                  <a:solidFill>
                    <a:prstClr val="white"/>
                  </a:solidFill>
                </a:rPr>
                <a:t>Political</a:t>
              </a:r>
              <a:endParaRPr lang="ko-KR" altLang="en-US" sz="1600" b="0" dirty="0">
                <a:solidFill>
                  <a:prstClr val="white"/>
                </a:solidFill>
              </a:endParaRPr>
            </a:p>
          </p:txBody>
        </p:sp>
        <p:sp>
          <p:nvSpPr>
            <p:cNvPr id="22" name="자유형 21"/>
            <p:cNvSpPr/>
            <p:nvPr/>
          </p:nvSpPr>
          <p:spPr>
            <a:xfrm>
              <a:off x="3785667" y="3338166"/>
              <a:ext cx="361950" cy="484187"/>
            </a:xfrm>
            <a:custGeom>
              <a:avLst/>
              <a:gdLst>
                <a:gd name="connsiteX0" fmla="*/ 0 w 361314"/>
                <a:gd name="connsiteY0" fmla="*/ 241524 h 483048"/>
                <a:gd name="connsiteX1" fmla="*/ 180657 w 361314"/>
                <a:gd name="connsiteY1" fmla="*/ 0 h 483048"/>
                <a:gd name="connsiteX2" fmla="*/ 180657 w 361314"/>
                <a:gd name="connsiteY2" fmla="*/ 120762 h 483048"/>
                <a:gd name="connsiteX3" fmla="*/ 361314 w 361314"/>
                <a:gd name="connsiteY3" fmla="*/ 120762 h 483048"/>
                <a:gd name="connsiteX4" fmla="*/ 361314 w 361314"/>
                <a:gd name="connsiteY4" fmla="*/ 362286 h 483048"/>
                <a:gd name="connsiteX5" fmla="*/ 180657 w 361314"/>
                <a:gd name="connsiteY5" fmla="*/ 362286 h 483048"/>
                <a:gd name="connsiteX6" fmla="*/ 180657 w 361314"/>
                <a:gd name="connsiteY6" fmla="*/ 483048 h 483048"/>
                <a:gd name="connsiteX7" fmla="*/ 0 w 361314"/>
                <a:gd name="connsiteY7" fmla="*/ 241524 h 4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314" h="483048">
                  <a:moveTo>
                    <a:pt x="0" y="241524"/>
                  </a:moveTo>
                  <a:lnTo>
                    <a:pt x="180657" y="0"/>
                  </a:lnTo>
                  <a:lnTo>
                    <a:pt x="180657" y="120762"/>
                  </a:lnTo>
                  <a:lnTo>
                    <a:pt x="361314" y="120762"/>
                  </a:lnTo>
                  <a:lnTo>
                    <a:pt x="361314" y="362286"/>
                  </a:lnTo>
                  <a:lnTo>
                    <a:pt x="180657" y="362286"/>
                  </a:lnTo>
                  <a:lnTo>
                    <a:pt x="180657" y="483048"/>
                  </a:lnTo>
                  <a:lnTo>
                    <a:pt x="0" y="241524"/>
                  </a:lnTo>
                  <a:close/>
                </a:path>
              </a:pathLst>
            </a:custGeom>
          </p:spPr>
          <p:style>
            <a:lnRef idx="0">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lIns="0" tIns="96610" rIns="108394" bIns="96610" spcCol="1270" anchor="ctr"/>
            <a:lstStyle/>
            <a:p>
              <a:pPr algn="ctr" defTabSz="622300">
                <a:lnSpc>
                  <a:spcPct val="90000"/>
                </a:lnSpc>
                <a:spcAft>
                  <a:spcPct val="35000"/>
                </a:spcAft>
                <a:defRPr/>
              </a:pPr>
              <a:endParaRPr lang="ko-KR" altLang="en-US" sz="1400" b="0" dirty="0">
                <a:solidFill>
                  <a:prstClr val="white"/>
                </a:solidFill>
              </a:endParaRPr>
            </a:p>
          </p:txBody>
        </p:sp>
        <p:sp>
          <p:nvSpPr>
            <p:cNvPr id="23" name="자유형 22"/>
            <p:cNvSpPr/>
            <p:nvPr/>
          </p:nvSpPr>
          <p:spPr>
            <a:xfrm>
              <a:off x="4317479" y="2968278"/>
              <a:ext cx="1190625" cy="1223963"/>
            </a:xfrm>
            <a:custGeom>
              <a:avLst/>
              <a:gdLst>
                <a:gd name="connsiteX0" fmla="*/ 0 w 1190359"/>
                <a:gd name="connsiteY0" fmla="*/ 198397 h 1224130"/>
                <a:gd name="connsiteX1" fmla="*/ 198397 w 1190359"/>
                <a:gd name="connsiteY1" fmla="*/ 0 h 1224130"/>
                <a:gd name="connsiteX2" fmla="*/ 991962 w 1190359"/>
                <a:gd name="connsiteY2" fmla="*/ 0 h 1224130"/>
                <a:gd name="connsiteX3" fmla="*/ 1190359 w 1190359"/>
                <a:gd name="connsiteY3" fmla="*/ 198397 h 1224130"/>
                <a:gd name="connsiteX4" fmla="*/ 1190359 w 1190359"/>
                <a:gd name="connsiteY4" fmla="*/ 1025733 h 1224130"/>
                <a:gd name="connsiteX5" fmla="*/ 991962 w 1190359"/>
                <a:gd name="connsiteY5" fmla="*/ 1224130 h 1224130"/>
                <a:gd name="connsiteX6" fmla="*/ 198397 w 1190359"/>
                <a:gd name="connsiteY6" fmla="*/ 1224130 h 1224130"/>
                <a:gd name="connsiteX7" fmla="*/ 0 w 1190359"/>
                <a:gd name="connsiteY7" fmla="*/ 1025733 h 1224130"/>
                <a:gd name="connsiteX8" fmla="*/ 0 w 1190359"/>
                <a:gd name="connsiteY8" fmla="*/ 198397 h 122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359" h="1224130">
                  <a:moveTo>
                    <a:pt x="0" y="198397"/>
                  </a:moveTo>
                  <a:cubicBezTo>
                    <a:pt x="0" y="88825"/>
                    <a:pt x="88825" y="0"/>
                    <a:pt x="198397" y="0"/>
                  </a:cubicBezTo>
                  <a:lnTo>
                    <a:pt x="991962" y="0"/>
                  </a:lnTo>
                  <a:cubicBezTo>
                    <a:pt x="1101534" y="0"/>
                    <a:pt x="1190359" y="88825"/>
                    <a:pt x="1190359" y="198397"/>
                  </a:cubicBezTo>
                  <a:lnTo>
                    <a:pt x="1190359" y="1025733"/>
                  </a:lnTo>
                  <a:cubicBezTo>
                    <a:pt x="1190359" y="1135305"/>
                    <a:pt x="1101534" y="1224130"/>
                    <a:pt x="991962" y="1224130"/>
                  </a:cubicBezTo>
                  <a:lnTo>
                    <a:pt x="198397" y="1224130"/>
                  </a:lnTo>
                  <a:cubicBezTo>
                    <a:pt x="88825" y="1224130"/>
                    <a:pt x="0" y="1135305"/>
                    <a:pt x="0" y="1025733"/>
                  </a:cubicBezTo>
                  <a:lnTo>
                    <a:pt x="0" y="198397"/>
                  </a:lnTo>
                  <a:close/>
                </a:path>
              </a:pathLst>
            </a:custGeom>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lIns="78429" tIns="78429" rIns="78429" bIns="78429" spcCol="1270" anchor="ctr"/>
            <a:lstStyle/>
            <a:p>
              <a:pPr algn="ctr" defTabSz="711200">
                <a:lnSpc>
                  <a:spcPct val="90000"/>
                </a:lnSpc>
                <a:spcAft>
                  <a:spcPct val="35000"/>
                </a:spcAft>
                <a:defRPr/>
              </a:pPr>
              <a:r>
                <a:rPr lang="ko-KR" altLang="en-US" sz="1600" b="0" dirty="0">
                  <a:solidFill>
                    <a:prstClr val="white"/>
                  </a:solidFill>
                </a:rPr>
                <a:t>경영자</a:t>
              </a:r>
              <a:endParaRPr lang="en-US" altLang="ko-KR" sz="1600" b="0" dirty="0">
                <a:solidFill>
                  <a:prstClr val="white"/>
                </a:solidFill>
              </a:endParaRPr>
            </a:p>
            <a:p>
              <a:pPr algn="ctr" defTabSz="711200">
                <a:lnSpc>
                  <a:spcPct val="90000"/>
                </a:lnSpc>
                <a:spcAft>
                  <a:spcPct val="35000"/>
                </a:spcAft>
                <a:defRPr/>
              </a:pPr>
              <a:r>
                <a:rPr lang="en-US" altLang="ko-KR" sz="1400" b="0" dirty="0">
                  <a:solidFill>
                    <a:prstClr val="white"/>
                  </a:solidFill>
                </a:rPr>
                <a:t>Economical</a:t>
              </a:r>
              <a:endParaRPr lang="ko-KR" altLang="en-US" sz="1400" b="0" dirty="0">
                <a:solidFill>
                  <a:prstClr val="white"/>
                </a:solidFill>
              </a:endParaRPr>
            </a:p>
          </p:txBody>
        </p:sp>
        <p:sp>
          <p:nvSpPr>
            <p:cNvPr id="24" name="자유형 23"/>
            <p:cNvSpPr/>
            <p:nvPr/>
          </p:nvSpPr>
          <p:spPr>
            <a:xfrm rot="5400000">
              <a:off x="2749029" y="4371629"/>
              <a:ext cx="352425" cy="482600"/>
            </a:xfrm>
            <a:custGeom>
              <a:avLst/>
              <a:gdLst>
                <a:gd name="connsiteX0" fmla="*/ 0 w 352365"/>
                <a:gd name="connsiteY0" fmla="*/ 241524 h 483048"/>
                <a:gd name="connsiteX1" fmla="*/ 176183 w 352365"/>
                <a:gd name="connsiteY1" fmla="*/ 0 h 483048"/>
                <a:gd name="connsiteX2" fmla="*/ 176183 w 352365"/>
                <a:gd name="connsiteY2" fmla="*/ 120762 h 483048"/>
                <a:gd name="connsiteX3" fmla="*/ 352365 w 352365"/>
                <a:gd name="connsiteY3" fmla="*/ 120762 h 483048"/>
                <a:gd name="connsiteX4" fmla="*/ 352365 w 352365"/>
                <a:gd name="connsiteY4" fmla="*/ 362286 h 483048"/>
                <a:gd name="connsiteX5" fmla="*/ 176183 w 352365"/>
                <a:gd name="connsiteY5" fmla="*/ 362286 h 483048"/>
                <a:gd name="connsiteX6" fmla="*/ 176183 w 352365"/>
                <a:gd name="connsiteY6" fmla="*/ 483048 h 483048"/>
                <a:gd name="connsiteX7" fmla="*/ 0 w 352365"/>
                <a:gd name="connsiteY7" fmla="*/ 241524 h 4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5" h="483048">
                  <a:moveTo>
                    <a:pt x="0" y="241524"/>
                  </a:moveTo>
                  <a:lnTo>
                    <a:pt x="176183" y="0"/>
                  </a:lnTo>
                  <a:lnTo>
                    <a:pt x="176183" y="120762"/>
                  </a:lnTo>
                  <a:lnTo>
                    <a:pt x="352365" y="120762"/>
                  </a:lnTo>
                  <a:lnTo>
                    <a:pt x="352365" y="362286"/>
                  </a:lnTo>
                  <a:lnTo>
                    <a:pt x="176183" y="362286"/>
                  </a:lnTo>
                  <a:lnTo>
                    <a:pt x="176183" y="483048"/>
                  </a:lnTo>
                  <a:lnTo>
                    <a:pt x="0" y="241524"/>
                  </a:lnTo>
                  <a:close/>
                </a:path>
              </a:pathLst>
            </a:custGeom>
          </p:spPr>
          <p:style>
            <a:lnRef idx="0">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lIns="0" tIns="96609" rIns="105709" bIns="96611" spcCol="1270" anchor="ctr"/>
            <a:lstStyle/>
            <a:p>
              <a:pPr algn="ctr" defTabSz="622300">
                <a:lnSpc>
                  <a:spcPct val="90000"/>
                </a:lnSpc>
                <a:spcAft>
                  <a:spcPct val="35000"/>
                </a:spcAft>
                <a:defRPr/>
              </a:pPr>
              <a:endParaRPr lang="ko-KR" altLang="en-US" sz="1400" b="0" dirty="0">
                <a:solidFill>
                  <a:prstClr val="white"/>
                </a:solidFill>
              </a:endParaRPr>
            </a:p>
          </p:txBody>
        </p:sp>
        <p:sp>
          <p:nvSpPr>
            <p:cNvPr id="25" name="자유형 24"/>
            <p:cNvSpPr/>
            <p:nvPr/>
          </p:nvSpPr>
          <p:spPr>
            <a:xfrm>
              <a:off x="2329929" y="4955828"/>
              <a:ext cx="1190625" cy="1223963"/>
            </a:xfrm>
            <a:custGeom>
              <a:avLst/>
              <a:gdLst>
                <a:gd name="connsiteX0" fmla="*/ 0 w 1190359"/>
                <a:gd name="connsiteY0" fmla="*/ 198397 h 1224130"/>
                <a:gd name="connsiteX1" fmla="*/ 198397 w 1190359"/>
                <a:gd name="connsiteY1" fmla="*/ 0 h 1224130"/>
                <a:gd name="connsiteX2" fmla="*/ 991962 w 1190359"/>
                <a:gd name="connsiteY2" fmla="*/ 0 h 1224130"/>
                <a:gd name="connsiteX3" fmla="*/ 1190359 w 1190359"/>
                <a:gd name="connsiteY3" fmla="*/ 198397 h 1224130"/>
                <a:gd name="connsiteX4" fmla="*/ 1190359 w 1190359"/>
                <a:gd name="connsiteY4" fmla="*/ 1025733 h 1224130"/>
                <a:gd name="connsiteX5" fmla="*/ 991962 w 1190359"/>
                <a:gd name="connsiteY5" fmla="*/ 1224130 h 1224130"/>
                <a:gd name="connsiteX6" fmla="*/ 198397 w 1190359"/>
                <a:gd name="connsiteY6" fmla="*/ 1224130 h 1224130"/>
                <a:gd name="connsiteX7" fmla="*/ 0 w 1190359"/>
                <a:gd name="connsiteY7" fmla="*/ 1025733 h 1224130"/>
                <a:gd name="connsiteX8" fmla="*/ 0 w 1190359"/>
                <a:gd name="connsiteY8" fmla="*/ 198397 h 122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359" h="1224130">
                  <a:moveTo>
                    <a:pt x="0" y="198397"/>
                  </a:moveTo>
                  <a:cubicBezTo>
                    <a:pt x="0" y="88825"/>
                    <a:pt x="88825" y="0"/>
                    <a:pt x="198397" y="0"/>
                  </a:cubicBezTo>
                  <a:lnTo>
                    <a:pt x="991962" y="0"/>
                  </a:lnTo>
                  <a:cubicBezTo>
                    <a:pt x="1101534" y="0"/>
                    <a:pt x="1190359" y="88825"/>
                    <a:pt x="1190359" y="198397"/>
                  </a:cubicBezTo>
                  <a:lnTo>
                    <a:pt x="1190359" y="1025733"/>
                  </a:lnTo>
                  <a:cubicBezTo>
                    <a:pt x="1190359" y="1135305"/>
                    <a:pt x="1101534" y="1224130"/>
                    <a:pt x="991962" y="1224130"/>
                  </a:cubicBezTo>
                  <a:lnTo>
                    <a:pt x="198397" y="1224130"/>
                  </a:lnTo>
                  <a:cubicBezTo>
                    <a:pt x="88825" y="1224130"/>
                    <a:pt x="0" y="1135305"/>
                    <a:pt x="0" y="1025733"/>
                  </a:cubicBezTo>
                  <a:lnTo>
                    <a:pt x="0" y="198397"/>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lIns="78429" tIns="78429" rIns="78429" bIns="78429" spcCol="1270" anchor="ctr"/>
            <a:lstStyle/>
            <a:p>
              <a:pPr algn="ctr" defTabSz="711200">
                <a:lnSpc>
                  <a:spcPct val="90000"/>
                </a:lnSpc>
                <a:spcAft>
                  <a:spcPct val="35000"/>
                </a:spcAft>
                <a:defRPr/>
              </a:pPr>
              <a:r>
                <a:rPr lang="ko-KR" altLang="en-US" sz="1600" b="0" dirty="0">
                  <a:solidFill>
                    <a:prstClr val="white"/>
                  </a:solidFill>
                </a:rPr>
                <a:t>국민</a:t>
              </a:r>
              <a:endParaRPr lang="en-US" altLang="ko-KR" sz="1600" b="0" dirty="0">
                <a:solidFill>
                  <a:prstClr val="white"/>
                </a:solidFill>
              </a:endParaRPr>
            </a:p>
            <a:p>
              <a:pPr algn="ctr" defTabSz="711200">
                <a:lnSpc>
                  <a:spcPct val="90000"/>
                </a:lnSpc>
                <a:spcAft>
                  <a:spcPct val="35000"/>
                </a:spcAft>
                <a:defRPr/>
              </a:pPr>
              <a:r>
                <a:rPr lang="en-US" altLang="ko-KR" sz="1600" b="0" dirty="0">
                  <a:solidFill>
                    <a:prstClr val="white"/>
                  </a:solidFill>
                </a:rPr>
                <a:t>Social</a:t>
              </a:r>
              <a:endParaRPr lang="ko-KR" altLang="en-US" sz="1600" b="0" dirty="0">
                <a:solidFill>
                  <a:prstClr val="white"/>
                </a:solidFill>
              </a:endParaRPr>
            </a:p>
          </p:txBody>
        </p:sp>
        <p:sp>
          <p:nvSpPr>
            <p:cNvPr id="26" name="자유형 25"/>
            <p:cNvSpPr/>
            <p:nvPr/>
          </p:nvSpPr>
          <p:spPr>
            <a:xfrm>
              <a:off x="1704454" y="3338166"/>
              <a:ext cx="360363" cy="484187"/>
            </a:xfrm>
            <a:custGeom>
              <a:avLst/>
              <a:gdLst>
                <a:gd name="connsiteX0" fmla="*/ 0 w 361314"/>
                <a:gd name="connsiteY0" fmla="*/ 241524 h 483048"/>
                <a:gd name="connsiteX1" fmla="*/ 180657 w 361314"/>
                <a:gd name="connsiteY1" fmla="*/ 0 h 483048"/>
                <a:gd name="connsiteX2" fmla="*/ 180657 w 361314"/>
                <a:gd name="connsiteY2" fmla="*/ 120762 h 483048"/>
                <a:gd name="connsiteX3" fmla="*/ 361314 w 361314"/>
                <a:gd name="connsiteY3" fmla="*/ 120762 h 483048"/>
                <a:gd name="connsiteX4" fmla="*/ 361314 w 361314"/>
                <a:gd name="connsiteY4" fmla="*/ 362286 h 483048"/>
                <a:gd name="connsiteX5" fmla="*/ 180657 w 361314"/>
                <a:gd name="connsiteY5" fmla="*/ 362286 h 483048"/>
                <a:gd name="connsiteX6" fmla="*/ 180657 w 361314"/>
                <a:gd name="connsiteY6" fmla="*/ 483048 h 483048"/>
                <a:gd name="connsiteX7" fmla="*/ 0 w 361314"/>
                <a:gd name="connsiteY7" fmla="*/ 241524 h 4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314" h="483048">
                  <a:moveTo>
                    <a:pt x="361314" y="241524"/>
                  </a:moveTo>
                  <a:lnTo>
                    <a:pt x="180657" y="483048"/>
                  </a:lnTo>
                  <a:lnTo>
                    <a:pt x="180657" y="362286"/>
                  </a:lnTo>
                  <a:lnTo>
                    <a:pt x="0" y="362286"/>
                  </a:lnTo>
                  <a:lnTo>
                    <a:pt x="0" y="120762"/>
                  </a:lnTo>
                  <a:lnTo>
                    <a:pt x="180657" y="120762"/>
                  </a:lnTo>
                  <a:lnTo>
                    <a:pt x="180657" y="0"/>
                  </a:lnTo>
                  <a:lnTo>
                    <a:pt x="361314" y="241524"/>
                  </a:lnTo>
                  <a:close/>
                </a:path>
              </a:pathLst>
            </a:custGeom>
          </p:spPr>
          <p:style>
            <a:lnRef idx="0">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lIns="108394" tIns="96611" rIns="1" bIns="96610" spcCol="1270" anchor="ctr"/>
            <a:lstStyle/>
            <a:p>
              <a:pPr algn="ctr" defTabSz="622300">
                <a:lnSpc>
                  <a:spcPct val="90000"/>
                </a:lnSpc>
                <a:spcAft>
                  <a:spcPct val="35000"/>
                </a:spcAft>
                <a:defRPr/>
              </a:pPr>
              <a:endParaRPr lang="ko-KR" altLang="en-US" sz="1400" b="0" dirty="0">
                <a:solidFill>
                  <a:prstClr val="white"/>
                </a:solidFill>
              </a:endParaRPr>
            </a:p>
          </p:txBody>
        </p:sp>
        <p:sp>
          <p:nvSpPr>
            <p:cNvPr id="27" name="자유형 26"/>
            <p:cNvSpPr/>
            <p:nvPr/>
          </p:nvSpPr>
          <p:spPr>
            <a:xfrm>
              <a:off x="342379" y="2968278"/>
              <a:ext cx="1190625" cy="1223963"/>
            </a:xfrm>
            <a:custGeom>
              <a:avLst/>
              <a:gdLst>
                <a:gd name="connsiteX0" fmla="*/ 0 w 1190359"/>
                <a:gd name="connsiteY0" fmla="*/ 198397 h 1224130"/>
                <a:gd name="connsiteX1" fmla="*/ 198397 w 1190359"/>
                <a:gd name="connsiteY1" fmla="*/ 0 h 1224130"/>
                <a:gd name="connsiteX2" fmla="*/ 991962 w 1190359"/>
                <a:gd name="connsiteY2" fmla="*/ 0 h 1224130"/>
                <a:gd name="connsiteX3" fmla="*/ 1190359 w 1190359"/>
                <a:gd name="connsiteY3" fmla="*/ 198397 h 1224130"/>
                <a:gd name="connsiteX4" fmla="*/ 1190359 w 1190359"/>
                <a:gd name="connsiteY4" fmla="*/ 1025733 h 1224130"/>
                <a:gd name="connsiteX5" fmla="*/ 991962 w 1190359"/>
                <a:gd name="connsiteY5" fmla="*/ 1224130 h 1224130"/>
                <a:gd name="connsiteX6" fmla="*/ 198397 w 1190359"/>
                <a:gd name="connsiteY6" fmla="*/ 1224130 h 1224130"/>
                <a:gd name="connsiteX7" fmla="*/ 0 w 1190359"/>
                <a:gd name="connsiteY7" fmla="*/ 1025733 h 1224130"/>
                <a:gd name="connsiteX8" fmla="*/ 0 w 1190359"/>
                <a:gd name="connsiteY8" fmla="*/ 198397 h 122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359" h="1224130">
                  <a:moveTo>
                    <a:pt x="0" y="198397"/>
                  </a:moveTo>
                  <a:cubicBezTo>
                    <a:pt x="0" y="88825"/>
                    <a:pt x="88825" y="0"/>
                    <a:pt x="198397" y="0"/>
                  </a:cubicBezTo>
                  <a:lnTo>
                    <a:pt x="991962" y="0"/>
                  </a:lnTo>
                  <a:cubicBezTo>
                    <a:pt x="1101534" y="0"/>
                    <a:pt x="1190359" y="88825"/>
                    <a:pt x="1190359" y="198397"/>
                  </a:cubicBezTo>
                  <a:lnTo>
                    <a:pt x="1190359" y="1025733"/>
                  </a:lnTo>
                  <a:cubicBezTo>
                    <a:pt x="1190359" y="1135305"/>
                    <a:pt x="1101534" y="1224130"/>
                    <a:pt x="991962" y="1224130"/>
                  </a:cubicBezTo>
                  <a:lnTo>
                    <a:pt x="198397" y="1224130"/>
                  </a:lnTo>
                  <a:cubicBezTo>
                    <a:pt x="88825" y="1224130"/>
                    <a:pt x="0" y="1135305"/>
                    <a:pt x="0" y="1025733"/>
                  </a:cubicBezTo>
                  <a:lnTo>
                    <a:pt x="0" y="198397"/>
                  </a:lnTo>
                  <a:close/>
                </a:path>
              </a:pathLst>
            </a:custGeom>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lIns="58109" tIns="78429" rIns="58109" bIns="78429" spcCol="1270" anchor="ctr"/>
            <a:lstStyle/>
            <a:p>
              <a:pPr algn="ctr" defTabSz="711200">
                <a:lnSpc>
                  <a:spcPct val="90000"/>
                </a:lnSpc>
                <a:spcAft>
                  <a:spcPct val="35000"/>
                </a:spcAft>
                <a:defRPr/>
              </a:pPr>
              <a:r>
                <a:rPr lang="ko-KR" altLang="en-US" sz="1600" b="0" dirty="0">
                  <a:solidFill>
                    <a:prstClr val="white"/>
                  </a:solidFill>
                </a:rPr>
                <a:t>발명자</a:t>
              </a:r>
              <a:endParaRPr lang="en-US" altLang="ko-KR" sz="1600" b="0" dirty="0">
                <a:solidFill>
                  <a:prstClr val="white"/>
                </a:solidFill>
              </a:endParaRPr>
            </a:p>
            <a:p>
              <a:pPr algn="ctr" defTabSz="711200">
                <a:lnSpc>
                  <a:spcPct val="90000"/>
                </a:lnSpc>
                <a:spcAft>
                  <a:spcPct val="35000"/>
                </a:spcAft>
                <a:defRPr/>
              </a:pPr>
              <a:r>
                <a:rPr lang="en-US" altLang="ko-KR" sz="1200" b="0" dirty="0">
                  <a:solidFill>
                    <a:prstClr val="white"/>
                  </a:solidFill>
                </a:rPr>
                <a:t>Technological</a:t>
              </a:r>
              <a:endParaRPr lang="ko-KR" altLang="en-US" sz="1200" b="0" dirty="0">
                <a:solidFill>
                  <a:prstClr val="white"/>
                </a:solidFill>
              </a:endParaRPr>
            </a:p>
          </p:txBody>
        </p:sp>
      </p:grpSp>
      <p:graphicFrame>
        <p:nvGraphicFramePr>
          <p:cNvPr id="29" name="표 28"/>
          <p:cNvGraphicFramePr>
            <a:graphicFrameLocks noGrp="1"/>
          </p:cNvGraphicFramePr>
          <p:nvPr>
            <p:extLst>
              <p:ext uri="{D42A27DB-BD31-4B8C-83A1-F6EECF244321}">
                <p14:modId xmlns:p14="http://schemas.microsoft.com/office/powerpoint/2010/main" val="3225409976"/>
              </p:ext>
            </p:extLst>
          </p:nvPr>
        </p:nvGraphicFramePr>
        <p:xfrm>
          <a:off x="4546809" y="4900406"/>
          <a:ext cx="6720747" cy="1483360"/>
        </p:xfrm>
        <a:graphic>
          <a:graphicData uri="http://schemas.openxmlformats.org/drawingml/2006/table">
            <a:tbl>
              <a:tblPr firstRow="1">
                <a:tableStyleId>{616DA210-FB5B-4158-B5E0-FEB733F419BA}</a:tableStyleId>
              </a:tblPr>
              <a:tblGrid>
                <a:gridCol w="1824203">
                  <a:extLst>
                    <a:ext uri="{9D8B030D-6E8A-4147-A177-3AD203B41FA5}">
                      <a16:colId xmlns:a16="http://schemas.microsoft.com/office/drawing/2014/main" val="20000"/>
                    </a:ext>
                  </a:extLst>
                </a:gridCol>
                <a:gridCol w="4896544">
                  <a:extLst>
                    <a:ext uri="{9D8B030D-6E8A-4147-A177-3AD203B41FA5}">
                      <a16:colId xmlns:a16="http://schemas.microsoft.com/office/drawing/2014/main" val="20001"/>
                    </a:ext>
                  </a:extLst>
                </a:gridCol>
              </a:tblGrid>
              <a:tr h="370840">
                <a:tc>
                  <a:txBody>
                    <a:bodyPr/>
                    <a:lstStyle/>
                    <a:p>
                      <a:pPr latinLnBrk="1"/>
                      <a:r>
                        <a:rPr lang="en-US" altLang="ko-KR" sz="1400" b="1" dirty="0">
                          <a:solidFill>
                            <a:schemeClr val="accent2"/>
                          </a:solidFill>
                          <a:latin typeface="+mn-ea"/>
                          <a:ea typeface="+mn-ea"/>
                        </a:rPr>
                        <a:t>Political</a:t>
                      </a:r>
                      <a:endParaRPr lang="ko-KR" altLang="en-US" sz="1400" b="1" dirty="0">
                        <a:solidFill>
                          <a:schemeClr val="accent2"/>
                        </a:solidFill>
                        <a:latin typeface="+mn-ea"/>
                        <a:ea typeface="+mn-ea"/>
                      </a:endParaRPr>
                    </a:p>
                  </a:txBody>
                  <a:tcPr marL="121920" marR="121920">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400" b="0" dirty="0">
                          <a:latin typeface="+mn-ea"/>
                          <a:ea typeface="+mn-ea"/>
                        </a:rPr>
                        <a:t>산업발전을 위한 토대</a:t>
                      </a:r>
                    </a:p>
                  </a:txBody>
                  <a:tcPr marL="121920" marR="121920">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370840">
                <a:tc>
                  <a:txBody>
                    <a:bodyPr/>
                    <a:lstStyle/>
                    <a:p>
                      <a:pPr latinLnBrk="1"/>
                      <a:r>
                        <a:rPr lang="en-US" altLang="ko-KR" sz="1400" b="1" dirty="0">
                          <a:solidFill>
                            <a:schemeClr val="accent3"/>
                          </a:solidFill>
                          <a:latin typeface="+mn-ea"/>
                          <a:ea typeface="+mn-ea"/>
                        </a:rPr>
                        <a:t>Economical</a:t>
                      </a:r>
                      <a:endParaRPr lang="ko-KR" altLang="en-US" sz="1400" b="1" dirty="0">
                        <a:solidFill>
                          <a:schemeClr val="accent3"/>
                        </a:solidFill>
                        <a:latin typeface="+mn-ea"/>
                        <a:ea typeface="+mn-ea"/>
                      </a:endParaRPr>
                    </a:p>
                  </a:txBody>
                  <a:tcPr marL="121920" marR="121920">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400" b="1" dirty="0">
                          <a:solidFill>
                            <a:srgbClr val="FF0000"/>
                          </a:solidFill>
                          <a:latin typeface="+mn-ea"/>
                          <a:ea typeface="+mn-ea"/>
                        </a:rPr>
                        <a:t>수익을 창출하기 위한 수단</a:t>
                      </a:r>
                      <a:r>
                        <a:rPr lang="en-US" altLang="ko-KR" sz="1400" b="1" dirty="0">
                          <a:solidFill>
                            <a:srgbClr val="FF0000"/>
                          </a:solidFill>
                          <a:latin typeface="+mn-ea"/>
                          <a:ea typeface="+mn-ea"/>
                        </a:rPr>
                        <a:t>(ROI)</a:t>
                      </a:r>
                      <a:endParaRPr lang="ko-KR" altLang="en-US" sz="1400" b="1" dirty="0">
                        <a:solidFill>
                          <a:srgbClr val="FF0000"/>
                        </a:solidFill>
                        <a:latin typeface="+mn-ea"/>
                        <a:ea typeface="+mn-ea"/>
                      </a:endParaRPr>
                    </a:p>
                  </a:txBody>
                  <a:tcPr marL="121920" marR="121920">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370840">
                <a:tc>
                  <a:txBody>
                    <a:bodyPr/>
                    <a:lstStyle/>
                    <a:p>
                      <a:pPr latinLnBrk="1"/>
                      <a:r>
                        <a:rPr lang="en-US" altLang="ko-KR" sz="1400" b="1" dirty="0">
                          <a:solidFill>
                            <a:schemeClr val="accent4"/>
                          </a:solidFill>
                          <a:latin typeface="+mn-ea"/>
                          <a:ea typeface="+mn-ea"/>
                        </a:rPr>
                        <a:t>Social</a:t>
                      </a:r>
                      <a:endParaRPr lang="ko-KR" altLang="en-US" sz="1400" b="1" dirty="0">
                        <a:solidFill>
                          <a:schemeClr val="accent4"/>
                        </a:solidFill>
                        <a:latin typeface="+mn-ea"/>
                        <a:ea typeface="+mn-ea"/>
                      </a:endParaRPr>
                    </a:p>
                  </a:txBody>
                  <a:tcPr marL="121920" marR="121920">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400" b="0" dirty="0">
                          <a:latin typeface="+mn-ea"/>
                          <a:ea typeface="+mn-ea"/>
                        </a:rPr>
                        <a:t>발명이라는 객체를 보호하는 권리</a:t>
                      </a:r>
                    </a:p>
                  </a:txBody>
                  <a:tcPr marL="121920" marR="121920">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70840">
                <a:tc>
                  <a:txBody>
                    <a:bodyPr/>
                    <a:lstStyle/>
                    <a:p>
                      <a:pPr latinLnBrk="1"/>
                      <a:r>
                        <a:rPr lang="en-US" altLang="ko-KR" sz="1400" b="1" dirty="0">
                          <a:solidFill>
                            <a:schemeClr val="accent5"/>
                          </a:solidFill>
                          <a:latin typeface="+mn-ea"/>
                          <a:ea typeface="+mn-ea"/>
                        </a:rPr>
                        <a:t>Technological</a:t>
                      </a:r>
                      <a:endParaRPr lang="ko-KR" altLang="en-US" sz="1400" b="1" dirty="0">
                        <a:solidFill>
                          <a:schemeClr val="accent5"/>
                        </a:solidFill>
                        <a:latin typeface="+mn-ea"/>
                        <a:ea typeface="+mn-ea"/>
                      </a:endParaRPr>
                    </a:p>
                  </a:txBody>
                  <a:tcPr marL="121920" marR="121920">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400" b="0" dirty="0">
                          <a:latin typeface="+mn-ea"/>
                          <a:ea typeface="+mn-ea"/>
                        </a:rPr>
                        <a:t>종래의 문제점을 개선한 것</a:t>
                      </a:r>
                    </a:p>
                  </a:txBody>
                  <a:tcPr marL="121920" marR="121920">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bl>
          </a:graphicData>
        </a:graphic>
      </p:graphicFrame>
      <p:sp>
        <p:nvSpPr>
          <p:cNvPr id="4" name="모서리가 둥근 사각형 설명선 3"/>
          <p:cNvSpPr/>
          <p:nvPr/>
        </p:nvSpPr>
        <p:spPr>
          <a:xfrm>
            <a:off x="8166962" y="3683255"/>
            <a:ext cx="2426677" cy="1022823"/>
          </a:xfrm>
          <a:prstGeom prst="wedgeRoundRectCallout">
            <a:avLst>
              <a:gd name="adj1" fmla="val -53152"/>
              <a:gd name="adj2" fmla="val 80552"/>
              <a:gd name="adj3" fmla="val 16667"/>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42900" indent="-342900">
              <a:buFont typeface="Wingdings" pitchFamily="2" charset="2"/>
              <a:buChar char="§"/>
            </a:pPr>
            <a:r>
              <a:rPr lang="ko-KR" altLang="en-US" sz="1400" dirty="0" err="1">
                <a:solidFill>
                  <a:schemeClr val="tx1"/>
                </a:solidFill>
              </a:rPr>
              <a:t>비밀공개설</a:t>
            </a:r>
            <a:endParaRPr lang="en-US" altLang="ko-KR" sz="1400" dirty="0">
              <a:solidFill>
                <a:schemeClr val="tx1"/>
              </a:solidFill>
            </a:endParaRPr>
          </a:p>
          <a:p>
            <a:pPr marL="342900" indent="-342900">
              <a:buFont typeface="Wingdings" pitchFamily="2" charset="2"/>
              <a:buChar char="§"/>
            </a:pPr>
            <a:r>
              <a:rPr lang="ko-KR" altLang="en-US" sz="1400" dirty="0" err="1">
                <a:solidFill>
                  <a:schemeClr val="tx1"/>
                </a:solidFill>
              </a:rPr>
              <a:t>발명장려설</a:t>
            </a:r>
            <a:endParaRPr lang="en-US" altLang="ko-KR" sz="1400" dirty="0">
              <a:solidFill>
                <a:schemeClr val="tx1"/>
              </a:solidFill>
            </a:endParaRPr>
          </a:p>
          <a:p>
            <a:pPr marL="342900" indent="-342900">
              <a:buFont typeface="Wingdings" pitchFamily="2" charset="2"/>
              <a:buChar char="§"/>
            </a:pPr>
            <a:r>
              <a:rPr lang="ko-KR" altLang="en-US" sz="1400" dirty="0" err="1">
                <a:solidFill>
                  <a:schemeClr val="tx1"/>
                </a:solidFill>
              </a:rPr>
              <a:t>과당경쟁방지설</a:t>
            </a:r>
            <a:endParaRPr lang="en-US" altLang="ko-KR" sz="1400" dirty="0">
              <a:solidFill>
                <a:schemeClr val="tx1"/>
              </a:solidFill>
            </a:endParaRPr>
          </a:p>
          <a:p>
            <a:pPr marL="342900" indent="-342900">
              <a:buFont typeface="Wingdings" pitchFamily="2" charset="2"/>
              <a:buChar char="§"/>
            </a:pPr>
            <a:r>
              <a:rPr lang="ko-KR" altLang="en-US" sz="1400" dirty="0" err="1">
                <a:solidFill>
                  <a:schemeClr val="tx1"/>
                </a:solidFill>
              </a:rPr>
              <a:t>국제교류설</a:t>
            </a:r>
            <a:endParaRPr lang="ko-KR" altLang="en-US" sz="1400" dirty="0">
              <a:solidFill>
                <a:schemeClr val="tx1"/>
              </a:solidFill>
            </a:endParaRPr>
          </a:p>
        </p:txBody>
      </p:sp>
      <p:grpSp>
        <p:nvGrpSpPr>
          <p:cNvPr id="43" name="그룹 42"/>
          <p:cNvGrpSpPr/>
          <p:nvPr/>
        </p:nvGrpSpPr>
        <p:grpSpPr>
          <a:xfrm>
            <a:off x="6272390" y="1187925"/>
            <a:ext cx="2181980" cy="2116152"/>
            <a:chOff x="683568" y="2132856"/>
            <a:chExt cx="2736304" cy="2736304"/>
          </a:xfrm>
        </p:grpSpPr>
        <p:sp>
          <p:nvSpPr>
            <p:cNvPr id="44" name="타원 43"/>
            <p:cNvSpPr/>
            <p:nvPr/>
          </p:nvSpPr>
          <p:spPr>
            <a:xfrm>
              <a:off x="683568" y="2132856"/>
              <a:ext cx="2736304" cy="2736304"/>
            </a:xfrm>
            <a:prstGeom prst="ellipse">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5" name="그룹 44"/>
            <p:cNvGrpSpPr/>
            <p:nvPr/>
          </p:nvGrpSpPr>
          <p:grpSpPr>
            <a:xfrm>
              <a:off x="1115616" y="2564904"/>
              <a:ext cx="1878470" cy="1800200"/>
              <a:chOff x="342379" y="980728"/>
              <a:chExt cx="5165725" cy="5199063"/>
            </a:xfrm>
          </p:grpSpPr>
          <p:sp>
            <p:nvSpPr>
              <p:cNvPr id="46" name="자유형 45"/>
              <p:cNvSpPr/>
              <p:nvPr/>
            </p:nvSpPr>
            <p:spPr>
              <a:xfrm>
                <a:off x="2215629" y="2869853"/>
                <a:ext cx="1420813" cy="1420813"/>
              </a:xfrm>
              <a:custGeom>
                <a:avLst/>
                <a:gdLst>
                  <a:gd name="connsiteX0" fmla="*/ 0 w 1420731"/>
                  <a:gd name="connsiteY0" fmla="*/ 710366 h 1420731"/>
                  <a:gd name="connsiteX1" fmla="*/ 710366 w 1420731"/>
                  <a:gd name="connsiteY1" fmla="*/ 0 h 1420731"/>
                  <a:gd name="connsiteX2" fmla="*/ 1420732 w 1420731"/>
                  <a:gd name="connsiteY2" fmla="*/ 710366 h 1420731"/>
                  <a:gd name="connsiteX3" fmla="*/ 710366 w 1420731"/>
                  <a:gd name="connsiteY3" fmla="*/ 1420732 h 1420731"/>
                  <a:gd name="connsiteX4" fmla="*/ 0 w 1420731"/>
                  <a:gd name="connsiteY4" fmla="*/ 710366 h 1420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31" h="1420731">
                    <a:moveTo>
                      <a:pt x="0" y="710366"/>
                    </a:moveTo>
                    <a:cubicBezTo>
                      <a:pt x="0" y="318042"/>
                      <a:pt x="318042" y="0"/>
                      <a:pt x="710366" y="0"/>
                    </a:cubicBezTo>
                    <a:cubicBezTo>
                      <a:pt x="1102690" y="0"/>
                      <a:pt x="1420732" y="318042"/>
                      <a:pt x="1420732" y="710366"/>
                    </a:cubicBezTo>
                    <a:cubicBezTo>
                      <a:pt x="1420732" y="1102690"/>
                      <a:pt x="1102690" y="1420732"/>
                      <a:pt x="710366" y="1420732"/>
                    </a:cubicBezTo>
                    <a:cubicBezTo>
                      <a:pt x="318042" y="1420732"/>
                      <a:pt x="0" y="1102690"/>
                      <a:pt x="0" y="710366"/>
                    </a:cubicBez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230921" tIns="230921" rIns="230921" bIns="230921" spcCol="1270" anchor="ctr"/>
              <a:lstStyle/>
              <a:p>
                <a:pPr algn="ctr" defTabSz="800100">
                  <a:lnSpc>
                    <a:spcPct val="90000"/>
                  </a:lnSpc>
                  <a:spcAft>
                    <a:spcPct val="35000"/>
                  </a:spcAft>
                  <a:defRPr/>
                </a:pPr>
                <a:endParaRPr lang="ko-KR" altLang="en-US" sz="900" dirty="0">
                  <a:solidFill>
                    <a:prstClr val="white"/>
                  </a:solidFill>
                </a:endParaRPr>
              </a:p>
            </p:txBody>
          </p:sp>
          <p:sp>
            <p:nvSpPr>
              <p:cNvPr id="47" name="자유형 46"/>
              <p:cNvSpPr/>
              <p:nvPr/>
            </p:nvSpPr>
            <p:spPr>
              <a:xfrm rot="16200000">
                <a:off x="2749029" y="2306291"/>
                <a:ext cx="352425" cy="482600"/>
              </a:xfrm>
              <a:custGeom>
                <a:avLst/>
                <a:gdLst>
                  <a:gd name="connsiteX0" fmla="*/ 0 w 352365"/>
                  <a:gd name="connsiteY0" fmla="*/ 241524 h 483048"/>
                  <a:gd name="connsiteX1" fmla="*/ 176183 w 352365"/>
                  <a:gd name="connsiteY1" fmla="*/ 0 h 483048"/>
                  <a:gd name="connsiteX2" fmla="*/ 176183 w 352365"/>
                  <a:gd name="connsiteY2" fmla="*/ 120762 h 483048"/>
                  <a:gd name="connsiteX3" fmla="*/ 352365 w 352365"/>
                  <a:gd name="connsiteY3" fmla="*/ 120762 h 483048"/>
                  <a:gd name="connsiteX4" fmla="*/ 352365 w 352365"/>
                  <a:gd name="connsiteY4" fmla="*/ 362286 h 483048"/>
                  <a:gd name="connsiteX5" fmla="*/ 176183 w 352365"/>
                  <a:gd name="connsiteY5" fmla="*/ 362286 h 483048"/>
                  <a:gd name="connsiteX6" fmla="*/ 176183 w 352365"/>
                  <a:gd name="connsiteY6" fmla="*/ 483048 h 483048"/>
                  <a:gd name="connsiteX7" fmla="*/ 0 w 352365"/>
                  <a:gd name="connsiteY7" fmla="*/ 241524 h 4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5" h="483048">
                    <a:moveTo>
                      <a:pt x="0" y="241524"/>
                    </a:moveTo>
                    <a:lnTo>
                      <a:pt x="176183" y="0"/>
                    </a:lnTo>
                    <a:lnTo>
                      <a:pt x="176183" y="120762"/>
                    </a:lnTo>
                    <a:lnTo>
                      <a:pt x="352365" y="120762"/>
                    </a:lnTo>
                    <a:lnTo>
                      <a:pt x="352365" y="362286"/>
                    </a:lnTo>
                    <a:lnTo>
                      <a:pt x="176183" y="362286"/>
                    </a:lnTo>
                    <a:lnTo>
                      <a:pt x="176183" y="483048"/>
                    </a:lnTo>
                    <a:lnTo>
                      <a:pt x="0" y="241524"/>
                    </a:lnTo>
                    <a:close/>
                  </a:path>
                </a:pathLst>
              </a:custGeom>
            </p:spPr>
            <p:style>
              <a:lnRef idx="0">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lIns="-1" tIns="96610" rIns="105710" bIns="96609" spcCol="1270" anchor="ctr"/>
              <a:lstStyle/>
              <a:p>
                <a:pPr algn="ctr" defTabSz="622300">
                  <a:lnSpc>
                    <a:spcPct val="90000"/>
                  </a:lnSpc>
                  <a:spcAft>
                    <a:spcPct val="35000"/>
                  </a:spcAft>
                  <a:defRPr/>
                </a:pPr>
                <a:endParaRPr lang="ko-KR" altLang="en-US" sz="700" b="0" dirty="0">
                  <a:solidFill>
                    <a:prstClr val="white"/>
                  </a:solidFill>
                </a:endParaRPr>
              </a:p>
            </p:txBody>
          </p:sp>
          <p:sp>
            <p:nvSpPr>
              <p:cNvPr id="48" name="자유형 47"/>
              <p:cNvSpPr/>
              <p:nvPr/>
            </p:nvSpPr>
            <p:spPr>
              <a:xfrm>
                <a:off x="2329929" y="980728"/>
                <a:ext cx="1190625" cy="1223963"/>
              </a:xfrm>
              <a:custGeom>
                <a:avLst/>
                <a:gdLst>
                  <a:gd name="connsiteX0" fmla="*/ 0 w 1190359"/>
                  <a:gd name="connsiteY0" fmla="*/ 198397 h 1224130"/>
                  <a:gd name="connsiteX1" fmla="*/ 198397 w 1190359"/>
                  <a:gd name="connsiteY1" fmla="*/ 0 h 1224130"/>
                  <a:gd name="connsiteX2" fmla="*/ 991962 w 1190359"/>
                  <a:gd name="connsiteY2" fmla="*/ 0 h 1224130"/>
                  <a:gd name="connsiteX3" fmla="*/ 1190359 w 1190359"/>
                  <a:gd name="connsiteY3" fmla="*/ 198397 h 1224130"/>
                  <a:gd name="connsiteX4" fmla="*/ 1190359 w 1190359"/>
                  <a:gd name="connsiteY4" fmla="*/ 1025733 h 1224130"/>
                  <a:gd name="connsiteX5" fmla="*/ 991962 w 1190359"/>
                  <a:gd name="connsiteY5" fmla="*/ 1224130 h 1224130"/>
                  <a:gd name="connsiteX6" fmla="*/ 198397 w 1190359"/>
                  <a:gd name="connsiteY6" fmla="*/ 1224130 h 1224130"/>
                  <a:gd name="connsiteX7" fmla="*/ 0 w 1190359"/>
                  <a:gd name="connsiteY7" fmla="*/ 1025733 h 1224130"/>
                  <a:gd name="connsiteX8" fmla="*/ 0 w 1190359"/>
                  <a:gd name="connsiteY8" fmla="*/ 198397 h 122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359" h="1224130">
                    <a:moveTo>
                      <a:pt x="0" y="198397"/>
                    </a:moveTo>
                    <a:cubicBezTo>
                      <a:pt x="0" y="88825"/>
                      <a:pt x="88825" y="0"/>
                      <a:pt x="198397" y="0"/>
                    </a:cubicBezTo>
                    <a:lnTo>
                      <a:pt x="991962" y="0"/>
                    </a:lnTo>
                    <a:cubicBezTo>
                      <a:pt x="1101534" y="0"/>
                      <a:pt x="1190359" y="88825"/>
                      <a:pt x="1190359" y="198397"/>
                    </a:cubicBezTo>
                    <a:lnTo>
                      <a:pt x="1190359" y="1025733"/>
                    </a:lnTo>
                    <a:cubicBezTo>
                      <a:pt x="1190359" y="1135305"/>
                      <a:pt x="1101534" y="1224130"/>
                      <a:pt x="991962" y="1224130"/>
                    </a:cubicBezTo>
                    <a:lnTo>
                      <a:pt x="198397" y="1224130"/>
                    </a:lnTo>
                    <a:cubicBezTo>
                      <a:pt x="88825" y="1224130"/>
                      <a:pt x="0" y="1135305"/>
                      <a:pt x="0" y="1025733"/>
                    </a:cubicBezTo>
                    <a:lnTo>
                      <a:pt x="0" y="198397"/>
                    </a:lnTo>
                    <a:close/>
                  </a:path>
                </a:pathLst>
              </a:custGeom>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lIns="78429" tIns="78429" rIns="78429" bIns="78429" spcCol="1270" anchor="ctr"/>
              <a:lstStyle/>
              <a:p>
                <a:pPr algn="ctr" defTabSz="711200">
                  <a:lnSpc>
                    <a:spcPct val="90000"/>
                  </a:lnSpc>
                  <a:spcAft>
                    <a:spcPct val="35000"/>
                  </a:spcAft>
                  <a:defRPr/>
                </a:pPr>
                <a:endParaRPr lang="ko-KR" altLang="en-US" sz="800" b="0" dirty="0">
                  <a:solidFill>
                    <a:prstClr val="white"/>
                  </a:solidFill>
                </a:endParaRPr>
              </a:p>
            </p:txBody>
          </p:sp>
          <p:sp>
            <p:nvSpPr>
              <p:cNvPr id="49" name="자유형 48"/>
              <p:cNvSpPr/>
              <p:nvPr/>
            </p:nvSpPr>
            <p:spPr>
              <a:xfrm>
                <a:off x="3785667" y="3338166"/>
                <a:ext cx="361950" cy="484187"/>
              </a:xfrm>
              <a:custGeom>
                <a:avLst/>
                <a:gdLst>
                  <a:gd name="connsiteX0" fmla="*/ 0 w 361314"/>
                  <a:gd name="connsiteY0" fmla="*/ 241524 h 483048"/>
                  <a:gd name="connsiteX1" fmla="*/ 180657 w 361314"/>
                  <a:gd name="connsiteY1" fmla="*/ 0 h 483048"/>
                  <a:gd name="connsiteX2" fmla="*/ 180657 w 361314"/>
                  <a:gd name="connsiteY2" fmla="*/ 120762 h 483048"/>
                  <a:gd name="connsiteX3" fmla="*/ 361314 w 361314"/>
                  <a:gd name="connsiteY3" fmla="*/ 120762 h 483048"/>
                  <a:gd name="connsiteX4" fmla="*/ 361314 w 361314"/>
                  <a:gd name="connsiteY4" fmla="*/ 362286 h 483048"/>
                  <a:gd name="connsiteX5" fmla="*/ 180657 w 361314"/>
                  <a:gd name="connsiteY5" fmla="*/ 362286 h 483048"/>
                  <a:gd name="connsiteX6" fmla="*/ 180657 w 361314"/>
                  <a:gd name="connsiteY6" fmla="*/ 483048 h 483048"/>
                  <a:gd name="connsiteX7" fmla="*/ 0 w 361314"/>
                  <a:gd name="connsiteY7" fmla="*/ 241524 h 4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314" h="483048">
                    <a:moveTo>
                      <a:pt x="0" y="241524"/>
                    </a:moveTo>
                    <a:lnTo>
                      <a:pt x="180657" y="0"/>
                    </a:lnTo>
                    <a:lnTo>
                      <a:pt x="180657" y="120762"/>
                    </a:lnTo>
                    <a:lnTo>
                      <a:pt x="361314" y="120762"/>
                    </a:lnTo>
                    <a:lnTo>
                      <a:pt x="361314" y="362286"/>
                    </a:lnTo>
                    <a:lnTo>
                      <a:pt x="180657" y="362286"/>
                    </a:lnTo>
                    <a:lnTo>
                      <a:pt x="180657" y="483048"/>
                    </a:lnTo>
                    <a:lnTo>
                      <a:pt x="0" y="241524"/>
                    </a:lnTo>
                    <a:close/>
                  </a:path>
                </a:pathLst>
              </a:custGeom>
            </p:spPr>
            <p:style>
              <a:lnRef idx="0">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lIns="0" tIns="96610" rIns="108394" bIns="96610" spcCol="1270" anchor="ctr"/>
              <a:lstStyle/>
              <a:p>
                <a:pPr algn="ctr" defTabSz="622300">
                  <a:lnSpc>
                    <a:spcPct val="90000"/>
                  </a:lnSpc>
                  <a:spcAft>
                    <a:spcPct val="35000"/>
                  </a:spcAft>
                  <a:defRPr/>
                </a:pPr>
                <a:endParaRPr lang="ko-KR" altLang="en-US" sz="700" b="0" dirty="0">
                  <a:solidFill>
                    <a:prstClr val="white"/>
                  </a:solidFill>
                </a:endParaRPr>
              </a:p>
            </p:txBody>
          </p:sp>
          <p:sp>
            <p:nvSpPr>
              <p:cNvPr id="50" name="자유형 49"/>
              <p:cNvSpPr/>
              <p:nvPr/>
            </p:nvSpPr>
            <p:spPr>
              <a:xfrm>
                <a:off x="4317479" y="2968278"/>
                <a:ext cx="1190625" cy="1223963"/>
              </a:xfrm>
              <a:custGeom>
                <a:avLst/>
                <a:gdLst>
                  <a:gd name="connsiteX0" fmla="*/ 0 w 1190359"/>
                  <a:gd name="connsiteY0" fmla="*/ 198397 h 1224130"/>
                  <a:gd name="connsiteX1" fmla="*/ 198397 w 1190359"/>
                  <a:gd name="connsiteY1" fmla="*/ 0 h 1224130"/>
                  <a:gd name="connsiteX2" fmla="*/ 991962 w 1190359"/>
                  <a:gd name="connsiteY2" fmla="*/ 0 h 1224130"/>
                  <a:gd name="connsiteX3" fmla="*/ 1190359 w 1190359"/>
                  <a:gd name="connsiteY3" fmla="*/ 198397 h 1224130"/>
                  <a:gd name="connsiteX4" fmla="*/ 1190359 w 1190359"/>
                  <a:gd name="connsiteY4" fmla="*/ 1025733 h 1224130"/>
                  <a:gd name="connsiteX5" fmla="*/ 991962 w 1190359"/>
                  <a:gd name="connsiteY5" fmla="*/ 1224130 h 1224130"/>
                  <a:gd name="connsiteX6" fmla="*/ 198397 w 1190359"/>
                  <a:gd name="connsiteY6" fmla="*/ 1224130 h 1224130"/>
                  <a:gd name="connsiteX7" fmla="*/ 0 w 1190359"/>
                  <a:gd name="connsiteY7" fmla="*/ 1025733 h 1224130"/>
                  <a:gd name="connsiteX8" fmla="*/ 0 w 1190359"/>
                  <a:gd name="connsiteY8" fmla="*/ 198397 h 122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359" h="1224130">
                    <a:moveTo>
                      <a:pt x="0" y="198397"/>
                    </a:moveTo>
                    <a:cubicBezTo>
                      <a:pt x="0" y="88825"/>
                      <a:pt x="88825" y="0"/>
                      <a:pt x="198397" y="0"/>
                    </a:cubicBezTo>
                    <a:lnTo>
                      <a:pt x="991962" y="0"/>
                    </a:lnTo>
                    <a:cubicBezTo>
                      <a:pt x="1101534" y="0"/>
                      <a:pt x="1190359" y="88825"/>
                      <a:pt x="1190359" y="198397"/>
                    </a:cubicBezTo>
                    <a:lnTo>
                      <a:pt x="1190359" y="1025733"/>
                    </a:lnTo>
                    <a:cubicBezTo>
                      <a:pt x="1190359" y="1135305"/>
                      <a:pt x="1101534" y="1224130"/>
                      <a:pt x="991962" y="1224130"/>
                    </a:cubicBezTo>
                    <a:lnTo>
                      <a:pt x="198397" y="1224130"/>
                    </a:lnTo>
                    <a:cubicBezTo>
                      <a:pt x="88825" y="1224130"/>
                      <a:pt x="0" y="1135305"/>
                      <a:pt x="0" y="1025733"/>
                    </a:cubicBezTo>
                    <a:lnTo>
                      <a:pt x="0" y="198397"/>
                    </a:lnTo>
                    <a:close/>
                  </a:path>
                </a:pathLst>
              </a:custGeom>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lIns="78429" tIns="78429" rIns="78429" bIns="78429" spcCol="1270" anchor="ctr"/>
              <a:lstStyle/>
              <a:p>
                <a:pPr algn="ctr" defTabSz="711200">
                  <a:lnSpc>
                    <a:spcPct val="90000"/>
                  </a:lnSpc>
                  <a:spcAft>
                    <a:spcPct val="35000"/>
                  </a:spcAft>
                  <a:defRPr/>
                </a:pPr>
                <a:endParaRPr lang="ko-KR" altLang="en-US" sz="700" b="0" dirty="0">
                  <a:solidFill>
                    <a:prstClr val="white"/>
                  </a:solidFill>
                </a:endParaRPr>
              </a:p>
            </p:txBody>
          </p:sp>
          <p:sp>
            <p:nvSpPr>
              <p:cNvPr id="51" name="자유형 50"/>
              <p:cNvSpPr/>
              <p:nvPr/>
            </p:nvSpPr>
            <p:spPr>
              <a:xfrm rot="5400000">
                <a:off x="2749029" y="4371629"/>
                <a:ext cx="352425" cy="482600"/>
              </a:xfrm>
              <a:custGeom>
                <a:avLst/>
                <a:gdLst>
                  <a:gd name="connsiteX0" fmla="*/ 0 w 352365"/>
                  <a:gd name="connsiteY0" fmla="*/ 241524 h 483048"/>
                  <a:gd name="connsiteX1" fmla="*/ 176183 w 352365"/>
                  <a:gd name="connsiteY1" fmla="*/ 0 h 483048"/>
                  <a:gd name="connsiteX2" fmla="*/ 176183 w 352365"/>
                  <a:gd name="connsiteY2" fmla="*/ 120762 h 483048"/>
                  <a:gd name="connsiteX3" fmla="*/ 352365 w 352365"/>
                  <a:gd name="connsiteY3" fmla="*/ 120762 h 483048"/>
                  <a:gd name="connsiteX4" fmla="*/ 352365 w 352365"/>
                  <a:gd name="connsiteY4" fmla="*/ 362286 h 483048"/>
                  <a:gd name="connsiteX5" fmla="*/ 176183 w 352365"/>
                  <a:gd name="connsiteY5" fmla="*/ 362286 h 483048"/>
                  <a:gd name="connsiteX6" fmla="*/ 176183 w 352365"/>
                  <a:gd name="connsiteY6" fmla="*/ 483048 h 483048"/>
                  <a:gd name="connsiteX7" fmla="*/ 0 w 352365"/>
                  <a:gd name="connsiteY7" fmla="*/ 241524 h 4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5" h="483048">
                    <a:moveTo>
                      <a:pt x="0" y="241524"/>
                    </a:moveTo>
                    <a:lnTo>
                      <a:pt x="176183" y="0"/>
                    </a:lnTo>
                    <a:lnTo>
                      <a:pt x="176183" y="120762"/>
                    </a:lnTo>
                    <a:lnTo>
                      <a:pt x="352365" y="120762"/>
                    </a:lnTo>
                    <a:lnTo>
                      <a:pt x="352365" y="362286"/>
                    </a:lnTo>
                    <a:lnTo>
                      <a:pt x="176183" y="362286"/>
                    </a:lnTo>
                    <a:lnTo>
                      <a:pt x="176183" y="483048"/>
                    </a:lnTo>
                    <a:lnTo>
                      <a:pt x="0" y="241524"/>
                    </a:lnTo>
                    <a:close/>
                  </a:path>
                </a:pathLst>
              </a:custGeom>
            </p:spPr>
            <p:style>
              <a:lnRef idx="0">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lIns="0" tIns="96609" rIns="105709" bIns="96611" spcCol="1270" anchor="ctr"/>
              <a:lstStyle/>
              <a:p>
                <a:pPr algn="ctr" defTabSz="622300">
                  <a:lnSpc>
                    <a:spcPct val="90000"/>
                  </a:lnSpc>
                  <a:spcAft>
                    <a:spcPct val="35000"/>
                  </a:spcAft>
                  <a:defRPr/>
                </a:pPr>
                <a:endParaRPr lang="ko-KR" altLang="en-US" sz="700" b="0" dirty="0">
                  <a:solidFill>
                    <a:prstClr val="white"/>
                  </a:solidFill>
                </a:endParaRPr>
              </a:p>
            </p:txBody>
          </p:sp>
          <p:sp>
            <p:nvSpPr>
              <p:cNvPr id="52" name="자유형 51"/>
              <p:cNvSpPr/>
              <p:nvPr/>
            </p:nvSpPr>
            <p:spPr>
              <a:xfrm>
                <a:off x="2329929" y="4955828"/>
                <a:ext cx="1190625" cy="1223963"/>
              </a:xfrm>
              <a:custGeom>
                <a:avLst/>
                <a:gdLst>
                  <a:gd name="connsiteX0" fmla="*/ 0 w 1190359"/>
                  <a:gd name="connsiteY0" fmla="*/ 198397 h 1224130"/>
                  <a:gd name="connsiteX1" fmla="*/ 198397 w 1190359"/>
                  <a:gd name="connsiteY1" fmla="*/ 0 h 1224130"/>
                  <a:gd name="connsiteX2" fmla="*/ 991962 w 1190359"/>
                  <a:gd name="connsiteY2" fmla="*/ 0 h 1224130"/>
                  <a:gd name="connsiteX3" fmla="*/ 1190359 w 1190359"/>
                  <a:gd name="connsiteY3" fmla="*/ 198397 h 1224130"/>
                  <a:gd name="connsiteX4" fmla="*/ 1190359 w 1190359"/>
                  <a:gd name="connsiteY4" fmla="*/ 1025733 h 1224130"/>
                  <a:gd name="connsiteX5" fmla="*/ 991962 w 1190359"/>
                  <a:gd name="connsiteY5" fmla="*/ 1224130 h 1224130"/>
                  <a:gd name="connsiteX6" fmla="*/ 198397 w 1190359"/>
                  <a:gd name="connsiteY6" fmla="*/ 1224130 h 1224130"/>
                  <a:gd name="connsiteX7" fmla="*/ 0 w 1190359"/>
                  <a:gd name="connsiteY7" fmla="*/ 1025733 h 1224130"/>
                  <a:gd name="connsiteX8" fmla="*/ 0 w 1190359"/>
                  <a:gd name="connsiteY8" fmla="*/ 198397 h 122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359" h="1224130">
                    <a:moveTo>
                      <a:pt x="0" y="198397"/>
                    </a:moveTo>
                    <a:cubicBezTo>
                      <a:pt x="0" y="88825"/>
                      <a:pt x="88825" y="0"/>
                      <a:pt x="198397" y="0"/>
                    </a:cubicBezTo>
                    <a:lnTo>
                      <a:pt x="991962" y="0"/>
                    </a:lnTo>
                    <a:cubicBezTo>
                      <a:pt x="1101534" y="0"/>
                      <a:pt x="1190359" y="88825"/>
                      <a:pt x="1190359" y="198397"/>
                    </a:cubicBezTo>
                    <a:lnTo>
                      <a:pt x="1190359" y="1025733"/>
                    </a:lnTo>
                    <a:cubicBezTo>
                      <a:pt x="1190359" y="1135305"/>
                      <a:pt x="1101534" y="1224130"/>
                      <a:pt x="991962" y="1224130"/>
                    </a:cubicBezTo>
                    <a:lnTo>
                      <a:pt x="198397" y="1224130"/>
                    </a:lnTo>
                    <a:cubicBezTo>
                      <a:pt x="88825" y="1224130"/>
                      <a:pt x="0" y="1135305"/>
                      <a:pt x="0" y="1025733"/>
                    </a:cubicBezTo>
                    <a:lnTo>
                      <a:pt x="0" y="198397"/>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lIns="78429" tIns="78429" rIns="78429" bIns="78429" spcCol="1270" anchor="ctr"/>
              <a:lstStyle/>
              <a:p>
                <a:pPr algn="ctr" defTabSz="711200">
                  <a:lnSpc>
                    <a:spcPct val="90000"/>
                  </a:lnSpc>
                  <a:spcAft>
                    <a:spcPct val="35000"/>
                  </a:spcAft>
                  <a:defRPr/>
                </a:pPr>
                <a:endParaRPr lang="ko-KR" altLang="en-US" sz="800" b="0" dirty="0">
                  <a:solidFill>
                    <a:prstClr val="white"/>
                  </a:solidFill>
                </a:endParaRPr>
              </a:p>
            </p:txBody>
          </p:sp>
          <p:sp>
            <p:nvSpPr>
              <p:cNvPr id="53" name="자유형 52"/>
              <p:cNvSpPr/>
              <p:nvPr/>
            </p:nvSpPr>
            <p:spPr>
              <a:xfrm>
                <a:off x="1704454" y="3338166"/>
                <a:ext cx="360363" cy="484187"/>
              </a:xfrm>
              <a:custGeom>
                <a:avLst/>
                <a:gdLst>
                  <a:gd name="connsiteX0" fmla="*/ 0 w 361314"/>
                  <a:gd name="connsiteY0" fmla="*/ 241524 h 483048"/>
                  <a:gd name="connsiteX1" fmla="*/ 180657 w 361314"/>
                  <a:gd name="connsiteY1" fmla="*/ 0 h 483048"/>
                  <a:gd name="connsiteX2" fmla="*/ 180657 w 361314"/>
                  <a:gd name="connsiteY2" fmla="*/ 120762 h 483048"/>
                  <a:gd name="connsiteX3" fmla="*/ 361314 w 361314"/>
                  <a:gd name="connsiteY3" fmla="*/ 120762 h 483048"/>
                  <a:gd name="connsiteX4" fmla="*/ 361314 w 361314"/>
                  <a:gd name="connsiteY4" fmla="*/ 362286 h 483048"/>
                  <a:gd name="connsiteX5" fmla="*/ 180657 w 361314"/>
                  <a:gd name="connsiteY5" fmla="*/ 362286 h 483048"/>
                  <a:gd name="connsiteX6" fmla="*/ 180657 w 361314"/>
                  <a:gd name="connsiteY6" fmla="*/ 483048 h 483048"/>
                  <a:gd name="connsiteX7" fmla="*/ 0 w 361314"/>
                  <a:gd name="connsiteY7" fmla="*/ 241524 h 4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314" h="483048">
                    <a:moveTo>
                      <a:pt x="361314" y="241524"/>
                    </a:moveTo>
                    <a:lnTo>
                      <a:pt x="180657" y="483048"/>
                    </a:lnTo>
                    <a:lnTo>
                      <a:pt x="180657" y="362286"/>
                    </a:lnTo>
                    <a:lnTo>
                      <a:pt x="0" y="362286"/>
                    </a:lnTo>
                    <a:lnTo>
                      <a:pt x="0" y="120762"/>
                    </a:lnTo>
                    <a:lnTo>
                      <a:pt x="180657" y="120762"/>
                    </a:lnTo>
                    <a:lnTo>
                      <a:pt x="180657" y="0"/>
                    </a:lnTo>
                    <a:lnTo>
                      <a:pt x="361314" y="241524"/>
                    </a:lnTo>
                    <a:close/>
                  </a:path>
                </a:pathLst>
              </a:custGeom>
            </p:spPr>
            <p:style>
              <a:lnRef idx="0">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lIns="108394" tIns="96611" rIns="1" bIns="96610" spcCol="1270" anchor="ctr"/>
              <a:lstStyle/>
              <a:p>
                <a:pPr algn="ctr" defTabSz="622300">
                  <a:lnSpc>
                    <a:spcPct val="90000"/>
                  </a:lnSpc>
                  <a:spcAft>
                    <a:spcPct val="35000"/>
                  </a:spcAft>
                  <a:defRPr/>
                </a:pPr>
                <a:endParaRPr lang="ko-KR" altLang="en-US" sz="700" b="0" dirty="0">
                  <a:solidFill>
                    <a:prstClr val="white"/>
                  </a:solidFill>
                </a:endParaRPr>
              </a:p>
            </p:txBody>
          </p:sp>
          <p:sp>
            <p:nvSpPr>
              <p:cNvPr id="54" name="자유형 53"/>
              <p:cNvSpPr/>
              <p:nvPr/>
            </p:nvSpPr>
            <p:spPr>
              <a:xfrm>
                <a:off x="342379" y="2968278"/>
                <a:ext cx="1190625" cy="1223963"/>
              </a:xfrm>
              <a:custGeom>
                <a:avLst/>
                <a:gdLst>
                  <a:gd name="connsiteX0" fmla="*/ 0 w 1190359"/>
                  <a:gd name="connsiteY0" fmla="*/ 198397 h 1224130"/>
                  <a:gd name="connsiteX1" fmla="*/ 198397 w 1190359"/>
                  <a:gd name="connsiteY1" fmla="*/ 0 h 1224130"/>
                  <a:gd name="connsiteX2" fmla="*/ 991962 w 1190359"/>
                  <a:gd name="connsiteY2" fmla="*/ 0 h 1224130"/>
                  <a:gd name="connsiteX3" fmla="*/ 1190359 w 1190359"/>
                  <a:gd name="connsiteY3" fmla="*/ 198397 h 1224130"/>
                  <a:gd name="connsiteX4" fmla="*/ 1190359 w 1190359"/>
                  <a:gd name="connsiteY4" fmla="*/ 1025733 h 1224130"/>
                  <a:gd name="connsiteX5" fmla="*/ 991962 w 1190359"/>
                  <a:gd name="connsiteY5" fmla="*/ 1224130 h 1224130"/>
                  <a:gd name="connsiteX6" fmla="*/ 198397 w 1190359"/>
                  <a:gd name="connsiteY6" fmla="*/ 1224130 h 1224130"/>
                  <a:gd name="connsiteX7" fmla="*/ 0 w 1190359"/>
                  <a:gd name="connsiteY7" fmla="*/ 1025733 h 1224130"/>
                  <a:gd name="connsiteX8" fmla="*/ 0 w 1190359"/>
                  <a:gd name="connsiteY8" fmla="*/ 198397 h 122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359" h="1224130">
                    <a:moveTo>
                      <a:pt x="0" y="198397"/>
                    </a:moveTo>
                    <a:cubicBezTo>
                      <a:pt x="0" y="88825"/>
                      <a:pt x="88825" y="0"/>
                      <a:pt x="198397" y="0"/>
                    </a:cubicBezTo>
                    <a:lnTo>
                      <a:pt x="991962" y="0"/>
                    </a:lnTo>
                    <a:cubicBezTo>
                      <a:pt x="1101534" y="0"/>
                      <a:pt x="1190359" y="88825"/>
                      <a:pt x="1190359" y="198397"/>
                    </a:cubicBezTo>
                    <a:lnTo>
                      <a:pt x="1190359" y="1025733"/>
                    </a:lnTo>
                    <a:cubicBezTo>
                      <a:pt x="1190359" y="1135305"/>
                      <a:pt x="1101534" y="1224130"/>
                      <a:pt x="991962" y="1224130"/>
                    </a:cubicBezTo>
                    <a:lnTo>
                      <a:pt x="198397" y="1224130"/>
                    </a:lnTo>
                    <a:cubicBezTo>
                      <a:pt x="88825" y="1224130"/>
                      <a:pt x="0" y="1135305"/>
                      <a:pt x="0" y="1025733"/>
                    </a:cubicBezTo>
                    <a:lnTo>
                      <a:pt x="0" y="198397"/>
                    </a:lnTo>
                    <a:close/>
                  </a:path>
                </a:pathLst>
              </a:custGeom>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lIns="58109" tIns="78429" rIns="58109" bIns="78429" spcCol="1270" anchor="ctr"/>
              <a:lstStyle/>
              <a:p>
                <a:pPr algn="ctr" defTabSz="711200">
                  <a:lnSpc>
                    <a:spcPct val="90000"/>
                  </a:lnSpc>
                  <a:spcAft>
                    <a:spcPct val="35000"/>
                  </a:spcAft>
                  <a:defRPr/>
                </a:pPr>
                <a:endParaRPr lang="ko-KR" altLang="en-US" sz="600" b="0" dirty="0">
                  <a:solidFill>
                    <a:prstClr val="white"/>
                  </a:solidFill>
                </a:endParaRPr>
              </a:p>
            </p:txBody>
          </p:sp>
        </p:grpSp>
      </p:grpSp>
      <p:grpSp>
        <p:nvGrpSpPr>
          <p:cNvPr id="55" name="그룹 54"/>
          <p:cNvGrpSpPr/>
          <p:nvPr/>
        </p:nvGrpSpPr>
        <p:grpSpPr>
          <a:xfrm>
            <a:off x="10252647" y="1492416"/>
            <a:ext cx="1279788" cy="1255839"/>
            <a:chOff x="5796136" y="2132856"/>
            <a:chExt cx="2736304" cy="2736304"/>
          </a:xfrm>
        </p:grpSpPr>
        <p:sp>
          <p:nvSpPr>
            <p:cNvPr id="56" name="타원 55"/>
            <p:cNvSpPr/>
            <p:nvPr/>
          </p:nvSpPr>
          <p:spPr>
            <a:xfrm>
              <a:off x="5796136" y="2132856"/>
              <a:ext cx="2736304" cy="2736304"/>
            </a:xfrm>
            <a:prstGeom prst="ellipse">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57" name="그룹 56"/>
            <p:cNvGrpSpPr/>
            <p:nvPr/>
          </p:nvGrpSpPr>
          <p:grpSpPr>
            <a:xfrm>
              <a:off x="6228184" y="2564904"/>
              <a:ext cx="1878470" cy="1800200"/>
              <a:chOff x="342379" y="980728"/>
              <a:chExt cx="5165725" cy="5199063"/>
            </a:xfrm>
          </p:grpSpPr>
          <p:sp>
            <p:nvSpPr>
              <p:cNvPr id="58" name="자유형 57"/>
              <p:cNvSpPr/>
              <p:nvPr/>
            </p:nvSpPr>
            <p:spPr>
              <a:xfrm>
                <a:off x="2215629" y="2869853"/>
                <a:ext cx="1420813" cy="1420813"/>
              </a:xfrm>
              <a:custGeom>
                <a:avLst/>
                <a:gdLst>
                  <a:gd name="connsiteX0" fmla="*/ 0 w 1420731"/>
                  <a:gd name="connsiteY0" fmla="*/ 710366 h 1420731"/>
                  <a:gd name="connsiteX1" fmla="*/ 710366 w 1420731"/>
                  <a:gd name="connsiteY1" fmla="*/ 0 h 1420731"/>
                  <a:gd name="connsiteX2" fmla="*/ 1420732 w 1420731"/>
                  <a:gd name="connsiteY2" fmla="*/ 710366 h 1420731"/>
                  <a:gd name="connsiteX3" fmla="*/ 710366 w 1420731"/>
                  <a:gd name="connsiteY3" fmla="*/ 1420732 h 1420731"/>
                  <a:gd name="connsiteX4" fmla="*/ 0 w 1420731"/>
                  <a:gd name="connsiteY4" fmla="*/ 710366 h 1420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31" h="1420731">
                    <a:moveTo>
                      <a:pt x="0" y="710366"/>
                    </a:moveTo>
                    <a:cubicBezTo>
                      <a:pt x="0" y="318042"/>
                      <a:pt x="318042" y="0"/>
                      <a:pt x="710366" y="0"/>
                    </a:cubicBezTo>
                    <a:cubicBezTo>
                      <a:pt x="1102690" y="0"/>
                      <a:pt x="1420732" y="318042"/>
                      <a:pt x="1420732" y="710366"/>
                    </a:cubicBezTo>
                    <a:cubicBezTo>
                      <a:pt x="1420732" y="1102690"/>
                      <a:pt x="1102690" y="1420732"/>
                      <a:pt x="710366" y="1420732"/>
                    </a:cubicBezTo>
                    <a:cubicBezTo>
                      <a:pt x="318042" y="1420732"/>
                      <a:pt x="0" y="1102690"/>
                      <a:pt x="0" y="710366"/>
                    </a:cubicBez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230921" tIns="230921" rIns="230921" bIns="230921" spcCol="1270" anchor="ctr"/>
              <a:lstStyle/>
              <a:p>
                <a:pPr algn="ctr" defTabSz="800100">
                  <a:lnSpc>
                    <a:spcPct val="90000"/>
                  </a:lnSpc>
                  <a:spcAft>
                    <a:spcPct val="35000"/>
                  </a:spcAft>
                  <a:defRPr/>
                </a:pPr>
                <a:endParaRPr lang="ko-KR" altLang="en-US" sz="900" dirty="0">
                  <a:solidFill>
                    <a:prstClr val="white"/>
                  </a:solidFill>
                </a:endParaRPr>
              </a:p>
            </p:txBody>
          </p:sp>
          <p:sp>
            <p:nvSpPr>
              <p:cNvPr id="59" name="자유형 58"/>
              <p:cNvSpPr/>
              <p:nvPr/>
            </p:nvSpPr>
            <p:spPr>
              <a:xfrm rot="16200000">
                <a:off x="2749029" y="2306291"/>
                <a:ext cx="352425" cy="482600"/>
              </a:xfrm>
              <a:custGeom>
                <a:avLst/>
                <a:gdLst>
                  <a:gd name="connsiteX0" fmla="*/ 0 w 352365"/>
                  <a:gd name="connsiteY0" fmla="*/ 241524 h 483048"/>
                  <a:gd name="connsiteX1" fmla="*/ 176183 w 352365"/>
                  <a:gd name="connsiteY1" fmla="*/ 0 h 483048"/>
                  <a:gd name="connsiteX2" fmla="*/ 176183 w 352365"/>
                  <a:gd name="connsiteY2" fmla="*/ 120762 h 483048"/>
                  <a:gd name="connsiteX3" fmla="*/ 352365 w 352365"/>
                  <a:gd name="connsiteY3" fmla="*/ 120762 h 483048"/>
                  <a:gd name="connsiteX4" fmla="*/ 352365 w 352365"/>
                  <a:gd name="connsiteY4" fmla="*/ 362286 h 483048"/>
                  <a:gd name="connsiteX5" fmla="*/ 176183 w 352365"/>
                  <a:gd name="connsiteY5" fmla="*/ 362286 h 483048"/>
                  <a:gd name="connsiteX6" fmla="*/ 176183 w 352365"/>
                  <a:gd name="connsiteY6" fmla="*/ 483048 h 483048"/>
                  <a:gd name="connsiteX7" fmla="*/ 0 w 352365"/>
                  <a:gd name="connsiteY7" fmla="*/ 241524 h 4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5" h="483048">
                    <a:moveTo>
                      <a:pt x="0" y="241524"/>
                    </a:moveTo>
                    <a:lnTo>
                      <a:pt x="176183" y="0"/>
                    </a:lnTo>
                    <a:lnTo>
                      <a:pt x="176183" y="120762"/>
                    </a:lnTo>
                    <a:lnTo>
                      <a:pt x="352365" y="120762"/>
                    </a:lnTo>
                    <a:lnTo>
                      <a:pt x="352365" y="362286"/>
                    </a:lnTo>
                    <a:lnTo>
                      <a:pt x="176183" y="362286"/>
                    </a:lnTo>
                    <a:lnTo>
                      <a:pt x="176183" y="483048"/>
                    </a:lnTo>
                    <a:lnTo>
                      <a:pt x="0" y="241524"/>
                    </a:lnTo>
                    <a:close/>
                  </a:path>
                </a:pathLst>
              </a:custGeom>
            </p:spPr>
            <p:style>
              <a:lnRef idx="0">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lIns="-1" tIns="96610" rIns="105710" bIns="96609" spcCol="1270" anchor="ctr"/>
              <a:lstStyle/>
              <a:p>
                <a:pPr algn="ctr" defTabSz="622300">
                  <a:lnSpc>
                    <a:spcPct val="90000"/>
                  </a:lnSpc>
                  <a:spcAft>
                    <a:spcPct val="35000"/>
                  </a:spcAft>
                  <a:defRPr/>
                </a:pPr>
                <a:endParaRPr lang="ko-KR" altLang="en-US" sz="700" b="0" dirty="0">
                  <a:solidFill>
                    <a:prstClr val="white"/>
                  </a:solidFill>
                </a:endParaRPr>
              </a:p>
            </p:txBody>
          </p:sp>
          <p:sp>
            <p:nvSpPr>
              <p:cNvPr id="60" name="자유형 59"/>
              <p:cNvSpPr/>
              <p:nvPr/>
            </p:nvSpPr>
            <p:spPr>
              <a:xfrm>
                <a:off x="2329929" y="980728"/>
                <a:ext cx="1190625" cy="1223963"/>
              </a:xfrm>
              <a:custGeom>
                <a:avLst/>
                <a:gdLst>
                  <a:gd name="connsiteX0" fmla="*/ 0 w 1190359"/>
                  <a:gd name="connsiteY0" fmla="*/ 198397 h 1224130"/>
                  <a:gd name="connsiteX1" fmla="*/ 198397 w 1190359"/>
                  <a:gd name="connsiteY1" fmla="*/ 0 h 1224130"/>
                  <a:gd name="connsiteX2" fmla="*/ 991962 w 1190359"/>
                  <a:gd name="connsiteY2" fmla="*/ 0 h 1224130"/>
                  <a:gd name="connsiteX3" fmla="*/ 1190359 w 1190359"/>
                  <a:gd name="connsiteY3" fmla="*/ 198397 h 1224130"/>
                  <a:gd name="connsiteX4" fmla="*/ 1190359 w 1190359"/>
                  <a:gd name="connsiteY4" fmla="*/ 1025733 h 1224130"/>
                  <a:gd name="connsiteX5" fmla="*/ 991962 w 1190359"/>
                  <a:gd name="connsiteY5" fmla="*/ 1224130 h 1224130"/>
                  <a:gd name="connsiteX6" fmla="*/ 198397 w 1190359"/>
                  <a:gd name="connsiteY6" fmla="*/ 1224130 h 1224130"/>
                  <a:gd name="connsiteX7" fmla="*/ 0 w 1190359"/>
                  <a:gd name="connsiteY7" fmla="*/ 1025733 h 1224130"/>
                  <a:gd name="connsiteX8" fmla="*/ 0 w 1190359"/>
                  <a:gd name="connsiteY8" fmla="*/ 198397 h 122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359" h="1224130">
                    <a:moveTo>
                      <a:pt x="0" y="198397"/>
                    </a:moveTo>
                    <a:cubicBezTo>
                      <a:pt x="0" y="88825"/>
                      <a:pt x="88825" y="0"/>
                      <a:pt x="198397" y="0"/>
                    </a:cubicBezTo>
                    <a:lnTo>
                      <a:pt x="991962" y="0"/>
                    </a:lnTo>
                    <a:cubicBezTo>
                      <a:pt x="1101534" y="0"/>
                      <a:pt x="1190359" y="88825"/>
                      <a:pt x="1190359" y="198397"/>
                    </a:cubicBezTo>
                    <a:lnTo>
                      <a:pt x="1190359" y="1025733"/>
                    </a:lnTo>
                    <a:cubicBezTo>
                      <a:pt x="1190359" y="1135305"/>
                      <a:pt x="1101534" y="1224130"/>
                      <a:pt x="991962" y="1224130"/>
                    </a:cubicBezTo>
                    <a:lnTo>
                      <a:pt x="198397" y="1224130"/>
                    </a:lnTo>
                    <a:cubicBezTo>
                      <a:pt x="88825" y="1224130"/>
                      <a:pt x="0" y="1135305"/>
                      <a:pt x="0" y="1025733"/>
                    </a:cubicBezTo>
                    <a:lnTo>
                      <a:pt x="0" y="198397"/>
                    </a:lnTo>
                    <a:close/>
                  </a:path>
                </a:pathLst>
              </a:custGeom>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lIns="78429" tIns="78429" rIns="78429" bIns="78429" spcCol="1270" anchor="ctr"/>
              <a:lstStyle/>
              <a:p>
                <a:pPr algn="ctr" defTabSz="711200">
                  <a:lnSpc>
                    <a:spcPct val="90000"/>
                  </a:lnSpc>
                  <a:spcAft>
                    <a:spcPct val="35000"/>
                  </a:spcAft>
                  <a:defRPr/>
                </a:pPr>
                <a:endParaRPr lang="ko-KR" altLang="en-US" sz="800" b="0" dirty="0">
                  <a:solidFill>
                    <a:prstClr val="white"/>
                  </a:solidFill>
                </a:endParaRPr>
              </a:p>
            </p:txBody>
          </p:sp>
          <p:sp>
            <p:nvSpPr>
              <p:cNvPr id="61" name="자유형 60"/>
              <p:cNvSpPr/>
              <p:nvPr/>
            </p:nvSpPr>
            <p:spPr>
              <a:xfrm>
                <a:off x="3785667" y="3338166"/>
                <a:ext cx="361950" cy="484187"/>
              </a:xfrm>
              <a:custGeom>
                <a:avLst/>
                <a:gdLst>
                  <a:gd name="connsiteX0" fmla="*/ 0 w 361314"/>
                  <a:gd name="connsiteY0" fmla="*/ 241524 h 483048"/>
                  <a:gd name="connsiteX1" fmla="*/ 180657 w 361314"/>
                  <a:gd name="connsiteY1" fmla="*/ 0 h 483048"/>
                  <a:gd name="connsiteX2" fmla="*/ 180657 w 361314"/>
                  <a:gd name="connsiteY2" fmla="*/ 120762 h 483048"/>
                  <a:gd name="connsiteX3" fmla="*/ 361314 w 361314"/>
                  <a:gd name="connsiteY3" fmla="*/ 120762 h 483048"/>
                  <a:gd name="connsiteX4" fmla="*/ 361314 w 361314"/>
                  <a:gd name="connsiteY4" fmla="*/ 362286 h 483048"/>
                  <a:gd name="connsiteX5" fmla="*/ 180657 w 361314"/>
                  <a:gd name="connsiteY5" fmla="*/ 362286 h 483048"/>
                  <a:gd name="connsiteX6" fmla="*/ 180657 w 361314"/>
                  <a:gd name="connsiteY6" fmla="*/ 483048 h 483048"/>
                  <a:gd name="connsiteX7" fmla="*/ 0 w 361314"/>
                  <a:gd name="connsiteY7" fmla="*/ 241524 h 4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314" h="483048">
                    <a:moveTo>
                      <a:pt x="0" y="241524"/>
                    </a:moveTo>
                    <a:lnTo>
                      <a:pt x="180657" y="0"/>
                    </a:lnTo>
                    <a:lnTo>
                      <a:pt x="180657" y="120762"/>
                    </a:lnTo>
                    <a:lnTo>
                      <a:pt x="361314" y="120762"/>
                    </a:lnTo>
                    <a:lnTo>
                      <a:pt x="361314" y="362286"/>
                    </a:lnTo>
                    <a:lnTo>
                      <a:pt x="180657" y="362286"/>
                    </a:lnTo>
                    <a:lnTo>
                      <a:pt x="180657" y="483048"/>
                    </a:lnTo>
                    <a:lnTo>
                      <a:pt x="0" y="241524"/>
                    </a:lnTo>
                    <a:close/>
                  </a:path>
                </a:pathLst>
              </a:custGeom>
            </p:spPr>
            <p:style>
              <a:lnRef idx="0">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lIns="0" tIns="96610" rIns="108394" bIns="96610" spcCol="1270" anchor="ctr"/>
              <a:lstStyle/>
              <a:p>
                <a:pPr algn="ctr" defTabSz="622300">
                  <a:lnSpc>
                    <a:spcPct val="90000"/>
                  </a:lnSpc>
                  <a:spcAft>
                    <a:spcPct val="35000"/>
                  </a:spcAft>
                  <a:defRPr/>
                </a:pPr>
                <a:endParaRPr lang="ko-KR" altLang="en-US" sz="700" b="0" dirty="0">
                  <a:solidFill>
                    <a:prstClr val="white"/>
                  </a:solidFill>
                </a:endParaRPr>
              </a:p>
            </p:txBody>
          </p:sp>
          <p:sp>
            <p:nvSpPr>
              <p:cNvPr id="62" name="자유형 61"/>
              <p:cNvSpPr/>
              <p:nvPr/>
            </p:nvSpPr>
            <p:spPr>
              <a:xfrm>
                <a:off x="4317479" y="2968278"/>
                <a:ext cx="1190625" cy="1223963"/>
              </a:xfrm>
              <a:custGeom>
                <a:avLst/>
                <a:gdLst>
                  <a:gd name="connsiteX0" fmla="*/ 0 w 1190359"/>
                  <a:gd name="connsiteY0" fmla="*/ 198397 h 1224130"/>
                  <a:gd name="connsiteX1" fmla="*/ 198397 w 1190359"/>
                  <a:gd name="connsiteY1" fmla="*/ 0 h 1224130"/>
                  <a:gd name="connsiteX2" fmla="*/ 991962 w 1190359"/>
                  <a:gd name="connsiteY2" fmla="*/ 0 h 1224130"/>
                  <a:gd name="connsiteX3" fmla="*/ 1190359 w 1190359"/>
                  <a:gd name="connsiteY3" fmla="*/ 198397 h 1224130"/>
                  <a:gd name="connsiteX4" fmla="*/ 1190359 w 1190359"/>
                  <a:gd name="connsiteY4" fmla="*/ 1025733 h 1224130"/>
                  <a:gd name="connsiteX5" fmla="*/ 991962 w 1190359"/>
                  <a:gd name="connsiteY5" fmla="*/ 1224130 h 1224130"/>
                  <a:gd name="connsiteX6" fmla="*/ 198397 w 1190359"/>
                  <a:gd name="connsiteY6" fmla="*/ 1224130 h 1224130"/>
                  <a:gd name="connsiteX7" fmla="*/ 0 w 1190359"/>
                  <a:gd name="connsiteY7" fmla="*/ 1025733 h 1224130"/>
                  <a:gd name="connsiteX8" fmla="*/ 0 w 1190359"/>
                  <a:gd name="connsiteY8" fmla="*/ 198397 h 122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359" h="1224130">
                    <a:moveTo>
                      <a:pt x="0" y="198397"/>
                    </a:moveTo>
                    <a:cubicBezTo>
                      <a:pt x="0" y="88825"/>
                      <a:pt x="88825" y="0"/>
                      <a:pt x="198397" y="0"/>
                    </a:cubicBezTo>
                    <a:lnTo>
                      <a:pt x="991962" y="0"/>
                    </a:lnTo>
                    <a:cubicBezTo>
                      <a:pt x="1101534" y="0"/>
                      <a:pt x="1190359" y="88825"/>
                      <a:pt x="1190359" y="198397"/>
                    </a:cubicBezTo>
                    <a:lnTo>
                      <a:pt x="1190359" y="1025733"/>
                    </a:lnTo>
                    <a:cubicBezTo>
                      <a:pt x="1190359" y="1135305"/>
                      <a:pt x="1101534" y="1224130"/>
                      <a:pt x="991962" y="1224130"/>
                    </a:cubicBezTo>
                    <a:lnTo>
                      <a:pt x="198397" y="1224130"/>
                    </a:lnTo>
                    <a:cubicBezTo>
                      <a:pt x="88825" y="1224130"/>
                      <a:pt x="0" y="1135305"/>
                      <a:pt x="0" y="1025733"/>
                    </a:cubicBezTo>
                    <a:lnTo>
                      <a:pt x="0" y="198397"/>
                    </a:lnTo>
                    <a:close/>
                  </a:path>
                </a:pathLst>
              </a:custGeom>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lIns="78429" tIns="78429" rIns="78429" bIns="78429" spcCol="1270" anchor="ctr"/>
              <a:lstStyle/>
              <a:p>
                <a:pPr algn="ctr" defTabSz="711200">
                  <a:lnSpc>
                    <a:spcPct val="90000"/>
                  </a:lnSpc>
                  <a:spcAft>
                    <a:spcPct val="35000"/>
                  </a:spcAft>
                  <a:defRPr/>
                </a:pPr>
                <a:endParaRPr lang="ko-KR" altLang="en-US" sz="700" b="0" dirty="0">
                  <a:solidFill>
                    <a:prstClr val="white"/>
                  </a:solidFill>
                </a:endParaRPr>
              </a:p>
            </p:txBody>
          </p:sp>
          <p:sp>
            <p:nvSpPr>
              <p:cNvPr id="63" name="자유형 62"/>
              <p:cNvSpPr/>
              <p:nvPr/>
            </p:nvSpPr>
            <p:spPr>
              <a:xfrm rot="5400000">
                <a:off x="2749029" y="4371629"/>
                <a:ext cx="352425" cy="482600"/>
              </a:xfrm>
              <a:custGeom>
                <a:avLst/>
                <a:gdLst>
                  <a:gd name="connsiteX0" fmla="*/ 0 w 352365"/>
                  <a:gd name="connsiteY0" fmla="*/ 241524 h 483048"/>
                  <a:gd name="connsiteX1" fmla="*/ 176183 w 352365"/>
                  <a:gd name="connsiteY1" fmla="*/ 0 h 483048"/>
                  <a:gd name="connsiteX2" fmla="*/ 176183 w 352365"/>
                  <a:gd name="connsiteY2" fmla="*/ 120762 h 483048"/>
                  <a:gd name="connsiteX3" fmla="*/ 352365 w 352365"/>
                  <a:gd name="connsiteY3" fmla="*/ 120762 h 483048"/>
                  <a:gd name="connsiteX4" fmla="*/ 352365 w 352365"/>
                  <a:gd name="connsiteY4" fmla="*/ 362286 h 483048"/>
                  <a:gd name="connsiteX5" fmla="*/ 176183 w 352365"/>
                  <a:gd name="connsiteY5" fmla="*/ 362286 h 483048"/>
                  <a:gd name="connsiteX6" fmla="*/ 176183 w 352365"/>
                  <a:gd name="connsiteY6" fmla="*/ 483048 h 483048"/>
                  <a:gd name="connsiteX7" fmla="*/ 0 w 352365"/>
                  <a:gd name="connsiteY7" fmla="*/ 241524 h 4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5" h="483048">
                    <a:moveTo>
                      <a:pt x="0" y="241524"/>
                    </a:moveTo>
                    <a:lnTo>
                      <a:pt x="176183" y="0"/>
                    </a:lnTo>
                    <a:lnTo>
                      <a:pt x="176183" y="120762"/>
                    </a:lnTo>
                    <a:lnTo>
                      <a:pt x="352365" y="120762"/>
                    </a:lnTo>
                    <a:lnTo>
                      <a:pt x="352365" y="362286"/>
                    </a:lnTo>
                    <a:lnTo>
                      <a:pt x="176183" y="362286"/>
                    </a:lnTo>
                    <a:lnTo>
                      <a:pt x="176183" y="483048"/>
                    </a:lnTo>
                    <a:lnTo>
                      <a:pt x="0" y="241524"/>
                    </a:lnTo>
                    <a:close/>
                  </a:path>
                </a:pathLst>
              </a:custGeom>
            </p:spPr>
            <p:style>
              <a:lnRef idx="0">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lIns="0" tIns="96609" rIns="105709" bIns="96611" spcCol="1270" anchor="ctr"/>
              <a:lstStyle/>
              <a:p>
                <a:pPr algn="ctr" defTabSz="622300">
                  <a:lnSpc>
                    <a:spcPct val="90000"/>
                  </a:lnSpc>
                  <a:spcAft>
                    <a:spcPct val="35000"/>
                  </a:spcAft>
                  <a:defRPr/>
                </a:pPr>
                <a:endParaRPr lang="ko-KR" altLang="en-US" sz="700" b="0" dirty="0">
                  <a:solidFill>
                    <a:prstClr val="white"/>
                  </a:solidFill>
                </a:endParaRPr>
              </a:p>
            </p:txBody>
          </p:sp>
          <p:sp>
            <p:nvSpPr>
              <p:cNvPr id="64" name="자유형 63"/>
              <p:cNvSpPr/>
              <p:nvPr/>
            </p:nvSpPr>
            <p:spPr>
              <a:xfrm>
                <a:off x="2329929" y="4955828"/>
                <a:ext cx="1190625" cy="1223963"/>
              </a:xfrm>
              <a:custGeom>
                <a:avLst/>
                <a:gdLst>
                  <a:gd name="connsiteX0" fmla="*/ 0 w 1190359"/>
                  <a:gd name="connsiteY0" fmla="*/ 198397 h 1224130"/>
                  <a:gd name="connsiteX1" fmla="*/ 198397 w 1190359"/>
                  <a:gd name="connsiteY1" fmla="*/ 0 h 1224130"/>
                  <a:gd name="connsiteX2" fmla="*/ 991962 w 1190359"/>
                  <a:gd name="connsiteY2" fmla="*/ 0 h 1224130"/>
                  <a:gd name="connsiteX3" fmla="*/ 1190359 w 1190359"/>
                  <a:gd name="connsiteY3" fmla="*/ 198397 h 1224130"/>
                  <a:gd name="connsiteX4" fmla="*/ 1190359 w 1190359"/>
                  <a:gd name="connsiteY4" fmla="*/ 1025733 h 1224130"/>
                  <a:gd name="connsiteX5" fmla="*/ 991962 w 1190359"/>
                  <a:gd name="connsiteY5" fmla="*/ 1224130 h 1224130"/>
                  <a:gd name="connsiteX6" fmla="*/ 198397 w 1190359"/>
                  <a:gd name="connsiteY6" fmla="*/ 1224130 h 1224130"/>
                  <a:gd name="connsiteX7" fmla="*/ 0 w 1190359"/>
                  <a:gd name="connsiteY7" fmla="*/ 1025733 h 1224130"/>
                  <a:gd name="connsiteX8" fmla="*/ 0 w 1190359"/>
                  <a:gd name="connsiteY8" fmla="*/ 198397 h 122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359" h="1224130">
                    <a:moveTo>
                      <a:pt x="0" y="198397"/>
                    </a:moveTo>
                    <a:cubicBezTo>
                      <a:pt x="0" y="88825"/>
                      <a:pt x="88825" y="0"/>
                      <a:pt x="198397" y="0"/>
                    </a:cubicBezTo>
                    <a:lnTo>
                      <a:pt x="991962" y="0"/>
                    </a:lnTo>
                    <a:cubicBezTo>
                      <a:pt x="1101534" y="0"/>
                      <a:pt x="1190359" y="88825"/>
                      <a:pt x="1190359" y="198397"/>
                    </a:cubicBezTo>
                    <a:lnTo>
                      <a:pt x="1190359" y="1025733"/>
                    </a:lnTo>
                    <a:cubicBezTo>
                      <a:pt x="1190359" y="1135305"/>
                      <a:pt x="1101534" y="1224130"/>
                      <a:pt x="991962" y="1224130"/>
                    </a:cubicBezTo>
                    <a:lnTo>
                      <a:pt x="198397" y="1224130"/>
                    </a:lnTo>
                    <a:cubicBezTo>
                      <a:pt x="88825" y="1224130"/>
                      <a:pt x="0" y="1135305"/>
                      <a:pt x="0" y="1025733"/>
                    </a:cubicBezTo>
                    <a:lnTo>
                      <a:pt x="0" y="198397"/>
                    </a:lnTo>
                    <a:close/>
                  </a:path>
                </a:pathLst>
              </a:cu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lIns="78429" tIns="78429" rIns="78429" bIns="78429" spcCol="1270" anchor="ctr"/>
              <a:lstStyle/>
              <a:p>
                <a:pPr algn="ctr" defTabSz="711200">
                  <a:lnSpc>
                    <a:spcPct val="90000"/>
                  </a:lnSpc>
                  <a:spcAft>
                    <a:spcPct val="35000"/>
                  </a:spcAft>
                  <a:defRPr/>
                </a:pPr>
                <a:endParaRPr lang="ko-KR" altLang="en-US" sz="800" b="0" dirty="0">
                  <a:solidFill>
                    <a:prstClr val="white"/>
                  </a:solidFill>
                </a:endParaRPr>
              </a:p>
            </p:txBody>
          </p:sp>
          <p:sp>
            <p:nvSpPr>
              <p:cNvPr id="65" name="자유형 64"/>
              <p:cNvSpPr/>
              <p:nvPr/>
            </p:nvSpPr>
            <p:spPr>
              <a:xfrm>
                <a:off x="1704454" y="3338166"/>
                <a:ext cx="360363" cy="484187"/>
              </a:xfrm>
              <a:custGeom>
                <a:avLst/>
                <a:gdLst>
                  <a:gd name="connsiteX0" fmla="*/ 0 w 361314"/>
                  <a:gd name="connsiteY0" fmla="*/ 241524 h 483048"/>
                  <a:gd name="connsiteX1" fmla="*/ 180657 w 361314"/>
                  <a:gd name="connsiteY1" fmla="*/ 0 h 483048"/>
                  <a:gd name="connsiteX2" fmla="*/ 180657 w 361314"/>
                  <a:gd name="connsiteY2" fmla="*/ 120762 h 483048"/>
                  <a:gd name="connsiteX3" fmla="*/ 361314 w 361314"/>
                  <a:gd name="connsiteY3" fmla="*/ 120762 h 483048"/>
                  <a:gd name="connsiteX4" fmla="*/ 361314 w 361314"/>
                  <a:gd name="connsiteY4" fmla="*/ 362286 h 483048"/>
                  <a:gd name="connsiteX5" fmla="*/ 180657 w 361314"/>
                  <a:gd name="connsiteY5" fmla="*/ 362286 h 483048"/>
                  <a:gd name="connsiteX6" fmla="*/ 180657 w 361314"/>
                  <a:gd name="connsiteY6" fmla="*/ 483048 h 483048"/>
                  <a:gd name="connsiteX7" fmla="*/ 0 w 361314"/>
                  <a:gd name="connsiteY7" fmla="*/ 241524 h 4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314" h="483048">
                    <a:moveTo>
                      <a:pt x="361314" y="241524"/>
                    </a:moveTo>
                    <a:lnTo>
                      <a:pt x="180657" y="483048"/>
                    </a:lnTo>
                    <a:lnTo>
                      <a:pt x="180657" y="362286"/>
                    </a:lnTo>
                    <a:lnTo>
                      <a:pt x="0" y="362286"/>
                    </a:lnTo>
                    <a:lnTo>
                      <a:pt x="0" y="120762"/>
                    </a:lnTo>
                    <a:lnTo>
                      <a:pt x="180657" y="120762"/>
                    </a:lnTo>
                    <a:lnTo>
                      <a:pt x="180657" y="0"/>
                    </a:lnTo>
                    <a:lnTo>
                      <a:pt x="361314" y="241524"/>
                    </a:lnTo>
                    <a:close/>
                  </a:path>
                </a:pathLst>
              </a:custGeom>
            </p:spPr>
            <p:style>
              <a:lnRef idx="0">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lIns="108394" tIns="96611" rIns="1" bIns="96610" spcCol="1270" anchor="ctr"/>
              <a:lstStyle/>
              <a:p>
                <a:pPr algn="ctr" defTabSz="622300">
                  <a:lnSpc>
                    <a:spcPct val="90000"/>
                  </a:lnSpc>
                  <a:spcAft>
                    <a:spcPct val="35000"/>
                  </a:spcAft>
                  <a:defRPr/>
                </a:pPr>
                <a:endParaRPr lang="ko-KR" altLang="en-US" sz="700" b="0" dirty="0">
                  <a:solidFill>
                    <a:prstClr val="white"/>
                  </a:solidFill>
                </a:endParaRPr>
              </a:p>
            </p:txBody>
          </p:sp>
          <p:sp>
            <p:nvSpPr>
              <p:cNvPr id="66" name="자유형 65"/>
              <p:cNvSpPr/>
              <p:nvPr/>
            </p:nvSpPr>
            <p:spPr>
              <a:xfrm>
                <a:off x="342379" y="2968278"/>
                <a:ext cx="1190625" cy="1223963"/>
              </a:xfrm>
              <a:custGeom>
                <a:avLst/>
                <a:gdLst>
                  <a:gd name="connsiteX0" fmla="*/ 0 w 1190359"/>
                  <a:gd name="connsiteY0" fmla="*/ 198397 h 1224130"/>
                  <a:gd name="connsiteX1" fmla="*/ 198397 w 1190359"/>
                  <a:gd name="connsiteY1" fmla="*/ 0 h 1224130"/>
                  <a:gd name="connsiteX2" fmla="*/ 991962 w 1190359"/>
                  <a:gd name="connsiteY2" fmla="*/ 0 h 1224130"/>
                  <a:gd name="connsiteX3" fmla="*/ 1190359 w 1190359"/>
                  <a:gd name="connsiteY3" fmla="*/ 198397 h 1224130"/>
                  <a:gd name="connsiteX4" fmla="*/ 1190359 w 1190359"/>
                  <a:gd name="connsiteY4" fmla="*/ 1025733 h 1224130"/>
                  <a:gd name="connsiteX5" fmla="*/ 991962 w 1190359"/>
                  <a:gd name="connsiteY5" fmla="*/ 1224130 h 1224130"/>
                  <a:gd name="connsiteX6" fmla="*/ 198397 w 1190359"/>
                  <a:gd name="connsiteY6" fmla="*/ 1224130 h 1224130"/>
                  <a:gd name="connsiteX7" fmla="*/ 0 w 1190359"/>
                  <a:gd name="connsiteY7" fmla="*/ 1025733 h 1224130"/>
                  <a:gd name="connsiteX8" fmla="*/ 0 w 1190359"/>
                  <a:gd name="connsiteY8" fmla="*/ 198397 h 122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359" h="1224130">
                    <a:moveTo>
                      <a:pt x="0" y="198397"/>
                    </a:moveTo>
                    <a:cubicBezTo>
                      <a:pt x="0" y="88825"/>
                      <a:pt x="88825" y="0"/>
                      <a:pt x="198397" y="0"/>
                    </a:cubicBezTo>
                    <a:lnTo>
                      <a:pt x="991962" y="0"/>
                    </a:lnTo>
                    <a:cubicBezTo>
                      <a:pt x="1101534" y="0"/>
                      <a:pt x="1190359" y="88825"/>
                      <a:pt x="1190359" y="198397"/>
                    </a:cubicBezTo>
                    <a:lnTo>
                      <a:pt x="1190359" y="1025733"/>
                    </a:lnTo>
                    <a:cubicBezTo>
                      <a:pt x="1190359" y="1135305"/>
                      <a:pt x="1101534" y="1224130"/>
                      <a:pt x="991962" y="1224130"/>
                    </a:cubicBezTo>
                    <a:lnTo>
                      <a:pt x="198397" y="1224130"/>
                    </a:lnTo>
                    <a:cubicBezTo>
                      <a:pt x="88825" y="1224130"/>
                      <a:pt x="0" y="1135305"/>
                      <a:pt x="0" y="1025733"/>
                    </a:cubicBezTo>
                    <a:lnTo>
                      <a:pt x="0" y="198397"/>
                    </a:lnTo>
                    <a:close/>
                  </a:path>
                </a:pathLst>
              </a:custGeom>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lIns="58109" tIns="78429" rIns="58109" bIns="78429" spcCol="1270" anchor="ctr"/>
              <a:lstStyle/>
              <a:p>
                <a:pPr algn="ctr" defTabSz="711200">
                  <a:lnSpc>
                    <a:spcPct val="90000"/>
                  </a:lnSpc>
                  <a:spcAft>
                    <a:spcPct val="35000"/>
                  </a:spcAft>
                  <a:defRPr/>
                </a:pPr>
                <a:endParaRPr lang="ko-KR" altLang="en-US" sz="600" b="0" dirty="0">
                  <a:solidFill>
                    <a:prstClr val="white"/>
                  </a:solidFill>
                </a:endParaRPr>
              </a:p>
            </p:txBody>
          </p:sp>
        </p:grpSp>
      </p:grpSp>
      <p:sp>
        <p:nvSpPr>
          <p:cNvPr id="67" name="오른쪽 화살표 66"/>
          <p:cNvSpPr/>
          <p:nvPr/>
        </p:nvSpPr>
        <p:spPr>
          <a:xfrm>
            <a:off x="8660544" y="1806335"/>
            <a:ext cx="1539033" cy="613328"/>
          </a:xfrm>
          <a:prstGeom prst="rightArrow">
            <a:avLst/>
          </a:prstGeom>
          <a:solidFill>
            <a:schemeClr val="accent1">
              <a:lumMod val="20000"/>
              <a:lumOff val="80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지 배 수 단</a:t>
            </a:r>
          </a:p>
        </p:txBody>
      </p:sp>
      <p:sp>
        <p:nvSpPr>
          <p:cNvPr id="68" name="TextBox 67"/>
          <p:cNvSpPr txBox="1"/>
          <p:nvPr/>
        </p:nvSpPr>
        <p:spPr>
          <a:xfrm>
            <a:off x="6921225" y="1074209"/>
            <a:ext cx="862476" cy="373261"/>
          </a:xfrm>
          <a:prstGeom prst="roundRect">
            <a:avLst>
              <a:gd name="adj" fmla="val 31306"/>
            </a:avLst>
          </a:prstGeom>
          <a:solidFill>
            <a:schemeClr val="accent1">
              <a:lumMod val="20000"/>
              <a:lumOff val="80000"/>
            </a:schemeClr>
          </a:solidFill>
          <a:ln>
            <a:solidFill>
              <a:schemeClr val="bg1">
                <a:lumMod val="50000"/>
              </a:schemeClr>
            </a:solidFill>
          </a:ln>
        </p:spPr>
        <p:txBody>
          <a:bodyPr wrap="square" rtlCol="0">
            <a:spAutoFit/>
          </a:bodyPr>
          <a:lstStyle/>
          <a:p>
            <a:pPr algn="dist"/>
            <a:r>
              <a:rPr lang="ko-KR" altLang="en-US" sz="1400" dirty="0"/>
              <a:t>선진국</a:t>
            </a:r>
          </a:p>
        </p:txBody>
      </p:sp>
      <p:sp>
        <p:nvSpPr>
          <p:cNvPr id="69" name="TextBox 68"/>
          <p:cNvSpPr txBox="1"/>
          <p:nvPr/>
        </p:nvSpPr>
        <p:spPr>
          <a:xfrm>
            <a:off x="10470817" y="1292079"/>
            <a:ext cx="862476" cy="373261"/>
          </a:xfrm>
          <a:prstGeom prst="roundRect">
            <a:avLst>
              <a:gd name="adj" fmla="val 31306"/>
            </a:avLst>
          </a:prstGeom>
          <a:solidFill>
            <a:schemeClr val="accent1">
              <a:lumMod val="20000"/>
              <a:lumOff val="80000"/>
            </a:schemeClr>
          </a:solidFill>
          <a:ln>
            <a:solidFill>
              <a:schemeClr val="bg1">
                <a:lumMod val="50000"/>
              </a:schemeClr>
            </a:solidFill>
          </a:ln>
        </p:spPr>
        <p:txBody>
          <a:bodyPr wrap="square" rtlCol="0">
            <a:spAutoFit/>
          </a:bodyPr>
          <a:lstStyle/>
          <a:p>
            <a:pPr algn="dist"/>
            <a:r>
              <a:rPr lang="ko-KR" altLang="en-US" sz="1400" dirty="0"/>
              <a:t>후진국</a:t>
            </a:r>
          </a:p>
        </p:txBody>
      </p:sp>
      <p:sp>
        <p:nvSpPr>
          <p:cNvPr id="70" name="TextBox 69"/>
          <p:cNvSpPr txBox="1"/>
          <p:nvPr/>
        </p:nvSpPr>
        <p:spPr>
          <a:xfrm>
            <a:off x="8680701" y="2527171"/>
            <a:ext cx="1890261" cy="584775"/>
          </a:xfrm>
          <a:prstGeom prst="rect">
            <a:avLst/>
          </a:prstGeom>
          <a:noFill/>
        </p:spPr>
        <p:txBody>
          <a:bodyPr wrap="none" rtlCol="0">
            <a:spAutoFit/>
          </a:bodyPr>
          <a:lstStyle/>
          <a:p>
            <a:r>
              <a:rPr lang="ko-KR" altLang="en-US" sz="1600" dirty="0"/>
              <a:t>기존</a:t>
            </a:r>
            <a:r>
              <a:rPr lang="en-US" altLang="ko-KR" sz="1600" dirty="0"/>
              <a:t>: </a:t>
            </a:r>
            <a:r>
              <a:rPr lang="ko-KR" altLang="en-US" sz="1600" dirty="0"/>
              <a:t>군사력</a:t>
            </a:r>
            <a:endParaRPr lang="en-US" altLang="ko-KR" sz="1600" dirty="0"/>
          </a:p>
          <a:p>
            <a:r>
              <a:rPr lang="ko-KR" altLang="en-US" sz="1600" dirty="0">
                <a:solidFill>
                  <a:srgbClr val="FF0000"/>
                </a:solidFill>
              </a:rPr>
              <a:t>현재</a:t>
            </a:r>
            <a:r>
              <a:rPr lang="en-US" altLang="ko-KR" sz="1600" dirty="0">
                <a:solidFill>
                  <a:srgbClr val="FF0000"/>
                </a:solidFill>
              </a:rPr>
              <a:t>: </a:t>
            </a:r>
            <a:r>
              <a:rPr lang="ko-KR" altLang="en-US" sz="1600" dirty="0">
                <a:solidFill>
                  <a:srgbClr val="FF0000"/>
                </a:solidFill>
              </a:rPr>
              <a:t>경제력</a:t>
            </a:r>
            <a:r>
              <a:rPr lang="en-US" altLang="ko-KR" sz="1600" dirty="0">
                <a:solidFill>
                  <a:srgbClr val="FF0000"/>
                </a:solidFill>
              </a:rPr>
              <a:t>, </a:t>
            </a:r>
            <a:r>
              <a:rPr lang="ko-KR" altLang="en-US" sz="1600" dirty="0">
                <a:solidFill>
                  <a:srgbClr val="FF0000"/>
                </a:solidFill>
              </a:rPr>
              <a:t>기술력</a:t>
            </a:r>
          </a:p>
        </p:txBody>
      </p:sp>
      <p:sp>
        <p:nvSpPr>
          <p:cNvPr id="6" name="직사각형 5"/>
          <p:cNvSpPr/>
          <p:nvPr/>
        </p:nvSpPr>
        <p:spPr>
          <a:xfrm>
            <a:off x="6084273" y="914394"/>
            <a:ext cx="5706208" cy="2523392"/>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TextBox 7">
            <a:extLst>
              <a:ext uri="{FF2B5EF4-FFF2-40B4-BE49-F238E27FC236}">
                <a16:creationId xmlns:a16="http://schemas.microsoft.com/office/drawing/2014/main" id="{9373EB3B-6180-629C-66BD-3EA4A140E228}"/>
              </a:ext>
            </a:extLst>
          </p:cNvPr>
          <p:cNvSpPr txBox="1"/>
          <p:nvPr/>
        </p:nvSpPr>
        <p:spPr>
          <a:xfrm>
            <a:off x="269318" y="1074209"/>
            <a:ext cx="1187689" cy="369332"/>
          </a:xfrm>
          <a:prstGeom prst="rect">
            <a:avLst/>
          </a:prstGeom>
          <a:solidFill>
            <a:schemeClr val="tx1">
              <a:lumMod val="65000"/>
              <a:lumOff val="35000"/>
            </a:schemeClr>
          </a:solidFill>
          <a:ln>
            <a:solidFill>
              <a:schemeClr val="bg1">
                <a:lumMod val="50000"/>
              </a:schemeClr>
            </a:solidFill>
          </a:ln>
        </p:spPr>
        <p:txBody>
          <a:bodyPr wrap="square">
            <a:spAutoFit/>
          </a:bodyPr>
          <a:lstStyle/>
          <a:p>
            <a:r>
              <a:rPr lang="en-US" altLang="ko-KR" dirty="0">
                <a:solidFill>
                  <a:srgbClr val="FFFF00"/>
                </a:solidFill>
              </a:rPr>
              <a:t>PEST </a:t>
            </a:r>
            <a:r>
              <a:rPr lang="ko-KR" altLang="en-US" dirty="0">
                <a:solidFill>
                  <a:srgbClr val="FFFF00"/>
                </a:solidFill>
              </a:rPr>
              <a:t>분석</a:t>
            </a:r>
          </a:p>
        </p:txBody>
      </p:sp>
    </p:spTree>
    <p:extLst>
      <p:ext uri="{BB962C8B-B14F-4D97-AF65-F5344CB8AC3E}">
        <p14:creationId xmlns:p14="http://schemas.microsoft.com/office/powerpoint/2010/main" val="9686022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a:t>
            </a:r>
            <a:r>
              <a:rPr lang="ko-KR" altLang="en-US" dirty="0"/>
              <a:t>조</a:t>
            </a:r>
          </a:p>
        </p:txBody>
      </p:sp>
      <p:sp>
        <p:nvSpPr>
          <p:cNvPr id="4" name="텍스트 개체 틀 3"/>
          <p:cNvSpPr>
            <a:spLocks noGrp="1"/>
          </p:cNvSpPr>
          <p:nvPr>
            <p:ph type="body" sz="quarter" idx="13"/>
          </p:nvPr>
        </p:nvSpPr>
        <p:spPr/>
        <p:txBody>
          <a:bodyPr/>
          <a:lstStyle/>
          <a:p>
            <a:r>
              <a:rPr lang="ko-KR" altLang="en-US" dirty="0"/>
              <a:t>특허법의 목적</a:t>
            </a:r>
          </a:p>
        </p:txBody>
      </p:sp>
      <p:sp>
        <p:nvSpPr>
          <p:cNvPr id="5" name="슬라이드 번호 개체 틀 4"/>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6</a:t>
            </a:fld>
            <a:endParaRPr lang="ko-KR" altLang="en-US"/>
          </a:p>
        </p:txBody>
      </p:sp>
      <p:sp>
        <p:nvSpPr>
          <p:cNvPr id="2" name="TextBox 1"/>
          <p:cNvSpPr txBox="1"/>
          <p:nvPr/>
        </p:nvSpPr>
        <p:spPr>
          <a:xfrm>
            <a:off x="366258" y="3924300"/>
            <a:ext cx="1564816" cy="619363"/>
          </a:xfrm>
          <a:prstGeom prst="roundRect">
            <a:avLst>
              <a:gd name="adj" fmla="val 27198"/>
            </a:avLst>
          </a:prstGeom>
          <a:solidFill>
            <a:schemeClr val="bg2">
              <a:lumMod val="25000"/>
            </a:schemeClr>
          </a:solidFill>
        </p:spPr>
        <p:style>
          <a:lnRef idx="2">
            <a:schemeClr val="accent1"/>
          </a:lnRef>
          <a:fillRef idx="1">
            <a:schemeClr val="lt1"/>
          </a:fillRef>
          <a:effectRef idx="0">
            <a:schemeClr val="accent1"/>
          </a:effectRef>
          <a:fontRef idx="minor">
            <a:schemeClr val="dk1"/>
          </a:fontRef>
        </p:style>
        <p:txBody>
          <a:bodyPr wrap="none" rtlCol="0">
            <a:spAutoFit/>
          </a:bodyPr>
          <a:lstStyle/>
          <a:p>
            <a:r>
              <a:rPr lang="en-US" altLang="ko-KR" sz="2800" dirty="0">
                <a:solidFill>
                  <a:srgbClr val="FFFF00"/>
                </a:solidFill>
              </a:rPr>
              <a:t>PATENT</a:t>
            </a:r>
            <a:endParaRPr lang="ko-KR" altLang="en-US" sz="2800" dirty="0">
              <a:solidFill>
                <a:srgbClr val="FFFF00"/>
              </a:solidFill>
            </a:endParaRPr>
          </a:p>
        </p:txBody>
      </p:sp>
      <p:sp>
        <p:nvSpPr>
          <p:cNvPr id="17" name="TextBox 16"/>
          <p:cNvSpPr txBox="1"/>
          <p:nvPr/>
        </p:nvSpPr>
        <p:spPr>
          <a:xfrm>
            <a:off x="2870708" y="2870200"/>
            <a:ext cx="1803699" cy="523220"/>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pPr algn="ctr"/>
            <a:r>
              <a:rPr lang="ko-KR" altLang="en-US" sz="2000" dirty="0" err="1"/>
              <a:t>독점배타적</a:t>
            </a:r>
            <a:endParaRPr lang="ko-KR" altLang="en-US" sz="2000" dirty="0"/>
          </a:p>
        </p:txBody>
      </p:sp>
      <p:sp>
        <p:nvSpPr>
          <p:cNvPr id="19" name="TextBox 18"/>
          <p:cNvSpPr txBox="1"/>
          <p:nvPr/>
        </p:nvSpPr>
        <p:spPr>
          <a:xfrm>
            <a:off x="2870708" y="5118100"/>
            <a:ext cx="1803699" cy="523220"/>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pPr algn="ctr"/>
            <a:r>
              <a:rPr lang="ko-KR" altLang="en-US" sz="2000" dirty="0"/>
              <a:t>공개</a:t>
            </a:r>
          </a:p>
        </p:txBody>
      </p:sp>
      <p:sp>
        <p:nvSpPr>
          <p:cNvPr id="20" name="TextBox 19"/>
          <p:cNvSpPr txBox="1"/>
          <p:nvPr/>
        </p:nvSpPr>
        <p:spPr>
          <a:xfrm>
            <a:off x="5105400" y="2870200"/>
            <a:ext cx="1803699" cy="523220"/>
          </a:xfrm>
          <a:prstGeom prst="rect">
            <a:avLst/>
          </a:prstGeom>
          <a:solidFill>
            <a:schemeClr val="accent1">
              <a:lumMod val="40000"/>
              <a:lumOff val="60000"/>
            </a:schemeClr>
          </a:solidFill>
          <a:ln>
            <a:solidFill>
              <a:schemeClr val="bg1">
                <a:lumMod val="50000"/>
              </a:schemeClr>
            </a:solidFill>
          </a:ln>
        </p:spPr>
        <p:txBody>
          <a:bodyPr wrap="none" rtlCol="0" anchor="ctr">
            <a:noAutofit/>
          </a:bodyPr>
          <a:lstStyle/>
          <a:p>
            <a:pPr algn="ctr"/>
            <a:r>
              <a:rPr lang="ko-KR" altLang="en-US" sz="2000" dirty="0"/>
              <a:t>보호와 장려</a:t>
            </a:r>
          </a:p>
        </p:txBody>
      </p:sp>
      <p:sp>
        <p:nvSpPr>
          <p:cNvPr id="21" name="TextBox 20"/>
          <p:cNvSpPr txBox="1"/>
          <p:nvPr/>
        </p:nvSpPr>
        <p:spPr>
          <a:xfrm>
            <a:off x="5105399" y="5118100"/>
            <a:ext cx="1803699" cy="523220"/>
          </a:xfrm>
          <a:prstGeom prst="rect">
            <a:avLst/>
          </a:prstGeom>
          <a:solidFill>
            <a:schemeClr val="accent1">
              <a:lumMod val="40000"/>
              <a:lumOff val="60000"/>
            </a:schemeClr>
          </a:solidFill>
          <a:ln>
            <a:solidFill>
              <a:schemeClr val="bg1">
                <a:lumMod val="50000"/>
              </a:schemeClr>
            </a:solidFill>
          </a:ln>
        </p:spPr>
        <p:txBody>
          <a:bodyPr wrap="none" rtlCol="0" anchor="ctr">
            <a:noAutofit/>
          </a:bodyPr>
          <a:lstStyle/>
          <a:p>
            <a:pPr algn="ctr"/>
            <a:r>
              <a:rPr lang="ko-KR" altLang="en-US" sz="2000" dirty="0" err="1"/>
              <a:t>이용도모</a:t>
            </a:r>
            <a:endParaRPr lang="ko-KR" altLang="en-US" sz="2000" dirty="0"/>
          </a:p>
        </p:txBody>
      </p:sp>
      <p:sp>
        <p:nvSpPr>
          <p:cNvPr id="22" name="TextBox 21"/>
          <p:cNvSpPr txBox="1"/>
          <p:nvPr/>
        </p:nvSpPr>
        <p:spPr>
          <a:xfrm>
            <a:off x="7683500" y="3934226"/>
            <a:ext cx="1803699" cy="523220"/>
          </a:xfrm>
          <a:prstGeom prst="rect">
            <a:avLst/>
          </a:prstGeom>
          <a:solidFill>
            <a:schemeClr val="accent1">
              <a:lumMod val="60000"/>
              <a:lumOff val="40000"/>
            </a:schemeClr>
          </a:solidFill>
          <a:ln>
            <a:solidFill>
              <a:schemeClr val="bg1">
                <a:lumMod val="50000"/>
              </a:schemeClr>
            </a:solidFill>
          </a:ln>
        </p:spPr>
        <p:txBody>
          <a:bodyPr wrap="none" rtlCol="0" anchor="ctr">
            <a:noAutofit/>
          </a:bodyPr>
          <a:lstStyle/>
          <a:p>
            <a:pPr algn="ctr"/>
            <a:r>
              <a:rPr lang="ko-KR" altLang="en-US" sz="2000" dirty="0"/>
              <a:t>기술발전촉진</a:t>
            </a:r>
          </a:p>
        </p:txBody>
      </p:sp>
      <p:sp>
        <p:nvSpPr>
          <p:cNvPr id="23" name="TextBox 22"/>
          <p:cNvSpPr txBox="1"/>
          <p:nvPr/>
        </p:nvSpPr>
        <p:spPr>
          <a:xfrm>
            <a:off x="9921748" y="3934226"/>
            <a:ext cx="1803699" cy="523220"/>
          </a:xfrm>
          <a:prstGeom prst="rect">
            <a:avLst/>
          </a:prstGeom>
          <a:solidFill>
            <a:schemeClr val="accent1">
              <a:lumMod val="50000"/>
            </a:schemeClr>
          </a:solidFill>
          <a:ln>
            <a:solidFill>
              <a:schemeClr val="bg1">
                <a:lumMod val="50000"/>
              </a:schemeClr>
            </a:solidFill>
          </a:ln>
        </p:spPr>
        <p:txBody>
          <a:bodyPr wrap="none" rtlCol="0" anchor="ctr">
            <a:noAutofit/>
          </a:bodyPr>
          <a:lstStyle/>
          <a:p>
            <a:pPr algn="ctr"/>
            <a:r>
              <a:rPr lang="ko-KR" altLang="en-US" sz="2000" dirty="0">
                <a:solidFill>
                  <a:schemeClr val="bg1"/>
                </a:solidFill>
              </a:rPr>
              <a:t>산업발전이바지</a:t>
            </a:r>
          </a:p>
        </p:txBody>
      </p:sp>
      <p:cxnSp>
        <p:nvCxnSpPr>
          <p:cNvPr id="8" name="꺾인 연결선 7"/>
          <p:cNvCxnSpPr>
            <a:cxnSpLocks/>
            <a:stCxn id="2" idx="3"/>
            <a:endCxn id="17" idx="1"/>
          </p:cNvCxnSpPr>
          <p:nvPr/>
        </p:nvCxnSpPr>
        <p:spPr>
          <a:xfrm flipV="1">
            <a:off x="1931074" y="3131810"/>
            <a:ext cx="939634" cy="1102172"/>
          </a:xfrm>
          <a:prstGeom prst="bentConnector3">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0" name="꺾인 연결선 9"/>
          <p:cNvCxnSpPr>
            <a:cxnSpLocks/>
            <a:stCxn id="2" idx="3"/>
            <a:endCxn id="19" idx="1"/>
          </p:cNvCxnSpPr>
          <p:nvPr/>
        </p:nvCxnSpPr>
        <p:spPr>
          <a:xfrm>
            <a:off x="1931074" y="4233982"/>
            <a:ext cx="939634" cy="1145728"/>
          </a:xfrm>
          <a:prstGeom prst="bentConnector3">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2" name="직선 화살표 연결선 11"/>
          <p:cNvCxnSpPr>
            <a:stCxn id="17" idx="3"/>
            <a:endCxn id="20" idx="1"/>
          </p:cNvCxnSpPr>
          <p:nvPr/>
        </p:nvCxnSpPr>
        <p:spPr>
          <a:xfrm>
            <a:off x="4674407" y="3131810"/>
            <a:ext cx="430993"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 name="직선 화살표 연결선 13"/>
          <p:cNvCxnSpPr>
            <a:stCxn id="19" idx="3"/>
            <a:endCxn id="21" idx="1"/>
          </p:cNvCxnSpPr>
          <p:nvPr/>
        </p:nvCxnSpPr>
        <p:spPr>
          <a:xfrm>
            <a:off x="4674407" y="5379710"/>
            <a:ext cx="430992"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6" name="꺾인 연결선 15"/>
          <p:cNvCxnSpPr>
            <a:stCxn id="21" idx="3"/>
            <a:endCxn id="22" idx="1"/>
          </p:cNvCxnSpPr>
          <p:nvPr/>
        </p:nvCxnSpPr>
        <p:spPr>
          <a:xfrm flipV="1">
            <a:off x="6909098" y="4195836"/>
            <a:ext cx="774402" cy="1183874"/>
          </a:xfrm>
          <a:prstGeom prst="bentConnector3">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5" name="꺾인 연결선 24"/>
          <p:cNvCxnSpPr>
            <a:stCxn id="20" idx="3"/>
            <a:endCxn id="22" idx="1"/>
          </p:cNvCxnSpPr>
          <p:nvPr/>
        </p:nvCxnSpPr>
        <p:spPr>
          <a:xfrm>
            <a:off x="6909099" y="3131810"/>
            <a:ext cx="774401" cy="1064026"/>
          </a:xfrm>
          <a:prstGeom prst="bentConnector3">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7" name="직선 화살표 연결선 26"/>
          <p:cNvCxnSpPr>
            <a:stCxn id="22" idx="3"/>
            <a:endCxn id="23" idx="1"/>
          </p:cNvCxnSpPr>
          <p:nvPr/>
        </p:nvCxnSpPr>
        <p:spPr>
          <a:xfrm>
            <a:off x="9487199" y="4195836"/>
            <a:ext cx="434549"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2117344" y="3431520"/>
            <a:ext cx="98644" cy="523220"/>
          </a:xfrm>
          <a:prstGeom prst="rect">
            <a:avLst/>
          </a:prstGeom>
          <a:noFill/>
        </p:spPr>
        <p:txBody>
          <a:bodyPr wrap="square" rtlCol="0">
            <a:spAutoFit/>
          </a:bodyPr>
          <a:lstStyle/>
          <a:p>
            <a:r>
              <a:rPr lang="ko-KR" altLang="en-US" sz="1400" dirty="0"/>
              <a:t>사전</a:t>
            </a:r>
          </a:p>
        </p:txBody>
      </p:sp>
      <p:sp>
        <p:nvSpPr>
          <p:cNvPr id="41" name="TextBox 40"/>
          <p:cNvSpPr txBox="1"/>
          <p:nvPr/>
        </p:nvSpPr>
        <p:spPr>
          <a:xfrm>
            <a:off x="2117344" y="4592335"/>
            <a:ext cx="98644" cy="523220"/>
          </a:xfrm>
          <a:prstGeom prst="rect">
            <a:avLst/>
          </a:prstGeom>
          <a:noFill/>
        </p:spPr>
        <p:txBody>
          <a:bodyPr wrap="square" rtlCol="0">
            <a:spAutoFit/>
          </a:bodyPr>
          <a:lstStyle/>
          <a:p>
            <a:r>
              <a:rPr lang="ko-KR" altLang="en-US" sz="1400" dirty="0"/>
              <a:t>어원</a:t>
            </a:r>
          </a:p>
        </p:txBody>
      </p:sp>
      <p:sp>
        <p:nvSpPr>
          <p:cNvPr id="29" name="TextBox 28"/>
          <p:cNvSpPr txBox="1"/>
          <p:nvPr/>
        </p:nvSpPr>
        <p:spPr>
          <a:xfrm>
            <a:off x="5593354" y="3396972"/>
            <a:ext cx="877163" cy="369332"/>
          </a:xfrm>
          <a:prstGeom prst="rect">
            <a:avLst/>
          </a:prstGeom>
          <a:noFill/>
        </p:spPr>
        <p:txBody>
          <a:bodyPr wrap="none" rtlCol="0">
            <a:spAutoFit/>
          </a:bodyPr>
          <a:lstStyle/>
          <a:p>
            <a:r>
              <a:rPr lang="en-US" altLang="ko-KR" dirty="0"/>
              <a:t>&lt;</a:t>
            </a:r>
            <a:r>
              <a:rPr lang="ko-KR" altLang="en-US" dirty="0"/>
              <a:t>사익</a:t>
            </a:r>
            <a:r>
              <a:rPr lang="en-US" altLang="ko-KR" dirty="0"/>
              <a:t>&gt;</a:t>
            </a:r>
            <a:endParaRPr lang="ko-KR" altLang="en-US" dirty="0"/>
          </a:p>
        </p:txBody>
      </p:sp>
      <p:sp>
        <p:nvSpPr>
          <p:cNvPr id="43" name="TextBox 42"/>
          <p:cNvSpPr txBox="1"/>
          <p:nvPr/>
        </p:nvSpPr>
        <p:spPr>
          <a:xfrm>
            <a:off x="5593354" y="4745216"/>
            <a:ext cx="877163" cy="369332"/>
          </a:xfrm>
          <a:prstGeom prst="rect">
            <a:avLst/>
          </a:prstGeom>
          <a:noFill/>
        </p:spPr>
        <p:txBody>
          <a:bodyPr wrap="none" rtlCol="0">
            <a:spAutoFit/>
          </a:bodyPr>
          <a:lstStyle/>
          <a:p>
            <a:r>
              <a:rPr lang="en-US" altLang="ko-KR" dirty="0"/>
              <a:t>&lt;</a:t>
            </a:r>
            <a:r>
              <a:rPr lang="ko-KR" altLang="en-US" dirty="0"/>
              <a:t>공익</a:t>
            </a:r>
            <a:r>
              <a:rPr lang="en-US" altLang="ko-KR" dirty="0"/>
              <a:t>&gt;</a:t>
            </a:r>
            <a:endParaRPr lang="ko-KR" altLang="en-US" dirty="0"/>
          </a:p>
        </p:txBody>
      </p:sp>
      <p:sp>
        <p:nvSpPr>
          <p:cNvPr id="30" name="등호 29"/>
          <p:cNvSpPr/>
          <p:nvPr/>
        </p:nvSpPr>
        <p:spPr>
          <a:xfrm rot="5400000">
            <a:off x="5707654" y="4043640"/>
            <a:ext cx="756646" cy="388660"/>
          </a:xfrm>
          <a:prstGeom prst="mathEqual">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45" name="TextBox 44"/>
          <p:cNvSpPr txBox="1"/>
          <p:nvPr/>
        </p:nvSpPr>
        <p:spPr>
          <a:xfrm>
            <a:off x="77875" y="986046"/>
            <a:ext cx="11936323" cy="954107"/>
          </a:xfrm>
          <a:prstGeom prst="rect">
            <a:avLst/>
          </a:prstGeom>
          <a:noFill/>
        </p:spPr>
        <p:txBody>
          <a:bodyPr wrap="square" rtlCol="0">
            <a:spAutoFit/>
          </a:bodyPr>
          <a:lstStyle/>
          <a:p>
            <a:pPr fontAlgn="base"/>
            <a:r>
              <a:rPr lang="ko-KR" altLang="en-US" sz="1400" dirty="0">
                <a:solidFill>
                  <a:schemeClr val="tx2"/>
                </a:solidFill>
              </a:rPr>
              <a:t>특허법은 발명을 </a:t>
            </a:r>
            <a:r>
              <a:rPr lang="ko-KR" altLang="en-US" sz="1400" dirty="0" err="1">
                <a:solidFill>
                  <a:schemeClr val="tx2"/>
                </a:solidFill>
              </a:rPr>
              <a:t>보호ㆍ장려하고</a:t>
            </a:r>
            <a:r>
              <a:rPr lang="ko-KR" altLang="en-US" sz="1400" dirty="0">
                <a:solidFill>
                  <a:schemeClr val="tx2"/>
                </a:solidFill>
              </a:rPr>
              <a:t> 그 이용을 도모함으로써 기술의 발전을 촉진하여 산업발전에 이바지함을 그 목적으로 한다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 </a:t>
            </a:r>
            <a:r>
              <a:rPr lang="ko-KR" altLang="en-US" sz="1400" dirty="0">
                <a:solidFill>
                  <a:schemeClr val="tx2"/>
                </a:solidFill>
              </a:rPr>
              <a:t>즉</a:t>
            </a:r>
            <a:r>
              <a:rPr lang="en-US" altLang="ko-KR" sz="1400" dirty="0">
                <a:solidFill>
                  <a:schemeClr val="tx2"/>
                </a:solidFill>
              </a:rPr>
              <a:t>, </a:t>
            </a:r>
            <a:r>
              <a:rPr lang="ko-KR" altLang="en-US" sz="1400" dirty="0">
                <a:solidFill>
                  <a:schemeClr val="tx2"/>
                </a:solidFill>
              </a:rPr>
              <a:t>특허법은 </a:t>
            </a:r>
            <a:r>
              <a:rPr lang="ko-KR" altLang="en-US" sz="1400" dirty="0">
                <a:highlight>
                  <a:srgbClr val="FFFF00"/>
                </a:highlight>
              </a:rPr>
              <a:t>발명의 </a:t>
            </a:r>
            <a:r>
              <a:rPr lang="ko-KR" altLang="en-US" sz="1400" dirty="0" err="1">
                <a:highlight>
                  <a:srgbClr val="FFFF00"/>
                </a:highlight>
              </a:rPr>
              <a:t>보호ㆍ장려라는</a:t>
            </a:r>
            <a:r>
              <a:rPr lang="ko-KR" altLang="en-US" sz="1400" dirty="0">
                <a:highlight>
                  <a:srgbClr val="FFFF00"/>
                </a:highlight>
              </a:rPr>
              <a:t> </a:t>
            </a:r>
            <a:r>
              <a:rPr lang="ko-KR" altLang="en-US" sz="1400" dirty="0" err="1">
                <a:highlight>
                  <a:srgbClr val="FFFF00"/>
                </a:highlight>
              </a:rPr>
              <a:t>사익적</a:t>
            </a:r>
            <a:r>
              <a:rPr lang="ko-KR" altLang="en-US" sz="1400" dirty="0">
                <a:highlight>
                  <a:srgbClr val="FFFF00"/>
                </a:highlight>
              </a:rPr>
              <a:t> 측면과 제</a:t>
            </a:r>
            <a:r>
              <a:rPr lang="en-US" altLang="ko-KR" sz="1400" dirty="0">
                <a:highlight>
                  <a:srgbClr val="FFFF00"/>
                </a:highlight>
              </a:rPr>
              <a:t>3</a:t>
            </a:r>
            <a:r>
              <a:rPr lang="ko-KR" altLang="en-US" sz="1400" dirty="0">
                <a:highlight>
                  <a:srgbClr val="FFFF00"/>
                </a:highlight>
              </a:rPr>
              <a:t>자의 이용 </a:t>
            </a:r>
            <a:r>
              <a:rPr lang="ko-KR" altLang="en-US" sz="1400" dirty="0" err="1">
                <a:highlight>
                  <a:srgbClr val="FFFF00"/>
                </a:highlight>
              </a:rPr>
              <a:t>도모라는</a:t>
            </a:r>
            <a:r>
              <a:rPr lang="ko-KR" altLang="en-US" sz="1400" dirty="0">
                <a:highlight>
                  <a:srgbClr val="FFFF00"/>
                </a:highlight>
              </a:rPr>
              <a:t> 공익적 측면의 조화</a:t>
            </a:r>
            <a:r>
              <a:rPr lang="ko-KR" altLang="en-US" sz="1400" dirty="0">
                <a:solidFill>
                  <a:schemeClr val="tx2"/>
                </a:solidFill>
              </a:rPr>
              <a:t>를 통해 기술발전을 촉진시키고</a:t>
            </a:r>
            <a:r>
              <a:rPr lang="en-US" altLang="ko-KR" sz="1400" dirty="0">
                <a:solidFill>
                  <a:schemeClr val="tx2"/>
                </a:solidFill>
              </a:rPr>
              <a:t>, </a:t>
            </a:r>
            <a:r>
              <a:rPr lang="ko-KR" altLang="en-US" sz="1400" dirty="0">
                <a:solidFill>
                  <a:schemeClr val="tx2"/>
                </a:solidFill>
              </a:rPr>
              <a:t>그 결과 산업발전에 이바지하고자 한다</a:t>
            </a:r>
            <a:r>
              <a:rPr lang="en-US" altLang="ko-KR" sz="1400" dirty="0">
                <a:solidFill>
                  <a:schemeClr val="tx2"/>
                </a:solidFill>
              </a:rPr>
              <a:t>. </a:t>
            </a:r>
            <a:r>
              <a:rPr lang="ko-KR" altLang="en-US" sz="1400" dirty="0">
                <a:solidFill>
                  <a:schemeClr val="tx2"/>
                </a:solidFill>
              </a:rPr>
              <a:t>특허법의 목적을 규정하고 있는 제</a:t>
            </a:r>
            <a:r>
              <a:rPr lang="en-US" altLang="ko-KR" sz="1400" dirty="0">
                <a:solidFill>
                  <a:schemeClr val="tx2"/>
                </a:solidFill>
              </a:rPr>
              <a:t>1</a:t>
            </a:r>
            <a:r>
              <a:rPr lang="ko-KR" altLang="en-US" sz="1400" dirty="0">
                <a:solidFill>
                  <a:schemeClr val="tx2"/>
                </a:solidFill>
              </a:rPr>
              <a:t>조 이외의 나머지 규정들은 특허법의 목적을 달성하기 위해 존재한다고 할 수 있다</a:t>
            </a:r>
            <a:r>
              <a:rPr lang="en-US" altLang="ko-KR" sz="1400" dirty="0">
                <a:solidFill>
                  <a:schemeClr val="tx2"/>
                </a:solidFill>
              </a:rPr>
              <a:t>. </a:t>
            </a:r>
            <a:r>
              <a:rPr lang="ko-KR" altLang="en-US" sz="1400" dirty="0">
                <a:solidFill>
                  <a:schemeClr val="tx2"/>
                </a:solidFill>
              </a:rPr>
              <a:t>따라서 제</a:t>
            </a:r>
            <a:r>
              <a:rPr lang="en-US" altLang="ko-KR" sz="1400" dirty="0">
                <a:solidFill>
                  <a:schemeClr val="tx2"/>
                </a:solidFill>
              </a:rPr>
              <a:t>1</a:t>
            </a:r>
            <a:r>
              <a:rPr lang="ko-KR" altLang="en-US" sz="1400" dirty="0">
                <a:solidFill>
                  <a:schemeClr val="tx2"/>
                </a:solidFill>
              </a:rPr>
              <a:t>조의 특허법의 목적은 </a:t>
            </a:r>
            <a:r>
              <a:rPr lang="ko-KR" altLang="en-US" sz="1400" dirty="0">
                <a:highlight>
                  <a:srgbClr val="FFFF00"/>
                </a:highlight>
              </a:rPr>
              <a:t>모든 조문의 해석기준</a:t>
            </a:r>
            <a:r>
              <a:rPr lang="ko-KR" altLang="en-US" sz="1400" dirty="0">
                <a:solidFill>
                  <a:schemeClr val="tx2"/>
                </a:solidFill>
              </a:rPr>
              <a:t>이 되며</a:t>
            </a:r>
            <a:r>
              <a:rPr lang="en-US" altLang="ko-KR" sz="1400" dirty="0">
                <a:solidFill>
                  <a:schemeClr val="tx2"/>
                </a:solidFill>
              </a:rPr>
              <a:t>, </a:t>
            </a:r>
            <a:r>
              <a:rPr lang="ko-KR" altLang="en-US" sz="1400" dirty="0">
                <a:solidFill>
                  <a:schemeClr val="tx2"/>
                </a:solidFill>
              </a:rPr>
              <a:t>나머지 규정들이 서로 충돌할 때는 제</a:t>
            </a:r>
            <a:r>
              <a:rPr lang="en-US" altLang="ko-KR" sz="1400" dirty="0">
                <a:solidFill>
                  <a:schemeClr val="tx2"/>
                </a:solidFill>
              </a:rPr>
              <a:t>1</a:t>
            </a:r>
            <a:r>
              <a:rPr lang="ko-KR" altLang="en-US" sz="1400" dirty="0">
                <a:solidFill>
                  <a:schemeClr val="tx2"/>
                </a:solidFill>
              </a:rPr>
              <a:t>조에 부합하게 해석하여야 한다</a:t>
            </a:r>
            <a:r>
              <a:rPr lang="en-US" altLang="ko-KR" sz="1400" dirty="0">
                <a:solidFill>
                  <a:schemeClr val="tx2"/>
                </a:solidFill>
              </a:rPr>
              <a:t>.</a:t>
            </a:r>
            <a:endParaRPr lang="ko-KR" altLang="en-US" sz="1400" dirty="0">
              <a:solidFill>
                <a:schemeClr val="tx2"/>
              </a:solidFill>
            </a:endParaRPr>
          </a:p>
        </p:txBody>
      </p:sp>
      <p:cxnSp>
        <p:nvCxnSpPr>
          <p:cNvPr id="46" name="직선 연결선 45"/>
          <p:cNvCxnSpPr/>
          <p:nvPr/>
        </p:nvCxnSpPr>
        <p:spPr>
          <a:xfrm>
            <a:off x="0" y="194384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6133589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a:t>
            </a:r>
            <a:r>
              <a:rPr lang="ko-KR" altLang="en-US" dirty="0"/>
              <a:t>조</a:t>
            </a:r>
          </a:p>
        </p:txBody>
      </p:sp>
      <p:sp>
        <p:nvSpPr>
          <p:cNvPr id="4" name="텍스트 개체 틀 3"/>
          <p:cNvSpPr>
            <a:spLocks noGrp="1"/>
          </p:cNvSpPr>
          <p:nvPr>
            <p:ph type="body" sz="quarter" idx="13"/>
          </p:nvPr>
        </p:nvSpPr>
        <p:spPr/>
        <p:txBody>
          <a:bodyPr/>
          <a:lstStyle/>
          <a:p>
            <a:r>
              <a:rPr lang="ko-KR" altLang="en-US" dirty="0"/>
              <a:t>발명의 실체적 보호</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7</a:t>
            </a:fld>
            <a:endParaRPr lang="ko-KR" altLang="en-US"/>
          </a:p>
        </p:txBody>
      </p:sp>
      <p:sp>
        <p:nvSpPr>
          <p:cNvPr id="45" name="TextBox 44"/>
          <p:cNvSpPr txBox="1"/>
          <p:nvPr/>
        </p:nvSpPr>
        <p:spPr>
          <a:xfrm>
            <a:off x="77875" y="986046"/>
            <a:ext cx="11936323" cy="523220"/>
          </a:xfrm>
          <a:prstGeom prst="rect">
            <a:avLst/>
          </a:prstGeom>
          <a:noFill/>
        </p:spPr>
        <p:txBody>
          <a:bodyPr wrap="square" rtlCol="0">
            <a:spAutoFit/>
          </a:bodyPr>
          <a:lstStyle/>
          <a:p>
            <a:pPr fontAlgn="base"/>
            <a:r>
              <a:rPr lang="ko-KR" altLang="en-US" sz="1400" dirty="0">
                <a:solidFill>
                  <a:schemeClr val="tx2"/>
                </a:solidFill>
              </a:rPr>
              <a:t>정의 규정의 만족으로 발생한 발명은 등록 전에는 </a:t>
            </a:r>
            <a:r>
              <a:rPr lang="ko-KR" altLang="en-US" sz="1400" dirty="0">
                <a:highlight>
                  <a:srgbClr val="FFFF00"/>
                </a:highlight>
              </a:rPr>
              <a:t>특허를 받을 수 있는 권리</a:t>
            </a:r>
            <a:r>
              <a:rPr lang="ko-KR" altLang="en-US" sz="1400" dirty="0">
                <a:solidFill>
                  <a:schemeClr val="tx2"/>
                </a:solidFill>
              </a:rPr>
              <a:t>에 의하여</a:t>
            </a:r>
            <a:r>
              <a:rPr lang="en-US" altLang="ko-KR" sz="1400" dirty="0">
                <a:solidFill>
                  <a:schemeClr val="tx2"/>
                </a:solidFill>
              </a:rPr>
              <a:t>, </a:t>
            </a:r>
            <a:r>
              <a:rPr lang="ko-KR" altLang="en-US" sz="1400" dirty="0">
                <a:solidFill>
                  <a:schemeClr val="tx2"/>
                </a:solidFill>
              </a:rPr>
              <a:t>등록 후에는 </a:t>
            </a:r>
            <a:r>
              <a:rPr lang="ko-KR" altLang="en-US" sz="1400" dirty="0">
                <a:highlight>
                  <a:srgbClr val="FFFF00"/>
                </a:highlight>
              </a:rPr>
              <a:t>특허권</a:t>
            </a:r>
            <a:r>
              <a:rPr lang="ko-KR" altLang="en-US" sz="1400" dirty="0">
                <a:solidFill>
                  <a:schemeClr val="tx2"/>
                </a:solidFill>
              </a:rPr>
              <a:t>에 의하여 보호를 받게 된다</a:t>
            </a:r>
            <a:r>
              <a:rPr lang="en-US" altLang="ko-KR" sz="1400" dirty="0">
                <a:solidFill>
                  <a:schemeClr val="tx2"/>
                </a:solidFill>
              </a:rPr>
              <a:t>. </a:t>
            </a:r>
            <a:r>
              <a:rPr lang="ko-KR" altLang="en-US" sz="1400" dirty="0">
                <a:solidFill>
                  <a:schemeClr val="tx2"/>
                </a:solidFill>
              </a:rPr>
              <a:t>이와 같은 발명 중 특허출원에서 등록 전까지의 발명을 </a:t>
            </a:r>
            <a:r>
              <a:rPr lang="ko-KR" altLang="en-US" sz="1400" dirty="0">
                <a:highlight>
                  <a:srgbClr val="FFFF00"/>
                </a:highlight>
              </a:rPr>
              <a:t>출원발명</a:t>
            </a:r>
            <a:r>
              <a:rPr lang="ko-KR" altLang="en-US" sz="1400" dirty="0">
                <a:solidFill>
                  <a:schemeClr val="tx2"/>
                </a:solidFill>
              </a:rPr>
              <a:t>이라 지칭하며</a:t>
            </a:r>
            <a:r>
              <a:rPr lang="en-US" altLang="ko-KR" sz="1400" dirty="0">
                <a:solidFill>
                  <a:schemeClr val="tx2"/>
                </a:solidFill>
              </a:rPr>
              <a:t>, </a:t>
            </a:r>
            <a:r>
              <a:rPr lang="ko-KR" altLang="en-US" sz="1400" dirty="0">
                <a:solidFill>
                  <a:schemeClr val="tx2"/>
                </a:solidFill>
              </a:rPr>
              <a:t>등록 후의 발명을 </a:t>
            </a:r>
            <a:r>
              <a:rPr lang="ko-KR" altLang="en-US" sz="1400" dirty="0">
                <a:highlight>
                  <a:srgbClr val="FFFF00"/>
                </a:highlight>
              </a:rPr>
              <a:t>특허발명</a:t>
            </a:r>
            <a:r>
              <a:rPr lang="ko-KR" altLang="en-US" sz="1400" dirty="0">
                <a:solidFill>
                  <a:schemeClr val="tx2"/>
                </a:solidFill>
              </a:rPr>
              <a:t>이라 지칭한다</a:t>
            </a:r>
            <a:r>
              <a:rPr lang="en-US" altLang="ko-KR" sz="1400" dirty="0">
                <a:solidFill>
                  <a:schemeClr val="tx2"/>
                </a:solidFill>
              </a:rPr>
              <a:t>.</a:t>
            </a:r>
            <a:endParaRPr lang="ko-KR" altLang="en-US" sz="1400" dirty="0">
              <a:solidFill>
                <a:schemeClr val="tx2"/>
              </a:solidFill>
            </a:endParaRPr>
          </a:p>
        </p:txBody>
      </p:sp>
      <p:cxnSp>
        <p:nvCxnSpPr>
          <p:cNvPr id="46" name="직선 연결선 45"/>
          <p:cNvCxnSpPr/>
          <p:nvPr/>
        </p:nvCxnSpPr>
        <p:spPr>
          <a:xfrm>
            <a:off x="0" y="151204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9652000" y="1987566"/>
            <a:ext cx="0" cy="4502134"/>
          </a:xfrm>
          <a:prstGeom prst="line">
            <a:avLst/>
          </a:prstGeom>
          <a:ln>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a:off x="3289300" y="1987566"/>
            <a:ext cx="0" cy="4502134"/>
          </a:xfrm>
          <a:prstGeom prst="line">
            <a:avLst/>
          </a:prstGeom>
          <a:ln>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 name="직선 연결선 17"/>
          <p:cNvCxnSpPr/>
          <p:nvPr/>
        </p:nvCxnSpPr>
        <p:spPr>
          <a:xfrm>
            <a:off x="2019300" y="1987566"/>
            <a:ext cx="0" cy="4502134"/>
          </a:xfrm>
          <a:prstGeom prst="line">
            <a:avLst/>
          </a:prstGeom>
          <a:ln>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 name="직선 연결선 5"/>
          <p:cNvCxnSpPr/>
          <p:nvPr/>
        </p:nvCxnSpPr>
        <p:spPr>
          <a:xfrm>
            <a:off x="1320800" y="2709062"/>
            <a:ext cx="105537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 name="직사각형 6"/>
          <p:cNvSpPr/>
          <p:nvPr/>
        </p:nvSpPr>
        <p:spPr>
          <a:xfrm>
            <a:off x="1638300" y="2390775"/>
            <a:ext cx="775180" cy="6365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발명</a:t>
            </a:r>
            <a:endParaRPr lang="en-US" altLang="ko-KR" sz="1400" dirty="0"/>
          </a:p>
          <a:p>
            <a:pPr algn="ctr"/>
            <a:r>
              <a:rPr lang="ko-KR" altLang="en-US" sz="1400" dirty="0"/>
              <a:t>완성</a:t>
            </a:r>
          </a:p>
        </p:txBody>
      </p:sp>
      <p:sp>
        <p:nvSpPr>
          <p:cNvPr id="31" name="직사각형 30"/>
          <p:cNvSpPr/>
          <p:nvPr/>
        </p:nvSpPr>
        <p:spPr>
          <a:xfrm>
            <a:off x="2910046" y="2390775"/>
            <a:ext cx="775180" cy="6365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특허</a:t>
            </a:r>
            <a:endParaRPr lang="en-US" altLang="ko-KR" sz="1400" dirty="0"/>
          </a:p>
          <a:p>
            <a:pPr algn="ctr"/>
            <a:r>
              <a:rPr lang="ko-KR" altLang="en-US" sz="1400" dirty="0"/>
              <a:t>출원</a:t>
            </a:r>
          </a:p>
        </p:txBody>
      </p:sp>
      <p:sp>
        <p:nvSpPr>
          <p:cNvPr id="32" name="직사각형 31"/>
          <p:cNvSpPr/>
          <p:nvPr/>
        </p:nvSpPr>
        <p:spPr>
          <a:xfrm>
            <a:off x="4181792" y="2390775"/>
            <a:ext cx="775180" cy="636574"/>
          </a:xfrm>
          <a:prstGeom prst="rect">
            <a:avLst/>
          </a:prstGeom>
          <a:solidFill>
            <a:schemeClr val="bg2">
              <a:lumMod val="9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2">
                    <a:lumMod val="50000"/>
                  </a:schemeClr>
                </a:solidFill>
              </a:rPr>
              <a:t>출원</a:t>
            </a:r>
            <a:endParaRPr lang="en-US" altLang="ko-KR" sz="1400" dirty="0">
              <a:solidFill>
                <a:schemeClr val="tx2">
                  <a:lumMod val="50000"/>
                </a:schemeClr>
              </a:solidFill>
            </a:endParaRPr>
          </a:p>
          <a:p>
            <a:pPr algn="ctr"/>
            <a:r>
              <a:rPr lang="ko-KR" altLang="en-US" sz="1400" dirty="0">
                <a:solidFill>
                  <a:schemeClr val="tx2">
                    <a:lumMod val="50000"/>
                  </a:schemeClr>
                </a:solidFill>
              </a:rPr>
              <a:t>공개</a:t>
            </a:r>
          </a:p>
        </p:txBody>
      </p:sp>
      <p:sp>
        <p:nvSpPr>
          <p:cNvPr id="33" name="직사각형 32"/>
          <p:cNvSpPr/>
          <p:nvPr/>
        </p:nvSpPr>
        <p:spPr>
          <a:xfrm>
            <a:off x="5453537" y="2390775"/>
            <a:ext cx="775180" cy="636574"/>
          </a:xfrm>
          <a:prstGeom prst="rect">
            <a:avLst/>
          </a:prstGeom>
          <a:solidFill>
            <a:schemeClr val="bg2">
              <a:lumMod val="9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2">
                    <a:lumMod val="50000"/>
                  </a:schemeClr>
                </a:solidFill>
              </a:rPr>
              <a:t>실체</a:t>
            </a:r>
            <a:endParaRPr lang="en-US" altLang="ko-KR" sz="1400" dirty="0">
              <a:solidFill>
                <a:schemeClr val="tx2">
                  <a:lumMod val="50000"/>
                </a:schemeClr>
              </a:solidFill>
            </a:endParaRPr>
          </a:p>
          <a:p>
            <a:pPr algn="ctr"/>
            <a:r>
              <a:rPr lang="ko-KR" altLang="en-US" sz="1400" dirty="0">
                <a:solidFill>
                  <a:schemeClr val="tx2">
                    <a:lumMod val="50000"/>
                  </a:schemeClr>
                </a:solidFill>
              </a:rPr>
              <a:t>심사</a:t>
            </a:r>
          </a:p>
        </p:txBody>
      </p:sp>
      <p:sp>
        <p:nvSpPr>
          <p:cNvPr id="34" name="직사각형 33"/>
          <p:cNvSpPr/>
          <p:nvPr/>
        </p:nvSpPr>
        <p:spPr>
          <a:xfrm>
            <a:off x="6725283" y="2390775"/>
            <a:ext cx="775180" cy="636574"/>
          </a:xfrm>
          <a:prstGeom prst="rect">
            <a:avLst/>
          </a:prstGeom>
          <a:solidFill>
            <a:schemeClr val="bg2">
              <a:lumMod val="9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2">
                    <a:lumMod val="50000"/>
                  </a:schemeClr>
                </a:solidFill>
              </a:rPr>
              <a:t>특허</a:t>
            </a:r>
            <a:endParaRPr lang="en-US" altLang="ko-KR" sz="1400" dirty="0">
              <a:solidFill>
                <a:schemeClr val="tx2">
                  <a:lumMod val="50000"/>
                </a:schemeClr>
              </a:solidFill>
            </a:endParaRPr>
          </a:p>
          <a:p>
            <a:pPr algn="ctr"/>
            <a:r>
              <a:rPr lang="ko-KR" altLang="en-US" sz="1400" dirty="0">
                <a:solidFill>
                  <a:schemeClr val="tx2">
                    <a:lumMod val="50000"/>
                  </a:schemeClr>
                </a:solidFill>
              </a:rPr>
              <a:t>결정</a:t>
            </a:r>
          </a:p>
        </p:txBody>
      </p:sp>
      <p:sp>
        <p:nvSpPr>
          <p:cNvPr id="35" name="직사각형 34"/>
          <p:cNvSpPr/>
          <p:nvPr/>
        </p:nvSpPr>
        <p:spPr>
          <a:xfrm>
            <a:off x="7997029" y="2390775"/>
            <a:ext cx="775180" cy="636574"/>
          </a:xfrm>
          <a:prstGeom prst="rect">
            <a:avLst/>
          </a:prstGeom>
          <a:solidFill>
            <a:schemeClr val="bg2">
              <a:lumMod val="9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2">
                    <a:lumMod val="50000"/>
                  </a:schemeClr>
                </a:solidFill>
              </a:rPr>
              <a:t>특허료</a:t>
            </a:r>
            <a:endParaRPr lang="en-US" altLang="ko-KR" sz="1400" dirty="0">
              <a:solidFill>
                <a:schemeClr val="tx2">
                  <a:lumMod val="50000"/>
                </a:schemeClr>
              </a:solidFill>
            </a:endParaRPr>
          </a:p>
          <a:p>
            <a:pPr algn="ctr"/>
            <a:r>
              <a:rPr lang="ko-KR" altLang="en-US" sz="1400" dirty="0">
                <a:solidFill>
                  <a:schemeClr val="tx2">
                    <a:lumMod val="50000"/>
                  </a:schemeClr>
                </a:solidFill>
              </a:rPr>
              <a:t>납부</a:t>
            </a:r>
          </a:p>
        </p:txBody>
      </p:sp>
      <p:sp>
        <p:nvSpPr>
          <p:cNvPr id="36" name="직사각형 35"/>
          <p:cNvSpPr/>
          <p:nvPr/>
        </p:nvSpPr>
        <p:spPr>
          <a:xfrm>
            <a:off x="9268775" y="2390775"/>
            <a:ext cx="775180" cy="6365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설정</a:t>
            </a:r>
            <a:endParaRPr lang="en-US" altLang="ko-KR" sz="1400" dirty="0"/>
          </a:p>
          <a:p>
            <a:pPr algn="ctr"/>
            <a:r>
              <a:rPr lang="ko-KR" altLang="en-US" sz="1400" dirty="0"/>
              <a:t>등록</a:t>
            </a:r>
          </a:p>
        </p:txBody>
      </p:sp>
      <p:sp>
        <p:nvSpPr>
          <p:cNvPr id="37" name="직사각형 36"/>
          <p:cNvSpPr/>
          <p:nvPr/>
        </p:nvSpPr>
        <p:spPr>
          <a:xfrm>
            <a:off x="10540520" y="2390775"/>
            <a:ext cx="775180" cy="636574"/>
          </a:xfrm>
          <a:prstGeom prst="rect">
            <a:avLst/>
          </a:prstGeom>
          <a:solidFill>
            <a:schemeClr val="bg2">
              <a:lumMod val="9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2">
                    <a:lumMod val="50000"/>
                  </a:schemeClr>
                </a:solidFill>
              </a:rPr>
              <a:t>등록</a:t>
            </a:r>
            <a:endParaRPr lang="en-US" altLang="ko-KR" sz="1400" dirty="0">
              <a:solidFill>
                <a:schemeClr val="tx2">
                  <a:lumMod val="50000"/>
                </a:schemeClr>
              </a:solidFill>
            </a:endParaRPr>
          </a:p>
          <a:p>
            <a:pPr algn="ctr"/>
            <a:r>
              <a:rPr lang="ko-KR" altLang="en-US" sz="1400" dirty="0">
                <a:solidFill>
                  <a:schemeClr val="tx2">
                    <a:lumMod val="50000"/>
                  </a:schemeClr>
                </a:solidFill>
              </a:rPr>
              <a:t>공고</a:t>
            </a:r>
          </a:p>
        </p:txBody>
      </p:sp>
      <p:cxnSp>
        <p:nvCxnSpPr>
          <p:cNvPr id="38" name="직선 연결선 37"/>
          <p:cNvCxnSpPr/>
          <p:nvPr/>
        </p:nvCxnSpPr>
        <p:spPr>
          <a:xfrm>
            <a:off x="1320800" y="3560427"/>
            <a:ext cx="105537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0" name="모서리가 둥근 직사각형 39"/>
          <p:cNvSpPr/>
          <p:nvPr/>
        </p:nvSpPr>
        <p:spPr>
          <a:xfrm>
            <a:off x="1563557" y="3343978"/>
            <a:ext cx="924666" cy="432898"/>
          </a:xfrm>
          <a:prstGeom prst="roundRect">
            <a:avLst>
              <a:gd name="adj" fmla="val 50000"/>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발명</a:t>
            </a:r>
          </a:p>
        </p:txBody>
      </p:sp>
      <p:sp>
        <p:nvSpPr>
          <p:cNvPr id="52" name="모서리가 둥근 직사각형 51"/>
          <p:cNvSpPr/>
          <p:nvPr/>
        </p:nvSpPr>
        <p:spPr>
          <a:xfrm>
            <a:off x="341547" y="2492613"/>
            <a:ext cx="775180" cy="432898"/>
          </a:xfrm>
          <a:prstGeom prst="roundRect">
            <a:avLst>
              <a:gd name="adj" fmla="val 50000"/>
            </a:avLst>
          </a:prstGeom>
          <a:solidFill>
            <a:schemeClr val="accent2">
              <a:lumMod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절차</a:t>
            </a:r>
          </a:p>
        </p:txBody>
      </p:sp>
      <p:sp>
        <p:nvSpPr>
          <p:cNvPr id="53" name="모서리가 둥근 직사각형 52"/>
          <p:cNvSpPr/>
          <p:nvPr/>
        </p:nvSpPr>
        <p:spPr>
          <a:xfrm>
            <a:off x="341547" y="3343978"/>
            <a:ext cx="775180" cy="432898"/>
          </a:xfrm>
          <a:prstGeom prst="roundRect">
            <a:avLst>
              <a:gd name="adj" fmla="val 50000"/>
            </a:avLst>
          </a:prstGeom>
          <a:solidFill>
            <a:schemeClr val="accent2">
              <a:lumMod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객체</a:t>
            </a:r>
          </a:p>
        </p:txBody>
      </p:sp>
      <p:cxnSp>
        <p:nvCxnSpPr>
          <p:cNvPr id="54" name="직선 연결선 53"/>
          <p:cNvCxnSpPr/>
          <p:nvPr/>
        </p:nvCxnSpPr>
        <p:spPr>
          <a:xfrm>
            <a:off x="1320800" y="4411791"/>
            <a:ext cx="105537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6" name="모서리가 둥근 직사각형 55"/>
          <p:cNvSpPr/>
          <p:nvPr/>
        </p:nvSpPr>
        <p:spPr>
          <a:xfrm>
            <a:off x="341547" y="4195342"/>
            <a:ext cx="775180" cy="432898"/>
          </a:xfrm>
          <a:prstGeom prst="roundRect">
            <a:avLst>
              <a:gd name="adj" fmla="val 50000"/>
            </a:avLst>
          </a:prstGeom>
          <a:solidFill>
            <a:schemeClr val="accent2">
              <a:lumMod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권리</a:t>
            </a:r>
          </a:p>
        </p:txBody>
      </p:sp>
      <p:cxnSp>
        <p:nvCxnSpPr>
          <p:cNvPr id="57" name="직선 연결선 56"/>
          <p:cNvCxnSpPr/>
          <p:nvPr/>
        </p:nvCxnSpPr>
        <p:spPr>
          <a:xfrm>
            <a:off x="1320800" y="5263155"/>
            <a:ext cx="105537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8" name="모서리가 둥근 직사각형 57"/>
          <p:cNvSpPr/>
          <p:nvPr/>
        </p:nvSpPr>
        <p:spPr>
          <a:xfrm>
            <a:off x="1563557" y="5046706"/>
            <a:ext cx="924666" cy="432898"/>
          </a:xfrm>
          <a:prstGeom prst="roundRect">
            <a:avLst>
              <a:gd name="adj" fmla="val 50000"/>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발명자</a:t>
            </a:r>
          </a:p>
        </p:txBody>
      </p:sp>
      <p:sp>
        <p:nvSpPr>
          <p:cNvPr id="59" name="모서리가 둥근 직사각형 58"/>
          <p:cNvSpPr/>
          <p:nvPr/>
        </p:nvSpPr>
        <p:spPr>
          <a:xfrm>
            <a:off x="341547" y="5046706"/>
            <a:ext cx="775180" cy="432898"/>
          </a:xfrm>
          <a:prstGeom prst="roundRect">
            <a:avLst>
              <a:gd name="adj" fmla="val 50000"/>
            </a:avLst>
          </a:prstGeom>
          <a:solidFill>
            <a:schemeClr val="accent2">
              <a:lumMod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주체</a:t>
            </a:r>
          </a:p>
        </p:txBody>
      </p:sp>
      <p:cxnSp>
        <p:nvCxnSpPr>
          <p:cNvPr id="26" name="직선 화살표 연결선 25"/>
          <p:cNvCxnSpPr/>
          <p:nvPr/>
        </p:nvCxnSpPr>
        <p:spPr>
          <a:xfrm>
            <a:off x="3289300" y="3343978"/>
            <a:ext cx="6362700" cy="0"/>
          </a:xfrm>
          <a:prstGeom prst="straightConnector1">
            <a:avLst/>
          </a:prstGeom>
          <a:ln w="571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2" name="직선 화살표 연결선 61"/>
          <p:cNvCxnSpPr/>
          <p:nvPr/>
        </p:nvCxnSpPr>
        <p:spPr>
          <a:xfrm>
            <a:off x="3289300" y="5681622"/>
            <a:ext cx="6362700" cy="0"/>
          </a:xfrm>
          <a:prstGeom prst="straightConnector1">
            <a:avLst/>
          </a:prstGeom>
          <a:ln w="571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3" name="직선 화살표 연결선 62"/>
          <p:cNvCxnSpPr/>
          <p:nvPr/>
        </p:nvCxnSpPr>
        <p:spPr>
          <a:xfrm>
            <a:off x="9652000" y="5681622"/>
            <a:ext cx="2222500" cy="0"/>
          </a:xfrm>
          <a:prstGeom prst="straightConnector1">
            <a:avLst/>
          </a:prstGeom>
          <a:ln w="571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5" name="직선 화살표 연결선 64"/>
          <p:cNvCxnSpPr/>
          <p:nvPr/>
        </p:nvCxnSpPr>
        <p:spPr>
          <a:xfrm>
            <a:off x="9652000" y="3343978"/>
            <a:ext cx="2222500" cy="0"/>
          </a:xfrm>
          <a:prstGeom prst="straightConnector1">
            <a:avLst/>
          </a:prstGeom>
          <a:ln w="571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직선 화살표 연결선 65"/>
          <p:cNvCxnSpPr/>
          <p:nvPr/>
        </p:nvCxnSpPr>
        <p:spPr>
          <a:xfrm>
            <a:off x="9652000" y="4180912"/>
            <a:ext cx="2222500" cy="0"/>
          </a:xfrm>
          <a:prstGeom prst="straightConnector1">
            <a:avLst/>
          </a:prstGeom>
          <a:ln w="571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직선 화살표 연결선 66"/>
          <p:cNvCxnSpPr/>
          <p:nvPr/>
        </p:nvCxnSpPr>
        <p:spPr>
          <a:xfrm>
            <a:off x="2019300" y="4180912"/>
            <a:ext cx="7632700" cy="0"/>
          </a:xfrm>
          <a:prstGeom prst="straightConnector1">
            <a:avLst/>
          </a:prstGeom>
          <a:ln w="571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TextBox 68"/>
          <p:cNvSpPr txBox="1"/>
          <p:nvPr/>
        </p:nvSpPr>
        <p:spPr>
          <a:xfrm>
            <a:off x="6251222" y="3194526"/>
            <a:ext cx="832279" cy="307777"/>
          </a:xfrm>
          <a:prstGeom prst="rect">
            <a:avLst/>
          </a:prstGeom>
          <a:solidFill>
            <a:schemeClr val="bg1"/>
          </a:solidFill>
        </p:spPr>
        <p:txBody>
          <a:bodyPr wrap="none" rtlCol="0">
            <a:spAutoFit/>
          </a:bodyPr>
          <a:lstStyle/>
          <a:p>
            <a:r>
              <a:rPr lang="ko-KR" altLang="en-US" sz="1400" dirty="0" err="1"/>
              <a:t>출원발명</a:t>
            </a:r>
            <a:endParaRPr lang="ko-KR" altLang="en-US" sz="1400" dirty="0"/>
          </a:p>
        </p:txBody>
      </p:sp>
      <p:sp>
        <p:nvSpPr>
          <p:cNvPr id="70" name="TextBox 69"/>
          <p:cNvSpPr txBox="1"/>
          <p:nvPr/>
        </p:nvSpPr>
        <p:spPr>
          <a:xfrm>
            <a:off x="10506784" y="3194526"/>
            <a:ext cx="832279" cy="307777"/>
          </a:xfrm>
          <a:prstGeom prst="rect">
            <a:avLst/>
          </a:prstGeom>
          <a:solidFill>
            <a:schemeClr val="bg1"/>
          </a:solidFill>
        </p:spPr>
        <p:txBody>
          <a:bodyPr wrap="none" rtlCol="0">
            <a:spAutoFit/>
          </a:bodyPr>
          <a:lstStyle/>
          <a:p>
            <a:r>
              <a:rPr lang="ko-KR" altLang="en-US" sz="1400" dirty="0" err="1"/>
              <a:t>특허발명</a:t>
            </a:r>
            <a:endParaRPr lang="ko-KR" altLang="en-US" sz="1400" dirty="0"/>
          </a:p>
        </p:txBody>
      </p:sp>
      <p:sp>
        <p:nvSpPr>
          <p:cNvPr id="71" name="TextBox 70"/>
          <p:cNvSpPr txBox="1"/>
          <p:nvPr/>
        </p:nvSpPr>
        <p:spPr>
          <a:xfrm>
            <a:off x="5554198" y="4029711"/>
            <a:ext cx="2002471" cy="307777"/>
          </a:xfrm>
          <a:prstGeom prst="rect">
            <a:avLst/>
          </a:prstGeom>
          <a:solidFill>
            <a:schemeClr val="bg1"/>
          </a:solidFill>
        </p:spPr>
        <p:txBody>
          <a:bodyPr wrap="none" rtlCol="0">
            <a:spAutoFit/>
          </a:bodyPr>
          <a:lstStyle/>
          <a:p>
            <a:r>
              <a:rPr lang="ko-KR" altLang="en-US" sz="1400" dirty="0"/>
              <a:t>특허를 받을 수 있는 권리</a:t>
            </a:r>
          </a:p>
        </p:txBody>
      </p:sp>
      <p:sp>
        <p:nvSpPr>
          <p:cNvPr id="72" name="TextBox 71"/>
          <p:cNvSpPr txBox="1"/>
          <p:nvPr/>
        </p:nvSpPr>
        <p:spPr>
          <a:xfrm>
            <a:off x="10546869" y="4029711"/>
            <a:ext cx="670376" cy="307777"/>
          </a:xfrm>
          <a:prstGeom prst="rect">
            <a:avLst/>
          </a:prstGeom>
          <a:solidFill>
            <a:schemeClr val="bg1"/>
          </a:solidFill>
        </p:spPr>
        <p:txBody>
          <a:bodyPr wrap="none" rtlCol="0">
            <a:spAutoFit/>
          </a:bodyPr>
          <a:lstStyle/>
          <a:p>
            <a:r>
              <a:rPr lang="ko-KR" altLang="en-US" sz="1400" dirty="0"/>
              <a:t>특허권</a:t>
            </a:r>
          </a:p>
        </p:txBody>
      </p:sp>
      <p:sp>
        <p:nvSpPr>
          <p:cNvPr id="73" name="TextBox 72"/>
          <p:cNvSpPr txBox="1"/>
          <p:nvPr/>
        </p:nvSpPr>
        <p:spPr>
          <a:xfrm>
            <a:off x="6251222" y="5526727"/>
            <a:ext cx="670376" cy="307777"/>
          </a:xfrm>
          <a:prstGeom prst="rect">
            <a:avLst/>
          </a:prstGeom>
          <a:solidFill>
            <a:schemeClr val="bg1"/>
          </a:solidFill>
        </p:spPr>
        <p:txBody>
          <a:bodyPr wrap="none" rtlCol="0">
            <a:spAutoFit/>
          </a:bodyPr>
          <a:lstStyle/>
          <a:p>
            <a:r>
              <a:rPr lang="ko-KR" altLang="en-US" sz="1400" dirty="0"/>
              <a:t>출원인</a:t>
            </a:r>
          </a:p>
        </p:txBody>
      </p:sp>
      <p:sp>
        <p:nvSpPr>
          <p:cNvPr id="74" name="TextBox 73"/>
          <p:cNvSpPr txBox="1"/>
          <p:nvPr/>
        </p:nvSpPr>
        <p:spPr>
          <a:xfrm>
            <a:off x="10587735" y="5526727"/>
            <a:ext cx="832279" cy="307777"/>
          </a:xfrm>
          <a:prstGeom prst="rect">
            <a:avLst/>
          </a:prstGeom>
          <a:solidFill>
            <a:schemeClr val="bg1"/>
          </a:solidFill>
        </p:spPr>
        <p:txBody>
          <a:bodyPr wrap="none" rtlCol="0">
            <a:spAutoFit/>
          </a:bodyPr>
          <a:lstStyle/>
          <a:p>
            <a:r>
              <a:rPr lang="ko-KR" altLang="en-US" sz="1400" dirty="0" err="1"/>
              <a:t>특허권자</a:t>
            </a:r>
            <a:endParaRPr lang="ko-KR" altLang="en-US" sz="1400" dirty="0"/>
          </a:p>
        </p:txBody>
      </p:sp>
      <p:sp>
        <p:nvSpPr>
          <p:cNvPr id="75" name="TextBox 74"/>
          <p:cNvSpPr txBox="1"/>
          <p:nvPr/>
        </p:nvSpPr>
        <p:spPr>
          <a:xfrm>
            <a:off x="6129745" y="5115471"/>
            <a:ext cx="1226618" cy="307777"/>
          </a:xfrm>
          <a:prstGeom prst="rect">
            <a:avLst/>
          </a:prstGeom>
          <a:solidFill>
            <a:schemeClr val="bg1"/>
          </a:solidFill>
        </p:spPr>
        <p:txBody>
          <a:bodyPr wrap="none" rtlCol="0">
            <a:spAutoFit/>
          </a:bodyPr>
          <a:lstStyle/>
          <a:p>
            <a:r>
              <a:rPr lang="ko-KR" altLang="en-US" sz="1400"/>
              <a:t>발명자</a:t>
            </a:r>
            <a:r>
              <a:rPr lang="en-US" altLang="ko-KR" sz="1400" dirty="0"/>
              <a:t>/</a:t>
            </a:r>
            <a:r>
              <a:rPr lang="ko-KR" altLang="en-US" sz="1400" dirty="0"/>
              <a:t>승계인</a:t>
            </a:r>
          </a:p>
        </p:txBody>
      </p:sp>
      <p:sp>
        <p:nvSpPr>
          <p:cNvPr id="76" name="TextBox 75"/>
          <p:cNvSpPr txBox="1"/>
          <p:nvPr/>
        </p:nvSpPr>
        <p:spPr>
          <a:xfrm>
            <a:off x="10392546" y="5115471"/>
            <a:ext cx="1226618" cy="307777"/>
          </a:xfrm>
          <a:prstGeom prst="rect">
            <a:avLst/>
          </a:prstGeom>
          <a:solidFill>
            <a:schemeClr val="bg1"/>
          </a:solidFill>
        </p:spPr>
        <p:txBody>
          <a:bodyPr wrap="none" rtlCol="0">
            <a:spAutoFit/>
          </a:bodyPr>
          <a:lstStyle/>
          <a:p>
            <a:r>
              <a:rPr lang="ko-KR" altLang="en-US" sz="1400"/>
              <a:t>발명자</a:t>
            </a:r>
            <a:r>
              <a:rPr lang="en-US" altLang="ko-KR" sz="1400" dirty="0"/>
              <a:t>/</a:t>
            </a:r>
            <a:r>
              <a:rPr lang="ko-KR" altLang="en-US" sz="1400" dirty="0"/>
              <a:t>승계인</a:t>
            </a:r>
          </a:p>
        </p:txBody>
      </p:sp>
      <p:cxnSp>
        <p:nvCxnSpPr>
          <p:cNvPr id="78" name="직선 화살표 연결선 77"/>
          <p:cNvCxnSpPr>
            <a:stCxn id="59" idx="0"/>
            <a:endCxn id="56" idx="2"/>
          </p:cNvCxnSpPr>
          <p:nvPr/>
        </p:nvCxnSpPr>
        <p:spPr>
          <a:xfrm flipV="1">
            <a:off x="729137" y="4628240"/>
            <a:ext cx="0" cy="418466"/>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0" name="직선 화살표 연결선 79"/>
          <p:cNvCxnSpPr>
            <a:stCxn id="56" idx="0"/>
            <a:endCxn id="53" idx="2"/>
          </p:cNvCxnSpPr>
          <p:nvPr/>
        </p:nvCxnSpPr>
        <p:spPr>
          <a:xfrm flipV="1">
            <a:off x="729137" y="3776876"/>
            <a:ext cx="0" cy="418466"/>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2" name="직선 화살표 연결선 81"/>
          <p:cNvCxnSpPr>
            <a:stCxn id="53" idx="0"/>
            <a:endCxn id="52" idx="2"/>
          </p:cNvCxnSpPr>
          <p:nvPr/>
        </p:nvCxnSpPr>
        <p:spPr>
          <a:xfrm flipV="1">
            <a:off x="729137" y="2925511"/>
            <a:ext cx="0" cy="418468"/>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3" name="TextBox 82"/>
          <p:cNvSpPr txBox="1"/>
          <p:nvPr/>
        </p:nvSpPr>
        <p:spPr>
          <a:xfrm>
            <a:off x="765896" y="3835958"/>
            <a:ext cx="508473" cy="307777"/>
          </a:xfrm>
          <a:prstGeom prst="rect">
            <a:avLst/>
          </a:prstGeom>
          <a:solidFill>
            <a:schemeClr val="bg1"/>
          </a:solidFill>
        </p:spPr>
        <p:txBody>
          <a:bodyPr wrap="none" rtlCol="0">
            <a:spAutoFit/>
          </a:bodyPr>
          <a:lstStyle/>
          <a:p>
            <a:r>
              <a:rPr lang="ko-KR" altLang="en-US" sz="1400" dirty="0"/>
              <a:t>보호</a:t>
            </a:r>
          </a:p>
        </p:txBody>
      </p:sp>
    </p:spTree>
    <p:extLst>
      <p:ext uri="{BB962C8B-B14F-4D97-AF65-F5344CB8AC3E}">
        <p14:creationId xmlns:p14="http://schemas.microsoft.com/office/powerpoint/2010/main" val="5372620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직선 연결선 6"/>
          <p:cNvCxnSpPr/>
          <p:nvPr/>
        </p:nvCxnSpPr>
        <p:spPr>
          <a:xfrm>
            <a:off x="896595" y="3104986"/>
            <a:ext cx="906753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2</a:t>
            </a:r>
            <a:r>
              <a:rPr lang="ko-KR" altLang="en-US" dirty="0"/>
              <a:t>조</a:t>
            </a:r>
          </a:p>
        </p:txBody>
      </p:sp>
      <p:sp>
        <p:nvSpPr>
          <p:cNvPr id="4" name="텍스트 개체 틀 3"/>
          <p:cNvSpPr>
            <a:spLocks noGrp="1"/>
          </p:cNvSpPr>
          <p:nvPr>
            <p:ph type="body" sz="quarter" idx="13"/>
          </p:nvPr>
        </p:nvSpPr>
        <p:spPr/>
        <p:txBody>
          <a:bodyPr/>
          <a:lstStyle/>
          <a:p>
            <a:r>
              <a:rPr lang="ko-KR" altLang="en-US" dirty="0"/>
              <a:t>기술적 사상의 의미</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8</a:t>
            </a:fld>
            <a:endParaRPr lang="ko-KR" altLang="en-US"/>
          </a:p>
        </p:txBody>
      </p:sp>
      <p:sp>
        <p:nvSpPr>
          <p:cNvPr id="45" name="TextBox 44"/>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❶의 시기에 특허출원을 하는 경우 특허출원일 당시 미완성발명이기 때문에 특허를 받을 수 없다</a:t>
            </a:r>
            <a:r>
              <a:rPr lang="en-US" altLang="ko-KR" sz="1400" dirty="0">
                <a:solidFill>
                  <a:schemeClr val="tx2"/>
                </a:solidFill>
              </a:rPr>
              <a:t>. </a:t>
            </a:r>
            <a:r>
              <a:rPr lang="ko-KR" altLang="en-US" sz="1400" dirty="0">
                <a:solidFill>
                  <a:schemeClr val="tx2"/>
                </a:solidFill>
              </a:rPr>
              <a:t>즉</a:t>
            </a:r>
            <a:r>
              <a:rPr lang="en-US" altLang="ko-KR" sz="1400" dirty="0">
                <a:solidFill>
                  <a:schemeClr val="tx2"/>
                </a:solidFill>
              </a:rPr>
              <a:t>, </a:t>
            </a:r>
            <a:r>
              <a:rPr lang="ko-KR" altLang="en-US" sz="1400" dirty="0">
                <a:highlight>
                  <a:srgbClr val="FFFF00"/>
                </a:highlight>
              </a:rPr>
              <a:t>발명은 출원일 당시 단순한 사상이어서는 아니 되고 기술적 </a:t>
            </a:r>
            <a:r>
              <a:rPr lang="ko-KR" altLang="en-US" sz="1400" dirty="0" err="1">
                <a:highlight>
                  <a:srgbClr val="FFFF00"/>
                </a:highlight>
              </a:rPr>
              <a:t>사상이어야</a:t>
            </a:r>
            <a:r>
              <a:rPr lang="ko-KR" altLang="en-US" sz="1400" dirty="0">
                <a:highlight>
                  <a:srgbClr val="FFFF00"/>
                </a:highlight>
              </a:rPr>
              <a:t> 한다</a:t>
            </a:r>
            <a:r>
              <a:rPr lang="en-US" altLang="ko-KR" sz="1400" dirty="0">
                <a:highlight>
                  <a:srgbClr val="FFFF00"/>
                </a:highlight>
              </a:rPr>
              <a:t>.</a:t>
            </a:r>
            <a:r>
              <a:rPr lang="en-US" altLang="ko-KR" sz="1400" dirty="0">
                <a:solidFill>
                  <a:schemeClr val="tx2"/>
                </a:solidFill>
              </a:rPr>
              <a:t> ❷❸</a:t>
            </a:r>
            <a:r>
              <a:rPr lang="ko-KR" altLang="en-US" sz="1400" dirty="0">
                <a:solidFill>
                  <a:schemeClr val="tx2"/>
                </a:solidFill>
              </a:rPr>
              <a:t>의 시기에 특허출원을 하는 경우 특허출원일 당시 완성된 </a:t>
            </a:r>
            <a:r>
              <a:rPr lang="ko-KR" altLang="en-US" sz="1400" dirty="0" err="1">
                <a:solidFill>
                  <a:schemeClr val="tx2"/>
                </a:solidFill>
              </a:rPr>
              <a:t>발명으로서</a:t>
            </a:r>
            <a:r>
              <a:rPr lang="ko-KR" altLang="en-US" sz="1400" dirty="0">
                <a:solidFill>
                  <a:schemeClr val="tx2"/>
                </a:solidFill>
              </a:rPr>
              <a:t> 특허를 받을 수 있다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기술적 사상일 때인 ❷의 시기 이후에 특허출원을 하는 것이 기술로서 구현된 때인 ❸의 시기에 특허출원을 하는 것보다 더 넓은 권리범위를 가진 특허로서 보호될 가능성이 높다</a:t>
            </a:r>
            <a:r>
              <a:rPr lang="en-US" altLang="ko-KR" sz="1400" dirty="0">
                <a:solidFill>
                  <a:schemeClr val="tx2"/>
                </a:solidFill>
              </a:rPr>
              <a:t>. </a:t>
            </a:r>
            <a:r>
              <a:rPr lang="ko-KR" altLang="en-US" sz="1400" dirty="0">
                <a:solidFill>
                  <a:schemeClr val="tx2"/>
                </a:solidFill>
              </a:rPr>
              <a:t>즉</a:t>
            </a:r>
            <a:r>
              <a:rPr lang="en-US" altLang="ko-KR" sz="1400" dirty="0">
                <a:solidFill>
                  <a:schemeClr val="tx2"/>
                </a:solidFill>
              </a:rPr>
              <a:t>, </a:t>
            </a:r>
            <a:r>
              <a:rPr lang="ko-KR" altLang="en-US" sz="1400" dirty="0">
                <a:highlight>
                  <a:srgbClr val="FFFF00"/>
                </a:highlight>
              </a:rPr>
              <a:t>발명은 기술적 사상이면 되고 기술 자체로 제한되는 것은 아니기 때문에</a:t>
            </a:r>
            <a:r>
              <a:rPr lang="en-US" altLang="ko-KR" sz="1400" dirty="0">
                <a:solidFill>
                  <a:schemeClr val="tx2"/>
                </a:solidFill>
              </a:rPr>
              <a:t>, </a:t>
            </a:r>
            <a:r>
              <a:rPr lang="ko-KR" altLang="en-US" sz="1400" dirty="0">
                <a:solidFill>
                  <a:schemeClr val="tx2"/>
                </a:solidFill>
              </a:rPr>
              <a:t>구체적인 기술보다는 기술적 사상을 특허로서 보호하는 것이 바람직하다고 할 것이다</a:t>
            </a:r>
            <a:r>
              <a:rPr lang="en-US" altLang="ko-KR" sz="1400" dirty="0">
                <a:solidFill>
                  <a:schemeClr val="tx2"/>
                </a:solidFill>
              </a:rPr>
              <a:t>. </a:t>
            </a:r>
            <a:r>
              <a:rPr lang="ko-KR" altLang="en-US" sz="1400" dirty="0">
                <a:solidFill>
                  <a:schemeClr val="tx2"/>
                </a:solidFill>
              </a:rPr>
              <a:t>물론 강력한 </a:t>
            </a:r>
            <a:r>
              <a:rPr lang="ko-KR" altLang="en-US" sz="1400" dirty="0" err="1">
                <a:solidFill>
                  <a:schemeClr val="tx2"/>
                </a:solidFill>
              </a:rPr>
              <a:t>특허망을</a:t>
            </a:r>
            <a:r>
              <a:rPr lang="ko-KR" altLang="en-US" sz="1400" dirty="0">
                <a:solidFill>
                  <a:schemeClr val="tx2"/>
                </a:solidFill>
              </a:rPr>
              <a:t> 구축하기 위해서는 기술적 사상과 기술에 해당하는 발명 모두를 특허로 보호하여야 한다</a:t>
            </a:r>
            <a:r>
              <a:rPr lang="en-US" altLang="ko-KR" sz="1400" dirty="0">
                <a:solidFill>
                  <a:schemeClr val="tx2"/>
                </a:solidFill>
              </a:rPr>
              <a:t>.</a:t>
            </a:r>
          </a:p>
        </p:txBody>
      </p:sp>
      <p:cxnSp>
        <p:nvCxnSpPr>
          <p:cNvPr id="46" name="직선 연결선 45"/>
          <p:cNvCxnSpPr/>
          <p:nvPr/>
        </p:nvCxnSpPr>
        <p:spPr>
          <a:xfrm>
            <a:off x="0" y="216249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 name="직사각형 7"/>
          <p:cNvSpPr/>
          <p:nvPr/>
        </p:nvSpPr>
        <p:spPr>
          <a:xfrm>
            <a:off x="2227129" y="2831772"/>
            <a:ext cx="1143434" cy="5464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사상</a:t>
            </a:r>
            <a:endParaRPr lang="en-US" altLang="ko-KR" sz="1400" dirty="0"/>
          </a:p>
          <a:p>
            <a:pPr algn="ctr"/>
            <a:r>
              <a:rPr lang="en-US" altLang="ko-KR" sz="1400" dirty="0"/>
              <a:t>(</a:t>
            </a:r>
            <a:r>
              <a:rPr lang="ko-KR" altLang="en-US" sz="1400" dirty="0"/>
              <a:t>착상</a:t>
            </a:r>
            <a:r>
              <a:rPr lang="en-US" altLang="ko-KR" sz="1400" dirty="0"/>
              <a:t>)</a:t>
            </a:r>
            <a:endParaRPr lang="ko-KR" altLang="en-US" sz="1400" dirty="0"/>
          </a:p>
        </p:txBody>
      </p:sp>
      <p:sp>
        <p:nvSpPr>
          <p:cNvPr id="9" name="직사각형 8"/>
          <p:cNvSpPr/>
          <p:nvPr/>
        </p:nvSpPr>
        <p:spPr>
          <a:xfrm>
            <a:off x="4471731" y="2831772"/>
            <a:ext cx="1143434" cy="546428"/>
          </a:xfrm>
          <a:prstGeom prst="rect">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기술적 사상</a:t>
            </a:r>
          </a:p>
        </p:txBody>
      </p:sp>
      <p:sp>
        <p:nvSpPr>
          <p:cNvPr id="14" name="직사각형 13"/>
          <p:cNvSpPr/>
          <p:nvPr/>
        </p:nvSpPr>
        <p:spPr>
          <a:xfrm>
            <a:off x="6624255" y="2831772"/>
            <a:ext cx="1143434" cy="546428"/>
          </a:xfrm>
          <a:prstGeom prst="rect">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기술</a:t>
            </a:r>
            <a:endParaRPr lang="en-US" altLang="ko-KR" sz="1400" dirty="0"/>
          </a:p>
          <a:p>
            <a:pPr algn="ctr"/>
            <a:r>
              <a:rPr lang="en-US" altLang="ko-KR" sz="1400" dirty="0"/>
              <a:t>(</a:t>
            </a:r>
            <a:r>
              <a:rPr lang="ko-KR" altLang="en-US" sz="1400" dirty="0"/>
              <a:t>구현</a:t>
            </a:r>
            <a:r>
              <a:rPr lang="en-US" altLang="ko-KR" sz="1400" dirty="0"/>
              <a:t>)</a:t>
            </a:r>
            <a:endParaRPr lang="ko-KR" altLang="en-US" sz="1400" dirty="0"/>
          </a:p>
        </p:txBody>
      </p:sp>
      <p:sp>
        <p:nvSpPr>
          <p:cNvPr id="15" name="직사각형 14"/>
          <p:cNvSpPr/>
          <p:nvPr/>
        </p:nvSpPr>
        <p:spPr>
          <a:xfrm>
            <a:off x="10116315" y="2888537"/>
            <a:ext cx="1563496" cy="4328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2">
                    <a:lumMod val="50000"/>
                  </a:schemeClr>
                </a:solidFill>
              </a:rPr>
              <a:t>발명의 </a:t>
            </a:r>
            <a:r>
              <a:rPr lang="ko-KR" altLang="en-US" sz="1600" dirty="0" err="1">
                <a:solidFill>
                  <a:schemeClr val="tx2">
                    <a:lumMod val="50000"/>
                  </a:schemeClr>
                </a:solidFill>
              </a:rPr>
              <a:t>완성과정</a:t>
            </a:r>
            <a:endParaRPr lang="ko-KR" altLang="en-US" sz="1600" dirty="0">
              <a:solidFill>
                <a:schemeClr val="tx2">
                  <a:lumMod val="50000"/>
                </a:schemeClr>
              </a:solidFill>
            </a:endParaRPr>
          </a:p>
        </p:txBody>
      </p:sp>
      <p:sp>
        <p:nvSpPr>
          <p:cNvPr id="6" name="타원 5"/>
          <p:cNvSpPr/>
          <p:nvPr/>
        </p:nvSpPr>
        <p:spPr>
          <a:xfrm>
            <a:off x="577858" y="2506201"/>
            <a:ext cx="1130378" cy="471340"/>
          </a:xfrm>
          <a:prstGeom prst="ellipse">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2">
                    <a:lumMod val="10000"/>
                  </a:schemeClr>
                </a:solidFill>
              </a:rPr>
              <a:t>추상적</a:t>
            </a:r>
          </a:p>
        </p:txBody>
      </p:sp>
      <p:sp>
        <p:nvSpPr>
          <p:cNvPr id="19" name="타원 18"/>
          <p:cNvSpPr/>
          <p:nvPr/>
        </p:nvSpPr>
        <p:spPr>
          <a:xfrm>
            <a:off x="8833756" y="2506201"/>
            <a:ext cx="1130378" cy="471340"/>
          </a:xfrm>
          <a:prstGeom prst="ellipse">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2">
                    <a:lumMod val="10000"/>
                  </a:schemeClr>
                </a:solidFill>
              </a:rPr>
              <a:t>구체적</a:t>
            </a:r>
          </a:p>
        </p:txBody>
      </p:sp>
      <p:cxnSp>
        <p:nvCxnSpPr>
          <p:cNvPr id="20" name="직선 연결선 19"/>
          <p:cNvCxnSpPr/>
          <p:nvPr/>
        </p:nvCxnSpPr>
        <p:spPr>
          <a:xfrm flipH="1">
            <a:off x="3956837" y="3456430"/>
            <a:ext cx="1" cy="51225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직사각형 20"/>
          <p:cNvSpPr/>
          <p:nvPr/>
        </p:nvSpPr>
        <p:spPr>
          <a:xfrm>
            <a:off x="3633671" y="2781820"/>
            <a:ext cx="646331" cy="646331"/>
          </a:xfrm>
          <a:prstGeom prst="rect">
            <a:avLst/>
          </a:prstGeom>
          <a:solidFill>
            <a:schemeClr val="bg1"/>
          </a:solidFill>
        </p:spPr>
        <p:txBody>
          <a:bodyPr wrap="none">
            <a:spAutoFit/>
          </a:bodyPr>
          <a:lstStyle/>
          <a:p>
            <a:r>
              <a:rPr lang="ko-KR" altLang="en-US" sz="3600" dirty="0">
                <a:solidFill>
                  <a:schemeClr val="tx2"/>
                </a:solidFill>
              </a:rPr>
              <a:t>❶</a:t>
            </a:r>
            <a:endParaRPr lang="ko-KR" altLang="en-US" sz="3600" dirty="0"/>
          </a:p>
        </p:txBody>
      </p:sp>
      <p:sp>
        <p:nvSpPr>
          <p:cNvPr id="26" name="TextBox 25"/>
          <p:cNvSpPr txBox="1"/>
          <p:nvPr/>
        </p:nvSpPr>
        <p:spPr>
          <a:xfrm>
            <a:off x="3352684" y="3833803"/>
            <a:ext cx="1241045" cy="538609"/>
          </a:xfrm>
          <a:prstGeom prst="rect">
            <a:avLst/>
          </a:prstGeom>
          <a:solidFill>
            <a:schemeClr val="bg1"/>
          </a:solidFill>
        </p:spPr>
        <p:txBody>
          <a:bodyPr wrap="none" rtlCol="0">
            <a:spAutoFit/>
          </a:bodyPr>
          <a:lstStyle/>
          <a:p>
            <a:pPr algn="ctr"/>
            <a:r>
              <a:rPr lang="ko-KR" altLang="en-US" dirty="0"/>
              <a:t>특허출원</a:t>
            </a:r>
            <a:endParaRPr lang="en-US" altLang="ko-KR" dirty="0"/>
          </a:p>
          <a:p>
            <a:pPr algn="ctr"/>
            <a:r>
              <a:rPr lang="en-US" altLang="ko-KR" sz="1050" dirty="0"/>
              <a:t>(</a:t>
            </a:r>
            <a:r>
              <a:rPr lang="ko-KR" altLang="en-US" sz="1050" dirty="0"/>
              <a:t>수지상 세포 사건</a:t>
            </a:r>
            <a:r>
              <a:rPr lang="en-US" altLang="ko-KR" sz="1050" dirty="0"/>
              <a:t>)</a:t>
            </a:r>
            <a:endParaRPr lang="ko-KR" altLang="en-US" sz="1050" dirty="0"/>
          </a:p>
        </p:txBody>
      </p:sp>
      <p:cxnSp>
        <p:nvCxnSpPr>
          <p:cNvPr id="29" name="직선 연결선 28"/>
          <p:cNvCxnSpPr/>
          <p:nvPr/>
        </p:nvCxnSpPr>
        <p:spPr>
          <a:xfrm flipH="1">
            <a:off x="6151985" y="3456430"/>
            <a:ext cx="1" cy="51225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직사각형 29"/>
          <p:cNvSpPr/>
          <p:nvPr/>
        </p:nvSpPr>
        <p:spPr>
          <a:xfrm>
            <a:off x="5828819" y="2781820"/>
            <a:ext cx="646331" cy="646331"/>
          </a:xfrm>
          <a:prstGeom prst="rect">
            <a:avLst/>
          </a:prstGeom>
          <a:solidFill>
            <a:schemeClr val="bg1"/>
          </a:solidFill>
        </p:spPr>
        <p:txBody>
          <a:bodyPr wrap="none">
            <a:spAutoFit/>
          </a:bodyPr>
          <a:lstStyle/>
          <a:p>
            <a:r>
              <a:rPr lang="en-US" altLang="ko-KR" sz="3600" dirty="0">
                <a:solidFill>
                  <a:schemeClr val="tx2"/>
                </a:solidFill>
              </a:rPr>
              <a:t>❷</a:t>
            </a:r>
            <a:endParaRPr lang="ko-KR" altLang="en-US" sz="3600" dirty="0"/>
          </a:p>
        </p:txBody>
      </p:sp>
      <p:sp>
        <p:nvSpPr>
          <p:cNvPr id="31" name="TextBox 30"/>
          <p:cNvSpPr txBox="1"/>
          <p:nvPr/>
        </p:nvSpPr>
        <p:spPr>
          <a:xfrm>
            <a:off x="5648652" y="3833803"/>
            <a:ext cx="1018227" cy="369332"/>
          </a:xfrm>
          <a:prstGeom prst="rect">
            <a:avLst/>
          </a:prstGeom>
          <a:solidFill>
            <a:schemeClr val="bg1"/>
          </a:solidFill>
        </p:spPr>
        <p:txBody>
          <a:bodyPr wrap="none" rtlCol="0">
            <a:spAutoFit/>
          </a:bodyPr>
          <a:lstStyle/>
          <a:p>
            <a:r>
              <a:rPr lang="ko-KR" altLang="en-US" dirty="0"/>
              <a:t>특허출원</a:t>
            </a:r>
          </a:p>
        </p:txBody>
      </p:sp>
      <p:cxnSp>
        <p:nvCxnSpPr>
          <p:cNvPr id="32" name="직선 연결선 31"/>
          <p:cNvCxnSpPr/>
          <p:nvPr/>
        </p:nvCxnSpPr>
        <p:spPr>
          <a:xfrm flipH="1">
            <a:off x="8328737" y="3456430"/>
            <a:ext cx="1" cy="51225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직사각형 32"/>
          <p:cNvSpPr/>
          <p:nvPr/>
        </p:nvSpPr>
        <p:spPr>
          <a:xfrm>
            <a:off x="8005571" y="2781820"/>
            <a:ext cx="646331" cy="646331"/>
          </a:xfrm>
          <a:prstGeom prst="rect">
            <a:avLst/>
          </a:prstGeom>
          <a:solidFill>
            <a:schemeClr val="bg1"/>
          </a:solidFill>
        </p:spPr>
        <p:txBody>
          <a:bodyPr wrap="none">
            <a:spAutoFit/>
          </a:bodyPr>
          <a:lstStyle/>
          <a:p>
            <a:r>
              <a:rPr lang="ko-KR" altLang="en-US" sz="3600" dirty="0">
                <a:solidFill>
                  <a:schemeClr val="tx2"/>
                </a:solidFill>
              </a:rPr>
              <a:t>❸</a:t>
            </a:r>
            <a:endParaRPr lang="ko-KR" altLang="en-US" sz="3600" dirty="0"/>
          </a:p>
        </p:txBody>
      </p:sp>
      <p:sp>
        <p:nvSpPr>
          <p:cNvPr id="34" name="TextBox 33"/>
          <p:cNvSpPr txBox="1"/>
          <p:nvPr/>
        </p:nvSpPr>
        <p:spPr>
          <a:xfrm>
            <a:off x="7825404" y="3833803"/>
            <a:ext cx="1018227" cy="369332"/>
          </a:xfrm>
          <a:prstGeom prst="rect">
            <a:avLst/>
          </a:prstGeom>
          <a:solidFill>
            <a:schemeClr val="bg1"/>
          </a:solidFill>
        </p:spPr>
        <p:txBody>
          <a:bodyPr wrap="none" rtlCol="0">
            <a:spAutoFit/>
          </a:bodyPr>
          <a:lstStyle/>
          <a:p>
            <a:r>
              <a:rPr lang="ko-KR" altLang="en-US" dirty="0"/>
              <a:t>특허출원</a:t>
            </a:r>
          </a:p>
        </p:txBody>
      </p:sp>
      <p:sp>
        <p:nvSpPr>
          <p:cNvPr id="35" name="직사각형 34"/>
          <p:cNvSpPr/>
          <p:nvPr/>
        </p:nvSpPr>
        <p:spPr bwMode="auto">
          <a:xfrm>
            <a:off x="348791" y="5363401"/>
            <a:ext cx="11519555" cy="975339"/>
          </a:xfrm>
          <a:prstGeom prst="rect">
            <a:avLst/>
          </a:prstGeom>
          <a:ln>
            <a:solidFill>
              <a:schemeClr val="accent3"/>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72000" bIns="72000" rtlCol="0" anchor="ctr"/>
          <a:lstStyle/>
          <a:p>
            <a:r>
              <a:rPr lang="ko-KR" altLang="en-US" sz="1400" dirty="0"/>
              <a:t>특허출원발명의 </a:t>
            </a:r>
            <a:r>
              <a:rPr lang="ko-KR" altLang="en-US" sz="1400" dirty="0">
                <a:highlight>
                  <a:srgbClr val="FFFF00"/>
                </a:highlight>
              </a:rPr>
              <a:t>출원일 당시 </a:t>
            </a:r>
            <a:r>
              <a:rPr lang="ko-KR" altLang="en-US" sz="1400" dirty="0"/>
              <a:t>수지상 세포는 혈액 </a:t>
            </a:r>
            <a:r>
              <a:rPr lang="ko-KR" altLang="en-US" sz="1400" dirty="0" err="1"/>
              <a:t>단핵세포의</a:t>
            </a:r>
            <a:r>
              <a:rPr lang="ko-KR" altLang="en-US" sz="1400" dirty="0"/>
              <a:t> </a:t>
            </a:r>
            <a:r>
              <a:rPr lang="en-US" altLang="ko-KR" sz="1400" dirty="0"/>
              <a:t>0.5% </a:t>
            </a:r>
            <a:r>
              <a:rPr lang="ko-KR" altLang="en-US" sz="1400" dirty="0"/>
              <a:t>미만으로 존재하고 분리된 후에는 수일 내로 사멸하기 때문에 연구하기가 쉽지 아니하여 혈액으로부터 충분한 양의 수지상 세포를 분리해 내는 것은 기술적으로 쉽지 않고</a:t>
            </a:r>
            <a:r>
              <a:rPr lang="en-US" altLang="ko-KR" sz="1400" dirty="0"/>
              <a:t>, </a:t>
            </a:r>
            <a:r>
              <a:rPr lang="ko-KR" altLang="en-US" sz="1400" dirty="0">
                <a:highlight>
                  <a:srgbClr val="FFFF00"/>
                </a:highlight>
              </a:rPr>
              <a:t>출원일 이후 </a:t>
            </a:r>
            <a:r>
              <a:rPr lang="ko-KR" altLang="en-US" sz="1400" dirty="0"/>
              <a:t>기술의 발전에 따라 사람의 혈액으로부터 수지상 세포를 추출하고 이를 이용하여 면역반응을 유발시키는 기술이 임상적으로 실시되고 있다는 것이므로</a:t>
            </a:r>
            <a:r>
              <a:rPr lang="en-US" altLang="ko-KR" sz="1400" dirty="0"/>
              <a:t>, </a:t>
            </a:r>
            <a:r>
              <a:rPr lang="ko-KR" altLang="en-US" sz="1400" dirty="0"/>
              <a:t>결국 출원발명의 출원일 당시를 기준으로 수지상 세포를 사람의 혈액으로부터 분리하여 </a:t>
            </a:r>
            <a:r>
              <a:rPr lang="ko-KR" altLang="en-US" sz="1400" dirty="0" err="1"/>
              <a:t>출원발명에</a:t>
            </a:r>
            <a:r>
              <a:rPr lang="ko-KR" altLang="en-US" sz="1400" dirty="0"/>
              <a:t> 사용하는 기술이 장래에 산업상 이용가능성이 있다고 보기는 어렵다</a:t>
            </a:r>
            <a:r>
              <a:rPr lang="en-US" altLang="ko-KR" sz="1400" dirty="0"/>
              <a:t>.</a:t>
            </a:r>
            <a:endParaRPr lang="ko-KR" altLang="en-US" sz="1400" dirty="0">
              <a:solidFill>
                <a:srgbClr val="FF0000"/>
              </a:solidFill>
            </a:endParaRPr>
          </a:p>
        </p:txBody>
      </p:sp>
      <p:sp>
        <p:nvSpPr>
          <p:cNvPr id="36" name="모서리가 둥근 직사각형 35"/>
          <p:cNvSpPr/>
          <p:nvPr/>
        </p:nvSpPr>
        <p:spPr bwMode="auto">
          <a:xfrm>
            <a:off x="348791" y="5073086"/>
            <a:ext cx="4680521" cy="288032"/>
          </a:xfrm>
          <a:prstGeom prst="roundRect">
            <a:avLst>
              <a:gd name="adj" fmla="val 0"/>
            </a:avLst>
          </a:prstGeom>
          <a:solidFill>
            <a:schemeClr val="accent2">
              <a:lumMod val="75000"/>
            </a:schemeClr>
          </a:solidFill>
          <a:ln>
            <a:solidFill>
              <a:schemeClr val="accent3"/>
            </a:solidFill>
            <a:headEnd type="none" w="med" len="med"/>
            <a:tailEnd type="none"/>
          </a:ln>
        </p:spPr>
        <p:style>
          <a:lnRef idx="1">
            <a:schemeClr val="accent2"/>
          </a:lnRef>
          <a:fillRef idx="3">
            <a:schemeClr val="accent2"/>
          </a:fillRef>
          <a:effectRef idx="2">
            <a:schemeClr val="accent2"/>
          </a:effectRef>
          <a:fontRef idx="minor">
            <a:schemeClr val="lt1"/>
          </a:fontRef>
        </p:style>
        <p:txBody>
          <a:bodyPr rtlCol="0" anchor="ctr"/>
          <a:lstStyle/>
          <a:p>
            <a:pPr algn="ctr"/>
            <a:r>
              <a:rPr lang="ko-KR" altLang="en-US" sz="1400" dirty="0"/>
              <a:t>대법원 </a:t>
            </a:r>
            <a:r>
              <a:rPr lang="en-US" altLang="ko-KR" sz="1400" dirty="0"/>
              <a:t>2003. 3. 14. </a:t>
            </a:r>
            <a:r>
              <a:rPr lang="ko-KR" altLang="en-US" sz="1400" dirty="0"/>
              <a:t>선고 </a:t>
            </a:r>
            <a:r>
              <a:rPr lang="en-US" altLang="ko-KR" sz="1400" dirty="0"/>
              <a:t>2001</a:t>
            </a:r>
            <a:r>
              <a:rPr lang="ko-KR" altLang="en-US" sz="1400" dirty="0"/>
              <a:t>후</a:t>
            </a:r>
            <a:r>
              <a:rPr lang="en-US" altLang="ko-KR" sz="1400" dirty="0"/>
              <a:t>2801 </a:t>
            </a:r>
            <a:r>
              <a:rPr lang="ko-KR" altLang="en-US" sz="1400" dirty="0"/>
              <a:t>판결</a:t>
            </a:r>
            <a:r>
              <a:rPr lang="en-US" altLang="ko-KR" sz="1400" dirty="0"/>
              <a:t>【</a:t>
            </a:r>
            <a:r>
              <a:rPr lang="ko-KR" altLang="en-US" sz="1400" dirty="0" err="1"/>
              <a:t>거절사정</a:t>
            </a:r>
            <a:r>
              <a:rPr lang="en-US" altLang="ko-KR" sz="1400" dirty="0"/>
              <a:t>(</a:t>
            </a:r>
            <a:r>
              <a:rPr lang="ko-KR" altLang="en-US" sz="1400" dirty="0" err="1"/>
              <a:t>특</a:t>
            </a:r>
            <a:r>
              <a:rPr lang="en-US" altLang="ko-KR" sz="1400" dirty="0"/>
              <a:t>)】</a:t>
            </a:r>
            <a:endParaRPr lang="ko-KR" altLang="en-US" sz="1400" dirty="0"/>
          </a:p>
        </p:txBody>
      </p:sp>
    </p:spTree>
    <p:extLst>
      <p:ext uri="{BB962C8B-B14F-4D97-AF65-F5344CB8AC3E}">
        <p14:creationId xmlns:p14="http://schemas.microsoft.com/office/powerpoint/2010/main" val="142980700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 name="타원 214">
            <a:extLst>
              <a:ext uri="{FF2B5EF4-FFF2-40B4-BE49-F238E27FC236}">
                <a16:creationId xmlns:a16="http://schemas.microsoft.com/office/drawing/2014/main" id="{FB0E2737-90F8-454C-82AA-808BAB5E7B05}"/>
              </a:ext>
            </a:extLst>
          </p:cNvPr>
          <p:cNvSpPr/>
          <p:nvPr/>
        </p:nvSpPr>
        <p:spPr>
          <a:xfrm>
            <a:off x="10286456" y="3816961"/>
            <a:ext cx="406599" cy="406599"/>
          </a:xfrm>
          <a:prstGeom prst="ellipse">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en-US" altLang="ko-KR" dirty="0"/>
              <a:t>1</a:t>
            </a:r>
            <a:endParaRPr lang="ko-KR" altLang="en-US" dirty="0"/>
          </a:p>
        </p:txBody>
      </p:sp>
      <p:sp>
        <p:nvSpPr>
          <p:cNvPr id="216" name="타원 215">
            <a:extLst>
              <a:ext uri="{FF2B5EF4-FFF2-40B4-BE49-F238E27FC236}">
                <a16:creationId xmlns:a16="http://schemas.microsoft.com/office/drawing/2014/main" id="{E55C5ED9-CAE3-47BA-B50D-9607527F965A}"/>
              </a:ext>
            </a:extLst>
          </p:cNvPr>
          <p:cNvSpPr/>
          <p:nvPr/>
        </p:nvSpPr>
        <p:spPr>
          <a:xfrm>
            <a:off x="10286456" y="4338664"/>
            <a:ext cx="406599" cy="406599"/>
          </a:xfrm>
          <a:prstGeom prst="ellipse">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en-US" altLang="ko-KR" dirty="0"/>
              <a:t>2</a:t>
            </a:r>
            <a:endParaRPr lang="ko-KR" altLang="en-US" dirty="0"/>
          </a:p>
        </p:txBody>
      </p:sp>
      <p:sp>
        <p:nvSpPr>
          <p:cNvPr id="217" name="타원 216">
            <a:extLst>
              <a:ext uri="{FF2B5EF4-FFF2-40B4-BE49-F238E27FC236}">
                <a16:creationId xmlns:a16="http://schemas.microsoft.com/office/drawing/2014/main" id="{E39AF090-71F1-484A-A8B6-6C315D407778}"/>
              </a:ext>
            </a:extLst>
          </p:cNvPr>
          <p:cNvSpPr/>
          <p:nvPr/>
        </p:nvSpPr>
        <p:spPr>
          <a:xfrm>
            <a:off x="10286456" y="4850296"/>
            <a:ext cx="406599" cy="406599"/>
          </a:xfrm>
          <a:prstGeom prst="ellipse">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en-US" altLang="ko-KR" dirty="0"/>
              <a:t>3</a:t>
            </a:r>
            <a:endParaRPr lang="ko-KR" altLang="en-US" dirty="0"/>
          </a:p>
        </p:txBody>
      </p:sp>
      <p:sp>
        <p:nvSpPr>
          <p:cNvPr id="218" name="타원 217">
            <a:extLst>
              <a:ext uri="{FF2B5EF4-FFF2-40B4-BE49-F238E27FC236}">
                <a16:creationId xmlns:a16="http://schemas.microsoft.com/office/drawing/2014/main" id="{32A3C54F-6B0B-4693-A47E-52E88E22DCB5}"/>
              </a:ext>
            </a:extLst>
          </p:cNvPr>
          <p:cNvSpPr/>
          <p:nvPr/>
        </p:nvSpPr>
        <p:spPr>
          <a:xfrm>
            <a:off x="10286456" y="5377942"/>
            <a:ext cx="406599" cy="406599"/>
          </a:xfrm>
          <a:prstGeom prst="ellipse">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en-US" altLang="ko-KR" dirty="0"/>
              <a:t>4</a:t>
            </a:r>
            <a:endParaRPr lang="ko-KR" altLang="en-US" dirty="0"/>
          </a:p>
        </p:txBody>
      </p:sp>
      <p:sp>
        <p:nvSpPr>
          <p:cNvPr id="219" name="타원 218">
            <a:extLst>
              <a:ext uri="{FF2B5EF4-FFF2-40B4-BE49-F238E27FC236}">
                <a16:creationId xmlns:a16="http://schemas.microsoft.com/office/drawing/2014/main" id="{8142920C-7275-480E-A009-EBA76ECBE456}"/>
              </a:ext>
            </a:extLst>
          </p:cNvPr>
          <p:cNvSpPr/>
          <p:nvPr/>
        </p:nvSpPr>
        <p:spPr>
          <a:xfrm>
            <a:off x="10286456" y="5892019"/>
            <a:ext cx="406599" cy="406599"/>
          </a:xfrm>
          <a:prstGeom prst="ellipse">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ko-KR" altLang="en-US" dirty="0"/>
          </a:p>
        </p:txBody>
      </p:sp>
      <p:sp>
        <p:nvSpPr>
          <p:cNvPr id="220" name="TextBox 219">
            <a:extLst>
              <a:ext uri="{FF2B5EF4-FFF2-40B4-BE49-F238E27FC236}">
                <a16:creationId xmlns:a16="http://schemas.microsoft.com/office/drawing/2014/main" id="{85418316-32E3-4923-AC33-5051E0D7CB9B}"/>
              </a:ext>
            </a:extLst>
          </p:cNvPr>
          <p:cNvSpPr txBox="1"/>
          <p:nvPr/>
        </p:nvSpPr>
        <p:spPr>
          <a:xfrm>
            <a:off x="10787777" y="3850982"/>
            <a:ext cx="922047" cy="338554"/>
          </a:xfrm>
          <a:prstGeom prst="rect">
            <a:avLst/>
          </a:prstGeom>
          <a:noFill/>
        </p:spPr>
        <p:txBody>
          <a:bodyPr wrap="none" rtlCol="0">
            <a:spAutoFit/>
          </a:bodyPr>
          <a:lstStyle/>
          <a:p>
            <a:r>
              <a:rPr lang="ko-KR" altLang="en-US" sz="1600" dirty="0" err="1"/>
              <a:t>하방전개</a:t>
            </a:r>
            <a:endParaRPr lang="ko-KR" altLang="en-US" sz="1600" dirty="0"/>
          </a:p>
        </p:txBody>
      </p:sp>
      <p:sp>
        <p:nvSpPr>
          <p:cNvPr id="221" name="TextBox 220">
            <a:extLst>
              <a:ext uri="{FF2B5EF4-FFF2-40B4-BE49-F238E27FC236}">
                <a16:creationId xmlns:a16="http://schemas.microsoft.com/office/drawing/2014/main" id="{AE423DD9-0C36-4342-8FCC-31443F518C51}"/>
              </a:ext>
            </a:extLst>
          </p:cNvPr>
          <p:cNvSpPr txBox="1"/>
          <p:nvPr/>
        </p:nvSpPr>
        <p:spPr>
          <a:xfrm>
            <a:off x="10787777" y="4352681"/>
            <a:ext cx="922047" cy="338554"/>
          </a:xfrm>
          <a:prstGeom prst="rect">
            <a:avLst/>
          </a:prstGeom>
          <a:noFill/>
        </p:spPr>
        <p:txBody>
          <a:bodyPr wrap="none" rtlCol="0">
            <a:spAutoFit/>
          </a:bodyPr>
          <a:lstStyle/>
          <a:p>
            <a:r>
              <a:rPr lang="ko-KR" altLang="en-US" sz="1600" dirty="0"/>
              <a:t>수평전개</a:t>
            </a:r>
          </a:p>
        </p:txBody>
      </p:sp>
      <p:sp>
        <p:nvSpPr>
          <p:cNvPr id="222" name="TextBox 221">
            <a:extLst>
              <a:ext uri="{FF2B5EF4-FFF2-40B4-BE49-F238E27FC236}">
                <a16:creationId xmlns:a16="http://schemas.microsoft.com/office/drawing/2014/main" id="{374B2391-564D-458D-9622-28DF3987D3C0}"/>
              </a:ext>
            </a:extLst>
          </p:cNvPr>
          <p:cNvSpPr txBox="1"/>
          <p:nvPr/>
        </p:nvSpPr>
        <p:spPr>
          <a:xfrm>
            <a:off x="10787777" y="4905465"/>
            <a:ext cx="922047" cy="338554"/>
          </a:xfrm>
          <a:prstGeom prst="rect">
            <a:avLst/>
          </a:prstGeom>
          <a:noFill/>
        </p:spPr>
        <p:txBody>
          <a:bodyPr wrap="none" rtlCol="0">
            <a:spAutoFit/>
          </a:bodyPr>
          <a:lstStyle/>
          <a:p>
            <a:r>
              <a:rPr lang="ko-KR" altLang="en-US" sz="1600" dirty="0"/>
              <a:t>상방전개</a:t>
            </a:r>
          </a:p>
        </p:txBody>
      </p:sp>
      <p:sp>
        <p:nvSpPr>
          <p:cNvPr id="223" name="TextBox 222">
            <a:extLst>
              <a:ext uri="{FF2B5EF4-FFF2-40B4-BE49-F238E27FC236}">
                <a16:creationId xmlns:a16="http://schemas.microsoft.com/office/drawing/2014/main" id="{325F2AF6-CF09-4FF8-B095-3C8CF8A1500E}"/>
              </a:ext>
            </a:extLst>
          </p:cNvPr>
          <p:cNvSpPr txBox="1"/>
          <p:nvPr/>
        </p:nvSpPr>
        <p:spPr>
          <a:xfrm>
            <a:off x="10787777" y="5409522"/>
            <a:ext cx="922047" cy="338554"/>
          </a:xfrm>
          <a:prstGeom prst="rect">
            <a:avLst/>
          </a:prstGeom>
          <a:noFill/>
        </p:spPr>
        <p:txBody>
          <a:bodyPr wrap="none" rtlCol="0">
            <a:spAutoFit/>
          </a:bodyPr>
          <a:lstStyle/>
          <a:p>
            <a:r>
              <a:rPr lang="ko-KR" altLang="en-US" sz="1600" dirty="0"/>
              <a:t>제품전개</a:t>
            </a:r>
          </a:p>
        </p:txBody>
      </p:sp>
      <p:sp>
        <p:nvSpPr>
          <p:cNvPr id="224" name="TextBox 223">
            <a:extLst>
              <a:ext uri="{FF2B5EF4-FFF2-40B4-BE49-F238E27FC236}">
                <a16:creationId xmlns:a16="http://schemas.microsoft.com/office/drawing/2014/main" id="{1CD31943-CB67-4FED-9674-9A0D2B6D3762}"/>
              </a:ext>
            </a:extLst>
          </p:cNvPr>
          <p:cNvSpPr txBox="1"/>
          <p:nvPr/>
        </p:nvSpPr>
        <p:spPr>
          <a:xfrm>
            <a:off x="10787777" y="5926040"/>
            <a:ext cx="922047" cy="338554"/>
          </a:xfrm>
          <a:prstGeom prst="rect">
            <a:avLst/>
          </a:prstGeom>
          <a:noFill/>
        </p:spPr>
        <p:txBody>
          <a:bodyPr wrap="none" rtlCol="0">
            <a:spAutoFit/>
          </a:bodyPr>
          <a:lstStyle/>
          <a:p>
            <a:r>
              <a:rPr lang="ko-KR" altLang="en-US" sz="1600" dirty="0"/>
              <a:t>경쟁제품</a:t>
            </a:r>
          </a:p>
        </p:txBody>
      </p:sp>
      <p:sp>
        <p:nvSpPr>
          <p:cNvPr id="2" name="슬라이드 번호 개체 틀 1"/>
          <p:cNvSpPr>
            <a:spLocks noGrp="1"/>
          </p:cNvSpPr>
          <p:nvPr>
            <p:ph type="sldNum" sz="quarter" idx="12"/>
          </p:nvPr>
        </p:nvSpPr>
        <p:spPr/>
        <p:txBody>
          <a:bodyPr/>
          <a:lstStyle/>
          <a:p>
            <a:fld id="{3875FC6C-1516-4DC4-8C58-3090F7D4F003}" type="slidenum">
              <a:rPr lang="ko-KR" altLang="en-US" smtClean="0"/>
              <a:t>9</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권리범위가 넓은 특허를 확보하기 위한 노력은</a:t>
            </a:r>
            <a:r>
              <a:rPr lang="en-US" altLang="ko-KR" dirty="0"/>
              <a:t>?</a:t>
            </a:r>
            <a:endParaRPr lang="ko-KR" altLang="en-US" dirty="0"/>
          </a:p>
        </p:txBody>
      </p:sp>
      <p:graphicFrame>
        <p:nvGraphicFramePr>
          <p:cNvPr id="123" name="표 122">
            <a:extLst>
              <a:ext uri="{FF2B5EF4-FFF2-40B4-BE49-F238E27FC236}">
                <a16:creationId xmlns:a16="http://schemas.microsoft.com/office/drawing/2014/main" id="{B7FAA322-4DD7-4609-9103-D1D6B28EDFE4}"/>
              </a:ext>
            </a:extLst>
          </p:cNvPr>
          <p:cNvGraphicFramePr>
            <a:graphicFrameLocks noGrp="1"/>
          </p:cNvGraphicFramePr>
          <p:nvPr>
            <p:extLst>
              <p:ext uri="{D42A27DB-BD31-4B8C-83A1-F6EECF244321}">
                <p14:modId xmlns:p14="http://schemas.microsoft.com/office/powerpoint/2010/main" val="3438984392"/>
              </p:ext>
            </p:extLst>
          </p:nvPr>
        </p:nvGraphicFramePr>
        <p:xfrm>
          <a:off x="126930" y="2193959"/>
          <a:ext cx="3204140" cy="2363755"/>
        </p:xfrm>
        <a:graphic>
          <a:graphicData uri="http://schemas.openxmlformats.org/drawingml/2006/table">
            <a:tbl>
              <a:tblPr firstRow="1" bandRow="1">
                <a:tableStyleId>{1FECB4D8-DB02-4DC6-A0A2-4F2EBAE1DC90}</a:tableStyleId>
              </a:tblPr>
              <a:tblGrid>
                <a:gridCol w="1602070">
                  <a:extLst>
                    <a:ext uri="{9D8B030D-6E8A-4147-A177-3AD203B41FA5}">
                      <a16:colId xmlns:a16="http://schemas.microsoft.com/office/drawing/2014/main" val="20000"/>
                    </a:ext>
                  </a:extLst>
                </a:gridCol>
                <a:gridCol w="1602070">
                  <a:extLst>
                    <a:ext uri="{9D8B030D-6E8A-4147-A177-3AD203B41FA5}">
                      <a16:colId xmlns:a16="http://schemas.microsoft.com/office/drawing/2014/main" val="20001"/>
                    </a:ext>
                  </a:extLst>
                </a:gridCol>
              </a:tblGrid>
              <a:tr h="472751">
                <a:tc>
                  <a:txBody>
                    <a:bodyPr/>
                    <a:lstStyle/>
                    <a:p>
                      <a:pPr algn="ctr" latinLnBrk="1"/>
                      <a:r>
                        <a:rPr lang="ko-KR" altLang="en-US" sz="1200" dirty="0"/>
                        <a:t>선행 특허</a:t>
                      </a:r>
                      <a:endParaRPr lang="en-US" altLang="ko-KR" sz="1200" dirty="0"/>
                    </a:p>
                    <a:p>
                      <a:pPr algn="ctr" latinLnBrk="1"/>
                      <a:r>
                        <a:rPr lang="en-US" altLang="ko-KR" sz="1200" dirty="0"/>
                        <a:t>(</a:t>
                      </a:r>
                      <a:r>
                        <a:rPr lang="ko-KR" altLang="en-US" sz="1200" dirty="0"/>
                        <a:t>기본특허</a:t>
                      </a:r>
                      <a:r>
                        <a:rPr lang="en-US" altLang="ko-KR" sz="1200" dirty="0"/>
                        <a:t>)</a:t>
                      </a:r>
                      <a:endParaRPr lang="ko-KR" altLang="en-US" sz="1200" b="1" dirty="0">
                        <a:solidFill>
                          <a:schemeClr val="tx1"/>
                        </a:solidFill>
                        <a:latin typeface="Rix모던고딕 L" panose="02020603020101020101" pitchFamily="18" charset="-127"/>
                        <a:ea typeface="Rix모던고딕 L" panose="02020603020101020101" pitchFamily="18" charset="-127"/>
                      </a:endParaRPr>
                    </a:p>
                  </a:txBody>
                  <a:tcPr marL="91439" marR="91439" marT="45719" marB="45719" anchor="ctr"/>
                </a:tc>
                <a:tc>
                  <a:txBody>
                    <a:bodyPr/>
                    <a:lstStyle/>
                    <a:p>
                      <a:pPr algn="ctr" latinLnBrk="1"/>
                      <a:r>
                        <a:rPr lang="ko-KR" altLang="en-US" sz="1200" dirty="0"/>
                        <a:t>후행 특허</a:t>
                      </a:r>
                      <a:endParaRPr lang="en-US" altLang="ko-KR" sz="1200" dirty="0"/>
                    </a:p>
                    <a:p>
                      <a:pPr algn="ctr" latinLnBrk="1"/>
                      <a:r>
                        <a:rPr lang="en-US" altLang="ko-KR" sz="1200" dirty="0"/>
                        <a:t>(</a:t>
                      </a:r>
                      <a:r>
                        <a:rPr lang="ko-KR" altLang="en-US" sz="1200" dirty="0"/>
                        <a:t>개량특허</a:t>
                      </a:r>
                      <a:r>
                        <a:rPr lang="en-US" altLang="ko-KR" sz="1200" dirty="0"/>
                        <a:t>)</a:t>
                      </a:r>
                      <a:endParaRPr lang="ko-KR" altLang="en-US" sz="1200" b="1" dirty="0">
                        <a:solidFill>
                          <a:schemeClr val="tx1"/>
                        </a:solidFill>
                        <a:latin typeface="Rix모던고딕 L" panose="02020603020101020101" pitchFamily="18" charset="-127"/>
                        <a:ea typeface="Rix모던고딕 L" panose="02020603020101020101" pitchFamily="18" charset="-127"/>
                      </a:endParaRPr>
                    </a:p>
                  </a:txBody>
                  <a:tcPr marL="91439" marR="91439" marT="45719" marB="45719" anchor="ctr"/>
                </a:tc>
                <a:extLst>
                  <a:ext uri="{0D108BD9-81ED-4DB2-BD59-A6C34878D82A}">
                    <a16:rowId xmlns:a16="http://schemas.microsoft.com/office/drawing/2014/main" val="10000"/>
                  </a:ext>
                </a:extLst>
              </a:tr>
              <a:tr h="472751">
                <a:tc>
                  <a:txBody>
                    <a:bodyPr/>
                    <a:lstStyle/>
                    <a:p>
                      <a:pPr algn="ctr" latinLnBrk="1"/>
                      <a:r>
                        <a:rPr lang="ko-KR" altLang="en-US" sz="1200" dirty="0"/>
                        <a:t>개념 </a:t>
                      </a:r>
                      <a:endParaRPr lang="ko-KR" altLang="en-US" sz="1200" b="1" dirty="0">
                        <a:solidFill>
                          <a:schemeClr val="tx1"/>
                        </a:solidFill>
                        <a:latin typeface="Rix모던고딕 L" panose="02020603020101020101" pitchFamily="18" charset="-127"/>
                        <a:ea typeface="Rix모던고딕 L" panose="02020603020101020101" pitchFamily="18" charset="-127"/>
                      </a:endParaRPr>
                    </a:p>
                  </a:txBody>
                  <a:tcPr marL="91439" marR="91439" marT="45719" marB="45719" anchor="ctr"/>
                </a:tc>
                <a:tc>
                  <a:txBody>
                    <a:bodyPr/>
                    <a:lstStyle/>
                    <a:p>
                      <a:pPr algn="ctr" latinLnBrk="1"/>
                      <a:r>
                        <a:rPr lang="ko-KR" altLang="en-US" sz="1200" dirty="0"/>
                        <a:t>개선</a:t>
                      </a:r>
                      <a:endParaRPr lang="ko-KR" altLang="en-US" sz="1200" b="1" dirty="0">
                        <a:solidFill>
                          <a:schemeClr val="tx1"/>
                        </a:solidFill>
                        <a:latin typeface="Rix모던고딕 L" panose="02020603020101020101" pitchFamily="18" charset="-127"/>
                        <a:ea typeface="Rix모던고딕 L" panose="02020603020101020101" pitchFamily="18" charset="-127"/>
                      </a:endParaRPr>
                    </a:p>
                  </a:txBody>
                  <a:tcPr marL="91439" marR="91439" marT="45719" marB="45719" anchor="ctr"/>
                </a:tc>
                <a:extLst>
                  <a:ext uri="{0D108BD9-81ED-4DB2-BD59-A6C34878D82A}">
                    <a16:rowId xmlns:a16="http://schemas.microsoft.com/office/drawing/2014/main" val="10001"/>
                  </a:ext>
                </a:extLst>
              </a:tr>
              <a:tr h="472751">
                <a:tc>
                  <a:txBody>
                    <a:bodyPr/>
                    <a:lstStyle/>
                    <a:p>
                      <a:pPr algn="ctr" latinLnBrk="1"/>
                      <a:r>
                        <a:rPr lang="ko-KR" altLang="en-US" sz="1200" dirty="0"/>
                        <a:t>기본발명</a:t>
                      </a:r>
                      <a:endParaRPr lang="ko-KR" altLang="en-US" sz="1200" b="1" dirty="0">
                        <a:solidFill>
                          <a:schemeClr val="tx1"/>
                        </a:solidFill>
                        <a:latin typeface="Rix모던고딕 L" panose="02020603020101020101" pitchFamily="18" charset="-127"/>
                        <a:ea typeface="Rix모던고딕 L" panose="02020603020101020101" pitchFamily="18" charset="-127"/>
                      </a:endParaRPr>
                    </a:p>
                  </a:txBody>
                  <a:tcPr marL="91439" marR="91439" marT="45719" marB="45719" anchor="ctr"/>
                </a:tc>
                <a:tc>
                  <a:txBody>
                    <a:bodyPr/>
                    <a:lstStyle/>
                    <a:p>
                      <a:pPr algn="ctr" latinLnBrk="1"/>
                      <a:r>
                        <a:rPr lang="ko-KR" altLang="en-US" sz="1200" dirty="0"/>
                        <a:t>개량발명</a:t>
                      </a:r>
                      <a:endParaRPr lang="ko-KR" altLang="en-US" sz="1200" b="1" dirty="0">
                        <a:solidFill>
                          <a:schemeClr val="tx1"/>
                        </a:solidFill>
                        <a:latin typeface="Rix모던고딕 L" panose="02020603020101020101" pitchFamily="18" charset="-127"/>
                        <a:ea typeface="Rix모던고딕 L" panose="02020603020101020101" pitchFamily="18" charset="-127"/>
                      </a:endParaRPr>
                    </a:p>
                  </a:txBody>
                  <a:tcPr marL="91439" marR="91439" marT="45719" marB="45719" anchor="ctr"/>
                </a:tc>
                <a:extLst>
                  <a:ext uri="{0D108BD9-81ED-4DB2-BD59-A6C34878D82A}">
                    <a16:rowId xmlns:a16="http://schemas.microsoft.com/office/drawing/2014/main" val="10002"/>
                  </a:ext>
                </a:extLst>
              </a:tr>
              <a:tr h="472751">
                <a:tc>
                  <a:txBody>
                    <a:bodyPr/>
                    <a:lstStyle/>
                    <a:p>
                      <a:pPr algn="ctr" latinLnBrk="1"/>
                      <a:r>
                        <a:rPr lang="en-US" altLang="ko-KR" sz="1200" dirty="0"/>
                        <a:t>High</a:t>
                      </a:r>
                      <a:r>
                        <a:rPr lang="en-US" altLang="ko-KR" sz="1200" baseline="0" dirty="0"/>
                        <a:t> Return</a:t>
                      </a:r>
                      <a:endParaRPr lang="ko-KR" altLang="en-US" sz="1200" b="1" dirty="0">
                        <a:solidFill>
                          <a:schemeClr val="tx1"/>
                        </a:solidFill>
                        <a:latin typeface="Rix모던고딕 L" panose="02020603020101020101" pitchFamily="18" charset="-127"/>
                        <a:ea typeface="Rix모던고딕 L" panose="02020603020101020101" pitchFamily="18" charset="-127"/>
                      </a:endParaRPr>
                    </a:p>
                  </a:txBody>
                  <a:tcPr marL="91439" marR="91439" marT="45719" marB="45719" anchor="ctr"/>
                </a:tc>
                <a:tc>
                  <a:txBody>
                    <a:bodyPr/>
                    <a:lstStyle/>
                    <a:p>
                      <a:pPr algn="ctr" latinLnBrk="1"/>
                      <a:r>
                        <a:rPr lang="en-US" altLang="ko-KR" sz="1200" dirty="0"/>
                        <a:t>Low Return</a:t>
                      </a:r>
                      <a:endParaRPr lang="ko-KR" altLang="en-US" sz="1200" b="1" dirty="0">
                        <a:solidFill>
                          <a:schemeClr val="tx1"/>
                        </a:solidFill>
                        <a:latin typeface="Rix모던고딕 L" panose="02020603020101020101" pitchFamily="18" charset="-127"/>
                        <a:ea typeface="Rix모던고딕 L" panose="02020603020101020101" pitchFamily="18" charset="-127"/>
                      </a:endParaRPr>
                    </a:p>
                  </a:txBody>
                  <a:tcPr marL="91439" marR="91439" marT="45719" marB="45719" anchor="ctr"/>
                </a:tc>
                <a:extLst>
                  <a:ext uri="{0D108BD9-81ED-4DB2-BD59-A6C34878D82A}">
                    <a16:rowId xmlns:a16="http://schemas.microsoft.com/office/drawing/2014/main" val="10003"/>
                  </a:ext>
                </a:extLst>
              </a:tr>
              <a:tr h="472751">
                <a:tc>
                  <a:txBody>
                    <a:bodyPr/>
                    <a:lstStyle/>
                    <a:p>
                      <a:pPr algn="ctr" latinLnBrk="1"/>
                      <a:r>
                        <a:rPr lang="en-US" altLang="ko-KR" sz="1200" dirty="0"/>
                        <a:t>High Risk</a:t>
                      </a:r>
                      <a:endParaRPr lang="ko-KR" altLang="en-US" sz="1200" b="1" dirty="0">
                        <a:solidFill>
                          <a:schemeClr val="tx1"/>
                        </a:solidFill>
                        <a:latin typeface="Rix모던고딕 L" panose="02020603020101020101" pitchFamily="18" charset="-127"/>
                        <a:ea typeface="Rix모던고딕 L" panose="02020603020101020101" pitchFamily="18" charset="-127"/>
                      </a:endParaRPr>
                    </a:p>
                  </a:txBody>
                  <a:tcPr marL="91439" marR="91439" marT="45719" marB="45719" anchor="ctr"/>
                </a:tc>
                <a:tc>
                  <a:txBody>
                    <a:bodyPr/>
                    <a:lstStyle/>
                    <a:p>
                      <a:pPr algn="ctr" latinLnBrk="1"/>
                      <a:r>
                        <a:rPr lang="en-US" altLang="ko-KR" sz="1200" dirty="0"/>
                        <a:t>Low Risk</a:t>
                      </a:r>
                      <a:endParaRPr lang="ko-KR" altLang="en-US" sz="1200" b="1" dirty="0">
                        <a:solidFill>
                          <a:schemeClr val="tx1"/>
                        </a:solidFill>
                        <a:latin typeface="Rix모던고딕 L" panose="02020603020101020101" pitchFamily="18" charset="-127"/>
                        <a:ea typeface="Rix모던고딕 L" panose="02020603020101020101" pitchFamily="18" charset="-127"/>
                      </a:endParaRPr>
                    </a:p>
                  </a:txBody>
                  <a:tcPr marL="91439" marR="91439" marT="45719" marB="45719" anchor="ctr"/>
                </a:tc>
                <a:extLst>
                  <a:ext uri="{0D108BD9-81ED-4DB2-BD59-A6C34878D82A}">
                    <a16:rowId xmlns:a16="http://schemas.microsoft.com/office/drawing/2014/main" val="10004"/>
                  </a:ext>
                </a:extLst>
              </a:tr>
            </a:tbl>
          </a:graphicData>
        </a:graphic>
      </p:graphicFrame>
      <p:sp>
        <p:nvSpPr>
          <p:cNvPr id="125" name="오른쪽 화살표 7">
            <a:extLst>
              <a:ext uri="{FF2B5EF4-FFF2-40B4-BE49-F238E27FC236}">
                <a16:creationId xmlns:a16="http://schemas.microsoft.com/office/drawing/2014/main" id="{9EC85F48-A10F-4B90-B512-C8FB1D1AFD4C}"/>
              </a:ext>
            </a:extLst>
          </p:cNvPr>
          <p:cNvSpPr/>
          <p:nvPr/>
        </p:nvSpPr>
        <p:spPr bwMode="auto">
          <a:xfrm>
            <a:off x="4341611" y="2224847"/>
            <a:ext cx="6722690" cy="1242993"/>
          </a:xfrm>
          <a:prstGeom prst="rightArrow">
            <a:avLst>
              <a:gd name="adj1" fmla="val 65873"/>
              <a:gd name="adj2" fmla="val 60582"/>
            </a:avLst>
          </a:prstGeom>
          <a:solidFill>
            <a:schemeClr val="accent2">
              <a:lumMod val="20000"/>
              <a:lumOff val="80000"/>
            </a:schemeClr>
          </a:solidFill>
          <a:ln>
            <a:headEnd type="none" w="med" len="med"/>
            <a:tailEnd type="none"/>
          </a:ln>
        </p:spPr>
        <p:style>
          <a:lnRef idx="1">
            <a:schemeClr val="accent4"/>
          </a:lnRef>
          <a:fillRef idx="0">
            <a:schemeClr val="accent4"/>
          </a:fillRef>
          <a:effectRef idx="0">
            <a:schemeClr val="accent4"/>
          </a:effectRef>
          <a:fontRef idx="minor">
            <a:schemeClr val="tx1"/>
          </a:fontRef>
        </p:style>
        <p:txBody>
          <a:bodyPr rtlCol="0" anchor="ctr"/>
          <a:lstStyle/>
          <a:p>
            <a:pPr algn="ctr"/>
            <a:endParaRPr lang="ko-KR" altLang="en-US"/>
          </a:p>
        </p:txBody>
      </p:sp>
      <p:sp>
        <p:nvSpPr>
          <p:cNvPr id="126" name="직사각형 125">
            <a:extLst>
              <a:ext uri="{FF2B5EF4-FFF2-40B4-BE49-F238E27FC236}">
                <a16:creationId xmlns:a16="http://schemas.microsoft.com/office/drawing/2014/main" id="{F4B124CF-30CF-4300-8CAA-7956A0399473}"/>
              </a:ext>
            </a:extLst>
          </p:cNvPr>
          <p:cNvSpPr/>
          <p:nvPr/>
        </p:nvSpPr>
        <p:spPr bwMode="auto">
          <a:xfrm>
            <a:off x="6463982" y="963968"/>
            <a:ext cx="789007" cy="2312146"/>
          </a:xfrm>
          <a:prstGeom prst="rect">
            <a:avLst/>
          </a:prstGeom>
          <a:solidFill>
            <a:schemeClr val="accent3">
              <a:lumMod val="50000"/>
              <a:alpha val="70000"/>
            </a:schemeClr>
          </a:solidFill>
          <a:ln>
            <a:noFill/>
            <a:headEnd type="none" w="med" len="me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2">
                  <a:lumMod val="50000"/>
                </a:schemeClr>
              </a:solidFill>
            </a:endParaRPr>
          </a:p>
        </p:txBody>
      </p:sp>
      <p:sp>
        <p:nvSpPr>
          <p:cNvPr id="127" name="TextBox 126">
            <a:extLst>
              <a:ext uri="{FF2B5EF4-FFF2-40B4-BE49-F238E27FC236}">
                <a16:creationId xmlns:a16="http://schemas.microsoft.com/office/drawing/2014/main" id="{F6FF7AD9-2455-4E42-8FF4-963557FED9F2}"/>
              </a:ext>
            </a:extLst>
          </p:cNvPr>
          <p:cNvSpPr txBox="1"/>
          <p:nvPr/>
        </p:nvSpPr>
        <p:spPr>
          <a:xfrm>
            <a:off x="6609058" y="2628043"/>
            <a:ext cx="498855" cy="461665"/>
          </a:xfrm>
          <a:prstGeom prst="rect">
            <a:avLst/>
          </a:prstGeom>
          <a:noFill/>
        </p:spPr>
        <p:txBody>
          <a:bodyPr wrap="none" rtlCol="0">
            <a:spAutoFit/>
          </a:bodyPr>
          <a:lstStyle/>
          <a:p>
            <a:pPr algn="ctr"/>
            <a:r>
              <a:rPr lang="en-US" altLang="ko-KR" sz="1200" b="1" dirty="0">
                <a:solidFill>
                  <a:schemeClr val="bg1"/>
                </a:solidFill>
                <a:latin typeface="+mn-ea"/>
              </a:rPr>
              <a:t>R&amp;D</a:t>
            </a:r>
          </a:p>
          <a:p>
            <a:pPr algn="ctr"/>
            <a:r>
              <a:rPr lang="ko-KR" altLang="en-US" sz="1200" b="1" dirty="0">
                <a:solidFill>
                  <a:schemeClr val="bg1"/>
                </a:solidFill>
                <a:latin typeface="+mn-ea"/>
              </a:rPr>
              <a:t>구간</a:t>
            </a:r>
          </a:p>
        </p:txBody>
      </p:sp>
      <p:sp>
        <p:nvSpPr>
          <p:cNvPr id="128" name="타원 127">
            <a:extLst>
              <a:ext uri="{FF2B5EF4-FFF2-40B4-BE49-F238E27FC236}">
                <a16:creationId xmlns:a16="http://schemas.microsoft.com/office/drawing/2014/main" id="{CB77D5AF-885D-48AB-AC40-D2A31852BD6A}"/>
              </a:ext>
            </a:extLst>
          </p:cNvPr>
          <p:cNvSpPr/>
          <p:nvPr/>
        </p:nvSpPr>
        <p:spPr>
          <a:xfrm>
            <a:off x="3503712" y="2462322"/>
            <a:ext cx="813198" cy="770636"/>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100" dirty="0"/>
              <a:t>Abstract</a:t>
            </a:r>
            <a:endParaRPr lang="ko-KR" altLang="en-US" sz="1100" dirty="0"/>
          </a:p>
        </p:txBody>
      </p:sp>
      <p:sp>
        <p:nvSpPr>
          <p:cNvPr id="129" name="타원 128">
            <a:extLst>
              <a:ext uri="{FF2B5EF4-FFF2-40B4-BE49-F238E27FC236}">
                <a16:creationId xmlns:a16="http://schemas.microsoft.com/office/drawing/2014/main" id="{1C0DC3AF-7043-4922-A91D-B034B17BF246}"/>
              </a:ext>
            </a:extLst>
          </p:cNvPr>
          <p:cNvSpPr/>
          <p:nvPr/>
        </p:nvSpPr>
        <p:spPr>
          <a:xfrm>
            <a:off x="11064300" y="2462322"/>
            <a:ext cx="813198" cy="770636"/>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t>Concrete</a:t>
            </a:r>
            <a:endParaRPr lang="ko-KR" altLang="en-US" sz="1050" dirty="0"/>
          </a:p>
        </p:txBody>
      </p:sp>
      <p:sp>
        <p:nvSpPr>
          <p:cNvPr id="130" name="직사각형 129">
            <a:extLst>
              <a:ext uri="{FF2B5EF4-FFF2-40B4-BE49-F238E27FC236}">
                <a16:creationId xmlns:a16="http://schemas.microsoft.com/office/drawing/2014/main" id="{01BAF49B-38DC-4C0B-B87D-D6ED493DD072}"/>
              </a:ext>
            </a:extLst>
          </p:cNvPr>
          <p:cNvSpPr/>
          <p:nvPr/>
        </p:nvSpPr>
        <p:spPr bwMode="auto">
          <a:xfrm>
            <a:off x="9996220" y="2509423"/>
            <a:ext cx="736574" cy="666594"/>
          </a:xfrm>
          <a:prstGeom prst="rect">
            <a:avLst/>
          </a:prstGeom>
          <a:ln>
            <a:noFill/>
            <a:headEnd type="none" w="med" len="med"/>
            <a:tailEnd type="none"/>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400" dirty="0"/>
              <a:t>구현</a:t>
            </a:r>
            <a:endParaRPr lang="en-US" altLang="ko-KR" sz="1400" dirty="0"/>
          </a:p>
          <a:p>
            <a:pPr algn="ctr"/>
            <a:r>
              <a:rPr lang="en-US" altLang="ko-KR" sz="1400" dirty="0"/>
              <a:t>(</a:t>
            </a:r>
            <a:r>
              <a:rPr lang="ko-KR" altLang="en-US" sz="1400" dirty="0"/>
              <a:t>기술</a:t>
            </a:r>
            <a:r>
              <a:rPr lang="en-US" altLang="ko-KR" sz="1400" dirty="0"/>
              <a:t>)</a:t>
            </a:r>
            <a:endParaRPr lang="ko-KR" altLang="en-US" sz="1400" dirty="0"/>
          </a:p>
        </p:txBody>
      </p:sp>
      <p:sp>
        <p:nvSpPr>
          <p:cNvPr id="149" name="왼쪽/오른쪽 화살표 73">
            <a:extLst>
              <a:ext uri="{FF2B5EF4-FFF2-40B4-BE49-F238E27FC236}">
                <a16:creationId xmlns:a16="http://schemas.microsoft.com/office/drawing/2014/main" id="{5F0F5480-0B78-46DB-B3AF-9D688DFCB984}"/>
              </a:ext>
            </a:extLst>
          </p:cNvPr>
          <p:cNvSpPr/>
          <p:nvPr/>
        </p:nvSpPr>
        <p:spPr>
          <a:xfrm>
            <a:off x="5157699" y="2484027"/>
            <a:ext cx="1306282" cy="691991"/>
          </a:xfrm>
          <a:prstGeom prst="leftRightArrow">
            <a:avLst>
              <a:gd name="adj1" fmla="val 70784"/>
              <a:gd name="adj2" fmla="val 33835"/>
            </a:avLst>
          </a:prstGeom>
        </p:spPr>
        <p:style>
          <a:lnRef idx="2">
            <a:schemeClr val="accent2">
              <a:shade val="50000"/>
            </a:schemeClr>
          </a:lnRef>
          <a:fillRef idx="1">
            <a:schemeClr val="accent2"/>
          </a:fillRef>
          <a:effectRef idx="0">
            <a:schemeClr val="accent2"/>
          </a:effectRef>
          <a:fontRef idx="minor">
            <a:schemeClr val="lt1"/>
          </a:fontRef>
        </p:style>
        <p:txBody>
          <a:bodyPr lIns="36000" rIns="36000" rtlCol="0" anchor="ctr"/>
          <a:lstStyle/>
          <a:p>
            <a:pPr algn="ctr"/>
            <a:r>
              <a:rPr lang="ko-KR" altLang="en-US" sz="1200" dirty="0"/>
              <a:t>선행특허</a:t>
            </a:r>
          </a:p>
        </p:txBody>
      </p:sp>
      <p:grpSp>
        <p:nvGrpSpPr>
          <p:cNvPr id="225" name="그룹 224">
            <a:extLst>
              <a:ext uri="{FF2B5EF4-FFF2-40B4-BE49-F238E27FC236}">
                <a16:creationId xmlns:a16="http://schemas.microsoft.com/office/drawing/2014/main" id="{59A2C76E-79AE-4C01-8A18-8253ED29007E}"/>
              </a:ext>
            </a:extLst>
          </p:cNvPr>
          <p:cNvGrpSpPr/>
          <p:nvPr/>
        </p:nvGrpSpPr>
        <p:grpSpPr>
          <a:xfrm>
            <a:off x="4729095" y="899851"/>
            <a:ext cx="6875636" cy="1615002"/>
            <a:chOff x="4729095" y="939863"/>
            <a:chExt cx="6875636" cy="1975042"/>
          </a:xfrm>
        </p:grpSpPr>
        <p:grpSp>
          <p:nvGrpSpPr>
            <p:cNvPr id="131" name="그룹 130">
              <a:extLst>
                <a:ext uri="{FF2B5EF4-FFF2-40B4-BE49-F238E27FC236}">
                  <a16:creationId xmlns:a16="http://schemas.microsoft.com/office/drawing/2014/main" id="{8DF8C92C-A546-460A-AA47-E00B0DACC6AB}"/>
                </a:ext>
              </a:extLst>
            </p:cNvPr>
            <p:cNvGrpSpPr/>
            <p:nvPr/>
          </p:nvGrpSpPr>
          <p:grpSpPr>
            <a:xfrm>
              <a:off x="4734717" y="941932"/>
              <a:ext cx="5629991" cy="1972973"/>
              <a:chOff x="1691680" y="1772816"/>
              <a:chExt cx="5762988" cy="2376264"/>
            </a:xfrm>
          </p:grpSpPr>
          <p:cxnSp>
            <p:nvCxnSpPr>
              <p:cNvPr id="132" name="직선 연결선 131">
                <a:extLst>
                  <a:ext uri="{FF2B5EF4-FFF2-40B4-BE49-F238E27FC236}">
                    <a16:creationId xmlns:a16="http://schemas.microsoft.com/office/drawing/2014/main" id="{D259008C-414B-456F-8473-AE940EFD0EE3}"/>
                  </a:ext>
                </a:extLst>
              </p:cNvPr>
              <p:cNvCxnSpPr/>
              <p:nvPr/>
            </p:nvCxnSpPr>
            <p:spPr>
              <a:xfrm>
                <a:off x="1691680" y="1772816"/>
                <a:ext cx="0" cy="2376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133" name="직선 연결선 132">
                <a:extLst>
                  <a:ext uri="{FF2B5EF4-FFF2-40B4-BE49-F238E27FC236}">
                    <a16:creationId xmlns:a16="http://schemas.microsoft.com/office/drawing/2014/main" id="{75BE21C8-D09A-43EB-A718-E85B6B59C857}"/>
                  </a:ext>
                </a:extLst>
              </p:cNvPr>
              <p:cNvCxnSpPr/>
              <p:nvPr/>
            </p:nvCxnSpPr>
            <p:spPr>
              <a:xfrm>
                <a:off x="3131840" y="1772816"/>
                <a:ext cx="0" cy="2376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134" name="직선 연결선 133">
                <a:extLst>
                  <a:ext uri="{FF2B5EF4-FFF2-40B4-BE49-F238E27FC236}">
                    <a16:creationId xmlns:a16="http://schemas.microsoft.com/office/drawing/2014/main" id="{FAEC568D-88FB-4B9F-A0B8-4A763766DECB}"/>
                  </a:ext>
                </a:extLst>
              </p:cNvPr>
              <p:cNvCxnSpPr/>
              <p:nvPr/>
            </p:nvCxnSpPr>
            <p:spPr>
              <a:xfrm>
                <a:off x="4569652" y="1772816"/>
                <a:ext cx="0" cy="2376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135" name="직선 연결선 134">
                <a:extLst>
                  <a:ext uri="{FF2B5EF4-FFF2-40B4-BE49-F238E27FC236}">
                    <a16:creationId xmlns:a16="http://schemas.microsoft.com/office/drawing/2014/main" id="{C1C5D4DF-BA4A-43A2-86EB-19CFFC78DA9A}"/>
                  </a:ext>
                </a:extLst>
              </p:cNvPr>
              <p:cNvCxnSpPr/>
              <p:nvPr/>
            </p:nvCxnSpPr>
            <p:spPr>
              <a:xfrm>
                <a:off x="6014508" y="1772816"/>
                <a:ext cx="0" cy="2376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136" name="직선 연결선 135">
                <a:extLst>
                  <a:ext uri="{FF2B5EF4-FFF2-40B4-BE49-F238E27FC236}">
                    <a16:creationId xmlns:a16="http://schemas.microsoft.com/office/drawing/2014/main" id="{92C48FC9-E2A3-479D-AA0A-F96D94C844B2}"/>
                  </a:ext>
                </a:extLst>
              </p:cNvPr>
              <p:cNvCxnSpPr/>
              <p:nvPr/>
            </p:nvCxnSpPr>
            <p:spPr>
              <a:xfrm>
                <a:off x="7454668" y="1772816"/>
                <a:ext cx="0" cy="2376264"/>
              </a:xfrm>
              <a:prstGeom prst="line">
                <a:avLst/>
              </a:prstGeom>
            </p:spPr>
            <p:style>
              <a:lnRef idx="1">
                <a:schemeClr val="accent1"/>
              </a:lnRef>
              <a:fillRef idx="0">
                <a:schemeClr val="accent1"/>
              </a:fillRef>
              <a:effectRef idx="0">
                <a:schemeClr val="accent1"/>
              </a:effectRef>
              <a:fontRef idx="minor">
                <a:schemeClr val="tx1"/>
              </a:fontRef>
            </p:style>
          </p:cxnSp>
        </p:grpSp>
        <p:sp>
          <p:nvSpPr>
            <p:cNvPr id="137" name="자유형 57">
              <a:extLst>
                <a:ext uri="{FF2B5EF4-FFF2-40B4-BE49-F238E27FC236}">
                  <a16:creationId xmlns:a16="http://schemas.microsoft.com/office/drawing/2014/main" id="{C8CC4804-5C16-4F18-BC0A-61726238F063}"/>
                </a:ext>
              </a:extLst>
            </p:cNvPr>
            <p:cNvSpPr/>
            <p:nvPr/>
          </p:nvSpPr>
          <p:spPr>
            <a:xfrm>
              <a:off x="4729095" y="1424257"/>
              <a:ext cx="5657552" cy="1389963"/>
            </a:xfrm>
            <a:custGeom>
              <a:avLst/>
              <a:gdLst>
                <a:gd name="connsiteX0" fmla="*/ 0 w 5791200"/>
                <a:gd name="connsiteY0" fmla="*/ 2115468 h 2115468"/>
                <a:gd name="connsiteX1" fmla="*/ 1438275 w 5791200"/>
                <a:gd name="connsiteY1" fmla="*/ 1743993 h 2115468"/>
                <a:gd name="connsiteX2" fmla="*/ 2886075 w 5791200"/>
                <a:gd name="connsiteY2" fmla="*/ 381918 h 2115468"/>
                <a:gd name="connsiteX3" fmla="*/ 4343400 w 5791200"/>
                <a:gd name="connsiteY3" fmla="*/ 918 h 2115468"/>
                <a:gd name="connsiteX4" fmla="*/ 5791200 w 5791200"/>
                <a:gd name="connsiteY4" fmla="*/ 296193 h 2115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1200" h="2115468">
                  <a:moveTo>
                    <a:pt x="0" y="2115468"/>
                  </a:moveTo>
                  <a:cubicBezTo>
                    <a:pt x="478631" y="2074193"/>
                    <a:pt x="957263" y="2032918"/>
                    <a:pt x="1438275" y="1743993"/>
                  </a:cubicBezTo>
                  <a:cubicBezTo>
                    <a:pt x="1919288" y="1455068"/>
                    <a:pt x="2401888" y="672430"/>
                    <a:pt x="2886075" y="381918"/>
                  </a:cubicBezTo>
                  <a:cubicBezTo>
                    <a:pt x="3370263" y="91405"/>
                    <a:pt x="3859213" y="15205"/>
                    <a:pt x="4343400" y="918"/>
                  </a:cubicBezTo>
                  <a:cubicBezTo>
                    <a:pt x="4827588" y="-13370"/>
                    <a:pt x="5309394" y="141411"/>
                    <a:pt x="5791200" y="2961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8" name="자유형 58">
              <a:extLst>
                <a:ext uri="{FF2B5EF4-FFF2-40B4-BE49-F238E27FC236}">
                  <a16:creationId xmlns:a16="http://schemas.microsoft.com/office/drawing/2014/main" id="{D2429D04-920E-418A-843A-F58BBE5019D8}"/>
                </a:ext>
              </a:extLst>
            </p:cNvPr>
            <p:cNvSpPr/>
            <p:nvPr/>
          </p:nvSpPr>
          <p:spPr>
            <a:xfrm>
              <a:off x="4729095" y="1493456"/>
              <a:ext cx="5648248" cy="1397061"/>
            </a:xfrm>
            <a:custGeom>
              <a:avLst/>
              <a:gdLst>
                <a:gd name="connsiteX0" fmla="*/ 0 w 5781675"/>
                <a:gd name="connsiteY0" fmla="*/ 2126271 h 2126271"/>
                <a:gd name="connsiteX1" fmla="*/ 1466850 w 5781675"/>
                <a:gd name="connsiteY1" fmla="*/ 1773846 h 2126271"/>
                <a:gd name="connsiteX2" fmla="*/ 2886075 w 5781675"/>
                <a:gd name="connsiteY2" fmla="*/ 468921 h 2126271"/>
                <a:gd name="connsiteX3" fmla="*/ 4333875 w 5781675"/>
                <a:gd name="connsiteY3" fmla="*/ 2196 h 2126271"/>
                <a:gd name="connsiteX4" fmla="*/ 5781675 w 5781675"/>
                <a:gd name="connsiteY4" fmla="*/ 326046 h 2126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81675" h="2126271">
                  <a:moveTo>
                    <a:pt x="0" y="2126271"/>
                  </a:moveTo>
                  <a:cubicBezTo>
                    <a:pt x="492919" y="2088171"/>
                    <a:pt x="985838" y="2050071"/>
                    <a:pt x="1466850" y="1773846"/>
                  </a:cubicBezTo>
                  <a:cubicBezTo>
                    <a:pt x="1947862" y="1497621"/>
                    <a:pt x="2408238" y="764196"/>
                    <a:pt x="2886075" y="468921"/>
                  </a:cubicBezTo>
                  <a:cubicBezTo>
                    <a:pt x="3363913" y="173646"/>
                    <a:pt x="3851275" y="26008"/>
                    <a:pt x="4333875" y="2196"/>
                  </a:cubicBezTo>
                  <a:cubicBezTo>
                    <a:pt x="4816475" y="-21616"/>
                    <a:pt x="5299075" y="152215"/>
                    <a:pt x="5781675" y="326046"/>
                  </a:cubicBezTo>
                </a:path>
              </a:pathLst>
            </a:custGeom>
            <a:no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9" name="직선 화살표 연결선 138">
              <a:extLst>
                <a:ext uri="{FF2B5EF4-FFF2-40B4-BE49-F238E27FC236}">
                  <a16:creationId xmlns:a16="http://schemas.microsoft.com/office/drawing/2014/main" id="{348E2EB6-B3B3-44EA-91DA-17132ED4320A}"/>
                </a:ext>
              </a:extLst>
            </p:cNvPr>
            <p:cNvCxnSpPr/>
            <p:nvPr/>
          </p:nvCxnSpPr>
          <p:spPr>
            <a:xfrm>
              <a:off x="4734716" y="1080329"/>
              <a:ext cx="1406924" cy="0"/>
            </a:xfrm>
            <a:prstGeom prst="straightConnector1">
              <a:avLst/>
            </a:prstGeom>
            <a:ln>
              <a:headEnd type="arrow"/>
              <a:tailEnd type="arrow"/>
            </a:ln>
          </p:spPr>
          <p:style>
            <a:lnRef idx="1">
              <a:schemeClr val="accent1"/>
            </a:lnRef>
            <a:fillRef idx="0">
              <a:schemeClr val="accent1"/>
            </a:fillRef>
            <a:effectRef idx="0">
              <a:schemeClr val="accent1"/>
            </a:effectRef>
            <a:fontRef idx="minor">
              <a:schemeClr val="tx1"/>
            </a:fontRef>
          </p:style>
        </p:cxnSp>
        <p:cxnSp>
          <p:nvCxnSpPr>
            <p:cNvPr id="140" name="직선 화살표 연결선 139">
              <a:extLst>
                <a:ext uri="{FF2B5EF4-FFF2-40B4-BE49-F238E27FC236}">
                  <a16:creationId xmlns:a16="http://schemas.microsoft.com/office/drawing/2014/main" id="{2B7D6953-6C23-4F6B-BAFA-9F78F75DA5E5}"/>
                </a:ext>
              </a:extLst>
            </p:cNvPr>
            <p:cNvCxnSpPr/>
            <p:nvPr/>
          </p:nvCxnSpPr>
          <p:spPr>
            <a:xfrm>
              <a:off x="6155022" y="1080329"/>
              <a:ext cx="1406924" cy="0"/>
            </a:xfrm>
            <a:prstGeom prst="straightConnector1">
              <a:avLst/>
            </a:prstGeom>
            <a:ln>
              <a:headEnd type="arrow"/>
              <a:tailEnd type="arrow"/>
            </a:ln>
          </p:spPr>
          <p:style>
            <a:lnRef idx="1">
              <a:schemeClr val="accent1"/>
            </a:lnRef>
            <a:fillRef idx="0">
              <a:schemeClr val="accent1"/>
            </a:fillRef>
            <a:effectRef idx="0">
              <a:schemeClr val="accent1"/>
            </a:effectRef>
            <a:fontRef idx="minor">
              <a:schemeClr val="tx1"/>
            </a:fontRef>
          </p:style>
        </p:cxnSp>
        <p:cxnSp>
          <p:nvCxnSpPr>
            <p:cNvPr id="141" name="직선 화살표 연결선 140">
              <a:extLst>
                <a:ext uri="{FF2B5EF4-FFF2-40B4-BE49-F238E27FC236}">
                  <a16:creationId xmlns:a16="http://schemas.microsoft.com/office/drawing/2014/main" id="{9045C202-CC42-43FF-B97B-5352E3C224F3}"/>
                </a:ext>
              </a:extLst>
            </p:cNvPr>
            <p:cNvCxnSpPr/>
            <p:nvPr/>
          </p:nvCxnSpPr>
          <p:spPr>
            <a:xfrm>
              <a:off x="7546272" y="1080329"/>
              <a:ext cx="1406924" cy="0"/>
            </a:xfrm>
            <a:prstGeom prst="straightConnector1">
              <a:avLst/>
            </a:prstGeom>
            <a:ln>
              <a:headEnd type="arrow"/>
              <a:tailEnd type="arrow"/>
            </a:ln>
          </p:spPr>
          <p:style>
            <a:lnRef idx="1">
              <a:schemeClr val="accent1"/>
            </a:lnRef>
            <a:fillRef idx="0">
              <a:schemeClr val="accent1"/>
            </a:fillRef>
            <a:effectRef idx="0">
              <a:schemeClr val="accent1"/>
            </a:effectRef>
            <a:fontRef idx="minor">
              <a:schemeClr val="tx1"/>
            </a:fontRef>
          </p:style>
        </p:cxnSp>
        <p:cxnSp>
          <p:nvCxnSpPr>
            <p:cNvPr id="142" name="직선 화살표 연결선 141">
              <a:extLst>
                <a:ext uri="{FF2B5EF4-FFF2-40B4-BE49-F238E27FC236}">
                  <a16:creationId xmlns:a16="http://schemas.microsoft.com/office/drawing/2014/main" id="{80C6D712-244F-4E8E-AD9B-E98EEC9A07C4}"/>
                </a:ext>
              </a:extLst>
            </p:cNvPr>
            <p:cNvCxnSpPr/>
            <p:nvPr/>
          </p:nvCxnSpPr>
          <p:spPr>
            <a:xfrm>
              <a:off x="8957784" y="1080329"/>
              <a:ext cx="1406924" cy="0"/>
            </a:xfrm>
            <a:prstGeom prst="straightConnector1">
              <a:avLst/>
            </a:prstGeom>
            <a:ln>
              <a:headEnd type="arrow"/>
              <a:tailEnd type="arrow"/>
            </a:ln>
          </p:spPr>
          <p:style>
            <a:lnRef idx="1">
              <a:schemeClr val="accent1"/>
            </a:lnRef>
            <a:fillRef idx="0">
              <a:schemeClr val="accent1"/>
            </a:fillRef>
            <a:effectRef idx="0">
              <a:schemeClr val="accent1"/>
            </a:effectRef>
            <a:fontRef idx="minor">
              <a:schemeClr val="tx1"/>
            </a:fontRef>
          </p:style>
        </p:cxnSp>
        <p:sp>
          <p:nvSpPr>
            <p:cNvPr id="143" name="TextBox 142">
              <a:extLst>
                <a:ext uri="{FF2B5EF4-FFF2-40B4-BE49-F238E27FC236}">
                  <a16:creationId xmlns:a16="http://schemas.microsoft.com/office/drawing/2014/main" id="{2250A2A9-04E8-4B94-AFE1-1D7383E54757}"/>
                </a:ext>
              </a:extLst>
            </p:cNvPr>
            <p:cNvSpPr txBox="1"/>
            <p:nvPr/>
          </p:nvSpPr>
          <p:spPr>
            <a:xfrm>
              <a:off x="5148334" y="939863"/>
              <a:ext cx="670375" cy="307777"/>
            </a:xfrm>
            <a:prstGeom prst="rect">
              <a:avLst/>
            </a:prstGeom>
            <a:solidFill>
              <a:schemeClr val="bg1"/>
            </a:solidFill>
          </p:spPr>
          <p:txBody>
            <a:bodyPr wrap="none" rtlCol="0">
              <a:spAutoFit/>
            </a:bodyPr>
            <a:lstStyle/>
            <a:p>
              <a:pPr algn="ctr"/>
              <a:r>
                <a:rPr lang="ko-KR" altLang="en-US" sz="1400" b="1">
                  <a:solidFill>
                    <a:schemeClr val="accent4">
                      <a:lumMod val="50000"/>
                    </a:schemeClr>
                  </a:solidFill>
                  <a:latin typeface="+mn-ea"/>
                </a:rPr>
                <a:t>도입기</a:t>
              </a:r>
              <a:endParaRPr lang="ko-KR" altLang="en-US" sz="1400" b="1" dirty="0">
                <a:solidFill>
                  <a:schemeClr val="accent4">
                    <a:lumMod val="50000"/>
                  </a:schemeClr>
                </a:solidFill>
                <a:latin typeface="+mn-ea"/>
              </a:endParaRPr>
            </a:p>
          </p:txBody>
        </p:sp>
        <p:sp>
          <p:nvSpPr>
            <p:cNvPr id="144" name="TextBox 143">
              <a:extLst>
                <a:ext uri="{FF2B5EF4-FFF2-40B4-BE49-F238E27FC236}">
                  <a16:creationId xmlns:a16="http://schemas.microsoft.com/office/drawing/2014/main" id="{81C4A5C1-962D-468F-AFD9-93E7BBF7BE74}"/>
                </a:ext>
              </a:extLst>
            </p:cNvPr>
            <p:cNvSpPr txBox="1"/>
            <p:nvPr/>
          </p:nvSpPr>
          <p:spPr>
            <a:xfrm>
              <a:off x="6523300" y="939863"/>
              <a:ext cx="670375" cy="307777"/>
            </a:xfrm>
            <a:prstGeom prst="rect">
              <a:avLst/>
            </a:prstGeom>
            <a:solidFill>
              <a:schemeClr val="bg1"/>
            </a:solidFill>
          </p:spPr>
          <p:txBody>
            <a:bodyPr wrap="none" rtlCol="0">
              <a:spAutoFit/>
            </a:bodyPr>
            <a:lstStyle/>
            <a:p>
              <a:pPr algn="ctr"/>
              <a:r>
                <a:rPr lang="ko-KR" altLang="en-US" sz="1400" b="1">
                  <a:solidFill>
                    <a:schemeClr val="accent4">
                      <a:lumMod val="50000"/>
                    </a:schemeClr>
                  </a:solidFill>
                  <a:latin typeface="+mn-ea"/>
                </a:rPr>
                <a:t>팽창기</a:t>
              </a:r>
              <a:endParaRPr lang="ko-KR" altLang="en-US" sz="1400" b="1" dirty="0">
                <a:solidFill>
                  <a:schemeClr val="accent4">
                    <a:lumMod val="50000"/>
                  </a:schemeClr>
                </a:solidFill>
                <a:latin typeface="+mn-ea"/>
              </a:endParaRPr>
            </a:p>
          </p:txBody>
        </p:sp>
        <p:sp>
          <p:nvSpPr>
            <p:cNvPr id="145" name="TextBox 144">
              <a:extLst>
                <a:ext uri="{FF2B5EF4-FFF2-40B4-BE49-F238E27FC236}">
                  <a16:creationId xmlns:a16="http://schemas.microsoft.com/office/drawing/2014/main" id="{D75B5B1D-E981-40CA-81BB-803319926863}"/>
                </a:ext>
              </a:extLst>
            </p:cNvPr>
            <p:cNvSpPr txBox="1"/>
            <p:nvPr/>
          </p:nvSpPr>
          <p:spPr>
            <a:xfrm>
              <a:off x="7943173" y="939863"/>
              <a:ext cx="670375" cy="307777"/>
            </a:xfrm>
            <a:prstGeom prst="rect">
              <a:avLst/>
            </a:prstGeom>
            <a:solidFill>
              <a:schemeClr val="bg1"/>
            </a:solidFill>
          </p:spPr>
          <p:txBody>
            <a:bodyPr wrap="none" rtlCol="0">
              <a:spAutoFit/>
            </a:bodyPr>
            <a:lstStyle/>
            <a:p>
              <a:pPr algn="ctr"/>
              <a:r>
                <a:rPr lang="ko-KR" altLang="en-US" sz="1400" b="1">
                  <a:solidFill>
                    <a:schemeClr val="accent4">
                      <a:lumMod val="50000"/>
                    </a:schemeClr>
                  </a:solidFill>
                  <a:latin typeface="+mn-ea"/>
                </a:rPr>
                <a:t>성숙기</a:t>
              </a:r>
              <a:endParaRPr lang="ko-KR" altLang="en-US" sz="1400" b="1" dirty="0">
                <a:solidFill>
                  <a:schemeClr val="accent4">
                    <a:lumMod val="50000"/>
                  </a:schemeClr>
                </a:solidFill>
                <a:latin typeface="+mn-ea"/>
              </a:endParaRPr>
            </a:p>
          </p:txBody>
        </p:sp>
        <p:sp>
          <p:nvSpPr>
            <p:cNvPr id="146" name="TextBox 145">
              <a:extLst>
                <a:ext uri="{FF2B5EF4-FFF2-40B4-BE49-F238E27FC236}">
                  <a16:creationId xmlns:a16="http://schemas.microsoft.com/office/drawing/2014/main" id="{443B5DDF-726A-4409-95FA-5798512A7341}"/>
                </a:ext>
              </a:extLst>
            </p:cNvPr>
            <p:cNvSpPr txBox="1"/>
            <p:nvPr/>
          </p:nvSpPr>
          <p:spPr>
            <a:xfrm>
              <a:off x="9334669" y="939863"/>
              <a:ext cx="670375" cy="307777"/>
            </a:xfrm>
            <a:prstGeom prst="rect">
              <a:avLst/>
            </a:prstGeom>
            <a:solidFill>
              <a:schemeClr val="bg1"/>
            </a:solidFill>
          </p:spPr>
          <p:txBody>
            <a:bodyPr wrap="none" rtlCol="0">
              <a:spAutoFit/>
            </a:bodyPr>
            <a:lstStyle/>
            <a:p>
              <a:pPr algn="ctr"/>
              <a:r>
                <a:rPr lang="ko-KR" altLang="en-US" sz="1400" b="1" dirty="0">
                  <a:solidFill>
                    <a:schemeClr val="accent4">
                      <a:lumMod val="50000"/>
                    </a:schemeClr>
                  </a:solidFill>
                  <a:latin typeface="+mn-ea"/>
                </a:rPr>
                <a:t>퇴조기</a:t>
              </a:r>
            </a:p>
          </p:txBody>
        </p:sp>
        <p:sp>
          <p:nvSpPr>
            <p:cNvPr id="147" name="TextBox 146">
              <a:extLst>
                <a:ext uri="{FF2B5EF4-FFF2-40B4-BE49-F238E27FC236}">
                  <a16:creationId xmlns:a16="http://schemas.microsoft.com/office/drawing/2014/main" id="{3D1BC979-C149-4566-8849-96E927B0CF52}"/>
                </a:ext>
              </a:extLst>
            </p:cNvPr>
            <p:cNvSpPr txBox="1"/>
            <p:nvPr/>
          </p:nvSpPr>
          <p:spPr>
            <a:xfrm>
              <a:off x="10353409" y="1400762"/>
              <a:ext cx="1251322" cy="261610"/>
            </a:xfrm>
            <a:prstGeom prst="rect">
              <a:avLst/>
            </a:prstGeom>
            <a:solidFill>
              <a:schemeClr val="accent1">
                <a:lumMod val="50000"/>
              </a:schemeClr>
            </a:solidFill>
          </p:spPr>
          <p:txBody>
            <a:bodyPr wrap="square" rtlCol="0">
              <a:spAutoFit/>
            </a:bodyPr>
            <a:lstStyle/>
            <a:p>
              <a:pPr algn="ctr"/>
              <a:r>
                <a:rPr lang="ko-KR" altLang="en-US" sz="1100">
                  <a:solidFill>
                    <a:schemeClr val="bg1"/>
                  </a:solidFill>
                  <a:latin typeface="+mn-ea"/>
                </a:rPr>
                <a:t>시장의 성장곡선</a:t>
              </a:r>
              <a:endParaRPr lang="ko-KR" altLang="en-US" sz="1100" dirty="0">
                <a:solidFill>
                  <a:schemeClr val="bg1"/>
                </a:solidFill>
                <a:latin typeface="+mn-ea"/>
              </a:endParaRPr>
            </a:p>
          </p:txBody>
        </p:sp>
        <p:sp>
          <p:nvSpPr>
            <p:cNvPr id="148" name="TextBox 147">
              <a:extLst>
                <a:ext uri="{FF2B5EF4-FFF2-40B4-BE49-F238E27FC236}">
                  <a16:creationId xmlns:a16="http://schemas.microsoft.com/office/drawing/2014/main" id="{E870E694-E436-49BF-A4E7-CB4A8304BFCC}"/>
                </a:ext>
              </a:extLst>
            </p:cNvPr>
            <p:cNvSpPr txBox="1"/>
            <p:nvPr/>
          </p:nvSpPr>
          <p:spPr>
            <a:xfrm>
              <a:off x="10315094" y="1715420"/>
              <a:ext cx="1251322" cy="261610"/>
            </a:xfrm>
            <a:prstGeom prst="rect">
              <a:avLst/>
            </a:prstGeom>
            <a:solidFill>
              <a:schemeClr val="accent2">
                <a:lumMod val="50000"/>
              </a:schemeClr>
            </a:solidFill>
          </p:spPr>
          <p:txBody>
            <a:bodyPr wrap="square" rtlCol="0">
              <a:spAutoFit/>
            </a:bodyPr>
            <a:lstStyle/>
            <a:p>
              <a:pPr algn="ctr"/>
              <a:r>
                <a:rPr lang="ko-KR" altLang="en-US" sz="1100" dirty="0">
                  <a:solidFill>
                    <a:schemeClr val="bg1"/>
                  </a:solidFill>
                  <a:latin typeface="+mn-ea"/>
                </a:rPr>
                <a:t>특허출원건수</a:t>
              </a:r>
            </a:p>
          </p:txBody>
        </p:sp>
        <p:sp>
          <p:nvSpPr>
            <p:cNvPr id="150" name="Text Box 5">
              <a:extLst>
                <a:ext uri="{FF2B5EF4-FFF2-40B4-BE49-F238E27FC236}">
                  <a16:creationId xmlns:a16="http://schemas.microsoft.com/office/drawing/2014/main" id="{7A0C1591-EC86-4D05-87A1-058E7C2F4959}"/>
                </a:ext>
              </a:extLst>
            </p:cNvPr>
            <p:cNvSpPr txBox="1">
              <a:spLocks noChangeArrowheads="1"/>
            </p:cNvSpPr>
            <p:nvPr/>
          </p:nvSpPr>
          <p:spPr bwMode="auto">
            <a:xfrm>
              <a:off x="4828074" y="1678549"/>
              <a:ext cx="1220206"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lgn="ctr">
                  <a:solidFill>
                    <a:srgbClr val="000000"/>
                  </a:solidFill>
                  <a:miter lim="800000"/>
                  <a:headEnd/>
                  <a:tailEnd/>
                </a14:hiddenLine>
              </a:ext>
            </a:extLst>
          </p:spPr>
          <p:txBody>
            <a:bodyPr wrap="none">
              <a:spAutoFit/>
            </a:bodyPr>
            <a:lstStyle>
              <a:lvl1pPr eaLnBrk="0" hangingPunct="0">
                <a:defRPr kumimoji="1" sz="1200" b="1">
                  <a:solidFill>
                    <a:schemeClr val="bg1"/>
                  </a:solidFill>
                  <a:latin typeface="Arial" pitchFamily="34" charset="0"/>
                  <a:ea typeface="맑은 고딕" pitchFamily="50" charset="-127"/>
                </a:defRPr>
              </a:lvl1pPr>
              <a:lvl2pPr marL="742950" indent="-285750" eaLnBrk="0" hangingPunct="0">
                <a:defRPr kumimoji="1" sz="1200" b="1">
                  <a:solidFill>
                    <a:schemeClr val="bg1"/>
                  </a:solidFill>
                  <a:latin typeface="Arial" pitchFamily="34" charset="0"/>
                  <a:ea typeface="맑은 고딕" pitchFamily="50" charset="-127"/>
                </a:defRPr>
              </a:lvl2pPr>
              <a:lvl3pPr marL="1143000" indent="-228600" eaLnBrk="0" hangingPunct="0">
                <a:defRPr kumimoji="1" sz="1200" b="1">
                  <a:solidFill>
                    <a:schemeClr val="bg1"/>
                  </a:solidFill>
                  <a:latin typeface="Arial" pitchFamily="34" charset="0"/>
                  <a:ea typeface="맑은 고딕" pitchFamily="50" charset="-127"/>
                </a:defRPr>
              </a:lvl3pPr>
              <a:lvl4pPr marL="1600200" indent="-228600" eaLnBrk="0" hangingPunct="0">
                <a:defRPr kumimoji="1" sz="1200" b="1">
                  <a:solidFill>
                    <a:schemeClr val="bg1"/>
                  </a:solidFill>
                  <a:latin typeface="Arial" pitchFamily="34" charset="0"/>
                  <a:ea typeface="맑은 고딕" pitchFamily="50" charset="-127"/>
                </a:defRPr>
              </a:lvl4pPr>
              <a:lvl5pPr marL="2057400" indent="-228600" eaLnBrk="0" hangingPunct="0">
                <a:defRPr kumimoji="1" sz="1200" b="1">
                  <a:solidFill>
                    <a:schemeClr val="bg1"/>
                  </a:solidFill>
                  <a:latin typeface="Arial" pitchFamily="34" charset="0"/>
                  <a:ea typeface="맑은 고딕" pitchFamily="50" charset="-127"/>
                </a:defRPr>
              </a:lvl5pPr>
              <a:lvl6pPr marL="2514600" indent="-228600" algn="ctr" eaLnBrk="0" fontAlgn="base" hangingPunct="0">
                <a:spcBef>
                  <a:spcPct val="50000"/>
                </a:spcBef>
                <a:spcAft>
                  <a:spcPct val="0"/>
                </a:spcAft>
                <a:defRPr kumimoji="1" sz="1200" b="1">
                  <a:solidFill>
                    <a:schemeClr val="bg1"/>
                  </a:solidFill>
                  <a:latin typeface="Arial" pitchFamily="34" charset="0"/>
                  <a:ea typeface="맑은 고딕" pitchFamily="50" charset="-127"/>
                </a:defRPr>
              </a:lvl6pPr>
              <a:lvl7pPr marL="2971800" indent="-228600" algn="ctr" eaLnBrk="0" fontAlgn="base" hangingPunct="0">
                <a:spcBef>
                  <a:spcPct val="50000"/>
                </a:spcBef>
                <a:spcAft>
                  <a:spcPct val="0"/>
                </a:spcAft>
                <a:defRPr kumimoji="1" sz="1200" b="1">
                  <a:solidFill>
                    <a:schemeClr val="bg1"/>
                  </a:solidFill>
                  <a:latin typeface="Arial" pitchFamily="34" charset="0"/>
                  <a:ea typeface="맑은 고딕" pitchFamily="50" charset="-127"/>
                </a:defRPr>
              </a:lvl7pPr>
              <a:lvl8pPr marL="3429000" indent="-228600" algn="ctr" eaLnBrk="0" fontAlgn="base" hangingPunct="0">
                <a:spcBef>
                  <a:spcPct val="50000"/>
                </a:spcBef>
                <a:spcAft>
                  <a:spcPct val="0"/>
                </a:spcAft>
                <a:defRPr kumimoji="1" sz="1200" b="1">
                  <a:solidFill>
                    <a:schemeClr val="bg1"/>
                  </a:solidFill>
                  <a:latin typeface="Arial" pitchFamily="34" charset="0"/>
                  <a:ea typeface="맑은 고딕" pitchFamily="50" charset="-127"/>
                </a:defRPr>
              </a:lvl8pPr>
              <a:lvl9pPr marL="3886200" indent="-228600" algn="ctr" eaLnBrk="0" fontAlgn="base" hangingPunct="0">
                <a:spcBef>
                  <a:spcPct val="50000"/>
                </a:spcBef>
                <a:spcAft>
                  <a:spcPct val="0"/>
                </a:spcAft>
                <a:defRPr kumimoji="1" sz="1200" b="1">
                  <a:solidFill>
                    <a:schemeClr val="bg1"/>
                  </a:solidFill>
                  <a:latin typeface="Arial" pitchFamily="34" charset="0"/>
                  <a:ea typeface="맑은 고딕" pitchFamily="50" charset="-127"/>
                </a:defRPr>
              </a:lvl9pPr>
            </a:lstStyle>
            <a:p>
              <a:pPr algn="ctr" eaLnBrk="1" hangingPunct="1"/>
              <a:r>
                <a:rPr lang="en-US" altLang="ko-KR" sz="1050" b="0" dirty="0">
                  <a:solidFill>
                    <a:schemeClr val="tx1"/>
                  </a:solidFill>
                  <a:latin typeface="+mn-ea"/>
                  <a:ea typeface="+mn-ea"/>
                </a:rPr>
                <a:t>NICHIA </a:t>
              </a:r>
              <a:r>
                <a:rPr lang="ko-KR" altLang="en-US" sz="1050" b="0" dirty="0">
                  <a:solidFill>
                    <a:schemeClr val="tx1"/>
                  </a:solidFill>
                  <a:latin typeface="+mn-ea"/>
                  <a:ea typeface="+mn-ea"/>
                </a:rPr>
                <a:t>화학의</a:t>
              </a:r>
            </a:p>
            <a:p>
              <a:pPr algn="ctr" eaLnBrk="1" hangingPunct="1"/>
              <a:r>
                <a:rPr lang="ko-KR" altLang="en-US" sz="1050" b="0" dirty="0">
                  <a:solidFill>
                    <a:schemeClr val="tx1"/>
                  </a:solidFill>
                  <a:latin typeface="+mn-ea"/>
                  <a:ea typeface="+mn-ea"/>
                </a:rPr>
                <a:t>청색 </a:t>
              </a:r>
              <a:r>
                <a:rPr lang="en-US" altLang="ko-KR" sz="1050" b="0" dirty="0">
                  <a:solidFill>
                    <a:schemeClr val="tx1"/>
                  </a:solidFill>
                  <a:latin typeface="+mn-ea"/>
                  <a:ea typeface="+mn-ea"/>
                </a:rPr>
                <a:t>LED </a:t>
              </a:r>
              <a:r>
                <a:rPr lang="ko-KR" altLang="en-US" sz="1050" b="0" dirty="0">
                  <a:solidFill>
                    <a:schemeClr val="tx1"/>
                  </a:solidFill>
                  <a:latin typeface="+mn-ea"/>
                  <a:ea typeface="+mn-ea"/>
                </a:rPr>
                <a:t>특허출원</a:t>
              </a:r>
            </a:p>
          </p:txBody>
        </p:sp>
        <p:cxnSp>
          <p:nvCxnSpPr>
            <p:cNvPr id="151" name="직선 화살표 연결선 150">
              <a:extLst>
                <a:ext uri="{FF2B5EF4-FFF2-40B4-BE49-F238E27FC236}">
                  <a16:creationId xmlns:a16="http://schemas.microsoft.com/office/drawing/2014/main" id="{AF43A15B-2581-4455-880D-10AFEE3F374B}"/>
                </a:ext>
              </a:extLst>
            </p:cNvPr>
            <p:cNvCxnSpPr>
              <a:stCxn id="150" idx="2"/>
            </p:cNvCxnSpPr>
            <p:nvPr/>
          </p:nvCxnSpPr>
          <p:spPr>
            <a:xfrm>
              <a:off x="5438178" y="2094047"/>
              <a:ext cx="1" cy="720172"/>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sp>
        <p:nvSpPr>
          <p:cNvPr id="152" name="왼쪽/오른쪽 화살표 79">
            <a:extLst>
              <a:ext uri="{FF2B5EF4-FFF2-40B4-BE49-F238E27FC236}">
                <a16:creationId xmlns:a16="http://schemas.microsoft.com/office/drawing/2014/main" id="{C06ED323-FDD9-4608-B232-6066C67D8243}"/>
              </a:ext>
            </a:extLst>
          </p:cNvPr>
          <p:cNvSpPr/>
          <p:nvPr/>
        </p:nvSpPr>
        <p:spPr>
          <a:xfrm>
            <a:off x="7252990" y="2484027"/>
            <a:ext cx="2743231" cy="691991"/>
          </a:xfrm>
          <a:prstGeom prst="leftRightArrow">
            <a:avLst>
              <a:gd name="adj1" fmla="val 70784"/>
              <a:gd name="adj2" fmla="val 33835"/>
            </a:avLst>
          </a:prstGeom>
        </p:spPr>
        <p:style>
          <a:lnRef idx="2">
            <a:schemeClr val="accent4">
              <a:shade val="50000"/>
            </a:schemeClr>
          </a:lnRef>
          <a:fillRef idx="1">
            <a:schemeClr val="accent4"/>
          </a:fillRef>
          <a:effectRef idx="0">
            <a:schemeClr val="accent4"/>
          </a:effectRef>
          <a:fontRef idx="minor">
            <a:schemeClr val="lt1"/>
          </a:fontRef>
        </p:style>
        <p:txBody>
          <a:bodyPr lIns="36000" rIns="36000" rtlCol="0" anchor="ctr"/>
          <a:lstStyle/>
          <a:p>
            <a:pPr algn="ctr"/>
            <a:r>
              <a:rPr lang="ko-KR" altLang="en-US" sz="1200" dirty="0"/>
              <a:t>후행특허</a:t>
            </a:r>
          </a:p>
        </p:txBody>
      </p:sp>
      <p:sp>
        <p:nvSpPr>
          <p:cNvPr id="153" name="TextBox 152">
            <a:extLst>
              <a:ext uri="{FF2B5EF4-FFF2-40B4-BE49-F238E27FC236}">
                <a16:creationId xmlns:a16="http://schemas.microsoft.com/office/drawing/2014/main" id="{D18AEDE3-FCA8-4811-A309-5B092D289C1B}"/>
              </a:ext>
            </a:extLst>
          </p:cNvPr>
          <p:cNvSpPr txBox="1"/>
          <p:nvPr/>
        </p:nvSpPr>
        <p:spPr>
          <a:xfrm>
            <a:off x="4341612" y="2477386"/>
            <a:ext cx="853117" cy="400110"/>
          </a:xfrm>
          <a:prstGeom prst="rect">
            <a:avLst/>
          </a:prstGeom>
          <a:noFill/>
        </p:spPr>
        <p:txBody>
          <a:bodyPr wrap="square" rtlCol="0">
            <a:spAutoFit/>
          </a:bodyPr>
          <a:lstStyle/>
          <a:p>
            <a:pPr algn="ctr"/>
            <a:r>
              <a:rPr lang="ko-KR" altLang="en-US" sz="1000" dirty="0">
                <a:solidFill>
                  <a:schemeClr val="accent3">
                    <a:lumMod val="20000"/>
                    <a:lumOff val="80000"/>
                  </a:schemeClr>
                </a:solidFill>
                <a:latin typeface="+mn-ea"/>
              </a:rPr>
              <a:t>사상</a:t>
            </a:r>
            <a:endParaRPr lang="en-US" altLang="ko-KR" sz="1000" dirty="0">
              <a:solidFill>
                <a:schemeClr val="accent3">
                  <a:lumMod val="20000"/>
                  <a:lumOff val="80000"/>
                </a:schemeClr>
              </a:solidFill>
              <a:latin typeface="+mn-ea"/>
            </a:endParaRPr>
          </a:p>
          <a:p>
            <a:pPr algn="ctr"/>
            <a:r>
              <a:rPr lang="en-US" altLang="ko-KR" sz="1000" dirty="0">
                <a:solidFill>
                  <a:schemeClr val="accent3">
                    <a:lumMod val="20000"/>
                    <a:lumOff val="80000"/>
                  </a:schemeClr>
                </a:solidFill>
                <a:latin typeface="+mn-ea"/>
              </a:rPr>
              <a:t>(</a:t>
            </a:r>
            <a:r>
              <a:rPr lang="ko-KR" altLang="en-US" sz="1000" dirty="0">
                <a:solidFill>
                  <a:schemeClr val="accent3">
                    <a:lumMod val="20000"/>
                    <a:lumOff val="80000"/>
                  </a:schemeClr>
                </a:solidFill>
                <a:latin typeface="+mn-ea"/>
              </a:rPr>
              <a:t>착상</a:t>
            </a:r>
            <a:r>
              <a:rPr lang="en-US" altLang="ko-KR" sz="1000" dirty="0">
                <a:solidFill>
                  <a:schemeClr val="accent3">
                    <a:lumMod val="20000"/>
                    <a:lumOff val="80000"/>
                  </a:schemeClr>
                </a:solidFill>
                <a:latin typeface="+mn-ea"/>
              </a:rPr>
              <a:t>)</a:t>
            </a:r>
            <a:endParaRPr lang="ko-KR" altLang="en-US" sz="1000" dirty="0">
              <a:solidFill>
                <a:schemeClr val="accent3">
                  <a:lumMod val="20000"/>
                  <a:lumOff val="80000"/>
                </a:schemeClr>
              </a:solidFill>
              <a:latin typeface="+mn-ea"/>
            </a:endParaRPr>
          </a:p>
        </p:txBody>
      </p:sp>
      <p:sp>
        <p:nvSpPr>
          <p:cNvPr id="154" name="직사각형 153">
            <a:extLst>
              <a:ext uri="{FF2B5EF4-FFF2-40B4-BE49-F238E27FC236}">
                <a16:creationId xmlns:a16="http://schemas.microsoft.com/office/drawing/2014/main" id="{B089C261-E0EE-45A9-B3FA-84868011A4AE}"/>
              </a:ext>
            </a:extLst>
          </p:cNvPr>
          <p:cNvSpPr/>
          <p:nvPr/>
        </p:nvSpPr>
        <p:spPr bwMode="auto">
          <a:xfrm>
            <a:off x="4341612" y="2512041"/>
            <a:ext cx="777910" cy="663977"/>
          </a:xfrm>
          <a:prstGeom prst="rect">
            <a:avLst/>
          </a:prstGeom>
          <a:ln>
            <a:noFill/>
            <a:headEnd type="none" w="med" len="med"/>
            <a:tailEnd type="none"/>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400" dirty="0"/>
              <a:t>착상</a:t>
            </a:r>
            <a:endParaRPr lang="en-US" altLang="ko-KR" sz="1400" dirty="0"/>
          </a:p>
          <a:p>
            <a:pPr algn="ctr"/>
            <a:r>
              <a:rPr lang="en-US" altLang="ko-KR" sz="1400" dirty="0"/>
              <a:t>(</a:t>
            </a:r>
            <a:r>
              <a:rPr lang="ko-KR" altLang="en-US" sz="1400" dirty="0"/>
              <a:t>사상</a:t>
            </a:r>
            <a:r>
              <a:rPr lang="en-US" altLang="ko-KR" sz="1400" dirty="0"/>
              <a:t>)</a:t>
            </a:r>
            <a:endParaRPr lang="ko-KR" altLang="en-US" sz="1400" dirty="0"/>
          </a:p>
        </p:txBody>
      </p:sp>
      <p:sp>
        <p:nvSpPr>
          <p:cNvPr id="157" name="직사각형 156">
            <a:extLst>
              <a:ext uri="{FF2B5EF4-FFF2-40B4-BE49-F238E27FC236}">
                <a16:creationId xmlns:a16="http://schemas.microsoft.com/office/drawing/2014/main" id="{DFA80068-0ED8-4DC8-9EA1-8A135A3D5752}"/>
              </a:ext>
            </a:extLst>
          </p:cNvPr>
          <p:cNvSpPr/>
          <p:nvPr/>
        </p:nvSpPr>
        <p:spPr>
          <a:xfrm>
            <a:off x="5146171" y="3290822"/>
            <a:ext cx="424407" cy="330915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8" name="직사각형 157">
            <a:extLst>
              <a:ext uri="{FF2B5EF4-FFF2-40B4-BE49-F238E27FC236}">
                <a16:creationId xmlns:a16="http://schemas.microsoft.com/office/drawing/2014/main" id="{78B56254-1C73-4281-8C51-4FD040C7C8F4}"/>
              </a:ext>
            </a:extLst>
          </p:cNvPr>
          <p:cNvSpPr/>
          <p:nvPr/>
        </p:nvSpPr>
        <p:spPr>
          <a:xfrm>
            <a:off x="5687115" y="3290822"/>
            <a:ext cx="424407" cy="3309158"/>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9" name="직사각형 158">
            <a:extLst>
              <a:ext uri="{FF2B5EF4-FFF2-40B4-BE49-F238E27FC236}">
                <a16:creationId xmlns:a16="http://schemas.microsoft.com/office/drawing/2014/main" id="{A9EC1715-8BA9-4FA7-85F7-8B459C010BE9}"/>
              </a:ext>
            </a:extLst>
          </p:cNvPr>
          <p:cNvSpPr/>
          <p:nvPr/>
        </p:nvSpPr>
        <p:spPr>
          <a:xfrm>
            <a:off x="6247548" y="3290822"/>
            <a:ext cx="424407" cy="330915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0" name="타원 159">
            <a:extLst>
              <a:ext uri="{FF2B5EF4-FFF2-40B4-BE49-F238E27FC236}">
                <a16:creationId xmlns:a16="http://schemas.microsoft.com/office/drawing/2014/main" id="{3979865C-AA59-4EDB-BADB-E97E577B5C04}"/>
              </a:ext>
            </a:extLst>
          </p:cNvPr>
          <p:cNvSpPr/>
          <p:nvPr/>
        </p:nvSpPr>
        <p:spPr>
          <a:xfrm>
            <a:off x="5155315" y="4848101"/>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61" name="타원 160">
            <a:extLst>
              <a:ext uri="{FF2B5EF4-FFF2-40B4-BE49-F238E27FC236}">
                <a16:creationId xmlns:a16="http://schemas.microsoft.com/office/drawing/2014/main" id="{F528377E-727E-4D02-A788-A1D911DFA6E7}"/>
              </a:ext>
            </a:extLst>
          </p:cNvPr>
          <p:cNvSpPr/>
          <p:nvPr/>
        </p:nvSpPr>
        <p:spPr>
          <a:xfrm>
            <a:off x="5709731" y="4455341"/>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62" name="타원 161">
            <a:extLst>
              <a:ext uri="{FF2B5EF4-FFF2-40B4-BE49-F238E27FC236}">
                <a16:creationId xmlns:a16="http://schemas.microsoft.com/office/drawing/2014/main" id="{90857905-C196-4B89-A442-8700FAE1EEEC}"/>
              </a:ext>
            </a:extLst>
          </p:cNvPr>
          <p:cNvSpPr/>
          <p:nvPr/>
        </p:nvSpPr>
        <p:spPr>
          <a:xfrm>
            <a:off x="5709731" y="5282630"/>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63" name="타원 162">
            <a:extLst>
              <a:ext uri="{FF2B5EF4-FFF2-40B4-BE49-F238E27FC236}">
                <a16:creationId xmlns:a16="http://schemas.microsoft.com/office/drawing/2014/main" id="{EF0B6384-5F73-4CFE-AAC0-D0EDE91E12FA}"/>
              </a:ext>
            </a:extLst>
          </p:cNvPr>
          <p:cNvSpPr/>
          <p:nvPr/>
        </p:nvSpPr>
        <p:spPr>
          <a:xfrm>
            <a:off x="6270164" y="4159880"/>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64" name="타원 163">
            <a:extLst>
              <a:ext uri="{FF2B5EF4-FFF2-40B4-BE49-F238E27FC236}">
                <a16:creationId xmlns:a16="http://schemas.microsoft.com/office/drawing/2014/main" id="{1947F6DD-B169-4341-8F86-6D3F43F0519F}"/>
              </a:ext>
            </a:extLst>
          </p:cNvPr>
          <p:cNvSpPr/>
          <p:nvPr/>
        </p:nvSpPr>
        <p:spPr>
          <a:xfrm>
            <a:off x="6270164" y="5261746"/>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65" name="타원 164">
            <a:extLst>
              <a:ext uri="{FF2B5EF4-FFF2-40B4-BE49-F238E27FC236}">
                <a16:creationId xmlns:a16="http://schemas.microsoft.com/office/drawing/2014/main" id="{997A5662-A618-46DF-ACB9-30DF37741406}"/>
              </a:ext>
            </a:extLst>
          </p:cNvPr>
          <p:cNvSpPr/>
          <p:nvPr/>
        </p:nvSpPr>
        <p:spPr>
          <a:xfrm>
            <a:off x="6270164" y="4656819"/>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66" name="직사각형 165">
            <a:extLst>
              <a:ext uri="{FF2B5EF4-FFF2-40B4-BE49-F238E27FC236}">
                <a16:creationId xmlns:a16="http://schemas.microsoft.com/office/drawing/2014/main" id="{A5D2985D-101D-4D91-914E-E6B6228547BD}"/>
              </a:ext>
            </a:extLst>
          </p:cNvPr>
          <p:cNvSpPr/>
          <p:nvPr/>
        </p:nvSpPr>
        <p:spPr>
          <a:xfrm>
            <a:off x="6762737" y="3290822"/>
            <a:ext cx="424407" cy="330915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7" name="직사각형 166">
            <a:extLst>
              <a:ext uri="{FF2B5EF4-FFF2-40B4-BE49-F238E27FC236}">
                <a16:creationId xmlns:a16="http://schemas.microsoft.com/office/drawing/2014/main" id="{C0EA8867-55A6-4E87-A2D1-8AED1004C4CE}"/>
              </a:ext>
            </a:extLst>
          </p:cNvPr>
          <p:cNvSpPr/>
          <p:nvPr/>
        </p:nvSpPr>
        <p:spPr>
          <a:xfrm>
            <a:off x="7303682" y="3290822"/>
            <a:ext cx="424407" cy="330915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8" name="직사각형 167">
            <a:extLst>
              <a:ext uri="{FF2B5EF4-FFF2-40B4-BE49-F238E27FC236}">
                <a16:creationId xmlns:a16="http://schemas.microsoft.com/office/drawing/2014/main" id="{E64012E2-B939-4690-80C9-A3E9DCEE3863}"/>
              </a:ext>
            </a:extLst>
          </p:cNvPr>
          <p:cNvSpPr/>
          <p:nvPr/>
        </p:nvSpPr>
        <p:spPr>
          <a:xfrm>
            <a:off x="7864115" y="3290822"/>
            <a:ext cx="424407" cy="330915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9" name="타원 168">
            <a:extLst>
              <a:ext uri="{FF2B5EF4-FFF2-40B4-BE49-F238E27FC236}">
                <a16:creationId xmlns:a16="http://schemas.microsoft.com/office/drawing/2014/main" id="{A88D5CD6-6AC1-4093-A0CF-9AACBF92F07B}"/>
              </a:ext>
            </a:extLst>
          </p:cNvPr>
          <p:cNvSpPr/>
          <p:nvPr/>
        </p:nvSpPr>
        <p:spPr>
          <a:xfrm>
            <a:off x="6785354" y="4337157"/>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dirty="0">
              <a:solidFill>
                <a:schemeClr val="accent2">
                  <a:lumMod val="50000"/>
                </a:schemeClr>
              </a:solidFill>
            </a:endParaRPr>
          </a:p>
        </p:txBody>
      </p:sp>
      <p:sp>
        <p:nvSpPr>
          <p:cNvPr id="170" name="타원 169">
            <a:extLst>
              <a:ext uri="{FF2B5EF4-FFF2-40B4-BE49-F238E27FC236}">
                <a16:creationId xmlns:a16="http://schemas.microsoft.com/office/drawing/2014/main" id="{90AB3B9B-134B-4D91-A584-1C35BB84E521}"/>
              </a:ext>
            </a:extLst>
          </p:cNvPr>
          <p:cNvSpPr/>
          <p:nvPr/>
        </p:nvSpPr>
        <p:spPr>
          <a:xfrm>
            <a:off x="6785354" y="5261746"/>
            <a:ext cx="379175" cy="333668"/>
          </a:xfrm>
          <a:prstGeom prst="ellipse">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en-US" altLang="ko-KR" dirty="0">
                <a:solidFill>
                  <a:schemeClr val="bg1"/>
                </a:solidFill>
              </a:rPr>
              <a:t>4</a:t>
            </a:r>
            <a:endParaRPr lang="ko-KR" altLang="en-US" dirty="0">
              <a:solidFill>
                <a:schemeClr val="bg1"/>
              </a:solidFill>
            </a:endParaRPr>
          </a:p>
        </p:txBody>
      </p:sp>
      <p:sp>
        <p:nvSpPr>
          <p:cNvPr id="171" name="타원 170">
            <a:extLst>
              <a:ext uri="{FF2B5EF4-FFF2-40B4-BE49-F238E27FC236}">
                <a16:creationId xmlns:a16="http://schemas.microsoft.com/office/drawing/2014/main" id="{137C5317-F3DF-41D0-B30D-71F39930FAC2}"/>
              </a:ext>
            </a:extLst>
          </p:cNvPr>
          <p:cNvSpPr/>
          <p:nvPr/>
        </p:nvSpPr>
        <p:spPr>
          <a:xfrm>
            <a:off x="6785354" y="5734483"/>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72" name="타원 171">
            <a:extLst>
              <a:ext uri="{FF2B5EF4-FFF2-40B4-BE49-F238E27FC236}">
                <a16:creationId xmlns:a16="http://schemas.microsoft.com/office/drawing/2014/main" id="{6C73F458-0EED-495E-A577-B51A81D2AD07}"/>
              </a:ext>
            </a:extLst>
          </p:cNvPr>
          <p:cNvSpPr/>
          <p:nvPr/>
        </p:nvSpPr>
        <p:spPr>
          <a:xfrm>
            <a:off x="6785354" y="3902628"/>
            <a:ext cx="379175" cy="333668"/>
          </a:xfrm>
          <a:prstGeom prst="ellipse">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en-US" altLang="ko-KR" dirty="0"/>
              <a:t>3</a:t>
            </a:r>
            <a:endParaRPr lang="ko-KR" altLang="en-US" dirty="0"/>
          </a:p>
        </p:txBody>
      </p:sp>
      <p:sp>
        <p:nvSpPr>
          <p:cNvPr id="173" name="직사각형 172">
            <a:extLst>
              <a:ext uri="{FF2B5EF4-FFF2-40B4-BE49-F238E27FC236}">
                <a16:creationId xmlns:a16="http://schemas.microsoft.com/office/drawing/2014/main" id="{05C56FE6-6DE6-4280-9D5A-D20AC5E330A0}"/>
              </a:ext>
            </a:extLst>
          </p:cNvPr>
          <p:cNvSpPr/>
          <p:nvPr/>
        </p:nvSpPr>
        <p:spPr>
          <a:xfrm>
            <a:off x="7307555" y="3290822"/>
            <a:ext cx="424407" cy="330915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4" name="타원 173">
            <a:extLst>
              <a:ext uri="{FF2B5EF4-FFF2-40B4-BE49-F238E27FC236}">
                <a16:creationId xmlns:a16="http://schemas.microsoft.com/office/drawing/2014/main" id="{959C3E57-DDD5-48BD-9AA4-1E8BE6C71684}"/>
              </a:ext>
            </a:extLst>
          </p:cNvPr>
          <p:cNvSpPr/>
          <p:nvPr/>
        </p:nvSpPr>
        <p:spPr>
          <a:xfrm>
            <a:off x="7330171" y="4337157"/>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75" name="타원 174">
            <a:extLst>
              <a:ext uri="{FF2B5EF4-FFF2-40B4-BE49-F238E27FC236}">
                <a16:creationId xmlns:a16="http://schemas.microsoft.com/office/drawing/2014/main" id="{35339881-F2FB-4813-B1EC-6F1CA784FB4F}"/>
              </a:ext>
            </a:extLst>
          </p:cNvPr>
          <p:cNvSpPr/>
          <p:nvPr/>
        </p:nvSpPr>
        <p:spPr>
          <a:xfrm>
            <a:off x="7330171" y="5025378"/>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76" name="타원 175">
            <a:extLst>
              <a:ext uri="{FF2B5EF4-FFF2-40B4-BE49-F238E27FC236}">
                <a16:creationId xmlns:a16="http://schemas.microsoft.com/office/drawing/2014/main" id="{ADF85F70-C0D1-4A13-AF00-ADA38164019D}"/>
              </a:ext>
            </a:extLst>
          </p:cNvPr>
          <p:cNvSpPr/>
          <p:nvPr/>
        </p:nvSpPr>
        <p:spPr>
          <a:xfrm>
            <a:off x="7330171" y="5498114"/>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77" name="타원 176">
            <a:extLst>
              <a:ext uri="{FF2B5EF4-FFF2-40B4-BE49-F238E27FC236}">
                <a16:creationId xmlns:a16="http://schemas.microsoft.com/office/drawing/2014/main" id="{B209CA35-6CA6-4396-98F0-C2129259AC74}"/>
              </a:ext>
            </a:extLst>
          </p:cNvPr>
          <p:cNvSpPr/>
          <p:nvPr/>
        </p:nvSpPr>
        <p:spPr>
          <a:xfrm>
            <a:off x="7330171" y="3902628"/>
            <a:ext cx="379175" cy="333668"/>
          </a:xfrm>
          <a:prstGeom prst="ellipse">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dirty="0">
              <a:solidFill>
                <a:schemeClr val="accent2">
                  <a:lumMod val="50000"/>
                </a:schemeClr>
              </a:solidFill>
            </a:endParaRPr>
          </a:p>
        </p:txBody>
      </p:sp>
      <p:sp>
        <p:nvSpPr>
          <p:cNvPr id="178" name="타원 177">
            <a:extLst>
              <a:ext uri="{FF2B5EF4-FFF2-40B4-BE49-F238E27FC236}">
                <a16:creationId xmlns:a16="http://schemas.microsoft.com/office/drawing/2014/main" id="{98884E21-3181-4E49-B040-5E7B72FEF278}"/>
              </a:ext>
            </a:extLst>
          </p:cNvPr>
          <p:cNvSpPr/>
          <p:nvPr/>
        </p:nvSpPr>
        <p:spPr>
          <a:xfrm>
            <a:off x="7330171" y="5970851"/>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79" name="타원 178">
            <a:extLst>
              <a:ext uri="{FF2B5EF4-FFF2-40B4-BE49-F238E27FC236}">
                <a16:creationId xmlns:a16="http://schemas.microsoft.com/office/drawing/2014/main" id="{D1F7019B-5E93-4EEC-AF59-228B2FFDCE9C}"/>
              </a:ext>
            </a:extLst>
          </p:cNvPr>
          <p:cNvSpPr/>
          <p:nvPr/>
        </p:nvSpPr>
        <p:spPr>
          <a:xfrm>
            <a:off x="7330171" y="3492180"/>
            <a:ext cx="379175" cy="333668"/>
          </a:xfrm>
          <a:prstGeom prst="ellipse">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en-US" altLang="ko-KR" dirty="0"/>
              <a:t>2</a:t>
            </a:r>
            <a:endParaRPr lang="ko-KR" altLang="en-US" dirty="0"/>
          </a:p>
        </p:txBody>
      </p:sp>
      <p:sp>
        <p:nvSpPr>
          <p:cNvPr id="180" name="타원 179">
            <a:extLst>
              <a:ext uri="{FF2B5EF4-FFF2-40B4-BE49-F238E27FC236}">
                <a16:creationId xmlns:a16="http://schemas.microsoft.com/office/drawing/2014/main" id="{DBDB0B8A-489A-44AE-A3F6-1D4D8367A98D}"/>
              </a:ext>
            </a:extLst>
          </p:cNvPr>
          <p:cNvSpPr/>
          <p:nvPr/>
        </p:nvSpPr>
        <p:spPr>
          <a:xfrm>
            <a:off x="7882700" y="4573525"/>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81" name="타원 180">
            <a:extLst>
              <a:ext uri="{FF2B5EF4-FFF2-40B4-BE49-F238E27FC236}">
                <a16:creationId xmlns:a16="http://schemas.microsoft.com/office/drawing/2014/main" id="{CCD3BEAC-0E73-461B-AF2D-829D5DEA0D69}"/>
              </a:ext>
            </a:extLst>
          </p:cNvPr>
          <p:cNvSpPr/>
          <p:nvPr/>
        </p:nvSpPr>
        <p:spPr>
          <a:xfrm>
            <a:off x="7882700" y="5439022"/>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82" name="타원 181">
            <a:extLst>
              <a:ext uri="{FF2B5EF4-FFF2-40B4-BE49-F238E27FC236}">
                <a16:creationId xmlns:a16="http://schemas.microsoft.com/office/drawing/2014/main" id="{9FC2A105-43F1-46F2-A8AF-AEB14AF55F5D}"/>
              </a:ext>
            </a:extLst>
          </p:cNvPr>
          <p:cNvSpPr/>
          <p:nvPr/>
        </p:nvSpPr>
        <p:spPr>
          <a:xfrm>
            <a:off x="7882700" y="5831783"/>
            <a:ext cx="379175" cy="333668"/>
          </a:xfrm>
          <a:prstGeom prst="ellipse">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ko-KR" altLang="en-US"/>
          </a:p>
        </p:txBody>
      </p:sp>
      <p:sp>
        <p:nvSpPr>
          <p:cNvPr id="183" name="타원 182">
            <a:extLst>
              <a:ext uri="{FF2B5EF4-FFF2-40B4-BE49-F238E27FC236}">
                <a16:creationId xmlns:a16="http://schemas.microsoft.com/office/drawing/2014/main" id="{689ABE04-CA4B-4BEB-985D-5113B9956A62}"/>
              </a:ext>
            </a:extLst>
          </p:cNvPr>
          <p:cNvSpPr/>
          <p:nvPr/>
        </p:nvSpPr>
        <p:spPr>
          <a:xfrm>
            <a:off x="7882700" y="4138996"/>
            <a:ext cx="379175" cy="333668"/>
          </a:xfrm>
          <a:prstGeom prst="ellipse">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ko-KR" altLang="en-US" dirty="0">
              <a:solidFill>
                <a:schemeClr val="accent2">
                  <a:lumMod val="50000"/>
                </a:schemeClr>
              </a:solidFill>
            </a:endParaRPr>
          </a:p>
        </p:txBody>
      </p:sp>
      <p:sp>
        <p:nvSpPr>
          <p:cNvPr id="184" name="타원 183">
            <a:extLst>
              <a:ext uri="{FF2B5EF4-FFF2-40B4-BE49-F238E27FC236}">
                <a16:creationId xmlns:a16="http://schemas.microsoft.com/office/drawing/2014/main" id="{41ED5D4B-C57A-4A44-9E0B-4D439570B9A6}"/>
              </a:ext>
            </a:extLst>
          </p:cNvPr>
          <p:cNvSpPr/>
          <p:nvPr/>
        </p:nvSpPr>
        <p:spPr>
          <a:xfrm>
            <a:off x="7882700" y="6207220"/>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85" name="타원 184">
            <a:extLst>
              <a:ext uri="{FF2B5EF4-FFF2-40B4-BE49-F238E27FC236}">
                <a16:creationId xmlns:a16="http://schemas.microsoft.com/office/drawing/2014/main" id="{FB9460DB-B32C-4296-8909-259C8471B53B}"/>
              </a:ext>
            </a:extLst>
          </p:cNvPr>
          <p:cNvSpPr/>
          <p:nvPr/>
        </p:nvSpPr>
        <p:spPr>
          <a:xfrm>
            <a:off x="7882700" y="3728549"/>
            <a:ext cx="379175" cy="333668"/>
          </a:xfrm>
          <a:prstGeom prst="ellipse">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en-US" altLang="ko-KR" dirty="0"/>
              <a:t>1</a:t>
            </a:r>
            <a:endParaRPr lang="ko-KR" altLang="en-US" dirty="0"/>
          </a:p>
        </p:txBody>
      </p:sp>
      <p:sp>
        <p:nvSpPr>
          <p:cNvPr id="186" name="타원 185">
            <a:extLst>
              <a:ext uri="{FF2B5EF4-FFF2-40B4-BE49-F238E27FC236}">
                <a16:creationId xmlns:a16="http://schemas.microsoft.com/office/drawing/2014/main" id="{BEB757B0-0F87-4427-8FC9-FC3E56A09145}"/>
              </a:ext>
            </a:extLst>
          </p:cNvPr>
          <p:cNvSpPr/>
          <p:nvPr/>
        </p:nvSpPr>
        <p:spPr>
          <a:xfrm>
            <a:off x="7882700" y="3325346"/>
            <a:ext cx="379175" cy="333668"/>
          </a:xfrm>
          <a:prstGeom prst="ellipse">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ko-KR" altLang="en-US"/>
          </a:p>
        </p:txBody>
      </p:sp>
      <p:sp>
        <p:nvSpPr>
          <p:cNvPr id="187" name="타원 186">
            <a:extLst>
              <a:ext uri="{FF2B5EF4-FFF2-40B4-BE49-F238E27FC236}">
                <a16:creationId xmlns:a16="http://schemas.microsoft.com/office/drawing/2014/main" id="{D0F72F7E-041E-4355-9CDD-6939B5A8611D}"/>
              </a:ext>
            </a:extLst>
          </p:cNvPr>
          <p:cNvSpPr/>
          <p:nvPr/>
        </p:nvSpPr>
        <p:spPr>
          <a:xfrm>
            <a:off x="7882700" y="5028736"/>
            <a:ext cx="379175" cy="333668"/>
          </a:xfrm>
          <a:prstGeom prst="ellipse">
            <a:avLst/>
          </a:prstGeom>
          <a:no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a:p>
        </p:txBody>
      </p:sp>
      <p:sp>
        <p:nvSpPr>
          <p:cNvPr id="188" name="타원 187">
            <a:extLst>
              <a:ext uri="{FF2B5EF4-FFF2-40B4-BE49-F238E27FC236}">
                <a16:creationId xmlns:a16="http://schemas.microsoft.com/office/drawing/2014/main" id="{E6C3CA0C-71A3-4DDA-B1E0-67E3EF9DB14A}"/>
              </a:ext>
            </a:extLst>
          </p:cNvPr>
          <p:cNvSpPr/>
          <p:nvPr/>
        </p:nvSpPr>
        <p:spPr>
          <a:xfrm flipH="1">
            <a:off x="8621764" y="4853068"/>
            <a:ext cx="104925" cy="92333"/>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ko-KR" altLang="en-US"/>
          </a:p>
        </p:txBody>
      </p:sp>
      <p:sp>
        <p:nvSpPr>
          <p:cNvPr id="189" name="타원 188">
            <a:extLst>
              <a:ext uri="{FF2B5EF4-FFF2-40B4-BE49-F238E27FC236}">
                <a16:creationId xmlns:a16="http://schemas.microsoft.com/office/drawing/2014/main" id="{5F31C18C-015B-49AD-ADAE-E5062ED0C0A2}"/>
              </a:ext>
            </a:extLst>
          </p:cNvPr>
          <p:cNvSpPr/>
          <p:nvPr/>
        </p:nvSpPr>
        <p:spPr>
          <a:xfrm flipH="1">
            <a:off x="8931614" y="4853068"/>
            <a:ext cx="104925" cy="92333"/>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ko-KR" altLang="en-US"/>
          </a:p>
        </p:txBody>
      </p:sp>
      <p:sp>
        <p:nvSpPr>
          <p:cNvPr id="190" name="타원 189">
            <a:extLst>
              <a:ext uri="{FF2B5EF4-FFF2-40B4-BE49-F238E27FC236}">
                <a16:creationId xmlns:a16="http://schemas.microsoft.com/office/drawing/2014/main" id="{76EB1ED3-754C-4DB6-BE56-37E2BE02C16E}"/>
              </a:ext>
            </a:extLst>
          </p:cNvPr>
          <p:cNvSpPr/>
          <p:nvPr/>
        </p:nvSpPr>
        <p:spPr>
          <a:xfrm flipH="1">
            <a:off x="9226126" y="4853068"/>
            <a:ext cx="104925" cy="92333"/>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ko-KR" altLang="en-US"/>
          </a:p>
        </p:txBody>
      </p:sp>
      <p:cxnSp>
        <p:nvCxnSpPr>
          <p:cNvPr id="191" name="직선 연결선 190">
            <a:extLst>
              <a:ext uri="{FF2B5EF4-FFF2-40B4-BE49-F238E27FC236}">
                <a16:creationId xmlns:a16="http://schemas.microsoft.com/office/drawing/2014/main" id="{D311760E-FDD7-41CC-A899-0349848099DA}"/>
              </a:ext>
            </a:extLst>
          </p:cNvPr>
          <p:cNvCxnSpPr>
            <a:stCxn id="160" idx="7"/>
            <a:endCxn id="161" idx="3"/>
          </p:cNvCxnSpPr>
          <p:nvPr/>
        </p:nvCxnSpPr>
        <p:spPr>
          <a:xfrm flipV="1">
            <a:off x="5478962" y="4740144"/>
            <a:ext cx="286299" cy="156821"/>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2" name="직선 연결선 191">
            <a:extLst>
              <a:ext uri="{FF2B5EF4-FFF2-40B4-BE49-F238E27FC236}">
                <a16:creationId xmlns:a16="http://schemas.microsoft.com/office/drawing/2014/main" id="{D2CF5F3B-2EA8-4BC9-8708-8DE590A22F31}"/>
              </a:ext>
            </a:extLst>
          </p:cNvPr>
          <p:cNvCxnSpPr>
            <a:stCxn id="160" idx="5"/>
            <a:endCxn id="162" idx="1"/>
          </p:cNvCxnSpPr>
          <p:nvPr/>
        </p:nvCxnSpPr>
        <p:spPr>
          <a:xfrm>
            <a:off x="5478962" y="5132904"/>
            <a:ext cx="286299" cy="198590"/>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3" name="직선 연결선 192">
            <a:extLst>
              <a:ext uri="{FF2B5EF4-FFF2-40B4-BE49-F238E27FC236}">
                <a16:creationId xmlns:a16="http://schemas.microsoft.com/office/drawing/2014/main" id="{17FB711D-A718-49C4-8CBA-7C8C0A52E359}"/>
              </a:ext>
            </a:extLst>
          </p:cNvPr>
          <p:cNvCxnSpPr>
            <a:endCxn id="163" idx="3"/>
          </p:cNvCxnSpPr>
          <p:nvPr/>
        </p:nvCxnSpPr>
        <p:spPr>
          <a:xfrm flipV="1">
            <a:off x="6111522" y="4444683"/>
            <a:ext cx="214170" cy="116618"/>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4" name="직선 연결선 193">
            <a:extLst>
              <a:ext uri="{FF2B5EF4-FFF2-40B4-BE49-F238E27FC236}">
                <a16:creationId xmlns:a16="http://schemas.microsoft.com/office/drawing/2014/main" id="{5C150D68-5E5A-4CE1-A278-DA85AC84EB3B}"/>
              </a:ext>
            </a:extLst>
          </p:cNvPr>
          <p:cNvCxnSpPr>
            <a:stCxn id="161" idx="6"/>
            <a:endCxn id="165" idx="1"/>
          </p:cNvCxnSpPr>
          <p:nvPr/>
        </p:nvCxnSpPr>
        <p:spPr>
          <a:xfrm>
            <a:off x="6088906" y="4622175"/>
            <a:ext cx="236787" cy="83508"/>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5" name="직선 연결선 194">
            <a:extLst>
              <a:ext uri="{FF2B5EF4-FFF2-40B4-BE49-F238E27FC236}">
                <a16:creationId xmlns:a16="http://schemas.microsoft.com/office/drawing/2014/main" id="{B12783B6-E2D3-47F2-9753-0CA6875BB6E9}"/>
              </a:ext>
            </a:extLst>
          </p:cNvPr>
          <p:cNvCxnSpPr>
            <a:stCxn id="162" idx="6"/>
            <a:endCxn id="164" idx="2"/>
          </p:cNvCxnSpPr>
          <p:nvPr/>
        </p:nvCxnSpPr>
        <p:spPr>
          <a:xfrm flipV="1">
            <a:off x="6088907" y="5428581"/>
            <a:ext cx="181258" cy="20884"/>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6" name="직선 연결선 195">
            <a:extLst>
              <a:ext uri="{FF2B5EF4-FFF2-40B4-BE49-F238E27FC236}">
                <a16:creationId xmlns:a16="http://schemas.microsoft.com/office/drawing/2014/main" id="{FA6CF977-67C6-43AE-A737-265FDE0EABA1}"/>
              </a:ext>
            </a:extLst>
          </p:cNvPr>
          <p:cNvCxnSpPr/>
          <p:nvPr/>
        </p:nvCxnSpPr>
        <p:spPr>
          <a:xfrm flipV="1">
            <a:off x="6649340" y="4138996"/>
            <a:ext cx="136014" cy="97299"/>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7" name="직선 연결선 196">
            <a:extLst>
              <a:ext uri="{FF2B5EF4-FFF2-40B4-BE49-F238E27FC236}">
                <a16:creationId xmlns:a16="http://schemas.microsoft.com/office/drawing/2014/main" id="{B0DCC699-66BC-4F11-B8C0-0E05181839F8}"/>
              </a:ext>
            </a:extLst>
          </p:cNvPr>
          <p:cNvCxnSpPr>
            <a:endCxn id="169" idx="2"/>
          </p:cNvCxnSpPr>
          <p:nvPr/>
        </p:nvCxnSpPr>
        <p:spPr>
          <a:xfrm>
            <a:off x="6671956" y="4415352"/>
            <a:ext cx="113398" cy="88638"/>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8" name="직선 연결선 197">
            <a:extLst>
              <a:ext uri="{FF2B5EF4-FFF2-40B4-BE49-F238E27FC236}">
                <a16:creationId xmlns:a16="http://schemas.microsoft.com/office/drawing/2014/main" id="{B4196EB8-60A0-4D99-8713-9219C6467903}"/>
              </a:ext>
            </a:extLst>
          </p:cNvPr>
          <p:cNvCxnSpPr>
            <a:stCxn id="172" idx="7"/>
            <a:endCxn id="179" idx="3"/>
          </p:cNvCxnSpPr>
          <p:nvPr/>
        </p:nvCxnSpPr>
        <p:spPr>
          <a:xfrm flipV="1">
            <a:off x="7108999" y="3776984"/>
            <a:ext cx="276700" cy="174508"/>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9" name="직선 연결선 198">
            <a:extLst>
              <a:ext uri="{FF2B5EF4-FFF2-40B4-BE49-F238E27FC236}">
                <a16:creationId xmlns:a16="http://schemas.microsoft.com/office/drawing/2014/main" id="{151A3DC5-3A40-4FB8-B0D8-51C36A6BC280}"/>
              </a:ext>
            </a:extLst>
          </p:cNvPr>
          <p:cNvCxnSpPr>
            <a:stCxn id="172" idx="6"/>
            <a:endCxn id="177" idx="2"/>
          </p:cNvCxnSpPr>
          <p:nvPr/>
        </p:nvCxnSpPr>
        <p:spPr>
          <a:xfrm>
            <a:off x="7164528" y="4069461"/>
            <a:ext cx="165642" cy="0"/>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0" name="직선 연결선 199">
            <a:extLst>
              <a:ext uri="{FF2B5EF4-FFF2-40B4-BE49-F238E27FC236}">
                <a16:creationId xmlns:a16="http://schemas.microsoft.com/office/drawing/2014/main" id="{6CF0AEED-F17D-4263-8366-36E8E50B2074}"/>
              </a:ext>
            </a:extLst>
          </p:cNvPr>
          <p:cNvCxnSpPr>
            <a:stCxn id="169" idx="6"/>
            <a:endCxn id="174" idx="2"/>
          </p:cNvCxnSpPr>
          <p:nvPr/>
        </p:nvCxnSpPr>
        <p:spPr>
          <a:xfrm>
            <a:off x="7164528" y="4503990"/>
            <a:ext cx="165642" cy="0"/>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1" name="직선 연결선 200">
            <a:extLst>
              <a:ext uri="{FF2B5EF4-FFF2-40B4-BE49-F238E27FC236}">
                <a16:creationId xmlns:a16="http://schemas.microsoft.com/office/drawing/2014/main" id="{5B975322-8CC6-43CE-B259-4E87CF80F3F9}"/>
              </a:ext>
            </a:extLst>
          </p:cNvPr>
          <p:cNvCxnSpPr>
            <a:stCxn id="164" idx="6"/>
            <a:endCxn id="170" idx="2"/>
          </p:cNvCxnSpPr>
          <p:nvPr/>
        </p:nvCxnSpPr>
        <p:spPr>
          <a:xfrm>
            <a:off x="6649340" y="5428580"/>
            <a:ext cx="136014" cy="0"/>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2" name="직선 연결선 201">
            <a:extLst>
              <a:ext uri="{FF2B5EF4-FFF2-40B4-BE49-F238E27FC236}">
                <a16:creationId xmlns:a16="http://schemas.microsoft.com/office/drawing/2014/main" id="{75F9131E-496D-47F9-93F3-8633EE2FA60A}"/>
              </a:ext>
            </a:extLst>
          </p:cNvPr>
          <p:cNvCxnSpPr>
            <a:stCxn id="164" idx="5"/>
            <a:endCxn id="171" idx="1"/>
          </p:cNvCxnSpPr>
          <p:nvPr/>
        </p:nvCxnSpPr>
        <p:spPr>
          <a:xfrm>
            <a:off x="6593811" y="5546550"/>
            <a:ext cx="247072" cy="236798"/>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3" name="직선 연결선 202">
            <a:extLst>
              <a:ext uri="{FF2B5EF4-FFF2-40B4-BE49-F238E27FC236}">
                <a16:creationId xmlns:a16="http://schemas.microsoft.com/office/drawing/2014/main" id="{0EAF4C58-5725-4C0B-B82F-746CA1E93E3A}"/>
              </a:ext>
            </a:extLst>
          </p:cNvPr>
          <p:cNvCxnSpPr>
            <a:stCxn id="171" idx="5"/>
            <a:endCxn id="178" idx="2"/>
          </p:cNvCxnSpPr>
          <p:nvPr/>
        </p:nvCxnSpPr>
        <p:spPr>
          <a:xfrm>
            <a:off x="7109000" y="6019286"/>
            <a:ext cx="221171" cy="118399"/>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4" name="직선 연결선 203">
            <a:extLst>
              <a:ext uri="{FF2B5EF4-FFF2-40B4-BE49-F238E27FC236}">
                <a16:creationId xmlns:a16="http://schemas.microsoft.com/office/drawing/2014/main" id="{85D56B43-4C7A-4A44-85F8-838C6B1C848A}"/>
              </a:ext>
            </a:extLst>
          </p:cNvPr>
          <p:cNvCxnSpPr>
            <a:stCxn id="171" idx="6"/>
            <a:endCxn id="176" idx="3"/>
          </p:cNvCxnSpPr>
          <p:nvPr/>
        </p:nvCxnSpPr>
        <p:spPr>
          <a:xfrm flipV="1">
            <a:off x="7164529" y="5782917"/>
            <a:ext cx="221171" cy="118399"/>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5" name="직선 연결선 204">
            <a:extLst>
              <a:ext uri="{FF2B5EF4-FFF2-40B4-BE49-F238E27FC236}">
                <a16:creationId xmlns:a16="http://schemas.microsoft.com/office/drawing/2014/main" id="{84B97130-08C5-4F5D-9502-9A4E6E0CC761}"/>
              </a:ext>
            </a:extLst>
          </p:cNvPr>
          <p:cNvCxnSpPr>
            <a:stCxn id="170" idx="6"/>
            <a:endCxn id="175" idx="3"/>
          </p:cNvCxnSpPr>
          <p:nvPr/>
        </p:nvCxnSpPr>
        <p:spPr>
          <a:xfrm flipV="1">
            <a:off x="7164529" y="5310181"/>
            <a:ext cx="221171" cy="118399"/>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6" name="직선 연결선 205">
            <a:extLst>
              <a:ext uri="{FF2B5EF4-FFF2-40B4-BE49-F238E27FC236}">
                <a16:creationId xmlns:a16="http://schemas.microsoft.com/office/drawing/2014/main" id="{42C60B42-408F-4578-B981-EC1F1E3525C8}"/>
              </a:ext>
            </a:extLst>
          </p:cNvPr>
          <p:cNvCxnSpPr>
            <a:stCxn id="178" idx="5"/>
            <a:endCxn id="184" idx="2"/>
          </p:cNvCxnSpPr>
          <p:nvPr/>
        </p:nvCxnSpPr>
        <p:spPr>
          <a:xfrm>
            <a:off x="7653817" y="6255654"/>
            <a:ext cx="228882" cy="118399"/>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7" name="직선 연결선 206">
            <a:extLst>
              <a:ext uri="{FF2B5EF4-FFF2-40B4-BE49-F238E27FC236}">
                <a16:creationId xmlns:a16="http://schemas.microsoft.com/office/drawing/2014/main" id="{DF1728B6-F7D1-4B53-BD20-98616863D09E}"/>
              </a:ext>
            </a:extLst>
          </p:cNvPr>
          <p:cNvCxnSpPr>
            <a:endCxn id="186" idx="2"/>
          </p:cNvCxnSpPr>
          <p:nvPr/>
        </p:nvCxnSpPr>
        <p:spPr>
          <a:xfrm flipV="1">
            <a:off x="7709347" y="3492179"/>
            <a:ext cx="173353" cy="83417"/>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8" name="직선 연결선 207">
            <a:extLst>
              <a:ext uri="{FF2B5EF4-FFF2-40B4-BE49-F238E27FC236}">
                <a16:creationId xmlns:a16="http://schemas.microsoft.com/office/drawing/2014/main" id="{D903561F-62C6-41CB-B9A9-9074EB15537B}"/>
              </a:ext>
            </a:extLst>
          </p:cNvPr>
          <p:cNvCxnSpPr>
            <a:stCxn id="177" idx="7"/>
            <a:endCxn id="185" idx="2"/>
          </p:cNvCxnSpPr>
          <p:nvPr/>
        </p:nvCxnSpPr>
        <p:spPr>
          <a:xfrm flipV="1">
            <a:off x="7653817" y="3895383"/>
            <a:ext cx="228882" cy="56109"/>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9" name="직선 연결선 208">
            <a:extLst>
              <a:ext uri="{FF2B5EF4-FFF2-40B4-BE49-F238E27FC236}">
                <a16:creationId xmlns:a16="http://schemas.microsoft.com/office/drawing/2014/main" id="{2BDD2A5E-2BB4-47C4-BDFC-437318F3F343}"/>
              </a:ext>
            </a:extLst>
          </p:cNvPr>
          <p:cNvCxnSpPr>
            <a:stCxn id="177" idx="5"/>
            <a:endCxn id="183" idx="2"/>
          </p:cNvCxnSpPr>
          <p:nvPr/>
        </p:nvCxnSpPr>
        <p:spPr>
          <a:xfrm>
            <a:off x="7653817" y="4187431"/>
            <a:ext cx="228882" cy="118399"/>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10" name="직선 연결선 209">
            <a:extLst>
              <a:ext uri="{FF2B5EF4-FFF2-40B4-BE49-F238E27FC236}">
                <a16:creationId xmlns:a16="http://schemas.microsoft.com/office/drawing/2014/main" id="{88646FB1-7F9D-4DF1-96D9-D346A0E2B2C4}"/>
              </a:ext>
            </a:extLst>
          </p:cNvPr>
          <p:cNvCxnSpPr>
            <a:stCxn id="174" idx="5"/>
            <a:endCxn id="180" idx="2"/>
          </p:cNvCxnSpPr>
          <p:nvPr/>
        </p:nvCxnSpPr>
        <p:spPr>
          <a:xfrm>
            <a:off x="7653817" y="4621960"/>
            <a:ext cx="228882" cy="118399"/>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11" name="직선 연결선 210">
            <a:extLst>
              <a:ext uri="{FF2B5EF4-FFF2-40B4-BE49-F238E27FC236}">
                <a16:creationId xmlns:a16="http://schemas.microsoft.com/office/drawing/2014/main" id="{D1DFEB27-FCD5-4F5B-8E9D-7FE2DA895B81}"/>
              </a:ext>
            </a:extLst>
          </p:cNvPr>
          <p:cNvCxnSpPr>
            <a:stCxn id="175" idx="6"/>
            <a:endCxn id="187" idx="2"/>
          </p:cNvCxnSpPr>
          <p:nvPr/>
        </p:nvCxnSpPr>
        <p:spPr>
          <a:xfrm>
            <a:off x="7709347" y="5192211"/>
            <a:ext cx="173353" cy="3358"/>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12" name="직선 연결선 211">
            <a:extLst>
              <a:ext uri="{FF2B5EF4-FFF2-40B4-BE49-F238E27FC236}">
                <a16:creationId xmlns:a16="http://schemas.microsoft.com/office/drawing/2014/main" id="{23E04F05-1AC9-44A8-AAE5-805167D422F9}"/>
              </a:ext>
            </a:extLst>
          </p:cNvPr>
          <p:cNvCxnSpPr>
            <a:stCxn id="176" idx="6"/>
            <a:endCxn id="181" idx="2"/>
          </p:cNvCxnSpPr>
          <p:nvPr/>
        </p:nvCxnSpPr>
        <p:spPr>
          <a:xfrm flipV="1">
            <a:off x="7709347" y="5605856"/>
            <a:ext cx="173353" cy="59092"/>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13" name="직선 연결선 212">
            <a:extLst>
              <a:ext uri="{FF2B5EF4-FFF2-40B4-BE49-F238E27FC236}">
                <a16:creationId xmlns:a16="http://schemas.microsoft.com/office/drawing/2014/main" id="{3C527ABF-4F52-490F-AA4D-AB602C7B29BA}"/>
              </a:ext>
            </a:extLst>
          </p:cNvPr>
          <p:cNvCxnSpPr>
            <a:stCxn id="178" idx="6"/>
            <a:endCxn id="182" idx="2"/>
          </p:cNvCxnSpPr>
          <p:nvPr/>
        </p:nvCxnSpPr>
        <p:spPr>
          <a:xfrm flipV="1">
            <a:off x="7709347" y="5998617"/>
            <a:ext cx="173353" cy="139068"/>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sp>
        <p:nvSpPr>
          <p:cNvPr id="214" name="TextBox 213">
            <a:extLst>
              <a:ext uri="{FF2B5EF4-FFF2-40B4-BE49-F238E27FC236}">
                <a16:creationId xmlns:a16="http://schemas.microsoft.com/office/drawing/2014/main" id="{52E48FD5-D6EF-493E-9086-17DB8949D71B}"/>
              </a:ext>
            </a:extLst>
          </p:cNvPr>
          <p:cNvSpPr txBox="1"/>
          <p:nvPr/>
        </p:nvSpPr>
        <p:spPr>
          <a:xfrm>
            <a:off x="5301972" y="6246380"/>
            <a:ext cx="1166925" cy="353600"/>
          </a:xfrm>
          <a:prstGeom prst="rect">
            <a:avLst/>
          </a:prstGeom>
          <a:noFill/>
        </p:spPr>
        <p:txBody>
          <a:bodyPr wrap="square" rtlCol="0">
            <a:spAutoFit/>
          </a:bodyPr>
          <a:lstStyle/>
          <a:p>
            <a:pPr algn="ctr"/>
            <a:r>
              <a:rPr lang="ko-KR" altLang="en-US" sz="1100">
                <a:latin typeface="+mn-ea"/>
              </a:rPr>
              <a:t>공지</a:t>
            </a:r>
            <a:endParaRPr lang="en-US" altLang="ko-KR" sz="1100" dirty="0">
              <a:latin typeface="+mn-ea"/>
            </a:endParaRPr>
          </a:p>
          <a:p>
            <a:pPr algn="ctr"/>
            <a:r>
              <a:rPr lang="ko-KR" altLang="en-US" sz="1100" dirty="0">
                <a:latin typeface="+mn-ea"/>
              </a:rPr>
              <a:t>기술</a:t>
            </a:r>
          </a:p>
        </p:txBody>
      </p:sp>
      <p:cxnSp>
        <p:nvCxnSpPr>
          <p:cNvPr id="155" name="직선 연결선 154">
            <a:extLst>
              <a:ext uri="{FF2B5EF4-FFF2-40B4-BE49-F238E27FC236}">
                <a16:creationId xmlns:a16="http://schemas.microsoft.com/office/drawing/2014/main" id="{89EA022B-B748-44C8-9EF3-CB122DAEF7FA}"/>
              </a:ext>
            </a:extLst>
          </p:cNvPr>
          <p:cNvCxnSpPr/>
          <p:nvPr/>
        </p:nvCxnSpPr>
        <p:spPr>
          <a:xfrm>
            <a:off x="5119522" y="2509423"/>
            <a:ext cx="0" cy="4077355"/>
          </a:xfrm>
          <a:prstGeom prst="line">
            <a:avLst/>
          </a:prstGeom>
        </p:spPr>
        <p:style>
          <a:lnRef idx="1">
            <a:schemeClr val="accent1"/>
          </a:lnRef>
          <a:fillRef idx="0">
            <a:schemeClr val="accent1"/>
          </a:fillRef>
          <a:effectRef idx="0">
            <a:schemeClr val="accent1"/>
          </a:effectRef>
          <a:fontRef idx="minor">
            <a:schemeClr val="tx1"/>
          </a:fontRef>
        </p:style>
      </p:cxnSp>
      <p:cxnSp>
        <p:nvCxnSpPr>
          <p:cNvPr id="156" name="직선 연결선 155">
            <a:extLst>
              <a:ext uri="{FF2B5EF4-FFF2-40B4-BE49-F238E27FC236}">
                <a16:creationId xmlns:a16="http://schemas.microsoft.com/office/drawing/2014/main" id="{843C847A-A62A-476A-B494-2940B8C485D0}"/>
              </a:ext>
            </a:extLst>
          </p:cNvPr>
          <p:cNvCxnSpPr/>
          <p:nvPr/>
        </p:nvCxnSpPr>
        <p:spPr>
          <a:xfrm>
            <a:off x="9996220" y="2479474"/>
            <a:ext cx="0" cy="4077355"/>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068435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10</a:t>
            </a:fld>
            <a:endParaRPr lang="ko-KR" altLang="en-US"/>
          </a:p>
        </p:txBody>
      </p:sp>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lstStyle/>
          <a:p>
            <a:r>
              <a:rPr lang="ko-KR" altLang="en-US" dirty="0"/>
              <a:t>특허출원절차 개괄</a:t>
            </a:r>
          </a:p>
        </p:txBody>
      </p:sp>
      <p:sp>
        <p:nvSpPr>
          <p:cNvPr id="82" name="Rectangle 5">
            <a:extLst>
              <a:ext uri="{FF2B5EF4-FFF2-40B4-BE49-F238E27FC236}">
                <a16:creationId xmlns:a16="http://schemas.microsoft.com/office/drawing/2014/main" id="{E1FB3872-BEA7-4118-810D-D2A6EDD076C0}"/>
              </a:ext>
            </a:extLst>
          </p:cNvPr>
          <p:cNvSpPr>
            <a:spLocks noChangeArrowheads="1"/>
          </p:cNvSpPr>
          <p:nvPr/>
        </p:nvSpPr>
        <p:spPr bwMode="auto">
          <a:xfrm>
            <a:off x="1805666" y="1373037"/>
            <a:ext cx="1133475" cy="348102"/>
          </a:xfrm>
          <a:prstGeom prst="rect">
            <a:avLst/>
          </a:prstGeom>
          <a:solidFill>
            <a:schemeClr val="accent2"/>
          </a:solidFill>
          <a:ln w="9525" algn="ctr">
            <a:solidFill>
              <a:srgbClr val="5F5F5F"/>
            </a:solidFill>
            <a:miter lim="800000"/>
            <a:headEnd/>
            <a:tailEnd/>
          </a:ln>
        </p:spPr>
        <p:txBody>
          <a:bodyPr wrap="none" anchor="ctr"/>
          <a:lstStyle/>
          <a:p>
            <a:pPr algn="ctr"/>
            <a:r>
              <a:rPr lang="ko-KR" altLang="en-US" sz="1100" dirty="0">
                <a:latin typeface="+mj-ea"/>
                <a:ea typeface="+mj-ea"/>
              </a:rPr>
              <a:t>특허출원</a:t>
            </a:r>
            <a:endParaRPr lang="ko-KR" altLang="en-US" sz="1100" b="0" dirty="0">
              <a:solidFill>
                <a:schemeClr val="tx1"/>
              </a:solidFill>
              <a:latin typeface="+mj-ea"/>
              <a:ea typeface="+mj-ea"/>
            </a:endParaRPr>
          </a:p>
        </p:txBody>
      </p:sp>
      <p:cxnSp>
        <p:nvCxnSpPr>
          <p:cNvPr id="83" name="직선 화살표 연결선 14">
            <a:extLst>
              <a:ext uri="{FF2B5EF4-FFF2-40B4-BE49-F238E27FC236}">
                <a16:creationId xmlns:a16="http://schemas.microsoft.com/office/drawing/2014/main" id="{87F16451-2319-45F6-9AC1-26AADF25A3A2}"/>
              </a:ext>
            </a:extLst>
          </p:cNvPr>
          <p:cNvCxnSpPr>
            <a:cxnSpLocks noChangeShapeType="1"/>
            <a:stCxn id="82" idx="2"/>
          </p:cNvCxnSpPr>
          <p:nvPr/>
        </p:nvCxnSpPr>
        <p:spPr bwMode="auto">
          <a:xfrm flipH="1">
            <a:off x="2372403" y="1721139"/>
            <a:ext cx="1" cy="143844"/>
          </a:xfrm>
          <a:prstGeom prst="straightConnector1">
            <a:avLst/>
          </a:prstGeom>
          <a:noFill/>
          <a:ln w="19050">
            <a:solidFill>
              <a:schemeClr val="bg1"/>
            </a:solidFill>
            <a:round/>
            <a:headEnd/>
            <a:tailEnd type="arrow" w="med" len="med"/>
          </a:ln>
          <a:extLst>
            <a:ext uri="{909E8E84-426E-40DD-AFC4-6F175D3DCCD1}">
              <a14:hiddenFill xmlns:a14="http://schemas.microsoft.com/office/drawing/2010/main">
                <a:noFill/>
              </a14:hiddenFill>
            </a:ext>
          </a:extLst>
        </p:spPr>
      </p:cxnSp>
      <p:sp>
        <p:nvSpPr>
          <p:cNvPr id="84" name="Rectangle 5">
            <a:extLst>
              <a:ext uri="{FF2B5EF4-FFF2-40B4-BE49-F238E27FC236}">
                <a16:creationId xmlns:a16="http://schemas.microsoft.com/office/drawing/2014/main" id="{7AFEC911-D436-4A11-9082-3DDD51019F44}"/>
              </a:ext>
            </a:extLst>
          </p:cNvPr>
          <p:cNvSpPr>
            <a:spLocks noChangeArrowheads="1"/>
          </p:cNvSpPr>
          <p:nvPr/>
        </p:nvSpPr>
        <p:spPr bwMode="auto">
          <a:xfrm>
            <a:off x="1805666" y="2310632"/>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특허분류</a:t>
            </a:r>
            <a:endParaRPr lang="en-US" altLang="ko-KR" sz="1100" b="0" dirty="0">
              <a:solidFill>
                <a:schemeClr val="tx1"/>
              </a:solidFill>
              <a:latin typeface="+mj-ea"/>
              <a:ea typeface="+mj-ea"/>
            </a:endParaRPr>
          </a:p>
          <a:p>
            <a:pPr algn="ctr"/>
            <a:r>
              <a:rPr lang="en-US" altLang="ko-KR" sz="900" dirty="0">
                <a:latin typeface="+mj-ea"/>
                <a:ea typeface="+mj-ea"/>
              </a:rPr>
              <a:t>(IPC, CPC)</a:t>
            </a:r>
            <a:endParaRPr lang="ko-KR" altLang="en-US" sz="900" b="0" dirty="0">
              <a:solidFill>
                <a:schemeClr val="tx1"/>
              </a:solidFill>
              <a:latin typeface="+mj-ea"/>
              <a:ea typeface="+mj-ea"/>
            </a:endParaRPr>
          </a:p>
        </p:txBody>
      </p:sp>
      <p:sp>
        <p:nvSpPr>
          <p:cNvPr id="85" name="AutoShape 11">
            <a:extLst>
              <a:ext uri="{FF2B5EF4-FFF2-40B4-BE49-F238E27FC236}">
                <a16:creationId xmlns:a16="http://schemas.microsoft.com/office/drawing/2014/main" id="{8368012E-BB49-467B-8D9C-F6C5EF8D60ED}"/>
              </a:ext>
            </a:extLst>
          </p:cNvPr>
          <p:cNvSpPr>
            <a:spLocks noChangeArrowheads="1"/>
          </p:cNvSpPr>
          <p:nvPr/>
        </p:nvSpPr>
        <p:spPr bwMode="auto">
          <a:xfrm>
            <a:off x="1805664" y="3240883"/>
            <a:ext cx="1133478" cy="471808"/>
          </a:xfrm>
          <a:prstGeom prst="flowChartDecision">
            <a:avLst/>
          </a:prstGeom>
          <a:solidFill>
            <a:schemeClr val="accent5">
              <a:lumMod val="75000"/>
            </a:schemeClr>
          </a:solidFill>
          <a:ln>
            <a:solidFill>
              <a:schemeClr val="bg1">
                <a:lumMod val="50000"/>
              </a:schemeClr>
            </a:solidFill>
            <a:headEnd/>
            <a:tailEnd/>
          </a:ln>
          <a:effectLst/>
        </p:spPr>
        <p:style>
          <a:lnRef idx="1">
            <a:schemeClr val="accent5"/>
          </a:lnRef>
          <a:fillRef idx="3">
            <a:schemeClr val="accent5"/>
          </a:fillRef>
          <a:effectRef idx="2">
            <a:schemeClr val="accent5"/>
          </a:effectRef>
          <a:fontRef idx="minor">
            <a:schemeClr val="lt1"/>
          </a:fontRef>
        </p:style>
        <p:txBody>
          <a:bodyPr wrap="none" anchor="ctr"/>
          <a:lstStyle/>
          <a:p>
            <a:pPr algn="ctr">
              <a:defRPr/>
            </a:pPr>
            <a:r>
              <a:rPr lang="ko-KR" altLang="en-US" sz="1100" b="0" dirty="0">
                <a:solidFill>
                  <a:schemeClr val="bg1"/>
                </a:solidFill>
                <a:latin typeface="+mj-ea"/>
                <a:ea typeface="+mj-ea"/>
              </a:rPr>
              <a:t>실체심사</a:t>
            </a:r>
          </a:p>
        </p:txBody>
      </p:sp>
      <p:cxnSp>
        <p:nvCxnSpPr>
          <p:cNvPr id="86" name="직선 화살표 연결선 85">
            <a:extLst>
              <a:ext uri="{FF2B5EF4-FFF2-40B4-BE49-F238E27FC236}">
                <a16:creationId xmlns:a16="http://schemas.microsoft.com/office/drawing/2014/main" id="{FC27FC38-D5C7-4D65-98DC-50D0884F360D}"/>
              </a:ext>
            </a:extLst>
          </p:cNvPr>
          <p:cNvCxnSpPr>
            <a:stCxn id="82" idx="2"/>
            <a:endCxn id="84" idx="0"/>
          </p:cNvCxnSpPr>
          <p:nvPr/>
        </p:nvCxnSpPr>
        <p:spPr>
          <a:xfrm>
            <a:off x="2372404" y="1721139"/>
            <a:ext cx="0" cy="589493"/>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직선 화살표 연결선 87">
            <a:extLst>
              <a:ext uri="{FF2B5EF4-FFF2-40B4-BE49-F238E27FC236}">
                <a16:creationId xmlns:a16="http://schemas.microsoft.com/office/drawing/2014/main" id="{AA5F77FB-2864-4AAC-B667-4568131B61F1}"/>
              </a:ext>
            </a:extLst>
          </p:cNvPr>
          <p:cNvCxnSpPr>
            <a:stCxn id="84" idx="2"/>
            <a:endCxn id="85" idx="0"/>
          </p:cNvCxnSpPr>
          <p:nvPr/>
        </p:nvCxnSpPr>
        <p:spPr>
          <a:xfrm flipH="1">
            <a:off x="2372403" y="2658734"/>
            <a:ext cx="1" cy="582149"/>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0" name="꺾인 연결선 17">
            <a:extLst>
              <a:ext uri="{FF2B5EF4-FFF2-40B4-BE49-F238E27FC236}">
                <a16:creationId xmlns:a16="http://schemas.microsoft.com/office/drawing/2014/main" id="{A15CFD52-6FBB-4293-A058-8F7B788246EB}"/>
              </a:ext>
            </a:extLst>
          </p:cNvPr>
          <p:cNvCxnSpPr>
            <a:stCxn id="82" idx="1"/>
          </p:cNvCxnSpPr>
          <p:nvPr/>
        </p:nvCxnSpPr>
        <p:spPr>
          <a:xfrm rot="10800000" flipH="1" flipV="1">
            <a:off x="1805666" y="1547087"/>
            <a:ext cx="566738" cy="1507779"/>
          </a:xfrm>
          <a:prstGeom prst="bentConnector4">
            <a:avLst>
              <a:gd name="adj1" fmla="val -161344"/>
              <a:gd name="adj2" fmla="val 100090"/>
            </a:avLst>
          </a:prstGeom>
          <a:ln>
            <a:solidFill>
              <a:schemeClr val="bg1">
                <a:lumMod val="50000"/>
              </a:schemeClr>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Rectangle 5">
            <a:extLst>
              <a:ext uri="{FF2B5EF4-FFF2-40B4-BE49-F238E27FC236}">
                <a16:creationId xmlns:a16="http://schemas.microsoft.com/office/drawing/2014/main" id="{1725DB28-2917-4575-97AB-C92F4C07015D}"/>
              </a:ext>
            </a:extLst>
          </p:cNvPr>
          <p:cNvSpPr>
            <a:spLocks noChangeArrowheads="1"/>
          </p:cNvSpPr>
          <p:nvPr/>
        </p:nvSpPr>
        <p:spPr bwMode="auto">
          <a:xfrm>
            <a:off x="331993" y="1915050"/>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a:latin typeface="+mj-ea"/>
                <a:ea typeface="+mj-ea"/>
              </a:rPr>
              <a:t>출원공개</a:t>
            </a:r>
            <a:endParaRPr lang="en-US" altLang="ko-KR" sz="1000" dirty="0">
              <a:latin typeface="+mj-ea"/>
              <a:ea typeface="+mj-ea"/>
            </a:endParaRPr>
          </a:p>
          <a:p>
            <a:pPr algn="ctr"/>
            <a:r>
              <a:rPr lang="en-US" altLang="ko-KR" sz="900" b="0" dirty="0">
                <a:solidFill>
                  <a:schemeClr val="tx1"/>
                </a:solidFill>
                <a:latin typeface="+mj-ea"/>
                <a:ea typeface="+mj-ea"/>
              </a:rPr>
              <a:t>(</a:t>
            </a:r>
            <a:r>
              <a:rPr lang="ko-KR" altLang="en-US" sz="900" b="0" dirty="0">
                <a:solidFill>
                  <a:schemeClr val="tx1"/>
                </a:solidFill>
                <a:latin typeface="+mj-ea"/>
                <a:ea typeface="+mj-ea"/>
              </a:rPr>
              <a:t>조기공개신청</a:t>
            </a:r>
            <a:r>
              <a:rPr lang="en-US" altLang="ko-KR" sz="900" b="0" dirty="0">
                <a:solidFill>
                  <a:schemeClr val="tx1"/>
                </a:solidFill>
                <a:latin typeface="+mj-ea"/>
                <a:ea typeface="+mj-ea"/>
              </a:rPr>
              <a:t>)</a:t>
            </a:r>
            <a:endParaRPr lang="ko-KR" altLang="en-US" sz="900" b="0" dirty="0">
              <a:solidFill>
                <a:schemeClr val="tx1"/>
              </a:solidFill>
              <a:latin typeface="+mj-ea"/>
              <a:ea typeface="+mj-ea"/>
            </a:endParaRPr>
          </a:p>
        </p:txBody>
      </p:sp>
      <p:sp>
        <p:nvSpPr>
          <p:cNvPr id="93" name="Rectangle 5">
            <a:extLst>
              <a:ext uri="{FF2B5EF4-FFF2-40B4-BE49-F238E27FC236}">
                <a16:creationId xmlns:a16="http://schemas.microsoft.com/office/drawing/2014/main" id="{021C88C9-4517-4334-8BF6-CECCA4F2ABB4}"/>
              </a:ext>
            </a:extLst>
          </p:cNvPr>
          <p:cNvSpPr>
            <a:spLocks noChangeArrowheads="1"/>
          </p:cNvSpPr>
          <p:nvPr/>
        </p:nvSpPr>
        <p:spPr bwMode="auto">
          <a:xfrm>
            <a:off x="331993" y="2487037"/>
            <a:ext cx="1133475" cy="348102"/>
          </a:xfrm>
          <a:prstGeom prst="rect">
            <a:avLst/>
          </a:prstGeom>
          <a:solidFill>
            <a:schemeClr val="bg1"/>
          </a:solidFill>
          <a:ln w="57150" algn="ctr">
            <a:solidFill>
              <a:srgbClr val="5F5F5F"/>
            </a:solidFill>
            <a:miter lim="800000"/>
            <a:headEnd/>
            <a:tailEnd/>
          </a:ln>
        </p:spPr>
        <p:txBody>
          <a:bodyPr wrap="none" anchor="ctr"/>
          <a:lstStyle/>
          <a:p>
            <a:pPr algn="ctr"/>
            <a:r>
              <a:rPr lang="ko-KR" altLang="en-US" sz="1100" dirty="0">
                <a:latin typeface="+mj-ea"/>
                <a:ea typeface="+mj-ea"/>
              </a:rPr>
              <a:t>심사청구</a:t>
            </a:r>
            <a:endParaRPr lang="en-US" altLang="ko-KR" sz="1100" dirty="0">
              <a:latin typeface="+mj-ea"/>
              <a:ea typeface="+mj-ea"/>
            </a:endParaRPr>
          </a:p>
          <a:p>
            <a:pPr algn="ctr"/>
            <a:r>
              <a:rPr lang="en-US" altLang="ko-KR" sz="900" b="0" dirty="0">
                <a:solidFill>
                  <a:schemeClr val="tx1"/>
                </a:solidFill>
                <a:latin typeface="+mj-ea"/>
                <a:ea typeface="+mj-ea"/>
              </a:rPr>
              <a:t>(</a:t>
            </a:r>
            <a:r>
              <a:rPr lang="ko-KR" altLang="en-US" sz="900" b="0" dirty="0">
                <a:solidFill>
                  <a:schemeClr val="tx1"/>
                </a:solidFill>
                <a:latin typeface="+mj-ea"/>
                <a:ea typeface="+mj-ea"/>
              </a:rPr>
              <a:t>우선심사신청</a:t>
            </a:r>
            <a:r>
              <a:rPr lang="en-US" altLang="ko-KR" sz="900" b="0" dirty="0">
                <a:solidFill>
                  <a:schemeClr val="tx1"/>
                </a:solidFill>
                <a:latin typeface="+mj-ea"/>
                <a:ea typeface="+mj-ea"/>
              </a:rPr>
              <a:t>)</a:t>
            </a:r>
            <a:endParaRPr lang="ko-KR" altLang="en-US" sz="900" b="0" dirty="0">
              <a:solidFill>
                <a:schemeClr val="tx1"/>
              </a:solidFill>
              <a:latin typeface="+mj-ea"/>
              <a:ea typeface="+mj-ea"/>
            </a:endParaRPr>
          </a:p>
        </p:txBody>
      </p:sp>
      <p:sp>
        <p:nvSpPr>
          <p:cNvPr id="94" name="Rectangle 5">
            <a:extLst>
              <a:ext uri="{FF2B5EF4-FFF2-40B4-BE49-F238E27FC236}">
                <a16:creationId xmlns:a16="http://schemas.microsoft.com/office/drawing/2014/main" id="{A5355123-79AE-4FAB-9B2C-BB6D79262781}"/>
              </a:ext>
            </a:extLst>
          </p:cNvPr>
          <p:cNvSpPr>
            <a:spLocks noChangeArrowheads="1"/>
          </p:cNvSpPr>
          <p:nvPr/>
        </p:nvSpPr>
        <p:spPr bwMode="auto">
          <a:xfrm>
            <a:off x="4843096" y="3684147"/>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특허결정</a:t>
            </a:r>
            <a:endParaRPr lang="en-US" altLang="ko-KR" sz="1100" b="0" dirty="0">
              <a:solidFill>
                <a:schemeClr val="tx1"/>
              </a:solidFill>
              <a:latin typeface="+mj-ea"/>
              <a:ea typeface="+mj-ea"/>
            </a:endParaRPr>
          </a:p>
          <a:p>
            <a:pPr algn="ctr"/>
            <a:r>
              <a:rPr lang="en-US" altLang="ko-KR" sz="900" b="0" dirty="0">
                <a:solidFill>
                  <a:schemeClr val="tx1"/>
                </a:solidFill>
                <a:latin typeface="+mj-ea"/>
                <a:ea typeface="+mj-ea"/>
              </a:rPr>
              <a:t>(</a:t>
            </a:r>
            <a:r>
              <a:rPr lang="ko-KR" altLang="en-US" sz="900" dirty="0">
                <a:latin typeface="+mj-ea"/>
                <a:ea typeface="+mj-ea"/>
              </a:rPr>
              <a:t>직권보정</a:t>
            </a:r>
            <a:r>
              <a:rPr lang="en-US" altLang="ko-KR" sz="900" b="0" dirty="0">
                <a:solidFill>
                  <a:schemeClr val="tx1"/>
                </a:solidFill>
                <a:latin typeface="+mj-ea"/>
                <a:ea typeface="+mj-ea"/>
              </a:rPr>
              <a:t>)</a:t>
            </a:r>
            <a:endParaRPr lang="ko-KR" altLang="en-US" sz="900" b="0" dirty="0">
              <a:solidFill>
                <a:schemeClr val="tx1"/>
              </a:solidFill>
              <a:latin typeface="+mj-ea"/>
              <a:ea typeface="+mj-ea"/>
            </a:endParaRPr>
          </a:p>
        </p:txBody>
      </p:sp>
      <p:sp>
        <p:nvSpPr>
          <p:cNvPr id="96" name="Rectangle 5">
            <a:extLst>
              <a:ext uri="{FF2B5EF4-FFF2-40B4-BE49-F238E27FC236}">
                <a16:creationId xmlns:a16="http://schemas.microsoft.com/office/drawing/2014/main" id="{CBD4A3C8-31B1-4C1F-AE67-8BEADAA27D9C}"/>
              </a:ext>
            </a:extLst>
          </p:cNvPr>
          <p:cNvSpPr>
            <a:spLocks noChangeArrowheads="1"/>
          </p:cNvSpPr>
          <p:nvPr/>
        </p:nvSpPr>
        <p:spPr bwMode="auto">
          <a:xfrm>
            <a:off x="3252421" y="2709513"/>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거절이유통지</a:t>
            </a:r>
          </a:p>
        </p:txBody>
      </p:sp>
      <p:sp>
        <p:nvSpPr>
          <p:cNvPr id="97" name="Rectangle 5">
            <a:extLst>
              <a:ext uri="{FF2B5EF4-FFF2-40B4-BE49-F238E27FC236}">
                <a16:creationId xmlns:a16="http://schemas.microsoft.com/office/drawing/2014/main" id="{9761BC38-AACA-4112-B3CC-CE491BD4AD53}"/>
              </a:ext>
            </a:extLst>
          </p:cNvPr>
          <p:cNvSpPr>
            <a:spLocks noChangeArrowheads="1"/>
          </p:cNvSpPr>
          <p:nvPr/>
        </p:nvSpPr>
        <p:spPr bwMode="auto">
          <a:xfrm>
            <a:off x="3252421" y="2053823"/>
            <a:ext cx="1133475" cy="348102"/>
          </a:xfrm>
          <a:prstGeom prst="rect">
            <a:avLst/>
          </a:prstGeom>
          <a:solidFill>
            <a:schemeClr val="accent2"/>
          </a:solidFill>
          <a:ln w="9525" algn="ctr">
            <a:solidFill>
              <a:srgbClr val="5F5F5F"/>
            </a:solidFill>
            <a:miter lim="800000"/>
            <a:headEnd/>
            <a:tailEnd/>
          </a:ln>
        </p:spPr>
        <p:txBody>
          <a:bodyPr wrap="none" anchor="ctr"/>
          <a:lstStyle/>
          <a:p>
            <a:pPr algn="ctr"/>
            <a:r>
              <a:rPr lang="ko-KR" altLang="en-US" sz="1100" dirty="0">
                <a:latin typeface="+mj-ea"/>
                <a:ea typeface="+mj-ea"/>
              </a:rPr>
              <a:t>의견서</a:t>
            </a:r>
            <a:r>
              <a:rPr lang="en-US" altLang="ko-KR" sz="1100" dirty="0">
                <a:latin typeface="+mj-ea"/>
                <a:ea typeface="+mj-ea"/>
              </a:rPr>
              <a:t>/</a:t>
            </a:r>
            <a:r>
              <a:rPr lang="ko-KR" altLang="en-US" sz="1100" dirty="0">
                <a:latin typeface="+mj-ea"/>
                <a:ea typeface="+mj-ea"/>
              </a:rPr>
              <a:t>보정서</a:t>
            </a:r>
            <a:endParaRPr lang="ko-KR" altLang="en-US" sz="1100" b="0" dirty="0">
              <a:solidFill>
                <a:schemeClr val="tx1"/>
              </a:solidFill>
              <a:latin typeface="+mj-ea"/>
              <a:ea typeface="+mj-ea"/>
            </a:endParaRPr>
          </a:p>
        </p:txBody>
      </p:sp>
      <p:sp>
        <p:nvSpPr>
          <p:cNvPr id="100" name="AutoShape 11">
            <a:extLst>
              <a:ext uri="{FF2B5EF4-FFF2-40B4-BE49-F238E27FC236}">
                <a16:creationId xmlns:a16="http://schemas.microsoft.com/office/drawing/2014/main" id="{36EF0994-F7E0-49D3-80F1-8E14BC8AC1EE}"/>
              </a:ext>
            </a:extLst>
          </p:cNvPr>
          <p:cNvSpPr>
            <a:spLocks noChangeArrowheads="1"/>
          </p:cNvSpPr>
          <p:nvPr/>
        </p:nvSpPr>
        <p:spPr bwMode="auto">
          <a:xfrm>
            <a:off x="4844667" y="2802883"/>
            <a:ext cx="1133478" cy="471808"/>
          </a:xfrm>
          <a:prstGeom prst="flowChartDecision">
            <a:avLst/>
          </a:prstGeom>
          <a:solidFill>
            <a:schemeClr val="accent5">
              <a:lumMod val="75000"/>
            </a:schemeClr>
          </a:solidFill>
          <a:ln>
            <a:solidFill>
              <a:schemeClr val="bg1">
                <a:lumMod val="50000"/>
              </a:schemeClr>
            </a:solidFill>
            <a:headEnd/>
            <a:tailEnd/>
          </a:ln>
          <a:effectLst/>
        </p:spPr>
        <p:style>
          <a:lnRef idx="1">
            <a:schemeClr val="accent5"/>
          </a:lnRef>
          <a:fillRef idx="3">
            <a:schemeClr val="accent5"/>
          </a:fillRef>
          <a:effectRef idx="2">
            <a:schemeClr val="accent5"/>
          </a:effectRef>
          <a:fontRef idx="minor">
            <a:schemeClr val="lt1"/>
          </a:fontRef>
        </p:style>
        <p:txBody>
          <a:bodyPr wrap="none" anchor="ctr"/>
          <a:lstStyle/>
          <a:p>
            <a:pPr algn="ctr">
              <a:defRPr/>
            </a:pPr>
            <a:r>
              <a:rPr lang="ko-KR" altLang="en-US" sz="1100" b="0" dirty="0">
                <a:solidFill>
                  <a:schemeClr val="bg1"/>
                </a:solidFill>
                <a:latin typeface="+mj-ea"/>
                <a:ea typeface="+mj-ea"/>
              </a:rPr>
              <a:t>실체심사</a:t>
            </a:r>
          </a:p>
        </p:txBody>
      </p:sp>
      <p:cxnSp>
        <p:nvCxnSpPr>
          <p:cNvPr id="102" name="꺾인 연결선 24">
            <a:extLst>
              <a:ext uri="{FF2B5EF4-FFF2-40B4-BE49-F238E27FC236}">
                <a16:creationId xmlns:a16="http://schemas.microsoft.com/office/drawing/2014/main" id="{5B0E2218-2569-4640-995C-969343824C41}"/>
              </a:ext>
            </a:extLst>
          </p:cNvPr>
          <p:cNvCxnSpPr>
            <a:stCxn id="85" idx="3"/>
            <a:endCxn id="96" idx="2"/>
          </p:cNvCxnSpPr>
          <p:nvPr/>
        </p:nvCxnSpPr>
        <p:spPr>
          <a:xfrm flipV="1">
            <a:off x="2939142" y="3057615"/>
            <a:ext cx="880017" cy="419172"/>
          </a:xfrm>
          <a:prstGeom prst="bentConnector2">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직선 화살표 연결선 102">
            <a:extLst>
              <a:ext uri="{FF2B5EF4-FFF2-40B4-BE49-F238E27FC236}">
                <a16:creationId xmlns:a16="http://schemas.microsoft.com/office/drawing/2014/main" id="{D8B84D3C-7A09-40B8-8B19-0D790846B526}"/>
              </a:ext>
            </a:extLst>
          </p:cNvPr>
          <p:cNvCxnSpPr>
            <a:stCxn id="96" idx="0"/>
            <a:endCxn id="97" idx="2"/>
          </p:cNvCxnSpPr>
          <p:nvPr/>
        </p:nvCxnSpPr>
        <p:spPr>
          <a:xfrm flipV="1">
            <a:off x="3819159" y="2401925"/>
            <a:ext cx="0" cy="307588"/>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4" name="꺾인 연결선 26">
            <a:extLst>
              <a:ext uri="{FF2B5EF4-FFF2-40B4-BE49-F238E27FC236}">
                <a16:creationId xmlns:a16="http://schemas.microsoft.com/office/drawing/2014/main" id="{C79D8F9A-0AD5-4D6C-8630-67B126EB8A37}"/>
              </a:ext>
            </a:extLst>
          </p:cNvPr>
          <p:cNvCxnSpPr>
            <a:stCxn id="97" idx="0"/>
            <a:endCxn id="100" idx="1"/>
          </p:cNvCxnSpPr>
          <p:nvPr/>
        </p:nvCxnSpPr>
        <p:spPr>
          <a:xfrm rot="16200000" flipH="1">
            <a:off x="3839431" y="2033551"/>
            <a:ext cx="984964" cy="1025508"/>
          </a:xfrm>
          <a:prstGeom prst="bentConnector4">
            <a:avLst>
              <a:gd name="adj1" fmla="val -23209"/>
              <a:gd name="adj2" fmla="val 77632"/>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5" name="꺾인 연결선 28">
            <a:extLst>
              <a:ext uri="{FF2B5EF4-FFF2-40B4-BE49-F238E27FC236}">
                <a16:creationId xmlns:a16="http://schemas.microsoft.com/office/drawing/2014/main" id="{FEB47D08-EE14-4326-B083-662AECA84A03}"/>
              </a:ext>
            </a:extLst>
          </p:cNvPr>
          <p:cNvCxnSpPr>
            <a:stCxn id="85" idx="2"/>
            <a:endCxn id="94" idx="1"/>
          </p:cNvCxnSpPr>
          <p:nvPr/>
        </p:nvCxnSpPr>
        <p:spPr>
          <a:xfrm rot="16200000" flipH="1">
            <a:off x="3534996" y="2550097"/>
            <a:ext cx="145507" cy="2470693"/>
          </a:xfrm>
          <a:prstGeom prst="bentConnector2">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6" name="Rectangle 5">
            <a:extLst>
              <a:ext uri="{FF2B5EF4-FFF2-40B4-BE49-F238E27FC236}">
                <a16:creationId xmlns:a16="http://schemas.microsoft.com/office/drawing/2014/main" id="{FD89F283-02A5-437A-A744-79AED956CF12}"/>
              </a:ext>
            </a:extLst>
          </p:cNvPr>
          <p:cNvSpPr>
            <a:spLocks noChangeArrowheads="1"/>
          </p:cNvSpPr>
          <p:nvPr/>
        </p:nvSpPr>
        <p:spPr bwMode="auto">
          <a:xfrm>
            <a:off x="4843096" y="4344726"/>
            <a:ext cx="1133475" cy="348102"/>
          </a:xfrm>
          <a:prstGeom prst="rect">
            <a:avLst/>
          </a:prstGeom>
          <a:solidFill>
            <a:schemeClr val="bg1"/>
          </a:solidFill>
          <a:ln w="57150" algn="ctr">
            <a:solidFill>
              <a:schemeClr val="bg1">
                <a:lumMod val="50000"/>
              </a:schemeClr>
            </a:solidFill>
            <a:miter lim="800000"/>
            <a:headEnd/>
            <a:tailEnd/>
          </a:ln>
        </p:spPr>
        <p:txBody>
          <a:bodyPr wrap="none" anchor="ctr"/>
          <a:lstStyle/>
          <a:p>
            <a:pPr algn="ctr"/>
            <a:r>
              <a:rPr lang="ko-KR" altLang="en-US" sz="1100" b="0" dirty="0">
                <a:solidFill>
                  <a:schemeClr val="tx1"/>
                </a:solidFill>
                <a:latin typeface="+mj-ea"/>
                <a:ea typeface="+mj-ea"/>
              </a:rPr>
              <a:t>특허료 납부</a:t>
            </a:r>
          </a:p>
        </p:txBody>
      </p:sp>
      <p:sp>
        <p:nvSpPr>
          <p:cNvPr id="107" name="Rectangle 5">
            <a:extLst>
              <a:ext uri="{FF2B5EF4-FFF2-40B4-BE49-F238E27FC236}">
                <a16:creationId xmlns:a16="http://schemas.microsoft.com/office/drawing/2014/main" id="{105CE292-DF53-4F06-A360-C0ACA04D85E8}"/>
              </a:ext>
            </a:extLst>
          </p:cNvPr>
          <p:cNvSpPr>
            <a:spLocks noChangeArrowheads="1"/>
          </p:cNvSpPr>
          <p:nvPr/>
        </p:nvSpPr>
        <p:spPr bwMode="auto">
          <a:xfrm>
            <a:off x="4843096" y="4887651"/>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설정등록</a:t>
            </a:r>
          </a:p>
        </p:txBody>
      </p:sp>
      <p:sp>
        <p:nvSpPr>
          <p:cNvPr id="108" name="Rectangle 5">
            <a:extLst>
              <a:ext uri="{FF2B5EF4-FFF2-40B4-BE49-F238E27FC236}">
                <a16:creationId xmlns:a16="http://schemas.microsoft.com/office/drawing/2014/main" id="{86D33FE4-E8EC-41A2-898E-E671305087B7}"/>
              </a:ext>
            </a:extLst>
          </p:cNvPr>
          <p:cNvSpPr>
            <a:spLocks noChangeArrowheads="1"/>
          </p:cNvSpPr>
          <p:nvPr/>
        </p:nvSpPr>
        <p:spPr bwMode="auto">
          <a:xfrm>
            <a:off x="4843096" y="5422653"/>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a:latin typeface="+mj-ea"/>
                <a:ea typeface="+mj-ea"/>
              </a:rPr>
              <a:t>등록공고</a:t>
            </a:r>
            <a:endParaRPr lang="ko-KR" altLang="en-US" sz="1100" b="0" dirty="0">
              <a:solidFill>
                <a:schemeClr val="tx1"/>
              </a:solidFill>
              <a:latin typeface="+mj-ea"/>
              <a:ea typeface="+mj-ea"/>
            </a:endParaRPr>
          </a:p>
        </p:txBody>
      </p:sp>
      <p:cxnSp>
        <p:nvCxnSpPr>
          <p:cNvPr id="109" name="직선 화살표 연결선 108">
            <a:extLst>
              <a:ext uri="{FF2B5EF4-FFF2-40B4-BE49-F238E27FC236}">
                <a16:creationId xmlns:a16="http://schemas.microsoft.com/office/drawing/2014/main" id="{BD7E6628-CD30-48AC-BA51-1464B09F4451}"/>
              </a:ext>
            </a:extLst>
          </p:cNvPr>
          <p:cNvCxnSpPr>
            <a:stCxn id="100" idx="2"/>
            <a:endCxn id="94" idx="0"/>
          </p:cNvCxnSpPr>
          <p:nvPr/>
        </p:nvCxnSpPr>
        <p:spPr>
          <a:xfrm flipH="1">
            <a:off x="5409834" y="3274691"/>
            <a:ext cx="1572" cy="409456"/>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직선 화살표 연결선 109">
            <a:extLst>
              <a:ext uri="{FF2B5EF4-FFF2-40B4-BE49-F238E27FC236}">
                <a16:creationId xmlns:a16="http://schemas.microsoft.com/office/drawing/2014/main" id="{553C9595-92A8-49F9-9EC9-19EEAB9C56EF}"/>
              </a:ext>
            </a:extLst>
          </p:cNvPr>
          <p:cNvCxnSpPr>
            <a:stCxn id="94" idx="2"/>
            <a:endCxn id="106" idx="0"/>
          </p:cNvCxnSpPr>
          <p:nvPr/>
        </p:nvCxnSpPr>
        <p:spPr>
          <a:xfrm>
            <a:off x="5409834" y="4032249"/>
            <a:ext cx="0" cy="312477"/>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직선 화살표 연결선 110">
            <a:extLst>
              <a:ext uri="{FF2B5EF4-FFF2-40B4-BE49-F238E27FC236}">
                <a16:creationId xmlns:a16="http://schemas.microsoft.com/office/drawing/2014/main" id="{BF4F7264-4587-4CA2-8258-BB98A88E0BDF}"/>
              </a:ext>
            </a:extLst>
          </p:cNvPr>
          <p:cNvCxnSpPr>
            <a:stCxn id="106" idx="2"/>
            <a:endCxn id="107" idx="0"/>
          </p:cNvCxnSpPr>
          <p:nvPr/>
        </p:nvCxnSpPr>
        <p:spPr>
          <a:xfrm>
            <a:off x="5409834" y="4692828"/>
            <a:ext cx="0" cy="194823"/>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직선 화살표 연결선 111">
            <a:extLst>
              <a:ext uri="{FF2B5EF4-FFF2-40B4-BE49-F238E27FC236}">
                <a16:creationId xmlns:a16="http://schemas.microsoft.com/office/drawing/2014/main" id="{F3AAE792-1357-4DA4-A47B-A52956B142A4}"/>
              </a:ext>
            </a:extLst>
          </p:cNvPr>
          <p:cNvCxnSpPr>
            <a:stCxn id="107" idx="2"/>
            <a:endCxn id="108" idx="0"/>
          </p:cNvCxnSpPr>
          <p:nvPr/>
        </p:nvCxnSpPr>
        <p:spPr>
          <a:xfrm>
            <a:off x="5409834" y="5235753"/>
            <a:ext cx="0" cy="186900"/>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3" name="Rectangle 5">
            <a:extLst>
              <a:ext uri="{FF2B5EF4-FFF2-40B4-BE49-F238E27FC236}">
                <a16:creationId xmlns:a16="http://schemas.microsoft.com/office/drawing/2014/main" id="{B1B3F6C2-CB95-48C7-87CF-7152FF86769A}"/>
              </a:ext>
            </a:extLst>
          </p:cNvPr>
          <p:cNvSpPr>
            <a:spLocks noChangeArrowheads="1"/>
          </p:cNvSpPr>
          <p:nvPr/>
        </p:nvSpPr>
        <p:spPr bwMode="auto">
          <a:xfrm>
            <a:off x="6900496" y="1917460"/>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거절결정</a:t>
            </a:r>
          </a:p>
        </p:txBody>
      </p:sp>
      <p:sp>
        <p:nvSpPr>
          <p:cNvPr id="117" name="Rectangle 5">
            <a:extLst>
              <a:ext uri="{FF2B5EF4-FFF2-40B4-BE49-F238E27FC236}">
                <a16:creationId xmlns:a16="http://schemas.microsoft.com/office/drawing/2014/main" id="{44F6F490-F350-40B0-BA17-C0F3723D6219}"/>
              </a:ext>
            </a:extLst>
          </p:cNvPr>
          <p:cNvSpPr>
            <a:spLocks noChangeArrowheads="1"/>
          </p:cNvSpPr>
          <p:nvPr/>
        </p:nvSpPr>
        <p:spPr bwMode="auto">
          <a:xfrm>
            <a:off x="6900496" y="2601706"/>
            <a:ext cx="1133475" cy="348102"/>
          </a:xfrm>
          <a:prstGeom prst="rect">
            <a:avLst/>
          </a:prstGeom>
          <a:solidFill>
            <a:schemeClr val="accent2"/>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재심사청구</a:t>
            </a:r>
            <a:r>
              <a:rPr lang="en-US" altLang="ko-KR" sz="1100" b="0" dirty="0">
                <a:solidFill>
                  <a:schemeClr val="tx1"/>
                </a:solidFill>
                <a:latin typeface="+mj-ea"/>
                <a:ea typeface="+mj-ea"/>
              </a:rPr>
              <a:t>(</a:t>
            </a:r>
            <a:r>
              <a:rPr lang="ko-KR" altLang="en-US" sz="1100" b="0" dirty="0">
                <a:solidFill>
                  <a:schemeClr val="tx1"/>
                </a:solidFill>
                <a:latin typeface="+mj-ea"/>
                <a:ea typeface="+mj-ea"/>
              </a:rPr>
              <a:t>보정</a:t>
            </a:r>
            <a:r>
              <a:rPr lang="en-US" altLang="ko-KR" sz="1100" b="0" dirty="0">
                <a:solidFill>
                  <a:schemeClr val="tx1"/>
                </a:solidFill>
                <a:latin typeface="+mj-ea"/>
                <a:ea typeface="+mj-ea"/>
              </a:rPr>
              <a:t>)</a:t>
            </a:r>
            <a:endParaRPr lang="ko-KR" altLang="en-US" sz="1100" b="0" dirty="0">
              <a:solidFill>
                <a:schemeClr val="tx1"/>
              </a:solidFill>
              <a:latin typeface="+mj-ea"/>
              <a:ea typeface="+mj-ea"/>
            </a:endParaRPr>
          </a:p>
        </p:txBody>
      </p:sp>
      <p:sp>
        <p:nvSpPr>
          <p:cNvPr id="119" name="AutoShape 11">
            <a:extLst>
              <a:ext uri="{FF2B5EF4-FFF2-40B4-BE49-F238E27FC236}">
                <a16:creationId xmlns:a16="http://schemas.microsoft.com/office/drawing/2014/main" id="{23C30C20-5C21-4459-B228-5DDA7D101BA1}"/>
              </a:ext>
            </a:extLst>
          </p:cNvPr>
          <p:cNvSpPr>
            <a:spLocks noChangeArrowheads="1"/>
          </p:cNvSpPr>
          <p:nvPr/>
        </p:nvSpPr>
        <p:spPr bwMode="auto">
          <a:xfrm>
            <a:off x="6900496" y="3271417"/>
            <a:ext cx="1133478" cy="471808"/>
          </a:xfrm>
          <a:prstGeom prst="flowChartDecision">
            <a:avLst/>
          </a:prstGeom>
          <a:solidFill>
            <a:schemeClr val="accent5">
              <a:lumMod val="75000"/>
            </a:schemeClr>
          </a:solidFill>
          <a:ln>
            <a:solidFill>
              <a:schemeClr val="bg1">
                <a:lumMod val="50000"/>
              </a:schemeClr>
            </a:solidFill>
            <a:headEnd/>
            <a:tailEnd/>
          </a:ln>
          <a:effectLst/>
        </p:spPr>
        <p:style>
          <a:lnRef idx="1">
            <a:schemeClr val="accent5"/>
          </a:lnRef>
          <a:fillRef idx="3">
            <a:schemeClr val="accent5"/>
          </a:fillRef>
          <a:effectRef idx="2">
            <a:schemeClr val="accent5"/>
          </a:effectRef>
          <a:fontRef idx="minor">
            <a:schemeClr val="lt1"/>
          </a:fontRef>
        </p:style>
        <p:txBody>
          <a:bodyPr wrap="none" anchor="ctr"/>
          <a:lstStyle/>
          <a:p>
            <a:pPr algn="ctr">
              <a:defRPr/>
            </a:pPr>
            <a:r>
              <a:rPr lang="ko-KR" altLang="en-US" sz="1100" b="0" dirty="0">
                <a:solidFill>
                  <a:schemeClr val="bg1"/>
                </a:solidFill>
                <a:latin typeface="+mj-ea"/>
                <a:ea typeface="+mj-ea"/>
              </a:rPr>
              <a:t>실체심사</a:t>
            </a:r>
          </a:p>
        </p:txBody>
      </p:sp>
      <p:sp>
        <p:nvSpPr>
          <p:cNvPr id="121" name="Rectangle 5">
            <a:extLst>
              <a:ext uri="{FF2B5EF4-FFF2-40B4-BE49-F238E27FC236}">
                <a16:creationId xmlns:a16="http://schemas.microsoft.com/office/drawing/2014/main" id="{6FF1FD76-FF5E-44CC-9685-83B37CFC65DB}"/>
              </a:ext>
            </a:extLst>
          </p:cNvPr>
          <p:cNvSpPr>
            <a:spLocks noChangeArrowheads="1"/>
          </p:cNvSpPr>
          <p:nvPr/>
        </p:nvSpPr>
        <p:spPr bwMode="auto">
          <a:xfrm>
            <a:off x="6900496" y="4059619"/>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거절결정</a:t>
            </a:r>
          </a:p>
        </p:txBody>
      </p:sp>
      <p:sp>
        <p:nvSpPr>
          <p:cNvPr id="124" name="Rectangle 5">
            <a:extLst>
              <a:ext uri="{FF2B5EF4-FFF2-40B4-BE49-F238E27FC236}">
                <a16:creationId xmlns:a16="http://schemas.microsoft.com/office/drawing/2014/main" id="{10101FDD-F994-4B3C-A656-53069C6626D8}"/>
              </a:ext>
            </a:extLst>
          </p:cNvPr>
          <p:cNvSpPr>
            <a:spLocks noChangeArrowheads="1"/>
          </p:cNvSpPr>
          <p:nvPr/>
        </p:nvSpPr>
        <p:spPr bwMode="auto">
          <a:xfrm>
            <a:off x="8795971" y="2052308"/>
            <a:ext cx="1281479" cy="348102"/>
          </a:xfrm>
          <a:prstGeom prst="rect">
            <a:avLst/>
          </a:prstGeom>
          <a:solidFill>
            <a:schemeClr val="accent2"/>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거절결정불복심판청구</a:t>
            </a:r>
            <a:endParaRPr lang="en-US" altLang="ko-KR" sz="1100" b="0" dirty="0">
              <a:solidFill>
                <a:schemeClr val="tx1"/>
              </a:solidFill>
              <a:latin typeface="+mj-ea"/>
              <a:ea typeface="+mj-ea"/>
            </a:endParaRPr>
          </a:p>
          <a:p>
            <a:pPr algn="ctr"/>
            <a:r>
              <a:rPr lang="en-US" altLang="ko-KR" sz="900" dirty="0">
                <a:latin typeface="+mj-ea"/>
                <a:ea typeface="+mj-ea"/>
              </a:rPr>
              <a:t>(</a:t>
            </a:r>
            <a:r>
              <a:rPr lang="ko-KR" altLang="en-US" sz="900" dirty="0">
                <a:latin typeface="+mj-ea"/>
                <a:ea typeface="+mj-ea"/>
              </a:rPr>
              <a:t>특허심판원</a:t>
            </a:r>
            <a:r>
              <a:rPr lang="en-US" altLang="ko-KR" sz="900" dirty="0">
                <a:latin typeface="+mj-ea"/>
                <a:ea typeface="+mj-ea"/>
              </a:rPr>
              <a:t>)</a:t>
            </a:r>
            <a:endParaRPr lang="en-US" altLang="ko-KR" sz="900" b="0" dirty="0">
              <a:solidFill>
                <a:schemeClr val="tx1"/>
              </a:solidFill>
              <a:latin typeface="+mj-ea"/>
              <a:ea typeface="+mj-ea"/>
            </a:endParaRPr>
          </a:p>
        </p:txBody>
      </p:sp>
      <p:sp>
        <p:nvSpPr>
          <p:cNvPr id="125" name="Rectangle 5">
            <a:extLst>
              <a:ext uri="{FF2B5EF4-FFF2-40B4-BE49-F238E27FC236}">
                <a16:creationId xmlns:a16="http://schemas.microsoft.com/office/drawing/2014/main" id="{5C2B1491-17CF-418E-9BE2-772126FB59A5}"/>
              </a:ext>
            </a:extLst>
          </p:cNvPr>
          <p:cNvSpPr>
            <a:spLocks noChangeArrowheads="1"/>
          </p:cNvSpPr>
          <p:nvPr/>
        </p:nvSpPr>
        <p:spPr bwMode="auto">
          <a:xfrm>
            <a:off x="10467551" y="2247258"/>
            <a:ext cx="800524"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err="1">
                <a:latin typeface="+mj-ea"/>
                <a:ea typeface="+mj-ea"/>
              </a:rPr>
              <a:t>인용심결</a:t>
            </a:r>
            <a:endParaRPr lang="en-US" altLang="ko-KR" sz="1100" dirty="0">
              <a:latin typeface="+mj-ea"/>
              <a:ea typeface="+mj-ea"/>
            </a:endParaRPr>
          </a:p>
          <a:p>
            <a:pPr algn="ctr"/>
            <a:r>
              <a:rPr lang="en-US" altLang="ko-KR" sz="900" dirty="0">
                <a:latin typeface="+mj-ea"/>
                <a:ea typeface="+mj-ea"/>
              </a:rPr>
              <a:t>(</a:t>
            </a:r>
            <a:r>
              <a:rPr lang="ko-KR" altLang="en-US" sz="900" dirty="0">
                <a:latin typeface="+mj-ea"/>
                <a:ea typeface="+mj-ea"/>
              </a:rPr>
              <a:t>거절결정취소</a:t>
            </a:r>
            <a:r>
              <a:rPr lang="en-US" altLang="ko-KR" sz="900" dirty="0">
                <a:latin typeface="+mj-ea"/>
                <a:ea typeface="+mj-ea"/>
              </a:rPr>
              <a:t>)</a:t>
            </a:r>
            <a:endParaRPr lang="ko-KR" altLang="en-US" sz="900" dirty="0">
              <a:latin typeface="+mj-ea"/>
              <a:ea typeface="+mj-ea"/>
            </a:endParaRPr>
          </a:p>
        </p:txBody>
      </p:sp>
      <p:sp>
        <p:nvSpPr>
          <p:cNvPr id="127" name="Rectangle 5">
            <a:extLst>
              <a:ext uri="{FF2B5EF4-FFF2-40B4-BE49-F238E27FC236}">
                <a16:creationId xmlns:a16="http://schemas.microsoft.com/office/drawing/2014/main" id="{AEFEB5BD-1927-4261-BB1D-2359948EE591}"/>
              </a:ext>
            </a:extLst>
          </p:cNvPr>
          <p:cNvSpPr>
            <a:spLocks noChangeArrowheads="1"/>
          </p:cNvSpPr>
          <p:nvPr/>
        </p:nvSpPr>
        <p:spPr bwMode="auto">
          <a:xfrm>
            <a:off x="10467551" y="1820131"/>
            <a:ext cx="800524"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err="1">
                <a:latin typeface="+mj-ea"/>
                <a:ea typeface="+mj-ea"/>
              </a:rPr>
              <a:t>기각</a:t>
            </a:r>
            <a:r>
              <a:rPr lang="ko-KR" altLang="en-US" sz="1100" b="0" dirty="0" err="1">
                <a:solidFill>
                  <a:schemeClr val="tx1"/>
                </a:solidFill>
                <a:latin typeface="+mj-ea"/>
                <a:ea typeface="+mj-ea"/>
              </a:rPr>
              <a:t>심결</a:t>
            </a:r>
            <a:endParaRPr lang="ko-KR" altLang="en-US" sz="1100" b="0" dirty="0">
              <a:solidFill>
                <a:schemeClr val="tx1"/>
              </a:solidFill>
              <a:latin typeface="+mj-ea"/>
              <a:ea typeface="+mj-ea"/>
            </a:endParaRPr>
          </a:p>
        </p:txBody>
      </p:sp>
      <p:sp>
        <p:nvSpPr>
          <p:cNvPr id="128" name="Rectangle 5">
            <a:extLst>
              <a:ext uri="{FF2B5EF4-FFF2-40B4-BE49-F238E27FC236}">
                <a16:creationId xmlns:a16="http://schemas.microsoft.com/office/drawing/2014/main" id="{059FA2E6-857D-445A-8C58-0EA116A7B558}"/>
              </a:ext>
            </a:extLst>
          </p:cNvPr>
          <p:cNvSpPr>
            <a:spLocks noChangeArrowheads="1"/>
          </p:cNvSpPr>
          <p:nvPr/>
        </p:nvSpPr>
        <p:spPr bwMode="auto">
          <a:xfrm>
            <a:off x="9977071" y="4045073"/>
            <a:ext cx="1281479" cy="348102"/>
          </a:xfrm>
          <a:prstGeom prst="rect">
            <a:avLst/>
          </a:prstGeom>
          <a:solidFill>
            <a:schemeClr val="bg1"/>
          </a:solidFill>
          <a:ln w="57150" algn="ctr">
            <a:solidFill>
              <a:srgbClr val="5F5F5F"/>
            </a:solidFill>
            <a:miter lim="800000"/>
            <a:headEnd/>
            <a:tailEnd/>
          </a:ln>
        </p:spPr>
        <p:txBody>
          <a:bodyPr wrap="none" anchor="ctr"/>
          <a:lstStyle/>
          <a:p>
            <a:pPr algn="ctr"/>
            <a:r>
              <a:rPr lang="ko-KR" altLang="en-US" sz="1100" dirty="0">
                <a:latin typeface="+mj-ea"/>
                <a:ea typeface="+mj-ea"/>
              </a:rPr>
              <a:t>소제기</a:t>
            </a:r>
            <a:endParaRPr lang="en-US" altLang="ko-KR" sz="1100" dirty="0">
              <a:latin typeface="+mj-ea"/>
              <a:ea typeface="+mj-ea"/>
            </a:endParaRPr>
          </a:p>
          <a:p>
            <a:pPr algn="ctr"/>
            <a:r>
              <a:rPr lang="en-US" altLang="ko-KR" sz="900" dirty="0">
                <a:latin typeface="+mj-ea"/>
                <a:ea typeface="+mj-ea"/>
              </a:rPr>
              <a:t>(</a:t>
            </a:r>
            <a:r>
              <a:rPr lang="ko-KR" altLang="en-US" sz="900" dirty="0">
                <a:latin typeface="+mj-ea"/>
                <a:ea typeface="+mj-ea"/>
              </a:rPr>
              <a:t>특허법원</a:t>
            </a:r>
            <a:r>
              <a:rPr lang="en-US" altLang="ko-KR" sz="900" dirty="0">
                <a:latin typeface="+mj-ea"/>
                <a:ea typeface="+mj-ea"/>
              </a:rPr>
              <a:t>)</a:t>
            </a:r>
            <a:endParaRPr lang="en-US" altLang="ko-KR" sz="900" b="0" dirty="0">
              <a:solidFill>
                <a:schemeClr val="tx1"/>
              </a:solidFill>
              <a:latin typeface="+mj-ea"/>
              <a:ea typeface="+mj-ea"/>
            </a:endParaRPr>
          </a:p>
        </p:txBody>
      </p:sp>
      <p:sp>
        <p:nvSpPr>
          <p:cNvPr id="129" name="Rectangle 5">
            <a:extLst>
              <a:ext uri="{FF2B5EF4-FFF2-40B4-BE49-F238E27FC236}">
                <a16:creationId xmlns:a16="http://schemas.microsoft.com/office/drawing/2014/main" id="{2D8B77A1-12D5-44EB-839F-002B85ECFDF7}"/>
              </a:ext>
            </a:extLst>
          </p:cNvPr>
          <p:cNvSpPr>
            <a:spLocks noChangeArrowheads="1"/>
          </p:cNvSpPr>
          <p:nvPr/>
        </p:nvSpPr>
        <p:spPr bwMode="auto">
          <a:xfrm>
            <a:off x="9977071" y="4846989"/>
            <a:ext cx="1281479" cy="348102"/>
          </a:xfrm>
          <a:prstGeom prst="rect">
            <a:avLst/>
          </a:prstGeom>
          <a:solidFill>
            <a:schemeClr val="bg1"/>
          </a:solidFill>
          <a:ln w="57150" algn="ctr">
            <a:solidFill>
              <a:srgbClr val="5F5F5F"/>
            </a:solidFill>
            <a:miter lim="800000"/>
            <a:headEnd/>
            <a:tailEnd/>
          </a:ln>
        </p:spPr>
        <p:txBody>
          <a:bodyPr wrap="none" anchor="ctr"/>
          <a:lstStyle/>
          <a:p>
            <a:pPr algn="ctr"/>
            <a:r>
              <a:rPr lang="ko-KR" altLang="en-US" sz="1100" dirty="0">
                <a:latin typeface="+mj-ea"/>
                <a:ea typeface="+mj-ea"/>
              </a:rPr>
              <a:t>상고</a:t>
            </a:r>
            <a:endParaRPr lang="en-US" altLang="ko-KR" sz="1100" dirty="0">
              <a:latin typeface="+mj-ea"/>
              <a:ea typeface="+mj-ea"/>
            </a:endParaRPr>
          </a:p>
          <a:p>
            <a:pPr algn="ctr"/>
            <a:r>
              <a:rPr lang="en-US" altLang="ko-KR" sz="900" dirty="0">
                <a:latin typeface="+mj-ea"/>
                <a:ea typeface="+mj-ea"/>
              </a:rPr>
              <a:t>(</a:t>
            </a:r>
            <a:r>
              <a:rPr lang="ko-KR" altLang="en-US" sz="900" dirty="0">
                <a:latin typeface="+mj-ea"/>
                <a:ea typeface="+mj-ea"/>
              </a:rPr>
              <a:t>대법원</a:t>
            </a:r>
            <a:r>
              <a:rPr lang="en-US" altLang="ko-KR" sz="900" dirty="0">
                <a:latin typeface="+mj-ea"/>
                <a:ea typeface="+mj-ea"/>
              </a:rPr>
              <a:t>)</a:t>
            </a:r>
            <a:endParaRPr lang="en-US" altLang="ko-KR" sz="900" b="0" dirty="0">
              <a:solidFill>
                <a:schemeClr val="tx1"/>
              </a:solidFill>
              <a:latin typeface="+mj-ea"/>
              <a:ea typeface="+mj-ea"/>
            </a:endParaRPr>
          </a:p>
        </p:txBody>
      </p:sp>
      <p:sp>
        <p:nvSpPr>
          <p:cNvPr id="134" name="Rectangle 5">
            <a:extLst>
              <a:ext uri="{FF2B5EF4-FFF2-40B4-BE49-F238E27FC236}">
                <a16:creationId xmlns:a16="http://schemas.microsoft.com/office/drawing/2014/main" id="{6B9EE4C4-68CA-46EB-88CE-6165AA5C5A3C}"/>
              </a:ext>
            </a:extLst>
          </p:cNvPr>
          <p:cNvSpPr>
            <a:spLocks noChangeArrowheads="1"/>
          </p:cNvSpPr>
          <p:nvPr/>
        </p:nvSpPr>
        <p:spPr bwMode="auto">
          <a:xfrm>
            <a:off x="6624271" y="5144533"/>
            <a:ext cx="1281479" cy="348102"/>
          </a:xfrm>
          <a:prstGeom prst="rect">
            <a:avLst/>
          </a:prstGeom>
          <a:solidFill>
            <a:schemeClr val="accent4"/>
          </a:solidFill>
          <a:ln w="9525" algn="ctr">
            <a:solidFill>
              <a:srgbClr val="5F5F5F"/>
            </a:solidFill>
            <a:miter lim="800000"/>
            <a:headEnd/>
            <a:tailEnd/>
          </a:ln>
        </p:spPr>
        <p:txBody>
          <a:bodyPr wrap="none" anchor="ctr"/>
          <a:lstStyle/>
          <a:p>
            <a:pPr algn="ctr"/>
            <a:r>
              <a:rPr lang="ko-KR" altLang="en-US" sz="1100" dirty="0">
                <a:latin typeface="+mj-ea"/>
                <a:ea typeface="+mj-ea"/>
              </a:rPr>
              <a:t>특허취소신청</a:t>
            </a:r>
            <a:endParaRPr lang="en-US" altLang="ko-KR" sz="1100" dirty="0">
              <a:latin typeface="+mj-ea"/>
              <a:ea typeface="+mj-ea"/>
            </a:endParaRPr>
          </a:p>
          <a:p>
            <a:pPr algn="ctr"/>
            <a:r>
              <a:rPr lang="en-US" altLang="ko-KR" sz="900" dirty="0">
                <a:latin typeface="+mj-ea"/>
                <a:ea typeface="+mj-ea"/>
              </a:rPr>
              <a:t>(</a:t>
            </a:r>
            <a:r>
              <a:rPr lang="ko-KR" altLang="en-US" sz="900" dirty="0">
                <a:latin typeface="+mj-ea"/>
                <a:ea typeface="+mj-ea"/>
              </a:rPr>
              <a:t>특허심판원</a:t>
            </a:r>
            <a:r>
              <a:rPr lang="en-US" altLang="ko-KR" sz="900" dirty="0">
                <a:latin typeface="+mj-ea"/>
                <a:ea typeface="+mj-ea"/>
              </a:rPr>
              <a:t>)</a:t>
            </a:r>
            <a:endParaRPr lang="en-US" altLang="ko-KR" sz="900" b="0" dirty="0">
              <a:solidFill>
                <a:schemeClr val="tx1"/>
              </a:solidFill>
              <a:latin typeface="+mj-ea"/>
              <a:ea typeface="+mj-ea"/>
            </a:endParaRPr>
          </a:p>
        </p:txBody>
      </p:sp>
      <p:sp>
        <p:nvSpPr>
          <p:cNvPr id="135" name="Rectangle 5">
            <a:extLst>
              <a:ext uri="{FF2B5EF4-FFF2-40B4-BE49-F238E27FC236}">
                <a16:creationId xmlns:a16="http://schemas.microsoft.com/office/drawing/2014/main" id="{DDA09E28-5665-42DD-8AED-EB00736D4888}"/>
              </a:ext>
            </a:extLst>
          </p:cNvPr>
          <p:cNvSpPr>
            <a:spLocks noChangeArrowheads="1"/>
          </p:cNvSpPr>
          <p:nvPr/>
        </p:nvSpPr>
        <p:spPr bwMode="auto">
          <a:xfrm>
            <a:off x="8252622" y="4947402"/>
            <a:ext cx="800524"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a:latin typeface="+mj-ea"/>
                <a:ea typeface="+mj-ea"/>
              </a:rPr>
              <a:t>취소</a:t>
            </a:r>
            <a:r>
              <a:rPr lang="ko-KR" altLang="en-US" sz="1100" b="0" dirty="0">
                <a:solidFill>
                  <a:schemeClr val="tx1"/>
                </a:solidFill>
                <a:latin typeface="+mj-ea"/>
                <a:ea typeface="+mj-ea"/>
              </a:rPr>
              <a:t>결정</a:t>
            </a:r>
          </a:p>
        </p:txBody>
      </p:sp>
      <p:sp>
        <p:nvSpPr>
          <p:cNvPr id="137" name="Rectangle 5">
            <a:extLst>
              <a:ext uri="{FF2B5EF4-FFF2-40B4-BE49-F238E27FC236}">
                <a16:creationId xmlns:a16="http://schemas.microsoft.com/office/drawing/2014/main" id="{3C984F43-730F-4A17-B3E7-4AB553A4D3FE}"/>
              </a:ext>
            </a:extLst>
          </p:cNvPr>
          <p:cNvSpPr>
            <a:spLocks noChangeArrowheads="1"/>
          </p:cNvSpPr>
          <p:nvPr/>
        </p:nvSpPr>
        <p:spPr bwMode="auto">
          <a:xfrm>
            <a:off x="8252622" y="5341857"/>
            <a:ext cx="800524"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a:latin typeface="+mj-ea"/>
                <a:ea typeface="+mj-ea"/>
              </a:rPr>
              <a:t>기각</a:t>
            </a:r>
            <a:r>
              <a:rPr lang="ko-KR" altLang="en-US" sz="1100" b="0" dirty="0">
                <a:solidFill>
                  <a:schemeClr val="tx1"/>
                </a:solidFill>
                <a:latin typeface="+mj-ea"/>
                <a:ea typeface="+mj-ea"/>
              </a:rPr>
              <a:t>결정</a:t>
            </a:r>
            <a:endParaRPr lang="en-US" altLang="ko-KR" sz="1100" b="0" dirty="0">
              <a:solidFill>
                <a:schemeClr val="tx1"/>
              </a:solidFill>
              <a:latin typeface="+mj-ea"/>
              <a:ea typeface="+mj-ea"/>
            </a:endParaRPr>
          </a:p>
        </p:txBody>
      </p:sp>
      <p:sp>
        <p:nvSpPr>
          <p:cNvPr id="138" name="Rectangle 5">
            <a:extLst>
              <a:ext uri="{FF2B5EF4-FFF2-40B4-BE49-F238E27FC236}">
                <a16:creationId xmlns:a16="http://schemas.microsoft.com/office/drawing/2014/main" id="{A19BC395-BF06-4866-8341-618835963EF5}"/>
              </a:ext>
            </a:extLst>
          </p:cNvPr>
          <p:cNvSpPr>
            <a:spLocks noChangeArrowheads="1"/>
          </p:cNvSpPr>
          <p:nvPr/>
        </p:nvSpPr>
        <p:spPr bwMode="auto">
          <a:xfrm>
            <a:off x="6624271" y="5983939"/>
            <a:ext cx="1281479" cy="348102"/>
          </a:xfrm>
          <a:prstGeom prst="rect">
            <a:avLst/>
          </a:prstGeom>
          <a:solidFill>
            <a:schemeClr val="accent4"/>
          </a:solidFill>
          <a:ln w="9525" algn="ctr">
            <a:solidFill>
              <a:srgbClr val="5F5F5F"/>
            </a:solidFill>
            <a:miter lim="800000"/>
            <a:headEnd/>
            <a:tailEnd/>
          </a:ln>
        </p:spPr>
        <p:txBody>
          <a:bodyPr wrap="none" anchor="ctr"/>
          <a:lstStyle/>
          <a:p>
            <a:pPr algn="ctr"/>
            <a:r>
              <a:rPr lang="ko-KR" altLang="en-US" sz="1100" dirty="0">
                <a:latin typeface="+mj-ea"/>
                <a:ea typeface="+mj-ea"/>
              </a:rPr>
              <a:t>특허무효심판청구</a:t>
            </a:r>
            <a:endParaRPr lang="en-US" altLang="ko-KR" sz="1100" dirty="0">
              <a:latin typeface="+mj-ea"/>
              <a:ea typeface="+mj-ea"/>
            </a:endParaRPr>
          </a:p>
          <a:p>
            <a:pPr algn="ctr"/>
            <a:r>
              <a:rPr lang="en-US" altLang="ko-KR" sz="900" dirty="0">
                <a:latin typeface="+mj-ea"/>
                <a:ea typeface="+mj-ea"/>
              </a:rPr>
              <a:t>(</a:t>
            </a:r>
            <a:r>
              <a:rPr lang="ko-KR" altLang="en-US" sz="900" dirty="0">
                <a:latin typeface="+mj-ea"/>
                <a:ea typeface="+mj-ea"/>
              </a:rPr>
              <a:t>특허심판원</a:t>
            </a:r>
            <a:r>
              <a:rPr lang="en-US" altLang="ko-KR" sz="900" dirty="0">
                <a:latin typeface="+mj-ea"/>
                <a:ea typeface="+mj-ea"/>
              </a:rPr>
              <a:t>)</a:t>
            </a:r>
            <a:endParaRPr lang="en-US" altLang="ko-KR" sz="900" b="0" dirty="0">
              <a:solidFill>
                <a:schemeClr val="tx1"/>
              </a:solidFill>
              <a:latin typeface="+mj-ea"/>
              <a:ea typeface="+mj-ea"/>
            </a:endParaRPr>
          </a:p>
        </p:txBody>
      </p:sp>
      <p:sp>
        <p:nvSpPr>
          <p:cNvPr id="140" name="Rectangle 5">
            <a:extLst>
              <a:ext uri="{FF2B5EF4-FFF2-40B4-BE49-F238E27FC236}">
                <a16:creationId xmlns:a16="http://schemas.microsoft.com/office/drawing/2014/main" id="{0B7887A2-AD0E-4B8F-A764-106F93C9BF01}"/>
              </a:ext>
            </a:extLst>
          </p:cNvPr>
          <p:cNvSpPr>
            <a:spLocks noChangeArrowheads="1"/>
          </p:cNvSpPr>
          <p:nvPr/>
        </p:nvSpPr>
        <p:spPr bwMode="auto">
          <a:xfrm>
            <a:off x="8252622" y="5786808"/>
            <a:ext cx="800524"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err="1">
                <a:latin typeface="+mj-ea"/>
                <a:ea typeface="+mj-ea"/>
              </a:rPr>
              <a:t>인용</a:t>
            </a:r>
            <a:r>
              <a:rPr lang="ko-KR" altLang="en-US" sz="1100" b="0" dirty="0" err="1">
                <a:solidFill>
                  <a:schemeClr val="tx1"/>
                </a:solidFill>
                <a:latin typeface="+mj-ea"/>
                <a:ea typeface="+mj-ea"/>
              </a:rPr>
              <a:t>심결</a:t>
            </a:r>
            <a:endParaRPr lang="ko-KR" altLang="en-US" sz="1100" b="0" dirty="0">
              <a:solidFill>
                <a:schemeClr val="tx1"/>
              </a:solidFill>
              <a:latin typeface="+mj-ea"/>
              <a:ea typeface="+mj-ea"/>
            </a:endParaRPr>
          </a:p>
        </p:txBody>
      </p:sp>
      <p:sp>
        <p:nvSpPr>
          <p:cNvPr id="141" name="Rectangle 5">
            <a:extLst>
              <a:ext uri="{FF2B5EF4-FFF2-40B4-BE49-F238E27FC236}">
                <a16:creationId xmlns:a16="http://schemas.microsoft.com/office/drawing/2014/main" id="{D99CDB0E-6C6F-4F62-9915-17E97959FC54}"/>
              </a:ext>
            </a:extLst>
          </p:cNvPr>
          <p:cNvSpPr>
            <a:spLocks noChangeArrowheads="1"/>
          </p:cNvSpPr>
          <p:nvPr/>
        </p:nvSpPr>
        <p:spPr bwMode="auto">
          <a:xfrm>
            <a:off x="8252622" y="6181263"/>
            <a:ext cx="800524"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err="1">
                <a:solidFill>
                  <a:schemeClr val="tx1"/>
                </a:solidFill>
                <a:latin typeface="+mj-ea"/>
                <a:ea typeface="+mj-ea"/>
              </a:rPr>
              <a:t>기각심결</a:t>
            </a:r>
            <a:endParaRPr lang="en-US" altLang="ko-KR" sz="1100" b="0" dirty="0">
              <a:solidFill>
                <a:schemeClr val="tx1"/>
              </a:solidFill>
              <a:latin typeface="+mj-ea"/>
              <a:ea typeface="+mj-ea"/>
            </a:endParaRPr>
          </a:p>
        </p:txBody>
      </p:sp>
      <p:sp>
        <p:nvSpPr>
          <p:cNvPr id="143" name="Rectangle 5">
            <a:extLst>
              <a:ext uri="{FF2B5EF4-FFF2-40B4-BE49-F238E27FC236}">
                <a16:creationId xmlns:a16="http://schemas.microsoft.com/office/drawing/2014/main" id="{EBC6AD86-7A38-4F3D-A26B-089914665790}"/>
              </a:ext>
            </a:extLst>
          </p:cNvPr>
          <p:cNvSpPr>
            <a:spLocks noChangeArrowheads="1"/>
          </p:cNvSpPr>
          <p:nvPr/>
        </p:nvSpPr>
        <p:spPr bwMode="auto">
          <a:xfrm>
            <a:off x="2723784" y="3198619"/>
            <a:ext cx="1133475"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거절이유 있음</a:t>
            </a:r>
          </a:p>
        </p:txBody>
      </p:sp>
      <p:sp>
        <p:nvSpPr>
          <p:cNvPr id="144" name="Rectangle 5">
            <a:extLst>
              <a:ext uri="{FF2B5EF4-FFF2-40B4-BE49-F238E27FC236}">
                <a16:creationId xmlns:a16="http://schemas.microsoft.com/office/drawing/2014/main" id="{4328EAD1-C617-4F66-AA97-D02F6E86A41A}"/>
              </a:ext>
            </a:extLst>
          </p:cNvPr>
          <p:cNvSpPr>
            <a:spLocks noChangeArrowheads="1"/>
          </p:cNvSpPr>
          <p:nvPr/>
        </p:nvSpPr>
        <p:spPr bwMode="auto">
          <a:xfrm>
            <a:off x="2491099" y="3582818"/>
            <a:ext cx="1133475"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거절이유 없음</a:t>
            </a:r>
          </a:p>
        </p:txBody>
      </p:sp>
      <p:sp>
        <p:nvSpPr>
          <p:cNvPr id="145" name="Rectangle 5">
            <a:extLst>
              <a:ext uri="{FF2B5EF4-FFF2-40B4-BE49-F238E27FC236}">
                <a16:creationId xmlns:a16="http://schemas.microsoft.com/office/drawing/2014/main" id="{CACE614A-EBE9-4143-AF25-DA8625531E16}"/>
              </a:ext>
            </a:extLst>
          </p:cNvPr>
          <p:cNvSpPr>
            <a:spLocks noChangeArrowheads="1"/>
          </p:cNvSpPr>
          <p:nvPr/>
        </p:nvSpPr>
        <p:spPr bwMode="auto">
          <a:xfrm>
            <a:off x="3057836" y="4034218"/>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직권재심사</a:t>
            </a:r>
          </a:p>
        </p:txBody>
      </p:sp>
      <p:cxnSp>
        <p:nvCxnSpPr>
          <p:cNvPr id="146" name="꺾인 연결선 57">
            <a:extLst>
              <a:ext uri="{FF2B5EF4-FFF2-40B4-BE49-F238E27FC236}">
                <a16:creationId xmlns:a16="http://schemas.microsoft.com/office/drawing/2014/main" id="{38DE766F-41C1-4202-9608-4C0657AB43FB}"/>
              </a:ext>
            </a:extLst>
          </p:cNvPr>
          <p:cNvCxnSpPr>
            <a:stCxn id="94" idx="2"/>
            <a:endCxn id="145" idx="3"/>
          </p:cNvCxnSpPr>
          <p:nvPr/>
        </p:nvCxnSpPr>
        <p:spPr>
          <a:xfrm rot="5400000">
            <a:off x="4712563" y="3510998"/>
            <a:ext cx="176020" cy="1218523"/>
          </a:xfrm>
          <a:prstGeom prst="bentConnector2">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9" name="꺾인 연결선 58">
            <a:extLst>
              <a:ext uri="{FF2B5EF4-FFF2-40B4-BE49-F238E27FC236}">
                <a16:creationId xmlns:a16="http://schemas.microsoft.com/office/drawing/2014/main" id="{5F717704-C719-405E-A606-2C2FEF6C4671}"/>
              </a:ext>
            </a:extLst>
          </p:cNvPr>
          <p:cNvCxnSpPr>
            <a:stCxn id="145" idx="1"/>
            <a:endCxn id="85" idx="1"/>
          </p:cNvCxnSpPr>
          <p:nvPr/>
        </p:nvCxnSpPr>
        <p:spPr>
          <a:xfrm rot="10800000">
            <a:off x="1805664" y="3476787"/>
            <a:ext cx="1252172" cy="731482"/>
          </a:xfrm>
          <a:prstGeom prst="bentConnector3">
            <a:avLst>
              <a:gd name="adj1" fmla="val 118256"/>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0" name="Rectangle 5">
            <a:extLst>
              <a:ext uri="{FF2B5EF4-FFF2-40B4-BE49-F238E27FC236}">
                <a16:creationId xmlns:a16="http://schemas.microsoft.com/office/drawing/2014/main" id="{C88476E5-0273-4736-B7DE-E97B50FF7AFD}"/>
              </a:ext>
            </a:extLst>
          </p:cNvPr>
          <p:cNvSpPr>
            <a:spLocks noChangeArrowheads="1"/>
          </p:cNvSpPr>
          <p:nvPr/>
        </p:nvSpPr>
        <p:spPr bwMode="auto">
          <a:xfrm>
            <a:off x="5243825" y="3246116"/>
            <a:ext cx="1004576"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거절이유 </a:t>
            </a:r>
            <a:endParaRPr lang="en-US" altLang="ko-KR" sz="1050" b="0" dirty="0">
              <a:solidFill>
                <a:schemeClr val="tx1"/>
              </a:solidFill>
              <a:latin typeface="+mj-ea"/>
              <a:ea typeface="+mj-ea"/>
            </a:endParaRPr>
          </a:p>
          <a:p>
            <a:pPr algn="ctr"/>
            <a:r>
              <a:rPr lang="ko-KR" altLang="en-US" sz="1050" b="0" dirty="0">
                <a:solidFill>
                  <a:schemeClr val="tx1"/>
                </a:solidFill>
                <a:latin typeface="+mj-ea"/>
                <a:ea typeface="+mj-ea"/>
              </a:rPr>
              <a:t>해소</a:t>
            </a:r>
          </a:p>
        </p:txBody>
      </p:sp>
      <p:cxnSp>
        <p:nvCxnSpPr>
          <p:cNvPr id="164" name="꺾인 연결선 60">
            <a:extLst>
              <a:ext uri="{FF2B5EF4-FFF2-40B4-BE49-F238E27FC236}">
                <a16:creationId xmlns:a16="http://schemas.microsoft.com/office/drawing/2014/main" id="{B0B193EF-A2F3-4E31-9440-714114FCDCA4}"/>
              </a:ext>
            </a:extLst>
          </p:cNvPr>
          <p:cNvCxnSpPr>
            <a:stCxn id="100" idx="3"/>
            <a:endCxn id="113" idx="0"/>
          </p:cNvCxnSpPr>
          <p:nvPr/>
        </p:nvCxnSpPr>
        <p:spPr>
          <a:xfrm flipV="1">
            <a:off x="5978145" y="1917460"/>
            <a:ext cx="1489089" cy="1121327"/>
          </a:xfrm>
          <a:prstGeom prst="bentConnector4">
            <a:avLst>
              <a:gd name="adj1" fmla="val 30970"/>
              <a:gd name="adj2" fmla="val 120387"/>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5" name="Rectangle 5">
            <a:extLst>
              <a:ext uri="{FF2B5EF4-FFF2-40B4-BE49-F238E27FC236}">
                <a16:creationId xmlns:a16="http://schemas.microsoft.com/office/drawing/2014/main" id="{9076B539-3685-401F-ADB0-F65DFDD47CE9}"/>
              </a:ext>
            </a:extLst>
          </p:cNvPr>
          <p:cNvSpPr>
            <a:spLocks noChangeArrowheads="1"/>
          </p:cNvSpPr>
          <p:nvPr/>
        </p:nvSpPr>
        <p:spPr bwMode="auto">
          <a:xfrm>
            <a:off x="5671716" y="2658734"/>
            <a:ext cx="1004576"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거절이유 </a:t>
            </a:r>
            <a:endParaRPr lang="en-US" altLang="ko-KR" sz="1050" b="0" dirty="0">
              <a:solidFill>
                <a:schemeClr val="tx1"/>
              </a:solidFill>
              <a:latin typeface="+mj-ea"/>
              <a:ea typeface="+mj-ea"/>
            </a:endParaRPr>
          </a:p>
          <a:p>
            <a:pPr algn="ctr"/>
            <a:r>
              <a:rPr lang="ko-KR" altLang="en-US" sz="1050" b="0" dirty="0" err="1">
                <a:solidFill>
                  <a:schemeClr val="tx1"/>
                </a:solidFill>
                <a:latin typeface="+mj-ea"/>
                <a:ea typeface="+mj-ea"/>
              </a:rPr>
              <a:t>미해소</a:t>
            </a:r>
            <a:endParaRPr lang="ko-KR" altLang="en-US" sz="1050" b="0" dirty="0">
              <a:solidFill>
                <a:schemeClr val="tx1"/>
              </a:solidFill>
              <a:latin typeface="+mj-ea"/>
              <a:ea typeface="+mj-ea"/>
            </a:endParaRPr>
          </a:p>
        </p:txBody>
      </p:sp>
      <p:cxnSp>
        <p:nvCxnSpPr>
          <p:cNvPr id="168" name="꺾인 연결선 62">
            <a:extLst>
              <a:ext uri="{FF2B5EF4-FFF2-40B4-BE49-F238E27FC236}">
                <a16:creationId xmlns:a16="http://schemas.microsoft.com/office/drawing/2014/main" id="{F4B51237-F7B7-45DC-BEFF-4A50B2A7627D}"/>
              </a:ext>
            </a:extLst>
          </p:cNvPr>
          <p:cNvCxnSpPr>
            <a:stCxn id="113" idx="3"/>
            <a:endCxn id="124" idx="0"/>
          </p:cNvCxnSpPr>
          <p:nvPr/>
        </p:nvCxnSpPr>
        <p:spPr>
          <a:xfrm flipV="1">
            <a:off x="8033971" y="2052308"/>
            <a:ext cx="1402740" cy="39203"/>
          </a:xfrm>
          <a:prstGeom prst="bentConnector4">
            <a:avLst>
              <a:gd name="adj1" fmla="val 27161"/>
              <a:gd name="adj2" fmla="val 1027092"/>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9" name="직선 화살표 연결선 168">
            <a:extLst>
              <a:ext uri="{FF2B5EF4-FFF2-40B4-BE49-F238E27FC236}">
                <a16:creationId xmlns:a16="http://schemas.microsoft.com/office/drawing/2014/main" id="{5DBD9267-F692-4ACA-BC24-8552532071B6}"/>
              </a:ext>
            </a:extLst>
          </p:cNvPr>
          <p:cNvCxnSpPr>
            <a:stCxn id="113" idx="2"/>
            <a:endCxn id="117" idx="0"/>
          </p:cNvCxnSpPr>
          <p:nvPr/>
        </p:nvCxnSpPr>
        <p:spPr>
          <a:xfrm>
            <a:off x="7467234" y="2265562"/>
            <a:ext cx="0" cy="336144"/>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0" name="직선 화살표 연결선 169">
            <a:extLst>
              <a:ext uri="{FF2B5EF4-FFF2-40B4-BE49-F238E27FC236}">
                <a16:creationId xmlns:a16="http://schemas.microsoft.com/office/drawing/2014/main" id="{44DFCEBB-AE3F-4AB7-AAC9-816ADCF18BBD}"/>
              </a:ext>
            </a:extLst>
          </p:cNvPr>
          <p:cNvCxnSpPr>
            <a:stCxn id="117" idx="2"/>
            <a:endCxn id="119" idx="0"/>
          </p:cNvCxnSpPr>
          <p:nvPr/>
        </p:nvCxnSpPr>
        <p:spPr>
          <a:xfrm>
            <a:off x="7467234" y="2949808"/>
            <a:ext cx="1" cy="321609"/>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2" name="직선 화살표 연결선 171">
            <a:extLst>
              <a:ext uri="{FF2B5EF4-FFF2-40B4-BE49-F238E27FC236}">
                <a16:creationId xmlns:a16="http://schemas.microsoft.com/office/drawing/2014/main" id="{9213C994-3992-46FA-9218-C57DC8988D85}"/>
              </a:ext>
            </a:extLst>
          </p:cNvPr>
          <p:cNvCxnSpPr>
            <a:stCxn id="119" idx="2"/>
            <a:endCxn id="121" idx="0"/>
          </p:cNvCxnSpPr>
          <p:nvPr/>
        </p:nvCxnSpPr>
        <p:spPr>
          <a:xfrm flipH="1">
            <a:off x="7467234" y="3743225"/>
            <a:ext cx="1" cy="316394"/>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3" name="꺾인 연결선 66">
            <a:extLst>
              <a:ext uri="{FF2B5EF4-FFF2-40B4-BE49-F238E27FC236}">
                <a16:creationId xmlns:a16="http://schemas.microsoft.com/office/drawing/2014/main" id="{80588D81-1B7D-493C-A2AE-08733DF7BA97}"/>
              </a:ext>
            </a:extLst>
          </p:cNvPr>
          <p:cNvCxnSpPr>
            <a:stCxn id="121" idx="3"/>
            <a:endCxn id="124" idx="1"/>
          </p:cNvCxnSpPr>
          <p:nvPr/>
        </p:nvCxnSpPr>
        <p:spPr>
          <a:xfrm flipV="1">
            <a:off x="8033971" y="2226359"/>
            <a:ext cx="762000" cy="2007311"/>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4" name="꺾인 연결선 67">
            <a:extLst>
              <a:ext uri="{FF2B5EF4-FFF2-40B4-BE49-F238E27FC236}">
                <a16:creationId xmlns:a16="http://schemas.microsoft.com/office/drawing/2014/main" id="{3D98E770-95DE-4EC8-BD7D-A81018ECC7BE}"/>
              </a:ext>
            </a:extLst>
          </p:cNvPr>
          <p:cNvCxnSpPr>
            <a:stCxn id="124" idx="3"/>
            <a:endCxn id="127" idx="1"/>
          </p:cNvCxnSpPr>
          <p:nvPr/>
        </p:nvCxnSpPr>
        <p:spPr>
          <a:xfrm flipV="1">
            <a:off x="10077450" y="1994182"/>
            <a:ext cx="390101" cy="232177"/>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6" name="꺾인 연결선 68">
            <a:extLst>
              <a:ext uri="{FF2B5EF4-FFF2-40B4-BE49-F238E27FC236}">
                <a16:creationId xmlns:a16="http://schemas.microsoft.com/office/drawing/2014/main" id="{95F66091-24AC-4515-B314-6F7BBDC27B65}"/>
              </a:ext>
            </a:extLst>
          </p:cNvPr>
          <p:cNvCxnSpPr>
            <a:stCxn id="124" idx="3"/>
            <a:endCxn id="125" idx="1"/>
          </p:cNvCxnSpPr>
          <p:nvPr/>
        </p:nvCxnSpPr>
        <p:spPr>
          <a:xfrm>
            <a:off x="10077450" y="2226359"/>
            <a:ext cx="390101" cy="194950"/>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7" name="꺾인 연결선 69">
            <a:extLst>
              <a:ext uri="{FF2B5EF4-FFF2-40B4-BE49-F238E27FC236}">
                <a16:creationId xmlns:a16="http://schemas.microsoft.com/office/drawing/2014/main" id="{55BE86B0-3EEA-4173-A1A0-1C5A6FFC2439}"/>
              </a:ext>
            </a:extLst>
          </p:cNvPr>
          <p:cNvCxnSpPr>
            <a:stCxn id="125" idx="3"/>
            <a:endCxn id="85" idx="1"/>
          </p:cNvCxnSpPr>
          <p:nvPr/>
        </p:nvCxnSpPr>
        <p:spPr>
          <a:xfrm flipH="1">
            <a:off x="1805664" y="2421309"/>
            <a:ext cx="9462411" cy="1055478"/>
          </a:xfrm>
          <a:prstGeom prst="bentConnector5">
            <a:avLst>
              <a:gd name="adj1" fmla="val -2416"/>
              <a:gd name="adj2" fmla="val 403532"/>
              <a:gd name="adj3" fmla="val 102416"/>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9" name="직선 화살표 연결선 178">
            <a:extLst>
              <a:ext uri="{FF2B5EF4-FFF2-40B4-BE49-F238E27FC236}">
                <a16:creationId xmlns:a16="http://schemas.microsoft.com/office/drawing/2014/main" id="{10C03F4E-148C-4882-8129-C048E9EAA574}"/>
              </a:ext>
            </a:extLst>
          </p:cNvPr>
          <p:cNvCxnSpPr>
            <a:stCxn id="128" idx="2"/>
            <a:endCxn id="129" idx="0"/>
          </p:cNvCxnSpPr>
          <p:nvPr/>
        </p:nvCxnSpPr>
        <p:spPr>
          <a:xfrm>
            <a:off x="10617811" y="4393175"/>
            <a:ext cx="0" cy="453814"/>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0" name="꺾인 연결선 71">
            <a:extLst>
              <a:ext uri="{FF2B5EF4-FFF2-40B4-BE49-F238E27FC236}">
                <a16:creationId xmlns:a16="http://schemas.microsoft.com/office/drawing/2014/main" id="{A7C3CCE4-44E0-41C5-9BC3-86E2B9BF556D}"/>
              </a:ext>
            </a:extLst>
          </p:cNvPr>
          <p:cNvCxnSpPr>
            <a:stCxn id="119" idx="1"/>
            <a:endCxn id="94" idx="3"/>
          </p:cNvCxnSpPr>
          <p:nvPr/>
        </p:nvCxnSpPr>
        <p:spPr>
          <a:xfrm rot="10800000" flipV="1">
            <a:off x="5976572" y="3507320"/>
            <a:ext cx="923925" cy="350877"/>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3" name="Rectangle 5">
            <a:extLst>
              <a:ext uri="{FF2B5EF4-FFF2-40B4-BE49-F238E27FC236}">
                <a16:creationId xmlns:a16="http://schemas.microsoft.com/office/drawing/2014/main" id="{968AD6F3-4EDE-40F7-824D-494E64DDDE48}"/>
              </a:ext>
            </a:extLst>
          </p:cNvPr>
          <p:cNvSpPr>
            <a:spLocks noChangeArrowheads="1"/>
          </p:cNvSpPr>
          <p:nvPr/>
        </p:nvSpPr>
        <p:spPr bwMode="auto">
          <a:xfrm>
            <a:off x="7284060" y="3695641"/>
            <a:ext cx="1004576"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거절이유 </a:t>
            </a:r>
            <a:endParaRPr lang="en-US" altLang="ko-KR" sz="1050" b="0" dirty="0">
              <a:solidFill>
                <a:schemeClr val="tx1"/>
              </a:solidFill>
              <a:latin typeface="+mj-ea"/>
              <a:ea typeface="+mj-ea"/>
            </a:endParaRPr>
          </a:p>
          <a:p>
            <a:pPr algn="ctr"/>
            <a:r>
              <a:rPr lang="ko-KR" altLang="en-US" sz="1050" b="0" dirty="0" err="1">
                <a:solidFill>
                  <a:schemeClr val="tx1"/>
                </a:solidFill>
                <a:latin typeface="+mj-ea"/>
                <a:ea typeface="+mj-ea"/>
              </a:rPr>
              <a:t>미해소</a:t>
            </a:r>
            <a:endParaRPr lang="ko-KR" altLang="en-US" sz="1050" b="0" dirty="0">
              <a:solidFill>
                <a:schemeClr val="tx1"/>
              </a:solidFill>
              <a:latin typeface="+mj-ea"/>
              <a:ea typeface="+mj-ea"/>
            </a:endParaRPr>
          </a:p>
        </p:txBody>
      </p:sp>
      <p:sp>
        <p:nvSpPr>
          <p:cNvPr id="184" name="Rectangle 5">
            <a:extLst>
              <a:ext uri="{FF2B5EF4-FFF2-40B4-BE49-F238E27FC236}">
                <a16:creationId xmlns:a16="http://schemas.microsoft.com/office/drawing/2014/main" id="{34F4BC5C-414E-418E-A3E9-89A38D9A689C}"/>
              </a:ext>
            </a:extLst>
          </p:cNvPr>
          <p:cNvSpPr>
            <a:spLocks noChangeArrowheads="1"/>
          </p:cNvSpPr>
          <p:nvPr/>
        </p:nvSpPr>
        <p:spPr bwMode="auto">
          <a:xfrm>
            <a:off x="6212104" y="3150367"/>
            <a:ext cx="1004576"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거절이유 </a:t>
            </a:r>
            <a:endParaRPr lang="en-US" altLang="ko-KR" sz="1050" b="0" dirty="0">
              <a:solidFill>
                <a:schemeClr val="tx1"/>
              </a:solidFill>
              <a:latin typeface="+mj-ea"/>
              <a:ea typeface="+mj-ea"/>
            </a:endParaRPr>
          </a:p>
          <a:p>
            <a:pPr algn="ctr"/>
            <a:r>
              <a:rPr lang="ko-KR" altLang="en-US" sz="1050" b="0" dirty="0">
                <a:solidFill>
                  <a:schemeClr val="tx1"/>
                </a:solidFill>
                <a:latin typeface="+mj-ea"/>
                <a:ea typeface="+mj-ea"/>
              </a:rPr>
              <a:t>해소</a:t>
            </a:r>
          </a:p>
        </p:txBody>
      </p:sp>
      <p:cxnSp>
        <p:nvCxnSpPr>
          <p:cNvPr id="187" name="꺾인 연결선 74">
            <a:extLst>
              <a:ext uri="{FF2B5EF4-FFF2-40B4-BE49-F238E27FC236}">
                <a16:creationId xmlns:a16="http://schemas.microsoft.com/office/drawing/2014/main" id="{F2088C27-4AFD-4673-9DB7-4DF6319492C9}"/>
              </a:ext>
            </a:extLst>
          </p:cNvPr>
          <p:cNvCxnSpPr>
            <a:stCxn id="108" idx="3"/>
            <a:endCxn id="134" idx="1"/>
          </p:cNvCxnSpPr>
          <p:nvPr/>
        </p:nvCxnSpPr>
        <p:spPr>
          <a:xfrm flipV="1">
            <a:off x="5976571" y="5318584"/>
            <a:ext cx="647700" cy="278120"/>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8" name="꺾인 연결선 75">
            <a:extLst>
              <a:ext uri="{FF2B5EF4-FFF2-40B4-BE49-F238E27FC236}">
                <a16:creationId xmlns:a16="http://schemas.microsoft.com/office/drawing/2014/main" id="{8F1929ED-23BE-4E89-91DB-6CA5D8B0DA85}"/>
              </a:ext>
            </a:extLst>
          </p:cNvPr>
          <p:cNvCxnSpPr>
            <a:stCxn id="108" idx="2"/>
            <a:endCxn id="138" idx="1"/>
          </p:cNvCxnSpPr>
          <p:nvPr/>
        </p:nvCxnSpPr>
        <p:spPr>
          <a:xfrm rot="16200000" flipH="1">
            <a:off x="5823435" y="5357153"/>
            <a:ext cx="387235" cy="1214437"/>
          </a:xfrm>
          <a:prstGeom prst="bentConnector2">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0" name="꺾인 연결선 76">
            <a:extLst>
              <a:ext uri="{FF2B5EF4-FFF2-40B4-BE49-F238E27FC236}">
                <a16:creationId xmlns:a16="http://schemas.microsoft.com/office/drawing/2014/main" id="{A10026E0-A295-4116-82E0-FCA82F0C7C97}"/>
              </a:ext>
            </a:extLst>
          </p:cNvPr>
          <p:cNvCxnSpPr>
            <a:stCxn id="134" idx="3"/>
            <a:endCxn id="135" idx="1"/>
          </p:cNvCxnSpPr>
          <p:nvPr/>
        </p:nvCxnSpPr>
        <p:spPr>
          <a:xfrm flipV="1">
            <a:off x="7905750" y="5121453"/>
            <a:ext cx="346872" cy="197131"/>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1" name="꺾인 연결선 77">
            <a:extLst>
              <a:ext uri="{FF2B5EF4-FFF2-40B4-BE49-F238E27FC236}">
                <a16:creationId xmlns:a16="http://schemas.microsoft.com/office/drawing/2014/main" id="{9B415053-E0BB-4D95-928F-1F8327C8255E}"/>
              </a:ext>
            </a:extLst>
          </p:cNvPr>
          <p:cNvCxnSpPr>
            <a:stCxn id="138" idx="3"/>
            <a:endCxn id="140" idx="1"/>
          </p:cNvCxnSpPr>
          <p:nvPr/>
        </p:nvCxnSpPr>
        <p:spPr>
          <a:xfrm flipV="1">
            <a:off x="7905750" y="5960859"/>
            <a:ext cx="346872" cy="197131"/>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3" name="꺾인 연결선 78">
            <a:extLst>
              <a:ext uri="{FF2B5EF4-FFF2-40B4-BE49-F238E27FC236}">
                <a16:creationId xmlns:a16="http://schemas.microsoft.com/office/drawing/2014/main" id="{FA84365F-FF59-4A13-A63F-267294CFD401}"/>
              </a:ext>
            </a:extLst>
          </p:cNvPr>
          <p:cNvCxnSpPr>
            <a:stCxn id="138" idx="3"/>
            <a:endCxn id="141" idx="1"/>
          </p:cNvCxnSpPr>
          <p:nvPr/>
        </p:nvCxnSpPr>
        <p:spPr>
          <a:xfrm>
            <a:off x="7905750" y="6157990"/>
            <a:ext cx="346872" cy="197324"/>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4" name="꺾인 연결선 79">
            <a:extLst>
              <a:ext uri="{FF2B5EF4-FFF2-40B4-BE49-F238E27FC236}">
                <a16:creationId xmlns:a16="http://schemas.microsoft.com/office/drawing/2014/main" id="{650C0E66-83A8-4B32-82FF-C20180D2F3BD}"/>
              </a:ext>
            </a:extLst>
          </p:cNvPr>
          <p:cNvCxnSpPr>
            <a:stCxn id="134" idx="3"/>
            <a:endCxn id="137" idx="1"/>
          </p:cNvCxnSpPr>
          <p:nvPr/>
        </p:nvCxnSpPr>
        <p:spPr>
          <a:xfrm>
            <a:off x="7905750" y="5318584"/>
            <a:ext cx="346872" cy="197324"/>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6" name="꺾인 연결선 80">
            <a:extLst>
              <a:ext uri="{FF2B5EF4-FFF2-40B4-BE49-F238E27FC236}">
                <a16:creationId xmlns:a16="http://schemas.microsoft.com/office/drawing/2014/main" id="{EB81E389-F664-41A2-91F6-71DFE7E8438A}"/>
              </a:ext>
            </a:extLst>
          </p:cNvPr>
          <p:cNvCxnSpPr>
            <a:stCxn id="135" idx="3"/>
            <a:endCxn id="128" idx="0"/>
          </p:cNvCxnSpPr>
          <p:nvPr/>
        </p:nvCxnSpPr>
        <p:spPr>
          <a:xfrm flipV="1">
            <a:off x="9053146" y="4045073"/>
            <a:ext cx="1564665" cy="1076380"/>
          </a:xfrm>
          <a:prstGeom prst="bentConnector4">
            <a:avLst>
              <a:gd name="adj1" fmla="val 29525"/>
              <a:gd name="adj2" fmla="val 121238"/>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7" name="꺾인 연결선 81">
            <a:extLst>
              <a:ext uri="{FF2B5EF4-FFF2-40B4-BE49-F238E27FC236}">
                <a16:creationId xmlns:a16="http://schemas.microsoft.com/office/drawing/2014/main" id="{2D55CEEC-D5C6-432F-B01E-91E6F7A8BF84}"/>
              </a:ext>
            </a:extLst>
          </p:cNvPr>
          <p:cNvCxnSpPr>
            <a:stCxn id="140" idx="3"/>
            <a:endCxn id="128" idx="1"/>
          </p:cNvCxnSpPr>
          <p:nvPr/>
        </p:nvCxnSpPr>
        <p:spPr>
          <a:xfrm flipV="1">
            <a:off x="9053146" y="4219124"/>
            <a:ext cx="923925" cy="1741735"/>
          </a:xfrm>
          <a:prstGeom prst="bentConnector3">
            <a:avLst>
              <a:gd name="adj1" fmla="val 75773"/>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8" name="꺾인 연결선 82">
            <a:extLst>
              <a:ext uri="{FF2B5EF4-FFF2-40B4-BE49-F238E27FC236}">
                <a16:creationId xmlns:a16="http://schemas.microsoft.com/office/drawing/2014/main" id="{A9D67A2A-3500-4AE3-A8A1-DC0D05F767FE}"/>
              </a:ext>
            </a:extLst>
          </p:cNvPr>
          <p:cNvCxnSpPr>
            <a:stCxn id="141" idx="3"/>
            <a:endCxn id="128" idx="1"/>
          </p:cNvCxnSpPr>
          <p:nvPr/>
        </p:nvCxnSpPr>
        <p:spPr>
          <a:xfrm flipV="1">
            <a:off x="9053146" y="4219124"/>
            <a:ext cx="923925" cy="2136190"/>
          </a:xfrm>
          <a:prstGeom prst="bentConnector3">
            <a:avLst>
              <a:gd name="adj1" fmla="val 75773"/>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0" name="꺾인 연결선 83">
            <a:extLst>
              <a:ext uri="{FF2B5EF4-FFF2-40B4-BE49-F238E27FC236}">
                <a16:creationId xmlns:a16="http://schemas.microsoft.com/office/drawing/2014/main" id="{65B3296B-44C7-4A22-8F75-EA0A53DDFC43}"/>
              </a:ext>
            </a:extLst>
          </p:cNvPr>
          <p:cNvCxnSpPr>
            <a:stCxn id="127" idx="3"/>
            <a:endCxn id="128" idx="3"/>
          </p:cNvCxnSpPr>
          <p:nvPr/>
        </p:nvCxnSpPr>
        <p:spPr>
          <a:xfrm flipH="1">
            <a:off x="11258550" y="1994182"/>
            <a:ext cx="9525" cy="2224942"/>
          </a:xfrm>
          <a:prstGeom prst="bentConnector3">
            <a:avLst>
              <a:gd name="adj1" fmla="val -530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1" name="Rectangle 5">
            <a:extLst>
              <a:ext uri="{FF2B5EF4-FFF2-40B4-BE49-F238E27FC236}">
                <a16:creationId xmlns:a16="http://schemas.microsoft.com/office/drawing/2014/main" id="{DE1C78B9-F68C-4000-A6CE-3F7896B07E44}"/>
              </a:ext>
            </a:extLst>
          </p:cNvPr>
          <p:cNvSpPr>
            <a:spLocks noChangeArrowheads="1"/>
          </p:cNvSpPr>
          <p:nvPr/>
        </p:nvSpPr>
        <p:spPr bwMode="auto">
          <a:xfrm>
            <a:off x="10951285" y="2130133"/>
            <a:ext cx="1004576" cy="348102"/>
          </a:xfrm>
          <a:prstGeom prst="rect">
            <a:avLst/>
          </a:prstGeom>
          <a:noFill/>
          <a:ln w="9525" algn="ctr">
            <a:noFill/>
            <a:miter lim="800000"/>
            <a:headEnd/>
            <a:tailEnd/>
          </a:ln>
        </p:spPr>
        <p:txBody>
          <a:bodyPr wrap="none" anchor="ctr"/>
          <a:lstStyle/>
          <a:p>
            <a:pPr algn="ctr"/>
            <a:r>
              <a:rPr lang="ko-KR" altLang="en-US" sz="1050" b="0">
                <a:solidFill>
                  <a:schemeClr val="tx1"/>
                </a:solidFill>
                <a:latin typeface="+mj-ea"/>
                <a:ea typeface="+mj-ea"/>
              </a:rPr>
              <a:t>환송</a:t>
            </a:r>
            <a:endParaRPr lang="ko-KR" altLang="en-US" sz="1050" b="0" dirty="0">
              <a:solidFill>
                <a:schemeClr val="tx1"/>
              </a:solidFill>
              <a:latin typeface="+mj-ea"/>
              <a:ea typeface="+mj-ea"/>
            </a:endParaRPr>
          </a:p>
        </p:txBody>
      </p:sp>
      <p:sp>
        <p:nvSpPr>
          <p:cNvPr id="202" name="자유형 85">
            <a:extLst>
              <a:ext uri="{FF2B5EF4-FFF2-40B4-BE49-F238E27FC236}">
                <a16:creationId xmlns:a16="http://schemas.microsoft.com/office/drawing/2014/main" id="{6CDFAA7A-0CB6-4D55-B1C0-E176EDFFF06D}"/>
              </a:ext>
            </a:extLst>
          </p:cNvPr>
          <p:cNvSpPr/>
          <p:nvPr/>
        </p:nvSpPr>
        <p:spPr>
          <a:xfrm>
            <a:off x="5972175" y="2600324"/>
            <a:ext cx="4886325" cy="2189915"/>
          </a:xfrm>
          <a:custGeom>
            <a:avLst/>
            <a:gdLst>
              <a:gd name="connsiteX0" fmla="*/ 4886325 w 4886325"/>
              <a:gd name="connsiteY0" fmla="*/ 0 h 2019300"/>
              <a:gd name="connsiteX1" fmla="*/ 4886325 w 4886325"/>
              <a:gd name="connsiteY1" fmla="*/ 457200 h 2019300"/>
              <a:gd name="connsiteX2" fmla="*/ 2952750 w 4886325"/>
              <a:gd name="connsiteY2" fmla="*/ 457200 h 2019300"/>
              <a:gd name="connsiteX3" fmla="*/ 2952750 w 4886325"/>
              <a:gd name="connsiteY3" fmla="*/ 2019300 h 2019300"/>
              <a:gd name="connsiteX4" fmla="*/ 428625 w 4886325"/>
              <a:gd name="connsiteY4" fmla="*/ 2019300 h 2019300"/>
              <a:gd name="connsiteX5" fmla="*/ 428625 w 4886325"/>
              <a:gd name="connsiteY5" fmla="*/ 1219200 h 2019300"/>
              <a:gd name="connsiteX6" fmla="*/ 0 w 4886325"/>
              <a:gd name="connsiteY6" fmla="*/ 1219200 h 2019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86325" h="2019300">
                <a:moveTo>
                  <a:pt x="4886325" y="0"/>
                </a:moveTo>
                <a:lnTo>
                  <a:pt x="4886325" y="457200"/>
                </a:lnTo>
                <a:lnTo>
                  <a:pt x="2952750" y="457200"/>
                </a:lnTo>
                <a:lnTo>
                  <a:pt x="2952750" y="2019300"/>
                </a:lnTo>
                <a:lnTo>
                  <a:pt x="428625" y="2019300"/>
                </a:lnTo>
                <a:lnTo>
                  <a:pt x="428625" y="1219200"/>
                </a:lnTo>
                <a:lnTo>
                  <a:pt x="0" y="1219200"/>
                </a:lnTo>
              </a:path>
            </a:pathLst>
          </a:cu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400"/>
          </a:p>
        </p:txBody>
      </p:sp>
      <p:sp>
        <p:nvSpPr>
          <p:cNvPr id="204" name="Rectangle 5">
            <a:extLst>
              <a:ext uri="{FF2B5EF4-FFF2-40B4-BE49-F238E27FC236}">
                <a16:creationId xmlns:a16="http://schemas.microsoft.com/office/drawing/2014/main" id="{85079916-9AE2-44AE-A616-F9335BBA4FC7}"/>
              </a:ext>
            </a:extLst>
          </p:cNvPr>
          <p:cNvSpPr>
            <a:spLocks noChangeArrowheads="1"/>
          </p:cNvSpPr>
          <p:nvPr/>
        </p:nvSpPr>
        <p:spPr bwMode="auto">
          <a:xfrm>
            <a:off x="10182198" y="2588592"/>
            <a:ext cx="1004576"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자판</a:t>
            </a:r>
          </a:p>
        </p:txBody>
      </p:sp>
      <p:sp>
        <p:nvSpPr>
          <p:cNvPr id="205" name="Rectangle 5">
            <a:extLst>
              <a:ext uri="{FF2B5EF4-FFF2-40B4-BE49-F238E27FC236}">
                <a16:creationId xmlns:a16="http://schemas.microsoft.com/office/drawing/2014/main" id="{EA5972D1-C44C-47BF-AB1A-1C3B08CE3A9F}"/>
              </a:ext>
            </a:extLst>
          </p:cNvPr>
          <p:cNvSpPr>
            <a:spLocks noChangeArrowheads="1"/>
          </p:cNvSpPr>
          <p:nvPr/>
        </p:nvSpPr>
        <p:spPr bwMode="auto">
          <a:xfrm>
            <a:off x="5671716" y="1071260"/>
            <a:ext cx="1133475" cy="348102"/>
          </a:xfrm>
          <a:prstGeom prst="rect">
            <a:avLst/>
          </a:prstGeom>
          <a:solidFill>
            <a:schemeClr val="accent4"/>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정보제공</a:t>
            </a:r>
          </a:p>
        </p:txBody>
      </p:sp>
      <p:cxnSp>
        <p:nvCxnSpPr>
          <p:cNvPr id="207" name="직선 화살표 연결선 206">
            <a:extLst>
              <a:ext uri="{FF2B5EF4-FFF2-40B4-BE49-F238E27FC236}">
                <a16:creationId xmlns:a16="http://schemas.microsoft.com/office/drawing/2014/main" id="{9E5CDF70-442D-45E3-B9C2-82F2B8BFD169}"/>
              </a:ext>
            </a:extLst>
          </p:cNvPr>
          <p:cNvCxnSpPr>
            <a:stCxn id="205" idx="2"/>
          </p:cNvCxnSpPr>
          <p:nvPr/>
        </p:nvCxnSpPr>
        <p:spPr>
          <a:xfrm flipH="1">
            <a:off x="2581275" y="1419362"/>
            <a:ext cx="3657179" cy="1855329"/>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208" name="직선 화살표 연결선 207">
            <a:extLst>
              <a:ext uri="{FF2B5EF4-FFF2-40B4-BE49-F238E27FC236}">
                <a16:creationId xmlns:a16="http://schemas.microsoft.com/office/drawing/2014/main" id="{90EBF60A-1120-4280-9D83-3C98E3CF2803}"/>
              </a:ext>
            </a:extLst>
          </p:cNvPr>
          <p:cNvCxnSpPr>
            <a:stCxn id="205" idx="2"/>
            <a:endCxn id="100" idx="0"/>
          </p:cNvCxnSpPr>
          <p:nvPr/>
        </p:nvCxnSpPr>
        <p:spPr>
          <a:xfrm flipH="1">
            <a:off x="5411406" y="1419362"/>
            <a:ext cx="827048" cy="1383521"/>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210" name="직선 화살표 연결선 209">
            <a:extLst>
              <a:ext uri="{FF2B5EF4-FFF2-40B4-BE49-F238E27FC236}">
                <a16:creationId xmlns:a16="http://schemas.microsoft.com/office/drawing/2014/main" id="{3EAAAF1B-3DC8-458C-8D0D-BB5EF24F7250}"/>
              </a:ext>
            </a:extLst>
          </p:cNvPr>
          <p:cNvCxnSpPr>
            <a:stCxn id="205" idx="2"/>
          </p:cNvCxnSpPr>
          <p:nvPr/>
        </p:nvCxnSpPr>
        <p:spPr>
          <a:xfrm>
            <a:off x="6238454" y="1419362"/>
            <a:ext cx="1045606" cy="1905056"/>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211" name="직선 화살표 연결선 210">
            <a:extLst>
              <a:ext uri="{FF2B5EF4-FFF2-40B4-BE49-F238E27FC236}">
                <a16:creationId xmlns:a16="http://schemas.microsoft.com/office/drawing/2014/main" id="{32A011D1-90F7-485E-8A70-233160B697D8}"/>
              </a:ext>
            </a:extLst>
          </p:cNvPr>
          <p:cNvCxnSpPr>
            <a:stCxn id="205" idx="2"/>
          </p:cNvCxnSpPr>
          <p:nvPr/>
        </p:nvCxnSpPr>
        <p:spPr>
          <a:xfrm>
            <a:off x="6238454" y="1419362"/>
            <a:ext cx="2557517" cy="634461"/>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12" name="Rectangle 5">
            <a:extLst>
              <a:ext uri="{FF2B5EF4-FFF2-40B4-BE49-F238E27FC236}">
                <a16:creationId xmlns:a16="http://schemas.microsoft.com/office/drawing/2014/main" id="{D75161CD-4F05-42F4-AE51-D0D99DC92FF3}"/>
              </a:ext>
            </a:extLst>
          </p:cNvPr>
          <p:cNvSpPr>
            <a:spLocks noChangeArrowheads="1"/>
          </p:cNvSpPr>
          <p:nvPr/>
        </p:nvSpPr>
        <p:spPr bwMode="auto">
          <a:xfrm>
            <a:off x="3057836" y="4543012"/>
            <a:ext cx="1133475" cy="348102"/>
          </a:xfrm>
          <a:prstGeom prst="rect">
            <a:avLst/>
          </a:prstGeom>
          <a:solidFill>
            <a:schemeClr val="accent2"/>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재심사청구</a:t>
            </a:r>
            <a:r>
              <a:rPr lang="en-US" altLang="ko-KR" sz="1100" b="0" dirty="0">
                <a:solidFill>
                  <a:schemeClr val="tx1"/>
                </a:solidFill>
                <a:latin typeface="+mj-ea"/>
                <a:ea typeface="+mj-ea"/>
              </a:rPr>
              <a:t>(</a:t>
            </a:r>
            <a:r>
              <a:rPr lang="ko-KR" altLang="en-US" sz="1100" b="0" dirty="0">
                <a:solidFill>
                  <a:schemeClr val="tx1"/>
                </a:solidFill>
                <a:latin typeface="+mj-ea"/>
                <a:ea typeface="+mj-ea"/>
              </a:rPr>
              <a:t>보정</a:t>
            </a:r>
            <a:r>
              <a:rPr lang="en-US" altLang="ko-KR" sz="1100" b="0" dirty="0">
                <a:solidFill>
                  <a:schemeClr val="tx1"/>
                </a:solidFill>
                <a:latin typeface="+mj-ea"/>
                <a:ea typeface="+mj-ea"/>
              </a:rPr>
              <a:t>)</a:t>
            </a:r>
            <a:endParaRPr lang="ko-KR" altLang="en-US" sz="1100" b="0" dirty="0">
              <a:solidFill>
                <a:schemeClr val="tx1"/>
              </a:solidFill>
              <a:latin typeface="+mj-ea"/>
              <a:ea typeface="+mj-ea"/>
            </a:endParaRPr>
          </a:p>
        </p:txBody>
      </p:sp>
      <p:cxnSp>
        <p:nvCxnSpPr>
          <p:cNvPr id="213" name="연결선: 꺾임 212">
            <a:extLst>
              <a:ext uri="{FF2B5EF4-FFF2-40B4-BE49-F238E27FC236}">
                <a16:creationId xmlns:a16="http://schemas.microsoft.com/office/drawing/2014/main" id="{807443B2-A52E-4FA5-99A1-5F841176A108}"/>
              </a:ext>
            </a:extLst>
          </p:cNvPr>
          <p:cNvCxnSpPr>
            <a:cxnSpLocks/>
            <a:stCxn id="212" idx="1"/>
            <a:endCxn id="119" idx="3"/>
          </p:cNvCxnSpPr>
          <p:nvPr/>
        </p:nvCxnSpPr>
        <p:spPr>
          <a:xfrm rot="10800000" flipH="1">
            <a:off x="3057836" y="3507321"/>
            <a:ext cx="4976138" cy="1209742"/>
          </a:xfrm>
          <a:prstGeom prst="bentConnector5">
            <a:avLst>
              <a:gd name="adj1" fmla="val -4594"/>
              <a:gd name="adj2" fmla="val -169586"/>
              <a:gd name="adj3" fmla="val 124607"/>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15" name="자유형: 도형 214">
            <a:extLst>
              <a:ext uri="{FF2B5EF4-FFF2-40B4-BE49-F238E27FC236}">
                <a16:creationId xmlns:a16="http://schemas.microsoft.com/office/drawing/2014/main" id="{DC05E5B8-AF53-4F9C-9FF3-D53A24EE89B1}"/>
              </a:ext>
            </a:extLst>
          </p:cNvPr>
          <p:cNvSpPr/>
          <p:nvPr/>
        </p:nvSpPr>
        <p:spPr>
          <a:xfrm>
            <a:off x="4190260" y="4208016"/>
            <a:ext cx="337352" cy="523782"/>
          </a:xfrm>
          <a:custGeom>
            <a:avLst/>
            <a:gdLst>
              <a:gd name="connsiteX0" fmla="*/ 337352 w 337352"/>
              <a:gd name="connsiteY0" fmla="*/ 0 h 523782"/>
              <a:gd name="connsiteX1" fmla="*/ 337352 w 337352"/>
              <a:gd name="connsiteY1" fmla="*/ 523782 h 523782"/>
              <a:gd name="connsiteX2" fmla="*/ 0 w 337352"/>
              <a:gd name="connsiteY2" fmla="*/ 523782 h 523782"/>
            </a:gdLst>
            <a:ahLst/>
            <a:cxnLst>
              <a:cxn ang="0">
                <a:pos x="connsiteX0" y="connsiteY0"/>
              </a:cxn>
              <a:cxn ang="0">
                <a:pos x="connsiteX1" y="connsiteY1"/>
              </a:cxn>
              <a:cxn ang="0">
                <a:pos x="connsiteX2" y="connsiteY2"/>
              </a:cxn>
            </a:cxnLst>
            <a:rect l="l" t="t" r="r" b="b"/>
            <a:pathLst>
              <a:path w="337352" h="523782">
                <a:moveTo>
                  <a:pt x="337352" y="0"/>
                </a:moveTo>
                <a:lnTo>
                  <a:pt x="337352" y="523782"/>
                </a:lnTo>
                <a:lnTo>
                  <a:pt x="0" y="523782"/>
                </a:lnTo>
              </a:path>
            </a:pathLst>
          </a:custGeom>
          <a:noFill/>
          <a:ln>
            <a:solidFill>
              <a:schemeClr val="bg1">
                <a:lumMod val="50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Tree>
    <p:extLst>
      <p:ext uri="{BB962C8B-B14F-4D97-AF65-F5344CB8AC3E}">
        <p14:creationId xmlns:p14="http://schemas.microsoft.com/office/powerpoint/2010/main" val="269206629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슬라이드 번호 개체 틀 4"/>
          <p:cNvSpPr>
            <a:spLocks noGrp="1"/>
          </p:cNvSpPr>
          <p:nvPr>
            <p:ph type="sldNum" sz="quarter" idx="12"/>
          </p:nvPr>
        </p:nvSpPr>
        <p:spPr/>
        <p:txBody>
          <a:bodyPr/>
          <a:lstStyle/>
          <a:p>
            <a:fld id="{3875FC6C-1516-4DC4-8C58-3090F7D4F003}" type="slidenum">
              <a:rPr lang="ko-KR" altLang="en-US" smtClean="0"/>
              <a:t>11</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normAutofit/>
          </a:bodyPr>
          <a:lstStyle/>
          <a:p>
            <a:r>
              <a:rPr lang="ko-KR" altLang="en-US" sz="2400" dirty="0"/>
              <a:t>거절이유</a:t>
            </a:r>
            <a:r>
              <a:rPr lang="en-US" altLang="ko-KR" sz="2400" dirty="0"/>
              <a:t>, </a:t>
            </a:r>
            <a:r>
              <a:rPr lang="ko-KR" altLang="en-US" sz="2400" dirty="0"/>
              <a:t>정보제공사유</a:t>
            </a:r>
            <a:r>
              <a:rPr lang="en-US" altLang="ko-KR" sz="2400" dirty="0"/>
              <a:t>, </a:t>
            </a:r>
            <a:r>
              <a:rPr lang="ko-KR" altLang="en-US" sz="2400" dirty="0"/>
              <a:t>특허무효사유 및 특허취소사유의 비교</a:t>
            </a:r>
          </a:p>
        </p:txBody>
      </p:sp>
      <p:graphicFrame>
        <p:nvGraphicFramePr>
          <p:cNvPr id="2" name="표 1"/>
          <p:cNvGraphicFramePr>
            <a:graphicFrameLocks noGrp="1"/>
          </p:cNvGraphicFramePr>
          <p:nvPr>
            <p:extLst>
              <p:ext uri="{D42A27DB-BD31-4B8C-83A1-F6EECF244321}">
                <p14:modId xmlns:p14="http://schemas.microsoft.com/office/powerpoint/2010/main" val="3964912402"/>
              </p:ext>
            </p:extLst>
          </p:nvPr>
        </p:nvGraphicFramePr>
        <p:xfrm>
          <a:off x="503276" y="1037535"/>
          <a:ext cx="11145799" cy="5784218"/>
        </p:xfrm>
        <a:graphic>
          <a:graphicData uri="http://schemas.openxmlformats.org/drawingml/2006/table">
            <a:tbl>
              <a:tblPr/>
              <a:tblGrid>
                <a:gridCol w="1135024">
                  <a:extLst>
                    <a:ext uri="{9D8B030D-6E8A-4147-A177-3AD203B41FA5}">
                      <a16:colId xmlns:a16="http://schemas.microsoft.com/office/drawing/2014/main" val="20000"/>
                    </a:ext>
                  </a:extLst>
                </a:gridCol>
                <a:gridCol w="5991225">
                  <a:extLst>
                    <a:ext uri="{9D8B030D-6E8A-4147-A177-3AD203B41FA5}">
                      <a16:colId xmlns:a16="http://schemas.microsoft.com/office/drawing/2014/main" val="20001"/>
                    </a:ext>
                  </a:extLst>
                </a:gridCol>
                <a:gridCol w="962025">
                  <a:extLst>
                    <a:ext uri="{9D8B030D-6E8A-4147-A177-3AD203B41FA5}">
                      <a16:colId xmlns:a16="http://schemas.microsoft.com/office/drawing/2014/main" val="20002"/>
                    </a:ext>
                  </a:extLst>
                </a:gridCol>
                <a:gridCol w="1047750">
                  <a:extLst>
                    <a:ext uri="{9D8B030D-6E8A-4147-A177-3AD203B41FA5}">
                      <a16:colId xmlns:a16="http://schemas.microsoft.com/office/drawing/2014/main" val="20003"/>
                    </a:ext>
                  </a:extLst>
                </a:gridCol>
                <a:gridCol w="1038225">
                  <a:extLst>
                    <a:ext uri="{9D8B030D-6E8A-4147-A177-3AD203B41FA5}">
                      <a16:colId xmlns:a16="http://schemas.microsoft.com/office/drawing/2014/main" val="20004"/>
                    </a:ext>
                  </a:extLst>
                </a:gridCol>
                <a:gridCol w="971550">
                  <a:extLst>
                    <a:ext uri="{9D8B030D-6E8A-4147-A177-3AD203B41FA5}">
                      <a16:colId xmlns:a16="http://schemas.microsoft.com/office/drawing/2014/main" val="20005"/>
                    </a:ext>
                  </a:extLst>
                </a:gridCol>
              </a:tblGrid>
              <a:tr h="192084">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요건</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내 용</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거절이유</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정보제공사유</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특허무효사유</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특허취소사유</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727064">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주체적</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외국인의 권리능력</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25)</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특허를 받을 수 있는 권리를 가지는 자</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33</a:t>
                      </a:r>
                      <a:r>
                        <a:rPr lang="ko-KR" altLang="en-US" sz="1100" kern="1200" dirty="0">
                          <a:solidFill>
                            <a:schemeClr val="tx2"/>
                          </a:solidFill>
                          <a:latin typeface="+mn-lt"/>
                          <a:ea typeface="+mn-ea"/>
                          <a:cs typeface="+mn-cs"/>
                        </a:rPr>
                        <a:t>①본문</a:t>
                      </a:r>
                      <a:r>
                        <a:rPr lang="en-US" altLang="ko-KR" sz="1100" kern="1200" dirty="0">
                          <a:solidFill>
                            <a:schemeClr val="tx2"/>
                          </a:solidFill>
                          <a:latin typeface="+mn-lt"/>
                          <a:ea typeface="+mn-ea"/>
                          <a:cs typeface="+mn-cs"/>
                        </a:rPr>
                        <a:t>)</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특허를 받을 수 없는 자</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33</a:t>
                      </a:r>
                      <a:r>
                        <a:rPr lang="ko-KR" altLang="en-US" sz="1100" kern="1200" dirty="0">
                          <a:solidFill>
                            <a:schemeClr val="tx2"/>
                          </a:solidFill>
                          <a:latin typeface="+mn-lt"/>
                          <a:ea typeface="+mn-ea"/>
                          <a:cs typeface="+mn-cs"/>
                        </a:rPr>
                        <a:t>①단서</a:t>
                      </a:r>
                      <a:r>
                        <a:rPr lang="en-US" altLang="ko-KR" sz="1100" kern="1200" dirty="0">
                          <a:solidFill>
                            <a:schemeClr val="tx2"/>
                          </a:solidFill>
                          <a:latin typeface="+mn-lt"/>
                          <a:ea typeface="+mn-ea"/>
                          <a:cs typeface="+mn-cs"/>
                        </a:rPr>
                        <a:t>)</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공동출원</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44)</a:t>
                      </a:r>
                      <a:endParaRPr lang="ko-KR" altLang="en-US" sz="1100" kern="1200" dirty="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100" kern="1200">
                          <a:solidFill>
                            <a:schemeClr val="tx2"/>
                          </a:solidFill>
                          <a:latin typeface="+mn-lt"/>
                          <a:ea typeface="+mn-ea"/>
                          <a:cs typeface="+mn-cs"/>
                        </a:rPr>
                        <a:t>○</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100" kern="1200">
                          <a:solidFill>
                            <a:schemeClr val="tx2"/>
                          </a:solidFill>
                          <a:latin typeface="+mn-lt"/>
                          <a:ea typeface="+mn-ea"/>
                          <a:cs typeface="+mn-cs"/>
                        </a:rPr>
                        <a:t>○</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100" kern="1200">
                          <a:solidFill>
                            <a:schemeClr val="tx2"/>
                          </a:solidFill>
                          <a:latin typeface="+mn-lt"/>
                          <a:ea typeface="+mn-ea"/>
                          <a:cs typeface="+mn-cs"/>
                        </a:rPr>
                        <a:t>○*</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endParaRPr lang="ko-KR" altLang="en-US" sz="1100" kern="120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905391">
                <a:tc rowSpan="2">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실체적</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산업상 이용가능성</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29</a:t>
                      </a:r>
                      <a:r>
                        <a:rPr lang="ko-KR" altLang="en-US" sz="1100" kern="1200" dirty="0">
                          <a:solidFill>
                            <a:schemeClr val="tx2"/>
                          </a:solidFill>
                          <a:latin typeface="+mn-lt"/>
                          <a:ea typeface="+mn-ea"/>
                          <a:cs typeface="+mn-cs"/>
                        </a:rPr>
                        <a:t>①본문</a:t>
                      </a:r>
                      <a:r>
                        <a:rPr lang="en-US" altLang="ko-KR" sz="1100" kern="1200" dirty="0">
                          <a:solidFill>
                            <a:schemeClr val="tx2"/>
                          </a:solidFill>
                          <a:latin typeface="+mn-lt"/>
                          <a:ea typeface="+mn-ea"/>
                          <a:cs typeface="+mn-cs"/>
                        </a:rPr>
                        <a:t>)</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err="1">
                          <a:solidFill>
                            <a:schemeClr val="tx2"/>
                          </a:solidFill>
                          <a:latin typeface="+mn-lt"/>
                          <a:ea typeface="+mn-ea"/>
                          <a:cs typeface="+mn-cs"/>
                        </a:rPr>
                        <a:t>신규성</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29</a:t>
                      </a:r>
                      <a:r>
                        <a:rPr lang="ko-KR" altLang="en-US" sz="1100" kern="1200" dirty="0">
                          <a:solidFill>
                            <a:schemeClr val="tx2"/>
                          </a:solidFill>
                          <a:latin typeface="+mn-lt"/>
                          <a:ea typeface="+mn-ea"/>
                          <a:cs typeface="+mn-cs"/>
                        </a:rPr>
                        <a:t>①각호</a:t>
                      </a:r>
                      <a:r>
                        <a:rPr lang="en-US" altLang="ko-KR" sz="1100" kern="1200" dirty="0">
                          <a:solidFill>
                            <a:schemeClr val="tx2"/>
                          </a:solidFill>
                          <a:latin typeface="+mn-lt"/>
                          <a:ea typeface="+mn-ea"/>
                          <a:cs typeface="+mn-cs"/>
                        </a:rPr>
                        <a:t>) </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진보성</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29</a:t>
                      </a:r>
                      <a:r>
                        <a:rPr lang="ko-KR" altLang="en-US" sz="1100" kern="1200" dirty="0">
                          <a:solidFill>
                            <a:schemeClr val="tx2"/>
                          </a:solidFill>
                          <a:latin typeface="+mn-lt"/>
                          <a:ea typeface="+mn-ea"/>
                          <a:cs typeface="+mn-cs"/>
                        </a:rPr>
                        <a:t>②</a:t>
                      </a:r>
                      <a:r>
                        <a:rPr lang="en-US" altLang="ko-KR" sz="1100" kern="1200" dirty="0">
                          <a:solidFill>
                            <a:schemeClr val="tx2"/>
                          </a:solidFill>
                          <a:latin typeface="+mn-lt"/>
                          <a:ea typeface="+mn-ea"/>
                          <a:cs typeface="+mn-cs"/>
                        </a:rPr>
                        <a:t>) </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확대된 </a:t>
                      </a:r>
                      <a:r>
                        <a:rPr lang="ko-KR" altLang="en-US" sz="1100" kern="1200" dirty="0" err="1">
                          <a:solidFill>
                            <a:schemeClr val="tx2"/>
                          </a:solidFill>
                          <a:latin typeface="+mn-lt"/>
                          <a:ea typeface="+mn-ea"/>
                          <a:cs typeface="+mn-cs"/>
                        </a:rPr>
                        <a:t>선출원</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29</a:t>
                      </a:r>
                      <a:r>
                        <a:rPr lang="ko-KR" altLang="en-US" sz="1100" kern="1200" dirty="0">
                          <a:solidFill>
                            <a:schemeClr val="tx2"/>
                          </a:solidFill>
                          <a:latin typeface="+mn-lt"/>
                          <a:ea typeface="+mn-ea"/>
                          <a:cs typeface="+mn-cs"/>
                        </a:rPr>
                        <a:t>③④⑤⑥⑦</a:t>
                      </a:r>
                      <a:r>
                        <a:rPr lang="en-US" altLang="ko-KR" sz="1100" kern="1200" dirty="0">
                          <a:solidFill>
                            <a:schemeClr val="tx2"/>
                          </a:solidFill>
                          <a:latin typeface="+mn-lt"/>
                          <a:ea typeface="+mn-ea"/>
                          <a:cs typeface="+mn-cs"/>
                        </a:rPr>
                        <a:t>) </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선출원주의</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36</a:t>
                      </a:r>
                      <a:r>
                        <a:rPr lang="ko-KR" altLang="en-US" sz="1100" kern="1200" dirty="0">
                          <a:solidFill>
                            <a:schemeClr val="tx2"/>
                          </a:solidFill>
                          <a:latin typeface="+mn-lt"/>
                          <a:ea typeface="+mn-ea"/>
                          <a:cs typeface="+mn-cs"/>
                        </a:rPr>
                        <a:t>①②③</a:t>
                      </a:r>
                      <a:r>
                        <a:rPr lang="en-US" altLang="ko-KR" sz="1100" kern="1200" dirty="0">
                          <a:solidFill>
                            <a:schemeClr val="tx2"/>
                          </a:solidFill>
                          <a:latin typeface="+mn-lt"/>
                          <a:ea typeface="+mn-ea"/>
                          <a:cs typeface="+mn-cs"/>
                        </a:rPr>
                        <a:t>) </a:t>
                      </a:r>
                      <a:endParaRPr lang="ko-KR" altLang="en-US" sz="1100" kern="1200" dirty="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marL="17780" marR="17780" indent="0" algn="ctr" fontAlgn="base" latinLnBrk="0">
                        <a:lnSpc>
                          <a:spcPct val="130000"/>
                        </a:lnSpc>
                        <a:spcBef>
                          <a:spcPts val="0"/>
                        </a:spcBef>
                        <a:spcAft>
                          <a:spcPts val="0"/>
                        </a:spcAft>
                      </a:pPr>
                      <a:r>
                        <a:rPr lang="ko-KR" altLang="en-US" sz="1100" kern="1200">
                          <a:solidFill>
                            <a:schemeClr val="tx2"/>
                          </a:solidFill>
                          <a:latin typeface="+mn-lt"/>
                          <a:ea typeface="+mn-ea"/>
                          <a:cs typeface="+mn-cs"/>
                        </a:rPr>
                        <a:t>○</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marL="17780" marR="1778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marL="17780" marR="1778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1262045">
                <a:tc vMerge="1">
                  <a:txBody>
                    <a:bodyPr/>
                    <a:lstStyle/>
                    <a:p>
                      <a:pPr latinLnBrk="1"/>
                      <a:endParaRPr lang="ko-KR" altLang="en-US"/>
                    </a:p>
                  </a:txBody>
                  <a:tcPr/>
                </a:tc>
                <a:tc>
                  <a:txBody>
                    <a:bodyPr/>
                    <a:lstStyle/>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err="1">
                          <a:solidFill>
                            <a:schemeClr val="tx2"/>
                          </a:solidFill>
                          <a:latin typeface="+mn-lt"/>
                          <a:ea typeface="+mn-ea"/>
                          <a:cs typeface="+mn-cs"/>
                        </a:rPr>
                        <a:t>불특허발명</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32) </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일반적 발명의 설명 기재</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42</a:t>
                      </a:r>
                      <a:r>
                        <a:rPr lang="ko-KR" altLang="en-US" sz="1100" kern="1200" dirty="0">
                          <a:solidFill>
                            <a:schemeClr val="tx2"/>
                          </a:solidFill>
                          <a:latin typeface="+mn-lt"/>
                          <a:ea typeface="+mn-ea"/>
                          <a:cs typeface="+mn-cs"/>
                        </a:rPr>
                        <a:t>③</a:t>
                      </a:r>
                      <a:r>
                        <a:rPr lang="en-US" altLang="ko-KR" sz="1100" kern="1200" dirty="0">
                          <a:solidFill>
                            <a:schemeClr val="tx2"/>
                          </a:solidFill>
                          <a:latin typeface="+mn-lt"/>
                          <a:ea typeface="+mn-ea"/>
                          <a:cs typeface="+mn-cs"/>
                        </a:rPr>
                        <a:t>Ⅰ) </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청구범위 기재</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42</a:t>
                      </a:r>
                      <a:r>
                        <a:rPr lang="ko-KR" altLang="en-US" sz="1100" kern="1200" dirty="0">
                          <a:solidFill>
                            <a:schemeClr val="tx2"/>
                          </a:solidFill>
                          <a:latin typeface="+mn-lt"/>
                          <a:ea typeface="+mn-ea"/>
                          <a:cs typeface="+mn-cs"/>
                        </a:rPr>
                        <a:t>④</a:t>
                      </a:r>
                      <a:r>
                        <a:rPr lang="en-US" altLang="ko-KR" sz="1100" kern="1200" dirty="0">
                          <a:solidFill>
                            <a:schemeClr val="tx2"/>
                          </a:solidFill>
                          <a:latin typeface="+mn-lt"/>
                          <a:ea typeface="+mn-ea"/>
                          <a:cs typeface="+mn-cs"/>
                        </a:rPr>
                        <a:t>)</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신규사항추가금지</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47</a:t>
                      </a:r>
                      <a:r>
                        <a:rPr lang="ko-KR" altLang="en-US" sz="1100" kern="1200" dirty="0">
                          <a:solidFill>
                            <a:schemeClr val="tx2"/>
                          </a:solidFill>
                          <a:latin typeface="+mn-lt"/>
                          <a:ea typeface="+mn-ea"/>
                          <a:cs typeface="+mn-cs"/>
                        </a:rPr>
                        <a:t>②</a:t>
                      </a:r>
                      <a:r>
                        <a:rPr lang="en-US" altLang="ko-KR" sz="1100" kern="1200" dirty="0">
                          <a:solidFill>
                            <a:schemeClr val="tx2"/>
                          </a:solidFill>
                          <a:latin typeface="+mn-lt"/>
                          <a:ea typeface="+mn-ea"/>
                          <a:cs typeface="+mn-cs"/>
                        </a:rPr>
                        <a:t>)</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분할출원의 범위를 벗어난 경우</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52</a:t>
                      </a:r>
                      <a:r>
                        <a:rPr lang="ko-KR" altLang="en-US" sz="1100" kern="1200" dirty="0">
                          <a:solidFill>
                            <a:schemeClr val="tx2"/>
                          </a:solidFill>
                          <a:latin typeface="+mn-lt"/>
                          <a:ea typeface="+mn-ea"/>
                          <a:cs typeface="+mn-cs"/>
                        </a:rPr>
                        <a:t>①</a:t>
                      </a:r>
                      <a:r>
                        <a:rPr lang="en-US" altLang="ko-KR" sz="1100" kern="1200" dirty="0">
                          <a:solidFill>
                            <a:schemeClr val="tx2"/>
                          </a:solidFill>
                          <a:latin typeface="+mn-lt"/>
                          <a:ea typeface="+mn-ea"/>
                          <a:cs typeface="+mn-cs"/>
                        </a:rPr>
                        <a:t>)</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분리출원의 범위를 벗어난 경우</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52</a:t>
                      </a:r>
                      <a:r>
                        <a:rPr lang="ko-KR" altLang="en-US" sz="1100" kern="1200" dirty="0">
                          <a:solidFill>
                            <a:schemeClr val="tx2"/>
                          </a:solidFill>
                          <a:latin typeface="+mn-lt"/>
                          <a:ea typeface="+mn-ea"/>
                          <a:cs typeface="+mn-cs"/>
                        </a:rPr>
                        <a:t>의</a:t>
                      </a:r>
                      <a:r>
                        <a:rPr lang="en-US" altLang="ko-KR" sz="1100" kern="1200" dirty="0">
                          <a:solidFill>
                            <a:schemeClr val="tx2"/>
                          </a:solidFill>
                          <a:latin typeface="+mn-lt"/>
                          <a:ea typeface="+mn-ea"/>
                          <a:cs typeface="+mn-cs"/>
                        </a:rPr>
                        <a:t>2</a:t>
                      </a:r>
                      <a:r>
                        <a:rPr lang="ko-KR" altLang="en-US" sz="1100" kern="1200" dirty="0">
                          <a:solidFill>
                            <a:schemeClr val="tx2"/>
                          </a:solidFill>
                          <a:latin typeface="+mn-lt"/>
                          <a:ea typeface="+mn-ea"/>
                          <a:cs typeface="+mn-cs"/>
                        </a:rPr>
                        <a:t>①</a:t>
                      </a:r>
                      <a:r>
                        <a:rPr lang="en-US" altLang="ko-KR" sz="1100" kern="1200" dirty="0">
                          <a:solidFill>
                            <a:schemeClr val="tx2"/>
                          </a:solidFill>
                          <a:latin typeface="+mn-lt"/>
                          <a:ea typeface="+mn-ea"/>
                          <a:cs typeface="+mn-cs"/>
                        </a:rPr>
                        <a:t>)</a:t>
                      </a:r>
                    </a:p>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변경출원의 범위를 벗어난 경우</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53</a:t>
                      </a:r>
                      <a:r>
                        <a:rPr lang="ko-KR" altLang="en-US" sz="1100" kern="1200" dirty="0">
                          <a:solidFill>
                            <a:schemeClr val="tx2"/>
                          </a:solidFill>
                          <a:latin typeface="+mn-lt"/>
                          <a:ea typeface="+mn-ea"/>
                          <a:cs typeface="+mn-cs"/>
                        </a:rPr>
                        <a:t>①</a:t>
                      </a:r>
                      <a:r>
                        <a:rPr lang="en-US" altLang="ko-KR" sz="1100" kern="1200" dirty="0">
                          <a:solidFill>
                            <a:schemeClr val="tx2"/>
                          </a:solidFill>
                          <a:latin typeface="+mn-lt"/>
                          <a:ea typeface="+mn-ea"/>
                          <a:cs typeface="+mn-cs"/>
                        </a:rPr>
                        <a:t>)</a:t>
                      </a:r>
                      <a:endParaRPr lang="ko-KR" altLang="en-US" sz="1100" kern="1200" dirty="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endParaRPr lang="ko-KR" altLang="en-US" sz="1100" kern="120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203950">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조약</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8923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조약을 위반한 경우</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100" kern="1200">
                          <a:solidFill>
                            <a:schemeClr val="tx2"/>
                          </a:solidFill>
                          <a:latin typeface="+mn-lt"/>
                          <a:ea typeface="+mn-ea"/>
                          <a:cs typeface="+mn-cs"/>
                        </a:rPr>
                        <a:t>○</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100" kern="1200">
                          <a:solidFill>
                            <a:schemeClr val="tx2"/>
                          </a:solidFill>
                          <a:latin typeface="+mn-lt"/>
                          <a:ea typeface="+mn-ea"/>
                          <a:cs typeface="+mn-cs"/>
                        </a:rPr>
                        <a:t>○</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endParaRPr lang="ko-KR" altLang="en-US" sz="1100" kern="120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548737">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절차적 </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발명의 설명 중 배경기술 기재</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42</a:t>
                      </a:r>
                      <a:r>
                        <a:rPr lang="ko-KR" altLang="en-US" sz="1100" kern="1200" dirty="0">
                          <a:solidFill>
                            <a:schemeClr val="tx2"/>
                          </a:solidFill>
                          <a:latin typeface="+mn-lt"/>
                          <a:ea typeface="+mn-ea"/>
                          <a:cs typeface="+mn-cs"/>
                        </a:rPr>
                        <a:t>③</a:t>
                      </a:r>
                      <a:r>
                        <a:rPr lang="en-US" altLang="ko-KR" sz="1100" kern="1200" dirty="0">
                          <a:solidFill>
                            <a:schemeClr val="tx2"/>
                          </a:solidFill>
                          <a:latin typeface="+mn-lt"/>
                          <a:ea typeface="+mn-ea"/>
                          <a:cs typeface="+mn-cs"/>
                        </a:rPr>
                        <a:t>Ⅱ)</a:t>
                      </a:r>
                    </a:p>
                    <a:p>
                      <a:pPr marL="171450" marR="17780" indent="-171450" algn="just" fontAlgn="base" latinLnBrk="1">
                        <a:lnSpc>
                          <a:spcPct val="130000"/>
                        </a:lnSpc>
                        <a:spcBef>
                          <a:spcPts val="0"/>
                        </a:spcBef>
                        <a:spcAft>
                          <a:spcPts val="0"/>
                        </a:spcAft>
                        <a:buFont typeface="Wingdings" pitchFamily="2" charset="2"/>
                        <a:buChar char="§"/>
                      </a:pPr>
                      <a:r>
                        <a:rPr lang="ko-KR" altLang="en-US" sz="1100" kern="1200" dirty="0" err="1">
                          <a:solidFill>
                            <a:schemeClr val="tx2"/>
                          </a:solidFill>
                          <a:latin typeface="+mn-lt"/>
                          <a:ea typeface="+mn-ea"/>
                          <a:cs typeface="+mn-cs"/>
                        </a:rPr>
                        <a:t>다항제</a:t>
                      </a:r>
                      <a:r>
                        <a:rPr lang="ko-KR" altLang="en-US" sz="1100" kern="1200" dirty="0">
                          <a:solidFill>
                            <a:schemeClr val="tx2"/>
                          </a:solidFill>
                          <a:latin typeface="+mn-lt"/>
                          <a:ea typeface="+mn-ea"/>
                          <a:cs typeface="+mn-cs"/>
                        </a:rPr>
                        <a:t> 기재방법</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42</a:t>
                      </a:r>
                      <a:r>
                        <a:rPr lang="ko-KR" altLang="en-US" sz="1100" kern="1200" dirty="0">
                          <a:solidFill>
                            <a:schemeClr val="tx2"/>
                          </a:solidFill>
                          <a:latin typeface="+mn-lt"/>
                          <a:ea typeface="+mn-ea"/>
                          <a:cs typeface="+mn-cs"/>
                        </a:rPr>
                        <a:t>⑧</a:t>
                      </a:r>
                      <a:r>
                        <a:rPr lang="en-US" altLang="ko-KR" sz="1100" kern="1200" dirty="0">
                          <a:solidFill>
                            <a:schemeClr val="tx2"/>
                          </a:solidFill>
                          <a:latin typeface="+mn-lt"/>
                          <a:ea typeface="+mn-ea"/>
                          <a:cs typeface="+mn-cs"/>
                        </a:rPr>
                        <a:t>)</a:t>
                      </a:r>
                    </a:p>
                    <a:p>
                      <a:pPr marL="17145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하나의 특허출원의 범위</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45)</a:t>
                      </a:r>
                      <a:endParaRPr lang="ko-KR" altLang="en-US" sz="1100" kern="1200" dirty="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endParaRPr lang="ko-KR" altLang="en-US" sz="1100" kern="1200" dirty="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endParaRPr lang="ko-KR" altLang="en-US" sz="1100" kern="1200" dirty="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endParaRPr lang="ko-KR" altLang="en-US" sz="1100" kern="120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203950">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후발적 무효사유</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17780" indent="-171450" algn="just" fontAlgn="base" latinLnBrk="1">
                        <a:lnSpc>
                          <a:spcPct val="130000"/>
                        </a:lnSpc>
                        <a:spcBef>
                          <a:spcPts val="0"/>
                        </a:spcBef>
                        <a:spcAft>
                          <a:spcPts val="0"/>
                        </a:spcAft>
                        <a:buFont typeface="Wingdings" pitchFamily="2" charset="2"/>
                        <a:buChar char="§"/>
                      </a:pPr>
                      <a:r>
                        <a:rPr lang="ko-KR" altLang="en-US" sz="1100" kern="1200" dirty="0">
                          <a:solidFill>
                            <a:schemeClr val="tx2"/>
                          </a:solidFill>
                          <a:latin typeface="+mn-lt"/>
                          <a:ea typeface="+mn-ea"/>
                          <a:cs typeface="+mn-cs"/>
                        </a:rPr>
                        <a:t>특허 후 특허권자가 특허권을 누릴 수 없는 자로 되거나 그 특허가 조약을 위반한 경우</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endParaRPr lang="ko-KR" altLang="en-US" sz="1100" kern="120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endParaRPr lang="ko-KR" altLang="en-US" sz="1100" kern="120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a:t>
                      </a: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endParaRPr lang="ko-KR" altLang="en-US" sz="1100" kern="1200" dirty="0">
                        <a:solidFill>
                          <a:schemeClr val="tx2"/>
                        </a:solidFill>
                        <a:latin typeface="+mn-lt"/>
                        <a:ea typeface="+mn-ea"/>
                        <a:cs typeface="+mn-cs"/>
                      </a:endParaRPr>
                    </a:p>
                  </a:txBody>
                  <a:tcPr marL="16915" marR="16915" marT="16915" marB="1691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713554">
                <a:tc gridSpan="6">
                  <a:txBody>
                    <a:bodyPr/>
                    <a:lstStyle/>
                    <a:p>
                      <a:pPr marL="165100" marR="17780" indent="-165100" algn="just" fontAlgn="base" latinLnBrk="1">
                        <a:lnSpc>
                          <a:spcPct val="100000"/>
                        </a:lnSpc>
                        <a:spcBef>
                          <a:spcPts val="0"/>
                        </a:spcBef>
                        <a:spcAft>
                          <a:spcPts val="0"/>
                        </a:spcAft>
                      </a:pPr>
                      <a:r>
                        <a:rPr lang="ko-KR" altLang="en-US" sz="1100" kern="1200" dirty="0">
                          <a:solidFill>
                            <a:schemeClr val="tx2"/>
                          </a:solidFill>
                          <a:latin typeface="+mn-lt"/>
                          <a:ea typeface="+mn-ea"/>
                          <a:cs typeface="+mn-cs"/>
                        </a:rPr>
                        <a:t>* 단</a:t>
                      </a:r>
                      <a:r>
                        <a:rPr lang="en-US" altLang="ko-KR" sz="1100" kern="1200" dirty="0">
                          <a:solidFill>
                            <a:schemeClr val="tx2"/>
                          </a:solidFill>
                          <a:latin typeface="+mn-lt"/>
                          <a:ea typeface="+mn-ea"/>
                          <a:cs typeface="+mn-cs"/>
                        </a:rPr>
                        <a:t>, </a:t>
                      </a:r>
                      <a:r>
                        <a:rPr lang="ko-KR" altLang="en-US" sz="1100" kern="1200" dirty="0">
                          <a:solidFill>
                            <a:schemeClr val="tx2"/>
                          </a:solidFill>
                          <a:latin typeface="+mn-lt"/>
                          <a:ea typeface="+mn-ea"/>
                          <a:cs typeface="+mn-cs"/>
                        </a:rPr>
                        <a:t>특허를 받을 수 있는 권리를 가지는 자</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33</a:t>
                      </a:r>
                      <a:r>
                        <a:rPr lang="ko-KR" altLang="en-US" sz="1100" kern="1200" dirty="0">
                          <a:solidFill>
                            <a:schemeClr val="tx2"/>
                          </a:solidFill>
                          <a:latin typeface="+mn-lt"/>
                          <a:ea typeface="+mn-ea"/>
                          <a:cs typeface="+mn-cs"/>
                        </a:rPr>
                        <a:t>①본문</a:t>
                      </a:r>
                      <a:r>
                        <a:rPr lang="en-US" altLang="ko-KR" sz="1100" kern="1200" dirty="0">
                          <a:solidFill>
                            <a:schemeClr val="tx2"/>
                          </a:solidFill>
                          <a:latin typeface="+mn-lt"/>
                          <a:ea typeface="+mn-ea"/>
                          <a:cs typeface="+mn-cs"/>
                        </a:rPr>
                        <a:t>) </a:t>
                      </a:r>
                      <a:r>
                        <a:rPr lang="ko-KR" altLang="en-US" sz="1100" kern="1200" dirty="0">
                          <a:solidFill>
                            <a:schemeClr val="tx2"/>
                          </a:solidFill>
                          <a:latin typeface="+mn-lt"/>
                          <a:ea typeface="+mn-ea"/>
                          <a:cs typeface="+mn-cs"/>
                        </a:rPr>
                        <a:t>위반과 공동출원</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44) </a:t>
                      </a:r>
                      <a:r>
                        <a:rPr lang="ko-KR" altLang="en-US" sz="1100" kern="1200" dirty="0">
                          <a:solidFill>
                            <a:schemeClr val="tx2"/>
                          </a:solidFill>
                          <a:latin typeface="+mn-lt"/>
                          <a:ea typeface="+mn-ea"/>
                          <a:cs typeface="+mn-cs"/>
                        </a:rPr>
                        <a:t>위반은 제</a:t>
                      </a:r>
                      <a:r>
                        <a:rPr lang="en-US" altLang="ko-KR" sz="1100" kern="1200" dirty="0">
                          <a:solidFill>
                            <a:schemeClr val="tx2"/>
                          </a:solidFill>
                          <a:latin typeface="+mn-lt"/>
                          <a:ea typeface="+mn-ea"/>
                          <a:cs typeface="+mn-cs"/>
                        </a:rPr>
                        <a:t>99</a:t>
                      </a:r>
                      <a:r>
                        <a:rPr lang="ko-KR" altLang="en-US" sz="1100" kern="1200" dirty="0">
                          <a:solidFill>
                            <a:schemeClr val="tx2"/>
                          </a:solidFill>
                          <a:latin typeface="+mn-lt"/>
                          <a:ea typeface="+mn-ea"/>
                          <a:cs typeface="+mn-cs"/>
                        </a:rPr>
                        <a:t>조의</a:t>
                      </a:r>
                      <a:r>
                        <a:rPr lang="en-US" altLang="ko-KR" sz="1100" kern="1200" dirty="0">
                          <a:solidFill>
                            <a:schemeClr val="tx2"/>
                          </a:solidFill>
                          <a:latin typeface="+mn-lt"/>
                          <a:ea typeface="+mn-ea"/>
                          <a:cs typeface="+mn-cs"/>
                        </a:rPr>
                        <a:t>2</a:t>
                      </a:r>
                      <a:r>
                        <a:rPr lang="ko-KR" altLang="en-US" sz="1100" kern="1200" dirty="0">
                          <a:solidFill>
                            <a:schemeClr val="tx2"/>
                          </a:solidFill>
                          <a:latin typeface="+mn-lt"/>
                          <a:ea typeface="+mn-ea"/>
                          <a:cs typeface="+mn-cs"/>
                        </a:rPr>
                        <a:t>제</a:t>
                      </a:r>
                      <a:r>
                        <a:rPr lang="en-US" altLang="ko-KR" sz="1100" kern="1200" dirty="0">
                          <a:solidFill>
                            <a:schemeClr val="tx2"/>
                          </a:solidFill>
                          <a:latin typeface="+mn-lt"/>
                          <a:ea typeface="+mn-ea"/>
                          <a:cs typeface="+mn-cs"/>
                        </a:rPr>
                        <a:t>2</a:t>
                      </a:r>
                      <a:r>
                        <a:rPr lang="ko-KR" altLang="en-US" sz="1100" kern="1200" dirty="0">
                          <a:solidFill>
                            <a:schemeClr val="tx2"/>
                          </a:solidFill>
                          <a:latin typeface="+mn-lt"/>
                          <a:ea typeface="+mn-ea"/>
                          <a:cs typeface="+mn-cs"/>
                        </a:rPr>
                        <a:t>항에 따라 </a:t>
                      </a:r>
                      <a:r>
                        <a:rPr lang="ko-KR" altLang="en-US" sz="1100" kern="1200" dirty="0" err="1">
                          <a:solidFill>
                            <a:schemeClr val="tx2"/>
                          </a:solidFill>
                          <a:latin typeface="+mn-lt"/>
                          <a:ea typeface="+mn-ea"/>
                          <a:cs typeface="+mn-cs"/>
                        </a:rPr>
                        <a:t>이전등록된</a:t>
                      </a:r>
                      <a:r>
                        <a:rPr lang="ko-KR" altLang="en-US" sz="1100" kern="1200" dirty="0">
                          <a:solidFill>
                            <a:schemeClr val="tx2"/>
                          </a:solidFill>
                          <a:latin typeface="+mn-lt"/>
                          <a:ea typeface="+mn-ea"/>
                          <a:cs typeface="+mn-cs"/>
                        </a:rPr>
                        <a:t> 경우에 제외</a:t>
                      </a:r>
                    </a:p>
                    <a:p>
                      <a:pPr marL="195263" marR="17780" indent="-195263" algn="just" fontAlgn="base" latinLnBrk="1">
                        <a:lnSpc>
                          <a:spcPct val="100000"/>
                        </a:lnSpc>
                        <a:spcBef>
                          <a:spcPts val="0"/>
                        </a:spcBef>
                        <a:spcAft>
                          <a:spcPts val="0"/>
                        </a:spcAft>
                      </a:pPr>
                      <a:r>
                        <a:rPr lang="ko-KR" altLang="en-US" sz="1100" kern="1200" dirty="0">
                          <a:solidFill>
                            <a:schemeClr val="tx2"/>
                          </a:solidFill>
                          <a:latin typeface="+mn-lt"/>
                          <a:ea typeface="+mn-ea"/>
                          <a:cs typeface="+mn-cs"/>
                        </a:rPr>
                        <a:t>** 단</a:t>
                      </a:r>
                      <a:r>
                        <a:rPr lang="en-US" altLang="ko-KR" sz="1100" kern="1200" dirty="0">
                          <a:solidFill>
                            <a:schemeClr val="tx2"/>
                          </a:solidFill>
                          <a:latin typeface="+mn-lt"/>
                          <a:ea typeface="+mn-ea"/>
                          <a:cs typeface="+mn-cs"/>
                        </a:rPr>
                        <a:t>, </a:t>
                      </a:r>
                      <a:r>
                        <a:rPr lang="ko-KR" altLang="en-US" sz="1100" kern="1200" dirty="0">
                          <a:solidFill>
                            <a:schemeClr val="tx2"/>
                          </a:solidFill>
                          <a:latin typeface="+mn-lt"/>
                          <a:ea typeface="+mn-ea"/>
                          <a:cs typeface="+mn-cs"/>
                        </a:rPr>
                        <a:t>신규사항추가금지</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47</a:t>
                      </a:r>
                      <a:r>
                        <a:rPr lang="ko-KR" altLang="en-US" sz="1100" kern="1200" dirty="0">
                          <a:solidFill>
                            <a:schemeClr val="tx2"/>
                          </a:solidFill>
                          <a:latin typeface="+mn-lt"/>
                          <a:ea typeface="+mn-ea"/>
                          <a:cs typeface="+mn-cs"/>
                        </a:rPr>
                        <a:t>②</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는 원문의 범위</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47</a:t>
                      </a:r>
                      <a:r>
                        <a:rPr lang="ko-KR" altLang="en-US" sz="1100" kern="1200" dirty="0">
                          <a:solidFill>
                            <a:schemeClr val="tx2"/>
                          </a:solidFill>
                          <a:latin typeface="+mn-lt"/>
                          <a:ea typeface="+mn-ea"/>
                          <a:cs typeface="+mn-cs"/>
                        </a:rPr>
                        <a:t>②전단</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를 벗어난 경우</a:t>
                      </a:r>
                      <a:r>
                        <a:rPr lang="en-US" altLang="ko-KR" sz="1100" kern="1200" dirty="0">
                          <a:solidFill>
                            <a:schemeClr val="tx2"/>
                          </a:solidFill>
                          <a:latin typeface="+mn-lt"/>
                          <a:ea typeface="+mn-ea"/>
                          <a:cs typeface="+mn-cs"/>
                        </a:rPr>
                        <a:t>, </a:t>
                      </a:r>
                      <a:r>
                        <a:rPr lang="ko-KR" altLang="en-US" sz="1100" kern="1200" dirty="0">
                          <a:solidFill>
                            <a:schemeClr val="tx2"/>
                          </a:solidFill>
                          <a:latin typeface="+mn-lt"/>
                          <a:ea typeface="+mn-ea"/>
                          <a:cs typeface="+mn-cs"/>
                        </a:rPr>
                        <a:t>분리출원의 경우 원출원의 최초 명세서</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도면에 기재된 범위</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法 </a:t>
                      </a:r>
                      <a:r>
                        <a:rPr lang="en-US" altLang="ko-KR" sz="1100" kern="1200" dirty="0">
                          <a:solidFill>
                            <a:schemeClr val="tx2"/>
                          </a:solidFill>
                          <a:latin typeface="+mn-lt"/>
                          <a:ea typeface="+mn-ea"/>
                          <a:cs typeface="+mn-cs"/>
                        </a:rPr>
                        <a:t>52</a:t>
                      </a:r>
                      <a:r>
                        <a:rPr lang="ko-KR" altLang="en-US" sz="1100" kern="1200" dirty="0">
                          <a:solidFill>
                            <a:schemeClr val="tx2"/>
                          </a:solidFill>
                          <a:latin typeface="+mn-lt"/>
                          <a:ea typeface="+mn-ea"/>
                          <a:cs typeface="+mn-cs"/>
                        </a:rPr>
                        <a:t>의</a:t>
                      </a:r>
                      <a:r>
                        <a:rPr lang="en-US" altLang="ko-KR" sz="1100" kern="1200" dirty="0">
                          <a:solidFill>
                            <a:schemeClr val="tx2"/>
                          </a:solidFill>
                          <a:latin typeface="+mn-lt"/>
                          <a:ea typeface="+mn-ea"/>
                          <a:cs typeface="+mn-cs"/>
                        </a:rPr>
                        <a:t>2</a:t>
                      </a:r>
                      <a:r>
                        <a:rPr lang="ko-KR" altLang="en-US" sz="1100" kern="1200" dirty="0">
                          <a:solidFill>
                            <a:schemeClr val="tx2"/>
                          </a:solidFill>
                          <a:latin typeface="+mn-lt"/>
                          <a:ea typeface="+mn-ea"/>
                          <a:cs typeface="+mn-cs"/>
                        </a:rPr>
                        <a:t>①각호외의 부분 전단</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를 벗어난 경우에만 특허무효사유에 해당</a:t>
                      </a:r>
                    </a:p>
                    <a:p>
                      <a:pPr marL="266700" marR="17780" indent="-266700" algn="just" fontAlgn="base" latinLnBrk="1">
                        <a:lnSpc>
                          <a:spcPct val="100000"/>
                        </a:lnSpc>
                        <a:spcBef>
                          <a:spcPts val="0"/>
                        </a:spcBef>
                        <a:spcAft>
                          <a:spcPts val="0"/>
                        </a:spcAft>
                      </a:pPr>
                      <a:r>
                        <a:rPr lang="ko-KR" altLang="en-US" sz="1100" kern="1200" dirty="0">
                          <a:solidFill>
                            <a:schemeClr val="tx2"/>
                          </a:solidFill>
                          <a:latin typeface="+mn-lt"/>
                          <a:ea typeface="+mn-ea"/>
                          <a:cs typeface="+mn-cs"/>
                        </a:rPr>
                        <a:t>*** 제</a:t>
                      </a:r>
                      <a:r>
                        <a:rPr lang="en-US" altLang="ko-KR" sz="1100" kern="1200" dirty="0">
                          <a:solidFill>
                            <a:schemeClr val="tx2"/>
                          </a:solidFill>
                          <a:latin typeface="+mn-lt"/>
                          <a:ea typeface="+mn-ea"/>
                          <a:cs typeface="+mn-cs"/>
                        </a:rPr>
                        <a:t>29</a:t>
                      </a:r>
                      <a:r>
                        <a:rPr lang="ko-KR" altLang="en-US" sz="1100" kern="1200" dirty="0">
                          <a:solidFill>
                            <a:schemeClr val="tx2"/>
                          </a:solidFill>
                          <a:latin typeface="+mn-lt"/>
                          <a:ea typeface="+mn-ea"/>
                          <a:cs typeface="+mn-cs"/>
                        </a:rPr>
                        <a:t>조</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같은 조 제</a:t>
                      </a:r>
                      <a:r>
                        <a:rPr lang="en-US" altLang="ko-KR" sz="1100" kern="1200" dirty="0">
                          <a:solidFill>
                            <a:schemeClr val="tx2"/>
                          </a:solidFill>
                          <a:latin typeface="+mn-lt"/>
                          <a:ea typeface="+mn-ea"/>
                          <a:cs typeface="+mn-cs"/>
                        </a:rPr>
                        <a:t>1</a:t>
                      </a:r>
                      <a:r>
                        <a:rPr lang="ko-KR" altLang="en-US" sz="1100" kern="1200" dirty="0" err="1">
                          <a:solidFill>
                            <a:schemeClr val="tx2"/>
                          </a:solidFill>
                          <a:latin typeface="+mn-lt"/>
                          <a:ea typeface="+mn-ea"/>
                          <a:cs typeface="+mn-cs"/>
                        </a:rPr>
                        <a:t>항제</a:t>
                      </a:r>
                      <a:r>
                        <a:rPr lang="en-US" altLang="ko-KR" sz="1100" kern="1200" dirty="0">
                          <a:solidFill>
                            <a:schemeClr val="tx2"/>
                          </a:solidFill>
                          <a:latin typeface="+mn-lt"/>
                          <a:ea typeface="+mn-ea"/>
                          <a:cs typeface="+mn-cs"/>
                        </a:rPr>
                        <a:t>1</a:t>
                      </a:r>
                      <a:r>
                        <a:rPr lang="ko-KR" altLang="en-US" sz="1100" kern="1200" dirty="0">
                          <a:solidFill>
                            <a:schemeClr val="tx2"/>
                          </a:solidFill>
                          <a:latin typeface="+mn-lt"/>
                          <a:ea typeface="+mn-ea"/>
                          <a:cs typeface="+mn-cs"/>
                        </a:rPr>
                        <a:t>호에 해당하는 경우와 같은 호에 해당하는 발명에 의하여 쉽게 발명할 수 있는 경우는 제외한다</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와 제</a:t>
                      </a:r>
                      <a:r>
                        <a:rPr lang="en-US" altLang="ko-KR" sz="1100" kern="1200" dirty="0">
                          <a:solidFill>
                            <a:schemeClr val="tx2"/>
                          </a:solidFill>
                          <a:latin typeface="+mn-lt"/>
                          <a:ea typeface="+mn-ea"/>
                          <a:cs typeface="+mn-cs"/>
                        </a:rPr>
                        <a:t>36</a:t>
                      </a:r>
                      <a:r>
                        <a:rPr lang="ko-KR" altLang="en-US" sz="1100" kern="1200" dirty="0">
                          <a:solidFill>
                            <a:schemeClr val="tx2"/>
                          </a:solidFill>
                          <a:latin typeface="+mn-lt"/>
                          <a:ea typeface="+mn-ea"/>
                          <a:cs typeface="+mn-cs"/>
                        </a:rPr>
                        <a:t>조 제</a:t>
                      </a:r>
                      <a:r>
                        <a:rPr lang="en-US" altLang="ko-KR" sz="1100" kern="1200" dirty="0">
                          <a:solidFill>
                            <a:schemeClr val="tx2"/>
                          </a:solidFill>
                          <a:latin typeface="+mn-lt"/>
                          <a:ea typeface="+mn-ea"/>
                          <a:cs typeface="+mn-cs"/>
                        </a:rPr>
                        <a:t>1</a:t>
                      </a:r>
                      <a:r>
                        <a:rPr lang="ko-KR" altLang="en-US" sz="1100" kern="1200" dirty="0">
                          <a:solidFill>
                            <a:schemeClr val="tx2"/>
                          </a:solidFill>
                          <a:latin typeface="+mn-lt"/>
                          <a:ea typeface="+mn-ea"/>
                          <a:cs typeface="+mn-cs"/>
                        </a:rPr>
                        <a:t>항 내지 제</a:t>
                      </a:r>
                      <a:r>
                        <a:rPr lang="en-US" altLang="ko-KR" sz="1100" kern="1200" dirty="0">
                          <a:solidFill>
                            <a:schemeClr val="tx2"/>
                          </a:solidFill>
                          <a:latin typeface="+mn-lt"/>
                          <a:ea typeface="+mn-ea"/>
                          <a:cs typeface="+mn-cs"/>
                        </a:rPr>
                        <a:t>3</a:t>
                      </a:r>
                      <a:r>
                        <a:rPr lang="ko-KR" altLang="en-US" sz="1100" kern="1200" dirty="0">
                          <a:solidFill>
                            <a:schemeClr val="tx2"/>
                          </a:solidFill>
                          <a:latin typeface="+mn-lt"/>
                          <a:ea typeface="+mn-ea"/>
                          <a:cs typeface="+mn-cs"/>
                        </a:rPr>
                        <a:t>항에 한하되</a:t>
                      </a:r>
                      <a:r>
                        <a:rPr lang="en-US" altLang="ko-KR" sz="1100" kern="1200" dirty="0">
                          <a:solidFill>
                            <a:schemeClr val="tx2"/>
                          </a:solidFill>
                          <a:latin typeface="+mn-lt"/>
                          <a:ea typeface="+mn-ea"/>
                          <a:cs typeface="+mn-cs"/>
                        </a:rPr>
                        <a:t>, </a:t>
                      </a:r>
                      <a:r>
                        <a:rPr lang="ko-KR" altLang="en-US" sz="1100" kern="1200" dirty="0">
                          <a:solidFill>
                            <a:schemeClr val="tx2"/>
                          </a:solidFill>
                          <a:latin typeface="+mn-lt"/>
                          <a:ea typeface="+mn-ea"/>
                          <a:cs typeface="+mn-cs"/>
                        </a:rPr>
                        <a:t>등록특허공보에 게재된 선행기술을 기초로는 불가</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심판실무상 제</a:t>
                      </a:r>
                      <a:r>
                        <a:rPr lang="en-US" altLang="ko-KR" sz="1100" kern="1200" dirty="0">
                          <a:solidFill>
                            <a:schemeClr val="tx2"/>
                          </a:solidFill>
                          <a:latin typeface="+mn-lt"/>
                          <a:ea typeface="+mn-ea"/>
                          <a:cs typeface="+mn-cs"/>
                        </a:rPr>
                        <a:t>29</a:t>
                      </a:r>
                      <a:r>
                        <a:rPr lang="ko-KR" altLang="en-US" sz="1100" kern="1200" dirty="0">
                          <a:solidFill>
                            <a:schemeClr val="tx2"/>
                          </a:solidFill>
                          <a:latin typeface="+mn-lt"/>
                          <a:ea typeface="+mn-ea"/>
                          <a:cs typeface="+mn-cs"/>
                        </a:rPr>
                        <a:t>조제</a:t>
                      </a:r>
                      <a:r>
                        <a:rPr lang="en-US" altLang="ko-KR" sz="1100" kern="1200" dirty="0">
                          <a:solidFill>
                            <a:schemeClr val="tx2"/>
                          </a:solidFill>
                          <a:latin typeface="+mn-lt"/>
                          <a:ea typeface="+mn-ea"/>
                          <a:cs typeface="+mn-cs"/>
                        </a:rPr>
                        <a:t>1</a:t>
                      </a:r>
                      <a:r>
                        <a:rPr lang="ko-KR" altLang="en-US" sz="1100" kern="1200" dirty="0" err="1">
                          <a:solidFill>
                            <a:schemeClr val="tx2"/>
                          </a:solidFill>
                          <a:latin typeface="+mn-lt"/>
                          <a:ea typeface="+mn-ea"/>
                          <a:cs typeface="+mn-cs"/>
                        </a:rPr>
                        <a:t>항본문</a:t>
                      </a:r>
                      <a:r>
                        <a:rPr lang="ko-KR" altLang="en-US" sz="1100" kern="1200" dirty="0">
                          <a:solidFill>
                            <a:schemeClr val="tx2"/>
                          </a:solidFill>
                          <a:latin typeface="+mn-lt"/>
                          <a:ea typeface="+mn-ea"/>
                          <a:cs typeface="+mn-cs"/>
                        </a:rPr>
                        <a:t> 위반도 제외</a:t>
                      </a:r>
                    </a:p>
                  </a:txBody>
                  <a:tcPr marL="16915" marR="16915" marT="16915" marB="16915" anchor="ctr">
                    <a:lnL>
                      <a:noFill/>
                    </a:lnL>
                    <a:lnR>
                      <a:noFill/>
                    </a:lnR>
                    <a:lnT w="12700" cap="flat" cmpd="sng" algn="ctr">
                      <a:solidFill>
                        <a:schemeClr val="tx1"/>
                      </a:solidFill>
                      <a:prstDash val="solid"/>
                      <a:round/>
                      <a:headEnd type="none" w="med" len="med"/>
                      <a:tailEnd type="none" w="med" len="med"/>
                    </a:lnT>
                    <a:lnB>
                      <a:noFill/>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291577411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12</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명세서의 구조</a:t>
            </a:r>
          </a:p>
        </p:txBody>
      </p:sp>
      <p:sp>
        <p:nvSpPr>
          <p:cNvPr id="36" name="한쪽 모서리가 잘린 사각형 41">
            <a:extLst>
              <a:ext uri="{FF2B5EF4-FFF2-40B4-BE49-F238E27FC236}">
                <a16:creationId xmlns:a16="http://schemas.microsoft.com/office/drawing/2014/main" id="{C5DC9B61-F023-E3F5-DFEE-07F1F6638F30}"/>
              </a:ext>
            </a:extLst>
          </p:cNvPr>
          <p:cNvSpPr/>
          <p:nvPr/>
        </p:nvSpPr>
        <p:spPr bwMode="auto">
          <a:xfrm>
            <a:off x="431371" y="1232123"/>
            <a:ext cx="5568949" cy="2679700"/>
          </a:xfrm>
          <a:prstGeom prst="snip1Rect">
            <a:avLst/>
          </a:prstGeom>
          <a:ln>
            <a:solidFill>
              <a:schemeClr val="tx2">
                <a:lumMod val="50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lIns="90000" tIns="46800" rIns="90000" bIns="46800"/>
          <a:lstStyle/>
          <a:p>
            <a:pPr algn="ctr">
              <a:buFont typeface="Wingdings" pitchFamily="2" charset="2"/>
              <a:buNone/>
              <a:defRPr/>
            </a:pPr>
            <a:endParaRPr lang="ko-KR" altLang="en-US" sz="2000" b="0">
              <a:solidFill>
                <a:srgbClr val="1C1C1C"/>
              </a:solidFill>
              <a:latin typeface="+mn-ea"/>
            </a:endParaRPr>
          </a:p>
        </p:txBody>
      </p:sp>
      <p:sp>
        <p:nvSpPr>
          <p:cNvPr id="37" name="Rectangle 7">
            <a:extLst>
              <a:ext uri="{FF2B5EF4-FFF2-40B4-BE49-F238E27FC236}">
                <a16:creationId xmlns:a16="http://schemas.microsoft.com/office/drawing/2014/main" id="{BC53DE68-4DF1-E830-1EBF-D636A24C8565}"/>
              </a:ext>
            </a:extLst>
          </p:cNvPr>
          <p:cNvSpPr>
            <a:spLocks noChangeArrowheads="1"/>
          </p:cNvSpPr>
          <p:nvPr/>
        </p:nvSpPr>
        <p:spPr bwMode="auto">
          <a:xfrm>
            <a:off x="816605" y="1628800"/>
            <a:ext cx="1150937" cy="260746"/>
          </a:xfrm>
          <a:prstGeom prst="rect">
            <a:avLst/>
          </a:prstGeom>
          <a:solidFill>
            <a:schemeClr val="accent1">
              <a:lumMod val="20000"/>
              <a:lumOff val="80000"/>
            </a:schemeClr>
          </a:solidFill>
          <a:ln>
            <a:headEnd/>
            <a:tailEnd/>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a:defRPr/>
            </a:pPr>
            <a:r>
              <a:rPr lang="ko-KR" altLang="en-US" sz="1200" b="0">
                <a:solidFill>
                  <a:schemeClr val="tx1"/>
                </a:solidFill>
                <a:latin typeface="+mn-ea"/>
              </a:rPr>
              <a:t>출원서</a:t>
            </a:r>
          </a:p>
        </p:txBody>
      </p:sp>
      <p:sp>
        <p:nvSpPr>
          <p:cNvPr id="38" name="Rectangle 8">
            <a:extLst>
              <a:ext uri="{FF2B5EF4-FFF2-40B4-BE49-F238E27FC236}">
                <a16:creationId xmlns:a16="http://schemas.microsoft.com/office/drawing/2014/main" id="{49B0B647-03FB-24E7-9244-1AAEFC5581A6}"/>
              </a:ext>
            </a:extLst>
          </p:cNvPr>
          <p:cNvSpPr>
            <a:spLocks noChangeArrowheads="1"/>
          </p:cNvSpPr>
          <p:nvPr/>
        </p:nvSpPr>
        <p:spPr bwMode="auto">
          <a:xfrm>
            <a:off x="816605" y="2194389"/>
            <a:ext cx="1150937" cy="260746"/>
          </a:xfrm>
          <a:prstGeom prst="rect">
            <a:avLst/>
          </a:prstGeom>
          <a:solidFill>
            <a:schemeClr val="accent1">
              <a:lumMod val="20000"/>
              <a:lumOff val="80000"/>
            </a:schemeClr>
          </a:solidFill>
          <a:ln>
            <a:solidFill>
              <a:schemeClr val="accent4">
                <a:lumMod val="50000"/>
              </a:schemeClr>
            </a:solidFill>
            <a:headEnd/>
            <a:tailEnd/>
          </a:ln>
        </p:spPr>
        <p:style>
          <a:lnRef idx="2">
            <a:schemeClr val="accent4">
              <a:shade val="50000"/>
            </a:schemeClr>
          </a:lnRef>
          <a:fillRef idx="1">
            <a:schemeClr val="accent4"/>
          </a:fillRef>
          <a:effectRef idx="0">
            <a:schemeClr val="accent4"/>
          </a:effectRef>
          <a:fontRef idx="minor">
            <a:schemeClr val="lt1"/>
          </a:fontRef>
        </p:style>
        <p:txBody>
          <a:bodyPr wrap="none" anchor="ctr"/>
          <a:lstStyle/>
          <a:p>
            <a:pPr algn="ctr">
              <a:defRPr/>
            </a:pPr>
            <a:r>
              <a:rPr lang="ko-KR" altLang="en-US" sz="1200" b="0" dirty="0">
                <a:solidFill>
                  <a:schemeClr val="tx1"/>
                </a:solidFill>
                <a:latin typeface="+mn-ea"/>
              </a:rPr>
              <a:t>명세서</a:t>
            </a:r>
          </a:p>
        </p:txBody>
      </p:sp>
      <p:sp>
        <p:nvSpPr>
          <p:cNvPr id="39" name="Rectangle 9">
            <a:extLst>
              <a:ext uri="{FF2B5EF4-FFF2-40B4-BE49-F238E27FC236}">
                <a16:creationId xmlns:a16="http://schemas.microsoft.com/office/drawing/2014/main" id="{51CCB645-7BD2-15DC-F9C1-A9BE8C1C0A12}"/>
              </a:ext>
            </a:extLst>
          </p:cNvPr>
          <p:cNvSpPr>
            <a:spLocks noChangeArrowheads="1"/>
          </p:cNvSpPr>
          <p:nvPr/>
        </p:nvSpPr>
        <p:spPr bwMode="auto">
          <a:xfrm>
            <a:off x="816605" y="2803116"/>
            <a:ext cx="1150937" cy="260746"/>
          </a:xfrm>
          <a:prstGeom prst="rect">
            <a:avLst/>
          </a:prstGeom>
          <a:solidFill>
            <a:schemeClr val="accent1">
              <a:lumMod val="20000"/>
              <a:lumOff val="80000"/>
            </a:schemeClr>
          </a:solidFill>
          <a:ln>
            <a:headEnd/>
            <a:tailEnd/>
          </a:ln>
        </p:spPr>
        <p:style>
          <a:lnRef idx="2">
            <a:schemeClr val="accent5">
              <a:shade val="50000"/>
            </a:schemeClr>
          </a:lnRef>
          <a:fillRef idx="1">
            <a:schemeClr val="accent5"/>
          </a:fillRef>
          <a:effectRef idx="0">
            <a:schemeClr val="accent5"/>
          </a:effectRef>
          <a:fontRef idx="minor">
            <a:schemeClr val="lt1"/>
          </a:fontRef>
        </p:style>
        <p:txBody>
          <a:bodyPr wrap="none" anchor="ctr"/>
          <a:lstStyle/>
          <a:p>
            <a:pPr algn="ctr">
              <a:defRPr/>
            </a:pPr>
            <a:r>
              <a:rPr lang="ko-KR" altLang="en-US" sz="1200" b="0" dirty="0">
                <a:solidFill>
                  <a:schemeClr val="tx1"/>
                </a:solidFill>
                <a:latin typeface="+mn-ea"/>
              </a:rPr>
              <a:t>필요한 도면</a:t>
            </a:r>
          </a:p>
        </p:txBody>
      </p:sp>
      <p:sp>
        <p:nvSpPr>
          <p:cNvPr id="42" name="Rectangle 10">
            <a:extLst>
              <a:ext uri="{FF2B5EF4-FFF2-40B4-BE49-F238E27FC236}">
                <a16:creationId xmlns:a16="http://schemas.microsoft.com/office/drawing/2014/main" id="{A9552D65-B461-4102-3CED-3FB5814C24A7}"/>
              </a:ext>
            </a:extLst>
          </p:cNvPr>
          <p:cNvSpPr>
            <a:spLocks noChangeArrowheads="1"/>
          </p:cNvSpPr>
          <p:nvPr/>
        </p:nvSpPr>
        <p:spPr bwMode="auto">
          <a:xfrm>
            <a:off x="816605" y="3368705"/>
            <a:ext cx="1150937" cy="260746"/>
          </a:xfrm>
          <a:prstGeom prst="rect">
            <a:avLst/>
          </a:prstGeom>
          <a:solidFill>
            <a:schemeClr val="accent1">
              <a:lumMod val="20000"/>
              <a:lumOff val="80000"/>
            </a:schemeClr>
          </a:solidFill>
          <a:ln>
            <a:headEnd/>
            <a:tailEnd/>
          </a:ln>
        </p:spPr>
        <p:style>
          <a:lnRef idx="2">
            <a:schemeClr val="accent6">
              <a:shade val="50000"/>
            </a:schemeClr>
          </a:lnRef>
          <a:fillRef idx="1">
            <a:schemeClr val="accent6"/>
          </a:fillRef>
          <a:effectRef idx="0">
            <a:schemeClr val="accent6"/>
          </a:effectRef>
          <a:fontRef idx="minor">
            <a:schemeClr val="lt1"/>
          </a:fontRef>
        </p:style>
        <p:txBody>
          <a:bodyPr wrap="none" anchor="ctr"/>
          <a:lstStyle/>
          <a:p>
            <a:pPr algn="ctr">
              <a:defRPr/>
            </a:pPr>
            <a:r>
              <a:rPr lang="ko-KR" altLang="en-US" sz="1200" b="0">
                <a:solidFill>
                  <a:schemeClr val="tx1"/>
                </a:solidFill>
                <a:latin typeface="+mn-ea"/>
              </a:rPr>
              <a:t>요약서</a:t>
            </a:r>
          </a:p>
        </p:txBody>
      </p:sp>
      <p:cxnSp>
        <p:nvCxnSpPr>
          <p:cNvPr id="44" name="AutoShape 11">
            <a:extLst>
              <a:ext uri="{FF2B5EF4-FFF2-40B4-BE49-F238E27FC236}">
                <a16:creationId xmlns:a16="http://schemas.microsoft.com/office/drawing/2014/main" id="{104EC371-41D8-99AA-EC32-33DEF666A3C4}"/>
              </a:ext>
            </a:extLst>
          </p:cNvPr>
          <p:cNvCxnSpPr>
            <a:cxnSpLocks noChangeShapeType="1"/>
            <a:stCxn id="37" idx="2"/>
            <a:endCxn id="38" idx="0"/>
          </p:cNvCxnSpPr>
          <p:nvPr/>
        </p:nvCxnSpPr>
        <p:spPr bwMode="auto">
          <a:xfrm>
            <a:off x="1392073" y="1889546"/>
            <a:ext cx="0" cy="304843"/>
          </a:xfrm>
          <a:prstGeom prst="straightConnector1">
            <a:avLst/>
          </a:prstGeom>
          <a:ln>
            <a:headEnd/>
            <a:tailEnd/>
          </a:ln>
        </p:spPr>
        <p:style>
          <a:lnRef idx="2">
            <a:schemeClr val="accent4">
              <a:shade val="50000"/>
            </a:schemeClr>
          </a:lnRef>
          <a:fillRef idx="1">
            <a:schemeClr val="accent4"/>
          </a:fillRef>
          <a:effectRef idx="0">
            <a:schemeClr val="accent4"/>
          </a:effectRef>
          <a:fontRef idx="minor">
            <a:schemeClr val="lt1"/>
          </a:fontRef>
        </p:style>
      </p:cxnSp>
      <p:cxnSp>
        <p:nvCxnSpPr>
          <p:cNvPr id="45" name="AutoShape 12">
            <a:extLst>
              <a:ext uri="{FF2B5EF4-FFF2-40B4-BE49-F238E27FC236}">
                <a16:creationId xmlns:a16="http://schemas.microsoft.com/office/drawing/2014/main" id="{F361BEF3-A113-4A3C-025C-D6CE532C48EF}"/>
              </a:ext>
            </a:extLst>
          </p:cNvPr>
          <p:cNvCxnSpPr>
            <a:cxnSpLocks noChangeShapeType="1"/>
            <a:stCxn id="38" idx="2"/>
            <a:endCxn id="39" idx="0"/>
          </p:cNvCxnSpPr>
          <p:nvPr/>
        </p:nvCxnSpPr>
        <p:spPr bwMode="auto">
          <a:xfrm>
            <a:off x="1392073" y="2455136"/>
            <a:ext cx="0" cy="347981"/>
          </a:xfrm>
          <a:prstGeom prst="straightConnector1">
            <a:avLst/>
          </a:prstGeom>
          <a:ln>
            <a:headEnd/>
            <a:tailEnd/>
          </a:ln>
        </p:spPr>
        <p:style>
          <a:lnRef idx="2">
            <a:schemeClr val="accent5">
              <a:shade val="50000"/>
            </a:schemeClr>
          </a:lnRef>
          <a:fillRef idx="1">
            <a:schemeClr val="accent5"/>
          </a:fillRef>
          <a:effectRef idx="0">
            <a:schemeClr val="accent5"/>
          </a:effectRef>
          <a:fontRef idx="minor">
            <a:schemeClr val="lt1"/>
          </a:fontRef>
        </p:style>
      </p:cxnSp>
      <p:cxnSp>
        <p:nvCxnSpPr>
          <p:cNvPr id="46" name="AutoShape 13">
            <a:extLst>
              <a:ext uri="{FF2B5EF4-FFF2-40B4-BE49-F238E27FC236}">
                <a16:creationId xmlns:a16="http://schemas.microsoft.com/office/drawing/2014/main" id="{09E505C5-2073-1968-442E-5AB4A9031244}"/>
              </a:ext>
            </a:extLst>
          </p:cNvPr>
          <p:cNvCxnSpPr>
            <a:cxnSpLocks noChangeShapeType="1"/>
            <a:stCxn id="39" idx="2"/>
            <a:endCxn id="42" idx="0"/>
          </p:cNvCxnSpPr>
          <p:nvPr/>
        </p:nvCxnSpPr>
        <p:spPr bwMode="auto">
          <a:xfrm>
            <a:off x="1392073" y="3063863"/>
            <a:ext cx="0" cy="304843"/>
          </a:xfrm>
          <a:prstGeom prst="straightConnector1">
            <a:avLst/>
          </a:prstGeom>
          <a:ln>
            <a:headEnd/>
            <a:tailEnd/>
          </a:ln>
        </p:spPr>
        <p:style>
          <a:lnRef idx="2">
            <a:schemeClr val="accent6">
              <a:shade val="50000"/>
            </a:schemeClr>
          </a:lnRef>
          <a:fillRef idx="1">
            <a:schemeClr val="accent6"/>
          </a:fillRef>
          <a:effectRef idx="0">
            <a:schemeClr val="accent6"/>
          </a:effectRef>
          <a:fontRef idx="minor">
            <a:schemeClr val="lt1"/>
          </a:fontRef>
        </p:style>
      </p:cxnSp>
      <p:sp>
        <p:nvSpPr>
          <p:cNvPr id="47" name="AutoShape 14">
            <a:extLst>
              <a:ext uri="{FF2B5EF4-FFF2-40B4-BE49-F238E27FC236}">
                <a16:creationId xmlns:a16="http://schemas.microsoft.com/office/drawing/2014/main" id="{0E4152DD-AE52-6640-FDAE-8F17E1E42FC2}"/>
              </a:ext>
            </a:extLst>
          </p:cNvPr>
          <p:cNvSpPr>
            <a:spLocks noChangeArrowheads="1"/>
          </p:cNvSpPr>
          <p:nvPr/>
        </p:nvSpPr>
        <p:spPr bwMode="auto">
          <a:xfrm>
            <a:off x="2929038" y="2107155"/>
            <a:ext cx="2592916" cy="241870"/>
          </a:xfrm>
          <a:prstGeom prst="roundRect">
            <a:avLst>
              <a:gd name="adj" fmla="val 16667"/>
            </a:avLst>
          </a:prstGeom>
          <a:solidFill>
            <a:schemeClr val="accent6">
              <a:lumMod val="50000"/>
            </a:schemeClr>
          </a:solidFill>
          <a:ln>
            <a:solidFill>
              <a:schemeClr val="accent4">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algn="ctr">
              <a:defRPr/>
            </a:pPr>
            <a:r>
              <a:rPr lang="ko-KR" altLang="en-US" sz="1200" b="0" dirty="0">
                <a:solidFill>
                  <a:schemeClr val="bg1"/>
                </a:solidFill>
                <a:latin typeface="+mn-ea"/>
              </a:rPr>
              <a:t>발명의 설명</a:t>
            </a:r>
            <a:r>
              <a:rPr lang="en-US" altLang="ko-KR" sz="1200" b="0" dirty="0">
                <a:solidFill>
                  <a:schemeClr val="bg1"/>
                </a:solidFill>
                <a:latin typeface="+mn-ea"/>
              </a:rPr>
              <a:t>(A, B, C)</a:t>
            </a:r>
            <a:endParaRPr lang="ko-KR" altLang="en-US" sz="1200" b="0" dirty="0">
              <a:solidFill>
                <a:schemeClr val="bg1"/>
              </a:solidFill>
              <a:latin typeface="+mn-ea"/>
            </a:endParaRPr>
          </a:p>
        </p:txBody>
      </p:sp>
      <p:sp>
        <p:nvSpPr>
          <p:cNvPr id="48" name="AutoShape 17">
            <a:extLst>
              <a:ext uri="{FF2B5EF4-FFF2-40B4-BE49-F238E27FC236}">
                <a16:creationId xmlns:a16="http://schemas.microsoft.com/office/drawing/2014/main" id="{2B55328F-3CAC-E33A-6EE4-75F5FA34E9DE}"/>
              </a:ext>
            </a:extLst>
          </p:cNvPr>
          <p:cNvSpPr>
            <a:spLocks noChangeArrowheads="1"/>
          </p:cNvSpPr>
          <p:nvPr/>
        </p:nvSpPr>
        <p:spPr bwMode="auto">
          <a:xfrm>
            <a:off x="2929038" y="2446911"/>
            <a:ext cx="2592916" cy="241870"/>
          </a:xfrm>
          <a:prstGeom prst="roundRect">
            <a:avLst>
              <a:gd name="adj" fmla="val 16667"/>
            </a:avLst>
          </a:prstGeom>
          <a:solidFill>
            <a:schemeClr val="accent4"/>
          </a:solidFill>
          <a:ln>
            <a:solidFill>
              <a:schemeClr val="accent4">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algn="ctr">
              <a:defRPr/>
            </a:pPr>
            <a:r>
              <a:rPr lang="ko-KR" altLang="en-US" sz="1200" b="0" dirty="0">
                <a:solidFill>
                  <a:schemeClr val="tx1"/>
                </a:solidFill>
                <a:latin typeface="+mn-ea"/>
              </a:rPr>
              <a:t>청구범위</a:t>
            </a:r>
            <a:r>
              <a:rPr lang="en-US" altLang="ko-KR" sz="1200" b="0" dirty="0">
                <a:solidFill>
                  <a:schemeClr val="tx1"/>
                </a:solidFill>
                <a:latin typeface="+mn-ea"/>
              </a:rPr>
              <a:t>(A, B)</a:t>
            </a:r>
            <a:endParaRPr lang="ko-KR" altLang="en-US" sz="1200" b="0" dirty="0">
              <a:solidFill>
                <a:schemeClr val="tx1"/>
              </a:solidFill>
              <a:latin typeface="+mn-ea"/>
            </a:endParaRPr>
          </a:p>
        </p:txBody>
      </p:sp>
      <p:cxnSp>
        <p:nvCxnSpPr>
          <p:cNvPr id="49" name="AutoShape 19">
            <a:extLst>
              <a:ext uri="{FF2B5EF4-FFF2-40B4-BE49-F238E27FC236}">
                <a16:creationId xmlns:a16="http://schemas.microsoft.com/office/drawing/2014/main" id="{C5C01786-5E3C-F073-49D9-83C0D091D94E}"/>
              </a:ext>
            </a:extLst>
          </p:cNvPr>
          <p:cNvCxnSpPr>
            <a:cxnSpLocks noChangeShapeType="1"/>
            <a:stCxn id="38" idx="3"/>
            <a:endCxn id="47" idx="1"/>
          </p:cNvCxnSpPr>
          <p:nvPr/>
        </p:nvCxnSpPr>
        <p:spPr bwMode="auto">
          <a:xfrm flipV="1">
            <a:off x="1967541" y="2228090"/>
            <a:ext cx="961496" cy="96672"/>
          </a:xfrm>
          <a:prstGeom prst="bentConnector3">
            <a:avLst>
              <a:gd name="adj1" fmla="val 50000"/>
            </a:avLst>
          </a:prstGeom>
          <a:ln>
            <a:solidFill>
              <a:schemeClr val="accent4">
                <a:lumMod val="50000"/>
              </a:schemeClr>
            </a:solidFill>
            <a:headEnd/>
            <a:tailEnd/>
          </a:ln>
        </p:spPr>
        <p:style>
          <a:lnRef idx="2">
            <a:schemeClr val="accent4"/>
          </a:lnRef>
          <a:fillRef idx="1">
            <a:schemeClr val="lt1"/>
          </a:fillRef>
          <a:effectRef idx="0">
            <a:schemeClr val="accent4"/>
          </a:effectRef>
          <a:fontRef idx="minor">
            <a:schemeClr val="dk1"/>
          </a:fontRef>
        </p:style>
      </p:cxnSp>
      <p:cxnSp>
        <p:nvCxnSpPr>
          <p:cNvPr id="50" name="AutoShape 22">
            <a:extLst>
              <a:ext uri="{FF2B5EF4-FFF2-40B4-BE49-F238E27FC236}">
                <a16:creationId xmlns:a16="http://schemas.microsoft.com/office/drawing/2014/main" id="{E93C6F3F-F081-9F48-1768-8A9E3C91AA35}"/>
              </a:ext>
            </a:extLst>
          </p:cNvPr>
          <p:cNvCxnSpPr>
            <a:cxnSpLocks noChangeShapeType="1"/>
            <a:stCxn id="38" idx="3"/>
            <a:endCxn id="48" idx="1"/>
          </p:cNvCxnSpPr>
          <p:nvPr/>
        </p:nvCxnSpPr>
        <p:spPr bwMode="auto">
          <a:xfrm>
            <a:off x="1967541" y="2324762"/>
            <a:ext cx="961496" cy="243084"/>
          </a:xfrm>
          <a:prstGeom prst="bentConnector3">
            <a:avLst>
              <a:gd name="adj1" fmla="val 50000"/>
            </a:avLst>
          </a:prstGeom>
          <a:ln>
            <a:solidFill>
              <a:schemeClr val="accent4">
                <a:lumMod val="50000"/>
              </a:schemeClr>
            </a:solidFill>
            <a:headEnd/>
            <a:tailEnd/>
          </a:ln>
        </p:spPr>
        <p:style>
          <a:lnRef idx="2">
            <a:schemeClr val="accent4"/>
          </a:lnRef>
          <a:fillRef idx="1">
            <a:schemeClr val="lt1"/>
          </a:fillRef>
          <a:effectRef idx="0">
            <a:schemeClr val="accent4"/>
          </a:effectRef>
          <a:fontRef idx="minor">
            <a:schemeClr val="dk1"/>
          </a:fontRef>
        </p:style>
      </p:cxnSp>
      <p:sp>
        <p:nvSpPr>
          <p:cNvPr id="51" name="모서리가 둥근 직사각형 53">
            <a:extLst>
              <a:ext uri="{FF2B5EF4-FFF2-40B4-BE49-F238E27FC236}">
                <a16:creationId xmlns:a16="http://schemas.microsoft.com/office/drawing/2014/main" id="{572D7694-02ED-BD45-6D04-147C4C62BEEF}"/>
              </a:ext>
            </a:extLst>
          </p:cNvPr>
          <p:cNvSpPr/>
          <p:nvPr/>
        </p:nvSpPr>
        <p:spPr bwMode="auto">
          <a:xfrm>
            <a:off x="719237" y="1052736"/>
            <a:ext cx="3073400" cy="360362"/>
          </a:xfrm>
          <a:prstGeom prst="roundRect">
            <a:avLst>
              <a:gd name="adj" fmla="val 50000"/>
            </a:avLst>
          </a:prstGeom>
          <a:solidFill>
            <a:schemeClr val="accent2"/>
          </a:solidFill>
          <a:ln>
            <a:solidFill>
              <a:schemeClr val="bg1">
                <a:lumMod val="50000"/>
              </a:schemeClr>
            </a:solidFill>
            <a:headEnd type="none" w="med" len="med"/>
            <a:tailEnd type="none" w="med" len="med"/>
          </a:ln>
          <a:effectLst/>
        </p:spPr>
        <p:style>
          <a:lnRef idx="1">
            <a:schemeClr val="accent1"/>
          </a:lnRef>
          <a:fillRef idx="3">
            <a:schemeClr val="accent1"/>
          </a:fillRef>
          <a:effectRef idx="2">
            <a:schemeClr val="accent1"/>
          </a:effectRef>
          <a:fontRef idx="minor">
            <a:schemeClr val="lt1"/>
          </a:fontRef>
        </p:style>
        <p:txBody>
          <a:bodyPr lIns="90000" tIns="46800" rIns="90000" bIns="46800" anchor="ctr"/>
          <a:lstStyle/>
          <a:p>
            <a:pPr algn="ctr">
              <a:defRPr/>
            </a:pPr>
            <a:r>
              <a:rPr lang="ko-KR" altLang="en-US" sz="1400" b="0" dirty="0">
                <a:latin typeface="+mj-ea"/>
                <a:ea typeface="+mj-ea"/>
              </a:rPr>
              <a:t>특허출원에 필요한 서류</a:t>
            </a:r>
            <a:endParaRPr lang="ko-KR" altLang="en-US" sz="1400" b="0" dirty="0">
              <a:solidFill>
                <a:srgbClr val="1C1C1C"/>
              </a:solidFill>
              <a:latin typeface="+mj-ea"/>
              <a:ea typeface="+mj-ea"/>
            </a:endParaRPr>
          </a:p>
        </p:txBody>
      </p:sp>
      <p:sp>
        <p:nvSpPr>
          <p:cNvPr id="52" name="직사각형 2">
            <a:extLst>
              <a:ext uri="{FF2B5EF4-FFF2-40B4-BE49-F238E27FC236}">
                <a16:creationId xmlns:a16="http://schemas.microsoft.com/office/drawing/2014/main" id="{8AF3CFE1-B65C-2C24-81B3-3C34C5C6A2C5}"/>
              </a:ext>
            </a:extLst>
          </p:cNvPr>
          <p:cNvSpPr>
            <a:spLocks noChangeArrowheads="1"/>
          </p:cNvSpPr>
          <p:nvPr/>
        </p:nvSpPr>
        <p:spPr bwMode="auto">
          <a:xfrm>
            <a:off x="7384826" y="1842629"/>
            <a:ext cx="3744384" cy="287338"/>
          </a:xfrm>
          <a:prstGeom prst="rect">
            <a:avLst/>
          </a:prstGeom>
          <a:solidFill>
            <a:schemeClr val="bg1"/>
          </a:solidFill>
          <a:ln>
            <a:noFill/>
          </a:ln>
          <a:extLst>
            <a:ext uri="{91240B29-F687-4F45-9708-019B960494DF}">
              <a14:hiddenLine xmlns:a14="http://schemas.microsoft.com/office/drawing/2010/main" w="28575" algn="ctr">
                <a:solidFill>
                  <a:srgbClr val="000000"/>
                </a:solidFill>
                <a:round/>
                <a:headEnd/>
                <a:tailEnd/>
              </a14:hiddenLine>
            </a:ext>
          </a:extLst>
        </p:spPr>
        <p:txBody>
          <a:bodyPr lIns="90000" tIns="46800" rIns="90000" bIns="46800"/>
          <a:lstStyle/>
          <a:p>
            <a:r>
              <a:rPr lang="en-US" altLang="ko-KR" sz="1400" b="0" dirty="0">
                <a:solidFill>
                  <a:schemeClr val="accent6">
                    <a:lumMod val="50000"/>
                  </a:schemeClr>
                </a:solidFill>
                <a:latin typeface="+mn-ea"/>
              </a:rPr>
              <a:t>【</a:t>
            </a:r>
            <a:r>
              <a:rPr lang="ko-KR" altLang="en-US" sz="1400" b="0" dirty="0">
                <a:solidFill>
                  <a:schemeClr val="accent6">
                    <a:lumMod val="50000"/>
                  </a:schemeClr>
                </a:solidFill>
                <a:latin typeface="+mn-ea"/>
              </a:rPr>
              <a:t>발명의 명칭</a:t>
            </a:r>
            <a:r>
              <a:rPr lang="en-US" altLang="ko-KR" sz="1400" b="0" dirty="0">
                <a:solidFill>
                  <a:schemeClr val="accent6">
                    <a:lumMod val="50000"/>
                  </a:schemeClr>
                </a:solidFill>
                <a:latin typeface="+mn-ea"/>
              </a:rPr>
              <a:t>】</a:t>
            </a:r>
            <a:r>
              <a:rPr lang="en-US" altLang="ko-KR" sz="1400" b="0" dirty="0">
                <a:solidFill>
                  <a:srgbClr val="FF0000"/>
                </a:solidFill>
                <a:latin typeface="+mn-ea"/>
              </a:rPr>
              <a:t>(</a:t>
            </a:r>
            <a:r>
              <a:rPr lang="ko-KR" altLang="en-US" sz="1400" b="0" dirty="0">
                <a:solidFill>
                  <a:srgbClr val="FF0000"/>
                </a:solidFill>
                <a:latin typeface="+mn-ea"/>
              </a:rPr>
              <a:t>필수</a:t>
            </a:r>
            <a:r>
              <a:rPr lang="en-US" altLang="ko-KR" sz="1400" b="0" dirty="0">
                <a:solidFill>
                  <a:srgbClr val="FF0000"/>
                </a:solidFill>
                <a:latin typeface="+mn-ea"/>
              </a:rPr>
              <a:t>)</a:t>
            </a:r>
          </a:p>
        </p:txBody>
      </p:sp>
      <p:sp>
        <p:nvSpPr>
          <p:cNvPr id="53" name="직사각형 52">
            <a:extLst>
              <a:ext uri="{FF2B5EF4-FFF2-40B4-BE49-F238E27FC236}">
                <a16:creationId xmlns:a16="http://schemas.microsoft.com/office/drawing/2014/main" id="{6B9792C6-B0CE-EC18-E197-6386DE1ABA53}"/>
              </a:ext>
            </a:extLst>
          </p:cNvPr>
          <p:cNvSpPr/>
          <p:nvPr/>
        </p:nvSpPr>
        <p:spPr bwMode="auto">
          <a:xfrm>
            <a:off x="7384826" y="2133143"/>
            <a:ext cx="3744384" cy="288925"/>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6">
                    <a:lumMod val="50000"/>
                  </a:schemeClr>
                </a:solidFill>
                <a:latin typeface="+mn-ea"/>
              </a:rPr>
              <a:t>【</a:t>
            </a:r>
            <a:r>
              <a:rPr lang="ko-KR" altLang="en-US" sz="1400" b="0" dirty="0">
                <a:solidFill>
                  <a:schemeClr val="accent6">
                    <a:lumMod val="50000"/>
                  </a:schemeClr>
                </a:solidFill>
                <a:latin typeface="+mn-ea"/>
              </a:rPr>
              <a:t>기술분야</a:t>
            </a:r>
            <a:r>
              <a:rPr lang="en-US" altLang="ko-KR" sz="1400" b="0" dirty="0">
                <a:solidFill>
                  <a:schemeClr val="accent6">
                    <a:lumMod val="50000"/>
                  </a:schemeClr>
                </a:solidFill>
                <a:latin typeface="+mn-ea"/>
              </a:rPr>
              <a:t>】</a:t>
            </a:r>
          </a:p>
        </p:txBody>
      </p:sp>
      <p:sp>
        <p:nvSpPr>
          <p:cNvPr id="54" name="직사각형 53">
            <a:extLst>
              <a:ext uri="{FF2B5EF4-FFF2-40B4-BE49-F238E27FC236}">
                <a16:creationId xmlns:a16="http://schemas.microsoft.com/office/drawing/2014/main" id="{D96FF621-0D02-6BD9-BD01-CAAB30D46114}"/>
              </a:ext>
            </a:extLst>
          </p:cNvPr>
          <p:cNvSpPr/>
          <p:nvPr/>
        </p:nvSpPr>
        <p:spPr bwMode="auto">
          <a:xfrm>
            <a:off x="7384826" y="2737979"/>
            <a:ext cx="3744384" cy="287338"/>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6">
                    <a:lumMod val="50000"/>
                  </a:schemeClr>
                </a:solidFill>
                <a:latin typeface="+mn-ea"/>
              </a:rPr>
              <a:t>【</a:t>
            </a:r>
            <a:r>
              <a:rPr lang="ko-KR" altLang="en-US" sz="1400" b="0" dirty="0">
                <a:solidFill>
                  <a:schemeClr val="accent6">
                    <a:lumMod val="50000"/>
                  </a:schemeClr>
                </a:solidFill>
                <a:latin typeface="+mn-ea"/>
              </a:rPr>
              <a:t>발명의 내용</a:t>
            </a:r>
            <a:r>
              <a:rPr lang="en-US" altLang="ko-KR" sz="1400" b="0" dirty="0">
                <a:solidFill>
                  <a:schemeClr val="accent6">
                    <a:lumMod val="50000"/>
                  </a:schemeClr>
                </a:solidFill>
                <a:latin typeface="+mn-ea"/>
              </a:rPr>
              <a:t>】</a:t>
            </a:r>
          </a:p>
        </p:txBody>
      </p:sp>
      <p:sp>
        <p:nvSpPr>
          <p:cNvPr id="55" name="직사각형 54">
            <a:extLst>
              <a:ext uri="{FF2B5EF4-FFF2-40B4-BE49-F238E27FC236}">
                <a16:creationId xmlns:a16="http://schemas.microsoft.com/office/drawing/2014/main" id="{EEC2AB12-8C37-1628-2B8A-C9BB0F6EA3F8}"/>
              </a:ext>
            </a:extLst>
          </p:cNvPr>
          <p:cNvSpPr/>
          <p:nvPr/>
        </p:nvSpPr>
        <p:spPr bwMode="auto">
          <a:xfrm>
            <a:off x="7672692" y="3028493"/>
            <a:ext cx="3744384" cy="288925"/>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6">
                    <a:lumMod val="50000"/>
                  </a:schemeClr>
                </a:solidFill>
                <a:latin typeface="+mn-ea"/>
              </a:rPr>
              <a:t>【</a:t>
            </a:r>
            <a:r>
              <a:rPr lang="ko-KR" altLang="en-US" sz="1400" b="0" dirty="0">
                <a:solidFill>
                  <a:schemeClr val="accent6">
                    <a:lumMod val="50000"/>
                  </a:schemeClr>
                </a:solidFill>
                <a:latin typeface="+mn-ea"/>
              </a:rPr>
              <a:t>해결하고자 하는 과제</a:t>
            </a:r>
            <a:r>
              <a:rPr lang="en-US" altLang="ko-KR" sz="1400" b="0" dirty="0">
                <a:solidFill>
                  <a:schemeClr val="accent6">
                    <a:lumMod val="50000"/>
                  </a:schemeClr>
                </a:solidFill>
                <a:latin typeface="+mn-ea"/>
              </a:rPr>
              <a:t>】</a:t>
            </a:r>
          </a:p>
        </p:txBody>
      </p:sp>
      <p:sp>
        <p:nvSpPr>
          <p:cNvPr id="56" name="직사각형 55">
            <a:extLst>
              <a:ext uri="{FF2B5EF4-FFF2-40B4-BE49-F238E27FC236}">
                <a16:creationId xmlns:a16="http://schemas.microsoft.com/office/drawing/2014/main" id="{2BBA35A4-36AF-EC6F-E569-B15BEBE64AA9}"/>
              </a:ext>
            </a:extLst>
          </p:cNvPr>
          <p:cNvSpPr/>
          <p:nvPr/>
        </p:nvSpPr>
        <p:spPr bwMode="auto">
          <a:xfrm>
            <a:off x="7672692" y="3309479"/>
            <a:ext cx="3744384" cy="287338"/>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6">
                    <a:lumMod val="50000"/>
                  </a:schemeClr>
                </a:solidFill>
                <a:latin typeface="+mn-ea"/>
              </a:rPr>
              <a:t>【</a:t>
            </a:r>
            <a:r>
              <a:rPr lang="ko-KR" altLang="en-US" sz="1400" b="0" dirty="0">
                <a:solidFill>
                  <a:schemeClr val="accent6">
                    <a:lumMod val="50000"/>
                  </a:schemeClr>
                </a:solidFill>
                <a:latin typeface="+mn-ea"/>
              </a:rPr>
              <a:t>과제 해결 수단</a:t>
            </a:r>
            <a:r>
              <a:rPr lang="en-US" altLang="ko-KR" sz="1400" b="0" dirty="0">
                <a:solidFill>
                  <a:schemeClr val="accent6">
                    <a:lumMod val="50000"/>
                  </a:schemeClr>
                </a:solidFill>
                <a:latin typeface="+mn-ea"/>
              </a:rPr>
              <a:t>】</a:t>
            </a:r>
          </a:p>
        </p:txBody>
      </p:sp>
      <p:sp>
        <p:nvSpPr>
          <p:cNvPr id="57" name="직사각형 56">
            <a:extLst>
              <a:ext uri="{FF2B5EF4-FFF2-40B4-BE49-F238E27FC236}">
                <a16:creationId xmlns:a16="http://schemas.microsoft.com/office/drawing/2014/main" id="{5DD3BC7B-4243-9FE1-5CF1-A96C63C64F84}"/>
              </a:ext>
            </a:extLst>
          </p:cNvPr>
          <p:cNvSpPr/>
          <p:nvPr/>
        </p:nvSpPr>
        <p:spPr bwMode="auto">
          <a:xfrm>
            <a:off x="7672692" y="3599993"/>
            <a:ext cx="3744384" cy="287337"/>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6">
                    <a:lumMod val="50000"/>
                  </a:schemeClr>
                </a:solidFill>
                <a:latin typeface="+mn-ea"/>
              </a:rPr>
              <a:t>【</a:t>
            </a:r>
            <a:r>
              <a:rPr lang="ko-KR" altLang="en-US" sz="1400" b="0" dirty="0">
                <a:solidFill>
                  <a:schemeClr val="accent6">
                    <a:lumMod val="50000"/>
                  </a:schemeClr>
                </a:solidFill>
                <a:latin typeface="+mn-ea"/>
              </a:rPr>
              <a:t>효과</a:t>
            </a:r>
            <a:r>
              <a:rPr lang="en-US" altLang="ko-KR" sz="1400" b="0" dirty="0">
                <a:solidFill>
                  <a:schemeClr val="accent6">
                    <a:lumMod val="50000"/>
                  </a:schemeClr>
                </a:solidFill>
                <a:latin typeface="+mn-ea"/>
              </a:rPr>
              <a:t>】</a:t>
            </a:r>
          </a:p>
        </p:txBody>
      </p:sp>
      <p:sp>
        <p:nvSpPr>
          <p:cNvPr id="58" name="직사각형 28">
            <a:extLst>
              <a:ext uri="{FF2B5EF4-FFF2-40B4-BE49-F238E27FC236}">
                <a16:creationId xmlns:a16="http://schemas.microsoft.com/office/drawing/2014/main" id="{AA2DE04C-15D5-1988-3370-A609524B04A8}"/>
              </a:ext>
            </a:extLst>
          </p:cNvPr>
          <p:cNvSpPr>
            <a:spLocks noChangeArrowheads="1"/>
          </p:cNvSpPr>
          <p:nvPr/>
        </p:nvSpPr>
        <p:spPr bwMode="auto">
          <a:xfrm>
            <a:off x="7384826" y="3868279"/>
            <a:ext cx="3744384" cy="287338"/>
          </a:xfrm>
          <a:prstGeom prst="rect">
            <a:avLst/>
          </a:prstGeom>
          <a:solidFill>
            <a:schemeClr val="bg1"/>
          </a:solidFill>
          <a:ln>
            <a:noFill/>
          </a:ln>
          <a:extLst>
            <a:ext uri="{91240B29-F687-4F45-9708-019B960494DF}">
              <a14:hiddenLine xmlns:a14="http://schemas.microsoft.com/office/drawing/2010/main" w="28575" algn="ctr">
                <a:solidFill>
                  <a:srgbClr val="000000"/>
                </a:solidFill>
                <a:round/>
                <a:headEnd/>
                <a:tailEnd/>
              </a14:hiddenLine>
            </a:ext>
          </a:extLst>
        </p:spPr>
        <p:txBody>
          <a:bodyPr lIns="90000" tIns="46800" rIns="90000" bIns="46800"/>
          <a:lstStyle/>
          <a:p>
            <a:r>
              <a:rPr lang="en-US" altLang="ko-KR" sz="1400" b="0">
                <a:solidFill>
                  <a:schemeClr val="accent6">
                    <a:lumMod val="50000"/>
                  </a:schemeClr>
                </a:solidFill>
                <a:latin typeface="+mn-ea"/>
              </a:rPr>
              <a:t>【</a:t>
            </a:r>
            <a:r>
              <a:rPr lang="ko-KR" altLang="en-US" sz="1400" b="0">
                <a:solidFill>
                  <a:schemeClr val="accent6">
                    <a:lumMod val="50000"/>
                  </a:schemeClr>
                </a:solidFill>
                <a:latin typeface="+mn-ea"/>
              </a:rPr>
              <a:t>도면의 간단한 설명</a:t>
            </a:r>
            <a:r>
              <a:rPr lang="en-US" altLang="ko-KR" sz="1400" b="0">
                <a:solidFill>
                  <a:schemeClr val="accent6">
                    <a:lumMod val="50000"/>
                  </a:schemeClr>
                </a:solidFill>
                <a:latin typeface="+mn-ea"/>
              </a:rPr>
              <a:t>】</a:t>
            </a:r>
          </a:p>
        </p:txBody>
      </p:sp>
      <p:sp>
        <p:nvSpPr>
          <p:cNvPr id="59" name="직사각형 58">
            <a:extLst>
              <a:ext uri="{FF2B5EF4-FFF2-40B4-BE49-F238E27FC236}">
                <a16:creationId xmlns:a16="http://schemas.microsoft.com/office/drawing/2014/main" id="{7AAE483F-292F-044F-0E3D-10EF6EFE89A8}"/>
              </a:ext>
            </a:extLst>
          </p:cNvPr>
          <p:cNvSpPr/>
          <p:nvPr/>
        </p:nvSpPr>
        <p:spPr bwMode="auto">
          <a:xfrm>
            <a:off x="7384826" y="4158793"/>
            <a:ext cx="4225131" cy="287337"/>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6">
                    <a:lumMod val="50000"/>
                  </a:schemeClr>
                </a:solidFill>
                <a:latin typeface="+mn-ea"/>
              </a:rPr>
              <a:t>【</a:t>
            </a:r>
            <a:r>
              <a:rPr lang="ko-KR" altLang="en-US" sz="1400" b="0" dirty="0">
                <a:solidFill>
                  <a:schemeClr val="accent6">
                    <a:lumMod val="50000"/>
                  </a:schemeClr>
                </a:solidFill>
                <a:latin typeface="+mn-ea"/>
              </a:rPr>
              <a:t>발명의 실시를 위한 구체적인 내용</a:t>
            </a:r>
            <a:r>
              <a:rPr lang="en-US" altLang="ko-KR" sz="1400" b="0" dirty="0">
                <a:solidFill>
                  <a:schemeClr val="accent6">
                    <a:lumMod val="50000"/>
                  </a:schemeClr>
                </a:solidFill>
                <a:latin typeface="+mn-ea"/>
              </a:rPr>
              <a:t>】</a:t>
            </a:r>
            <a:r>
              <a:rPr lang="en-US" altLang="ko-KR" sz="1400" dirty="0">
                <a:solidFill>
                  <a:srgbClr val="FF0000"/>
                </a:solidFill>
                <a:latin typeface="+mn-ea"/>
              </a:rPr>
              <a:t>(</a:t>
            </a:r>
            <a:r>
              <a:rPr lang="ko-KR" altLang="en-US" sz="1400" dirty="0">
                <a:solidFill>
                  <a:srgbClr val="FF0000"/>
                </a:solidFill>
                <a:latin typeface="+mn-ea"/>
              </a:rPr>
              <a:t>필수</a:t>
            </a:r>
            <a:r>
              <a:rPr lang="en-US" altLang="ko-KR" sz="1400" dirty="0">
                <a:solidFill>
                  <a:srgbClr val="FF0000"/>
                </a:solidFill>
                <a:latin typeface="+mn-ea"/>
              </a:rPr>
              <a:t>)</a:t>
            </a:r>
            <a:endParaRPr lang="en-US" altLang="ko-KR" sz="1400" b="0" dirty="0">
              <a:solidFill>
                <a:schemeClr val="accent6">
                  <a:lumMod val="50000"/>
                </a:schemeClr>
              </a:solidFill>
              <a:latin typeface="+mn-ea"/>
            </a:endParaRPr>
          </a:p>
        </p:txBody>
      </p:sp>
      <p:sp>
        <p:nvSpPr>
          <p:cNvPr id="60" name="직사각형 59">
            <a:extLst>
              <a:ext uri="{FF2B5EF4-FFF2-40B4-BE49-F238E27FC236}">
                <a16:creationId xmlns:a16="http://schemas.microsoft.com/office/drawing/2014/main" id="{67E71FFF-66A4-E359-3AFC-5732FD413C06}"/>
              </a:ext>
            </a:extLst>
          </p:cNvPr>
          <p:cNvSpPr/>
          <p:nvPr/>
        </p:nvSpPr>
        <p:spPr bwMode="auto">
          <a:xfrm>
            <a:off x="7672692" y="4454068"/>
            <a:ext cx="3744384" cy="287337"/>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6">
                    <a:lumMod val="50000"/>
                  </a:schemeClr>
                </a:solidFill>
                <a:latin typeface="+mn-ea"/>
              </a:rPr>
              <a:t>【</a:t>
            </a:r>
            <a:r>
              <a:rPr lang="ko-KR" altLang="en-US" sz="1400" b="0" dirty="0" err="1">
                <a:solidFill>
                  <a:schemeClr val="accent6">
                    <a:lumMod val="50000"/>
                  </a:schemeClr>
                </a:solidFill>
                <a:latin typeface="+mn-ea"/>
              </a:rPr>
              <a:t>실시예</a:t>
            </a:r>
            <a:r>
              <a:rPr lang="ko-KR" altLang="en-US" sz="1400" b="0" dirty="0">
                <a:solidFill>
                  <a:schemeClr val="accent6">
                    <a:lumMod val="50000"/>
                  </a:schemeClr>
                </a:solidFill>
                <a:latin typeface="+mn-ea"/>
              </a:rPr>
              <a:t> </a:t>
            </a:r>
            <a:r>
              <a:rPr lang="en-US" altLang="ko-KR" sz="1400" b="0" dirty="0">
                <a:solidFill>
                  <a:schemeClr val="accent6">
                    <a:lumMod val="50000"/>
                  </a:schemeClr>
                </a:solidFill>
                <a:latin typeface="+mn-ea"/>
              </a:rPr>
              <a:t>1】x, y</a:t>
            </a:r>
            <a:r>
              <a:rPr lang="ko-KR" altLang="en-US" sz="1400" b="0" dirty="0">
                <a:solidFill>
                  <a:schemeClr val="accent6">
                    <a:lumMod val="50000"/>
                  </a:schemeClr>
                </a:solidFill>
                <a:latin typeface="+mn-ea"/>
              </a:rPr>
              <a:t>를 포함하는 발명</a:t>
            </a:r>
            <a:endParaRPr lang="en-US" altLang="ko-KR" sz="1400" b="0" dirty="0">
              <a:solidFill>
                <a:schemeClr val="accent6">
                  <a:lumMod val="50000"/>
                </a:schemeClr>
              </a:solidFill>
              <a:latin typeface="+mn-ea"/>
            </a:endParaRPr>
          </a:p>
        </p:txBody>
      </p:sp>
      <p:sp>
        <p:nvSpPr>
          <p:cNvPr id="61" name="직사각형 60">
            <a:extLst>
              <a:ext uri="{FF2B5EF4-FFF2-40B4-BE49-F238E27FC236}">
                <a16:creationId xmlns:a16="http://schemas.microsoft.com/office/drawing/2014/main" id="{0A2AAC01-F660-FDB1-63B3-7350CF3DA00F}"/>
              </a:ext>
            </a:extLst>
          </p:cNvPr>
          <p:cNvSpPr/>
          <p:nvPr/>
        </p:nvSpPr>
        <p:spPr bwMode="auto">
          <a:xfrm>
            <a:off x="7672692" y="4744580"/>
            <a:ext cx="3744384" cy="288925"/>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6">
                    <a:lumMod val="50000"/>
                  </a:schemeClr>
                </a:solidFill>
                <a:latin typeface="+mn-ea"/>
              </a:rPr>
              <a:t>【</a:t>
            </a:r>
            <a:r>
              <a:rPr lang="ko-KR" altLang="en-US" sz="1400" b="0" dirty="0" err="1">
                <a:solidFill>
                  <a:schemeClr val="accent6">
                    <a:lumMod val="50000"/>
                  </a:schemeClr>
                </a:solidFill>
                <a:latin typeface="+mn-ea"/>
              </a:rPr>
              <a:t>실시예</a:t>
            </a:r>
            <a:r>
              <a:rPr lang="ko-KR" altLang="en-US" sz="1400" b="0" dirty="0">
                <a:solidFill>
                  <a:schemeClr val="accent6">
                    <a:lumMod val="50000"/>
                  </a:schemeClr>
                </a:solidFill>
                <a:latin typeface="+mn-ea"/>
              </a:rPr>
              <a:t> </a:t>
            </a:r>
            <a:r>
              <a:rPr lang="en-US" altLang="ko-KR" sz="1400" b="0" dirty="0">
                <a:solidFill>
                  <a:schemeClr val="accent6">
                    <a:lumMod val="50000"/>
                  </a:schemeClr>
                </a:solidFill>
                <a:latin typeface="+mn-ea"/>
              </a:rPr>
              <a:t>2】x, y, z</a:t>
            </a:r>
            <a:r>
              <a:rPr lang="ko-KR" altLang="en-US" sz="1400" b="0" dirty="0">
                <a:solidFill>
                  <a:schemeClr val="accent6">
                    <a:lumMod val="50000"/>
                  </a:schemeClr>
                </a:solidFill>
                <a:latin typeface="+mn-ea"/>
              </a:rPr>
              <a:t>를 포함하는 발명</a:t>
            </a:r>
            <a:endParaRPr lang="en-US" altLang="ko-KR" sz="1400" b="0" dirty="0">
              <a:solidFill>
                <a:schemeClr val="accent6">
                  <a:lumMod val="50000"/>
                </a:schemeClr>
              </a:solidFill>
              <a:latin typeface="+mn-ea"/>
            </a:endParaRPr>
          </a:p>
        </p:txBody>
      </p:sp>
      <p:sp>
        <p:nvSpPr>
          <p:cNvPr id="62" name="직사각형 61">
            <a:extLst>
              <a:ext uri="{FF2B5EF4-FFF2-40B4-BE49-F238E27FC236}">
                <a16:creationId xmlns:a16="http://schemas.microsoft.com/office/drawing/2014/main" id="{BA9215B2-F32C-1B0C-338A-A12733BC3163}"/>
              </a:ext>
            </a:extLst>
          </p:cNvPr>
          <p:cNvSpPr/>
          <p:nvPr/>
        </p:nvSpPr>
        <p:spPr bwMode="auto">
          <a:xfrm>
            <a:off x="7151787" y="5285018"/>
            <a:ext cx="3744384" cy="287337"/>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4"/>
                </a:solidFill>
                <a:latin typeface="+mn-ea"/>
              </a:rPr>
              <a:t>【</a:t>
            </a:r>
            <a:r>
              <a:rPr lang="ko-KR" altLang="en-US" sz="1400" b="0" dirty="0">
                <a:solidFill>
                  <a:schemeClr val="accent4"/>
                </a:solidFill>
                <a:latin typeface="+mn-ea"/>
              </a:rPr>
              <a:t>청구범위</a:t>
            </a:r>
            <a:r>
              <a:rPr lang="en-US" altLang="ko-KR" sz="1400" b="0" dirty="0">
                <a:solidFill>
                  <a:schemeClr val="accent4"/>
                </a:solidFill>
                <a:latin typeface="+mn-ea"/>
              </a:rPr>
              <a:t>】</a:t>
            </a:r>
            <a:r>
              <a:rPr lang="en-US" altLang="ko-KR" sz="1400" dirty="0">
                <a:solidFill>
                  <a:srgbClr val="FF0000"/>
                </a:solidFill>
                <a:latin typeface="+mn-ea"/>
              </a:rPr>
              <a:t>(</a:t>
            </a:r>
            <a:r>
              <a:rPr lang="ko-KR" altLang="en-US" sz="1400" dirty="0">
                <a:solidFill>
                  <a:srgbClr val="FF0000"/>
                </a:solidFill>
                <a:latin typeface="+mn-ea"/>
              </a:rPr>
              <a:t>필수</a:t>
            </a:r>
            <a:r>
              <a:rPr lang="en-US" altLang="ko-KR" sz="1400" dirty="0">
                <a:solidFill>
                  <a:srgbClr val="FF0000"/>
                </a:solidFill>
                <a:latin typeface="+mn-ea"/>
              </a:rPr>
              <a:t>)</a:t>
            </a:r>
            <a:endParaRPr lang="en-US" altLang="ko-KR" sz="1400" b="0" dirty="0">
              <a:solidFill>
                <a:schemeClr val="accent4"/>
              </a:solidFill>
              <a:latin typeface="+mn-ea"/>
            </a:endParaRPr>
          </a:p>
        </p:txBody>
      </p:sp>
      <p:sp>
        <p:nvSpPr>
          <p:cNvPr id="63" name="직사각형 62">
            <a:extLst>
              <a:ext uri="{FF2B5EF4-FFF2-40B4-BE49-F238E27FC236}">
                <a16:creationId xmlns:a16="http://schemas.microsoft.com/office/drawing/2014/main" id="{84653CB2-EED9-63A0-5744-53FA694A87C6}"/>
              </a:ext>
            </a:extLst>
          </p:cNvPr>
          <p:cNvSpPr/>
          <p:nvPr/>
        </p:nvSpPr>
        <p:spPr bwMode="auto">
          <a:xfrm>
            <a:off x="7439653" y="5575530"/>
            <a:ext cx="3744384" cy="288925"/>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4"/>
                </a:solidFill>
                <a:latin typeface="+mn-ea"/>
              </a:rPr>
              <a:t>【</a:t>
            </a:r>
            <a:r>
              <a:rPr lang="ko-KR" altLang="en-US" sz="1400" b="0" dirty="0" err="1">
                <a:solidFill>
                  <a:schemeClr val="accent4"/>
                </a:solidFill>
                <a:latin typeface="+mn-ea"/>
              </a:rPr>
              <a:t>청구항</a:t>
            </a:r>
            <a:r>
              <a:rPr lang="ko-KR" altLang="en-US" sz="1400" b="0" dirty="0">
                <a:solidFill>
                  <a:schemeClr val="accent4"/>
                </a:solidFill>
                <a:latin typeface="+mn-ea"/>
              </a:rPr>
              <a:t> </a:t>
            </a:r>
            <a:r>
              <a:rPr lang="en-US" altLang="ko-KR" sz="1400" b="0" dirty="0">
                <a:solidFill>
                  <a:schemeClr val="accent4"/>
                </a:solidFill>
                <a:latin typeface="+mn-ea"/>
              </a:rPr>
              <a:t>1】</a:t>
            </a:r>
            <a:r>
              <a:rPr lang="en-US" altLang="ko-KR" sz="1400" dirty="0">
                <a:solidFill>
                  <a:schemeClr val="accent4"/>
                </a:solidFill>
                <a:latin typeface="+mn-ea"/>
              </a:rPr>
              <a:t>x, y</a:t>
            </a:r>
            <a:r>
              <a:rPr lang="ko-KR" altLang="en-US" sz="1400" dirty="0">
                <a:solidFill>
                  <a:schemeClr val="accent4"/>
                </a:solidFill>
                <a:latin typeface="+mn-ea"/>
              </a:rPr>
              <a:t>를 포함하는 발명 </a:t>
            </a:r>
            <a:r>
              <a:rPr lang="en-US" altLang="ko-KR" sz="1400" dirty="0">
                <a:solidFill>
                  <a:srgbClr val="FF0000"/>
                </a:solidFill>
                <a:latin typeface="+mn-ea"/>
              </a:rPr>
              <a:t>(</a:t>
            </a:r>
            <a:r>
              <a:rPr lang="ko-KR" altLang="en-US" sz="1400" dirty="0">
                <a:solidFill>
                  <a:srgbClr val="FF0000"/>
                </a:solidFill>
                <a:latin typeface="+mn-ea"/>
              </a:rPr>
              <a:t>필수</a:t>
            </a:r>
            <a:r>
              <a:rPr lang="en-US" altLang="ko-KR" sz="1400" dirty="0">
                <a:solidFill>
                  <a:srgbClr val="FF0000"/>
                </a:solidFill>
                <a:latin typeface="+mn-ea"/>
              </a:rPr>
              <a:t>)</a:t>
            </a:r>
            <a:endParaRPr lang="en-US" altLang="ko-KR" sz="1400" b="0" dirty="0">
              <a:solidFill>
                <a:schemeClr val="accent4"/>
              </a:solidFill>
              <a:latin typeface="+mn-ea"/>
            </a:endParaRPr>
          </a:p>
        </p:txBody>
      </p:sp>
      <p:sp>
        <p:nvSpPr>
          <p:cNvPr id="64" name="직사각형 63">
            <a:extLst>
              <a:ext uri="{FF2B5EF4-FFF2-40B4-BE49-F238E27FC236}">
                <a16:creationId xmlns:a16="http://schemas.microsoft.com/office/drawing/2014/main" id="{AFD5961E-CB9C-5878-7F29-6B034D41B3EE}"/>
              </a:ext>
            </a:extLst>
          </p:cNvPr>
          <p:cNvSpPr/>
          <p:nvPr/>
        </p:nvSpPr>
        <p:spPr bwMode="auto">
          <a:xfrm>
            <a:off x="7439652" y="5856518"/>
            <a:ext cx="3977423" cy="287337"/>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4"/>
                </a:solidFill>
                <a:latin typeface="+mn-ea"/>
              </a:rPr>
              <a:t>【</a:t>
            </a:r>
            <a:r>
              <a:rPr lang="ko-KR" altLang="en-US" sz="1400" b="0" dirty="0" err="1">
                <a:solidFill>
                  <a:schemeClr val="accent4"/>
                </a:solidFill>
                <a:latin typeface="+mn-ea"/>
              </a:rPr>
              <a:t>청구항</a:t>
            </a:r>
            <a:r>
              <a:rPr lang="ko-KR" altLang="en-US" sz="1400" b="0" dirty="0">
                <a:solidFill>
                  <a:schemeClr val="accent4"/>
                </a:solidFill>
                <a:latin typeface="+mn-ea"/>
              </a:rPr>
              <a:t> </a:t>
            </a:r>
            <a:r>
              <a:rPr lang="en-US" altLang="ko-KR" sz="1400" b="0" dirty="0">
                <a:solidFill>
                  <a:schemeClr val="accent4"/>
                </a:solidFill>
                <a:latin typeface="+mn-ea"/>
              </a:rPr>
              <a:t>2】</a:t>
            </a:r>
            <a:r>
              <a:rPr lang="ko-KR" altLang="en-US" sz="1400" b="0" dirty="0">
                <a:solidFill>
                  <a:schemeClr val="accent4"/>
                </a:solidFill>
                <a:latin typeface="+mn-ea"/>
              </a:rPr>
              <a:t>제</a:t>
            </a:r>
            <a:r>
              <a:rPr lang="en-US" altLang="ko-KR" sz="1400" b="0" dirty="0">
                <a:solidFill>
                  <a:schemeClr val="accent4"/>
                </a:solidFill>
                <a:latin typeface="+mn-ea"/>
              </a:rPr>
              <a:t>1</a:t>
            </a:r>
            <a:r>
              <a:rPr lang="ko-KR" altLang="en-US" sz="1400" b="0" dirty="0">
                <a:solidFill>
                  <a:schemeClr val="accent4"/>
                </a:solidFill>
                <a:latin typeface="+mn-ea"/>
              </a:rPr>
              <a:t>항에 있어서</a:t>
            </a:r>
            <a:r>
              <a:rPr lang="en-US" altLang="ko-KR" sz="1400" b="0" dirty="0">
                <a:solidFill>
                  <a:schemeClr val="accent4"/>
                </a:solidFill>
                <a:latin typeface="+mn-ea"/>
              </a:rPr>
              <a:t>, z</a:t>
            </a:r>
            <a:r>
              <a:rPr lang="ko-KR" altLang="en-US" sz="1400" b="0" dirty="0">
                <a:solidFill>
                  <a:schemeClr val="accent4"/>
                </a:solidFill>
                <a:latin typeface="+mn-ea"/>
              </a:rPr>
              <a:t>를 더 포함하는 발명</a:t>
            </a:r>
            <a:endParaRPr lang="en-US" altLang="ko-KR" sz="1400" b="0" dirty="0">
              <a:solidFill>
                <a:schemeClr val="accent4"/>
              </a:solidFill>
              <a:latin typeface="+mn-ea"/>
            </a:endParaRPr>
          </a:p>
        </p:txBody>
      </p:sp>
      <p:sp>
        <p:nvSpPr>
          <p:cNvPr id="65" name="직사각형 38">
            <a:extLst>
              <a:ext uri="{FF2B5EF4-FFF2-40B4-BE49-F238E27FC236}">
                <a16:creationId xmlns:a16="http://schemas.microsoft.com/office/drawing/2014/main" id="{CC824A95-6C6E-EB20-C979-B642B871A301}"/>
              </a:ext>
            </a:extLst>
          </p:cNvPr>
          <p:cNvSpPr>
            <a:spLocks noChangeArrowheads="1"/>
          </p:cNvSpPr>
          <p:nvPr/>
        </p:nvSpPr>
        <p:spPr bwMode="auto">
          <a:xfrm>
            <a:off x="7151787" y="1227724"/>
            <a:ext cx="3744384" cy="287338"/>
          </a:xfrm>
          <a:prstGeom prst="rect">
            <a:avLst/>
          </a:prstGeom>
          <a:solidFill>
            <a:schemeClr val="bg1"/>
          </a:solidFill>
          <a:ln>
            <a:noFill/>
          </a:ln>
          <a:extLst>
            <a:ext uri="{91240B29-F687-4F45-9708-019B960494DF}">
              <a14:hiddenLine xmlns:a14="http://schemas.microsoft.com/office/drawing/2010/main" w="28575" algn="ctr">
                <a:solidFill>
                  <a:srgbClr val="000000"/>
                </a:solidFill>
                <a:round/>
                <a:headEnd/>
                <a:tailEnd/>
              </a14:hiddenLine>
            </a:ext>
          </a:extLst>
        </p:spPr>
        <p:txBody>
          <a:bodyPr lIns="90000" tIns="46800" rIns="90000" bIns="46800"/>
          <a:lstStyle/>
          <a:p>
            <a:pPr algn="ctr"/>
            <a:r>
              <a:rPr lang="en-US" altLang="ko-KR" sz="1400" b="0" dirty="0">
                <a:solidFill>
                  <a:srgbClr val="1C1C1C"/>
                </a:solidFill>
                <a:latin typeface="+mn-ea"/>
              </a:rPr>
              <a:t>【</a:t>
            </a:r>
            <a:r>
              <a:rPr lang="ko-KR" altLang="en-US" sz="1400" b="0" dirty="0">
                <a:solidFill>
                  <a:srgbClr val="1C1C1C"/>
                </a:solidFill>
                <a:latin typeface="+mn-ea"/>
              </a:rPr>
              <a:t>명세서</a:t>
            </a:r>
            <a:r>
              <a:rPr lang="en-US" altLang="ko-KR" sz="1400" b="0" dirty="0">
                <a:solidFill>
                  <a:srgbClr val="1C1C1C"/>
                </a:solidFill>
                <a:latin typeface="+mn-ea"/>
              </a:rPr>
              <a:t>】</a:t>
            </a:r>
          </a:p>
        </p:txBody>
      </p:sp>
      <p:cxnSp>
        <p:nvCxnSpPr>
          <p:cNvPr id="66" name="꺾인 연결선 4">
            <a:extLst>
              <a:ext uri="{FF2B5EF4-FFF2-40B4-BE49-F238E27FC236}">
                <a16:creationId xmlns:a16="http://schemas.microsoft.com/office/drawing/2014/main" id="{317A15CC-10A2-2009-978A-D352A36BF15C}"/>
              </a:ext>
            </a:extLst>
          </p:cNvPr>
          <p:cNvCxnSpPr>
            <a:cxnSpLocks noChangeShapeType="1"/>
            <a:stCxn id="47" idx="3"/>
            <a:endCxn id="72" idx="1"/>
          </p:cNvCxnSpPr>
          <p:nvPr/>
        </p:nvCxnSpPr>
        <p:spPr bwMode="auto">
          <a:xfrm flipV="1">
            <a:off x="5521954" y="1699744"/>
            <a:ext cx="1629833" cy="528346"/>
          </a:xfrm>
          <a:prstGeom prst="bentConnector3">
            <a:avLst>
              <a:gd name="adj1" fmla="val 50000"/>
            </a:avLst>
          </a:prstGeom>
          <a:noFill/>
          <a:ln w="9525">
            <a:solidFill>
              <a:srgbClr val="5F5F5F"/>
            </a:solidFill>
            <a:round/>
            <a:headEnd/>
            <a:tailEnd type="arrow" w="med" len="med"/>
          </a:ln>
          <a:extLst>
            <a:ext uri="{909E8E84-426E-40DD-AFC4-6F175D3DCCD1}">
              <a14:hiddenFill xmlns:a14="http://schemas.microsoft.com/office/drawing/2010/main">
                <a:noFill/>
              </a14:hiddenFill>
            </a:ext>
          </a:extLst>
        </p:spPr>
      </p:cxnSp>
      <p:cxnSp>
        <p:nvCxnSpPr>
          <p:cNvPr id="67" name="꺾인 연결선 6">
            <a:extLst>
              <a:ext uri="{FF2B5EF4-FFF2-40B4-BE49-F238E27FC236}">
                <a16:creationId xmlns:a16="http://schemas.microsoft.com/office/drawing/2014/main" id="{7E97B0E0-2B6D-DEA0-09FB-EB99A290DEBA}"/>
              </a:ext>
            </a:extLst>
          </p:cNvPr>
          <p:cNvCxnSpPr>
            <a:cxnSpLocks noChangeShapeType="1"/>
            <a:stCxn id="48" idx="3"/>
            <a:endCxn id="62" idx="1"/>
          </p:cNvCxnSpPr>
          <p:nvPr/>
        </p:nvCxnSpPr>
        <p:spPr bwMode="auto">
          <a:xfrm>
            <a:off x="5521954" y="2567846"/>
            <a:ext cx="1629833" cy="2860841"/>
          </a:xfrm>
          <a:prstGeom prst="bentConnector3">
            <a:avLst>
              <a:gd name="adj1" fmla="val 50000"/>
            </a:avLst>
          </a:prstGeom>
          <a:noFill/>
          <a:ln w="9525">
            <a:solidFill>
              <a:srgbClr val="5F5F5F"/>
            </a:solidFill>
            <a:round/>
            <a:headEnd/>
            <a:tailEnd type="arrow" w="med" len="med"/>
          </a:ln>
          <a:extLst>
            <a:ext uri="{909E8E84-426E-40DD-AFC4-6F175D3DCCD1}">
              <a14:hiddenFill xmlns:a14="http://schemas.microsoft.com/office/drawing/2010/main">
                <a:noFill/>
              </a14:hiddenFill>
            </a:ext>
          </a:extLst>
        </p:spPr>
      </p:cxnSp>
      <p:sp>
        <p:nvSpPr>
          <p:cNvPr id="68" name="직사각형 67">
            <a:extLst>
              <a:ext uri="{FF2B5EF4-FFF2-40B4-BE49-F238E27FC236}">
                <a16:creationId xmlns:a16="http://schemas.microsoft.com/office/drawing/2014/main" id="{68C25349-2121-F605-D195-0CDF6896EB3A}"/>
              </a:ext>
            </a:extLst>
          </p:cNvPr>
          <p:cNvSpPr/>
          <p:nvPr/>
        </p:nvSpPr>
        <p:spPr bwMode="auto">
          <a:xfrm>
            <a:off x="7384826" y="2449054"/>
            <a:ext cx="3744384" cy="287338"/>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6">
                    <a:lumMod val="50000"/>
                  </a:schemeClr>
                </a:solidFill>
                <a:latin typeface="+mn-ea"/>
              </a:rPr>
              <a:t>【</a:t>
            </a:r>
            <a:r>
              <a:rPr lang="ko-KR" altLang="en-US" sz="1400" b="0" dirty="0">
                <a:solidFill>
                  <a:schemeClr val="accent6">
                    <a:lumMod val="50000"/>
                  </a:schemeClr>
                </a:solidFill>
                <a:latin typeface="+mn-ea"/>
              </a:rPr>
              <a:t>배경기술</a:t>
            </a:r>
            <a:r>
              <a:rPr lang="en-US" altLang="ko-KR" sz="1400" b="0" dirty="0">
                <a:solidFill>
                  <a:schemeClr val="accent6">
                    <a:lumMod val="50000"/>
                  </a:schemeClr>
                </a:solidFill>
                <a:latin typeface="+mn-ea"/>
              </a:rPr>
              <a:t>】</a:t>
            </a:r>
            <a:r>
              <a:rPr lang="en-US" altLang="ko-KR" sz="1400" dirty="0">
                <a:solidFill>
                  <a:srgbClr val="FF0000"/>
                </a:solidFill>
                <a:latin typeface="+mn-ea"/>
              </a:rPr>
              <a:t>(</a:t>
            </a:r>
            <a:r>
              <a:rPr lang="ko-KR" altLang="en-US" sz="1400" dirty="0">
                <a:solidFill>
                  <a:srgbClr val="FF0000"/>
                </a:solidFill>
                <a:latin typeface="+mn-ea"/>
              </a:rPr>
              <a:t>필수</a:t>
            </a:r>
            <a:r>
              <a:rPr lang="en-US" altLang="ko-KR" sz="1400" dirty="0">
                <a:solidFill>
                  <a:srgbClr val="FF0000"/>
                </a:solidFill>
                <a:latin typeface="+mn-ea"/>
              </a:rPr>
              <a:t>)</a:t>
            </a:r>
            <a:endParaRPr lang="en-US" altLang="ko-KR" sz="1400" b="0" dirty="0">
              <a:solidFill>
                <a:schemeClr val="accent6">
                  <a:lumMod val="50000"/>
                </a:schemeClr>
              </a:solidFill>
              <a:latin typeface="+mn-ea"/>
            </a:endParaRPr>
          </a:p>
        </p:txBody>
      </p:sp>
      <p:sp>
        <p:nvSpPr>
          <p:cNvPr id="69" name="직사각형 68">
            <a:extLst>
              <a:ext uri="{FF2B5EF4-FFF2-40B4-BE49-F238E27FC236}">
                <a16:creationId xmlns:a16="http://schemas.microsoft.com/office/drawing/2014/main" id="{39E1ADB8-8E0B-1FC3-43D0-03E92F185874}"/>
              </a:ext>
            </a:extLst>
          </p:cNvPr>
          <p:cNvSpPr/>
          <p:nvPr/>
        </p:nvSpPr>
        <p:spPr bwMode="auto">
          <a:xfrm>
            <a:off x="6768672" y="1195612"/>
            <a:ext cx="4992289" cy="4968875"/>
          </a:xfrm>
          <a:prstGeom prst="rect">
            <a:avLst/>
          </a:prstGeom>
          <a:noFill/>
          <a:ln w="28575" cap="flat" cmpd="sng" algn="ctr">
            <a:solidFill>
              <a:schemeClr val="bg2">
                <a:lumMod val="75000"/>
              </a:schemeClr>
            </a:solidFill>
            <a:prstDash val="solid"/>
            <a:round/>
            <a:headEnd type="none" w="med" len="med"/>
            <a:tailEnd type="none" w="med" len="med"/>
          </a:ln>
          <a:effectLst/>
        </p:spPr>
        <p:txBody>
          <a:bodyPr lIns="90000" tIns="46800" rIns="90000" bIns="46800"/>
          <a:lstStyle/>
          <a:p>
            <a:pPr algn="ctr">
              <a:buFont typeface="Wingdings" pitchFamily="2" charset="2"/>
              <a:buNone/>
              <a:defRPr/>
            </a:pPr>
            <a:endParaRPr lang="ko-KR" altLang="en-US" sz="2000">
              <a:solidFill>
                <a:srgbClr val="1C1C1C"/>
              </a:solidFill>
              <a:latin typeface="+mn-ea"/>
            </a:endParaRPr>
          </a:p>
        </p:txBody>
      </p:sp>
      <p:graphicFrame>
        <p:nvGraphicFramePr>
          <p:cNvPr id="70" name="Group 224">
            <a:extLst>
              <a:ext uri="{FF2B5EF4-FFF2-40B4-BE49-F238E27FC236}">
                <a16:creationId xmlns:a16="http://schemas.microsoft.com/office/drawing/2014/main" id="{C7324699-4A10-9A2B-C756-1C516C3B7992}"/>
              </a:ext>
            </a:extLst>
          </p:cNvPr>
          <p:cNvGraphicFramePr>
            <a:graphicFrameLocks noGrp="1"/>
          </p:cNvGraphicFramePr>
          <p:nvPr>
            <p:extLst>
              <p:ext uri="{D42A27DB-BD31-4B8C-83A1-F6EECF244321}">
                <p14:modId xmlns:p14="http://schemas.microsoft.com/office/powerpoint/2010/main" val="2318796477"/>
              </p:ext>
            </p:extLst>
          </p:nvPr>
        </p:nvGraphicFramePr>
        <p:xfrm>
          <a:off x="431371" y="4149080"/>
          <a:ext cx="5568949" cy="2015408"/>
        </p:xfrm>
        <a:graphic>
          <a:graphicData uri="http://schemas.openxmlformats.org/drawingml/2006/table">
            <a:tbl>
              <a:tblPr firstRow="1">
                <a:tableStyleId>{BC89EF96-8CEA-46FF-86C4-4CE0E7609802}</a:tableStyleId>
              </a:tblPr>
              <a:tblGrid>
                <a:gridCol w="1152128">
                  <a:extLst>
                    <a:ext uri="{9D8B030D-6E8A-4147-A177-3AD203B41FA5}">
                      <a16:colId xmlns:a16="http://schemas.microsoft.com/office/drawing/2014/main" val="20000"/>
                    </a:ext>
                  </a:extLst>
                </a:gridCol>
                <a:gridCol w="2157209">
                  <a:extLst>
                    <a:ext uri="{9D8B030D-6E8A-4147-A177-3AD203B41FA5}">
                      <a16:colId xmlns:a16="http://schemas.microsoft.com/office/drawing/2014/main" val="20001"/>
                    </a:ext>
                  </a:extLst>
                </a:gridCol>
                <a:gridCol w="2259612">
                  <a:extLst>
                    <a:ext uri="{9D8B030D-6E8A-4147-A177-3AD203B41FA5}">
                      <a16:colId xmlns:a16="http://schemas.microsoft.com/office/drawing/2014/main" val="20002"/>
                    </a:ext>
                  </a:extLst>
                </a:gridCol>
              </a:tblGrid>
              <a:tr h="403082">
                <a:tc>
                  <a:txBody>
                    <a:bodyPr/>
                    <a:lstStyle/>
                    <a:p>
                      <a:pPr marL="0" marR="0" lvl="0" indent="0" algn="ctr" defTabSz="914400" rtl="0" eaLnBrk="1" fontAlgn="ctr" latinLnBrk="1" hangingPunct="1">
                        <a:lnSpc>
                          <a:spcPct val="100000"/>
                        </a:lnSpc>
                        <a:spcBef>
                          <a:spcPct val="50000"/>
                        </a:spcBef>
                        <a:spcAft>
                          <a:spcPts val="0"/>
                        </a:spcAft>
                        <a:buClrTx/>
                        <a:buSzTx/>
                        <a:buFont typeface="Wingdings" pitchFamily="2" charset="2"/>
                        <a:buNone/>
                        <a:tabLst/>
                      </a:pPr>
                      <a:r>
                        <a:rPr kumimoji="1" lang="ko-KR" altLang="en-US" sz="1400" u="none" strike="noStrike" cap="none" normalizeH="0" baseline="0" dirty="0">
                          <a:ln>
                            <a:noFill/>
                          </a:ln>
                          <a:effectLst/>
                        </a:rPr>
                        <a:t>구분</a:t>
                      </a:r>
                      <a:endParaRPr kumimoji="1" lang="ko-KR" altLang="ko-KR" sz="14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40000"/>
                        <a:lumOff val="60000"/>
                      </a:schemeClr>
                    </a:solidFill>
                  </a:tcPr>
                </a:tc>
                <a:tc>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400" u="none" strike="noStrike" cap="none" normalizeH="0" baseline="0" dirty="0">
                          <a:ln>
                            <a:noFill/>
                          </a:ln>
                          <a:effectLst/>
                        </a:rPr>
                        <a:t>출원인</a:t>
                      </a:r>
                      <a:endParaRPr kumimoji="1" lang="ko-KR" altLang="en-US" sz="14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40000"/>
                        <a:lumOff val="60000"/>
                      </a:schemeClr>
                    </a:solidFill>
                  </a:tcPr>
                </a:tc>
                <a:tc>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400" u="none" strike="noStrike" cap="none" normalizeH="0" baseline="0" dirty="0">
                          <a:ln>
                            <a:noFill/>
                          </a:ln>
                          <a:effectLst/>
                        </a:rPr>
                        <a:t>제</a:t>
                      </a:r>
                      <a:r>
                        <a:rPr kumimoji="1" lang="en-US" altLang="ko-KR" sz="1400" u="none" strike="noStrike" cap="none" normalizeH="0" baseline="0" dirty="0">
                          <a:ln>
                            <a:noFill/>
                          </a:ln>
                          <a:effectLst/>
                        </a:rPr>
                        <a:t>3</a:t>
                      </a:r>
                      <a:r>
                        <a:rPr kumimoji="1" lang="ko-KR" altLang="en-US" sz="1400" u="none" strike="noStrike" cap="none" normalizeH="0" baseline="0" dirty="0">
                          <a:ln>
                            <a:noFill/>
                          </a:ln>
                          <a:effectLst/>
                        </a:rPr>
                        <a:t>자</a:t>
                      </a:r>
                      <a:endParaRPr kumimoji="1" lang="ko-KR" altLang="en-US" sz="14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10000"/>
                  </a:ext>
                </a:extLst>
              </a:tr>
              <a:tr h="403082">
                <a:tc>
                  <a:txBody>
                    <a:bodyPr/>
                    <a:lstStyle/>
                    <a:p>
                      <a:pPr marL="0" marR="0" lvl="0" indent="0" algn="ctr" defTabSz="914400" rtl="0" eaLnBrk="1" fontAlgn="ctr" latinLnBrk="1" hangingPunct="1">
                        <a:lnSpc>
                          <a:spcPct val="100000"/>
                        </a:lnSpc>
                        <a:spcBef>
                          <a:spcPct val="50000"/>
                        </a:spcBef>
                        <a:spcAft>
                          <a:spcPts val="0"/>
                        </a:spcAft>
                        <a:buClrTx/>
                        <a:buSzTx/>
                        <a:buFont typeface="Wingdings" pitchFamily="2" charset="2"/>
                        <a:buNone/>
                        <a:tabLst/>
                      </a:pPr>
                      <a:r>
                        <a:rPr kumimoji="1" lang="ko-KR" altLang="en-US" sz="1400" u="none" strike="noStrike" cap="none" normalizeH="0" baseline="0" dirty="0">
                          <a:ln>
                            <a:noFill/>
                          </a:ln>
                          <a:effectLst/>
                        </a:rPr>
                        <a:t>발명의 설명</a:t>
                      </a:r>
                      <a:endParaRPr kumimoji="1" lang="ko-KR" altLang="en-US" sz="14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50000"/>
                        </a:spcBef>
                        <a:spcAft>
                          <a:spcPts val="0"/>
                        </a:spcAft>
                        <a:buClrTx/>
                        <a:buSzTx/>
                        <a:buFont typeface="Wingdings" pitchFamily="2" charset="2"/>
                        <a:buNone/>
                        <a:tabLst/>
                      </a:pPr>
                      <a:r>
                        <a:rPr kumimoji="1" lang="ko-KR" altLang="en-US" sz="1400" u="none" strike="noStrike" cap="none" normalizeH="0" baseline="0" dirty="0">
                          <a:ln>
                            <a:noFill/>
                          </a:ln>
                          <a:effectLst/>
                        </a:rPr>
                        <a:t>권리해설서</a:t>
                      </a:r>
                      <a:endParaRPr kumimoji="1" lang="ko-KR" altLang="en-US" sz="1400" b="0" i="0" u="none" strike="noStrike" cap="none" normalizeH="0" baseline="0" dirty="0">
                        <a:ln>
                          <a:noFill/>
                        </a:ln>
                        <a:solidFill>
                          <a:srgbClr val="4D4D4D"/>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ctr" latinLnBrk="1" hangingPunct="1">
                        <a:lnSpc>
                          <a:spcPct val="100000"/>
                        </a:lnSpc>
                        <a:spcBef>
                          <a:spcPct val="50000"/>
                        </a:spcBef>
                        <a:spcAft>
                          <a:spcPts val="0"/>
                        </a:spcAft>
                        <a:buClrTx/>
                        <a:buSzTx/>
                        <a:buFont typeface="Wingdings" pitchFamily="2" charset="2"/>
                        <a:buNone/>
                        <a:tabLst/>
                      </a:pPr>
                      <a:r>
                        <a:rPr kumimoji="1" lang="ko-KR" altLang="en-US" sz="1400" b="1" u="none" strike="noStrike" cap="none" normalizeH="0" baseline="0" dirty="0">
                          <a:ln>
                            <a:noFill/>
                          </a:ln>
                          <a:solidFill>
                            <a:srgbClr val="FF0000"/>
                          </a:solidFill>
                          <a:effectLst/>
                        </a:rPr>
                        <a:t>기술문헌</a:t>
                      </a:r>
                      <a:endParaRPr kumimoji="1" lang="ko-KR" altLang="en-US" sz="1400" b="1" i="0" u="none" strike="noStrike" cap="none" normalizeH="0" baseline="0" dirty="0">
                        <a:ln>
                          <a:noFill/>
                        </a:ln>
                        <a:solidFill>
                          <a:srgbClr val="FF0000"/>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209244">
                <a:tc>
                  <a:txBody>
                    <a:bodyPr/>
                    <a:lstStyle/>
                    <a:p>
                      <a:pPr marL="0" marR="0" lvl="0" indent="0" algn="ctr" defTabSz="914400" rtl="0" eaLnBrk="1" fontAlgn="ctr" latinLnBrk="1" hangingPunct="1">
                        <a:lnSpc>
                          <a:spcPct val="100000"/>
                        </a:lnSpc>
                        <a:spcBef>
                          <a:spcPct val="50000"/>
                        </a:spcBef>
                        <a:spcAft>
                          <a:spcPts val="0"/>
                        </a:spcAft>
                        <a:buClrTx/>
                        <a:buSzTx/>
                        <a:buFont typeface="Wingdings" pitchFamily="2" charset="2"/>
                        <a:buNone/>
                        <a:tabLst/>
                      </a:pPr>
                      <a:r>
                        <a:rPr kumimoji="1" lang="ko-KR" altLang="en-US" sz="1400" u="none" strike="noStrike" cap="none" normalizeH="0" baseline="0" dirty="0">
                          <a:ln>
                            <a:noFill/>
                          </a:ln>
                          <a:effectLst/>
                        </a:rPr>
                        <a:t>청구범위</a:t>
                      </a:r>
                      <a:endParaRPr kumimoji="1" lang="ko-KR" altLang="en-US" sz="14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400" u="none" strike="noStrike" cap="none" normalizeH="0" baseline="0" dirty="0" err="1">
                          <a:ln>
                            <a:noFill/>
                          </a:ln>
                          <a:effectLst/>
                        </a:rPr>
                        <a:t>등록전</a:t>
                      </a:r>
                      <a:r>
                        <a:rPr kumimoji="1" lang="en-US" altLang="ko-KR" sz="1400" u="none" strike="noStrike" cap="none" normalizeH="0" baseline="0" dirty="0">
                          <a:ln>
                            <a:noFill/>
                          </a:ln>
                          <a:effectLst/>
                        </a:rPr>
                        <a:t>: </a:t>
                      </a:r>
                      <a:r>
                        <a:rPr kumimoji="1" lang="ko-KR" altLang="en-US" sz="1400" u="none" strike="noStrike" cap="none" normalizeH="0" baseline="0" dirty="0">
                          <a:ln>
                            <a:noFill/>
                          </a:ln>
                          <a:effectLst/>
                        </a:rPr>
                        <a:t>권리요구서</a:t>
                      </a:r>
                      <a:endParaRPr kumimoji="1" lang="en-US" altLang="ko-KR" sz="1400" u="none" strike="noStrike" cap="none" normalizeH="0" baseline="0" dirty="0">
                        <a:ln>
                          <a:noFill/>
                        </a:ln>
                        <a:effectLst/>
                      </a:endParaRPr>
                    </a:p>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400" b="1" u="none" strike="noStrike" cap="none" normalizeH="0" baseline="0" dirty="0" err="1">
                          <a:ln>
                            <a:noFill/>
                          </a:ln>
                          <a:solidFill>
                            <a:srgbClr val="FF0000"/>
                          </a:solidFill>
                          <a:effectLst/>
                        </a:rPr>
                        <a:t>등록후</a:t>
                      </a:r>
                      <a:r>
                        <a:rPr kumimoji="1" lang="en-US" altLang="ko-KR" sz="1400" b="1" u="none" strike="noStrike" cap="none" normalizeH="0" baseline="0" dirty="0">
                          <a:ln>
                            <a:noFill/>
                          </a:ln>
                          <a:solidFill>
                            <a:srgbClr val="FF0000"/>
                          </a:solidFill>
                          <a:effectLst/>
                        </a:rPr>
                        <a:t>: </a:t>
                      </a:r>
                      <a:r>
                        <a:rPr kumimoji="1" lang="ko-KR" altLang="en-US" sz="1400" b="1" u="none" strike="noStrike" cap="none" normalizeH="0" baseline="0" dirty="0">
                          <a:ln>
                            <a:noFill/>
                          </a:ln>
                          <a:solidFill>
                            <a:srgbClr val="FF0000"/>
                          </a:solidFill>
                          <a:effectLst/>
                        </a:rPr>
                        <a:t>권리서</a:t>
                      </a:r>
                      <a:endParaRPr kumimoji="1" lang="ko-KR" altLang="en-US" sz="1400" b="1" i="0" u="none" strike="noStrike" cap="none" normalizeH="0" baseline="0" dirty="0">
                        <a:ln>
                          <a:noFill/>
                        </a:ln>
                        <a:solidFill>
                          <a:srgbClr val="FF0000"/>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400" u="none" strike="noStrike" cap="none" normalizeH="0" baseline="0" dirty="0">
                          <a:ln>
                            <a:noFill/>
                          </a:ln>
                          <a:effectLst/>
                        </a:rPr>
                        <a:t>공공영역</a:t>
                      </a:r>
                      <a:r>
                        <a:rPr kumimoji="1" lang="en-US" altLang="ko-KR" sz="1400" u="none" strike="noStrike" cap="none" normalizeH="0" baseline="0" dirty="0">
                          <a:ln>
                            <a:noFill/>
                          </a:ln>
                          <a:effectLst/>
                        </a:rPr>
                        <a:t>(C)</a:t>
                      </a:r>
                      <a:r>
                        <a:rPr kumimoji="1" lang="ko-KR" altLang="en-US" sz="1400" u="none" strike="noStrike" cap="none" normalizeH="0" baseline="0" dirty="0">
                          <a:ln>
                            <a:noFill/>
                          </a:ln>
                          <a:effectLst/>
                        </a:rPr>
                        <a:t>과 </a:t>
                      </a:r>
                      <a:endParaRPr kumimoji="1" lang="en-US" altLang="ko-KR" sz="1400" u="none" strike="noStrike" cap="none" normalizeH="0" baseline="0" dirty="0">
                        <a:ln>
                          <a:noFill/>
                        </a:ln>
                        <a:effectLst/>
                      </a:endParaRPr>
                    </a:p>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400" u="none" strike="noStrike" cap="none" normalizeH="0" baseline="0" dirty="0">
                          <a:ln>
                            <a:noFill/>
                          </a:ln>
                          <a:effectLst/>
                        </a:rPr>
                        <a:t>권리범위</a:t>
                      </a:r>
                      <a:r>
                        <a:rPr kumimoji="1" lang="en-US" altLang="ko-KR" sz="1400" u="none" strike="noStrike" cap="none" normalizeH="0" baseline="0" dirty="0">
                          <a:ln>
                            <a:noFill/>
                          </a:ln>
                          <a:effectLst/>
                        </a:rPr>
                        <a:t>(A, B)</a:t>
                      </a:r>
                      <a:r>
                        <a:rPr kumimoji="1" lang="ko-KR" altLang="en-US" sz="1400" u="none" strike="noStrike" cap="none" normalizeH="0" baseline="0" dirty="0">
                          <a:ln>
                            <a:noFill/>
                          </a:ln>
                          <a:effectLst/>
                        </a:rPr>
                        <a:t>의 한계 특정 </a:t>
                      </a:r>
                      <a:endParaRPr kumimoji="1" lang="en-US" altLang="ko-KR" sz="1400" u="none" strike="noStrike" cap="none" normalizeH="0" baseline="0" dirty="0">
                        <a:ln>
                          <a:noFill/>
                        </a:ln>
                        <a:effectLst/>
                      </a:endParaRPr>
                    </a:p>
                    <a:p>
                      <a:pPr marL="0" marR="0" lvl="0" indent="0" algn="ctr" defTabSz="914400" rtl="0" eaLnBrk="1" fontAlgn="ctr" latinLnBrk="1" hangingPunct="1">
                        <a:lnSpc>
                          <a:spcPct val="100000"/>
                        </a:lnSpc>
                        <a:spcBef>
                          <a:spcPct val="0"/>
                        </a:spcBef>
                        <a:spcAft>
                          <a:spcPts val="0"/>
                        </a:spcAft>
                        <a:buClrTx/>
                        <a:buSzTx/>
                        <a:buFontTx/>
                        <a:buNone/>
                        <a:tabLst/>
                      </a:pPr>
                      <a:r>
                        <a:rPr kumimoji="1" lang="en-US" altLang="ko-KR" sz="1400" u="none" strike="noStrike" cap="none" normalizeH="0" baseline="0" dirty="0">
                          <a:ln>
                            <a:noFill/>
                          </a:ln>
                          <a:effectLst/>
                        </a:rPr>
                        <a:t>(</a:t>
                      </a:r>
                      <a:r>
                        <a:rPr kumimoji="1" lang="ko-KR" altLang="en-US" sz="1400" u="none" strike="noStrike" cap="none" normalizeH="0" baseline="0" dirty="0">
                          <a:ln>
                            <a:noFill/>
                          </a:ln>
                          <a:effectLst/>
                        </a:rPr>
                        <a:t>울타리 이론</a:t>
                      </a:r>
                      <a:r>
                        <a:rPr kumimoji="1" lang="en-US" altLang="ko-KR" sz="1400" u="none" strike="noStrike" cap="none" normalizeH="0" baseline="0" dirty="0">
                          <a:ln>
                            <a:noFill/>
                          </a:ln>
                          <a:effectLst/>
                        </a:rPr>
                        <a:t>)</a:t>
                      </a:r>
                      <a:endParaRPr kumimoji="1" lang="en-US" altLang="ko-KR" sz="1400" b="0" i="0" u="none" strike="noStrike" cap="none" normalizeH="0" baseline="0" dirty="0">
                        <a:ln>
                          <a:noFill/>
                        </a:ln>
                        <a:solidFill>
                          <a:srgbClr val="4D4D4D"/>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71" name="TextBox 70">
            <a:extLst>
              <a:ext uri="{FF2B5EF4-FFF2-40B4-BE49-F238E27FC236}">
                <a16:creationId xmlns:a16="http://schemas.microsoft.com/office/drawing/2014/main" id="{A8FA2AED-C529-1603-B69B-64A82047BBB3}"/>
              </a:ext>
            </a:extLst>
          </p:cNvPr>
          <p:cNvSpPr txBox="1"/>
          <p:nvPr/>
        </p:nvSpPr>
        <p:spPr>
          <a:xfrm>
            <a:off x="298020" y="6324600"/>
            <a:ext cx="11627279" cy="276999"/>
          </a:xfrm>
          <a:prstGeom prst="rect">
            <a:avLst/>
          </a:prstGeom>
          <a:noFill/>
        </p:spPr>
        <p:txBody>
          <a:bodyPr wrap="square" rtlCol="0">
            <a:spAutoFit/>
          </a:bodyPr>
          <a:lstStyle/>
          <a:p>
            <a:pPr marL="180975" indent="-180975"/>
            <a:r>
              <a:rPr lang="en-US" altLang="ko-KR" sz="1200" dirty="0"/>
              <a:t>* </a:t>
            </a:r>
            <a:r>
              <a:rPr lang="ko-KR" altLang="en-US" sz="1200" dirty="0"/>
              <a:t>심사관은 청구범위의 </a:t>
            </a:r>
            <a:r>
              <a:rPr lang="ko-KR" altLang="en-US" sz="1200" dirty="0" err="1"/>
              <a:t>청구항별로</a:t>
            </a:r>
            <a:r>
              <a:rPr lang="ko-KR" altLang="en-US" sz="1200" dirty="0"/>
              <a:t> 거절이유를 판단하지만</a:t>
            </a:r>
            <a:r>
              <a:rPr lang="en-US" altLang="ko-KR" sz="1200" dirty="0"/>
              <a:t>, </a:t>
            </a:r>
            <a:r>
              <a:rPr lang="ko-KR" altLang="en-US" sz="1200" dirty="0"/>
              <a:t>하나의 </a:t>
            </a:r>
            <a:r>
              <a:rPr lang="ko-KR" altLang="en-US" sz="1200" dirty="0" err="1"/>
              <a:t>청구항이라도</a:t>
            </a:r>
            <a:r>
              <a:rPr lang="ko-KR" altLang="en-US" sz="1200" dirty="0"/>
              <a:t> 거절이유가 있으면 출원 전체를 거절결정하며</a:t>
            </a:r>
            <a:r>
              <a:rPr lang="en-US" altLang="ko-KR" sz="1200" dirty="0"/>
              <a:t>, </a:t>
            </a:r>
            <a:r>
              <a:rPr lang="ko-KR" altLang="en-US" sz="1200" dirty="0"/>
              <a:t>이를 출원일체의 원칙</a:t>
            </a:r>
            <a:r>
              <a:rPr lang="en-US" altLang="ko-KR" sz="1200" dirty="0"/>
              <a:t>(All or Nothing Rule)</a:t>
            </a:r>
            <a:r>
              <a:rPr lang="ko-KR" altLang="en-US" sz="1200" dirty="0"/>
              <a:t>이라고 한다</a:t>
            </a:r>
            <a:r>
              <a:rPr lang="en-US" altLang="ko-KR" sz="1200" dirty="0"/>
              <a:t>.</a:t>
            </a:r>
            <a:endParaRPr lang="ko-KR" altLang="en-US" sz="1200" dirty="0"/>
          </a:p>
        </p:txBody>
      </p:sp>
      <p:sp>
        <p:nvSpPr>
          <p:cNvPr id="72" name="직사각형 2">
            <a:extLst>
              <a:ext uri="{FF2B5EF4-FFF2-40B4-BE49-F238E27FC236}">
                <a16:creationId xmlns:a16="http://schemas.microsoft.com/office/drawing/2014/main" id="{33339EA8-27D5-0A9A-6D11-CF7106005833}"/>
              </a:ext>
            </a:extLst>
          </p:cNvPr>
          <p:cNvSpPr>
            <a:spLocks noChangeArrowheads="1"/>
          </p:cNvSpPr>
          <p:nvPr/>
        </p:nvSpPr>
        <p:spPr bwMode="auto">
          <a:xfrm>
            <a:off x="7151787" y="1556075"/>
            <a:ext cx="3744384" cy="287338"/>
          </a:xfrm>
          <a:prstGeom prst="rect">
            <a:avLst/>
          </a:prstGeom>
          <a:solidFill>
            <a:schemeClr val="bg1"/>
          </a:solidFill>
          <a:ln>
            <a:noFill/>
          </a:ln>
          <a:extLst>
            <a:ext uri="{91240B29-F687-4F45-9708-019B960494DF}">
              <a14:hiddenLine xmlns:a14="http://schemas.microsoft.com/office/drawing/2010/main" w="28575" algn="ctr">
                <a:solidFill>
                  <a:srgbClr val="000000"/>
                </a:solidFill>
                <a:round/>
                <a:headEnd/>
                <a:tailEnd/>
              </a14:hiddenLine>
            </a:ext>
          </a:extLst>
        </p:spPr>
        <p:txBody>
          <a:bodyPr lIns="90000" tIns="46800" rIns="90000" bIns="46800"/>
          <a:lstStyle/>
          <a:p>
            <a:r>
              <a:rPr lang="en-US" altLang="ko-KR" sz="1400" b="0" dirty="0">
                <a:solidFill>
                  <a:schemeClr val="accent6">
                    <a:lumMod val="50000"/>
                  </a:schemeClr>
                </a:solidFill>
                <a:latin typeface="+mn-ea"/>
              </a:rPr>
              <a:t>【</a:t>
            </a:r>
            <a:r>
              <a:rPr lang="ko-KR" altLang="en-US" sz="1400" b="0" dirty="0">
                <a:solidFill>
                  <a:schemeClr val="accent6">
                    <a:lumMod val="50000"/>
                  </a:schemeClr>
                </a:solidFill>
                <a:latin typeface="+mn-ea"/>
              </a:rPr>
              <a:t>발명의 </a:t>
            </a:r>
            <a:r>
              <a:rPr lang="ko-KR" altLang="en-US" sz="1400" dirty="0">
                <a:solidFill>
                  <a:schemeClr val="accent6">
                    <a:lumMod val="50000"/>
                  </a:schemeClr>
                </a:solidFill>
                <a:latin typeface="+mn-ea"/>
              </a:rPr>
              <a:t>설명</a:t>
            </a:r>
            <a:r>
              <a:rPr lang="en-US" altLang="ko-KR" sz="1400" b="0" dirty="0">
                <a:solidFill>
                  <a:schemeClr val="accent6">
                    <a:lumMod val="50000"/>
                  </a:schemeClr>
                </a:solidFill>
                <a:latin typeface="+mn-ea"/>
              </a:rPr>
              <a:t>】</a:t>
            </a:r>
          </a:p>
        </p:txBody>
      </p:sp>
      <p:sp>
        <p:nvSpPr>
          <p:cNvPr id="73" name="직사각형 72">
            <a:extLst>
              <a:ext uri="{FF2B5EF4-FFF2-40B4-BE49-F238E27FC236}">
                <a16:creationId xmlns:a16="http://schemas.microsoft.com/office/drawing/2014/main" id="{6B37B208-B874-F9E1-FFC7-3F16E72591C5}"/>
              </a:ext>
            </a:extLst>
          </p:cNvPr>
          <p:cNvSpPr/>
          <p:nvPr/>
        </p:nvSpPr>
        <p:spPr>
          <a:xfrm>
            <a:off x="7384826" y="2403367"/>
            <a:ext cx="3112845" cy="921794"/>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직사각형 73">
            <a:extLst>
              <a:ext uri="{FF2B5EF4-FFF2-40B4-BE49-F238E27FC236}">
                <a16:creationId xmlns:a16="http://schemas.microsoft.com/office/drawing/2014/main" id="{BA7C863F-E099-8CAF-6922-4BE89441448C}"/>
              </a:ext>
            </a:extLst>
          </p:cNvPr>
          <p:cNvSpPr/>
          <p:nvPr/>
        </p:nvSpPr>
        <p:spPr bwMode="auto">
          <a:xfrm>
            <a:off x="9253008" y="2099585"/>
            <a:ext cx="1244663" cy="287338"/>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ko-KR" altLang="en-US" sz="1400" b="0" dirty="0">
                <a:solidFill>
                  <a:srgbClr val="FF0000"/>
                </a:solidFill>
                <a:latin typeface="+mn-ea"/>
              </a:rPr>
              <a:t>발명의 동기</a:t>
            </a:r>
            <a:endParaRPr lang="en-US" altLang="ko-KR" sz="1400" b="0" dirty="0">
              <a:solidFill>
                <a:srgbClr val="FF0000"/>
              </a:solidFill>
              <a:latin typeface="+mn-ea"/>
            </a:endParaRPr>
          </a:p>
        </p:txBody>
      </p:sp>
      <p:sp>
        <p:nvSpPr>
          <p:cNvPr id="5" name="직사각형 4">
            <a:extLst>
              <a:ext uri="{FF2B5EF4-FFF2-40B4-BE49-F238E27FC236}">
                <a16:creationId xmlns:a16="http://schemas.microsoft.com/office/drawing/2014/main" id="{49E9160D-0BF2-24CD-2A83-A6E794EB7786}"/>
              </a:ext>
            </a:extLst>
          </p:cNvPr>
          <p:cNvSpPr/>
          <p:nvPr/>
        </p:nvSpPr>
        <p:spPr bwMode="auto">
          <a:xfrm>
            <a:off x="7672692" y="5014799"/>
            <a:ext cx="3744384" cy="288925"/>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a:defRPr/>
            </a:pPr>
            <a:r>
              <a:rPr lang="en-US" altLang="ko-KR" sz="1400" b="0" dirty="0">
                <a:solidFill>
                  <a:schemeClr val="accent6">
                    <a:lumMod val="50000"/>
                  </a:schemeClr>
                </a:solidFill>
                <a:latin typeface="+mn-ea"/>
              </a:rPr>
              <a:t>【</a:t>
            </a:r>
            <a:r>
              <a:rPr lang="ko-KR" altLang="en-US" sz="1400" b="0" dirty="0">
                <a:solidFill>
                  <a:schemeClr val="accent6">
                    <a:lumMod val="50000"/>
                  </a:schemeClr>
                </a:solidFill>
                <a:latin typeface="+mn-ea"/>
              </a:rPr>
              <a:t>실시예 </a:t>
            </a:r>
            <a:r>
              <a:rPr lang="en-US" altLang="ko-KR" sz="1400" dirty="0">
                <a:solidFill>
                  <a:schemeClr val="accent6">
                    <a:lumMod val="50000"/>
                  </a:schemeClr>
                </a:solidFill>
                <a:latin typeface="+mn-ea"/>
              </a:rPr>
              <a:t>3</a:t>
            </a:r>
            <a:r>
              <a:rPr lang="en-US" altLang="ko-KR" sz="1400" b="0" dirty="0">
                <a:solidFill>
                  <a:schemeClr val="accent6">
                    <a:lumMod val="50000"/>
                  </a:schemeClr>
                </a:solidFill>
                <a:latin typeface="+mn-ea"/>
              </a:rPr>
              <a:t>】x, y, z, w</a:t>
            </a:r>
            <a:r>
              <a:rPr lang="ko-KR" altLang="en-US" sz="1400" b="0" dirty="0">
                <a:solidFill>
                  <a:schemeClr val="accent6">
                    <a:lumMod val="50000"/>
                  </a:schemeClr>
                </a:solidFill>
                <a:latin typeface="+mn-ea"/>
              </a:rPr>
              <a:t>를 포함하는 발명</a:t>
            </a:r>
            <a:endParaRPr lang="en-US" altLang="ko-KR" sz="1400" b="0" dirty="0">
              <a:solidFill>
                <a:schemeClr val="accent6">
                  <a:lumMod val="50000"/>
                </a:schemeClr>
              </a:solidFill>
              <a:latin typeface="+mn-ea"/>
            </a:endParaRPr>
          </a:p>
        </p:txBody>
      </p:sp>
      <p:sp>
        <p:nvSpPr>
          <p:cNvPr id="6" name="말풍선: 모서리가 둥근 사각형 5">
            <a:extLst>
              <a:ext uri="{FF2B5EF4-FFF2-40B4-BE49-F238E27FC236}">
                <a16:creationId xmlns:a16="http://schemas.microsoft.com/office/drawing/2014/main" id="{D79526F6-2442-9FEC-A1DA-F24DEC86DD4A}"/>
              </a:ext>
            </a:extLst>
          </p:cNvPr>
          <p:cNvSpPr/>
          <p:nvPr/>
        </p:nvSpPr>
        <p:spPr>
          <a:xfrm>
            <a:off x="10583853" y="4487332"/>
            <a:ext cx="739318" cy="216045"/>
          </a:xfrm>
          <a:prstGeom prst="wedgeRoundRectCallout">
            <a:avLst>
              <a:gd name="adj1" fmla="val -82445"/>
              <a:gd name="adj2" fmla="val -3255"/>
              <a:gd name="adj3" fmla="val 16667"/>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A</a:t>
            </a:r>
            <a:r>
              <a:rPr lang="ko-KR" altLang="en-US" sz="1200" dirty="0"/>
              <a:t>발명</a:t>
            </a:r>
          </a:p>
        </p:txBody>
      </p:sp>
      <p:sp>
        <p:nvSpPr>
          <p:cNvPr id="7" name="말풍선: 모서리가 둥근 사각형 6">
            <a:extLst>
              <a:ext uri="{FF2B5EF4-FFF2-40B4-BE49-F238E27FC236}">
                <a16:creationId xmlns:a16="http://schemas.microsoft.com/office/drawing/2014/main" id="{2D84AD0E-C0A0-E35E-74A1-DBDDC276682D}"/>
              </a:ext>
            </a:extLst>
          </p:cNvPr>
          <p:cNvSpPr/>
          <p:nvPr/>
        </p:nvSpPr>
        <p:spPr>
          <a:xfrm>
            <a:off x="10682165" y="4804222"/>
            <a:ext cx="739318" cy="216045"/>
          </a:xfrm>
          <a:prstGeom prst="wedgeRoundRectCallout">
            <a:avLst>
              <a:gd name="adj1" fmla="val -82445"/>
              <a:gd name="adj2" fmla="val -3255"/>
              <a:gd name="adj3" fmla="val 16667"/>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B</a:t>
            </a:r>
            <a:r>
              <a:rPr lang="ko-KR" altLang="en-US" sz="1200" dirty="0"/>
              <a:t>발명</a:t>
            </a:r>
          </a:p>
        </p:txBody>
      </p:sp>
      <p:sp>
        <p:nvSpPr>
          <p:cNvPr id="8" name="말풍선: 모서리가 둥근 사각형 7">
            <a:extLst>
              <a:ext uri="{FF2B5EF4-FFF2-40B4-BE49-F238E27FC236}">
                <a16:creationId xmlns:a16="http://schemas.microsoft.com/office/drawing/2014/main" id="{B1140AC5-8CAE-3C0C-D14C-58383B7C03AB}"/>
              </a:ext>
            </a:extLst>
          </p:cNvPr>
          <p:cNvSpPr/>
          <p:nvPr/>
        </p:nvSpPr>
        <p:spPr>
          <a:xfrm>
            <a:off x="10932169" y="5128785"/>
            <a:ext cx="739318" cy="216045"/>
          </a:xfrm>
          <a:prstGeom prst="wedgeRoundRectCallout">
            <a:avLst>
              <a:gd name="adj1" fmla="val -82445"/>
              <a:gd name="adj2" fmla="val -3255"/>
              <a:gd name="adj3" fmla="val 16667"/>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C</a:t>
            </a:r>
            <a:r>
              <a:rPr lang="ko-KR" altLang="en-US" sz="1200" dirty="0"/>
              <a:t>발명</a:t>
            </a:r>
          </a:p>
        </p:txBody>
      </p:sp>
    </p:spTree>
    <p:extLst>
      <p:ext uri="{BB962C8B-B14F-4D97-AF65-F5344CB8AC3E}">
        <p14:creationId xmlns:p14="http://schemas.microsoft.com/office/powerpoint/2010/main" val="7561457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a:t>
            </a:r>
            <a:r>
              <a:rPr lang="ko-KR" altLang="en-US" dirty="0"/>
              <a:t>조</a:t>
            </a:r>
          </a:p>
        </p:txBody>
      </p:sp>
      <p:sp>
        <p:nvSpPr>
          <p:cNvPr id="4" name="텍스트 개체 틀 3"/>
          <p:cNvSpPr>
            <a:spLocks noGrp="1"/>
          </p:cNvSpPr>
          <p:nvPr>
            <p:ph type="body" sz="quarter" idx="13"/>
          </p:nvPr>
        </p:nvSpPr>
        <p:spPr/>
        <p:txBody>
          <a:bodyPr/>
          <a:lstStyle/>
          <a:p>
            <a:r>
              <a:rPr lang="ko-KR" altLang="en-US" dirty="0"/>
              <a:t>발명의 성립성과 관련된 </a:t>
            </a:r>
            <a:r>
              <a:rPr lang="en-US" altLang="ko-KR" dirty="0"/>
              <a:t>CASE</a:t>
            </a:r>
            <a:endParaRPr lang="ko-KR" altLang="en-US" dirty="0"/>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13</a:t>
            </a:fld>
            <a:endParaRPr lang="ko-KR" altLang="en-US"/>
          </a:p>
        </p:txBody>
      </p:sp>
      <p:sp>
        <p:nvSpPr>
          <p:cNvPr id="31" name="TextBox 30">
            <a:extLst>
              <a:ext uri="{FF2B5EF4-FFF2-40B4-BE49-F238E27FC236}">
                <a16:creationId xmlns:a16="http://schemas.microsoft.com/office/drawing/2014/main" id="{AA5C7073-BEB0-49CC-943A-AD3268F823F6}"/>
              </a:ext>
            </a:extLst>
          </p:cNvPr>
          <p:cNvSpPr txBox="1"/>
          <p:nvPr/>
        </p:nvSpPr>
        <p:spPr>
          <a:xfrm>
            <a:off x="384792" y="2986614"/>
            <a:ext cx="2652322" cy="3370643"/>
          </a:xfrm>
          <a:prstGeom prst="rect">
            <a:avLst/>
          </a:prstGeom>
          <a:solidFill>
            <a:schemeClr val="accent3">
              <a:lumMod val="20000"/>
              <a:lumOff val="80000"/>
            </a:schemeClr>
          </a:solidFill>
          <a:ln>
            <a:solidFill>
              <a:schemeClr val="bg1">
                <a:lumMod val="50000"/>
              </a:schemeClr>
            </a:solidFill>
          </a:ln>
        </p:spPr>
        <p:txBody>
          <a:bodyPr wrap="square" rtlCol="0" anchor="t">
            <a:noAutofit/>
          </a:bodyPr>
          <a:lstStyle/>
          <a:p>
            <a:pPr algn="just"/>
            <a:r>
              <a:rPr lang="ko-KR" altLang="en-US" sz="1400" dirty="0"/>
              <a:t>마법천자문 사건</a:t>
            </a:r>
            <a:r>
              <a:rPr lang="en-US" altLang="ko-KR" sz="1400" dirty="0"/>
              <a:t>(2009</a:t>
            </a:r>
            <a:r>
              <a:rPr lang="ko-KR" altLang="en-US" sz="1400" dirty="0"/>
              <a:t>허</a:t>
            </a:r>
            <a:r>
              <a:rPr lang="en-US" altLang="ko-KR" sz="1400" dirty="0"/>
              <a:t>351)</a:t>
            </a:r>
          </a:p>
          <a:p>
            <a:pPr algn="just"/>
            <a:endParaRPr lang="en-US" altLang="ko-KR" sz="1400" dirty="0"/>
          </a:p>
          <a:p>
            <a:pPr algn="just"/>
            <a:r>
              <a:rPr lang="ko-KR" altLang="en-US" sz="1100" dirty="0"/>
              <a:t>특허발명은 학습만화에 관한 것으로 그 기술분야는 만화 및 애니메이션 산업분야라 할 것이므로</a:t>
            </a:r>
            <a:r>
              <a:rPr lang="en-US" altLang="ko-KR" sz="1100" dirty="0"/>
              <a:t>, </a:t>
            </a:r>
            <a:r>
              <a:rPr lang="ko-KR" altLang="en-US" sz="1100" dirty="0"/>
              <a:t>이 발명이 속하는 기술분야에서 통상의 지식을 가진 사람</a:t>
            </a:r>
            <a:r>
              <a:rPr lang="en-US" altLang="ko-KR" sz="1100" dirty="0"/>
              <a:t>(</a:t>
            </a:r>
            <a:r>
              <a:rPr lang="ko-KR" altLang="en-US" sz="1100" dirty="0"/>
              <a:t>이하 ‘통상의 </a:t>
            </a:r>
            <a:r>
              <a:rPr lang="ko-KR" altLang="en-US" sz="1100" dirty="0" err="1"/>
              <a:t>기술자’라</a:t>
            </a:r>
            <a:r>
              <a:rPr lang="ko-KR" altLang="en-US" sz="1100" dirty="0"/>
              <a:t> 한다</a:t>
            </a:r>
            <a:r>
              <a:rPr lang="en-US" altLang="ko-KR" sz="1100" dirty="0"/>
              <a:t>)</a:t>
            </a:r>
            <a:r>
              <a:rPr lang="ko-KR" altLang="en-US" sz="1100" dirty="0"/>
              <a:t>이라면 특허발명에 개시된 기술적 수단을 이용하여 특허발명을 용이하게 </a:t>
            </a:r>
            <a:r>
              <a:rPr lang="ko-KR" altLang="en-US" sz="1100" dirty="0" err="1"/>
              <a:t>반복실시할</a:t>
            </a:r>
            <a:r>
              <a:rPr lang="ko-KR" altLang="en-US" sz="1100" dirty="0"/>
              <a:t> 수 있을 것으로 보이고</a:t>
            </a:r>
            <a:r>
              <a:rPr lang="en-US" altLang="ko-KR" sz="1100" dirty="0"/>
              <a:t>, </a:t>
            </a:r>
            <a:r>
              <a:rPr lang="ko-KR" altLang="en-US" sz="1100" dirty="0"/>
              <a:t>발명의 실시자에 따라 그 효과에 있어서 어느 정도의 차이가 발생할 수 있음은 이 특허발명의 </a:t>
            </a:r>
            <a:r>
              <a:rPr lang="ko-KR" altLang="en-US" sz="1100" dirty="0" err="1"/>
              <a:t>경우뿐만</a:t>
            </a:r>
            <a:r>
              <a:rPr lang="ko-KR" altLang="en-US" sz="1100" dirty="0"/>
              <a:t> 아니라 다른 발명의 경우에도 마찬가지라 할 것이고</a:t>
            </a:r>
            <a:r>
              <a:rPr lang="en-US" altLang="ko-KR" sz="1100" dirty="0"/>
              <a:t>, </a:t>
            </a:r>
            <a:r>
              <a:rPr lang="ko-KR" altLang="en-US" sz="1100" dirty="0">
                <a:highlight>
                  <a:srgbClr val="FFFF00"/>
                </a:highlight>
              </a:rPr>
              <a:t>특허발명에 </a:t>
            </a:r>
            <a:r>
              <a:rPr lang="ko-KR" altLang="en-US" sz="1100" dirty="0" err="1">
                <a:highlight>
                  <a:srgbClr val="FFFF00"/>
                </a:highlight>
              </a:rPr>
              <a:t>반복재현성이</a:t>
            </a:r>
            <a:r>
              <a:rPr lang="ko-KR" altLang="en-US" sz="1100" dirty="0">
                <a:highlight>
                  <a:srgbClr val="FFFF00"/>
                </a:highlight>
              </a:rPr>
              <a:t> 있는지 여부를 판단함에 있어 발명의 실시자를 특허발명이 속하는 기술분야인 만화 및 애니메이션 산업분야의 통상의 기술자로 보아야 할 것인 점에 비추어 보면</a:t>
            </a:r>
            <a:r>
              <a:rPr lang="en-US" altLang="ko-KR" sz="1100" dirty="0">
                <a:highlight>
                  <a:srgbClr val="FFFF00"/>
                </a:highlight>
              </a:rPr>
              <a:t>, </a:t>
            </a:r>
            <a:r>
              <a:rPr lang="ko-KR" altLang="en-US" sz="1100" dirty="0"/>
              <a:t>발명의 실시자에 따라 특허발명의 반복실시가 어렵다고 할 정도로 그 효과가 달라진다고 볼 수 없다</a:t>
            </a:r>
            <a:r>
              <a:rPr lang="en-US" altLang="ko-KR" sz="1100" dirty="0"/>
              <a:t>.</a:t>
            </a:r>
            <a:endParaRPr lang="ko-KR" altLang="en-US" sz="1400" dirty="0"/>
          </a:p>
        </p:txBody>
      </p:sp>
      <p:sp>
        <p:nvSpPr>
          <p:cNvPr id="33" name="TextBox 32">
            <a:extLst>
              <a:ext uri="{FF2B5EF4-FFF2-40B4-BE49-F238E27FC236}">
                <a16:creationId xmlns:a16="http://schemas.microsoft.com/office/drawing/2014/main" id="{B5BC74D5-D970-42CC-8EDB-9A85E3929BDB}"/>
              </a:ext>
            </a:extLst>
          </p:cNvPr>
          <p:cNvSpPr txBox="1"/>
          <p:nvPr/>
        </p:nvSpPr>
        <p:spPr>
          <a:xfrm>
            <a:off x="384792" y="1023464"/>
            <a:ext cx="4687950" cy="1787977"/>
          </a:xfrm>
          <a:prstGeom prst="rect">
            <a:avLst/>
          </a:prstGeom>
          <a:noFill/>
          <a:ln>
            <a:solidFill>
              <a:schemeClr val="bg1">
                <a:lumMod val="50000"/>
              </a:schemeClr>
            </a:solidFill>
          </a:ln>
        </p:spPr>
        <p:txBody>
          <a:bodyPr wrap="square" rtlCol="0" anchor="t">
            <a:noAutofit/>
          </a:bodyPr>
          <a:lstStyle/>
          <a:p>
            <a:r>
              <a:rPr lang="ko-KR" altLang="en-US" sz="1400" dirty="0"/>
              <a:t>외국어 발음표기 문자 형성방법 사건</a:t>
            </a:r>
            <a:r>
              <a:rPr lang="en-US" altLang="ko-KR" sz="1400" dirty="0"/>
              <a:t>(2001</a:t>
            </a:r>
            <a:r>
              <a:rPr lang="ko-KR" altLang="en-US" sz="1400" dirty="0"/>
              <a:t>허</a:t>
            </a:r>
            <a:r>
              <a:rPr lang="en-US" altLang="ko-KR" sz="1400" dirty="0"/>
              <a:t>3453)</a:t>
            </a:r>
          </a:p>
          <a:p>
            <a:endParaRPr lang="en-US" altLang="ko-KR" sz="1400" dirty="0"/>
          </a:p>
          <a:p>
            <a:r>
              <a:rPr lang="ko-KR" altLang="en-US" sz="1100" dirty="0"/>
              <a:t>문제가 된 청구항은 「외국어 발음표기 문자를 형성하는 방법에 있어서</a:t>
            </a:r>
            <a:r>
              <a:rPr lang="en-US" altLang="ko-KR" sz="1100" dirty="0"/>
              <a:t>, </a:t>
            </a:r>
            <a:r>
              <a:rPr lang="ko-KR" altLang="en-US" sz="1100" dirty="0"/>
              <a:t>문제에 대한 한글과 외국어의 발음상의 차이에 의하여 표기시에 차이가 생기는 문자들의 표시를 위하여 해당 문자의 발음시에 형성되는 사람의 목구멍의 형상과 </a:t>
            </a:r>
            <a:r>
              <a:rPr lang="ko-KR" altLang="en-US" sz="1100" dirty="0" err="1"/>
              <a:t>혓소리가</a:t>
            </a:r>
            <a:r>
              <a:rPr lang="ko-KR" altLang="en-US" sz="1100" dirty="0"/>
              <a:t> 발음상 변화를 일으키는 현상과 이에 따른 입술모양에 따라서 문자를 변형시켜서 형성하는 것을 특징으로 하는 외국어 발음표기 문자의 </a:t>
            </a:r>
            <a:r>
              <a:rPr lang="ko-KR" altLang="en-US" sz="1100" dirty="0" err="1"/>
              <a:t>형성방법」으로서</a:t>
            </a:r>
            <a:r>
              <a:rPr lang="ko-KR" altLang="en-US" sz="1100" dirty="0"/>
              <a:t> 이와 같은 </a:t>
            </a:r>
            <a:r>
              <a:rPr lang="ko-KR" altLang="en-US" sz="1100" dirty="0">
                <a:highlight>
                  <a:srgbClr val="FFFF00"/>
                </a:highlight>
              </a:rPr>
              <a:t>외국어 발음표기문자의 형성방법은 인위적인 약속에 지나지 않기 때문에</a:t>
            </a:r>
            <a:r>
              <a:rPr lang="ko-KR" altLang="en-US" sz="1100" dirty="0"/>
              <a:t> 자연법칙을 이용한 것이 아니다</a:t>
            </a:r>
          </a:p>
          <a:p>
            <a:endParaRPr lang="ko-KR" altLang="en-US" sz="1400" dirty="0"/>
          </a:p>
        </p:txBody>
      </p:sp>
      <p:sp>
        <p:nvSpPr>
          <p:cNvPr id="34" name="TextBox 33">
            <a:extLst>
              <a:ext uri="{FF2B5EF4-FFF2-40B4-BE49-F238E27FC236}">
                <a16:creationId xmlns:a16="http://schemas.microsoft.com/office/drawing/2014/main" id="{323904E6-520D-4C13-A889-62240018A4E0}"/>
              </a:ext>
            </a:extLst>
          </p:cNvPr>
          <p:cNvSpPr txBox="1"/>
          <p:nvPr/>
        </p:nvSpPr>
        <p:spPr>
          <a:xfrm>
            <a:off x="5181601" y="945268"/>
            <a:ext cx="6812526" cy="1493132"/>
          </a:xfrm>
          <a:prstGeom prst="rect">
            <a:avLst/>
          </a:prstGeom>
          <a:solidFill>
            <a:schemeClr val="accent4">
              <a:lumMod val="20000"/>
              <a:lumOff val="80000"/>
            </a:schemeClr>
          </a:solidFill>
          <a:ln>
            <a:solidFill>
              <a:schemeClr val="bg1">
                <a:lumMod val="50000"/>
              </a:schemeClr>
            </a:solidFill>
          </a:ln>
        </p:spPr>
        <p:txBody>
          <a:bodyPr wrap="square" rtlCol="0" anchor="t">
            <a:noAutofit/>
          </a:bodyPr>
          <a:lstStyle/>
          <a:p>
            <a:r>
              <a:rPr lang="ko-KR" altLang="en-US" sz="1400" dirty="0"/>
              <a:t>수치제어장치의 </a:t>
            </a:r>
            <a:r>
              <a:rPr lang="ko-KR" altLang="en-US" sz="1400" dirty="0" err="1"/>
              <a:t>가감속</a:t>
            </a:r>
            <a:r>
              <a:rPr lang="ko-KR" altLang="en-US" sz="1400" dirty="0"/>
              <a:t> 제어방법 사건</a:t>
            </a:r>
            <a:r>
              <a:rPr lang="en-US" altLang="ko-KR" sz="1400" dirty="0"/>
              <a:t>(97</a:t>
            </a:r>
            <a:r>
              <a:rPr lang="ko-KR" altLang="en-US" sz="1400" dirty="0"/>
              <a:t>후</a:t>
            </a:r>
            <a:r>
              <a:rPr lang="en-US" altLang="ko-KR" sz="1400" dirty="0"/>
              <a:t>2597)</a:t>
            </a:r>
          </a:p>
          <a:p>
            <a:endParaRPr lang="en-US" altLang="ko-KR" sz="1100" dirty="0"/>
          </a:p>
          <a:p>
            <a:r>
              <a:rPr lang="ko-KR" altLang="en-US" sz="1100" dirty="0"/>
              <a:t>출원발명이 </a:t>
            </a:r>
            <a:r>
              <a:rPr lang="ko-KR" altLang="en-US" sz="1100" dirty="0" err="1"/>
              <a:t>기본워드에</a:t>
            </a:r>
            <a:r>
              <a:rPr lang="ko-KR" altLang="en-US" sz="1100" dirty="0"/>
              <a:t> </a:t>
            </a:r>
            <a:r>
              <a:rPr lang="ko-KR" altLang="en-US" sz="1100" dirty="0" err="1"/>
              <a:t>서브워드를</a:t>
            </a:r>
            <a:r>
              <a:rPr lang="ko-KR" altLang="en-US" sz="1100" dirty="0"/>
              <a:t> 부가하여 명령어를 이루는 </a:t>
            </a:r>
            <a:r>
              <a:rPr lang="ko-KR" altLang="en-US" sz="1100" dirty="0" err="1"/>
              <a:t>제어입력포맷을</a:t>
            </a:r>
            <a:r>
              <a:rPr lang="ko-KR" altLang="en-US" sz="1100" dirty="0"/>
              <a:t> 다양하게 하고 워드의 개수에 따라 조합되는 제어명령어의 수를 증가시켜 하드웨어인 수치제어장치를 제어하는 방법에 관한 것으로서</a:t>
            </a:r>
            <a:r>
              <a:rPr lang="en-US" altLang="ko-KR" sz="1100" dirty="0"/>
              <a:t>, </a:t>
            </a:r>
            <a:r>
              <a:rPr lang="ko-KR" altLang="en-US" sz="1100" dirty="0"/>
              <a:t>결국 </a:t>
            </a:r>
            <a:r>
              <a:rPr lang="ko-KR" altLang="en-US" sz="1100" dirty="0" err="1"/>
              <a:t>수치제어입력포맷을</a:t>
            </a:r>
            <a:r>
              <a:rPr lang="ko-KR" altLang="en-US" sz="1100" dirty="0"/>
              <a:t> 사용하여 </a:t>
            </a:r>
            <a:r>
              <a:rPr lang="ko-KR" altLang="en-US" sz="1100" dirty="0">
                <a:highlight>
                  <a:srgbClr val="FFFF00"/>
                </a:highlight>
              </a:rPr>
              <a:t>소프트웨어인 </a:t>
            </a:r>
            <a:r>
              <a:rPr lang="ko-KR" altLang="en-US" sz="1100" dirty="0" err="1">
                <a:highlight>
                  <a:srgbClr val="FFFF00"/>
                </a:highlight>
              </a:rPr>
              <a:t>서브워드</a:t>
            </a:r>
            <a:r>
              <a:rPr lang="ko-KR" altLang="en-US" sz="1100" dirty="0">
                <a:highlight>
                  <a:srgbClr val="FFFF00"/>
                </a:highlight>
              </a:rPr>
              <a:t> 부가 가공프로그램을 </a:t>
            </a:r>
            <a:r>
              <a:rPr lang="ko-KR" altLang="en-US" sz="1100" dirty="0" err="1">
                <a:highlight>
                  <a:srgbClr val="FFFF00"/>
                </a:highlight>
              </a:rPr>
              <a:t>구동시켜</a:t>
            </a:r>
            <a:r>
              <a:rPr lang="ko-KR" altLang="en-US" sz="1100" dirty="0">
                <a:highlight>
                  <a:srgbClr val="FFFF00"/>
                </a:highlight>
              </a:rPr>
              <a:t> 하드웨어인 수치제어장치에 의하여 기계식별</a:t>
            </a:r>
            <a:r>
              <a:rPr lang="en-US" altLang="ko-KR" sz="1100" dirty="0">
                <a:highlight>
                  <a:srgbClr val="FFFF00"/>
                </a:highlight>
              </a:rPr>
              <a:t>·</a:t>
            </a:r>
            <a:r>
              <a:rPr lang="ko-KR" altLang="en-US" sz="1100" dirty="0">
                <a:highlight>
                  <a:srgbClr val="FFFF00"/>
                </a:highlight>
              </a:rPr>
              <a:t>제어</a:t>
            </a:r>
            <a:r>
              <a:rPr lang="en-US" altLang="ko-KR" sz="1100" dirty="0">
                <a:highlight>
                  <a:srgbClr val="FFFF00"/>
                </a:highlight>
              </a:rPr>
              <a:t>·</a:t>
            </a:r>
            <a:r>
              <a:rPr lang="ko-KR" altLang="en-US" sz="1100" dirty="0">
                <a:highlight>
                  <a:srgbClr val="FFFF00"/>
                </a:highlight>
              </a:rPr>
              <a:t>작동을 하게 하는 것일 뿐만 아니라 하드웨어 외부에서의 물리적 변환을 야기시켜 그 물리적 변환으로 인하여 실제적 이용가능성이 명세서에 개시</a:t>
            </a:r>
            <a:r>
              <a:rPr lang="ko-KR" altLang="en-US" sz="1100" dirty="0"/>
              <a:t>되어 있다는 이유로 그 출원발명을 자연법칙을 이용하지 않은 순수한 인간의 정신적 활동에 의한 것이라고 할 수는 없다</a:t>
            </a:r>
            <a:r>
              <a:rPr lang="en-US" altLang="ko-KR" sz="1100" dirty="0"/>
              <a:t>.</a:t>
            </a:r>
            <a:endParaRPr lang="ko-KR" altLang="en-US" sz="1100" dirty="0"/>
          </a:p>
          <a:p>
            <a:endParaRPr lang="ko-KR" altLang="en-US" sz="1400" dirty="0"/>
          </a:p>
        </p:txBody>
      </p:sp>
      <p:sp>
        <p:nvSpPr>
          <p:cNvPr id="10" name="TextBox 9">
            <a:extLst>
              <a:ext uri="{FF2B5EF4-FFF2-40B4-BE49-F238E27FC236}">
                <a16:creationId xmlns:a16="http://schemas.microsoft.com/office/drawing/2014/main" id="{9727D276-E2CE-454A-B273-37784B613BD3}"/>
              </a:ext>
            </a:extLst>
          </p:cNvPr>
          <p:cNvSpPr txBox="1"/>
          <p:nvPr/>
        </p:nvSpPr>
        <p:spPr>
          <a:xfrm>
            <a:off x="5226793" y="2545949"/>
            <a:ext cx="6767334" cy="2450593"/>
          </a:xfrm>
          <a:prstGeom prst="rect">
            <a:avLst/>
          </a:prstGeom>
          <a:noFill/>
          <a:ln>
            <a:solidFill>
              <a:schemeClr val="bg1">
                <a:lumMod val="50000"/>
              </a:schemeClr>
            </a:solidFill>
          </a:ln>
        </p:spPr>
        <p:txBody>
          <a:bodyPr wrap="square" rtlCol="0" anchor="t">
            <a:noAutofit/>
          </a:bodyPr>
          <a:lstStyle/>
          <a:p>
            <a:r>
              <a:rPr lang="ko-KR" altLang="en-US" sz="1400" dirty="0"/>
              <a:t>재활용 쓰레기 종합 관리 방법 사건</a:t>
            </a:r>
            <a:r>
              <a:rPr lang="en-US" altLang="ko-KR" sz="1400" dirty="0"/>
              <a:t>(2001</a:t>
            </a:r>
            <a:r>
              <a:rPr lang="ko-KR" altLang="en-US" sz="1400" dirty="0"/>
              <a:t>후</a:t>
            </a:r>
            <a:r>
              <a:rPr lang="en-US" altLang="ko-KR" sz="1400" dirty="0"/>
              <a:t>3149)</a:t>
            </a:r>
          </a:p>
          <a:p>
            <a:endParaRPr lang="en-US" altLang="ko-KR" sz="1100" dirty="0"/>
          </a:p>
          <a:p>
            <a:r>
              <a:rPr lang="ko-KR" altLang="en-US" sz="1100" dirty="0"/>
              <a:t>「</a:t>
            </a:r>
            <a:r>
              <a:rPr lang="ko-KR" altLang="en-US" sz="1100" dirty="0" err="1"/>
              <a:t>배출자</a:t>
            </a:r>
            <a:r>
              <a:rPr lang="ko-KR" altLang="en-US" sz="1100" dirty="0"/>
              <a:t> 신상정보가 입력된 바코드 스티커와</a:t>
            </a:r>
            <a:r>
              <a:rPr lang="en-US" altLang="ko-KR" sz="1100" dirty="0"/>
              <a:t>, </a:t>
            </a:r>
            <a:r>
              <a:rPr lang="ko-KR" altLang="en-US" sz="1100" dirty="0"/>
              <a:t>배출쓰레기가 표시된 달력지는 관할 관청에서 각 배출자에게 배포하고 각 배출자들은 정해진 규정에 의해 정확하게 분리된 쓰레기를 규정 쓰레기 봉투에 담아서 배출하되 반드시 </a:t>
            </a:r>
            <a:r>
              <a:rPr lang="ko-KR" altLang="en-US" sz="1100" dirty="0" err="1"/>
              <a:t>배출자</a:t>
            </a:r>
            <a:r>
              <a:rPr lang="ko-KR" altLang="en-US" sz="1100" dirty="0"/>
              <a:t> 신상정보가 입력된 바코드 스티커를 쓰레기 봉투에 부착하여 배출하며</a:t>
            </a:r>
            <a:r>
              <a:rPr lang="en-US" altLang="ko-KR" sz="1100" dirty="0"/>
              <a:t>, </a:t>
            </a:r>
            <a:r>
              <a:rPr lang="ko-KR" altLang="en-US" sz="1100" dirty="0"/>
              <a:t>수거자는 배출된 쓰레기를 요일별로 정확하게 분리 수거하여 집하장으로 이송하여 재활용쓰레기와 매립 소각될 쓰레기를 선별하여 처리과정을 거치며</a:t>
            </a:r>
            <a:r>
              <a:rPr lang="en-US" altLang="ko-KR" sz="1100" dirty="0"/>
              <a:t>, </a:t>
            </a:r>
            <a:r>
              <a:rPr lang="ko-KR" altLang="en-US" sz="1100" dirty="0" err="1"/>
              <a:t>잘못분류된</a:t>
            </a:r>
            <a:r>
              <a:rPr lang="ko-KR" altLang="en-US" sz="1100" dirty="0"/>
              <a:t> 쓰레기 봉투는 전면에 부착된 바코드를 판독하여 해당 배출자에게 시정명령을 지시하는 각 과정에서 얻어지는 자료들을 축적한 통계로 생활쓰레기를 </a:t>
            </a:r>
            <a:r>
              <a:rPr lang="ko-KR" altLang="en-US" sz="1100" dirty="0" err="1"/>
              <a:t>종합관리하도록</a:t>
            </a:r>
            <a:r>
              <a:rPr lang="ko-KR" altLang="en-US" sz="1100" dirty="0"/>
              <a:t> 하는 생활쓰레기 </a:t>
            </a:r>
            <a:r>
              <a:rPr lang="ko-KR" altLang="en-US" sz="1100" dirty="0" err="1"/>
              <a:t>재활용종합관리방법」은</a:t>
            </a:r>
            <a:r>
              <a:rPr lang="ko-KR" altLang="en-US" sz="1100" dirty="0"/>
              <a:t> </a:t>
            </a:r>
            <a:r>
              <a:rPr lang="ko-KR" altLang="en-US" sz="1100" dirty="0">
                <a:highlight>
                  <a:srgbClr val="FFFF00"/>
                </a:highlight>
              </a:rPr>
              <a:t>전체적으로 보면 그 자체로는 실시할 수 없고 관련 법령 등이 </a:t>
            </a:r>
            <a:r>
              <a:rPr lang="ko-KR" altLang="en-US" sz="1100" dirty="0" err="1">
                <a:highlight>
                  <a:srgbClr val="FFFF00"/>
                </a:highlight>
              </a:rPr>
              <a:t>구비되어야만</a:t>
            </a:r>
            <a:r>
              <a:rPr lang="ko-KR" altLang="en-US" sz="1100" dirty="0">
                <a:highlight>
                  <a:srgbClr val="FFFF00"/>
                </a:highlight>
              </a:rPr>
              <a:t> 실시할 수 있는 것으로 관할 관청</a:t>
            </a:r>
            <a:r>
              <a:rPr lang="en-US" altLang="ko-KR" sz="1100" dirty="0">
                <a:highlight>
                  <a:srgbClr val="FFFF00"/>
                </a:highlight>
              </a:rPr>
              <a:t>, </a:t>
            </a:r>
            <a:r>
              <a:rPr lang="ko-KR" altLang="en-US" sz="1100" dirty="0" err="1">
                <a:highlight>
                  <a:srgbClr val="FFFF00"/>
                </a:highlight>
              </a:rPr>
              <a:t>배출자</a:t>
            </a:r>
            <a:r>
              <a:rPr lang="en-US" altLang="ko-KR" sz="1100" dirty="0">
                <a:highlight>
                  <a:srgbClr val="FFFF00"/>
                </a:highlight>
              </a:rPr>
              <a:t>, </a:t>
            </a:r>
            <a:r>
              <a:rPr lang="ko-KR" altLang="en-US" sz="1100" dirty="0" err="1">
                <a:highlight>
                  <a:srgbClr val="FFFF00"/>
                </a:highlight>
              </a:rPr>
              <a:t>수거자</a:t>
            </a:r>
            <a:r>
              <a:rPr lang="ko-KR" altLang="en-US" sz="1100" dirty="0">
                <a:highlight>
                  <a:srgbClr val="FFFF00"/>
                </a:highlight>
              </a:rPr>
              <a:t> 간의 약속 등에 의하여 이루어지는 인위적 결정이거나 이에 따른 위 관할 관청 등의 정신적 판단 또는 인위적 결정에 불과하므로 자연법칙을 이용한 것이라고 할 수 없으며</a:t>
            </a:r>
            <a:r>
              <a:rPr lang="en-US" altLang="ko-KR" sz="1100" dirty="0">
                <a:highlight>
                  <a:srgbClr val="FFFF00"/>
                </a:highlight>
              </a:rPr>
              <a:t>, </a:t>
            </a:r>
            <a:r>
              <a:rPr lang="ko-KR" altLang="en-US" sz="1100" dirty="0">
                <a:highlight>
                  <a:srgbClr val="FFFF00"/>
                </a:highlight>
              </a:rPr>
              <a:t>그 각 단계가 컴퓨터의 온 라인</a:t>
            </a:r>
            <a:r>
              <a:rPr lang="en-US" altLang="ko-KR" sz="1100" dirty="0">
                <a:highlight>
                  <a:srgbClr val="FFFF00"/>
                </a:highlight>
              </a:rPr>
              <a:t>(on-line) </a:t>
            </a:r>
            <a:r>
              <a:rPr lang="ko-KR" altLang="en-US" sz="1100" dirty="0">
                <a:highlight>
                  <a:srgbClr val="FFFF00"/>
                </a:highlight>
              </a:rPr>
              <a:t>상에서 처리되는 것이 아니라 오프라인</a:t>
            </a:r>
            <a:r>
              <a:rPr lang="en-US" altLang="ko-KR" sz="1100" dirty="0">
                <a:highlight>
                  <a:srgbClr val="FFFF00"/>
                </a:highlight>
              </a:rPr>
              <a:t>(off-line) </a:t>
            </a:r>
            <a:r>
              <a:rPr lang="ko-KR" altLang="en-US" sz="1100" dirty="0">
                <a:highlight>
                  <a:srgbClr val="FFFF00"/>
                </a:highlight>
              </a:rPr>
              <a:t>상에서 처리되는 것이고</a:t>
            </a:r>
            <a:r>
              <a:rPr lang="en-US" altLang="ko-KR" sz="1100" dirty="0">
                <a:highlight>
                  <a:srgbClr val="FFFF00"/>
                </a:highlight>
              </a:rPr>
              <a:t>, </a:t>
            </a:r>
            <a:r>
              <a:rPr lang="ko-KR" altLang="en-US" sz="1100" dirty="0">
                <a:highlight>
                  <a:srgbClr val="FFFF00"/>
                </a:highlight>
              </a:rPr>
              <a:t>소프트웨어와 하드웨어가 연계되는 시스템이 구체적으로 실현되고 있는 것도 아니어서 이른바 비즈니스모델 발명의 범주에 </a:t>
            </a:r>
            <a:r>
              <a:rPr lang="ko-KR" altLang="en-US" sz="1100" dirty="0" err="1">
                <a:highlight>
                  <a:srgbClr val="FFFF00"/>
                </a:highlight>
              </a:rPr>
              <a:t>속하지도</a:t>
            </a:r>
            <a:r>
              <a:rPr lang="ko-KR" altLang="en-US" sz="1100" dirty="0">
                <a:highlight>
                  <a:srgbClr val="FFFF00"/>
                </a:highlight>
              </a:rPr>
              <a:t> 아니하므로 </a:t>
            </a:r>
            <a:r>
              <a:rPr lang="ko-KR" altLang="en-US" sz="1100" dirty="0"/>
              <a:t>이를 특허법 </a:t>
            </a:r>
            <a:r>
              <a:rPr lang="ko-KR" altLang="en-US" sz="1100" dirty="0">
                <a:highlight>
                  <a:srgbClr val="FFFF00"/>
                </a:highlight>
              </a:rPr>
              <a:t>제</a:t>
            </a:r>
            <a:r>
              <a:rPr lang="en-US" altLang="ko-KR" sz="1100" dirty="0">
                <a:highlight>
                  <a:srgbClr val="FFFF00"/>
                </a:highlight>
              </a:rPr>
              <a:t>29</a:t>
            </a:r>
            <a:r>
              <a:rPr lang="ko-KR" altLang="en-US" sz="1100" dirty="0">
                <a:highlight>
                  <a:srgbClr val="FFFF00"/>
                </a:highlight>
              </a:rPr>
              <a:t>조 제</a:t>
            </a:r>
            <a:r>
              <a:rPr lang="en-US" altLang="ko-KR" sz="1100" dirty="0">
                <a:highlight>
                  <a:srgbClr val="FFFF00"/>
                </a:highlight>
              </a:rPr>
              <a:t>1</a:t>
            </a:r>
            <a:r>
              <a:rPr lang="ko-KR" altLang="en-US" sz="1100" dirty="0">
                <a:highlight>
                  <a:srgbClr val="FFFF00"/>
                </a:highlight>
              </a:rPr>
              <a:t>항 본문의 “산업상 이용할 수 있는 </a:t>
            </a:r>
            <a:r>
              <a:rPr lang="ko-KR" altLang="en-US" sz="1100" dirty="0" err="1">
                <a:highlight>
                  <a:srgbClr val="FFFF00"/>
                </a:highlight>
              </a:rPr>
              <a:t>발명”이라고</a:t>
            </a:r>
            <a:r>
              <a:rPr lang="ko-KR" altLang="en-US" sz="1100" dirty="0">
                <a:highlight>
                  <a:srgbClr val="FFFF00"/>
                </a:highlight>
              </a:rPr>
              <a:t> 할 수 없다</a:t>
            </a:r>
            <a:endParaRPr lang="ko-KR" altLang="en-US" sz="1400" dirty="0">
              <a:highlight>
                <a:srgbClr val="FFFF00"/>
              </a:highlight>
            </a:endParaRPr>
          </a:p>
        </p:txBody>
      </p:sp>
      <p:pic>
        <p:nvPicPr>
          <p:cNvPr id="1027" name="_x285950880" descr="EMB00009ed425a5">
            <a:extLst>
              <a:ext uri="{FF2B5EF4-FFF2-40B4-BE49-F238E27FC236}">
                <a16:creationId xmlns:a16="http://schemas.microsoft.com/office/drawing/2014/main" id="{A846AA2E-AAB2-41DF-86F2-A300BCC2E4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91165" y="2986614"/>
            <a:ext cx="1881577" cy="1787977"/>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12">
            <a:extLst>
              <a:ext uri="{FF2B5EF4-FFF2-40B4-BE49-F238E27FC236}">
                <a16:creationId xmlns:a16="http://schemas.microsoft.com/office/drawing/2014/main" id="{B8C4BB0C-12B8-68A4-CC8C-35C4608D3A0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8000" y="4943227"/>
            <a:ext cx="5136127" cy="18457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4609688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14</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지식재산의 보호방안</a:t>
            </a:r>
          </a:p>
        </p:txBody>
      </p:sp>
      <p:pic>
        <p:nvPicPr>
          <p:cNvPr id="113" name="Picture 54" descr="병웅"/>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878504" y="799405"/>
            <a:ext cx="1012825" cy="1595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AutoShape 3"/>
          <p:cNvSpPr>
            <a:spLocks noChangeArrowheads="1"/>
          </p:cNvSpPr>
          <p:nvPr/>
        </p:nvSpPr>
        <p:spPr bwMode="auto">
          <a:xfrm>
            <a:off x="3677099" y="1221346"/>
            <a:ext cx="3551289" cy="346133"/>
          </a:xfrm>
          <a:prstGeom prst="flowChartProcess">
            <a:avLst/>
          </a:prstGeom>
          <a:solidFill>
            <a:schemeClr val="accent2">
              <a:lumMod val="40000"/>
              <a:lumOff val="60000"/>
            </a:schemeClr>
          </a:solidFill>
          <a:ln>
            <a:solidFill>
              <a:schemeClr val="bg1">
                <a:lumMod val="50000"/>
              </a:schemeClr>
            </a:solidFill>
            <a:headEnd/>
            <a:tailEnd/>
          </a:ln>
          <a:effectLst/>
        </p:spPr>
        <p:style>
          <a:lnRef idx="1">
            <a:schemeClr val="accent2"/>
          </a:lnRef>
          <a:fillRef idx="3">
            <a:schemeClr val="accent2"/>
          </a:fillRef>
          <a:effectRef idx="2">
            <a:schemeClr val="accent2"/>
          </a:effectRef>
          <a:fontRef idx="minor">
            <a:schemeClr val="lt1"/>
          </a:fontRef>
        </p:style>
        <p:txBody>
          <a:bodyPr anchor="ctr"/>
          <a:lstStyle/>
          <a:p>
            <a:pPr algn="ctr" fontAlgn="auto">
              <a:spcBef>
                <a:spcPts val="0"/>
              </a:spcBef>
              <a:spcAft>
                <a:spcPts val="0"/>
              </a:spcAft>
              <a:defRPr/>
            </a:pPr>
            <a:r>
              <a:rPr lang="ko-KR" altLang="en-US" sz="1200" b="0" dirty="0">
                <a:solidFill>
                  <a:schemeClr val="tx2">
                    <a:lumMod val="50000"/>
                  </a:schemeClr>
                </a:solidFill>
                <a:latin typeface="+mn-ea"/>
              </a:rPr>
              <a:t>지식재산 창출</a:t>
            </a:r>
          </a:p>
        </p:txBody>
      </p:sp>
      <p:sp>
        <p:nvSpPr>
          <p:cNvPr id="68" name="AutoShape 4"/>
          <p:cNvSpPr>
            <a:spLocks noChangeArrowheads="1"/>
          </p:cNvSpPr>
          <p:nvPr/>
        </p:nvSpPr>
        <p:spPr bwMode="auto">
          <a:xfrm>
            <a:off x="914985" y="4778058"/>
            <a:ext cx="1085116"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tx1"/>
                </a:solidFill>
                <a:latin typeface="+mn-ea"/>
              </a:rPr>
              <a:t>출원 </a:t>
            </a:r>
          </a:p>
        </p:txBody>
      </p:sp>
      <p:sp>
        <p:nvSpPr>
          <p:cNvPr id="69" name="AutoShape 5"/>
          <p:cNvSpPr>
            <a:spLocks noChangeArrowheads="1"/>
          </p:cNvSpPr>
          <p:nvPr/>
        </p:nvSpPr>
        <p:spPr bwMode="auto">
          <a:xfrm>
            <a:off x="914985" y="5314501"/>
            <a:ext cx="1085116"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tx1"/>
                </a:solidFill>
                <a:latin typeface="+mn-ea"/>
              </a:rPr>
              <a:t>심사</a:t>
            </a:r>
          </a:p>
        </p:txBody>
      </p:sp>
      <p:sp>
        <p:nvSpPr>
          <p:cNvPr id="70" name="AutoShape 6"/>
          <p:cNvSpPr>
            <a:spLocks noChangeArrowheads="1"/>
          </p:cNvSpPr>
          <p:nvPr/>
        </p:nvSpPr>
        <p:spPr bwMode="auto">
          <a:xfrm>
            <a:off x="4515597" y="3886360"/>
            <a:ext cx="1874291" cy="367847"/>
          </a:xfrm>
          <a:prstGeom prst="flowChartDecision">
            <a:avLst/>
          </a:prstGeom>
          <a:solidFill>
            <a:schemeClr val="accent2">
              <a:lumMod val="40000"/>
              <a:lumOff val="60000"/>
            </a:schemeClr>
          </a:solidFill>
          <a:ln>
            <a:solidFill>
              <a:schemeClr val="bg1">
                <a:lumMod val="50000"/>
              </a:schemeClr>
            </a:solidFill>
            <a:headEnd/>
            <a:tailEnd/>
          </a:ln>
          <a:effectLst/>
        </p:spPr>
        <p:style>
          <a:lnRef idx="1">
            <a:schemeClr val="accent2"/>
          </a:lnRef>
          <a:fillRef idx="3">
            <a:schemeClr val="accent2"/>
          </a:fillRef>
          <a:effectRef idx="2">
            <a:schemeClr val="accent2"/>
          </a:effectRef>
          <a:fontRef idx="minor">
            <a:schemeClr val="lt1"/>
          </a:fontRef>
        </p:style>
        <p:txBody>
          <a:bodyPr anchor="ctr"/>
          <a:lstStyle/>
          <a:p>
            <a:pPr algn="ctr" fontAlgn="auto">
              <a:spcBef>
                <a:spcPts val="0"/>
              </a:spcBef>
              <a:spcAft>
                <a:spcPts val="0"/>
              </a:spcAft>
              <a:defRPr/>
            </a:pPr>
            <a:r>
              <a:rPr lang="ko-KR" altLang="en-US" sz="1200" b="0" dirty="0">
                <a:solidFill>
                  <a:schemeClr val="tx2">
                    <a:lumMod val="50000"/>
                  </a:schemeClr>
                </a:solidFill>
                <a:latin typeface="+mn-ea"/>
              </a:rPr>
              <a:t>타당성</a:t>
            </a:r>
            <a:r>
              <a:rPr lang="en-US" altLang="ko-KR" sz="1200" b="0" dirty="0">
                <a:solidFill>
                  <a:schemeClr val="tx2">
                    <a:lumMod val="50000"/>
                  </a:schemeClr>
                </a:solidFill>
                <a:latin typeface="+mn-ea"/>
              </a:rPr>
              <a:t>?</a:t>
            </a:r>
          </a:p>
        </p:txBody>
      </p:sp>
      <p:sp>
        <p:nvSpPr>
          <p:cNvPr id="71" name="Rectangle 7"/>
          <p:cNvSpPr>
            <a:spLocks noChangeArrowheads="1"/>
          </p:cNvSpPr>
          <p:nvPr/>
        </p:nvSpPr>
        <p:spPr bwMode="auto">
          <a:xfrm>
            <a:off x="7164124" y="3886360"/>
            <a:ext cx="1693604" cy="367847"/>
          </a:xfrm>
          <a:prstGeom prst="rect">
            <a:avLst/>
          </a:prstGeom>
          <a:solidFill>
            <a:schemeClr val="accent6">
              <a:lumMod val="50000"/>
            </a:schemeClr>
          </a:solidFill>
          <a:ln>
            <a:solidFill>
              <a:schemeClr val="bg1">
                <a:lumMod val="50000"/>
              </a:schemeClr>
            </a:solidFill>
            <a:headEnd/>
            <a:tailEnd/>
          </a:ln>
          <a:effectLst/>
        </p:spPr>
        <p:style>
          <a:lnRef idx="1">
            <a:schemeClr val="dk1"/>
          </a:lnRef>
          <a:fillRef idx="3">
            <a:schemeClr val="dk1"/>
          </a:fillRef>
          <a:effectRef idx="2">
            <a:schemeClr val="dk1"/>
          </a:effectRef>
          <a:fontRef idx="minor">
            <a:schemeClr val="lt1"/>
          </a:fontRef>
        </p:style>
        <p:txBody>
          <a:bodyPr anchor="ctr"/>
          <a:lstStyle/>
          <a:p>
            <a:pPr algn="ctr" fontAlgn="auto">
              <a:spcBef>
                <a:spcPts val="0"/>
              </a:spcBef>
              <a:spcAft>
                <a:spcPts val="0"/>
              </a:spcAft>
              <a:defRPr/>
            </a:pPr>
            <a:r>
              <a:rPr lang="ko-KR" altLang="en-US" sz="1200" b="0" dirty="0">
                <a:solidFill>
                  <a:srgbClr val="FFFFFF"/>
                </a:solidFill>
                <a:latin typeface="+mn-ea"/>
              </a:rPr>
              <a:t>대체 보호 수단 강구</a:t>
            </a:r>
          </a:p>
        </p:txBody>
      </p:sp>
      <p:sp>
        <p:nvSpPr>
          <p:cNvPr id="72" name="Text Box 8"/>
          <p:cNvSpPr txBox="1">
            <a:spLocks noChangeArrowheads="1"/>
          </p:cNvSpPr>
          <p:nvPr/>
        </p:nvSpPr>
        <p:spPr bwMode="auto">
          <a:xfrm>
            <a:off x="4900327" y="4233971"/>
            <a:ext cx="690528" cy="270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1200" b="1">
                <a:solidFill>
                  <a:schemeClr val="bg1"/>
                </a:solidFill>
                <a:latin typeface="Arial" pitchFamily="34" charset="0"/>
                <a:ea typeface="맑은 고딕" pitchFamily="50" charset="-127"/>
              </a:defRPr>
            </a:lvl1pPr>
            <a:lvl2pPr marL="742950" indent="-285750" eaLnBrk="0" hangingPunct="0">
              <a:defRPr kumimoji="1" sz="1200" b="1">
                <a:solidFill>
                  <a:schemeClr val="bg1"/>
                </a:solidFill>
                <a:latin typeface="Arial" pitchFamily="34" charset="0"/>
                <a:ea typeface="맑은 고딕" pitchFamily="50" charset="-127"/>
              </a:defRPr>
            </a:lvl2pPr>
            <a:lvl3pPr marL="1143000" indent="-228600" eaLnBrk="0" hangingPunct="0">
              <a:defRPr kumimoji="1" sz="1200" b="1">
                <a:solidFill>
                  <a:schemeClr val="bg1"/>
                </a:solidFill>
                <a:latin typeface="Arial" pitchFamily="34" charset="0"/>
                <a:ea typeface="맑은 고딕" pitchFamily="50" charset="-127"/>
              </a:defRPr>
            </a:lvl3pPr>
            <a:lvl4pPr marL="1600200" indent="-228600" eaLnBrk="0" hangingPunct="0">
              <a:defRPr kumimoji="1" sz="1200" b="1">
                <a:solidFill>
                  <a:schemeClr val="bg1"/>
                </a:solidFill>
                <a:latin typeface="Arial" pitchFamily="34" charset="0"/>
                <a:ea typeface="맑은 고딕" pitchFamily="50" charset="-127"/>
              </a:defRPr>
            </a:lvl4pPr>
            <a:lvl5pPr marL="2057400" indent="-228600" eaLnBrk="0" hangingPunct="0">
              <a:defRPr kumimoji="1" sz="1200" b="1">
                <a:solidFill>
                  <a:schemeClr val="bg1"/>
                </a:solidFill>
                <a:latin typeface="Arial" pitchFamily="34" charset="0"/>
                <a:ea typeface="맑은 고딕" pitchFamily="50" charset="-127"/>
              </a:defRPr>
            </a:lvl5pPr>
            <a:lvl6pPr marL="25146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6pPr>
            <a:lvl7pPr marL="29718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7pPr>
            <a:lvl8pPr marL="34290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8pPr>
            <a:lvl9pPr marL="38862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9pPr>
          </a:lstStyle>
          <a:p>
            <a:pPr algn="ctr" eaLnBrk="1" hangingPunct="1">
              <a:spcBef>
                <a:spcPct val="50000"/>
              </a:spcBef>
            </a:pPr>
            <a:r>
              <a:rPr lang="ko-KR" altLang="en-US" sz="1000" b="0">
                <a:solidFill>
                  <a:srgbClr val="000000"/>
                </a:solidFill>
                <a:latin typeface="+mn-ea"/>
                <a:ea typeface="+mn-ea"/>
              </a:rPr>
              <a:t>예</a:t>
            </a:r>
          </a:p>
        </p:txBody>
      </p:sp>
      <p:sp>
        <p:nvSpPr>
          <p:cNvPr id="73" name="Text Box 9"/>
          <p:cNvSpPr txBox="1">
            <a:spLocks noChangeArrowheads="1"/>
          </p:cNvSpPr>
          <p:nvPr/>
        </p:nvSpPr>
        <p:spPr bwMode="auto">
          <a:xfrm>
            <a:off x="6242751" y="4100149"/>
            <a:ext cx="887822" cy="245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1200" b="1">
                <a:solidFill>
                  <a:schemeClr val="bg1"/>
                </a:solidFill>
                <a:latin typeface="Arial" pitchFamily="34" charset="0"/>
                <a:ea typeface="맑은 고딕" pitchFamily="50" charset="-127"/>
              </a:defRPr>
            </a:lvl1pPr>
            <a:lvl2pPr marL="742950" indent="-285750" eaLnBrk="0" hangingPunct="0">
              <a:defRPr kumimoji="1" sz="1200" b="1">
                <a:solidFill>
                  <a:schemeClr val="bg1"/>
                </a:solidFill>
                <a:latin typeface="Arial" pitchFamily="34" charset="0"/>
                <a:ea typeface="맑은 고딕" pitchFamily="50" charset="-127"/>
              </a:defRPr>
            </a:lvl2pPr>
            <a:lvl3pPr marL="1143000" indent="-228600" eaLnBrk="0" hangingPunct="0">
              <a:defRPr kumimoji="1" sz="1200" b="1">
                <a:solidFill>
                  <a:schemeClr val="bg1"/>
                </a:solidFill>
                <a:latin typeface="Arial" pitchFamily="34" charset="0"/>
                <a:ea typeface="맑은 고딕" pitchFamily="50" charset="-127"/>
              </a:defRPr>
            </a:lvl3pPr>
            <a:lvl4pPr marL="1600200" indent="-228600" eaLnBrk="0" hangingPunct="0">
              <a:defRPr kumimoji="1" sz="1200" b="1">
                <a:solidFill>
                  <a:schemeClr val="bg1"/>
                </a:solidFill>
                <a:latin typeface="Arial" pitchFamily="34" charset="0"/>
                <a:ea typeface="맑은 고딕" pitchFamily="50" charset="-127"/>
              </a:defRPr>
            </a:lvl4pPr>
            <a:lvl5pPr marL="2057400" indent="-228600" eaLnBrk="0" hangingPunct="0">
              <a:defRPr kumimoji="1" sz="1200" b="1">
                <a:solidFill>
                  <a:schemeClr val="bg1"/>
                </a:solidFill>
                <a:latin typeface="Arial" pitchFamily="34" charset="0"/>
                <a:ea typeface="맑은 고딕" pitchFamily="50" charset="-127"/>
              </a:defRPr>
            </a:lvl5pPr>
            <a:lvl6pPr marL="25146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6pPr>
            <a:lvl7pPr marL="29718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7pPr>
            <a:lvl8pPr marL="34290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8pPr>
            <a:lvl9pPr marL="38862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9pPr>
          </a:lstStyle>
          <a:p>
            <a:pPr algn="ctr" eaLnBrk="1" hangingPunct="1">
              <a:spcBef>
                <a:spcPct val="50000"/>
              </a:spcBef>
            </a:pPr>
            <a:r>
              <a:rPr lang="ko-KR" altLang="en-US" sz="1000" b="0">
                <a:solidFill>
                  <a:srgbClr val="000000"/>
                </a:solidFill>
                <a:latin typeface="+mn-ea"/>
                <a:ea typeface="+mn-ea"/>
              </a:rPr>
              <a:t>아니요</a:t>
            </a:r>
          </a:p>
        </p:txBody>
      </p:sp>
      <p:sp>
        <p:nvSpPr>
          <p:cNvPr id="74" name="AutoShape 10"/>
          <p:cNvSpPr>
            <a:spLocks noChangeArrowheads="1"/>
          </p:cNvSpPr>
          <p:nvPr/>
        </p:nvSpPr>
        <p:spPr bwMode="auto">
          <a:xfrm>
            <a:off x="3479805" y="1690095"/>
            <a:ext cx="3945876" cy="490463"/>
          </a:xfrm>
          <a:prstGeom prst="flowChartDecision">
            <a:avLst/>
          </a:prstGeom>
          <a:solidFill>
            <a:schemeClr val="accent2">
              <a:lumMod val="40000"/>
              <a:lumOff val="60000"/>
            </a:schemeClr>
          </a:solidFill>
          <a:ln>
            <a:solidFill>
              <a:schemeClr val="bg1">
                <a:lumMod val="50000"/>
              </a:schemeClr>
            </a:solidFill>
            <a:headEnd/>
            <a:tailEnd/>
          </a:ln>
          <a:effectLst/>
        </p:spPr>
        <p:style>
          <a:lnRef idx="1">
            <a:schemeClr val="accent2"/>
          </a:lnRef>
          <a:fillRef idx="3">
            <a:schemeClr val="accent2"/>
          </a:fillRef>
          <a:effectRef idx="2">
            <a:schemeClr val="accent2"/>
          </a:effectRef>
          <a:fontRef idx="minor">
            <a:schemeClr val="lt1"/>
          </a:fontRef>
        </p:style>
        <p:txBody>
          <a:bodyPr anchor="ctr"/>
          <a:lstStyle/>
          <a:p>
            <a:pPr algn="ctr" fontAlgn="auto">
              <a:spcBef>
                <a:spcPts val="0"/>
              </a:spcBef>
              <a:spcAft>
                <a:spcPts val="0"/>
              </a:spcAft>
              <a:defRPr/>
            </a:pPr>
            <a:r>
              <a:rPr lang="ko-KR" altLang="en-US" sz="1200" b="0">
                <a:solidFill>
                  <a:schemeClr val="tx2">
                    <a:lumMod val="50000"/>
                  </a:schemeClr>
                </a:solidFill>
                <a:latin typeface="+mn-ea"/>
              </a:rPr>
              <a:t>적합한 보호 형태는</a:t>
            </a:r>
            <a:r>
              <a:rPr lang="en-US" altLang="ko-KR" sz="1200" b="0">
                <a:solidFill>
                  <a:schemeClr val="tx2">
                    <a:lumMod val="50000"/>
                  </a:schemeClr>
                </a:solidFill>
                <a:latin typeface="+mn-ea"/>
              </a:rPr>
              <a:t>? </a:t>
            </a:r>
          </a:p>
        </p:txBody>
      </p:sp>
      <p:sp>
        <p:nvSpPr>
          <p:cNvPr id="75" name="AutoShape 11"/>
          <p:cNvSpPr>
            <a:spLocks noChangeArrowheads="1"/>
          </p:cNvSpPr>
          <p:nvPr/>
        </p:nvSpPr>
        <p:spPr bwMode="auto">
          <a:xfrm>
            <a:off x="914985" y="2487097"/>
            <a:ext cx="1085116" cy="306539"/>
          </a:xfrm>
          <a:prstGeom prst="flowChartProcess">
            <a:avLst/>
          </a:prstGeom>
          <a:solidFill>
            <a:schemeClr val="accent1">
              <a:lumMod val="20000"/>
              <a:lumOff val="80000"/>
            </a:schemeClr>
          </a:solidFill>
          <a:ln>
            <a:solidFill>
              <a:schemeClr val="bg1">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r>
              <a:rPr lang="ko-KR" altLang="en-US" sz="1050" b="0" dirty="0">
                <a:solidFill>
                  <a:schemeClr val="tx2">
                    <a:lumMod val="50000"/>
                  </a:schemeClr>
                </a:solidFill>
                <a:latin typeface="+mn-ea"/>
              </a:rPr>
              <a:t>발명</a:t>
            </a:r>
          </a:p>
        </p:txBody>
      </p:sp>
      <p:sp>
        <p:nvSpPr>
          <p:cNvPr id="76" name="AutoShape 12"/>
          <p:cNvSpPr>
            <a:spLocks noChangeArrowheads="1"/>
          </p:cNvSpPr>
          <p:nvPr/>
        </p:nvSpPr>
        <p:spPr bwMode="auto">
          <a:xfrm>
            <a:off x="2548825" y="2487097"/>
            <a:ext cx="1085116" cy="306539"/>
          </a:xfrm>
          <a:prstGeom prst="flowChartProcess">
            <a:avLst/>
          </a:prstGeom>
          <a:solidFill>
            <a:schemeClr val="accent1">
              <a:lumMod val="20000"/>
              <a:lumOff val="80000"/>
            </a:schemeClr>
          </a:solidFill>
          <a:ln>
            <a:solidFill>
              <a:schemeClr val="bg1">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r>
              <a:rPr lang="ko-KR" altLang="en-US" sz="1050" b="0" dirty="0">
                <a:solidFill>
                  <a:schemeClr val="tx2">
                    <a:lumMod val="50000"/>
                  </a:schemeClr>
                </a:solidFill>
                <a:latin typeface="+mn-ea"/>
              </a:rPr>
              <a:t>고안</a:t>
            </a:r>
          </a:p>
        </p:txBody>
      </p:sp>
      <p:sp>
        <p:nvSpPr>
          <p:cNvPr id="77" name="AutoShape 14"/>
          <p:cNvSpPr>
            <a:spLocks noChangeArrowheads="1"/>
          </p:cNvSpPr>
          <p:nvPr/>
        </p:nvSpPr>
        <p:spPr bwMode="auto">
          <a:xfrm>
            <a:off x="7174954" y="2487097"/>
            <a:ext cx="1085116" cy="306539"/>
          </a:xfrm>
          <a:prstGeom prst="flowChartProcess">
            <a:avLst/>
          </a:prstGeom>
          <a:solidFill>
            <a:schemeClr val="accent1">
              <a:lumMod val="20000"/>
              <a:lumOff val="80000"/>
            </a:schemeClr>
          </a:solidFill>
          <a:ln>
            <a:solidFill>
              <a:schemeClr val="bg1">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r>
              <a:rPr lang="ko-KR" altLang="en-US" sz="1050" b="0" dirty="0">
                <a:solidFill>
                  <a:schemeClr val="tx2">
                    <a:lumMod val="50000"/>
                  </a:schemeClr>
                </a:solidFill>
                <a:latin typeface="+mn-ea"/>
              </a:rPr>
              <a:t>디자인</a:t>
            </a:r>
          </a:p>
        </p:txBody>
      </p:sp>
      <p:sp>
        <p:nvSpPr>
          <p:cNvPr id="78" name="AutoShape 15"/>
          <p:cNvSpPr>
            <a:spLocks noChangeArrowheads="1"/>
          </p:cNvSpPr>
          <p:nvPr/>
        </p:nvSpPr>
        <p:spPr bwMode="auto">
          <a:xfrm>
            <a:off x="8699870" y="2487097"/>
            <a:ext cx="1085116" cy="306539"/>
          </a:xfrm>
          <a:prstGeom prst="flowChartProcess">
            <a:avLst/>
          </a:prstGeom>
          <a:solidFill>
            <a:schemeClr val="accent1">
              <a:lumMod val="20000"/>
              <a:lumOff val="80000"/>
            </a:schemeClr>
          </a:solidFill>
          <a:ln>
            <a:solidFill>
              <a:schemeClr val="bg1">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r>
              <a:rPr lang="ko-KR" altLang="en-US" sz="1050" b="0" dirty="0">
                <a:solidFill>
                  <a:schemeClr val="tx2">
                    <a:lumMod val="50000"/>
                  </a:schemeClr>
                </a:solidFill>
                <a:latin typeface="+mn-ea"/>
              </a:rPr>
              <a:t>상표</a:t>
            </a:r>
          </a:p>
        </p:txBody>
      </p:sp>
      <p:sp>
        <p:nvSpPr>
          <p:cNvPr id="82" name="AutoShape 20"/>
          <p:cNvSpPr>
            <a:spLocks noChangeArrowheads="1"/>
          </p:cNvSpPr>
          <p:nvPr/>
        </p:nvSpPr>
        <p:spPr bwMode="auto">
          <a:xfrm>
            <a:off x="4133341" y="2487097"/>
            <a:ext cx="1085116" cy="306539"/>
          </a:xfrm>
          <a:prstGeom prst="flowChartProcess">
            <a:avLst/>
          </a:prstGeom>
          <a:solidFill>
            <a:schemeClr val="accent1">
              <a:lumMod val="20000"/>
              <a:lumOff val="80000"/>
            </a:schemeClr>
          </a:solidFill>
          <a:ln>
            <a:solidFill>
              <a:schemeClr val="bg1">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r>
              <a:rPr lang="ko-KR" altLang="en-US" sz="1050" b="0" dirty="0">
                <a:solidFill>
                  <a:schemeClr val="tx2">
                    <a:lumMod val="50000"/>
                  </a:schemeClr>
                </a:solidFill>
                <a:latin typeface="+mn-ea"/>
              </a:rPr>
              <a:t>저작물</a:t>
            </a:r>
          </a:p>
        </p:txBody>
      </p:sp>
      <p:sp>
        <p:nvSpPr>
          <p:cNvPr id="83" name="AutoShape 21"/>
          <p:cNvSpPr>
            <a:spLocks noChangeArrowheads="1"/>
          </p:cNvSpPr>
          <p:nvPr/>
        </p:nvSpPr>
        <p:spPr bwMode="auto">
          <a:xfrm>
            <a:off x="4133341" y="4778058"/>
            <a:ext cx="1085115" cy="367847"/>
          </a:xfrm>
          <a:prstGeom prst="flowChartProcess">
            <a:avLst/>
          </a:prstGeom>
          <a:solidFill>
            <a:schemeClr val="accent2">
              <a:lumMod val="5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bg1"/>
                </a:solidFill>
                <a:latin typeface="+mn-ea"/>
              </a:rPr>
              <a:t>등록</a:t>
            </a:r>
          </a:p>
        </p:txBody>
      </p:sp>
      <p:cxnSp>
        <p:nvCxnSpPr>
          <p:cNvPr id="86" name="AutoShape 24"/>
          <p:cNvCxnSpPr>
            <a:cxnSpLocks noChangeShapeType="1"/>
            <a:stCxn id="67" idx="2"/>
            <a:endCxn id="74" idx="0"/>
          </p:cNvCxnSpPr>
          <p:nvPr/>
        </p:nvCxnSpPr>
        <p:spPr bwMode="auto">
          <a:xfrm rot="5400000">
            <a:off x="5391435" y="1628787"/>
            <a:ext cx="122616" cy="0"/>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cxnSp>
        <p:nvCxnSpPr>
          <p:cNvPr id="87" name="AutoShape 25"/>
          <p:cNvCxnSpPr>
            <a:cxnSpLocks noChangeShapeType="1"/>
            <a:stCxn id="74" idx="2"/>
            <a:endCxn id="75" idx="0"/>
          </p:cNvCxnSpPr>
          <p:nvPr/>
        </p:nvCxnSpPr>
        <p:spPr bwMode="auto">
          <a:xfrm rot="5400000">
            <a:off x="3301873" y="336227"/>
            <a:ext cx="306539" cy="3995200"/>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88" name="AutoShape 26"/>
          <p:cNvCxnSpPr>
            <a:cxnSpLocks noChangeShapeType="1"/>
            <a:stCxn id="74" idx="2"/>
            <a:endCxn id="76" idx="0"/>
          </p:cNvCxnSpPr>
          <p:nvPr/>
        </p:nvCxnSpPr>
        <p:spPr bwMode="auto">
          <a:xfrm rot="5400000">
            <a:off x="4118794" y="1153147"/>
            <a:ext cx="306539" cy="2361360"/>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89" name="AutoShape 27"/>
          <p:cNvCxnSpPr>
            <a:cxnSpLocks noChangeShapeType="1"/>
            <a:stCxn id="74" idx="2"/>
            <a:endCxn id="82" idx="0"/>
          </p:cNvCxnSpPr>
          <p:nvPr/>
        </p:nvCxnSpPr>
        <p:spPr bwMode="auto">
          <a:xfrm rot="5400000">
            <a:off x="4911051" y="1945404"/>
            <a:ext cx="306539" cy="776844"/>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90" name="AutoShape 29"/>
          <p:cNvCxnSpPr>
            <a:cxnSpLocks noChangeShapeType="1"/>
            <a:stCxn id="74" idx="2"/>
            <a:endCxn id="77" idx="0"/>
          </p:cNvCxnSpPr>
          <p:nvPr/>
        </p:nvCxnSpPr>
        <p:spPr bwMode="auto">
          <a:xfrm rot="16200000" flipH="1">
            <a:off x="6431858" y="1201442"/>
            <a:ext cx="306539" cy="2264769"/>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91" name="AutoShape 30"/>
          <p:cNvCxnSpPr>
            <a:cxnSpLocks noChangeShapeType="1"/>
            <a:stCxn id="74" idx="2"/>
            <a:endCxn id="78" idx="0"/>
          </p:cNvCxnSpPr>
          <p:nvPr/>
        </p:nvCxnSpPr>
        <p:spPr bwMode="auto">
          <a:xfrm rot="16200000" flipH="1">
            <a:off x="7194316" y="438984"/>
            <a:ext cx="306539" cy="3789685"/>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93" name="AutoShape 32"/>
          <p:cNvCxnSpPr>
            <a:cxnSpLocks noChangeShapeType="1"/>
            <a:stCxn id="75" idx="2"/>
            <a:endCxn id="70" idx="0"/>
          </p:cNvCxnSpPr>
          <p:nvPr/>
        </p:nvCxnSpPr>
        <p:spPr bwMode="auto">
          <a:xfrm rot="16200000" flipH="1">
            <a:off x="2908781" y="1342398"/>
            <a:ext cx="1092724" cy="3995200"/>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94" name="AutoShape 33"/>
          <p:cNvCxnSpPr>
            <a:cxnSpLocks noChangeShapeType="1"/>
            <a:stCxn id="76" idx="2"/>
            <a:endCxn id="70" idx="0"/>
          </p:cNvCxnSpPr>
          <p:nvPr/>
        </p:nvCxnSpPr>
        <p:spPr bwMode="auto">
          <a:xfrm rot="16200000" flipH="1">
            <a:off x="3725700" y="2159318"/>
            <a:ext cx="1092724" cy="2361360"/>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95" name="AutoShape 34"/>
          <p:cNvCxnSpPr>
            <a:cxnSpLocks noChangeShapeType="1"/>
            <a:stCxn id="82" idx="2"/>
            <a:endCxn id="70" idx="0"/>
          </p:cNvCxnSpPr>
          <p:nvPr/>
        </p:nvCxnSpPr>
        <p:spPr bwMode="auto">
          <a:xfrm rot="16200000" flipH="1">
            <a:off x="4517958" y="2951575"/>
            <a:ext cx="1092724" cy="776844"/>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96" name="AutoShape 36"/>
          <p:cNvCxnSpPr>
            <a:cxnSpLocks noChangeShapeType="1"/>
            <a:stCxn id="77" idx="2"/>
            <a:endCxn id="70" idx="0"/>
          </p:cNvCxnSpPr>
          <p:nvPr/>
        </p:nvCxnSpPr>
        <p:spPr bwMode="auto">
          <a:xfrm rot="5400000">
            <a:off x="6038766" y="2207614"/>
            <a:ext cx="1092724" cy="2264769"/>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97" name="AutoShape 37"/>
          <p:cNvCxnSpPr>
            <a:cxnSpLocks noChangeShapeType="1"/>
            <a:stCxn id="78" idx="2"/>
            <a:endCxn id="70" idx="0"/>
          </p:cNvCxnSpPr>
          <p:nvPr/>
        </p:nvCxnSpPr>
        <p:spPr bwMode="auto">
          <a:xfrm rot="5400000">
            <a:off x="6801224" y="1445155"/>
            <a:ext cx="1092724" cy="3789685"/>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99" name="AutoShape 39"/>
          <p:cNvCxnSpPr>
            <a:cxnSpLocks noChangeShapeType="1"/>
            <a:stCxn id="70" idx="3"/>
            <a:endCxn id="71" idx="1"/>
          </p:cNvCxnSpPr>
          <p:nvPr/>
        </p:nvCxnSpPr>
        <p:spPr bwMode="auto">
          <a:xfrm>
            <a:off x="6389888" y="4070284"/>
            <a:ext cx="774236" cy="0"/>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cxnSp>
        <p:nvCxnSpPr>
          <p:cNvPr id="100" name="AutoShape 40"/>
          <p:cNvCxnSpPr>
            <a:cxnSpLocks noChangeShapeType="1"/>
            <a:stCxn id="70" idx="2"/>
            <a:endCxn id="68" idx="0"/>
          </p:cNvCxnSpPr>
          <p:nvPr/>
        </p:nvCxnSpPr>
        <p:spPr bwMode="auto">
          <a:xfrm rot="5400000">
            <a:off x="3193218" y="2518532"/>
            <a:ext cx="523850" cy="3995200"/>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101" name="AutoShape 41"/>
          <p:cNvCxnSpPr>
            <a:cxnSpLocks noChangeShapeType="1"/>
            <a:stCxn id="70" idx="2"/>
          </p:cNvCxnSpPr>
          <p:nvPr/>
        </p:nvCxnSpPr>
        <p:spPr bwMode="auto">
          <a:xfrm rot="5400000">
            <a:off x="4010138" y="3335452"/>
            <a:ext cx="523850" cy="2361360"/>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102" name="AutoShape 42"/>
          <p:cNvCxnSpPr>
            <a:cxnSpLocks noChangeShapeType="1"/>
            <a:stCxn id="70" idx="2"/>
            <a:endCxn id="83" idx="0"/>
          </p:cNvCxnSpPr>
          <p:nvPr/>
        </p:nvCxnSpPr>
        <p:spPr bwMode="auto">
          <a:xfrm rot="5400000">
            <a:off x="4802396" y="4127710"/>
            <a:ext cx="523850" cy="776844"/>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103" name="AutoShape 44"/>
          <p:cNvCxnSpPr>
            <a:cxnSpLocks noChangeShapeType="1"/>
            <a:stCxn id="70" idx="2"/>
          </p:cNvCxnSpPr>
          <p:nvPr/>
        </p:nvCxnSpPr>
        <p:spPr bwMode="auto">
          <a:xfrm rot="16200000" flipH="1">
            <a:off x="7084119" y="2622830"/>
            <a:ext cx="523850" cy="3786603"/>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105" name="AutoShape 46"/>
          <p:cNvCxnSpPr>
            <a:cxnSpLocks noChangeShapeType="1"/>
            <a:stCxn id="68" idx="2"/>
            <a:endCxn id="69" idx="0"/>
          </p:cNvCxnSpPr>
          <p:nvPr/>
        </p:nvCxnSpPr>
        <p:spPr bwMode="auto">
          <a:xfrm>
            <a:off x="1457543" y="5145905"/>
            <a:ext cx="0" cy="168597"/>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sp>
        <p:nvSpPr>
          <p:cNvPr id="107" name="AutoShape 48"/>
          <p:cNvSpPr>
            <a:spLocks noChangeArrowheads="1"/>
          </p:cNvSpPr>
          <p:nvPr/>
        </p:nvSpPr>
        <p:spPr bwMode="auto">
          <a:xfrm>
            <a:off x="5684975" y="2487097"/>
            <a:ext cx="1085116" cy="306539"/>
          </a:xfrm>
          <a:prstGeom prst="flowChartProcess">
            <a:avLst/>
          </a:prstGeom>
          <a:solidFill>
            <a:schemeClr val="accent1">
              <a:lumMod val="20000"/>
              <a:lumOff val="80000"/>
            </a:schemeClr>
          </a:solidFill>
          <a:ln>
            <a:solidFill>
              <a:schemeClr val="bg1">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r>
              <a:rPr lang="ko-KR" altLang="en-US" sz="1050" b="0" dirty="0">
                <a:solidFill>
                  <a:schemeClr val="tx2">
                    <a:lumMod val="50000"/>
                  </a:schemeClr>
                </a:solidFill>
                <a:latin typeface="+mn-ea"/>
              </a:rPr>
              <a:t>배치설계</a:t>
            </a:r>
          </a:p>
        </p:txBody>
      </p:sp>
      <p:sp>
        <p:nvSpPr>
          <p:cNvPr id="108" name="AutoShape 49"/>
          <p:cNvSpPr>
            <a:spLocks noChangeArrowheads="1"/>
          </p:cNvSpPr>
          <p:nvPr/>
        </p:nvSpPr>
        <p:spPr bwMode="auto">
          <a:xfrm>
            <a:off x="5684975" y="4778058"/>
            <a:ext cx="1085115"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a:solidFill>
                  <a:schemeClr val="tx1"/>
                </a:solidFill>
                <a:latin typeface="+mn-ea"/>
              </a:rPr>
              <a:t>등록</a:t>
            </a:r>
          </a:p>
        </p:txBody>
      </p:sp>
      <p:cxnSp>
        <p:nvCxnSpPr>
          <p:cNvPr id="109" name="AutoShape 50"/>
          <p:cNvCxnSpPr>
            <a:cxnSpLocks noChangeShapeType="1"/>
            <a:stCxn id="70" idx="2"/>
            <a:endCxn id="108" idx="0"/>
          </p:cNvCxnSpPr>
          <p:nvPr/>
        </p:nvCxnSpPr>
        <p:spPr bwMode="auto">
          <a:xfrm rot="16200000" flipH="1">
            <a:off x="5578213" y="4128737"/>
            <a:ext cx="523850" cy="774790"/>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110" name="AutoShape 51"/>
          <p:cNvCxnSpPr>
            <a:cxnSpLocks noChangeShapeType="1"/>
            <a:stCxn id="74" idx="2"/>
            <a:endCxn id="107" idx="0"/>
          </p:cNvCxnSpPr>
          <p:nvPr/>
        </p:nvCxnSpPr>
        <p:spPr bwMode="auto">
          <a:xfrm rot="16200000" flipH="1">
            <a:off x="5686868" y="1946432"/>
            <a:ext cx="306539" cy="774790"/>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112" name="AutoShape 53"/>
          <p:cNvCxnSpPr>
            <a:cxnSpLocks noChangeShapeType="1"/>
            <a:stCxn id="70" idx="2"/>
          </p:cNvCxnSpPr>
          <p:nvPr/>
        </p:nvCxnSpPr>
        <p:spPr bwMode="auto">
          <a:xfrm rot="16200000" flipH="1">
            <a:off x="6330395" y="3376554"/>
            <a:ext cx="523850" cy="2279155"/>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sp>
        <p:nvSpPr>
          <p:cNvPr id="114" name="AutoShape 17"/>
          <p:cNvSpPr>
            <a:spLocks noChangeArrowheads="1"/>
          </p:cNvSpPr>
          <p:nvPr/>
        </p:nvSpPr>
        <p:spPr bwMode="auto">
          <a:xfrm>
            <a:off x="1888514" y="3377465"/>
            <a:ext cx="1932142" cy="1092725"/>
          </a:xfrm>
          <a:prstGeom prst="wedgeRoundRectCallout">
            <a:avLst>
              <a:gd name="adj1" fmla="val 82411"/>
              <a:gd name="adj2" fmla="val 14700"/>
              <a:gd name="adj3" fmla="val 16667"/>
            </a:avLst>
          </a:prstGeom>
          <a:ln>
            <a:solidFill>
              <a:schemeClr val="bg1">
                <a:lumMod val="50000"/>
              </a:schemeClr>
            </a:solidFill>
            <a:headEnd/>
            <a:tailEnd/>
          </a:ln>
        </p:spPr>
        <p:style>
          <a:lnRef idx="2">
            <a:schemeClr val="accent2"/>
          </a:lnRef>
          <a:fillRef idx="1">
            <a:schemeClr val="lt1"/>
          </a:fillRef>
          <a:effectRef idx="0">
            <a:schemeClr val="accent2"/>
          </a:effectRef>
          <a:fontRef idx="minor">
            <a:schemeClr val="dk1"/>
          </a:fontRef>
        </p:style>
        <p:txBody>
          <a:bodyPr anchor="ctr"/>
          <a:lstStyle/>
          <a:p>
            <a:pPr marL="0" lvl="2">
              <a:buClr>
                <a:srgbClr val="A50021"/>
              </a:buClr>
              <a:buFont typeface="Wingdings" pitchFamily="2" charset="2"/>
              <a:buChar char="§"/>
            </a:pPr>
            <a:r>
              <a:rPr lang="en-US" altLang="ko-KR" sz="1200" b="0" dirty="0">
                <a:solidFill>
                  <a:schemeClr val="tx2">
                    <a:lumMod val="50000"/>
                  </a:schemeClr>
                </a:solidFill>
                <a:latin typeface="+mn-ea"/>
              </a:rPr>
              <a:t> </a:t>
            </a:r>
            <a:r>
              <a:rPr lang="ko-KR" altLang="en-US" sz="1200" b="0" dirty="0">
                <a:solidFill>
                  <a:schemeClr val="tx2">
                    <a:lumMod val="50000"/>
                  </a:schemeClr>
                </a:solidFill>
                <a:latin typeface="+mn-ea"/>
              </a:rPr>
              <a:t>경제적 가치의 판단</a:t>
            </a:r>
          </a:p>
          <a:p>
            <a:pPr marL="0" lvl="2">
              <a:buClr>
                <a:srgbClr val="A50021"/>
              </a:buClr>
              <a:buFont typeface="Wingdings" pitchFamily="2" charset="2"/>
              <a:buChar char="§"/>
            </a:pPr>
            <a:r>
              <a:rPr lang="ko-KR" altLang="en-US" sz="1200" b="0" dirty="0">
                <a:solidFill>
                  <a:schemeClr val="tx2">
                    <a:lumMod val="50000"/>
                  </a:schemeClr>
                </a:solidFill>
                <a:latin typeface="+mn-ea"/>
              </a:rPr>
              <a:t> 시장 판단</a:t>
            </a:r>
          </a:p>
          <a:p>
            <a:pPr marL="0" lvl="2">
              <a:buClr>
                <a:srgbClr val="A50021"/>
              </a:buClr>
              <a:buFont typeface="Wingdings" pitchFamily="2" charset="2"/>
              <a:buChar char="§"/>
            </a:pPr>
            <a:r>
              <a:rPr lang="ko-KR" altLang="en-US" sz="1200" b="0" dirty="0">
                <a:solidFill>
                  <a:schemeClr val="tx2">
                    <a:lumMod val="50000"/>
                  </a:schemeClr>
                </a:solidFill>
                <a:latin typeface="+mn-ea"/>
              </a:rPr>
              <a:t> 등록 가능성 검토</a:t>
            </a:r>
          </a:p>
          <a:p>
            <a:pPr marL="0" lvl="2">
              <a:buClr>
                <a:srgbClr val="A50021"/>
              </a:buClr>
              <a:buFont typeface="Wingdings" pitchFamily="2" charset="2"/>
              <a:buChar char="§"/>
            </a:pPr>
            <a:r>
              <a:rPr lang="ko-KR" altLang="en-US" sz="1200" b="0" dirty="0">
                <a:solidFill>
                  <a:schemeClr val="tx2">
                    <a:lumMod val="50000"/>
                  </a:schemeClr>
                </a:solidFill>
                <a:latin typeface="+mn-ea"/>
              </a:rPr>
              <a:t> 보호 수단의 적합성</a:t>
            </a:r>
          </a:p>
          <a:p>
            <a:pPr marL="0" lvl="2">
              <a:buClr>
                <a:srgbClr val="A50021"/>
              </a:buClr>
              <a:buFont typeface="Wingdings" pitchFamily="2" charset="2"/>
              <a:buChar char="§"/>
            </a:pPr>
            <a:r>
              <a:rPr lang="ko-KR" altLang="en-US" sz="1200" b="0" dirty="0">
                <a:solidFill>
                  <a:schemeClr val="tx2">
                    <a:lumMod val="50000"/>
                  </a:schemeClr>
                </a:solidFill>
                <a:latin typeface="+mn-ea"/>
              </a:rPr>
              <a:t> 개량</a:t>
            </a:r>
            <a:r>
              <a:rPr lang="en-US" altLang="ko-KR" sz="1200" b="0" dirty="0">
                <a:solidFill>
                  <a:schemeClr val="tx2">
                    <a:lumMod val="50000"/>
                  </a:schemeClr>
                </a:solidFill>
                <a:latin typeface="+mn-ea"/>
              </a:rPr>
              <a:t>/</a:t>
            </a:r>
            <a:r>
              <a:rPr lang="ko-KR" altLang="en-US" sz="1200" b="0" dirty="0">
                <a:solidFill>
                  <a:schemeClr val="tx2">
                    <a:lumMod val="50000"/>
                  </a:schemeClr>
                </a:solidFill>
                <a:latin typeface="+mn-ea"/>
              </a:rPr>
              <a:t>보완의 가능성</a:t>
            </a:r>
            <a:endParaRPr lang="ko-KR" altLang="en-US" sz="1400" b="0" dirty="0">
              <a:solidFill>
                <a:schemeClr val="tx2">
                  <a:lumMod val="50000"/>
                </a:schemeClr>
              </a:solidFill>
              <a:latin typeface="+mn-ea"/>
            </a:endParaRPr>
          </a:p>
        </p:txBody>
      </p:sp>
      <p:sp>
        <p:nvSpPr>
          <p:cNvPr id="115" name="AutoShape 11"/>
          <p:cNvSpPr>
            <a:spLocks noChangeArrowheads="1"/>
          </p:cNvSpPr>
          <p:nvPr/>
        </p:nvSpPr>
        <p:spPr bwMode="auto">
          <a:xfrm>
            <a:off x="914985" y="2894582"/>
            <a:ext cx="1085116" cy="306539"/>
          </a:xfrm>
          <a:prstGeom prst="flowChartProcess">
            <a:avLst/>
          </a:prstGeom>
          <a:solidFill>
            <a:schemeClr val="accent1">
              <a:lumMod val="50000"/>
            </a:schemeClr>
          </a:solidFill>
          <a:ln>
            <a:solidFill>
              <a:schemeClr val="bg1">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r>
              <a:rPr lang="ko-KR" altLang="en-US" sz="1050" b="0" dirty="0">
                <a:solidFill>
                  <a:schemeClr val="bg1">
                    <a:lumMod val="95000"/>
                  </a:schemeClr>
                </a:solidFill>
                <a:latin typeface="+mn-ea"/>
              </a:rPr>
              <a:t>특허권</a:t>
            </a:r>
          </a:p>
        </p:txBody>
      </p:sp>
      <p:sp>
        <p:nvSpPr>
          <p:cNvPr id="116" name="AutoShape 12"/>
          <p:cNvSpPr>
            <a:spLocks noChangeArrowheads="1"/>
          </p:cNvSpPr>
          <p:nvPr/>
        </p:nvSpPr>
        <p:spPr bwMode="auto">
          <a:xfrm>
            <a:off x="2548825" y="2894582"/>
            <a:ext cx="1085116" cy="306539"/>
          </a:xfrm>
          <a:prstGeom prst="flowChartProcess">
            <a:avLst/>
          </a:prstGeom>
          <a:solidFill>
            <a:schemeClr val="accent1">
              <a:lumMod val="50000"/>
            </a:schemeClr>
          </a:solidFill>
          <a:ln>
            <a:solidFill>
              <a:schemeClr val="bg1">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r>
              <a:rPr lang="ko-KR" altLang="en-US" sz="1050" b="0" dirty="0" err="1">
                <a:solidFill>
                  <a:schemeClr val="bg1">
                    <a:lumMod val="95000"/>
                  </a:schemeClr>
                </a:solidFill>
                <a:latin typeface="+mn-ea"/>
              </a:rPr>
              <a:t>실용신안권</a:t>
            </a:r>
            <a:endParaRPr lang="ko-KR" altLang="en-US" sz="1050" b="0" dirty="0">
              <a:solidFill>
                <a:schemeClr val="bg1">
                  <a:lumMod val="95000"/>
                </a:schemeClr>
              </a:solidFill>
              <a:latin typeface="+mn-ea"/>
            </a:endParaRPr>
          </a:p>
        </p:txBody>
      </p:sp>
      <p:sp>
        <p:nvSpPr>
          <p:cNvPr id="117" name="AutoShape 14"/>
          <p:cNvSpPr>
            <a:spLocks noChangeArrowheads="1"/>
          </p:cNvSpPr>
          <p:nvPr/>
        </p:nvSpPr>
        <p:spPr bwMode="auto">
          <a:xfrm>
            <a:off x="7174954" y="2894582"/>
            <a:ext cx="1085116" cy="306539"/>
          </a:xfrm>
          <a:prstGeom prst="flowChartProcess">
            <a:avLst/>
          </a:prstGeom>
          <a:solidFill>
            <a:schemeClr val="accent1">
              <a:lumMod val="50000"/>
            </a:schemeClr>
          </a:solidFill>
          <a:ln>
            <a:solidFill>
              <a:schemeClr val="bg1">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r>
              <a:rPr lang="ko-KR" altLang="en-US" sz="1050" b="0" dirty="0">
                <a:solidFill>
                  <a:schemeClr val="bg1">
                    <a:lumMod val="95000"/>
                  </a:schemeClr>
                </a:solidFill>
                <a:latin typeface="+mn-ea"/>
              </a:rPr>
              <a:t>디자인권</a:t>
            </a:r>
          </a:p>
        </p:txBody>
      </p:sp>
      <p:sp>
        <p:nvSpPr>
          <p:cNvPr id="118" name="AutoShape 15"/>
          <p:cNvSpPr>
            <a:spLocks noChangeArrowheads="1"/>
          </p:cNvSpPr>
          <p:nvPr/>
        </p:nvSpPr>
        <p:spPr bwMode="auto">
          <a:xfrm>
            <a:off x="8699870" y="2894582"/>
            <a:ext cx="1085116" cy="306539"/>
          </a:xfrm>
          <a:prstGeom prst="flowChartProcess">
            <a:avLst/>
          </a:prstGeom>
          <a:solidFill>
            <a:schemeClr val="accent1">
              <a:lumMod val="50000"/>
            </a:schemeClr>
          </a:solidFill>
          <a:ln>
            <a:solidFill>
              <a:schemeClr val="bg1">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r>
              <a:rPr lang="ko-KR" altLang="en-US" sz="1050" b="0" dirty="0">
                <a:solidFill>
                  <a:schemeClr val="bg1">
                    <a:lumMod val="95000"/>
                  </a:schemeClr>
                </a:solidFill>
                <a:latin typeface="+mn-ea"/>
              </a:rPr>
              <a:t>상표권</a:t>
            </a:r>
          </a:p>
        </p:txBody>
      </p:sp>
      <p:sp>
        <p:nvSpPr>
          <p:cNvPr id="120" name="AutoShape 20"/>
          <p:cNvSpPr>
            <a:spLocks noChangeArrowheads="1"/>
          </p:cNvSpPr>
          <p:nvPr/>
        </p:nvSpPr>
        <p:spPr bwMode="auto">
          <a:xfrm>
            <a:off x="4133341" y="2894582"/>
            <a:ext cx="1085116" cy="306539"/>
          </a:xfrm>
          <a:prstGeom prst="flowChartProcess">
            <a:avLst/>
          </a:prstGeom>
          <a:solidFill>
            <a:schemeClr val="accent1">
              <a:lumMod val="50000"/>
            </a:schemeClr>
          </a:solidFill>
          <a:ln>
            <a:solidFill>
              <a:schemeClr val="bg1">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r>
              <a:rPr lang="ko-KR" altLang="en-US" sz="1050" b="0" dirty="0">
                <a:solidFill>
                  <a:schemeClr val="bg1">
                    <a:lumMod val="95000"/>
                  </a:schemeClr>
                </a:solidFill>
                <a:latin typeface="+mn-ea"/>
              </a:rPr>
              <a:t>저작권</a:t>
            </a:r>
          </a:p>
        </p:txBody>
      </p:sp>
      <p:cxnSp>
        <p:nvCxnSpPr>
          <p:cNvPr id="121" name="AutoShape 34"/>
          <p:cNvCxnSpPr>
            <a:cxnSpLocks noChangeShapeType="1"/>
            <a:stCxn id="107" idx="2"/>
            <a:endCxn id="70" idx="0"/>
          </p:cNvCxnSpPr>
          <p:nvPr/>
        </p:nvCxnSpPr>
        <p:spPr bwMode="auto">
          <a:xfrm rot="5400000">
            <a:off x="5293776" y="2952603"/>
            <a:ext cx="1092724" cy="774790"/>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sp>
        <p:nvSpPr>
          <p:cNvPr id="122" name="AutoShape 48"/>
          <p:cNvSpPr>
            <a:spLocks noChangeArrowheads="1"/>
          </p:cNvSpPr>
          <p:nvPr/>
        </p:nvSpPr>
        <p:spPr bwMode="auto">
          <a:xfrm>
            <a:off x="5684975" y="2894582"/>
            <a:ext cx="1085116" cy="306539"/>
          </a:xfrm>
          <a:prstGeom prst="flowChartProcess">
            <a:avLst/>
          </a:prstGeom>
          <a:solidFill>
            <a:schemeClr val="accent1">
              <a:lumMod val="50000"/>
            </a:schemeClr>
          </a:solidFill>
          <a:ln>
            <a:solidFill>
              <a:schemeClr val="bg1">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r>
              <a:rPr lang="ko-KR" altLang="en-US" sz="1050" b="0" dirty="0" err="1">
                <a:solidFill>
                  <a:schemeClr val="bg1">
                    <a:lumMod val="95000"/>
                  </a:schemeClr>
                </a:solidFill>
                <a:latin typeface="+mn-ea"/>
              </a:rPr>
              <a:t>배치설계권</a:t>
            </a:r>
            <a:endParaRPr lang="ko-KR" altLang="en-US" sz="1050" b="0" dirty="0">
              <a:solidFill>
                <a:schemeClr val="bg1">
                  <a:lumMod val="95000"/>
                </a:schemeClr>
              </a:solidFill>
              <a:latin typeface="+mn-ea"/>
            </a:endParaRPr>
          </a:p>
        </p:txBody>
      </p:sp>
      <p:sp>
        <p:nvSpPr>
          <p:cNvPr id="63" name="Rectangle 7">
            <a:extLst>
              <a:ext uri="{FF2B5EF4-FFF2-40B4-BE49-F238E27FC236}">
                <a16:creationId xmlns:a16="http://schemas.microsoft.com/office/drawing/2014/main" id="{C93E2E17-D27B-4891-9FE2-2DEC16F28C86}"/>
              </a:ext>
            </a:extLst>
          </p:cNvPr>
          <p:cNvSpPr>
            <a:spLocks noChangeArrowheads="1"/>
          </p:cNvSpPr>
          <p:nvPr/>
        </p:nvSpPr>
        <p:spPr bwMode="auto">
          <a:xfrm>
            <a:off x="9275980" y="3535177"/>
            <a:ext cx="1085116" cy="306539"/>
          </a:xfrm>
          <a:prstGeom prst="rect">
            <a:avLst/>
          </a:prstGeom>
          <a:solidFill>
            <a:schemeClr val="accent6">
              <a:lumMod val="20000"/>
              <a:lumOff val="80000"/>
            </a:schemeClr>
          </a:solidFill>
          <a:ln>
            <a:solidFill>
              <a:schemeClr val="bg1">
                <a:lumMod val="50000"/>
              </a:schemeClr>
            </a:solidFill>
            <a:headEnd/>
            <a:tailEnd/>
          </a:ln>
          <a:effectLst/>
        </p:spPr>
        <p:style>
          <a:lnRef idx="1">
            <a:schemeClr val="dk1"/>
          </a:lnRef>
          <a:fillRef idx="3">
            <a:schemeClr val="dk1"/>
          </a:fillRef>
          <a:effectRef idx="2">
            <a:schemeClr val="dk1"/>
          </a:effectRef>
          <a:fontRef idx="minor">
            <a:schemeClr val="lt1"/>
          </a:fontRef>
        </p:style>
        <p:txBody>
          <a:bodyPr anchor="ctr"/>
          <a:lstStyle/>
          <a:p>
            <a:pPr algn="ctr" fontAlgn="auto">
              <a:spcBef>
                <a:spcPts val="0"/>
              </a:spcBef>
              <a:spcAft>
                <a:spcPts val="0"/>
              </a:spcAft>
              <a:defRPr/>
            </a:pPr>
            <a:r>
              <a:rPr lang="ko-KR" altLang="en-US" sz="1200" b="0" dirty="0">
                <a:solidFill>
                  <a:schemeClr val="tx1"/>
                </a:solidFill>
                <a:latin typeface="+mn-ea"/>
              </a:rPr>
              <a:t>영업비밀</a:t>
            </a:r>
          </a:p>
        </p:txBody>
      </p:sp>
      <p:sp>
        <p:nvSpPr>
          <p:cNvPr id="64" name="Rectangle 7">
            <a:extLst>
              <a:ext uri="{FF2B5EF4-FFF2-40B4-BE49-F238E27FC236}">
                <a16:creationId xmlns:a16="http://schemas.microsoft.com/office/drawing/2014/main" id="{CE7D34F9-785B-4D6F-BE53-6D84C6119BA8}"/>
              </a:ext>
            </a:extLst>
          </p:cNvPr>
          <p:cNvSpPr>
            <a:spLocks noChangeArrowheads="1"/>
          </p:cNvSpPr>
          <p:nvPr/>
        </p:nvSpPr>
        <p:spPr bwMode="auto">
          <a:xfrm>
            <a:off x="9275980" y="3917768"/>
            <a:ext cx="1085116" cy="306539"/>
          </a:xfrm>
          <a:prstGeom prst="rect">
            <a:avLst/>
          </a:prstGeom>
          <a:solidFill>
            <a:schemeClr val="accent6">
              <a:lumMod val="20000"/>
              <a:lumOff val="80000"/>
            </a:schemeClr>
          </a:solidFill>
          <a:ln>
            <a:solidFill>
              <a:schemeClr val="bg1">
                <a:lumMod val="50000"/>
              </a:schemeClr>
            </a:solidFill>
            <a:headEnd/>
            <a:tailEnd/>
          </a:ln>
          <a:effectLst/>
        </p:spPr>
        <p:style>
          <a:lnRef idx="1">
            <a:schemeClr val="dk1"/>
          </a:lnRef>
          <a:fillRef idx="3">
            <a:schemeClr val="dk1"/>
          </a:fillRef>
          <a:effectRef idx="2">
            <a:schemeClr val="dk1"/>
          </a:effectRef>
          <a:fontRef idx="minor">
            <a:schemeClr val="lt1"/>
          </a:fontRef>
        </p:style>
        <p:txBody>
          <a:bodyPr anchor="ctr"/>
          <a:lstStyle/>
          <a:p>
            <a:pPr algn="ctr" fontAlgn="auto">
              <a:spcBef>
                <a:spcPts val="0"/>
              </a:spcBef>
              <a:spcAft>
                <a:spcPts val="0"/>
              </a:spcAft>
              <a:defRPr/>
            </a:pPr>
            <a:r>
              <a:rPr lang="ko-KR" altLang="en-US" sz="1200" b="0" dirty="0">
                <a:solidFill>
                  <a:schemeClr val="tx1"/>
                </a:solidFill>
                <a:latin typeface="+mn-ea"/>
              </a:rPr>
              <a:t>공개</a:t>
            </a:r>
          </a:p>
        </p:txBody>
      </p:sp>
      <p:cxnSp>
        <p:nvCxnSpPr>
          <p:cNvPr id="65" name="AutoShape 44">
            <a:extLst>
              <a:ext uri="{FF2B5EF4-FFF2-40B4-BE49-F238E27FC236}">
                <a16:creationId xmlns:a16="http://schemas.microsoft.com/office/drawing/2014/main" id="{99E65613-09E0-4A78-B540-CC6FE714D61C}"/>
              </a:ext>
            </a:extLst>
          </p:cNvPr>
          <p:cNvCxnSpPr>
            <a:cxnSpLocks noChangeShapeType="1"/>
            <a:stCxn id="71" idx="3"/>
            <a:endCxn id="63" idx="1"/>
          </p:cNvCxnSpPr>
          <p:nvPr/>
        </p:nvCxnSpPr>
        <p:spPr bwMode="auto">
          <a:xfrm flipV="1">
            <a:off x="8857728" y="3688446"/>
            <a:ext cx="418252" cy="381838"/>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123" name="AutoShape 44">
            <a:extLst>
              <a:ext uri="{FF2B5EF4-FFF2-40B4-BE49-F238E27FC236}">
                <a16:creationId xmlns:a16="http://schemas.microsoft.com/office/drawing/2014/main" id="{E571F9FA-BE25-4AA2-AE0A-584F87FF974D}"/>
              </a:ext>
            </a:extLst>
          </p:cNvPr>
          <p:cNvCxnSpPr>
            <a:cxnSpLocks noChangeShapeType="1"/>
            <a:stCxn id="71" idx="3"/>
            <a:endCxn id="64" idx="1"/>
          </p:cNvCxnSpPr>
          <p:nvPr/>
        </p:nvCxnSpPr>
        <p:spPr bwMode="auto">
          <a:xfrm>
            <a:off x="8857728" y="4070284"/>
            <a:ext cx="418252" cy="754"/>
          </a:xfrm>
          <a:prstGeom prst="bentConnector3">
            <a:avLst>
              <a:gd name="adj1" fmla="val 50000"/>
            </a:avLst>
          </a:prstGeom>
          <a:noFill/>
          <a:ln w="952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grpSp>
        <p:nvGrpSpPr>
          <p:cNvPr id="124" name="그룹 123">
            <a:extLst>
              <a:ext uri="{FF2B5EF4-FFF2-40B4-BE49-F238E27FC236}">
                <a16:creationId xmlns:a16="http://schemas.microsoft.com/office/drawing/2014/main" id="{8BC5A3A8-6119-4B51-9C15-AC74592BFC50}"/>
              </a:ext>
            </a:extLst>
          </p:cNvPr>
          <p:cNvGrpSpPr/>
          <p:nvPr/>
        </p:nvGrpSpPr>
        <p:grpSpPr>
          <a:xfrm flipH="1">
            <a:off x="9762573" y="4296626"/>
            <a:ext cx="79376" cy="271783"/>
            <a:chOff x="2474392" y="6228804"/>
            <a:chExt cx="144016" cy="504056"/>
          </a:xfrm>
          <a:solidFill>
            <a:schemeClr val="tx1"/>
          </a:solidFill>
        </p:grpSpPr>
        <p:sp>
          <p:nvSpPr>
            <p:cNvPr id="125" name="타원 124">
              <a:extLst>
                <a:ext uri="{FF2B5EF4-FFF2-40B4-BE49-F238E27FC236}">
                  <a16:creationId xmlns:a16="http://schemas.microsoft.com/office/drawing/2014/main" id="{F0B7F14D-8CED-4E32-911E-BAE0E0312404}"/>
                </a:ext>
              </a:extLst>
            </p:cNvPr>
            <p:cNvSpPr/>
            <p:nvPr/>
          </p:nvSpPr>
          <p:spPr>
            <a:xfrm>
              <a:off x="2474392" y="6228804"/>
              <a:ext cx="144016" cy="14401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타원 125">
              <a:extLst>
                <a:ext uri="{FF2B5EF4-FFF2-40B4-BE49-F238E27FC236}">
                  <a16:creationId xmlns:a16="http://schemas.microsoft.com/office/drawing/2014/main" id="{8CEF0D0A-FCE5-4E64-AE84-A670CA16A719}"/>
                </a:ext>
              </a:extLst>
            </p:cNvPr>
            <p:cNvSpPr/>
            <p:nvPr/>
          </p:nvSpPr>
          <p:spPr>
            <a:xfrm>
              <a:off x="2474392" y="6406687"/>
              <a:ext cx="144016" cy="14401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타원 126">
              <a:extLst>
                <a:ext uri="{FF2B5EF4-FFF2-40B4-BE49-F238E27FC236}">
                  <a16:creationId xmlns:a16="http://schemas.microsoft.com/office/drawing/2014/main" id="{74F7FC87-3888-4BDA-BF6D-4D346A07411B}"/>
                </a:ext>
              </a:extLst>
            </p:cNvPr>
            <p:cNvSpPr/>
            <p:nvPr/>
          </p:nvSpPr>
          <p:spPr>
            <a:xfrm>
              <a:off x="2474392" y="6588844"/>
              <a:ext cx="144016" cy="14401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11" name="그룹 10">
            <a:extLst>
              <a:ext uri="{FF2B5EF4-FFF2-40B4-BE49-F238E27FC236}">
                <a16:creationId xmlns:a16="http://schemas.microsoft.com/office/drawing/2014/main" id="{2F033260-42C3-4D42-8F6B-6C14CED6693A}"/>
              </a:ext>
            </a:extLst>
          </p:cNvPr>
          <p:cNvGrpSpPr/>
          <p:nvPr/>
        </p:nvGrpSpPr>
        <p:grpSpPr>
          <a:xfrm>
            <a:off x="9963163" y="2643154"/>
            <a:ext cx="371984" cy="77653"/>
            <a:chOff x="9963163" y="2857889"/>
            <a:chExt cx="371984" cy="96515"/>
          </a:xfrm>
          <a:solidFill>
            <a:schemeClr val="tx1"/>
          </a:solidFill>
        </p:grpSpPr>
        <p:sp>
          <p:nvSpPr>
            <p:cNvPr id="129" name="타원 128">
              <a:extLst>
                <a:ext uri="{FF2B5EF4-FFF2-40B4-BE49-F238E27FC236}">
                  <a16:creationId xmlns:a16="http://schemas.microsoft.com/office/drawing/2014/main" id="{045C7363-686A-4736-A8E9-E4BA56C068FA}"/>
                </a:ext>
              </a:extLst>
            </p:cNvPr>
            <p:cNvSpPr/>
            <p:nvPr/>
          </p:nvSpPr>
          <p:spPr>
            <a:xfrm flipH="1">
              <a:off x="9963163" y="2857889"/>
              <a:ext cx="79376" cy="96515"/>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타원 129">
              <a:extLst>
                <a:ext uri="{FF2B5EF4-FFF2-40B4-BE49-F238E27FC236}">
                  <a16:creationId xmlns:a16="http://schemas.microsoft.com/office/drawing/2014/main" id="{6785B01F-1EC4-4531-9347-024780DBC451}"/>
                </a:ext>
              </a:extLst>
            </p:cNvPr>
            <p:cNvSpPr/>
            <p:nvPr/>
          </p:nvSpPr>
          <p:spPr>
            <a:xfrm flipH="1">
              <a:off x="10109467" y="2857889"/>
              <a:ext cx="79376" cy="96515"/>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타원 130">
              <a:extLst>
                <a:ext uri="{FF2B5EF4-FFF2-40B4-BE49-F238E27FC236}">
                  <a16:creationId xmlns:a16="http://schemas.microsoft.com/office/drawing/2014/main" id="{1D083D5D-CB4F-4B88-8222-4D1921740ED2}"/>
                </a:ext>
              </a:extLst>
            </p:cNvPr>
            <p:cNvSpPr/>
            <p:nvPr/>
          </p:nvSpPr>
          <p:spPr>
            <a:xfrm flipH="1">
              <a:off x="10255771" y="2857889"/>
              <a:ext cx="79376" cy="96515"/>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132" name="그룹 131">
            <a:extLst>
              <a:ext uri="{FF2B5EF4-FFF2-40B4-BE49-F238E27FC236}">
                <a16:creationId xmlns:a16="http://schemas.microsoft.com/office/drawing/2014/main" id="{FA8E78C7-3869-48BD-AD0C-119A4729A590}"/>
              </a:ext>
            </a:extLst>
          </p:cNvPr>
          <p:cNvGrpSpPr/>
          <p:nvPr/>
        </p:nvGrpSpPr>
        <p:grpSpPr>
          <a:xfrm>
            <a:off x="9900805" y="4923154"/>
            <a:ext cx="371984" cy="77653"/>
            <a:chOff x="9963163" y="2857889"/>
            <a:chExt cx="371984" cy="96515"/>
          </a:xfrm>
          <a:solidFill>
            <a:schemeClr val="tx1"/>
          </a:solidFill>
        </p:grpSpPr>
        <p:sp>
          <p:nvSpPr>
            <p:cNvPr id="133" name="타원 132">
              <a:extLst>
                <a:ext uri="{FF2B5EF4-FFF2-40B4-BE49-F238E27FC236}">
                  <a16:creationId xmlns:a16="http://schemas.microsoft.com/office/drawing/2014/main" id="{EB56D160-2562-4E0C-B8F8-F273AB81712E}"/>
                </a:ext>
              </a:extLst>
            </p:cNvPr>
            <p:cNvSpPr/>
            <p:nvPr/>
          </p:nvSpPr>
          <p:spPr>
            <a:xfrm flipH="1">
              <a:off x="9963163" y="2857889"/>
              <a:ext cx="79376" cy="96515"/>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타원 133">
              <a:extLst>
                <a:ext uri="{FF2B5EF4-FFF2-40B4-BE49-F238E27FC236}">
                  <a16:creationId xmlns:a16="http://schemas.microsoft.com/office/drawing/2014/main" id="{5A91A9AA-8D29-40B0-85A7-43209273309C}"/>
                </a:ext>
              </a:extLst>
            </p:cNvPr>
            <p:cNvSpPr/>
            <p:nvPr/>
          </p:nvSpPr>
          <p:spPr>
            <a:xfrm flipH="1">
              <a:off x="10109467" y="2857889"/>
              <a:ext cx="79376" cy="96515"/>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타원 134">
              <a:extLst>
                <a:ext uri="{FF2B5EF4-FFF2-40B4-BE49-F238E27FC236}">
                  <a16:creationId xmlns:a16="http://schemas.microsoft.com/office/drawing/2014/main" id="{1D70A4A8-14BA-40D1-B79E-9B7264149CD9}"/>
                </a:ext>
              </a:extLst>
            </p:cNvPr>
            <p:cNvSpPr/>
            <p:nvPr/>
          </p:nvSpPr>
          <p:spPr>
            <a:xfrm flipH="1">
              <a:off x="10255771" y="2857889"/>
              <a:ext cx="79376" cy="96515"/>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6" name="말풍선: 모서리가 둥근 사각형 5">
            <a:extLst>
              <a:ext uri="{FF2B5EF4-FFF2-40B4-BE49-F238E27FC236}">
                <a16:creationId xmlns:a16="http://schemas.microsoft.com/office/drawing/2014/main" id="{51CA8727-0023-46F1-B295-DCB938439BFC}"/>
              </a:ext>
            </a:extLst>
          </p:cNvPr>
          <p:cNvSpPr/>
          <p:nvPr/>
        </p:nvSpPr>
        <p:spPr>
          <a:xfrm>
            <a:off x="10361096" y="2867737"/>
            <a:ext cx="1085116" cy="480315"/>
          </a:xfrm>
          <a:prstGeom prst="wedgeRoundRectCallout">
            <a:avLst>
              <a:gd name="adj1" fmla="val -96112"/>
              <a:gd name="adj2" fmla="val -17148"/>
              <a:gd name="adj3" fmla="val 16667"/>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권리부여</a:t>
            </a:r>
          </a:p>
        </p:txBody>
      </p:sp>
      <p:sp>
        <p:nvSpPr>
          <p:cNvPr id="79" name="말풍선: 모서리가 둥근 사각형 78">
            <a:extLst>
              <a:ext uri="{FF2B5EF4-FFF2-40B4-BE49-F238E27FC236}">
                <a16:creationId xmlns:a16="http://schemas.microsoft.com/office/drawing/2014/main" id="{DC6F4BFA-E34D-4EA5-A3FA-6D1A44911E59}"/>
              </a:ext>
            </a:extLst>
          </p:cNvPr>
          <p:cNvSpPr/>
          <p:nvPr/>
        </p:nvSpPr>
        <p:spPr>
          <a:xfrm>
            <a:off x="10734458" y="3440825"/>
            <a:ext cx="1085116" cy="480315"/>
          </a:xfrm>
          <a:prstGeom prst="wedgeRoundRectCallout">
            <a:avLst>
              <a:gd name="adj1" fmla="val -80382"/>
              <a:gd name="adj2" fmla="val -11022"/>
              <a:gd name="adj3" fmla="val 16667"/>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행위규제</a:t>
            </a:r>
          </a:p>
        </p:txBody>
      </p:sp>
      <p:sp>
        <p:nvSpPr>
          <p:cNvPr id="85" name="말풍선: 모서리가 둥근 사각형 84">
            <a:extLst>
              <a:ext uri="{FF2B5EF4-FFF2-40B4-BE49-F238E27FC236}">
                <a16:creationId xmlns:a16="http://schemas.microsoft.com/office/drawing/2014/main" id="{5F966A30-3FF4-4A83-9486-FF6E0B341D26}"/>
              </a:ext>
            </a:extLst>
          </p:cNvPr>
          <p:cNvSpPr/>
          <p:nvPr/>
        </p:nvSpPr>
        <p:spPr>
          <a:xfrm>
            <a:off x="10734458" y="4113361"/>
            <a:ext cx="1085116" cy="480315"/>
          </a:xfrm>
          <a:prstGeom prst="wedgeRoundRectCallout">
            <a:avLst>
              <a:gd name="adj1" fmla="val -81506"/>
              <a:gd name="adj2" fmla="val -62078"/>
              <a:gd name="adj3" fmla="val 16667"/>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600" dirty="0">
                <a:solidFill>
                  <a:schemeClr val="tx1"/>
                </a:solidFill>
              </a:rPr>
              <a:t>Public</a:t>
            </a:r>
          </a:p>
          <a:p>
            <a:pPr algn="ctr"/>
            <a:r>
              <a:rPr lang="en-US" altLang="ko-KR" sz="1600" dirty="0">
                <a:solidFill>
                  <a:schemeClr val="tx1"/>
                </a:solidFill>
              </a:rPr>
              <a:t>Domain</a:t>
            </a:r>
            <a:endParaRPr lang="ko-KR" altLang="en-US" sz="1600" dirty="0">
              <a:solidFill>
                <a:schemeClr val="tx1"/>
              </a:solidFill>
            </a:endParaRPr>
          </a:p>
        </p:txBody>
      </p:sp>
      <p:sp>
        <p:nvSpPr>
          <p:cNvPr id="92" name="말풍선: 모서리가 둥근 사각형 91">
            <a:extLst>
              <a:ext uri="{FF2B5EF4-FFF2-40B4-BE49-F238E27FC236}">
                <a16:creationId xmlns:a16="http://schemas.microsoft.com/office/drawing/2014/main" id="{5F7B8ADB-E0B8-406F-91DD-CCE452FE4EFC}"/>
              </a:ext>
            </a:extLst>
          </p:cNvPr>
          <p:cNvSpPr/>
          <p:nvPr/>
        </p:nvSpPr>
        <p:spPr>
          <a:xfrm>
            <a:off x="10222702" y="5539490"/>
            <a:ext cx="1634612" cy="339112"/>
          </a:xfrm>
          <a:prstGeom prst="wedgeRoundRectCallout">
            <a:avLst>
              <a:gd name="adj1" fmla="val -72452"/>
              <a:gd name="adj2" fmla="val -35725"/>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권리부여절차</a:t>
            </a:r>
          </a:p>
        </p:txBody>
      </p:sp>
      <p:sp>
        <p:nvSpPr>
          <p:cNvPr id="98" name="말풍선: 모서리가 둥근 사각형 97">
            <a:extLst>
              <a:ext uri="{FF2B5EF4-FFF2-40B4-BE49-F238E27FC236}">
                <a16:creationId xmlns:a16="http://schemas.microsoft.com/office/drawing/2014/main" id="{DC6C7C65-51FC-4957-B199-303D8EEA8120}"/>
              </a:ext>
            </a:extLst>
          </p:cNvPr>
          <p:cNvSpPr/>
          <p:nvPr/>
        </p:nvSpPr>
        <p:spPr>
          <a:xfrm>
            <a:off x="4665426" y="5469138"/>
            <a:ext cx="1713990" cy="322824"/>
          </a:xfrm>
          <a:prstGeom prst="wedgeRoundRectCallout">
            <a:avLst>
              <a:gd name="adj1" fmla="val -56672"/>
              <a:gd name="adj2" fmla="val -129833"/>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추정적 효력</a:t>
            </a:r>
          </a:p>
        </p:txBody>
      </p:sp>
      <p:sp>
        <p:nvSpPr>
          <p:cNvPr id="104" name="AutoShape 5">
            <a:extLst>
              <a:ext uri="{FF2B5EF4-FFF2-40B4-BE49-F238E27FC236}">
                <a16:creationId xmlns:a16="http://schemas.microsoft.com/office/drawing/2014/main" id="{441796DF-EF02-417C-BD4B-CF1586935161}"/>
              </a:ext>
            </a:extLst>
          </p:cNvPr>
          <p:cNvSpPr>
            <a:spLocks noChangeArrowheads="1"/>
          </p:cNvSpPr>
          <p:nvPr/>
        </p:nvSpPr>
        <p:spPr bwMode="auto">
          <a:xfrm>
            <a:off x="914985" y="5863203"/>
            <a:ext cx="1085116"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tx1"/>
                </a:solidFill>
                <a:latin typeface="+mn-ea"/>
              </a:rPr>
              <a:t>등록</a:t>
            </a:r>
          </a:p>
        </p:txBody>
      </p:sp>
      <p:cxnSp>
        <p:nvCxnSpPr>
          <p:cNvPr id="128" name="AutoShape 46">
            <a:extLst>
              <a:ext uri="{FF2B5EF4-FFF2-40B4-BE49-F238E27FC236}">
                <a16:creationId xmlns:a16="http://schemas.microsoft.com/office/drawing/2014/main" id="{42DE4292-5BCB-4220-B8EE-A00AD9C47DFA}"/>
              </a:ext>
            </a:extLst>
          </p:cNvPr>
          <p:cNvCxnSpPr>
            <a:cxnSpLocks noChangeShapeType="1"/>
            <a:stCxn id="69" idx="2"/>
            <a:endCxn id="104" idx="0"/>
          </p:cNvCxnSpPr>
          <p:nvPr/>
        </p:nvCxnSpPr>
        <p:spPr bwMode="auto">
          <a:xfrm>
            <a:off x="1457543" y="5682348"/>
            <a:ext cx="0" cy="180855"/>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sp>
        <p:nvSpPr>
          <p:cNvPr id="136" name="AutoShape 4">
            <a:extLst>
              <a:ext uri="{FF2B5EF4-FFF2-40B4-BE49-F238E27FC236}">
                <a16:creationId xmlns:a16="http://schemas.microsoft.com/office/drawing/2014/main" id="{1D2F6892-8A97-4F39-B227-999CFAC2057F}"/>
              </a:ext>
            </a:extLst>
          </p:cNvPr>
          <p:cNvSpPr>
            <a:spLocks noChangeArrowheads="1"/>
          </p:cNvSpPr>
          <p:nvPr/>
        </p:nvSpPr>
        <p:spPr bwMode="auto">
          <a:xfrm>
            <a:off x="2548824" y="4778058"/>
            <a:ext cx="1085116"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tx1"/>
                </a:solidFill>
                <a:latin typeface="+mn-ea"/>
              </a:rPr>
              <a:t>출원 </a:t>
            </a:r>
          </a:p>
        </p:txBody>
      </p:sp>
      <p:sp>
        <p:nvSpPr>
          <p:cNvPr id="137" name="AutoShape 5">
            <a:extLst>
              <a:ext uri="{FF2B5EF4-FFF2-40B4-BE49-F238E27FC236}">
                <a16:creationId xmlns:a16="http://schemas.microsoft.com/office/drawing/2014/main" id="{943FA60F-48D7-470A-9A8E-D6C28065F2D1}"/>
              </a:ext>
            </a:extLst>
          </p:cNvPr>
          <p:cNvSpPr>
            <a:spLocks noChangeArrowheads="1"/>
          </p:cNvSpPr>
          <p:nvPr/>
        </p:nvSpPr>
        <p:spPr bwMode="auto">
          <a:xfrm>
            <a:off x="2548824" y="5314501"/>
            <a:ext cx="1085116"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tx1"/>
                </a:solidFill>
                <a:latin typeface="+mn-ea"/>
              </a:rPr>
              <a:t>심사</a:t>
            </a:r>
          </a:p>
        </p:txBody>
      </p:sp>
      <p:cxnSp>
        <p:nvCxnSpPr>
          <p:cNvPr id="138" name="AutoShape 46">
            <a:extLst>
              <a:ext uri="{FF2B5EF4-FFF2-40B4-BE49-F238E27FC236}">
                <a16:creationId xmlns:a16="http://schemas.microsoft.com/office/drawing/2014/main" id="{A3C9AA8A-C770-4813-AF5A-02993457C4DD}"/>
              </a:ext>
            </a:extLst>
          </p:cNvPr>
          <p:cNvCxnSpPr>
            <a:cxnSpLocks noChangeShapeType="1"/>
            <a:stCxn id="136" idx="2"/>
            <a:endCxn id="137" idx="0"/>
          </p:cNvCxnSpPr>
          <p:nvPr/>
        </p:nvCxnSpPr>
        <p:spPr bwMode="auto">
          <a:xfrm>
            <a:off x="3091382" y="5145905"/>
            <a:ext cx="0" cy="168597"/>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sp>
        <p:nvSpPr>
          <p:cNvPr id="139" name="AutoShape 5">
            <a:extLst>
              <a:ext uri="{FF2B5EF4-FFF2-40B4-BE49-F238E27FC236}">
                <a16:creationId xmlns:a16="http://schemas.microsoft.com/office/drawing/2014/main" id="{95CCB36E-9077-4476-8771-52210FDC47CA}"/>
              </a:ext>
            </a:extLst>
          </p:cNvPr>
          <p:cNvSpPr>
            <a:spLocks noChangeArrowheads="1"/>
          </p:cNvSpPr>
          <p:nvPr/>
        </p:nvSpPr>
        <p:spPr bwMode="auto">
          <a:xfrm>
            <a:off x="2548824" y="5863203"/>
            <a:ext cx="1085116"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tx1"/>
                </a:solidFill>
                <a:latin typeface="+mn-ea"/>
              </a:rPr>
              <a:t>등록</a:t>
            </a:r>
          </a:p>
        </p:txBody>
      </p:sp>
      <p:cxnSp>
        <p:nvCxnSpPr>
          <p:cNvPr id="140" name="AutoShape 46">
            <a:extLst>
              <a:ext uri="{FF2B5EF4-FFF2-40B4-BE49-F238E27FC236}">
                <a16:creationId xmlns:a16="http://schemas.microsoft.com/office/drawing/2014/main" id="{A4DA08A9-0E3A-4394-9429-8705FE20DC3D}"/>
              </a:ext>
            </a:extLst>
          </p:cNvPr>
          <p:cNvCxnSpPr>
            <a:cxnSpLocks noChangeShapeType="1"/>
            <a:stCxn id="137" idx="2"/>
            <a:endCxn id="139" idx="0"/>
          </p:cNvCxnSpPr>
          <p:nvPr/>
        </p:nvCxnSpPr>
        <p:spPr bwMode="auto">
          <a:xfrm>
            <a:off x="3091382" y="5682348"/>
            <a:ext cx="0" cy="180855"/>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sp>
        <p:nvSpPr>
          <p:cNvPr id="141" name="AutoShape 4">
            <a:extLst>
              <a:ext uri="{FF2B5EF4-FFF2-40B4-BE49-F238E27FC236}">
                <a16:creationId xmlns:a16="http://schemas.microsoft.com/office/drawing/2014/main" id="{E35EA0A2-582A-4B97-82EE-835CD3FC6291}"/>
              </a:ext>
            </a:extLst>
          </p:cNvPr>
          <p:cNvSpPr>
            <a:spLocks noChangeArrowheads="1"/>
          </p:cNvSpPr>
          <p:nvPr/>
        </p:nvSpPr>
        <p:spPr bwMode="auto">
          <a:xfrm>
            <a:off x="7185530" y="4778058"/>
            <a:ext cx="1085116"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tx1"/>
                </a:solidFill>
                <a:latin typeface="+mn-ea"/>
              </a:rPr>
              <a:t>출원 </a:t>
            </a:r>
          </a:p>
        </p:txBody>
      </p:sp>
      <p:sp>
        <p:nvSpPr>
          <p:cNvPr id="142" name="AutoShape 5">
            <a:extLst>
              <a:ext uri="{FF2B5EF4-FFF2-40B4-BE49-F238E27FC236}">
                <a16:creationId xmlns:a16="http://schemas.microsoft.com/office/drawing/2014/main" id="{3BBCFF8B-034D-4213-B462-55358272FD42}"/>
              </a:ext>
            </a:extLst>
          </p:cNvPr>
          <p:cNvSpPr>
            <a:spLocks noChangeArrowheads="1"/>
          </p:cNvSpPr>
          <p:nvPr/>
        </p:nvSpPr>
        <p:spPr bwMode="auto">
          <a:xfrm>
            <a:off x="7185530" y="5314501"/>
            <a:ext cx="1085116"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tx1"/>
                </a:solidFill>
                <a:latin typeface="+mn-ea"/>
              </a:rPr>
              <a:t>심사</a:t>
            </a:r>
          </a:p>
        </p:txBody>
      </p:sp>
      <p:cxnSp>
        <p:nvCxnSpPr>
          <p:cNvPr id="143" name="AutoShape 46">
            <a:extLst>
              <a:ext uri="{FF2B5EF4-FFF2-40B4-BE49-F238E27FC236}">
                <a16:creationId xmlns:a16="http://schemas.microsoft.com/office/drawing/2014/main" id="{0B7A1066-4CF2-4821-B6FD-B3F67EE0184D}"/>
              </a:ext>
            </a:extLst>
          </p:cNvPr>
          <p:cNvCxnSpPr>
            <a:cxnSpLocks noChangeShapeType="1"/>
            <a:stCxn id="141" idx="2"/>
            <a:endCxn id="142" idx="0"/>
          </p:cNvCxnSpPr>
          <p:nvPr/>
        </p:nvCxnSpPr>
        <p:spPr bwMode="auto">
          <a:xfrm>
            <a:off x="7728088" y="5145905"/>
            <a:ext cx="0" cy="168597"/>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sp>
        <p:nvSpPr>
          <p:cNvPr id="144" name="AutoShape 5">
            <a:extLst>
              <a:ext uri="{FF2B5EF4-FFF2-40B4-BE49-F238E27FC236}">
                <a16:creationId xmlns:a16="http://schemas.microsoft.com/office/drawing/2014/main" id="{768E4829-5F45-45A8-8FB8-032AC536A2CD}"/>
              </a:ext>
            </a:extLst>
          </p:cNvPr>
          <p:cNvSpPr>
            <a:spLocks noChangeArrowheads="1"/>
          </p:cNvSpPr>
          <p:nvPr/>
        </p:nvSpPr>
        <p:spPr bwMode="auto">
          <a:xfrm>
            <a:off x="7185530" y="5863203"/>
            <a:ext cx="1085116"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tx1"/>
                </a:solidFill>
                <a:latin typeface="+mn-ea"/>
              </a:rPr>
              <a:t>등록</a:t>
            </a:r>
          </a:p>
        </p:txBody>
      </p:sp>
      <p:cxnSp>
        <p:nvCxnSpPr>
          <p:cNvPr id="145" name="AutoShape 46">
            <a:extLst>
              <a:ext uri="{FF2B5EF4-FFF2-40B4-BE49-F238E27FC236}">
                <a16:creationId xmlns:a16="http://schemas.microsoft.com/office/drawing/2014/main" id="{DDE61762-09C0-4F8A-A054-D21C3534D4BB}"/>
              </a:ext>
            </a:extLst>
          </p:cNvPr>
          <p:cNvCxnSpPr>
            <a:cxnSpLocks noChangeShapeType="1"/>
            <a:stCxn id="142" idx="2"/>
            <a:endCxn id="144" idx="0"/>
          </p:cNvCxnSpPr>
          <p:nvPr/>
        </p:nvCxnSpPr>
        <p:spPr bwMode="auto">
          <a:xfrm>
            <a:off x="7728088" y="5682348"/>
            <a:ext cx="0" cy="180855"/>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sp>
        <p:nvSpPr>
          <p:cNvPr id="146" name="AutoShape 4">
            <a:extLst>
              <a:ext uri="{FF2B5EF4-FFF2-40B4-BE49-F238E27FC236}">
                <a16:creationId xmlns:a16="http://schemas.microsoft.com/office/drawing/2014/main" id="{4FFCDCBD-CC5C-4065-A56F-FE54110974B6}"/>
              </a:ext>
            </a:extLst>
          </p:cNvPr>
          <p:cNvSpPr>
            <a:spLocks noChangeArrowheads="1"/>
          </p:cNvSpPr>
          <p:nvPr/>
        </p:nvSpPr>
        <p:spPr bwMode="auto">
          <a:xfrm>
            <a:off x="8696788" y="4778058"/>
            <a:ext cx="1085116"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tx1"/>
                </a:solidFill>
                <a:latin typeface="+mn-ea"/>
              </a:rPr>
              <a:t>출원 </a:t>
            </a:r>
          </a:p>
        </p:txBody>
      </p:sp>
      <p:sp>
        <p:nvSpPr>
          <p:cNvPr id="147" name="AutoShape 5">
            <a:extLst>
              <a:ext uri="{FF2B5EF4-FFF2-40B4-BE49-F238E27FC236}">
                <a16:creationId xmlns:a16="http://schemas.microsoft.com/office/drawing/2014/main" id="{C228CD31-2EDE-4A29-975F-D4133D9E7D2F}"/>
              </a:ext>
            </a:extLst>
          </p:cNvPr>
          <p:cNvSpPr>
            <a:spLocks noChangeArrowheads="1"/>
          </p:cNvSpPr>
          <p:nvPr/>
        </p:nvSpPr>
        <p:spPr bwMode="auto">
          <a:xfrm>
            <a:off x="8696788" y="5314501"/>
            <a:ext cx="1085116"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tx1"/>
                </a:solidFill>
                <a:latin typeface="+mn-ea"/>
              </a:rPr>
              <a:t>심사</a:t>
            </a:r>
          </a:p>
        </p:txBody>
      </p:sp>
      <p:cxnSp>
        <p:nvCxnSpPr>
          <p:cNvPr id="148" name="AutoShape 46">
            <a:extLst>
              <a:ext uri="{FF2B5EF4-FFF2-40B4-BE49-F238E27FC236}">
                <a16:creationId xmlns:a16="http://schemas.microsoft.com/office/drawing/2014/main" id="{F6EF66F5-4562-447E-92DD-DA76B643B35F}"/>
              </a:ext>
            </a:extLst>
          </p:cNvPr>
          <p:cNvCxnSpPr>
            <a:cxnSpLocks noChangeShapeType="1"/>
            <a:stCxn id="146" idx="2"/>
            <a:endCxn id="147" idx="0"/>
          </p:cNvCxnSpPr>
          <p:nvPr/>
        </p:nvCxnSpPr>
        <p:spPr bwMode="auto">
          <a:xfrm>
            <a:off x="9239346" y="5145905"/>
            <a:ext cx="0" cy="168597"/>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sp>
        <p:nvSpPr>
          <p:cNvPr id="149" name="AutoShape 5">
            <a:extLst>
              <a:ext uri="{FF2B5EF4-FFF2-40B4-BE49-F238E27FC236}">
                <a16:creationId xmlns:a16="http://schemas.microsoft.com/office/drawing/2014/main" id="{7F9F4A16-1733-42F5-A8BD-42E0E6AD57D0}"/>
              </a:ext>
            </a:extLst>
          </p:cNvPr>
          <p:cNvSpPr>
            <a:spLocks noChangeArrowheads="1"/>
          </p:cNvSpPr>
          <p:nvPr/>
        </p:nvSpPr>
        <p:spPr bwMode="auto">
          <a:xfrm>
            <a:off x="8696788" y="5863203"/>
            <a:ext cx="1085116" cy="367847"/>
          </a:xfrm>
          <a:prstGeom prst="flowChartProcess">
            <a:avLst/>
          </a:prstGeom>
          <a:solidFill>
            <a:schemeClr val="accent4">
              <a:lumMod val="60000"/>
              <a:lumOff val="40000"/>
            </a:schemeClr>
          </a:solidFill>
          <a:ln>
            <a:solidFill>
              <a:schemeClr val="bg1">
                <a:lumMod val="50000"/>
              </a:schemeClr>
            </a:solidFill>
            <a:headEnd/>
            <a:tailEnd/>
          </a:ln>
          <a:effectLst/>
        </p:spPr>
        <p:style>
          <a:lnRef idx="1">
            <a:schemeClr val="accent4"/>
          </a:lnRef>
          <a:fillRef idx="3">
            <a:schemeClr val="accent4"/>
          </a:fillRef>
          <a:effectRef idx="2">
            <a:schemeClr val="accent4"/>
          </a:effectRef>
          <a:fontRef idx="minor">
            <a:schemeClr val="lt1"/>
          </a:fontRef>
        </p:style>
        <p:txBody>
          <a:bodyPr anchor="ctr"/>
          <a:lstStyle/>
          <a:p>
            <a:pPr algn="ctr" fontAlgn="auto">
              <a:spcBef>
                <a:spcPts val="0"/>
              </a:spcBef>
              <a:spcAft>
                <a:spcPts val="0"/>
              </a:spcAft>
              <a:defRPr/>
            </a:pPr>
            <a:r>
              <a:rPr lang="ko-KR" altLang="en-US" sz="1100" dirty="0">
                <a:solidFill>
                  <a:schemeClr val="tx1"/>
                </a:solidFill>
                <a:latin typeface="+mn-ea"/>
              </a:rPr>
              <a:t>등록</a:t>
            </a:r>
          </a:p>
        </p:txBody>
      </p:sp>
      <p:cxnSp>
        <p:nvCxnSpPr>
          <p:cNvPr id="150" name="AutoShape 46">
            <a:extLst>
              <a:ext uri="{FF2B5EF4-FFF2-40B4-BE49-F238E27FC236}">
                <a16:creationId xmlns:a16="http://schemas.microsoft.com/office/drawing/2014/main" id="{A4A7FE65-671E-422E-8D81-00F500FA9A77}"/>
              </a:ext>
            </a:extLst>
          </p:cNvPr>
          <p:cNvCxnSpPr>
            <a:cxnSpLocks noChangeShapeType="1"/>
            <a:stCxn id="147" idx="2"/>
            <a:endCxn id="149" idx="0"/>
          </p:cNvCxnSpPr>
          <p:nvPr/>
        </p:nvCxnSpPr>
        <p:spPr bwMode="auto">
          <a:xfrm>
            <a:off x="9239346" y="5682348"/>
            <a:ext cx="0" cy="180855"/>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315484302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15</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발명의 보호전략</a:t>
            </a:r>
            <a:r>
              <a:rPr lang="en-US" altLang="ko-KR" dirty="0"/>
              <a:t>: </a:t>
            </a:r>
            <a:r>
              <a:rPr lang="ko-KR" altLang="en-US" dirty="0"/>
              <a:t>일반</a:t>
            </a:r>
          </a:p>
        </p:txBody>
      </p:sp>
      <p:sp>
        <p:nvSpPr>
          <p:cNvPr id="5" name="TextBox 4"/>
          <p:cNvSpPr txBox="1"/>
          <p:nvPr/>
        </p:nvSpPr>
        <p:spPr>
          <a:xfrm>
            <a:off x="77875" y="986046"/>
            <a:ext cx="11936323" cy="954107"/>
          </a:xfrm>
          <a:prstGeom prst="rect">
            <a:avLst/>
          </a:prstGeom>
          <a:noFill/>
        </p:spPr>
        <p:txBody>
          <a:bodyPr wrap="square" rtlCol="0">
            <a:spAutoFit/>
          </a:bodyPr>
          <a:lstStyle/>
          <a:p>
            <a:pPr fontAlgn="base"/>
            <a:r>
              <a:rPr lang="ko-KR" altLang="en-US" sz="1400" dirty="0">
                <a:solidFill>
                  <a:schemeClr val="tx2"/>
                </a:solidFill>
              </a:rPr>
              <a:t>발명자 또는 승계인은 발명의 보호전략을 달리할 수 있다</a:t>
            </a:r>
            <a:r>
              <a:rPr lang="en-US" altLang="ko-KR" sz="1400" dirty="0">
                <a:solidFill>
                  <a:schemeClr val="tx2"/>
                </a:solidFill>
              </a:rPr>
              <a:t>. </a:t>
            </a:r>
            <a:r>
              <a:rPr lang="ko-KR" altLang="en-US" sz="1400" dirty="0">
                <a:solidFill>
                  <a:schemeClr val="tx2"/>
                </a:solidFill>
              </a:rPr>
              <a:t>구체적으로 </a:t>
            </a:r>
            <a:r>
              <a:rPr lang="ko-KR" altLang="en-US" sz="1400" dirty="0">
                <a:solidFill>
                  <a:schemeClr val="tx2"/>
                </a:solidFill>
                <a:highlight>
                  <a:srgbClr val="FFFF00"/>
                </a:highlight>
              </a:rPr>
              <a:t>특허출원</a:t>
            </a:r>
            <a:r>
              <a:rPr lang="ko-KR" altLang="en-US" sz="1400" dirty="0">
                <a:solidFill>
                  <a:schemeClr val="tx2"/>
                </a:solidFill>
              </a:rPr>
              <a:t>을 통해 발명을 보호할 수도 있으나</a:t>
            </a:r>
            <a:r>
              <a:rPr lang="en-US" altLang="ko-KR" sz="1400" dirty="0">
                <a:solidFill>
                  <a:schemeClr val="tx2"/>
                </a:solidFill>
              </a:rPr>
              <a:t>, </a:t>
            </a:r>
            <a:r>
              <a:rPr lang="ko-KR" altLang="en-US" sz="1400" dirty="0">
                <a:solidFill>
                  <a:schemeClr val="tx2"/>
                </a:solidFill>
              </a:rPr>
              <a:t>특허를 획득하더라도 침해 판정이 어렵거나 제품의 경쟁력을 좌우하는 핵심기술인 경우 </a:t>
            </a:r>
            <a:r>
              <a:rPr lang="ko-KR" altLang="en-US" sz="1400" dirty="0">
                <a:solidFill>
                  <a:schemeClr val="tx2"/>
                </a:solidFill>
                <a:highlight>
                  <a:srgbClr val="FFFF00"/>
                </a:highlight>
              </a:rPr>
              <a:t>노하우</a:t>
            </a:r>
            <a:r>
              <a:rPr lang="ko-KR" altLang="en-US" sz="1400" dirty="0">
                <a:solidFill>
                  <a:schemeClr val="tx2"/>
                </a:solidFill>
              </a:rPr>
              <a:t>로 보호하는 방안을 강구할 수 있다</a:t>
            </a:r>
            <a:r>
              <a:rPr lang="en-US" altLang="ko-KR" sz="1400" dirty="0">
                <a:solidFill>
                  <a:schemeClr val="tx2"/>
                </a:solidFill>
              </a:rPr>
              <a:t>. </a:t>
            </a:r>
            <a:r>
              <a:rPr lang="ko-KR" altLang="en-US" sz="1400" dirty="0">
                <a:solidFill>
                  <a:schemeClr val="tx2"/>
                </a:solidFill>
              </a:rPr>
              <a:t>또한</a:t>
            </a:r>
            <a:r>
              <a:rPr lang="en-US" altLang="ko-KR" sz="1400" dirty="0">
                <a:solidFill>
                  <a:schemeClr val="tx2"/>
                </a:solidFill>
              </a:rPr>
              <a:t>, </a:t>
            </a:r>
            <a:r>
              <a:rPr lang="ko-KR" altLang="en-US" sz="1400" dirty="0">
                <a:solidFill>
                  <a:schemeClr val="tx2"/>
                </a:solidFill>
              </a:rPr>
              <a:t>시간과 비용을 들여 특허를 확보할 의도는 없으나 타인의 특허권 확보를 저지하려는 경우에는 발명을 </a:t>
            </a:r>
            <a:r>
              <a:rPr lang="ko-KR" altLang="en-US" sz="1400" dirty="0">
                <a:solidFill>
                  <a:schemeClr val="tx2"/>
                </a:solidFill>
                <a:highlight>
                  <a:srgbClr val="FFFF00"/>
                </a:highlight>
              </a:rPr>
              <a:t>공개</a:t>
            </a:r>
            <a:r>
              <a:rPr lang="ko-KR" altLang="en-US" sz="1400" dirty="0">
                <a:solidFill>
                  <a:schemeClr val="tx2"/>
                </a:solidFill>
              </a:rPr>
              <a:t>할 수도 있다</a:t>
            </a:r>
            <a:r>
              <a:rPr lang="en-US" altLang="ko-KR" sz="1400" dirty="0">
                <a:solidFill>
                  <a:schemeClr val="tx2"/>
                </a:solidFill>
              </a:rPr>
              <a:t>. </a:t>
            </a:r>
            <a:r>
              <a:rPr lang="ko-KR" altLang="en-US" sz="1400" dirty="0">
                <a:solidFill>
                  <a:schemeClr val="tx2"/>
                </a:solidFill>
              </a:rPr>
              <a:t>발명을 공개할 때에는 공개일</a:t>
            </a:r>
            <a:r>
              <a:rPr lang="en-US" altLang="ko-KR" sz="1400" dirty="0">
                <a:solidFill>
                  <a:schemeClr val="tx2"/>
                </a:solidFill>
              </a:rPr>
              <a:t>, </a:t>
            </a:r>
            <a:r>
              <a:rPr lang="ko-KR" altLang="en-US" sz="1400" dirty="0">
                <a:solidFill>
                  <a:schemeClr val="tx2"/>
                </a:solidFill>
              </a:rPr>
              <a:t>공개내용에 대한 증명의 용이성을 위해 지식재산처의 인터넷기술공지제도를 활용해 보는 것을 검토해 볼 만 하다</a:t>
            </a:r>
            <a:r>
              <a:rPr lang="en-US" altLang="ko-KR" sz="1400" dirty="0">
                <a:solidFill>
                  <a:schemeClr val="tx2"/>
                </a:solidFill>
              </a:rPr>
              <a:t>.</a:t>
            </a:r>
            <a:endParaRPr lang="ko-KR" altLang="en-US" sz="1400" dirty="0">
              <a:solidFill>
                <a:schemeClr val="tx2"/>
              </a:solidFill>
            </a:endParaRPr>
          </a:p>
        </p:txBody>
      </p:sp>
      <p:cxnSp>
        <p:nvCxnSpPr>
          <p:cNvPr id="6" name="직선 연결선 5"/>
          <p:cNvCxnSpPr/>
          <p:nvPr/>
        </p:nvCxnSpPr>
        <p:spPr>
          <a:xfrm>
            <a:off x="0" y="194285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자유형 11"/>
          <p:cNvSpPr/>
          <p:nvPr/>
        </p:nvSpPr>
        <p:spPr>
          <a:xfrm>
            <a:off x="3206364" y="4293396"/>
            <a:ext cx="506306" cy="1088558"/>
          </a:xfrm>
          <a:custGeom>
            <a:avLst/>
            <a:gdLst/>
            <a:ahLst/>
            <a:cxnLst/>
            <a:rect l="0" t="0" r="0" b="0"/>
            <a:pathLst>
              <a:path>
                <a:moveTo>
                  <a:pt x="0" y="0"/>
                </a:moveTo>
                <a:lnTo>
                  <a:pt x="253153" y="0"/>
                </a:lnTo>
                <a:lnTo>
                  <a:pt x="253153" y="1088558"/>
                </a:lnTo>
                <a:lnTo>
                  <a:pt x="506306" y="1088558"/>
                </a:lnTo>
              </a:path>
            </a:pathLst>
          </a:custGeom>
          <a:noFill/>
          <a:ln w="28575">
            <a:solidFill>
              <a:schemeClr val="bg1">
                <a:lumMod val="50000"/>
              </a:schemeClr>
            </a:solidFill>
          </a:ln>
        </p:spPr>
        <p:style>
          <a:lnRef idx="2">
            <a:schemeClr val="accent5">
              <a:hueOff val="0"/>
              <a:satOff val="0"/>
              <a:lumOff val="0"/>
              <a:alphaOff val="0"/>
            </a:schemeClr>
          </a:lnRef>
          <a:fillRef idx="0">
            <a:scrgbClr r="0" g="0" b="0"/>
          </a:fillRef>
          <a:effectRef idx="0">
            <a:schemeClr val="accent4">
              <a:tint val="90000"/>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13" name="자유형 12"/>
          <p:cNvSpPr/>
          <p:nvPr/>
        </p:nvSpPr>
        <p:spPr>
          <a:xfrm>
            <a:off x="3206364" y="4247675"/>
            <a:ext cx="506306" cy="91440"/>
          </a:xfrm>
          <a:custGeom>
            <a:avLst/>
            <a:gdLst/>
            <a:ahLst/>
            <a:cxnLst/>
            <a:rect l="0" t="0" r="0" b="0"/>
            <a:pathLst>
              <a:path>
                <a:moveTo>
                  <a:pt x="0" y="45720"/>
                </a:moveTo>
                <a:lnTo>
                  <a:pt x="506306" y="45720"/>
                </a:lnTo>
              </a:path>
            </a:pathLst>
          </a:custGeom>
          <a:noFill/>
          <a:ln w="28575">
            <a:solidFill>
              <a:schemeClr val="bg1">
                <a:lumMod val="50000"/>
              </a:schemeClr>
            </a:solidFill>
          </a:ln>
        </p:spPr>
        <p:style>
          <a:lnRef idx="2">
            <a:schemeClr val="accent5">
              <a:hueOff val="0"/>
              <a:satOff val="0"/>
              <a:lumOff val="0"/>
              <a:alphaOff val="0"/>
            </a:schemeClr>
          </a:lnRef>
          <a:fillRef idx="0">
            <a:scrgbClr r="0" g="0" b="0"/>
          </a:fillRef>
          <a:effectRef idx="0">
            <a:schemeClr val="accent4">
              <a:tint val="90000"/>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14" name="자유형 13"/>
          <p:cNvSpPr/>
          <p:nvPr/>
        </p:nvSpPr>
        <p:spPr>
          <a:xfrm>
            <a:off x="3206364" y="3204837"/>
            <a:ext cx="506306" cy="1088558"/>
          </a:xfrm>
          <a:custGeom>
            <a:avLst/>
            <a:gdLst/>
            <a:ahLst/>
            <a:cxnLst/>
            <a:rect l="0" t="0" r="0" b="0"/>
            <a:pathLst>
              <a:path>
                <a:moveTo>
                  <a:pt x="0" y="1088558"/>
                </a:moveTo>
                <a:lnTo>
                  <a:pt x="253153" y="1088558"/>
                </a:lnTo>
                <a:lnTo>
                  <a:pt x="253153" y="0"/>
                </a:lnTo>
                <a:lnTo>
                  <a:pt x="506306" y="0"/>
                </a:lnTo>
              </a:path>
            </a:pathLst>
          </a:custGeom>
          <a:noFill/>
          <a:ln w="28575">
            <a:solidFill>
              <a:schemeClr val="bg1">
                <a:lumMod val="50000"/>
              </a:schemeClr>
            </a:solidFill>
          </a:ln>
        </p:spPr>
        <p:style>
          <a:lnRef idx="2">
            <a:schemeClr val="accent5">
              <a:hueOff val="0"/>
              <a:satOff val="0"/>
              <a:lumOff val="0"/>
              <a:alphaOff val="0"/>
            </a:schemeClr>
          </a:lnRef>
          <a:fillRef idx="0">
            <a:scrgbClr r="0" g="0" b="0"/>
          </a:fillRef>
          <a:effectRef idx="0">
            <a:schemeClr val="accent4">
              <a:tint val="90000"/>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15" name="자유형 14"/>
          <p:cNvSpPr/>
          <p:nvPr/>
        </p:nvSpPr>
        <p:spPr>
          <a:xfrm>
            <a:off x="1087498" y="3999389"/>
            <a:ext cx="2118866" cy="588013"/>
          </a:xfrm>
          <a:custGeom>
            <a:avLst/>
            <a:gdLst>
              <a:gd name="connsiteX0" fmla="*/ 0 w 2118866"/>
              <a:gd name="connsiteY0" fmla="*/ 0 h 588013"/>
              <a:gd name="connsiteX1" fmla="*/ 2118866 w 2118866"/>
              <a:gd name="connsiteY1" fmla="*/ 0 h 588013"/>
              <a:gd name="connsiteX2" fmla="*/ 2118866 w 2118866"/>
              <a:gd name="connsiteY2" fmla="*/ 588013 h 588013"/>
              <a:gd name="connsiteX3" fmla="*/ 0 w 2118866"/>
              <a:gd name="connsiteY3" fmla="*/ 588013 h 588013"/>
              <a:gd name="connsiteX4" fmla="*/ 0 w 2118866"/>
              <a:gd name="connsiteY4" fmla="*/ 0 h 588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8866" h="588013">
                <a:moveTo>
                  <a:pt x="0" y="0"/>
                </a:moveTo>
                <a:lnTo>
                  <a:pt x="2118866" y="0"/>
                </a:lnTo>
                <a:lnTo>
                  <a:pt x="2118866" y="588013"/>
                </a:lnTo>
                <a:lnTo>
                  <a:pt x="0" y="588013"/>
                </a:lnTo>
                <a:lnTo>
                  <a:pt x="0" y="0"/>
                </a:lnTo>
                <a:close/>
              </a:path>
            </a:pathLst>
          </a:custGeom>
          <a:solidFill>
            <a:schemeClr val="accent2">
              <a:lumMod val="75000"/>
            </a:schemeClr>
          </a:solidFill>
          <a:ln>
            <a:solidFill>
              <a:schemeClr val="bg1">
                <a:lumMod val="50000"/>
              </a:schemeClr>
            </a:solid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8890" tIns="8890" rIns="8890" bIns="8890" numCol="1" spcCol="1270" anchor="ctr" anchorCtr="0">
            <a:noAutofit/>
          </a:bodyPr>
          <a:lstStyle/>
          <a:p>
            <a:pPr lvl="0" algn="ctr" defTabSz="622300" latinLnBrk="1">
              <a:lnSpc>
                <a:spcPct val="90000"/>
              </a:lnSpc>
              <a:spcBef>
                <a:spcPct val="0"/>
              </a:spcBef>
              <a:spcAft>
                <a:spcPct val="35000"/>
              </a:spcAft>
            </a:pPr>
            <a:r>
              <a:rPr lang="ko-KR" altLang="en-US" sz="2000" kern="1200" dirty="0">
                <a:latin typeface="+mj-ea"/>
                <a:ea typeface="+mj-ea"/>
              </a:rPr>
              <a:t>발명 보호 전략</a:t>
            </a:r>
          </a:p>
        </p:txBody>
      </p:sp>
      <p:sp>
        <p:nvSpPr>
          <p:cNvPr id="16" name="자유형 15"/>
          <p:cNvSpPr/>
          <p:nvPr/>
        </p:nvSpPr>
        <p:spPr>
          <a:xfrm>
            <a:off x="3712671" y="2818779"/>
            <a:ext cx="2531531" cy="772116"/>
          </a:xfrm>
          <a:custGeom>
            <a:avLst/>
            <a:gdLst>
              <a:gd name="connsiteX0" fmla="*/ 0 w 2531531"/>
              <a:gd name="connsiteY0" fmla="*/ 0 h 772116"/>
              <a:gd name="connsiteX1" fmla="*/ 2531531 w 2531531"/>
              <a:gd name="connsiteY1" fmla="*/ 0 h 772116"/>
              <a:gd name="connsiteX2" fmla="*/ 2531531 w 2531531"/>
              <a:gd name="connsiteY2" fmla="*/ 772116 h 772116"/>
              <a:gd name="connsiteX3" fmla="*/ 0 w 2531531"/>
              <a:gd name="connsiteY3" fmla="*/ 772116 h 772116"/>
              <a:gd name="connsiteX4" fmla="*/ 0 w 2531531"/>
              <a:gd name="connsiteY4" fmla="*/ 0 h 772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1531" h="772116">
                <a:moveTo>
                  <a:pt x="0" y="0"/>
                </a:moveTo>
                <a:lnTo>
                  <a:pt x="2531531" y="0"/>
                </a:lnTo>
                <a:lnTo>
                  <a:pt x="2531531" y="772116"/>
                </a:lnTo>
                <a:lnTo>
                  <a:pt x="0" y="772116"/>
                </a:lnTo>
                <a:lnTo>
                  <a:pt x="0" y="0"/>
                </a:lnTo>
                <a:close/>
              </a:path>
            </a:pathLst>
          </a:custGeom>
          <a:solidFill>
            <a:schemeClr val="accent1">
              <a:lumMod val="20000"/>
              <a:lumOff val="80000"/>
            </a:schemeClr>
          </a:solidFill>
          <a:ln>
            <a:solidFill>
              <a:schemeClr val="bg1">
                <a:lumMod val="50000"/>
              </a:schemeClr>
            </a:solidFill>
          </a:ln>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8890" tIns="8890" rIns="8890" bIns="8890" numCol="1" spcCol="1270" anchor="ctr" anchorCtr="0">
            <a:noAutofit/>
          </a:bodyPr>
          <a:lstStyle/>
          <a:p>
            <a:pPr lvl="0" algn="ctr" defTabSz="622300" latinLnBrk="1">
              <a:lnSpc>
                <a:spcPct val="90000"/>
              </a:lnSpc>
              <a:spcBef>
                <a:spcPct val="0"/>
              </a:spcBef>
              <a:spcAft>
                <a:spcPct val="35000"/>
              </a:spcAft>
            </a:pPr>
            <a:r>
              <a:rPr kumimoji="0" lang="ko-KR" altLang="en-US" sz="1400" b="0" kern="1200" dirty="0">
                <a:solidFill>
                  <a:schemeClr val="tx1"/>
                </a:solidFill>
                <a:latin typeface="+mj-ea"/>
                <a:ea typeface="+mj-ea"/>
              </a:rPr>
              <a:t>공개</a:t>
            </a:r>
            <a:endParaRPr kumimoji="0" lang="en-US" altLang="ko-KR" sz="1400" b="0" kern="1200" dirty="0">
              <a:solidFill>
                <a:schemeClr val="tx1"/>
              </a:solidFill>
              <a:latin typeface="+mj-ea"/>
              <a:ea typeface="+mj-ea"/>
            </a:endParaRPr>
          </a:p>
          <a:p>
            <a:pPr lvl="0" algn="ctr" defTabSz="622300" latinLnBrk="1">
              <a:lnSpc>
                <a:spcPct val="90000"/>
              </a:lnSpc>
              <a:spcBef>
                <a:spcPct val="0"/>
              </a:spcBef>
              <a:spcAft>
                <a:spcPct val="35000"/>
              </a:spcAft>
            </a:pPr>
            <a:r>
              <a:rPr kumimoji="0" lang="en-US" altLang="ko-KR" sz="1400" b="0" kern="1200" dirty="0">
                <a:solidFill>
                  <a:schemeClr val="tx1"/>
                </a:solidFill>
                <a:latin typeface="+mj-ea"/>
                <a:ea typeface="+mj-ea"/>
              </a:rPr>
              <a:t>(</a:t>
            </a:r>
            <a:r>
              <a:rPr kumimoji="0" lang="ko-KR" altLang="en-US" sz="1400" b="0" kern="1200" dirty="0">
                <a:solidFill>
                  <a:schemeClr val="tx1"/>
                </a:solidFill>
                <a:latin typeface="+mj-ea"/>
                <a:ea typeface="+mj-ea"/>
              </a:rPr>
              <a:t>경쟁자에 의한 선점특허의 예방</a:t>
            </a:r>
            <a:r>
              <a:rPr kumimoji="0" lang="en-US" altLang="ko-KR" sz="1400" b="0" kern="1200" dirty="0">
                <a:solidFill>
                  <a:schemeClr val="tx1"/>
                </a:solidFill>
                <a:latin typeface="+mj-ea"/>
                <a:ea typeface="+mj-ea"/>
              </a:rPr>
              <a:t>)</a:t>
            </a:r>
            <a:endParaRPr lang="ko-KR" altLang="en-US" sz="1400" kern="1200" dirty="0">
              <a:solidFill>
                <a:schemeClr val="tx1"/>
              </a:solidFill>
              <a:latin typeface="+mj-ea"/>
              <a:ea typeface="+mj-ea"/>
            </a:endParaRPr>
          </a:p>
        </p:txBody>
      </p:sp>
      <p:sp>
        <p:nvSpPr>
          <p:cNvPr id="17" name="자유형 16"/>
          <p:cNvSpPr/>
          <p:nvPr/>
        </p:nvSpPr>
        <p:spPr>
          <a:xfrm>
            <a:off x="3712671" y="3907337"/>
            <a:ext cx="2531531" cy="772116"/>
          </a:xfrm>
          <a:custGeom>
            <a:avLst/>
            <a:gdLst>
              <a:gd name="connsiteX0" fmla="*/ 0 w 2531531"/>
              <a:gd name="connsiteY0" fmla="*/ 0 h 772116"/>
              <a:gd name="connsiteX1" fmla="*/ 2531531 w 2531531"/>
              <a:gd name="connsiteY1" fmla="*/ 0 h 772116"/>
              <a:gd name="connsiteX2" fmla="*/ 2531531 w 2531531"/>
              <a:gd name="connsiteY2" fmla="*/ 772116 h 772116"/>
              <a:gd name="connsiteX3" fmla="*/ 0 w 2531531"/>
              <a:gd name="connsiteY3" fmla="*/ 772116 h 772116"/>
              <a:gd name="connsiteX4" fmla="*/ 0 w 2531531"/>
              <a:gd name="connsiteY4" fmla="*/ 0 h 772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1531" h="772116">
                <a:moveTo>
                  <a:pt x="0" y="0"/>
                </a:moveTo>
                <a:lnTo>
                  <a:pt x="2531531" y="0"/>
                </a:lnTo>
                <a:lnTo>
                  <a:pt x="2531531" y="772116"/>
                </a:lnTo>
                <a:lnTo>
                  <a:pt x="0" y="772116"/>
                </a:lnTo>
                <a:lnTo>
                  <a:pt x="0" y="0"/>
                </a:lnTo>
                <a:close/>
              </a:path>
            </a:pathLst>
          </a:custGeom>
          <a:solidFill>
            <a:schemeClr val="accent1">
              <a:lumMod val="20000"/>
              <a:lumOff val="80000"/>
            </a:schemeClr>
          </a:solidFill>
          <a:ln>
            <a:solidFill>
              <a:schemeClr val="bg1">
                <a:lumMod val="50000"/>
              </a:schemeClr>
            </a:solidFill>
          </a:ln>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8890" tIns="8890" rIns="8890" bIns="8890" numCol="1" spcCol="1270" anchor="ctr" anchorCtr="0">
            <a:noAutofit/>
          </a:bodyPr>
          <a:lstStyle/>
          <a:p>
            <a:pPr lvl="0" algn="ctr" defTabSz="622300" latinLnBrk="1">
              <a:lnSpc>
                <a:spcPct val="90000"/>
              </a:lnSpc>
              <a:spcBef>
                <a:spcPct val="0"/>
              </a:spcBef>
              <a:spcAft>
                <a:spcPct val="35000"/>
              </a:spcAft>
            </a:pPr>
            <a:r>
              <a:rPr kumimoji="0" lang="ko-KR" altLang="en-US" sz="1400" b="0" kern="1200" dirty="0">
                <a:solidFill>
                  <a:schemeClr val="tx1"/>
                </a:solidFill>
                <a:latin typeface="+mj-ea"/>
                <a:ea typeface="+mj-ea"/>
              </a:rPr>
              <a:t>노하우로 보호</a:t>
            </a:r>
            <a:endParaRPr kumimoji="0" lang="en-US" altLang="ko-KR" sz="1400" b="0" kern="1200" dirty="0">
              <a:solidFill>
                <a:schemeClr val="tx1"/>
              </a:solidFill>
              <a:latin typeface="+mj-ea"/>
              <a:ea typeface="+mj-ea"/>
            </a:endParaRPr>
          </a:p>
          <a:p>
            <a:pPr lvl="0" algn="ctr" defTabSz="622300" latinLnBrk="1">
              <a:lnSpc>
                <a:spcPct val="90000"/>
              </a:lnSpc>
              <a:spcBef>
                <a:spcPct val="0"/>
              </a:spcBef>
              <a:spcAft>
                <a:spcPct val="35000"/>
              </a:spcAft>
            </a:pPr>
            <a:r>
              <a:rPr kumimoji="0" lang="en-US" altLang="ko-KR" sz="1400" b="0" kern="1200" dirty="0">
                <a:solidFill>
                  <a:schemeClr val="tx1"/>
                </a:solidFill>
                <a:latin typeface="+mj-ea"/>
                <a:ea typeface="+mj-ea"/>
              </a:rPr>
              <a:t>(</a:t>
            </a:r>
            <a:r>
              <a:rPr kumimoji="0" lang="ko-KR" altLang="en-US" sz="1400" b="0" kern="1200" dirty="0">
                <a:solidFill>
                  <a:schemeClr val="tx1"/>
                </a:solidFill>
                <a:latin typeface="+mj-ea"/>
                <a:ea typeface="+mj-ea"/>
              </a:rPr>
              <a:t>제조방법의 경우 등</a:t>
            </a:r>
            <a:r>
              <a:rPr kumimoji="0" lang="en-US" altLang="ko-KR" sz="1400" b="0" kern="1200" dirty="0">
                <a:solidFill>
                  <a:schemeClr val="tx1"/>
                </a:solidFill>
                <a:latin typeface="+mj-ea"/>
                <a:ea typeface="+mj-ea"/>
              </a:rPr>
              <a:t>)</a:t>
            </a:r>
            <a:endParaRPr lang="ko-KR" altLang="en-US" sz="1400" b="1" kern="1200" dirty="0">
              <a:solidFill>
                <a:schemeClr val="tx1"/>
              </a:solidFill>
              <a:latin typeface="+mj-ea"/>
              <a:ea typeface="+mj-ea"/>
            </a:endParaRPr>
          </a:p>
        </p:txBody>
      </p:sp>
      <p:sp>
        <p:nvSpPr>
          <p:cNvPr id="18" name="자유형 17"/>
          <p:cNvSpPr/>
          <p:nvPr/>
        </p:nvSpPr>
        <p:spPr>
          <a:xfrm>
            <a:off x="3712671" y="4995895"/>
            <a:ext cx="2531531" cy="772116"/>
          </a:xfrm>
          <a:custGeom>
            <a:avLst/>
            <a:gdLst>
              <a:gd name="connsiteX0" fmla="*/ 0 w 2531531"/>
              <a:gd name="connsiteY0" fmla="*/ 0 h 772116"/>
              <a:gd name="connsiteX1" fmla="*/ 2531531 w 2531531"/>
              <a:gd name="connsiteY1" fmla="*/ 0 h 772116"/>
              <a:gd name="connsiteX2" fmla="*/ 2531531 w 2531531"/>
              <a:gd name="connsiteY2" fmla="*/ 772116 h 772116"/>
              <a:gd name="connsiteX3" fmla="*/ 0 w 2531531"/>
              <a:gd name="connsiteY3" fmla="*/ 772116 h 772116"/>
              <a:gd name="connsiteX4" fmla="*/ 0 w 2531531"/>
              <a:gd name="connsiteY4" fmla="*/ 0 h 772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1531" h="772116">
                <a:moveTo>
                  <a:pt x="0" y="0"/>
                </a:moveTo>
                <a:lnTo>
                  <a:pt x="2531531" y="0"/>
                </a:lnTo>
                <a:lnTo>
                  <a:pt x="2531531" y="772116"/>
                </a:lnTo>
                <a:lnTo>
                  <a:pt x="0" y="772116"/>
                </a:lnTo>
                <a:lnTo>
                  <a:pt x="0" y="0"/>
                </a:lnTo>
                <a:close/>
              </a:path>
            </a:pathLst>
          </a:custGeom>
          <a:solidFill>
            <a:schemeClr val="accent1">
              <a:lumMod val="20000"/>
              <a:lumOff val="80000"/>
            </a:schemeClr>
          </a:solidFill>
          <a:ln>
            <a:solidFill>
              <a:schemeClr val="bg1">
                <a:lumMod val="50000"/>
              </a:schemeClr>
            </a:solidFill>
          </a:ln>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8890" tIns="8890" rIns="8890" bIns="8890" numCol="1" spcCol="1270" anchor="ctr" anchorCtr="0">
            <a:noAutofit/>
          </a:bodyPr>
          <a:lstStyle/>
          <a:p>
            <a:pPr lvl="0" algn="ctr" defTabSz="622300" latinLnBrk="1">
              <a:lnSpc>
                <a:spcPct val="90000"/>
              </a:lnSpc>
              <a:spcBef>
                <a:spcPct val="0"/>
              </a:spcBef>
              <a:spcAft>
                <a:spcPct val="35000"/>
              </a:spcAft>
            </a:pPr>
            <a:r>
              <a:rPr kumimoji="0" lang="ko-KR" altLang="en-US" sz="1400" b="0" kern="1200">
                <a:solidFill>
                  <a:schemeClr val="tx1"/>
                </a:solidFill>
                <a:latin typeface="+mj-ea"/>
                <a:ea typeface="+mj-ea"/>
              </a:rPr>
              <a:t>특허로 보호</a:t>
            </a:r>
            <a:endParaRPr lang="ko-KR" altLang="en-US" sz="1400" b="1" kern="1200" dirty="0">
              <a:solidFill>
                <a:schemeClr val="tx1"/>
              </a:solidFill>
              <a:latin typeface="+mj-ea"/>
              <a:ea typeface="+mj-ea"/>
            </a:endParaRPr>
          </a:p>
        </p:txBody>
      </p:sp>
      <p:sp>
        <p:nvSpPr>
          <p:cNvPr id="8" name="TextBox 7"/>
          <p:cNvSpPr txBox="1"/>
          <p:nvPr/>
        </p:nvSpPr>
        <p:spPr>
          <a:xfrm>
            <a:off x="6310505" y="3035560"/>
            <a:ext cx="2674130" cy="338554"/>
          </a:xfrm>
          <a:prstGeom prst="rect">
            <a:avLst/>
          </a:prstGeom>
          <a:noFill/>
        </p:spPr>
        <p:txBody>
          <a:bodyPr wrap="none" rtlCol="0">
            <a:spAutoFit/>
          </a:bodyPr>
          <a:lstStyle/>
          <a:p>
            <a:pPr marL="285750" indent="-285750">
              <a:buFontTx/>
              <a:buChar char="-"/>
            </a:pPr>
            <a:r>
              <a:rPr lang="ko-KR" altLang="en-US" sz="1600" dirty="0"/>
              <a:t>공개시점 및 내용의 명확화</a:t>
            </a:r>
            <a:endParaRPr lang="en-US" altLang="ko-KR" sz="1600" dirty="0"/>
          </a:p>
        </p:txBody>
      </p:sp>
      <p:sp>
        <p:nvSpPr>
          <p:cNvPr id="9" name="TextBox 8"/>
          <p:cNvSpPr txBox="1"/>
          <p:nvPr/>
        </p:nvSpPr>
        <p:spPr>
          <a:xfrm>
            <a:off x="6328090" y="5212676"/>
            <a:ext cx="3100529" cy="338554"/>
          </a:xfrm>
          <a:prstGeom prst="rect">
            <a:avLst/>
          </a:prstGeom>
          <a:noFill/>
        </p:spPr>
        <p:txBody>
          <a:bodyPr wrap="none" rtlCol="0">
            <a:spAutoFit/>
          </a:bodyPr>
          <a:lstStyle/>
          <a:p>
            <a:pPr marL="285750" indent="-285750">
              <a:buFontTx/>
              <a:buChar char="-"/>
            </a:pPr>
            <a:r>
              <a:rPr lang="ko-KR" altLang="en-US" sz="1600" dirty="0"/>
              <a:t>발명의 </a:t>
            </a:r>
            <a:r>
              <a:rPr lang="ko-KR" altLang="en-US" sz="1600" dirty="0" err="1"/>
              <a:t>성립성</a:t>
            </a:r>
            <a:r>
              <a:rPr lang="ko-KR" altLang="en-US" sz="1600" dirty="0"/>
              <a:t> 등 특허요건 구비</a:t>
            </a:r>
            <a:endParaRPr lang="en-US" altLang="ko-KR" sz="1600" dirty="0"/>
          </a:p>
        </p:txBody>
      </p:sp>
      <p:sp>
        <p:nvSpPr>
          <p:cNvPr id="10" name="TextBox 9"/>
          <p:cNvSpPr txBox="1"/>
          <p:nvPr/>
        </p:nvSpPr>
        <p:spPr>
          <a:xfrm>
            <a:off x="6310505" y="4016776"/>
            <a:ext cx="3158237" cy="584775"/>
          </a:xfrm>
          <a:prstGeom prst="rect">
            <a:avLst/>
          </a:prstGeom>
          <a:noFill/>
        </p:spPr>
        <p:txBody>
          <a:bodyPr wrap="none" rtlCol="0">
            <a:spAutoFit/>
          </a:bodyPr>
          <a:lstStyle/>
          <a:p>
            <a:pPr marL="285750" indent="-285750">
              <a:buFontTx/>
              <a:buChar char="-"/>
            </a:pPr>
            <a:r>
              <a:rPr lang="ko-KR" altLang="en-US" sz="1600" dirty="0"/>
              <a:t>영업비밀의 요건 충족 위한 관리</a:t>
            </a:r>
            <a:endParaRPr lang="en-US" altLang="ko-KR" sz="1600" dirty="0"/>
          </a:p>
          <a:p>
            <a:pPr marL="285750" indent="-285750">
              <a:buFontTx/>
              <a:buChar char="-"/>
            </a:pPr>
            <a:r>
              <a:rPr lang="ko-KR" altLang="en-US" sz="1600" dirty="0" err="1"/>
              <a:t>선사용권</a:t>
            </a:r>
            <a:r>
              <a:rPr lang="ko-KR" altLang="en-US" sz="1600" dirty="0"/>
              <a:t> 요건의 충족</a:t>
            </a:r>
          </a:p>
        </p:txBody>
      </p:sp>
    </p:spTree>
    <p:extLst>
      <p:ext uri="{BB962C8B-B14F-4D97-AF65-F5344CB8AC3E}">
        <p14:creationId xmlns:p14="http://schemas.microsoft.com/office/powerpoint/2010/main" val="233316473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16</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발명의 보호전략</a:t>
            </a:r>
            <a:r>
              <a:rPr lang="en-US" altLang="ko-KR" dirty="0"/>
              <a:t>: </a:t>
            </a:r>
            <a:r>
              <a:rPr lang="ko-KR" altLang="en-US" dirty="0"/>
              <a:t>공개</a:t>
            </a:r>
          </a:p>
        </p:txBody>
      </p:sp>
      <p:sp>
        <p:nvSpPr>
          <p:cNvPr id="5" name="TextBox 4"/>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발명자는 발명이 특허나 노하우로 보호가치가 없다고 판단되는 경우 발명을 공개시킬 수 있다</a:t>
            </a:r>
            <a:r>
              <a:rPr lang="en-US" altLang="ko-KR" sz="1400" dirty="0">
                <a:solidFill>
                  <a:schemeClr val="tx2"/>
                </a:solidFill>
              </a:rPr>
              <a:t>. </a:t>
            </a:r>
            <a:r>
              <a:rPr lang="ko-KR" altLang="en-US" sz="1400" dirty="0">
                <a:solidFill>
                  <a:schemeClr val="tx2"/>
                </a:solidFill>
              </a:rPr>
              <a:t>발명이 공개되어 공지기술의 지위를 가지는 경우 </a:t>
            </a:r>
            <a:r>
              <a:rPr lang="ko-KR" altLang="en-US" sz="1400" dirty="0">
                <a:solidFill>
                  <a:schemeClr val="tx2"/>
                </a:solidFill>
                <a:highlight>
                  <a:srgbClr val="FFFF00"/>
                </a:highlight>
              </a:rPr>
              <a:t>타인의 특허등록을 저지</a:t>
            </a:r>
            <a:r>
              <a:rPr lang="ko-KR" altLang="en-US" sz="1400" dirty="0">
                <a:solidFill>
                  <a:schemeClr val="tx2"/>
                </a:solidFill>
              </a:rPr>
              <a:t>시킬 수 있으며</a:t>
            </a:r>
            <a:r>
              <a:rPr lang="en-US" altLang="ko-KR" sz="1400" dirty="0">
                <a:solidFill>
                  <a:schemeClr val="tx2"/>
                </a:solidFill>
              </a:rPr>
              <a:t>, </a:t>
            </a:r>
            <a:r>
              <a:rPr lang="ko-KR" altLang="en-US" sz="1400" dirty="0">
                <a:solidFill>
                  <a:schemeClr val="tx2"/>
                </a:solidFill>
              </a:rPr>
              <a:t>착오로 타인의 특허출원이 등록되더라도 권리범위를 부정하여 발명자를 역공격하는 것을 막을 수 있다</a:t>
            </a:r>
            <a:r>
              <a:rPr lang="en-US" altLang="ko-KR" sz="1400" dirty="0">
                <a:solidFill>
                  <a:schemeClr val="tx2"/>
                </a:solidFill>
              </a:rPr>
              <a:t>. </a:t>
            </a:r>
            <a:r>
              <a:rPr lang="ko-KR" altLang="en-US" sz="1400" dirty="0">
                <a:solidFill>
                  <a:schemeClr val="tx2"/>
                </a:solidFill>
              </a:rPr>
              <a:t>즉</a:t>
            </a:r>
            <a:r>
              <a:rPr lang="en-US" altLang="ko-KR" sz="1400" dirty="0">
                <a:solidFill>
                  <a:schemeClr val="tx2"/>
                </a:solidFill>
              </a:rPr>
              <a:t>, </a:t>
            </a:r>
            <a:r>
              <a:rPr lang="ko-KR" altLang="en-US" sz="1400" dirty="0">
                <a:solidFill>
                  <a:schemeClr val="tx2"/>
                </a:solidFill>
              </a:rPr>
              <a:t>시간과 비용을 들여 특허를 확보할 의도는 없으나 타인의 특허권 행사로부터 사업상의 불이익을 받는 것을 방지하고자 하는 경우 발명의 공개를 고려해 볼 수 있다</a:t>
            </a:r>
            <a:r>
              <a:rPr lang="en-US" altLang="ko-KR" sz="1400" dirty="0">
                <a:solidFill>
                  <a:schemeClr val="tx2"/>
                </a:solidFill>
              </a:rPr>
              <a:t>. </a:t>
            </a:r>
            <a:r>
              <a:rPr lang="ko-KR" altLang="en-US" sz="1400" dirty="0">
                <a:solidFill>
                  <a:schemeClr val="tx2"/>
                </a:solidFill>
              </a:rPr>
              <a:t>실무적으로 가장 주의하여야 할 점은 타인의 특허출원 전에 공지기술의 지위를 가진다는 점을 </a:t>
            </a:r>
            <a:r>
              <a:rPr lang="ko-KR" altLang="en-US" sz="1400" dirty="0">
                <a:solidFill>
                  <a:schemeClr val="tx2"/>
                </a:solidFill>
                <a:highlight>
                  <a:srgbClr val="FFFF00"/>
                </a:highlight>
              </a:rPr>
              <a:t>발명자가 증명하여야</a:t>
            </a:r>
            <a:r>
              <a:rPr lang="ko-KR" altLang="en-US" sz="1400" dirty="0">
                <a:solidFill>
                  <a:schemeClr val="tx2"/>
                </a:solidFill>
              </a:rPr>
              <a:t> 한다는 것이다</a:t>
            </a:r>
            <a:r>
              <a:rPr lang="en-US" altLang="ko-KR" sz="1400" dirty="0">
                <a:solidFill>
                  <a:schemeClr val="tx2"/>
                </a:solidFill>
              </a:rPr>
              <a:t>. </a:t>
            </a:r>
            <a:r>
              <a:rPr lang="ko-KR" altLang="en-US" sz="1400" dirty="0">
                <a:solidFill>
                  <a:schemeClr val="tx2"/>
                </a:solidFill>
              </a:rPr>
              <a:t>따라서 발명자는 공지기술이 된 시점 및 내용을 명확하게 확인할 수 있는 방법을 강구하여야 하며</a:t>
            </a:r>
            <a:r>
              <a:rPr lang="en-US" altLang="ko-KR" sz="1400" dirty="0">
                <a:solidFill>
                  <a:schemeClr val="tx2"/>
                </a:solidFill>
              </a:rPr>
              <a:t>, </a:t>
            </a:r>
            <a:r>
              <a:rPr lang="ko-KR" altLang="en-US" sz="1400" dirty="0">
                <a:solidFill>
                  <a:schemeClr val="tx2"/>
                </a:solidFill>
                <a:highlight>
                  <a:srgbClr val="FFFF00"/>
                </a:highlight>
              </a:rPr>
              <a:t>지식재산처의 인터넷 기술공지제도를 활용</a:t>
            </a:r>
            <a:r>
              <a:rPr lang="ko-KR" altLang="en-US" sz="1400" dirty="0">
                <a:solidFill>
                  <a:schemeClr val="tx2"/>
                </a:solidFill>
              </a:rPr>
              <a:t>하는 것을 고려해 볼 수 있다</a:t>
            </a:r>
            <a:r>
              <a:rPr lang="en-US" altLang="ko-KR" sz="1400" dirty="0">
                <a:solidFill>
                  <a:schemeClr val="tx2"/>
                </a:solidFill>
              </a:rPr>
              <a:t>. </a:t>
            </a:r>
            <a:endParaRPr lang="ko-KR" altLang="en-US" sz="1400" dirty="0">
              <a:solidFill>
                <a:schemeClr val="tx2"/>
              </a:solidFill>
            </a:endParaRPr>
          </a:p>
        </p:txBody>
      </p:sp>
      <p:cxnSp>
        <p:nvCxnSpPr>
          <p:cNvPr id="6" name="직선 연결선 5"/>
          <p:cNvCxnSpPr/>
          <p:nvPr/>
        </p:nvCxnSpPr>
        <p:spPr>
          <a:xfrm>
            <a:off x="0" y="236487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19" name="Group 3"/>
          <p:cNvGraphicFramePr>
            <a:graphicFrameLocks noGrp="1"/>
          </p:cNvGraphicFramePr>
          <p:nvPr>
            <p:extLst>
              <p:ext uri="{D42A27DB-BD31-4B8C-83A1-F6EECF244321}">
                <p14:modId xmlns:p14="http://schemas.microsoft.com/office/powerpoint/2010/main" val="642051746"/>
              </p:ext>
            </p:extLst>
          </p:nvPr>
        </p:nvGraphicFramePr>
        <p:xfrm>
          <a:off x="222739" y="3030414"/>
          <a:ext cx="3557953" cy="3128961"/>
        </p:xfrm>
        <a:graphic>
          <a:graphicData uri="http://schemas.openxmlformats.org/drawingml/2006/table">
            <a:tbl>
              <a:tblPr>
                <a:tableStyleId>{5DA37D80-6434-44D0-A028-1B22A696006F}</a:tableStyleId>
              </a:tblPr>
              <a:tblGrid>
                <a:gridCol w="586153">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tblGrid>
              <a:tr h="280969">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100" b="1" u="none" strike="noStrike" cap="none" normalizeH="0" baseline="0" dirty="0">
                          <a:ln>
                            <a:noFill/>
                          </a:ln>
                          <a:solidFill>
                            <a:sysClr val="windowText" lastClr="000000"/>
                          </a:solidFill>
                          <a:effectLst/>
                        </a:rPr>
                        <a:t>항목</a:t>
                      </a:r>
                      <a:endParaRPr kumimoji="1" lang="ko-KR" altLang="en-US" sz="1100" b="1" i="0" u="none" strike="noStrike" cap="none" normalizeH="0" baseline="0" dirty="0">
                        <a:ln>
                          <a:noFill/>
                        </a:ln>
                        <a:solidFill>
                          <a:sysClr val="windowText" lastClr="000000"/>
                        </a:solidFill>
                        <a:effectLst/>
                        <a:latin typeface="Rix모던고딕 L" panose="02020603020101020101" pitchFamily="18" charset="-127"/>
                        <a:ea typeface="Rix모던고딕 L" panose="02020603020101020101" pitchFamily="18" charset="-127"/>
                      </a:endParaRPr>
                    </a:p>
                  </a:txBody>
                  <a:tcPr marL="121941" marR="12194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100" b="1" u="none" strike="noStrike" cap="none" normalizeH="0" baseline="0" dirty="0">
                          <a:ln>
                            <a:noFill/>
                          </a:ln>
                          <a:solidFill>
                            <a:sysClr val="windowText" lastClr="000000"/>
                          </a:solidFill>
                          <a:effectLst/>
                        </a:rPr>
                        <a:t>내용</a:t>
                      </a:r>
                      <a:endParaRPr kumimoji="1" lang="ko-KR" altLang="en-US" sz="1100" b="1" i="0" u="none" strike="noStrike" cap="none" normalizeH="0" baseline="0" dirty="0">
                        <a:ln>
                          <a:noFill/>
                        </a:ln>
                        <a:solidFill>
                          <a:sysClr val="windowText" lastClr="000000"/>
                        </a:solidFill>
                        <a:effectLst/>
                        <a:latin typeface="Rix모던고딕 L" panose="02020603020101020101" pitchFamily="18" charset="-127"/>
                        <a:ea typeface="Rix모던고딕 L" panose="02020603020101020101" pitchFamily="18" charset="-127"/>
                      </a:endParaRPr>
                    </a:p>
                  </a:txBody>
                  <a:tcPr marL="121941" marR="12194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1370021">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100" u="none" strike="noStrike" cap="none" normalizeH="0" baseline="0" dirty="0">
                          <a:ln>
                            <a:noFill/>
                          </a:ln>
                          <a:effectLst/>
                        </a:rPr>
                        <a:t>이용</a:t>
                      </a:r>
                    </a:p>
                    <a:p>
                      <a:pPr marL="0" marR="0" lvl="0" indent="0" algn="ctr" defTabSz="914400" rtl="0" eaLnBrk="0" fontAlgn="base" latinLnBrk="1" hangingPunct="0">
                        <a:lnSpc>
                          <a:spcPct val="100000"/>
                        </a:lnSpc>
                        <a:spcBef>
                          <a:spcPct val="0"/>
                        </a:spcBef>
                        <a:spcAft>
                          <a:spcPct val="30000"/>
                        </a:spcAft>
                        <a:buClrTx/>
                        <a:buSzTx/>
                        <a:buFontTx/>
                        <a:buNone/>
                        <a:tabLst/>
                      </a:pPr>
                      <a:r>
                        <a:rPr kumimoji="1" lang="ko-KR" altLang="en-US" sz="1100" u="none" strike="noStrike" cap="none" normalizeH="0" baseline="0" dirty="0">
                          <a:ln>
                            <a:noFill/>
                          </a:ln>
                          <a:effectLst/>
                        </a:rPr>
                        <a:t>효과</a:t>
                      </a:r>
                      <a:endParaRPr kumimoji="1" lang="ko-KR" altLang="en-US" sz="1100" b="0" i="0" u="none" strike="noStrike" cap="none" normalizeH="0" baseline="0" dirty="0">
                        <a:ln>
                          <a:noFill/>
                        </a:ln>
                        <a:solidFill>
                          <a:srgbClr val="4D4D4D"/>
                        </a:solidFill>
                        <a:effectLst/>
                        <a:latin typeface="Rix모던고딕 L" panose="02020603020101020101" pitchFamily="18" charset="-127"/>
                        <a:ea typeface="Rix모던고딕 L" panose="02020603020101020101" pitchFamily="18" charset="-127"/>
                      </a:endParaRPr>
                    </a:p>
                  </a:txBody>
                  <a:tcPr marL="121941" marR="12194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just" defTabSz="914400" rtl="0" eaLnBrk="1" fontAlgn="base" latinLnBrk="1" hangingPunct="1">
                        <a:lnSpc>
                          <a:spcPct val="100000"/>
                        </a:lnSpc>
                        <a:spcBef>
                          <a:spcPct val="0"/>
                        </a:spcBef>
                        <a:spcAft>
                          <a:spcPct val="30000"/>
                        </a:spcAft>
                        <a:buClr>
                          <a:schemeClr val="accent6">
                            <a:lumMod val="50000"/>
                          </a:schemeClr>
                        </a:buClr>
                        <a:buSzTx/>
                        <a:buFont typeface="Arial" pitchFamily="34" charset="0"/>
                        <a:buChar char="•"/>
                        <a:tabLst/>
                      </a:pPr>
                      <a:r>
                        <a:rPr kumimoji="1" lang="en-US" altLang="ko-KR" sz="1100" u="none" strike="noStrike" cap="none" normalizeH="0" baseline="0" dirty="0">
                          <a:ln>
                            <a:noFill/>
                          </a:ln>
                          <a:effectLst/>
                        </a:rPr>
                        <a:t> </a:t>
                      </a:r>
                      <a:r>
                        <a:rPr kumimoji="1" lang="ko-KR" altLang="en-US" sz="1100" u="none" strike="noStrike" cap="none" normalizeH="0" baseline="0" dirty="0">
                          <a:ln>
                            <a:noFill/>
                          </a:ln>
                          <a:effectLst/>
                        </a:rPr>
                        <a:t>방어목적</a:t>
                      </a:r>
                      <a:r>
                        <a:rPr kumimoji="1" lang="en-US" altLang="ko-KR" sz="1100" u="none" strike="noStrike" cap="none" normalizeH="0" baseline="0" dirty="0">
                          <a:ln>
                            <a:noFill/>
                          </a:ln>
                          <a:effectLst/>
                        </a:rPr>
                        <a:t>(</a:t>
                      </a:r>
                      <a:r>
                        <a:rPr kumimoji="1" lang="ko-KR" altLang="en-US" sz="1100" u="none" strike="noStrike" cap="none" normalizeH="0" baseline="0" dirty="0">
                          <a:ln>
                            <a:noFill/>
                          </a:ln>
                          <a:effectLst/>
                        </a:rPr>
                        <a:t>타인의 등록저지</a:t>
                      </a:r>
                      <a:r>
                        <a:rPr kumimoji="1" lang="en-US" altLang="ko-KR" sz="1100" u="none" strike="noStrike" cap="none" normalizeH="0" baseline="0" dirty="0">
                          <a:ln>
                            <a:noFill/>
                          </a:ln>
                          <a:effectLst/>
                        </a:rPr>
                        <a:t>)</a:t>
                      </a:r>
                      <a:r>
                        <a:rPr kumimoji="1" lang="ko-KR" altLang="en-US" sz="1100" u="none" strike="noStrike" cap="none" normalizeH="0" baseline="0" dirty="0">
                          <a:ln>
                            <a:noFill/>
                          </a:ln>
                          <a:effectLst/>
                        </a:rPr>
                        <a:t>의 출원을 하는 경우 </a:t>
                      </a:r>
                    </a:p>
                    <a:p>
                      <a:pPr marL="87313" marR="0" lvl="0" indent="-87313" algn="just" defTabSz="914400" rtl="0" eaLnBrk="0" fontAlgn="base" latinLnBrk="1" hangingPunct="0">
                        <a:lnSpc>
                          <a:spcPct val="100000"/>
                        </a:lnSpc>
                        <a:spcBef>
                          <a:spcPct val="0"/>
                        </a:spcBef>
                        <a:spcAft>
                          <a:spcPct val="30000"/>
                        </a:spcAft>
                        <a:buClr>
                          <a:schemeClr val="accent6">
                            <a:lumMod val="50000"/>
                          </a:schemeClr>
                        </a:buClr>
                        <a:buSzTx/>
                        <a:buFont typeface="Arial" pitchFamily="34" charset="0"/>
                        <a:buChar char="•"/>
                        <a:tabLst/>
                      </a:pPr>
                      <a:r>
                        <a:rPr kumimoji="1" lang="ko-KR" altLang="en-US" sz="1100" u="none" strike="noStrike" cap="none" normalizeH="0" baseline="0" dirty="0">
                          <a:ln>
                            <a:noFill/>
                          </a:ln>
                          <a:effectLst/>
                        </a:rPr>
                        <a:t>법적 대응을 위해 공증기관의 공증을 받고자 하는 경우</a:t>
                      </a:r>
                    </a:p>
                    <a:p>
                      <a:pPr marL="0" marR="0" lvl="0" indent="0" algn="just" defTabSz="914400" rtl="0" eaLnBrk="0" fontAlgn="base" latinLnBrk="1" hangingPunct="0">
                        <a:lnSpc>
                          <a:spcPct val="100000"/>
                        </a:lnSpc>
                        <a:spcBef>
                          <a:spcPct val="0"/>
                        </a:spcBef>
                        <a:spcAft>
                          <a:spcPct val="30000"/>
                        </a:spcAft>
                        <a:buClr>
                          <a:schemeClr val="accent6">
                            <a:lumMod val="50000"/>
                          </a:schemeClr>
                        </a:buClr>
                        <a:buSzTx/>
                        <a:buFont typeface="Arial" pitchFamily="34" charset="0"/>
                        <a:buChar char="•"/>
                        <a:tabLst/>
                      </a:pPr>
                      <a:r>
                        <a:rPr kumimoji="1" lang="ko-KR" altLang="en-US" sz="1100" u="none" strike="noStrike" cap="none" normalizeH="0" baseline="0" dirty="0">
                          <a:ln>
                            <a:noFill/>
                          </a:ln>
                          <a:effectLst/>
                        </a:rPr>
                        <a:t> 연구개발을 위해 기술동향이 필요한 경우</a:t>
                      </a:r>
                      <a:endParaRPr kumimoji="1" lang="en-US" altLang="ko-KR" sz="1100" u="none" strike="noStrike" cap="none" normalizeH="0" baseline="0" dirty="0">
                        <a:ln>
                          <a:noFill/>
                        </a:ln>
                        <a:effectLst/>
                      </a:endParaRPr>
                    </a:p>
                    <a:p>
                      <a:pPr marL="0" marR="0" lvl="0" indent="0" algn="just" defTabSz="914400" rtl="0" eaLnBrk="0" fontAlgn="base" latinLnBrk="1" hangingPunct="0">
                        <a:lnSpc>
                          <a:spcPct val="100000"/>
                        </a:lnSpc>
                        <a:spcBef>
                          <a:spcPct val="0"/>
                        </a:spcBef>
                        <a:spcAft>
                          <a:spcPct val="30000"/>
                        </a:spcAft>
                        <a:buClr>
                          <a:schemeClr val="accent6">
                            <a:lumMod val="50000"/>
                          </a:schemeClr>
                        </a:buClr>
                        <a:buSzTx/>
                        <a:buFont typeface="Arial" pitchFamily="34" charset="0"/>
                        <a:buChar char="•"/>
                        <a:tabLst/>
                      </a:pPr>
                      <a:r>
                        <a:rPr kumimoji="1" lang="en-US" altLang="ko-KR" sz="1100" b="0" i="0" u="none" strike="noStrike" cap="none" normalizeH="0" baseline="0" dirty="0">
                          <a:ln>
                            <a:noFill/>
                          </a:ln>
                          <a:solidFill>
                            <a:schemeClr val="tx1"/>
                          </a:solidFill>
                          <a:effectLst/>
                          <a:latin typeface="+mn-ea"/>
                          <a:ea typeface="+mn-ea"/>
                        </a:rPr>
                        <a:t> </a:t>
                      </a:r>
                      <a:r>
                        <a:rPr kumimoji="1" lang="ko-KR" altLang="en-US" sz="1100" b="0" i="0" u="none" strike="noStrike" cap="none" normalizeH="0" baseline="0" dirty="0">
                          <a:ln>
                            <a:noFill/>
                          </a:ln>
                          <a:solidFill>
                            <a:schemeClr val="tx1"/>
                          </a:solidFill>
                          <a:effectLst/>
                          <a:latin typeface="+mn-ea"/>
                          <a:ea typeface="+mn-ea"/>
                        </a:rPr>
                        <a:t>타인의 특허에 대한 권리범위의 부정</a:t>
                      </a:r>
                    </a:p>
                  </a:txBody>
                  <a:tcPr marL="121941" marR="12194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738192">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100" u="none" strike="noStrike" cap="none" normalizeH="0" baseline="0" dirty="0">
                          <a:ln>
                            <a:noFill/>
                          </a:ln>
                          <a:effectLst/>
                        </a:rPr>
                        <a:t>이용</a:t>
                      </a:r>
                    </a:p>
                    <a:p>
                      <a:pPr marL="0" marR="0" lvl="0" indent="0" algn="ctr" defTabSz="914400" rtl="0" eaLnBrk="0" fontAlgn="base" latinLnBrk="1" hangingPunct="0">
                        <a:lnSpc>
                          <a:spcPct val="100000"/>
                        </a:lnSpc>
                        <a:spcBef>
                          <a:spcPct val="0"/>
                        </a:spcBef>
                        <a:spcAft>
                          <a:spcPct val="30000"/>
                        </a:spcAft>
                        <a:buClrTx/>
                        <a:buSzTx/>
                        <a:buFontTx/>
                        <a:buNone/>
                        <a:tabLst/>
                      </a:pPr>
                      <a:r>
                        <a:rPr kumimoji="1" lang="ko-KR" altLang="en-US" sz="1100" u="none" strike="noStrike" cap="none" normalizeH="0" baseline="0" dirty="0">
                          <a:ln>
                            <a:noFill/>
                          </a:ln>
                          <a:effectLst/>
                        </a:rPr>
                        <a:t>제한</a:t>
                      </a:r>
                      <a:endParaRPr kumimoji="1" lang="ko-KR" altLang="en-US" sz="1100" b="0" i="0" u="none" strike="noStrike" cap="none" normalizeH="0" baseline="0" dirty="0">
                        <a:ln>
                          <a:noFill/>
                        </a:ln>
                        <a:solidFill>
                          <a:srgbClr val="4D4D4D"/>
                        </a:solidFill>
                        <a:effectLst/>
                        <a:latin typeface="Rix모던고딕 L" panose="02020603020101020101" pitchFamily="18" charset="-127"/>
                        <a:ea typeface="Rix모던고딕 L" panose="02020603020101020101" pitchFamily="18" charset="-127"/>
                      </a:endParaRPr>
                    </a:p>
                  </a:txBody>
                  <a:tcPr marL="121941" marR="12194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87313" marR="0" lvl="0" indent="-87313" algn="just" defTabSz="914400" rtl="0" eaLnBrk="1" fontAlgn="base" latinLnBrk="1" hangingPunct="1">
                        <a:lnSpc>
                          <a:spcPct val="100000"/>
                        </a:lnSpc>
                        <a:spcBef>
                          <a:spcPct val="0"/>
                        </a:spcBef>
                        <a:spcAft>
                          <a:spcPct val="30000"/>
                        </a:spcAft>
                        <a:buClr>
                          <a:schemeClr val="accent6">
                            <a:lumMod val="50000"/>
                          </a:schemeClr>
                        </a:buClr>
                        <a:buSzTx/>
                        <a:buFont typeface="Arial" pitchFamily="34" charset="0"/>
                        <a:buChar char="•"/>
                        <a:tabLst/>
                      </a:pPr>
                      <a:r>
                        <a:rPr kumimoji="1" lang="ko-KR" altLang="en-US" sz="1100" u="none" strike="noStrike" cap="none" normalizeH="0" baseline="0" dirty="0">
                          <a:ln>
                            <a:noFill/>
                          </a:ln>
                          <a:effectLst/>
                        </a:rPr>
                        <a:t>출원절차를 밟아 특허권 행사를 하고자 하는 경우 </a:t>
                      </a:r>
                    </a:p>
                    <a:p>
                      <a:pPr marL="0" marR="0" lvl="0" indent="0" algn="just" defTabSz="914400" rtl="0" eaLnBrk="0" fontAlgn="base" latinLnBrk="1" hangingPunct="0">
                        <a:lnSpc>
                          <a:spcPct val="100000"/>
                        </a:lnSpc>
                        <a:spcBef>
                          <a:spcPct val="0"/>
                        </a:spcBef>
                        <a:spcAft>
                          <a:spcPct val="30000"/>
                        </a:spcAft>
                        <a:buClr>
                          <a:schemeClr val="accent6">
                            <a:lumMod val="50000"/>
                          </a:schemeClr>
                        </a:buClr>
                        <a:buSzTx/>
                        <a:buFont typeface="Arial" pitchFamily="34" charset="0"/>
                        <a:buChar char="•"/>
                        <a:tabLst/>
                      </a:pPr>
                      <a:r>
                        <a:rPr kumimoji="1" lang="ko-KR" altLang="en-US" sz="1100" u="none" strike="noStrike" cap="none" normalizeH="0" baseline="0" dirty="0">
                          <a:ln>
                            <a:noFill/>
                          </a:ln>
                          <a:effectLst/>
                        </a:rPr>
                        <a:t> 영업비밀로 보호해야 될 기술에 해당되는 경우 </a:t>
                      </a:r>
                      <a:endParaRPr kumimoji="1" lang="ko-KR" altLang="en-US" sz="1100" b="0" i="0" u="none" strike="noStrike" cap="none" normalizeH="0" baseline="0" dirty="0">
                        <a:ln>
                          <a:noFill/>
                        </a:ln>
                        <a:solidFill>
                          <a:srgbClr val="4D4D4D"/>
                        </a:solidFill>
                        <a:effectLst/>
                        <a:latin typeface="Rix모던고딕 L" panose="02020603020101020101" pitchFamily="18" charset="-127"/>
                        <a:ea typeface="Rix모던고딕 L" panose="02020603020101020101" pitchFamily="18" charset="-127"/>
                      </a:endParaRPr>
                    </a:p>
                  </a:txBody>
                  <a:tcPr marL="121941" marR="12194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739779">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100" u="none" strike="noStrike" cap="none" normalizeH="0" baseline="0" dirty="0">
                          <a:ln>
                            <a:noFill/>
                          </a:ln>
                          <a:effectLst/>
                        </a:rPr>
                        <a:t>이용</a:t>
                      </a:r>
                    </a:p>
                    <a:p>
                      <a:pPr marL="0" marR="0" lvl="0" indent="0" algn="ctr" defTabSz="914400" rtl="0" eaLnBrk="0" fontAlgn="base" latinLnBrk="1" hangingPunct="0">
                        <a:lnSpc>
                          <a:spcPct val="100000"/>
                        </a:lnSpc>
                        <a:spcBef>
                          <a:spcPct val="0"/>
                        </a:spcBef>
                        <a:spcAft>
                          <a:spcPct val="30000"/>
                        </a:spcAft>
                        <a:buClrTx/>
                        <a:buSzTx/>
                        <a:buFontTx/>
                        <a:buNone/>
                        <a:tabLst/>
                      </a:pPr>
                      <a:r>
                        <a:rPr kumimoji="1" lang="ko-KR" altLang="en-US" sz="1100" u="none" strike="noStrike" cap="none" normalizeH="0" baseline="0" dirty="0">
                          <a:ln>
                            <a:noFill/>
                          </a:ln>
                          <a:effectLst/>
                        </a:rPr>
                        <a:t>절차</a:t>
                      </a:r>
                      <a:endParaRPr kumimoji="1" lang="ko-KR" altLang="en-US" sz="1100" b="0" i="0" u="none" strike="noStrike" cap="none" normalizeH="0" baseline="0" dirty="0">
                        <a:ln>
                          <a:noFill/>
                        </a:ln>
                        <a:solidFill>
                          <a:srgbClr val="4D4D4D"/>
                        </a:solidFill>
                        <a:effectLst/>
                        <a:latin typeface="Rix모던고딕 L" panose="02020603020101020101" pitchFamily="18" charset="-127"/>
                        <a:ea typeface="Rix모던고딕 L" panose="02020603020101020101" pitchFamily="18" charset="-127"/>
                      </a:endParaRPr>
                    </a:p>
                  </a:txBody>
                  <a:tcPr marL="121941" marR="12194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90488" marR="0" lvl="0" indent="-90488" algn="just" defTabSz="914400" rtl="0" eaLnBrk="1" fontAlgn="base" latinLnBrk="1" hangingPunct="1">
                        <a:lnSpc>
                          <a:spcPct val="100000"/>
                        </a:lnSpc>
                        <a:spcBef>
                          <a:spcPct val="0"/>
                        </a:spcBef>
                        <a:spcAft>
                          <a:spcPct val="30000"/>
                        </a:spcAft>
                        <a:buClr>
                          <a:schemeClr val="accent6">
                            <a:lumMod val="50000"/>
                          </a:schemeClr>
                        </a:buClr>
                        <a:buSzTx/>
                        <a:buFont typeface="Arial" pitchFamily="34" charset="0"/>
                        <a:buChar char="•"/>
                        <a:tabLst/>
                      </a:pPr>
                      <a:r>
                        <a:rPr kumimoji="1" lang="ko-KR" altLang="en-US" sz="1100" u="none" strike="noStrike" cap="none" normalizeH="0" baseline="0" dirty="0">
                          <a:ln>
                            <a:noFill/>
                          </a:ln>
                          <a:effectLst/>
                        </a:rPr>
                        <a:t>지식재산처 사이트에 접속한 후 사이버 공지를 신청하고 공지자료실에 공개를 원하는 기술내용을 등록하면 됨</a:t>
                      </a:r>
                      <a:endParaRPr kumimoji="1" lang="ko-KR" altLang="en-US" sz="1100" b="0" i="0" u="none" strike="noStrike" cap="none" normalizeH="0" baseline="0" dirty="0">
                        <a:ln>
                          <a:noFill/>
                        </a:ln>
                        <a:solidFill>
                          <a:srgbClr val="4D4D4D"/>
                        </a:solidFill>
                        <a:effectLst/>
                        <a:latin typeface="Rix모던고딕 L" panose="02020603020101020101" pitchFamily="18" charset="-127"/>
                        <a:ea typeface="Rix모던고딕 L" panose="02020603020101020101" pitchFamily="18" charset="-127"/>
                      </a:endParaRPr>
                    </a:p>
                  </a:txBody>
                  <a:tcPr marL="121941" marR="12194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99225" y="2371041"/>
            <a:ext cx="4188117" cy="44166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98350" y="2558560"/>
            <a:ext cx="3544033" cy="40726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1659881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슬라이드 번호 개체 틀 6"/>
          <p:cNvSpPr>
            <a:spLocks noGrp="1"/>
          </p:cNvSpPr>
          <p:nvPr>
            <p:ph type="sldNum" sz="quarter" idx="12"/>
          </p:nvPr>
        </p:nvSpPr>
        <p:spPr/>
        <p:txBody>
          <a:bodyPr/>
          <a:lstStyle/>
          <a:p>
            <a:fld id="{3875FC6C-1516-4DC4-8C58-3090F7D4F003}" type="slidenum">
              <a:rPr lang="ko-KR" altLang="en-US" smtClean="0"/>
              <a:t>17</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발명의 보호전략</a:t>
            </a:r>
            <a:r>
              <a:rPr lang="en-US" altLang="ko-KR" dirty="0"/>
              <a:t>: </a:t>
            </a:r>
            <a:r>
              <a:rPr lang="ko-KR" altLang="en-US" dirty="0"/>
              <a:t>노하우</a:t>
            </a:r>
          </a:p>
        </p:txBody>
      </p:sp>
      <p:sp>
        <p:nvSpPr>
          <p:cNvPr id="5" name="TextBox 4"/>
          <p:cNvSpPr txBox="1"/>
          <p:nvPr/>
        </p:nvSpPr>
        <p:spPr>
          <a:xfrm>
            <a:off x="77875" y="986046"/>
            <a:ext cx="11936323" cy="1384995"/>
          </a:xfrm>
          <a:prstGeom prst="rect">
            <a:avLst/>
          </a:prstGeom>
          <a:noFill/>
        </p:spPr>
        <p:txBody>
          <a:bodyPr wrap="square" rtlCol="0">
            <a:spAutoFit/>
          </a:bodyPr>
          <a:lstStyle/>
          <a:p>
            <a:pPr fontAlgn="base"/>
            <a:r>
              <a:rPr lang="ko-KR" altLang="en-US" sz="1400" dirty="0">
                <a:solidFill>
                  <a:schemeClr val="tx2"/>
                </a:solidFill>
              </a:rPr>
              <a:t>발명의 보호가치는 있으나 특허로 보호하기에는 적당하지 않는 경우가 있다</a:t>
            </a:r>
            <a:r>
              <a:rPr lang="en-US" altLang="ko-KR" sz="1400" dirty="0">
                <a:solidFill>
                  <a:schemeClr val="tx2"/>
                </a:solidFill>
              </a:rPr>
              <a:t>. </a:t>
            </a:r>
            <a:r>
              <a:rPr lang="ko-KR" altLang="en-US" sz="1400" dirty="0">
                <a:solidFill>
                  <a:schemeClr val="tx2"/>
                </a:solidFill>
              </a:rPr>
              <a:t>예를 들어</a:t>
            </a:r>
            <a:r>
              <a:rPr lang="en-US" altLang="ko-KR" sz="1400" dirty="0">
                <a:solidFill>
                  <a:schemeClr val="tx2"/>
                </a:solidFill>
              </a:rPr>
              <a:t>, </a:t>
            </a:r>
            <a:r>
              <a:rPr lang="ko-KR" altLang="en-US" sz="1400" dirty="0">
                <a:solidFill>
                  <a:schemeClr val="tx2"/>
                </a:solidFill>
              </a:rPr>
              <a:t>특허권을 행사하기 위해서는 침해 피의자의 실시가 특허권의 침해라는 것을 특허권자가 증명을 하여야 하는데</a:t>
            </a:r>
            <a:r>
              <a:rPr lang="en-US" altLang="ko-KR" sz="1400" dirty="0">
                <a:solidFill>
                  <a:schemeClr val="tx2"/>
                </a:solidFill>
              </a:rPr>
              <a:t>, </a:t>
            </a:r>
            <a:r>
              <a:rPr lang="ko-KR" altLang="en-US" sz="1400" dirty="0">
                <a:solidFill>
                  <a:schemeClr val="tx2"/>
                </a:solidFill>
              </a:rPr>
              <a:t>제조방법의 경우 제품에 녹아 있기 때문에 실제로 제품이 특허를 받은 제조방법에 의하여 생산되었는지 증명하기가 쉽지 않을 수 있다</a:t>
            </a:r>
            <a:r>
              <a:rPr lang="en-US" altLang="ko-KR" sz="1400" dirty="0">
                <a:solidFill>
                  <a:schemeClr val="tx2"/>
                </a:solidFill>
              </a:rPr>
              <a:t>. </a:t>
            </a:r>
            <a:r>
              <a:rPr lang="ko-KR" altLang="en-US" sz="1400" dirty="0">
                <a:solidFill>
                  <a:schemeClr val="tx2"/>
                </a:solidFill>
              </a:rPr>
              <a:t>이 경우 발명자는 발명을 공개시키지 않음으로써 노하우로 보호하는 것을 고려해 볼 수 있다</a:t>
            </a:r>
            <a:r>
              <a:rPr lang="en-US" altLang="ko-KR" sz="1400" dirty="0">
                <a:solidFill>
                  <a:schemeClr val="tx2"/>
                </a:solidFill>
              </a:rPr>
              <a:t>. </a:t>
            </a:r>
            <a:r>
              <a:rPr lang="ko-KR" altLang="en-US" sz="1400" dirty="0">
                <a:solidFill>
                  <a:schemeClr val="tx2"/>
                </a:solidFill>
              </a:rPr>
              <a:t>특허는 </a:t>
            </a:r>
            <a:r>
              <a:rPr lang="ko-KR" altLang="en-US" sz="1400" dirty="0">
                <a:solidFill>
                  <a:schemeClr val="tx2"/>
                </a:solidFill>
                <a:highlight>
                  <a:srgbClr val="FFFF00"/>
                </a:highlight>
              </a:rPr>
              <a:t>일정기간 경과 이후에 일반 공중이 이를 자유롭게 사용할 수 있도록 공개하는 조건으로 국가가 강력한 보호수단을 제공</a:t>
            </a:r>
            <a:r>
              <a:rPr lang="ko-KR" altLang="en-US" sz="1400" dirty="0">
                <a:solidFill>
                  <a:schemeClr val="tx2"/>
                </a:solidFill>
              </a:rPr>
              <a:t>하는 것을 말하며</a:t>
            </a:r>
            <a:r>
              <a:rPr lang="en-US" altLang="ko-KR" sz="1400" dirty="0">
                <a:solidFill>
                  <a:schemeClr val="tx2"/>
                </a:solidFill>
              </a:rPr>
              <a:t>, </a:t>
            </a:r>
            <a:r>
              <a:rPr lang="ko-KR" altLang="en-US" sz="1400" dirty="0">
                <a:solidFill>
                  <a:schemeClr val="tx2"/>
                </a:solidFill>
              </a:rPr>
              <a:t>국가는 이를 통하여 산업발전에 이바지라는 목적을 실현할 수 있다</a:t>
            </a:r>
            <a:r>
              <a:rPr lang="en-US" altLang="ko-KR" sz="1400" dirty="0">
                <a:solidFill>
                  <a:schemeClr val="tx2"/>
                </a:solidFill>
              </a:rPr>
              <a:t>. </a:t>
            </a:r>
            <a:r>
              <a:rPr lang="ko-KR" altLang="en-US" sz="1400" dirty="0">
                <a:solidFill>
                  <a:schemeClr val="tx2"/>
                </a:solidFill>
              </a:rPr>
              <a:t>반면 노하우는 이를 보유하고 있는 자 스스로가 적극적으로 비밀로서 유지</a:t>
            </a:r>
            <a:r>
              <a:rPr lang="en-US" altLang="ko-KR" sz="1400" dirty="0">
                <a:solidFill>
                  <a:schemeClr val="tx2"/>
                </a:solidFill>
              </a:rPr>
              <a:t>·</a:t>
            </a:r>
            <a:r>
              <a:rPr lang="ko-KR" altLang="en-US" sz="1400" dirty="0">
                <a:solidFill>
                  <a:schemeClr val="tx2"/>
                </a:solidFill>
              </a:rPr>
              <a:t>관리할 것이 요구되며</a:t>
            </a:r>
            <a:r>
              <a:rPr lang="en-US" altLang="ko-KR" sz="1400" dirty="0">
                <a:solidFill>
                  <a:schemeClr val="tx2"/>
                </a:solidFill>
              </a:rPr>
              <a:t>, </a:t>
            </a:r>
            <a:r>
              <a:rPr lang="ko-KR" altLang="en-US" sz="1400" dirty="0">
                <a:solidFill>
                  <a:schemeClr val="tx2"/>
                </a:solidFill>
                <a:highlight>
                  <a:srgbClr val="FFFF00"/>
                </a:highlight>
              </a:rPr>
              <a:t>국가는 노하우가 영업비밀에 해당할 때 이를 부정한 수단에 의하여 취득하거나 부정공개행위를 한 경우에만 보호</a:t>
            </a:r>
            <a:r>
              <a:rPr lang="ko-KR" altLang="en-US" sz="1400" dirty="0">
                <a:solidFill>
                  <a:schemeClr val="tx2"/>
                </a:solidFill>
              </a:rPr>
              <a:t>해주고 있다</a:t>
            </a:r>
            <a:r>
              <a:rPr lang="en-US" altLang="ko-KR" sz="1400" dirty="0">
                <a:solidFill>
                  <a:schemeClr val="tx2"/>
                </a:solidFill>
              </a:rPr>
              <a:t>. </a:t>
            </a:r>
            <a:endParaRPr lang="ko-KR" altLang="en-US" sz="1400" dirty="0">
              <a:solidFill>
                <a:schemeClr val="tx2"/>
              </a:solidFill>
            </a:endParaRPr>
          </a:p>
        </p:txBody>
      </p:sp>
      <p:cxnSp>
        <p:nvCxnSpPr>
          <p:cNvPr id="6" name="직선 연결선 5"/>
          <p:cNvCxnSpPr/>
          <p:nvPr/>
        </p:nvCxnSpPr>
        <p:spPr>
          <a:xfrm>
            <a:off x="0" y="236487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2" name="표 1"/>
          <p:cNvGraphicFramePr>
            <a:graphicFrameLocks noGrp="1"/>
          </p:cNvGraphicFramePr>
          <p:nvPr>
            <p:extLst>
              <p:ext uri="{D42A27DB-BD31-4B8C-83A1-F6EECF244321}">
                <p14:modId xmlns:p14="http://schemas.microsoft.com/office/powerpoint/2010/main" val="3336246693"/>
              </p:ext>
            </p:extLst>
          </p:nvPr>
        </p:nvGraphicFramePr>
        <p:xfrm>
          <a:off x="720969" y="2884748"/>
          <a:ext cx="10709031" cy="3357429"/>
        </p:xfrm>
        <a:graphic>
          <a:graphicData uri="http://schemas.openxmlformats.org/drawingml/2006/table">
            <a:tbl>
              <a:tblPr>
                <a:tableStyleId>{8799B23B-EC83-4686-B30A-512413B5E67A}</a:tableStyleId>
              </a:tblPr>
              <a:tblGrid>
                <a:gridCol w="1744106">
                  <a:extLst>
                    <a:ext uri="{9D8B030D-6E8A-4147-A177-3AD203B41FA5}">
                      <a16:colId xmlns:a16="http://schemas.microsoft.com/office/drawing/2014/main" val="20000"/>
                    </a:ext>
                  </a:extLst>
                </a:gridCol>
                <a:gridCol w="4104409">
                  <a:extLst>
                    <a:ext uri="{9D8B030D-6E8A-4147-A177-3AD203B41FA5}">
                      <a16:colId xmlns:a16="http://schemas.microsoft.com/office/drawing/2014/main" val="20001"/>
                    </a:ext>
                  </a:extLst>
                </a:gridCol>
                <a:gridCol w="4860516">
                  <a:extLst>
                    <a:ext uri="{9D8B030D-6E8A-4147-A177-3AD203B41FA5}">
                      <a16:colId xmlns:a16="http://schemas.microsoft.com/office/drawing/2014/main" val="20002"/>
                    </a:ext>
                  </a:extLst>
                </a:gridCol>
              </a:tblGrid>
              <a:tr h="327810">
                <a:tc>
                  <a:txBody>
                    <a:bodyPr/>
                    <a:lstStyle/>
                    <a:p>
                      <a:pPr marL="0" marR="0" indent="0" algn="ctr" fontAlgn="base" latinLnBrk="0">
                        <a:lnSpc>
                          <a:spcPct val="100000"/>
                        </a:lnSpc>
                        <a:spcBef>
                          <a:spcPts val="0"/>
                        </a:spcBef>
                        <a:spcAft>
                          <a:spcPts val="0"/>
                        </a:spcAft>
                      </a:pPr>
                      <a:r>
                        <a:rPr lang="ko-KR" altLang="en-US" sz="1400" kern="1200" dirty="0"/>
                        <a:t>구 분</a:t>
                      </a:r>
                      <a:endParaRPr lang="ko-KR" altLang="en-US" sz="1400" b="1" kern="1200" dirty="0">
                        <a:solidFill>
                          <a:schemeClr val="tx2"/>
                        </a:solidFill>
                        <a:latin typeface="+mn-lt"/>
                        <a:ea typeface="+mn-ea"/>
                        <a:cs typeface="+mn-cs"/>
                      </a:endParaRPr>
                    </a:p>
                  </a:txBody>
                  <a:tcPr marL="72136" marR="72136" marT="36068" marB="36068"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400" kern="1200" dirty="0" err="1"/>
                        <a:t>특</a:t>
                      </a:r>
                      <a:r>
                        <a:rPr lang="ko-KR" altLang="en-US" sz="1400" kern="1200" dirty="0"/>
                        <a:t> 허</a:t>
                      </a:r>
                      <a:endParaRPr lang="ko-KR" altLang="en-US" sz="1400" b="1" kern="1200" dirty="0">
                        <a:solidFill>
                          <a:schemeClr val="tx2"/>
                        </a:solidFill>
                        <a:latin typeface="+mn-lt"/>
                        <a:ea typeface="+mn-ea"/>
                        <a:cs typeface="+mn-cs"/>
                      </a:endParaRPr>
                    </a:p>
                  </a:txBody>
                  <a:tcPr marL="72136" marR="72136" marT="36068" marB="36068"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400" kern="1200" dirty="0"/>
                        <a:t>노 하 우</a:t>
                      </a:r>
                      <a:endParaRPr lang="ko-KR" altLang="en-US" sz="1400" b="1" kern="1200" dirty="0">
                        <a:solidFill>
                          <a:schemeClr val="tx2"/>
                        </a:solidFill>
                        <a:latin typeface="+mn-lt"/>
                        <a:ea typeface="+mn-ea"/>
                        <a:cs typeface="+mn-cs"/>
                      </a:endParaRPr>
                    </a:p>
                  </a:txBody>
                  <a:tcPr marL="72136" marR="72136" marT="36068" marB="36068" anchor="ctr">
                    <a:solidFill>
                      <a:schemeClr val="accent1">
                        <a:lumMod val="20000"/>
                        <a:lumOff val="80000"/>
                      </a:schemeClr>
                    </a:solidFill>
                  </a:tcPr>
                </a:tc>
                <a:extLst>
                  <a:ext uri="{0D108BD9-81ED-4DB2-BD59-A6C34878D82A}">
                    <a16:rowId xmlns:a16="http://schemas.microsoft.com/office/drawing/2014/main" val="10000"/>
                  </a:ext>
                </a:extLst>
              </a:tr>
              <a:tr h="327810">
                <a:tc>
                  <a:txBody>
                    <a:bodyPr/>
                    <a:lstStyle/>
                    <a:p>
                      <a:pPr marL="0" marR="0" indent="0" algn="ctr" fontAlgn="base" latinLnBrk="0">
                        <a:lnSpc>
                          <a:spcPct val="100000"/>
                        </a:lnSpc>
                        <a:spcBef>
                          <a:spcPts val="0"/>
                        </a:spcBef>
                        <a:spcAft>
                          <a:spcPts val="0"/>
                        </a:spcAft>
                      </a:pPr>
                      <a:r>
                        <a:rPr lang="ko-KR" altLang="en-US" sz="1400" kern="1200" dirty="0"/>
                        <a:t>공개여부</a:t>
                      </a:r>
                      <a:endParaRPr lang="ko-KR" altLang="en-US" sz="1400" b="1" kern="1200" dirty="0">
                        <a:solidFill>
                          <a:schemeClr val="tx2"/>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dirty="0"/>
                        <a:t>有</a:t>
                      </a:r>
                      <a:endParaRPr lang="ko-KR" altLang="en-US" sz="1400" kern="1200" dirty="0">
                        <a:solidFill>
                          <a:schemeClr val="tx2"/>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a:t>無</a:t>
                      </a:r>
                      <a:endParaRPr lang="ko-KR" altLang="en-US" sz="1400" kern="1200">
                        <a:solidFill>
                          <a:schemeClr val="tx2"/>
                        </a:solidFill>
                        <a:latin typeface="+mn-lt"/>
                        <a:ea typeface="+mn-ea"/>
                        <a:cs typeface="+mn-cs"/>
                      </a:endParaRPr>
                    </a:p>
                  </a:txBody>
                  <a:tcPr marL="72136" marR="72136" marT="36068" marB="36068" anchor="ctr"/>
                </a:tc>
                <a:extLst>
                  <a:ext uri="{0D108BD9-81ED-4DB2-BD59-A6C34878D82A}">
                    <a16:rowId xmlns:a16="http://schemas.microsoft.com/office/drawing/2014/main" val="10001"/>
                  </a:ext>
                </a:extLst>
              </a:tr>
              <a:tr h="327810">
                <a:tc>
                  <a:txBody>
                    <a:bodyPr/>
                    <a:lstStyle/>
                    <a:p>
                      <a:pPr marL="0" marR="0" indent="0" algn="ctr" fontAlgn="base" latinLnBrk="0">
                        <a:lnSpc>
                          <a:spcPct val="100000"/>
                        </a:lnSpc>
                        <a:spcBef>
                          <a:spcPts val="0"/>
                        </a:spcBef>
                        <a:spcAft>
                          <a:spcPts val="0"/>
                        </a:spcAft>
                      </a:pPr>
                      <a:r>
                        <a:rPr lang="ko-KR" altLang="en-US" sz="1400" kern="1200" dirty="0"/>
                        <a:t>성립요건</a:t>
                      </a:r>
                      <a:endParaRPr lang="ko-KR" altLang="en-US" sz="1400" b="1" kern="1200" dirty="0">
                        <a:solidFill>
                          <a:schemeClr val="tx2"/>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a:t>발명의 정의 규정</a:t>
                      </a:r>
                      <a:r>
                        <a:rPr lang="en-US" altLang="ko-KR" sz="1400" kern="1200"/>
                        <a:t>(</a:t>
                      </a:r>
                      <a:r>
                        <a:rPr lang="ko-KR" altLang="en-US" sz="1400" kern="1200"/>
                        <a:t>法 </a:t>
                      </a:r>
                      <a:r>
                        <a:rPr lang="en-US" altLang="ko-KR" sz="1400" kern="1200"/>
                        <a:t>2Ⅰ) </a:t>
                      </a:r>
                      <a:r>
                        <a:rPr lang="ko-KR" altLang="en-US" sz="1400" kern="1200"/>
                        <a:t>만족</a:t>
                      </a:r>
                      <a:endParaRPr lang="ko-KR" altLang="en-US" sz="1400" kern="1200">
                        <a:solidFill>
                          <a:schemeClr val="tx2"/>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a:t>특별한 정의 규정 </a:t>
                      </a:r>
                      <a:r>
                        <a:rPr lang="en-US" altLang="ko-KR" sz="1400" kern="1200"/>
                        <a:t>×</a:t>
                      </a:r>
                      <a:endParaRPr lang="ko-KR" altLang="en-US" sz="1400" kern="1200">
                        <a:solidFill>
                          <a:schemeClr val="tx2"/>
                        </a:solidFill>
                        <a:latin typeface="+mn-lt"/>
                        <a:ea typeface="+mn-ea"/>
                        <a:cs typeface="+mn-cs"/>
                      </a:endParaRPr>
                    </a:p>
                  </a:txBody>
                  <a:tcPr marL="72136" marR="72136" marT="36068" marB="36068" anchor="ctr"/>
                </a:tc>
                <a:extLst>
                  <a:ext uri="{0D108BD9-81ED-4DB2-BD59-A6C34878D82A}">
                    <a16:rowId xmlns:a16="http://schemas.microsoft.com/office/drawing/2014/main" val="10002"/>
                  </a:ext>
                </a:extLst>
              </a:tr>
              <a:tr h="327810">
                <a:tc>
                  <a:txBody>
                    <a:bodyPr/>
                    <a:lstStyle/>
                    <a:p>
                      <a:pPr marL="0" marR="0" indent="0" algn="ctr" fontAlgn="base" latinLnBrk="0">
                        <a:lnSpc>
                          <a:spcPct val="100000"/>
                        </a:lnSpc>
                        <a:spcBef>
                          <a:spcPts val="0"/>
                        </a:spcBef>
                        <a:spcAft>
                          <a:spcPts val="0"/>
                        </a:spcAft>
                      </a:pPr>
                      <a:r>
                        <a:rPr lang="ko-KR" altLang="en-US" sz="1400" kern="1200" dirty="0"/>
                        <a:t>특허요건</a:t>
                      </a:r>
                      <a:endParaRPr lang="ko-KR" altLang="en-US" sz="1400" b="1" kern="1200" dirty="0">
                        <a:solidFill>
                          <a:schemeClr val="tx2"/>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dirty="0"/>
                        <a:t>필요</a:t>
                      </a:r>
                      <a:endParaRPr lang="ko-KR" altLang="en-US" sz="1400" kern="1200" dirty="0">
                        <a:solidFill>
                          <a:schemeClr val="tx2"/>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a:t>불필요</a:t>
                      </a:r>
                      <a:endParaRPr lang="ko-KR" altLang="en-US" sz="1400" kern="1200">
                        <a:solidFill>
                          <a:schemeClr val="tx2"/>
                        </a:solidFill>
                        <a:latin typeface="+mn-lt"/>
                        <a:ea typeface="+mn-ea"/>
                        <a:cs typeface="+mn-cs"/>
                      </a:endParaRPr>
                    </a:p>
                  </a:txBody>
                  <a:tcPr marL="72136" marR="72136" marT="36068" marB="36068" anchor="ctr"/>
                </a:tc>
                <a:extLst>
                  <a:ext uri="{0D108BD9-81ED-4DB2-BD59-A6C34878D82A}">
                    <a16:rowId xmlns:a16="http://schemas.microsoft.com/office/drawing/2014/main" val="10003"/>
                  </a:ext>
                </a:extLst>
              </a:tr>
              <a:tr h="572793">
                <a:tc>
                  <a:txBody>
                    <a:bodyPr/>
                    <a:lstStyle/>
                    <a:p>
                      <a:pPr marL="0" marR="0" indent="0" algn="ctr" fontAlgn="base" latinLnBrk="0">
                        <a:lnSpc>
                          <a:spcPct val="100000"/>
                        </a:lnSpc>
                        <a:spcBef>
                          <a:spcPts val="0"/>
                        </a:spcBef>
                        <a:spcAft>
                          <a:spcPts val="0"/>
                        </a:spcAft>
                      </a:pPr>
                      <a:r>
                        <a:rPr lang="ko-KR" altLang="en-US" sz="1400" kern="1200" dirty="0"/>
                        <a:t>보호기간</a:t>
                      </a:r>
                      <a:endParaRPr lang="ko-KR" altLang="en-US" sz="1400" b="1" kern="1200" dirty="0">
                        <a:solidFill>
                          <a:schemeClr val="tx2"/>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a:t>일정기간</a:t>
                      </a:r>
                      <a:endParaRPr lang="ko-KR" altLang="en-US" sz="1400" kern="1200">
                        <a:solidFill>
                          <a:schemeClr val="tx2"/>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dirty="0"/>
                        <a:t>비밀이 유지되는 한 제한 </a:t>
                      </a:r>
                      <a:r>
                        <a:rPr lang="en-US" altLang="ko-KR" sz="1400" kern="1200" dirty="0"/>
                        <a:t>× (</a:t>
                      </a:r>
                      <a:r>
                        <a:rPr lang="ko-KR" altLang="en-US" sz="1400" kern="1200" dirty="0"/>
                        <a:t>단</a:t>
                      </a:r>
                      <a:r>
                        <a:rPr lang="en-US" altLang="ko-KR" sz="1400" kern="1200" dirty="0"/>
                        <a:t>, </a:t>
                      </a:r>
                      <a:r>
                        <a:rPr lang="ko-KR" altLang="en-US" sz="1400" kern="1200" dirty="0"/>
                        <a:t>타인이 특허를 받더라도 일정한 경우 특허법 제</a:t>
                      </a:r>
                      <a:r>
                        <a:rPr lang="en-US" altLang="ko-KR" sz="1400" kern="1200" dirty="0"/>
                        <a:t>96</a:t>
                      </a:r>
                      <a:r>
                        <a:rPr lang="ko-KR" altLang="en-US" sz="1400" kern="1200" dirty="0"/>
                        <a:t>조제</a:t>
                      </a:r>
                      <a:r>
                        <a:rPr lang="en-US" altLang="ko-KR" sz="1400" kern="1200" dirty="0"/>
                        <a:t>1</a:t>
                      </a:r>
                      <a:r>
                        <a:rPr lang="ko-KR" altLang="en-US" sz="1400" kern="1200" dirty="0" err="1"/>
                        <a:t>항제</a:t>
                      </a:r>
                      <a:r>
                        <a:rPr lang="en-US" altLang="ko-KR" sz="1400" kern="1200" dirty="0"/>
                        <a:t>3</a:t>
                      </a:r>
                      <a:r>
                        <a:rPr lang="ko-KR" altLang="en-US" sz="1400" kern="1200" dirty="0"/>
                        <a:t>호</a:t>
                      </a:r>
                      <a:r>
                        <a:rPr lang="en-US" altLang="ko-KR" sz="1400" kern="1200" dirty="0"/>
                        <a:t>, </a:t>
                      </a:r>
                      <a:r>
                        <a:rPr lang="ko-KR" altLang="en-US" sz="1400" kern="1200" dirty="0"/>
                        <a:t>제</a:t>
                      </a:r>
                      <a:r>
                        <a:rPr lang="en-US" altLang="ko-KR" sz="1400" kern="1200" dirty="0"/>
                        <a:t>103</a:t>
                      </a:r>
                      <a:r>
                        <a:rPr lang="ko-KR" altLang="en-US" sz="1400" kern="1200" dirty="0"/>
                        <a:t>조에 의하여 보호 가능</a:t>
                      </a:r>
                      <a:r>
                        <a:rPr lang="en-US" altLang="ko-KR" sz="1400" kern="1200" dirty="0"/>
                        <a:t>)</a:t>
                      </a:r>
                      <a:endParaRPr lang="ko-KR" altLang="en-US" sz="1400" kern="1200" dirty="0">
                        <a:solidFill>
                          <a:schemeClr val="tx2"/>
                        </a:solidFill>
                        <a:latin typeface="+mn-lt"/>
                        <a:ea typeface="+mn-ea"/>
                        <a:cs typeface="+mn-cs"/>
                      </a:endParaRPr>
                    </a:p>
                  </a:txBody>
                  <a:tcPr marL="72136" marR="72136" marT="36068" marB="36068" anchor="ctr"/>
                </a:tc>
                <a:extLst>
                  <a:ext uri="{0D108BD9-81ED-4DB2-BD59-A6C34878D82A}">
                    <a16:rowId xmlns:a16="http://schemas.microsoft.com/office/drawing/2014/main" val="10004"/>
                  </a:ext>
                </a:extLst>
              </a:tr>
              <a:tr h="327810">
                <a:tc>
                  <a:txBody>
                    <a:bodyPr/>
                    <a:lstStyle/>
                    <a:p>
                      <a:pPr marL="0" marR="0" indent="0" algn="ctr" fontAlgn="base" latinLnBrk="0">
                        <a:lnSpc>
                          <a:spcPct val="100000"/>
                        </a:lnSpc>
                        <a:spcBef>
                          <a:spcPts val="0"/>
                        </a:spcBef>
                        <a:spcAft>
                          <a:spcPts val="0"/>
                        </a:spcAft>
                      </a:pPr>
                      <a:r>
                        <a:rPr lang="ko-KR" altLang="en-US" sz="1400" kern="1200" dirty="0"/>
                        <a:t>보호범위</a:t>
                      </a:r>
                      <a:endParaRPr lang="ko-KR" altLang="en-US" sz="1400" b="1" kern="1200" dirty="0">
                        <a:solidFill>
                          <a:schemeClr val="tx2"/>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a:t>청구범위기재발명</a:t>
                      </a:r>
                      <a:endParaRPr lang="ko-KR" altLang="en-US" sz="1400" kern="1200">
                        <a:solidFill>
                          <a:schemeClr val="tx2"/>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a:t>불명확</a:t>
                      </a:r>
                      <a:endParaRPr lang="ko-KR" altLang="en-US" sz="1400" kern="1200">
                        <a:solidFill>
                          <a:schemeClr val="tx2"/>
                        </a:solidFill>
                        <a:latin typeface="+mn-lt"/>
                        <a:ea typeface="+mn-ea"/>
                        <a:cs typeface="+mn-cs"/>
                      </a:endParaRPr>
                    </a:p>
                  </a:txBody>
                  <a:tcPr marL="72136" marR="72136" marT="36068" marB="36068" anchor="ctr"/>
                </a:tc>
                <a:extLst>
                  <a:ext uri="{0D108BD9-81ED-4DB2-BD59-A6C34878D82A}">
                    <a16:rowId xmlns:a16="http://schemas.microsoft.com/office/drawing/2014/main" val="10005"/>
                  </a:ext>
                </a:extLst>
              </a:tr>
              <a:tr h="327810">
                <a:tc>
                  <a:txBody>
                    <a:bodyPr/>
                    <a:lstStyle/>
                    <a:p>
                      <a:pPr marL="0" marR="0" indent="0" algn="ctr" fontAlgn="base" latinLnBrk="0">
                        <a:lnSpc>
                          <a:spcPct val="100000"/>
                        </a:lnSpc>
                        <a:spcBef>
                          <a:spcPts val="0"/>
                        </a:spcBef>
                        <a:spcAft>
                          <a:spcPts val="0"/>
                        </a:spcAft>
                      </a:pPr>
                      <a:r>
                        <a:rPr lang="ko-KR" altLang="en-US" sz="1400" kern="1200" dirty="0" err="1"/>
                        <a:t>독점ㆍ배타성</a:t>
                      </a:r>
                      <a:endParaRPr lang="en-US" altLang="ko-KR" sz="1400" kern="1200" dirty="0"/>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dirty="0"/>
                        <a:t>有</a:t>
                      </a:r>
                      <a:endParaRPr lang="ko-KR" altLang="en-US" sz="1400" kern="1200" dirty="0">
                        <a:solidFill>
                          <a:schemeClr val="tx2"/>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dirty="0"/>
                        <a:t>無</a:t>
                      </a:r>
                      <a:endParaRPr lang="ko-KR" altLang="en-US" sz="1400" kern="1200" dirty="0">
                        <a:solidFill>
                          <a:schemeClr val="tx2"/>
                        </a:solidFill>
                        <a:latin typeface="+mn-lt"/>
                        <a:ea typeface="+mn-ea"/>
                        <a:cs typeface="+mn-cs"/>
                      </a:endParaRPr>
                    </a:p>
                  </a:txBody>
                  <a:tcPr marL="72136" marR="72136" marT="36068" marB="36068" anchor="ctr"/>
                </a:tc>
                <a:extLst>
                  <a:ext uri="{0D108BD9-81ED-4DB2-BD59-A6C34878D82A}">
                    <a16:rowId xmlns:a16="http://schemas.microsoft.com/office/drawing/2014/main" val="10006"/>
                  </a:ext>
                </a:extLst>
              </a:tr>
              <a:tr h="817776">
                <a:tc>
                  <a:txBody>
                    <a:bodyPr/>
                    <a:lstStyle/>
                    <a:p>
                      <a:pPr marL="0" marR="0" indent="0" algn="ctr" fontAlgn="base" latinLnBrk="0">
                        <a:lnSpc>
                          <a:spcPct val="100000"/>
                        </a:lnSpc>
                        <a:spcBef>
                          <a:spcPts val="0"/>
                        </a:spcBef>
                        <a:spcAft>
                          <a:spcPts val="0"/>
                        </a:spcAft>
                      </a:pPr>
                      <a:r>
                        <a:rPr lang="ko-KR" altLang="en-US" sz="1400" kern="1200" dirty="0"/>
                        <a:t>침해에 대한 구제</a:t>
                      </a:r>
                      <a:endParaRPr lang="ko-KR" altLang="en-US" sz="1400" b="1" kern="1200" dirty="0">
                        <a:solidFill>
                          <a:schemeClr val="tx2"/>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dirty="0"/>
                        <a:t>특허법상 </a:t>
                      </a:r>
                      <a:r>
                        <a:rPr lang="ko-KR" altLang="en-US" sz="1400" kern="1200" dirty="0">
                          <a:solidFill>
                            <a:srgbClr val="FF0000"/>
                          </a:solidFill>
                        </a:rPr>
                        <a:t>권리에 의한</a:t>
                      </a:r>
                      <a:r>
                        <a:rPr lang="ko-KR" altLang="en-US" sz="1400" kern="1200" dirty="0"/>
                        <a:t> 민형사상 조치</a:t>
                      </a:r>
                      <a:r>
                        <a:rPr lang="en-US" altLang="ko-KR" sz="1400" kern="1200" dirty="0">
                          <a:solidFill>
                            <a:srgbClr val="FF0000"/>
                          </a:solidFill>
                        </a:rPr>
                        <a:t>: </a:t>
                      </a:r>
                      <a:r>
                        <a:rPr lang="ko-KR" altLang="en-US" sz="1400" kern="1200" dirty="0">
                          <a:solidFill>
                            <a:srgbClr val="FF0000"/>
                          </a:solidFill>
                        </a:rPr>
                        <a:t>권리부여</a:t>
                      </a:r>
                      <a:endParaRPr lang="ko-KR" altLang="en-US" sz="1400" kern="1200" dirty="0">
                        <a:solidFill>
                          <a:srgbClr val="FF0000"/>
                        </a:solidFill>
                        <a:latin typeface="+mn-lt"/>
                        <a:ea typeface="+mn-ea"/>
                        <a:cs typeface="+mn-cs"/>
                      </a:endParaRPr>
                    </a:p>
                  </a:txBody>
                  <a:tcPr marL="72136" marR="72136" marT="36068" marB="36068" anchor="ctr"/>
                </a:tc>
                <a:tc>
                  <a:txBody>
                    <a:bodyPr/>
                    <a:lstStyle/>
                    <a:p>
                      <a:pPr marL="17780" marR="17780" indent="0" algn="just" fontAlgn="base" latinLnBrk="1">
                        <a:lnSpc>
                          <a:spcPct val="100000"/>
                        </a:lnSpc>
                        <a:spcBef>
                          <a:spcPts val="0"/>
                        </a:spcBef>
                        <a:spcAft>
                          <a:spcPts val="0"/>
                        </a:spcAft>
                      </a:pPr>
                      <a:r>
                        <a:rPr lang="ko-KR" altLang="en-US" sz="1400" kern="1200" dirty="0"/>
                        <a:t>계약내용에 의하여 보호 </a:t>
                      </a:r>
                      <a:r>
                        <a:rPr lang="en-US" altLang="ko-KR" sz="1400" kern="1200" dirty="0"/>
                        <a:t>(</a:t>
                      </a:r>
                      <a:r>
                        <a:rPr lang="ko-KR" altLang="en-US" sz="1400" kern="1200" dirty="0"/>
                        <a:t>단</a:t>
                      </a:r>
                      <a:r>
                        <a:rPr lang="en-US" altLang="ko-KR" sz="1400" kern="1200" dirty="0"/>
                        <a:t>, </a:t>
                      </a:r>
                      <a:r>
                        <a:rPr lang="ko-KR" altLang="en-US" sz="1400" kern="1200" dirty="0"/>
                        <a:t>부정경쟁방지 및 영업비밀보호에 관한 법률 또는 산업기술의 유출방지 및 보호에 관한 법률 등에 의하여 </a:t>
                      </a:r>
                      <a:r>
                        <a:rPr lang="ko-KR" altLang="en-US" sz="1400" kern="1200" dirty="0">
                          <a:solidFill>
                            <a:srgbClr val="FF0000"/>
                          </a:solidFill>
                        </a:rPr>
                        <a:t>일정 행위를 민형사상 규제가능</a:t>
                      </a:r>
                      <a:r>
                        <a:rPr lang="en-US" altLang="ko-KR" sz="1400" kern="1200" dirty="0">
                          <a:solidFill>
                            <a:srgbClr val="FF0000"/>
                          </a:solidFill>
                        </a:rPr>
                        <a:t>: </a:t>
                      </a:r>
                      <a:r>
                        <a:rPr lang="ko-KR" altLang="en-US" sz="1400" kern="1200" dirty="0">
                          <a:solidFill>
                            <a:srgbClr val="FF0000"/>
                          </a:solidFill>
                        </a:rPr>
                        <a:t>행위규제</a:t>
                      </a:r>
                      <a:r>
                        <a:rPr lang="en-US" altLang="ko-KR" sz="1400" kern="1200" dirty="0"/>
                        <a:t>)</a:t>
                      </a:r>
                      <a:endParaRPr lang="ko-KR" altLang="en-US" sz="1400" kern="1200" dirty="0">
                        <a:solidFill>
                          <a:schemeClr val="tx2"/>
                        </a:solidFill>
                        <a:latin typeface="+mn-lt"/>
                        <a:ea typeface="+mn-ea"/>
                        <a:cs typeface="+mn-cs"/>
                      </a:endParaRPr>
                    </a:p>
                  </a:txBody>
                  <a:tcPr marL="72136" marR="72136" marT="36068" marB="36068" anchor="ctr"/>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27177085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18</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발명의 보호전략</a:t>
            </a:r>
            <a:r>
              <a:rPr lang="en-US" altLang="ko-KR" dirty="0"/>
              <a:t>: </a:t>
            </a:r>
            <a:r>
              <a:rPr lang="ko-KR" altLang="en-US" dirty="0"/>
              <a:t>노하우</a:t>
            </a:r>
          </a:p>
        </p:txBody>
      </p:sp>
      <p:sp>
        <p:nvSpPr>
          <p:cNvPr id="9" name="직사각형 8"/>
          <p:cNvSpPr/>
          <p:nvPr/>
        </p:nvSpPr>
        <p:spPr>
          <a:xfrm>
            <a:off x="6665218" y="1285876"/>
            <a:ext cx="4000500" cy="500063"/>
          </a:xfrm>
          <a:prstGeom prst="rect">
            <a:avLst/>
          </a:prstGeom>
          <a:solidFill>
            <a:schemeClr val="accent2">
              <a:lumMod val="50000"/>
            </a:schemeClr>
          </a:solidFill>
        </p:spPr>
        <p:style>
          <a:lnRef idx="1">
            <a:schemeClr val="accent2"/>
          </a:lnRef>
          <a:fillRef idx="3">
            <a:schemeClr val="accent2"/>
          </a:fillRef>
          <a:effectRef idx="2">
            <a:schemeClr val="accent2"/>
          </a:effectRef>
          <a:fontRef idx="minor">
            <a:schemeClr val="lt1"/>
          </a:fontRef>
        </p:style>
        <p:txBody>
          <a:bodyPr anchor="ctr"/>
          <a:lstStyle/>
          <a:p>
            <a:pPr algn="ctr">
              <a:defRPr/>
            </a:pPr>
            <a:r>
              <a:rPr lang="en-US" altLang="ko-KR" b="0" dirty="0">
                <a:latin typeface="+mj-ea"/>
                <a:ea typeface="+mj-ea"/>
              </a:rPr>
              <a:t>Know-How</a:t>
            </a:r>
            <a:r>
              <a:rPr lang="ko-KR" altLang="en-US" b="0" dirty="0">
                <a:latin typeface="+mj-ea"/>
                <a:ea typeface="+mj-ea"/>
              </a:rPr>
              <a:t>로 보호</a:t>
            </a:r>
          </a:p>
        </p:txBody>
      </p:sp>
      <p:sp>
        <p:nvSpPr>
          <p:cNvPr id="10" name="모서리가 둥근 직사각형 9"/>
          <p:cNvSpPr/>
          <p:nvPr/>
        </p:nvSpPr>
        <p:spPr>
          <a:xfrm>
            <a:off x="8379717" y="2286000"/>
            <a:ext cx="2762251" cy="857250"/>
          </a:xfrm>
          <a:prstGeom prst="roundRect">
            <a:avLst/>
          </a:prstGeom>
          <a:solidFill>
            <a:schemeClr val="accent1">
              <a:lumMod val="50000"/>
            </a:schemeClr>
          </a:solidFill>
          <a:ln>
            <a:noFill/>
          </a:ln>
        </p:spPr>
        <p:style>
          <a:lnRef idx="1">
            <a:schemeClr val="accent3"/>
          </a:lnRef>
          <a:fillRef idx="3">
            <a:schemeClr val="accent3"/>
          </a:fillRef>
          <a:effectRef idx="2">
            <a:schemeClr val="accent3"/>
          </a:effectRef>
          <a:fontRef idx="minor">
            <a:schemeClr val="lt1"/>
          </a:fontRef>
        </p:style>
        <p:txBody>
          <a:bodyPr anchor="ctr"/>
          <a:lstStyle/>
          <a:p>
            <a:pPr>
              <a:defRPr/>
            </a:pPr>
            <a:r>
              <a:rPr lang="ko-KR" altLang="en-US" sz="1400" b="0" dirty="0">
                <a:latin typeface="+mj-ea"/>
                <a:ea typeface="+mj-ea"/>
              </a:rPr>
              <a:t>영업비밀로 관리</a:t>
            </a:r>
            <a:endParaRPr lang="en-US" altLang="ko-KR" sz="1400" b="0" dirty="0">
              <a:latin typeface="+mj-ea"/>
              <a:ea typeface="+mj-ea"/>
            </a:endParaRPr>
          </a:p>
          <a:p>
            <a:pPr>
              <a:defRPr/>
            </a:pPr>
            <a:r>
              <a:rPr lang="en-US" altLang="ko-KR" sz="1050" b="0" dirty="0">
                <a:latin typeface="+mj-ea"/>
                <a:ea typeface="+mj-ea"/>
              </a:rPr>
              <a:t> - </a:t>
            </a:r>
            <a:r>
              <a:rPr lang="ko-KR" altLang="en-US" sz="1050" b="0" dirty="0">
                <a:latin typeface="+mj-ea"/>
                <a:ea typeface="+mj-ea"/>
              </a:rPr>
              <a:t>영업비밀관리지침활용</a:t>
            </a:r>
            <a:endParaRPr lang="en-US" altLang="ko-KR" sz="1050" b="0" dirty="0">
              <a:latin typeface="+mj-ea"/>
              <a:ea typeface="+mj-ea"/>
            </a:endParaRPr>
          </a:p>
          <a:p>
            <a:pPr>
              <a:defRPr/>
            </a:pPr>
            <a:endParaRPr lang="ko-KR" altLang="en-US" sz="900" b="0" dirty="0">
              <a:latin typeface="+mj-ea"/>
              <a:ea typeface="+mj-ea"/>
            </a:endParaRPr>
          </a:p>
        </p:txBody>
      </p:sp>
      <p:sp>
        <p:nvSpPr>
          <p:cNvPr id="11" name="아래쪽 화살표 10"/>
          <p:cNvSpPr/>
          <p:nvPr/>
        </p:nvSpPr>
        <p:spPr>
          <a:xfrm>
            <a:off x="9713217" y="1857375"/>
            <a:ext cx="476251" cy="357188"/>
          </a:xfrm>
          <a:prstGeom prst="downArrow">
            <a:avLst/>
          </a:prstGeom>
          <a:solidFill>
            <a:schemeClr val="tx2">
              <a:lumMod val="20000"/>
              <a:lumOff val="80000"/>
            </a:schemeClr>
          </a:solidFill>
        </p:spPr>
        <p:style>
          <a:lnRef idx="1">
            <a:schemeClr val="accent3"/>
          </a:lnRef>
          <a:fillRef idx="2">
            <a:schemeClr val="accent3"/>
          </a:fillRef>
          <a:effectRef idx="1">
            <a:schemeClr val="accent3"/>
          </a:effectRef>
          <a:fontRef idx="minor">
            <a:schemeClr val="dk1"/>
          </a:fontRef>
        </p:style>
        <p:txBody>
          <a:bodyPr anchor="ctr"/>
          <a:lstStyle/>
          <a:p>
            <a:pPr algn="ctr">
              <a:defRPr/>
            </a:pPr>
            <a:endParaRPr lang="ko-KR" altLang="en-US" sz="1600" b="0">
              <a:latin typeface="+mj-ea"/>
              <a:ea typeface="+mj-ea"/>
            </a:endParaRPr>
          </a:p>
        </p:txBody>
      </p:sp>
      <p:sp>
        <p:nvSpPr>
          <p:cNvPr id="12" name="아래쪽 화살표 11"/>
          <p:cNvSpPr/>
          <p:nvPr/>
        </p:nvSpPr>
        <p:spPr>
          <a:xfrm>
            <a:off x="6950969" y="1857375"/>
            <a:ext cx="857249" cy="1714500"/>
          </a:xfrm>
          <a:prstGeom prst="downArrow">
            <a:avLst/>
          </a:prstGeom>
          <a:solidFill>
            <a:schemeClr val="accent3">
              <a:lumMod val="20000"/>
              <a:lumOff val="80000"/>
            </a:schemeClr>
          </a:solidFill>
          <a:ln>
            <a:solidFill>
              <a:schemeClr val="bg1">
                <a:lumMod val="50000"/>
              </a:schemeClr>
            </a:solidFill>
          </a:ln>
        </p:spPr>
        <p:style>
          <a:lnRef idx="1">
            <a:schemeClr val="accent4"/>
          </a:lnRef>
          <a:fillRef idx="2">
            <a:schemeClr val="accent4"/>
          </a:fillRef>
          <a:effectRef idx="1">
            <a:schemeClr val="accent4"/>
          </a:effectRef>
          <a:fontRef idx="minor">
            <a:schemeClr val="dk1"/>
          </a:fontRef>
        </p:style>
        <p:txBody>
          <a:bodyPr anchor="ctr"/>
          <a:lstStyle/>
          <a:p>
            <a:pPr algn="ctr">
              <a:defRPr/>
            </a:pPr>
            <a:endParaRPr lang="ko-KR" altLang="en-US" sz="1600" b="0">
              <a:latin typeface="+mj-ea"/>
              <a:ea typeface="+mj-ea"/>
            </a:endParaRPr>
          </a:p>
        </p:txBody>
      </p:sp>
      <p:sp>
        <p:nvSpPr>
          <p:cNvPr id="13" name="왼쪽 화살표 12"/>
          <p:cNvSpPr/>
          <p:nvPr/>
        </p:nvSpPr>
        <p:spPr>
          <a:xfrm>
            <a:off x="7998718" y="2571750"/>
            <a:ext cx="285751" cy="285750"/>
          </a:xfrm>
          <a:prstGeom prst="leftArrow">
            <a:avLst/>
          </a:prstGeom>
          <a:ln>
            <a:noFill/>
          </a:ln>
        </p:spPr>
        <p:style>
          <a:lnRef idx="1">
            <a:schemeClr val="dk1"/>
          </a:lnRef>
          <a:fillRef idx="2">
            <a:schemeClr val="dk1"/>
          </a:fillRef>
          <a:effectRef idx="1">
            <a:schemeClr val="dk1"/>
          </a:effectRef>
          <a:fontRef idx="minor">
            <a:schemeClr val="dk1"/>
          </a:fontRef>
        </p:style>
        <p:txBody>
          <a:bodyPr anchor="ctr"/>
          <a:lstStyle/>
          <a:p>
            <a:pPr algn="ctr">
              <a:defRPr/>
            </a:pPr>
            <a:endParaRPr lang="ko-KR" altLang="en-US" sz="1600" b="0">
              <a:latin typeface="+mj-ea"/>
              <a:ea typeface="+mj-ea"/>
            </a:endParaRPr>
          </a:p>
        </p:txBody>
      </p:sp>
      <p:sp>
        <p:nvSpPr>
          <p:cNvPr id="14" name="순서도: 수동 입력 13"/>
          <p:cNvSpPr/>
          <p:nvPr/>
        </p:nvSpPr>
        <p:spPr>
          <a:xfrm>
            <a:off x="5807968" y="2214563"/>
            <a:ext cx="1524000" cy="785812"/>
          </a:xfrm>
          <a:prstGeom prst="flowChartManualInput">
            <a:avLst/>
          </a:prstGeom>
        </p:spPr>
        <p:style>
          <a:lnRef idx="1">
            <a:schemeClr val="accent5"/>
          </a:lnRef>
          <a:fillRef idx="3">
            <a:schemeClr val="accent5"/>
          </a:fillRef>
          <a:effectRef idx="2">
            <a:schemeClr val="accent5"/>
          </a:effectRef>
          <a:fontRef idx="minor">
            <a:schemeClr val="lt1"/>
          </a:fontRef>
        </p:style>
        <p:txBody>
          <a:bodyPr anchor="ctr"/>
          <a:lstStyle/>
          <a:p>
            <a:pPr algn="ctr">
              <a:defRPr/>
            </a:pPr>
            <a:r>
              <a:rPr lang="ko-KR" altLang="en-US" sz="1400" b="0" dirty="0" err="1">
                <a:latin typeface="+mj-ea"/>
                <a:ea typeface="+mj-ea"/>
              </a:rPr>
              <a:t>선사용권</a:t>
            </a:r>
            <a:endParaRPr lang="en-US" altLang="ko-KR" sz="1400" b="0" dirty="0">
              <a:latin typeface="+mj-ea"/>
              <a:ea typeface="+mj-ea"/>
            </a:endParaRPr>
          </a:p>
          <a:p>
            <a:pPr algn="ctr">
              <a:defRPr/>
            </a:pPr>
            <a:r>
              <a:rPr lang="ko-KR" altLang="en-US" sz="1400" b="0" dirty="0">
                <a:latin typeface="+mj-ea"/>
                <a:ea typeface="+mj-ea"/>
              </a:rPr>
              <a:t>제도의 활용</a:t>
            </a:r>
          </a:p>
        </p:txBody>
      </p:sp>
      <p:sp>
        <p:nvSpPr>
          <p:cNvPr id="15" name="모서리가 둥근 직사각형 14"/>
          <p:cNvSpPr/>
          <p:nvPr/>
        </p:nvSpPr>
        <p:spPr>
          <a:xfrm>
            <a:off x="6379469" y="3643313"/>
            <a:ext cx="2762249" cy="857250"/>
          </a:xfrm>
          <a:prstGeom prst="roundRect">
            <a:avLst/>
          </a:prstGeom>
          <a:solidFill>
            <a:schemeClr val="accent4"/>
          </a:solidFill>
          <a:ln>
            <a:solidFill>
              <a:schemeClr val="accent4">
                <a:lumMod val="50000"/>
              </a:schemeClr>
            </a:solidFill>
          </a:ln>
        </p:spPr>
        <p:style>
          <a:lnRef idx="1">
            <a:schemeClr val="accent4"/>
          </a:lnRef>
          <a:fillRef idx="3">
            <a:schemeClr val="accent4"/>
          </a:fillRef>
          <a:effectRef idx="2">
            <a:schemeClr val="accent4"/>
          </a:effectRef>
          <a:fontRef idx="minor">
            <a:schemeClr val="lt1"/>
          </a:fontRef>
        </p:style>
        <p:txBody>
          <a:bodyPr anchor="ctr"/>
          <a:lstStyle/>
          <a:p>
            <a:pPr>
              <a:defRPr/>
            </a:pPr>
            <a:r>
              <a:rPr lang="ko-KR" altLang="en-US" sz="1400" b="0" dirty="0" err="1">
                <a:latin typeface="+mj-ea"/>
                <a:ea typeface="+mj-ea"/>
              </a:rPr>
              <a:t>선사용권</a:t>
            </a:r>
            <a:r>
              <a:rPr lang="ko-KR" altLang="en-US" sz="1400" b="0" dirty="0">
                <a:latin typeface="+mj-ea"/>
                <a:ea typeface="+mj-ea"/>
              </a:rPr>
              <a:t> 증거 확보</a:t>
            </a:r>
            <a:endParaRPr lang="en-US" altLang="ko-KR" sz="1400" b="0" dirty="0">
              <a:latin typeface="+mj-ea"/>
              <a:ea typeface="+mj-ea"/>
            </a:endParaRPr>
          </a:p>
          <a:p>
            <a:pPr>
              <a:defRPr/>
            </a:pPr>
            <a:r>
              <a:rPr lang="en-US" altLang="ko-KR" sz="1050" b="0" dirty="0">
                <a:latin typeface="+mj-ea"/>
                <a:ea typeface="+mj-ea"/>
              </a:rPr>
              <a:t> - </a:t>
            </a:r>
            <a:r>
              <a:rPr lang="ko-KR" altLang="en-US" sz="1050" b="0" dirty="0">
                <a:latin typeface="+mj-ea"/>
                <a:ea typeface="+mj-ea"/>
              </a:rPr>
              <a:t>설계도</a:t>
            </a:r>
            <a:r>
              <a:rPr lang="en-US" altLang="ko-KR" sz="1050" b="0" dirty="0">
                <a:latin typeface="+mj-ea"/>
                <a:ea typeface="+mj-ea"/>
              </a:rPr>
              <a:t>, </a:t>
            </a:r>
            <a:r>
              <a:rPr lang="ko-KR" altLang="en-US" sz="1050" b="0" dirty="0">
                <a:latin typeface="+mj-ea"/>
                <a:ea typeface="+mj-ea"/>
              </a:rPr>
              <a:t>발주서류 등의 보존</a:t>
            </a:r>
            <a:endParaRPr lang="en-US" altLang="ko-KR" sz="1050" b="0" dirty="0">
              <a:latin typeface="+mj-ea"/>
              <a:ea typeface="+mj-ea"/>
            </a:endParaRPr>
          </a:p>
          <a:p>
            <a:pPr>
              <a:defRPr/>
            </a:pPr>
            <a:r>
              <a:rPr lang="en-US" altLang="ko-KR" sz="1050" b="0" dirty="0">
                <a:latin typeface="+mj-ea"/>
                <a:ea typeface="+mj-ea"/>
              </a:rPr>
              <a:t> - </a:t>
            </a:r>
            <a:r>
              <a:rPr lang="ko-KR" altLang="en-US" sz="1050" b="0" dirty="0">
                <a:latin typeface="+mj-ea"/>
                <a:ea typeface="+mj-ea"/>
              </a:rPr>
              <a:t>공증제도활용</a:t>
            </a:r>
            <a:endParaRPr lang="en-US" altLang="ko-KR" sz="1050" b="0" dirty="0">
              <a:latin typeface="+mj-ea"/>
              <a:ea typeface="+mj-ea"/>
            </a:endParaRPr>
          </a:p>
          <a:p>
            <a:pPr>
              <a:defRPr/>
            </a:pPr>
            <a:r>
              <a:rPr lang="en-US" altLang="ko-KR" sz="1050" b="0" dirty="0">
                <a:latin typeface="+mj-ea"/>
                <a:ea typeface="+mj-ea"/>
              </a:rPr>
              <a:t> - </a:t>
            </a:r>
            <a:r>
              <a:rPr lang="ko-KR" altLang="en-US" sz="1050" b="0" dirty="0">
                <a:latin typeface="+mj-ea"/>
                <a:ea typeface="+mj-ea"/>
              </a:rPr>
              <a:t>영업비밀원본서비스 증명제도 활용 등</a:t>
            </a:r>
          </a:p>
        </p:txBody>
      </p:sp>
      <p:sp>
        <p:nvSpPr>
          <p:cNvPr id="16" name="모서리가 둥근 직사각형 15"/>
          <p:cNvSpPr/>
          <p:nvPr/>
        </p:nvSpPr>
        <p:spPr>
          <a:xfrm>
            <a:off x="6379469" y="4857750"/>
            <a:ext cx="2762249" cy="857250"/>
          </a:xfrm>
          <a:prstGeom prst="roundRect">
            <a:avLst/>
          </a:prstGeom>
          <a:solidFill>
            <a:schemeClr val="accent4"/>
          </a:solidFill>
          <a:ln>
            <a:solidFill>
              <a:schemeClr val="accent4">
                <a:lumMod val="50000"/>
              </a:schemeClr>
            </a:solidFill>
          </a:ln>
        </p:spPr>
        <p:style>
          <a:lnRef idx="1">
            <a:schemeClr val="accent4"/>
          </a:lnRef>
          <a:fillRef idx="3">
            <a:schemeClr val="accent4"/>
          </a:fillRef>
          <a:effectRef idx="2">
            <a:schemeClr val="accent4"/>
          </a:effectRef>
          <a:fontRef idx="minor">
            <a:schemeClr val="lt1"/>
          </a:fontRef>
        </p:style>
        <p:txBody>
          <a:bodyPr anchor="ctr"/>
          <a:lstStyle/>
          <a:p>
            <a:pPr>
              <a:defRPr/>
            </a:pPr>
            <a:r>
              <a:rPr lang="ko-KR" altLang="en-US" sz="1400" b="0" dirty="0" err="1">
                <a:latin typeface="+mj-ea"/>
                <a:ea typeface="+mj-ea"/>
              </a:rPr>
              <a:t>선사용권</a:t>
            </a:r>
            <a:r>
              <a:rPr lang="ko-KR" altLang="en-US" sz="1400" b="0" dirty="0">
                <a:latin typeface="+mj-ea"/>
                <a:ea typeface="+mj-ea"/>
              </a:rPr>
              <a:t> 확보</a:t>
            </a:r>
            <a:endParaRPr lang="en-US" altLang="ko-KR" sz="1400" b="0" dirty="0">
              <a:latin typeface="+mj-ea"/>
              <a:ea typeface="+mj-ea"/>
            </a:endParaRPr>
          </a:p>
          <a:p>
            <a:pPr>
              <a:defRPr/>
            </a:pPr>
            <a:r>
              <a:rPr lang="en-US" altLang="ko-KR" sz="1050" b="0" dirty="0">
                <a:latin typeface="+mj-ea"/>
                <a:ea typeface="+mj-ea"/>
              </a:rPr>
              <a:t> - </a:t>
            </a:r>
            <a:r>
              <a:rPr lang="ko-KR" altLang="en-US" sz="1050" b="0" dirty="0">
                <a:latin typeface="+mj-ea"/>
                <a:ea typeface="+mj-ea"/>
              </a:rPr>
              <a:t>자기실시가능</a:t>
            </a:r>
          </a:p>
        </p:txBody>
      </p:sp>
      <p:sp>
        <p:nvSpPr>
          <p:cNvPr id="17" name="아래쪽 화살표 16"/>
          <p:cNvSpPr/>
          <p:nvPr/>
        </p:nvSpPr>
        <p:spPr>
          <a:xfrm>
            <a:off x="6950969" y="4500564"/>
            <a:ext cx="857249" cy="357187"/>
          </a:xfrm>
          <a:prstGeom prst="downArrow">
            <a:avLst/>
          </a:prstGeom>
          <a:solidFill>
            <a:schemeClr val="accent3">
              <a:lumMod val="20000"/>
              <a:lumOff val="80000"/>
            </a:schemeClr>
          </a:solidFill>
          <a:ln>
            <a:solidFill>
              <a:schemeClr val="bg1">
                <a:lumMod val="50000"/>
              </a:schemeClr>
            </a:solidFill>
          </a:ln>
        </p:spPr>
        <p:style>
          <a:lnRef idx="1">
            <a:schemeClr val="accent4"/>
          </a:lnRef>
          <a:fillRef idx="2">
            <a:schemeClr val="accent4"/>
          </a:fillRef>
          <a:effectRef idx="1">
            <a:schemeClr val="accent4"/>
          </a:effectRef>
          <a:fontRef idx="minor">
            <a:schemeClr val="dk1"/>
          </a:fontRef>
        </p:style>
        <p:txBody>
          <a:bodyPr anchor="ctr"/>
          <a:lstStyle/>
          <a:p>
            <a:pPr algn="ctr">
              <a:defRPr/>
            </a:pPr>
            <a:endParaRPr lang="ko-KR" altLang="en-US" sz="1600" b="0">
              <a:latin typeface="+mj-ea"/>
              <a:ea typeface="+mj-ea"/>
            </a:endParaRPr>
          </a:p>
        </p:txBody>
      </p:sp>
      <p:sp>
        <p:nvSpPr>
          <p:cNvPr id="18" name="모서리가 둥근 사각형 설명선 17"/>
          <p:cNvSpPr/>
          <p:nvPr/>
        </p:nvSpPr>
        <p:spPr>
          <a:xfrm>
            <a:off x="9360363" y="5445224"/>
            <a:ext cx="2400267" cy="626964"/>
          </a:xfrm>
          <a:prstGeom prst="wedgeRoundRectCallout">
            <a:avLst>
              <a:gd name="adj1" fmla="val -58884"/>
              <a:gd name="adj2" fmla="val -107387"/>
              <a:gd name="adj3" fmla="val 16667"/>
            </a:avLst>
          </a:prstGeom>
          <a:ln>
            <a:solidFill>
              <a:schemeClr val="accent4">
                <a:lumMod val="50000"/>
              </a:schemeClr>
            </a:solidFill>
          </a:ln>
        </p:spPr>
        <p:style>
          <a:lnRef idx="2">
            <a:schemeClr val="accent4"/>
          </a:lnRef>
          <a:fillRef idx="1">
            <a:schemeClr val="lt1"/>
          </a:fillRef>
          <a:effectRef idx="0">
            <a:schemeClr val="accent4"/>
          </a:effectRef>
          <a:fontRef idx="minor">
            <a:schemeClr val="dk1"/>
          </a:fontRef>
        </p:style>
        <p:txBody>
          <a:bodyPr rtlCol="0" anchor="ctr"/>
          <a:lstStyle/>
          <a:p>
            <a:pPr algn="ctr"/>
            <a:r>
              <a:rPr lang="ko-KR" altLang="en-US" sz="1600" dirty="0"/>
              <a:t>특허권 침해주장 대항</a:t>
            </a:r>
          </a:p>
        </p:txBody>
      </p:sp>
      <p:sp>
        <p:nvSpPr>
          <p:cNvPr id="19" name="모서리가 둥근 사각형 설명선 18"/>
          <p:cNvSpPr/>
          <p:nvPr/>
        </p:nvSpPr>
        <p:spPr>
          <a:xfrm>
            <a:off x="9465584" y="3573016"/>
            <a:ext cx="2400267" cy="626964"/>
          </a:xfrm>
          <a:prstGeom prst="wedgeRoundRectCallout">
            <a:avLst>
              <a:gd name="adj1" fmla="val -8090"/>
              <a:gd name="adj2" fmla="val -112195"/>
              <a:gd name="adj3" fmla="val 16667"/>
            </a:avLst>
          </a:prstGeom>
        </p:spPr>
        <p:style>
          <a:lnRef idx="2">
            <a:schemeClr val="accent3"/>
          </a:lnRef>
          <a:fillRef idx="1">
            <a:schemeClr val="lt1"/>
          </a:fillRef>
          <a:effectRef idx="0">
            <a:schemeClr val="accent3"/>
          </a:effectRef>
          <a:fontRef idx="minor">
            <a:schemeClr val="dk1"/>
          </a:fontRef>
        </p:style>
        <p:txBody>
          <a:bodyPr rtlCol="0" anchor="ctr"/>
          <a:lstStyle/>
          <a:p>
            <a:pPr algn="ctr"/>
            <a:r>
              <a:rPr lang="ko-KR" altLang="en-US" sz="1600" dirty="0"/>
              <a:t>영업비밀보호법</a:t>
            </a:r>
            <a:endParaRPr lang="en-US" altLang="ko-KR" sz="1600" dirty="0"/>
          </a:p>
          <a:p>
            <a:pPr algn="ctr"/>
            <a:r>
              <a:rPr lang="ko-KR" altLang="en-US" sz="1600" dirty="0"/>
              <a:t>보호</a:t>
            </a:r>
          </a:p>
        </p:txBody>
      </p:sp>
      <p:sp>
        <p:nvSpPr>
          <p:cNvPr id="21" name="Rectangle 3"/>
          <p:cNvSpPr txBox="1">
            <a:spLocks noChangeArrowheads="1"/>
          </p:cNvSpPr>
          <p:nvPr/>
        </p:nvSpPr>
        <p:spPr>
          <a:xfrm>
            <a:off x="143339" y="1546227"/>
            <a:ext cx="5524500" cy="2026790"/>
          </a:xfrm>
          <a:prstGeom prst="rect">
            <a:avLst/>
          </a:prstGeom>
          <a:ln>
            <a:solidFill>
              <a:schemeClr val="bg1">
                <a:lumMod val="50000"/>
              </a:schemeClr>
            </a:solidFill>
          </a:ln>
        </p:spPr>
        <p:txBody>
          <a:bodyPr vert="horz" lIns="91440" tIns="45720" rIns="91440" bIns="45720" rtlCol="0">
            <a:normAutofit/>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180975" indent="-180975">
              <a:defRPr/>
            </a:pPr>
            <a:r>
              <a:rPr lang="ko-KR" altLang="en-US" sz="1800" dirty="0"/>
              <a:t>영업비밀로 보호한 경우의 문제점</a:t>
            </a:r>
          </a:p>
          <a:p>
            <a:pPr marL="361950" lvl="1" indent="-180975">
              <a:defRPr/>
            </a:pPr>
            <a:r>
              <a:rPr lang="ko-KR" altLang="en-US" sz="1400" dirty="0"/>
              <a:t>비밀의 영속성을 유지하기 어려움</a:t>
            </a:r>
            <a:endParaRPr lang="en-US" altLang="ko-KR" sz="1400" dirty="0"/>
          </a:p>
          <a:p>
            <a:pPr marL="361950" lvl="1" indent="-180975">
              <a:defRPr/>
            </a:pPr>
            <a:r>
              <a:rPr lang="ko-KR" altLang="en-US" sz="1400" dirty="0"/>
              <a:t>영업비밀이 이미 유출된 경우 회수가 불가능</a:t>
            </a:r>
            <a:endParaRPr lang="en-US" altLang="ko-KR" sz="1400" dirty="0"/>
          </a:p>
          <a:p>
            <a:pPr marL="361950" lvl="1" indent="-180975">
              <a:defRPr/>
            </a:pPr>
            <a:r>
              <a:rPr lang="ko-KR" altLang="en-US" sz="1400" dirty="0"/>
              <a:t>영업 비밀의 요건</a:t>
            </a:r>
            <a:r>
              <a:rPr lang="en-US" altLang="ko-KR" sz="1400" dirty="0"/>
              <a:t>(</a:t>
            </a:r>
            <a:r>
              <a:rPr lang="ko-KR" altLang="en-US" sz="1400" dirty="0" err="1"/>
              <a:t>비공지성</a:t>
            </a:r>
            <a:r>
              <a:rPr lang="en-US" altLang="ko-KR" sz="1400" dirty="0"/>
              <a:t>, </a:t>
            </a:r>
            <a:r>
              <a:rPr lang="ko-KR" altLang="en-US" sz="1400" dirty="0"/>
              <a:t>경제적 유용성 및 비밀 </a:t>
            </a:r>
            <a:r>
              <a:rPr lang="ko-KR" altLang="en-US" sz="1400" dirty="0" err="1"/>
              <a:t>관리성</a:t>
            </a:r>
            <a:r>
              <a:rPr lang="en-US" altLang="ko-KR" sz="1400" dirty="0"/>
              <a:t>)</a:t>
            </a:r>
            <a:r>
              <a:rPr lang="ko-KR" altLang="en-US" sz="1400" dirty="0"/>
              <a:t>의 증명이 곤란한 경우가 많음</a:t>
            </a:r>
            <a:endParaRPr lang="en-US" altLang="ko-KR" sz="1400" dirty="0"/>
          </a:p>
          <a:p>
            <a:pPr marL="361950" lvl="1" indent="-180975">
              <a:defRPr/>
            </a:pPr>
            <a:r>
              <a:rPr lang="ko-KR" altLang="en-US" sz="1400" dirty="0" err="1"/>
              <a:t>역설계에</a:t>
            </a:r>
            <a:r>
              <a:rPr lang="ko-KR" altLang="en-US" sz="1400" dirty="0"/>
              <a:t> 의한 영업 비밀의 획득은 적법한 행위로 인정됨</a:t>
            </a:r>
            <a:endParaRPr lang="en-US" altLang="ko-KR" sz="1400" dirty="0"/>
          </a:p>
          <a:p>
            <a:pPr marL="361950" lvl="1" indent="-180975">
              <a:defRPr/>
            </a:pPr>
            <a:r>
              <a:rPr lang="ko-KR" altLang="en-US" sz="1400" dirty="0"/>
              <a:t>국가별 제도 등의 상이로 인하여 보호의 곤란성</a:t>
            </a:r>
          </a:p>
          <a:p>
            <a:pPr>
              <a:defRPr/>
            </a:pPr>
            <a:endParaRPr lang="en-US" altLang="ko-KR" sz="1800" dirty="0"/>
          </a:p>
        </p:txBody>
      </p:sp>
    </p:spTree>
    <p:extLst>
      <p:ext uri="{BB962C8B-B14F-4D97-AF65-F5344CB8AC3E}">
        <p14:creationId xmlns:p14="http://schemas.microsoft.com/office/powerpoint/2010/main" val="368556480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Freeform 41"/>
          <p:cNvSpPr>
            <a:spLocks/>
          </p:cNvSpPr>
          <p:nvPr/>
        </p:nvSpPr>
        <p:spPr bwMode="auto">
          <a:xfrm>
            <a:off x="5611186" y="2397786"/>
            <a:ext cx="5189598" cy="360362"/>
          </a:xfrm>
          <a:custGeom>
            <a:avLst/>
            <a:gdLst>
              <a:gd name="T0" fmla="*/ 0 w 1270"/>
              <a:gd name="T1" fmla="*/ 2147483647 h 227"/>
              <a:gd name="T2" fmla="*/ 2147483647 w 1270"/>
              <a:gd name="T3" fmla="*/ 0 h 227"/>
              <a:gd name="T4" fmla="*/ 2147483647 w 1270"/>
              <a:gd name="T5" fmla="*/ 0 h 227"/>
              <a:gd name="T6" fmla="*/ 0 60000 65536"/>
              <a:gd name="T7" fmla="*/ 0 60000 65536"/>
              <a:gd name="T8" fmla="*/ 0 60000 65536"/>
              <a:gd name="T9" fmla="*/ 0 w 1270"/>
              <a:gd name="T10" fmla="*/ 0 h 227"/>
              <a:gd name="T11" fmla="*/ 1270 w 1270"/>
              <a:gd name="T12" fmla="*/ 227 h 227"/>
            </a:gdLst>
            <a:ahLst/>
            <a:cxnLst>
              <a:cxn ang="T6">
                <a:pos x="T0" y="T1"/>
              </a:cxn>
              <a:cxn ang="T7">
                <a:pos x="T2" y="T3"/>
              </a:cxn>
              <a:cxn ang="T8">
                <a:pos x="T4" y="T5"/>
              </a:cxn>
            </a:cxnLst>
            <a:rect l="T9" t="T10" r="T11" b="T12"/>
            <a:pathLst>
              <a:path w="1270" h="227">
                <a:moveTo>
                  <a:pt x="0" y="227"/>
                </a:moveTo>
                <a:lnTo>
                  <a:pt x="9" y="0"/>
                </a:lnTo>
                <a:lnTo>
                  <a:pt x="1270" y="0"/>
                </a:lnTo>
              </a:path>
            </a:pathLst>
          </a:custGeom>
          <a:noFill/>
          <a:ln w="28575" cap="flat" cmpd="sng">
            <a:solidFill>
              <a:schemeClr val="accent5">
                <a:lumMod val="50000"/>
              </a:schemeClr>
            </a:solidFill>
            <a:prstDash val="solid"/>
            <a:round/>
            <a:headEnd type="none" w="med" len="med"/>
            <a:tailEnd type="triangle" w="med" len="med"/>
          </a:ln>
        </p:spPr>
        <p:txBody>
          <a:bodyPr wrap="none" anchor="ctr"/>
          <a:lstStyle/>
          <a:p>
            <a:pPr>
              <a:defRPr/>
            </a:pPr>
            <a:endParaRPr lang="ko-KR" altLang="en-US" sz="1200">
              <a:latin typeface="+mn-ea"/>
              <a:ea typeface="+mn-ea"/>
            </a:endParaRPr>
          </a:p>
        </p:txBody>
      </p:sp>
      <p:cxnSp>
        <p:nvCxnSpPr>
          <p:cNvPr id="6" name="직선 화살표 연결선 5">
            <a:extLst>
              <a:ext uri="{FF2B5EF4-FFF2-40B4-BE49-F238E27FC236}">
                <a16:creationId xmlns:a16="http://schemas.microsoft.com/office/drawing/2014/main" id="{CAA4563D-A477-4318-BFA6-2BBE4E79C69F}"/>
              </a:ext>
            </a:extLst>
          </p:cNvPr>
          <p:cNvCxnSpPr/>
          <p:nvPr/>
        </p:nvCxnSpPr>
        <p:spPr>
          <a:xfrm>
            <a:off x="1213164" y="2788466"/>
            <a:ext cx="9750583" cy="0"/>
          </a:xfrm>
          <a:prstGeom prst="straightConnector1">
            <a:avLst/>
          </a:prstGeom>
          <a:ln w="5715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fld id="{3875FC6C-1516-4DC4-8C58-3090F7D4F003}" type="slidenum">
              <a:rPr lang="ko-KR" altLang="en-US" smtClean="0"/>
              <a:t>19</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발명의 보호전략</a:t>
            </a:r>
            <a:r>
              <a:rPr lang="en-US" altLang="ko-KR" dirty="0"/>
              <a:t>: </a:t>
            </a:r>
            <a:r>
              <a:rPr lang="ko-KR" altLang="en-US" dirty="0"/>
              <a:t>노하우</a:t>
            </a:r>
          </a:p>
        </p:txBody>
      </p:sp>
      <p:sp>
        <p:nvSpPr>
          <p:cNvPr id="20" name="Rectangle 36"/>
          <p:cNvSpPr>
            <a:spLocks noChangeArrowheads="1"/>
          </p:cNvSpPr>
          <p:nvPr/>
        </p:nvSpPr>
        <p:spPr bwMode="auto">
          <a:xfrm>
            <a:off x="720968" y="1840231"/>
            <a:ext cx="10717823" cy="1655763"/>
          </a:xfrm>
          <a:prstGeom prst="rect">
            <a:avLst/>
          </a:prstGeom>
          <a:noFill/>
          <a:ln>
            <a:solidFill>
              <a:schemeClr val="accent5">
                <a:lumMod val="50000"/>
              </a:schemeClr>
            </a:solidFill>
            <a:headEnd/>
            <a:tailEnd/>
          </a:ln>
        </p:spPr>
        <p:style>
          <a:lnRef idx="2">
            <a:schemeClr val="accent5"/>
          </a:lnRef>
          <a:fillRef idx="1">
            <a:schemeClr val="lt1"/>
          </a:fillRef>
          <a:effectRef idx="0">
            <a:schemeClr val="accent5"/>
          </a:effectRef>
          <a:fontRef idx="minor">
            <a:schemeClr val="dk1"/>
          </a:fontRef>
        </p:style>
        <p:txBody>
          <a:bodyPr wrap="none" anchor="ctr"/>
          <a:lstStyle/>
          <a:p>
            <a:pPr>
              <a:defRPr/>
            </a:pPr>
            <a:endParaRPr lang="ko-KR" altLang="ko-KR" sz="1200" dirty="0">
              <a:solidFill>
                <a:srgbClr val="000000"/>
              </a:solidFill>
              <a:latin typeface="+mn-ea"/>
            </a:endParaRPr>
          </a:p>
        </p:txBody>
      </p:sp>
      <p:sp>
        <p:nvSpPr>
          <p:cNvPr id="23" name="Oval 16"/>
          <p:cNvSpPr>
            <a:spLocks noChangeArrowheads="1"/>
          </p:cNvSpPr>
          <p:nvPr/>
        </p:nvSpPr>
        <p:spPr bwMode="auto">
          <a:xfrm>
            <a:off x="5534025" y="2703831"/>
            <a:ext cx="152204" cy="144464"/>
          </a:xfrm>
          <a:prstGeom prst="ellipse">
            <a:avLst/>
          </a:prstGeom>
          <a:solidFill>
            <a:schemeClr val="accent4"/>
          </a:solidFill>
          <a:ln>
            <a:headEnd/>
            <a:tailEnd/>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defRPr/>
            </a:pPr>
            <a:endParaRPr lang="ko-KR" altLang="ko-KR" sz="1200" b="0">
              <a:solidFill>
                <a:srgbClr val="000000"/>
              </a:solidFill>
              <a:latin typeface="+mn-ea"/>
              <a:ea typeface="+mn-ea"/>
            </a:endParaRPr>
          </a:p>
        </p:txBody>
      </p:sp>
      <p:sp>
        <p:nvSpPr>
          <p:cNvPr id="24" name="Oval 27"/>
          <p:cNvSpPr>
            <a:spLocks noChangeArrowheads="1"/>
          </p:cNvSpPr>
          <p:nvPr/>
        </p:nvSpPr>
        <p:spPr bwMode="auto">
          <a:xfrm>
            <a:off x="8895291" y="2703831"/>
            <a:ext cx="152204" cy="144464"/>
          </a:xfrm>
          <a:prstGeom prst="ellipse">
            <a:avLst/>
          </a:prstGeom>
          <a:solidFill>
            <a:schemeClr val="accent4"/>
          </a:solidFill>
          <a:ln>
            <a:headEnd/>
            <a:tailEnd/>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defRPr/>
            </a:pPr>
            <a:endParaRPr lang="ko-KR" altLang="ko-KR" sz="1200" b="0">
              <a:solidFill>
                <a:srgbClr val="000000"/>
              </a:solidFill>
              <a:latin typeface="+mn-ea"/>
              <a:ea typeface="+mn-ea"/>
            </a:endParaRPr>
          </a:p>
        </p:txBody>
      </p:sp>
      <p:sp>
        <p:nvSpPr>
          <p:cNvPr id="25" name="Oval 28"/>
          <p:cNvSpPr>
            <a:spLocks noChangeArrowheads="1"/>
          </p:cNvSpPr>
          <p:nvPr/>
        </p:nvSpPr>
        <p:spPr bwMode="auto">
          <a:xfrm>
            <a:off x="3135619" y="2703831"/>
            <a:ext cx="150532" cy="144464"/>
          </a:xfrm>
          <a:prstGeom prst="ellipse">
            <a:avLst/>
          </a:prstGeom>
          <a:solidFill>
            <a:schemeClr val="accent4"/>
          </a:solidFill>
          <a:ln>
            <a:headEnd/>
            <a:tailEnd/>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defRPr/>
            </a:pPr>
            <a:endParaRPr lang="ko-KR" altLang="ko-KR" sz="1200" b="0">
              <a:solidFill>
                <a:srgbClr val="000000"/>
              </a:solidFill>
              <a:latin typeface="+mn-ea"/>
              <a:ea typeface="+mn-ea"/>
            </a:endParaRPr>
          </a:p>
        </p:txBody>
      </p:sp>
      <p:sp>
        <p:nvSpPr>
          <p:cNvPr id="26" name="Oval 34"/>
          <p:cNvSpPr>
            <a:spLocks noChangeArrowheads="1"/>
          </p:cNvSpPr>
          <p:nvPr/>
        </p:nvSpPr>
        <p:spPr bwMode="auto">
          <a:xfrm>
            <a:off x="4382558" y="2703831"/>
            <a:ext cx="152204" cy="144464"/>
          </a:xfrm>
          <a:prstGeom prst="ellipse">
            <a:avLst/>
          </a:prstGeom>
          <a:solidFill>
            <a:schemeClr val="accent4"/>
          </a:solidFill>
          <a:ln>
            <a:headEnd/>
            <a:tailEnd/>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defRPr/>
            </a:pPr>
            <a:endParaRPr lang="ko-KR" altLang="ko-KR" sz="1200" b="0">
              <a:solidFill>
                <a:srgbClr val="000000"/>
              </a:solidFill>
              <a:latin typeface="+mn-ea"/>
              <a:ea typeface="+mn-ea"/>
            </a:endParaRPr>
          </a:p>
        </p:txBody>
      </p:sp>
      <p:sp>
        <p:nvSpPr>
          <p:cNvPr id="27" name="AutoShape 20"/>
          <p:cNvSpPr>
            <a:spLocks noChangeArrowheads="1"/>
          </p:cNvSpPr>
          <p:nvPr/>
        </p:nvSpPr>
        <p:spPr bwMode="auto">
          <a:xfrm>
            <a:off x="1866802" y="2343469"/>
            <a:ext cx="2713567" cy="288925"/>
          </a:xfrm>
          <a:prstGeom prst="flowChartTerminator">
            <a:avLst/>
          </a:prstGeom>
          <a:noFill/>
          <a:ln w="9525">
            <a:noFill/>
            <a:miter lim="800000"/>
            <a:headEnd/>
            <a:tailEnd/>
          </a:ln>
        </p:spPr>
        <p:txBody>
          <a:bodyPr wrap="none" anchor="ctr"/>
          <a:lstStyle/>
          <a:p>
            <a:pPr algn="ctr">
              <a:defRPr/>
            </a:pPr>
            <a:r>
              <a:rPr lang="ko-KR" altLang="en-US" sz="1200" dirty="0">
                <a:solidFill>
                  <a:schemeClr val="tx1"/>
                </a:solidFill>
                <a:latin typeface="+mn-ea"/>
                <a:ea typeface="+mn-ea"/>
              </a:rPr>
              <a:t>甲 발명</a:t>
            </a:r>
          </a:p>
        </p:txBody>
      </p:sp>
      <p:sp>
        <p:nvSpPr>
          <p:cNvPr id="28" name="AutoShape 20"/>
          <p:cNvSpPr>
            <a:spLocks noChangeArrowheads="1"/>
          </p:cNvSpPr>
          <p:nvPr/>
        </p:nvSpPr>
        <p:spPr bwMode="auto">
          <a:xfrm>
            <a:off x="3113519" y="2919731"/>
            <a:ext cx="2713567" cy="288925"/>
          </a:xfrm>
          <a:prstGeom prst="flowChartTerminator">
            <a:avLst/>
          </a:prstGeom>
          <a:noFill/>
          <a:ln w="9525">
            <a:noFill/>
            <a:miter lim="800000"/>
            <a:headEnd/>
            <a:tailEnd/>
          </a:ln>
        </p:spPr>
        <p:txBody>
          <a:bodyPr wrap="none" anchor="ctr"/>
          <a:lstStyle/>
          <a:p>
            <a:pPr algn="ctr">
              <a:defRPr/>
            </a:pPr>
            <a:r>
              <a:rPr lang="ko-KR" altLang="en-US" sz="1200">
                <a:solidFill>
                  <a:schemeClr val="tx1"/>
                </a:solidFill>
                <a:latin typeface="+mn-ea"/>
                <a:ea typeface="+mn-ea"/>
              </a:rPr>
              <a:t>乙 발명</a:t>
            </a:r>
          </a:p>
        </p:txBody>
      </p:sp>
      <p:sp>
        <p:nvSpPr>
          <p:cNvPr id="30" name="AutoShape 20"/>
          <p:cNvSpPr>
            <a:spLocks noChangeArrowheads="1"/>
          </p:cNvSpPr>
          <p:nvPr/>
        </p:nvSpPr>
        <p:spPr bwMode="auto">
          <a:xfrm>
            <a:off x="6163636" y="2037425"/>
            <a:ext cx="4703233" cy="288925"/>
          </a:xfrm>
          <a:prstGeom prst="flowChartTerminator">
            <a:avLst/>
          </a:prstGeom>
          <a:noFill/>
          <a:ln w="9525">
            <a:noFill/>
            <a:miter lim="800000"/>
            <a:headEnd/>
            <a:tailEnd/>
          </a:ln>
        </p:spPr>
        <p:txBody>
          <a:bodyPr wrap="none" anchor="ctr"/>
          <a:lstStyle/>
          <a:p>
            <a:pPr>
              <a:defRPr/>
            </a:pPr>
            <a:r>
              <a:rPr lang="ko-KR" altLang="en-US" sz="1200">
                <a:solidFill>
                  <a:schemeClr val="tx1"/>
                </a:solidFill>
                <a:latin typeface="+mn-ea"/>
                <a:ea typeface="+mn-ea"/>
              </a:rPr>
              <a:t>甲이 국내에서 실시사업 또는 사업준비</a:t>
            </a:r>
          </a:p>
        </p:txBody>
      </p:sp>
      <p:sp>
        <p:nvSpPr>
          <p:cNvPr id="31" name="Oval 27"/>
          <p:cNvSpPr>
            <a:spLocks noChangeArrowheads="1"/>
          </p:cNvSpPr>
          <p:nvPr/>
        </p:nvSpPr>
        <p:spPr bwMode="auto">
          <a:xfrm>
            <a:off x="7165976" y="2703831"/>
            <a:ext cx="152204" cy="144464"/>
          </a:xfrm>
          <a:prstGeom prst="ellipse">
            <a:avLst/>
          </a:prstGeom>
          <a:solidFill>
            <a:schemeClr val="accent4"/>
          </a:solidFill>
          <a:ln>
            <a:headEnd/>
            <a:tailEnd/>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defRPr/>
            </a:pPr>
            <a:endParaRPr lang="ko-KR" altLang="ko-KR" sz="1200" b="0">
              <a:solidFill>
                <a:srgbClr val="000000"/>
              </a:solidFill>
              <a:latin typeface="+mn-ea"/>
              <a:ea typeface="+mn-ea"/>
            </a:endParaRPr>
          </a:p>
        </p:txBody>
      </p:sp>
      <p:sp>
        <p:nvSpPr>
          <p:cNvPr id="32" name="AutoShape 20"/>
          <p:cNvSpPr>
            <a:spLocks noChangeArrowheads="1"/>
          </p:cNvSpPr>
          <p:nvPr/>
        </p:nvSpPr>
        <p:spPr bwMode="auto">
          <a:xfrm>
            <a:off x="5801686" y="2919731"/>
            <a:ext cx="2713567" cy="288925"/>
          </a:xfrm>
          <a:prstGeom prst="flowChartTerminator">
            <a:avLst/>
          </a:prstGeom>
          <a:noFill/>
          <a:ln w="9525">
            <a:noFill/>
            <a:miter lim="800000"/>
            <a:headEnd/>
            <a:tailEnd/>
          </a:ln>
        </p:spPr>
        <p:txBody>
          <a:bodyPr wrap="none" anchor="ctr"/>
          <a:lstStyle/>
          <a:p>
            <a:pPr algn="ctr">
              <a:defRPr/>
            </a:pPr>
            <a:r>
              <a:rPr lang="ko-KR" altLang="en-US" sz="1200" dirty="0">
                <a:solidFill>
                  <a:schemeClr val="tx1"/>
                </a:solidFill>
                <a:latin typeface="+mn-ea"/>
                <a:ea typeface="+mn-ea"/>
              </a:rPr>
              <a:t>乙 특허출원</a:t>
            </a:r>
          </a:p>
        </p:txBody>
      </p:sp>
      <p:sp>
        <p:nvSpPr>
          <p:cNvPr id="33" name="AutoShape 20"/>
          <p:cNvSpPr>
            <a:spLocks noChangeArrowheads="1"/>
          </p:cNvSpPr>
          <p:nvPr/>
        </p:nvSpPr>
        <p:spPr bwMode="auto">
          <a:xfrm>
            <a:off x="7531002" y="2919731"/>
            <a:ext cx="2713567" cy="288925"/>
          </a:xfrm>
          <a:prstGeom prst="flowChartTerminator">
            <a:avLst/>
          </a:prstGeom>
          <a:noFill/>
          <a:ln w="9525">
            <a:noFill/>
            <a:miter lim="800000"/>
            <a:headEnd/>
            <a:tailEnd/>
          </a:ln>
        </p:spPr>
        <p:txBody>
          <a:bodyPr wrap="none" anchor="ctr"/>
          <a:lstStyle/>
          <a:p>
            <a:pPr algn="ctr">
              <a:defRPr/>
            </a:pPr>
            <a:r>
              <a:rPr lang="ko-KR" altLang="en-US" sz="1200">
                <a:solidFill>
                  <a:schemeClr val="tx1"/>
                </a:solidFill>
                <a:latin typeface="+mn-ea"/>
                <a:ea typeface="+mn-ea"/>
              </a:rPr>
              <a:t>乙 특허등록</a:t>
            </a:r>
          </a:p>
        </p:txBody>
      </p:sp>
      <p:graphicFrame>
        <p:nvGraphicFramePr>
          <p:cNvPr id="34" name="표 33"/>
          <p:cNvGraphicFramePr>
            <a:graphicFrameLocks noGrp="1"/>
          </p:cNvGraphicFramePr>
          <p:nvPr>
            <p:extLst>
              <p:ext uri="{D42A27DB-BD31-4B8C-83A1-F6EECF244321}">
                <p14:modId xmlns:p14="http://schemas.microsoft.com/office/powerpoint/2010/main" val="1817798501"/>
              </p:ext>
            </p:extLst>
          </p:nvPr>
        </p:nvGraphicFramePr>
        <p:xfrm>
          <a:off x="719403" y="3859376"/>
          <a:ext cx="10713000" cy="2520280"/>
        </p:xfrm>
        <a:graphic>
          <a:graphicData uri="http://schemas.openxmlformats.org/drawingml/2006/table">
            <a:tbl>
              <a:tblPr firstRow="1">
                <a:tableStyleId>{BC89EF96-8CEA-46FF-86C4-4CE0E7609802}</a:tableStyleId>
              </a:tblPr>
              <a:tblGrid>
                <a:gridCol w="1514899">
                  <a:extLst>
                    <a:ext uri="{9D8B030D-6E8A-4147-A177-3AD203B41FA5}">
                      <a16:colId xmlns:a16="http://schemas.microsoft.com/office/drawing/2014/main" val="20000"/>
                    </a:ext>
                  </a:extLst>
                </a:gridCol>
                <a:gridCol w="9198101">
                  <a:extLst>
                    <a:ext uri="{9D8B030D-6E8A-4147-A177-3AD203B41FA5}">
                      <a16:colId xmlns:a16="http://schemas.microsoft.com/office/drawing/2014/main" val="20001"/>
                    </a:ext>
                  </a:extLst>
                </a:gridCol>
              </a:tblGrid>
              <a:tr h="347587">
                <a:tc>
                  <a:txBody>
                    <a:bodyPr/>
                    <a:lstStyle/>
                    <a:p>
                      <a:pPr algn="ctr" latinLnBrk="1"/>
                      <a:r>
                        <a:rPr lang="ko-KR" altLang="en-US" sz="1200" dirty="0" err="1"/>
                        <a:t>선사용권</a:t>
                      </a:r>
                      <a:endParaRPr lang="ko-KR" altLang="en-US" sz="1200" dirty="0"/>
                    </a:p>
                  </a:txBody>
                  <a:tcPr marL="121920" marR="1219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200" dirty="0"/>
                        <a:t>내 용</a:t>
                      </a:r>
                    </a:p>
                  </a:txBody>
                  <a:tcPr marL="121920" marR="1219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931154">
                <a:tc>
                  <a:txBody>
                    <a:bodyPr/>
                    <a:lstStyle/>
                    <a:p>
                      <a:pPr algn="ctr" latinLnBrk="1"/>
                      <a:r>
                        <a:rPr lang="ko-KR" altLang="en-US" sz="1200" dirty="0"/>
                        <a:t>의의 및 효력</a:t>
                      </a:r>
                    </a:p>
                  </a:txBody>
                  <a:tcPr marL="121920" marR="1219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1" indent="0" algn="l" defTabSz="914400" rtl="0" eaLnBrk="1" fontAlgn="auto" latinLnBrk="1" hangingPunct="1">
                        <a:lnSpc>
                          <a:spcPct val="100000"/>
                        </a:lnSpc>
                        <a:spcBef>
                          <a:spcPts val="0"/>
                        </a:spcBef>
                        <a:spcAft>
                          <a:spcPts val="0"/>
                        </a:spcAft>
                        <a:buClrTx/>
                        <a:buSzTx/>
                        <a:buFontTx/>
                        <a:buNone/>
                        <a:tabLst/>
                        <a:defRPr/>
                      </a:pPr>
                      <a:r>
                        <a:rPr lang="ko-KR" altLang="ko-KR" sz="1200" dirty="0" err="1"/>
                        <a:t>선사용권이란</a:t>
                      </a:r>
                      <a:r>
                        <a:rPr lang="ko-KR" altLang="ko-KR" sz="1200" dirty="0"/>
                        <a:t> 특허출원</a:t>
                      </a:r>
                      <a:r>
                        <a:rPr lang="en-US" altLang="ko-KR" sz="1200" dirty="0"/>
                        <a:t> </a:t>
                      </a:r>
                      <a:r>
                        <a:rPr lang="ko-KR" altLang="ko-KR" sz="1200" dirty="0"/>
                        <a:t>시에 그 </a:t>
                      </a:r>
                      <a:r>
                        <a:rPr lang="ko-KR" altLang="ko-KR" sz="1200" dirty="0" err="1"/>
                        <a:t>특허출원된</a:t>
                      </a:r>
                      <a:r>
                        <a:rPr lang="ko-KR" altLang="ko-KR" sz="1200" dirty="0"/>
                        <a:t> 발명의 내용을 알지 못하고 그 발명을 하거나 그 발명을 한 </a:t>
                      </a:r>
                      <a:r>
                        <a:rPr lang="ko-KR" altLang="en-US" sz="1200" dirty="0"/>
                        <a:t>사람으로부터 알게 되어 </a:t>
                      </a:r>
                      <a:r>
                        <a:rPr lang="ko-KR" altLang="ko-KR" sz="1200" dirty="0"/>
                        <a:t>국내에서 그 발명의 실시사업 또는 그 사업준비를 하고 있는 자에게 그 실시 또는 준비를 하고 있는 발명 및 사업목적의 범위 안에서 그 </a:t>
                      </a:r>
                      <a:r>
                        <a:rPr lang="ko-KR" altLang="ko-KR" sz="1200" dirty="0" err="1"/>
                        <a:t>특허출원된</a:t>
                      </a:r>
                      <a:r>
                        <a:rPr lang="ko-KR" altLang="ko-KR" sz="1200" dirty="0"/>
                        <a:t> 발명에 대한 특허권에 대하여 인정되는 </a:t>
                      </a:r>
                      <a:r>
                        <a:rPr lang="ko-KR" altLang="ko-KR" sz="1200" dirty="0" err="1"/>
                        <a:t>통상실시권을</a:t>
                      </a:r>
                      <a:r>
                        <a:rPr lang="ko-KR" altLang="ko-KR" sz="1200" dirty="0"/>
                        <a:t> 말한다(특허법 제103조). </a:t>
                      </a:r>
                      <a:r>
                        <a:rPr lang="ko-KR" altLang="ko-KR" sz="1200" dirty="0" err="1"/>
                        <a:t>선사용권</a:t>
                      </a:r>
                      <a:r>
                        <a:rPr lang="ko-KR" altLang="en-US" sz="1200" dirty="0" err="1"/>
                        <a:t>이</a:t>
                      </a:r>
                      <a:r>
                        <a:rPr lang="ko-KR" altLang="ko-KR" sz="1200" dirty="0"/>
                        <a:t> </a:t>
                      </a:r>
                      <a:r>
                        <a:rPr lang="ko-KR" altLang="en-US" sz="1200" dirty="0"/>
                        <a:t>있</a:t>
                      </a:r>
                      <a:r>
                        <a:rPr lang="ko-KR" altLang="ko-KR" sz="1200" dirty="0"/>
                        <a:t>는 경우 특허권의 침해가 되지 않</a:t>
                      </a:r>
                      <a:r>
                        <a:rPr lang="ko-KR" altLang="en-US" sz="1200" dirty="0"/>
                        <a:t>는</a:t>
                      </a:r>
                      <a:r>
                        <a:rPr lang="ko-KR" altLang="ko-KR" sz="1200" dirty="0"/>
                        <a:t>다. </a:t>
                      </a:r>
                      <a:endParaRPr lang="en-US" altLang="ko-KR" sz="1200" dirty="0">
                        <a:latin typeface="Rix모던고딕 L" panose="02020603020101020101" pitchFamily="18" charset="-127"/>
                      </a:endParaRPr>
                    </a:p>
                  </a:txBody>
                  <a:tcPr marL="121920" marR="1219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517308">
                <a:tc>
                  <a:txBody>
                    <a:bodyPr/>
                    <a:lstStyle/>
                    <a:p>
                      <a:pPr algn="ctr" latinLnBrk="1"/>
                      <a:r>
                        <a:rPr lang="ko-KR" altLang="en-US" sz="1200" dirty="0"/>
                        <a:t>증명책임</a:t>
                      </a:r>
                    </a:p>
                  </a:txBody>
                  <a:tcPr marL="121920" marR="1219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defRPr/>
                      </a:pPr>
                      <a:r>
                        <a:rPr lang="ko-KR" altLang="ko-KR" sz="1200" dirty="0"/>
                        <a:t>특허권자(乙)의 출원시에 제3자(甲)</a:t>
                      </a:r>
                      <a:r>
                        <a:rPr lang="ko-KR" altLang="en-US" sz="1200" dirty="0"/>
                        <a:t>가</a:t>
                      </a:r>
                      <a:r>
                        <a:rPr lang="ko-KR" altLang="ko-KR" sz="1200" dirty="0"/>
                        <a:t> 국내에서 선의로 실시사업 또는 사업준비를 하고 있는 경우에만 선사용권이 발생하</a:t>
                      </a:r>
                      <a:r>
                        <a:rPr lang="ko-KR" altLang="en-US" sz="1200" dirty="0"/>
                        <a:t>는데</a:t>
                      </a:r>
                      <a:r>
                        <a:rPr lang="ko-KR" altLang="ko-KR" sz="1200" dirty="0"/>
                        <a:t>, 이는 제3자가 </a:t>
                      </a:r>
                      <a:r>
                        <a:rPr lang="ko-KR" altLang="en-US" sz="1200" dirty="0"/>
                        <a:t>증명을</a:t>
                      </a:r>
                      <a:r>
                        <a:rPr lang="ko-KR" altLang="ko-KR" sz="1200" dirty="0"/>
                        <a:t> 해야 한다. </a:t>
                      </a:r>
                      <a:endParaRPr lang="ko-KR" altLang="en-US" sz="1200" dirty="0"/>
                    </a:p>
                  </a:txBody>
                  <a:tcPr marL="121920" marR="1219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724231">
                <a:tc>
                  <a:txBody>
                    <a:bodyPr/>
                    <a:lstStyle/>
                    <a:p>
                      <a:pPr algn="ctr" latinLnBrk="1"/>
                      <a:r>
                        <a:rPr lang="ko-KR" altLang="en-US" sz="1200" dirty="0"/>
                        <a:t>증명방법</a:t>
                      </a:r>
                    </a:p>
                  </a:txBody>
                  <a:tcPr marL="121920" marR="1219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171450" marR="0" lvl="1" indent="-171450" algn="l" defTabSz="914400" rtl="0" eaLnBrk="1" fontAlgn="auto" latinLnBrk="1" hangingPunct="1">
                        <a:lnSpc>
                          <a:spcPct val="100000"/>
                        </a:lnSpc>
                        <a:spcBef>
                          <a:spcPts val="0"/>
                        </a:spcBef>
                        <a:spcAft>
                          <a:spcPts val="0"/>
                        </a:spcAft>
                        <a:buClrTx/>
                        <a:buSzTx/>
                        <a:buFont typeface="Wingdings" pitchFamily="2" charset="2"/>
                        <a:buChar char="§"/>
                        <a:tabLst/>
                        <a:defRPr/>
                      </a:pPr>
                      <a:r>
                        <a:rPr lang="ko-KR" altLang="en-US" sz="1200" dirty="0"/>
                        <a:t>기술관련서류</a:t>
                      </a:r>
                      <a:r>
                        <a:rPr lang="en-US" altLang="ko-KR" sz="1200" dirty="0"/>
                        <a:t>, </a:t>
                      </a:r>
                      <a:r>
                        <a:rPr lang="ko-KR" altLang="en-US" sz="1200" dirty="0"/>
                        <a:t>사업관련서류</a:t>
                      </a:r>
                      <a:r>
                        <a:rPr lang="en-US" altLang="ko-KR" sz="1200" dirty="0"/>
                        <a:t>, </a:t>
                      </a:r>
                      <a:r>
                        <a:rPr lang="ko-KR" altLang="en-US" sz="1200" dirty="0"/>
                        <a:t>제품</a:t>
                      </a:r>
                      <a:r>
                        <a:rPr lang="en-US" altLang="ko-KR" sz="1200" dirty="0"/>
                        <a:t>, </a:t>
                      </a:r>
                      <a:r>
                        <a:rPr lang="ko-KR" altLang="en-US" sz="1200" dirty="0"/>
                        <a:t>영상 등을 잘 관리</a:t>
                      </a:r>
                      <a:endParaRPr lang="en-US" altLang="ko-KR" sz="1200" dirty="0"/>
                    </a:p>
                    <a:p>
                      <a:pPr marL="171450" marR="0" lvl="1" indent="-171450" algn="l" defTabSz="914400" rtl="0" eaLnBrk="1" fontAlgn="auto" latinLnBrk="1" hangingPunct="1">
                        <a:lnSpc>
                          <a:spcPct val="100000"/>
                        </a:lnSpc>
                        <a:spcBef>
                          <a:spcPts val="0"/>
                        </a:spcBef>
                        <a:spcAft>
                          <a:spcPts val="0"/>
                        </a:spcAft>
                        <a:buClrTx/>
                        <a:buSzTx/>
                        <a:buFont typeface="Wingdings" pitchFamily="2" charset="2"/>
                        <a:buChar char="§"/>
                        <a:tabLst/>
                        <a:defRPr/>
                      </a:pPr>
                      <a:r>
                        <a:rPr lang="ko-KR" altLang="en-US" sz="1200" dirty="0"/>
                        <a:t>공증사무소의 공증 활용</a:t>
                      </a:r>
                      <a:endParaRPr lang="en-US" altLang="ko-KR" sz="1200" dirty="0"/>
                    </a:p>
                    <a:p>
                      <a:pPr marL="171450" marR="0" lvl="1" indent="-171450" algn="l" defTabSz="914400" rtl="0" eaLnBrk="1" fontAlgn="auto" latinLnBrk="1" hangingPunct="1">
                        <a:lnSpc>
                          <a:spcPct val="100000"/>
                        </a:lnSpc>
                        <a:spcBef>
                          <a:spcPts val="0"/>
                        </a:spcBef>
                        <a:spcAft>
                          <a:spcPts val="0"/>
                        </a:spcAft>
                        <a:buClrTx/>
                        <a:buSzTx/>
                        <a:buFont typeface="Wingdings" pitchFamily="2" charset="2"/>
                        <a:buChar char="§"/>
                        <a:tabLst/>
                        <a:defRPr/>
                      </a:pPr>
                      <a:r>
                        <a:rPr lang="ko-KR" altLang="en-US" sz="1200" dirty="0"/>
                        <a:t>영업비밀 원본 증명 서비스 제도 활용</a:t>
                      </a:r>
                      <a:r>
                        <a:rPr lang="en-US" altLang="ko-KR" sz="1200" dirty="0"/>
                        <a:t>(</a:t>
                      </a:r>
                      <a:r>
                        <a:rPr lang="ko-KR" altLang="en-US" sz="1200" dirty="0"/>
                        <a:t>영업비밀보호센터 </a:t>
                      </a:r>
                      <a:r>
                        <a:rPr lang="en-US" altLang="ko-KR" sz="1200" dirty="0"/>
                        <a:t>www.tradesecret</a:t>
                      </a:r>
                      <a:r>
                        <a:rPr lang="en-US" altLang="ko-KR" sz="1200" baseline="0" dirty="0"/>
                        <a:t>.co.kr)</a:t>
                      </a:r>
                      <a:endParaRPr lang="ko-KR" altLang="en-US" sz="1200" dirty="0"/>
                    </a:p>
                  </a:txBody>
                  <a:tcPr marL="121920" marR="1219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35" name="Rectangle 5"/>
          <p:cNvSpPr>
            <a:spLocks noChangeArrowheads="1"/>
          </p:cNvSpPr>
          <p:nvPr/>
        </p:nvSpPr>
        <p:spPr bwMode="auto">
          <a:xfrm>
            <a:off x="195260" y="1254031"/>
            <a:ext cx="14811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err="1">
                <a:solidFill>
                  <a:schemeClr val="bg1"/>
                </a:solidFill>
                <a:latin typeface="+mj-ea"/>
                <a:ea typeface="+mj-ea"/>
              </a:rPr>
              <a:t>선사용권</a:t>
            </a:r>
            <a:endParaRPr lang="ko-KR" altLang="en-US" sz="1600" b="0" dirty="0">
              <a:solidFill>
                <a:schemeClr val="bg1"/>
              </a:solidFill>
              <a:latin typeface="+mj-ea"/>
              <a:ea typeface="+mj-ea"/>
            </a:endParaRPr>
          </a:p>
        </p:txBody>
      </p:sp>
    </p:spTree>
    <p:extLst>
      <p:ext uri="{BB962C8B-B14F-4D97-AF65-F5344CB8AC3E}">
        <p14:creationId xmlns:p14="http://schemas.microsoft.com/office/powerpoint/2010/main" val="276749645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20</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발명의 보호전략</a:t>
            </a:r>
            <a:r>
              <a:rPr lang="en-US" altLang="ko-KR" dirty="0"/>
              <a:t>: </a:t>
            </a:r>
            <a:r>
              <a:rPr lang="ko-KR" altLang="en-US" dirty="0"/>
              <a:t>노하우</a:t>
            </a:r>
          </a:p>
        </p:txBody>
      </p:sp>
      <p:sp>
        <p:nvSpPr>
          <p:cNvPr id="19" name="Rectangle 5"/>
          <p:cNvSpPr>
            <a:spLocks noChangeArrowheads="1"/>
          </p:cNvSpPr>
          <p:nvPr/>
        </p:nvSpPr>
        <p:spPr bwMode="auto">
          <a:xfrm>
            <a:off x="195259" y="1075478"/>
            <a:ext cx="3321663"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영업비밀원본서비스 증명제도 활용</a:t>
            </a:r>
          </a:p>
        </p:txBody>
      </p:sp>
      <p:sp>
        <p:nvSpPr>
          <p:cNvPr id="5" name="Rectangle 7"/>
          <p:cNvSpPr>
            <a:spLocks noChangeArrowheads="1"/>
          </p:cNvSpPr>
          <p:nvPr/>
        </p:nvSpPr>
        <p:spPr bwMode="auto">
          <a:xfrm>
            <a:off x="0" y="0"/>
            <a:ext cx="12192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ko-KR" altLang="en-US"/>
          </a:p>
        </p:txBody>
      </p:sp>
      <p:sp>
        <p:nvSpPr>
          <p:cNvPr id="6" name="Rectangle 2"/>
          <p:cNvSpPr>
            <a:spLocks noChangeArrowheads="1"/>
          </p:cNvSpPr>
          <p:nvPr/>
        </p:nvSpPr>
        <p:spPr bwMode="auto">
          <a:xfrm>
            <a:off x="0" y="0"/>
            <a:ext cx="12192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ko-KR" altLang="en-US"/>
          </a:p>
        </p:txBody>
      </p:sp>
      <p:cxnSp>
        <p:nvCxnSpPr>
          <p:cNvPr id="8" name="직선 연결선 7">
            <a:extLst>
              <a:ext uri="{FF2B5EF4-FFF2-40B4-BE49-F238E27FC236}">
                <a16:creationId xmlns:a16="http://schemas.microsoft.com/office/drawing/2014/main" id="{9292AAF5-F412-410F-B7ED-CE608F79ED43}"/>
              </a:ext>
            </a:extLst>
          </p:cNvPr>
          <p:cNvCxnSpPr>
            <a:cxnSpLocks/>
          </p:cNvCxnSpPr>
          <p:nvPr/>
        </p:nvCxnSpPr>
        <p:spPr>
          <a:xfrm>
            <a:off x="259079" y="3890815"/>
            <a:ext cx="11763923" cy="0"/>
          </a:xfrm>
          <a:prstGeom prst="line">
            <a:avLst/>
          </a:prstGeom>
          <a:ln w="381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7" name="Picture 2">
            <a:extLst>
              <a:ext uri="{FF2B5EF4-FFF2-40B4-BE49-F238E27FC236}">
                <a16:creationId xmlns:a16="http://schemas.microsoft.com/office/drawing/2014/main" id="{60078AF9-68B8-DF4A-9AE1-CCE58CDBA2D8}"/>
              </a:ext>
            </a:extLst>
          </p:cNvPr>
          <p:cNvPicPr>
            <a:picLocks noChangeAspect="1"/>
          </p:cNvPicPr>
          <p:nvPr/>
        </p:nvPicPr>
        <p:blipFill rotWithShape="1">
          <a:blip r:embed="rId3"/>
          <a:srcRect l="13072" t="13629" r="12992" b="12778"/>
          <a:stretch/>
        </p:blipFill>
        <p:spPr>
          <a:xfrm>
            <a:off x="2456509" y="1569830"/>
            <a:ext cx="7278981" cy="2257614"/>
          </a:xfrm>
          <a:prstGeom prst="rect">
            <a:avLst/>
          </a:prstGeom>
          <a:noFill/>
          <a:ln>
            <a:noFill/>
          </a:ln>
          <a:effectLst/>
        </p:spPr>
      </p:pic>
      <p:pic>
        <p:nvPicPr>
          <p:cNvPr id="10" name="Picture 4">
            <a:extLst>
              <a:ext uri="{FF2B5EF4-FFF2-40B4-BE49-F238E27FC236}">
                <a16:creationId xmlns:a16="http://schemas.microsoft.com/office/drawing/2014/main" id="{4E8B5CAB-8177-9BB2-D11C-553537444575}"/>
              </a:ext>
            </a:extLst>
          </p:cNvPr>
          <p:cNvPicPr>
            <a:picLocks noChangeAspect="1"/>
          </p:cNvPicPr>
          <p:nvPr/>
        </p:nvPicPr>
        <p:blipFill rotWithShape="1">
          <a:blip r:embed="rId4"/>
          <a:srcRect t="55152"/>
          <a:stretch/>
        </p:blipFill>
        <p:spPr>
          <a:xfrm>
            <a:off x="6353369" y="4104170"/>
            <a:ext cx="5579547" cy="2684775"/>
          </a:xfrm>
          <a:prstGeom prst="rect">
            <a:avLst/>
          </a:prstGeom>
          <a:noFill/>
          <a:ln>
            <a:noFill/>
          </a:ln>
          <a:effectLst/>
        </p:spPr>
      </p:pic>
      <p:pic>
        <p:nvPicPr>
          <p:cNvPr id="11" name="Picture 4">
            <a:extLst>
              <a:ext uri="{FF2B5EF4-FFF2-40B4-BE49-F238E27FC236}">
                <a16:creationId xmlns:a16="http://schemas.microsoft.com/office/drawing/2014/main" id="{D52D5907-2053-046D-C186-677E59799117}"/>
              </a:ext>
            </a:extLst>
          </p:cNvPr>
          <p:cNvPicPr>
            <a:picLocks noChangeAspect="1"/>
          </p:cNvPicPr>
          <p:nvPr/>
        </p:nvPicPr>
        <p:blipFill rotWithShape="1">
          <a:blip r:embed="rId4"/>
          <a:srcRect b="51405"/>
          <a:stretch/>
        </p:blipFill>
        <p:spPr>
          <a:xfrm>
            <a:off x="259079" y="4092450"/>
            <a:ext cx="5711011" cy="2696495"/>
          </a:xfrm>
          <a:prstGeom prst="rect">
            <a:avLst/>
          </a:prstGeom>
          <a:noFill/>
          <a:ln>
            <a:noFill/>
          </a:ln>
          <a:effectLst/>
        </p:spPr>
      </p:pic>
      <p:sp>
        <p:nvSpPr>
          <p:cNvPr id="14" name="직사각형 13">
            <a:extLst>
              <a:ext uri="{FF2B5EF4-FFF2-40B4-BE49-F238E27FC236}">
                <a16:creationId xmlns:a16="http://schemas.microsoft.com/office/drawing/2014/main" id="{D3FADB18-529F-86A8-E0C2-7AFF88B6B289}"/>
              </a:ext>
            </a:extLst>
          </p:cNvPr>
          <p:cNvSpPr/>
          <p:nvPr/>
        </p:nvSpPr>
        <p:spPr>
          <a:xfrm>
            <a:off x="6353369" y="4372824"/>
            <a:ext cx="2835898" cy="128559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89858561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21</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발명의 보호전략</a:t>
            </a:r>
            <a:r>
              <a:rPr lang="en-US" altLang="ko-KR" dirty="0"/>
              <a:t>: </a:t>
            </a:r>
            <a:r>
              <a:rPr lang="ko-KR" altLang="en-US" dirty="0"/>
              <a:t>노하우</a:t>
            </a:r>
          </a:p>
        </p:txBody>
      </p:sp>
      <p:sp>
        <p:nvSpPr>
          <p:cNvPr id="5" name="Rectangle 7"/>
          <p:cNvSpPr>
            <a:spLocks noChangeArrowheads="1"/>
          </p:cNvSpPr>
          <p:nvPr/>
        </p:nvSpPr>
        <p:spPr bwMode="auto">
          <a:xfrm>
            <a:off x="0" y="0"/>
            <a:ext cx="12192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ko-KR" altLang="en-US"/>
          </a:p>
        </p:txBody>
      </p:sp>
      <p:sp>
        <p:nvSpPr>
          <p:cNvPr id="9" name="TextBox 8"/>
          <p:cNvSpPr txBox="1"/>
          <p:nvPr/>
        </p:nvSpPr>
        <p:spPr>
          <a:xfrm>
            <a:off x="77875" y="986046"/>
            <a:ext cx="11936323" cy="738664"/>
          </a:xfrm>
          <a:prstGeom prst="rect">
            <a:avLst/>
          </a:prstGeom>
          <a:noFill/>
        </p:spPr>
        <p:txBody>
          <a:bodyPr wrap="square" rtlCol="0">
            <a:spAutoFit/>
          </a:bodyPr>
          <a:lstStyle/>
          <a:p>
            <a:pPr fontAlgn="base"/>
            <a:r>
              <a:rPr lang="ko-KR" altLang="en-US" sz="1400" dirty="0">
                <a:solidFill>
                  <a:schemeClr val="tx2"/>
                </a:solidFill>
              </a:rPr>
              <a:t>영업비밀이란 공연히 알려져 있지 아니하고 독립된 경제적 가치를 가지는 것으로서</a:t>
            </a:r>
            <a:r>
              <a:rPr lang="en-US" altLang="ko-KR" sz="1400" dirty="0">
                <a:solidFill>
                  <a:schemeClr val="tx2"/>
                </a:solidFill>
              </a:rPr>
              <a:t>, </a:t>
            </a:r>
            <a:r>
              <a:rPr lang="ko-KR" altLang="en-US" sz="1400" dirty="0">
                <a:solidFill>
                  <a:schemeClr val="tx2"/>
                </a:solidFill>
              </a:rPr>
              <a:t>비밀로 관리된 생산방법</a:t>
            </a:r>
            <a:r>
              <a:rPr lang="en-US" altLang="ko-KR" sz="1400" dirty="0">
                <a:solidFill>
                  <a:schemeClr val="tx2"/>
                </a:solidFill>
              </a:rPr>
              <a:t>, </a:t>
            </a:r>
            <a:r>
              <a:rPr lang="ko-KR" altLang="en-US" sz="1400" dirty="0">
                <a:solidFill>
                  <a:schemeClr val="tx2"/>
                </a:solidFill>
              </a:rPr>
              <a:t>판매방법 기타 영업활동에 유용한 기술상 또는 경영상의 정보를 말한다</a:t>
            </a:r>
            <a:r>
              <a:rPr lang="en-US" altLang="ko-KR" sz="1400" dirty="0">
                <a:solidFill>
                  <a:schemeClr val="tx2"/>
                </a:solidFill>
              </a:rPr>
              <a:t>(</a:t>
            </a:r>
            <a:r>
              <a:rPr lang="ko-KR" altLang="en-US" sz="1400" dirty="0" err="1">
                <a:solidFill>
                  <a:schemeClr val="tx2"/>
                </a:solidFill>
              </a:rPr>
              <a:t>부정경쟁방지및영업비밀보호에관한법률</a:t>
            </a:r>
            <a:r>
              <a:rPr lang="ko-KR" altLang="en-US" sz="1400" dirty="0">
                <a:solidFill>
                  <a:schemeClr val="tx2"/>
                </a:solidFill>
              </a:rPr>
              <a:t> 제</a:t>
            </a:r>
            <a:r>
              <a:rPr lang="en-US" altLang="ko-KR" sz="1400" dirty="0">
                <a:solidFill>
                  <a:schemeClr val="tx2"/>
                </a:solidFill>
              </a:rPr>
              <a:t>2</a:t>
            </a:r>
            <a:r>
              <a:rPr lang="ko-KR" altLang="en-US" sz="1400" dirty="0">
                <a:solidFill>
                  <a:schemeClr val="tx2"/>
                </a:solidFill>
              </a:rPr>
              <a:t>조 제</a:t>
            </a:r>
            <a:r>
              <a:rPr lang="en-US" altLang="ko-KR" sz="1400" dirty="0">
                <a:solidFill>
                  <a:schemeClr val="tx2"/>
                </a:solidFill>
              </a:rPr>
              <a:t>2</a:t>
            </a:r>
            <a:r>
              <a:rPr lang="ko-KR" altLang="en-US" sz="1400" dirty="0">
                <a:solidFill>
                  <a:schemeClr val="tx2"/>
                </a:solidFill>
              </a:rPr>
              <a:t>호</a:t>
            </a:r>
            <a:r>
              <a:rPr lang="en-US" altLang="ko-KR" sz="1400" dirty="0">
                <a:solidFill>
                  <a:schemeClr val="tx2"/>
                </a:solidFill>
              </a:rPr>
              <a:t>). </a:t>
            </a:r>
            <a:r>
              <a:rPr lang="ko-KR" altLang="en-US" sz="1400" dirty="0">
                <a:solidFill>
                  <a:schemeClr val="tx2"/>
                </a:solidFill>
              </a:rPr>
              <a:t>영업비밀은 영업상의 이익 또는 사실상의 자산으로 이해되고 있으나</a:t>
            </a:r>
            <a:r>
              <a:rPr lang="en-US" altLang="ko-KR" sz="1400" dirty="0">
                <a:solidFill>
                  <a:schemeClr val="tx2"/>
                </a:solidFill>
              </a:rPr>
              <a:t>, </a:t>
            </a:r>
            <a:r>
              <a:rPr lang="ko-KR" altLang="en-US" sz="1400" dirty="0">
                <a:solidFill>
                  <a:schemeClr val="tx2"/>
                </a:solidFill>
                <a:highlight>
                  <a:srgbClr val="FFFF00"/>
                </a:highlight>
              </a:rPr>
              <a:t>공개의 대가로 배타적 권리를 부여하는 것이 아니고 공시제도가 존재하는 것도 아니므로 물권 또는 산업재산권과 같은 권리성은 인정되지 않는다</a:t>
            </a:r>
            <a:r>
              <a:rPr lang="en-US" altLang="ko-KR" sz="1400" dirty="0">
                <a:solidFill>
                  <a:schemeClr val="tx2"/>
                </a:solidFill>
                <a:highlight>
                  <a:srgbClr val="FFFF00"/>
                </a:highlight>
              </a:rPr>
              <a:t>.</a:t>
            </a:r>
            <a:endParaRPr lang="ko-KR" altLang="en-US" sz="1400" dirty="0">
              <a:solidFill>
                <a:schemeClr val="tx2"/>
              </a:solidFill>
              <a:highlight>
                <a:srgbClr val="FFFF00"/>
              </a:highlight>
            </a:endParaRPr>
          </a:p>
        </p:txBody>
      </p:sp>
      <p:cxnSp>
        <p:nvCxnSpPr>
          <p:cNvPr id="10" name="직선 연결선 9"/>
          <p:cNvCxnSpPr/>
          <p:nvPr/>
        </p:nvCxnSpPr>
        <p:spPr>
          <a:xfrm>
            <a:off x="0" y="172669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11" name="Group 66"/>
          <p:cNvGraphicFramePr>
            <a:graphicFrameLocks noGrp="1"/>
          </p:cNvGraphicFramePr>
          <p:nvPr>
            <p:extLst>
              <p:ext uri="{D42A27DB-BD31-4B8C-83A1-F6EECF244321}">
                <p14:modId xmlns:p14="http://schemas.microsoft.com/office/powerpoint/2010/main" val="2593805694"/>
              </p:ext>
            </p:extLst>
          </p:nvPr>
        </p:nvGraphicFramePr>
        <p:xfrm>
          <a:off x="431371" y="2562227"/>
          <a:ext cx="5216954" cy="3784977"/>
        </p:xfrm>
        <a:graphic>
          <a:graphicData uri="http://schemas.openxmlformats.org/drawingml/2006/table">
            <a:tbl>
              <a:tblPr firstCol="1" bandRow="1">
                <a:tableStyleId>{85BE263C-DBD7-4A20-BB59-AAB30ACAA65A}</a:tableStyleId>
              </a:tblPr>
              <a:tblGrid>
                <a:gridCol w="711629">
                  <a:extLst>
                    <a:ext uri="{9D8B030D-6E8A-4147-A177-3AD203B41FA5}">
                      <a16:colId xmlns:a16="http://schemas.microsoft.com/office/drawing/2014/main" val="20000"/>
                    </a:ext>
                  </a:extLst>
                </a:gridCol>
                <a:gridCol w="4505325">
                  <a:extLst>
                    <a:ext uri="{9D8B030D-6E8A-4147-A177-3AD203B41FA5}">
                      <a16:colId xmlns:a16="http://schemas.microsoft.com/office/drawing/2014/main" val="20001"/>
                    </a:ext>
                  </a:extLst>
                </a:gridCol>
              </a:tblGrid>
              <a:tr h="2032357">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ko-KR" altLang="en-US" sz="1400" u="none" strike="noStrike" cap="none" normalizeH="0" baseline="0" dirty="0">
                          <a:ln>
                            <a:noFill/>
                          </a:ln>
                          <a:solidFill>
                            <a:schemeClr val="tx1"/>
                          </a:solidFill>
                          <a:effectLst/>
                          <a:latin typeface="+mn-ea"/>
                          <a:ea typeface="+mn-ea"/>
                        </a:rPr>
                        <a:t>기술</a:t>
                      </a:r>
                    </a:p>
                    <a:p>
                      <a:pPr marL="0" marR="0" lvl="0" indent="0" algn="ctr" defTabSz="914400" rtl="0" eaLnBrk="0" fontAlgn="base" latinLnBrk="0" hangingPunct="0">
                        <a:lnSpc>
                          <a:spcPct val="150000"/>
                        </a:lnSpc>
                        <a:spcBef>
                          <a:spcPct val="0"/>
                        </a:spcBef>
                        <a:spcAft>
                          <a:spcPct val="0"/>
                        </a:spcAft>
                        <a:buClrTx/>
                        <a:buSzTx/>
                        <a:buFontTx/>
                        <a:buNone/>
                        <a:tabLst/>
                      </a:pPr>
                      <a:r>
                        <a:rPr kumimoji="0" lang="ko-KR" altLang="en-US" sz="1400" u="none" strike="noStrike" cap="none" normalizeH="0" baseline="0" dirty="0">
                          <a:ln>
                            <a:noFill/>
                          </a:ln>
                          <a:solidFill>
                            <a:schemeClr val="tx1"/>
                          </a:solidFill>
                          <a:effectLst/>
                          <a:latin typeface="+mn-ea"/>
                          <a:ea typeface="+mn-ea"/>
                        </a:rPr>
                        <a:t>정보</a:t>
                      </a:r>
                      <a:endParaRPr kumimoji="0" lang="ko-KR" altLang="en-US" sz="1400" b="1" i="0" u="none" strike="noStrike" cap="none" normalizeH="0" baseline="0" dirty="0">
                        <a:ln>
                          <a:noFill/>
                        </a:ln>
                        <a:solidFill>
                          <a:schemeClr val="tx1"/>
                        </a:solidFill>
                        <a:effectLst/>
                        <a:latin typeface="+mn-ea"/>
                        <a:ea typeface="+mn-ea"/>
                      </a:endParaRPr>
                    </a:p>
                  </a:txBody>
                  <a:tcPr marL="121919" marR="121919" marT="45729" marB="4572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92075" marR="0" lvl="0" indent="-92075" algn="just" defTabSz="914400" rtl="0" eaLnBrk="1" fontAlgn="base" latinLnBrk="0" hangingPunct="1">
                        <a:lnSpc>
                          <a:spcPct val="150000"/>
                        </a:lnSpc>
                        <a:spcBef>
                          <a:spcPct val="0"/>
                        </a:spcBef>
                        <a:spcAft>
                          <a:spcPct val="0"/>
                        </a:spcAft>
                        <a:buClrTx/>
                        <a:buSzTx/>
                        <a:buFont typeface="Wingdings" pitchFamily="2" charset="2"/>
                        <a:buChar char="§"/>
                        <a:tabLst/>
                      </a:pPr>
                      <a:r>
                        <a:rPr kumimoji="0" lang="ko-KR" altLang="en-US" sz="1100" u="none" strike="noStrike" cap="none" normalizeH="0" baseline="0" dirty="0">
                          <a:ln>
                            <a:noFill/>
                          </a:ln>
                          <a:effectLst/>
                          <a:latin typeface="+mn-ea"/>
                          <a:ea typeface="+mn-ea"/>
                        </a:rPr>
                        <a:t>제조 공정</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설계 도면</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실험 데이터</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연구 리포트</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생산 방법 등</a:t>
                      </a:r>
                      <a:endParaRPr kumimoji="0" lang="en-US" altLang="ko-KR" sz="1100" u="none" strike="noStrike" cap="none" normalizeH="0" baseline="0" dirty="0">
                        <a:ln>
                          <a:noFill/>
                        </a:ln>
                        <a:effectLst/>
                        <a:latin typeface="+mn-ea"/>
                        <a:ea typeface="+mn-ea"/>
                      </a:endParaRPr>
                    </a:p>
                    <a:p>
                      <a:pPr marL="92075" marR="0" lvl="0" indent="-92075" algn="just" defTabSz="914400" rtl="0" eaLnBrk="1" fontAlgn="base" latinLnBrk="0" hangingPunct="1">
                        <a:lnSpc>
                          <a:spcPct val="150000"/>
                        </a:lnSpc>
                        <a:spcBef>
                          <a:spcPct val="0"/>
                        </a:spcBef>
                        <a:spcAft>
                          <a:spcPct val="0"/>
                        </a:spcAft>
                        <a:buClrTx/>
                        <a:buSzTx/>
                        <a:buFont typeface="Wingdings" pitchFamily="2" charset="2"/>
                        <a:buChar char="§"/>
                        <a:tabLst/>
                      </a:pPr>
                      <a:r>
                        <a:rPr kumimoji="0" lang="ko-KR" altLang="en-US" sz="1100" u="none" strike="noStrike" cap="none" normalizeH="0" baseline="0" dirty="0">
                          <a:ln>
                            <a:noFill/>
                          </a:ln>
                          <a:effectLst/>
                          <a:latin typeface="+mn-ea"/>
                          <a:ea typeface="+mn-ea"/>
                        </a:rPr>
                        <a:t>컴퓨터 프로그램</a:t>
                      </a:r>
                      <a:endParaRPr kumimoji="0" lang="en-US" altLang="ko-KR" sz="1100" u="none" strike="noStrike" cap="none" normalizeH="0" baseline="0" dirty="0">
                        <a:ln>
                          <a:noFill/>
                        </a:ln>
                        <a:effectLst/>
                        <a:latin typeface="+mn-ea"/>
                        <a:ea typeface="+mn-ea"/>
                      </a:endParaRPr>
                    </a:p>
                    <a:p>
                      <a:pPr marL="92075" marR="0" lvl="0" indent="-92075" algn="just" defTabSz="914400" rtl="0" eaLnBrk="1" fontAlgn="base" latinLnBrk="0" hangingPunct="1">
                        <a:lnSpc>
                          <a:spcPct val="150000"/>
                        </a:lnSpc>
                        <a:spcBef>
                          <a:spcPct val="0"/>
                        </a:spcBef>
                        <a:spcAft>
                          <a:spcPct val="0"/>
                        </a:spcAft>
                        <a:buClrTx/>
                        <a:buSzTx/>
                        <a:buFont typeface="Wingdings" pitchFamily="2" charset="2"/>
                        <a:buChar char="§"/>
                        <a:tabLst/>
                      </a:pPr>
                      <a:r>
                        <a:rPr kumimoji="0" lang="ko-KR" altLang="en-US" sz="1100" u="none" strike="noStrike" cap="none" normalizeH="0" baseline="0" dirty="0">
                          <a:ln>
                            <a:noFill/>
                          </a:ln>
                          <a:effectLst/>
                          <a:latin typeface="+mn-ea"/>
                          <a:ea typeface="+mn-ea"/>
                        </a:rPr>
                        <a:t>제조 시설의 배치 방법</a:t>
                      </a:r>
                      <a:endParaRPr kumimoji="0" lang="en-US" altLang="ko-KR" sz="1100" u="none" strike="noStrike" cap="none" normalizeH="0" baseline="0" dirty="0">
                        <a:ln>
                          <a:noFill/>
                        </a:ln>
                        <a:effectLst/>
                        <a:latin typeface="+mn-ea"/>
                        <a:ea typeface="+mn-ea"/>
                      </a:endParaRPr>
                    </a:p>
                    <a:p>
                      <a:pPr marL="92075" marR="0" lvl="0" indent="-92075" algn="just" defTabSz="914400" rtl="0" eaLnBrk="1" fontAlgn="base" latinLnBrk="0" hangingPunct="1">
                        <a:lnSpc>
                          <a:spcPct val="150000"/>
                        </a:lnSpc>
                        <a:spcBef>
                          <a:spcPct val="0"/>
                        </a:spcBef>
                        <a:spcAft>
                          <a:spcPct val="0"/>
                        </a:spcAft>
                        <a:buClrTx/>
                        <a:buSzTx/>
                        <a:buFont typeface="Wingdings" pitchFamily="2" charset="2"/>
                        <a:buChar char="§"/>
                        <a:tabLst/>
                      </a:pPr>
                      <a:r>
                        <a:rPr kumimoji="0" lang="ko-KR" altLang="en-US" sz="1100" u="none" strike="noStrike" cap="none" normalizeH="0" baseline="0" dirty="0">
                          <a:ln>
                            <a:noFill/>
                          </a:ln>
                          <a:effectLst/>
                          <a:latin typeface="+mn-ea"/>
                          <a:ea typeface="+mn-ea"/>
                        </a:rPr>
                        <a:t>의약품의 원료나 성분 또는 이들의 </a:t>
                      </a:r>
                      <a:r>
                        <a:rPr kumimoji="0" lang="ko-KR" altLang="en-US" sz="1100" u="none" strike="noStrike" cap="none" normalizeH="0" baseline="0" dirty="0" err="1">
                          <a:ln>
                            <a:noFill/>
                          </a:ln>
                          <a:effectLst/>
                          <a:latin typeface="+mn-ea"/>
                          <a:ea typeface="+mn-ea"/>
                        </a:rPr>
                        <a:t>배합비</a:t>
                      </a:r>
                      <a:r>
                        <a:rPr kumimoji="0" lang="ko-KR" altLang="en-US" sz="1100" u="none" strike="noStrike" cap="none" normalizeH="0" baseline="0" dirty="0">
                          <a:ln>
                            <a:noFill/>
                          </a:ln>
                          <a:effectLst/>
                          <a:latin typeface="+mn-ea"/>
                          <a:ea typeface="+mn-ea"/>
                        </a:rPr>
                        <a:t> 등의 </a:t>
                      </a:r>
                      <a:r>
                        <a:rPr kumimoji="0" lang="en-US" altLang="ko-KR" sz="1100" u="none" strike="noStrike" cap="none" normalizeH="0" baseline="0" dirty="0">
                          <a:ln>
                            <a:noFill/>
                          </a:ln>
                          <a:effectLst/>
                          <a:latin typeface="+mn-ea"/>
                          <a:ea typeface="+mn-ea"/>
                        </a:rPr>
                        <a:t>know-how</a:t>
                      </a:r>
                      <a:r>
                        <a:rPr kumimoji="0" lang="ko-KR" altLang="en-US" sz="1100" u="none" strike="noStrike" cap="none" normalizeH="0" baseline="0" dirty="0">
                          <a:ln>
                            <a:noFill/>
                          </a:ln>
                          <a:effectLst/>
                          <a:latin typeface="+mn-ea"/>
                          <a:ea typeface="+mn-ea"/>
                        </a:rPr>
                        <a:t>로 효능이 높은 특수약품을 제조하는 방법</a:t>
                      </a:r>
                      <a:endParaRPr kumimoji="0" lang="en-US" altLang="ko-KR" sz="1100" u="none" strike="noStrike" cap="none" normalizeH="0" baseline="0" dirty="0">
                        <a:ln>
                          <a:noFill/>
                        </a:ln>
                        <a:effectLst/>
                        <a:latin typeface="+mn-ea"/>
                        <a:ea typeface="+mn-ea"/>
                      </a:endParaRPr>
                    </a:p>
                    <a:p>
                      <a:pPr marL="92075" marR="0" lvl="0" indent="-92075" algn="just" defTabSz="914400" rtl="0" eaLnBrk="1" fontAlgn="base" latinLnBrk="0" hangingPunct="1">
                        <a:lnSpc>
                          <a:spcPct val="150000"/>
                        </a:lnSpc>
                        <a:spcBef>
                          <a:spcPct val="0"/>
                        </a:spcBef>
                        <a:spcAft>
                          <a:spcPct val="0"/>
                        </a:spcAft>
                        <a:buClrTx/>
                        <a:buSzTx/>
                        <a:buFont typeface="Wingdings" pitchFamily="2" charset="2"/>
                        <a:buChar char="§"/>
                        <a:tabLst/>
                      </a:pPr>
                      <a:r>
                        <a:rPr kumimoji="0" lang="ko-KR" altLang="en-US" sz="1100" u="none" strike="noStrike" cap="none" normalizeH="0" baseline="0" dirty="0">
                          <a:ln>
                            <a:noFill/>
                          </a:ln>
                          <a:effectLst/>
                          <a:latin typeface="+mn-ea"/>
                          <a:ea typeface="+mn-ea"/>
                        </a:rPr>
                        <a:t>기능성이 있는 디자인 </a:t>
                      </a:r>
                      <a:r>
                        <a:rPr kumimoji="0" lang="en-US" altLang="ko-KR" sz="1100" u="none" strike="noStrike" cap="none" normalizeH="0" baseline="0" dirty="0">
                          <a:ln>
                            <a:noFill/>
                          </a:ln>
                          <a:effectLst/>
                          <a:latin typeface="+mn-ea"/>
                          <a:ea typeface="+mn-ea"/>
                        </a:rPr>
                        <a:t>(</a:t>
                      </a:r>
                      <a:r>
                        <a:rPr kumimoji="0" lang="ko-KR" altLang="en-US" sz="1100" u="none" strike="noStrike" cap="none" normalizeH="0" baseline="0" dirty="0">
                          <a:ln>
                            <a:noFill/>
                          </a:ln>
                          <a:effectLst/>
                          <a:latin typeface="+mn-ea"/>
                          <a:ea typeface="+mn-ea"/>
                        </a:rPr>
                        <a:t>자동차 디자인</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건축디자인 등</a:t>
                      </a:r>
                      <a:r>
                        <a:rPr kumimoji="0" lang="en-US" altLang="ko-KR" sz="1100" u="none" strike="noStrike" cap="none" normalizeH="0" baseline="0" dirty="0">
                          <a:ln>
                            <a:noFill/>
                          </a:ln>
                          <a:effectLst/>
                          <a:latin typeface="+mn-ea"/>
                          <a:ea typeface="+mn-ea"/>
                        </a:rPr>
                        <a:t>)</a:t>
                      </a:r>
                    </a:p>
                    <a:p>
                      <a:pPr marL="92075" marR="0" lvl="0" indent="-92075" algn="just" defTabSz="914400" rtl="0" eaLnBrk="1" fontAlgn="base" latinLnBrk="0" hangingPunct="1">
                        <a:lnSpc>
                          <a:spcPct val="150000"/>
                        </a:lnSpc>
                        <a:spcBef>
                          <a:spcPct val="0"/>
                        </a:spcBef>
                        <a:spcAft>
                          <a:spcPct val="0"/>
                        </a:spcAft>
                        <a:buClrTx/>
                        <a:buSzTx/>
                        <a:buFont typeface="Wingdings" pitchFamily="2" charset="2"/>
                        <a:buChar char="§"/>
                        <a:tabLst/>
                      </a:pPr>
                      <a:r>
                        <a:rPr kumimoji="0" lang="ko-KR" altLang="en-US" sz="1100" u="none" strike="noStrike" cap="none" normalizeH="0" baseline="0" dirty="0">
                          <a:ln>
                            <a:noFill/>
                          </a:ln>
                          <a:effectLst/>
                          <a:latin typeface="+mn-ea"/>
                          <a:ea typeface="+mn-ea"/>
                        </a:rPr>
                        <a:t>독특한 식료품의 맛</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향기 등에 대한 </a:t>
                      </a:r>
                      <a:r>
                        <a:rPr kumimoji="0" lang="en-US" altLang="ko-KR" sz="1100" u="none" strike="noStrike" cap="none" normalizeH="0" baseline="0" dirty="0">
                          <a:ln>
                            <a:noFill/>
                          </a:ln>
                          <a:effectLst/>
                          <a:latin typeface="+mn-ea"/>
                          <a:ea typeface="+mn-ea"/>
                        </a:rPr>
                        <a:t>know-how (</a:t>
                      </a:r>
                      <a:r>
                        <a:rPr kumimoji="0" lang="ko-KR" altLang="en-US" sz="1100" u="none" strike="noStrike" cap="none" normalizeH="0" baseline="0" dirty="0">
                          <a:ln>
                            <a:noFill/>
                          </a:ln>
                          <a:effectLst/>
                          <a:latin typeface="+mn-ea"/>
                          <a:ea typeface="+mn-ea"/>
                        </a:rPr>
                        <a:t>코카콜라 맛 등</a:t>
                      </a:r>
                      <a:r>
                        <a:rPr kumimoji="0" lang="en-US" altLang="ko-KR" sz="1100" u="none" strike="noStrike" cap="none" normalizeH="0" baseline="0" dirty="0">
                          <a:ln>
                            <a:noFill/>
                          </a:ln>
                          <a:effectLst/>
                          <a:latin typeface="+mn-ea"/>
                          <a:ea typeface="+mn-ea"/>
                        </a:rPr>
                        <a:t>).</a:t>
                      </a:r>
                      <a:endParaRPr kumimoji="0" lang="en-US" altLang="ko-KR" sz="1100" b="0" i="0" u="none" strike="noStrike" cap="none" normalizeH="0" baseline="0" dirty="0">
                        <a:ln>
                          <a:noFill/>
                        </a:ln>
                        <a:solidFill>
                          <a:schemeClr val="tx1"/>
                        </a:solidFill>
                        <a:effectLst/>
                        <a:latin typeface="+mn-ea"/>
                        <a:ea typeface="+mn-ea"/>
                      </a:endParaRPr>
                    </a:p>
                  </a:txBody>
                  <a:tcPr marL="121919" marR="121919" marT="45729" marB="4572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1752620">
                <a:tc>
                  <a:txBody>
                    <a:bodyPr/>
                    <a:lstStyle/>
                    <a:p>
                      <a:pPr marL="0" marR="0" lvl="0" indent="0" algn="ctr" defTabSz="914400" rtl="0" eaLnBrk="1" fontAlgn="base" latinLnBrk="0" hangingPunct="1">
                        <a:lnSpc>
                          <a:spcPct val="150000"/>
                        </a:lnSpc>
                        <a:spcBef>
                          <a:spcPct val="0"/>
                        </a:spcBef>
                        <a:spcAft>
                          <a:spcPct val="0"/>
                        </a:spcAft>
                        <a:buClrTx/>
                        <a:buSzTx/>
                        <a:buFontTx/>
                        <a:buNone/>
                        <a:tabLst/>
                      </a:pPr>
                      <a:r>
                        <a:rPr kumimoji="0" lang="ko-KR" altLang="en-US" sz="1400" u="none" strike="noStrike" cap="none" normalizeH="0" baseline="0" dirty="0">
                          <a:ln>
                            <a:noFill/>
                          </a:ln>
                          <a:solidFill>
                            <a:schemeClr val="tx1"/>
                          </a:solidFill>
                          <a:effectLst/>
                          <a:latin typeface="+mn-ea"/>
                          <a:ea typeface="+mn-ea"/>
                        </a:rPr>
                        <a:t>경영</a:t>
                      </a:r>
                    </a:p>
                    <a:p>
                      <a:pPr marL="0" marR="0" lvl="0" indent="0" algn="ctr" defTabSz="914400" rtl="0" eaLnBrk="0" fontAlgn="base" latinLnBrk="0" hangingPunct="0">
                        <a:lnSpc>
                          <a:spcPct val="150000"/>
                        </a:lnSpc>
                        <a:spcBef>
                          <a:spcPct val="0"/>
                        </a:spcBef>
                        <a:spcAft>
                          <a:spcPct val="0"/>
                        </a:spcAft>
                        <a:buClrTx/>
                        <a:buSzTx/>
                        <a:buFontTx/>
                        <a:buNone/>
                        <a:tabLst/>
                      </a:pPr>
                      <a:r>
                        <a:rPr kumimoji="0" lang="ko-KR" altLang="en-US" sz="1400" u="none" strike="noStrike" cap="none" normalizeH="0" baseline="0" dirty="0">
                          <a:ln>
                            <a:noFill/>
                          </a:ln>
                          <a:solidFill>
                            <a:schemeClr val="tx1"/>
                          </a:solidFill>
                          <a:effectLst/>
                          <a:latin typeface="+mn-ea"/>
                          <a:ea typeface="+mn-ea"/>
                        </a:rPr>
                        <a:t>정보</a:t>
                      </a:r>
                      <a:endParaRPr kumimoji="0" lang="ko-KR" altLang="en-US" sz="1400" b="1" i="0" u="none" strike="noStrike" cap="none" normalizeH="0" baseline="0" dirty="0">
                        <a:ln>
                          <a:noFill/>
                        </a:ln>
                        <a:solidFill>
                          <a:schemeClr val="tx1"/>
                        </a:solidFill>
                        <a:effectLst/>
                        <a:latin typeface="+mn-ea"/>
                        <a:ea typeface="+mn-ea"/>
                      </a:endParaRPr>
                    </a:p>
                  </a:txBody>
                  <a:tcPr marL="121919" marR="121919" marT="45729" marB="4572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90488" marR="0" lvl="0" indent="-90488" algn="just" defTabSz="914400" rtl="0" eaLnBrk="1" fontAlgn="base" latinLnBrk="0" hangingPunct="1">
                        <a:lnSpc>
                          <a:spcPct val="150000"/>
                        </a:lnSpc>
                        <a:spcBef>
                          <a:spcPct val="0"/>
                        </a:spcBef>
                        <a:spcAft>
                          <a:spcPct val="0"/>
                        </a:spcAft>
                        <a:buClrTx/>
                        <a:buSzTx/>
                        <a:buFont typeface="Wingdings" pitchFamily="2" charset="2"/>
                        <a:buChar char="§"/>
                        <a:tabLst/>
                      </a:pPr>
                      <a:r>
                        <a:rPr kumimoji="0" lang="ko-KR" altLang="en-US" sz="1100" u="none" strike="noStrike" cap="none" normalizeH="0" baseline="0" dirty="0">
                          <a:ln>
                            <a:noFill/>
                          </a:ln>
                          <a:effectLst/>
                          <a:latin typeface="+mn-ea"/>
                          <a:ea typeface="+mn-ea"/>
                        </a:rPr>
                        <a:t>고객명부</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대리점명부</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거래선의 루트</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원료구입처</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신용리스트</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가격산정기준</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상품공급조건</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할인율</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판매계획</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합병계획</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신제품의 생산계획</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상품의 원가</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사원의 급여나 수당의 액수</a:t>
                      </a:r>
                      <a:r>
                        <a:rPr kumimoji="0" lang="en-US" altLang="ko-KR" sz="1100" u="none" strike="noStrike" cap="none" normalizeH="0" baseline="0" dirty="0">
                          <a:ln>
                            <a:noFill/>
                          </a:ln>
                          <a:effectLst/>
                          <a:latin typeface="+mn-ea"/>
                          <a:ea typeface="+mn-ea"/>
                        </a:rPr>
                        <a:t>, </a:t>
                      </a:r>
                      <a:r>
                        <a:rPr kumimoji="0" lang="ko-KR" altLang="en-US" sz="1100" u="none" strike="noStrike" cap="none" normalizeH="0" baseline="0" dirty="0">
                          <a:ln>
                            <a:noFill/>
                          </a:ln>
                          <a:effectLst/>
                          <a:latin typeface="+mn-ea"/>
                          <a:ea typeface="+mn-ea"/>
                        </a:rPr>
                        <a:t>신입사원모집방법 등</a:t>
                      </a:r>
                      <a:endParaRPr kumimoji="0" lang="en-US" altLang="ko-KR" sz="1100" u="none" strike="noStrike" cap="none" normalizeH="0" baseline="0" dirty="0">
                        <a:ln>
                          <a:noFill/>
                        </a:ln>
                        <a:effectLst/>
                        <a:latin typeface="+mn-ea"/>
                        <a:ea typeface="+mn-ea"/>
                      </a:endParaRPr>
                    </a:p>
                    <a:p>
                      <a:pPr marL="90488" marR="0" lvl="0" indent="-90488" algn="just" defTabSz="914400" rtl="0" eaLnBrk="1" fontAlgn="base" latinLnBrk="0" hangingPunct="1">
                        <a:lnSpc>
                          <a:spcPct val="150000"/>
                        </a:lnSpc>
                        <a:spcBef>
                          <a:spcPct val="0"/>
                        </a:spcBef>
                        <a:spcAft>
                          <a:spcPct val="0"/>
                        </a:spcAft>
                        <a:buClrTx/>
                        <a:buSzTx/>
                        <a:buFont typeface="Wingdings" pitchFamily="2" charset="2"/>
                        <a:buChar char="§"/>
                        <a:tabLst/>
                      </a:pPr>
                      <a:r>
                        <a:rPr kumimoji="0" lang="ko-KR" altLang="en-US" sz="1100" u="none" strike="noStrike" cap="none" normalizeH="0" baseline="0" dirty="0">
                          <a:ln>
                            <a:noFill/>
                          </a:ln>
                          <a:effectLst/>
                          <a:latin typeface="+mn-ea"/>
                          <a:ea typeface="+mn-ea"/>
                        </a:rPr>
                        <a:t>특정상품에 대한 고객의 성별</a:t>
                      </a:r>
                      <a:r>
                        <a:rPr kumimoji="0" lang="en-US" altLang="ko-KR" sz="1100" u="none" strike="noStrike" cap="none" normalizeH="0" baseline="0" dirty="0">
                          <a:ln>
                            <a:noFill/>
                          </a:ln>
                          <a:effectLst/>
                          <a:latin typeface="+mn-ea"/>
                          <a:ea typeface="+mn-ea"/>
                        </a:rPr>
                        <a:t>·</a:t>
                      </a:r>
                      <a:r>
                        <a:rPr kumimoji="0" lang="ko-KR" altLang="en-US" sz="1100" u="none" strike="noStrike" cap="none" normalizeH="0" baseline="0" dirty="0">
                          <a:ln>
                            <a:noFill/>
                          </a:ln>
                          <a:effectLst/>
                          <a:latin typeface="+mn-ea"/>
                          <a:ea typeface="+mn-ea"/>
                        </a:rPr>
                        <a:t>연령별</a:t>
                      </a:r>
                      <a:r>
                        <a:rPr kumimoji="0" lang="en-US" altLang="ko-KR" sz="1100" u="none" strike="noStrike" cap="none" normalizeH="0" baseline="0" dirty="0">
                          <a:ln>
                            <a:noFill/>
                          </a:ln>
                          <a:effectLst/>
                          <a:latin typeface="+mn-ea"/>
                          <a:ea typeface="+mn-ea"/>
                        </a:rPr>
                        <a:t>·</a:t>
                      </a:r>
                      <a:r>
                        <a:rPr kumimoji="0" lang="ko-KR" altLang="en-US" sz="1100" u="none" strike="noStrike" cap="none" normalizeH="0" baseline="0" dirty="0">
                          <a:ln>
                            <a:noFill/>
                          </a:ln>
                          <a:effectLst/>
                          <a:latin typeface="+mn-ea"/>
                          <a:ea typeface="+mn-ea"/>
                        </a:rPr>
                        <a:t>직업별</a:t>
                      </a:r>
                      <a:r>
                        <a:rPr kumimoji="0" lang="en-US" altLang="ko-KR" sz="1100" u="none" strike="noStrike" cap="none" normalizeH="0" baseline="0" dirty="0">
                          <a:ln>
                            <a:noFill/>
                          </a:ln>
                          <a:effectLst/>
                          <a:latin typeface="+mn-ea"/>
                          <a:ea typeface="+mn-ea"/>
                        </a:rPr>
                        <a:t>·</a:t>
                      </a:r>
                      <a:r>
                        <a:rPr kumimoji="0" lang="ko-KR" altLang="en-US" sz="1100" u="none" strike="noStrike" cap="none" normalizeH="0" baseline="0" dirty="0">
                          <a:ln>
                            <a:noFill/>
                          </a:ln>
                          <a:effectLst/>
                          <a:latin typeface="+mn-ea"/>
                          <a:ea typeface="+mn-ea"/>
                        </a:rPr>
                        <a:t>소득수준별</a:t>
                      </a:r>
                      <a:r>
                        <a:rPr kumimoji="0" lang="en-US" altLang="ko-KR" sz="1100" u="none" strike="noStrike" cap="none" normalizeH="0" baseline="0" dirty="0">
                          <a:ln>
                            <a:noFill/>
                          </a:ln>
                          <a:effectLst/>
                          <a:latin typeface="+mn-ea"/>
                          <a:ea typeface="+mn-ea"/>
                        </a:rPr>
                        <a:t>·</a:t>
                      </a:r>
                      <a:r>
                        <a:rPr kumimoji="0" lang="ko-KR" altLang="en-US" sz="1100" u="none" strike="noStrike" cap="none" normalizeH="0" baseline="0" dirty="0">
                          <a:ln>
                            <a:noFill/>
                          </a:ln>
                          <a:effectLst/>
                          <a:latin typeface="+mn-ea"/>
                          <a:ea typeface="+mn-ea"/>
                        </a:rPr>
                        <a:t>계절별 소비성향과 향후 소비추이를 예측할 수 있는 지표설정 등에 필요한 정보활동</a:t>
                      </a:r>
                      <a:r>
                        <a:rPr kumimoji="0" lang="en-US" altLang="ko-KR" sz="1100" u="none" strike="noStrike" cap="none" normalizeH="0" baseline="0" dirty="0">
                          <a:ln>
                            <a:noFill/>
                          </a:ln>
                          <a:effectLst/>
                          <a:latin typeface="+mn-ea"/>
                          <a:ea typeface="+mn-ea"/>
                        </a:rPr>
                        <a:t>·</a:t>
                      </a:r>
                      <a:r>
                        <a:rPr kumimoji="0" lang="ko-KR" altLang="en-US" sz="1100" u="none" strike="noStrike" cap="none" normalizeH="0" baseline="0" dirty="0">
                          <a:ln>
                            <a:noFill/>
                          </a:ln>
                          <a:effectLst/>
                          <a:latin typeface="+mn-ea"/>
                          <a:ea typeface="+mn-ea"/>
                        </a:rPr>
                        <a:t>마케팅활동 등에 관한 각종 </a:t>
                      </a:r>
                      <a:r>
                        <a:rPr kumimoji="0" lang="ko-KR" altLang="en-US" sz="1100" u="none" strike="noStrike" cap="none" normalizeH="0" baseline="0" dirty="0" err="1">
                          <a:ln>
                            <a:noFill/>
                          </a:ln>
                          <a:effectLst/>
                          <a:latin typeface="+mn-ea"/>
                          <a:ea typeface="+mn-ea"/>
                        </a:rPr>
                        <a:t>매뉴얼류</a:t>
                      </a:r>
                      <a:r>
                        <a:rPr kumimoji="0" lang="ko-KR" altLang="en-US" sz="1100" u="none" strike="noStrike" cap="none" normalizeH="0" baseline="0" dirty="0">
                          <a:ln>
                            <a:noFill/>
                          </a:ln>
                          <a:effectLst/>
                          <a:latin typeface="+mn-ea"/>
                          <a:ea typeface="+mn-ea"/>
                        </a:rPr>
                        <a:t> 등</a:t>
                      </a:r>
                      <a:endParaRPr kumimoji="0" lang="ko-KR" altLang="en-US" sz="1100" b="0" i="0" u="none" strike="noStrike" cap="none" normalizeH="0" baseline="0" dirty="0">
                        <a:ln>
                          <a:noFill/>
                        </a:ln>
                        <a:solidFill>
                          <a:schemeClr val="tx1"/>
                        </a:solidFill>
                        <a:effectLst/>
                        <a:latin typeface="+mn-ea"/>
                        <a:ea typeface="+mn-ea"/>
                      </a:endParaRPr>
                    </a:p>
                  </a:txBody>
                  <a:tcPr marL="121919" marR="121919" marT="45729" marB="4572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bl>
          </a:graphicData>
        </a:graphic>
      </p:graphicFrame>
      <p:graphicFrame>
        <p:nvGraphicFramePr>
          <p:cNvPr id="12" name="다이어그램 11"/>
          <p:cNvGraphicFramePr/>
          <p:nvPr>
            <p:extLst>
              <p:ext uri="{D42A27DB-BD31-4B8C-83A1-F6EECF244321}">
                <p14:modId xmlns:p14="http://schemas.microsoft.com/office/powerpoint/2010/main" val="34762874"/>
              </p:ext>
            </p:extLst>
          </p:nvPr>
        </p:nvGraphicFramePr>
        <p:xfrm>
          <a:off x="7440149" y="2633570"/>
          <a:ext cx="4000528" cy="306386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3" name="AutoShape 300"/>
          <p:cNvSpPr>
            <a:spLocks noChangeArrowheads="1"/>
          </p:cNvSpPr>
          <p:nvPr/>
        </p:nvSpPr>
        <p:spPr bwMode="gray">
          <a:xfrm>
            <a:off x="8279681" y="2087587"/>
            <a:ext cx="2197820" cy="285750"/>
          </a:xfrm>
          <a:prstGeom prst="roundRect">
            <a:avLst>
              <a:gd name="adj" fmla="val 50000"/>
            </a:avLst>
          </a:prstGeom>
          <a:ln>
            <a:solidFill>
              <a:schemeClr val="accent4">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algn="ctr" eaLnBrk="0" latinLnBrk="0" hangingPunct="0">
              <a:defRPr/>
            </a:pPr>
            <a:r>
              <a:rPr lang="ko-KR" altLang="en-US" sz="1600" dirty="0">
                <a:solidFill>
                  <a:schemeClr val="bg1"/>
                </a:solidFill>
                <a:latin typeface="+mj-ea"/>
                <a:ea typeface="+mj-ea"/>
              </a:rPr>
              <a:t>영업비밀의 성립요건</a:t>
            </a:r>
          </a:p>
        </p:txBody>
      </p:sp>
      <p:sp>
        <p:nvSpPr>
          <p:cNvPr id="14" name="AutoShape 300"/>
          <p:cNvSpPr>
            <a:spLocks noChangeArrowheads="1"/>
          </p:cNvSpPr>
          <p:nvPr/>
        </p:nvSpPr>
        <p:spPr bwMode="gray">
          <a:xfrm>
            <a:off x="452703" y="2087587"/>
            <a:ext cx="1661848" cy="285750"/>
          </a:xfrm>
          <a:prstGeom prst="roundRect">
            <a:avLst>
              <a:gd name="adj" fmla="val 50000"/>
            </a:avLst>
          </a:prstGeom>
          <a:solidFill>
            <a:schemeClr val="accent1"/>
          </a:solidFill>
          <a:ln>
            <a:solidFill>
              <a:schemeClr val="accent4">
                <a:lumMod val="50000"/>
              </a:schemeClr>
            </a:solidFill>
            <a:headEnd/>
            <a:tailEnd/>
          </a:ln>
        </p:spPr>
        <p:style>
          <a:lnRef idx="1">
            <a:schemeClr val="accent2"/>
          </a:lnRef>
          <a:fillRef idx="3">
            <a:schemeClr val="accent2"/>
          </a:fillRef>
          <a:effectRef idx="2">
            <a:schemeClr val="accent2"/>
          </a:effectRef>
          <a:fontRef idx="minor">
            <a:schemeClr val="lt1"/>
          </a:fontRef>
        </p:style>
        <p:txBody>
          <a:bodyPr wrap="none" anchor="ctr"/>
          <a:lstStyle/>
          <a:p>
            <a:pPr algn="ctr" eaLnBrk="0" latinLnBrk="0" hangingPunct="0">
              <a:defRPr/>
            </a:pPr>
            <a:r>
              <a:rPr lang="ko-KR" altLang="en-US" sz="1600" dirty="0">
                <a:solidFill>
                  <a:schemeClr val="bg1"/>
                </a:solidFill>
                <a:latin typeface="+mj-ea"/>
                <a:ea typeface="+mj-ea"/>
              </a:rPr>
              <a:t>영업비밀의 예시</a:t>
            </a:r>
          </a:p>
        </p:txBody>
      </p:sp>
      <p:sp>
        <p:nvSpPr>
          <p:cNvPr id="15" name="모서리가 둥근 사각형 설명선 14"/>
          <p:cNvSpPr/>
          <p:nvPr/>
        </p:nvSpPr>
        <p:spPr>
          <a:xfrm>
            <a:off x="6824464" y="5701630"/>
            <a:ext cx="4729361" cy="708695"/>
          </a:xfrm>
          <a:prstGeom prst="wedgeRoundRectCallout">
            <a:avLst>
              <a:gd name="adj1" fmla="val -11590"/>
              <a:gd name="adj2" fmla="val -102361"/>
              <a:gd name="adj3" fmla="val 16667"/>
            </a:avLst>
          </a:prstGeom>
          <a:ln>
            <a:solidFill>
              <a:schemeClr val="accent4">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marL="90488" indent="-90488">
              <a:buFont typeface="Wingdings" pitchFamily="2" charset="2"/>
              <a:buChar char="§"/>
            </a:pPr>
            <a:r>
              <a:rPr lang="ko-KR" altLang="en-US" sz="1200" dirty="0"/>
              <a:t>정보접근자의 제한조치</a:t>
            </a:r>
            <a:endParaRPr lang="en-US" altLang="ko-KR" sz="1200" dirty="0"/>
          </a:p>
          <a:p>
            <a:pPr marL="90488" indent="-90488">
              <a:buFont typeface="Wingdings" pitchFamily="2" charset="2"/>
              <a:buChar char="§"/>
            </a:pPr>
            <a:r>
              <a:rPr lang="ko-KR" altLang="en-US" sz="1200" dirty="0"/>
              <a:t>정보접근자의 비공개의무부과</a:t>
            </a:r>
            <a:endParaRPr lang="en-US" altLang="ko-KR" sz="1200" dirty="0"/>
          </a:p>
          <a:p>
            <a:pPr marL="90488" indent="-90488">
              <a:buFont typeface="Wingdings" pitchFamily="2" charset="2"/>
              <a:buChar char="§"/>
            </a:pPr>
            <a:r>
              <a:rPr lang="ko-KR" altLang="en-US" sz="1200" dirty="0" err="1"/>
              <a:t>정보접근자에게</a:t>
            </a:r>
            <a:r>
              <a:rPr lang="ko-KR" altLang="en-US" sz="1200" dirty="0"/>
              <a:t> 영업비밀인 것을 알 수 있도록 하는 조치</a:t>
            </a:r>
            <a:r>
              <a:rPr lang="en-US" altLang="ko-KR" sz="1200" dirty="0"/>
              <a:t>(</a:t>
            </a:r>
            <a:r>
              <a:rPr lang="ko-KR" altLang="en-US" sz="1200" dirty="0"/>
              <a:t>대외비</a:t>
            </a:r>
            <a:r>
              <a:rPr lang="en-US" altLang="ko-KR" sz="1200" dirty="0"/>
              <a:t> </a:t>
            </a:r>
            <a:r>
              <a:rPr lang="ko-KR" altLang="en-US" sz="1200" dirty="0"/>
              <a:t>등</a:t>
            </a:r>
            <a:r>
              <a:rPr lang="en-US" altLang="ko-KR" sz="1200" dirty="0"/>
              <a:t>)</a:t>
            </a:r>
            <a:endParaRPr lang="ko-KR" altLang="en-US" sz="1200" dirty="0"/>
          </a:p>
        </p:txBody>
      </p:sp>
      <p:cxnSp>
        <p:nvCxnSpPr>
          <p:cNvPr id="16" name="직선 연결선 15"/>
          <p:cNvCxnSpPr/>
          <p:nvPr/>
        </p:nvCxnSpPr>
        <p:spPr>
          <a:xfrm>
            <a:off x="6096000" y="2085975"/>
            <a:ext cx="0" cy="467677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9813089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a:t>
            </a:r>
            <a:r>
              <a:rPr lang="ko-KR" altLang="en-US" dirty="0"/>
              <a:t>조</a:t>
            </a:r>
          </a:p>
        </p:txBody>
      </p:sp>
      <p:sp>
        <p:nvSpPr>
          <p:cNvPr id="4" name="텍스트 개체 틀 3"/>
          <p:cNvSpPr>
            <a:spLocks noGrp="1"/>
          </p:cNvSpPr>
          <p:nvPr>
            <p:ph type="body" sz="quarter" idx="13"/>
          </p:nvPr>
        </p:nvSpPr>
        <p:spPr/>
        <p:txBody>
          <a:bodyPr/>
          <a:lstStyle/>
          <a:p>
            <a:r>
              <a:rPr lang="ko-KR" altLang="en-US" dirty="0"/>
              <a:t>탄력적으로 해석되는 발명</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22</a:t>
            </a:fld>
            <a:endParaRPr lang="ko-KR" altLang="en-US"/>
          </a:p>
        </p:txBody>
      </p:sp>
      <p:sp>
        <p:nvSpPr>
          <p:cNvPr id="45" name="TextBox 44"/>
          <p:cNvSpPr txBox="1"/>
          <p:nvPr/>
        </p:nvSpPr>
        <p:spPr>
          <a:xfrm>
            <a:off x="77875" y="986046"/>
            <a:ext cx="11936323" cy="523220"/>
          </a:xfrm>
          <a:prstGeom prst="rect">
            <a:avLst/>
          </a:prstGeom>
          <a:noFill/>
        </p:spPr>
        <p:txBody>
          <a:bodyPr wrap="square" rtlCol="0">
            <a:spAutoFit/>
          </a:bodyPr>
          <a:lstStyle/>
          <a:p>
            <a:pPr fontAlgn="base"/>
            <a:r>
              <a:rPr lang="ko-KR" altLang="en-US" sz="1400" dirty="0">
                <a:solidFill>
                  <a:schemeClr val="tx2"/>
                </a:solidFill>
              </a:rPr>
              <a:t>원칙적으로 제</a:t>
            </a:r>
            <a:r>
              <a:rPr lang="en-US" altLang="ko-KR" sz="1400" dirty="0">
                <a:solidFill>
                  <a:schemeClr val="tx2"/>
                </a:solidFill>
              </a:rPr>
              <a:t>2</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호의 정의규정을 만족하는 발명에 대하여 성립성이 인정되나</a:t>
            </a:r>
            <a:r>
              <a:rPr lang="en-US" altLang="ko-KR" sz="1400" dirty="0">
                <a:solidFill>
                  <a:schemeClr val="tx2"/>
                </a:solidFill>
              </a:rPr>
              <a:t>, </a:t>
            </a:r>
            <a:r>
              <a:rPr lang="ko-KR" altLang="en-US" sz="1400" dirty="0">
                <a:solidFill>
                  <a:schemeClr val="tx2"/>
                </a:solidFill>
              </a:rPr>
              <a:t>예외적으로 정의규정을 만족하지 않거나 만족 여부가 상당히 </a:t>
            </a:r>
            <a:r>
              <a:rPr lang="ko-KR" altLang="en-US" sz="1400" dirty="0" err="1">
                <a:solidFill>
                  <a:schemeClr val="tx2"/>
                </a:solidFill>
              </a:rPr>
              <a:t>애매함에도</a:t>
            </a:r>
            <a:r>
              <a:rPr lang="ko-KR" altLang="en-US" sz="1400" dirty="0">
                <a:solidFill>
                  <a:schemeClr val="tx2"/>
                </a:solidFill>
              </a:rPr>
              <a:t> 불구하고 </a:t>
            </a:r>
            <a:r>
              <a:rPr lang="ko-KR" altLang="en-US" sz="1400" dirty="0" err="1">
                <a:solidFill>
                  <a:schemeClr val="tx2"/>
                </a:solidFill>
              </a:rPr>
              <a:t>성립성이</a:t>
            </a:r>
            <a:r>
              <a:rPr lang="ko-KR" altLang="en-US" sz="1400" dirty="0">
                <a:solidFill>
                  <a:schemeClr val="tx2"/>
                </a:solidFill>
              </a:rPr>
              <a:t> 인정되는 발명</a:t>
            </a:r>
            <a:r>
              <a:rPr lang="en-US" altLang="ko-KR" sz="1400" dirty="0">
                <a:solidFill>
                  <a:schemeClr val="tx2"/>
                </a:solidFill>
              </a:rPr>
              <a:t>(</a:t>
            </a:r>
            <a:r>
              <a:rPr lang="ko-KR" altLang="en-US" sz="1400" dirty="0">
                <a:solidFill>
                  <a:schemeClr val="tx2"/>
                </a:solidFill>
              </a:rPr>
              <a:t>컴퓨터 프로그램 관련 발명</a:t>
            </a:r>
            <a:r>
              <a:rPr lang="en-US" altLang="ko-KR" sz="1400" dirty="0">
                <a:solidFill>
                  <a:schemeClr val="tx2"/>
                </a:solidFill>
              </a:rPr>
              <a:t>, </a:t>
            </a:r>
            <a:r>
              <a:rPr lang="ko-KR" altLang="en-US" sz="1400" dirty="0">
                <a:solidFill>
                  <a:schemeClr val="tx2"/>
                </a:solidFill>
              </a:rPr>
              <a:t>식물발명</a:t>
            </a:r>
            <a:r>
              <a:rPr lang="en-US" altLang="ko-KR" sz="1400" dirty="0">
                <a:solidFill>
                  <a:schemeClr val="tx2"/>
                </a:solidFill>
              </a:rPr>
              <a:t>, </a:t>
            </a:r>
            <a:r>
              <a:rPr lang="ko-KR" altLang="en-US" sz="1400" dirty="0">
                <a:solidFill>
                  <a:schemeClr val="tx2"/>
                </a:solidFill>
              </a:rPr>
              <a:t>미생물 발명</a:t>
            </a:r>
            <a:r>
              <a:rPr lang="en-US" altLang="ko-KR" sz="1400" dirty="0">
                <a:solidFill>
                  <a:schemeClr val="tx2"/>
                </a:solidFill>
              </a:rPr>
              <a:t>, </a:t>
            </a:r>
            <a:r>
              <a:rPr lang="ko-KR" altLang="en-US" sz="1400" dirty="0" err="1">
                <a:solidFill>
                  <a:schemeClr val="tx2"/>
                </a:solidFill>
              </a:rPr>
              <a:t>용도발명</a:t>
            </a:r>
            <a:r>
              <a:rPr lang="en-US" altLang="ko-KR" sz="1400" dirty="0">
                <a:solidFill>
                  <a:schemeClr val="tx2"/>
                </a:solidFill>
              </a:rPr>
              <a:t>)</a:t>
            </a:r>
            <a:r>
              <a:rPr lang="ko-KR" altLang="en-US" sz="1400" dirty="0">
                <a:solidFill>
                  <a:schemeClr val="tx2"/>
                </a:solidFill>
              </a:rPr>
              <a:t>이 있다</a:t>
            </a:r>
            <a:r>
              <a:rPr lang="en-US" altLang="ko-KR" sz="1400" dirty="0">
                <a:solidFill>
                  <a:schemeClr val="tx2"/>
                </a:solidFill>
              </a:rPr>
              <a:t>.</a:t>
            </a:r>
            <a:r>
              <a:rPr lang="ko-KR" altLang="en-US" sz="1400" dirty="0">
                <a:solidFill>
                  <a:schemeClr val="tx2"/>
                </a:solidFill>
              </a:rPr>
              <a:t> </a:t>
            </a:r>
          </a:p>
        </p:txBody>
      </p:sp>
      <p:cxnSp>
        <p:nvCxnSpPr>
          <p:cNvPr id="46" name="직선 연결선 45"/>
          <p:cNvCxnSpPr/>
          <p:nvPr/>
        </p:nvCxnSpPr>
        <p:spPr>
          <a:xfrm>
            <a:off x="0" y="151204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5" name="표 4"/>
          <p:cNvGraphicFramePr>
            <a:graphicFrameLocks noGrp="1"/>
          </p:cNvGraphicFramePr>
          <p:nvPr>
            <p:extLst>
              <p:ext uri="{D42A27DB-BD31-4B8C-83A1-F6EECF244321}">
                <p14:modId xmlns:p14="http://schemas.microsoft.com/office/powerpoint/2010/main" val="3887080894"/>
              </p:ext>
            </p:extLst>
          </p:nvPr>
        </p:nvGraphicFramePr>
        <p:xfrm>
          <a:off x="330845" y="1857082"/>
          <a:ext cx="11528075" cy="4665014"/>
        </p:xfrm>
        <a:graphic>
          <a:graphicData uri="http://schemas.openxmlformats.org/drawingml/2006/table">
            <a:tbl>
              <a:tblPr/>
              <a:tblGrid>
                <a:gridCol w="1476917">
                  <a:extLst>
                    <a:ext uri="{9D8B030D-6E8A-4147-A177-3AD203B41FA5}">
                      <a16:colId xmlns:a16="http://schemas.microsoft.com/office/drawing/2014/main" val="137226875"/>
                    </a:ext>
                  </a:extLst>
                </a:gridCol>
                <a:gridCol w="2890241">
                  <a:extLst>
                    <a:ext uri="{9D8B030D-6E8A-4147-A177-3AD203B41FA5}">
                      <a16:colId xmlns:a16="http://schemas.microsoft.com/office/drawing/2014/main" val="2313024463"/>
                    </a:ext>
                  </a:extLst>
                </a:gridCol>
                <a:gridCol w="7160917">
                  <a:extLst>
                    <a:ext uri="{9D8B030D-6E8A-4147-A177-3AD203B41FA5}">
                      <a16:colId xmlns:a16="http://schemas.microsoft.com/office/drawing/2014/main" val="4049807812"/>
                    </a:ext>
                  </a:extLst>
                </a:gridCol>
              </a:tblGrid>
              <a:tr h="321260">
                <a:tc>
                  <a:txBody>
                    <a:bodyPr/>
                    <a:lstStyle/>
                    <a:p>
                      <a:pPr marL="0" marR="0" indent="0" algn="ctr" fontAlgn="base" latinLnBrk="0">
                        <a:lnSpc>
                          <a:spcPct val="130000"/>
                        </a:lnSpc>
                        <a:spcBef>
                          <a:spcPts val="0"/>
                        </a:spcBef>
                        <a:spcAft>
                          <a:spcPts val="0"/>
                        </a:spcAft>
                      </a:pPr>
                      <a:r>
                        <a:rPr lang="ko-KR" altLang="en-US" sz="1400" b="1" kern="1200" dirty="0">
                          <a:solidFill>
                            <a:schemeClr val="tx2"/>
                          </a:solidFill>
                          <a:latin typeface="+mn-lt"/>
                          <a:ea typeface="+mn-ea"/>
                          <a:cs typeface="+mn-cs"/>
                        </a:rPr>
                        <a:t>종류</a:t>
                      </a: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tx2">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b="1" kern="1200" dirty="0">
                          <a:solidFill>
                            <a:schemeClr val="tx2"/>
                          </a:solidFill>
                          <a:latin typeface="+mn-lt"/>
                          <a:ea typeface="+mn-ea"/>
                          <a:cs typeface="+mn-cs"/>
                        </a:rPr>
                        <a:t>정의 규정의 만족 여부</a:t>
                      </a: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tx2">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b="1" kern="1200" dirty="0" err="1">
                          <a:solidFill>
                            <a:schemeClr val="tx2"/>
                          </a:solidFill>
                          <a:latin typeface="+mn-lt"/>
                          <a:ea typeface="+mn-ea"/>
                          <a:cs typeface="+mn-cs"/>
                        </a:rPr>
                        <a:t>성립성</a:t>
                      </a:r>
                      <a:r>
                        <a:rPr lang="ko-KR" altLang="en-US" sz="1400" b="1" kern="1200" dirty="0">
                          <a:solidFill>
                            <a:schemeClr val="tx2"/>
                          </a:solidFill>
                          <a:latin typeface="+mn-lt"/>
                          <a:ea typeface="+mn-ea"/>
                          <a:cs typeface="+mn-cs"/>
                        </a:rPr>
                        <a:t> 인정 조건</a:t>
                      </a: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245660339"/>
                  </a:ext>
                </a:extLst>
              </a:tr>
              <a:tr h="681147">
                <a:tc>
                  <a:txBody>
                    <a:bodyPr/>
                    <a:lstStyle/>
                    <a:p>
                      <a:pPr marL="0" marR="0" indent="0" algn="ctr" fontAlgn="base" latinLnBrk="0">
                        <a:lnSpc>
                          <a:spcPct val="130000"/>
                        </a:lnSpc>
                        <a:spcBef>
                          <a:spcPts val="0"/>
                        </a:spcBef>
                        <a:spcAft>
                          <a:spcPts val="0"/>
                        </a:spcAft>
                      </a:pPr>
                      <a:r>
                        <a:rPr lang="ko-KR" altLang="en-US" sz="1400" b="1" kern="1200" dirty="0" err="1">
                          <a:solidFill>
                            <a:schemeClr val="tx2"/>
                          </a:solidFill>
                          <a:latin typeface="+mn-lt"/>
                          <a:ea typeface="+mn-ea"/>
                          <a:cs typeface="+mn-cs"/>
                        </a:rPr>
                        <a:t>식물발명</a:t>
                      </a:r>
                      <a:endParaRPr lang="ko-KR" altLang="en-US" sz="1400" b="1" kern="1200" dirty="0">
                        <a:solidFill>
                          <a:schemeClr val="tx2"/>
                        </a:solidFill>
                        <a:latin typeface="+mn-lt"/>
                        <a:ea typeface="+mn-ea"/>
                        <a:cs typeface="+mn-cs"/>
                      </a:endParaRP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ctr" fontAlgn="base" latinLnBrk="0">
                        <a:lnSpc>
                          <a:spcPct val="130000"/>
                        </a:lnSpc>
                        <a:spcBef>
                          <a:spcPts val="0"/>
                        </a:spcBef>
                        <a:spcAft>
                          <a:spcPts val="0"/>
                        </a:spcAft>
                      </a:pPr>
                      <a:r>
                        <a:rPr lang="ko-KR" altLang="en-US" sz="1400" kern="1200" dirty="0">
                          <a:solidFill>
                            <a:schemeClr val="tx2"/>
                          </a:solidFill>
                          <a:latin typeface="+mn-lt"/>
                          <a:ea typeface="+mn-ea"/>
                          <a:cs typeface="+mn-cs"/>
                        </a:rPr>
                        <a:t>자연법칙의 이용 △</a:t>
                      </a:r>
                      <a:endParaRPr lang="en-US" altLang="ko-KR" sz="1400" kern="1200" dirty="0">
                        <a:solidFill>
                          <a:schemeClr val="tx2"/>
                        </a:solidFill>
                        <a:latin typeface="+mn-lt"/>
                        <a:ea typeface="+mn-ea"/>
                        <a:cs typeface="+mn-cs"/>
                      </a:endParaRPr>
                    </a:p>
                    <a:p>
                      <a:pPr marL="17780" marR="17780" indent="0" algn="ctr" fontAlgn="base" latinLnBrk="0">
                        <a:lnSpc>
                          <a:spcPct val="130000"/>
                        </a:lnSpc>
                        <a:spcBef>
                          <a:spcPts val="0"/>
                        </a:spcBef>
                        <a:spcAft>
                          <a:spcPts val="0"/>
                        </a:spcAft>
                      </a:pPr>
                      <a:r>
                        <a:rPr lang="en-US" altLang="ko-KR" sz="1400" kern="1200" dirty="0">
                          <a:solidFill>
                            <a:schemeClr val="tx2"/>
                          </a:solidFill>
                          <a:latin typeface="+mn-lt"/>
                          <a:ea typeface="+mn-ea"/>
                          <a:cs typeface="+mn-cs"/>
                        </a:rPr>
                        <a:t>(</a:t>
                      </a:r>
                      <a:r>
                        <a:rPr lang="ko-KR" altLang="en-US" sz="1400" kern="1200" dirty="0">
                          <a:solidFill>
                            <a:schemeClr val="tx2"/>
                          </a:solidFill>
                          <a:latin typeface="+mn-lt"/>
                          <a:ea typeface="+mn-ea"/>
                          <a:cs typeface="+mn-cs"/>
                        </a:rPr>
                        <a:t>일정한 확실성 및 </a:t>
                      </a:r>
                      <a:r>
                        <a:rPr lang="ko-KR" altLang="en-US" sz="1400" kern="1200" dirty="0" err="1">
                          <a:solidFill>
                            <a:schemeClr val="tx2"/>
                          </a:solidFill>
                          <a:latin typeface="+mn-lt"/>
                          <a:ea typeface="+mn-ea"/>
                          <a:cs typeface="+mn-cs"/>
                        </a:rPr>
                        <a:t>반복가능성</a:t>
                      </a:r>
                      <a:r>
                        <a:rPr lang="en-US" altLang="ko-KR" sz="1400" kern="1200" dirty="0">
                          <a:solidFill>
                            <a:schemeClr val="tx2"/>
                          </a:solidFill>
                          <a:latin typeface="+mn-lt"/>
                          <a:ea typeface="+mn-ea"/>
                          <a:cs typeface="+mn-cs"/>
                        </a:rPr>
                        <a:t>)</a:t>
                      </a:r>
                      <a:endParaRPr lang="ko-KR" altLang="en-US" sz="1400" kern="1200" dirty="0">
                        <a:solidFill>
                          <a:schemeClr val="tx2"/>
                        </a:solidFill>
                        <a:latin typeface="+mn-lt"/>
                        <a:ea typeface="+mn-ea"/>
                        <a:cs typeface="+mn-cs"/>
                      </a:endParaRP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89230" marR="17780" indent="-171450" algn="just" fontAlgn="base" latinLnBrk="0">
                        <a:lnSpc>
                          <a:spcPct val="130000"/>
                        </a:lnSpc>
                        <a:spcBef>
                          <a:spcPts val="0"/>
                        </a:spcBef>
                        <a:spcAft>
                          <a:spcPts val="0"/>
                        </a:spcAft>
                        <a:buFontTx/>
                        <a:buChar char="-"/>
                      </a:pPr>
                      <a:r>
                        <a:rPr lang="ko-KR" altLang="en-US" sz="1400" kern="1200" dirty="0">
                          <a:solidFill>
                            <a:schemeClr val="tx2"/>
                          </a:solidFill>
                          <a:latin typeface="+mn-lt"/>
                          <a:ea typeface="+mn-ea"/>
                          <a:cs typeface="+mn-cs"/>
                        </a:rPr>
                        <a:t>발명의 특성을 재현할 수 있는 </a:t>
                      </a:r>
                      <a:r>
                        <a:rPr lang="ko-KR" altLang="en-US" sz="1400" kern="1200" dirty="0" err="1">
                          <a:solidFill>
                            <a:schemeClr val="tx2"/>
                          </a:solidFill>
                          <a:latin typeface="+mn-lt"/>
                          <a:ea typeface="+mn-ea"/>
                          <a:cs typeface="+mn-cs"/>
                        </a:rPr>
                        <a:t>육종경과를</a:t>
                      </a:r>
                      <a:r>
                        <a:rPr lang="ko-KR" altLang="en-US" sz="1400" kern="1200" dirty="0">
                          <a:solidFill>
                            <a:schemeClr val="tx2"/>
                          </a:solidFill>
                          <a:latin typeface="+mn-lt"/>
                          <a:ea typeface="+mn-ea"/>
                          <a:cs typeface="+mn-cs"/>
                        </a:rPr>
                        <a:t> 상세히 적은 경우 발명의 </a:t>
                      </a:r>
                      <a:r>
                        <a:rPr lang="ko-KR" altLang="en-US" sz="1400" kern="1200" dirty="0" err="1">
                          <a:solidFill>
                            <a:schemeClr val="tx2"/>
                          </a:solidFill>
                          <a:latin typeface="+mn-lt"/>
                          <a:ea typeface="+mn-ea"/>
                          <a:cs typeface="+mn-cs"/>
                        </a:rPr>
                        <a:t>성립성이</a:t>
                      </a:r>
                      <a:r>
                        <a:rPr lang="ko-KR" altLang="en-US" sz="1400" kern="1200" dirty="0">
                          <a:solidFill>
                            <a:schemeClr val="tx2"/>
                          </a:solidFill>
                          <a:latin typeface="+mn-lt"/>
                          <a:ea typeface="+mn-ea"/>
                          <a:cs typeface="+mn-cs"/>
                        </a:rPr>
                        <a:t> 인정된다</a:t>
                      </a:r>
                      <a:r>
                        <a:rPr lang="en-US" altLang="ko-KR" sz="1400" kern="1200" dirty="0">
                          <a:solidFill>
                            <a:schemeClr val="tx2"/>
                          </a:solidFill>
                          <a:latin typeface="+mn-lt"/>
                          <a:ea typeface="+mn-ea"/>
                          <a:cs typeface="+mn-cs"/>
                        </a:rPr>
                        <a:t>.</a:t>
                      </a: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125379924"/>
                  </a:ext>
                </a:extLst>
              </a:tr>
              <a:tr h="2154790">
                <a:tc>
                  <a:txBody>
                    <a:bodyPr/>
                    <a:lstStyle/>
                    <a:p>
                      <a:pPr marL="0" marR="0" indent="0" algn="ctr" fontAlgn="base" latinLnBrk="0">
                        <a:lnSpc>
                          <a:spcPct val="130000"/>
                        </a:lnSpc>
                        <a:spcBef>
                          <a:spcPts val="0"/>
                        </a:spcBef>
                        <a:spcAft>
                          <a:spcPts val="0"/>
                        </a:spcAft>
                      </a:pPr>
                      <a:r>
                        <a:rPr lang="ko-KR" altLang="en-US" sz="1400" b="1" kern="1200" dirty="0" err="1">
                          <a:solidFill>
                            <a:schemeClr val="tx2"/>
                          </a:solidFill>
                          <a:latin typeface="+mn-lt"/>
                          <a:ea typeface="+mn-ea"/>
                          <a:cs typeface="+mn-cs"/>
                        </a:rPr>
                        <a:t>미생물발명</a:t>
                      </a:r>
                      <a:endParaRPr lang="ko-KR" altLang="en-US" sz="1400" b="1" kern="1200" dirty="0">
                        <a:solidFill>
                          <a:schemeClr val="tx2"/>
                        </a:solidFill>
                        <a:latin typeface="+mn-lt"/>
                        <a:ea typeface="+mn-ea"/>
                        <a:cs typeface="+mn-cs"/>
                      </a:endParaRP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ctr" fontAlgn="base" latinLnBrk="0">
                        <a:lnSpc>
                          <a:spcPct val="130000"/>
                        </a:lnSpc>
                        <a:spcBef>
                          <a:spcPts val="0"/>
                        </a:spcBef>
                        <a:spcAft>
                          <a:spcPts val="0"/>
                        </a:spcAft>
                      </a:pPr>
                      <a:r>
                        <a:rPr lang="ko-KR" altLang="en-US" sz="1400" kern="1200" dirty="0">
                          <a:solidFill>
                            <a:schemeClr val="tx2"/>
                          </a:solidFill>
                          <a:latin typeface="+mn-lt"/>
                          <a:ea typeface="+mn-ea"/>
                          <a:cs typeface="+mn-cs"/>
                        </a:rPr>
                        <a:t>자연법칙의 이용 △</a:t>
                      </a:r>
                      <a:endParaRPr lang="en-US" altLang="ko-KR" sz="1400" kern="1200" dirty="0">
                        <a:solidFill>
                          <a:schemeClr val="tx2"/>
                        </a:solidFill>
                        <a:latin typeface="+mn-lt"/>
                        <a:ea typeface="+mn-ea"/>
                        <a:cs typeface="+mn-cs"/>
                      </a:endParaRPr>
                    </a:p>
                    <a:p>
                      <a:pPr marL="17780" marR="17780" indent="0" algn="ctr" fontAlgn="base" latinLnBrk="0">
                        <a:lnSpc>
                          <a:spcPct val="130000"/>
                        </a:lnSpc>
                        <a:spcBef>
                          <a:spcPts val="0"/>
                        </a:spcBef>
                        <a:spcAft>
                          <a:spcPts val="0"/>
                        </a:spcAft>
                      </a:pPr>
                      <a:r>
                        <a:rPr lang="en-US" altLang="ko-KR" sz="1400" kern="1200" dirty="0">
                          <a:solidFill>
                            <a:schemeClr val="tx2"/>
                          </a:solidFill>
                          <a:latin typeface="+mn-lt"/>
                          <a:ea typeface="+mn-ea"/>
                          <a:cs typeface="+mn-cs"/>
                        </a:rPr>
                        <a:t>(</a:t>
                      </a:r>
                      <a:r>
                        <a:rPr lang="ko-KR" altLang="en-US" sz="1400" kern="1200" dirty="0">
                          <a:solidFill>
                            <a:schemeClr val="tx2"/>
                          </a:solidFill>
                          <a:latin typeface="+mn-lt"/>
                          <a:ea typeface="+mn-ea"/>
                          <a:cs typeface="+mn-cs"/>
                        </a:rPr>
                        <a:t>일정한 확실성 및 </a:t>
                      </a:r>
                      <a:r>
                        <a:rPr lang="ko-KR" altLang="en-US" sz="1400" kern="1200" dirty="0" err="1">
                          <a:solidFill>
                            <a:schemeClr val="tx2"/>
                          </a:solidFill>
                          <a:latin typeface="+mn-lt"/>
                          <a:ea typeface="+mn-ea"/>
                          <a:cs typeface="+mn-cs"/>
                        </a:rPr>
                        <a:t>반복가능성</a:t>
                      </a:r>
                      <a:r>
                        <a:rPr lang="en-US" altLang="ko-KR" sz="1400" kern="1200" dirty="0">
                          <a:solidFill>
                            <a:schemeClr val="tx2"/>
                          </a:solidFill>
                          <a:latin typeface="+mn-lt"/>
                          <a:ea typeface="+mn-ea"/>
                          <a:cs typeface="+mn-cs"/>
                        </a:rPr>
                        <a:t>)</a:t>
                      </a:r>
                      <a:endParaRPr lang="ko-KR" altLang="en-US" sz="1400" kern="1200" dirty="0">
                        <a:solidFill>
                          <a:schemeClr val="tx2"/>
                        </a:solidFill>
                        <a:latin typeface="+mn-lt"/>
                        <a:ea typeface="+mn-ea"/>
                        <a:cs typeface="+mn-cs"/>
                      </a:endParaRP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89230" marR="17780" indent="-171450" algn="just" defTabSz="914400" rtl="0" eaLnBrk="1" fontAlgn="base" latinLnBrk="0" hangingPunct="1">
                        <a:lnSpc>
                          <a:spcPct val="130000"/>
                        </a:lnSpc>
                        <a:spcBef>
                          <a:spcPts val="0"/>
                        </a:spcBef>
                        <a:spcAft>
                          <a:spcPts val="0"/>
                        </a:spcAft>
                        <a:buClrTx/>
                        <a:buSzTx/>
                        <a:buFontTx/>
                        <a:buChar char="-"/>
                        <a:tabLst/>
                        <a:defRPr/>
                      </a:pPr>
                      <a:r>
                        <a:rPr lang="ko-KR" altLang="en-US" sz="1400" kern="1200" dirty="0">
                          <a:solidFill>
                            <a:schemeClr val="tx1"/>
                          </a:solidFill>
                          <a:latin typeface="+mn-lt"/>
                          <a:ea typeface="+mn-ea"/>
                          <a:cs typeface="+mn-cs"/>
                        </a:rPr>
                        <a:t>통상의 기술자가 미생물 등을 쉽게 입수할 수 없는 경우에는 특허출원 전에 미생물을 국내기탁기관</a:t>
                      </a:r>
                      <a:r>
                        <a:rPr lang="en-US" altLang="ko-KR" sz="1400" kern="1200" dirty="0">
                          <a:solidFill>
                            <a:schemeClr val="tx1"/>
                          </a:solidFill>
                          <a:latin typeface="+mn-lt"/>
                          <a:ea typeface="+mn-ea"/>
                          <a:cs typeface="+mn-cs"/>
                        </a:rPr>
                        <a:t>, </a:t>
                      </a:r>
                      <a:r>
                        <a:rPr lang="ko-KR" altLang="en-US" sz="1400" kern="1200" dirty="0">
                          <a:solidFill>
                            <a:schemeClr val="tx1"/>
                          </a:solidFill>
                          <a:latin typeface="+mn-lt"/>
                          <a:ea typeface="+mn-ea"/>
                          <a:cs typeface="+mn-cs"/>
                        </a:rPr>
                        <a:t>지정기탁기관 또는 국제기탁기관에 기탁하고</a:t>
                      </a:r>
                      <a:r>
                        <a:rPr lang="en-US" altLang="ko-KR" sz="1400" kern="1200" dirty="0">
                          <a:solidFill>
                            <a:schemeClr val="tx1"/>
                          </a:solidFill>
                          <a:latin typeface="+mn-lt"/>
                          <a:ea typeface="+mn-ea"/>
                          <a:cs typeface="+mn-cs"/>
                        </a:rPr>
                        <a:t>, </a:t>
                      </a:r>
                      <a:r>
                        <a:rPr lang="ko-KR" altLang="en-US" sz="1400" kern="1200" dirty="0" err="1">
                          <a:solidFill>
                            <a:schemeClr val="tx1"/>
                          </a:solidFill>
                          <a:latin typeface="+mn-lt"/>
                          <a:ea typeface="+mn-ea"/>
                          <a:cs typeface="+mn-cs"/>
                        </a:rPr>
                        <a:t>출원서에</a:t>
                      </a:r>
                      <a:r>
                        <a:rPr lang="ko-KR" altLang="en-US" sz="1400" kern="1200" dirty="0">
                          <a:solidFill>
                            <a:schemeClr val="tx1"/>
                          </a:solidFill>
                          <a:latin typeface="+mn-lt"/>
                          <a:ea typeface="+mn-ea"/>
                          <a:cs typeface="+mn-cs"/>
                        </a:rPr>
                        <a:t> 그 취지를 적고 그 증명서류를 첨부하여야 하며</a:t>
                      </a:r>
                      <a:r>
                        <a:rPr lang="en-US" altLang="ko-KR" sz="1400" kern="1200" dirty="0">
                          <a:solidFill>
                            <a:schemeClr val="tx1"/>
                          </a:solidFill>
                          <a:latin typeface="+mn-lt"/>
                          <a:ea typeface="+mn-ea"/>
                          <a:cs typeface="+mn-cs"/>
                        </a:rPr>
                        <a:t>, </a:t>
                      </a:r>
                      <a:r>
                        <a:rPr lang="ko-KR" altLang="en-US" sz="1400" kern="1200" dirty="0">
                          <a:solidFill>
                            <a:schemeClr val="tx1"/>
                          </a:solidFill>
                          <a:latin typeface="+mn-lt"/>
                          <a:ea typeface="+mn-ea"/>
                          <a:cs typeface="+mn-cs"/>
                        </a:rPr>
                        <a:t>명세서에 </a:t>
                      </a:r>
                      <a:r>
                        <a:rPr lang="ko-KR" altLang="en-US" sz="1400" kern="1200" dirty="0" err="1">
                          <a:solidFill>
                            <a:schemeClr val="tx1"/>
                          </a:solidFill>
                          <a:latin typeface="+mn-lt"/>
                          <a:ea typeface="+mn-ea"/>
                          <a:cs typeface="+mn-cs"/>
                        </a:rPr>
                        <a:t>수탁번호를</a:t>
                      </a:r>
                      <a:r>
                        <a:rPr lang="ko-KR" altLang="en-US" sz="1400" kern="1200" dirty="0">
                          <a:solidFill>
                            <a:schemeClr val="tx1"/>
                          </a:solidFill>
                          <a:latin typeface="+mn-lt"/>
                          <a:ea typeface="+mn-ea"/>
                          <a:cs typeface="+mn-cs"/>
                        </a:rPr>
                        <a:t> 적어야만 발명의 </a:t>
                      </a:r>
                      <a:r>
                        <a:rPr lang="ko-KR" altLang="en-US" sz="1400" kern="1200" dirty="0" err="1">
                          <a:solidFill>
                            <a:schemeClr val="tx1"/>
                          </a:solidFill>
                          <a:latin typeface="+mn-lt"/>
                          <a:ea typeface="+mn-ea"/>
                          <a:cs typeface="+mn-cs"/>
                        </a:rPr>
                        <a:t>성립성이</a:t>
                      </a:r>
                      <a:r>
                        <a:rPr lang="ko-KR" altLang="en-US" sz="1400" kern="1200" dirty="0">
                          <a:solidFill>
                            <a:schemeClr val="tx1"/>
                          </a:solidFill>
                          <a:latin typeface="+mn-lt"/>
                          <a:ea typeface="+mn-ea"/>
                          <a:cs typeface="+mn-cs"/>
                        </a:rPr>
                        <a:t> 인정된다</a:t>
                      </a:r>
                      <a:r>
                        <a:rPr lang="en-US" altLang="ko-KR" sz="1400" kern="1200" dirty="0">
                          <a:solidFill>
                            <a:schemeClr val="tx1"/>
                          </a:solidFill>
                          <a:latin typeface="+mn-lt"/>
                          <a:ea typeface="+mn-ea"/>
                          <a:cs typeface="+mn-cs"/>
                        </a:rPr>
                        <a:t>. </a:t>
                      </a:r>
                      <a:r>
                        <a:rPr lang="ko-KR" altLang="en-US" sz="1400" kern="1200" dirty="0">
                          <a:solidFill>
                            <a:schemeClr val="tx2"/>
                          </a:solidFill>
                          <a:highlight>
                            <a:srgbClr val="FFFF00"/>
                          </a:highlight>
                          <a:latin typeface="+mn-lt"/>
                          <a:ea typeface="+mn-ea"/>
                          <a:cs typeface="+mn-cs"/>
                        </a:rPr>
                        <a:t>다만</a:t>
                      </a:r>
                      <a:r>
                        <a:rPr lang="en-US" altLang="ko-KR" sz="1400" kern="1200" dirty="0">
                          <a:solidFill>
                            <a:schemeClr val="tx2"/>
                          </a:solidFill>
                          <a:highlight>
                            <a:srgbClr val="FFFF00"/>
                          </a:highlight>
                          <a:latin typeface="+mn-lt"/>
                          <a:ea typeface="+mn-ea"/>
                          <a:cs typeface="+mn-cs"/>
                        </a:rPr>
                        <a:t>, </a:t>
                      </a:r>
                      <a:r>
                        <a:rPr lang="ko-KR" altLang="en-US" sz="1400" kern="1200" dirty="0">
                          <a:solidFill>
                            <a:schemeClr val="tx2"/>
                          </a:solidFill>
                          <a:highlight>
                            <a:srgbClr val="FFFF00"/>
                          </a:highlight>
                          <a:latin typeface="+mn-lt"/>
                          <a:ea typeface="+mn-ea"/>
                          <a:cs typeface="+mn-cs"/>
                        </a:rPr>
                        <a:t>국내에 소재지가 있는 국내기탁기관 또는 국제기탁기관에 해당 미생물을 기탁한 경우에는 미생물의 기탁 사실을 증명하는 서류를 첨부하지 않을 수 있다</a:t>
                      </a:r>
                      <a:r>
                        <a:rPr lang="en-US" altLang="ko-KR" sz="1400" kern="1200" dirty="0">
                          <a:solidFill>
                            <a:schemeClr val="tx2"/>
                          </a:solidFill>
                          <a:highlight>
                            <a:srgbClr val="FFFF00"/>
                          </a:highlight>
                          <a:latin typeface="+mn-lt"/>
                          <a:ea typeface="+mn-ea"/>
                          <a:cs typeface="+mn-cs"/>
                        </a:rPr>
                        <a:t>.</a:t>
                      </a:r>
                    </a:p>
                    <a:p>
                      <a:pPr marL="189230" marR="17780" indent="-171450" algn="just" defTabSz="914400" rtl="0" eaLnBrk="1" fontAlgn="base" latinLnBrk="0" hangingPunct="1">
                        <a:lnSpc>
                          <a:spcPct val="130000"/>
                        </a:lnSpc>
                        <a:spcBef>
                          <a:spcPts val="0"/>
                        </a:spcBef>
                        <a:spcAft>
                          <a:spcPts val="0"/>
                        </a:spcAft>
                        <a:buClrTx/>
                        <a:buSzTx/>
                        <a:buFontTx/>
                        <a:buChar char="-"/>
                        <a:tabLst/>
                        <a:defRPr/>
                      </a:pPr>
                      <a:r>
                        <a:rPr lang="ko-KR" altLang="en-US" sz="1400" kern="1200" dirty="0">
                          <a:solidFill>
                            <a:schemeClr val="tx1"/>
                          </a:solidFill>
                          <a:latin typeface="+mn-lt"/>
                          <a:ea typeface="+mn-ea"/>
                          <a:cs typeface="+mn-cs"/>
                        </a:rPr>
                        <a:t>다만</a:t>
                      </a:r>
                      <a:r>
                        <a:rPr lang="en-US" altLang="ko-KR" sz="1400" kern="1200" dirty="0">
                          <a:solidFill>
                            <a:schemeClr val="tx1"/>
                          </a:solidFill>
                          <a:latin typeface="+mn-lt"/>
                          <a:ea typeface="+mn-ea"/>
                          <a:cs typeface="+mn-cs"/>
                        </a:rPr>
                        <a:t>, </a:t>
                      </a:r>
                      <a:r>
                        <a:rPr lang="ko-KR" altLang="en-US" sz="1400" kern="1200" dirty="0">
                          <a:solidFill>
                            <a:schemeClr val="tx1"/>
                          </a:solidFill>
                          <a:latin typeface="+mn-lt"/>
                          <a:ea typeface="+mn-ea"/>
                          <a:cs typeface="+mn-cs"/>
                        </a:rPr>
                        <a:t>통상의 기술자가 미생물 등을 쉽게 입수할 수 있는 경우에는 </a:t>
                      </a:r>
                      <a:r>
                        <a:rPr lang="ko-KR" altLang="en-US" sz="1400" kern="1200" dirty="0" err="1">
                          <a:solidFill>
                            <a:schemeClr val="tx1"/>
                          </a:solidFill>
                          <a:latin typeface="+mn-lt"/>
                          <a:ea typeface="+mn-ea"/>
                          <a:cs typeface="+mn-cs"/>
                        </a:rPr>
                        <a:t>입수방법을</a:t>
                      </a:r>
                      <a:r>
                        <a:rPr lang="ko-KR" altLang="en-US" sz="1400" kern="1200" dirty="0">
                          <a:solidFill>
                            <a:schemeClr val="tx1"/>
                          </a:solidFill>
                          <a:latin typeface="+mn-lt"/>
                          <a:ea typeface="+mn-ea"/>
                          <a:cs typeface="+mn-cs"/>
                        </a:rPr>
                        <a:t> 명세서에 적으면 된다</a:t>
                      </a:r>
                      <a:r>
                        <a:rPr lang="en-US" altLang="ko-KR" sz="1400" kern="1200" dirty="0">
                          <a:solidFill>
                            <a:schemeClr val="tx1"/>
                          </a:solidFill>
                          <a:latin typeface="+mn-lt"/>
                          <a:ea typeface="+mn-ea"/>
                          <a:cs typeface="+mn-cs"/>
                        </a:rPr>
                        <a:t>(</a:t>
                      </a:r>
                      <a:r>
                        <a:rPr lang="ko-KR" altLang="en-US" sz="1400" kern="1200" dirty="0">
                          <a:solidFill>
                            <a:schemeClr val="tx1"/>
                          </a:solidFill>
                          <a:latin typeface="+mn-lt"/>
                          <a:ea typeface="+mn-ea"/>
                          <a:cs typeface="+mn-cs"/>
                        </a:rPr>
                        <a:t>令 </a:t>
                      </a:r>
                      <a:r>
                        <a:rPr lang="en-US" altLang="ko-KR" sz="1400" kern="1200" dirty="0">
                          <a:solidFill>
                            <a:schemeClr val="tx1"/>
                          </a:solidFill>
                          <a:latin typeface="+mn-lt"/>
                          <a:ea typeface="+mn-ea"/>
                          <a:cs typeface="+mn-cs"/>
                        </a:rPr>
                        <a:t>2, 3).</a:t>
                      </a:r>
                      <a:endParaRPr lang="ko-KR" altLang="en-US" sz="1400" kern="1200" dirty="0">
                        <a:solidFill>
                          <a:schemeClr val="tx1"/>
                        </a:solidFill>
                        <a:latin typeface="+mn-lt"/>
                        <a:ea typeface="+mn-ea"/>
                        <a:cs typeface="+mn-cs"/>
                      </a:endParaRP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69622514"/>
                  </a:ext>
                </a:extLst>
              </a:tr>
              <a:tr h="826670">
                <a:tc>
                  <a:txBody>
                    <a:bodyPr/>
                    <a:lstStyle/>
                    <a:p>
                      <a:pPr marL="0" marR="0" indent="0" algn="ctr" fontAlgn="base" latinLnBrk="0">
                        <a:lnSpc>
                          <a:spcPct val="130000"/>
                        </a:lnSpc>
                        <a:spcBef>
                          <a:spcPts val="0"/>
                        </a:spcBef>
                        <a:spcAft>
                          <a:spcPts val="0"/>
                        </a:spcAft>
                      </a:pPr>
                      <a:r>
                        <a:rPr lang="ko-KR" altLang="en-US" sz="1400" b="1" kern="1200" dirty="0" err="1">
                          <a:solidFill>
                            <a:schemeClr val="tx2"/>
                          </a:solidFill>
                          <a:latin typeface="+mn-lt"/>
                          <a:ea typeface="+mn-ea"/>
                          <a:cs typeface="+mn-cs"/>
                        </a:rPr>
                        <a:t>용도발명</a:t>
                      </a:r>
                      <a:endParaRPr lang="ko-KR" altLang="en-US" sz="1400" b="1" kern="1200" dirty="0">
                        <a:solidFill>
                          <a:schemeClr val="tx2"/>
                        </a:solidFill>
                        <a:latin typeface="+mn-lt"/>
                        <a:ea typeface="+mn-ea"/>
                        <a:cs typeface="+mn-cs"/>
                      </a:endParaRP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ctr" fontAlgn="base" latinLnBrk="1">
                        <a:lnSpc>
                          <a:spcPct val="130000"/>
                        </a:lnSpc>
                        <a:spcBef>
                          <a:spcPts val="0"/>
                        </a:spcBef>
                        <a:spcAft>
                          <a:spcPts val="0"/>
                        </a:spcAft>
                      </a:pPr>
                      <a:r>
                        <a:rPr lang="ko-KR" altLang="en-US" sz="1400" kern="1200" dirty="0" err="1">
                          <a:solidFill>
                            <a:schemeClr val="tx2"/>
                          </a:solidFill>
                          <a:latin typeface="+mn-lt"/>
                          <a:ea typeface="+mn-ea"/>
                          <a:cs typeface="+mn-cs"/>
                        </a:rPr>
                        <a:t>창작성</a:t>
                      </a:r>
                      <a:r>
                        <a:rPr lang="ko-KR" altLang="en-US" sz="1400" kern="1200" dirty="0">
                          <a:solidFill>
                            <a:schemeClr val="tx2"/>
                          </a:solidFill>
                          <a:latin typeface="+mn-lt"/>
                          <a:ea typeface="+mn-ea"/>
                          <a:cs typeface="+mn-cs"/>
                        </a:rPr>
                        <a:t> </a:t>
                      </a:r>
                      <a:r>
                        <a:rPr lang="en-US" altLang="ko-KR" sz="1400" kern="1200" dirty="0">
                          <a:solidFill>
                            <a:schemeClr val="tx2"/>
                          </a:solidFill>
                          <a:latin typeface="+mn-lt"/>
                          <a:ea typeface="+mn-ea"/>
                          <a:cs typeface="+mn-cs"/>
                        </a:rPr>
                        <a:t>×</a:t>
                      </a:r>
                      <a:endParaRPr lang="ko-KR" altLang="en-US" sz="1400" kern="1200" dirty="0">
                        <a:solidFill>
                          <a:schemeClr val="tx2"/>
                        </a:solidFill>
                        <a:latin typeface="+mn-lt"/>
                        <a:ea typeface="+mn-ea"/>
                        <a:cs typeface="+mn-cs"/>
                      </a:endParaRP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1450" indent="-171450" algn="just" latinLnBrk="1">
                        <a:buFontTx/>
                        <a:buChar char="-"/>
                      </a:pPr>
                      <a:r>
                        <a:rPr lang="ko-KR" altLang="en-US" sz="1400" kern="1200" dirty="0">
                          <a:solidFill>
                            <a:schemeClr val="tx2"/>
                          </a:solidFill>
                          <a:latin typeface="+mn-lt"/>
                          <a:ea typeface="+mn-ea"/>
                          <a:cs typeface="+mn-cs"/>
                        </a:rPr>
                        <a:t>발견이지만 물질로부터 새로운 용도를 발견하고 이를 새로운 용도로 이용하는 과정에서 존재하는 창작적 요소가 보호할 가치가 있는 경우 발명의 </a:t>
                      </a:r>
                      <a:r>
                        <a:rPr lang="ko-KR" altLang="en-US" sz="1400" kern="1200" dirty="0" err="1">
                          <a:solidFill>
                            <a:schemeClr val="tx2"/>
                          </a:solidFill>
                          <a:latin typeface="+mn-lt"/>
                          <a:ea typeface="+mn-ea"/>
                          <a:cs typeface="+mn-cs"/>
                        </a:rPr>
                        <a:t>성립성이</a:t>
                      </a:r>
                      <a:r>
                        <a:rPr lang="ko-KR" altLang="en-US" sz="1400" kern="1200" dirty="0">
                          <a:solidFill>
                            <a:schemeClr val="tx2"/>
                          </a:solidFill>
                          <a:latin typeface="+mn-lt"/>
                          <a:ea typeface="+mn-ea"/>
                          <a:cs typeface="+mn-cs"/>
                        </a:rPr>
                        <a:t> 인정된다</a:t>
                      </a:r>
                      <a:r>
                        <a:rPr lang="en-US" altLang="ko-KR" sz="1400" kern="1200" dirty="0">
                          <a:solidFill>
                            <a:schemeClr val="tx2"/>
                          </a:solidFill>
                          <a:latin typeface="+mn-lt"/>
                          <a:ea typeface="+mn-ea"/>
                          <a:cs typeface="+mn-cs"/>
                        </a:rPr>
                        <a:t>.</a:t>
                      </a: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82458024"/>
                  </a:ext>
                </a:extLst>
              </a:tr>
              <a:tr h="681147">
                <a:tc>
                  <a:txBody>
                    <a:bodyPr/>
                    <a:lstStyle/>
                    <a:p>
                      <a:pPr algn="ctr" latinLnBrk="1"/>
                      <a:r>
                        <a:rPr lang="ko-KR" altLang="en-US" sz="1400" b="1" kern="1200" dirty="0">
                          <a:solidFill>
                            <a:schemeClr val="tx2"/>
                          </a:solidFill>
                          <a:latin typeface="+mn-lt"/>
                          <a:ea typeface="+mn-ea"/>
                          <a:cs typeface="+mn-cs"/>
                        </a:rPr>
                        <a:t>컴퓨터 프로그램 </a:t>
                      </a:r>
                      <a:endParaRPr lang="en-US" altLang="ko-KR" sz="1400" b="1" kern="1200" dirty="0">
                        <a:solidFill>
                          <a:schemeClr val="tx2"/>
                        </a:solidFill>
                        <a:latin typeface="+mn-lt"/>
                        <a:ea typeface="+mn-ea"/>
                        <a:cs typeface="+mn-cs"/>
                      </a:endParaRPr>
                    </a:p>
                    <a:p>
                      <a:pPr algn="ctr" latinLnBrk="1"/>
                      <a:r>
                        <a:rPr lang="ko-KR" altLang="en-US" sz="1400" b="1" kern="1200" dirty="0">
                          <a:solidFill>
                            <a:schemeClr val="tx2"/>
                          </a:solidFill>
                          <a:latin typeface="+mn-lt"/>
                          <a:ea typeface="+mn-ea"/>
                          <a:cs typeface="+mn-cs"/>
                        </a:rPr>
                        <a:t>관련 발명</a:t>
                      </a: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ctr" defTabSz="914400" rtl="0" eaLnBrk="1" fontAlgn="base" latinLnBrk="0" hangingPunct="1">
                        <a:lnSpc>
                          <a:spcPct val="130000"/>
                        </a:lnSpc>
                        <a:spcBef>
                          <a:spcPts val="0"/>
                        </a:spcBef>
                        <a:spcAft>
                          <a:spcPts val="0"/>
                        </a:spcAft>
                        <a:buClrTx/>
                        <a:buSzTx/>
                        <a:buFontTx/>
                        <a:buNone/>
                        <a:tabLst/>
                        <a:defRPr/>
                      </a:pPr>
                      <a:r>
                        <a:rPr lang="ko-KR" altLang="en-US" sz="1400" kern="1200" dirty="0">
                          <a:solidFill>
                            <a:schemeClr val="tx2"/>
                          </a:solidFill>
                          <a:latin typeface="+mn-lt"/>
                          <a:ea typeface="+mn-ea"/>
                          <a:cs typeface="+mn-cs"/>
                        </a:rPr>
                        <a:t>자연법칙의 이용 </a:t>
                      </a:r>
                      <a:r>
                        <a:rPr lang="en-US" altLang="ko-KR" sz="1400" kern="1200" dirty="0">
                          <a:solidFill>
                            <a:schemeClr val="tx2"/>
                          </a:solidFill>
                          <a:latin typeface="+mn-lt"/>
                          <a:ea typeface="+mn-ea"/>
                          <a:cs typeface="+mn-cs"/>
                        </a:rPr>
                        <a:t>×</a:t>
                      </a:r>
                    </a:p>
                    <a:p>
                      <a:pPr marL="17780" marR="17780" indent="0" algn="ctr" fontAlgn="base" latinLnBrk="0">
                        <a:lnSpc>
                          <a:spcPct val="130000"/>
                        </a:lnSpc>
                        <a:spcBef>
                          <a:spcPts val="0"/>
                        </a:spcBef>
                        <a:spcAft>
                          <a:spcPts val="0"/>
                        </a:spcAft>
                      </a:pPr>
                      <a:r>
                        <a:rPr lang="en-US" altLang="ko-KR" sz="1400" kern="1200" dirty="0">
                          <a:solidFill>
                            <a:schemeClr val="tx2"/>
                          </a:solidFill>
                          <a:latin typeface="+mn-lt"/>
                          <a:ea typeface="+mn-ea"/>
                          <a:cs typeface="+mn-cs"/>
                        </a:rPr>
                        <a:t>(</a:t>
                      </a:r>
                      <a:r>
                        <a:rPr lang="ko-KR" altLang="en-US" sz="1400" kern="1200" dirty="0">
                          <a:solidFill>
                            <a:schemeClr val="tx2"/>
                          </a:solidFill>
                          <a:latin typeface="+mn-lt"/>
                          <a:ea typeface="+mn-ea"/>
                          <a:cs typeface="+mn-cs"/>
                        </a:rPr>
                        <a:t>전체적으로 이용</a:t>
                      </a:r>
                      <a:r>
                        <a:rPr lang="en-US" altLang="ko-KR" sz="1400" kern="1200" dirty="0">
                          <a:solidFill>
                            <a:schemeClr val="tx2"/>
                          </a:solidFill>
                          <a:latin typeface="+mn-lt"/>
                          <a:ea typeface="+mn-ea"/>
                          <a:cs typeface="+mn-cs"/>
                        </a:rPr>
                        <a:t>)</a:t>
                      </a:r>
                      <a:endParaRPr lang="ko-KR" altLang="en-US" sz="1400" kern="1200" dirty="0">
                        <a:solidFill>
                          <a:schemeClr val="tx2"/>
                        </a:solidFill>
                        <a:latin typeface="+mn-lt"/>
                        <a:ea typeface="+mn-ea"/>
                        <a:cs typeface="+mn-cs"/>
                      </a:endParaRP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1450" indent="-171450" algn="just" latinLnBrk="1">
                        <a:buFontTx/>
                        <a:buChar char="-"/>
                      </a:pPr>
                      <a:r>
                        <a:rPr lang="ko-KR" altLang="en-US" sz="1400" kern="1200" dirty="0">
                          <a:solidFill>
                            <a:schemeClr val="tx2"/>
                          </a:solidFill>
                          <a:latin typeface="+mn-lt"/>
                          <a:ea typeface="+mn-ea"/>
                          <a:cs typeface="+mn-cs"/>
                        </a:rPr>
                        <a:t>소프트웨어가 하드웨어의 물리적 변환을 야기시켜 그 물리적 변환으로 인하여 실제적 이용가능성이 명세서에 개시되어 있는 경우 발명의 </a:t>
                      </a:r>
                      <a:r>
                        <a:rPr lang="ko-KR" altLang="en-US" sz="1400" kern="1200" dirty="0" err="1">
                          <a:solidFill>
                            <a:schemeClr val="tx2"/>
                          </a:solidFill>
                          <a:latin typeface="+mn-lt"/>
                          <a:ea typeface="+mn-ea"/>
                          <a:cs typeface="+mn-cs"/>
                        </a:rPr>
                        <a:t>성립성이</a:t>
                      </a:r>
                      <a:r>
                        <a:rPr lang="ko-KR" altLang="en-US" sz="1400" kern="1200" dirty="0">
                          <a:solidFill>
                            <a:schemeClr val="tx2"/>
                          </a:solidFill>
                          <a:latin typeface="+mn-lt"/>
                          <a:ea typeface="+mn-ea"/>
                          <a:cs typeface="+mn-cs"/>
                        </a:rPr>
                        <a:t> 인정된다</a:t>
                      </a:r>
                      <a:r>
                        <a:rPr lang="en-US" altLang="ko-KR" sz="1400" kern="1200" dirty="0">
                          <a:solidFill>
                            <a:schemeClr val="tx2"/>
                          </a:solidFill>
                          <a:latin typeface="+mn-lt"/>
                          <a:ea typeface="+mn-ea"/>
                          <a:cs typeface="+mn-cs"/>
                        </a:rPr>
                        <a:t>(97</a:t>
                      </a:r>
                      <a:r>
                        <a:rPr lang="ko-KR" altLang="en-US" sz="1400" kern="1200" dirty="0">
                          <a:solidFill>
                            <a:schemeClr val="tx2"/>
                          </a:solidFill>
                          <a:latin typeface="+mn-lt"/>
                          <a:ea typeface="+mn-ea"/>
                          <a:cs typeface="+mn-cs"/>
                        </a:rPr>
                        <a:t>후</a:t>
                      </a:r>
                      <a:r>
                        <a:rPr lang="en-US" altLang="ko-KR" sz="1400" kern="1200" dirty="0">
                          <a:solidFill>
                            <a:schemeClr val="tx2"/>
                          </a:solidFill>
                          <a:latin typeface="+mn-lt"/>
                          <a:ea typeface="+mn-ea"/>
                          <a:cs typeface="+mn-cs"/>
                        </a:rPr>
                        <a:t>2507).</a:t>
                      </a:r>
                    </a:p>
                  </a:txBody>
                  <a:tcPr marL="108000" marR="108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4100260874"/>
                  </a:ext>
                </a:extLst>
              </a:tr>
            </a:tbl>
          </a:graphicData>
        </a:graphic>
      </p:graphicFrame>
    </p:spTree>
    <p:extLst>
      <p:ext uri="{BB962C8B-B14F-4D97-AF65-F5344CB8AC3E}">
        <p14:creationId xmlns:p14="http://schemas.microsoft.com/office/powerpoint/2010/main" val="189550838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a:t>
            </a:r>
            <a:r>
              <a:rPr lang="ko-KR" altLang="en-US" dirty="0"/>
              <a:t>조</a:t>
            </a:r>
          </a:p>
        </p:txBody>
      </p:sp>
      <p:sp>
        <p:nvSpPr>
          <p:cNvPr id="4" name="텍스트 개체 틀 3"/>
          <p:cNvSpPr>
            <a:spLocks noGrp="1"/>
          </p:cNvSpPr>
          <p:nvPr>
            <p:ph type="body" sz="quarter" idx="13"/>
          </p:nvPr>
        </p:nvSpPr>
        <p:spPr/>
        <p:txBody>
          <a:bodyPr/>
          <a:lstStyle/>
          <a:p>
            <a:r>
              <a:rPr lang="ko-KR" altLang="en-US" dirty="0"/>
              <a:t>의약발명의 특허요건</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23</a:t>
            </a:fld>
            <a:endParaRPr lang="ko-KR" altLang="en-US"/>
          </a:p>
        </p:txBody>
      </p:sp>
      <p:sp>
        <p:nvSpPr>
          <p:cNvPr id="31" name="TextBox 30">
            <a:extLst>
              <a:ext uri="{FF2B5EF4-FFF2-40B4-BE49-F238E27FC236}">
                <a16:creationId xmlns:a16="http://schemas.microsoft.com/office/drawing/2014/main" id="{AA5C7073-BEB0-49CC-943A-AD3268F823F6}"/>
              </a:ext>
            </a:extLst>
          </p:cNvPr>
          <p:cNvSpPr txBox="1"/>
          <p:nvPr/>
        </p:nvSpPr>
        <p:spPr>
          <a:xfrm>
            <a:off x="384792" y="1069095"/>
            <a:ext cx="3915604" cy="786866"/>
          </a:xfrm>
          <a:prstGeom prst="rect">
            <a:avLst/>
          </a:prstGeom>
          <a:solidFill>
            <a:schemeClr val="accent3">
              <a:lumMod val="20000"/>
              <a:lumOff val="80000"/>
            </a:schemeClr>
          </a:solidFill>
          <a:ln>
            <a:solidFill>
              <a:schemeClr val="bg1">
                <a:lumMod val="50000"/>
              </a:schemeClr>
            </a:solidFill>
          </a:ln>
        </p:spPr>
        <p:txBody>
          <a:bodyPr wrap="square" rtlCol="0" anchor="t">
            <a:noAutofit/>
          </a:bodyPr>
          <a:lstStyle/>
          <a:p>
            <a:r>
              <a:rPr lang="ko-KR" altLang="en-US" sz="1600" dirty="0"/>
              <a:t>발명의 </a:t>
            </a:r>
            <a:r>
              <a:rPr lang="ko-KR" altLang="en-US" sz="1600" dirty="0" err="1"/>
              <a:t>성립성</a:t>
            </a:r>
            <a:endParaRPr lang="en-US" altLang="ko-KR" sz="1600" dirty="0"/>
          </a:p>
          <a:p>
            <a:endParaRPr lang="en-US" altLang="ko-KR" sz="1600" dirty="0"/>
          </a:p>
          <a:p>
            <a:r>
              <a:rPr lang="ko-KR" altLang="en-US" sz="1200" dirty="0"/>
              <a:t>발견이지만 용도발명으로 </a:t>
            </a:r>
            <a:r>
              <a:rPr lang="ko-KR" altLang="en-US" sz="1200" dirty="0" err="1"/>
              <a:t>성립성</a:t>
            </a:r>
            <a:r>
              <a:rPr lang="ko-KR" altLang="en-US" sz="1200" dirty="0"/>
              <a:t> 인정</a:t>
            </a:r>
            <a:endParaRPr lang="en-US" altLang="ko-KR" sz="1200" dirty="0"/>
          </a:p>
          <a:p>
            <a:endParaRPr lang="ko-KR" altLang="en-US" sz="1600" dirty="0"/>
          </a:p>
        </p:txBody>
      </p:sp>
      <p:sp>
        <p:nvSpPr>
          <p:cNvPr id="33" name="TextBox 32">
            <a:extLst>
              <a:ext uri="{FF2B5EF4-FFF2-40B4-BE49-F238E27FC236}">
                <a16:creationId xmlns:a16="http://schemas.microsoft.com/office/drawing/2014/main" id="{B5BC74D5-D970-42CC-8EDB-9A85E3929BDB}"/>
              </a:ext>
            </a:extLst>
          </p:cNvPr>
          <p:cNvSpPr txBox="1"/>
          <p:nvPr/>
        </p:nvSpPr>
        <p:spPr>
          <a:xfrm>
            <a:off x="4381877" y="1069094"/>
            <a:ext cx="7481892" cy="2637747"/>
          </a:xfrm>
          <a:prstGeom prst="rect">
            <a:avLst/>
          </a:prstGeom>
          <a:noFill/>
          <a:ln>
            <a:solidFill>
              <a:schemeClr val="bg1">
                <a:lumMod val="50000"/>
              </a:schemeClr>
            </a:solidFill>
          </a:ln>
        </p:spPr>
        <p:txBody>
          <a:bodyPr wrap="square" rtlCol="0" anchor="t">
            <a:noAutofit/>
          </a:bodyPr>
          <a:lstStyle/>
          <a:p>
            <a:r>
              <a:rPr lang="ko-KR" altLang="en-US" sz="1600" dirty="0"/>
              <a:t>청구범위의 기재</a:t>
            </a:r>
            <a:endParaRPr lang="en-US" altLang="ko-KR" sz="1600" dirty="0"/>
          </a:p>
          <a:p>
            <a:endParaRPr lang="en-US" altLang="ko-KR" sz="1600" dirty="0"/>
          </a:p>
          <a:p>
            <a:r>
              <a:rPr lang="en-US" altLang="ko-KR" sz="1200" dirty="0"/>
              <a:t>[1] </a:t>
            </a:r>
            <a:r>
              <a:rPr lang="ko-KR" altLang="en-US" sz="1200" dirty="0"/>
              <a:t>의약용도발명의 구성요소</a:t>
            </a:r>
            <a:r>
              <a:rPr lang="en-US" altLang="ko-KR" sz="1200" dirty="0"/>
              <a:t>: </a:t>
            </a:r>
            <a:r>
              <a:rPr lang="ko-KR" altLang="en-US" sz="1200" dirty="0"/>
              <a:t>원칙은 </a:t>
            </a:r>
            <a:r>
              <a:rPr lang="ko-KR" altLang="en-US" sz="1200" dirty="0">
                <a:highlight>
                  <a:srgbClr val="FFFF00"/>
                </a:highlight>
              </a:rPr>
              <a:t>물질 </a:t>
            </a:r>
            <a:r>
              <a:rPr lang="en-US" altLang="ko-KR" sz="1200" dirty="0">
                <a:highlight>
                  <a:srgbClr val="FFFF00"/>
                </a:highlight>
              </a:rPr>
              <a:t>+</a:t>
            </a:r>
            <a:r>
              <a:rPr lang="ko-KR" altLang="en-US" sz="1200" dirty="0">
                <a:highlight>
                  <a:srgbClr val="FFFF00"/>
                </a:highlight>
              </a:rPr>
              <a:t> 용도</a:t>
            </a:r>
            <a:r>
              <a:rPr lang="en-US" altLang="ko-KR" sz="1200" dirty="0">
                <a:highlight>
                  <a:srgbClr val="FFFF00"/>
                </a:highlight>
              </a:rPr>
              <a:t>(</a:t>
            </a:r>
            <a:r>
              <a:rPr lang="ko-KR" altLang="en-US" sz="1200" dirty="0">
                <a:highlight>
                  <a:srgbClr val="FFFF00"/>
                </a:highlight>
              </a:rPr>
              <a:t>질병</a:t>
            </a:r>
            <a:r>
              <a:rPr lang="en-US" altLang="ko-KR" sz="1200" dirty="0">
                <a:highlight>
                  <a:srgbClr val="FFFF00"/>
                </a:highlight>
              </a:rPr>
              <a:t>, </a:t>
            </a:r>
            <a:r>
              <a:rPr lang="ko-KR" altLang="en-US" sz="1200" dirty="0">
                <a:highlight>
                  <a:srgbClr val="FFFF00"/>
                </a:highlight>
              </a:rPr>
              <a:t>약효</a:t>
            </a:r>
            <a:r>
              <a:rPr lang="en-US" altLang="ko-KR" sz="1200" dirty="0">
                <a:highlight>
                  <a:srgbClr val="FFFF00"/>
                </a:highlight>
              </a:rPr>
              <a:t>)</a:t>
            </a:r>
            <a:r>
              <a:rPr lang="ko-KR" altLang="en-US" sz="1200" dirty="0"/>
              <a:t>로 기재</a:t>
            </a:r>
            <a:endParaRPr lang="en-US" altLang="ko-KR" sz="1200" dirty="0"/>
          </a:p>
          <a:p>
            <a:pPr marL="227013" indent="-227013"/>
            <a:r>
              <a:rPr lang="en-US" altLang="ko-KR" sz="1200" dirty="0">
                <a:highlight>
                  <a:srgbClr val="FFFF00"/>
                </a:highlight>
              </a:rPr>
              <a:t>[2] </a:t>
            </a:r>
            <a:r>
              <a:rPr lang="ko-KR" altLang="en-US" sz="1200" dirty="0">
                <a:highlight>
                  <a:srgbClr val="FFFF00"/>
                </a:highlight>
              </a:rPr>
              <a:t>물질 </a:t>
            </a:r>
            <a:r>
              <a:rPr lang="en-US" altLang="ko-KR" sz="1200" dirty="0">
                <a:highlight>
                  <a:srgbClr val="FFFF00"/>
                </a:highlight>
              </a:rPr>
              <a:t>+</a:t>
            </a:r>
            <a:r>
              <a:rPr lang="ko-KR" altLang="en-US" sz="1200" dirty="0">
                <a:highlight>
                  <a:srgbClr val="FFFF00"/>
                </a:highlight>
              </a:rPr>
              <a:t> 약리기전</a:t>
            </a:r>
            <a:r>
              <a:rPr lang="en-US" altLang="ko-KR" sz="1200" dirty="0"/>
              <a:t>: </a:t>
            </a:r>
            <a:r>
              <a:rPr lang="ko-KR" altLang="en-US" sz="1200" dirty="0"/>
              <a:t>특정 물질의 의약용도가 약리기전만으로 기재되어 있다 하더라도 발명의 설명 등 명세서의 다른 기재나 기술상식에 의하여 </a:t>
            </a:r>
            <a:r>
              <a:rPr lang="ko-KR" altLang="en-US" sz="1200" dirty="0" err="1"/>
              <a:t>의약으로서의</a:t>
            </a:r>
            <a:r>
              <a:rPr lang="ko-KR" altLang="en-US" sz="1200" dirty="0"/>
              <a:t> 구체적인 용도를 명확하게 파악할 수 있는 경우에는 특허법 제</a:t>
            </a:r>
            <a:r>
              <a:rPr lang="en-US" altLang="ko-KR" sz="1200" dirty="0"/>
              <a:t>42</a:t>
            </a:r>
            <a:r>
              <a:rPr lang="ko-KR" altLang="en-US" sz="1200" dirty="0"/>
              <a:t>조 제</a:t>
            </a:r>
            <a:r>
              <a:rPr lang="en-US" altLang="ko-KR" sz="1200" dirty="0"/>
              <a:t>4</a:t>
            </a:r>
            <a:r>
              <a:rPr lang="ko-KR" altLang="en-US" sz="1200" dirty="0"/>
              <a:t>항 제</a:t>
            </a:r>
            <a:r>
              <a:rPr lang="en-US" altLang="ko-KR" sz="1200" dirty="0"/>
              <a:t>2</a:t>
            </a:r>
            <a:r>
              <a:rPr lang="ko-KR" altLang="en-US" sz="1200" dirty="0"/>
              <a:t>호가 정한 청구항의 명확성 요건을 충족</a:t>
            </a:r>
            <a:r>
              <a:rPr lang="en-US" altLang="ko-KR" sz="1200" dirty="0"/>
              <a:t>(</a:t>
            </a:r>
            <a:r>
              <a:rPr lang="ko-KR" altLang="en-US" sz="1200" dirty="0"/>
              <a:t>대법원 </a:t>
            </a:r>
            <a:r>
              <a:rPr lang="en-US" altLang="ko-KR" sz="1200" dirty="0"/>
              <a:t>2009. 11. 12. </a:t>
            </a:r>
            <a:r>
              <a:rPr lang="ko-KR" altLang="en-US" sz="1200" dirty="0"/>
              <a:t>선고 </a:t>
            </a:r>
            <a:r>
              <a:rPr lang="en-US" altLang="ko-KR" sz="1200" dirty="0"/>
              <a:t>2007</a:t>
            </a:r>
            <a:r>
              <a:rPr lang="ko-KR" altLang="en-US" sz="1200" dirty="0"/>
              <a:t>후</a:t>
            </a:r>
            <a:r>
              <a:rPr lang="en-US" altLang="ko-KR" sz="1200" dirty="0"/>
              <a:t>5215).</a:t>
            </a:r>
          </a:p>
          <a:p>
            <a:pPr marL="227013" indent="-227013"/>
            <a:r>
              <a:rPr lang="en-US" altLang="ko-KR" sz="1200" dirty="0">
                <a:highlight>
                  <a:srgbClr val="FFFF00"/>
                </a:highlight>
              </a:rPr>
              <a:t>[3] </a:t>
            </a:r>
            <a:r>
              <a:rPr lang="ko-KR" altLang="en-US" sz="1200" dirty="0">
                <a:highlight>
                  <a:srgbClr val="FFFF00"/>
                </a:highlight>
              </a:rPr>
              <a:t>물질 </a:t>
            </a:r>
            <a:r>
              <a:rPr lang="en-US" altLang="ko-KR" sz="1200" dirty="0">
                <a:highlight>
                  <a:srgbClr val="FFFF00"/>
                </a:highlight>
              </a:rPr>
              <a:t>+</a:t>
            </a:r>
            <a:r>
              <a:rPr lang="ko-KR" altLang="en-US" sz="1200" dirty="0">
                <a:highlight>
                  <a:srgbClr val="FFFF00"/>
                </a:highlight>
              </a:rPr>
              <a:t> 약리기전 </a:t>
            </a:r>
            <a:r>
              <a:rPr lang="en-US" altLang="ko-KR" sz="1200" dirty="0">
                <a:highlight>
                  <a:srgbClr val="FFFF00"/>
                </a:highlight>
              </a:rPr>
              <a:t>+ </a:t>
            </a:r>
            <a:r>
              <a:rPr lang="ko-KR" altLang="en-US" sz="1200" dirty="0">
                <a:highlight>
                  <a:srgbClr val="FFFF00"/>
                </a:highlight>
              </a:rPr>
              <a:t>용도</a:t>
            </a:r>
            <a:r>
              <a:rPr lang="en-US" altLang="ko-KR" sz="1200" dirty="0">
                <a:highlight>
                  <a:srgbClr val="FFFF00"/>
                </a:highlight>
              </a:rPr>
              <a:t>(</a:t>
            </a:r>
            <a:r>
              <a:rPr lang="ko-KR" altLang="en-US" sz="1200" dirty="0">
                <a:highlight>
                  <a:srgbClr val="FFFF00"/>
                </a:highlight>
              </a:rPr>
              <a:t>질병</a:t>
            </a:r>
            <a:r>
              <a:rPr lang="en-US" altLang="ko-KR" sz="1200" dirty="0">
                <a:highlight>
                  <a:srgbClr val="FFFF00"/>
                </a:highlight>
              </a:rPr>
              <a:t>, </a:t>
            </a:r>
            <a:r>
              <a:rPr lang="ko-KR" altLang="en-US" sz="1200" dirty="0">
                <a:highlight>
                  <a:srgbClr val="FFFF00"/>
                </a:highlight>
              </a:rPr>
              <a:t>약효</a:t>
            </a:r>
            <a:r>
              <a:rPr lang="en-US" altLang="ko-KR" sz="1200" dirty="0">
                <a:highlight>
                  <a:srgbClr val="FFFF00"/>
                </a:highlight>
              </a:rPr>
              <a:t>)</a:t>
            </a:r>
            <a:r>
              <a:rPr lang="en-US" altLang="ko-KR" sz="1200" dirty="0"/>
              <a:t>: </a:t>
            </a:r>
            <a:r>
              <a:rPr lang="ko-KR" altLang="en-US" sz="1200" dirty="0"/>
              <a:t>약리기전은 특정 물질이 가지고 있는 의약용도를 특정하는 한도 내에서만 발명의 구성요소로서 의미를 가질 뿐</a:t>
            </a:r>
            <a:r>
              <a:rPr lang="en-US" altLang="ko-KR" sz="1200" dirty="0"/>
              <a:t>, </a:t>
            </a:r>
            <a:r>
              <a:rPr lang="ko-KR" altLang="en-US" sz="1200" dirty="0"/>
              <a:t>약리기전 그 자체가 청구범위를 한정하는 구성요소라고 볼 수 없다</a:t>
            </a:r>
            <a:r>
              <a:rPr lang="en-US" altLang="ko-KR" sz="1200" dirty="0"/>
              <a:t>. </a:t>
            </a:r>
            <a:r>
              <a:rPr lang="ko-KR" altLang="en-US" sz="1200" dirty="0"/>
              <a:t>따라서</a:t>
            </a:r>
            <a:r>
              <a:rPr lang="en-US" altLang="ko-KR" sz="1200" dirty="0"/>
              <a:t>, </a:t>
            </a:r>
            <a:r>
              <a:rPr lang="ko-KR" altLang="en-US" sz="1200" dirty="0"/>
              <a:t>정정심판에서 약리기전을 추가하는 정정을 하는 경우 용도를 </a:t>
            </a:r>
            <a:r>
              <a:rPr lang="en-US" altLang="ko-KR" sz="1200" dirty="0"/>
              <a:t>2</a:t>
            </a:r>
            <a:r>
              <a:rPr lang="ko-KR" altLang="en-US" sz="1200" dirty="0"/>
              <a:t>번 기재하는 것에 지나지 않아서 청구범위의 감축이라 할 수 없기 때문에 정정을 인정할 수 없고</a:t>
            </a:r>
            <a:r>
              <a:rPr lang="en-US" altLang="ko-KR" sz="1200" dirty="0"/>
              <a:t>(</a:t>
            </a:r>
            <a:r>
              <a:rPr lang="ko-KR" altLang="en-US" sz="1200" dirty="0"/>
              <a:t>대법원 </a:t>
            </a:r>
            <a:r>
              <a:rPr lang="en-US" altLang="ko-KR" sz="1200" dirty="0"/>
              <a:t>2014. 5. 16. </a:t>
            </a:r>
            <a:r>
              <a:rPr lang="ko-KR" altLang="en-US" sz="1200" dirty="0"/>
              <a:t>선고 </a:t>
            </a:r>
            <a:r>
              <a:rPr lang="en-US" altLang="ko-KR" sz="1200" dirty="0"/>
              <a:t>2012</a:t>
            </a:r>
            <a:r>
              <a:rPr lang="ko-KR" altLang="en-US" sz="1200" dirty="0"/>
              <a:t>후</a:t>
            </a:r>
            <a:r>
              <a:rPr lang="en-US" altLang="ko-KR" sz="1200" dirty="0"/>
              <a:t>238), </a:t>
            </a:r>
            <a:r>
              <a:rPr lang="ko-KR" altLang="en-US" sz="1200" dirty="0"/>
              <a:t>거절결정불복심판에서 물질 </a:t>
            </a:r>
            <a:r>
              <a:rPr lang="en-US" altLang="ko-KR" sz="1200" dirty="0"/>
              <a:t>+ </a:t>
            </a:r>
            <a:r>
              <a:rPr lang="ko-KR" altLang="en-US" sz="1200" dirty="0"/>
              <a:t>약리기전 </a:t>
            </a:r>
            <a:r>
              <a:rPr lang="en-US" altLang="ko-KR" sz="1200" dirty="0"/>
              <a:t>+ </a:t>
            </a:r>
            <a:r>
              <a:rPr lang="ko-KR" altLang="en-US" sz="1200" dirty="0"/>
              <a:t>용도로 청구범위가 기재된 경우 물질 </a:t>
            </a:r>
            <a:r>
              <a:rPr lang="en-US" altLang="ko-KR" sz="1200" dirty="0"/>
              <a:t>+ </a:t>
            </a:r>
            <a:r>
              <a:rPr lang="ko-KR" altLang="en-US" sz="1200" dirty="0"/>
              <a:t>용도로 발명을 특정해야 함</a:t>
            </a:r>
            <a:r>
              <a:rPr lang="en-US" altLang="ko-KR" sz="1200" dirty="0"/>
              <a:t>(</a:t>
            </a:r>
            <a:r>
              <a:rPr lang="ko-KR" altLang="en-US" sz="1200" dirty="0"/>
              <a:t>대법원 </a:t>
            </a:r>
            <a:r>
              <a:rPr lang="en-US" altLang="ko-KR" sz="1200" dirty="0"/>
              <a:t>2014. 5. 16. </a:t>
            </a:r>
            <a:r>
              <a:rPr lang="ko-KR" altLang="en-US" sz="1200" dirty="0"/>
              <a:t>선고 </a:t>
            </a:r>
            <a:r>
              <a:rPr lang="en-US" altLang="ko-KR" sz="1200" dirty="0"/>
              <a:t>2012</a:t>
            </a:r>
            <a:r>
              <a:rPr lang="ko-KR" altLang="en-US" sz="1200" dirty="0"/>
              <a:t>후</a:t>
            </a:r>
            <a:r>
              <a:rPr lang="en-US" altLang="ko-KR" sz="1200" dirty="0"/>
              <a:t>3664).</a:t>
            </a:r>
          </a:p>
          <a:p>
            <a:pPr marL="227013" indent="-227013"/>
            <a:r>
              <a:rPr lang="en-US" altLang="ko-KR" sz="1200" dirty="0">
                <a:highlight>
                  <a:srgbClr val="FFFF00"/>
                </a:highlight>
                <a:latin typeface="+mn-ea"/>
              </a:rPr>
              <a:t>[4] </a:t>
            </a:r>
            <a:r>
              <a:rPr lang="ko-KR" altLang="en-US" sz="1200" dirty="0">
                <a:highlight>
                  <a:srgbClr val="FFFF00"/>
                </a:highlight>
                <a:latin typeface="+mn-ea"/>
              </a:rPr>
              <a:t>물질 </a:t>
            </a:r>
            <a:r>
              <a:rPr lang="en-US" altLang="ko-KR" sz="1200" dirty="0">
                <a:highlight>
                  <a:srgbClr val="FFFF00"/>
                </a:highlight>
                <a:latin typeface="+mn-ea"/>
              </a:rPr>
              <a:t>+ </a:t>
            </a:r>
            <a:r>
              <a:rPr lang="ko-KR" altLang="en-US" sz="1200" dirty="0">
                <a:highlight>
                  <a:srgbClr val="FFFF00"/>
                </a:highlight>
                <a:latin typeface="+mn-ea"/>
              </a:rPr>
              <a:t>용도</a:t>
            </a:r>
            <a:r>
              <a:rPr lang="en-US" altLang="ko-KR" sz="1200" dirty="0">
                <a:highlight>
                  <a:srgbClr val="FFFF00"/>
                </a:highlight>
                <a:latin typeface="+mn-ea"/>
              </a:rPr>
              <a:t>(</a:t>
            </a:r>
            <a:r>
              <a:rPr lang="ko-KR" altLang="en-US" sz="1200" dirty="0">
                <a:highlight>
                  <a:srgbClr val="FFFF00"/>
                </a:highlight>
                <a:latin typeface="+mn-ea"/>
              </a:rPr>
              <a:t>질병</a:t>
            </a:r>
            <a:r>
              <a:rPr lang="en-US" altLang="ko-KR" sz="1200" dirty="0">
                <a:highlight>
                  <a:srgbClr val="FFFF00"/>
                </a:highlight>
                <a:latin typeface="+mn-ea"/>
              </a:rPr>
              <a:t>, </a:t>
            </a:r>
            <a:r>
              <a:rPr lang="ko-KR" altLang="en-US" sz="1200" dirty="0">
                <a:highlight>
                  <a:srgbClr val="FFFF00"/>
                </a:highlight>
                <a:latin typeface="+mn-ea"/>
              </a:rPr>
              <a:t>약효</a:t>
            </a:r>
            <a:r>
              <a:rPr lang="en-US" altLang="ko-KR" sz="1200" dirty="0">
                <a:highlight>
                  <a:srgbClr val="FFFF00"/>
                </a:highlight>
                <a:latin typeface="+mn-ea"/>
              </a:rPr>
              <a:t>) + </a:t>
            </a:r>
            <a:r>
              <a:rPr lang="ko-KR" altLang="en-US" sz="1200" dirty="0">
                <a:highlight>
                  <a:srgbClr val="FFFF00"/>
                </a:highlight>
                <a:latin typeface="+mn-ea"/>
              </a:rPr>
              <a:t>투여용법</a:t>
            </a:r>
            <a:r>
              <a:rPr lang="en-US" altLang="ko-KR" sz="1200" dirty="0">
                <a:highlight>
                  <a:srgbClr val="FFFF00"/>
                </a:highlight>
                <a:latin typeface="+mn-ea"/>
              </a:rPr>
              <a:t>/</a:t>
            </a:r>
            <a:r>
              <a:rPr lang="ko-KR" altLang="en-US" sz="1200" dirty="0">
                <a:highlight>
                  <a:srgbClr val="FFFF00"/>
                </a:highlight>
                <a:latin typeface="+mn-ea"/>
              </a:rPr>
              <a:t>투여용량</a:t>
            </a:r>
            <a:r>
              <a:rPr lang="en-US" altLang="ko-KR" sz="1200" dirty="0">
                <a:latin typeface="+mn-ea"/>
              </a:rPr>
              <a:t>: </a:t>
            </a:r>
            <a:r>
              <a:rPr lang="ko-KR" altLang="en-US" sz="1200" dirty="0">
                <a:latin typeface="+mn-ea"/>
              </a:rPr>
              <a:t>투여용법</a:t>
            </a:r>
            <a:r>
              <a:rPr lang="en-US" altLang="ko-KR" sz="1200" dirty="0">
                <a:latin typeface="+mn-ea"/>
              </a:rPr>
              <a:t>/</a:t>
            </a:r>
            <a:r>
              <a:rPr lang="ko-KR" altLang="en-US" sz="1200" dirty="0">
                <a:latin typeface="+mn-ea"/>
              </a:rPr>
              <a:t>투여용량은 새로운 용도로서 발명의 구성요소로 인정</a:t>
            </a:r>
            <a:r>
              <a:rPr lang="en-US" altLang="ko-KR" sz="1200" dirty="0">
                <a:latin typeface="+mn-ea"/>
              </a:rPr>
              <a:t>(</a:t>
            </a:r>
            <a:r>
              <a:rPr lang="ko-KR" altLang="en-US" sz="1200" dirty="0">
                <a:latin typeface="+mn-ea"/>
              </a:rPr>
              <a:t>대법원 </a:t>
            </a:r>
            <a:r>
              <a:rPr lang="en-US" altLang="ko-KR" sz="1200" dirty="0">
                <a:latin typeface="+mn-ea"/>
              </a:rPr>
              <a:t>2015. 5. 21. </a:t>
            </a:r>
            <a:r>
              <a:rPr lang="ko-KR" altLang="en-US" sz="1200" dirty="0">
                <a:latin typeface="+mn-ea"/>
              </a:rPr>
              <a:t>선고 </a:t>
            </a:r>
            <a:r>
              <a:rPr lang="en-US" altLang="ko-KR" sz="1200" dirty="0">
                <a:latin typeface="+mn-ea"/>
              </a:rPr>
              <a:t>2014</a:t>
            </a:r>
            <a:r>
              <a:rPr lang="ko-KR" altLang="en-US" sz="1200" dirty="0">
                <a:latin typeface="+mn-ea"/>
              </a:rPr>
              <a:t>후</a:t>
            </a:r>
            <a:r>
              <a:rPr lang="en-US" altLang="ko-KR" sz="1200" dirty="0">
                <a:latin typeface="+mn-ea"/>
              </a:rPr>
              <a:t>768).</a:t>
            </a:r>
          </a:p>
          <a:p>
            <a:endParaRPr lang="ko-KR" altLang="en-US" sz="1200" dirty="0"/>
          </a:p>
          <a:p>
            <a:endParaRPr lang="ko-KR" altLang="en-US" sz="1600" dirty="0"/>
          </a:p>
        </p:txBody>
      </p:sp>
      <p:sp>
        <p:nvSpPr>
          <p:cNvPr id="34" name="TextBox 33">
            <a:extLst>
              <a:ext uri="{FF2B5EF4-FFF2-40B4-BE49-F238E27FC236}">
                <a16:creationId xmlns:a16="http://schemas.microsoft.com/office/drawing/2014/main" id="{323904E6-520D-4C13-A889-62240018A4E0}"/>
              </a:ext>
            </a:extLst>
          </p:cNvPr>
          <p:cNvSpPr txBox="1"/>
          <p:nvPr/>
        </p:nvSpPr>
        <p:spPr>
          <a:xfrm>
            <a:off x="384792" y="4031153"/>
            <a:ext cx="3879390" cy="1212654"/>
          </a:xfrm>
          <a:prstGeom prst="rect">
            <a:avLst/>
          </a:prstGeom>
          <a:noFill/>
          <a:ln>
            <a:solidFill>
              <a:schemeClr val="bg1">
                <a:lumMod val="50000"/>
              </a:schemeClr>
            </a:solidFill>
          </a:ln>
        </p:spPr>
        <p:txBody>
          <a:bodyPr wrap="square" rtlCol="0" anchor="t">
            <a:noAutofit/>
          </a:bodyPr>
          <a:lstStyle/>
          <a:p>
            <a:r>
              <a:rPr lang="ko-KR" altLang="en-US" sz="1600" dirty="0"/>
              <a:t>산업상 이용가능성</a:t>
            </a:r>
            <a:endParaRPr lang="en-US" altLang="ko-KR" sz="1600" dirty="0"/>
          </a:p>
          <a:p>
            <a:endParaRPr lang="en-US" altLang="ko-KR" sz="1600" dirty="0"/>
          </a:p>
          <a:p>
            <a:r>
              <a:rPr lang="ko-KR" altLang="en-US" sz="1200" dirty="0"/>
              <a:t>의약발명은 인체를 직접적인 구성요소로 하지 아니하여야만 산업상 이용가능성이 인정</a:t>
            </a:r>
          </a:p>
          <a:p>
            <a:endParaRPr lang="ko-KR" altLang="en-US" sz="1200" dirty="0"/>
          </a:p>
          <a:p>
            <a:endParaRPr lang="ko-KR" altLang="en-US" sz="1600" dirty="0"/>
          </a:p>
        </p:txBody>
      </p:sp>
      <p:sp>
        <p:nvSpPr>
          <p:cNvPr id="36" name="TextBox 35">
            <a:extLst>
              <a:ext uri="{FF2B5EF4-FFF2-40B4-BE49-F238E27FC236}">
                <a16:creationId xmlns:a16="http://schemas.microsoft.com/office/drawing/2014/main" id="{6D18F28C-A959-46DF-BC9C-88F5DFC222C9}"/>
              </a:ext>
            </a:extLst>
          </p:cNvPr>
          <p:cNvSpPr txBox="1"/>
          <p:nvPr/>
        </p:nvSpPr>
        <p:spPr>
          <a:xfrm>
            <a:off x="4381877" y="3786714"/>
            <a:ext cx="2842788" cy="2847342"/>
          </a:xfrm>
          <a:prstGeom prst="rect">
            <a:avLst/>
          </a:prstGeom>
          <a:noFill/>
          <a:ln>
            <a:solidFill>
              <a:schemeClr val="bg1">
                <a:lumMod val="50000"/>
              </a:schemeClr>
            </a:solidFill>
          </a:ln>
        </p:spPr>
        <p:txBody>
          <a:bodyPr wrap="square" rtlCol="0" anchor="t">
            <a:noAutofit/>
          </a:bodyPr>
          <a:lstStyle/>
          <a:p>
            <a:r>
              <a:rPr lang="ko-KR" altLang="en-US" sz="1600" dirty="0"/>
              <a:t>신규성</a:t>
            </a:r>
            <a:endParaRPr lang="en-US" altLang="ko-KR" sz="1600" dirty="0"/>
          </a:p>
          <a:p>
            <a:endParaRPr lang="en-US" altLang="ko-KR" sz="1600" dirty="0"/>
          </a:p>
          <a:p>
            <a:r>
              <a:rPr lang="ko-KR" altLang="en-US" sz="1200" dirty="0"/>
              <a:t>화학물질이나 의약품 등의 경우에는 통상의 기술자가 특허발명의 출원일 또는 우선권 주장일 전에 사용할 수 있었던 분석방법을 통해 과도한 노력을 기울이지 않고 그 조성이나 성분을 알 수 없었다면 비록 공연히 판매되었더라도 불특정다수인이 인식할 수 있는 상태였다고 볼 수 없어 신규성이 상실되지 아니한다</a:t>
            </a:r>
            <a:r>
              <a:rPr lang="en-US" altLang="ko-KR" sz="1200" dirty="0"/>
              <a:t>. </a:t>
            </a:r>
            <a:r>
              <a:rPr lang="ko-KR" altLang="en-US" sz="1200" dirty="0"/>
              <a:t>불특정다수인이 발명의 내용을 인식할 수 있는 상태에 놓인 점에 대해서는 이를 주장하는 자가 증명하여야 한다</a:t>
            </a:r>
            <a:r>
              <a:rPr lang="en-US" altLang="ko-KR" sz="1200" dirty="0"/>
              <a:t>(</a:t>
            </a:r>
            <a:r>
              <a:rPr lang="ko-KR" altLang="en-US" sz="1200" dirty="0"/>
              <a:t>특허법원 </a:t>
            </a:r>
            <a:r>
              <a:rPr lang="en-US" altLang="ko-KR" sz="1200" dirty="0"/>
              <a:t>2018. 1. 11. </a:t>
            </a:r>
            <a:r>
              <a:rPr lang="ko-KR" altLang="en-US" sz="1200" dirty="0"/>
              <a:t>선고 </a:t>
            </a:r>
            <a:r>
              <a:rPr lang="en-US" altLang="ko-KR" sz="1200" dirty="0"/>
              <a:t>2017</a:t>
            </a:r>
            <a:r>
              <a:rPr lang="ko-KR" altLang="en-US" sz="1200" dirty="0"/>
              <a:t>나</a:t>
            </a:r>
            <a:r>
              <a:rPr lang="en-US" altLang="ko-KR" sz="1200" dirty="0"/>
              <a:t>1247).</a:t>
            </a:r>
            <a:endParaRPr lang="ko-KR" altLang="en-US" sz="1200" dirty="0"/>
          </a:p>
          <a:p>
            <a:endParaRPr lang="ko-KR" altLang="en-US" sz="1200" dirty="0"/>
          </a:p>
          <a:p>
            <a:endParaRPr lang="ko-KR" altLang="en-US" sz="1600" dirty="0"/>
          </a:p>
        </p:txBody>
      </p:sp>
      <p:sp>
        <p:nvSpPr>
          <p:cNvPr id="37" name="TextBox 36">
            <a:extLst>
              <a:ext uri="{FF2B5EF4-FFF2-40B4-BE49-F238E27FC236}">
                <a16:creationId xmlns:a16="http://schemas.microsoft.com/office/drawing/2014/main" id="{90885964-5DB5-406C-814B-04A171AA297A}"/>
              </a:ext>
            </a:extLst>
          </p:cNvPr>
          <p:cNvSpPr txBox="1"/>
          <p:nvPr/>
        </p:nvSpPr>
        <p:spPr>
          <a:xfrm>
            <a:off x="384792" y="5341544"/>
            <a:ext cx="3897497" cy="1292511"/>
          </a:xfrm>
          <a:prstGeom prst="rect">
            <a:avLst/>
          </a:prstGeom>
          <a:solidFill>
            <a:schemeClr val="bg1">
              <a:lumMod val="95000"/>
            </a:schemeClr>
          </a:solidFill>
          <a:ln>
            <a:solidFill>
              <a:schemeClr val="bg1">
                <a:lumMod val="50000"/>
              </a:schemeClr>
            </a:solidFill>
          </a:ln>
        </p:spPr>
        <p:txBody>
          <a:bodyPr wrap="square" rtlCol="0" anchor="t">
            <a:noAutofit/>
          </a:bodyPr>
          <a:lstStyle/>
          <a:p>
            <a:r>
              <a:rPr lang="ko-KR" altLang="en-US" sz="1600" dirty="0" err="1"/>
              <a:t>불특허발명</a:t>
            </a:r>
            <a:endParaRPr lang="en-US" altLang="ko-KR" sz="1600" dirty="0"/>
          </a:p>
          <a:p>
            <a:endParaRPr lang="en-US" altLang="ko-KR" sz="1600" dirty="0"/>
          </a:p>
          <a:p>
            <a:r>
              <a:rPr lang="ko-KR" altLang="en-US" sz="1200" dirty="0"/>
              <a:t>그 발명을 실행할 때 필연적으로 신체를 손상하거나</a:t>
            </a:r>
            <a:r>
              <a:rPr lang="en-US" altLang="ko-KR" sz="1200" dirty="0"/>
              <a:t>, </a:t>
            </a:r>
            <a:r>
              <a:rPr lang="ko-KR" altLang="en-US" sz="1200" dirty="0"/>
              <a:t>신체의 자유를 비인도적으로 구속하지 아니하여야만 공서양속에 위반되거나 공중의 위생을 해칠 우려가 있는 발명에 해당하지 않음</a:t>
            </a:r>
          </a:p>
          <a:p>
            <a:endParaRPr lang="ko-KR" altLang="en-US" sz="1200" dirty="0"/>
          </a:p>
          <a:p>
            <a:endParaRPr lang="ko-KR" altLang="en-US" sz="1600" dirty="0"/>
          </a:p>
        </p:txBody>
      </p:sp>
      <p:sp>
        <p:nvSpPr>
          <p:cNvPr id="10" name="TextBox 9">
            <a:extLst>
              <a:ext uri="{FF2B5EF4-FFF2-40B4-BE49-F238E27FC236}">
                <a16:creationId xmlns:a16="http://schemas.microsoft.com/office/drawing/2014/main" id="{14CDDFCA-9FBD-4E64-98D8-DBACC9269D75}"/>
              </a:ext>
            </a:extLst>
          </p:cNvPr>
          <p:cNvSpPr txBox="1"/>
          <p:nvPr/>
        </p:nvSpPr>
        <p:spPr>
          <a:xfrm>
            <a:off x="7342360" y="3786714"/>
            <a:ext cx="4521410" cy="2847342"/>
          </a:xfrm>
          <a:prstGeom prst="rect">
            <a:avLst/>
          </a:prstGeom>
          <a:solidFill>
            <a:schemeClr val="bg1">
              <a:lumMod val="95000"/>
            </a:schemeClr>
          </a:solidFill>
          <a:ln>
            <a:solidFill>
              <a:schemeClr val="bg1">
                <a:lumMod val="50000"/>
              </a:schemeClr>
            </a:solidFill>
          </a:ln>
        </p:spPr>
        <p:txBody>
          <a:bodyPr wrap="square" rtlCol="0" anchor="t">
            <a:noAutofit/>
          </a:bodyPr>
          <a:lstStyle/>
          <a:p>
            <a:r>
              <a:rPr lang="ko-KR" altLang="en-US" sz="1600" dirty="0"/>
              <a:t>진보성</a:t>
            </a:r>
            <a:endParaRPr lang="en-US" altLang="ko-KR" sz="1600" dirty="0"/>
          </a:p>
          <a:p>
            <a:endParaRPr lang="en-US" altLang="ko-KR" sz="1600" dirty="0"/>
          </a:p>
          <a:p>
            <a:pPr marL="214313" indent="-214313"/>
            <a:r>
              <a:rPr lang="en-US" altLang="ko-KR" sz="1200" dirty="0"/>
              <a:t>[1] </a:t>
            </a:r>
            <a:r>
              <a:rPr lang="ko-KR" altLang="en-US" sz="1200" dirty="0"/>
              <a:t>특정한 투여용법이나 투여용량으로 인하여 나타난 유리한 효과가 통상의 기술자의 기술수준에서 예측되는 범위를 넘는 현저한 경우이거나 또는 통상의 기술자가 당해 </a:t>
            </a:r>
            <a:r>
              <a:rPr lang="ko-KR" altLang="en-US" sz="1200" dirty="0">
                <a:highlight>
                  <a:srgbClr val="FFFF00"/>
                </a:highlight>
              </a:rPr>
              <a:t>의약발명의 약리효과가 온전히 유지되면서 독성이나 부작용이 최소화</a:t>
            </a:r>
            <a:r>
              <a:rPr lang="ko-KR" altLang="en-US" sz="1200" dirty="0"/>
              <a:t>되는 특정한 투여용법이나 투여용량을 선행발명 또는 공지의 발명으로부터 예측할 수 없었던 경우에는 그 진보성이 부정되지 아니한다</a:t>
            </a:r>
            <a:r>
              <a:rPr lang="en-US" altLang="ko-KR" sz="1200" dirty="0"/>
              <a:t>(</a:t>
            </a:r>
            <a:r>
              <a:rPr lang="ko-KR" altLang="en-US" sz="1200" dirty="0"/>
              <a:t>특허법원 </a:t>
            </a:r>
            <a:r>
              <a:rPr lang="en-US" altLang="ko-KR" sz="1200" dirty="0"/>
              <a:t>2017. 2. 3. </a:t>
            </a:r>
            <a:r>
              <a:rPr lang="ko-KR" altLang="en-US" sz="1200" dirty="0"/>
              <a:t>선고 </a:t>
            </a:r>
            <a:r>
              <a:rPr lang="en-US" altLang="ko-KR" sz="1200" dirty="0"/>
              <a:t>2016</a:t>
            </a:r>
            <a:r>
              <a:rPr lang="ko-KR" altLang="en-US" sz="1200" dirty="0"/>
              <a:t>허</a:t>
            </a:r>
            <a:r>
              <a:rPr lang="en-US" altLang="ko-KR" sz="1200" dirty="0"/>
              <a:t>830).</a:t>
            </a:r>
            <a:r>
              <a:rPr lang="ko-KR" altLang="en-US" sz="1200" dirty="0"/>
              <a:t> </a:t>
            </a:r>
            <a:endParaRPr lang="en-US" altLang="ko-KR" sz="1200" dirty="0"/>
          </a:p>
          <a:p>
            <a:pPr marL="214313" indent="-214313"/>
            <a:r>
              <a:rPr lang="en-US" altLang="ko-KR" sz="1200" dirty="0"/>
              <a:t>[2] </a:t>
            </a:r>
            <a:r>
              <a:rPr lang="ko-KR" altLang="en-US" sz="1200" dirty="0"/>
              <a:t>의약용도발명에서는 통상의 기술자가 </a:t>
            </a:r>
            <a:r>
              <a:rPr lang="ko-KR" altLang="en-US" sz="1200" dirty="0" err="1"/>
              <a:t>선행발명들로부터</a:t>
            </a:r>
            <a:r>
              <a:rPr lang="ko-KR" altLang="en-US" sz="1200" dirty="0"/>
              <a:t> 특정 물질의 특정 질병에 대한 치료효과를 쉽게 예측할 수 있는 정도에 불과하다면 그 진보성이 부정되고</a:t>
            </a:r>
            <a:r>
              <a:rPr lang="en-US" altLang="ko-KR" sz="1200" dirty="0"/>
              <a:t>, </a:t>
            </a:r>
            <a:r>
              <a:rPr lang="ko-KR" altLang="en-US" sz="1200" dirty="0"/>
              <a:t>이러한 경우 </a:t>
            </a:r>
            <a:r>
              <a:rPr lang="ko-KR" altLang="en-US" sz="1200" dirty="0" err="1">
                <a:highlight>
                  <a:srgbClr val="FFFF00"/>
                </a:highlight>
              </a:rPr>
              <a:t>선행발명들에서</a:t>
            </a:r>
            <a:r>
              <a:rPr lang="ko-KR" altLang="en-US" sz="1200" dirty="0">
                <a:highlight>
                  <a:srgbClr val="FFFF00"/>
                </a:highlight>
              </a:rPr>
              <a:t> 임상시험 등에 의한 치료효과가 확인될 것까지 요구된다고 볼 수 없다</a:t>
            </a:r>
            <a:r>
              <a:rPr lang="en-US" altLang="ko-KR" sz="1200" dirty="0"/>
              <a:t>(</a:t>
            </a:r>
            <a:r>
              <a:rPr lang="ko-KR" altLang="en-US" sz="1200" dirty="0"/>
              <a:t>대법원 </a:t>
            </a:r>
            <a:r>
              <a:rPr lang="en-US" altLang="ko-KR" sz="1200" dirty="0"/>
              <a:t>2019. 1. 31. </a:t>
            </a:r>
            <a:r>
              <a:rPr lang="ko-KR" altLang="en-US" sz="1200" dirty="0"/>
              <a:t>선고 </a:t>
            </a:r>
            <a:r>
              <a:rPr lang="en-US" altLang="ko-KR" sz="1200" dirty="0"/>
              <a:t>2016</a:t>
            </a:r>
            <a:r>
              <a:rPr lang="ko-KR" altLang="en-US" sz="1200" dirty="0"/>
              <a:t>후</a:t>
            </a:r>
            <a:r>
              <a:rPr lang="en-US" altLang="ko-KR" sz="1200" dirty="0"/>
              <a:t>502).</a:t>
            </a:r>
            <a:endParaRPr lang="ko-KR" altLang="en-US" sz="1200" dirty="0"/>
          </a:p>
          <a:p>
            <a:endParaRPr lang="ko-KR" altLang="en-US" sz="1200" dirty="0"/>
          </a:p>
          <a:p>
            <a:endParaRPr lang="ko-KR" altLang="en-US" sz="1600" dirty="0"/>
          </a:p>
        </p:txBody>
      </p:sp>
      <p:sp>
        <p:nvSpPr>
          <p:cNvPr id="11" name="TextBox 10">
            <a:extLst>
              <a:ext uri="{FF2B5EF4-FFF2-40B4-BE49-F238E27FC236}">
                <a16:creationId xmlns:a16="http://schemas.microsoft.com/office/drawing/2014/main" id="{E559CDE3-AD20-44E5-A4F0-12870FAC4014}"/>
              </a:ext>
            </a:extLst>
          </p:cNvPr>
          <p:cNvSpPr txBox="1"/>
          <p:nvPr/>
        </p:nvSpPr>
        <p:spPr>
          <a:xfrm>
            <a:off x="384792" y="1997272"/>
            <a:ext cx="3915604" cy="1936144"/>
          </a:xfrm>
          <a:prstGeom prst="rect">
            <a:avLst/>
          </a:prstGeom>
          <a:noFill/>
          <a:ln>
            <a:solidFill>
              <a:schemeClr val="bg1">
                <a:lumMod val="50000"/>
              </a:schemeClr>
            </a:solidFill>
          </a:ln>
        </p:spPr>
        <p:txBody>
          <a:bodyPr wrap="square" rtlCol="0" anchor="t">
            <a:noAutofit/>
          </a:bodyPr>
          <a:lstStyle/>
          <a:p>
            <a:r>
              <a:rPr lang="ko-KR" altLang="en-US" sz="1600" dirty="0"/>
              <a:t>발명의 설명의 기재</a:t>
            </a:r>
            <a:endParaRPr lang="en-US" altLang="ko-KR" sz="1600" dirty="0"/>
          </a:p>
          <a:p>
            <a:endParaRPr lang="en-US" altLang="ko-KR" sz="1600" dirty="0"/>
          </a:p>
          <a:p>
            <a:r>
              <a:rPr lang="ko-KR" altLang="en-US" sz="1200" dirty="0"/>
              <a:t>약리효과의 기재가 요구되는 의약의 용도발명에서는 그 출원 전에 명세서 기재의 약리효과를 나타내는 약리기전이 명확히 밝혀진 경우와 같은 특별한 사정이 없다면 특정 물질에 그와 같은 약리효과가 있다는 것을 약리데이터 등이 나타난 </a:t>
            </a:r>
            <a:r>
              <a:rPr lang="ko-KR" altLang="en-US" sz="1200" dirty="0" err="1"/>
              <a:t>시험례로</a:t>
            </a:r>
            <a:r>
              <a:rPr lang="ko-KR" altLang="en-US" sz="1200" dirty="0"/>
              <a:t> 기재하거나 또는 이에 대신할 수 있을 정도로 구체적으로 </a:t>
            </a:r>
            <a:r>
              <a:rPr lang="ko-KR" altLang="en-US" sz="1200" dirty="0" err="1"/>
              <a:t>기재하여야만</a:t>
            </a:r>
            <a:r>
              <a:rPr lang="ko-KR" altLang="en-US" sz="1200" dirty="0"/>
              <a:t> 발명의 설명 기재요건을 충족한다고 볼 수 있다</a:t>
            </a:r>
            <a:r>
              <a:rPr lang="en-US" altLang="ko-KR" sz="1200" dirty="0"/>
              <a:t>(</a:t>
            </a:r>
            <a:r>
              <a:rPr lang="ko-KR" altLang="en-US" sz="1200" dirty="0"/>
              <a:t>대법원 </a:t>
            </a:r>
            <a:r>
              <a:rPr lang="en-US" altLang="ko-KR" sz="1200" dirty="0"/>
              <a:t>2015. 4. 23. </a:t>
            </a:r>
            <a:r>
              <a:rPr lang="ko-KR" altLang="en-US" sz="1200" dirty="0"/>
              <a:t>선고 </a:t>
            </a:r>
            <a:r>
              <a:rPr lang="en-US" altLang="ko-KR" sz="1200" dirty="0"/>
              <a:t>2013</a:t>
            </a:r>
            <a:r>
              <a:rPr lang="ko-KR" altLang="en-US" sz="1200" dirty="0"/>
              <a:t>후</a:t>
            </a:r>
            <a:r>
              <a:rPr lang="en-US" altLang="ko-KR" sz="1200" dirty="0"/>
              <a:t>730, 2015</a:t>
            </a:r>
            <a:r>
              <a:rPr lang="ko-KR" altLang="en-US" sz="1200" dirty="0"/>
              <a:t>후</a:t>
            </a:r>
            <a:r>
              <a:rPr lang="en-US" altLang="ko-KR" sz="1200" dirty="0"/>
              <a:t>727).</a:t>
            </a:r>
            <a:endParaRPr lang="ko-KR" altLang="en-US" sz="1200" dirty="0"/>
          </a:p>
          <a:p>
            <a:endParaRPr lang="ko-KR" altLang="en-US" sz="1600" dirty="0"/>
          </a:p>
        </p:txBody>
      </p:sp>
    </p:spTree>
    <p:extLst>
      <p:ext uri="{BB962C8B-B14F-4D97-AF65-F5344CB8AC3E}">
        <p14:creationId xmlns:p14="http://schemas.microsoft.com/office/powerpoint/2010/main" val="312505218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29</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의약발명</a:t>
            </a:r>
            <a:r>
              <a:rPr lang="en-US" altLang="ko-KR" dirty="0">
                <a:solidFill>
                  <a:srgbClr val="525252"/>
                </a:solidFill>
              </a:rPr>
              <a:t>: </a:t>
            </a:r>
            <a:r>
              <a:rPr lang="ko-KR" altLang="en-US" dirty="0">
                <a:solidFill>
                  <a:srgbClr val="525252"/>
                </a:solidFill>
              </a:rPr>
              <a:t>결정형 발명의 진보성 판단 </a:t>
            </a:r>
            <a:r>
              <a:rPr lang="en-US" altLang="ko-KR" dirty="0">
                <a:solidFill>
                  <a:srgbClr val="525252"/>
                </a:solidFill>
              </a:rPr>
              <a:t>CASE</a:t>
            </a:r>
            <a:endParaRPr lang="ko-KR" altLang="en-US" dirty="0">
              <a:solidFill>
                <a:srgbClr val="525252"/>
              </a:solidFill>
            </a:endParaRPr>
          </a:p>
        </p:txBody>
      </p:sp>
      <p:sp>
        <p:nvSpPr>
          <p:cNvPr id="4" name="슬라이드 번호 개체 틀 3"/>
          <p:cNvSpPr>
            <a:spLocks noGrp="1"/>
          </p:cNvSpPr>
          <p:nvPr>
            <p:ph type="sldNum" sz="quarter" idx="4294967295"/>
          </p:nvPr>
        </p:nvSpPr>
        <p:spPr>
          <a:xfrm>
            <a:off x="11125200" y="0"/>
            <a:ext cx="1066800" cy="744538"/>
          </a:xfrm>
        </p:spPr>
        <p:txBody>
          <a:bodyPr/>
          <a:lstStyle/>
          <a:p>
            <a:fld id="{3875FC6C-1516-4DC4-8C58-3090F7D4F003}" type="slidenum">
              <a:rPr lang="ko-KR" altLang="en-US" smtClean="0"/>
              <a:t>24</a:t>
            </a:fld>
            <a:endParaRPr lang="ko-KR" altLang="en-US"/>
          </a:p>
        </p:txBody>
      </p:sp>
      <p:sp>
        <p:nvSpPr>
          <p:cNvPr id="46" name="모서리가 둥근 직사각형 10">
            <a:extLst>
              <a:ext uri="{FF2B5EF4-FFF2-40B4-BE49-F238E27FC236}">
                <a16:creationId xmlns:a16="http://schemas.microsoft.com/office/drawing/2014/main" id="{EA6D0AA3-A795-463F-A932-E97DEE7EE09B}"/>
              </a:ext>
            </a:extLst>
          </p:cNvPr>
          <p:cNvSpPr/>
          <p:nvPr/>
        </p:nvSpPr>
        <p:spPr bwMode="auto">
          <a:xfrm>
            <a:off x="335289" y="1008637"/>
            <a:ext cx="4314352"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200" dirty="0"/>
              <a:t>대법원 </a:t>
            </a:r>
            <a:r>
              <a:rPr lang="en-US" altLang="ko-KR" sz="1200" dirty="0"/>
              <a:t>2022. 04. 05. </a:t>
            </a:r>
            <a:r>
              <a:rPr lang="ko-KR" altLang="en-US" sz="1200" dirty="0"/>
              <a:t>선고 </a:t>
            </a:r>
            <a:r>
              <a:rPr lang="en-US" altLang="ko-KR" sz="1200" dirty="0"/>
              <a:t>2018</a:t>
            </a:r>
            <a:r>
              <a:rPr lang="ko-KR" altLang="en-US" sz="1200" dirty="0"/>
              <a:t>후</a:t>
            </a:r>
            <a:r>
              <a:rPr lang="en-US" altLang="ko-KR" sz="1200" dirty="0"/>
              <a:t>10923 </a:t>
            </a:r>
            <a:r>
              <a:rPr lang="ko-KR" altLang="en-US" sz="1200" dirty="0"/>
              <a:t>판결 </a:t>
            </a:r>
            <a:r>
              <a:rPr lang="en-US" altLang="ko-KR" sz="1200" dirty="0"/>
              <a:t>【</a:t>
            </a:r>
            <a:r>
              <a:rPr lang="ko-KR" altLang="en-US" sz="1200" dirty="0"/>
              <a:t>등록무효</a:t>
            </a:r>
            <a:r>
              <a:rPr lang="en-US" altLang="ko-KR" sz="1200" dirty="0"/>
              <a:t>(</a:t>
            </a:r>
            <a:r>
              <a:rPr lang="ko-KR" altLang="en-US" sz="1200" dirty="0" err="1"/>
              <a:t>특</a:t>
            </a:r>
            <a:r>
              <a:rPr lang="en-US" altLang="ko-KR" sz="1200" dirty="0"/>
              <a:t>)】</a:t>
            </a:r>
          </a:p>
        </p:txBody>
      </p:sp>
      <p:sp>
        <p:nvSpPr>
          <p:cNvPr id="6" name="직사각형 5">
            <a:extLst>
              <a:ext uri="{FF2B5EF4-FFF2-40B4-BE49-F238E27FC236}">
                <a16:creationId xmlns:a16="http://schemas.microsoft.com/office/drawing/2014/main" id="{D8297537-B24B-4300-B18D-EAD87B250EF1}"/>
              </a:ext>
            </a:extLst>
          </p:cNvPr>
          <p:cNvSpPr/>
          <p:nvPr/>
        </p:nvSpPr>
        <p:spPr>
          <a:xfrm>
            <a:off x="867977" y="1363747"/>
            <a:ext cx="10976091" cy="1015663"/>
          </a:xfrm>
          <a:prstGeom prst="rect">
            <a:avLst/>
          </a:prstGeom>
        </p:spPr>
        <p:txBody>
          <a:bodyPr wrap="square">
            <a:spAutoFit/>
          </a:bodyPr>
          <a:lstStyle/>
          <a:p>
            <a:r>
              <a:rPr lang="ko-KR" altLang="en-US" sz="1200" dirty="0"/>
              <a:t>본 건은 </a:t>
            </a:r>
            <a:r>
              <a:rPr lang="ko-KR" altLang="en-US" sz="1200" dirty="0">
                <a:highlight>
                  <a:srgbClr val="FFFF00"/>
                </a:highlight>
              </a:rPr>
              <a:t>선행발명의 화합물인 타일로신과 화학 구조는 동일</a:t>
            </a:r>
            <a:r>
              <a:rPr lang="ko-KR" altLang="en-US" sz="1200" dirty="0"/>
              <a:t>하지만 </a:t>
            </a:r>
            <a:r>
              <a:rPr lang="en-US" altLang="ko-KR" sz="1200" dirty="0">
                <a:highlight>
                  <a:srgbClr val="FFFF00"/>
                </a:highlight>
              </a:rPr>
              <a:t>5.0, 9.0 </a:t>
            </a:r>
            <a:r>
              <a:rPr lang="ko-KR" altLang="en-US" sz="1200" dirty="0">
                <a:highlight>
                  <a:srgbClr val="FFFF00"/>
                </a:highlight>
              </a:rPr>
              <a:t>및 </a:t>
            </a:r>
            <a:r>
              <a:rPr lang="en-US" altLang="ko-KR" sz="1200" dirty="0">
                <a:highlight>
                  <a:srgbClr val="FFFF00"/>
                </a:highlight>
              </a:rPr>
              <a:t>10.5° 2θ</a:t>
            </a:r>
            <a:r>
              <a:rPr lang="ko-KR" altLang="en-US" sz="1200" dirty="0">
                <a:highlight>
                  <a:srgbClr val="FFFF00"/>
                </a:highlight>
              </a:rPr>
              <a:t>의 피크를 포함하는 분말 </a:t>
            </a:r>
            <a:r>
              <a:rPr lang="en-US" altLang="ko-KR" sz="1200" dirty="0">
                <a:highlight>
                  <a:srgbClr val="FFFF00"/>
                </a:highlight>
              </a:rPr>
              <a:t>X</a:t>
            </a:r>
            <a:r>
              <a:rPr lang="ko-KR" altLang="en-US" sz="1200" dirty="0">
                <a:highlight>
                  <a:srgbClr val="FFFF00"/>
                </a:highlight>
              </a:rPr>
              <a:t>선 회절 스펙트럼 값으로 특정된 구성을 갖는 타일로신 제</a:t>
            </a:r>
            <a:r>
              <a:rPr lang="en-US" altLang="ko-KR" sz="1200" dirty="0">
                <a:highlight>
                  <a:srgbClr val="FFFF00"/>
                </a:highlight>
              </a:rPr>
              <a:t>Ⅰ</a:t>
            </a:r>
            <a:r>
              <a:rPr lang="ko-KR" altLang="en-US" sz="1200" dirty="0">
                <a:highlight>
                  <a:srgbClr val="FFFF00"/>
                </a:highlight>
              </a:rPr>
              <a:t>형 결정형에 관한 발명이라는 점에서 차이</a:t>
            </a:r>
            <a:r>
              <a:rPr lang="ko-KR" altLang="en-US" sz="1200" dirty="0"/>
              <a:t>가 있는 ‘이 사건 제</a:t>
            </a:r>
            <a:r>
              <a:rPr lang="en-US" altLang="ko-KR" sz="1200" dirty="0"/>
              <a:t>1</a:t>
            </a:r>
            <a:r>
              <a:rPr lang="ko-KR" altLang="en-US" sz="1200" dirty="0"/>
              <a:t>항 </a:t>
            </a:r>
            <a:r>
              <a:rPr lang="ko-KR" altLang="en-US" sz="1200" dirty="0" err="1"/>
              <a:t>발명’이</a:t>
            </a:r>
            <a:r>
              <a:rPr lang="ko-KR" altLang="en-US" sz="1200" dirty="0"/>
              <a:t> 선행발명에 의해</a:t>
            </a:r>
            <a:r>
              <a:rPr lang="ko-KR" altLang="en-US" sz="1200" dirty="0">
                <a:highlight>
                  <a:srgbClr val="FFFF00"/>
                </a:highlight>
              </a:rPr>
              <a:t> 진보성이 부정되는지 여부가 쟁점</a:t>
            </a:r>
            <a:r>
              <a:rPr lang="ko-KR" altLang="en-US" sz="1200" dirty="0"/>
              <a:t>이 된 사안이다</a:t>
            </a:r>
            <a:r>
              <a:rPr lang="en-US" altLang="ko-KR" sz="1200" dirty="0"/>
              <a:t>. </a:t>
            </a:r>
            <a:r>
              <a:rPr lang="ko-KR" altLang="en-US" sz="1200" dirty="0"/>
              <a:t>대법원은</a:t>
            </a:r>
            <a:r>
              <a:rPr lang="en-US" altLang="ko-KR" sz="1200" dirty="0"/>
              <a:t>, </a:t>
            </a:r>
            <a:r>
              <a:rPr lang="ko-KR" altLang="en-US" sz="1200" dirty="0"/>
              <a:t>피고가 제출한 </a:t>
            </a:r>
            <a:r>
              <a:rPr lang="ko-KR" altLang="en-US" sz="1200" dirty="0">
                <a:highlight>
                  <a:srgbClr val="FFFF00"/>
                </a:highlight>
              </a:rPr>
              <a:t>출원 당시의 통상적인 </a:t>
            </a:r>
            <a:r>
              <a:rPr lang="ko-KR" altLang="en-US" sz="1200" dirty="0" err="1">
                <a:highlight>
                  <a:srgbClr val="FFFF00"/>
                </a:highlight>
              </a:rPr>
              <a:t>다형체</a:t>
            </a:r>
            <a:r>
              <a:rPr lang="ko-KR" altLang="en-US" sz="1200" dirty="0">
                <a:highlight>
                  <a:srgbClr val="FFFF00"/>
                </a:highlight>
              </a:rPr>
              <a:t> </a:t>
            </a:r>
            <a:r>
              <a:rPr lang="ko-KR" altLang="en-US" sz="1200" dirty="0" err="1">
                <a:highlight>
                  <a:srgbClr val="FFFF00"/>
                </a:highlight>
              </a:rPr>
              <a:t>스크리닝</a:t>
            </a:r>
            <a:r>
              <a:rPr lang="ko-KR" altLang="en-US" sz="1200" dirty="0">
                <a:highlight>
                  <a:srgbClr val="FFFF00"/>
                </a:highlight>
              </a:rPr>
              <a:t> 방식에 관한 자료만으로는 통상의 기술자가 결정화 공정 변수를 적절히 조절하거나 통상적인 </a:t>
            </a:r>
            <a:r>
              <a:rPr lang="ko-KR" altLang="en-US" sz="1200" dirty="0" err="1">
                <a:highlight>
                  <a:srgbClr val="FFFF00"/>
                </a:highlight>
              </a:rPr>
              <a:t>다형체</a:t>
            </a:r>
            <a:r>
              <a:rPr lang="ko-KR" altLang="en-US" sz="1200" dirty="0">
                <a:highlight>
                  <a:srgbClr val="FFFF00"/>
                </a:highlight>
              </a:rPr>
              <a:t> </a:t>
            </a:r>
            <a:r>
              <a:rPr lang="ko-KR" altLang="en-US" sz="1200" dirty="0" err="1">
                <a:highlight>
                  <a:srgbClr val="FFFF00"/>
                </a:highlight>
              </a:rPr>
              <a:t>스크리닝을</a:t>
            </a:r>
            <a:r>
              <a:rPr lang="ko-KR" altLang="en-US" sz="1200" dirty="0">
                <a:highlight>
                  <a:srgbClr val="FFFF00"/>
                </a:highlight>
              </a:rPr>
              <a:t> 통해 </a:t>
            </a:r>
            <a:r>
              <a:rPr lang="ko-KR" altLang="en-US" sz="1200" dirty="0" err="1">
                <a:highlight>
                  <a:srgbClr val="FFFF00"/>
                </a:highlight>
              </a:rPr>
              <a:t>선행발명으로부터</a:t>
            </a:r>
            <a:r>
              <a:rPr lang="ko-KR" altLang="en-US" sz="1200" dirty="0">
                <a:highlight>
                  <a:srgbClr val="FFFF00"/>
                </a:highlight>
              </a:rPr>
              <a:t> 위와 같은 특성을 갖는 제</a:t>
            </a:r>
            <a:r>
              <a:rPr lang="en-US" altLang="ko-KR" sz="1200" dirty="0">
                <a:highlight>
                  <a:srgbClr val="FFFF00"/>
                </a:highlight>
              </a:rPr>
              <a:t>Ⅰ</a:t>
            </a:r>
            <a:r>
              <a:rPr lang="ko-KR" altLang="en-US" sz="1200" dirty="0">
                <a:highlight>
                  <a:srgbClr val="FFFF00"/>
                </a:highlight>
              </a:rPr>
              <a:t>형 결정형을 쉽게 도출할 수 있는지 분명하지 않다</a:t>
            </a:r>
            <a:r>
              <a:rPr lang="ko-KR" altLang="en-US" sz="1200" dirty="0"/>
              <a:t>는 등의 이유로 이 사건 제</a:t>
            </a:r>
            <a:r>
              <a:rPr lang="en-US" altLang="ko-KR" sz="1200" dirty="0"/>
              <a:t>1</a:t>
            </a:r>
            <a:r>
              <a:rPr lang="ko-KR" altLang="en-US" sz="1200" dirty="0"/>
              <a:t>항 발명이 선행발명에 의해 진보성이 부정된다고 단정할 수 없다고 보아</a:t>
            </a:r>
            <a:r>
              <a:rPr lang="en-US" altLang="ko-KR" sz="1200" dirty="0"/>
              <a:t>, </a:t>
            </a:r>
            <a:r>
              <a:rPr lang="ko-KR" altLang="en-US" sz="1200" dirty="0"/>
              <a:t>이와 달리 판단한 원심판결을 </a:t>
            </a:r>
            <a:r>
              <a:rPr lang="ko-KR" altLang="en-US" sz="1200" dirty="0" err="1"/>
              <a:t>파기환송하였다</a:t>
            </a:r>
            <a:r>
              <a:rPr lang="en-US" altLang="ko-KR" sz="1200" dirty="0"/>
              <a:t>. </a:t>
            </a:r>
          </a:p>
        </p:txBody>
      </p:sp>
      <p:cxnSp>
        <p:nvCxnSpPr>
          <p:cNvPr id="9" name="직선 연결선 8">
            <a:extLst>
              <a:ext uri="{FF2B5EF4-FFF2-40B4-BE49-F238E27FC236}">
                <a16:creationId xmlns:a16="http://schemas.microsoft.com/office/drawing/2014/main" id="{27560635-7B31-42FF-9B26-81D9C5FE6CE1}"/>
              </a:ext>
            </a:extLst>
          </p:cNvPr>
          <p:cNvCxnSpPr/>
          <p:nvPr/>
        </p:nvCxnSpPr>
        <p:spPr>
          <a:xfrm>
            <a:off x="0" y="2435053"/>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사각형: 둥근 모서리 4">
            <a:extLst>
              <a:ext uri="{FF2B5EF4-FFF2-40B4-BE49-F238E27FC236}">
                <a16:creationId xmlns:a16="http://schemas.microsoft.com/office/drawing/2014/main" id="{D42A099A-48D3-DE16-5F88-FD4ABBBCB374}"/>
              </a:ext>
            </a:extLst>
          </p:cNvPr>
          <p:cNvSpPr/>
          <p:nvPr/>
        </p:nvSpPr>
        <p:spPr>
          <a:xfrm>
            <a:off x="145669" y="1528044"/>
            <a:ext cx="707346" cy="701600"/>
          </a:xfrm>
          <a:prstGeom prst="round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t>사실관계</a:t>
            </a:r>
          </a:p>
        </p:txBody>
      </p:sp>
      <p:sp>
        <p:nvSpPr>
          <p:cNvPr id="7" name="사각형: 둥근 모서리 6">
            <a:extLst>
              <a:ext uri="{FF2B5EF4-FFF2-40B4-BE49-F238E27FC236}">
                <a16:creationId xmlns:a16="http://schemas.microsoft.com/office/drawing/2014/main" id="{23806B11-8DB9-B565-CE50-2C22F8F58DEE}"/>
              </a:ext>
            </a:extLst>
          </p:cNvPr>
          <p:cNvSpPr/>
          <p:nvPr/>
        </p:nvSpPr>
        <p:spPr>
          <a:xfrm>
            <a:off x="145669" y="2662350"/>
            <a:ext cx="707346" cy="701600"/>
          </a:xfrm>
          <a:prstGeom prst="round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판결</a:t>
            </a:r>
            <a:endParaRPr lang="en-US" altLang="ko-KR" dirty="0"/>
          </a:p>
          <a:p>
            <a:pPr algn="ctr"/>
            <a:r>
              <a:rPr lang="ko-KR" altLang="en-US" dirty="0"/>
              <a:t>요지</a:t>
            </a:r>
          </a:p>
        </p:txBody>
      </p:sp>
      <p:sp>
        <p:nvSpPr>
          <p:cNvPr id="8" name="직사각형 7">
            <a:extLst>
              <a:ext uri="{FF2B5EF4-FFF2-40B4-BE49-F238E27FC236}">
                <a16:creationId xmlns:a16="http://schemas.microsoft.com/office/drawing/2014/main" id="{80C37ACF-B141-082E-07DF-2683F743DD76}"/>
              </a:ext>
            </a:extLst>
          </p:cNvPr>
          <p:cNvSpPr/>
          <p:nvPr/>
        </p:nvSpPr>
        <p:spPr>
          <a:xfrm>
            <a:off x="867977" y="2562479"/>
            <a:ext cx="11036476" cy="3785652"/>
          </a:xfrm>
          <a:prstGeom prst="rect">
            <a:avLst/>
          </a:prstGeom>
        </p:spPr>
        <p:txBody>
          <a:bodyPr wrap="square">
            <a:spAutoFit/>
          </a:bodyPr>
          <a:lstStyle/>
          <a:p>
            <a:r>
              <a:rPr lang="ko-KR" altLang="en-US" sz="1200" dirty="0"/>
              <a:t>의약화합물의 제제설계</a:t>
            </a:r>
            <a:r>
              <a:rPr lang="en-US" altLang="ko-KR" sz="1200" dirty="0"/>
              <a:t>(</a:t>
            </a:r>
            <a:r>
              <a:rPr lang="ko-KR" altLang="en-US" sz="1200" dirty="0"/>
              <a:t>製劑設計</a:t>
            </a:r>
            <a:r>
              <a:rPr lang="en-US" altLang="ko-KR" sz="1200" dirty="0"/>
              <a:t>)</a:t>
            </a:r>
            <a:r>
              <a:rPr lang="ko-KR" altLang="en-US" sz="1200" dirty="0"/>
              <a:t>를 위하여 그 화합물이 다양한 결정 형태 즉 </a:t>
            </a:r>
            <a:r>
              <a:rPr lang="ko-KR" altLang="en-US" sz="1200" dirty="0" err="1"/>
              <a:t>결정다형</a:t>
            </a:r>
            <a:r>
              <a:rPr lang="en-US" altLang="ko-KR" sz="1200" dirty="0"/>
              <a:t>(polymorph)</a:t>
            </a:r>
            <a:r>
              <a:rPr lang="ko-KR" altLang="en-US" sz="1200" dirty="0"/>
              <a:t>을 가지는지 등을 검토하는 </a:t>
            </a:r>
            <a:r>
              <a:rPr lang="ko-KR" altLang="en-US" sz="1200" dirty="0" err="1"/>
              <a:t>다형체</a:t>
            </a:r>
            <a:r>
              <a:rPr lang="ko-KR" altLang="en-US" sz="1200" dirty="0"/>
              <a:t> </a:t>
            </a:r>
            <a:r>
              <a:rPr lang="ko-KR" altLang="en-US" sz="1200" dirty="0" err="1"/>
              <a:t>스크리닝</a:t>
            </a:r>
            <a:r>
              <a:rPr lang="en-US" altLang="ko-KR" sz="1200" dirty="0"/>
              <a:t>(polymorph screening)</a:t>
            </a:r>
            <a:r>
              <a:rPr lang="ko-KR" altLang="en-US" sz="1200" dirty="0"/>
              <a:t>은 통상 행해지는 일이다</a:t>
            </a:r>
            <a:r>
              <a:rPr lang="en-US" altLang="ko-KR" sz="1200" dirty="0"/>
              <a:t>. </a:t>
            </a:r>
            <a:r>
              <a:rPr lang="ko-KR" altLang="en-US" sz="1200" dirty="0"/>
              <a:t>의약화합물 분야에서 선행발명에 공지된 화합물과 화학구조는 동일하지만 결정 형태가 다른 특정한 결정형의 화합물을 청구범위로 하는 이른바 결정형 발명의 진보성을 판단할 때에는 이러한 특수성을 고려할 필요가 있다</a:t>
            </a:r>
            <a:r>
              <a:rPr lang="en-US" altLang="ko-KR" sz="1200" dirty="0"/>
              <a:t>. </a:t>
            </a:r>
            <a:r>
              <a:rPr lang="ko-KR" altLang="en-US" sz="1200" dirty="0"/>
              <a:t>하지만 </a:t>
            </a:r>
            <a:r>
              <a:rPr lang="ko-KR" altLang="en-US" sz="1200" dirty="0" err="1"/>
              <a:t>그것만으로</a:t>
            </a:r>
            <a:r>
              <a:rPr lang="ko-KR" altLang="en-US" sz="1200" dirty="0"/>
              <a:t> 결정형 발명의 구성의 곤란성이 부정된다고 단정할 수는 없다</a:t>
            </a:r>
            <a:r>
              <a:rPr lang="en-US" altLang="ko-KR" sz="1200" dirty="0"/>
              <a:t>. </a:t>
            </a:r>
            <a:r>
              <a:rPr lang="ko-KR" altLang="en-US" sz="1200" dirty="0" err="1">
                <a:highlight>
                  <a:srgbClr val="FFFF00"/>
                </a:highlight>
              </a:rPr>
              <a:t>다형체</a:t>
            </a:r>
            <a:r>
              <a:rPr lang="ko-KR" altLang="en-US" sz="1200" dirty="0">
                <a:highlight>
                  <a:srgbClr val="FFFF00"/>
                </a:highlight>
              </a:rPr>
              <a:t> </a:t>
            </a:r>
            <a:r>
              <a:rPr lang="ko-KR" altLang="en-US" sz="1200" dirty="0" err="1">
                <a:highlight>
                  <a:srgbClr val="FFFF00"/>
                </a:highlight>
              </a:rPr>
              <a:t>스크리닝이</a:t>
            </a:r>
            <a:r>
              <a:rPr lang="ko-KR" altLang="en-US" sz="1200" dirty="0">
                <a:highlight>
                  <a:srgbClr val="FFFF00"/>
                </a:highlight>
              </a:rPr>
              <a:t> 통상 행해지는 실험이라는 것과 이를 통해 결정형 발명의 특정한 결정형에 쉽게 도달할 수 있는지는 별개의 문제이기 때문이다</a:t>
            </a:r>
            <a:r>
              <a:rPr lang="en-US" altLang="ko-KR" sz="1200" dirty="0">
                <a:highlight>
                  <a:srgbClr val="FFFF00"/>
                </a:highlight>
              </a:rPr>
              <a:t>. </a:t>
            </a:r>
          </a:p>
          <a:p>
            <a:endParaRPr lang="en-US" altLang="ko-KR" sz="1200" dirty="0"/>
          </a:p>
          <a:p>
            <a:r>
              <a:rPr lang="ko-KR" altLang="en-US" sz="1200" dirty="0"/>
              <a:t>한편 결정형 발명과 같이 의약화합물 분야에 속하는 발명은 구성만으로 효과의 예측이 쉽지 않으므로 구성의 곤란성을 판단할 때 발명의 효과를 참작할 필요가 있고</a:t>
            </a:r>
            <a:r>
              <a:rPr lang="en-US" altLang="ko-KR" sz="1200" dirty="0"/>
              <a:t>, </a:t>
            </a:r>
            <a:r>
              <a:rPr lang="ko-KR" altLang="en-US" sz="1200" dirty="0"/>
              <a:t>발명의 효과가 선행발명에 비하여 현저하다면 구성의 곤란성을 추론하는 유력한 자료가 될 수 있다</a:t>
            </a:r>
            <a:r>
              <a:rPr lang="en-US" altLang="ko-KR" sz="1200" dirty="0">
                <a:highlight>
                  <a:srgbClr val="FFFF00"/>
                </a:highlight>
              </a:rPr>
              <a:t>(</a:t>
            </a:r>
            <a:r>
              <a:rPr lang="ko-KR" altLang="en-US" sz="1200" dirty="0">
                <a:highlight>
                  <a:srgbClr val="FFFF00"/>
                </a:highlight>
              </a:rPr>
              <a:t>대법원 </a:t>
            </a:r>
            <a:r>
              <a:rPr lang="en-US" altLang="ko-KR" sz="1200" dirty="0">
                <a:highlight>
                  <a:srgbClr val="FFFF00"/>
                </a:highlight>
              </a:rPr>
              <a:t>2011. 7. 14. </a:t>
            </a:r>
            <a:r>
              <a:rPr lang="ko-KR" altLang="en-US" sz="1200" dirty="0">
                <a:highlight>
                  <a:srgbClr val="FFFF00"/>
                </a:highlight>
              </a:rPr>
              <a:t>선고 </a:t>
            </a:r>
            <a:r>
              <a:rPr lang="en-US" altLang="ko-KR" sz="1200" dirty="0">
                <a:highlight>
                  <a:srgbClr val="FFFF00"/>
                </a:highlight>
              </a:rPr>
              <a:t>2010</a:t>
            </a:r>
            <a:r>
              <a:rPr lang="ko-KR" altLang="en-US" sz="1200" dirty="0">
                <a:highlight>
                  <a:srgbClr val="FFFF00"/>
                </a:highlight>
              </a:rPr>
              <a:t>후</a:t>
            </a:r>
            <a:r>
              <a:rPr lang="en-US" altLang="ko-KR" sz="1200" dirty="0">
                <a:highlight>
                  <a:srgbClr val="FFFF00"/>
                </a:highlight>
              </a:rPr>
              <a:t>2865 </a:t>
            </a:r>
            <a:r>
              <a:rPr lang="ko-KR" altLang="en-US" sz="1200" dirty="0">
                <a:highlight>
                  <a:srgbClr val="FFFF00"/>
                </a:highlight>
              </a:rPr>
              <a:t>판결 등에서 특별한 사정이 없는 한 효과의 현저성을 가지고 결정형 발명의 진보성을 판단한 것도 결정형 발명의 위와 같은 특성으로 인해 구성이 곤란한지 불분명한 사안에서 효과의 현저성을 중심으로 진보성을 판단한 것으로 이해할 수 있다</a:t>
            </a:r>
            <a:r>
              <a:rPr lang="en-US" altLang="ko-KR" sz="1200" dirty="0">
                <a:highlight>
                  <a:srgbClr val="FFFF00"/>
                </a:highlight>
              </a:rPr>
              <a:t>).</a:t>
            </a:r>
          </a:p>
          <a:p>
            <a:endParaRPr lang="en-US" altLang="ko-KR" sz="1200" dirty="0"/>
          </a:p>
          <a:p>
            <a:r>
              <a:rPr lang="ko-KR" altLang="en-US" sz="1200" dirty="0">
                <a:highlight>
                  <a:srgbClr val="FFFF00"/>
                </a:highlight>
              </a:rPr>
              <a:t>결정형 발명의 구성의 곤란성을 판단할 때에는</a:t>
            </a:r>
            <a:r>
              <a:rPr lang="en-US" altLang="ko-KR" sz="1200" dirty="0">
                <a:highlight>
                  <a:srgbClr val="FFFF00"/>
                </a:highlight>
              </a:rPr>
              <a:t>, </a:t>
            </a:r>
            <a:r>
              <a:rPr lang="ko-KR" altLang="en-US" sz="1200" dirty="0">
                <a:highlight>
                  <a:srgbClr val="FFFF00"/>
                </a:highlight>
              </a:rPr>
              <a:t>결정형 발명의 기술적 의의와 특유한 효과</a:t>
            </a:r>
            <a:r>
              <a:rPr lang="en-US" altLang="ko-KR" sz="1200" dirty="0">
                <a:highlight>
                  <a:srgbClr val="FFFF00"/>
                </a:highlight>
              </a:rPr>
              <a:t>, </a:t>
            </a:r>
            <a:r>
              <a:rPr lang="ko-KR" altLang="en-US" sz="1200" dirty="0">
                <a:highlight>
                  <a:srgbClr val="FFFF00"/>
                </a:highlight>
              </a:rPr>
              <a:t>그 발명에서 청구한 특정한 결정형의 구조와 제조방법</a:t>
            </a:r>
            <a:r>
              <a:rPr lang="en-US" altLang="ko-KR" sz="1200" dirty="0">
                <a:highlight>
                  <a:srgbClr val="FFFF00"/>
                </a:highlight>
              </a:rPr>
              <a:t>, </a:t>
            </a:r>
            <a:r>
              <a:rPr lang="ko-KR" altLang="en-US" sz="1200" dirty="0">
                <a:highlight>
                  <a:srgbClr val="FFFF00"/>
                </a:highlight>
              </a:rPr>
              <a:t>선행발명의 내용과 특징</a:t>
            </a:r>
            <a:r>
              <a:rPr lang="en-US" altLang="ko-KR" sz="1200" dirty="0">
                <a:highlight>
                  <a:srgbClr val="FFFF00"/>
                </a:highlight>
              </a:rPr>
              <a:t>, </a:t>
            </a:r>
            <a:r>
              <a:rPr lang="ko-KR" altLang="en-US" sz="1200" dirty="0">
                <a:highlight>
                  <a:srgbClr val="FFFF00"/>
                </a:highlight>
              </a:rPr>
              <a:t>통상의 기술자의 기술수준과 출원 당시의 통상적인 </a:t>
            </a:r>
            <a:r>
              <a:rPr lang="ko-KR" altLang="en-US" sz="1200" dirty="0" err="1">
                <a:highlight>
                  <a:srgbClr val="FFFF00"/>
                </a:highlight>
              </a:rPr>
              <a:t>다형체</a:t>
            </a:r>
            <a:r>
              <a:rPr lang="ko-KR" altLang="en-US" sz="1200" dirty="0">
                <a:highlight>
                  <a:srgbClr val="FFFF00"/>
                </a:highlight>
              </a:rPr>
              <a:t> </a:t>
            </a:r>
            <a:r>
              <a:rPr lang="ko-KR" altLang="en-US" sz="1200" dirty="0" err="1">
                <a:highlight>
                  <a:srgbClr val="FFFF00"/>
                </a:highlight>
              </a:rPr>
              <a:t>스크리닝</a:t>
            </a:r>
            <a:r>
              <a:rPr lang="ko-KR" altLang="en-US" sz="1200" dirty="0">
                <a:highlight>
                  <a:srgbClr val="FFFF00"/>
                </a:highlight>
              </a:rPr>
              <a:t> 방식 등을 기록에 나타난 자료에 기초하여 파악한 다음</a:t>
            </a:r>
            <a:r>
              <a:rPr lang="en-US" altLang="ko-KR" sz="1200" dirty="0">
                <a:highlight>
                  <a:srgbClr val="FFFF00"/>
                </a:highlight>
              </a:rPr>
              <a:t>, </a:t>
            </a:r>
            <a:r>
              <a:rPr lang="ko-KR" altLang="en-US" sz="1200" dirty="0">
                <a:highlight>
                  <a:srgbClr val="FFFF00"/>
                </a:highlight>
              </a:rPr>
              <a:t>선행발명 화합물의 </a:t>
            </a:r>
            <a:r>
              <a:rPr lang="ko-KR" altLang="en-US" sz="1200" dirty="0" err="1">
                <a:highlight>
                  <a:srgbClr val="FFFF00"/>
                </a:highlight>
              </a:rPr>
              <a:t>결정다형성이</a:t>
            </a:r>
            <a:r>
              <a:rPr lang="ko-KR" altLang="en-US" sz="1200" dirty="0">
                <a:highlight>
                  <a:srgbClr val="FFFF00"/>
                </a:highlight>
              </a:rPr>
              <a:t> 알려졌거나 예상되었는지</a:t>
            </a:r>
            <a:r>
              <a:rPr lang="en-US" altLang="ko-KR" sz="1200" dirty="0">
                <a:highlight>
                  <a:srgbClr val="FFFF00"/>
                </a:highlight>
              </a:rPr>
              <a:t>, </a:t>
            </a:r>
            <a:r>
              <a:rPr lang="ko-KR" altLang="en-US" sz="1200" dirty="0">
                <a:highlight>
                  <a:srgbClr val="FFFF00"/>
                </a:highlight>
              </a:rPr>
              <a:t>결정형 발명에서 청구하는 특정한 결정형에 이를 수 있다는 가르침이나 암시</a:t>
            </a:r>
            <a:r>
              <a:rPr lang="en-US" altLang="ko-KR" sz="1200" dirty="0">
                <a:highlight>
                  <a:srgbClr val="FFFF00"/>
                </a:highlight>
              </a:rPr>
              <a:t>, </a:t>
            </a:r>
            <a:r>
              <a:rPr lang="ko-KR" altLang="en-US" sz="1200" dirty="0">
                <a:highlight>
                  <a:srgbClr val="FFFF00"/>
                </a:highlight>
              </a:rPr>
              <a:t>동기 등이 선행발명이나 선행기술문헌에 나타나 있는지</a:t>
            </a:r>
            <a:r>
              <a:rPr lang="en-US" altLang="ko-KR" sz="1200" dirty="0">
                <a:highlight>
                  <a:srgbClr val="FFFF00"/>
                </a:highlight>
              </a:rPr>
              <a:t>, </a:t>
            </a:r>
            <a:r>
              <a:rPr lang="ko-KR" altLang="en-US" sz="1200" dirty="0">
                <a:highlight>
                  <a:srgbClr val="FFFF00"/>
                </a:highlight>
              </a:rPr>
              <a:t>결정형 발명의 특정한 결정형이 선행발명 화합물에 대한 통상적인 </a:t>
            </a:r>
            <a:r>
              <a:rPr lang="ko-KR" altLang="en-US" sz="1200" dirty="0" err="1">
                <a:highlight>
                  <a:srgbClr val="FFFF00"/>
                </a:highlight>
              </a:rPr>
              <a:t>다형체</a:t>
            </a:r>
            <a:r>
              <a:rPr lang="ko-KR" altLang="en-US" sz="1200" dirty="0">
                <a:highlight>
                  <a:srgbClr val="FFFF00"/>
                </a:highlight>
              </a:rPr>
              <a:t> </a:t>
            </a:r>
            <a:r>
              <a:rPr lang="ko-KR" altLang="en-US" sz="1200" dirty="0" err="1">
                <a:highlight>
                  <a:srgbClr val="FFFF00"/>
                </a:highlight>
              </a:rPr>
              <a:t>스크리닝을</a:t>
            </a:r>
            <a:r>
              <a:rPr lang="ko-KR" altLang="en-US" sz="1200" dirty="0">
                <a:highlight>
                  <a:srgbClr val="FFFF00"/>
                </a:highlight>
              </a:rPr>
              <a:t> 통해 검토될 수 있는 </a:t>
            </a:r>
            <a:r>
              <a:rPr lang="ko-KR" altLang="en-US" sz="1200" dirty="0" err="1">
                <a:highlight>
                  <a:srgbClr val="FFFF00"/>
                </a:highlight>
              </a:rPr>
              <a:t>결정다형의</a:t>
            </a:r>
            <a:r>
              <a:rPr lang="ko-KR" altLang="en-US" sz="1200" dirty="0">
                <a:highlight>
                  <a:srgbClr val="FFFF00"/>
                </a:highlight>
              </a:rPr>
              <a:t> 범위에 포함되는지</a:t>
            </a:r>
            <a:r>
              <a:rPr lang="en-US" altLang="ko-KR" sz="1200" dirty="0">
                <a:highlight>
                  <a:srgbClr val="FFFF00"/>
                </a:highlight>
              </a:rPr>
              <a:t>, </a:t>
            </a:r>
            <a:r>
              <a:rPr lang="ko-KR" altLang="en-US" sz="1200" dirty="0">
                <a:highlight>
                  <a:srgbClr val="FFFF00"/>
                </a:highlight>
              </a:rPr>
              <a:t>그 특정한 결정형이 예측할 수 없는 유리한 효과를 가지는지 등을 종합적으로 고려하여</a:t>
            </a:r>
            <a:r>
              <a:rPr lang="en-US" altLang="ko-KR" sz="1200" dirty="0"/>
              <a:t>, </a:t>
            </a:r>
            <a:r>
              <a:rPr lang="ko-KR" altLang="en-US" sz="1200" dirty="0"/>
              <a:t>통상의 기술자가 </a:t>
            </a:r>
            <a:r>
              <a:rPr lang="ko-KR" altLang="en-US" sz="1200" dirty="0" err="1"/>
              <a:t>선행발명으로부터</a:t>
            </a:r>
            <a:r>
              <a:rPr lang="ko-KR" altLang="en-US" sz="1200" dirty="0"/>
              <a:t> 결정형 발명의 구성을 쉽게 도출할 수 있는지를 살펴보아야 한다</a:t>
            </a:r>
            <a:r>
              <a:rPr lang="en-US" altLang="ko-KR" sz="1200" dirty="0"/>
              <a:t>.</a:t>
            </a:r>
          </a:p>
          <a:p>
            <a:endParaRPr lang="en-US" altLang="ko-KR" sz="1200" dirty="0"/>
          </a:p>
          <a:p>
            <a:r>
              <a:rPr lang="ko-KR" altLang="en-US" sz="1200" dirty="0"/>
              <a:t>결정형 발명의 효과가 선행발명 화합물의 효과와 질적으로 다르거나 양적으로 현저한 차이가 있는 경우에는 진보성이 부정되지 않는다</a:t>
            </a:r>
            <a:r>
              <a:rPr lang="en-US" altLang="ko-KR" sz="1200" dirty="0"/>
              <a:t>(</a:t>
            </a:r>
            <a:r>
              <a:rPr lang="ko-KR" altLang="en-US" sz="1200" dirty="0"/>
              <a:t>대법원 </a:t>
            </a:r>
            <a:r>
              <a:rPr lang="en-US" altLang="ko-KR" sz="1200" dirty="0"/>
              <a:t>2011. 7. 14. </a:t>
            </a:r>
            <a:r>
              <a:rPr lang="ko-KR" altLang="en-US" sz="1200" dirty="0"/>
              <a:t>선고 </a:t>
            </a:r>
            <a:r>
              <a:rPr lang="en-US" altLang="ko-KR" sz="1200" dirty="0"/>
              <a:t>2010</a:t>
            </a:r>
            <a:r>
              <a:rPr lang="ko-KR" altLang="en-US" sz="1200" dirty="0"/>
              <a:t>후</a:t>
            </a:r>
            <a:r>
              <a:rPr lang="en-US" altLang="ko-KR" sz="1200" dirty="0"/>
              <a:t>2865 </a:t>
            </a:r>
            <a:r>
              <a:rPr lang="ko-KR" altLang="en-US" sz="1200" dirty="0"/>
              <a:t>판결 등 참조</a:t>
            </a:r>
            <a:r>
              <a:rPr lang="en-US" altLang="ko-KR" sz="1200" dirty="0"/>
              <a:t>). </a:t>
            </a:r>
            <a:r>
              <a:rPr lang="ko-KR" altLang="en-US" sz="1200" dirty="0"/>
              <a:t>결정형 발명의 효과의 현저성은 그 발명의 명세서에 기재되어 통상의 기술자가 인식하거나 추론할 수 있는 효과를 중심으로 판단하여야 하고</a:t>
            </a:r>
            <a:r>
              <a:rPr lang="en-US" altLang="ko-KR" sz="1200" dirty="0"/>
              <a:t>, </a:t>
            </a:r>
            <a:r>
              <a:rPr lang="ko-KR" altLang="en-US" sz="1200" dirty="0"/>
              <a:t>만일 그 효과가 의심스러울 때에는 그 기재 내용의 범위를 넘지 않는 한도에서 출원일 이후에 추가적인 실험 자료를 제출하는 등의 방법으로 그 효과를 구체적으로 주장</a:t>
            </a:r>
            <a:r>
              <a:rPr lang="en-US" altLang="ko-KR" sz="1200" dirty="0"/>
              <a:t>·</a:t>
            </a:r>
            <a:r>
              <a:rPr lang="ko-KR" altLang="en-US" sz="1200" dirty="0"/>
              <a:t>증명하는 것이 허용된다</a:t>
            </a:r>
            <a:r>
              <a:rPr lang="en-US" altLang="ko-KR" sz="1200" dirty="0"/>
              <a:t>(</a:t>
            </a:r>
            <a:r>
              <a:rPr lang="ko-KR" altLang="en-US" sz="1200" dirty="0"/>
              <a:t>대법원 </a:t>
            </a:r>
            <a:r>
              <a:rPr lang="en-US" altLang="ko-KR" sz="1200" dirty="0"/>
              <a:t>2021. 4. 8. </a:t>
            </a:r>
            <a:r>
              <a:rPr lang="ko-KR" altLang="en-US" sz="1200" dirty="0"/>
              <a:t>선고 </a:t>
            </a:r>
            <a:r>
              <a:rPr lang="en-US" altLang="ko-KR" sz="1200" dirty="0"/>
              <a:t>2019</a:t>
            </a:r>
            <a:r>
              <a:rPr lang="ko-KR" altLang="en-US" sz="1200" dirty="0"/>
              <a:t>후</a:t>
            </a:r>
            <a:r>
              <a:rPr lang="en-US" altLang="ko-KR" sz="1200" dirty="0"/>
              <a:t>10609 </a:t>
            </a:r>
            <a:r>
              <a:rPr lang="ko-KR" altLang="en-US" sz="1200" dirty="0"/>
              <a:t>판결 등 참조</a:t>
            </a:r>
            <a:r>
              <a:rPr lang="en-US" altLang="ko-KR" sz="1200" dirty="0"/>
              <a:t>).</a:t>
            </a:r>
          </a:p>
        </p:txBody>
      </p:sp>
    </p:spTree>
    <p:extLst>
      <p:ext uri="{BB962C8B-B14F-4D97-AF65-F5344CB8AC3E}">
        <p14:creationId xmlns:p14="http://schemas.microsoft.com/office/powerpoint/2010/main" val="359397183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sz="2000" dirty="0"/>
              <a:t>개정법</a:t>
            </a:r>
            <a:r>
              <a:rPr lang="en-US" altLang="ko-KR" sz="2000" dirty="0"/>
              <a:t>(</a:t>
            </a:r>
            <a:r>
              <a:rPr lang="ko-KR" altLang="en-US" sz="2000" dirty="0"/>
              <a:t>제</a:t>
            </a:r>
            <a:r>
              <a:rPr lang="en-US" altLang="ko-KR" sz="2000" dirty="0"/>
              <a:t>16804</a:t>
            </a:r>
            <a:r>
              <a:rPr lang="ko-KR" altLang="en-US" sz="2000" dirty="0"/>
              <a:t>호</a:t>
            </a:r>
            <a:r>
              <a:rPr lang="en-US" altLang="ko-KR" sz="2000" dirty="0"/>
              <a:t>): </a:t>
            </a:r>
            <a:r>
              <a:rPr lang="ko-KR" altLang="en-US" sz="2000" dirty="0"/>
              <a:t>방법의 사용을 청약하는 행위 도입 배경 및 관련 실시 형태</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25</a:t>
            </a:fld>
            <a:endParaRPr lang="ko-KR" altLang="en-US"/>
          </a:p>
        </p:txBody>
      </p:sp>
      <p:sp>
        <p:nvSpPr>
          <p:cNvPr id="72" name="직사각형 71"/>
          <p:cNvSpPr/>
          <p:nvPr/>
        </p:nvSpPr>
        <p:spPr>
          <a:xfrm>
            <a:off x="289409" y="1025850"/>
            <a:ext cx="11652111" cy="5693866"/>
          </a:xfrm>
          <a:prstGeom prst="rect">
            <a:avLst/>
          </a:prstGeom>
          <a:ln>
            <a:noFill/>
          </a:ln>
        </p:spPr>
        <p:txBody>
          <a:bodyPr wrap="square">
            <a:spAutoFit/>
          </a:bodyPr>
          <a:lstStyle/>
          <a:p>
            <a:pPr marL="244475" indent="-244475" algn="just" fontAlgn="base"/>
            <a:r>
              <a:rPr lang="ko-KR" altLang="en-US" sz="1600" dirty="0">
                <a:solidFill>
                  <a:schemeClr val="accent1">
                    <a:lumMod val="50000"/>
                  </a:schemeClr>
                </a:solidFill>
              </a:rPr>
              <a:t>□ </a:t>
            </a:r>
            <a:r>
              <a:rPr lang="ko-KR" altLang="en-US" sz="1600" dirty="0" err="1">
                <a:solidFill>
                  <a:schemeClr val="accent1">
                    <a:lumMod val="50000"/>
                  </a:schemeClr>
                </a:solidFill>
              </a:rPr>
              <a:t>국조실</a:t>
            </a:r>
            <a:r>
              <a:rPr lang="ko-KR" altLang="en-US" sz="1600" dirty="0">
                <a:solidFill>
                  <a:schemeClr val="accent1">
                    <a:lumMod val="50000"/>
                  </a:schemeClr>
                </a:solidFill>
              </a:rPr>
              <a:t> 주관으로 지식재산처</a:t>
            </a:r>
            <a:r>
              <a:rPr lang="en-US" altLang="ko-KR" sz="1600" dirty="0">
                <a:solidFill>
                  <a:schemeClr val="accent1">
                    <a:lumMod val="50000"/>
                  </a:schemeClr>
                </a:solidFill>
              </a:rPr>
              <a:t>, </a:t>
            </a:r>
            <a:r>
              <a:rPr lang="ko-KR" altLang="en-US" sz="1600" dirty="0" err="1">
                <a:solidFill>
                  <a:schemeClr val="accent1">
                    <a:lumMod val="50000"/>
                  </a:schemeClr>
                </a:solidFill>
              </a:rPr>
              <a:t>문체부</a:t>
            </a:r>
            <a:r>
              <a:rPr lang="en-US" altLang="ko-KR" sz="1600" dirty="0">
                <a:solidFill>
                  <a:schemeClr val="accent1">
                    <a:lumMod val="50000"/>
                  </a:schemeClr>
                </a:solidFill>
              </a:rPr>
              <a:t>, </a:t>
            </a:r>
            <a:r>
              <a:rPr lang="ko-KR" altLang="en-US" sz="1600" dirty="0" err="1">
                <a:solidFill>
                  <a:schemeClr val="accent1">
                    <a:lumMod val="50000"/>
                  </a:schemeClr>
                </a:solidFill>
              </a:rPr>
              <a:t>과기정통부는</a:t>
            </a:r>
            <a:r>
              <a:rPr lang="ko-KR" altLang="en-US" sz="1600" dirty="0">
                <a:solidFill>
                  <a:schemeClr val="accent1">
                    <a:lumMod val="50000"/>
                  </a:schemeClr>
                </a:solidFill>
              </a:rPr>
              <a:t> 프로그램을 물건에 포함하지 않는 대신</a:t>
            </a:r>
            <a:r>
              <a:rPr lang="en-US" altLang="ko-KR" sz="1600" dirty="0">
                <a:solidFill>
                  <a:schemeClr val="accent1">
                    <a:lumMod val="50000"/>
                  </a:schemeClr>
                </a:solidFill>
              </a:rPr>
              <a:t>, SW</a:t>
            </a:r>
            <a:r>
              <a:rPr lang="ko-KR" altLang="en-US" sz="1600" dirty="0">
                <a:solidFill>
                  <a:schemeClr val="accent1">
                    <a:lumMod val="50000"/>
                  </a:schemeClr>
                </a:solidFill>
              </a:rPr>
              <a:t>를 온라인 전송하는 경우까지 보호하는 데 합의</a:t>
            </a:r>
            <a:r>
              <a:rPr lang="en-US" altLang="ko-KR" sz="1600" dirty="0">
                <a:solidFill>
                  <a:schemeClr val="accent1">
                    <a:lumMod val="50000"/>
                  </a:schemeClr>
                </a:solidFill>
              </a:rPr>
              <a:t>(‘18.3), </a:t>
            </a:r>
            <a:r>
              <a:rPr lang="ko-KR" altLang="en-US" sz="1600" dirty="0">
                <a:solidFill>
                  <a:schemeClr val="accent1">
                    <a:lumMod val="50000"/>
                  </a:schemeClr>
                </a:solidFill>
              </a:rPr>
              <a:t>제</a:t>
            </a:r>
            <a:r>
              <a:rPr lang="en-US" altLang="ko-KR" sz="1600" dirty="0">
                <a:solidFill>
                  <a:schemeClr val="accent1">
                    <a:lumMod val="50000"/>
                  </a:schemeClr>
                </a:solidFill>
              </a:rPr>
              <a:t>94</a:t>
            </a:r>
            <a:r>
              <a:rPr lang="ko-KR" altLang="en-US" sz="1600" dirty="0">
                <a:solidFill>
                  <a:schemeClr val="accent1">
                    <a:lumMod val="50000"/>
                  </a:schemeClr>
                </a:solidFill>
              </a:rPr>
              <a:t>조</a:t>
            </a:r>
            <a:r>
              <a:rPr lang="en-US" altLang="ko-KR" sz="1600" dirty="0">
                <a:solidFill>
                  <a:schemeClr val="accent1">
                    <a:lumMod val="50000"/>
                  </a:schemeClr>
                </a:solidFill>
              </a:rPr>
              <a:t>(</a:t>
            </a:r>
            <a:r>
              <a:rPr lang="ko-KR" altLang="en-US" sz="1600" dirty="0">
                <a:solidFill>
                  <a:schemeClr val="accent1">
                    <a:lumMod val="50000"/>
                  </a:schemeClr>
                </a:solidFill>
              </a:rPr>
              <a:t>특허권의 효력</a:t>
            </a:r>
            <a:r>
              <a:rPr lang="en-US" altLang="ko-KR" sz="1600" dirty="0">
                <a:solidFill>
                  <a:schemeClr val="accent1">
                    <a:lumMod val="50000"/>
                  </a:schemeClr>
                </a:solidFill>
              </a:rPr>
              <a:t>)</a:t>
            </a:r>
            <a:r>
              <a:rPr lang="ko-KR" altLang="en-US" sz="1600" dirty="0">
                <a:solidFill>
                  <a:schemeClr val="accent1">
                    <a:lumMod val="50000"/>
                  </a:schemeClr>
                </a:solidFill>
              </a:rPr>
              <a:t>에 “</a:t>
            </a:r>
            <a:r>
              <a:rPr lang="ko-KR" altLang="en-US" sz="1600" dirty="0" err="1">
                <a:solidFill>
                  <a:schemeClr val="accent1">
                    <a:lumMod val="50000"/>
                  </a:schemeClr>
                </a:solidFill>
              </a:rPr>
              <a:t>알면서”라는</a:t>
            </a:r>
            <a:r>
              <a:rPr lang="ko-KR" altLang="en-US" sz="1600" dirty="0">
                <a:solidFill>
                  <a:schemeClr val="accent1">
                    <a:lumMod val="50000"/>
                  </a:schemeClr>
                </a:solidFill>
              </a:rPr>
              <a:t> 인지요건 부가하여 관련 산업의 위축 불식</a:t>
            </a:r>
          </a:p>
          <a:p>
            <a:pPr marL="298450" indent="-298450" fontAlgn="base"/>
            <a:r>
              <a:rPr lang="ko-KR" altLang="en-US" sz="1400" dirty="0"/>
              <a:t>  </a:t>
            </a:r>
            <a:r>
              <a:rPr lang="ko-KR" altLang="en-US" sz="1400" dirty="0" err="1">
                <a:solidFill>
                  <a:schemeClr val="bg1">
                    <a:lumMod val="50000"/>
                  </a:schemeClr>
                </a:solidFill>
              </a:rPr>
              <a:t>ㅇ</a:t>
            </a:r>
            <a:r>
              <a:rPr lang="ko-KR" altLang="en-US" sz="1400" dirty="0">
                <a:solidFill>
                  <a:schemeClr val="bg1">
                    <a:lumMod val="50000"/>
                  </a:schemeClr>
                </a:solidFill>
              </a:rPr>
              <a:t> 각국은 다양한 형태로 ‘특허기술이 포함된 </a:t>
            </a:r>
            <a:r>
              <a:rPr lang="en-US" altLang="ko-KR" sz="1400" dirty="0">
                <a:solidFill>
                  <a:schemeClr val="bg1">
                    <a:lumMod val="50000"/>
                  </a:schemeClr>
                </a:solidFill>
              </a:rPr>
              <a:t>SW</a:t>
            </a:r>
            <a:r>
              <a:rPr lang="ko-KR" altLang="en-US" sz="1400" dirty="0">
                <a:solidFill>
                  <a:schemeClr val="bg1">
                    <a:lumMod val="50000"/>
                  </a:schemeClr>
                </a:solidFill>
              </a:rPr>
              <a:t>의 온라인 전송 </a:t>
            </a:r>
            <a:r>
              <a:rPr lang="ko-KR" altLang="en-US" sz="1400" dirty="0" err="1">
                <a:solidFill>
                  <a:schemeClr val="bg1">
                    <a:lumMod val="50000"/>
                  </a:schemeClr>
                </a:solidFill>
              </a:rPr>
              <a:t>행위’를</a:t>
            </a:r>
            <a:r>
              <a:rPr lang="ko-KR" altLang="en-US" sz="1400" dirty="0">
                <a:solidFill>
                  <a:schemeClr val="bg1">
                    <a:lumMod val="50000"/>
                  </a:schemeClr>
                </a:solidFill>
              </a:rPr>
              <a:t> 특허침해로 규정</a:t>
            </a:r>
            <a:r>
              <a:rPr lang="en-US" altLang="ko-KR" sz="1400" dirty="0">
                <a:solidFill>
                  <a:schemeClr val="bg1">
                    <a:lumMod val="50000"/>
                  </a:schemeClr>
                </a:solidFill>
              </a:rPr>
              <a:t>, SW </a:t>
            </a:r>
            <a:r>
              <a:rPr lang="ko-KR" altLang="en-US" sz="1400" dirty="0">
                <a:solidFill>
                  <a:schemeClr val="bg1">
                    <a:lumMod val="50000"/>
                  </a:schemeClr>
                </a:solidFill>
              </a:rPr>
              <a:t>특허를 실효적으로 보호하고 있으나</a:t>
            </a:r>
            <a:r>
              <a:rPr lang="en-US" altLang="ko-KR" sz="1400" dirty="0">
                <a:solidFill>
                  <a:schemeClr val="bg1">
                    <a:lumMod val="50000"/>
                  </a:schemeClr>
                </a:solidFill>
              </a:rPr>
              <a:t>, </a:t>
            </a:r>
            <a:r>
              <a:rPr lang="ko-KR" altLang="en-US" sz="1400" dirty="0">
                <a:solidFill>
                  <a:schemeClr val="bg1">
                    <a:lumMod val="50000"/>
                  </a:schemeClr>
                </a:solidFill>
              </a:rPr>
              <a:t>한국은 보호하지 못하는 문  </a:t>
            </a:r>
            <a:r>
              <a:rPr lang="ko-KR" altLang="en-US" sz="1400" dirty="0" err="1">
                <a:solidFill>
                  <a:schemeClr val="bg1">
                    <a:lumMod val="50000"/>
                  </a:schemeClr>
                </a:solidFill>
              </a:rPr>
              <a:t>제점</a:t>
            </a:r>
            <a:r>
              <a:rPr lang="ko-KR" altLang="en-US" sz="1400" dirty="0">
                <a:solidFill>
                  <a:schemeClr val="bg1">
                    <a:lumMod val="50000"/>
                  </a:schemeClr>
                </a:solidFill>
              </a:rPr>
              <a:t> 발생</a:t>
            </a:r>
            <a:endParaRPr lang="en-US" altLang="ko-KR" sz="1400" dirty="0">
              <a:solidFill>
                <a:schemeClr val="bg1">
                  <a:lumMod val="50000"/>
                </a:schemeClr>
              </a:solidFill>
            </a:endParaRPr>
          </a:p>
          <a:p>
            <a:pPr marL="271463" indent="-271463" fontAlgn="base"/>
            <a:r>
              <a:rPr lang="en-US" altLang="ko-KR" sz="1400" dirty="0">
                <a:solidFill>
                  <a:schemeClr val="bg1">
                    <a:lumMod val="50000"/>
                  </a:schemeClr>
                </a:solidFill>
              </a:rPr>
              <a:t>     - </a:t>
            </a:r>
            <a:r>
              <a:rPr lang="ko-KR" altLang="en-US" sz="1400" dirty="0">
                <a:solidFill>
                  <a:schemeClr val="bg1">
                    <a:lumMod val="50000"/>
                  </a:schemeClr>
                </a:solidFill>
              </a:rPr>
              <a:t>기존 특허법에 의한 청구항의 보호범위</a:t>
            </a:r>
            <a:endParaRPr lang="en-US" altLang="ko-KR" sz="1400" dirty="0">
              <a:solidFill>
                <a:schemeClr val="bg1">
                  <a:lumMod val="50000"/>
                </a:schemeClr>
              </a:solidFill>
            </a:endParaRPr>
          </a:p>
          <a:p>
            <a:pPr marL="271463" indent="-271463" fontAlgn="base"/>
            <a:endParaRPr lang="en-US" altLang="ko-KR" sz="1400" dirty="0">
              <a:solidFill>
                <a:schemeClr val="bg1">
                  <a:lumMod val="50000"/>
                </a:schemeClr>
              </a:solidFill>
            </a:endParaRPr>
          </a:p>
          <a:p>
            <a:pPr marL="271463" indent="-271463" fontAlgn="base"/>
            <a:endParaRPr lang="en-US" altLang="ko-KR" sz="1400" dirty="0">
              <a:solidFill>
                <a:schemeClr val="bg1">
                  <a:lumMod val="50000"/>
                </a:schemeClr>
              </a:solidFill>
            </a:endParaRPr>
          </a:p>
          <a:p>
            <a:pPr marL="271463" indent="-271463" fontAlgn="base"/>
            <a:endParaRPr lang="en-US" altLang="ko-KR" sz="1400" dirty="0">
              <a:solidFill>
                <a:schemeClr val="bg1">
                  <a:lumMod val="50000"/>
                </a:schemeClr>
              </a:solidFill>
            </a:endParaRPr>
          </a:p>
          <a:p>
            <a:pPr marL="271463" indent="-271463" fontAlgn="base"/>
            <a:endParaRPr lang="en-US" altLang="ko-KR" sz="1400" dirty="0">
              <a:solidFill>
                <a:schemeClr val="bg1">
                  <a:lumMod val="50000"/>
                </a:schemeClr>
              </a:solidFill>
            </a:endParaRPr>
          </a:p>
          <a:p>
            <a:pPr marL="271463" indent="-271463" fontAlgn="base"/>
            <a:endParaRPr lang="en-US" altLang="ko-KR" sz="1400" dirty="0">
              <a:solidFill>
                <a:schemeClr val="bg1">
                  <a:lumMod val="50000"/>
                </a:schemeClr>
              </a:solidFill>
            </a:endParaRPr>
          </a:p>
          <a:p>
            <a:pPr marL="271463" indent="-271463" fontAlgn="base"/>
            <a:endParaRPr lang="en-US" altLang="ko-KR" sz="1400" dirty="0">
              <a:solidFill>
                <a:schemeClr val="bg1">
                  <a:lumMod val="50000"/>
                </a:schemeClr>
              </a:solidFill>
            </a:endParaRPr>
          </a:p>
          <a:p>
            <a:pPr fontAlgn="base"/>
            <a:r>
              <a:rPr lang="ko-KR" altLang="en-US" sz="1400" dirty="0">
                <a:solidFill>
                  <a:schemeClr val="bg1">
                    <a:lumMod val="50000"/>
                  </a:schemeClr>
                </a:solidFill>
              </a:rPr>
              <a:t>  </a:t>
            </a:r>
            <a:r>
              <a:rPr lang="ko-KR" altLang="en-US" sz="1400" dirty="0" err="1">
                <a:solidFill>
                  <a:schemeClr val="bg1">
                    <a:lumMod val="50000"/>
                  </a:schemeClr>
                </a:solidFill>
              </a:rPr>
              <a:t>ㅇ</a:t>
            </a:r>
            <a:r>
              <a:rPr lang="ko-KR" altLang="en-US" sz="1400" dirty="0">
                <a:solidFill>
                  <a:schemeClr val="bg1">
                    <a:lumMod val="50000"/>
                  </a:schemeClr>
                </a:solidFill>
              </a:rPr>
              <a:t> 이에 </a:t>
            </a:r>
            <a:r>
              <a:rPr lang="en-US" altLang="ko-KR" sz="1400" dirty="0">
                <a:solidFill>
                  <a:schemeClr val="bg1">
                    <a:lumMod val="50000"/>
                  </a:schemeClr>
                </a:solidFill>
              </a:rPr>
              <a:t>SW </a:t>
            </a:r>
            <a:r>
              <a:rPr lang="ko-KR" altLang="en-US" sz="1400" dirty="0">
                <a:solidFill>
                  <a:schemeClr val="bg1">
                    <a:lumMod val="50000"/>
                  </a:schemeClr>
                </a:solidFill>
              </a:rPr>
              <a:t>온라인 전송행위에 가장 적합하게 해석될 수 있는 영국의 “방법의 사용을 청약하는 행위</a:t>
            </a:r>
            <a:r>
              <a:rPr lang="en-US" altLang="ko-KR" sz="1400" dirty="0">
                <a:solidFill>
                  <a:schemeClr val="bg1">
                    <a:lumMod val="50000"/>
                  </a:schemeClr>
                </a:solidFill>
              </a:rPr>
              <a:t>(offer it for use)”</a:t>
            </a:r>
            <a:r>
              <a:rPr lang="ko-KR" altLang="en-US" sz="1400" dirty="0">
                <a:solidFill>
                  <a:schemeClr val="bg1">
                    <a:lumMod val="50000"/>
                  </a:schemeClr>
                </a:solidFill>
              </a:rPr>
              <a:t>를 채택</a:t>
            </a:r>
          </a:p>
          <a:p>
            <a:pPr fontAlgn="base"/>
            <a:r>
              <a:rPr lang="en-US" altLang="ko-KR" sz="1400" dirty="0">
                <a:solidFill>
                  <a:srgbClr val="FF0000"/>
                </a:solidFill>
              </a:rPr>
              <a:t>     - SW</a:t>
            </a:r>
            <a:r>
              <a:rPr lang="ko-KR" altLang="en-US" sz="1400" dirty="0">
                <a:solidFill>
                  <a:srgbClr val="FF0000"/>
                </a:solidFill>
              </a:rPr>
              <a:t>의 실행은 방법의 사용에 해당하고</a:t>
            </a:r>
            <a:r>
              <a:rPr lang="en-US" altLang="ko-KR" sz="1400" dirty="0">
                <a:solidFill>
                  <a:srgbClr val="FF0000"/>
                </a:solidFill>
              </a:rPr>
              <a:t>, SW</a:t>
            </a:r>
            <a:r>
              <a:rPr lang="ko-KR" altLang="en-US" sz="1400" dirty="0">
                <a:solidFill>
                  <a:srgbClr val="FF0000"/>
                </a:solidFill>
              </a:rPr>
              <a:t>를 전송하는 것은 방법을 사용하도록 청약하는 행위로 해석</a:t>
            </a:r>
          </a:p>
          <a:p>
            <a:pPr marL="271463" indent="-271463" fontAlgn="base"/>
            <a:r>
              <a:rPr lang="ko-KR" altLang="en-US" sz="1400" dirty="0">
                <a:solidFill>
                  <a:schemeClr val="bg1">
                    <a:lumMod val="50000"/>
                  </a:schemeClr>
                </a:solidFill>
              </a:rPr>
              <a:t>  </a:t>
            </a:r>
            <a:r>
              <a:rPr lang="ko-KR" altLang="en-US" sz="1400" dirty="0" err="1">
                <a:solidFill>
                  <a:schemeClr val="bg1">
                    <a:lumMod val="50000"/>
                  </a:schemeClr>
                </a:solidFill>
              </a:rPr>
              <a:t>ㅇ</a:t>
            </a:r>
            <a:r>
              <a:rPr lang="ko-KR" altLang="en-US" sz="1400" dirty="0">
                <a:solidFill>
                  <a:schemeClr val="bg1">
                    <a:lumMod val="50000"/>
                  </a:schemeClr>
                </a:solidFill>
              </a:rPr>
              <a:t> “</a:t>
            </a:r>
            <a:r>
              <a:rPr lang="ko-KR" altLang="en-US" sz="1400" dirty="0" err="1">
                <a:solidFill>
                  <a:schemeClr val="bg1">
                    <a:lumMod val="50000"/>
                  </a:schemeClr>
                </a:solidFill>
              </a:rPr>
              <a:t>알면서”라는</a:t>
            </a:r>
            <a:r>
              <a:rPr lang="ko-KR" altLang="en-US" sz="1400" dirty="0">
                <a:solidFill>
                  <a:schemeClr val="bg1">
                    <a:lumMod val="50000"/>
                  </a:schemeClr>
                </a:solidFill>
              </a:rPr>
              <a:t> 인지요건에 의해</a:t>
            </a:r>
            <a:r>
              <a:rPr lang="en-US" altLang="ko-KR" sz="1400" dirty="0">
                <a:solidFill>
                  <a:schemeClr val="bg1">
                    <a:lumMod val="50000"/>
                  </a:schemeClr>
                </a:solidFill>
              </a:rPr>
              <a:t>, SW</a:t>
            </a:r>
            <a:r>
              <a:rPr lang="ko-KR" altLang="en-US" sz="1400" dirty="0">
                <a:solidFill>
                  <a:schemeClr val="bg1">
                    <a:lumMod val="50000"/>
                  </a:schemeClr>
                </a:solidFill>
              </a:rPr>
              <a:t>를 전송하여 특허를 침해하는 경우는 ① 특허권 존속 중에 ② 정당한 </a:t>
            </a:r>
            <a:r>
              <a:rPr lang="ko-KR" altLang="en-US" sz="1400" dirty="0" err="1">
                <a:solidFill>
                  <a:schemeClr val="bg1">
                    <a:lumMod val="50000"/>
                  </a:schemeClr>
                </a:solidFill>
              </a:rPr>
              <a:t>권원</a:t>
            </a:r>
            <a:r>
              <a:rPr lang="ko-KR" altLang="en-US" sz="1400" dirty="0">
                <a:solidFill>
                  <a:schemeClr val="bg1">
                    <a:lumMod val="50000"/>
                  </a:schemeClr>
                </a:solidFill>
              </a:rPr>
              <a:t> 없는 자가 ③ 업으로서 실시하며</a:t>
            </a:r>
            <a:r>
              <a:rPr lang="en-US" altLang="ko-KR" sz="1400" dirty="0">
                <a:solidFill>
                  <a:schemeClr val="bg1">
                    <a:lumMod val="50000"/>
                  </a:schemeClr>
                </a:solidFill>
              </a:rPr>
              <a:t>, ④ </a:t>
            </a:r>
            <a:r>
              <a:rPr lang="ko-KR" altLang="en-US" sz="1400" dirty="0">
                <a:solidFill>
                  <a:schemeClr val="bg1">
                    <a:lumMod val="50000"/>
                  </a:schemeClr>
                </a:solidFill>
              </a:rPr>
              <a:t>알면서 그 방법의 사용을 청약하는 경우만 해당</a:t>
            </a:r>
          </a:p>
          <a:p>
            <a:pPr fontAlgn="base"/>
            <a:r>
              <a:rPr lang="en-US" altLang="ko-KR" sz="1400" dirty="0">
                <a:solidFill>
                  <a:srgbClr val="FF0000"/>
                </a:solidFill>
              </a:rPr>
              <a:t>     - </a:t>
            </a:r>
            <a:r>
              <a:rPr lang="ko-KR" altLang="en-US" sz="1400" dirty="0">
                <a:solidFill>
                  <a:srgbClr val="FF0000"/>
                </a:solidFill>
              </a:rPr>
              <a:t>제</a:t>
            </a:r>
            <a:r>
              <a:rPr lang="en-US" altLang="ko-KR" sz="1400" dirty="0">
                <a:solidFill>
                  <a:srgbClr val="FF0000"/>
                </a:solidFill>
              </a:rPr>
              <a:t>130</a:t>
            </a:r>
            <a:r>
              <a:rPr lang="ko-KR" altLang="en-US" sz="1400" dirty="0">
                <a:solidFill>
                  <a:srgbClr val="FF0000"/>
                </a:solidFill>
              </a:rPr>
              <a:t>조</a:t>
            </a:r>
            <a:r>
              <a:rPr lang="en-US" altLang="ko-KR" sz="1400" dirty="0">
                <a:solidFill>
                  <a:srgbClr val="FF0000"/>
                </a:solidFill>
              </a:rPr>
              <a:t>(</a:t>
            </a:r>
            <a:r>
              <a:rPr lang="ko-KR" altLang="en-US" sz="1400" dirty="0">
                <a:solidFill>
                  <a:srgbClr val="FF0000"/>
                </a:solidFill>
              </a:rPr>
              <a:t>과실의 추정</a:t>
            </a:r>
            <a:r>
              <a:rPr lang="en-US" altLang="ko-KR" sz="1400" dirty="0">
                <a:solidFill>
                  <a:srgbClr val="FF0000"/>
                </a:solidFill>
              </a:rPr>
              <a:t>) </a:t>
            </a:r>
            <a:r>
              <a:rPr lang="ko-KR" altLang="en-US" sz="1400" dirty="0">
                <a:solidFill>
                  <a:srgbClr val="FF0000"/>
                </a:solidFill>
              </a:rPr>
              <a:t>규정이 적용되지 않으며</a:t>
            </a:r>
            <a:r>
              <a:rPr lang="en-US" altLang="ko-KR" sz="1400" dirty="0">
                <a:solidFill>
                  <a:srgbClr val="FF0000"/>
                </a:solidFill>
              </a:rPr>
              <a:t>, </a:t>
            </a:r>
            <a:r>
              <a:rPr lang="ko-KR" altLang="en-US" sz="1400" dirty="0">
                <a:solidFill>
                  <a:srgbClr val="FF0000"/>
                </a:solidFill>
              </a:rPr>
              <a:t>특허권자로부터 침해경고를 받은 이후에 실시를 중단하면 </a:t>
            </a:r>
            <a:r>
              <a:rPr lang="ko-KR" altLang="en-US" sz="1400" dirty="0" err="1">
                <a:solidFill>
                  <a:srgbClr val="FF0000"/>
                </a:solidFill>
              </a:rPr>
              <a:t>비침해</a:t>
            </a:r>
            <a:endParaRPr lang="ko-KR" altLang="en-US" sz="1400" dirty="0">
              <a:solidFill>
                <a:srgbClr val="FF0000"/>
              </a:solidFill>
            </a:endParaRPr>
          </a:p>
          <a:p>
            <a:pPr fontAlgn="base"/>
            <a:endParaRPr lang="en-US" altLang="ko-KR" sz="1400" dirty="0"/>
          </a:p>
          <a:p>
            <a:pPr fontAlgn="base"/>
            <a:r>
              <a:rPr lang="ko-KR" altLang="en-US" sz="1600" dirty="0">
                <a:solidFill>
                  <a:schemeClr val="accent1">
                    <a:lumMod val="50000"/>
                  </a:schemeClr>
                </a:solidFill>
              </a:rPr>
              <a:t>□ ‘방법의 사용을 청약하는 </a:t>
            </a:r>
            <a:r>
              <a:rPr lang="ko-KR" altLang="en-US" sz="1600" dirty="0" err="1">
                <a:solidFill>
                  <a:schemeClr val="accent1">
                    <a:lumMod val="50000"/>
                  </a:schemeClr>
                </a:solidFill>
              </a:rPr>
              <a:t>행위’의</a:t>
            </a:r>
            <a:r>
              <a:rPr lang="ko-KR" altLang="en-US" sz="1600" dirty="0">
                <a:solidFill>
                  <a:schemeClr val="accent1">
                    <a:lumMod val="50000"/>
                  </a:schemeClr>
                </a:solidFill>
              </a:rPr>
              <a:t> 실시 형태</a:t>
            </a:r>
            <a:r>
              <a:rPr lang="en-US" altLang="ko-KR" sz="1600" dirty="0">
                <a:solidFill>
                  <a:schemeClr val="accent1">
                    <a:lumMod val="50000"/>
                  </a:schemeClr>
                </a:solidFill>
              </a:rPr>
              <a:t>(‘</a:t>
            </a:r>
            <a:r>
              <a:rPr lang="ko-KR" altLang="en-US" sz="1600" dirty="0">
                <a:solidFill>
                  <a:schemeClr val="accent1">
                    <a:lumMod val="50000"/>
                  </a:schemeClr>
                </a:solidFill>
              </a:rPr>
              <a:t>특허법 개정안의 산업계 영향 분석에 관한 연구’</a:t>
            </a:r>
            <a:r>
              <a:rPr lang="en-US" altLang="ko-KR" sz="1600" dirty="0">
                <a:solidFill>
                  <a:schemeClr val="accent1">
                    <a:lumMod val="50000"/>
                  </a:schemeClr>
                </a:solidFill>
              </a:rPr>
              <a:t>, ‘19.4</a:t>
            </a:r>
            <a:r>
              <a:rPr lang="ko-KR" altLang="en-US" sz="1600" dirty="0">
                <a:solidFill>
                  <a:schemeClr val="accent1">
                    <a:lumMod val="50000"/>
                  </a:schemeClr>
                </a:solidFill>
              </a:rPr>
              <a:t>월</a:t>
            </a:r>
            <a:r>
              <a:rPr lang="en-US" altLang="ko-KR" sz="1600" dirty="0">
                <a:solidFill>
                  <a:schemeClr val="accent1">
                    <a:lumMod val="50000"/>
                  </a:schemeClr>
                </a:solidFill>
              </a:rPr>
              <a:t>, </a:t>
            </a:r>
            <a:r>
              <a:rPr lang="ko-KR" altLang="en-US" sz="1600" dirty="0">
                <a:solidFill>
                  <a:schemeClr val="accent1">
                    <a:lumMod val="50000"/>
                  </a:schemeClr>
                </a:solidFill>
              </a:rPr>
              <a:t>법무법인 다래</a:t>
            </a:r>
            <a:r>
              <a:rPr lang="en-US" altLang="ko-KR" sz="1600" dirty="0">
                <a:solidFill>
                  <a:schemeClr val="accent1">
                    <a:lumMod val="50000"/>
                  </a:schemeClr>
                </a:solidFill>
              </a:rPr>
              <a:t>)</a:t>
            </a:r>
          </a:p>
          <a:p>
            <a:pPr fontAlgn="base"/>
            <a:r>
              <a:rPr lang="en-US" altLang="ko-KR" sz="1400" dirty="0"/>
              <a:t>   </a:t>
            </a:r>
            <a:r>
              <a:rPr lang="en-US" altLang="ko-KR" sz="1400" dirty="0">
                <a:solidFill>
                  <a:schemeClr val="bg1">
                    <a:lumMod val="50000"/>
                  </a:schemeClr>
                </a:solidFill>
              </a:rPr>
              <a:t>① </a:t>
            </a:r>
            <a:r>
              <a:rPr lang="ko-KR" altLang="en-US" sz="1400" dirty="0">
                <a:solidFill>
                  <a:schemeClr val="bg1">
                    <a:lumMod val="50000"/>
                  </a:schemeClr>
                </a:solidFill>
              </a:rPr>
              <a:t>방법발명</a:t>
            </a:r>
            <a:r>
              <a:rPr lang="en-US" altLang="ko-KR" sz="1400" dirty="0">
                <a:solidFill>
                  <a:schemeClr val="bg1">
                    <a:lumMod val="50000"/>
                  </a:schemeClr>
                </a:solidFill>
              </a:rPr>
              <a:t>(</a:t>
            </a:r>
            <a:r>
              <a:rPr lang="ko-KR" altLang="en-US" sz="1400" dirty="0">
                <a:solidFill>
                  <a:schemeClr val="bg1">
                    <a:lumMod val="50000"/>
                  </a:schemeClr>
                </a:solidFill>
              </a:rPr>
              <a:t>프로그램 특허</a:t>
            </a:r>
            <a:r>
              <a:rPr lang="en-US" altLang="ko-KR" sz="1400" dirty="0">
                <a:solidFill>
                  <a:schemeClr val="bg1">
                    <a:lumMod val="50000"/>
                  </a:schemeClr>
                </a:solidFill>
              </a:rPr>
              <a:t>)</a:t>
            </a:r>
            <a:r>
              <a:rPr lang="ko-KR" altLang="en-US" sz="1400" dirty="0">
                <a:solidFill>
                  <a:schemeClr val="bg1">
                    <a:lumMod val="50000"/>
                  </a:schemeClr>
                </a:solidFill>
              </a:rPr>
              <a:t>이 구현된 프로그램이나 데이터를 정보통신망을 통하여 파일</a:t>
            </a:r>
            <a:r>
              <a:rPr lang="en-US" altLang="ko-KR" sz="1400" dirty="0">
                <a:solidFill>
                  <a:schemeClr val="bg1">
                    <a:lumMod val="50000"/>
                  </a:schemeClr>
                </a:solidFill>
              </a:rPr>
              <a:t>(File)</a:t>
            </a:r>
            <a:r>
              <a:rPr lang="ko-KR" altLang="en-US" sz="1400" dirty="0">
                <a:solidFill>
                  <a:schemeClr val="bg1">
                    <a:lumMod val="50000"/>
                  </a:schemeClr>
                </a:solidFill>
              </a:rPr>
              <a:t>형태로 상대방에게 제공</a:t>
            </a:r>
            <a:r>
              <a:rPr lang="en-US" altLang="ko-KR" sz="1400" dirty="0">
                <a:solidFill>
                  <a:schemeClr val="bg1">
                    <a:lumMod val="50000"/>
                  </a:schemeClr>
                </a:solidFill>
              </a:rPr>
              <a:t>(</a:t>
            </a:r>
            <a:r>
              <a:rPr lang="ko-KR" altLang="en-US" sz="1400" dirty="0">
                <a:solidFill>
                  <a:schemeClr val="bg1">
                    <a:lumMod val="50000"/>
                  </a:schemeClr>
                </a:solidFill>
              </a:rPr>
              <a:t>전송</a:t>
            </a:r>
            <a:r>
              <a:rPr lang="en-US" altLang="ko-KR" sz="1400" dirty="0">
                <a:solidFill>
                  <a:schemeClr val="bg1">
                    <a:lumMod val="50000"/>
                  </a:schemeClr>
                </a:solidFill>
              </a:rPr>
              <a:t>)</a:t>
            </a:r>
            <a:r>
              <a:rPr lang="ko-KR" altLang="en-US" sz="1400" dirty="0">
                <a:solidFill>
                  <a:schemeClr val="bg1">
                    <a:lumMod val="50000"/>
                  </a:schemeClr>
                </a:solidFill>
              </a:rPr>
              <a:t>하는 행위</a:t>
            </a:r>
          </a:p>
          <a:p>
            <a:pPr fontAlgn="base"/>
            <a:r>
              <a:rPr lang="ko-KR" altLang="en-US" sz="1400" dirty="0">
                <a:solidFill>
                  <a:schemeClr val="bg1">
                    <a:lumMod val="50000"/>
                  </a:schemeClr>
                </a:solidFill>
              </a:rPr>
              <a:t>   ② 방법발명</a:t>
            </a:r>
            <a:r>
              <a:rPr lang="en-US" altLang="ko-KR" sz="1400" dirty="0">
                <a:solidFill>
                  <a:schemeClr val="bg1">
                    <a:lumMod val="50000"/>
                  </a:schemeClr>
                </a:solidFill>
              </a:rPr>
              <a:t>(</a:t>
            </a:r>
            <a:r>
              <a:rPr lang="ko-KR" altLang="en-US" sz="1400" dirty="0">
                <a:solidFill>
                  <a:schemeClr val="bg1">
                    <a:lumMod val="50000"/>
                  </a:schemeClr>
                </a:solidFill>
              </a:rPr>
              <a:t>프로그램 특허</a:t>
            </a:r>
            <a:r>
              <a:rPr lang="en-US" altLang="ko-KR" sz="1400" dirty="0">
                <a:solidFill>
                  <a:schemeClr val="bg1">
                    <a:lumMod val="50000"/>
                  </a:schemeClr>
                </a:solidFill>
              </a:rPr>
              <a:t>)</a:t>
            </a:r>
            <a:r>
              <a:rPr lang="ko-KR" altLang="en-US" sz="1400" dirty="0">
                <a:solidFill>
                  <a:schemeClr val="bg1">
                    <a:lumMod val="50000"/>
                  </a:schemeClr>
                </a:solidFill>
              </a:rPr>
              <a:t>이 구현된 프로그램이나 데이터를 매체</a:t>
            </a:r>
            <a:r>
              <a:rPr lang="en-US" altLang="ko-KR" sz="1400" dirty="0">
                <a:solidFill>
                  <a:schemeClr val="bg1">
                    <a:lumMod val="50000"/>
                  </a:schemeClr>
                </a:solidFill>
              </a:rPr>
              <a:t>(USB </a:t>
            </a:r>
            <a:r>
              <a:rPr lang="ko-KR" altLang="en-US" sz="1400" dirty="0">
                <a:solidFill>
                  <a:schemeClr val="bg1">
                    <a:lumMod val="50000"/>
                  </a:schemeClr>
                </a:solidFill>
              </a:rPr>
              <a:t>등</a:t>
            </a:r>
            <a:r>
              <a:rPr lang="en-US" altLang="ko-KR" sz="1400" dirty="0">
                <a:solidFill>
                  <a:schemeClr val="bg1">
                    <a:lumMod val="50000"/>
                  </a:schemeClr>
                </a:solidFill>
              </a:rPr>
              <a:t>)</a:t>
            </a:r>
            <a:r>
              <a:rPr lang="ko-KR" altLang="en-US" sz="1400" dirty="0">
                <a:solidFill>
                  <a:schemeClr val="bg1">
                    <a:lumMod val="50000"/>
                  </a:schemeClr>
                </a:solidFill>
              </a:rPr>
              <a:t>를 통하여 제공하는 행위</a:t>
            </a:r>
          </a:p>
          <a:p>
            <a:pPr fontAlgn="base"/>
            <a:r>
              <a:rPr lang="ko-KR" altLang="en-US" sz="1400" dirty="0">
                <a:solidFill>
                  <a:schemeClr val="bg1">
                    <a:lumMod val="50000"/>
                  </a:schemeClr>
                </a:solidFill>
              </a:rPr>
              <a:t>   ③ 온라인 플랫폼에 방법발명</a:t>
            </a:r>
            <a:r>
              <a:rPr lang="en-US" altLang="ko-KR" sz="1400" dirty="0">
                <a:solidFill>
                  <a:schemeClr val="bg1">
                    <a:lumMod val="50000"/>
                  </a:schemeClr>
                </a:solidFill>
              </a:rPr>
              <a:t>(</a:t>
            </a:r>
            <a:r>
              <a:rPr lang="ko-KR" altLang="en-US" sz="1400" dirty="0">
                <a:solidFill>
                  <a:schemeClr val="bg1">
                    <a:lumMod val="50000"/>
                  </a:schemeClr>
                </a:solidFill>
              </a:rPr>
              <a:t>프로그램 특허</a:t>
            </a:r>
            <a:r>
              <a:rPr lang="en-US" altLang="ko-KR" sz="1400" dirty="0">
                <a:solidFill>
                  <a:schemeClr val="bg1">
                    <a:lumMod val="50000"/>
                  </a:schemeClr>
                </a:solidFill>
              </a:rPr>
              <a:t>)</a:t>
            </a:r>
            <a:r>
              <a:rPr lang="ko-KR" altLang="en-US" sz="1400" dirty="0">
                <a:solidFill>
                  <a:schemeClr val="bg1">
                    <a:lumMod val="50000"/>
                  </a:schemeClr>
                </a:solidFill>
              </a:rPr>
              <a:t>이 구현된 프로그램이나 데이터를 업로드하는 행위</a:t>
            </a:r>
          </a:p>
          <a:p>
            <a:pPr fontAlgn="base"/>
            <a:r>
              <a:rPr lang="ko-KR" altLang="en-US" sz="1400" dirty="0">
                <a:solidFill>
                  <a:schemeClr val="bg1">
                    <a:lumMod val="50000"/>
                  </a:schemeClr>
                </a:solidFill>
              </a:rPr>
              <a:t>   ④ 프로그램 특허의 일부만을 정보통신망을 통하여 전송하고</a:t>
            </a:r>
            <a:r>
              <a:rPr lang="en-US" altLang="ko-KR" sz="1400" dirty="0">
                <a:solidFill>
                  <a:schemeClr val="bg1">
                    <a:lumMod val="50000"/>
                  </a:schemeClr>
                </a:solidFill>
              </a:rPr>
              <a:t>, </a:t>
            </a:r>
            <a:r>
              <a:rPr lang="ko-KR" altLang="en-US" sz="1400" dirty="0">
                <a:solidFill>
                  <a:schemeClr val="bg1">
                    <a:lumMod val="50000"/>
                  </a:schemeClr>
                </a:solidFill>
              </a:rPr>
              <a:t>이를 </a:t>
            </a:r>
            <a:r>
              <a:rPr lang="ko-KR" altLang="en-US" sz="1400" dirty="0" err="1">
                <a:solidFill>
                  <a:schemeClr val="bg1">
                    <a:lumMod val="50000"/>
                  </a:schemeClr>
                </a:solidFill>
              </a:rPr>
              <a:t>전송받은</a:t>
            </a:r>
            <a:r>
              <a:rPr lang="ko-KR" altLang="en-US" sz="1400" dirty="0">
                <a:solidFill>
                  <a:schemeClr val="bg1">
                    <a:lumMod val="50000"/>
                  </a:schemeClr>
                </a:solidFill>
              </a:rPr>
              <a:t> 자가 이를 다운로드하여 전체 프로그램을 실행할 수 있도록 하는 행위</a:t>
            </a:r>
          </a:p>
          <a:p>
            <a:pPr marL="361950" indent="-361950" fontAlgn="base"/>
            <a:r>
              <a:rPr lang="ko-KR" altLang="en-US" sz="1400" dirty="0">
                <a:solidFill>
                  <a:schemeClr val="bg1">
                    <a:lumMod val="50000"/>
                  </a:schemeClr>
                </a:solidFill>
              </a:rPr>
              <a:t>   ⑤ </a:t>
            </a:r>
            <a:r>
              <a:rPr lang="ko-KR" altLang="en-US" sz="1400" dirty="0" err="1">
                <a:solidFill>
                  <a:schemeClr val="bg1">
                    <a:lumMod val="50000"/>
                  </a:schemeClr>
                </a:solidFill>
              </a:rPr>
              <a:t>클라우딩컴퓨팅을</a:t>
            </a:r>
            <a:r>
              <a:rPr lang="ko-KR" altLang="en-US" sz="1400" dirty="0">
                <a:solidFill>
                  <a:schemeClr val="bg1">
                    <a:lumMod val="50000"/>
                  </a:schemeClr>
                </a:solidFill>
              </a:rPr>
              <a:t> 이용하여 일방이 클라우드 서버에 프로그램을 업로드하고</a:t>
            </a:r>
            <a:r>
              <a:rPr lang="en-US" altLang="ko-KR" sz="1400" dirty="0">
                <a:solidFill>
                  <a:schemeClr val="bg1">
                    <a:lumMod val="50000"/>
                  </a:schemeClr>
                </a:solidFill>
              </a:rPr>
              <a:t>, </a:t>
            </a:r>
            <a:r>
              <a:rPr lang="ko-KR" altLang="en-US" sz="1400" dirty="0">
                <a:solidFill>
                  <a:schemeClr val="bg1">
                    <a:lumMod val="50000"/>
                  </a:schemeClr>
                </a:solidFill>
              </a:rPr>
              <a:t>타방이 이를 다운로드하거나 이를 다운로드함이 없이 프로그램을 사용할 수 있도록 하는 행위</a:t>
            </a:r>
          </a:p>
          <a:p>
            <a:pPr fontAlgn="base"/>
            <a:r>
              <a:rPr lang="ko-KR" altLang="en-US" sz="1400" dirty="0">
                <a:solidFill>
                  <a:schemeClr val="bg1">
                    <a:lumMod val="50000"/>
                  </a:schemeClr>
                </a:solidFill>
              </a:rPr>
              <a:t>   ⑥ 프로그램특허의 내용이 포함된 카탈로그나 책자 등을 문서 또는 전자파일로 배포하는 행위</a:t>
            </a:r>
          </a:p>
        </p:txBody>
      </p:sp>
      <p:graphicFrame>
        <p:nvGraphicFramePr>
          <p:cNvPr id="5" name="표 4">
            <a:extLst>
              <a:ext uri="{FF2B5EF4-FFF2-40B4-BE49-F238E27FC236}">
                <a16:creationId xmlns:a16="http://schemas.microsoft.com/office/drawing/2014/main" id="{D9B8814A-648B-473A-92CF-6094D2701C7E}"/>
              </a:ext>
            </a:extLst>
          </p:cNvPr>
          <p:cNvGraphicFramePr>
            <a:graphicFrameLocks noGrp="1"/>
          </p:cNvGraphicFramePr>
          <p:nvPr>
            <p:extLst>
              <p:ext uri="{D42A27DB-BD31-4B8C-83A1-F6EECF244321}">
                <p14:modId xmlns:p14="http://schemas.microsoft.com/office/powerpoint/2010/main" val="3349789305"/>
              </p:ext>
            </p:extLst>
          </p:nvPr>
        </p:nvGraphicFramePr>
        <p:xfrm>
          <a:off x="748948" y="2242776"/>
          <a:ext cx="8558013" cy="1096010"/>
        </p:xfrm>
        <a:graphic>
          <a:graphicData uri="http://schemas.openxmlformats.org/drawingml/2006/table">
            <a:tbl>
              <a:tblPr>
                <a:tableStyleId>{8799B23B-EC83-4686-B30A-512413B5E67A}</a:tableStyleId>
              </a:tblPr>
              <a:tblGrid>
                <a:gridCol w="1575131">
                  <a:extLst>
                    <a:ext uri="{9D8B030D-6E8A-4147-A177-3AD203B41FA5}">
                      <a16:colId xmlns:a16="http://schemas.microsoft.com/office/drawing/2014/main" val="753046795"/>
                    </a:ext>
                  </a:extLst>
                </a:gridCol>
                <a:gridCol w="726146">
                  <a:extLst>
                    <a:ext uri="{9D8B030D-6E8A-4147-A177-3AD203B41FA5}">
                      <a16:colId xmlns:a16="http://schemas.microsoft.com/office/drawing/2014/main" val="546272534"/>
                    </a:ext>
                  </a:extLst>
                </a:gridCol>
                <a:gridCol w="726146">
                  <a:extLst>
                    <a:ext uri="{9D8B030D-6E8A-4147-A177-3AD203B41FA5}">
                      <a16:colId xmlns:a16="http://schemas.microsoft.com/office/drawing/2014/main" val="3210275499"/>
                    </a:ext>
                  </a:extLst>
                </a:gridCol>
                <a:gridCol w="734193">
                  <a:extLst>
                    <a:ext uri="{9D8B030D-6E8A-4147-A177-3AD203B41FA5}">
                      <a16:colId xmlns:a16="http://schemas.microsoft.com/office/drawing/2014/main" val="3196702212"/>
                    </a:ext>
                  </a:extLst>
                </a:gridCol>
                <a:gridCol w="809222">
                  <a:extLst>
                    <a:ext uri="{9D8B030D-6E8A-4147-A177-3AD203B41FA5}">
                      <a16:colId xmlns:a16="http://schemas.microsoft.com/office/drawing/2014/main" val="1125147763"/>
                    </a:ext>
                  </a:extLst>
                </a:gridCol>
                <a:gridCol w="809222">
                  <a:extLst>
                    <a:ext uri="{9D8B030D-6E8A-4147-A177-3AD203B41FA5}">
                      <a16:colId xmlns:a16="http://schemas.microsoft.com/office/drawing/2014/main" val="3673020911"/>
                    </a:ext>
                  </a:extLst>
                </a:gridCol>
                <a:gridCol w="856559">
                  <a:extLst>
                    <a:ext uri="{9D8B030D-6E8A-4147-A177-3AD203B41FA5}">
                      <a16:colId xmlns:a16="http://schemas.microsoft.com/office/drawing/2014/main" val="2160255338"/>
                    </a:ext>
                  </a:extLst>
                </a:gridCol>
                <a:gridCol w="1160697">
                  <a:extLst>
                    <a:ext uri="{9D8B030D-6E8A-4147-A177-3AD203B41FA5}">
                      <a16:colId xmlns:a16="http://schemas.microsoft.com/office/drawing/2014/main" val="2107392472"/>
                    </a:ext>
                  </a:extLst>
                </a:gridCol>
                <a:gridCol w="1160697">
                  <a:extLst>
                    <a:ext uri="{9D8B030D-6E8A-4147-A177-3AD203B41FA5}">
                      <a16:colId xmlns:a16="http://schemas.microsoft.com/office/drawing/2014/main" val="2881930732"/>
                    </a:ext>
                  </a:extLst>
                </a:gridCol>
              </a:tblGrid>
              <a:tr h="114570">
                <a:tc rowSpan="2">
                  <a:txBody>
                    <a:bodyPr/>
                    <a:lstStyle/>
                    <a:p>
                      <a:pPr marL="0" marR="0" indent="0" algn="ctr" fontAlgn="base" latinLnBrk="0">
                        <a:lnSpc>
                          <a:spcPct val="130000"/>
                        </a:lnSpc>
                        <a:spcBef>
                          <a:spcPts val="0"/>
                        </a:spcBef>
                        <a:spcAft>
                          <a:spcPts val="0"/>
                        </a:spcAft>
                      </a:pPr>
                      <a:r>
                        <a:rPr lang="ko-KR" altLang="en-US" sz="1200" kern="0" spc="-100" dirty="0">
                          <a:effectLst/>
                        </a:rPr>
                        <a:t>구 분</a:t>
                      </a:r>
                      <a:endParaRPr lang="ko-KR" altLang="en-US" sz="1200" kern="0" spc="-100" dirty="0">
                        <a:solidFill>
                          <a:srgbClr val="000000"/>
                        </a:solidFill>
                        <a:effectLst/>
                      </a:endParaRPr>
                    </a:p>
                  </a:txBody>
                  <a:tcPr marL="0" marR="0" marT="0" marB="0" anchor="ctr">
                    <a:solidFill>
                      <a:schemeClr val="accent1">
                        <a:lumMod val="20000"/>
                        <a:lumOff val="80000"/>
                      </a:schemeClr>
                    </a:solidFill>
                  </a:tcPr>
                </a:tc>
                <a:tc gridSpan="4">
                  <a:txBody>
                    <a:bodyPr/>
                    <a:lstStyle/>
                    <a:p>
                      <a:pPr marL="0" marR="0" indent="0" algn="ctr" fontAlgn="base" latinLnBrk="0">
                        <a:lnSpc>
                          <a:spcPct val="130000"/>
                        </a:lnSpc>
                        <a:spcBef>
                          <a:spcPts val="0"/>
                        </a:spcBef>
                        <a:spcAft>
                          <a:spcPts val="0"/>
                        </a:spcAft>
                      </a:pPr>
                      <a:r>
                        <a:rPr lang="ko-KR" altLang="en-US" sz="1200" kern="0" spc="-100" dirty="0">
                          <a:effectLst/>
                        </a:rPr>
                        <a:t>프로그램이 설치된 장치</a:t>
                      </a:r>
                      <a:endParaRPr lang="ko-KR" altLang="en-US" sz="1200" kern="0" spc="-100" dirty="0">
                        <a:solidFill>
                          <a:srgbClr val="000000"/>
                        </a:solidFill>
                        <a:effectLst/>
                      </a:endParaRPr>
                    </a:p>
                  </a:txBody>
                  <a:tcPr marL="0" marR="0" marT="0" marB="0" anchor="ctr">
                    <a:solidFill>
                      <a:schemeClr val="accent1">
                        <a:lumMod val="20000"/>
                        <a:lumOff val="80000"/>
                      </a:schemeClr>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marL="0" marR="0" indent="0" algn="ctr" fontAlgn="base" latinLnBrk="0">
                        <a:lnSpc>
                          <a:spcPct val="130000"/>
                        </a:lnSpc>
                        <a:spcBef>
                          <a:spcPts val="0"/>
                        </a:spcBef>
                        <a:spcAft>
                          <a:spcPts val="0"/>
                        </a:spcAft>
                      </a:pPr>
                      <a:r>
                        <a:rPr lang="ko-KR" altLang="en-US" sz="1200" kern="0" spc="-100">
                          <a:effectLst/>
                        </a:rPr>
                        <a:t>프로그램이 저장된 기록매체</a:t>
                      </a:r>
                      <a:endParaRPr lang="ko-KR" altLang="en-US" sz="1200" kern="0" spc="-100">
                        <a:solidFill>
                          <a:srgbClr val="000000"/>
                        </a:solidFill>
                        <a:effectLst/>
                      </a:endParaRPr>
                    </a:p>
                  </a:txBody>
                  <a:tcPr marL="0" marR="0" marT="0" marB="0" anchor="ctr">
                    <a:solidFill>
                      <a:schemeClr val="accent1">
                        <a:lumMod val="20000"/>
                        <a:lumOff val="80000"/>
                      </a:schemeClr>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30000"/>
                        </a:lnSpc>
                        <a:spcBef>
                          <a:spcPts val="0"/>
                        </a:spcBef>
                        <a:spcAft>
                          <a:spcPts val="0"/>
                        </a:spcAft>
                      </a:pPr>
                      <a:r>
                        <a:rPr lang="ko-KR" altLang="en-US" sz="1200" kern="0" spc="-100">
                          <a:effectLst/>
                        </a:rPr>
                        <a:t>프로그램</a:t>
                      </a:r>
                      <a:endParaRPr lang="ko-KR" altLang="en-US" sz="1200" kern="0" spc="-100">
                        <a:solidFill>
                          <a:srgbClr val="000000"/>
                        </a:solidFill>
                        <a:effectLst/>
                      </a:endParaRPr>
                    </a:p>
                  </a:txBody>
                  <a:tcPr marL="0" marR="0" marT="0" marB="0" anchor="ctr">
                    <a:solidFill>
                      <a:schemeClr val="accent1">
                        <a:lumMod val="20000"/>
                        <a:lumOff val="80000"/>
                      </a:schemeClr>
                    </a:solidFill>
                  </a:tcPr>
                </a:tc>
                <a:extLst>
                  <a:ext uri="{0D108BD9-81ED-4DB2-BD59-A6C34878D82A}">
                    <a16:rowId xmlns:a16="http://schemas.microsoft.com/office/drawing/2014/main" val="3790294054"/>
                  </a:ext>
                </a:extLst>
              </a:tr>
              <a:tr h="114570">
                <a:tc vMerge="1">
                  <a:txBody>
                    <a:bodyPr/>
                    <a:lstStyle/>
                    <a:p>
                      <a:pPr latinLnBrk="1"/>
                      <a:endParaRPr lang="ko-KR" altLang="en-US"/>
                    </a:p>
                  </a:txBody>
                  <a:tcPr/>
                </a:tc>
                <a:tc>
                  <a:txBody>
                    <a:bodyPr/>
                    <a:lstStyle/>
                    <a:p>
                      <a:pPr marL="0" marR="0" indent="0" algn="ctr" fontAlgn="base" latinLnBrk="0">
                        <a:lnSpc>
                          <a:spcPct val="130000"/>
                        </a:lnSpc>
                        <a:spcBef>
                          <a:spcPts val="0"/>
                        </a:spcBef>
                        <a:spcAft>
                          <a:spcPts val="0"/>
                        </a:spcAft>
                      </a:pPr>
                      <a:r>
                        <a:rPr lang="ko-KR" altLang="en-US" sz="1200" kern="0" spc="-100" dirty="0">
                          <a:effectLst/>
                        </a:rPr>
                        <a:t>생산</a:t>
                      </a:r>
                      <a:endParaRPr lang="ko-KR" altLang="en-US" sz="1200" kern="0" spc="-100" dirty="0">
                        <a:solidFill>
                          <a:srgbClr val="000000"/>
                        </a:solidFill>
                        <a:effectLst/>
                      </a:endParaRPr>
                    </a:p>
                  </a:txBody>
                  <a:tcPr marL="0" marR="0" marT="0" marB="0"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0" spc="-100" dirty="0">
                          <a:effectLst/>
                        </a:rPr>
                        <a:t>사용</a:t>
                      </a:r>
                      <a:endParaRPr lang="ko-KR" altLang="en-US" sz="1200" kern="0" spc="-100" dirty="0">
                        <a:solidFill>
                          <a:srgbClr val="000000"/>
                        </a:solidFill>
                        <a:effectLst/>
                      </a:endParaRPr>
                    </a:p>
                  </a:txBody>
                  <a:tcPr marL="0" marR="0" marT="0" marB="0"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0" spc="-100" dirty="0">
                          <a:effectLst/>
                        </a:rPr>
                        <a:t>양도</a:t>
                      </a:r>
                      <a:endParaRPr lang="ko-KR" altLang="en-US" sz="1200" kern="0" spc="-100" dirty="0">
                        <a:solidFill>
                          <a:srgbClr val="000000"/>
                        </a:solidFill>
                        <a:effectLst/>
                      </a:endParaRPr>
                    </a:p>
                  </a:txBody>
                  <a:tcPr marL="0" marR="0" marT="0" marB="0"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0" spc="-100" dirty="0">
                          <a:effectLst/>
                        </a:rPr>
                        <a:t>수입</a:t>
                      </a:r>
                      <a:endParaRPr lang="ko-KR" altLang="en-US" sz="1200" kern="0" spc="-100" dirty="0">
                        <a:solidFill>
                          <a:srgbClr val="000000"/>
                        </a:solidFill>
                        <a:effectLst/>
                      </a:endParaRPr>
                    </a:p>
                  </a:txBody>
                  <a:tcPr marL="0" marR="0" marT="0" marB="0"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0" spc="-100" dirty="0">
                          <a:effectLst/>
                        </a:rPr>
                        <a:t>생산</a:t>
                      </a:r>
                      <a:endParaRPr lang="ko-KR" altLang="en-US" sz="1200" kern="0" spc="-100" dirty="0">
                        <a:solidFill>
                          <a:srgbClr val="000000"/>
                        </a:solidFill>
                        <a:effectLst/>
                      </a:endParaRPr>
                    </a:p>
                  </a:txBody>
                  <a:tcPr marL="0" marR="0" marT="0" marB="0"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0" spc="-100" dirty="0">
                          <a:effectLst/>
                        </a:rPr>
                        <a:t>양도</a:t>
                      </a:r>
                      <a:endParaRPr lang="ko-KR" altLang="en-US" sz="1200" kern="0" spc="-100" dirty="0">
                        <a:solidFill>
                          <a:srgbClr val="000000"/>
                        </a:solidFill>
                        <a:effectLst/>
                      </a:endParaRPr>
                    </a:p>
                  </a:txBody>
                  <a:tcPr marL="0" marR="0" marT="0" marB="0"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0" spc="-100" dirty="0">
                          <a:effectLst/>
                        </a:rPr>
                        <a:t>수입</a:t>
                      </a:r>
                      <a:endParaRPr lang="ko-KR" altLang="en-US" sz="1200" kern="0" spc="-100" dirty="0">
                        <a:solidFill>
                          <a:srgbClr val="000000"/>
                        </a:solidFill>
                        <a:effectLst/>
                      </a:endParaRPr>
                    </a:p>
                  </a:txBody>
                  <a:tcPr marL="0" marR="0" marT="0" marB="0"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0" spc="-100" dirty="0">
                          <a:effectLst/>
                        </a:rPr>
                        <a:t>온라인 전송</a:t>
                      </a:r>
                      <a:endParaRPr lang="ko-KR" altLang="en-US" sz="1200" kern="0" spc="-100" dirty="0">
                        <a:solidFill>
                          <a:srgbClr val="000000"/>
                        </a:solidFill>
                        <a:effectLst/>
                      </a:endParaRPr>
                    </a:p>
                  </a:txBody>
                  <a:tcPr marL="0" marR="0" marT="0" marB="0" anchor="ctr">
                    <a:solidFill>
                      <a:schemeClr val="accent1">
                        <a:lumMod val="20000"/>
                        <a:lumOff val="80000"/>
                      </a:schemeClr>
                    </a:solidFill>
                  </a:tcPr>
                </a:tc>
                <a:extLst>
                  <a:ext uri="{0D108BD9-81ED-4DB2-BD59-A6C34878D82A}">
                    <a16:rowId xmlns:a16="http://schemas.microsoft.com/office/drawing/2014/main" val="2166519020"/>
                  </a:ext>
                </a:extLst>
              </a:tr>
              <a:tr h="114570">
                <a:tc>
                  <a:txBody>
                    <a:bodyPr/>
                    <a:lstStyle/>
                    <a:p>
                      <a:pPr marL="0" marR="0" indent="0" algn="ctr" fontAlgn="base" latinLnBrk="0">
                        <a:lnSpc>
                          <a:spcPct val="130000"/>
                        </a:lnSpc>
                        <a:spcBef>
                          <a:spcPts val="0"/>
                        </a:spcBef>
                        <a:spcAft>
                          <a:spcPts val="0"/>
                        </a:spcAft>
                      </a:pPr>
                      <a:r>
                        <a:rPr lang="ko-KR" altLang="en-US" sz="1200" kern="0" spc="-100">
                          <a:effectLst/>
                        </a:rPr>
                        <a:t>장치 청구항</a:t>
                      </a:r>
                      <a:endParaRPr lang="ko-KR" altLang="en-US" sz="1200" kern="0" spc="-10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ko-KR" altLang="en-US" sz="1200" kern="0" spc="-50">
                          <a:effectLst/>
                        </a:rPr>
                        <a:t>○</a:t>
                      </a:r>
                      <a:endParaRPr lang="ko-KR" alt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ko-KR" altLang="en-US" sz="1200" kern="0" spc="-50">
                          <a:effectLst/>
                        </a:rPr>
                        <a:t>○</a:t>
                      </a:r>
                      <a:endParaRPr lang="ko-KR" alt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ko-KR" altLang="en-US" sz="1200" kern="0" spc="-50" dirty="0">
                          <a:effectLst/>
                        </a:rPr>
                        <a:t>○</a:t>
                      </a:r>
                      <a:endParaRPr lang="ko-KR" altLang="en-US" sz="1200" kern="0" spc="-50" dirty="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ko-KR" altLang="en-US" sz="1200" kern="0" spc="-50" dirty="0">
                          <a:effectLst/>
                        </a:rPr>
                        <a:t>○</a:t>
                      </a:r>
                      <a:endParaRPr lang="ko-KR" altLang="en-US" sz="1200" kern="0" spc="-50" dirty="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en-US" sz="1200" kern="0" spc="-50">
                          <a:effectLst/>
                        </a:rPr>
                        <a:t>×</a:t>
                      </a:r>
                      <a:endParaRPr 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en-US" sz="1200" kern="0" spc="-50">
                          <a:effectLst/>
                        </a:rPr>
                        <a:t>×</a:t>
                      </a:r>
                      <a:endParaRPr 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en-US" sz="1200" kern="0" spc="-50">
                          <a:effectLst/>
                        </a:rPr>
                        <a:t>×</a:t>
                      </a:r>
                      <a:endParaRPr 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en-US" sz="1200" kern="0" spc="-50" dirty="0">
                          <a:effectLst/>
                        </a:rPr>
                        <a:t>×</a:t>
                      </a:r>
                      <a:endParaRPr lang="en-US" sz="1200" kern="0" spc="-50" dirty="0">
                        <a:solidFill>
                          <a:srgbClr val="000000"/>
                        </a:solidFill>
                        <a:effectLst/>
                      </a:endParaRPr>
                    </a:p>
                  </a:txBody>
                  <a:tcPr marL="0" marR="0" marT="0" marB="0" anchor="ctr"/>
                </a:tc>
                <a:extLst>
                  <a:ext uri="{0D108BD9-81ED-4DB2-BD59-A6C34878D82A}">
                    <a16:rowId xmlns:a16="http://schemas.microsoft.com/office/drawing/2014/main" val="338392347"/>
                  </a:ext>
                </a:extLst>
              </a:tr>
              <a:tr h="114570">
                <a:tc>
                  <a:txBody>
                    <a:bodyPr/>
                    <a:lstStyle/>
                    <a:p>
                      <a:pPr marL="0" marR="0" indent="0" algn="ctr" fontAlgn="base" latinLnBrk="0">
                        <a:lnSpc>
                          <a:spcPct val="130000"/>
                        </a:lnSpc>
                        <a:spcBef>
                          <a:spcPts val="0"/>
                        </a:spcBef>
                        <a:spcAft>
                          <a:spcPts val="0"/>
                        </a:spcAft>
                      </a:pPr>
                      <a:r>
                        <a:rPr lang="ko-KR" altLang="en-US" sz="1200" kern="0" spc="-100">
                          <a:effectLst/>
                        </a:rPr>
                        <a:t>기록매체 청구항</a:t>
                      </a:r>
                      <a:endParaRPr lang="ko-KR" altLang="en-US" sz="1200" kern="0" spc="-10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ko-KR" altLang="en-US" sz="1200" kern="0" spc="-50">
                          <a:effectLst/>
                        </a:rPr>
                        <a:t>△</a:t>
                      </a:r>
                      <a:endParaRPr lang="ko-KR" alt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ko-KR" altLang="en-US" sz="1200" kern="0" spc="-50">
                          <a:effectLst/>
                        </a:rPr>
                        <a:t>△</a:t>
                      </a:r>
                      <a:endParaRPr lang="ko-KR" alt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ko-KR" altLang="en-US" sz="1200" kern="0" spc="-50" dirty="0">
                          <a:effectLst/>
                        </a:rPr>
                        <a:t>△</a:t>
                      </a:r>
                      <a:endParaRPr lang="ko-KR" altLang="en-US" sz="1200" kern="0" spc="-50" dirty="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ko-KR" altLang="en-US" sz="1200" kern="0" spc="-50">
                          <a:effectLst/>
                        </a:rPr>
                        <a:t>△</a:t>
                      </a:r>
                      <a:endParaRPr lang="ko-KR" alt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ko-KR" altLang="en-US" sz="1200" kern="0" spc="-50" dirty="0">
                          <a:effectLst/>
                        </a:rPr>
                        <a:t>○</a:t>
                      </a:r>
                      <a:endParaRPr lang="ko-KR" altLang="en-US" sz="1200" kern="0" spc="-50" dirty="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ko-KR" altLang="en-US" sz="1200" kern="0" spc="-50" dirty="0">
                          <a:effectLst/>
                        </a:rPr>
                        <a:t>○</a:t>
                      </a:r>
                      <a:endParaRPr lang="ko-KR" altLang="en-US" sz="1200" kern="0" spc="-50" dirty="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ko-KR" altLang="en-US" sz="1200" kern="0" spc="-50">
                          <a:effectLst/>
                        </a:rPr>
                        <a:t>○</a:t>
                      </a:r>
                      <a:endParaRPr lang="ko-KR" alt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en-US" sz="1200" kern="0" spc="-50" dirty="0">
                          <a:effectLst/>
                        </a:rPr>
                        <a:t>×</a:t>
                      </a:r>
                      <a:endParaRPr lang="en-US" sz="1200" kern="0" spc="-50" dirty="0">
                        <a:solidFill>
                          <a:srgbClr val="000000"/>
                        </a:solidFill>
                        <a:effectLst/>
                      </a:endParaRPr>
                    </a:p>
                  </a:txBody>
                  <a:tcPr marL="0" marR="0" marT="0" marB="0" anchor="ctr"/>
                </a:tc>
                <a:extLst>
                  <a:ext uri="{0D108BD9-81ED-4DB2-BD59-A6C34878D82A}">
                    <a16:rowId xmlns:a16="http://schemas.microsoft.com/office/drawing/2014/main" val="2568346356"/>
                  </a:ext>
                </a:extLst>
              </a:tr>
              <a:tr h="114570">
                <a:tc>
                  <a:txBody>
                    <a:bodyPr/>
                    <a:lstStyle/>
                    <a:p>
                      <a:pPr marL="0" marR="0" indent="0" algn="ctr" fontAlgn="base" latinLnBrk="0">
                        <a:lnSpc>
                          <a:spcPct val="130000"/>
                        </a:lnSpc>
                        <a:spcBef>
                          <a:spcPts val="0"/>
                        </a:spcBef>
                        <a:spcAft>
                          <a:spcPts val="0"/>
                        </a:spcAft>
                      </a:pPr>
                      <a:r>
                        <a:rPr lang="ko-KR" altLang="en-US" sz="1200" kern="0" spc="-100" dirty="0">
                          <a:effectLst/>
                        </a:rPr>
                        <a:t>방법 청구항</a:t>
                      </a:r>
                      <a:endParaRPr lang="ko-KR" altLang="en-US" sz="1200" kern="0" spc="-100" dirty="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en-US" sz="1200" kern="0" spc="-50">
                          <a:effectLst/>
                        </a:rPr>
                        <a:t>×</a:t>
                      </a:r>
                      <a:endParaRPr 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ko-KR" altLang="en-US" sz="1200" kern="0" spc="-50">
                          <a:effectLst/>
                        </a:rPr>
                        <a:t>○</a:t>
                      </a:r>
                      <a:endParaRPr lang="ko-KR" alt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en-US" sz="1200" kern="0" spc="-50">
                          <a:effectLst/>
                        </a:rPr>
                        <a:t>×</a:t>
                      </a:r>
                      <a:endParaRPr 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en-US" sz="1200" kern="0" spc="-50">
                          <a:effectLst/>
                        </a:rPr>
                        <a:t>×</a:t>
                      </a:r>
                      <a:endParaRPr 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en-US" sz="1200" kern="0" spc="-50">
                          <a:effectLst/>
                        </a:rPr>
                        <a:t>×</a:t>
                      </a:r>
                      <a:endParaRPr lang="en-US" sz="1200" kern="0" spc="-5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en-US" sz="1200" kern="0" spc="-50" dirty="0">
                          <a:effectLst/>
                        </a:rPr>
                        <a:t>×</a:t>
                      </a:r>
                      <a:endParaRPr lang="en-US" sz="1200" kern="0" spc="-50" dirty="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en-US" sz="1200" kern="0" spc="-50" dirty="0">
                          <a:effectLst/>
                        </a:rPr>
                        <a:t>×</a:t>
                      </a:r>
                      <a:endParaRPr lang="en-US" sz="1200" kern="0" spc="-50" dirty="0">
                        <a:solidFill>
                          <a:srgbClr val="000000"/>
                        </a:solidFill>
                        <a:effectLst/>
                      </a:endParaRPr>
                    </a:p>
                  </a:txBody>
                  <a:tcPr marL="0" marR="0" marT="0" marB="0" anchor="ctr"/>
                </a:tc>
                <a:tc>
                  <a:txBody>
                    <a:bodyPr/>
                    <a:lstStyle/>
                    <a:p>
                      <a:pPr marL="17780" marR="17780" indent="0" algn="ctr" fontAlgn="base" latinLnBrk="0">
                        <a:lnSpc>
                          <a:spcPct val="130000"/>
                        </a:lnSpc>
                        <a:spcBef>
                          <a:spcPts val="0"/>
                        </a:spcBef>
                        <a:spcAft>
                          <a:spcPts val="0"/>
                        </a:spcAft>
                      </a:pPr>
                      <a:r>
                        <a:rPr lang="en-US" sz="1200" kern="0" spc="-50" dirty="0">
                          <a:effectLst/>
                        </a:rPr>
                        <a:t>×</a:t>
                      </a:r>
                      <a:r>
                        <a:rPr lang="en-US" altLang="ko-KR" sz="1200" kern="0" spc="-50" dirty="0">
                          <a:effectLst/>
                        </a:rPr>
                        <a:t>(</a:t>
                      </a:r>
                      <a:r>
                        <a:rPr lang="ko-KR" altLang="en-US" sz="1200" kern="0" spc="-50" dirty="0">
                          <a:effectLst/>
                        </a:rPr>
                        <a:t>개정법 </a:t>
                      </a:r>
                      <a:r>
                        <a:rPr lang="en-US" altLang="ko-KR" sz="1200" kern="0" spc="-50" dirty="0">
                          <a:effectLst/>
                        </a:rPr>
                        <a:t>O)</a:t>
                      </a:r>
                      <a:endParaRPr lang="en-US" sz="1200" kern="0" spc="-50" dirty="0">
                        <a:solidFill>
                          <a:srgbClr val="000000"/>
                        </a:solidFill>
                        <a:effectLst/>
                      </a:endParaRPr>
                    </a:p>
                  </a:txBody>
                  <a:tcPr marL="0" marR="0" marT="0" marB="0" anchor="ctr">
                    <a:solidFill>
                      <a:schemeClr val="accent4">
                        <a:lumMod val="20000"/>
                        <a:lumOff val="80000"/>
                      </a:schemeClr>
                    </a:solidFill>
                  </a:tcPr>
                </a:tc>
                <a:extLst>
                  <a:ext uri="{0D108BD9-81ED-4DB2-BD59-A6C34878D82A}">
                    <a16:rowId xmlns:a16="http://schemas.microsoft.com/office/drawing/2014/main" val="3692568646"/>
                  </a:ext>
                </a:extLst>
              </a:tr>
            </a:tbl>
          </a:graphicData>
        </a:graphic>
      </p:graphicFrame>
      <p:sp>
        <p:nvSpPr>
          <p:cNvPr id="6" name="말풍선: 모서리가 둥근 사각형 5">
            <a:extLst>
              <a:ext uri="{FF2B5EF4-FFF2-40B4-BE49-F238E27FC236}">
                <a16:creationId xmlns:a16="http://schemas.microsoft.com/office/drawing/2014/main" id="{85A417BC-30C1-2E2C-47AE-990A4B0F8986}"/>
              </a:ext>
            </a:extLst>
          </p:cNvPr>
          <p:cNvSpPr/>
          <p:nvPr/>
        </p:nvSpPr>
        <p:spPr>
          <a:xfrm>
            <a:off x="10049518" y="3032462"/>
            <a:ext cx="1611086" cy="612648"/>
          </a:xfrm>
          <a:prstGeom prst="wedgeRoundRectCallout">
            <a:avLst>
              <a:gd name="adj1" fmla="val -74887"/>
              <a:gd name="adj2" fmla="val 28740"/>
              <a:gd name="adj3" fmla="val 16667"/>
            </a:avLst>
          </a:prstGeom>
          <a:solidFill>
            <a:schemeClr val="accent2">
              <a:lumMod val="20000"/>
              <a:lumOff val="80000"/>
            </a:schemeClr>
          </a:solid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50000"/>
                  </a:schemeClr>
                </a:solidFill>
              </a:rPr>
              <a:t>제</a:t>
            </a:r>
            <a:r>
              <a:rPr lang="en-US" altLang="ko-KR" sz="1200" dirty="0">
                <a:solidFill>
                  <a:schemeClr val="bg1">
                    <a:lumMod val="50000"/>
                  </a:schemeClr>
                </a:solidFill>
              </a:rPr>
              <a:t>2</a:t>
            </a:r>
            <a:r>
              <a:rPr lang="ko-KR" altLang="en-US" sz="1200" dirty="0">
                <a:solidFill>
                  <a:schemeClr val="bg1">
                    <a:lumMod val="50000"/>
                  </a:schemeClr>
                </a:solidFill>
              </a:rPr>
              <a:t>조제</a:t>
            </a:r>
            <a:r>
              <a:rPr lang="en-US" altLang="ko-KR" sz="1200" dirty="0">
                <a:solidFill>
                  <a:schemeClr val="bg1">
                    <a:lumMod val="50000"/>
                  </a:schemeClr>
                </a:solidFill>
              </a:rPr>
              <a:t>3</a:t>
            </a:r>
            <a:r>
              <a:rPr lang="ko-KR" altLang="en-US" sz="1200" dirty="0">
                <a:solidFill>
                  <a:schemeClr val="bg1">
                    <a:lumMod val="50000"/>
                  </a:schemeClr>
                </a:solidFill>
              </a:rPr>
              <a:t>호</a:t>
            </a:r>
            <a:r>
              <a:rPr lang="en-US" altLang="ko-KR" sz="1200" dirty="0">
                <a:solidFill>
                  <a:schemeClr val="bg1">
                    <a:lumMod val="50000"/>
                  </a:schemeClr>
                </a:solidFill>
              </a:rPr>
              <a:t>(</a:t>
            </a:r>
            <a:r>
              <a:rPr lang="ko-KR" altLang="en-US" sz="1200" dirty="0">
                <a:solidFill>
                  <a:schemeClr val="bg1">
                    <a:lumMod val="50000"/>
                  </a:schemeClr>
                </a:solidFill>
              </a:rPr>
              <a:t>나</a:t>
            </a:r>
            <a:r>
              <a:rPr lang="en-US" altLang="ko-KR" sz="1200" dirty="0">
                <a:solidFill>
                  <a:schemeClr val="bg1">
                    <a:lumMod val="50000"/>
                  </a:schemeClr>
                </a:solidFill>
              </a:rPr>
              <a:t>)</a:t>
            </a:r>
            <a:r>
              <a:rPr lang="ko-KR" altLang="en-US" sz="1200" dirty="0">
                <a:solidFill>
                  <a:schemeClr val="bg1">
                    <a:lumMod val="50000"/>
                  </a:schemeClr>
                </a:solidFill>
              </a:rPr>
              <a:t>목의 개정</a:t>
            </a:r>
          </a:p>
        </p:txBody>
      </p:sp>
      <p:sp>
        <p:nvSpPr>
          <p:cNvPr id="7" name="말풍선: 모서리가 둥근 사각형 6">
            <a:extLst>
              <a:ext uri="{FF2B5EF4-FFF2-40B4-BE49-F238E27FC236}">
                <a16:creationId xmlns:a16="http://schemas.microsoft.com/office/drawing/2014/main" id="{30E6369C-BE3A-DAB4-E709-6B5CBE83ADC7}"/>
              </a:ext>
            </a:extLst>
          </p:cNvPr>
          <p:cNvSpPr/>
          <p:nvPr/>
        </p:nvSpPr>
        <p:spPr>
          <a:xfrm>
            <a:off x="10291505" y="4339641"/>
            <a:ext cx="1611086" cy="352102"/>
          </a:xfrm>
          <a:prstGeom prst="wedgeRoundRectCallout">
            <a:avLst>
              <a:gd name="adj1" fmla="val 18356"/>
              <a:gd name="adj2" fmla="val -101289"/>
              <a:gd name="adj3" fmla="val 16667"/>
            </a:avLst>
          </a:prstGeom>
          <a:solidFill>
            <a:schemeClr val="accent2">
              <a:lumMod val="20000"/>
              <a:lumOff val="80000"/>
            </a:schemeClr>
          </a:solid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50000"/>
                  </a:schemeClr>
                </a:solidFill>
              </a:rPr>
              <a:t>제</a:t>
            </a:r>
            <a:r>
              <a:rPr lang="en-US" altLang="ko-KR" sz="1200" dirty="0">
                <a:solidFill>
                  <a:schemeClr val="bg1">
                    <a:lumMod val="50000"/>
                  </a:schemeClr>
                </a:solidFill>
              </a:rPr>
              <a:t>94</a:t>
            </a:r>
            <a:r>
              <a:rPr lang="ko-KR" altLang="en-US" sz="1200" dirty="0">
                <a:solidFill>
                  <a:schemeClr val="bg1">
                    <a:lumMod val="50000"/>
                  </a:schemeClr>
                </a:solidFill>
              </a:rPr>
              <a:t>조제</a:t>
            </a:r>
            <a:r>
              <a:rPr lang="en-US" altLang="ko-KR" sz="1200" dirty="0">
                <a:solidFill>
                  <a:schemeClr val="bg1">
                    <a:lumMod val="50000"/>
                  </a:schemeClr>
                </a:solidFill>
              </a:rPr>
              <a:t>2</a:t>
            </a:r>
            <a:r>
              <a:rPr lang="ko-KR" altLang="en-US" sz="1200" dirty="0">
                <a:solidFill>
                  <a:schemeClr val="bg1">
                    <a:lumMod val="50000"/>
                  </a:schemeClr>
                </a:solidFill>
              </a:rPr>
              <a:t>항의 신설</a:t>
            </a:r>
          </a:p>
        </p:txBody>
      </p:sp>
    </p:spTree>
    <p:extLst>
      <p:ext uri="{BB962C8B-B14F-4D97-AF65-F5344CB8AC3E}">
        <p14:creationId xmlns:p14="http://schemas.microsoft.com/office/powerpoint/2010/main" val="189080205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a:t>
            </a:r>
            <a:r>
              <a:rPr lang="ko-KR" altLang="en-US" dirty="0"/>
              <a:t>조</a:t>
            </a:r>
          </a:p>
        </p:txBody>
      </p:sp>
      <p:sp>
        <p:nvSpPr>
          <p:cNvPr id="4" name="텍스트 개체 틀 3"/>
          <p:cNvSpPr>
            <a:spLocks noGrp="1"/>
          </p:cNvSpPr>
          <p:nvPr>
            <p:ph type="body" sz="quarter" idx="13"/>
          </p:nvPr>
        </p:nvSpPr>
        <p:spPr/>
        <p:txBody>
          <a:bodyPr/>
          <a:lstStyle/>
          <a:p>
            <a:r>
              <a:rPr lang="ko-KR" altLang="en-US" dirty="0"/>
              <a:t>식물발명의 특허요건 </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26</a:t>
            </a:fld>
            <a:endParaRPr lang="ko-KR" altLang="en-US"/>
          </a:p>
        </p:txBody>
      </p:sp>
      <p:sp>
        <p:nvSpPr>
          <p:cNvPr id="5" name="TextBox 4"/>
          <p:cNvSpPr txBox="1"/>
          <p:nvPr/>
        </p:nvSpPr>
        <p:spPr>
          <a:xfrm>
            <a:off x="77875" y="986046"/>
            <a:ext cx="11936323" cy="954107"/>
          </a:xfrm>
          <a:prstGeom prst="rect">
            <a:avLst/>
          </a:prstGeom>
          <a:noFill/>
        </p:spPr>
        <p:txBody>
          <a:bodyPr wrap="square" rtlCol="0">
            <a:spAutoFit/>
          </a:bodyPr>
          <a:lstStyle/>
          <a:p>
            <a:pPr fontAlgn="base"/>
            <a:r>
              <a:rPr lang="en-US" altLang="ko-KR" sz="1400" dirty="0">
                <a:highlight>
                  <a:srgbClr val="FFFF00"/>
                </a:highlight>
              </a:rPr>
              <a:t>WTO/TRIPs </a:t>
            </a:r>
            <a:r>
              <a:rPr lang="ko-KR" altLang="en-US" sz="1400" dirty="0">
                <a:highlight>
                  <a:srgbClr val="FFFF00"/>
                </a:highlight>
              </a:rPr>
              <a:t>제</a:t>
            </a:r>
            <a:r>
              <a:rPr lang="en-US" altLang="ko-KR" sz="1400" dirty="0">
                <a:highlight>
                  <a:srgbClr val="FFFF00"/>
                </a:highlight>
              </a:rPr>
              <a:t>27</a:t>
            </a:r>
            <a:r>
              <a:rPr lang="ko-KR" altLang="en-US" sz="1400" dirty="0">
                <a:highlight>
                  <a:srgbClr val="FFFF00"/>
                </a:highlight>
              </a:rPr>
              <a:t>조제</a:t>
            </a:r>
            <a:r>
              <a:rPr lang="en-US" altLang="ko-KR" sz="1400" dirty="0">
                <a:highlight>
                  <a:srgbClr val="FFFF00"/>
                </a:highlight>
              </a:rPr>
              <a:t>3</a:t>
            </a:r>
            <a:r>
              <a:rPr lang="ko-KR" altLang="en-US" sz="1400" dirty="0">
                <a:highlight>
                  <a:srgbClr val="FFFF00"/>
                </a:highlight>
              </a:rPr>
              <a:t>항의 규정에서는 식물변종의 발명에 관해서는 </a:t>
            </a:r>
            <a:r>
              <a:rPr lang="ko-KR" altLang="en-US" sz="1400" dirty="0" err="1">
                <a:highlight>
                  <a:srgbClr val="FFFF00"/>
                </a:highlight>
              </a:rPr>
              <a:t>불특허대상으로</a:t>
            </a:r>
            <a:r>
              <a:rPr lang="ko-KR" altLang="en-US" sz="1400" dirty="0">
                <a:highlight>
                  <a:srgbClr val="FFFF00"/>
                </a:highlight>
              </a:rPr>
              <a:t> 할 수 </a:t>
            </a:r>
            <a:r>
              <a:rPr lang="ko-KR" altLang="en-US" sz="1400" dirty="0" err="1">
                <a:highlight>
                  <a:srgbClr val="FFFF00"/>
                </a:highlight>
              </a:rPr>
              <a:t>있되</a:t>
            </a:r>
            <a:r>
              <a:rPr lang="ko-KR" altLang="en-US" sz="1400" dirty="0">
                <a:highlight>
                  <a:srgbClr val="FFFF00"/>
                </a:highlight>
              </a:rPr>
              <a:t> 이를 </a:t>
            </a:r>
            <a:r>
              <a:rPr lang="ko-KR" altLang="en-US" sz="1400" dirty="0" err="1">
                <a:highlight>
                  <a:srgbClr val="FFFF00"/>
                </a:highlight>
              </a:rPr>
              <a:t>불특허대상으로</a:t>
            </a:r>
            <a:r>
              <a:rPr lang="ko-KR" altLang="en-US" sz="1400" dirty="0">
                <a:highlight>
                  <a:srgbClr val="FFFF00"/>
                </a:highlight>
              </a:rPr>
              <a:t> 한 경우에는 특별법으로 보호하여야 함을 의무화하고 있다</a:t>
            </a:r>
            <a:r>
              <a:rPr lang="en-US" altLang="ko-KR" sz="1400" dirty="0">
                <a:highlight>
                  <a:srgbClr val="FFFF00"/>
                </a:highlight>
              </a:rPr>
              <a:t>.</a:t>
            </a:r>
            <a:r>
              <a:rPr lang="en-US" altLang="ko-KR" sz="1400" dirty="0">
                <a:solidFill>
                  <a:srgbClr val="FF0000"/>
                </a:solidFill>
              </a:rPr>
              <a:t> </a:t>
            </a:r>
            <a:r>
              <a:rPr lang="ko-KR" altLang="en-US" sz="1400" dirty="0"/>
              <a:t>이에 </a:t>
            </a:r>
            <a:r>
              <a:rPr lang="ko-KR" altLang="en-US" sz="1400" dirty="0">
                <a:solidFill>
                  <a:schemeClr val="tx2"/>
                </a:solidFill>
              </a:rPr>
              <a:t>구법 제</a:t>
            </a:r>
            <a:r>
              <a:rPr lang="en-US" altLang="ko-KR" sz="1400" dirty="0">
                <a:solidFill>
                  <a:schemeClr val="tx2"/>
                </a:solidFill>
              </a:rPr>
              <a:t>31</a:t>
            </a:r>
            <a:r>
              <a:rPr lang="ko-KR" altLang="en-US" sz="1400" dirty="0">
                <a:solidFill>
                  <a:schemeClr val="tx2"/>
                </a:solidFill>
              </a:rPr>
              <a:t>조에서는 </a:t>
            </a:r>
            <a:r>
              <a:rPr lang="ko-KR" altLang="en-US" sz="1400" dirty="0">
                <a:highlight>
                  <a:srgbClr val="FFFF00"/>
                </a:highlight>
              </a:rPr>
              <a:t>“무성적으로 </a:t>
            </a:r>
            <a:r>
              <a:rPr lang="ko-KR" altLang="en-US" sz="1400" dirty="0" err="1">
                <a:highlight>
                  <a:srgbClr val="FFFF00"/>
                </a:highlight>
              </a:rPr>
              <a:t>반복생식할</a:t>
            </a:r>
            <a:r>
              <a:rPr lang="ko-KR" altLang="en-US" sz="1400" dirty="0">
                <a:highlight>
                  <a:srgbClr val="FFFF00"/>
                </a:highlight>
              </a:rPr>
              <a:t> 수 있는 변종식물을 발명한 자는 그 발명에 대하여 특허를 받을 수 있다</a:t>
            </a:r>
            <a:r>
              <a:rPr lang="en-US" altLang="ko-KR" sz="1400" dirty="0">
                <a:highlight>
                  <a:srgbClr val="FFFF00"/>
                </a:highlight>
              </a:rPr>
              <a:t>."</a:t>
            </a:r>
            <a:r>
              <a:rPr lang="ko-KR" altLang="en-US" sz="1400" dirty="0">
                <a:solidFill>
                  <a:schemeClr val="tx2"/>
                </a:solidFill>
              </a:rPr>
              <a:t>고 규정하는 한편</a:t>
            </a:r>
            <a:r>
              <a:rPr lang="en-US" altLang="ko-KR" sz="1400" dirty="0">
                <a:solidFill>
                  <a:schemeClr val="tx2"/>
                </a:solidFill>
              </a:rPr>
              <a:t>, </a:t>
            </a:r>
            <a:r>
              <a:rPr lang="ko-KR" altLang="en-US" sz="1400" dirty="0">
                <a:solidFill>
                  <a:schemeClr val="tx2"/>
                </a:solidFill>
              </a:rPr>
              <a:t>식물신품종 보호법에 의하여 식물품종을 보호하고 있었다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현대 과학기술의 발달에 따라 유성번식식물이라도 </a:t>
            </a:r>
            <a:r>
              <a:rPr lang="ko-KR" altLang="en-US" sz="1400" dirty="0">
                <a:highlight>
                  <a:srgbClr val="FFFF00"/>
                </a:highlight>
              </a:rPr>
              <a:t>유전공학적 방법으로 </a:t>
            </a:r>
            <a:r>
              <a:rPr lang="ko-KR" altLang="en-US" sz="1400" dirty="0" err="1">
                <a:highlight>
                  <a:srgbClr val="FFFF00"/>
                </a:highlight>
              </a:rPr>
              <a:t>반복생식할</a:t>
            </a:r>
            <a:r>
              <a:rPr lang="ko-KR" altLang="en-US" sz="1400" dirty="0">
                <a:highlight>
                  <a:srgbClr val="FFFF00"/>
                </a:highlight>
              </a:rPr>
              <a:t> 수 있다면 특허법의 테두리 안에서 보호할 필요</a:t>
            </a:r>
            <a:r>
              <a:rPr lang="ko-KR" altLang="en-US" sz="1400" dirty="0">
                <a:solidFill>
                  <a:schemeClr val="tx2"/>
                </a:solidFill>
              </a:rPr>
              <a:t>가 있기 때문에 </a:t>
            </a:r>
            <a:r>
              <a:rPr lang="en-US" altLang="ko-KR" sz="1400" dirty="0">
                <a:solidFill>
                  <a:schemeClr val="tx2"/>
                </a:solidFill>
              </a:rPr>
              <a:t>2006. 10. 1. </a:t>
            </a:r>
            <a:r>
              <a:rPr lang="ko-KR" altLang="en-US" sz="1400" dirty="0">
                <a:solidFill>
                  <a:schemeClr val="tx2"/>
                </a:solidFill>
              </a:rPr>
              <a:t>시행된 현행법</a:t>
            </a:r>
            <a:r>
              <a:rPr lang="en-US" altLang="ko-KR" sz="1400" dirty="0">
                <a:solidFill>
                  <a:schemeClr val="tx2"/>
                </a:solidFill>
              </a:rPr>
              <a:t>(</a:t>
            </a:r>
            <a:r>
              <a:rPr lang="ko-KR" altLang="en-US" sz="1400" dirty="0">
                <a:solidFill>
                  <a:schemeClr val="tx2"/>
                </a:solidFill>
              </a:rPr>
              <a:t>法律 제</a:t>
            </a:r>
            <a:r>
              <a:rPr lang="en-US" altLang="ko-KR" sz="1400" dirty="0">
                <a:solidFill>
                  <a:schemeClr val="tx2"/>
                </a:solidFill>
              </a:rPr>
              <a:t>7871</a:t>
            </a:r>
            <a:r>
              <a:rPr lang="ko-KR" altLang="en-US" sz="1400" dirty="0">
                <a:solidFill>
                  <a:schemeClr val="tx2"/>
                </a:solidFill>
              </a:rPr>
              <a:t>호</a:t>
            </a:r>
            <a:r>
              <a:rPr lang="en-US" altLang="ko-KR" sz="1400" dirty="0">
                <a:solidFill>
                  <a:schemeClr val="tx2"/>
                </a:solidFill>
              </a:rPr>
              <a:t>, 2006. 3. 3. </a:t>
            </a:r>
            <a:r>
              <a:rPr lang="ko-KR" altLang="en-US" sz="1400" dirty="0">
                <a:solidFill>
                  <a:schemeClr val="tx2"/>
                </a:solidFill>
              </a:rPr>
              <a:t>개정</a:t>
            </a:r>
            <a:r>
              <a:rPr lang="en-US" altLang="ko-KR" sz="1400" dirty="0">
                <a:solidFill>
                  <a:schemeClr val="tx2"/>
                </a:solidFill>
              </a:rPr>
              <a:t>)</a:t>
            </a:r>
            <a:r>
              <a:rPr lang="ko-KR" altLang="en-US" sz="1400" dirty="0">
                <a:solidFill>
                  <a:schemeClr val="tx2"/>
                </a:solidFill>
              </a:rPr>
              <a:t>에서는 제</a:t>
            </a:r>
            <a:r>
              <a:rPr lang="en-US" altLang="ko-KR" sz="1400" dirty="0">
                <a:solidFill>
                  <a:schemeClr val="tx2"/>
                </a:solidFill>
              </a:rPr>
              <a:t>31</a:t>
            </a:r>
            <a:r>
              <a:rPr lang="ko-KR" altLang="en-US" sz="1400" dirty="0">
                <a:solidFill>
                  <a:schemeClr val="tx2"/>
                </a:solidFill>
              </a:rPr>
              <a:t>조를 삭제하였다</a:t>
            </a:r>
            <a:r>
              <a:rPr lang="en-US" altLang="ko-KR" sz="1400" dirty="0">
                <a:solidFill>
                  <a:schemeClr val="tx2"/>
                </a:solidFill>
              </a:rPr>
              <a:t>.</a:t>
            </a:r>
          </a:p>
        </p:txBody>
      </p:sp>
      <p:cxnSp>
        <p:nvCxnSpPr>
          <p:cNvPr id="6" name="직선 연결선 5"/>
          <p:cNvCxnSpPr/>
          <p:nvPr/>
        </p:nvCxnSpPr>
        <p:spPr>
          <a:xfrm>
            <a:off x="0" y="194067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9" name="표 8"/>
          <p:cNvGraphicFramePr>
            <a:graphicFrameLocks noGrp="1"/>
          </p:cNvGraphicFramePr>
          <p:nvPr>
            <p:extLst>
              <p:ext uri="{D42A27DB-BD31-4B8C-83A1-F6EECF244321}">
                <p14:modId xmlns:p14="http://schemas.microsoft.com/office/powerpoint/2010/main" val="1215550417"/>
              </p:ext>
            </p:extLst>
          </p:nvPr>
        </p:nvGraphicFramePr>
        <p:xfrm>
          <a:off x="1016001" y="2900891"/>
          <a:ext cx="10071104" cy="2633132"/>
        </p:xfrm>
        <a:graphic>
          <a:graphicData uri="http://schemas.openxmlformats.org/drawingml/2006/table">
            <a:tbl>
              <a:tblPr firstRow="1" bandRow="1">
                <a:tableStyleId>{BC89EF96-8CEA-46FF-86C4-4CE0E7609802}</a:tableStyleId>
              </a:tblPr>
              <a:tblGrid>
                <a:gridCol w="1258888">
                  <a:extLst>
                    <a:ext uri="{9D8B030D-6E8A-4147-A177-3AD203B41FA5}">
                      <a16:colId xmlns:a16="http://schemas.microsoft.com/office/drawing/2014/main" val="20000"/>
                    </a:ext>
                  </a:extLst>
                </a:gridCol>
                <a:gridCol w="1258888">
                  <a:extLst>
                    <a:ext uri="{9D8B030D-6E8A-4147-A177-3AD203B41FA5}">
                      <a16:colId xmlns:a16="http://schemas.microsoft.com/office/drawing/2014/main" val="20001"/>
                    </a:ext>
                  </a:extLst>
                </a:gridCol>
                <a:gridCol w="2517776">
                  <a:extLst>
                    <a:ext uri="{9D8B030D-6E8A-4147-A177-3AD203B41FA5}">
                      <a16:colId xmlns:a16="http://schemas.microsoft.com/office/drawing/2014/main" val="20002"/>
                    </a:ext>
                  </a:extLst>
                </a:gridCol>
                <a:gridCol w="2517776">
                  <a:extLst>
                    <a:ext uri="{9D8B030D-6E8A-4147-A177-3AD203B41FA5}">
                      <a16:colId xmlns:a16="http://schemas.microsoft.com/office/drawing/2014/main" val="20003"/>
                    </a:ext>
                  </a:extLst>
                </a:gridCol>
                <a:gridCol w="2517776">
                  <a:extLst>
                    <a:ext uri="{9D8B030D-6E8A-4147-A177-3AD203B41FA5}">
                      <a16:colId xmlns:a16="http://schemas.microsoft.com/office/drawing/2014/main" val="20004"/>
                    </a:ext>
                  </a:extLst>
                </a:gridCol>
              </a:tblGrid>
              <a:tr h="658283">
                <a:tc gridSpan="2">
                  <a:txBody>
                    <a:bodyPr/>
                    <a:lstStyle/>
                    <a:p>
                      <a:pPr algn="ctr" latinLnBrk="1"/>
                      <a:r>
                        <a:rPr lang="ko-KR" altLang="en-US" sz="1400" dirty="0"/>
                        <a:t>특허법상 보호</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a:txBody>
                    <a:bodyPr/>
                    <a:lstStyle/>
                    <a:p>
                      <a:pPr algn="ctr" latinLnBrk="1"/>
                      <a:r>
                        <a:rPr lang="ko-KR" altLang="en-US" sz="1400" dirty="0"/>
                        <a:t>유성</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400" dirty="0"/>
                        <a:t>무성</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400" dirty="0"/>
                        <a:t>비고</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658283">
                <a:tc gridSpan="2">
                  <a:txBody>
                    <a:bodyPr/>
                    <a:lstStyle/>
                    <a:p>
                      <a:pPr algn="ctr" latinLnBrk="1"/>
                      <a:r>
                        <a:rPr lang="ko-KR" altLang="en-US" sz="1400" dirty="0"/>
                        <a:t>동물발명</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latinLnBrk="1"/>
                      <a:endParaRPr lang="ko-KR" altLang="en-US"/>
                    </a:p>
                  </a:txBody>
                  <a:tcPr/>
                </a:tc>
                <a:tc>
                  <a:txBody>
                    <a:bodyPr/>
                    <a:lstStyle/>
                    <a:p>
                      <a:pPr algn="ctr" latinLnBrk="1"/>
                      <a:r>
                        <a:rPr lang="ko-KR" altLang="en-US" sz="1400" dirty="0"/>
                        <a:t>보호</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1"/>
                      <a:r>
                        <a:rPr lang="ko-KR" altLang="en-US" sz="1400" dirty="0"/>
                        <a:t>보호</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1"/>
                      <a:endParaRPr lang="ko-KR" altLang="en-US" sz="14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658283">
                <a:tc rowSpan="2">
                  <a:txBody>
                    <a:bodyPr/>
                    <a:lstStyle/>
                    <a:p>
                      <a:pPr algn="ctr" latinLnBrk="1"/>
                      <a:r>
                        <a:rPr lang="ko-KR" altLang="en-US" sz="1400" dirty="0"/>
                        <a:t>식물발명</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latinLnBrk="1"/>
                      <a:r>
                        <a:rPr lang="ko-KR" altLang="en-US" sz="1400" dirty="0"/>
                        <a:t>구법</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latinLnBrk="1"/>
                      <a:r>
                        <a:rPr lang="ko-KR" altLang="en-US" sz="1400" dirty="0"/>
                        <a:t>비보호</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ctr" latinLnBrk="1"/>
                      <a:r>
                        <a:rPr lang="ko-KR" altLang="en-US" sz="1400" dirty="0"/>
                        <a:t>보호</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algn="ctr" latinLnBrk="1"/>
                      <a:r>
                        <a:rPr lang="ko-KR" altLang="en-US" sz="1400" dirty="0"/>
                        <a:t>식물신품종 보호법에 </a:t>
                      </a:r>
                      <a:endParaRPr lang="en-US" altLang="ko-KR" sz="1400" dirty="0"/>
                    </a:p>
                    <a:p>
                      <a:pPr algn="ctr" latinLnBrk="1"/>
                      <a:r>
                        <a:rPr lang="ko-KR" altLang="en-US" sz="1400" dirty="0"/>
                        <a:t>의하여 보호</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658283">
                <a:tc vMerge="1">
                  <a:txBody>
                    <a:bodyPr/>
                    <a:lstStyle/>
                    <a:p>
                      <a:pPr latinLnBrk="1"/>
                      <a:endParaRPr lang="ko-KR" altLang="en-US"/>
                    </a:p>
                  </a:txBody>
                  <a:tcPr/>
                </a:tc>
                <a:tc>
                  <a:txBody>
                    <a:bodyPr/>
                    <a:lstStyle/>
                    <a:p>
                      <a:pPr algn="ctr" latinLnBrk="1"/>
                      <a:r>
                        <a:rPr lang="ko-KR" altLang="en-US" sz="1400" dirty="0"/>
                        <a:t>현행법</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1"/>
                      <a:r>
                        <a:rPr lang="ko-KR" altLang="en-US" sz="1400" dirty="0"/>
                        <a:t>보호</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latinLnBrk="1"/>
                      <a:r>
                        <a:rPr lang="ko-KR" altLang="en-US" sz="1400" dirty="0"/>
                        <a:t>보호</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latinLnBrk="1"/>
                      <a:endParaRPr lang="ko-KR" altLang="en-US" sz="140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6504896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발명의 분류 </a:t>
            </a:r>
          </a:p>
        </p:txBody>
      </p:sp>
      <p:sp>
        <p:nvSpPr>
          <p:cNvPr id="7" name="슬라이드 번호 개체 틀 6"/>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27</a:t>
            </a:fld>
            <a:endParaRPr lang="ko-KR" altLang="en-US"/>
          </a:p>
        </p:txBody>
      </p:sp>
      <p:sp>
        <p:nvSpPr>
          <p:cNvPr id="5" name="TextBox 4"/>
          <p:cNvSpPr txBox="1"/>
          <p:nvPr/>
        </p:nvSpPr>
        <p:spPr>
          <a:xfrm>
            <a:off x="77875" y="986046"/>
            <a:ext cx="11936323" cy="954107"/>
          </a:xfrm>
          <a:prstGeom prst="rect">
            <a:avLst/>
          </a:prstGeom>
          <a:noFill/>
        </p:spPr>
        <p:txBody>
          <a:bodyPr wrap="square" rtlCol="0">
            <a:spAutoFit/>
          </a:bodyPr>
          <a:lstStyle/>
          <a:p>
            <a:pPr fontAlgn="base"/>
            <a:r>
              <a:rPr lang="ko-KR" altLang="en-US" sz="1400" dirty="0">
                <a:solidFill>
                  <a:schemeClr val="tx2"/>
                </a:solidFill>
              </a:rPr>
              <a:t>물건발명과 방법발명의 구별은 발명의 명칭이나 청구범위의 표현에 따라 결정되는 것이 아니라 발명의 실체에 따라 정하여진다</a:t>
            </a:r>
            <a:r>
              <a:rPr lang="en-US" altLang="ko-KR" sz="1400" dirty="0">
                <a:solidFill>
                  <a:schemeClr val="tx2"/>
                </a:solidFill>
              </a:rPr>
              <a:t>. </a:t>
            </a:r>
            <a:r>
              <a:rPr lang="ko-KR" altLang="en-US" sz="1400" dirty="0">
                <a:solidFill>
                  <a:schemeClr val="tx2"/>
                </a:solidFill>
              </a:rPr>
              <a:t>구체적으로 발명의 실체가 </a:t>
            </a:r>
            <a:r>
              <a:rPr lang="ko-KR" altLang="en-US" sz="1400" dirty="0">
                <a:highlight>
                  <a:srgbClr val="FFFF00"/>
                </a:highlight>
              </a:rPr>
              <a:t>「時의 요소」를 발명구성상의 필수요건으로 하는 때에는 방법발명으로 보고</a:t>
            </a:r>
            <a:r>
              <a:rPr lang="en-US" altLang="ko-KR" sz="1400" dirty="0">
                <a:highlight>
                  <a:srgbClr val="FFFF00"/>
                </a:highlight>
              </a:rPr>
              <a:t>, </a:t>
            </a:r>
            <a:r>
              <a:rPr lang="ko-KR" altLang="en-US" sz="1400" dirty="0">
                <a:highlight>
                  <a:srgbClr val="FFFF00"/>
                </a:highlight>
              </a:rPr>
              <a:t>이와 같은 時의 요소를 필요로 하지 아니한 것일 때에는 물건발명으로 보는 것</a:t>
            </a:r>
            <a:r>
              <a:rPr lang="ko-KR" altLang="en-US" sz="1400" dirty="0">
                <a:solidFill>
                  <a:schemeClr val="tx2"/>
                </a:solidFill>
              </a:rPr>
              <a:t>이 원칙이다</a:t>
            </a:r>
            <a:r>
              <a:rPr lang="en-US" altLang="ko-KR" sz="1400" dirty="0">
                <a:solidFill>
                  <a:schemeClr val="tx2"/>
                </a:solidFill>
              </a:rPr>
              <a:t>. </a:t>
            </a:r>
            <a:r>
              <a:rPr lang="ko-KR" altLang="en-US" sz="1400" dirty="0">
                <a:solidFill>
                  <a:schemeClr val="tx2"/>
                </a:solidFill>
              </a:rPr>
              <a:t>예를 들어</a:t>
            </a:r>
            <a:r>
              <a:rPr lang="en-US" altLang="ko-KR" sz="1400" dirty="0">
                <a:solidFill>
                  <a:schemeClr val="tx2"/>
                </a:solidFill>
              </a:rPr>
              <a:t>, </a:t>
            </a:r>
            <a:r>
              <a:rPr lang="ko-KR" altLang="en-US" sz="1400" dirty="0">
                <a:solidFill>
                  <a:schemeClr val="tx2"/>
                </a:solidFill>
              </a:rPr>
              <a:t>「</a:t>
            </a:r>
            <a:r>
              <a:rPr lang="en-US" altLang="ko-KR" sz="1400" dirty="0">
                <a:solidFill>
                  <a:schemeClr val="tx2"/>
                </a:solidFill>
              </a:rPr>
              <a:t>A </a:t>
            </a:r>
            <a:r>
              <a:rPr lang="ko-KR" altLang="en-US" sz="1400" dirty="0">
                <a:solidFill>
                  <a:schemeClr val="tx2"/>
                </a:solidFill>
              </a:rPr>
              <a:t>와 </a:t>
            </a:r>
            <a:r>
              <a:rPr lang="en-US" altLang="ko-KR" sz="1400" dirty="0">
                <a:solidFill>
                  <a:schemeClr val="tx2"/>
                </a:solidFill>
              </a:rPr>
              <a:t>B </a:t>
            </a:r>
            <a:r>
              <a:rPr lang="ko-KR" altLang="en-US" sz="1400" dirty="0">
                <a:solidFill>
                  <a:schemeClr val="tx2"/>
                </a:solidFill>
              </a:rPr>
              <a:t>로 구성된 것을 특징으로 하는 물건」과 「</a:t>
            </a:r>
            <a:r>
              <a:rPr lang="en-US" altLang="ko-KR" sz="1400" dirty="0">
                <a:solidFill>
                  <a:schemeClr val="tx2"/>
                </a:solidFill>
              </a:rPr>
              <a:t>B </a:t>
            </a:r>
            <a:r>
              <a:rPr lang="ko-KR" altLang="en-US" sz="1400" dirty="0">
                <a:solidFill>
                  <a:schemeClr val="tx2"/>
                </a:solidFill>
              </a:rPr>
              <a:t>와 </a:t>
            </a:r>
            <a:r>
              <a:rPr lang="en-US" altLang="ko-KR" sz="1400" dirty="0">
                <a:solidFill>
                  <a:schemeClr val="tx2"/>
                </a:solidFill>
              </a:rPr>
              <a:t>A </a:t>
            </a:r>
            <a:r>
              <a:rPr lang="ko-KR" altLang="en-US" sz="1400" dirty="0">
                <a:solidFill>
                  <a:schemeClr val="tx2"/>
                </a:solidFill>
              </a:rPr>
              <a:t>로 구성된 것을 특징으로 하는 물건」은 동일한 물건발명이지만</a:t>
            </a:r>
            <a:r>
              <a:rPr lang="en-US" altLang="ko-KR" sz="1400" dirty="0">
                <a:solidFill>
                  <a:schemeClr val="tx2"/>
                </a:solidFill>
              </a:rPr>
              <a:t>, </a:t>
            </a:r>
            <a:r>
              <a:rPr lang="ko-KR" altLang="en-US" sz="1400" dirty="0">
                <a:solidFill>
                  <a:schemeClr val="tx2"/>
                </a:solidFill>
              </a:rPr>
              <a:t>「</a:t>
            </a:r>
            <a:r>
              <a:rPr lang="en-US" altLang="ko-KR" sz="1400" dirty="0">
                <a:solidFill>
                  <a:schemeClr val="tx2"/>
                </a:solidFill>
              </a:rPr>
              <a:t>X </a:t>
            </a:r>
            <a:r>
              <a:rPr lang="ko-KR" altLang="en-US" sz="1400" dirty="0">
                <a:solidFill>
                  <a:schemeClr val="tx2"/>
                </a:solidFill>
              </a:rPr>
              <a:t>공정 후 </a:t>
            </a:r>
            <a:r>
              <a:rPr lang="en-US" altLang="ko-KR" sz="1400" dirty="0">
                <a:solidFill>
                  <a:schemeClr val="tx2"/>
                </a:solidFill>
              </a:rPr>
              <a:t>Y </a:t>
            </a:r>
            <a:r>
              <a:rPr lang="ko-KR" altLang="en-US" sz="1400" dirty="0">
                <a:solidFill>
                  <a:schemeClr val="tx2"/>
                </a:solidFill>
              </a:rPr>
              <a:t>공정을 거치는 물건의 제조방법」과 「</a:t>
            </a:r>
            <a:r>
              <a:rPr lang="en-US" altLang="ko-KR" sz="1400" dirty="0">
                <a:solidFill>
                  <a:schemeClr val="tx2"/>
                </a:solidFill>
              </a:rPr>
              <a:t>Y </a:t>
            </a:r>
            <a:r>
              <a:rPr lang="ko-KR" altLang="en-US" sz="1400" dirty="0">
                <a:solidFill>
                  <a:schemeClr val="tx2"/>
                </a:solidFill>
              </a:rPr>
              <a:t>공정 후 </a:t>
            </a:r>
            <a:r>
              <a:rPr lang="en-US" altLang="ko-KR" sz="1400" dirty="0">
                <a:solidFill>
                  <a:schemeClr val="tx2"/>
                </a:solidFill>
              </a:rPr>
              <a:t>X </a:t>
            </a:r>
            <a:r>
              <a:rPr lang="ko-KR" altLang="en-US" sz="1400" dirty="0">
                <a:solidFill>
                  <a:schemeClr val="tx2"/>
                </a:solidFill>
              </a:rPr>
              <a:t>공정을 거치는 물건의 제조방법」은 구성요소 사이의 時의 흐름이 변화되었기 때문에 동일한 방법발명이라 할 수 없다</a:t>
            </a:r>
            <a:r>
              <a:rPr lang="en-US" altLang="ko-KR" sz="1400" dirty="0">
                <a:solidFill>
                  <a:schemeClr val="tx2"/>
                </a:solidFill>
              </a:rPr>
              <a:t>.</a:t>
            </a:r>
          </a:p>
        </p:txBody>
      </p:sp>
      <p:cxnSp>
        <p:nvCxnSpPr>
          <p:cNvPr id="6" name="직선 연결선 5"/>
          <p:cNvCxnSpPr/>
          <p:nvPr/>
        </p:nvCxnSpPr>
        <p:spPr>
          <a:xfrm>
            <a:off x="0" y="194067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직사각형 1"/>
          <p:cNvSpPr/>
          <p:nvPr/>
        </p:nvSpPr>
        <p:spPr>
          <a:xfrm>
            <a:off x="371475" y="4238625"/>
            <a:ext cx="476250"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발명</a:t>
            </a:r>
          </a:p>
        </p:txBody>
      </p:sp>
      <p:sp>
        <p:nvSpPr>
          <p:cNvPr id="8" name="직사각형 7"/>
          <p:cNvSpPr/>
          <p:nvPr/>
        </p:nvSpPr>
        <p:spPr>
          <a:xfrm>
            <a:off x="1276350" y="3095625"/>
            <a:ext cx="476250" cy="68580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물건발명</a:t>
            </a:r>
            <a:endParaRPr lang="en-US" altLang="ko-KR" sz="1200" dirty="0">
              <a:solidFill>
                <a:schemeClr val="tx1"/>
              </a:solidFill>
            </a:endParaRPr>
          </a:p>
          <a:p>
            <a:pPr algn="ctr"/>
            <a:r>
              <a:rPr lang="en-US" altLang="ko-KR" sz="1200" dirty="0">
                <a:solidFill>
                  <a:srgbClr val="FF0000"/>
                </a:solidFill>
              </a:rPr>
              <a:t>(A)</a:t>
            </a:r>
            <a:endParaRPr lang="ko-KR" altLang="en-US" sz="1200" dirty="0">
              <a:solidFill>
                <a:srgbClr val="FF0000"/>
              </a:solidFill>
            </a:endParaRPr>
          </a:p>
        </p:txBody>
      </p:sp>
      <p:sp>
        <p:nvSpPr>
          <p:cNvPr id="10" name="직사각형 9"/>
          <p:cNvSpPr/>
          <p:nvPr/>
        </p:nvSpPr>
        <p:spPr>
          <a:xfrm>
            <a:off x="1276350" y="5326197"/>
            <a:ext cx="476250" cy="68235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방법</a:t>
            </a:r>
            <a:endParaRPr lang="en-US" altLang="ko-KR" sz="1200" dirty="0">
              <a:solidFill>
                <a:schemeClr val="tx1"/>
              </a:solidFill>
            </a:endParaRPr>
          </a:p>
          <a:p>
            <a:pPr algn="ctr"/>
            <a:r>
              <a:rPr lang="ko-KR" altLang="en-US" sz="1200" dirty="0">
                <a:solidFill>
                  <a:schemeClr val="tx1"/>
                </a:solidFill>
              </a:rPr>
              <a:t>발명</a:t>
            </a:r>
            <a:endParaRPr lang="en-US" altLang="ko-KR" sz="1200" dirty="0">
              <a:solidFill>
                <a:schemeClr val="tx1"/>
              </a:solidFill>
            </a:endParaRPr>
          </a:p>
          <a:p>
            <a:pPr algn="ctr"/>
            <a:r>
              <a:rPr lang="en-US" altLang="ko-KR" sz="1200" dirty="0">
                <a:solidFill>
                  <a:srgbClr val="FF0000"/>
                </a:solidFill>
              </a:rPr>
              <a:t>(B)</a:t>
            </a:r>
            <a:endParaRPr lang="ko-KR" altLang="en-US" sz="1200" dirty="0">
              <a:solidFill>
                <a:srgbClr val="FF0000"/>
              </a:solidFill>
            </a:endParaRPr>
          </a:p>
        </p:txBody>
      </p:sp>
      <p:sp>
        <p:nvSpPr>
          <p:cNvPr id="11" name="직사각형 10"/>
          <p:cNvSpPr/>
          <p:nvPr/>
        </p:nvSpPr>
        <p:spPr>
          <a:xfrm>
            <a:off x="2257424" y="2419790"/>
            <a:ext cx="2314576" cy="40913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협의의 물건발명</a:t>
            </a:r>
            <a:r>
              <a:rPr lang="en-US" altLang="ko-KR" sz="1200" dirty="0">
                <a:solidFill>
                  <a:srgbClr val="FF0000"/>
                </a:solidFill>
              </a:rPr>
              <a:t>(A1)</a:t>
            </a:r>
          </a:p>
          <a:p>
            <a:pPr algn="ctr"/>
            <a:r>
              <a:rPr lang="en-US" altLang="ko-KR" sz="1050" dirty="0">
                <a:solidFill>
                  <a:schemeClr val="tx1"/>
                </a:solidFill>
              </a:rPr>
              <a:t>(</a:t>
            </a:r>
            <a:r>
              <a:rPr lang="ko-KR" altLang="en-US" sz="1050" dirty="0">
                <a:solidFill>
                  <a:schemeClr val="tx1"/>
                </a:solidFill>
              </a:rPr>
              <a:t>기계</a:t>
            </a:r>
            <a:r>
              <a:rPr lang="en-US" altLang="ko-KR" sz="1050" dirty="0">
                <a:solidFill>
                  <a:schemeClr val="tx1"/>
                </a:solidFill>
              </a:rPr>
              <a:t>, </a:t>
            </a:r>
            <a:r>
              <a:rPr lang="ko-KR" altLang="en-US" sz="1050" dirty="0">
                <a:solidFill>
                  <a:schemeClr val="tx1"/>
                </a:solidFill>
              </a:rPr>
              <a:t>기구</a:t>
            </a:r>
            <a:r>
              <a:rPr lang="en-US" altLang="ko-KR" sz="1050" dirty="0">
                <a:solidFill>
                  <a:schemeClr val="tx1"/>
                </a:solidFill>
              </a:rPr>
              <a:t>, </a:t>
            </a:r>
            <a:r>
              <a:rPr lang="ko-KR" altLang="en-US" sz="1050" dirty="0">
                <a:solidFill>
                  <a:schemeClr val="tx1"/>
                </a:solidFill>
              </a:rPr>
              <a:t>장치</a:t>
            </a:r>
            <a:r>
              <a:rPr lang="en-US" altLang="ko-KR" sz="1050" dirty="0">
                <a:solidFill>
                  <a:schemeClr val="tx1"/>
                </a:solidFill>
              </a:rPr>
              <a:t>)</a:t>
            </a:r>
            <a:endParaRPr lang="ko-KR" altLang="en-US" sz="1050" dirty="0">
              <a:solidFill>
                <a:schemeClr val="tx1"/>
              </a:solidFill>
            </a:endParaRPr>
          </a:p>
        </p:txBody>
      </p:sp>
      <p:sp>
        <p:nvSpPr>
          <p:cNvPr id="12" name="직사각형 11"/>
          <p:cNvSpPr/>
          <p:nvPr/>
        </p:nvSpPr>
        <p:spPr>
          <a:xfrm>
            <a:off x="2257424" y="3843777"/>
            <a:ext cx="2314576" cy="432949"/>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물질발명</a:t>
            </a:r>
            <a:r>
              <a:rPr lang="en-US" altLang="ko-KR" sz="1200" dirty="0">
                <a:solidFill>
                  <a:srgbClr val="FF0000"/>
                </a:solidFill>
              </a:rPr>
              <a:t>(A2)</a:t>
            </a:r>
          </a:p>
          <a:p>
            <a:pPr algn="ctr"/>
            <a:r>
              <a:rPr lang="en-US" altLang="ko-KR" sz="1050" dirty="0">
                <a:solidFill>
                  <a:schemeClr val="tx1"/>
                </a:solidFill>
              </a:rPr>
              <a:t>(</a:t>
            </a:r>
            <a:r>
              <a:rPr lang="ko-KR" altLang="en-US" sz="1050" dirty="0">
                <a:solidFill>
                  <a:schemeClr val="tx1"/>
                </a:solidFill>
              </a:rPr>
              <a:t>음식물</a:t>
            </a:r>
            <a:r>
              <a:rPr lang="en-US" altLang="ko-KR" sz="1050" dirty="0">
                <a:solidFill>
                  <a:schemeClr val="tx1"/>
                </a:solidFill>
              </a:rPr>
              <a:t>, </a:t>
            </a:r>
            <a:r>
              <a:rPr lang="ko-KR" altLang="en-US" sz="1050" dirty="0">
                <a:solidFill>
                  <a:schemeClr val="tx1"/>
                </a:solidFill>
              </a:rPr>
              <a:t>의약품</a:t>
            </a:r>
            <a:r>
              <a:rPr lang="en-US" altLang="ko-KR" sz="1050" dirty="0">
                <a:solidFill>
                  <a:schemeClr val="tx1"/>
                </a:solidFill>
              </a:rPr>
              <a:t>)</a:t>
            </a:r>
            <a:endParaRPr lang="ko-KR" altLang="en-US" sz="1050" dirty="0">
              <a:solidFill>
                <a:schemeClr val="tx1"/>
              </a:solidFill>
            </a:endParaRPr>
          </a:p>
        </p:txBody>
      </p:sp>
      <p:sp>
        <p:nvSpPr>
          <p:cNvPr id="13" name="직사각형 12"/>
          <p:cNvSpPr/>
          <p:nvPr/>
        </p:nvSpPr>
        <p:spPr>
          <a:xfrm>
            <a:off x="2257424" y="4752975"/>
            <a:ext cx="2314576" cy="45962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통상의 방법발명</a:t>
            </a:r>
            <a:r>
              <a:rPr lang="en-US" altLang="ko-KR" sz="1200" dirty="0">
                <a:solidFill>
                  <a:srgbClr val="FF0000"/>
                </a:solidFill>
              </a:rPr>
              <a:t>(B1)</a:t>
            </a:r>
          </a:p>
          <a:p>
            <a:pPr algn="ctr"/>
            <a:r>
              <a:rPr lang="en-US" altLang="ko-KR" sz="1050" dirty="0">
                <a:solidFill>
                  <a:schemeClr val="tx1"/>
                </a:solidFill>
              </a:rPr>
              <a:t>(</a:t>
            </a:r>
            <a:r>
              <a:rPr lang="ko-KR" altLang="en-US" sz="1050" dirty="0">
                <a:solidFill>
                  <a:schemeClr val="tx1"/>
                </a:solidFill>
              </a:rPr>
              <a:t>통신방법</a:t>
            </a:r>
            <a:r>
              <a:rPr lang="en-US" altLang="ko-KR" sz="1050" dirty="0">
                <a:solidFill>
                  <a:schemeClr val="tx1"/>
                </a:solidFill>
              </a:rPr>
              <a:t>, </a:t>
            </a:r>
            <a:r>
              <a:rPr lang="ko-KR" altLang="en-US" sz="1050" dirty="0">
                <a:solidFill>
                  <a:schemeClr val="tx1"/>
                </a:solidFill>
              </a:rPr>
              <a:t>측정방법</a:t>
            </a:r>
            <a:r>
              <a:rPr lang="en-US" altLang="ko-KR" sz="1050" dirty="0">
                <a:solidFill>
                  <a:schemeClr val="tx1"/>
                </a:solidFill>
              </a:rPr>
              <a:t>)</a:t>
            </a:r>
            <a:endParaRPr lang="ko-KR" altLang="en-US" sz="1050" dirty="0">
              <a:solidFill>
                <a:schemeClr val="tx1"/>
              </a:solidFill>
            </a:endParaRPr>
          </a:p>
        </p:txBody>
      </p:sp>
      <p:sp>
        <p:nvSpPr>
          <p:cNvPr id="14" name="직사각형 13"/>
          <p:cNvSpPr/>
          <p:nvPr/>
        </p:nvSpPr>
        <p:spPr>
          <a:xfrm>
            <a:off x="2257424" y="6110655"/>
            <a:ext cx="2314576" cy="38539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제법발명</a:t>
            </a:r>
            <a:r>
              <a:rPr lang="en-US" altLang="ko-KR" sz="1200" dirty="0">
                <a:solidFill>
                  <a:srgbClr val="FF0000"/>
                </a:solidFill>
              </a:rPr>
              <a:t>(B2)</a:t>
            </a:r>
            <a:endParaRPr lang="ko-KR" altLang="en-US" sz="1200" dirty="0">
              <a:solidFill>
                <a:srgbClr val="FF0000"/>
              </a:solidFill>
            </a:endParaRPr>
          </a:p>
        </p:txBody>
      </p:sp>
      <p:cxnSp>
        <p:nvCxnSpPr>
          <p:cNvPr id="15" name="꺾인 연결선 14"/>
          <p:cNvCxnSpPr>
            <a:stCxn id="2" idx="3"/>
            <a:endCxn id="8" idx="1"/>
          </p:cNvCxnSpPr>
          <p:nvPr/>
        </p:nvCxnSpPr>
        <p:spPr>
          <a:xfrm flipV="1">
            <a:off x="847725" y="3438525"/>
            <a:ext cx="428625" cy="1057275"/>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꺾인 연결선 15"/>
          <p:cNvCxnSpPr>
            <a:stCxn id="2" idx="3"/>
            <a:endCxn id="10" idx="1"/>
          </p:cNvCxnSpPr>
          <p:nvPr/>
        </p:nvCxnSpPr>
        <p:spPr>
          <a:xfrm>
            <a:off x="847725" y="4495800"/>
            <a:ext cx="428625" cy="1171575"/>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8" idx="3"/>
            <a:endCxn id="11" idx="1"/>
          </p:cNvCxnSpPr>
          <p:nvPr/>
        </p:nvCxnSpPr>
        <p:spPr>
          <a:xfrm flipV="1">
            <a:off x="1752600" y="2624358"/>
            <a:ext cx="504824" cy="814167"/>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2" name="꺾인 연결선 21"/>
          <p:cNvCxnSpPr>
            <a:stCxn id="8" idx="3"/>
            <a:endCxn id="12" idx="1"/>
          </p:cNvCxnSpPr>
          <p:nvPr/>
        </p:nvCxnSpPr>
        <p:spPr>
          <a:xfrm>
            <a:off x="1752600" y="3438525"/>
            <a:ext cx="504824" cy="621727"/>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stCxn id="10" idx="3"/>
            <a:endCxn id="14" idx="1"/>
          </p:cNvCxnSpPr>
          <p:nvPr/>
        </p:nvCxnSpPr>
        <p:spPr>
          <a:xfrm>
            <a:off x="1752600" y="5667375"/>
            <a:ext cx="504824" cy="635978"/>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stCxn id="10" idx="3"/>
            <a:endCxn id="13" idx="1"/>
          </p:cNvCxnSpPr>
          <p:nvPr/>
        </p:nvCxnSpPr>
        <p:spPr>
          <a:xfrm flipV="1">
            <a:off x="1752600" y="4982787"/>
            <a:ext cx="504824" cy="684588"/>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Rectangle 5"/>
          <p:cNvSpPr>
            <a:spLocks noChangeArrowheads="1"/>
          </p:cNvSpPr>
          <p:nvPr/>
        </p:nvSpPr>
        <p:spPr bwMode="auto">
          <a:xfrm>
            <a:off x="1206873" y="4359849"/>
            <a:ext cx="1628776" cy="348102"/>
          </a:xfrm>
          <a:prstGeom prst="roundRect">
            <a:avLst>
              <a:gd name="adj" fmla="val 50000"/>
            </a:avLst>
          </a:prstGeom>
          <a:solidFill>
            <a:schemeClr val="accent4"/>
          </a:solidFill>
          <a:ln w="9525" algn="ctr">
            <a:noFill/>
            <a:miter lim="800000"/>
            <a:headEnd/>
            <a:tailEnd/>
          </a:ln>
        </p:spPr>
        <p:txBody>
          <a:bodyPr wrap="none" anchor="ctr"/>
          <a:lstStyle/>
          <a:p>
            <a:pPr algn="ctr"/>
            <a:r>
              <a:rPr lang="ko-KR" altLang="en-US" sz="1000" b="0" dirty="0">
                <a:solidFill>
                  <a:schemeClr val="tx1"/>
                </a:solidFill>
                <a:latin typeface="+mj-ea"/>
                <a:ea typeface="+mj-ea"/>
              </a:rPr>
              <a:t>구성요소 사이 경시적 요소 </a:t>
            </a:r>
          </a:p>
        </p:txBody>
      </p:sp>
      <p:sp>
        <p:nvSpPr>
          <p:cNvPr id="32" name="Rectangle 5"/>
          <p:cNvSpPr>
            <a:spLocks noChangeArrowheads="1"/>
          </p:cNvSpPr>
          <p:nvPr/>
        </p:nvSpPr>
        <p:spPr bwMode="auto">
          <a:xfrm>
            <a:off x="3067050" y="3213188"/>
            <a:ext cx="704850" cy="348102"/>
          </a:xfrm>
          <a:prstGeom prst="roundRect">
            <a:avLst>
              <a:gd name="adj" fmla="val 50000"/>
            </a:avLst>
          </a:prstGeom>
          <a:solidFill>
            <a:schemeClr val="accent4"/>
          </a:solidFill>
          <a:ln w="9525" algn="ctr">
            <a:noFill/>
            <a:miter lim="800000"/>
            <a:headEnd/>
            <a:tailEnd/>
          </a:ln>
        </p:spPr>
        <p:txBody>
          <a:bodyPr wrap="none" anchor="ctr"/>
          <a:lstStyle/>
          <a:p>
            <a:pPr algn="ctr"/>
            <a:r>
              <a:rPr lang="ko-KR" altLang="en-US" sz="1000" b="0" dirty="0" err="1">
                <a:solidFill>
                  <a:schemeClr val="tx1"/>
                </a:solidFill>
                <a:latin typeface="+mj-ea"/>
                <a:ea typeface="+mj-ea"/>
              </a:rPr>
              <a:t>물품성</a:t>
            </a:r>
            <a:endParaRPr lang="ko-KR" altLang="en-US" sz="1000" b="0" dirty="0">
              <a:solidFill>
                <a:schemeClr val="tx1"/>
              </a:solidFill>
              <a:latin typeface="+mj-ea"/>
              <a:ea typeface="+mj-ea"/>
            </a:endParaRPr>
          </a:p>
        </p:txBody>
      </p:sp>
      <p:sp>
        <p:nvSpPr>
          <p:cNvPr id="33" name="Rectangle 5"/>
          <p:cNvSpPr>
            <a:spLocks noChangeArrowheads="1"/>
          </p:cNvSpPr>
          <p:nvPr/>
        </p:nvSpPr>
        <p:spPr bwMode="auto">
          <a:xfrm>
            <a:off x="2819399" y="5493324"/>
            <a:ext cx="1200152" cy="348102"/>
          </a:xfrm>
          <a:prstGeom prst="roundRect">
            <a:avLst>
              <a:gd name="adj" fmla="val 50000"/>
            </a:avLst>
          </a:prstGeom>
          <a:solidFill>
            <a:schemeClr val="accent4"/>
          </a:solidFill>
          <a:ln w="9525" algn="ctr">
            <a:noFill/>
            <a:miter lim="800000"/>
            <a:headEnd/>
            <a:tailEnd/>
          </a:ln>
        </p:spPr>
        <p:txBody>
          <a:bodyPr wrap="none" anchor="ctr"/>
          <a:lstStyle/>
          <a:p>
            <a:pPr algn="ctr"/>
            <a:r>
              <a:rPr lang="ko-KR" altLang="en-US" sz="1000" b="0" dirty="0">
                <a:solidFill>
                  <a:schemeClr val="tx1"/>
                </a:solidFill>
                <a:latin typeface="+mj-ea"/>
                <a:ea typeface="+mj-ea"/>
              </a:rPr>
              <a:t>물건의 생산 수반</a:t>
            </a:r>
          </a:p>
        </p:txBody>
      </p:sp>
      <p:cxnSp>
        <p:nvCxnSpPr>
          <p:cNvPr id="35" name="직선 화살표 연결선 34"/>
          <p:cNvCxnSpPr>
            <a:endCxn id="8" idx="2"/>
          </p:cNvCxnSpPr>
          <p:nvPr/>
        </p:nvCxnSpPr>
        <p:spPr>
          <a:xfrm flipV="1">
            <a:off x="1514474" y="3781425"/>
            <a:ext cx="1" cy="578424"/>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6" name="직선 화살표 연결선 35"/>
          <p:cNvCxnSpPr>
            <a:endCxn id="10" idx="0"/>
          </p:cNvCxnSpPr>
          <p:nvPr/>
        </p:nvCxnSpPr>
        <p:spPr>
          <a:xfrm>
            <a:off x="1514474" y="4707951"/>
            <a:ext cx="1" cy="618246"/>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0" name="Rectangle 5"/>
          <p:cNvSpPr>
            <a:spLocks noChangeArrowheads="1"/>
          </p:cNvSpPr>
          <p:nvPr/>
        </p:nvSpPr>
        <p:spPr bwMode="auto">
          <a:xfrm>
            <a:off x="1000125" y="3838575"/>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No</a:t>
            </a:r>
            <a:endParaRPr lang="ko-KR" altLang="en-US" sz="1000" b="0" dirty="0">
              <a:solidFill>
                <a:schemeClr val="tx1"/>
              </a:solidFill>
              <a:latin typeface="+mj-ea"/>
              <a:ea typeface="+mj-ea"/>
            </a:endParaRPr>
          </a:p>
        </p:txBody>
      </p:sp>
      <p:sp>
        <p:nvSpPr>
          <p:cNvPr id="41" name="Rectangle 5"/>
          <p:cNvSpPr>
            <a:spLocks noChangeArrowheads="1"/>
          </p:cNvSpPr>
          <p:nvPr/>
        </p:nvSpPr>
        <p:spPr bwMode="auto">
          <a:xfrm>
            <a:off x="1019175" y="4932469"/>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Yes</a:t>
            </a:r>
            <a:endParaRPr lang="ko-KR" altLang="en-US" sz="1000" b="0" dirty="0">
              <a:solidFill>
                <a:schemeClr val="tx1"/>
              </a:solidFill>
              <a:latin typeface="+mj-ea"/>
              <a:ea typeface="+mj-ea"/>
            </a:endParaRPr>
          </a:p>
        </p:txBody>
      </p:sp>
      <p:cxnSp>
        <p:nvCxnSpPr>
          <p:cNvPr id="42" name="직선 화살표 연결선 41"/>
          <p:cNvCxnSpPr>
            <a:stCxn id="32" idx="0"/>
            <a:endCxn id="11" idx="2"/>
          </p:cNvCxnSpPr>
          <p:nvPr/>
        </p:nvCxnSpPr>
        <p:spPr>
          <a:xfrm flipH="1" flipV="1">
            <a:off x="3414712" y="2828926"/>
            <a:ext cx="4763" cy="384262"/>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6" name="Rectangle 5"/>
          <p:cNvSpPr>
            <a:spLocks noChangeArrowheads="1"/>
          </p:cNvSpPr>
          <p:nvPr/>
        </p:nvSpPr>
        <p:spPr bwMode="auto">
          <a:xfrm>
            <a:off x="2995612" y="2925897"/>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Yes</a:t>
            </a:r>
            <a:endParaRPr lang="ko-KR" altLang="en-US" sz="1000" b="0" dirty="0">
              <a:solidFill>
                <a:schemeClr val="tx1"/>
              </a:solidFill>
              <a:latin typeface="+mj-ea"/>
              <a:ea typeface="+mj-ea"/>
            </a:endParaRPr>
          </a:p>
        </p:txBody>
      </p:sp>
      <p:cxnSp>
        <p:nvCxnSpPr>
          <p:cNvPr id="47" name="직선 화살표 연결선 46"/>
          <p:cNvCxnSpPr>
            <a:stCxn id="32" idx="2"/>
            <a:endCxn id="12" idx="0"/>
          </p:cNvCxnSpPr>
          <p:nvPr/>
        </p:nvCxnSpPr>
        <p:spPr>
          <a:xfrm flipH="1">
            <a:off x="3414712" y="3561290"/>
            <a:ext cx="4763" cy="282487"/>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0" name="Rectangle 5"/>
          <p:cNvSpPr>
            <a:spLocks noChangeArrowheads="1"/>
          </p:cNvSpPr>
          <p:nvPr/>
        </p:nvSpPr>
        <p:spPr bwMode="auto">
          <a:xfrm>
            <a:off x="2957512" y="3499746"/>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No</a:t>
            </a:r>
            <a:endParaRPr lang="ko-KR" altLang="en-US" sz="1000" b="0" dirty="0">
              <a:solidFill>
                <a:schemeClr val="tx1"/>
              </a:solidFill>
              <a:latin typeface="+mj-ea"/>
              <a:ea typeface="+mj-ea"/>
            </a:endParaRPr>
          </a:p>
        </p:txBody>
      </p:sp>
      <p:cxnSp>
        <p:nvCxnSpPr>
          <p:cNvPr id="51" name="직선 화살표 연결선 50"/>
          <p:cNvCxnSpPr>
            <a:stCxn id="33" idx="0"/>
            <a:endCxn id="13" idx="2"/>
          </p:cNvCxnSpPr>
          <p:nvPr/>
        </p:nvCxnSpPr>
        <p:spPr>
          <a:xfrm flipH="1" flipV="1">
            <a:off x="3414712" y="5212598"/>
            <a:ext cx="4763" cy="280726"/>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4" name="Rectangle 5"/>
          <p:cNvSpPr>
            <a:spLocks noChangeArrowheads="1"/>
          </p:cNvSpPr>
          <p:nvPr/>
        </p:nvSpPr>
        <p:spPr bwMode="auto">
          <a:xfrm>
            <a:off x="2909887" y="5164272"/>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No</a:t>
            </a:r>
            <a:endParaRPr lang="ko-KR" altLang="en-US" sz="1000" b="0" dirty="0">
              <a:solidFill>
                <a:schemeClr val="tx1"/>
              </a:solidFill>
              <a:latin typeface="+mj-ea"/>
              <a:ea typeface="+mj-ea"/>
            </a:endParaRPr>
          </a:p>
        </p:txBody>
      </p:sp>
      <p:cxnSp>
        <p:nvCxnSpPr>
          <p:cNvPr id="55" name="직선 화살표 연결선 54"/>
          <p:cNvCxnSpPr>
            <a:stCxn id="33" idx="2"/>
            <a:endCxn id="14" idx="0"/>
          </p:cNvCxnSpPr>
          <p:nvPr/>
        </p:nvCxnSpPr>
        <p:spPr>
          <a:xfrm flipH="1">
            <a:off x="3414712" y="5841426"/>
            <a:ext cx="4763" cy="269229"/>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6" name="Rectangle 5"/>
          <p:cNvSpPr>
            <a:spLocks noChangeArrowheads="1"/>
          </p:cNvSpPr>
          <p:nvPr/>
        </p:nvSpPr>
        <p:spPr bwMode="auto">
          <a:xfrm>
            <a:off x="2871787" y="5834502"/>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Yes</a:t>
            </a:r>
            <a:endParaRPr lang="ko-KR" altLang="en-US" sz="1000" b="0" dirty="0">
              <a:solidFill>
                <a:schemeClr val="tx1"/>
              </a:solidFill>
              <a:latin typeface="+mj-ea"/>
              <a:ea typeface="+mj-ea"/>
            </a:endParaRPr>
          </a:p>
        </p:txBody>
      </p:sp>
      <p:cxnSp>
        <p:nvCxnSpPr>
          <p:cNvPr id="67" name="직선 연결선 66"/>
          <p:cNvCxnSpPr/>
          <p:nvPr/>
        </p:nvCxnSpPr>
        <p:spPr>
          <a:xfrm>
            <a:off x="4791075" y="2085975"/>
            <a:ext cx="0" cy="467677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Rectangle 5"/>
          <p:cNvSpPr>
            <a:spLocks noChangeArrowheads="1"/>
          </p:cNvSpPr>
          <p:nvPr/>
        </p:nvSpPr>
        <p:spPr bwMode="auto">
          <a:xfrm>
            <a:off x="195260" y="2071687"/>
            <a:ext cx="14811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구별기준</a:t>
            </a:r>
          </a:p>
        </p:txBody>
      </p:sp>
      <p:sp>
        <p:nvSpPr>
          <p:cNvPr id="71" name="Rectangle 5"/>
          <p:cNvSpPr>
            <a:spLocks noChangeArrowheads="1"/>
          </p:cNvSpPr>
          <p:nvPr/>
        </p:nvSpPr>
        <p:spPr bwMode="auto">
          <a:xfrm>
            <a:off x="5091110" y="2071687"/>
            <a:ext cx="11763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구별실익</a:t>
            </a:r>
            <a:r>
              <a:rPr lang="en-US" altLang="ko-KR" sz="1600" b="0" dirty="0">
                <a:solidFill>
                  <a:schemeClr val="bg1"/>
                </a:solidFill>
                <a:latin typeface="+mj-ea"/>
                <a:ea typeface="+mj-ea"/>
              </a:rPr>
              <a:t>1</a:t>
            </a:r>
            <a:endParaRPr lang="ko-KR" altLang="en-US" sz="1600" b="0" dirty="0">
              <a:solidFill>
                <a:schemeClr val="bg1"/>
              </a:solidFill>
              <a:latin typeface="+mj-ea"/>
              <a:ea typeface="+mj-ea"/>
            </a:endParaRPr>
          </a:p>
        </p:txBody>
      </p:sp>
      <p:sp>
        <p:nvSpPr>
          <p:cNvPr id="73" name="Rectangle 5"/>
          <p:cNvSpPr>
            <a:spLocks noChangeArrowheads="1"/>
          </p:cNvSpPr>
          <p:nvPr/>
        </p:nvSpPr>
        <p:spPr bwMode="auto">
          <a:xfrm>
            <a:off x="5091110" y="4916639"/>
            <a:ext cx="11763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구별실익</a:t>
            </a:r>
            <a:r>
              <a:rPr lang="en-US" altLang="ko-KR" sz="1600" b="0" dirty="0">
                <a:solidFill>
                  <a:schemeClr val="bg1"/>
                </a:solidFill>
                <a:latin typeface="+mj-ea"/>
                <a:ea typeface="+mj-ea"/>
              </a:rPr>
              <a:t>2</a:t>
            </a:r>
            <a:endParaRPr lang="ko-KR" altLang="en-US" sz="1600" b="0" dirty="0">
              <a:solidFill>
                <a:schemeClr val="bg1"/>
              </a:solidFill>
              <a:latin typeface="+mj-ea"/>
              <a:ea typeface="+mj-ea"/>
            </a:endParaRPr>
          </a:p>
        </p:txBody>
      </p:sp>
      <p:sp>
        <p:nvSpPr>
          <p:cNvPr id="74" name="직사각형 73"/>
          <p:cNvSpPr/>
          <p:nvPr/>
        </p:nvSpPr>
        <p:spPr>
          <a:xfrm>
            <a:off x="6381750" y="4889433"/>
            <a:ext cx="5689598" cy="646331"/>
          </a:xfrm>
          <a:prstGeom prst="rect">
            <a:avLst/>
          </a:prstGeom>
          <a:ln>
            <a:solidFill>
              <a:schemeClr val="bg1">
                <a:lumMod val="50000"/>
              </a:schemeClr>
            </a:solidFill>
          </a:ln>
        </p:spPr>
        <p:txBody>
          <a:bodyPr wrap="square">
            <a:spAutoFit/>
          </a:bodyPr>
          <a:lstStyle/>
          <a:p>
            <a:pPr fontAlgn="base"/>
            <a:r>
              <a:rPr lang="ko-KR" altLang="en-US" sz="1200" dirty="0"/>
              <a:t>실용신안등록을 받기 위해서는 물품의 형상</a:t>
            </a:r>
            <a:r>
              <a:rPr lang="en-US" altLang="ko-KR" sz="1200" dirty="0"/>
              <a:t>, </a:t>
            </a:r>
            <a:r>
              <a:rPr lang="ko-KR" altLang="en-US" sz="1200" dirty="0"/>
              <a:t>구조 또는 그 조합에 관한 고안</a:t>
            </a:r>
            <a:r>
              <a:rPr lang="en-US" altLang="ko-KR" sz="1200" dirty="0"/>
              <a:t>, </a:t>
            </a:r>
            <a:r>
              <a:rPr lang="ko-KR" altLang="en-US" sz="1200" dirty="0"/>
              <a:t>즉 </a:t>
            </a:r>
            <a:r>
              <a:rPr lang="ko-KR" altLang="en-US" sz="1200" dirty="0" err="1"/>
              <a:t>물품성이</a:t>
            </a:r>
            <a:r>
              <a:rPr lang="ko-KR" altLang="en-US" sz="1200" dirty="0"/>
              <a:t> 있는 고안이어야 한다</a:t>
            </a:r>
            <a:r>
              <a:rPr lang="en-US" altLang="ko-KR" sz="1200" dirty="0"/>
              <a:t>(</a:t>
            </a:r>
            <a:r>
              <a:rPr lang="ko-KR" altLang="en-US" sz="1200" dirty="0"/>
              <a:t>實用 </a:t>
            </a:r>
            <a:r>
              <a:rPr lang="en-US" altLang="ko-KR" sz="1200" dirty="0"/>
              <a:t>4</a:t>
            </a:r>
            <a:r>
              <a:rPr lang="ko-KR" altLang="en-US" sz="1200" dirty="0"/>
              <a:t>①</a:t>
            </a:r>
            <a:r>
              <a:rPr lang="en-US" altLang="ko-KR" sz="1200" dirty="0"/>
              <a:t>). </a:t>
            </a:r>
            <a:r>
              <a:rPr lang="ko-KR" altLang="en-US" sz="1200" dirty="0"/>
              <a:t>따라서 </a:t>
            </a:r>
            <a:r>
              <a:rPr lang="ko-KR" altLang="en-US" sz="1200" dirty="0" err="1"/>
              <a:t>물품성이</a:t>
            </a:r>
            <a:r>
              <a:rPr lang="ko-KR" altLang="en-US" sz="1200" dirty="0"/>
              <a:t> 있는 협의의 물건발명의 경우에만 물질발명이나 방법발명과 달리 실용신안으로 보호받을 수 있다</a:t>
            </a:r>
            <a:r>
              <a:rPr lang="en-US" altLang="ko-KR" sz="1200" dirty="0"/>
              <a:t>.</a:t>
            </a:r>
            <a:endParaRPr lang="ko-KR" altLang="en-US" sz="1200" dirty="0"/>
          </a:p>
        </p:txBody>
      </p:sp>
      <p:graphicFrame>
        <p:nvGraphicFramePr>
          <p:cNvPr id="103" name="표 102"/>
          <p:cNvGraphicFramePr>
            <a:graphicFrameLocks noGrp="1"/>
          </p:cNvGraphicFramePr>
          <p:nvPr>
            <p:extLst>
              <p:ext uri="{D42A27DB-BD31-4B8C-83A1-F6EECF244321}">
                <p14:modId xmlns:p14="http://schemas.microsoft.com/office/powerpoint/2010/main" val="4124234830"/>
              </p:ext>
            </p:extLst>
          </p:nvPr>
        </p:nvGraphicFramePr>
        <p:xfrm>
          <a:off x="5402833" y="5775959"/>
          <a:ext cx="6455792" cy="710184"/>
        </p:xfrm>
        <a:graphic>
          <a:graphicData uri="http://schemas.openxmlformats.org/drawingml/2006/table">
            <a:tbl>
              <a:tblPr/>
              <a:tblGrid>
                <a:gridCol w="1436159">
                  <a:extLst>
                    <a:ext uri="{9D8B030D-6E8A-4147-A177-3AD203B41FA5}">
                      <a16:colId xmlns:a16="http://schemas.microsoft.com/office/drawing/2014/main" val="20000"/>
                    </a:ext>
                  </a:extLst>
                </a:gridCol>
                <a:gridCol w="3046645">
                  <a:extLst>
                    <a:ext uri="{9D8B030D-6E8A-4147-A177-3AD203B41FA5}">
                      <a16:colId xmlns:a16="http://schemas.microsoft.com/office/drawing/2014/main" val="20001"/>
                    </a:ext>
                  </a:extLst>
                </a:gridCol>
                <a:gridCol w="1972988">
                  <a:extLst>
                    <a:ext uri="{9D8B030D-6E8A-4147-A177-3AD203B41FA5}">
                      <a16:colId xmlns:a16="http://schemas.microsoft.com/office/drawing/2014/main" val="20002"/>
                    </a:ext>
                  </a:extLst>
                </a:gridCol>
              </a:tblGrid>
              <a:tr h="179705">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구 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실용신안보호대상</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tc>
                  <a:txBody>
                    <a:bodyPr/>
                    <a:lstStyle/>
                    <a:p>
                      <a:pPr marL="0" marR="0" indent="0" algn="ctr" fontAlgn="base" latinLnBrk="0">
                        <a:lnSpc>
                          <a:spcPct val="130000"/>
                        </a:lnSpc>
                        <a:spcBef>
                          <a:spcPts val="0"/>
                        </a:spcBef>
                        <a:spcAft>
                          <a:spcPts val="0"/>
                        </a:spcAft>
                      </a:pPr>
                      <a:r>
                        <a:rPr lang="ko-KR" altLang="en-US" sz="1100" b="1" kern="1200" dirty="0">
                          <a:solidFill>
                            <a:schemeClr val="tx2"/>
                          </a:solidFill>
                          <a:latin typeface="+mn-lt"/>
                          <a:ea typeface="+mn-ea"/>
                          <a:cs typeface="+mn-cs"/>
                        </a:rPr>
                        <a:t>도면 첨부</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extLst>
                  <a:ext uri="{0D108BD9-81ED-4DB2-BD59-A6C34878D82A}">
                    <a16:rowId xmlns:a16="http://schemas.microsoft.com/office/drawing/2014/main" val="10000"/>
                  </a:ext>
                </a:extLst>
              </a:tr>
              <a:tr h="179705">
                <a:tc>
                  <a:txBody>
                    <a:bodyPr/>
                    <a:lstStyle/>
                    <a:p>
                      <a:pPr marL="0" marR="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협의의 물건발명</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ctr" fontAlgn="base" latinLnBrk="1">
                        <a:lnSpc>
                          <a:spcPct val="130000"/>
                        </a:lnSpc>
                        <a:spcBef>
                          <a:spcPts val="0"/>
                        </a:spcBef>
                        <a:spcAft>
                          <a:spcPts val="0"/>
                        </a:spcAft>
                      </a:pPr>
                      <a:r>
                        <a:rPr lang="ko-KR" altLang="en-US" sz="1100" kern="1200" dirty="0">
                          <a:solidFill>
                            <a:schemeClr val="tx2"/>
                          </a:solidFill>
                          <a:latin typeface="+mn-lt"/>
                          <a:ea typeface="+mn-ea"/>
                          <a:cs typeface="+mn-cs"/>
                        </a:rPr>
                        <a:t>○</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∵물품의 </a:t>
                      </a:r>
                      <a:r>
                        <a:rPr lang="ko-KR" altLang="en-US" sz="1100" kern="1200" dirty="0" err="1">
                          <a:solidFill>
                            <a:schemeClr val="tx2"/>
                          </a:solidFill>
                          <a:latin typeface="+mn-lt"/>
                          <a:ea typeface="+mn-ea"/>
                          <a:cs typeface="+mn-cs"/>
                        </a:rPr>
                        <a:t>형상ㆍ구조ㆍ조합에</a:t>
                      </a:r>
                      <a:r>
                        <a:rPr lang="ko-KR" altLang="en-US" sz="1100" kern="1200" dirty="0">
                          <a:solidFill>
                            <a:schemeClr val="tx2"/>
                          </a:solidFill>
                          <a:latin typeface="+mn-lt"/>
                          <a:ea typeface="+mn-ea"/>
                          <a:cs typeface="+mn-cs"/>
                        </a:rPr>
                        <a:t> 관한 고안</a:t>
                      </a:r>
                      <a:r>
                        <a:rPr lang="en-US" altLang="ko-KR" sz="1100" kern="1200" dirty="0">
                          <a:solidFill>
                            <a:schemeClr val="tx2"/>
                          </a:solidFill>
                          <a:latin typeface="+mn-lt"/>
                          <a:ea typeface="+mn-ea"/>
                          <a:cs typeface="+mn-cs"/>
                        </a:rPr>
                        <a:t>)</a:t>
                      </a:r>
                      <a:endParaRPr lang="ko-KR" altLang="en-US" sz="1100" kern="1200" dirty="0">
                        <a:solidFill>
                          <a:schemeClr val="tx2"/>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100" kern="1200">
                          <a:solidFill>
                            <a:schemeClr val="tx2"/>
                          </a:solidFill>
                          <a:latin typeface="+mn-lt"/>
                          <a:ea typeface="+mn-ea"/>
                          <a:cs typeface="+mn-cs"/>
                        </a:rPr>
                        <a:t>필수</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179705">
                <a:tc>
                  <a:txBody>
                    <a:bodyPr/>
                    <a:lstStyle/>
                    <a:p>
                      <a:pPr marL="0" marR="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물질발명</a:t>
                      </a:r>
                      <a:r>
                        <a:rPr lang="en-US" altLang="ko-KR" sz="1100" kern="1200" dirty="0">
                          <a:solidFill>
                            <a:schemeClr val="tx2"/>
                          </a:solidFill>
                          <a:latin typeface="+mn-lt"/>
                          <a:ea typeface="+mn-ea"/>
                          <a:cs typeface="+mn-cs"/>
                        </a:rPr>
                        <a:t>/</a:t>
                      </a:r>
                      <a:r>
                        <a:rPr lang="ko-KR" altLang="en-US" sz="1100" kern="1200" dirty="0">
                          <a:solidFill>
                            <a:schemeClr val="tx2"/>
                          </a:solidFill>
                          <a:latin typeface="+mn-lt"/>
                          <a:ea typeface="+mn-ea"/>
                          <a:cs typeface="+mn-cs"/>
                        </a:rPr>
                        <a:t>방법발명</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ctr" fontAlgn="base" latinLnBrk="0">
                        <a:lnSpc>
                          <a:spcPct val="130000"/>
                        </a:lnSpc>
                        <a:spcBef>
                          <a:spcPts val="0"/>
                        </a:spcBef>
                        <a:spcAft>
                          <a:spcPts val="0"/>
                        </a:spcAft>
                      </a:pPr>
                      <a:r>
                        <a:rPr lang="en-US" sz="1100" kern="1200" dirty="0">
                          <a:solidFill>
                            <a:schemeClr val="tx2"/>
                          </a:solidFill>
                          <a:latin typeface="+mn-lt"/>
                          <a:ea typeface="+mn-ea"/>
                          <a:cs typeface="+mn-cs"/>
                        </a:rPr>
                        <a:t>×</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선택</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cxnSp>
        <p:nvCxnSpPr>
          <p:cNvPr id="104" name="직선 연결선 103"/>
          <p:cNvCxnSpPr/>
          <p:nvPr/>
        </p:nvCxnSpPr>
        <p:spPr>
          <a:xfrm flipH="1">
            <a:off x="5043485" y="4714875"/>
            <a:ext cx="7008813"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5196471" y="2419790"/>
            <a:ext cx="1018227" cy="369332"/>
          </a:xfrm>
          <a:prstGeom prst="rect">
            <a:avLst/>
          </a:prstGeom>
          <a:noFill/>
        </p:spPr>
        <p:txBody>
          <a:bodyPr wrap="none" rtlCol="0">
            <a:spAutoFit/>
          </a:bodyPr>
          <a:lstStyle/>
          <a:p>
            <a:r>
              <a:rPr lang="en-US" altLang="ko-KR" dirty="0">
                <a:solidFill>
                  <a:srgbClr val="FF0000"/>
                </a:solidFill>
              </a:rPr>
              <a:t>A:B1:B2</a:t>
            </a:r>
            <a:endParaRPr lang="ko-KR" altLang="en-US" dirty="0">
              <a:solidFill>
                <a:srgbClr val="FF0000"/>
              </a:solidFill>
            </a:endParaRPr>
          </a:p>
        </p:txBody>
      </p:sp>
      <p:sp>
        <p:nvSpPr>
          <p:cNvPr id="84" name="TextBox 83"/>
          <p:cNvSpPr txBox="1"/>
          <p:nvPr/>
        </p:nvSpPr>
        <p:spPr>
          <a:xfrm>
            <a:off x="5196471" y="5264741"/>
            <a:ext cx="1043876" cy="369332"/>
          </a:xfrm>
          <a:prstGeom prst="rect">
            <a:avLst/>
          </a:prstGeom>
          <a:noFill/>
        </p:spPr>
        <p:txBody>
          <a:bodyPr wrap="none" rtlCol="0">
            <a:spAutoFit/>
          </a:bodyPr>
          <a:lstStyle/>
          <a:p>
            <a:r>
              <a:rPr lang="en-US" altLang="ko-KR" dirty="0">
                <a:solidFill>
                  <a:srgbClr val="FF0000"/>
                </a:solidFill>
              </a:rPr>
              <a:t>A1:A2,B</a:t>
            </a:r>
            <a:endParaRPr lang="ko-KR" altLang="en-US" dirty="0">
              <a:solidFill>
                <a:srgbClr val="FF0000"/>
              </a:solidFill>
            </a:endParaRPr>
          </a:p>
        </p:txBody>
      </p:sp>
      <p:sp>
        <p:nvSpPr>
          <p:cNvPr id="57" name="Rectangle 1"/>
          <p:cNvSpPr>
            <a:spLocks noChangeArrowheads="1"/>
          </p:cNvSpPr>
          <p:nvPr/>
        </p:nvSpPr>
        <p:spPr bwMode="auto">
          <a:xfrm>
            <a:off x="6444762" y="3025952"/>
            <a:ext cx="54160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sz="1200" b="0" i="0" u="none" strike="noStrike" cap="none" normalizeH="0" baseline="0" dirty="0">
                <a:ln>
                  <a:noFill/>
                </a:ln>
                <a:solidFill>
                  <a:srgbClr val="444444"/>
                </a:solidFill>
                <a:effectLst/>
                <a:latin typeface="+mn-ea"/>
                <a:cs typeface="굴림" pitchFamily="50" charset="-127"/>
              </a:rPr>
              <a:t>그 물건을 </a:t>
            </a:r>
            <a:r>
              <a:rPr kumimoji="1" lang="ko-KR" sz="1200" b="0" i="0" u="none" strike="noStrike" cap="none" normalizeH="0" baseline="0" dirty="0" err="1">
                <a:ln>
                  <a:noFill/>
                </a:ln>
                <a:solidFill>
                  <a:srgbClr val="444444"/>
                </a:solidFill>
                <a:effectLst/>
                <a:latin typeface="+mn-ea"/>
                <a:cs typeface="굴림" pitchFamily="50" charset="-127"/>
              </a:rPr>
              <a:t>생산</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사용</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양도</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대여</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altLang="en-US" sz="1200" b="0" i="0" u="none" strike="noStrike" cap="none" normalizeH="0" baseline="0" dirty="0" err="1">
                <a:ln>
                  <a:noFill/>
                </a:ln>
                <a:solidFill>
                  <a:srgbClr val="444444"/>
                </a:solidFill>
                <a:effectLst/>
                <a:latin typeface="+mn-ea"/>
                <a:cs typeface="굴림" pitchFamily="50" charset="-127"/>
              </a:rPr>
              <a:t>수출</a:t>
            </a:r>
            <a:r>
              <a:rPr kumimoji="1" lang="ko-KR" sz="1200" b="0" i="0" u="none" strike="noStrike" cap="none" normalizeH="0" baseline="0" dirty="0">
                <a:ln>
                  <a:noFill/>
                </a:ln>
                <a:solidFill>
                  <a:srgbClr val="444444"/>
                </a:solidFill>
                <a:effectLst/>
                <a:latin typeface="+mn-ea"/>
                <a:cs typeface="굴림" pitchFamily="50" charset="-127"/>
              </a:rPr>
              <a:t> 또는 수입하거나 그 물건의 양도 또는 대여의 청약</a:t>
            </a:r>
            <a:r>
              <a:rPr kumimoji="1" lang="ko-KR" altLang="ko-KR" sz="1200" b="0" i="0" u="none" strike="noStrike" cap="none" normalizeH="0" baseline="0" dirty="0">
                <a:ln>
                  <a:noFill/>
                </a:ln>
                <a:solidFill>
                  <a:srgbClr val="444444"/>
                </a:solidFill>
                <a:effectLst/>
                <a:latin typeface="+mn-ea"/>
                <a:cs typeface="굴림" pitchFamily="50" charset="-127"/>
              </a:rPr>
              <a:t>(</a:t>
            </a:r>
            <a:r>
              <a:rPr kumimoji="1" lang="ko-KR" sz="1200" b="0" i="0" u="none" strike="noStrike" cap="none" normalizeH="0" baseline="0" dirty="0">
                <a:ln>
                  <a:noFill/>
                </a:ln>
                <a:solidFill>
                  <a:srgbClr val="444444"/>
                </a:solidFill>
                <a:effectLst/>
                <a:latin typeface="+mn-ea"/>
                <a:cs typeface="굴림" pitchFamily="50" charset="-127"/>
              </a:rPr>
              <a:t>양도 또는 대여를 위한 전시를 포함한다</a:t>
            </a:r>
            <a:r>
              <a:rPr kumimoji="1" lang="ko-KR" altLang="ko-KR" sz="1200" b="0" i="0" u="none" strike="noStrike" cap="none" normalizeH="0" baseline="0" dirty="0">
                <a:ln>
                  <a:noFill/>
                </a:ln>
                <a:solidFill>
                  <a:srgbClr val="444444"/>
                </a:solidFill>
                <a:effectLst/>
                <a:latin typeface="+mn-ea"/>
                <a:cs typeface="굴림" pitchFamily="50" charset="-127"/>
              </a:rPr>
              <a:t>. </a:t>
            </a:r>
            <a:r>
              <a:rPr kumimoji="1" lang="ko-KR" sz="1200" b="0" i="0" u="none" strike="noStrike" cap="none" normalizeH="0" baseline="0" dirty="0">
                <a:ln>
                  <a:noFill/>
                </a:ln>
                <a:solidFill>
                  <a:srgbClr val="444444"/>
                </a:solidFill>
                <a:effectLst/>
                <a:latin typeface="+mn-ea"/>
                <a:cs typeface="굴림" pitchFamily="50" charset="-127"/>
              </a:rPr>
              <a:t>이하 같다</a:t>
            </a:r>
            <a:r>
              <a:rPr kumimoji="1" lang="ko-KR" altLang="ko-KR" sz="1200" b="0" i="0" u="none" strike="noStrike" cap="none" normalizeH="0" baseline="0" dirty="0">
                <a:ln>
                  <a:noFill/>
                </a:ln>
                <a:solidFill>
                  <a:srgbClr val="444444"/>
                </a:solidFill>
                <a:effectLst/>
                <a:latin typeface="+mn-ea"/>
                <a:cs typeface="굴림" pitchFamily="50" charset="-127"/>
              </a:rPr>
              <a:t>)</a:t>
            </a:r>
            <a:r>
              <a:rPr kumimoji="1" lang="ko-KR" sz="1200" b="0" i="0" u="none" strike="noStrike" cap="none" normalizeH="0" baseline="0" dirty="0">
                <a:ln>
                  <a:noFill/>
                </a:ln>
                <a:solidFill>
                  <a:srgbClr val="444444"/>
                </a:solidFill>
                <a:effectLst/>
                <a:latin typeface="+mn-ea"/>
                <a:cs typeface="굴림" pitchFamily="50" charset="-127"/>
              </a:rPr>
              <a:t>을 하는 행위</a:t>
            </a:r>
            <a:endParaRPr kumimoji="1" lang="ko-KR" sz="1200" b="0" i="0" u="none" strike="noStrike" cap="none" normalizeH="0" baseline="0" dirty="0">
              <a:ln>
                <a:noFill/>
              </a:ln>
              <a:solidFill>
                <a:schemeClr val="tx1"/>
              </a:solidFill>
              <a:effectLst/>
              <a:latin typeface="+mn-ea"/>
              <a:cs typeface="굴림" pitchFamily="50" charset="-127"/>
            </a:endParaRPr>
          </a:p>
        </p:txBody>
      </p:sp>
      <p:sp>
        <p:nvSpPr>
          <p:cNvPr id="86" name="직사각형 85"/>
          <p:cNvSpPr/>
          <p:nvPr/>
        </p:nvSpPr>
        <p:spPr>
          <a:xfrm>
            <a:off x="6381750" y="2095677"/>
            <a:ext cx="5689598" cy="276999"/>
          </a:xfrm>
          <a:prstGeom prst="rect">
            <a:avLst/>
          </a:prstGeom>
          <a:ln>
            <a:solidFill>
              <a:schemeClr val="bg1">
                <a:lumMod val="50000"/>
              </a:schemeClr>
            </a:solidFill>
          </a:ln>
        </p:spPr>
        <p:txBody>
          <a:bodyPr wrap="square">
            <a:spAutoFit/>
          </a:bodyPr>
          <a:lstStyle/>
          <a:p>
            <a:pPr fontAlgn="base"/>
            <a:r>
              <a:rPr lang="ko-KR" altLang="en-US" sz="1200" dirty="0"/>
              <a:t>실시의 정의를 달리함</a:t>
            </a:r>
          </a:p>
        </p:txBody>
      </p:sp>
      <p:sp>
        <p:nvSpPr>
          <p:cNvPr id="88" name="Rectangle 1"/>
          <p:cNvSpPr>
            <a:spLocks noChangeArrowheads="1"/>
          </p:cNvSpPr>
          <p:nvPr/>
        </p:nvSpPr>
        <p:spPr bwMode="auto">
          <a:xfrm>
            <a:off x="6444762" y="3933035"/>
            <a:ext cx="541606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altLang="en-US" sz="1200" b="0" i="0" u="none" strike="noStrike" cap="none" normalizeH="0" baseline="0" dirty="0">
                <a:ln>
                  <a:noFill/>
                </a:ln>
                <a:solidFill>
                  <a:srgbClr val="444444"/>
                </a:solidFill>
                <a:effectLst/>
                <a:latin typeface="+mn-ea"/>
                <a:cs typeface="굴림" pitchFamily="50" charset="-127"/>
              </a:rPr>
              <a:t>그 방법을 사용하는 </a:t>
            </a:r>
            <a:r>
              <a:rPr kumimoji="1" lang="ko-KR" sz="1200" b="0" i="0" u="none" strike="noStrike" cap="none" normalizeH="0" baseline="0" dirty="0">
                <a:ln>
                  <a:noFill/>
                </a:ln>
                <a:solidFill>
                  <a:srgbClr val="444444"/>
                </a:solidFill>
                <a:effectLst/>
                <a:latin typeface="+mn-ea"/>
                <a:cs typeface="굴림" pitchFamily="50" charset="-127"/>
              </a:rPr>
              <a:t>행위</a:t>
            </a:r>
            <a:r>
              <a:rPr kumimoji="1" lang="en-US" altLang="ko-KR" sz="1200" b="0" i="0" u="none" strike="noStrike" cap="none" normalizeH="0" baseline="0" dirty="0">
                <a:ln>
                  <a:noFill/>
                </a:ln>
                <a:solidFill>
                  <a:srgbClr val="FF0000"/>
                </a:solidFill>
                <a:effectLst/>
                <a:latin typeface="+mn-ea"/>
                <a:cs typeface="굴림" pitchFamily="50" charset="-127"/>
              </a:rPr>
              <a:t> </a:t>
            </a:r>
            <a:r>
              <a:rPr kumimoji="1" lang="ko-KR" altLang="en-US" sz="1200" b="0" i="0" u="none" strike="noStrike" cap="none" normalizeH="0" baseline="0" dirty="0">
                <a:ln>
                  <a:noFill/>
                </a:ln>
                <a:solidFill>
                  <a:srgbClr val="FF0000"/>
                </a:solidFill>
                <a:effectLst/>
                <a:latin typeface="+mn-ea"/>
                <a:cs typeface="굴림" pitchFamily="50" charset="-127"/>
              </a:rPr>
              <a:t>또는</a:t>
            </a:r>
            <a:r>
              <a:rPr kumimoji="1" lang="en-US" altLang="ko-KR" sz="1200" b="0" i="0" u="none" strike="noStrike" cap="none" normalizeH="0" baseline="0" dirty="0">
                <a:ln>
                  <a:noFill/>
                </a:ln>
                <a:solidFill>
                  <a:srgbClr val="FF0000"/>
                </a:solidFill>
                <a:effectLst/>
                <a:latin typeface="+mn-ea"/>
                <a:cs typeface="굴림" pitchFamily="50" charset="-127"/>
              </a:rPr>
              <a:t> </a:t>
            </a:r>
            <a:r>
              <a:rPr kumimoji="1" lang="ko-KR" altLang="en-US" sz="1200" b="0" i="0" u="none" strike="noStrike" cap="none" normalizeH="0" baseline="0" dirty="0">
                <a:ln>
                  <a:noFill/>
                </a:ln>
                <a:solidFill>
                  <a:srgbClr val="FF0000"/>
                </a:solidFill>
                <a:effectLst/>
                <a:latin typeface="+mn-ea"/>
                <a:cs typeface="굴림" pitchFamily="50" charset="-127"/>
              </a:rPr>
              <a:t>그 방법의 사용을 청약하는 행위</a:t>
            </a:r>
            <a:r>
              <a:rPr kumimoji="1" lang="ko-KR" sz="1200" b="0" i="0" u="none" strike="noStrike" cap="none" normalizeH="0" baseline="0" dirty="0">
                <a:ln>
                  <a:noFill/>
                </a:ln>
                <a:solidFill>
                  <a:srgbClr val="444444"/>
                </a:solidFill>
                <a:effectLst/>
                <a:latin typeface="+mn-ea"/>
                <a:cs typeface="굴림" pitchFamily="50" charset="-127"/>
              </a:rPr>
              <a:t> 외에 그 방법에 의하여 생산한 물건을 </a:t>
            </a:r>
            <a:r>
              <a:rPr kumimoji="1" lang="ko-KR" sz="1200" b="0" i="0" u="none" strike="noStrike" cap="none" normalizeH="0" baseline="0" dirty="0" err="1">
                <a:ln>
                  <a:noFill/>
                </a:ln>
                <a:solidFill>
                  <a:srgbClr val="444444"/>
                </a:solidFill>
                <a:effectLst/>
                <a:latin typeface="+mn-ea"/>
                <a:cs typeface="굴림" pitchFamily="50" charset="-127"/>
              </a:rPr>
              <a:t>사용</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양도</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대</a:t>
            </a:r>
            <a:r>
              <a:rPr kumimoji="1" lang="ko-KR" altLang="en-US" sz="1200" b="0" i="0" u="none" strike="noStrike" cap="none" normalizeH="0" baseline="0" dirty="0" err="1">
                <a:ln>
                  <a:noFill/>
                </a:ln>
                <a:solidFill>
                  <a:srgbClr val="444444"/>
                </a:solidFill>
                <a:effectLst/>
                <a:latin typeface="+mn-ea"/>
                <a:cs typeface="굴림" pitchFamily="50" charset="-127"/>
              </a:rPr>
              <a:t>여</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altLang="en-US" sz="1200" b="0" i="0" u="none" strike="noStrike" cap="none" normalizeH="0" baseline="0" dirty="0" err="1">
                <a:ln>
                  <a:noFill/>
                </a:ln>
                <a:solidFill>
                  <a:srgbClr val="444444"/>
                </a:solidFill>
                <a:effectLst/>
                <a:latin typeface="+mn-ea"/>
                <a:cs typeface="굴림" pitchFamily="50" charset="-127"/>
              </a:rPr>
              <a:t>수출</a:t>
            </a:r>
            <a:r>
              <a:rPr kumimoji="1" lang="ko-KR" sz="1200" b="0" i="0" u="none" strike="noStrike" cap="none" normalizeH="0" baseline="0" dirty="0">
                <a:ln>
                  <a:noFill/>
                </a:ln>
                <a:solidFill>
                  <a:srgbClr val="444444"/>
                </a:solidFill>
                <a:effectLst/>
                <a:latin typeface="+mn-ea"/>
                <a:cs typeface="굴림" pitchFamily="50" charset="-127"/>
              </a:rPr>
              <a:t> 또는 수입하거나 그 물건의 양도 또는 대여의 청약을 하는 행위</a:t>
            </a:r>
            <a:endParaRPr kumimoji="1" lang="ko-KR" sz="1200" b="0" i="0" u="none" strike="noStrike" cap="none" normalizeH="0" baseline="0" dirty="0">
              <a:ln>
                <a:noFill/>
              </a:ln>
              <a:solidFill>
                <a:schemeClr val="tx1"/>
              </a:solidFill>
              <a:effectLst/>
              <a:latin typeface="+mn-ea"/>
              <a:cs typeface="굴림" pitchFamily="50" charset="-127"/>
            </a:endParaRPr>
          </a:p>
        </p:txBody>
      </p:sp>
      <p:sp>
        <p:nvSpPr>
          <p:cNvPr id="91" name="Rectangle 1"/>
          <p:cNvSpPr>
            <a:spLocks noChangeArrowheads="1"/>
          </p:cNvSpPr>
          <p:nvPr/>
        </p:nvSpPr>
        <p:spPr bwMode="auto">
          <a:xfrm>
            <a:off x="6444762" y="3652210"/>
            <a:ext cx="541606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sz="1200" b="0" i="0" u="none" strike="noStrike" cap="none" normalizeH="0" baseline="0" dirty="0">
                <a:ln>
                  <a:noFill/>
                </a:ln>
                <a:solidFill>
                  <a:srgbClr val="444444"/>
                </a:solidFill>
                <a:effectLst/>
                <a:latin typeface="+mn-ea"/>
                <a:cs typeface="굴림" pitchFamily="50" charset="-127"/>
              </a:rPr>
              <a:t>그 방법을 사용하는 행위</a:t>
            </a:r>
            <a:r>
              <a:rPr kumimoji="1" lang="en-US" altLang="ko-KR" sz="1200" b="0" i="0" u="none" strike="noStrike" cap="none" normalizeH="0" baseline="0" dirty="0">
                <a:ln>
                  <a:noFill/>
                </a:ln>
                <a:solidFill>
                  <a:srgbClr val="444444"/>
                </a:solidFill>
                <a:effectLst/>
                <a:latin typeface="+mn-ea"/>
                <a:cs typeface="굴림" pitchFamily="50" charset="-127"/>
              </a:rPr>
              <a:t> </a:t>
            </a:r>
            <a:r>
              <a:rPr kumimoji="1" lang="ko-KR" altLang="en-US" sz="1200" b="0" i="0" u="none" strike="noStrike" cap="none" normalizeH="0" baseline="0" dirty="0">
                <a:ln>
                  <a:noFill/>
                </a:ln>
                <a:solidFill>
                  <a:srgbClr val="444444"/>
                </a:solidFill>
                <a:effectLst/>
                <a:latin typeface="+mn-ea"/>
                <a:cs typeface="굴림" pitchFamily="50" charset="-127"/>
              </a:rPr>
              <a:t>또는 </a:t>
            </a:r>
            <a:r>
              <a:rPr kumimoji="1" lang="ko-KR" altLang="en-US" sz="1200" b="0" i="0" u="none" strike="noStrike" cap="none" normalizeH="0" baseline="0" dirty="0">
                <a:ln>
                  <a:noFill/>
                </a:ln>
                <a:solidFill>
                  <a:srgbClr val="FF0000"/>
                </a:solidFill>
                <a:effectLst/>
                <a:latin typeface="+mn-ea"/>
                <a:cs typeface="굴림" pitchFamily="50" charset="-127"/>
              </a:rPr>
              <a:t>그 방법의 사용을 청약하는 행위</a:t>
            </a:r>
            <a:endParaRPr kumimoji="1" lang="ko-KR" sz="1200" b="0" i="0" u="none" strike="noStrike" cap="none" normalizeH="0" baseline="0" dirty="0">
              <a:ln>
                <a:noFill/>
              </a:ln>
              <a:solidFill>
                <a:srgbClr val="FF0000"/>
              </a:solidFill>
              <a:effectLst/>
              <a:latin typeface="+mn-ea"/>
              <a:cs typeface="굴림" pitchFamily="50" charset="-127"/>
            </a:endParaRPr>
          </a:p>
        </p:txBody>
      </p:sp>
      <p:sp>
        <p:nvSpPr>
          <p:cNvPr id="58" name="TextBox 57"/>
          <p:cNvSpPr txBox="1"/>
          <p:nvPr/>
        </p:nvSpPr>
        <p:spPr>
          <a:xfrm>
            <a:off x="5451582" y="3078391"/>
            <a:ext cx="922047" cy="338554"/>
          </a:xfrm>
          <a:prstGeom prst="rect">
            <a:avLst/>
          </a:prstGeom>
          <a:solidFill>
            <a:schemeClr val="bg1">
              <a:lumMod val="95000"/>
            </a:schemeClr>
          </a:solidFill>
          <a:ln>
            <a:solidFill>
              <a:schemeClr val="bg1">
                <a:lumMod val="50000"/>
              </a:schemeClr>
            </a:solidFill>
          </a:ln>
        </p:spPr>
        <p:txBody>
          <a:bodyPr wrap="none" rtlCol="0">
            <a:spAutoFit/>
          </a:bodyPr>
          <a:lstStyle/>
          <a:p>
            <a:pPr algn="ctr"/>
            <a:r>
              <a:rPr lang="ko-KR" altLang="en-US" sz="1600" dirty="0"/>
              <a:t>물건발명</a:t>
            </a:r>
          </a:p>
        </p:txBody>
      </p:sp>
      <p:sp>
        <p:nvSpPr>
          <p:cNvPr id="97" name="TextBox 96"/>
          <p:cNvSpPr txBox="1"/>
          <p:nvPr/>
        </p:nvSpPr>
        <p:spPr>
          <a:xfrm>
            <a:off x="5451581" y="3622016"/>
            <a:ext cx="922048" cy="338554"/>
          </a:xfrm>
          <a:prstGeom prst="rect">
            <a:avLst/>
          </a:prstGeom>
          <a:solidFill>
            <a:schemeClr val="bg1">
              <a:lumMod val="95000"/>
            </a:schemeClr>
          </a:solidFill>
          <a:ln>
            <a:solidFill>
              <a:schemeClr val="bg1">
                <a:lumMod val="50000"/>
              </a:schemeClr>
            </a:solidFill>
          </a:ln>
        </p:spPr>
        <p:txBody>
          <a:bodyPr wrap="none" rtlCol="0">
            <a:spAutoFit/>
          </a:bodyPr>
          <a:lstStyle/>
          <a:p>
            <a:pPr algn="ctr"/>
            <a:r>
              <a:rPr lang="ko-KR" altLang="en-US" sz="1600" dirty="0"/>
              <a:t>방법발명</a:t>
            </a:r>
          </a:p>
        </p:txBody>
      </p:sp>
      <p:sp>
        <p:nvSpPr>
          <p:cNvPr id="105" name="TextBox 104"/>
          <p:cNvSpPr txBox="1"/>
          <p:nvPr/>
        </p:nvSpPr>
        <p:spPr>
          <a:xfrm>
            <a:off x="5451581" y="4086923"/>
            <a:ext cx="922048" cy="338554"/>
          </a:xfrm>
          <a:prstGeom prst="rect">
            <a:avLst/>
          </a:prstGeom>
          <a:solidFill>
            <a:schemeClr val="bg1">
              <a:lumMod val="95000"/>
            </a:schemeClr>
          </a:solidFill>
          <a:ln>
            <a:solidFill>
              <a:schemeClr val="bg1">
                <a:lumMod val="50000"/>
              </a:schemeClr>
            </a:solidFill>
          </a:ln>
        </p:spPr>
        <p:txBody>
          <a:bodyPr wrap="none" rtlCol="0">
            <a:spAutoFit/>
          </a:bodyPr>
          <a:lstStyle/>
          <a:p>
            <a:pPr algn="ctr"/>
            <a:r>
              <a:rPr lang="ko-KR" altLang="en-US" sz="1600" dirty="0" err="1"/>
              <a:t>제법발명</a:t>
            </a:r>
            <a:endParaRPr lang="ko-KR" altLang="en-US" sz="1600" dirty="0"/>
          </a:p>
        </p:txBody>
      </p:sp>
    </p:spTree>
    <p:extLst>
      <p:ext uri="{BB962C8B-B14F-4D97-AF65-F5344CB8AC3E}">
        <p14:creationId xmlns:p14="http://schemas.microsoft.com/office/powerpoint/2010/main" val="251656685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 name="타원 143"/>
          <p:cNvSpPr/>
          <p:nvPr/>
        </p:nvSpPr>
        <p:spPr>
          <a:xfrm>
            <a:off x="6722624" y="4326142"/>
            <a:ext cx="1906035" cy="190603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ko-KR" altLang="en-US" sz="1400" dirty="0">
              <a:solidFill>
                <a:schemeClr val="tx1"/>
              </a:solidFill>
            </a:endParaRPr>
          </a:p>
        </p:txBody>
      </p:sp>
      <p:sp>
        <p:nvSpPr>
          <p:cNvPr id="3" name="제목 2"/>
          <p:cNvSpPr>
            <a:spLocks noGrp="1"/>
          </p:cNvSpPr>
          <p:nvPr>
            <p:ph type="title"/>
          </p:nvPr>
        </p:nvSpPr>
        <p:spPr/>
        <p:txBody>
          <a:bodyPr/>
          <a:lstStyle/>
          <a:p>
            <a:r>
              <a:rPr lang="ko-KR" altLang="en-US" dirty="0"/>
              <a:t>제</a:t>
            </a:r>
            <a:r>
              <a:rPr lang="en-US" altLang="ko-KR" dirty="0"/>
              <a:t>2</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발명의 분류</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28</a:t>
            </a:fld>
            <a:endParaRPr lang="ko-KR" altLang="en-US"/>
          </a:p>
        </p:txBody>
      </p:sp>
      <p:sp>
        <p:nvSpPr>
          <p:cNvPr id="71" name="Rectangle 5"/>
          <p:cNvSpPr>
            <a:spLocks noChangeArrowheads="1"/>
          </p:cNvSpPr>
          <p:nvPr/>
        </p:nvSpPr>
        <p:spPr bwMode="auto">
          <a:xfrm>
            <a:off x="334472" y="1060572"/>
            <a:ext cx="11763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구별실익</a:t>
            </a:r>
            <a:r>
              <a:rPr lang="en-US" altLang="ko-KR" sz="1600" dirty="0">
                <a:solidFill>
                  <a:schemeClr val="bg1"/>
                </a:solidFill>
                <a:latin typeface="+mj-ea"/>
                <a:ea typeface="+mj-ea"/>
              </a:rPr>
              <a:t>3</a:t>
            </a:r>
            <a:endParaRPr lang="ko-KR" altLang="en-US" sz="1600" b="0" dirty="0">
              <a:solidFill>
                <a:schemeClr val="bg1"/>
              </a:solidFill>
              <a:latin typeface="+mj-ea"/>
              <a:ea typeface="+mj-ea"/>
            </a:endParaRPr>
          </a:p>
        </p:txBody>
      </p:sp>
      <p:sp>
        <p:nvSpPr>
          <p:cNvPr id="72" name="직사각형 71"/>
          <p:cNvSpPr/>
          <p:nvPr/>
        </p:nvSpPr>
        <p:spPr>
          <a:xfrm>
            <a:off x="289410" y="2057939"/>
            <a:ext cx="5689598" cy="646331"/>
          </a:xfrm>
          <a:prstGeom prst="rect">
            <a:avLst/>
          </a:prstGeom>
          <a:ln>
            <a:solidFill>
              <a:schemeClr val="bg1">
                <a:lumMod val="50000"/>
              </a:schemeClr>
            </a:solidFill>
          </a:ln>
        </p:spPr>
        <p:txBody>
          <a:bodyPr wrap="square">
            <a:spAutoFit/>
          </a:bodyPr>
          <a:lstStyle/>
          <a:p>
            <a:pPr fontAlgn="base"/>
            <a:r>
              <a:rPr lang="ko-KR" altLang="en-US" sz="1200" dirty="0"/>
              <a:t>물건발명이 </a:t>
            </a:r>
            <a:r>
              <a:rPr lang="ko-KR" altLang="en-US" sz="1200" dirty="0" err="1"/>
              <a:t>신규성</a:t>
            </a:r>
            <a:r>
              <a:rPr lang="ko-KR" altLang="en-US" sz="1200" dirty="0"/>
              <a:t> 또는 진보성이 있는 경우 </a:t>
            </a:r>
            <a:r>
              <a:rPr lang="ko-KR" altLang="en-US" sz="1200" dirty="0" err="1"/>
              <a:t>제법발명</a:t>
            </a:r>
            <a:r>
              <a:rPr lang="ko-KR" altLang="en-US" sz="1200" dirty="0"/>
              <a:t> 또는 용도발명은 당연히 </a:t>
            </a:r>
            <a:r>
              <a:rPr lang="ko-KR" altLang="en-US" sz="1200" dirty="0" err="1"/>
              <a:t>신규성</a:t>
            </a:r>
            <a:r>
              <a:rPr lang="ko-KR" altLang="en-US" sz="1200" dirty="0"/>
              <a:t> 또는 진보성이 있다</a:t>
            </a:r>
            <a:r>
              <a:rPr lang="en-US" altLang="ko-KR" sz="1200" dirty="0"/>
              <a:t>. </a:t>
            </a:r>
            <a:r>
              <a:rPr lang="ko-KR" altLang="en-US" sz="1200" dirty="0"/>
              <a:t>반면 물건발명이 </a:t>
            </a:r>
            <a:r>
              <a:rPr lang="ko-KR" altLang="en-US" sz="1200" dirty="0" err="1"/>
              <a:t>신규성</a:t>
            </a:r>
            <a:r>
              <a:rPr lang="ko-KR" altLang="en-US" sz="1200" dirty="0"/>
              <a:t> 또는 진보성이 없는 경우 </a:t>
            </a:r>
            <a:r>
              <a:rPr lang="ko-KR" altLang="en-US" sz="1200" dirty="0" err="1"/>
              <a:t>제법발명</a:t>
            </a:r>
            <a:r>
              <a:rPr lang="ko-KR" altLang="en-US" sz="1200" dirty="0"/>
              <a:t> 또는 용도발명은 개별적으로 </a:t>
            </a:r>
            <a:r>
              <a:rPr lang="ko-KR" altLang="en-US" sz="1200" dirty="0" err="1"/>
              <a:t>신규성</a:t>
            </a:r>
            <a:r>
              <a:rPr lang="ko-KR" altLang="en-US" sz="1200" dirty="0"/>
              <a:t> 또는 진보성 여부를 판단하여야 한다</a:t>
            </a:r>
            <a:r>
              <a:rPr lang="en-US" altLang="ko-KR" sz="1200" dirty="0"/>
              <a:t>. </a:t>
            </a:r>
            <a:endParaRPr lang="ko-KR" altLang="en-US" sz="1200" dirty="0"/>
          </a:p>
        </p:txBody>
      </p:sp>
      <p:grpSp>
        <p:nvGrpSpPr>
          <p:cNvPr id="7" name="그룹 6"/>
          <p:cNvGrpSpPr/>
          <p:nvPr/>
        </p:nvGrpSpPr>
        <p:grpSpPr>
          <a:xfrm>
            <a:off x="334472" y="2884609"/>
            <a:ext cx="5644536" cy="1736371"/>
            <a:chOff x="334472" y="2867025"/>
            <a:chExt cx="5753100" cy="1736371"/>
          </a:xfrm>
        </p:grpSpPr>
        <p:sp>
          <p:nvSpPr>
            <p:cNvPr id="96" name="직사각형 95"/>
            <p:cNvSpPr/>
            <p:nvPr/>
          </p:nvSpPr>
          <p:spPr>
            <a:xfrm>
              <a:off x="1113141" y="2867025"/>
              <a:ext cx="1266828" cy="1357752"/>
            </a:xfrm>
            <a:prstGeom prst="rect">
              <a:avLst/>
            </a:prstGeom>
            <a:no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타원 74"/>
            <p:cNvSpPr/>
            <p:nvPr/>
          </p:nvSpPr>
          <p:spPr>
            <a:xfrm>
              <a:off x="2722867" y="3095625"/>
              <a:ext cx="800100" cy="800100"/>
            </a:xfrm>
            <a:prstGeom prst="ellipse">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신규</a:t>
              </a:r>
              <a:endParaRPr lang="en-US" altLang="ko-KR" sz="1200" dirty="0">
                <a:solidFill>
                  <a:schemeClr val="tx1"/>
                </a:solidFill>
              </a:endParaRPr>
            </a:p>
            <a:p>
              <a:pPr algn="ctr"/>
              <a:r>
                <a:rPr lang="ko-KR" altLang="en-US" sz="1200" dirty="0">
                  <a:solidFill>
                    <a:schemeClr val="tx1"/>
                  </a:solidFill>
                </a:rPr>
                <a:t>화합물</a:t>
              </a:r>
            </a:p>
          </p:txBody>
        </p:sp>
        <p:sp>
          <p:nvSpPr>
            <p:cNvPr id="76" name="타원 75"/>
            <p:cNvSpPr/>
            <p:nvPr/>
          </p:nvSpPr>
          <p:spPr>
            <a:xfrm>
              <a:off x="334472" y="2943225"/>
              <a:ext cx="400050" cy="400050"/>
            </a:xfrm>
            <a:prstGeom prst="ellipse">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甲</a:t>
              </a:r>
            </a:p>
          </p:txBody>
        </p:sp>
        <p:sp>
          <p:nvSpPr>
            <p:cNvPr id="77" name="타원 76"/>
            <p:cNvSpPr/>
            <p:nvPr/>
          </p:nvSpPr>
          <p:spPr>
            <a:xfrm>
              <a:off x="334472" y="3657600"/>
              <a:ext cx="400050" cy="400050"/>
            </a:xfrm>
            <a:prstGeom prst="ellipse">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乙</a:t>
              </a:r>
            </a:p>
          </p:txBody>
        </p:sp>
        <p:sp>
          <p:nvSpPr>
            <p:cNvPr id="78" name="타원 77"/>
            <p:cNvSpPr/>
            <p:nvPr/>
          </p:nvSpPr>
          <p:spPr>
            <a:xfrm>
              <a:off x="5687522" y="2943225"/>
              <a:ext cx="400050" cy="400050"/>
            </a:xfrm>
            <a:prstGeom prst="ellipse">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丙</a:t>
              </a:r>
            </a:p>
          </p:txBody>
        </p:sp>
        <p:sp>
          <p:nvSpPr>
            <p:cNvPr id="79" name="타원 78"/>
            <p:cNvSpPr/>
            <p:nvPr/>
          </p:nvSpPr>
          <p:spPr>
            <a:xfrm>
              <a:off x="5687522" y="3657600"/>
              <a:ext cx="400050" cy="400050"/>
            </a:xfrm>
            <a:prstGeom prst="ellipse">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丁</a:t>
              </a:r>
            </a:p>
          </p:txBody>
        </p:sp>
        <p:cxnSp>
          <p:nvCxnSpPr>
            <p:cNvPr id="80" name="직선 화살표 연결선 79"/>
            <p:cNvCxnSpPr/>
            <p:nvPr/>
          </p:nvCxnSpPr>
          <p:spPr>
            <a:xfrm>
              <a:off x="827392" y="3143250"/>
              <a:ext cx="1828800" cy="200025"/>
            </a:xfrm>
            <a:prstGeom prst="straightConnector1">
              <a:avLst/>
            </a:prstGeom>
            <a:ln>
              <a:solidFill>
                <a:schemeClr val="bg1">
                  <a:lumMod val="50000"/>
                </a:schemeClr>
              </a:solidFill>
              <a:prstDash val="solid"/>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3" name="직선 화살표 연결선 82"/>
            <p:cNvCxnSpPr/>
            <p:nvPr/>
          </p:nvCxnSpPr>
          <p:spPr>
            <a:xfrm flipV="1">
              <a:off x="827392" y="3669726"/>
              <a:ext cx="1828800" cy="174051"/>
            </a:xfrm>
            <a:prstGeom prst="straightConnector1">
              <a:avLst/>
            </a:prstGeom>
            <a:ln>
              <a:solidFill>
                <a:schemeClr val="bg1">
                  <a:lumMod val="50000"/>
                </a:schemeClr>
              </a:solidFill>
              <a:prstDash val="solid"/>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7" name="직선 화살표 연결선 86"/>
            <p:cNvCxnSpPr/>
            <p:nvPr/>
          </p:nvCxnSpPr>
          <p:spPr>
            <a:xfrm flipV="1">
              <a:off x="3646792" y="3143250"/>
              <a:ext cx="1933575" cy="200025"/>
            </a:xfrm>
            <a:prstGeom prst="straightConnector1">
              <a:avLst/>
            </a:prstGeom>
            <a:ln>
              <a:solidFill>
                <a:schemeClr val="bg1">
                  <a:lumMod val="50000"/>
                </a:schemeClr>
              </a:solidFill>
              <a:prstDash val="solid"/>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90" name="직선 화살표 연결선 89"/>
            <p:cNvCxnSpPr/>
            <p:nvPr/>
          </p:nvCxnSpPr>
          <p:spPr>
            <a:xfrm>
              <a:off x="3646792" y="3595688"/>
              <a:ext cx="1933575" cy="248089"/>
            </a:xfrm>
            <a:prstGeom prst="straightConnector1">
              <a:avLst/>
            </a:prstGeom>
            <a:ln>
              <a:solidFill>
                <a:schemeClr val="bg1">
                  <a:lumMod val="50000"/>
                </a:schemeClr>
              </a:solidFill>
              <a:prstDash val="solid"/>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92" name="Rectangle 5"/>
            <p:cNvSpPr>
              <a:spLocks noChangeArrowheads="1"/>
            </p:cNvSpPr>
            <p:nvPr/>
          </p:nvSpPr>
          <p:spPr bwMode="auto">
            <a:xfrm>
              <a:off x="1470329" y="2969199"/>
              <a:ext cx="542925" cy="348102"/>
            </a:xfrm>
            <a:prstGeom prst="rect">
              <a:avLst/>
            </a:prstGeom>
            <a:noFill/>
            <a:ln w="9525" algn="ctr">
              <a:noFill/>
              <a:miter lim="800000"/>
              <a:headEnd/>
              <a:tailEnd/>
            </a:ln>
          </p:spPr>
          <p:txBody>
            <a:bodyPr wrap="none" anchor="ctr"/>
            <a:lstStyle/>
            <a:p>
              <a:pPr algn="ctr"/>
              <a:r>
                <a:rPr lang="en-US" altLang="ko-KR" sz="1000" b="0">
                  <a:solidFill>
                    <a:schemeClr val="tx1"/>
                  </a:solidFill>
                  <a:latin typeface="+mj-ea"/>
                  <a:ea typeface="+mj-ea"/>
                </a:rPr>
                <a:t>A </a:t>
              </a:r>
              <a:r>
                <a:rPr lang="ko-KR" altLang="en-US" sz="1000" b="0" dirty="0">
                  <a:solidFill>
                    <a:schemeClr val="tx1"/>
                  </a:solidFill>
                  <a:latin typeface="+mj-ea"/>
                  <a:ea typeface="+mj-ea"/>
                </a:rPr>
                <a:t>방법</a:t>
              </a:r>
            </a:p>
          </p:txBody>
        </p:sp>
        <p:sp>
          <p:nvSpPr>
            <p:cNvPr id="93" name="Rectangle 5"/>
            <p:cNvSpPr>
              <a:spLocks noChangeArrowheads="1"/>
            </p:cNvSpPr>
            <p:nvPr/>
          </p:nvSpPr>
          <p:spPr bwMode="auto">
            <a:xfrm>
              <a:off x="1470329" y="3503680"/>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B </a:t>
              </a:r>
              <a:r>
                <a:rPr lang="ko-KR" altLang="en-US" sz="1000" b="0" dirty="0">
                  <a:solidFill>
                    <a:schemeClr val="tx1"/>
                  </a:solidFill>
                  <a:latin typeface="+mj-ea"/>
                  <a:ea typeface="+mj-ea"/>
                </a:rPr>
                <a:t>방법</a:t>
              </a:r>
            </a:p>
          </p:txBody>
        </p:sp>
        <p:sp>
          <p:nvSpPr>
            <p:cNvPr id="94" name="Rectangle 5"/>
            <p:cNvSpPr>
              <a:spLocks noChangeArrowheads="1"/>
            </p:cNvSpPr>
            <p:nvPr/>
          </p:nvSpPr>
          <p:spPr bwMode="auto">
            <a:xfrm>
              <a:off x="4342116" y="2969199"/>
              <a:ext cx="542925" cy="348102"/>
            </a:xfrm>
            <a:prstGeom prst="rect">
              <a:avLst/>
            </a:prstGeom>
            <a:noFill/>
            <a:ln w="9525" algn="ctr">
              <a:noFill/>
              <a:miter lim="800000"/>
              <a:headEnd/>
              <a:tailEnd/>
            </a:ln>
          </p:spPr>
          <p:txBody>
            <a:bodyPr wrap="none" anchor="ctr"/>
            <a:lstStyle/>
            <a:p>
              <a:pPr algn="ctr"/>
              <a:r>
                <a:rPr lang="ko-KR" altLang="en-US" sz="1000" dirty="0">
                  <a:latin typeface="+mj-ea"/>
                  <a:ea typeface="+mj-ea"/>
                </a:rPr>
                <a:t>농약</a:t>
              </a:r>
              <a:endParaRPr lang="ko-KR" altLang="en-US" sz="1000" b="0" dirty="0">
                <a:solidFill>
                  <a:schemeClr val="tx1"/>
                </a:solidFill>
                <a:latin typeface="+mj-ea"/>
                <a:ea typeface="+mj-ea"/>
              </a:endParaRPr>
            </a:p>
          </p:txBody>
        </p:sp>
        <p:sp>
          <p:nvSpPr>
            <p:cNvPr id="95" name="Rectangle 5"/>
            <p:cNvSpPr>
              <a:spLocks noChangeArrowheads="1"/>
            </p:cNvSpPr>
            <p:nvPr/>
          </p:nvSpPr>
          <p:spPr bwMode="auto">
            <a:xfrm>
              <a:off x="4342116" y="3503680"/>
              <a:ext cx="542925" cy="348102"/>
            </a:xfrm>
            <a:prstGeom prst="rect">
              <a:avLst/>
            </a:prstGeom>
            <a:noFill/>
            <a:ln w="9525" algn="ctr">
              <a:noFill/>
              <a:miter lim="800000"/>
              <a:headEnd/>
              <a:tailEnd/>
            </a:ln>
          </p:spPr>
          <p:txBody>
            <a:bodyPr wrap="none" anchor="ctr"/>
            <a:lstStyle/>
            <a:p>
              <a:pPr algn="ctr"/>
              <a:r>
                <a:rPr lang="ko-KR" altLang="en-US" sz="1000" b="0" dirty="0">
                  <a:solidFill>
                    <a:schemeClr val="tx1"/>
                  </a:solidFill>
                  <a:latin typeface="+mj-ea"/>
                  <a:ea typeface="+mj-ea"/>
                </a:rPr>
                <a:t>의약</a:t>
              </a:r>
            </a:p>
          </p:txBody>
        </p:sp>
        <p:sp>
          <p:nvSpPr>
            <p:cNvPr id="98" name="직사각형 97"/>
            <p:cNvSpPr/>
            <p:nvPr/>
          </p:nvSpPr>
          <p:spPr>
            <a:xfrm>
              <a:off x="2489503" y="2867025"/>
              <a:ext cx="1266828" cy="1357752"/>
            </a:xfrm>
            <a:prstGeom prst="rect">
              <a:avLst/>
            </a:prstGeom>
            <a:no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직사각형 98"/>
            <p:cNvSpPr/>
            <p:nvPr/>
          </p:nvSpPr>
          <p:spPr>
            <a:xfrm>
              <a:off x="3980164" y="2867025"/>
              <a:ext cx="1266828" cy="1357752"/>
            </a:xfrm>
            <a:prstGeom prst="rect">
              <a:avLst/>
            </a:prstGeom>
            <a:no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Rectangle 5"/>
            <p:cNvSpPr>
              <a:spLocks noChangeArrowheads="1"/>
            </p:cNvSpPr>
            <p:nvPr/>
          </p:nvSpPr>
          <p:spPr bwMode="auto">
            <a:xfrm>
              <a:off x="1484617" y="4255294"/>
              <a:ext cx="542925" cy="348102"/>
            </a:xfrm>
            <a:prstGeom prst="rect">
              <a:avLst/>
            </a:prstGeom>
            <a:noFill/>
            <a:ln w="9525" algn="ctr">
              <a:noFill/>
              <a:miter lim="800000"/>
              <a:headEnd/>
              <a:tailEnd/>
            </a:ln>
          </p:spPr>
          <p:txBody>
            <a:bodyPr wrap="none" anchor="ctr"/>
            <a:lstStyle/>
            <a:p>
              <a:pPr algn="ctr"/>
              <a:r>
                <a:rPr lang="ko-KR" altLang="en-US" sz="1400" dirty="0" err="1">
                  <a:solidFill>
                    <a:schemeClr val="accent2">
                      <a:lumMod val="50000"/>
                    </a:schemeClr>
                  </a:solidFill>
                  <a:latin typeface="+mj-ea"/>
                  <a:ea typeface="+mj-ea"/>
                </a:rPr>
                <a:t>제법발명</a:t>
              </a:r>
              <a:r>
                <a:rPr lang="en-US" altLang="ko-KR" sz="1400" dirty="0">
                  <a:solidFill>
                    <a:schemeClr val="accent2">
                      <a:lumMod val="50000"/>
                    </a:schemeClr>
                  </a:solidFill>
                  <a:latin typeface="+mj-ea"/>
                  <a:ea typeface="+mj-ea"/>
                </a:rPr>
                <a:t>(</a:t>
              </a:r>
              <a:r>
                <a:rPr lang="ko-KR" altLang="en-US" sz="1400" dirty="0">
                  <a:solidFill>
                    <a:schemeClr val="accent2">
                      <a:lumMod val="50000"/>
                    </a:schemeClr>
                  </a:solidFill>
                  <a:latin typeface="+mj-ea"/>
                  <a:ea typeface="+mj-ea"/>
                </a:rPr>
                <a:t>多</a:t>
              </a:r>
              <a:r>
                <a:rPr lang="en-US" altLang="ko-KR" sz="1400" dirty="0">
                  <a:solidFill>
                    <a:schemeClr val="accent2">
                      <a:lumMod val="50000"/>
                    </a:schemeClr>
                  </a:solidFill>
                  <a:latin typeface="+mj-ea"/>
                  <a:ea typeface="+mj-ea"/>
                </a:rPr>
                <a:t>)</a:t>
              </a:r>
              <a:endParaRPr lang="ko-KR" altLang="en-US" sz="1400" b="0" dirty="0">
                <a:solidFill>
                  <a:schemeClr val="accent2">
                    <a:lumMod val="50000"/>
                  </a:schemeClr>
                </a:solidFill>
                <a:latin typeface="+mj-ea"/>
                <a:ea typeface="+mj-ea"/>
              </a:endParaRPr>
            </a:p>
          </p:txBody>
        </p:sp>
        <p:sp>
          <p:nvSpPr>
            <p:cNvPr id="101" name="Rectangle 5"/>
            <p:cNvSpPr>
              <a:spLocks noChangeArrowheads="1"/>
            </p:cNvSpPr>
            <p:nvPr/>
          </p:nvSpPr>
          <p:spPr bwMode="auto">
            <a:xfrm>
              <a:off x="2860979" y="4255294"/>
              <a:ext cx="542925" cy="348102"/>
            </a:xfrm>
            <a:prstGeom prst="rect">
              <a:avLst/>
            </a:prstGeom>
            <a:noFill/>
            <a:ln w="9525" algn="ctr">
              <a:noFill/>
              <a:miter lim="800000"/>
              <a:headEnd/>
              <a:tailEnd/>
            </a:ln>
          </p:spPr>
          <p:txBody>
            <a:bodyPr wrap="none" anchor="ctr"/>
            <a:lstStyle/>
            <a:p>
              <a:pPr algn="ctr"/>
              <a:r>
                <a:rPr lang="ko-KR" altLang="en-US" sz="1400" dirty="0">
                  <a:solidFill>
                    <a:schemeClr val="accent2">
                      <a:lumMod val="50000"/>
                    </a:schemeClr>
                  </a:solidFill>
                  <a:latin typeface="+mj-ea"/>
                  <a:ea typeface="+mj-ea"/>
                </a:rPr>
                <a:t>물건발명</a:t>
              </a:r>
              <a:r>
                <a:rPr lang="en-US" altLang="ko-KR" sz="1400" dirty="0">
                  <a:solidFill>
                    <a:schemeClr val="accent2">
                      <a:lumMod val="50000"/>
                    </a:schemeClr>
                  </a:solidFill>
                  <a:latin typeface="+mj-ea"/>
                  <a:ea typeface="+mj-ea"/>
                </a:rPr>
                <a:t>(1)</a:t>
              </a:r>
              <a:endParaRPr lang="ko-KR" altLang="en-US" sz="1400" b="0" dirty="0">
                <a:solidFill>
                  <a:schemeClr val="accent2">
                    <a:lumMod val="50000"/>
                  </a:schemeClr>
                </a:solidFill>
                <a:latin typeface="+mj-ea"/>
                <a:ea typeface="+mj-ea"/>
              </a:endParaRPr>
            </a:p>
          </p:txBody>
        </p:sp>
        <p:sp>
          <p:nvSpPr>
            <p:cNvPr id="102" name="Rectangle 5"/>
            <p:cNvSpPr>
              <a:spLocks noChangeArrowheads="1"/>
            </p:cNvSpPr>
            <p:nvPr/>
          </p:nvSpPr>
          <p:spPr bwMode="auto">
            <a:xfrm>
              <a:off x="4351641" y="4255294"/>
              <a:ext cx="542925" cy="348102"/>
            </a:xfrm>
            <a:prstGeom prst="rect">
              <a:avLst/>
            </a:prstGeom>
            <a:noFill/>
            <a:ln w="9525" algn="ctr">
              <a:noFill/>
              <a:miter lim="800000"/>
              <a:headEnd/>
              <a:tailEnd/>
            </a:ln>
          </p:spPr>
          <p:txBody>
            <a:bodyPr wrap="none" anchor="ctr"/>
            <a:lstStyle/>
            <a:p>
              <a:pPr algn="ctr"/>
              <a:r>
                <a:rPr lang="ko-KR" altLang="en-US" sz="1400" dirty="0">
                  <a:solidFill>
                    <a:schemeClr val="accent2">
                      <a:lumMod val="50000"/>
                    </a:schemeClr>
                  </a:solidFill>
                  <a:latin typeface="+mj-ea"/>
                  <a:ea typeface="+mj-ea"/>
                </a:rPr>
                <a:t>용도발명</a:t>
              </a:r>
              <a:r>
                <a:rPr lang="en-US" altLang="ko-KR" sz="1400" dirty="0">
                  <a:solidFill>
                    <a:schemeClr val="accent2">
                      <a:lumMod val="50000"/>
                    </a:schemeClr>
                  </a:solidFill>
                  <a:latin typeface="+mj-ea"/>
                  <a:ea typeface="+mj-ea"/>
                </a:rPr>
                <a:t>(</a:t>
              </a:r>
              <a:r>
                <a:rPr lang="ko-KR" altLang="en-US" sz="1400" dirty="0">
                  <a:solidFill>
                    <a:schemeClr val="accent2">
                      <a:lumMod val="50000"/>
                    </a:schemeClr>
                  </a:solidFill>
                  <a:latin typeface="+mj-ea"/>
                  <a:ea typeface="+mj-ea"/>
                </a:rPr>
                <a:t>多</a:t>
              </a:r>
              <a:r>
                <a:rPr lang="en-US" altLang="ko-KR" sz="1400" dirty="0">
                  <a:solidFill>
                    <a:schemeClr val="accent2">
                      <a:lumMod val="50000"/>
                    </a:schemeClr>
                  </a:solidFill>
                  <a:latin typeface="+mj-ea"/>
                  <a:ea typeface="+mj-ea"/>
                </a:rPr>
                <a:t>)</a:t>
              </a:r>
              <a:endParaRPr lang="ko-KR" altLang="en-US" sz="1400" b="0" dirty="0">
                <a:solidFill>
                  <a:schemeClr val="accent2">
                    <a:lumMod val="50000"/>
                  </a:schemeClr>
                </a:solidFill>
                <a:latin typeface="+mj-ea"/>
                <a:ea typeface="+mj-ea"/>
              </a:endParaRPr>
            </a:p>
          </p:txBody>
        </p:sp>
      </p:grpSp>
      <p:sp>
        <p:nvSpPr>
          <p:cNvPr id="61" name="TextBox 60"/>
          <p:cNvSpPr txBox="1"/>
          <p:nvPr/>
        </p:nvSpPr>
        <p:spPr>
          <a:xfrm>
            <a:off x="1653171" y="1049957"/>
            <a:ext cx="684803" cy="369332"/>
          </a:xfrm>
          <a:prstGeom prst="rect">
            <a:avLst/>
          </a:prstGeom>
          <a:noFill/>
        </p:spPr>
        <p:txBody>
          <a:bodyPr wrap="none" rtlCol="0">
            <a:spAutoFit/>
          </a:bodyPr>
          <a:lstStyle/>
          <a:p>
            <a:r>
              <a:rPr lang="en-US" altLang="ko-KR" dirty="0">
                <a:solidFill>
                  <a:srgbClr val="FF0000"/>
                </a:solidFill>
              </a:rPr>
              <a:t>A:B2</a:t>
            </a:r>
            <a:endParaRPr lang="ko-KR" altLang="en-US" dirty="0">
              <a:solidFill>
                <a:srgbClr val="FF0000"/>
              </a:solidFill>
            </a:endParaRPr>
          </a:p>
        </p:txBody>
      </p:sp>
      <p:sp>
        <p:nvSpPr>
          <p:cNvPr id="62" name="TextBox 61"/>
          <p:cNvSpPr txBox="1"/>
          <p:nvPr/>
        </p:nvSpPr>
        <p:spPr>
          <a:xfrm>
            <a:off x="289410" y="1508354"/>
            <a:ext cx="3924472" cy="400110"/>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2000" dirty="0"/>
              <a:t>물건발명</a:t>
            </a:r>
            <a:r>
              <a:rPr lang="en-US" altLang="ko-KR" sz="2000" dirty="0"/>
              <a:t>(</a:t>
            </a:r>
            <a:r>
              <a:rPr lang="ko-KR" altLang="en-US" sz="2000" dirty="0"/>
              <a:t>物</a:t>
            </a:r>
            <a:r>
              <a:rPr lang="en-US" altLang="ko-KR" sz="2000" dirty="0"/>
              <a:t>)</a:t>
            </a:r>
            <a:r>
              <a:rPr lang="ko-KR" altLang="en-US" sz="2000" dirty="0"/>
              <a:t> </a:t>
            </a:r>
            <a:r>
              <a:rPr lang="en-US" altLang="ko-KR" sz="2000" dirty="0"/>
              <a:t>: </a:t>
            </a:r>
            <a:r>
              <a:rPr lang="ko-KR" altLang="en-US" sz="2000" dirty="0" err="1"/>
              <a:t>제법발명</a:t>
            </a:r>
            <a:r>
              <a:rPr lang="en-US" altLang="ko-KR" sz="2000" dirty="0"/>
              <a:t>(</a:t>
            </a:r>
            <a:r>
              <a:rPr lang="ko-KR" altLang="en-US" sz="2000" dirty="0"/>
              <a:t>方</a:t>
            </a:r>
            <a:r>
              <a:rPr lang="en-US" altLang="ko-KR" sz="2000" dirty="0"/>
              <a:t>)</a:t>
            </a:r>
            <a:r>
              <a:rPr lang="ko-KR" altLang="en-US" sz="2000" dirty="0"/>
              <a:t> </a:t>
            </a:r>
            <a:r>
              <a:rPr lang="en-US" altLang="ko-KR" sz="2000" dirty="0"/>
              <a:t>= 1 : </a:t>
            </a:r>
            <a:r>
              <a:rPr lang="ko-KR" altLang="en-US" sz="2000" dirty="0"/>
              <a:t>多</a:t>
            </a:r>
          </a:p>
        </p:txBody>
      </p:sp>
      <p:cxnSp>
        <p:nvCxnSpPr>
          <p:cNvPr id="64" name="직선 연결선 63"/>
          <p:cNvCxnSpPr/>
          <p:nvPr/>
        </p:nvCxnSpPr>
        <p:spPr>
          <a:xfrm flipH="1">
            <a:off x="289411" y="4714875"/>
            <a:ext cx="5689597"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직선 연결선 106"/>
          <p:cNvCxnSpPr/>
          <p:nvPr/>
        </p:nvCxnSpPr>
        <p:spPr>
          <a:xfrm flipH="1">
            <a:off x="6070840" y="958362"/>
            <a:ext cx="1" cy="576775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8" name="TextBox 107"/>
          <p:cNvSpPr txBox="1"/>
          <p:nvPr/>
        </p:nvSpPr>
        <p:spPr>
          <a:xfrm>
            <a:off x="6265980" y="954549"/>
            <a:ext cx="3974165" cy="400110"/>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2000" dirty="0"/>
              <a:t>실시 </a:t>
            </a:r>
            <a:r>
              <a:rPr lang="en-US" altLang="ko-KR" sz="2000" dirty="0"/>
              <a:t>: </a:t>
            </a:r>
            <a:r>
              <a:rPr lang="ko-KR" altLang="en-US" sz="2000" dirty="0"/>
              <a:t>물건발명</a:t>
            </a:r>
            <a:r>
              <a:rPr lang="en-US" altLang="ko-KR" sz="2000" dirty="0"/>
              <a:t>(</a:t>
            </a:r>
            <a:r>
              <a:rPr lang="ko-KR" altLang="en-US" sz="2000" dirty="0"/>
              <a:t>物</a:t>
            </a:r>
            <a:r>
              <a:rPr lang="en-US" altLang="ko-KR" sz="2000" dirty="0"/>
              <a:t>) </a:t>
            </a:r>
            <a:r>
              <a:rPr lang="ko-KR" altLang="en-US" sz="2000" dirty="0"/>
              <a:t>⊃</a:t>
            </a:r>
            <a:r>
              <a:rPr lang="en-US" altLang="ko-KR" sz="2000" dirty="0"/>
              <a:t> </a:t>
            </a:r>
            <a:r>
              <a:rPr lang="ko-KR" altLang="en-US" sz="2000" dirty="0" err="1"/>
              <a:t>제법발명</a:t>
            </a:r>
            <a:r>
              <a:rPr lang="en-US" altLang="ko-KR" sz="2000" dirty="0"/>
              <a:t>(</a:t>
            </a:r>
            <a:r>
              <a:rPr lang="ko-KR" altLang="en-US" sz="2000" dirty="0"/>
              <a:t>方</a:t>
            </a:r>
            <a:r>
              <a:rPr lang="en-US" altLang="ko-KR" sz="2000" dirty="0"/>
              <a:t>)</a:t>
            </a:r>
            <a:r>
              <a:rPr lang="ko-KR" altLang="en-US" sz="2000" dirty="0"/>
              <a:t> </a:t>
            </a:r>
          </a:p>
        </p:txBody>
      </p:sp>
      <p:grpSp>
        <p:nvGrpSpPr>
          <p:cNvPr id="23" name="그룹 22"/>
          <p:cNvGrpSpPr/>
          <p:nvPr/>
        </p:nvGrpSpPr>
        <p:grpSpPr>
          <a:xfrm>
            <a:off x="10369162" y="1692421"/>
            <a:ext cx="1638076" cy="1751550"/>
            <a:chOff x="9873753" y="2057939"/>
            <a:chExt cx="2083777" cy="2228127"/>
          </a:xfrm>
        </p:grpSpPr>
        <p:sp>
          <p:nvSpPr>
            <p:cNvPr id="109" name="타원 108"/>
            <p:cNvSpPr/>
            <p:nvPr/>
          </p:nvSpPr>
          <p:spPr>
            <a:xfrm>
              <a:off x="10162347" y="2545666"/>
              <a:ext cx="698511" cy="698511"/>
            </a:xfrm>
            <a:prstGeom prst="ellipse">
              <a:avLst/>
            </a:pr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타원 112"/>
            <p:cNvSpPr/>
            <p:nvPr/>
          </p:nvSpPr>
          <p:spPr>
            <a:xfrm>
              <a:off x="11032786" y="2535353"/>
              <a:ext cx="698511" cy="698511"/>
            </a:xfrm>
            <a:prstGeom prst="ellipse">
              <a:avLst/>
            </a:pr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타원 113"/>
            <p:cNvSpPr/>
            <p:nvPr/>
          </p:nvSpPr>
          <p:spPr>
            <a:xfrm>
              <a:off x="10217130" y="3388060"/>
              <a:ext cx="698511" cy="698511"/>
            </a:xfrm>
            <a:prstGeom prst="ellipse">
              <a:avLst/>
            </a:pr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타원 114"/>
            <p:cNvSpPr/>
            <p:nvPr/>
          </p:nvSpPr>
          <p:spPr>
            <a:xfrm>
              <a:off x="11032786" y="3300411"/>
              <a:ext cx="698511" cy="698511"/>
            </a:xfrm>
            <a:prstGeom prst="ellipse">
              <a:avLst/>
            </a:pr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p:cNvSpPr txBox="1"/>
            <p:nvPr/>
          </p:nvSpPr>
          <p:spPr>
            <a:xfrm>
              <a:off x="10137300" y="2471177"/>
              <a:ext cx="726481" cy="276999"/>
            </a:xfrm>
            <a:prstGeom prst="rect">
              <a:avLst/>
            </a:prstGeom>
            <a:solidFill>
              <a:schemeClr val="bg1"/>
            </a:solidFill>
          </p:spPr>
          <p:txBody>
            <a:bodyPr wrap="none" rtlCol="0">
              <a:spAutoFit/>
            </a:bodyPr>
            <a:lstStyle/>
            <a:p>
              <a:r>
                <a:rPr lang="ko-KR" altLang="en-US" sz="1200" dirty="0"/>
                <a:t>方</a:t>
              </a:r>
              <a:r>
                <a:rPr lang="en-US" altLang="ko-KR" sz="1200" dirty="0"/>
                <a:t>1</a:t>
              </a:r>
              <a:r>
                <a:rPr lang="ko-KR" altLang="en-US" sz="1200" dirty="0"/>
                <a:t> 실시</a:t>
              </a:r>
            </a:p>
          </p:txBody>
        </p:sp>
        <p:sp>
          <p:nvSpPr>
            <p:cNvPr id="117" name="TextBox 116"/>
            <p:cNvSpPr txBox="1"/>
            <p:nvPr/>
          </p:nvSpPr>
          <p:spPr>
            <a:xfrm>
              <a:off x="10974473" y="2513952"/>
              <a:ext cx="726481" cy="276999"/>
            </a:xfrm>
            <a:prstGeom prst="rect">
              <a:avLst/>
            </a:prstGeom>
            <a:solidFill>
              <a:schemeClr val="bg1"/>
            </a:solidFill>
          </p:spPr>
          <p:txBody>
            <a:bodyPr wrap="none" rtlCol="0">
              <a:spAutoFit/>
            </a:bodyPr>
            <a:lstStyle/>
            <a:p>
              <a:r>
                <a:rPr lang="ko-KR" altLang="en-US" sz="1200" dirty="0"/>
                <a:t>方</a:t>
              </a:r>
              <a:r>
                <a:rPr lang="en-US" altLang="ko-KR" sz="1200" dirty="0"/>
                <a:t>2</a:t>
              </a:r>
              <a:r>
                <a:rPr lang="ko-KR" altLang="en-US" sz="1200" dirty="0"/>
                <a:t> 실시</a:t>
              </a:r>
            </a:p>
          </p:txBody>
        </p:sp>
        <p:sp>
          <p:nvSpPr>
            <p:cNvPr id="118" name="TextBox 117"/>
            <p:cNvSpPr txBox="1"/>
            <p:nvPr/>
          </p:nvSpPr>
          <p:spPr>
            <a:xfrm>
              <a:off x="10162347" y="3334885"/>
              <a:ext cx="683200" cy="276999"/>
            </a:xfrm>
            <a:prstGeom prst="rect">
              <a:avLst/>
            </a:prstGeom>
            <a:solidFill>
              <a:schemeClr val="bg1"/>
            </a:solidFill>
          </p:spPr>
          <p:txBody>
            <a:bodyPr wrap="none" rtlCol="0">
              <a:spAutoFit/>
            </a:bodyPr>
            <a:lstStyle/>
            <a:p>
              <a:r>
                <a:rPr lang="ko-KR" altLang="en-US" sz="1200" dirty="0"/>
                <a:t>方</a:t>
              </a:r>
              <a:r>
                <a:rPr lang="en-US" altLang="ko-KR" sz="1200" dirty="0"/>
                <a:t>3</a:t>
              </a:r>
              <a:r>
                <a:rPr lang="ko-KR" altLang="en-US" sz="1200" dirty="0"/>
                <a:t>실시</a:t>
              </a:r>
            </a:p>
          </p:txBody>
        </p:sp>
        <p:sp>
          <p:nvSpPr>
            <p:cNvPr id="119" name="TextBox 118"/>
            <p:cNvSpPr txBox="1"/>
            <p:nvPr/>
          </p:nvSpPr>
          <p:spPr>
            <a:xfrm>
              <a:off x="10996113" y="3286486"/>
              <a:ext cx="692818" cy="276999"/>
            </a:xfrm>
            <a:prstGeom prst="rect">
              <a:avLst/>
            </a:prstGeom>
            <a:solidFill>
              <a:schemeClr val="bg1"/>
            </a:solidFill>
          </p:spPr>
          <p:txBody>
            <a:bodyPr wrap="none" rtlCol="0">
              <a:spAutoFit/>
            </a:bodyPr>
            <a:lstStyle/>
            <a:p>
              <a:r>
                <a:rPr lang="ko-KR" altLang="en-US" sz="1200" dirty="0"/>
                <a:t>方</a:t>
              </a:r>
              <a:r>
                <a:rPr lang="en-US" altLang="ko-KR" sz="1200" dirty="0"/>
                <a:t>n</a:t>
              </a:r>
              <a:r>
                <a:rPr lang="ko-KR" altLang="en-US" sz="1200" dirty="0"/>
                <a:t>실시</a:t>
              </a:r>
            </a:p>
          </p:txBody>
        </p:sp>
        <p:sp>
          <p:nvSpPr>
            <p:cNvPr id="20" name="타원 19"/>
            <p:cNvSpPr/>
            <p:nvPr/>
          </p:nvSpPr>
          <p:spPr>
            <a:xfrm>
              <a:off x="9873753" y="2202289"/>
              <a:ext cx="2083777" cy="2083777"/>
            </a:xfrm>
            <a:prstGeom prst="ellipse">
              <a:avLst/>
            </a:pr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TextBox 20"/>
            <p:cNvSpPr txBox="1"/>
            <p:nvPr/>
          </p:nvSpPr>
          <p:spPr>
            <a:xfrm>
              <a:off x="10555131" y="2057939"/>
              <a:ext cx="641522" cy="276999"/>
            </a:xfrm>
            <a:prstGeom prst="rect">
              <a:avLst/>
            </a:prstGeom>
            <a:solidFill>
              <a:schemeClr val="bg1"/>
            </a:solidFill>
          </p:spPr>
          <p:txBody>
            <a:bodyPr wrap="none" rtlCol="0">
              <a:spAutoFit/>
            </a:bodyPr>
            <a:lstStyle/>
            <a:p>
              <a:r>
                <a:rPr lang="ko-KR" altLang="en-US" sz="1200" dirty="0"/>
                <a:t>物 실시</a:t>
              </a:r>
            </a:p>
          </p:txBody>
        </p:sp>
      </p:grpSp>
      <p:sp>
        <p:nvSpPr>
          <p:cNvPr id="120" name="Rectangle 1"/>
          <p:cNvSpPr>
            <a:spLocks noChangeArrowheads="1"/>
          </p:cNvSpPr>
          <p:nvPr/>
        </p:nvSpPr>
        <p:spPr bwMode="auto">
          <a:xfrm>
            <a:off x="7359130" y="1407466"/>
            <a:ext cx="2834192" cy="64633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sz="1200" b="0" i="0" u="none" strike="noStrike" cap="none" normalizeH="0" baseline="0" dirty="0">
                <a:ln>
                  <a:noFill/>
                </a:ln>
                <a:solidFill>
                  <a:srgbClr val="444444"/>
                </a:solidFill>
                <a:effectLst/>
                <a:latin typeface="+mn-ea"/>
                <a:cs typeface="굴림" pitchFamily="50" charset="-127"/>
              </a:rPr>
              <a:t>그 물건을 </a:t>
            </a:r>
            <a:r>
              <a:rPr kumimoji="1" lang="ko-KR" sz="1200" b="0" i="0" u="none" strike="noStrike" cap="none" normalizeH="0" baseline="0" dirty="0" err="1">
                <a:ln>
                  <a:noFill/>
                </a:ln>
                <a:solidFill>
                  <a:srgbClr val="444444"/>
                </a:solidFill>
                <a:effectLst/>
                <a:latin typeface="+mn-ea"/>
                <a:cs typeface="굴림" pitchFamily="50" charset="-127"/>
              </a:rPr>
              <a:t>생산</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사용</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양도</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대여</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altLang="en-US" sz="1200" b="0" i="0" u="none" strike="noStrike" cap="none" normalizeH="0" baseline="0" dirty="0" err="1">
                <a:ln>
                  <a:noFill/>
                </a:ln>
                <a:solidFill>
                  <a:srgbClr val="444444"/>
                </a:solidFill>
                <a:effectLst/>
                <a:latin typeface="+mn-ea"/>
                <a:cs typeface="굴림" pitchFamily="50" charset="-127"/>
              </a:rPr>
              <a:t>수출</a:t>
            </a:r>
            <a:r>
              <a:rPr kumimoji="1" lang="ko-KR" sz="1200" b="0" i="0" u="none" strike="noStrike" cap="none" normalizeH="0" baseline="0" dirty="0">
                <a:ln>
                  <a:noFill/>
                </a:ln>
                <a:solidFill>
                  <a:srgbClr val="444444"/>
                </a:solidFill>
                <a:effectLst/>
                <a:latin typeface="+mn-ea"/>
                <a:cs typeface="굴림" pitchFamily="50" charset="-127"/>
              </a:rPr>
              <a:t> 또는 수입하거나 그 물건의 양도 또는 대여의 청약을 하는 행위</a:t>
            </a:r>
            <a:endParaRPr kumimoji="1" lang="ko-KR" sz="1200" b="0" i="0" u="none" strike="noStrike" cap="none" normalizeH="0" baseline="0" dirty="0">
              <a:ln>
                <a:noFill/>
              </a:ln>
              <a:solidFill>
                <a:schemeClr val="tx1"/>
              </a:solidFill>
              <a:effectLst/>
              <a:latin typeface="+mn-ea"/>
              <a:cs typeface="굴림" pitchFamily="50" charset="-127"/>
            </a:endParaRPr>
          </a:p>
        </p:txBody>
      </p:sp>
      <p:sp>
        <p:nvSpPr>
          <p:cNvPr id="122" name="TextBox 121"/>
          <p:cNvSpPr txBox="1"/>
          <p:nvPr/>
        </p:nvSpPr>
        <p:spPr>
          <a:xfrm>
            <a:off x="6286821" y="2455266"/>
            <a:ext cx="922048" cy="338554"/>
          </a:xfrm>
          <a:prstGeom prst="rect">
            <a:avLst/>
          </a:prstGeom>
          <a:solidFill>
            <a:schemeClr val="bg1">
              <a:lumMod val="95000"/>
            </a:schemeClr>
          </a:solidFill>
          <a:ln>
            <a:solidFill>
              <a:schemeClr val="bg1">
                <a:lumMod val="50000"/>
              </a:schemeClr>
            </a:solidFill>
          </a:ln>
        </p:spPr>
        <p:txBody>
          <a:bodyPr wrap="square" rtlCol="0">
            <a:noAutofit/>
          </a:bodyPr>
          <a:lstStyle/>
          <a:p>
            <a:pPr algn="ctr"/>
            <a:r>
              <a:rPr lang="ko-KR" altLang="en-US" sz="1600" dirty="0"/>
              <a:t>方</a:t>
            </a:r>
            <a:r>
              <a:rPr lang="en-US" altLang="ko-KR" sz="1600" dirty="0"/>
              <a:t> </a:t>
            </a:r>
            <a:r>
              <a:rPr lang="ko-KR" altLang="en-US" sz="1600" dirty="0"/>
              <a:t>실시</a:t>
            </a:r>
          </a:p>
        </p:txBody>
      </p:sp>
      <p:sp>
        <p:nvSpPr>
          <p:cNvPr id="123" name="TextBox 122"/>
          <p:cNvSpPr txBox="1"/>
          <p:nvPr/>
        </p:nvSpPr>
        <p:spPr>
          <a:xfrm>
            <a:off x="6286821" y="1561354"/>
            <a:ext cx="922048" cy="338554"/>
          </a:xfrm>
          <a:prstGeom prst="rect">
            <a:avLst/>
          </a:prstGeom>
          <a:solidFill>
            <a:schemeClr val="bg1">
              <a:lumMod val="95000"/>
            </a:schemeClr>
          </a:solidFill>
          <a:ln>
            <a:solidFill>
              <a:schemeClr val="bg1">
                <a:lumMod val="50000"/>
              </a:schemeClr>
            </a:solidFill>
          </a:ln>
        </p:spPr>
        <p:txBody>
          <a:bodyPr wrap="square" rtlCol="0">
            <a:noAutofit/>
          </a:bodyPr>
          <a:lstStyle/>
          <a:p>
            <a:pPr algn="ctr"/>
            <a:r>
              <a:rPr lang="ko-KR" altLang="en-US" sz="1600" dirty="0"/>
              <a:t>物 실시</a:t>
            </a:r>
          </a:p>
        </p:txBody>
      </p:sp>
      <p:sp>
        <p:nvSpPr>
          <p:cNvPr id="124" name="Rectangle 1"/>
          <p:cNvSpPr>
            <a:spLocks noChangeArrowheads="1"/>
          </p:cNvSpPr>
          <p:nvPr/>
        </p:nvSpPr>
        <p:spPr bwMode="auto">
          <a:xfrm>
            <a:off x="7357605" y="3000295"/>
            <a:ext cx="2835718" cy="64633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sz="1200" b="0" i="0" u="none" strike="noStrike" cap="none" normalizeH="0" baseline="0" dirty="0">
                <a:ln>
                  <a:noFill/>
                </a:ln>
                <a:solidFill>
                  <a:srgbClr val="444444"/>
                </a:solidFill>
                <a:effectLst/>
                <a:latin typeface="+mn-ea"/>
                <a:cs typeface="굴림" pitchFamily="50" charset="-127"/>
              </a:rPr>
              <a:t>그 방법에 의하여 생산한 물건을 </a:t>
            </a:r>
            <a:r>
              <a:rPr kumimoji="1" lang="ko-KR" sz="1200" b="0" i="0" u="none" strike="noStrike" cap="none" normalizeH="0" baseline="0" dirty="0" err="1">
                <a:ln>
                  <a:noFill/>
                </a:ln>
                <a:solidFill>
                  <a:srgbClr val="444444"/>
                </a:solidFill>
                <a:effectLst/>
                <a:latin typeface="+mn-ea"/>
                <a:cs typeface="굴림" pitchFamily="50" charset="-127"/>
              </a:rPr>
              <a:t>사용</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양도</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대여</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altLang="en-US" sz="1200" b="0" i="0" u="none" strike="noStrike" cap="none" normalizeH="0" baseline="0" dirty="0" err="1">
                <a:ln>
                  <a:noFill/>
                </a:ln>
                <a:solidFill>
                  <a:srgbClr val="444444"/>
                </a:solidFill>
                <a:effectLst/>
                <a:latin typeface="+mn-ea"/>
                <a:cs typeface="굴림" pitchFamily="50" charset="-127"/>
              </a:rPr>
              <a:t>수출</a:t>
            </a:r>
            <a:r>
              <a:rPr kumimoji="1" lang="ko-KR" sz="1200" b="0" i="0" u="none" strike="noStrike" cap="none" normalizeH="0" baseline="0" dirty="0">
                <a:ln>
                  <a:noFill/>
                </a:ln>
                <a:solidFill>
                  <a:srgbClr val="444444"/>
                </a:solidFill>
                <a:effectLst/>
                <a:latin typeface="+mn-ea"/>
                <a:cs typeface="굴림" pitchFamily="50" charset="-127"/>
              </a:rPr>
              <a:t> 또는 수입하거나 그 물건의 양도 또는 대여의 청약을 하는 행위</a:t>
            </a:r>
            <a:endParaRPr kumimoji="1" lang="ko-KR" sz="1200" b="0" i="0" u="none" strike="noStrike" cap="none" normalizeH="0" baseline="0" dirty="0">
              <a:ln>
                <a:noFill/>
              </a:ln>
              <a:solidFill>
                <a:schemeClr val="tx1"/>
              </a:solidFill>
              <a:effectLst/>
              <a:latin typeface="+mn-ea"/>
              <a:cs typeface="굴림" pitchFamily="50" charset="-127"/>
            </a:endParaRPr>
          </a:p>
        </p:txBody>
      </p:sp>
      <p:sp>
        <p:nvSpPr>
          <p:cNvPr id="125" name="Rectangle 1"/>
          <p:cNvSpPr>
            <a:spLocks noChangeArrowheads="1"/>
          </p:cNvSpPr>
          <p:nvPr/>
        </p:nvSpPr>
        <p:spPr bwMode="auto">
          <a:xfrm>
            <a:off x="7357603" y="2118302"/>
            <a:ext cx="2835719"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altLang="en-US" sz="1200" b="0" i="0" u="none" strike="noStrike" cap="none" normalizeH="0" baseline="0" dirty="0">
                <a:ln>
                  <a:noFill/>
                </a:ln>
                <a:solidFill>
                  <a:srgbClr val="444444"/>
                </a:solidFill>
                <a:effectLst/>
                <a:latin typeface="+mn-ea"/>
                <a:cs typeface="굴림" pitchFamily="50" charset="-127"/>
              </a:rPr>
              <a:t>그 방법을 사용하는</a:t>
            </a:r>
            <a:r>
              <a:rPr kumimoji="1" lang="ko-KR" altLang="en-US" sz="1200" b="0" i="0" u="none" strike="noStrike" cap="none" normalizeH="0" dirty="0">
                <a:ln>
                  <a:noFill/>
                </a:ln>
                <a:solidFill>
                  <a:srgbClr val="444444"/>
                </a:solidFill>
                <a:effectLst/>
                <a:latin typeface="+mn-ea"/>
                <a:cs typeface="굴림" pitchFamily="50" charset="-127"/>
              </a:rPr>
              <a:t> 행위</a:t>
            </a:r>
            <a:r>
              <a:rPr kumimoji="1" lang="en-US" altLang="ko-KR" sz="1200" b="0" i="0" u="none" strike="noStrike" cap="none" normalizeH="0" dirty="0">
                <a:ln>
                  <a:noFill/>
                </a:ln>
                <a:solidFill>
                  <a:srgbClr val="FF0000"/>
                </a:solidFill>
                <a:effectLst/>
                <a:latin typeface="+mn-ea"/>
                <a:cs typeface="굴림" pitchFamily="50" charset="-127"/>
              </a:rPr>
              <a:t>(</a:t>
            </a:r>
            <a:r>
              <a:rPr kumimoji="1" lang="ko-KR" altLang="en-US" sz="1200" b="0" i="0" u="none" strike="noStrike" cap="none" normalizeH="0" dirty="0">
                <a:ln>
                  <a:noFill/>
                </a:ln>
                <a:solidFill>
                  <a:srgbClr val="FF0000"/>
                </a:solidFill>
                <a:effectLst/>
                <a:latin typeface="+mn-ea"/>
                <a:cs typeface="굴림" pitchFamily="50" charset="-127"/>
              </a:rPr>
              <a:t>물건의 생산</a:t>
            </a:r>
            <a:r>
              <a:rPr kumimoji="1" lang="en-US" altLang="ko-KR" sz="1200" b="0" i="0" u="none" strike="noStrike" cap="none" normalizeH="0" dirty="0">
                <a:ln>
                  <a:noFill/>
                </a:ln>
                <a:solidFill>
                  <a:srgbClr val="FF0000"/>
                </a:solidFill>
                <a:effectLst/>
                <a:latin typeface="+mn-ea"/>
                <a:cs typeface="굴림" pitchFamily="50" charset="-127"/>
              </a:rPr>
              <a:t>)</a:t>
            </a:r>
            <a:endParaRPr kumimoji="1" lang="ko-KR" sz="1200" b="0" i="0" u="none" strike="noStrike" cap="none" normalizeH="0" baseline="0" dirty="0">
              <a:ln>
                <a:noFill/>
              </a:ln>
              <a:solidFill>
                <a:srgbClr val="FF0000"/>
              </a:solidFill>
              <a:effectLst/>
              <a:latin typeface="+mn-ea"/>
              <a:cs typeface="굴림" pitchFamily="50" charset="-127"/>
            </a:endParaRPr>
          </a:p>
        </p:txBody>
      </p:sp>
      <p:cxnSp>
        <p:nvCxnSpPr>
          <p:cNvPr id="26" name="직선 연결선 25"/>
          <p:cNvCxnSpPr>
            <a:stCxn id="123" idx="3"/>
            <a:endCxn id="120" idx="1"/>
          </p:cNvCxnSpPr>
          <p:nvPr/>
        </p:nvCxnSpPr>
        <p:spPr>
          <a:xfrm>
            <a:off x="7208869" y="1730631"/>
            <a:ext cx="150261" cy="1"/>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꺾인 연결선 29"/>
          <p:cNvCxnSpPr>
            <a:stCxn id="122" idx="3"/>
            <a:endCxn id="125" idx="1"/>
          </p:cNvCxnSpPr>
          <p:nvPr/>
        </p:nvCxnSpPr>
        <p:spPr>
          <a:xfrm flipV="1">
            <a:off x="7208869" y="2256802"/>
            <a:ext cx="148734" cy="36774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122" idx="3"/>
            <a:endCxn id="124" idx="1"/>
          </p:cNvCxnSpPr>
          <p:nvPr/>
        </p:nvCxnSpPr>
        <p:spPr>
          <a:xfrm>
            <a:off x="7208869" y="2624543"/>
            <a:ext cx="148736" cy="698918"/>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6" name="TextBox 125"/>
          <p:cNvSpPr txBox="1"/>
          <p:nvPr/>
        </p:nvSpPr>
        <p:spPr>
          <a:xfrm>
            <a:off x="6265980" y="3710371"/>
            <a:ext cx="4897495" cy="400110"/>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2000" dirty="0"/>
              <a:t>특허권의 효력 </a:t>
            </a:r>
            <a:r>
              <a:rPr lang="en-US" altLang="ko-KR" sz="2000" dirty="0"/>
              <a:t>: </a:t>
            </a:r>
            <a:r>
              <a:rPr lang="ko-KR" altLang="en-US" sz="2000" dirty="0"/>
              <a:t>물건발명</a:t>
            </a:r>
            <a:r>
              <a:rPr lang="en-US" altLang="ko-KR" sz="2000" dirty="0"/>
              <a:t>(</a:t>
            </a:r>
            <a:r>
              <a:rPr lang="ko-KR" altLang="en-US" sz="2000" dirty="0"/>
              <a:t>物</a:t>
            </a:r>
            <a:r>
              <a:rPr lang="en-US" altLang="ko-KR" sz="2000" dirty="0"/>
              <a:t>) </a:t>
            </a:r>
            <a:r>
              <a:rPr lang="ko-KR" altLang="en-US" sz="2000" dirty="0"/>
              <a:t>⊃</a:t>
            </a:r>
            <a:r>
              <a:rPr lang="en-US" altLang="ko-KR" sz="2000" dirty="0"/>
              <a:t> </a:t>
            </a:r>
            <a:r>
              <a:rPr lang="ko-KR" altLang="en-US" sz="2000" dirty="0" err="1"/>
              <a:t>제법발명</a:t>
            </a:r>
            <a:r>
              <a:rPr lang="en-US" altLang="ko-KR" sz="2000" dirty="0"/>
              <a:t>(</a:t>
            </a:r>
            <a:r>
              <a:rPr lang="ko-KR" altLang="en-US" sz="2000" dirty="0"/>
              <a:t>方</a:t>
            </a:r>
            <a:r>
              <a:rPr lang="en-US" altLang="ko-KR" sz="2000" dirty="0"/>
              <a:t>)</a:t>
            </a:r>
            <a:endParaRPr lang="ko-KR" altLang="en-US" sz="2000" dirty="0"/>
          </a:p>
        </p:txBody>
      </p:sp>
      <p:sp>
        <p:nvSpPr>
          <p:cNvPr id="138" name="타원 137"/>
          <p:cNvSpPr/>
          <p:nvPr/>
        </p:nvSpPr>
        <p:spPr>
          <a:xfrm>
            <a:off x="7418747" y="5020827"/>
            <a:ext cx="460354" cy="460354"/>
          </a:xfrm>
          <a:prstGeom prst="ellipse">
            <a:avLst/>
          </a:prstGeom>
          <a:solidFill>
            <a:srgbClr val="FF0000"/>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bg1"/>
                </a:solidFill>
              </a:rPr>
              <a:t>物</a:t>
            </a:r>
          </a:p>
        </p:txBody>
      </p:sp>
      <p:sp>
        <p:nvSpPr>
          <p:cNvPr id="139" name="타원 138"/>
          <p:cNvSpPr/>
          <p:nvPr/>
        </p:nvSpPr>
        <p:spPr>
          <a:xfrm>
            <a:off x="6613740" y="4463828"/>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1</a:t>
            </a:r>
            <a:endParaRPr lang="ko-KR" altLang="en-US" sz="1400" dirty="0">
              <a:solidFill>
                <a:schemeClr val="tx1"/>
              </a:solidFill>
            </a:endParaRPr>
          </a:p>
        </p:txBody>
      </p:sp>
      <p:sp>
        <p:nvSpPr>
          <p:cNvPr id="140" name="타원 139"/>
          <p:cNvSpPr/>
          <p:nvPr/>
        </p:nvSpPr>
        <p:spPr>
          <a:xfrm>
            <a:off x="6534609" y="5437221"/>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2</a:t>
            </a:r>
            <a:endParaRPr lang="ko-KR" altLang="en-US" sz="1400" dirty="0">
              <a:solidFill>
                <a:schemeClr val="tx1"/>
              </a:solidFill>
            </a:endParaRPr>
          </a:p>
        </p:txBody>
      </p:sp>
      <p:sp>
        <p:nvSpPr>
          <p:cNvPr id="141" name="타원 140"/>
          <p:cNvSpPr/>
          <p:nvPr/>
        </p:nvSpPr>
        <p:spPr>
          <a:xfrm>
            <a:off x="7613756" y="5859799"/>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3</a:t>
            </a:r>
            <a:endParaRPr lang="ko-KR" altLang="en-US" sz="1400" dirty="0">
              <a:solidFill>
                <a:schemeClr val="tx1"/>
              </a:solidFill>
            </a:endParaRPr>
          </a:p>
        </p:txBody>
      </p:sp>
      <p:sp>
        <p:nvSpPr>
          <p:cNvPr id="142" name="타원 141"/>
          <p:cNvSpPr/>
          <p:nvPr/>
        </p:nvSpPr>
        <p:spPr>
          <a:xfrm>
            <a:off x="8343518" y="5207044"/>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4</a:t>
            </a:r>
            <a:endParaRPr lang="ko-KR" altLang="en-US" sz="1400" dirty="0">
              <a:solidFill>
                <a:schemeClr val="tx1"/>
              </a:solidFill>
            </a:endParaRPr>
          </a:p>
        </p:txBody>
      </p:sp>
      <p:sp>
        <p:nvSpPr>
          <p:cNvPr id="143" name="타원 142"/>
          <p:cNvSpPr/>
          <p:nvPr/>
        </p:nvSpPr>
        <p:spPr>
          <a:xfrm>
            <a:off x="7739160" y="4233651"/>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5</a:t>
            </a:r>
            <a:endParaRPr lang="ko-KR" altLang="en-US" sz="1400" dirty="0">
              <a:solidFill>
                <a:schemeClr val="tx1"/>
              </a:solidFill>
            </a:endParaRPr>
          </a:p>
        </p:txBody>
      </p:sp>
      <p:sp>
        <p:nvSpPr>
          <p:cNvPr id="146" name="타원 145"/>
          <p:cNvSpPr/>
          <p:nvPr/>
        </p:nvSpPr>
        <p:spPr>
          <a:xfrm>
            <a:off x="10538674" y="5020827"/>
            <a:ext cx="460354" cy="460354"/>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物</a:t>
            </a:r>
          </a:p>
        </p:txBody>
      </p:sp>
      <p:sp>
        <p:nvSpPr>
          <p:cNvPr id="147" name="타원 146"/>
          <p:cNvSpPr/>
          <p:nvPr/>
        </p:nvSpPr>
        <p:spPr>
          <a:xfrm>
            <a:off x="9733667" y="4463828"/>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1</a:t>
            </a:r>
            <a:endParaRPr lang="ko-KR" altLang="en-US" sz="1400" dirty="0">
              <a:solidFill>
                <a:schemeClr val="tx1"/>
              </a:solidFill>
            </a:endParaRPr>
          </a:p>
        </p:txBody>
      </p:sp>
      <p:sp>
        <p:nvSpPr>
          <p:cNvPr id="148" name="타원 147"/>
          <p:cNvSpPr/>
          <p:nvPr/>
        </p:nvSpPr>
        <p:spPr>
          <a:xfrm>
            <a:off x="9654536" y="5437221"/>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2</a:t>
            </a:r>
            <a:endParaRPr lang="ko-KR" altLang="en-US" sz="1400" dirty="0">
              <a:solidFill>
                <a:schemeClr val="tx1"/>
              </a:solidFill>
            </a:endParaRPr>
          </a:p>
        </p:txBody>
      </p:sp>
      <p:sp>
        <p:nvSpPr>
          <p:cNvPr id="149" name="타원 148"/>
          <p:cNvSpPr/>
          <p:nvPr/>
        </p:nvSpPr>
        <p:spPr>
          <a:xfrm>
            <a:off x="10733683" y="5921343"/>
            <a:ext cx="460354" cy="460354"/>
          </a:xfrm>
          <a:prstGeom prst="ellipse">
            <a:avLst/>
          </a:prstGeom>
          <a:solidFill>
            <a:schemeClr val="accent2"/>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bg1"/>
                </a:solidFill>
              </a:rPr>
              <a:t>方</a:t>
            </a:r>
            <a:r>
              <a:rPr lang="en-US" altLang="ko-KR" sz="1400" dirty="0">
                <a:solidFill>
                  <a:schemeClr val="bg1"/>
                </a:solidFill>
              </a:rPr>
              <a:t>3</a:t>
            </a:r>
            <a:endParaRPr lang="ko-KR" altLang="en-US" sz="1400" dirty="0">
              <a:solidFill>
                <a:schemeClr val="bg1"/>
              </a:solidFill>
            </a:endParaRPr>
          </a:p>
        </p:txBody>
      </p:sp>
      <p:sp>
        <p:nvSpPr>
          <p:cNvPr id="150" name="타원 149"/>
          <p:cNvSpPr/>
          <p:nvPr/>
        </p:nvSpPr>
        <p:spPr>
          <a:xfrm>
            <a:off x="11463445" y="5207044"/>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4</a:t>
            </a:r>
            <a:endParaRPr lang="ko-KR" altLang="en-US" sz="1400" dirty="0">
              <a:solidFill>
                <a:schemeClr val="tx1"/>
              </a:solidFill>
            </a:endParaRPr>
          </a:p>
        </p:txBody>
      </p:sp>
      <p:sp>
        <p:nvSpPr>
          <p:cNvPr id="151" name="타원 150"/>
          <p:cNvSpPr/>
          <p:nvPr/>
        </p:nvSpPr>
        <p:spPr>
          <a:xfrm>
            <a:off x="10859087" y="4233651"/>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5</a:t>
            </a:r>
            <a:endParaRPr lang="ko-KR" altLang="en-US" sz="1400" dirty="0">
              <a:solidFill>
                <a:schemeClr val="tx1"/>
              </a:solidFill>
            </a:endParaRPr>
          </a:p>
        </p:txBody>
      </p:sp>
      <p:cxnSp>
        <p:nvCxnSpPr>
          <p:cNvPr id="39" name="직선 연결선 38"/>
          <p:cNvCxnSpPr>
            <a:stCxn id="149" idx="0"/>
            <a:endCxn id="146" idx="4"/>
          </p:cNvCxnSpPr>
          <p:nvPr/>
        </p:nvCxnSpPr>
        <p:spPr>
          <a:xfrm flipH="1" flipV="1">
            <a:off x="10768851" y="5481181"/>
            <a:ext cx="195009" cy="440162"/>
          </a:xfrm>
          <a:prstGeom prst="line">
            <a:avLst/>
          </a:prstGeom>
          <a:ln w="28575">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 name="직선 연결선 151"/>
          <p:cNvCxnSpPr/>
          <p:nvPr/>
        </p:nvCxnSpPr>
        <p:spPr>
          <a:xfrm>
            <a:off x="9244863" y="4609406"/>
            <a:ext cx="1" cy="146756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3" name="Line 5"/>
          <p:cNvSpPr>
            <a:spLocks noChangeShapeType="1"/>
          </p:cNvSpPr>
          <p:nvPr/>
        </p:nvSpPr>
        <p:spPr bwMode="auto">
          <a:xfrm>
            <a:off x="147237" y="5776054"/>
            <a:ext cx="2684935"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104" name="타원 103"/>
          <p:cNvSpPr/>
          <p:nvPr/>
        </p:nvSpPr>
        <p:spPr>
          <a:xfrm>
            <a:off x="461468" y="566681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0" name="직선 연결선 109"/>
          <p:cNvCxnSpPr>
            <a:stCxn id="121" idx="2"/>
            <a:endCxn id="104" idx="0"/>
          </p:cNvCxnSpPr>
          <p:nvPr/>
        </p:nvCxnSpPr>
        <p:spPr>
          <a:xfrm flipH="1">
            <a:off x="538837" y="5506145"/>
            <a:ext cx="6269" cy="1606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1" name="TextBox 110"/>
          <p:cNvSpPr txBox="1"/>
          <p:nvPr/>
        </p:nvSpPr>
        <p:spPr>
          <a:xfrm>
            <a:off x="147238" y="4829966"/>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物</a:t>
            </a:r>
          </a:p>
        </p:txBody>
      </p:sp>
      <p:sp>
        <p:nvSpPr>
          <p:cNvPr id="112" name="TextBox 111"/>
          <p:cNvSpPr txBox="1"/>
          <p:nvPr/>
        </p:nvSpPr>
        <p:spPr>
          <a:xfrm>
            <a:off x="147238" y="5043403"/>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物</a:t>
            </a:r>
            <a:r>
              <a:rPr lang="en-US" altLang="ko-KR" sz="1200" dirty="0"/>
              <a:t>, </a:t>
            </a:r>
            <a:r>
              <a:rPr lang="ko-KR" altLang="en-US" sz="1200" dirty="0"/>
              <a:t>方</a:t>
            </a:r>
          </a:p>
        </p:txBody>
      </p:sp>
      <p:sp>
        <p:nvSpPr>
          <p:cNvPr id="121" name="TextBox 120"/>
          <p:cNvSpPr txBox="1"/>
          <p:nvPr/>
        </p:nvSpPr>
        <p:spPr>
          <a:xfrm>
            <a:off x="147237" y="5293845"/>
            <a:ext cx="795738" cy="212300"/>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物 출원</a:t>
            </a:r>
            <a:endParaRPr lang="ko-KR" altLang="en-US" sz="1100" dirty="0"/>
          </a:p>
        </p:txBody>
      </p:sp>
      <p:sp>
        <p:nvSpPr>
          <p:cNvPr id="127" name="TextBox 126"/>
          <p:cNvSpPr txBox="1"/>
          <p:nvPr/>
        </p:nvSpPr>
        <p:spPr>
          <a:xfrm>
            <a:off x="1488141" y="5293845"/>
            <a:ext cx="811564" cy="192034"/>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物 공개</a:t>
            </a:r>
            <a:endParaRPr lang="ko-KR" altLang="en-US" sz="1100" dirty="0"/>
          </a:p>
        </p:txBody>
      </p:sp>
      <p:sp>
        <p:nvSpPr>
          <p:cNvPr id="128" name="타원 127"/>
          <p:cNvSpPr/>
          <p:nvPr/>
        </p:nvSpPr>
        <p:spPr>
          <a:xfrm>
            <a:off x="1816554" y="566681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29" name="직선 연결선 128"/>
          <p:cNvCxnSpPr>
            <a:stCxn id="127" idx="2"/>
            <a:endCxn id="128" idx="0"/>
          </p:cNvCxnSpPr>
          <p:nvPr/>
        </p:nvCxnSpPr>
        <p:spPr>
          <a:xfrm>
            <a:off x="1893923" y="5485879"/>
            <a:ext cx="0" cy="18093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0" name="타원 129"/>
          <p:cNvSpPr/>
          <p:nvPr/>
        </p:nvSpPr>
        <p:spPr>
          <a:xfrm>
            <a:off x="1069969" y="568465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31" name="직선 연결선 130"/>
          <p:cNvCxnSpPr>
            <a:endCxn id="130" idx="4"/>
          </p:cNvCxnSpPr>
          <p:nvPr/>
        </p:nvCxnSpPr>
        <p:spPr>
          <a:xfrm flipV="1">
            <a:off x="1147338" y="5845993"/>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2" name="TextBox 131"/>
          <p:cNvSpPr txBox="1"/>
          <p:nvPr/>
        </p:nvSpPr>
        <p:spPr>
          <a:xfrm>
            <a:off x="755739" y="6296787"/>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endParaRPr lang="ko-KR" altLang="en-US" sz="1200" dirty="0"/>
          </a:p>
        </p:txBody>
      </p:sp>
      <p:sp>
        <p:nvSpPr>
          <p:cNvPr id="133" name="TextBox 132"/>
          <p:cNvSpPr txBox="1"/>
          <p:nvPr/>
        </p:nvSpPr>
        <p:spPr>
          <a:xfrm>
            <a:off x="755739" y="6510224"/>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方</a:t>
            </a:r>
            <a:r>
              <a:rPr lang="en-US" altLang="ko-KR" sz="1200" dirty="0"/>
              <a:t>1, </a:t>
            </a:r>
            <a:r>
              <a:rPr lang="ko-KR" altLang="en-US" sz="1200" dirty="0"/>
              <a:t>物</a:t>
            </a:r>
          </a:p>
        </p:txBody>
      </p:sp>
      <p:sp>
        <p:nvSpPr>
          <p:cNvPr id="134" name="TextBox 133"/>
          <p:cNvSpPr txBox="1"/>
          <p:nvPr/>
        </p:nvSpPr>
        <p:spPr>
          <a:xfrm>
            <a:off x="749469" y="6026644"/>
            <a:ext cx="795738" cy="212300"/>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r>
              <a:rPr lang="ko-KR" altLang="en-US" sz="1200" dirty="0"/>
              <a:t> 출원</a:t>
            </a:r>
            <a:endParaRPr lang="ko-KR" altLang="en-US" sz="1100" dirty="0"/>
          </a:p>
        </p:txBody>
      </p:sp>
      <p:sp>
        <p:nvSpPr>
          <p:cNvPr id="135" name="타원 134"/>
          <p:cNvSpPr/>
          <p:nvPr/>
        </p:nvSpPr>
        <p:spPr>
          <a:xfrm>
            <a:off x="2222336" y="568465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36" name="직선 연결선 135"/>
          <p:cNvCxnSpPr>
            <a:endCxn id="135" idx="4"/>
          </p:cNvCxnSpPr>
          <p:nvPr/>
        </p:nvCxnSpPr>
        <p:spPr>
          <a:xfrm flipV="1">
            <a:off x="2299705" y="5845993"/>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7" name="TextBox 136"/>
          <p:cNvSpPr txBox="1"/>
          <p:nvPr/>
        </p:nvSpPr>
        <p:spPr>
          <a:xfrm>
            <a:off x="1908106" y="6296787"/>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endParaRPr lang="ko-KR" altLang="en-US" sz="1200" dirty="0"/>
          </a:p>
        </p:txBody>
      </p:sp>
      <p:sp>
        <p:nvSpPr>
          <p:cNvPr id="145" name="TextBox 144"/>
          <p:cNvSpPr txBox="1"/>
          <p:nvPr/>
        </p:nvSpPr>
        <p:spPr>
          <a:xfrm>
            <a:off x="1908106" y="6510224"/>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方</a:t>
            </a:r>
            <a:r>
              <a:rPr lang="en-US" altLang="ko-KR" sz="1200" dirty="0"/>
              <a:t>1, </a:t>
            </a:r>
            <a:r>
              <a:rPr lang="ko-KR" altLang="en-US" sz="1200" dirty="0"/>
              <a:t>物</a:t>
            </a:r>
          </a:p>
        </p:txBody>
      </p:sp>
      <p:sp>
        <p:nvSpPr>
          <p:cNvPr id="153" name="TextBox 152"/>
          <p:cNvSpPr txBox="1"/>
          <p:nvPr/>
        </p:nvSpPr>
        <p:spPr>
          <a:xfrm>
            <a:off x="1901836" y="6026644"/>
            <a:ext cx="795738" cy="212300"/>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r>
              <a:rPr lang="ko-KR" altLang="en-US" sz="1200" dirty="0"/>
              <a:t> 출원</a:t>
            </a:r>
            <a:endParaRPr lang="ko-KR" altLang="en-US" sz="1100" dirty="0"/>
          </a:p>
        </p:txBody>
      </p:sp>
      <p:sp>
        <p:nvSpPr>
          <p:cNvPr id="154" name="Line 5"/>
          <p:cNvSpPr>
            <a:spLocks noChangeShapeType="1"/>
          </p:cNvSpPr>
          <p:nvPr/>
        </p:nvSpPr>
        <p:spPr bwMode="auto">
          <a:xfrm>
            <a:off x="3293888" y="5776054"/>
            <a:ext cx="2684935"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155" name="타원 154"/>
          <p:cNvSpPr/>
          <p:nvPr/>
        </p:nvSpPr>
        <p:spPr>
          <a:xfrm>
            <a:off x="4255819" y="566681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56" name="직선 연결선 155"/>
          <p:cNvCxnSpPr>
            <a:stCxn id="159" idx="2"/>
            <a:endCxn id="155" idx="0"/>
          </p:cNvCxnSpPr>
          <p:nvPr/>
        </p:nvCxnSpPr>
        <p:spPr>
          <a:xfrm flipH="1">
            <a:off x="4333188" y="5506145"/>
            <a:ext cx="6269" cy="1606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7" name="TextBox 156"/>
          <p:cNvSpPr txBox="1"/>
          <p:nvPr/>
        </p:nvSpPr>
        <p:spPr>
          <a:xfrm>
            <a:off x="3941589" y="4829966"/>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物</a:t>
            </a:r>
          </a:p>
        </p:txBody>
      </p:sp>
      <p:sp>
        <p:nvSpPr>
          <p:cNvPr id="158" name="TextBox 157"/>
          <p:cNvSpPr txBox="1"/>
          <p:nvPr/>
        </p:nvSpPr>
        <p:spPr>
          <a:xfrm>
            <a:off x="3941589" y="5043403"/>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物</a:t>
            </a:r>
            <a:r>
              <a:rPr lang="en-US" altLang="ko-KR" sz="1200" dirty="0"/>
              <a:t>, </a:t>
            </a:r>
            <a:r>
              <a:rPr lang="ko-KR" altLang="en-US" sz="1200" dirty="0"/>
              <a:t>方</a:t>
            </a:r>
          </a:p>
        </p:txBody>
      </p:sp>
      <p:sp>
        <p:nvSpPr>
          <p:cNvPr id="159" name="TextBox 158"/>
          <p:cNvSpPr txBox="1"/>
          <p:nvPr/>
        </p:nvSpPr>
        <p:spPr>
          <a:xfrm>
            <a:off x="3941588" y="5293845"/>
            <a:ext cx="795738" cy="212300"/>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物 출원</a:t>
            </a:r>
            <a:endParaRPr lang="ko-KR" altLang="en-US" sz="1100" dirty="0"/>
          </a:p>
        </p:txBody>
      </p:sp>
      <p:sp>
        <p:nvSpPr>
          <p:cNvPr id="160" name="타원 159"/>
          <p:cNvSpPr/>
          <p:nvPr/>
        </p:nvSpPr>
        <p:spPr>
          <a:xfrm>
            <a:off x="3721320" y="568465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61" name="직선 연결선 160"/>
          <p:cNvCxnSpPr>
            <a:endCxn id="160" idx="4"/>
          </p:cNvCxnSpPr>
          <p:nvPr/>
        </p:nvCxnSpPr>
        <p:spPr>
          <a:xfrm flipV="1">
            <a:off x="3798689" y="5845993"/>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2" name="TextBox 161"/>
          <p:cNvSpPr txBox="1"/>
          <p:nvPr/>
        </p:nvSpPr>
        <p:spPr>
          <a:xfrm>
            <a:off x="3407090" y="6296787"/>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endParaRPr lang="ko-KR" altLang="en-US" sz="1200" dirty="0"/>
          </a:p>
        </p:txBody>
      </p:sp>
      <p:sp>
        <p:nvSpPr>
          <p:cNvPr id="163" name="TextBox 162"/>
          <p:cNvSpPr txBox="1"/>
          <p:nvPr/>
        </p:nvSpPr>
        <p:spPr>
          <a:xfrm>
            <a:off x="3407090" y="6510224"/>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方</a:t>
            </a:r>
            <a:r>
              <a:rPr lang="en-US" altLang="ko-KR" sz="1200" dirty="0"/>
              <a:t>1, </a:t>
            </a:r>
            <a:r>
              <a:rPr lang="ko-KR" altLang="en-US" sz="1200" dirty="0"/>
              <a:t>物</a:t>
            </a:r>
          </a:p>
        </p:txBody>
      </p:sp>
      <p:sp>
        <p:nvSpPr>
          <p:cNvPr id="164" name="TextBox 163"/>
          <p:cNvSpPr txBox="1"/>
          <p:nvPr/>
        </p:nvSpPr>
        <p:spPr>
          <a:xfrm>
            <a:off x="3400820" y="6026644"/>
            <a:ext cx="795738" cy="212300"/>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r>
              <a:rPr lang="ko-KR" altLang="en-US" sz="1200" dirty="0"/>
              <a:t> 출원</a:t>
            </a:r>
            <a:endParaRPr lang="ko-KR" altLang="en-US" sz="1100" dirty="0"/>
          </a:p>
        </p:txBody>
      </p:sp>
      <p:sp>
        <p:nvSpPr>
          <p:cNvPr id="165" name="타원 164"/>
          <p:cNvSpPr/>
          <p:nvPr/>
        </p:nvSpPr>
        <p:spPr>
          <a:xfrm>
            <a:off x="4873687" y="568465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66" name="직선 연결선 165"/>
          <p:cNvCxnSpPr>
            <a:endCxn id="165" idx="4"/>
          </p:cNvCxnSpPr>
          <p:nvPr/>
        </p:nvCxnSpPr>
        <p:spPr>
          <a:xfrm flipV="1">
            <a:off x="4951056" y="5845993"/>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7" name="TextBox 166"/>
          <p:cNvSpPr txBox="1"/>
          <p:nvPr/>
        </p:nvSpPr>
        <p:spPr>
          <a:xfrm>
            <a:off x="4553187" y="6026644"/>
            <a:ext cx="795738" cy="212300"/>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r>
              <a:rPr lang="ko-KR" altLang="en-US" sz="1200" dirty="0"/>
              <a:t> 공개</a:t>
            </a:r>
            <a:endParaRPr lang="ko-KR" altLang="en-US" sz="1100" dirty="0"/>
          </a:p>
        </p:txBody>
      </p:sp>
      <p:sp>
        <p:nvSpPr>
          <p:cNvPr id="168" name="타원 167"/>
          <p:cNvSpPr/>
          <p:nvPr/>
        </p:nvSpPr>
        <p:spPr>
          <a:xfrm>
            <a:off x="5342655" y="566681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69" name="직선 연결선 168"/>
          <p:cNvCxnSpPr>
            <a:stCxn id="172" idx="2"/>
            <a:endCxn id="168" idx="0"/>
          </p:cNvCxnSpPr>
          <p:nvPr/>
        </p:nvCxnSpPr>
        <p:spPr>
          <a:xfrm flipH="1">
            <a:off x="5420024" y="5506145"/>
            <a:ext cx="6269" cy="1606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0" name="TextBox 169"/>
          <p:cNvSpPr txBox="1"/>
          <p:nvPr/>
        </p:nvSpPr>
        <p:spPr>
          <a:xfrm>
            <a:off x="5028425" y="4829966"/>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物</a:t>
            </a:r>
          </a:p>
        </p:txBody>
      </p:sp>
      <p:sp>
        <p:nvSpPr>
          <p:cNvPr id="171" name="TextBox 170"/>
          <p:cNvSpPr txBox="1"/>
          <p:nvPr/>
        </p:nvSpPr>
        <p:spPr>
          <a:xfrm>
            <a:off x="5028425" y="5043403"/>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物</a:t>
            </a:r>
            <a:r>
              <a:rPr lang="en-US" altLang="ko-KR" sz="1200" dirty="0"/>
              <a:t>, </a:t>
            </a:r>
            <a:r>
              <a:rPr lang="ko-KR" altLang="en-US" sz="1200" dirty="0"/>
              <a:t>方</a:t>
            </a:r>
          </a:p>
        </p:txBody>
      </p:sp>
      <p:sp>
        <p:nvSpPr>
          <p:cNvPr id="172" name="TextBox 171"/>
          <p:cNvSpPr txBox="1"/>
          <p:nvPr/>
        </p:nvSpPr>
        <p:spPr>
          <a:xfrm>
            <a:off x="5028424" y="5293845"/>
            <a:ext cx="795738" cy="212300"/>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物 출원</a:t>
            </a:r>
            <a:endParaRPr lang="ko-KR" altLang="en-US" sz="1100" dirty="0"/>
          </a:p>
        </p:txBody>
      </p:sp>
      <p:cxnSp>
        <p:nvCxnSpPr>
          <p:cNvPr id="173" name="직선 연결선 172"/>
          <p:cNvCxnSpPr/>
          <p:nvPr/>
        </p:nvCxnSpPr>
        <p:spPr>
          <a:xfrm>
            <a:off x="3037810" y="5039064"/>
            <a:ext cx="1" cy="146756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4" name="Rectangle 1">
            <a:extLst>
              <a:ext uri="{FF2B5EF4-FFF2-40B4-BE49-F238E27FC236}">
                <a16:creationId xmlns:a16="http://schemas.microsoft.com/office/drawing/2014/main" id="{C3F46F2E-2436-481D-BE7B-6B172B782107}"/>
              </a:ext>
            </a:extLst>
          </p:cNvPr>
          <p:cNvSpPr>
            <a:spLocks noChangeArrowheads="1"/>
          </p:cNvSpPr>
          <p:nvPr/>
        </p:nvSpPr>
        <p:spPr bwMode="auto">
          <a:xfrm>
            <a:off x="7357603" y="2479299"/>
            <a:ext cx="2835719" cy="461665"/>
          </a:xfrm>
          <a:prstGeom prst="rect">
            <a:avLst/>
          </a:prstGeom>
          <a:solidFill>
            <a:schemeClr val="bg1">
              <a:lumMod val="85000"/>
            </a:schemeClr>
          </a:solidFill>
          <a:ln w="9525">
            <a:solidFill>
              <a:schemeClr val="tx1"/>
            </a:solidFill>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altLang="en-US" sz="1200" b="0" i="0" u="none" strike="noStrike" cap="none" normalizeH="0" baseline="0" dirty="0">
                <a:ln>
                  <a:noFill/>
                </a:ln>
                <a:solidFill>
                  <a:srgbClr val="444444"/>
                </a:solidFill>
                <a:effectLst/>
                <a:latin typeface="+mn-ea"/>
                <a:cs typeface="굴림" pitchFamily="50" charset="-127"/>
              </a:rPr>
              <a:t>그 방법의 사용을 청약하는 행위 </a:t>
            </a:r>
            <a:r>
              <a:rPr kumimoji="1" lang="en-US" altLang="ko-KR" sz="1200" b="0" i="0" u="none" strike="noStrike" cap="none" normalizeH="0" dirty="0">
                <a:ln>
                  <a:noFill/>
                </a:ln>
                <a:solidFill>
                  <a:srgbClr val="FF0000"/>
                </a:solidFill>
                <a:effectLst/>
                <a:latin typeface="+mn-ea"/>
                <a:cs typeface="굴림" pitchFamily="50" charset="-127"/>
              </a:rPr>
              <a:t>(</a:t>
            </a:r>
            <a:r>
              <a:rPr kumimoji="1" lang="ko-KR" altLang="en-US" sz="1200" b="0" i="0" u="none" strike="noStrike" cap="none" normalizeH="0" dirty="0">
                <a:ln>
                  <a:noFill/>
                </a:ln>
                <a:solidFill>
                  <a:srgbClr val="FF0000"/>
                </a:solidFill>
                <a:effectLst/>
                <a:latin typeface="+mn-ea"/>
                <a:cs typeface="굴림" pitchFamily="50" charset="-127"/>
              </a:rPr>
              <a:t>물건생산의 청약</a:t>
            </a:r>
            <a:r>
              <a:rPr kumimoji="1" lang="en-US" altLang="ko-KR" sz="1200" b="0" i="0" u="none" strike="noStrike" cap="none" normalizeH="0" dirty="0">
                <a:ln>
                  <a:noFill/>
                </a:ln>
                <a:solidFill>
                  <a:srgbClr val="FF0000"/>
                </a:solidFill>
                <a:effectLst/>
                <a:latin typeface="+mn-ea"/>
                <a:cs typeface="굴림" pitchFamily="50" charset="-127"/>
              </a:rPr>
              <a:t>)*</a:t>
            </a:r>
            <a:endParaRPr kumimoji="1" lang="ko-KR" sz="1200" b="0" i="0" u="none" strike="noStrike" cap="none" normalizeH="0" baseline="0" dirty="0">
              <a:ln>
                <a:noFill/>
              </a:ln>
              <a:solidFill>
                <a:srgbClr val="FF0000"/>
              </a:solidFill>
              <a:effectLst/>
              <a:latin typeface="+mn-ea"/>
              <a:cs typeface="굴림" pitchFamily="50" charset="-127"/>
            </a:endParaRPr>
          </a:p>
        </p:txBody>
      </p:sp>
      <p:sp>
        <p:nvSpPr>
          <p:cNvPr id="8" name="TextBox 7">
            <a:extLst>
              <a:ext uri="{FF2B5EF4-FFF2-40B4-BE49-F238E27FC236}">
                <a16:creationId xmlns:a16="http://schemas.microsoft.com/office/drawing/2014/main" id="{94673451-6943-4924-9A45-EB5473B5EDAE}"/>
              </a:ext>
            </a:extLst>
          </p:cNvPr>
          <p:cNvSpPr txBox="1"/>
          <p:nvPr/>
        </p:nvSpPr>
        <p:spPr>
          <a:xfrm>
            <a:off x="6455121" y="6506627"/>
            <a:ext cx="5397631" cy="276999"/>
          </a:xfrm>
          <a:prstGeom prst="rect">
            <a:avLst/>
          </a:prstGeom>
          <a:noFill/>
        </p:spPr>
        <p:txBody>
          <a:bodyPr wrap="none" rtlCol="0">
            <a:spAutoFit/>
          </a:bodyPr>
          <a:lstStyle/>
          <a:p>
            <a:r>
              <a:rPr lang="en-US" altLang="ko-KR" sz="1200" dirty="0">
                <a:solidFill>
                  <a:srgbClr val="FF0000"/>
                </a:solidFill>
              </a:rPr>
              <a:t>* </a:t>
            </a:r>
            <a:r>
              <a:rPr lang="ko-KR" altLang="en-US" sz="1200" dirty="0">
                <a:solidFill>
                  <a:srgbClr val="FF0000"/>
                </a:solidFill>
              </a:rPr>
              <a:t>물건생산의 청약은 물건발명의 실시</a:t>
            </a:r>
            <a:r>
              <a:rPr lang="en-US" altLang="ko-KR" sz="1200" dirty="0">
                <a:solidFill>
                  <a:srgbClr val="FF0000"/>
                </a:solidFill>
              </a:rPr>
              <a:t>(</a:t>
            </a:r>
            <a:r>
              <a:rPr lang="ko-KR" altLang="en-US" sz="1200" dirty="0">
                <a:solidFill>
                  <a:srgbClr val="FF0000"/>
                </a:solidFill>
              </a:rPr>
              <a:t>물건발명에 대한 특허권 침해</a:t>
            </a:r>
            <a:r>
              <a:rPr lang="en-US" altLang="ko-KR" sz="1200" dirty="0">
                <a:solidFill>
                  <a:srgbClr val="FF0000"/>
                </a:solidFill>
              </a:rPr>
              <a:t>)</a:t>
            </a:r>
            <a:r>
              <a:rPr lang="ko-KR" altLang="en-US" sz="1200" dirty="0">
                <a:solidFill>
                  <a:srgbClr val="FF0000"/>
                </a:solidFill>
              </a:rPr>
              <a:t>에 해당하지 않음</a:t>
            </a:r>
          </a:p>
        </p:txBody>
      </p:sp>
    </p:spTree>
    <p:extLst>
      <p:ext uri="{BB962C8B-B14F-4D97-AF65-F5344CB8AC3E}">
        <p14:creationId xmlns:p14="http://schemas.microsoft.com/office/powerpoint/2010/main" val="411552511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a:t>
            </a:r>
            <a:r>
              <a:rPr lang="ko-KR" altLang="en-US" dirty="0"/>
              <a:t>조</a:t>
            </a:r>
            <a:r>
              <a:rPr lang="en-US" altLang="ko-KR" dirty="0"/>
              <a:t>~</a:t>
            </a:r>
            <a:r>
              <a:rPr lang="ko-KR" altLang="en-US" dirty="0"/>
              <a:t>제</a:t>
            </a:r>
            <a:r>
              <a:rPr lang="en-US" altLang="ko-KR" dirty="0"/>
              <a:t>5</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권리능력과 행위능력의 구별</a:t>
            </a:r>
          </a:p>
        </p:txBody>
      </p:sp>
      <p:sp>
        <p:nvSpPr>
          <p:cNvPr id="5" name="슬라이드 번호 개체 틀 4"/>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29</a:t>
            </a:fld>
            <a:endParaRPr lang="ko-KR" altLang="en-US"/>
          </a:p>
        </p:txBody>
      </p:sp>
      <p:sp>
        <p:nvSpPr>
          <p:cNvPr id="43" name="직사각형 42">
            <a:extLst>
              <a:ext uri="{FF2B5EF4-FFF2-40B4-BE49-F238E27FC236}">
                <a16:creationId xmlns:a16="http://schemas.microsoft.com/office/drawing/2014/main" id="{59474AFA-5BE4-4450-AFD3-602569C2423A}"/>
              </a:ext>
            </a:extLst>
          </p:cNvPr>
          <p:cNvSpPr/>
          <p:nvPr/>
        </p:nvSpPr>
        <p:spPr>
          <a:xfrm>
            <a:off x="650472" y="1603668"/>
            <a:ext cx="1198094" cy="5140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권리능력</a:t>
            </a:r>
            <a:endParaRPr lang="ko-KR" altLang="en-US" sz="1200" dirty="0">
              <a:solidFill>
                <a:schemeClr val="tx1"/>
              </a:solidFill>
            </a:endParaRPr>
          </a:p>
        </p:txBody>
      </p:sp>
      <p:sp>
        <p:nvSpPr>
          <p:cNvPr id="44" name="직사각형 43">
            <a:extLst>
              <a:ext uri="{FF2B5EF4-FFF2-40B4-BE49-F238E27FC236}">
                <a16:creationId xmlns:a16="http://schemas.microsoft.com/office/drawing/2014/main" id="{C894FF43-2909-4208-8FF5-F49B053D96F5}"/>
              </a:ext>
            </a:extLst>
          </p:cNvPr>
          <p:cNvSpPr/>
          <p:nvPr/>
        </p:nvSpPr>
        <p:spPr>
          <a:xfrm>
            <a:off x="650472" y="3956374"/>
            <a:ext cx="1198094" cy="51402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행위능력</a:t>
            </a:r>
            <a:endParaRPr lang="en-US" altLang="ko-KR" sz="1200" dirty="0">
              <a:solidFill>
                <a:schemeClr val="tx1"/>
              </a:solidFill>
            </a:endParaRPr>
          </a:p>
          <a:p>
            <a:pPr algn="ctr"/>
            <a:r>
              <a:rPr lang="en-US" altLang="ko-KR" sz="1200" dirty="0">
                <a:solidFill>
                  <a:srgbClr val="FF0000"/>
                </a:solidFill>
              </a:rPr>
              <a:t>(</a:t>
            </a:r>
            <a:r>
              <a:rPr lang="ko-KR" altLang="en-US" sz="1200" dirty="0">
                <a:solidFill>
                  <a:srgbClr val="FF0000"/>
                </a:solidFill>
              </a:rPr>
              <a:t>내외국인 불문</a:t>
            </a:r>
            <a:r>
              <a:rPr lang="en-US" altLang="ko-KR" sz="1200" dirty="0">
                <a:solidFill>
                  <a:srgbClr val="FF0000"/>
                </a:solidFill>
              </a:rPr>
              <a:t>)</a:t>
            </a:r>
            <a:endParaRPr lang="ko-KR" altLang="en-US" sz="1200" dirty="0">
              <a:solidFill>
                <a:srgbClr val="FF0000"/>
              </a:solidFill>
            </a:endParaRPr>
          </a:p>
        </p:txBody>
      </p:sp>
      <p:sp>
        <p:nvSpPr>
          <p:cNvPr id="45" name="직사각형 44">
            <a:extLst>
              <a:ext uri="{FF2B5EF4-FFF2-40B4-BE49-F238E27FC236}">
                <a16:creationId xmlns:a16="http://schemas.microsoft.com/office/drawing/2014/main" id="{A8939333-F968-44BA-AB07-C9C5D7728B2B}"/>
              </a:ext>
            </a:extLst>
          </p:cNvPr>
          <p:cNvSpPr/>
          <p:nvPr/>
        </p:nvSpPr>
        <p:spPr>
          <a:xfrm>
            <a:off x="2103879" y="1154296"/>
            <a:ext cx="1198094" cy="5140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내국인</a:t>
            </a:r>
            <a:endParaRPr lang="en-US" altLang="ko-KR" sz="1200" dirty="0">
              <a:solidFill>
                <a:schemeClr val="tx1"/>
              </a:solidFill>
            </a:endParaRPr>
          </a:p>
          <a:p>
            <a:pPr algn="ctr"/>
            <a:r>
              <a:rPr lang="en-US" altLang="ko-KR" sz="1200" dirty="0">
                <a:solidFill>
                  <a:srgbClr val="FF0000"/>
                </a:solidFill>
              </a:rPr>
              <a:t>(</a:t>
            </a:r>
            <a:r>
              <a:rPr lang="ko-KR" altLang="en-US" sz="1200" dirty="0" err="1">
                <a:solidFill>
                  <a:srgbClr val="FF0000"/>
                </a:solidFill>
              </a:rPr>
              <a:t>재내외자불문</a:t>
            </a:r>
            <a:r>
              <a:rPr lang="en-US" altLang="ko-KR" sz="1200" dirty="0">
                <a:solidFill>
                  <a:srgbClr val="FF0000"/>
                </a:solidFill>
              </a:rPr>
              <a:t>)</a:t>
            </a:r>
            <a:endParaRPr lang="ko-KR" altLang="en-US" sz="1200" dirty="0">
              <a:solidFill>
                <a:srgbClr val="FF0000"/>
              </a:solidFill>
            </a:endParaRPr>
          </a:p>
        </p:txBody>
      </p:sp>
      <p:sp>
        <p:nvSpPr>
          <p:cNvPr id="48" name="직사각형 47">
            <a:extLst>
              <a:ext uri="{FF2B5EF4-FFF2-40B4-BE49-F238E27FC236}">
                <a16:creationId xmlns:a16="http://schemas.microsoft.com/office/drawing/2014/main" id="{34E370D8-15F8-435E-A873-29C16D7899B9}"/>
              </a:ext>
            </a:extLst>
          </p:cNvPr>
          <p:cNvSpPr/>
          <p:nvPr/>
        </p:nvSpPr>
        <p:spPr>
          <a:xfrm>
            <a:off x="2103879" y="1793407"/>
            <a:ext cx="1198094" cy="5140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외국인</a:t>
            </a:r>
          </a:p>
        </p:txBody>
      </p:sp>
      <p:sp>
        <p:nvSpPr>
          <p:cNvPr id="49" name="직사각형 48">
            <a:extLst>
              <a:ext uri="{FF2B5EF4-FFF2-40B4-BE49-F238E27FC236}">
                <a16:creationId xmlns:a16="http://schemas.microsoft.com/office/drawing/2014/main" id="{6110A970-EC3C-40EE-8076-D8266282F59E}"/>
              </a:ext>
            </a:extLst>
          </p:cNvPr>
          <p:cNvSpPr/>
          <p:nvPr/>
        </p:nvSpPr>
        <p:spPr>
          <a:xfrm>
            <a:off x="3546068" y="1792613"/>
            <a:ext cx="600424" cy="5140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재내자</a:t>
            </a:r>
            <a:endParaRPr lang="ko-KR" altLang="en-US" sz="1200" dirty="0">
              <a:solidFill>
                <a:schemeClr val="tx1"/>
              </a:solidFill>
            </a:endParaRPr>
          </a:p>
        </p:txBody>
      </p:sp>
      <p:sp>
        <p:nvSpPr>
          <p:cNvPr id="51" name="직사각형 50">
            <a:extLst>
              <a:ext uri="{FF2B5EF4-FFF2-40B4-BE49-F238E27FC236}">
                <a16:creationId xmlns:a16="http://schemas.microsoft.com/office/drawing/2014/main" id="{716D23FC-9A2D-4835-9154-788E5339BFF9}"/>
              </a:ext>
            </a:extLst>
          </p:cNvPr>
          <p:cNvSpPr/>
          <p:nvPr/>
        </p:nvSpPr>
        <p:spPr>
          <a:xfrm>
            <a:off x="3546068" y="2437486"/>
            <a:ext cx="600424" cy="569179"/>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재외자</a:t>
            </a:r>
            <a:endParaRPr lang="ko-KR" altLang="en-US" sz="1200" dirty="0">
              <a:solidFill>
                <a:schemeClr val="tx1"/>
              </a:solidFill>
            </a:endParaRPr>
          </a:p>
        </p:txBody>
      </p:sp>
      <p:sp>
        <p:nvSpPr>
          <p:cNvPr id="52" name="직사각형 51">
            <a:extLst>
              <a:ext uri="{FF2B5EF4-FFF2-40B4-BE49-F238E27FC236}">
                <a16:creationId xmlns:a16="http://schemas.microsoft.com/office/drawing/2014/main" id="{DD275BFC-BE17-4ECD-A3BE-21F43FEFDBF2}"/>
              </a:ext>
            </a:extLst>
          </p:cNvPr>
          <p:cNvSpPr/>
          <p:nvPr/>
        </p:nvSpPr>
        <p:spPr>
          <a:xfrm>
            <a:off x="3546068" y="3237524"/>
            <a:ext cx="600424" cy="71824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재내자</a:t>
            </a:r>
            <a:endParaRPr lang="ko-KR" altLang="en-US" sz="1200" dirty="0">
              <a:solidFill>
                <a:schemeClr val="tx1"/>
              </a:solidFill>
            </a:endParaRPr>
          </a:p>
        </p:txBody>
      </p:sp>
      <p:sp>
        <p:nvSpPr>
          <p:cNvPr id="53" name="직사각형 52">
            <a:extLst>
              <a:ext uri="{FF2B5EF4-FFF2-40B4-BE49-F238E27FC236}">
                <a16:creationId xmlns:a16="http://schemas.microsoft.com/office/drawing/2014/main" id="{8E040932-1E52-4603-A2FE-9988EFCB556E}"/>
              </a:ext>
            </a:extLst>
          </p:cNvPr>
          <p:cNvSpPr/>
          <p:nvPr/>
        </p:nvSpPr>
        <p:spPr>
          <a:xfrm>
            <a:off x="3546068" y="5706229"/>
            <a:ext cx="600424" cy="51402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재외자</a:t>
            </a:r>
            <a:endParaRPr lang="ko-KR" altLang="en-US" sz="1200" dirty="0">
              <a:solidFill>
                <a:schemeClr val="tx1"/>
              </a:solidFill>
            </a:endParaRPr>
          </a:p>
        </p:txBody>
      </p:sp>
      <p:sp>
        <p:nvSpPr>
          <p:cNvPr id="11" name="직사각형 10">
            <a:extLst>
              <a:ext uri="{FF2B5EF4-FFF2-40B4-BE49-F238E27FC236}">
                <a16:creationId xmlns:a16="http://schemas.microsoft.com/office/drawing/2014/main" id="{BB4D91F7-4FCD-4A4A-863D-3406BBED99D0}"/>
              </a:ext>
            </a:extLst>
          </p:cNvPr>
          <p:cNvSpPr/>
          <p:nvPr/>
        </p:nvSpPr>
        <p:spPr>
          <a:xfrm>
            <a:off x="5389650" y="1261043"/>
            <a:ext cx="6470388" cy="282513"/>
          </a:xfrm>
          <a:prstGeom prst="rect">
            <a:avLst/>
          </a:prstGeom>
          <a:ln>
            <a:solidFill>
              <a:schemeClr val="bg1">
                <a:lumMod val="65000"/>
              </a:schemeClr>
            </a:solidFill>
          </a:ln>
        </p:spPr>
        <p:txBody>
          <a:bodyPr wrap="square">
            <a:spAutoFit/>
          </a:bodyPr>
          <a:lstStyle/>
          <a:p>
            <a:pPr marL="17780" marR="17780" algn="just" fontAlgn="base">
              <a:lnSpc>
                <a:spcPct val="120000"/>
              </a:lnSpc>
            </a:pPr>
            <a:r>
              <a:rPr lang="ko-KR" altLang="en-US" sz="1100" dirty="0"/>
              <a:t>자연인과 법인에 대하여 권리능력 인정</a:t>
            </a:r>
          </a:p>
        </p:txBody>
      </p:sp>
      <p:sp>
        <p:nvSpPr>
          <p:cNvPr id="12" name="직사각형 11">
            <a:extLst>
              <a:ext uri="{FF2B5EF4-FFF2-40B4-BE49-F238E27FC236}">
                <a16:creationId xmlns:a16="http://schemas.microsoft.com/office/drawing/2014/main" id="{560C2957-76E8-45C0-B592-C3B85F07EA10}"/>
              </a:ext>
            </a:extLst>
          </p:cNvPr>
          <p:cNvSpPr/>
          <p:nvPr/>
        </p:nvSpPr>
        <p:spPr>
          <a:xfrm>
            <a:off x="5389650" y="1912839"/>
            <a:ext cx="6470388" cy="261610"/>
          </a:xfrm>
          <a:prstGeom prst="rect">
            <a:avLst/>
          </a:prstGeom>
          <a:ln>
            <a:solidFill>
              <a:schemeClr val="bg1">
                <a:lumMod val="65000"/>
              </a:schemeClr>
            </a:solidFill>
          </a:ln>
        </p:spPr>
        <p:txBody>
          <a:bodyPr wrap="square">
            <a:spAutoFit/>
          </a:bodyPr>
          <a:lstStyle/>
          <a:p>
            <a:r>
              <a:rPr lang="ko-KR" altLang="en-US" sz="1100" dirty="0"/>
              <a:t>권리능력 인정</a:t>
            </a:r>
            <a:r>
              <a:rPr lang="en-US" altLang="ko-KR" sz="1100" dirty="0"/>
              <a:t>(</a:t>
            </a:r>
            <a:r>
              <a:rPr lang="ko-KR" altLang="en-US" sz="1100" dirty="0"/>
              <a:t>法 </a:t>
            </a:r>
            <a:r>
              <a:rPr lang="en-US" altLang="ko-KR" sz="1100" dirty="0"/>
              <a:t>25</a:t>
            </a:r>
            <a:r>
              <a:rPr lang="ko-KR" altLang="en-US" sz="1100" dirty="0"/>
              <a:t>본문의 반대해석</a:t>
            </a:r>
            <a:r>
              <a:rPr lang="en-US" altLang="ko-KR" sz="1100" dirty="0"/>
              <a:t>)</a:t>
            </a:r>
            <a:endParaRPr lang="ko-KR" altLang="en-US" sz="1100" dirty="0"/>
          </a:p>
        </p:txBody>
      </p:sp>
      <p:sp>
        <p:nvSpPr>
          <p:cNvPr id="13" name="직사각형 12">
            <a:extLst>
              <a:ext uri="{FF2B5EF4-FFF2-40B4-BE49-F238E27FC236}">
                <a16:creationId xmlns:a16="http://schemas.microsoft.com/office/drawing/2014/main" id="{C0D9A632-C7E2-4E37-A247-D9B9E295643D}"/>
              </a:ext>
            </a:extLst>
          </p:cNvPr>
          <p:cNvSpPr/>
          <p:nvPr/>
        </p:nvSpPr>
        <p:spPr>
          <a:xfrm>
            <a:off x="5389649" y="2738147"/>
            <a:ext cx="6470389" cy="281487"/>
          </a:xfrm>
          <a:prstGeom prst="rect">
            <a:avLst/>
          </a:prstGeom>
          <a:ln>
            <a:solidFill>
              <a:schemeClr val="bg1">
                <a:lumMod val="65000"/>
              </a:schemeClr>
            </a:solidFill>
          </a:ln>
        </p:spPr>
        <p:txBody>
          <a:bodyPr wrap="square">
            <a:spAutoFit/>
          </a:bodyPr>
          <a:lstStyle/>
          <a:p>
            <a:pPr marR="17780" indent="-161290" fontAlgn="base">
              <a:lnSpc>
                <a:spcPct val="120000"/>
              </a:lnSpc>
            </a:pPr>
            <a:r>
              <a:rPr lang="ko-KR" altLang="en-US" sz="1100" dirty="0"/>
              <a:t>권리능력 인정</a:t>
            </a:r>
            <a:r>
              <a:rPr lang="en-US" altLang="ko-KR" sz="1100" dirty="0"/>
              <a:t>(</a:t>
            </a:r>
            <a:r>
              <a:rPr lang="ko-KR" altLang="en-US" sz="1100" dirty="0"/>
              <a:t>상호주의</a:t>
            </a:r>
            <a:r>
              <a:rPr lang="en-US" altLang="ko-KR" sz="1100" dirty="0"/>
              <a:t>(</a:t>
            </a:r>
            <a:r>
              <a:rPr lang="ko-KR" altLang="en-US" sz="1100" dirty="0"/>
              <a:t>法</a:t>
            </a:r>
            <a:r>
              <a:rPr lang="en-US" altLang="ko-KR" sz="1100" dirty="0"/>
              <a:t>, 25Ⅰ,Ⅱ), </a:t>
            </a:r>
            <a:r>
              <a:rPr lang="ko-KR" altLang="en-US" sz="1100" dirty="0"/>
              <a:t>조약에 의한 경우</a:t>
            </a:r>
            <a:r>
              <a:rPr lang="en-US" altLang="ko-KR" sz="1100" dirty="0"/>
              <a:t>(</a:t>
            </a:r>
            <a:r>
              <a:rPr lang="ko-KR" altLang="en-US" sz="1100" dirty="0"/>
              <a:t>法 </a:t>
            </a:r>
            <a:r>
              <a:rPr lang="en-US" altLang="ko-KR" sz="1100" dirty="0"/>
              <a:t>25Ⅲ))</a:t>
            </a:r>
            <a:endParaRPr lang="ko-KR" altLang="en-US" sz="1100" dirty="0"/>
          </a:p>
        </p:txBody>
      </p:sp>
      <p:sp>
        <p:nvSpPr>
          <p:cNvPr id="14" name="직사각형 13">
            <a:extLst>
              <a:ext uri="{FF2B5EF4-FFF2-40B4-BE49-F238E27FC236}">
                <a16:creationId xmlns:a16="http://schemas.microsoft.com/office/drawing/2014/main" id="{BB78B16D-52DF-4D2A-83C3-635F97E7B885}"/>
              </a:ext>
            </a:extLst>
          </p:cNvPr>
          <p:cNvSpPr/>
          <p:nvPr/>
        </p:nvSpPr>
        <p:spPr>
          <a:xfrm>
            <a:off x="5389650" y="3215022"/>
            <a:ext cx="6470389" cy="282513"/>
          </a:xfrm>
          <a:prstGeom prst="rect">
            <a:avLst/>
          </a:prstGeom>
          <a:ln>
            <a:solidFill>
              <a:schemeClr val="bg1">
                <a:lumMod val="65000"/>
              </a:schemeClr>
            </a:solidFill>
          </a:ln>
        </p:spPr>
        <p:txBody>
          <a:bodyPr wrap="square">
            <a:spAutoFit/>
          </a:bodyPr>
          <a:lstStyle/>
          <a:p>
            <a:pPr marR="17780" indent="-161290" fontAlgn="base">
              <a:lnSpc>
                <a:spcPct val="120000"/>
              </a:lnSpc>
            </a:pPr>
            <a:r>
              <a:rPr lang="ko-KR" altLang="en-US" sz="1100" dirty="0"/>
              <a:t>행위능력 인정</a:t>
            </a:r>
          </a:p>
        </p:txBody>
      </p:sp>
      <p:sp>
        <p:nvSpPr>
          <p:cNvPr id="17" name="직사각형 16">
            <a:extLst>
              <a:ext uri="{FF2B5EF4-FFF2-40B4-BE49-F238E27FC236}">
                <a16:creationId xmlns:a16="http://schemas.microsoft.com/office/drawing/2014/main" id="{3E5116BE-3E85-4909-8F4E-3A83C70F956E}"/>
              </a:ext>
            </a:extLst>
          </p:cNvPr>
          <p:cNvSpPr/>
          <p:nvPr/>
        </p:nvSpPr>
        <p:spPr>
          <a:xfrm>
            <a:off x="5389650" y="5395390"/>
            <a:ext cx="6470390" cy="281487"/>
          </a:xfrm>
          <a:prstGeom prst="rect">
            <a:avLst/>
          </a:prstGeom>
          <a:ln>
            <a:solidFill>
              <a:schemeClr val="bg1">
                <a:lumMod val="65000"/>
              </a:schemeClr>
            </a:solidFill>
          </a:ln>
        </p:spPr>
        <p:txBody>
          <a:bodyPr wrap="square">
            <a:spAutoFit/>
          </a:bodyPr>
          <a:lstStyle/>
          <a:p>
            <a:pPr marR="17780" indent="-161290" fontAlgn="base">
              <a:lnSpc>
                <a:spcPct val="120000"/>
              </a:lnSpc>
            </a:pPr>
            <a:r>
              <a:rPr lang="ko-KR" altLang="en-US" sz="1100" dirty="0"/>
              <a:t>행위능력 불인정</a:t>
            </a:r>
            <a:r>
              <a:rPr lang="en-US" altLang="ko-KR" sz="1100" dirty="0"/>
              <a:t>(</a:t>
            </a:r>
            <a:r>
              <a:rPr lang="ko-KR" altLang="en-US" sz="1100" dirty="0"/>
              <a:t>法 </a:t>
            </a:r>
            <a:r>
              <a:rPr lang="en-US" altLang="ko-KR" sz="1100" dirty="0"/>
              <a:t>5</a:t>
            </a:r>
            <a:r>
              <a:rPr lang="ko-KR" altLang="en-US" sz="1100" dirty="0"/>
              <a:t>①</a:t>
            </a:r>
            <a:r>
              <a:rPr lang="en-US" altLang="ko-KR" sz="1100" dirty="0"/>
              <a:t>)(</a:t>
            </a:r>
            <a:r>
              <a:rPr lang="ko-KR" altLang="en-US" sz="1100" dirty="0"/>
              <a:t>∵절차의 원활한 진행</a:t>
            </a:r>
            <a:r>
              <a:rPr lang="en-US" altLang="ko-KR" sz="1100" dirty="0"/>
              <a:t>) </a:t>
            </a:r>
            <a:r>
              <a:rPr lang="ko-KR" altLang="en-US" sz="1100" dirty="0"/>
              <a:t>→ 특허관리인에 의한 절차 수행</a:t>
            </a:r>
            <a:r>
              <a:rPr lang="en-US" altLang="ko-KR" sz="1100" dirty="0"/>
              <a:t>(</a:t>
            </a:r>
            <a:r>
              <a:rPr lang="ko-KR" altLang="en-US" sz="1100" dirty="0"/>
              <a:t>法 </a:t>
            </a:r>
            <a:r>
              <a:rPr lang="en-US" altLang="ko-KR" sz="1100" dirty="0"/>
              <a:t>5</a:t>
            </a:r>
            <a:r>
              <a:rPr lang="ko-KR" altLang="en-US" sz="1100" dirty="0"/>
              <a:t>②</a:t>
            </a:r>
            <a:r>
              <a:rPr lang="en-US" altLang="ko-KR" sz="1100" dirty="0"/>
              <a:t>)</a:t>
            </a:r>
            <a:endParaRPr lang="ko-KR" altLang="en-US" sz="1100" dirty="0"/>
          </a:p>
        </p:txBody>
      </p:sp>
      <p:sp>
        <p:nvSpPr>
          <p:cNvPr id="55" name="직사각형 54">
            <a:extLst>
              <a:ext uri="{FF2B5EF4-FFF2-40B4-BE49-F238E27FC236}">
                <a16:creationId xmlns:a16="http://schemas.microsoft.com/office/drawing/2014/main" id="{33FE12AC-33B9-4306-AD98-E44CF76D5F10}"/>
              </a:ext>
            </a:extLst>
          </p:cNvPr>
          <p:cNvSpPr/>
          <p:nvPr/>
        </p:nvSpPr>
        <p:spPr>
          <a:xfrm>
            <a:off x="4433303" y="2437487"/>
            <a:ext cx="600424" cy="23329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원칙</a:t>
            </a:r>
          </a:p>
        </p:txBody>
      </p:sp>
      <p:sp>
        <p:nvSpPr>
          <p:cNvPr id="56" name="직사각형 55">
            <a:extLst>
              <a:ext uri="{FF2B5EF4-FFF2-40B4-BE49-F238E27FC236}">
                <a16:creationId xmlns:a16="http://schemas.microsoft.com/office/drawing/2014/main" id="{8043C8E6-8FEE-4449-B302-48BE17EC3E8C}"/>
              </a:ext>
            </a:extLst>
          </p:cNvPr>
          <p:cNvSpPr/>
          <p:nvPr/>
        </p:nvSpPr>
        <p:spPr>
          <a:xfrm>
            <a:off x="4433303" y="2763486"/>
            <a:ext cx="600424" cy="23329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예외</a:t>
            </a:r>
          </a:p>
        </p:txBody>
      </p:sp>
      <p:sp>
        <p:nvSpPr>
          <p:cNvPr id="57" name="직사각형 56">
            <a:extLst>
              <a:ext uri="{FF2B5EF4-FFF2-40B4-BE49-F238E27FC236}">
                <a16:creationId xmlns:a16="http://schemas.microsoft.com/office/drawing/2014/main" id="{A3B7763B-1345-4236-B430-1DFB0F704349}"/>
              </a:ext>
            </a:extLst>
          </p:cNvPr>
          <p:cNvSpPr/>
          <p:nvPr/>
        </p:nvSpPr>
        <p:spPr>
          <a:xfrm>
            <a:off x="4433303" y="3242181"/>
            <a:ext cx="600424" cy="23329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원칙</a:t>
            </a:r>
          </a:p>
        </p:txBody>
      </p:sp>
      <p:sp>
        <p:nvSpPr>
          <p:cNvPr id="58" name="직사각형 57">
            <a:extLst>
              <a:ext uri="{FF2B5EF4-FFF2-40B4-BE49-F238E27FC236}">
                <a16:creationId xmlns:a16="http://schemas.microsoft.com/office/drawing/2014/main" id="{9DF90B13-D0BF-4EBD-8ED0-1D56B1D08928}"/>
              </a:ext>
            </a:extLst>
          </p:cNvPr>
          <p:cNvSpPr/>
          <p:nvPr/>
        </p:nvSpPr>
        <p:spPr>
          <a:xfrm>
            <a:off x="4433303" y="3722480"/>
            <a:ext cx="600424" cy="23329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문제</a:t>
            </a:r>
          </a:p>
        </p:txBody>
      </p:sp>
      <p:sp>
        <p:nvSpPr>
          <p:cNvPr id="59" name="직사각형 58">
            <a:extLst>
              <a:ext uri="{FF2B5EF4-FFF2-40B4-BE49-F238E27FC236}">
                <a16:creationId xmlns:a16="http://schemas.microsoft.com/office/drawing/2014/main" id="{36D86BB7-BCEB-494C-B78A-D2775789575B}"/>
              </a:ext>
            </a:extLst>
          </p:cNvPr>
          <p:cNvSpPr/>
          <p:nvPr/>
        </p:nvSpPr>
        <p:spPr>
          <a:xfrm>
            <a:off x="4433303" y="5416519"/>
            <a:ext cx="600424" cy="23329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원칙</a:t>
            </a:r>
          </a:p>
        </p:txBody>
      </p:sp>
      <p:sp>
        <p:nvSpPr>
          <p:cNvPr id="60" name="직사각형 59">
            <a:extLst>
              <a:ext uri="{FF2B5EF4-FFF2-40B4-BE49-F238E27FC236}">
                <a16:creationId xmlns:a16="http://schemas.microsoft.com/office/drawing/2014/main" id="{73D0ABEC-97FE-4BBF-B216-D6AF7A79D43E}"/>
              </a:ext>
            </a:extLst>
          </p:cNvPr>
          <p:cNvSpPr/>
          <p:nvPr/>
        </p:nvSpPr>
        <p:spPr>
          <a:xfrm>
            <a:off x="4433303" y="5851162"/>
            <a:ext cx="600424" cy="23329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예외</a:t>
            </a:r>
          </a:p>
        </p:txBody>
      </p:sp>
      <p:sp>
        <p:nvSpPr>
          <p:cNvPr id="61" name="직사각형 60">
            <a:extLst>
              <a:ext uri="{FF2B5EF4-FFF2-40B4-BE49-F238E27FC236}">
                <a16:creationId xmlns:a16="http://schemas.microsoft.com/office/drawing/2014/main" id="{1ED6B518-245E-4BD1-AAAF-B9871973713B}"/>
              </a:ext>
            </a:extLst>
          </p:cNvPr>
          <p:cNvSpPr/>
          <p:nvPr/>
        </p:nvSpPr>
        <p:spPr>
          <a:xfrm>
            <a:off x="5389650" y="2411156"/>
            <a:ext cx="6470389" cy="282513"/>
          </a:xfrm>
          <a:prstGeom prst="rect">
            <a:avLst/>
          </a:prstGeom>
          <a:ln>
            <a:solidFill>
              <a:schemeClr val="bg1">
                <a:lumMod val="65000"/>
              </a:schemeClr>
            </a:solidFill>
          </a:ln>
        </p:spPr>
        <p:txBody>
          <a:bodyPr wrap="square">
            <a:spAutoFit/>
          </a:bodyPr>
          <a:lstStyle/>
          <a:p>
            <a:pPr marR="17780" fontAlgn="base">
              <a:lnSpc>
                <a:spcPct val="120000"/>
              </a:lnSpc>
            </a:pPr>
            <a:r>
              <a:rPr lang="ko-KR" altLang="en-US" sz="1100" dirty="0"/>
              <a:t>권리능력 불인정</a:t>
            </a:r>
          </a:p>
        </p:txBody>
      </p:sp>
      <p:sp>
        <p:nvSpPr>
          <p:cNvPr id="62" name="직사각형 61">
            <a:extLst>
              <a:ext uri="{FF2B5EF4-FFF2-40B4-BE49-F238E27FC236}">
                <a16:creationId xmlns:a16="http://schemas.microsoft.com/office/drawing/2014/main" id="{A4AE4EFD-1293-415B-9FC3-7FF33B74701B}"/>
              </a:ext>
            </a:extLst>
          </p:cNvPr>
          <p:cNvSpPr/>
          <p:nvPr/>
        </p:nvSpPr>
        <p:spPr>
          <a:xfrm>
            <a:off x="5389649" y="3600967"/>
            <a:ext cx="6470389" cy="1704441"/>
          </a:xfrm>
          <a:prstGeom prst="rect">
            <a:avLst/>
          </a:prstGeom>
          <a:ln>
            <a:solidFill>
              <a:schemeClr val="bg1">
                <a:lumMod val="65000"/>
              </a:schemeClr>
            </a:solidFill>
          </a:ln>
        </p:spPr>
        <p:txBody>
          <a:bodyPr wrap="square">
            <a:spAutoFit/>
          </a:bodyPr>
          <a:lstStyle/>
          <a:p>
            <a:pPr marR="17780" indent="-161290" fontAlgn="base">
              <a:lnSpc>
                <a:spcPct val="120000"/>
              </a:lnSpc>
            </a:pPr>
            <a:r>
              <a:rPr lang="en-US" altLang="ko-KR" sz="1100" dirty="0"/>
              <a:t>1. </a:t>
            </a:r>
            <a:r>
              <a:rPr lang="ko-KR" altLang="en-US" sz="1100" dirty="0"/>
              <a:t>제한능력자</a:t>
            </a:r>
            <a:r>
              <a:rPr lang="en-US" altLang="ko-KR" sz="1100" dirty="0"/>
              <a:t>(</a:t>
            </a:r>
            <a:r>
              <a:rPr lang="ko-KR" altLang="en-US" sz="1100" dirty="0"/>
              <a:t>法 </a:t>
            </a:r>
            <a:r>
              <a:rPr lang="en-US" altLang="ko-KR" sz="1100" dirty="0"/>
              <a:t>3</a:t>
            </a:r>
            <a:r>
              <a:rPr lang="ko-KR" altLang="en-US" sz="1100" dirty="0"/>
              <a:t>①</a:t>
            </a:r>
            <a:r>
              <a:rPr lang="en-US" altLang="ko-KR" sz="1100" dirty="0"/>
              <a:t>) </a:t>
            </a:r>
            <a:r>
              <a:rPr lang="ko-KR" altLang="en-US" sz="1100" dirty="0"/>
              <a:t>→ 행위능력 불인정</a:t>
            </a:r>
            <a:r>
              <a:rPr lang="en-US" altLang="ko-KR" sz="1100" dirty="0"/>
              <a:t>(</a:t>
            </a:r>
            <a:r>
              <a:rPr lang="ko-KR" altLang="en-US" sz="1100" dirty="0"/>
              <a:t>∵제한능력자의 보호</a:t>
            </a:r>
            <a:r>
              <a:rPr lang="en-US" altLang="ko-KR" sz="1100" dirty="0"/>
              <a:t>)</a:t>
            </a:r>
            <a:endParaRPr lang="ko-KR" altLang="en-US" sz="1100" dirty="0"/>
          </a:p>
          <a:p>
            <a:pPr marR="17780" indent="-161290" fontAlgn="base">
              <a:lnSpc>
                <a:spcPct val="120000"/>
              </a:lnSpc>
            </a:pPr>
            <a:r>
              <a:rPr lang="ko-KR" altLang="en-US" sz="1100" dirty="0"/>
              <a:t>① 법정대리인의 의한 절차</a:t>
            </a:r>
            <a:r>
              <a:rPr lang="en-US" altLang="ko-KR" sz="1100" dirty="0"/>
              <a:t>(</a:t>
            </a:r>
            <a:r>
              <a:rPr lang="ko-KR" altLang="en-US" sz="1100" dirty="0"/>
              <a:t>法 </a:t>
            </a:r>
            <a:r>
              <a:rPr lang="en-US" altLang="ko-KR" sz="1100" dirty="0"/>
              <a:t>3</a:t>
            </a:r>
            <a:r>
              <a:rPr lang="ko-KR" altLang="en-US" sz="1100" dirty="0"/>
              <a:t>②</a:t>
            </a:r>
            <a:r>
              <a:rPr lang="en-US" altLang="ko-KR" sz="1100" dirty="0"/>
              <a:t>)</a:t>
            </a:r>
            <a:endParaRPr lang="ko-KR" altLang="en-US" sz="1100" dirty="0"/>
          </a:p>
          <a:p>
            <a:pPr marR="17780" indent="-161290" fontAlgn="base">
              <a:lnSpc>
                <a:spcPct val="120000"/>
              </a:lnSpc>
            </a:pPr>
            <a:r>
              <a:rPr lang="ko-KR" altLang="en-US" sz="1100" dirty="0"/>
              <a:t>② 위반시 취급 </a:t>
            </a:r>
          </a:p>
          <a:p>
            <a:pPr marR="17780" indent="-161290" fontAlgn="base">
              <a:lnSpc>
                <a:spcPct val="120000"/>
              </a:lnSpc>
            </a:pPr>
            <a:r>
              <a:rPr lang="en-US" altLang="ko-KR" sz="1100" dirty="0"/>
              <a:t>  - </a:t>
            </a:r>
            <a:r>
              <a:rPr lang="ko-KR" altLang="en-US" sz="1100" dirty="0"/>
              <a:t>원칙 → 보정명령</a:t>
            </a:r>
            <a:r>
              <a:rPr lang="en-US" altLang="ko-KR" sz="1100" dirty="0"/>
              <a:t>(</a:t>
            </a:r>
            <a:r>
              <a:rPr lang="ko-KR" altLang="en-US" sz="1100" dirty="0"/>
              <a:t>法 </a:t>
            </a:r>
            <a:r>
              <a:rPr lang="en-US" altLang="ko-KR" sz="1100" dirty="0"/>
              <a:t>46) </a:t>
            </a:r>
            <a:r>
              <a:rPr lang="ko-KR" altLang="en-US" sz="1100" dirty="0"/>
              <a:t>후 절차의 무효</a:t>
            </a:r>
            <a:r>
              <a:rPr lang="en-US" altLang="ko-KR" sz="1100" dirty="0"/>
              <a:t>(</a:t>
            </a:r>
            <a:r>
              <a:rPr lang="ko-KR" altLang="en-US" sz="1100" dirty="0"/>
              <a:t>法 </a:t>
            </a:r>
            <a:r>
              <a:rPr lang="en-US" altLang="ko-KR" sz="1100" dirty="0"/>
              <a:t>16</a:t>
            </a:r>
            <a:r>
              <a:rPr lang="ko-KR" altLang="en-US" sz="1100" dirty="0"/>
              <a:t>①본문</a:t>
            </a:r>
            <a:r>
              <a:rPr lang="en-US" altLang="ko-KR" sz="1100" dirty="0"/>
              <a:t>)</a:t>
            </a:r>
            <a:endParaRPr lang="ko-KR" altLang="en-US" sz="1100" dirty="0"/>
          </a:p>
          <a:p>
            <a:pPr marR="17780" indent="-161290" fontAlgn="base">
              <a:lnSpc>
                <a:spcPct val="120000"/>
              </a:lnSpc>
            </a:pPr>
            <a:r>
              <a:rPr lang="en-US" altLang="ko-KR" sz="1100" dirty="0"/>
              <a:t>  - </a:t>
            </a:r>
            <a:r>
              <a:rPr lang="ko-KR" altLang="en-US" sz="1100" dirty="0"/>
              <a:t>예외 → 추인의 소급효</a:t>
            </a:r>
            <a:r>
              <a:rPr lang="en-US" altLang="ko-KR" sz="1100" dirty="0"/>
              <a:t>(</a:t>
            </a:r>
            <a:r>
              <a:rPr lang="ko-KR" altLang="en-US" sz="1100" dirty="0"/>
              <a:t>法 </a:t>
            </a:r>
            <a:r>
              <a:rPr lang="en-US" altLang="ko-KR" sz="1100" dirty="0"/>
              <a:t>7</a:t>
            </a:r>
            <a:r>
              <a:rPr lang="ko-KR" altLang="en-US" sz="1100" dirty="0"/>
              <a:t>의</a:t>
            </a:r>
            <a:r>
              <a:rPr lang="en-US" altLang="ko-KR" sz="1100" dirty="0"/>
              <a:t>2)</a:t>
            </a:r>
            <a:endParaRPr lang="ko-KR" altLang="en-US" sz="1100" dirty="0"/>
          </a:p>
          <a:p>
            <a:pPr marR="17780" indent="-161290" fontAlgn="base">
              <a:lnSpc>
                <a:spcPct val="120000"/>
              </a:lnSpc>
            </a:pPr>
            <a:r>
              <a:rPr lang="en-US" altLang="ko-KR" sz="1100" dirty="0"/>
              <a:t>2. </a:t>
            </a:r>
            <a:r>
              <a:rPr lang="ko-KR" altLang="en-US" sz="1100" dirty="0"/>
              <a:t>비법인 </a:t>
            </a:r>
            <a:r>
              <a:rPr lang="ko-KR" altLang="en-US" sz="1100" dirty="0" err="1"/>
              <a:t>사단ㆍ재단</a:t>
            </a:r>
            <a:endParaRPr lang="ko-KR" altLang="en-US" sz="1100" dirty="0"/>
          </a:p>
          <a:p>
            <a:pPr marR="17780" indent="-161290" fontAlgn="base">
              <a:lnSpc>
                <a:spcPct val="120000"/>
              </a:lnSpc>
            </a:pPr>
            <a:r>
              <a:rPr lang="ko-KR" altLang="en-US" sz="1100" dirty="0"/>
              <a:t>대표자나 관리인이 </a:t>
            </a:r>
            <a:r>
              <a:rPr lang="ko-KR" altLang="en-US" sz="1100" dirty="0" err="1"/>
              <a:t>정하여져</a:t>
            </a:r>
            <a:r>
              <a:rPr lang="ko-KR" altLang="en-US" sz="1100" dirty="0"/>
              <a:t> 있는 경우 그 </a:t>
            </a:r>
            <a:r>
              <a:rPr lang="ko-KR" altLang="en-US" sz="1100" dirty="0" err="1"/>
              <a:t>사단ㆍ재단의</a:t>
            </a:r>
            <a:r>
              <a:rPr lang="ko-KR" altLang="en-US" sz="1100" dirty="0"/>
              <a:t> 이름으로 심사청구인</a:t>
            </a:r>
            <a:r>
              <a:rPr lang="en-US" altLang="ko-KR" sz="1100" dirty="0"/>
              <a:t>, </a:t>
            </a:r>
            <a:r>
              <a:rPr lang="ko-KR" altLang="en-US" sz="1100" dirty="0"/>
              <a:t>특허취소신청인</a:t>
            </a:r>
            <a:r>
              <a:rPr lang="en-US" altLang="ko-KR" sz="1100" dirty="0"/>
              <a:t>, </a:t>
            </a:r>
            <a:r>
              <a:rPr lang="ko-KR" altLang="en-US" sz="1100" dirty="0" err="1"/>
              <a:t>심판청구인ㆍ피청구인</a:t>
            </a:r>
            <a:r>
              <a:rPr lang="en-US" altLang="ko-KR" sz="1100" dirty="0"/>
              <a:t>, </a:t>
            </a:r>
            <a:r>
              <a:rPr lang="ko-KR" altLang="en-US" sz="1100" dirty="0" err="1"/>
              <a:t>재심청구인ㆍ피청구인이</a:t>
            </a:r>
            <a:r>
              <a:rPr lang="ko-KR" altLang="en-US" sz="1100" dirty="0"/>
              <a:t> 될 수 있음</a:t>
            </a:r>
            <a:r>
              <a:rPr lang="en-US" altLang="ko-KR" sz="1100" dirty="0"/>
              <a:t>(</a:t>
            </a:r>
            <a:r>
              <a:rPr lang="ko-KR" altLang="en-US" sz="1100" dirty="0"/>
              <a:t>法 </a:t>
            </a:r>
            <a:r>
              <a:rPr lang="en-US" altLang="ko-KR" sz="1100" dirty="0"/>
              <a:t>4)</a:t>
            </a:r>
            <a:endParaRPr lang="ko-KR" altLang="en-US" sz="1100" dirty="0"/>
          </a:p>
        </p:txBody>
      </p:sp>
      <p:sp>
        <p:nvSpPr>
          <p:cNvPr id="63" name="직사각형 62">
            <a:extLst>
              <a:ext uri="{FF2B5EF4-FFF2-40B4-BE49-F238E27FC236}">
                <a16:creationId xmlns:a16="http://schemas.microsoft.com/office/drawing/2014/main" id="{1AF1A437-FA96-4435-ACD6-EC9772498C57}"/>
              </a:ext>
            </a:extLst>
          </p:cNvPr>
          <p:cNvSpPr/>
          <p:nvPr/>
        </p:nvSpPr>
        <p:spPr>
          <a:xfrm>
            <a:off x="5386812" y="6282062"/>
            <a:ext cx="6470390" cy="282513"/>
          </a:xfrm>
          <a:prstGeom prst="rect">
            <a:avLst/>
          </a:prstGeom>
          <a:ln>
            <a:solidFill>
              <a:schemeClr val="bg1">
                <a:lumMod val="65000"/>
              </a:schemeClr>
            </a:solidFill>
          </a:ln>
        </p:spPr>
        <p:txBody>
          <a:bodyPr wrap="square">
            <a:spAutoFit/>
          </a:bodyPr>
          <a:lstStyle/>
          <a:p>
            <a:pPr marR="17780" indent="-161290" fontAlgn="base">
              <a:lnSpc>
                <a:spcPct val="120000"/>
              </a:lnSpc>
            </a:pPr>
            <a:r>
              <a:rPr lang="ko-KR" altLang="en-US" sz="1100" dirty="0" err="1"/>
              <a:t>불수리</a:t>
            </a:r>
            <a:endParaRPr lang="ko-KR" altLang="en-US" sz="1100" dirty="0"/>
          </a:p>
        </p:txBody>
      </p:sp>
      <p:sp>
        <p:nvSpPr>
          <p:cNvPr id="64" name="직사각형 63">
            <a:extLst>
              <a:ext uri="{FF2B5EF4-FFF2-40B4-BE49-F238E27FC236}">
                <a16:creationId xmlns:a16="http://schemas.microsoft.com/office/drawing/2014/main" id="{6F34D9E9-05B8-4AC8-B17E-672B7A9071BE}"/>
              </a:ext>
            </a:extLst>
          </p:cNvPr>
          <p:cNvSpPr/>
          <p:nvPr/>
        </p:nvSpPr>
        <p:spPr>
          <a:xfrm>
            <a:off x="5386812" y="5723065"/>
            <a:ext cx="6470390" cy="485646"/>
          </a:xfrm>
          <a:prstGeom prst="rect">
            <a:avLst/>
          </a:prstGeom>
          <a:ln>
            <a:solidFill>
              <a:schemeClr val="bg1">
                <a:lumMod val="65000"/>
              </a:schemeClr>
            </a:solidFill>
          </a:ln>
        </p:spPr>
        <p:txBody>
          <a:bodyPr wrap="square">
            <a:spAutoFit/>
          </a:bodyPr>
          <a:lstStyle/>
          <a:p>
            <a:pPr marR="17780" indent="-161290" fontAlgn="base">
              <a:lnSpc>
                <a:spcPct val="120000"/>
              </a:lnSpc>
            </a:pPr>
            <a:r>
              <a:rPr lang="en-US" altLang="ko-KR" sz="1100" dirty="0"/>
              <a:t>1. </a:t>
            </a:r>
            <a:r>
              <a:rPr lang="ko-KR" altLang="en-US" sz="1100" dirty="0"/>
              <a:t>국내에 체류하는 경우</a:t>
            </a:r>
            <a:r>
              <a:rPr lang="en-US" altLang="ko-KR" sz="1100" dirty="0"/>
              <a:t>(</a:t>
            </a:r>
            <a:r>
              <a:rPr lang="ko-KR" altLang="en-US" sz="1100" dirty="0"/>
              <a:t>法 </a:t>
            </a:r>
            <a:r>
              <a:rPr lang="en-US" altLang="ko-KR" sz="1100" dirty="0"/>
              <a:t>5</a:t>
            </a:r>
            <a:r>
              <a:rPr lang="ko-KR" altLang="en-US" sz="1100" dirty="0"/>
              <a:t>①본문</a:t>
            </a:r>
            <a:r>
              <a:rPr lang="en-US" altLang="ko-KR" sz="1100" dirty="0"/>
              <a:t>)</a:t>
            </a:r>
            <a:endParaRPr lang="ko-KR" altLang="en-US" sz="1100" dirty="0"/>
          </a:p>
          <a:p>
            <a:pPr marR="17780" indent="-161290" fontAlgn="base">
              <a:lnSpc>
                <a:spcPct val="120000"/>
              </a:lnSpc>
            </a:pPr>
            <a:r>
              <a:rPr lang="en-US" altLang="ko-KR" sz="1100" dirty="0"/>
              <a:t>2. </a:t>
            </a:r>
            <a:r>
              <a:rPr lang="ko-KR" altLang="en-US" sz="1100" dirty="0" err="1"/>
              <a:t>국제특허출원의</a:t>
            </a:r>
            <a:r>
              <a:rPr lang="ko-KR" altLang="en-US" sz="1100" dirty="0"/>
              <a:t> 기준일 전까지</a:t>
            </a:r>
            <a:r>
              <a:rPr lang="en-US" altLang="ko-KR" sz="1100" dirty="0"/>
              <a:t>(</a:t>
            </a:r>
            <a:r>
              <a:rPr lang="ko-KR" altLang="en-US" sz="1100" dirty="0"/>
              <a:t>法 </a:t>
            </a:r>
            <a:r>
              <a:rPr lang="en-US" altLang="ko-KR" sz="1100" dirty="0"/>
              <a:t>206</a:t>
            </a:r>
            <a:r>
              <a:rPr lang="ko-KR" altLang="en-US" sz="1100" dirty="0"/>
              <a:t>①</a:t>
            </a:r>
            <a:r>
              <a:rPr lang="en-US" altLang="ko-KR" sz="1100" dirty="0"/>
              <a:t>)</a:t>
            </a:r>
            <a:endParaRPr lang="ko-KR" altLang="en-US" sz="1100" dirty="0"/>
          </a:p>
        </p:txBody>
      </p:sp>
      <p:sp>
        <p:nvSpPr>
          <p:cNvPr id="65" name="직사각형 64">
            <a:extLst>
              <a:ext uri="{FF2B5EF4-FFF2-40B4-BE49-F238E27FC236}">
                <a16:creationId xmlns:a16="http://schemas.microsoft.com/office/drawing/2014/main" id="{4AB07D19-C5F3-4769-893D-BA4EF9675706}"/>
              </a:ext>
            </a:extLst>
          </p:cNvPr>
          <p:cNvSpPr/>
          <p:nvPr/>
        </p:nvSpPr>
        <p:spPr>
          <a:xfrm>
            <a:off x="4433303" y="6306288"/>
            <a:ext cx="600424" cy="23329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위반</a:t>
            </a:r>
          </a:p>
        </p:txBody>
      </p:sp>
      <p:cxnSp>
        <p:nvCxnSpPr>
          <p:cNvPr id="23" name="연결선: 꺾임 22">
            <a:extLst>
              <a:ext uri="{FF2B5EF4-FFF2-40B4-BE49-F238E27FC236}">
                <a16:creationId xmlns:a16="http://schemas.microsoft.com/office/drawing/2014/main" id="{68593473-303D-4716-9E42-7AEE268CFBDC}"/>
              </a:ext>
            </a:extLst>
          </p:cNvPr>
          <p:cNvCxnSpPr>
            <a:stCxn id="43" idx="3"/>
            <a:endCxn id="45" idx="1"/>
          </p:cNvCxnSpPr>
          <p:nvPr/>
        </p:nvCxnSpPr>
        <p:spPr>
          <a:xfrm flipV="1">
            <a:off x="1848566" y="1411309"/>
            <a:ext cx="255313" cy="44937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연결선: 꺾임 25">
            <a:extLst>
              <a:ext uri="{FF2B5EF4-FFF2-40B4-BE49-F238E27FC236}">
                <a16:creationId xmlns:a16="http://schemas.microsoft.com/office/drawing/2014/main" id="{F518CBAA-51B2-4DF5-A9F7-6EF077695C94}"/>
              </a:ext>
            </a:extLst>
          </p:cNvPr>
          <p:cNvCxnSpPr>
            <a:stCxn id="43" idx="3"/>
            <a:endCxn id="48" idx="1"/>
          </p:cNvCxnSpPr>
          <p:nvPr/>
        </p:nvCxnSpPr>
        <p:spPr>
          <a:xfrm>
            <a:off x="1848566" y="1860681"/>
            <a:ext cx="255313" cy="18973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연결선: 꺾임 28">
            <a:extLst>
              <a:ext uri="{FF2B5EF4-FFF2-40B4-BE49-F238E27FC236}">
                <a16:creationId xmlns:a16="http://schemas.microsoft.com/office/drawing/2014/main" id="{48F3F553-7AAA-47CF-8FDF-AF0D60FA5B5E}"/>
              </a:ext>
            </a:extLst>
          </p:cNvPr>
          <p:cNvCxnSpPr>
            <a:stCxn id="48" idx="3"/>
            <a:endCxn id="49" idx="1"/>
          </p:cNvCxnSpPr>
          <p:nvPr/>
        </p:nvCxnSpPr>
        <p:spPr>
          <a:xfrm flipV="1">
            <a:off x="3301973" y="2049626"/>
            <a:ext cx="244095" cy="79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연결선: 꺾임 32">
            <a:extLst>
              <a:ext uri="{FF2B5EF4-FFF2-40B4-BE49-F238E27FC236}">
                <a16:creationId xmlns:a16="http://schemas.microsoft.com/office/drawing/2014/main" id="{EEA5B97A-6D9B-4DBC-B24E-9F8CEC898C54}"/>
              </a:ext>
            </a:extLst>
          </p:cNvPr>
          <p:cNvCxnSpPr>
            <a:cxnSpLocks/>
            <a:stCxn id="48" idx="3"/>
            <a:endCxn id="51" idx="1"/>
          </p:cNvCxnSpPr>
          <p:nvPr/>
        </p:nvCxnSpPr>
        <p:spPr>
          <a:xfrm>
            <a:off x="3301973" y="2050420"/>
            <a:ext cx="244095" cy="67165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연결선: 꺾임 36">
            <a:extLst>
              <a:ext uri="{FF2B5EF4-FFF2-40B4-BE49-F238E27FC236}">
                <a16:creationId xmlns:a16="http://schemas.microsoft.com/office/drawing/2014/main" id="{AB4A371C-208D-4181-8757-3D2FA108EDBD}"/>
              </a:ext>
            </a:extLst>
          </p:cNvPr>
          <p:cNvCxnSpPr>
            <a:cxnSpLocks/>
            <a:stCxn id="51" idx="3"/>
            <a:endCxn id="55" idx="1"/>
          </p:cNvCxnSpPr>
          <p:nvPr/>
        </p:nvCxnSpPr>
        <p:spPr>
          <a:xfrm flipV="1">
            <a:off x="4146492" y="2554133"/>
            <a:ext cx="286811" cy="16794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연결선: 꺾임 38">
            <a:extLst>
              <a:ext uri="{FF2B5EF4-FFF2-40B4-BE49-F238E27FC236}">
                <a16:creationId xmlns:a16="http://schemas.microsoft.com/office/drawing/2014/main" id="{97F80758-561C-4674-8F1B-1524727F03CC}"/>
              </a:ext>
            </a:extLst>
          </p:cNvPr>
          <p:cNvCxnSpPr>
            <a:cxnSpLocks/>
            <a:stCxn id="51" idx="3"/>
            <a:endCxn id="56" idx="1"/>
          </p:cNvCxnSpPr>
          <p:nvPr/>
        </p:nvCxnSpPr>
        <p:spPr>
          <a:xfrm>
            <a:off x="4146492" y="2722076"/>
            <a:ext cx="286811" cy="15805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연결선: 꺾임 66">
            <a:extLst>
              <a:ext uri="{FF2B5EF4-FFF2-40B4-BE49-F238E27FC236}">
                <a16:creationId xmlns:a16="http://schemas.microsoft.com/office/drawing/2014/main" id="{2AE6CFFF-0957-4105-8346-21DF43DA2287}"/>
              </a:ext>
            </a:extLst>
          </p:cNvPr>
          <p:cNvCxnSpPr>
            <a:cxnSpLocks/>
            <a:stCxn id="44" idx="3"/>
            <a:endCxn id="52" idx="1"/>
          </p:cNvCxnSpPr>
          <p:nvPr/>
        </p:nvCxnSpPr>
        <p:spPr>
          <a:xfrm flipV="1">
            <a:off x="1848566" y="3596649"/>
            <a:ext cx="1697502" cy="616738"/>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연결선: 꺾임 68">
            <a:extLst>
              <a:ext uri="{FF2B5EF4-FFF2-40B4-BE49-F238E27FC236}">
                <a16:creationId xmlns:a16="http://schemas.microsoft.com/office/drawing/2014/main" id="{88BC05BE-F9D0-4034-A595-E93FE4BD7AB2}"/>
              </a:ext>
            </a:extLst>
          </p:cNvPr>
          <p:cNvCxnSpPr>
            <a:stCxn id="44" idx="3"/>
            <a:endCxn id="53" idx="1"/>
          </p:cNvCxnSpPr>
          <p:nvPr/>
        </p:nvCxnSpPr>
        <p:spPr>
          <a:xfrm>
            <a:off x="1848566" y="4213387"/>
            <a:ext cx="1697502" cy="174985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연결선: 꺾임 70">
            <a:extLst>
              <a:ext uri="{FF2B5EF4-FFF2-40B4-BE49-F238E27FC236}">
                <a16:creationId xmlns:a16="http://schemas.microsoft.com/office/drawing/2014/main" id="{64F3BAB7-EB5E-4146-946E-1034A6AA5C09}"/>
              </a:ext>
            </a:extLst>
          </p:cNvPr>
          <p:cNvCxnSpPr>
            <a:cxnSpLocks/>
            <a:stCxn id="52" idx="3"/>
            <a:endCxn id="57" idx="1"/>
          </p:cNvCxnSpPr>
          <p:nvPr/>
        </p:nvCxnSpPr>
        <p:spPr>
          <a:xfrm flipV="1">
            <a:off x="4146492" y="3358827"/>
            <a:ext cx="286811" cy="23782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연결선: 꺾임 72">
            <a:extLst>
              <a:ext uri="{FF2B5EF4-FFF2-40B4-BE49-F238E27FC236}">
                <a16:creationId xmlns:a16="http://schemas.microsoft.com/office/drawing/2014/main" id="{4B76A0E9-C58E-4779-BE5D-A53E62DFE3C1}"/>
              </a:ext>
            </a:extLst>
          </p:cNvPr>
          <p:cNvCxnSpPr>
            <a:cxnSpLocks/>
            <a:stCxn id="52" idx="3"/>
            <a:endCxn id="58" idx="1"/>
          </p:cNvCxnSpPr>
          <p:nvPr/>
        </p:nvCxnSpPr>
        <p:spPr>
          <a:xfrm>
            <a:off x="4146492" y="3596649"/>
            <a:ext cx="286811" cy="24247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직선 연결선 74">
            <a:extLst>
              <a:ext uri="{FF2B5EF4-FFF2-40B4-BE49-F238E27FC236}">
                <a16:creationId xmlns:a16="http://schemas.microsoft.com/office/drawing/2014/main" id="{DEF8F7FB-4F95-4D2D-A579-75ABAA08A336}"/>
              </a:ext>
            </a:extLst>
          </p:cNvPr>
          <p:cNvCxnSpPr/>
          <p:nvPr/>
        </p:nvCxnSpPr>
        <p:spPr>
          <a:xfrm>
            <a:off x="144855" y="3132497"/>
            <a:ext cx="11950575" cy="0"/>
          </a:xfrm>
          <a:prstGeom prst="line">
            <a:avLst/>
          </a:prstGeom>
          <a:ln w="381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연결선: 꺾임 89">
            <a:extLst>
              <a:ext uri="{FF2B5EF4-FFF2-40B4-BE49-F238E27FC236}">
                <a16:creationId xmlns:a16="http://schemas.microsoft.com/office/drawing/2014/main" id="{4B170912-7305-4355-8574-20BB863FEC6F}"/>
              </a:ext>
            </a:extLst>
          </p:cNvPr>
          <p:cNvCxnSpPr>
            <a:stCxn id="53" idx="3"/>
            <a:endCxn id="59" idx="1"/>
          </p:cNvCxnSpPr>
          <p:nvPr/>
        </p:nvCxnSpPr>
        <p:spPr>
          <a:xfrm flipV="1">
            <a:off x="4146492" y="5533165"/>
            <a:ext cx="286811" cy="43007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연결선: 꺾임 92">
            <a:extLst>
              <a:ext uri="{FF2B5EF4-FFF2-40B4-BE49-F238E27FC236}">
                <a16:creationId xmlns:a16="http://schemas.microsoft.com/office/drawing/2014/main" id="{D63D5557-CA7E-48E1-B14C-06E559408B9B}"/>
              </a:ext>
            </a:extLst>
          </p:cNvPr>
          <p:cNvCxnSpPr>
            <a:stCxn id="53" idx="3"/>
            <a:endCxn id="65" idx="1"/>
          </p:cNvCxnSpPr>
          <p:nvPr/>
        </p:nvCxnSpPr>
        <p:spPr>
          <a:xfrm>
            <a:off x="4146492" y="5963242"/>
            <a:ext cx="286811" cy="45969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연결선: 꺾임 94">
            <a:extLst>
              <a:ext uri="{FF2B5EF4-FFF2-40B4-BE49-F238E27FC236}">
                <a16:creationId xmlns:a16="http://schemas.microsoft.com/office/drawing/2014/main" id="{1BD85D07-0494-4C04-B3D0-D6BAF1511C88}"/>
              </a:ext>
            </a:extLst>
          </p:cNvPr>
          <p:cNvCxnSpPr>
            <a:stCxn id="53" idx="3"/>
            <a:endCxn id="60" idx="1"/>
          </p:cNvCxnSpPr>
          <p:nvPr/>
        </p:nvCxnSpPr>
        <p:spPr>
          <a:xfrm>
            <a:off x="4146492" y="5963242"/>
            <a:ext cx="286811" cy="456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직선 연결선 97">
            <a:extLst>
              <a:ext uri="{FF2B5EF4-FFF2-40B4-BE49-F238E27FC236}">
                <a16:creationId xmlns:a16="http://schemas.microsoft.com/office/drawing/2014/main" id="{8C4C512C-16C7-4EF6-B3CA-314C45B8BFD5}"/>
              </a:ext>
            </a:extLst>
          </p:cNvPr>
          <p:cNvCxnSpPr>
            <a:stCxn id="45" idx="3"/>
            <a:endCxn id="11" idx="1"/>
          </p:cNvCxnSpPr>
          <p:nvPr/>
        </p:nvCxnSpPr>
        <p:spPr>
          <a:xfrm flipV="1">
            <a:off x="3301973" y="1402300"/>
            <a:ext cx="2087677" cy="9009"/>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7D29CD44-078A-4A88-9A41-7E940C425B57}"/>
              </a:ext>
            </a:extLst>
          </p:cNvPr>
          <p:cNvCxnSpPr>
            <a:stCxn id="49" idx="3"/>
            <a:endCxn id="12" idx="1"/>
          </p:cNvCxnSpPr>
          <p:nvPr/>
        </p:nvCxnSpPr>
        <p:spPr>
          <a:xfrm flipV="1">
            <a:off x="4146492" y="2043644"/>
            <a:ext cx="1243158" cy="5982"/>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직선 연결선 101">
            <a:extLst>
              <a:ext uri="{FF2B5EF4-FFF2-40B4-BE49-F238E27FC236}">
                <a16:creationId xmlns:a16="http://schemas.microsoft.com/office/drawing/2014/main" id="{F4BAD0CE-1A8A-417D-BA4A-70AC59B9BBCD}"/>
              </a:ext>
            </a:extLst>
          </p:cNvPr>
          <p:cNvCxnSpPr>
            <a:cxnSpLocks/>
            <a:stCxn id="55" idx="3"/>
            <a:endCxn id="61" idx="1"/>
          </p:cNvCxnSpPr>
          <p:nvPr/>
        </p:nvCxnSpPr>
        <p:spPr>
          <a:xfrm flipV="1">
            <a:off x="5033727" y="2552413"/>
            <a:ext cx="355923" cy="172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연결선: 꺾임 104">
            <a:extLst>
              <a:ext uri="{FF2B5EF4-FFF2-40B4-BE49-F238E27FC236}">
                <a16:creationId xmlns:a16="http://schemas.microsoft.com/office/drawing/2014/main" id="{999BA33D-5433-447F-B7C7-C55658D54593}"/>
              </a:ext>
            </a:extLst>
          </p:cNvPr>
          <p:cNvCxnSpPr>
            <a:stCxn id="56" idx="3"/>
            <a:endCxn id="13" idx="1"/>
          </p:cNvCxnSpPr>
          <p:nvPr/>
        </p:nvCxnSpPr>
        <p:spPr>
          <a:xfrm flipV="1">
            <a:off x="5033727" y="2878891"/>
            <a:ext cx="355922" cy="124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B6847D8A-1B39-4FE9-9B8C-75F3B9887B78}"/>
              </a:ext>
            </a:extLst>
          </p:cNvPr>
          <p:cNvCxnSpPr>
            <a:stCxn id="57" idx="3"/>
            <a:endCxn id="14" idx="1"/>
          </p:cNvCxnSpPr>
          <p:nvPr/>
        </p:nvCxnSpPr>
        <p:spPr>
          <a:xfrm flipV="1">
            <a:off x="5033727" y="3356279"/>
            <a:ext cx="355923" cy="2548"/>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연결선: 꺾임 113">
            <a:extLst>
              <a:ext uri="{FF2B5EF4-FFF2-40B4-BE49-F238E27FC236}">
                <a16:creationId xmlns:a16="http://schemas.microsoft.com/office/drawing/2014/main" id="{68594493-C354-4741-88FB-D6188B02F9EA}"/>
              </a:ext>
            </a:extLst>
          </p:cNvPr>
          <p:cNvCxnSpPr>
            <a:stCxn id="58" idx="3"/>
            <a:endCxn id="62" idx="1"/>
          </p:cNvCxnSpPr>
          <p:nvPr/>
        </p:nvCxnSpPr>
        <p:spPr>
          <a:xfrm>
            <a:off x="5033727" y="3839126"/>
            <a:ext cx="355922" cy="61406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연결선: 꺾임 115">
            <a:extLst>
              <a:ext uri="{FF2B5EF4-FFF2-40B4-BE49-F238E27FC236}">
                <a16:creationId xmlns:a16="http://schemas.microsoft.com/office/drawing/2014/main" id="{FE0796F3-CC0C-45CD-97E4-1B75F2057A1A}"/>
              </a:ext>
            </a:extLst>
          </p:cNvPr>
          <p:cNvCxnSpPr>
            <a:cxnSpLocks/>
            <a:stCxn id="59" idx="3"/>
            <a:endCxn id="17" idx="1"/>
          </p:cNvCxnSpPr>
          <p:nvPr/>
        </p:nvCxnSpPr>
        <p:spPr>
          <a:xfrm>
            <a:off x="5033727" y="5533165"/>
            <a:ext cx="355923" cy="296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직선 연결선 120">
            <a:extLst>
              <a:ext uri="{FF2B5EF4-FFF2-40B4-BE49-F238E27FC236}">
                <a16:creationId xmlns:a16="http://schemas.microsoft.com/office/drawing/2014/main" id="{22DFF7FE-C127-4F35-8B35-368F57523E47}"/>
              </a:ext>
            </a:extLst>
          </p:cNvPr>
          <p:cNvCxnSpPr>
            <a:stCxn id="60" idx="3"/>
            <a:endCxn id="64" idx="1"/>
          </p:cNvCxnSpPr>
          <p:nvPr/>
        </p:nvCxnSpPr>
        <p:spPr>
          <a:xfrm flipV="1">
            <a:off x="5033727" y="5965888"/>
            <a:ext cx="353085" cy="192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368A7E39-6DEB-4533-A12E-42C242B09938}"/>
              </a:ext>
            </a:extLst>
          </p:cNvPr>
          <p:cNvCxnSpPr>
            <a:stCxn id="65" idx="3"/>
            <a:endCxn id="63" idx="1"/>
          </p:cNvCxnSpPr>
          <p:nvPr/>
        </p:nvCxnSpPr>
        <p:spPr>
          <a:xfrm>
            <a:off x="5033727" y="6422934"/>
            <a:ext cx="353085" cy="385"/>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181322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a:t>
            </a:r>
            <a:r>
              <a:rPr lang="ko-KR" altLang="en-US" dirty="0"/>
              <a:t>조</a:t>
            </a:r>
            <a:r>
              <a:rPr lang="en-US" altLang="ko-KR" dirty="0"/>
              <a:t>~</a:t>
            </a:r>
            <a:r>
              <a:rPr lang="ko-KR" altLang="en-US" dirty="0"/>
              <a:t>제</a:t>
            </a:r>
            <a:r>
              <a:rPr lang="en-US" altLang="ko-KR" dirty="0"/>
              <a:t>5</a:t>
            </a:r>
            <a:r>
              <a:rPr lang="ko-KR" altLang="en-US" dirty="0"/>
              <a:t>조</a:t>
            </a:r>
          </a:p>
        </p:txBody>
      </p:sp>
      <p:sp>
        <p:nvSpPr>
          <p:cNvPr id="4" name="텍스트 개체 틀 3"/>
          <p:cNvSpPr>
            <a:spLocks noGrp="1"/>
          </p:cNvSpPr>
          <p:nvPr>
            <p:ph type="body" sz="quarter" idx="13"/>
          </p:nvPr>
        </p:nvSpPr>
        <p:spPr/>
        <p:txBody>
          <a:bodyPr/>
          <a:lstStyle/>
          <a:p>
            <a:r>
              <a:rPr lang="ko-KR" altLang="en-US" dirty="0"/>
              <a:t>대리인의 종류</a:t>
            </a:r>
          </a:p>
        </p:txBody>
      </p:sp>
      <p:sp>
        <p:nvSpPr>
          <p:cNvPr id="5" name="슬라이드 번호 개체 틀 4"/>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30</a:t>
            </a:fld>
            <a:endParaRPr lang="ko-KR" altLang="en-US"/>
          </a:p>
        </p:txBody>
      </p:sp>
      <p:sp>
        <p:nvSpPr>
          <p:cNvPr id="2" name="직사각형 1"/>
          <p:cNvSpPr/>
          <p:nvPr/>
        </p:nvSpPr>
        <p:spPr>
          <a:xfrm>
            <a:off x="308725" y="3189756"/>
            <a:ext cx="1198094"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대리인</a:t>
            </a:r>
          </a:p>
        </p:txBody>
      </p:sp>
      <p:sp>
        <p:nvSpPr>
          <p:cNvPr id="8" name="직사각형 7"/>
          <p:cNvSpPr/>
          <p:nvPr/>
        </p:nvSpPr>
        <p:spPr>
          <a:xfrm>
            <a:off x="1962155" y="2132481"/>
            <a:ext cx="2522758"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법정대리인</a:t>
            </a:r>
            <a:endParaRPr lang="en-US" altLang="ko-KR" sz="1200" dirty="0">
              <a:solidFill>
                <a:schemeClr val="tx1"/>
              </a:solidFill>
            </a:endParaRPr>
          </a:p>
          <a:p>
            <a:pPr algn="ctr"/>
            <a:r>
              <a:rPr lang="en-US" altLang="ko-KR" sz="1200" dirty="0">
                <a:solidFill>
                  <a:schemeClr val="accent2"/>
                </a:solidFill>
              </a:rPr>
              <a:t>(</a:t>
            </a:r>
            <a:r>
              <a:rPr lang="ko-KR" altLang="en-US" sz="1200" dirty="0">
                <a:solidFill>
                  <a:schemeClr val="accent2"/>
                </a:solidFill>
              </a:rPr>
              <a:t>특허에 관한 절차 </a:t>
            </a:r>
            <a:r>
              <a:rPr lang="en-US" altLang="ko-KR" sz="1200" dirty="0">
                <a:solidFill>
                  <a:schemeClr val="accent2"/>
                </a:solidFill>
              </a:rPr>
              <a:t>+ </a:t>
            </a:r>
            <a:r>
              <a:rPr lang="ko-KR" altLang="en-US" sz="1200" dirty="0">
                <a:solidFill>
                  <a:schemeClr val="accent2"/>
                </a:solidFill>
              </a:rPr>
              <a:t>권리 처분권</a:t>
            </a:r>
            <a:r>
              <a:rPr lang="en-US" altLang="ko-KR" sz="1200" dirty="0">
                <a:solidFill>
                  <a:schemeClr val="accent2"/>
                </a:solidFill>
              </a:rPr>
              <a:t>)</a:t>
            </a:r>
            <a:endParaRPr lang="ko-KR" altLang="en-US" sz="1200" dirty="0">
              <a:solidFill>
                <a:schemeClr val="accent2"/>
              </a:solidFill>
            </a:endParaRPr>
          </a:p>
        </p:txBody>
      </p:sp>
      <p:sp>
        <p:nvSpPr>
          <p:cNvPr id="10" name="직사각형 9"/>
          <p:cNvSpPr/>
          <p:nvPr/>
        </p:nvSpPr>
        <p:spPr>
          <a:xfrm>
            <a:off x="1962154" y="4361331"/>
            <a:ext cx="2522759"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임의대리인</a:t>
            </a:r>
            <a:endParaRPr lang="en-US" altLang="ko-KR" sz="1200" dirty="0">
              <a:solidFill>
                <a:schemeClr val="tx1"/>
              </a:solidFill>
            </a:endParaRPr>
          </a:p>
          <a:p>
            <a:pPr algn="ctr"/>
            <a:r>
              <a:rPr lang="en-US" altLang="ko-KR" sz="1200" dirty="0">
                <a:solidFill>
                  <a:schemeClr val="accent2"/>
                </a:solidFill>
              </a:rPr>
              <a:t>(</a:t>
            </a:r>
            <a:r>
              <a:rPr lang="ko-KR" altLang="en-US" sz="1200" dirty="0">
                <a:solidFill>
                  <a:schemeClr val="accent2"/>
                </a:solidFill>
              </a:rPr>
              <a:t>특허에 관한 절차</a:t>
            </a:r>
            <a:r>
              <a:rPr lang="en-US" altLang="ko-KR" sz="1200" dirty="0">
                <a:solidFill>
                  <a:schemeClr val="accent2"/>
                </a:solidFill>
              </a:rPr>
              <a:t>(</a:t>
            </a:r>
            <a:r>
              <a:rPr lang="ko-KR" altLang="en-US" sz="1200" dirty="0" err="1">
                <a:solidFill>
                  <a:schemeClr val="accent2"/>
                </a:solidFill>
              </a:rPr>
              <a:t>심결취소소송</a:t>
            </a:r>
            <a:r>
              <a:rPr lang="ko-KR" altLang="en-US" sz="1200" dirty="0">
                <a:solidFill>
                  <a:schemeClr val="accent2"/>
                </a:solidFill>
              </a:rPr>
              <a:t> 포함</a:t>
            </a:r>
            <a:r>
              <a:rPr lang="en-US" altLang="ko-KR" sz="1200" dirty="0">
                <a:solidFill>
                  <a:schemeClr val="accent2"/>
                </a:solidFill>
              </a:rPr>
              <a:t>))</a:t>
            </a:r>
            <a:endParaRPr lang="ko-KR" altLang="en-US" sz="1200" dirty="0">
              <a:solidFill>
                <a:schemeClr val="accent2"/>
              </a:solidFill>
            </a:endParaRPr>
          </a:p>
        </p:txBody>
      </p:sp>
      <p:cxnSp>
        <p:nvCxnSpPr>
          <p:cNvPr id="15" name="꺾인 연결선 14"/>
          <p:cNvCxnSpPr>
            <a:cxnSpLocks/>
            <a:stCxn id="2" idx="3"/>
            <a:endCxn id="8" idx="1"/>
          </p:cNvCxnSpPr>
          <p:nvPr/>
        </p:nvCxnSpPr>
        <p:spPr>
          <a:xfrm flipV="1">
            <a:off x="1506819" y="2389656"/>
            <a:ext cx="455336" cy="1057275"/>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꺾인 연결선 15"/>
          <p:cNvCxnSpPr>
            <a:cxnSpLocks/>
            <a:stCxn id="2" idx="3"/>
            <a:endCxn id="10" idx="1"/>
          </p:cNvCxnSpPr>
          <p:nvPr/>
        </p:nvCxnSpPr>
        <p:spPr>
          <a:xfrm>
            <a:off x="1506819" y="3446931"/>
            <a:ext cx="455335" cy="1171575"/>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cxnSpLocks/>
            <a:stCxn id="8" idx="3"/>
            <a:endCxn id="82" idx="1"/>
          </p:cNvCxnSpPr>
          <p:nvPr/>
        </p:nvCxnSpPr>
        <p:spPr>
          <a:xfrm>
            <a:off x="4484913" y="2389656"/>
            <a:ext cx="320726" cy="681678"/>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2" name="꺾인 연결선 21"/>
          <p:cNvCxnSpPr>
            <a:cxnSpLocks/>
            <a:stCxn id="8" idx="3"/>
            <a:endCxn id="81" idx="1"/>
          </p:cNvCxnSpPr>
          <p:nvPr/>
        </p:nvCxnSpPr>
        <p:spPr>
          <a:xfrm flipV="1">
            <a:off x="4484913" y="1680852"/>
            <a:ext cx="320726" cy="708804"/>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cxnSpLocks/>
            <a:stCxn id="10" idx="3"/>
            <a:endCxn id="97" idx="1"/>
          </p:cNvCxnSpPr>
          <p:nvPr/>
        </p:nvCxnSpPr>
        <p:spPr>
          <a:xfrm>
            <a:off x="4484913" y="4618506"/>
            <a:ext cx="320726" cy="741309"/>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cxnSpLocks/>
            <a:stCxn id="10" idx="3"/>
            <a:endCxn id="91" idx="1"/>
          </p:cNvCxnSpPr>
          <p:nvPr/>
        </p:nvCxnSpPr>
        <p:spPr>
          <a:xfrm flipV="1">
            <a:off x="4484913" y="3969333"/>
            <a:ext cx="320726" cy="649173"/>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Rectangle 5"/>
          <p:cNvSpPr>
            <a:spLocks noChangeArrowheads="1"/>
          </p:cNvSpPr>
          <p:nvPr/>
        </p:nvSpPr>
        <p:spPr bwMode="auto">
          <a:xfrm>
            <a:off x="2768089" y="3310980"/>
            <a:ext cx="921688" cy="348102"/>
          </a:xfrm>
          <a:prstGeom prst="roundRect">
            <a:avLst>
              <a:gd name="adj" fmla="val 50000"/>
            </a:avLst>
          </a:prstGeom>
          <a:solidFill>
            <a:schemeClr val="accent4"/>
          </a:solidFill>
          <a:ln w="9525" algn="ctr">
            <a:noFill/>
            <a:miter lim="800000"/>
            <a:headEnd/>
            <a:tailEnd/>
          </a:ln>
        </p:spPr>
        <p:txBody>
          <a:bodyPr wrap="none" anchor="ctr"/>
          <a:lstStyle/>
          <a:p>
            <a:pPr algn="ctr"/>
            <a:r>
              <a:rPr lang="ko-KR" altLang="en-US" sz="1000" b="0" dirty="0">
                <a:solidFill>
                  <a:schemeClr val="tx1"/>
                </a:solidFill>
                <a:latin typeface="+mj-ea"/>
                <a:ea typeface="+mj-ea"/>
              </a:rPr>
              <a:t>선임 행위</a:t>
            </a:r>
          </a:p>
        </p:txBody>
      </p:sp>
      <p:sp>
        <p:nvSpPr>
          <p:cNvPr id="32" name="Rectangle 5"/>
          <p:cNvSpPr>
            <a:spLocks noChangeArrowheads="1"/>
          </p:cNvSpPr>
          <p:nvPr/>
        </p:nvSpPr>
        <p:spPr bwMode="auto">
          <a:xfrm>
            <a:off x="5646639" y="2224349"/>
            <a:ext cx="942420" cy="348102"/>
          </a:xfrm>
          <a:prstGeom prst="roundRect">
            <a:avLst>
              <a:gd name="adj" fmla="val 50000"/>
            </a:avLst>
          </a:prstGeom>
          <a:solidFill>
            <a:schemeClr val="accent4"/>
          </a:solidFill>
          <a:ln w="9525" algn="ctr">
            <a:noFill/>
            <a:miter lim="800000"/>
            <a:headEnd/>
            <a:tailEnd/>
          </a:ln>
        </p:spPr>
        <p:txBody>
          <a:bodyPr wrap="none" anchor="ctr"/>
          <a:lstStyle/>
          <a:p>
            <a:pPr algn="ctr"/>
            <a:r>
              <a:rPr lang="ko-KR" altLang="en-US" sz="1000" b="0" dirty="0">
                <a:solidFill>
                  <a:schemeClr val="tx1"/>
                </a:solidFill>
                <a:latin typeface="+mj-ea"/>
                <a:ea typeface="+mj-ea"/>
              </a:rPr>
              <a:t>부모 여부</a:t>
            </a:r>
          </a:p>
        </p:txBody>
      </p:sp>
      <p:cxnSp>
        <p:nvCxnSpPr>
          <p:cNvPr id="35" name="직선 화살표 연결선 34"/>
          <p:cNvCxnSpPr>
            <a:cxnSpLocks/>
            <a:stCxn id="31" idx="0"/>
            <a:endCxn id="8" idx="2"/>
          </p:cNvCxnSpPr>
          <p:nvPr/>
        </p:nvCxnSpPr>
        <p:spPr>
          <a:xfrm flipH="1" flipV="1">
            <a:off x="3223534" y="2646831"/>
            <a:ext cx="5399" cy="664149"/>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6" name="직선 화살표 연결선 35"/>
          <p:cNvCxnSpPr>
            <a:cxnSpLocks/>
            <a:stCxn id="31" idx="2"/>
            <a:endCxn id="10" idx="0"/>
          </p:cNvCxnSpPr>
          <p:nvPr/>
        </p:nvCxnSpPr>
        <p:spPr>
          <a:xfrm flipH="1">
            <a:off x="3223534" y="3659082"/>
            <a:ext cx="5399" cy="702249"/>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0" name="Rectangle 5"/>
          <p:cNvSpPr>
            <a:spLocks noChangeArrowheads="1"/>
          </p:cNvSpPr>
          <p:nvPr/>
        </p:nvSpPr>
        <p:spPr bwMode="auto">
          <a:xfrm>
            <a:off x="2506199" y="2789706"/>
            <a:ext cx="542925" cy="348102"/>
          </a:xfrm>
          <a:prstGeom prst="rect">
            <a:avLst/>
          </a:prstGeom>
          <a:noFill/>
          <a:ln w="9525" algn="ctr">
            <a:noFill/>
            <a:miter lim="800000"/>
            <a:headEnd/>
            <a:tailEnd/>
          </a:ln>
        </p:spPr>
        <p:txBody>
          <a:bodyPr wrap="none" anchor="ctr"/>
          <a:lstStyle/>
          <a:p>
            <a:pPr algn="ctr"/>
            <a:r>
              <a:rPr lang="ko-KR" altLang="en-US" sz="1000" b="0" dirty="0">
                <a:solidFill>
                  <a:schemeClr val="tx1"/>
                </a:solidFill>
                <a:latin typeface="+mj-ea"/>
                <a:ea typeface="+mj-ea"/>
              </a:rPr>
              <a:t>법률 규정</a:t>
            </a:r>
            <a:endParaRPr lang="en-US" altLang="ko-KR" sz="1000" b="0" dirty="0">
              <a:solidFill>
                <a:schemeClr val="tx1"/>
              </a:solidFill>
              <a:latin typeface="+mj-ea"/>
              <a:ea typeface="+mj-ea"/>
            </a:endParaRPr>
          </a:p>
          <a:p>
            <a:pPr algn="ctr"/>
            <a:r>
              <a:rPr lang="en-US" altLang="ko-KR" sz="1000" dirty="0">
                <a:latin typeface="+mj-ea"/>
                <a:ea typeface="+mj-ea"/>
              </a:rPr>
              <a:t>(</a:t>
            </a:r>
            <a:r>
              <a:rPr lang="ko-KR" altLang="en-US" sz="1000" dirty="0">
                <a:latin typeface="+mj-ea"/>
                <a:ea typeface="+mj-ea"/>
              </a:rPr>
              <a:t>법원의 선정</a:t>
            </a:r>
            <a:r>
              <a:rPr lang="en-US" altLang="ko-KR" sz="1000" dirty="0">
                <a:latin typeface="+mj-ea"/>
                <a:ea typeface="+mj-ea"/>
              </a:rPr>
              <a:t>)</a:t>
            </a:r>
            <a:endParaRPr lang="ko-KR" altLang="en-US" sz="1000" b="0" dirty="0">
              <a:solidFill>
                <a:schemeClr val="tx1"/>
              </a:solidFill>
              <a:latin typeface="+mj-ea"/>
              <a:ea typeface="+mj-ea"/>
            </a:endParaRPr>
          </a:p>
        </p:txBody>
      </p:sp>
      <p:sp>
        <p:nvSpPr>
          <p:cNvPr id="41" name="Rectangle 5"/>
          <p:cNvSpPr>
            <a:spLocks noChangeArrowheads="1"/>
          </p:cNvSpPr>
          <p:nvPr/>
        </p:nvSpPr>
        <p:spPr bwMode="auto">
          <a:xfrm>
            <a:off x="2552142" y="3901530"/>
            <a:ext cx="542925" cy="348102"/>
          </a:xfrm>
          <a:prstGeom prst="rect">
            <a:avLst/>
          </a:prstGeom>
          <a:noFill/>
          <a:ln w="9525" algn="ctr">
            <a:noFill/>
            <a:miter lim="800000"/>
            <a:headEnd/>
            <a:tailEnd/>
          </a:ln>
        </p:spPr>
        <p:txBody>
          <a:bodyPr wrap="none" anchor="ctr"/>
          <a:lstStyle/>
          <a:p>
            <a:pPr algn="ctr"/>
            <a:r>
              <a:rPr lang="ko-KR" altLang="en-US" sz="1000" b="0" dirty="0">
                <a:solidFill>
                  <a:schemeClr val="tx1"/>
                </a:solidFill>
                <a:latin typeface="+mj-ea"/>
                <a:ea typeface="+mj-ea"/>
              </a:rPr>
              <a:t>본인의 의사</a:t>
            </a:r>
          </a:p>
        </p:txBody>
      </p:sp>
      <p:cxnSp>
        <p:nvCxnSpPr>
          <p:cNvPr id="42" name="직선 화살표 연결선 41"/>
          <p:cNvCxnSpPr>
            <a:cxnSpLocks/>
            <a:stCxn id="32" idx="0"/>
            <a:endCxn id="81" idx="2"/>
          </p:cNvCxnSpPr>
          <p:nvPr/>
        </p:nvCxnSpPr>
        <p:spPr>
          <a:xfrm flipV="1">
            <a:off x="6117849" y="1938027"/>
            <a:ext cx="841" cy="286322"/>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6" name="Rectangle 5"/>
          <p:cNvSpPr>
            <a:spLocks noChangeArrowheads="1"/>
          </p:cNvSpPr>
          <p:nvPr/>
        </p:nvSpPr>
        <p:spPr bwMode="auto">
          <a:xfrm>
            <a:off x="5665414" y="1911514"/>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YES</a:t>
            </a:r>
            <a:endParaRPr lang="ko-KR" altLang="en-US" sz="1000" b="0" dirty="0">
              <a:solidFill>
                <a:schemeClr val="tx1"/>
              </a:solidFill>
              <a:latin typeface="+mj-ea"/>
              <a:ea typeface="+mj-ea"/>
            </a:endParaRPr>
          </a:p>
        </p:txBody>
      </p:sp>
      <p:cxnSp>
        <p:nvCxnSpPr>
          <p:cNvPr id="47" name="직선 화살표 연결선 46"/>
          <p:cNvCxnSpPr>
            <a:cxnSpLocks/>
            <a:stCxn id="32" idx="2"/>
            <a:endCxn id="82" idx="0"/>
          </p:cNvCxnSpPr>
          <p:nvPr/>
        </p:nvCxnSpPr>
        <p:spPr>
          <a:xfrm>
            <a:off x="6117849" y="2572451"/>
            <a:ext cx="841" cy="241708"/>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0" name="Rectangle 5"/>
          <p:cNvSpPr>
            <a:spLocks noChangeArrowheads="1"/>
          </p:cNvSpPr>
          <p:nvPr/>
        </p:nvSpPr>
        <p:spPr bwMode="auto">
          <a:xfrm>
            <a:off x="5709399" y="2499611"/>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NO</a:t>
            </a:r>
            <a:endParaRPr lang="ko-KR" altLang="en-US" sz="1000" b="0" dirty="0">
              <a:solidFill>
                <a:schemeClr val="tx1"/>
              </a:solidFill>
              <a:latin typeface="+mj-ea"/>
              <a:ea typeface="+mj-ea"/>
            </a:endParaRPr>
          </a:p>
        </p:txBody>
      </p:sp>
      <p:sp>
        <p:nvSpPr>
          <p:cNvPr id="81" name="직사각형 80"/>
          <p:cNvSpPr/>
          <p:nvPr/>
        </p:nvSpPr>
        <p:spPr>
          <a:xfrm>
            <a:off x="4805639" y="1423677"/>
            <a:ext cx="262610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친권자</a:t>
            </a:r>
            <a:endParaRPr lang="en-US" altLang="ko-KR" sz="1200" dirty="0">
              <a:solidFill>
                <a:schemeClr val="tx1"/>
              </a:solidFill>
            </a:endParaRPr>
          </a:p>
          <a:p>
            <a:pPr algn="ctr"/>
            <a:r>
              <a:rPr lang="en-US" altLang="ko-KR" sz="1200" dirty="0">
                <a:solidFill>
                  <a:schemeClr val="accent2"/>
                </a:solidFill>
              </a:rPr>
              <a:t>(</a:t>
            </a:r>
            <a:r>
              <a:rPr lang="ko-KR" altLang="en-US" sz="1200" dirty="0">
                <a:solidFill>
                  <a:schemeClr val="accent2"/>
                </a:solidFill>
              </a:rPr>
              <a:t>후견감독인의 동의 不要</a:t>
            </a:r>
            <a:r>
              <a:rPr lang="en-US" altLang="ko-KR" sz="1200" dirty="0">
                <a:solidFill>
                  <a:schemeClr val="accent2"/>
                </a:solidFill>
              </a:rPr>
              <a:t>)</a:t>
            </a:r>
            <a:endParaRPr lang="ko-KR" altLang="en-US" sz="1200" dirty="0">
              <a:solidFill>
                <a:schemeClr val="accent2"/>
              </a:solidFill>
            </a:endParaRPr>
          </a:p>
        </p:txBody>
      </p:sp>
      <p:sp>
        <p:nvSpPr>
          <p:cNvPr id="82" name="직사각형 81"/>
          <p:cNvSpPr/>
          <p:nvPr/>
        </p:nvSpPr>
        <p:spPr>
          <a:xfrm>
            <a:off x="4805639" y="2814159"/>
            <a:ext cx="262610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후견인</a:t>
            </a:r>
            <a:endParaRPr lang="en-US" altLang="ko-KR" sz="1200" dirty="0">
              <a:solidFill>
                <a:schemeClr val="tx1"/>
              </a:solidFill>
            </a:endParaRPr>
          </a:p>
          <a:p>
            <a:pPr algn="ctr"/>
            <a:r>
              <a:rPr lang="en-US" altLang="ko-KR" sz="1200" dirty="0">
                <a:solidFill>
                  <a:schemeClr val="accent2"/>
                </a:solidFill>
              </a:rPr>
              <a:t>(</a:t>
            </a:r>
            <a:r>
              <a:rPr lang="ko-KR" altLang="en-US" sz="1200" dirty="0">
                <a:solidFill>
                  <a:schemeClr val="accent2"/>
                </a:solidFill>
              </a:rPr>
              <a:t>능동적인 절차는 후견감독인의 동의 要</a:t>
            </a:r>
            <a:r>
              <a:rPr lang="en-US" altLang="ko-KR" sz="1200" dirty="0">
                <a:solidFill>
                  <a:schemeClr val="accent2"/>
                </a:solidFill>
              </a:rPr>
              <a:t>)</a:t>
            </a:r>
            <a:endParaRPr lang="ko-KR" altLang="en-US" sz="1200" dirty="0">
              <a:solidFill>
                <a:schemeClr val="accent2"/>
              </a:solidFill>
            </a:endParaRPr>
          </a:p>
        </p:txBody>
      </p:sp>
      <p:sp>
        <p:nvSpPr>
          <p:cNvPr id="84" name="Rectangle 5"/>
          <p:cNvSpPr>
            <a:spLocks noChangeArrowheads="1"/>
          </p:cNvSpPr>
          <p:nvPr/>
        </p:nvSpPr>
        <p:spPr bwMode="auto">
          <a:xfrm>
            <a:off x="5646639" y="4512830"/>
            <a:ext cx="942420" cy="348102"/>
          </a:xfrm>
          <a:prstGeom prst="roundRect">
            <a:avLst>
              <a:gd name="adj" fmla="val 50000"/>
            </a:avLst>
          </a:prstGeom>
          <a:solidFill>
            <a:schemeClr val="accent4"/>
          </a:solidFill>
          <a:ln w="9525" algn="ctr">
            <a:noFill/>
            <a:miter lim="800000"/>
            <a:headEnd/>
            <a:tailEnd/>
          </a:ln>
        </p:spPr>
        <p:txBody>
          <a:bodyPr wrap="none" anchor="ctr"/>
          <a:lstStyle/>
          <a:p>
            <a:pPr algn="ctr"/>
            <a:r>
              <a:rPr lang="ko-KR" altLang="en-US" sz="1000" dirty="0">
                <a:latin typeface="+mj-ea"/>
                <a:ea typeface="+mj-ea"/>
              </a:rPr>
              <a:t>선임 주체</a:t>
            </a:r>
            <a:endParaRPr lang="ko-KR" altLang="en-US" sz="1000" b="0" dirty="0">
              <a:solidFill>
                <a:schemeClr val="tx1"/>
              </a:solidFill>
              <a:latin typeface="+mj-ea"/>
              <a:ea typeface="+mj-ea"/>
            </a:endParaRPr>
          </a:p>
        </p:txBody>
      </p:sp>
      <p:cxnSp>
        <p:nvCxnSpPr>
          <p:cNvPr id="85" name="직선 화살표 연결선 84"/>
          <p:cNvCxnSpPr>
            <a:cxnSpLocks/>
            <a:stCxn id="84" idx="0"/>
            <a:endCxn id="91" idx="2"/>
          </p:cNvCxnSpPr>
          <p:nvPr/>
        </p:nvCxnSpPr>
        <p:spPr>
          <a:xfrm flipV="1">
            <a:off x="6117849" y="4226508"/>
            <a:ext cx="841" cy="286322"/>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6" name="Rectangle 5"/>
          <p:cNvSpPr>
            <a:spLocks noChangeArrowheads="1"/>
          </p:cNvSpPr>
          <p:nvPr/>
        </p:nvSpPr>
        <p:spPr bwMode="auto">
          <a:xfrm>
            <a:off x="5629554" y="4199995"/>
            <a:ext cx="542925" cy="348102"/>
          </a:xfrm>
          <a:prstGeom prst="rect">
            <a:avLst/>
          </a:prstGeom>
          <a:noFill/>
          <a:ln w="9525" algn="ctr">
            <a:noFill/>
            <a:miter lim="800000"/>
            <a:headEnd/>
            <a:tailEnd/>
          </a:ln>
        </p:spPr>
        <p:txBody>
          <a:bodyPr wrap="none" anchor="ctr"/>
          <a:lstStyle/>
          <a:p>
            <a:pPr algn="ctr"/>
            <a:r>
              <a:rPr lang="ko-KR" altLang="en-US" sz="1000" b="0" dirty="0" err="1">
                <a:solidFill>
                  <a:schemeClr val="tx1"/>
                </a:solidFill>
                <a:latin typeface="+mj-ea"/>
                <a:ea typeface="+mj-ea"/>
              </a:rPr>
              <a:t>재내자</a:t>
            </a:r>
            <a:endParaRPr lang="ko-KR" altLang="en-US" sz="1000" b="0" dirty="0">
              <a:solidFill>
                <a:schemeClr val="tx1"/>
              </a:solidFill>
              <a:latin typeface="+mj-ea"/>
              <a:ea typeface="+mj-ea"/>
            </a:endParaRPr>
          </a:p>
        </p:txBody>
      </p:sp>
      <p:cxnSp>
        <p:nvCxnSpPr>
          <p:cNvPr id="88" name="직선 화살표 연결선 87"/>
          <p:cNvCxnSpPr>
            <a:cxnSpLocks/>
            <a:stCxn id="84" idx="2"/>
            <a:endCxn id="97" idx="0"/>
          </p:cNvCxnSpPr>
          <p:nvPr/>
        </p:nvCxnSpPr>
        <p:spPr>
          <a:xfrm>
            <a:off x="6117849" y="4860932"/>
            <a:ext cx="841" cy="241708"/>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9" name="Rectangle 5"/>
          <p:cNvSpPr>
            <a:spLocks noChangeArrowheads="1"/>
          </p:cNvSpPr>
          <p:nvPr/>
        </p:nvSpPr>
        <p:spPr bwMode="auto">
          <a:xfrm>
            <a:off x="5628714" y="4788092"/>
            <a:ext cx="542925" cy="348102"/>
          </a:xfrm>
          <a:prstGeom prst="rect">
            <a:avLst/>
          </a:prstGeom>
          <a:noFill/>
          <a:ln w="9525" algn="ctr">
            <a:noFill/>
            <a:miter lim="800000"/>
            <a:headEnd/>
            <a:tailEnd/>
          </a:ln>
        </p:spPr>
        <p:txBody>
          <a:bodyPr wrap="none" anchor="ctr"/>
          <a:lstStyle/>
          <a:p>
            <a:pPr algn="ctr"/>
            <a:r>
              <a:rPr lang="ko-KR" altLang="en-US" sz="1000" b="0">
                <a:solidFill>
                  <a:schemeClr val="tx1"/>
                </a:solidFill>
                <a:latin typeface="+mj-ea"/>
                <a:ea typeface="+mj-ea"/>
              </a:rPr>
              <a:t>재외자</a:t>
            </a:r>
            <a:endParaRPr lang="ko-KR" altLang="en-US" sz="1000" b="0" dirty="0">
              <a:solidFill>
                <a:schemeClr val="tx1"/>
              </a:solidFill>
              <a:latin typeface="+mj-ea"/>
              <a:ea typeface="+mj-ea"/>
            </a:endParaRPr>
          </a:p>
        </p:txBody>
      </p:sp>
      <p:sp>
        <p:nvSpPr>
          <p:cNvPr id="91" name="직사각형 90"/>
          <p:cNvSpPr/>
          <p:nvPr/>
        </p:nvSpPr>
        <p:spPr>
          <a:xfrm>
            <a:off x="4805639" y="3712158"/>
            <a:ext cx="262610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통상의 </a:t>
            </a:r>
            <a:r>
              <a:rPr lang="ko-KR" altLang="en-US" sz="1200" dirty="0" err="1">
                <a:solidFill>
                  <a:schemeClr val="tx1"/>
                </a:solidFill>
              </a:rPr>
              <a:t>위임대리인</a:t>
            </a:r>
            <a:endParaRPr lang="en-US" altLang="ko-KR" sz="1200" dirty="0">
              <a:solidFill>
                <a:schemeClr val="tx1"/>
              </a:solidFill>
            </a:endParaRPr>
          </a:p>
        </p:txBody>
      </p:sp>
      <p:sp>
        <p:nvSpPr>
          <p:cNvPr id="97" name="직사각형 96"/>
          <p:cNvSpPr/>
          <p:nvPr/>
        </p:nvSpPr>
        <p:spPr>
          <a:xfrm>
            <a:off x="4805639" y="5102640"/>
            <a:ext cx="262610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특허관리인</a:t>
            </a:r>
            <a:endParaRPr lang="en-US" altLang="ko-KR" sz="1200" dirty="0">
              <a:solidFill>
                <a:schemeClr val="tx1"/>
              </a:solidFill>
            </a:endParaRPr>
          </a:p>
          <a:p>
            <a:pPr algn="ctr"/>
            <a:r>
              <a:rPr lang="en-US" altLang="ko-KR" sz="1200" dirty="0">
                <a:solidFill>
                  <a:schemeClr val="accent2"/>
                </a:solidFill>
              </a:rPr>
              <a:t>(</a:t>
            </a:r>
            <a:r>
              <a:rPr lang="ko-KR" altLang="en-US" sz="1200" dirty="0">
                <a:solidFill>
                  <a:schemeClr val="accent2"/>
                </a:solidFill>
              </a:rPr>
              <a:t>제</a:t>
            </a:r>
            <a:r>
              <a:rPr lang="en-US" altLang="ko-KR" sz="1200" dirty="0">
                <a:solidFill>
                  <a:schemeClr val="accent2"/>
                </a:solidFill>
              </a:rPr>
              <a:t>13</a:t>
            </a:r>
            <a:r>
              <a:rPr lang="ko-KR" altLang="en-US" sz="1200" dirty="0">
                <a:solidFill>
                  <a:schemeClr val="accent2"/>
                </a:solidFill>
              </a:rPr>
              <a:t>조</a:t>
            </a:r>
            <a:r>
              <a:rPr lang="en-US" altLang="ko-KR" sz="1200" dirty="0">
                <a:solidFill>
                  <a:schemeClr val="accent2"/>
                </a:solidFill>
              </a:rPr>
              <a:t>, </a:t>
            </a:r>
            <a:r>
              <a:rPr lang="ko-KR" altLang="en-US" sz="1200" dirty="0">
                <a:solidFill>
                  <a:schemeClr val="accent2"/>
                </a:solidFill>
              </a:rPr>
              <a:t>제</a:t>
            </a:r>
            <a:r>
              <a:rPr lang="en-US" altLang="ko-KR" sz="1200" dirty="0">
                <a:solidFill>
                  <a:schemeClr val="accent2"/>
                </a:solidFill>
              </a:rPr>
              <a:t>206</a:t>
            </a:r>
            <a:r>
              <a:rPr lang="ko-KR" altLang="en-US" sz="1200" dirty="0">
                <a:solidFill>
                  <a:schemeClr val="accent2"/>
                </a:solidFill>
              </a:rPr>
              <a:t>조</a:t>
            </a:r>
            <a:r>
              <a:rPr lang="en-US" altLang="ko-KR" sz="1200" dirty="0">
                <a:solidFill>
                  <a:schemeClr val="accent2"/>
                </a:solidFill>
              </a:rPr>
              <a:t>, </a:t>
            </a:r>
            <a:r>
              <a:rPr lang="ko-KR" altLang="en-US" sz="1200" dirty="0">
                <a:solidFill>
                  <a:schemeClr val="accent2"/>
                </a:solidFill>
              </a:rPr>
              <a:t>제</a:t>
            </a:r>
            <a:r>
              <a:rPr lang="en-US" altLang="ko-KR" sz="1200" dirty="0">
                <a:solidFill>
                  <a:schemeClr val="accent2"/>
                </a:solidFill>
              </a:rPr>
              <a:t>220</a:t>
            </a:r>
            <a:r>
              <a:rPr lang="ko-KR" altLang="en-US" sz="1200" dirty="0">
                <a:solidFill>
                  <a:schemeClr val="accent2"/>
                </a:solidFill>
              </a:rPr>
              <a:t>조 적용</a:t>
            </a:r>
            <a:r>
              <a:rPr lang="en-US" altLang="ko-KR" sz="1200" dirty="0">
                <a:solidFill>
                  <a:schemeClr val="accent2"/>
                </a:solidFill>
              </a:rPr>
              <a:t>)</a:t>
            </a:r>
            <a:endParaRPr lang="ko-KR" altLang="en-US" sz="1200" dirty="0">
              <a:solidFill>
                <a:schemeClr val="accent2"/>
              </a:solidFill>
            </a:endParaRPr>
          </a:p>
        </p:txBody>
      </p:sp>
      <p:cxnSp>
        <p:nvCxnSpPr>
          <p:cNvPr id="106" name="직선 연결선 105"/>
          <p:cNvCxnSpPr/>
          <p:nvPr/>
        </p:nvCxnSpPr>
        <p:spPr>
          <a:xfrm>
            <a:off x="7892863" y="1062288"/>
            <a:ext cx="0" cy="559848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직사각형 106"/>
          <p:cNvSpPr/>
          <p:nvPr/>
        </p:nvSpPr>
        <p:spPr>
          <a:xfrm>
            <a:off x="8113058" y="1238177"/>
            <a:ext cx="3756213" cy="1015663"/>
          </a:xfrm>
          <a:prstGeom prst="rect">
            <a:avLst/>
          </a:prstGeom>
          <a:ln>
            <a:solidFill>
              <a:schemeClr val="bg1">
                <a:lumMod val="50000"/>
              </a:schemeClr>
            </a:solidFill>
          </a:ln>
        </p:spPr>
        <p:txBody>
          <a:bodyPr wrap="square">
            <a:spAutoFit/>
          </a:bodyPr>
          <a:lstStyle/>
          <a:p>
            <a:pPr fontAlgn="base"/>
            <a:r>
              <a:rPr lang="ko-KR" altLang="en-US" sz="1200" b="1" dirty="0"/>
              <a:t>제</a:t>
            </a:r>
            <a:r>
              <a:rPr lang="en-US" altLang="ko-KR" sz="1200" b="1" dirty="0"/>
              <a:t>13</a:t>
            </a:r>
            <a:r>
              <a:rPr lang="ko-KR" altLang="en-US" sz="1200" b="1" dirty="0"/>
              <a:t>조</a:t>
            </a:r>
            <a:r>
              <a:rPr lang="en-US" altLang="ko-KR" sz="1200" b="1" dirty="0"/>
              <a:t>(</a:t>
            </a:r>
            <a:r>
              <a:rPr lang="ko-KR" altLang="en-US" sz="1200" b="1" dirty="0" err="1"/>
              <a:t>재외자의</a:t>
            </a:r>
            <a:r>
              <a:rPr lang="ko-KR" altLang="en-US" sz="1200" b="1" dirty="0"/>
              <a:t> 재판관할</a:t>
            </a:r>
            <a:r>
              <a:rPr lang="en-US" altLang="ko-KR" sz="1200" b="1" dirty="0"/>
              <a:t>) </a:t>
            </a:r>
            <a:r>
              <a:rPr lang="ko-KR" altLang="en-US" sz="1200" dirty="0" err="1"/>
              <a:t>재외자의</a:t>
            </a:r>
            <a:r>
              <a:rPr lang="ko-KR" altLang="en-US" sz="1200" dirty="0"/>
              <a:t> 특허권 또는 특허에 관한 권리에 관하여 특허관리인이 있으면 그 특허관리인의 주소 또는 영업소를</a:t>
            </a:r>
            <a:r>
              <a:rPr lang="en-US" altLang="ko-KR" sz="1200" dirty="0"/>
              <a:t>, </a:t>
            </a:r>
            <a:r>
              <a:rPr lang="ko-KR" altLang="en-US" sz="1200" dirty="0"/>
              <a:t>특허관리인이 없으면 지식재산처 소재지를 「민사소송법」 제</a:t>
            </a:r>
            <a:r>
              <a:rPr lang="en-US" altLang="ko-KR" sz="1200" dirty="0"/>
              <a:t>11</a:t>
            </a:r>
            <a:r>
              <a:rPr lang="ko-KR" altLang="en-US" sz="1200" dirty="0"/>
              <a:t>조에 따른 재산이 있는 곳으로 본다</a:t>
            </a:r>
            <a:r>
              <a:rPr lang="en-US" altLang="ko-KR" sz="1200" dirty="0"/>
              <a:t>.</a:t>
            </a:r>
            <a:endParaRPr lang="ko-KR" altLang="en-US" sz="1200" dirty="0"/>
          </a:p>
        </p:txBody>
      </p:sp>
      <p:sp>
        <p:nvSpPr>
          <p:cNvPr id="118" name="직사각형 117"/>
          <p:cNvSpPr/>
          <p:nvPr/>
        </p:nvSpPr>
        <p:spPr>
          <a:xfrm>
            <a:off x="8113058" y="2519712"/>
            <a:ext cx="3756213" cy="1754326"/>
          </a:xfrm>
          <a:prstGeom prst="rect">
            <a:avLst/>
          </a:prstGeom>
          <a:ln>
            <a:solidFill>
              <a:schemeClr val="bg1">
                <a:lumMod val="50000"/>
              </a:schemeClr>
            </a:solidFill>
          </a:ln>
        </p:spPr>
        <p:txBody>
          <a:bodyPr wrap="square">
            <a:spAutoFit/>
          </a:bodyPr>
          <a:lstStyle/>
          <a:p>
            <a:pPr fontAlgn="base"/>
            <a:r>
              <a:rPr lang="ko-KR" altLang="en-US" sz="1200" b="1" dirty="0"/>
              <a:t>제</a:t>
            </a:r>
            <a:r>
              <a:rPr lang="en-US" altLang="ko-KR" sz="1200" b="1" dirty="0"/>
              <a:t>206</a:t>
            </a:r>
            <a:r>
              <a:rPr lang="ko-KR" altLang="en-US" sz="1200" b="1" dirty="0"/>
              <a:t>조</a:t>
            </a:r>
            <a:r>
              <a:rPr lang="en-US" altLang="ko-KR" sz="1200" b="1" dirty="0"/>
              <a:t>(</a:t>
            </a:r>
            <a:r>
              <a:rPr lang="ko-KR" altLang="en-US" sz="1200" b="1" dirty="0" err="1"/>
              <a:t>재외자의</a:t>
            </a:r>
            <a:r>
              <a:rPr lang="ko-KR" altLang="en-US" sz="1200" b="1" dirty="0"/>
              <a:t> 특허관리인의 특례</a:t>
            </a:r>
            <a:r>
              <a:rPr lang="en-US" altLang="ko-KR" sz="1200" b="1" dirty="0"/>
              <a:t>) </a:t>
            </a:r>
            <a:r>
              <a:rPr lang="en-US" altLang="ko-KR" sz="1200" dirty="0"/>
              <a:t>① </a:t>
            </a:r>
            <a:r>
              <a:rPr lang="ko-KR" altLang="en-US" sz="1200" dirty="0" err="1"/>
              <a:t>재외자인</a:t>
            </a:r>
            <a:r>
              <a:rPr lang="ko-KR" altLang="en-US" sz="1200" dirty="0"/>
              <a:t> 국제특허출원의 </a:t>
            </a:r>
            <a:r>
              <a:rPr lang="ko-KR" altLang="en-US" sz="1200" dirty="0" err="1"/>
              <a:t>출원인은</a:t>
            </a:r>
            <a:r>
              <a:rPr lang="ko-KR" altLang="en-US" sz="1200" dirty="0"/>
              <a:t> 기준일까지는 제</a:t>
            </a:r>
            <a:r>
              <a:rPr lang="en-US" altLang="ko-KR" sz="1200" dirty="0"/>
              <a:t>5</a:t>
            </a:r>
            <a:r>
              <a:rPr lang="ko-KR" altLang="en-US" sz="1200" dirty="0"/>
              <a:t>조제</a:t>
            </a:r>
            <a:r>
              <a:rPr lang="en-US" altLang="ko-KR" sz="1200" dirty="0"/>
              <a:t>1</a:t>
            </a:r>
            <a:r>
              <a:rPr lang="ko-KR" altLang="en-US" sz="1200" dirty="0"/>
              <a:t>항에도 불구하고 특허관리인에 의하지 아니하고 특허에 관한 절차를 밟을 수 있다</a:t>
            </a:r>
            <a:r>
              <a:rPr lang="en-US" altLang="ko-KR" sz="1200" dirty="0"/>
              <a:t>.</a:t>
            </a:r>
          </a:p>
          <a:p>
            <a:pPr fontAlgn="base"/>
            <a:r>
              <a:rPr lang="en-US" altLang="ko-KR" sz="1200" dirty="0"/>
              <a:t>② </a:t>
            </a:r>
            <a:r>
              <a:rPr lang="ko-KR" altLang="en-US" sz="1200" dirty="0"/>
              <a:t>제</a:t>
            </a:r>
            <a:r>
              <a:rPr lang="en-US" altLang="ko-KR" sz="1200" dirty="0"/>
              <a:t>201</a:t>
            </a:r>
            <a:r>
              <a:rPr lang="ko-KR" altLang="en-US" sz="1200" dirty="0"/>
              <a:t>조제</a:t>
            </a:r>
            <a:r>
              <a:rPr lang="en-US" altLang="ko-KR" sz="1200" dirty="0"/>
              <a:t>1</a:t>
            </a:r>
            <a:r>
              <a:rPr lang="ko-KR" altLang="en-US" sz="1200" dirty="0"/>
              <a:t>항에 따라 국어번역문을 제출한 재외자는 총리령으로 정하는 기간에 특허관리인을 선임하여 지식재산처장에게 신고하여야 한다</a:t>
            </a:r>
            <a:r>
              <a:rPr lang="en-US" altLang="ko-KR" sz="1200" dirty="0"/>
              <a:t>.</a:t>
            </a:r>
          </a:p>
          <a:p>
            <a:pPr fontAlgn="base"/>
            <a:r>
              <a:rPr lang="en-US" altLang="ko-KR" sz="1200" dirty="0"/>
              <a:t>③ </a:t>
            </a:r>
            <a:r>
              <a:rPr lang="ko-KR" altLang="en-US" sz="1200" dirty="0"/>
              <a:t>제</a:t>
            </a:r>
            <a:r>
              <a:rPr lang="en-US" altLang="ko-KR" sz="1200" dirty="0"/>
              <a:t>2</a:t>
            </a:r>
            <a:r>
              <a:rPr lang="ko-KR" altLang="en-US" sz="1200" dirty="0"/>
              <a:t>항에 따른 </a:t>
            </a:r>
            <a:r>
              <a:rPr lang="ko-KR" altLang="en-US" sz="1200" dirty="0" err="1"/>
              <a:t>선임신고가</a:t>
            </a:r>
            <a:r>
              <a:rPr lang="ko-KR" altLang="en-US" sz="1200" dirty="0"/>
              <a:t> 없으면 그 국제특허출원은 취하된 것으로 본다</a:t>
            </a:r>
            <a:r>
              <a:rPr lang="en-US" altLang="ko-KR" sz="1200" dirty="0"/>
              <a:t>.</a:t>
            </a:r>
            <a:endParaRPr lang="ko-KR" altLang="en-US" sz="1200" dirty="0"/>
          </a:p>
        </p:txBody>
      </p:sp>
      <p:sp>
        <p:nvSpPr>
          <p:cNvPr id="119" name="직사각형 118"/>
          <p:cNvSpPr/>
          <p:nvPr/>
        </p:nvSpPr>
        <p:spPr>
          <a:xfrm>
            <a:off x="8113058" y="4549532"/>
            <a:ext cx="3756213" cy="1384995"/>
          </a:xfrm>
          <a:prstGeom prst="rect">
            <a:avLst/>
          </a:prstGeom>
          <a:ln>
            <a:solidFill>
              <a:schemeClr val="bg1">
                <a:lumMod val="50000"/>
              </a:schemeClr>
            </a:solidFill>
          </a:ln>
        </p:spPr>
        <p:txBody>
          <a:bodyPr wrap="square">
            <a:spAutoFit/>
          </a:bodyPr>
          <a:lstStyle/>
          <a:p>
            <a:pPr fontAlgn="base"/>
            <a:r>
              <a:rPr lang="ko-KR" altLang="en-US" sz="1200" b="1" dirty="0"/>
              <a:t>제</a:t>
            </a:r>
            <a:r>
              <a:rPr lang="en-US" altLang="ko-KR" sz="1200" b="1" dirty="0"/>
              <a:t>220</a:t>
            </a:r>
            <a:r>
              <a:rPr lang="ko-KR" altLang="en-US" sz="1200" b="1" dirty="0"/>
              <a:t>조</a:t>
            </a:r>
            <a:r>
              <a:rPr lang="en-US" altLang="ko-KR" sz="1200" b="1" dirty="0"/>
              <a:t>(</a:t>
            </a:r>
            <a:r>
              <a:rPr lang="ko-KR" altLang="en-US" sz="1200" b="1" dirty="0" err="1"/>
              <a:t>재외자에</a:t>
            </a:r>
            <a:r>
              <a:rPr lang="ko-KR" altLang="en-US" sz="1200" b="1" dirty="0"/>
              <a:t> 대한 송달</a:t>
            </a:r>
            <a:r>
              <a:rPr lang="en-US" altLang="ko-KR" sz="1200" b="1" dirty="0"/>
              <a:t>) </a:t>
            </a:r>
            <a:r>
              <a:rPr lang="en-US" altLang="ko-KR" sz="1200" dirty="0"/>
              <a:t>① </a:t>
            </a:r>
            <a:r>
              <a:rPr lang="ko-KR" altLang="en-US" sz="1200" dirty="0" err="1"/>
              <a:t>재외자로서</a:t>
            </a:r>
            <a:r>
              <a:rPr lang="ko-KR" altLang="en-US" sz="1200" dirty="0"/>
              <a:t> 특허관리인이 있으면 그 </a:t>
            </a:r>
            <a:r>
              <a:rPr lang="ko-KR" altLang="en-US" sz="1200" dirty="0" err="1"/>
              <a:t>재외자에게</a:t>
            </a:r>
            <a:r>
              <a:rPr lang="ko-KR" altLang="en-US" sz="1200" dirty="0"/>
              <a:t> 송달할 서류는 특허관리인에게 송달하여야 한다</a:t>
            </a:r>
            <a:r>
              <a:rPr lang="en-US" altLang="ko-KR" sz="1200" dirty="0"/>
              <a:t>.</a:t>
            </a:r>
          </a:p>
          <a:p>
            <a:pPr fontAlgn="base"/>
            <a:r>
              <a:rPr lang="en-US" altLang="ko-KR" sz="1200" dirty="0"/>
              <a:t>② </a:t>
            </a:r>
            <a:r>
              <a:rPr lang="ko-KR" altLang="en-US" sz="1200" dirty="0" err="1"/>
              <a:t>재외자로서</a:t>
            </a:r>
            <a:r>
              <a:rPr lang="ko-KR" altLang="en-US" sz="1200" dirty="0"/>
              <a:t> 특허관리인이 없으면 그 </a:t>
            </a:r>
            <a:r>
              <a:rPr lang="ko-KR" altLang="en-US" sz="1200" dirty="0" err="1"/>
              <a:t>재외자에게</a:t>
            </a:r>
            <a:r>
              <a:rPr lang="ko-KR" altLang="en-US" sz="1200" dirty="0"/>
              <a:t> 송달할 서류는 항공등기우편으로 발송할 수 있다</a:t>
            </a:r>
            <a:r>
              <a:rPr lang="en-US" altLang="ko-KR" sz="1200" dirty="0"/>
              <a:t>.</a:t>
            </a:r>
          </a:p>
          <a:p>
            <a:pPr fontAlgn="base"/>
            <a:r>
              <a:rPr lang="en-US" altLang="ko-KR" sz="1200" dirty="0"/>
              <a:t>③ </a:t>
            </a:r>
            <a:r>
              <a:rPr lang="ko-KR" altLang="en-US" sz="1200" dirty="0"/>
              <a:t>제</a:t>
            </a:r>
            <a:r>
              <a:rPr lang="en-US" altLang="ko-KR" sz="1200" dirty="0"/>
              <a:t>2</a:t>
            </a:r>
            <a:r>
              <a:rPr lang="ko-KR" altLang="en-US" sz="1200" dirty="0"/>
              <a:t>항에 따라 서류를 항공등기우편으로 발송한 경우에는 그 </a:t>
            </a:r>
            <a:r>
              <a:rPr lang="ko-KR" altLang="en-US" sz="1200" dirty="0" err="1"/>
              <a:t>발송일에</a:t>
            </a:r>
            <a:r>
              <a:rPr lang="ko-KR" altLang="en-US" sz="1200" dirty="0"/>
              <a:t> 송달된 것으로 본다</a:t>
            </a:r>
            <a:r>
              <a:rPr lang="en-US" altLang="ko-KR" sz="1200" dirty="0"/>
              <a:t>.</a:t>
            </a:r>
            <a:endParaRPr lang="ko-KR" altLang="en-US" sz="1200" dirty="0"/>
          </a:p>
        </p:txBody>
      </p:sp>
    </p:spTree>
    <p:extLst>
      <p:ext uri="{BB962C8B-B14F-4D97-AF65-F5344CB8AC3E}">
        <p14:creationId xmlns:p14="http://schemas.microsoft.com/office/powerpoint/2010/main" val="318064361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5</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재외자의 행위능력과 공시송달</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31</a:t>
            </a:fld>
            <a:endParaRPr lang="ko-KR" altLang="en-US" dirty="0"/>
          </a:p>
        </p:txBody>
      </p:sp>
      <p:sp>
        <p:nvSpPr>
          <p:cNvPr id="27" name="사각형: 둥근 위쪽 모서리 26">
            <a:extLst>
              <a:ext uri="{FF2B5EF4-FFF2-40B4-BE49-F238E27FC236}">
                <a16:creationId xmlns:a16="http://schemas.microsoft.com/office/drawing/2014/main" id="{25D1EB42-F106-43D3-8791-9DC020535F21}"/>
              </a:ext>
            </a:extLst>
          </p:cNvPr>
          <p:cNvSpPr/>
          <p:nvPr/>
        </p:nvSpPr>
        <p:spPr>
          <a:xfrm>
            <a:off x="7478843" y="5240880"/>
            <a:ext cx="1204074" cy="412525"/>
          </a:xfrm>
          <a:prstGeom prst="round2SameRect">
            <a:avLst>
              <a:gd name="adj1" fmla="val 50000"/>
              <a:gd name="adj2" fmla="val 0"/>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8" name="TextBox 27">
            <a:extLst>
              <a:ext uri="{FF2B5EF4-FFF2-40B4-BE49-F238E27FC236}">
                <a16:creationId xmlns:a16="http://schemas.microsoft.com/office/drawing/2014/main" id="{2068D00A-8CE5-4811-A937-DA5EBE7D3713}"/>
              </a:ext>
            </a:extLst>
          </p:cNvPr>
          <p:cNvSpPr txBox="1"/>
          <p:nvPr/>
        </p:nvSpPr>
        <p:spPr>
          <a:xfrm>
            <a:off x="77875" y="1556306"/>
            <a:ext cx="11936323" cy="1384995"/>
          </a:xfrm>
          <a:prstGeom prst="rect">
            <a:avLst/>
          </a:prstGeom>
          <a:noFill/>
        </p:spPr>
        <p:txBody>
          <a:bodyPr wrap="square" rtlCol="0">
            <a:spAutoFit/>
          </a:bodyPr>
          <a:lstStyle/>
          <a:p>
            <a:pPr fontAlgn="base"/>
            <a:r>
              <a:rPr lang="en-US" altLang="ko-KR" sz="1400" dirty="0"/>
              <a:t>[1] </a:t>
            </a:r>
            <a:r>
              <a:rPr lang="ko-KR" altLang="en-US" sz="1400" dirty="0"/>
              <a:t>출원발명의 </a:t>
            </a:r>
            <a:r>
              <a:rPr lang="ko-KR" altLang="en-US" sz="1400" dirty="0" err="1"/>
              <a:t>공동출원인에</a:t>
            </a:r>
            <a:r>
              <a:rPr lang="ko-KR" altLang="en-US" sz="1400" dirty="0"/>
              <a:t> 대한 공시송달의 요건</a:t>
            </a:r>
            <a:r>
              <a:rPr lang="en-US" altLang="ko-KR" sz="1400" dirty="0"/>
              <a:t>: </a:t>
            </a:r>
            <a:r>
              <a:rPr lang="ko-KR" altLang="en-US" sz="1400" dirty="0" err="1"/>
              <a:t>공동출원인에</a:t>
            </a:r>
            <a:r>
              <a:rPr lang="ko-KR" altLang="en-US" sz="1400" dirty="0"/>
              <a:t> 대하여 특허법 제</a:t>
            </a:r>
            <a:r>
              <a:rPr lang="en-US" altLang="ko-KR" sz="1400" dirty="0"/>
              <a:t>219</a:t>
            </a:r>
            <a:r>
              <a:rPr lang="ko-KR" altLang="en-US" sz="1400" dirty="0"/>
              <a:t>조 제</a:t>
            </a:r>
            <a:r>
              <a:rPr lang="en-US" altLang="ko-KR" sz="1400" dirty="0"/>
              <a:t>1</a:t>
            </a:r>
            <a:r>
              <a:rPr lang="ko-KR" altLang="en-US" sz="1400" dirty="0"/>
              <a:t>항에 의한 공시송달을 실시하기 </a:t>
            </a:r>
            <a:r>
              <a:rPr lang="ko-KR" altLang="en-US" sz="1400" dirty="0">
                <a:highlight>
                  <a:srgbClr val="FFFF00"/>
                </a:highlight>
              </a:rPr>
              <a:t>위해서는 </a:t>
            </a:r>
            <a:r>
              <a:rPr lang="en-US" altLang="ko-KR" sz="1400" dirty="0">
                <a:highlight>
                  <a:srgbClr val="FFFF00"/>
                </a:highlight>
              </a:rPr>
              <a:t>'</a:t>
            </a:r>
            <a:r>
              <a:rPr lang="ko-KR" altLang="en-US" sz="1400" dirty="0" err="1">
                <a:highlight>
                  <a:srgbClr val="FFFF00"/>
                </a:highlight>
              </a:rPr>
              <a:t>공동출원인</a:t>
            </a:r>
            <a:r>
              <a:rPr lang="ko-KR" altLang="en-US" sz="1400" dirty="0">
                <a:highlight>
                  <a:srgbClr val="FFFF00"/>
                </a:highlight>
              </a:rPr>
              <a:t> 전원의 주소 또는 영업소가 불분명하여 </a:t>
            </a:r>
            <a:r>
              <a:rPr lang="ko-KR" altLang="en-US" sz="1400" dirty="0" err="1">
                <a:highlight>
                  <a:srgbClr val="FFFF00"/>
                </a:highlight>
              </a:rPr>
              <a:t>송달받을</a:t>
            </a:r>
            <a:r>
              <a:rPr lang="ko-KR" altLang="en-US" sz="1400" dirty="0">
                <a:highlight>
                  <a:srgbClr val="FFFF00"/>
                </a:highlight>
              </a:rPr>
              <a:t> 수 없는 때</a:t>
            </a:r>
            <a:r>
              <a:rPr lang="en-US" altLang="ko-KR" sz="1400" dirty="0">
                <a:highlight>
                  <a:srgbClr val="FFFF00"/>
                </a:highlight>
              </a:rPr>
              <a:t>'</a:t>
            </a:r>
            <a:r>
              <a:rPr lang="ko-KR" altLang="en-US" sz="1400" dirty="0"/>
              <a:t>에 해당하여야 하고</a:t>
            </a:r>
            <a:r>
              <a:rPr lang="en-US" altLang="ko-KR" sz="1400" dirty="0"/>
              <a:t>, </a:t>
            </a:r>
            <a:r>
              <a:rPr lang="ko-KR" altLang="en-US" sz="1400" dirty="0"/>
              <a:t>이러한 공시송달 요건이 구비되지 않은 상태에서 </a:t>
            </a:r>
            <a:r>
              <a:rPr lang="ko-KR" altLang="en-US" sz="1400" dirty="0" err="1"/>
              <a:t>공동출원인</a:t>
            </a:r>
            <a:r>
              <a:rPr lang="ko-KR" altLang="en-US" sz="1400" dirty="0"/>
              <a:t> 중 </a:t>
            </a:r>
            <a:r>
              <a:rPr lang="en-US" altLang="ko-KR" sz="1400" dirty="0"/>
              <a:t>1</a:t>
            </a:r>
            <a:r>
              <a:rPr lang="ko-KR" altLang="en-US" sz="1400" dirty="0"/>
              <a:t>인에 대하여 이루어진 공시송달은 부적법하고 그 효력이 발생하지 않는다</a:t>
            </a:r>
            <a:r>
              <a:rPr lang="en-US" altLang="ko-KR" sz="1400" dirty="0"/>
              <a:t>.</a:t>
            </a:r>
          </a:p>
          <a:p>
            <a:pPr fontAlgn="base"/>
            <a:r>
              <a:rPr lang="en-US" altLang="ko-KR" sz="1400" dirty="0"/>
              <a:t>[2] </a:t>
            </a:r>
            <a:r>
              <a:rPr lang="ko-KR" altLang="en-US" sz="1400" dirty="0"/>
              <a:t>지식재산처장이 특허관리인에 의하지 아니한 채 제출된 재외자의 서류를 반려하지 않고 특허에 관한 절차를 진행한 경우</a:t>
            </a:r>
            <a:r>
              <a:rPr lang="en-US" altLang="ko-KR" sz="1400" dirty="0"/>
              <a:t>, </a:t>
            </a:r>
            <a:r>
              <a:rPr lang="ko-KR" altLang="en-US" sz="1400" dirty="0"/>
              <a:t>사후에 그 절차상 하자를 주장할 수 있는지 여부</a:t>
            </a:r>
            <a:r>
              <a:rPr lang="en-US" altLang="ko-KR" sz="1400" dirty="0"/>
              <a:t>(</a:t>
            </a:r>
            <a:r>
              <a:rPr lang="ko-KR" altLang="en-US" sz="1400" dirty="0"/>
              <a:t>소극</a:t>
            </a:r>
            <a:r>
              <a:rPr lang="en-US" altLang="ko-KR" sz="1400" dirty="0"/>
              <a:t>): </a:t>
            </a:r>
            <a:r>
              <a:rPr lang="ko-KR" altLang="en-US" sz="1400" dirty="0"/>
              <a:t>지식재산처장은 특허관리인에 의하지 아니한 채 제출된 서류를 반려하지 아니하고 이를 수리하여 특허에 관한 절차를 진행한 이후에는 특허법 제</a:t>
            </a:r>
            <a:r>
              <a:rPr lang="en-US" altLang="ko-KR" sz="1400" dirty="0"/>
              <a:t>5</a:t>
            </a:r>
            <a:r>
              <a:rPr lang="ko-KR" altLang="en-US" sz="1400" dirty="0"/>
              <a:t>조 제</a:t>
            </a:r>
            <a:r>
              <a:rPr lang="en-US" altLang="ko-KR" sz="1400" dirty="0"/>
              <a:t>1</a:t>
            </a:r>
            <a:r>
              <a:rPr lang="ko-KR" altLang="en-US" sz="1400" dirty="0"/>
              <a:t>항에 위반된다는 이유로 제출된 서류의 절차상 하자를 주장할 수는 없다</a:t>
            </a:r>
            <a:r>
              <a:rPr lang="en-US" altLang="ko-KR" sz="1400" dirty="0"/>
              <a:t>.</a:t>
            </a:r>
            <a:endParaRPr lang="ko-KR" altLang="en-US" sz="1400" dirty="0"/>
          </a:p>
        </p:txBody>
      </p:sp>
      <p:sp>
        <p:nvSpPr>
          <p:cNvPr id="29" name="Line 5">
            <a:extLst>
              <a:ext uri="{FF2B5EF4-FFF2-40B4-BE49-F238E27FC236}">
                <a16:creationId xmlns:a16="http://schemas.microsoft.com/office/drawing/2014/main" id="{4EC6B141-57CF-4BE7-BAFC-E25DF3C29A40}"/>
              </a:ext>
            </a:extLst>
          </p:cNvPr>
          <p:cNvSpPr>
            <a:spLocks noChangeShapeType="1"/>
          </p:cNvSpPr>
          <p:nvPr/>
        </p:nvSpPr>
        <p:spPr bwMode="auto">
          <a:xfrm>
            <a:off x="514351" y="5638250"/>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30" name="TextBox 29">
            <a:extLst>
              <a:ext uri="{FF2B5EF4-FFF2-40B4-BE49-F238E27FC236}">
                <a16:creationId xmlns:a16="http://schemas.microsoft.com/office/drawing/2014/main" id="{C6032B02-BA2B-4393-A3FE-A6E1F1049F5A}"/>
              </a:ext>
            </a:extLst>
          </p:cNvPr>
          <p:cNvSpPr txBox="1"/>
          <p:nvPr/>
        </p:nvSpPr>
        <p:spPr>
          <a:xfrm>
            <a:off x="666538" y="5894425"/>
            <a:ext cx="114732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a:t>
            </a:r>
            <a:r>
              <a:rPr lang="en-US" altLang="ko-KR" sz="1200" dirty="0">
                <a:solidFill>
                  <a:schemeClr val="tx1"/>
                </a:solidFill>
                <a:latin typeface="+mn-ea"/>
              </a:rPr>
              <a:t>, </a:t>
            </a:r>
            <a:r>
              <a:rPr lang="ko-KR" altLang="en-US" sz="1200" dirty="0">
                <a:solidFill>
                  <a:schemeClr val="tx1"/>
                </a:solidFill>
                <a:latin typeface="+mn-ea"/>
              </a:rPr>
              <a:t>乙 출원</a:t>
            </a:r>
          </a:p>
        </p:txBody>
      </p:sp>
      <p:sp>
        <p:nvSpPr>
          <p:cNvPr id="31" name="타원 30">
            <a:extLst>
              <a:ext uri="{FF2B5EF4-FFF2-40B4-BE49-F238E27FC236}">
                <a16:creationId xmlns:a16="http://schemas.microsoft.com/office/drawing/2014/main" id="{E81EA802-6204-4FB7-A721-FB293DA14771}"/>
              </a:ext>
            </a:extLst>
          </p:cNvPr>
          <p:cNvSpPr/>
          <p:nvPr/>
        </p:nvSpPr>
        <p:spPr>
          <a:xfrm>
            <a:off x="1162832" y="554431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2" name="직선 연결선 31">
            <a:extLst>
              <a:ext uri="{FF2B5EF4-FFF2-40B4-BE49-F238E27FC236}">
                <a16:creationId xmlns:a16="http://schemas.microsoft.com/office/drawing/2014/main" id="{4D3C8193-318D-4E35-8E3D-8971F6F63725}"/>
              </a:ext>
            </a:extLst>
          </p:cNvPr>
          <p:cNvCxnSpPr>
            <a:cxnSpLocks/>
            <a:stCxn id="30" idx="0"/>
            <a:endCxn id="31" idx="4"/>
          </p:cNvCxnSpPr>
          <p:nvPr/>
        </p:nvCxnSpPr>
        <p:spPr>
          <a:xfrm flipH="1" flipV="1">
            <a:off x="1240201" y="570565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9BB2D483-B124-422B-AFF0-C6A8B806693B}"/>
              </a:ext>
            </a:extLst>
          </p:cNvPr>
          <p:cNvSpPr txBox="1"/>
          <p:nvPr/>
        </p:nvSpPr>
        <p:spPr>
          <a:xfrm>
            <a:off x="3010601" y="5894425"/>
            <a:ext cx="123806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거절이유통지</a:t>
            </a:r>
            <a:endParaRPr lang="ko-KR" altLang="en-US" sz="1200" dirty="0">
              <a:solidFill>
                <a:schemeClr val="tx1"/>
              </a:solidFill>
              <a:latin typeface="+mn-ea"/>
            </a:endParaRPr>
          </a:p>
        </p:txBody>
      </p:sp>
      <p:sp>
        <p:nvSpPr>
          <p:cNvPr id="34" name="타원 33">
            <a:extLst>
              <a:ext uri="{FF2B5EF4-FFF2-40B4-BE49-F238E27FC236}">
                <a16:creationId xmlns:a16="http://schemas.microsoft.com/office/drawing/2014/main" id="{89542ABF-EC29-44CC-9F85-9FB182621D01}"/>
              </a:ext>
            </a:extLst>
          </p:cNvPr>
          <p:cNvSpPr/>
          <p:nvPr/>
        </p:nvSpPr>
        <p:spPr>
          <a:xfrm>
            <a:off x="3552265" y="554431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5" name="직선 연결선 34">
            <a:extLst>
              <a:ext uri="{FF2B5EF4-FFF2-40B4-BE49-F238E27FC236}">
                <a16:creationId xmlns:a16="http://schemas.microsoft.com/office/drawing/2014/main" id="{8222B599-6ACD-4C5E-9B81-3B01067D7548}"/>
              </a:ext>
            </a:extLst>
          </p:cNvPr>
          <p:cNvCxnSpPr>
            <a:cxnSpLocks/>
            <a:stCxn id="33" idx="0"/>
            <a:endCxn id="34" idx="4"/>
          </p:cNvCxnSpPr>
          <p:nvPr/>
        </p:nvCxnSpPr>
        <p:spPr>
          <a:xfrm flipH="1" flipV="1">
            <a:off x="3629634" y="570565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타원 35">
            <a:extLst>
              <a:ext uri="{FF2B5EF4-FFF2-40B4-BE49-F238E27FC236}">
                <a16:creationId xmlns:a16="http://schemas.microsoft.com/office/drawing/2014/main" id="{61FA690A-3567-4F5B-BA63-D5378CFD7747}"/>
              </a:ext>
            </a:extLst>
          </p:cNvPr>
          <p:cNvSpPr/>
          <p:nvPr/>
        </p:nvSpPr>
        <p:spPr>
          <a:xfrm>
            <a:off x="2411527" y="5544316"/>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7" name="직선 연결선 36">
            <a:extLst>
              <a:ext uri="{FF2B5EF4-FFF2-40B4-BE49-F238E27FC236}">
                <a16:creationId xmlns:a16="http://schemas.microsoft.com/office/drawing/2014/main" id="{4A01F0C5-9B5E-4A99-BE69-82558DDB58AB}"/>
              </a:ext>
            </a:extLst>
          </p:cNvPr>
          <p:cNvCxnSpPr>
            <a:cxnSpLocks/>
            <a:stCxn id="39" idx="2"/>
            <a:endCxn id="36" idx="0"/>
          </p:cNvCxnSpPr>
          <p:nvPr/>
        </p:nvCxnSpPr>
        <p:spPr>
          <a:xfrm>
            <a:off x="2488896" y="5185503"/>
            <a:ext cx="0" cy="35881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E9793547-3DD0-4926-AB7B-543087E7D649}"/>
              </a:ext>
            </a:extLst>
          </p:cNvPr>
          <p:cNvSpPr txBox="1"/>
          <p:nvPr/>
        </p:nvSpPr>
        <p:spPr>
          <a:xfrm>
            <a:off x="1509975" y="4908504"/>
            <a:ext cx="1957842"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a:t>
            </a:r>
            <a:r>
              <a:rPr lang="en-US" altLang="ko-KR" sz="1200" dirty="0">
                <a:solidFill>
                  <a:schemeClr val="tx1"/>
                </a:solidFill>
                <a:latin typeface="+mn-ea"/>
              </a:rPr>
              <a:t>, </a:t>
            </a:r>
            <a:r>
              <a:rPr lang="ko-KR" altLang="en-US" sz="1200" dirty="0">
                <a:solidFill>
                  <a:schemeClr val="tx1"/>
                </a:solidFill>
                <a:latin typeface="+mn-ea"/>
              </a:rPr>
              <a:t>乙 미국으로 이민</a:t>
            </a:r>
          </a:p>
        </p:txBody>
      </p:sp>
      <p:sp>
        <p:nvSpPr>
          <p:cNvPr id="40" name="타원 39">
            <a:extLst>
              <a:ext uri="{FF2B5EF4-FFF2-40B4-BE49-F238E27FC236}">
                <a16:creationId xmlns:a16="http://schemas.microsoft.com/office/drawing/2014/main" id="{DDC2D802-CEB9-4CE9-BB26-61FC68E00397}"/>
              </a:ext>
            </a:extLst>
          </p:cNvPr>
          <p:cNvSpPr/>
          <p:nvPr/>
        </p:nvSpPr>
        <p:spPr>
          <a:xfrm>
            <a:off x="4602310" y="5544316"/>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1" name="직선 연결선 40">
            <a:extLst>
              <a:ext uri="{FF2B5EF4-FFF2-40B4-BE49-F238E27FC236}">
                <a16:creationId xmlns:a16="http://schemas.microsoft.com/office/drawing/2014/main" id="{99390676-65EB-49EA-A0C2-B66D64CA3937}"/>
              </a:ext>
            </a:extLst>
          </p:cNvPr>
          <p:cNvCxnSpPr>
            <a:cxnSpLocks/>
            <a:stCxn id="42" idx="2"/>
            <a:endCxn id="40" idx="0"/>
          </p:cNvCxnSpPr>
          <p:nvPr/>
        </p:nvCxnSpPr>
        <p:spPr>
          <a:xfrm>
            <a:off x="4679679" y="5185503"/>
            <a:ext cx="0" cy="35881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6C2C8375-44A4-4CBD-BCC9-37DE4690DDB4}"/>
              </a:ext>
            </a:extLst>
          </p:cNvPr>
          <p:cNvSpPr txBox="1"/>
          <p:nvPr/>
        </p:nvSpPr>
        <p:spPr>
          <a:xfrm>
            <a:off x="3700758" y="4908504"/>
            <a:ext cx="1957842"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甲이 단독으로 보정서 제출</a:t>
            </a:r>
          </a:p>
        </p:txBody>
      </p:sp>
      <p:sp>
        <p:nvSpPr>
          <p:cNvPr id="45" name="TextBox 44">
            <a:extLst>
              <a:ext uri="{FF2B5EF4-FFF2-40B4-BE49-F238E27FC236}">
                <a16:creationId xmlns:a16="http://schemas.microsoft.com/office/drawing/2014/main" id="{9027B2FF-EBA0-4D7A-9D7E-D2423056127B}"/>
              </a:ext>
            </a:extLst>
          </p:cNvPr>
          <p:cNvSpPr txBox="1"/>
          <p:nvPr/>
        </p:nvSpPr>
        <p:spPr>
          <a:xfrm>
            <a:off x="5395245" y="5894425"/>
            <a:ext cx="798056"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거절결정</a:t>
            </a:r>
          </a:p>
        </p:txBody>
      </p:sp>
      <p:sp>
        <p:nvSpPr>
          <p:cNvPr id="46" name="타원 45">
            <a:extLst>
              <a:ext uri="{FF2B5EF4-FFF2-40B4-BE49-F238E27FC236}">
                <a16:creationId xmlns:a16="http://schemas.microsoft.com/office/drawing/2014/main" id="{7CEBAF76-4CAF-45CD-9705-8DF2C58EB9DA}"/>
              </a:ext>
            </a:extLst>
          </p:cNvPr>
          <p:cNvSpPr/>
          <p:nvPr/>
        </p:nvSpPr>
        <p:spPr>
          <a:xfrm>
            <a:off x="5716903" y="554431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7" name="직선 연결선 46">
            <a:extLst>
              <a:ext uri="{FF2B5EF4-FFF2-40B4-BE49-F238E27FC236}">
                <a16:creationId xmlns:a16="http://schemas.microsoft.com/office/drawing/2014/main" id="{FDCE859A-F50E-4046-8DA6-5E1ED1777A68}"/>
              </a:ext>
            </a:extLst>
          </p:cNvPr>
          <p:cNvCxnSpPr>
            <a:cxnSpLocks/>
            <a:stCxn id="45" idx="0"/>
            <a:endCxn id="46" idx="4"/>
          </p:cNvCxnSpPr>
          <p:nvPr/>
        </p:nvCxnSpPr>
        <p:spPr>
          <a:xfrm flipH="1" flipV="1">
            <a:off x="5794272" y="570565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B5771989-8E35-4E85-B719-C4868623CB69}"/>
              </a:ext>
            </a:extLst>
          </p:cNvPr>
          <p:cNvSpPr txBox="1"/>
          <p:nvPr/>
        </p:nvSpPr>
        <p:spPr>
          <a:xfrm>
            <a:off x="6401522" y="5894425"/>
            <a:ext cx="2154644"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甲에게 송달되지 않자</a:t>
            </a:r>
            <a:endParaRPr lang="en-US" altLang="ko-KR" sz="1200" dirty="0">
              <a:solidFill>
                <a:schemeClr val="tx1"/>
              </a:solidFill>
              <a:latin typeface="+mn-ea"/>
            </a:endParaRPr>
          </a:p>
          <a:p>
            <a:pPr algn="ctr"/>
            <a:r>
              <a:rPr lang="ko-KR" altLang="en-US" sz="1200" dirty="0">
                <a:solidFill>
                  <a:schemeClr val="tx1"/>
                </a:solidFill>
                <a:latin typeface="+mn-ea"/>
              </a:rPr>
              <a:t>甲을 수령인으로 공시송달</a:t>
            </a:r>
          </a:p>
        </p:txBody>
      </p:sp>
      <p:sp>
        <p:nvSpPr>
          <p:cNvPr id="58" name="타원 57">
            <a:extLst>
              <a:ext uri="{FF2B5EF4-FFF2-40B4-BE49-F238E27FC236}">
                <a16:creationId xmlns:a16="http://schemas.microsoft.com/office/drawing/2014/main" id="{DB09F44D-7C25-45A1-88B0-216C7E7732DE}"/>
              </a:ext>
            </a:extLst>
          </p:cNvPr>
          <p:cNvSpPr/>
          <p:nvPr/>
        </p:nvSpPr>
        <p:spPr>
          <a:xfrm>
            <a:off x="7401474" y="554431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1" name="직선 연결선 60">
            <a:extLst>
              <a:ext uri="{FF2B5EF4-FFF2-40B4-BE49-F238E27FC236}">
                <a16:creationId xmlns:a16="http://schemas.microsoft.com/office/drawing/2014/main" id="{30B6E079-8D27-4296-8E48-5BBDEC93FD1C}"/>
              </a:ext>
            </a:extLst>
          </p:cNvPr>
          <p:cNvCxnSpPr>
            <a:cxnSpLocks/>
            <a:stCxn id="50" idx="0"/>
            <a:endCxn id="58" idx="4"/>
          </p:cNvCxnSpPr>
          <p:nvPr/>
        </p:nvCxnSpPr>
        <p:spPr>
          <a:xfrm flipH="1" flipV="1">
            <a:off x="7478843" y="570565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사각형: 둥근 모서리 62">
            <a:extLst>
              <a:ext uri="{FF2B5EF4-FFF2-40B4-BE49-F238E27FC236}">
                <a16:creationId xmlns:a16="http://schemas.microsoft.com/office/drawing/2014/main" id="{8791DCA3-ACAE-445C-B9DE-3EF92B7600B8}"/>
              </a:ext>
            </a:extLst>
          </p:cNvPr>
          <p:cNvSpPr/>
          <p:nvPr/>
        </p:nvSpPr>
        <p:spPr>
          <a:xfrm>
            <a:off x="113937" y="1076839"/>
            <a:ext cx="5309023" cy="346234"/>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r>
              <a:rPr lang="ko-KR" altLang="en-US" sz="1600" dirty="0"/>
              <a:t>대법원 </a:t>
            </a:r>
            <a:r>
              <a:rPr lang="en-US" altLang="ko-KR" sz="1600" dirty="0"/>
              <a:t>2005. 5. 27. </a:t>
            </a:r>
            <a:r>
              <a:rPr lang="ko-KR" altLang="en-US" sz="1600" dirty="0"/>
              <a:t>선고 </a:t>
            </a:r>
            <a:r>
              <a:rPr lang="en-US" altLang="ko-KR" sz="1600" dirty="0"/>
              <a:t>2003</a:t>
            </a:r>
            <a:r>
              <a:rPr lang="ko-KR" altLang="en-US" sz="1600" dirty="0"/>
              <a:t>후</a:t>
            </a:r>
            <a:r>
              <a:rPr lang="en-US" altLang="ko-KR" sz="1600" dirty="0"/>
              <a:t>182 </a:t>
            </a:r>
            <a:r>
              <a:rPr lang="ko-KR" altLang="en-US" sz="1600" dirty="0"/>
              <a:t>판결 </a:t>
            </a:r>
            <a:r>
              <a:rPr lang="en-US" altLang="ko-KR" sz="1600" dirty="0"/>
              <a:t>【</a:t>
            </a:r>
            <a:r>
              <a:rPr lang="ko-KR" altLang="en-US" sz="1600" dirty="0"/>
              <a:t>거절결정</a:t>
            </a:r>
            <a:r>
              <a:rPr lang="en-US" altLang="ko-KR" sz="1600" dirty="0"/>
              <a:t>(</a:t>
            </a:r>
            <a:r>
              <a:rPr lang="ko-KR" altLang="en-US" sz="1600" dirty="0" err="1"/>
              <a:t>특</a:t>
            </a:r>
            <a:r>
              <a:rPr lang="en-US" altLang="ko-KR" sz="1600" dirty="0"/>
              <a:t>)】</a:t>
            </a:r>
            <a:endParaRPr lang="ko-KR" altLang="en-US" sz="1600" dirty="0"/>
          </a:p>
        </p:txBody>
      </p:sp>
      <p:sp>
        <p:nvSpPr>
          <p:cNvPr id="64" name="직사각형 63">
            <a:extLst>
              <a:ext uri="{FF2B5EF4-FFF2-40B4-BE49-F238E27FC236}">
                <a16:creationId xmlns:a16="http://schemas.microsoft.com/office/drawing/2014/main" id="{C79234F4-92DA-4A43-BECF-3E27252B90B9}"/>
              </a:ext>
            </a:extLst>
          </p:cNvPr>
          <p:cNvSpPr/>
          <p:nvPr/>
        </p:nvSpPr>
        <p:spPr>
          <a:xfrm>
            <a:off x="423160" y="3287128"/>
            <a:ext cx="11345678" cy="954107"/>
          </a:xfrm>
          <a:prstGeom prst="rect">
            <a:avLst/>
          </a:prstGeom>
          <a:solidFill>
            <a:schemeClr val="accent4">
              <a:lumMod val="20000"/>
              <a:lumOff val="80000"/>
            </a:schemeClr>
          </a:solidFill>
          <a:ln>
            <a:solidFill>
              <a:schemeClr val="bg1">
                <a:lumMod val="65000"/>
              </a:schemeClr>
            </a:solidFill>
          </a:ln>
        </p:spPr>
        <p:txBody>
          <a:bodyPr wrap="square">
            <a:spAutoFit/>
          </a:bodyPr>
          <a:lstStyle/>
          <a:p>
            <a:pPr algn="just"/>
            <a:r>
              <a:rPr lang="ko-KR" altLang="en-US" sz="1400" dirty="0"/>
              <a:t>지식재산처장이 특허관리인에 의하지 아니한 채 제출된 재외자의 서류를 반려하지 않고 특허에 관한 절차를 진행한 경우</a:t>
            </a:r>
            <a:r>
              <a:rPr lang="en-US" altLang="ko-KR" sz="1400" dirty="0"/>
              <a:t>, ⅰ) </a:t>
            </a:r>
            <a:r>
              <a:rPr lang="ko-KR" altLang="en-US" sz="1400" dirty="0"/>
              <a:t>특허관리인제도는 지식재산처가 국내에 거주하지 않는 자와 직접 절차를 수행함에 따른 번잡과 절차지연을 피함으로써 </a:t>
            </a:r>
            <a:r>
              <a:rPr lang="ko-KR" altLang="en-US" sz="1400" dirty="0">
                <a:highlight>
                  <a:srgbClr val="FFFF00"/>
                </a:highlight>
              </a:rPr>
              <a:t>원활한 절차수행이 가능하도록 하기 위함에 그 의의</a:t>
            </a:r>
            <a:r>
              <a:rPr lang="ko-KR" altLang="en-US" sz="1400" dirty="0"/>
              <a:t>가 있는 점</a:t>
            </a:r>
            <a:r>
              <a:rPr lang="en-US" altLang="ko-KR" sz="1400" dirty="0"/>
              <a:t>, ⅱ) </a:t>
            </a:r>
            <a:r>
              <a:rPr lang="ko-KR" altLang="en-US" sz="1400" dirty="0"/>
              <a:t>재외자라 하더라도 </a:t>
            </a:r>
            <a:r>
              <a:rPr lang="ko-KR" altLang="en-US" sz="1400" dirty="0">
                <a:highlight>
                  <a:srgbClr val="FFFF00"/>
                </a:highlight>
              </a:rPr>
              <a:t>국내에 체재하는 경우에는 직접 절차를 밟을 수 있는 점</a:t>
            </a:r>
            <a:r>
              <a:rPr lang="en-US" altLang="ko-KR" sz="1400" dirty="0"/>
              <a:t>, ⅲ) </a:t>
            </a:r>
            <a:r>
              <a:rPr lang="ko-KR" altLang="en-US" sz="1400" dirty="0"/>
              <a:t>재외자가 특허관리인에 의하지 아니하고 그 절차를 밟은 경우에 이를 </a:t>
            </a:r>
            <a:r>
              <a:rPr lang="ko-KR" altLang="en-US" sz="1400" dirty="0" err="1">
                <a:highlight>
                  <a:srgbClr val="FFFF00"/>
                </a:highlight>
              </a:rPr>
              <a:t>특허거절이유나</a:t>
            </a:r>
            <a:r>
              <a:rPr lang="ko-KR" altLang="en-US" sz="1400" dirty="0">
                <a:highlight>
                  <a:srgbClr val="FFFF00"/>
                </a:highlight>
              </a:rPr>
              <a:t> 특허무효사유로는 하고 있지 않은 점</a:t>
            </a:r>
            <a:r>
              <a:rPr lang="ko-KR" altLang="en-US" sz="1400" dirty="0"/>
              <a:t> 등에 비추어 볼 때</a:t>
            </a:r>
            <a:r>
              <a:rPr lang="en-US" altLang="ko-KR" sz="1400" dirty="0"/>
              <a:t>, </a:t>
            </a:r>
            <a:r>
              <a:rPr lang="ko-KR" altLang="en-US" sz="1400" dirty="0"/>
              <a:t>지식재산처장은 사후에 이를 이유로 제출된 서류의 절차상 하자를 주장할 수는 없다</a:t>
            </a:r>
            <a:r>
              <a:rPr lang="en-US" altLang="ko-KR" sz="1400" dirty="0"/>
              <a:t>.</a:t>
            </a:r>
            <a:endParaRPr lang="ko-KR" altLang="en-US" sz="1400" dirty="0"/>
          </a:p>
        </p:txBody>
      </p:sp>
      <p:cxnSp>
        <p:nvCxnSpPr>
          <p:cNvPr id="67" name="직선 연결선 66">
            <a:extLst>
              <a:ext uri="{FF2B5EF4-FFF2-40B4-BE49-F238E27FC236}">
                <a16:creationId xmlns:a16="http://schemas.microsoft.com/office/drawing/2014/main" id="{1295681E-E68B-437F-8E1E-D499F5F4351F}"/>
              </a:ext>
            </a:extLst>
          </p:cNvPr>
          <p:cNvCxnSpPr/>
          <p:nvPr/>
        </p:nvCxnSpPr>
        <p:spPr>
          <a:xfrm>
            <a:off x="0" y="2987152"/>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타원 67">
            <a:extLst>
              <a:ext uri="{FF2B5EF4-FFF2-40B4-BE49-F238E27FC236}">
                <a16:creationId xmlns:a16="http://schemas.microsoft.com/office/drawing/2014/main" id="{F50709EA-2247-4922-ABF2-719A834A86B3}"/>
              </a:ext>
            </a:extLst>
          </p:cNvPr>
          <p:cNvSpPr/>
          <p:nvPr/>
        </p:nvSpPr>
        <p:spPr>
          <a:xfrm>
            <a:off x="9893969" y="5544316"/>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9" name="직선 연결선 68">
            <a:extLst>
              <a:ext uri="{FF2B5EF4-FFF2-40B4-BE49-F238E27FC236}">
                <a16:creationId xmlns:a16="http://schemas.microsoft.com/office/drawing/2014/main" id="{34C9C2C7-D0A2-42AF-A16B-2EBD6667678A}"/>
              </a:ext>
            </a:extLst>
          </p:cNvPr>
          <p:cNvCxnSpPr>
            <a:cxnSpLocks/>
            <a:stCxn id="70" idx="2"/>
            <a:endCxn id="68" idx="0"/>
          </p:cNvCxnSpPr>
          <p:nvPr/>
        </p:nvCxnSpPr>
        <p:spPr>
          <a:xfrm>
            <a:off x="9971338" y="5185503"/>
            <a:ext cx="0" cy="35881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46D942AC-812F-4ED3-83D7-EE503C83AAAB}"/>
              </a:ext>
            </a:extLst>
          </p:cNvPr>
          <p:cNvSpPr txBox="1"/>
          <p:nvPr/>
        </p:nvSpPr>
        <p:spPr>
          <a:xfrm>
            <a:off x="9140909" y="4908504"/>
            <a:ext cx="1660858"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甲이 단독으로 심판청구</a:t>
            </a:r>
          </a:p>
        </p:txBody>
      </p:sp>
      <p:sp>
        <p:nvSpPr>
          <p:cNvPr id="71" name="타원 70">
            <a:extLst>
              <a:ext uri="{FF2B5EF4-FFF2-40B4-BE49-F238E27FC236}">
                <a16:creationId xmlns:a16="http://schemas.microsoft.com/office/drawing/2014/main" id="{06188115-3B76-4300-B40E-73587257D04F}"/>
              </a:ext>
            </a:extLst>
          </p:cNvPr>
          <p:cNvSpPr/>
          <p:nvPr/>
        </p:nvSpPr>
        <p:spPr>
          <a:xfrm>
            <a:off x="10527254" y="5544316"/>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2" name="직선 연결선 71">
            <a:extLst>
              <a:ext uri="{FF2B5EF4-FFF2-40B4-BE49-F238E27FC236}">
                <a16:creationId xmlns:a16="http://schemas.microsoft.com/office/drawing/2014/main" id="{C38E467D-1157-4EAE-9A74-E34D2E725A98}"/>
              </a:ext>
            </a:extLst>
          </p:cNvPr>
          <p:cNvCxnSpPr>
            <a:cxnSpLocks/>
            <a:stCxn id="73" idx="0"/>
            <a:endCxn id="71" idx="4"/>
          </p:cNvCxnSpPr>
          <p:nvPr/>
        </p:nvCxnSpPr>
        <p:spPr>
          <a:xfrm flipV="1">
            <a:off x="10604623" y="5705654"/>
            <a:ext cx="0" cy="37343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40D48B87-58AE-4C39-9FFF-D7A63F91B24C}"/>
              </a:ext>
            </a:extLst>
          </p:cNvPr>
          <p:cNvSpPr txBox="1"/>
          <p:nvPr/>
        </p:nvSpPr>
        <p:spPr>
          <a:xfrm>
            <a:off x="9774194" y="6079091"/>
            <a:ext cx="1660858"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乙을 추가하는 보정</a:t>
            </a:r>
          </a:p>
        </p:txBody>
      </p:sp>
      <p:sp>
        <p:nvSpPr>
          <p:cNvPr id="74" name="TextBox 73">
            <a:extLst>
              <a:ext uri="{FF2B5EF4-FFF2-40B4-BE49-F238E27FC236}">
                <a16:creationId xmlns:a16="http://schemas.microsoft.com/office/drawing/2014/main" id="{E4D63B32-842A-4CAD-BB64-1FBE33FE3F91}"/>
              </a:ext>
            </a:extLst>
          </p:cNvPr>
          <p:cNvSpPr txBox="1"/>
          <p:nvPr/>
        </p:nvSpPr>
        <p:spPr>
          <a:xfrm>
            <a:off x="7559551" y="5317863"/>
            <a:ext cx="1147328" cy="276999"/>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bg1"/>
                </a:solidFill>
                <a:latin typeface="+mn-ea"/>
              </a:rPr>
              <a:t>심판청구기간</a:t>
            </a:r>
          </a:p>
        </p:txBody>
      </p:sp>
      <p:sp>
        <p:nvSpPr>
          <p:cNvPr id="5" name="타원 4">
            <a:extLst>
              <a:ext uri="{FF2B5EF4-FFF2-40B4-BE49-F238E27FC236}">
                <a16:creationId xmlns:a16="http://schemas.microsoft.com/office/drawing/2014/main" id="{A9547663-E90C-4A47-A2F3-7EB8988994B9}"/>
              </a:ext>
            </a:extLst>
          </p:cNvPr>
          <p:cNvSpPr/>
          <p:nvPr/>
        </p:nvSpPr>
        <p:spPr>
          <a:xfrm>
            <a:off x="5523870" y="4679391"/>
            <a:ext cx="386065" cy="386065"/>
          </a:xfrm>
          <a:prstGeom prst="ellipse">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38" name="타원 37">
            <a:extLst>
              <a:ext uri="{FF2B5EF4-FFF2-40B4-BE49-F238E27FC236}">
                <a16:creationId xmlns:a16="http://schemas.microsoft.com/office/drawing/2014/main" id="{1732B301-CDDA-4034-986F-0CA0DD56BCC8}"/>
              </a:ext>
            </a:extLst>
          </p:cNvPr>
          <p:cNvSpPr/>
          <p:nvPr/>
        </p:nvSpPr>
        <p:spPr>
          <a:xfrm>
            <a:off x="6208489" y="6211045"/>
            <a:ext cx="386065" cy="386065"/>
          </a:xfrm>
          <a:prstGeom prst="ellipse">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43" name="TextBox 42">
            <a:extLst>
              <a:ext uri="{FF2B5EF4-FFF2-40B4-BE49-F238E27FC236}">
                <a16:creationId xmlns:a16="http://schemas.microsoft.com/office/drawing/2014/main" id="{9A729F07-E052-4E98-B936-045855DD345F}"/>
              </a:ext>
            </a:extLst>
          </p:cNvPr>
          <p:cNvSpPr txBox="1"/>
          <p:nvPr/>
        </p:nvSpPr>
        <p:spPr>
          <a:xfrm>
            <a:off x="8801334" y="5894425"/>
            <a:ext cx="798056"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재송달</a:t>
            </a:r>
            <a:endParaRPr lang="ko-KR" altLang="en-US" sz="1200" dirty="0">
              <a:solidFill>
                <a:schemeClr val="tx1"/>
              </a:solidFill>
              <a:latin typeface="+mn-ea"/>
            </a:endParaRPr>
          </a:p>
        </p:txBody>
      </p:sp>
      <p:sp>
        <p:nvSpPr>
          <p:cNvPr id="44" name="타원 43">
            <a:extLst>
              <a:ext uri="{FF2B5EF4-FFF2-40B4-BE49-F238E27FC236}">
                <a16:creationId xmlns:a16="http://schemas.microsoft.com/office/drawing/2014/main" id="{1C63677E-0846-4DA3-8E7A-70A5230B622E}"/>
              </a:ext>
            </a:extLst>
          </p:cNvPr>
          <p:cNvSpPr/>
          <p:nvPr/>
        </p:nvSpPr>
        <p:spPr>
          <a:xfrm>
            <a:off x="9122992" y="554431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8" name="직선 연결선 47">
            <a:extLst>
              <a:ext uri="{FF2B5EF4-FFF2-40B4-BE49-F238E27FC236}">
                <a16:creationId xmlns:a16="http://schemas.microsoft.com/office/drawing/2014/main" id="{1A4C8614-381E-4E4E-9D9B-3E1FD65597A6}"/>
              </a:ext>
            </a:extLst>
          </p:cNvPr>
          <p:cNvCxnSpPr>
            <a:cxnSpLocks/>
            <a:stCxn id="43" idx="0"/>
            <a:endCxn id="44" idx="4"/>
          </p:cNvCxnSpPr>
          <p:nvPr/>
        </p:nvCxnSpPr>
        <p:spPr>
          <a:xfrm flipH="1" flipV="1">
            <a:off x="9200361" y="570565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 name="연결선: 꺾임 7">
            <a:extLst>
              <a:ext uri="{FF2B5EF4-FFF2-40B4-BE49-F238E27FC236}">
                <a16:creationId xmlns:a16="http://schemas.microsoft.com/office/drawing/2014/main" id="{83859AF8-9D10-494C-A24F-D56257373CE7}"/>
              </a:ext>
            </a:extLst>
          </p:cNvPr>
          <p:cNvCxnSpPr>
            <a:cxnSpLocks/>
            <a:endCxn id="42" idx="0"/>
          </p:cNvCxnSpPr>
          <p:nvPr/>
        </p:nvCxnSpPr>
        <p:spPr>
          <a:xfrm rot="5400000">
            <a:off x="5759798" y="3189459"/>
            <a:ext cx="638926" cy="279916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587054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7</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출원절차 진행 중 포괄위임장 제출의 효력</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32</a:t>
            </a:fld>
            <a:endParaRPr lang="ko-KR" altLang="en-US" dirty="0"/>
          </a:p>
        </p:txBody>
      </p:sp>
      <p:sp>
        <p:nvSpPr>
          <p:cNvPr id="28" name="TextBox 27">
            <a:extLst>
              <a:ext uri="{FF2B5EF4-FFF2-40B4-BE49-F238E27FC236}">
                <a16:creationId xmlns:a16="http://schemas.microsoft.com/office/drawing/2014/main" id="{2068D00A-8CE5-4811-A937-DA5EBE7D3713}"/>
              </a:ext>
            </a:extLst>
          </p:cNvPr>
          <p:cNvSpPr txBox="1"/>
          <p:nvPr/>
        </p:nvSpPr>
        <p:spPr>
          <a:xfrm>
            <a:off x="77875" y="1556306"/>
            <a:ext cx="11936323" cy="2677656"/>
          </a:xfrm>
          <a:prstGeom prst="rect">
            <a:avLst/>
          </a:prstGeom>
          <a:noFill/>
        </p:spPr>
        <p:txBody>
          <a:bodyPr wrap="square" rtlCol="0">
            <a:spAutoFit/>
          </a:bodyPr>
          <a:lstStyle/>
          <a:p>
            <a:pPr fontAlgn="base"/>
            <a:r>
              <a:rPr lang="en-US" altLang="ko-KR" sz="1400" dirty="0"/>
              <a:t>[1] </a:t>
            </a:r>
            <a:r>
              <a:rPr lang="ko-KR" altLang="en-US" sz="1400" dirty="0"/>
              <a:t>특허법 제</a:t>
            </a:r>
            <a:r>
              <a:rPr lang="en-US" altLang="ko-KR" sz="1400" dirty="0"/>
              <a:t>46</a:t>
            </a:r>
            <a:r>
              <a:rPr lang="ko-KR" altLang="en-US" sz="1400" dirty="0"/>
              <a:t>조 제</a:t>
            </a:r>
            <a:r>
              <a:rPr lang="en-US" altLang="ko-KR" sz="1400" dirty="0"/>
              <a:t>2</a:t>
            </a:r>
            <a:r>
              <a:rPr lang="ko-KR" altLang="en-US" sz="1400" dirty="0"/>
              <a:t>호는 지식재산처장 등이 특허에 관한 절차가 특허법 또는 특허법에 따른 명령으로 정하는 방식을 위반한 경우 기간을 정하여 보정을 명하여야 하고 보정명령을 받은 자는 그 기간에 그 보정명령에 대한 의견서를 지식재산처장 등에게 제출할 수 있다고 규정하면서</a:t>
            </a:r>
            <a:r>
              <a:rPr lang="en-US" altLang="ko-KR" sz="1400" dirty="0"/>
              <a:t>, </a:t>
            </a:r>
            <a:r>
              <a:rPr lang="ko-KR" altLang="en-US" sz="1400" dirty="0"/>
              <a:t>보정명령에 대한 의견서나 그 제출에 관하여는 특정한 방식을 요구하지 않고 있다</a:t>
            </a:r>
            <a:r>
              <a:rPr lang="en-US" altLang="ko-KR" sz="1400" dirty="0"/>
              <a:t>. </a:t>
            </a:r>
            <a:r>
              <a:rPr lang="ko-KR" altLang="en-US" sz="1400" dirty="0">
                <a:highlight>
                  <a:srgbClr val="FFFF00"/>
                </a:highlight>
              </a:rPr>
              <a:t>한편 특허법 시행규칙 제</a:t>
            </a:r>
            <a:r>
              <a:rPr lang="en-US" altLang="ko-KR" sz="1400" dirty="0">
                <a:highlight>
                  <a:srgbClr val="FFFF00"/>
                </a:highlight>
              </a:rPr>
              <a:t>13</a:t>
            </a:r>
            <a:r>
              <a:rPr lang="ko-KR" altLang="en-US" sz="1400" dirty="0">
                <a:highlight>
                  <a:srgbClr val="FFFF00"/>
                </a:highlight>
              </a:rPr>
              <a:t>조 제</a:t>
            </a:r>
            <a:r>
              <a:rPr lang="en-US" altLang="ko-KR" sz="1400" dirty="0">
                <a:highlight>
                  <a:srgbClr val="FFFF00"/>
                </a:highlight>
              </a:rPr>
              <a:t>1</a:t>
            </a:r>
            <a:r>
              <a:rPr lang="ko-KR" altLang="en-US" sz="1400" dirty="0">
                <a:highlight>
                  <a:srgbClr val="FFFF00"/>
                </a:highlight>
              </a:rPr>
              <a:t>호는 특허법 제</a:t>
            </a:r>
            <a:r>
              <a:rPr lang="en-US" altLang="ko-KR" sz="1400" dirty="0">
                <a:highlight>
                  <a:srgbClr val="FFFF00"/>
                </a:highlight>
              </a:rPr>
              <a:t>46</a:t>
            </a:r>
            <a:r>
              <a:rPr lang="ko-KR" altLang="en-US" sz="1400" dirty="0">
                <a:highlight>
                  <a:srgbClr val="FFFF00"/>
                </a:highlight>
              </a:rPr>
              <a:t>조에 따라 보정을 하려는 자는 특허법 시행규칙 별지 제</a:t>
            </a:r>
            <a:r>
              <a:rPr lang="en-US" altLang="ko-KR" sz="1400" dirty="0">
                <a:highlight>
                  <a:srgbClr val="FFFF00"/>
                </a:highlight>
              </a:rPr>
              <a:t>9</a:t>
            </a:r>
            <a:r>
              <a:rPr lang="ko-KR" altLang="en-US" sz="1400" dirty="0">
                <a:highlight>
                  <a:srgbClr val="FFFF00"/>
                </a:highlight>
              </a:rPr>
              <a:t>호 서식의 보정서에 보정 내용을 증명하는 서류를 첨부하여 지식재산처장 등에게 제출하도록 규정하고 있으나</a:t>
            </a:r>
            <a:r>
              <a:rPr lang="en-US" altLang="ko-KR" sz="1400" dirty="0">
                <a:highlight>
                  <a:srgbClr val="FFFF00"/>
                </a:highlight>
              </a:rPr>
              <a:t>, </a:t>
            </a:r>
            <a:r>
              <a:rPr lang="ko-KR" altLang="en-US" sz="1400" dirty="0">
                <a:highlight>
                  <a:srgbClr val="FFFF00"/>
                </a:highlight>
              </a:rPr>
              <a:t>이는 행정청의 편의를 위한 규정으로 보정 내용을 증명하는 서류의 제출은 엄격한 형식을 요하지 아니하는 서면행위라고 해석되고</a:t>
            </a:r>
            <a:r>
              <a:rPr lang="en-US" altLang="ko-KR" sz="1400" dirty="0">
                <a:highlight>
                  <a:srgbClr val="FFFF00"/>
                </a:highlight>
              </a:rPr>
              <a:t>, </a:t>
            </a:r>
            <a:r>
              <a:rPr lang="ko-KR" altLang="en-US" sz="1400" dirty="0">
                <a:highlight>
                  <a:srgbClr val="FFFF00"/>
                </a:highlight>
              </a:rPr>
              <a:t>이러한 경우 행정청으로서는 그 서면을 가능한 한 제출자의 이익이 되도록 처리할 필요가 있다</a:t>
            </a:r>
            <a:r>
              <a:rPr lang="en-US" altLang="ko-KR" sz="1400" dirty="0">
                <a:highlight>
                  <a:srgbClr val="FFFF00"/>
                </a:highlight>
              </a:rPr>
              <a:t>. </a:t>
            </a:r>
            <a:r>
              <a:rPr lang="ko-KR" altLang="en-US" sz="1400" dirty="0">
                <a:highlight>
                  <a:srgbClr val="FFFF00"/>
                </a:highlight>
              </a:rPr>
              <a:t>따라서 특허법 제</a:t>
            </a:r>
            <a:r>
              <a:rPr lang="en-US" altLang="ko-KR" sz="1400" dirty="0">
                <a:highlight>
                  <a:srgbClr val="FFFF00"/>
                </a:highlight>
              </a:rPr>
              <a:t>46</a:t>
            </a:r>
            <a:r>
              <a:rPr lang="ko-KR" altLang="en-US" sz="1400" dirty="0">
                <a:highlight>
                  <a:srgbClr val="FFFF00"/>
                </a:highlight>
              </a:rPr>
              <a:t>조에 따른 지식재산처장 등의 보정명령을 받은 사람으로부터 지식재산처장 등에게 보정 내용을 증명하는 서류가 제출되었을 때에는 그 표제 등의 여하를 불문하고 이를 위 보정명령에 대한 의견서 제출로 보아야 한다</a:t>
            </a:r>
            <a:r>
              <a:rPr lang="en-US" altLang="ko-KR" sz="1400" dirty="0"/>
              <a:t>(</a:t>
            </a:r>
            <a:r>
              <a:rPr lang="ko-KR" altLang="en-US" sz="1400" dirty="0"/>
              <a:t>대법원 </a:t>
            </a:r>
            <a:r>
              <a:rPr lang="en-US" altLang="ko-KR" sz="1400" dirty="0"/>
              <a:t>1995. 11. 7. </a:t>
            </a:r>
            <a:r>
              <a:rPr lang="ko-KR" altLang="en-US" sz="1400" dirty="0"/>
              <a:t>선고 </a:t>
            </a:r>
            <a:r>
              <a:rPr lang="en-US" altLang="ko-KR" sz="1400" dirty="0"/>
              <a:t>94</a:t>
            </a:r>
            <a:r>
              <a:rPr lang="ko-KR" altLang="en-US" sz="1400" dirty="0"/>
              <a:t>누</a:t>
            </a:r>
            <a:r>
              <a:rPr lang="en-US" altLang="ko-KR" sz="1400" dirty="0"/>
              <a:t>10061 </a:t>
            </a:r>
            <a:r>
              <a:rPr lang="ko-KR" altLang="en-US" sz="1400" dirty="0"/>
              <a:t>판결</a:t>
            </a:r>
            <a:r>
              <a:rPr lang="en-US" altLang="ko-KR" sz="1400" dirty="0"/>
              <a:t>, </a:t>
            </a:r>
            <a:r>
              <a:rPr lang="ko-KR" altLang="en-US" sz="1400" dirty="0"/>
              <a:t>대법원 </a:t>
            </a:r>
            <a:r>
              <a:rPr lang="en-US" altLang="ko-KR" sz="1400" dirty="0"/>
              <a:t>2000. 6. 9. </a:t>
            </a:r>
            <a:r>
              <a:rPr lang="ko-KR" altLang="en-US" sz="1400" dirty="0"/>
              <a:t>선고 </a:t>
            </a:r>
            <a:r>
              <a:rPr lang="en-US" altLang="ko-KR" sz="1400" dirty="0"/>
              <a:t>98</a:t>
            </a:r>
            <a:r>
              <a:rPr lang="ko-KR" altLang="en-US" sz="1400" dirty="0"/>
              <a:t>두</a:t>
            </a:r>
            <a:r>
              <a:rPr lang="en-US" altLang="ko-KR" sz="1400" dirty="0"/>
              <a:t>2621 </a:t>
            </a:r>
            <a:r>
              <a:rPr lang="ko-KR" altLang="en-US" sz="1400" dirty="0"/>
              <a:t>판결 등 참조</a:t>
            </a:r>
            <a:r>
              <a:rPr lang="en-US" altLang="ko-KR" sz="1400" dirty="0"/>
              <a:t>).</a:t>
            </a:r>
          </a:p>
          <a:p>
            <a:pPr fontAlgn="base"/>
            <a:r>
              <a:rPr lang="en-US" altLang="ko-KR" sz="1400" dirty="0"/>
              <a:t>[2</a:t>
            </a:r>
            <a:r>
              <a:rPr lang="ko-KR" altLang="en-US" sz="1400" dirty="0"/>
              <a:t>특허에 관한 절차를 밟는 자가 대리인에게 대리권을 수여하는 데에는 일정한 방식이 요구되지 않고</a:t>
            </a:r>
            <a:r>
              <a:rPr lang="en-US" altLang="ko-KR" sz="1400" dirty="0"/>
              <a:t>, </a:t>
            </a:r>
            <a:r>
              <a:rPr lang="ko-KR" altLang="en-US" sz="1400" dirty="0"/>
              <a:t>다만 그 대리권의 증명은 특허법 제</a:t>
            </a:r>
            <a:r>
              <a:rPr lang="en-US" altLang="ko-KR" sz="1400" dirty="0"/>
              <a:t>7</a:t>
            </a:r>
            <a:r>
              <a:rPr lang="ko-KR" altLang="en-US" sz="1400" dirty="0"/>
              <a:t>조에 따라 서면으로써 하여야 한다</a:t>
            </a:r>
            <a:r>
              <a:rPr lang="en-US" altLang="ko-KR" sz="1400" dirty="0"/>
              <a:t>. </a:t>
            </a:r>
            <a:r>
              <a:rPr lang="ko-KR" altLang="en-US" sz="1400" dirty="0"/>
              <a:t>그런데 특허법 시행규칙 제</a:t>
            </a:r>
            <a:r>
              <a:rPr lang="en-US" altLang="ko-KR" sz="1400" dirty="0"/>
              <a:t>5</a:t>
            </a:r>
            <a:r>
              <a:rPr lang="ko-KR" altLang="en-US" sz="1400" dirty="0"/>
              <a:t>조의</a:t>
            </a:r>
            <a:r>
              <a:rPr lang="en-US" altLang="ko-KR" sz="1400" dirty="0"/>
              <a:t>2 </a:t>
            </a:r>
            <a:r>
              <a:rPr lang="ko-KR" altLang="en-US" sz="1400" dirty="0"/>
              <a:t>제</a:t>
            </a:r>
            <a:r>
              <a:rPr lang="en-US" altLang="ko-KR" sz="1400" dirty="0"/>
              <a:t>1</a:t>
            </a:r>
            <a:r>
              <a:rPr lang="ko-KR" altLang="en-US" sz="1400" dirty="0"/>
              <a:t>항은 대리인에게 현재 및 장래의 사건에 대하여 미리 사건을 특정하지 아니하고 특허에 관한 절차 진행을 </a:t>
            </a:r>
            <a:r>
              <a:rPr lang="ko-KR" altLang="en-US" sz="1400" dirty="0" err="1"/>
              <a:t>포괄위임하려는</a:t>
            </a:r>
            <a:r>
              <a:rPr lang="ko-KR" altLang="en-US" sz="1400" dirty="0"/>
              <a:t> 경우에는 포괄위임등록 신청서에 대리권을 증명하는 서류인 포괄위임장을 첨부하여 지식재산처장에게 제출하여야 한다고 규정하므로</a:t>
            </a:r>
            <a:r>
              <a:rPr lang="en-US" altLang="ko-KR" sz="1400" dirty="0"/>
              <a:t>, </a:t>
            </a:r>
            <a:r>
              <a:rPr lang="ko-KR" altLang="en-US" sz="1400" dirty="0">
                <a:highlight>
                  <a:srgbClr val="FFFF00"/>
                </a:highlight>
              </a:rPr>
              <a:t>이미 출원한 사건의 특허에 관한 절차 또한 포괄위임의 대상이 되고</a:t>
            </a:r>
            <a:r>
              <a:rPr lang="en-US" altLang="ko-KR" sz="1400" dirty="0">
                <a:highlight>
                  <a:srgbClr val="FFFF00"/>
                </a:highlight>
              </a:rPr>
              <a:t>, </a:t>
            </a:r>
            <a:r>
              <a:rPr lang="ko-KR" altLang="en-US" sz="1400" dirty="0">
                <a:highlight>
                  <a:srgbClr val="FFFF00"/>
                </a:highlight>
              </a:rPr>
              <a:t>포괄위임등록 신청을 위해 대리권을 증명하는 서류인 포괄위임장을 지식재산처장에게 제출한 이상 포괄위임 대상 사건에 관한 대리권의 서면 증명은 이루어졌다고 볼 수 있다</a:t>
            </a:r>
            <a:r>
              <a:rPr lang="en-US" altLang="ko-KR" sz="1400" dirty="0">
                <a:highlight>
                  <a:srgbClr val="FFFF00"/>
                </a:highlight>
              </a:rPr>
              <a:t>.</a:t>
            </a:r>
            <a:endParaRPr lang="ko-KR" altLang="en-US" sz="1400" dirty="0">
              <a:highlight>
                <a:srgbClr val="FFFF00"/>
              </a:highlight>
            </a:endParaRPr>
          </a:p>
        </p:txBody>
      </p:sp>
      <p:sp>
        <p:nvSpPr>
          <p:cNvPr id="29" name="Line 5">
            <a:extLst>
              <a:ext uri="{FF2B5EF4-FFF2-40B4-BE49-F238E27FC236}">
                <a16:creationId xmlns:a16="http://schemas.microsoft.com/office/drawing/2014/main" id="{4EC6B141-57CF-4BE7-BAFC-E25DF3C29A40}"/>
              </a:ext>
            </a:extLst>
          </p:cNvPr>
          <p:cNvSpPr>
            <a:spLocks noChangeShapeType="1"/>
          </p:cNvSpPr>
          <p:nvPr/>
        </p:nvSpPr>
        <p:spPr bwMode="auto">
          <a:xfrm>
            <a:off x="514351" y="5666242"/>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30" name="TextBox 29">
            <a:extLst>
              <a:ext uri="{FF2B5EF4-FFF2-40B4-BE49-F238E27FC236}">
                <a16:creationId xmlns:a16="http://schemas.microsoft.com/office/drawing/2014/main" id="{C6032B02-BA2B-4393-A3FE-A6E1F1049F5A}"/>
              </a:ext>
            </a:extLst>
          </p:cNvPr>
          <p:cNvSpPr txBox="1"/>
          <p:nvPr/>
        </p:nvSpPr>
        <p:spPr>
          <a:xfrm>
            <a:off x="1128181" y="5922417"/>
            <a:ext cx="1530330"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특허출원</a:t>
            </a:r>
          </a:p>
        </p:txBody>
      </p:sp>
      <p:sp>
        <p:nvSpPr>
          <p:cNvPr id="31" name="타원 30">
            <a:extLst>
              <a:ext uri="{FF2B5EF4-FFF2-40B4-BE49-F238E27FC236}">
                <a16:creationId xmlns:a16="http://schemas.microsoft.com/office/drawing/2014/main" id="{E81EA802-6204-4FB7-A721-FB293DA14771}"/>
              </a:ext>
            </a:extLst>
          </p:cNvPr>
          <p:cNvSpPr/>
          <p:nvPr/>
        </p:nvSpPr>
        <p:spPr>
          <a:xfrm>
            <a:off x="1815976" y="557230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2" name="직선 연결선 31">
            <a:extLst>
              <a:ext uri="{FF2B5EF4-FFF2-40B4-BE49-F238E27FC236}">
                <a16:creationId xmlns:a16="http://schemas.microsoft.com/office/drawing/2014/main" id="{4D3C8193-318D-4E35-8E3D-8971F6F63725}"/>
              </a:ext>
            </a:extLst>
          </p:cNvPr>
          <p:cNvCxnSpPr>
            <a:cxnSpLocks/>
            <a:stCxn id="30" idx="0"/>
            <a:endCxn id="31" idx="4"/>
          </p:cNvCxnSpPr>
          <p:nvPr/>
        </p:nvCxnSpPr>
        <p:spPr>
          <a:xfrm flipH="1" flipV="1">
            <a:off x="1893345" y="573364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타원 35">
            <a:extLst>
              <a:ext uri="{FF2B5EF4-FFF2-40B4-BE49-F238E27FC236}">
                <a16:creationId xmlns:a16="http://schemas.microsoft.com/office/drawing/2014/main" id="{61FA690A-3567-4F5B-BA63-D5378CFD7747}"/>
              </a:ext>
            </a:extLst>
          </p:cNvPr>
          <p:cNvSpPr/>
          <p:nvPr/>
        </p:nvSpPr>
        <p:spPr>
          <a:xfrm>
            <a:off x="3608956" y="557230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9" name="TextBox 38">
            <a:extLst>
              <a:ext uri="{FF2B5EF4-FFF2-40B4-BE49-F238E27FC236}">
                <a16:creationId xmlns:a16="http://schemas.microsoft.com/office/drawing/2014/main" id="{E9793547-3DD0-4926-AB7B-543087E7D649}"/>
              </a:ext>
            </a:extLst>
          </p:cNvPr>
          <p:cNvSpPr txBox="1"/>
          <p:nvPr/>
        </p:nvSpPr>
        <p:spPr>
          <a:xfrm>
            <a:off x="1128182" y="6314549"/>
            <a:ext cx="1530326"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위임장 </a:t>
            </a:r>
            <a:r>
              <a:rPr lang="ko-KR" altLang="en-US" sz="1200" dirty="0" err="1">
                <a:solidFill>
                  <a:schemeClr val="tx1"/>
                </a:solidFill>
                <a:latin typeface="+mn-ea"/>
              </a:rPr>
              <a:t>미첨부</a:t>
            </a:r>
            <a:endParaRPr lang="ko-KR" altLang="en-US" sz="1200" dirty="0">
              <a:solidFill>
                <a:schemeClr val="tx1"/>
              </a:solidFill>
              <a:latin typeface="+mn-ea"/>
            </a:endParaRPr>
          </a:p>
        </p:txBody>
      </p:sp>
      <p:sp>
        <p:nvSpPr>
          <p:cNvPr id="42" name="TextBox 41">
            <a:extLst>
              <a:ext uri="{FF2B5EF4-FFF2-40B4-BE49-F238E27FC236}">
                <a16:creationId xmlns:a16="http://schemas.microsoft.com/office/drawing/2014/main" id="{6C2C8375-44A4-4CBD-BCC9-37DE4690DDB4}"/>
              </a:ext>
            </a:extLst>
          </p:cNvPr>
          <p:cNvSpPr txBox="1"/>
          <p:nvPr/>
        </p:nvSpPr>
        <p:spPr>
          <a:xfrm>
            <a:off x="2709847" y="5057931"/>
            <a:ext cx="1957842"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이 사건 보정요구</a:t>
            </a:r>
            <a:r>
              <a:rPr lang="en-US" altLang="ko-KR" sz="1200" dirty="0">
                <a:solidFill>
                  <a:schemeClr val="tx1"/>
                </a:solidFill>
                <a:latin typeface="+mn-ea"/>
              </a:rPr>
              <a:t>(</a:t>
            </a:r>
            <a:r>
              <a:rPr lang="ko-KR" altLang="en-US" sz="1200" dirty="0">
                <a:solidFill>
                  <a:schemeClr val="tx1"/>
                </a:solidFill>
                <a:latin typeface="+mn-ea"/>
              </a:rPr>
              <a:t>보정명령</a:t>
            </a:r>
            <a:r>
              <a:rPr lang="en-US" altLang="ko-KR" sz="1200" dirty="0">
                <a:solidFill>
                  <a:schemeClr val="tx1"/>
                </a:solidFill>
                <a:latin typeface="+mn-ea"/>
              </a:rPr>
              <a:t>)</a:t>
            </a:r>
            <a:endParaRPr lang="ko-KR" altLang="en-US" sz="1200" dirty="0">
              <a:solidFill>
                <a:schemeClr val="tx1"/>
              </a:solidFill>
              <a:latin typeface="+mn-ea"/>
            </a:endParaRPr>
          </a:p>
        </p:txBody>
      </p:sp>
      <p:sp>
        <p:nvSpPr>
          <p:cNvPr id="63" name="사각형: 둥근 모서리 62">
            <a:extLst>
              <a:ext uri="{FF2B5EF4-FFF2-40B4-BE49-F238E27FC236}">
                <a16:creationId xmlns:a16="http://schemas.microsoft.com/office/drawing/2014/main" id="{8791DCA3-ACAE-445C-B9DE-3EF92B7600B8}"/>
              </a:ext>
            </a:extLst>
          </p:cNvPr>
          <p:cNvSpPr/>
          <p:nvPr/>
        </p:nvSpPr>
        <p:spPr>
          <a:xfrm>
            <a:off x="113937" y="1076839"/>
            <a:ext cx="6712268" cy="346234"/>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r>
              <a:rPr lang="ko-KR" altLang="en-US" sz="1600" dirty="0"/>
              <a:t>대법원 </a:t>
            </a:r>
            <a:r>
              <a:rPr lang="en-US" altLang="ko-KR" sz="1600" dirty="0"/>
              <a:t>2023. 7. 13. </a:t>
            </a:r>
            <a:r>
              <a:rPr lang="ko-KR" altLang="en-US" sz="1600" dirty="0"/>
              <a:t>선고 </a:t>
            </a:r>
            <a:r>
              <a:rPr lang="en-US" altLang="ko-KR" sz="1600" dirty="0"/>
              <a:t>2021</a:t>
            </a:r>
            <a:r>
              <a:rPr lang="ko-KR" altLang="en-US" sz="1600" dirty="0"/>
              <a:t>두</a:t>
            </a:r>
            <a:r>
              <a:rPr lang="en-US" altLang="ko-KR" sz="1600" dirty="0"/>
              <a:t>63099 </a:t>
            </a:r>
            <a:r>
              <a:rPr lang="ko-KR" altLang="en-US" sz="1600" dirty="0"/>
              <a:t>판결 </a:t>
            </a:r>
            <a:r>
              <a:rPr lang="en-US" altLang="ko-KR" sz="1600" dirty="0"/>
              <a:t>【</a:t>
            </a:r>
            <a:r>
              <a:rPr lang="ko-KR" altLang="en-US" sz="1600" dirty="0"/>
              <a:t>특허출원 무효처분 취소</a:t>
            </a:r>
            <a:r>
              <a:rPr lang="en-US" altLang="ko-KR" sz="1600" dirty="0"/>
              <a:t>】	</a:t>
            </a:r>
            <a:endParaRPr lang="ko-KR" altLang="en-US" sz="1600" dirty="0"/>
          </a:p>
        </p:txBody>
      </p:sp>
      <p:cxnSp>
        <p:nvCxnSpPr>
          <p:cNvPr id="67" name="직선 연결선 66">
            <a:extLst>
              <a:ext uri="{FF2B5EF4-FFF2-40B4-BE49-F238E27FC236}">
                <a16:creationId xmlns:a16="http://schemas.microsoft.com/office/drawing/2014/main" id="{1295681E-E68B-437F-8E1E-D499F5F4351F}"/>
              </a:ext>
            </a:extLst>
          </p:cNvPr>
          <p:cNvCxnSpPr/>
          <p:nvPr/>
        </p:nvCxnSpPr>
        <p:spPr>
          <a:xfrm>
            <a:off x="0" y="4197996"/>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EEF3E2EB-FA1C-0BAF-DF6F-8A0F24F31DC7}"/>
              </a:ext>
            </a:extLst>
          </p:cNvPr>
          <p:cNvSpPr txBox="1"/>
          <p:nvPr/>
        </p:nvSpPr>
        <p:spPr>
          <a:xfrm>
            <a:off x="1461699" y="5336744"/>
            <a:ext cx="849913" cy="261610"/>
          </a:xfrm>
          <a:prstGeom prst="rect">
            <a:avLst/>
          </a:prstGeom>
          <a:noFill/>
        </p:spPr>
        <p:txBody>
          <a:bodyPr wrap="none" rtlCol="0">
            <a:spAutoFit/>
          </a:bodyPr>
          <a:lstStyle/>
          <a:p>
            <a:r>
              <a:rPr lang="en-US" altLang="ko-KR" sz="1100" dirty="0"/>
              <a:t>2018.7.18.</a:t>
            </a:r>
            <a:endParaRPr lang="ko-KR" altLang="en-US" sz="1100" dirty="0"/>
          </a:p>
        </p:txBody>
      </p:sp>
      <p:cxnSp>
        <p:nvCxnSpPr>
          <p:cNvPr id="13" name="직선 연결선 12">
            <a:extLst>
              <a:ext uri="{FF2B5EF4-FFF2-40B4-BE49-F238E27FC236}">
                <a16:creationId xmlns:a16="http://schemas.microsoft.com/office/drawing/2014/main" id="{89A00CCC-A313-7487-0C9D-952971623D58}"/>
              </a:ext>
            </a:extLst>
          </p:cNvPr>
          <p:cNvCxnSpPr>
            <a:cxnSpLocks/>
            <a:stCxn id="39" idx="0"/>
            <a:endCxn id="30" idx="2"/>
          </p:cNvCxnSpPr>
          <p:nvPr/>
        </p:nvCxnSpPr>
        <p:spPr>
          <a:xfrm flipV="1">
            <a:off x="1893345" y="6199416"/>
            <a:ext cx="1" cy="115133"/>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B5C01AE5-C80A-F2B6-0179-2D79EAE4FA12}"/>
              </a:ext>
            </a:extLst>
          </p:cNvPr>
          <p:cNvSpPr txBox="1"/>
          <p:nvPr/>
        </p:nvSpPr>
        <p:spPr>
          <a:xfrm>
            <a:off x="3302689" y="5751679"/>
            <a:ext cx="771365" cy="261610"/>
          </a:xfrm>
          <a:prstGeom prst="rect">
            <a:avLst/>
          </a:prstGeom>
          <a:noFill/>
        </p:spPr>
        <p:txBody>
          <a:bodyPr wrap="none" rtlCol="0">
            <a:spAutoFit/>
          </a:bodyPr>
          <a:lstStyle/>
          <a:p>
            <a:r>
              <a:rPr lang="en-US" altLang="ko-KR" sz="1100" dirty="0"/>
              <a:t>2018.8.1.</a:t>
            </a:r>
            <a:endParaRPr lang="ko-KR" altLang="en-US" sz="1100" dirty="0"/>
          </a:p>
        </p:txBody>
      </p:sp>
      <p:cxnSp>
        <p:nvCxnSpPr>
          <p:cNvPr id="16" name="직선 연결선 15">
            <a:extLst>
              <a:ext uri="{FF2B5EF4-FFF2-40B4-BE49-F238E27FC236}">
                <a16:creationId xmlns:a16="http://schemas.microsoft.com/office/drawing/2014/main" id="{AE5E74A1-2F52-E90E-593C-318AFEB488CA}"/>
              </a:ext>
            </a:extLst>
          </p:cNvPr>
          <p:cNvCxnSpPr>
            <a:cxnSpLocks/>
            <a:stCxn id="42" idx="2"/>
            <a:endCxn id="36" idx="0"/>
          </p:cNvCxnSpPr>
          <p:nvPr/>
        </p:nvCxnSpPr>
        <p:spPr>
          <a:xfrm flipH="1">
            <a:off x="3686325" y="5334930"/>
            <a:ext cx="2443" cy="23737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247FF57F-63DF-4925-09D8-27C7D6B1CF7D}"/>
              </a:ext>
            </a:extLst>
          </p:cNvPr>
          <p:cNvSpPr txBox="1"/>
          <p:nvPr/>
        </p:nvSpPr>
        <p:spPr>
          <a:xfrm>
            <a:off x="1897783" y="4308166"/>
            <a:ext cx="4016564" cy="646331"/>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t>제출 서류에 출원인의 위임장이 첨부되지 않았으니 특허법 제</a:t>
            </a:r>
            <a:r>
              <a:rPr lang="en-US" altLang="ko-KR" sz="1200" dirty="0"/>
              <a:t>46</a:t>
            </a:r>
            <a:r>
              <a:rPr lang="ko-KR" altLang="en-US" sz="1200" dirty="0"/>
              <a:t>조에 근거하여 </a:t>
            </a:r>
            <a:r>
              <a:rPr lang="ko-KR" altLang="en-US" sz="1200" dirty="0" err="1"/>
              <a:t>제출기일인</a:t>
            </a:r>
            <a:r>
              <a:rPr lang="ko-KR" altLang="en-US" sz="1200" dirty="0"/>
              <a:t> </a:t>
            </a:r>
            <a:r>
              <a:rPr lang="en-US" altLang="ko-KR" sz="1200" dirty="0"/>
              <a:t>2018. 10. 1.</a:t>
            </a:r>
            <a:r>
              <a:rPr lang="ko-KR" altLang="en-US" sz="1200" dirty="0"/>
              <a:t>까지 특허법 시행규칙 별지 제</a:t>
            </a:r>
            <a:r>
              <a:rPr lang="en-US" altLang="ko-KR" sz="1200" dirty="0"/>
              <a:t>9</a:t>
            </a:r>
            <a:r>
              <a:rPr lang="ko-KR" altLang="en-US" sz="1200" dirty="0"/>
              <a:t>호 서식에 따른 보정서를 제출하기 바란다</a:t>
            </a:r>
            <a:r>
              <a:rPr lang="en-US" altLang="ko-KR" sz="1200" dirty="0"/>
              <a:t>.</a:t>
            </a:r>
            <a:endParaRPr lang="ko-KR" altLang="en-US" sz="1200" dirty="0">
              <a:solidFill>
                <a:schemeClr val="tx1"/>
              </a:solidFill>
              <a:latin typeface="+mn-ea"/>
            </a:endParaRPr>
          </a:p>
        </p:txBody>
      </p:sp>
      <p:cxnSp>
        <p:nvCxnSpPr>
          <p:cNvPr id="25" name="연결선: 꺾임 24">
            <a:extLst>
              <a:ext uri="{FF2B5EF4-FFF2-40B4-BE49-F238E27FC236}">
                <a16:creationId xmlns:a16="http://schemas.microsoft.com/office/drawing/2014/main" id="{984F6C15-7612-1914-8385-B386A204AB97}"/>
              </a:ext>
            </a:extLst>
          </p:cNvPr>
          <p:cNvCxnSpPr>
            <a:stCxn id="21" idx="2"/>
            <a:endCxn id="42" idx="0"/>
          </p:cNvCxnSpPr>
          <p:nvPr/>
        </p:nvCxnSpPr>
        <p:spPr>
          <a:xfrm rot="5400000">
            <a:off x="3745700" y="4897566"/>
            <a:ext cx="103434" cy="21729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69F8C5CA-F04C-6373-BA42-E57CC107C9C4}"/>
              </a:ext>
            </a:extLst>
          </p:cNvPr>
          <p:cNvSpPr txBox="1"/>
          <p:nvPr/>
        </p:nvSpPr>
        <p:spPr>
          <a:xfrm>
            <a:off x="5016354" y="5922417"/>
            <a:ext cx="2116564"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포괄위임장 제출 및 등록신청</a:t>
            </a:r>
          </a:p>
        </p:txBody>
      </p:sp>
      <p:sp>
        <p:nvSpPr>
          <p:cNvPr id="51" name="타원 50">
            <a:extLst>
              <a:ext uri="{FF2B5EF4-FFF2-40B4-BE49-F238E27FC236}">
                <a16:creationId xmlns:a16="http://schemas.microsoft.com/office/drawing/2014/main" id="{47392C89-A9EF-1484-6F13-B479105A3605}"/>
              </a:ext>
            </a:extLst>
          </p:cNvPr>
          <p:cNvSpPr/>
          <p:nvPr/>
        </p:nvSpPr>
        <p:spPr>
          <a:xfrm>
            <a:off x="5997266" y="557230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2" name="직선 연결선 51">
            <a:extLst>
              <a:ext uri="{FF2B5EF4-FFF2-40B4-BE49-F238E27FC236}">
                <a16:creationId xmlns:a16="http://schemas.microsoft.com/office/drawing/2014/main" id="{07274A4E-95AD-87A8-13B6-41C208AE6578}"/>
              </a:ext>
            </a:extLst>
          </p:cNvPr>
          <p:cNvCxnSpPr>
            <a:cxnSpLocks/>
            <a:stCxn id="49" idx="0"/>
            <a:endCxn id="51" idx="4"/>
          </p:cNvCxnSpPr>
          <p:nvPr/>
        </p:nvCxnSpPr>
        <p:spPr>
          <a:xfrm flipH="1" flipV="1">
            <a:off x="6074635" y="573364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54B35E7F-D0AA-DD49-9F23-540E12626FDB}"/>
              </a:ext>
            </a:extLst>
          </p:cNvPr>
          <p:cNvSpPr txBox="1"/>
          <p:nvPr/>
        </p:nvSpPr>
        <p:spPr>
          <a:xfrm>
            <a:off x="4620502" y="6314549"/>
            <a:ext cx="2908266"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t>원고가 원고 대리인에게 한국의 특허출원에 관한 모든 절차 등을 위임한다</a:t>
            </a:r>
            <a:r>
              <a:rPr lang="en-US" altLang="ko-KR" sz="1200" dirty="0"/>
              <a:t>.</a:t>
            </a:r>
            <a:endParaRPr lang="ko-KR" altLang="en-US" sz="1200" dirty="0">
              <a:solidFill>
                <a:schemeClr val="tx1"/>
              </a:solidFill>
              <a:latin typeface="+mn-ea"/>
            </a:endParaRPr>
          </a:p>
        </p:txBody>
      </p:sp>
      <p:cxnSp>
        <p:nvCxnSpPr>
          <p:cNvPr id="55" name="직선 연결선 54">
            <a:extLst>
              <a:ext uri="{FF2B5EF4-FFF2-40B4-BE49-F238E27FC236}">
                <a16:creationId xmlns:a16="http://schemas.microsoft.com/office/drawing/2014/main" id="{AE247A50-0A77-93FA-D778-D08C19B7C600}"/>
              </a:ext>
            </a:extLst>
          </p:cNvPr>
          <p:cNvCxnSpPr>
            <a:cxnSpLocks/>
            <a:stCxn id="53" idx="0"/>
            <a:endCxn id="49" idx="2"/>
          </p:cNvCxnSpPr>
          <p:nvPr/>
        </p:nvCxnSpPr>
        <p:spPr>
          <a:xfrm flipV="1">
            <a:off x="6074635" y="6199416"/>
            <a:ext cx="1" cy="115133"/>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3" name="타원 82">
            <a:extLst>
              <a:ext uri="{FF2B5EF4-FFF2-40B4-BE49-F238E27FC236}">
                <a16:creationId xmlns:a16="http://schemas.microsoft.com/office/drawing/2014/main" id="{4BA5008F-D355-8376-DCB9-47D6017867BD}"/>
              </a:ext>
            </a:extLst>
          </p:cNvPr>
          <p:cNvSpPr/>
          <p:nvPr/>
        </p:nvSpPr>
        <p:spPr>
          <a:xfrm>
            <a:off x="7504018" y="557230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84" name="TextBox 83">
            <a:extLst>
              <a:ext uri="{FF2B5EF4-FFF2-40B4-BE49-F238E27FC236}">
                <a16:creationId xmlns:a16="http://schemas.microsoft.com/office/drawing/2014/main" id="{6A7767A0-EFFB-F163-D429-F4BC2D45464B}"/>
              </a:ext>
            </a:extLst>
          </p:cNvPr>
          <p:cNvSpPr txBox="1"/>
          <p:nvPr/>
        </p:nvSpPr>
        <p:spPr>
          <a:xfrm>
            <a:off x="6604909" y="5057931"/>
            <a:ext cx="1957842"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포괄위임등록번호 부여</a:t>
            </a:r>
          </a:p>
        </p:txBody>
      </p:sp>
      <p:sp>
        <p:nvSpPr>
          <p:cNvPr id="85" name="TextBox 84">
            <a:extLst>
              <a:ext uri="{FF2B5EF4-FFF2-40B4-BE49-F238E27FC236}">
                <a16:creationId xmlns:a16="http://schemas.microsoft.com/office/drawing/2014/main" id="{CAFB938E-2638-C269-34BC-3D14F67D1919}"/>
              </a:ext>
            </a:extLst>
          </p:cNvPr>
          <p:cNvSpPr txBox="1"/>
          <p:nvPr/>
        </p:nvSpPr>
        <p:spPr>
          <a:xfrm>
            <a:off x="7197751" y="5751679"/>
            <a:ext cx="771365" cy="261610"/>
          </a:xfrm>
          <a:prstGeom prst="rect">
            <a:avLst/>
          </a:prstGeom>
          <a:noFill/>
        </p:spPr>
        <p:txBody>
          <a:bodyPr wrap="none" rtlCol="0">
            <a:spAutoFit/>
          </a:bodyPr>
          <a:lstStyle/>
          <a:p>
            <a:r>
              <a:rPr lang="en-US" altLang="ko-KR" sz="1100" dirty="0"/>
              <a:t>2018.8.7.</a:t>
            </a:r>
            <a:endParaRPr lang="ko-KR" altLang="en-US" sz="1100" dirty="0"/>
          </a:p>
        </p:txBody>
      </p:sp>
      <p:cxnSp>
        <p:nvCxnSpPr>
          <p:cNvPr id="86" name="직선 연결선 85">
            <a:extLst>
              <a:ext uri="{FF2B5EF4-FFF2-40B4-BE49-F238E27FC236}">
                <a16:creationId xmlns:a16="http://schemas.microsoft.com/office/drawing/2014/main" id="{C75EDA5B-FE33-4C72-C7C3-85FC58728444}"/>
              </a:ext>
            </a:extLst>
          </p:cNvPr>
          <p:cNvCxnSpPr>
            <a:cxnSpLocks/>
            <a:stCxn id="84" idx="2"/>
            <a:endCxn id="83" idx="0"/>
          </p:cNvCxnSpPr>
          <p:nvPr/>
        </p:nvCxnSpPr>
        <p:spPr>
          <a:xfrm flipH="1">
            <a:off x="7581387" y="5334930"/>
            <a:ext cx="2443" cy="23737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9" name="타원 88">
            <a:extLst>
              <a:ext uri="{FF2B5EF4-FFF2-40B4-BE49-F238E27FC236}">
                <a16:creationId xmlns:a16="http://schemas.microsoft.com/office/drawing/2014/main" id="{14D8C24D-BDB4-C83C-A2AC-5C8C115B83B0}"/>
              </a:ext>
            </a:extLst>
          </p:cNvPr>
          <p:cNvSpPr/>
          <p:nvPr/>
        </p:nvSpPr>
        <p:spPr>
          <a:xfrm>
            <a:off x="9865781" y="557230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90" name="TextBox 89">
            <a:extLst>
              <a:ext uri="{FF2B5EF4-FFF2-40B4-BE49-F238E27FC236}">
                <a16:creationId xmlns:a16="http://schemas.microsoft.com/office/drawing/2014/main" id="{0DE52AB0-5CCA-D336-FF06-D622D542911D}"/>
              </a:ext>
            </a:extLst>
          </p:cNvPr>
          <p:cNvSpPr txBox="1"/>
          <p:nvPr/>
        </p:nvSpPr>
        <p:spPr>
          <a:xfrm>
            <a:off x="8966672" y="5057931"/>
            <a:ext cx="1957842"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무효처분서 통지</a:t>
            </a:r>
          </a:p>
        </p:txBody>
      </p:sp>
      <p:sp>
        <p:nvSpPr>
          <p:cNvPr id="91" name="TextBox 90">
            <a:extLst>
              <a:ext uri="{FF2B5EF4-FFF2-40B4-BE49-F238E27FC236}">
                <a16:creationId xmlns:a16="http://schemas.microsoft.com/office/drawing/2014/main" id="{55B3D5BA-6BFF-4352-F28A-B593ABBC909A}"/>
              </a:ext>
            </a:extLst>
          </p:cNvPr>
          <p:cNvSpPr txBox="1"/>
          <p:nvPr/>
        </p:nvSpPr>
        <p:spPr>
          <a:xfrm>
            <a:off x="9559514" y="5751679"/>
            <a:ext cx="888385" cy="261610"/>
          </a:xfrm>
          <a:prstGeom prst="rect">
            <a:avLst/>
          </a:prstGeom>
          <a:noFill/>
        </p:spPr>
        <p:txBody>
          <a:bodyPr wrap="none" rtlCol="0">
            <a:spAutoFit/>
          </a:bodyPr>
          <a:lstStyle/>
          <a:p>
            <a:r>
              <a:rPr lang="en-US" altLang="ko-KR" sz="1100" dirty="0"/>
              <a:t>2019. 2.27.</a:t>
            </a:r>
            <a:endParaRPr lang="ko-KR" altLang="en-US" sz="1100" dirty="0"/>
          </a:p>
        </p:txBody>
      </p:sp>
      <p:cxnSp>
        <p:nvCxnSpPr>
          <p:cNvPr id="92" name="직선 연결선 91">
            <a:extLst>
              <a:ext uri="{FF2B5EF4-FFF2-40B4-BE49-F238E27FC236}">
                <a16:creationId xmlns:a16="http://schemas.microsoft.com/office/drawing/2014/main" id="{1119CD56-D987-2BC5-2C44-AC3B16A4E354}"/>
              </a:ext>
            </a:extLst>
          </p:cNvPr>
          <p:cNvCxnSpPr>
            <a:cxnSpLocks/>
            <a:stCxn id="90" idx="2"/>
            <a:endCxn id="89" idx="0"/>
          </p:cNvCxnSpPr>
          <p:nvPr/>
        </p:nvCxnSpPr>
        <p:spPr>
          <a:xfrm flipH="1">
            <a:off x="9943150" y="5334930"/>
            <a:ext cx="2443" cy="23737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TextBox 92">
            <a:extLst>
              <a:ext uri="{FF2B5EF4-FFF2-40B4-BE49-F238E27FC236}">
                <a16:creationId xmlns:a16="http://schemas.microsoft.com/office/drawing/2014/main" id="{597C8F2E-5411-E12B-9AC4-94A62205E61E}"/>
              </a:ext>
            </a:extLst>
          </p:cNvPr>
          <p:cNvSpPr txBox="1"/>
          <p:nvPr/>
        </p:nvSpPr>
        <p:spPr>
          <a:xfrm>
            <a:off x="7851567" y="4308166"/>
            <a:ext cx="4016564" cy="646331"/>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t>위임장 미제출로 보정요구를 하였으나</a:t>
            </a:r>
            <a:r>
              <a:rPr lang="en-US" altLang="ko-KR" sz="1200" dirty="0"/>
              <a:t>, </a:t>
            </a:r>
            <a:r>
              <a:rPr lang="ko-KR" altLang="en-US" sz="1200" dirty="0"/>
              <a:t>지정된 기간 내에 보정을 하지 않아</a:t>
            </a:r>
            <a:r>
              <a:rPr lang="en-US" altLang="ko-KR" sz="1200" dirty="0"/>
              <a:t>, </a:t>
            </a:r>
            <a:r>
              <a:rPr lang="ko-KR" altLang="en-US" sz="1200" dirty="0"/>
              <a:t>특허법 제</a:t>
            </a:r>
            <a:r>
              <a:rPr lang="en-US" altLang="ko-KR" sz="1200" dirty="0"/>
              <a:t>16</a:t>
            </a:r>
            <a:r>
              <a:rPr lang="ko-KR" altLang="en-US" sz="1200" dirty="0"/>
              <a:t>조에 근거하여 이 사건 </a:t>
            </a:r>
            <a:r>
              <a:rPr lang="ko-KR" altLang="en-US" sz="1200"/>
              <a:t>특허출원을 무효로 </a:t>
            </a:r>
            <a:r>
              <a:rPr lang="ko-KR" altLang="en-US" sz="1200" dirty="0"/>
              <a:t>처리한다</a:t>
            </a:r>
            <a:r>
              <a:rPr lang="en-US" altLang="ko-KR" sz="1200" dirty="0"/>
              <a:t>.</a:t>
            </a:r>
            <a:endParaRPr lang="ko-KR" altLang="en-US" sz="1200" dirty="0">
              <a:solidFill>
                <a:schemeClr val="tx1"/>
              </a:solidFill>
              <a:latin typeface="+mn-ea"/>
            </a:endParaRPr>
          </a:p>
        </p:txBody>
      </p:sp>
      <p:cxnSp>
        <p:nvCxnSpPr>
          <p:cNvPr id="94" name="연결선: 꺾임 93">
            <a:extLst>
              <a:ext uri="{FF2B5EF4-FFF2-40B4-BE49-F238E27FC236}">
                <a16:creationId xmlns:a16="http://schemas.microsoft.com/office/drawing/2014/main" id="{545D898A-13A0-BDFF-A385-B2624CFFA280}"/>
              </a:ext>
            </a:extLst>
          </p:cNvPr>
          <p:cNvCxnSpPr>
            <a:cxnSpLocks/>
            <a:stCxn id="93" idx="2"/>
            <a:endCxn id="90" idx="0"/>
          </p:cNvCxnSpPr>
          <p:nvPr/>
        </p:nvCxnSpPr>
        <p:spPr>
          <a:xfrm rot="16200000" flipH="1">
            <a:off x="9851004" y="4963342"/>
            <a:ext cx="103434" cy="8574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사각형: 둥근 모서리 95">
            <a:extLst>
              <a:ext uri="{FF2B5EF4-FFF2-40B4-BE49-F238E27FC236}">
                <a16:creationId xmlns:a16="http://schemas.microsoft.com/office/drawing/2014/main" id="{391097EC-5680-E1A6-20E2-53C20904EF85}"/>
              </a:ext>
            </a:extLst>
          </p:cNvPr>
          <p:cNvSpPr/>
          <p:nvPr/>
        </p:nvSpPr>
        <p:spPr>
          <a:xfrm>
            <a:off x="185881" y="5781161"/>
            <a:ext cx="621809" cy="609468"/>
          </a:xfrm>
          <a:prstGeom prst="roundRect">
            <a:avLst/>
          </a:prstGeom>
          <a:solidFill>
            <a:schemeClr val="tx2">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200" dirty="0"/>
              <a:t>원고</a:t>
            </a:r>
            <a:endParaRPr lang="en-US" altLang="ko-KR" sz="1200" dirty="0"/>
          </a:p>
          <a:p>
            <a:pPr algn="ctr"/>
            <a:r>
              <a:rPr lang="ko-KR" altLang="en-US" sz="1200" dirty="0"/>
              <a:t>대리인</a:t>
            </a:r>
          </a:p>
        </p:txBody>
      </p:sp>
      <p:sp>
        <p:nvSpPr>
          <p:cNvPr id="97" name="사각형: 둥근 모서리 96">
            <a:extLst>
              <a:ext uri="{FF2B5EF4-FFF2-40B4-BE49-F238E27FC236}">
                <a16:creationId xmlns:a16="http://schemas.microsoft.com/office/drawing/2014/main" id="{44E6520C-FA2C-7EEA-FDFF-BBD0057CEE95}"/>
              </a:ext>
            </a:extLst>
          </p:cNvPr>
          <p:cNvSpPr/>
          <p:nvPr/>
        </p:nvSpPr>
        <p:spPr>
          <a:xfrm>
            <a:off x="185881" y="4933572"/>
            <a:ext cx="621809" cy="609468"/>
          </a:xfrm>
          <a:prstGeom prst="roundRect">
            <a:avLst/>
          </a:prstGeom>
          <a:solidFill>
            <a:schemeClr val="accent2">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200" dirty="0"/>
              <a:t>특허</a:t>
            </a:r>
            <a:endParaRPr lang="en-US" altLang="ko-KR" sz="1200" dirty="0"/>
          </a:p>
          <a:p>
            <a:pPr algn="ctr"/>
            <a:r>
              <a:rPr lang="ko-KR" altLang="en-US" sz="1200" dirty="0"/>
              <a:t>청장</a:t>
            </a:r>
          </a:p>
        </p:txBody>
      </p:sp>
      <p:sp>
        <p:nvSpPr>
          <p:cNvPr id="7" name="TextBox 6">
            <a:extLst>
              <a:ext uri="{FF2B5EF4-FFF2-40B4-BE49-F238E27FC236}">
                <a16:creationId xmlns:a16="http://schemas.microsoft.com/office/drawing/2014/main" id="{89EA92C3-2E1E-B24D-4E3F-8921D901C56E}"/>
              </a:ext>
            </a:extLst>
          </p:cNvPr>
          <p:cNvSpPr txBox="1"/>
          <p:nvPr/>
        </p:nvSpPr>
        <p:spPr>
          <a:xfrm>
            <a:off x="7780134" y="6213212"/>
            <a:ext cx="2116564" cy="276999"/>
          </a:xfrm>
          <a:prstGeom prst="rect">
            <a:avLst/>
          </a:prstGeom>
          <a:solidFill>
            <a:schemeClr val="accent6">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bg1"/>
                </a:solidFill>
                <a:latin typeface="+mn-ea"/>
              </a:rPr>
              <a:t>포괄위임등록번호 기재 보정</a:t>
            </a:r>
            <a:r>
              <a:rPr lang="en-US" altLang="ko-KR" sz="1200" dirty="0">
                <a:solidFill>
                  <a:schemeClr val="bg1"/>
                </a:solidFill>
                <a:latin typeface="+mn-ea"/>
              </a:rPr>
              <a:t>X</a:t>
            </a:r>
            <a:endParaRPr lang="ko-KR" altLang="en-US" sz="1200" dirty="0">
              <a:solidFill>
                <a:schemeClr val="bg1"/>
              </a:solidFill>
              <a:latin typeface="+mn-ea"/>
            </a:endParaRPr>
          </a:p>
        </p:txBody>
      </p:sp>
      <p:sp>
        <p:nvSpPr>
          <p:cNvPr id="8" name="타원 7">
            <a:extLst>
              <a:ext uri="{FF2B5EF4-FFF2-40B4-BE49-F238E27FC236}">
                <a16:creationId xmlns:a16="http://schemas.microsoft.com/office/drawing/2014/main" id="{25BEB128-360A-F8C4-CE7A-F40B4CF4AC8D}"/>
              </a:ext>
            </a:extLst>
          </p:cNvPr>
          <p:cNvSpPr/>
          <p:nvPr/>
        </p:nvSpPr>
        <p:spPr>
          <a:xfrm>
            <a:off x="8761046" y="557230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 name="직선 연결선 8">
            <a:extLst>
              <a:ext uri="{FF2B5EF4-FFF2-40B4-BE49-F238E27FC236}">
                <a16:creationId xmlns:a16="http://schemas.microsoft.com/office/drawing/2014/main" id="{ED14C04F-0789-3E69-C1C3-304AC01DCB4F}"/>
              </a:ext>
            </a:extLst>
          </p:cNvPr>
          <p:cNvCxnSpPr>
            <a:cxnSpLocks/>
            <a:stCxn id="7" idx="0"/>
            <a:endCxn id="8" idx="4"/>
          </p:cNvCxnSpPr>
          <p:nvPr/>
        </p:nvCxnSpPr>
        <p:spPr>
          <a:xfrm flipH="1" flipV="1">
            <a:off x="8838415" y="5733646"/>
            <a:ext cx="1" cy="47956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644303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8</a:t>
            </a:r>
            <a:r>
              <a:rPr lang="ko-KR" altLang="en-US" dirty="0"/>
              <a:t>조</a:t>
            </a:r>
          </a:p>
        </p:txBody>
      </p:sp>
      <p:sp>
        <p:nvSpPr>
          <p:cNvPr id="4" name="텍스트 개체 틀 3"/>
          <p:cNvSpPr>
            <a:spLocks noGrp="1"/>
          </p:cNvSpPr>
          <p:nvPr>
            <p:ph type="body" sz="quarter" idx="13"/>
          </p:nvPr>
        </p:nvSpPr>
        <p:spPr/>
        <p:txBody>
          <a:bodyPr/>
          <a:lstStyle/>
          <a:p>
            <a:r>
              <a:rPr lang="ko-KR" altLang="en-US" dirty="0"/>
              <a:t>대리권의 </a:t>
            </a:r>
            <a:r>
              <a:rPr lang="ko-KR" altLang="en-US" dirty="0" err="1"/>
              <a:t>불소멸</a:t>
            </a:r>
            <a:endParaRPr lang="ko-KR" altLang="en-US" dirty="0"/>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33</a:t>
            </a:fld>
            <a:endParaRPr lang="ko-KR" altLang="en-US" dirty="0"/>
          </a:p>
        </p:txBody>
      </p:sp>
      <p:sp>
        <p:nvSpPr>
          <p:cNvPr id="5" name="모서리가 둥근 직사각형 4"/>
          <p:cNvSpPr/>
          <p:nvPr/>
        </p:nvSpPr>
        <p:spPr>
          <a:xfrm>
            <a:off x="1310142" y="2815014"/>
            <a:ext cx="922070" cy="690280"/>
          </a:xfrm>
          <a:prstGeom prst="roundRect">
            <a:avLst>
              <a:gd name="adj" fmla="val 29221"/>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50000"/>
                  </a:schemeClr>
                </a:solidFill>
              </a:rPr>
              <a:t>甲</a:t>
            </a:r>
            <a:endParaRPr lang="en-US" altLang="ko-KR" dirty="0">
              <a:solidFill>
                <a:schemeClr val="bg1">
                  <a:lumMod val="50000"/>
                </a:schemeClr>
              </a:solidFill>
            </a:endParaRPr>
          </a:p>
          <a:p>
            <a:pPr algn="ctr"/>
            <a:r>
              <a:rPr lang="en-US" altLang="ko-KR" sz="1100" dirty="0">
                <a:solidFill>
                  <a:schemeClr val="bg1">
                    <a:lumMod val="50000"/>
                  </a:schemeClr>
                </a:solidFill>
              </a:rPr>
              <a:t>(</a:t>
            </a:r>
            <a:r>
              <a:rPr lang="ko-KR" altLang="en-US" sz="1100" dirty="0">
                <a:solidFill>
                  <a:schemeClr val="bg1">
                    <a:lumMod val="50000"/>
                  </a:schemeClr>
                </a:solidFill>
              </a:rPr>
              <a:t>본인</a:t>
            </a:r>
            <a:r>
              <a:rPr lang="en-US" altLang="ko-KR" sz="1100" dirty="0">
                <a:solidFill>
                  <a:schemeClr val="bg1">
                    <a:lumMod val="50000"/>
                  </a:schemeClr>
                </a:solidFill>
              </a:rPr>
              <a:t>)</a:t>
            </a:r>
            <a:endParaRPr lang="ko-KR" altLang="en-US" sz="1100" dirty="0">
              <a:solidFill>
                <a:schemeClr val="bg1">
                  <a:lumMod val="50000"/>
                </a:schemeClr>
              </a:solidFill>
            </a:endParaRPr>
          </a:p>
        </p:txBody>
      </p:sp>
      <p:sp>
        <p:nvSpPr>
          <p:cNvPr id="38" name="모서리가 둥근 직사각형 37"/>
          <p:cNvSpPr/>
          <p:nvPr/>
        </p:nvSpPr>
        <p:spPr>
          <a:xfrm>
            <a:off x="1310142" y="4387536"/>
            <a:ext cx="922070" cy="690280"/>
          </a:xfrm>
          <a:prstGeom prst="roundRect">
            <a:avLst>
              <a:gd name="adj" fmla="val 26623"/>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solidFill>
                  <a:schemeClr val="bg1">
                    <a:lumMod val="50000"/>
                  </a:schemeClr>
                </a:solidFill>
              </a:rPr>
              <a:t>乙</a:t>
            </a:r>
            <a:endParaRPr lang="en-US" altLang="ko-KR" dirty="0">
              <a:solidFill>
                <a:schemeClr val="bg1">
                  <a:lumMod val="50000"/>
                </a:schemeClr>
              </a:solidFill>
            </a:endParaRPr>
          </a:p>
          <a:p>
            <a:pPr algn="ctr"/>
            <a:r>
              <a:rPr lang="en-US" altLang="ko-KR" sz="1100" dirty="0">
                <a:solidFill>
                  <a:schemeClr val="bg1">
                    <a:lumMod val="50000"/>
                  </a:schemeClr>
                </a:solidFill>
              </a:rPr>
              <a:t>(</a:t>
            </a:r>
            <a:r>
              <a:rPr lang="ko-KR" altLang="en-US" sz="1100" dirty="0">
                <a:solidFill>
                  <a:schemeClr val="bg1">
                    <a:lumMod val="50000"/>
                  </a:schemeClr>
                </a:solidFill>
              </a:rPr>
              <a:t>임의대리인</a:t>
            </a:r>
            <a:r>
              <a:rPr lang="en-US" altLang="ko-KR" sz="1100" dirty="0">
                <a:solidFill>
                  <a:schemeClr val="bg1">
                    <a:lumMod val="50000"/>
                  </a:schemeClr>
                </a:solidFill>
              </a:rPr>
              <a:t>)</a:t>
            </a:r>
            <a:endParaRPr lang="ko-KR" altLang="en-US" sz="1100" dirty="0">
              <a:solidFill>
                <a:schemeClr val="bg1">
                  <a:lumMod val="50000"/>
                </a:schemeClr>
              </a:solidFill>
            </a:endParaRPr>
          </a:p>
        </p:txBody>
      </p:sp>
      <p:cxnSp>
        <p:nvCxnSpPr>
          <p:cNvPr id="7" name="직선 화살표 연결선 6"/>
          <p:cNvCxnSpPr>
            <a:stCxn id="5" idx="2"/>
            <a:endCxn id="38" idx="0"/>
          </p:cNvCxnSpPr>
          <p:nvPr/>
        </p:nvCxnSpPr>
        <p:spPr>
          <a:xfrm>
            <a:off x="1771177" y="3505294"/>
            <a:ext cx="0" cy="882242"/>
          </a:xfrm>
          <a:prstGeom prst="straightConnector1">
            <a:avLst/>
          </a:prstGeom>
          <a:ln>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3" name="Rectangle 5"/>
          <p:cNvSpPr>
            <a:spLocks noChangeArrowheads="1"/>
          </p:cNvSpPr>
          <p:nvPr/>
        </p:nvSpPr>
        <p:spPr bwMode="auto">
          <a:xfrm>
            <a:off x="2026737" y="3772364"/>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1. </a:t>
            </a:r>
            <a:r>
              <a:rPr lang="ko-KR" altLang="en-US" sz="1000" b="0" dirty="0" err="1">
                <a:solidFill>
                  <a:schemeClr val="tx1"/>
                </a:solidFill>
                <a:latin typeface="+mj-ea"/>
                <a:ea typeface="+mj-ea"/>
              </a:rPr>
              <a:t>위임계약</a:t>
            </a:r>
            <a:r>
              <a:rPr lang="ko-KR" altLang="en-US" sz="1000" b="0" dirty="0">
                <a:solidFill>
                  <a:schemeClr val="tx1"/>
                </a:solidFill>
                <a:latin typeface="+mj-ea"/>
                <a:ea typeface="+mj-ea"/>
              </a:rPr>
              <a:t> 체결</a:t>
            </a:r>
          </a:p>
        </p:txBody>
      </p:sp>
      <p:sp>
        <p:nvSpPr>
          <p:cNvPr id="44" name="모서리가 둥근 직사각형 43"/>
          <p:cNvSpPr/>
          <p:nvPr/>
        </p:nvSpPr>
        <p:spPr>
          <a:xfrm>
            <a:off x="3563149" y="3697256"/>
            <a:ext cx="922070" cy="690280"/>
          </a:xfrm>
          <a:prstGeom prst="roundRect">
            <a:avLst>
              <a:gd name="adj" fmla="val 50000"/>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solidFill>
                  <a:schemeClr val="accent4">
                    <a:lumMod val="20000"/>
                    <a:lumOff val="80000"/>
                  </a:schemeClr>
                </a:solidFill>
              </a:rPr>
              <a:t>지식</a:t>
            </a:r>
            <a:endParaRPr lang="en-US" altLang="ko-KR" dirty="0">
              <a:solidFill>
                <a:schemeClr val="accent4">
                  <a:lumMod val="20000"/>
                  <a:lumOff val="80000"/>
                </a:schemeClr>
              </a:solidFill>
            </a:endParaRPr>
          </a:p>
          <a:p>
            <a:pPr algn="ctr"/>
            <a:r>
              <a:rPr lang="ko-KR" altLang="en-US" dirty="0" err="1">
                <a:solidFill>
                  <a:schemeClr val="accent4">
                    <a:lumMod val="20000"/>
                    <a:lumOff val="80000"/>
                  </a:schemeClr>
                </a:solidFill>
              </a:rPr>
              <a:t>재산처</a:t>
            </a:r>
            <a:endParaRPr lang="ko-KR" altLang="en-US" sz="1100" dirty="0">
              <a:solidFill>
                <a:schemeClr val="accent4">
                  <a:lumMod val="20000"/>
                  <a:lumOff val="80000"/>
                </a:schemeClr>
              </a:solidFill>
            </a:endParaRPr>
          </a:p>
        </p:txBody>
      </p:sp>
      <p:cxnSp>
        <p:nvCxnSpPr>
          <p:cNvPr id="12" name="직선 화살표 연결선 11"/>
          <p:cNvCxnSpPr>
            <a:stCxn id="38" idx="3"/>
            <a:endCxn id="44" idx="1"/>
          </p:cNvCxnSpPr>
          <p:nvPr/>
        </p:nvCxnSpPr>
        <p:spPr>
          <a:xfrm flipV="1">
            <a:off x="2232212" y="4042396"/>
            <a:ext cx="1330937" cy="69028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8" name="Rectangle 5"/>
          <p:cNvSpPr>
            <a:spLocks noChangeArrowheads="1"/>
          </p:cNvSpPr>
          <p:nvPr/>
        </p:nvSpPr>
        <p:spPr bwMode="auto">
          <a:xfrm>
            <a:off x="2959100" y="4557144"/>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2. </a:t>
            </a:r>
            <a:r>
              <a:rPr lang="ko-KR" altLang="en-US" sz="1000" b="0" dirty="0">
                <a:solidFill>
                  <a:schemeClr val="tx1"/>
                </a:solidFill>
                <a:latin typeface="+mj-ea"/>
                <a:ea typeface="+mj-ea"/>
              </a:rPr>
              <a:t>특허에 관한 절차 진행</a:t>
            </a:r>
            <a:endParaRPr lang="en-US" altLang="ko-KR" sz="1000" b="0" dirty="0">
              <a:solidFill>
                <a:schemeClr val="tx1"/>
              </a:solidFill>
              <a:latin typeface="+mj-ea"/>
              <a:ea typeface="+mj-ea"/>
            </a:endParaRPr>
          </a:p>
          <a:p>
            <a:pPr algn="ctr"/>
            <a:r>
              <a:rPr lang="en-US" altLang="ko-KR" sz="1000" dirty="0">
                <a:latin typeface="+mj-ea"/>
                <a:ea typeface="+mj-ea"/>
              </a:rPr>
              <a:t>(</a:t>
            </a:r>
            <a:r>
              <a:rPr lang="ko-KR" altLang="en-US" sz="1000" dirty="0" err="1">
                <a:latin typeface="+mj-ea"/>
                <a:ea typeface="+mj-ea"/>
              </a:rPr>
              <a:t>대리행위</a:t>
            </a:r>
            <a:r>
              <a:rPr lang="en-US" altLang="ko-KR" sz="1000" dirty="0">
                <a:latin typeface="+mj-ea"/>
                <a:ea typeface="+mj-ea"/>
              </a:rPr>
              <a:t>)</a:t>
            </a:r>
            <a:endParaRPr lang="ko-KR" altLang="en-US" sz="1000" b="0" dirty="0">
              <a:solidFill>
                <a:schemeClr val="tx1"/>
              </a:solidFill>
              <a:latin typeface="+mj-ea"/>
              <a:ea typeface="+mj-ea"/>
            </a:endParaRPr>
          </a:p>
        </p:txBody>
      </p:sp>
      <p:sp>
        <p:nvSpPr>
          <p:cNvPr id="49" name="Rectangle 5"/>
          <p:cNvSpPr>
            <a:spLocks noChangeArrowheads="1"/>
          </p:cNvSpPr>
          <p:nvPr/>
        </p:nvSpPr>
        <p:spPr bwMode="auto">
          <a:xfrm>
            <a:off x="713298" y="1907494"/>
            <a:ext cx="4462020" cy="348102"/>
          </a:xfrm>
          <a:prstGeom prst="rect">
            <a:avLst/>
          </a:prstGeom>
          <a:noFill/>
          <a:ln w="9525" algn="ctr">
            <a:noFill/>
            <a:miter lim="800000"/>
            <a:headEnd/>
            <a:tailEnd/>
          </a:ln>
        </p:spPr>
        <p:txBody>
          <a:bodyPr wrap="none" anchor="ctr"/>
          <a:lstStyle/>
          <a:p>
            <a:pPr algn="ctr"/>
            <a:r>
              <a:rPr lang="en-US" altLang="ko-KR" sz="1600" b="0" dirty="0">
                <a:solidFill>
                  <a:schemeClr val="accent2">
                    <a:lumMod val="75000"/>
                  </a:schemeClr>
                </a:solidFill>
                <a:latin typeface="+mj-ea"/>
                <a:ea typeface="+mj-ea"/>
              </a:rPr>
              <a:t>3. </a:t>
            </a:r>
            <a:r>
              <a:rPr lang="ko-KR" altLang="en-US" sz="1600" b="0" dirty="0">
                <a:solidFill>
                  <a:schemeClr val="accent2">
                    <a:lumMod val="75000"/>
                  </a:schemeClr>
                </a:solidFill>
                <a:latin typeface="+mj-ea"/>
                <a:ea typeface="+mj-ea"/>
              </a:rPr>
              <a:t>사망</a:t>
            </a:r>
            <a:r>
              <a:rPr lang="en-US" altLang="ko-KR" sz="1600" b="0" dirty="0">
                <a:solidFill>
                  <a:schemeClr val="accent2">
                    <a:lumMod val="75000"/>
                  </a:schemeClr>
                </a:solidFill>
                <a:latin typeface="+mj-ea"/>
                <a:ea typeface="+mj-ea"/>
              </a:rPr>
              <a:t>, </a:t>
            </a:r>
            <a:r>
              <a:rPr lang="ko-KR" altLang="en-US" sz="1600" b="0" dirty="0">
                <a:solidFill>
                  <a:schemeClr val="accent2">
                    <a:lumMod val="75000"/>
                  </a:schemeClr>
                </a:solidFill>
                <a:latin typeface="+mj-ea"/>
                <a:ea typeface="+mj-ea"/>
              </a:rPr>
              <a:t>행위능력 상실</a:t>
            </a:r>
            <a:r>
              <a:rPr lang="en-US" altLang="ko-KR" sz="1600" b="0" dirty="0">
                <a:solidFill>
                  <a:schemeClr val="accent2">
                    <a:lumMod val="75000"/>
                  </a:schemeClr>
                </a:solidFill>
                <a:latin typeface="+mj-ea"/>
                <a:ea typeface="+mj-ea"/>
              </a:rPr>
              <a:t>, </a:t>
            </a:r>
            <a:r>
              <a:rPr lang="ko-KR" altLang="en-US" sz="1600" b="0" dirty="0">
                <a:solidFill>
                  <a:schemeClr val="accent2">
                    <a:lumMod val="75000"/>
                  </a:schemeClr>
                </a:solidFill>
                <a:latin typeface="+mj-ea"/>
                <a:ea typeface="+mj-ea"/>
              </a:rPr>
              <a:t>합병에 의한 소멸</a:t>
            </a:r>
            <a:r>
              <a:rPr lang="en-US" altLang="ko-KR" sz="1600" b="0" dirty="0">
                <a:solidFill>
                  <a:schemeClr val="accent2">
                    <a:lumMod val="75000"/>
                  </a:schemeClr>
                </a:solidFill>
                <a:latin typeface="+mj-ea"/>
                <a:ea typeface="+mj-ea"/>
              </a:rPr>
              <a:t>, </a:t>
            </a:r>
            <a:r>
              <a:rPr lang="ko-KR" altLang="en-US" sz="1600" b="0" dirty="0">
                <a:solidFill>
                  <a:schemeClr val="accent2">
                    <a:lumMod val="75000"/>
                  </a:schemeClr>
                </a:solidFill>
                <a:latin typeface="+mj-ea"/>
                <a:ea typeface="+mj-ea"/>
              </a:rPr>
              <a:t>수탁자의 </a:t>
            </a:r>
            <a:r>
              <a:rPr lang="ko-KR" altLang="en-US" sz="1600" b="0" dirty="0" err="1">
                <a:solidFill>
                  <a:schemeClr val="accent2">
                    <a:lumMod val="75000"/>
                  </a:schemeClr>
                </a:solidFill>
                <a:latin typeface="+mj-ea"/>
                <a:ea typeface="+mj-ea"/>
              </a:rPr>
              <a:t>신탁임무</a:t>
            </a:r>
            <a:r>
              <a:rPr lang="ko-KR" altLang="en-US" sz="1600" b="0" dirty="0">
                <a:solidFill>
                  <a:schemeClr val="accent2">
                    <a:lumMod val="75000"/>
                  </a:schemeClr>
                </a:solidFill>
                <a:latin typeface="+mj-ea"/>
                <a:ea typeface="+mj-ea"/>
              </a:rPr>
              <a:t> 종료</a:t>
            </a:r>
          </a:p>
        </p:txBody>
      </p:sp>
      <p:sp>
        <p:nvSpPr>
          <p:cNvPr id="51" name="모서리가 둥근 직사각형 50"/>
          <p:cNvSpPr/>
          <p:nvPr/>
        </p:nvSpPr>
        <p:spPr>
          <a:xfrm>
            <a:off x="8521647" y="2890429"/>
            <a:ext cx="922070" cy="690280"/>
          </a:xfrm>
          <a:prstGeom prst="roundRect">
            <a:avLst>
              <a:gd name="adj" fmla="val 29221"/>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solidFill>
                  <a:schemeClr val="bg1">
                    <a:lumMod val="50000"/>
                  </a:schemeClr>
                </a:solidFill>
              </a:rPr>
              <a:t>丙</a:t>
            </a:r>
            <a:endParaRPr lang="en-US" altLang="ko-KR" dirty="0">
              <a:solidFill>
                <a:schemeClr val="bg1">
                  <a:lumMod val="50000"/>
                </a:schemeClr>
              </a:solidFill>
            </a:endParaRPr>
          </a:p>
          <a:p>
            <a:pPr algn="ctr"/>
            <a:r>
              <a:rPr lang="en-US" altLang="ko-KR" sz="1100" dirty="0">
                <a:solidFill>
                  <a:schemeClr val="bg1">
                    <a:lumMod val="50000"/>
                  </a:schemeClr>
                </a:solidFill>
              </a:rPr>
              <a:t>(</a:t>
            </a:r>
            <a:r>
              <a:rPr lang="ko-KR" altLang="en-US" sz="1100" dirty="0">
                <a:solidFill>
                  <a:schemeClr val="bg1">
                    <a:lumMod val="50000"/>
                  </a:schemeClr>
                </a:solidFill>
              </a:rPr>
              <a:t>법정대리인</a:t>
            </a:r>
            <a:r>
              <a:rPr lang="en-US" altLang="ko-KR" sz="1100" dirty="0">
                <a:solidFill>
                  <a:schemeClr val="bg1">
                    <a:lumMod val="50000"/>
                  </a:schemeClr>
                </a:solidFill>
              </a:rPr>
              <a:t>)</a:t>
            </a:r>
            <a:endParaRPr lang="ko-KR" altLang="en-US" sz="1100" dirty="0">
              <a:solidFill>
                <a:schemeClr val="bg1">
                  <a:lumMod val="50000"/>
                </a:schemeClr>
              </a:solidFill>
            </a:endParaRPr>
          </a:p>
        </p:txBody>
      </p:sp>
      <p:sp>
        <p:nvSpPr>
          <p:cNvPr id="52" name="모서리가 둥근 직사각형 51"/>
          <p:cNvSpPr/>
          <p:nvPr/>
        </p:nvSpPr>
        <p:spPr>
          <a:xfrm>
            <a:off x="8521647" y="4462951"/>
            <a:ext cx="922070" cy="690280"/>
          </a:xfrm>
          <a:prstGeom prst="roundRect">
            <a:avLst>
              <a:gd name="adj" fmla="val 26623"/>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solidFill>
                  <a:schemeClr val="bg1">
                    <a:lumMod val="50000"/>
                  </a:schemeClr>
                </a:solidFill>
              </a:rPr>
              <a:t>乙</a:t>
            </a:r>
            <a:endParaRPr lang="en-US" altLang="ko-KR" dirty="0">
              <a:solidFill>
                <a:schemeClr val="bg1">
                  <a:lumMod val="50000"/>
                </a:schemeClr>
              </a:solidFill>
            </a:endParaRPr>
          </a:p>
          <a:p>
            <a:pPr algn="ctr"/>
            <a:r>
              <a:rPr lang="en-US" altLang="ko-KR" sz="1100" dirty="0">
                <a:solidFill>
                  <a:schemeClr val="bg1">
                    <a:lumMod val="50000"/>
                  </a:schemeClr>
                </a:solidFill>
              </a:rPr>
              <a:t>(</a:t>
            </a:r>
            <a:r>
              <a:rPr lang="ko-KR" altLang="en-US" sz="1100" dirty="0">
                <a:solidFill>
                  <a:schemeClr val="bg1">
                    <a:lumMod val="50000"/>
                  </a:schemeClr>
                </a:solidFill>
              </a:rPr>
              <a:t>임의대리인</a:t>
            </a:r>
            <a:r>
              <a:rPr lang="en-US" altLang="ko-KR" sz="1100" dirty="0">
                <a:solidFill>
                  <a:schemeClr val="bg1">
                    <a:lumMod val="50000"/>
                  </a:schemeClr>
                </a:solidFill>
              </a:rPr>
              <a:t>)</a:t>
            </a:r>
            <a:endParaRPr lang="ko-KR" altLang="en-US" sz="1100" dirty="0">
              <a:solidFill>
                <a:schemeClr val="bg1">
                  <a:lumMod val="50000"/>
                </a:schemeClr>
              </a:solidFill>
            </a:endParaRPr>
          </a:p>
        </p:txBody>
      </p:sp>
      <p:cxnSp>
        <p:nvCxnSpPr>
          <p:cNvPr id="53" name="직선 화살표 연결선 52"/>
          <p:cNvCxnSpPr>
            <a:stCxn id="51" idx="2"/>
            <a:endCxn id="52" idx="0"/>
          </p:cNvCxnSpPr>
          <p:nvPr/>
        </p:nvCxnSpPr>
        <p:spPr>
          <a:xfrm>
            <a:off x="8982682" y="3580709"/>
            <a:ext cx="0" cy="882242"/>
          </a:xfrm>
          <a:prstGeom prst="straightConnector1">
            <a:avLst/>
          </a:prstGeom>
          <a:ln>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Rectangle 5"/>
          <p:cNvSpPr>
            <a:spLocks noChangeArrowheads="1"/>
          </p:cNvSpPr>
          <p:nvPr/>
        </p:nvSpPr>
        <p:spPr bwMode="auto">
          <a:xfrm>
            <a:off x="9238242" y="3847779"/>
            <a:ext cx="542925" cy="348102"/>
          </a:xfrm>
          <a:prstGeom prst="rect">
            <a:avLst/>
          </a:prstGeom>
          <a:noFill/>
          <a:ln w="9525" algn="ctr">
            <a:noFill/>
            <a:miter lim="800000"/>
            <a:headEnd/>
            <a:tailEnd/>
          </a:ln>
        </p:spPr>
        <p:txBody>
          <a:bodyPr wrap="none" anchor="ctr"/>
          <a:lstStyle/>
          <a:p>
            <a:pPr algn="ctr"/>
            <a:r>
              <a:rPr lang="en-US" altLang="ko-KR" sz="1000" dirty="0">
                <a:latin typeface="+mj-ea"/>
                <a:ea typeface="+mj-ea"/>
              </a:rPr>
              <a:t>2</a:t>
            </a:r>
            <a:r>
              <a:rPr lang="en-US" altLang="ko-KR" sz="1000" b="0" dirty="0">
                <a:solidFill>
                  <a:schemeClr val="tx1"/>
                </a:solidFill>
                <a:latin typeface="+mj-ea"/>
                <a:ea typeface="+mj-ea"/>
              </a:rPr>
              <a:t>. </a:t>
            </a:r>
            <a:r>
              <a:rPr lang="ko-KR" altLang="en-US" sz="1000" b="0" dirty="0" err="1">
                <a:solidFill>
                  <a:schemeClr val="tx1"/>
                </a:solidFill>
                <a:latin typeface="+mj-ea"/>
                <a:ea typeface="+mj-ea"/>
              </a:rPr>
              <a:t>위임계약</a:t>
            </a:r>
            <a:r>
              <a:rPr lang="ko-KR" altLang="en-US" sz="1000" b="0" dirty="0">
                <a:solidFill>
                  <a:schemeClr val="tx1"/>
                </a:solidFill>
                <a:latin typeface="+mj-ea"/>
                <a:ea typeface="+mj-ea"/>
              </a:rPr>
              <a:t> 체결</a:t>
            </a:r>
          </a:p>
        </p:txBody>
      </p:sp>
      <p:sp>
        <p:nvSpPr>
          <p:cNvPr id="55" name="모서리가 둥근 직사각형 54"/>
          <p:cNvSpPr/>
          <p:nvPr/>
        </p:nvSpPr>
        <p:spPr>
          <a:xfrm>
            <a:off x="10774654" y="3772671"/>
            <a:ext cx="922070" cy="690280"/>
          </a:xfrm>
          <a:prstGeom prst="roundRect">
            <a:avLst>
              <a:gd name="adj" fmla="val 50000"/>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solidFill>
                  <a:schemeClr val="accent4">
                    <a:lumMod val="20000"/>
                    <a:lumOff val="80000"/>
                  </a:schemeClr>
                </a:solidFill>
              </a:rPr>
              <a:t>지식</a:t>
            </a:r>
            <a:endParaRPr lang="en-US" altLang="ko-KR" dirty="0">
              <a:solidFill>
                <a:schemeClr val="accent4">
                  <a:lumMod val="20000"/>
                  <a:lumOff val="80000"/>
                </a:schemeClr>
              </a:solidFill>
            </a:endParaRPr>
          </a:p>
          <a:p>
            <a:pPr algn="ctr"/>
            <a:r>
              <a:rPr lang="ko-KR" altLang="en-US" dirty="0" err="1">
                <a:solidFill>
                  <a:schemeClr val="accent4">
                    <a:lumMod val="20000"/>
                    <a:lumOff val="80000"/>
                  </a:schemeClr>
                </a:solidFill>
              </a:rPr>
              <a:t>재산처</a:t>
            </a:r>
            <a:endParaRPr lang="ko-KR" altLang="en-US" sz="1100" dirty="0">
              <a:solidFill>
                <a:schemeClr val="accent4">
                  <a:lumMod val="20000"/>
                  <a:lumOff val="80000"/>
                </a:schemeClr>
              </a:solidFill>
            </a:endParaRPr>
          </a:p>
        </p:txBody>
      </p:sp>
      <p:cxnSp>
        <p:nvCxnSpPr>
          <p:cNvPr id="56" name="직선 화살표 연결선 55"/>
          <p:cNvCxnSpPr>
            <a:stCxn id="52" idx="3"/>
            <a:endCxn id="55" idx="1"/>
          </p:cNvCxnSpPr>
          <p:nvPr/>
        </p:nvCxnSpPr>
        <p:spPr>
          <a:xfrm flipV="1">
            <a:off x="9443717" y="4117811"/>
            <a:ext cx="1330937" cy="69028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7" name="Rectangle 5"/>
          <p:cNvSpPr>
            <a:spLocks noChangeArrowheads="1"/>
          </p:cNvSpPr>
          <p:nvPr/>
        </p:nvSpPr>
        <p:spPr bwMode="auto">
          <a:xfrm>
            <a:off x="10170605" y="4632559"/>
            <a:ext cx="542925" cy="348102"/>
          </a:xfrm>
          <a:prstGeom prst="rect">
            <a:avLst/>
          </a:prstGeom>
          <a:noFill/>
          <a:ln w="9525" algn="ctr">
            <a:noFill/>
            <a:miter lim="800000"/>
            <a:headEnd/>
            <a:tailEnd/>
          </a:ln>
        </p:spPr>
        <p:txBody>
          <a:bodyPr wrap="none" anchor="ctr"/>
          <a:lstStyle/>
          <a:p>
            <a:pPr algn="ctr"/>
            <a:r>
              <a:rPr lang="en-US" altLang="ko-KR" sz="1000" dirty="0">
                <a:latin typeface="+mj-ea"/>
                <a:ea typeface="+mj-ea"/>
              </a:rPr>
              <a:t>3</a:t>
            </a:r>
            <a:r>
              <a:rPr lang="en-US" altLang="ko-KR" sz="1000" b="0" dirty="0">
                <a:solidFill>
                  <a:schemeClr val="tx1"/>
                </a:solidFill>
                <a:latin typeface="+mj-ea"/>
                <a:ea typeface="+mj-ea"/>
              </a:rPr>
              <a:t>. </a:t>
            </a:r>
            <a:r>
              <a:rPr lang="ko-KR" altLang="en-US" sz="1000" b="0" dirty="0">
                <a:solidFill>
                  <a:schemeClr val="tx1"/>
                </a:solidFill>
                <a:latin typeface="+mj-ea"/>
                <a:ea typeface="+mj-ea"/>
              </a:rPr>
              <a:t>특허에 관한 절차 진행</a:t>
            </a:r>
            <a:endParaRPr lang="en-US" altLang="ko-KR" sz="1000" b="0" dirty="0">
              <a:solidFill>
                <a:schemeClr val="tx1"/>
              </a:solidFill>
              <a:latin typeface="+mj-ea"/>
              <a:ea typeface="+mj-ea"/>
            </a:endParaRPr>
          </a:p>
          <a:p>
            <a:pPr algn="ctr"/>
            <a:r>
              <a:rPr lang="en-US" altLang="ko-KR" sz="1000" b="0" dirty="0">
                <a:solidFill>
                  <a:schemeClr val="tx1"/>
                </a:solidFill>
                <a:latin typeface="+mj-ea"/>
                <a:ea typeface="+mj-ea"/>
              </a:rPr>
              <a:t>(</a:t>
            </a:r>
            <a:r>
              <a:rPr lang="ko-KR" altLang="en-US" sz="1000" b="0" dirty="0" err="1">
                <a:solidFill>
                  <a:schemeClr val="tx1"/>
                </a:solidFill>
                <a:latin typeface="+mj-ea"/>
                <a:ea typeface="+mj-ea"/>
              </a:rPr>
              <a:t>대리행위</a:t>
            </a:r>
            <a:r>
              <a:rPr lang="en-US" altLang="ko-KR" sz="1000" b="0" dirty="0">
                <a:solidFill>
                  <a:schemeClr val="tx1"/>
                </a:solidFill>
                <a:latin typeface="+mj-ea"/>
                <a:ea typeface="+mj-ea"/>
              </a:rPr>
              <a:t>)</a:t>
            </a:r>
            <a:endParaRPr lang="ko-KR" altLang="en-US" sz="1000" b="0" dirty="0">
              <a:solidFill>
                <a:schemeClr val="tx1"/>
              </a:solidFill>
              <a:latin typeface="+mj-ea"/>
              <a:ea typeface="+mj-ea"/>
            </a:endParaRPr>
          </a:p>
        </p:txBody>
      </p:sp>
      <p:sp>
        <p:nvSpPr>
          <p:cNvPr id="59" name="Rectangle 5"/>
          <p:cNvSpPr>
            <a:spLocks noChangeArrowheads="1"/>
          </p:cNvSpPr>
          <p:nvPr/>
        </p:nvSpPr>
        <p:spPr bwMode="auto">
          <a:xfrm>
            <a:off x="6419917" y="1854542"/>
            <a:ext cx="4462020" cy="348102"/>
          </a:xfrm>
          <a:prstGeom prst="rect">
            <a:avLst/>
          </a:prstGeom>
          <a:noFill/>
          <a:ln w="9525" algn="ctr">
            <a:noFill/>
            <a:miter lim="800000"/>
            <a:headEnd/>
            <a:tailEnd/>
          </a:ln>
        </p:spPr>
        <p:txBody>
          <a:bodyPr wrap="none" anchor="ctr"/>
          <a:lstStyle/>
          <a:p>
            <a:pPr algn="ctr"/>
            <a:r>
              <a:rPr lang="en-US" altLang="ko-KR" sz="1600" b="0" dirty="0">
                <a:solidFill>
                  <a:schemeClr val="accent4">
                    <a:lumMod val="50000"/>
                  </a:schemeClr>
                </a:solidFill>
                <a:latin typeface="+mj-ea"/>
                <a:ea typeface="+mj-ea"/>
              </a:rPr>
              <a:t>4. </a:t>
            </a:r>
            <a:r>
              <a:rPr lang="ko-KR" altLang="en-US" sz="1600" b="0" dirty="0">
                <a:solidFill>
                  <a:schemeClr val="accent4">
                    <a:lumMod val="50000"/>
                  </a:schemeClr>
                </a:solidFill>
                <a:latin typeface="+mj-ea"/>
                <a:ea typeface="+mj-ea"/>
              </a:rPr>
              <a:t>사망</a:t>
            </a:r>
            <a:r>
              <a:rPr lang="en-US" altLang="ko-KR" sz="1600" b="0" dirty="0">
                <a:solidFill>
                  <a:schemeClr val="accent4">
                    <a:lumMod val="50000"/>
                  </a:schemeClr>
                </a:solidFill>
                <a:latin typeface="+mj-ea"/>
                <a:ea typeface="+mj-ea"/>
              </a:rPr>
              <a:t>, </a:t>
            </a:r>
            <a:r>
              <a:rPr lang="ko-KR" altLang="en-US" sz="1600" b="0" dirty="0">
                <a:solidFill>
                  <a:schemeClr val="accent4">
                    <a:lumMod val="50000"/>
                  </a:schemeClr>
                </a:solidFill>
                <a:latin typeface="+mj-ea"/>
                <a:ea typeface="+mj-ea"/>
              </a:rPr>
              <a:t>행위능력 상실</a:t>
            </a:r>
            <a:r>
              <a:rPr lang="en-US" altLang="ko-KR" sz="1600" b="0" dirty="0">
                <a:solidFill>
                  <a:schemeClr val="accent4">
                    <a:lumMod val="50000"/>
                  </a:schemeClr>
                </a:solidFill>
                <a:latin typeface="+mj-ea"/>
                <a:ea typeface="+mj-ea"/>
              </a:rPr>
              <a:t>, </a:t>
            </a:r>
            <a:r>
              <a:rPr lang="ko-KR" altLang="en-US" sz="1600" b="0" dirty="0">
                <a:solidFill>
                  <a:schemeClr val="accent4">
                    <a:lumMod val="50000"/>
                  </a:schemeClr>
                </a:solidFill>
                <a:latin typeface="+mj-ea"/>
                <a:ea typeface="+mj-ea"/>
              </a:rPr>
              <a:t>대리권 소멸이나 변경</a:t>
            </a:r>
          </a:p>
        </p:txBody>
      </p:sp>
      <p:sp>
        <p:nvSpPr>
          <p:cNvPr id="60" name="모서리가 둥근 직사각형 59"/>
          <p:cNvSpPr/>
          <p:nvPr/>
        </p:nvSpPr>
        <p:spPr>
          <a:xfrm>
            <a:off x="6710638" y="2894132"/>
            <a:ext cx="922070" cy="690280"/>
          </a:xfrm>
          <a:prstGeom prst="roundRect">
            <a:avLst>
              <a:gd name="adj" fmla="val 29221"/>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50000"/>
                  </a:schemeClr>
                </a:solidFill>
              </a:rPr>
              <a:t>甲</a:t>
            </a:r>
            <a:endParaRPr lang="en-US" altLang="ko-KR" dirty="0">
              <a:solidFill>
                <a:schemeClr val="bg1">
                  <a:lumMod val="50000"/>
                </a:schemeClr>
              </a:solidFill>
            </a:endParaRPr>
          </a:p>
          <a:p>
            <a:pPr algn="ctr"/>
            <a:r>
              <a:rPr lang="en-US" altLang="ko-KR" sz="1100" dirty="0">
                <a:solidFill>
                  <a:schemeClr val="bg1">
                    <a:lumMod val="50000"/>
                  </a:schemeClr>
                </a:solidFill>
              </a:rPr>
              <a:t>(</a:t>
            </a:r>
            <a:r>
              <a:rPr lang="ko-KR" altLang="en-US" sz="1100" dirty="0">
                <a:solidFill>
                  <a:schemeClr val="bg1">
                    <a:lumMod val="50000"/>
                  </a:schemeClr>
                </a:solidFill>
              </a:rPr>
              <a:t>본인</a:t>
            </a:r>
            <a:r>
              <a:rPr lang="en-US" altLang="ko-KR" sz="1100" dirty="0">
                <a:solidFill>
                  <a:schemeClr val="bg1">
                    <a:lumMod val="50000"/>
                  </a:schemeClr>
                </a:solidFill>
              </a:rPr>
              <a:t>)</a:t>
            </a:r>
            <a:endParaRPr lang="ko-KR" altLang="en-US" sz="1100" dirty="0">
              <a:solidFill>
                <a:schemeClr val="bg1">
                  <a:lumMod val="50000"/>
                </a:schemeClr>
              </a:solidFill>
            </a:endParaRPr>
          </a:p>
        </p:txBody>
      </p:sp>
      <p:cxnSp>
        <p:nvCxnSpPr>
          <p:cNvPr id="62" name="직선 화살표 연결선 61"/>
          <p:cNvCxnSpPr>
            <a:stCxn id="51" idx="1"/>
            <a:endCxn id="60" idx="3"/>
          </p:cNvCxnSpPr>
          <p:nvPr/>
        </p:nvCxnSpPr>
        <p:spPr>
          <a:xfrm flipH="1">
            <a:off x="7632708" y="3235569"/>
            <a:ext cx="888939" cy="3703"/>
          </a:xfrm>
          <a:prstGeom prst="straightConnector1">
            <a:avLst/>
          </a:prstGeom>
          <a:ln>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Rectangle 5"/>
          <p:cNvSpPr>
            <a:spLocks noChangeArrowheads="1"/>
          </p:cNvSpPr>
          <p:nvPr/>
        </p:nvSpPr>
        <p:spPr bwMode="auto">
          <a:xfrm>
            <a:off x="7805714" y="3328958"/>
            <a:ext cx="542925" cy="348102"/>
          </a:xfrm>
          <a:prstGeom prst="rect">
            <a:avLst/>
          </a:prstGeom>
          <a:noFill/>
          <a:ln w="9525" algn="ctr">
            <a:noFill/>
            <a:miter lim="800000"/>
            <a:headEnd/>
            <a:tailEnd/>
          </a:ln>
        </p:spPr>
        <p:txBody>
          <a:bodyPr wrap="none" anchor="ctr"/>
          <a:lstStyle/>
          <a:p>
            <a:pPr algn="ctr"/>
            <a:r>
              <a:rPr lang="en-US" altLang="ko-KR" sz="1000" dirty="0">
                <a:latin typeface="+mj-ea"/>
                <a:ea typeface="+mj-ea"/>
              </a:rPr>
              <a:t>1. </a:t>
            </a:r>
            <a:r>
              <a:rPr lang="ko-KR" altLang="en-US" sz="1000" dirty="0">
                <a:latin typeface="+mj-ea"/>
                <a:ea typeface="+mj-ea"/>
              </a:rPr>
              <a:t>법률 규정</a:t>
            </a:r>
            <a:endParaRPr lang="en-US" altLang="ko-KR" sz="1000" b="0" dirty="0">
              <a:solidFill>
                <a:schemeClr val="tx1"/>
              </a:solidFill>
              <a:latin typeface="+mj-ea"/>
              <a:ea typeface="+mj-ea"/>
            </a:endParaRPr>
          </a:p>
        </p:txBody>
      </p:sp>
      <p:cxnSp>
        <p:nvCxnSpPr>
          <p:cNvPr id="66" name="직선 연결선 65"/>
          <p:cNvCxnSpPr/>
          <p:nvPr/>
        </p:nvCxnSpPr>
        <p:spPr>
          <a:xfrm>
            <a:off x="6139478" y="1062288"/>
            <a:ext cx="0" cy="559848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stCxn id="5" idx="0"/>
            <a:endCxn id="49" idx="2"/>
          </p:cNvCxnSpPr>
          <p:nvPr/>
        </p:nvCxnSpPr>
        <p:spPr>
          <a:xfrm rot="5400000" flipH="1" flipV="1">
            <a:off x="2078033" y="1948740"/>
            <a:ext cx="559418" cy="1173131"/>
          </a:xfrm>
          <a:prstGeom prst="bentConnector3">
            <a:avLst/>
          </a:prstGeom>
          <a:ln w="5715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 name="꺾인 연결선 25"/>
          <p:cNvCxnSpPr>
            <a:stCxn id="51" idx="0"/>
            <a:endCxn id="59" idx="2"/>
          </p:cNvCxnSpPr>
          <p:nvPr/>
        </p:nvCxnSpPr>
        <p:spPr>
          <a:xfrm rot="16200000" flipV="1">
            <a:off x="8472913" y="2380659"/>
            <a:ext cx="687785" cy="331755"/>
          </a:xfrm>
          <a:prstGeom prst="bentConnector3">
            <a:avLst/>
          </a:prstGeom>
          <a:ln w="5715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163766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직사각형 23"/>
          <p:cNvSpPr/>
          <p:nvPr/>
        </p:nvSpPr>
        <p:spPr>
          <a:xfrm>
            <a:off x="575035" y="4516604"/>
            <a:ext cx="5277022" cy="930855"/>
          </a:xfrm>
          <a:prstGeom prst="rect">
            <a:avLst/>
          </a:prstGeom>
          <a:solidFill>
            <a:schemeClr val="accent4">
              <a:lumMod val="20000"/>
              <a:lumOff val="80000"/>
            </a:schemeClr>
          </a:solidFill>
          <a:ln w="285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9</a:t>
            </a:r>
            <a:r>
              <a:rPr lang="ko-KR" altLang="en-US" dirty="0"/>
              <a:t>조</a:t>
            </a:r>
            <a:r>
              <a:rPr lang="en-US" altLang="ko-KR" dirty="0"/>
              <a:t>, </a:t>
            </a:r>
            <a:r>
              <a:rPr lang="ko-KR" altLang="en-US" dirty="0"/>
              <a:t>제</a:t>
            </a:r>
            <a:r>
              <a:rPr lang="en-US" altLang="ko-KR" dirty="0"/>
              <a:t>10</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개별대리와 대리인의 선임 및 교체</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34</a:t>
            </a:fld>
            <a:endParaRPr lang="ko-KR" altLang="en-US"/>
          </a:p>
        </p:txBody>
      </p:sp>
      <p:sp>
        <p:nvSpPr>
          <p:cNvPr id="5" name="모서리가 둥근 직사각형 4"/>
          <p:cNvSpPr/>
          <p:nvPr/>
        </p:nvSpPr>
        <p:spPr>
          <a:xfrm>
            <a:off x="2308217" y="2248993"/>
            <a:ext cx="922070" cy="690280"/>
          </a:xfrm>
          <a:prstGeom prst="roundRect">
            <a:avLst>
              <a:gd name="adj" fmla="val 29221"/>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50000"/>
                  </a:schemeClr>
                </a:solidFill>
              </a:rPr>
              <a:t>甲</a:t>
            </a:r>
            <a:endParaRPr lang="en-US" altLang="ko-KR" dirty="0">
              <a:solidFill>
                <a:schemeClr val="bg1">
                  <a:lumMod val="50000"/>
                </a:schemeClr>
              </a:solidFill>
            </a:endParaRPr>
          </a:p>
          <a:p>
            <a:pPr algn="ctr"/>
            <a:r>
              <a:rPr lang="en-US" altLang="ko-KR" sz="1100" dirty="0">
                <a:solidFill>
                  <a:schemeClr val="bg1">
                    <a:lumMod val="50000"/>
                  </a:schemeClr>
                </a:solidFill>
              </a:rPr>
              <a:t>(</a:t>
            </a:r>
            <a:r>
              <a:rPr lang="ko-KR" altLang="en-US" sz="1100" dirty="0">
                <a:solidFill>
                  <a:schemeClr val="bg1">
                    <a:lumMod val="50000"/>
                  </a:schemeClr>
                </a:solidFill>
              </a:rPr>
              <a:t>본인</a:t>
            </a:r>
            <a:r>
              <a:rPr lang="en-US" altLang="ko-KR" sz="1100" dirty="0">
                <a:solidFill>
                  <a:schemeClr val="bg1">
                    <a:lumMod val="50000"/>
                  </a:schemeClr>
                </a:solidFill>
              </a:rPr>
              <a:t>)</a:t>
            </a:r>
            <a:endParaRPr lang="ko-KR" altLang="en-US" sz="1100" dirty="0">
              <a:solidFill>
                <a:schemeClr val="bg1">
                  <a:lumMod val="50000"/>
                </a:schemeClr>
              </a:solidFill>
            </a:endParaRPr>
          </a:p>
        </p:txBody>
      </p:sp>
      <p:sp>
        <p:nvSpPr>
          <p:cNvPr id="38" name="모서리가 둥근 직사각형 37"/>
          <p:cNvSpPr/>
          <p:nvPr/>
        </p:nvSpPr>
        <p:spPr>
          <a:xfrm>
            <a:off x="1013273" y="3723039"/>
            <a:ext cx="922070" cy="690280"/>
          </a:xfrm>
          <a:prstGeom prst="roundRect">
            <a:avLst>
              <a:gd name="adj" fmla="val 26623"/>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solidFill>
                  <a:schemeClr val="bg1">
                    <a:lumMod val="50000"/>
                  </a:schemeClr>
                </a:solidFill>
              </a:rPr>
              <a:t>乙</a:t>
            </a:r>
            <a:endParaRPr lang="en-US" altLang="ko-KR" dirty="0">
              <a:solidFill>
                <a:schemeClr val="bg1">
                  <a:lumMod val="50000"/>
                </a:schemeClr>
              </a:solidFill>
            </a:endParaRPr>
          </a:p>
          <a:p>
            <a:pPr algn="ctr"/>
            <a:r>
              <a:rPr lang="en-US" altLang="ko-KR" sz="1100" dirty="0">
                <a:solidFill>
                  <a:schemeClr val="bg1">
                    <a:lumMod val="50000"/>
                  </a:schemeClr>
                </a:solidFill>
              </a:rPr>
              <a:t>(</a:t>
            </a:r>
            <a:r>
              <a:rPr lang="ko-KR" altLang="en-US" sz="1100" dirty="0">
                <a:solidFill>
                  <a:schemeClr val="bg1">
                    <a:lumMod val="50000"/>
                  </a:schemeClr>
                </a:solidFill>
              </a:rPr>
              <a:t>임의대리인</a:t>
            </a:r>
            <a:r>
              <a:rPr lang="en-US" altLang="ko-KR" sz="1100" dirty="0">
                <a:solidFill>
                  <a:schemeClr val="bg1">
                    <a:lumMod val="50000"/>
                  </a:schemeClr>
                </a:solidFill>
              </a:rPr>
              <a:t>)</a:t>
            </a:r>
            <a:endParaRPr lang="ko-KR" altLang="en-US" sz="1100" dirty="0">
              <a:solidFill>
                <a:schemeClr val="bg1">
                  <a:lumMod val="50000"/>
                </a:schemeClr>
              </a:solidFill>
            </a:endParaRPr>
          </a:p>
        </p:txBody>
      </p:sp>
      <p:sp>
        <p:nvSpPr>
          <p:cNvPr id="43" name="Rectangle 5"/>
          <p:cNvSpPr>
            <a:spLocks noChangeArrowheads="1"/>
          </p:cNvSpPr>
          <p:nvPr/>
        </p:nvSpPr>
        <p:spPr bwMode="auto">
          <a:xfrm>
            <a:off x="1299067" y="3014684"/>
            <a:ext cx="542925" cy="348102"/>
          </a:xfrm>
          <a:prstGeom prst="rect">
            <a:avLst/>
          </a:prstGeom>
          <a:noFill/>
          <a:ln w="9525" algn="ctr">
            <a:noFill/>
            <a:miter lim="800000"/>
            <a:headEnd/>
            <a:tailEnd/>
          </a:ln>
        </p:spPr>
        <p:txBody>
          <a:bodyPr wrap="none" anchor="ctr"/>
          <a:lstStyle/>
          <a:p>
            <a:pPr algn="ctr"/>
            <a:r>
              <a:rPr lang="ko-KR" altLang="en-US" sz="1000" b="0" dirty="0" err="1">
                <a:solidFill>
                  <a:schemeClr val="tx1"/>
                </a:solidFill>
                <a:latin typeface="+mj-ea"/>
                <a:ea typeface="+mj-ea"/>
              </a:rPr>
              <a:t>위임계약</a:t>
            </a:r>
            <a:r>
              <a:rPr lang="ko-KR" altLang="en-US" sz="1000" b="0" dirty="0">
                <a:solidFill>
                  <a:schemeClr val="tx1"/>
                </a:solidFill>
                <a:latin typeface="+mj-ea"/>
                <a:ea typeface="+mj-ea"/>
              </a:rPr>
              <a:t> 체결</a:t>
            </a:r>
          </a:p>
        </p:txBody>
      </p:sp>
      <p:sp>
        <p:nvSpPr>
          <p:cNvPr id="44" name="모서리가 둥근 직사각형 43"/>
          <p:cNvSpPr/>
          <p:nvPr/>
        </p:nvSpPr>
        <p:spPr>
          <a:xfrm>
            <a:off x="514896" y="5662953"/>
            <a:ext cx="4481671" cy="345140"/>
          </a:xfrm>
          <a:prstGeom prst="roundRect">
            <a:avLst>
              <a:gd name="adj" fmla="val 50000"/>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solidFill>
                  <a:schemeClr val="accent4">
                    <a:lumMod val="20000"/>
                    <a:lumOff val="80000"/>
                  </a:schemeClr>
                </a:solidFill>
              </a:rPr>
              <a:t>지식재산처</a:t>
            </a:r>
            <a:endParaRPr lang="ko-KR" altLang="en-US" sz="1100" dirty="0">
              <a:solidFill>
                <a:schemeClr val="accent4">
                  <a:lumMod val="20000"/>
                  <a:lumOff val="80000"/>
                </a:schemeClr>
              </a:solidFill>
            </a:endParaRPr>
          </a:p>
        </p:txBody>
      </p:sp>
      <p:sp>
        <p:nvSpPr>
          <p:cNvPr id="48" name="Rectangle 5"/>
          <p:cNvSpPr>
            <a:spLocks noChangeArrowheads="1"/>
          </p:cNvSpPr>
          <p:nvPr/>
        </p:nvSpPr>
        <p:spPr bwMode="auto">
          <a:xfrm>
            <a:off x="741059" y="4823930"/>
            <a:ext cx="542925" cy="348102"/>
          </a:xfrm>
          <a:prstGeom prst="rect">
            <a:avLst/>
          </a:prstGeom>
          <a:noFill/>
          <a:ln w="9525" algn="ctr">
            <a:noFill/>
            <a:miter lim="800000"/>
            <a:headEnd/>
            <a:tailEnd/>
          </a:ln>
        </p:spPr>
        <p:txBody>
          <a:bodyPr wrap="none" anchor="ctr"/>
          <a:lstStyle/>
          <a:p>
            <a:pPr algn="ctr"/>
            <a:r>
              <a:rPr lang="ko-KR" altLang="en-US" sz="1000" b="0" dirty="0">
                <a:solidFill>
                  <a:schemeClr val="tx1"/>
                </a:solidFill>
                <a:latin typeface="+mj-ea"/>
                <a:ea typeface="+mj-ea"/>
              </a:rPr>
              <a:t>특허에 관한 </a:t>
            </a:r>
            <a:endParaRPr lang="en-US" altLang="ko-KR" sz="1000" b="0" dirty="0">
              <a:solidFill>
                <a:schemeClr val="tx1"/>
              </a:solidFill>
              <a:latin typeface="+mj-ea"/>
              <a:ea typeface="+mj-ea"/>
            </a:endParaRPr>
          </a:p>
          <a:p>
            <a:pPr algn="ctr"/>
            <a:r>
              <a:rPr lang="ko-KR" altLang="en-US" sz="1000" b="0" dirty="0">
                <a:solidFill>
                  <a:schemeClr val="tx1"/>
                </a:solidFill>
                <a:latin typeface="+mj-ea"/>
                <a:ea typeface="+mj-ea"/>
              </a:rPr>
              <a:t>절차 진행</a:t>
            </a:r>
          </a:p>
        </p:txBody>
      </p:sp>
      <p:cxnSp>
        <p:nvCxnSpPr>
          <p:cNvPr id="66" name="직선 연결선 65"/>
          <p:cNvCxnSpPr/>
          <p:nvPr/>
        </p:nvCxnSpPr>
        <p:spPr>
          <a:xfrm>
            <a:off x="6139478" y="1062288"/>
            <a:ext cx="0" cy="559848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모서리가 둥근 직사각형 25"/>
          <p:cNvSpPr/>
          <p:nvPr/>
        </p:nvSpPr>
        <p:spPr>
          <a:xfrm>
            <a:off x="2308217" y="3723039"/>
            <a:ext cx="922070" cy="690280"/>
          </a:xfrm>
          <a:prstGeom prst="roundRect">
            <a:avLst>
              <a:gd name="adj" fmla="val 26623"/>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solidFill>
                  <a:schemeClr val="bg1">
                    <a:lumMod val="50000"/>
                  </a:schemeClr>
                </a:solidFill>
              </a:rPr>
              <a:t>丙</a:t>
            </a:r>
            <a:endParaRPr lang="en-US" altLang="ko-KR" dirty="0">
              <a:solidFill>
                <a:schemeClr val="bg1">
                  <a:lumMod val="50000"/>
                </a:schemeClr>
              </a:solidFill>
            </a:endParaRPr>
          </a:p>
          <a:p>
            <a:pPr algn="ctr"/>
            <a:r>
              <a:rPr lang="en-US" altLang="ko-KR" dirty="0">
                <a:solidFill>
                  <a:schemeClr val="bg1">
                    <a:lumMod val="50000"/>
                  </a:schemeClr>
                </a:solidFill>
              </a:rPr>
              <a:t> </a:t>
            </a:r>
            <a:r>
              <a:rPr lang="en-US" altLang="ko-KR" sz="1100" dirty="0">
                <a:solidFill>
                  <a:schemeClr val="bg1">
                    <a:lumMod val="50000"/>
                  </a:schemeClr>
                </a:solidFill>
              </a:rPr>
              <a:t>(</a:t>
            </a:r>
            <a:r>
              <a:rPr lang="ko-KR" altLang="en-US" sz="1100" dirty="0">
                <a:solidFill>
                  <a:schemeClr val="bg1">
                    <a:lumMod val="50000"/>
                  </a:schemeClr>
                </a:solidFill>
              </a:rPr>
              <a:t>임의대리인</a:t>
            </a:r>
            <a:r>
              <a:rPr lang="en-US" altLang="ko-KR" sz="1100" dirty="0">
                <a:solidFill>
                  <a:schemeClr val="bg1">
                    <a:lumMod val="50000"/>
                  </a:schemeClr>
                </a:solidFill>
              </a:rPr>
              <a:t>)</a:t>
            </a:r>
            <a:endParaRPr lang="ko-KR" altLang="en-US" sz="1100" dirty="0">
              <a:solidFill>
                <a:schemeClr val="bg1">
                  <a:lumMod val="50000"/>
                </a:schemeClr>
              </a:solidFill>
            </a:endParaRPr>
          </a:p>
        </p:txBody>
      </p:sp>
      <p:sp>
        <p:nvSpPr>
          <p:cNvPr id="27" name="모서리가 둥근 직사각형 26"/>
          <p:cNvSpPr/>
          <p:nvPr/>
        </p:nvSpPr>
        <p:spPr>
          <a:xfrm>
            <a:off x="3669146" y="3723039"/>
            <a:ext cx="922070" cy="690280"/>
          </a:xfrm>
          <a:prstGeom prst="roundRect">
            <a:avLst>
              <a:gd name="adj" fmla="val 26623"/>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solidFill>
                  <a:schemeClr val="bg1">
                    <a:lumMod val="50000"/>
                  </a:schemeClr>
                </a:solidFill>
              </a:rPr>
              <a:t>丁</a:t>
            </a:r>
            <a:endParaRPr lang="en-US" altLang="ko-KR" dirty="0">
              <a:solidFill>
                <a:schemeClr val="bg1">
                  <a:lumMod val="50000"/>
                </a:schemeClr>
              </a:solidFill>
            </a:endParaRPr>
          </a:p>
          <a:p>
            <a:pPr algn="ctr"/>
            <a:r>
              <a:rPr lang="en-US" altLang="ko-KR" sz="1100" dirty="0">
                <a:solidFill>
                  <a:schemeClr val="bg1">
                    <a:lumMod val="50000"/>
                  </a:schemeClr>
                </a:solidFill>
              </a:rPr>
              <a:t>(</a:t>
            </a:r>
            <a:r>
              <a:rPr lang="ko-KR" altLang="en-US" sz="1100" dirty="0">
                <a:solidFill>
                  <a:schemeClr val="bg1">
                    <a:lumMod val="50000"/>
                  </a:schemeClr>
                </a:solidFill>
              </a:rPr>
              <a:t>임의대리인</a:t>
            </a:r>
            <a:r>
              <a:rPr lang="en-US" altLang="ko-KR" sz="1100" dirty="0">
                <a:solidFill>
                  <a:schemeClr val="bg1">
                    <a:lumMod val="50000"/>
                  </a:schemeClr>
                </a:solidFill>
              </a:rPr>
              <a:t>)</a:t>
            </a:r>
            <a:endParaRPr lang="ko-KR" altLang="en-US" sz="1100" dirty="0">
              <a:solidFill>
                <a:schemeClr val="bg1">
                  <a:lumMod val="50000"/>
                </a:schemeClr>
              </a:solidFill>
            </a:endParaRPr>
          </a:p>
        </p:txBody>
      </p:sp>
      <p:cxnSp>
        <p:nvCxnSpPr>
          <p:cNvPr id="6" name="꺾인 연결선 5"/>
          <p:cNvCxnSpPr>
            <a:stCxn id="5" idx="2"/>
            <a:endCxn id="38" idx="0"/>
          </p:cNvCxnSpPr>
          <p:nvPr/>
        </p:nvCxnSpPr>
        <p:spPr>
          <a:xfrm rot="5400000">
            <a:off x="1729897" y="2683684"/>
            <a:ext cx="783766" cy="1294944"/>
          </a:xfrm>
          <a:prstGeom prst="bentConnector3">
            <a:avLst/>
          </a:prstGeom>
          <a:ln>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 name="꺾인 연결선 8"/>
          <p:cNvCxnSpPr>
            <a:stCxn id="5" idx="2"/>
            <a:endCxn id="27" idx="0"/>
          </p:cNvCxnSpPr>
          <p:nvPr/>
        </p:nvCxnSpPr>
        <p:spPr>
          <a:xfrm rot="16200000" flipH="1">
            <a:off x="3057833" y="2650691"/>
            <a:ext cx="783766" cy="1360929"/>
          </a:xfrm>
          <a:prstGeom prst="bentConnector3">
            <a:avLst/>
          </a:prstGeom>
          <a:ln>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 name="꺾인 연결선 10"/>
          <p:cNvCxnSpPr>
            <a:stCxn id="5" idx="2"/>
            <a:endCxn id="26" idx="0"/>
          </p:cNvCxnSpPr>
          <p:nvPr/>
        </p:nvCxnSpPr>
        <p:spPr>
          <a:xfrm rot="5400000">
            <a:off x="2377369" y="3331156"/>
            <a:ext cx="783766" cy="12700"/>
          </a:xfrm>
          <a:prstGeom prst="bentConnector3">
            <a:avLst/>
          </a:prstGeom>
          <a:ln>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Rectangle 5"/>
          <p:cNvSpPr>
            <a:spLocks noChangeArrowheads="1"/>
          </p:cNvSpPr>
          <p:nvPr/>
        </p:nvSpPr>
        <p:spPr bwMode="auto">
          <a:xfrm>
            <a:off x="2930543" y="3362786"/>
            <a:ext cx="542925" cy="348102"/>
          </a:xfrm>
          <a:prstGeom prst="rect">
            <a:avLst/>
          </a:prstGeom>
          <a:noFill/>
          <a:ln w="9525" algn="ctr">
            <a:noFill/>
            <a:miter lim="800000"/>
            <a:headEnd/>
            <a:tailEnd/>
          </a:ln>
        </p:spPr>
        <p:txBody>
          <a:bodyPr wrap="none" anchor="ctr"/>
          <a:lstStyle/>
          <a:p>
            <a:pPr algn="ctr"/>
            <a:r>
              <a:rPr lang="ko-KR" altLang="en-US" sz="1000" b="0" dirty="0" err="1">
                <a:solidFill>
                  <a:schemeClr val="tx1"/>
                </a:solidFill>
                <a:latin typeface="+mj-ea"/>
                <a:ea typeface="+mj-ea"/>
              </a:rPr>
              <a:t>위임계약</a:t>
            </a:r>
            <a:r>
              <a:rPr lang="ko-KR" altLang="en-US" sz="1000" b="0" dirty="0">
                <a:solidFill>
                  <a:schemeClr val="tx1"/>
                </a:solidFill>
                <a:latin typeface="+mj-ea"/>
                <a:ea typeface="+mj-ea"/>
              </a:rPr>
              <a:t> 체결</a:t>
            </a:r>
          </a:p>
        </p:txBody>
      </p:sp>
      <p:sp>
        <p:nvSpPr>
          <p:cNvPr id="35" name="Rectangle 5"/>
          <p:cNvSpPr>
            <a:spLocks noChangeArrowheads="1"/>
          </p:cNvSpPr>
          <p:nvPr/>
        </p:nvSpPr>
        <p:spPr bwMode="auto">
          <a:xfrm>
            <a:off x="4094823" y="2989404"/>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 </a:t>
            </a:r>
            <a:r>
              <a:rPr lang="ko-KR" altLang="en-US" sz="1000" b="0" dirty="0" err="1">
                <a:solidFill>
                  <a:schemeClr val="tx1"/>
                </a:solidFill>
                <a:latin typeface="+mj-ea"/>
                <a:ea typeface="+mj-ea"/>
              </a:rPr>
              <a:t>위임계약</a:t>
            </a:r>
            <a:r>
              <a:rPr lang="ko-KR" altLang="en-US" sz="1000" b="0" dirty="0">
                <a:solidFill>
                  <a:schemeClr val="tx1"/>
                </a:solidFill>
                <a:latin typeface="+mj-ea"/>
                <a:ea typeface="+mj-ea"/>
              </a:rPr>
              <a:t> 체결</a:t>
            </a:r>
          </a:p>
        </p:txBody>
      </p:sp>
      <p:cxnSp>
        <p:nvCxnSpPr>
          <p:cNvPr id="15" name="직선 연결선 14"/>
          <p:cNvCxnSpPr>
            <a:stCxn id="38" idx="2"/>
          </p:cNvCxnSpPr>
          <p:nvPr/>
        </p:nvCxnSpPr>
        <p:spPr>
          <a:xfrm>
            <a:off x="1474308" y="4413319"/>
            <a:ext cx="0" cy="1175990"/>
          </a:xfrm>
          <a:prstGeom prst="line">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 name="직선 연결선 16"/>
          <p:cNvCxnSpPr>
            <a:stCxn id="26" idx="2"/>
          </p:cNvCxnSpPr>
          <p:nvPr/>
        </p:nvCxnSpPr>
        <p:spPr>
          <a:xfrm>
            <a:off x="2769252" y="4413319"/>
            <a:ext cx="0" cy="1175990"/>
          </a:xfrm>
          <a:prstGeom prst="line">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 name="직선 연결선 18"/>
          <p:cNvCxnSpPr>
            <a:stCxn id="27" idx="2"/>
          </p:cNvCxnSpPr>
          <p:nvPr/>
        </p:nvCxnSpPr>
        <p:spPr>
          <a:xfrm>
            <a:off x="4130181" y="4413319"/>
            <a:ext cx="0" cy="1175990"/>
          </a:xfrm>
          <a:prstGeom prst="line">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Rectangle 5"/>
          <p:cNvSpPr>
            <a:spLocks noChangeArrowheads="1"/>
          </p:cNvSpPr>
          <p:nvPr/>
        </p:nvSpPr>
        <p:spPr bwMode="auto">
          <a:xfrm>
            <a:off x="2878950" y="4822287"/>
            <a:ext cx="542925" cy="348102"/>
          </a:xfrm>
          <a:prstGeom prst="rect">
            <a:avLst/>
          </a:prstGeom>
          <a:noFill/>
          <a:ln w="9525" algn="ctr">
            <a:noFill/>
            <a:miter lim="800000"/>
            <a:headEnd/>
            <a:tailEnd/>
          </a:ln>
        </p:spPr>
        <p:txBody>
          <a:bodyPr wrap="none" anchor="ctr"/>
          <a:lstStyle/>
          <a:p>
            <a:pPr algn="ctr"/>
            <a:r>
              <a:rPr lang="ko-KR" altLang="en-US" sz="1000" b="0" dirty="0">
                <a:solidFill>
                  <a:schemeClr val="tx1"/>
                </a:solidFill>
                <a:latin typeface="+mj-ea"/>
                <a:ea typeface="+mj-ea"/>
              </a:rPr>
              <a:t>특허에 관한 </a:t>
            </a:r>
            <a:endParaRPr lang="en-US" altLang="ko-KR" sz="1000" b="0" dirty="0">
              <a:solidFill>
                <a:schemeClr val="tx1"/>
              </a:solidFill>
              <a:latin typeface="+mj-ea"/>
              <a:ea typeface="+mj-ea"/>
            </a:endParaRPr>
          </a:p>
          <a:p>
            <a:pPr algn="ctr"/>
            <a:r>
              <a:rPr lang="ko-KR" altLang="en-US" sz="1000" b="0" dirty="0">
                <a:solidFill>
                  <a:schemeClr val="tx1"/>
                </a:solidFill>
                <a:latin typeface="+mj-ea"/>
                <a:ea typeface="+mj-ea"/>
              </a:rPr>
              <a:t>절차 진행</a:t>
            </a:r>
          </a:p>
        </p:txBody>
      </p:sp>
      <p:sp>
        <p:nvSpPr>
          <p:cNvPr id="46" name="Rectangle 5"/>
          <p:cNvSpPr>
            <a:spLocks noChangeArrowheads="1"/>
          </p:cNvSpPr>
          <p:nvPr/>
        </p:nvSpPr>
        <p:spPr bwMode="auto">
          <a:xfrm>
            <a:off x="4317512" y="4809403"/>
            <a:ext cx="542925" cy="348102"/>
          </a:xfrm>
          <a:prstGeom prst="rect">
            <a:avLst/>
          </a:prstGeom>
          <a:noFill/>
          <a:ln w="9525" algn="ctr">
            <a:noFill/>
            <a:miter lim="800000"/>
            <a:headEnd/>
            <a:tailEnd/>
          </a:ln>
        </p:spPr>
        <p:txBody>
          <a:bodyPr wrap="none" anchor="ctr"/>
          <a:lstStyle/>
          <a:p>
            <a:pPr algn="ctr"/>
            <a:r>
              <a:rPr lang="ko-KR" altLang="en-US" sz="1000" b="0" dirty="0">
                <a:solidFill>
                  <a:schemeClr val="tx1"/>
                </a:solidFill>
                <a:latin typeface="+mj-ea"/>
                <a:ea typeface="+mj-ea"/>
              </a:rPr>
              <a:t>특허에 관한 </a:t>
            </a:r>
            <a:endParaRPr lang="en-US" altLang="ko-KR" sz="1000" b="0" dirty="0">
              <a:solidFill>
                <a:schemeClr val="tx1"/>
              </a:solidFill>
              <a:latin typeface="+mj-ea"/>
              <a:ea typeface="+mj-ea"/>
            </a:endParaRPr>
          </a:p>
          <a:p>
            <a:pPr algn="ctr"/>
            <a:r>
              <a:rPr lang="ko-KR" altLang="en-US" sz="1000" b="0" dirty="0">
                <a:solidFill>
                  <a:schemeClr val="tx1"/>
                </a:solidFill>
                <a:latin typeface="+mj-ea"/>
                <a:ea typeface="+mj-ea"/>
              </a:rPr>
              <a:t>절차 진행</a:t>
            </a:r>
          </a:p>
        </p:txBody>
      </p:sp>
      <p:sp>
        <p:nvSpPr>
          <p:cNvPr id="25" name="TextBox 24"/>
          <p:cNvSpPr txBox="1"/>
          <p:nvPr/>
        </p:nvSpPr>
        <p:spPr>
          <a:xfrm>
            <a:off x="5118632" y="4696118"/>
            <a:ext cx="601447" cy="646331"/>
          </a:xfrm>
          <a:prstGeom prst="rect">
            <a:avLst/>
          </a:prstGeom>
          <a:noFill/>
        </p:spPr>
        <p:txBody>
          <a:bodyPr wrap="none" rtlCol="0">
            <a:spAutoFit/>
          </a:bodyPr>
          <a:lstStyle/>
          <a:p>
            <a:r>
              <a:rPr lang="ko-KR" altLang="en-US" b="1" dirty="0">
                <a:solidFill>
                  <a:srgbClr val="FF0000"/>
                </a:solidFill>
              </a:rPr>
              <a:t>개별</a:t>
            </a:r>
            <a:endParaRPr lang="en-US" altLang="ko-KR" b="1" dirty="0">
              <a:solidFill>
                <a:srgbClr val="FF0000"/>
              </a:solidFill>
            </a:endParaRPr>
          </a:p>
          <a:p>
            <a:r>
              <a:rPr lang="ko-KR" altLang="en-US" b="1" dirty="0">
                <a:solidFill>
                  <a:srgbClr val="FF0000"/>
                </a:solidFill>
              </a:rPr>
              <a:t>대리</a:t>
            </a:r>
          </a:p>
        </p:txBody>
      </p:sp>
      <p:sp>
        <p:nvSpPr>
          <p:cNvPr id="63" name="Rectangle 5"/>
          <p:cNvSpPr>
            <a:spLocks noChangeArrowheads="1"/>
          </p:cNvSpPr>
          <p:nvPr/>
        </p:nvSpPr>
        <p:spPr bwMode="auto">
          <a:xfrm>
            <a:off x="195260" y="1282561"/>
            <a:ext cx="14811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err="1">
                <a:solidFill>
                  <a:schemeClr val="bg1"/>
                </a:solidFill>
                <a:latin typeface="+mj-ea"/>
                <a:ea typeface="+mj-ea"/>
              </a:rPr>
              <a:t>개별대리</a:t>
            </a:r>
            <a:endParaRPr lang="ko-KR" altLang="en-US" sz="1600" b="0" dirty="0">
              <a:solidFill>
                <a:schemeClr val="bg1"/>
              </a:solidFill>
              <a:latin typeface="+mj-ea"/>
              <a:ea typeface="+mj-ea"/>
            </a:endParaRPr>
          </a:p>
        </p:txBody>
      </p:sp>
      <p:cxnSp>
        <p:nvCxnSpPr>
          <p:cNvPr id="64" name="직선 연결선 63"/>
          <p:cNvCxnSpPr/>
          <p:nvPr/>
        </p:nvCxnSpPr>
        <p:spPr>
          <a:xfrm>
            <a:off x="6419654" y="4170217"/>
            <a:ext cx="5279010" cy="0"/>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직선 연결선 69"/>
          <p:cNvCxnSpPr/>
          <p:nvPr/>
        </p:nvCxnSpPr>
        <p:spPr>
          <a:xfrm flipH="1">
            <a:off x="7104091" y="4229429"/>
            <a:ext cx="1" cy="51225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6632222" y="4614966"/>
            <a:ext cx="962123" cy="307777"/>
          </a:xfrm>
          <a:prstGeom prst="rect">
            <a:avLst/>
          </a:prstGeom>
          <a:solidFill>
            <a:schemeClr val="bg1"/>
          </a:solidFill>
        </p:spPr>
        <p:txBody>
          <a:bodyPr wrap="none" rtlCol="0">
            <a:noAutofit/>
          </a:bodyPr>
          <a:lstStyle/>
          <a:p>
            <a:pPr algn="ctr"/>
            <a:r>
              <a:rPr lang="en-US" altLang="ko-KR" sz="1400" dirty="0"/>
              <a:t>A</a:t>
            </a:r>
            <a:r>
              <a:rPr lang="ko-KR" altLang="en-US" sz="1400" dirty="0" err="1"/>
              <a:t>절차진행</a:t>
            </a:r>
            <a:endParaRPr lang="ko-KR" altLang="en-US" sz="1400" dirty="0"/>
          </a:p>
        </p:txBody>
      </p:sp>
      <p:sp>
        <p:nvSpPr>
          <p:cNvPr id="76" name="Rectangle 5"/>
          <p:cNvSpPr>
            <a:spLocks noChangeArrowheads="1"/>
          </p:cNvSpPr>
          <p:nvPr/>
        </p:nvSpPr>
        <p:spPr bwMode="auto">
          <a:xfrm>
            <a:off x="6331035" y="1282561"/>
            <a:ext cx="14811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선임 및 </a:t>
            </a:r>
            <a:r>
              <a:rPr lang="ko-KR" altLang="en-US" sz="1600" dirty="0">
                <a:solidFill>
                  <a:schemeClr val="bg1"/>
                </a:solidFill>
                <a:latin typeface="+mj-ea"/>
                <a:ea typeface="+mj-ea"/>
              </a:rPr>
              <a:t>교체</a:t>
            </a:r>
            <a:endParaRPr lang="ko-KR" altLang="en-US" sz="1600" b="0" dirty="0">
              <a:solidFill>
                <a:schemeClr val="bg1"/>
              </a:solidFill>
              <a:latin typeface="+mj-ea"/>
              <a:ea typeface="+mj-ea"/>
            </a:endParaRPr>
          </a:p>
        </p:txBody>
      </p:sp>
      <p:cxnSp>
        <p:nvCxnSpPr>
          <p:cNvPr id="77" name="직선 연결선 76"/>
          <p:cNvCxnSpPr/>
          <p:nvPr/>
        </p:nvCxnSpPr>
        <p:spPr>
          <a:xfrm flipH="1">
            <a:off x="9070603" y="4229429"/>
            <a:ext cx="1" cy="51225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TextBox 77"/>
          <p:cNvSpPr txBox="1"/>
          <p:nvPr/>
        </p:nvSpPr>
        <p:spPr>
          <a:xfrm>
            <a:off x="8598734" y="4614966"/>
            <a:ext cx="962123" cy="307777"/>
          </a:xfrm>
          <a:prstGeom prst="rect">
            <a:avLst/>
          </a:prstGeom>
          <a:solidFill>
            <a:schemeClr val="bg1"/>
          </a:solidFill>
        </p:spPr>
        <p:txBody>
          <a:bodyPr wrap="none" rtlCol="0">
            <a:noAutofit/>
          </a:bodyPr>
          <a:lstStyle/>
          <a:p>
            <a:pPr algn="ctr"/>
            <a:r>
              <a:rPr lang="en-US" altLang="ko-KR" sz="1400" dirty="0"/>
              <a:t>B</a:t>
            </a:r>
            <a:r>
              <a:rPr lang="ko-KR" altLang="en-US" sz="1400" dirty="0" err="1"/>
              <a:t>절차진행</a:t>
            </a:r>
            <a:endParaRPr lang="ko-KR" altLang="en-US" sz="1400" dirty="0"/>
          </a:p>
        </p:txBody>
      </p:sp>
      <p:cxnSp>
        <p:nvCxnSpPr>
          <p:cNvPr id="79" name="직선 연결선 78"/>
          <p:cNvCxnSpPr/>
          <p:nvPr/>
        </p:nvCxnSpPr>
        <p:spPr>
          <a:xfrm flipV="1">
            <a:off x="7952270" y="3395543"/>
            <a:ext cx="0" cy="693315"/>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TextBox 79"/>
          <p:cNvSpPr txBox="1"/>
          <p:nvPr/>
        </p:nvSpPr>
        <p:spPr>
          <a:xfrm>
            <a:off x="7471208" y="2848788"/>
            <a:ext cx="962123" cy="546755"/>
          </a:xfrm>
          <a:prstGeom prst="rect">
            <a:avLst/>
          </a:prstGeom>
          <a:solidFill>
            <a:schemeClr val="bg1"/>
          </a:solidFill>
        </p:spPr>
        <p:txBody>
          <a:bodyPr wrap="none" rtlCol="0">
            <a:noAutofit/>
          </a:bodyPr>
          <a:lstStyle/>
          <a:p>
            <a:pPr algn="ctr"/>
            <a:r>
              <a:rPr lang="ko-KR" altLang="en-US" sz="1400" dirty="0"/>
              <a:t>선임</a:t>
            </a:r>
            <a:r>
              <a:rPr lang="en-US" altLang="ko-KR" sz="1400" dirty="0"/>
              <a:t>/</a:t>
            </a:r>
            <a:r>
              <a:rPr lang="ko-KR" altLang="en-US" sz="1400" dirty="0"/>
              <a:t>교체명령</a:t>
            </a:r>
            <a:endParaRPr lang="en-US" altLang="ko-KR" sz="1400" dirty="0"/>
          </a:p>
          <a:p>
            <a:pPr algn="ctr"/>
            <a:r>
              <a:rPr lang="en-US" altLang="ko-KR" sz="1050" dirty="0"/>
              <a:t>(</a:t>
            </a:r>
            <a:r>
              <a:rPr lang="ko-KR" altLang="en-US" sz="1050" dirty="0"/>
              <a:t>절차 밟는데 부적당 판단</a:t>
            </a:r>
            <a:r>
              <a:rPr lang="en-US" altLang="ko-KR" sz="1050" dirty="0"/>
              <a:t>)</a:t>
            </a:r>
            <a:endParaRPr lang="ko-KR" altLang="en-US" sz="1050" dirty="0"/>
          </a:p>
        </p:txBody>
      </p:sp>
      <p:cxnSp>
        <p:nvCxnSpPr>
          <p:cNvPr id="81" name="직선 연결선 80"/>
          <p:cNvCxnSpPr>
            <a:endCxn id="82" idx="2"/>
          </p:cNvCxnSpPr>
          <p:nvPr/>
        </p:nvCxnSpPr>
        <p:spPr>
          <a:xfrm flipV="1">
            <a:off x="9755867" y="3703320"/>
            <a:ext cx="9193" cy="38553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2" name="TextBox 81"/>
          <p:cNvSpPr txBox="1"/>
          <p:nvPr/>
        </p:nvSpPr>
        <p:spPr>
          <a:xfrm>
            <a:off x="9283998" y="3395543"/>
            <a:ext cx="962123" cy="307777"/>
          </a:xfrm>
          <a:prstGeom prst="rect">
            <a:avLst/>
          </a:prstGeom>
          <a:solidFill>
            <a:schemeClr val="bg1"/>
          </a:solidFill>
        </p:spPr>
        <p:txBody>
          <a:bodyPr wrap="none" rtlCol="0">
            <a:noAutofit/>
          </a:bodyPr>
          <a:lstStyle/>
          <a:p>
            <a:pPr algn="ctr"/>
            <a:r>
              <a:rPr lang="ko-KR" altLang="en-US" sz="1400" dirty="0"/>
              <a:t>선임</a:t>
            </a:r>
            <a:r>
              <a:rPr lang="en-US" altLang="ko-KR" sz="1400" dirty="0"/>
              <a:t>/</a:t>
            </a:r>
            <a:r>
              <a:rPr lang="ko-KR" altLang="en-US" sz="1400" dirty="0"/>
              <a:t>교체</a:t>
            </a:r>
          </a:p>
        </p:txBody>
      </p:sp>
      <p:cxnSp>
        <p:nvCxnSpPr>
          <p:cNvPr id="83" name="직선 연결선 82"/>
          <p:cNvCxnSpPr/>
          <p:nvPr/>
        </p:nvCxnSpPr>
        <p:spPr>
          <a:xfrm flipV="1">
            <a:off x="10924790" y="3252247"/>
            <a:ext cx="0" cy="83661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4" name="TextBox 83"/>
          <p:cNvSpPr txBox="1"/>
          <p:nvPr/>
        </p:nvSpPr>
        <p:spPr>
          <a:xfrm>
            <a:off x="10452921" y="2867643"/>
            <a:ext cx="962123" cy="307777"/>
          </a:xfrm>
          <a:prstGeom prst="rect">
            <a:avLst/>
          </a:prstGeom>
          <a:solidFill>
            <a:schemeClr val="bg1"/>
          </a:solidFill>
        </p:spPr>
        <p:txBody>
          <a:bodyPr wrap="none" rtlCol="0">
            <a:noAutofit/>
          </a:bodyPr>
          <a:lstStyle/>
          <a:p>
            <a:pPr algn="ctr"/>
            <a:r>
              <a:rPr lang="en-US" altLang="ko-KR" sz="2000" dirty="0">
                <a:solidFill>
                  <a:schemeClr val="accent4">
                    <a:lumMod val="75000"/>
                  </a:schemeClr>
                </a:solidFill>
              </a:rPr>
              <a:t>B</a:t>
            </a:r>
            <a:r>
              <a:rPr lang="ko-KR" altLang="en-US" sz="2000" dirty="0">
                <a:solidFill>
                  <a:schemeClr val="accent4">
                    <a:lumMod val="75000"/>
                  </a:schemeClr>
                </a:solidFill>
              </a:rPr>
              <a:t>절차 무효</a:t>
            </a:r>
          </a:p>
        </p:txBody>
      </p:sp>
      <p:cxnSp>
        <p:nvCxnSpPr>
          <p:cNvPr id="87" name="직선 연결선 86"/>
          <p:cNvCxnSpPr/>
          <p:nvPr/>
        </p:nvCxnSpPr>
        <p:spPr>
          <a:xfrm>
            <a:off x="7952270" y="4170217"/>
            <a:ext cx="1803597" cy="0"/>
          </a:xfrm>
          <a:prstGeom prst="line">
            <a:avLst/>
          </a:prstGeom>
          <a:ln w="76200">
            <a:solidFill>
              <a:schemeClr val="accent2">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263146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11</a:t>
            </a:r>
            <a:r>
              <a:rPr lang="ko-KR" altLang="en-US" dirty="0"/>
              <a:t>조</a:t>
            </a:r>
          </a:p>
        </p:txBody>
      </p:sp>
      <p:sp>
        <p:nvSpPr>
          <p:cNvPr id="4" name="텍스트 개체 틀 3"/>
          <p:cNvSpPr>
            <a:spLocks noGrp="1"/>
          </p:cNvSpPr>
          <p:nvPr>
            <p:ph type="body" sz="quarter" idx="13"/>
          </p:nvPr>
        </p:nvSpPr>
        <p:spPr/>
        <p:txBody>
          <a:bodyPr/>
          <a:lstStyle/>
          <a:p>
            <a:r>
              <a:rPr lang="ko-KR" altLang="en-US" dirty="0"/>
              <a:t>복수 당사자 대표</a:t>
            </a:r>
          </a:p>
        </p:txBody>
      </p:sp>
      <p:sp>
        <p:nvSpPr>
          <p:cNvPr id="6" name="슬라이드 번호 개체 틀 5"/>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35</a:t>
            </a:fld>
            <a:endParaRPr lang="ko-KR" altLang="en-US"/>
          </a:p>
        </p:txBody>
      </p:sp>
      <p:sp>
        <p:nvSpPr>
          <p:cNvPr id="5" name="모서리가 둥근 직사각형 4"/>
          <p:cNvSpPr/>
          <p:nvPr/>
        </p:nvSpPr>
        <p:spPr>
          <a:xfrm>
            <a:off x="6018021" y="1984617"/>
            <a:ext cx="1254200" cy="397439"/>
          </a:xfrm>
          <a:prstGeom prst="roundRect">
            <a:avLst>
              <a:gd name="adj" fmla="val 29221"/>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50000"/>
                  </a:schemeClr>
                </a:solidFill>
              </a:rPr>
              <a:t>甲</a:t>
            </a:r>
            <a:r>
              <a:rPr lang="en-US" altLang="ko-KR" dirty="0">
                <a:solidFill>
                  <a:schemeClr val="bg1">
                    <a:lumMod val="50000"/>
                  </a:schemeClr>
                </a:solidFill>
              </a:rPr>
              <a:t>, </a:t>
            </a:r>
            <a:r>
              <a:rPr lang="ko-KR" altLang="en-US" dirty="0">
                <a:solidFill>
                  <a:schemeClr val="bg1">
                    <a:lumMod val="50000"/>
                  </a:schemeClr>
                </a:solidFill>
              </a:rPr>
              <a:t>乙</a:t>
            </a:r>
            <a:r>
              <a:rPr lang="en-US" altLang="ko-KR" dirty="0">
                <a:solidFill>
                  <a:schemeClr val="bg1">
                    <a:lumMod val="50000"/>
                  </a:schemeClr>
                </a:solidFill>
              </a:rPr>
              <a:t>, </a:t>
            </a:r>
            <a:r>
              <a:rPr lang="ko-KR" altLang="en-US" dirty="0">
                <a:solidFill>
                  <a:schemeClr val="bg1">
                    <a:lumMod val="50000"/>
                  </a:schemeClr>
                </a:solidFill>
              </a:rPr>
              <a:t>丙</a:t>
            </a:r>
            <a:endParaRPr lang="en-US" altLang="ko-KR" dirty="0">
              <a:solidFill>
                <a:schemeClr val="bg1">
                  <a:lumMod val="50000"/>
                </a:schemeClr>
              </a:solidFill>
            </a:endParaRPr>
          </a:p>
        </p:txBody>
      </p:sp>
      <p:sp>
        <p:nvSpPr>
          <p:cNvPr id="44" name="모서리가 둥근 직사각형 43"/>
          <p:cNvSpPr/>
          <p:nvPr/>
        </p:nvSpPr>
        <p:spPr>
          <a:xfrm>
            <a:off x="6760029" y="2931623"/>
            <a:ext cx="1159496" cy="633435"/>
          </a:xfrm>
          <a:prstGeom prst="roundRect">
            <a:avLst>
              <a:gd name="adj" fmla="val 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lumMod val="50000"/>
                    <a:lumOff val="50000"/>
                  </a:schemeClr>
                </a:solidFill>
              </a:rPr>
              <a:t>출원</a:t>
            </a:r>
            <a:r>
              <a:rPr lang="en-US" altLang="ko-KR" sz="1400" dirty="0">
                <a:solidFill>
                  <a:schemeClr val="tx1">
                    <a:lumMod val="50000"/>
                    <a:lumOff val="50000"/>
                  </a:schemeClr>
                </a:solidFill>
              </a:rPr>
              <a:t> </a:t>
            </a:r>
            <a:r>
              <a:rPr lang="ko-KR" altLang="en-US" sz="1400" dirty="0">
                <a:solidFill>
                  <a:schemeClr val="tx1">
                    <a:lumMod val="50000"/>
                    <a:lumOff val="50000"/>
                  </a:schemeClr>
                </a:solidFill>
              </a:rPr>
              <a:t>및</a:t>
            </a:r>
            <a:endParaRPr lang="en-US" altLang="ko-KR" sz="1400" dirty="0">
              <a:solidFill>
                <a:schemeClr val="tx1">
                  <a:lumMod val="50000"/>
                  <a:lumOff val="50000"/>
                </a:schemeClr>
              </a:solidFill>
            </a:endParaRPr>
          </a:p>
          <a:p>
            <a:pPr algn="ctr"/>
            <a:r>
              <a:rPr lang="ko-KR" altLang="en-US" sz="1400" dirty="0">
                <a:solidFill>
                  <a:schemeClr val="tx1">
                    <a:lumMod val="50000"/>
                    <a:lumOff val="50000"/>
                  </a:schemeClr>
                </a:solidFill>
              </a:rPr>
              <a:t>심판청구</a:t>
            </a:r>
          </a:p>
        </p:txBody>
      </p:sp>
      <p:sp>
        <p:nvSpPr>
          <p:cNvPr id="35" name="Rectangle 5"/>
          <p:cNvSpPr>
            <a:spLocks noChangeArrowheads="1"/>
          </p:cNvSpPr>
          <p:nvPr/>
        </p:nvSpPr>
        <p:spPr bwMode="auto">
          <a:xfrm>
            <a:off x="6352787" y="1628355"/>
            <a:ext cx="542925" cy="348102"/>
          </a:xfrm>
          <a:prstGeom prst="rect">
            <a:avLst/>
          </a:prstGeom>
          <a:noFill/>
          <a:ln w="9525" algn="ctr">
            <a:noFill/>
            <a:miter lim="800000"/>
            <a:headEnd/>
            <a:tailEnd/>
          </a:ln>
        </p:spPr>
        <p:txBody>
          <a:bodyPr wrap="none" anchor="ctr"/>
          <a:lstStyle/>
          <a:p>
            <a:pPr algn="ctr"/>
            <a:r>
              <a:rPr lang="ko-KR" altLang="en-US" sz="1100" b="0" dirty="0" err="1">
                <a:solidFill>
                  <a:schemeClr val="tx1"/>
                </a:solidFill>
                <a:latin typeface="+mj-ea"/>
                <a:ea typeface="+mj-ea"/>
              </a:rPr>
              <a:t>공동발명</a:t>
            </a:r>
            <a:endParaRPr lang="ko-KR" altLang="en-US" sz="1100" b="0" dirty="0">
              <a:solidFill>
                <a:schemeClr val="tx1"/>
              </a:solidFill>
              <a:latin typeface="+mj-ea"/>
              <a:ea typeface="+mj-ea"/>
            </a:endParaRPr>
          </a:p>
        </p:txBody>
      </p:sp>
      <p:graphicFrame>
        <p:nvGraphicFramePr>
          <p:cNvPr id="2" name="표 1"/>
          <p:cNvGraphicFramePr>
            <a:graphicFrameLocks noGrp="1"/>
          </p:cNvGraphicFramePr>
          <p:nvPr>
            <p:extLst>
              <p:ext uri="{D42A27DB-BD31-4B8C-83A1-F6EECF244321}">
                <p14:modId xmlns:p14="http://schemas.microsoft.com/office/powerpoint/2010/main" val="3849982699"/>
              </p:ext>
            </p:extLst>
          </p:nvPr>
        </p:nvGraphicFramePr>
        <p:xfrm>
          <a:off x="324307" y="1226099"/>
          <a:ext cx="5386383" cy="5434677"/>
        </p:xfrm>
        <a:graphic>
          <a:graphicData uri="http://schemas.openxmlformats.org/drawingml/2006/table">
            <a:tbl>
              <a:tblPr>
                <a:tableStyleId>{BC89EF96-8CEA-46FF-86C4-4CE0E7609802}</a:tableStyleId>
              </a:tblPr>
              <a:tblGrid>
                <a:gridCol w="499938">
                  <a:extLst>
                    <a:ext uri="{9D8B030D-6E8A-4147-A177-3AD203B41FA5}">
                      <a16:colId xmlns:a16="http://schemas.microsoft.com/office/drawing/2014/main" val="3564795478"/>
                    </a:ext>
                  </a:extLst>
                </a:gridCol>
                <a:gridCol w="590289">
                  <a:extLst>
                    <a:ext uri="{9D8B030D-6E8A-4147-A177-3AD203B41FA5}">
                      <a16:colId xmlns:a16="http://schemas.microsoft.com/office/drawing/2014/main" val="2625949882"/>
                    </a:ext>
                  </a:extLst>
                </a:gridCol>
                <a:gridCol w="4296156">
                  <a:extLst>
                    <a:ext uri="{9D8B030D-6E8A-4147-A177-3AD203B41FA5}">
                      <a16:colId xmlns:a16="http://schemas.microsoft.com/office/drawing/2014/main" val="3935710176"/>
                    </a:ext>
                  </a:extLst>
                </a:gridCol>
              </a:tblGrid>
              <a:tr h="262649">
                <a:tc gridSpan="2">
                  <a:txBody>
                    <a:bodyPr/>
                    <a:lstStyle/>
                    <a:p>
                      <a:pPr marL="0" marR="0" indent="0" algn="ctr" fontAlgn="base" latinLnBrk="0">
                        <a:lnSpc>
                          <a:spcPct val="120000"/>
                        </a:lnSpc>
                        <a:spcBef>
                          <a:spcPts val="0"/>
                        </a:spcBef>
                        <a:spcAft>
                          <a:spcPts val="0"/>
                        </a:spcAft>
                      </a:pPr>
                      <a:r>
                        <a:rPr lang="ko-KR" altLang="en-US" sz="1100" b="1" kern="1200" dirty="0"/>
                        <a:t>구 별</a:t>
                      </a:r>
                      <a:endParaRPr lang="ko-KR" altLang="en-US" sz="1100" b="1" kern="1200" dirty="0">
                        <a:solidFill>
                          <a:schemeClr val="tx2"/>
                        </a:solidFill>
                        <a:latin typeface="+mn-lt"/>
                        <a:ea typeface="+mn-ea"/>
                        <a:cs typeface="+mn-cs"/>
                      </a:endParaRP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20000"/>
                        </a:lnSpc>
                        <a:spcBef>
                          <a:spcPts val="0"/>
                        </a:spcBef>
                        <a:spcAft>
                          <a:spcPts val="0"/>
                        </a:spcAft>
                      </a:pPr>
                      <a:r>
                        <a:rPr lang="ko-KR" altLang="en-US" sz="1100" b="1" kern="1200" dirty="0"/>
                        <a:t>내 용</a:t>
                      </a:r>
                      <a:endParaRPr lang="ko-KR" altLang="en-US" sz="1100" b="1" kern="1200" dirty="0">
                        <a:solidFill>
                          <a:schemeClr val="tx2"/>
                        </a:solidFill>
                        <a:latin typeface="+mn-lt"/>
                        <a:ea typeface="+mn-ea"/>
                        <a:cs typeface="+mn-cs"/>
                      </a:endParaRP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788594326"/>
                  </a:ext>
                </a:extLst>
              </a:tr>
              <a:tr h="1554168">
                <a:tc rowSpan="2">
                  <a:txBody>
                    <a:bodyPr/>
                    <a:lstStyle/>
                    <a:p>
                      <a:pPr marL="0" marR="0" indent="0" algn="ctr" fontAlgn="base" latinLnBrk="0">
                        <a:lnSpc>
                          <a:spcPct val="120000"/>
                        </a:lnSpc>
                        <a:spcBef>
                          <a:spcPts val="0"/>
                        </a:spcBef>
                        <a:spcAft>
                          <a:spcPts val="0"/>
                        </a:spcAft>
                      </a:pPr>
                      <a:r>
                        <a:rPr lang="ko-KR" altLang="en-US" sz="1100" b="1" kern="1200" dirty="0"/>
                        <a:t>출원 </a:t>
                      </a:r>
                      <a:endParaRPr lang="en-US" altLang="ko-KR" sz="1100" b="1" kern="1200" dirty="0"/>
                    </a:p>
                    <a:p>
                      <a:pPr marL="0" marR="0" indent="0" algn="ctr" fontAlgn="base" latinLnBrk="0">
                        <a:lnSpc>
                          <a:spcPct val="120000"/>
                        </a:lnSpc>
                        <a:spcBef>
                          <a:spcPts val="0"/>
                        </a:spcBef>
                        <a:spcAft>
                          <a:spcPts val="0"/>
                        </a:spcAft>
                      </a:pPr>
                      <a:r>
                        <a:rPr lang="ko-KR" altLang="en-US" sz="1100" b="1" kern="1200" dirty="0"/>
                        <a:t>및 </a:t>
                      </a:r>
                      <a:endParaRPr lang="en-US" altLang="ko-KR" sz="1100" b="1" kern="1200" dirty="0"/>
                    </a:p>
                    <a:p>
                      <a:pPr marL="0" marR="0" indent="0" algn="ctr" fontAlgn="base" latinLnBrk="0">
                        <a:lnSpc>
                          <a:spcPct val="120000"/>
                        </a:lnSpc>
                        <a:spcBef>
                          <a:spcPts val="0"/>
                        </a:spcBef>
                        <a:spcAft>
                          <a:spcPts val="0"/>
                        </a:spcAft>
                      </a:pPr>
                      <a:r>
                        <a:rPr lang="ko-KR" altLang="en-US" sz="1100" b="1" kern="1200" dirty="0"/>
                        <a:t>심판</a:t>
                      </a:r>
                      <a:endParaRPr lang="en-US" altLang="ko-KR" sz="1100" b="1" kern="1200" dirty="0"/>
                    </a:p>
                    <a:p>
                      <a:pPr marL="0" marR="0" indent="0" algn="ctr" fontAlgn="base" latinLnBrk="0">
                        <a:lnSpc>
                          <a:spcPct val="120000"/>
                        </a:lnSpc>
                        <a:spcBef>
                          <a:spcPts val="0"/>
                        </a:spcBef>
                        <a:spcAft>
                          <a:spcPts val="0"/>
                        </a:spcAft>
                      </a:pPr>
                      <a:r>
                        <a:rPr lang="ko-KR" altLang="en-US" sz="1100" b="1" kern="1200" dirty="0"/>
                        <a:t>청구</a:t>
                      </a:r>
                      <a:endParaRPr lang="ko-KR" altLang="en-US" sz="1100" b="1" kern="1200" dirty="0">
                        <a:solidFill>
                          <a:schemeClr val="tx2"/>
                        </a:solidFill>
                        <a:latin typeface="+mn-lt"/>
                        <a:ea typeface="+mn-ea"/>
                        <a:cs typeface="+mn-cs"/>
                      </a:endParaRP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ctr" fontAlgn="base" latinLnBrk="0">
                        <a:lnSpc>
                          <a:spcPct val="120000"/>
                        </a:lnSpc>
                        <a:spcBef>
                          <a:spcPts val="0"/>
                        </a:spcBef>
                        <a:spcAft>
                          <a:spcPts val="0"/>
                        </a:spcAft>
                      </a:pPr>
                      <a:r>
                        <a:rPr lang="ko-KR" altLang="en-US" sz="1100" b="1" kern="1200"/>
                        <a:t>출원</a:t>
                      </a:r>
                      <a:endParaRPr lang="ko-KR" altLang="en-US" sz="1100" b="1" kern="1200">
                        <a:solidFill>
                          <a:schemeClr val="tx2"/>
                        </a:solidFill>
                        <a:latin typeface="+mn-lt"/>
                        <a:ea typeface="+mn-ea"/>
                        <a:cs typeface="+mn-cs"/>
                      </a:endParaRP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97790" marR="31750" indent="-97790" algn="l" fontAlgn="base" latinLnBrk="1">
                        <a:lnSpc>
                          <a:spcPct val="130000"/>
                        </a:lnSpc>
                        <a:spcBef>
                          <a:spcPts val="0"/>
                        </a:spcBef>
                        <a:spcAft>
                          <a:spcPts val="0"/>
                        </a:spcAft>
                      </a:pPr>
                      <a:r>
                        <a:rPr lang="en-US" altLang="ko-KR" sz="1100" kern="1200" dirty="0"/>
                        <a:t>1. </a:t>
                      </a:r>
                      <a:r>
                        <a:rPr lang="ko-KR" altLang="en-US" sz="1100" kern="1200" dirty="0"/>
                        <a:t>특허출원 → 공유자 모두가 공동출원하여야 하며</a:t>
                      </a:r>
                      <a:r>
                        <a:rPr lang="en-US" altLang="ko-KR" sz="1100" kern="1200" dirty="0"/>
                        <a:t>(</a:t>
                      </a:r>
                      <a:r>
                        <a:rPr lang="ko-KR" altLang="en-US" sz="1100" kern="1200" dirty="0"/>
                        <a:t>法 </a:t>
                      </a:r>
                      <a:r>
                        <a:rPr lang="en-US" altLang="ko-KR" sz="1100" kern="1200" dirty="0"/>
                        <a:t>44), </a:t>
                      </a:r>
                      <a:r>
                        <a:rPr lang="ko-KR" altLang="en-US" sz="1100" kern="1200" dirty="0"/>
                        <a:t>이에 위반시 거절이유</a:t>
                      </a:r>
                      <a:r>
                        <a:rPr lang="en-US" altLang="ko-KR" sz="1100" kern="1200" dirty="0"/>
                        <a:t>(</a:t>
                      </a:r>
                      <a:r>
                        <a:rPr lang="ko-KR" altLang="en-US" sz="1100" kern="1200" dirty="0"/>
                        <a:t>法 </a:t>
                      </a:r>
                      <a:r>
                        <a:rPr lang="en-US" altLang="ko-KR" sz="1100" kern="1200" dirty="0"/>
                        <a:t>62), </a:t>
                      </a:r>
                      <a:r>
                        <a:rPr lang="ko-KR" altLang="en-US" sz="1100" kern="1200" dirty="0"/>
                        <a:t>정보제공사유</a:t>
                      </a:r>
                      <a:r>
                        <a:rPr lang="en-US" altLang="ko-KR" sz="1100" kern="1200" dirty="0"/>
                        <a:t>(</a:t>
                      </a:r>
                      <a:r>
                        <a:rPr lang="ko-KR" altLang="en-US" sz="1100" kern="1200" dirty="0"/>
                        <a:t>法 </a:t>
                      </a:r>
                      <a:r>
                        <a:rPr lang="en-US" altLang="ko-KR" sz="1100" kern="1200" dirty="0"/>
                        <a:t>63</a:t>
                      </a:r>
                      <a:r>
                        <a:rPr lang="ko-KR" altLang="en-US" sz="1100" kern="1200" dirty="0"/>
                        <a:t>의</a:t>
                      </a:r>
                      <a:r>
                        <a:rPr lang="en-US" altLang="ko-KR" sz="1100" kern="1200" dirty="0"/>
                        <a:t>2), </a:t>
                      </a:r>
                      <a:r>
                        <a:rPr lang="ko-KR" altLang="en-US" sz="1100" kern="1200" dirty="0"/>
                        <a:t>특허무효사유</a:t>
                      </a:r>
                      <a:r>
                        <a:rPr lang="en-US" altLang="ko-KR" sz="1100" kern="1200" dirty="0"/>
                        <a:t>(</a:t>
                      </a:r>
                      <a:r>
                        <a:rPr lang="ko-KR" altLang="en-US" sz="1100" kern="1200" dirty="0"/>
                        <a:t>法 </a:t>
                      </a:r>
                      <a:r>
                        <a:rPr lang="en-US" altLang="ko-KR" sz="1100" kern="1200" dirty="0"/>
                        <a:t>133</a:t>
                      </a:r>
                      <a:r>
                        <a:rPr lang="ko-KR" altLang="en-US" sz="1100" kern="1200" dirty="0"/>
                        <a:t>①</a:t>
                      </a:r>
                      <a:r>
                        <a:rPr lang="en-US" altLang="ko-KR" sz="1100" kern="1200" dirty="0"/>
                        <a:t>). </a:t>
                      </a:r>
                      <a:r>
                        <a:rPr lang="ko-KR" altLang="en-US" sz="1100" kern="1200" dirty="0"/>
                        <a:t>다만</a:t>
                      </a:r>
                      <a:r>
                        <a:rPr lang="en-US" altLang="ko-KR" sz="1100" kern="1200" dirty="0"/>
                        <a:t>, </a:t>
                      </a:r>
                      <a:r>
                        <a:rPr lang="ko-KR" altLang="en-US" sz="1100" kern="1200" dirty="0"/>
                        <a:t>등록 후 법원에 </a:t>
                      </a:r>
                      <a:r>
                        <a:rPr lang="ko-KR" altLang="en-US" sz="1100" kern="1200" dirty="0" err="1"/>
                        <a:t>이전청구</a:t>
                      </a:r>
                      <a:r>
                        <a:rPr lang="ko-KR" altLang="en-US" sz="1100" kern="1200" dirty="0"/>
                        <a:t> 가능하고</a:t>
                      </a:r>
                      <a:r>
                        <a:rPr lang="en-US" altLang="ko-KR" sz="1100" kern="1200" dirty="0"/>
                        <a:t>(</a:t>
                      </a:r>
                      <a:r>
                        <a:rPr lang="ko-KR" altLang="en-US" sz="1100" kern="1200" dirty="0"/>
                        <a:t>法 </a:t>
                      </a:r>
                      <a:r>
                        <a:rPr lang="en-US" altLang="ko-KR" sz="1100" kern="1200" dirty="0"/>
                        <a:t>99</a:t>
                      </a:r>
                      <a:r>
                        <a:rPr lang="ko-KR" altLang="en-US" sz="1100" kern="1200" dirty="0"/>
                        <a:t>의</a:t>
                      </a:r>
                      <a:r>
                        <a:rPr lang="en-US" altLang="ko-KR" sz="1100" kern="1200" dirty="0"/>
                        <a:t>2), </a:t>
                      </a:r>
                      <a:r>
                        <a:rPr lang="ko-KR" altLang="en-US" sz="1100" kern="1200" dirty="0" err="1"/>
                        <a:t>이전청구에</a:t>
                      </a:r>
                      <a:r>
                        <a:rPr lang="ko-KR" altLang="en-US" sz="1100" kern="1200" dirty="0"/>
                        <a:t> 기초하여 </a:t>
                      </a:r>
                      <a:r>
                        <a:rPr lang="ko-KR" altLang="en-US" sz="1100" kern="1200" dirty="0" err="1"/>
                        <a:t>이전등록이</a:t>
                      </a:r>
                      <a:r>
                        <a:rPr lang="ko-KR" altLang="en-US" sz="1100" kern="1200" dirty="0"/>
                        <a:t> 있으면 특허무효사유에서 제외</a:t>
                      </a:r>
                    </a:p>
                    <a:p>
                      <a:pPr marL="116840" marR="31750" indent="-116840" algn="l" fontAlgn="base" latinLnBrk="1">
                        <a:lnSpc>
                          <a:spcPct val="130000"/>
                        </a:lnSpc>
                        <a:spcBef>
                          <a:spcPts val="0"/>
                        </a:spcBef>
                        <a:spcAft>
                          <a:spcPts val="0"/>
                        </a:spcAft>
                      </a:pPr>
                      <a:r>
                        <a:rPr lang="en-US" altLang="ko-KR" sz="1100" kern="1200" dirty="0"/>
                        <a:t>2. </a:t>
                      </a:r>
                      <a:r>
                        <a:rPr lang="ko-KR" altLang="en-US" sz="1100" kern="1200" dirty="0" err="1"/>
                        <a:t>존속기간연장등록출원</a:t>
                      </a:r>
                      <a:r>
                        <a:rPr lang="ko-KR" altLang="en-US" sz="1100" kern="1200" dirty="0"/>
                        <a:t> → 공유자 모두가 공동출원하여야 하며</a:t>
                      </a:r>
                      <a:r>
                        <a:rPr lang="en-US" altLang="ko-KR" sz="1100" kern="1200" dirty="0"/>
                        <a:t>(</a:t>
                      </a:r>
                      <a:r>
                        <a:rPr lang="ko-KR" altLang="en-US" sz="1100" kern="1200" dirty="0"/>
                        <a:t>法 </a:t>
                      </a:r>
                      <a:r>
                        <a:rPr lang="en-US" altLang="ko-KR" sz="1100" kern="1200" dirty="0"/>
                        <a:t>90</a:t>
                      </a:r>
                      <a:r>
                        <a:rPr lang="ko-KR" altLang="en-US" sz="1100" kern="1200" dirty="0"/>
                        <a:t>③</a:t>
                      </a:r>
                      <a:r>
                        <a:rPr lang="en-US" altLang="ko-KR" sz="1100" kern="1200" dirty="0"/>
                        <a:t>, 92</a:t>
                      </a:r>
                      <a:r>
                        <a:rPr lang="ko-KR" altLang="en-US" sz="1100" kern="1200" dirty="0"/>
                        <a:t>의</a:t>
                      </a:r>
                      <a:r>
                        <a:rPr lang="en-US" altLang="ko-KR" sz="1100" kern="1200" dirty="0"/>
                        <a:t>3</a:t>
                      </a:r>
                      <a:r>
                        <a:rPr lang="ko-KR" altLang="en-US" sz="1100" kern="1200" dirty="0"/>
                        <a:t>③</a:t>
                      </a:r>
                      <a:r>
                        <a:rPr lang="en-US" altLang="ko-KR" sz="1100" kern="1200" dirty="0"/>
                        <a:t>), </a:t>
                      </a:r>
                      <a:r>
                        <a:rPr lang="ko-KR" altLang="en-US" sz="1100" kern="1200" dirty="0"/>
                        <a:t>이에 위반시 거절이유</a:t>
                      </a:r>
                      <a:r>
                        <a:rPr lang="en-US" altLang="ko-KR" sz="1100" kern="1200" dirty="0"/>
                        <a:t>(</a:t>
                      </a:r>
                      <a:r>
                        <a:rPr lang="ko-KR" altLang="en-US" sz="1100" kern="1200" dirty="0"/>
                        <a:t>法 </a:t>
                      </a:r>
                      <a:r>
                        <a:rPr lang="en-US" altLang="ko-KR" sz="1100" kern="1200" dirty="0"/>
                        <a:t>91, 92</a:t>
                      </a:r>
                      <a:r>
                        <a:rPr lang="ko-KR" altLang="en-US" sz="1100" kern="1200" dirty="0"/>
                        <a:t>의</a:t>
                      </a:r>
                      <a:r>
                        <a:rPr lang="en-US" altLang="ko-KR" sz="1100" kern="1200" dirty="0"/>
                        <a:t>4), </a:t>
                      </a:r>
                      <a:r>
                        <a:rPr lang="ko-KR" altLang="en-US" sz="1100" kern="1200" dirty="0" err="1"/>
                        <a:t>무효사유</a:t>
                      </a:r>
                      <a:r>
                        <a:rPr lang="en-US" altLang="ko-KR" sz="1100" kern="1200" dirty="0"/>
                        <a:t>(</a:t>
                      </a:r>
                      <a:r>
                        <a:rPr lang="ko-KR" altLang="en-US" sz="1100" kern="1200" dirty="0"/>
                        <a:t>法 </a:t>
                      </a:r>
                      <a:r>
                        <a:rPr lang="en-US" altLang="ko-KR" sz="1100" kern="1200" dirty="0"/>
                        <a:t>134</a:t>
                      </a:r>
                      <a:r>
                        <a:rPr lang="ko-KR" altLang="en-US" sz="1100" kern="1200" dirty="0"/>
                        <a:t>①②</a:t>
                      </a:r>
                      <a:r>
                        <a:rPr lang="en-US" altLang="ko-KR" sz="1100" kern="1200" dirty="0"/>
                        <a:t>) </a:t>
                      </a:r>
                      <a:endParaRPr lang="ko-KR" altLang="en-US" sz="1100" kern="1200" dirty="0">
                        <a:solidFill>
                          <a:schemeClr val="tx2"/>
                        </a:solidFill>
                        <a:latin typeface="+mn-lt"/>
                        <a:ea typeface="+mn-ea"/>
                        <a:cs typeface="+mn-cs"/>
                      </a:endParaRP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35406806"/>
                  </a:ext>
                </a:extLst>
              </a:tr>
              <a:tr h="1809525">
                <a:tc vMerge="1">
                  <a:txBody>
                    <a:bodyPr/>
                    <a:lstStyle/>
                    <a:p>
                      <a:pPr latinLnBrk="1"/>
                      <a:endParaRPr lang="ko-KR" altLang="en-US"/>
                    </a:p>
                  </a:txBody>
                  <a:tcPr/>
                </a:tc>
                <a:tc>
                  <a:txBody>
                    <a:bodyPr/>
                    <a:lstStyle/>
                    <a:p>
                      <a:pPr marL="0" marR="0" indent="0" algn="ctr" fontAlgn="base" latinLnBrk="0">
                        <a:lnSpc>
                          <a:spcPct val="120000"/>
                        </a:lnSpc>
                        <a:spcBef>
                          <a:spcPts val="0"/>
                        </a:spcBef>
                        <a:spcAft>
                          <a:spcPts val="0"/>
                        </a:spcAft>
                      </a:pPr>
                      <a:r>
                        <a:rPr lang="ko-KR" altLang="en-US" sz="1100" b="1" kern="1200" dirty="0"/>
                        <a:t>심판</a:t>
                      </a:r>
                      <a:endParaRPr lang="en-US" altLang="ko-KR" sz="1100" b="1" kern="1200" dirty="0"/>
                    </a:p>
                    <a:p>
                      <a:pPr marL="0" marR="0" indent="0" algn="ctr" fontAlgn="base" latinLnBrk="0">
                        <a:lnSpc>
                          <a:spcPct val="120000"/>
                        </a:lnSpc>
                        <a:spcBef>
                          <a:spcPts val="0"/>
                        </a:spcBef>
                        <a:spcAft>
                          <a:spcPts val="0"/>
                        </a:spcAft>
                      </a:pPr>
                      <a:r>
                        <a:rPr lang="ko-KR" altLang="en-US" sz="1100" b="1" kern="1200" dirty="0"/>
                        <a:t>청구</a:t>
                      </a:r>
                      <a:endParaRPr lang="ko-KR" altLang="en-US" sz="1100" b="1" kern="1200" dirty="0">
                        <a:solidFill>
                          <a:schemeClr val="tx2"/>
                        </a:solidFill>
                        <a:latin typeface="+mn-lt"/>
                        <a:ea typeface="+mn-ea"/>
                        <a:cs typeface="+mn-cs"/>
                      </a:endParaRP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33350" marR="31750" indent="-133350" algn="l" fontAlgn="base" latinLnBrk="1">
                        <a:lnSpc>
                          <a:spcPct val="130000"/>
                        </a:lnSpc>
                        <a:spcBef>
                          <a:spcPts val="0"/>
                        </a:spcBef>
                        <a:spcAft>
                          <a:spcPts val="0"/>
                        </a:spcAft>
                      </a:pPr>
                      <a:r>
                        <a:rPr lang="en-US" altLang="ko-KR" sz="1100" kern="1200" dirty="0"/>
                        <a:t>1. </a:t>
                      </a:r>
                      <a:r>
                        <a:rPr lang="ko-KR" altLang="en-US" sz="1100" kern="1200" dirty="0"/>
                        <a:t>특허무효심판</a:t>
                      </a:r>
                      <a:r>
                        <a:rPr lang="en-US" altLang="ko-KR" sz="1100" kern="1200" dirty="0"/>
                        <a:t>(</a:t>
                      </a:r>
                      <a:r>
                        <a:rPr lang="ko-KR" altLang="en-US" sz="1100" kern="1200" dirty="0"/>
                        <a:t>法 </a:t>
                      </a:r>
                      <a:r>
                        <a:rPr lang="en-US" altLang="ko-KR" sz="1100" kern="1200" dirty="0"/>
                        <a:t>133), </a:t>
                      </a:r>
                      <a:r>
                        <a:rPr lang="ko-KR" altLang="en-US" sz="1100" kern="1200" dirty="0"/>
                        <a:t>특허권의 존속기간 연장등록무효심판</a:t>
                      </a:r>
                      <a:r>
                        <a:rPr lang="en-US" altLang="ko-KR" sz="1100" kern="1200" dirty="0"/>
                        <a:t>(</a:t>
                      </a:r>
                      <a:r>
                        <a:rPr lang="ko-KR" altLang="en-US" sz="1100" kern="1200" dirty="0"/>
                        <a:t>法 </a:t>
                      </a:r>
                      <a:r>
                        <a:rPr lang="en-US" altLang="ko-KR" sz="1100" kern="1200" dirty="0"/>
                        <a:t>134), </a:t>
                      </a:r>
                      <a:r>
                        <a:rPr lang="ko-KR" altLang="en-US" sz="1100" kern="1200" dirty="0"/>
                        <a:t>정정무효심판</a:t>
                      </a:r>
                      <a:r>
                        <a:rPr lang="en-US" altLang="ko-KR" sz="1100" kern="1200" dirty="0"/>
                        <a:t>(</a:t>
                      </a:r>
                      <a:r>
                        <a:rPr lang="ko-KR" altLang="en-US" sz="1100" kern="1200" dirty="0"/>
                        <a:t>法 </a:t>
                      </a:r>
                      <a:r>
                        <a:rPr lang="en-US" altLang="ko-KR" sz="1100" kern="1200" dirty="0"/>
                        <a:t>137) </a:t>
                      </a:r>
                      <a:r>
                        <a:rPr lang="ko-KR" altLang="en-US" sz="1100" kern="1200" dirty="0"/>
                        <a:t>또는 권리범위확인심판</a:t>
                      </a:r>
                      <a:r>
                        <a:rPr lang="en-US" altLang="ko-KR" sz="1100" kern="1200" dirty="0"/>
                        <a:t>(</a:t>
                      </a:r>
                      <a:r>
                        <a:rPr lang="ko-KR" altLang="en-US" sz="1100" kern="1200" dirty="0"/>
                        <a:t>法 </a:t>
                      </a:r>
                      <a:r>
                        <a:rPr lang="en-US" altLang="ko-KR" sz="1100" kern="1200" dirty="0"/>
                        <a:t>135)</a:t>
                      </a:r>
                      <a:r>
                        <a:rPr lang="ko-KR" altLang="en-US" sz="1100" kern="1200" dirty="0"/>
                        <a:t>을 청구하는 자가 </a:t>
                      </a:r>
                      <a:r>
                        <a:rPr lang="en-US" altLang="ko-KR" sz="1100" kern="1200" dirty="0"/>
                        <a:t>2</a:t>
                      </a:r>
                      <a:r>
                        <a:rPr lang="ko-KR" altLang="en-US" sz="1100" kern="1200" dirty="0"/>
                        <a:t>인 이상이 있는 때에는 그 모두가 공동으로 심판을 청구할 수 있다</a:t>
                      </a:r>
                      <a:r>
                        <a:rPr lang="en-US" altLang="ko-KR" sz="1100" kern="1200" dirty="0"/>
                        <a:t>(</a:t>
                      </a:r>
                      <a:r>
                        <a:rPr lang="ko-KR" altLang="en-US" sz="1100" kern="1200" dirty="0"/>
                        <a:t>法 </a:t>
                      </a:r>
                      <a:r>
                        <a:rPr lang="en-US" altLang="ko-KR" sz="1100" kern="1200" dirty="0"/>
                        <a:t>139</a:t>
                      </a:r>
                      <a:r>
                        <a:rPr lang="ko-KR" altLang="en-US" sz="1100" kern="1200" dirty="0"/>
                        <a:t>①</a:t>
                      </a:r>
                      <a:r>
                        <a:rPr lang="en-US" altLang="ko-KR" sz="1100" kern="1200" dirty="0"/>
                        <a:t>).</a:t>
                      </a:r>
                      <a:endParaRPr lang="ko-KR" altLang="en-US" sz="1100" kern="1200" dirty="0"/>
                    </a:p>
                    <a:p>
                      <a:pPr marL="130810" marR="31750" indent="-130810" algn="l" fontAlgn="base" latinLnBrk="1">
                        <a:lnSpc>
                          <a:spcPct val="130000"/>
                        </a:lnSpc>
                        <a:spcBef>
                          <a:spcPts val="0"/>
                        </a:spcBef>
                        <a:spcAft>
                          <a:spcPts val="0"/>
                        </a:spcAft>
                      </a:pPr>
                      <a:r>
                        <a:rPr lang="en-US" altLang="ko-KR" sz="1100" kern="1200" dirty="0"/>
                        <a:t>2. </a:t>
                      </a:r>
                      <a:r>
                        <a:rPr lang="ko-KR" altLang="en-US" sz="1100" kern="1200" dirty="0"/>
                        <a:t>특허권 또는 특허를 받을 수 있는 권리의 공유자가 그 공유인 권리에 관하여 심판을 청구하는 때에는 공유자 모두가 공동으로 청구하여야 한다</a:t>
                      </a:r>
                      <a:r>
                        <a:rPr lang="en-US" altLang="ko-KR" sz="1100" kern="1200" dirty="0"/>
                        <a:t>(</a:t>
                      </a:r>
                      <a:r>
                        <a:rPr lang="ko-KR" altLang="en-US" sz="1100" kern="1200" dirty="0"/>
                        <a:t>法 </a:t>
                      </a:r>
                      <a:r>
                        <a:rPr lang="en-US" altLang="ko-KR" sz="1100" kern="1200" dirty="0"/>
                        <a:t>139</a:t>
                      </a:r>
                      <a:r>
                        <a:rPr lang="ko-KR" altLang="en-US" sz="1100" kern="1200" dirty="0"/>
                        <a:t>③</a:t>
                      </a:r>
                      <a:r>
                        <a:rPr lang="en-US" altLang="ko-KR" sz="1100" kern="1200" dirty="0"/>
                        <a:t>). </a:t>
                      </a:r>
                      <a:r>
                        <a:rPr lang="ko-KR" altLang="en-US" sz="1100" kern="1200" dirty="0"/>
                        <a:t>이에 위반시 </a:t>
                      </a:r>
                      <a:r>
                        <a:rPr lang="ko-KR" altLang="en-US" sz="1100" kern="1200" dirty="0" err="1"/>
                        <a:t>심결각하</a:t>
                      </a:r>
                      <a:r>
                        <a:rPr lang="en-US" altLang="ko-KR" sz="1100" kern="1200" dirty="0"/>
                        <a:t>.</a:t>
                      </a:r>
                      <a:endParaRPr lang="ko-KR" altLang="en-US" sz="1100" kern="1200" dirty="0">
                        <a:solidFill>
                          <a:schemeClr val="tx2"/>
                        </a:solidFill>
                        <a:latin typeface="+mn-lt"/>
                        <a:ea typeface="+mn-ea"/>
                        <a:cs typeface="+mn-cs"/>
                      </a:endParaRP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622602565"/>
                  </a:ext>
                </a:extLst>
              </a:tr>
              <a:tr h="1808335">
                <a:tc gridSpan="2">
                  <a:txBody>
                    <a:bodyPr/>
                    <a:lstStyle/>
                    <a:p>
                      <a:pPr marL="0" marR="0" indent="0" algn="ctr" fontAlgn="base" latinLnBrk="0">
                        <a:lnSpc>
                          <a:spcPct val="120000"/>
                        </a:lnSpc>
                        <a:spcBef>
                          <a:spcPts val="0"/>
                        </a:spcBef>
                        <a:spcAft>
                          <a:spcPts val="0"/>
                        </a:spcAft>
                      </a:pPr>
                      <a:r>
                        <a:rPr lang="ko-KR" altLang="en-US" sz="1100" b="1" kern="1200" dirty="0"/>
                        <a:t>그 밖의 절차</a:t>
                      </a:r>
                      <a:endParaRPr lang="ko-KR" altLang="en-US" sz="1100" b="1" kern="1200" dirty="0">
                        <a:solidFill>
                          <a:schemeClr val="tx2"/>
                        </a:solidFill>
                        <a:latin typeface="+mn-lt"/>
                        <a:ea typeface="+mn-ea"/>
                        <a:cs typeface="+mn-cs"/>
                      </a:endParaRP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a:txBody>
                    <a:bodyPr/>
                    <a:lstStyle/>
                    <a:p>
                      <a:pPr marL="31750" marR="31750" indent="0" algn="l" fontAlgn="base" latinLnBrk="1">
                        <a:lnSpc>
                          <a:spcPct val="130000"/>
                        </a:lnSpc>
                        <a:spcBef>
                          <a:spcPts val="0"/>
                        </a:spcBef>
                        <a:spcAft>
                          <a:spcPts val="0"/>
                        </a:spcAft>
                      </a:pPr>
                      <a:r>
                        <a:rPr lang="en-US" altLang="ko-KR" sz="1100" kern="1200" dirty="0"/>
                        <a:t>1. </a:t>
                      </a:r>
                      <a:r>
                        <a:rPr lang="ko-KR" altLang="en-US" sz="1100" kern="1200" dirty="0"/>
                        <a:t>대표자를 선정하지 아니한 경우</a:t>
                      </a:r>
                    </a:p>
                    <a:p>
                      <a:pPr marL="31750" marR="31750" indent="0" algn="l" fontAlgn="base" latinLnBrk="1">
                        <a:lnSpc>
                          <a:spcPct val="130000"/>
                        </a:lnSpc>
                        <a:spcBef>
                          <a:spcPts val="0"/>
                        </a:spcBef>
                        <a:spcAft>
                          <a:spcPts val="0"/>
                        </a:spcAft>
                      </a:pPr>
                      <a:r>
                        <a:rPr lang="ko-KR" altLang="en-US" sz="1100" kern="1200" dirty="0"/>
                        <a:t>① 원칙 → 각자대표</a:t>
                      </a:r>
                      <a:r>
                        <a:rPr lang="en-US" altLang="ko-KR" sz="1100" kern="1200" dirty="0"/>
                        <a:t>(</a:t>
                      </a:r>
                      <a:r>
                        <a:rPr lang="ko-KR" altLang="en-US" sz="1100" kern="1200" dirty="0"/>
                        <a:t>法 </a:t>
                      </a:r>
                      <a:r>
                        <a:rPr lang="en-US" altLang="ko-KR" sz="1100" kern="1200" dirty="0"/>
                        <a:t>11</a:t>
                      </a:r>
                      <a:r>
                        <a:rPr lang="ko-KR" altLang="en-US" sz="1100" kern="1200" dirty="0"/>
                        <a:t>①본문</a:t>
                      </a:r>
                      <a:r>
                        <a:rPr lang="en-US" altLang="ko-KR" sz="1100" kern="1200" dirty="0"/>
                        <a:t>)</a:t>
                      </a:r>
                      <a:endParaRPr lang="ko-KR" altLang="en-US" sz="1100" kern="1200" dirty="0"/>
                    </a:p>
                    <a:p>
                      <a:pPr marL="31750" marR="31750" indent="0" algn="l" fontAlgn="base" latinLnBrk="1">
                        <a:lnSpc>
                          <a:spcPct val="130000"/>
                        </a:lnSpc>
                        <a:spcBef>
                          <a:spcPts val="0"/>
                        </a:spcBef>
                        <a:spcAft>
                          <a:spcPts val="0"/>
                        </a:spcAft>
                      </a:pPr>
                      <a:r>
                        <a:rPr lang="ko-KR" altLang="en-US" sz="1100" kern="1200" dirty="0"/>
                        <a:t>② 예외 → 제</a:t>
                      </a:r>
                      <a:r>
                        <a:rPr lang="en-US" altLang="ko-KR" sz="1100" kern="1200" dirty="0"/>
                        <a:t>11</a:t>
                      </a:r>
                      <a:r>
                        <a:rPr lang="ko-KR" altLang="en-US" sz="1100" kern="1200" dirty="0"/>
                        <a:t>조 제</a:t>
                      </a:r>
                      <a:r>
                        <a:rPr lang="en-US" altLang="ko-KR" sz="1100" kern="1200" dirty="0"/>
                        <a:t>1</a:t>
                      </a:r>
                      <a:r>
                        <a:rPr lang="ko-KR" altLang="en-US" sz="1100" kern="1200" dirty="0"/>
                        <a:t>항 각호에 해당하는 경우 </a:t>
                      </a:r>
                      <a:r>
                        <a:rPr lang="ko-KR" altLang="en-US" sz="1100" kern="1200" dirty="0" err="1"/>
                        <a:t>모두대표</a:t>
                      </a:r>
                      <a:r>
                        <a:rPr lang="en-US" altLang="ko-KR" sz="1100" kern="1200" dirty="0"/>
                        <a:t>(</a:t>
                      </a:r>
                      <a:r>
                        <a:rPr lang="ko-KR" altLang="en-US" sz="1100" kern="1200" dirty="0"/>
                        <a:t>法 </a:t>
                      </a:r>
                      <a:r>
                        <a:rPr lang="en-US" altLang="ko-KR" sz="1100" kern="1200" dirty="0"/>
                        <a:t>11</a:t>
                      </a:r>
                      <a:r>
                        <a:rPr lang="ko-KR" altLang="en-US" sz="1100" kern="1200" dirty="0"/>
                        <a:t>①각호</a:t>
                      </a:r>
                      <a:r>
                        <a:rPr lang="en-US" altLang="ko-KR" sz="1100" kern="1200" dirty="0"/>
                        <a:t>)</a:t>
                      </a:r>
                      <a:endParaRPr lang="ko-KR" altLang="en-US" sz="1100" kern="1200" dirty="0"/>
                    </a:p>
                    <a:p>
                      <a:pPr marL="31750" marR="31750" indent="0" algn="l" fontAlgn="base" latinLnBrk="1">
                        <a:lnSpc>
                          <a:spcPct val="130000"/>
                        </a:lnSpc>
                        <a:spcBef>
                          <a:spcPts val="0"/>
                        </a:spcBef>
                        <a:spcAft>
                          <a:spcPts val="0"/>
                        </a:spcAft>
                      </a:pPr>
                      <a:r>
                        <a:rPr lang="en-US" altLang="ko-KR" sz="1100" kern="1200" dirty="0"/>
                        <a:t>2. </a:t>
                      </a:r>
                      <a:r>
                        <a:rPr lang="ko-KR" altLang="en-US" sz="1100" kern="1200" dirty="0"/>
                        <a:t>대표자를 선정한 경우</a:t>
                      </a:r>
                    </a:p>
                    <a:p>
                      <a:pPr marL="31750" marR="31750" indent="0" algn="l" fontAlgn="base" latinLnBrk="1">
                        <a:lnSpc>
                          <a:spcPct val="130000"/>
                        </a:lnSpc>
                        <a:spcBef>
                          <a:spcPts val="0"/>
                        </a:spcBef>
                        <a:spcAft>
                          <a:spcPts val="0"/>
                        </a:spcAft>
                      </a:pPr>
                      <a:r>
                        <a:rPr lang="ko-KR" altLang="en-US" sz="1100" kern="1200" dirty="0"/>
                        <a:t>① 원칙 → </a:t>
                      </a:r>
                      <a:r>
                        <a:rPr lang="ko-KR" altLang="en-US" sz="1100" kern="1200" dirty="0" err="1"/>
                        <a:t>대표자대표</a:t>
                      </a:r>
                      <a:r>
                        <a:rPr lang="en-US" altLang="ko-KR" sz="1100" kern="1200" dirty="0"/>
                        <a:t>(</a:t>
                      </a:r>
                      <a:r>
                        <a:rPr lang="ko-KR" altLang="en-US" sz="1100" kern="1200" dirty="0"/>
                        <a:t>法 </a:t>
                      </a:r>
                      <a:r>
                        <a:rPr lang="en-US" altLang="ko-KR" sz="1100" kern="1200" dirty="0"/>
                        <a:t>11</a:t>
                      </a:r>
                      <a:r>
                        <a:rPr lang="ko-KR" altLang="en-US" sz="1100" kern="1200" dirty="0"/>
                        <a:t>①단서</a:t>
                      </a:r>
                      <a:r>
                        <a:rPr lang="en-US" altLang="ko-KR" sz="1100" kern="1200" dirty="0"/>
                        <a:t>)</a:t>
                      </a:r>
                      <a:endParaRPr lang="ko-KR" altLang="en-US" sz="1100" kern="1200" dirty="0"/>
                    </a:p>
                    <a:p>
                      <a:pPr marL="31750" marR="31750" indent="0" algn="l" fontAlgn="base" latinLnBrk="1">
                        <a:lnSpc>
                          <a:spcPct val="130000"/>
                        </a:lnSpc>
                        <a:spcBef>
                          <a:spcPts val="0"/>
                        </a:spcBef>
                        <a:spcAft>
                          <a:spcPts val="0"/>
                        </a:spcAft>
                      </a:pPr>
                      <a:r>
                        <a:rPr lang="ko-KR" altLang="en-US" sz="1100" kern="1200" dirty="0"/>
                        <a:t>② 문제되는 경우 → 제</a:t>
                      </a:r>
                      <a:r>
                        <a:rPr lang="en-US" altLang="ko-KR" sz="1100" kern="1200" dirty="0"/>
                        <a:t>11</a:t>
                      </a:r>
                      <a:r>
                        <a:rPr lang="ko-KR" altLang="en-US" sz="1100" kern="1200" dirty="0"/>
                        <a:t>조 제</a:t>
                      </a:r>
                      <a:r>
                        <a:rPr lang="en-US" altLang="ko-KR" sz="1100" kern="1200" dirty="0"/>
                        <a:t>1</a:t>
                      </a:r>
                      <a:r>
                        <a:rPr lang="ko-KR" altLang="en-US" sz="1100" kern="1200" dirty="0"/>
                        <a:t>항 각호에 해당하는 경우 모두의 동의</a:t>
                      </a:r>
                    </a:p>
                    <a:p>
                      <a:pPr marL="31750" marR="31750" indent="0" algn="l" fontAlgn="base" latinLnBrk="1">
                        <a:lnSpc>
                          <a:spcPct val="130000"/>
                        </a:lnSpc>
                        <a:spcBef>
                          <a:spcPts val="0"/>
                        </a:spcBef>
                        <a:spcAft>
                          <a:spcPts val="0"/>
                        </a:spcAft>
                      </a:pPr>
                      <a:r>
                        <a:rPr lang="ko-KR" altLang="en-US" sz="1100" kern="1200" dirty="0"/>
                        <a:t>③ 대표자의 증명</a:t>
                      </a:r>
                      <a:r>
                        <a:rPr lang="en-US" altLang="ko-KR" sz="1100" kern="1200" dirty="0"/>
                        <a:t>(</a:t>
                      </a:r>
                      <a:r>
                        <a:rPr lang="ko-KR" altLang="en-US" sz="1100" kern="1200" dirty="0"/>
                        <a:t>法 </a:t>
                      </a:r>
                      <a:r>
                        <a:rPr lang="en-US" altLang="ko-KR" sz="1100" kern="1200" dirty="0"/>
                        <a:t>11</a:t>
                      </a:r>
                      <a:r>
                        <a:rPr lang="ko-KR" altLang="en-US" sz="1100" kern="1200" dirty="0"/>
                        <a:t>②</a:t>
                      </a:r>
                      <a:r>
                        <a:rPr lang="en-US" altLang="ko-KR" sz="1100" kern="1200" dirty="0"/>
                        <a:t>) </a:t>
                      </a:r>
                      <a:r>
                        <a:rPr lang="ko-KR" altLang="en-US" sz="1100" kern="1200" dirty="0"/>
                        <a:t>→ 서면으로 증명</a:t>
                      </a:r>
                      <a:endParaRPr lang="ko-KR" altLang="en-US" sz="1100" kern="1200" dirty="0">
                        <a:solidFill>
                          <a:schemeClr val="tx2"/>
                        </a:solidFill>
                        <a:latin typeface="+mn-lt"/>
                        <a:ea typeface="+mn-ea"/>
                        <a:cs typeface="+mn-cs"/>
                      </a:endParaRP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511490700"/>
                  </a:ext>
                </a:extLst>
              </a:tr>
            </a:tbl>
          </a:graphicData>
        </a:graphic>
      </p:graphicFrame>
      <p:sp>
        <p:nvSpPr>
          <p:cNvPr id="42" name="Rectangle 5"/>
          <p:cNvSpPr>
            <a:spLocks noChangeArrowheads="1"/>
          </p:cNvSpPr>
          <p:nvPr/>
        </p:nvSpPr>
        <p:spPr bwMode="auto">
          <a:xfrm>
            <a:off x="5977294" y="1254379"/>
            <a:ext cx="2274563"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복수 당사자 예시</a:t>
            </a:r>
          </a:p>
        </p:txBody>
      </p:sp>
      <p:sp>
        <p:nvSpPr>
          <p:cNvPr id="68" name="모서리가 둥근 직사각형 67"/>
          <p:cNvSpPr/>
          <p:nvPr/>
        </p:nvSpPr>
        <p:spPr>
          <a:xfrm>
            <a:off x="8310870" y="2684560"/>
            <a:ext cx="1159496" cy="345140"/>
          </a:xfrm>
          <a:prstGeom prst="roundRect">
            <a:avLst>
              <a:gd name="adj" fmla="val 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a:solidFill>
                  <a:schemeClr val="tx1">
                    <a:lumMod val="50000"/>
                    <a:lumOff val="50000"/>
                  </a:schemeClr>
                </a:solidFill>
              </a:rPr>
              <a:t>출원</a:t>
            </a:r>
            <a:endParaRPr lang="ko-KR" altLang="en-US" sz="1000" dirty="0">
              <a:solidFill>
                <a:schemeClr val="tx1">
                  <a:lumMod val="50000"/>
                  <a:lumOff val="50000"/>
                </a:schemeClr>
              </a:solidFill>
            </a:endParaRPr>
          </a:p>
        </p:txBody>
      </p:sp>
      <p:sp>
        <p:nvSpPr>
          <p:cNvPr id="69" name="모서리가 둥근 직사각형 68"/>
          <p:cNvSpPr/>
          <p:nvPr/>
        </p:nvSpPr>
        <p:spPr>
          <a:xfrm>
            <a:off x="8310870" y="3484311"/>
            <a:ext cx="1159496" cy="345140"/>
          </a:xfrm>
          <a:prstGeom prst="roundRect">
            <a:avLst>
              <a:gd name="adj" fmla="val 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a:solidFill>
                  <a:schemeClr val="tx1">
                    <a:lumMod val="50000"/>
                    <a:lumOff val="50000"/>
                  </a:schemeClr>
                </a:solidFill>
              </a:rPr>
              <a:t>심판청구</a:t>
            </a:r>
            <a:endParaRPr lang="ko-KR" altLang="en-US" sz="1000" dirty="0">
              <a:solidFill>
                <a:schemeClr val="tx1">
                  <a:lumMod val="50000"/>
                  <a:lumOff val="50000"/>
                </a:schemeClr>
              </a:solidFill>
            </a:endParaRPr>
          </a:p>
        </p:txBody>
      </p:sp>
      <p:sp>
        <p:nvSpPr>
          <p:cNvPr id="71" name="모서리가 둥근 직사각형 70"/>
          <p:cNvSpPr/>
          <p:nvPr/>
        </p:nvSpPr>
        <p:spPr>
          <a:xfrm>
            <a:off x="6760029" y="4563454"/>
            <a:ext cx="1159496" cy="633435"/>
          </a:xfrm>
          <a:prstGeom prst="roundRect">
            <a:avLst>
              <a:gd name="adj" fmla="val 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lumMod val="50000"/>
                    <a:lumOff val="50000"/>
                  </a:schemeClr>
                </a:solidFill>
              </a:rPr>
              <a:t>그 밖의</a:t>
            </a:r>
            <a:endParaRPr lang="en-US" altLang="ko-KR" sz="1400" dirty="0">
              <a:solidFill>
                <a:schemeClr val="tx1">
                  <a:lumMod val="50000"/>
                  <a:lumOff val="50000"/>
                </a:schemeClr>
              </a:solidFill>
            </a:endParaRPr>
          </a:p>
          <a:p>
            <a:pPr algn="ctr"/>
            <a:r>
              <a:rPr lang="ko-KR" altLang="en-US" sz="1400" dirty="0">
                <a:solidFill>
                  <a:schemeClr val="tx1">
                    <a:lumMod val="50000"/>
                    <a:lumOff val="50000"/>
                  </a:schemeClr>
                </a:solidFill>
              </a:rPr>
              <a:t>절차</a:t>
            </a:r>
            <a:endParaRPr lang="ko-KR" altLang="en-US" sz="1000" dirty="0">
              <a:solidFill>
                <a:schemeClr val="tx1">
                  <a:lumMod val="50000"/>
                  <a:lumOff val="50000"/>
                </a:schemeClr>
              </a:solidFill>
            </a:endParaRPr>
          </a:p>
        </p:txBody>
      </p:sp>
      <p:sp>
        <p:nvSpPr>
          <p:cNvPr id="73" name="모서리가 둥근 직사각형 72"/>
          <p:cNvSpPr/>
          <p:nvPr/>
        </p:nvSpPr>
        <p:spPr>
          <a:xfrm>
            <a:off x="8310870" y="4256414"/>
            <a:ext cx="1159496" cy="345140"/>
          </a:xfrm>
          <a:prstGeom prst="roundRect">
            <a:avLst>
              <a:gd name="adj" fmla="val 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lumMod val="50000"/>
                    <a:lumOff val="50000"/>
                  </a:schemeClr>
                </a:solidFill>
              </a:rPr>
              <a:t>대표자 </a:t>
            </a:r>
            <a:r>
              <a:rPr lang="ko-KR" altLang="en-US" sz="1400" dirty="0" err="1">
                <a:solidFill>
                  <a:schemeClr val="tx1">
                    <a:lumMod val="50000"/>
                    <a:lumOff val="50000"/>
                  </a:schemeClr>
                </a:solidFill>
              </a:rPr>
              <a:t>不선정</a:t>
            </a:r>
            <a:endParaRPr lang="ko-KR" altLang="en-US" sz="1000" dirty="0">
              <a:solidFill>
                <a:schemeClr val="tx1">
                  <a:lumMod val="50000"/>
                  <a:lumOff val="50000"/>
                </a:schemeClr>
              </a:solidFill>
            </a:endParaRPr>
          </a:p>
        </p:txBody>
      </p:sp>
      <p:sp>
        <p:nvSpPr>
          <p:cNvPr id="74" name="모서리가 둥근 직사각형 73"/>
          <p:cNvSpPr/>
          <p:nvPr/>
        </p:nvSpPr>
        <p:spPr>
          <a:xfrm>
            <a:off x="8310870" y="5217634"/>
            <a:ext cx="1159496" cy="422316"/>
          </a:xfrm>
          <a:prstGeom prst="roundRect">
            <a:avLst>
              <a:gd name="adj" fmla="val 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lumMod val="50000"/>
                    <a:lumOff val="50000"/>
                  </a:schemeClr>
                </a:solidFill>
              </a:rPr>
              <a:t>대표자 선정</a:t>
            </a:r>
            <a:endParaRPr lang="en-US" altLang="ko-KR" sz="1400" dirty="0">
              <a:solidFill>
                <a:schemeClr val="tx1">
                  <a:lumMod val="50000"/>
                  <a:lumOff val="50000"/>
                </a:schemeClr>
              </a:solidFill>
            </a:endParaRPr>
          </a:p>
          <a:p>
            <a:pPr algn="ctr"/>
            <a:r>
              <a:rPr lang="en-US" altLang="ko-KR" sz="1050" dirty="0">
                <a:solidFill>
                  <a:schemeClr val="tx1">
                    <a:lumMod val="50000"/>
                    <a:lumOff val="50000"/>
                  </a:schemeClr>
                </a:solidFill>
              </a:rPr>
              <a:t>(</a:t>
            </a:r>
            <a:r>
              <a:rPr lang="ko-KR" altLang="en-US" sz="1050" dirty="0">
                <a:solidFill>
                  <a:schemeClr val="tx1">
                    <a:lumMod val="50000"/>
                    <a:lumOff val="50000"/>
                  </a:schemeClr>
                </a:solidFill>
              </a:rPr>
              <a:t>甲 선정</a:t>
            </a:r>
            <a:r>
              <a:rPr lang="en-US" altLang="ko-KR" sz="1050" dirty="0">
                <a:solidFill>
                  <a:schemeClr val="tx1">
                    <a:lumMod val="50000"/>
                    <a:lumOff val="50000"/>
                  </a:schemeClr>
                </a:solidFill>
              </a:rPr>
              <a:t>)</a:t>
            </a:r>
            <a:endParaRPr lang="ko-KR" altLang="en-US" sz="700" dirty="0">
              <a:solidFill>
                <a:schemeClr val="tx1">
                  <a:lumMod val="50000"/>
                  <a:lumOff val="50000"/>
                </a:schemeClr>
              </a:solidFill>
            </a:endParaRPr>
          </a:p>
        </p:txBody>
      </p:sp>
      <p:sp>
        <p:nvSpPr>
          <p:cNvPr id="75" name="Rectangle 5"/>
          <p:cNvSpPr>
            <a:spLocks noChangeArrowheads="1"/>
          </p:cNvSpPr>
          <p:nvPr/>
        </p:nvSpPr>
        <p:spPr bwMode="auto">
          <a:xfrm>
            <a:off x="9614525" y="2693735"/>
            <a:ext cx="2042860" cy="348102"/>
          </a:xfrm>
          <a:prstGeom prst="rect">
            <a:avLst/>
          </a:prstGeom>
          <a:noFill/>
          <a:ln w="9525" algn="ctr">
            <a:noFill/>
            <a:miter lim="800000"/>
            <a:headEnd/>
            <a:tailEnd/>
          </a:ln>
        </p:spPr>
        <p:txBody>
          <a:bodyPr wrap="none" anchor="ctr"/>
          <a:lstStyle/>
          <a:p>
            <a:r>
              <a:rPr lang="en-US" altLang="ko-KR" sz="1400" b="0" dirty="0">
                <a:solidFill>
                  <a:schemeClr val="tx1"/>
                </a:solidFill>
                <a:latin typeface="+mj-ea"/>
                <a:ea typeface="+mj-ea"/>
              </a:rPr>
              <a:t>- </a:t>
            </a:r>
            <a:r>
              <a:rPr lang="ko-KR" altLang="en-US" sz="1400" b="0" dirty="0">
                <a:solidFill>
                  <a:schemeClr val="tx1"/>
                </a:solidFill>
                <a:latin typeface="+mj-ea"/>
                <a:ea typeface="+mj-ea"/>
              </a:rPr>
              <a:t>甲</a:t>
            </a:r>
            <a:r>
              <a:rPr lang="en-US" altLang="ko-KR" sz="1400" b="0" dirty="0">
                <a:solidFill>
                  <a:schemeClr val="tx1"/>
                </a:solidFill>
                <a:latin typeface="+mj-ea"/>
                <a:ea typeface="+mj-ea"/>
              </a:rPr>
              <a:t>, </a:t>
            </a:r>
            <a:r>
              <a:rPr lang="ko-KR" altLang="en-US" sz="1400" b="0" dirty="0">
                <a:solidFill>
                  <a:schemeClr val="tx1"/>
                </a:solidFill>
                <a:latin typeface="+mj-ea"/>
                <a:ea typeface="+mj-ea"/>
              </a:rPr>
              <a:t>乙</a:t>
            </a:r>
            <a:r>
              <a:rPr lang="en-US" altLang="ko-KR" sz="1400" b="0" dirty="0">
                <a:solidFill>
                  <a:schemeClr val="tx1"/>
                </a:solidFill>
                <a:latin typeface="+mj-ea"/>
                <a:ea typeface="+mj-ea"/>
              </a:rPr>
              <a:t>, </a:t>
            </a:r>
            <a:r>
              <a:rPr lang="ko-KR" altLang="en-US" sz="1400" b="0" dirty="0">
                <a:solidFill>
                  <a:schemeClr val="tx1"/>
                </a:solidFill>
                <a:latin typeface="+mj-ea"/>
                <a:ea typeface="+mj-ea"/>
              </a:rPr>
              <a:t>丙 전원</a:t>
            </a:r>
          </a:p>
        </p:txBody>
      </p:sp>
      <p:sp>
        <p:nvSpPr>
          <p:cNvPr id="85" name="Rectangle 5"/>
          <p:cNvSpPr>
            <a:spLocks noChangeArrowheads="1"/>
          </p:cNvSpPr>
          <p:nvPr/>
        </p:nvSpPr>
        <p:spPr bwMode="auto">
          <a:xfrm>
            <a:off x="9614525" y="3509711"/>
            <a:ext cx="2042860" cy="348102"/>
          </a:xfrm>
          <a:prstGeom prst="rect">
            <a:avLst/>
          </a:prstGeom>
          <a:noFill/>
          <a:ln w="9525" algn="ctr">
            <a:noFill/>
            <a:miter lim="800000"/>
            <a:headEnd/>
            <a:tailEnd/>
          </a:ln>
        </p:spPr>
        <p:txBody>
          <a:bodyPr wrap="none" anchor="ctr"/>
          <a:lstStyle/>
          <a:p>
            <a:r>
              <a:rPr lang="en-US" altLang="ko-KR" sz="1400" b="0" dirty="0">
                <a:solidFill>
                  <a:schemeClr val="tx1"/>
                </a:solidFill>
                <a:latin typeface="+mj-ea"/>
                <a:ea typeface="+mj-ea"/>
              </a:rPr>
              <a:t>- </a:t>
            </a:r>
            <a:r>
              <a:rPr lang="ko-KR" altLang="en-US" sz="1400" b="0" dirty="0">
                <a:solidFill>
                  <a:schemeClr val="tx1"/>
                </a:solidFill>
                <a:latin typeface="+mj-ea"/>
                <a:ea typeface="+mj-ea"/>
              </a:rPr>
              <a:t>甲</a:t>
            </a:r>
            <a:r>
              <a:rPr lang="en-US" altLang="ko-KR" sz="1400" b="0" dirty="0">
                <a:solidFill>
                  <a:schemeClr val="tx1"/>
                </a:solidFill>
                <a:latin typeface="+mj-ea"/>
                <a:ea typeface="+mj-ea"/>
              </a:rPr>
              <a:t>, </a:t>
            </a:r>
            <a:r>
              <a:rPr lang="ko-KR" altLang="en-US" sz="1400" b="0" dirty="0">
                <a:solidFill>
                  <a:schemeClr val="tx1"/>
                </a:solidFill>
                <a:latin typeface="+mj-ea"/>
                <a:ea typeface="+mj-ea"/>
              </a:rPr>
              <a:t>乙</a:t>
            </a:r>
            <a:r>
              <a:rPr lang="en-US" altLang="ko-KR" sz="1400" b="0" dirty="0">
                <a:solidFill>
                  <a:schemeClr val="tx1"/>
                </a:solidFill>
                <a:latin typeface="+mj-ea"/>
                <a:ea typeface="+mj-ea"/>
              </a:rPr>
              <a:t>, </a:t>
            </a:r>
            <a:r>
              <a:rPr lang="ko-KR" altLang="en-US" sz="1400" b="0" dirty="0">
                <a:solidFill>
                  <a:schemeClr val="tx1"/>
                </a:solidFill>
                <a:latin typeface="+mj-ea"/>
                <a:ea typeface="+mj-ea"/>
              </a:rPr>
              <a:t>丙 전원</a:t>
            </a:r>
            <a:endParaRPr lang="en-US" altLang="ko-KR" sz="1400" b="0" dirty="0">
              <a:solidFill>
                <a:schemeClr val="tx1"/>
              </a:solidFill>
              <a:latin typeface="+mj-ea"/>
              <a:ea typeface="+mj-ea"/>
            </a:endParaRPr>
          </a:p>
        </p:txBody>
      </p:sp>
      <p:sp>
        <p:nvSpPr>
          <p:cNvPr id="86" name="Rectangle 5"/>
          <p:cNvSpPr>
            <a:spLocks noChangeArrowheads="1"/>
          </p:cNvSpPr>
          <p:nvPr/>
        </p:nvSpPr>
        <p:spPr bwMode="auto">
          <a:xfrm>
            <a:off x="9614525" y="4421514"/>
            <a:ext cx="2042860" cy="508357"/>
          </a:xfrm>
          <a:prstGeom prst="rect">
            <a:avLst/>
          </a:prstGeom>
          <a:noFill/>
          <a:ln w="9525" algn="ctr">
            <a:noFill/>
            <a:miter lim="800000"/>
            <a:headEnd/>
            <a:tailEnd/>
          </a:ln>
        </p:spPr>
        <p:txBody>
          <a:bodyPr wrap="none" anchor="ctr"/>
          <a:lstStyle/>
          <a:p>
            <a:r>
              <a:rPr lang="en-US" altLang="ko-KR" sz="1400" b="0" dirty="0">
                <a:solidFill>
                  <a:schemeClr val="tx1"/>
                </a:solidFill>
                <a:latin typeface="+mj-ea"/>
                <a:ea typeface="+mj-ea"/>
              </a:rPr>
              <a:t>- </a:t>
            </a:r>
            <a:r>
              <a:rPr lang="ko-KR" altLang="en-US" sz="1400" b="0" dirty="0">
                <a:solidFill>
                  <a:schemeClr val="tx1"/>
                </a:solidFill>
                <a:latin typeface="+mj-ea"/>
                <a:ea typeface="+mj-ea"/>
              </a:rPr>
              <a:t>甲</a:t>
            </a:r>
            <a:r>
              <a:rPr lang="en-US" altLang="ko-KR" sz="1400" b="0" dirty="0">
                <a:solidFill>
                  <a:schemeClr val="tx1"/>
                </a:solidFill>
                <a:latin typeface="+mj-ea"/>
                <a:ea typeface="+mj-ea"/>
              </a:rPr>
              <a:t>, </a:t>
            </a:r>
            <a:r>
              <a:rPr lang="ko-KR" altLang="en-US" sz="1400" b="0" dirty="0">
                <a:solidFill>
                  <a:schemeClr val="tx1"/>
                </a:solidFill>
                <a:latin typeface="+mj-ea"/>
                <a:ea typeface="+mj-ea"/>
              </a:rPr>
              <a:t>乙</a:t>
            </a:r>
            <a:r>
              <a:rPr lang="en-US" altLang="ko-KR" sz="1400" b="0" dirty="0">
                <a:solidFill>
                  <a:schemeClr val="tx1"/>
                </a:solidFill>
                <a:latin typeface="+mj-ea"/>
                <a:ea typeface="+mj-ea"/>
              </a:rPr>
              <a:t>, </a:t>
            </a:r>
            <a:r>
              <a:rPr lang="ko-KR" altLang="en-US" sz="1400" b="0" dirty="0">
                <a:solidFill>
                  <a:schemeClr val="tx1"/>
                </a:solidFill>
                <a:latin typeface="+mj-ea"/>
                <a:ea typeface="+mj-ea"/>
              </a:rPr>
              <a:t>丙 각자 절차 수행</a:t>
            </a:r>
            <a:endParaRPr lang="en-US" altLang="ko-KR" sz="1400" b="0" dirty="0">
              <a:solidFill>
                <a:schemeClr val="tx1"/>
              </a:solidFill>
              <a:latin typeface="+mj-ea"/>
              <a:ea typeface="+mj-ea"/>
            </a:endParaRPr>
          </a:p>
          <a:p>
            <a:r>
              <a:rPr lang="en-US" altLang="ko-KR" sz="1400" dirty="0">
                <a:latin typeface="+mj-ea"/>
                <a:ea typeface="+mj-ea"/>
              </a:rPr>
              <a:t>- </a:t>
            </a:r>
            <a:r>
              <a:rPr lang="ko-KR" altLang="en-US" sz="1400" dirty="0">
                <a:latin typeface="+mj-ea"/>
                <a:ea typeface="+mj-ea"/>
              </a:rPr>
              <a:t>단</a:t>
            </a:r>
            <a:r>
              <a:rPr lang="en-US" altLang="ko-KR" sz="1400" dirty="0">
                <a:latin typeface="+mj-ea"/>
                <a:ea typeface="+mj-ea"/>
              </a:rPr>
              <a:t>, </a:t>
            </a:r>
            <a:r>
              <a:rPr lang="ko-KR" altLang="en-US" sz="1400" dirty="0">
                <a:latin typeface="+mj-ea"/>
                <a:ea typeface="+mj-ea"/>
              </a:rPr>
              <a:t>제</a:t>
            </a:r>
            <a:r>
              <a:rPr lang="en-US" altLang="ko-KR" sz="1400" dirty="0">
                <a:latin typeface="+mj-ea"/>
                <a:ea typeface="+mj-ea"/>
              </a:rPr>
              <a:t>11</a:t>
            </a:r>
            <a:r>
              <a:rPr lang="ko-KR" altLang="en-US" sz="1400" dirty="0">
                <a:latin typeface="+mj-ea"/>
                <a:ea typeface="+mj-ea"/>
              </a:rPr>
              <a:t>조제</a:t>
            </a:r>
            <a:r>
              <a:rPr lang="en-US" altLang="ko-KR" sz="1400" dirty="0">
                <a:latin typeface="+mj-ea"/>
                <a:ea typeface="+mj-ea"/>
              </a:rPr>
              <a:t>1</a:t>
            </a:r>
            <a:r>
              <a:rPr lang="ko-KR" altLang="en-US" sz="1400" dirty="0">
                <a:latin typeface="+mj-ea"/>
                <a:ea typeface="+mj-ea"/>
              </a:rPr>
              <a:t>항 각호는 </a:t>
            </a:r>
            <a:endParaRPr lang="en-US" altLang="ko-KR" sz="1400" dirty="0">
              <a:latin typeface="+mj-ea"/>
              <a:ea typeface="+mj-ea"/>
            </a:endParaRPr>
          </a:p>
          <a:p>
            <a:r>
              <a:rPr lang="ko-KR" altLang="en-US" sz="1400" dirty="0">
                <a:latin typeface="+mj-ea"/>
              </a:rPr>
              <a:t>   甲</a:t>
            </a:r>
            <a:r>
              <a:rPr lang="en-US" altLang="ko-KR" sz="1400" dirty="0">
                <a:latin typeface="+mj-ea"/>
              </a:rPr>
              <a:t>, </a:t>
            </a:r>
            <a:r>
              <a:rPr lang="ko-KR" altLang="en-US" sz="1400" dirty="0">
                <a:latin typeface="+mj-ea"/>
              </a:rPr>
              <a:t>乙</a:t>
            </a:r>
            <a:r>
              <a:rPr lang="en-US" altLang="ko-KR" sz="1400" dirty="0">
                <a:latin typeface="+mj-ea"/>
              </a:rPr>
              <a:t>, </a:t>
            </a:r>
            <a:r>
              <a:rPr lang="ko-KR" altLang="en-US" sz="1400" dirty="0">
                <a:latin typeface="+mj-ea"/>
              </a:rPr>
              <a:t>丙 전원 절차 수행</a:t>
            </a:r>
            <a:endParaRPr lang="en-US" altLang="ko-KR" sz="1400" dirty="0">
              <a:latin typeface="+mj-ea"/>
              <a:ea typeface="+mj-ea"/>
            </a:endParaRPr>
          </a:p>
          <a:p>
            <a:endParaRPr lang="ko-KR" altLang="en-US" sz="1400" b="0" dirty="0">
              <a:solidFill>
                <a:schemeClr val="tx1"/>
              </a:solidFill>
              <a:latin typeface="+mj-ea"/>
              <a:ea typeface="+mj-ea"/>
            </a:endParaRPr>
          </a:p>
        </p:txBody>
      </p:sp>
      <p:sp>
        <p:nvSpPr>
          <p:cNvPr id="88" name="Rectangle 5"/>
          <p:cNvSpPr>
            <a:spLocks noChangeArrowheads="1"/>
          </p:cNvSpPr>
          <p:nvPr/>
        </p:nvSpPr>
        <p:spPr bwMode="auto">
          <a:xfrm>
            <a:off x="9614525" y="5338187"/>
            <a:ext cx="2042860" cy="348102"/>
          </a:xfrm>
          <a:prstGeom prst="rect">
            <a:avLst/>
          </a:prstGeom>
          <a:noFill/>
          <a:ln w="9525" algn="ctr">
            <a:noFill/>
            <a:miter lim="800000"/>
            <a:headEnd/>
            <a:tailEnd/>
          </a:ln>
        </p:spPr>
        <p:txBody>
          <a:bodyPr wrap="none" anchor="ctr"/>
          <a:lstStyle/>
          <a:p>
            <a:r>
              <a:rPr lang="en-US" altLang="ko-KR" sz="1400" b="0" dirty="0">
                <a:solidFill>
                  <a:schemeClr val="tx1"/>
                </a:solidFill>
                <a:latin typeface="+mj-ea"/>
                <a:ea typeface="+mj-ea"/>
              </a:rPr>
              <a:t>- </a:t>
            </a:r>
            <a:r>
              <a:rPr lang="ko-KR" altLang="en-US" sz="1400" b="0" dirty="0">
                <a:solidFill>
                  <a:schemeClr val="tx1"/>
                </a:solidFill>
                <a:latin typeface="+mj-ea"/>
                <a:ea typeface="+mj-ea"/>
              </a:rPr>
              <a:t>甲</a:t>
            </a:r>
            <a:r>
              <a:rPr lang="ko-KR" altLang="en-US" sz="1400" dirty="0">
                <a:latin typeface="+mj-ea"/>
                <a:ea typeface="+mj-ea"/>
              </a:rPr>
              <a:t>만이 절차 수행</a:t>
            </a:r>
            <a:endParaRPr lang="en-US" altLang="ko-KR" sz="1400" dirty="0">
              <a:latin typeface="+mj-ea"/>
              <a:ea typeface="+mj-ea"/>
            </a:endParaRPr>
          </a:p>
          <a:p>
            <a:r>
              <a:rPr lang="en-US" altLang="ko-KR" sz="1400" b="0" dirty="0">
                <a:solidFill>
                  <a:schemeClr val="tx1"/>
                </a:solidFill>
                <a:latin typeface="+mj-ea"/>
                <a:ea typeface="+mj-ea"/>
              </a:rPr>
              <a:t>- </a:t>
            </a:r>
            <a:r>
              <a:rPr lang="ko-KR" altLang="en-US" sz="1400" b="0" dirty="0">
                <a:solidFill>
                  <a:schemeClr val="tx1"/>
                </a:solidFill>
                <a:latin typeface="+mj-ea"/>
                <a:ea typeface="+mj-ea"/>
              </a:rPr>
              <a:t>단</a:t>
            </a:r>
            <a:r>
              <a:rPr lang="en-US" altLang="ko-KR" sz="1400" b="0" dirty="0">
                <a:solidFill>
                  <a:schemeClr val="tx1"/>
                </a:solidFill>
                <a:latin typeface="+mj-ea"/>
                <a:ea typeface="+mj-ea"/>
              </a:rPr>
              <a:t>, </a:t>
            </a:r>
            <a:r>
              <a:rPr lang="ko-KR" altLang="en-US" sz="1400" b="0" dirty="0">
                <a:solidFill>
                  <a:schemeClr val="tx1"/>
                </a:solidFill>
                <a:latin typeface="+mj-ea"/>
                <a:ea typeface="+mj-ea"/>
              </a:rPr>
              <a:t>제</a:t>
            </a:r>
            <a:r>
              <a:rPr lang="en-US" altLang="ko-KR" sz="1400" b="0" dirty="0">
                <a:solidFill>
                  <a:schemeClr val="tx1"/>
                </a:solidFill>
                <a:latin typeface="+mj-ea"/>
                <a:ea typeface="+mj-ea"/>
              </a:rPr>
              <a:t>11</a:t>
            </a:r>
            <a:r>
              <a:rPr lang="ko-KR" altLang="en-US" sz="1400" b="0" dirty="0">
                <a:solidFill>
                  <a:schemeClr val="tx1"/>
                </a:solidFill>
                <a:latin typeface="+mj-ea"/>
                <a:ea typeface="+mj-ea"/>
              </a:rPr>
              <a:t>조제</a:t>
            </a:r>
            <a:r>
              <a:rPr lang="en-US" altLang="ko-KR" sz="1400" b="0" dirty="0">
                <a:solidFill>
                  <a:schemeClr val="tx1"/>
                </a:solidFill>
                <a:latin typeface="+mj-ea"/>
                <a:ea typeface="+mj-ea"/>
              </a:rPr>
              <a:t>1</a:t>
            </a:r>
            <a:r>
              <a:rPr lang="ko-KR" altLang="en-US" sz="1400" b="0" dirty="0">
                <a:solidFill>
                  <a:schemeClr val="tx1"/>
                </a:solidFill>
                <a:latin typeface="+mj-ea"/>
                <a:ea typeface="+mj-ea"/>
              </a:rPr>
              <a:t>항 각호는</a:t>
            </a:r>
            <a:endParaRPr lang="en-US" altLang="ko-KR" sz="1400" b="0" dirty="0">
              <a:solidFill>
                <a:schemeClr val="tx1"/>
              </a:solidFill>
              <a:latin typeface="+mj-ea"/>
              <a:ea typeface="+mj-ea"/>
            </a:endParaRPr>
          </a:p>
          <a:p>
            <a:r>
              <a:rPr lang="ko-KR" altLang="en-US" sz="1400" dirty="0">
                <a:latin typeface="+mj-ea"/>
                <a:ea typeface="+mj-ea"/>
              </a:rPr>
              <a:t>   乙</a:t>
            </a:r>
            <a:r>
              <a:rPr lang="en-US" altLang="ko-KR" sz="1400" dirty="0">
                <a:latin typeface="+mj-ea"/>
                <a:ea typeface="+mj-ea"/>
              </a:rPr>
              <a:t>, </a:t>
            </a:r>
            <a:r>
              <a:rPr lang="ko-KR" altLang="en-US" sz="1400" dirty="0">
                <a:latin typeface="+mj-ea"/>
                <a:ea typeface="+mj-ea"/>
              </a:rPr>
              <a:t>丙의 동의</a:t>
            </a:r>
            <a:endParaRPr lang="ko-KR" altLang="en-US" sz="1400" b="0" dirty="0">
              <a:solidFill>
                <a:schemeClr val="tx1"/>
              </a:solidFill>
              <a:latin typeface="+mj-ea"/>
              <a:ea typeface="+mj-ea"/>
            </a:endParaRPr>
          </a:p>
        </p:txBody>
      </p:sp>
      <p:cxnSp>
        <p:nvCxnSpPr>
          <p:cNvPr id="14" name="꺾인 연결선 13"/>
          <p:cNvCxnSpPr>
            <a:cxnSpLocks/>
            <a:stCxn id="5" idx="2"/>
            <a:endCxn id="44" idx="1"/>
          </p:cNvCxnSpPr>
          <p:nvPr/>
        </p:nvCxnSpPr>
        <p:spPr>
          <a:xfrm rot="16200000" flipH="1">
            <a:off x="6269433" y="2757744"/>
            <a:ext cx="866285" cy="114908"/>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cxnSpLocks/>
            <a:stCxn id="44" idx="3"/>
            <a:endCxn id="68" idx="1"/>
          </p:cNvCxnSpPr>
          <p:nvPr/>
        </p:nvCxnSpPr>
        <p:spPr>
          <a:xfrm flipV="1">
            <a:off x="7919525" y="2857130"/>
            <a:ext cx="391345" cy="39121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cxnSpLocks/>
            <a:stCxn id="44" idx="3"/>
            <a:endCxn id="69" idx="1"/>
          </p:cNvCxnSpPr>
          <p:nvPr/>
        </p:nvCxnSpPr>
        <p:spPr>
          <a:xfrm>
            <a:off x="7919525" y="3248341"/>
            <a:ext cx="391345" cy="40854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꺾인 연결선 29"/>
          <p:cNvCxnSpPr>
            <a:cxnSpLocks/>
            <a:stCxn id="71" idx="3"/>
            <a:endCxn id="73" idx="1"/>
          </p:cNvCxnSpPr>
          <p:nvPr/>
        </p:nvCxnSpPr>
        <p:spPr>
          <a:xfrm flipV="1">
            <a:off x="7919525" y="4428984"/>
            <a:ext cx="391345" cy="451188"/>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꺾인 연결선 31"/>
          <p:cNvCxnSpPr>
            <a:cxnSpLocks/>
            <a:stCxn id="71" idx="3"/>
            <a:endCxn id="74" idx="1"/>
          </p:cNvCxnSpPr>
          <p:nvPr/>
        </p:nvCxnSpPr>
        <p:spPr>
          <a:xfrm>
            <a:off x="7919525" y="4880172"/>
            <a:ext cx="391345" cy="54862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직선 연결선 90"/>
          <p:cNvCxnSpPr/>
          <p:nvPr/>
        </p:nvCxnSpPr>
        <p:spPr>
          <a:xfrm>
            <a:off x="5860078" y="1062288"/>
            <a:ext cx="0" cy="559848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자유형: 도형 37">
            <a:extLst>
              <a:ext uri="{FF2B5EF4-FFF2-40B4-BE49-F238E27FC236}">
                <a16:creationId xmlns:a16="http://schemas.microsoft.com/office/drawing/2014/main" id="{574CE7E2-FC03-4BC0-8DED-9AD5A2108183}"/>
              </a:ext>
            </a:extLst>
          </p:cNvPr>
          <p:cNvSpPr/>
          <p:nvPr/>
        </p:nvSpPr>
        <p:spPr>
          <a:xfrm>
            <a:off x="6486525" y="2390775"/>
            <a:ext cx="273503" cy="2489397"/>
          </a:xfrm>
          <a:custGeom>
            <a:avLst/>
            <a:gdLst>
              <a:gd name="connsiteX0" fmla="*/ 419100 w 419100"/>
              <a:gd name="connsiteY0" fmla="*/ 3219450 h 3219450"/>
              <a:gd name="connsiteX1" fmla="*/ 0 w 419100"/>
              <a:gd name="connsiteY1" fmla="*/ 3219450 h 3219450"/>
              <a:gd name="connsiteX2" fmla="*/ 0 w 419100"/>
              <a:gd name="connsiteY2" fmla="*/ 0 h 3219450"/>
            </a:gdLst>
            <a:ahLst/>
            <a:cxnLst>
              <a:cxn ang="0">
                <a:pos x="connsiteX0" y="connsiteY0"/>
              </a:cxn>
              <a:cxn ang="0">
                <a:pos x="connsiteX1" y="connsiteY1"/>
              </a:cxn>
              <a:cxn ang="0">
                <a:pos x="connsiteX2" y="connsiteY2"/>
              </a:cxn>
            </a:cxnLst>
            <a:rect l="l" t="t" r="r" b="b"/>
            <a:pathLst>
              <a:path w="419100" h="3219450">
                <a:moveTo>
                  <a:pt x="419100" y="3219450"/>
                </a:moveTo>
                <a:lnTo>
                  <a:pt x="0" y="3219450"/>
                </a:lnTo>
                <a:lnTo>
                  <a:pt x="0" y="0"/>
                </a:lnTo>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14978347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14</a:t>
            </a:r>
            <a:r>
              <a:rPr lang="ko-KR" altLang="en-US" dirty="0"/>
              <a:t>조</a:t>
            </a:r>
          </a:p>
        </p:txBody>
      </p:sp>
      <p:sp>
        <p:nvSpPr>
          <p:cNvPr id="4" name="텍스트 개체 틀 3"/>
          <p:cNvSpPr>
            <a:spLocks noGrp="1"/>
          </p:cNvSpPr>
          <p:nvPr>
            <p:ph type="body" sz="quarter" idx="13"/>
          </p:nvPr>
        </p:nvSpPr>
        <p:spPr/>
        <p:txBody>
          <a:bodyPr/>
          <a:lstStyle/>
          <a:p>
            <a:r>
              <a:rPr lang="ko-KR" altLang="en-US" dirty="0"/>
              <a:t>기간의 계산</a:t>
            </a:r>
          </a:p>
        </p:txBody>
      </p:sp>
      <p:sp>
        <p:nvSpPr>
          <p:cNvPr id="5" name="슬라이드 번호 개체 틀 4"/>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36</a:t>
            </a:fld>
            <a:endParaRPr lang="ko-KR" altLang="en-US"/>
          </a:p>
        </p:txBody>
      </p:sp>
      <p:sp>
        <p:nvSpPr>
          <p:cNvPr id="17" name="TextBox 16"/>
          <p:cNvSpPr txBox="1"/>
          <p:nvPr/>
        </p:nvSpPr>
        <p:spPr>
          <a:xfrm>
            <a:off x="1848821" y="1468214"/>
            <a:ext cx="3721100" cy="513239"/>
          </a:xfrm>
          <a:prstGeom prst="rect">
            <a:avLst/>
          </a:prstGeom>
          <a:noFill/>
        </p:spPr>
        <p:txBody>
          <a:bodyPr wrap="none" rtlCol="0">
            <a:noAutofit/>
          </a:bodyPr>
          <a:lstStyle/>
          <a:p>
            <a:pPr marL="285750" indent="-285750">
              <a:buFont typeface="Wingdings" panose="05000000000000000000" pitchFamily="2" charset="2"/>
              <a:buChar char="§"/>
            </a:pPr>
            <a:r>
              <a:rPr lang="ko-KR" altLang="en-US" sz="1400" dirty="0"/>
              <a:t>문제의 사실관계에서 파악</a:t>
            </a:r>
          </a:p>
        </p:txBody>
      </p:sp>
      <p:sp>
        <p:nvSpPr>
          <p:cNvPr id="46" name="TextBox 45"/>
          <p:cNvSpPr txBox="1"/>
          <p:nvPr/>
        </p:nvSpPr>
        <p:spPr>
          <a:xfrm>
            <a:off x="1848821" y="2702986"/>
            <a:ext cx="3721100" cy="513239"/>
          </a:xfrm>
          <a:prstGeom prst="rect">
            <a:avLst/>
          </a:prstGeom>
          <a:noFill/>
        </p:spPr>
        <p:txBody>
          <a:bodyPr wrap="none" rtlCol="0">
            <a:noAutofit/>
          </a:bodyPr>
          <a:lstStyle/>
          <a:p>
            <a:pPr marL="285750" indent="-285750">
              <a:buFont typeface="Wingdings" panose="05000000000000000000" pitchFamily="2" charset="2"/>
              <a:buChar char="§"/>
            </a:pPr>
            <a:r>
              <a:rPr lang="ko-KR" altLang="en-US" sz="1400" dirty="0"/>
              <a:t>원칙</a:t>
            </a:r>
            <a:r>
              <a:rPr lang="en-US" altLang="ko-KR" sz="1400" dirty="0"/>
              <a:t>: </a:t>
            </a:r>
            <a:r>
              <a:rPr lang="ko-KR" altLang="en-US" sz="1400" dirty="0"/>
              <a:t>초일의 다음날 </a:t>
            </a:r>
            <a:r>
              <a:rPr lang="en-US" altLang="ko-KR" sz="1400" dirty="0"/>
              <a:t>= </a:t>
            </a:r>
            <a:r>
              <a:rPr lang="ko-KR" altLang="en-US" sz="1400" dirty="0"/>
              <a:t>기산일</a:t>
            </a:r>
            <a:endParaRPr lang="en-US" altLang="ko-KR" sz="1400" dirty="0"/>
          </a:p>
          <a:p>
            <a:pPr marL="285750" indent="-285750">
              <a:buFont typeface="Wingdings" panose="05000000000000000000" pitchFamily="2" charset="2"/>
              <a:buChar char="§"/>
            </a:pPr>
            <a:r>
              <a:rPr lang="ko-KR" altLang="en-US" sz="1400" dirty="0"/>
              <a:t>예외</a:t>
            </a:r>
            <a:r>
              <a:rPr lang="en-US" altLang="ko-KR" sz="1400" dirty="0"/>
              <a:t>: </a:t>
            </a:r>
            <a:r>
              <a:rPr lang="ko-KR" altLang="en-US" sz="1400" dirty="0"/>
              <a:t>오전 </a:t>
            </a:r>
            <a:r>
              <a:rPr lang="en-US" altLang="ko-KR" sz="1400" dirty="0"/>
              <a:t>0</a:t>
            </a:r>
            <a:r>
              <a:rPr lang="ko-KR" altLang="en-US" sz="1400" dirty="0"/>
              <a:t>시 시작의 경우 초일 </a:t>
            </a:r>
            <a:r>
              <a:rPr lang="en-US" altLang="ko-KR" sz="1400" dirty="0"/>
              <a:t>= </a:t>
            </a:r>
            <a:r>
              <a:rPr lang="ko-KR" altLang="en-US" sz="1400" dirty="0"/>
              <a:t>기산일</a:t>
            </a:r>
            <a:endParaRPr lang="en-US" altLang="ko-KR" sz="1400" dirty="0"/>
          </a:p>
          <a:p>
            <a:r>
              <a:rPr lang="en-US" altLang="ko-KR" sz="1200" dirty="0"/>
              <a:t>               (</a:t>
            </a:r>
            <a:r>
              <a:rPr lang="ko-KR" altLang="en-US" sz="1200" dirty="0"/>
              <a:t>기간의 연장</a:t>
            </a:r>
            <a:r>
              <a:rPr lang="en-US" altLang="ko-KR" sz="1200" dirty="0"/>
              <a:t>, </a:t>
            </a:r>
            <a:r>
              <a:rPr lang="ko-KR" altLang="en-US" sz="1200" dirty="0"/>
              <a:t>확정된 날 등</a:t>
            </a:r>
            <a:r>
              <a:rPr lang="en-US" altLang="ko-KR" sz="1200" dirty="0"/>
              <a:t>)</a:t>
            </a:r>
            <a:endParaRPr lang="ko-KR" altLang="en-US" sz="1200" dirty="0"/>
          </a:p>
        </p:txBody>
      </p:sp>
      <p:sp>
        <p:nvSpPr>
          <p:cNvPr id="47" name="TextBox 46"/>
          <p:cNvSpPr txBox="1"/>
          <p:nvPr/>
        </p:nvSpPr>
        <p:spPr>
          <a:xfrm>
            <a:off x="1848821" y="3943504"/>
            <a:ext cx="3721100" cy="513239"/>
          </a:xfrm>
          <a:prstGeom prst="rect">
            <a:avLst/>
          </a:prstGeom>
          <a:noFill/>
        </p:spPr>
        <p:txBody>
          <a:bodyPr wrap="none" rtlCol="0">
            <a:noAutofit/>
          </a:bodyPr>
          <a:lstStyle/>
          <a:p>
            <a:pPr marL="285750" indent="-285750">
              <a:buFont typeface="Wingdings" panose="05000000000000000000" pitchFamily="2" charset="2"/>
              <a:buChar char="§"/>
            </a:pPr>
            <a:r>
              <a:rPr lang="ko-KR" altLang="en-US" sz="1400" dirty="0"/>
              <a:t>일</a:t>
            </a:r>
            <a:r>
              <a:rPr lang="en-US" altLang="ko-KR" sz="1400" dirty="0"/>
              <a:t>, </a:t>
            </a:r>
            <a:r>
              <a:rPr lang="ko-KR" altLang="en-US" sz="1400" dirty="0"/>
              <a:t>주</a:t>
            </a:r>
            <a:r>
              <a:rPr lang="en-US" altLang="ko-KR" sz="1400" dirty="0"/>
              <a:t>: </a:t>
            </a:r>
            <a:r>
              <a:rPr lang="ko-KR" altLang="en-US" sz="1400" dirty="0"/>
              <a:t>자연적 계산방법</a:t>
            </a:r>
            <a:r>
              <a:rPr lang="en-US" altLang="ko-KR" sz="1400" dirty="0"/>
              <a:t>(</a:t>
            </a:r>
            <a:r>
              <a:rPr lang="ko-KR" altLang="en-US" sz="1400" dirty="0"/>
              <a:t>정확</a:t>
            </a:r>
            <a:r>
              <a:rPr lang="en-US" altLang="ko-KR" sz="1400" dirty="0"/>
              <a:t>+</a:t>
            </a:r>
            <a:r>
              <a:rPr lang="ko-KR" altLang="en-US" sz="1400" dirty="0"/>
              <a:t>불편</a:t>
            </a:r>
            <a:r>
              <a:rPr lang="en-US" altLang="ko-KR" sz="1400" dirty="0"/>
              <a:t>)</a:t>
            </a:r>
          </a:p>
          <a:p>
            <a:pPr marL="285750" indent="-285750">
              <a:buFont typeface="Wingdings" panose="05000000000000000000" pitchFamily="2" charset="2"/>
              <a:buChar char="§"/>
            </a:pPr>
            <a:r>
              <a:rPr lang="ko-KR" altLang="en-US" sz="1400" dirty="0"/>
              <a:t>월</a:t>
            </a:r>
            <a:r>
              <a:rPr lang="en-US" altLang="ko-KR" sz="1400" dirty="0"/>
              <a:t>, </a:t>
            </a:r>
            <a:r>
              <a:rPr lang="ko-KR" altLang="en-US" sz="1400" dirty="0"/>
              <a:t>년</a:t>
            </a:r>
            <a:r>
              <a:rPr lang="en-US" altLang="ko-KR" sz="1400" dirty="0"/>
              <a:t>: </a:t>
            </a:r>
            <a:r>
              <a:rPr lang="ko-KR" altLang="en-US" sz="1400" dirty="0" err="1"/>
              <a:t>역법적</a:t>
            </a:r>
            <a:r>
              <a:rPr lang="ko-KR" altLang="en-US" sz="1400" dirty="0"/>
              <a:t> 계산방법</a:t>
            </a:r>
            <a:r>
              <a:rPr lang="en-US" altLang="ko-KR" sz="1400" dirty="0"/>
              <a:t>(</a:t>
            </a:r>
            <a:r>
              <a:rPr lang="ko-KR" altLang="en-US" sz="1400" dirty="0"/>
              <a:t>부정확</a:t>
            </a:r>
            <a:r>
              <a:rPr lang="en-US" altLang="ko-KR" sz="1400" dirty="0"/>
              <a:t>+</a:t>
            </a:r>
            <a:r>
              <a:rPr lang="ko-KR" altLang="en-US" sz="1400" dirty="0"/>
              <a:t>편리</a:t>
            </a:r>
            <a:r>
              <a:rPr lang="en-US" altLang="ko-KR" sz="1400" dirty="0"/>
              <a:t>)</a:t>
            </a:r>
          </a:p>
          <a:p>
            <a:endParaRPr lang="ko-KR" altLang="en-US" sz="1200" dirty="0"/>
          </a:p>
        </p:txBody>
      </p:sp>
      <p:sp>
        <p:nvSpPr>
          <p:cNvPr id="48" name="TextBox 47"/>
          <p:cNvSpPr txBox="1"/>
          <p:nvPr/>
        </p:nvSpPr>
        <p:spPr>
          <a:xfrm>
            <a:off x="1848821" y="5172052"/>
            <a:ext cx="5257800" cy="1169551"/>
          </a:xfrm>
          <a:prstGeom prst="rect">
            <a:avLst/>
          </a:prstGeom>
          <a:noFill/>
        </p:spPr>
        <p:txBody>
          <a:bodyPr wrap="square" rtlCol="0">
            <a:noAutofit/>
          </a:bodyPr>
          <a:lstStyle/>
          <a:p>
            <a:pPr marL="285750" indent="-285750">
              <a:buFont typeface="Wingdings" panose="05000000000000000000" pitchFamily="2" charset="2"/>
              <a:buChar char="§"/>
            </a:pPr>
            <a:r>
              <a:rPr lang="ko-KR" altLang="en-US" sz="1400" dirty="0"/>
              <a:t>원칙</a:t>
            </a:r>
            <a:r>
              <a:rPr lang="en-US" altLang="ko-KR" sz="1400" dirty="0"/>
              <a:t>: </a:t>
            </a:r>
            <a:r>
              <a:rPr lang="ko-KR" altLang="en-US" sz="1400" dirty="0"/>
              <a:t>최후 월의 기산일 전일로 만료</a:t>
            </a:r>
            <a:endParaRPr lang="en-US" altLang="ko-KR" sz="1400" dirty="0"/>
          </a:p>
          <a:p>
            <a:pPr marL="285750" indent="-285750">
              <a:buFont typeface="Wingdings" panose="05000000000000000000" pitchFamily="2" charset="2"/>
              <a:buChar char="§"/>
            </a:pPr>
            <a:r>
              <a:rPr lang="ko-KR" altLang="en-US" sz="1400" dirty="0"/>
              <a:t>예외</a:t>
            </a:r>
            <a:endParaRPr lang="en-US" altLang="ko-KR" sz="1400" dirty="0"/>
          </a:p>
          <a:p>
            <a:r>
              <a:rPr lang="en-US" altLang="ko-KR" sz="1400" dirty="0"/>
              <a:t>   - </a:t>
            </a:r>
            <a:r>
              <a:rPr lang="ko-KR" altLang="en-US" sz="1400" dirty="0"/>
              <a:t>해당일이 없는 경우</a:t>
            </a:r>
            <a:r>
              <a:rPr lang="en-US" altLang="ko-KR" sz="1400" dirty="0"/>
              <a:t>: </a:t>
            </a:r>
            <a:r>
              <a:rPr lang="ko-KR" altLang="en-US" sz="1400" dirty="0"/>
              <a:t>그 월의 마지막 날로 만료</a:t>
            </a:r>
            <a:endParaRPr lang="en-US" altLang="ko-KR" sz="1400" dirty="0"/>
          </a:p>
          <a:p>
            <a:r>
              <a:rPr lang="en-US" altLang="ko-KR" sz="1400" dirty="0"/>
              <a:t>   - </a:t>
            </a:r>
            <a:r>
              <a:rPr lang="ko-KR" altLang="en-US" sz="1400" dirty="0"/>
              <a:t>해당일이 공휴일</a:t>
            </a:r>
            <a:r>
              <a:rPr lang="en-US" altLang="ko-KR" sz="1400" dirty="0"/>
              <a:t>(</a:t>
            </a:r>
            <a:r>
              <a:rPr lang="ko-KR" altLang="en-US" sz="1400" dirty="0"/>
              <a:t>노동절</a:t>
            </a:r>
            <a:r>
              <a:rPr lang="en-US" altLang="ko-KR" sz="1400" dirty="0"/>
              <a:t>, </a:t>
            </a:r>
            <a:r>
              <a:rPr lang="ko-KR" altLang="en-US" sz="1400" dirty="0"/>
              <a:t>토요일 포함</a:t>
            </a:r>
            <a:r>
              <a:rPr lang="en-US" altLang="ko-KR" sz="1400" dirty="0"/>
              <a:t>)</a:t>
            </a:r>
            <a:r>
              <a:rPr lang="ko-KR" altLang="en-US" sz="1400" dirty="0"/>
              <a:t>인 경우</a:t>
            </a:r>
            <a:r>
              <a:rPr lang="en-US" altLang="ko-KR" sz="1400" dirty="0"/>
              <a:t>: </a:t>
            </a:r>
            <a:r>
              <a:rPr lang="ko-KR" altLang="en-US" sz="1400" dirty="0"/>
              <a:t>다음날로 만료</a:t>
            </a:r>
            <a:endParaRPr lang="en-US" altLang="ko-KR" sz="1400" dirty="0"/>
          </a:p>
          <a:p>
            <a:r>
              <a:rPr lang="en-US" altLang="ko-KR" sz="1400" dirty="0"/>
              <a:t>     </a:t>
            </a:r>
            <a:r>
              <a:rPr lang="en-US" altLang="ko-KR" sz="1100" dirty="0"/>
              <a:t>(</a:t>
            </a:r>
            <a:r>
              <a:rPr lang="ko-KR" altLang="en-US" sz="1100" dirty="0"/>
              <a:t>다만</a:t>
            </a:r>
            <a:r>
              <a:rPr lang="en-US" altLang="ko-KR" sz="1100" dirty="0"/>
              <a:t>, </a:t>
            </a:r>
            <a:r>
              <a:rPr lang="ko-KR" altLang="en-US" sz="1100" dirty="0"/>
              <a:t>당사자가 밟아야 하는 특허에 관한 절차</a:t>
            </a:r>
            <a:r>
              <a:rPr lang="en-US" altLang="ko-KR" sz="1100" dirty="0"/>
              <a:t>(</a:t>
            </a:r>
            <a:r>
              <a:rPr lang="ko-KR" altLang="en-US" sz="1100" dirty="0"/>
              <a:t>지식재산처 절차에 한함</a:t>
            </a:r>
            <a:r>
              <a:rPr lang="en-US" altLang="ko-KR" sz="1100" dirty="0"/>
              <a:t>)</a:t>
            </a:r>
            <a:r>
              <a:rPr lang="ko-KR" altLang="en-US" sz="1100" dirty="0"/>
              <a:t>에 한함</a:t>
            </a:r>
            <a:r>
              <a:rPr lang="en-US" altLang="ko-KR" sz="1100" dirty="0"/>
              <a:t>)</a:t>
            </a:r>
            <a:endParaRPr lang="ko-KR" altLang="en-US" sz="1200" dirty="0"/>
          </a:p>
        </p:txBody>
      </p:sp>
      <p:cxnSp>
        <p:nvCxnSpPr>
          <p:cNvPr id="49" name="직선 연결선 48"/>
          <p:cNvCxnSpPr/>
          <p:nvPr/>
        </p:nvCxnSpPr>
        <p:spPr>
          <a:xfrm>
            <a:off x="7041178" y="1062288"/>
            <a:ext cx="0" cy="559848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직사각형 18"/>
          <p:cNvSpPr/>
          <p:nvPr/>
        </p:nvSpPr>
        <p:spPr>
          <a:xfrm>
            <a:off x="7162800" y="1054100"/>
            <a:ext cx="4800600" cy="5969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600" dirty="0">
                <a:solidFill>
                  <a:schemeClr val="bg1">
                    <a:lumMod val="50000"/>
                  </a:schemeClr>
                </a:solidFill>
              </a:rPr>
              <a:t>2017</a:t>
            </a:r>
            <a:r>
              <a:rPr lang="ko-KR" altLang="en-US" sz="1600" dirty="0">
                <a:solidFill>
                  <a:schemeClr val="bg1">
                    <a:lumMod val="50000"/>
                  </a:schemeClr>
                </a:solidFill>
              </a:rPr>
              <a:t>년 </a:t>
            </a:r>
            <a:r>
              <a:rPr lang="en-US" altLang="ko-KR" sz="1600" dirty="0">
                <a:solidFill>
                  <a:schemeClr val="bg1">
                    <a:lumMod val="50000"/>
                  </a:schemeClr>
                </a:solidFill>
              </a:rPr>
              <a:t>2</a:t>
            </a:r>
            <a:r>
              <a:rPr lang="ko-KR" altLang="en-US" sz="1600" dirty="0">
                <a:solidFill>
                  <a:schemeClr val="bg1">
                    <a:lumMod val="50000"/>
                  </a:schemeClr>
                </a:solidFill>
              </a:rPr>
              <a:t>월 </a:t>
            </a:r>
            <a:r>
              <a:rPr lang="en-US" altLang="ko-KR" sz="1600" dirty="0">
                <a:solidFill>
                  <a:schemeClr val="bg1">
                    <a:lumMod val="50000"/>
                  </a:schemeClr>
                </a:solidFill>
              </a:rPr>
              <a:t>20</a:t>
            </a:r>
            <a:r>
              <a:rPr lang="ko-KR" altLang="en-US" sz="1600" dirty="0">
                <a:solidFill>
                  <a:schemeClr val="bg1">
                    <a:lumMod val="50000"/>
                  </a:schemeClr>
                </a:solidFill>
              </a:rPr>
              <a:t>일부터 </a:t>
            </a:r>
            <a:r>
              <a:rPr lang="en-US" altLang="ko-KR" sz="1600" dirty="0">
                <a:solidFill>
                  <a:schemeClr val="bg1">
                    <a:lumMod val="50000"/>
                  </a:schemeClr>
                </a:solidFill>
              </a:rPr>
              <a:t>1</a:t>
            </a:r>
            <a:r>
              <a:rPr lang="ko-KR" altLang="en-US" sz="1600" dirty="0">
                <a:solidFill>
                  <a:schemeClr val="bg1">
                    <a:lumMod val="50000"/>
                  </a:schemeClr>
                </a:solidFill>
              </a:rPr>
              <a:t>개월과 </a:t>
            </a:r>
            <a:r>
              <a:rPr lang="en-US" altLang="ko-KR" sz="1600" dirty="0">
                <a:solidFill>
                  <a:schemeClr val="bg1">
                    <a:lumMod val="50000"/>
                  </a:schemeClr>
                </a:solidFill>
              </a:rPr>
              <a:t>30</a:t>
            </a:r>
            <a:r>
              <a:rPr lang="ko-KR" altLang="en-US" sz="1600" dirty="0">
                <a:solidFill>
                  <a:schemeClr val="bg1">
                    <a:lumMod val="50000"/>
                  </a:schemeClr>
                </a:solidFill>
              </a:rPr>
              <a:t>일의 만료일은</a:t>
            </a:r>
            <a:r>
              <a:rPr lang="en-US" altLang="ko-KR" sz="1600" dirty="0">
                <a:solidFill>
                  <a:schemeClr val="bg1">
                    <a:lumMod val="50000"/>
                  </a:schemeClr>
                </a:solidFill>
              </a:rPr>
              <a:t>?</a:t>
            </a:r>
          </a:p>
          <a:p>
            <a:r>
              <a:rPr lang="en-US" altLang="ko-KR" sz="1400" dirty="0">
                <a:solidFill>
                  <a:schemeClr val="bg1">
                    <a:lumMod val="50000"/>
                  </a:schemeClr>
                </a:solidFill>
              </a:rPr>
              <a:t>(</a:t>
            </a:r>
            <a:r>
              <a:rPr lang="ko-KR" altLang="en-US" sz="1400" dirty="0">
                <a:solidFill>
                  <a:schemeClr val="bg1">
                    <a:lumMod val="50000"/>
                  </a:schemeClr>
                </a:solidFill>
              </a:rPr>
              <a:t>단</a:t>
            </a:r>
            <a:r>
              <a:rPr lang="en-US" altLang="ko-KR" sz="1400" dirty="0">
                <a:solidFill>
                  <a:schemeClr val="bg1">
                    <a:lumMod val="50000"/>
                  </a:schemeClr>
                </a:solidFill>
              </a:rPr>
              <a:t>, </a:t>
            </a:r>
            <a:r>
              <a:rPr lang="ko-KR" altLang="en-US" sz="1400" dirty="0">
                <a:solidFill>
                  <a:schemeClr val="bg1">
                    <a:lumMod val="50000"/>
                  </a:schemeClr>
                </a:solidFill>
              </a:rPr>
              <a:t>오전 </a:t>
            </a:r>
            <a:r>
              <a:rPr lang="en-US" altLang="ko-KR" sz="1400" dirty="0">
                <a:solidFill>
                  <a:schemeClr val="bg1">
                    <a:lumMod val="50000"/>
                  </a:schemeClr>
                </a:solidFill>
              </a:rPr>
              <a:t>0</a:t>
            </a:r>
            <a:r>
              <a:rPr lang="ko-KR" altLang="en-US" sz="1400" dirty="0">
                <a:solidFill>
                  <a:schemeClr val="bg1">
                    <a:lumMod val="50000"/>
                  </a:schemeClr>
                </a:solidFill>
              </a:rPr>
              <a:t>시부터 시작하지 않음</a:t>
            </a:r>
            <a:r>
              <a:rPr lang="en-US" altLang="ko-KR" sz="1400" dirty="0">
                <a:solidFill>
                  <a:schemeClr val="bg1">
                    <a:lumMod val="50000"/>
                  </a:schemeClr>
                </a:solidFill>
              </a:rPr>
              <a:t>)</a:t>
            </a:r>
            <a:endParaRPr lang="ko-KR" altLang="en-US" sz="1600" dirty="0">
              <a:solidFill>
                <a:schemeClr val="bg1">
                  <a:lumMod val="50000"/>
                </a:schemeClr>
              </a:solidFill>
            </a:endParaRPr>
          </a:p>
        </p:txBody>
      </p:sp>
      <p:sp>
        <p:nvSpPr>
          <p:cNvPr id="7" name="직사각형 6"/>
          <p:cNvSpPr/>
          <p:nvPr/>
        </p:nvSpPr>
        <p:spPr>
          <a:xfrm>
            <a:off x="389119" y="1861914"/>
            <a:ext cx="1376182" cy="513239"/>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2">
                    <a:lumMod val="10000"/>
                  </a:schemeClr>
                </a:solidFill>
              </a:rPr>
              <a:t>초일 결정</a:t>
            </a:r>
          </a:p>
        </p:txBody>
      </p:sp>
      <p:sp>
        <p:nvSpPr>
          <p:cNvPr id="36" name="직사각형 35"/>
          <p:cNvSpPr/>
          <p:nvPr/>
        </p:nvSpPr>
        <p:spPr>
          <a:xfrm>
            <a:off x="389117" y="1468214"/>
            <a:ext cx="1376183" cy="388205"/>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제</a:t>
            </a:r>
            <a:r>
              <a:rPr lang="en-US" altLang="ko-KR" sz="1400" dirty="0">
                <a:solidFill>
                  <a:schemeClr val="bg1"/>
                </a:solidFill>
              </a:rPr>
              <a:t>1</a:t>
            </a:r>
            <a:r>
              <a:rPr lang="ko-KR" altLang="en-US" sz="1400" dirty="0">
                <a:solidFill>
                  <a:schemeClr val="bg1"/>
                </a:solidFill>
              </a:rPr>
              <a:t>단계</a:t>
            </a:r>
          </a:p>
        </p:txBody>
      </p:sp>
      <p:sp>
        <p:nvSpPr>
          <p:cNvPr id="51" name="직사각형 50"/>
          <p:cNvSpPr/>
          <p:nvPr/>
        </p:nvSpPr>
        <p:spPr>
          <a:xfrm>
            <a:off x="389119" y="3104400"/>
            <a:ext cx="1376182" cy="513239"/>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2">
                    <a:lumMod val="10000"/>
                  </a:schemeClr>
                </a:solidFill>
              </a:rPr>
              <a:t>기산일 결정</a:t>
            </a:r>
          </a:p>
        </p:txBody>
      </p:sp>
      <p:sp>
        <p:nvSpPr>
          <p:cNvPr id="52" name="직사각형 51"/>
          <p:cNvSpPr/>
          <p:nvPr/>
        </p:nvSpPr>
        <p:spPr>
          <a:xfrm>
            <a:off x="389117" y="2710700"/>
            <a:ext cx="1376183" cy="388205"/>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제</a:t>
            </a:r>
            <a:r>
              <a:rPr lang="en-US" altLang="ko-KR" sz="1400" dirty="0">
                <a:solidFill>
                  <a:schemeClr val="bg1"/>
                </a:solidFill>
              </a:rPr>
              <a:t>2</a:t>
            </a:r>
            <a:r>
              <a:rPr lang="ko-KR" altLang="en-US" sz="1400" dirty="0">
                <a:solidFill>
                  <a:schemeClr val="bg1"/>
                </a:solidFill>
              </a:rPr>
              <a:t>단계</a:t>
            </a:r>
          </a:p>
        </p:txBody>
      </p:sp>
      <p:sp>
        <p:nvSpPr>
          <p:cNvPr id="54" name="직사각형 53"/>
          <p:cNvSpPr/>
          <p:nvPr/>
        </p:nvSpPr>
        <p:spPr>
          <a:xfrm>
            <a:off x="389119" y="4336955"/>
            <a:ext cx="1376182" cy="513239"/>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2">
                    <a:lumMod val="10000"/>
                  </a:schemeClr>
                </a:solidFill>
              </a:rPr>
              <a:t>계산방법 결정</a:t>
            </a:r>
          </a:p>
        </p:txBody>
      </p:sp>
      <p:sp>
        <p:nvSpPr>
          <p:cNvPr id="55" name="직사각형 54"/>
          <p:cNvSpPr/>
          <p:nvPr/>
        </p:nvSpPr>
        <p:spPr>
          <a:xfrm>
            <a:off x="389117" y="3943255"/>
            <a:ext cx="1376183" cy="388205"/>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제</a:t>
            </a:r>
            <a:r>
              <a:rPr lang="en-US" altLang="ko-KR" sz="1400" dirty="0">
                <a:solidFill>
                  <a:schemeClr val="bg1"/>
                </a:solidFill>
              </a:rPr>
              <a:t>3</a:t>
            </a:r>
            <a:r>
              <a:rPr lang="ko-KR" altLang="en-US" sz="1400" dirty="0">
                <a:solidFill>
                  <a:schemeClr val="bg1"/>
                </a:solidFill>
              </a:rPr>
              <a:t>단계</a:t>
            </a:r>
          </a:p>
        </p:txBody>
      </p:sp>
      <p:sp>
        <p:nvSpPr>
          <p:cNvPr id="56" name="직사각형 55"/>
          <p:cNvSpPr/>
          <p:nvPr/>
        </p:nvSpPr>
        <p:spPr>
          <a:xfrm>
            <a:off x="389119" y="5565752"/>
            <a:ext cx="1376182" cy="513239"/>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2">
                    <a:lumMod val="10000"/>
                  </a:schemeClr>
                </a:solidFill>
              </a:rPr>
              <a:t>만료일 결정</a:t>
            </a:r>
          </a:p>
        </p:txBody>
      </p:sp>
      <p:sp>
        <p:nvSpPr>
          <p:cNvPr id="57" name="직사각형 56"/>
          <p:cNvSpPr/>
          <p:nvPr/>
        </p:nvSpPr>
        <p:spPr>
          <a:xfrm>
            <a:off x="389117" y="5172052"/>
            <a:ext cx="1376183" cy="388205"/>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제</a:t>
            </a:r>
            <a:r>
              <a:rPr lang="en-US" altLang="ko-KR" sz="1400" dirty="0">
                <a:solidFill>
                  <a:schemeClr val="bg1"/>
                </a:solidFill>
              </a:rPr>
              <a:t>4</a:t>
            </a:r>
            <a:r>
              <a:rPr lang="ko-KR" altLang="en-US" sz="1400" dirty="0">
                <a:solidFill>
                  <a:schemeClr val="bg1"/>
                </a:solidFill>
              </a:rPr>
              <a:t>단계</a:t>
            </a:r>
          </a:p>
        </p:txBody>
      </p:sp>
      <p:cxnSp>
        <p:nvCxnSpPr>
          <p:cNvPr id="23" name="직선 화살표 연결선 22"/>
          <p:cNvCxnSpPr>
            <a:stCxn id="7" idx="2"/>
            <a:endCxn id="52" idx="0"/>
          </p:cNvCxnSpPr>
          <p:nvPr/>
        </p:nvCxnSpPr>
        <p:spPr>
          <a:xfrm flipH="1">
            <a:off x="1077209" y="2375153"/>
            <a:ext cx="1" cy="335547"/>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5" name="직선 화살표 연결선 24"/>
          <p:cNvCxnSpPr>
            <a:stCxn id="51" idx="2"/>
            <a:endCxn id="55" idx="0"/>
          </p:cNvCxnSpPr>
          <p:nvPr/>
        </p:nvCxnSpPr>
        <p:spPr>
          <a:xfrm flipH="1">
            <a:off x="1077209" y="3617639"/>
            <a:ext cx="1" cy="325616"/>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 name="직선 화살표 연결선 26"/>
          <p:cNvCxnSpPr>
            <a:stCxn id="54" idx="2"/>
            <a:endCxn id="57" idx="0"/>
          </p:cNvCxnSpPr>
          <p:nvPr/>
        </p:nvCxnSpPr>
        <p:spPr>
          <a:xfrm flipH="1">
            <a:off x="1077209" y="4850194"/>
            <a:ext cx="1" cy="321858"/>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aphicFrame>
        <p:nvGraphicFramePr>
          <p:cNvPr id="29" name="표 28"/>
          <p:cNvGraphicFramePr>
            <a:graphicFrameLocks noGrp="1"/>
          </p:cNvGraphicFramePr>
          <p:nvPr>
            <p:extLst>
              <p:ext uri="{D42A27DB-BD31-4B8C-83A1-F6EECF244321}">
                <p14:modId xmlns:p14="http://schemas.microsoft.com/office/powerpoint/2010/main" val="1946607946"/>
              </p:ext>
            </p:extLst>
          </p:nvPr>
        </p:nvGraphicFramePr>
        <p:xfrm>
          <a:off x="7162801" y="1727453"/>
          <a:ext cx="4800600" cy="2286000"/>
        </p:xfrm>
        <a:graphic>
          <a:graphicData uri="http://schemas.openxmlformats.org/drawingml/2006/table">
            <a:tbl>
              <a:tblPr firstRow="1">
                <a:tableStyleId>{8799B23B-EC83-4686-B30A-512413B5E67A}</a:tableStyleId>
              </a:tblPr>
              <a:tblGrid>
                <a:gridCol w="850899">
                  <a:extLst>
                    <a:ext uri="{9D8B030D-6E8A-4147-A177-3AD203B41FA5}">
                      <a16:colId xmlns:a16="http://schemas.microsoft.com/office/drawing/2014/main" val="3043904856"/>
                    </a:ext>
                  </a:extLst>
                </a:gridCol>
                <a:gridCol w="1384300">
                  <a:extLst>
                    <a:ext uri="{9D8B030D-6E8A-4147-A177-3AD203B41FA5}">
                      <a16:colId xmlns:a16="http://schemas.microsoft.com/office/drawing/2014/main" val="2619867057"/>
                    </a:ext>
                  </a:extLst>
                </a:gridCol>
                <a:gridCol w="2565401">
                  <a:extLst>
                    <a:ext uri="{9D8B030D-6E8A-4147-A177-3AD203B41FA5}">
                      <a16:colId xmlns:a16="http://schemas.microsoft.com/office/drawing/2014/main" val="1695306667"/>
                    </a:ext>
                  </a:extLst>
                </a:gridCol>
              </a:tblGrid>
              <a:tr h="175605">
                <a:tc>
                  <a:txBody>
                    <a:bodyPr/>
                    <a:lstStyle/>
                    <a:p>
                      <a:pPr latinLnBrk="1"/>
                      <a:endParaRPr lang="ko-KR" altLang="en-US" sz="1200" dirty="0"/>
                    </a:p>
                  </a:txBody>
                  <a:tcPr>
                    <a:solidFill>
                      <a:schemeClr val="accent1">
                        <a:lumMod val="20000"/>
                        <a:lumOff val="80000"/>
                      </a:schemeClr>
                    </a:solidFill>
                  </a:tcPr>
                </a:tc>
                <a:tc>
                  <a:txBody>
                    <a:bodyPr/>
                    <a:lstStyle/>
                    <a:p>
                      <a:pPr latinLnBrk="1"/>
                      <a:r>
                        <a:rPr lang="en-US" altLang="ko-KR" sz="1200" dirty="0"/>
                        <a:t>1</a:t>
                      </a:r>
                      <a:r>
                        <a:rPr lang="ko-KR" altLang="en-US" sz="1200" dirty="0"/>
                        <a:t>개월</a:t>
                      </a:r>
                    </a:p>
                  </a:txBody>
                  <a:tcPr>
                    <a:solidFill>
                      <a:schemeClr val="accent1">
                        <a:lumMod val="20000"/>
                        <a:lumOff val="80000"/>
                      </a:schemeClr>
                    </a:solidFill>
                  </a:tcPr>
                </a:tc>
                <a:tc>
                  <a:txBody>
                    <a:bodyPr/>
                    <a:lstStyle/>
                    <a:p>
                      <a:pPr latinLnBrk="1"/>
                      <a:r>
                        <a:rPr lang="en-US" altLang="ko-KR" sz="1200" dirty="0"/>
                        <a:t>30</a:t>
                      </a:r>
                      <a:r>
                        <a:rPr lang="ko-KR" altLang="en-US" sz="1200" dirty="0"/>
                        <a:t>일</a:t>
                      </a:r>
                    </a:p>
                  </a:txBody>
                  <a:tcPr>
                    <a:solidFill>
                      <a:schemeClr val="accent1">
                        <a:lumMod val="20000"/>
                        <a:lumOff val="80000"/>
                      </a:schemeClr>
                    </a:solidFill>
                  </a:tcPr>
                </a:tc>
                <a:extLst>
                  <a:ext uri="{0D108BD9-81ED-4DB2-BD59-A6C34878D82A}">
                    <a16:rowId xmlns:a16="http://schemas.microsoft.com/office/drawing/2014/main" val="348299254"/>
                  </a:ext>
                </a:extLst>
              </a:tr>
              <a:tr h="175605">
                <a:tc>
                  <a:txBody>
                    <a:bodyPr/>
                    <a:lstStyle/>
                    <a:p>
                      <a:pPr latinLnBrk="1"/>
                      <a:r>
                        <a:rPr lang="ko-KR" altLang="en-US" sz="1200" dirty="0"/>
                        <a:t>초일</a:t>
                      </a:r>
                    </a:p>
                  </a:txBody>
                  <a:tcPr/>
                </a:tc>
                <a:tc>
                  <a:txBody>
                    <a:bodyPr/>
                    <a:lstStyle/>
                    <a:p>
                      <a:pPr latinLnBrk="1"/>
                      <a:r>
                        <a:rPr lang="en-US" altLang="ko-KR" sz="1200" dirty="0"/>
                        <a:t>2.20</a:t>
                      </a:r>
                      <a:endParaRPr lang="ko-KR" altLang="en-US" sz="1200" dirty="0"/>
                    </a:p>
                  </a:txBody>
                  <a:tcPr/>
                </a:tc>
                <a:tc>
                  <a:txBody>
                    <a:bodyPr/>
                    <a:lstStyle/>
                    <a:p>
                      <a:pPr latinLnBrk="1"/>
                      <a:r>
                        <a:rPr lang="en-US" altLang="ko-KR" sz="1200" dirty="0"/>
                        <a:t>2.20</a:t>
                      </a:r>
                      <a:endParaRPr lang="ko-KR" altLang="en-US" sz="1200" dirty="0"/>
                    </a:p>
                  </a:txBody>
                  <a:tcPr/>
                </a:tc>
                <a:extLst>
                  <a:ext uri="{0D108BD9-81ED-4DB2-BD59-A6C34878D82A}">
                    <a16:rowId xmlns:a16="http://schemas.microsoft.com/office/drawing/2014/main" val="2112609003"/>
                  </a:ext>
                </a:extLst>
              </a:tr>
              <a:tr h="175605">
                <a:tc>
                  <a:txBody>
                    <a:bodyPr/>
                    <a:lstStyle/>
                    <a:p>
                      <a:pPr latinLnBrk="1"/>
                      <a:r>
                        <a:rPr lang="ko-KR" altLang="en-US" sz="1200" dirty="0"/>
                        <a:t>기산일</a:t>
                      </a:r>
                    </a:p>
                  </a:txBody>
                  <a:tcPr/>
                </a:tc>
                <a:tc>
                  <a:txBody>
                    <a:bodyPr/>
                    <a:lstStyle/>
                    <a:p>
                      <a:pPr latinLnBrk="1"/>
                      <a:r>
                        <a:rPr lang="en-US" altLang="ko-KR" sz="1200" dirty="0"/>
                        <a:t>2.21</a:t>
                      </a:r>
                      <a:endParaRPr lang="ko-KR" altLang="en-US" sz="1200" dirty="0"/>
                    </a:p>
                  </a:txBody>
                  <a:tcPr/>
                </a:tc>
                <a:tc>
                  <a:txBody>
                    <a:bodyPr/>
                    <a:lstStyle/>
                    <a:p>
                      <a:pPr latinLnBrk="1"/>
                      <a:r>
                        <a:rPr lang="en-US" altLang="ko-KR" sz="1200" dirty="0"/>
                        <a:t>2.21</a:t>
                      </a:r>
                      <a:endParaRPr lang="ko-KR" altLang="en-US" sz="1200" dirty="0"/>
                    </a:p>
                  </a:txBody>
                  <a:tcPr/>
                </a:tc>
                <a:extLst>
                  <a:ext uri="{0D108BD9-81ED-4DB2-BD59-A6C34878D82A}">
                    <a16:rowId xmlns:a16="http://schemas.microsoft.com/office/drawing/2014/main" val="3700814240"/>
                  </a:ext>
                </a:extLst>
              </a:tr>
              <a:tr h="175605">
                <a:tc>
                  <a:txBody>
                    <a:bodyPr/>
                    <a:lstStyle/>
                    <a:p>
                      <a:pPr latinLnBrk="1"/>
                      <a:r>
                        <a:rPr lang="ko-KR" altLang="en-US" sz="1200" dirty="0"/>
                        <a:t>계산방법</a:t>
                      </a:r>
                    </a:p>
                  </a:txBody>
                  <a:tcPr/>
                </a:tc>
                <a:tc>
                  <a:txBody>
                    <a:bodyPr/>
                    <a:lstStyle/>
                    <a:p>
                      <a:pPr latinLnBrk="1"/>
                      <a:r>
                        <a:rPr lang="ko-KR" altLang="en-US" sz="1200" dirty="0" err="1"/>
                        <a:t>역법적</a:t>
                      </a:r>
                      <a:endParaRPr lang="ko-KR" altLang="en-US" sz="1200" dirty="0"/>
                    </a:p>
                  </a:txBody>
                  <a:tcPr/>
                </a:tc>
                <a:tc>
                  <a:txBody>
                    <a:bodyPr/>
                    <a:lstStyle/>
                    <a:p>
                      <a:pPr latinLnBrk="1"/>
                      <a:r>
                        <a:rPr lang="ko-KR" altLang="en-US" sz="1200" dirty="0"/>
                        <a:t>자연적</a:t>
                      </a:r>
                    </a:p>
                  </a:txBody>
                  <a:tcPr/>
                </a:tc>
                <a:extLst>
                  <a:ext uri="{0D108BD9-81ED-4DB2-BD59-A6C34878D82A}">
                    <a16:rowId xmlns:a16="http://schemas.microsoft.com/office/drawing/2014/main" val="2708788416"/>
                  </a:ext>
                </a:extLst>
              </a:tr>
              <a:tr h="760953">
                <a:tc>
                  <a:txBody>
                    <a:bodyPr/>
                    <a:lstStyle/>
                    <a:p>
                      <a:pPr latinLnBrk="1"/>
                      <a:r>
                        <a:rPr lang="ko-KR" altLang="en-US" sz="1200" dirty="0"/>
                        <a:t>만료일</a:t>
                      </a:r>
                    </a:p>
                  </a:txBody>
                  <a:tcPr/>
                </a:tc>
                <a:tc>
                  <a:txBody>
                    <a:bodyPr/>
                    <a:lstStyle/>
                    <a:p>
                      <a:pPr latinLnBrk="1"/>
                      <a:r>
                        <a:rPr lang="en-US" altLang="ko-KR" sz="1200" dirty="0"/>
                        <a:t>3.21</a:t>
                      </a:r>
                      <a:r>
                        <a:rPr lang="ko-KR" altLang="en-US" sz="1200" dirty="0"/>
                        <a:t>의 전일</a:t>
                      </a:r>
                      <a:r>
                        <a:rPr lang="en-US" altLang="ko-KR" sz="1200" dirty="0"/>
                        <a:t>=3.20</a:t>
                      </a:r>
                      <a:endParaRPr lang="ko-KR" altLang="en-US" sz="1200" dirty="0"/>
                    </a:p>
                  </a:txBody>
                  <a:tcPr/>
                </a:tc>
                <a:tc>
                  <a:txBody>
                    <a:bodyPr/>
                    <a:lstStyle/>
                    <a:p>
                      <a:pPr latinLnBrk="1"/>
                      <a:r>
                        <a:rPr lang="en-US" altLang="ko-KR" sz="1200" dirty="0"/>
                        <a:t>30-7=23</a:t>
                      </a:r>
                      <a:r>
                        <a:rPr lang="ko-KR" altLang="en-US" sz="1200" dirty="0"/>
                        <a:t>일</a:t>
                      </a:r>
                      <a:endParaRPr lang="en-US" altLang="ko-KR" sz="1200" dirty="0"/>
                    </a:p>
                    <a:p>
                      <a:pPr latinLnBrk="1"/>
                      <a:r>
                        <a:rPr lang="en-US" altLang="ko-KR" sz="1200" dirty="0"/>
                        <a:t>3.23</a:t>
                      </a:r>
                      <a:r>
                        <a:rPr lang="ko-KR" altLang="en-US" sz="1200" dirty="0"/>
                        <a:t>의 전일</a:t>
                      </a:r>
                      <a:r>
                        <a:rPr lang="en-US" altLang="ko-KR" sz="1200" dirty="0"/>
                        <a:t>=3.22</a:t>
                      </a:r>
                    </a:p>
                    <a:p>
                      <a:pPr latinLnBrk="1"/>
                      <a:endParaRPr lang="en-US" altLang="ko-KR" sz="1200" dirty="0"/>
                    </a:p>
                    <a:p>
                      <a:pPr marL="88900" indent="-88900" latinLnBrk="1"/>
                      <a:r>
                        <a:rPr lang="en-US" altLang="ko-KR" sz="1200" dirty="0"/>
                        <a:t>* </a:t>
                      </a:r>
                      <a:r>
                        <a:rPr lang="ko-KR" altLang="en-US" sz="1200" dirty="0" err="1"/>
                        <a:t>계산일수</a:t>
                      </a:r>
                      <a:r>
                        <a:rPr lang="ko-KR" altLang="en-US" sz="1200" dirty="0"/>
                        <a:t> </a:t>
                      </a:r>
                      <a:r>
                        <a:rPr lang="en-US" altLang="ko-KR" sz="1200" dirty="0"/>
                        <a:t>– </a:t>
                      </a:r>
                      <a:r>
                        <a:rPr lang="ko-KR" altLang="en-US" sz="1200" dirty="0"/>
                        <a:t>그 달의 </a:t>
                      </a:r>
                      <a:r>
                        <a:rPr lang="ko-KR" altLang="en-US" sz="1200" dirty="0" err="1"/>
                        <a:t>소요일수</a:t>
                      </a:r>
                      <a:r>
                        <a:rPr lang="en-US" altLang="ko-KR" sz="1200" dirty="0"/>
                        <a:t>(</a:t>
                      </a:r>
                      <a:r>
                        <a:rPr lang="ko-KR" altLang="en-US" sz="1200" dirty="0"/>
                        <a:t>말일</a:t>
                      </a:r>
                      <a:r>
                        <a:rPr lang="en-US" altLang="ko-KR" sz="1200" dirty="0"/>
                        <a:t>-</a:t>
                      </a:r>
                      <a:r>
                        <a:rPr lang="ko-KR" altLang="en-US" sz="1200" dirty="0"/>
                        <a:t>기산일</a:t>
                      </a:r>
                      <a:r>
                        <a:rPr lang="en-US" altLang="ko-KR" sz="1200" dirty="0"/>
                        <a:t>)=</a:t>
                      </a:r>
                      <a:r>
                        <a:rPr lang="ko-KR" altLang="en-US" sz="1200" dirty="0" err="1"/>
                        <a:t>잔존일수</a:t>
                      </a:r>
                      <a:endParaRPr lang="en-US" altLang="ko-KR" sz="1200" dirty="0"/>
                    </a:p>
                    <a:p>
                      <a:pPr latinLnBrk="1"/>
                      <a:r>
                        <a:rPr lang="en-US" altLang="ko-KR" sz="1200" dirty="0"/>
                        <a:t>*</a:t>
                      </a:r>
                      <a:r>
                        <a:rPr lang="en-US" altLang="ko-KR" sz="1200" baseline="0" dirty="0"/>
                        <a:t> </a:t>
                      </a:r>
                      <a:r>
                        <a:rPr lang="ko-KR" altLang="en-US" sz="1200" dirty="0" err="1"/>
                        <a:t>잔존일수를</a:t>
                      </a:r>
                      <a:r>
                        <a:rPr lang="ko-KR" altLang="en-US" sz="1200" dirty="0"/>
                        <a:t> 다음달로 넘겨 계산</a:t>
                      </a:r>
                    </a:p>
                  </a:txBody>
                  <a:tcPr/>
                </a:tc>
                <a:extLst>
                  <a:ext uri="{0D108BD9-81ED-4DB2-BD59-A6C34878D82A}">
                    <a16:rowId xmlns:a16="http://schemas.microsoft.com/office/drawing/2014/main" val="3111383128"/>
                  </a:ext>
                </a:extLst>
              </a:tr>
            </a:tbl>
          </a:graphicData>
        </a:graphic>
      </p:graphicFrame>
      <p:sp>
        <p:nvSpPr>
          <p:cNvPr id="65" name="직사각형 64"/>
          <p:cNvSpPr/>
          <p:nvPr/>
        </p:nvSpPr>
        <p:spPr>
          <a:xfrm>
            <a:off x="7162800" y="4123494"/>
            <a:ext cx="4800600" cy="5969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600" dirty="0">
                <a:solidFill>
                  <a:schemeClr val="bg1">
                    <a:lumMod val="50000"/>
                  </a:schemeClr>
                </a:solidFill>
              </a:rPr>
              <a:t>2023</a:t>
            </a:r>
            <a:r>
              <a:rPr lang="ko-KR" altLang="en-US" sz="1600" dirty="0">
                <a:solidFill>
                  <a:schemeClr val="bg1">
                    <a:lumMod val="50000"/>
                  </a:schemeClr>
                </a:solidFill>
              </a:rPr>
              <a:t>년 </a:t>
            </a:r>
            <a:r>
              <a:rPr lang="en-US" altLang="ko-KR" sz="1600" dirty="0">
                <a:solidFill>
                  <a:srgbClr val="FF0000"/>
                </a:solidFill>
              </a:rPr>
              <a:t>4</a:t>
            </a:r>
            <a:r>
              <a:rPr lang="ko-KR" altLang="en-US" sz="1600" dirty="0">
                <a:solidFill>
                  <a:srgbClr val="FF0000"/>
                </a:solidFill>
              </a:rPr>
              <a:t>월 </a:t>
            </a:r>
            <a:r>
              <a:rPr lang="en-US" altLang="ko-KR" sz="1600" dirty="0">
                <a:solidFill>
                  <a:srgbClr val="FF0000"/>
                </a:solidFill>
              </a:rPr>
              <a:t>6</a:t>
            </a:r>
            <a:r>
              <a:rPr lang="ko-KR" altLang="en-US" sz="1600" dirty="0">
                <a:solidFill>
                  <a:srgbClr val="FF0000"/>
                </a:solidFill>
              </a:rPr>
              <a:t>일</a:t>
            </a:r>
            <a:r>
              <a:rPr lang="ko-KR" altLang="en-US" sz="1600" dirty="0">
                <a:solidFill>
                  <a:schemeClr val="bg1">
                    <a:lumMod val="50000"/>
                  </a:schemeClr>
                </a:solidFill>
              </a:rPr>
              <a:t>에 거절결정등본이 송달되었고</a:t>
            </a:r>
            <a:r>
              <a:rPr lang="en-US" altLang="ko-KR" sz="1600" dirty="0">
                <a:solidFill>
                  <a:schemeClr val="bg1">
                    <a:lumMod val="50000"/>
                  </a:schemeClr>
                </a:solidFill>
              </a:rPr>
              <a:t>, </a:t>
            </a:r>
            <a:r>
              <a:rPr lang="ko-KR" altLang="en-US" sz="1600" dirty="0">
                <a:solidFill>
                  <a:schemeClr val="bg1">
                    <a:lumMod val="50000"/>
                  </a:schemeClr>
                </a:solidFill>
              </a:rPr>
              <a:t>불복하지 않아 </a:t>
            </a:r>
            <a:r>
              <a:rPr lang="ko-KR" altLang="en-US" sz="1600" dirty="0" err="1">
                <a:solidFill>
                  <a:schemeClr val="bg1">
                    <a:lumMod val="50000"/>
                  </a:schemeClr>
                </a:solidFill>
              </a:rPr>
              <a:t>거절결정확정된</a:t>
            </a:r>
            <a:r>
              <a:rPr lang="ko-KR" altLang="en-US" sz="1600" dirty="0">
                <a:solidFill>
                  <a:schemeClr val="bg1">
                    <a:lumMod val="50000"/>
                  </a:schemeClr>
                </a:solidFill>
              </a:rPr>
              <a:t> 경우 그 확정일로부터 </a:t>
            </a:r>
            <a:r>
              <a:rPr lang="en-US" altLang="ko-KR" sz="1600" dirty="0">
                <a:solidFill>
                  <a:schemeClr val="bg1">
                    <a:lumMod val="50000"/>
                  </a:schemeClr>
                </a:solidFill>
              </a:rPr>
              <a:t>30</a:t>
            </a:r>
            <a:r>
              <a:rPr lang="ko-KR" altLang="en-US" sz="1600" dirty="0">
                <a:solidFill>
                  <a:schemeClr val="bg1">
                    <a:lumMod val="50000"/>
                  </a:schemeClr>
                </a:solidFill>
              </a:rPr>
              <a:t>일은</a:t>
            </a:r>
            <a:r>
              <a:rPr lang="en-US" altLang="ko-KR" sz="1600" dirty="0">
                <a:solidFill>
                  <a:schemeClr val="bg1">
                    <a:lumMod val="50000"/>
                  </a:schemeClr>
                </a:solidFill>
              </a:rPr>
              <a:t>?</a:t>
            </a:r>
            <a:endParaRPr lang="ko-KR" altLang="en-US" sz="1600" dirty="0">
              <a:solidFill>
                <a:schemeClr val="bg1">
                  <a:lumMod val="50000"/>
                </a:schemeClr>
              </a:solidFill>
            </a:endParaRPr>
          </a:p>
        </p:txBody>
      </p:sp>
      <p:cxnSp>
        <p:nvCxnSpPr>
          <p:cNvPr id="41" name="직선 연결선 40"/>
          <p:cNvCxnSpPr/>
          <p:nvPr/>
        </p:nvCxnSpPr>
        <p:spPr>
          <a:xfrm>
            <a:off x="7162800" y="5972727"/>
            <a:ext cx="4889500" cy="0"/>
          </a:xfrm>
          <a:prstGeom prst="line">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0" name="직선 화살표 연결선 49"/>
          <p:cNvCxnSpPr/>
          <p:nvPr/>
        </p:nvCxnSpPr>
        <p:spPr>
          <a:xfrm>
            <a:off x="7429500" y="5582054"/>
            <a:ext cx="0" cy="390673"/>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7176866" y="5202052"/>
            <a:ext cx="505267" cy="369332"/>
          </a:xfrm>
          <a:prstGeom prst="rect">
            <a:avLst/>
          </a:prstGeom>
          <a:noFill/>
        </p:spPr>
        <p:txBody>
          <a:bodyPr wrap="none" rtlCol="0">
            <a:spAutoFit/>
          </a:bodyPr>
          <a:lstStyle/>
          <a:p>
            <a:r>
              <a:rPr lang="en-US" altLang="ko-KR" dirty="0">
                <a:solidFill>
                  <a:srgbClr val="FF0000"/>
                </a:solidFill>
              </a:rPr>
              <a:t>4.6</a:t>
            </a:r>
            <a:endParaRPr lang="ko-KR" altLang="en-US" dirty="0">
              <a:solidFill>
                <a:srgbClr val="FF0000"/>
              </a:solidFill>
            </a:endParaRPr>
          </a:p>
        </p:txBody>
      </p:sp>
      <p:cxnSp>
        <p:nvCxnSpPr>
          <p:cNvPr id="72" name="직선 화살표 연결선 71"/>
          <p:cNvCxnSpPr/>
          <p:nvPr/>
        </p:nvCxnSpPr>
        <p:spPr>
          <a:xfrm>
            <a:off x="8978900" y="5582054"/>
            <a:ext cx="0" cy="390673"/>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6" name="TextBox 75"/>
          <p:cNvSpPr txBox="1"/>
          <p:nvPr/>
        </p:nvSpPr>
        <p:spPr>
          <a:xfrm>
            <a:off x="8726266" y="5202052"/>
            <a:ext cx="505267" cy="369332"/>
          </a:xfrm>
          <a:prstGeom prst="rect">
            <a:avLst/>
          </a:prstGeom>
          <a:noFill/>
        </p:spPr>
        <p:txBody>
          <a:bodyPr wrap="none" rtlCol="0">
            <a:spAutoFit/>
          </a:bodyPr>
          <a:lstStyle/>
          <a:p>
            <a:r>
              <a:rPr lang="en-US" altLang="ko-KR" dirty="0">
                <a:solidFill>
                  <a:srgbClr val="FF0000"/>
                </a:solidFill>
              </a:rPr>
              <a:t>7.6</a:t>
            </a:r>
            <a:endParaRPr lang="ko-KR" altLang="en-US" dirty="0">
              <a:solidFill>
                <a:srgbClr val="FF0000"/>
              </a:solidFill>
            </a:endParaRPr>
          </a:p>
        </p:txBody>
      </p:sp>
      <p:cxnSp>
        <p:nvCxnSpPr>
          <p:cNvPr id="87" name="직선 화살표 연결선 86"/>
          <p:cNvCxnSpPr/>
          <p:nvPr/>
        </p:nvCxnSpPr>
        <p:spPr>
          <a:xfrm>
            <a:off x="9677400" y="5582054"/>
            <a:ext cx="0" cy="390673"/>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9424766" y="5202052"/>
            <a:ext cx="505267" cy="369332"/>
          </a:xfrm>
          <a:prstGeom prst="rect">
            <a:avLst/>
          </a:prstGeom>
          <a:noFill/>
        </p:spPr>
        <p:txBody>
          <a:bodyPr wrap="none" rtlCol="0">
            <a:spAutoFit/>
          </a:bodyPr>
          <a:lstStyle/>
          <a:p>
            <a:r>
              <a:rPr lang="en-US" altLang="ko-KR" dirty="0">
                <a:solidFill>
                  <a:srgbClr val="FF0000"/>
                </a:solidFill>
              </a:rPr>
              <a:t>7.7</a:t>
            </a:r>
            <a:endParaRPr lang="ko-KR" altLang="en-US" dirty="0">
              <a:solidFill>
                <a:srgbClr val="FF0000"/>
              </a:solidFill>
            </a:endParaRPr>
          </a:p>
        </p:txBody>
      </p:sp>
      <p:cxnSp>
        <p:nvCxnSpPr>
          <p:cNvPr id="94" name="직선 화살표 연결선 93"/>
          <p:cNvCxnSpPr/>
          <p:nvPr/>
        </p:nvCxnSpPr>
        <p:spPr>
          <a:xfrm>
            <a:off x="7917083" y="5582054"/>
            <a:ext cx="0" cy="390673"/>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5" name="TextBox 94"/>
          <p:cNvSpPr txBox="1"/>
          <p:nvPr/>
        </p:nvSpPr>
        <p:spPr>
          <a:xfrm>
            <a:off x="7664449" y="5202052"/>
            <a:ext cx="505267" cy="369332"/>
          </a:xfrm>
          <a:prstGeom prst="rect">
            <a:avLst/>
          </a:prstGeom>
          <a:noFill/>
        </p:spPr>
        <p:txBody>
          <a:bodyPr wrap="none" rtlCol="0">
            <a:spAutoFit/>
          </a:bodyPr>
          <a:lstStyle/>
          <a:p>
            <a:r>
              <a:rPr lang="en-US" altLang="ko-KR" dirty="0">
                <a:solidFill>
                  <a:srgbClr val="FF0000"/>
                </a:solidFill>
              </a:rPr>
              <a:t>4.7</a:t>
            </a:r>
            <a:endParaRPr lang="ko-KR" altLang="en-US" dirty="0">
              <a:solidFill>
                <a:srgbClr val="FF0000"/>
              </a:solidFill>
            </a:endParaRPr>
          </a:p>
        </p:txBody>
      </p:sp>
      <p:sp>
        <p:nvSpPr>
          <p:cNvPr id="79" name="TextBox 78"/>
          <p:cNvSpPr txBox="1"/>
          <p:nvPr/>
        </p:nvSpPr>
        <p:spPr>
          <a:xfrm>
            <a:off x="7429499" y="6374070"/>
            <a:ext cx="1691489" cy="276999"/>
          </a:xfrm>
          <a:prstGeom prst="rect">
            <a:avLst/>
          </a:prstGeom>
          <a:noFill/>
        </p:spPr>
        <p:txBody>
          <a:bodyPr wrap="none" rtlCol="0">
            <a:spAutoFit/>
          </a:bodyPr>
          <a:lstStyle/>
          <a:p>
            <a:r>
              <a:rPr lang="ko-KR" altLang="en-US" sz="1200" dirty="0"/>
              <a:t>등본송달일로부터 </a:t>
            </a:r>
            <a:r>
              <a:rPr lang="en-US" altLang="ko-KR" sz="1200" dirty="0"/>
              <a:t>3</a:t>
            </a:r>
            <a:r>
              <a:rPr lang="ko-KR" altLang="en-US" sz="1200" dirty="0"/>
              <a:t>개월</a:t>
            </a:r>
          </a:p>
        </p:txBody>
      </p:sp>
      <p:sp>
        <p:nvSpPr>
          <p:cNvPr id="96" name="TextBox 95"/>
          <p:cNvSpPr txBox="1"/>
          <p:nvPr/>
        </p:nvSpPr>
        <p:spPr>
          <a:xfrm>
            <a:off x="9739352" y="6374070"/>
            <a:ext cx="1362874" cy="276999"/>
          </a:xfrm>
          <a:prstGeom prst="rect">
            <a:avLst/>
          </a:prstGeom>
          <a:noFill/>
        </p:spPr>
        <p:txBody>
          <a:bodyPr wrap="none" rtlCol="0">
            <a:spAutoFit/>
          </a:bodyPr>
          <a:lstStyle/>
          <a:p>
            <a:r>
              <a:rPr lang="ko-KR" altLang="en-US" sz="1200" dirty="0"/>
              <a:t>확정일로부터 </a:t>
            </a:r>
            <a:r>
              <a:rPr lang="en-US" altLang="ko-KR" sz="1200" dirty="0"/>
              <a:t>30</a:t>
            </a:r>
            <a:r>
              <a:rPr lang="ko-KR" altLang="en-US" sz="1200" dirty="0"/>
              <a:t>일</a:t>
            </a:r>
          </a:p>
        </p:txBody>
      </p:sp>
      <p:cxnSp>
        <p:nvCxnSpPr>
          <p:cNvPr id="97" name="직선 화살표 연결선 96"/>
          <p:cNvCxnSpPr/>
          <p:nvPr/>
        </p:nvCxnSpPr>
        <p:spPr>
          <a:xfrm>
            <a:off x="11185786" y="5582054"/>
            <a:ext cx="0" cy="390673"/>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8" name="TextBox 97"/>
          <p:cNvSpPr txBox="1"/>
          <p:nvPr/>
        </p:nvSpPr>
        <p:spPr>
          <a:xfrm>
            <a:off x="10933152" y="5202052"/>
            <a:ext cx="505267" cy="369332"/>
          </a:xfrm>
          <a:prstGeom prst="rect">
            <a:avLst/>
          </a:prstGeom>
          <a:noFill/>
        </p:spPr>
        <p:txBody>
          <a:bodyPr wrap="none" rtlCol="0">
            <a:spAutoFit/>
          </a:bodyPr>
          <a:lstStyle/>
          <a:p>
            <a:r>
              <a:rPr lang="en-US" altLang="ko-KR" dirty="0">
                <a:solidFill>
                  <a:srgbClr val="FF0000"/>
                </a:solidFill>
              </a:rPr>
              <a:t>8.5</a:t>
            </a:r>
            <a:endParaRPr lang="ko-KR" altLang="en-US" dirty="0">
              <a:solidFill>
                <a:srgbClr val="FF0000"/>
              </a:solidFill>
            </a:endParaRPr>
          </a:p>
        </p:txBody>
      </p:sp>
      <p:sp>
        <p:nvSpPr>
          <p:cNvPr id="99" name="TextBox 98"/>
          <p:cNvSpPr txBox="1"/>
          <p:nvPr/>
        </p:nvSpPr>
        <p:spPr>
          <a:xfrm>
            <a:off x="7186687" y="4948963"/>
            <a:ext cx="460382" cy="276999"/>
          </a:xfrm>
          <a:prstGeom prst="rect">
            <a:avLst/>
          </a:prstGeom>
          <a:noFill/>
        </p:spPr>
        <p:txBody>
          <a:bodyPr wrap="none" rtlCol="0">
            <a:spAutoFit/>
          </a:bodyPr>
          <a:lstStyle/>
          <a:p>
            <a:r>
              <a:rPr lang="ko-KR" altLang="en-US" sz="1200"/>
              <a:t>초일</a:t>
            </a:r>
            <a:endParaRPr lang="ko-KR" altLang="en-US" sz="1200" dirty="0"/>
          </a:p>
        </p:txBody>
      </p:sp>
      <p:sp>
        <p:nvSpPr>
          <p:cNvPr id="100" name="TextBox 99"/>
          <p:cNvSpPr txBox="1"/>
          <p:nvPr/>
        </p:nvSpPr>
        <p:spPr>
          <a:xfrm>
            <a:off x="7685047" y="4948963"/>
            <a:ext cx="598241" cy="276999"/>
          </a:xfrm>
          <a:prstGeom prst="rect">
            <a:avLst/>
          </a:prstGeom>
          <a:noFill/>
        </p:spPr>
        <p:txBody>
          <a:bodyPr wrap="none" rtlCol="0">
            <a:spAutoFit/>
          </a:bodyPr>
          <a:lstStyle/>
          <a:p>
            <a:r>
              <a:rPr lang="ko-KR" altLang="en-US" sz="1200" dirty="0"/>
              <a:t>기산일</a:t>
            </a:r>
          </a:p>
        </p:txBody>
      </p:sp>
      <p:sp>
        <p:nvSpPr>
          <p:cNvPr id="101" name="TextBox 100"/>
          <p:cNvSpPr txBox="1"/>
          <p:nvPr/>
        </p:nvSpPr>
        <p:spPr>
          <a:xfrm>
            <a:off x="8705055" y="4948963"/>
            <a:ext cx="598241" cy="276999"/>
          </a:xfrm>
          <a:prstGeom prst="rect">
            <a:avLst/>
          </a:prstGeom>
          <a:noFill/>
        </p:spPr>
        <p:txBody>
          <a:bodyPr wrap="none" rtlCol="0">
            <a:spAutoFit/>
          </a:bodyPr>
          <a:lstStyle/>
          <a:p>
            <a:r>
              <a:rPr lang="ko-KR" altLang="en-US" sz="1200" dirty="0"/>
              <a:t>만료일</a:t>
            </a:r>
          </a:p>
        </p:txBody>
      </p:sp>
      <p:sp>
        <p:nvSpPr>
          <p:cNvPr id="102" name="TextBox 101"/>
          <p:cNvSpPr txBox="1"/>
          <p:nvPr/>
        </p:nvSpPr>
        <p:spPr>
          <a:xfrm>
            <a:off x="9375390" y="4948963"/>
            <a:ext cx="966931" cy="276999"/>
          </a:xfrm>
          <a:prstGeom prst="rect">
            <a:avLst/>
          </a:prstGeom>
          <a:noFill/>
        </p:spPr>
        <p:txBody>
          <a:bodyPr wrap="none" rtlCol="0">
            <a:spAutoFit/>
          </a:bodyPr>
          <a:lstStyle/>
          <a:p>
            <a:r>
              <a:rPr lang="ko-KR" altLang="en-US" sz="1200" dirty="0"/>
              <a:t>초일</a:t>
            </a:r>
            <a:r>
              <a:rPr lang="en-US" altLang="ko-KR" sz="1200" dirty="0"/>
              <a:t>=</a:t>
            </a:r>
            <a:r>
              <a:rPr lang="ko-KR" altLang="en-US" sz="1200" dirty="0"/>
              <a:t>기산일</a:t>
            </a:r>
          </a:p>
        </p:txBody>
      </p:sp>
      <p:sp>
        <p:nvSpPr>
          <p:cNvPr id="104" name="TextBox 103"/>
          <p:cNvSpPr txBox="1"/>
          <p:nvPr/>
        </p:nvSpPr>
        <p:spPr>
          <a:xfrm>
            <a:off x="10886664" y="4948963"/>
            <a:ext cx="598241" cy="276999"/>
          </a:xfrm>
          <a:prstGeom prst="rect">
            <a:avLst/>
          </a:prstGeom>
          <a:noFill/>
        </p:spPr>
        <p:txBody>
          <a:bodyPr wrap="none" rtlCol="0">
            <a:spAutoFit/>
          </a:bodyPr>
          <a:lstStyle/>
          <a:p>
            <a:r>
              <a:rPr lang="ko-KR" altLang="en-US" sz="1200" dirty="0"/>
              <a:t>만료일</a:t>
            </a:r>
          </a:p>
        </p:txBody>
      </p:sp>
      <p:sp>
        <p:nvSpPr>
          <p:cNvPr id="2" name="양쪽 모서리가 둥근 사각형 1"/>
          <p:cNvSpPr/>
          <p:nvPr/>
        </p:nvSpPr>
        <p:spPr>
          <a:xfrm>
            <a:off x="7429499" y="5987379"/>
            <a:ext cx="1549400" cy="345431"/>
          </a:xfrm>
          <a:prstGeom prst="round2SameRect">
            <a:avLst>
              <a:gd name="adj1" fmla="val 0"/>
              <a:gd name="adj2" fmla="val 50000"/>
            </a:avLst>
          </a:prstGeom>
          <a:pattFill prst="ltHorz">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4" name="양쪽 모서리가 둥근 사각형 43"/>
          <p:cNvSpPr/>
          <p:nvPr/>
        </p:nvSpPr>
        <p:spPr>
          <a:xfrm>
            <a:off x="9677400" y="5987379"/>
            <a:ext cx="1549400" cy="345431"/>
          </a:xfrm>
          <a:prstGeom prst="round2SameRect">
            <a:avLst>
              <a:gd name="adj1" fmla="val 0"/>
              <a:gd name="adj2" fmla="val 50000"/>
            </a:avLst>
          </a:prstGeom>
          <a:pattFill prst="lgGrid">
            <a:fgClr>
              <a:schemeClr val="accent4"/>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70926648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15</a:t>
            </a:r>
            <a:r>
              <a:rPr lang="ko-KR" altLang="en-US" dirty="0"/>
              <a:t>조</a:t>
            </a:r>
          </a:p>
        </p:txBody>
      </p:sp>
      <p:sp>
        <p:nvSpPr>
          <p:cNvPr id="4" name="텍스트 개체 틀 3"/>
          <p:cNvSpPr>
            <a:spLocks noGrp="1"/>
          </p:cNvSpPr>
          <p:nvPr>
            <p:ph type="body" sz="quarter" idx="13"/>
          </p:nvPr>
        </p:nvSpPr>
        <p:spPr/>
        <p:txBody>
          <a:bodyPr/>
          <a:lstStyle/>
          <a:p>
            <a:r>
              <a:rPr lang="ko-KR" altLang="en-US" dirty="0"/>
              <a:t>기일과</a:t>
            </a:r>
            <a:r>
              <a:rPr lang="en-US" altLang="ko-KR" dirty="0"/>
              <a:t> </a:t>
            </a:r>
            <a:r>
              <a:rPr lang="ko-KR" altLang="en-US" dirty="0"/>
              <a:t>기간의 종류</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37</a:t>
            </a:fld>
            <a:endParaRPr lang="ko-KR" altLang="en-US"/>
          </a:p>
        </p:txBody>
      </p:sp>
      <p:sp>
        <p:nvSpPr>
          <p:cNvPr id="44" name="직사각형 43"/>
          <p:cNvSpPr/>
          <p:nvPr/>
        </p:nvSpPr>
        <p:spPr>
          <a:xfrm>
            <a:off x="546099" y="2437281"/>
            <a:ext cx="1349189"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기일</a:t>
            </a:r>
            <a:endParaRPr lang="en-US" altLang="ko-KR" sz="1200" dirty="0">
              <a:solidFill>
                <a:schemeClr val="tx1"/>
              </a:solidFill>
            </a:endParaRPr>
          </a:p>
          <a:p>
            <a:pPr algn="ctr"/>
            <a:r>
              <a:rPr lang="en-US" altLang="ko-KR" sz="1200" dirty="0">
                <a:solidFill>
                  <a:schemeClr val="accent2"/>
                </a:solidFill>
              </a:rPr>
              <a:t>(</a:t>
            </a:r>
            <a:r>
              <a:rPr lang="ko-KR" altLang="en-US" sz="1200" dirty="0">
                <a:solidFill>
                  <a:schemeClr val="accent2"/>
                </a:solidFill>
              </a:rPr>
              <a:t>어느 한 시점</a:t>
            </a:r>
            <a:r>
              <a:rPr lang="en-US" altLang="ko-KR" sz="1200" dirty="0">
                <a:solidFill>
                  <a:schemeClr val="accent2"/>
                </a:solidFill>
              </a:rPr>
              <a:t>)</a:t>
            </a:r>
            <a:endParaRPr lang="ko-KR" altLang="en-US" sz="1200" dirty="0">
              <a:solidFill>
                <a:schemeClr val="accent2"/>
              </a:solidFill>
            </a:endParaRPr>
          </a:p>
        </p:txBody>
      </p:sp>
      <p:sp>
        <p:nvSpPr>
          <p:cNvPr id="45" name="직사각형 44"/>
          <p:cNvSpPr/>
          <p:nvPr/>
        </p:nvSpPr>
        <p:spPr>
          <a:xfrm>
            <a:off x="546099" y="4666131"/>
            <a:ext cx="1349189"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기간</a:t>
            </a:r>
            <a:endParaRPr lang="en-US" altLang="ko-KR" sz="1200" dirty="0">
              <a:solidFill>
                <a:schemeClr val="tx1"/>
              </a:solidFill>
            </a:endParaRPr>
          </a:p>
          <a:p>
            <a:pPr algn="ctr"/>
            <a:r>
              <a:rPr lang="en-US" altLang="ko-KR" sz="1200" dirty="0">
                <a:solidFill>
                  <a:schemeClr val="accent2"/>
                </a:solidFill>
              </a:rPr>
              <a:t>(</a:t>
            </a:r>
            <a:r>
              <a:rPr lang="ko-KR" altLang="en-US" sz="1200" dirty="0">
                <a:solidFill>
                  <a:schemeClr val="accent2"/>
                </a:solidFill>
              </a:rPr>
              <a:t>연속된 시간</a:t>
            </a:r>
            <a:r>
              <a:rPr lang="en-US" altLang="ko-KR" sz="1200" dirty="0">
                <a:solidFill>
                  <a:schemeClr val="accent2"/>
                </a:solidFill>
              </a:rPr>
              <a:t>)</a:t>
            </a:r>
            <a:endParaRPr lang="ko-KR" altLang="en-US" sz="1200" dirty="0">
              <a:solidFill>
                <a:schemeClr val="accent2"/>
              </a:solidFill>
            </a:endParaRPr>
          </a:p>
        </p:txBody>
      </p:sp>
      <p:cxnSp>
        <p:nvCxnSpPr>
          <p:cNvPr id="60" name="꺾인 연결선 59"/>
          <p:cNvCxnSpPr>
            <a:stCxn id="44" idx="3"/>
            <a:endCxn id="80" idx="1"/>
          </p:cNvCxnSpPr>
          <p:nvPr/>
        </p:nvCxnSpPr>
        <p:spPr>
          <a:xfrm>
            <a:off x="1895288" y="2694456"/>
            <a:ext cx="484651" cy="681678"/>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꺾인 연결선 60"/>
          <p:cNvCxnSpPr>
            <a:stCxn id="44" idx="3"/>
            <a:endCxn id="77" idx="1"/>
          </p:cNvCxnSpPr>
          <p:nvPr/>
        </p:nvCxnSpPr>
        <p:spPr>
          <a:xfrm flipV="1">
            <a:off x="1895288" y="1985652"/>
            <a:ext cx="484651" cy="708804"/>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2" name="꺾인 연결선 61"/>
          <p:cNvCxnSpPr>
            <a:stCxn id="45" idx="3"/>
            <a:endCxn id="88" idx="1"/>
          </p:cNvCxnSpPr>
          <p:nvPr/>
        </p:nvCxnSpPr>
        <p:spPr>
          <a:xfrm>
            <a:off x="1895288" y="4923306"/>
            <a:ext cx="484651" cy="741309"/>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3" name="꺾인 연결선 62"/>
          <p:cNvCxnSpPr>
            <a:stCxn id="45" idx="3"/>
            <a:endCxn id="86" idx="1"/>
          </p:cNvCxnSpPr>
          <p:nvPr/>
        </p:nvCxnSpPr>
        <p:spPr>
          <a:xfrm flipV="1">
            <a:off x="1895288" y="4274133"/>
            <a:ext cx="484651" cy="649173"/>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7" name="직사각형 76"/>
          <p:cNvSpPr/>
          <p:nvPr/>
        </p:nvSpPr>
        <p:spPr>
          <a:xfrm>
            <a:off x="2379939" y="1728477"/>
            <a:ext cx="144276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법정기일 </a:t>
            </a:r>
            <a:r>
              <a:rPr lang="en-US" altLang="ko-KR" sz="1200" dirty="0">
                <a:solidFill>
                  <a:schemeClr val="tx1"/>
                </a:solidFill>
              </a:rPr>
              <a:t>×</a:t>
            </a:r>
          </a:p>
          <a:p>
            <a:pPr algn="ctr"/>
            <a:r>
              <a:rPr lang="en-US" altLang="ko-KR" sz="1200" dirty="0">
                <a:solidFill>
                  <a:schemeClr val="accent2"/>
                </a:solidFill>
              </a:rPr>
              <a:t>(</a:t>
            </a:r>
            <a:r>
              <a:rPr lang="ko-KR" altLang="en-US" sz="1200" dirty="0">
                <a:solidFill>
                  <a:schemeClr val="accent2"/>
                </a:solidFill>
              </a:rPr>
              <a:t>법에서 정한 기일</a:t>
            </a:r>
            <a:r>
              <a:rPr lang="en-US" altLang="ko-KR" sz="1200" dirty="0">
                <a:solidFill>
                  <a:schemeClr val="accent2"/>
                </a:solidFill>
              </a:rPr>
              <a:t>)</a:t>
            </a:r>
            <a:endParaRPr lang="ko-KR" altLang="en-US" sz="1200" dirty="0">
              <a:solidFill>
                <a:schemeClr val="accent2"/>
              </a:solidFill>
            </a:endParaRPr>
          </a:p>
        </p:txBody>
      </p:sp>
      <p:sp>
        <p:nvSpPr>
          <p:cNvPr id="80" name="직사각형 79"/>
          <p:cNvSpPr/>
          <p:nvPr/>
        </p:nvSpPr>
        <p:spPr>
          <a:xfrm>
            <a:off x="2379939" y="3118959"/>
            <a:ext cx="144276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지정기일</a:t>
            </a:r>
            <a:r>
              <a:rPr lang="ko-KR" altLang="en-US" sz="1200" dirty="0">
                <a:solidFill>
                  <a:schemeClr val="tx1"/>
                </a:solidFill>
              </a:rPr>
              <a:t> ○</a:t>
            </a:r>
            <a:endParaRPr lang="en-US" altLang="ko-KR" sz="1200" dirty="0">
              <a:solidFill>
                <a:schemeClr val="tx1"/>
              </a:solidFill>
            </a:endParaRPr>
          </a:p>
          <a:p>
            <a:pPr algn="ctr"/>
            <a:r>
              <a:rPr lang="en-US" altLang="ko-KR" sz="1200" dirty="0">
                <a:solidFill>
                  <a:schemeClr val="accent2"/>
                </a:solidFill>
              </a:rPr>
              <a:t>(</a:t>
            </a:r>
            <a:r>
              <a:rPr lang="ko-KR" altLang="en-US" sz="1200" dirty="0">
                <a:solidFill>
                  <a:schemeClr val="accent2"/>
                </a:solidFill>
              </a:rPr>
              <a:t>임의로 지정한 기일</a:t>
            </a:r>
            <a:r>
              <a:rPr lang="en-US" altLang="ko-KR" sz="1200" dirty="0">
                <a:solidFill>
                  <a:schemeClr val="accent2"/>
                </a:solidFill>
              </a:rPr>
              <a:t>)</a:t>
            </a:r>
            <a:endParaRPr lang="ko-KR" altLang="en-US" sz="1200" dirty="0">
              <a:solidFill>
                <a:schemeClr val="accent2"/>
              </a:solidFill>
            </a:endParaRPr>
          </a:p>
        </p:txBody>
      </p:sp>
      <p:sp>
        <p:nvSpPr>
          <p:cNvPr id="86" name="직사각형 85"/>
          <p:cNvSpPr/>
          <p:nvPr/>
        </p:nvSpPr>
        <p:spPr>
          <a:xfrm>
            <a:off x="2379939" y="4016958"/>
            <a:ext cx="144276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법정기간 ○</a:t>
            </a:r>
            <a:endParaRPr lang="en-US" altLang="ko-KR" sz="1200" dirty="0">
              <a:solidFill>
                <a:schemeClr val="tx1"/>
              </a:solidFill>
            </a:endParaRPr>
          </a:p>
          <a:p>
            <a:pPr algn="ctr"/>
            <a:r>
              <a:rPr lang="en-US" altLang="ko-KR" sz="1200" dirty="0">
                <a:solidFill>
                  <a:schemeClr val="accent2"/>
                </a:solidFill>
              </a:rPr>
              <a:t>(</a:t>
            </a:r>
            <a:r>
              <a:rPr lang="ko-KR" altLang="en-US" sz="1200" dirty="0">
                <a:solidFill>
                  <a:schemeClr val="accent2"/>
                </a:solidFill>
              </a:rPr>
              <a:t>법에서 정한 기간</a:t>
            </a:r>
            <a:r>
              <a:rPr lang="en-US" altLang="ko-KR" sz="1200" dirty="0">
                <a:solidFill>
                  <a:schemeClr val="accent2"/>
                </a:solidFill>
              </a:rPr>
              <a:t>)</a:t>
            </a:r>
            <a:endParaRPr lang="ko-KR" altLang="en-US" sz="1200" dirty="0">
              <a:solidFill>
                <a:schemeClr val="accent2"/>
              </a:solidFill>
            </a:endParaRPr>
          </a:p>
        </p:txBody>
      </p:sp>
      <p:sp>
        <p:nvSpPr>
          <p:cNvPr id="88" name="직사각형 87"/>
          <p:cNvSpPr/>
          <p:nvPr/>
        </p:nvSpPr>
        <p:spPr>
          <a:xfrm>
            <a:off x="2379939" y="5407440"/>
            <a:ext cx="144276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지정기간 ○</a:t>
            </a:r>
            <a:endParaRPr lang="en-US" altLang="ko-KR" sz="1200" dirty="0">
              <a:solidFill>
                <a:schemeClr val="tx1"/>
              </a:solidFill>
            </a:endParaRPr>
          </a:p>
          <a:p>
            <a:pPr algn="ctr"/>
            <a:r>
              <a:rPr lang="en-US" altLang="ko-KR" sz="1200" dirty="0">
                <a:solidFill>
                  <a:schemeClr val="accent2"/>
                </a:solidFill>
              </a:rPr>
              <a:t>(</a:t>
            </a:r>
            <a:r>
              <a:rPr lang="ko-KR" altLang="en-US" sz="1200" dirty="0">
                <a:solidFill>
                  <a:schemeClr val="accent2"/>
                </a:solidFill>
              </a:rPr>
              <a:t>임의로 지정한 기간</a:t>
            </a:r>
            <a:r>
              <a:rPr lang="en-US" altLang="ko-KR" sz="1200" dirty="0">
                <a:solidFill>
                  <a:schemeClr val="accent2"/>
                </a:solidFill>
              </a:rPr>
              <a:t>)</a:t>
            </a:r>
            <a:endParaRPr lang="ko-KR" altLang="en-US" sz="1200" dirty="0">
              <a:solidFill>
                <a:schemeClr val="accent2"/>
              </a:solidFill>
            </a:endParaRPr>
          </a:p>
        </p:txBody>
      </p:sp>
      <p:sp>
        <p:nvSpPr>
          <p:cNvPr id="89" name="직사각형 88"/>
          <p:cNvSpPr/>
          <p:nvPr/>
        </p:nvSpPr>
        <p:spPr>
          <a:xfrm>
            <a:off x="4102101" y="3118959"/>
            <a:ext cx="1981200" cy="51435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solidFill>
              </a:rPr>
              <a:t>가변</a:t>
            </a:r>
            <a:r>
              <a:rPr lang="en-US" altLang="ko-KR" sz="1200" dirty="0">
                <a:solidFill>
                  <a:schemeClr val="tx1"/>
                </a:solidFill>
              </a:rPr>
              <a:t>: </a:t>
            </a:r>
            <a:r>
              <a:rPr lang="ko-KR" altLang="en-US" sz="1200" dirty="0">
                <a:solidFill>
                  <a:schemeClr val="tx1"/>
                </a:solidFill>
              </a:rPr>
              <a:t>기일의 변경</a:t>
            </a:r>
            <a:endParaRPr lang="en-US" altLang="ko-KR" sz="1200" dirty="0">
              <a:solidFill>
                <a:schemeClr val="tx1"/>
              </a:solidFill>
            </a:endParaRPr>
          </a:p>
        </p:txBody>
      </p:sp>
      <p:sp>
        <p:nvSpPr>
          <p:cNvPr id="90" name="직사각형 89"/>
          <p:cNvSpPr/>
          <p:nvPr/>
        </p:nvSpPr>
        <p:spPr>
          <a:xfrm>
            <a:off x="4102101" y="4016958"/>
            <a:ext cx="1981200" cy="51435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a:t>
            </a:r>
            <a:r>
              <a:rPr lang="ko-KR" altLang="en-US" sz="1200" dirty="0">
                <a:solidFill>
                  <a:schemeClr val="tx1"/>
                </a:solidFill>
              </a:rPr>
              <a:t>원칙</a:t>
            </a:r>
            <a:r>
              <a:rPr lang="en-US" altLang="ko-KR" sz="1200" dirty="0">
                <a:solidFill>
                  <a:schemeClr val="tx1"/>
                </a:solidFill>
              </a:rPr>
              <a:t>) </a:t>
            </a:r>
            <a:r>
              <a:rPr lang="ko-KR" altLang="en-US" sz="1200" dirty="0">
                <a:solidFill>
                  <a:schemeClr val="tx1"/>
                </a:solidFill>
              </a:rPr>
              <a:t>불변</a:t>
            </a:r>
            <a:endParaRPr lang="en-US" altLang="ko-KR" sz="1200" dirty="0">
              <a:solidFill>
                <a:schemeClr val="tx1"/>
              </a:solidFill>
            </a:endParaRPr>
          </a:p>
        </p:txBody>
      </p:sp>
      <p:sp>
        <p:nvSpPr>
          <p:cNvPr id="91" name="직사각형 90"/>
          <p:cNvSpPr/>
          <p:nvPr/>
        </p:nvSpPr>
        <p:spPr>
          <a:xfrm>
            <a:off x="4102101" y="4666131"/>
            <a:ext cx="1981200" cy="51435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a:t>
            </a:r>
            <a:r>
              <a:rPr lang="ko-KR" altLang="en-US" sz="1200" dirty="0">
                <a:solidFill>
                  <a:schemeClr val="tx1"/>
                </a:solidFill>
              </a:rPr>
              <a:t>예외</a:t>
            </a:r>
            <a:r>
              <a:rPr lang="en-US" altLang="ko-KR" sz="1200" dirty="0">
                <a:solidFill>
                  <a:schemeClr val="tx1"/>
                </a:solidFill>
              </a:rPr>
              <a:t>) </a:t>
            </a:r>
            <a:r>
              <a:rPr lang="ko-KR" altLang="en-US" sz="1200" dirty="0">
                <a:solidFill>
                  <a:schemeClr val="tx1"/>
                </a:solidFill>
              </a:rPr>
              <a:t>가변</a:t>
            </a:r>
            <a:r>
              <a:rPr lang="en-US" altLang="ko-KR" sz="1200" dirty="0">
                <a:solidFill>
                  <a:schemeClr val="tx1"/>
                </a:solidFill>
              </a:rPr>
              <a:t>: </a:t>
            </a:r>
            <a:r>
              <a:rPr lang="ko-KR" altLang="en-US" sz="1200" dirty="0" err="1">
                <a:solidFill>
                  <a:schemeClr val="tx1"/>
                </a:solidFill>
              </a:rPr>
              <a:t>법정기간의</a:t>
            </a:r>
            <a:r>
              <a:rPr lang="ko-KR" altLang="en-US" sz="1200" dirty="0">
                <a:solidFill>
                  <a:schemeClr val="tx1"/>
                </a:solidFill>
              </a:rPr>
              <a:t> 연장</a:t>
            </a:r>
            <a:endParaRPr lang="en-US" altLang="ko-KR" sz="1200" dirty="0">
              <a:solidFill>
                <a:schemeClr val="tx1"/>
              </a:solidFill>
            </a:endParaRPr>
          </a:p>
        </p:txBody>
      </p:sp>
      <p:sp>
        <p:nvSpPr>
          <p:cNvPr id="103" name="직사각형 102"/>
          <p:cNvSpPr/>
          <p:nvPr/>
        </p:nvSpPr>
        <p:spPr>
          <a:xfrm>
            <a:off x="4102101" y="5419021"/>
            <a:ext cx="1981200" cy="51435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solidFill>
              </a:rPr>
              <a:t>가변</a:t>
            </a:r>
            <a:r>
              <a:rPr lang="en-US" altLang="ko-KR" sz="1200" dirty="0">
                <a:solidFill>
                  <a:schemeClr val="tx1"/>
                </a:solidFill>
              </a:rPr>
              <a:t>: </a:t>
            </a:r>
            <a:r>
              <a:rPr lang="ko-KR" altLang="en-US" sz="1200" dirty="0" err="1">
                <a:solidFill>
                  <a:schemeClr val="tx1"/>
                </a:solidFill>
              </a:rPr>
              <a:t>지정기간의</a:t>
            </a:r>
            <a:r>
              <a:rPr lang="ko-KR" altLang="en-US" sz="1200" dirty="0">
                <a:solidFill>
                  <a:schemeClr val="tx1"/>
                </a:solidFill>
              </a:rPr>
              <a:t> 연장</a:t>
            </a:r>
            <a:r>
              <a:rPr lang="en-US" altLang="ko-KR" sz="1200" dirty="0">
                <a:solidFill>
                  <a:schemeClr val="tx1"/>
                </a:solidFill>
              </a:rPr>
              <a:t>/</a:t>
            </a:r>
            <a:r>
              <a:rPr lang="ko-KR" altLang="en-US" sz="1200" dirty="0">
                <a:solidFill>
                  <a:schemeClr val="tx1"/>
                </a:solidFill>
              </a:rPr>
              <a:t>단축</a:t>
            </a:r>
            <a:endParaRPr lang="en-US" altLang="ko-KR" sz="1200" dirty="0">
              <a:solidFill>
                <a:schemeClr val="tx1"/>
              </a:solidFill>
            </a:endParaRPr>
          </a:p>
        </p:txBody>
      </p:sp>
      <p:cxnSp>
        <p:nvCxnSpPr>
          <p:cNvPr id="26" name="꺾인 연결선 25"/>
          <p:cNvCxnSpPr>
            <a:stCxn id="44" idx="1"/>
            <a:endCxn id="45" idx="1"/>
          </p:cNvCxnSpPr>
          <p:nvPr/>
        </p:nvCxnSpPr>
        <p:spPr>
          <a:xfrm rot="10800000" flipV="1">
            <a:off x="546099" y="2694456"/>
            <a:ext cx="12700" cy="2228850"/>
          </a:xfrm>
          <a:prstGeom prst="bentConnector3">
            <a:avLst>
              <a:gd name="adj1" fmla="val 180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직선 화살표 연결선 29"/>
          <p:cNvCxnSpPr>
            <a:stCxn id="80" idx="3"/>
            <a:endCxn id="89" idx="1"/>
          </p:cNvCxnSpPr>
          <p:nvPr/>
        </p:nvCxnSpPr>
        <p:spPr>
          <a:xfrm>
            <a:off x="3822700" y="3376134"/>
            <a:ext cx="279401"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4" name="직선 화살표 연결선 33"/>
          <p:cNvCxnSpPr>
            <a:stCxn id="86" idx="3"/>
            <a:endCxn id="90" idx="1"/>
          </p:cNvCxnSpPr>
          <p:nvPr/>
        </p:nvCxnSpPr>
        <p:spPr>
          <a:xfrm>
            <a:off x="3822700" y="4274133"/>
            <a:ext cx="279401"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86" idx="3"/>
            <a:endCxn id="91" idx="1"/>
          </p:cNvCxnSpPr>
          <p:nvPr/>
        </p:nvCxnSpPr>
        <p:spPr>
          <a:xfrm>
            <a:off x="3822700" y="4274133"/>
            <a:ext cx="279401" cy="649173"/>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9" name="직선 화살표 연결선 38"/>
          <p:cNvCxnSpPr>
            <a:stCxn id="88" idx="3"/>
            <a:endCxn id="103" idx="1"/>
          </p:cNvCxnSpPr>
          <p:nvPr/>
        </p:nvCxnSpPr>
        <p:spPr>
          <a:xfrm>
            <a:off x="3822700" y="5664615"/>
            <a:ext cx="279401" cy="11581"/>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5" name="직선 연결선 104"/>
          <p:cNvCxnSpPr/>
          <p:nvPr/>
        </p:nvCxnSpPr>
        <p:spPr>
          <a:xfrm>
            <a:off x="6368078" y="947988"/>
            <a:ext cx="0" cy="559848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0" name="표 39"/>
          <p:cNvGraphicFramePr>
            <a:graphicFrameLocks noGrp="1"/>
          </p:cNvGraphicFramePr>
          <p:nvPr>
            <p:extLst>
              <p:ext uri="{D42A27DB-BD31-4B8C-83A1-F6EECF244321}">
                <p14:modId xmlns:p14="http://schemas.microsoft.com/office/powerpoint/2010/main" val="3304163130"/>
              </p:ext>
            </p:extLst>
          </p:nvPr>
        </p:nvGraphicFramePr>
        <p:xfrm>
          <a:off x="6602056" y="1316956"/>
          <a:ext cx="5392465" cy="4954891"/>
        </p:xfrm>
        <a:graphic>
          <a:graphicData uri="http://schemas.openxmlformats.org/drawingml/2006/table">
            <a:tbl>
              <a:tblPr/>
              <a:tblGrid>
                <a:gridCol w="406400">
                  <a:extLst>
                    <a:ext uri="{9D8B030D-6E8A-4147-A177-3AD203B41FA5}">
                      <a16:colId xmlns:a16="http://schemas.microsoft.com/office/drawing/2014/main" val="1643588284"/>
                    </a:ext>
                  </a:extLst>
                </a:gridCol>
                <a:gridCol w="445815">
                  <a:extLst>
                    <a:ext uri="{9D8B030D-6E8A-4147-A177-3AD203B41FA5}">
                      <a16:colId xmlns:a16="http://schemas.microsoft.com/office/drawing/2014/main" val="1971350419"/>
                    </a:ext>
                  </a:extLst>
                </a:gridCol>
                <a:gridCol w="1597279">
                  <a:extLst>
                    <a:ext uri="{9D8B030D-6E8A-4147-A177-3AD203B41FA5}">
                      <a16:colId xmlns:a16="http://schemas.microsoft.com/office/drawing/2014/main" val="1621248997"/>
                    </a:ext>
                  </a:extLst>
                </a:gridCol>
                <a:gridCol w="1597279">
                  <a:extLst>
                    <a:ext uri="{9D8B030D-6E8A-4147-A177-3AD203B41FA5}">
                      <a16:colId xmlns:a16="http://schemas.microsoft.com/office/drawing/2014/main" val="3219342769"/>
                    </a:ext>
                  </a:extLst>
                </a:gridCol>
                <a:gridCol w="1345692">
                  <a:extLst>
                    <a:ext uri="{9D8B030D-6E8A-4147-A177-3AD203B41FA5}">
                      <a16:colId xmlns:a16="http://schemas.microsoft.com/office/drawing/2014/main" val="319371014"/>
                    </a:ext>
                  </a:extLst>
                </a:gridCol>
              </a:tblGrid>
              <a:tr h="576322">
                <a:tc gridSpan="2">
                  <a:txBody>
                    <a:bodyPr/>
                    <a:lstStyle/>
                    <a:p>
                      <a:pPr marL="0" marR="0" indent="0" algn="ctr" fontAlgn="base" latinLnBrk="0">
                        <a:lnSpc>
                          <a:spcPct val="120000"/>
                        </a:lnSpc>
                        <a:spcBef>
                          <a:spcPts val="0"/>
                        </a:spcBef>
                        <a:spcAft>
                          <a:spcPts val="0"/>
                        </a:spcAft>
                      </a:pPr>
                      <a:r>
                        <a:rPr lang="ko-KR" altLang="en-US" sz="1200" b="1" kern="1200" dirty="0">
                          <a:solidFill>
                            <a:schemeClr val="tx1"/>
                          </a:solidFill>
                          <a:latin typeface="+mn-lt"/>
                          <a:ea typeface="+mn-ea"/>
                          <a:cs typeface="+mn-cs"/>
                        </a:rPr>
                        <a:t>구 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tc hMerge="1">
                  <a:txBody>
                    <a:bodyPr/>
                    <a:lstStyle/>
                    <a:p>
                      <a:pPr latinLnBrk="1"/>
                      <a:endParaRPr lang="ko-KR" altLang="en-US"/>
                    </a:p>
                  </a:txBody>
                  <a:tcPr/>
                </a:tc>
                <a:tc>
                  <a:txBody>
                    <a:bodyPr/>
                    <a:lstStyle/>
                    <a:p>
                      <a:pPr marL="0" marR="0" indent="0" algn="ctr" fontAlgn="base" latinLnBrk="0">
                        <a:lnSpc>
                          <a:spcPct val="120000"/>
                        </a:lnSpc>
                        <a:spcBef>
                          <a:spcPts val="0"/>
                        </a:spcBef>
                        <a:spcAft>
                          <a:spcPts val="0"/>
                        </a:spcAft>
                      </a:pPr>
                      <a:r>
                        <a:rPr lang="ko-KR" altLang="en-US" sz="1200" b="1" kern="1200" dirty="0" err="1">
                          <a:solidFill>
                            <a:schemeClr val="tx1"/>
                          </a:solidFill>
                          <a:latin typeface="+mn-lt"/>
                          <a:ea typeface="+mn-ea"/>
                          <a:cs typeface="+mn-cs"/>
                        </a:rPr>
                        <a:t>법정기간의</a:t>
                      </a:r>
                      <a:r>
                        <a:rPr lang="ko-KR" altLang="en-US" sz="1200" b="1" kern="1200" dirty="0">
                          <a:solidFill>
                            <a:schemeClr val="tx1"/>
                          </a:solidFill>
                          <a:latin typeface="+mn-lt"/>
                          <a:ea typeface="+mn-ea"/>
                          <a:cs typeface="+mn-cs"/>
                        </a:rPr>
                        <a:t> 연장 </a:t>
                      </a:r>
                      <a:endParaRPr lang="en-US" altLang="ko-KR" sz="1200" b="1" kern="1200" dirty="0">
                        <a:solidFill>
                          <a:schemeClr val="tx1"/>
                        </a:solidFill>
                        <a:latin typeface="+mn-lt"/>
                        <a:ea typeface="+mn-ea"/>
                        <a:cs typeface="+mn-cs"/>
                      </a:endParaRPr>
                    </a:p>
                    <a:p>
                      <a:pPr marL="0" marR="0" indent="0" algn="ctr" fontAlgn="base" latinLnBrk="0">
                        <a:lnSpc>
                          <a:spcPct val="120000"/>
                        </a:lnSpc>
                        <a:spcBef>
                          <a:spcPts val="0"/>
                        </a:spcBef>
                        <a:spcAft>
                          <a:spcPts val="0"/>
                        </a:spcAft>
                      </a:pPr>
                      <a:r>
                        <a:rPr lang="en-US" altLang="ko-KR" sz="1200" b="1" kern="1200" dirty="0">
                          <a:solidFill>
                            <a:schemeClr val="tx1"/>
                          </a:solidFill>
                          <a:latin typeface="+mn-lt"/>
                          <a:ea typeface="+mn-ea"/>
                          <a:cs typeface="+mn-cs"/>
                        </a:rPr>
                        <a:t>(</a:t>
                      </a:r>
                      <a:r>
                        <a:rPr lang="ko-KR" altLang="en-US" sz="1200" b="1" kern="1200" dirty="0">
                          <a:solidFill>
                            <a:schemeClr val="tx1"/>
                          </a:solidFill>
                          <a:latin typeface="+mn-lt"/>
                          <a:ea typeface="+mn-ea"/>
                          <a:cs typeface="+mn-cs"/>
                        </a:rPr>
                        <a:t>法 </a:t>
                      </a:r>
                      <a:r>
                        <a:rPr lang="en-US" altLang="ko-KR" sz="1200" b="1" kern="1200" dirty="0">
                          <a:solidFill>
                            <a:schemeClr val="tx1"/>
                          </a:solidFill>
                          <a:latin typeface="+mn-lt"/>
                          <a:ea typeface="+mn-ea"/>
                          <a:cs typeface="+mn-cs"/>
                        </a:rPr>
                        <a:t>15</a:t>
                      </a:r>
                      <a:r>
                        <a:rPr lang="ko-KR" altLang="en-US" sz="1200" b="1" kern="1200" dirty="0">
                          <a:solidFill>
                            <a:schemeClr val="tx1"/>
                          </a:solidFill>
                          <a:latin typeface="+mn-lt"/>
                          <a:ea typeface="+mn-ea"/>
                          <a:cs typeface="+mn-cs"/>
                        </a:rPr>
                        <a:t>①</a:t>
                      </a:r>
                      <a:r>
                        <a:rPr lang="en-US" altLang="ko-KR" sz="1200" b="1" kern="1200" dirty="0">
                          <a:solidFill>
                            <a:schemeClr val="tx1"/>
                          </a:solidFill>
                          <a:latin typeface="+mn-lt"/>
                          <a:ea typeface="+mn-ea"/>
                          <a:cs typeface="+mn-cs"/>
                        </a:rPr>
                        <a:t>)</a:t>
                      </a:r>
                      <a:endParaRPr lang="ko-KR" altLang="en-US" sz="1200" b="1" kern="1200" dirty="0">
                        <a:solidFill>
                          <a:schemeClr val="tx1"/>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tc>
                  <a:txBody>
                    <a:bodyPr/>
                    <a:lstStyle/>
                    <a:p>
                      <a:pPr marL="0" marR="0" indent="0" algn="ctr" fontAlgn="base" latinLnBrk="0">
                        <a:lnSpc>
                          <a:spcPct val="120000"/>
                        </a:lnSpc>
                        <a:spcBef>
                          <a:spcPts val="0"/>
                        </a:spcBef>
                        <a:spcAft>
                          <a:spcPts val="0"/>
                        </a:spcAft>
                      </a:pPr>
                      <a:r>
                        <a:rPr lang="ko-KR" altLang="en-US" sz="1200" b="1" kern="1200">
                          <a:solidFill>
                            <a:schemeClr val="tx1"/>
                          </a:solidFill>
                          <a:latin typeface="+mn-lt"/>
                          <a:ea typeface="+mn-ea"/>
                          <a:cs typeface="+mn-cs"/>
                        </a:rPr>
                        <a:t>지정기간의 연장ㆍ단축</a:t>
                      </a:r>
                      <a:r>
                        <a:rPr lang="en-US" altLang="ko-KR" sz="1200" b="1" kern="1200">
                          <a:solidFill>
                            <a:schemeClr val="tx1"/>
                          </a:solidFill>
                          <a:latin typeface="+mn-lt"/>
                          <a:ea typeface="+mn-ea"/>
                          <a:cs typeface="+mn-cs"/>
                        </a:rPr>
                        <a:t>(</a:t>
                      </a:r>
                      <a:r>
                        <a:rPr lang="ko-KR" altLang="en-US" sz="1200" b="1" kern="1200">
                          <a:solidFill>
                            <a:schemeClr val="tx1"/>
                          </a:solidFill>
                          <a:latin typeface="+mn-lt"/>
                          <a:ea typeface="+mn-ea"/>
                          <a:cs typeface="+mn-cs"/>
                        </a:rPr>
                        <a:t>法 </a:t>
                      </a:r>
                      <a:r>
                        <a:rPr lang="en-US" altLang="ko-KR" sz="1200" b="1" kern="1200">
                          <a:solidFill>
                            <a:schemeClr val="tx1"/>
                          </a:solidFill>
                          <a:latin typeface="+mn-lt"/>
                          <a:ea typeface="+mn-ea"/>
                          <a:cs typeface="+mn-cs"/>
                        </a:rPr>
                        <a:t>15</a:t>
                      </a:r>
                      <a:r>
                        <a:rPr lang="ko-KR" altLang="en-US" sz="1200" b="1" kern="1200">
                          <a:solidFill>
                            <a:schemeClr val="tx1"/>
                          </a:solidFill>
                          <a:latin typeface="+mn-lt"/>
                          <a:ea typeface="+mn-ea"/>
                          <a:cs typeface="+mn-cs"/>
                        </a:rPr>
                        <a:t>②</a:t>
                      </a:r>
                      <a:r>
                        <a:rPr lang="en-US" altLang="ko-KR" sz="1200" b="1" kern="1200">
                          <a:solidFill>
                            <a:schemeClr val="tx1"/>
                          </a:solidFill>
                          <a:latin typeface="+mn-lt"/>
                          <a:ea typeface="+mn-ea"/>
                          <a:cs typeface="+mn-cs"/>
                        </a:rPr>
                        <a:t>)</a:t>
                      </a:r>
                      <a:endParaRPr lang="ko-KR" altLang="en-US" sz="1200" b="1" kern="1200">
                        <a:solidFill>
                          <a:schemeClr val="tx1"/>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tc>
                  <a:txBody>
                    <a:bodyPr/>
                    <a:lstStyle/>
                    <a:p>
                      <a:pPr marL="0" marR="0" indent="0" algn="ctr" fontAlgn="base" latinLnBrk="0">
                        <a:lnSpc>
                          <a:spcPct val="120000"/>
                        </a:lnSpc>
                        <a:spcBef>
                          <a:spcPts val="0"/>
                        </a:spcBef>
                        <a:spcAft>
                          <a:spcPts val="0"/>
                        </a:spcAft>
                      </a:pPr>
                      <a:r>
                        <a:rPr lang="ko-KR" altLang="en-US" sz="1200" b="1" kern="1200" dirty="0" err="1">
                          <a:solidFill>
                            <a:schemeClr val="tx1"/>
                          </a:solidFill>
                          <a:latin typeface="+mn-lt"/>
                          <a:ea typeface="+mn-ea"/>
                          <a:cs typeface="+mn-cs"/>
                        </a:rPr>
                        <a:t>지정기일의</a:t>
                      </a:r>
                      <a:r>
                        <a:rPr lang="ko-KR" altLang="en-US" sz="1200" b="1" kern="1200" dirty="0">
                          <a:solidFill>
                            <a:schemeClr val="tx1"/>
                          </a:solidFill>
                          <a:latin typeface="+mn-lt"/>
                          <a:ea typeface="+mn-ea"/>
                          <a:cs typeface="+mn-cs"/>
                        </a:rPr>
                        <a:t> 변경</a:t>
                      </a:r>
                      <a:endParaRPr lang="en-US" altLang="ko-KR" sz="1200" b="1" kern="1200" dirty="0">
                        <a:solidFill>
                          <a:schemeClr val="tx1"/>
                        </a:solidFill>
                        <a:latin typeface="+mn-lt"/>
                        <a:ea typeface="+mn-ea"/>
                        <a:cs typeface="+mn-cs"/>
                      </a:endParaRPr>
                    </a:p>
                    <a:p>
                      <a:pPr marL="0" marR="0" indent="0" algn="ctr" fontAlgn="base" latinLnBrk="0">
                        <a:lnSpc>
                          <a:spcPct val="120000"/>
                        </a:lnSpc>
                        <a:spcBef>
                          <a:spcPts val="0"/>
                        </a:spcBef>
                        <a:spcAft>
                          <a:spcPts val="0"/>
                        </a:spcAft>
                      </a:pPr>
                      <a:r>
                        <a:rPr lang="en-US" altLang="ko-KR" sz="1200" b="1" kern="1200" dirty="0">
                          <a:solidFill>
                            <a:schemeClr val="tx1"/>
                          </a:solidFill>
                          <a:latin typeface="+mn-lt"/>
                          <a:ea typeface="+mn-ea"/>
                          <a:cs typeface="+mn-cs"/>
                        </a:rPr>
                        <a:t>(</a:t>
                      </a:r>
                      <a:r>
                        <a:rPr lang="ko-KR" altLang="en-US" sz="1200" b="1" kern="1200" dirty="0">
                          <a:solidFill>
                            <a:schemeClr val="tx1"/>
                          </a:solidFill>
                          <a:latin typeface="+mn-lt"/>
                          <a:ea typeface="+mn-ea"/>
                          <a:cs typeface="+mn-cs"/>
                        </a:rPr>
                        <a:t>法 </a:t>
                      </a:r>
                      <a:r>
                        <a:rPr lang="en-US" altLang="ko-KR" sz="1200" b="1" kern="1200" dirty="0">
                          <a:solidFill>
                            <a:schemeClr val="tx1"/>
                          </a:solidFill>
                          <a:latin typeface="+mn-lt"/>
                          <a:ea typeface="+mn-ea"/>
                          <a:cs typeface="+mn-cs"/>
                        </a:rPr>
                        <a:t>15</a:t>
                      </a:r>
                      <a:r>
                        <a:rPr lang="ko-KR" altLang="en-US" sz="1200" b="1" kern="1200" dirty="0">
                          <a:solidFill>
                            <a:schemeClr val="tx1"/>
                          </a:solidFill>
                          <a:latin typeface="+mn-lt"/>
                          <a:ea typeface="+mn-ea"/>
                          <a:cs typeface="+mn-cs"/>
                        </a:rPr>
                        <a:t>③</a:t>
                      </a:r>
                      <a:r>
                        <a:rPr lang="en-US" altLang="ko-KR" sz="1200" b="1" kern="1200" dirty="0">
                          <a:solidFill>
                            <a:schemeClr val="tx1"/>
                          </a:solidFill>
                          <a:latin typeface="+mn-lt"/>
                          <a:ea typeface="+mn-ea"/>
                          <a:cs typeface="+mn-cs"/>
                        </a:rPr>
                        <a:t>)</a:t>
                      </a:r>
                      <a:endParaRPr lang="ko-KR" altLang="en-US" sz="1200" b="1" kern="1200" dirty="0">
                        <a:solidFill>
                          <a:schemeClr val="tx1"/>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extLst>
                  <a:ext uri="{0D108BD9-81ED-4DB2-BD59-A6C34878D82A}">
                    <a16:rowId xmlns:a16="http://schemas.microsoft.com/office/drawing/2014/main" val="707892061"/>
                  </a:ext>
                </a:extLst>
              </a:tr>
              <a:tr h="318979">
                <a:tc gridSpan="2">
                  <a:txBody>
                    <a:bodyPr/>
                    <a:lstStyle/>
                    <a:p>
                      <a:pPr marL="0" marR="0" indent="0" algn="ctr" fontAlgn="base" latinLnBrk="0">
                        <a:lnSpc>
                          <a:spcPct val="120000"/>
                        </a:lnSpc>
                        <a:spcBef>
                          <a:spcPts val="0"/>
                        </a:spcBef>
                        <a:spcAft>
                          <a:spcPts val="0"/>
                        </a:spcAft>
                      </a:pPr>
                      <a:r>
                        <a:rPr lang="ko-KR" altLang="en-US" sz="1200" b="1" kern="1200" dirty="0">
                          <a:solidFill>
                            <a:schemeClr val="tx1"/>
                          </a:solidFill>
                          <a:latin typeface="+mn-lt"/>
                          <a:ea typeface="+mn-ea"/>
                          <a:cs typeface="+mn-cs"/>
                        </a:rPr>
                        <a:t>성 격</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gridSpan="3">
                  <a:txBody>
                    <a:bodyPr/>
                    <a:lstStyle/>
                    <a:p>
                      <a:pPr marL="31750" marR="31750" indent="0" algn="l" fontAlgn="base" latinLnBrk="1">
                        <a:lnSpc>
                          <a:spcPct val="130000"/>
                        </a:lnSpc>
                        <a:spcBef>
                          <a:spcPts val="0"/>
                        </a:spcBef>
                        <a:spcAft>
                          <a:spcPts val="0"/>
                        </a:spcAft>
                      </a:pPr>
                      <a:r>
                        <a:rPr lang="ko-KR" altLang="en-US" sz="1200" kern="1200">
                          <a:solidFill>
                            <a:schemeClr val="tx1"/>
                          </a:solidFill>
                          <a:latin typeface="+mn-lt"/>
                          <a:ea typeface="+mn-ea"/>
                          <a:cs typeface="+mn-cs"/>
                        </a:rPr>
                        <a:t>재량행위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294252691"/>
                  </a:ext>
                </a:extLst>
              </a:tr>
              <a:tr h="1211102">
                <a:tc rowSpan="2">
                  <a:txBody>
                    <a:bodyPr/>
                    <a:lstStyle/>
                    <a:p>
                      <a:pPr marL="0" marR="0" indent="0" algn="ctr" fontAlgn="base" latinLnBrk="0">
                        <a:lnSpc>
                          <a:spcPct val="120000"/>
                        </a:lnSpc>
                        <a:spcBef>
                          <a:spcPts val="0"/>
                        </a:spcBef>
                        <a:spcAft>
                          <a:spcPts val="0"/>
                        </a:spcAft>
                      </a:pPr>
                      <a:r>
                        <a:rPr lang="ko-KR" altLang="en-US" sz="1200" b="1" kern="1200" dirty="0">
                          <a:solidFill>
                            <a:schemeClr val="tx1"/>
                          </a:solidFill>
                          <a:latin typeface="+mn-lt"/>
                          <a:ea typeface="+mn-ea"/>
                          <a:cs typeface="+mn-cs"/>
                        </a:rPr>
                        <a:t>요</a:t>
                      </a:r>
                      <a:endParaRPr lang="en-US" altLang="ko-KR" sz="1200" b="1" kern="1200" dirty="0">
                        <a:solidFill>
                          <a:schemeClr val="tx1"/>
                        </a:solidFill>
                        <a:latin typeface="+mn-lt"/>
                        <a:ea typeface="+mn-ea"/>
                        <a:cs typeface="+mn-cs"/>
                      </a:endParaRPr>
                    </a:p>
                    <a:p>
                      <a:pPr marL="0" marR="0" indent="0" algn="ctr" fontAlgn="base" latinLnBrk="0">
                        <a:lnSpc>
                          <a:spcPct val="120000"/>
                        </a:lnSpc>
                        <a:spcBef>
                          <a:spcPts val="0"/>
                        </a:spcBef>
                        <a:spcAft>
                          <a:spcPts val="0"/>
                        </a:spcAft>
                      </a:pPr>
                      <a:r>
                        <a:rPr lang="ko-KR" altLang="en-US" sz="1200" b="1" kern="1200" dirty="0">
                          <a:solidFill>
                            <a:schemeClr val="tx1"/>
                          </a:solidFill>
                          <a:latin typeface="+mn-lt"/>
                          <a:ea typeface="+mn-ea"/>
                          <a:cs typeface="+mn-cs"/>
                        </a:rPr>
                        <a:t>건</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20000"/>
                        </a:lnSpc>
                        <a:spcBef>
                          <a:spcPts val="0"/>
                        </a:spcBef>
                        <a:spcAft>
                          <a:spcPts val="0"/>
                        </a:spcAft>
                      </a:pPr>
                      <a:r>
                        <a:rPr lang="ko-KR" altLang="en-US" sz="1200" b="1" kern="1200" dirty="0">
                          <a:solidFill>
                            <a:schemeClr val="tx1"/>
                          </a:solidFill>
                          <a:latin typeface="+mn-lt"/>
                          <a:ea typeface="+mn-ea"/>
                          <a:cs typeface="+mn-cs"/>
                        </a:rPr>
                        <a:t>주</a:t>
                      </a:r>
                      <a:endParaRPr lang="en-US" altLang="ko-KR" sz="1200" b="1" kern="1200" dirty="0">
                        <a:solidFill>
                          <a:schemeClr val="tx1"/>
                        </a:solidFill>
                        <a:latin typeface="+mn-lt"/>
                        <a:ea typeface="+mn-ea"/>
                        <a:cs typeface="+mn-cs"/>
                      </a:endParaRPr>
                    </a:p>
                    <a:p>
                      <a:pPr marL="0" marR="0" indent="0" algn="ctr" fontAlgn="base" latinLnBrk="0">
                        <a:lnSpc>
                          <a:spcPct val="120000"/>
                        </a:lnSpc>
                        <a:spcBef>
                          <a:spcPts val="0"/>
                        </a:spcBef>
                        <a:spcAft>
                          <a:spcPts val="0"/>
                        </a:spcAft>
                      </a:pPr>
                      <a:r>
                        <a:rPr lang="ko-KR" altLang="en-US" sz="1200" b="1" kern="1200" dirty="0">
                          <a:solidFill>
                            <a:schemeClr val="tx1"/>
                          </a:solidFill>
                          <a:latin typeface="+mn-lt"/>
                          <a:ea typeface="+mn-ea"/>
                          <a:cs typeface="+mn-cs"/>
                        </a:rPr>
                        <a:t>체</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31750" marR="31750" indent="0" algn="l" fontAlgn="base" latinLnBrk="1">
                        <a:lnSpc>
                          <a:spcPct val="120000"/>
                        </a:lnSpc>
                        <a:spcBef>
                          <a:spcPts val="0"/>
                        </a:spcBef>
                        <a:spcAft>
                          <a:spcPts val="0"/>
                        </a:spcAft>
                      </a:pPr>
                      <a:r>
                        <a:rPr lang="en-US" altLang="ko-KR" sz="1200" kern="1200" dirty="0">
                          <a:solidFill>
                            <a:schemeClr val="tx1"/>
                          </a:solidFill>
                          <a:latin typeface="+mn-lt"/>
                          <a:ea typeface="+mn-ea"/>
                          <a:cs typeface="+mn-cs"/>
                        </a:rPr>
                        <a:t>1. </a:t>
                      </a:r>
                      <a:r>
                        <a:rPr lang="ko-KR" altLang="en-US" sz="1200" kern="1200" dirty="0">
                          <a:solidFill>
                            <a:schemeClr val="tx1"/>
                          </a:solidFill>
                          <a:latin typeface="+mn-lt"/>
                          <a:ea typeface="+mn-ea"/>
                          <a:cs typeface="+mn-cs"/>
                        </a:rPr>
                        <a:t>지식재산처장</a:t>
                      </a:r>
                    </a:p>
                    <a:p>
                      <a:pPr marL="31750" marR="31750" indent="0" algn="l" fontAlgn="base" latinLnBrk="1">
                        <a:lnSpc>
                          <a:spcPct val="120000"/>
                        </a:lnSpc>
                        <a:spcBef>
                          <a:spcPts val="0"/>
                        </a:spcBef>
                        <a:spcAft>
                          <a:spcPts val="0"/>
                        </a:spcAft>
                      </a:pPr>
                      <a:r>
                        <a:rPr lang="en-US" altLang="ko-KR" sz="1200" kern="1200" dirty="0">
                          <a:solidFill>
                            <a:schemeClr val="tx1"/>
                          </a:solidFill>
                          <a:latin typeface="+mn-lt"/>
                          <a:ea typeface="+mn-ea"/>
                          <a:cs typeface="+mn-cs"/>
                        </a:rPr>
                        <a:t>2. </a:t>
                      </a:r>
                      <a:r>
                        <a:rPr lang="ko-KR" altLang="en-US" sz="1200" kern="1200" dirty="0">
                          <a:solidFill>
                            <a:schemeClr val="tx1"/>
                          </a:solidFill>
                          <a:latin typeface="+mn-lt"/>
                          <a:ea typeface="+mn-ea"/>
                          <a:cs typeface="+mn-cs"/>
                        </a:rPr>
                        <a:t>청구 또는 직권</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39700" marR="31750" indent="-139700" algn="l" fontAlgn="base" latinLnBrk="1">
                        <a:lnSpc>
                          <a:spcPct val="130000"/>
                        </a:lnSpc>
                        <a:spcBef>
                          <a:spcPts val="0"/>
                        </a:spcBef>
                        <a:spcAft>
                          <a:spcPts val="0"/>
                        </a:spcAft>
                      </a:pPr>
                      <a:r>
                        <a:rPr lang="en-US" altLang="ko-KR" sz="1200" kern="1200" dirty="0">
                          <a:solidFill>
                            <a:schemeClr val="tx1"/>
                          </a:solidFill>
                          <a:latin typeface="+mn-lt"/>
                          <a:ea typeface="+mn-ea"/>
                          <a:cs typeface="+mn-cs"/>
                        </a:rPr>
                        <a:t>1. </a:t>
                      </a:r>
                      <a:r>
                        <a:rPr lang="ko-KR" altLang="en-US" sz="1200" kern="1200" dirty="0">
                          <a:solidFill>
                            <a:schemeClr val="tx1"/>
                          </a:solidFill>
                          <a:latin typeface="+mn-lt"/>
                          <a:ea typeface="+mn-ea"/>
                          <a:cs typeface="+mn-cs"/>
                        </a:rPr>
                        <a:t>지식재산처장</a:t>
                      </a:r>
                      <a:r>
                        <a:rPr lang="en-US" altLang="ko-KR" sz="1200" kern="1200" dirty="0">
                          <a:solidFill>
                            <a:schemeClr val="tx1"/>
                          </a:solidFill>
                          <a:latin typeface="+mn-lt"/>
                          <a:ea typeface="+mn-ea"/>
                          <a:cs typeface="+mn-cs"/>
                        </a:rPr>
                        <a:t>, </a:t>
                      </a:r>
                      <a:r>
                        <a:rPr lang="ko-KR" altLang="en-US" sz="1200" kern="1200" dirty="0">
                          <a:solidFill>
                            <a:schemeClr val="tx1"/>
                          </a:solidFill>
                          <a:latin typeface="+mn-lt"/>
                          <a:ea typeface="+mn-ea"/>
                          <a:cs typeface="+mn-cs"/>
                        </a:rPr>
                        <a:t>특허심판원장</a:t>
                      </a:r>
                      <a:r>
                        <a:rPr lang="en-US" altLang="ko-KR" sz="1200" kern="1200" dirty="0">
                          <a:solidFill>
                            <a:schemeClr val="tx1"/>
                          </a:solidFill>
                          <a:latin typeface="+mn-lt"/>
                          <a:ea typeface="+mn-ea"/>
                          <a:cs typeface="+mn-cs"/>
                        </a:rPr>
                        <a:t>, </a:t>
                      </a:r>
                      <a:r>
                        <a:rPr lang="ko-KR" altLang="en-US" sz="1200" kern="1200" dirty="0">
                          <a:solidFill>
                            <a:schemeClr val="tx1"/>
                          </a:solidFill>
                          <a:latin typeface="+mn-lt"/>
                          <a:ea typeface="+mn-ea"/>
                          <a:cs typeface="+mn-cs"/>
                        </a:rPr>
                        <a:t>심판장</a:t>
                      </a:r>
                      <a:r>
                        <a:rPr lang="en-US" altLang="ko-KR" sz="1200" kern="1200" dirty="0">
                          <a:solidFill>
                            <a:schemeClr val="tx1"/>
                          </a:solidFill>
                          <a:latin typeface="+mn-lt"/>
                          <a:ea typeface="+mn-ea"/>
                          <a:cs typeface="+mn-cs"/>
                        </a:rPr>
                        <a:t>, </a:t>
                      </a:r>
                      <a:r>
                        <a:rPr lang="ko-KR" altLang="en-US" sz="1200" kern="1200" dirty="0">
                          <a:solidFill>
                            <a:schemeClr val="tx1"/>
                          </a:solidFill>
                          <a:latin typeface="+mn-lt"/>
                          <a:ea typeface="+mn-ea"/>
                          <a:cs typeface="+mn-cs"/>
                        </a:rPr>
                        <a:t>심사관</a:t>
                      </a:r>
                    </a:p>
                    <a:p>
                      <a:pPr marL="31750" marR="31750" indent="0" algn="l" fontAlgn="base" latinLnBrk="1">
                        <a:lnSpc>
                          <a:spcPct val="130000"/>
                        </a:lnSpc>
                        <a:spcBef>
                          <a:spcPts val="0"/>
                        </a:spcBef>
                        <a:spcAft>
                          <a:spcPts val="0"/>
                        </a:spcAft>
                      </a:pPr>
                      <a:r>
                        <a:rPr lang="en-US" altLang="ko-KR" sz="1200" kern="1200" dirty="0">
                          <a:solidFill>
                            <a:schemeClr val="tx1"/>
                          </a:solidFill>
                          <a:latin typeface="+mn-lt"/>
                          <a:ea typeface="+mn-ea"/>
                          <a:cs typeface="+mn-cs"/>
                        </a:rPr>
                        <a:t>2. </a:t>
                      </a:r>
                      <a:r>
                        <a:rPr lang="ko-KR" altLang="en-US" sz="1200" kern="1200" dirty="0">
                          <a:solidFill>
                            <a:schemeClr val="tx1"/>
                          </a:solidFill>
                          <a:latin typeface="+mn-lt"/>
                          <a:ea typeface="+mn-ea"/>
                          <a:cs typeface="+mn-cs"/>
                        </a:rPr>
                        <a:t>단축 </a:t>
                      </a:r>
                      <a:r>
                        <a:rPr lang="en-US" altLang="ko-KR" sz="1200" kern="1200" dirty="0">
                          <a:solidFill>
                            <a:schemeClr val="tx1"/>
                          </a:solidFill>
                          <a:latin typeface="+mn-lt"/>
                          <a:ea typeface="+mn-ea"/>
                          <a:cs typeface="+mn-cs"/>
                        </a:rPr>
                        <a:t>- </a:t>
                      </a:r>
                      <a:r>
                        <a:rPr lang="ko-KR" altLang="en-US" sz="1200" kern="1200" dirty="0">
                          <a:solidFill>
                            <a:schemeClr val="tx1"/>
                          </a:solidFill>
                          <a:latin typeface="+mn-lt"/>
                          <a:ea typeface="+mn-ea"/>
                          <a:cs typeface="+mn-cs"/>
                        </a:rPr>
                        <a:t>청구 </a:t>
                      </a:r>
                    </a:p>
                    <a:p>
                      <a:pPr marL="31750" marR="31750" indent="0" algn="l" fontAlgn="base" latinLnBrk="1">
                        <a:lnSpc>
                          <a:spcPct val="130000"/>
                        </a:lnSpc>
                        <a:spcBef>
                          <a:spcPts val="0"/>
                        </a:spcBef>
                        <a:spcAft>
                          <a:spcPts val="0"/>
                        </a:spcAft>
                      </a:pPr>
                      <a:r>
                        <a:rPr lang="en-US" altLang="ko-KR" sz="1200" kern="1200" dirty="0">
                          <a:solidFill>
                            <a:schemeClr val="tx1"/>
                          </a:solidFill>
                          <a:latin typeface="+mn-lt"/>
                          <a:ea typeface="+mn-ea"/>
                          <a:cs typeface="+mn-cs"/>
                        </a:rPr>
                        <a:t>3. </a:t>
                      </a:r>
                      <a:r>
                        <a:rPr lang="ko-KR" altLang="en-US" sz="1200" kern="1200" dirty="0">
                          <a:solidFill>
                            <a:schemeClr val="tx1"/>
                          </a:solidFill>
                          <a:latin typeface="+mn-lt"/>
                          <a:ea typeface="+mn-ea"/>
                          <a:cs typeface="+mn-cs"/>
                        </a:rPr>
                        <a:t>연장 </a:t>
                      </a:r>
                      <a:r>
                        <a:rPr lang="en-US" altLang="ko-KR" sz="1200" kern="1200" dirty="0">
                          <a:solidFill>
                            <a:schemeClr val="tx1"/>
                          </a:solidFill>
                          <a:latin typeface="+mn-lt"/>
                          <a:ea typeface="+mn-ea"/>
                          <a:cs typeface="+mn-cs"/>
                        </a:rPr>
                        <a:t>- </a:t>
                      </a:r>
                      <a:r>
                        <a:rPr lang="ko-KR" altLang="en-US" sz="1200" kern="1200" dirty="0">
                          <a:solidFill>
                            <a:schemeClr val="tx1"/>
                          </a:solidFill>
                          <a:latin typeface="+mn-lt"/>
                          <a:ea typeface="+mn-ea"/>
                          <a:cs typeface="+mn-cs"/>
                        </a:rPr>
                        <a:t>청구 또는 직권</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31750" marR="31750" indent="0" algn="l" fontAlgn="base" latinLnBrk="1">
                        <a:lnSpc>
                          <a:spcPct val="130000"/>
                        </a:lnSpc>
                        <a:spcBef>
                          <a:spcPts val="0"/>
                        </a:spcBef>
                        <a:spcAft>
                          <a:spcPts val="0"/>
                        </a:spcAft>
                      </a:pPr>
                      <a:r>
                        <a:rPr lang="en-US" altLang="ko-KR" sz="1200" kern="1200">
                          <a:solidFill>
                            <a:schemeClr val="tx1"/>
                          </a:solidFill>
                          <a:latin typeface="+mn-lt"/>
                          <a:ea typeface="+mn-ea"/>
                          <a:cs typeface="+mn-cs"/>
                        </a:rPr>
                        <a:t>1. </a:t>
                      </a:r>
                      <a:r>
                        <a:rPr lang="ko-KR" altLang="en-US" sz="1200" kern="1200">
                          <a:solidFill>
                            <a:schemeClr val="tx1"/>
                          </a:solidFill>
                          <a:latin typeface="+mn-lt"/>
                          <a:ea typeface="+mn-ea"/>
                          <a:cs typeface="+mn-cs"/>
                        </a:rPr>
                        <a:t>심판장</a:t>
                      </a:r>
                    </a:p>
                    <a:p>
                      <a:pPr marL="31750" marR="31750" indent="0" algn="l" fontAlgn="base" latinLnBrk="1">
                        <a:lnSpc>
                          <a:spcPct val="130000"/>
                        </a:lnSpc>
                        <a:spcBef>
                          <a:spcPts val="0"/>
                        </a:spcBef>
                        <a:spcAft>
                          <a:spcPts val="0"/>
                        </a:spcAft>
                      </a:pPr>
                      <a:r>
                        <a:rPr lang="en-US" altLang="ko-KR" sz="1200" kern="1200">
                          <a:solidFill>
                            <a:schemeClr val="tx1"/>
                          </a:solidFill>
                          <a:latin typeface="+mn-lt"/>
                          <a:ea typeface="+mn-ea"/>
                          <a:cs typeface="+mn-cs"/>
                        </a:rPr>
                        <a:t>2. </a:t>
                      </a:r>
                      <a:r>
                        <a:rPr lang="ko-KR" altLang="en-US" sz="1200" kern="1200">
                          <a:solidFill>
                            <a:schemeClr val="tx1"/>
                          </a:solidFill>
                          <a:latin typeface="+mn-lt"/>
                          <a:ea typeface="+mn-ea"/>
                          <a:cs typeface="+mn-cs"/>
                        </a:rPr>
                        <a:t>청구 또는 직권</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280135114"/>
                  </a:ext>
                </a:extLst>
              </a:tr>
              <a:tr h="850822">
                <a:tc vMerge="1">
                  <a:txBody>
                    <a:bodyPr/>
                    <a:lstStyle/>
                    <a:p>
                      <a:pPr latinLnBrk="1"/>
                      <a:endParaRPr lang="ko-KR" altLang="en-US"/>
                    </a:p>
                  </a:txBody>
                  <a:tcPr/>
                </a:tc>
                <a:tc>
                  <a:txBody>
                    <a:bodyPr/>
                    <a:lstStyle/>
                    <a:p>
                      <a:pPr marL="0" marR="0" indent="0" algn="ctr" fontAlgn="base" latinLnBrk="0">
                        <a:lnSpc>
                          <a:spcPct val="120000"/>
                        </a:lnSpc>
                        <a:spcBef>
                          <a:spcPts val="0"/>
                        </a:spcBef>
                        <a:spcAft>
                          <a:spcPts val="0"/>
                        </a:spcAft>
                      </a:pPr>
                      <a:r>
                        <a:rPr lang="ko-KR" altLang="en-US" sz="1200" b="1" kern="1200" dirty="0">
                          <a:solidFill>
                            <a:schemeClr val="tx1"/>
                          </a:solidFill>
                          <a:latin typeface="+mn-lt"/>
                          <a:ea typeface="+mn-ea"/>
                          <a:cs typeface="+mn-cs"/>
                        </a:rPr>
                        <a:t>대</a:t>
                      </a:r>
                      <a:endParaRPr lang="en-US" altLang="ko-KR" sz="1200" b="1" kern="1200" dirty="0">
                        <a:solidFill>
                          <a:schemeClr val="tx1"/>
                        </a:solidFill>
                        <a:latin typeface="+mn-lt"/>
                        <a:ea typeface="+mn-ea"/>
                        <a:cs typeface="+mn-cs"/>
                      </a:endParaRPr>
                    </a:p>
                    <a:p>
                      <a:pPr marL="0" marR="0" indent="0" algn="ctr" fontAlgn="base" latinLnBrk="0">
                        <a:lnSpc>
                          <a:spcPct val="120000"/>
                        </a:lnSpc>
                        <a:spcBef>
                          <a:spcPts val="0"/>
                        </a:spcBef>
                        <a:spcAft>
                          <a:spcPts val="0"/>
                        </a:spcAft>
                      </a:pPr>
                      <a:r>
                        <a:rPr lang="ko-KR" altLang="en-US" sz="1200" b="1" kern="1200" dirty="0">
                          <a:solidFill>
                            <a:schemeClr val="tx1"/>
                          </a:solidFill>
                          <a:latin typeface="+mn-lt"/>
                          <a:ea typeface="+mn-ea"/>
                          <a:cs typeface="+mn-cs"/>
                        </a:rPr>
                        <a:t>상</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31750" marR="31750" indent="0" algn="l" fontAlgn="base" latinLnBrk="1">
                        <a:lnSpc>
                          <a:spcPct val="120000"/>
                        </a:lnSpc>
                        <a:spcBef>
                          <a:spcPts val="0"/>
                        </a:spcBef>
                        <a:spcAft>
                          <a:spcPts val="0"/>
                        </a:spcAft>
                      </a:pPr>
                      <a:r>
                        <a:rPr lang="ko-KR" altLang="en-US" sz="1200" kern="1200" dirty="0">
                          <a:solidFill>
                            <a:schemeClr val="tx1"/>
                          </a:solidFill>
                          <a:latin typeface="+mn-lt"/>
                          <a:ea typeface="+mn-ea"/>
                          <a:cs typeface="+mn-cs"/>
                        </a:rPr>
                        <a:t>거절결정불복심판의 </a:t>
                      </a:r>
                      <a:endParaRPr lang="en-US" altLang="ko-KR" sz="1200" kern="1200" dirty="0">
                        <a:solidFill>
                          <a:schemeClr val="tx1"/>
                        </a:solidFill>
                        <a:latin typeface="+mn-lt"/>
                        <a:ea typeface="+mn-ea"/>
                        <a:cs typeface="+mn-cs"/>
                      </a:endParaRPr>
                    </a:p>
                    <a:p>
                      <a:pPr marL="31750" marR="31750" indent="0" algn="l" fontAlgn="base" latinLnBrk="1">
                        <a:lnSpc>
                          <a:spcPct val="120000"/>
                        </a:lnSpc>
                        <a:spcBef>
                          <a:spcPts val="0"/>
                        </a:spcBef>
                        <a:spcAft>
                          <a:spcPts val="0"/>
                        </a:spcAft>
                      </a:pPr>
                      <a:r>
                        <a:rPr lang="ko-KR" altLang="en-US" sz="1200" kern="1200" dirty="0">
                          <a:solidFill>
                            <a:schemeClr val="tx1"/>
                          </a:solidFill>
                          <a:latin typeface="+mn-lt"/>
                          <a:ea typeface="+mn-ea"/>
                          <a:cs typeface="+mn-cs"/>
                        </a:rPr>
                        <a:t>청구기간</a:t>
                      </a:r>
                      <a:r>
                        <a:rPr lang="en-US" altLang="ko-KR" sz="1200" kern="1200" dirty="0">
                          <a:solidFill>
                            <a:schemeClr val="tx1"/>
                          </a:solidFill>
                          <a:latin typeface="+mn-lt"/>
                          <a:ea typeface="+mn-ea"/>
                          <a:cs typeface="+mn-cs"/>
                        </a:rPr>
                        <a:t>(</a:t>
                      </a:r>
                      <a:r>
                        <a:rPr lang="ko-KR" altLang="en-US" sz="1200" kern="1200" dirty="0">
                          <a:solidFill>
                            <a:schemeClr val="tx1"/>
                          </a:solidFill>
                          <a:latin typeface="+mn-lt"/>
                          <a:ea typeface="+mn-ea"/>
                          <a:cs typeface="+mn-cs"/>
                        </a:rPr>
                        <a:t>法 </a:t>
                      </a:r>
                      <a:r>
                        <a:rPr lang="en-US" altLang="ko-KR" sz="1200" kern="1200" dirty="0">
                          <a:solidFill>
                            <a:schemeClr val="tx1"/>
                          </a:solidFill>
                          <a:latin typeface="+mn-lt"/>
                          <a:ea typeface="+mn-ea"/>
                          <a:cs typeface="+mn-cs"/>
                        </a:rPr>
                        <a:t>132</a:t>
                      </a:r>
                      <a:r>
                        <a:rPr lang="ko-KR" altLang="en-US" sz="1200" kern="1200" dirty="0">
                          <a:solidFill>
                            <a:schemeClr val="tx1"/>
                          </a:solidFill>
                          <a:latin typeface="+mn-lt"/>
                          <a:ea typeface="+mn-ea"/>
                          <a:cs typeface="+mn-cs"/>
                        </a:rPr>
                        <a:t>의</a:t>
                      </a:r>
                      <a:r>
                        <a:rPr lang="en-US" altLang="ko-KR" sz="1200" kern="1200" dirty="0">
                          <a:solidFill>
                            <a:schemeClr val="tx1"/>
                          </a:solidFill>
                          <a:latin typeface="+mn-lt"/>
                          <a:ea typeface="+mn-ea"/>
                          <a:cs typeface="+mn-cs"/>
                        </a:rPr>
                        <a:t>17):</a:t>
                      </a:r>
                    </a:p>
                    <a:p>
                      <a:pPr marL="31750" marR="31750" indent="0" algn="l" fontAlgn="base" latinLnBrk="1">
                        <a:lnSpc>
                          <a:spcPct val="120000"/>
                        </a:lnSpc>
                        <a:spcBef>
                          <a:spcPts val="0"/>
                        </a:spcBef>
                        <a:spcAft>
                          <a:spcPts val="0"/>
                        </a:spcAft>
                      </a:pPr>
                      <a:r>
                        <a:rPr lang="ko-KR" altLang="en-US" sz="1200" kern="1200" dirty="0" err="1">
                          <a:solidFill>
                            <a:schemeClr val="tx1"/>
                          </a:solidFill>
                          <a:latin typeface="+mn-lt"/>
                          <a:ea typeface="+mn-ea"/>
                          <a:cs typeface="+mn-cs"/>
                        </a:rPr>
                        <a:t>거절결정등본송달일로부터</a:t>
                      </a:r>
                      <a:r>
                        <a:rPr lang="ko-KR" altLang="en-US" sz="1200" kern="1200" dirty="0">
                          <a:solidFill>
                            <a:schemeClr val="tx1"/>
                          </a:solidFill>
                          <a:latin typeface="+mn-lt"/>
                          <a:ea typeface="+mn-ea"/>
                          <a:cs typeface="+mn-cs"/>
                        </a:rPr>
                        <a:t> </a:t>
                      </a:r>
                      <a:r>
                        <a:rPr lang="en-US" altLang="ko-KR" sz="1200" kern="1200" dirty="0">
                          <a:solidFill>
                            <a:schemeClr val="tx1"/>
                          </a:solidFill>
                          <a:latin typeface="+mn-lt"/>
                          <a:ea typeface="+mn-ea"/>
                          <a:cs typeface="+mn-cs"/>
                        </a:rPr>
                        <a:t>3</a:t>
                      </a:r>
                      <a:r>
                        <a:rPr lang="ko-KR" altLang="en-US" sz="1200" kern="1200" dirty="0">
                          <a:solidFill>
                            <a:schemeClr val="tx1"/>
                          </a:solidFill>
                          <a:latin typeface="+mn-lt"/>
                          <a:ea typeface="+mn-ea"/>
                          <a:cs typeface="+mn-cs"/>
                        </a:rPr>
                        <a:t>개월</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31750" marR="31750" indent="0" algn="l" fontAlgn="base" latinLnBrk="1">
                        <a:lnSpc>
                          <a:spcPct val="130000"/>
                        </a:lnSpc>
                        <a:spcBef>
                          <a:spcPts val="0"/>
                        </a:spcBef>
                        <a:spcAft>
                          <a:spcPts val="0"/>
                        </a:spcAft>
                      </a:pPr>
                      <a:r>
                        <a:rPr lang="ko-KR" altLang="en-US" sz="1200" kern="1200" dirty="0">
                          <a:solidFill>
                            <a:schemeClr val="tx1"/>
                          </a:solidFill>
                          <a:latin typeface="+mn-lt"/>
                          <a:ea typeface="+mn-ea"/>
                          <a:cs typeface="+mn-cs"/>
                        </a:rPr>
                        <a:t>모든 지정기간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31750" marR="31750" indent="0" algn="l" fontAlgn="base" latinLnBrk="1">
                        <a:lnSpc>
                          <a:spcPct val="130000"/>
                        </a:lnSpc>
                        <a:spcBef>
                          <a:spcPts val="0"/>
                        </a:spcBef>
                        <a:spcAft>
                          <a:spcPts val="0"/>
                        </a:spcAft>
                      </a:pPr>
                      <a:r>
                        <a:rPr lang="ko-KR" altLang="en-US" sz="1200" kern="1200">
                          <a:solidFill>
                            <a:schemeClr val="tx1"/>
                          </a:solidFill>
                          <a:latin typeface="+mn-lt"/>
                          <a:ea typeface="+mn-ea"/>
                          <a:cs typeface="+mn-cs"/>
                        </a:rPr>
                        <a:t>모든 지정기일</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185022573"/>
                  </a:ext>
                </a:extLst>
              </a:tr>
              <a:tr h="1948820">
                <a:tc gridSpan="2">
                  <a:txBody>
                    <a:bodyPr/>
                    <a:lstStyle/>
                    <a:p>
                      <a:pPr marL="0" marR="0" indent="0" algn="ctr" fontAlgn="base" latinLnBrk="0">
                        <a:lnSpc>
                          <a:spcPct val="120000"/>
                        </a:lnSpc>
                        <a:spcBef>
                          <a:spcPts val="0"/>
                        </a:spcBef>
                        <a:spcAft>
                          <a:spcPts val="0"/>
                        </a:spcAft>
                      </a:pPr>
                      <a:r>
                        <a:rPr lang="ko-KR" altLang="en-US" sz="1200" b="1" kern="1200" dirty="0">
                          <a:solidFill>
                            <a:schemeClr val="tx1"/>
                          </a:solidFill>
                          <a:latin typeface="+mn-lt"/>
                          <a:ea typeface="+mn-ea"/>
                          <a:cs typeface="+mn-cs"/>
                        </a:rPr>
                        <a:t>효 과</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31750" marR="31750" indent="0" algn="l" fontAlgn="base" latinLnBrk="1">
                        <a:lnSpc>
                          <a:spcPct val="120000"/>
                        </a:lnSpc>
                        <a:spcBef>
                          <a:spcPts val="0"/>
                        </a:spcBef>
                        <a:spcAft>
                          <a:spcPts val="0"/>
                        </a:spcAft>
                      </a:pPr>
                      <a:r>
                        <a:rPr lang="en-US" altLang="ko-KR" sz="1200" kern="1200" dirty="0">
                          <a:solidFill>
                            <a:schemeClr val="tx1"/>
                          </a:solidFill>
                          <a:latin typeface="+mn-lt"/>
                          <a:ea typeface="+mn-ea"/>
                          <a:cs typeface="+mn-cs"/>
                        </a:rPr>
                        <a:t>1</a:t>
                      </a:r>
                      <a:r>
                        <a:rPr lang="ko-KR" altLang="en-US" sz="1200" kern="1200" dirty="0">
                          <a:solidFill>
                            <a:schemeClr val="tx1"/>
                          </a:solidFill>
                          <a:latin typeface="+mn-lt"/>
                          <a:ea typeface="+mn-ea"/>
                          <a:cs typeface="+mn-cs"/>
                        </a:rPr>
                        <a:t>회에 한해 </a:t>
                      </a:r>
                      <a:r>
                        <a:rPr lang="en-US" altLang="ko-KR" sz="1200" kern="1200" dirty="0">
                          <a:solidFill>
                            <a:schemeClr val="tx1"/>
                          </a:solidFill>
                          <a:latin typeface="+mn-lt"/>
                          <a:ea typeface="+mn-ea"/>
                          <a:cs typeface="+mn-cs"/>
                        </a:rPr>
                        <a:t>30</a:t>
                      </a:r>
                      <a:r>
                        <a:rPr lang="ko-KR" altLang="en-US" sz="1200" kern="1200" dirty="0">
                          <a:solidFill>
                            <a:schemeClr val="tx1"/>
                          </a:solidFill>
                          <a:latin typeface="+mn-lt"/>
                          <a:ea typeface="+mn-ea"/>
                          <a:cs typeface="+mn-cs"/>
                        </a:rPr>
                        <a:t>일 이내 기간의 연장</a:t>
                      </a:r>
                    </a:p>
                    <a:p>
                      <a:pPr marL="31750" marR="31750" indent="0" algn="l" fontAlgn="base" latinLnBrk="1">
                        <a:lnSpc>
                          <a:spcPct val="120000"/>
                        </a:lnSpc>
                        <a:spcBef>
                          <a:spcPts val="0"/>
                        </a:spcBef>
                        <a:spcAft>
                          <a:spcPts val="0"/>
                        </a:spcAft>
                      </a:pPr>
                      <a:r>
                        <a:rPr lang="en-US" altLang="ko-KR" sz="1200" kern="1200" dirty="0">
                          <a:solidFill>
                            <a:schemeClr val="tx1"/>
                          </a:solidFill>
                          <a:latin typeface="+mn-lt"/>
                          <a:ea typeface="+mn-ea"/>
                          <a:cs typeface="+mn-cs"/>
                        </a:rPr>
                        <a:t>(</a:t>
                      </a:r>
                      <a:r>
                        <a:rPr lang="ko-KR" altLang="en-US" sz="1200" kern="1200" dirty="0">
                          <a:solidFill>
                            <a:schemeClr val="tx1"/>
                          </a:solidFill>
                          <a:latin typeface="+mn-lt"/>
                          <a:ea typeface="+mn-ea"/>
                          <a:cs typeface="+mn-cs"/>
                        </a:rPr>
                        <a:t>단</a:t>
                      </a:r>
                      <a:r>
                        <a:rPr lang="en-US" altLang="ko-KR" sz="1200" kern="1200" dirty="0">
                          <a:solidFill>
                            <a:schemeClr val="tx1"/>
                          </a:solidFill>
                          <a:latin typeface="+mn-lt"/>
                          <a:ea typeface="+mn-ea"/>
                          <a:cs typeface="+mn-cs"/>
                        </a:rPr>
                        <a:t>, </a:t>
                      </a:r>
                      <a:r>
                        <a:rPr lang="ko-KR" altLang="en-US" sz="1200" kern="1200" dirty="0">
                          <a:solidFill>
                            <a:schemeClr val="tx1"/>
                          </a:solidFill>
                          <a:latin typeface="+mn-lt"/>
                          <a:ea typeface="+mn-ea"/>
                          <a:cs typeface="+mn-cs"/>
                        </a:rPr>
                        <a:t>도서</a:t>
                      </a:r>
                      <a:r>
                        <a:rPr lang="en-US" altLang="ko-KR" sz="1200" kern="1200" dirty="0">
                          <a:solidFill>
                            <a:schemeClr val="tx1"/>
                          </a:solidFill>
                          <a:latin typeface="+mn-lt"/>
                          <a:ea typeface="+mn-ea"/>
                          <a:cs typeface="+mn-cs"/>
                        </a:rPr>
                        <a:t>·</a:t>
                      </a:r>
                      <a:r>
                        <a:rPr lang="ko-KR" altLang="en-US" sz="1200" kern="1200" dirty="0">
                          <a:solidFill>
                            <a:schemeClr val="tx1"/>
                          </a:solidFill>
                          <a:latin typeface="+mn-lt"/>
                          <a:ea typeface="+mn-ea"/>
                          <a:cs typeface="+mn-cs"/>
                        </a:rPr>
                        <a:t>벽지 등 교통이 불편한 지역에 있는 자의 경우에는 총리령으로 정하는 바에 따라 그 횟수 및 기간을 추가로 연장가능</a:t>
                      </a:r>
                      <a:r>
                        <a:rPr lang="en-US" altLang="ko-KR" sz="1200" kern="1200" dirty="0">
                          <a:solidFill>
                            <a:schemeClr val="tx1"/>
                          </a:solidFill>
                          <a:latin typeface="+mn-lt"/>
                          <a:ea typeface="+mn-ea"/>
                          <a:cs typeface="+mn-cs"/>
                        </a:rPr>
                        <a:t>)</a:t>
                      </a:r>
                      <a:endParaRPr lang="ko-KR" altLang="en-US" sz="1200" kern="1200" dirty="0">
                        <a:solidFill>
                          <a:schemeClr val="tx1"/>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31750" marR="31750" indent="0" algn="l" fontAlgn="base" latinLnBrk="1">
                        <a:lnSpc>
                          <a:spcPct val="130000"/>
                        </a:lnSpc>
                        <a:spcBef>
                          <a:spcPts val="0"/>
                        </a:spcBef>
                        <a:spcAft>
                          <a:spcPts val="0"/>
                        </a:spcAft>
                      </a:pPr>
                      <a:r>
                        <a:rPr lang="ko-KR" altLang="en-US" sz="1200" kern="1200" dirty="0">
                          <a:solidFill>
                            <a:schemeClr val="tx1"/>
                          </a:solidFill>
                          <a:latin typeface="+mn-lt"/>
                          <a:ea typeface="+mn-ea"/>
                          <a:cs typeface="+mn-cs"/>
                        </a:rPr>
                        <a:t>기간의 단축 또는 연장</a:t>
                      </a:r>
                    </a:p>
                    <a:p>
                      <a:pPr marL="31750" marR="31750" indent="0" algn="l" fontAlgn="base" latinLnBrk="1">
                        <a:lnSpc>
                          <a:spcPct val="130000"/>
                        </a:lnSpc>
                        <a:spcBef>
                          <a:spcPts val="0"/>
                        </a:spcBef>
                        <a:spcAft>
                          <a:spcPts val="0"/>
                        </a:spcAft>
                      </a:pPr>
                      <a:r>
                        <a:rPr lang="en-US" altLang="ko-KR" sz="1200" kern="1200" dirty="0">
                          <a:solidFill>
                            <a:schemeClr val="tx1"/>
                          </a:solidFill>
                          <a:latin typeface="+mn-lt"/>
                          <a:ea typeface="+mn-ea"/>
                          <a:cs typeface="+mn-cs"/>
                        </a:rPr>
                        <a:t>(</a:t>
                      </a:r>
                      <a:r>
                        <a:rPr lang="ko-KR" altLang="en-US" sz="1200" kern="1200" dirty="0">
                          <a:solidFill>
                            <a:schemeClr val="tx1"/>
                          </a:solidFill>
                          <a:latin typeface="+mn-lt"/>
                          <a:ea typeface="+mn-ea"/>
                          <a:cs typeface="+mn-cs"/>
                        </a:rPr>
                        <a:t>단</a:t>
                      </a:r>
                      <a:r>
                        <a:rPr lang="en-US" altLang="ko-KR" sz="1200" kern="1200" dirty="0">
                          <a:solidFill>
                            <a:schemeClr val="tx1"/>
                          </a:solidFill>
                          <a:latin typeface="+mn-lt"/>
                          <a:ea typeface="+mn-ea"/>
                          <a:cs typeface="+mn-cs"/>
                        </a:rPr>
                        <a:t>, </a:t>
                      </a:r>
                      <a:r>
                        <a:rPr lang="ko-KR" altLang="en-US" sz="1200" kern="1200" dirty="0">
                          <a:solidFill>
                            <a:schemeClr val="tx1"/>
                          </a:solidFill>
                          <a:latin typeface="+mn-lt"/>
                          <a:ea typeface="+mn-ea"/>
                          <a:cs typeface="+mn-cs"/>
                        </a:rPr>
                        <a:t>이해관계인의 이익 부당 침해</a:t>
                      </a:r>
                      <a:r>
                        <a:rPr lang="en-US" altLang="ko-KR" sz="1200" kern="1200" dirty="0">
                          <a:solidFill>
                            <a:schemeClr val="tx1"/>
                          </a:solidFill>
                          <a:latin typeface="+mn-lt"/>
                          <a:ea typeface="+mn-ea"/>
                          <a:cs typeface="+mn-cs"/>
                        </a:rPr>
                        <a:t>×)</a:t>
                      </a:r>
                      <a:endParaRPr lang="ko-KR" altLang="en-US" sz="1200" kern="1200" dirty="0">
                        <a:solidFill>
                          <a:schemeClr val="tx1"/>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31750" marR="31750" indent="0" algn="l" fontAlgn="base" latinLnBrk="1">
                        <a:lnSpc>
                          <a:spcPct val="130000"/>
                        </a:lnSpc>
                        <a:spcBef>
                          <a:spcPts val="0"/>
                        </a:spcBef>
                        <a:spcAft>
                          <a:spcPts val="0"/>
                        </a:spcAft>
                      </a:pPr>
                      <a:r>
                        <a:rPr lang="ko-KR" altLang="en-US" sz="1200" kern="1200" dirty="0">
                          <a:solidFill>
                            <a:schemeClr val="tx1"/>
                          </a:solidFill>
                          <a:latin typeface="+mn-lt"/>
                          <a:ea typeface="+mn-ea"/>
                          <a:cs typeface="+mn-cs"/>
                        </a:rPr>
                        <a:t>기일의 변경</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991153572"/>
                  </a:ext>
                </a:extLst>
              </a:tr>
            </a:tbl>
          </a:graphicData>
        </a:graphic>
      </p:graphicFrame>
    </p:spTree>
    <p:extLst>
      <p:ext uri="{BB962C8B-B14F-4D97-AF65-F5344CB8AC3E}">
        <p14:creationId xmlns:p14="http://schemas.microsoft.com/office/powerpoint/2010/main" val="56604793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9" name="직선 연결선 18"/>
          <p:cNvCxnSpPr>
            <a:stCxn id="42" idx="2"/>
            <a:endCxn id="47" idx="0"/>
          </p:cNvCxnSpPr>
          <p:nvPr/>
        </p:nvCxnSpPr>
        <p:spPr>
          <a:xfrm>
            <a:off x="10877550" y="1816100"/>
            <a:ext cx="0" cy="99060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sz="1600" dirty="0"/>
              <a:t>제</a:t>
            </a:r>
            <a:r>
              <a:rPr lang="en-US" altLang="ko-KR" sz="1600" dirty="0"/>
              <a:t>16</a:t>
            </a:r>
            <a:r>
              <a:rPr lang="ko-KR" altLang="en-US" sz="1600" dirty="0"/>
              <a:t>조</a:t>
            </a:r>
            <a:r>
              <a:rPr lang="en-US" altLang="ko-KR" sz="1600" dirty="0"/>
              <a:t>, </a:t>
            </a:r>
            <a:r>
              <a:rPr lang="ko-KR" altLang="en-US" sz="1600" dirty="0"/>
              <a:t>제</a:t>
            </a:r>
            <a:r>
              <a:rPr lang="en-US" altLang="ko-KR" sz="1600" dirty="0"/>
              <a:t>28</a:t>
            </a:r>
            <a:r>
              <a:rPr lang="ko-KR" altLang="en-US" sz="1600" dirty="0"/>
              <a:t>조</a:t>
            </a:r>
            <a:r>
              <a:rPr lang="en-US" altLang="ko-KR" sz="1600" dirty="0"/>
              <a:t>~</a:t>
            </a:r>
            <a:r>
              <a:rPr lang="ko-KR" altLang="en-US" sz="1600" dirty="0"/>
              <a:t>제</a:t>
            </a:r>
            <a:r>
              <a:rPr lang="en-US" altLang="ko-KR" sz="1600" dirty="0"/>
              <a:t>28</a:t>
            </a:r>
            <a:r>
              <a:rPr lang="ko-KR" altLang="en-US" sz="1600" dirty="0"/>
              <a:t>조의</a:t>
            </a:r>
            <a:r>
              <a:rPr lang="en-US" altLang="ko-KR" sz="1600" dirty="0"/>
              <a:t>5</a:t>
            </a:r>
            <a:endParaRPr lang="ko-KR" altLang="en-US" sz="1600" dirty="0"/>
          </a:p>
        </p:txBody>
      </p:sp>
      <p:sp>
        <p:nvSpPr>
          <p:cNvPr id="4" name="텍스트 개체 틀 3"/>
          <p:cNvSpPr>
            <a:spLocks noGrp="1"/>
          </p:cNvSpPr>
          <p:nvPr>
            <p:ph type="body" sz="quarter" idx="13"/>
          </p:nvPr>
        </p:nvSpPr>
        <p:spPr/>
        <p:txBody>
          <a:bodyPr/>
          <a:lstStyle/>
          <a:p>
            <a:r>
              <a:rPr lang="ko-KR" altLang="en-US" dirty="0"/>
              <a:t>특허에 관한 절차 일반</a:t>
            </a:r>
          </a:p>
        </p:txBody>
      </p:sp>
      <p:sp>
        <p:nvSpPr>
          <p:cNvPr id="5" name="슬라이드 번호 개체 틀 4"/>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38</a:t>
            </a:fld>
            <a:endParaRPr lang="ko-KR" altLang="en-US"/>
          </a:p>
        </p:txBody>
      </p:sp>
      <p:cxnSp>
        <p:nvCxnSpPr>
          <p:cNvPr id="105" name="직선 연결선 104"/>
          <p:cNvCxnSpPr/>
          <p:nvPr/>
        </p:nvCxnSpPr>
        <p:spPr>
          <a:xfrm>
            <a:off x="7714278" y="947988"/>
            <a:ext cx="0" cy="591001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2" name="표 1"/>
          <p:cNvGraphicFramePr>
            <a:graphicFrameLocks noGrp="1"/>
          </p:cNvGraphicFramePr>
          <p:nvPr>
            <p:extLst>
              <p:ext uri="{D42A27DB-BD31-4B8C-83A1-F6EECF244321}">
                <p14:modId xmlns:p14="http://schemas.microsoft.com/office/powerpoint/2010/main" val="3815244410"/>
              </p:ext>
            </p:extLst>
          </p:nvPr>
        </p:nvGraphicFramePr>
        <p:xfrm>
          <a:off x="190500" y="1063625"/>
          <a:ext cx="7315200" cy="5453664"/>
        </p:xfrm>
        <a:graphic>
          <a:graphicData uri="http://schemas.openxmlformats.org/drawingml/2006/table">
            <a:tbl>
              <a:tblPr/>
              <a:tblGrid>
                <a:gridCol w="698500">
                  <a:extLst>
                    <a:ext uri="{9D8B030D-6E8A-4147-A177-3AD203B41FA5}">
                      <a16:colId xmlns:a16="http://schemas.microsoft.com/office/drawing/2014/main" val="3208202133"/>
                    </a:ext>
                  </a:extLst>
                </a:gridCol>
                <a:gridCol w="546100">
                  <a:extLst>
                    <a:ext uri="{9D8B030D-6E8A-4147-A177-3AD203B41FA5}">
                      <a16:colId xmlns:a16="http://schemas.microsoft.com/office/drawing/2014/main" val="1435207928"/>
                    </a:ext>
                  </a:extLst>
                </a:gridCol>
                <a:gridCol w="942789">
                  <a:extLst>
                    <a:ext uri="{9D8B030D-6E8A-4147-A177-3AD203B41FA5}">
                      <a16:colId xmlns:a16="http://schemas.microsoft.com/office/drawing/2014/main" val="544757896"/>
                    </a:ext>
                  </a:extLst>
                </a:gridCol>
                <a:gridCol w="5127811">
                  <a:extLst>
                    <a:ext uri="{9D8B030D-6E8A-4147-A177-3AD203B41FA5}">
                      <a16:colId xmlns:a16="http://schemas.microsoft.com/office/drawing/2014/main" val="792763740"/>
                    </a:ext>
                  </a:extLst>
                </a:gridCol>
              </a:tblGrid>
              <a:tr h="60711">
                <a:tc gridSpan="3">
                  <a:txBody>
                    <a:bodyPr/>
                    <a:lstStyle/>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구 분</a:t>
                      </a: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내 용</a:t>
                      </a: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564670009"/>
                  </a:ext>
                </a:extLst>
              </a:tr>
              <a:tr h="239796">
                <a:tc gridSpan="3">
                  <a:txBody>
                    <a:bodyPr/>
                    <a:lstStyle/>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고유번호의 부여 및 기재</a:t>
                      </a:r>
                    </a:p>
                    <a:p>
                      <a:pPr marL="0" marR="0" indent="0" algn="ctr" fontAlgn="base" latinLnBrk="0">
                        <a:lnSpc>
                          <a:spcPct val="100000"/>
                        </a:lnSpc>
                        <a:spcBef>
                          <a:spcPts val="0"/>
                        </a:spcBef>
                        <a:spcAft>
                          <a:spcPts val="0"/>
                        </a:spcAft>
                      </a:pPr>
                      <a:r>
                        <a:rPr lang="en-US" altLang="ko-KR" sz="1100" b="1" kern="1200" dirty="0">
                          <a:solidFill>
                            <a:schemeClr val="tx1"/>
                          </a:solidFill>
                          <a:latin typeface="+mn-lt"/>
                          <a:ea typeface="+mn-ea"/>
                          <a:cs typeface="+mn-cs"/>
                        </a:rPr>
                        <a:t>(</a:t>
                      </a:r>
                      <a:r>
                        <a:rPr lang="ko-KR" altLang="en-US" sz="1100" b="1" kern="1200" dirty="0">
                          <a:solidFill>
                            <a:schemeClr val="tx1"/>
                          </a:solidFill>
                          <a:latin typeface="+mn-lt"/>
                          <a:ea typeface="+mn-ea"/>
                          <a:cs typeface="+mn-cs"/>
                        </a:rPr>
                        <a:t>法 </a:t>
                      </a:r>
                      <a:r>
                        <a:rPr lang="en-US" altLang="ko-KR" sz="1100" b="1" kern="1200" dirty="0">
                          <a:solidFill>
                            <a:schemeClr val="tx1"/>
                          </a:solidFill>
                          <a:latin typeface="+mn-lt"/>
                          <a:ea typeface="+mn-ea"/>
                          <a:cs typeface="+mn-cs"/>
                        </a:rPr>
                        <a:t>28</a:t>
                      </a:r>
                      <a:r>
                        <a:rPr lang="ko-KR" altLang="en-US" sz="1100" b="1" kern="1200" dirty="0">
                          <a:solidFill>
                            <a:schemeClr val="tx1"/>
                          </a:solidFill>
                          <a:latin typeface="+mn-lt"/>
                          <a:ea typeface="+mn-ea"/>
                          <a:cs typeface="+mn-cs"/>
                        </a:rPr>
                        <a:t>의</a:t>
                      </a:r>
                      <a:r>
                        <a:rPr lang="en-US" altLang="ko-KR" sz="1100" b="1" kern="1200" dirty="0">
                          <a:solidFill>
                            <a:schemeClr val="tx1"/>
                          </a:solidFill>
                          <a:latin typeface="+mn-lt"/>
                          <a:ea typeface="+mn-ea"/>
                          <a:cs typeface="+mn-cs"/>
                        </a:rPr>
                        <a:t>2)</a:t>
                      </a:r>
                      <a:endParaRPr lang="ko-KR" altLang="en-US" sz="1100" b="1" kern="1200" dirty="0">
                        <a:solidFill>
                          <a:schemeClr val="tx1"/>
                        </a:solidFill>
                        <a:latin typeface="+mn-lt"/>
                        <a:ea typeface="+mn-ea"/>
                        <a:cs typeface="+mn-cs"/>
                      </a:endParaRP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31750" marR="31750" indent="0" algn="l" fontAlgn="base" latinLnBrk="1">
                        <a:lnSpc>
                          <a:spcPct val="100000"/>
                        </a:lnSpc>
                        <a:spcBef>
                          <a:spcPts val="0"/>
                        </a:spcBef>
                        <a:spcAft>
                          <a:spcPts val="0"/>
                        </a:spcAft>
                      </a:pPr>
                      <a:r>
                        <a:rPr lang="en-US" altLang="ko-KR" sz="1100" kern="1200">
                          <a:solidFill>
                            <a:schemeClr val="tx1"/>
                          </a:solidFill>
                          <a:latin typeface="+mn-lt"/>
                          <a:ea typeface="+mn-ea"/>
                          <a:cs typeface="+mn-cs"/>
                        </a:rPr>
                        <a:t>1. </a:t>
                      </a:r>
                      <a:r>
                        <a:rPr lang="ko-KR" altLang="en-US" sz="1100" kern="1200">
                          <a:solidFill>
                            <a:schemeClr val="tx1"/>
                          </a:solidFill>
                          <a:latin typeface="+mn-lt"/>
                          <a:ea typeface="+mn-ea"/>
                          <a:cs typeface="+mn-cs"/>
                        </a:rPr>
                        <a:t>신청에 의한 부여</a:t>
                      </a:r>
                      <a:r>
                        <a:rPr lang="en-US" altLang="ko-KR" sz="1100" kern="1200">
                          <a:solidFill>
                            <a:schemeClr val="tx1"/>
                          </a:solidFill>
                          <a:latin typeface="+mn-lt"/>
                          <a:ea typeface="+mn-ea"/>
                          <a:cs typeface="+mn-cs"/>
                        </a:rPr>
                        <a:t>(</a:t>
                      </a:r>
                      <a:r>
                        <a:rPr lang="ko-KR" altLang="en-US" sz="1100" kern="1200">
                          <a:solidFill>
                            <a:schemeClr val="tx1"/>
                          </a:solidFill>
                          <a:latin typeface="+mn-lt"/>
                          <a:ea typeface="+mn-ea"/>
                          <a:cs typeface="+mn-cs"/>
                        </a:rPr>
                        <a:t>法 </a:t>
                      </a:r>
                      <a:r>
                        <a:rPr lang="en-US" altLang="ko-KR" sz="1100" kern="1200">
                          <a:solidFill>
                            <a:schemeClr val="tx1"/>
                          </a:solidFill>
                          <a:latin typeface="+mn-lt"/>
                          <a:ea typeface="+mn-ea"/>
                          <a:cs typeface="+mn-cs"/>
                        </a:rPr>
                        <a:t>28</a:t>
                      </a:r>
                      <a:r>
                        <a:rPr lang="ko-KR" altLang="en-US" sz="1100" kern="1200">
                          <a:solidFill>
                            <a:schemeClr val="tx1"/>
                          </a:solidFill>
                          <a:latin typeface="+mn-lt"/>
                          <a:ea typeface="+mn-ea"/>
                          <a:cs typeface="+mn-cs"/>
                        </a:rPr>
                        <a:t>의</a:t>
                      </a:r>
                      <a:r>
                        <a:rPr lang="en-US" altLang="ko-KR" sz="1100" kern="1200">
                          <a:solidFill>
                            <a:schemeClr val="tx1"/>
                          </a:solidFill>
                          <a:latin typeface="+mn-lt"/>
                          <a:ea typeface="+mn-ea"/>
                          <a:cs typeface="+mn-cs"/>
                        </a:rPr>
                        <a:t>2</a:t>
                      </a:r>
                      <a:r>
                        <a:rPr lang="ko-KR" altLang="en-US" sz="1100" kern="1200">
                          <a:solidFill>
                            <a:schemeClr val="tx1"/>
                          </a:solidFill>
                          <a:latin typeface="+mn-lt"/>
                          <a:ea typeface="+mn-ea"/>
                          <a:cs typeface="+mn-cs"/>
                        </a:rPr>
                        <a:t>①②</a:t>
                      </a:r>
                      <a:r>
                        <a:rPr lang="en-US" altLang="ko-KR" sz="1100" kern="1200">
                          <a:solidFill>
                            <a:schemeClr val="tx1"/>
                          </a:solidFill>
                          <a:latin typeface="+mn-lt"/>
                          <a:ea typeface="+mn-ea"/>
                          <a:cs typeface="+mn-cs"/>
                        </a:rPr>
                        <a:t>)</a:t>
                      </a:r>
                      <a:endParaRPr lang="ko-KR" altLang="en-US" sz="1100" kern="1200">
                        <a:solidFill>
                          <a:schemeClr val="tx1"/>
                        </a:solidFill>
                        <a:latin typeface="+mn-lt"/>
                        <a:ea typeface="+mn-ea"/>
                        <a:cs typeface="+mn-cs"/>
                      </a:endParaRPr>
                    </a:p>
                    <a:p>
                      <a:pPr marL="31750" marR="31750" indent="0" algn="l" fontAlgn="base" latinLnBrk="1">
                        <a:lnSpc>
                          <a:spcPct val="100000"/>
                        </a:lnSpc>
                        <a:spcBef>
                          <a:spcPts val="0"/>
                        </a:spcBef>
                        <a:spcAft>
                          <a:spcPts val="0"/>
                        </a:spcAft>
                      </a:pPr>
                      <a:r>
                        <a:rPr lang="en-US" altLang="ko-KR" sz="1100" kern="1200">
                          <a:solidFill>
                            <a:schemeClr val="tx1"/>
                          </a:solidFill>
                          <a:latin typeface="+mn-lt"/>
                          <a:ea typeface="+mn-ea"/>
                          <a:cs typeface="+mn-cs"/>
                        </a:rPr>
                        <a:t>2. </a:t>
                      </a:r>
                      <a:r>
                        <a:rPr lang="ko-KR" altLang="en-US" sz="1100" kern="1200">
                          <a:solidFill>
                            <a:schemeClr val="tx1"/>
                          </a:solidFill>
                          <a:latin typeface="+mn-lt"/>
                          <a:ea typeface="+mn-ea"/>
                          <a:cs typeface="+mn-cs"/>
                        </a:rPr>
                        <a:t>직권에 의한 부여</a:t>
                      </a:r>
                      <a:r>
                        <a:rPr lang="en-US" altLang="ko-KR" sz="1100" kern="1200">
                          <a:solidFill>
                            <a:schemeClr val="tx1"/>
                          </a:solidFill>
                          <a:latin typeface="+mn-lt"/>
                          <a:ea typeface="+mn-ea"/>
                          <a:cs typeface="+mn-cs"/>
                        </a:rPr>
                        <a:t>(</a:t>
                      </a:r>
                      <a:r>
                        <a:rPr lang="ko-KR" altLang="en-US" sz="1100" kern="1200">
                          <a:solidFill>
                            <a:schemeClr val="tx1"/>
                          </a:solidFill>
                          <a:latin typeface="+mn-lt"/>
                          <a:ea typeface="+mn-ea"/>
                          <a:cs typeface="+mn-cs"/>
                        </a:rPr>
                        <a:t>法 </a:t>
                      </a:r>
                      <a:r>
                        <a:rPr lang="en-US" altLang="ko-KR" sz="1100" kern="1200">
                          <a:solidFill>
                            <a:schemeClr val="tx1"/>
                          </a:solidFill>
                          <a:latin typeface="+mn-lt"/>
                          <a:ea typeface="+mn-ea"/>
                          <a:cs typeface="+mn-cs"/>
                        </a:rPr>
                        <a:t>28</a:t>
                      </a:r>
                      <a:r>
                        <a:rPr lang="ko-KR" altLang="en-US" sz="1100" kern="1200">
                          <a:solidFill>
                            <a:schemeClr val="tx1"/>
                          </a:solidFill>
                          <a:latin typeface="+mn-lt"/>
                          <a:ea typeface="+mn-ea"/>
                          <a:cs typeface="+mn-cs"/>
                        </a:rPr>
                        <a:t>의</a:t>
                      </a:r>
                      <a:r>
                        <a:rPr lang="en-US" altLang="ko-KR" sz="1100" kern="1200">
                          <a:solidFill>
                            <a:schemeClr val="tx1"/>
                          </a:solidFill>
                          <a:latin typeface="+mn-lt"/>
                          <a:ea typeface="+mn-ea"/>
                          <a:cs typeface="+mn-cs"/>
                        </a:rPr>
                        <a:t>2</a:t>
                      </a:r>
                      <a:r>
                        <a:rPr lang="ko-KR" altLang="en-US" sz="1100" kern="1200">
                          <a:solidFill>
                            <a:schemeClr val="tx1"/>
                          </a:solidFill>
                          <a:latin typeface="+mn-lt"/>
                          <a:ea typeface="+mn-ea"/>
                          <a:cs typeface="+mn-cs"/>
                        </a:rPr>
                        <a:t>③</a:t>
                      </a:r>
                      <a:r>
                        <a:rPr lang="en-US" altLang="ko-KR" sz="1100" kern="1200">
                          <a:solidFill>
                            <a:schemeClr val="tx1"/>
                          </a:solidFill>
                          <a:latin typeface="+mn-lt"/>
                          <a:ea typeface="+mn-ea"/>
                          <a:cs typeface="+mn-cs"/>
                        </a:rPr>
                        <a:t>)</a:t>
                      </a:r>
                      <a:endParaRPr lang="ko-KR" altLang="en-US" sz="1100" kern="1200">
                        <a:solidFill>
                          <a:schemeClr val="tx1"/>
                        </a:solidFill>
                        <a:latin typeface="+mn-lt"/>
                        <a:ea typeface="+mn-ea"/>
                        <a:cs typeface="+mn-cs"/>
                      </a:endParaRPr>
                    </a:p>
                    <a:p>
                      <a:pPr marL="31750" marR="31750" indent="0" algn="l" fontAlgn="base" latinLnBrk="1">
                        <a:lnSpc>
                          <a:spcPct val="100000"/>
                        </a:lnSpc>
                        <a:spcBef>
                          <a:spcPts val="0"/>
                        </a:spcBef>
                        <a:spcAft>
                          <a:spcPts val="0"/>
                        </a:spcAft>
                      </a:pPr>
                      <a:r>
                        <a:rPr lang="en-US" altLang="ko-KR" sz="1100" kern="1200">
                          <a:solidFill>
                            <a:schemeClr val="tx1"/>
                          </a:solidFill>
                          <a:latin typeface="+mn-lt"/>
                          <a:ea typeface="+mn-ea"/>
                          <a:cs typeface="+mn-cs"/>
                        </a:rPr>
                        <a:t>3. </a:t>
                      </a:r>
                      <a:r>
                        <a:rPr lang="ko-KR" altLang="en-US" sz="1100" kern="1200">
                          <a:solidFill>
                            <a:schemeClr val="tx1"/>
                          </a:solidFill>
                          <a:latin typeface="+mn-lt"/>
                          <a:ea typeface="+mn-ea"/>
                          <a:cs typeface="+mn-cs"/>
                        </a:rPr>
                        <a:t>기재의 효과 → 주소에 갈음</a:t>
                      </a:r>
                      <a:r>
                        <a:rPr lang="en-US" altLang="ko-KR" sz="1100" kern="1200">
                          <a:solidFill>
                            <a:schemeClr val="tx1"/>
                          </a:solidFill>
                          <a:latin typeface="+mn-lt"/>
                          <a:ea typeface="+mn-ea"/>
                          <a:cs typeface="+mn-cs"/>
                        </a:rPr>
                        <a:t>(</a:t>
                      </a:r>
                      <a:r>
                        <a:rPr lang="ko-KR" altLang="en-US" sz="1100" kern="1200">
                          <a:solidFill>
                            <a:schemeClr val="tx1"/>
                          </a:solidFill>
                          <a:latin typeface="+mn-lt"/>
                          <a:ea typeface="+mn-ea"/>
                          <a:cs typeface="+mn-cs"/>
                        </a:rPr>
                        <a:t>法 </a:t>
                      </a:r>
                      <a:r>
                        <a:rPr lang="en-US" altLang="ko-KR" sz="1100" kern="1200">
                          <a:solidFill>
                            <a:schemeClr val="tx1"/>
                          </a:solidFill>
                          <a:latin typeface="+mn-lt"/>
                          <a:ea typeface="+mn-ea"/>
                          <a:cs typeface="+mn-cs"/>
                        </a:rPr>
                        <a:t>28</a:t>
                      </a:r>
                      <a:r>
                        <a:rPr lang="ko-KR" altLang="en-US" sz="1100" kern="1200">
                          <a:solidFill>
                            <a:schemeClr val="tx1"/>
                          </a:solidFill>
                          <a:latin typeface="+mn-lt"/>
                          <a:ea typeface="+mn-ea"/>
                          <a:cs typeface="+mn-cs"/>
                        </a:rPr>
                        <a:t>의</a:t>
                      </a:r>
                      <a:r>
                        <a:rPr lang="en-US" altLang="ko-KR" sz="1100" kern="1200">
                          <a:solidFill>
                            <a:schemeClr val="tx1"/>
                          </a:solidFill>
                          <a:latin typeface="+mn-lt"/>
                          <a:ea typeface="+mn-ea"/>
                          <a:cs typeface="+mn-cs"/>
                        </a:rPr>
                        <a:t>2</a:t>
                      </a:r>
                      <a:r>
                        <a:rPr lang="ko-KR" altLang="en-US" sz="1100" kern="1200">
                          <a:solidFill>
                            <a:schemeClr val="tx1"/>
                          </a:solidFill>
                          <a:latin typeface="+mn-lt"/>
                          <a:ea typeface="+mn-ea"/>
                          <a:cs typeface="+mn-cs"/>
                        </a:rPr>
                        <a:t>④</a:t>
                      </a:r>
                      <a:r>
                        <a:rPr lang="en-US" altLang="ko-KR" sz="1100" kern="1200">
                          <a:solidFill>
                            <a:schemeClr val="tx1"/>
                          </a:solidFill>
                          <a:latin typeface="+mn-lt"/>
                          <a:ea typeface="+mn-ea"/>
                          <a:cs typeface="+mn-cs"/>
                        </a:rPr>
                        <a:t>)</a:t>
                      </a:r>
                      <a:endParaRPr lang="ko-KR" altLang="en-US" sz="1100" kern="1200">
                        <a:solidFill>
                          <a:schemeClr val="tx1"/>
                        </a:solidFill>
                        <a:latin typeface="+mn-lt"/>
                        <a:ea typeface="+mn-ea"/>
                        <a:cs typeface="+mn-cs"/>
                      </a:endParaRPr>
                    </a:p>
                    <a:p>
                      <a:pPr marL="31750" marR="31750" indent="0" algn="l" fontAlgn="base" latinLnBrk="1">
                        <a:lnSpc>
                          <a:spcPct val="100000"/>
                        </a:lnSpc>
                        <a:spcBef>
                          <a:spcPts val="0"/>
                        </a:spcBef>
                        <a:spcAft>
                          <a:spcPts val="0"/>
                        </a:spcAft>
                      </a:pPr>
                      <a:r>
                        <a:rPr lang="en-US" altLang="ko-KR" sz="1100" kern="1200">
                          <a:solidFill>
                            <a:schemeClr val="tx1"/>
                          </a:solidFill>
                          <a:latin typeface="+mn-lt"/>
                          <a:ea typeface="+mn-ea"/>
                          <a:cs typeface="+mn-cs"/>
                        </a:rPr>
                        <a:t>4. </a:t>
                      </a:r>
                      <a:r>
                        <a:rPr lang="ko-KR" altLang="en-US" sz="1100" kern="1200">
                          <a:solidFill>
                            <a:schemeClr val="tx1"/>
                          </a:solidFill>
                          <a:latin typeface="+mn-lt"/>
                          <a:ea typeface="+mn-ea"/>
                          <a:cs typeface="+mn-cs"/>
                        </a:rPr>
                        <a:t>대리인번호의 준용</a:t>
                      </a:r>
                      <a:r>
                        <a:rPr lang="en-US" altLang="ko-KR" sz="1100" kern="1200">
                          <a:solidFill>
                            <a:schemeClr val="tx1"/>
                          </a:solidFill>
                          <a:latin typeface="+mn-lt"/>
                          <a:ea typeface="+mn-ea"/>
                          <a:cs typeface="+mn-cs"/>
                        </a:rPr>
                        <a:t>(</a:t>
                      </a:r>
                      <a:r>
                        <a:rPr lang="ko-KR" altLang="en-US" sz="1100" kern="1200">
                          <a:solidFill>
                            <a:schemeClr val="tx1"/>
                          </a:solidFill>
                          <a:latin typeface="+mn-lt"/>
                          <a:ea typeface="+mn-ea"/>
                          <a:cs typeface="+mn-cs"/>
                        </a:rPr>
                        <a:t>法 </a:t>
                      </a:r>
                      <a:r>
                        <a:rPr lang="en-US" altLang="ko-KR" sz="1100" kern="1200">
                          <a:solidFill>
                            <a:schemeClr val="tx1"/>
                          </a:solidFill>
                          <a:latin typeface="+mn-lt"/>
                          <a:ea typeface="+mn-ea"/>
                          <a:cs typeface="+mn-cs"/>
                        </a:rPr>
                        <a:t>28</a:t>
                      </a:r>
                      <a:r>
                        <a:rPr lang="ko-KR" altLang="en-US" sz="1100" kern="1200">
                          <a:solidFill>
                            <a:schemeClr val="tx1"/>
                          </a:solidFill>
                          <a:latin typeface="+mn-lt"/>
                          <a:ea typeface="+mn-ea"/>
                          <a:cs typeface="+mn-cs"/>
                        </a:rPr>
                        <a:t>의</a:t>
                      </a:r>
                      <a:r>
                        <a:rPr lang="en-US" altLang="ko-KR" sz="1100" kern="1200">
                          <a:solidFill>
                            <a:schemeClr val="tx1"/>
                          </a:solidFill>
                          <a:latin typeface="+mn-lt"/>
                          <a:ea typeface="+mn-ea"/>
                          <a:cs typeface="+mn-cs"/>
                        </a:rPr>
                        <a:t>2</a:t>
                      </a:r>
                      <a:r>
                        <a:rPr lang="ko-KR" altLang="en-US" sz="1100" kern="1200">
                          <a:solidFill>
                            <a:schemeClr val="tx1"/>
                          </a:solidFill>
                          <a:latin typeface="+mn-lt"/>
                          <a:ea typeface="+mn-ea"/>
                          <a:cs typeface="+mn-cs"/>
                        </a:rPr>
                        <a:t>⑤</a:t>
                      </a:r>
                      <a:r>
                        <a:rPr lang="en-US" altLang="ko-KR" sz="1100" kern="1200">
                          <a:solidFill>
                            <a:schemeClr val="tx1"/>
                          </a:solidFill>
                          <a:latin typeface="+mn-lt"/>
                          <a:ea typeface="+mn-ea"/>
                          <a:cs typeface="+mn-cs"/>
                        </a:rPr>
                        <a:t>)</a:t>
                      </a:r>
                      <a:endParaRPr lang="ko-KR" altLang="en-US" sz="1100" kern="1200">
                        <a:solidFill>
                          <a:schemeClr val="tx1"/>
                        </a:solidFill>
                        <a:latin typeface="+mn-lt"/>
                        <a:ea typeface="+mn-ea"/>
                        <a:cs typeface="+mn-cs"/>
                      </a:endParaRP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848554205"/>
                  </a:ext>
                </a:extLst>
              </a:tr>
              <a:tr h="65188">
                <a:tc gridSpan="3">
                  <a:txBody>
                    <a:bodyPr/>
                    <a:lstStyle/>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특허에 관한 서류의 작성</a:t>
                      </a: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31750" marR="31750" indent="0" algn="l" fontAlgn="base" latinLnBrk="1">
                        <a:lnSpc>
                          <a:spcPct val="100000"/>
                        </a:lnSpc>
                        <a:spcBef>
                          <a:spcPts val="0"/>
                        </a:spcBef>
                        <a:spcAft>
                          <a:spcPts val="0"/>
                        </a:spcAft>
                      </a:pPr>
                      <a:r>
                        <a:rPr lang="ko-KR" altLang="en-US" sz="1100" kern="1200">
                          <a:solidFill>
                            <a:schemeClr val="tx1"/>
                          </a:solidFill>
                          <a:latin typeface="+mn-lt"/>
                          <a:ea typeface="+mn-ea"/>
                          <a:cs typeface="+mn-cs"/>
                        </a:rPr>
                        <a:t>특허법에서 정한 양식에 따라 서류를 작성</a:t>
                      </a:r>
                      <a:r>
                        <a:rPr lang="en-US" altLang="ko-KR" sz="1100" kern="1200">
                          <a:solidFill>
                            <a:schemeClr val="tx1"/>
                          </a:solidFill>
                          <a:latin typeface="+mn-lt"/>
                          <a:ea typeface="+mn-ea"/>
                          <a:cs typeface="+mn-cs"/>
                        </a:rPr>
                        <a:t>(</a:t>
                      </a:r>
                      <a:r>
                        <a:rPr lang="ko-KR" altLang="en-US" sz="1100" kern="1200">
                          <a:solidFill>
                            <a:schemeClr val="tx1"/>
                          </a:solidFill>
                          <a:latin typeface="+mn-lt"/>
                          <a:ea typeface="+mn-ea"/>
                          <a:cs typeface="+mn-cs"/>
                        </a:rPr>
                        <a:t>양식주의</a:t>
                      </a:r>
                      <a:r>
                        <a:rPr lang="en-US" altLang="ko-KR" sz="1100" kern="1200">
                          <a:solidFill>
                            <a:schemeClr val="tx1"/>
                          </a:solidFill>
                          <a:latin typeface="+mn-lt"/>
                          <a:ea typeface="+mn-ea"/>
                          <a:cs typeface="+mn-cs"/>
                        </a:rPr>
                        <a:t>, </a:t>
                      </a:r>
                      <a:r>
                        <a:rPr lang="ko-KR" altLang="en-US" sz="1100" kern="1200">
                          <a:solidFill>
                            <a:schemeClr val="tx1"/>
                          </a:solidFill>
                          <a:latin typeface="+mn-lt"/>
                          <a:ea typeface="+mn-ea"/>
                          <a:cs typeface="+mn-cs"/>
                        </a:rPr>
                        <a:t>요식주의</a:t>
                      </a:r>
                      <a:r>
                        <a:rPr lang="en-US" altLang="ko-KR" sz="1100" kern="1200">
                          <a:solidFill>
                            <a:schemeClr val="tx1"/>
                          </a:solidFill>
                          <a:latin typeface="+mn-lt"/>
                          <a:ea typeface="+mn-ea"/>
                          <a:cs typeface="+mn-cs"/>
                        </a:rPr>
                        <a:t>)</a:t>
                      </a:r>
                      <a:endParaRPr lang="ko-KR" altLang="en-US" sz="1100" kern="1200">
                        <a:solidFill>
                          <a:schemeClr val="tx1"/>
                        </a:solidFill>
                        <a:latin typeface="+mn-lt"/>
                        <a:ea typeface="+mn-ea"/>
                        <a:cs typeface="+mn-cs"/>
                      </a:endParaRP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04503720"/>
                  </a:ext>
                </a:extLst>
              </a:tr>
              <a:tr h="239796">
                <a:tc rowSpan="2">
                  <a:txBody>
                    <a:bodyPr/>
                    <a:lstStyle/>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특허에 </a:t>
                      </a:r>
                      <a:endParaRPr lang="en-US" altLang="ko-KR" sz="1100" b="1" kern="1200" dirty="0">
                        <a:solidFill>
                          <a:schemeClr val="tx1"/>
                        </a:solidFill>
                        <a:latin typeface="+mn-lt"/>
                        <a:ea typeface="+mn-ea"/>
                        <a:cs typeface="+mn-cs"/>
                      </a:endParaRPr>
                    </a:p>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관한 </a:t>
                      </a:r>
                      <a:endParaRPr lang="en-US" altLang="ko-KR" sz="1100" b="1" kern="1200" dirty="0">
                        <a:solidFill>
                          <a:schemeClr val="tx1"/>
                        </a:solidFill>
                        <a:latin typeface="+mn-lt"/>
                        <a:ea typeface="+mn-ea"/>
                        <a:cs typeface="+mn-cs"/>
                      </a:endParaRPr>
                    </a:p>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서류의</a:t>
                      </a:r>
                      <a:endParaRPr lang="en-US" altLang="ko-KR" sz="1100" b="1" kern="1200" dirty="0">
                        <a:solidFill>
                          <a:schemeClr val="tx1"/>
                        </a:solidFill>
                        <a:latin typeface="+mn-lt"/>
                        <a:ea typeface="+mn-ea"/>
                        <a:cs typeface="+mn-cs"/>
                      </a:endParaRPr>
                    </a:p>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 제출</a:t>
                      </a: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2">
                  <a:txBody>
                    <a:bodyPr/>
                    <a:lstStyle/>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서면에 의한 제출</a:t>
                      </a:r>
                    </a:p>
                    <a:p>
                      <a:pPr marL="0" marR="0" indent="0" algn="ctr" fontAlgn="base" latinLnBrk="0">
                        <a:lnSpc>
                          <a:spcPct val="100000"/>
                        </a:lnSpc>
                        <a:spcBef>
                          <a:spcPts val="0"/>
                        </a:spcBef>
                        <a:spcAft>
                          <a:spcPts val="0"/>
                        </a:spcAft>
                      </a:pPr>
                      <a:r>
                        <a:rPr lang="en-US" altLang="ko-KR" sz="1100" b="1" kern="1200" dirty="0">
                          <a:solidFill>
                            <a:schemeClr val="tx1"/>
                          </a:solidFill>
                          <a:latin typeface="+mn-lt"/>
                          <a:ea typeface="+mn-ea"/>
                          <a:cs typeface="+mn-cs"/>
                        </a:rPr>
                        <a:t>(</a:t>
                      </a:r>
                      <a:r>
                        <a:rPr lang="ko-KR" altLang="en-US" sz="1100" b="1" kern="1200" dirty="0">
                          <a:solidFill>
                            <a:schemeClr val="tx1"/>
                          </a:solidFill>
                          <a:latin typeface="+mn-lt"/>
                          <a:ea typeface="+mn-ea"/>
                          <a:cs typeface="+mn-cs"/>
                        </a:rPr>
                        <a:t>法 </a:t>
                      </a:r>
                      <a:r>
                        <a:rPr lang="en-US" altLang="ko-KR" sz="1100" b="1" kern="1200" dirty="0">
                          <a:solidFill>
                            <a:schemeClr val="tx1"/>
                          </a:solidFill>
                          <a:latin typeface="+mn-lt"/>
                          <a:ea typeface="+mn-ea"/>
                          <a:cs typeface="+mn-cs"/>
                        </a:rPr>
                        <a:t>28)</a:t>
                      </a:r>
                      <a:endParaRPr lang="ko-KR" altLang="en-US" sz="1100" b="1" kern="1200" dirty="0">
                        <a:solidFill>
                          <a:schemeClr val="tx1"/>
                        </a:solidFill>
                        <a:latin typeface="+mn-lt"/>
                        <a:ea typeface="+mn-ea"/>
                        <a:cs typeface="+mn-cs"/>
                      </a:endParaRP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31750" marR="31750" indent="0" algn="l" fontAlgn="base" latinLnBrk="1">
                        <a:lnSpc>
                          <a:spcPct val="100000"/>
                        </a:lnSpc>
                        <a:spcBef>
                          <a:spcPts val="0"/>
                        </a:spcBef>
                        <a:spcAft>
                          <a:spcPts val="0"/>
                        </a:spcAft>
                      </a:pPr>
                      <a:r>
                        <a:rPr lang="ko-KR" altLang="en-US" sz="1100" kern="1200" dirty="0">
                          <a:solidFill>
                            <a:schemeClr val="tx1"/>
                          </a:solidFill>
                          <a:latin typeface="+mn-lt"/>
                          <a:ea typeface="+mn-ea"/>
                          <a:cs typeface="+mn-cs"/>
                        </a:rPr>
                        <a:t>* 효력발생시기</a:t>
                      </a:r>
                    </a:p>
                    <a:p>
                      <a:pPr marL="31750" marR="31750" indent="0" algn="l" fontAlgn="base" latinLnBrk="1">
                        <a:lnSpc>
                          <a:spcPct val="100000"/>
                        </a:lnSpc>
                        <a:spcBef>
                          <a:spcPts val="0"/>
                        </a:spcBef>
                        <a:spcAft>
                          <a:spcPts val="0"/>
                        </a:spcAft>
                      </a:pPr>
                      <a:r>
                        <a:rPr lang="en-US" altLang="ko-KR" sz="1100" kern="1200" dirty="0">
                          <a:solidFill>
                            <a:schemeClr val="tx1"/>
                          </a:solidFill>
                          <a:latin typeface="+mn-lt"/>
                          <a:ea typeface="+mn-ea"/>
                          <a:cs typeface="+mn-cs"/>
                        </a:rPr>
                        <a:t>1. </a:t>
                      </a:r>
                      <a:r>
                        <a:rPr lang="ko-KR" altLang="en-US" sz="1100" kern="1200" dirty="0">
                          <a:solidFill>
                            <a:schemeClr val="tx1"/>
                          </a:solidFill>
                          <a:latin typeface="+mn-lt"/>
                          <a:ea typeface="+mn-ea"/>
                          <a:cs typeface="+mn-cs"/>
                        </a:rPr>
                        <a:t>원칙 </a:t>
                      </a:r>
                      <a:r>
                        <a:rPr lang="en-US" altLang="ko-KR" sz="1100" kern="1200" dirty="0">
                          <a:solidFill>
                            <a:schemeClr val="tx1"/>
                          </a:solidFill>
                          <a:latin typeface="+mn-lt"/>
                          <a:ea typeface="+mn-ea"/>
                          <a:cs typeface="+mn-cs"/>
                        </a:rPr>
                        <a:t>- </a:t>
                      </a:r>
                      <a:r>
                        <a:rPr lang="ko-KR" altLang="en-US" sz="1100" kern="1200" dirty="0">
                          <a:solidFill>
                            <a:schemeClr val="tx1"/>
                          </a:solidFill>
                          <a:latin typeface="+mn-lt"/>
                          <a:ea typeface="+mn-ea"/>
                          <a:cs typeface="+mn-cs"/>
                        </a:rPr>
                        <a:t>도달주의</a:t>
                      </a:r>
                    </a:p>
                    <a:p>
                      <a:pPr marL="31750" marR="31750" indent="0" algn="l" fontAlgn="base" latinLnBrk="1">
                        <a:lnSpc>
                          <a:spcPct val="100000"/>
                        </a:lnSpc>
                        <a:spcBef>
                          <a:spcPts val="0"/>
                        </a:spcBef>
                        <a:spcAft>
                          <a:spcPts val="0"/>
                        </a:spcAft>
                      </a:pPr>
                      <a:r>
                        <a:rPr lang="en-US" altLang="ko-KR" sz="1100" kern="1200" dirty="0">
                          <a:solidFill>
                            <a:schemeClr val="tx1"/>
                          </a:solidFill>
                          <a:latin typeface="+mn-lt"/>
                          <a:ea typeface="+mn-ea"/>
                          <a:cs typeface="+mn-cs"/>
                        </a:rPr>
                        <a:t>2. </a:t>
                      </a:r>
                      <a:r>
                        <a:rPr lang="ko-KR" altLang="en-US" sz="1100" kern="1200" dirty="0">
                          <a:solidFill>
                            <a:schemeClr val="tx1"/>
                          </a:solidFill>
                          <a:latin typeface="+mn-lt"/>
                          <a:ea typeface="+mn-ea"/>
                          <a:cs typeface="+mn-cs"/>
                        </a:rPr>
                        <a:t>예외 </a:t>
                      </a:r>
                      <a:r>
                        <a:rPr lang="en-US" altLang="ko-KR" sz="1100" kern="1200" dirty="0">
                          <a:solidFill>
                            <a:schemeClr val="tx1"/>
                          </a:solidFill>
                          <a:latin typeface="+mn-lt"/>
                          <a:ea typeface="+mn-ea"/>
                          <a:cs typeface="+mn-cs"/>
                        </a:rPr>
                        <a:t>- </a:t>
                      </a:r>
                      <a:r>
                        <a:rPr lang="ko-KR" altLang="en-US" sz="1100" kern="1200" dirty="0">
                          <a:solidFill>
                            <a:schemeClr val="tx1"/>
                          </a:solidFill>
                          <a:latin typeface="+mn-lt"/>
                          <a:ea typeface="+mn-ea"/>
                          <a:cs typeface="+mn-cs"/>
                        </a:rPr>
                        <a:t>우편의 경우 </a:t>
                      </a:r>
                      <a:r>
                        <a:rPr lang="ko-KR" altLang="en-US" sz="1100" kern="1200" dirty="0" err="1">
                          <a:solidFill>
                            <a:schemeClr val="tx1"/>
                          </a:solidFill>
                          <a:latin typeface="+mn-lt"/>
                          <a:ea typeface="+mn-ea"/>
                          <a:cs typeface="+mn-cs"/>
                        </a:rPr>
                        <a:t>발신주의</a:t>
                      </a:r>
                      <a:r>
                        <a:rPr lang="en-US" altLang="ko-KR" sz="1100" kern="1200" dirty="0">
                          <a:solidFill>
                            <a:schemeClr val="tx1"/>
                          </a:solidFill>
                          <a:latin typeface="+mn-lt"/>
                          <a:ea typeface="+mn-ea"/>
                          <a:cs typeface="+mn-cs"/>
                        </a:rPr>
                        <a:t>(</a:t>
                      </a:r>
                      <a:r>
                        <a:rPr lang="ko-KR" altLang="en-US" sz="1100" kern="1200" dirty="0" err="1">
                          <a:solidFill>
                            <a:schemeClr val="tx1"/>
                          </a:solidFill>
                          <a:latin typeface="+mn-lt"/>
                          <a:ea typeface="+mn-ea"/>
                          <a:cs typeface="+mn-cs"/>
                        </a:rPr>
                        <a:t>통신일부인</a:t>
                      </a:r>
                      <a:r>
                        <a:rPr lang="en-US" altLang="ko-KR" sz="1100" kern="1200" dirty="0">
                          <a:solidFill>
                            <a:schemeClr val="tx1"/>
                          </a:solidFill>
                          <a:latin typeface="+mn-lt"/>
                          <a:ea typeface="+mn-ea"/>
                          <a:cs typeface="+mn-cs"/>
                        </a:rPr>
                        <a:t>, </a:t>
                      </a:r>
                      <a:r>
                        <a:rPr lang="ko-KR" altLang="en-US" sz="1100" kern="1200" dirty="0">
                          <a:solidFill>
                            <a:schemeClr val="tx1"/>
                          </a:solidFill>
                          <a:latin typeface="+mn-lt"/>
                          <a:ea typeface="+mn-ea"/>
                          <a:cs typeface="+mn-cs"/>
                        </a:rPr>
                        <a:t>우편물 수령증에 의하여 판단</a:t>
                      </a:r>
                      <a:r>
                        <a:rPr lang="en-US" altLang="ko-KR" sz="1100" kern="1200" dirty="0">
                          <a:solidFill>
                            <a:schemeClr val="tx1"/>
                          </a:solidFill>
                          <a:latin typeface="+mn-lt"/>
                          <a:ea typeface="+mn-ea"/>
                          <a:cs typeface="+mn-cs"/>
                        </a:rPr>
                        <a:t>)</a:t>
                      </a:r>
                    </a:p>
                    <a:p>
                      <a:pPr marL="31750" marR="31750" indent="0" algn="l" fontAlgn="base" latinLnBrk="1">
                        <a:lnSpc>
                          <a:spcPct val="100000"/>
                        </a:lnSpc>
                        <a:spcBef>
                          <a:spcPts val="0"/>
                        </a:spcBef>
                        <a:spcAft>
                          <a:spcPts val="0"/>
                        </a:spcAft>
                      </a:pPr>
                      <a:r>
                        <a:rPr lang="en-US" altLang="ko-KR" sz="1100" kern="1200" dirty="0">
                          <a:solidFill>
                            <a:schemeClr val="tx1"/>
                          </a:solidFill>
                          <a:latin typeface="+mn-lt"/>
                          <a:ea typeface="+mn-ea"/>
                          <a:cs typeface="+mn-cs"/>
                        </a:rPr>
                        <a:t>3. </a:t>
                      </a:r>
                      <a:r>
                        <a:rPr lang="ko-KR" altLang="en-US" sz="1100" kern="1200" dirty="0">
                          <a:solidFill>
                            <a:schemeClr val="tx1"/>
                          </a:solidFill>
                          <a:latin typeface="+mn-lt"/>
                          <a:ea typeface="+mn-ea"/>
                          <a:cs typeface="+mn-cs"/>
                        </a:rPr>
                        <a:t>예외의 예외 </a:t>
                      </a:r>
                      <a:r>
                        <a:rPr lang="en-US" altLang="ko-KR" sz="1100" kern="1200" dirty="0">
                          <a:solidFill>
                            <a:schemeClr val="tx1"/>
                          </a:solidFill>
                          <a:latin typeface="+mn-lt"/>
                          <a:ea typeface="+mn-ea"/>
                          <a:cs typeface="+mn-cs"/>
                        </a:rPr>
                        <a:t>- </a:t>
                      </a:r>
                      <a:r>
                        <a:rPr lang="ko-KR" altLang="en-US" sz="1100" kern="1200" dirty="0">
                          <a:solidFill>
                            <a:schemeClr val="tx1"/>
                          </a:solidFill>
                          <a:latin typeface="+mn-lt"/>
                          <a:ea typeface="+mn-ea"/>
                          <a:cs typeface="+mn-cs"/>
                        </a:rPr>
                        <a:t>우편의 경우라도 등록신청서류와 국제출원에 관한 서류는 도달주의</a:t>
                      </a: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02640682"/>
                  </a:ext>
                </a:extLst>
              </a:tr>
              <a:tr h="472606">
                <a:tc v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전자문서에 의한 제출</a:t>
                      </a:r>
                    </a:p>
                    <a:p>
                      <a:pPr marL="0" marR="0" indent="0" algn="ctr" fontAlgn="base" latinLnBrk="0">
                        <a:lnSpc>
                          <a:spcPct val="100000"/>
                        </a:lnSpc>
                        <a:spcBef>
                          <a:spcPts val="0"/>
                        </a:spcBef>
                        <a:spcAft>
                          <a:spcPts val="0"/>
                        </a:spcAft>
                      </a:pPr>
                      <a:r>
                        <a:rPr lang="en-US" altLang="ko-KR" sz="1100" b="1" kern="1200" dirty="0">
                          <a:solidFill>
                            <a:schemeClr val="tx1"/>
                          </a:solidFill>
                          <a:latin typeface="+mn-lt"/>
                          <a:ea typeface="+mn-ea"/>
                          <a:cs typeface="+mn-cs"/>
                        </a:rPr>
                        <a:t>(</a:t>
                      </a:r>
                      <a:r>
                        <a:rPr lang="ko-KR" altLang="en-US" sz="1100" b="1" kern="1200" dirty="0">
                          <a:solidFill>
                            <a:schemeClr val="tx1"/>
                          </a:solidFill>
                          <a:latin typeface="+mn-lt"/>
                          <a:ea typeface="+mn-ea"/>
                          <a:cs typeface="+mn-cs"/>
                        </a:rPr>
                        <a:t>法 </a:t>
                      </a:r>
                      <a:r>
                        <a:rPr lang="en-US" altLang="ko-KR" sz="1100" b="1" kern="1200" dirty="0">
                          <a:solidFill>
                            <a:schemeClr val="tx1"/>
                          </a:solidFill>
                          <a:latin typeface="+mn-lt"/>
                          <a:ea typeface="+mn-ea"/>
                          <a:cs typeface="+mn-cs"/>
                        </a:rPr>
                        <a:t>28</a:t>
                      </a:r>
                      <a:r>
                        <a:rPr lang="ko-KR" altLang="en-US" sz="1100" b="1" kern="1200" dirty="0">
                          <a:solidFill>
                            <a:schemeClr val="tx1"/>
                          </a:solidFill>
                          <a:latin typeface="+mn-lt"/>
                          <a:ea typeface="+mn-ea"/>
                          <a:cs typeface="+mn-cs"/>
                        </a:rPr>
                        <a:t>의 </a:t>
                      </a:r>
                      <a:r>
                        <a:rPr lang="en-US" altLang="ko-KR" sz="1100" b="1" kern="1200" dirty="0">
                          <a:solidFill>
                            <a:schemeClr val="tx1"/>
                          </a:solidFill>
                          <a:latin typeface="+mn-lt"/>
                          <a:ea typeface="+mn-ea"/>
                          <a:cs typeface="+mn-cs"/>
                        </a:rPr>
                        <a:t>3, 4)</a:t>
                      </a:r>
                      <a:endParaRPr lang="ko-KR" altLang="en-US" sz="1100" b="1" kern="1200" dirty="0">
                        <a:solidFill>
                          <a:schemeClr val="tx1"/>
                        </a:solidFill>
                        <a:latin typeface="+mn-lt"/>
                        <a:ea typeface="+mn-ea"/>
                        <a:cs typeface="+mn-cs"/>
                      </a:endParaRP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31750" marR="31750" indent="0" algn="l" fontAlgn="base" latinLnBrk="1">
                        <a:lnSpc>
                          <a:spcPct val="100000"/>
                        </a:lnSpc>
                        <a:spcBef>
                          <a:spcPts val="0"/>
                        </a:spcBef>
                        <a:spcAft>
                          <a:spcPts val="0"/>
                        </a:spcAft>
                      </a:pPr>
                      <a:r>
                        <a:rPr lang="en-US" altLang="ko-KR" sz="1100" kern="1200" dirty="0">
                          <a:solidFill>
                            <a:schemeClr val="tx1"/>
                          </a:solidFill>
                          <a:latin typeface="+mn-lt"/>
                          <a:ea typeface="+mn-ea"/>
                          <a:cs typeface="+mn-cs"/>
                        </a:rPr>
                        <a:t>1. </a:t>
                      </a:r>
                      <a:r>
                        <a:rPr lang="ko-KR" altLang="en-US" sz="1100" kern="1200" dirty="0">
                          <a:solidFill>
                            <a:schemeClr val="tx1"/>
                          </a:solidFill>
                          <a:latin typeface="+mn-lt"/>
                          <a:ea typeface="+mn-ea"/>
                          <a:cs typeface="+mn-cs"/>
                        </a:rPr>
                        <a:t>종류 </a:t>
                      </a:r>
                      <a:r>
                        <a:rPr lang="en-US" altLang="ko-KR" sz="1100" kern="1200" dirty="0">
                          <a:solidFill>
                            <a:schemeClr val="tx1"/>
                          </a:solidFill>
                          <a:latin typeface="+mn-lt"/>
                          <a:ea typeface="+mn-ea"/>
                          <a:cs typeface="+mn-cs"/>
                        </a:rPr>
                        <a:t>- </a:t>
                      </a:r>
                      <a:r>
                        <a:rPr lang="ko-KR" altLang="en-US" sz="1100" kern="1200" dirty="0">
                          <a:solidFill>
                            <a:schemeClr val="tx1"/>
                          </a:solidFill>
                          <a:latin typeface="+mn-lt"/>
                          <a:ea typeface="+mn-ea"/>
                          <a:cs typeface="+mn-cs"/>
                        </a:rPr>
                        <a:t>온라인 제출과 전자적 </a:t>
                      </a:r>
                      <a:r>
                        <a:rPr lang="ko-KR" altLang="en-US" sz="1100" kern="1200" dirty="0" err="1">
                          <a:solidFill>
                            <a:schemeClr val="tx1"/>
                          </a:solidFill>
                          <a:latin typeface="+mn-lt"/>
                          <a:ea typeface="+mn-ea"/>
                          <a:cs typeface="+mn-cs"/>
                        </a:rPr>
                        <a:t>기록매체</a:t>
                      </a:r>
                      <a:r>
                        <a:rPr lang="ko-KR" altLang="en-US" sz="1100" kern="1200" dirty="0">
                          <a:solidFill>
                            <a:schemeClr val="tx1"/>
                          </a:solidFill>
                          <a:latin typeface="+mn-lt"/>
                          <a:ea typeface="+mn-ea"/>
                          <a:cs typeface="+mn-cs"/>
                        </a:rPr>
                        <a:t> 제출</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法 </a:t>
                      </a:r>
                      <a:r>
                        <a:rPr lang="en-US" altLang="ko-KR" sz="1100" kern="1200" dirty="0">
                          <a:solidFill>
                            <a:schemeClr val="tx1"/>
                          </a:solidFill>
                          <a:latin typeface="+mn-lt"/>
                          <a:ea typeface="+mn-ea"/>
                          <a:cs typeface="+mn-cs"/>
                        </a:rPr>
                        <a:t>28</a:t>
                      </a:r>
                      <a:r>
                        <a:rPr lang="ko-KR" altLang="en-US" sz="1100" kern="1200" dirty="0">
                          <a:solidFill>
                            <a:schemeClr val="tx1"/>
                          </a:solidFill>
                          <a:latin typeface="+mn-lt"/>
                          <a:ea typeface="+mn-ea"/>
                          <a:cs typeface="+mn-cs"/>
                        </a:rPr>
                        <a:t>의</a:t>
                      </a:r>
                      <a:r>
                        <a:rPr lang="en-US" altLang="ko-KR" sz="1100" kern="1200" dirty="0">
                          <a:solidFill>
                            <a:schemeClr val="tx1"/>
                          </a:solidFill>
                          <a:latin typeface="+mn-lt"/>
                          <a:ea typeface="+mn-ea"/>
                          <a:cs typeface="+mn-cs"/>
                        </a:rPr>
                        <a:t>3</a:t>
                      </a:r>
                      <a:r>
                        <a:rPr lang="ko-KR" altLang="en-US" sz="1100" kern="1200" dirty="0">
                          <a:solidFill>
                            <a:schemeClr val="tx1"/>
                          </a:solidFill>
                          <a:latin typeface="+mn-lt"/>
                          <a:ea typeface="+mn-ea"/>
                          <a:cs typeface="+mn-cs"/>
                        </a:rPr>
                        <a:t>①</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p>
                      <a:pPr marL="162560" marR="31750" indent="-162560" algn="l" fontAlgn="base" latinLnBrk="1">
                        <a:lnSpc>
                          <a:spcPct val="100000"/>
                        </a:lnSpc>
                        <a:spcBef>
                          <a:spcPts val="0"/>
                        </a:spcBef>
                        <a:spcAft>
                          <a:spcPts val="0"/>
                        </a:spcAft>
                      </a:pPr>
                      <a:r>
                        <a:rPr lang="ko-KR" altLang="en-US" sz="1100" kern="1200" dirty="0">
                          <a:solidFill>
                            <a:schemeClr val="tx1"/>
                          </a:solidFill>
                          <a:latin typeface="+mn-lt"/>
                          <a:ea typeface="+mn-ea"/>
                          <a:cs typeface="+mn-cs"/>
                        </a:rPr>
                        <a:t> </a:t>
                      </a:r>
                      <a:r>
                        <a:rPr lang="en-US" altLang="ko-KR" sz="1100" kern="1200" dirty="0">
                          <a:solidFill>
                            <a:schemeClr val="tx1"/>
                          </a:solidFill>
                          <a:latin typeface="+mn-lt"/>
                          <a:ea typeface="+mn-ea"/>
                          <a:cs typeface="+mn-cs"/>
                        </a:rPr>
                        <a:t>2.</a:t>
                      </a:r>
                      <a:r>
                        <a:rPr lang="ko-KR" altLang="en-US" sz="1100" kern="1200" dirty="0">
                          <a:solidFill>
                            <a:schemeClr val="tx1"/>
                          </a:solidFill>
                          <a:latin typeface="+mn-lt"/>
                          <a:ea typeface="+mn-ea"/>
                          <a:cs typeface="+mn-cs"/>
                        </a:rPr>
                        <a:t> 절차 </a:t>
                      </a:r>
                      <a:r>
                        <a:rPr lang="en-US" altLang="ko-KR" sz="1100" kern="1200" dirty="0">
                          <a:solidFill>
                            <a:schemeClr val="tx1"/>
                          </a:solidFill>
                          <a:latin typeface="+mn-lt"/>
                          <a:ea typeface="+mn-ea"/>
                          <a:cs typeface="+mn-cs"/>
                        </a:rPr>
                        <a:t>- </a:t>
                      </a:r>
                      <a:r>
                        <a:rPr lang="ko-KR" altLang="en-US" sz="1100" kern="1200" dirty="0">
                          <a:solidFill>
                            <a:schemeClr val="tx1"/>
                          </a:solidFill>
                          <a:latin typeface="+mn-lt"/>
                          <a:ea typeface="+mn-ea"/>
                          <a:cs typeface="+mn-cs"/>
                        </a:rPr>
                        <a:t>전자문서이용신고 후 전자서명</a:t>
                      </a:r>
                      <a:r>
                        <a:rPr lang="en-US" altLang="ko-KR" sz="1100" kern="1200" dirty="0">
                          <a:solidFill>
                            <a:schemeClr val="tx1"/>
                          </a:solidFill>
                          <a:latin typeface="+mn-lt"/>
                          <a:ea typeface="+mn-ea"/>
                          <a:cs typeface="+mn-cs"/>
                        </a:rPr>
                        <a:t>, </a:t>
                      </a:r>
                      <a:r>
                        <a:rPr lang="ko-KR" altLang="en-US" sz="1100" kern="1200" dirty="0">
                          <a:solidFill>
                            <a:schemeClr val="tx1"/>
                          </a:solidFill>
                          <a:latin typeface="+mn-lt"/>
                          <a:ea typeface="+mn-ea"/>
                          <a:cs typeface="+mn-cs"/>
                        </a:rPr>
                        <a:t>전자문서는 </a:t>
                      </a:r>
                      <a:r>
                        <a:rPr lang="ko-KR" altLang="en-US" sz="1100" kern="1200" dirty="0" err="1">
                          <a:solidFill>
                            <a:schemeClr val="tx1"/>
                          </a:solidFill>
                          <a:latin typeface="+mn-lt"/>
                          <a:ea typeface="+mn-ea"/>
                          <a:cs typeface="+mn-cs"/>
                        </a:rPr>
                        <a:t>전자서명한</a:t>
                      </a:r>
                      <a:r>
                        <a:rPr lang="ko-KR" altLang="en-US" sz="1100" kern="1200" dirty="0">
                          <a:solidFill>
                            <a:schemeClr val="tx1"/>
                          </a:solidFill>
                          <a:latin typeface="+mn-lt"/>
                          <a:ea typeface="+mn-ea"/>
                          <a:cs typeface="+mn-cs"/>
                        </a:rPr>
                        <a:t> 자가 제출한 것으로 간주</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法 </a:t>
                      </a:r>
                      <a:r>
                        <a:rPr lang="en-US" altLang="ko-KR" sz="1100" kern="1200" dirty="0">
                          <a:solidFill>
                            <a:schemeClr val="tx1"/>
                          </a:solidFill>
                          <a:latin typeface="+mn-lt"/>
                          <a:ea typeface="+mn-ea"/>
                          <a:cs typeface="+mn-cs"/>
                        </a:rPr>
                        <a:t>28</a:t>
                      </a:r>
                      <a:r>
                        <a:rPr lang="ko-KR" altLang="en-US" sz="1100" kern="1200" dirty="0">
                          <a:solidFill>
                            <a:schemeClr val="tx1"/>
                          </a:solidFill>
                          <a:latin typeface="+mn-lt"/>
                          <a:ea typeface="+mn-ea"/>
                          <a:cs typeface="+mn-cs"/>
                        </a:rPr>
                        <a:t>의</a:t>
                      </a:r>
                      <a:r>
                        <a:rPr lang="en-US" altLang="ko-KR" sz="1100" kern="1200" dirty="0">
                          <a:solidFill>
                            <a:schemeClr val="tx1"/>
                          </a:solidFill>
                          <a:latin typeface="+mn-lt"/>
                          <a:ea typeface="+mn-ea"/>
                          <a:cs typeface="+mn-cs"/>
                        </a:rPr>
                        <a:t>4)</a:t>
                      </a:r>
                      <a:endParaRPr lang="ko-KR" altLang="en-US" sz="1100" kern="1200" dirty="0">
                        <a:solidFill>
                          <a:schemeClr val="tx1"/>
                        </a:solidFill>
                        <a:latin typeface="+mn-lt"/>
                        <a:ea typeface="+mn-ea"/>
                        <a:cs typeface="+mn-cs"/>
                      </a:endParaRPr>
                    </a:p>
                    <a:p>
                      <a:pPr marL="31750" marR="31750" indent="0" algn="l" fontAlgn="base" latinLnBrk="1">
                        <a:lnSpc>
                          <a:spcPct val="100000"/>
                        </a:lnSpc>
                        <a:spcBef>
                          <a:spcPts val="0"/>
                        </a:spcBef>
                        <a:spcAft>
                          <a:spcPts val="0"/>
                        </a:spcAft>
                      </a:pPr>
                      <a:r>
                        <a:rPr lang="en-US" altLang="ko-KR" sz="1100" kern="1200" dirty="0">
                          <a:solidFill>
                            <a:schemeClr val="tx1"/>
                          </a:solidFill>
                          <a:latin typeface="+mn-lt"/>
                          <a:ea typeface="+mn-ea"/>
                          <a:cs typeface="+mn-cs"/>
                        </a:rPr>
                        <a:t>3. </a:t>
                      </a:r>
                      <a:r>
                        <a:rPr lang="ko-KR" altLang="en-US" sz="1100" kern="1200" dirty="0">
                          <a:solidFill>
                            <a:schemeClr val="tx1"/>
                          </a:solidFill>
                          <a:latin typeface="+mn-lt"/>
                          <a:ea typeface="+mn-ea"/>
                          <a:cs typeface="+mn-cs"/>
                        </a:rPr>
                        <a:t>효력</a:t>
                      </a:r>
                    </a:p>
                    <a:p>
                      <a:pPr marL="31750" marR="31750" indent="0" algn="l" fontAlgn="base" latinLnBrk="1">
                        <a:lnSpc>
                          <a:spcPct val="100000"/>
                        </a:lnSpc>
                        <a:spcBef>
                          <a:spcPts val="0"/>
                        </a:spcBef>
                        <a:spcAft>
                          <a:spcPts val="0"/>
                        </a:spcAft>
                      </a:pPr>
                      <a:r>
                        <a:rPr lang="ko-KR" altLang="en-US" sz="1100" kern="1200" dirty="0">
                          <a:solidFill>
                            <a:schemeClr val="tx1"/>
                          </a:solidFill>
                          <a:latin typeface="+mn-lt"/>
                          <a:ea typeface="+mn-ea"/>
                          <a:cs typeface="+mn-cs"/>
                        </a:rPr>
                        <a:t>① 서면과 동일한 효력</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法 </a:t>
                      </a:r>
                      <a:r>
                        <a:rPr lang="en-US" altLang="ko-KR" sz="1100" kern="1200" dirty="0">
                          <a:solidFill>
                            <a:schemeClr val="tx1"/>
                          </a:solidFill>
                          <a:latin typeface="+mn-lt"/>
                          <a:ea typeface="+mn-ea"/>
                          <a:cs typeface="+mn-cs"/>
                        </a:rPr>
                        <a:t>28</a:t>
                      </a:r>
                      <a:r>
                        <a:rPr lang="ko-KR" altLang="en-US" sz="1100" kern="1200" dirty="0">
                          <a:solidFill>
                            <a:schemeClr val="tx1"/>
                          </a:solidFill>
                          <a:latin typeface="+mn-lt"/>
                          <a:ea typeface="+mn-ea"/>
                          <a:cs typeface="+mn-cs"/>
                        </a:rPr>
                        <a:t>의</a:t>
                      </a:r>
                      <a:r>
                        <a:rPr lang="en-US" altLang="ko-KR" sz="1100" kern="1200" dirty="0">
                          <a:solidFill>
                            <a:schemeClr val="tx1"/>
                          </a:solidFill>
                          <a:latin typeface="+mn-lt"/>
                          <a:ea typeface="+mn-ea"/>
                          <a:cs typeface="+mn-cs"/>
                        </a:rPr>
                        <a:t>3</a:t>
                      </a:r>
                      <a:r>
                        <a:rPr lang="ko-KR" altLang="en-US" sz="1100" kern="1200" dirty="0">
                          <a:solidFill>
                            <a:schemeClr val="tx1"/>
                          </a:solidFill>
                          <a:latin typeface="+mn-lt"/>
                          <a:ea typeface="+mn-ea"/>
                          <a:cs typeface="+mn-cs"/>
                        </a:rPr>
                        <a:t>②</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p>
                      <a:pPr marL="182880" marR="31750" indent="-182880" algn="l" fontAlgn="base" latinLnBrk="1">
                        <a:lnSpc>
                          <a:spcPct val="100000"/>
                        </a:lnSpc>
                        <a:spcBef>
                          <a:spcPts val="0"/>
                        </a:spcBef>
                        <a:spcAft>
                          <a:spcPts val="0"/>
                        </a:spcAft>
                      </a:pPr>
                      <a:r>
                        <a:rPr lang="ko-KR" altLang="en-US" sz="1100" kern="1200" dirty="0">
                          <a:solidFill>
                            <a:schemeClr val="tx1"/>
                          </a:solidFill>
                          <a:latin typeface="+mn-lt"/>
                          <a:ea typeface="+mn-ea"/>
                          <a:cs typeface="+mn-cs"/>
                        </a:rPr>
                        <a:t> ② 정보통신망을 이용하여 제출한 전자문서는 접수번호 확인할 수 있을 때</a:t>
                      </a:r>
                      <a:r>
                        <a:rPr lang="en-US" altLang="ko-KR" sz="1100" kern="1200" dirty="0">
                          <a:solidFill>
                            <a:schemeClr val="tx1"/>
                          </a:solidFill>
                          <a:latin typeface="+mn-lt"/>
                          <a:ea typeface="+mn-ea"/>
                          <a:cs typeface="+mn-cs"/>
                        </a:rPr>
                        <a:t>, </a:t>
                      </a:r>
                      <a:r>
                        <a:rPr lang="ko-KR" altLang="en-US" sz="1100" kern="1200" dirty="0" err="1">
                          <a:solidFill>
                            <a:schemeClr val="tx1"/>
                          </a:solidFill>
                          <a:latin typeface="+mn-lt"/>
                          <a:ea typeface="+mn-ea"/>
                          <a:cs typeface="+mn-cs"/>
                        </a:rPr>
                        <a:t>접수용</a:t>
                      </a:r>
                      <a:r>
                        <a:rPr lang="ko-KR" altLang="en-US" sz="1100" kern="1200" dirty="0">
                          <a:solidFill>
                            <a:schemeClr val="tx1"/>
                          </a:solidFill>
                          <a:latin typeface="+mn-lt"/>
                          <a:ea typeface="+mn-ea"/>
                          <a:cs typeface="+mn-cs"/>
                        </a:rPr>
                        <a:t> 전산정보처리조직의 파일에 기록된 내용으로 접수된 것으로 간주</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法 </a:t>
                      </a:r>
                      <a:r>
                        <a:rPr lang="en-US" altLang="ko-KR" sz="1100" kern="1200" dirty="0">
                          <a:solidFill>
                            <a:schemeClr val="tx1"/>
                          </a:solidFill>
                          <a:latin typeface="+mn-lt"/>
                          <a:ea typeface="+mn-ea"/>
                          <a:cs typeface="+mn-cs"/>
                        </a:rPr>
                        <a:t>28</a:t>
                      </a:r>
                      <a:r>
                        <a:rPr lang="ko-KR" altLang="en-US" sz="1100" kern="1200" dirty="0">
                          <a:solidFill>
                            <a:schemeClr val="tx1"/>
                          </a:solidFill>
                          <a:latin typeface="+mn-lt"/>
                          <a:ea typeface="+mn-ea"/>
                          <a:cs typeface="+mn-cs"/>
                        </a:rPr>
                        <a:t>의</a:t>
                      </a:r>
                      <a:r>
                        <a:rPr lang="en-US" altLang="ko-KR" sz="1100" kern="1200" dirty="0">
                          <a:solidFill>
                            <a:schemeClr val="tx1"/>
                          </a:solidFill>
                          <a:latin typeface="+mn-lt"/>
                          <a:ea typeface="+mn-ea"/>
                          <a:cs typeface="+mn-cs"/>
                        </a:rPr>
                        <a:t>3</a:t>
                      </a:r>
                      <a:r>
                        <a:rPr lang="ko-KR" altLang="en-US" sz="1100" kern="1200" dirty="0">
                          <a:solidFill>
                            <a:schemeClr val="tx1"/>
                          </a:solidFill>
                          <a:latin typeface="+mn-lt"/>
                          <a:ea typeface="+mn-ea"/>
                          <a:cs typeface="+mn-cs"/>
                        </a:rPr>
                        <a:t>③</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144187069"/>
                  </a:ext>
                </a:extLst>
              </a:tr>
              <a:tr h="123391">
                <a:tc gridSpan="3">
                  <a:txBody>
                    <a:bodyPr/>
                    <a:lstStyle/>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수수료의 납부</a:t>
                      </a: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31750" marR="31750" indent="0" algn="l" fontAlgn="base" latinLnBrk="1">
                        <a:lnSpc>
                          <a:spcPct val="100000"/>
                        </a:lnSpc>
                        <a:spcBef>
                          <a:spcPts val="0"/>
                        </a:spcBef>
                        <a:spcAft>
                          <a:spcPts val="0"/>
                        </a:spcAft>
                      </a:pPr>
                      <a:r>
                        <a:rPr lang="en-US" altLang="ko-KR" sz="1100" kern="1200">
                          <a:solidFill>
                            <a:schemeClr val="tx1"/>
                          </a:solidFill>
                          <a:latin typeface="+mn-lt"/>
                          <a:ea typeface="+mn-ea"/>
                          <a:cs typeface="+mn-cs"/>
                        </a:rPr>
                        <a:t>1. </a:t>
                      </a:r>
                      <a:r>
                        <a:rPr lang="ko-KR" altLang="en-US" sz="1100" kern="1200">
                          <a:solidFill>
                            <a:schemeClr val="tx1"/>
                          </a:solidFill>
                          <a:latin typeface="+mn-lt"/>
                          <a:ea typeface="+mn-ea"/>
                          <a:cs typeface="+mn-cs"/>
                        </a:rPr>
                        <a:t>특허에 관한 절차를 밟은 자가 수수료 납부</a:t>
                      </a:r>
                      <a:r>
                        <a:rPr lang="en-US" altLang="ko-KR" sz="1100" kern="1200">
                          <a:solidFill>
                            <a:schemeClr val="tx1"/>
                          </a:solidFill>
                          <a:latin typeface="+mn-lt"/>
                          <a:ea typeface="+mn-ea"/>
                          <a:cs typeface="+mn-cs"/>
                        </a:rPr>
                        <a:t>(</a:t>
                      </a:r>
                      <a:r>
                        <a:rPr lang="ko-KR" altLang="en-US" sz="1100" kern="1200">
                          <a:solidFill>
                            <a:schemeClr val="tx1"/>
                          </a:solidFill>
                          <a:latin typeface="+mn-lt"/>
                          <a:ea typeface="+mn-ea"/>
                          <a:cs typeface="+mn-cs"/>
                        </a:rPr>
                        <a:t>法 </a:t>
                      </a:r>
                      <a:r>
                        <a:rPr lang="en-US" altLang="ko-KR" sz="1100" kern="1200">
                          <a:solidFill>
                            <a:schemeClr val="tx1"/>
                          </a:solidFill>
                          <a:latin typeface="+mn-lt"/>
                          <a:ea typeface="+mn-ea"/>
                          <a:cs typeface="+mn-cs"/>
                        </a:rPr>
                        <a:t>82</a:t>
                      </a:r>
                      <a:r>
                        <a:rPr lang="ko-KR" altLang="en-US" sz="1100" kern="1200">
                          <a:solidFill>
                            <a:schemeClr val="tx1"/>
                          </a:solidFill>
                          <a:latin typeface="+mn-lt"/>
                          <a:ea typeface="+mn-ea"/>
                          <a:cs typeface="+mn-cs"/>
                        </a:rPr>
                        <a:t>①</a:t>
                      </a:r>
                      <a:r>
                        <a:rPr lang="en-US" altLang="ko-KR" sz="1100" kern="1200">
                          <a:solidFill>
                            <a:schemeClr val="tx1"/>
                          </a:solidFill>
                          <a:latin typeface="+mn-lt"/>
                          <a:ea typeface="+mn-ea"/>
                          <a:cs typeface="+mn-cs"/>
                        </a:rPr>
                        <a:t>)</a:t>
                      </a:r>
                      <a:endParaRPr lang="ko-KR" altLang="en-US" sz="1100" kern="1200">
                        <a:solidFill>
                          <a:schemeClr val="tx1"/>
                        </a:solidFill>
                        <a:latin typeface="+mn-lt"/>
                        <a:ea typeface="+mn-ea"/>
                        <a:cs typeface="+mn-cs"/>
                      </a:endParaRPr>
                    </a:p>
                    <a:p>
                      <a:pPr marL="31750" marR="31750" indent="0" algn="l" fontAlgn="base" latinLnBrk="1">
                        <a:lnSpc>
                          <a:spcPct val="100000"/>
                        </a:lnSpc>
                        <a:spcBef>
                          <a:spcPts val="0"/>
                        </a:spcBef>
                        <a:spcAft>
                          <a:spcPts val="0"/>
                        </a:spcAft>
                      </a:pPr>
                      <a:r>
                        <a:rPr lang="en-US" altLang="ko-KR" sz="1100" kern="1200">
                          <a:solidFill>
                            <a:schemeClr val="tx1"/>
                          </a:solidFill>
                          <a:latin typeface="+mn-lt"/>
                          <a:ea typeface="+mn-ea"/>
                          <a:cs typeface="+mn-cs"/>
                        </a:rPr>
                        <a:t>2. </a:t>
                      </a:r>
                      <a:r>
                        <a:rPr lang="ko-KR" altLang="en-US" sz="1100" kern="1200">
                          <a:solidFill>
                            <a:schemeClr val="tx1"/>
                          </a:solidFill>
                          <a:latin typeface="+mn-lt"/>
                          <a:ea typeface="+mn-ea"/>
                          <a:cs typeface="+mn-cs"/>
                        </a:rPr>
                        <a:t>접수번호 부여받아 다음날까지 납부</a:t>
                      </a: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991324930"/>
                  </a:ext>
                </a:extLst>
              </a:tr>
              <a:tr h="65188">
                <a:tc rowSpan="3">
                  <a:txBody>
                    <a:bodyPr/>
                    <a:lstStyle/>
                    <a:p>
                      <a:pPr marL="0" marR="0" indent="0" algn="ctr" fontAlgn="base" latinLnBrk="0">
                        <a:lnSpc>
                          <a:spcPct val="100000"/>
                        </a:lnSpc>
                        <a:spcBef>
                          <a:spcPts val="0"/>
                        </a:spcBef>
                        <a:spcAft>
                          <a:spcPts val="0"/>
                        </a:spcAft>
                      </a:pPr>
                      <a:r>
                        <a:rPr lang="ko-KR" altLang="en-US" sz="1100" b="1" kern="1200" dirty="0" err="1">
                          <a:solidFill>
                            <a:schemeClr val="tx1"/>
                          </a:solidFill>
                          <a:latin typeface="+mn-lt"/>
                          <a:ea typeface="+mn-ea"/>
                          <a:cs typeface="+mn-cs"/>
                        </a:rPr>
                        <a:t>방식심사</a:t>
                      </a:r>
                      <a:endParaRPr lang="ko-KR" altLang="en-US" sz="1100" b="1" kern="1200" dirty="0">
                        <a:solidFill>
                          <a:schemeClr val="tx1"/>
                        </a:solidFill>
                        <a:latin typeface="+mn-lt"/>
                        <a:ea typeface="+mn-ea"/>
                        <a:cs typeface="+mn-cs"/>
                      </a:endParaRP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2">
                  <a:txBody>
                    <a:bodyPr/>
                    <a:lstStyle/>
                    <a:p>
                      <a:pPr marL="0" marR="0" indent="0" algn="ctr" fontAlgn="base" latinLnBrk="0">
                        <a:lnSpc>
                          <a:spcPct val="100000"/>
                        </a:lnSpc>
                        <a:spcBef>
                          <a:spcPts val="0"/>
                        </a:spcBef>
                        <a:spcAft>
                          <a:spcPts val="0"/>
                        </a:spcAft>
                      </a:pPr>
                      <a:r>
                        <a:rPr lang="ko-KR" altLang="en-US" sz="1100" b="1" kern="1200" dirty="0" err="1">
                          <a:solidFill>
                            <a:schemeClr val="tx1"/>
                          </a:solidFill>
                          <a:latin typeface="+mn-lt"/>
                          <a:ea typeface="+mn-ea"/>
                          <a:cs typeface="+mn-cs"/>
                        </a:rPr>
                        <a:t>흠결이</a:t>
                      </a:r>
                      <a:r>
                        <a:rPr lang="ko-KR" altLang="en-US" sz="1100" b="1" kern="1200" dirty="0">
                          <a:solidFill>
                            <a:schemeClr val="tx1"/>
                          </a:solidFill>
                          <a:latin typeface="+mn-lt"/>
                          <a:ea typeface="+mn-ea"/>
                          <a:cs typeface="+mn-cs"/>
                        </a:rPr>
                        <a:t> 없는 경우</a:t>
                      </a: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31750" marR="31750" indent="0" algn="l" fontAlgn="base" latinLnBrk="1">
                        <a:lnSpc>
                          <a:spcPct val="100000"/>
                        </a:lnSpc>
                        <a:spcBef>
                          <a:spcPts val="0"/>
                        </a:spcBef>
                        <a:spcAft>
                          <a:spcPts val="0"/>
                        </a:spcAft>
                      </a:pPr>
                      <a:r>
                        <a:rPr lang="ko-KR" altLang="en-US" sz="1100" kern="1200">
                          <a:solidFill>
                            <a:schemeClr val="tx1"/>
                          </a:solidFill>
                          <a:latin typeface="+mn-lt"/>
                          <a:ea typeface="+mn-ea"/>
                          <a:cs typeface="+mn-cs"/>
                        </a:rPr>
                        <a:t>서류의 수리</a:t>
                      </a: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27766710"/>
                  </a:ext>
                </a:extLst>
              </a:tr>
              <a:tr h="239796">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흠결이 있는 경우</a:t>
                      </a: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1100" b="1" kern="1200" dirty="0" err="1">
                          <a:solidFill>
                            <a:schemeClr val="tx1"/>
                          </a:solidFill>
                          <a:latin typeface="+mn-lt"/>
                          <a:ea typeface="+mn-ea"/>
                          <a:cs typeface="+mn-cs"/>
                        </a:rPr>
                        <a:t>보정가능</a:t>
                      </a:r>
                      <a:endParaRPr lang="en-US" altLang="ko-KR" sz="1100" b="1" kern="1200" dirty="0">
                        <a:solidFill>
                          <a:schemeClr val="tx1"/>
                        </a:solidFill>
                        <a:latin typeface="+mn-lt"/>
                        <a:ea typeface="+mn-ea"/>
                        <a:cs typeface="+mn-cs"/>
                      </a:endParaRPr>
                    </a:p>
                    <a:p>
                      <a:pPr marL="0" marR="0" indent="0" algn="ctr" fontAlgn="base" latinLnBrk="0">
                        <a:lnSpc>
                          <a:spcPct val="100000"/>
                        </a:lnSpc>
                        <a:spcBef>
                          <a:spcPts val="0"/>
                        </a:spcBef>
                        <a:spcAft>
                          <a:spcPts val="0"/>
                        </a:spcAft>
                      </a:pPr>
                      <a:r>
                        <a:rPr lang="en-US" altLang="ko-KR" sz="1100" b="1" kern="1200" dirty="0">
                          <a:solidFill>
                            <a:schemeClr val="tx1"/>
                          </a:solidFill>
                          <a:latin typeface="+mn-lt"/>
                          <a:ea typeface="+mn-ea"/>
                          <a:cs typeface="+mn-cs"/>
                        </a:rPr>
                        <a:t>(</a:t>
                      </a:r>
                      <a:r>
                        <a:rPr lang="ko-KR" altLang="en-US" sz="1100" b="1" kern="1200" dirty="0">
                          <a:solidFill>
                            <a:schemeClr val="tx1"/>
                          </a:solidFill>
                          <a:latin typeface="+mn-lt"/>
                          <a:ea typeface="+mn-ea"/>
                          <a:cs typeface="+mn-cs"/>
                        </a:rPr>
                        <a:t>法 </a:t>
                      </a:r>
                      <a:r>
                        <a:rPr lang="en-US" altLang="ko-KR" sz="1100" b="1" kern="1200" dirty="0">
                          <a:solidFill>
                            <a:schemeClr val="tx1"/>
                          </a:solidFill>
                          <a:latin typeface="+mn-lt"/>
                          <a:ea typeface="+mn-ea"/>
                          <a:cs typeface="+mn-cs"/>
                        </a:rPr>
                        <a:t>46)</a:t>
                      </a:r>
                      <a:r>
                        <a:rPr lang="ko-KR" altLang="en-US" sz="1100" b="1" kern="1200" dirty="0">
                          <a:solidFill>
                            <a:schemeClr val="tx1"/>
                          </a:solidFill>
                          <a:latin typeface="+mn-lt"/>
                          <a:ea typeface="+mn-ea"/>
                          <a:cs typeface="+mn-cs"/>
                        </a:rPr>
                        <a:t>한 경미한</a:t>
                      </a:r>
                      <a:endParaRPr lang="en-US" altLang="ko-KR" sz="1100" b="1" kern="1200" dirty="0">
                        <a:solidFill>
                          <a:schemeClr val="tx1"/>
                        </a:solidFill>
                        <a:latin typeface="+mn-lt"/>
                        <a:ea typeface="+mn-ea"/>
                        <a:cs typeface="+mn-cs"/>
                      </a:endParaRPr>
                    </a:p>
                    <a:p>
                      <a:pPr marL="0" marR="0" indent="0" algn="ctr" fontAlgn="base" latinLnBrk="0">
                        <a:lnSpc>
                          <a:spcPct val="100000"/>
                        </a:lnSpc>
                        <a:spcBef>
                          <a:spcPts val="0"/>
                        </a:spcBef>
                        <a:spcAft>
                          <a:spcPts val="0"/>
                        </a:spcAft>
                      </a:pPr>
                      <a:r>
                        <a:rPr lang="ko-KR" altLang="en-US" sz="1100" b="1" kern="1200" dirty="0">
                          <a:solidFill>
                            <a:schemeClr val="tx1"/>
                          </a:solidFill>
                          <a:latin typeface="+mn-lt"/>
                          <a:ea typeface="+mn-ea"/>
                          <a:cs typeface="+mn-cs"/>
                        </a:rPr>
                        <a:t> </a:t>
                      </a:r>
                      <a:r>
                        <a:rPr lang="ko-KR" altLang="en-US" sz="1100" b="1" kern="1200" dirty="0" err="1">
                          <a:solidFill>
                            <a:schemeClr val="tx1"/>
                          </a:solidFill>
                          <a:latin typeface="+mn-lt"/>
                          <a:ea typeface="+mn-ea"/>
                          <a:cs typeface="+mn-cs"/>
                        </a:rPr>
                        <a:t>흠결의</a:t>
                      </a:r>
                      <a:r>
                        <a:rPr lang="ko-KR" altLang="en-US" sz="1100" b="1" kern="1200" dirty="0">
                          <a:solidFill>
                            <a:schemeClr val="tx1"/>
                          </a:solidFill>
                          <a:latin typeface="+mn-lt"/>
                          <a:ea typeface="+mn-ea"/>
                          <a:cs typeface="+mn-cs"/>
                        </a:rPr>
                        <a:t> 경우</a:t>
                      </a: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31750" marR="31750" indent="0" algn="l" fontAlgn="base" latinLnBrk="1">
                        <a:lnSpc>
                          <a:spcPct val="100000"/>
                        </a:lnSpc>
                        <a:spcBef>
                          <a:spcPts val="0"/>
                        </a:spcBef>
                        <a:spcAft>
                          <a:spcPts val="0"/>
                        </a:spcAft>
                      </a:pPr>
                      <a:r>
                        <a:rPr lang="en-US" altLang="ko-KR" sz="1100" kern="1200" dirty="0">
                          <a:solidFill>
                            <a:schemeClr val="tx1"/>
                          </a:solidFill>
                          <a:latin typeface="+mn-lt"/>
                          <a:ea typeface="+mn-ea"/>
                          <a:cs typeface="+mn-cs"/>
                        </a:rPr>
                        <a:t>1. </a:t>
                      </a:r>
                      <a:r>
                        <a:rPr lang="ko-KR" altLang="en-US" sz="1100" kern="1200" dirty="0">
                          <a:solidFill>
                            <a:schemeClr val="tx1"/>
                          </a:solidFill>
                          <a:latin typeface="+mn-lt"/>
                          <a:ea typeface="+mn-ea"/>
                          <a:cs typeface="+mn-cs"/>
                        </a:rPr>
                        <a:t>일단 수리 후 보정명령</a:t>
                      </a:r>
                    </a:p>
                    <a:p>
                      <a:pPr marL="31750" marR="31750" indent="0" algn="l" fontAlgn="base" latinLnBrk="1">
                        <a:lnSpc>
                          <a:spcPct val="100000"/>
                        </a:lnSpc>
                        <a:spcBef>
                          <a:spcPts val="0"/>
                        </a:spcBef>
                        <a:spcAft>
                          <a:spcPts val="0"/>
                        </a:spcAft>
                      </a:pPr>
                      <a:r>
                        <a:rPr lang="en-US" altLang="ko-KR" sz="1100" kern="1200" dirty="0">
                          <a:solidFill>
                            <a:schemeClr val="tx1"/>
                          </a:solidFill>
                          <a:latin typeface="+mn-lt"/>
                          <a:ea typeface="+mn-ea"/>
                          <a:cs typeface="+mn-cs"/>
                        </a:rPr>
                        <a:t>2. </a:t>
                      </a:r>
                      <a:r>
                        <a:rPr lang="ko-KR" altLang="en-US" sz="1100" kern="1200" dirty="0">
                          <a:solidFill>
                            <a:schemeClr val="tx1"/>
                          </a:solidFill>
                          <a:latin typeface="+mn-lt"/>
                          <a:ea typeface="+mn-ea"/>
                          <a:cs typeface="+mn-cs"/>
                        </a:rPr>
                        <a:t>보정에 의하여 하자가 치유된 경우 </a:t>
                      </a:r>
                      <a:r>
                        <a:rPr lang="en-US" altLang="ko-KR" sz="1100" kern="1200" dirty="0">
                          <a:solidFill>
                            <a:schemeClr val="tx1"/>
                          </a:solidFill>
                          <a:latin typeface="+mn-lt"/>
                          <a:ea typeface="+mn-ea"/>
                          <a:cs typeface="+mn-cs"/>
                        </a:rPr>
                        <a:t>- </a:t>
                      </a:r>
                      <a:r>
                        <a:rPr lang="ko-KR" altLang="en-US" sz="1100" kern="1200" dirty="0">
                          <a:solidFill>
                            <a:schemeClr val="tx1"/>
                          </a:solidFill>
                          <a:latin typeface="+mn-lt"/>
                          <a:ea typeface="+mn-ea"/>
                          <a:cs typeface="+mn-cs"/>
                        </a:rPr>
                        <a:t>소급효</a:t>
                      </a:r>
                    </a:p>
                    <a:p>
                      <a:pPr marL="125730" marR="31750" indent="-125730" algn="l" fontAlgn="base" latinLnBrk="1">
                        <a:lnSpc>
                          <a:spcPct val="100000"/>
                        </a:lnSpc>
                        <a:spcBef>
                          <a:spcPts val="0"/>
                        </a:spcBef>
                        <a:spcAft>
                          <a:spcPts val="0"/>
                        </a:spcAft>
                      </a:pPr>
                      <a:r>
                        <a:rPr lang="en-US" altLang="ko-KR" sz="1100" kern="1200" dirty="0">
                          <a:solidFill>
                            <a:schemeClr val="tx1"/>
                          </a:solidFill>
                          <a:latin typeface="+mn-lt"/>
                          <a:ea typeface="+mn-ea"/>
                          <a:cs typeface="+mn-cs"/>
                        </a:rPr>
                        <a:t> 3. </a:t>
                      </a:r>
                      <a:r>
                        <a:rPr lang="ko-KR" altLang="en-US" sz="1100" kern="1200" dirty="0">
                          <a:solidFill>
                            <a:schemeClr val="tx1"/>
                          </a:solidFill>
                          <a:latin typeface="+mn-lt"/>
                          <a:ea typeface="+mn-ea"/>
                          <a:cs typeface="+mn-cs"/>
                        </a:rPr>
                        <a:t>보정에 의하여 하자가 치유되지 아니한 경우 </a:t>
                      </a:r>
                      <a:r>
                        <a:rPr lang="en-US" altLang="ko-KR" sz="1100" kern="1200" dirty="0">
                          <a:solidFill>
                            <a:schemeClr val="tx1"/>
                          </a:solidFill>
                          <a:latin typeface="+mn-lt"/>
                          <a:ea typeface="+mn-ea"/>
                          <a:cs typeface="+mn-cs"/>
                        </a:rPr>
                        <a:t>- </a:t>
                      </a:r>
                      <a:r>
                        <a:rPr lang="ko-KR" altLang="en-US" sz="1100" kern="1200" dirty="0">
                          <a:solidFill>
                            <a:schemeClr val="tx1"/>
                          </a:solidFill>
                          <a:latin typeface="+mn-lt"/>
                          <a:ea typeface="+mn-ea"/>
                          <a:cs typeface="+mn-cs"/>
                        </a:rPr>
                        <a:t>해당 보정을 명한 특허에 관한 절차를 무효</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재량</a:t>
                      </a:r>
                      <a:r>
                        <a:rPr lang="en-US" altLang="ko-KR" sz="1100" kern="1200" dirty="0">
                          <a:solidFill>
                            <a:schemeClr val="tx1"/>
                          </a:solidFill>
                          <a:latin typeface="+mn-lt"/>
                          <a:ea typeface="+mn-ea"/>
                          <a:cs typeface="+mn-cs"/>
                        </a:rPr>
                        <a:t>) </a:t>
                      </a:r>
                      <a:endParaRPr lang="ko-KR" altLang="en-US" sz="1100" kern="1200" dirty="0">
                        <a:solidFill>
                          <a:schemeClr val="tx1"/>
                        </a:solidFill>
                        <a:latin typeface="+mn-lt"/>
                        <a:ea typeface="+mn-ea"/>
                        <a:cs typeface="+mn-cs"/>
                      </a:endParaRP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266956973"/>
                  </a:ext>
                </a:extLst>
              </a:tr>
              <a:tr h="414403">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100" b="1" kern="1200" dirty="0" err="1">
                          <a:solidFill>
                            <a:schemeClr val="tx1"/>
                          </a:solidFill>
                          <a:latin typeface="+mn-lt"/>
                          <a:ea typeface="+mn-ea"/>
                          <a:cs typeface="+mn-cs"/>
                        </a:rPr>
                        <a:t>보정불가능</a:t>
                      </a:r>
                      <a:endParaRPr lang="en-US" altLang="ko-KR" sz="1100" b="1" kern="1200" dirty="0">
                        <a:solidFill>
                          <a:schemeClr val="tx1"/>
                        </a:solidFill>
                        <a:latin typeface="+mn-lt"/>
                        <a:ea typeface="+mn-ea"/>
                        <a:cs typeface="+mn-cs"/>
                      </a:endParaRPr>
                    </a:p>
                    <a:p>
                      <a:pPr marL="0" marR="0" indent="0" algn="ctr" fontAlgn="base" latinLnBrk="0">
                        <a:lnSpc>
                          <a:spcPct val="100000"/>
                        </a:lnSpc>
                        <a:spcBef>
                          <a:spcPts val="0"/>
                        </a:spcBef>
                        <a:spcAft>
                          <a:spcPts val="0"/>
                        </a:spcAft>
                      </a:pPr>
                      <a:r>
                        <a:rPr lang="en-US" altLang="ko-KR" sz="1100" b="1" kern="1200" dirty="0">
                          <a:solidFill>
                            <a:schemeClr val="tx1"/>
                          </a:solidFill>
                          <a:latin typeface="+mn-lt"/>
                          <a:ea typeface="+mn-ea"/>
                          <a:cs typeface="+mn-cs"/>
                        </a:rPr>
                        <a:t>(</a:t>
                      </a:r>
                      <a:r>
                        <a:rPr lang="ko-KR" altLang="en-US" sz="1100" b="1" kern="1200" dirty="0">
                          <a:solidFill>
                            <a:schemeClr val="tx1"/>
                          </a:solidFill>
                          <a:latin typeface="+mn-lt"/>
                          <a:ea typeface="+mn-ea"/>
                          <a:cs typeface="+mn-cs"/>
                        </a:rPr>
                        <a:t>施規 </a:t>
                      </a:r>
                      <a:r>
                        <a:rPr lang="en-US" altLang="ko-KR" sz="1100" b="1" kern="1200" dirty="0">
                          <a:solidFill>
                            <a:schemeClr val="tx1"/>
                          </a:solidFill>
                          <a:latin typeface="+mn-lt"/>
                          <a:ea typeface="+mn-ea"/>
                          <a:cs typeface="+mn-cs"/>
                        </a:rPr>
                        <a:t>11)</a:t>
                      </a:r>
                      <a:r>
                        <a:rPr lang="ko-KR" altLang="en-US" sz="1100" b="1" kern="1200" dirty="0">
                          <a:solidFill>
                            <a:schemeClr val="tx1"/>
                          </a:solidFill>
                          <a:latin typeface="+mn-lt"/>
                          <a:ea typeface="+mn-ea"/>
                          <a:cs typeface="+mn-cs"/>
                        </a:rPr>
                        <a:t>한 중대한 </a:t>
                      </a:r>
                      <a:endParaRPr lang="en-US" altLang="ko-KR" sz="1100" b="1" kern="1200" dirty="0">
                        <a:solidFill>
                          <a:schemeClr val="tx1"/>
                        </a:solidFill>
                        <a:latin typeface="+mn-lt"/>
                        <a:ea typeface="+mn-ea"/>
                        <a:cs typeface="+mn-cs"/>
                      </a:endParaRPr>
                    </a:p>
                    <a:p>
                      <a:pPr marL="0" marR="0" indent="0" algn="ctr" fontAlgn="base" latinLnBrk="0">
                        <a:lnSpc>
                          <a:spcPct val="100000"/>
                        </a:lnSpc>
                        <a:spcBef>
                          <a:spcPts val="0"/>
                        </a:spcBef>
                        <a:spcAft>
                          <a:spcPts val="0"/>
                        </a:spcAft>
                      </a:pPr>
                      <a:r>
                        <a:rPr lang="ko-KR" altLang="en-US" sz="1100" b="1" kern="1200" dirty="0" err="1">
                          <a:solidFill>
                            <a:schemeClr val="tx1"/>
                          </a:solidFill>
                          <a:latin typeface="+mn-lt"/>
                          <a:ea typeface="+mn-ea"/>
                          <a:cs typeface="+mn-cs"/>
                        </a:rPr>
                        <a:t>흠결의</a:t>
                      </a:r>
                      <a:r>
                        <a:rPr lang="ko-KR" altLang="en-US" sz="1100" b="1" kern="1200" dirty="0">
                          <a:solidFill>
                            <a:schemeClr val="tx1"/>
                          </a:solidFill>
                          <a:latin typeface="+mn-lt"/>
                          <a:ea typeface="+mn-ea"/>
                          <a:cs typeface="+mn-cs"/>
                        </a:rPr>
                        <a:t> 경우</a:t>
                      </a: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31750" marR="31750" indent="0" algn="l" fontAlgn="base" latinLnBrk="1">
                        <a:lnSpc>
                          <a:spcPct val="100000"/>
                        </a:lnSpc>
                        <a:spcBef>
                          <a:spcPts val="0"/>
                        </a:spcBef>
                        <a:spcAft>
                          <a:spcPts val="0"/>
                        </a:spcAft>
                      </a:pPr>
                      <a:r>
                        <a:rPr lang="en-US" altLang="ko-KR" sz="1100" kern="1200" dirty="0">
                          <a:solidFill>
                            <a:schemeClr val="tx1"/>
                          </a:solidFill>
                          <a:latin typeface="+mn-lt"/>
                          <a:ea typeface="+mn-ea"/>
                          <a:cs typeface="+mn-cs"/>
                        </a:rPr>
                        <a:t>1. </a:t>
                      </a:r>
                      <a:r>
                        <a:rPr lang="ko-KR" altLang="en-US" sz="1100" kern="1200" dirty="0">
                          <a:solidFill>
                            <a:schemeClr val="tx1"/>
                          </a:solidFill>
                          <a:latin typeface="+mn-lt"/>
                          <a:ea typeface="+mn-ea"/>
                          <a:cs typeface="+mn-cs"/>
                        </a:rPr>
                        <a:t>수리하지 않고 소명기회부여</a:t>
                      </a:r>
                    </a:p>
                    <a:p>
                      <a:pPr marL="31750" marR="31750" indent="0" algn="l" fontAlgn="base" latinLnBrk="1">
                        <a:lnSpc>
                          <a:spcPct val="100000"/>
                        </a:lnSpc>
                        <a:spcBef>
                          <a:spcPts val="0"/>
                        </a:spcBef>
                        <a:spcAft>
                          <a:spcPts val="0"/>
                        </a:spcAft>
                      </a:pPr>
                      <a:r>
                        <a:rPr lang="en-US" altLang="ko-KR" sz="1100" kern="1200" dirty="0">
                          <a:solidFill>
                            <a:schemeClr val="tx1"/>
                          </a:solidFill>
                          <a:latin typeface="+mn-lt"/>
                          <a:ea typeface="+mn-ea"/>
                          <a:cs typeface="+mn-cs"/>
                        </a:rPr>
                        <a:t>2. </a:t>
                      </a:r>
                      <a:r>
                        <a:rPr lang="ko-KR" altLang="en-US" sz="1100" kern="1200" dirty="0">
                          <a:solidFill>
                            <a:schemeClr val="tx1"/>
                          </a:solidFill>
                          <a:latin typeface="+mn-lt"/>
                          <a:ea typeface="+mn-ea"/>
                          <a:cs typeface="+mn-cs"/>
                        </a:rPr>
                        <a:t>소명에 의하여 하자가 치유된 경우 </a:t>
                      </a:r>
                      <a:r>
                        <a:rPr lang="en-US" altLang="ko-KR" sz="1100" kern="1200" dirty="0">
                          <a:solidFill>
                            <a:schemeClr val="tx1"/>
                          </a:solidFill>
                          <a:latin typeface="+mn-lt"/>
                          <a:ea typeface="+mn-ea"/>
                          <a:cs typeface="+mn-cs"/>
                        </a:rPr>
                        <a:t>- </a:t>
                      </a:r>
                      <a:r>
                        <a:rPr lang="ko-KR" altLang="en-US" sz="1100" kern="1200" dirty="0">
                          <a:solidFill>
                            <a:schemeClr val="tx1"/>
                          </a:solidFill>
                          <a:latin typeface="+mn-lt"/>
                          <a:ea typeface="+mn-ea"/>
                          <a:cs typeface="+mn-cs"/>
                        </a:rPr>
                        <a:t>처음 서류를 제출한 때 기준으로 수리</a:t>
                      </a:r>
                    </a:p>
                    <a:p>
                      <a:pPr marL="31750" marR="31750" indent="0" algn="l" fontAlgn="base" latinLnBrk="1">
                        <a:lnSpc>
                          <a:spcPct val="100000"/>
                        </a:lnSpc>
                        <a:spcBef>
                          <a:spcPts val="0"/>
                        </a:spcBef>
                        <a:spcAft>
                          <a:spcPts val="0"/>
                        </a:spcAft>
                      </a:pPr>
                      <a:r>
                        <a:rPr lang="en-US" altLang="ko-KR" sz="1100" kern="1200" dirty="0">
                          <a:solidFill>
                            <a:schemeClr val="tx1"/>
                          </a:solidFill>
                          <a:latin typeface="+mn-lt"/>
                          <a:ea typeface="+mn-ea"/>
                          <a:cs typeface="+mn-cs"/>
                        </a:rPr>
                        <a:t>3. </a:t>
                      </a:r>
                      <a:r>
                        <a:rPr lang="ko-KR" altLang="en-US" sz="1100" kern="1200" dirty="0">
                          <a:solidFill>
                            <a:schemeClr val="tx1"/>
                          </a:solidFill>
                          <a:latin typeface="+mn-lt"/>
                          <a:ea typeface="+mn-ea"/>
                          <a:cs typeface="+mn-cs"/>
                        </a:rPr>
                        <a:t>소명에 의하여 하자가 치유되지 아니한 경우 </a:t>
                      </a:r>
                    </a:p>
                    <a:p>
                      <a:pPr marL="166370" marR="31750" indent="-166370" algn="l" fontAlgn="base" latinLnBrk="1">
                        <a:lnSpc>
                          <a:spcPct val="100000"/>
                        </a:lnSpc>
                        <a:spcBef>
                          <a:spcPts val="0"/>
                        </a:spcBef>
                        <a:spcAft>
                          <a:spcPts val="0"/>
                        </a:spcAft>
                      </a:pPr>
                      <a:r>
                        <a:rPr lang="ko-KR" altLang="en-US" sz="1100" kern="1200" dirty="0">
                          <a:solidFill>
                            <a:schemeClr val="tx1"/>
                          </a:solidFill>
                          <a:latin typeface="+mn-lt"/>
                          <a:ea typeface="+mn-ea"/>
                          <a:cs typeface="+mn-cs"/>
                        </a:rPr>
                        <a:t> ① </a:t>
                      </a:r>
                      <a:r>
                        <a:rPr lang="ko-KR" altLang="en-US" sz="1100" kern="1200" dirty="0" err="1">
                          <a:solidFill>
                            <a:schemeClr val="tx1"/>
                          </a:solidFill>
                          <a:latin typeface="+mn-lt"/>
                          <a:ea typeface="+mn-ea"/>
                          <a:cs typeface="+mn-cs"/>
                        </a:rPr>
                        <a:t>반려요청한</a:t>
                      </a:r>
                      <a:r>
                        <a:rPr lang="ko-KR" altLang="en-US" sz="1100" kern="1200" dirty="0">
                          <a:solidFill>
                            <a:schemeClr val="tx1"/>
                          </a:solidFill>
                          <a:latin typeface="+mn-lt"/>
                          <a:ea typeface="+mn-ea"/>
                          <a:cs typeface="+mn-cs"/>
                        </a:rPr>
                        <a:t> 경우 </a:t>
                      </a:r>
                      <a:r>
                        <a:rPr lang="en-US" altLang="ko-KR" sz="1100" kern="1200" dirty="0">
                          <a:solidFill>
                            <a:schemeClr val="tx1"/>
                          </a:solidFill>
                          <a:latin typeface="+mn-lt"/>
                          <a:ea typeface="+mn-ea"/>
                          <a:cs typeface="+mn-cs"/>
                        </a:rPr>
                        <a:t>- </a:t>
                      </a:r>
                      <a:r>
                        <a:rPr lang="ko-KR" altLang="en-US" sz="1100" kern="1200" dirty="0">
                          <a:solidFill>
                            <a:schemeClr val="tx1"/>
                          </a:solidFill>
                          <a:latin typeface="+mn-lt"/>
                          <a:ea typeface="+mn-ea"/>
                          <a:cs typeface="+mn-cs"/>
                        </a:rPr>
                        <a:t>소명기간내라도 즉시 해당 소명기회를 준 특허에 관한 절차를 </a:t>
                      </a:r>
                      <a:r>
                        <a:rPr lang="ko-KR" altLang="en-US" sz="1100" kern="1200" dirty="0" err="1">
                          <a:solidFill>
                            <a:schemeClr val="tx1"/>
                          </a:solidFill>
                          <a:latin typeface="+mn-lt"/>
                          <a:ea typeface="+mn-ea"/>
                          <a:cs typeface="+mn-cs"/>
                        </a:rPr>
                        <a:t>불수리</a:t>
                      </a:r>
                      <a:r>
                        <a:rPr lang="en-US" altLang="ko-KR" sz="1100" kern="1200" dirty="0">
                          <a:solidFill>
                            <a:schemeClr val="tx1"/>
                          </a:solidFill>
                          <a:latin typeface="+mn-lt"/>
                          <a:ea typeface="+mn-ea"/>
                          <a:cs typeface="+mn-cs"/>
                        </a:rPr>
                        <a:t>(</a:t>
                      </a:r>
                      <a:r>
                        <a:rPr lang="ko-KR" altLang="en-US" sz="1100" kern="1200" dirty="0" err="1">
                          <a:solidFill>
                            <a:schemeClr val="tx1"/>
                          </a:solidFill>
                          <a:latin typeface="+mn-lt"/>
                          <a:ea typeface="+mn-ea"/>
                          <a:cs typeface="+mn-cs"/>
                        </a:rPr>
                        <a:t>기속</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p>
                      <a:pPr marL="163830" marR="31750" indent="-163830" algn="l" fontAlgn="base" latinLnBrk="1">
                        <a:lnSpc>
                          <a:spcPct val="100000"/>
                        </a:lnSpc>
                        <a:spcBef>
                          <a:spcPts val="0"/>
                        </a:spcBef>
                        <a:spcAft>
                          <a:spcPts val="0"/>
                        </a:spcAft>
                      </a:pPr>
                      <a:r>
                        <a:rPr lang="ko-KR" altLang="en-US" sz="1100" kern="1200" dirty="0">
                          <a:solidFill>
                            <a:schemeClr val="tx1"/>
                          </a:solidFill>
                          <a:latin typeface="+mn-lt"/>
                          <a:ea typeface="+mn-ea"/>
                          <a:cs typeface="+mn-cs"/>
                        </a:rPr>
                        <a:t> ② </a:t>
                      </a:r>
                      <a:r>
                        <a:rPr lang="ko-KR" altLang="en-US" sz="1100" kern="1200" dirty="0" err="1">
                          <a:solidFill>
                            <a:schemeClr val="tx1"/>
                          </a:solidFill>
                          <a:latin typeface="+mn-lt"/>
                          <a:ea typeface="+mn-ea"/>
                          <a:cs typeface="+mn-cs"/>
                        </a:rPr>
                        <a:t>반려요청을</a:t>
                      </a:r>
                      <a:r>
                        <a:rPr lang="ko-KR" altLang="en-US" sz="1100" kern="1200" dirty="0">
                          <a:solidFill>
                            <a:schemeClr val="tx1"/>
                          </a:solidFill>
                          <a:latin typeface="+mn-lt"/>
                          <a:ea typeface="+mn-ea"/>
                          <a:cs typeface="+mn-cs"/>
                        </a:rPr>
                        <a:t> 하지 아니한 경우 </a:t>
                      </a:r>
                      <a:r>
                        <a:rPr lang="en-US" altLang="ko-KR" sz="1100" kern="1200" dirty="0">
                          <a:solidFill>
                            <a:schemeClr val="tx1"/>
                          </a:solidFill>
                          <a:latin typeface="+mn-lt"/>
                          <a:ea typeface="+mn-ea"/>
                          <a:cs typeface="+mn-cs"/>
                        </a:rPr>
                        <a:t>- </a:t>
                      </a:r>
                      <a:r>
                        <a:rPr lang="ko-KR" altLang="en-US" sz="1100" kern="1200" dirty="0" err="1">
                          <a:solidFill>
                            <a:schemeClr val="tx1"/>
                          </a:solidFill>
                          <a:latin typeface="+mn-lt"/>
                          <a:ea typeface="+mn-ea"/>
                          <a:cs typeface="+mn-cs"/>
                        </a:rPr>
                        <a:t>소명기간</a:t>
                      </a:r>
                      <a:r>
                        <a:rPr lang="ko-KR" altLang="en-US" sz="1100" kern="1200" dirty="0">
                          <a:solidFill>
                            <a:schemeClr val="tx1"/>
                          </a:solidFill>
                          <a:latin typeface="+mn-lt"/>
                          <a:ea typeface="+mn-ea"/>
                          <a:cs typeface="+mn-cs"/>
                        </a:rPr>
                        <a:t> </a:t>
                      </a:r>
                      <a:r>
                        <a:rPr lang="ko-KR" altLang="en-US" sz="1100" kern="1200" dirty="0" err="1">
                          <a:solidFill>
                            <a:schemeClr val="tx1"/>
                          </a:solidFill>
                          <a:latin typeface="+mn-lt"/>
                          <a:ea typeface="+mn-ea"/>
                          <a:cs typeface="+mn-cs"/>
                        </a:rPr>
                        <a:t>경과후</a:t>
                      </a:r>
                      <a:r>
                        <a:rPr lang="ko-KR" altLang="en-US" sz="1100" kern="1200" dirty="0">
                          <a:solidFill>
                            <a:schemeClr val="tx1"/>
                          </a:solidFill>
                          <a:latin typeface="+mn-lt"/>
                          <a:ea typeface="+mn-ea"/>
                          <a:cs typeface="+mn-cs"/>
                        </a:rPr>
                        <a:t> 해당 소명기회를 준 특허에 관한 절차를 </a:t>
                      </a:r>
                      <a:r>
                        <a:rPr lang="ko-KR" altLang="en-US" sz="1100" kern="1200" dirty="0" err="1">
                          <a:solidFill>
                            <a:schemeClr val="tx1"/>
                          </a:solidFill>
                          <a:latin typeface="+mn-lt"/>
                          <a:ea typeface="+mn-ea"/>
                          <a:cs typeface="+mn-cs"/>
                        </a:rPr>
                        <a:t>불수리</a:t>
                      </a:r>
                      <a:r>
                        <a:rPr lang="en-US" altLang="ko-KR" sz="1100" kern="1200" dirty="0">
                          <a:solidFill>
                            <a:schemeClr val="tx1"/>
                          </a:solidFill>
                          <a:latin typeface="+mn-lt"/>
                          <a:ea typeface="+mn-ea"/>
                          <a:cs typeface="+mn-cs"/>
                        </a:rPr>
                        <a:t>(</a:t>
                      </a:r>
                      <a:r>
                        <a:rPr lang="ko-KR" altLang="en-US" sz="1100" kern="1200" dirty="0" err="1">
                          <a:solidFill>
                            <a:schemeClr val="tx1"/>
                          </a:solidFill>
                          <a:latin typeface="+mn-lt"/>
                          <a:ea typeface="+mn-ea"/>
                          <a:cs typeface="+mn-cs"/>
                        </a:rPr>
                        <a:t>기속</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14268" marR="14268" marT="14268" marB="14268"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096786618"/>
                  </a:ext>
                </a:extLst>
              </a:tr>
            </a:tbl>
          </a:graphicData>
        </a:graphic>
      </p:graphicFrame>
      <p:sp>
        <p:nvSpPr>
          <p:cNvPr id="6" name="직사각형 5"/>
          <p:cNvSpPr/>
          <p:nvPr/>
        </p:nvSpPr>
        <p:spPr>
          <a:xfrm>
            <a:off x="8178800" y="990600"/>
            <a:ext cx="990600" cy="48260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고유번호 부여</a:t>
            </a:r>
          </a:p>
        </p:txBody>
      </p:sp>
      <p:sp>
        <p:nvSpPr>
          <p:cNvPr id="28" name="직사각형 27"/>
          <p:cNvSpPr/>
          <p:nvPr/>
        </p:nvSpPr>
        <p:spPr>
          <a:xfrm>
            <a:off x="8178800" y="2044700"/>
            <a:ext cx="990600" cy="482600"/>
          </a:xfrm>
          <a:prstGeom prst="rect">
            <a:avLst/>
          </a:prstGeom>
          <a:solidFill>
            <a:schemeClr val="accent5">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특허출원</a:t>
            </a:r>
          </a:p>
        </p:txBody>
      </p:sp>
      <p:sp>
        <p:nvSpPr>
          <p:cNvPr id="29" name="직사각형 28"/>
          <p:cNvSpPr/>
          <p:nvPr/>
        </p:nvSpPr>
        <p:spPr>
          <a:xfrm>
            <a:off x="8178800" y="3814094"/>
            <a:ext cx="990600" cy="482600"/>
          </a:xfrm>
          <a:prstGeom prst="rect">
            <a:avLst/>
          </a:prstGeom>
          <a:solidFill>
            <a:schemeClr val="bg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심사청구</a:t>
            </a:r>
          </a:p>
        </p:txBody>
      </p:sp>
      <p:sp>
        <p:nvSpPr>
          <p:cNvPr id="31" name="직사각형 30"/>
          <p:cNvSpPr/>
          <p:nvPr/>
        </p:nvSpPr>
        <p:spPr>
          <a:xfrm>
            <a:off x="8178800" y="5524082"/>
            <a:ext cx="990600" cy="482600"/>
          </a:xfrm>
          <a:prstGeom prst="rect">
            <a:avLst/>
          </a:prstGeom>
          <a:solidFill>
            <a:schemeClr val="accent6">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보정</a:t>
            </a:r>
          </a:p>
        </p:txBody>
      </p:sp>
      <p:cxnSp>
        <p:nvCxnSpPr>
          <p:cNvPr id="8" name="직선 화살표 연결선 7"/>
          <p:cNvCxnSpPr>
            <a:stCxn id="6" idx="2"/>
            <a:endCxn id="28" idx="0"/>
          </p:cNvCxnSpPr>
          <p:nvPr/>
        </p:nvCxnSpPr>
        <p:spPr>
          <a:xfrm>
            <a:off x="8674100" y="1473200"/>
            <a:ext cx="0" cy="57150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 name="직선 화살표 연결선 9"/>
          <p:cNvCxnSpPr>
            <a:stCxn id="28" idx="2"/>
            <a:endCxn id="29" idx="0"/>
          </p:cNvCxnSpPr>
          <p:nvPr/>
        </p:nvCxnSpPr>
        <p:spPr>
          <a:xfrm>
            <a:off x="8674100" y="2527300"/>
            <a:ext cx="0" cy="1286794"/>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 name="직선 화살표 연결선 11"/>
          <p:cNvCxnSpPr>
            <a:stCxn id="29" idx="2"/>
            <a:endCxn id="31" idx="0"/>
          </p:cNvCxnSpPr>
          <p:nvPr/>
        </p:nvCxnSpPr>
        <p:spPr>
          <a:xfrm>
            <a:off x="8674100" y="4296694"/>
            <a:ext cx="0" cy="1227388"/>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직사각형 41"/>
          <p:cNvSpPr/>
          <p:nvPr/>
        </p:nvSpPr>
        <p:spPr>
          <a:xfrm>
            <a:off x="10033000" y="1498600"/>
            <a:ext cx="1689100" cy="317500"/>
          </a:xfrm>
          <a:prstGeom prst="rect">
            <a:avLst/>
          </a:prstGeom>
          <a:solidFill>
            <a:schemeClr val="accent5">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출원서류</a:t>
            </a:r>
            <a:r>
              <a:rPr lang="ko-KR" altLang="en-US" sz="1400" dirty="0">
                <a:solidFill>
                  <a:schemeClr val="tx1"/>
                </a:solidFill>
              </a:rPr>
              <a:t> 작성</a:t>
            </a:r>
          </a:p>
        </p:txBody>
      </p:sp>
      <p:sp>
        <p:nvSpPr>
          <p:cNvPr id="43" name="직사각형 42"/>
          <p:cNvSpPr/>
          <p:nvPr/>
        </p:nvSpPr>
        <p:spPr>
          <a:xfrm>
            <a:off x="10033000" y="1930400"/>
            <a:ext cx="1689100" cy="317500"/>
          </a:xfrm>
          <a:prstGeom prst="rect">
            <a:avLst/>
          </a:prstGeom>
          <a:solidFill>
            <a:schemeClr val="accent5">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출원서</a:t>
            </a:r>
            <a:r>
              <a:rPr lang="ko-KR" altLang="en-US" sz="1400" dirty="0">
                <a:solidFill>
                  <a:schemeClr val="tx1"/>
                </a:solidFill>
              </a:rPr>
              <a:t> 제출</a:t>
            </a:r>
          </a:p>
        </p:txBody>
      </p:sp>
      <p:sp>
        <p:nvSpPr>
          <p:cNvPr id="46" name="직사각형 45"/>
          <p:cNvSpPr/>
          <p:nvPr/>
        </p:nvSpPr>
        <p:spPr>
          <a:xfrm>
            <a:off x="10033000" y="2374900"/>
            <a:ext cx="1689100" cy="317500"/>
          </a:xfrm>
          <a:prstGeom prst="rect">
            <a:avLst/>
          </a:prstGeom>
          <a:solidFill>
            <a:schemeClr val="accent5">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출원료</a:t>
            </a:r>
            <a:r>
              <a:rPr lang="ko-KR" altLang="en-US" sz="1400" dirty="0">
                <a:solidFill>
                  <a:schemeClr val="tx1"/>
                </a:solidFill>
              </a:rPr>
              <a:t> 납부</a:t>
            </a:r>
          </a:p>
        </p:txBody>
      </p:sp>
      <p:sp>
        <p:nvSpPr>
          <p:cNvPr id="47" name="직사각형 46"/>
          <p:cNvSpPr/>
          <p:nvPr/>
        </p:nvSpPr>
        <p:spPr>
          <a:xfrm>
            <a:off x="10033000" y="2806700"/>
            <a:ext cx="1689100" cy="317500"/>
          </a:xfrm>
          <a:prstGeom prst="rect">
            <a:avLst/>
          </a:prstGeom>
          <a:solidFill>
            <a:schemeClr val="accent5">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방식심사</a:t>
            </a:r>
            <a:endParaRPr lang="ko-KR" altLang="en-US" sz="1400" dirty="0">
              <a:solidFill>
                <a:schemeClr val="tx1"/>
              </a:solidFill>
            </a:endParaRPr>
          </a:p>
        </p:txBody>
      </p:sp>
      <p:cxnSp>
        <p:nvCxnSpPr>
          <p:cNvPr id="21" name="직선 연결선 20"/>
          <p:cNvCxnSpPr/>
          <p:nvPr/>
        </p:nvCxnSpPr>
        <p:spPr>
          <a:xfrm flipV="1">
            <a:off x="9169400" y="1498600"/>
            <a:ext cx="863600" cy="54610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직선 연결선 49"/>
          <p:cNvCxnSpPr/>
          <p:nvPr/>
        </p:nvCxnSpPr>
        <p:spPr>
          <a:xfrm>
            <a:off x="9169400" y="2511425"/>
            <a:ext cx="863600" cy="612775"/>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직선 연결선 52"/>
          <p:cNvCxnSpPr>
            <a:stCxn id="54" idx="2"/>
            <a:endCxn id="57" idx="0"/>
          </p:cNvCxnSpPr>
          <p:nvPr/>
        </p:nvCxnSpPr>
        <p:spPr>
          <a:xfrm>
            <a:off x="10877550" y="3568491"/>
            <a:ext cx="0" cy="99060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직사각형 53"/>
          <p:cNvSpPr/>
          <p:nvPr/>
        </p:nvSpPr>
        <p:spPr>
          <a:xfrm>
            <a:off x="10033000" y="3250991"/>
            <a:ext cx="1689100" cy="317500"/>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심사청구서</a:t>
            </a:r>
            <a:r>
              <a:rPr lang="ko-KR" altLang="en-US" sz="1400" dirty="0">
                <a:solidFill>
                  <a:schemeClr val="tx1"/>
                </a:solidFill>
              </a:rPr>
              <a:t> 작성</a:t>
            </a:r>
          </a:p>
        </p:txBody>
      </p:sp>
      <p:sp>
        <p:nvSpPr>
          <p:cNvPr id="55" name="직사각형 54"/>
          <p:cNvSpPr/>
          <p:nvPr/>
        </p:nvSpPr>
        <p:spPr>
          <a:xfrm>
            <a:off x="10033000" y="3682791"/>
            <a:ext cx="1689100" cy="317500"/>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심사청구서</a:t>
            </a:r>
            <a:r>
              <a:rPr lang="ko-KR" altLang="en-US" sz="1400" dirty="0">
                <a:solidFill>
                  <a:schemeClr val="tx1"/>
                </a:solidFill>
              </a:rPr>
              <a:t> 제출</a:t>
            </a:r>
          </a:p>
        </p:txBody>
      </p:sp>
      <p:sp>
        <p:nvSpPr>
          <p:cNvPr id="56" name="직사각형 55"/>
          <p:cNvSpPr/>
          <p:nvPr/>
        </p:nvSpPr>
        <p:spPr>
          <a:xfrm>
            <a:off x="10033000" y="4127291"/>
            <a:ext cx="1689100" cy="317500"/>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심사청구료</a:t>
            </a:r>
            <a:r>
              <a:rPr lang="ko-KR" altLang="en-US" sz="1400" dirty="0">
                <a:solidFill>
                  <a:schemeClr val="tx1"/>
                </a:solidFill>
              </a:rPr>
              <a:t> 납부</a:t>
            </a:r>
          </a:p>
        </p:txBody>
      </p:sp>
      <p:sp>
        <p:nvSpPr>
          <p:cNvPr id="57" name="직사각형 56"/>
          <p:cNvSpPr/>
          <p:nvPr/>
        </p:nvSpPr>
        <p:spPr>
          <a:xfrm>
            <a:off x="10033000" y="4559091"/>
            <a:ext cx="1689100" cy="317500"/>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방식심사</a:t>
            </a:r>
            <a:endParaRPr lang="ko-KR" altLang="en-US" sz="1400" dirty="0">
              <a:solidFill>
                <a:schemeClr val="tx1"/>
              </a:solidFill>
            </a:endParaRPr>
          </a:p>
        </p:txBody>
      </p:sp>
      <p:cxnSp>
        <p:nvCxnSpPr>
          <p:cNvPr id="58" name="직선 연결선 57"/>
          <p:cNvCxnSpPr/>
          <p:nvPr/>
        </p:nvCxnSpPr>
        <p:spPr>
          <a:xfrm flipV="1">
            <a:off x="9169400" y="3250991"/>
            <a:ext cx="863600" cy="54610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직선 연결선 58"/>
          <p:cNvCxnSpPr/>
          <p:nvPr/>
        </p:nvCxnSpPr>
        <p:spPr>
          <a:xfrm>
            <a:off x="9169400" y="4263816"/>
            <a:ext cx="863600" cy="612775"/>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직선 연결선 63"/>
          <p:cNvCxnSpPr>
            <a:stCxn id="65" idx="2"/>
            <a:endCxn id="68" idx="0"/>
          </p:cNvCxnSpPr>
          <p:nvPr/>
        </p:nvCxnSpPr>
        <p:spPr>
          <a:xfrm>
            <a:off x="10877550" y="5326313"/>
            <a:ext cx="0" cy="99060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직사각형 64"/>
          <p:cNvSpPr/>
          <p:nvPr/>
        </p:nvSpPr>
        <p:spPr>
          <a:xfrm>
            <a:off x="10033000" y="5008813"/>
            <a:ext cx="1689100" cy="317500"/>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보정서</a:t>
            </a:r>
            <a:r>
              <a:rPr lang="ko-KR" altLang="en-US" sz="1400" dirty="0">
                <a:solidFill>
                  <a:schemeClr val="tx1"/>
                </a:solidFill>
              </a:rPr>
              <a:t> 작성</a:t>
            </a:r>
          </a:p>
        </p:txBody>
      </p:sp>
      <p:sp>
        <p:nvSpPr>
          <p:cNvPr id="66" name="직사각형 65"/>
          <p:cNvSpPr/>
          <p:nvPr/>
        </p:nvSpPr>
        <p:spPr>
          <a:xfrm>
            <a:off x="10033000" y="5440613"/>
            <a:ext cx="1689100" cy="317500"/>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보정서</a:t>
            </a:r>
            <a:r>
              <a:rPr lang="ko-KR" altLang="en-US" sz="1400" dirty="0">
                <a:solidFill>
                  <a:schemeClr val="tx1"/>
                </a:solidFill>
              </a:rPr>
              <a:t> 제출</a:t>
            </a:r>
          </a:p>
        </p:txBody>
      </p:sp>
      <p:sp>
        <p:nvSpPr>
          <p:cNvPr id="67" name="직사각형 66"/>
          <p:cNvSpPr/>
          <p:nvPr/>
        </p:nvSpPr>
        <p:spPr>
          <a:xfrm>
            <a:off x="10033000" y="5885113"/>
            <a:ext cx="1689100" cy="317500"/>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보정료</a:t>
            </a:r>
            <a:r>
              <a:rPr lang="ko-KR" altLang="en-US" sz="1400" dirty="0">
                <a:solidFill>
                  <a:schemeClr val="tx1"/>
                </a:solidFill>
              </a:rPr>
              <a:t> 납부</a:t>
            </a:r>
          </a:p>
        </p:txBody>
      </p:sp>
      <p:sp>
        <p:nvSpPr>
          <p:cNvPr id="68" name="직사각형 67"/>
          <p:cNvSpPr/>
          <p:nvPr/>
        </p:nvSpPr>
        <p:spPr>
          <a:xfrm>
            <a:off x="10033000" y="6316913"/>
            <a:ext cx="1689100" cy="317500"/>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방식심사</a:t>
            </a:r>
            <a:endParaRPr lang="ko-KR" altLang="en-US" sz="1400" dirty="0">
              <a:solidFill>
                <a:schemeClr val="tx1"/>
              </a:solidFill>
            </a:endParaRPr>
          </a:p>
        </p:txBody>
      </p:sp>
      <p:cxnSp>
        <p:nvCxnSpPr>
          <p:cNvPr id="69" name="직선 연결선 68"/>
          <p:cNvCxnSpPr/>
          <p:nvPr/>
        </p:nvCxnSpPr>
        <p:spPr>
          <a:xfrm flipV="1">
            <a:off x="9169400" y="5008813"/>
            <a:ext cx="863600" cy="54610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직선 연결선 69"/>
          <p:cNvCxnSpPr/>
          <p:nvPr/>
        </p:nvCxnSpPr>
        <p:spPr>
          <a:xfrm>
            <a:off x="9169400" y="6021638"/>
            <a:ext cx="863600" cy="612775"/>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237000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16</a:t>
            </a:r>
            <a:r>
              <a:rPr lang="ko-KR" altLang="en-US" dirty="0"/>
              <a:t>조</a:t>
            </a:r>
          </a:p>
        </p:txBody>
      </p:sp>
      <p:sp>
        <p:nvSpPr>
          <p:cNvPr id="4" name="텍스트 개체 틀 3"/>
          <p:cNvSpPr>
            <a:spLocks noGrp="1"/>
          </p:cNvSpPr>
          <p:nvPr>
            <p:ph type="body" sz="quarter" idx="13"/>
          </p:nvPr>
        </p:nvSpPr>
        <p:spPr/>
        <p:txBody>
          <a:bodyPr/>
          <a:lstStyle/>
          <a:p>
            <a:r>
              <a:rPr lang="ko-KR" altLang="en-US" dirty="0"/>
              <a:t>절차의 무효</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39</a:t>
            </a:fld>
            <a:endParaRPr lang="ko-KR" altLang="en-US"/>
          </a:p>
        </p:txBody>
      </p:sp>
      <p:cxnSp>
        <p:nvCxnSpPr>
          <p:cNvPr id="19" name="직선 연결선 18"/>
          <p:cNvCxnSpPr>
            <a:stCxn id="42" idx="2"/>
            <a:endCxn id="47" idx="0"/>
          </p:cNvCxnSpPr>
          <p:nvPr/>
        </p:nvCxnSpPr>
        <p:spPr>
          <a:xfrm>
            <a:off x="3117850" y="2276967"/>
            <a:ext cx="0" cy="842599"/>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 name="직사각형 27"/>
          <p:cNvSpPr/>
          <p:nvPr/>
        </p:nvSpPr>
        <p:spPr>
          <a:xfrm>
            <a:off x="419100" y="2471413"/>
            <a:ext cx="990600" cy="410497"/>
          </a:xfrm>
          <a:prstGeom prst="rect">
            <a:avLst/>
          </a:prstGeom>
          <a:solidFill>
            <a:schemeClr val="accent5">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특허출원</a:t>
            </a:r>
          </a:p>
        </p:txBody>
      </p:sp>
      <p:sp>
        <p:nvSpPr>
          <p:cNvPr id="29" name="직사각형 28"/>
          <p:cNvSpPr/>
          <p:nvPr/>
        </p:nvSpPr>
        <p:spPr>
          <a:xfrm>
            <a:off x="419100" y="3976451"/>
            <a:ext cx="990600" cy="410497"/>
          </a:xfrm>
          <a:prstGeom prst="rect">
            <a:avLst/>
          </a:prstGeom>
          <a:solidFill>
            <a:schemeClr val="bg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심사청구</a:t>
            </a:r>
          </a:p>
        </p:txBody>
      </p:sp>
      <p:sp>
        <p:nvSpPr>
          <p:cNvPr id="31" name="직사각형 30"/>
          <p:cNvSpPr/>
          <p:nvPr/>
        </p:nvSpPr>
        <p:spPr>
          <a:xfrm>
            <a:off x="419100" y="5430958"/>
            <a:ext cx="990600" cy="410497"/>
          </a:xfrm>
          <a:prstGeom prst="rect">
            <a:avLst/>
          </a:prstGeom>
          <a:solidFill>
            <a:schemeClr val="accent6">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보정</a:t>
            </a:r>
          </a:p>
        </p:txBody>
      </p:sp>
      <p:cxnSp>
        <p:nvCxnSpPr>
          <p:cNvPr id="10" name="직선 화살표 연결선 9"/>
          <p:cNvCxnSpPr>
            <a:stCxn id="28" idx="2"/>
            <a:endCxn id="29" idx="0"/>
          </p:cNvCxnSpPr>
          <p:nvPr/>
        </p:nvCxnSpPr>
        <p:spPr>
          <a:xfrm>
            <a:off x="914400" y="2881910"/>
            <a:ext cx="0" cy="1094541"/>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 name="직선 화살표 연결선 11"/>
          <p:cNvCxnSpPr>
            <a:stCxn id="29" idx="2"/>
            <a:endCxn id="31" idx="0"/>
          </p:cNvCxnSpPr>
          <p:nvPr/>
        </p:nvCxnSpPr>
        <p:spPr>
          <a:xfrm>
            <a:off x="914400" y="4386948"/>
            <a:ext cx="0" cy="104401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직사각형 41"/>
          <p:cNvSpPr/>
          <p:nvPr/>
        </p:nvSpPr>
        <p:spPr>
          <a:xfrm>
            <a:off x="2273300" y="2006903"/>
            <a:ext cx="2120900" cy="253697"/>
          </a:xfrm>
          <a:prstGeom prst="rect">
            <a:avLst/>
          </a:prstGeom>
          <a:solidFill>
            <a:schemeClr val="accent5">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출원서류</a:t>
            </a:r>
            <a:r>
              <a:rPr lang="ko-KR" altLang="en-US" sz="1400" dirty="0">
                <a:solidFill>
                  <a:schemeClr val="tx1"/>
                </a:solidFill>
              </a:rPr>
              <a:t> 작성</a:t>
            </a:r>
          </a:p>
        </p:txBody>
      </p:sp>
      <p:sp>
        <p:nvSpPr>
          <p:cNvPr id="43" name="직사각형 42"/>
          <p:cNvSpPr/>
          <p:nvPr/>
        </p:nvSpPr>
        <p:spPr>
          <a:xfrm>
            <a:off x="2273300" y="2374190"/>
            <a:ext cx="2120900" cy="253697"/>
          </a:xfrm>
          <a:prstGeom prst="rect">
            <a:avLst/>
          </a:prstGeom>
          <a:solidFill>
            <a:schemeClr val="accent5">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출원서</a:t>
            </a:r>
            <a:r>
              <a:rPr lang="ko-KR" altLang="en-US" sz="1400" dirty="0">
                <a:solidFill>
                  <a:schemeClr val="tx1"/>
                </a:solidFill>
              </a:rPr>
              <a:t> 제출</a:t>
            </a:r>
          </a:p>
        </p:txBody>
      </p:sp>
      <p:sp>
        <p:nvSpPr>
          <p:cNvPr id="46" name="직사각형 45"/>
          <p:cNvSpPr/>
          <p:nvPr/>
        </p:nvSpPr>
        <p:spPr>
          <a:xfrm>
            <a:off x="2273300" y="2752280"/>
            <a:ext cx="2120900" cy="253697"/>
          </a:xfrm>
          <a:prstGeom prst="rect">
            <a:avLst/>
          </a:prstGeom>
          <a:solidFill>
            <a:schemeClr val="accent5">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출원료</a:t>
            </a:r>
            <a:r>
              <a:rPr lang="ko-KR" altLang="en-US" sz="1400" dirty="0">
                <a:solidFill>
                  <a:schemeClr val="tx1"/>
                </a:solidFill>
              </a:rPr>
              <a:t> 납부</a:t>
            </a:r>
          </a:p>
        </p:txBody>
      </p:sp>
      <p:sp>
        <p:nvSpPr>
          <p:cNvPr id="47" name="직사각형 46"/>
          <p:cNvSpPr/>
          <p:nvPr/>
        </p:nvSpPr>
        <p:spPr>
          <a:xfrm>
            <a:off x="2273300" y="3119567"/>
            <a:ext cx="2120900" cy="253697"/>
          </a:xfrm>
          <a:prstGeom prst="rect">
            <a:avLst/>
          </a:prstGeom>
          <a:solidFill>
            <a:schemeClr val="accent5">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방식심사</a:t>
            </a:r>
            <a:endParaRPr lang="ko-KR" altLang="en-US" sz="1400" dirty="0">
              <a:solidFill>
                <a:schemeClr val="tx1"/>
              </a:solidFill>
            </a:endParaRPr>
          </a:p>
        </p:txBody>
      </p:sp>
      <p:cxnSp>
        <p:nvCxnSpPr>
          <p:cNvPr id="21" name="직선 연결선 20"/>
          <p:cNvCxnSpPr/>
          <p:nvPr/>
        </p:nvCxnSpPr>
        <p:spPr>
          <a:xfrm flipV="1">
            <a:off x="1409700" y="2006903"/>
            <a:ext cx="863600" cy="46451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직선 연결선 49"/>
          <p:cNvCxnSpPr/>
          <p:nvPr/>
        </p:nvCxnSpPr>
        <p:spPr>
          <a:xfrm>
            <a:off x="1409700" y="2868407"/>
            <a:ext cx="863600" cy="521223"/>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직선 연결선 52"/>
          <p:cNvCxnSpPr>
            <a:stCxn id="54" idx="2"/>
            <a:endCxn id="57" idx="0"/>
          </p:cNvCxnSpPr>
          <p:nvPr/>
        </p:nvCxnSpPr>
        <p:spPr>
          <a:xfrm>
            <a:off x="3117850" y="3767542"/>
            <a:ext cx="0" cy="842599"/>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직사각형 53"/>
          <p:cNvSpPr/>
          <p:nvPr/>
        </p:nvSpPr>
        <p:spPr>
          <a:xfrm>
            <a:off x="2273300" y="3497478"/>
            <a:ext cx="2120900" cy="253697"/>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심사청구서</a:t>
            </a:r>
            <a:r>
              <a:rPr lang="ko-KR" altLang="en-US" sz="1400" dirty="0">
                <a:solidFill>
                  <a:schemeClr val="tx1"/>
                </a:solidFill>
              </a:rPr>
              <a:t> 작성</a:t>
            </a:r>
          </a:p>
        </p:txBody>
      </p:sp>
      <p:sp>
        <p:nvSpPr>
          <p:cNvPr id="55" name="직사각형 54"/>
          <p:cNvSpPr/>
          <p:nvPr/>
        </p:nvSpPr>
        <p:spPr>
          <a:xfrm>
            <a:off x="2273300" y="3864765"/>
            <a:ext cx="2120900" cy="253697"/>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심사청구서</a:t>
            </a:r>
            <a:r>
              <a:rPr lang="ko-KR" altLang="en-US" sz="1400" dirty="0">
                <a:solidFill>
                  <a:schemeClr val="tx1"/>
                </a:solidFill>
              </a:rPr>
              <a:t> 제출</a:t>
            </a:r>
          </a:p>
        </p:txBody>
      </p:sp>
      <p:sp>
        <p:nvSpPr>
          <p:cNvPr id="56" name="직사각형 55"/>
          <p:cNvSpPr/>
          <p:nvPr/>
        </p:nvSpPr>
        <p:spPr>
          <a:xfrm>
            <a:off x="2273300" y="4242855"/>
            <a:ext cx="2120900" cy="253697"/>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심사청구료</a:t>
            </a:r>
            <a:r>
              <a:rPr lang="ko-KR" altLang="en-US" sz="1400" dirty="0">
                <a:solidFill>
                  <a:schemeClr val="tx1"/>
                </a:solidFill>
              </a:rPr>
              <a:t> 납부</a:t>
            </a:r>
          </a:p>
        </p:txBody>
      </p:sp>
      <p:sp>
        <p:nvSpPr>
          <p:cNvPr id="57" name="직사각형 56"/>
          <p:cNvSpPr/>
          <p:nvPr/>
        </p:nvSpPr>
        <p:spPr>
          <a:xfrm>
            <a:off x="2273300" y="4610142"/>
            <a:ext cx="2120900" cy="253697"/>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방식심사</a:t>
            </a:r>
            <a:endParaRPr lang="ko-KR" altLang="en-US" sz="1400" dirty="0">
              <a:solidFill>
                <a:schemeClr val="tx1"/>
              </a:solidFill>
            </a:endParaRPr>
          </a:p>
        </p:txBody>
      </p:sp>
      <p:cxnSp>
        <p:nvCxnSpPr>
          <p:cNvPr id="58" name="직선 연결선 57"/>
          <p:cNvCxnSpPr/>
          <p:nvPr/>
        </p:nvCxnSpPr>
        <p:spPr>
          <a:xfrm flipV="1">
            <a:off x="1409700" y="3497478"/>
            <a:ext cx="863600" cy="46451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직선 연결선 58"/>
          <p:cNvCxnSpPr/>
          <p:nvPr/>
        </p:nvCxnSpPr>
        <p:spPr>
          <a:xfrm>
            <a:off x="1409700" y="4358982"/>
            <a:ext cx="863600" cy="521223"/>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직선 연결선 63"/>
          <p:cNvCxnSpPr>
            <a:stCxn id="65" idx="2"/>
            <a:endCxn id="68" idx="0"/>
          </p:cNvCxnSpPr>
          <p:nvPr/>
        </p:nvCxnSpPr>
        <p:spPr>
          <a:xfrm>
            <a:off x="3117850" y="5262737"/>
            <a:ext cx="0" cy="842599"/>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직사각형 64"/>
          <p:cNvSpPr/>
          <p:nvPr/>
        </p:nvSpPr>
        <p:spPr>
          <a:xfrm>
            <a:off x="2273300" y="4992673"/>
            <a:ext cx="2120900" cy="253697"/>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보정서</a:t>
            </a:r>
            <a:r>
              <a:rPr lang="ko-KR" altLang="en-US" sz="1400" dirty="0">
                <a:solidFill>
                  <a:schemeClr val="tx1"/>
                </a:solidFill>
              </a:rPr>
              <a:t> 작성</a:t>
            </a:r>
          </a:p>
        </p:txBody>
      </p:sp>
      <p:sp>
        <p:nvSpPr>
          <p:cNvPr id="66" name="직사각형 65"/>
          <p:cNvSpPr/>
          <p:nvPr/>
        </p:nvSpPr>
        <p:spPr>
          <a:xfrm>
            <a:off x="2273300" y="5359960"/>
            <a:ext cx="2120900" cy="253697"/>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보정서</a:t>
            </a:r>
            <a:r>
              <a:rPr lang="ko-KR" altLang="en-US" sz="1400" dirty="0">
                <a:solidFill>
                  <a:schemeClr val="tx1"/>
                </a:solidFill>
              </a:rPr>
              <a:t> 제출</a:t>
            </a:r>
          </a:p>
        </p:txBody>
      </p:sp>
      <p:sp>
        <p:nvSpPr>
          <p:cNvPr id="67" name="직사각형 66"/>
          <p:cNvSpPr/>
          <p:nvPr/>
        </p:nvSpPr>
        <p:spPr>
          <a:xfrm>
            <a:off x="2273300" y="5738049"/>
            <a:ext cx="2120900" cy="253697"/>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보정료</a:t>
            </a:r>
            <a:r>
              <a:rPr lang="en-US" altLang="ko-KR" sz="1400" dirty="0">
                <a:solidFill>
                  <a:schemeClr val="tx1"/>
                </a:solidFill>
              </a:rPr>
              <a:t>/</a:t>
            </a:r>
            <a:r>
              <a:rPr lang="ko-KR" altLang="en-US" sz="1400" dirty="0" err="1">
                <a:solidFill>
                  <a:schemeClr val="tx1"/>
                </a:solidFill>
              </a:rPr>
              <a:t>심사청구료</a:t>
            </a:r>
            <a:r>
              <a:rPr lang="ko-KR" altLang="en-US" sz="1400" dirty="0">
                <a:solidFill>
                  <a:schemeClr val="tx1"/>
                </a:solidFill>
              </a:rPr>
              <a:t> 납부</a:t>
            </a:r>
          </a:p>
        </p:txBody>
      </p:sp>
      <p:sp>
        <p:nvSpPr>
          <p:cNvPr id="68" name="직사각형 67"/>
          <p:cNvSpPr/>
          <p:nvPr/>
        </p:nvSpPr>
        <p:spPr>
          <a:xfrm>
            <a:off x="2273300" y="6105336"/>
            <a:ext cx="2120900" cy="253697"/>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방식심사</a:t>
            </a:r>
            <a:endParaRPr lang="ko-KR" altLang="en-US" sz="1400" dirty="0">
              <a:solidFill>
                <a:schemeClr val="tx1"/>
              </a:solidFill>
            </a:endParaRPr>
          </a:p>
        </p:txBody>
      </p:sp>
      <p:cxnSp>
        <p:nvCxnSpPr>
          <p:cNvPr id="69" name="직선 연결선 68"/>
          <p:cNvCxnSpPr/>
          <p:nvPr/>
        </p:nvCxnSpPr>
        <p:spPr>
          <a:xfrm flipV="1">
            <a:off x="1409700" y="4992673"/>
            <a:ext cx="863600" cy="46451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직선 연결선 69"/>
          <p:cNvCxnSpPr/>
          <p:nvPr/>
        </p:nvCxnSpPr>
        <p:spPr>
          <a:xfrm>
            <a:off x="1409700" y="5854177"/>
            <a:ext cx="863600" cy="521223"/>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직선 연결선 34"/>
          <p:cNvCxnSpPr/>
          <p:nvPr/>
        </p:nvCxnSpPr>
        <p:spPr>
          <a:xfrm>
            <a:off x="0" y="154697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77875" y="986046"/>
            <a:ext cx="11936323" cy="523220"/>
          </a:xfrm>
          <a:prstGeom prst="rect">
            <a:avLst/>
          </a:prstGeom>
          <a:noFill/>
        </p:spPr>
        <p:txBody>
          <a:bodyPr wrap="square" rtlCol="0">
            <a:spAutoFit/>
          </a:bodyPr>
          <a:lstStyle/>
          <a:p>
            <a:pPr fontAlgn="base"/>
            <a:r>
              <a:rPr lang="ko-KR" altLang="en-US" sz="1400" dirty="0">
                <a:solidFill>
                  <a:schemeClr val="tx2"/>
                </a:solidFill>
              </a:rPr>
              <a:t>지식재산처장 등은 절차보정사유</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46)</a:t>
            </a:r>
            <a:r>
              <a:rPr lang="ko-KR" altLang="en-US" sz="1400" dirty="0">
                <a:solidFill>
                  <a:schemeClr val="tx2"/>
                </a:solidFill>
              </a:rPr>
              <a:t>에 해당함을 이유로 보정명령을 받은 자가 지정된 기간에 그 보정을 하지 아니하면 </a:t>
            </a:r>
            <a:r>
              <a:rPr lang="ko-KR" altLang="en-US" sz="1400" dirty="0">
                <a:solidFill>
                  <a:srgbClr val="FF0000"/>
                </a:solidFill>
              </a:rPr>
              <a:t>그 보정을 명한 특허에 관한 절차</a:t>
            </a:r>
            <a:r>
              <a:rPr lang="ko-KR" altLang="en-US" sz="1400" dirty="0">
                <a:solidFill>
                  <a:schemeClr val="tx2"/>
                </a:solidFill>
              </a:rPr>
              <a:t>를 무효로 할 수 있으며</a:t>
            </a:r>
            <a:r>
              <a:rPr lang="en-US" altLang="ko-KR" sz="1400" dirty="0">
                <a:solidFill>
                  <a:schemeClr val="tx2"/>
                </a:solidFill>
              </a:rPr>
              <a:t>, </a:t>
            </a:r>
            <a:r>
              <a:rPr lang="ko-KR" altLang="en-US" sz="1400" dirty="0">
                <a:solidFill>
                  <a:srgbClr val="FF0000"/>
                </a:solidFill>
              </a:rPr>
              <a:t>무효가 된 경우 해당 특허에 관한 절차는 처음부터 없었던 것으로 본다</a:t>
            </a:r>
            <a:r>
              <a:rPr lang="en-US" altLang="ko-KR" sz="1400" dirty="0">
                <a:solidFill>
                  <a:srgbClr val="FF0000"/>
                </a:solidFill>
              </a:rPr>
              <a:t>(</a:t>
            </a:r>
            <a:r>
              <a:rPr lang="ko-KR" altLang="en-US" sz="1400" dirty="0">
                <a:solidFill>
                  <a:srgbClr val="FF0000"/>
                </a:solidFill>
              </a:rPr>
              <a:t>法 </a:t>
            </a:r>
            <a:r>
              <a:rPr lang="en-US" altLang="ko-KR" sz="1400" dirty="0">
                <a:solidFill>
                  <a:srgbClr val="FF0000"/>
                </a:solidFill>
              </a:rPr>
              <a:t>16①). </a:t>
            </a:r>
            <a:r>
              <a:rPr lang="ko-KR" altLang="en-US" sz="1400" dirty="0">
                <a:solidFill>
                  <a:srgbClr val="FF0000"/>
                </a:solidFill>
              </a:rPr>
              <a:t>그러나 </a:t>
            </a:r>
            <a:r>
              <a:rPr lang="ko-KR" altLang="en-US" sz="1400" dirty="0" err="1">
                <a:solidFill>
                  <a:srgbClr val="FF0000"/>
                </a:solidFill>
              </a:rPr>
              <a:t>무효처분</a:t>
            </a:r>
            <a:r>
              <a:rPr lang="ko-KR" altLang="en-US" sz="1400" dirty="0">
                <a:solidFill>
                  <a:srgbClr val="FF0000"/>
                </a:solidFill>
              </a:rPr>
              <a:t> 이외의 절차는 계속 유효하게 진행된다</a:t>
            </a:r>
            <a:r>
              <a:rPr lang="en-US" altLang="ko-KR" sz="1400" dirty="0">
                <a:solidFill>
                  <a:srgbClr val="FF0000"/>
                </a:solidFill>
              </a:rPr>
              <a:t>.</a:t>
            </a:r>
          </a:p>
        </p:txBody>
      </p:sp>
      <p:sp>
        <p:nvSpPr>
          <p:cNvPr id="9" name="TextBox 8"/>
          <p:cNvSpPr txBox="1"/>
          <p:nvPr/>
        </p:nvSpPr>
        <p:spPr>
          <a:xfrm>
            <a:off x="4394200" y="1994506"/>
            <a:ext cx="2552302" cy="276999"/>
          </a:xfrm>
          <a:prstGeom prst="rect">
            <a:avLst/>
          </a:prstGeom>
          <a:noFill/>
        </p:spPr>
        <p:txBody>
          <a:bodyPr wrap="none" rtlCol="0">
            <a:spAutoFit/>
          </a:bodyPr>
          <a:lstStyle/>
          <a:p>
            <a:r>
              <a:rPr lang="ko-KR" altLang="en-US" sz="1200" dirty="0" err="1"/>
              <a:t>청구범위</a:t>
            </a:r>
            <a:r>
              <a:rPr lang="en-US" altLang="ko-KR" sz="1200" dirty="0"/>
              <a:t>: A, B / </a:t>
            </a:r>
            <a:r>
              <a:rPr lang="ko-KR" altLang="en-US" sz="1200" dirty="0"/>
              <a:t>발명의 설명</a:t>
            </a:r>
            <a:r>
              <a:rPr lang="en-US" altLang="ko-KR" sz="1200" dirty="0"/>
              <a:t>: A, B, C</a:t>
            </a:r>
            <a:endParaRPr lang="ko-KR" altLang="en-US" sz="1200" dirty="0"/>
          </a:p>
        </p:txBody>
      </p:sp>
      <p:sp>
        <p:nvSpPr>
          <p:cNvPr id="39" name="TextBox 38"/>
          <p:cNvSpPr txBox="1"/>
          <p:nvPr/>
        </p:nvSpPr>
        <p:spPr>
          <a:xfrm>
            <a:off x="4394200" y="2375238"/>
            <a:ext cx="1511952" cy="276999"/>
          </a:xfrm>
          <a:prstGeom prst="rect">
            <a:avLst/>
          </a:prstGeom>
          <a:noFill/>
        </p:spPr>
        <p:txBody>
          <a:bodyPr wrap="none" rtlCol="0">
            <a:spAutoFit/>
          </a:bodyPr>
          <a:lstStyle/>
          <a:p>
            <a:r>
              <a:rPr lang="ko-KR" altLang="en-US" sz="1200" dirty="0" err="1"/>
              <a:t>출원인이</a:t>
            </a:r>
            <a:r>
              <a:rPr lang="ko-KR" altLang="en-US" sz="1200" dirty="0"/>
              <a:t> 온라인 제출</a:t>
            </a:r>
          </a:p>
        </p:txBody>
      </p:sp>
      <p:sp>
        <p:nvSpPr>
          <p:cNvPr id="40" name="TextBox 39"/>
          <p:cNvSpPr txBox="1"/>
          <p:nvPr/>
        </p:nvSpPr>
        <p:spPr>
          <a:xfrm>
            <a:off x="4394200" y="2755970"/>
            <a:ext cx="1109599" cy="276999"/>
          </a:xfrm>
          <a:prstGeom prst="rect">
            <a:avLst/>
          </a:prstGeom>
          <a:noFill/>
        </p:spPr>
        <p:txBody>
          <a:bodyPr wrap="none" rtlCol="0">
            <a:spAutoFit/>
          </a:bodyPr>
          <a:lstStyle/>
          <a:p>
            <a:r>
              <a:rPr lang="ko-KR" altLang="en-US" sz="1200" dirty="0"/>
              <a:t>건당 </a:t>
            </a:r>
            <a:r>
              <a:rPr lang="en-US" altLang="ko-KR" sz="1200" dirty="0"/>
              <a:t>46,000</a:t>
            </a:r>
            <a:r>
              <a:rPr lang="ko-KR" altLang="en-US" sz="1200" dirty="0"/>
              <a:t>원</a:t>
            </a:r>
          </a:p>
        </p:txBody>
      </p:sp>
      <p:sp>
        <p:nvSpPr>
          <p:cNvPr id="48" name="TextBox 47"/>
          <p:cNvSpPr txBox="1"/>
          <p:nvPr/>
        </p:nvSpPr>
        <p:spPr>
          <a:xfrm>
            <a:off x="4394200" y="3086578"/>
            <a:ext cx="6110968" cy="338554"/>
          </a:xfrm>
          <a:prstGeom prst="rect">
            <a:avLst/>
          </a:prstGeom>
          <a:noFill/>
        </p:spPr>
        <p:txBody>
          <a:bodyPr wrap="none" rtlCol="0">
            <a:spAutoFit/>
          </a:bodyPr>
          <a:lstStyle/>
          <a:p>
            <a:r>
              <a:rPr lang="ko-KR" altLang="en-US" sz="1600" dirty="0" err="1">
                <a:solidFill>
                  <a:srgbClr val="FF0000"/>
                </a:solidFill>
              </a:rPr>
              <a:t>출원인이</a:t>
            </a:r>
            <a:r>
              <a:rPr lang="ko-KR" altLang="en-US" sz="1600" dirty="0">
                <a:solidFill>
                  <a:srgbClr val="FF0000"/>
                </a:solidFill>
              </a:rPr>
              <a:t> </a:t>
            </a:r>
            <a:r>
              <a:rPr lang="en-US" altLang="ko-KR" sz="1600" dirty="0">
                <a:solidFill>
                  <a:srgbClr val="FF0000"/>
                </a:solidFill>
              </a:rPr>
              <a:t>46,000</a:t>
            </a:r>
            <a:r>
              <a:rPr lang="ko-KR" altLang="en-US" sz="1600" dirty="0">
                <a:solidFill>
                  <a:srgbClr val="FF0000"/>
                </a:solidFill>
              </a:rPr>
              <a:t>원을 납부하지 않는다면</a:t>
            </a:r>
            <a:r>
              <a:rPr lang="en-US" altLang="ko-KR" sz="1600" dirty="0">
                <a:solidFill>
                  <a:srgbClr val="FF0000"/>
                </a:solidFill>
              </a:rPr>
              <a:t>? </a:t>
            </a:r>
            <a:r>
              <a:rPr lang="ko-KR" altLang="en-US" sz="1600" dirty="0" err="1">
                <a:solidFill>
                  <a:srgbClr val="FF0000"/>
                </a:solidFill>
              </a:rPr>
              <a:t>보정명령후</a:t>
            </a:r>
            <a:r>
              <a:rPr lang="ko-KR" altLang="en-US" sz="1600" dirty="0">
                <a:solidFill>
                  <a:srgbClr val="FF0000"/>
                </a:solidFill>
              </a:rPr>
              <a:t> 특허출원을 무효</a:t>
            </a:r>
            <a:r>
              <a:rPr lang="en-US" altLang="ko-KR" sz="1600" dirty="0">
                <a:solidFill>
                  <a:srgbClr val="FF0000"/>
                </a:solidFill>
              </a:rPr>
              <a:t> </a:t>
            </a:r>
            <a:endParaRPr lang="ko-KR" altLang="en-US" sz="1600" dirty="0">
              <a:solidFill>
                <a:srgbClr val="FF0000"/>
              </a:solidFill>
            </a:endParaRPr>
          </a:p>
        </p:txBody>
      </p:sp>
      <p:sp>
        <p:nvSpPr>
          <p:cNvPr id="51" name="TextBox 50"/>
          <p:cNvSpPr txBox="1"/>
          <p:nvPr/>
        </p:nvSpPr>
        <p:spPr>
          <a:xfrm>
            <a:off x="4394200" y="3862205"/>
            <a:ext cx="1459054" cy="276999"/>
          </a:xfrm>
          <a:prstGeom prst="rect">
            <a:avLst/>
          </a:prstGeom>
          <a:noFill/>
        </p:spPr>
        <p:txBody>
          <a:bodyPr wrap="none" rtlCol="0">
            <a:spAutoFit/>
          </a:bodyPr>
          <a:lstStyle/>
          <a:p>
            <a:r>
              <a:rPr lang="ko-KR" altLang="en-US" sz="1200" dirty="0"/>
              <a:t>제</a:t>
            </a:r>
            <a:r>
              <a:rPr lang="en-US" altLang="ko-KR" sz="1200" dirty="0"/>
              <a:t>3</a:t>
            </a:r>
            <a:r>
              <a:rPr lang="ko-KR" altLang="en-US" sz="1200" dirty="0"/>
              <a:t>자가 온라인 제출</a:t>
            </a:r>
          </a:p>
        </p:txBody>
      </p:sp>
      <p:sp>
        <p:nvSpPr>
          <p:cNvPr id="52" name="TextBox 51"/>
          <p:cNvSpPr txBox="1"/>
          <p:nvPr/>
        </p:nvSpPr>
        <p:spPr>
          <a:xfrm>
            <a:off x="4394200" y="4242937"/>
            <a:ext cx="3575018" cy="276999"/>
          </a:xfrm>
          <a:prstGeom prst="rect">
            <a:avLst/>
          </a:prstGeom>
          <a:noFill/>
        </p:spPr>
        <p:txBody>
          <a:bodyPr wrap="none" rtlCol="0">
            <a:spAutoFit/>
          </a:bodyPr>
          <a:lstStyle/>
          <a:p>
            <a:r>
              <a:rPr lang="ko-KR" altLang="en-US" sz="1200" dirty="0"/>
              <a:t>기본료</a:t>
            </a:r>
            <a:r>
              <a:rPr lang="en-US" altLang="ko-KR" sz="1200" dirty="0"/>
              <a:t>: </a:t>
            </a:r>
            <a:r>
              <a:rPr lang="ko-KR" altLang="en-US" sz="1200" dirty="0"/>
              <a:t>건당 </a:t>
            </a:r>
            <a:r>
              <a:rPr lang="en-US" altLang="ko-KR" sz="1200" dirty="0"/>
              <a:t>166,000</a:t>
            </a:r>
            <a:r>
              <a:rPr lang="ko-KR" altLang="en-US" sz="1200" dirty="0"/>
              <a:t>원 </a:t>
            </a:r>
            <a:r>
              <a:rPr lang="en-US" altLang="ko-KR" sz="1200" dirty="0"/>
              <a:t>+ </a:t>
            </a:r>
            <a:r>
              <a:rPr lang="ko-KR" altLang="en-US" sz="1200" dirty="0" err="1"/>
              <a:t>가산료</a:t>
            </a:r>
            <a:r>
              <a:rPr lang="en-US" altLang="ko-KR" sz="1200" dirty="0"/>
              <a:t>: </a:t>
            </a:r>
            <a:r>
              <a:rPr lang="ko-KR" altLang="en-US" sz="1200" dirty="0"/>
              <a:t>청구항당 </a:t>
            </a:r>
            <a:r>
              <a:rPr lang="en-US" altLang="ko-KR" sz="1200" dirty="0"/>
              <a:t>51,000</a:t>
            </a:r>
            <a:r>
              <a:rPr lang="ko-KR" altLang="en-US" sz="1200" dirty="0"/>
              <a:t>원</a:t>
            </a:r>
          </a:p>
        </p:txBody>
      </p:sp>
      <p:sp>
        <p:nvSpPr>
          <p:cNvPr id="60" name="TextBox 59"/>
          <p:cNvSpPr txBox="1"/>
          <p:nvPr/>
        </p:nvSpPr>
        <p:spPr>
          <a:xfrm>
            <a:off x="4394200" y="4573545"/>
            <a:ext cx="6154249" cy="338554"/>
          </a:xfrm>
          <a:prstGeom prst="rect">
            <a:avLst/>
          </a:prstGeom>
          <a:noFill/>
        </p:spPr>
        <p:txBody>
          <a:bodyPr wrap="none" rtlCol="0">
            <a:spAutoFit/>
          </a:bodyPr>
          <a:lstStyle/>
          <a:p>
            <a:r>
              <a:rPr lang="ko-KR" altLang="en-US" sz="1600" dirty="0">
                <a:solidFill>
                  <a:srgbClr val="FF0000"/>
                </a:solidFill>
              </a:rPr>
              <a:t>제</a:t>
            </a:r>
            <a:r>
              <a:rPr lang="en-US" altLang="ko-KR" sz="1600" dirty="0">
                <a:solidFill>
                  <a:srgbClr val="FF0000"/>
                </a:solidFill>
              </a:rPr>
              <a:t>3</a:t>
            </a:r>
            <a:r>
              <a:rPr lang="ko-KR" altLang="en-US" sz="1600" dirty="0">
                <a:solidFill>
                  <a:srgbClr val="FF0000"/>
                </a:solidFill>
              </a:rPr>
              <a:t>자가 </a:t>
            </a:r>
            <a:r>
              <a:rPr lang="en-US" altLang="ko-KR" sz="1600" dirty="0">
                <a:solidFill>
                  <a:srgbClr val="FF0000"/>
                </a:solidFill>
              </a:rPr>
              <a:t>268,000</a:t>
            </a:r>
            <a:r>
              <a:rPr lang="ko-KR" altLang="en-US" sz="1600" dirty="0">
                <a:solidFill>
                  <a:srgbClr val="FF0000"/>
                </a:solidFill>
              </a:rPr>
              <a:t>원을 납부하지 않는다면</a:t>
            </a:r>
            <a:r>
              <a:rPr lang="en-US" altLang="ko-KR" sz="1600" dirty="0">
                <a:solidFill>
                  <a:srgbClr val="FF0000"/>
                </a:solidFill>
              </a:rPr>
              <a:t>? </a:t>
            </a:r>
            <a:r>
              <a:rPr lang="ko-KR" altLang="en-US" sz="1600" dirty="0" err="1">
                <a:solidFill>
                  <a:srgbClr val="FF0000"/>
                </a:solidFill>
              </a:rPr>
              <a:t>보정명령후</a:t>
            </a:r>
            <a:r>
              <a:rPr lang="ko-KR" altLang="en-US" sz="1600" dirty="0">
                <a:solidFill>
                  <a:srgbClr val="FF0000"/>
                </a:solidFill>
              </a:rPr>
              <a:t> 심사청구를 무효</a:t>
            </a:r>
            <a:r>
              <a:rPr lang="en-US" altLang="ko-KR" sz="1600" dirty="0">
                <a:solidFill>
                  <a:srgbClr val="FF0000"/>
                </a:solidFill>
              </a:rPr>
              <a:t> </a:t>
            </a:r>
            <a:endParaRPr lang="ko-KR" altLang="en-US" sz="1600" dirty="0">
              <a:solidFill>
                <a:srgbClr val="FF0000"/>
              </a:solidFill>
            </a:endParaRPr>
          </a:p>
        </p:txBody>
      </p:sp>
      <p:sp>
        <p:nvSpPr>
          <p:cNvPr id="61" name="TextBox 60"/>
          <p:cNvSpPr txBox="1"/>
          <p:nvPr/>
        </p:nvSpPr>
        <p:spPr>
          <a:xfrm>
            <a:off x="4394200" y="5359555"/>
            <a:ext cx="1511952" cy="276999"/>
          </a:xfrm>
          <a:prstGeom prst="rect">
            <a:avLst/>
          </a:prstGeom>
          <a:noFill/>
        </p:spPr>
        <p:txBody>
          <a:bodyPr wrap="none" rtlCol="0">
            <a:spAutoFit/>
          </a:bodyPr>
          <a:lstStyle/>
          <a:p>
            <a:r>
              <a:rPr lang="ko-KR" altLang="en-US" sz="1200" dirty="0" err="1"/>
              <a:t>출원인이</a:t>
            </a:r>
            <a:r>
              <a:rPr lang="ko-KR" altLang="en-US" sz="1200" dirty="0"/>
              <a:t> 온라인 제출</a:t>
            </a:r>
          </a:p>
        </p:txBody>
      </p:sp>
      <p:sp>
        <p:nvSpPr>
          <p:cNvPr id="62" name="TextBox 61"/>
          <p:cNvSpPr txBox="1"/>
          <p:nvPr/>
        </p:nvSpPr>
        <p:spPr>
          <a:xfrm>
            <a:off x="4394200" y="5740287"/>
            <a:ext cx="1524776" cy="276999"/>
          </a:xfrm>
          <a:prstGeom prst="rect">
            <a:avLst/>
          </a:prstGeom>
          <a:noFill/>
        </p:spPr>
        <p:txBody>
          <a:bodyPr wrap="none" rtlCol="0">
            <a:spAutoFit/>
          </a:bodyPr>
          <a:lstStyle/>
          <a:p>
            <a:r>
              <a:rPr lang="ko-KR" altLang="en-US" sz="1200" dirty="0" err="1"/>
              <a:t>보정료</a:t>
            </a:r>
            <a:r>
              <a:rPr lang="en-US" altLang="ko-KR" sz="1200" dirty="0"/>
              <a:t>: </a:t>
            </a:r>
            <a:r>
              <a:rPr lang="ko-KR" altLang="en-US" sz="1200" dirty="0"/>
              <a:t>건당 </a:t>
            </a:r>
            <a:r>
              <a:rPr lang="en-US" altLang="ko-KR" sz="1200" dirty="0"/>
              <a:t>4,000</a:t>
            </a:r>
            <a:r>
              <a:rPr lang="ko-KR" altLang="en-US" sz="1200" dirty="0"/>
              <a:t>원</a:t>
            </a:r>
          </a:p>
        </p:txBody>
      </p:sp>
      <p:sp>
        <p:nvSpPr>
          <p:cNvPr id="63" name="TextBox 62"/>
          <p:cNvSpPr txBox="1"/>
          <p:nvPr/>
        </p:nvSpPr>
        <p:spPr>
          <a:xfrm>
            <a:off x="4394200" y="6070895"/>
            <a:ext cx="5742278" cy="338554"/>
          </a:xfrm>
          <a:prstGeom prst="rect">
            <a:avLst/>
          </a:prstGeom>
          <a:noFill/>
        </p:spPr>
        <p:txBody>
          <a:bodyPr wrap="none" rtlCol="0">
            <a:spAutoFit/>
          </a:bodyPr>
          <a:lstStyle/>
          <a:p>
            <a:r>
              <a:rPr lang="ko-KR" altLang="en-US" sz="1600" dirty="0">
                <a:solidFill>
                  <a:srgbClr val="FF0000"/>
                </a:solidFill>
              </a:rPr>
              <a:t>출원인이 </a:t>
            </a:r>
            <a:r>
              <a:rPr lang="en-US" altLang="ko-KR" sz="1600" dirty="0">
                <a:solidFill>
                  <a:srgbClr val="FF0000"/>
                </a:solidFill>
              </a:rPr>
              <a:t>55,000</a:t>
            </a:r>
            <a:r>
              <a:rPr lang="ko-KR" altLang="en-US" sz="1600" dirty="0">
                <a:solidFill>
                  <a:srgbClr val="FF0000"/>
                </a:solidFill>
              </a:rPr>
              <a:t>원을 납부하지 않는다면</a:t>
            </a:r>
            <a:r>
              <a:rPr lang="en-US" altLang="ko-KR" sz="1600" dirty="0">
                <a:solidFill>
                  <a:srgbClr val="FF0000"/>
                </a:solidFill>
              </a:rPr>
              <a:t>? </a:t>
            </a:r>
            <a:r>
              <a:rPr lang="ko-KR" altLang="en-US" sz="1600" dirty="0" err="1">
                <a:solidFill>
                  <a:srgbClr val="FF0000"/>
                </a:solidFill>
              </a:rPr>
              <a:t>보정명령후</a:t>
            </a:r>
            <a:r>
              <a:rPr lang="ko-KR" altLang="en-US" sz="1600" dirty="0">
                <a:solidFill>
                  <a:srgbClr val="FF0000"/>
                </a:solidFill>
              </a:rPr>
              <a:t> 보정을 무효</a:t>
            </a:r>
            <a:r>
              <a:rPr lang="en-US" altLang="ko-KR" sz="1600" dirty="0">
                <a:solidFill>
                  <a:srgbClr val="FF0000"/>
                </a:solidFill>
              </a:rPr>
              <a:t> </a:t>
            </a:r>
            <a:endParaRPr lang="ko-KR" altLang="en-US" sz="1600" dirty="0">
              <a:solidFill>
                <a:srgbClr val="FF0000"/>
              </a:solidFill>
            </a:endParaRPr>
          </a:p>
        </p:txBody>
      </p:sp>
      <p:sp>
        <p:nvSpPr>
          <p:cNvPr id="71" name="TextBox 70"/>
          <p:cNvSpPr txBox="1"/>
          <p:nvPr/>
        </p:nvSpPr>
        <p:spPr>
          <a:xfrm>
            <a:off x="4394200" y="4978823"/>
            <a:ext cx="2733441" cy="276999"/>
          </a:xfrm>
          <a:prstGeom prst="rect">
            <a:avLst/>
          </a:prstGeom>
          <a:noFill/>
        </p:spPr>
        <p:txBody>
          <a:bodyPr wrap="none" rtlCol="0">
            <a:spAutoFit/>
          </a:bodyPr>
          <a:lstStyle/>
          <a:p>
            <a:r>
              <a:rPr lang="ko-KR" altLang="en-US" sz="1200" dirty="0" err="1"/>
              <a:t>청구범위</a:t>
            </a:r>
            <a:r>
              <a:rPr lang="en-US" altLang="ko-KR" sz="1200" dirty="0"/>
              <a:t>: A, B, C / </a:t>
            </a:r>
            <a:r>
              <a:rPr lang="ko-KR" altLang="en-US" sz="1200" dirty="0"/>
              <a:t>발명의 설명</a:t>
            </a:r>
            <a:r>
              <a:rPr lang="en-US" altLang="ko-KR" sz="1200" dirty="0"/>
              <a:t>: A, B, C</a:t>
            </a:r>
            <a:endParaRPr lang="ko-KR" altLang="en-US" sz="1200" dirty="0"/>
          </a:p>
        </p:txBody>
      </p:sp>
      <p:sp>
        <p:nvSpPr>
          <p:cNvPr id="13" name="모서리가 둥근 사각형 설명선 12"/>
          <p:cNvSpPr/>
          <p:nvPr/>
        </p:nvSpPr>
        <p:spPr>
          <a:xfrm>
            <a:off x="8128000" y="2383394"/>
            <a:ext cx="3759200" cy="436486"/>
          </a:xfrm>
          <a:prstGeom prst="wedgeRoundRectCallout">
            <a:avLst>
              <a:gd name="adj1" fmla="val -36374"/>
              <a:gd name="adj2" fmla="val 104689"/>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 typeface="Wingdings" panose="05000000000000000000" pitchFamily="2" charset="2"/>
              <a:buChar char="§"/>
            </a:pPr>
            <a:r>
              <a:rPr lang="ko-KR" altLang="en-US" sz="1400" dirty="0">
                <a:solidFill>
                  <a:schemeClr val="tx1"/>
                </a:solidFill>
              </a:rPr>
              <a:t>특허출원이 처음부터 없었던 것으로 간주 </a:t>
            </a:r>
          </a:p>
        </p:txBody>
      </p:sp>
      <p:sp>
        <p:nvSpPr>
          <p:cNvPr id="72" name="모서리가 둥근 사각형 설명선 71"/>
          <p:cNvSpPr/>
          <p:nvPr/>
        </p:nvSpPr>
        <p:spPr>
          <a:xfrm>
            <a:off x="8128000" y="3656299"/>
            <a:ext cx="3759200" cy="629893"/>
          </a:xfrm>
          <a:prstGeom prst="wedgeRoundRectCallout">
            <a:avLst>
              <a:gd name="adj1" fmla="val -36374"/>
              <a:gd name="adj2" fmla="val 104689"/>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 typeface="Wingdings" panose="05000000000000000000" pitchFamily="2" charset="2"/>
              <a:buChar char="§"/>
            </a:pPr>
            <a:r>
              <a:rPr lang="ko-KR" altLang="en-US" sz="1400" dirty="0" err="1">
                <a:solidFill>
                  <a:schemeClr val="tx1"/>
                </a:solidFill>
              </a:rPr>
              <a:t>심사청구가</a:t>
            </a:r>
            <a:r>
              <a:rPr lang="ko-KR" altLang="en-US" sz="1400" dirty="0">
                <a:solidFill>
                  <a:schemeClr val="tx1"/>
                </a:solidFill>
              </a:rPr>
              <a:t> 처음부터 없었던 것으로 간주</a:t>
            </a:r>
            <a:endParaRPr lang="en-US" altLang="ko-KR" sz="1400" dirty="0">
              <a:solidFill>
                <a:schemeClr val="tx1"/>
              </a:solidFill>
            </a:endParaRPr>
          </a:p>
          <a:p>
            <a:pPr marL="285750" indent="-285750">
              <a:buFont typeface="Wingdings" panose="05000000000000000000" pitchFamily="2" charset="2"/>
              <a:buChar char="§"/>
            </a:pPr>
            <a:r>
              <a:rPr lang="ko-KR" altLang="en-US" sz="1400" dirty="0">
                <a:solidFill>
                  <a:schemeClr val="tx1"/>
                </a:solidFill>
              </a:rPr>
              <a:t>특허출원만 유효하게 진행 </a:t>
            </a:r>
          </a:p>
        </p:txBody>
      </p:sp>
      <p:sp>
        <p:nvSpPr>
          <p:cNvPr id="73" name="모서리가 둥근 사각형 설명선 72"/>
          <p:cNvSpPr/>
          <p:nvPr/>
        </p:nvSpPr>
        <p:spPr>
          <a:xfrm>
            <a:off x="8128000" y="5101265"/>
            <a:ext cx="3759200" cy="625907"/>
          </a:xfrm>
          <a:prstGeom prst="wedgeRoundRectCallout">
            <a:avLst>
              <a:gd name="adj1" fmla="val -36374"/>
              <a:gd name="adj2" fmla="val 104689"/>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 typeface="Wingdings" panose="05000000000000000000" pitchFamily="2" charset="2"/>
              <a:buChar char="§"/>
            </a:pPr>
            <a:r>
              <a:rPr lang="ko-KR" altLang="en-US" sz="1400" dirty="0">
                <a:solidFill>
                  <a:schemeClr val="tx1"/>
                </a:solidFill>
              </a:rPr>
              <a:t>보정이 처음부터 없었던 것으로 간주</a:t>
            </a:r>
            <a:endParaRPr lang="en-US" altLang="ko-KR" sz="1400" dirty="0">
              <a:solidFill>
                <a:schemeClr val="tx1"/>
              </a:solidFill>
            </a:endParaRPr>
          </a:p>
          <a:p>
            <a:pPr marL="285750" indent="-285750">
              <a:buFont typeface="Wingdings" panose="05000000000000000000" pitchFamily="2" charset="2"/>
              <a:buChar char="§"/>
            </a:pPr>
            <a:r>
              <a:rPr lang="ko-KR" altLang="en-US" sz="1400" dirty="0">
                <a:solidFill>
                  <a:schemeClr val="tx1"/>
                </a:solidFill>
              </a:rPr>
              <a:t>특허출원과 </a:t>
            </a:r>
            <a:r>
              <a:rPr lang="ko-KR" altLang="en-US" sz="1400" dirty="0" err="1">
                <a:solidFill>
                  <a:schemeClr val="tx1"/>
                </a:solidFill>
              </a:rPr>
              <a:t>심사청구만</a:t>
            </a:r>
            <a:r>
              <a:rPr lang="ko-KR" altLang="en-US" sz="1400" dirty="0">
                <a:solidFill>
                  <a:schemeClr val="tx1"/>
                </a:solidFill>
              </a:rPr>
              <a:t> 유효하게 진행 </a:t>
            </a:r>
          </a:p>
        </p:txBody>
      </p:sp>
      <p:sp>
        <p:nvSpPr>
          <p:cNvPr id="5" name="TextBox 4">
            <a:extLst>
              <a:ext uri="{FF2B5EF4-FFF2-40B4-BE49-F238E27FC236}">
                <a16:creationId xmlns:a16="http://schemas.microsoft.com/office/drawing/2014/main" id="{1136643F-F656-2238-F72B-5BB8A4238D1A}"/>
              </a:ext>
            </a:extLst>
          </p:cNvPr>
          <p:cNvSpPr txBox="1"/>
          <p:nvPr/>
        </p:nvSpPr>
        <p:spPr>
          <a:xfrm>
            <a:off x="4378942" y="6375400"/>
            <a:ext cx="2783134" cy="276999"/>
          </a:xfrm>
          <a:prstGeom prst="rect">
            <a:avLst/>
          </a:prstGeom>
          <a:noFill/>
        </p:spPr>
        <p:txBody>
          <a:bodyPr wrap="none" rtlCol="0">
            <a:spAutoFit/>
          </a:bodyPr>
          <a:lstStyle/>
          <a:p>
            <a:r>
              <a:rPr lang="en-US" altLang="ko-KR" sz="1200" dirty="0">
                <a:solidFill>
                  <a:srgbClr val="FF0000"/>
                </a:solidFill>
              </a:rPr>
              <a:t>(</a:t>
            </a:r>
            <a:r>
              <a:rPr lang="ko-KR" altLang="en-US" sz="1200" dirty="0" err="1">
                <a:solidFill>
                  <a:srgbClr val="FF0000"/>
                </a:solidFill>
              </a:rPr>
              <a:t>보정료</a:t>
            </a:r>
            <a:r>
              <a:rPr lang="ko-KR" altLang="en-US" sz="1200" dirty="0">
                <a:solidFill>
                  <a:srgbClr val="FF0000"/>
                </a:solidFill>
              </a:rPr>
              <a:t> </a:t>
            </a:r>
            <a:r>
              <a:rPr lang="en-US" altLang="ko-KR" sz="1200" dirty="0">
                <a:solidFill>
                  <a:srgbClr val="FF0000"/>
                </a:solidFill>
              </a:rPr>
              <a:t>4,000</a:t>
            </a:r>
            <a:r>
              <a:rPr lang="ko-KR" altLang="en-US" sz="1200" dirty="0">
                <a:solidFill>
                  <a:srgbClr val="FF0000"/>
                </a:solidFill>
              </a:rPr>
              <a:t>원</a:t>
            </a:r>
            <a:r>
              <a:rPr lang="en-US" altLang="ko-KR" sz="1200" dirty="0">
                <a:solidFill>
                  <a:srgbClr val="FF0000"/>
                </a:solidFill>
              </a:rPr>
              <a:t> + </a:t>
            </a:r>
            <a:r>
              <a:rPr lang="ko-KR" altLang="en-US" sz="1200" dirty="0" err="1">
                <a:solidFill>
                  <a:srgbClr val="FF0000"/>
                </a:solidFill>
              </a:rPr>
              <a:t>심사청구료</a:t>
            </a:r>
            <a:r>
              <a:rPr lang="ko-KR" altLang="en-US" sz="1200" dirty="0">
                <a:solidFill>
                  <a:srgbClr val="FF0000"/>
                </a:solidFill>
              </a:rPr>
              <a:t> </a:t>
            </a:r>
            <a:r>
              <a:rPr lang="en-US" altLang="ko-KR" sz="1200" dirty="0">
                <a:solidFill>
                  <a:srgbClr val="FF0000"/>
                </a:solidFill>
              </a:rPr>
              <a:t>51,000</a:t>
            </a:r>
            <a:r>
              <a:rPr lang="ko-KR" altLang="en-US" sz="1200" dirty="0">
                <a:solidFill>
                  <a:srgbClr val="FF0000"/>
                </a:solidFill>
              </a:rPr>
              <a:t>원</a:t>
            </a:r>
            <a:r>
              <a:rPr lang="en-US" altLang="ko-KR" sz="1200" dirty="0">
                <a:solidFill>
                  <a:srgbClr val="FF0000"/>
                </a:solidFill>
              </a:rPr>
              <a:t>)</a:t>
            </a:r>
            <a:endParaRPr lang="ko-KR" altLang="en-US" sz="1200" dirty="0">
              <a:solidFill>
                <a:srgbClr val="FF0000"/>
              </a:solidFill>
            </a:endParaRPr>
          </a:p>
        </p:txBody>
      </p:sp>
    </p:spTree>
    <p:extLst>
      <p:ext uri="{BB962C8B-B14F-4D97-AF65-F5344CB8AC3E}">
        <p14:creationId xmlns:p14="http://schemas.microsoft.com/office/powerpoint/2010/main" val="390718477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C68B98-FED4-E21C-D58A-94B2E98C3DF3}"/>
            </a:ext>
          </a:extLst>
        </p:cNvPr>
        <p:cNvGrpSpPr/>
        <p:nvPr/>
      </p:nvGrpSpPr>
      <p:grpSpPr>
        <a:xfrm>
          <a:off x="0" y="0"/>
          <a:ext cx="0" cy="0"/>
          <a:chOff x="0" y="0"/>
          <a:chExt cx="0" cy="0"/>
        </a:xfrm>
      </p:grpSpPr>
      <p:sp>
        <p:nvSpPr>
          <p:cNvPr id="3" name="제목 2">
            <a:extLst>
              <a:ext uri="{FF2B5EF4-FFF2-40B4-BE49-F238E27FC236}">
                <a16:creationId xmlns:a16="http://schemas.microsoft.com/office/drawing/2014/main" id="{9BCBD970-BC78-E8DE-2409-74B98AC77D15}"/>
              </a:ext>
            </a:extLst>
          </p:cNvPr>
          <p:cNvSpPr>
            <a:spLocks noGrp="1"/>
          </p:cNvSpPr>
          <p:nvPr>
            <p:ph type="title"/>
          </p:nvPr>
        </p:nvSpPr>
        <p:spPr/>
        <p:txBody>
          <a:bodyPr/>
          <a:lstStyle/>
          <a:p>
            <a:r>
              <a:rPr lang="ko-KR" altLang="en-US" dirty="0"/>
              <a:t>제</a:t>
            </a:r>
            <a:r>
              <a:rPr lang="en-US" altLang="ko-KR" dirty="0"/>
              <a:t>16</a:t>
            </a:r>
            <a:r>
              <a:rPr lang="ko-KR" altLang="en-US" dirty="0"/>
              <a:t>조</a:t>
            </a:r>
          </a:p>
        </p:txBody>
      </p:sp>
      <p:sp>
        <p:nvSpPr>
          <p:cNvPr id="4" name="텍스트 개체 틀 3">
            <a:extLst>
              <a:ext uri="{FF2B5EF4-FFF2-40B4-BE49-F238E27FC236}">
                <a16:creationId xmlns:a16="http://schemas.microsoft.com/office/drawing/2014/main" id="{7D66D039-C833-0096-C044-5EC03187EC44}"/>
              </a:ext>
            </a:extLst>
          </p:cNvPr>
          <p:cNvSpPr>
            <a:spLocks noGrp="1"/>
          </p:cNvSpPr>
          <p:nvPr>
            <p:ph type="body" sz="quarter" idx="13"/>
          </p:nvPr>
        </p:nvSpPr>
        <p:spPr/>
        <p:txBody>
          <a:bodyPr/>
          <a:lstStyle/>
          <a:p>
            <a:r>
              <a:rPr lang="ko-KR" altLang="en-US" dirty="0"/>
              <a:t>절차의 무효사유 </a:t>
            </a:r>
            <a:r>
              <a:rPr lang="en-US" altLang="ko-KR" dirty="0"/>
              <a:t>vs </a:t>
            </a:r>
            <a:r>
              <a:rPr lang="ko-KR" altLang="en-US" dirty="0"/>
              <a:t>불수리사유</a:t>
            </a:r>
          </a:p>
        </p:txBody>
      </p:sp>
      <p:sp>
        <p:nvSpPr>
          <p:cNvPr id="2" name="슬라이드 번호 개체 틀 1">
            <a:extLst>
              <a:ext uri="{FF2B5EF4-FFF2-40B4-BE49-F238E27FC236}">
                <a16:creationId xmlns:a16="http://schemas.microsoft.com/office/drawing/2014/main" id="{7B20BD9C-5B1B-4453-3CDE-718660089E47}"/>
              </a:ext>
            </a:extLst>
          </p:cNvPr>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40</a:t>
            </a:fld>
            <a:endParaRPr lang="ko-KR" altLang="en-US"/>
          </a:p>
        </p:txBody>
      </p:sp>
      <p:sp>
        <p:nvSpPr>
          <p:cNvPr id="6" name="사각형: 둥근 모서리 5">
            <a:extLst>
              <a:ext uri="{FF2B5EF4-FFF2-40B4-BE49-F238E27FC236}">
                <a16:creationId xmlns:a16="http://schemas.microsoft.com/office/drawing/2014/main" id="{8E230CFF-411E-76EF-327D-8B5228D5130B}"/>
              </a:ext>
            </a:extLst>
          </p:cNvPr>
          <p:cNvSpPr/>
          <p:nvPr/>
        </p:nvSpPr>
        <p:spPr>
          <a:xfrm>
            <a:off x="2784929" y="1295535"/>
            <a:ext cx="2088232" cy="1296144"/>
          </a:xfrm>
          <a:prstGeom prst="roundRect">
            <a:avLst/>
          </a:prstGeom>
          <a:solidFill>
            <a:schemeClr val="accent2"/>
          </a:solid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2">
                    <a:lumMod val="50000"/>
                  </a:schemeClr>
                </a:solidFill>
              </a:rPr>
              <a:t>경미한 하자</a:t>
            </a:r>
            <a:endParaRPr lang="en-US" altLang="ko-KR" dirty="0">
              <a:solidFill>
                <a:schemeClr val="tx2">
                  <a:lumMod val="50000"/>
                </a:schemeClr>
              </a:solidFill>
            </a:endParaRPr>
          </a:p>
          <a:p>
            <a:pPr algn="ctr"/>
            <a:r>
              <a:rPr lang="en-US" altLang="ko-KR" dirty="0">
                <a:solidFill>
                  <a:schemeClr val="tx2">
                    <a:lumMod val="50000"/>
                  </a:schemeClr>
                </a:solidFill>
              </a:rPr>
              <a:t>(</a:t>
            </a:r>
            <a:r>
              <a:rPr lang="ko-KR" altLang="en-US" dirty="0">
                <a:solidFill>
                  <a:schemeClr val="tx2">
                    <a:lumMod val="50000"/>
                  </a:schemeClr>
                </a:solidFill>
              </a:rPr>
              <a:t>제</a:t>
            </a:r>
            <a:r>
              <a:rPr lang="en-US" altLang="ko-KR" dirty="0">
                <a:solidFill>
                  <a:schemeClr val="tx2">
                    <a:lumMod val="50000"/>
                  </a:schemeClr>
                </a:solidFill>
              </a:rPr>
              <a:t>46</a:t>
            </a:r>
            <a:r>
              <a:rPr lang="ko-KR" altLang="en-US" dirty="0">
                <a:solidFill>
                  <a:schemeClr val="tx2">
                    <a:lumMod val="50000"/>
                  </a:schemeClr>
                </a:solidFill>
              </a:rPr>
              <a:t>조</a:t>
            </a:r>
            <a:r>
              <a:rPr lang="en-US" altLang="ko-KR" dirty="0">
                <a:solidFill>
                  <a:schemeClr val="tx2">
                    <a:lumMod val="50000"/>
                  </a:schemeClr>
                </a:solidFill>
              </a:rPr>
              <a:t>)</a:t>
            </a:r>
            <a:endParaRPr lang="ko-KR" altLang="en-US" dirty="0">
              <a:solidFill>
                <a:schemeClr val="tx2">
                  <a:lumMod val="50000"/>
                </a:schemeClr>
              </a:solidFill>
            </a:endParaRPr>
          </a:p>
        </p:txBody>
      </p:sp>
      <p:sp>
        <p:nvSpPr>
          <p:cNvPr id="7" name="사각형: 둥근 모서리 6">
            <a:extLst>
              <a:ext uri="{FF2B5EF4-FFF2-40B4-BE49-F238E27FC236}">
                <a16:creationId xmlns:a16="http://schemas.microsoft.com/office/drawing/2014/main" id="{F436FFB1-3CA0-AE9E-EA6D-0C2CC7468CCE}"/>
              </a:ext>
            </a:extLst>
          </p:cNvPr>
          <p:cNvSpPr/>
          <p:nvPr/>
        </p:nvSpPr>
        <p:spPr>
          <a:xfrm>
            <a:off x="6961393" y="1295535"/>
            <a:ext cx="2088232" cy="1296144"/>
          </a:xfrm>
          <a:prstGeom prst="roundRect">
            <a:avLst/>
          </a:prstGeom>
          <a:solidFill>
            <a:schemeClr val="tx2">
              <a:lumMod val="50000"/>
            </a:schemeClr>
          </a:solid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rgbClr val="FFFF00"/>
                </a:solidFill>
              </a:rPr>
              <a:t>중대한 하자</a:t>
            </a:r>
            <a:endParaRPr lang="en-US" altLang="ko-KR" dirty="0">
              <a:solidFill>
                <a:srgbClr val="FFFF00"/>
              </a:solidFill>
            </a:endParaRPr>
          </a:p>
          <a:p>
            <a:pPr algn="ctr"/>
            <a:r>
              <a:rPr lang="en-US" altLang="ko-KR" dirty="0">
                <a:solidFill>
                  <a:srgbClr val="FFFF00"/>
                </a:solidFill>
              </a:rPr>
              <a:t>(</a:t>
            </a:r>
            <a:r>
              <a:rPr lang="ko-KR" altLang="en-US" dirty="0">
                <a:solidFill>
                  <a:srgbClr val="FFFF00"/>
                </a:solidFill>
              </a:rPr>
              <a:t>시행규칙 제</a:t>
            </a:r>
            <a:r>
              <a:rPr lang="en-US" altLang="ko-KR" dirty="0">
                <a:solidFill>
                  <a:srgbClr val="FFFF00"/>
                </a:solidFill>
              </a:rPr>
              <a:t>11</a:t>
            </a:r>
            <a:r>
              <a:rPr lang="ko-KR" altLang="en-US" dirty="0">
                <a:solidFill>
                  <a:srgbClr val="FFFF00"/>
                </a:solidFill>
              </a:rPr>
              <a:t>조</a:t>
            </a:r>
            <a:r>
              <a:rPr lang="en-US" altLang="ko-KR" dirty="0">
                <a:solidFill>
                  <a:srgbClr val="FFFF00"/>
                </a:solidFill>
              </a:rPr>
              <a:t>)</a:t>
            </a:r>
            <a:endParaRPr lang="ko-KR" altLang="en-US" dirty="0">
              <a:solidFill>
                <a:srgbClr val="FFFF00"/>
              </a:solidFill>
            </a:endParaRPr>
          </a:p>
        </p:txBody>
      </p:sp>
      <p:sp>
        <p:nvSpPr>
          <p:cNvPr id="8" name="TextBox 7">
            <a:extLst>
              <a:ext uri="{FF2B5EF4-FFF2-40B4-BE49-F238E27FC236}">
                <a16:creationId xmlns:a16="http://schemas.microsoft.com/office/drawing/2014/main" id="{6B8C787D-FB69-74EA-92C0-12242B4C61DD}"/>
              </a:ext>
            </a:extLst>
          </p:cNvPr>
          <p:cNvSpPr txBox="1"/>
          <p:nvPr/>
        </p:nvSpPr>
        <p:spPr>
          <a:xfrm>
            <a:off x="5514998" y="1620441"/>
            <a:ext cx="646331" cy="646331"/>
          </a:xfrm>
          <a:prstGeom prst="rect">
            <a:avLst/>
          </a:prstGeom>
          <a:noFill/>
        </p:spPr>
        <p:txBody>
          <a:bodyPr wrap="none" rtlCol="0">
            <a:spAutoFit/>
          </a:bodyPr>
          <a:lstStyle/>
          <a:p>
            <a:r>
              <a:rPr lang="en-US" altLang="ko-KR" sz="3600" dirty="0"/>
              <a:t>vs</a:t>
            </a:r>
            <a:endParaRPr lang="ko-KR" altLang="en-US" sz="3600" dirty="0"/>
          </a:p>
        </p:txBody>
      </p:sp>
      <p:sp>
        <p:nvSpPr>
          <p:cNvPr id="11" name="직사각형 10">
            <a:extLst>
              <a:ext uri="{FF2B5EF4-FFF2-40B4-BE49-F238E27FC236}">
                <a16:creationId xmlns:a16="http://schemas.microsoft.com/office/drawing/2014/main" id="{57110F97-D156-A0B4-9336-79A1E3D8425B}"/>
              </a:ext>
            </a:extLst>
          </p:cNvPr>
          <p:cNvSpPr/>
          <p:nvPr/>
        </p:nvSpPr>
        <p:spPr>
          <a:xfrm>
            <a:off x="2800953" y="3034612"/>
            <a:ext cx="2088232" cy="711019"/>
          </a:xfrm>
          <a:prstGeom prst="rect">
            <a:avLst/>
          </a:prstGeom>
          <a:solidFill>
            <a:schemeClr val="accent2">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50000"/>
                  </a:schemeClr>
                </a:solidFill>
              </a:rPr>
              <a:t>행위능력 흠결</a:t>
            </a:r>
            <a:endParaRPr lang="en-US" altLang="ko-KR" dirty="0">
              <a:solidFill>
                <a:schemeClr val="bg1">
                  <a:lumMod val="50000"/>
                </a:schemeClr>
              </a:solidFill>
            </a:endParaRPr>
          </a:p>
          <a:p>
            <a:pPr algn="ctr"/>
            <a:r>
              <a:rPr lang="en-US" altLang="ko-KR" dirty="0">
                <a:solidFill>
                  <a:schemeClr val="bg1">
                    <a:lumMod val="50000"/>
                  </a:schemeClr>
                </a:solidFill>
              </a:rPr>
              <a:t>(</a:t>
            </a:r>
            <a:r>
              <a:rPr lang="ko-KR" altLang="en-US" dirty="0">
                <a:solidFill>
                  <a:schemeClr val="bg1">
                    <a:lumMod val="50000"/>
                  </a:schemeClr>
                </a:solidFill>
              </a:rPr>
              <a:t>제</a:t>
            </a:r>
            <a:r>
              <a:rPr lang="en-US" altLang="ko-KR" dirty="0">
                <a:solidFill>
                  <a:schemeClr val="bg1">
                    <a:lumMod val="50000"/>
                  </a:schemeClr>
                </a:solidFill>
              </a:rPr>
              <a:t>3</a:t>
            </a:r>
            <a:r>
              <a:rPr lang="ko-KR" altLang="en-US" dirty="0">
                <a:solidFill>
                  <a:schemeClr val="bg1">
                    <a:lumMod val="50000"/>
                  </a:schemeClr>
                </a:solidFill>
              </a:rPr>
              <a:t>조제</a:t>
            </a:r>
            <a:r>
              <a:rPr lang="en-US" altLang="ko-KR" dirty="0">
                <a:solidFill>
                  <a:schemeClr val="bg1">
                    <a:lumMod val="50000"/>
                  </a:schemeClr>
                </a:solidFill>
              </a:rPr>
              <a:t>1</a:t>
            </a:r>
            <a:r>
              <a:rPr lang="ko-KR" altLang="en-US" dirty="0">
                <a:solidFill>
                  <a:schemeClr val="bg1">
                    <a:lumMod val="50000"/>
                  </a:schemeClr>
                </a:solidFill>
              </a:rPr>
              <a:t>항</a:t>
            </a:r>
            <a:r>
              <a:rPr lang="en-US" altLang="ko-KR" dirty="0">
                <a:solidFill>
                  <a:schemeClr val="bg1">
                    <a:lumMod val="50000"/>
                  </a:schemeClr>
                </a:solidFill>
              </a:rPr>
              <a:t>)</a:t>
            </a:r>
            <a:endParaRPr lang="ko-KR" altLang="en-US" dirty="0">
              <a:solidFill>
                <a:schemeClr val="bg1">
                  <a:lumMod val="50000"/>
                </a:schemeClr>
              </a:solidFill>
            </a:endParaRPr>
          </a:p>
        </p:txBody>
      </p:sp>
      <p:sp>
        <p:nvSpPr>
          <p:cNvPr id="14" name="직사각형 13">
            <a:extLst>
              <a:ext uri="{FF2B5EF4-FFF2-40B4-BE49-F238E27FC236}">
                <a16:creationId xmlns:a16="http://schemas.microsoft.com/office/drawing/2014/main" id="{7D4E5E2F-7336-39A4-6287-5AAE0E76D660}"/>
              </a:ext>
            </a:extLst>
          </p:cNvPr>
          <p:cNvSpPr/>
          <p:nvPr/>
        </p:nvSpPr>
        <p:spPr>
          <a:xfrm>
            <a:off x="2800953" y="3832582"/>
            <a:ext cx="2088232" cy="711019"/>
          </a:xfrm>
          <a:prstGeom prst="rect">
            <a:avLst/>
          </a:prstGeom>
          <a:solidFill>
            <a:schemeClr val="accent2">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50000"/>
                  </a:schemeClr>
                </a:solidFill>
              </a:rPr>
              <a:t>대리권 흠결</a:t>
            </a:r>
            <a:endParaRPr lang="en-US" altLang="ko-KR" dirty="0">
              <a:solidFill>
                <a:schemeClr val="bg1">
                  <a:lumMod val="50000"/>
                </a:schemeClr>
              </a:solidFill>
            </a:endParaRPr>
          </a:p>
          <a:p>
            <a:pPr algn="ctr"/>
            <a:r>
              <a:rPr lang="en-US" altLang="ko-KR" dirty="0">
                <a:solidFill>
                  <a:schemeClr val="bg1">
                    <a:lumMod val="50000"/>
                  </a:schemeClr>
                </a:solidFill>
              </a:rPr>
              <a:t>(</a:t>
            </a:r>
            <a:r>
              <a:rPr lang="ko-KR" altLang="en-US" dirty="0">
                <a:solidFill>
                  <a:schemeClr val="bg1">
                    <a:lumMod val="50000"/>
                  </a:schemeClr>
                </a:solidFill>
              </a:rPr>
              <a:t>제</a:t>
            </a:r>
            <a:r>
              <a:rPr lang="en-US" altLang="ko-KR" dirty="0">
                <a:solidFill>
                  <a:schemeClr val="bg1">
                    <a:lumMod val="50000"/>
                  </a:schemeClr>
                </a:solidFill>
              </a:rPr>
              <a:t>6</a:t>
            </a:r>
            <a:r>
              <a:rPr lang="ko-KR" altLang="en-US" dirty="0">
                <a:solidFill>
                  <a:schemeClr val="bg1">
                    <a:lumMod val="50000"/>
                  </a:schemeClr>
                </a:solidFill>
              </a:rPr>
              <a:t>조</a:t>
            </a:r>
            <a:r>
              <a:rPr lang="en-US" altLang="ko-KR" dirty="0">
                <a:solidFill>
                  <a:schemeClr val="bg1">
                    <a:lumMod val="50000"/>
                  </a:schemeClr>
                </a:solidFill>
              </a:rPr>
              <a:t>)</a:t>
            </a:r>
            <a:endParaRPr lang="ko-KR" altLang="en-US" dirty="0">
              <a:solidFill>
                <a:schemeClr val="bg1">
                  <a:lumMod val="50000"/>
                </a:schemeClr>
              </a:solidFill>
            </a:endParaRPr>
          </a:p>
        </p:txBody>
      </p:sp>
      <p:sp>
        <p:nvSpPr>
          <p:cNvPr id="15" name="직사각형 14">
            <a:extLst>
              <a:ext uri="{FF2B5EF4-FFF2-40B4-BE49-F238E27FC236}">
                <a16:creationId xmlns:a16="http://schemas.microsoft.com/office/drawing/2014/main" id="{867279EE-25C1-C61F-CCE8-C3109CCB0A6F}"/>
              </a:ext>
            </a:extLst>
          </p:cNvPr>
          <p:cNvSpPr/>
          <p:nvPr/>
        </p:nvSpPr>
        <p:spPr>
          <a:xfrm>
            <a:off x="2800953" y="4630553"/>
            <a:ext cx="2088232" cy="711019"/>
          </a:xfrm>
          <a:prstGeom prst="rect">
            <a:avLst/>
          </a:prstGeom>
          <a:solidFill>
            <a:schemeClr val="accent2">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50000"/>
                  </a:schemeClr>
                </a:solidFill>
              </a:rPr>
              <a:t>방식위반</a:t>
            </a:r>
          </a:p>
        </p:txBody>
      </p:sp>
      <p:sp>
        <p:nvSpPr>
          <p:cNvPr id="16" name="직사각형 15">
            <a:extLst>
              <a:ext uri="{FF2B5EF4-FFF2-40B4-BE49-F238E27FC236}">
                <a16:creationId xmlns:a16="http://schemas.microsoft.com/office/drawing/2014/main" id="{265FD85A-529B-7604-4937-1FD1216BFBFB}"/>
              </a:ext>
            </a:extLst>
          </p:cNvPr>
          <p:cNvSpPr/>
          <p:nvPr/>
        </p:nvSpPr>
        <p:spPr>
          <a:xfrm>
            <a:off x="2800953" y="5439406"/>
            <a:ext cx="2088232" cy="711019"/>
          </a:xfrm>
          <a:prstGeom prst="rect">
            <a:avLst/>
          </a:prstGeom>
          <a:solidFill>
            <a:schemeClr val="accent2">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50000"/>
                  </a:schemeClr>
                </a:solidFill>
              </a:rPr>
              <a:t>수수료 불납</a:t>
            </a:r>
            <a:endParaRPr lang="en-US" altLang="ko-KR" dirty="0">
              <a:solidFill>
                <a:schemeClr val="bg1">
                  <a:lumMod val="50000"/>
                </a:schemeClr>
              </a:solidFill>
            </a:endParaRPr>
          </a:p>
          <a:p>
            <a:pPr algn="ctr"/>
            <a:r>
              <a:rPr lang="en-US" altLang="ko-KR" dirty="0">
                <a:solidFill>
                  <a:schemeClr val="bg1">
                    <a:lumMod val="50000"/>
                  </a:schemeClr>
                </a:solidFill>
              </a:rPr>
              <a:t>(</a:t>
            </a:r>
            <a:r>
              <a:rPr lang="ko-KR" altLang="en-US" dirty="0">
                <a:solidFill>
                  <a:schemeClr val="bg1">
                    <a:lumMod val="50000"/>
                  </a:schemeClr>
                </a:solidFill>
              </a:rPr>
              <a:t>제</a:t>
            </a:r>
            <a:r>
              <a:rPr lang="en-US" altLang="ko-KR" dirty="0">
                <a:solidFill>
                  <a:schemeClr val="bg1">
                    <a:lumMod val="50000"/>
                  </a:schemeClr>
                </a:solidFill>
              </a:rPr>
              <a:t>82</a:t>
            </a:r>
            <a:r>
              <a:rPr lang="ko-KR" altLang="en-US" dirty="0">
                <a:solidFill>
                  <a:schemeClr val="bg1">
                    <a:lumMod val="50000"/>
                  </a:schemeClr>
                </a:solidFill>
              </a:rPr>
              <a:t>조</a:t>
            </a:r>
            <a:r>
              <a:rPr lang="en-US" altLang="ko-KR" dirty="0">
                <a:solidFill>
                  <a:schemeClr val="bg1">
                    <a:lumMod val="50000"/>
                  </a:schemeClr>
                </a:solidFill>
              </a:rPr>
              <a:t>)</a:t>
            </a:r>
            <a:endParaRPr lang="ko-KR" altLang="en-US" dirty="0">
              <a:solidFill>
                <a:schemeClr val="bg1">
                  <a:lumMod val="50000"/>
                </a:schemeClr>
              </a:solidFill>
            </a:endParaRPr>
          </a:p>
        </p:txBody>
      </p:sp>
      <p:sp>
        <p:nvSpPr>
          <p:cNvPr id="17" name="직사각형 16">
            <a:extLst>
              <a:ext uri="{FF2B5EF4-FFF2-40B4-BE49-F238E27FC236}">
                <a16:creationId xmlns:a16="http://schemas.microsoft.com/office/drawing/2014/main" id="{93B2117D-4620-BC1B-D79C-8B698A570329}"/>
              </a:ext>
            </a:extLst>
          </p:cNvPr>
          <p:cNvSpPr/>
          <p:nvPr/>
        </p:nvSpPr>
        <p:spPr>
          <a:xfrm>
            <a:off x="6961393" y="3032789"/>
            <a:ext cx="2088232" cy="711019"/>
          </a:xfrm>
          <a:prstGeom prst="rect">
            <a:avLst/>
          </a:prstGeom>
          <a:solidFill>
            <a:schemeClr val="tx2">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err="1">
                <a:solidFill>
                  <a:schemeClr val="bg1">
                    <a:lumMod val="50000"/>
                  </a:schemeClr>
                </a:solidFill>
              </a:rPr>
              <a:t>제한열거적</a:t>
            </a:r>
            <a:endParaRPr lang="ko-KR" altLang="en-US" dirty="0">
              <a:solidFill>
                <a:schemeClr val="bg1">
                  <a:lumMod val="50000"/>
                </a:schemeClr>
              </a:solidFill>
            </a:endParaRPr>
          </a:p>
        </p:txBody>
      </p:sp>
      <p:cxnSp>
        <p:nvCxnSpPr>
          <p:cNvPr id="18" name="직선 화살표 연결선 17">
            <a:extLst>
              <a:ext uri="{FF2B5EF4-FFF2-40B4-BE49-F238E27FC236}">
                <a16:creationId xmlns:a16="http://schemas.microsoft.com/office/drawing/2014/main" id="{4DAF2D6B-0652-91CA-0AA0-F993947DC636}"/>
              </a:ext>
            </a:extLst>
          </p:cNvPr>
          <p:cNvCxnSpPr>
            <a:cxnSpLocks/>
            <a:stCxn id="15" idx="3"/>
            <a:endCxn id="17" idx="1"/>
          </p:cNvCxnSpPr>
          <p:nvPr/>
        </p:nvCxnSpPr>
        <p:spPr>
          <a:xfrm flipV="1">
            <a:off x="4889185" y="3388299"/>
            <a:ext cx="2072208" cy="1597764"/>
          </a:xfrm>
          <a:prstGeom prst="straightConnector1">
            <a:avLst/>
          </a:prstGeom>
          <a:ln w="381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45166C34-45E8-C3BD-BFAC-D5EB9D96C74D}"/>
              </a:ext>
            </a:extLst>
          </p:cNvPr>
          <p:cNvSpPr txBox="1"/>
          <p:nvPr/>
        </p:nvSpPr>
        <p:spPr>
          <a:xfrm>
            <a:off x="5932941" y="4445887"/>
            <a:ext cx="5238935" cy="461665"/>
          </a:xfrm>
          <a:prstGeom prst="rect">
            <a:avLst/>
          </a:prstGeom>
          <a:noFill/>
          <a:ln w="57150">
            <a:solidFill>
              <a:srgbClr val="FF0000"/>
            </a:solidFill>
          </a:ln>
        </p:spPr>
        <p:txBody>
          <a:bodyPr wrap="none" rtlCol="0">
            <a:spAutoFit/>
          </a:bodyPr>
          <a:lstStyle/>
          <a:p>
            <a:r>
              <a:rPr lang="ko-KR" altLang="en-US" sz="2400"/>
              <a:t>열거되지 않은 하자는 방식위반으로 취급</a:t>
            </a:r>
          </a:p>
        </p:txBody>
      </p:sp>
    </p:spTree>
    <p:extLst>
      <p:ext uri="{BB962C8B-B14F-4D97-AF65-F5344CB8AC3E}">
        <p14:creationId xmlns:p14="http://schemas.microsoft.com/office/powerpoint/2010/main" val="406148092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18</a:t>
            </a:r>
            <a:r>
              <a:rPr lang="ko-KR" altLang="en-US" dirty="0"/>
              <a:t>조</a:t>
            </a:r>
            <a:r>
              <a:rPr lang="en-US" altLang="ko-KR" dirty="0"/>
              <a:t>~</a:t>
            </a:r>
            <a:r>
              <a:rPr lang="ko-KR" altLang="en-US" dirty="0"/>
              <a:t>제</a:t>
            </a:r>
            <a:r>
              <a:rPr lang="en-US" altLang="ko-KR" dirty="0"/>
              <a:t>19</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절차의 효력의 승계 및 속행</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41</a:t>
            </a:fld>
            <a:endParaRPr lang="ko-KR" altLang="en-US"/>
          </a:p>
        </p:txBody>
      </p:sp>
      <p:sp>
        <p:nvSpPr>
          <p:cNvPr id="49" name="직사각형 48">
            <a:extLst>
              <a:ext uri="{FF2B5EF4-FFF2-40B4-BE49-F238E27FC236}">
                <a16:creationId xmlns:a16="http://schemas.microsoft.com/office/drawing/2014/main" id="{6CFB3405-187B-46AB-AA75-78213D5A4AC2}"/>
              </a:ext>
            </a:extLst>
          </p:cNvPr>
          <p:cNvSpPr/>
          <p:nvPr/>
        </p:nvSpPr>
        <p:spPr>
          <a:xfrm>
            <a:off x="776852" y="3627613"/>
            <a:ext cx="1931784" cy="46454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甲 설정등록</a:t>
            </a:r>
            <a:r>
              <a:rPr lang="en-US" altLang="ko-KR" sz="1600" dirty="0">
                <a:solidFill>
                  <a:schemeClr val="tx1"/>
                </a:solidFill>
              </a:rPr>
              <a:t>(X)</a:t>
            </a:r>
            <a:endParaRPr lang="en-US" altLang="ko-KR" sz="1200" dirty="0">
              <a:solidFill>
                <a:schemeClr val="tx1"/>
              </a:solidFill>
            </a:endParaRPr>
          </a:p>
        </p:txBody>
      </p:sp>
      <p:cxnSp>
        <p:nvCxnSpPr>
          <p:cNvPr id="74" name="직선 화살표 연결선 73">
            <a:extLst>
              <a:ext uri="{FF2B5EF4-FFF2-40B4-BE49-F238E27FC236}">
                <a16:creationId xmlns:a16="http://schemas.microsoft.com/office/drawing/2014/main" id="{C7CEA66F-CC31-494B-94D1-A0C7A9560391}"/>
              </a:ext>
            </a:extLst>
          </p:cNvPr>
          <p:cNvCxnSpPr>
            <a:cxnSpLocks/>
            <a:stCxn id="49" idx="3"/>
          </p:cNvCxnSpPr>
          <p:nvPr/>
        </p:nvCxnSpPr>
        <p:spPr>
          <a:xfrm>
            <a:off x="2708636" y="3859887"/>
            <a:ext cx="8171174"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5" name="직사각형 74">
            <a:extLst>
              <a:ext uri="{FF2B5EF4-FFF2-40B4-BE49-F238E27FC236}">
                <a16:creationId xmlns:a16="http://schemas.microsoft.com/office/drawing/2014/main" id="{67C88E7B-4DC9-4AB2-93E8-AF10605B103D}"/>
              </a:ext>
            </a:extLst>
          </p:cNvPr>
          <p:cNvSpPr/>
          <p:nvPr/>
        </p:nvSpPr>
        <p:spPr>
          <a:xfrm>
            <a:off x="5436338" y="3627613"/>
            <a:ext cx="1931784" cy="46454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甲</a:t>
            </a:r>
            <a:r>
              <a:rPr lang="en-US" altLang="ko-KR" sz="1600" dirty="0">
                <a:solidFill>
                  <a:schemeClr val="tx1"/>
                </a:solidFill>
              </a:rPr>
              <a:t>-</a:t>
            </a:r>
            <a:r>
              <a:rPr lang="ko-KR" altLang="en-US" sz="1600" dirty="0">
                <a:solidFill>
                  <a:schemeClr val="tx1"/>
                </a:solidFill>
              </a:rPr>
              <a:t>乙 이전</a:t>
            </a:r>
            <a:r>
              <a:rPr lang="en-US" altLang="ko-KR" sz="1600" dirty="0">
                <a:solidFill>
                  <a:schemeClr val="tx1"/>
                </a:solidFill>
              </a:rPr>
              <a:t>(X)</a:t>
            </a:r>
            <a:endParaRPr lang="en-US" altLang="ko-KR" sz="1200" dirty="0">
              <a:solidFill>
                <a:schemeClr val="tx1"/>
              </a:solidFill>
            </a:endParaRPr>
          </a:p>
        </p:txBody>
      </p:sp>
      <p:sp>
        <p:nvSpPr>
          <p:cNvPr id="76" name="직사각형 75">
            <a:extLst>
              <a:ext uri="{FF2B5EF4-FFF2-40B4-BE49-F238E27FC236}">
                <a16:creationId xmlns:a16="http://schemas.microsoft.com/office/drawing/2014/main" id="{B022D3BB-DE5F-4371-A90C-5365C6D1487B}"/>
              </a:ext>
            </a:extLst>
          </p:cNvPr>
          <p:cNvSpPr/>
          <p:nvPr/>
        </p:nvSpPr>
        <p:spPr>
          <a:xfrm>
            <a:off x="2977612" y="4201975"/>
            <a:ext cx="2458726" cy="70312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丙이 甲을 피청구인으로 </a:t>
            </a:r>
            <a:endParaRPr lang="en-US" altLang="ko-KR" sz="1600" dirty="0">
              <a:solidFill>
                <a:schemeClr val="tx1"/>
              </a:solidFill>
            </a:endParaRPr>
          </a:p>
          <a:p>
            <a:pPr algn="ctr"/>
            <a:r>
              <a:rPr lang="ko-KR" altLang="en-US" sz="1600" dirty="0">
                <a:solidFill>
                  <a:schemeClr val="tx1"/>
                </a:solidFill>
              </a:rPr>
              <a:t>하여 무효심판청구</a:t>
            </a:r>
            <a:endParaRPr lang="en-US" altLang="ko-KR" sz="1200" dirty="0">
              <a:solidFill>
                <a:schemeClr val="tx1"/>
              </a:solidFill>
            </a:endParaRPr>
          </a:p>
        </p:txBody>
      </p:sp>
      <p:cxnSp>
        <p:nvCxnSpPr>
          <p:cNvPr id="8" name="직선 화살표 연결선 7">
            <a:extLst>
              <a:ext uri="{FF2B5EF4-FFF2-40B4-BE49-F238E27FC236}">
                <a16:creationId xmlns:a16="http://schemas.microsoft.com/office/drawing/2014/main" id="{5D82BFD8-8228-4152-AF24-04C3E06E2920}"/>
              </a:ext>
            </a:extLst>
          </p:cNvPr>
          <p:cNvCxnSpPr>
            <a:cxnSpLocks/>
            <a:stCxn id="76" idx="0"/>
          </p:cNvCxnSpPr>
          <p:nvPr/>
        </p:nvCxnSpPr>
        <p:spPr>
          <a:xfrm flipV="1">
            <a:off x="4206975" y="3859889"/>
            <a:ext cx="0" cy="342086"/>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7" name="사각형: 둥근 모서리 76">
            <a:extLst>
              <a:ext uri="{FF2B5EF4-FFF2-40B4-BE49-F238E27FC236}">
                <a16:creationId xmlns:a16="http://schemas.microsoft.com/office/drawing/2014/main" id="{6C0C0944-8773-46FE-8A10-40985404F074}"/>
              </a:ext>
            </a:extLst>
          </p:cNvPr>
          <p:cNvSpPr/>
          <p:nvPr/>
        </p:nvSpPr>
        <p:spPr>
          <a:xfrm>
            <a:off x="8134350" y="3627613"/>
            <a:ext cx="527896" cy="464548"/>
          </a:xfrm>
          <a:prstGeom prst="roundRect">
            <a:avLst>
              <a:gd name="adj" fmla="val 37756"/>
            </a:avLst>
          </a:prstGeom>
          <a:solidFill>
            <a:schemeClr val="tx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2800" dirty="0">
                <a:solidFill>
                  <a:schemeClr val="accent4"/>
                </a:solidFill>
              </a:rPr>
              <a:t>1</a:t>
            </a:r>
            <a:endParaRPr lang="en-US" altLang="ko-KR" sz="2000" dirty="0">
              <a:solidFill>
                <a:schemeClr val="accent4"/>
              </a:solidFill>
            </a:endParaRPr>
          </a:p>
        </p:txBody>
      </p:sp>
      <p:sp>
        <p:nvSpPr>
          <p:cNvPr id="78" name="직사각형 77">
            <a:extLst>
              <a:ext uri="{FF2B5EF4-FFF2-40B4-BE49-F238E27FC236}">
                <a16:creationId xmlns:a16="http://schemas.microsoft.com/office/drawing/2014/main" id="{066C07F3-02A5-4B96-AE47-5784B6A0DB7C}"/>
              </a:ext>
            </a:extLst>
          </p:cNvPr>
          <p:cNvSpPr/>
          <p:nvPr/>
        </p:nvSpPr>
        <p:spPr>
          <a:xfrm>
            <a:off x="2225690" y="5877017"/>
            <a:ext cx="965892" cy="464548"/>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이전</a:t>
            </a:r>
            <a:r>
              <a:rPr lang="en-US" altLang="ko-KR" sz="1600" dirty="0">
                <a:solidFill>
                  <a:schemeClr val="tx1"/>
                </a:solidFill>
              </a:rPr>
              <a:t>(X)</a:t>
            </a:r>
            <a:endParaRPr lang="en-US" altLang="ko-KR" sz="1200" dirty="0">
              <a:solidFill>
                <a:schemeClr val="tx1"/>
              </a:solidFill>
            </a:endParaRPr>
          </a:p>
        </p:txBody>
      </p:sp>
      <p:sp>
        <p:nvSpPr>
          <p:cNvPr id="79" name="직사각형 78">
            <a:extLst>
              <a:ext uri="{FF2B5EF4-FFF2-40B4-BE49-F238E27FC236}">
                <a16:creationId xmlns:a16="http://schemas.microsoft.com/office/drawing/2014/main" id="{3DE2EE3F-A1D1-446F-A9FA-C4B6C375CBC5}"/>
              </a:ext>
            </a:extLst>
          </p:cNvPr>
          <p:cNvSpPr/>
          <p:nvPr/>
        </p:nvSpPr>
        <p:spPr>
          <a:xfrm>
            <a:off x="3724028" y="5490760"/>
            <a:ext cx="2458725" cy="464548"/>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양도</a:t>
            </a:r>
            <a:r>
              <a:rPr lang="en-US" altLang="ko-KR" sz="1600" dirty="0">
                <a:solidFill>
                  <a:schemeClr val="tx1"/>
                </a:solidFill>
              </a:rPr>
              <a:t>(X)</a:t>
            </a:r>
          </a:p>
          <a:p>
            <a:pPr algn="ctr"/>
            <a:r>
              <a:rPr lang="en-US" altLang="ko-KR" sz="1200" dirty="0">
                <a:solidFill>
                  <a:schemeClr val="tx1"/>
                </a:solidFill>
              </a:rPr>
              <a:t>(</a:t>
            </a:r>
            <a:r>
              <a:rPr lang="ko-KR" altLang="en-US" sz="1200" dirty="0">
                <a:solidFill>
                  <a:schemeClr val="tx1"/>
                </a:solidFill>
              </a:rPr>
              <a:t>이전등록시 효력발생</a:t>
            </a:r>
            <a:r>
              <a:rPr lang="en-US" altLang="ko-KR" sz="1200" dirty="0">
                <a:solidFill>
                  <a:schemeClr val="tx1"/>
                </a:solidFill>
              </a:rPr>
              <a:t>)</a:t>
            </a:r>
            <a:endParaRPr lang="en-US" altLang="ko-KR" sz="1050" dirty="0">
              <a:solidFill>
                <a:schemeClr val="tx1"/>
              </a:solidFill>
            </a:endParaRPr>
          </a:p>
        </p:txBody>
      </p:sp>
      <p:sp>
        <p:nvSpPr>
          <p:cNvPr id="80" name="직사각형 79">
            <a:extLst>
              <a:ext uri="{FF2B5EF4-FFF2-40B4-BE49-F238E27FC236}">
                <a16:creationId xmlns:a16="http://schemas.microsoft.com/office/drawing/2014/main" id="{DC45F392-B7C4-455F-91D5-367EB82B0454}"/>
              </a:ext>
            </a:extLst>
          </p:cNvPr>
          <p:cNvSpPr/>
          <p:nvPr/>
        </p:nvSpPr>
        <p:spPr>
          <a:xfrm>
            <a:off x="3724029" y="6268884"/>
            <a:ext cx="2458724" cy="464548"/>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상속</a:t>
            </a:r>
            <a:r>
              <a:rPr lang="en-US" altLang="ko-KR" sz="1600" dirty="0">
                <a:solidFill>
                  <a:schemeClr val="tx1"/>
                </a:solidFill>
              </a:rPr>
              <a:t>(X)</a:t>
            </a:r>
          </a:p>
          <a:p>
            <a:pPr algn="ctr"/>
            <a:r>
              <a:rPr lang="en-US" altLang="ko-KR" sz="1200" dirty="0">
                <a:solidFill>
                  <a:schemeClr val="tx1"/>
                </a:solidFill>
              </a:rPr>
              <a:t>(</a:t>
            </a:r>
            <a:r>
              <a:rPr lang="ko-KR" altLang="en-US" sz="1200" dirty="0" err="1">
                <a:solidFill>
                  <a:schemeClr val="tx1"/>
                </a:solidFill>
              </a:rPr>
              <a:t>상속시</a:t>
            </a:r>
            <a:r>
              <a:rPr lang="ko-KR" altLang="en-US" sz="1200" dirty="0">
                <a:solidFill>
                  <a:schemeClr val="tx1"/>
                </a:solidFill>
              </a:rPr>
              <a:t> 효력발생</a:t>
            </a:r>
            <a:r>
              <a:rPr lang="en-US" altLang="ko-KR" sz="1200" dirty="0">
                <a:solidFill>
                  <a:schemeClr val="tx1"/>
                </a:solidFill>
              </a:rPr>
              <a:t>)</a:t>
            </a:r>
            <a:endParaRPr lang="en-US" altLang="ko-KR" sz="1050" dirty="0">
              <a:solidFill>
                <a:schemeClr val="tx1"/>
              </a:solidFill>
            </a:endParaRPr>
          </a:p>
        </p:txBody>
      </p:sp>
      <p:sp>
        <p:nvSpPr>
          <p:cNvPr id="15" name="직사각형 14">
            <a:extLst>
              <a:ext uri="{FF2B5EF4-FFF2-40B4-BE49-F238E27FC236}">
                <a16:creationId xmlns:a16="http://schemas.microsoft.com/office/drawing/2014/main" id="{1077AF12-EAA0-421A-A518-975607C4DE6B}"/>
              </a:ext>
            </a:extLst>
          </p:cNvPr>
          <p:cNvSpPr/>
          <p:nvPr/>
        </p:nvSpPr>
        <p:spPr>
          <a:xfrm>
            <a:off x="6265614" y="5361625"/>
            <a:ext cx="5544093" cy="748219"/>
          </a:xfrm>
          <a:prstGeom prst="rect">
            <a:avLst/>
          </a:prstGeom>
        </p:spPr>
        <p:txBody>
          <a:bodyPr wrap="square">
            <a:spAutoFit/>
          </a:bodyPr>
          <a:lstStyle/>
          <a:p>
            <a:pPr marL="139700" marR="17780" indent="-122238" algn="just" fontAlgn="base">
              <a:spcBef>
                <a:spcPts val="700"/>
              </a:spcBef>
            </a:pPr>
            <a:r>
              <a:rPr lang="en-US" altLang="ko-KR" sz="1400" kern="0" spc="-100" dirty="0">
                <a:solidFill>
                  <a:srgbClr val="000000"/>
                </a:solidFill>
                <a:latin typeface="Rix모던고딕 B" panose="02020603020101020101" pitchFamily="18" charset="-127"/>
                <a:ea typeface="Rix모던고딕 B" panose="02020603020101020101" pitchFamily="18" charset="-127"/>
              </a:rPr>
              <a:t>- </a:t>
            </a:r>
            <a:r>
              <a:rPr lang="ko-KR" altLang="en-US" sz="1400" kern="0" spc="-100" dirty="0">
                <a:solidFill>
                  <a:srgbClr val="000000"/>
                </a:solidFill>
                <a:latin typeface="Rix모던고딕 B" panose="02020603020101020101" pitchFamily="18" charset="-127"/>
                <a:ea typeface="Rix모던고딕 B" panose="02020603020101020101" pitchFamily="18" charset="-127"/>
              </a:rPr>
              <a:t>심판장은 乙을 피청구인으로 하여 절차를 속행하게 할 수도 있고</a:t>
            </a:r>
            <a:r>
              <a:rPr lang="en-US" altLang="ko-KR" sz="1400" kern="0" spc="-100" dirty="0">
                <a:solidFill>
                  <a:srgbClr val="000000"/>
                </a:solidFill>
                <a:latin typeface="Rix모던고딕 B" panose="02020603020101020101" pitchFamily="18" charset="-127"/>
                <a:ea typeface="Rix모던고딕 B" panose="02020603020101020101" pitchFamily="18" charset="-127"/>
              </a:rPr>
              <a:t>, </a:t>
            </a:r>
            <a:r>
              <a:rPr lang="ko-KR" altLang="en-US" sz="1400" kern="0" spc="-100" dirty="0">
                <a:solidFill>
                  <a:srgbClr val="000000"/>
                </a:solidFill>
                <a:latin typeface="Rix모던고딕 B" panose="02020603020101020101" pitchFamily="18" charset="-127"/>
                <a:ea typeface="Rix모던고딕 B" panose="02020603020101020101" pitchFamily="18" charset="-127"/>
              </a:rPr>
              <a:t>甲으로 하여금 계속 절차를 진행하게 할 수도 있다</a:t>
            </a:r>
            <a:r>
              <a:rPr lang="en-US" altLang="ko-KR" sz="1400" kern="0" spc="-100" dirty="0">
                <a:solidFill>
                  <a:srgbClr val="000000"/>
                </a:solidFill>
                <a:latin typeface="Rix모던고딕 B" panose="02020603020101020101" pitchFamily="18" charset="-127"/>
                <a:ea typeface="Rix모던고딕 B" panose="02020603020101020101" pitchFamily="18" charset="-127"/>
              </a:rPr>
              <a:t>(</a:t>
            </a:r>
            <a:r>
              <a:rPr lang="ko-KR" altLang="en-US" sz="1400" kern="0" spc="-100" dirty="0">
                <a:solidFill>
                  <a:srgbClr val="000000"/>
                </a:solidFill>
                <a:latin typeface="Rix모던고딕 B" panose="02020603020101020101" pitchFamily="18" charset="-127"/>
                <a:ea typeface="Rix모던고딕 B" panose="02020603020101020101" pitchFamily="18" charset="-127"/>
              </a:rPr>
              <a:t>法 </a:t>
            </a:r>
            <a:r>
              <a:rPr lang="en-US" altLang="ko-KR" sz="1400" kern="0" spc="-100" dirty="0">
                <a:solidFill>
                  <a:srgbClr val="000000"/>
                </a:solidFill>
                <a:latin typeface="Rix모던고딕 B" panose="02020603020101020101" pitchFamily="18" charset="-127"/>
                <a:ea typeface="Rix모던고딕 B" panose="02020603020101020101" pitchFamily="18" charset="-127"/>
              </a:rPr>
              <a:t>19). </a:t>
            </a:r>
          </a:p>
          <a:p>
            <a:pPr marL="93663" marR="17780" indent="-76200" algn="just" fontAlgn="base">
              <a:spcBef>
                <a:spcPts val="700"/>
              </a:spcBef>
            </a:pPr>
            <a:r>
              <a:rPr lang="en-US" altLang="ko-KR" sz="1400" kern="0" spc="-100" dirty="0">
                <a:solidFill>
                  <a:srgbClr val="000000"/>
                </a:solidFill>
                <a:latin typeface="Rix모던고딕 B" panose="02020603020101020101" pitchFamily="18" charset="-127"/>
                <a:ea typeface="Rix모던고딕 B" panose="02020603020101020101" pitchFamily="18" charset="-127"/>
              </a:rPr>
              <a:t>- </a:t>
            </a:r>
            <a:r>
              <a:rPr lang="ko-KR" altLang="en-US" sz="1400" kern="0" spc="-100" dirty="0">
                <a:solidFill>
                  <a:srgbClr val="000000"/>
                </a:solidFill>
                <a:latin typeface="Rix모던고딕 B" panose="02020603020101020101" pitchFamily="18" charset="-127"/>
                <a:ea typeface="Rix모던고딕 B" panose="02020603020101020101" pitchFamily="18" charset="-127"/>
              </a:rPr>
              <a:t>甲이 승계 전에 밟은 절차의 효력은 乙에게 미친다</a:t>
            </a:r>
            <a:r>
              <a:rPr lang="en-US" altLang="ko-KR" sz="1400" kern="0" spc="-100" dirty="0">
                <a:solidFill>
                  <a:srgbClr val="000000"/>
                </a:solidFill>
                <a:latin typeface="Rix모던고딕 B" panose="02020603020101020101" pitchFamily="18" charset="-127"/>
                <a:ea typeface="Rix모던고딕 B" panose="02020603020101020101" pitchFamily="18" charset="-127"/>
              </a:rPr>
              <a:t>(</a:t>
            </a:r>
            <a:r>
              <a:rPr lang="ko-KR" altLang="en-US" sz="1400" kern="0" spc="-100" dirty="0">
                <a:solidFill>
                  <a:srgbClr val="000000"/>
                </a:solidFill>
                <a:latin typeface="Rix모던고딕 B" panose="02020603020101020101" pitchFamily="18" charset="-127"/>
                <a:ea typeface="Rix모던고딕 B" panose="02020603020101020101" pitchFamily="18" charset="-127"/>
              </a:rPr>
              <a:t>法 </a:t>
            </a:r>
            <a:r>
              <a:rPr lang="en-US" altLang="ko-KR" sz="1400" kern="0" spc="-100" dirty="0">
                <a:solidFill>
                  <a:srgbClr val="000000"/>
                </a:solidFill>
                <a:latin typeface="Rix모던고딕 B" panose="02020603020101020101" pitchFamily="18" charset="-127"/>
                <a:ea typeface="Rix모던고딕 B" panose="02020603020101020101" pitchFamily="18" charset="-127"/>
              </a:rPr>
              <a:t>18).</a:t>
            </a:r>
            <a:endParaRPr lang="ko-KR" altLang="en-US" sz="1400" kern="0" dirty="0">
              <a:solidFill>
                <a:srgbClr val="000000"/>
              </a:solidFill>
              <a:latin typeface="Rix모던고딕 B" panose="02020603020101020101" pitchFamily="18" charset="-127"/>
              <a:ea typeface="Rix모던고딕 B" panose="02020603020101020101" pitchFamily="18" charset="-127"/>
            </a:endParaRPr>
          </a:p>
        </p:txBody>
      </p:sp>
      <p:cxnSp>
        <p:nvCxnSpPr>
          <p:cNvPr id="17" name="연결선: 꺾임 16">
            <a:extLst>
              <a:ext uri="{FF2B5EF4-FFF2-40B4-BE49-F238E27FC236}">
                <a16:creationId xmlns:a16="http://schemas.microsoft.com/office/drawing/2014/main" id="{D4159721-EDFA-4609-A3FB-6B0FE944B21A}"/>
              </a:ext>
            </a:extLst>
          </p:cNvPr>
          <p:cNvCxnSpPr>
            <a:stCxn id="78" idx="3"/>
            <a:endCxn id="79" idx="1"/>
          </p:cNvCxnSpPr>
          <p:nvPr/>
        </p:nvCxnSpPr>
        <p:spPr>
          <a:xfrm flipV="1">
            <a:off x="3191582" y="5723034"/>
            <a:ext cx="532446" cy="38625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연결선: 꺾임 19">
            <a:extLst>
              <a:ext uri="{FF2B5EF4-FFF2-40B4-BE49-F238E27FC236}">
                <a16:creationId xmlns:a16="http://schemas.microsoft.com/office/drawing/2014/main" id="{AD7F5B00-A123-4D47-95F7-49EB79D2800C}"/>
              </a:ext>
            </a:extLst>
          </p:cNvPr>
          <p:cNvCxnSpPr>
            <a:stCxn id="78" idx="3"/>
            <a:endCxn id="80" idx="1"/>
          </p:cNvCxnSpPr>
          <p:nvPr/>
        </p:nvCxnSpPr>
        <p:spPr>
          <a:xfrm>
            <a:off x="3191582" y="6109291"/>
            <a:ext cx="532447" cy="39186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연결선: 꺾임 22">
            <a:extLst>
              <a:ext uri="{FF2B5EF4-FFF2-40B4-BE49-F238E27FC236}">
                <a16:creationId xmlns:a16="http://schemas.microsoft.com/office/drawing/2014/main" id="{DCCD7039-8032-40E0-9178-C6EEAE8F2302}"/>
              </a:ext>
            </a:extLst>
          </p:cNvPr>
          <p:cNvCxnSpPr>
            <a:cxnSpLocks/>
            <a:endCxn id="78" idx="0"/>
          </p:cNvCxnSpPr>
          <p:nvPr/>
        </p:nvCxnSpPr>
        <p:spPr>
          <a:xfrm rot="5400000">
            <a:off x="4661039" y="2139758"/>
            <a:ext cx="1784856" cy="5689662"/>
          </a:xfrm>
          <a:prstGeom prst="bentConnector3">
            <a:avLst>
              <a:gd name="adj1" fmla="val 6067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직사각형 80">
            <a:extLst>
              <a:ext uri="{FF2B5EF4-FFF2-40B4-BE49-F238E27FC236}">
                <a16:creationId xmlns:a16="http://schemas.microsoft.com/office/drawing/2014/main" id="{B2FAEFDF-4939-4368-AF32-ECD122520AE3}"/>
              </a:ext>
            </a:extLst>
          </p:cNvPr>
          <p:cNvSpPr/>
          <p:nvPr/>
        </p:nvSpPr>
        <p:spPr>
          <a:xfrm>
            <a:off x="6265614" y="6392147"/>
            <a:ext cx="5544093" cy="277976"/>
          </a:xfrm>
          <a:prstGeom prst="rect">
            <a:avLst/>
          </a:prstGeom>
        </p:spPr>
        <p:txBody>
          <a:bodyPr wrap="square">
            <a:spAutoFit/>
          </a:bodyPr>
          <a:lstStyle/>
          <a:p>
            <a:pPr marL="139700" marR="17780" indent="-122238" algn="just" fontAlgn="base">
              <a:spcBef>
                <a:spcPts val="700"/>
              </a:spcBef>
            </a:pPr>
            <a:r>
              <a:rPr lang="en-US" altLang="ko-KR" sz="1400" kern="0" spc="-100" dirty="0">
                <a:solidFill>
                  <a:srgbClr val="000000"/>
                </a:solidFill>
                <a:latin typeface="Rix모던고딕 B" panose="02020603020101020101" pitchFamily="18" charset="-127"/>
                <a:ea typeface="Rix모던고딕 B" panose="02020603020101020101" pitchFamily="18" charset="-127"/>
              </a:rPr>
              <a:t>- </a:t>
            </a:r>
            <a:r>
              <a:rPr lang="ko-KR" altLang="en-US" sz="1400" kern="0" spc="-100" dirty="0">
                <a:solidFill>
                  <a:srgbClr val="000000"/>
                </a:solidFill>
                <a:latin typeface="Rix모던고딕 B" panose="02020603020101020101" pitchFamily="18" charset="-127"/>
                <a:ea typeface="Rix모던고딕 B" panose="02020603020101020101" pitchFamily="18" charset="-127"/>
              </a:rPr>
              <a:t>절차의</a:t>
            </a:r>
            <a:r>
              <a:rPr lang="en-US" altLang="ko-KR" sz="1400" kern="0" spc="-100" dirty="0">
                <a:solidFill>
                  <a:srgbClr val="000000"/>
                </a:solidFill>
                <a:latin typeface="Rix모던고딕 B" panose="02020603020101020101" pitchFamily="18" charset="-127"/>
                <a:ea typeface="Rix모던고딕 B" panose="02020603020101020101" pitchFamily="18" charset="-127"/>
              </a:rPr>
              <a:t> </a:t>
            </a:r>
            <a:r>
              <a:rPr lang="ko-KR" altLang="en-US" sz="1400" kern="0" spc="-100" dirty="0">
                <a:solidFill>
                  <a:srgbClr val="000000"/>
                </a:solidFill>
                <a:latin typeface="Rix모던고딕 B" panose="02020603020101020101" pitchFamily="18" charset="-127"/>
                <a:ea typeface="Rix모던고딕 B" panose="02020603020101020101" pitchFamily="18" charset="-127"/>
              </a:rPr>
              <a:t>중단 및 수계</a:t>
            </a:r>
            <a:r>
              <a:rPr lang="en-US" altLang="ko-KR" sz="1400" kern="0" spc="-100" dirty="0">
                <a:solidFill>
                  <a:srgbClr val="000000"/>
                </a:solidFill>
                <a:latin typeface="Rix모던고딕 B" panose="02020603020101020101" pitchFamily="18" charset="-127"/>
                <a:ea typeface="Rix모던고딕 B" panose="02020603020101020101" pitchFamily="18" charset="-127"/>
              </a:rPr>
              <a:t>(</a:t>
            </a:r>
            <a:r>
              <a:rPr lang="ko-KR" altLang="en-US" sz="1400" kern="0" spc="-100" dirty="0">
                <a:solidFill>
                  <a:srgbClr val="000000"/>
                </a:solidFill>
                <a:latin typeface="Rix모던고딕 B" panose="02020603020101020101" pitchFamily="18" charset="-127"/>
                <a:ea typeface="Rix모던고딕 B" panose="02020603020101020101" pitchFamily="18" charset="-127"/>
              </a:rPr>
              <a:t>法</a:t>
            </a:r>
            <a:r>
              <a:rPr lang="en-US" altLang="ko-KR" sz="1400" kern="0" spc="-100" dirty="0">
                <a:solidFill>
                  <a:srgbClr val="000000"/>
                </a:solidFill>
                <a:latin typeface="Rix모던고딕 B" panose="02020603020101020101" pitchFamily="18" charset="-127"/>
                <a:ea typeface="Rix모던고딕 B" panose="02020603020101020101" pitchFamily="18" charset="-127"/>
              </a:rPr>
              <a:t>20-22).</a:t>
            </a:r>
            <a:endParaRPr lang="ko-KR" altLang="en-US" sz="1400" kern="0" dirty="0">
              <a:solidFill>
                <a:srgbClr val="000000"/>
              </a:solidFill>
              <a:latin typeface="Rix모던고딕 B" panose="02020603020101020101" pitchFamily="18" charset="-127"/>
              <a:ea typeface="Rix모던고딕 B" panose="02020603020101020101" pitchFamily="18" charset="-127"/>
            </a:endParaRPr>
          </a:p>
        </p:txBody>
      </p:sp>
      <p:sp>
        <p:nvSpPr>
          <p:cNvPr id="22" name="모서리가 둥근 직사각형 10">
            <a:extLst>
              <a:ext uri="{FF2B5EF4-FFF2-40B4-BE49-F238E27FC236}">
                <a16:creationId xmlns:a16="http://schemas.microsoft.com/office/drawing/2014/main" id="{78BA9FE0-B90C-46C1-82A6-8BB581518DEC}"/>
              </a:ext>
            </a:extLst>
          </p:cNvPr>
          <p:cNvSpPr/>
          <p:nvPr/>
        </p:nvSpPr>
        <p:spPr bwMode="auto">
          <a:xfrm>
            <a:off x="378418" y="1002199"/>
            <a:ext cx="4981233"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1967. 6. 27. </a:t>
            </a:r>
            <a:r>
              <a:rPr lang="ko-KR" altLang="en-US" sz="1400" dirty="0"/>
              <a:t>선고 </a:t>
            </a:r>
            <a:r>
              <a:rPr lang="en-US" altLang="ko-KR" sz="1400" dirty="0"/>
              <a:t>67</a:t>
            </a:r>
            <a:r>
              <a:rPr lang="ko-KR" altLang="en-US" sz="1400" dirty="0"/>
              <a:t>후</a:t>
            </a:r>
            <a:r>
              <a:rPr lang="en-US" altLang="ko-KR" sz="1400" dirty="0"/>
              <a:t>1 </a:t>
            </a:r>
            <a:r>
              <a:rPr lang="ko-KR" altLang="en-US" sz="1400" dirty="0"/>
              <a:t>판결 </a:t>
            </a:r>
            <a:r>
              <a:rPr lang="en-US" altLang="ko-KR" sz="1400" dirty="0"/>
              <a:t>【</a:t>
            </a:r>
            <a:r>
              <a:rPr lang="ko-KR" altLang="en-US" sz="1400" dirty="0"/>
              <a:t>실용신안등록무효</a:t>
            </a:r>
            <a:r>
              <a:rPr lang="en-US" altLang="ko-KR" sz="1400" dirty="0"/>
              <a:t>】</a:t>
            </a:r>
          </a:p>
        </p:txBody>
      </p:sp>
      <p:sp>
        <p:nvSpPr>
          <p:cNvPr id="24" name="직사각형 23">
            <a:extLst>
              <a:ext uri="{FF2B5EF4-FFF2-40B4-BE49-F238E27FC236}">
                <a16:creationId xmlns:a16="http://schemas.microsoft.com/office/drawing/2014/main" id="{087E7FE3-8E27-403A-9D0F-F5C3DE5B9A82}"/>
              </a:ext>
            </a:extLst>
          </p:cNvPr>
          <p:cNvSpPr/>
          <p:nvPr/>
        </p:nvSpPr>
        <p:spPr>
          <a:xfrm>
            <a:off x="232372" y="1469453"/>
            <a:ext cx="11681987" cy="830997"/>
          </a:xfrm>
          <a:prstGeom prst="rect">
            <a:avLst/>
          </a:prstGeom>
        </p:spPr>
        <p:txBody>
          <a:bodyPr wrap="square">
            <a:spAutoFit/>
          </a:bodyPr>
          <a:lstStyle/>
          <a:p>
            <a:pPr algn="just"/>
            <a:r>
              <a:rPr lang="ko-KR" altLang="en-US" sz="1200" dirty="0"/>
              <a:t>특허사건에 있어서의 당사자 적격에 관한 법리를 오해한 위법이 있는 사례</a:t>
            </a:r>
            <a:r>
              <a:rPr lang="en-US" altLang="ko-KR" sz="1200" dirty="0"/>
              <a:t>: </a:t>
            </a:r>
            <a:r>
              <a:rPr lang="ko-KR" altLang="en-US" sz="1200" dirty="0"/>
              <a:t>특허의 등록무효를 구하는 특허사건은 그가 가지고 있는 특허의 등록을 대상으로 하여 그 등록의 무효사유를 주장하여</a:t>
            </a:r>
            <a:r>
              <a:rPr lang="en-US" altLang="ko-KR" sz="1200" dirty="0"/>
              <a:t>, </a:t>
            </a:r>
            <a:r>
              <a:rPr lang="ko-KR" altLang="en-US" sz="1200" dirty="0"/>
              <a:t>이에 대한 심판을 구하는 것이니 만큼</a:t>
            </a:r>
            <a:r>
              <a:rPr lang="en-US" altLang="ko-KR" sz="1200" dirty="0"/>
              <a:t>, </a:t>
            </a:r>
            <a:r>
              <a:rPr lang="ko-KR" altLang="en-US" sz="1200" dirty="0"/>
              <a:t>심판청구인으로서는 그 등록이 존재하는 한 언제나 그 권리자를 상대로 같은 사유를 주장하여 무효심판을 구할 필요와 그 이익이 있는 것이라고 할 것임에 반하여 </a:t>
            </a:r>
            <a:r>
              <a:rPr lang="ko-KR" altLang="en-US" sz="1200" dirty="0">
                <a:highlight>
                  <a:srgbClr val="FFFF00"/>
                </a:highlight>
              </a:rPr>
              <a:t>특허법이나 민사소송법상 사건 계속 중</a:t>
            </a:r>
            <a:r>
              <a:rPr lang="en-US" altLang="ko-KR" sz="1200" dirty="0">
                <a:highlight>
                  <a:srgbClr val="FFFF00"/>
                </a:highlight>
              </a:rPr>
              <a:t>, </a:t>
            </a:r>
            <a:r>
              <a:rPr lang="ko-KR" altLang="en-US" sz="1200" dirty="0">
                <a:highlight>
                  <a:srgbClr val="FFFF00"/>
                </a:highlight>
              </a:rPr>
              <a:t>그 등록권리의 특별승계가 있는 경우 승계인으로 하여금 당사자의 지위를 당연히 승계케 하는 규정이 없으므로</a:t>
            </a:r>
            <a:r>
              <a:rPr lang="en-US" altLang="ko-KR" sz="1200" dirty="0">
                <a:highlight>
                  <a:srgbClr val="FFFF00"/>
                </a:highlight>
              </a:rPr>
              <a:t>, </a:t>
            </a:r>
            <a:r>
              <a:rPr lang="ko-KR" altLang="en-US" sz="1200" dirty="0">
                <a:highlight>
                  <a:srgbClr val="FFFF00"/>
                </a:highlight>
              </a:rPr>
              <a:t>등록무효심판 계속 중 피심판청구인이 그 등록권리를 제</a:t>
            </a:r>
            <a:r>
              <a:rPr lang="en-US" altLang="ko-KR" sz="1200" dirty="0">
                <a:highlight>
                  <a:srgbClr val="FFFF00"/>
                </a:highlight>
              </a:rPr>
              <a:t>3</a:t>
            </a:r>
            <a:r>
              <a:rPr lang="ko-KR" altLang="en-US" sz="1200" dirty="0">
                <a:highlight>
                  <a:srgbClr val="FFFF00"/>
                </a:highlight>
              </a:rPr>
              <a:t>자에게 이전하였다 하더라도 </a:t>
            </a:r>
            <a:r>
              <a:rPr lang="ko-KR" altLang="en-US" sz="1200" dirty="0" err="1">
                <a:highlight>
                  <a:srgbClr val="FFFF00"/>
                </a:highlight>
              </a:rPr>
              <a:t>당사자로서의</a:t>
            </a:r>
            <a:r>
              <a:rPr lang="ko-KR" altLang="en-US" sz="1200" dirty="0">
                <a:highlight>
                  <a:srgbClr val="FFFF00"/>
                </a:highlight>
              </a:rPr>
              <a:t> 지위에는 영향을 받지 아니한다</a:t>
            </a:r>
            <a:r>
              <a:rPr lang="en-US" altLang="ko-KR" sz="1200" dirty="0">
                <a:highlight>
                  <a:srgbClr val="FFFF00"/>
                </a:highlight>
              </a:rPr>
              <a:t>.</a:t>
            </a:r>
          </a:p>
        </p:txBody>
      </p:sp>
      <p:cxnSp>
        <p:nvCxnSpPr>
          <p:cNvPr id="25" name="직선 연결선 24">
            <a:extLst>
              <a:ext uri="{FF2B5EF4-FFF2-40B4-BE49-F238E27FC236}">
                <a16:creationId xmlns:a16="http://schemas.microsoft.com/office/drawing/2014/main" id="{3B400292-E1B4-4FE9-BE9B-8BBA2CF6FE1E}"/>
              </a:ext>
            </a:extLst>
          </p:cNvPr>
          <p:cNvCxnSpPr/>
          <p:nvPr/>
        </p:nvCxnSpPr>
        <p:spPr>
          <a:xfrm>
            <a:off x="0" y="2361307"/>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모서리가 둥근 직사각형 10">
            <a:extLst>
              <a:ext uri="{FF2B5EF4-FFF2-40B4-BE49-F238E27FC236}">
                <a16:creationId xmlns:a16="http://schemas.microsoft.com/office/drawing/2014/main" id="{C6E07EBB-6F4B-49CC-A56E-EF892ACA6576}"/>
              </a:ext>
            </a:extLst>
          </p:cNvPr>
          <p:cNvSpPr/>
          <p:nvPr/>
        </p:nvSpPr>
        <p:spPr bwMode="auto">
          <a:xfrm>
            <a:off x="378418" y="2457027"/>
            <a:ext cx="4981233"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1977. 12. 27. </a:t>
            </a:r>
            <a:r>
              <a:rPr lang="ko-KR" altLang="en-US" sz="1400" dirty="0"/>
              <a:t>선고 </a:t>
            </a:r>
            <a:r>
              <a:rPr lang="en-US" altLang="ko-KR" sz="1400" dirty="0"/>
              <a:t>76</a:t>
            </a:r>
            <a:r>
              <a:rPr lang="ko-KR" altLang="en-US" sz="1400" dirty="0"/>
              <a:t>후</a:t>
            </a:r>
            <a:r>
              <a:rPr lang="en-US" altLang="ko-KR" sz="1400" dirty="0"/>
              <a:t>33 </a:t>
            </a:r>
            <a:r>
              <a:rPr lang="ko-KR" altLang="en-US" sz="1400" dirty="0"/>
              <a:t>판결 </a:t>
            </a:r>
            <a:r>
              <a:rPr lang="en-US" altLang="ko-KR" sz="1400" dirty="0"/>
              <a:t>【</a:t>
            </a:r>
            <a:r>
              <a:rPr lang="ko-KR" altLang="en-US" sz="1400" dirty="0"/>
              <a:t>권리범위확인</a:t>
            </a:r>
            <a:r>
              <a:rPr lang="en-US" altLang="ko-KR" sz="1400" dirty="0"/>
              <a:t>】</a:t>
            </a:r>
          </a:p>
        </p:txBody>
      </p:sp>
      <p:sp>
        <p:nvSpPr>
          <p:cNvPr id="27" name="직사각형 26">
            <a:extLst>
              <a:ext uri="{FF2B5EF4-FFF2-40B4-BE49-F238E27FC236}">
                <a16:creationId xmlns:a16="http://schemas.microsoft.com/office/drawing/2014/main" id="{8649BCF4-2AA4-489A-B514-D6705C430B4F}"/>
              </a:ext>
            </a:extLst>
          </p:cNvPr>
          <p:cNvSpPr/>
          <p:nvPr/>
        </p:nvSpPr>
        <p:spPr>
          <a:xfrm>
            <a:off x="232372" y="2924281"/>
            <a:ext cx="11681987" cy="461665"/>
          </a:xfrm>
          <a:prstGeom prst="rect">
            <a:avLst/>
          </a:prstGeom>
        </p:spPr>
        <p:txBody>
          <a:bodyPr wrap="square">
            <a:spAutoFit/>
          </a:bodyPr>
          <a:lstStyle/>
          <a:p>
            <a:pPr algn="just"/>
            <a:r>
              <a:rPr lang="ko-KR" altLang="en-US" sz="1200" dirty="0"/>
              <a:t>실용신안권의 </a:t>
            </a:r>
            <a:r>
              <a:rPr lang="ko-KR" altLang="en-US" sz="1200" dirty="0" err="1"/>
              <a:t>권리범위확인심판청구인이</a:t>
            </a:r>
            <a:r>
              <a:rPr lang="ko-KR" altLang="en-US" sz="1200" dirty="0"/>
              <a:t> 그 심판 계속 중에 그 실용신안 물건의 제조판매영업권을 양도하였다 하더라도 본법상의 이해관계인임에는 변함이 없으므로 </a:t>
            </a:r>
            <a:r>
              <a:rPr lang="ko-KR" altLang="en-US" sz="1200" dirty="0">
                <a:highlight>
                  <a:srgbClr val="FFFF00"/>
                </a:highlight>
              </a:rPr>
              <a:t>심판청구인에 대한 </a:t>
            </a:r>
            <a:r>
              <a:rPr lang="ko-KR" altLang="en-US" sz="1200" dirty="0" err="1">
                <a:highlight>
                  <a:srgbClr val="FFFF00"/>
                </a:highlight>
              </a:rPr>
              <a:t>심결이나</a:t>
            </a:r>
            <a:r>
              <a:rPr lang="ko-KR" altLang="en-US" sz="1200" dirty="0">
                <a:highlight>
                  <a:srgbClr val="FFFF00"/>
                </a:highlight>
              </a:rPr>
              <a:t> 판결의 효력은 그 승계인에게도 미치는 것이므로 심판청구인은 종국에 이르기까지 당사자로서 자기 또는 승계인을 위하여 </a:t>
            </a:r>
            <a:r>
              <a:rPr lang="ko-KR" altLang="en-US" sz="1200" dirty="0" err="1">
                <a:highlight>
                  <a:srgbClr val="FFFF00"/>
                </a:highlight>
              </a:rPr>
              <a:t>행위할</a:t>
            </a:r>
            <a:r>
              <a:rPr lang="ko-KR" altLang="en-US" sz="1200" dirty="0">
                <a:highlight>
                  <a:srgbClr val="FFFF00"/>
                </a:highlight>
              </a:rPr>
              <a:t> 당사자 적격을 가진다</a:t>
            </a:r>
            <a:r>
              <a:rPr lang="en-US" altLang="ko-KR" sz="1200" dirty="0">
                <a:highlight>
                  <a:srgbClr val="FFFF00"/>
                </a:highlight>
              </a:rPr>
              <a:t>.</a:t>
            </a:r>
          </a:p>
        </p:txBody>
      </p:sp>
      <p:cxnSp>
        <p:nvCxnSpPr>
          <p:cNvPr id="28" name="직선 연결선 27">
            <a:extLst>
              <a:ext uri="{FF2B5EF4-FFF2-40B4-BE49-F238E27FC236}">
                <a16:creationId xmlns:a16="http://schemas.microsoft.com/office/drawing/2014/main" id="{DFD9487E-7B7E-45CA-93C4-C41ED4FBD92C}"/>
              </a:ext>
            </a:extLst>
          </p:cNvPr>
          <p:cNvCxnSpPr/>
          <p:nvPr/>
        </p:nvCxnSpPr>
        <p:spPr>
          <a:xfrm>
            <a:off x="0" y="3452624"/>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408106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 name="직사각형 117"/>
          <p:cNvSpPr/>
          <p:nvPr/>
        </p:nvSpPr>
        <p:spPr>
          <a:xfrm>
            <a:off x="3009900" y="1520168"/>
            <a:ext cx="1358900" cy="3140732"/>
          </a:xfrm>
          <a:prstGeom prst="rect">
            <a:avLst/>
          </a:prstGeom>
          <a:noFill/>
          <a:ln w="28575">
            <a:solidFill>
              <a:schemeClr val="accent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20</a:t>
            </a:r>
            <a:r>
              <a:rPr lang="ko-KR" altLang="en-US" dirty="0"/>
              <a:t>조</a:t>
            </a:r>
            <a:r>
              <a:rPr lang="en-US" altLang="ko-KR" dirty="0"/>
              <a:t>~</a:t>
            </a:r>
            <a:r>
              <a:rPr lang="ko-KR" altLang="en-US" dirty="0"/>
              <a:t>제</a:t>
            </a:r>
            <a:r>
              <a:rPr lang="en-US" altLang="ko-KR" dirty="0"/>
              <a:t>24</a:t>
            </a:r>
            <a:r>
              <a:rPr lang="ko-KR" altLang="en-US" dirty="0"/>
              <a:t>조</a:t>
            </a:r>
          </a:p>
        </p:txBody>
      </p:sp>
      <p:sp>
        <p:nvSpPr>
          <p:cNvPr id="4" name="텍스트 개체 틀 3"/>
          <p:cNvSpPr>
            <a:spLocks noGrp="1"/>
          </p:cNvSpPr>
          <p:nvPr>
            <p:ph type="body" sz="quarter" idx="13"/>
          </p:nvPr>
        </p:nvSpPr>
        <p:spPr/>
        <p:txBody>
          <a:bodyPr/>
          <a:lstStyle/>
          <a:p>
            <a:r>
              <a:rPr lang="ko-KR" altLang="en-US" dirty="0"/>
              <a:t>절차의 정지</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42</a:t>
            </a:fld>
            <a:endParaRPr lang="ko-KR" altLang="en-US"/>
          </a:p>
        </p:txBody>
      </p:sp>
      <p:sp>
        <p:nvSpPr>
          <p:cNvPr id="49" name="직사각형 48"/>
          <p:cNvSpPr/>
          <p:nvPr/>
        </p:nvSpPr>
        <p:spPr>
          <a:xfrm>
            <a:off x="1282699" y="2094381"/>
            <a:ext cx="1349189"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중단</a:t>
            </a:r>
            <a:endParaRPr lang="en-US" altLang="ko-KR" sz="1200" dirty="0">
              <a:solidFill>
                <a:schemeClr val="tx1"/>
              </a:solidFill>
            </a:endParaRPr>
          </a:p>
          <a:p>
            <a:pPr algn="ctr"/>
            <a:r>
              <a:rPr lang="en-US" altLang="ko-KR" sz="1200" dirty="0">
                <a:solidFill>
                  <a:schemeClr val="accent2"/>
                </a:solidFill>
              </a:rPr>
              <a:t>(</a:t>
            </a:r>
            <a:r>
              <a:rPr lang="ko-KR" altLang="en-US" sz="1200" dirty="0">
                <a:solidFill>
                  <a:schemeClr val="accent2"/>
                </a:solidFill>
              </a:rPr>
              <a:t>당사자 교체 ○ </a:t>
            </a:r>
            <a:r>
              <a:rPr lang="en-US" altLang="ko-KR" sz="1200" dirty="0">
                <a:solidFill>
                  <a:schemeClr val="accent2"/>
                </a:solidFill>
              </a:rPr>
              <a:t>)</a:t>
            </a:r>
            <a:endParaRPr lang="ko-KR" altLang="en-US" sz="1200" dirty="0">
              <a:solidFill>
                <a:schemeClr val="accent2"/>
              </a:solidFill>
            </a:endParaRPr>
          </a:p>
        </p:txBody>
      </p:sp>
      <p:sp>
        <p:nvSpPr>
          <p:cNvPr id="74" name="직사각형 73"/>
          <p:cNvSpPr/>
          <p:nvPr/>
        </p:nvSpPr>
        <p:spPr>
          <a:xfrm>
            <a:off x="1282699" y="3751731"/>
            <a:ext cx="1349189"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중지</a:t>
            </a:r>
            <a:endParaRPr lang="en-US" altLang="ko-KR" sz="1200" dirty="0">
              <a:solidFill>
                <a:schemeClr val="tx1"/>
              </a:solidFill>
            </a:endParaRPr>
          </a:p>
          <a:p>
            <a:pPr algn="ctr"/>
            <a:r>
              <a:rPr lang="en-US" altLang="ko-KR" sz="1200" dirty="0">
                <a:solidFill>
                  <a:schemeClr val="accent2"/>
                </a:solidFill>
              </a:rPr>
              <a:t>(</a:t>
            </a:r>
            <a:r>
              <a:rPr lang="ko-KR" altLang="en-US" sz="1200" dirty="0">
                <a:solidFill>
                  <a:schemeClr val="accent2"/>
                </a:solidFill>
              </a:rPr>
              <a:t>당사자 교체 </a:t>
            </a:r>
            <a:r>
              <a:rPr lang="en-US" altLang="ko-KR" sz="1200" dirty="0">
                <a:solidFill>
                  <a:schemeClr val="accent2"/>
                </a:solidFill>
              </a:rPr>
              <a:t>×)</a:t>
            </a:r>
            <a:endParaRPr lang="ko-KR" altLang="en-US" sz="1200" dirty="0">
              <a:solidFill>
                <a:schemeClr val="accent2"/>
              </a:solidFill>
            </a:endParaRPr>
          </a:p>
        </p:txBody>
      </p:sp>
      <p:cxnSp>
        <p:nvCxnSpPr>
          <p:cNvPr id="75" name="꺾인 연결선 74"/>
          <p:cNvCxnSpPr>
            <a:stCxn id="49" idx="3"/>
            <a:endCxn id="80" idx="1"/>
          </p:cNvCxnSpPr>
          <p:nvPr/>
        </p:nvCxnSpPr>
        <p:spPr>
          <a:xfrm>
            <a:off x="2631888" y="2351556"/>
            <a:ext cx="484651" cy="261090"/>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꺾인 연결선 75"/>
          <p:cNvCxnSpPr>
            <a:stCxn id="49" idx="3"/>
            <a:endCxn id="79" idx="1"/>
          </p:cNvCxnSpPr>
          <p:nvPr/>
        </p:nvCxnSpPr>
        <p:spPr>
          <a:xfrm flipV="1">
            <a:off x="2631888" y="2047664"/>
            <a:ext cx="484651" cy="303892"/>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꺾인 연결선 76"/>
          <p:cNvCxnSpPr>
            <a:stCxn id="74" idx="3"/>
            <a:endCxn id="82" idx="1"/>
          </p:cNvCxnSpPr>
          <p:nvPr/>
        </p:nvCxnSpPr>
        <p:spPr>
          <a:xfrm>
            <a:off x="2631888" y="4008906"/>
            <a:ext cx="484651" cy="320721"/>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꺾인 연결선 77"/>
          <p:cNvCxnSpPr>
            <a:stCxn id="74" idx="3"/>
            <a:endCxn id="81" idx="1"/>
          </p:cNvCxnSpPr>
          <p:nvPr/>
        </p:nvCxnSpPr>
        <p:spPr>
          <a:xfrm flipV="1">
            <a:off x="2631888" y="3751945"/>
            <a:ext cx="484651" cy="256961"/>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직사각형 78"/>
          <p:cNvSpPr/>
          <p:nvPr/>
        </p:nvSpPr>
        <p:spPr>
          <a:xfrm>
            <a:off x="3116539" y="1868177"/>
            <a:ext cx="1163361" cy="35897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당연중단</a:t>
            </a:r>
            <a:r>
              <a:rPr lang="ko-KR" altLang="en-US" sz="1200" dirty="0">
                <a:solidFill>
                  <a:schemeClr val="tx1"/>
                </a:solidFill>
              </a:rPr>
              <a:t> ○</a:t>
            </a:r>
            <a:endParaRPr lang="en-US" altLang="ko-KR" sz="1200" dirty="0">
              <a:solidFill>
                <a:schemeClr val="tx1"/>
              </a:solidFill>
            </a:endParaRPr>
          </a:p>
        </p:txBody>
      </p:sp>
      <p:sp>
        <p:nvSpPr>
          <p:cNvPr id="80" name="직사각형 79"/>
          <p:cNvSpPr/>
          <p:nvPr/>
        </p:nvSpPr>
        <p:spPr>
          <a:xfrm>
            <a:off x="3116539" y="2433159"/>
            <a:ext cx="1163361" cy="35897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결정중단</a:t>
            </a:r>
            <a:r>
              <a:rPr lang="ko-KR" altLang="en-US" sz="1200" dirty="0">
                <a:solidFill>
                  <a:schemeClr val="tx1"/>
                </a:solidFill>
              </a:rPr>
              <a:t> </a:t>
            </a:r>
            <a:r>
              <a:rPr lang="en-US" altLang="ko-KR" sz="1200" dirty="0">
                <a:solidFill>
                  <a:schemeClr val="tx1"/>
                </a:solidFill>
              </a:rPr>
              <a:t>× </a:t>
            </a:r>
          </a:p>
        </p:txBody>
      </p:sp>
      <p:sp>
        <p:nvSpPr>
          <p:cNvPr id="81" name="직사각형 80"/>
          <p:cNvSpPr/>
          <p:nvPr/>
        </p:nvSpPr>
        <p:spPr>
          <a:xfrm>
            <a:off x="3116539" y="3572458"/>
            <a:ext cx="1163361" cy="35897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당연중지</a:t>
            </a:r>
            <a:r>
              <a:rPr lang="ko-KR" altLang="en-US" sz="1200" dirty="0">
                <a:solidFill>
                  <a:schemeClr val="tx1"/>
                </a:solidFill>
              </a:rPr>
              <a:t> ○</a:t>
            </a:r>
            <a:endParaRPr lang="en-US" altLang="ko-KR" sz="1200" dirty="0">
              <a:solidFill>
                <a:schemeClr val="tx1"/>
              </a:solidFill>
            </a:endParaRPr>
          </a:p>
        </p:txBody>
      </p:sp>
      <p:sp>
        <p:nvSpPr>
          <p:cNvPr id="82" name="직사각형 81"/>
          <p:cNvSpPr/>
          <p:nvPr/>
        </p:nvSpPr>
        <p:spPr>
          <a:xfrm>
            <a:off x="3116539" y="4150140"/>
            <a:ext cx="1163361" cy="35897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결정중지</a:t>
            </a:r>
            <a:r>
              <a:rPr lang="ko-KR" altLang="en-US" sz="1200" dirty="0">
                <a:solidFill>
                  <a:schemeClr val="tx1"/>
                </a:solidFill>
              </a:rPr>
              <a:t> ○</a:t>
            </a:r>
            <a:endParaRPr lang="en-US" altLang="ko-KR" sz="1200" dirty="0">
              <a:solidFill>
                <a:schemeClr val="tx1"/>
              </a:solidFill>
            </a:endParaRPr>
          </a:p>
        </p:txBody>
      </p:sp>
      <p:sp>
        <p:nvSpPr>
          <p:cNvPr id="84" name="직사각형 83"/>
          <p:cNvSpPr/>
          <p:nvPr/>
        </p:nvSpPr>
        <p:spPr>
          <a:xfrm>
            <a:off x="4574051" y="1337258"/>
            <a:ext cx="2144250" cy="36581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중단사유</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20)</a:t>
            </a:r>
          </a:p>
        </p:txBody>
      </p:sp>
      <p:cxnSp>
        <p:nvCxnSpPr>
          <p:cNvPr id="87" name="꺾인 연결선 86"/>
          <p:cNvCxnSpPr>
            <a:stCxn id="49" idx="1"/>
            <a:endCxn id="74" idx="1"/>
          </p:cNvCxnSpPr>
          <p:nvPr/>
        </p:nvCxnSpPr>
        <p:spPr>
          <a:xfrm rot="10800000" flipV="1">
            <a:off x="1282699" y="2351556"/>
            <a:ext cx="12700" cy="1657350"/>
          </a:xfrm>
          <a:prstGeom prst="bentConnector3">
            <a:avLst>
              <a:gd name="adj1" fmla="val 180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직사각형 91"/>
          <p:cNvSpPr/>
          <p:nvPr/>
        </p:nvSpPr>
        <p:spPr>
          <a:xfrm>
            <a:off x="4574051" y="1874569"/>
            <a:ext cx="2144250" cy="36581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수계자</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21)</a:t>
            </a:r>
          </a:p>
        </p:txBody>
      </p:sp>
      <p:sp>
        <p:nvSpPr>
          <p:cNvPr id="93" name="직사각형 92"/>
          <p:cNvSpPr/>
          <p:nvPr/>
        </p:nvSpPr>
        <p:spPr>
          <a:xfrm>
            <a:off x="4574051" y="2413614"/>
            <a:ext cx="2144250" cy="36581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수계방법</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22)</a:t>
            </a:r>
          </a:p>
        </p:txBody>
      </p:sp>
      <p:sp>
        <p:nvSpPr>
          <p:cNvPr id="94" name="직사각형 93"/>
          <p:cNvSpPr/>
          <p:nvPr/>
        </p:nvSpPr>
        <p:spPr>
          <a:xfrm>
            <a:off x="4574051" y="3566150"/>
            <a:ext cx="2144250" cy="36581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당연중지</a:t>
            </a:r>
            <a:r>
              <a:rPr lang="ko-KR" altLang="en-US" sz="1200" dirty="0">
                <a:solidFill>
                  <a:schemeClr val="tx1"/>
                </a:solidFill>
              </a:rPr>
              <a:t> 및 해소</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23①④)</a:t>
            </a:r>
          </a:p>
        </p:txBody>
      </p:sp>
      <p:sp>
        <p:nvSpPr>
          <p:cNvPr id="95" name="직사각형 94"/>
          <p:cNvSpPr/>
          <p:nvPr/>
        </p:nvSpPr>
        <p:spPr>
          <a:xfrm>
            <a:off x="4574051" y="4143832"/>
            <a:ext cx="2144250" cy="36581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결정중지</a:t>
            </a:r>
            <a:r>
              <a:rPr lang="en-US" altLang="ko-KR" sz="1200" dirty="0">
                <a:solidFill>
                  <a:schemeClr val="tx1"/>
                </a:solidFill>
              </a:rPr>
              <a:t> </a:t>
            </a:r>
            <a:r>
              <a:rPr lang="ko-KR" altLang="en-US" sz="1200" dirty="0">
                <a:solidFill>
                  <a:schemeClr val="tx1"/>
                </a:solidFill>
              </a:rPr>
              <a:t>및 해소</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23②③④)</a:t>
            </a:r>
          </a:p>
        </p:txBody>
      </p:sp>
      <p:sp>
        <p:nvSpPr>
          <p:cNvPr id="96" name="직사각형 95"/>
          <p:cNvSpPr/>
          <p:nvPr/>
        </p:nvSpPr>
        <p:spPr>
          <a:xfrm>
            <a:off x="6948950" y="2413614"/>
            <a:ext cx="2360149" cy="36581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신청에 의한 수계</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22①②③④)</a:t>
            </a:r>
          </a:p>
        </p:txBody>
      </p:sp>
      <p:sp>
        <p:nvSpPr>
          <p:cNvPr id="97" name="직사각형 96"/>
          <p:cNvSpPr/>
          <p:nvPr/>
        </p:nvSpPr>
        <p:spPr>
          <a:xfrm>
            <a:off x="6948950" y="2997321"/>
            <a:ext cx="2360149" cy="36581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명령에 의한 수계</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22⑤⑥⑦)</a:t>
            </a:r>
          </a:p>
        </p:txBody>
      </p:sp>
      <p:cxnSp>
        <p:nvCxnSpPr>
          <p:cNvPr id="41" name="꺾인 연결선 40"/>
          <p:cNvCxnSpPr>
            <a:stCxn id="79" idx="3"/>
            <a:endCxn id="84" idx="1"/>
          </p:cNvCxnSpPr>
          <p:nvPr/>
        </p:nvCxnSpPr>
        <p:spPr>
          <a:xfrm flipV="1">
            <a:off x="4279900" y="1520168"/>
            <a:ext cx="294151" cy="52749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79" idx="3"/>
            <a:endCxn id="93" idx="1"/>
          </p:cNvCxnSpPr>
          <p:nvPr/>
        </p:nvCxnSpPr>
        <p:spPr>
          <a:xfrm>
            <a:off x="4279900" y="2047664"/>
            <a:ext cx="294151" cy="54886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꺾인 연결선 98"/>
          <p:cNvCxnSpPr>
            <a:stCxn id="79" idx="3"/>
            <a:endCxn id="92" idx="1"/>
          </p:cNvCxnSpPr>
          <p:nvPr/>
        </p:nvCxnSpPr>
        <p:spPr>
          <a:xfrm>
            <a:off x="4279900" y="2047664"/>
            <a:ext cx="294151" cy="981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꺾인 연결선 110"/>
          <p:cNvCxnSpPr>
            <a:stCxn id="81" idx="3"/>
            <a:endCxn id="94" idx="1"/>
          </p:cNvCxnSpPr>
          <p:nvPr/>
        </p:nvCxnSpPr>
        <p:spPr>
          <a:xfrm flipV="1">
            <a:off x="4279900" y="3749060"/>
            <a:ext cx="294151" cy="288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꺾인 연결선 112"/>
          <p:cNvCxnSpPr>
            <a:stCxn id="82" idx="3"/>
            <a:endCxn id="95" idx="1"/>
          </p:cNvCxnSpPr>
          <p:nvPr/>
        </p:nvCxnSpPr>
        <p:spPr>
          <a:xfrm flipV="1">
            <a:off x="4279900" y="4326742"/>
            <a:ext cx="294151" cy="288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꺾인 연결선 114"/>
          <p:cNvCxnSpPr>
            <a:stCxn id="93" idx="3"/>
            <a:endCxn id="97" idx="1"/>
          </p:cNvCxnSpPr>
          <p:nvPr/>
        </p:nvCxnSpPr>
        <p:spPr>
          <a:xfrm>
            <a:off x="6718301" y="2596524"/>
            <a:ext cx="230649" cy="58370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직선 연결선 116"/>
          <p:cNvCxnSpPr>
            <a:stCxn id="93" idx="3"/>
            <a:endCxn id="96" idx="1"/>
          </p:cNvCxnSpPr>
          <p:nvPr/>
        </p:nvCxnSpPr>
        <p:spPr>
          <a:xfrm>
            <a:off x="6718301" y="2596524"/>
            <a:ext cx="230649" cy="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119" name="표 118"/>
          <p:cNvGraphicFramePr>
            <a:graphicFrameLocks noGrp="1"/>
          </p:cNvGraphicFramePr>
          <p:nvPr>
            <p:extLst>
              <p:ext uri="{D42A27DB-BD31-4B8C-83A1-F6EECF244321}">
                <p14:modId xmlns:p14="http://schemas.microsoft.com/office/powerpoint/2010/main" val="1821788179"/>
              </p:ext>
            </p:extLst>
          </p:nvPr>
        </p:nvGraphicFramePr>
        <p:xfrm>
          <a:off x="1616913" y="5302696"/>
          <a:ext cx="4111812" cy="1211536"/>
        </p:xfrm>
        <a:graphic>
          <a:graphicData uri="http://schemas.openxmlformats.org/drawingml/2006/table">
            <a:tbl>
              <a:tblPr/>
              <a:tblGrid>
                <a:gridCol w="952102">
                  <a:extLst>
                    <a:ext uri="{9D8B030D-6E8A-4147-A177-3AD203B41FA5}">
                      <a16:colId xmlns:a16="http://schemas.microsoft.com/office/drawing/2014/main" val="1552754059"/>
                    </a:ext>
                  </a:extLst>
                </a:gridCol>
                <a:gridCol w="1579855">
                  <a:extLst>
                    <a:ext uri="{9D8B030D-6E8A-4147-A177-3AD203B41FA5}">
                      <a16:colId xmlns:a16="http://schemas.microsoft.com/office/drawing/2014/main" val="2115459155"/>
                    </a:ext>
                  </a:extLst>
                </a:gridCol>
                <a:gridCol w="1579855">
                  <a:extLst>
                    <a:ext uri="{9D8B030D-6E8A-4147-A177-3AD203B41FA5}">
                      <a16:colId xmlns:a16="http://schemas.microsoft.com/office/drawing/2014/main" val="1671124529"/>
                    </a:ext>
                  </a:extLst>
                </a:gridCol>
              </a:tblGrid>
              <a:tr h="302884">
                <a:tc>
                  <a:txBody>
                    <a:bodyPr/>
                    <a:lstStyle/>
                    <a:p>
                      <a:pPr marL="0" marR="0" indent="0" algn="ctr" fontAlgn="base" latinLnBrk="0">
                        <a:lnSpc>
                          <a:spcPct val="120000"/>
                        </a:lnSpc>
                        <a:spcBef>
                          <a:spcPts val="0"/>
                        </a:spcBef>
                        <a:spcAft>
                          <a:spcPts val="0"/>
                        </a:spcAft>
                      </a:pPr>
                      <a:r>
                        <a:rPr lang="ko-KR" altLang="en-US" sz="1200" kern="1200" dirty="0">
                          <a:solidFill>
                            <a:schemeClr val="tx1"/>
                          </a:solidFill>
                          <a:latin typeface="+mn-lt"/>
                          <a:ea typeface="+mn-ea"/>
                          <a:cs typeface="+mn-cs"/>
                        </a:rPr>
                        <a:t>구분</a:t>
                      </a: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EEECE8"/>
                    </a:solidFill>
                  </a:tcPr>
                </a:tc>
                <a:tc>
                  <a:txBody>
                    <a:bodyPr/>
                    <a:lstStyle/>
                    <a:p>
                      <a:pPr marL="0" marR="0" indent="0" algn="ctr" fontAlgn="base" latinLnBrk="0">
                        <a:lnSpc>
                          <a:spcPct val="120000"/>
                        </a:lnSpc>
                        <a:spcBef>
                          <a:spcPts val="0"/>
                        </a:spcBef>
                        <a:spcAft>
                          <a:spcPts val="0"/>
                        </a:spcAft>
                      </a:pPr>
                      <a:r>
                        <a:rPr lang="ko-KR" altLang="en-US" sz="1200" kern="1200" dirty="0">
                          <a:solidFill>
                            <a:schemeClr val="tx1"/>
                          </a:solidFill>
                          <a:latin typeface="+mn-lt"/>
                          <a:ea typeface="+mn-ea"/>
                          <a:cs typeface="+mn-cs"/>
                        </a:rPr>
                        <a:t>절차 정지</a:t>
                      </a: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EEECE8"/>
                    </a:solidFill>
                  </a:tcPr>
                </a:tc>
                <a:tc>
                  <a:txBody>
                    <a:bodyPr/>
                    <a:lstStyle/>
                    <a:p>
                      <a:pPr marL="0" marR="0" indent="0" algn="ctr" fontAlgn="base" latinLnBrk="0">
                        <a:lnSpc>
                          <a:spcPct val="120000"/>
                        </a:lnSpc>
                        <a:spcBef>
                          <a:spcPts val="0"/>
                        </a:spcBef>
                        <a:spcAft>
                          <a:spcPts val="0"/>
                        </a:spcAft>
                      </a:pPr>
                      <a:r>
                        <a:rPr lang="ko-KR" altLang="en-US" sz="1200" kern="1200">
                          <a:solidFill>
                            <a:schemeClr val="tx1"/>
                          </a:solidFill>
                          <a:latin typeface="+mn-lt"/>
                          <a:ea typeface="+mn-ea"/>
                          <a:cs typeface="+mn-cs"/>
                        </a:rPr>
                        <a:t>절차 정지의 해소</a:t>
                      </a: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EEECE8"/>
                    </a:solidFill>
                  </a:tcPr>
                </a:tc>
                <a:extLst>
                  <a:ext uri="{0D108BD9-81ED-4DB2-BD59-A6C34878D82A}">
                    <a16:rowId xmlns:a16="http://schemas.microsoft.com/office/drawing/2014/main" val="2936960723"/>
                  </a:ext>
                </a:extLst>
              </a:tr>
              <a:tr h="302884">
                <a:tc>
                  <a:txBody>
                    <a:bodyPr/>
                    <a:lstStyle/>
                    <a:p>
                      <a:pPr marL="0" marR="0" indent="0" algn="ctr" fontAlgn="base" latinLnBrk="0">
                        <a:lnSpc>
                          <a:spcPct val="120000"/>
                        </a:lnSpc>
                        <a:spcBef>
                          <a:spcPts val="0"/>
                        </a:spcBef>
                        <a:spcAft>
                          <a:spcPts val="0"/>
                        </a:spcAft>
                      </a:pPr>
                      <a:r>
                        <a:rPr lang="ko-KR" altLang="en-US" sz="1200" kern="1200">
                          <a:solidFill>
                            <a:schemeClr val="tx1"/>
                          </a:solidFill>
                          <a:latin typeface="+mn-lt"/>
                          <a:ea typeface="+mn-ea"/>
                          <a:cs typeface="+mn-cs"/>
                        </a:rPr>
                        <a:t>당연중단</a:t>
                      </a: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20000"/>
                        </a:lnSpc>
                        <a:spcBef>
                          <a:spcPts val="0"/>
                        </a:spcBef>
                        <a:spcAft>
                          <a:spcPts val="0"/>
                        </a:spcAft>
                      </a:pPr>
                      <a:r>
                        <a:rPr lang="ko-KR" altLang="en-US" sz="1200" kern="1200" dirty="0" err="1">
                          <a:solidFill>
                            <a:schemeClr val="tx1"/>
                          </a:solidFill>
                          <a:latin typeface="+mn-lt"/>
                          <a:ea typeface="+mn-ea"/>
                          <a:cs typeface="+mn-cs"/>
                        </a:rPr>
                        <a:t>사유발생</a:t>
                      </a:r>
                      <a:endParaRPr lang="ko-KR" altLang="en-US" sz="1200" kern="1200" dirty="0">
                        <a:solidFill>
                          <a:schemeClr val="tx1"/>
                        </a:solidFill>
                        <a:latin typeface="+mn-lt"/>
                        <a:ea typeface="+mn-ea"/>
                        <a:cs typeface="+mn-cs"/>
                      </a:endParaRP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20000"/>
                        </a:lnSpc>
                        <a:spcBef>
                          <a:spcPts val="0"/>
                        </a:spcBef>
                        <a:spcAft>
                          <a:spcPts val="0"/>
                        </a:spcAft>
                      </a:pPr>
                      <a:r>
                        <a:rPr lang="ko-KR" altLang="en-US" sz="1200" kern="1200">
                          <a:solidFill>
                            <a:schemeClr val="tx1"/>
                          </a:solidFill>
                          <a:latin typeface="+mn-lt"/>
                          <a:ea typeface="+mn-ea"/>
                          <a:cs typeface="+mn-cs"/>
                        </a:rPr>
                        <a:t>사유소멸 </a:t>
                      </a:r>
                      <a:r>
                        <a:rPr lang="en-US" altLang="ko-KR" sz="1200" kern="1200">
                          <a:solidFill>
                            <a:schemeClr val="tx1"/>
                          </a:solidFill>
                          <a:latin typeface="+mn-lt"/>
                          <a:ea typeface="+mn-ea"/>
                          <a:cs typeface="+mn-cs"/>
                        </a:rPr>
                        <a:t>&amp; </a:t>
                      </a:r>
                      <a:r>
                        <a:rPr lang="ko-KR" altLang="en-US" sz="1200" kern="1200">
                          <a:solidFill>
                            <a:schemeClr val="tx1"/>
                          </a:solidFill>
                          <a:latin typeface="+mn-lt"/>
                          <a:ea typeface="+mn-ea"/>
                          <a:cs typeface="+mn-cs"/>
                        </a:rPr>
                        <a:t>수계</a:t>
                      </a: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40432730"/>
                  </a:ext>
                </a:extLst>
              </a:tr>
              <a:tr h="302884">
                <a:tc>
                  <a:txBody>
                    <a:bodyPr/>
                    <a:lstStyle/>
                    <a:p>
                      <a:pPr marL="0" marR="0" indent="0" algn="ctr" fontAlgn="base" latinLnBrk="0">
                        <a:lnSpc>
                          <a:spcPct val="120000"/>
                        </a:lnSpc>
                        <a:spcBef>
                          <a:spcPts val="0"/>
                        </a:spcBef>
                        <a:spcAft>
                          <a:spcPts val="0"/>
                        </a:spcAft>
                      </a:pPr>
                      <a:r>
                        <a:rPr lang="ko-KR" altLang="en-US" sz="1200" kern="1200">
                          <a:solidFill>
                            <a:schemeClr val="tx1"/>
                          </a:solidFill>
                          <a:latin typeface="+mn-lt"/>
                          <a:ea typeface="+mn-ea"/>
                          <a:cs typeface="+mn-cs"/>
                        </a:rPr>
                        <a:t>당연중지</a:t>
                      </a: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20000"/>
                        </a:lnSpc>
                        <a:spcBef>
                          <a:spcPts val="0"/>
                        </a:spcBef>
                        <a:spcAft>
                          <a:spcPts val="0"/>
                        </a:spcAft>
                      </a:pPr>
                      <a:r>
                        <a:rPr lang="ko-KR" altLang="en-US" sz="1200" kern="1200" dirty="0" err="1">
                          <a:solidFill>
                            <a:schemeClr val="tx1"/>
                          </a:solidFill>
                          <a:latin typeface="+mn-lt"/>
                          <a:ea typeface="+mn-ea"/>
                          <a:cs typeface="+mn-cs"/>
                        </a:rPr>
                        <a:t>사유발생</a:t>
                      </a:r>
                      <a:endParaRPr lang="ko-KR" altLang="en-US" sz="1200" kern="1200" dirty="0">
                        <a:solidFill>
                          <a:schemeClr val="tx1"/>
                        </a:solidFill>
                        <a:latin typeface="+mn-lt"/>
                        <a:ea typeface="+mn-ea"/>
                        <a:cs typeface="+mn-cs"/>
                      </a:endParaRP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20000"/>
                        </a:lnSpc>
                        <a:spcBef>
                          <a:spcPts val="0"/>
                        </a:spcBef>
                        <a:spcAft>
                          <a:spcPts val="0"/>
                        </a:spcAft>
                      </a:pPr>
                      <a:r>
                        <a:rPr lang="ko-KR" altLang="en-US" sz="1200" kern="1200" dirty="0" err="1">
                          <a:solidFill>
                            <a:schemeClr val="tx1"/>
                          </a:solidFill>
                          <a:latin typeface="+mn-lt"/>
                          <a:ea typeface="+mn-ea"/>
                          <a:cs typeface="+mn-cs"/>
                        </a:rPr>
                        <a:t>사유소멸</a:t>
                      </a:r>
                      <a:endParaRPr lang="ko-KR" altLang="en-US" sz="1200" kern="1200" dirty="0">
                        <a:solidFill>
                          <a:schemeClr val="tx1"/>
                        </a:solidFill>
                        <a:latin typeface="+mn-lt"/>
                        <a:ea typeface="+mn-ea"/>
                        <a:cs typeface="+mn-cs"/>
                      </a:endParaRP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51262148"/>
                  </a:ext>
                </a:extLst>
              </a:tr>
              <a:tr h="302884">
                <a:tc>
                  <a:txBody>
                    <a:bodyPr/>
                    <a:lstStyle/>
                    <a:p>
                      <a:pPr marL="0" marR="0" indent="0" algn="ctr" fontAlgn="base" latinLnBrk="0">
                        <a:lnSpc>
                          <a:spcPct val="120000"/>
                        </a:lnSpc>
                        <a:spcBef>
                          <a:spcPts val="0"/>
                        </a:spcBef>
                        <a:spcAft>
                          <a:spcPts val="0"/>
                        </a:spcAft>
                      </a:pPr>
                      <a:r>
                        <a:rPr lang="ko-KR" altLang="en-US" sz="1200" kern="1200">
                          <a:solidFill>
                            <a:schemeClr val="tx1"/>
                          </a:solidFill>
                          <a:latin typeface="+mn-lt"/>
                          <a:ea typeface="+mn-ea"/>
                          <a:cs typeface="+mn-cs"/>
                        </a:rPr>
                        <a:t>결정중지</a:t>
                      </a: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20000"/>
                        </a:lnSpc>
                        <a:spcBef>
                          <a:spcPts val="0"/>
                        </a:spcBef>
                        <a:spcAft>
                          <a:spcPts val="0"/>
                        </a:spcAft>
                      </a:pPr>
                      <a:r>
                        <a:rPr lang="ko-KR" altLang="en-US" sz="1200" kern="1200">
                          <a:solidFill>
                            <a:schemeClr val="tx1"/>
                          </a:solidFill>
                          <a:latin typeface="+mn-lt"/>
                          <a:ea typeface="+mn-ea"/>
                          <a:cs typeface="+mn-cs"/>
                        </a:rPr>
                        <a:t>사유발생 </a:t>
                      </a:r>
                      <a:r>
                        <a:rPr lang="en-US" altLang="ko-KR" sz="1200" kern="1200">
                          <a:solidFill>
                            <a:schemeClr val="tx1"/>
                          </a:solidFill>
                          <a:latin typeface="+mn-lt"/>
                          <a:ea typeface="+mn-ea"/>
                          <a:cs typeface="+mn-cs"/>
                        </a:rPr>
                        <a:t>&amp; </a:t>
                      </a:r>
                      <a:r>
                        <a:rPr lang="ko-KR" altLang="en-US" sz="1200" kern="1200">
                          <a:solidFill>
                            <a:schemeClr val="tx1"/>
                          </a:solidFill>
                          <a:latin typeface="+mn-lt"/>
                          <a:ea typeface="+mn-ea"/>
                          <a:cs typeface="+mn-cs"/>
                        </a:rPr>
                        <a:t>결정</a:t>
                      </a: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20000"/>
                        </a:lnSpc>
                        <a:spcBef>
                          <a:spcPts val="0"/>
                        </a:spcBef>
                        <a:spcAft>
                          <a:spcPts val="0"/>
                        </a:spcAft>
                      </a:pPr>
                      <a:r>
                        <a:rPr lang="ko-KR" altLang="en-US" sz="1200" kern="1200" dirty="0" err="1">
                          <a:solidFill>
                            <a:schemeClr val="tx1"/>
                          </a:solidFill>
                          <a:latin typeface="+mn-lt"/>
                          <a:ea typeface="+mn-ea"/>
                          <a:cs typeface="+mn-cs"/>
                        </a:rPr>
                        <a:t>사유소멸</a:t>
                      </a:r>
                      <a:r>
                        <a:rPr lang="ko-KR" altLang="en-US" sz="1200" kern="1200" dirty="0">
                          <a:solidFill>
                            <a:schemeClr val="tx1"/>
                          </a:solidFill>
                          <a:latin typeface="+mn-lt"/>
                          <a:ea typeface="+mn-ea"/>
                          <a:cs typeface="+mn-cs"/>
                        </a:rPr>
                        <a:t> </a:t>
                      </a:r>
                      <a:r>
                        <a:rPr lang="en-US" altLang="ko-KR" sz="1200" kern="1200" dirty="0">
                          <a:solidFill>
                            <a:schemeClr val="tx1"/>
                          </a:solidFill>
                          <a:latin typeface="+mn-lt"/>
                          <a:ea typeface="+mn-ea"/>
                          <a:cs typeface="+mn-cs"/>
                        </a:rPr>
                        <a:t>&amp; </a:t>
                      </a:r>
                      <a:r>
                        <a:rPr lang="ko-KR" altLang="en-US" sz="1200" kern="1200" dirty="0">
                          <a:solidFill>
                            <a:schemeClr val="tx1"/>
                          </a:solidFill>
                          <a:latin typeface="+mn-lt"/>
                          <a:ea typeface="+mn-ea"/>
                          <a:cs typeface="+mn-cs"/>
                        </a:rPr>
                        <a:t>결정</a:t>
                      </a: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06500597"/>
                  </a:ext>
                </a:extLst>
              </a:tr>
            </a:tbl>
          </a:graphicData>
        </a:graphic>
      </p:graphicFrame>
      <p:sp>
        <p:nvSpPr>
          <p:cNvPr id="120" name="아래쪽 화살표 119"/>
          <p:cNvSpPr/>
          <p:nvPr/>
        </p:nvSpPr>
        <p:spPr>
          <a:xfrm>
            <a:off x="3479800" y="4660900"/>
            <a:ext cx="393700" cy="527496"/>
          </a:xfrm>
          <a:prstGeom prst="downArrow">
            <a:avLst/>
          </a:prstGeom>
          <a:noFill/>
          <a:ln w="28575">
            <a:solidFill>
              <a:schemeClr val="accent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직사각형 120"/>
          <p:cNvSpPr/>
          <p:nvPr/>
        </p:nvSpPr>
        <p:spPr>
          <a:xfrm>
            <a:off x="3596640" y="4572000"/>
            <a:ext cx="160020" cy="259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2" name="직사각형 121"/>
          <p:cNvSpPr/>
          <p:nvPr/>
        </p:nvSpPr>
        <p:spPr>
          <a:xfrm>
            <a:off x="10579100" y="2701520"/>
            <a:ext cx="1016000" cy="957419"/>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정지</a:t>
            </a:r>
            <a:endParaRPr lang="en-US" altLang="ko-KR" dirty="0"/>
          </a:p>
          <a:p>
            <a:pPr algn="ctr"/>
            <a:r>
              <a:rPr lang="ko-KR" altLang="en-US" dirty="0"/>
              <a:t>효과</a:t>
            </a:r>
            <a:endParaRPr lang="en-US" altLang="ko-KR" dirty="0"/>
          </a:p>
          <a:p>
            <a:pPr algn="ctr"/>
            <a:r>
              <a:rPr lang="en-US" altLang="ko-KR" dirty="0"/>
              <a:t>(</a:t>
            </a:r>
            <a:r>
              <a:rPr lang="ko-KR" altLang="en-US" dirty="0"/>
              <a:t>法 </a:t>
            </a:r>
            <a:r>
              <a:rPr lang="en-US" altLang="ko-KR" dirty="0"/>
              <a:t>24)</a:t>
            </a:r>
            <a:endParaRPr lang="ko-KR" altLang="en-US" dirty="0"/>
          </a:p>
        </p:txBody>
      </p:sp>
      <p:sp>
        <p:nvSpPr>
          <p:cNvPr id="123" name="자유형 122"/>
          <p:cNvSpPr/>
          <p:nvPr/>
        </p:nvSpPr>
        <p:spPr>
          <a:xfrm>
            <a:off x="9258300" y="1498600"/>
            <a:ext cx="685800" cy="2959100"/>
          </a:xfrm>
          <a:custGeom>
            <a:avLst/>
            <a:gdLst>
              <a:gd name="connsiteX0" fmla="*/ 0 w 685800"/>
              <a:gd name="connsiteY0" fmla="*/ 0 h 2959100"/>
              <a:gd name="connsiteX1" fmla="*/ 685800 w 685800"/>
              <a:gd name="connsiteY1" fmla="*/ 0 h 2959100"/>
              <a:gd name="connsiteX2" fmla="*/ 685800 w 685800"/>
              <a:gd name="connsiteY2" fmla="*/ 2959100 h 2959100"/>
              <a:gd name="connsiteX3" fmla="*/ 114300 w 685800"/>
              <a:gd name="connsiteY3" fmla="*/ 2959100 h 2959100"/>
            </a:gdLst>
            <a:ahLst/>
            <a:cxnLst>
              <a:cxn ang="0">
                <a:pos x="connsiteX0" y="connsiteY0"/>
              </a:cxn>
              <a:cxn ang="0">
                <a:pos x="connsiteX1" y="connsiteY1"/>
              </a:cxn>
              <a:cxn ang="0">
                <a:pos x="connsiteX2" y="connsiteY2"/>
              </a:cxn>
              <a:cxn ang="0">
                <a:pos x="connsiteX3" y="connsiteY3"/>
              </a:cxn>
            </a:cxnLst>
            <a:rect l="l" t="t" r="r" b="b"/>
            <a:pathLst>
              <a:path w="685800" h="2959100">
                <a:moveTo>
                  <a:pt x="0" y="0"/>
                </a:moveTo>
                <a:lnTo>
                  <a:pt x="685800" y="0"/>
                </a:lnTo>
                <a:lnTo>
                  <a:pt x="685800" y="2959100"/>
                </a:lnTo>
                <a:lnTo>
                  <a:pt x="114300" y="2959100"/>
                </a:lnTo>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5" name="직선 화살표 연결선 124"/>
          <p:cNvCxnSpPr>
            <a:endCxn id="122" idx="1"/>
          </p:cNvCxnSpPr>
          <p:nvPr/>
        </p:nvCxnSpPr>
        <p:spPr>
          <a:xfrm>
            <a:off x="9944100" y="3180229"/>
            <a:ext cx="635000" cy="1"/>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1550040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78</a:t>
            </a:r>
            <a:r>
              <a:rPr lang="ko-KR" altLang="en-US" dirty="0"/>
              <a:t>조</a:t>
            </a:r>
            <a:r>
              <a:rPr lang="en-US" altLang="ko-KR" dirty="0"/>
              <a:t>, </a:t>
            </a:r>
            <a:r>
              <a:rPr lang="ko-KR" altLang="en-US" dirty="0"/>
              <a:t>제</a:t>
            </a:r>
            <a:r>
              <a:rPr lang="en-US" altLang="ko-KR" dirty="0"/>
              <a:t>164</a:t>
            </a:r>
            <a:r>
              <a:rPr lang="ko-KR" altLang="en-US" dirty="0"/>
              <a:t>조</a:t>
            </a:r>
          </a:p>
        </p:txBody>
      </p:sp>
      <p:sp>
        <p:nvSpPr>
          <p:cNvPr id="4" name="텍스트 개체 틀 3"/>
          <p:cNvSpPr>
            <a:spLocks noGrp="1"/>
          </p:cNvSpPr>
          <p:nvPr>
            <p:ph type="body" sz="quarter" idx="13"/>
          </p:nvPr>
        </p:nvSpPr>
        <p:spPr/>
        <p:txBody>
          <a:bodyPr/>
          <a:lstStyle/>
          <a:p>
            <a:r>
              <a:rPr lang="ko-KR" altLang="en-US" dirty="0" err="1"/>
              <a:t>타절차와의</a:t>
            </a:r>
            <a:r>
              <a:rPr lang="ko-KR" altLang="en-US" dirty="0"/>
              <a:t> 관계에서 중지</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43</a:t>
            </a:fld>
            <a:endParaRPr lang="ko-KR" altLang="en-US"/>
          </a:p>
        </p:txBody>
      </p:sp>
      <p:sp>
        <p:nvSpPr>
          <p:cNvPr id="36" name="직사각형 35"/>
          <p:cNvSpPr/>
          <p:nvPr/>
        </p:nvSpPr>
        <p:spPr>
          <a:xfrm>
            <a:off x="342899" y="2983381"/>
            <a:ext cx="110490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심사절차</a:t>
            </a:r>
            <a:endParaRPr lang="en-US" altLang="ko-KR" sz="1600" dirty="0">
              <a:solidFill>
                <a:schemeClr val="tx1"/>
              </a:solidFill>
            </a:endParaRPr>
          </a:p>
          <a:p>
            <a:pPr algn="ctr"/>
            <a:r>
              <a:rPr lang="en-US" altLang="ko-KR" sz="1200" dirty="0">
                <a:solidFill>
                  <a:schemeClr val="tx1"/>
                </a:solidFill>
              </a:rPr>
              <a:t>(</a:t>
            </a:r>
            <a:r>
              <a:rPr lang="ko-KR" altLang="en-US" sz="1200" dirty="0" err="1">
                <a:solidFill>
                  <a:schemeClr val="tx1"/>
                </a:solidFill>
              </a:rPr>
              <a:t>심사국</a:t>
            </a:r>
            <a:r>
              <a:rPr lang="en-US" altLang="ko-KR" sz="1200" dirty="0">
                <a:solidFill>
                  <a:schemeClr val="tx1"/>
                </a:solidFill>
              </a:rPr>
              <a:t>)</a:t>
            </a:r>
          </a:p>
        </p:txBody>
      </p:sp>
      <p:sp>
        <p:nvSpPr>
          <p:cNvPr id="37" name="직사각형 36"/>
          <p:cNvSpPr/>
          <p:nvPr/>
        </p:nvSpPr>
        <p:spPr>
          <a:xfrm>
            <a:off x="342899" y="4050181"/>
            <a:ext cx="110490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err="1">
                <a:solidFill>
                  <a:schemeClr val="tx1"/>
                </a:solidFill>
              </a:rPr>
              <a:t>심판절차</a:t>
            </a:r>
            <a:endParaRPr lang="en-US" altLang="ko-KR" sz="1600" dirty="0">
              <a:solidFill>
                <a:schemeClr val="tx1"/>
              </a:solidFill>
            </a:endParaRPr>
          </a:p>
          <a:p>
            <a:pPr algn="ctr"/>
            <a:r>
              <a:rPr lang="en-US" altLang="ko-KR" sz="1200" dirty="0">
                <a:solidFill>
                  <a:schemeClr val="tx1"/>
                </a:solidFill>
              </a:rPr>
              <a:t>(</a:t>
            </a:r>
            <a:r>
              <a:rPr lang="ko-KR" altLang="en-US" sz="1200" dirty="0">
                <a:solidFill>
                  <a:schemeClr val="tx1"/>
                </a:solidFill>
              </a:rPr>
              <a:t>심판원</a:t>
            </a:r>
            <a:r>
              <a:rPr lang="en-US" altLang="ko-KR" sz="1200" dirty="0">
                <a:solidFill>
                  <a:schemeClr val="tx1"/>
                </a:solidFill>
              </a:rPr>
              <a:t>)</a:t>
            </a:r>
          </a:p>
        </p:txBody>
      </p:sp>
      <p:sp>
        <p:nvSpPr>
          <p:cNvPr id="38" name="직사각형 37"/>
          <p:cNvSpPr/>
          <p:nvPr/>
        </p:nvSpPr>
        <p:spPr>
          <a:xfrm>
            <a:off x="342899" y="5015381"/>
            <a:ext cx="110490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소송절차</a:t>
            </a:r>
            <a:endParaRPr lang="en-US" altLang="ko-KR" sz="1600" dirty="0">
              <a:solidFill>
                <a:schemeClr val="tx1"/>
              </a:solidFill>
            </a:endParaRPr>
          </a:p>
          <a:p>
            <a:pPr algn="ctr"/>
            <a:r>
              <a:rPr lang="en-US" altLang="ko-KR" sz="1200" dirty="0">
                <a:solidFill>
                  <a:schemeClr val="tx1"/>
                </a:solidFill>
              </a:rPr>
              <a:t>(</a:t>
            </a:r>
            <a:r>
              <a:rPr lang="ko-KR" altLang="en-US" sz="1200" dirty="0">
                <a:solidFill>
                  <a:schemeClr val="tx1"/>
                </a:solidFill>
              </a:rPr>
              <a:t>법원</a:t>
            </a:r>
            <a:r>
              <a:rPr lang="en-US" altLang="ko-KR" sz="1200" dirty="0">
                <a:solidFill>
                  <a:schemeClr val="tx1"/>
                </a:solidFill>
              </a:rPr>
              <a:t>)</a:t>
            </a:r>
          </a:p>
        </p:txBody>
      </p:sp>
      <p:cxnSp>
        <p:nvCxnSpPr>
          <p:cNvPr id="5" name="직선 화살표 연결선 4"/>
          <p:cNvCxnSpPr>
            <a:stCxn id="36" idx="3"/>
          </p:cNvCxnSpPr>
          <p:nvPr/>
        </p:nvCxnSpPr>
        <p:spPr>
          <a:xfrm flipV="1">
            <a:off x="1447800" y="3234542"/>
            <a:ext cx="3467100" cy="6014"/>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 name="직선 화살표 연결선 41"/>
          <p:cNvCxnSpPr/>
          <p:nvPr/>
        </p:nvCxnSpPr>
        <p:spPr>
          <a:xfrm flipV="1">
            <a:off x="1447800" y="4292600"/>
            <a:ext cx="3467100" cy="14756"/>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3" name="직선 화살표 연결선 42"/>
          <p:cNvCxnSpPr/>
          <p:nvPr/>
        </p:nvCxnSpPr>
        <p:spPr>
          <a:xfrm flipV="1">
            <a:off x="1447800" y="5241771"/>
            <a:ext cx="3467100" cy="5385"/>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 name="직선 화살표 연결선 6"/>
          <p:cNvCxnSpPr/>
          <p:nvPr/>
        </p:nvCxnSpPr>
        <p:spPr>
          <a:xfrm>
            <a:off x="2806700" y="2921000"/>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2228896" y="2604481"/>
            <a:ext cx="1156086" cy="307777"/>
          </a:xfrm>
          <a:prstGeom prst="rect">
            <a:avLst/>
          </a:prstGeom>
          <a:noFill/>
        </p:spPr>
        <p:txBody>
          <a:bodyPr wrap="none" rtlCol="0">
            <a:spAutoFit/>
          </a:bodyPr>
          <a:lstStyle/>
          <a:p>
            <a:r>
              <a:rPr lang="ko-KR" altLang="en-US" sz="1400" dirty="0"/>
              <a:t>심사절차진행</a:t>
            </a:r>
          </a:p>
        </p:txBody>
      </p:sp>
      <p:cxnSp>
        <p:nvCxnSpPr>
          <p:cNvPr id="47" name="직선 화살표 연결선 46"/>
          <p:cNvCxnSpPr>
            <a:stCxn id="48" idx="2"/>
          </p:cNvCxnSpPr>
          <p:nvPr/>
        </p:nvCxnSpPr>
        <p:spPr>
          <a:xfrm flipH="1">
            <a:off x="2806700" y="3990485"/>
            <a:ext cx="239" cy="313542"/>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2228896" y="3682708"/>
            <a:ext cx="1156086" cy="307777"/>
          </a:xfrm>
          <a:prstGeom prst="rect">
            <a:avLst/>
          </a:prstGeom>
          <a:noFill/>
        </p:spPr>
        <p:txBody>
          <a:bodyPr wrap="none" rtlCol="0">
            <a:spAutoFit/>
          </a:bodyPr>
          <a:lstStyle/>
          <a:p>
            <a:r>
              <a:rPr lang="ko-KR" altLang="en-US" sz="1400" dirty="0"/>
              <a:t>심판절차진행</a:t>
            </a:r>
          </a:p>
        </p:txBody>
      </p:sp>
      <p:cxnSp>
        <p:nvCxnSpPr>
          <p:cNvPr id="50" name="직선 화살표 연결선 49"/>
          <p:cNvCxnSpPr>
            <a:stCxn id="51" idx="2"/>
          </p:cNvCxnSpPr>
          <p:nvPr/>
        </p:nvCxnSpPr>
        <p:spPr>
          <a:xfrm flipH="1">
            <a:off x="2806700" y="4928229"/>
            <a:ext cx="239" cy="300842"/>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1" name="TextBox 50"/>
          <p:cNvSpPr txBox="1"/>
          <p:nvPr/>
        </p:nvSpPr>
        <p:spPr>
          <a:xfrm>
            <a:off x="2228896" y="4620452"/>
            <a:ext cx="1156086" cy="307777"/>
          </a:xfrm>
          <a:prstGeom prst="rect">
            <a:avLst/>
          </a:prstGeom>
          <a:noFill/>
        </p:spPr>
        <p:txBody>
          <a:bodyPr wrap="none" rtlCol="0">
            <a:spAutoFit/>
          </a:bodyPr>
          <a:lstStyle/>
          <a:p>
            <a:r>
              <a:rPr lang="ko-KR" altLang="en-US" sz="1400" dirty="0"/>
              <a:t>소송절차진행</a:t>
            </a:r>
          </a:p>
        </p:txBody>
      </p:sp>
      <p:sp>
        <p:nvSpPr>
          <p:cNvPr id="22" name="아래쪽 화살표 설명선 21"/>
          <p:cNvSpPr/>
          <p:nvPr/>
        </p:nvSpPr>
        <p:spPr>
          <a:xfrm>
            <a:off x="1714500" y="2468798"/>
            <a:ext cx="2235200" cy="3754202"/>
          </a:xfrm>
          <a:prstGeom prst="downArrowCallout">
            <a:avLst>
              <a:gd name="adj1" fmla="val 40909"/>
              <a:gd name="adj2" fmla="val 21023"/>
              <a:gd name="adj3" fmla="val 25000"/>
              <a:gd name="adj4" fmla="val 83049"/>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6" name="TextBox 65"/>
          <p:cNvSpPr txBox="1"/>
          <p:nvPr/>
        </p:nvSpPr>
        <p:spPr>
          <a:xfrm>
            <a:off x="1710108" y="6270471"/>
            <a:ext cx="2226892" cy="523220"/>
          </a:xfrm>
          <a:prstGeom prst="rect">
            <a:avLst/>
          </a:prstGeom>
          <a:noFill/>
        </p:spPr>
        <p:txBody>
          <a:bodyPr wrap="none" rtlCol="0">
            <a:spAutoFit/>
          </a:bodyPr>
          <a:lstStyle/>
          <a:p>
            <a:r>
              <a:rPr lang="ko-KR" altLang="en-US" sz="2800" dirty="0" err="1">
                <a:solidFill>
                  <a:srgbClr val="FF0000"/>
                </a:solidFill>
              </a:rPr>
              <a:t>모순저촉</a:t>
            </a:r>
            <a:r>
              <a:rPr lang="ko-KR" altLang="en-US" sz="2800" dirty="0">
                <a:solidFill>
                  <a:srgbClr val="FF0000"/>
                </a:solidFill>
              </a:rPr>
              <a:t> 발생</a:t>
            </a:r>
          </a:p>
        </p:txBody>
      </p:sp>
      <p:sp>
        <p:nvSpPr>
          <p:cNvPr id="67" name="직사각형 66"/>
          <p:cNvSpPr/>
          <p:nvPr/>
        </p:nvSpPr>
        <p:spPr>
          <a:xfrm>
            <a:off x="6388099" y="2983381"/>
            <a:ext cx="110490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심사절차</a:t>
            </a:r>
            <a:endParaRPr lang="en-US" altLang="ko-KR" sz="1600" dirty="0">
              <a:solidFill>
                <a:schemeClr val="tx1"/>
              </a:solidFill>
            </a:endParaRPr>
          </a:p>
          <a:p>
            <a:pPr algn="ctr"/>
            <a:r>
              <a:rPr lang="en-US" altLang="ko-KR" sz="1200" dirty="0">
                <a:solidFill>
                  <a:schemeClr val="tx1"/>
                </a:solidFill>
              </a:rPr>
              <a:t>(</a:t>
            </a:r>
            <a:r>
              <a:rPr lang="ko-KR" altLang="en-US" sz="1200" dirty="0" err="1">
                <a:solidFill>
                  <a:schemeClr val="tx1"/>
                </a:solidFill>
              </a:rPr>
              <a:t>심사국</a:t>
            </a:r>
            <a:r>
              <a:rPr lang="en-US" altLang="ko-KR" sz="1200" dirty="0">
                <a:solidFill>
                  <a:schemeClr val="tx1"/>
                </a:solidFill>
              </a:rPr>
              <a:t>)</a:t>
            </a:r>
          </a:p>
        </p:txBody>
      </p:sp>
      <p:sp>
        <p:nvSpPr>
          <p:cNvPr id="68" name="직사각형 67"/>
          <p:cNvSpPr/>
          <p:nvPr/>
        </p:nvSpPr>
        <p:spPr>
          <a:xfrm>
            <a:off x="6388099" y="4050181"/>
            <a:ext cx="110490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err="1">
                <a:solidFill>
                  <a:schemeClr val="tx1"/>
                </a:solidFill>
              </a:rPr>
              <a:t>심판절차</a:t>
            </a:r>
            <a:endParaRPr lang="en-US" altLang="ko-KR" sz="1600" dirty="0">
              <a:solidFill>
                <a:schemeClr val="tx1"/>
              </a:solidFill>
            </a:endParaRPr>
          </a:p>
          <a:p>
            <a:pPr algn="ctr"/>
            <a:r>
              <a:rPr lang="en-US" altLang="ko-KR" sz="1200" dirty="0">
                <a:solidFill>
                  <a:schemeClr val="tx1"/>
                </a:solidFill>
              </a:rPr>
              <a:t>(</a:t>
            </a:r>
            <a:r>
              <a:rPr lang="ko-KR" altLang="en-US" sz="1200" dirty="0">
                <a:solidFill>
                  <a:schemeClr val="tx1"/>
                </a:solidFill>
              </a:rPr>
              <a:t>심판원</a:t>
            </a:r>
            <a:r>
              <a:rPr lang="en-US" altLang="ko-KR" sz="1200" dirty="0">
                <a:solidFill>
                  <a:schemeClr val="tx1"/>
                </a:solidFill>
              </a:rPr>
              <a:t>)</a:t>
            </a:r>
          </a:p>
        </p:txBody>
      </p:sp>
      <p:sp>
        <p:nvSpPr>
          <p:cNvPr id="69" name="직사각형 68"/>
          <p:cNvSpPr/>
          <p:nvPr/>
        </p:nvSpPr>
        <p:spPr>
          <a:xfrm>
            <a:off x="6388099" y="5015381"/>
            <a:ext cx="1104901"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소송절차</a:t>
            </a:r>
            <a:endParaRPr lang="en-US" altLang="ko-KR" sz="1600" dirty="0">
              <a:solidFill>
                <a:schemeClr val="tx1"/>
              </a:solidFill>
            </a:endParaRPr>
          </a:p>
          <a:p>
            <a:pPr algn="ctr"/>
            <a:r>
              <a:rPr lang="en-US" altLang="ko-KR" sz="1200" dirty="0">
                <a:solidFill>
                  <a:schemeClr val="tx1"/>
                </a:solidFill>
              </a:rPr>
              <a:t>(</a:t>
            </a:r>
            <a:r>
              <a:rPr lang="ko-KR" altLang="en-US" sz="1200" dirty="0">
                <a:solidFill>
                  <a:schemeClr val="tx1"/>
                </a:solidFill>
              </a:rPr>
              <a:t>법원</a:t>
            </a:r>
            <a:r>
              <a:rPr lang="en-US" altLang="ko-KR" sz="1200" dirty="0">
                <a:solidFill>
                  <a:schemeClr val="tx1"/>
                </a:solidFill>
              </a:rPr>
              <a:t>)</a:t>
            </a:r>
          </a:p>
        </p:txBody>
      </p:sp>
      <p:grpSp>
        <p:nvGrpSpPr>
          <p:cNvPr id="23" name="그룹 22"/>
          <p:cNvGrpSpPr/>
          <p:nvPr/>
        </p:nvGrpSpPr>
        <p:grpSpPr>
          <a:xfrm>
            <a:off x="7493000" y="3450442"/>
            <a:ext cx="4165600" cy="1796714"/>
            <a:chOff x="7493000" y="3234542"/>
            <a:chExt cx="3467100" cy="1796714"/>
          </a:xfrm>
        </p:grpSpPr>
        <p:cxnSp>
          <p:nvCxnSpPr>
            <p:cNvPr id="70" name="직선 화살표 연결선 69"/>
            <p:cNvCxnSpPr>
              <a:stCxn id="67" idx="3"/>
            </p:cNvCxnSpPr>
            <p:nvPr/>
          </p:nvCxnSpPr>
          <p:spPr>
            <a:xfrm flipV="1">
              <a:off x="7493000" y="3234542"/>
              <a:ext cx="3467100" cy="6014"/>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1" name="직선 화살표 연결선 70"/>
            <p:cNvCxnSpPr/>
            <p:nvPr/>
          </p:nvCxnSpPr>
          <p:spPr>
            <a:xfrm flipV="1">
              <a:off x="7493000" y="4076700"/>
              <a:ext cx="3467100" cy="14756"/>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p:cNvCxnSpPr/>
            <p:nvPr/>
          </p:nvCxnSpPr>
          <p:spPr>
            <a:xfrm flipV="1">
              <a:off x="7493000" y="5025871"/>
              <a:ext cx="3467100" cy="5385"/>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cxnSp>
        <p:nvCxnSpPr>
          <p:cNvPr id="73" name="직선 화살표 연결선 72"/>
          <p:cNvCxnSpPr/>
          <p:nvPr/>
        </p:nvCxnSpPr>
        <p:spPr>
          <a:xfrm>
            <a:off x="8343900" y="2921000"/>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3" name="TextBox 82"/>
          <p:cNvSpPr txBox="1"/>
          <p:nvPr/>
        </p:nvSpPr>
        <p:spPr>
          <a:xfrm>
            <a:off x="7766096" y="2604481"/>
            <a:ext cx="1156086" cy="307777"/>
          </a:xfrm>
          <a:prstGeom prst="rect">
            <a:avLst/>
          </a:prstGeom>
          <a:noFill/>
        </p:spPr>
        <p:txBody>
          <a:bodyPr wrap="none" rtlCol="0">
            <a:spAutoFit/>
          </a:bodyPr>
          <a:lstStyle/>
          <a:p>
            <a:r>
              <a:rPr lang="ko-KR" altLang="en-US" sz="1400" dirty="0"/>
              <a:t>심사절차진행</a:t>
            </a:r>
          </a:p>
        </p:txBody>
      </p:sp>
      <p:cxnSp>
        <p:nvCxnSpPr>
          <p:cNvPr id="85" name="직선 화살표 연결선 84"/>
          <p:cNvCxnSpPr>
            <a:stCxn id="86" idx="2"/>
          </p:cNvCxnSpPr>
          <p:nvPr/>
        </p:nvCxnSpPr>
        <p:spPr>
          <a:xfrm flipH="1">
            <a:off x="9385300" y="3990485"/>
            <a:ext cx="239" cy="313542"/>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6" name="TextBox 85"/>
          <p:cNvSpPr txBox="1"/>
          <p:nvPr/>
        </p:nvSpPr>
        <p:spPr>
          <a:xfrm>
            <a:off x="8807496" y="3682708"/>
            <a:ext cx="1156086" cy="307777"/>
          </a:xfrm>
          <a:prstGeom prst="rect">
            <a:avLst/>
          </a:prstGeom>
          <a:noFill/>
        </p:spPr>
        <p:txBody>
          <a:bodyPr wrap="none" rtlCol="0">
            <a:spAutoFit/>
          </a:bodyPr>
          <a:lstStyle/>
          <a:p>
            <a:r>
              <a:rPr lang="ko-KR" altLang="en-US" sz="1400" dirty="0"/>
              <a:t>심판절차진행</a:t>
            </a:r>
          </a:p>
        </p:txBody>
      </p:sp>
      <p:cxnSp>
        <p:nvCxnSpPr>
          <p:cNvPr id="88" name="직선 화살표 연결선 87"/>
          <p:cNvCxnSpPr>
            <a:stCxn id="89" idx="2"/>
          </p:cNvCxnSpPr>
          <p:nvPr/>
        </p:nvCxnSpPr>
        <p:spPr>
          <a:xfrm flipH="1">
            <a:off x="10490200" y="4928229"/>
            <a:ext cx="239" cy="300842"/>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9" name="TextBox 88"/>
          <p:cNvSpPr txBox="1"/>
          <p:nvPr/>
        </p:nvSpPr>
        <p:spPr>
          <a:xfrm>
            <a:off x="9912396" y="4620452"/>
            <a:ext cx="1156086" cy="307777"/>
          </a:xfrm>
          <a:prstGeom prst="rect">
            <a:avLst/>
          </a:prstGeom>
          <a:noFill/>
        </p:spPr>
        <p:txBody>
          <a:bodyPr wrap="none" rtlCol="0">
            <a:spAutoFit/>
          </a:bodyPr>
          <a:lstStyle/>
          <a:p>
            <a:r>
              <a:rPr lang="ko-KR" altLang="en-US" sz="1400" dirty="0"/>
              <a:t>소송절차진행</a:t>
            </a:r>
          </a:p>
        </p:txBody>
      </p:sp>
      <p:cxnSp>
        <p:nvCxnSpPr>
          <p:cNvPr id="90" name="직선 화살표 연결선 89"/>
          <p:cNvCxnSpPr/>
          <p:nvPr/>
        </p:nvCxnSpPr>
        <p:spPr>
          <a:xfrm>
            <a:off x="9384914" y="2921000"/>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1" name="TextBox 90"/>
          <p:cNvSpPr txBox="1"/>
          <p:nvPr/>
        </p:nvSpPr>
        <p:spPr>
          <a:xfrm>
            <a:off x="9137310" y="2604481"/>
            <a:ext cx="508473" cy="307777"/>
          </a:xfrm>
          <a:prstGeom prst="rect">
            <a:avLst/>
          </a:prstGeom>
          <a:noFill/>
        </p:spPr>
        <p:txBody>
          <a:bodyPr wrap="none" rtlCol="0">
            <a:spAutoFit/>
          </a:bodyPr>
          <a:lstStyle/>
          <a:p>
            <a:r>
              <a:rPr lang="ko-KR" altLang="en-US" sz="1400" dirty="0"/>
              <a:t>종료</a:t>
            </a:r>
          </a:p>
        </p:txBody>
      </p:sp>
      <p:cxnSp>
        <p:nvCxnSpPr>
          <p:cNvPr id="98" name="직선 화살표 연결선 97"/>
          <p:cNvCxnSpPr/>
          <p:nvPr/>
        </p:nvCxnSpPr>
        <p:spPr>
          <a:xfrm>
            <a:off x="10483567" y="3999227"/>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0" name="TextBox 99"/>
          <p:cNvSpPr txBox="1"/>
          <p:nvPr/>
        </p:nvSpPr>
        <p:spPr>
          <a:xfrm>
            <a:off x="10235963" y="3682708"/>
            <a:ext cx="508473" cy="307777"/>
          </a:xfrm>
          <a:prstGeom prst="rect">
            <a:avLst/>
          </a:prstGeom>
          <a:noFill/>
        </p:spPr>
        <p:txBody>
          <a:bodyPr wrap="none" rtlCol="0">
            <a:spAutoFit/>
          </a:bodyPr>
          <a:lstStyle/>
          <a:p>
            <a:r>
              <a:rPr lang="ko-KR" altLang="en-US" sz="1400" dirty="0"/>
              <a:t>종료</a:t>
            </a:r>
          </a:p>
        </p:txBody>
      </p:sp>
      <p:grpSp>
        <p:nvGrpSpPr>
          <p:cNvPr id="26" name="그룹 25"/>
          <p:cNvGrpSpPr/>
          <p:nvPr/>
        </p:nvGrpSpPr>
        <p:grpSpPr>
          <a:xfrm>
            <a:off x="8343900" y="3246122"/>
            <a:ext cx="2146300" cy="2976877"/>
            <a:chOff x="8343900" y="2044700"/>
            <a:chExt cx="2146300" cy="3962400"/>
          </a:xfrm>
        </p:grpSpPr>
        <p:cxnSp>
          <p:nvCxnSpPr>
            <p:cNvPr id="25" name="직선 연결선 24"/>
            <p:cNvCxnSpPr/>
            <p:nvPr/>
          </p:nvCxnSpPr>
          <p:spPr>
            <a:xfrm>
              <a:off x="8343900" y="2044700"/>
              <a:ext cx="0" cy="396240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9385300" y="2044700"/>
              <a:ext cx="0" cy="396240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직선 연결선 101"/>
            <p:cNvCxnSpPr/>
            <p:nvPr/>
          </p:nvCxnSpPr>
          <p:spPr>
            <a:xfrm>
              <a:off x="10490200" y="2044700"/>
              <a:ext cx="0" cy="396240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28" name="직선 연결선 27"/>
          <p:cNvCxnSpPr/>
          <p:nvPr/>
        </p:nvCxnSpPr>
        <p:spPr>
          <a:xfrm>
            <a:off x="8343900" y="4304027"/>
            <a:ext cx="1041014" cy="0"/>
          </a:xfrm>
          <a:prstGeom prst="line">
            <a:avLst/>
          </a:prstGeom>
          <a:ln w="5715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직선 연결선 102"/>
          <p:cNvCxnSpPr/>
          <p:nvPr/>
        </p:nvCxnSpPr>
        <p:spPr>
          <a:xfrm>
            <a:off x="8343900" y="5227798"/>
            <a:ext cx="2139667" cy="0"/>
          </a:xfrm>
          <a:prstGeom prst="line">
            <a:avLst/>
          </a:prstGeom>
          <a:ln w="5715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 name="TextBox 103"/>
          <p:cNvSpPr txBox="1"/>
          <p:nvPr/>
        </p:nvSpPr>
        <p:spPr>
          <a:xfrm>
            <a:off x="8619274" y="4346597"/>
            <a:ext cx="508473" cy="307777"/>
          </a:xfrm>
          <a:prstGeom prst="rect">
            <a:avLst/>
          </a:prstGeom>
          <a:noFill/>
        </p:spPr>
        <p:txBody>
          <a:bodyPr wrap="none" rtlCol="0">
            <a:spAutoFit/>
          </a:bodyPr>
          <a:lstStyle/>
          <a:p>
            <a:r>
              <a:rPr lang="ko-KR" altLang="en-US" sz="1400" dirty="0">
                <a:solidFill>
                  <a:srgbClr val="FF0000"/>
                </a:solidFill>
              </a:rPr>
              <a:t>중지</a:t>
            </a:r>
          </a:p>
        </p:txBody>
      </p:sp>
      <p:sp>
        <p:nvSpPr>
          <p:cNvPr id="105" name="TextBox 104"/>
          <p:cNvSpPr txBox="1"/>
          <p:nvPr/>
        </p:nvSpPr>
        <p:spPr>
          <a:xfrm>
            <a:off x="9127746" y="5345057"/>
            <a:ext cx="508473" cy="307777"/>
          </a:xfrm>
          <a:prstGeom prst="rect">
            <a:avLst/>
          </a:prstGeom>
          <a:solidFill>
            <a:schemeClr val="bg1"/>
          </a:solidFill>
        </p:spPr>
        <p:txBody>
          <a:bodyPr wrap="none" rtlCol="0">
            <a:spAutoFit/>
          </a:bodyPr>
          <a:lstStyle/>
          <a:p>
            <a:r>
              <a:rPr lang="ko-KR" altLang="en-US" sz="1400" dirty="0">
                <a:solidFill>
                  <a:srgbClr val="FF0000"/>
                </a:solidFill>
              </a:rPr>
              <a:t>중지</a:t>
            </a:r>
          </a:p>
        </p:txBody>
      </p:sp>
      <p:cxnSp>
        <p:nvCxnSpPr>
          <p:cNvPr id="106" name="직선 연결선 105"/>
          <p:cNvCxnSpPr/>
          <p:nvPr/>
        </p:nvCxnSpPr>
        <p:spPr>
          <a:xfrm>
            <a:off x="5771178" y="2514600"/>
            <a:ext cx="0" cy="427909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직선 연결선 106"/>
          <p:cNvCxnSpPr/>
          <p:nvPr/>
        </p:nvCxnSpPr>
        <p:spPr>
          <a:xfrm>
            <a:off x="0" y="216927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8" name="TextBox 107"/>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특허출원의 심사에 있어서 필요한 경우에는 특허취소신청에 대한 결정이나 </a:t>
            </a:r>
            <a:r>
              <a:rPr lang="ko-KR" altLang="en-US" sz="1400" dirty="0" err="1">
                <a:solidFill>
                  <a:schemeClr val="tx2"/>
                </a:solidFill>
              </a:rPr>
              <a:t>심결이</a:t>
            </a:r>
            <a:r>
              <a:rPr lang="ko-KR" altLang="en-US" sz="1400" dirty="0">
                <a:solidFill>
                  <a:schemeClr val="tx2"/>
                </a:solidFill>
              </a:rPr>
              <a:t> 확정될 때까지 또는 소송절차가 완결될 때까지 그 심사절차를 </a:t>
            </a:r>
            <a:r>
              <a:rPr lang="ko-KR" altLang="en-US" sz="1400" dirty="0">
                <a:highlight>
                  <a:srgbClr val="FFFF00"/>
                </a:highlight>
              </a:rPr>
              <a:t>중지할 수 있다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78①). </a:t>
            </a:r>
            <a:r>
              <a:rPr lang="ko-KR" altLang="en-US" sz="1400" dirty="0">
                <a:solidFill>
                  <a:schemeClr val="tx2"/>
                </a:solidFill>
              </a:rPr>
              <a:t>심판장은 심판에서 필요하면 </a:t>
            </a:r>
            <a:r>
              <a:rPr lang="ko-KR" altLang="en-US" sz="1400" dirty="0">
                <a:highlight>
                  <a:srgbClr val="FFFF00"/>
                </a:highlight>
              </a:rPr>
              <a:t>직권 또는 당사자의 신청에 따라 </a:t>
            </a:r>
            <a:r>
              <a:rPr lang="ko-KR" altLang="en-US" sz="1400" dirty="0">
                <a:solidFill>
                  <a:schemeClr val="tx2"/>
                </a:solidFill>
              </a:rPr>
              <a:t>그 </a:t>
            </a:r>
            <a:r>
              <a:rPr lang="ko-KR" altLang="en-US" sz="1400" dirty="0" err="1">
                <a:solidFill>
                  <a:schemeClr val="tx2"/>
                </a:solidFill>
              </a:rPr>
              <a:t>심판사건과</a:t>
            </a:r>
            <a:r>
              <a:rPr lang="ko-KR" altLang="en-US" sz="1400" dirty="0">
                <a:solidFill>
                  <a:schemeClr val="tx2"/>
                </a:solidFill>
              </a:rPr>
              <a:t> 관련되는 특허취소신청에 대한 결정 또는 다른 심판의 </a:t>
            </a:r>
            <a:r>
              <a:rPr lang="ko-KR" altLang="en-US" sz="1400" dirty="0" err="1">
                <a:solidFill>
                  <a:schemeClr val="tx2"/>
                </a:solidFill>
              </a:rPr>
              <a:t>심결이</a:t>
            </a:r>
            <a:r>
              <a:rPr lang="ko-KR" altLang="en-US" sz="1400" dirty="0">
                <a:solidFill>
                  <a:schemeClr val="tx2"/>
                </a:solidFill>
              </a:rPr>
              <a:t> 확정되거나 소송절차가 완결될 때까지 그 절차를 </a:t>
            </a:r>
            <a:r>
              <a:rPr lang="ko-KR" altLang="en-US" sz="1400" dirty="0">
                <a:highlight>
                  <a:srgbClr val="FFFF00"/>
                </a:highlight>
              </a:rPr>
              <a:t>중지할 수 있다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164①). </a:t>
            </a:r>
            <a:r>
              <a:rPr lang="ko-KR" altLang="en-US" sz="1400" dirty="0">
                <a:solidFill>
                  <a:schemeClr val="tx2"/>
                </a:solidFill>
              </a:rPr>
              <a:t>법원은 소송에서 필요하면 </a:t>
            </a:r>
            <a:r>
              <a:rPr lang="ko-KR" altLang="en-US" sz="1400" dirty="0">
                <a:highlight>
                  <a:srgbClr val="FFFF00"/>
                </a:highlight>
              </a:rPr>
              <a:t>직권 또는 당사자의 신청에 따라</a:t>
            </a:r>
            <a:r>
              <a:rPr lang="ko-KR" altLang="en-US" sz="1400" dirty="0">
                <a:solidFill>
                  <a:srgbClr val="FF0000"/>
                </a:solidFill>
              </a:rPr>
              <a:t> </a:t>
            </a:r>
            <a:r>
              <a:rPr lang="ko-KR" altLang="en-US" sz="1400" dirty="0">
                <a:solidFill>
                  <a:schemeClr val="tx2"/>
                </a:solidFill>
              </a:rPr>
              <a:t>특허여부결정</a:t>
            </a:r>
            <a:r>
              <a:rPr lang="en-US" altLang="ko-KR" sz="1400" dirty="0">
                <a:solidFill>
                  <a:schemeClr val="tx2"/>
                </a:solidFill>
              </a:rPr>
              <a:t>, </a:t>
            </a:r>
            <a:r>
              <a:rPr lang="ko-KR" altLang="en-US" sz="1400" dirty="0">
                <a:solidFill>
                  <a:schemeClr val="tx2"/>
                </a:solidFill>
              </a:rPr>
              <a:t>특허취소신청에 대한 결정이나 특허에 관한 </a:t>
            </a:r>
            <a:r>
              <a:rPr lang="ko-KR" altLang="en-US" sz="1400" dirty="0" err="1">
                <a:solidFill>
                  <a:schemeClr val="tx2"/>
                </a:solidFill>
              </a:rPr>
              <a:t>심결이</a:t>
            </a:r>
            <a:r>
              <a:rPr lang="ko-KR" altLang="en-US" sz="1400" dirty="0">
                <a:solidFill>
                  <a:schemeClr val="tx2"/>
                </a:solidFill>
              </a:rPr>
              <a:t> 확정될 때까지 그 소송절차를 </a:t>
            </a:r>
            <a:r>
              <a:rPr lang="ko-KR" altLang="en-US" sz="1400" dirty="0">
                <a:highlight>
                  <a:srgbClr val="FFFF00"/>
                </a:highlight>
              </a:rPr>
              <a:t>중지할 수 있다</a:t>
            </a:r>
            <a:r>
              <a:rPr lang="en-US" altLang="ko-KR" sz="1400" dirty="0">
                <a:solidFill>
                  <a:schemeClr val="tx2"/>
                </a:solidFill>
              </a:rPr>
              <a:t>(</a:t>
            </a:r>
            <a:r>
              <a:rPr lang="ko-KR" altLang="en-US" sz="1400" dirty="0">
                <a:solidFill>
                  <a:schemeClr val="tx2"/>
                </a:solidFill>
              </a:rPr>
              <a:t>法</a:t>
            </a:r>
            <a:r>
              <a:rPr lang="en-US" altLang="ko-KR" sz="1400" dirty="0">
                <a:solidFill>
                  <a:schemeClr val="tx2"/>
                </a:solidFill>
              </a:rPr>
              <a:t>78②, 164②). </a:t>
            </a:r>
            <a:r>
              <a:rPr lang="ko-KR" altLang="en-US" sz="1400" dirty="0">
                <a:solidFill>
                  <a:schemeClr val="tx2"/>
                </a:solidFill>
              </a:rPr>
              <a:t>심사와 심판 또는 소송중인 사건들이 상호 관련성이 있을 때 이 사건들 간에 </a:t>
            </a:r>
            <a:r>
              <a:rPr lang="ko-KR" altLang="en-US" sz="1400" dirty="0">
                <a:highlight>
                  <a:srgbClr val="FFFF00"/>
                </a:highlight>
              </a:rPr>
              <a:t>상호 </a:t>
            </a:r>
            <a:r>
              <a:rPr lang="ko-KR" altLang="en-US" sz="1400" dirty="0" err="1">
                <a:highlight>
                  <a:srgbClr val="FFFF00"/>
                </a:highlight>
              </a:rPr>
              <a:t>모순ㆍ저촉되는</a:t>
            </a:r>
            <a:r>
              <a:rPr lang="ko-KR" altLang="en-US" sz="1400" dirty="0">
                <a:highlight>
                  <a:srgbClr val="FFFF00"/>
                </a:highlight>
              </a:rPr>
              <a:t> 결과를 예방</a:t>
            </a:r>
            <a:r>
              <a:rPr lang="ko-KR" altLang="en-US" sz="1400" dirty="0">
                <a:solidFill>
                  <a:schemeClr val="tx2"/>
                </a:solidFill>
              </a:rPr>
              <a:t>하고</a:t>
            </a:r>
            <a:r>
              <a:rPr lang="en-US" altLang="ko-KR" sz="1400" dirty="0">
                <a:solidFill>
                  <a:schemeClr val="tx2"/>
                </a:solidFill>
              </a:rPr>
              <a:t>, </a:t>
            </a:r>
            <a:r>
              <a:rPr lang="ko-KR" altLang="en-US" sz="1400" dirty="0">
                <a:solidFill>
                  <a:schemeClr val="tx2"/>
                </a:solidFill>
              </a:rPr>
              <a:t>나아가 심사</a:t>
            </a:r>
            <a:r>
              <a:rPr lang="en-US" altLang="ko-KR" sz="1400" dirty="0">
                <a:solidFill>
                  <a:schemeClr val="tx2"/>
                </a:solidFill>
              </a:rPr>
              <a:t>, </a:t>
            </a:r>
            <a:r>
              <a:rPr lang="ko-KR" altLang="en-US" sz="1400" dirty="0">
                <a:solidFill>
                  <a:schemeClr val="tx2"/>
                </a:solidFill>
              </a:rPr>
              <a:t>심판 및 소송 </a:t>
            </a:r>
            <a:r>
              <a:rPr lang="ko-KR" altLang="en-US" sz="1400" dirty="0">
                <a:highlight>
                  <a:srgbClr val="FFFF00"/>
                </a:highlight>
              </a:rPr>
              <a:t>등의 </a:t>
            </a:r>
            <a:r>
              <a:rPr lang="ko-KR" altLang="en-US" sz="1400" dirty="0" err="1">
                <a:highlight>
                  <a:srgbClr val="FFFF00"/>
                </a:highlight>
              </a:rPr>
              <a:t>소송경제를</a:t>
            </a:r>
            <a:r>
              <a:rPr lang="ko-KR" altLang="en-US" sz="1400" dirty="0">
                <a:highlight>
                  <a:srgbClr val="FFFF00"/>
                </a:highlight>
              </a:rPr>
              <a:t> 도모</a:t>
            </a:r>
            <a:r>
              <a:rPr lang="ko-KR" altLang="en-US" sz="1400" dirty="0">
                <a:solidFill>
                  <a:schemeClr val="tx2"/>
                </a:solidFill>
              </a:rPr>
              <a:t>하기 위해서이다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절차를 중지할 것인지 여부는 </a:t>
            </a:r>
            <a:r>
              <a:rPr lang="ko-KR" altLang="en-US" sz="1400" dirty="0">
                <a:highlight>
                  <a:srgbClr val="FFFF00"/>
                </a:highlight>
              </a:rPr>
              <a:t>재량사항</a:t>
            </a:r>
            <a:r>
              <a:rPr lang="ko-KR" altLang="en-US" sz="1400" dirty="0">
                <a:solidFill>
                  <a:schemeClr val="tx2"/>
                </a:solidFill>
              </a:rPr>
              <a:t>이다</a:t>
            </a:r>
            <a:r>
              <a:rPr lang="en-US" altLang="ko-KR" sz="1400" dirty="0">
                <a:solidFill>
                  <a:schemeClr val="tx2"/>
                </a:solidFill>
              </a:rPr>
              <a:t>.</a:t>
            </a:r>
            <a:endParaRPr lang="en-US" altLang="ko-KR" sz="1400" dirty="0">
              <a:solidFill>
                <a:srgbClr val="FF0000"/>
              </a:solidFill>
            </a:endParaRPr>
          </a:p>
        </p:txBody>
      </p:sp>
    </p:spTree>
    <p:extLst>
      <p:ext uri="{BB962C8B-B14F-4D97-AF65-F5344CB8AC3E}">
        <p14:creationId xmlns:p14="http://schemas.microsoft.com/office/powerpoint/2010/main" val="105272519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44</a:t>
            </a:fld>
            <a:endParaRPr lang="ko-KR" altLang="en-US"/>
          </a:p>
        </p:txBody>
      </p:sp>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lstStyle/>
          <a:p>
            <a:r>
              <a:rPr lang="ko-KR" altLang="en-US" dirty="0"/>
              <a:t>지식재산처의 구조와 역할</a:t>
            </a:r>
          </a:p>
        </p:txBody>
      </p:sp>
      <p:sp>
        <p:nvSpPr>
          <p:cNvPr id="6" name="직사각형 5"/>
          <p:cNvSpPr/>
          <p:nvPr/>
        </p:nvSpPr>
        <p:spPr>
          <a:xfrm>
            <a:off x="508398" y="1992200"/>
            <a:ext cx="4365811" cy="403412"/>
          </a:xfrm>
          <a:prstGeom prst="rect">
            <a:avLst/>
          </a:prstGeom>
          <a:solidFill>
            <a:schemeClr val="accent1">
              <a:lumMod val="20000"/>
              <a:lumOff val="8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지식재산처장</a:t>
            </a:r>
          </a:p>
        </p:txBody>
      </p:sp>
      <p:sp>
        <p:nvSpPr>
          <p:cNvPr id="49" name="직사각형 48"/>
          <p:cNvSpPr/>
          <p:nvPr/>
        </p:nvSpPr>
        <p:spPr>
          <a:xfrm>
            <a:off x="508398" y="2994213"/>
            <a:ext cx="2124635" cy="403412"/>
          </a:xfrm>
          <a:prstGeom prst="rect">
            <a:avLst/>
          </a:prstGeom>
          <a:solidFill>
            <a:schemeClr val="accent3">
              <a:lumMod val="20000"/>
              <a:lumOff val="8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심사국</a:t>
            </a:r>
            <a:endParaRPr lang="ko-KR" altLang="en-US" sz="1400" dirty="0">
              <a:solidFill>
                <a:schemeClr val="tx1"/>
              </a:solidFill>
            </a:endParaRPr>
          </a:p>
        </p:txBody>
      </p:sp>
      <p:sp>
        <p:nvSpPr>
          <p:cNvPr id="53" name="직사각형 52"/>
          <p:cNvSpPr/>
          <p:nvPr/>
        </p:nvSpPr>
        <p:spPr>
          <a:xfrm>
            <a:off x="508398" y="3406587"/>
            <a:ext cx="2124635" cy="1819838"/>
          </a:xfrm>
          <a:prstGeom prst="rect">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지식재산처장</a:t>
            </a:r>
          </a:p>
        </p:txBody>
      </p:sp>
      <p:sp>
        <p:nvSpPr>
          <p:cNvPr id="54" name="직사각형 53"/>
          <p:cNvSpPr/>
          <p:nvPr/>
        </p:nvSpPr>
        <p:spPr>
          <a:xfrm>
            <a:off x="2749574" y="2994213"/>
            <a:ext cx="2124635" cy="403412"/>
          </a:xfrm>
          <a:prstGeom prst="rect">
            <a:avLst/>
          </a:prstGeom>
          <a:solidFill>
            <a:schemeClr val="accent3">
              <a:lumMod val="20000"/>
              <a:lumOff val="8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특허심판원</a:t>
            </a:r>
          </a:p>
        </p:txBody>
      </p:sp>
      <p:sp>
        <p:nvSpPr>
          <p:cNvPr id="55" name="직사각형 54"/>
          <p:cNvSpPr/>
          <p:nvPr/>
        </p:nvSpPr>
        <p:spPr>
          <a:xfrm>
            <a:off x="2749574" y="3406587"/>
            <a:ext cx="2124635" cy="1819838"/>
          </a:xfrm>
          <a:prstGeom prst="rect">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지식재산처장</a:t>
            </a:r>
          </a:p>
        </p:txBody>
      </p:sp>
      <p:sp>
        <p:nvSpPr>
          <p:cNvPr id="9" name="모서리가 둥근 직사각형 8"/>
          <p:cNvSpPr/>
          <p:nvPr/>
        </p:nvSpPr>
        <p:spPr>
          <a:xfrm>
            <a:off x="893881" y="4087909"/>
            <a:ext cx="1389530" cy="430305"/>
          </a:xfrm>
          <a:prstGeom prst="roundRect">
            <a:avLst/>
          </a:prstGeom>
          <a:solidFill>
            <a:schemeClr val="accent4">
              <a:lumMod val="20000"/>
              <a:lumOff val="8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심사관</a:t>
            </a:r>
          </a:p>
        </p:txBody>
      </p:sp>
      <p:sp>
        <p:nvSpPr>
          <p:cNvPr id="56" name="모서리가 둥근 직사각형 55"/>
          <p:cNvSpPr/>
          <p:nvPr/>
        </p:nvSpPr>
        <p:spPr>
          <a:xfrm>
            <a:off x="3117126" y="3711389"/>
            <a:ext cx="1389530" cy="430305"/>
          </a:xfrm>
          <a:prstGeom prst="roundRect">
            <a:avLst/>
          </a:prstGeom>
          <a:solidFill>
            <a:schemeClr val="accent4">
              <a:lumMod val="20000"/>
              <a:lumOff val="8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심판원장</a:t>
            </a:r>
            <a:endParaRPr lang="ko-KR" altLang="en-US" sz="1400" dirty="0">
              <a:solidFill>
                <a:schemeClr val="tx1"/>
              </a:solidFill>
            </a:endParaRPr>
          </a:p>
        </p:txBody>
      </p:sp>
      <p:sp>
        <p:nvSpPr>
          <p:cNvPr id="57" name="모서리가 둥근 직사각형 56"/>
          <p:cNvSpPr/>
          <p:nvPr/>
        </p:nvSpPr>
        <p:spPr>
          <a:xfrm>
            <a:off x="3117126" y="4401673"/>
            <a:ext cx="1389530" cy="430305"/>
          </a:xfrm>
          <a:prstGeom prst="roundRect">
            <a:avLst/>
          </a:prstGeom>
          <a:solidFill>
            <a:schemeClr val="accent4">
              <a:lumMod val="20000"/>
              <a:lumOff val="8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심판관합의체</a:t>
            </a:r>
            <a:endParaRPr lang="en-US" altLang="ko-KR" sz="1400" dirty="0">
              <a:solidFill>
                <a:schemeClr val="tx1"/>
              </a:solidFill>
            </a:endParaRPr>
          </a:p>
          <a:p>
            <a:pPr algn="ctr"/>
            <a:r>
              <a:rPr lang="en-US" altLang="ko-KR" sz="1100" dirty="0">
                <a:solidFill>
                  <a:schemeClr val="tx1"/>
                </a:solidFill>
              </a:rPr>
              <a:t>(3</a:t>
            </a:r>
            <a:r>
              <a:rPr lang="ko-KR" altLang="en-US" sz="1100" dirty="0">
                <a:solidFill>
                  <a:schemeClr val="tx1"/>
                </a:solidFill>
              </a:rPr>
              <a:t>인</a:t>
            </a:r>
            <a:r>
              <a:rPr lang="en-US" altLang="ko-KR" sz="1100" dirty="0">
                <a:solidFill>
                  <a:schemeClr val="tx1"/>
                </a:solidFill>
              </a:rPr>
              <a:t> </a:t>
            </a:r>
            <a:r>
              <a:rPr lang="ko-KR" altLang="en-US" sz="1100" dirty="0">
                <a:solidFill>
                  <a:schemeClr val="tx1"/>
                </a:solidFill>
              </a:rPr>
              <a:t>또는 </a:t>
            </a:r>
            <a:r>
              <a:rPr lang="en-US" altLang="ko-KR" sz="1100" dirty="0">
                <a:solidFill>
                  <a:schemeClr val="tx1"/>
                </a:solidFill>
              </a:rPr>
              <a:t>5</a:t>
            </a:r>
            <a:r>
              <a:rPr lang="ko-KR" altLang="en-US" sz="1100" dirty="0">
                <a:solidFill>
                  <a:schemeClr val="tx1"/>
                </a:solidFill>
              </a:rPr>
              <a:t>인</a:t>
            </a:r>
            <a:r>
              <a:rPr lang="en-US" altLang="ko-KR" sz="1100" dirty="0">
                <a:solidFill>
                  <a:schemeClr val="tx1"/>
                </a:solidFill>
              </a:rPr>
              <a:t>)</a:t>
            </a:r>
            <a:endParaRPr lang="ko-KR" altLang="en-US" sz="1400" dirty="0">
              <a:solidFill>
                <a:schemeClr val="tx1"/>
              </a:solidFill>
            </a:endParaRPr>
          </a:p>
        </p:txBody>
      </p:sp>
      <p:grpSp>
        <p:nvGrpSpPr>
          <p:cNvPr id="21" name="그룹 20"/>
          <p:cNvGrpSpPr/>
          <p:nvPr/>
        </p:nvGrpSpPr>
        <p:grpSpPr>
          <a:xfrm>
            <a:off x="1570715" y="2404573"/>
            <a:ext cx="2236692" cy="589639"/>
            <a:chOff x="1570715" y="2537013"/>
            <a:chExt cx="2236692" cy="457200"/>
          </a:xfrm>
        </p:grpSpPr>
        <p:cxnSp>
          <p:nvCxnSpPr>
            <p:cNvPr id="13" name="직선 연결선 12"/>
            <p:cNvCxnSpPr>
              <a:stCxn id="49" idx="0"/>
            </p:cNvCxnSpPr>
            <p:nvPr/>
          </p:nvCxnSpPr>
          <p:spPr>
            <a:xfrm flipH="1" flipV="1">
              <a:off x="1570715" y="2537013"/>
              <a:ext cx="1" cy="45720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flipH="1" flipV="1">
              <a:off x="3807406" y="2537013"/>
              <a:ext cx="1" cy="45720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62" name="직선 연결선 61"/>
          <p:cNvCxnSpPr>
            <a:stCxn id="57" idx="0"/>
          </p:cNvCxnSpPr>
          <p:nvPr/>
        </p:nvCxnSpPr>
        <p:spPr>
          <a:xfrm flipH="1" flipV="1">
            <a:off x="3807407" y="4137213"/>
            <a:ext cx="4484" cy="26446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타원 14"/>
          <p:cNvSpPr/>
          <p:nvPr/>
        </p:nvSpPr>
        <p:spPr>
          <a:xfrm>
            <a:off x="3408476" y="5531227"/>
            <a:ext cx="797859" cy="797859"/>
          </a:xfrm>
          <a:prstGeom prst="ellipse">
            <a:avLst/>
          </a:prstGeom>
          <a:solidFill>
            <a:schemeClr val="accent2">
              <a:lumMod val="40000"/>
              <a:lumOff val="6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2"/>
                </a:solidFill>
              </a:rPr>
              <a:t>심판장</a:t>
            </a:r>
          </a:p>
        </p:txBody>
      </p:sp>
      <p:cxnSp>
        <p:nvCxnSpPr>
          <p:cNvPr id="17" name="직선 화살표 연결선 16"/>
          <p:cNvCxnSpPr>
            <a:stCxn id="15" idx="0"/>
            <a:endCxn id="57" idx="2"/>
          </p:cNvCxnSpPr>
          <p:nvPr/>
        </p:nvCxnSpPr>
        <p:spPr>
          <a:xfrm flipV="1">
            <a:off x="3807406" y="4831978"/>
            <a:ext cx="4485" cy="699249"/>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4" name="직선 연결선 73"/>
          <p:cNvCxnSpPr/>
          <p:nvPr/>
        </p:nvCxnSpPr>
        <p:spPr>
          <a:xfrm>
            <a:off x="5412959" y="980388"/>
            <a:ext cx="0" cy="5766169"/>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20" name="표 19"/>
          <p:cNvGraphicFramePr>
            <a:graphicFrameLocks noGrp="1"/>
          </p:cNvGraphicFramePr>
          <p:nvPr>
            <p:extLst>
              <p:ext uri="{D42A27DB-BD31-4B8C-83A1-F6EECF244321}">
                <p14:modId xmlns:p14="http://schemas.microsoft.com/office/powerpoint/2010/main" val="2642865620"/>
              </p:ext>
            </p:extLst>
          </p:nvPr>
        </p:nvGraphicFramePr>
        <p:xfrm>
          <a:off x="6044097" y="1960775"/>
          <a:ext cx="5673420" cy="4368310"/>
        </p:xfrm>
        <a:graphic>
          <a:graphicData uri="http://schemas.openxmlformats.org/drawingml/2006/table">
            <a:tbl>
              <a:tblPr firstRow="1">
                <a:tableStyleId>{BC89EF96-8CEA-46FF-86C4-4CE0E7609802}</a:tableStyleId>
              </a:tblPr>
              <a:tblGrid>
                <a:gridCol w="809190">
                  <a:extLst>
                    <a:ext uri="{9D8B030D-6E8A-4147-A177-3AD203B41FA5}">
                      <a16:colId xmlns:a16="http://schemas.microsoft.com/office/drawing/2014/main" val="3983345955"/>
                    </a:ext>
                  </a:extLst>
                </a:gridCol>
                <a:gridCol w="2535810">
                  <a:extLst>
                    <a:ext uri="{9D8B030D-6E8A-4147-A177-3AD203B41FA5}">
                      <a16:colId xmlns:a16="http://schemas.microsoft.com/office/drawing/2014/main" val="3677995398"/>
                    </a:ext>
                  </a:extLst>
                </a:gridCol>
                <a:gridCol w="1197204">
                  <a:extLst>
                    <a:ext uri="{9D8B030D-6E8A-4147-A177-3AD203B41FA5}">
                      <a16:colId xmlns:a16="http://schemas.microsoft.com/office/drawing/2014/main" val="2756715230"/>
                    </a:ext>
                  </a:extLst>
                </a:gridCol>
                <a:gridCol w="1131216">
                  <a:extLst>
                    <a:ext uri="{9D8B030D-6E8A-4147-A177-3AD203B41FA5}">
                      <a16:colId xmlns:a16="http://schemas.microsoft.com/office/drawing/2014/main" val="2915743918"/>
                    </a:ext>
                  </a:extLst>
                </a:gridCol>
              </a:tblGrid>
              <a:tr h="396153">
                <a:tc gridSpan="2">
                  <a:txBody>
                    <a:bodyPr/>
                    <a:lstStyle/>
                    <a:p>
                      <a:pPr algn="ctr" latinLnBrk="1"/>
                      <a:r>
                        <a:rPr lang="ko-KR" altLang="en-US" sz="1200" dirty="0"/>
                        <a:t>구분</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hMerge="1">
                  <a:txBody>
                    <a:bodyPr/>
                    <a:lstStyle/>
                    <a:p>
                      <a:pPr latinLnBrk="1"/>
                      <a:endParaRPr lang="ko-KR" altLang="en-US" sz="12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200" dirty="0" err="1"/>
                        <a:t>심사국</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latinLnBrk="1"/>
                      <a:r>
                        <a:rPr lang="ko-KR" altLang="en-US" sz="1200" dirty="0"/>
                        <a:t>심판원</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135348478"/>
                  </a:ext>
                </a:extLst>
              </a:tr>
              <a:tr h="476659">
                <a:tc rowSpan="5">
                  <a:txBody>
                    <a:bodyPr/>
                    <a:lstStyle/>
                    <a:p>
                      <a:pPr algn="ctr" latinLnBrk="1"/>
                      <a:r>
                        <a:rPr lang="ko-KR" altLang="en-US" sz="1200" dirty="0" err="1"/>
                        <a:t>절차사무</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200" dirty="0"/>
                        <a:t>대리인 선임</a:t>
                      </a:r>
                      <a:r>
                        <a:rPr lang="en-US" altLang="ko-KR" sz="1200" dirty="0"/>
                        <a:t>/</a:t>
                      </a:r>
                      <a:r>
                        <a:rPr lang="ko-KR" altLang="en-US" sz="1200" dirty="0"/>
                        <a:t>교체</a:t>
                      </a:r>
                      <a:r>
                        <a:rPr lang="en-US" altLang="ko-KR" sz="1200" dirty="0"/>
                        <a:t>(</a:t>
                      </a:r>
                      <a:r>
                        <a:rPr lang="ko-KR" altLang="en-US" sz="1200" dirty="0"/>
                        <a:t>法 </a:t>
                      </a:r>
                      <a:r>
                        <a:rPr lang="en-US" altLang="ko-KR" sz="1200" dirty="0"/>
                        <a:t>10)</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rowSpan="5">
                  <a:txBody>
                    <a:bodyPr/>
                    <a:lstStyle/>
                    <a:p>
                      <a:pPr algn="ctr" latinLnBrk="1"/>
                      <a:r>
                        <a:rPr lang="ko-KR" altLang="en-US" sz="1200" dirty="0"/>
                        <a:t>지식재산처장</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rowSpan="5">
                  <a:txBody>
                    <a:bodyPr/>
                    <a:lstStyle/>
                    <a:p>
                      <a:pPr algn="ctr" latinLnBrk="1"/>
                      <a:r>
                        <a:rPr lang="ko-KR" altLang="en-US" sz="1200" dirty="0"/>
                        <a:t>심판장</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1567777"/>
                  </a:ext>
                </a:extLst>
              </a:tr>
              <a:tr h="476659">
                <a:tc vMerge="1">
                  <a:txBody>
                    <a:bodyPr/>
                    <a:lstStyle/>
                    <a:p>
                      <a:pPr latinLnBrk="1"/>
                      <a:endParaRPr lang="ko-KR" altLang="en-US"/>
                    </a:p>
                  </a:txBody>
                  <a:tcPr/>
                </a:tc>
                <a:tc>
                  <a:txBody>
                    <a:bodyPr/>
                    <a:lstStyle/>
                    <a:p>
                      <a:pPr algn="ctr" latinLnBrk="1"/>
                      <a:r>
                        <a:rPr lang="ko-KR" altLang="en-US" sz="1200" dirty="0"/>
                        <a:t>절차의 속행</a:t>
                      </a:r>
                      <a:r>
                        <a:rPr lang="en-US" altLang="ko-KR" sz="1200" dirty="0"/>
                        <a:t>(</a:t>
                      </a:r>
                      <a:r>
                        <a:rPr lang="ko-KR" altLang="en-US" sz="1200" dirty="0"/>
                        <a:t>法 </a:t>
                      </a:r>
                      <a:r>
                        <a:rPr lang="en-US" altLang="ko-KR" sz="1200" dirty="0"/>
                        <a:t>19)</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4233542548"/>
                  </a:ext>
                </a:extLst>
              </a:tr>
              <a:tr h="476659">
                <a:tc vMerge="1">
                  <a:txBody>
                    <a:bodyPr/>
                    <a:lstStyle/>
                    <a:p>
                      <a:pPr latinLnBrk="1"/>
                      <a:endParaRPr lang="ko-KR" altLang="en-US"/>
                    </a:p>
                  </a:txBody>
                  <a:tcPr/>
                </a:tc>
                <a:tc>
                  <a:txBody>
                    <a:bodyPr/>
                    <a:lstStyle/>
                    <a:p>
                      <a:pPr algn="ctr" latinLnBrk="1"/>
                      <a:r>
                        <a:rPr lang="ko-KR" altLang="en-US" sz="1200" dirty="0" err="1"/>
                        <a:t>취지통지</a:t>
                      </a:r>
                      <a:r>
                        <a:rPr lang="en-US" altLang="ko-KR" sz="1200" dirty="0"/>
                        <a:t>(</a:t>
                      </a:r>
                      <a:r>
                        <a:rPr lang="ko-KR" altLang="en-US" sz="1200" dirty="0"/>
                        <a:t>法 </a:t>
                      </a:r>
                      <a:r>
                        <a:rPr lang="en-US" altLang="ko-KR" sz="1200" dirty="0"/>
                        <a:t>22)</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231754216"/>
                  </a:ext>
                </a:extLst>
              </a:tr>
              <a:tr h="476659">
                <a:tc vMerge="1">
                  <a:txBody>
                    <a:bodyPr/>
                    <a:lstStyle/>
                    <a:p>
                      <a:pPr latinLnBrk="1"/>
                      <a:endParaRPr lang="ko-KR" altLang="en-US"/>
                    </a:p>
                  </a:txBody>
                  <a:tcPr/>
                </a:tc>
                <a:tc>
                  <a:txBody>
                    <a:bodyPr/>
                    <a:lstStyle/>
                    <a:p>
                      <a:pPr algn="ctr" latinLnBrk="1"/>
                      <a:r>
                        <a:rPr lang="ko-KR" altLang="en-US" sz="1200" dirty="0" err="1"/>
                        <a:t>부본송달</a:t>
                      </a:r>
                      <a:r>
                        <a:rPr lang="en-US" altLang="ko-KR" sz="1200" dirty="0"/>
                        <a:t>(</a:t>
                      </a:r>
                      <a:r>
                        <a:rPr lang="ko-KR" altLang="en-US" sz="1200" dirty="0"/>
                        <a:t>法 </a:t>
                      </a:r>
                      <a:r>
                        <a:rPr lang="en-US" altLang="ko-KR" sz="1200" dirty="0"/>
                        <a:t>108, 132</a:t>
                      </a:r>
                      <a:r>
                        <a:rPr lang="ko-KR" altLang="en-US" sz="1200" dirty="0"/>
                        <a:t>의</a:t>
                      </a:r>
                      <a:r>
                        <a:rPr lang="en-US" altLang="ko-KR" sz="1200" dirty="0"/>
                        <a:t>4,</a:t>
                      </a:r>
                      <a:r>
                        <a:rPr lang="en-US" altLang="ko-KR" sz="1200" baseline="0" dirty="0"/>
                        <a:t> </a:t>
                      </a:r>
                      <a:r>
                        <a:rPr lang="en-US" altLang="ko-KR" sz="1200" dirty="0"/>
                        <a:t>147, 156)</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2758651447"/>
                  </a:ext>
                </a:extLst>
              </a:tr>
              <a:tr h="476659">
                <a:tc vMerge="1">
                  <a:txBody>
                    <a:bodyPr/>
                    <a:lstStyle/>
                    <a:p>
                      <a:pPr latinLnBrk="1"/>
                      <a:endParaRPr lang="ko-KR" altLang="en-US"/>
                    </a:p>
                  </a:txBody>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err="1"/>
                        <a:t>등본송달</a:t>
                      </a:r>
                      <a:r>
                        <a:rPr lang="en-US" altLang="ko-KR" sz="1200" dirty="0"/>
                        <a:t>(</a:t>
                      </a:r>
                      <a:r>
                        <a:rPr lang="ko-KR" altLang="en-US" sz="1200" dirty="0"/>
                        <a:t>法 </a:t>
                      </a:r>
                      <a:r>
                        <a:rPr lang="en-US" altLang="ko-KR" sz="1200" dirty="0"/>
                        <a:t>67, 132</a:t>
                      </a:r>
                      <a:r>
                        <a:rPr lang="ko-KR" altLang="en-US" sz="1200" dirty="0"/>
                        <a:t>의</a:t>
                      </a:r>
                      <a:r>
                        <a:rPr lang="en-US" altLang="ko-KR" sz="1200" dirty="0"/>
                        <a:t>14,</a:t>
                      </a:r>
                      <a:r>
                        <a:rPr lang="en-US" altLang="ko-KR" sz="1200" baseline="0" dirty="0"/>
                        <a:t> </a:t>
                      </a:r>
                      <a:r>
                        <a:rPr lang="en-US" altLang="ko-KR" sz="1200" dirty="0"/>
                        <a:t>162)</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223091246"/>
                  </a:ext>
                </a:extLst>
              </a:tr>
              <a:tr h="794431">
                <a:tc>
                  <a:txBody>
                    <a:bodyPr/>
                    <a:lstStyle/>
                    <a:p>
                      <a:pPr algn="ctr" latinLnBrk="1"/>
                      <a:r>
                        <a:rPr lang="ko-KR" altLang="en-US" sz="1200" dirty="0" err="1"/>
                        <a:t>실체사무</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200" dirty="0"/>
                        <a:t>의견제출기회의 부여</a:t>
                      </a:r>
                      <a:endParaRPr lang="en-US" altLang="ko-KR" sz="1200" dirty="0"/>
                    </a:p>
                    <a:p>
                      <a:pPr algn="ctr" latinLnBrk="1"/>
                      <a:r>
                        <a:rPr lang="en-US" altLang="ko-KR" sz="1200" dirty="0"/>
                        <a:t>(</a:t>
                      </a:r>
                      <a:r>
                        <a:rPr lang="ko-KR" altLang="en-US" sz="1200" dirty="0"/>
                        <a:t>法</a:t>
                      </a:r>
                      <a:r>
                        <a:rPr lang="ko-KR" altLang="en-US" sz="1200" baseline="0" dirty="0"/>
                        <a:t> </a:t>
                      </a:r>
                      <a:r>
                        <a:rPr lang="en-US" altLang="ko-KR" sz="1200" baseline="0" dirty="0"/>
                        <a:t>63, 132</a:t>
                      </a:r>
                      <a:r>
                        <a:rPr lang="ko-KR" altLang="en-US" sz="1200" baseline="0" dirty="0"/>
                        <a:t>의</a:t>
                      </a:r>
                      <a:r>
                        <a:rPr lang="en-US" altLang="ko-KR" sz="1200" baseline="0" dirty="0"/>
                        <a:t>13, 157, 159)</a:t>
                      </a:r>
                      <a:endParaRPr lang="en-US" altLang="ko-KR"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200" dirty="0"/>
                        <a:t>심사관</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200" dirty="0"/>
                        <a:t>심판장</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98828730"/>
                  </a:ext>
                </a:extLst>
              </a:tr>
              <a:tr h="794431">
                <a:tc gridSpan="2">
                  <a:txBody>
                    <a:bodyPr/>
                    <a:lstStyle/>
                    <a:p>
                      <a:pPr algn="ctr" latinLnBrk="1"/>
                      <a:r>
                        <a:rPr lang="ko-KR" altLang="en-US" sz="1200" dirty="0" err="1"/>
                        <a:t>실체심사</a:t>
                      </a:r>
                      <a:r>
                        <a:rPr lang="en-US" altLang="ko-KR" sz="1200" dirty="0"/>
                        <a:t>/</a:t>
                      </a:r>
                      <a:r>
                        <a:rPr lang="ko-KR" altLang="en-US" sz="1200" dirty="0" err="1"/>
                        <a:t>실체심리</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latinLnBrk="1"/>
                      <a:endParaRPr lang="ko-KR" altLang="en-US" sz="12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200" dirty="0"/>
                        <a:t>심사관</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200" dirty="0"/>
                        <a:t>심판관합의체</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85815534"/>
                  </a:ext>
                </a:extLst>
              </a:tr>
            </a:tbl>
          </a:graphicData>
        </a:graphic>
      </p:graphicFrame>
      <p:sp>
        <p:nvSpPr>
          <p:cNvPr id="75" name="Rectangle 5"/>
          <p:cNvSpPr>
            <a:spLocks noChangeArrowheads="1"/>
          </p:cNvSpPr>
          <p:nvPr/>
        </p:nvSpPr>
        <p:spPr bwMode="auto">
          <a:xfrm>
            <a:off x="5977294" y="1254379"/>
            <a:ext cx="2274563"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err="1">
                <a:solidFill>
                  <a:schemeClr val="bg1"/>
                </a:solidFill>
                <a:latin typeface="+mj-ea"/>
                <a:ea typeface="+mj-ea"/>
              </a:rPr>
              <a:t>주체별</a:t>
            </a:r>
            <a:r>
              <a:rPr lang="ko-KR" altLang="en-US" sz="1600" b="0" dirty="0">
                <a:solidFill>
                  <a:schemeClr val="bg1"/>
                </a:solidFill>
                <a:latin typeface="+mj-ea"/>
                <a:ea typeface="+mj-ea"/>
              </a:rPr>
              <a:t> 공통 역할</a:t>
            </a:r>
          </a:p>
        </p:txBody>
      </p:sp>
      <p:sp>
        <p:nvSpPr>
          <p:cNvPr id="76" name="Rectangle 5"/>
          <p:cNvSpPr>
            <a:spLocks noChangeArrowheads="1"/>
          </p:cNvSpPr>
          <p:nvPr/>
        </p:nvSpPr>
        <p:spPr bwMode="auto">
          <a:xfrm>
            <a:off x="508398" y="1254379"/>
            <a:ext cx="2274563"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지식재산처의 구조</a:t>
            </a:r>
          </a:p>
        </p:txBody>
      </p:sp>
    </p:spTree>
    <p:extLst>
      <p:ext uri="{BB962C8B-B14F-4D97-AF65-F5344CB8AC3E}">
        <p14:creationId xmlns:p14="http://schemas.microsoft.com/office/powerpoint/2010/main" val="197267575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45</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총칙 체계</a:t>
            </a:r>
            <a:r>
              <a:rPr lang="en-US" altLang="ko-KR" dirty="0"/>
              <a:t>: </a:t>
            </a:r>
            <a:r>
              <a:rPr lang="ko-KR" altLang="en-US" dirty="0"/>
              <a:t>제</a:t>
            </a:r>
            <a:r>
              <a:rPr lang="en-US" altLang="ko-KR" dirty="0"/>
              <a:t>1</a:t>
            </a:r>
            <a:r>
              <a:rPr lang="ko-KR" altLang="en-US" dirty="0"/>
              <a:t>장</a:t>
            </a:r>
          </a:p>
        </p:txBody>
      </p:sp>
      <p:sp>
        <p:nvSpPr>
          <p:cNvPr id="5" name="직사각형 4"/>
          <p:cNvSpPr/>
          <p:nvPr/>
        </p:nvSpPr>
        <p:spPr>
          <a:xfrm>
            <a:off x="182592" y="3540483"/>
            <a:ext cx="602531" cy="607352"/>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600" dirty="0"/>
              <a:t>총칙</a:t>
            </a:r>
          </a:p>
        </p:txBody>
      </p:sp>
      <p:sp>
        <p:nvSpPr>
          <p:cNvPr id="7" name="직사각형 6"/>
          <p:cNvSpPr/>
          <p:nvPr/>
        </p:nvSpPr>
        <p:spPr>
          <a:xfrm>
            <a:off x="1135236" y="1324623"/>
            <a:ext cx="2823906"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목적</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a:t>
            </a:r>
            <a:endParaRPr lang="ko-KR" altLang="en-US" sz="1100" dirty="0">
              <a:solidFill>
                <a:schemeClr val="tx1"/>
              </a:solidFill>
            </a:endParaRPr>
          </a:p>
        </p:txBody>
      </p:sp>
      <p:sp>
        <p:nvSpPr>
          <p:cNvPr id="8" name="직사각형 7"/>
          <p:cNvSpPr/>
          <p:nvPr/>
        </p:nvSpPr>
        <p:spPr>
          <a:xfrm>
            <a:off x="1135236" y="1798844"/>
            <a:ext cx="2823906"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정의</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a:t>
            </a:r>
            <a:endParaRPr lang="ko-KR" altLang="en-US" sz="1100" dirty="0">
              <a:solidFill>
                <a:schemeClr val="tx1"/>
              </a:solidFill>
            </a:endParaRPr>
          </a:p>
        </p:txBody>
      </p:sp>
      <p:sp>
        <p:nvSpPr>
          <p:cNvPr id="9" name="직사각형 8"/>
          <p:cNvSpPr/>
          <p:nvPr/>
        </p:nvSpPr>
        <p:spPr>
          <a:xfrm>
            <a:off x="1135236" y="2259053"/>
            <a:ext cx="2823906"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행위능력</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3~5①, 7</a:t>
            </a:r>
            <a:r>
              <a:rPr lang="ko-KR" altLang="en-US" sz="1100" dirty="0">
                <a:solidFill>
                  <a:schemeClr val="tx1"/>
                </a:solidFill>
              </a:rPr>
              <a:t>의</a:t>
            </a:r>
            <a:r>
              <a:rPr lang="en-US" altLang="ko-KR" sz="1100" dirty="0">
                <a:solidFill>
                  <a:schemeClr val="tx1"/>
                </a:solidFill>
              </a:rPr>
              <a:t>2)</a:t>
            </a:r>
            <a:endParaRPr lang="ko-KR" altLang="en-US" sz="1100" dirty="0">
              <a:solidFill>
                <a:schemeClr val="tx1"/>
              </a:solidFill>
            </a:endParaRPr>
          </a:p>
        </p:txBody>
      </p:sp>
      <p:sp>
        <p:nvSpPr>
          <p:cNvPr id="10" name="직사각형 9"/>
          <p:cNvSpPr/>
          <p:nvPr/>
        </p:nvSpPr>
        <p:spPr>
          <a:xfrm>
            <a:off x="1135236" y="2733274"/>
            <a:ext cx="2823906"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대리인</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3②, 5②~10, 12)</a:t>
            </a:r>
            <a:endParaRPr lang="ko-KR" altLang="en-US" sz="1100" dirty="0">
              <a:solidFill>
                <a:schemeClr val="tx1"/>
              </a:solidFill>
            </a:endParaRPr>
          </a:p>
        </p:txBody>
      </p:sp>
      <p:sp>
        <p:nvSpPr>
          <p:cNvPr id="11" name="직사각형 10"/>
          <p:cNvSpPr/>
          <p:nvPr/>
        </p:nvSpPr>
        <p:spPr>
          <a:xfrm>
            <a:off x="1135236" y="3188939"/>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복수당사자 대표</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11)</a:t>
            </a:r>
            <a:endParaRPr lang="ko-KR" altLang="en-US" sz="1100" dirty="0">
              <a:solidFill>
                <a:schemeClr val="tx1"/>
              </a:solidFill>
            </a:endParaRPr>
          </a:p>
        </p:txBody>
      </p:sp>
      <p:sp>
        <p:nvSpPr>
          <p:cNvPr id="12" name="직사각형 11"/>
          <p:cNvSpPr/>
          <p:nvPr/>
        </p:nvSpPr>
        <p:spPr>
          <a:xfrm>
            <a:off x="1135236" y="3663160"/>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err="1">
                <a:solidFill>
                  <a:schemeClr val="tx1"/>
                </a:solidFill>
              </a:rPr>
              <a:t>재외자의</a:t>
            </a:r>
            <a:r>
              <a:rPr lang="ko-KR" altLang="en-US" sz="1100" dirty="0">
                <a:solidFill>
                  <a:schemeClr val="tx1"/>
                </a:solidFill>
              </a:rPr>
              <a:t> 재판관할</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13)</a:t>
            </a:r>
            <a:endParaRPr lang="ko-KR" altLang="en-US" sz="1100" dirty="0">
              <a:solidFill>
                <a:schemeClr val="tx1"/>
              </a:solidFill>
            </a:endParaRPr>
          </a:p>
        </p:txBody>
      </p:sp>
      <p:sp>
        <p:nvSpPr>
          <p:cNvPr id="74" name="직사각형 73"/>
          <p:cNvSpPr/>
          <p:nvPr/>
        </p:nvSpPr>
        <p:spPr>
          <a:xfrm>
            <a:off x="1135236" y="4154601"/>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기일과 기간</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14, 15)</a:t>
            </a:r>
            <a:endParaRPr lang="ko-KR" altLang="en-US" sz="1100" dirty="0">
              <a:solidFill>
                <a:schemeClr val="tx1"/>
              </a:solidFill>
            </a:endParaRPr>
          </a:p>
        </p:txBody>
      </p:sp>
      <p:sp>
        <p:nvSpPr>
          <p:cNvPr id="75" name="직사각형 74"/>
          <p:cNvSpPr/>
          <p:nvPr/>
        </p:nvSpPr>
        <p:spPr>
          <a:xfrm>
            <a:off x="1135236" y="4608951"/>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특허에 관한 절차 일반</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16, 28~28</a:t>
            </a:r>
            <a:r>
              <a:rPr lang="ko-KR" altLang="en-US" sz="1100" dirty="0">
                <a:solidFill>
                  <a:schemeClr val="tx1"/>
                </a:solidFill>
              </a:rPr>
              <a:t>의</a:t>
            </a:r>
            <a:r>
              <a:rPr lang="en-US" altLang="ko-KR" sz="1100" dirty="0">
                <a:solidFill>
                  <a:schemeClr val="tx1"/>
                </a:solidFill>
              </a:rPr>
              <a:t>5)</a:t>
            </a:r>
            <a:endParaRPr lang="ko-KR" altLang="en-US" sz="1100" dirty="0">
              <a:solidFill>
                <a:schemeClr val="tx1"/>
              </a:solidFill>
            </a:endParaRPr>
          </a:p>
        </p:txBody>
      </p:sp>
      <p:sp>
        <p:nvSpPr>
          <p:cNvPr id="76" name="직사각형 75"/>
          <p:cNvSpPr/>
          <p:nvPr/>
        </p:nvSpPr>
        <p:spPr>
          <a:xfrm>
            <a:off x="1135236" y="5075700"/>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추후보완</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17, 67</a:t>
            </a:r>
            <a:r>
              <a:rPr lang="ko-KR" altLang="en-US" sz="1100" dirty="0">
                <a:solidFill>
                  <a:schemeClr val="tx1"/>
                </a:solidFill>
              </a:rPr>
              <a:t>의</a:t>
            </a:r>
            <a:r>
              <a:rPr lang="en-US" altLang="ko-KR" sz="1100" dirty="0">
                <a:solidFill>
                  <a:schemeClr val="tx1"/>
                </a:solidFill>
              </a:rPr>
              <a:t>3)</a:t>
            </a:r>
            <a:endParaRPr lang="ko-KR" altLang="en-US" sz="1100" dirty="0">
              <a:solidFill>
                <a:schemeClr val="tx1"/>
              </a:solidFill>
            </a:endParaRPr>
          </a:p>
        </p:txBody>
      </p:sp>
      <p:sp>
        <p:nvSpPr>
          <p:cNvPr id="31" name="직사각형 30"/>
          <p:cNvSpPr/>
          <p:nvPr/>
        </p:nvSpPr>
        <p:spPr>
          <a:xfrm>
            <a:off x="1135236" y="5529238"/>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절차의 효력의 승계 및 절차의 속행</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18, 19)</a:t>
            </a:r>
            <a:endParaRPr lang="ko-KR" altLang="en-US" sz="1100" dirty="0">
              <a:solidFill>
                <a:schemeClr val="tx1"/>
              </a:solidFill>
            </a:endParaRPr>
          </a:p>
        </p:txBody>
      </p:sp>
      <p:sp>
        <p:nvSpPr>
          <p:cNvPr id="32" name="직사각형 31"/>
          <p:cNvSpPr/>
          <p:nvPr/>
        </p:nvSpPr>
        <p:spPr>
          <a:xfrm>
            <a:off x="1135236" y="5983588"/>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절차의 정지</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20~24, 78, 164)</a:t>
            </a:r>
            <a:endParaRPr lang="ko-KR" altLang="en-US" sz="1100" dirty="0">
              <a:solidFill>
                <a:schemeClr val="tx1"/>
              </a:solidFill>
            </a:endParaRPr>
          </a:p>
        </p:txBody>
      </p:sp>
      <p:cxnSp>
        <p:nvCxnSpPr>
          <p:cNvPr id="15" name="꺾인 연결선 14"/>
          <p:cNvCxnSpPr>
            <a:stCxn id="5" idx="3"/>
            <a:endCxn id="7" idx="1"/>
          </p:cNvCxnSpPr>
          <p:nvPr/>
        </p:nvCxnSpPr>
        <p:spPr>
          <a:xfrm flipV="1">
            <a:off x="785123" y="1502456"/>
            <a:ext cx="350113" cy="234170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꺾인 연결선 16"/>
          <p:cNvCxnSpPr>
            <a:stCxn id="5" idx="3"/>
            <a:endCxn id="32" idx="1"/>
          </p:cNvCxnSpPr>
          <p:nvPr/>
        </p:nvCxnSpPr>
        <p:spPr>
          <a:xfrm>
            <a:off x="785123" y="3844159"/>
            <a:ext cx="350113" cy="231726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5" idx="3"/>
            <a:endCxn id="8" idx="1"/>
          </p:cNvCxnSpPr>
          <p:nvPr/>
        </p:nvCxnSpPr>
        <p:spPr>
          <a:xfrm flipV="1">
            <a:off x="785123" y="1976677"/>
            <a:ext cx="350113" cy="186748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stCxn id="5" idx="3"/>
            <a:endCxn id="9" idx="1"/>
          </p:cNvCxnSpPr>
          <p:nvPr/>
        </p:nvCxnSpPr>
        <p:spPr>
          <a:xfrm flipV="1">
            <a:off x="785123" y="2436886"/>
            <a:ext cx="350113" cy="140727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stCxn id="5" idx="3"/>
            <a:endCxn id="74" idx="1"/>
          </p:cNvCxnSpPr>
          <p:nvPr/>
        </p:nvCxnSpPr>
        <p:spPr>
          <a:xfrm>
            <a:off x="785123" y="3844159"/>
            <a:ext cx="350113" cy="48827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stCxn id="5" idx="3"/>
            <a:endCxn id="75" idx="1"/>
          </p:cNvCxnSpPr>
          <p:nvPr/>
        </p:nvCxnSpPr>
        <p:spPr>
          <a:xfrm>
            <a:off x="785123" y="3844159"/>
            <a:ext cx="350113" cy="94262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꺾인 연결선 28"/>
          <p:cNvCxnSpPr>
            <a:stCxn id="5" idx="3"/>
            <a:endCxn id="76" idx="1"/>
          </p:cNvCxnSpPr>
          <p:nvPr/>
        </p:nvCxnSpPr>
        <p:spPr>
          <a:xfrm>
            <a:off x="785123" y="3844159"/>
            <a:ext cx="350113" cy="140937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꺾인 연결선 33"/>
          <p:cNvCxnSpPr>
            <a:stCxn id="5" idx="3"/>
            <a:endCxn id="31" idx="1"/>
          </p:cNvCxnSpPr>
          <p:nvPr/>
        </p:nvCxnSpPr>
        <p:spPr>
          <a:xfrm>
            <a:off x="785123" y="3844159"/>
            <a:ext cx="350113" cy="186291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꺾인 연결선 35"/>
          <p:cNvCxnSpPr>
            <a:stCxn id="5" idx="3"/>
            <a:endCxn id="10" idx="1"/>
          </p:cNvCxnSpPr>
          <p:nvPr/>
        </p:nvCxnSpPr>
        <p:spPr>
          <a:xfrm flipV="1">
            <a:off x="785123" y="2911107"/>
            <a:ext cx="350113" cy="93305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5" idx="3"/>
            <a:endCxn id="11" idx="1"/>
          </p:cNvCxnSpPr>
          <p:nvPr/>
        </p:nvCxnSpPr>
        <p:spPr>
          <a:xfrm flipV="1">
            <a:off x="785123" y="3366772"/>
            <a:ext cx="350113" cy="47738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5" idx="3"/>
            <a:endCxn id="12" idx="1"/>
          </p:cNvCxnSpPr>
          <p:nvPr/>
        </p:nvCxnSpPr>
        <p:spPr>
          <a:xfrm flipV="1">
            <a:off x="785123" y="3840993"/>
            <a:ext cx="350113" cy="316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직사각형 40"/>
          <p:cNvSpPr/>
          <p:nvPr/>
        </p:nvSpPr>
        <p:spPr>
          <a:xfrm>
            <a:off x="4390289" y="1858045"/>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원칙</a:t>
            </a:r>
            <a:r>
              <a:rPr lang="en-US" altLang="ko-KR" sz="1000" dirty="0">
                <a:solidFill>
                  <a:schemeClr val="tx1"/>
                </a:solidFill>
              </a:rPr>
              <a:t>: </a:t>
            </a:r>
            <a:r>
              <a:rPr lang="ko-KR" altLang="en-US" sz="1000" dirty="0">
                <a:solidFill>
                  <a:schemeClr val="tx1"/>
                </a:solidFill>
              </a:rPr>
              <a:t>발명의 정의 규정 만족</a:t>
            </a:r>
          </a:p>
        </p:txBody>
      </p:sp>
      <p:sp>
        <p:nvSpPr>
          <p:cNvPr id="60" name="직사각형 59"/>
          <p:cNvSpPr/>
          <p:nvPr/>
        </p:nvSpPr>
        <p:spPr>
          <a:xfrm>
            <a:off x="4390289" y="2283894"/>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예외</a:t>
            </a:r>
            <a:r>
              <a:rPr lang="en-US" altLang="ko-KR" sz="1000" dirty="0">
                <a:solidFill>
                  <a:schemeClr val="tx1"/>
                </a:solidFill>
              </a:rPr>
              <a:t>: </a:t>
            </a:r>
            <a:r>
              <a:rPr lang="ko-KR" altLang="en-US" sz="1000" dirty="0">
                <a:solidFill>
                  <a:schemeClr val="tx1"/>
                </a:solidFill>
              </a:rPr>
              <a:t>탄력적 해석</a:t>
            </a:r>
          </a:p>
        </p:txBody>
      </p:sp>
      <p:sp>
        <p:nvSpPr>
          <p:cNvPr id="30" name="직사각형 29"/>
          <p:cNvSpPr/>
          <p:nvPr/>
        </p:nvSpPr>
        <p:spPr>
          <a:xfrm>
            <a:off x="6193690" y="2275427"/>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식물발명</a:t>
            </a:r>
          </a:p>
        </p:txBody>
      </p:sp>
      <p:sp>
        <p:nvSpPr>
          <p:cNvPr id="33" name="직사각형 32"/>
          <p:cNvSpPr/>
          <p:nvPr/>
        </p:nvSpPr>
        <p:spPr>
          <a:xfrm>
            <a:off x="6193690" y="2562469"/>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미생물발명</a:t>
            </a:r>
          </a:p>
        </p:txBody>
      </p:sp>
      <p:sp>
        <p:nvSpPr>
          <p:cNvPr id="35" name="직사각형 34"/>
          <p:cNvSpPr/>
          <p:nvPr/>
        </p:nvSpPr>
        <p:spPr>
          <a:xfrm>
            <a:off x="6193690" y="2851276"/>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용도발명</a:t>
            </a:r>
          </a:p>
        </p:txBody>
      </p:sp>
      <p:sp>
        <p:nvSpPr>
          <p:cNvPr id="37" name="직사각형 36"/>
          <p:cNvSpPr/>
          <p:nvPr/>
        </p:nvSpPr>
        <p:spPr>
          <a:xfrm>
            <a:off x="6193690" y="3139143"/>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컴퓨터프로그램관련발명</a:t>
            </a:r>
          </a:p>
        </p:txBody>
      </p:sp>
      <p:cxnSp>
        <p:nvCxnSpPr>
          <p:cNvPr id="6" name="꺾인 연결선 5"/>
          <p:cNvCxnSpPr>
            <a:stCxn id="41" idx="1"/>
            <a:endCxn id="60" idx="1"/>
          </p:cNvCxnSpPr>
          <p:nvPr/>
        </p:nvCxnSpPr>
        <p:spPr>
          <a:xfrm rot="10800000" flipV="1">
            <a:off x="4390289" y="1982644"/>
            <a:ext cx="12700" cy="425849"/>
          </a:xfrm>
          <a:prstGeom prst="bentConnector3">
            <a:avLst>
              <a:gd name="adj1" fmla="val 180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꺾인 연결선 15"/>
          <p:cNvCxnSpPr>
            <a:stCxn id="60" idx="3"/>
            <a:endCxn id="30" idx="1"/>
          </p:cNvCxnSpPr>
          <p:nvPr/>
        </p:nvCxnSpPr>
        <p:spPr>
          <a:xfrm flipV="1">
            <a:off x="6025659" y="2400027"/>
            <a:ext cx="168031" cy="84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stCxn id="60" idx="3"/>
            <a:endCxn id="37" idx="1"/>
          </p:cNvCxnSpPr>
          <p:nvPr/>
        </p:nvCxnSpPr>
        <p:spPr>
          <a:xfrm>
            <a:off x="6025659" y="2408494"/>
            <a:ext cx="168031" cy="85524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stCxn id="60" idx="3"/>
            <a:endCxn id="33" idx="1"/>
          </p:cNvCxnSpPr>
          <p:nvPr/>
        </p:nvCxnSpPr>
        <p:spPr>
          <a:xfrm>
            <a:off x="6025659" y="2408494"/>
            <a:ext cx="168031" cy="2785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stCxn id="60" idx="3"/>
            <a:endCxn id="35" idx="1"/>
          </p:cNvCxnSpPr>
          <p:nvPr/>
        </p:nvCxnSpPr>
        <p:spPr>
          <a:xfrm>
            <a:off x="6025659" y="2408494"/>
            <a:ext cx="168031" cy="56738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직사각형 47"/>
          <p:cNvSpPr/>
          <p:nvPr/>
        </p:nvSpPr>
        <p:spPr>
          <a:xfrm>
            <a:off x="8936907" y="1934248"/>
            <a:ext cx="638908"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재내자</a:t>
            </a:r>
          </a:p>
        </p:txBody>
      </p:sp>
      <p:sp>
        <p:nvSpPr>
          <p:cNvPr id="49" name="직사각형 48"/>
          <p:cNvSpPr/>
          <p:nvPr/>
        </p:nvSpPr>
        <p:spPr>
          <a:xfrm>
            <a:off x="8936907" y="2605640"/>
            <a:ext cx="638908"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재외자</a:t>
            </a:r>
          </a:p>
        </p:txBody>
      </p:sp>
      <p:cxnSp>
        <p:nvCxnSpPr>
          <p:cNvPr id="50" name="꺾인 연결선 49"/>
          <p:cNvCxnSpPr>
            <a:stCxn id="48" idx="1"/>
            <a:endCxn id="49" idx="1"/>
          </p:cNvCxnSpPr>
          <p:nvPr/>
        </p:nvCxnSpPr>
        <p:spPr>
          <a:xfrm rot="10800000" flipV="1">
            <a:off x="8936907" y="2058848"/>
            <a:ext cx="12700" cy="671392"/>
          </a:xfrm>
          <a:prstGeom prst="bentConnector3">
            <a:avLst>
              <a:gd name="adj1" fmla="val 180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직사각형 51"/>
          <p:cNvSpPr/>
          <p:nvPr/>
        </p:nvSpPr>
        <p:spPr>
          <a:xfrm>
            <a:off x="10020640" y="1925781"/>
            <a:ext cx="884442"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원칙</a:t>
            </a:r>
          </a:p>
        </p:txBody>
      </p:sp>
      <p:sp>
        <p:nvSpPr>
          <p:cNvPr id="53" name="직사각형 52"/>
          <p:cNvSpPr/>
          <p:nvPr/>
        </p:nvSpPr>
        <p:spPr>
          <a:xfrm>
            <a:off x="10020640" y="2250026"/>
            <a:ext cx="884442"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예외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3, 4)</a:t>
            </a:r>
            <a:endParaRPr lang="ko-KR" altLang="en-US" sz="1000" dirty="0">
              <a:solidFill>
                <a:schemeClr val="tx1"/>
              </a:solidFill>
            </a:endParaRPr>
          </a:p>
        </p:txBody>
      </p:sp>
      <p:cxnSp>
        <p:nvCxnSpPr>
          <p:cNvPr id="54" name="꺾인 연결선 53"/>
          <p:cNvCxnSpPr>
            <a:stCxn id="52" idx="1"/>
            <a:endCxn id="48" idx="3"/>
          </p:cNvCxnSpPr>
          <p:nvPr/>
        </p:nvCxnSpPr>
        <p:spPr>
          <a:xfrm rot="10800000" flipV="1">
            <a:off x="9575816" y="2050380"/>
            <a:ext cx="444825" cy="8467"/>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직사각형 54"/>
          <p:cNvSpPr/>
          <p:nvPr/>
        </p:nvSpPr>
        <p:spPr>
          <a:xfrm>
            <a:off x="10020640" y="2607076"/>
            <a:ext cx="884442"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원칙</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5①)</a:t>
            </a:r>
            <a:endParaRPr lang="ko-KR" altLang="en-US" sz="1000" dirty="0">
              <a:solidFill>
                <a:schemeClr val="tx1"/>
              </a:solidFill>
            </a:endParaRPr>
          </a:p>
        </p:txBody>
      </p:sp>
      <p:sp>
        <p:nvSpPr>
          <p:cNvPr id="56" name="직사각형 55"/>
          <p:cNvSpPr/>
          <p:nvPr/>
        </p:nvSpPr>
        <p:spPr>
          <a:xfrm>
            <a:off x="10020640" y="2931321"/>
            <a:ext cx="884442"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예외</a:t>
            </a:r>
          </a:p>
        </p:txBody>
      </p:sp>
      <p:cxnSp>
        <p:nvCxnSpPr>
          <p:cNvPr id="57" name="꺾인 연결선 56"/>
          <p:cNvCxnSpPr>
            <a:stCxn id="55" idx="1"/>
            <a:endCxn id="49" idx="3"/>
          </p:cNvCxnSpPr>
          <p:nvPr/>
        </p:nvCxnSpPr>
        <p:spPr>
          <a:xfrm rot="10800000">
            <a:off x="9575816" y="2730240"/>
            <a:ext cx="444825" cy="1436"/>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48" idx="3"/>
            <a:endCxn id="53" idx="1"/>
          </p:cNvCxnSpPr>
          <p:nvPr/>
        </p:nvCxnSpPr>
        <p:spPr>
          <a:xfrm>
            <a:off x="9575815" y="2058848"/>
            <a:ext cx="444825" cy="31577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꺾인 연결선 58"/>
          <p:cNvCxnSpPr>
            <a:stCxn id="49" idx="3"/>
            <a:endCxn id="56" idx="1"/>
          </p:cNvCxnSpPr>
          <p:nvPr/>
        </p:nvCxnSpPr>
        <p:spPr>
          <a:xfrm>
            <a:off x="9575815" y="2730240"/>
            <a:ext cx="444825" cy="32568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직사각형 63"/>
          <p:cNvSpPr/>
          <p:nvPr/>
        </p:nvSpPr>
        <p:spPr>
          <a:xfrm>
            <a:off x="4390289" y="4248343"/>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대리인의 종류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 ②, 5②)</a:t>
            </a:r>
            <a:endParaRPr lang="ko-KR" altLang="en-US" sz="1000" dirty="0">
              <a:solidFill>
                <a:schemeClr val="tx1"/>
              </a:solidFill>
            </a:endParaRPr>
          </a:p>
        </p:txBody>
      </p:sp>
      <p:sp>
        <p:nvSpPr>
          <p:cNvPr id="65" name="직사각형 64"/>
          <p:cNvSpPr/>
          <p:nvPr/>
        </p:nvSpPr>
        <p:spPr>
          <a:xfrm>
            <a:off x="4390289" y="4657258"/>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대리권의 내용</a:t>
            </a:r>
          </a:p>
        </p:txBody>
      </p:sp>
      <p:sp>
        <p:nvSpPr>
          <p:cNvPr id="66" name="직사각형 65"/>
          <p:cNvSpPr/>
          <p:nvPr/>
        </p:nvSpPr>
        <p:spPr>
          <a:xfrm>
            <a:off x="6193690" y="4648791"/>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대리권의 범위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a:t>
            </a:r>
            <a:endParaRPr lang="ko-KR" altLang="en-US" sz="1000" dirty="0">
              <a:solidFill>
                <a:schemeClr val="tx1"/>
              </a:solidFill>
            </a:endParaRPr>
          </a:p>
        </p:txBody>
      </p:sp>
      <p:sp>
        <p:nvSpPr>
          <p:cNvPr id="67" name="직사각형 66"/>
          <p:cNvSpPr/>
          <p:nvPr/>
        </p:nvSpPr>
        <p:spPr>
          <a:xfrm>
            <a:off x="6193690" y="4935833"/>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대리권의 증명</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7)</a:t>
            </a:r>
            <a:endParaRPr lang="ko-KR" altLang="en-US" sz="1000" dirty="0">
              <a:solidFill>
                <a:schemeClr val="tx1"/>
              </a:solidFill>
            </a:endParaRPr>
          </a:p>
        </p:txBody>
      </p:sp>
      <p:sp>
        <p:nvSpPr>
          <p:cNvPr id="68" name="직사각형 67"/>
          <p:cNvSpPr/>
          <p:nvPr/>
        </p:nvSpPr>
        <p:spPr>
          <a:xfrm>
            <a:off x="6193690" y="5224640"/>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대리권의 </a:t>
            </a:r>
            <a:r>
              <a:rPr lang="ko-KR" altLang="en-US" sz="1000" dirty="0" err="1">
                <a:solidFill>
                  <a:schemeClr val="tx1"/>
                </a:solidFill>
              </a:rPr>
              <a:t>불소멸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8)</a:t>
            </a:r>
            <a:endParaRPr lang="ko-KR" altLang="en-US" sz="1000" dirty="0">
              <a:solidFill>
                <a:schemeClr val="tx1"/>
              </a:solidFill>
            </a:endParaRPr>
          </a:p>
        </p:txBody>
      </p:sp>
      <p:sp>
        <p:nvSpPr>
          <p:cNvPr id="69" name="직사각형 68"/>
          <p:cNvSpPr/>
          <p:nvPr/>
        </p:nvSpPr>
        <p:spPr>
          <a:xfrm>
            <a:off x="6193690" y="5826163"/>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대리인의 선임</a:t>
            </a:r>
            <a:r>
              <a:rPr lang="en-US" altLang="ko-KR" sz="1000" dirty="0">
                <a:solidFill>
                  <a:schemeClr val="tx1"/>
                </a:solidFill>
              </a:rPr>
              <a:t>/</a:t>
            </a:r>
            <a:r>
              <a:rPr lang="ko-KR" altLang="en-US" sz="1000" dirty="0">
                <a:solidFill>
                  <a:schemeClr val="tx1"/>
                </a:solidFill>
              </a:rPr>
              <a:t>개임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10)</a:t>
            </a:r>
            <a:endParaRPr lang="ko-KR" altLang="en-US" sz="1000" dirty="0">
              <a:solidFill>
                <a:schemeClr val="tx1"/>
              </a:solidFill>
            </a:endParaRPr>
          </a:p>
        </p:txBody>
      </p:sp>
      <p:cxnSp>
        <p:nvCxnSpPr>
          <p:cNvPr id="70" name="꺾인 연결선 69"/>
          <p:cNvCxnSpPr>
            <a:stCxn id="64" idx="1"/>
            <a:endCxn id="65" idx="1"/>
          </p:cNvCxnSpPr>
          <p:nvPr/>
        </p:nvCxnSpPr>
        <p:spPr>
          <a:xfrm rot="10800000" flipV="1">
            <a:off x="4390289" y="4372942"/>
            <a:ext cx="12700" cy="408915"/>
          </a:xfrm>
          <a:prstGeom prst="bentConnector3">
            <a:avLst>
              <a:gd name="adj1" fmla="val 180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stCxn id="65" idx="3"/>
            <a:endCxn id="66" idx="1"/>
          </p:cNvCxnSpPr>
          <p:nvPr/>
        </p:nvCxnSpPr>
        <p:spPr>
          <a:xfrm flipV="1">
            <a:off x="6025659" y="4773391"/>
            <a:ext cx="168031" cy="84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꺾인 연결선 71"/>
          <p:cNvCxnSpPr>
            <a:stCxn id="65" idx="3"/>
            <a:endCxn id="69" idx="1"/>
          </p:cNvCxnSpPr>
          <p:nvPr/>
        </p:nvCxnSpPr>
        <p:spPr>
          <a:xfrm>
            <a:off x="6025659" y="4781858"/>
            <a:ext cx="168031" cy="11689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꺾인 연결선 72"/>
          <p:cNvCxnSpPr>
            <a:stCxn id="65" idx="3"/>
            <a:endCxn id="67" idx="1"/>
          </p:cNvCxnSpPr>
          <p:nvPr/>
        </p:nvCxnSpPr>
        <p:spPr>
          <a:xfrm>
            <a:off x="6025659" y="4781858"/>
            <a:ext cx="168031" cy="2785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꺾인 연결선 76"/>
          <p:cNvCxnSpPr>
            <a:stCxn id="65" idx="3"/>
            <a:endCxn id="68" idx="1"/>
          </p:cNvCxnSpPr>
          <p:nvPr/>
        </p:nvCxnSpPr>
        <p:spPr>
          <a:xfrm>
            <a:off x="6025659" y="4781858"/>
            <a:ext cx="168031" cy="56738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직사각형 77"/>
          <p:cNvSpPr/>
          <p:nvPr/>
        </p:nvSpPr>
        <p:spPr>
          <a:xfrm>
            <a:off x="6193690" y="6124786"/>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민사소송법의 준용</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12)</a:t>
            </a:r>
            <a:endParaRPr lang="ko-KR" altLang="en-US" sz="1000" dirty="0">
              <a:solidFill>
                <a:schemeClr val="tx1"/>
              </a:solidFill>
            </a:endParaRPr>
          </a:p>
        </p:txBody>
      </p:sp>
      <p:sp>
        <p:nvSpPr>
          <p:cNvPr id="79" name="직사각형 78"/>
          <p:cNvSpPr/>
          <p:nvPr/>
        </p:nvSpPr>
        <p:spPr>
          <a:xfrm>
            <a:off x="6193690" y="5525608"/>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개별대리</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9)</a:t>
            </a:r>
            <a:endParaRPr lang="ko-KR" altLang="en-US" sz="1000" dirty="0">
              <a:solidFill>
                <a:schemeClr val="tx1"/>
              </a:solidFill>
            </a:endParaRPr>
          </a:p>
        </p:txBody>
      </p:sp>
      <p:cxnSp>
        <p:nvCxnSpPr>
          <p:cNvPr id="81" name="꺾인 연결선 80"/>
          <p:cNvCxnSpPr>
            <a:stCxn id="65" idx="3"/>
            <a:endCxn id="78" idx="1"/>
          </p:cNvCxnSpPr>
          <p:nvPr/>
        </p:nvCxnSpPr>
        <p:spPr>
          <a:xfrm>
            <a:off x="6025659" y="4781858"/>
            <a:ext cx="168031" cy="14675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꺾인 연결선 82"/>
          <p:cNvCxnSpPr>
            <a:stCxn id="65" idx="3"/>
            <a:endCxn id="79" idx="1"/>
          </p:cNvCxnSpPr>
          <p:nvPr/>
        </p:nvCxnSpPr>
        <p:spPr>
          <a:xfrm>
            <a:off x="6025659" y="4781858"/>
            <a:ext cx="168031" cy="8683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직사각형 84"/>
          <p:cNvSpPr/>
          <p:nvPr/>
        </p:nvSpPr>
        <p:spPr>
          <a:xfrm>
            <a:off x="8513556" y="4536221"/>
            <a:ext cx="1117603"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 및 심판청구</a:t>
            </a:r>
          </a:p>
        </p:txBody>
      </p:sp>
      <p:sp>
        <p:nvSpPr>
          <p:cNvPr id="86" name="직사각형 85"/>
          <p:cNvSpPr/>
          <p:nvPr/>
        </p:nvSpPr>
        <p:spPr>
          <a:xfrm>
            <a:off x="8513556" y="5492323"/>
            <a:ext cx="1117603"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그 밖의 절차</a:t>
            </a:r>
          </a:p>
        </p:txBody>
      </p:sp>
      <p:sp>
        <p:nvSpPr>
          <p:cNvPr id="87" name="직사각형 86"/>
          <p:cNvSpPr/>
          <p:nvPr/>
        </p:nvSpPr>
        <p:spPr>
          <a:xfrm>
            <a:off x="9902104" y="4536221"/>
            <a:ext cx="170569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44, 90, 92</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88" name="직사각형 87"/>
          <p:cNvSpPr/>
          <p:nvPr/>
        </p:nvSpPr>
        <p:spPr>
          <a:xfrm>
            <a:off x="9902104" y="4891282"/>
            <a:ext cx="170569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심판청구</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139)</a:t>
            </a:r>
            <a:endParaRPr lang="ko-KR" altLang="en-US" sz="1000" dirty="0">
              <a:solidFill>
                <a:schemeClr val="tx1"/>
              </a:solidFill>
            </a:endParaRPr>
          </a:p>
        </p:txBody>
      </p:sp>
      <p:sp>
        <p:nvSpPr>
          <p:cNvPr id="89" name="직사각형 88"/>
          <p:cNvSpPr/>
          <p:nvPr/>
        </p:nvSpPr>
        <p:spPr>
          <a:xfrm>
            <a:off x="9902104" y="5492323"/>
            <a:ext cx="170569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대표자 </a:t>
            </a:r>
            <a:r>
              <a:rPr lang="ko-KR" altLang="en-US" sz="1000" dirty="0" err="1">
                <a:solidFill>
                  <a:schemeClr val="tx1"/>
                </a:solidFill>
              </a:rPr>
              <a:t>不선정</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11①</a:t>
            </a:r>
            <a:r>
              <a:rPr lang="ko-KR" altLang="en-US" sz="1000" dirty="0">
                <a:solidFill>
                  <a:schemeClr val="tx1"/>
                </a:solidFill>
              </a:rPr>
              <a:t>본문</a:t>
            </a:r>
            <a:r>
              <a:rPr lang="en-US" altLang="ko-KR" sz="1000" dirty="0">
                <a:solidFill>
                  <a:schemeClr val="tx1"/>
                </a:solidFill>
              </a:rPr>
              <a:t>)</a:t>
            </a:r>
            <a:endParaRPr lang="ko-KR" altLang="en-US" sz="1000" dirty="0">
              <a:solidFill>
                <a:schemeClr val="tx1"/>
              </a:solidFill>
            </a:endParaRPr>
          </a:p>
        </p:txBody>
      </p:sp>
      <p:sp>
        <p:nvSpPr>
          <p:cNvPr id="90" name="직사각형 89"/>
          <p:cNvSpPr/>
          <p:nvPr/>
        </p:nvSpPr>
        <p:spPr>
          <a:xfrm>
            <a:off x="9902104" y="5847384"/>
            <a:ext cx="170569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대표자 선정</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11①</a:t>
            </a:r>
            <a:r>
              <a:rPr lang="ko-KR" altLang="en-US" sz="1000" dirty="0">
                <a:solidFill>
                  <a:schemeClr val="tx1"/>
                </a:solidFill>
              </a:rPr>
              <a:t>단서</a:t>
            </a:r>
            <a:r>
              <a:rPr lang="en-US" altLang="ko-KR" sz="1000" dirty="0">
                <a:solidFill>
                  <a:schemeClr val="tx1"/>
                </a:solidFill>
              </a:rPr>
              <a:t>)</a:t>
            </a:r>
            <a:endParaRPr lang="ko-KR" altLang="en-US" sz="1000" dirty="0">
              <a:solidFill>
                <a:schemeClr val="tx1"/>
              </a:solidFill>
            </a:endParaRPr>
          </a:p>
        </p:txBody>
      </p:sp>
      <p:sp>
        <p:nvSpPr>
          <p:cNvPr id="91" name="직사각형 90"/>
          <p:cNvSpPr/>
          <p:nvPr/>
        </p:nvSpPr>
        <p:spPr>
          <a:xfrm>
            <a:off x="4063993" y="1172217"/>
            <a:ext cx="3928533" cy="251637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ko-KR" altLang="en-US" dirty="0">
                <a:solidFill>
                  <a:schemeClr val="accent2">
                    <a:lumMod val="50000"/>
                  </a:schemeClr>
                </a:solidFill>
              </a:rPr>
              <a:t>발명의 </a:t>
            </a:r>
            <a:r>
              <a:rPr lang="ko-KR" altLang="en-US" dirty="0" err="1">
                <a:solidFill>
                  <a:schemeClr val="accent2">
                    <a:lumMod val="50000"/>
                  </a:schemeClr>
                </a:solidFill>
              </a:rPr>
              <a:t>성립성</a:t>
            </a:r>
            <a:r>
              <a:rPr lang="en-US" altLang="ko-KR" dirty="0">
                <a:solidFill>
                  <a:schemeClr val="accent2">
                    <a:lumMod val="50000"/>
                  </a:schemeClr>
                </a:solidFill>
              </a:rPr>
              <a:t>(</a:t>
            </a:r>
            <a:r>
              <a:rPr lang="ko-KR" altLang="en-US" dirty="0">
                <a:solidFill>
                  <a:schemeClr val="accent2">
                    <a:lumMod val="50000"/>
                  </a:schemeClr>
                </a:solidFill>
              </a:rPr>
              <a:t>法 </a:t>
            </a:r>
            <a:r>
              <a:rPr lang="en-US" altLang="ko-KR" dirty="0">
                <a:solidFill>
                  <a:schemeClr val="accent2">
                    <a:lumMod val="50000"/>
                  </a:schemeClr>
                </a:solidFill>
              </a:rPr>
              <a:t>2)</a:t>
            </a:r>
            <a:endParaRPr lang="ko-KR" altLang="en-US" dirty="0">
              <a:solidFill>
                <a:schemeClr val="accent2">
                  <a:lumMod val="50000"/>
                </a:schemeClr>
              </a:solidFill>
            </a:endParaRPr>
          </a:p>
        </p:txBody>
      </p:sp>
      <p:sp>
        <p:nvSpPr>
          <p:cNvPr id="92" name="직사각형 91"/>
          <p:cNvSpPr/>
          <p:nvPr/>
        </p:nvSpPr>
        <p:spPr>
          <a:xfrm>
            <a:off x="8077193" y="1172217"/>
            <a:ext cx="3928533" cy="251637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ko-KR" altLang="en-US" dirty="0">
                <a:solidFill>
                  <a:schemeClr val="accent2">
                    <a:lumMod val="50000"/>
                  </a:schemeClr>
                </a:solidFill>
              </a:rPr>
              <a:t>행위능력</a:t>
            </a:r>
            <a:r>
              <a:rPr lang="en-US" altLang="ko-KR" dirty="0">
                <a:solidFill>
                  <a:schemeClr val="accent2">
                    <a:lumMod val="50000"/>
                  </a:schemeClr>
                </a:solidFill>
              </a:rPr>
              <a:t>(</a:t>
            </a:r>
            <a:r>
              <a:rPr lang="ko-KR" altLang="en-US" dirty="0">
                <a:solidFill>
                  <a:schemeClr val="accent2">
                    <a:lumMod val="50000"/>
                  </a:schemeClr>
                </a:solidFill>
              </a:rPr>
              <a:t>法 </a:t>
            </a:r>
            <a:r>
              <a:rPr lang="en-US" altLang="ko-KR" dirty="0">
                <a:solidFill>
                  <a:schemeClr val="accent2">
                    <a:lumMod val="50000"/>
                  </a:schemeClr>
                </a:solidFill>
              </a:rPr>
              <a:t>3~5①)</a:t>
            </a:r>
          </a:p>
        </p:txBody>
      </p:sp>
      <p:sp>
        <p:nvSpPr>
          <p:cNvPr id="93" name="직사각형 92"/>
          <p:cNvSpPr/>
          <p:nvPr/>
        </p:nvSpPr>
        <p:spPr>
          <a:xfrm>
            <a:off x="4063993" y="3734088"/>
            <a:ext cx="3928533" cy="275137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ko-KR" altLang="en-US" dirty="0">
                <a:solidFill>
                  <a:schemeClr val="accent2">
                    <a:lumMod val="50000"/>
                  </a:schemeClr>
                </a:solidFill>
              </a:rPr>
              <a:t>대리인</a:t>
            </a:r>
            <a:r>
              <a:rPr lang="en-US" altLang="ko-KR" dirty="0">
                <a:solidFill>
                  <a:schemeClr val="accent2">
                    <a:lumMod val="50000"/>
                  </a:schemeClr>
                </a:solidFill>
              </a:rPr>
              <a:t>(</a:t>
            </a:r>
            <a:r>
              <a:rPr lang="ko-KR" altLang="en-US" dirty="0">
                <a:solidFill>
                  <a:schemeClr val="accent2">
                    <a:lumMod val="50000"/>
                  </a:schemeClr>
                </a:solidFill>
              </a:rPr>
              <a:t>法 </a:t>
            </a:r>
            <a:r>
              <a:rPr lang="en-US" altLang="ko-KR" dirty="0">
                <a:solidFill>
                  <a:schemeClr val="accent2">
                    <a:lumMod val="50000"/>
                  </a:schemeClr>
                </a:solidFill>
              </a:rPr>
              <a:t>3②, 5②~10, 12)</a:t>
            </a:r>
          </a:p>
        </p:txBody>
      </p:sp>
      <p:sp>
        <p:nvSpPr>
          <p:cNvPr id="95" name="직사각형 94"/>
          <p:cNvSpPr/>
          <p:nvPr/>
        </p:nvSpPr>
        <p:spPr>
          <a:xfrm>
            <a:off x="8077192" y="3734088"/>
            <a:ext cx="3928533" cy="275137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ko-KR" altLang="en-US" dirty="0">
                <a:solidFill>
                  <a:schemeClr val="accent2">
                    <a:lumMod val="50000"/>
                  </a:schemeClr>
                </a:solidFill>
              </a:rPr>
              <a:t>복수당사자 대표</a:t>
            </a:r>
            <a:r>
              <a:rPr lang="en-US" altLang="ko-KR" dirty="0">
                <a:solidFill>
                  <a:schemeClr val="accent2">
                    <a:lumMod val="50000"/>
                  </a:schemeClr>
                </a:solidFill>
              </a:rPr>
              <a:t>(</a:t>
            </a:r>
            <a:r>
              <a:rPr lang="ko-KR" altLang="en-US" dirty="0">
                <a:solidFill>
                  <a:schemeClr val="accent2">
                    <a:lumMod val="50000"/>
                  </a:schemeClr>
                </a:solidFill>
              </a:rPr>
              <a:t>法 </a:t>
            </a:r>
            <a:r>
              <a:rPr lang="en-US" altLang="ko-KR" dirty="0">
                <a:solidFill>
                  <a:schemeClr val="accent2">
                    <a:lumMod val="50000"/>
                  </a:schemeClr>
                </a:solidFill>
              </a:rPr>
              <a:t>11)</a:t>
            </a:r>
          </a:p>
        </p:txBody>
      </p:sp>
      <p:cxnSp>
        <p:nvCxnSpPr>
          <p:cNvPr id="97" name="꺾인 연결선 96"/>
          <p:cNvCxnSpPr>
            <a:stCxn id="85" idx="1"/>
            <a:endCxn id="86" idx="1"/>
          </p:cNvCxnSpPr>
          <p:nvPr/>
        </p:nvCxnSpPr>
        <p:spPr>
          <a:xfrm rot="10800000" flipV="1">
            <a:off x="8513556" y="4660821"/>
            <a:ext cx="12700" cy="956102"/>
          </a:xfrm>
          <a:prstGeom prst="bentConnector3">
            <a:avLst>
              <a:gd name="adj1" fmla="val 180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꺾인 연결선 98"/>
          <p:cNvCxnSpPr>
            <a:stCxn id="85" idx="3"/>
            <a:endCxn id="87" idx="1"/>
          </p:cNvCxnSpPr>
          <p:nvPr/>
        </p:nvCxnSpPr>
        <p:spPr>
          <a:xfrm>
            <a:off x="9631159" y="4660821"/>
            <a:ext cx="270945" cy="127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꺾인 연결선 100"/>
          <p:cNvCxnSpPr>
            <a:stCxn id="85" idx="3"/>
            <a:endCxn id="88" idx="1"/>
          </p:cNvCxnSpPr>
          <p:nvPr/>
        </p:nvCxnSpPr>
        <p:spPr>
          <a:xfrm>
            <a:off x="9631159" y="4660821"/>
            <a:ext cx="270945" cy="35506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꺾인 연결선 102"/>
          <p:cNvCxnSpPr>
            <a:stCxn id="86" idx="3"/>
            <a:endCxn id="89" idx="1"/>
          </p:cNvCxnSpPr>
          <p:nvPr/>
        </p:nvCxnSpPr>
        <p:spPr>
          <a:xfrm>
            <a:off x="9631159" y="5616923"/>
            <a:ext cx="270945" cy="127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꺾인 연결선 104"/>
          <p:cNvCxnSpPr>
            <a:stCxn id="86" idx="3"/>
            <a:endCxn id="90" idx="1"/>
          </p:cNvCxnSpPr>
          <p:nvPr/>
        </p:nvCxnSpPr>
        <p:spPr>
          <a:xfrm>
            <a:off x="9631159" y="5616923"/>
            <a:ext cx="270945" cy="35506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250992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46</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총칙 체계</a:t>
            </a:r>
            <a:r>
              <a:rPr lang="en-US" altLang="ko-KR" dirty="0"/>
              <a:t>: </a:t>
            </a:r>
            <a:r>
              <a:rPr lang="ko-KR" altLang="en-US" dirty="0"/>
              <a:t>제</a:t>
            </a:r>
            <a:r>
              <a:rPr lang="en-US" altLang="ko-KR" dirty="0"/>
              <a:t>1</a:t>
            </a:r>
            <a:r>
              <a:rPr lang="ko-KR" altLang="en-US" dirty="0"/>
              <a:t>장</a:t>
            </a:r>
          </a:p>
        </p:txBody>
      </p:sp>
      <p:sp>
        <p:nvSpPr>
          <p:cNvPr id="5" name="직사각형 4"/>
          <p:cNvSpPr/>
          <p:nvPr/>
        </p:nvSpPr>
        <p:spPr>
          <a:xfrm>
            <a:off x="182592" y="3540483"/>
            <a:ext cx="602531" cy="607352"/>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600" dirty="0"/>
              <a:t>총칙</a:t>
            </a:r>
          </a:p>
        </p:txBody>
      </p:sp>
      <p:sp>
        <p:nvSpPr>
          <p:cNvPr id="7" name="직사각형 6"/>
          <p:cNvSpPr/>
          <p:nvPr/>
        </p:nvSpPr>
        <p:spPr>
          <a:xfrm>
            <a:off x="1135236" y="1324623"/>
            <a:ext cx="2823906"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목적</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a:t>
            </a:r>
            <a:endParaRPr lang="ko-KR" altLang="en-US" sz="1100" dirty="0">
              <a:solidFill>
                <a:schemeClr val="tx1"/>
              </a:solidFill>
            </a:endParaRPr>
          </a:p>
        </p:txBody>
      </p:sp>
      <p:sp>
        <p:nvSpPr>
          <p:cNvPr id="8" name="직사각형 7"/>
          <p:cNvSpPr/>
          <p:nvPr/>
        </p:nvSpPr>
        <p:spPr>
          <a:xfrm>
            <a:off x="1135236" y="1798844"/>
            <a:ext cx="2823906"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정의</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a:t>
            </a:r>
            <a:endParaRPr lang="ko-KR" altLang="en-US" sz="1100" dirty="0">
              <a:solidFill>
                <a:schemeClr val="tx1"/>
              </a:solidFill>
            </a:endParaRPr>
          </a:p>
        </p:txBody>
      </p:sp>
      <p:sp>
        <p:nvSpPr>
          <p:cNvPr id="9" name="직사각형 8"/>
          <p:cNvSpPr/>
          <p:nvPr/>
        </p:nvSpPr>
        <p:spPr>
          <a:xfrm>
            <a:off x="1135236" y="2259053"/>
            <a:ext cx="2823906"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행위능력</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3~5①, 7</a:t>
            </a:r>
            <a:r>
              <a:rPr lang="ko-KR" altLang="en-US" sz="1100" dirty="0">
                <a:solidFill>
                  <a:schemeClr val="tx1"/>
                </a:solidFill>
              </a:rPr>
              <a:t>의</a:t>
            </a:r>
            <a:r>
              <a:rPr lang="en-US" altLang="ko-KR" sz="1100" dirty="0">
                <a:solidFill>
                  <a:schemeClr val="tx1"/>
                </a:solidFill>
              </a:rPr>
              <a:t>2)</a:t>
            </a:r>
            <a:endParaRPr lang="ko-KR" altLang="en-US" sz="1100" dirty="0">
              <a:solidFill>
                <a:schemeClr val="tx1"/>
              </a:solidFill>
            </a:endParaRPr>
          </a:p>
        </p:txBody>
      </p:sp>
      <p:sp>
        <p:nvSpPr>
          <p:cNvPr id="10" name="직사각형 9"/>
          <p:cNvSpPr/>
          <p:nvPr/>
        </p:nvSpPr>
        <p:spPr>
          <a:xfrm>
            <a:off x="1135236" y="2733274"/>
            <a:ext cx="2823906"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대리인</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3②, 5②~10, 12)</a:t>
            </a:r>
            <a:endParaRPr lang="ko-KR" altLang="en-US" sz="1100" dirty="0">
              <a:solidFill>
                <a:schemeClr val="tx1"/>
              </a:solidFill>
            </a:endParaRPr>
          </a:p>
        </p:txBody>
      </p:sp>
      <p:sp>
        <p:nvSpPr>
          <p:cNvPr id="11" name="직사각형 10"/>
          <p:cNvSpPr/>
          <p:nvPr/>
        </p:nvSpPr>
        <p:spPr>
          <a:xfrm>
            <a:off x="1135236" y="3188939"/>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복수당사자 대표</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11)</a:t>
            </a:r>
            <a:endParaRPr lang="ko-KR" altLang="en-US" sz="1100" dirty="0">
              <a:solidFill>
                <a:schemeClr val="tx1"/>
              </a:solidFill>
            </a:endParaRPr>
          </a:p>
        </p:txBody>
      </p:sp>
      <p:sp>
        <p:nvSpPr>
          <p:cNvPr id="12" name="직사각형 11"/>
          <p:cNvSpPr/>
          <p:nvPr/>
        </p:nvSpPr>
        <p:spPr>
          <a:xfrm>
            <a:off x="1135236" y="3663160"/>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err="1">
                <a:solidFill>
                  <a:schemeClr val="tx1"/>
                </a:solidFill>
              </a:rPr>
              <a:t>재외자의</a:t>
            </a:r>
            <a:r>
              <a:rPr lang="ko-KR" altLang="en-US" sz="1100" dirty="0">
                <a:solidFill>
                  <a:schemeClr val="tx1"/>
                </a:solidFill>
              </a:rPr>
              <a:t> 재판관할</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13)</a:t>
            </a:r>
            <a:endParaRPr lang="ko-KR" altLang="en-US" sz="1100" dirty="0">
              <a:solidFill>
                <a:schemeClr val="tx1"/>
              </a:solidFill>
            </a:endParaRPr>
          </a:p>
        </p:txBody>
      </p:sp>
      <p:sp>
        <p:nvSpPr>
          <p:cNvPr id="74" name="직사각형 73"/>
          <p:cNvSpPr/>
          <p:nvPr/>
        </p:nvSpPr>
        <p:spPr>
          <a:xfrm>
            <a:off x="1135236" y="4154601"/>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기일과 기간</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14, 15)</a:t>
            </a:r>
            <a:endParaRPr lang="ko-KR" altLang="en-US" sz="1100" dirty="0">
              <a:solidFill>
                <a:schemeClr val="tx1"/>
              </a:solidFill>
            </a:endParaRPr>
          </a:p>
        </p:txBody>
      </p:sp>
      <p:sp>
        <p:nvSpPr>
          <p:cNvPr id="75" name="직사각형 74"/>
          <p:cNvSpPr/>
          <p:nvPr/>
        </p:nvSpPr>
        <p:spPr>
          <a:xfrm>
            <a:off x="1135236" y="4608951"/>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특허에 관한 절차 일반</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16, 28~28</a:t>
            </a:r>
            <a:r>
              <a:rPr lang="ko-KR" altLang="en-US" sz="1100" dirty="0">
                <a:solidFill>
                  <a:schemeClr val="tx1"/>
                </a:solidFill>
              </a:rPr>
              <a:t>의</a:t>
            </a:r>
            <a:r>
              <a:rPr lang="en-US" altLang="ko-KR" sz="1100" dirty="0">
                <a:solidFill>
                  <a:schemeClr val="tx1"/>
                </a:solidFill>
              </a:rPr>
              <a:t>5)</a:t>
            </a:r>
            <a:endParaRPr lang="ko-KR" altLang="en-US" sz="1100" dirty="0">
              <a:solidFill>
                <a:schemeClr val="tx1"/>
              </a:solidFill>
            </a:endParaRPr>
          </a:p>
        </p:txBody>
      </p:sp>
      <p:sp>
        <p:nvSpPr>
          <p:cNvPr id="76" name="직사각형 75"/>
          <p:cNvSpPr/>
          <p:nvPr/>
        </p:nvSpPr>
        <p:spPr>
          <a:xfrm>
            <a:off x="1135236" y="5075700"/>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추후보완</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17, 67</a:t>
            </a:r>
            <a:r>
              <a:rPr lang="ko-KR" altLang="en-US" sz="1100" dirty="0">
                <a:solidFill>
                  <a:schemeClr val="tx1"/>
                </a:solidFill>
              </a:rPr>
              <a:t>의</a:t>
            </a:r>
            <a:r>
              <a:rPr lang="en-US" altLang="ko-KR" sz="1100" dirty="0">
                <a:solidFill>
                  <a:schemeClr val="tx1"/>
                </a:solidFill>
              </a:rPr>
              <a:t>3)</a:t>
            </a:r>
            <a:endParaRPr lang="ko-KR" altLang="en-US" sz="1100" dirty="0">
              <a:solidFill>
                <a:schemeClr val="tx1"/>
              </a:solidFill>
            </a:endParaRPr>
          </a:p>
        </p:txBody>
      </p:sp>
      <p:sp>
        <p:nvSpPr>
          <p:cNvPr id="31" name="직사각형 30"/>
          <p:cNvSpPr/>
          <p:nvPr/>
        </p:nvSpPr>
        <p:spPr>
          <a:xfrm>
            <a:off x="1135236" y="5529238"/>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절차의 효력의 승계 및 절차의 속행</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18, 19)</a:t>
            </a:r>
            <a:endParaRPr lang="ko-KR" altLang="en-US" sz="1100" dirty="0">
              <a:solidFill>
                <a:schemeClr val="tx1"/>
              </a:solidFill>
            </a:endParaRPr>
          </a:p>
        </p:txBody>
      </p:sp>
      <p:sp>
        <p:nvSpPr>
          <p:cNvPr id="32" name="직사각형 31"/>
          <p:cNvSpPr/>
          <p:nvPr/>
        </p:nvSpPr>
        <p:spPr>
          <a:xfrm>
            <a:off x="1135236" y="5983588"/>
            <a:ext cx="2823906"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절차의 정지</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20~24, 78, 164)</a:t>
            </a:r>
            <a:endParaRPr lang="ko-KR" altLang="en-US" sz="1100" dirty="0">
              <a:solidFill>
                <a:schemeClr val="tx1"/>
              </a:solidFill>
            </a:endParaRPr>
          </a:p>
        </p:txBody>
      </p:sp>
      <p:cxnSp>
        <p:nvCxnSpPr>
          <p:cNvPr id="15" name="꺾인 연결선 14"/>
          <p:cNvCxnSpPr>
            <a:stCxn id="5" idx="3"/>
            <a:endCxn id="7" idx="1"/>
          </p:cNvCxnSpPr>
          <p:nvPr/>
        </p:nvCxnSpPr>
        <p:spPr>
          <a:xfrm flipV="1">
            <a:off x="785123" y="1502456"/>
            <a:ext cx="350113" cy="234170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꺾인 연결선 16"/>
          <p:cNvCxnSpPr>
            <a:stCxn id="5" idx="3"/>
            <a:endCxn id="32" idx="1"/>
          </p:cNvCxnSpPr>
          <p:nvPr/>
        </p:nvCxnSpPr>
        <p:spPr>
          <a:xfrm>
            <a:off x="785123" y="3844159"/>
            <a:ext cx="350113" cy="231726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5" idx="3"/>
            <a:endCxn id="8" idx="1"/>
          </p:cNvCxnSpPr>
          <p:nvPr/>
        </p:nvCxnSpPr>
        <p:spPr>
          <a:xfrm flipV="1">
            <a:off x="785123" y="1976677"/>
            <a:ext cx="350113" cy="186748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stCxn id="5" idx="3"/>
            <a:endCxn id="9" idx="1"/>
          </p:cNvCxnSpPr>
          <p:nvPr/>
        </p:nvCxnSpPr>
        <p:spPr>
          <a:xfrm flipV="1">
            <a:off x="785123" y="2436886"/>
            <a:ext cx="350113" cy="140727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stCxn id="5" idx="3"/>
            <a:endCxn id="74" idx="1"/>
          </p:cNvCxnSpPr>
          <p:nvPr/>
        </p:nvCxnSpPr>
        <p:spPr>
          <a:xfrm>
            <a:off x="785123" y="3844159"/>
            <a:ext cx="350113" cy="48827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stCxn id="5" idx="3"/>
            <a:endCxn id="75" idx="1"/>
          </p:cNvCxnSpPr>
          <p:nvPr/>
        </p:nvCxnSpPr>
        <p:spPr>
          <a:xfrm>
            <a:off x="785123" y="3844159"/>
            <a:ext cx="350113" cy="94262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꺾인 연결선 28"/>
          <p:cNvCxnSpPr>
            <a:stCxn id="5" idx="3"/>
            <a:endCxn id="76" idx="1"/>
          </p:cNvCxnSpPr>
          <p:nvPr/>
        </p:nvCxnSpPr>
        <p:spPr>
          <a:xfrm>
            <a:off x="785123" y="3844159"/>
            <a:ext cx="350113" cy="140937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꺾인 연결선 33"/>
          <p:cNvCxnSpPr>
            <a:stCxn id="5" idx="3"/>
            <a:endCxn id="31" idx="1"/>
          </p:cNvCxnSpPr>
          <p:nvPr/>
        </p:nvCxnSpPr>
        <p:spPr>
          <a:xfrm>
            <a:off x="785123" y="3844159"/>
            <a:ext cx="350113" cy="186291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꺾인 연결선 35"/>
          <p:cNvCxnSpPr>
            <a:stCxn id="5" idx="3"/>
            <a:endCxn id="10" idx="1"/>
          </p:cNvCxnSpPr>
          <p:nvPr/>
        </p:nvCxnSpPr>
        <p:spPr>
          <a:xfrm flipV="1">
            <a:off x="785123" y="2911107"/>
            <a:ext cx="350113" cy="93305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5" idx="3"/>
            <a:endCxn id="11" idx="1"/>
          </p:cNvCxnSpPr>
          <p:nvPr/>
        </p:nvCxnSpPr>
        <p:spPr>
          <a:xfrm flipV="1">
            <a:off x="785123" y="3366772"/>
            <a:ext cx="350113" cy="47738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5" idx="3"/>
            <a:endCxn id="12" idx="1"/>
          </p:cNvCxnSpPr>
          <p:nvPr/>
        </p:nvCxnSpPr>
        <p:spPr>
          <a:xfrm flipV="1">
            <a:off x="785123" y="3840993"/>
            <a:ext cx="350113" cy="316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직사각형 40"/>
          <p:cNvSpPr/>
          <p:nvPr/>
        </p:nvSpPr>
        <p:spPr>
          <a:xfrm>
            <a:off x="4390289" y="2827325"/>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기일과 기간의 종류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15)</a:t>
            </a:r>
            <a:endParaRPr lang="ko-KR" altLang="en-US" sz="1000" dirty="0">
              <a:solidFill>
                <a:schemeClr val="tx1"/>
              </a:solidFill>
            </a:endParaRPr>
          </a:p>
        </p:txBody>
      </p:sp>
      <p:sp>
        <p:nvSpPr>
          <p:cNvPr id="60" name="직사각형 59"/>
          <p:cNvSpPr/>
          <p:nvPr/>
        </p:nvSpPr>
        <p:spPr>
          <a:xfrm>
            <a:off x="4390289" y="1615001"/>
            <a:ext cx="163537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기간 계산</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14)</a:t>
            </a:r>
            <a:endParaRPr lang="ko-KR" altLang="en-US" sz="1000" dirty="0">
              <a:solidFill>
                <a:schemeClr val="tx1"/>
              </a:solidFill>
            </a:endParaRPr>
          </a:p>
        </p:txBody>
      </p:sp>
      <p:sp>
        <p:nvSpPr>
          <p:cNvPr id="30" name="직사각형 29"/>
          <p:cNvSpPr/>
          <p:nvPr/>
        </p:nvSpPr>
        <p:spPr>
          <a:xfrm>
            <a:off x="6193690" y="1606534"/>
            <a:ext cx="112151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초일 결정</a:t>
            </a:r>
          </a:p>
        </p:txBody>
      </p:sp>
      <p:sp>
        <p:nvSpPr>
          <p:cNvPr id="33" name="직사각형 32"/>
          <p:cNvSpPr/>
          <p:nvPr/>
        </p:nvSpPr>
        <p:spPr>
          <a:xfrm>
            <a:off x="6193690" y="1893576"/>
            <a:ext cx="112151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기산일 결정</a:t>
            </a:r>
          </a:p>
        </p:txBody>
      </p:sp>
      <p:sp>
        <p:nvSpPr>
          <p:cNvPr id="35" name="직사각형 34"/>
          <p:cNvSpPr/>
          <p:nvPr/>
        </p:nvSpPr>
        <p:spPr>
          <a:xfrm>
            <a:off x="6193690" y="2182383"/>
            <a:ext cx="112151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계산방법 결정</a:t>
            </a:r>
          </a:p>
        </p:txBody>
      </p:sp>
      <p:sp>
        <p:nvSpPr>
          <p:cNvPr id="37" name="직사각형 36"/>
          <p:cNvSpPr/>
          <p:nvPr/>
        </p:nvSpPr>
        <p:spPr>
          <a:xfrm>
            <a:off x="6193690" y="2470250"/>
            <a:ext cx="112151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만료일 결정</a:t>
            </a:r>
          </a:p>
        </p:txBody>
      </p:sp>
      <p:cxnSp>
        <p:nvCxnSpPr>
          <p:cNvPr id="6" name="꺾인 연결선 5"/>
          <p:cNvCxnSpPr>
            <a:stCxn id="41" idx="1"/>
            <a:endCxn id="60" idx="1"/>
          </p:cNvCxnSpPr>
          <p:nvPr/>
        </p:nvCxnSpPr>
        <p:spPr>
          <a:xfrm rot="10800000">
            <a:off x="4390289" y="1739601"/>
            <a:ext cx="12700" cy="1212324"/>
          </a:xfrm>
          <a:prstGeom prst="bentConnector3">
            <a:avLst>
              <a:gd name="adj1" fmla="val 180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꺾인 연결선 15"/>
          <p:cNvCxnSpPr>
            <a:stCxn id="60" idx="3"/>
            <a:endCxn id="30" idx="1"/>
          </p:cNvCxnSpPr>
          <p:nvPr/>
        </p:nvCxnSpPr>
        <p:spPr>
          <a:xfrm flipV="1">
            <a:off x="6025659" y="1731134"/>
            <a:ext cx="168031" cy="84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stCxn id="60" idx="3"/>
            <a:endCxn id="37" idx="1"/>
          </p:cNvCxnSpPr>
          <p:nvPr/>
        </p:nvCxnSpPr>
        <p:spPr>
          <a:xfrm>
            <a:off x="6025659" y="1739601"/>
            <a:ext cx="168031" cy="85524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stCxn id="60" idx="3"/>
            <a:endCxn id="33" idx="1"/>
          </p:cNvCxnSpPr>
          <p:nvPr/>
        </p:nvCxnSpPr>
        <p:spPr>
          <a:xfrm>
            <a:off x="6025659" y="1739601"/>
            <a:ext cx="168031" cy="2785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stCxn id="60" idx="3"/>
            <a:endCxn id="35" idx="1"/>
          </p:cNvCxnSpPr>
          <p:nvPr/>
        </p:nvCxnSpPr>
        <p:spPr>
          <a:xfrm>
            <a:off x="6025659" y="1739601"/>
            <a:ext cx="168031" cy="56738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직사각형 47"/>
          <p:cNvSpPr/>
          <p:nvPr/>
        </p:nvSpPr>
        <p:spPr>
          <a:xfrm>
            <a:off x="8043333" y="1637903"/>
            <a:ext cx="1667934" cy="315778"/>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고유번호의 부여 및 기재</a:t>
            </a:r>
          </a:p>
          <a:p>
            <a:pPr algn="ct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28</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82" name="직사각형 81"/>
          <p:cNvSpPr/>
          <p:nvPr/>
        </p:nvSpPr>
        <p:spPr>
          <a:xfrm>
            <a:off x="5096933" y="3134481"/>
            <a:ext cx="931326"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기일</a:t>
            </a:r>
          </a:p>
        </p:txBody>
      </p:sp>
      <p:sp>
        <p:nvSpPr>
          <p:cNvPr id="84" name="직사각형 83"/>
          <p:cNvSpPr/>
          <p:nvPr/>
        </p:nvSpPr>
        <p:spPr>
          <a:xfrm>
            <a:off x="5096933" y="3557820"/>
            <a:ext cx="931326"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기간</a:t>
            </a:r>
          </a:p>
        </p:txBody>
      </p:sp>
      <p:sp>
        <p:nvSpPr>
          <p:cNvPr id="94" name="직사각형 93"/>
          <p:cNvSpPr/>
          <p:nvPr/>
        </p:nvSpPr>
        <p:spPr>
          <a:xfrm>
            <a:off x="6193690" y="2981248"/>
            <a:ext cx="112151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법정기일 </a:t>
            </a:r>
            <a:r>
              <a:rPr lang="en-US" altLang="ko-KR" sz="1000" dirty="0">
                <a:solidFill>
                  <a:schemeClr val="tx1"/>
                </a:solidFill>
              </a:rPr>
              <a:t>×</a:t>
            </a:r>
          </a:p>
        </p:txBody>
      </p:sp>
      <p:sp>
        <p:nvSpPr>
          <p:cNvPr id="96" name="직사각형 95"/>
          <p:cNvSpPr/>
          <p:nvPr/>
        </p:nvSpPr>
        <p:spPr>
          <a:xfrm>
            <a:off x="6193690" y="3268290"/>
            <a:ext cx="112151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지정기일 ○</a:t>
            </a:r>
            <a:endParaRPr lang="en-US" altLang="ko-KR" sz="1000" dirty="0">
              <a:solidFill>
                <a:schemeClr val="tx1"/>
              </a:solidFill>
            </a:endParaRPr>
          </a:p>
        </p:txBody>
      </p:sp>
      <p:sp>
        <p:nvSpPr>
          <p:cNvPr id="98" name="직사각형 97"/>
          <p:cNvSpPr/>
          <p:nvPr/>
        </p:nvSpPr>
        <p:spPr>
          <a:xfrm>
            <a:off x="6193690" y="3557097"/>
            <a:ext cx="112151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법정기간 ○</a:t>
            </a:r>
            <a:endParaRPr lang="en-US" altLang="ko-KR" sz="1000" dirty="0">
              <a:solidFill>
                <a:schemeClr val="tx1"/>
              </a:solidFill>
            </a:endParaRPr>
          </a:p>
        </p:txBody>
      </p:sp>
      <p:sp>
        <p:nvSpPr>
          <p:cNvPr id="100" name="직사각형 99"/>
          <p:cNvSpPr/>
          <p:nvPr/>
        </p:nvSpPr>
        <p:spPr>
          <a:xfrm>
            <a:off x="6193690" y="3844964"/>
            <a:ext cx="112151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지정기간 ○</a:t>
            </a:r>
            <a:endParaRPr lang="en-US" altLang="ko-KR" sz="1000" dirty="0">
              <a:solidFill>
                <a:schemeClr val="tx1"/>
              </a:solidFill>
            </a:endParaRPr>
          </a:p>
        </p:txBody>
      </p:sp>
      <p:cxnSp>
        <p:nvCxnSpPr>
          <p:cNvPr id="42" name="꺾인 연결선 41"/>
          <p:cNvCxnSpPr>
            <a:stCxn id="82" idx="3"/>
            <a:endCxn id="94" idx="1"/>
          </p:cNvCxnSpPr>
          <p:nvPr/>
        </p:nvCxnSpPr>
        <p:spPr>
          <a:xfrm flipV="1">
            <a:off x="6028259" y="3105848"/>
            <a:ext cx="165431" cy="15323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82" idx="3"/>
            <a:endCxn id="96" idx="1"/>
          </p:cNvCxnSpPr>
          <p:nvPr/>
        </p:nvCxnSpPr>
        <p:spPr>
          <a:xfrm>
            <a:off x="6028259" y="3259081"/>
            <a:ext cx="165431" cy="13380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84" idx="3"/>
            <a:endCxn id="98" idx="1"/>
          </p:cNvCxnSpPr>
          <p:nvPr/>
        </p:nvCxnSpPr>
        <p:spPr>
          <a:xfrm flipV="1">
            <a:off x="6028259" y="3681697"/>
            <a:ext cx="165431" cy="72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꺾인 연결선 57"/>
          <p:cNvCxnSpPr>
            <a:stCxn id="84" idx="3"/>
            <a:endCxn id="100" idx="1"/>
          </p:cNvCxnSpPr>
          <p:nvPr/>
        </p:nvCxnSpPr>
        <p:spPr>
          <a:xfrm>
            <a:off x="6028259" y="3682420"/>
            <a:ext cx="165431" cy="28714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자유형 62"/>
          <p:cNvSpPr/>
          <p:nvPr/>
        </p:nvSpPr>
        <p:spPr>
          <a:xfrm>
            <a:off x="4648200" y="3073408"/>
            <a:ext cx="440267" cy="186267"/>
          </a:xfrm>
          <a:custGeom>
            <a:avLst/>
            <a:gdLst>
              <a:gd name="connsiteX0" fmla="*/ 0 w 440267"/>
              <a:gd name="connsiteY0" fmla="*/ 0 h 186267"/>
              <a:gd name="connsiteX1" fmla="*/ 0 w 440267"/>
              <a:gd name="connsiteY1" fmla="*/ 186267 h 186267"/>
              <a:gd name="connsiteX2" fmla="*/ 440267 w 440267"/>
              <a:gd name="connsiteY2" fmla="*/ 186267 h 186267"/>
            </a:gdLst>
            <a:ahLst/>
            <a:cxnLst>
              <a:cxn ang="0">
                <a:pos x="connsiteX0" y="connsiteY0"/>
              </a:cxn>
              <a:cxn ang="0">
                <a:pos x="connsiteX1" y="connsiteY1"/>
              </a:cxn>
              <a:cxn ang="0">
                <a:pos x="connsiteX2" y="connsiteY2"/>
              </a:cxn>
            </a:cxnLst>
            <a:rect l="l" t="t" r="r" b="b"/>
            <a:pathLst>
              <a:path w="440267" h="186267">
                <a:moveTo>
                  <a:pt x="0" y="0"/>
                </a:moveTo>
                <a:lnTo>
                  <a:pt x="0" y="186267"/>
                </a:lnTo>
                <a:lnTo>
                  <a:pt x="440267" y="186267"/>
                </a:lnTo>
              </a:path>
            </a:pathLst>
          </a:cu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04" name="자유형 103"/>
          <p:cNvSpPr/>
          <p:nvPr/>
        </p:nvSpPr>
        <p:spPr>
          <a:xfrm>
            <a:off x="4648200" y="3073408"/>
            <a:ext cx="448733" cy="609600"/>
          </a:xfrm>
          <a:custGeom>
            <a:avLst/>
            <a:gdLst>
              <a:gd name="connsiteX0" fmla="*/ 0 w 448733"/>
              <a:gd name="connsiteY0" fmla="*/ 0 h 609600"/>
              <a:gd name="connsiteX1" fmla="*/ 0 w 448733"/>
              <a:gd name="connsiteY1" fmla="*/ 609600 h 609600"/>
              <a:gd name="connsiteX2" fmla="*/ 448733 w 448733"/>
              <a:gd name="connsiteY2" fmla="*/ 609600 h 609600"/>
            </a:gdLst>
            <a:ahLst/>
            <a:cxnLst>
              <a:cxn ang="0">
                <a:pos x="connsiteX0" y="connsiteY0"/>
              </a:cxn>
              <a:cxn ang="0">
                <a:pos x="connsiteX1" y="connsiteY1"/>
              </a:cxn>
              <a:cxn ang="0">
                <a:pos x="connsiteX2" y="connsiteY2"/>
              </a:cxn>
            </a:cxnLst>
            <a:rect l="l" t="t" r="r" b="b"/>
            <a:pathLst>
              <a:path w="448733" h="609600">
                <a:moveTo>
                  <a:pt x="0" y="0"/>
                </a:moveTo>
                <a:lnTo>
                  <a:pt x="0" y="609600"/>
                </a:lnTo>
                <a:lnTo>
                  <a:pt x="448733" y="609600"/>
                </a:lnTo>
              </a:path>
            </a:pathLst>
          </a:custGeom>
          <a:ln w="3175">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0" name="직사각형 119"/>
          <p:cNvSpPr/>
          <p:nvPr/>
        </p:nvSpPr>
        <p:spPr>
          <a:xfrm>
            <a:off x="8043333" y="2070306"/>
            <a:ext cx="1667934" cy="315778"/>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특허에 관한 서류의 작성</a:t>
            </a:r>
          </a:p>
        </p:txBody>
      </p:sp>
      <p:sp>
        <p:nvSpPr>
          <p:cNvPr id="121" name="직사각형 120"/>
          <p:cNvSpPr/>
          <p:nvPr/>
        </p:nvSpPr>
        <p:spPr>
          <a:xfrm>
            <a:off x="8043333" y="2493725"/>
            <a:ext cx="1667934" cy="315778"/>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특허에 관한 서류의  제출</a:t>
            </a:r>
          </a:p>
        </p:txBody>
      </p:sp>
      <p:sp>
        <p:nvSpPr>
          <p:cNvPr id="122" name="직사각형 121"/>
          <p:cNvSpPr/>
          <p:nvPr/>
        </p:nvSpPr>
        <p:spPr>
          <a:xfrm>
            <a:off x="8043333" y="2926383"/>
            <a:ext cx="1667934" cy="315778"/>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수수료의 납부</a:t>
            </a:r>
            <a:endParaRPr lang="en-US" altLang="ko-KR" sz="1000" dirty="0">
              <a:solidFill>
                <a:schemeClr val="tx1"/>
              </a:solidFill>
            </a:endParaRPr>
          </a:p>
          <a:p>
            <a:pPr algn="ct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82)</a:t>
            </a:r>
            <a:endParaRPr lang="ko-KR" altLang="en-US" sz="1000" dirty="0">
              <a:solidFill>
                <a:schemeClr val="tx1"/>
              </a:solidFill>
            </a:endParaRPr>
          </a:p>
        </p:txBody>
      </p:sp>
      <p:sp>
        <p:nvSpPr>
          <p:cNvPr id="123" name="직사각형 122"/>
          <p:cNvSpPr/>
          <p:nvPr/>
        </p:nvSpPr>
        <p:spPr>
          <a:xfrm>
            <a:off x="8043333" y="3366736"/>
            <a:ext cx="1667934" cy="315778"/>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방식심사</a:t>
            </a:r>
          </a:p>
        </p:txBody>
      </p:sp>
      <p:sp>
        <p:nvSpPr>
          <p:cNvPr id="124" name="직사각형 123"/>
          <p:cNvSpPr/>
          <p:nvPr/>
        </p:nvSpPr>
        <p:spPr>
          <a:xfrm>
            <a:off x="9965271" y="2493725"/>
            <a:ext cx="1667934" cy="315778"/>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서면에 의한 제출</a:t>
            </a:r>
          </a:p>
          <a:p>
            <a:pPr algn="ct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28)</a:t>
            </a:r>
          </a:p>
        </p:txBody>
      </p:sp>
      <p:sp>
        <p:nvSpPr>
          <p:cNvPr id="125" name="직사각형 124"/>
          <p:cNvSpPr/>
          <p:nvPr/>
        </p:nvSpPr>
        <p:spPr>
          <a:xfrm>
            <a:off x="9965271" y="2926383"/>
            <a:ext cx="1667934" cy="315778"/>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전자문서에 의한 제출</a:t>
            </a:r>
          </a:p>
          <a:p>
            <a:pPr algn="ct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28</a:t>
            </a:r>
            <a:r>
              <a:rPr lang="ko-KR" altLang="en-US" sz="1000" dirty="0">
                <a:solidFill>
                  <a:schemeClr val="tx1"/>
                </a:solidFill>
              </a:rPr>
              <a:t>의 </a:t>
            </a:r>
            <a:r>
              <a:rPr lang="en-US" altLang="ko-KR" sz="1000" dirty="0">
                <a:solidFill>
                  <a:schemeClr val="tx1"/>
                </a:solidFill>
              </a:rPr>
              <a:t>3, 4)</a:t>
            </a:r>
          </a:p>
        </p:txBody>
      </p:sp>
      <p:sp>
        <p:nvSpPr>
          <p:cNvPr id="126" name="직사각형 125"/>
          <p:cNvSpPr/>
          <p:nvPr/>
        </p:nvSpPr>
        <p:spPr>
          <a:xfrm>
            <a:off x="9965271" y="3373722"/>
            <a:ext cx="702729" cy="315778"/>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흠결</a:t>
            </a:r>
            <a:r>
              <a:rPr lang="ko-KR" altLang="en-US" sz="1000" dirty="0">
                <a:solidFill>
                  <a:schemeClr val="tx1"/>
                </a:solidFill>
              </a:rPr>
              <a:t> </a:t>
            </a:r>
            <a:r>
              <a:rPr lang="en-US" altLang="ko-KR" sz="1000" dirty="0">
                <a:solidFill>
                  <a:schemeClr val="tx1"/>
                </a:solidFill>
              </a:rPr>
              <a:t>×</a:t>
            </a:r>
            <a:r>
              <a:rPr lang="ko-KR" altLang="en-US" sz="1000" dirty="0">
                <a:solidFill>
                  <a:schemeClr val="tx1"/>
                </a:solidFill>
              </a:rPr>
              <a:t> </a:t>
            </a:r>
            <a:endParaRPr lang="en-US" altLang="ko-KR" sz="1000" dirty="0">
              <a:solidFill>
                <a:schemeClr val="tx1"/>
              </a:solidFill>
            </a:endParaRPr>
          </a:p>
        </p:txBody>
      </p:sp>
      <p:sp>
        <p:nvSpPr>
          <p:cNvPr id="128" name="직사각형 127"/>
          <p:cNvSpPr/>
          <p:nvPr/>
        </p:nvSpPr>
        <p:spPr>
          <a:xfrm>
            <a:off x="9965271" y="3815618"/>
            <a:ext cx="702729" cy="315778"/>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흠결</a:t>
            </a:r>
            <a:r>
              <a:rPr lang="ko-KR" altLang="en-US" sz="1000" dirty="0">
                <a:solidFill>
                  <a:schemeClr val="tx1"/>
                </a:solidFill>
              </a:rPr>
              <a:t> ○ </a:t>
            </a:r>
            <a:endParaRPr lang="en-US" altLang="ko-KR" sz="1000" dirty="0">
              <a:solidFill>
                <a:schemeClr val="tx1"/>
              </a:solidFill>
            </a:endParaRPr>
          </a:p>
        </p:txBody>
      </p:sp>
      <p:sp>
        <p:nvSpPr>
          <p:cNvPr id="129" name="직사각형 128"/>
          <p:cNvSpPr/>
          <p:nvPr/>
        </p:nvSpPr>
        <p:spPr>
          <a:xfrm>
            <a:off x="10930476" y="3409202"/>
            <a:ext cx="702729" cy="315778"/>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法 </a:t>
            </a:r>
            <a:r>
              <a:rPr lang="en-US" altLang="ko-KR" sz="1000" dirty="0">
                <a:solidFill>
                  <a:schemeClr val="tx1"/>
                </a:solidFill>
              </a:rPr>
              <a:t>46, 16</a:t>
            </a:r>
          </a:p>
        </p:txBody>
      </p:sp>
      <p:sp>
        <p:nvSpPr>
          <p:cNvPr id="130" name="직사각형 129"/>
          <p:cNvSpPr/>
          <p:nvPr/>
        </p:nvSpPr>
        <p:spPr>
          <a:xfrm>
            <a:off x="10930476" y="3816345"/>
            <a:ext cx="702729" cy="315778"/>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施規</a:t>
            </a:r>
            <a:r>
              <a:rPr lang="ko-KR" altLang="en-US" sz="1000" dirty="0">
                <a:solidFill>
                  <a:schemeClr val="tx1"/>
                </a:solidFill>
              </a:rPr>
              <a:t> </a:t>
            </a:r>
            <a:r>
              <a:rPr lang="en-US" altLang="ko-KR" sz="1000" dirty="0">
                <a:solidFill>
                  <a:schemeClr val="tx1"/>
                </a:solidFill>
              </a:rPr>
              <a:t>11</a:t>
            </a:r>
          </a:p>
        </p:txBody>
      </p:sp>
      <p:cxnSp>
        <p:nvCxnSpPr>
          <p:cNvPr id="132" name="꺾인 연결선 131"/>
          <p:cNvCxnSpPr>
            <a:stCxn id="48" idx="1"/>
            <a:endCxn id="123" idx="1"/>
          </p:cNvCxnSpPr>
          <p:nvPr/>
        </p:nvCxnSpPr>
        <p:spPr>
          <a:xfrm rot="10800000" flipV="1">
            <a:off x="8043333" y="1795791"/>
            <a:ext cx="12700" cy="1728833"/>
          </a:xfrm>
          <a:prstGeom prst="bentConnector3">
            <a:avLst>
              <a:gd name="adj1" fmla="val 180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endCxn id="120" idx="1"/>
          </p:cNvCxnSpPr>
          <p:nvPr/>
        </p:nvCxnSpPr>
        <p:spPr>
          <a:xfrm rot="16200000" flipH="1">
            <a:off x="7722825" y="1907686"/>
            <a:ext cx="429351" cy="211666"/>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6" name="꺾인 연결선 135"/>
          <p:cNvCxnSpPr>
            <a:endCxn id="121" idx="1"/>
          </p:cNvCxnSpPr>
          <p:nvPr/>
        </p:nvCxnSpPr>
        <p:spPr>
          <a:xfrm rot="16200000" flipH="1">
            <a:off x="7539560" y="2147840"/>
            <a:ext cx="795881" cy="211666"/>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8" name="꺾인 연결선 137"/>
          <p:cNvCxnSpPr>
            <a:endCxn id="122" idx="1"/>
          </p:cNvCxnSpPr>
          <p:nvPr/>
        </p:nvCxnSpPr>
        <p:spPr>
          <a:xfrm rot="16200000" flipH="1">
            <a:off x="7293260" y="2334198"/>
            <a:ext cx="1288481" cy="211666"/>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꺾인 연결선 139"/>
          <p:cNvCxnSpPr>
            <a:stCxn id="121" idx="3"/>
            <a:endCxn id="124" idx="1"/>
          </p:cNvCxnSpPr>
          <p:nvPr/>
        </p:nvCxnSpPr>
        <p:spPr>
          <a:xfrm>
            <a:off x="9711267" y="2651614"/>
            <a:ext cx="254004" cy="127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2" name="꺾인 연결선 141"/>
          <p:cNvCxnSpPr>
            <a:stCxn id="121" idx="3"/>
            <a:endCxn id="125" idx="1"/>
          </p:cNvCxnSpPr>
          <p:nvPr/>
        </p:nvCxnSpPr>
        <p:spPr>
          <a:xfrm>
            <a:off x="9711267" y="2651614"/>
            <a:ext cx="254004" cy="4326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꺾인 연결선 143"/>
          <p:cNvCxnSpPr>
            <a:stCxn id="123" idx="3"/>
            <a:endCxn id="126" idx="1"/>
          </p:cNvCxnSpPr>
          <p:nvPr/>
        </p:nvCxnSpPr>
        <p:spPr>
          <a:xfrm>
            <a:off x="9711267" y="3524625"/>
            <a:ext cx="254004" cy="69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꺾인 연결선 145"/>
          <p:cNvCxnSpPr>
            <a:stCxn id="123" idx="3"/>
            <a:endCxn id="128" idx="1"/>
          </p:cNvCxnSpPr>
          <p:nvPr/>
        </p:nvCxnSpPr>
        <p:spPr>
          <a:xfrm>
            <a:off x="9711267" y="3524625"/>
            <a:ext cx="254004" cy="44888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꺾인 연결선 147"/>
          <p:cNvCxnSpPr>
            <a:stCxn id="128" idx="3"/>
            <a:endCxn id="129" idx="1"/>
          </p:cNvCxnSpPr>
          <p:nvPr/>
        </p:nvCxnSpPr>
        <p:spPr>
          <a:xfrm flipV="1">
            <a:off x="10668000" y="3567091"/>
            <a:ext cx="262476" cy="40641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꺾인 연결선 149"/>
          <p:cNvCxnSpPr>
            <a:stCxn id="128" idx="3"/>
            <a:endCxn id="130" idx="1"/>
          </p:cNvCxnSpPr>
          <p:nvPr/>
        </p:nvCxnSpPr>
        <p:spPr>
          <a:xfrm>
            <a:off x="10668000" y="3973507"/>
            <a:ext cx="262476" cy="72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2" name="직사각형 151"/>
          <p:cNvSpPr/>
          <p:nvPr/>
        </p:nvSpPr>
        <p:spPr>
          <a:xfrm>
            <a:off x="4418598" y="5032594"/>
            <a:ext cx="525935" cy="229432"/>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중단</a:t>
            </a:r>
            <a:endParaRPr lang="en-US" altLang="ko-KR" sz="1000" dirty="0">
              <a:solidFill>
                <a:schemeClr val="tx1"/>
              </a:solidFill>
            </a:endParaRPr>
          </a:p>
        </p:txBody>
      </p:sp>
      <p:sp>
        <p:nvSpPr>
          <p:cNvPr id="153" name="직사각형 152"/>
          <p:cNvSpPr/>
          <p:nvPr/>
        </p:nvSpPr>
        <p:spPr>
          <a:xfrm>
            <a:off x="4418598" y="5948065"/>
            <a:ext cx="525935" cy="229432"/>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중지</a:t>
            </a:r>
            <a:endParaRPr lang="en-US" altLang="ko-KR" sz="1000" dirty="0">
              <a:solidFill>
                <a:schemeClr val="tx1"/>
              </a:solidFill>
            </a:endParaRPr>
          </a:p>
        </p:txBody>
      </p:sp>
      <p:cxnSp>
        <p:nvCxnSpPr>
          <p:cNvPr id="154" name="꺾인 연결선 153"/>
          <p:cNvCxnSpPr>
            <a:stCxn id="152" idx="3"/>
            <a:endCxn id="159" idx="1"/>
          </p:cNvCxnSpPr>
          <p:nvPr/>
        </p:nvCxnSpPr>
        <p:spPr>
          <a:xfrm>
            <a:off x="4944533" y="5147310"/>
            <a:ext cx="237049" cy="162596"/>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꺾인 연결선 154"/>
          <p:cNvCxnSpPr>
            <a:stCxn id="152" idx="3"/>
            <a:endCxn id="158" idx="1"/>
          </p:cNvCxnSpPr>
          <p:nvPr/>
        </p:nvCxnSpPr>
        <p:spPr>
          <a:xfrm flipV="1">
            <a:off x="4944533" y="5002254"/>
            <a:ext cx="237049" cy="145056"/>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꺾인 연결선 155"/>
          <p:cNvCxnSpPr>
            <a:stCxn id="153" idx="3"/>
            <a:endCxn id="161" idx="1"/>
          </p:cNvCxnSpPr>
          <p:nvPr/>
        </p:nvCxnSpPr>
        <p:spPr>
          <a:xfrm>
            <a:off x="4944533" y="6062781"/>
            <a:ext cx="237049" cy="175922"/>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7" name="꺾인 연결선 156"/>
          <p:cNvCxnSpPr>
            <a:stCxn id="153" idx="3"/>
            <a:endCxn id="160" idx="1"/>
          </p:cNvCxnSpPr>
          <p:nvPr/>
        </p:nvCxnSpPr>
        <p:spPr>
          <a:xfrm flipV="1">
            <a:off x="4944533" y="5948205"/>
            <a:ext cx="237049" cy="114576"/>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8" name="직사각형 157"/>
          <p:cNvSpPr/>
          <p:nvPr/>
        </p:nvSpPr>
        <p:spPr>
          <a:xfrm>
            <a:off x="5181582" y="4885688"/>
            <a:ext cx="845822" cy="233131"/>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당연중단</a:t>
            </a:r>
            <a:r>
              <a:rPr lang="ko-KR" altLang="en-US" sz="1000" dirty="0">
                <a:solidFill>
                  <a:schemeClr val="tx1"/>
                </a:solidFill>
              </a:rPr>
              <a:t> ○</a:t>
            </a:r>
            <a:endParaRPr lang="en-US" altLang="ko-KR" sz="1000" dirty="0">
              <a:solidFill>
                <a:schemeClr val="tx1"/>
              </a:solidFill>
            </a:endParaRPr>
          </a:p>
        </p:txBody>
      </p:sp>
      <p:sp>
        <p:nvSpPr>
          <p:cNvPr id="159" name="직사각형 158"/>
          <p:cNvSpPr/>
          <p:nvPr/>
        </p:nvSpPr>
        <p:spPr>
          <a:xfrm>
            <a:off x="5181582" y="5193340"/>
            <a:ext cx="845822" cy="233131"/>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결정중단</a:t>
            </a:r>
            <a:r>
              <a:rPr lang="ko-KR" altLang="en-US" sz="1000" dirty="0">
                <a:solidFill>
                  <a:schemeClr val="tx1"/>
                </a:solidFill>
              </a:rPr>
              <a:t> </a:t>
            </a:r>
            <a:r>
              <a:rPr lang="en-US" altLang="ko-KR" sz="1000" dirty="0">
                <a:solidFill>
                  <a:schemeClr val="tx1"/>
                </a:solidFill>
              </a:rPr>
              <a:t>× </a:t>
            </a:r>
          </a:p>
        </p:txBody>
      </p:sp>
      <p:sp>
        <p:nvSpPr>
          <p:cNvPr id="160" name="직사각형 159"/>
          <p:cNvSpPr/>
          <p:nvPr/>
        </p:nvSpPr>
        <p:spPr>
          <a:xfrm>
            <a:off x="5181582" y="5831639"/>
            <a:ext cx="845822" cy="233131"/>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당연중지</a:t>
            </a:r>
            <a:r>
              <a:rPr lang="ko-KR" altLang="en-US" sz="1000" dirty="0">
                <a:solidFill>
                  <a:schemeClr val="tx1"/>
                </a:solidFill>
              </a:rPr>
              <a:t> ○</a:t>
            </a:r>
            <a:endParaRPr lang="en-US" altLang="ko-KR" sz="1000" dirty="0">
              <a:solidFill>
                <a:schemeClr val="tx1"/>
              </a:solidFill>
            </a:endParaRPr>
          </a:p>
        </p:txBody>
      </p:sp>
      <p:sp>
        <p:nvSpPr>
          <p:cNvPr id="161" name="직사각형 160"/>
          <p:cNvSpPr/>
          <p:nvPr/>
        </p:nvSpPr>
        <p:spPr>
          <a:xfrm>
            <a:off x="5181582" y="6122137"/>
            <a:ext cx="845822" cy="233131"/>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결정중지</a:t>
            </a:r>
            <a:r>
              <a:rPr lang="ko-KR" altLang="en-US" sz="1000" dirty="0">
                <a:solidFill>
                  <a:schemeClr val="tx1"/>
                </a:solidFill>
              </a:rPr>
              <a:t> ○</a:t>
            </a:r>
            <a:endParaRPr lang="en-US" altLang="ko-KR" sz="1000" dirty="0">
              <a:solidFill>
                <a:schemeClr val="tx1"/>
              </a:solidFill>
            </a:endParaRPr>
          </a:p>
        </p:txBody>
      </p:sp>
      <p:sp>
        <p:nvSpPr>
          <p:cNvPr id="162" name="직사각형 161"/>
          <p:cNvSpPr/>
          <p:nvPr/>
        </p:nvSpPr>
        <p:spPr>
          <a:xfrm>
            <a:off x="6222687" y="4811834"/>
            <a:ext cx="1833346" cy="237576"/>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중단사유</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20)</a:t>
            </a:r>
          </a:p>
        </p:txBody>
      </p:sp>
      <p:cxnSp>
        <p:nvCxnSpPr>
          <p:cNvPr id="163" name="꺾인 연결선 162"/>
          <p:cNvCxnSpPr>
            <a:stCxn id="152" idx="1"/>
            <a:endCxn id="153" idx="1"/>
          </p:cNvCxnSpPr>
          <p:nvPr/>
        </p:nvCxnSpPr>
        <p:spPr>
          <a:xfrm rot="10800000" flipV="1">
            <a:off x="4418598" y="5147309"/>
            <a:ext cx="12700" cy="915471"/>
          </a:xfrm>
          <a:prstGeom prst="bentConnector3">
            <a:avLst>
              <a:gd name="adj1" fmla="val 180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4" name="직사각형 163"/>
          <p:cNvSpPr/>
          <p:nvPr/>
        </p:nvSpPr>
        <p:spPr>
          <a:xfrm>
            <a:off x="6222687" y="5109982"/>
            <a:ext cx="1833346" cy="237576"/>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수계자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21)</a:t>
            </a:r>
          </a:p>
        </p:txBody>
      </p:sp>
      <p:sp>
        <p:nvSpPr>
          <p:cNvPr id="165" name="직사각형 164"/>
          <p:cNvSpPr/>
          <p:nvPr/>
        </p:nvSpPr>
        <p:spPr>
          <a:xfrm>
            <a:off x="6222687" y="5417722"/>
            <a:ext cx="1833346" cy="237576"/>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수계방법</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22)</a:t>
            </a:r>
          </a:p>
        </p:txBody>
      </p:sp>
      <p:sp>
        <p:nvSpPr>
          <p:cNvPr id="166" name="직사각형 165"/>
          <p:cNvSpPr/>
          <p:nvPr/>
        </p:nvSpPr>
        <p:spPr>
          <a:xfrm>
            <a:off x="6222687" y="5827542"/>
            <a:ext cx="1833346" cy="237576"/>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당연중지</a:t>
            </a:r>
            <a:r>
              <a:rPr lang="ko-KR" altLang="en-US" sz="1000" dirty="0">
                <a:solidFill>
                  <a:schemeClr val="tx1"/>
                </a:solidFill>
              </a:rPr>
              <a:t> 및 해소</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23①④)</a:t>
            </a:r>
          </a:p>
        </p:txBody>
      </p:sp>
      <p:sp>
        <p:nvSpPr>
          <p:cNvPr id="167" name="직사각형 166"/>
          <p:cNvSpPr/>
          <p:nvPr/>
        </p:nvSpPr>
        <p:spPr>
          <a:xfrm>
            <a:off x="6222687" y="6118040"/>
            <a:ext cx="1833346" cy="237576"/>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결정중지</a:t>
            </a:r>
            <a:r>
              <a:rPr lang="en-US" altLang="ko-KR" sz="1000" dirty="0">
                <a:solidFill>
                  <a:schemeClr val="tx1"/>
                </a:solidFill>
              </a:rPr>
              <a:t> </a:t>
            </a:r>
            <a:r>
              <a:rPr lang="ko-KR" altLang="en-US" sz="1000" dirty="0">
                <a:solidFill>
                  <a:schemeClr val="tx1"/>
                </a:solidFill>
              </a:rPr>
              <a:t>및 해소</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23②③④)</a:t>
            </a:r>
          </a:p>
        </p:txBody>
      </p:sp>
      <p:sp>
        <p:nvSpPr>
          <p:cNvPr id="168" name="직사각형 167"/>
          <p:cNvSpPr/>
          <p:nvPr/>
        </p:nvSpPr>
        <p:spPr>
          <a:xfrm>
            <a:off x="8273516" y="5417722"/>
            <a:ext cx="1901436" cy="237576"/>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신청에 의한 수계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22①②③④)</a:t>
            </a:r>
          </a:p>
        </p:txBody>
      </p:sp>
      <p:sp>
        <p:nvSpPr>
          <p:cNvPr id="169" name="직사각형 168"/>
          <p:cNvSpPr/>
          <p:nvPr/>
        </p:nvSpPr>
        <p:spPr>
          <a:xfrm>
            <a:off x="8273516" y="5703666"/>
            <a:ext cx="1901436" cy="237576"/>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명령에 의한 수계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22⑤⑥⑦)</a:t>
            </a:r>
          </a:p>
        </p:txBody>
      </p:sp>
      <p:cxnSp>
        <p:nvCxnSpPr>
          <p:cNvPr id="170" name="꺾인 연결선 169"/>
          <p:cNvCxnSpPr>
            <a:stCxn id="158" idx="3"/>
            <a:endCxn id="162" idx="1"/>
          </p:cNvCxnSpPr>
          <p:nvPr/>
        </p:nvCxnSpPr>
        <p:spPr>
          <a:xfrm flipV="1">
            <a:off x="6027404" y="4930622"/>
            <a:ext cx="195283" cy="7163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꺾인 연결선 170"/>
          <p:cNvCxnSpPr>
            <a:stCxn id="158" idx="3"/>
            <a:endCxn id="165" idx="1"/>
          </p:cNvCxnSpPr>
          <p:nvPr/>
        </p:nvCxnSpPr>
        <p:spPr>
          <a:xfrm>
            <a:off x="6027404" y="5002254"/>
            <a:ext cx="195283" cy="53425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꺾인 연결선 171"/>
          <p:cNvCxnSpPr>
            <a:stCxn id="158" idx="3"/>
            <a:endCxn id="164" idx="1"/>
          </p:cNvCxnSpPr>
          <p:nvPr/>
        </p:nvCxnSpPr>
        <p:spPr>
          <a:xfrm>
            <a:off x="6027404" y="5002254"/>
            <a:ext cx="195283" cy="22651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꺾인 연결선 172"/>
          <p:cNvCxnSpPr>
            <a:stCxn id="160" idx="3"/>
            <a:endCxn id="166" idx="1"/>
          </p:cNvCxnSpPr>
          <p:nvPr/>
        </p:nvCxnSpPr>
        <p:spPr>
          <a:xfrm flipV="1">
            <a:off x="6027404" y="5946330"/>
            <a:ext cx="195283" cy="18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꺾인 연결선 173"/>
          <p:cNvCxnSpPr>
            <a:stCxn id="161" idx="3"/>
            <a:endCxn id="167" idx="1"/>
          </p:cNvCxnSpPr>
          <p:nvPr/>
        </p:nvCxnSpPr>
        <p:spPr>
          <a:xfrm flipV="1">
            <a:off x="6027404" y="6236828"/>
            <a:ext cx="195283" cy="18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꺾인 연결선 174"/>
          <p:cNvCxnSpPr>
            <a:stCxn id="165" idx="3"/>
            <a:endCxn id="169" idx="1"/>
          </p:cNvCxnSpPr>
          <p:nvPr/>
        </p:nvCxnSpPr>
        <p:spPr>
          <a:xfrm>
            <a:off x="8056033" y="5536510"/>
            <a:ext cx="217483" cy="285944"/>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직선 연결선 175"/>
          <p:cNvCxnSpPr/>
          <p:nvPr/>
        </p:nvCxnSpPr>
        <p:spPr>
          <a:xfrm flipH="1">
            <a:off x="8485191" y="5536510"/>
            <a:ext cx="150821" cy="0"/>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7" name="직사각형 176"/>
          <p:cNvSpPr/>
          <p:nvPr/>
        </p:nvSpPr>
        <p:spPr>
          <a:xfrm>
            <a:off x="10920621" y="5181349"/>
            <a:ext cx="674515" cy="621783"/>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정지</a:t>
            </a:r>
            <a:endParaRPr lang="en-US" altLang="ko-KR" sz="1000" dirty="0">
              <a:solidFill>
                <a:schemeClr val="tx1"/>
              </a:solidFill>
            </a:endParaRPr>
          </a:p>
          <a:p>
            <a:pPr algn="ctr"/>
            <a:r>
              <a:rPr lang="ko-KR" altLang="en-US" sz="1000" dirty="0">
                <a:solidFill>
                  <a:schemeClr val="tx1"/>
                </a:solidFill>
              </a:rPr>
              <a:t>효과</a:t>
            </a:r>
            <a:endParaRPr lang="en-US" altLang="ko-KR" sz="1000" dirty="0">
              <a:solidFill>
                <a:schemeClr val="tx1"/>
              </a:solidFill>
            </a:endParaRPr>
          </a:p>
          <a:p>
            <a:pPr algn="ct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24)</a:t>
            </a:r>
            <a:endParaRPr lang="ko-KR" altLang="en-US" sz="1000" dirty="0">
              <a:solidFill>
                <a:schemeClr val="tx1"/>
              </a:solidFill>
            </a:endParaRPr>
          </a:p>
        </p:txBody>
      </p:sp>
      <p:sp>
        <p:nvSpPr>
          <p:cNvPr id="178" name="자유형 177"/>
          <p:cNvSpPr/>
          <p:nvPr/>
        </p:nvSpPr>
        <p:spPr>
          <a:xfrm>
            <a:off x="10316635" y="4885688"/>
            <a:ext cx="182413" cy="1515299"/>
          </a:xfrm>
          <a:custGeom>
            <a:avLst/>
            <a:gdLst>
              <a:gd name="connsiteX0" fmla="*/ 0 w 685800"/>
              <a:gd name="connsiteY0" fmla="*/ 0 h 2959100"/>
              <a:gd name="connsiteX1" fmla="*/ 685800 w 685800"/>
              <a:gd name="connsiteY1" fmla="*/ 0 h 2959100"/>
              <a:gd name="connsiteX2" fmla="*/ 685800 w 685800"/>
              <a:gd name="connsiteY2" fmla="*/ 2959100 h 2959100"/>
              <a:gd name="connsiteX3" fmla="*/ 114300 w 685800"/>
              <a:gd name="connsiteY3" fmla="*/ 2959100 h 2959100"/>
            </a:gdLst>
            <a:ahLst/>
            <a:cxnLst>
              <a:cxn ang="0">
                <a:pos x="connsiteX0" y="connsiteY0"/>
              </a:cxn>
              <a:cxn ang="0">
                <a:pos x="connsiteX1" y="connsiteY1"/>
              </a:cxn>
              <a:cxn ang="0">
                <a:pos x="connsiteX2" y="connsiteY2"/>
              </a:cxn>
              <a:cxn ang="0">
                <a:pos x="connsiteX3" y="connsiteY3"/>
              </a:cxn>
            </a:cxnLst>
            <a:rect l="l" t="t" r="r" b="b"/>
            <a:pathLst>
              <a:path w="685800" h="2959100">
                <a:moveTo>
                  <a:pt x="0" y="0"/>
                </a:moveTo>
                <a:lnTo>
                  <a:pt x="685800" y="0"/>
                </a:lnTo>
                <a:lnTo>
                  <a:pt x="685800" y="2959100"/>
                </a:lnTo>
                <a:lnTo>
                  <a:pt x="114300" y="2959100"/>
                </a:lnTo>
              </a:path>
            </a:pathLst>
          </a:cu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cxnSp>
        <p:nvCxnSpPr>
          <p:cNvPr id="179" name="직선 화살표 연결선 178"/>
          <p:cNvCxnSpPr>
            <a:endCxn id="177" idx="1"/>
          </p:cNvCxnSpPr>
          <p:nvPr/>
        </p:nvCxnSpPr>
        <p:spPr>
          <a:xfrm>
            <a:off x="10499050" y="5492241"/>
            <a:ext cx="421572" cy="1"/>
          </a:xfrm>
          <a:prstGeom prst="straightConnector1">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1" name="꺾인 연결선 220"/>
          <p:cNvCxnSpPr>
            <a:stCxn id="165" idx="3"/>
            <a:endCxn id="168" idx="1"/>
          </p:cNvCxnSpPr>
          <p:nvPr/>
        </p:nvCxnSpPr>
        <p:spPr>
          <a:xfrm>
            <a:off x="8056033" y="5536510"/>
            <a:ext cx="217483" cy="12700"/>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5" name="직사각형 224"/>
          <p:cNvSpPr/>
          <p:nvPr/>
        </p:nvSpPr>
        <p:spPr>
          <a:xfrm>
            <a:off x="4063993" y="1172217"/>
            <a:ext cx="3479807" cy="307805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ko-KR" altLang="en-US" dirty="0">
                <a:solidFill>
                  <a:schemeClr val="accent2">
                    <a:lumMod val="50000"/>
                  </a:schemeClr>
                </a:solidFill>
              </a:rPr>
              <a:t>기일과 기간</a:t>
            </a:r>
            <a:r>
              <a:rPr lang="en-US" altLang="ko-KR" dirty="0">
                <a:solidFill>
                  <a:schemeClr val="accent2">
                    <a:lumMod val="50000"/>
                  </a:schemeClr>
                </a:solidFill>
              </a:rPr>
              <a:t>(</a:t>
            </a:r>
            <a:r>
              <a:rPr lang="ko-KR" altLang="en-US" dirty="0">
                <a:solidFill>
                  <a:schemeClr val="accent2">
                    <a:lumMod val="50000"/>
                  </a:schemeClr>
                </a:solidFill>
              </a:rPr>
              <a:t>法 </a:t>
            </a:r>
            <a:r>
              <a:rPr lang="en-US" altLang="ko-KR" dirty="0">
                <a:solidFill>
                  <a:schemeClr val="accent2">
                    <a:lumMod val="50000"/>
                  </a:schemeClr>
                </a:solidFill>
              </a:rPr>
              <a:t>14, 15)</a:t>
            </a:r>
          </a:p>
        </p:txBody>
      </p:sp>
      <p:sp>
        <p:nvSpPr>
          <p:cNvPr id="226" name="직사각형 225"/>
          <p:cNvSpPr/>
          <p:nvPr/>
        </p:nvSpPr>
        <p:spPr>
          <a:xfrm>
            <a:off x="7670793" y="1172217"/>
            <a:ext cx="4131740" cy="307805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ko-KR" altLang="en-US" dirty="0">
                <a:solidFill>
                  <a:schemeClr val="accent2">
                    <a:lumMod val="50000"/>
                  </a:schemeClr>
                </a:solidFill>
              </a:rPr>
              <a:t>특허에 관한 절차 일반</a:t>
            </a:r>
            <a:r>
              <a:rPr lang="en-US" altLang="ko-KR" dirty="0">
                <a:solidFill>
                  <a:schemeClr val="accent2">
                    <a:lumMod val="50000"/>
                  </a:schemeClr>
                </a:solidFill>
              </a:rPr>
              <a:t>(</a:t>
            </a:r>
            <a:r>
              <a:rPr lang="ko-KR" altLang="en-US" dirty="0">
                <a:solidFill>
                  <a:schemeClr val="accent2">
                    <a:lumMod val="50000"/>
                  </a:schemeClr>
                </a:solidFill>
              </a:rPr>
              <a:t>法 </a:t>
            </a:r>
            <a:r>
              <a:rPr lang="en-US" altLang="ko-KR" dirty="0">
                <a:solidFill>
                  <a:schemeClr val="accent2">
                    <a:lumMod val="50000"/>
                  </a:schemeClr>
                </a:solidFill>
              </a:rPr>
              <a:t>16, 28~28</a:t>
            </a:r>
            <a:r>
              <a:rPr lang="ko-KR" altLang="en-US" dirty="0">
                <a:solidFill>
                  <a:schemeClr val="accent2">
                    <a:lumMod val="50000"/>
                  </a:schemeClr>
                </a:solidFill>
              </a:rPr>
              <a:t>의</a:t>
            </a:r>
            <a:r>
              <a:rPr lang="en-US" altLang="ko-KR" dirty="0">
                <a:solidFill>
                  <a:schemeClr val="accent2">
                    <a:lumMod val="50000"/>
                  </a:schemeClr>
                </a:solidFill>
              </a:rPr>
              <a:t>5)</a:t>
            </a:r>
          </a:p>
        </p:txBody>
      </p:sp>
      <p:sp>
        <p:nvSpPr>
          <p:cNvPr id="227" name="직사각형 226"/>
          <p:cNvSpPr/>
          <p:nvPr/>
        </p:nvSpPr>
        <p:spPr>
          <a:xfrm>
            <a:off x="4063993" y="4340926"/>
            <a:ext cx="7738540" cy="2200351"/>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ko-KR" altLang="en-US" dirty="0">
                <a:solidFill>
                  <a:schemeClr val="accent2">
                    <a:lumMod val="50000"/>
                  </a:schemeClr>
                </a:solidFill>
              </a:rPr>
              <a:t>절차의 정지</a:t>
            </a:r>
            <a:r>
              <a:rPr lang="en-US" altLang="ko-KR" dirty="0">
                <a:solidFill>
                  <a:schemeClr val="accent2">
                    <a:lumMod val="50000"/>
                  </a:schemeClr>
                </a:solidFill>
              </a:rPr>
              <a:t>(</a:t>
            </a:r>
            <a:r>
              <a:rPr lang="ko-KR" altLang="en-US" dirty="0">
                <a:solidFill>
                  <a:schemeClr val="accent2">
                    <a:lumMod val="50000"/>
                  </a:schemeClr>
                </a:solidFill>
              </a:rPr>
              <a:t>法 </a:t>
            </a:r>
            <a:r>
              <a:rPr lang="en-US" altLang="ko-KR" dirty="0">
                <a:solidFill>
                  <a:schemeClr val="accent2">
                    <a:lumMod val="50000"/>
                  </a:schemeClr>
                </a:solidFill>
              </a:rPr>
              <a:t>20~24, 78, 164)</a:t>
            </a:r>
          </a:p>
        </p:txBody>
      </p:sp>
    </p:spTree>
    <p:extLst>
      <p:ext uri="{BB962C8B-B14F-4D97-AF65-F5344CB8AC3E}">
        <p14:creationId xmlns:p14="http://schemas.microsoft.com/office/powerpoint/2010/main" val="41776188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fld id="{3875FC6C-1516-4DC4-8C58-3090F7D4F003}" type="slidenum">
              <a:rPr lang="ko-KR" altLang="en-US" smtClean="0"/>
              <a:t>47</a:t>
            </a:fld>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err="1"/>
              <a:t>보칙</a:t>
            </a:r>
            <a:r>
              <a:rPr lang="ko-KR" altLang="en-US" dirty="0"/>
              <a:t> 체계</a:t>
            </a:r>
            <a:r>
              <a:rPr lang="en-US" altLang="ko-KR" dirty="0"/>
              <a:t>: </a:t>
            </a:r>
            <a:r>
              <a:rPr lang="ko-KR" altLang="en-US" dirty="0"/>
              <a:t>제</a:t>
            </a:r>
            <a:r>
              <a:rPr lang="en-US" altLang="ko-KR" dirty="0"/>
              <a:t>11</a:t>
            </a:r>
            <a:r>
              <a:rPr lang="ko-KR" altLang="en-US" dirty="0"/>
              <a:t>장</a:t>
            </a:r>
          </a:p>
        </p:txBody>
      </p:sp>
      <p:sp>
        <p:nvSpPr>
          <p:cNvPr id="5" name="직사각형 4"/>
          <p:cNvSpPr/>
          <p:nvPr/>
        </p:nvSpPr>
        <p:spPr>
          <a:xfrm>
            <a:off x="487392" y="3552922"/>
            <a:ext cx="602531" cy="607352"/>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600" dirty="0" err="1"/>
              <a:t>보칙</a:t>
            </a:r>
            <a:endParaRPr lang="ko-KR" altLang="en-US" sz="1600" dirty="0"/>
          </a:p>
        </p:txBody>
      </p:sp>
      <p:sp>
        <p:nvSpPr>
          <p:cNvPr id="7" name="직사각형 6"/>
          <p:cNvSpPr/>
          <p:nvPr/>
        </p:nvSpPr>
        <p:spPr>
          <a:xfrm>
            <a:off x="1440036" y="1337062"/>
            <a:ext cx="3716682"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err="1">
                <a:solidFill>
                  <a:schemeClr val="tx1"/>
                </a:solidFill>
              </a:rPr>
              <a:t>청구항별</a:t>
            </a:r>
            <a:r>
              <a:rPr lang="ko-KR" altLang="en-US" sz="1100" dirty="0">
                <a:solidFill>
                  <a:schemeClr val="tx1"/>
                </a:solidFill>
              </a:rPr>
              <a:t> </a:t>
            </a:r>
            <a:r>
              <a:rPr lang="ko-KR" altLang="en-US" sz="1100" dirty="0" err="1">
                <a:solidFill>
                  <a:schemeClr val="tx1"/>
                </a:solidFill>
              </a:rPr>
              <a:t>특칙</a:t>
            </a:r>
            <a:endParaRPr lang="ko-KR" altLang="en-US" sz="1100" dirty="0">
              <a:solidFill>
                <a:schemeClr val="tx1"/>
              </a:solidFill>
            </a:endParaRPr>
          </a:p>
        </p:txBody>
      </p:sp>
      <p:sp>
        <p:nvSpPr>
          <p:cNvPr id="8" name="직사각형 7"/>
          <p:cNvSpPr/>
          <p:nvPr/>
        </p:nvSpPr>
        <p:spPr>
          <a:xfrm>
            <a:off x="1440036" y="1865713"/>
            <a:ext cx="3716682"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서류의 열람 등</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216)</a:t>
            </a:r>
            <a:endParaRPr lang="ko-KR" altLang="en-US" sz="1100" dirty="0">
              <a:solidFill>
                <a:schemeClr val="tx1"/>
              </a:solidFill>
            </a:endParaRPr>
          </a:p>
        </p:txBody>
      </p:sp>
      <p:sp>
        <p:nvSpPr>
          <p:cNvPr id="9" name="직사각형 8"/>
          <p:cNvSpPr/>
          <p:nvPr/>
        </p:nvSpPr>
        <p:spPr>
          <a:xfrm>
            <a:off x="1440036" y="2358580"/>
            <a:ext cx="3716682"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특허출원 등에 관한 서류 등의 반출 및 감정 등의 금지</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217)</a:t>
            </a:r>
            <a:endParaRPr lang="ko-KR" altLang="en-US" sz="1100" dirty="0">
              <a:solidFill>
                <a:schemeClr val="tx1"/>
              </a:solidFill>
            </a:endParaRPr>
          </a:p>
        </p:txBody>
      </p:sp>
      <p:sp>
        <p:nvSpPr>
          <p:cNvPr id="11" name="직사각형 10"/>
          <p:cNvSpPr/>
          <p:nvPr/>
        </p:nvSpPr>
        <p:spPr>
          <a:xfrm>
            <a:off x="1440036" y="2863921"/>
            <a:ext cx="3716682"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송달</a:t>
            </a:r>
          </a:p>
        </p:txBody>
      </p:sp>
      <p:sp>
        <p:nvSpPr>
          <p:cNvPr id="12" name="직사각형 11"/>
          <p:cNvSpPr/>
          <p:nvPr/>
        </p:nvSpPr>
        <p:spPr>
          <a:xfrm>
            <a:off x="1440036" y="3338142"/>
            <a:ext cx="3716682"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특허공보</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221)</a:t>
            </a:r>
            <a:endParaRPr lang="ko-KR" altLang="en-US" sz="1100" dirty="0">
              <a:solidFill>
                <a:schemeClr val="tx1"/>
              </a:solidFill>
            </a:endParaRPr>
          </a:p>
        </p:txBody>
      </p:sp>
      <p:sp>
        <p:nvSpPr>
          <p:cNvPr id="74" name="직사각형 73"/>
          <p:cNvSpPr/>
          <p:nvPr/>
        </p:nvSpPr>
        <p:spPr>
          <a:xfrm>
            <a:off x="1440036" y="3829583"/>
            <a:ext cx="3716682"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서류의 제출 등</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222)</a:t>
            </a:r>
            <a:endParaRPr lang="ko-KR" altLang="en-US" sz="1100" dirty="0">
              <a:solidFill>
                <a:schemeClr val="tx1"/>
              </a:solidFill>
            </a:endParaRPr>
          </a:p>
        </p:txBody>
      </p:sp>
      <p:sp>
        <p:nvSpPr>
          <p:cNvPr id="75" name="직사각형 74"/>
          <p:cNvSpPr/>
          <p:nvPr/>
        </p:nvSpPr>
        <p:spPr>
          <a:xfrm>
            <a:off x="1440036" y="4283933"/>
            <a:ext cx="3716682"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특허표시</a:t>
            </a:r>
          </a:p>
        </p:txBody>
      </p:sp>
      <p:sp>
        <p:nvSpPr>
          <p:cNvPr id="76" name="직사각형 75"/>
          <p:cNvSpPr/>
          <p:nvPr/>
        </p:nvSpPr>
        <p:spPr>
          <a:xfrm>
            <a:off x="1440036" y="4750682"/>
            <a:ext cx="3716682"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불복의 제한</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224</a:t>
            </a:r>
            <a:r>
              <a:rPr lang="ko-KR" altLang="en-US" sz="1100" dirty="0">
                <a:solidFill>
                  <a:schemeClr val="tx1"/>
                </a:solidFill>
              </a:rPr>
              <a:t>의</a:t>
            </a:r>
            <a:r>
              <a:rPr lang="en-US" altLang="ko-KR" sz="1100" dirty="0">
                <a:solidFill>
                  <a:schemeClr val="tx1"/>
                </a:solidFill>
              </a:rPr>
              <a:t>2)</a:t>
            </a:r>
            <a:endParaRPr lang="ko-KR" altLang="en-US" sz="1100" dirty="0">
              <a:solidFill>
                <a:schemeClr val="tx1"/>
              </a:solidFill>
            </a:endParaRPr>
          </a:p>
        </p:txBody>
      </p:sp>
      <p:sp>
        <p:nvSpPr>
          <p:cNvPr id="31" name="직사각형 30"/>
          <p:cNvSpPr/>
          <p:nvPr/>
        </p:nvSpPr>
        <p:spPr>
          <a:xfrm>
            <a:off x="1440036" y="5204220"/>
            <a:ext cx="3716682" cy="355666"/>
          </a:xfrm>
          <a:prstGeom prst="rect">
            <a:avLst/>
          </a:prstGeom>
          <a:solidFill>
            <a:schemeClr val="accent1">
              <a:lumMod val="20000"/>
              <a:lumOff val="80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100" dirty="0">
                <a:solidFill>
                  <a:schemeClr val="tx1"/>
                </a:solidFill>
              </a:rPr>
              <a:t>비밀유지명령제도</a:t>
            </a:r>
          </a:p>
        </p:txBody>
      </p:sp>
      <p:cxnSp>
        <p:nvCxnSpPr>
          <p:cNvPr id="15" name="꺾인 연결선 14"/>
          <p:cNvCxnSpPr>
            <a:cxnSpLocks/>
            <a:stCxn id="5" idx="3"/>
            <a:endCxn id="7" idx="1"/>
          </p:cNvCxnSpPr>
          <p:nvPr/>
        </p:nvCxnSpPr>
        <p:spPr>
          <a:xfrm flipV="1">
            <a:off x="1089923" y="1514895"/>
            <a:ext cx="350113" cy="234170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cxnSpLocks/>
            <a:stCxn id="5" idx="3"/>
            <a:endCxn id="8" idx="1"/>
          </p:cNvCxnSpPr>
          <p:nvPr/>
        </p:nvCxnSpPr>
        <p:spPr>
          <a:xfrm flipV="1">
            <a:off x="1089923" y="2043546"/>
            <a:ext cx="350113" cy="181305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cxnSpLocks/>
            <a:stCxn id="5" idx="3"/>
            <a:endCxn id="9" idx="1"/>
          </p:cNvCxnSpPr>
          <p:nvPr/>
        </p:nvCxnSpPr>
        <p:spPr>
          <a:xfrm flipV="1">
            <a:off x="1089923" y="2536413"/>
            <a:ext cx="350113" cy="132018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cxnSpLocks/>
            <a:stCxn id="5" idx="3"/>
            <a:endCxn id="74" idx="1"/>
          </p:cNvCxnSpPr>
          <p:nvPr/>
        </p:nvCxnSpPr>
        <p:spPr>
          <a:xfrm>
            <a:off x="1089923" y="3856598"/>
            <a:ext cx="350113" cy="150818"/>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cxnSpLocks/>
            <a:stCxn id="5" idx="3"/>
            <a:endCxn id="75" idx="1"/>
          </p:cNvCxnSpPr>
          <p:nvPr/>
        </p:nvCxnSpPr>
        <p:spPr>
          <a:xfrm>
            <a:off x="1089923" y="3856598"/>
            <a:ext cx="350113" cy="605168"/>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꺾인 연결선 28"/>
          <p:cNvCxnSpPr>
            <a:cxnSpLocks/>
            <a:stCxn id="5" idx="3"/>
            <a:endCxn id="76" idx="1"/>
          </p:cNvCxnSpPr>
          <p:nvPr/>
        </p:nvCxnSpPr>
        <p:spPr>
          <a:xfrm>
            <a:off x="1089923" y="3856598"/>
            <a:ext cx="350113" cy="107191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꺾인 연결선 33"/>
          <p:cNvCxnSpPr>
            <a:cxnSpLocks/>
            <a:stCxn id="5" idx="3"/>
            <a:endCxn id="31" idx="1"/>
          </p:cNvCxnSpPr>
          <p:nvPr/>
        </p:nvCxnSpPr>
        <p:spPr>
          <a:xfrm>
            <a:off x="1089923" y="3856598"/>
            <a:ext cx="350113" cy="152545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cxnSpLocks/>
            <a:stCxn id="5" idx="3"/>
            <a:endCxn id="11" idx="1"/>
          </p:cNvCxnSpPr>
          <p:nvPr/>
        </p:nvCxnSpPr>
        <p:spPr>
          <a:xfrm flipV="1">
            <a:off x="1089923" y="3041754"/>
            <a:ext cx="350113" cy="81484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cxnSpLocks/>
            <a:stCxn id="5" idx="3"/>
            <a:endCxn id="12" idx="1"/>
          </p:cNvCxnSpPr>
          <p:nvPr/>
        </p:nvCxnSpPr>
        <p:spPr>
          <a:xfrm flipV="1">
            <a:off x="1089923" y="3515975"/>
            <a:ext cx="350113" cy="34062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A7561D64-D708-01F7-5A4B-504C7ACBC1F5}"/>
              </a:ext>
            </a:extLst>
          </p:cNvPr>
          <p:cNvSpPr/>
          <p:nvPr/>
        </p:nvSpPr>
        <p:spPr>
          <a:xfrm>
            <a:off x="5704126" y="1112030"/>
            <a:ext cx="5729884"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둘 이상의 청구항이 있는 특허 또는 특허권에 관한 </a:t>
            </a:r>
            <a:r>
              <a:rPr lang="ko-KR" altLang="en-US" sz="1100" dirty="0" err="1">
                <a:solidFill>
                  <a:schemeClr val="tx1"/>
                </a:solidFill>
              </a:rPr>
              <a:t>특칙</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215)</a:t>
            </a:r>
            <a:endParaRPr lang="ko-KR" altLang="en-US" sz="1100" dirty="0">
              <a:solidFill>
                <a:schemeClr val="tx1"/>
              </a:solidFill>
            </a:endParaRPr>
          </a:p>
        </p:txBody>
      </p:sp>
      <p:cxnSp>
        <p:nvCxnSpPr>
          <p:cNvPr id="54" name="연결선: 꺾임 53">
            <a:extLst>
              <a:ext uri="{FF2B5EF4-FFF2-40B4-BE49-F238E27FC236}">
                <a16:creationId xmlns:a16="http://schemas.microsoft.com/office/drawing/2014/main" id="{9991B1FB-102D-38F3-6167-610F214A0294}"/>
              </a:ext>
            </a:extLst>
          </p:cNvPr>
          <p:cNvCxnSpPr>
            <a:cxnSpLocks/>
            <a:stCxn id="7" idx="3"/>
            <a:endCxn id="52" idx="1"/>
          </p:cNvCxnSpPr>
          <p:nvPr/>
        </p:nvCxnSpPr>
        <p:spPr>
          <a:xfrm flipV="1">
            <a:off x="5156718" y="1289863"/>
            <a:ext cx="547408" cy="22503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직사각형 56">
            <a:extLst>
              <a:ext uri="{FF2B5EF4-FFF2-40B4-BE49-F238E27FC236}">
                <a16:creationId xmlns:a16="http://schemas.microsoft.com/office/drawing/2014/main" id="{D3C0CCDF-B8ED-3F66-2266-D27D2FB58B34}"/>
              </a:ext>
            </a:extLst>
          </p:cNvPr>
          <p:cNvSpPr/>
          <p:nvPr/>
        </p:nvSpPr>
        <p:spPr>
          <a:xfrm>
            <a:off x="5704126" y="1556613"/>
            <a:ext cx="5729884"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둘 이상의 청구항이 있는 특허출원의 등록에 관한 </a:t>
            </a:r>
            <a:r>
              <a:rPr lang="ko-KR" altLang="en-US" sz="1100" dirty="0" err="1">
                <a:solidFill>
                  <a:schemeClr val="tx1"/>
                </a:solidFill>
              </a:rPr>
              <a:t>특칙</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215</a:t>
            </a:r>
            <a:r>
              <a:rPr lang="ko-KR" altLang="en-US" sz="1100" dirty="0">
                <a:solidFill>
                  <a:schemeClr val="tx1"/>
                </a:solidFill>
              </a:rPr>
              <a:t>의</a:t>
            </a:r>
            <a:r>
              <a:rPr lang="en-US" altLang="ko-KR" sz="1100" dirty="0">
                <a:solidFill>
                  <a:schemeClr val="tx1"/>
                </a:solidFill>
              </a:rPr>
              <a:t>2)</a:t>
            </a:r>
            <a:endParaRPr lang="ko-KR" altLang="en-US" sz="1100" dirty="0">
              <a:solidFill>
                <a:schemeClr val="tx1"/>
              </a:solidFill>
            </a:endParaRPr>
          </a:p>
        </p:txBody>
      </p:sp>
      <p:cxnSp>
        <p:nvCxnSpPr>
          <p:cNvPr id="59" name="연결선: 꺾임 58">
            <a:extLst>
              <a:ext uri="{FF2B5EF4-FFF2-40B4-BE49-F238E27FC236}">
                <a16:creationId xmlns:a16="http://schemas.microsoft.com/office/drawing/2014/main" id="{25107319-0ADB-3E3F-9FC3-86D4534743CE}"/>
              </a:ext>
            </a:extLst>
          </p:cNvPr>
          <p:cNvCxnSpPr>
            <a:cxnSpLocks/>
            <a:stCxn id="7" idx="3"/>
            <a:endCxn id="57" idx="1"/>
          </p:cNvCxnSpPr>
          <p:nvPr/>
        </p:nvCxnSpPr>
        <p:spPr>
          <a:xfrm>
            <a:off x="5156718" y="1514895"/>
            <a:ext cx="547408" cy="21955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직사각형 65">
            <a:extLst>
              <a:ext uri="{FF2B5EF4-FFF2-40B4-BE49-F238E27FC236}">
                <a16:creationId xmlns:a16="http://schemas.microsoft.com/office/drawing/2014/main" id="{61C8E41C-B901-EDE0-9208-3432BAF563C7}"/>
              </a:ext>
            </a:extLst>
          </p:cNvPr>
          <p:cNvSpPr/>
          <p:nvPr/>
        </p:nvSpPr>
        <p:spPr>
          <a:xfrm>
            <a:off x="5704126" y="2415216"/>
            <a:ext cx="5729884"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서류의 송달</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218)</a:t>
            </a:r>
            <a:endParaRPr lang="ko-KR" altLang="en-US" sz="1100" dirty="0">
              <a:solidFill>
                <a:schemeClr val="tx1"/>
              </a:solidFill>
            </a:endParaRPr>
          </a:p>
        </p:txBody>
      </p:sp>
      <p:sp>
        <p:nvSpPr>
          <p:cNvPr id="67" name="직사각형 66">
            <a:extLst>
              <a:ext uri="{FF2B5EF4-FFF2-40B4-BE49-F238E27FC236}">
                <a16:creationId xmlns:a16="http://schemas.microsoft.com/office/drawing/2014/main" id="{00FE2256-5396-D157-DDCF-7C3FFCB09796}"/>
              </a:ext>
            </a:extLst>
          </p:cNvPr>
          <p:cNvSpPr/>
          <p:nvPr/>
        </p:nvSpPr>
        <p:spPr>
          <a:xfrm>
            <a:off x="5704126" y="2859799"/>
            <a:ext cx="5729884"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공시송달</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219)</a:t>
            </a:r>
            <a:endParaRPr lang="ko-KR" altLang="en-US" sz="1100" dirty="0">
              <a:solidFill>
                <a:schemeClr val="tx1"/>
              </a:solidFill>
            </a:endParaRPr>
          </a:p>
        </p:txBody>
      </p:sp>
      <p:sp>
        <p:nvSpPr>
          <p:cNvPr id="68" name="직사각형 67">
            <a:extLst>
              <a:ext uri="{FF2B5EF4-FFF2-40B4-BE49-F238E27FC236}">
                <a16:creationId xmlns:a16="http://schemas.microsoft.com/office/drawing/2014/main" id="{5382445E-F29F-6EC0-E79A-6E0D5259048E}"/>
              </a:ext>
            </a:extLst>
          </p:cNvPr>
          <p:cNvSpPr/>
          <p:nvPr/>
        </p:nvSpPr>
        <p:spPr>
          <a:xfrm>
            <a:off x="5704126" y="3301285"/>
            <a:ext cx="5729884"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재외자에 대한 송달</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220)</a:t>
            </a:r>
            <a:endParaRPr lang="ko-KR" altLang="en-US" sz="1100" dirty="0">
              <a:solidFill>
                <a:schemeClr val="tx1"/>
              </a:solidFill>
            </a:endParaRPr>
          </a:p>
        </p:txBody>
      </p:sp>
      <p:cxnSp>
        <p:nvCxnSpPr>
          <p:cNvPr id="69" name="연결선: 꺾임 68">
            <a:extLst>
              <a:ext uri="{FF2B5EF4-FFF2-40B4-BE49-F238E27FC236}">
                <a16:creationId xmlns:a16="http://schemas.microsoft.com/office/drawing/2014/main" id="{87AD073A-1CC2-D4F8-052E-0ABB068CE04E}"/>
              </a:ext>
            </a:extLst>
          </p:cNvPr>
          <p:cNvCxnSpPr>
            <a:cxnSpLocks/>
            <a:stCxn id="11" idx="3"/>
            <a:endCxn id="68" idx="1"/>
          </p:cNvCxnSpPr>
          <p:nvPr/>
        </p:nvCxnSpPr>
        <p:spPr>
          <a:xfrm>
            <a:off x="5156718" y="3041754"/>
            <a:ext cx="547408" cy="437364"/>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연결선: 꺾임 71">
            <a:extLst>
              <a:ext uri="{FF2B5EF4-FFF2-40B4-BE49-F238E27FC236}">
                <a16:creationId xmlns:a16="http://schemas.microsoft.com/office/drawing/2014/main" id="{5A174E7E-F06E-4498-9A01-2953A0D5DB81}"/>
              </a:ext>
            </a:extLst>
          </p:cNvPr>
          <p:cNvCxnSpPr>
            <a:cxnSpLocks/>
            <a:stCxn id="11" idx="3"/>
            <a:endCxn id="66" idx="1"/>
          </p:cNvCxnSpPr>
          <p:nvPr/>
        </p:nvCxnSpPr>
        <p:spPr>
          <a:xfrm flipV="1">
            <a:off x="5156718" y="2593049"/>
            <a:ext cx="547408" cy="448705"/>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연결선: 꺾임 77">
            <a:extLst>
              <a:ext uri="{FF2B5EF4-FFF2-40B4-BE49-F238E27FC236}">
                <a16:creationId xmlns:a16="http://schemas.microsoft.com/office/drawing/2014/main" id="{0EBAC462-58F8-D465-C1FA-1887C7FBBC83}"/>
              </a:ext>
            </a:extLst>
          </p:cNvPr>
          <p:cNvCxnSpPr>
            <a:cxnSpLocks/>
            <a:stCxn id="11" idx="3"/>
            <a:endCxn id="67" idx="1"/>
          </p:cNvCxnSpPr>
          <p:nvPr/>
        </p:nvCxnSpPr>
        <p:spPr>
          <a:xfrm flipV="1">
            <a:off x="5156718" y="3037632"/>
            <a:ext cx="547408" cy="4122"/>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직사각형 80">
            <a:extLst>
              <a:ext uri="{FF2B5EF4-FFF2-40B4-BE49-F238E27FC236}">
                <a16:creationId xmlns:a16="http://schemas.microsoft.com/office/drawing/2014/main" id="{0C1AFF6D-5744-1D7F-B268-0CD8CC4A0AF2}"/>
              </a:ext>
            </a:extLst>
          </p:cNvPr>
          <p:cNvSpPr/>
          <p:nvPr/>
        </p:nvSpPr>
        <p:spPr>
          <a:xfrm>
            <a:off x="5704126" y="4070082"/>
            <a:ext cx="5729884"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특허표시 및 </a:t>
            </a:r>
            <a:r>
              <a:rPr lang="ko-KR" altLang="en-US" sz="1100" dirty="0" err="1">
                <a:solidFill>
                  <a:schemeClr val="tx1"/>
                </a:solidFill>
              </a:rPr>
              <a:t>특허출원표시</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223)</a:t>
            </a:r>
            <a:endParaRPr lang="ko-KR" altLang="en-US" sz="1100" dirty="0">
              <a:solidFill>
                <a:schemeClr val="tx1"/>
              </a:solidFill>
            </a:endParaRPr>
          </a:p>
        </p:txBody>
      </p:sp>
      <p:cxnSp>
        <p:nvCxnSpPr>
          <p:cNvPr id="83" name="연결선: 꺾임 82">
            <a:extLst>
              <a:ext uri="{FF2B5EF4-FFF2-40B4-BE49-F238E27FC236}">
                <a16:creationId xmlns:a16="http://schemas.microsoft.com/office/drawing/2014/main" id="{6F678608-9B14-C974-F14F-A1018C86E276}"/>
              </a:ext>
            </a:extLst>
          </p:cNvPr>
          <p:cNvCxnSpPr>
            <a:cxnSpLocks/>
            <a:stCxn id="75" idx="3"/>
            <a:endCxn id="81" idx="1"/>
          </p:cNvCxnSpPr>
          <p:nvPr/>
        </p:nvCxnSpPr>
        <p:spPr>
          <a:xfrm flipV="1">
            <a:off x="5156718" y="4247915"/>
            <a:ext cx="547408" cy="21385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직사각형 84">
            <a:extLst>
              <a:ext uri="{FF2B5EF4-FFF2-40B4-BE49-F238E27FC236}">
                <a16:creationId xmlns:a16="http://schemas.microsoft.com/office/drawing/2014/main" id="{4C651B9C-0309-7CCD-BAD6-32B78258D939}"/>
              </a:ext>
            </a:extLst>
          </p:cNvPr>
          <p:cNvSpPr/>
          <p:nvPr/>
        </p:nvSpPr>
        <p:spPr>
          <a:xfrm>
            <a:off x="5704126" y="4514665"/>
            <a:ext cx="5729884"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허위표시의 금지</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224)</a:t>
            </a:r>
            <a:endParaRPr lang="ko-KR" altLang="en-US" sz="1100" dirty="0">
              <a:solidFill>
                <a:schemeClr val="tx1"/>
              </a:solidFill>
            </a:endParaRPr>
          </a:p>
        </p:txBody>
      </p:sp>
      <p:cxnSp>
        <p:nvCxnSpPr>
          <p:cNvPr id="86" name="연결선: 꺾임 85">
            <a:extLst>
              <a:ext uri="{FF2B5EF4-FFF2-40B4-BE49-F238E27FC236}">
                <a16:creationId xmlns:a16="http://schemas.microsoft.com/office/drawing/2014/main" id="{2DC005C0-F22B-4D91-2568-8FEF8DFA282A}"/>
              </a:ext>
            </a:extLst>
          </p:cNvPr>
          <p:cNvCxnSpPr>
            <a:cxnSpLocks/>
            <a:stCxn id="75" idx="3"/>
            <a:endCxn id="85" idx="1"/>
          </p:cNvCxnSpPr>
          <p:nvPr/>
        </p:nvCxnSpPr>
        <p:spPr>
          <a:xfrm>
            <a:off x="5156718" y="4461766"/>
            <a:ext cx="547408" cy="23073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직사각형 88">
            <a:extLst>
              <a:ext uri="{FF2B5EF4-FFF2-40B4-BE49-F238E27FC236}">
                <a16:creationId xmlns:a16="http://schemas.microsoft.com/office/drawing/2014/main" id="{C40A369E-F3DE-D8BC-A653-B1ED4DE5688A}"/>
              </a:ext>
            </a:extLst>
          </p:cNvPr>
          <p:cNvSpPr/>
          <p:nvPr/>
        </p:nvSpPr>
        <p:spPr>
          <a:xfrm>
            <a:off x="5704126" y="5194545"/>
            <a:ext cx="5729884"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비밀유지명령</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224</a:t>
            </a:r>
            <a:r>
              <a:rPr lang="ko-KR" altLang="en-US" sz="1100" dirty="0">
                <a:solidFill>
                  <a:schemeClr val="tx1"/>
                </a:solidFill>
              </a:rPr>
              <a:t>의</a:t>
            </a:r>
            <a:r>
              <a:rPr lang="en-US" altLang="ko-KR" sz="1100" dirty="0">
                <a:solidFill>
                  <a:schemeClr val="tx1"/>
                </a:solidFill>
              </a:rPr>
              <a:t>3)</a:t>
            </a:r>
            <a:endParaRPr lang="ko-KR" altLang="en-US" sz="1100" dirty="0">
              <a:solidFill>
                <a:schemeClr val="tx1"/>
              </a:solidFill>
            </a:endParaRPr>
          </a:p>
        </p:txBody>
      </p:sp>
      <p:sp>
        <p:nvSpPr>
          <p:cNvPr id="90" name="직사각형 89">
            <a:extLst>
              <a:ext uri="{FF2B5EF4-FFF2-40B4-BE49-F238E27FC236}">
                <a16:creationId xmlns:a16="http://schemas.microsoft.com/office/drawing/2014/main" id="{7B04D0E2-4F14-D18C-591F-B9E5DCEB6684}"/>
              </a:ext>
            </a:extLst>
          </p:cNvPr>
          <p:cNvSpPr/>
          <p:nvPr/>
        </p:nvSpPr>
        <p:spPr>
          <a:xfrm>
            <a:off x="5704126" y="5639128"/>
            <a:ext cx="5729884"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비밀유지명령의 취소</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224</a:t>
            </a:r>
            <a:r>
              <a:rPr lang="ko-KR" altLang="en-US" sz="1100" dirty="0">
                <a:solidFill>
                  <a:schemeClr val="tx1"/>
                </a:solidFill>
              </a:rPr>
              <a:t>의</a:t>
            </a:r>
            <a:r>
              <a:rPr lang="en-US" altLang="ko-KR" sz="1100" dirty="0">
                <a:solidFill>
                  <a:schemeClr val="tx1"/>
                </a:solidFill>
              </a:rPr>
              <a:t>4)</a:t>
            </a:r>
            <a:endParaRPr lang="ko-KR" altLang="en-US" sz="1100" dirty="0">
              <a:solidFill>
                <a:schemeClr val="tx1"/>
              </a:solidFill>
            </a:endParaRPr>
          </a:p>
        </p:txBody>
      </p:sp>
      <p:sp>
        <p:nvSpPr>
          <p:cNvPr id="91" name="직사각형 90">
            <a:extLst>
              <a:ext uri="{FF2B5EF4-FFF2-40B4-BE49-F238E27FC236}">
                <a16:creationId xmlns:a16="http://schemas.microsoft.com/office/drawing/2014/main" id="{E6ED078E-CE5C-F0DD-8A62-647E07BD6454}"/>
              </a:ext>
            </a:extLst>
          </p:cNvPr>
          <p:cNvSpPr/>
          <p:nvPr/>
        </p:nvSpPr>
        <p:spPr>
          <a:xfrm>
            <a:off x="5704126" y="6080614"/>
            <a:ext cx="5729884" cy="355666"/>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1"/>
                </a:solidFill>
              </a:rPr>
              <a:t>소송기록 열람 등의 청구 통지 등</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224</a:t>
            </a:r>
            <a:r>
              <a:rPr lang="ko-KR" altLang="en-US" sz="1100" dirty="0">
                <a:solidFill>
                  <a:schemeClr val="tx1"/>
                </a:solidFill>
              </a:rPr>
              <a:t>의</a:t>
            </a:r>
            <a:r>
              <a:rPr lang="en-US" altLang="ko-KR" sz="1100" dirty="0">
                <a:solidFill>
                  <a:schemeClr val="tx1"/>
                </a:solidFill>
              </a:rPr>
              <a:t>5)</a:t>
            </a:r>
            <a:endParaRPr lang="ko-KR" altLang="en-US" sz="1100" dirty="0">
              <a:solidFill>
                <a:schemeClr val="tx1"/>
              </a:solidFill>
            </a:endParaRPr>
          </a:p>
        </p:txBody>
      </p:sp>
      <p:cxnSp>
        <p:nvCxnSpPr>
          <p:cNvPr id="92" name="연결선: 꺾임 91">
            <a:extLst>
              <a:ext uri="{FF2B5EF4-FFF2-40B4-BE49-F238E27FC236}">
                <a16:creationId xmlns:a16="http://schemas.microsoft.com/office/drawing/2014/main" id="{0F9239BB-8C01-A45B-31C3-E4A74E8BE133}"/>
              </a:ext>
            </a:extLst>
          </p:cNvPr>
          <p:cNvCxnSpPr>
            <a:cxnSpLocks/>
            <a:stCxn id="31" idx="3"/>
            <a:endCxn id="91" idx="1"/>
          </p:cNvCxnSpPr>
          <p:nvPr/>
        </p:nvCxnSpPr>
        <p:spPr>
          <a:xfrm>
            <a:off x="5156718" y="5382053"/>
            <a:ext cx="547408" cy="876394"/>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연결선: 꺾임 92">
            <a:extLst>
              <a:ext uri="{FF2B5EF4-FFF2-40B4-BE49-F238E27FC236}">
                <a16:creationId xmlns:a16="http://schemas.microsoft.com/office/drawing/2014/main" id="{F97E412A-709B-E03B-6690-81DC35F70DC2}"/>
              </a:ext>
            </a:extLst>
          </p:cNvPr>
          <p:cNvCxnSpPr>
            <a:cxnSpLocks/>
            <a:stCxn id="31" idx="3"/>
            <a:endCxn id="89" idx="1"/>
          </p:cNvCxnSpPr>
          <p:nvPr/>
        </p:nvCxnSpPr>
        <p:spPr>
          <a:xfrm flipV="1">
            <a:off x="5156718" y="5372378"/>
            <a:ext cx="547408" cy="9675"/>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연결선: 꺾임 94">
            <a:extLst>
              <a:ext uri="{FF2B5EF4-FFF2-40B4-BE49-F238E27FC236}">
                <a16:creationId xmlns:a16="http://schemas.microsoft.com/office/drawing/2014/main" id="{FEBB8321-5547-F4DC-4614-D459E85476E5}"/>
              </a:ext>
            </a:extLst>
          </p:cNvPr>
          <p:cNvCxnSpPr>
            <a:cxnSpLocks/>
            <a:stCxn id="31" idx="3"/>
            <a:endCxn id="90" idx="1"/>
          </p:cNvCxnSpPr>
          <p:nvPr/>
        </p:nvCxnSpPr>
        <p:spPr>
          <a:xfrm>
            <a:off x="5156718" y="5382053"/>
            <a:ext cx="547408" cy="434908"/>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1741160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216</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서류의 열람 등</a:t>
            </a:r>
          </a:p>
        </p:txBody>
      </p:sp>
      <p:sp>
        <p:nvSpPr>
          <p:cNvPr id="2" name="슬라이드 번호 개체 틀 1"/>
          <p:cNvSpPr>
            <a:spLocks noGrp="1"/>
          </p:cNvSpPr>
          <p:nvPr>
            <p:ph type="sldNum" sz="quarter" idx="4294967295"/>
          </p:nvPr>
        </p:nvSpPr>
        <p:spPr>
          <a:xfrm>
            <a:off x="11129963" y="0"/>
            <a:ext cx="1062037" cy="733425"/>
          </a:xfrm>
        </p:spPr>
        <p:txBody>
          <a:bodyPr/>
          <a:lstStyle/>
          <a:p>
            <a:fld id="{3875FC6C-1516-4DC4-8C58-3090F7D4F003}" type="slidenum">
              <a:rPr lang="ko-KR" altLang="en-US" smtClean="0"/>
              <a:t>48</a:t>
            </a:fld>
            <a:endParaRPr lang="ko-KR" altLang="en-US"/>
          </a:p>
        </p:txBody>
      </p:sp>
      <p:cxnSp>
        <p:nvCxnSpPr>
          <p:cNvPr id="5" name="직선 화살표 연결선 4"/>
          <p:cNvCxnSpPr/>
          <p:nvPr/>
        </p:nvCxnSpPr>
        <p:spPr>
          <a:xfrm>
            <a:off x="508000" y="3893448"/>
            <a:ext cx="4432300"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 name="직선 화살표 연결선 6"/>
          <p:cNvCxnSpPr/>
          <p:nvPr/>
        </p:nvCxnSpPr>
        <p:spPr>
          <a:xfrm>
            <a:off x="914400" y="3577067"/>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514396" y="3263387"/>
            <a:ext cx="832279" cy="307777"/>
          </a:xfrm>
          <a:prstGeom prst="rect">
            <a:avLst/>
          </a:prstGeom>
          <a:noFill/>
        </p:spPr>
        <p:txBody>
          <a:bodyPr wrap="none" rtlCol="0">
            <a:spAutoFit/>
          </a:bodyPr>
          <a:lstStyle/>
          <a:p>
            <a:pPr algn="ctr"/>
            <a:r>
              <a:rPr lang="ko-KR" altLang="en-US" sz="1400" dirty="0"/>
              <a:t>특허출원</a:t>
            </a:r>
          </a:p>
        </p:txBody>
      </p:sp>
      <p:cxnSp>
        <p:nvCxnSpPr>
          <p:cNvPr id="107" name="직선 연결선 106"/>
          <p:cNvCxnSpPr/>
          <p:nvPr/>
        </p:nvCxnSpPr>
        <p:spPr>
          <a:xfrm>
            <a:off x="0" y="216927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8" name="TextBox 107"/>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특허출원</a:t>
            </a:r>
            <a:r>
              <a:rPr lang="en-US" altLang="ko-KR" sz="1400" dirty="0">
                <a:solidFill>
                  <a:schemeClr val="tx2"/>
                </a:solidFill>
              </a:rPr>
              <a:t>, </a:t>
            </a:r>
            <a:r>
              <a:rPr lang="ko-KR" altLang="en-US" sz="1400" dirty="0">
                <a:solidFill>
                  <a:schemeClr val="tx2"/>
                </a:solidFill>
              </a:rPr>
              <a:t>특허취소신청</a:t>
            </a:r>
            <a:r>
              <a:rPr lang="en-US" altLang="ko-KR" sz="1400" dirty="0">
                <a:solidFill>
                  <a:schemeClr val="tx2"/>
                </a:solidFill>
              </a:rPr>
              <a:t>, </a:t>
            </a:r>
            <a:r>
              <a:rPr lang="ko-KR" altLang="en-US" sz="1400" dirty="0">
                <a:solidFill>
                  <a:schemeClr val="tx2"/>
                </a:solidFill>
              </a:rPr>
              <a:t>심판 등에 관한 증명</a:t>
            </a:r>
            <a:r>
              <a:rPr lang="en-US" altLang="ko-KR" sz="1400" dirty="0">
                <a:solidFill>
                  <a:schemeClr val="tx2"/>
                </a:solidFill>
              </a:rPr>
              <a:t>, </a:t>
            </a:r>
            <a:r>
              <a:rPr lang="ko-KR" altLang="en-US" sz="1400" dirty="0">
                <a:solidFill>
                  <a:schemeClr val="tx2"/>
                </a:solidFill>
              </a:rPr>
              <a:t>서류의 등본 또는 초본의 발급</a:t>
            </a:r>
            <a:r>
              <a:rPr lang="en-US" altLang="ko-KR" sz="1400" dirty="0">
                <a:solidFill>
                  <a:schemeClr val="tx2"/>
                </a:solidFill>
              </a:rPr>
              <a:t>, </a:t>
            </a:r>
            <a:r>
              <a:rPr lang="ko-KR" altLang="en-US" sz="1400" dirty="0">
                <a:solidFill>
                  <a:schemeClr val="tx2"/>
                </a:solidFill>
              </a:rPr>
              <a:t>특허원부 및 서류의 열람 또는 복사가 필요한 자는 지식재산처장 또는 특허심판원장에게 서류의 열람 등의 허가를 신청할 수 있다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216①). </a:t>
            </a:r>
            <a:r>
              <a:rPr lang="ko-KR" altLang="en-US" sz="1400" dirty="0">
                <a:solidFill>
                  <a:schemeClr val="tx2"/>
                </a:solidFill>
              </a:rPr>
              <a:t>지식재산처장 또는 특허심판원장은 신청이 있더라도 </a:t>
            </a:r>
            <a:r>
              <a:rPr lang="en-US" altLang="ko-KR" sz="1400" dirty="0">
                <a:highlight>
                  <a:srgbClr val="FFFF00"/>
                </a:highlight>
              </a:rPr>
              <a:t>ⅰ) </a:t>
            </a:r>
            <a:r>
              <a:rPr lang="ko-KR" altLang="en-US" sz="1400" dirty="0" err="1">
                <a:highlight>
                  <a:srgbClr val="FFFF00"/>
                </a:highlight>
              </a:rPr>
              <a:t>출원공개</a:t>
            </a:r>
            <a:r>
              <a:rPr lang="ko-KR" altLang="en-US" sz="1400" dirty="0">
                <a:highlight>
                  <a:srgbClr val="FFFF00"/>
                </a:highlight>
              </a:rPr>
              <a:t> 또는 설정등록되지 아니한 특허출원</a:t>
            </a:r>
            <a:r>
              <a:rPr lang="en-US" altLang="ko-KR" sz="1400" dirty="0">
                <a:highlight>
                  <a:srgbClr val="FFFF00"/>
                </a:highlight>
              </a:rPr>
              <a:t>(</a:t>
            </a:r>
            <a:r>
              <a:rPr lang="ko-KR" altLang="en-US" sz="1400" dirty="0" err="1">
                <a:highlight>
                  <a:srgbClr val="FFFF00"/>
                </a:highlight>
              </a:rPr>
              <a:t>국내우선권</a:t>
            </a:r>
            <a:r>
              <a:rPr lang="ko-KR" altLang="en-US" sz="1400" dirty="0">
                <a:highlight>
                  <a:srgbClr val="FFFF00"/>
                </a:highlight>
              </a:rPr>
              <a:t> 주장을 수반하는 특허출원이 </a:t>
            </a:r>
            <a:r>
              <a:rPr lang="ko-KR" altLang="en-US" sz="1400" dirty="0" err="1">
                <a:highlight>
                  <a:srgbClr val="FFFF00"/>
                </a:highlight>
              </a:rPr>
              <a:t>출원공개</a:t>
            </a:r>
            <a:r>
              <a:rPr lang="ko-KR" altLang="en-US" sz="1400" dirty="0">
                <a:highlight>
                  <a:srgbClr val="FFFF00"/>
                </a:highlight>
              </a:rPr>
              <a:t> 또는 </a:t>
            </a:r>
            <a:r>
              <a:rPr lang="ko-KR" altLang="en-US" sz="1400" dirty="0" err="1">
                <a:highlight>
                  <a:srgbClr val="FFFF00"/>
                </a:highlight>
              </a:rPr>
              <a:t>설정등록된</a:t>
            </a:r>
            <a:r>
              <a:rPr lang="ko-KR" altLang="en-US" sz="1400" dirty="0">
                <a:highlight>
                  <a:srgbClr val="FFFF00"/>
                </a:highlight>
              </a:rPr>
              <a:t> 경우에는 그 </a:t>
            </a:r>
            <a:r>
              <a:rPr lang="ko-KR" altLang="en-US" sz="1400" dirty="0" err="1">
                <a:highlight>
                  <a:srgbClr val="FFFF00"/>
                </a:highlight>
              </a:rPr>
              <a:t>선출원은</a:t>
            </a:r>
            <a:r>
              <a:rPr lang="ko-KR" altLang="en-US" sz="1400" dirty="0">
                <a:highlight>
                  <a:srgbClr val="FFFF00"/>
                </a:highlight>
              </a:rPr>
              <a:t> 제외한다</a:t>
            </a:r>
            <a:r>
              <a:rPr lang="en-US" altLang="ko-KR" sz="1400" dirty="0">
                <a:highlight>
                  <a:srgbClr val="FFFF00"/>
                </a:highlight>
              </a:rPr>
              <a:t>)</a:t>
            </a:r>
            <a:r>
              <a:rPr lang="ko-KR" altLang="en-US" sz="1400" dirty="0">
                <a:highlight>
                  <a:srgbClr val="FFFF00"/>
                </a:highlight>
              </a:rPr>
              <a:t>에 관한 서류</a:t>
            </a:r>
            <a:r>
              <a:rPr lang="en-US" altLang="ko-KR" sz="1400" dirty="0">
                <a:highlight>
                  <a:srgbClr val="FFFF00"/>
                </a:highlight>
              </a:rPr>
              <a:t>, ⅱ) </a:t>
            </a:r>
            <a:r>
              <a:rPr lang="ko-KR" altLang="en-US" sz="1400" dirty="0" err="1">
                <a:highlight>
                  <a:srgbClr val="FFFF00"/>
                </a:highlight>
              </a:rPr>
              <a:t>출원공개</a:t>
            </a:r>
            <a:r>
              <a:rPr lang="ko-KR" altLang="en-US" sz="1400" dirty="0">
                <a:highlight>
                  <a:srgbClr val="FFFF00"/>
                </a:highlight>
              </a:rPr>
              <a:t> 또는 설정등록되지 아니한 특허출원의 특허거절결정에 대한 심판</a:t>
            </a:r>
            <a:r>
              <a:rPr lang="en-US" altLang="ko-KR" sz="1400" dirty="0">
                <a:highlight>
                  <a:srgbClr val="FFFF00"/>
                </a:highlight>
              </a:rPr>
              <a:t>(</a:t>
            </a:r>
            <a:r>
              <a:rPr lang="ko-KR" altLang="en-US" sz="1400" dirty="0">
                <a:highlight>
                  <a:srgbClr val="FFFF00"/>
                </a:highlight>
              </a:rPr>
              <a:t>法 </a:t>
            </a:r>
            <a:r>
              <a:rPr lang="en-US" altLang="ko-KR" sz="1400" dirty="0">
                <a:highlight>
                  <a:srgbClr val="FFFF00"/>
                </a:highlight>
              </a:rPr>
              <a:t>132</a:t>
            </a:r>
            <a:r>
              <a:rPr lang="ko-KR" altLang="en-US" sz="1400" dirty="0">
                <a:highlight>
                  <a:srgbClr val="FFFF00"/>
                </a:highlight>
              </a:rPr>
              <a:t>의</a:t>
            </a:r>
            <a:r>
              <a:rPr lang="en-US" altLang="ko-KR" sz="1400" dirty="0">
                <a:highlight>
                  <a:srgbClr val="FFFF00"/>
                </a:highlight>
              </a:rPr>
              <a:t>17)</a:t>
            </a:r>
            <a:r>
              <a:rPr lang="ko-KR" altLang="en-US" sz="1400" dirty="0">
                <a:highlight>
                  <a:srgbClr val="FFFF00"/>
                </a:highlight>
              </a:rPr>
              <a:t>에 관한 서류</a:t>
            </a:r>
            <a:r>
              <a:rPr lang="en-US" altLang="ko-KR" sz="1400" dirty="0">
                <a:highlight>
                  <a:srgbClr val="FFFF00"/>
                </a:highlight>
              </a:rPr>
              <a:t>, ⅲ) </a:t>
            </a:r>
            <a:r>
              <a:rPr lang="ko-KR" altLang="en-US" sz="1400" dirty="0">
                <a:highlight>
                  <a:srgbClr val="FFFF00"/>
                </a:highlight>
              </a:rPr>
              <a:t>공공의 질서 또는 선량한 풍속에 어긋나거나 공중의 위생을 해칠 우려가 있는 서류</a:t>
            </a:r>
            <a:r>
              <a:rPr lang="ko-KR" altLang="en-US" sz="1400" dirty="0">
                <a:solidFill>
                  <a:schemeClr val="tx2"/>
                </a:solidFill>
              </a:rPr>
              <a:t> 중 어느 하나에 해당하는 서류를 비밀로 유지할 필요가 있다고 인정하는 경우에는 그 서류의 열람 또는 복사를 허가하지 아니할 수 있다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216②).</a:t>
            </a:r>
            <a:endParaRPr lang="en-US" altLang="ko-KR" sz="1400" dirty="0">
              <a:solidFill>
                <a:srgbClr val="FF0000"/>
              </a:solidFill>
            </a:endParaRPr>
          </a:p>
        </p:txBody>
      </p:sp>
      <p:cxnSp>
        <p:nvCxnSpPr>
          <p:cNvPr id="49" name="직선 화살표 연결선 48"/>
          <p:cNvCxnSpPr/>
          <p:nvPr/>
        </p:nvCxnSpPr>
        <p:spPr>
          <a:xfrm>
            <a:off x="2225561" y="3577067"/>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1825557" y="3263387"/>
            <a:ext cx="832279" cy="307777"/>
          </a:xfrm>
          <a:prstGeom prst="rect">
            <a:avLst/>
          </a:prstGeom>
          <a:noFill/>
        </p:spPr>
        <p:txBody>
          <a:bodyPr wrap="none" rtlCol="0">
            <a:spAutoFit/>
          </a:bodyPr>
          <a:lstStyle/>
          <a:p>
            <a:pPr algn="ctr"/>
            <a:r>
              <a:rPr lang="ko-KR" altLang="en-US" sz="1400" dirty="0" err="1"/>
              <a:t>출원공개</a:t>
            </a:r>
            <a:endParaRPr lang="ko-KR" altLang="en-US" sz="1400" dirty="0"/>
          </a:p>
        </p:txBody>
      </p:sp>
      <p:cxnSp>
        <p:nvCxnSpPr>
          <p:cNvPr id="53" name="직선 화살표 연결선 52"/>
          <p:cNvCxnSpPr/>
          <p:nvPr/>
        </p:nvCxnSpPr>
        <p:spPr>
          <a:xfrm>
            <a:off x="3384504" y="3577067"/>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2984500" y="3263387"/>
            <a:ext cx="832279" cy="307777"/>
          </a:xfrm>
          <a:prstGeom prst="rect">
            <a:avLst/>
          </a:prstGeom>
          <a:noFill/>
        </p:spPr>
        <p:txBody>
          <a:bodyPr wrap="none" rtlCol="0">
            <a:spAutoFit/>
          </a:bodyPr>
          <a:lstStyle/>
          <a:p>
            <a:pPr algn="ctr"/>
            <a:r>
              <a:rPr lang="ko-KR" altLang="en-US" sz="1400" dirty="0" err="1"/>
              <a:t>설정등록</a:t>
            </a:r>
            <a:endParaRPr lang="ko-KR" altLang="en-US" sz="1400" dirty="0"/>
          </a:p>
        </p:txBody>
      </p:sp>
      <p:cxnSp>
        <p:nvCxnSpPr>
          <p:cNvPr id="55" name="직선 화살표 연결선 54"/>
          <p:cNvCxnSpPr/>
          <p:nvPr/>
        </p:nvCxnSpPr>
        <p:spPr>
          <a:xfrm>
            <a:off x="4467246" y="3577067"/>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4067243" y="3263387"/>
            <a:ext cx="832279" cy="307777"/>
          </a:xfrm>
          <a:prstGeom prst="rect">
            <a:avLst/>
          </a:prstGeom>
          <a:noFill/>
        </p:spPr>
        <p:txBody>
          <a:bodyPr wrap="none" rtlCol="0">
            <a:spAutoFit/>
          </a:bodyPr>
          <a:lstStyle/>
          <a:p>
            <a:pPr algn="ctr"/>
            <a:r>
              <a:rPr lang="ko-KR" altLang="en-US" sz="1400" dirty="0" err="1"/>
              <a:t>등록공고</a:t>
            </a:r>
            <a:endParaRPr lang="ko-KR" altLang="en-US" sz="1400" dirty="0"/>
          </a:p>
        </p:txBody>
      </p:sp>
      <p:sp>
        <p:nvSpPr>
          <p:cNvPr id="12" name="직사각형 11"/>
          <p:cNvSpPr/>
          <p:nvPr/>
        </p:nvSpPr>
        <p:spPr>
          <a:xfrm>
            <a:off x="2225561" y="3918848"/>
            <a:ext cx="2673961" cy="499258"/>
          </a:xfrm>
          <a:prstGeom prst="rect">
            <a:avLst/>
          </a:prstGeom>
          <a:pattFill prst="pct25">
            <a:fgClr>
              <a:schemeClr val="accent2"/>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출원</a:t>
            </a:r>
            <a:r>
              <a:rPr lang="en-US" altLang="ko-KR" dirty="0">
                <a:solidFill>
                  <a:schemeClr val="tx1"/>
                </a:solidFill>
              </a:rPr>
              <a:t>, </a:t>
            </a:r>
            <a:r>
              <a:rPr lang="ko-KR" altLang="en-US" dirty="0">
                <a:solidFill>
                  <a:schemeClr val="tx1"/>
                </a:solidFill>
              </a:rPr>
              <a:t>보정 모두 </a:t>
            </a:r>
            <a:r>
              <a:rPr lang="ko-KR" altLang="en-US" dirty="0" err="1">
                <a:solidFill>
                  <a:schemeClr val="tx1"/>
                </a:solidFill>
              </a:rPr>
              <a:t>열람가능</a:t>
            </a:r>
            <a:endParaRPr lang="ko-KR" altLang="en-US" dirty="0">
              <a:solidFill>
                <a:schemeClr val="tx1"/>
              </a:solidFill>
            </a:endParaRPr>
          </a:p>
        </p:txBody>
      </p:sp>
      <p:cxnSp>
        <p:nvCxnSpPr>
          <p:cNvPr id="58" name="직선 화살표 연결선 57"/>
          <p:cNvCxnSpPr/>
          <p:nvPr/>
        </p:nvCxnSpPr>
        <p:spPr>
          <a:xfrm>
            <a:off x="508000" y="6044980"/>
            <a:ext cx="4432300"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9" name="직선 화살표 연결선 58"/>
          <p:cNvCxnSpPr/>
          <p:nvPr/>
        </p:nvCxnSpPr>
        <p:spPr>
          <a:xfrm>
            <a:off x="914400" y="5728599"/>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0" name="TextBox 59"/>
          <p:cNvSpPr txBox="1"/>
          <p:nvPr/>
        </p:nvSpPr>
        <p:spPr>
          <a:xfrm>
            <a:off x="514396" y="5414919"/>
            <a:ext cx="832279" cy="307777"/>
          </a:xfrm>
          <a:prstGeom prst="rect">
            <a:avLst/>
          </a:prstGeom>
          <a:noFill/>
        </p:spPr>
        <p:txBody>
          <a:bodyPr wrap="none" rtlCol="0">
            <a:spAutoFit/>
          </a:bodyPr>
          <a:lstStyle/>
          <a:p>
            <a:pPr algn="ctr"/>
            <a:r>
              <a:rPr lang="ko-KR" altLang="en-US" sz="1400" dirty="0"/>
              <a:t>특허출원</a:t>
            </a:r>
          </a:p>
        </p:txBody>
      </p:sp>
      <p:cxnSp>
        <p:nvCxnSpPr>
          <p:cNvPr id="61" name="직선 화살표 연결선 60"/>
          <p:cNvCxnSpPr/>
          <p:nvPr/>
        </p:nvCxnSpPr>
        <p:spPr>
          <a:xfrm>
            <a:off x="2225561" y="5728599"/>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2" name="TextBox 61"/>
          <p:cNvSpPr txBox="1"/>
          <p:nvPr/>
        </p:nvSpPr>
        <p:spPr>
          <a:xfrm>
            <a:off x="1694912" y="5414919"/>
            <a:ext cx="1093569" cy="307777"/>
          </a:xfrm>
          <a:prstGeom prst="rect">
            <a:avLst/>
          </a:prstGeom>
          <a:noFill/>
        </p:spPr>
        <p:txBody>
          <a:bodyPr wrap="none" rtlCol="0">
            <a:spAutoFit/>
          </a:bodyPr>
          <a:lstStyle/>
          <a:p>
            <a:pPr algn="ctr"/>
            <a:r>
              <a:rPr lang="ko-KR" altLang="en-US" sz="1400" dirty="0" err="1"/>
              <a:t>출원공개</a:t>
            </a:r>
            <a:r>
              <a:rPr lang="ko-KR" altLang="en-US" sz="1400" dirty="0"/>
              <a:t> </a:t>
            </a:r>
            <a:r>
              <a:rPr lang="en-US" altLang="ko-KR" sz="1400" dirty="0"/>
              <a:t>× </a:t>
            </a:r>
            <a:endParaRPr lang="ko-KR" altLang="en-US" sz="1400" dirty="0"/>
          </a:p>
        </p:txBody>
      </p:sp>
      <p:cxnSp>
        <p:nvCxnSpPr>
          <p:cNvPr id="63" name="직선 화살표 연결선 62"/>
          <p:cNvCxnSpPr/>
          <p:nvPr/>
        </p:nvCxnSpPr>
        <p:spPr>
          <a:xfrm>
            <a:off x="3384504" y="5728599"/>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2984500" y="5414919"/>
            <a:ext cx="832279" cy="307777"/>
          </a:xfrm>
          <a:prstGeom prst="rect">
            <a:avLst/>
          </a:prstGeom>
          <a:noFill/>
        </p:spPr>
        <p:txBody>
          <a:bodyPr wrap="none" rtlCol="0">
            <a:spAutoFit/>
          </a:bodyPr>
          <a:lstStyle/>
          <a:p>
            <a:pPr algn="ctr"/>
            <a:r>
              <a:rPr lang="ko-KR" altLang="en-US" sz="1400" dirty="0" err="1"/>
              <a:t>설정등록</a:t>
            </a:r>
            <a:endParaRPr lang="ko-KR" altLang="en-US" sz="1400" dirty="0"/>
          </a:p>
        </p:txBody>
      </p:sp>
      <p:cxnSp>
        <p:nvCxnSpPr>
          <p:cNvPr id="65" name="직선 화살표 연결선 64"/>
          <p:cNvCxnSpPr/>
          <p:nvPr/>
        </p:nvCxnSpPr>
        <p:spPr>
          <a:xfrm>
            <a:off x="4467246" y="5728599"/>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4" name="TextBox 73"/>
          <p:cNvSpPr txBox="1"/>
          <p:nvPr/>
        </p:nvSpPr>
        <p:spPr>
          <a:xfrm>
            <a:off x="4067243" y="5414919"/>
            <a:ext cx="832279" cy="307777"/>
          </a:xfrm>
          <a:prstGeom prst="rect">
            <a:avLst/>
          </a:prstGeom>
          <a:noFill/>
        </p:spPr>
        <p:txBody>
          <a:bodyPr wrap="none" rtlCol="0">
            <a:spAutoFit/>
          </a:bodyPr>
          <a:lstStyle/>
          <a:p>
            <a:pPr algn="ctr"/>
            <a:r>
              <a:rPr lang="ko-KR" altLang="en-US" sz="1400" dirty="0" err="1"/>
              <a:t>등록공고</a:t>
            </a:r>
            <a:endParaRPr lang="ko-KR" altLang="en-US" sz="1400" dirty="0"/>
          </a:p>
        </p:txBody>
      </p:sp>
      <p:sp>
        <p:nvSpPr>
          <p:cNvPr id="75" name="직사각형 74"/>
          <p:cNvSpPr/>
          <p:nvPr/>
        </p:nvSpPr>
        <p:spPr>
          <a:xfrm>
            <a:off x="3384504" y="6070380"/>
            <a:ext cx="1515018" cy="499258"/>
          </a:xfrm>
          <a:prstGeom prst="rect">
            <a:avLst/>
          </a:prstGeom>
          <a:pattFill prst="pct20">
            <a:fgClr>
              <a:schemeClr val="accent2"/>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err="1">
                <a:solidFill>
                  <a:schemeClr val="tx1"/>
                </a:solidFill>
              </a:rPr>
              <a:t>열람가능</a:t>
            </a:r>
            <a:endParaRPr lang="ko-KR" altLang="en-US" dirty="0">
              <a:solidFill>
                <a:schemeClr val="tx1"/>
              </a:solidFill>
            </a:endParaRPr>
          </a:p>
        </p:txBody>
      </p:sp>
      <p:sp>
        <p:nvSpPr>
          <p:cNvPr id="76" name="직사각형 75"/>
          <p:cNvSpPr/>
          <p:nvPr/>
        </p:nvSpPr>
        <p:spPr>
          <a:xfrm>
            <a:off x="388180" y="2422681"/>
            <a:ext cx="5022020" cy="5969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600" dirty="0" err="1">
                <a:solidFill>
                  <a:schemeClr val="bg1">
                    <a:lumMod val="50000"/>
                  </a:schemeClr>
                </a:solidFill>
              </a:rPr>
              <a:t>출원공개</a:t>
            </a:r>
            <a:r>
              <a:rPr lang="ko-KR" altLang="en-US" sz="1600" dirty="0">
                <a:solidFill>
                  <a:schemeClr val="bg1">
                    <a:lumMod val="50000"/>
                  </a:schemeClr>
                </a:solidFill>
              </a:rPr>
              <a:t> 또는 </a:t>
            </a:r>
            <a:r>
              <a:rPr lang="ko-KR" altLang="en-US" sz="1600" dirty="0" err="1">
                <a:solidFill>
                  <a:schemeClr val="bg1">
                    <a:lumMod val="50000"/>
                  </a:schemeClr>
                </a:solidFill>
              </a:rPr>
              <a:t>설정등록된</a:t>
            </a:r>
            <a:r>
              <a:rPr lang="ko-KR" altLang="en-US" sz="1600" dirty="0">
                <a:solidFill>
                  <a:schemeClr val="bg1">
                    <a:lumMod val="50000"/>
                  </a:schemeClr>
                </a:solidFill>
              </a:rPr>
              <a:t> 후부터 최초 명세서 또는 도면의 </a:t>
            </a:r>
            <a:r>
              <a:rPr lang="ko-KR" altLang="en-US" sz="1600" dirty="0" err="1">
                <a:solidFill>
                  <a:schemeClr val="bg1">
                    <a:lumMod val="50000"/>
                  </a:schemeClr>
                </a:solidFill>
              </a:rPr>
              <a:t>공지기술</a:t>
            </a:r>
            <a:r>
              <a:rPr lang="ko-KR" altLang="en-US" sz="1600" dirty="0">
                <a:solidFill>
                  <a:schemeClr val="bg1">
                    <a:lumMod val="50000"/>
                  </a:schemeClr>
                </a:solidFill>
              </a:rPr>
              <a:t> 지위 인정</a:t>
            </a:r>
          </a:p>
        </p:txBody>
      </p:sp>
      <p:sp>
        <p:nvSpPr>
          <p:cNvPr id="77" name="직사각형 76"/>
          <p:cNvSpPr/>
          <p:nvPr/>
        </p:nvSpPr>
        <p:spPr>
          <a:xfrm>
            <a:off x="6115049" y="2422681"/>
            <a:ext cx="5784851" cy="5969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600" dirty="0">
                <a:solidFill>
                  <a:schemeClr val="bg1">
                    <a:lumMod val="50000"/>
                  </a:schemeClr>
                </a:solidFill>
              </a:rPr>
              <a:t>국내우선권주장의 적법성을 판단하기 위해서 국내우선권주장출원이 출원공개 또는 </a:t>
            </a:r>
            <a:r>
              <a:rPr lang="ko-KR" altLang="en-US" sz="1600" dirty="0" err="1">
                <a:solidFill>
                  <a:schemeClr val="bg1">
                    <a:lumMod val="50000"/>
                  </a:schemeClr>
                </a:solidFill>
              </a:rPr>
              <a:t>설정등록된</a:t>
            </a:r>
            <a:r>
              <a:rPr lang="ko-KR" altLang="en-US" sz="1600" dirty="0">
                <a:solidFill>
                  <a:schemeClr val="bg1">
                    <a:lumMod val="50000"/>
                  </a:schemeClr>
                </a:solidFill>
              </a:rPr>
              <a:t> 후부터 </a:t>
            </a:r>
            <a:r>
              <a:rPr lang="ko-KR" altLang="en-US" sz="1600" dirty="0" err="1">
                <a:solidFill>
                  <a:schemeClr val="bg1">
                    <a:lumMod val="50000"/>
                  </a:schemeClr>
                </a:solidFill>
              </a:rPr>
              <a:t>선출원의</a:t>
            </a:r>
            <a:r>
              <a:rPr lang="ko-KR" altLang="en-US" sz="1600" dirty="0">
                <a:solidFill>
                  <a:schemeClr val="bg1">
                    <a:lumMod val="50000"/>
                  </a:schemeClr>
                </a:solidFill>
              </a:rPr>
              <a:t> 열람을 허가함</a:t>
            </a:r>
          </a:p>
        </p:txBody>
      </p:sp>
      <p:cxnSp>
        <p:nvCxnSpPr>
          <p:cNvPr id="78" name="직선 연결선 77"/>
          <p:cNvCxnSpPr/>
          <p:nvPr/>
        </p:nvCxnSpPr>
        <p:spPr>
          <a:xfrm>
            <a:off x="5771178" y="2422681"/>
            <a:ext cx="0" cy="437101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직선 화살표 연결선 78"/>
          <p:cNvCxnSpPr/>
          <p:nvPr/>
        </p:nvCxnSpPr>
        <p:spPr>
          <a:xfrm>
            <a:off x="6271856" y="4787745"/>
            <a:ext cx="5704244"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0" name="직선 화살표 연결선 79"/>
          <p:cNvCxnSpPr/>
          <p:nvPr/>
        </p:nvCxnSpPr>
        <p:spPr>
          <a:xfrm>
            <a:off x="6678256" y="4471364"/>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1" name="TextBox 80"/>
          <p:cNvSpPr txBox="1"/>
          <p:nvPr/>
        </p:nvSpPr>
        <p:spPr>
          <a:xfrm>
            <a:off x="6278252" y="3890984"/>
            <a:ext cx="832279" cy="523220"/>
          </a:xfrm>
          <a:prstGeom prst="rect">
            <a:avLst/>
          </a:prstGeom>
          <a:noFill/>
          <a:ln>
            <a:noFill/>
          </a:ln>
        </p:spPr>
        <p:txBody>
          <a:bodyPr wrap="none" rtlCol="0">
            <a:spAutoFit/>
          </a:bodyPr>
          <a:lstStyle/>
          <a:p>
            <a:pPr algn="ctr"/>
            <a:r>
              <a:rPr lang="ko-KR" altLang="en-US" sz="1400" dirty="0"/>
              <a:t>특허출원</a:t>
            </a:r>
            <a:endParaRPr lang="en-US" altLang="ko-KR" sz="1400" dirty="0"/>
          </a:p>
          <a:p>
            <a:pPr algn="ctr"/>
            <a:r>
              <a:rPr lang="en-US" altLang="ko-KR" sz="1400" dirty="0"/>
              <a:t>(X)</a:t>
            </a:r>
            <a:endParaRPr lang="ko-KR" altLang="en-US" sz="1400" dirty="0"/>
          </a:p>
        </p:txBody>
      </p:sp>
      <p:cxnSp>
        <p:nvCxnSpPr>
          <p:cNvPr id="82" name="직선 화살표 연결선 81"/>
          <p:cNvCxnSpPr/>
          <p:nvPr/>
        </p:nvCxnSpPr>
        <p:spPr>
          <a:xfrm flipV="1">
            <a:off x="7862417" y="4787746"/>
            <a:ext cx="0" cy="444654"/>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4" name="TextBox 83"/>
          <p:cNvSpPr txBox="1"/>
          <p:nvPr/>
        </p:nvSpPr>
        <p:spPr>
          <a:xfrm>
            <a:off x="7032255" y="5313384"/>
            <a:ext cx="1641795" cy="523220"/>
          </a:xfrm>
          <a:prstGeom prst="rect">
            <a:avLst/>
          </a:prstGeom>
          <a:noFill/>
          <a:ln>
            <a:noFill/>
          </a:ln>
        </p:spPr>
        <p:txBody>
          <a:bodyPr wrap="none" rtlCol="0">
            <a:spAutoFit/>
          </a:bodyPr>
          <a:lstStyle/>
          <a:p>
            <a:pPr algn="ctr"/>
            <a:r>
              <a:rPr lang="ko-KR" altLang="en-US" sz="1400" dirty="0"/>
              <a:t>국내우선권주장출원</a:t>
            </a:r>
            <a:endParaRPr lang="en-US" altLang="ko-KR" sz="1400" dirty="0"/>
          </a:p>
          <a:p>
            <a:pPr algn="ctr"/>
            <a:r>
              <a:rPr lang="en-US" altLang="ko-KR" sz="1400" dirty="0"/>
              <a:t>(Y)</a:t>
            </a:r>
            <a:endParaRPr lang="ko-KR" altLang="en-US" sz="1400" dirty="0"/>
          </a:p>
        </p:txBody>
      </p:sp>
      <p:cxnSp>
        <p:nvCxnSpPr>
          <p:cNvPr id="87" name="직선 화살표 연결선 86"/>
          <p:cNvCxnSpPr/>
          <p:nvPr/>
        </p:nvCxnSpPr>
        <p:spPr>
          <a:xfrm>
            <a:off x="8640360" y="4471364"/>
            <a:ext cx="0" cy="31638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5" name="TextBox 94"/>
          <p:cNvSpPr txBox="1"/>
          <p:nvPr/>
        </p:nvSpPr>
        <p:spPr>
          <a:xfrm>
            <a:off x="8224222" y="3890984"/>
            <a:ext cx="832279" cy="523220"/>
          </a:xfrm>
          <a:prstGeom prst="rect">
            <a:avLst/>
          </a:prstGeom>
          <a:noFill/>
          <a:ln>
            <a:noFill/>
          </a:ln>
        </p:spPr>
        <p:txBody>
          <a:bodyPr wrap="none" rtlCol="0">
            <a:spAutoFit/>
          </a:bodyPr>
          <a:lstStyle/>
          <a:p>
            <a:pPr algn="ctr"/>
            <a:r>
              <a:rPr lang="ko-KR" altLang="en-US" sz="1400" dirty="0" err="1"/>
              <a:t>취하간주</a:t>
            </a:r>
            <a:endParaRPr lang="en-US" altLang="ko-KR" sz="1400" dirty="0"/>
          </a:p>
          <a:p>
            <a:pPr algn="ctr"/>
            <a:r>
              <a:rPr lang="en-US" altLang="ko-KR" sz="1400" dirty="0"/>
              <a:t>(X)</a:t>
            </a:r>
            <a:endParaRPr lang="ko-KR" altLang="en-US" sz="1400" dirty="0"/>
          </a:p>
        </p:txBody>
      </p:sp>
      <p:cxnSp>
        <p:nvCxnSpPr>
          <p:cNvPr id="96" name="직선 화살표 연결선 95"/>
          <p:cNvCxnSpPr/>
          <p:nvPr/>
        </p:nvCxnSpPr>
        <p:spPr>
          <a:xfrm flipV="1">
            <a:off x="9754717" y="4787746"/>
            <a:ext cx="0" cy="444654"/>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7" name="TextBox 96"/>
          <p:cNvSpPr txBox="1"/>
          <p:nvPr/>
        </p:nvSpPr>
        <p:spPr>
          <a:xfrm>
            <a:off x="8970243" y="5313384"/>
            <a:ext cx="1550424" cy="523220"/>
          </a:xfrm>
          <a:prstGeom prst="rect">
            <a:avLst/>
          </a:prstGeom>
          <a:noFill/>
          <a:ln>
            <a:noFill/>
          </a:ln>
        </p:spPr>
        <p:txBody>
          <a:bodyPr wrap="none" rtlCol="0">
            <a:spAutoFit/>
          </a:bodyPr>
          <a:lstStyle/>
          <a:p>
            <a:pPr algn="ctr"/>
            <a:r>
              <a:rPr lang="ko-KR" altLang="en-US" sz="1400" dirty="0" err="1"/>
              <a:t>출원공개</a:t>
            </a:r>
            <a:r>
              <a:rPr lang="en-US" altLang="ko-KR" sz="1400" dirty="0"/>
              <a:t>/</a:t>
            </a:r>
            <a:r>
              <a:rPr lang="ko-KR" altLang="en-US" sz="1400" dirty="0" err="1"/>
              <a:t>설정등록</a:t>
            </a:r>
            <a:endParaRPr lang="en-US" altLang="ko-KR" sz="1400" dirty="0"/>
          </a:p>
          <a:p>
            <a:pPr algn="ctr"/>
            <a:r>
              <a:rPr lang="en-US" altLang="ko-KR" sz="1400" dirty="0"/>
              <a:t>(Y)</a:t>
            </a:r>
            <a:endParaRPr lang="ko-KR" altLang="en-US" sz="1400" dirty="0"/>
          </a:p>
        </p:txBody>
      </p:sp>
      <p:sp>
        <p:nvSpPr>
          <p:cNvPr id="99" name="직사각형 98"/>
          <p:cNvSpPr/>
          <p:nvPr/>
        </p:nvSpPr>
        <p:spPr>
          <a:xfrm>
            <a:off x="9760277" y="4262107"/>
            <a:ext cx="2063424" cy="499258"/>
          </a:xfrm>
          <a:prstGeom prst="rect">
            <a:avLst/>
          </a:prstGeom>
          <a:pattFill prst="pct20">
            <a:fgClr>
              <a:schemeClr val="accent2"/>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X, Y </a:t>
            </a:r>
            <a:r>
              <a:rPr lang="ko-KR" altLang="en-US" dirty="0">
                <a:solidFill>
                  <a:schemeClr val="tx1"/>
                </a:solidFill>
              </a:rPr>
              <a:t>모두 </a:t>
            </a:r>
            <a:r>
              <a:rPr lang="ko-KR" altLang="en-US" dirty="0" err="1">
                <a:solidFill>
                  <a:schemeClr val="tx1"/>
                </a:solidFill>
              </a:rPr>
              <a:t>열람가능</a:t>
            </a:r>
            <a:endParaRPr lang="ko-KR" altLang="en-US" dirty="0">
              <a:solidFill>
                <a:schemeClr val="tx1"/>
              </a:solidFill>
            </a:endParaRPr>
          </a:p>
        </p:txBody>
      </p:sp>
      <p:sp>
        <p:nvSpPr>
          <p:cNvPr id="19" name="자유형 18"/>
          <p:cNvSpPr/>
          <p:nvPr/>
        </p:nvSpPr>
        <p:spPr>
          <a:xfrm>
            <a:off x="6680200" y="4495800"/>
            <a:ext cx="1993900" cy="266700"/>
          </a:xfrm>
          <a:custGeom>
            <a:avLst/>
            <a:gdLst>
              <a:gd name="connsiteX0" fmla="*/ 0 w 1993900"/>
              <a:gd name="connsiteY0" fmla="*/ 266700 h 266700"/>
              <a:gd name="connsiteX1" fmla="*/ 939800 w 1993900"/>
              <a:gd name="connsiteY1" fmla="*/ 0 h 266700"/>
              <a:gd name="connsiteX2" fmla="*/ 1993900 w 1993900"/>
              <a:gd name="connsiteY2" fmla="*/ 266700 h 266700"/>
            </a:gdLst>
            <a:ahLst/>
            <a:cxnLst>
              <a:cxn ang="0">
                <a:pos x="connsiteX0" y="connsiteY0"/>
              </a:cxn>
              <a:cxn ang="0">
                <a:pos x="connsiteX1" y="connsiteY1"/>
              </a:cxn>
              <a:cxn ang="0">
                <a:pos x="connsiteX2" y="connsiteY2"/>
              </a:cxn>
            </a:cxnLst>
            <a:rect l="l" t="t" r="r" b="b"/>
            <a:pathLst>
              <a:path w="1993900" h="266700">
                <a:moveTo>
                  <a:pt x="0" y="266700"/>
                </a:moveTo>
                <a:cubicBezTo>
                  <a:pt x="303741" y="133350"/>
                  <a:pt x="607483" y="0"/>
                  <a:pt x="939800" y="0"/>
                </a:cubicBezTo>
                <a:cubicBezTo>
                  <a:pt x="1272117" y="0"/>
                  <a:pt x="1633008" y="133350"/>
                  <a:pt x="1993900" y="266700"/>
                </a:cubicBezTo>
              </a:path>
            </a:pathLst>
          </a:custGeom>
          <a:noFill/>
          <a:ln w="28575">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9" name="TextBox 108"/>
          <p:cNvSpPr txBox="1"/>
          <p:nvPr/>
        </p:nvSpPr>
        <p:spPr>
          <a:xfrm>
            <a:off x="7294144" y="4317415"/>
            <a:ext cx="707246" cy="307777"/>
          </a:xfrm>
          <a:prstGeom prst="rect">
            <a:avLst/>
          </a:prstGeom>
          <a:solidFill>
            <a:schemeClr val="bg1"/>
          </a:solidFill>
          <a:ln>
            <a:noFill/>
          </a:ln>
        </p:spPr>
        <p:txBody>
          <a:bodyPr wrap="none" rtlCol="0">
            <a:spAutoFit/>
          </a:bodyPr>
          <a:lstStyle/>
          <a:p>
            <a:pPr algn="ctr"/>
            <a:r>
              <a:rPr lang="en-US" altLang="ko-KR" sz="1400" dirty="0"/>
              <a:t>1</a:t>
            </a:r>
            <a:r>
              <a:rPr lang="ko-KR" altLang="en-US" sz="1400" dirty="0"/>
              <a:t>년</a:t>
            </a:r>
            <a:r>
              <a:rPr lang="en-US" altLang="ko-KR" sz="1400" dirty="0"/>
              <a:t>3</a:t>
            </a:r>
            <a:r>
              <a:rPr lang="ko-KR" altLang="en-US" sz="1400" dirty="0"/>
              <a:t>월</a:t>
            </a:r>
          </a:p>
        </p:txBody>
      </p:sp>
      <p:cxnSp>
        <p:nvCxnSpPr>
          <p:cNvPr id="41" name="직선 화살표 연결선 40"/>
          <p:cNvCxnSpPr/>
          <p:nvPr/>
        </p:nvCxnSpPr>
        <p:spPr>
          <a:xfrm flipV="1">
            <a:off x="1452282" y="3918849"/>
            <a:ext cx="0" cy="398566"/>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191863" y="4339917"/>
            <a:ext cx="508474" cy="307777"/>
          </a:xfrm>
          <a:prstGeom prst="rect">
            <a:avLst/>
          </a:prstGeom>
          <a:noFill/>
        </p:spPr>
        <p:txBody>
          <a:bodyPr wrap="none" rtlCol="0">
            <a:spAutoFit/>
          </a:bodyPr>
          <a:lstStyle/>
          <a:p>
            <a:pPr algn="ctr"/>
            <a:r>
              <a:rPr lang="ko-KR" altLang="en-US" sz="1400" dirty="0"/>
              <a:t>보정</a:t>
            </a:r>
          </a:p>
        </p:txBody>
      </p:sp>
      <p:sp>
        <p:nvSpPr>
          <p:cNvPr id="10" name="모서리가 둥근 사각형 설명선 9"/>
          <p:cNvSpPr/>
          <p:nvPr/>
        </p:nvSpPr>
        <p:spPr>
          <a:xfrm>
            <a:off x="2124075" y="4608186"/>
            <a:ext cx="3532007" cy="705198"/>
          </a:xfrm>
          <a:prstGeom prst="wedgeRoundRectCallout">
            <a:avLst>
              <a:gd name="adj1" fmla="val -28192"/>
              <a:gd name="adj2" fmla="val -77887"/>
              <a:gd name="adj3" fmla="val 16667"/>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solidFill>
              </a:rPr>
              <a:t>보정은 최초 명세서 또는 도면에 기재된 </a:t>
            </a:r>
            <a:r>
              <a:rPr lang="ko-KR" altLang="en-US" sz="1200" dirty="0" err="1">
                <a:solidFill>
                  <a:schemeClr val="tx1"/>
                </a:solidFill>
              </a:rPr>
              <a:t>범위안에서</a:t>
            </a:r>
            <a:r>
              <a:rPr lang="ko-KR" altLang="en-US" sz="1200" dirty="0">
                <a:solidFill>
                  <a:schemeClr val="tx1"/>
                </a:solidFill>
              </a:rPr>
              <a:t> 가능하기 때문에 최초 명세서 또는 도면에 </a:t>
            </a:r>
            <a:r>
              <a:rPr lang="ko-KR" altLang="en-US" sz="1200" dirty="0" err="1">
                <a:solidFill>
                  <a:schemeClr val="tx1"/>
                </a:solidFill>
              </a:rPr>
              <a:t>공지기술의</a:t>
            </a:r>
            <a:r>
              <a:rPr lang="ko-KR" altLang="en-US" sz="1200" dirty="0">
                <a:solidFill>
                  <a:schemeClr val="tx1"/>
                </a:solidFill>
              </a:rPr>
              <a:t> 지위가 인정됨</a:t>
            </a:r>
          </a:p>
        </p:txBody>
      </p:sp>
      <p:sp>
        <p:nvSpPr>
          <p:cNvPr id="6" name="TextBox 5">
            <a:extLst>
              <a:ext uri="{FF2B5EF4-FFF2-40B4-BE49-F238E27FC236}">
                <a16:creationId xmlns:a16="http://schemas.microsoft.com/office/drawing/2014/main" id="{EC8AC0B0-FEAA-4B95-AB13-0D106F6689C7}"/>
              </a:ext>
            </a:extLst>
          </p:cNvPr>
          <p:cNvSpPr txBox="1"/>
          <p:nvPr/>
        </p:nvSpPr>
        <p:spPr>
          <a:xfrm>
            <a:off x="6152180" y="6320009"/>
            <a:ext cx="4193777" cy="307777"/>
          </a:xfrm>
          <a:prstGeom prst="rect">
            <a:avLst/>
          </a:prstGeom>
          <a:noFill/>
        </p:spPr>
        <p:txBody>
          <a:bodyPr wrap="none" rtlCol="0">
            <a:spAutoFit/>
          </a:bodyPr>
          <a:lstStyle/>
          <a:p>
            <a:r>
              <a:rPr lang="en-US" altLang="ko-KR" sz="1400" dirty="0">
                <a:solidFill>
                  <a:schemeClr val="bg1">
                    <a:lumMod val="50000"/>
                  </a:schemeClr>
                </a:solidFill>
              </a:rPr>
              <a:t>* </a:t>
            </a:r>
            <a:r>
              <a:rPr lang="ko-KR" altLang="en-US" sz="1400" dirty="0">
                <a:solidFill>
                  <a:schemeClr val="bg1">
                    <a:lumMod val="50000"/>
                  </a:schemeClr>
                </a:solidFill>
              </a:rPr>
              <a:t>변경출원을 제외하고 있는 것은 </a:t>
            </a:r>
            <a:r>
              <a:rPr lang="ko-KR" altLang="en-US" sz="1400" dirty="0" err="1">
                <a:solidFill>
                  <a:schemeClr val="bg1">
                    <a:lumMod val="50000"/>
                  </a:schemeClr>
                </a:solidFill>
              </a:rPr>
              <a:t>입법불비라고</a:t>
            </a:r>
            <a:r>
              <a:rPr lang="ko-KR" altLang="en-US" sz="1400" dirty="0">
                <a:solidFill>
                  <a:schemeClr val="bg1">
                    <a:lumMod val="50000"/>
                  </a:schemeClr>
                </a:solidFill>
              </a:rPr>
              <a:t> 판단됨</a:t>
            </a:r>
          </a:p>
        </p:txBody>
      </p:sp>
    </p:spTree>
    <p:extLst>
      <p:ext uri="{BB962C8B-B14F-4D97-AF65-F5344CB8AC3E}">
        <p14:creationId xmlns:p14="http://schemas.microsoft.com/office/powerpoint/2010/main" val="215603867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p:cNvSpPr>
            <a:spLocks noGrp="1"/>
          </p:cNvSpPr>
          <p:nvPr>
            <p:ph type="sldNum" sz="quarter" idx="12"/>
          </p:nvPr>
        </p:nvSpPr>
        <p:spPr/>
        <p:txBody>
          <a:bodyPr/>
          <a:lstStyle/>
          <a:p>
            <a:fld id="{3875FC6C-1516-4DC4-8C58-3090F7D4F003}" type="slidenum">
              <a:rPr lang="ko-KR" altLang="en-US" smtClean="0"/>
              <a:t>49</a:t>
            </a:fld>
            <a:endParaRPr lang="ko-KR" altLang="en-US"/>
          </a:p>
        </p:txBody>
      </p:sp>
      <p:sp>
        <p:nvSpPr>
          <p:cNvPr id="2" name="제목 1"/>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err="1"/>
              <a:t>성립성이</a:t>
            </a:r>
            <a:r>
              <a:rPr lang="ko-KR" altLang="en-US" dirty="0"/>
              <a:t> 문제되는 발명</a:t>
            </a:r>
          </a:p>
        </p:txBody>
      </p:sp>
      <p:graphicFrame>
        <p:nvGraphicFramePr>
          <p:cNvPr id="5" name="표 4"/>
          <p:cNvGraphicFramePr>
            <a:graphicFrameLocks noGrp="1"/>
          </p:cNvGraphicFramePr>
          <p:nvPr>
            <p:extLst>
              <p:ext uri="{D42A27DB-BD31-4B8C-83A1-F6EECF244321}">
                <p14:modId xmlns:p14="http://schemas.microsoft.com/office/powerpoint/2010/main" val="2583459610"/>
              </p:ext>
            </p:extLst>
          </p:nvPr>
        </p:nvGraphicFramePr>
        <p:xfrm>
          <a:off x="325315" y="1050234"/>
          <a:ext cx="11509130" cy="5110058"/>
        </p:xfrm>
        <a:graphic>
          <a:graphicData uri="http://schemas.openxmlformats.org/drawingml/2006/table">
            <a:tbl>
              <a:tblPr>
                <a:tableStyleId>{8799B23B-EC83-4686-B30A-512413B5E67A}</a:tableStyleId>
              </a:tblPr>
              <a:tblGrid>
                <a:gridCol w="365104">
                  <a:extLst>
                    <a:ext uri="{9D8B030D-6E8A-4147-A177-3AD203B41FA5}">
                      <a16:colId xmlns:a16="http://schemas.microsoft.com/office/drawing/2014/main" val="20000"/>
                    </a:ext>
                  </a:extLst>
                </a:gridCol>
                <a:gridCol w="363671">
                  <a:extLst>
                    <a:ext uri="{9D8B030D-6E8A-4147-A177-3AD203B41FA5}">
                      <a16:colId xmlns:a16="http://schemas.microsoft.com/office/drawing/2014/main" val="20001"/>
                    </a:ext>
                  </a:extLst>
                </a:gridCol>
                <a:gridCol w="3104808">
                  <a:extLst>
                    <a:ext uri="{9D8B030D-6E8A-4147-A177-3AD203B41FA5}">
                      <a16:colId xmlns:a16="http://schemas.microsoft.com/office/drawing/2014/main" val="20002"/>
                    </a:ext>
                  </a:extLst>
                </a:gridCol>
                <a:gridCol w="7675547">
                  <a:extLst>
                    <a:ext uri="{9D8B030D-6E8A-4147-A177-3AD203B41FA5}">
                      <a16:colId xmlns:a16="http://schemas.microsoft.com/office/drawing/2014/main" val="20003"/>
                    </a:ext>
                  </a:extLst>
                </a:gridCol>
              </a:tblGrid>
              <a:tr h="149961">
                <a:tc gridSpan="2">
                  <a:txBody>
                    <a:bodyPr/>
                    <a:lstStyle/>
                    <a:p>
                      <a:pPr marL="0" marR="0" indent="0" algn="ctr" fontAlgn="base" latinLnBrk="0">
                        <a:lnSpc>
                          <a:spcPct val="100000"/>
                        </a:lnSpc>
                        <a:spcBef>
                          <a:spcPts val="0"/>
                        </a:spcBef>
                        <a:spcAft>
                          <a:spcPts val="0"/>
                        </a:spcAft>
                      </a:pPr>
                      <a:r>
                        <a:rPr lang="ko-KR" altLang="en-US" sz="950" b="1" kern="0" spc="0" dirty="0">
                          <a:effectLst/>
                        </a:rPr>
                        <a:t>　</a:t>
                      </a:r>
                      <a:endParaRPr lang="ko-KR" altLang="en-US" sz="950" b="1" kern="0" spc="0" dirty="0">
                        <a:solidFill>
                          <a:srgbClr val="000000"/>
                        </a:solidFill>
                        <a:effectLst/>
                        <a:latin typeface="+mn-ea"/>
                        <a:ea typeface="+mn-ea"/>
                      </a:endParaRPr>
                    </a:p>
                  </a:txBody>
                  <a:tcPr marL="47473" marR="47473" marT="23737" marB="23737"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b="1" kern="0" spc="0" dirty="0">
                          <a:effectLst/>
                        </a:rPr>
                        <a:t>용도발명</a:t>
                      </a:r>
                      <a:endParaRPr lang="ko-KR" altLang="en-US" sz="950" b="1" kern="0" spc="0" dirty="0">
                        <a:solidFill>
                          <a:srgbClr val="000000"/>
                        </a:solidFill>
                        <a:effectLst/>
                        <a:latin typeface="+mn-ea"/>
                        <a:ea typeface="+mn-ea"/>
                      </a:endParaRPr>
                    </a:p>
                  </a:txBody>
                  <a:tcPr marL="47473" marR="47473" marT="23737" marB="2373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50" b="1" kern="0" spc="0" dirty="0">
                          <a:effectLst/>
                        </a:rPr>
                        <a:t>의약발명</a:t>
                      </a:r>
                      <a:endParaRPr lang="ko-KR" altLang="en-US" sz="950" b="1" kern="0" spc="0" dirty="0">
                        <a:solidFill>
                          <a:srgbClr val="000000"/>
                        </a:solidFill>
                        <a:effectLst/>
                        <a:latin typeface="+mn-ea"/>
                        <a:ea typeface="+mn-ea"/>
                      </a:endParaRPr>
                    </a:p>
                  </a:txBody>
                  <a:tcPr marL="47473" marR="47473" marT="23737" marB="23737" anchor="ctr">
                    <a:solidFill>
                      <a:schemeClr val="accent1">
                        <a:lumMod val="20000"/>
                        <a:lumOff val="80000"/>
                      </a:schemeClr>
                    </a:solidFill>
                  </a:tcPr>
                </a:tc>
                <a:extLst>
                  <a:ext uri="{0D108BD9-81ED-4DB2-BD59-A6C34878D82A}">
                    <a16:rowId xmlns:a16="http://schemas.microsoft.com/office/drawing/2014/main" val="10000"/>
                  </a:ext>
                </a:extLst>
              </a:tr>
              <a:tr h="262479">
                <a:tc gridSpan="2">
                  <a:txBody>
                    <a:bodyPr/>
                    <a:lstStyle/>
                    <a:p>
                      <a:pPr marL="0" marR="0" indent="0" algn="ctr" fontAlgn="base" latinLnBrk="0">
                        <a:lnSpc>
                          <a:spcPct val="100000"/>
                        </a:lnSpc>
                        <a:spcBef>
                          <a:spcPts val="0"/>
                        </a:spcBef>
                        <a:spcAft>
                          <a:spcPts val="0"/>
                        </a:spcAft>
                      </a:pPr>
                      <a:r>
                        <a:rPr lang="ko-KR" altLang="en-US" sz="950" kern="0" spc="0">
                          <a:effectLst/>
                        </a:rPr>
                        <a:t>의의</a:t>
                      </a:r>
                      <a:endParaRPr lang="ko-KR" altLang="en-US" sz="950" b="1" kern="0" spc="0">
                        <a:solidFill>
                          <a:srgbClr val="000000"/>
                        </a:solidFill>
                        <a:effectLst/>
                        <a:latin typeface="+mn-ea"/>
                        <a:ea typeface="+mn-ea"/>
                      </a:endParaRPr>
                    </a:p>
                  </a:txBody>
                  <a:tcPr marL="47473" marR="47473" marT="23737" marB="23737"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물질로부터 새로운 속성을 발견하고 새로운 용도로 이용하는 과정에서 창작적 요소가 존재하는 발명을 말한다</a:t>
                      </a:r>
                      <a:r>
                        <a:rPr lang="en-US" altLang="ko-KR" sz="950" kern="0" spc="0" dirty="0">
                          <a:solidFill>
                            <a:schemeClr val="tx1"/>
                          </a:solidFill>
                          <a:effectLst/>
                        </a:rPr>
                        <a:t>.</a:t>
                      </a:r>
                      <a:endParaRPr lang="ko-KR" altLang="en-US" sz="950" kern="0" spc="0" dirty="0">
                        <a:solidFill>
                          <a:schemeClr val="tx1"/>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사람의 질병을 </a:t>
                      </a:r>
                      <a:r>
                        <a:rPr lang="ko-KR" altLang="en-US" sz="950" kern="0" spc="0" dirty="0" err="1">
                          <a:solidFill>
                            <a:schemeClr val="tx1"/>
                          </a:solidFill>
                          <a:effectLst/>
                        </a:rPr>
                        <a:t>진단ㆍ치료ㆍ처리ㆍ예방을</a:t>
                      </a:r>
                      <a:r>
                        <a:rPr lang="ko-KR" altLang="en-US" sz="950" kern="0" spc="0" dirty="0">
                          <a:solidFill>
                            <a:schemeClr val="tx1"/>
                          </a:solidFill>
                          <a:effectLst/>
                        </a:rPr>
                        <a:t> 하는 물질인 의약의 발명 이외에 둘 이상의 의약을 혼합하여 하나의 의약을 조제하는 방법의 발명까지 포함한 개념이다</a:t>
                      </a:r>
                      <a:r>
                        <a:rPr lang="en-US" altLang="ko-KR" sz="950" kern="0" spc="0" dirty="0">
                          <a:solidFill>
                            <a:schemeClr val="tx1"/>
                          </a:solidFill>
                          <a:effectLst/>
                        </a:rPr>
                        <a:t>. </a:t>
                      </a:r>
                      <a:endParaRPr lang="ko-KR" altLang="en-US" sz="950" kern="0" spc="0" dirty="0">
                        <a:solidFill>
                          <a:schemeClr val="tx1"/>
                        </a:solidFill>
                        <a:effectLst/>
                        <a:latin typeface="+mn-ea"/>
                        <a:ea typeface="+mn-ea"/>
                      </a:endParaRPr>
                    </a:p>
                  </a:txBody>
                  <a:tcPr marL="47473" marR="47473" marT="23737" marB="23737" anchor="ctr"/>
                </a:tc>
                <a:extLst>
                  <a:ext uri="{0D108BD9-81ED-4DB2-BD59-A6C34878D82A}">
                    <a16:rowId xmlns:a16="http://schemas.microsoft.com/office/drawing/2014/main" val="10001"/>
                  </a:ext>
                </a:extLst>
              </a:tr>
              <a:tr h="600740">
                <a:tc rowSpan="2">
                  <a:txBody>
                    <a:bodyPr/>
                    <a:lstStyle/>
                    <a:p>
                      <a:pPr marL="0" marR="0" indent="0" algn="ctr" fontAlgn="base" latinLnBrk="0">
                        <a:lnSpc>
                          <a:spcPct val="100000"/>
                        </a:lnSpc>
                        <a:spcBef>
                          <a:spcPts val="0"/>
                        </a:spcBef>
                        <a:spcAft>
                          <a:spcPts val="0"/>
                        </a:spcAft>
                      </a:pPr>
                      <a:r>
                        <a:rPr lang="ko-KR" altLang="en-US" sz="950" kern="0" spc="0" dirty="0">
                          <a:effectLst/>
                        </a:rPr>
                        <a:t>특허</a:t>
                      </a:r>
                    </a:p>
                    <a:p>
                      <a:pPr marL="0" marR="0" indent="0" algn="ctr" fontAlgn="base" latinLnBrk="0">
                        <a:lnSpc>
                          <a:spcPct val="100000"/>
                        </a:lnSpc>
                        <a:spcBef>
                          <a:spcPts val="0"/>
                        </a:spcBef>
                        <a:spcAft>
                          <a:spcPts val="0"/>
                        </a:spcAft>
                      </a:pPr>
                      <a:r>
                        <a:rPr lang="ko-KR" altLang="en-US" sz="950" kern="0" spc="0" dirty="0">
                          <a:effectLst/>
                        </a:rPr>
                        <a:t>요건</a:t>
                      </a:r>
                      <a:endParaRPr lang="en-US" altLang="ko-KR" sz="950" kern="0" spc="0" dirty="0">
                        <a:effectLst/>
                      </a:endParaRPr>
                    </a:p>
                    <a:p>
                      <a:pPr marL="0" marR="0" indent="0" algn="ctr" fontAlgn="base" latinLnBrk="0">
                        <a:lnSpc>
                          <a:spcPct val="100000"/>
                        </a:lnSpc>
                        <a:spcBef>
                          <a:spcPts val="0"/>
                        </a:spcBef>
                        <a:spcAft>
                          <a:spcPts val="0"/>
                        </a:spcAft>
                      </a:pPr>
                      <a:endParaRPr lang="ko-KR" altLang="en-US" sz="950" kern="0" spc="0" dirty="0">
                        <a:effectLst/>
                      </a:endParaRPr>
                    </a:p>
                    <a:p>
                      <a:pPr marL="0" marR="0" indent="0" algn="ctr" fontAlgn="base" latinLnBrk="0">
                        <a:lnSpc>
                          <a:spcPct val="100000"/>
                        </a:lnSpc>
                        <a:spcBef>
                          <a:spcPts val="0"/>
                        </a:spcBef>
                        <a:spcAft>
                          <a:spcPts val="0"/>
                        </a:spcAft>
                      </a:pPr>
                      <a:r>
                        <a:rPr lang="ko-KR" altLang="en-US" sz="950" kern="0" spc="0" dirty="0">
                          <a:effectLst/>
                        </a:rPr>
                        <a:t>및</a:t>
                      </a:r>
                      <a:endParaRPr lang="en-US" altLang="ko-KR" sz="950" kern="0" spc="0" dirty="0">
                        <a:effectLst/>
                      </a:endParaRPr>
                    </a:p>
                    <a:p>
                      <a:pPr marL="0" marR="0" indent="0" algn="ctr" fontAlgn="base" latinLnBrk="0">
                        <a:lnSpc>
                          <a:spcPct val="100000"/>
                        </a:lnSpc>
                        <a:spcBef>
                          <a:spcPts val="0"/>
                        </a:spcBef>
                        <a:spcAft>
                          <a:spcPts val="0"/>
                        </a:spcAft>
                      </a:pPr>
                      <a:endParaRPr lang="ko-KR" altLang="en-US" sz="950" kern="0" spc="0" dirty="0">
                        <a:effectLst/>
                      </a:endParaRPr>
                    </a:p>
                    <a:p>
                      <a:pPr marL="0" marR="0" indent="0" algn="ctr" fontAlgn="base" latinLnBrk="0">
                        <a:lnSpc>
                          <a:spcPct val="100000"/>
                        </a:lnSpc>
                        <a:spcBef>
                          <a:spcPts val="0"/>
                        </a:spcBef>
                        <a:spcAft>
                          <a:spcPts val="0"/>
                        </a:spcAft>
                      </a:pPr>
                      <a:r>
                        <a:rPr lang="ko-KR" altLang="en-US" sz="950" kern="0" spc="0" dirty="0">
                          <a:effectLst/>
                        </a:rPr>
                        <a:t>특허</a:t>
                      </a:r>
                    </a:p>
                    <a:p>
                      <a:pPr marL="0" marR="0" indent="0" algn="ctr" fontAlgn="base" latinLnBrk="0">
                        <a:lnSpc>
                          <a:spcPct val="100000"/>
                        </a:lnSpc>
                        <a:spcBef>
                          <a:spcPts val="0"/>
                        </a:spcBef>
                        <a:spcAft>
                          <a:spcPts val="0"/>
                        </a:spcAft>
                      </a:pPr>
                      <a:r>
                        <a:rPr lang="ko-KR" altLang="en-US" sz="950" kern="0" spc="0" dirty="0">
                          <a:effectLst/>
                        </a:rPr>
                        <a:t>출원</a:t>
                      </a:r>
                      <a:endParaRPr lang="ko-KR" altLang="en-US" sz="950" b="1" kern="0" spc="0" dirty="0">
                        <a:solidFill>
                          <a:srgbClr val="000000"/>
                        </a:solidFill>
                        <a:effectLst/>
                        <a:latin typeface="+mn-ea"/>
                        <a:ea typeface="+mn-ea"/>
                      </a:endParaRPr>
                    </a:p>
                  </a:txBody>
                  <a:tcPr marL="47473" marR="47473" marT="23737" marB="23737" anchor="ctr"/>
                </a:tc>
                <a:tc>
                  <a:txBody>
                    <a:bodyPr/>
                    <a:lstStyle/>
                    <a:p>
                      <a:pPr marL="0" marR="0" indent="0" algn="ctr" fontAlgn="base" latinLnBrk="0">
                        <a:lnSpc>
                          <a:spcPct val="100000"/>
                        </a:lnSpc>
                        <a:spcBef>
                          <a:spcPts val="0"/>
                        </a:spcBef>
                        <a:spcAft>
                          <a:spcPts val="0"/>
                        </a:spcAft>
                      </a:pPr>
                      <a:r>
                        <a:rPr lang="ko-KR" altLang="en-US" sz="950" kern="0" spc="0" dirty="0">
                          <a:effectLst/>
                        </a:rPr>
                        <a:t>성</a:t>
                      </a:r>
                      <a:endParaRPr lang="en-US" altLang="ko-KR" sz="950" kern="0" spc="0" dirty="0">
                        <a:effectLst/>
                      </a:endParaRPr>
                    </a:p>
                    <a:p>
                      <a:pPr marL="0" marR="0" indent="0" algn="ctr" fontAlgn="base" latinLnBrk="0">
                        <a:lnSpc>
                          <a:spcPct val="100000"/>
                        </a:lnSpc>
                        <a:spcBef>
                          <a:spcPts val="0"/>
                        </a:spcBef>
                        <a:spcAft>
                          <a:spcPts val="0"/>
                        </a:spcAft>
                      </a:pPr>
                      <a:r>
                        <a:rPr lang="ko-KR" altLang="en-US" sz="950" kern="0" spc="0" dirty="0" err="1">
                          <a:effectLst/>
                        </a:rPr>
                        <a:t>립</a:t>
                      </a:r>
                      <a:endParaRPr lang="en-US" altLang="ko-KR" sz="950" kern="0" spc="0" dirty="0">
                        <a:effectLst/>
                      </a:endParaRPr>
                    </a:p>
                    <a:p>
                      <a:pPr marL="0" marR="0" indent="0" algn="ctr" fontAlgn="base" latinLnBrk="0">
                        <a:lnSpc>
                          <a:spcPct val="100000"/>
                        </a:lnSpc>
                        <a:spcBef>
                          <a:spcPts val="0"/>
                        </a:spcBef>
                        <a:spcAft>
                          <a:spcPts val="0"/>
                        </a:spcAft>
                      </a:pPr>
                      <a:r>
                        <a:rPr lang="ko-KR" altLang="en-US" sz="950" kern="0" spc="0" dirty="0">
                          <a:effectLst/>
                        </a:rPr>
                        <a:t>성</a:t>
                      </a:r>
                      <a:endParaRPr lang="ko-KR" altLang="en-US" sz="950" b="1" kern="0" spc="0" dirty="0">
                        <a:solidFill>
                          <a:srgbClr val="000000"/>
                        </a:solidFill>
                        <a:effectLst/>
                        <a:latin typeface="+mn-ea"/>
                        <a:ea typeface="+mn-ea"/>
                      </a:endParaRPr>
                    </a:p>
                  </a:txBody>
                  <a:tcPr marL="47473" marR="47473" marT="23737" marB="23737" anchor="ctr"/>
                </a:tc>
                <a:tc>
                  <a:txBody>
                    <a:bodyPr/>
                    <a:lstStyle/>
                    <a:p>
                      <a:pPr marL="73660" marR="0" indent="-7366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발견이지만 창작적 요소가 보호가치가 있어 발명의 </a:t>
                      </a:r>
                      <a:r>
                        <a:rPr lang="ko-KR" altLang="en-US" sz="950" kern="0" spc="0" dirty="0" err="1">
                          <a:solidFill>
                            <a:schemeClr val="tx1"/>
                          </a:solidFill>
                          <a:effectLst/>
                        </a:rPr>
                        <a:t>성립성</a:t>
                      </a:r>
                      <a:r>
                        <a:rPr lang="ko-KR" altLang="en-US" sz="950" kern="0" spc="0" dirty="0">
                          <a:solidFill>
                            <a:schemeClr val="tx1"/>
                          </a:solidFill>
                          <a:effectLst/>
                        </a:rPr>
                        <a:t> 인정</a:t>
                      </a: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그 용도가 당시까지 알려지지 않았던 새로운 것이면 충분하고</a:t>
                      </a:r>
                      <a:r>
                        <a:rPr lang="en-US" altLang="ko-KR" sz="950" kern="0" spc="0" dirty="0">
                          <a:solidFill>
                            <a:schemeClr val="tx1"/>
                          </a:solidFill>
                          <a:effectLst/>
                        </a:rPr>
                        <a:t>, </a:t>
                      </a:r>
                      <a:r>
                        <a:rPr lang="ko-KR" altLang="en-US" sz="950" kern="0" spc="0" dirty="0">
                          <a:solidFill>
                            <a:schemeClr val="tx1"/>
                          </a:solidFill>
                          <a:effectLst/>
                        </a:rPr>
                        <a:t>그 물질이나 그 물질의 다른 용도가 출원 이전에 공지되어 있어야 하는 것은 아님</a:t>
                      </a:r>
                      <a:endParaRPr lang="ko-KR" altLang="en-US" sz="950" kern="0" spc="0" dirty="0">
                        <a:solidFill>
                          <a:schemeClr val="tx1"/>
                        </a:solidFill>
                        <a:effectLst/>
                        <a:latin typeface="+mn-ea"/>
                        <a:ea typeface="+mn-ea"/>
                      </a:endParaRPr>
                    </a:p>
                  </a:txBody>
                  <a:tcPr marL="47473" marR="47473" marT="23737" marB="23737" anchor="ctr"/>
                </a:tc>
                <a:tc>
                  <a:txBody>
                    <a:bodyPr/>
                    <a:lstStyle/>
                    <a:p>
                      <a:pPr marL="73660" marR="0" indent="-73660" algn="just" fontAlgn="base" latinLnBrk="1">
                        <a:lnSpc>
                          <a:spcPct val="100000"/>
                        </a:lnSpc>
                        <a:spcBef>
                          <a:spcPts val="0"/>
                        </a:spcBef>
                        <a:spcAft>
                          <a:spcPts val="0"/>
                        </a:spcAft>
                      </a:pPr>
                      <a:r>
                        <a:rPr lang="ko-KR" altLang="en-US" sz="950" kern="0" spc="0">
                          <a:solidFill>
                            <a:schemeClr val="tx1"/>
                          </a:solidFill>
                          <a:effectLst/>
                        </a:rPr>
                        <a:t>의약발명 </a:t>
                      </a:r>
                      <a:r>
                        <a:rPr lang="ko-KR" altLang="en-US" sz="950" kern="0" spc="0" dirty="0">
                          <a:solidFill>
                            <a:schemeClr val="tx1"/>
                          </a:solidFill>
                          <a:effectLst/>
                        </a:rPr>
                        <a:t>중 물질발명의 대부분은 천연물질에서 인체의 치료에 필요한 특정 성분을 발견하고 추출하여 의약으로 이용하는 바</a:t>
                      </a:r>
                      <a:r>
                        <a:rPr lang="en-US" altLang="ko-KR" sz="950" kern="0" spc="0" dirty="0">
                          <a:solidFill>
                            <a:schemeClr val="tx1"/>
                          </a:solidFill>
                          <a:effectLst/>
                        </a:rPr>
                        <a:t>, </a:t>
                      </a:r>
                      <a:r>
                        <a:rPr lang="ko-KR" altLang="en-US" sz="950" kern="0" spc="0" dirty="0">
                          <a:solidFill>
                            <a:schemeClr val="tx1"/>
                          </a:solidFill>
                          <a:effectLst/>
                        </a:rPr>
                        <a:t>용도발명의 일종</a:t>
                      </a:r>
                    </a:p>
                  </a:txBody>
                  <a:tcPr marL="47473" marR="47473" marT="23737" marB="23737" anchor="ctr"/>
                </a:tc>
                <a:extLst>
                  <a:ext uri="{0D108BD9-81ED-4DB2-BD59-A6C34878D82A}">
                    <a16:rowId xmlns:a16="http://schemas.microsoft.com/office/drawing/2014/main" val="10002"/>
                  </a:ext>
                </a:extLst>
              </a:tr>
              <a:tr h="826247">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kern="0" spc="0">
                          <a:effectLst/>
                        </a:rPr>
                        <a:t>기타</a:t>
                      </a:r>
                      <a:endParaRPr lang="ko-KR" altLang="en-US" sz="950" b="1" kern="0" spc="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물건발명</a:t>
                      </a:r>
                      <a:r>
                        <a:rPr lang="en-US" altLang="ko-KR" sz="950" kern="0" spc="0" dirty="0">
                          <a:solidFill>
                            <a:schemeClr val="tx1"/>
                          </a:solidFill>
                          <a:effectLst/>
                        </a:rPr>
                        <a:t>/</a:t>
                      </a:r>
                      <a:r>
                        <a:rPr lang="ko-KR" altLang="en-US" sz="950" kern="0" spc="0" dirty="0">
                          <a:solidFill>
                            <a:schemeClr val="tx1"/>
                          </a:solidFill>
                          <a:effectLst/>
                        </a:rPr>
                        <a:t>방법발명 중 택일하여 청구항 기재 가능</a:t>
                      </a:r>
                      <a:endParaRPr lang="ko-KR" altLang="en-US" sz="950" kern="0" spc="0" dirty="0">
                        <a:solidFill>
                          <a:schemeClr val="tx1"/>
                        </a:solidFill>
                        <a:effectLst/>
                        <a:latin typeface="+mn-ea"/>
                        <a:ea typeface="+mn-ea"/>
                      </a:endParaRPr>
                    </a:p>
                  </a:txBody>
                  <a:tcPr marL="47473" marR="47473" marT="23737" marB="23737" anchor="ctr"/>
                </a:tc>
                <a:tc>
                  <a:txBody>
                    <a:bodyPr/>
                    <a:lstStyle/>
                    <a:p>
                      <a:pPr marL="73660" marR="0" lvl="0" indent="-73660" algn="just" defTabSz="914400" rtl="0" eaLnBrk="1" fontAlgn="base" latinLnBrk="1" hangingPunct="1">
                        <a:lnSpc>
                          <a:spcPct val="100000"/>
                        </a:lnSpc>
                        <a:spcBef>
                          <a:spcPts val="0"/>
                        </a:spcBef>
                        <a:spcAft>
                          <a:spcPts val="0"/>
                        </a:spcAft>
                        <a:buClrTx/>
                        <a:buSzTx/>
                        <a:buFontTx/>
                        <a:buNone/>
                        <a:tabLst/>
                        <a:defRPr/>
                      </a:pPr>
                      <a:r>
                        <a:rPr lang="en-US" altLang="ko-KR" sz="950" kern="0" spc="0" dirty="0">
                          <a:solidFill>
                            <a:schemeClr val="tx1"/>
                          </a:solidFill>
                          <a:effectLst/>
                        </a:rPr>
                        <a:t>1.</a:t>
                      </a:r>
                      <a:r>
                        <a:rPr lang="ko-KR" altLang="en-US" sz="950" kern="0" spc="0" dirty="0">
                          <a:solidFill>
                            <a:schemeClr val="tx1"/>
                          </a:solidFill>
                          <a:effectLst/>
                        </a:rPr>
                        <a:t>약리기전이 명확히 밝혀지지 아니한 이상 일정한 확실성 및 반복가능성이 미약하여 목적달성이 현저히 의심스럽기 때문에 특정 물질에 그와 같은 약리효과가 있다는 것을 약리데이터 등이 나타난 시험예로 기재하거나 또는 이에 대신할 수 있을 정도로 구체적으로 </a:t>
                      </a:r>
                      <a:r>
                        <a:rPr lang="ko-KR" altLang="en-US" sz="950" kern="0" spc="0" dirty="0" err="1">
                          <a:solidFill>
                            <a:schemeClr val="tx1"/>
                          </a:solidFill>
                          <a:effectLst/>
                        </a:rPr>
                        <a:t>기재하여야만</a:t>
                      </a:r>
                      <a:r>
                        <a:rPr lang="ko-KR" altLang="en-US" sz="950" kern="0" spc="0" dirty="0">
                          <a:solidFill>
                            <a:schemeClr val="tx1"/>
                          </a:solidFill>
                          <a:effectLst/>
                        </a:rPr>
                        <a:t> 발명의 설명의 기재요건을 충족</a:t>
                      </a:r>
                      <a:endParaRPr lang="ko-KR" altLang="en-US" sz="950" kern="0" spc="0" dirty="0">
                        <a:solidFill>
                          <a:schemeClr val="tx1"/>
                        </a:solidFill>
                        <a:effectLst/>
                        <a:latin typeface="+mn-ea"/>
                        <a:ea typeface="+mn-ea"/>
                      </a:endParaRP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청구범위에는 특정 물질의 의약용도를 대상 질병 또는 약효로 명확히 기재하는 것이 원칙이나</a:t>
                      </a:r>
                      <a:r>
                        <a:rPr lang="en-US" altLang="ko-KR" sz="950" kern="0" spc="0" dirty="0">
                          <a:solidFill>
                            <a:schemeClr val="tx1"/>
                          </a:solidFill>
                          <a:effectLst/>
                        </a:rPr>
                        <a:t>, </a:t>
                      </a:r>
                      <a:r>
                        <a:rPr lang="ko-KR" altLang="en-US" sz="950" kern="0" spc="0" dirty="0">
                          <a:solidFill>
                            <a:schemeClr val="tx1"/>
                          </a:solidFill>
                          <a:effectLst/>
                        </a:rPr>
                        <a:t>특정 물질의 의약용도가 약리기전만으로 기재되어 있다 하더라도 명세서 등 발명의 설명의 다른 기재나 기술상식에 의하여 </a:t>
                      </a:r>
                      <a:r>
                        <a:rPr lang="ko-KR" altLang="en-US" sz="950" kern="0" spc="0" dirty="0" err="1">
                          <a:solidFill>
                            <a:schemeClr val="tx1"/>
                          </a:solidFill>
                          <a:effectLst/>
                        </a:rPr>
                        <a:t>의약으로서의</a:t>
                      </a:r>
                      <a:r>
                        <a:rPr lang="ko-KR" altLang="en-US" sz="950" kern="0" spc="0" dirty="0">
                          <a:solidFill>
                            <a:schemeClr val="tx1"/>
                          </a:solidFill>
                          <a:effectLst/>
                        </a:rPr>
                        <a:t> 구체적인 용도를 명확하게 파악할 수 있는 경우에는 적법</a:t>
                      </a: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3.</a:t>
                      </a:r>
                      <a:r>
                        <a:rPr lang="ko-KR" altLang="en-US" sz="950" kern="0" spc="0" dirty="0">
                          <a:solidFill>
                            <a:schemeClr val="tx1"/>
                          </a:solidFill>
                          <a:effectLst/>
                        </a:rPr>
                        <a:t>청구범위에 기재되어 있는 약리기전은 특정 물질이 가지고 있는 의약용도를 특정하는 한도 내에서만 발명의 구성요소로서 의미를 가질 뿐 약리기전 그 자체가 청구범위를 한정하는 구성요소는 아님</a:t>
                      </a: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4.</a:t>
                      </a:r>
                      <a:r>
                        <a:rPr lang="ko-KR" altLang="en-US" sz="950" kern="0" spc="0" dirty="0">
                          <a:solidFill>
                            <a:schemeClr val="tx1"/>
                          </a:solidFill>
                          <a:effectLst/>
                        </a:rPr>
                        <a:t>의약의 투여용법과 투여용량도 용도발명의 구성요소에 해당함</a:t>
                      </a:r>
                      <a:endParaRPr lang="ko-KR" altLang="en-US" sz="950" kern="0" spc="0" dirty="0">
                        <a:solidFill>
                          <a:schemeClr val="tx1"/>
                        </a:solidFill>
                        <a:effectLst/>
                        <a:latin typeface="+mn-ea"/>
                        <a:ea typeface="+mn-ea"/>
                      </a:endParaRP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5.</a:t>
                      </a:r>
                      <a:r>
                        <a:rPr lang="ko-KR" altLang="en-US" sz="950" kern="0" spc="0" dirty="0">
                          <a:solidFill>
                            <a:schemeClr val="tx1"/>
                          </a:solidFill>
                          <a:effectLst/>
                        </a:rPr>
                        <a:t>의약발명은 인체를 직접적인 구성요소로 하지 아니하기 때문에 산업상 이용가능성</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29</a:t>
                      </a:r>
                      <a:r>
                        <a:rPr lang="ko-KR" altLang="en-US" sz="950" kern="0" spc="0" dirty="0">
                          <a:solidFill>
                            <a:schemeClr val="tx1"/>
                          </a:solidFill>
                          <a:effectLst/>
                        </a:rPr>
                        <a:t>①본문</a:t>
                      </a:r>
                      <a:r>
                        <a:rPr lang="en-US" altLang="ko-KR" sz="950" kern="0" spc="0" dirty="0">
                          <a:solidFill>
                            <a:schemeClr val="tx1"/>
                          </a:solidFill>
                          <a:effectLst/>
                        </a:rPr>
                        <a:t>)</a:t>
                      </a:r>
                      <a:r>
                        <a:rPr lang="ko-KR" altLang="en-US" sz="950" kern="0" spc="0" dirty="0">
                          <a:solidFill>
                            <a:schemeClr val="tx1"/>
                          </a:solidFill>
                          <a:effectLst/>
                        </a:rPr>
                        <a:t>이 인정되고</a:t>
                      </a:r>
                      <a:r>
                        <a:rPr lang="en-US" altLang="ko-KR" sz="950" kern="0" spc="0" dirty="0">
                          <a:solidFill>
                            <a:schemeClr val="tx1"/>
                          </a:solidFill>
                          <a:effectLst/>
                        </a:rPr>
                        <a:t>, </a:t>
                      </a:r>
                      <a:r>
                        <a:rPr lang="ko-KR" altLang="en-US" sz="950" kern="0" spc="0" dirty="0">
                          <a:solidFill>
                            <a:schemeClr val="tx1"/>
                          </a:solidFill>
                          <a:effectLst/>
                        </a:rPr>
                        <a:t>그 발명을 실행할 때 필연적으로 신체를 손상하거나</a:t>
                      </a:r>
                      <a:r>
                        <a:rPr lang="en-US" altLang="ko-KR" sz="950" kern="0" spc="0" dirty="0">
                          <a:solidFill>
                            <a:schemeClr val="tx1"/>
                          </a:solidFill>
                          <a:effectLst/>
                        </a:rPr>
                        <a:t>, </a:t>
                      </a:r>
                      <a:r>
                        <a:rPr lang="ko-KR" altLang="en-US" sz="950" kern="0" spc="0" dirty="0">
                          <a:solidFill>
                            <a:schemeClr val="tx1"/>
                          </a:solidFill>
                          <a:effectLst/>
                        </a:rPr>
                        <a:t>신체의 자유를 비인도적으로 구속하지 아니하기 때문에 공서양속에 위반되거나 공중의 위생을 해칠 우려가 있는 발명</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32)</a:t>
                      </a:r>
                      <a:r>
                        <a:rPr lang="ko-KR" altLang="en-US" sz="950" kern="0" spc="0" dirty="0">
                          <a:solidFill>
                            <a:schemeClr val="tx1"/>
                          </a:solidFill>
                          <a:effectLst/>
                        </a:rPr>
                        <a:t>에 해당하지 않음</a:t>
                      </a:r>
                      <a:endParaRPr lang="en-US" altLang="ko-KR" sz="950" kern="0" spc="0" dirty="0">
                        <a:solidFill>
                          <a:schemeClr val="tx1"/>
                        </a:solidFill>
                        <a:effectLst/>
                      </a:endParaRP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6.</a:t>
                      </a:r>
                      <a:r>
                        <a:rPr lang="ko-KR" altLang="en-US" sz="950" kern="0" spc="0" dirty="0">
                          <a:solidFill>
                            <a:schemeClr val="tx1"/>
                          </a:solidFill>
                          <a:effectLst/>
                        </a:rPr>
                        <a:t>화학물질이나 의약품 등의 경우에는 통상의 기술자가 특허발명의 출원일 또는 우선권 주장일 전에 사용할 수 있었던 분석방법을 통해 과도한 노력을 기울이지 않고 그 조성이나 성분을 알 수 없었다면 비록 공연히 판매되었더라도 불특정다수인이 인식할 수 있는 상태였다고 볼 수 없어 신규성이 상실되지 아니함</a:t>
                      </a:r>
                      <a:endParaRPr lang="en-US" altLang="ko-KR" sz="950" kern="0" spc="0" dirty="0">
                        <a:solidFill>
                          <a:schemeClr val="tx1"/>
                        </a:solidFill>
                        <a:effectLst/>
                      </a:endParaRP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7.</a:t>
                      </a:r>
                      <a:r>
                        <a:rPr lang="ko-KR" altLang="en-US" sz="950" kern="0" spc="0" dirty="0">
                          <a:solidFill>
                            <a:schemeClr val="tx1"/>
                          </a:solidFill>
                          <a:effectLst/>
                        </a:rPr>
                        <a:t>특정한 투여용법이나 투여용량으로 인하여 나타난 유리한 효과가 통상의 기술자의 기술수준에서 예측되는 범위를 넘는 현저한 경우이거나 또는 통상의 기술자가 당해 의약발명의 약리효과가 온전히 유지되면서 독성이나 부작용이 최소화되는 특정한 투여용법이나 투여용량을 선행발명 또는 공지의 발명으로부터 예측할 수 없었던 경우에 진보성을 인정받을 수 있음</a:t>
                      </a:r>
                    </a:p>
                  </a:txBody>
                  <a:tcPr marL="47473" marR="47473" marT="23737" marB="23737" anchor="ctr"/>
                </a:tc>
                <a:extLst>
                  <a:ext uri="{0D108BD9-81ED-4DB2-BD59-A6C34878D82A}">
                    <a16:rowId xmlns:a16="http://schemas.microsoft.com/office/drawing/2014/main" val="10003"/>
                  </a:ext>
                </a:extLst>
              </a:tr>
              <a:tr h="826247">
                <a:tc rowSpan="3">
                  <a:txBody>
                    <a:bodyPr/>
                    <a:lstStyle/>
                    <a:p>
                      <a:pPr marL="0" marR="0" indent="0" algn="ctr" fontAlgn="base" latinLnBrk="0">
                        <a:lnSpc>
                          <a:spcPct val="100000"/>
                        </a:lnSpc>
                        <a:spcBef>
                          <a:spcPts val="0"/>
                        </a:spcBef>
                        <a:spcAft>
                          <a:spcPts val="0"/>
                        </a:spcAft>
                      </a:pPr>
                      <a:r>
                        <a:rPr lang="ko-KR" altLang="en-US" sz="950" kern="0" spc="0" dirty="0" err="1">
                          <a:effectLst/>
                        </a:rPr>
                        <a:t>특</a:t>
                      </a:r>
                      <a:endParaRPr lang="en-US" altLang="ko-KR" sz="950" kern="0" spc="0" dirty="0">
                        <a:effectLst/>
                      </a:endParaRPr>
                    </a:p>
                    <a:p>
                      <a:pPr marL="0" marR="0" indent="0" algn="ctr" fontAlgn="base" latinLnBrk="0">
                        <a:lnSpc>
                          <a:spcPct val="100000"/>
                        </a:lnSpc>
                        <a:spcBef>
                          <a:spcPts val="0"/>
                        </a:spcBef>
                        <a:spcAft>
                          <a:spcPts val="0"/>
                        </a:spcAft>
                      </a:pPr>
                      <a:r>
                        <a:rPr lang="ko-KR" altLang="en-US" sz="950" kern="0" spc="0" dirty="0">
                          <a:effectLst/>
                        </a:rPr>
                        <a:t>허</a:t>
                      </a:r>
                      <a:endParaRPr lang="en-US" altLang="ko-KR" sz="950" kern="0" spc="0" dirty="0">
                        <a:effectLst/>
                      </a:endParaRPr>
                    </a:p>
                    <a:p>
                      <a:pPr marL="0" marR="0" indent="0" algn="ctr" fontAlgn="base" latinLnBrk="0">
                        <a:lnSpc>
                          <a:spcPct val="100000"/>
                        </a:lnSpc>
                        <a:spcBef>
                          <a:spcPts val="0"/>
                        </a:spcBef>
                        <a:spcAft>
                          <a:spcPts val="0"/>
                        </a:spcAft>
                      </a:pPr>
                      <a:r>
                        <a:rPr lang="ko-KR" altLang="en-US" sz="950" kern="0" spc="0" dirty="0">
                          <a:effectLst/>
                        </a:rPr>
                        <a:t>권</a:t>
                      </a:r>
                      <a:endParaRPr lang="ko-KR" altLang="en-US" sz="950" b="1" kern="0" spc="0" dirty="0">
                        <a:solidFill>
                          <a:srgbClr val="000000"/>
                        </a:solidFill>
                        <a:effectLst/>
                        <a:latin typeface="+mn-ea"/>
                        <a:ea typeface="+mn-ea"/>
                      </a:endParaRPr>
                    </a:p>
                  </a:txBody>
                  <a:tcPr marL="47473" marR="47473" marT="23737" marB="23737" anchor="ctr"/>
                </a:tc>
                <a:tc>
                  <a:txBody>
                    <a:bodyPr/>
                    <a:lstStyle/>
                    <a:p>
                      <a:pPr marL="0" marR="0" indent="0" algn="ctr" fontAlgn="base" latinLnBrk="0">
                        <a:lnSpc>
                          <a:spcPct val="100000"/>
                        </a:lnSpc>
                        <a:spcBef>
                          <a:spcPts val="0"/>
                        </a:spcBef>
                        <a:spcAft>
                          <a:spcPts val="0"/>
                        </a:spcAft>
                      </a:pPr>
                      <a:r>
                        <a:rPr lang="ko-KR" altLang="en-US" sz="950" kern="0" spc="0">
                          <a:effectLst/>
                        </a:rPr>
                        <a:t>효력</a:t>
                      </a:r>
                      <a:endParaRPr lang="ko-KR" altLang="en-US" sz="950" b="1" kern="0" spc="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용도발명은 물건발명을 그대로 이용한 것이므로 </a:t>
                      </a:r>
                      <a:r>
                        <a:rPr lang="ko-KR" altLang="en-US" sz="950" kern="0" spc="0" dirty="0" err="1">
                          <a:solidFill>
                            <a:schemeClr val="tx1"/>
                          </a:solidFill>
                          <a:effectLst/>
                        </a:rPr>
                        <a:t>선출원되어</a:t>
                      </a:r>
                      <a:r>
                        <a:rPr lang="ko-KR" altLang="en-US" sz="950" kern="0" spc="0" dirty="0">
                          <a:solidFill>
                            <a:schemeClr val="tx1"/>
                          </a:solidFill>
                          <a:effectLst/>
                        </a:rPr>
                        <a:t> </a:t>
                      </a:r>
                      <a:r>
                        <a:rPr lang="ko-KR" altLang="en-US" sz="950" kern="0" spc="0" dirty="0" err="1">
                          <a:solidFill>
                            <a:schemeClr val="tx1"/>
                          </a:solidFill>
                          <a:effectLst/>
                        </a:rPr>
                        <a:t>특허된</a:t>
                      </a:r>
                      <a:r>
                        <a:rPr lang="ko-KR" altLang="en-US" sz="950" kern="0" spc="0" dirty="0">
                          <a:solidFill>
                            <a:schemeClr val="tx1"/>
                          </a:solidFill>
                          <a:effectLst/>
                        </a:rPr>
                        <a:t> 물건발명과 이용관계임 → 용도발명의 특허권자는 물건발명의 특허권자의 허락을 받거나</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98), </a:t>
                      </a:r>
                      <a:r>
                        <a:rPr lang="ko-KR" altLang="en-US" sz="950" kern="0" spc="0" dirty="0" err="1">
                          <a:solidFill>
                            <a:schemeClr val="tx1"/>
                          </a:solidFill>
                          <a:effectLst/>
                        </a:rPr>
                        <a:t>통상실시권허여심판</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138)</a:t>
                      </a:r>
                      <a:r>
                        <a:rPr lang="ko-KR" altLang="en-US" sz="950" kern="0" spc="0" dirty="0">
                          <a:solidFill>
                            <a:schemeClr val="tx1"/>
                          </a:solidFill>
                          <a:effectLst/>
                        </a:rPr>
                        <a:t>에 의하지 아니하고는 용도발명을 실시 不可</a:t>
                      </a:r>
                      <a:endParaRPr lang="ko-KR" altLang="en-US" sz="950" kern="0" spc="0" dirty="0">
                        <a:solidFill>
                          <a:schemeClr val="tx1"/>
                        </a:solidFill>
                        <a:effectLst/>
                        <a:latin typeface="+mn-ea"/>
                        <a:ea typeface="+mn-ea"/>
                      </a:endParaRPr>
                    </a:p>
                  </a:txBody>
                  <a:tcPr marL="47473" marR="47473" marT="23737" marB="23737" anchor="ctr"/>
                </a:tc>
                <a:tc>
                  <a:txBody>
                    <a:bodyPr/>
                    <a:lstStyle/>
                    <a:p>
                      <a:pPr marL="73660" marR="0" indent="-7366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「약사법」에 따른 의약품의 </a:t>
                      </a:r>
                      <a:r>
                        <a:rPr lang="ko-KR" altLang="en-US" sz="950" kern="0" spc="0" dirty="0" err="1">
                          <a:solidFill>
                            <a:schemeClr val="tx1"/>
                          </a:solidFill>
                          <a:effectLst/>
                        </a:rPr>
                        <a:t>품목허가ㆍ품목신고를</a:t>
                      </a:r>
                      <a:r>
                        <a:rPr lang="ko-KR" altLang="en-US" sz="950" kern="0" spc="0" dirty="0">
                          <a:solidFill>
                            <a:schemeClr val="tx1"/>
                          </a:solidFill>
                          <a:effectLst/>
                        </a:rPr>
                        <a:t> 위한 연구 또는 시험의 경우에는 특허권의 효력이 미치지 아니함</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96</a:t>
                      </a:r>
                      <a:r>
                        <a:rPr lang="ko-KR" altLang="en-US" sz="950" kern="0" spc="0" dirty="0">
                          <a:solidFill>
                            <a:schemeClr val="tx1"/>
                          </a:solidFill>
                          <a:effectLst/>
                        </a:rPr>
                        <a:t>①</a:t>
                      </a:r>
                      <a:r>
                        <a:rPr lang="en-US" altLang="ko-KR" sz="950" kern="0" spc="0" dirty="0">
                          <a:solidFill>
                            <a:schemeClr val="tx1"/>
                          </a:solidFill>
                          <a:effectLst/>
                        </a:rPr>
                        <a:t>Ⅰ)</a:t>
                      </a:r>
                      <a:endParaRPr lang="ko-KR" altLang="en-US" sz="950" kern="0" spc="0" dirty="0">
                        <a:solidFill>
                          <a:schemeClr val="tx1"/>
                        </a:solidFill>
                        <a:effectLst/>
                      </a:endParaRP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둘 이상의 의약</a:t>
                      </a:r>
                      <a:r>
                        <a:rPr lang="en-US" altLang="ko-KR" sz="950" kern="0" spc="0" dirty="0">
                          <a:solidFill>
                            <a:schemeClr val="tx1"/>
                          </a:solidFill>
                          <a:effectLst/>
                        </a:rPr>
                        <a:t>[</a:t>
                      </a:r>
                      <a:r>
                        <a:rPr lang="ko-KR" altLang="en-US" sz="950" kern="0" spc="0" dirty="0">
                          <a:solidFill>
                            <a:schemeClr val="tx1"/>
                          </a:solidFill>
                          <a:effectLst/>
                        </a:rPr>
                        <a:t>사람의 질병의 진단</a:t>
                      </a:r>
                      <a:r>
                        <a:rPr lang="en-US" altLang="ko-KR" sz="950" kern="0" spc="0" dirty="0">
                          <a:solidFill>
                            <a:schemeClr val="tx1"/>
                          </a:solidFill>
                          <a:effectLst/>
                        </a:rPr>
                        <a:t>·</a:t>
                      </a:r>
                      <a:r>
                        <a:rPr lang="ko-KR" altLang="en-US" sz="950" kern="0" spc="0" dirty="0">
                          <a:solidFill>
                            <a:schemeClr val="tx1"/>
                          </a:solidFill>
                          <a:effectLst/>
                        </a:rPr>
                        <a:t>경감</a:t>
                      </a:r>
                      <a:r>
                        <a:rPr lang="en-US" altLang="ko-KR" sz="950" kern="0" spc="0" dirty="0">
                          <a:solidFill>
                            <a:schemeClr val="tx1"/>
                          </a:solidFill>
                          <a:effectLst/>
                        </a:rPr>
                        <a:t>·</a:t>
                      </a:r>
                      <a:r>
                        <a:rPr lang="ko-KR" altLang="en-US" sz="950" kern="0" spc="0" dirty="0">
                          <a:solidFill>
                            <a:schemeClr val="tx1"/>
                          </a:solidFill>
                          <a:effectLst/>
                        </a:rPr>
                        <a:t>치료</a:t>
                      </a:r>
                      <a:r>
                        <a:rPr lang="en-US" altLang="ko-KR" sz="950" kern="0" spc="0" dirty="0">
                          <a:solidFill>
                            <a:schemeClr val="tx1"/>
                          </a:solidFill>
                          <a:effectLst/>
                        </a:rPr>
                        <a:t>·</a:t>
                      </a:r>
                      <a:r>
                        <a:rPr lang="ko-KR" altLang="en-US" sz="950" kern="0" spc="0" dirty="0">
                          <a:solidFill>
                            <a:schemeClr val="tx1"/>
                          </a:solidFill>
                          <a:effectLst/>
                        </a:rPr>
                        <a:t>처치</a:t>
                      </a:r>
                      <a:r>
                        <a:rPr lang="en-US" altLang="ko-KR" sz="950" kern="0" spc="0" dirty="0">
                          <a:solidFill>
                            <a:schemeClr val="tx1"/>
                          </a:solidFill>
                          <a:effectLst/>
                        </a:rPr>
                        <a:t>(</a:t>
                      </a:r>
                      <a:r>
                        <a:rPr lang="ko-KR" altLang="en-US" sz="950" kern="0" spc="0" dirty="0">
                          <a:solidFill>
                            <a:schemeClr val="tx1"/>
                          </a:solidFill>
                          <a:effectLst/>
                        </a:rPr>
                        <a:t>處置</a:t>
                      </a:r>
                      <a:r>
                        <a:rPr lang="en-US" altLang="ko-KR" sz="950" kern="0" spc="0" dirty="0">
                          <a:solidFill>
                            <a:schemeClr val="tx1"/>
                          </a:solidFill>
                          <a:effectLst/>
                        </a:rPr>
                        <a:t>) </a:t>
                      </a:r>
                      <a:r>
                        <a:rPr lang="ko-KR" altLang="en-US" sz="950" kern="0" spc="0" dirty="0">
                          <a:solidFill>
                            <a:schemeClr val="tx1"/>
                          </a:solidFill>
                          <a:effectLst/>
                        </a:rPr>
                        <a:t>또는 예방을 위하여 사용되는 물건을 말한다</a:t>
                      </a:r>
                      <a:r>
                        <a:rPr lang="en-US" altLang="ko-KR" sz="950" kern="0" spc="0" dirty="0">
                          <a:solidFill>
                            <a:schemeClr val="tx1"/>
                          </a:solidFill>
                          <a:effectLst/>
                        </a:rPr>
                        <a:t>. </a:t>
                      </a:r>
                      <a:r>
                        <a:rPr lang="ko-KR" altLang="en-US" sz="950" kern="0" spc="0" dirty="0">
                          <a:solidFill>
                            <a:schemeClr val="tx1"/>
                          </a:solidFill>
                          <a:effectLst/>
                        </a:rPr>
                        <a:t>이하 같다</a:t>
                      </a:r>
                      <a:r>
                        <a:rPr lang="en-US" altLang="ko-KR" sz="950" kern="0" spc="0" dirty="0">
                          <a:solidFill>
                            <a:schemeClr val="tx1"/>
                          </a:solidFill>
                          <a:effectLst/>
                        </a:rPr>
                        <a:t>]</a:t>
                      </a:r>
                      <a:r>
                        <a:rPr lang="ko-KR" altLang="en-US" sz="950" kern="0" spc="0" dirty="0">
                          <a:solidFill>
                            <a:schemeClr val="tx1"/>
                          </a:solidFill>
                          <a:effectLst/>
                        </a:rPr>
                        <a:t>이 혼합되어 제조되는 의약의 발명 또는 둘 이상의 의약을 혼합하여 의약을 제조하는 방법의 발명에 관한 특허권의 효력은 「약사법」에 따른 조제행위와 그 조제에 의한 의약에는 미치지 아니함</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96</a:t>
                      </a:r>
                      <a:r>
                        <a:rPr lang="ko-KR" altLang="en-US" sz="950" kern="0" spc="0" dirty="0">
                          <a:solidFill>
                            <a:schemeClr val="tx1"/>
                          </a:solidFill>
                          <a:effectLst/>
                        </a:rPr>
                        <a:t>②</a:t>
                      </a:r>
                      <a:r>
                        <a:rPr lang="en-US" altLang="ko-KR" sz="950" kern="0" spc="0" dirty="0">
                          <a:solidFill>
                            <a:schemeClr val="tx1"/>
                          </a:solidFill>
                          <a:effectLst/>
                        </a:rPr>
                        <a:t>).</a:t>
                      </a:r>
                      <a:endParaRPr lang="ko-KR" altLang="en-US" sz="950" kern="0" spc="0" dirty="0">
                        <a:solidFill>
                          <a:schemeClr val="tx1"/>
                        </a:solidFill>
                        <a:effectLst/>
                      </a:endParaRP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3.</a:t>
                      </a:r>
                      <a:r>
                        <a:rPr lang="ko-KR" altLang="en-US" sz="950" kern="0" spc="0" dirty="0">
                          <a:solidFill>
                            <a:schemeClr val="tx1"/>
                          </a:solidFill>
                          <a:effectLst/>
                        </a:rPr>
                        <a:t>특허발명을 실시하려는 자는 수입국에 그 의약품을 수출할 수 있도록 특허발명을 실시할 필요가 있는 경우에 그 특허발명의 특허권자 또는 </a:t>
                      </a:r>
                      <a:r>
                        <a:rPr lang="ko-KR" altLang="en-US" sz="950" kern="0" spc="0" dirty="0" err="1">
                          <a:solidFill>
                            <a:schemeClr val="tx1"/>
                          </a:solidFill>
                          <a:effectLst/>
                        </a:rPr>
                        <a:t>전용실시권자와</a:t>
                      </a:r>
                      <a:r>
                        <a:rPr lang="ko-KR" altLang="en-US" sz="950" kern="0" spc="0" dirty="0">
                          <a:solidFill>
                            <a:schemeClr val="tx1"/>
                          </a:solidFill>
                          <a:effectLst/>
                        </a:rPr>
                        <a:t> 합리적인 조건으로 통상실시권 허락에 관한 협의를 하였으나 합의가 이루어지지 아니하는 경우 또는 협의를 할 수 없는 경우에는 지식재산처장에게 통상실시권 설정에 관한 재정을 청구할 수 있다</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107).</a:t>
                      </a:r>
                      <a:endParaRPr lang="ko-KR" altLang="en-US" sz="950" kern="0" spc="0" dirty="0">
                        <a:solidFill>
                          <a:schemeClr val="tx1"/>
                        </a:solidFill>
                        <a:effectLst/>
                        <a:latin typeface="+mn-ea"/>
                        <a:ea typeface="+mn-ea"/>
                      </a:endParaRPr>
                    </a:p>
                  </a:txBody>
                  <a:tcPr marL="47473" marR="47473" marT="23737" marB="23737" anchor="ctr"/>
                </a:tc>
                <a:extLst>
                  <a:ext uri="{0D108BD9-81ED-4DB2-BD59-A6C34878D82A}">
                    <a16:rowId xmlns:a16="http://schemas.microsoft.com/office/drawing/2014/main" val="10005"/>
                  </a:ext>
                </a:extLst>
              </a:tr>
              <a:tr h="149726">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kern="0" spc="0">
                          <a:effectLst/>
                        </a:rPr>
                        <a:t>제한</a:t>
                      </a:r>
                      <a:endParaRPr lang="ko-KR" altLang="en-US" sz="950" b="1" kern="0" spc="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endParaRPr lang="ko-KR" altLang="en-US" sz="950" kern="0" spc="0">
                        <a:solidFill>
                          <a:schemeClr val="tx1"/>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endParaRPr lang="ko-KR" altLang="en-US" sz="950" kern="0" spc="0" dirty="0">
                        <a:solidFill>
                          <a:schemeClr val="tx1"/>
                        </a:solidFill>
                        <a:effectLst/>
                        <a:latin typeface="+mn-ea"/>
                        <a:ea typeface="+mn-ea"/>
                      </a:endParaRPr>
                    </a:p>
                  </a:txBody>
                  <a:tcPr marL="47473" marR="47473" marT="23737" marB="23737" anchor="ctr"/>
                </a:tc>
                <a:extLst>
                  <a:ext uri="{0D108BD9-81ED-4DB2-BD59-A6C34878D82A}">
                    <a16:rowId xmlns:a16="http://schemas.microsoft.com/office/drawing/2014/main" val="10006"/>
                  </a:ext>
                </a:extLst>
              </a:tr>
              <a:tr h="375233">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kern="0" spc="0">
                          <a:effectLst/>
                        </a:rPr>
                        <a:t>확장</a:t>
                      </a:r>
                      <a:endParaRPr lang="ko-KR" altLang="en-US" sz="950" b="1" kern="0" spc="0">
                        <a:solidFill>
                          <a:srgbClr val="000000"/>
                        </a:solidFill>
                        <a:effectLst/>
                        <a:latin typeface="+mn-ea"/>
                        <a:ea typeface="+mn-ea"/>
                      </a:endParaRPr>
                    </a:p>
                  </a:txBody>
                  <a:tcPr marL="47473" marR="47473" marT="23737" marB="23737" anchor="ctr"/>
                </a:tc>
                <a:tc>
                  <a:txBody>
                    <a:bodyPr/>
                    <a:lstStyle/>
                    <a:p>
                      <a:pPr marL="73660" marR="0" indent="-73660" algn="just" fontAlgn="base" latinLnBrk="1">
                        <a:lnSpc>
                          <a:spcPct val="100000"/>
                        </a:lnSpc>
                        <a:spcBef>
                          <a:spcPts val="0"/>
                        </a:spcBef>
                        <a:spcAft>
                          <a:spcPts val="0"/>
                        </a:spcAft>
                      </a:pPr>
                      <a:r>
                        <a:rPr lang="en-US" altLang="ko-KR" sz="950" kern="0" spc="0">
                          <a:solidFill>
                            <a:schemeClr val="tx1"/>
                          </a:solidFill>
                          <a:effectLst/>
                        </a:rPr>
                        <a:t>1.</a:t>
                      </a:r>
                      <a:r>
                        <a:rPr lang="ko-KR" altLang="en-US" sz="950" kern="0" spc="0">
                          <a:solidFill>
                            <a:schemeClr val="tx1"/>
                          </a:solidFill>
                          <a:effectLst/>
                        </a:rPr>
                        <a:t>허가 등에 따른 존속기간의 연장가능</a:t>
                      </a:r>
                    </a:p>
                    <a:p>
                      <a:pPr marL="73660" marR="0" indent="-73660" algn="just" fontAlgn="base" latinLnBrk="1">
                        <a:lnSpc>
                          <a:spcPct val="100000"/>
                        </a:lnSpc>
                        <a:spcBef>
                          <a:spcPts val="0"/>
                        </a:spcBef>
                        <a:spcAft>
                          <a:spcPts val="0"/>
                        </a:spcAft>
                      </a:pPr>
                      <a:r>
                        <a:rPr lang="en-US" altLang="ko-KR" sz="950" kern="0" spc="0">
                          <a:solidFill>
                            <a:schemeClr val="tx1"/>
                          </a:solidFill>
                          <a:effectLst/>
                        </a:rPr>
                        <a:t>2.</a:t>
                      </a:r>
                      <a:r>
                        <a:rPr lang="ko-KR" altLang="en-US" sz="950" kern="0" spc="0">
                          <a:solidFill>
                            <a:schemeClr val="tx1"/>
                          </a:solidFill>
                          <a:effectLst/>
                        </a:rPr>
                        <a:t>연장등록된 특허권의 효력은 용도에 사용되는 물건에 관한 그 특허발명의 실시 행위에만 미침</a:t>
                      </a:r>
                      <a:endParaRPr lang="ko-KR" altLang="en-US" sz="950" kern="0" spc="0">
                        <a:solidFill>
                          <a:schemeClr val="tx1"/>
                        </a:solidFill>
                        <a:effectLst/>
                        <a:latin typeface="+mn-ea"/>
                        <a:ea typeface="+mn-ea"/>
                      </a:endParaRPr>
                    </a:p>
                  </a:txBody>
                  <a:tcPr marL="47473" marR="47473" marT="23737" marB="23737" anchor="ctr"/>
                </a:tc>
                <a:tc>
                  <a:txBody>
                    <a:bodyPr/>
                    <a:lstStyle/>
                    <a:p>
                      <a:pPr marL="73660" marR="0" indent="-7366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허가 등에 따른 존속기간의 연장가능</a:t>
                      </a: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err="1">
                          <a:solidFill>
                            <a:schemeClr val="tx1"/>
                          </a:solidFill>
                          <a:effectLst/>
                        </a:rPr>
                        <a:t>연장등록된</a:t>
                      </a:r>
                      <a:r>
                        <a:rPr lang="ko-KR" altLang="en-US" sz="950" kern="0" spc="0" dirty="0">
                          <a:solidFill>
                            <a:schemeClr val="tx1"/>
                          </a:solidFill>
                          <a:effectLst/>
                        </a:rPr>
                        <a:t> 특허권의 효력은 용도에 사용되는 물건에 관한 그 특허발명의 실시 행위에만 미침</a:t>
                      </a:r>
                      <a:endParaRPr lang="ko-KR" altLang="en-US" sz="950" kern="0" spc="0" dirty="0">
                        <a:solidFill>
                          <a:schemeClr val="tx1"/>
                        </a:solidFill>
                        <a:effectLst/>
                        <a:latin typeface="+mn-ea"/>
                        <a:ea typeface="+mn-ea"/>
                      </a:endParaRPr>
                    </a:p>
                  </a:txBody>
                  <a:tcPr marL="47473" marR="47473" marT="23737" marB="23737" anchor="ctr"/>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179311351"/>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p:cNvSpPr>
            <a:spLocks noGrp="1"/>
          </p:cNvSpPr>
          <p:nvPr>
            <p:ph type="sldNum" sz="quarter" idx="12"/>
          </p:nvPr>
        </p:nvSpPr>
        <p:spPr/>
        <p:txBody>
          <a:bodyPr/>
          <a:lstStyle/>
          <a:p>
            <a:fld id="{3875FC6C-1516-4DC4-8C58-3090F7D4F003}" type="slidenum">
              <a:rPr lang="ko-KR" altLang="en-US" smtClean="0"/>
              <a:t>50</a:t>
            </a:fld>
            <a:endParaRPr lang="ko-KR" altLang="en-US"/>
          </a:p>
        </p:txBody>
      </p:sp>
      <p:sp>
        <p:nvSpPr>
          <p:cNvPr id="2" name="제목 1"/>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err="1"/>
              <a:t>성립성이</a:t>
            </a:r>
            <a:r>
              <a:rPr lang="ko-KR" altLang="en-US" dirty="0"/>
              <a:t> 문제되는 발명</a:t>
            </a:r>
          </a:p>
        </p:txBody>
      </p:sp>
      <p:graphicFrame>
        <p:nvGraphicFramePr>
          <p:cNvPr id="5" name="표 4"/>
          <p:cNvGraphicFramePr>
            <a:graphicFrameLocks noGrp="1"/>
          </p:cNvGraphicFramePr>
          <p:nvPr>
            <p:extLst>
              <p:ext uri="{D42A27DB-BD31-4B8C-83A1-F6EECF244321}">
                <p14:modId xmlns:p14="http://schemas.microsoft.com/office/powerpoint/2010/main" val="3987867485"/>
              </p:ext>
            </p:extLst>
          </p:nvPr>
        </p:nvGraphicFramePr>
        <p:xfrm>
          <a:off x="334107" y="981875"/>
          <a:ext cx="11535509" cy="5197780"/>
        </p:xfrm>
        <a:graphic>
          <a:graphicData uri="http://schemas.openxmlformats.org/drawingml/2006/table">
            <a:tbl>
              <a:tblPr>
                <a:tableStyleId>{8799B23B-EC83-4686-B30A-512413B5E67A}</a:tableStyleId>
              </a:tblPr>
              <a:tblGrid>
                <a:gridCol w="386861">
                  <a:extLst>
                    <a:ext uri="{9D8B030D-6E8A-4147-A177-3AD203B41FA5}">
                      <a16:colId xmlns:a16="http://schemas.microsoft.com/office/drawing/2014/main" val="20000"/>
                    </a:ext>
                  </a:extLst>
                </a:gridCol>
                <a:gridCol w="322190">
                  <a:extLst>
                    <a:ext uri="{9D8B030D-6E8A-4147-A177-3AD203B41FA5}">
                      <a16:colId xmlns:a16="http://schemas.microsoft.com/office/drawing/2014/main" val="20001"/>
                    </a:ext>
                  </a:extLst>
                </a:gridCol>
                <a:gridCol w="3147842">
                  <a:extLst>
                    <a:ext uri="{9D8B030D-6E8A-4147-A177-3AD203B41FA5}">
                      <a16:colId xmlns:a16="http://schemas.microsoft.com/office/drawing/2014/main" val="20004"/>
                    </a:ext>
                  </a:extLst>
                </a:gridCol>
                <a:gridCol w="4802698">
                  <a:extLst>
                    <a:ext uri="{9D8B030D-6E8A-4147-A177-3AD203B41FA5}">
                      <a16:colId xmlns:a16="http://schemas.microsoft.com/office/drawing/2014/main" val="20005"/>
                    </a:ext>
                  </a:extLst>
                </a:gridCol>
                <a:gridCol w="2875918">
                  <a:extLst>
                    <a:ext uri="{9D8B030D-6E8A-4147-A177-3AD203B41FA5}">
                      <a16:colId xmlns:a16="http://schemas.microsoft.com/office/drawing/2014/main" val="20006"/>
                    </a:ext>
                  </a:extLst>
                </a:gridCol>
              </a:tblGrid>
              <a:tr h="200711">
                <a:tc gridSpan="2">
                  <a:txBody>
                    <a:bodyPr/>
                    <a:lstStyle/>
                    <a:p>
                      <a:pPr marL="0" marR="0" indent="0" algn="ctr" fontAlgn="base" latinLnBrk="0">
                        <a:lnSpc>
                          <a:spcPct val="100000"/>
                        </a:lnSpc>
                        <a:spcBef>
                          <a:spcPts val="0"/>
                        </a:spcBef>
                        <a:spcAft>
                          <a:spcPts val="0"/>
                        </a:spcAft>
                      </a:pPr>
                      <a:r>
                        <a:rPr lang="ko-KR" altLang="en-US" sz="950" b="1" kern="0" spc="0" dirty="0">
                          <a:effectLst/>
                        </a:rPr>
                        <a:t>　</a:t>
                      </a:r>
                      <a:endParaRPr lang="ko-KR" altLang="en-US" sz="950" b="1" kern="0" spc="0" dirty="0">
                        <a:solidFill>
                          <a:srgbClr val="000000"/>
                        </a:solidFill>
                        <a:effectLst/>
                        <a:latin typeface="+mn-ea"/>
                        <a:ea typeface="+mn-ea"/>
                      </a:endParaRPr>
                    </a:p>
                  </a:txBody>
                  <a:tcPr marL="47473" marR="47473" marT="23737" marB="23737"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b="1" kern="0" spc="0" dirty="0">
                          <a:effectLst/>
                        </a:rPr>
                        <a:t>전자상거래 관련 발명</a:t>
                      </a:r>
                      <a:endParaRPr lang="ko-KR" altLang="en-US" sz="950" b="1" kern="0" spc="0" dirty="0">
                        <a:solidFill>
                          <a:srgbClr val="000000"/>
                        </a:solidFill>
                        <a:effectLst/>
                        <a:latin typeface="+mn-ea"/>
                        <a:ea typeface="+mn-ea"/>
                      </a:endParaRPr>
                    </a:p>
                  </a:txBody>
                  <a:tcPr marL="47473" marR="47473" marT="23737" marB="2373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50" b="1" kern="0" spc="0" dirty="0">
                          <a:effectLst/>
                        </a:rPr>
                        <a:t>미생물발명</a:t>
                      </a:r>
                      <a:endParaRPr lang="ko-KR" altLang="en-US" sz="950" b="1" kern="0" spc="0" dirty="0">
                        <a:solidFill>
                          <a:srgbClr val="000000"/>
                        </a:solidFill>
                        <a:effectLst/>
                        <a:latin typeface="+mn-ea"/>
                        <a:ea typeface="+mn-ea"/>
                      </a:endParaRPr>
                    </a:p>
                  </a:txBody>
                  <a:tcPr marL="47473" marR="47473" marT="23737" marB="2373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50" b="1" kern="0" spc="0" dirty="0">
                          <a:effectLst/>
                        </a:rPr>
                        <a:t>식물발명</a:t>
                      </a:r>
                      <a:endParaRPr lang="ko-KR" altLang="en-US" sz="950" b="1" kern="0" spc="0" dirty="0">
                        <a:solidFill>
                          <a:srgbClr val="000000"/>
                        </a:solidFill>
                        <a:effectLst/>
                        <a:latin typeface="+mn-ea"/>
                        <a:ea typeface="+mn-ea"/>
                      </a:endParaRPr>
                    </a:p>
                  </a:txBody>
                  <a:tcPr marL="47473" marR="47473" marT="23737" marB="23737" anchor="ctr">
                    <a:solidFill>
                      <a:schemeClr val="accent1">
                        <a:lumMod val="20000"/>
                        <a:lumOff val="80000"/>
                      </a:schemeClr>
                    </a:solidFill>
                  </a:tcPr>
                </a:tc>
                <a:extLst>
                  <a:ext uri="{0D108BD9-81ED-4DB2-BD59-A6C34878D82A}">
                    <a16:rowId xmlns:a16="http://schemas.microsoft.com/office/drawing/2014/main" val="10000"/>
                  </a:ext>
                </a:extLst>
              </a:tr>
              <a:tr h="351860">
                <a:tc gridSpan="2">
                  <a:txBody>
                    <a:bodyPr/>
                    <a:lstStyle/>
                    <a:p>
                      <a:pPr marL="0" marR="0" indent="0" algn="ctr" fontAlgn="base" latinLnBrk="0">
                        <a:lnSpc>
                          <a:spcPct val="100000"/>
                        </a:lnSpc>
                        <a:spcBef>
                          <a:spcPts val="0"/>
                        </a:spcBef>
                        <a:spcAft>
                          <a:spcPts val="0"/>
                        </a:spcAft>
                      </a:pPr>
                      <a:r>
                        <a:rPr lang="ko-KR" altLang="en-US" sz="950" kern="0" spc="0">
                          <a:effectLst/>
                        </a:rPr>
                        <a:t>의의</a:t>
                      </a:r>
                      <a:endParaRPr lang="ko-KR" altLang="en-US" sz="950" b="1" kern="0" spc="0">
                        <a:solidFill>
                          <a:srgbClr val="000000"/>
                        </a:solidFill>
                        <a:effectLst/>
                        <a:latin typeface="+mn-ea"/>
                        <a:ea typeface="+mn-ea"/>
                      </a:endParaRPr>
                    </a:p>
                  </a:txBody>
                  <a:tcPr marL="47473" marR="47473" marT="23737" marB="23737"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50" kern="0" spc="0" dirty="0">
                          <a:effectLst/>
                        </a:rPr>
                        <a:t>영업방법이 컴퓨터상에서 수행되도록 컴퓨터 기술에 의하여 구현된 발명을 말한다</a:t>
                      </a:r>
                      <a:r>
                        <a:rPr lang="en-US" altLang="ko-KR" sz="950" kern="0" spc="0" dirty="0">
                          <a:effectLst/>
                        </a:rPr>
                        <a:t>.</a:t>
                      </a:r>
                      <a:endParaRPr lang="ko-KR" altLang="en-US" sz="950" kern="0" spc="0" dirty="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r>
                        <a:rPr lang="ko-KR" altLang="en-US" sz="950" kern="0" spc="0" dirty="0">
                          <a:effectLst/>
                        </a:rPr>
                        <a:t>미생물이란 </a:t>
                      </a:r>
                      <a:r>
                        <a:rPr lang="ko-KR" altLang="en-US" sz="950" kern="0" spc="0" dirty="0" err="1">
                          <a:effectLst/>
                        </a:rPr>
                        <a:t>곰팡이ㆍ세균</a:t>
                      </a:r>
                      <a:r>
                        <a:rPr lang="ko-KR" altLang="en-US" sz="950" kern="0" spc="0" dirty="0">
                          <a:effectLst/>
                        </a:rPr>
                        <a:t> 등 미세크기의 생명을 가진 물체로서</a:t>
                      </a:r>
                      <a:r>
                        <a:rPr lang="en-US" altLang="ko-KR" sz="950" kern="0" spc="0" dirty="0">
                          <a:effectLst/>
                        </a:rPr>
                        <a:t>, </a:t>
                      </a:r>
                      <a:r>
                        <a:rPr lang="ko-KR" altLang="en-US" sz="950" kern="0" spc="0" dirty="0">
                          <a:effectLst/>
                        </a:rPr>
                        <a:t>미생물발명이란 미생물 자체의 발명</a:t>
                      </a:r>
                      <a:r>
                        <a:rPr lang="en-US" altLang="ko-KR" sz="950" kern="0" spc="0" dirty="0">
                          <a:effectLst/>
                        </a:rPr>
                        <a:t>, </a:t>
                      </a:r>
                      <a:r>
                        <a:rPr lang="ko-KR" altLang="en-US" sz="950" kern="0" spc="0" dirty="0">
                          <a:effectLst/>
                        </a:rPr>
                        <a:t>미생물을 생산하는 방법에 관한 발명</a:t>
                      </a:r>
                      <a:r>
                        <a:rPr lang="en-US" altLang="ko-KR" sz="950" kern="0" spc="0" dirty="0">
                          <a:effectLst/>
                        </a:rPr>
                        <a:t>, </a:t>
                      </a:r>
                      <a:r>
                        <a:rPr lang="ko-KR" altLang="en-US" sz="950" kern="0" spc="0" dirty="0">
                          <a:effectLst/>
                        </a:rPr>
                        <a:t>미생물을 이용하는 발명 등을 총칭한다</a:t>
                      </a:r>
                      <a:r>
                        <a:rPr lang="en-US" altLang="ko-KR" sz="950" kern="0" spc="0" dirty="0">
                          <a:effectLst/>
                        </a:rPr>
                        <a:t>.</a:t>
                      </a:r>
                      <a:endParaRPr lang="ko-KR" altLang="en-US" sz="950" kern="0" spc="0" dirty="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r>
                        <a:rPr lang="ko-KR" altLang="en-US" sz="950" kern="0" spc="0">
                          <a:effectLst/>
                        </a:rPr>
                        <a:t>반복생식할 수 있는 변종식물에 대한 발명을 말한다</a:t>
                      </a:r>
                      <a:r>
                        <a:rPr lang="en-US" altLang="ko-KR" sz="950" kern="0" spc="0">
                          <a:effectLst/>
                        </a:rPr>
                        <a:t>. </a:t>
                      </a:r>
                      <a:endParaRPr lang="ko-KR" altLang="en-US" sz="950" kern="0" spc="0">
                        <a:solidFill>
                          <a:srgbClr val="000000"/>
                        </a:solidFill>
                        <a:effectLst/>
                        <a:latin typeface="+mn-ea"/>
                        <a:ea typeface="+mn-ea"/>
                      </a:endParaRPr>
                    </a:p>
                  </a:txBody>
                  <a:tcPr marL="47473" marR="47473" marT="23737" marB="23737" anchor="ctr"/>
                </a:tc>
                <a:extLst>
                  <a:ext uri="{0D108BD9-81ED-4DB2-BD59-A6C34878D82A}">
                    <a16:rowId xmlns:a16="http://schemas.microsoft.com/office/drawing/2014/main" val="10001"/>
                  </a:ext>
                </a:extLst>
              </a:tr>
              <a:tr h="1409900">
                <a:tc rowSpan="2">
                  <a:txBody>
                    <a:bodyPr/>
                    <a:lstStyle/>
                    <a:p>
                      <a:pPr marL="0" marR="0" indent="0" algn="ctr" fontAlgn="base" latinLnBrk="0">
                        <a:lnSpc>
                          <a:spcPct val="100000"/>
                        </a:lnSpc>
                        <a:spcBef>
                          <a:spcPts val="0"/>
                        </a:spcBef>
                        <a:spcAft>
                          <a:spcPts val="0"/>
                        </a:spcAft>
                      </a:pPr>
                      <a:r>
                        <a:rPr lang="ko-KR" altLang="en-US" sz="950" kern="0" spc="0" dirty="0">
                          <a:effectLst/>
                        </a:rPr>
                        <a:t>특허</a:t>
                      </a:r>
                    </a:p>
                    <a:p>
                      <a:pPr marL="0" marR="0" indent="0" algn="ctr" fontAlgn="base" latinLnBrk="0">
                        <a:lnSpc>
                          <a:spcPct val="100000"/>
                        </a:lnSpc>
                        <a:spcBef>
                          <a:spcPts val="0"/>
                        </a:spcBef>
                        <a:spcAft>
                          <a:spcPts val="0"/>
                        </a:spcAft>
                      </a:pPr>
                      <a:r>
                        <a:rPr lang="ko-KR" altLang="en-US" sz="950" kern="0" spc="0" dirty="0">
                          <a:effectLst/>
                        </a:rPr>
                        <a:t>요건</a:t>
                      </a:r>
                      <a:endParaRPr lang="en-US" altLang="ko-KR" sz="950" kern="0" spc="0" dirty="0">
                        <a:effectLst/>
                      </a:endParaRPr>
                    </a:p>
                    <a:p>
                      <a:pPr marL="0" marR="0" indent="0" algn="ctr" fontAlgn="base" latinLnBrk="0">
                        <a:lnSpc>
                          <a:spcPct val="100000"/>
                        </a:lnSpc>
                        <a:spcBef>
                          <a:spcPts val="0"/>
                        </a:spcBef>
                        <a:spcAft>
                          <a:spcPts val="0"/>
                        </a:spcAft>
                      </a:pPr>
                      <a:endParaRPr lang="ko-KR" altLang="en-US" sz="950" kern="0" spc="0" dirty="0">
                        <a:effectLst/>
                      </a:endParaRPr>
                    </a:p>
                    <a:p>
                      <a:pPr marL="0" marR="0" indent="0" algn="ctr" fontAlgn="base" latinLnBrk="0">
                        <a:lnSpc>
                          <a:spcPct val="100000"/>
                        </a:lnSpc>
                        <a:spcBef>
                          <a:spcPts val="0"/>
                        </a:spcBef>
                        <a:spcAft>
                          <a:spcPts val="0"/>
                        </a:spcAft>
                      </a:pPr>
                      <a:r>
                        <a:rPr lang="ko-KR" altLang="en-US" sz="950" kern="0" spc="0" dirty="0">
                          <a:effectLst/>
                        </a:rPr>
                        <a:t>및</a:t>
                      </a:r>
                      <a:endParaRPr lang="en-US" altLang="ko-KR" sz="950" kern="0" spc="0" dirty="0">
                        <a:effectLst/>
                      </a:endParaRPr>
                    </a:p>
                    <a:p>
                      <a:pPr marL="0" marR="0" indent="0" algn="ctr" fontAlgn="base" latinLnBrk="0">
                        <a:lnSpc>
                          <a:spcPct val="100000"/>
                        </a:lnSpc>
                        <a:spcBef>
                          <a:spcPts val="0"/>
                        </a:spcBef>
                        <a:spcAft>
                          <a:spcPts val="0"/>
                        </a:spcAft>
                      </a:pPr>
                      <a:endParaRPr lang="ko-KR" altLang="en-US" sz="950" kern="0" spc="0" dirty="0">
                        <a:effectLst/>
                      </a:endParaRPr>
                    </a:p>
                    <a:p>
                      <a:pPr marL="0" marR="0" indent="0" algn="ctr" fontAlgn="base" latinLnBrk="0">
                        <a:lnSpc>
                          <a:spcPct val="100000"/>
                        </a:lnSpc>
                        <a:spcBef>
                          <a:spcPts val="0"/>
                        </a:spcBef>
                        <a:spcAft>
                          <a:spcPts val="0"/>
                        </a:spcAft>
                      </a:pPr>
                      <a:r>
                        <a:rPr lang="ko-KR" altLang="en-US" sz="950" kern="0" spc="0" dirty="0">
                          <a:effectLst/>
                        </a:rPr>
                        <a:t>특허</a:t>
                      </a:r>
                    </a:p>
                    <a:p>
                      <a:pPr marL="0" marR="0" indent="0" algn="ctr" fontAlgn="base" latinLnBrk="0">
                        <a:lnSpc>
                          <a:spcPct val="100000"/>
                        </a:lnSpc>
                        <a:spcBef>
                          <a:spcPts val="0"/>
                        </a:spcBef>
                        <a:spcAft>
                          <a:spcPts val="0"/>
                        </a:spcAft>
                      </a:pPr>
                      <a:r>
                        <a:rPr lang="ko-KR" altLang="en-US" sz="950" kern="0" spc="0" dirty="0">
                          <a:effectLst/>
                        </a:rPr>
                        <a:t>출원</a:t>
                      </a:r>
                      <a:endParaRPr lang="ko-KR" altLang="en-US" sz="950" b="1" kern="0" spc="0" dirty="0">
                        <a:solidFill>
                          <a:srgbClr val="000000"/>
                        </a:solidFill>
                        <a:effectLst/>
                        <a:latin typeface="+mn-ea"/>
                        <a:ea typeface="+mn-ea"/>
                      </a:endParaRPr>
                    </a:p>
                  </a:txBody>
                  <a:tcPr marL="47473" marR="47473" marT="23737" marB="23737" anchor="ctr"/>
                </a:tc>
                <a:tc>
                  <a:txBody>
                    <a:bodyPr/>
                    <a:lstStyle/>
                    <a:p>
                      <a:pPr marL="0" marR="0" indent="0" algn="ctr" fontAlgn="base" latinLnBrk="0">
                        <a:lnSpc>
                          <a:spcPct val="100000"/>
                        </a:lnSpc>
                        <a:spcBef>
                          <a:spcPts val="0"/>
                        </a:spcBef>
                        <a:spcAft>
                          <a:spcPts val="0"/>
                        </a:spcAft>
                      </a:pPr>
                      <a:r>
                        <a:rPr lang="ko-KR" altLang="en-US" sz="950" kern="0" spc="0" dirty="0">
                          <a:effectLst/>
                        </a:rPr>
                        <a:t>성</a:t>
                      </a:r>
                      <a:endParaRPr lang="en-US" altLang="ko-KR" sz="950" kern="0" spc="0" dirty="0">
                        <a:effectLst/>
                      </a:endParaRPr>
                    </a:p>
                    <a:p>
                      <a:pPr marL="0" marR="0" indent="0" algn="ctr" fontAlgn="base" latinLnBrk="0">
                        <a:lnSpc>
                          <a:spcPct val="100000"/>
                        </a:lnSpc>
                        <a:spcBef>
                          <a:spcPts val="0"/>
                        </a:spcBef>
                        <a:spcAft>
                          <a:spcPts val="0"/>
                        </a:spcAft>
                      </a:pPr>
                      <a:r>
                        <a:rPr lang="ko-KR" altLang="en-US" sz="950" kern="0" spc="0" dirty="0" err="1">
                          <a:effectLst/>
                        </a:rPr>
                        <a:t>립</a:t>
                      </a:r>
                      <a:endParaRPr lang="en-US" altLang="ko-KR" sz="950" kern="0" spc="0" dirty="0">
                        <a:effectLst/>
                      </a:endParaRPr>
                    </a:p>
                    <a:p>
                      <a:pPr marL="0" marR="0" indent="0" algn="ctr" fontAlgn="base" latinLnBrk="0">
                        <a:lnSpc>
                          <a:spcPct val="100000"/>
                        </a:lnSpc>
                        <a:spcBef>
                          <a:spcPts val="0"/>
                        </a:spcBef>
                        <a:spcAft>
                          <a:spcPts val="0"/>
                        </a:spcAft>
                      </a:pPr>
                      <a:r>
                        <a:rPr lang="ko-KR" altLang="en-US" sz="950" kern="0" spc="0" dirty="0">
                          <a:effectLst/>
                        </a:rPr>
                        <a:t>성</a:t>
                      </a:r>
                      <a:endParaRPr lang="ko-KR" altLang="en-US" sz="950" b="1" kern="0" spc="0" dirty="0">
                        <a:solidFill>
                          <a:srgbClr val="000000"/>
                        </a:solidFill>
                        <a:effectLst/>
                        <a:latin typeface="+mn-ea"/>
                        <a:ea typeface="+mn-ea"/>
                      </a:endParaRPr>
                    </a:p>
                  </a:txBody>
                  <a:tcPr marL="47473" marR="47473" marT="23737" marB="23737" anchor="ctr"/>
                </a:tc>
                <a:tc>
                  <a:txBody>
                    <a:bodyPr/>
                    <a:lstStyle/>
                    <a:p>
                      <a:pPr marL="49530" marR="0" indent="-49530" algn="just" fontAlgn="base" latinLnBrk="1">
                        <a:lnSpc>
                          <a:spcPct val="100000"/>
                        </a:lnSpc>
                        <a:spcBef>
                          <a:spcPts val="0"/>
                        </a:spcBef>
                        <a:spcAft>
                          <a:spcPts val="0"/>
                        </a:spcAft>
                      </a:pPr>
                      <a:r>
                        <a:rPr lang="en-US" altLang="ko-KR" sz="950" kern="0" spc="0" dirty="0">
                          <a:effectLst/>
                        </a:rPr>
                        <a:t>1.</a:t>
                      </a:r>
                      <a:r>
                        <a:rPr lang="ko-KR" altLang="en-US" sz="950" kern="0" spc="0" dirty="0">
                          <a:effectLst/>
                        </a:rPr>
                        <a:t>자연법칙을 </a:t>
                      </a:r>
                      <a:r>
                        <a:rPr lang="en-US" altLang="ko-KR" sz="950" kern="0" spc="0" dirty="0">
                          <a:effectLst/>
                        </a:rPr>
                        <a:t>100% </a:t>
                      </a:r>
                      <a:r>
                        <a:rPr lang="ko-KR" altLang="en-US" sz="950" kern="0" spc="0" dirty="0">
                          <a:effectLst/>
                        </a:rPr>
                        <a:t>이용하지 않지만 시대적 흐름에 부응하고자 예외적으로 </a:t>
                      </a:r>
                      <a:r>
                        <a:rPr lang="ko-KR" altLang="en-US" sz="950" kern="0" spc="0" dirty="0" err="1">
                          <a:effectLst/>
                        </a:rPr>
                        <a:t>성립성</a:t>
                      </a:r>
                      <a:r>
                        <a:rPr lang="ko-KR" altLang="en-US" sz="950" kern="0" spc="0" dirty="0">
                          <a:effectLst/>
                        </a:rPr>
                        <a:t> 인정</a:t>
                      </a:r>
                    </a:p>
                    <a:p>
                      <a:pPr marL="73660" marR="0" indent="-73660" algn="just" fontAlgn="base" latinLnBrk="1">
                        <a:lnSpc>
                          <a:spcPct val="100000"/>
                        </a:lnSpc>
                        <a:spcBef>
                          <a:spcPts val="0"/>
                        </a:spcBef>
                        <a:spcAft>
                          <a:spcPts val="0"/>
                        </a:spcAft>
                      </a:pPr>
                      <a:r>
                        <a:rPr lang="en-US" altLang="ko-KR" sz="950" kern="0" spc="0" dirty="0">
                          <a:effectLst/>
                        </a:rPr>
                        <a:t>2.</a:t>
                      </a:r>
                      <a:r>
                        <a:rPr lang="ko-KR" altLang="en-US" sz="950" kern="0" spc="0" dirty="0" err="1">
                          <a:effectLst/>
                        </a:rPr>
                        <a:t>성립성이</a:t>
                      </a:r>
                      <a:r>
                        <a:rPr lang="ko-KR" altLang="en-US" sz="950" kern="0" spc="0" dirty="0">
                          <a:effectLst/>
                        </a:rPr>
                        <a:t> 인정되기 위해서는 </a:t>
                      </a:r>
                      <a:r>
                        <a:rPr lang="en-US" altLang="ko-KR" sz="950" kern="0" spc="0" dirty="0">
                          <a:effectLst/>
                        </a:rPr>
                        <a:t>S/W</a:t>
                      </a:r>
                      <a:r>
                        <a:rPr lang="ko-KR" altLang="en-US" sz="950" kern="0" spc="0" dirty="0">
                          <a:effectLst/>
                        </a:rPr>
                        <a:t>가 </a:t>
                      </a:r>
                      <a:r>
                        <a:rPr lang="en-US" altLang="ko-KR" sz="950" kern="0" spc="0" dirty="0">
                          <a:effectLst/>
                        </a:rPr>
                        <a:t>H/W</a:t>
                      </a:r>
                      <a:r>
                        <a:rPr lang="ko-KR" altLang="en-US" sz="950" kern="0" spc="0" dirty="0">
                          <a:effectLst/>
                        </a:rPr>
                        <a:t>의 물리적 변환을 야기시키는 과정이 발명의 설명에 상세히 기재되어야 함</a:t>
                      </a:r>
                      <a:endParaRPr lang="ko-KR" altLang="en-US" sz="950" kern="0" spc="0" dirty="0">
                        <a:solidFill>
                          <a:srgbClr val="000000"/>
                        </a:solidFill>
                        <a:effectLst/>
                        <a:latin typeface="+mn-ea"/>
                        <a:ea typeface="+mn-ea"/>
                      </a:endParaRPr>
                    </a:p>
                  </a:txBody>
                  <a:tcPr marL="47473" marR="47473" marT="23737" marB="23737" anchor="ctr"/>
                </a:tc>
                <a:tc>
                  <a:txBody>
                    <a:bodyPr/>
                    <a:lstStyle/>
                    <a:p>
                      <a:pPr marL="73660" marR="0" indent="-73660" algn="just" fontAlgn="base" latinLnBrk="1">
                        <a:lnSpc>
                          <a:spcPct val="100000"/>
                        </a:lnSpc>
                        <a:spcBef>
                          <a:spcPts val="0"/>
                        </a:spcBef>
                        <a:spcAft>
                          <a:spcPts val="0"/>
                        </a:spcAft>
                      </a:pPr>
                      <a:r>
                        <a:rPr lang="en-US" altLang="ko-KR" sz="950" kern="0" spc="0" dirty="0">
                          <a:effectLst/>
                        </a:rPr>
                        <a:t>1.</a:t>
                      </a:r>
                      <a:r>
                        <a:rPr lang="ko-KR" altLang="en-US" sz="950" kern="0" spc="0" dirty="0">
                          <a:effectLst/>
                        </a:rPr>
                        <a:t>통상의 기술자가 쉽게 입수할 수 없는 미생물발명의 경우 전에 기탁기관에 해당 미생물을 기탁하고</a:t>
                      </a:r>
                      <a:r>
                        <a:rPr lang="en-US" altLang="ko-KR" sz="950" kern="0" spc="0" dirty="0">
                          <a:effectLst/>
                        </a:rPr>
                        <a:t>, </a:t>
                      </a:r>
                      <a:r>
                        <a:rPr lang="ko-KR" altLang="en-US" sz="950" kern="0" spc="0" dirty="0" err="1">
                          <a:effectLst/>
                        </a:rPr>
                        <a:t>특허출원인은</a:t>
                      </a:r>
                      <a:r>
                        <a:rPr lang="ko-KR" altLang="en-US" sz="950" kern="0" spc="0" dirty="0">
                          <a:effectLst/>
                        </a:rPr>
                        <a:t> </a:t>
                      </a:r>
                      <a:r>
                        <a:rPr lang="ko-KR" altLang="en-US" sz="950" kern="0" spc="0" dirty="0" err="1">
                          <a:effectLst/>
                        </a:rPr>
                        <a:t>특허출원서에</a:t>
                      </a:r>
                      <a:r>
                        <a:rPr lang="ko-KR" altLang="en-US" sz="950" kern="0" spc="0" dirty="0">
                          <a:effectLst/>
                        </a:rPr>
                        <a:t> 취지를 적어야 한다</a:t>
                      </a:r>
                      <a:r>
                        <a:rPr lang="en-US" altLang="ko-KR" sz="950" kern="0" spc="0" dirty="0">
                          <a:effectLst/>
                        </a:rPr>
                        <a:t>. </a:t>
                      </a:r>
                      <a:r>
                        <a:rPr lang="ko-KR" altLang="en-US" sz="950" kern="0" spc="0" dirty="0">
                          <a:effectLst/>
                        </a:rPr>
                        <a:t>기탁하지 않을 경우 미완성 발명이 되어 발명의 </a:t>
                      </a:r>
                      <a:r>
                        <a:rPr lang="ko-KR" altLang="en-US" sz="950" kern="0" spc="0" dirty="0" err="1">
                          <a:effectLst/>
                        </a:rPr>
                        <a:t>성립성이</a:t>
                      </a:r>
                      <a:r>
                        <a:rPr lang="ko-KR" altLang="en-US" sz="950" kern="0" spc="0" dirty="0">
                          <a:effectLst/>
                        </a:rPr>
                        <a:t> 인정되지 않으며</a:t>
                      </a:r>
                      <a:r>
                        <a:rPr lang="en-US" altLang="ko-KR" sz="950" kern="0" spc="0" dirty="0">
                          <a:effectLst/>
                        </a:rPr>
                        <a:t>, </a:t>
                      </a:r>
                      <a:r>
                        <a:rPr lang="ko-KR" altLang="en-US" sz="950" kern="0" spc="0" dirty="0">
                          <a:effectLst/>
                        </a:rPr>
                        <a:t>산업상 이용가능성</a:t>
                      </a:r>
                      <a:r>
                        <a:rPr lang="en-US" altLang="ko-KR" sz="950" kern="0" spc="0" dirty="0">
                          <a:effectLst/>
                        </a:rPr>
                        <a:t>(</a:t>
                      </a:r>
                      <a:r>
                        <a:rPr lang="ko-KR" altLang="en-US" sz="950" kern="0" spc="0" dirty="0">
                          <a:effectLst/>
                        </a:rPr>
                        <a:t>法</a:t>
                      </a:r>
                      <a:r>
                        <a:rPr lang="en-US" altLang="ko-KR" sz="950" kern="0" spc="0" dirty="0">
                          <a:effectLst/>
                        </a:rPr>
                        <a:t>29</a:t>
                      </a:r>
                      <a:r>
                        <a:rPr lang="ko-KR" altLang="en-US" sz="950" kern="0" spc="0" dirty="0">
                          <a:effectLst/>
                        </a:rPr>
                        <a:t>①본문</a:t>
                      </a:r>
                      <a:r>
                        <a:rPr lang="en-US" altLang="ko-KR" sz="950" kern="0" spc="0" dirty="0">
                          <a:effectLst/>
                        </a:rPr>
                        <a:t>) </a:t>
                      </a:r>
                      <a:r>
                        <a:rPr lang="ko-KR" altLang="en-US" sz="950" kern="0" spc="0" dirty="0">
                          <a:effectLst/>
                        </a:rPr>
                        <a:t>또는 명세서기재</a:t>
                      </a:r>
                      <a:r>
                        <a:rPr lang="en-US" altLang="ko-KR" sz="950" kern="0" spc="0" dirty="0">
                          <a:effectLst/>
                        </a:rPr>
                        <a:t>(</a:t>
                      </a:r>
                      <a:r>
                        <a:rPr lang="ko-KR" altLang="en-US" sz="950" kern="0" spc="0" dirty="0">
                          <a:effectLst/>
                        </a:rPr>
                        <a:t>法</a:t>
                      </a:r>
                      <a:r>
                        <a:rPr lang="en-US" altLang="ko-KR" sz="950" kern="0" spc="0" dirty="0">
                          <a:effectLst/>
                        </a:rPr>
                        <a:t>42</a:t>
                      </a:r>
                      <a:r>
                        <a:rPr lang="ko-KR" altLang="en-US" sz="950" kern="0" spc="0" dirty="0">
                          <a:effectLst/>
                        </a:rPr>
                        <a:t>③</a:t>
                      </a:r>
                      <a:r>
                        <a:rPr lang="en-US" altLang="ko-KR" sz="950" kern="0" spc="0" dirty="0">
                          <a:effectLst/>
                        </a:rPr>
                        <a:t>Ⅰ) </a:t>
                      </a:r>
                      <a:r>
                        <a:rPr lang="ko-KR" altLang="en-US" sz="950" kern="0" spc="0" dirty="0">
                          <a:effectLst/>
                        </a:rPr>
                        <a:t>위반을 이유로 거절이유</a:t>
                      </a:r>
                      <a:r>
                        <a:rPr lang="en-US" altLang="ko-KR" sz="950" kern="0" spc="0" dirty="0">
                          <a:effectLst/>
                        </a:rPr>
                        <a:t>(</a:t>
                      </a:r>
                      <a:r>
                        <a:rPr lang="ko-KR" altLang="en-US" sz="950" kern="0" spc="0" dirty="0">
                          <a:effectLst/>
                        </a:rPr>
                        <a:t>法</a:t>
                      </a:r>
                      <a:r>
                        <a:rPr lang="en-US" altLang="ko-KR" sz="950" kern="0" spc="0" dirty="0">
                          <a:effectLst/>
                        </a:rPr>
                        <a:t>62), </a:t>
                      </a:r>
                      <a:r>
                        <a:rPr lang="ko-KR" altLang="en-US" sz="950" kern="0" spc="0" dirty="0">
                          <a:effectLst/>
                        </a:rPr>
                        <a:t>정보제공사유</a:t>
                      </a:r>
                      <a:r>
                        <a:rPr lang="en-US" altLang="ko-KR" sz="950" kern="0" spc="0" dirty="0">
                          <a:effectLst/>
                        </a:rPr>
                        <a:t>(</a:t>
                      </a:r>
                      <a:r>
                        <a:rPr lang="ko-KR" altLang="en-US" sz="950" kern="0" spc="0" dirty="0">
                          <a:effectLst/>
                        </a:rPr>
                        <a:t>法</a:t>
                      </a:r>
                      <a:r>
                        <a:rPr lang="en-US" altLang="ko-KR" sz="950" kern="0" spc="0" dirty="0">
                          <a:effectLst/>
                        </a:rPr>
                        <a:t>63</a:t>
                      </a:r>
                      <a:r>
                        <a:rPr lang="ko-KR" altLang="en-US" sz="950" kern="0" spc="0" dirty="0">
                          <a:effectLst/>
                        </a:rPr>
                        <a:t>의</a:t>
                      </a:r>
                      <a:r>
                        <a:rPr lang="en-US" altLang="ko-KR" sz="950" kern="0" spc="0" dirty="0">
                          <a:effectLst/>
                        </a:rPr>
                        <a:t>2), </a:t>
                      </a:r>
                      <a:r>
                        <a:rPr lang="ko-KR" altLang="en-US" sz="950" kern="0" spc="0" dirty="0">
                          <a:effectLst/>
                        </a:rPr>
                        <a:t>특허무효사유</a:t>
                      </a:r>
                      <a:r>
                        <a:rPr lang="en-US" altLang="ko-KR" sz="950" kern="0" spc="0" dirty="0">
                          <a:effectLst/>
                        </a:rPr>
                        <a:t>(</a:t>
                      </a:r>
                      <a:r>
                        <a:rPr lang="ko-KR" altLang="en-US" sz="950" kern="0" spc="0" dirty="0">
                          <a:effectLst/>
                        </a:rPr>
                        <a:t>法</a:t>
                      </a:r>
                      <a:r>
                        <a:rPr lang="en-US" altLang="ko-KR" sz="950" kern="0" spc="0" dirty="0">
                          <a:effectLst/>
                        </a:rPr>
                        <a:t>133</a:t>
                      </a:r>
                      <a:r>
                        <a:rPr lang="ko-KR" altLang="en-US" sz="950" kern="0" spc="0" dirty="0">
                          <a:effectLst/>
                        </a:rPr>
                        <a:t>①</a:t>
                      </a:r>
                      <a:r>
                        <a:rPr lang="en-US" altLang="ko-KR" sz="950" kern="0" spc="0" dirty="0">
                          <a:effectLst/>
                        </a:rPr>
                        <a:t>)</a:t>
                      </a:r>
                      <a:r>
                        <a:rPr lang="ko-KR" altLang="en-US" sz="950" kern="0" spc="0" dirty="0">
                          <a:effectLst/>
                        </a:rPr>
                        <a:t>에 해당</a:t>
                      </a:r>
                      <a:r>
                        <a:rPr lang="en-US" altLang="ko-KR" sz="950" kern="0" spc="0" dirty="0">
                          <a:effectLst/>
                        </a:rPr>
                        <a:t>. </a:t>
                      </a:r>
                      <a:r>
                        <a:rPr lang="ko-KR" altLang="en-US" sz="950" kern="0" spc="0" dirty="0">
                          <a:effectLst/>
                        </a:rPr>
                        <a:t>한편</a:t>
                      </a:r>
                      <a:r>
                        <a:rPr lang="en-US" altLang="ko-KR" sz="950" kern="0" spc="0" dirty="0">
                          <a:effectLst/>
                        </a:rPr>
                        <a:t>, </a:t>
                      </a:r>
                      <a:r>
                        <a:rPr lang="ko-KR" altLang="en-US" sz="950" kern="0" spc="0" dirty="0">
                          <a:effectLst/>
                        </a:rPr>
                        <a:t>쉽게 입수할 수 없는데 출원 전까지 기탁하지 아니하고</a:t>
                      </a:r>
                      <a:r>
                        <a:rPr lang="en-US" altLang="ko-KR" sz="950" kern="0" spc="0" dirty="0">
                          <a:effectLst/>
                        </a:rPr>
                        <a:t>, </a:t>
                      </a:r>
                      <a:r>
                        <a:rPr lang="ko-KR" altLang="en-US" sz="950" kern="0" spc="0" dirty="0">
                          <a:effectLst/>
                        </a:rPr>
                        <a:t>특허출원 후에 미생물을 기탁한 경우에는 신규사항추가</a:t>
                      </a:r>
                      <a:r>
                        <a:rPr lang="en-US" altLang="ko-KR" sz="950" kern="0" spc="0" dirty="0">
                          <a:effectLst/>
                        </a:rPr>
                        <a:t>(</a:t>
                      </a:r>
                      <a:r>
                        <a:rPr lang="ko-KR" altLang="en-US" sz="950" kern="0" spc="0" dirty="0">
                          <a:effectLst/>
                        </a:rPr>
                        <a:t>法</a:t>
                      </a:r>
                      <a:r>
                        <a:rPr lang="en-US" altLang="ko-KR" sz="950" kern="0" spc="0" dirty="0">
                          <a:effectLst/>
                        </a:rPr>
                        <a:t>47</a:t>
                      </a:r>
                      <a:r>
                        <a:rPr lang="ko-KR" altLang="en-US" sz="950" kern="0" spc="0" dirty="0">
                          <a:effectLst/>
                        </a:rPr>
                        <a:t>②전단</a:t>
                      </a:r>
                      <a:r>
                        <a:rPr lang="en-US" altLang="ko-KR" sz="950" kern="0" spc="0" dirty="0">
                          <a:effectLst/>
                        </a:rPr>
                        <a:t>)</a:t>
                      </a:r>
                      <a:r>
                        <a:rPr lang="ko-KR" altLang="en-US" sz="950" kern="0" spc="0" dirty="0">
                          <a:effectLst/>
                        </a:rPr>
                        <a:t>에 해당</a:t>
                      </a:r>
                    </a:p>
                    <a:p>
                      <a:pPr marL="73660" marR="0" indent="-73660" algn="just" fontAlgn="base" latinLnBrk="1">
                        <a:lnSpc>
                          <a:spcPct val="100000"/>
                        </a:lnSpc>
                        <a:spcBef>
                          <a:spcPts val="0"/>
                        </a:spcBef>
                        <a:spcAft>
                          <a:spcPts val="0"/>
                        </a:spcAft>
                      </a:pPr>
                      <a:r>
                        <a:rPr lang="en-US" altLang="ko-KR" sz="950" kern="0" spc="0" dirty="0">
                          <a:effectLst/>
                        </a:rPr>
                        <a:t>2.</a:t>
                      </a:r>
                      <a:r>
                        <a:rPr lang="ko-KR" altLang="en-US" sz="950" kern="0" spc="0" dirty="0">
                          <a:effectLst/>
                        </a:rPr>
                        <a:t>통상의 기술자가 쉽게 입수할 수 있는 미생물은 반드시 국내에 현존할 필요</a:t>
                      </a:r>
                      <a:r>
                        <a:rPr lang="en-US" altLang="ko-KR" sz="950" kern="0" spc="0" dirty="0">
                          <a:effectLst/>
                        </a:rPr>
                        <a:t>×(99</a:t>
                      </a:r>
                      <a:r>
                        <a:rPr lang="ko-KR" altLang="en-US" sz="950" kern="0" spc="0" dirty="0">
                          <a:effectLst/>
                        </a:rPr>
                        <a:t>허</a:t>
                      </a:r>
                      <a:r>
                        <a:rPr lang="en-US" altLang="ko-KR" sz="950" kern="0" spc="0" dirty="0">
                          <a:effectLst/>
                        </a:rPr>
                        <a:t>8653)</a:t>
                      </a:r>
                      <a:endParaRPr lang="ko-KR" altLang="en-US" sz="950" kern="0" spc="0" dirty="0">
                        <a:effectLst/>
                      </a:endParaRPr>
                    </a:p>
                    <a:p>
                      <a:pPr marL="73660" marR="0" indent="-73660" algn="just" fontAlgn="base" latinLnBrk="1">
                        <a:lnSpc>
                          <a:spcPct val="100000"/>
                        </a:lnSpc>
                        <a:spcBef>
                          <a:spcPts val="0"/>
                        </a:spcBef>
                        <a:spcAft>
                          <a:spcPts val="0"/>
                        </a:spcAft>
                      </a:pPr>
                      <a:r>
                        <a:rPr lang="en-US" altLang="ko-KR" sz="950" kern="0" spc="0" dirty="0">
                          <a:effectLst/>
                        </a:rPr>
                        <a:t>3.</a:t>
                      </a:r>
                      <a:r>
                        <a:rPr lang="ko-KR" altLang="en-US" sz="950" kern="0" spc="0" dirty="0">
                          <a:effectLst/>
                        </a:rPr>
                        <a:t>출발 미생물만 기탁하면 되지 중간생성물이나 최종생성물까지 기탁할 필요</a:t>
                      </a:r>
                      <a:r>
                        <a:rPr lang="en-US" altLang="ko-KR" sz="950" kern="0" spc="0" dirty="0">
                          <a:effectLst/>
                        </a:rPr>
                        <a:t>×(90</a:t>
                      </a:r>
                      <a:r>
                        <a:rPr lang="ko-KR" altLang="en-US" sz="950" kern="0" spc="0" dirty="0">
                          <a:effectLst/>
                        </a:rPr>
                        <a:t>후</a:t>
                      </a:r>
                      <a:r>
                        <a:rPr lang="en-US" altLang="ko-KR" sz="950" kern="0" spc="0" dirty="0">
                          <a:effectLst/>
                        </a:rPr>
                        <a:t>1260).</a:t>
                      </a:r>
                      <a:endParaRPr lang="ko-KR" altLang="en-US" sz="950" kern="0" spc="0" dirty="0">
                        <a:effectLst/>
                      </a:endParaRPr>
                    </a:p>
                    <a:p>
                      <a:pPr marL="73660" marR="0" indent="-73660" algn="just" fontAlgn="base" latinLnBrk="1">
                        <a:lnSpc>
                          <a:spcPct val="100000"/>
                        </a:lnSpc>
                        <a:spcBef>
                          <a:spcPts val="0"/>
                        </a:spcBef>
                        <a:spcAft>
                          <a:spcPts val="0"/>
                        </a:spcAft>
                      </a:pPr>
                      <a:r>
                        <a:rPr lang="en-US" altLang="ko-KR" sz="950" kern="0" spc="0" dirty="0">
                          <a:effectLst/>
                        </a:rPr>
                        <a:t>4.</a:t>
                      </a:r>
                      <a:r>
                        <a:rPr lang="ko-KR" altLang="en-US" sz="950" kern="0" spc="0" dirty="0">
                          <a:effectLst/>
                        </a:rPr>
                        <a:t>통상의 기술자가 쉽게 입수할 수 있는 미생물인지 여부는 </a:t>
                      </a:r>
                      <a:r>
                        <a:rPr lang="ko-KR" altLang="en-US" sz="950" kern="0" spc="0" dirty="0" err="1">
                          <a:effectLst/>
                        </a:rPr>
                        <a:t>출원시를</a:t>
                      </a:r>
                      <a:r>
                        <a:rPr lang="ko-KR" altLang="en-US" sz="950" kern="0" spc="0" dirty="0">
                          <a:effectLst/>
                        </a:rPr>
                        <a:t> 기준으로 판단</a:t>
                      </a:r>
                      <a:r>
                        <a:rPr lang="en-US" altLang="ko-KR" sz="950" kern="0" spc="0" dirty="0">
                          <a:effectLst/>
                        </a:rPr>
                        <a:t>(96</a:t>
                      </a:r>
                      <a:r>
                        <a:rPr lang="ko-KR" altLang="en-US" sz="950" kern="0" spc="0" dirty="0">
                          <a:effectLst/>
                        </a:rPr>
                        <a:t>후</a:t>
                      </a:r>
                      <a:r>
                        <a:rPr lang="en-US" altLang="ko-KR" sz="950" kern="0" spc="0" dirty="0">
                          <a:effectLst/>
                        </a:rPr>
                        <a:t>658).</a:t>
                      </a:r>
                      <a:endParaRPr lang="ko-KR" altLang="en-US" sz="950" kern="0" spc="0" dirty="0">
                        <a:solidFill>
                          <a:srgbClr val="000000"/>
                        </a:solidFill>
                        <a:effectLst/>
                        <a:latin typeface="+mn-ea"/>
                        <a:ea typeface="+mn-ea"/>
                      </a:endParaRPr>
                    </a:p>
                  </a:txBody>
                  <a:tcPr marL="47473" marR="47473" marT="23737" marB="23737" anchor="ctr"/>
                </a:tc>
                <a:tc>
                  <a:txBody>
                    <a:bodyPr/>
                    <a:lstStyle/>
                    <a:p>
                      <a:pPr marL="90488" marR="0" lvl="0" indent="-90488" algn="just" defTabSz="914400" rtl="0" eaLnBrk="1" fontAlgn="base" latinLnBrk="1" hangingPunct="1">
                        <a:lnSpc>
                          <a:spcPct val="100000"/>
                        </a:lnSpc>
                        <a:spcBef>
                          <a:spcPts val="0"/>
                        </a:spcBef>
                        <a:spcAft>
                          <a:spcPts val="0"/>
                        </a:spcAft>
                        <a:buClrTx/>
                        <a:buSzTx/>
                        <a:buFontTx/>
                        <a:buNone/>
                        <a:tabLst/>
                        <a:defRPr/>
                      </a:pPr>
                      <a:r>
                        <a:rPr lang="en-US" altLang="ko-KR" sz="950" kern="0" spc="0" dirty="0">
                          <a:effectLst/>
                        </a:rPr>
                        <a:t>1.</a:t>
                      </a:r>
                      <a:r>
                        <a:rPr lang="ko-KR" altLang="en-US" sz="950" kern="0" spc="0" dirty="0">
                          <a:effectLst/>
                        </a:rPr>
                        <a:t>구법 제</a:t>
                      </a:r>
                      <a:r>
                        <a:rPr lang="en-US" altLang="ko-KR" sz="950" kern="0" spc="0" dirty="0">
                          <a:effectLst/>
                        </a:rPr>
                        <a:t>31</a:t>
                      </a:r>
                      <a:r>
                        <a:rPr lang="ko-KR" altLang="en-US" sz="950" kern="0" spc="0" dirty="0">
                          <a:effectLst/>
                        </a:rPr>
                        <a:t>조를 </a:t>
                      </a:r>
                      <a:r>
                        <a:rPr lang="ko-KR" altLang="en-US" sz="950" kern="0" spc="0" dirty="0" err="1">
                          <a:effectLst/>
                        </a:rPr>
                        <a:t>삭제함으로서</a:t>
                      </a:r>
                      <a:r>
                        <a:rPr lang="ko-KR" altLang="en-US" sz="950" kern="0" spc="0" dirty="0">
                          <a:effectLst/>
                        </a:rPr>
                        <a:t> 동물발명과 마찬가지로 유</a:t>
                      </a:r>
                      <a:r>
                        <a:rPr lang="en-US" altLang="ko-KR" sz="950" kern="0" spc="0" dirty="0">
                          <a:effectLst/>
                        </a:rPr>
                        <a:t>/</a:t>
                      </a:r>
                      <a:r>
                        <a:rPr lang="ko-KR" altLang="en-US" sz="950" kern="0" spc="0" dirty="0">
                          <a:effectLst/>
                        </a:rPr>
                        <a:t>무성 무관하게 특허법상 보호</a:t>
                      </a:r>
                      <a:endParaRPr lang="en-US" altLang="ko-KR" sz="950" kern="0" spc="0" dirty="0">
                        <a:effectLst/>
                      </a:endParaRPr>
                    </a:p>
                    <a:p>
                      <a:pPr marL="90488" marR="0" lvl="0" indent="-90488" algn="just" defTabSz="914400" rtl="0" eaLnBrk="1" fontAlgn="base" latinLnBrk="1" hangingPunct="1">
                        <a:lnSpc>
                          <a:spcPct val="100000"/>
                        </a:lnSpc>
                        <a:spcBef>
                          <a:spcPts val="0"/>
                        </a:spcBef>
                        <a:spcAft>
                          <a:spcPts val="0"/>
                        </a:spcAft>
                        <a:buClrTx/>
                        <a:buSzTx/>
                        <a:buFontTx/>
                        <a:buNone/>
                        <a:tabLst/>
                        <a:defRPr/>
                      </a:pPr>
                      <a:r>
                        <a:rPr lang="en-US" altLang="ko-KR" sz="950" kern="0" spc="0" dirty="0">
                          <a:effectLst/>
                        </a:rPr>
                        <a:t>2.</a:t>
                      </a:r>
                      <a:r>
                        <a:rPr lang="ko-KR" altLang="en-US" sz="950" kern="0" spc="0" dirty="0">
                          <a:effectLst/>
                        </a:rPr>
                        <a:t>육종경과를 상세히 기재하여야 </a:t>
                      </a:r>
                      <a:r>
                        <a:rPr lang="ko-KR" altLang="en-US" sz="950" kern="0" spc="0" dirty="0" err="1">
                          <a:effectLst/>
                        </a:rPr>
                        <a:t>성립성</a:t>
                      </a:r>
                      <a:r>
                        <a:rPr lang="ko-KR" altLang="en-US" sz="950" kern="0" spc="0" dirty="0">
                          <a:effectLst/>
                        </a:rPr>
                        <a:t> 인정</a:t>
                      </a:r>
                    </a:p>
                    <a:p>
                      <a:pPr marL="90488" marR="0" indent="-90488" algn="just" fontAlgn="base" latinLnBrk="1">
                        <a:lnSpc>
                          <a:spcPct val="100000"/>
                        </a:lnSpc>
                        <a:spcBef>
                          <a:spcPts val="0"/>
                        </a:spcBef>
                        <a:spcAft>
                          <a:spcPts val="0"/>
                        </a:spcAft>
                      </a:pPr>
                      <a:endParaRPr lang="ko-KR" altLang="en-US" sz="950" kern="0" spc="0" dirty="0">
                        <a:solidFill>
                          <a:srgbClr val="000000"/>
                        </a:solidFill>
                        <a:effectLst/>
                        <a:latin typeface="+mn-ea"/>
                        <a:ea typeface="+mn-ea"/>
                      </a:endParaRPr>
                    </a:p>
                  </a:txBody>
                  <a:tcPr marL="47473" marR="47473" marT="23737" marB="23737" anchor="ctr"/>
                </a:tc>
                <a:extLst>
                  <a:ext uri="{0D108BD9-81ED-4DB2-BD59-A6C34878D82A}">
                    <a16:rowId xmlns:a16="http://schemas.microsoft.com/office/drawing/2014/main" val="10002"/>
                  </a:ext>
                </a:extLst>
              </a:tr>
              <a:tr h="706771">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kern="0" spc="0">
                          <a:effectLst/>
                        </a:rPr>
                        <a:t>기타</a:t>
                      </a:r>
                      <a:endParaRPr lang="ko-KR" altLang="en-US" sz="950" b="1" kern="0" spc="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컴퓨터 기술을 중심으로 진보성을 판단</a:t>
                      </a:r>
                      <a:endParaRPr lang="ko-KR" altLang="en-US" sz="950" kern="0" spc="0" dirty="0">
                        <a:solidFill>
                          <a:schemeClr val="tx1"/>
                        </a:solidFill>
                        <a:effectLst/>
                        <a:latin typeface="+mn-ea"/>
                        <a:ea typeface="+mn-ea"/>
                      </a:endParaRPr>
                    </a:p>
                  </a:txBody>
                  <a:tcPr marL="47473" marR="47473" marT="23737" marB="23737" anchor="ctr"/>
                </a:tc>
                <a:tc>
                  <a:txBody>
                    <a:bodyPr/>
                    <a:lstStyle/>
                    <a:p>
                      <a:pPr marL="85090" marR="0" indent="-8509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쉽게 </a:t>
                      </a:r>
                      <a:r>
                        <a:rPr lang="ko-KR" altLang="en-US" sz="950" kern="0" spc="0" dirty="0" err="1">
                          <a:solidFill>
                            <a:schemeClr val="tx1"/>
                          </a:solidFill>
                          <a:effectLst/>
                        </a:rPr>
                        <a:t>입수가능하지</a:t>
                      </a:r>
                      <a:r>
                        <a:rPr lang="ko-KR" altLang="en-US" sz="950" kern="0" spc="0" dirty="0">
                          <a:solidFill>
                            <a:schemeClr val="tx1"/>
                          </a:solidFill>
                          <a:effectLst/>
                        </a:rPr>
                        <a:t> 않은 경우 </a:t>
                      </a:r>
                      <a:r>
                        <a:rPr lang="en-US" altLang="ko-KR" sz="950" kern="0" spc="0" dirty="0">
                          <a:solidFill>
                            <a:schemeClr val="tx1"/>
                          </a:solidFill>
                          <a:effectLst/>
                        </a:rPr>
                        <a:t>– </a:t>
                      </a:r>
                      <a:r>
                        <a:rPr lang="ko-KR" altLang="en-US" sz="950" kern="0" spc="0" dirty="0">
                          <a:solidFill>
                            <a:schemeClr val="tx1"/>
                          </a:solidFill>
                          <a:effectLst/>
                        </a:rPr>
                        <a:t>국내기탁기관</a:t>
                      </a:r>
                      <a:r>
                        <a:rPr lang="en-US" altLang="ko-KR" sz="950" kern="0" spc="0" dirty="0">
                          <a:solidFill>
                            <a:schemeClr val="tx1"/>
                          </a:solidFill>
                          <a:effectLst/>
                        </a:rPr>
                        <a:t>/</a:t>
                      </a:r>
                      <a:r>
                        <a:rPr lang="ko-KR" altLang="en-US" sz="950" kern="0" spc="0" dirty="0">
                          <a:solidFill>
                            <a:schemeClr val="tx1"/>
                          </a:solidFill>
                          <a:effectLst/>
                        </a:rPr>
                        <a:t>지정기탁기관</a:t>
                      </a:r>
                      <a:r>
                        <a:rPr lang="en-US" altLang="ko-KR" sz="950" kern="0" spc="0" dirty="0">
                          <a:solidFill>
                            <a:schemeClr val="tx1"/>
                          </a:solidFill>
                          <a:effectLst/>
                        </a:rPr>
                        <a:t>/</a:t>
                      </a:r>
                      <a:r>
                        <a:rPr lang="ko-KR" altLang="en-US" sz="950" kern="0" spc="0" dirty="0">
                          <a:solidFill>
                            <a:schemeClr val="tx1"/>
                          </a:solidFill>
                          <a:effectLst/>
                        </a:rPr>
                        <a:t>국제기탁기관에 기탁</a:t>
                      </a:r>
                      <a:r>
                        <a:rPr lang="en-US" altLang="ko-KR" sz="950" kern="0" spc="0" dirty="0">
                          <a:solidFill>
                            <a:schemeClr val="tx1"/>
                          </a:solidFill>
                          <a:effectLst/>
                        </a:rPr>
                        <a:t>, </a:t>
                      </a:r>
                      <a:r>
                        <a:rPr lang="ko-KR" altLang="en-US" sz="950" kern="0" spc="0" dirty="0" err="1">
                          <a:solidFill>
                            <a:schemeClr val="tx1"/>
                          </a:solidFill>
                          <a:effectLst/>
                        </a:rPr>
                        <a:t>특허출원서에</a:t>
                      </a:r>
                      <a:r>
                        <a:rPr lang="ko-KR" altLang="en-US" sz="950" kern="0" spc="0" dirty="0">
                          <a:solidFill>
                            <a:schemeClr val="tx1"/>
                          </a:solidFill>
                          <a:effectLst/>
                        </a:rPr>
                        <a:t> 그 취지를 기재하고 증명서류 제출</a:t>
                      </a:r>
                      <a:r>
                        <a:rPr lang="en-US" altLang="ko-KR" sz="950" kern="0" spc="0" dirty="0">
                          <a:solidFill>
                            <a:schemeClr val="tx1"/>
                          </a:solidFill>
                          <a:effectLst/>
                        </a:rPr>
                        <a:t>(</a:t>
                      </a:r>
                      <a:r>
                        <a:rPr lang="ko-KR" altLang="en-US" sz="950" kern="0" spc="0" dirty="0">
                          <a:solidFill>
                            <a:schemeClr val="tx1"/>
                          </a:solidFill>
                          <a:effectLst/>
                        </a:rPr>
                        <a:t>단</a:t>
                      </a:r>
                      <a:r>
                        <a:rPr lang="en-US" altLang="ko-KR" sz="950" kern="0" spc="0" dirty="0">
                          <a:solidFill>
                            <a:schemeClr val="tx1"/>
                          </a:solidFill>
                          <a:effectLst/>
                        </a:rPr>
                        <a:t>, </a:t>
                      </a:r>
                      <a:r>
                        <a:rPr lang="ko-KR" altLang="en-US" sz="950" kern="0" spc="0" dirty="0">
                          <a:solidFill>
                            <a:schemeClr val="tx1"/>
                          </a:solidFill>
                          <a:effectLst/>
                        </a:rPr>
                        <a:t>국내 소재지가 있는 국내</a:t>
                      </a:r>
                      <a:r>
                        <a:rPr lang="en-US" altLang="ko-KR" sz="950" kern="0" spc="0" dirty="0">
                          <a:solidFill>
                            <a:schemeClr val="tx1"/>
                          </a:solidFill>
                          <a:effectLst/>
                        </a:rPr>
                        <a:t>/</a:t>
                      </a:r>
                      <a:r>
                        <a:rPr lang="ko-KR" altLang="en-US" sz="950" kern="0" spc="0" dirty="0">
                          <a:solidFill>
                            <a:schemeClr val="tx1"/>
                          </a:solidFill>
                          <a:effectLst/>
                        </a:rPr>
                        <a:t>국제기탁기관에 기탁한 경우에는 증명서류 제출 생략 가능</a:t>
                      </a:r>
                      <a:r>
                        <a:rPr lang="en-US" altLang="ko-KR" sz="950" kern="0" spc="0" dirty="0">
                          <a:solidFill>
                            <a:schemeClr val="tx1"/>
                          </a:solidFill>
                          <a:effectLst/>
                        </a:rPr>
                        <a:t>), </a:t>
                      </a:r>
                      <a:r>
                        <a:rPr lang="ko-KR" altLang="en-US" sz="950" kern="0" spc="0" dirty="0">
                          <a:solidFill>
                            <a:schemeClr val="tx1"/>
                          </a:solidFill>
                          <a:effectLst/>
                        </a:rPr>
                        <a:t>수탁번호 기재 </a:t>
                      </a:r>
                      <a:r>
                        <a:rPr lang="en-US" altLang="ko-KR" sz="950" kern="0" spc="0" dirty="0">
                          <a:solidFill>
                            <a:schemeClr val="tx1"/>
                          </a:solidFill>
                          <a:effectLst/>
                        </a:rPr>
                        <a:t>--&gt; </a:t>
                      </a:r>
                      <a:r>
                        <a:rPr lang="ko-KR" altLang="en-US" sz="950" kern="0" spc="0" dirty="0">
                          <a:solidFill>
                            <a:schemeClr val="tx1"/>
                          </a:solidFill>
                          <a:effectLst/>
                        </a:rPr>
                        <a:t>기탁절차가 </a:t>
                      </a:r>
                      <a:r>
                        <a:rPr lang="ko-KR" altLang="en-US" sz="950" kern="0" spc="0" dirty="0" err="1">
                          <a:solidFill>
                            <a:schemeClr val="tx1"/>
                          </a:solidFill>
                          <a:effectLst/>
                        </a:rPr>
                        <a:t>부적법한</a:t>
                      </a:r>
                      <a:r>
                        <a:rPr lang="ko-KR" altLang="en-US" sz="950" kern="0" spc="0" dirty="0">
                          <a:solidFill>
                            <a:schemeClr val="tx1"/>
                          </a:solidFill>
                          <a:effectLst/>
                        </a:rPr>
                        <a:t> 경우 그 절차를 무효</a:t>
                      </a:r>
                      <a:r>
                        <a:rPr lang="en-US" altLang="ko-KR" sz="950" kern="0" spc="0" dirty="0">
                          <a:solidFill>
                            <a:schemeClr val="tx1"/>
                          </a:solidFill>
                          <a:effectLst/>
                        </a:rPr>
                        <a:t>(</a:t>
                      </a:r>
                      <a:r>
                        <a:rPr lang="ko-KR" altLang="en-US" sz="950" kern="0" spc="0" dirty="0">
                          <a:solidFill>
                            <a:schemeClr val="tx1"/>
                          </a:solidFill>
                          <a:effectLst/>
                        </a:rPr>
                        <a:t>재량</a:t>
                      </a:r>
                      <a:r>
                        <a:rPr lang="en-US" altLang="ko-KR" sz="950" kern="0" spc="0" dirty="0">
                          <a:solidFill>
                            <a:schemeClr val="tx1"/>
                          </a:solidFill>
                          <a:effectLst/>
                        </a:rPr>
                        <a:t>)</a:t>
                      </a:r>
                      <a:endParaRPr lang="ko-KR" altLang="en-US" sz="950" kern="0" spc="0" dirty="0">
                        <a:solidFill>
                          <a:schemeClr val="tx1"/>
                        </a:solidFill>
                        <a:effectLst/>
                      </a:endParaRP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쉽게 입수가능한 경우 </a:t>
                      </a:r>
                      <a:r>
                        <a:rPr lang="en-US" altLang="ko-KR" sz="950" kern="0" spc="0" dirty="0">
                          <a:solidFill>
                            <a:schemeClr val="tx1"/>
                          </a:solidFill>
                          <a:effectLst/>
                        </a:rPr>
                        <a:t>– </a:t>
                      </a:r>
                      <a:r>
                        <a:rPr lang="ko-KR" altLang="en-US" sz="950" kern="0" spc="0" dirty="0">
                          <a:solidFill>
                            <a:schemeClr val="tx1"/>
                          </a:solidFill>
                          <a:effectLst/>
                        </a:rPr>
                        <a:t>입수방법기재</a:t>
                      </a:r>
                      <a:endParaRPr lang="ko-KR" altLang="en-US" sz="950" kern="0" spc="0" dirty="0">
                        <a:solidFill>
                          <a:schemeClr val="tx1"/>
                        </a:solidFill>
                        <a:effectLst/>
                        <a:latin typeface="+mn-ea"/>
                        <a:ea typeface="+mn-ea"/>
                      </a:endParaRPr>
                    </a:p>
                  </a:txBody>
                  <a:tcPr marL="47473" marR="47473" marT="23737" marB="23737" anchor="ctr"/>
                </a:tc>
                <a:tc>
                  <a:txBody>
                    <a:bodyPr/>
                    <a:lstStyle/>
                    <a:p>
                      <a:pPr marL="73660" marR="0" indent="-73660" algn="just" fontAlgn="base" latinLnBrk="1">
                        <a:lnSpc>
                          <a:spcPct val="100000"/>
                        </a:lnSpc>
                        <a:spcBef>
                          <a:spcPts val="0"/>
                        </a:spcBef>
                        <a:spcAft>
                          <a:spcPts val="0"/>
                        </a:spcAft>
                      </a:pPr>
                      <a:r>
                        <a:rPr lang="ko-KR" altLang="en-US" sz="950" kern="0" spc="0">
                          <a:effectLst/>
                        </a:rPr>
                        <a:t>식물기탁으로 </a:t>
                      </a:r>
                      <a:r>
                        <a:rPr lang="ko-KR" altLang="en-US" sz="950" kern="0" spc="0" dirty="0">
                          <a:effectLst/>
                        </a:rPr>
                        <a:t>명세서 기재를 보충하거나 대체 不可</a:t>
                      </a:r>
                      <a:endParaRPr lang="ko-KR" altLang="en-US" sz="950" kern="0" spc="0" dirty="0">
                        <a:solidFill>
                          <a:srgbClr val="000000"/>
                        </a:solidFill>
                        <a:effectLst/>
                        <a:latin typeface="+mn-ea"/>
                        <a:ea typeface="+mn-ea"/>
                      </a:endParaRPr>
                    </a:p>
                  </a:txBody>
                  <a:tcPr marL="47473" marR="47473" marT="23737" marB="23737" anchor="ctr"/>
                </a:tc>
                <a:extLst>
                  <a:ext uri="{0D108BD9-81ED-4DB2-BD59-A6C34878D82A}">
                    <a16:rowId xmlns:a16="http://schemas.microsoft.com/office/drawing/2014/main" val="10003"/>
                  </a:ext>
                </a:extLst>
              </a:tr>
              <a:tr h="1126477">
                <a:tc rowSpan="3">
                  <a:txBody>
                    <a:bodyPr/>
                    <a:lstStyle/>
                    <a:p>
                      <a:pPr marL="0" marR="0" indent="0" algn="ctr" fontAlgn="base" latinLnBrk="0">
                        <a:lnSpc>
                          <a:spcPct val="100000"/>
                        </a:lnSpc>
                        <a:spcBef>
                          <a:spcPts val="0"/>
                        </a:spcBef>
                        <a:spcAft>
                          <a:spcPts val="0"/>
                        </a:spcAft>
                      </a:pPr>
                      <a:r>
                        <a:rPr lang="ko-KR" altLang="en-US" sz="950" kern="0" spc="0" dirty="0" err="1">
                          <a:effectLst/>
                        </a:rPr>
                        <a:t>특</a:t>
                      </a:r>
                      <a:endParaRPr lang="en-US" altLang="ko-KR" sz="950" kern="0" spc="0" dirty="0">
                        <a:effectLst/>
                      </a:endParaRPr>
                    </a:p>
                    <a:p>
                      <a:pPr marL="0" marR="0" indent="0" algn="ctr" fontAlgn="base" latinLnBrk="0">
                        <a:lnSpc>
                          <a:spcPct val="100000"/>
                        </a:lnSpc>
                        <a:spcBef>
                          <a:spcPts val="0"/>
                        </a:spcBef>
                        <a:spcAft>
                          <a:spcPts val="0"/>
                        </a:spcAft>
                      </a:pPr>
                      <a:r>
                        <a:rPr lang="ko-KR" altLang="en-US" sz="950" kern="0" spc="0" dirty="0">
                          <a:effectLst/>
                        </a:rPr>
                        <a:t>허</a:t>
                      </a:r>
                      <a:endParaRPr lang="en-US" altLang="ko-KR" sz="950" kern="0" spc="0" dirty="0">
                        <a:effectLst/>
                      </a:endParaRPr>
                    </a:p>
                    <a:p>
                      <a:pPr marL="0" marR="0" indent="0" algn="ctr" fontAlgn="base" latinLnBrk="0">
                        <a:lnSpc>
                          <a:spcPct val="100000"/>
                        </a:lnSpc>
                        <a:spcBef>
                          <a:spcPts val="0"/>
                        </a:spcBef>
                        <a:spcAft>
                          <a:spcPts val="0"/>
                        </a:spcAft>
                      </a:pPr>
                      <a:r>
                        <a:rPr lang="ko-KR" altLang="en-US" sz="950" kern="0" spc="0" dirty="0">
                          <a:effectLst/>
                        </a:rPr>
                        <a:t>권</a:t>
                      </a:r>
                      <a:endParaRPr lang="ko-KR" altLang="en-US" sz="950" b="1" kern="0" spc="0" dirty="0">
                        <a:solidFill>
                          <a:srgbClr val="000000"/>
                        </a:solidFill>
                        <a:effectLst/>
                        <a:latin typeface="+mn-ea"/>
                        <a:ea typeface="+mn-ea"/>
                      </a:endParaRPr>
                    </a:p>
                  </a:txBody>
                  <a:tcPr marL="47473" marR="47473" marT="23737" marB="23737" anchor="ctr"/>
                </a:tc>
                <a:tc>
                  <a:txBody>
                    <a:bodyPr/>
                    <a:lstStyle/>
                    <a:p>
                      <a:pPr marL="0" marR="0" indent="0" algn="ctr" fontAlgn="base" latinLnBrk="0">
                        <a:lnSpc>
                          <a:spcPct val="100000"/>
                        </a:lnSpc>
                        <a:spcBef>
                          <a:spcPts val="0"/>
                        </a:spcBef>
                        <a:spcAft>
                          <a:spcPts val="0"/>
                        </a:spcAft>
                      </a:pPr>
                      <a:r>
                        <a:rPr lang="ko-KR" altLang="en-US" sz="950" kern="0" spc="0">
                          <a:effectLst/>
                        </a:rPr>
                        <a:t>효력</a:t>
                      </a:r>
                      <a:endParaRPr lang="ko-KR" altLang="en-US" sz="950" b="1" kern="0" spc="0">
                        <a:solidFill>
                          <a:srgbClr val="000000"/>
                        </a:solidFill>
                        <a:effectLst/>
                        <a:latin typeface="+mn-ea"/>
                        <a:ea typeface="+mn-ea"/>
                      </a:endParaRPr>
                    </a:p>
                  </a:txBody>
                  <a:tcPr marL="47473" marR="47473" marT="23737" marB="23737" anchor="ctr"/>
                </a:tc>
                <a:tc>
                  <a:txBody>
                    <a:bodyPr/>
                    <a:lstStyle/>
                    <a:p>
                      <a:pPr marL="85725" marR="0" lvl="0" indent="-85725" algn="just" defTabSz="914400" rtl="0" eaLnBrk="1" fontAlgn="base" latinLnBrk="1" hangingPunct="1">
                        <a:lnSpc>
                          <a:spcPct val="100000"/>
                        </a:lnSpc>
                        <a:spcBef>
                          <a:spcPts val="0"/>
                        </a:spcBef>
                        <a:spcAft>
                          <a:spcPts val="0"/>
                        </a:spcAft>
                        <a:buClrTx/>
                        <a:buSzTx/>
                        <a:buFontTx/>
                        <a:buNone/>
                        <a:tabLst/>
                        <a:defRPr/>
                      </a:pPr>
                      <a:r>
                        <a:rPr lang="en-US" altLang="ko-KR" sz="950" kern="0" spc="0" dirty="0">
                          <a:solidFill>
                            <a:schemeClr val="tx1"/>
                          </a:solidFill>
                          <a:effectLst/>
                          <a:latin typeface="+mn-lt"/>
                          <a:ea typeface="+mn-ea"/>
                          <a:cs typeface="+mn-cs"/>
                        </a:rPr>
                        <a:t>1.</a:t>
                      </a:r>
                      <a:r>
                        <a:rPr lang="ko-KR" altLang="en-US" sz="950" kern="1200" dirty="0">
                          <a:solidFill>
                            <a:schemeClr val="tx1"/>
                          </a:solidFill>
                          <a:effectLst/>
                          <a:latin typeface="+mn-lt"/>
                          <a:ea typeface="+mn-ea"/>
                          <a:cs typeface="+mn-cs"/>
                        </a:rPr>
                        <a:t>컴퓨터 프로그램 실행</a:t>
                      </a:r>
                      <a:r>
                        <a:rPr lang="en-US" altLang="ko-KR" sz="950" kern="1200" dirty="0">
                          <a:solidFill>
                            <a:schemeClr val="tx1"/>
                          </a:solidFill>
                          <a:effectLst/>
                          <a:latin typeface="+mn-lt"/>
                          <a:ea typeface="+mn-ea"/>
                          <a:cs typeface="+mn-cs"/>
                        </a:rPr>
                        <a:t>(</a:t>
                      </a:r>
                      <a:r>
                        <a:rPr lang="ko-KR" altLang="en-US" sz="950" kern="1200" dirty="0">
                          <a:solidFill>
                            <a:schemeClr val="tx1"/>
                          </a:solidFill>
                          <a:effectLst/>
                          <a:latin typeface="+mn-lt"/>
                          <a:ea typeface="+mn-ea"/>
                          <a:cs typeface="+mn-cs"/>
                        </a:rPr>
                        <a:t>방법의 사용</a:t>
                      </a:r>
                      <a:r>
                        <a:rPr lang="en-US" altLang="ko-KR" sz="950" kern="1200" dirty="0">
                          <a:solidFill>
                            <a:schemeClr val="tx1"/>
                          </a:solidFill>
                          <a:effectLst/>
                          <a:latin typeface="+mn-lt"/>
                          <a:ea typeface="+mn-ea"/>
                          <a:cs typeface="+mn-cs"/>
                        </a:rPr>
                        <a:t>)</a:t>
                      </a:r>
                      <a:r>
                        <a:rPr lang="ko-KR" altLang="en-US" sz="950" kern="1200" dirty="0">
                          <a:solidFill>
                            <a:schemeClr val="tx1"/>
                          </a:solidFill>
                          <a:effectLst/>
                          <a:latin typeface="+mn-lt"/>
                          <a:ea typeface="+mn-ea"/>
                          <a:cs typeface="+mn-cs"/>
                        </a:rPr>
                        <a:t>을 위한 온라인 전송행위</a:t>
                      </a:r>
                      <a:r>
                        <a:rPr lang="en-US" altLang="ko-KR" sz="950" kern="1200" dirty="0">
                          <a:solidFill>
                            <a:schemeClr val="tx1"/>
                          </a:solidFill>
                          <a:effectLst/>
                          <a:latin typeface="+mn-lt"/>
                          <a:ea typeface="+mn-ea"/>
                          <a:cs typeface="+mn-cs"/>
                        </a:rPr>
                        <a:t>(</a:t>
                      </a:r>
                      <a:r>
                        <a:rPr lang="ko-KR" altLang="en-US" sz="950" kern="1200" dirty="0">
                          <a:solidFill>
                            <a:schemeClr val="tx1"/>
                          </a:solidFill>
                          <a:effectLst/>
                          <a:latin typeface="+mn-lt"/>
                          <a:ea typeface="+mn-ea"/>
                          <a:cs typeface="+mn-cs"/>
                        </a:rPr>
                        <a:t>청약</a:t>
                      </a:r>
                      <a:r>
                        <a:rPr lang="en-US" altLang="ko-KR" sz="950" kern="1200" dirty="0">
                          <a:solidFill>
                            <a:schemeClr val="tx1"/>
                          </a:solidFill>
                          <a:effectLst/>
                          <a:latin typeface="+mn-lt"/>
                          <a:ea typeface="+mn-ea"/>
                          <a:cs typeface="+mn-cs"/>
                        </a:rPr>
                        <a:t>)</a:t>
                      </a:r>
                      <a:r>
                        <a:rPr lang="ko-KR" altLang="en-US" sz="950" kern="1200" dirty="0">
                          <a:solidFill>
                            <a:schemeClr val="tx1"/>
                          </a:solidFill>
                          <a:effectLst/>
                          <a:latin typeface="+mn-lt"/>
                          <a:ea typeface="+mn-ea"/>
                          <a:cs typeface="+mn-cs"/>
                        </a:rPr>
                        <a:t>를 방법발명의 실시의 일 유형으로 포섭 </a:t>
                      </a:r>
                      <a:r>
                        <a:rPr lang="en-US" altLang="ko-KR" sz="950" kern="1200" dirty="0">
                          <a:solidFill>
                            <a:schemeClr val="tx1"/>
                          </a:solidFill>
                          <a:effectLst/>
                          <a:latin typeface="+mn-lt"/>
                          <a:ea typeface="+mn-ea"/>
                          <a:cs typeface="+mn-cs"/>
                        </a:rPr>
                        <a:t>(</a:t>
                      </a:r>
                      <a:r>
                        <a:rPr lang="ko-KR" altLang="en-US" sz="950" kern="1200" dirty="0">
                          <a:solidFill>
                            <a:schemeClr val="tx1"/>
                          </a:solidFill>
                          <a:effectLst/>
                          <a:latin typeface="+mn-lt"/>
                          <a:ea typeface="+mn-ea"/>
                          <a:cs typeface="+mn-cs"/>
                        </a:rPr>
                        <a:t>法 </a:t>
                      </a:r>
                      <a:r>
                        <a:rPr lang="en-US" altLang="ko-KR" sz="950" kern="1200" dirty="0">
                          <a:solidFill>
                            <a:schemeClr val="tx1"/>
                          </a:solidFill>
                          <a:effectLst/>
                          <a:latin typeface="+mn-lt"/>
                          <a:ea typeface="+mn-ea"/>
                          <a:cs typeface="+mn-cs"/>
                        </a:rPr>
                        <a:t>2Ⅲ</a:t>
                      </a:r>
                      <a:r>
                        <a:rPr lang="ko-KR" altLang="en-US" sz="950" kern="1200" dirty="0">
                          <a:solidFill>
                            <a:schemeClr val="tx1"/>
                          </a:solidFill>
                          <a:effectLst/>
                          <a:latin typeface="+mn-lt"/>
                          <a:ea typeface="+mn-ea"/>
                          <a:cs typeface="+mn-cs"/>
                        </a:rPr>
                        <a:t>나</a:t>
                      </a:r>
                      <a:r>
                        <a:rPr lang="en-US" altLang="ko-KR" sz="950" kern="1200" dirty="0">
                          <a:solidFill>
                            <a:schemeClr val="tx1"/>
                          </a:solidFill>
                          <a:effectLst/>
                          <a:latin typeface="+mn-lt"/>
                          <a:ea typeface="+mn-ea"/>
                          <a:cs typeface="+mn-cs"/>
                        </a:rPr>
                        <a:t>). </a:t>
                      </a:r>
                    </a:p>
                    <a:p>
                      <a:pPr marL="85725" marR="0" lvl="0" indent="-85725" algn="just" defTabSz="914400" rtl="0" eaLnBrk="1" fontAlgn="base" latinLnBrk="1" hangingPunct="1">
                        <a:lnSpc>
                          <a:spcPct val="100000"/>
                        </a:lnSpc>
                        <a:spcBef>
                          <a:spcPts val="0"/>
                        </a:spcBef>
                        <a:spcAft>
                          <a:spcPts val="0"/>
                        </a:spcAft>
                        <a:buClrTx/>
                        <a:buSzTx/>
                        <a:buFontTx/>
                        <a:buNone/>
                        <a:tabLst/>
                        <a:defRPr/>
                      </a:pPr>
                      <a:r>
                        <a:rPr lang="en-US" altLang="ko-KR" sz="950" kern="1200" dirty="0">
                          <a:solidFill>
                            <a:schemeClr val="tx1"/>
                          </a:solidFill>
                          <a:effectLst/>
                          <a:latin typeface="+mn-lt"/>
                          <a:ea typeface="+mn-ea"/>
                          <a:cs typeface="+mn-cs"/>
                        </a:rPr>
                        <a:t>2.</a:t>
                      </a:r>
                      <a:r>
                        <a:rPr lang="ko-KR" altLang="en-US" sz="950" kern="1200" dirty="0">
                          <a:solidFill>
                            <a:schemeClr val="tx1"/>
                          </a:solidFill>
                          <a:effectLst/>
                          <a:latin typeface="+mn-lt"/>
                          <a:ea typeface="+mn-ea"/>
                          <a:cs typeface="+mn-cs"/>
                        </a:rPr>
                        <a:t>다만</a:t>
                      </a:r>
                      <a:r>
                        <a:rPr lang="en-US" altLang="ko-KR" sz="950" kern="1200" dirty="0">
                          <a:solidFill>
                            <a:schemeClr val="tx1"/>
                          </a:solidFill>
                          <a:effectLst/>
                          <a:latin typeface="+mn-lt"/>
                          <a:ea typeface="+mn-ea"/>
                          <a:cs typeface="+mn-cs"/>
                        </a:rPr>
                        <a:t>, </a:t>
                      </a:r>
                      <a:r>
                        <a:rPr lang="ko-KR" altLang="en-US" sz="950" kern="1200" dirty="0">
                          <a:solidFill>
                            <a:schemeClr val="tx1"/>
                          </a:solidFill>
                          <a:effectLst/>
                          <a:latin typeface="+mn-lt"/>
                          <a:ea typeface="+mn-ea"/>
                          <a:cs typeface="+mn-cs"/>
                        </a:rPr>
                        <a:t>소프트웨어 산업의 위축을 방지하기 위하여 그 방법의 사용이 특허권 또는 전용실시권을 침해한다는 것을 알면서 그 방법의 사용을 청약하는 행위에만 특허권의 효력이 미치도록 제한하고 있다</a:t>
                      </a:r>
                      <a:r>
                        <a:rPr lang="en-US" altLang="ko-KR" sz="950" kern="1200" dirty="0">
                          <a:solidFill>
                            <a:schemeClr val="tx1"/>
                          </a:solidFill>
                          <a:effectLst/>
                          <a:latin typeface="+mn-lt"/>
                          <a:ea typeface="+mn-ea"/>
                          <a:cs typeface="+mn-cs"/>
                        </a:rPr>
                        <a:t>(</a:t>
                      </a:r>
                      <a:r>
                        <a:rPr lang="ko-KR" altLang="en-US" sz="950" kern="1200" dirty="0">
                          <a:solidFill>
                            <a:schemeClr val="tx1"/>
                          </a:solidFill>
                          <a:effectLst/>
                          <a:latin typeface="+mn-lt"/>
                          <a:ea typeface="+mn-ea"/>
                          <a:cs typeface="+mn-cs"/>
                        </a:rPr>
                        <a:t>法 </a:t>
                      </a:r>
                      <a:r>
                        <a:rPr lang="en-US" altLang="ko-KR" sz="950" kern="1200" dirty="0">
                          <a:solidFill>
                            <a:schemeClr val="tx1"/>
                          </a:solidFill>
                          <a:effectLst/>
                          <a:latin typeface="+mn-lt"/>
                          <a:ea typeface="+mn-ea"/>
                          <a:cs typeface="+mn-cs"/>
                        </a:rPr>
                        <a:t>94</a:t>
                      </a:r>
                      <a:r>
                        <a:rPr lang="ko-KR" altLang="en-US" sz="950" kern="1200" dirty="0">
                          <a:solidFill>
                            <a:schemeClr val="tx1"/>
                          </a:solidFill>
                          <a:effectLst/>
                          <a:latin typeface="+mn-lt"/>
                          <a:ea typeface="+mn-ea"/>
                          <a:cs typeface="+mn-cs"/>
                        </a:rPr>
                        <a:t>②</a:t>
                      </a:r>
                      <a:r>
                        <a:rPr lang="en-US" altLang="ko-KR" sz="950" kern="1200" dirty="0">
                          <a:solidFill>
                            <a:schemeClr val="tx1"/>
                          </a:solidFill>
                          <a:effectLst/>
                          <a:latin typeface="+mn-lt"/>
                          <a:ea typeface="+mn-ea"/>
                          <a:cs typeface="+mn-cs"/>
                        </a:rPr>
                        <a:t>). </a:t>
                      </a:r>
                      <a:r>
                        <a:rPr lang="ko-KR" altLang="en-US" sz="950" kern="1200" dirty="0">
                          <a:solidFill>
                            <a:schemeClr val="tx1"/>
                          </a:solidFill>
                          <a:effectLst/>
                          <a:latin typeface="+mn-lt"/>
                          <a:ea typeface="+mn-ea"/>
                          <a:cs typeface="+mn-cs"/>
                        </a:rPr>
                        <a:t>따라서 방법의 사용을 청약하는 행위에는 특허법 제</a:t>
                      </a:r>
                      <a:r>
                        <a:rPr lang="en-US" altLang="ko-KR" sz="950" kern="1200" dirty="0">
                          <a:solidFill>
                            <a:schemeClr val="tx1"/>
                          </a:solidFill>
                          <a:effectLst/>
                          <a:latin typeface="+mn-lt"/>
                          <a:ea typeface="+mn-ea"/>
                          <a:cs typeface="+mn-cs"/>
                        </a:rPr>
                        <a:t>130</a:t>
                      </a:r>
                      <a:r>
                        <a:rPr lang="ko-KR" altLang="en-US" sz="950" kern="1200" dirty="0">
                          <a:solidFill>
                            <a:schemeClr val="tx1"/>
                          </a:solidFill>
                          <a:effectLst/>
                          <a:latin typeface="+mn-lt"/>
                          <a:ea typeface="+mn-ea"/>
                          <a:cs typeface="+mn-cs"/>
                        </a:rPr>
                        <a:t>조의 과실추정 규정 불적용</a:t>
                      </a:r>
                      <a:endParaRPr lang="ko-KR" altLang="en-US" sz="900" kern="0" spc="0" dirty="0">
                        <a:solidFill>
                          <a:schemeClr val="tx1"/>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　</a:t>
                      </a:r>
                      <a:endParaRPr lang="ko-KR" altLang="en-US" sz="950" kern="0" spc="0" dirty="0">
                        <a:solidFill>
                          <a:schemeClr val="tx1"/>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r>
                        <a:rPr lang="ko-KR" altLang="en-US" sz="950" kern="0" spc="0" dirty="0">
                          <a:effectLst/>
                        </a:rPr>
                        <a:t>　</a:t>
                      </a:r>
                      <a:endParaRPr lang="ko-KR" altLang="en-US" sz="950" kern="0" spc="0" dirty="0">
                        <a:solidFill>
                          <a:srgbClr val="000000"/>
                        </a:solidFill>
                        <a:effectLst/>
                        <a:latin typeface="+mn-ea"/>
                        <a:ea typeface="+mn-ea"/>
                      </a:endParaRPr>
                    </a:p>
                  </a:txBody>
                  <a:tcPr marL="47473" marR="47473" marT="23737" marB="23737" anchor="ctr"/>
                </a:tc>
                <a:extLst>
                  <a:ext uri="{0D108BD9-81ED-4DB2-BD59-A6C34878D82A}">
                    <a16:rowId xmlns:a16="http://schemas.microsoft.com/office/drawing/2014/main" val="10005"/>
                  </a:ext>
                </a:extLst>
              </a:tr>
              <a:tr h="200711">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kern="0" spc="0">
                          <a:effectLst/>
                        </a:rPr>
                        <a:t>제한</a:t>
                      </a:r>
                      <a:endParaRPr lang="ko-KR" altLang="en-US" sz="950" b="1" kern="0" spc="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endParaRPr lang="ko-KR" altLang="en-US" sz="950" kern="0" spc="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endParaRPr lang="ko-KR" altLang="en-US" sz="950" kern="0" spc="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endParaRPr lang="ko-KR" altLang="en-US" sz="950" kern="0" spc="0">
                        <a:solidFill>
                          <a:srgbClr val="000000"/>
                        </a:solidFill>
                        <a:effectLst/>
                        <a:latin typeface="+mn-ea"/>
                        <a:ea typeface="+mn-ea"/>
                      </a:endParaRPr>
                    </a:p>
                  </a:txBody>
                  <a:tcPr marL="47473" marR="47473" marT="23737" marB="23737" anchor="ctr"/>
                </a:tc>
                <a:extLst>
                  <a:ext uri="{0D108BD9-81ED-4DB2-BD59-A6C34878D82A}">
                    <a16:rowId xmlns:a16="http://schemas.microsoft.com/office/drawing/2014/main" val="10006"/>
                  </a:ext>
                </a:extLst>
              </a:tr>
              <a:tr h="331441">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kern="0" spc="0">
                          <a:effectLst/>
                        </a:rPr>
                        <a:t>확장</a:t>
                      </a:r>
                      <a:endParaRPr lang="ko-KR" altLang="en-US" sz="950" b="1" kern="0" spc="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endParaRPr lang="ko-KR" altLang="en-US" sz="950" kern="0" spc="0" dirty="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r>
                        <a:rPr lang="ko-KR" altLang="en-US" sz="950" kern="0" spc="0" dirty="0">
                          <a:effectLst/>
                        </a:rPr>
                        <a:t>허가 등에 따른 존속기간의 연장가능</a:t>
                      </a:r>
                      <a:endParaRPr lang="ko-KR" altLang="en-US" sz="950" kern="0" spc="0" dirty="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endParaRPr lang="ko-KR" altLang="en-US" sz="950" kern="0" spc="0">
                        <a:solidFill>
                          <a:srgbClr val="000000"/>
                        </a:solidFill>
                        <a:effectLst/>
                        <a:latin typeface="+mn-ea"/>
                        <a:ea typeface="+mn-ea"/>
                      </a:endParaRPr>
                    </a:p>
                  </a:txBody>
                  <a:tcPr marL="47473" marR="47473" marT="23737" marB="23737" anchor="ctr"/>
                </a:tc>
                <a:extLst>
                  <a:ext uri="{0D108BD9-81ED-4DB2-BD59-A6C34878D82A}">
                    <a16:rowId xmlns:a16="http://schemas.microsoft.com/office/drawing/2014/main" val="10007"/>
                  </a:ext>
                </a:extLst>
              </a:tr>
              <a:tr h="805306">
                <a:tc gridSpan="2">
                  <a:txBody>
                    <a:bodyPr/>
                    <a:lstStyle/>
                    <a:p>
                      <a:pPr marL="0" marR="0" indent="0" algn="ctr" fontAlgn="base" latinLnBrk="0">
                        <a:lnSpc>
                          <a:spcPct val="100000"/>
                        </a:lnSpc>
                        <a:spcBef>
                          <a:spcPts val="0"/>
                        </a:spcBef>
                        <a:spcAft>
                          <a:spcPts val="0"/>
                        </a:spcAft>
                      </a:pPr>
                      <a:r>
                        <a:rPr lang="ko-KR" altLang="en-US" sz="950" kern="0" spc="0">
                          <a:effectLst/>
                        </a:rPr>
                        <a:t>비고</a:t>
                      </a:r>
                      <a:endParaRPr lang="ko-KR" altLang="en-US" sz="950" b="1" kern="0" spc="0">
                        <a:solidFill>
                          <a:srgbClr val="000000"/>
                        </a:solidFill>
                        <a:effectLst/>
                        <a:latin typeface="+mn-ea"/>
                        <a:ea typeface="+mn-ea"/>
                      </a:endParaRPr>
                    </a:p>
                  </a:txBody>
                  <a:tcPr marL="47473" marR="47473" marT="23737" marB="23737"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50" kern="0" spc="0">
                          <a:effectLst/>
                        </a:rPr>
                        <a:t>　</a:t>
                      </a:r>
                      <a:endParaRPr lang="ko-KR" altLang="en-US" sz="950" kern="0" spc="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r>
                        <a:rPr lang="en-US" altLang="ko-KR" sz="950" kern="0" spc="0">
                          <a:effectLst/>
                        </a:rPr>
                        <a:t>1.</a:t>
                      </a:r>
                      <a:r>
                        <a:rPr lang="ko-KR" altLang="en-US" sz="950" kern="0" spc="0">
                          <a:effectLst/>
                        </a:rPr>
                        <a:t>미생물의 분양</a:t>
                      </a:r>
                    </a:p>
                    <a:p>
                      <a:pPr marL="0" marR="0" indent="0" algn="just" fontAlgn="base" latinLnBrk="1">
                        <a:lnSpc>
                          <a:spcPct val="100000"/>
                        </a:lnSpc>
                        <a:spcBef>
                          <a:spcPts val="0"/>
                        </a:spcBef>
                        <a:spcAft>
                          <a:spcPts val="0"/>
                        </a:spcAft>
                      </a:pPr>
                      <a:r>
                        <a:rPr lang="ko-KR" altLang="en-US" sz="950" kern="0" spc="0">
                          <a:effectLst/>
                        </a:rPr>
                        <a:t>① 출원공개</a:t>
                      </a:r>
                      <a:r>
                        <a:rPr lang="en-US" altLang="ko-KR" sz="950" kern="0" spc="0">
                          <a:effectLst/>
                        </a:rPr>
                        <a:t>/</a:t>
                      </a:r>
                      <a:r>
                        <a:rPr lang="ko-KR" altLang="en-US" sz="950" kern="0" spc="0">
                          <a:effectLst/>
                        </a:rPr>
                        <a:t>설정등록</a:t>
                      </a:r>
                    </a:p>
                    <a:p>
                      <a:pPr marL="0" marR="0" indent="0" algn="just" fontAlgn="base" latinLnBrk="1">
                        <a:lnSpc>
                          <a:spcPct val="100000"/>
                        </a:lnSpc>
                        <a:spcBef>
                          <a:spcPts val="0"/>
                        </a:spcBef>
                        <a:spcAft>
                          <a:spcPts val="0"/>
                        </a:spcAft>
                      </a:pPr>
                      <a:r>
                        <a:rPr lang="ko-KR" altLang="en-US" sz="950" kern="0" spc="0">
                          <a:effectLst/>
                        </a:rPr>
                        <a:t>② 의견서 작성에 필요</a:t>
                      </a:r>
                    </a:p>
                    <a:p>
                      <a:pPr marL="0" marR="0" indent="0" algn="just" fontAlgn="base" latinLnBrk="1">
                        <a:lnSpc>
                          <a:spcPct val="100000"/>
                        </a:lnSpc>
                        <a:spcBef>
                          <a:spcPts val="0"/>
                        </a:spcBef>
                        <a:spcAft>
                          <a:spcPts val="0"/>
                        </a:spcAft>
                      </a:pPr>
                      <a:r>
                        <a:rPr lang="ko-KR" altLang="en-US" sz="950" kern="0" spc="0">
                          <a:effectLst/>
                        </a:rPr>
                        <a:t>③ 기탁한 자로부터 분양에 대한 허락을 받은 자</a:t>
                      </a:r>
                    </a:p>
                    <a:p>
                      <a:pPr marL="0" marR="0" indent="0" algn="just" fontAlgn="base" latinLnBrk="1">
                        <a:lnSpc>
                          <a:spcPct val="100000"/>
                        </a:lnSpc>
                        <a:spcBef>
                          <a:spcPts val="0"/>
                        </a:spcBef>
                        <a:spcAft>
                          <a:spcPts val="0"/>
                        </a:spcAft>
                      </a:pPr>
                      <a:r>
                        <a:rPr lang="en-US" altLang="ko-KR" sz="950" kern="0" spc="0">
                          <a:effectLst/>
                        </a:rPr>
                        <a:t>2.</a:t>
                      </a:r>
                      <a:r>
                        <a:rPr lang="ko-KR" altLang="en-US" sz="950" kern="0" spc="0">
                          <a:effectLst/>
                        </a:rPr>
                        <a:t>제</a:t>
                      </a:r>
                      <a:r>
                        <a:rPr lang="en-US" altLang="ko-KR" sz="950" kern="0" spc="0">
                          <a:effectLst/>
                        </a:rPr>
                        <a:t>3</a:t>
                      </a:r>
                      <a:r>
                        <a:rPr lang="ko-KR" altLang="en-US" sz="950" kern="0" spc="0">
                          <a:effectLst/>
                        </a:rPr>
                        <a:t>자에게 이용금지</a:t>
                      </a:r>
                      <a:endParaRPr lang="ko-KR" altLang="en-US" sz="950" kern="0" spc="0">
                        <a:solidFill>
                          <a:srgbClr val="000000"/>
                        </a:solidFill>
                        <a:effectLst/>
                        <a:latin typeface="+mn-ea"/>
                        <a:ea typeface="+mn-ea"/>
                      </a:endParaRPr>
                    </a:p>
                  </a:txBody>
                  <a:tcPr marL="47473" marR="47473" marT="23737" marB="23737" anchor="ctr"/>
                </a:tc>
                <a:tc>
                  <a:txBody>
                    <a:bodyPr/>
                    <a:lstStyle/>
                    <a:p>
                      <a:pPr marL="0" marR="0" indent="0" algn="just" fontAlgn="base" latinLnBrk="1">
                        <a:lnSpc>
                          <a:spcPct val="100000"/>
                        </a:lnSpc>
                        <a:spcBef>
                          <a:spcPts val="0"/>
                        </a:spcBef>
                        <a:spcAft>
                          <a:spcPts val="0"/>
                        </a:spcAft>
                      </a:pPr>
                      <a:r>
                        <a:rPr lang="en-US" altLang="ko-KR" sz="950" kern="0" spc="0" dirty="0">
                          <a:effectLst/>
                        </a:rPr>
                        <a:t>WTO/TRIPs </a:t>
                      </a:r>
                      <a:r>
                        <a:rPr lang="ko-KR" altLang="en-US" sz="950" kern="0" spc="0" dirty="0">
                          <a:effectLst/>
                        </a:rPr>
                        <a:t>제</a:t>
                      </a:r>
                      <a:r>
                        <a:rPr lang="en-US" altLang="ko-KR" sz="950" kern="0" spc="0" dirty="0">
                          <a:effectLst/>
                        </a:rPr>
                        <a:t>27</a:t>
                      </a:r>
                      <a:r>
                        <a:rPr lang="ko-KR" altLang="en-US" sz="950" kern="0" spc="0" dirty="0">
                          <a:effectLst/>
                        </a:rPr>
                        <a:t>조제</a:t>
                      </a:r>
                      <a:r>
                        <a:rPr lang="en-US" altLang="ko-KR" sz="950" kern="0" spc="0" dirty="0">
                          <a:effectLst/>
                        </a:rPr>
                        <a:t>3</a:t>
                      </a:r>
                      <a:r>
                        <a:rPr lang="ko-KR" altLang="en-US" sz="950" kern="0" spc="0" dirty="0">
                          <a:effectLst/>
                        </a:rPr>
                        <a:t>항의 규정에서는 식물변종의 발명에 관해서는 </a:t>
                      </a:r>
                      <a:r>
                        <a:rPr lang="ko-KR" altLang="en-US" sz="950" kern="0" spc="0" dirty="0" err="1">
                          <a:effectLst/>
                        </a:rPr>
                        <a:t>불특허대상으로</a:t>
                      </a:r>
                      <a:r>
                        <a:rPr lang="ko-KR" altLang="en-US" sz="950" kern="0" spc="0" dirty="0">
                          <a:effectLst/>
                        </a:rPr>
                        <a:t> 할 수 </a:t>
                      </a:r>
                      <a:r>
                        <a:rPr lang="ko-KR" altLang="en-US" sz="950" kern="0" spc="0" dirty="0" err="1">
                          <a:effectLst/>
                        </a:rPr>
                        <a:t>있되</a:t>
                      </a:r>
                      <a:r>
                        <a:rPr lang="ko-KR" altLang="en-US" sz="950" kern="0" spc="0" dirty="0">
                          <a:effectLst/>
                        </a:rPr>
                        <a:t> 이를 </a:t>
                      </a:r>
                      <a:r>
                        <a:rPr lang="ko-KR" altLang="en-US" sz="950" kern="0" spc="0" dirty="0" err="1">
                          <a:effectLst/>
                        </a:rPr>
                        <a:t>불특허대상으로</a:t>
                      </a:r>
                      <a:r>
                        <a:rPr lang="ko-KR" altLang="en-US" sz="950" kern="0" spc="0" dirty="0">
                          <a:effectLst/>
                        </a:rPr>
                        <a:t> 한 경우에는 특별법으로 보호해야 함을 의무화　</a:t>
                      </a:r>
                      <a:endParaRPr lang="ko-KR" altLang="en-US" sz="950" kern="0" spc="0" dirty="0">
                        <a:solidFill>
                          <a:srgbClr val="000000"/>
                        </a:solidFill>
                        <a:effectLst/>
                        <a:latin typeface="+mn-ea"/>
                        <a:ea typeface="+mn-ea"/>
                      </a:endParaRPr>
                    </a:p>
                  </a:txBody>
                  <a:tcPr marL="47473" marR="47473" marT="23737" marB="23737" anchor="ct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174689919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 name="직사각형 11"/>
          <p:cNvSpPr/>
          <p:nvPr/>
        </p:nvSpPr>
        <p:spPr>
          <a:xfrm>
            <a:off x="11153595" y="44623"/>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총칙</a:t>
            </a:r>
            <a:r>
              <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err="1">
                <a:ln>
                  <a:noFill/>
                </a:ln>
                <a:solidFill>
                  <a:prstClr val="white"/>
                </a:solidFill>
                <a:effectLst/>
                <a:uLnTx/>
                <a:uFillTx/>
                <a:latin typeface="Frutiger LT 65 Bold"/>
                <a:ea typeface="Rix모던고딕 B"/>
                <a:cs typeface="+mn-cs"/>
              </a:rPr>
              <a:t>보칙</a:t>
            </a:r>
            <a:endPar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3" name="직사각형 12"/>
          <p:cNvSpPr/>
          <p:nvPr/>
        </p:nvSpPr>
        <p:spPr>
          <a:xfrm>
            <a:off x="11153595" y="1011588"/>
            <a:ext cx="1062789" cy="966965"/>
          </a:xfrm>
          <a:prstGeom prst="rect">
            <a:avLst/>
          </a:prstGeom>
          <a:solidFill>
            <a:schemeClr val="tx1">
              <a:lumMod val="65000"/>
              <a:lumOff val="3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srgbClr val="FFC000"/>
                </a:solidFill>
                <a:effectLst/>
                <a:uLnTx/>
                <a:uFillTx/>
                <a:latin typeface="Frutiger LT 65 Bold"/>
                <a:ea typeface="Rix모던고딕 B"/>
                <a:cs typeface="+mn-cs"/>
              </a:rPr>
              <a:t>특허</a:t>
            </a:r>
            <a:endParaRPr kumimoji="0" lang="en-US" altLang="ko-KR" sz="2000" b="1" i="0" u="none" strike="noStrike" kern="1200" cap="none" spc="0" normalizeH="0" baseline="0" noProof="0" dirty="0">
              <a:ln>
                <a:noFill/>
              </a:ln>
              <a:solidFill>
                <a:srgbClr val="FFC000"/>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srgbClr val="FFC000"/>
                </a:solidFill>
                <a:effectLst/>
                <a:uLnTx/>
                <a:uFillTx/>
                <a:latin typeface="Frutiger LT 65 Bold"/>
                <a:ea typeface="Rix모던고딕 B"/>
                <a:cs typeface="+mn-cs"/>
              </a:rPr>
              <a:t>요건</a:t>
            </a:r>
          </a:p>
        </p:txBody>
      </p:sp>
      <p:sp>
        <p:nvSpPr>
          <p:cNvPr id="14" name="직사각형 13"/>
          <p:cNvSpPr/>
          <p:nvPr/>
        </p:nvSpPr>
        <p:spPr>
          <a:xfrm>
            <a:off x="11153595" y="1978552"/>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이익</a:t>
            </a:r>
            <a:endPar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제도</a:t>
            </a:r>
          </a:p>
        </p:txBody>
      </p:sp>
      <p:sp>
        <p:nvSpPr>
          <p:cNvPr id="15" name="직사각형 14"/>
          <p:cNvSpPr/>
          <p:nvPr/>
        </p:nvSpPr>
        <p:spPr>
          <a:xfrm>
            <a:off x="11153595" y="2945517"/>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심사</a:t>
            </a:r>
            <a:endPar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제도</a:t>
            </a:r>
            <a:r>
              <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6" name="직사각형 15"/>
          <p:cNvSpPr/>
          <p:nvPr/>
        </p:nvSpPr>
        <p:spPr>
          <a:xfrm>
            <a:off x="11153595" y="3912483"/>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특허권</a:t>
            </a:r>
          </a:p>
        </p:txBody>
      </p:sp>
      <p:sp>
        <p:nvSpPr>
          <p:cNvPr id="17" name="직사각형 16"/>
          <p:cNvSpPr/>
          <p:nvPr/>
        </p:nvSpPr>
        <p:spPr>
          <a:xfrm>
            <a:off x="11153595" y="4879448"/>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심판</a:t>
            </a:r>
            <a:r>
              <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소송</a:t>
            </a:r>
          </a:p>
        </p:txBody>
      </p:sp>
      <p:sp>
        <p:nvSpPr>
          <p:cNvPr id="18" name="직사각형 17"/>
          <p:cNvSpPr/>
          <p:nvPr/>
        </p:nvSpPr>
        <p:spPr>
          <a:xfrm>
            <a:off x="11153595" y="5846412"/>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rPr>
              <a:t>PCT</a:t>
            </a:r>
            <a:endPar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2" name="제목 1">
            <a:extLst>
              <a:ext uri="{FF2B5EF4-FFF2-40B4-BE49-F238E27FC236}">
                <a16:creationId xmlns:a16="http://schemas.microsoft.com/office/drawing/2014/main" id="{9E37D41E-3D89-E902-35BF-0973F893AB6D}"/>
              </a:ext>
            </a:extLst>
          </p:cNvPr>
          <p:cNvSpPr txBox="1">
            <a:spLocks/>
          </p:cNvSpPr>
          <p:nvPr/>
        </p:nvSpPr>
        <p:spPr>
          <a:xfrm>
            <a:off x="1961128" y="1991045"/>
            <a:ext cx="7162800" cy="1193800"/>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2400" kern="1200">
                <a:solidFill>
                  <a:schemeClr val="accent4"/>
                </a:solidFill>
                <a:latin typeface="Rix모던명조 B" panose="02020603020101020101" pitchFamily="18" charset="-127"/>
                <a:ea typeface="Rix모던명조 B" panose="02020603020101020101" pitchFamily="18" charset="-127"/>
                <a:cs typeface="+mj-cs"/>
              </a:defRPr>
            </a:lvl1pPr>
          </a:lstStyle>
          <a:p>
            <a:pPr marL="0" marR="0" lvl="0" indent="0" algn="ctr" defTabSz="914400" rtl="0" eaLnBrk="1" fontAlgn="auto" latinLnBrk="1" hangingPunct="1">
              <a:lnSpc>
                <a:spcPct val="90000"/>
              </a:lnSpc>
              <a:spcBef>
                <a:spcPct val="0"/>
              </a:spcBef>
              <a:spcAft>
                <a:spcPts val="0"/>
              </a:spcAft>
              <a:buClrTx/>
              <a:buSzTx/>
              <a:buFontTx/>
              <a:buNone/>
              <a:tabLst/>
              <a:defRPr/>
            </a:pPr>
            <a:r>
              <a:rPr kumimoji="0" lang="ko-KR" altLang="en-US" sz="8000" b="0" i="0" u="none" strike="noStrike" kern="1200" cap="none" spc="0" normalizeH="0" baseline="0" noProof="0" dirty="0">
                <a:ln>
                  <a:noFill/>
                </a:ln>
                <a:solidFill>
                  <a:prstClr val="black">
                    <a:lumMod val="50000"/>
                    <a:lumOff val="50000"/>
                  </a:prstClr>
                </a:solidFill>
                <a:effectLst/>
                <a:uLnTx/>
                <a:uFillTx/>
                <a:latin typeface="Rix모던고딕 EB" panose="02020603020101020101" pitchFamily="18" charset="-127"/>
                <a:ea typeface="Rix모던고딕 EB" panose="02020603020101020101" pitchFamily="18" charset="-127"/>
                <a:cs typeface="+mj-cs"/>
              </a:rPr>
              <a:t>특허법 강의노트</a:t>
            </a:r>
          </a:p>
        </p:txBody>
      </p:sp>
      <p:sp>
        <p:nvSpPr>
          <p:cNvPr id="3" name="제목 1">
            <a:extLst>
              <a:ext uri="{FF2B5EF4-FFF2-40B4-BE49-F238E27FC236}">
                <a16:creationId xmlns:a16="http://schemas.microsoft.com/office/drawing/2014/main" id="{551DE372-8E71-65CA-6DEA-73C4991909E2}"/>
              </a:ext>
            </a:extLst>
          </p:cNvPr>
          <p:cNvSpPr txBox="1">
            <a:spLocks/>
          </p:cNvSpPr>
          <p:nvPr/>
        </p:nvSpPr>
        <p:spPr>
          <a:xfrm>
            <a:off x="2185246" y="3197545"/>
            <a:ext cx="6684682" cy="104455"/>
          </a:xfrm>
          <a:prstGeom prst="rect">
            <a:avLst/>
          </a:prstGeom>
          <a:solidFill>
            <a:schemeClr val="bg2">
              <a:lumMod val="90000"/>
            </a:schemeClr>
          </a:solidFill>
        </p:spPr>
        <p:txBody>
          <a:bodyPr vert="horz" lIns="540000" tIns="0" rIns="54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pPr marL="0" marR="0" lvl="0" indent="0" algn="dist" defTabSz="914400" rtl="0" eaLnBrk="1" fontAlgn="auto" latinLnBrk="1" hangingPunct="1">
              <a:lnSpc>
                <a:spcPct val="90000"/>
              </a:lnSpc>
              <a:spcBef>
                <a:spcPct val="0"/>
              </a:spcBef>
              <a:spcAft>
                <a:spcPts val="0"/>
              </a:spcAft>
              <a:buClrTx/>
              <a:buSzTx/>
              <a:buFontTx/>
              <a:buNone/>
              <a:tabLst/>
              <a:defRPr/>
            </a:pPr>
            <a:endParaRPr kumimoji="0" lang="ko-KR" altLang="en-US" sz="4000" b="0" i="0" u="none" strike="noStrike" kern="1200" cap="none" spc="0" normalizeH="0" baseline="0" noProof="0" dirty="0">
              <a:ln>
                <a:noFill/>
              </a:ln>
              <a:solidFill>
                <a:srgbClr val="FFC000"/>
              </a:solidFill>
              <a:effectLst/>
              <a:uLnTx/>
              <a:uFillTx/>
              <a:latin typeface="Rix모던고딕 B"/>
              <a:ea typeface="Rix모던고딕 B"/>
              <a:cs typeface="Tahoma" panose="020B0604030504040204" pitchFamily="34" charset="0"/>
            </a:endParaRPr>
          </a:p>
        </p:txBody>
      </p:sp>
      <p:sp>
        <p:nvSpPr>
          <p:cNvPr id="4" name="제목 1">
            <a:extLst>
              <a:ext uri="{FF2B5EF4-FFF2-40B4-BE49-F238E27FC236}">
                <a16:creationId xmlns:a16="http://schemas.microsoft.com/office/drawing/2014/main" id="{61A1773F-08CE-8EC7-8A83-6F595A08D562}"/>
              </a:ext>
            </a:extLst>
          </p:cNvPr>
          <p:cNvSpPr txBox="1">
            <a:spLocks/>
          </p:cNvSpPr>
          <p:nvPr/>
        </p:nvSpPr>
        <p:spPr>
          <a:xfrm>
            <a:off x="4565375" y="4873198"/>
            <a:ext cx="1954306" cy="649061"/>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1" hangingPunct="1">
              <a:lnSpc>
                <a:spcPct val="90000"/>
              </a:lnSpc>
              <a:spcBef>
                <a:spcPct val="0"/>
              </a:spcBef>
              <a:spcAft>
                <a:spcPts val="0"/>
              </a:spcAft>
              <a:buClrTx/>
              <a:buSzTx/>
              <a:buFontTx/>
              <a:buNone/>
              <a:tabLst/>
              <a:defRPr/>
            </a:pPr>
            <a:r>
              <a:rPr kumimoji="0" lang="en-US" altLang="ko-KR" sz="3600" b="0" i="0" u="none" strike="noStrike" kern="1200" cap="none" spc="0" normalizeH="0" baseline="0" noProof="0">
                <a:ln>
                  <a:noFill/>
                </a:ln>
                <a:solidFill>
                  <a:prstClr val="black">
                    <a:lumMod val="50000"/>
                    <a:lumOff val="50000"/>
                  </a:prstClr>
                </a:solidFill>
                <a:effectLst/>
                <a:uLnTx/>
                <a:uFillTx/>
                <a:latin typeface="Rix모던고딕 EB" panose="02020603020101020101" pitchFamily="18" charset="-127"/>
                <a:ea typeface="Rix모던고딕 EB" panose="02020603020101020101" pitchFamily="18" charset="-127"/>
                <a:cs typeface="+mj-cs"/>
              </a:rPr>
              <a:t>2026</a:t>
            </a:r>
            <a:endParaRPr kumimoji="0" lang="ko-KR" altLang="en-US" sz="3600" b="0" i="0" u="none" strike="noStrike" kern="1200" cap="none" spc="0" normalizeH="0" baseline="0" noProof="0" dirty="0">
              <a:ln>
                <a:noFill/>
              </a:ln>
              <a:solidFill>
                <a:prstClr val="black">
                  <a:lumMod val="50000"/>
                  <a:lumOff val="50000"/>
                </a:prstClr>
              </a:solidFill>
              <a:effectLst/>
              <a:uLnTx/>
              <a:uFillTx/>
              <a:latin typeface="Rix모던고딕 EB" panose="02020603020101020101" pitchFamily="18" charset="-127"/>
              <a:ea typeface="Rix모던고딕 EB" panose="02020603020101020101" pitchFamily="18" charset="-127"/>
              <a:cs typeface="+mj-cs"/>
            </a:endParaRPr>
          </a:p>
        </p:txBody>
      </p:sp>
      <p:sp>
        <p:nvSpPr>
          <p:cNvPr id="5" name="제목 1">
            <a:extLst>
              <a:ext uri="{FF2B5EF4-FFF2-40B4-BE49-F238E27FC236}">
                <a16:creationId xmlns:a16="http://schemas.microsoft.com/office/drawing/2014/main" id="{731BAE27-86B4-76FD-1C85-4834A32D5883}"/>
              </a:ext>
            </a:extLst>
          </p:cNvPr>
          <p:cNvSpPr txBox="1">
            <a:spLocks/>
          </p:cNvSpPr>
          <p:nvPr/>
        </p:nvSpPr>
        <p:spPr>
          <a:xfrm>
            <a:off x="2185246" y="3467433"/>
            <a:ext cx="6684682" cy="545768"/>
          </a:xfrm>
          <a:prstGeom prst="roundRect">
            <a:avLst>
              <a:gd name="adj" fmla="val 50000"/>
            </a:avLst>
          </a:prstGeom>
          <a:solidFill>
            <a:schemeClr val="accent4"/>
          </a:solidFill>
        </p:spPr>
        <p:txBody>
          <a:bodyPr vert="horz" lIns="0" tIns="0" rIns="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1" hangingPunct="1">
              <a:lnSpc>
                <a:spcPct val="90000"/>
              </a:lnSpc>
              <a:spcBef>
                <a:spcPct val="0"/>
              </a:spcBef>
              <a:spcAft>
                <a:spcPts val="0"/>
              </a:spcAft>
              <a:buClrTx/>
              <a:buSzTx/>
              <a:buFontTx/>
              <a:buNone/>
              <a:tabLst/>
              <a:defRPr/>
            </a:pPr>
            <a:r>
              <a:rPr kumimoji="0" lang="en-US" altLang="ko-KR" sz="2800" b="0" i="0" u="none" strike="noStrike" kern="1200" cap="none" spc="0" normalizeH="0" baseline="0" noProof="0" dirty="0" err="1">
                <a:ln>
                  <a:noFill/>
                </a:ln>
                <a:solidFill>
                  <a:prstClr val="white"/>
                </a:solidFill>
                <a:effectLst/>
                <a:uLnTx/>
                <a:uFillTx/>
                <a:latin typeface="Rix모던고딕 EB" panose="02020603020101020101" pitchFamily="18" charset="-127"/>
                <a:ea typeface="Rix모던고딕 EB" panose="02020603020101020101" pitchFamily="18" charset="-127"/>
                <a:cs typeface="+mj-cs"/>
              </a:rPr>
              <a:t>Yim</a:t>
            </a:r>
            <a:r>
              <a:rPr kumimoji="0" lang="en-US" altLang="ko-KR" sz="2800" b="0" i="0" u="none" strike="noStrike" kern="1200" cap="none" spc="0" normalizeH="0" baseline="0" noProof="0" dirty="0">
                <a:ln>
                  <a:noFill/>
                </a:ln>
                <a:solidFill>
                  <a:prstClr val="white"/>
                </a:solidFill>
                <a:effectLst/>
                <a:uLnTx/>
                <a:uFillTx/>
                <a:latin typeface="Rix모던고딕 EB" panose="02020603020101020101" pitchFamily="18" charset="-127"/>
                <a:ea typeface="Rix모던고딕 EB" panose="02020603020101020101" pitchFamily="18" charset="-127"/>
                <a:cs typeface="+mj-cs"/>
              </a:rPr>
              <a:t>, </a:t>
            </a:r>
            <a:r>
              <a:rPr kumimoji="0" lang="en-US" altLang="ko-KR" sz="2800" b="0" i="0" u="none" strike="noStrike" kern="1200" cap="none" spc="0" normalizeH="0" baseline="0" noProof="0" dirty="0" err="1">
                <a:ln>
                  <a:noFill/>
                </a:ln>
                <a:solidFill>
                  <a:prstClr val="white"/>
                </a:solidFill>
                <a:effectLst/>
                <a:uLnTx/>
                <a:uFillTx/>
                <a:latin typeface="Rix모던고딕 EB" panose="02020603020101020101" pitchFamily="18" charset="-127"/>
                <a:ea typeface="Rix모던고딕 EB" panose="02020603020101020101" pitchFamily="18" charset="-127"/>
                <a:cs typeface="+mj-cs"/>
              </a:rPr>
              <a:t>Byung-Woong</a:t>
            </a:r>
            <a:r>
              <a:rPr kumimoji="0" lang="en-US" altLang="ko-KR" sz="2800" b="0" i="0" u="none" strike="noStrike" kern="1200" cap="none" spc="0" normalizeH="0" baseline="0" noProof="0" dirty="0">
                <a:ln>
                  <a:noFill/>
                </a:ln>
                <a:solidFill>
                  <a:prstClr val="white"/>
                </a:solidFill>
                <a:effectLst/>
                <a:uLnTx/>
                <a:uFillTx/>
                <a:latin typeface="Rix모던고딕 EB" panose="02020603020101020101" pitchFamily="18" charset="-127"/>
                <a:ea typeface="Rix모던고딕 EB" panose="02020603020101020101" pitchFamily="18" charset="-127"/>
                <a:cs typeface="+mj-cs"/>
              </a:rPr>
              <a:t> All Rights Reserved.</a:t>
            </a:r>
            <a:endParaRPr kumimoji="0" lang="ko-KR" altLang="en-US" sz="2800" b="0" i="0" u="none" strike="noStrike" kern="1200" cap="none" spc="0" normalizeH="0" baseline="0" noProof="0" dirty="0">
              <a:ln>
                <a:noFill/>
              </a:ln>
              <a:solidFill>
                <a:prstClr val="white"/>
              </a:solidFill>
              <a:effectLst/>
              <a:uLnTx/>
              <a:uFillTx/>
              <a:latin typeface="Rix모던고딕 EB" panose="02020603020101020101" pitchFamily="18" charset="-127"/>
              <a:ea typeface="Rix모던고딕 EB" panose="02020603020101020101" pitchFamily="18" charset="-127"/>
              <a:cs typeface="+mj-cs"/>
            </a:endParaRPr>
          </a:p>
        </p:txBody>
      </p:sp>
    </p:spTree>
    <p:extLst>
      <p:ext uri="{BB962C8B-B14F-4D97-AF65-F5344CB8AC3E}">
        <p14:creationId xmlns:p14="http://schemas.microsoft.com/office/powerpoint/2010/main" val="3818388841"/>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00885529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51</a:t>
            </a:r>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6" name="직사각형 5"/>
          <p:cNvSpPr/>
          <p:nvPr/>
        </p:nvSpPr>
        <p:spPr>
          <a:xfrm>
            <a:off x="1244284" y="2152137"/>
            <a:ext cx="552862" cy="498328"/>
          </a:xfrm>
          <a:prstGeom prst="rect">
            <a:avLst/>
          </a:prstGeom>
          <a:ln w="6350"/>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총칙</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보칙</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7" name="직사각형 6"/>
          <p:cNvSpPr/>
          <p:nvPr/>
        </p:nvSpPr>
        <p:spPr>
          <a:xfrm>
            <a:off x="2118397" y="99429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목적</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 name="직사각형 7"/>
          <p:cNvSpPr/>
          <p:nvPr/>
        </p:nvSpPr>
        <p:spPr>
          <a:xfrm>
            <a:off x="2118397" y="12362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정의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 name="직사각형 8"/>
          <p:cNvSpPr/>
          <p:nvPr/>
        </p:nvSpPr>
        <p:spPr>
          <a:xfrm>
            <a:off x="2118397" y="1471128"/>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행위능력</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3~5①)</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 name="직사각형 9"/>
          <p:cNvSpPr/>
          <p:nvPr/>
        </p:nvSpPr>
        <p:spPr>
          <a:xfrm>
            <a:off x="2118397" y="1713120"/>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대리인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3②, 5②~10, 12)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 name="직사각형 10"/>
          <p:cNvSpPr/>
          <p:nvPr/>
        </p:nvSpPr>
        <p:spPr>
          <a:xfrm>
            <a:off x="2118397" y="1945643"/>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복수당사자 대표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 name="직사각형 11"/>
          <p:cNvSpPr/>
          <p:nvPr/>
        </p:nvSpPr>
        <p:spPr>
          <a:xfrm>
            <a:off x="2118397" y="218763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재외자의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재판관할</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 name="직사각형 12"/>
          <p:cNvSpPr/>
          <p:nvPr/>
        </p:nvSpPr>
        <p:spPr>
          <a:xfrm>
            <a:off x="2118397" y="243841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기일과 기간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14, 15)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4" name="직사각형 13"/>
          <p:cNvSpPr/>
          <p:nvPr/>
        </p:nvSpPr>
        <p:spPr>
          <a:xfrm>
            <a:off x="2118397" y="2670267"/>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특허에 관한 절차 일반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 28~28</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 name="직사각형 14"/>
          <p:cNvSpPr/>
          <p:nvPr/>
        </p:nvSpPr>
        <p:spPr>
          <a:xfrm>
            <a:off x="2118397" y="290844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추후보완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17, 67</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6" name="직사각형 15"/>
          <p:cNvSpPr/>
          <p:nvPr/>
        </p:nvSpPr>
        <p:spPr>
          <a:xfrm>
            <a:off x="2118397" y="313988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절차의 효력의 승계 및 절차의 속행</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18, 19)</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7" name="직사각형 16"/>
          <p:cNvSpPr/>
          <p:nvPr/>
        </p:nvSpPr>
        <p:spPr>
          <a:xfrm>
            <a:off x="2118397" y="337173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절차의 정지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20~24, 78, 164)</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8" name="꺾인 연결선 17"/>
          <p:cNvCxnSpPr>
            <a:cxnSpLocks/>
            <a:stCxn id="6" idx="3"/>
            <a:endCxn id="7" idx="1"/>
          </p:cNvCxnSpPr>
          <p:nvPr/>
        </p:nvCxnSpPr>
        <p:spPr>
          <a:xfrm flipV="1">
            <a:off x="1797146" y="1085041"/>
            <a:ext cx="321251" cy="131626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cxnSpLocks/>
            <a:stCxn id="6" idx="3"/>
            <a:endCxn id="17" idx="1"/>
          </p:cNvCxnSpPr>
          <p:nvPr/>
        </p:nvCxnSpPr>
        <p:spPr>
          <a:xfrm>
            <a:off x="1797146" y="2401301"/>
            <a:ext cx="321251" cy="106118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cxnSpLocks/>
            <a:stCxn id="6" idx="3"/>
            <a:endCxn id="8" idx="1"/>
          </p:cNvCxnSpPr>
          <p:nvPr/>
        </p:nvCxnSpPr>
        <p:spPr>
          <a:xfrm flipV="1">
            <a:off x="1797146" y="1327033"/>
            <a:ext cx="321251" cy="107426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cxnSpLocks/>
            <a:stCxn id="6" idx="3"/>
            <a:endCxn id="9" idx="1"/>
          </p:cNvCxnSpPr>
          <p:nvPr/>
        </p:nvCxnSpPr>
        <p:spPr>
          <a:xfrm flipV="1">
            <a:off x="1797146" y="1561875"/>
            <a:ext cx="321251" cy="8394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꺾인 연결선 21"/>
          <p:cNvCxnSpPr>
            <a:cxnSpLocks/>
            <a:stCxn id="6" idx="3"/>
            <a:endCxn id="13" idx="1"/>
          </p:cNvCxnSpPr>
          <p:nvPr/>
        </p:nvCxnSpPr>
        <p:spPr>
          <a:xfrm>
            <a:off x="1797146" y="2401301"/>
            <a:ext cx="321251" cy="12786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cxnSpLocks/>
            <a:stCxn id="6" idx="3"/>
            <a:endCxn id="14" idx="1"/>
          </p:cNvCxnSpPr>
          <p:nvPr/>
        </p:nvCxnSpPr>
        <p:spPr>
          <a:xfrm>
            <a:off x="1797146" y="2401301"/>
            <a:ext cx="321251" cy="35971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cxnSpLocks/>
            <a:stCxn id="6" idx="3"/>
            <a:endCxn id="15" idx="1"/>
          </p:cNvCxnSpPr>
          <p:nvPr/>
        </p:nvCxnSpPr>
        <p:spPr>
          <a:xfrm>
            <a:off x="1797146" y="2401301"/>
            <a:ext cx="321251" cy="5978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cxnSpLocks/>
            <a:stCxn id="6" idx="3"/>
            <a:endCxn id="16" idx="1"/>
          </p:cNvCxnSpPr>
          <p:nvPr/>
        </p:nvCxnSpPr>
        <p:spPr>
          <a:xfrm>
            <a:off x="1797146" y="2401301"/>
            <a:ext cx="321251" cy="82933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cxnSpLocks/>
            <a:stCxn id="6" idx="3"/>
            <a:endCxn id="10" idx="1"/>
          </p:cNvCxnSpPr>
          <p:nvPr/>
        </p:nvCxnSpPr>
        <p:spPr>
          <a:xfrm flipV="1">
            <a:off x="1797146" y="1803867"/>
            <a:ext cx="321251" cy="59743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cxnSpLocks/>
            <a:stCxn id="6" idx="3"/>
            <a:endCxn id="11" idx="1"/>
          </p:cNvCxnSpPr>
          <p:nvPr/>
        </p:nvCxnSpPr>
        <p:spPr>
          <a:xfrm flipV="1">
            <a:off x="1797146" y="2036390"/>
            <a:ext cx="321251" cy="36491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cxnSpLocks/>
            <a:stCxn id="6" idx="3"/>
            <a:endCxn id="12" idx="1"/>
          </p:cNvCxnSpPr>
          <p:nvPr/>
        </p:nvCxnSpPr>
        <p:spPr>
          <a:xfrm flipV="1">
            <a:off x="1797146" y="2278382"/>
            <a:ext cx="321251" cy="122919"/>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 name="그룹 28"/>
          <p:cNvGrpSpPr/>
          <p:nvPr/>
        </p:nvGrpSpPr>
        <p:grpSpPr>
          <a:xfrm>
            <a:off x="6536267" y="1171792"/>
            <a:ext cx="4444979" cy="2279356"/>
            <a:chOff x="3987793" y="1037128"/>
            <a:chExt cx="3733785" cy="1752532"/>
          </a:xfrm>
        </p:grpSpPr>
        <p:sp>
          <p:nvSpPr>
            <p:cNvPr id="30" name="직사각형 29"/>
            <p:cNvSpPr/>
            <p:nvPr/>
          </p:nvSpPr>
          <p:spPr>
            <a:xfrm>
              <a:off x="3987793" y="1888138"/>
              <a:ext cx="398311" cy="385993"/>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특허</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요건</a:t>
              </a:r>
            </a:p>
          </p:txBody>
        </p:sp>
        <p:sp>
          <p:nvSpPr>
            <p:cNvPr id="31" name="직사각형 30"/>
            <p:cNvSpPr/>
            <p:nvPr/>
          </p:nvSpPr>
          <p:spPr>
            <a:xfrm>
              <a:off x="4546567" y="160536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없는 발명</a:t>
              </a:r>
            </a:p>
          </p:txBody>
        </p:sp>
        <p:sp>
          <p:nvSpPr>
            <p:cNvPr id="32" name="직사각형 31"/>
            <p:cNvSpPr/>
            <p:nvPr/>
          </p:nvSpPr>
          <p:spPr>
            <a:xfrm>
              <a:off x="4546568" y="1990474"/>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있는 자</a:t>
              </a:r>
            </a:p>
          </p:txBody>
        </p:sp>
        <p:sp>
          <p:nvSpPr>
            <p:cNvPr id="33" name="직사각형 32"/>
            <p:cNvSpPr/>
            <p:nvPr/>
          </p:nvSpPr>
          <p:spPr>
            <a:xfrm>
              <a:off x="4546567" y="120511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있는 발명</a:t>
              </a:r>
            </a:p>
          </p:txBody>
        </p:sp>
        <p:sp>
          <p:nvSpPr>
            <p:cNvPr id="34" name="직사각형 33"/>
            <p:cNvSpPr/>
            <p:nvPr/>
          </p:nvSpPr>
          <p:spPr>
            <a:xfrm>
              <a:off x="4546568" y="2378317"/>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있는 출원</a:t>
              </a:r>
            </a:p>
          </p:txBody>
        </p:sp>
        <p:grpSp>
          <p:nvGrpSpPr>
            <p:cNvPr id="35" name="그룹 34"/>
            <p:cNvGrpSpPr/>
            <p:nvPr/>
          </p:nvGrpSpPr>
          <p:grpSpPr>
            <a:xfrm>
              <a:off x="5713090" y="1037128"/>
              <a:ext cx="2008488" cy="1752532"/>
              <a:chOff x="9836379" y="3177270"/>
              <a:chExt cx="2251744" cy="1752532"/>
            </a:xfrm>
            <a:solidFill>
              <a:schemeClr val="accent1">
                <a:lumMod val="20000"/>
                <a:lumOff val="80000"/>
              </a:schemeClr>
            </a:solidFill>
          </p:grpSpPr>
          <p:sp>
            <p:nvSpPr>
              <p:cNvPr id="49" name="직사각형 48"/>
              <p:cNvSpPr/>
              <p:nvPr/>
            </p:nvSpPr>
            <p:spPr>
              <a:xfrm>
                <a:off x="9836379" y="317727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협의의 특허요건</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29)</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0" name="직사각형 49"/>
              <p:cNvSpPr/>
              <p:nvPr/>
            </p:nvSpPr>
            <p:spPr>
              <a:xfrm>
                <a:off x="9836379" y="338513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선출원주의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36)</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1" name="직사각형 50"/>
              <p:cNvSpPr/>
              <p:nvPr/>
            </p:nvSpPr>
            <p:spPr>
              <a:xfrm>
                <a:off x="9836379" y="357434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불특허발명</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2" name="직사각형 51"/>
              <p:cNvSpPr/>
              <p:nvPr/>
            </p:nvSpPr>
            <p:spPr>
              <a:xfrm>
                <a:off x="9836379" y="378220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국방상 필요한 발명</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41, 106)</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3" name="직사각형 52"/>
              <p:cNvSpPr/>
              <p:nvPr/>
            </p:nvSpPr>
            <p:spPr>
              <a:xfrm>
                <a:off x="9836379" y="3969271"/>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25, 33, 44)</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4" name="직사각형 53"/>
              <p:cNvSpPr/>
              <p:nvPr/>
            </p:nvSpPr>
            <p:spPr>
              <a:xfrm>
                <a:off x="9836379" y="4160199"/>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있는 권리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37, 38)</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5" name="직사각형 54"/>
              <p:cNvSpPr/>
              <p:nvPr/>
            </p:nvSpPr>
            <p:spPr>
              <a:xfrm>
                <a:off x="9836379" y="435867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직무발명</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발진법</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 10~19, 58)</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6" name="직사각형 55"/>
              <p:cNvSpPr/>
              <p:nvPr/>
            </p:nvSpPr>
            <p:spPr>
              <a:xfrm>
                <a:off x="9836379" y="4558495"/>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42~42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3, 43)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7" name="직사각형 56"/>
              <p:cNvSpPr/>
              <p:nvPr/>
            </p:nvSpPr>
            <p:spPr>
              <a:xfrm>
                <a:off x="9836379" y="477390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하나의 특허출원의 범위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45)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cxnSp>
          <p:nvCxnSpPr>
            <p:cNvPr id="36" name="꺾인 연결선 35"/>
            <p:cNvCxnSpPr>
              <a:stCxn id="30" idx="3"/>
              <a:endCxn id="33" idx="1"/>
            </p:cNvCxnSpPr>
            <p:nvPr/>
          </p:nvCxnSpPr>
          <p:spPr>
            <a:xfrm flipV="1">
              <a:off x="4386104" y="1374002"/>
              <a:ext cx="160463" cy="70713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30" idx="3"/>
              <a:endCxn id="34" idx="1"/>
            </p:cNvCxnSpPr>
            <p:nvPr/>
          </p:nvCxnSpPr>
          <p:spPr>
            <a:xfrm>
              <a:off x="4386104" y="2081135"/>
              <a:ext cx="160464" cy="46607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30" idx="3"/>
              <a:endCxn id="31" idx="1"/>
            </p:cNvCxnSpPr>
            <p:nvPr/>
          </p:nvCxnSpPr>
          <p:spPr>
            <a:xfrm flipV="1">
              <a:off x="4386104" y="1774252"/>
              <a:ext cx="160463" cy="30688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30" idx="3"/>
              <a:endCxn id="32" idx="1"/>
            </p:cNvCxnSpPr>
            <p:nvPr/>
          </p:nvCxnSpPr>
          <p:spPr>
            <a:xfrm>
              <a:off x="4386104" y="2081135"/>
              <a:ext cx="160464" cy="7822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33" idx="3"/>
              <a:endCxn id="49" idx="1"/>
            </p:cNvCxnSpPr>
            <p:nvPr/>
          </p:nvCxnSpPr>
          <p:spPr>
            <a:xfrm flipV="1">
              <a:off x="5496870" y="1115076"/>
              <a:ext cx="216220" cy="2589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33" idx="3"/>
              <a:endCxn id="50" idx="1"/>
            </p:cNvCxnSpPr>
            <p:nvPr/>
          </p:nvCxnSpPr>
          <p:spPr>
            <a:xfrm flipV="1">
              <a:off x="5496870" y="1322938"/>
              <a:ext cx="216220" cy="5106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31" idx="3"/>
              <a:endCxn id="51" idx="1"/>
            </p:cNvCxnSpPr>
            <p:nvPr/>
          </p:nvCxnSpPr>
          <p:spPr>
            <a:xfrm flipV="1">
              <a:off x="5496870" y="1512146"/>
              <a:ext cx="216220" cy="26210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31" idx="3"/>
              <a:endCxn id="52" idx="1"/>
            </p:cNvCxnSpPr>
            <p:nvPr/>
          </p:nvCxnSpPr>
          <p:spPr>
            <a:xfrm flipV="1">
              <a:off x="5496870" y="1720008"/>
              <a:ext cx="216220" cy="5424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32" idx="3"/>
              <a:endCxn id="53" idx="1"/>
            </p:cNvCxnSpPr>
            <p:nvPr/>
          </p:nvCxnSpPr>
          <p:spPr>
            <a:xfrm flipV="1">
              <a:off x="5496870" y="1907077"/>
              <a:ext cx="216220" cy="25228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32" idx="3"/>
              <a:endCxn id="54" idx="1"/>
            </p:cNvCxnSpPr>
            <p:nvPr/>
          </p:nvCxnSpPr>
          <p:spPr>
            <a:xfrm flipV="1">
              <a:off x="5496870" y="2098005"/>
              <a:ext cx="216220" cy="613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32" idx="3"/>
              <a:endCxn id="55" idx="1"/>
            </p:cNvCxnSpPr>
            <p:nvPr/>
          </p:nvCxnSpPr>
          <p:spPr>
            <a:xfrm>
              <a:off x="5496870" y="2159362"/>
              <a:ext cx="216220" cy="13712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34" idx="3"/>
              <a:endCxn id="56" idx="1"/>
            </p:cNvCxnSpPr>
            <p:nvPr/>
          </p:nvCxnSpPr>
          <p:spPr>
            <a:xfrm flipV="1">
              <a:off x="5496870" y="2496301"/>
              <a:ext cx="216220" cy="5090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34" idx="3"/>
              <a:endCxn id="57" idx="1"/>
            </p:cNvCxnSpPr>
            <p:nvPr/>
          </p:nvCxnSpPr>
          <p:spPr>
            <a:xfrm>
              <a:off x="5496870" y="2547205"/>
              <a:ext cx="216220" cy="16450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9" name="직사각형 58"/>
          <p:cNvSpPr/>
          <p:nvPr/>
        </p:nvSpPr>
        <p:spPr>
          <a:xfrm>
            <a:off x="906097" y="4898289"/>
            <a:ext cx="472526" cy="503727"/>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이익</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제도</a:t>
            </a:r>
          </a:p>
        </p:txBody>
      </p:sp>
      <p:sp>
        <p:nvSpPr>
          <p:cNvPr id="72" name="직사각형 71"/>
          <p:cNvSpPr/>
          <p:nvPr/>
        </p:nvSpPr>
        <p:spPr>
          <a:xfrm>
            <a:off x="2487992" y="422619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공지예외적용주장출원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30)</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3" name="직사각형 72"/>
          <p:cNvSpPr/>
          <p:nvPr/>
        </p:nvSpPr>
        <p:spPr>
          <a:xfrm>
            <a:off x="2487992" y="4599179"/>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정당한 권리자의 보호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34, 35, 99</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4" name="직사각형 73"/>
          <p:cNvSpPr/>
          <p:nvPr/>
        </p:nvSpPr>
        <p:spPr>
          <a:xfrm>
            <a:off x="2487992" y="48704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보정</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46, 47, 51)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5" name="직사각형 74"/>
          <p:cNvSpPr/>
          <p:nvPr/>
        </p:nvSpPr>
        <p:spPr>
          <a:xfrm>
            <a:off x="2487992" y="5446506"/>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분리출원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6" name="직사각형 75"/>
          <p:cNvSpPr/>
          <p:nvPr/>
        </p:nvSpPr>
        <p:spPr>
          <a:xfrm>
            <a:off x="2487992" y="571777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변경출원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7" name="직사각형 76"/>
          <p:cNvSpPr/>
          <p:nvPr/>
        </p:nvSpPr>
        <p:spPr>
          <a:xfrm>
            <a:off x="2487992" y="60229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조약우선권주장출원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54)</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8" name="직사각형 77"/>
          <p:cNvSpPr/>
          <p:nvPr/>
        </p:nvSpPr>
        <p:spPr>
          <a:xfrm>
            <a:off x="2487992" y="6294208"/>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국내우선권주장출원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55, 56)</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1" name="직사각형 60"/>
          <p:cNvSpPr/>
          <p:nvPr/>
        </p:nvSpPr>
        <p:spPr>
          <a:xfrm>
            <a:off x="1519197" y="5145136"/>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출원일</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소급제도</a:t>
            </a:r>
          </a:p>
        </p:txBody>
      </p:sp>
      <p:sp>
        <p:nvSpPr>
          <p:cNvPr id="62" name="직사각형 61"/>
          <p:cNvSpPr/>
          <p:nvPr/>
        </p:nvSpPr>
        <p:spPr>
          <a:xfrm>
            <a:off x="1519197" y="6056851"/>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판단시점</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prstClr val="black"/>
                </a:solidFill>
                <a:effectLst/>
                <a:uLnTx/>
                <a:uFillTx/>
                <a:latin typeface="Frutiger LT 65 Bold"/>
                <a:ea typeface="Rix모던고딕 B"/>
                <a:cs typeface="+mn-cs"/>
              </a:rPr>
              <a:t>소급제도</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63" name="꺾인 연결선 62"/>
          <p:cNvCxnSpPr>
            <a:stCxn id="59" idx="3"/>
            <a:endCxn id="72" idx="1"/>
          </p:cNvCxnSpPr>
          <p:nvPr/>
        </p:nvCxnSpPr>
        <p:spPr>
          <a:xfrm flipV="1">
            <a:off x="1378623" y="4327915"/>
            <a:ext cx="1109369" cy="822238"/>
          </a:xfrm>
          <a:prstGeom prst="bentConnector3">
            <a:avLst>
              <a:gd name="adj1" fmla="val 6212"/>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꺾인 연결선 63"/>
          <p:cNvCxnSpPr>
            <a:stCxn id="59" idx="3"/>
            <a:endCxn id="62" idx="1"/>
          </p:cNvCxnSpPr>
          <p:nvPr/>
        </p:nvCxnSpPr>
        <p:spPr>
          <a:xfrm>
            <a:off x="1378623" y="5150153"/>
            <a:ext cx="140574" cy="1127101"/>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꺾인 연결선 64"/>
          <p:cNvCxnSpPr>
            <a:stCxn id="59" idx="3"/>
            <a:endCxn id="61" idx="1"/>
          </p:cNvCxnSpPr>
          <p:nvPr/>
        </p:nvCxnSpPr>
        <p:spPr>
          <a:xfrm>
            <a:off x="1378623" y="5150153"/>
            <a:ext cx="140574" cy="215386"/>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61" idx="3"/>
            <a:endCxn id="73" idx="1"/>
          </p:cNvCxnSpPr>
          <p:nvPr/>
        </p:nvCxnSpPr>
        <p:spPr>
          <a:xfrm flipV="1">
            <a:off x="2241819" y="4700903"/>
            <a:ext cx="246173" cy="66463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꺾인 연결선 66"/>
          <p:cNvCxnSpPr>
            <a:stCxn id="61" idx="3"/>
            <a:endCxn id="76" idx="1"/>
          </p:cNvCxnSpPr>
          <p:nvPr/>
        </p:nvCxnSpPr>
        <p:spPr>
          <a:xfrm>
            <a:off x="2241819" y="5365539"/>
            <a:ext cx="246173" cy="4539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꺾인 연결선 67"/>
          <p:cNvCxnSpPr>
            <a:stCxn id="61" idx="3"/>
            <a:endCxn id="74" idx="1"/>
          </p:cNvCxnSpPr>
          <p:nvPr/>
        </p:nvCxnSpPr>
        <p:spPr>
          <a:xfrm flipV="1">
            <a:off x="2241819" y="4972167"/>
            <a:ext cx="246173" cy="393371"/>
          </a:xfrm>
          <a:prstGeom prst="bentConnector3">
            <a:avLst>
              <a:gd name="adj1" fmla="val 50001"/>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꺾인 연결선 68"/>
          <p:cNvCxnSpPr>
            <a:stCxn id="61" idx="3"/>
            <a:endCxn id="75" idx="1"/>
          </p:cNvCxnSpPr>
          <p:nvPr/>
        </p:nvCxnSpPr>
        <p:spPr>
          <a:xfrm>
            <a:off x="2241819" y="5365539"/>
            <a:ext cx="246173" cy="1826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69"/>
          <p:cNvCxnSpPr>
            <a:cxnSpLocks/>
            <a:stCxn id="62" idx="3"/>
            <a:endCxn id="77" idx="1"/>
          </p:cNvCxnSpPr>
          <p:nvPr/>
        </p:nvCxnSpPr>
        <p:spPr>
          <a:xfrm flipV="1">
            <a:off x="2241819" y="6124667"/>
            <a:ext cx="246173" cy="15258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cxnSpLocks/>
            <a:stCxn id="62" idx="3"/>
            <a:endCxn id="78" idx="1"/>
          </p:cNvCxnSpPr>
          <p:nvPr/>
        </p:nvCxnSpPr>
        <p:spPr>
          <a:xfrm>
            <a:off x="2241819" y="6277254"/>
            <a:ext cx="246173" cy="11867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9" name="그룹 78"/>
          <p:cNvGrpSpPr/>
          <p:nvPr/>
        </p:nvGrpSpPr>
        <p:grpSpPr>
          <a:xfrm>
            <a:off x="7001934" y="4076201"/>
            <a:ext cx="3979312" cy="2368895"/>
            <a:chOff x="7340600" y="4076201"/>
            <a:chExt cx="3640645" cy="2368895"/>
          </a:xfrm>
        </p:grpSpPr>
        <p:sp>
          <p:nvSpPr>
            <p:cNvPr id="80" name="직사각형 79"/>
            <p:cNvSpPr/>
            <p:nvPr/>
          </p:nvSpPr>
          <p:spPr>
            <a:xfrm>
              <a:off x="7340600" y="5011587"/>
              <a:ext cx="448769" cy="399529"/>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심사</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제도</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grpSp>
          <p:nvGrpSpPr>
            <p:cNvPr id="81" name="그룹 80"/>
            <p:cNvGrpSpPr/>
            <p:nvPr/>
          </p:nvGrpSpPr>
          <p:grpSpPr>
            <a:xfrm>
              <a:off x="7967112" y="4305504"/>
              <a:ext cx="471444" cy="1770110"/>
              <a:chOff x="2707314" y="4441447"/>
              <a:chExt cx="786730" cy="1770110"/>
            </a:xfrm>
          </p:grpSpPr>
          <p:sp>
            <p:nvSpPr>
              <p:cNvPr id="108" name="직사각형 107"/>
              <p:cNvSpPr/>
              <p:nvPr/>
            </p:nvSpPr>
            <p:spPr>
              <a:xfrm>
                <a:off x="2707314" y="4441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주체</a:t>
                </a:r>
              </a:p>
            </p:txBody>
          </p:sp>
          <p:sp>
            <p:nvSpPr>
              <p:cNvPr id="109" name="직사각형 108"/>
              <p:cNvSpPr/>
              <p:nvPr/>
            </p:nvSpPr>
            <p:spPr>
              <a:xfrm>
                <a:off x="2707314" y="4839210"/>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청구</a:t>
                </a:r>
              </a:p>
            </p:txBody>
          </p:sp>
          <p:sp>
            <p:nvSpPr>
              <p:cNvPr id="110" name="직사각형 109"/>
              <p:cNvSpPr/>
              <p:nvPr/>
            </p:nvSpPr>
            <p:spPr>
              <a:xfrm>
                <a:off x="2707314" y="5258685"/>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진행</a:t>
                </a:r>
              </a:p>
            </p:txBody>
          </p:sp>
          <p:sp>
            <p:nvSpPr>
              <p:cNvPr id="111" name="직사각형 110"/>
              <p:cNvSpPr/>
              <p:nvPr/>
            </p:nvSpPr>
            <p:spPr>
              <a:xfrm>
                <a:off x="2707314" y="5656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종료</a:t>
                </a:r>
              </a:p>
            </p:txBody>
          </p:sp>
          <p:sp>
            <p:nvSpPr>
              <p:cNvPr id="112" name="직사각형 111"/>
              <p:cNvSpPr/>
              <p:nvPr/>
            </p:nvSpPr>
            <p:spPr>
              <a:xfrm>
                <a:off x="2707314" y="6036746"/>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관련</a:t>
                </a:r>
              </a:p>
            </p:txBody>
          </p:sp>
        </p:grpSp>
        <p:cxnSp>
          <p:nvCxnSpPr>
            <p:cNvPr id="82" name="꺾인 연결선 81"/>
            <p:cNvCxnSpPr>
              <a:stCxn id="80" idx="3"/>
              <a:endCxn id="108" idx="1"/>
            </p:cNvCxnSpPr>
            <p:nvPr/>
          </p:nvCxnSpPr>
          <p:spPr>
            <a:xfrm flipV="1">
              <a:off x="7789369" y="4392910"/>
              <a:ext cx="177743" cy="81844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꺾인 연결선 82"/>
            <p:cNvCxnSpPr>
              <a:stCxn id="80" idx="3"/>
              <a:endCxn id="112" idx="1"/>
            </p:cNvCxnSpPr>
            <p:nvPr/>
          </p:nvCxnSpPr>
          <p:spPr>
            <a:xfrm>
              <a:off x="7789369" y="5211352"/>
              <a:ext cx="177743" cy="77685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꺾인 연결선 83"/>
            <p:cNvCxnSpPr>
              <a:stCxn id="80" idx="3"/>
              <a:endCxn id="109" idx="1"/>
            </p:cNvCxnSpPr>
            <p:nvPr/>
          </p:nvCxnSpPr>
          <p:spPr>
            <a:xfrm flipV="1">
              <a:off x="7789369" y="4790673"/>
              <a:ext cx="177743" cy="42067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꺾인 연결선 84"/>
            <p:cNvCxnSpPr>
              <a:stCxn id="80" idx="3"/>
              <a:endCxn id="111" idx="1"/>
            </p:cNvCxnSpPr>
            <p:nvPr/>
          </p:nvCxnSpPr>
          <p:spPr>
            <a:xfrm>
              <a:off x="7789369" y="5211352"/>
              <a:ext cx="177743" cy="3965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80" idx="3"/>
              <a:endCxn id="110" idx="1"/>
            </p:cNvCxnSpPr>
            <p:nvPr/>
          </p:nvCxnSpPr>
          <p:spPr>
            <a:xfrm flipV="1">
              <a:off x="7789369" y="5210148"/>
              <a:ext cx="177743" cy="120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 name="그룹 86"/>
            <p:cNvGrpSpPr/>
            <p:nvPr/>
          </p:nvGrpSpPr>
          <p:grpSpPr>
            <a:xfrm>
              <a:off x="8563424" y="4076201"/>
              <a:ext cx="2417821" cy="2368895"/>
              <a:chOff x="3618912" y="4212144"/>
              <a:chExt cx="3438525" cy="2368895"/>
            </a:xfrm>
          </p:grpSpPr>
          <p:sp>
            <p:nvSpPr>
              <p:cNvPr id="98" name="직사각형 97"/>
              <p:cNvSpPr/>
              <p:nvPr/>
            </p:nvSpPr>
            <p:spPr>
              <a:xfrm>
                <a:off x="3618912" y="4212144"/>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심사관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57</a:t>
                </a:r>
                <a:r>
                  <a:rPr kumimoji="0" lang="en-US" altLang="ko-KR" sz="1000" b="0" i="0" u="none" strike="noStrike" kern="1200" cap="none" spc="0" normalizeH="0" baseline="0" noProof="0">
                    <a:ln>
                      <a:noFill/>
                    </a:ln>
                    <a:solidFill>
                      <a:prstClr val="black"/>
                    </a:solidFill>
                    <a:effectLst/>
                    <a:uLnTx/>
                    <a:uFillTx/>
                    <a:latin typeface="Frutiger LT 65 Bold"/>
                    <a:ea typeface="Rix모던고딕 B"/>
                    <a:cs typeface="+mn-cs"/>
                  </a:rPr>
                  <a:t>, 68)</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9" name="직사각형 98"/>
              <p:cNvSpPr/>
              <p:nvPr/>
            </p:nvSpPr>
            <p:spPr>
              <a:xfrm>
                <a:off x="3618912" y="4435206"/>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전문기관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58, 58</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0" name="직사각형 99"/>
              <p:cNvSpPr/>
              <p:nvPr/>
            </p:nvSpPr>
            <p:spPr>
              <a:xfrm>
                <a:off x="3618912" y="547999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출원의 무효</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취하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포기</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1" name="직사각형 100"/>
              <p:cNvSpPr/>
              <p:nvPr/>
            </p:nvSpPr>
            <p:spPr>
              <a:xfrm>
                <a:off x="3618912" y="5703059"/>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특허여부결정</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62, 63, 66~67</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2" name="직사각형 101"/>
              <p:cNvSpPr/>
              <p:nvPr/>
            </p:nvSpPr>
            <p:spPr>
              <a:xfrm>
                <a:off x="3618912" y="466874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심사청구제도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59, 60)</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3" name="직사각형 102"/>
              <p:cNvSpPr/>
              <p:nvPr/>
            </p:nvSpPr>
            <p:spPr>
              <a:xfrm>
                <a:off x="3618912" y="489180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우선심사제도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61)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4" name="직사각형 103"/>
              <p:cNvSpPr/>
              <p:nvPr/>
            </p:nvSpPr>
            <p:spPr>
              <a:xfrm>
                <a:off x="3618912" y="517897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심사의 진행</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62, 63, 63</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5" name="직사각형 104"/>
              <p:cNvSpPr/>
              <p:nvPr/>
            </p:nvSpPr>
            <p:spPr>
              <a:xfrm>
                <a:off x="3618912" y="5955831"/>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정보제공제도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63</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6" name="직사각형 105"/>
              <p:cNvSpPr/>
              <p:nvPr/>
            </p:nvSpPr>
            <p:spPr>
              <a:xfrm>
                <a:off x="3618912" y="617889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출원공개제도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64, 65)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7" name="직사각형 106"/>
              <p:cNvSpPr/>
              <p:nvPr/>
            </p:nvSpPr>
            <p:spPr>
              <a:xfrm>
                <a:off x="3618912" y="640622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타절차와의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관계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78)</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cxnSp>
          <p:nvCxnSpPr>
            <p:cNvPr id="88" name="꺾인 연결선 87"/>
            <p:cNvCxnSpPr>
              <a:stCxn id="108" idx="3"/>
              <a:endCxn id="98" idx="1"/>
            </p:cNvCxnSpPr>
            <p:nvPr/>
          </p:nvCxnSpPr>
          <p:spPr>
            <a:xfrm flipV="1">
              <a:off x="8438556" y="4163607"/>
              <a:ext cx="124868" cy="22930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꺾인 연결선 88"/>
            <p:cNvCxnSpPr>
              <a:stCxn id="108" idx="3"/>
              <a:endCxn id="99" idx="1"/>
            </p:cNvCxnSpPr>
            <p:nvPr/>
          </p:nvCxnSpPr>
          <p:spPr>
            <a:xfrm flipV="1">
              <a:off x="8438556" y="4386669"/>
              <a:ext cx="124868" cy="62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꺾인 연결선 89"/>
            <p:cNvCxnSpPr>
              <a:stCxn id="109" idx="3"/>
              <a:endCxn id="102" idx="1"/>
            </p:cNvCxnSpPr>
            <p:nvPr/>
          </p:nvCxnSpPr>
          <p:spPr>
            <a:xfrm flipV="1">
              <a:off x="8438556" y="4620206"/>
              <a:ext cx="124868" cy="1704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꺾인 연결선 90"/>
            <p:cNvCxnSpPr>
              <a:stCxn id="109" idx="3"/>
              <a:endCxn id="103" idx="1"/>
            </p:cNvCxnSpPr>
            <p:nvPr/>
          </p:nvCxnSpPr>
          <p:spPr>
            <a:xfrm>
              <a:off x="8438556" y="4790673"/>
              <a:ext cx="124868" cy="525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꺾인 연결선 91"/>
            <p:cNvCxnSpPr>
              <a:stCxn id="110" idx="3"/>
              <a:endCxn id="104" idx="1"/>
            </p:cNvCxnSpPr>
            <p:nvPr/>
          </p:nvCxnSpPr>
          <p:spPr>
            <a:xfrm flipV="1">
              <a:off x="8438556" y="5130438"/>
              <a:ext cx="124868" cy="797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꺾인 연결선 92"/>
            <p:cNvCxnSpPr>
              <a:stCxn id="111" idx="3"/>
              <a:endCxn id="100" idx="1"/>
            </p:cNvCxnSpPr>
            <p:nvPr/>
          </p:nvCxnSpPr>
          <p:spPr>
            <a:xfrm flipV="1">
              <a:off x="8438556" y="5431461"/>
              <a:ext cx="124868" cy="17644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꺾인 연결선 93"/>
            <p:cNvCxnSpPr>
              <a:stCxn id="111" idx="3"/>
              <a:endCxn id="101" idx="1"/>
            </p:cNvCxnSpPr>
            <p:nvPr/>
          </p:nvCxnSpPr>
          <p:spPr>
            <a:xfrm>
              <a:off x="8438556" y="5607910"/>
              <a:ext cx="124868" cy="466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꺾인 연결선 94"/>
            <p:cNvCxnSpPr>
              <a:stCxn id="112" idx="3"/>
              <a:endCxn id="105" idx="1"/>
            </p:cNvCxnSpPr>
            <p:nvPr/>
          </p:nvCxnSpPr>
          <p:spPr>
            <a:xfrm flipV="1">
              <a:off x="8438556" y="5907294"/>
              <a:ext cx="124868" cy="809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꺾인 연결선 95"/>
            <p:cNvCxnSpPr>
              <a:stCxn id="112" idx="3"/>
              <a:endCxn id="106" idx="1"/>
            </p:cNvCxnSpPr>
            <p:nvPr/>
          </p:nvCxnSpPr>
          <p:spPr>
            <a:xfrm>
              <a:off x="8438556" y="5988209"/>
              <a:ext cx="124868" cy="14214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꺾인 연결선 96"/>
            <p:cNvCxnSpPr>
              <a:stCxn id="112" idx="3"/>
              <a:endCxn id="107" idx="1"/>
            </p:cNvCxnSpPr>
            <p:nvPr/>
          </p:nvCxnSpPr>
          <p:spPr>
            <a:xfrm>
              <a:off x="8438556" y="5988209"/>
              <a:ext cx="124868" cy="36948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13" name="직사각형 112"/>
          <p:cNvSpPr/>
          <p:nvPr/>
        </p:nvSpPr>
        <p:spPr>
          <a:xfrm>
            <a:off x="5960556" y="3393490"/>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특허법</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체계도</a:t>
            </a:r>
          </a:p>
        </p:txBody>
      </p:sp>
      <p:sp>
        <p:nvSpPr>
          <p:cNvPr id="114" name="타원 113"/>
          <p:cNvSpPr/>
          <p:nvPr/>
        </p:nvSpPr>
        <p:spPr>
          <a:xfrm>
            <a:off x="880857" y="2219587"/>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1</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15" name="타원 114"/>
          <p:cNvSpPr/>
          <p:nvPr/>
        </p:nvSpPr>
        <p:spPr>
          <a:xfrm>
            <a:off x="6163733" y="2366819"/>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16" name="타원 115"/>
          <p:cNvSpPr/>
          <p:nvPr/>
        </p:nvSpPr>
        <p:spPr>
          <a:xfrm>
            <a:off x="542670" y="5005703"/>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3</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17" name="타원 116"/>
          <p:cNvSpPr/>
          <p:nvPr/>
        </p:nvSpPr>
        <p:spPr>
          <a:xfrm>
            <a:off x="6647019" y="5043860"/>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4</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18" name="자유형 117"/>
          <p:cNvSpPr/>
          <p:nvPr/>
        </p:nvSpPr>
        <p:spPr>
          <a:xfrm>
            <a:off x="1049867" y="2582332"/>
            <a:ext cx="4893733" cy="1423457"/>
          </a:xfrm>
          <a:custGeom>
            <a:avLst/>
            <a:gdLst>
              <a:gd name="connsiteX0" fmla="*/ 4893733 w 4893733"/>
              <a:gd name="connsiteY0" fmla="*/ 1295400 h 1295400"/>
              <a:gd name="connsiteX1" fmla="*/ 4893733 w 4893733"/>
              <a:gd name="connsiteY1" fmla="*/ 1295400 h 1295400"/>
              <a:gd name="connsiteX2" fmla="*/ 0 w 4893733"/>
              <a:gd name="connsiteY2" fmla="*/ 1295400 h 1295400"/>
              <a:gd name="connsiteX3" fmla="*/ 0 w 4893733"/>
              <a:gd name="connsiteY3" fmla="*/ 0 h 1295400"/>
            </a:gdLst>
            <a:ahLst/>
            <a:cxnLst>
              <a:cxn ang="0">
                <a:pos x="connsiteX0" y="connsiteY0"/>
              </a:cxn>
              <a:cxn ang="0">
                <a:pos x="connsiteX1" y="connsiteY1"/>
              </a:cxn>
              <a:cxn ang="0">
                <a:pos x="connsiteX2" y="connsiteY2"/>
              </a:cxn>
              <a:cxn ang="0">
                <a:pos x="connsiteX3" y="connsiteY3"/>
              </a:cxn>
            </a:cxnLst>
            <a:rect l="l" t="t" r="r" b="b"/>
            <a:pathLst>
              <a:path w="4893733" h="1295400">
                <a:moveTo>
                  <a:pt x="4893733" y="1295400"/>
                </a:moveTo>
                <a:lnTo>
                  <a:pt x="4893733" y="1295400"/>
                </a:lnTo>
                <a:lnTo>
                  <a:pt x="0" y="1295400"/>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119" name="자유형 118"/>
          <p:cNvSpPr/>
          <p:nvPr/>
        </p:nvSpPr>
        <p:spPr>
          <a:xfrm>
            <a:off x="718458" y="3993619"/>
            <a:ext cx="5233610" cy="997811"/>
          </a:xfrm>
          <a:custGeom>
            <a:avLst/>
            <a:gdLst>
              <a:gd name="connsiteX0" fmla="*/ 5215467 w 5215467"/>
              <a:gd name="connsiteY0" fmla="*/ 0 h 965200"/>
              <a:gd name="connsiteX1" fmla="*/ 0 w 5215467"/>
              <a:gd name="connsiteY1" fmla="*/ 0 h 965200"/>
              <a:gd name="connsiteX2" fmla="*/ 0 w 5215467"/>
              <a:gd name="connsiteY2" fmla="*/ 965200 h 965200"/>
            </a:gdLst>
            <a:ahLst/>
            <a:cxnLst>
              <a:cxn ang="0">
                <a:pos x="connsiteX0" y="connsiteY0"/>
              </a:cxn>
              <a:cxn ang="0">
                <a:pos x="connsiteX1" y="connsiteY1"/>
              </a:cxn>
              <a:cxn ang="0">
                <a:pos x="connsiteX2" y="connsiteY2"/>
              </a:cxn>
            </a:cxnLst>
            <a:rect l="l" t="t" r="r" b="b"/>
            <a:pathLst>
              <a:path w="5215467" h="965200">
                <a:moveTo>
                  <a:pt x="5215467" y="0"/>
                </a:moveTo>
                <a:lnTo>
                  <a:pt x="0" y="0"/>
                </a:lnTo>
                <a:lnTo>
                  <a:pt x="0" y="9652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120" name="자유형 119"/>
          <p:cNvSpPr/>
          <p:nvPr/>
        </p:nvSpPr>
        <p:spPr>
          <a:xfrm>
            <a:off x="6383867" y="2726267"/>
            <a:ext cx="0" cy="668866"/>
          </a:xfrm>
          <a:custGeom>
            <a:avLst/>
            <a:gdLst>
              <a:gd name="connsiteX0" fmla="*/ 0 w 0"/>
              <a:gd name="connsiteY0" fmla="*/ 668866 h 668866"/>
              <a:gd name="connsiteX1" fmla="*/ 0 w 0"/>
              <a:gd name="connsiteY1" fmla="*/ 0 h 668866"/>
            </a:gdLst>
            <a:ahLst/>
            <a:cxnLst>
              <a:cxn ang="0">
                <a:pos x="connsiteX0" y="connsiteY0"/>
              </a:cxn>
              <a:cxn ang="0">
                <a:pos x="connsiteX1" y="connsiteY1"/>
              </a:cxn>
            </a:cxnLst>
            <a:rect l="l" t="t" r="r" b="b"/>
            <a:pathLst>
              <a:path h="668866">
                <a:moveTo>
                  <a:pt x="0" y="668866"/>
                </a:move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cxnSp>
        <p:nvCxnSpPr>
          <p:cNvPr id="121" name="직선 연결선 120"/>
          <p:cNvCxnSpPr>
            <a:stCxn id="113" idx="2"/>
            <a:endCxn id="113" idx="2"/>
          </p:cNvCxnSpPr>
          <p:nvPr/>
        </p:nvCxnSpPr>
        <p:spPr>
          <a:xfrm>
            <a:off x="6417756" y="4307890"/>
            <a:ext cx="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2" name="자유형 121"/>
          <p:cNvSpPr/>
          <p:nvPr/>
        </p:nvSpPr>
        <p:spPr>
          <a:xfrm>
            <a:off x="6400800" y="4318000"/>
            <a:ext cx="262467" cy="897467"/>
          </a:xfrm>
          <a:custGeom>
            <a:avLst/>
            <a:gdLst>
              <a:gd name="connsiteX0" fmla="*/ 0 w 262467"/>
              <a:gd name="connsiteY0" fmla="*/ 0 h 897467"/>
              <a:gd name="connsiteX1" fmla="*/ 0 w 262467"/>
              <a:gd name="connsiteY1" fmla="*/ 0 h 897467"/>
              <a:gd name="connsiteX2" fmla="*/ 0 w 262467"/>
              <a:gd name="connsiteY2" fmla="*/ 897467 h 897467"/>
              <a:gd name="connsiteX3" fmla="*/ 262467 w 262467"/>
              <a:gd name="connsiteY3" fmla="*/ 897467 h 897467"/>
            </a:gdLst>
            <a:ahLst/>
            <a:cxnLst>
              <a:cxn ang="0">
                <a:pos x="connsiteX0" y="connsiteY0"/>
              </a:cxn>
              <a:cxn ang="0">
                <a:pos x="connsiteX1" y="connsiteY1"/>
              </a:cxn>
              <a:cxn ang="0">
                <a:pos x="connsiteX2" y="connsiteY2"/>
              </a:cxn>
              <a:cxn ang="0">
                <a:pos x="connsiteX3" y="connsiteY3"/>
              </a:cxn>
            </a:cxnLst>
            <a:rect l="l" t="t" r="r" b="b"/>
            <a:pathLst>
              <a:path w="262467" h="897467">
                <a:moveTo>
                  <a:pt x="0" y="0"/>
                </a:moveTo>
                <a:lnTo>
                  <a:pt x="0" y="0"/>
                </a:lnTo>
                <a:lnTo>
                  <a:pt x="0" y="897467"/>
                </a:lnTo>
                <a:lnTo>
                  <a:pt x="262467" y="897467"/>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125" name="직사각형 124">
            <a:extLst>
              <a:ext uri="{FF2B5EF4-FFF2-40B4-BE49-F238E27FC236}">
                <a16:creationId xmlns:a16="http://schemas.microsoft.com/office/drawing/2014/main" id="{9012F393-65ED-4311-A56D-1073EA0A0D99}"/>
              </a:ext>
            </a:extLst>
          </p:cNvPr>
          <p:cNvSpPr/>
          <p:nvPr/>
        </p:nvSpPr>
        <p:spPr>
          <a:xfrm>
            <a:off x="2487992" y="5160972"/>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분할출원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27" name="꺾인 연결선 67">
            <a:extLst>
              <a:ext uri="{FF2B5EF4-FFF2-40B4-BE49-F238E27FC236}">
                <a16:creationId xmlns:a16="http://schemas.microsoft.com/office/drawing/2014/main" id="{E6B18D36-32CC-497B-A148-E8CED33A916F}"/>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꺾인 연결선 68">
            <a:extLst>
              <a:ext uri="{FF2B5EF4-FFF2-40B4-BE49-F238E27FC236}">
                <a16:creationId xmlns:a16="http://schemas.microsoft.com/office/drawing/2014/main" id="{15731FFB-002A-4D1A-B931-E4E3AE5EC565}"/>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6" name="직사각형 135">
            <a:extLst>
              <a:ext uri="{FF2B5EF4-FFF2-40B4-BE49-F238E27FC236}">
                <a16:creationId xmlns:a16="http://schemas.microsoft.com/office/drawing/2014/main" id="{88952097-4047-B4C7-1974-88AE224120C6}"/>
              </a:ext>
            </a:extLst>
          </p:cNvPr>
          <p:cNvSpPr/>
          <p:nvPr/>
        </p:nvSpPr>
        <p:spPr>
          <a:xfrm>
            <a:off x="2118397" y="36224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보칙</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215-224</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Tree>
    <p:extLst>
      <p:ext uri="{BB962C8B-B14F-4D97-AF65-F5344CB8AC3E}">
        <p14:creationId xmlns:p14="http://schemas.microsoft.com/office/powerpoint/2010/main" val="156485483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52</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124" name="직사각형 123"/>
          <p:cNvSpPr/>
          <p:nvPr/>
        </p:nvSpPr>
        <p:spPr>
          <a:xfrm>
            <a:off x="680604" y="2547021"/>
            <a:ext cx="545064" cy="552230"/>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white"/>
                </a:solidFill>
                <a:effectLst/>
                <a:uLnTx/>
                <a:uFillTx/>
                <a:latin typeface="Frutiger LT 65 Bold"/>
                <a:ea typeface="Rix모던고딕 B"/>
                <a:cs typeface="+mn-cs"/>
              </a:rPr>
              <a:t>특허권</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25" name="직사각형 124"/>
          <p:cNvSpPr/>
          <p:nvPr/>
        </p:nvSpPr>
        <p:spPr>
          <a:xfrm>
            <a:off x="1383335" y="123999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발생</a:t>
            </a:r>
          </a:p>
        </p:txBody>
      </p:sp>
      <p:sp>
        <p:nvSpPr>
          <p:cNvPr id="126" name="직사각형 125"/>
          <p:cNvSpPr/>
          <p:nvPr/>
        </p:nvSpPr>
        <p:spPr>
          <a:xfrm>
            <a:off x="1383335" y="1789781"/>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효력</a:t>
            </a:r>
          </a:p>
        </p:txBody>
      </p:sp>
      <p:sp>
        <p:nvSpPr>
          <p:cNvPr id="127" name="직사각형 126"/>
          <p:cNvSpPr/>
          <p:nvPr/>
        </p:nvSpPr>
        <p:spPr>
          <a:xfrm>
            <a:off x="1383335" y="2944739"/>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변동</a:t>
            </a:r>
          </a:p>
        </p:txBody>
      </p:sp>
      <p:sp>
        <p:nvSpPr>
          <p:cNvPr id="128" name="직사각형 127"/>
          <p:cNvSpPr/>
          <p:nvPr/>
        </p:nvSpPr>
        <p:spPr>
          <a:xfrm>
            <a:off x="1383335" y="366808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소멸</a:t>
            </a:r>
          </a:p>
        </p:txBody>
      </p:sp>
      <p:sp>
        <p:nvSpPr>
          <p:cNvPr id="129" name="직사각형 128"/>
          <p:cNvSpPr/>
          <p:nvPr/>
        </p:nvSpPr>
        <p:spPr>
          <a:xfrm>
            <a:off x="1383335" y="4175764"/>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관련</a:t>
            </a:r>
          </a:p>
        </p:txBody>
      </p:sp>
      <p:cxnSp>
        <p:nvCxnSpPr>
          <p:cNvPr id="130" name="꺾인 연결선 129"/>
          <p:cNvCxnSpPr>
            <a:stCxn id="124" idx="3"/>
            <a:endCxn id="125" idx="1"/>
          </p:cNvCxnSpPr>
          <p:nvPr/>
        </p:nvCxnSpPr>
        <p:spPr>
          <a:xfrm flipV="1">
            <a:off x="1225668" y="1360804"/>
            <a:ext cx="157667" cy="146233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꺾인 연결선 130"/>
          <p:cNvCxnSpPr>
            <a:stCxn id="124" idx="3"/>
            <a:endCxn id="129" idx="1"/>
          </p:cNvCxnSpPr>
          <p:nvPr/>
        </p:nvCxnSpPr>
        <p:spPr>
          <a:xfrm>
            <a:off x="1225668" y="2823136"/>
            <a:ext cx="157667" cy="147344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124" idx="3"/>
            <a:endCxn id="126" idx="1"/>
          </p:cNvCxnSpPr>
          <p:nvPr/>
        </p:nvCxnSpPr>
        <p:spPr>
          <a:xfrm flipV="1">
            <a:off x="1225668" y="1910593"/>
            <a:ext cx="157667" cy="9125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꺾인 연결선 132"/>
          <p:cNvCxnSpPr>
            <a:stCxn id="124" idx="3"/>
            <a:endCxn id="128" idx="1"/>
          </p:cNvCxnSpPr>
          <p:nvPr/>
        </p:nvCxnSpPr>
        <p:spPr>
          <a:xfrm>
            <a:off x="1225668" y="2823136"/>
            <a:ext cx="157667" cy="96575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stCxn id="124" idx="3"/>
            <a:endCxn id="127" idx="1"/>
          </p:cNvCxnSpPr>
          <p:nvPr/>
        </p:nvCxnSpPr>
        <p:spPr>
          <a:xfrm>
            <a:off x="1225668" y="2823136"/>
            <a:ext cx="157667" cy="2424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5" name="직사각형 134"/>
          <p:cNvSpPr/>
          <p:nvPr/>
        </p:nvSpPr>
        <p:spPr>
          <a:xfrm>
            <a:off x="1927293" y="1027643"/>
            <a:ext cx="1744315" cy="12863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특허료의 납부 등</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79~86)</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36" name="직사각형 135"/>
          <p:cNvSpPr/>
          <p:nvPr/>
        </p:nvSpPr>
        <p:spPr>
          <a:xfrm>
            <a:off x="1927294" y="1199840"/>
            <a:ext cx="1744314" cy="14679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설정등록 및 등록공고</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87)</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37" name="직사각형 136"/>
          <p:cNvSpPr/>
          <p:nvPr/>
        </p:nvSpPr>
        <p:spPr>
          <a:xfrm>
            <a:off x="1927295" y="3385001"/>
            <a:ext cx="991185" cy="18765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질권</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121~123)</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38" name="직사각형 137"/>
          <p:cNvSpPr/>
          <p:nvPr/>
        </p:nvSpPr>
        <p:spPr>
          <a:xfrm>
            <a:off x="1931244" y="3908454"/>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효과</a:t>
            </a:r>
          </a:p>
        </p:txBody>
      </p:sp>
      <p:sp>
        <p:nvSpPr>
          <p:cNvPr id="139" name="직사각형 138"/>
          <p:cNvSpPr/>
          <p:nvPr/>
        </p:nvSpPr>
        <p:spPr>
          <a:xfrm>
            <a:off x="1927295" y="1600786"/>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범위</a:t>
            </a:r>
          </a:p>
        </p:txBody>
      </p:sp>
      <p:sp>
        <p:nvSpPr>
          <p:cNvPr id="140" name="직사각형 139"/>
          <p:cNvSpPr/>
          <p:nvPr/>
        </p:nvSpPr>
        <p:spPr>
          <a:xfrm>
            <a:off x="1927295" y="2235641"/>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내용</a:t>
            </a:r>
          </a:p>
        </p:txBody>
      </p:sp>
      <p:sp>
        <p:nvSpPr>
          <p:cNvPr id="141" name="직사각형 140"/>
          <p:cNvSpPr/>
          <p:nvPr/>
        </p:nvSpPr>
        <p:spPr>
          <a:xfrm>
            <a:off x="1927295" y="3187241"/>
            <a:ext cx="99118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44546A"/>
                </a:solidFill>
                <a:effectLst/>
                <a:uLnTx/>
                <a:uFillTx/>
                <a:latin typeface="Frutiger LT 65 Bold"/>
                <a:ea typeface="Rix모던고딕 B"/>
                <a:cs typeface="+mn-cs"/>
              </a:rPr>
              <a:t>실시권</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42" name="직사각형 141"/>
          <p:cNvSpPr/>
          <p:nvPr/>
        </p:nvSpPr>
        <p:spPr>
          <a:xfrm>
            <a:off x="1926619" y="4143059"/>
            <a:ext cx="1355344" cy="15351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실시보고</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125)</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43" name="직사각형 142"/>
          <p:cNvSpPr/>
          <p:nvPr/>
        </p:nvSpPr>
        <p:spPr>
          <a:xfrm>
            <a:off x="1926619" y="4320845"/>
            <a:ext cx="1355344" cy="13417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44546A"/>
                </a:solidFill>
                <a:effectLst/>
                <a:uLnTx/>
                <a:uFillTx/>
                <a:latin typeface="Frutiger LT 65 Bold"/>
                <a:ea typeface="Rix모던고딕 B"/>
                <a:cs typeface="+mn-cs"/>
              </a:rPr>
              <a:t>집행권원</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125</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144" name="꺾인 연결선 143"/>
          <p:cNvCxnSpPr>
            <a:stCxn id="125" idx="3"/>
            <a:endCxn id="135" idx="1"/>
          </p:cNvCxnSpPr>
          <p:nvPr/>
        </p:nvCxnSpPr>
        <p:spPr>
          <a:xfrm flipV="1">
            <a:off x="1774346" y="1091961"/>
            <a:ext cx="152947" cy="26884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꺾인 연결선 144"/>
          <p:cNvCxnSpPr>
            <a:stCxn id="125" idx="3"/>
            <a:endCxn id="136" idx="1"/>
          </p:cNvCxnSpPr>
          <p:nvPr/>
        </p:nvCxnSpPr>
        <p:spPr>
          <a:xfrm flipV="1">
            <a:off x="1774346" y="1273240"/>
            <a:ext cx="152948" cy="875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꺾인 연결선 145"/>
          <p:cNvCxnSpPr>
            <a:stCxn id="126" idx="3"/>
            <a:endCxn id="139" idx="1"/>
          </p:cNvCxnSpPr>
          <p:nvPr/>
        </p:nvCxnSpPr>
        <p:spPr>
          <a:xfrm flipV="1">
            <a:off x="1774346" y="1680091"/>
            <a:ext cx="152949" cy="2305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꺾인 연결선 146"/>
          <p:cNvCxnSpPr>
            <a:stCxn id="126" idx="3"/>
            <a:endCxn id="140" idx="1"/>
          </p:cNvCxnSpPr>
          <p:nvPr/>
        </p:nvCxnSpPr>
        <p:spPr>
          <a:xfrm>
            <a:off x="1774346" y="1910593"/>
            <a:ext cx="152949" cy="4043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꺾인 연결선 147"/>
          <p:cNvCxnSpPr>
            <a:stCxn id="127" idx="3"/>
            <a:endCxn id="141" idx="1"/>
          </p:cNvCxnSpPr>
          <p:nvPr/>
        </p:nvCxnSpPr>
        <p:spPr>
          <a:xfrm>
            <a:off x="1774346" y="3065551"/>
            <a:ext cx="152949" cy="2009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꺾인 연결선 148"/>
          <p:cNvCxnSpPr>
            <a:stCxn id="128" idx="3"/>
            <a:endCxn id="138" idx="1"/>
          </p:cNvCxnSpPr>
          <p:nvPr/>
        </p:nvCxnSpPr>
        <p:spPr>
          <a:xfrm>
            <a:off x="1774346" y="3788895"/>
            <a:ext cx="156898" cy="1988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꺾인 연결선 149"/>
          <p:cNvCxnSpPr>
            <a:stCxn id="129" idx="3"/>
            <a:endCxn id="142" idx="1"/>
          </p:cNvCxnSpPr>
          <p:nvPr/>
        </p:nvCxnSpPr>
        <p:spPr>
          <a:xfrm flipV="1">
            <a:off x="1774346" y="4219817"/>
            <a:ext cx="152273" cy="767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1" name="꺾인 연결선 150"/>
          <p:cNvCxnSpPr>
            <a:stCxn id="129" idx="3"/>
            <a:endCxn id="143" idx="1"/>
          </p:cNvCxnSpPr>
          <p:nvPr/>
        </p:nvCxnSpPr>
        <p:spPr>
          <a:xfrm>
            <a:off x="1774346" y="4296575"/>
            <a:ext cx="152273" cy="913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2" name="직사각형 151"/>
          <p:cNvSpPr/>
          <p:nvPr/>
        </p:nvSpPr>
        <p:spPr>
          <a:xfrm>
            <a:off x="2490834" y="1502332"/>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시간적</a:t>
            </a:r>
          </a:p>
        </p:txBody>
      </p:sp>
      <p:sp>
        <p:nvSpPr>
          <p:cNvPr id="153" name="직사각형 152"/>
          <p:cNvSpPr/>
          <p:nvPr/>
        </p:nvSpPr>
        <p:spPr>
          <a:xfrm>
            <a:off x="2490834" y="1753955"/>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내용적</a:t>
            </a:r>
          </a:p>
        </p:txBody>
      </p:sp>
      <p:sp>
        <p:nvSpPr>
          <p:cNvPr id="154" name="직사각형 153"/>
          <p:cNvSpPr/>
          <p:nvPr/>
        </p:nvSpPr>
        <p:spPr>
          <a:xfrm>
            <a:off x="2490834" y="1966576"/>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지역적</a:t>
            </a:r>
          </a:p>
        </p:txBody>
      </p:sp>
      <p:sp>
        <p:nvSpPr>
          <p:cNvPr id="155" name="직사각형 154"/>
          <p:cNvSpPr/>
          <p:nvPr/>
        </p:nvSpPr>
        <p:spPr>
          <a:xfrm>
            <a:off x="3028012" y="1406769"/>
            <a:ext cx="1665788"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존속기간</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88)</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56" name="직사각형 155"/>
          <p:cNvSpPr/>
          <p:nvPr/>
        </p:nvSpPr>
        <p:spPr>
          <a:xfrm>
            <a:off x="3028012" y="1577847"/>
            <a:ext cx="1665790" cy="149257"/>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존속기간의 연장</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8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89~93, 95)</a:t>
            </a:r>
            <a:endParaRPr kumimoji="0" lang="ko-KR" altLang="en-US" sz="8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57" name="직사각형 156"/>
          <p:cNvSpPr/>
          <p:nvPr/>
        </p:nvSpPr>
        <p:spPr>
          <a:xfrm>
            <a:off x="3028012" y="1745004"/>
            <a:ext cx="1665788" cy="18577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청구범위</a:t>
            </a:r>
          </a:p>
        </p:txBody>
      </p:sp>
      <p:sp>
        <p:nvSpPr>
          <p:cNvPr id="158" name="직사각형 157"/>
          <p:cNvSpPr/>
          <p:nvPr/>
        </p:nvSpPr>
        <p:spPr>
          <a:xfrm>
            <a:off x="3028011" y="1966575"/>
            <a:ext cx="1665789" cy="15861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속지주의</a:t>
            </a:r>
          </a:p>
        </p:txBody>
      </p:sp>
      <p:sp>
        <p:nvSpPr>
          <p:cNvPr id="159" name="직사각형 158"/>
          <p:cNvSpPr/>
          <p:nvPr/>
        </p:nvSpPr>
        <p:spPr>
          <a:xfrm>
            <a:off x="2500115" y="2247804"/>
            <a:ext cx="41836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의의</a:t>
            </a:r>
          </a:p>
        </p:txBody>
      </p:sp>
      <p:sp>
        <p:nvSpPr>
          <p:cNvPr id="160" name="직사각형 159"/>
          <p:cNvSpPr/>
          <p:nvPr/>
        </p:nvSpPr>
        <p:spPr>
          <a:xfrm>
            <a:off x="2500114" y="2523982"/>
            <a:ext cx="2193687" cy="16340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제한</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81</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3④, 96, 181/98)</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1" name="직사각형 160"/>
          <p:cNvSpPr/>
          <p:nvPr/>
        </p:nvSpPr>
        <p:spPr>
          <a:xfrm>
            <a:off x="2500114" y="2714241"/>
            <a:ext cx="2193687"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확장</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127)</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2" name="직사각형 161"/>
          <p:cNvSpPr/>
          <p:nvPr/>
        </p:nvSpPr>
        <p:spPr>
          <a:xfrm>
            <a:off x="1927295" y="2927413"/>
            <a:ext cx="1564240" cy="19388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이전 및 공유</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99, 99</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3" name="직사각형 162"/>
          <p:cNvSpPr/>
          <p:nvPr/>
        </p:nvSpPr>
        <p:spPr>
          <a:xfrm>
            <a:off x="3109057" y="3518950"/>
            <a:ext cx="2829345" cy="133282"/>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44546A"/>
                </a:solidFill>
                <a:effectLst/>
                <a:uLnTx/>
                <a:uFillTx/>
                <a:latin typeface="Frutiger LT 65 Bold"/>
                <a:ea typeface="Rix모던고딕 B"/>
                <a:cs typeface="+mn-cs"/>
              </a:rPr>
              <a:t>강제실시권</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106</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2, 107~115, 138)</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4" name="직사각형 163"/>
          <p:cNvSpPr/>
          <p:nvPr/>
        </p:nvSpPr>
        <p:spPr>
          <a:xfrm>
            <a:off x="3109057" y="3339094"/>
            <a:ext cx="2829345" cy="13973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44546A"/>
                </a:solidFill>
                <a:effectLst/>
                <a:uLnTx/>
                <a:uFillTx/>
                <a:latin typeface="Frutiger LT 65 Bold"/>
                <a:ea typeface="Rix모던고딕 B"/>
                <a:cs typeface="+mn-cs"/>
              </a:rPr>
              <a:t>법정실시권</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8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81</a:t>
            </a:r>
            <a:r>
              <a:rPr kumimoji="0" lang="ko-KR" altLang="en-US" sz="800" b="0" i="0" u="none" strike="noStrike" kern="1200" cap="none" spc="0" normalizeH="0" baseline="0" noProof="0" dirty="0">
                <a:ln>
                  <a:noFill/>
                </a:ln>
                <a:solidFill>
                  <a:srgbClr val="44546A"/>
                </a:solidFill>
                <a:effectLst/>
                <a:uLnTx/>
                <a:uFillTx/>
                <a:latin typeface="Frutiger LT 65 Bold"/>
                <a:ea typeface="Rix모던고딕 B"/>
                <a:cs typeface="+mn-cs"/>
              </a:rPr>
              <a:t>의</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3, 103~105, 122, 182,183, </a:t>
            </a:r>
            <a:r>
              <a:rPr kumimoji="0" lang="ko-KR" altLang="en-US" sz="800" b="0" i="0" u="none" strike="noStrike" kern="1200" cap="none" spc="0" normalizeH="0" baseline="0" noProof="0" dirty="0" err="1">
                <a:ln>
                  <a:noFill/>
                </a:ln>
                <a:solidFill>
                  <a:srgbClr val="44546A"/>
                </a:solidFill>
                <a:effectLst/>
                <a:uLnTx/>
                <a:uFillTx/>
                <a:latin typeface="Frutiger LT 65 Bold"/>
                <a:ea typeface="Rix모던고딕 B"/>
                <a:cs typeface="+mn-cs"/>
              </a:rPr>
              <a:t>발진법</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10</a:t>
            </a:r>
            <a:r>
              <a:rPr kumimoji="0" lang="ko-KR" altLang="en-US" sz="800" b="0" i="0" u="none" strike="noStrike" kern="1200" cap="none" spc="0" normalizeH="0" baseline="0" noProof="0" dirty="0">
                <a:ln>
                  <a:noFill/>
                </a:ln>
                <a:solidFill>
                  <a:srgbClr val="44546A"/>
                </a:solidFill>
                <a:effectLst/>
                <a:uLnTx/>
                <a:uFillTx/>
                <a:latin typeface="Frutiger LT 65 Bold"/>
                <a:ea typeface="Rix모던고딕 B"/>
                <a:cs typeface="+mn-cs"/>
              </a:rPr>
              <a:t>①</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8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5" name="직사각형 164"/>
          <p:cNvSpPr/>
          <p:nvPr/>
        </p:nvSpPr>
        <p:spPr>
          <a:xfrm>
            <a:off x="3109057" y="3151440"/>
            <a:ext cx="2829345"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일반론</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100~102, 118)</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6" name="직사각형 165"/>
          <p:cNvSpPr/>
          <p:nvPr/>
        </p:nvSpPr>
        <p:spPr>
          <a:xfrm>
            <a:off x="1931244" y="3709590"/>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원인</a:t>
            </a:r>
          </a:p>
        </p:txBody>
      </p:sp>
      <p:sp>
        <p:nvSpPr>
          <p:cNvPr id="167" name="직사각형 166"/>
          <p:cNvSpPr/>
          <p:nvPr/>
        </p:nvSpPr>
        <p:spPr>
          <a:xfrm>
            <a:off x="2426794" y="3883877"/>
            <a:ext cx="1721991" cy="20938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장래소멸</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119, 120, 124)</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8" name="직사각형 167"/>
          <p:cNvSpPr/>
          <p:nvPr/>
        </p:nvSpPr>
        <p:spPr>
          <a:xfrm>
            <a:off x="2426794" y="3698412"/>
            <a:ext cx="1721991"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소급소멸</a:t>
            </a:r>
          </a:p>
        </p:txBody>
      </p:sp>
      <p:cxnSp>
        <p:nvCxnSpPr>
          <p:cNvPr id="169" name="꺾인 연결선 168"/>
          <p:cNvCxnSpPr>
            <a:stCxn id="139" idx="3"/>
            <a:endCxn id="152" idx="1"/>
          </p:cNvCxnSpPr>
          <p:nvPr/>
        </p:nvCxnSpPr>
        <p:spPr>
          <a:xfrm flipV="1">
            <a:off x="2314769" y="1581638"/>
            <a:ext cx="176065" cy="984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꺾인 연결선 169"/>
          <p:cNvCxnSpPr>
            <a:stCxn id="139" idx="3"/>
            <a:endCxn id="153" idx="1"/>
          </p:cNvCxnSpPr>
          <p:nvPr/>
        </p:nvCxnSpPr>
        <p:spPr>
          <a:xfrm>
            <a:off x="2314769" y="1680091"/>
            <a:ext cx="176065" cy="15316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꺾인 연결선 170"/>
          <p:cNvCxnSpPr>
            <a:stCxn id="139" idx="3"/>
            <a:endCxn id="154" idx="1"/>
          </p:cNvCxnSpPr>
          <p:nvPr/>
        </p:nvCxnSpPr>
        <p:spPr>
          <a:xfrm>
            <a:off x="2314769" y="1680091"/>
            <a:ext cx="176065" cy="36579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꺾인 연결선 171"/>
          <p:cNvCxnSpPr>
            <a:stCxn id="152" idx="3"/>
            <a:endCxn id="155" idx="1"/>
          </p:cNvCxnSpPr>
          <p:nvPr/>
        </p:nvCxnSpPr>
        <p:spPr>
          <a:xfrm flipV="1">
            <a:off x="2918481" y="1486075"/>
            <a:ext cx="109531" cy="9556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꺾인 연결선 172"/>
          <p:cNvCxnSpPr>
            <a:stCxn id="152" idx="3"/>
            <a:endCxn id="156" idx="1"/>
          </p:cNvCxnSpPr>
          <p:nvPr/>
        </p:nvCxnSpPr>
        <p:spPr>
          <a:xfrm>
            <a:off x="2918481" y="1581638"/>
            <a:ext cx="109531" cy="7083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직선 연결선 173"/>
          <p:cNvCxnSpPr>
            <a:stCxn id="153" idx="3"/>
            <a:endCxn id="157" idx="1"/>
          </p:cNvCxnSpPr>
          <p:nvPr/>
        </p:nvCxnSpPr>
        <p:spPr>
          <a:xfrm>
            <a:off x="2918481" y="1833260"/>
            <a:ext cx="109531" cy="4630"/>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직선 연결선 174"/>
          <p:cNvCxnSpPr>
            <a:stCxn id="154" idx="3"/>
            <a:endCxn id="158" idx="1"/>
          </p:cNvCxnSpPr>
          <p:nvPr/>
        </p:nvCxnSpPr>
        <p:spPr>
          <a:xfrm flipV="1">
            <a:off x="2918481" y="2045880"/>
            <a:ext cx="109530" cy="1"/>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꺾인 연결선 175"/>
          <p:cNvCxnSpPr>
            <a:stCxn id="140" idx="3"/>
            <a:endCxn id="161" idx="1"/>
          </p:cNvCxnSpPr>
          <p:nvPr/>
        </p:nvCxnSpPr>
        <p:spPr>
          <a:xfrm>
            <a:off x="2314769" y="2314946"/>
            <a:ext cx="185345" cy="4786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꺾인 연결선 176"/>
          <p:cNvCxnSpPr>
            <a:stCxn id="140" idx="3"/>
            <a:endCxn id="159" idx="1"/>
          </p:cNvCxnSpPr>
          <p:nvPr/>
        </p:nvCxnSpPr>
        <p:spPr>
          <a:xfrm>
            <a:off x="2314769" y="2314946"/>
            <a:ext cx="185346" cy="1216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꺾인 연결선 177"/>
          <p:cNvCxnSpPr>
            <a:stCxn id="140" idx="3"/>
            <a:endCxn id="160" idx="1"/>
          </p:cNvCxnSpPr>
          <p:nvPr/>
        </p:nvCxnSpPr>
        <p:spPr>
          <a:xfrm>
            <a:off x="2314769" y="2314946"/>
            <a:ext cx="185345" cy="2907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9" name="꺾인 연결선 178"/>
          <p:cNvCxnSpPr>
            <a:stCxn id="127" idx="3"/>
            <a:endCxn id="162" idx="1"/>
          </p:cNvCxnSpPr>
          <p:nvPr/>
        </p:nvCxnSpPr>
        <p:spPr>
          <a:xfrm flipV="1">
            <a:off x="1774346" y="3024355"/>
            <a:ext cx="152949" cy="411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꺾인 연결선 179"/>
          <p:cNvCxnSpPr>
            <a:stCxn id="127" idx="3"/>
            <a:endCxn id="137" idx="1"/>
          </p:cNvCxnSpPr>
          <p:nvPr/>
        </p:nvCxnSpPr>
        <p:spPr>
          <a:xfrm>
            <a:off x="1774346" y="3065551"/>
            <a:ext cx="152949" cy="4132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꺾인 연결선 180"/>
          <p:cNvCxnSpPr>
            <a:stCxn id="141" idx="3"/>
            <a:endCxn id="163" idx="1"/>
          </p:cNvCxnSpPr>
          <p:nvPr/>
        </p:nvCxnSpPr>
        <p:spPr>
          <a:xfrm>
            <a:off x="2918481" y="3266547"/>
            <a:ext cx="190576" cy="31904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꺾인 연결선 181"/>
          <p:cNvCxnSpPr>
            <a:stCxn id="141" idx="3"/>
            <a:endCxn id="165" idx="1"/>
          </p:cNvCxnSpPr>
          <p:nvPr/>
        </p:nvCxnSpPr>
        <p:spPr>
          <a:xfrm flipV="1">
            <a:off x="2918481" y="3230745"/>
            <a:ext cx="190576" cy="3580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3" name="꺾인 연결선 182"/>
          <p:cNvCxnSpPr>
            <a:stCxn id="141" idx="3"/>
            <a:endCxn id="164" idx="1"/>
          </p:cNvCxnSpPr>
          <p:nvPr/>
        </p:nvCxnSpPr>
        <p:spPr>
          <a:xfrm>
            <a:off x="2918481" y="3266547"/>
            <a:ext cx="190576" cy="14241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4" name="꺾인 연결선 183"/>
          <p:cNvCxnSpPr>
            <a:stCxn id="128" idx="3"/>
            <a:endCxn id="166" idx="1"/>
          </p:cNvCxnSpPr>
          <p:nvPr/>
        </p:nvCxnSpPr>
        <p:spPr>
          <a:xfrm>
            <a:off x="1774346" y="3788895"/>
            <a:ext cx="156898" cy="127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5" name="꺾인 연결선 184"/>
          <p:cNvCxnSpPr>
            <a:stCxn id="166" idx="3"/>
            <a:endCxn id="167" idx="1"/>
          </p:cNvCxnSpPr>
          <p:nvPr/>
        </p:nvCxnSpPr>
        <p:spPr>
          <a:xfrm>
            <a:off x="2314770" y="3788895"/>
            <a:ext cx="112024" cy="1996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6" name="꺾인 연결선 185"/>
          <p:cNvCxnSpPr>
            <a:stCxn id="166" idx="3"/>
            <a:endCxn id="168" idx="1"/>
          </p:cNvCxnSpPr>
          <p:nvPr/>
        </p:nvCxnSpPr>
        <p:spPr>
          <a:xfrm flipV="1">
            <a:off x="2314770" y="3777717"/>
            <a:ext cx="112024" cy="1117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7" name="직사각형 186"/>
          <p:cNvSpPr/>
          <p:nvPr/>
        </p:nvSpPr>
        <p:spPr>
          <a:xfrm>
            <a:off x="3281962" y="2158301"/>
            <a:ext cx="1411839" cy="16756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적극적 효력</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94)</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88" name="직사각형 187"/>
          <p:cNvSpPr/>
          <p:nvPr/>
        </p:nvSpPr>
        <p:spPr>
          <a:xfrm>
            <a:off x="3281962" y="2341797"/>
            <a:ext cx="1411839" cy="15393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소극적 효력</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침해</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189" name="꺾인 연결선 188"/>
          <p:cNvCxnSpPr>
            <a:stCxn id="159" idx="3"/>
            <a:endCxn id="188" idx="1"/>
          </p:cNvCxnSpPr>
          <p:nvPr/>
        </p:nvCxnSpPr>
        <p:spPr>
          <a:xfrm>
            <a:off x="2918481" y="2327109"/>
            <a:ext cx="363481" cy="9165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0" name="꺾인 연결선 189"/>
          <p:cNvCxnSpPr>
            <a:stCxn id="159" idx="3"/>
            <a:endCxn id="187" idx="1"/>
          </p:cNvCxnSpPr>
          <p:nvPr/>
        </p:nvCxnSpPr>
        <p:spPr>
          <a:xfrm flipV="1">
            <a:off x="2918481" y="2242081"/>
            <a:ext cx="363481" cy="850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1" name="직사각형 190"/>
          <p:cNvSpPr/>
          <p:nvPr/>
        </p:nvSpPr>
        <p:spPr>
          <a:xfrm>
            <a:off x="4891070" y="1400340"/>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성립요건</a:t>
            </a:r>
          </a:p>
        </p:txBody>
      </p:sp>
      <p:sp>
        <p:nvSpPr>
          <p:cNvPr id="192" name="직사각형 191"/>
          <p:cNvSpPr/>
          <p:nvPr/>
        </p:nvSpPr>
        <p:spPr>
          <a:xfrm>
            <a:off x="4891070" y="1771241"/>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종류</a:t>
            </a:r>
          </a:p>
        </p:txBody>
      </p:sp>
      <p:sp>
        <p:nvSpPr>
          <p:cNvPr id="193" name="직사각형 192"/>
          <p:cNvSpPr/>
          <p:nvPr/>
        </p:nvSpPr>
        <p:spPr>
          <a:xfrm>
            <a:off x="4891070" y="2381537"/>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조치</a:t>
            </a:r>
          </a:p>
        </p:txBody>
      </p:sp>
      <p:cxnSp>
        <p:nvCxnSpPr>
          <p:cNvPr id="194" name="꺾인 연결선 193"/>
          <p:cNvCxnSpPr>
            <a:stCxn id="188" idx="3"/>
            <a:endCxn id="191" idx="1"/>
          </p:cNvCxnSpPr>
          <p:nvPr/>
        </p:nvCxnSpPr>
        <p:spPr>
          <a:xfrm flipV="1">
            <a:off x="4693801" y="1479645"/>
            <a:ext cx="197269" cy="939118"/>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꺾인 연결선 194"/>
          <p:cNvCxnSpPr>
            <a:stCxn id="188" idx="3"/>
            <a:endCxn id="193" idx="1"/>
          </p:cNvCxnSpPr>
          <p:nvPr/>
        </p:nvCxnSpPr>
        <p:spPr>
          <a:xfrm>
            <a:off x="4693801" y="2418763"/>
            <a:ext cx="197269" cy="42079"/>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꺾인 연결선 195"/>
          <p:cNvCxnSpPr>
            <a:stCxn id="188" idx="3"/>
            <a:endCxn id="192" idx="1"/>
          </p:cNvCxnSpPr>
          <p:nvPr/>
        </p:nvCxnSpPr>
        <p:spPr>
          <a:xfrm flipV="1">
            <a:off x="4693801" y="1850546"/>
            <a:ext cx="197269" cy="568217"/>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7" name="직사각형 196"/>
          <p:cNvSpPr/>
          <p:nvPr/>
        </p:nvSpPr>
        <p:spPr>
          <a:xfrm>
            <a:off x="5586610" y="1528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직접침해</a:t>
            </a:r>
            <a:endPar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97, 98)</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98" name="직사각형 197"/>
          <p:cNvSpPr/>
          <p:nvPr/>
        </p:nvSpPr>
        <p:spPr>
          <a:xfrm>
            <a:off x="5586610" y="1904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간접침해</a:t>
            </a:r>
            <a:endPar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127)</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199" name="꺾인 연결선 198"/>
          <p:cNvCxnSpPr>
            <a:stCxn id="192" idx="3"/>
            <a:endCxn id="197" idx="1"/>
          </p:cNvCxnSpPr>
          <p:nvPr/>
        </p:nvCxnSpPr>
        <p:spPr>
          <a:xfrm flipV="1">
            <a:off x="5452482" y="1689718"/>
            <a:ext cx="134128" cy="1608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0" name="꺾인 연결선 199"/>
          <p:cNvCxnSpPr>
            <a:stCxn id="192" idx="3"/>
            <a:endCxn id="198" idx="1"/>
          </p:cNvCxnSpPr>
          <p:nvPr/>
        </p:nvCxnSpPr>
        <p:spPr>
          <a:xfrm>
            <a:off x="5452482" y="1850546"/>
            <a:ext cx="134128" cy="21517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1" name="모서리가 둥근 직사각형 200"/>
          <p:cNvSpPr/>
          <p:nvPr/>
        </p:nvSpPr>
        <p:spPr>
          <a:xfrm>
            <a:off x="5586610" y="2318465"/>
            <a:ext cx="833380" cy="300825"/>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민사적 조치</a:t>
            </a:r>
            <a:endPar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126-132)</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202" name="모서리가 둥근 직사각형 201"/>
          <p:cNvSpPr/>
          <p:nvPr/>
        </p:nvSpPr>
        <p:spPr>
          <a:xfrm>
            <a:off x="5586609" y="2663316"/>
            <a:ext cx="833381" cy="341821"/>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형사적 조치</a:t>
            </a:r>
            <a:endPar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225-232)</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203" name="꺾인 연결선 202"/>
          <p:cNvCxnSpPr>
            <a:stCxn id="193" idx="3"/>
            <a:endCxn id="201" idx="1"/>
          </p:cNvCxnSpPr>
          <p:nvPr/>
        </p:nvCxnSpPr>
        <p:spPr>
          <a:xfrm>
            <a:off x="5452482" y="2460843"/>
            <a:ext cx="134128" cy="803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4" name="꺾인 연결선 203"/>
          <p:cNvCxnSpPr>
            <a:stCxn id="193" idx="3"/>
            <a:endCxn id="202" idx="1"/>
          </p:cNvCxnSpPr>
          <p:nvPr/>
        </p:nvCxnSpPr>
        <p:spPr>
          <a:xfrm>
            <a:off x="5452482" y="2460843"/>
            <a:ext cx="134127" cy="37338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5" name="직사각형 204"/>
          <p:cNvSpPr/>
          <p:nvPr/>
        </p:nvSpPr>
        <p:spPr>
          <a:xfrm>
            <a:off x="7780806" y="2184608"/>
            <a:ext cx="555844" cy="610645"/>
          </a:xfrm>
          <a:prstGeom prst="rect">
            <a:avLst/>
          </a:prstGeom>
          <a:solidFill>
            <a:schemeClr val="accent6">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rPr>
              <a:t>심판절차 </a:t>
            </a:r>
            <a:endPar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rPr>
              <a:t>일반</a:t>
            </a:r>
            <a:endPar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rPr>
              <a:t>총론</a:t>
            </a:r>
            <a:r>
              <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206" name="직사각형 205"/>
          <p:cNvSpPr/>
          <p:nvPr/>
        </p:nvSpPr>
        <p:spPr>
          <a:xfrm>
            <a:off x="7780806" y="4163272"/>
            <a:ext cx="555844" cy="610645"/>
          </a:xfrm>
          <a:prstGeom prst="rect">
            <a:avLst/>
          </a:prstGeom>
          <a:solidFill>
            <a:schemeClr val="accent5">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rPr>
              <a:t>심판의</a:t>
            </a:r>
            <a:endPar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rPr>
              <a:t>종류</a:t>
            </a:r>
            <a:endPar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rPr>
              <a:t>각론</a:t>
            </a:r>
            <a:r>
              <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207" name="직사각형 206"/>
          <p:cNvSpPr/>
          <p:nvPr/>
        </p:nvSpPr>
        <p:spPr>
          <a:xfrm>
            <a:off x="8500191" y="131308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prstClr val="black"/>
                </a:solidFill>
                <a:effectLst/>
                <a:uLnTx/>
                <a:uFillTx/>
                <a:latin typeface="Frutiger LT 65 Bold"/>
                <a:ea typeface="Rix모던고딕 B"/>
                <a:cs typeface="+mn-cs"/>
              </a:rPr>
              <a:t>주체</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08" name="직사각형 207"/>
          <p:cNvSpPr/>
          <p:nvPr/>
        </p:nvSpPr>
        <p:spPr>
          <a:xfrm>
            <a:off x="8500191" y="180459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청구</a:t>
            </a:r>
          </a:p>
        </p:txBody>
      </p:sp>
      <p:sp>
        <p:nvSpPr>
          <p:cNvPr id="209" name="직사각형 208"/>
          <p:cNvSpPr/>
          <p:nvPr/>
        </p:nvSpPr>
        <p:spPr>
          <a:xfrm>
            <a:off x="8500191" y="2449052"/>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진행</a:t>
            </a:r>
          </a:p>
        </p:txBody>
      </p:sp>
      <p:sp>
        <p:nvSpPr>
          <p:cNvPr id="210" name="직사각형 209"/>
          <p:cNvSpPr/>
          <p:nvPr/>
        </p:nvSpPr>
        <p:spPr>
          <a:xfrm>
            <a:off x="8500191" y="2977875"/>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종료</a:t>
            </a:r>
          </a:p>
        </p:txBody>
      </p:sp>
      <p:sp>
        <p:nvSpPr>
          <p:cNvPr id="211" name="직사각형 210"/>
          <p:cNvSpPr/>
          <p:nvPr/>
        </p:nvSpPr>
        <p:spPr>
          <a:xfrm>
            <a:off x="9363869" y="8056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 143~153</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2" name="직사각형 211"/>
          <p:cNvSpPr/>
          <p:nvPr/>
        </p:nvSpPr>
        <p:spPr>
          <a:xfrm>
            <a:off x="9363869" y="9962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심판의 당사자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139)</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3" name="직사각형 212"/>
          <p:cNvSpPr/>
          <p:nvPr/>
        </p:nvSpPr>
        <p:spPr>
          <a:xfrm>
            <a:off x="9363869" y="118351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심판의 참가인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155, 156)</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4" name="직사각형 213"/>
          <p:cNvSpPr/>
          <p:nvPr/>
        </p:nvSpPr>
        <p:spPr>
          <a:xfrm>
            <a:off x="9363869" y="1703773"/>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심판의 청구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140, 140</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5" name="직사각형 214"/>
          <p:cNvSpPr/>
          <p:nvPr/>
        </p:nvSpPr>
        <p:spPr>
          <a:xfrm>
            <a:off x="9363869" y="18943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심판청구서의 보정</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140②, 140</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2②)</a:t>
            </a:r>
          </a:p>
        </p:txBody>
      </p:sp>
      <p:sp>
        <p:nvSpPr>
          <p:cNvPr id="216" name="직사각형 215"/>
          <p:cNvSpPr/>
          <p:nvPr/>
        </p:nvSpPr>
        <p:spPr>
          <a:xfrm>
            <a:off x="9363869" y="22698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방식심리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141)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7" name="직사각형 216"/>
          <p:cNvSpPr/>
          <p:nvPr/>
        </p:nvSpPr>
        <p:spPr>
          <a:xfrm>
            <a:off x="9363869" y="245801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적법성 심리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142)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8" name="직사각형 217"/>
          <p:cNvSpPr/>
          <p:nvPr/>
        </p:nvSpPr>
        <p:spPr>
          <a:xfrm>
            <a:off x="9363869" y="264666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본안심리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154, 157-160)</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9" name="직사각형 218"/>
          <p:cNvSpPr/>
          <p:nvPr/>
        </p:nvSpPr>
        <p:spPr>
          <a:xfrm>
            <a:off x="9363869" y="288449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심판청구의 취하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0" name="직사각형 219"/>
          <p:cNvSpPr/>
          <p:nvPr/>
        </p:nvSpPr>
        <p:spPr>
          <a:xfrm>
            <a:off x="9363869" y="307268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심결</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162, 163)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1" name="직사각형 220"/>
          <p:cNvSpPr/>
          <p:nvPr/>
        </p:nvSpPr>
        <p:spPr>
          <a:xfrm>
            <a:off x="8500191" y="4104276"/>
            <a:ext cx="710030" cy="171015"/>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결정계</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심판</a:t>
            </a:r>
          </a:p>
        </p:txBody>
      </p:sp>
      <p:sp>
        <p:nvSpPr>
          <p:cNvPr id="222" name="직사각형 221"/>
          <p:cNvSpPr/>
          <p:nvPr/>
        </p:nvSpPr>
        <p:spPr>
          <a:xfrm>
            <a:off x="8500191" y="4475324"/>
            <a:ext cx="710030" cy="364286"/>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당사자계 </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a:t>
            </a:r>
          </a:p>
        </p:txBody>
      </p:sp>
      <p:sp>
        <p:nvSpPr>
          <p:cNvPr id="223" name="직사각형 222"/>
          <p:cNvSpPr/>
          <p:nvPr/>
        </p:nvSpPr>
        <p:spPr>
          <a:xfrm>
            <a:off x="8500189" y="5251229"/>
            <a:ext cx="1308145"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재심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178~185)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4" name="직사각형 223"/>
          <p:cNvSpPr/>
          <p:nvPr/>
        </p:nvSpPr>
        <p:spPr>
          <a:xfrm>
            <a:off x="9363869" y="401219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거절결정불복심판</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132</a:t>
            </a:r>
            <a:r>
              <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17, 170~172, 176)</a:t>
            </a:r>
            <a:endPar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5" name="직사각형 224"/>
          <p:cNvSpPr/>
          <p:nvPr/>
        </p:nvSpPr>
        <p:spPr>
          <a:xfrm>
            <a:off x="9363869" y="420277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정정심판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136)</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6" name="직사각형 225"/>
          <p:cNvSpPr/>
          <p:nvPr/>
        </p:nvSpPr>
        <p:spPr>
          <a:xfrm>
            <a:off x="9363869" y="438375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무효심판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133, 134, 137)</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7" name="직사각형 226"/>
          <p:cNvSpPr/>
          <p:nvPr/>
        </p:nvSpPr>
        <p:spPr>
          <a:xfrm>
            <a:off x="9363869" y="457975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권리범위확인심판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8" name="직사각형 227"/>
          <p:cNvSpPr/>
          <p:nvPr/>
        </p:nvSpPr>
        <p:spPr>
          <a:xfrm>
            <a:off x="9363869" y="477033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통상실시권허락심판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138)</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29" name="꺾인 연결선 228"/>
          <p:cNvCxnSpPr>
            <a:stCxn id="205" idx="1"/>
            <a:endCxn id="252" idx="3"/>
          </p:cNvCxnSpPr>
          <p:nvPr/>
        </p:nvCxnSpPr>
        <p:spPr>
          <a:xfrm rot="10800000" flipV="1">
            <a:off x="7557110" y="2489931"/>
            <a:ext cx="223697" cy="347276"/>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꺾인 연결선 229"/>
          <p:cNvCxnSpPr>
            <a:stCxn id="205" idx="3"/>
            <a:endCxn id="207" idx="1"/>
          </p:cNvCxnSpPr>
          <p:nvPr/>
        </p:nvCxnSpPr>
        <p:spPr>
          <a:xfrm flipV="1">
            <a:off x="8336650" y="1398592"/>
            <a:ext cx="163541" cy="10913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꺾인 연결선 230"/>
          <p:cNvCxnSpPr>
            <a:stCxn id="205" idx="3"/>
            <a:endCxn id="210" idx="1"/>
          </p:cNvCxnSpPr>
          <p:nvPr/>
        </p:nvCxnSpPr>
        <p:spPr>
          <a:xfrm>
            <a:off x="8336650" y="2489931"/>
            <a:ext cx="163541" cy="573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꺾인 연결선 231"/>
          <p:cNvCxnSpPr>
            <a:stCxn id="205" idx="3"/>
            <a:endCxn id="208" idx="1"/>
          </p:cNvCxnSpPr>
          <p:nvPr/>
        </p:nvCxnSpPr>
        <p:spPr>
          <a:xfrm flipV="1">
            <a:off x="8336650" y="1890102"/>
            <a:ext cx="163541" cy="5998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3" name="꺾인 연결선 232"/>
          <p:cNvCxnSpPr>
            <a:stCxn id="205" idx="3"/>
            <a:endCxn id="209" idx="1"/>
          </p:cNvCxnSpPr>
          <p:nvPr/>
        </p:nvCxnSpPr>
        <p:spPr>
          <a:xfrm>
            <a:off x="8336650" y="2489931"/>
            <a:ext cx="163541" cy="446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꺾인 연결선 233"/>
          <p:cNvCxnSpPr>
            <a:stCxn id="207" idx="3"/>
            <a:endCxn id="211" idx="1"/>
          </p:cNvCxnSpPr>
          <p:nvPr/>
        </p:nvCxnSpPr>
        <p:spPr>
          <a:xfrm flipV="1">
            <a:off x="9210221" y="874930"/>
            <a:ext cx="153648" cy="52366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5" name="꺾인 연결선 234"/>
          <p:cNvCxnSpPr>
            <a:stCxn id="207" idx="3"/>
            <a:endCxn id="213" idx="1"/>
          </p:cNvCxnSpPr>
          <p:nvPr/>
        </p:nvCxnSpPr>
        <p:spPr>
          <a:xfrm flipV="1">
            <a:off x="9210221" y="1252790"/>
            <a:ext cx="153648" cy="1458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6" name="꺾인 연결선 235"/>
          <p:cNvCxnSpPr>
            <a:cxnSpLocks/>
            <a:stCxn id="207" idx="3"/>
            <a:endCxn id="288" idx="1"/>
          </p:cNvCxnSpPr>
          <p:nvPr/>
        </p:nvCxnSpPr>
        <p:spPr>
          <a:xfrm>
            <a:off x="9210221" y="1398592"/>
            <a:ext cx="148622" cy="1108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7" name="꺾인 연결선 236"/>
          <p:cNvCxnSpPr>
            <a:stCxn id="208" idx="3"/>
            <a:endCxn id="214" idx="1"/>
          </p:cNvCxnSpPr>
          <p:nvPr/>
        </p:nvCxnSpPr>
        <p:spPr>
          <a:xfrm flipV="1">
            <a:off x="9210221" y="1773052"/>
            <a:ext cx="153648" cy="1170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8" name="꺾인 연결선 237"/>
          <p:cNvCxnSpPr>
            <a:stCxn id="208" idx="3"/>
            <a:endCxn id="215" idx="1"/>
          </p:cNvCxnSpPr>
          <p:nvPr/>
        </p:nvCxnSpPr>
        <p:spPr>
          <a:xfrm>
            <a:off x="9210221" y="1890102"/>
            <a:ext cx="153648" cy="735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9" name="꺾인 연결선 238"/>
          <p:cNvCxnSpPr>
            <a:stCxn id="209" idx="3"/>
            <a:endCxn id="216" idx="1"/>
          </p:cNvCxnSpPr>
          <p:nvPr/>
        </p:nvCxnSpPr>
        <p:spPr>
          <a:xfrm flipV="1">
            <a:off x="9210221" y="2339108"/>
            <a:ext cx="153648" cy="195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0" name="꺾인 연결선 239"/>
          <p:cNvCxnSpPr>
            <a:stCxn id="209" idx="3"/>
            <a:endCxn id="218" idx="1"/>
          </p:cNvCxnSpPr>
          <p:nvPr/>
        </p:nvCxnSpPr>
        <p:spPr>
          <a:xfrm>
            <a:off x="9210221" y="2534560"/>
            <a:ext cx="153648" cy="18138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1" name="꺾인 연결선 240"/>
          <p:cNvCxnSpPr>
            <a:stCxn id="209" idx="3"/>
            <a:endCxn id="217" idx="1"/>
          </p:cNvCxnSpPr>
          <p:nvPr/>
        </p:nvCxnSpPr>
        <p:spPr>
          <a:xfrm flipV="1">
            <a:off x="9210221" y="2527293"/>
            <a:ext cx="153648" cy="72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꺾인 연결선 241"/>
          <p:cNvCxnSpPr>
            <a:stCxn id="221" idx="1"/>
            <a:endCxn id="206" idx="3"/>
          </p:cNvCxnSpPr>
          <p:nvPr/>
        </p:nvCxnSpPr>
        <p:spPr>
          <a:xfrm rot="10800000" flipV="1">
            <a:off x="8336651" y="4189783"/>
            <a:ext cx="163541" cy="2788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3" name="꺾인 연결선 242"/>
          <p:cNvCxnSpPr>
            <a:stCxn id="206" idx="3"/>
            <a:endCxn id="223" idx="1"/>
          </p:cNvCxnSpPr>
          <p:nvPr/>
        </p:nvCxnSpPr>
        <p:spPr>
          <a:xfrm>
            <a:off x="8336650" y="4468595"/>
            <a:ext cx="163539" cy="86197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4" name="꺾인 연결선 243"/>
          <p:cNvCxnSpPr>
            <a:stCxn id="206" idx="3"/>
            <a:endCxn id="222" idx="1"/>
          </p:cNvCxnSpPr>
          <p:nvPr/>
        </p:nvCxnSpPr>
        <p:spPr>
          <a:xfrm>
            <a:off x="8336650" y="4468595"/>
            <a:ext cx="163541" cy="1888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꺾인 연결선 244"/>
          <p:cNvCxnSpPr>
            <a:stCxn id="210" idx="3"/>
            <a:endCxn id="219" idx="1"/>
          </p:cNvCxnSpPr>
          <p:nvPr/>
        </p:nvCxnSpPr>
        <p:spPr>
          <a:xfrm flipV="1">
            <a:off x="9210221" y="2953778"/>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꺾인 연결선 245"/>
          <p:cNvCxnSpPr>
            <a:stCxn id="210" idx="3"/>
            <a:endCxn id="220" idx="1"/>
          </p:cNvCxnSpPr>
          <p:nvPr/>
        </p:nvCxnSpPr>
        <p:spPr>
          <a:xfrm>
            <a:off x="9210221" y="3063383"/>
            <a:ext cx="153648" cy="7858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7" name="꺾인 연결선 246"/>
          <p:cNvCxnSpPr>
            <a:stCxn id="221" idx="3"/>
            <a:endCxn id="224" idx="1"/>
          </p:cNvCxnSpPr>
          <p:nvPr/>
        </p:nvCxnSpPr>
        <p:spPr>
          <a:xfrm flipV="1">
            <a:off x="9210221" y="4081472"/>
            <a:ext cx="153648" cy="1083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8" name="꺾인 연결선 247"/>
          <p:cNvCxnSpPr>
            <a:stCxn id="221" idx="3"/>
            <a:endCxn id="225" idx="1"/>
          </p:cNvCxnSpPr>
          <p:nvPr/>
        </p:nvCxnSpPr>
        <p:spPr>
          <a:xfrm>
            <a:off x="9210221" y="4189784"/>
            <a:ext cx="153648" cy="8226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9" name="꺾인 연결선 248"/>
          <p:cNvCxnSpPr>
            <a:stCxn id="222" idx="3"/>
            <a:endCxn id="226" idx="1"/>
          </p:cNvCxnSpPr>
          <p:nvPr/>
        </p:nvCxnSpPr>
        <p:spPr>
          <a:xfrm flipV="1">
            <a:off x="9210221" y="4453030"/>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0" name="꺾인 연결선 249"/>
          <p:cNvCxnSpPr>
            <a:stCxn id="222" idx="3"/>
            <a:endCxn id="227" idx="1"/>
          </p:cNvCxnSpPr>
          <p:nvPr/>
        </p:nvCxnSpPr>
        <p:spPr>
          <a:xfrm flipV="1">
            <a:off x="9210221" y="4649032"/>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1" name="꺾인 연결선 250"/>
          <p:cNvCxnSpPr>
            <a:stCxn id="222" idx="3"/>
            <a:endCxn id="228" idx="1"/>
          </p:cNvCxnSpPr>
          <p:nvPr/>
        </p:nvCxnSpPr>
        <p:spPr>
          <a:xfrm>
            <a:off x="9210221" y="4657467"/>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2" name="직사각형 251"/>
          <p:cNvSpPr/>
          <p:nvPr/>
        </p:nvSpPr>
        <p:spPr>
          <a:xfrm>
            <a:off x="7136327" y="2620124"/>
            <a:ext cx="420782" cy="434166"/>
          </a:xfrm>
          <a:prstGeom prst="rect">
            <a:avLst/>
          </a:prstGeom>
          <a:solidFill>
            <a:schemeClr val="accent5"/>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심판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제도</a:t>
            </a:r>
          </a:p>
        </p:txBody>
      </p:sp>
      <p:cxnSp>
        <p:nvCxnSpPr>
          <p:cNvPr id="253" name="꺾인 연결선 252"/>
          <p:cNvCxnSpPr>
            <a:stCxn id="252" idx="3"/>
            <a:endCxn id="206" idx="1"/>
          </p:cNvCxnSpPr>
          <p:nvPr/>
        </p:nvCxnSpPr>
        <p:spPr>
          <a:xfrm>
            <a:off x="7557109" y="2837207"/>
            <a:ext cx="223697" cy="163138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4" name="직사각형 253"/>
          <p:cNvSpPr/>
          <p:nvPr/>
        </p:nvSpPr>
        <p:spPr>
          <a:xfrm>
            <a:off x="8500189" y="5000342"/>
            <a:ext cx="2075729"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특허취소신청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2~132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55" name="꺾인 연결선 254"/>
          <p:cNvCxnSpPr>
            <a:stCxn id="206" idx="3"/>
            <a:endCxn id="254" idx="1"/>
          </p:cNvCxnSpPr>
          <p:nvPr/>
        </p:nvCxnSpPr>
        <p:spPr>
          <a:xfrm>
            <a:off x="8336650" y="4468595"/>
            <a:ext cx="163539" cy="6110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6" name="직사각형 255"/>
          <p:cNvSpPr/>
          <p:nvPr/>
        </p:nvSpPr>
        <p:spPr>
          <a:xfrm>
            <a:off x="9363869" y="2079620"/>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중복심판청구금지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154⑧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준용</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민소</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259)</a:t>
            </a:r>
          </a:p>
        </p:txBody>
      </p:sp>
      <p:sp>
        <p:nvSpPr>
          <p:cNvPr id="257" name="직사각형 256"/>
          <p:cNvSpPr/>
          <p:nvPr/>
        </p:nvSpPr>
        <p:spPr>
          <a:xfrm>
            <a:off x="8237008" y="5752000"/>
            <a:ext cx="420212"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PCT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258" name="직사각형 257"/>
          <p:cNvSpPr/>
          <p:nvPr/>
        </p:nvSpPr>
        <p:spPr>
          <a:xfrm>
            <a:off x="8810868" y="566042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특허출원절차</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192~198)</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59" name="직사각형 258"/>
          <p:cNvSpPr/>
          <p:nvPr/>
        </p:nvSpPr>
        <p:spPr>
          <a:xfrm>
            <a:off x="8810868" y="5856429"/>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국제조사 및 국제예비심사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198</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60" name="직사각형 259"/>
          <p:cNvSpPr/>
          <p:nvPr/>
        </p:nvSpPr>
        <p:spPr>
          <a:xfrm>
            <a:off x="8810868" y="604700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국제특허출원에 관한 특례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199~214)</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61" name="꺾인 연결선 260"/>
          <p:cNvCxnSpPr>
            <a:stCxn id="257" idx="3"/>
            <a:endCxn id="258" idx="1"/>
          </p:cNvCxnSpPr>
          <p:nvPr/>
        </p:nvCxnSpPr>
        <p:spPr>
          <a:xfrm flipV="1">
            <a:off x="8657220" y="5729706"/>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꺾인 연결선 261"/>
          <p:cNvCxnSpPr>
            <a:stCxn id="257" idx="3"/>
            <a:endCxn id="259" idx="1"/>
          </p:cNvCxnSpPr>
          <p:nvPr/>
        </p:nvCxnSpPr>
        <p:spPr>
          <a:xfrm flipV="1">
            <a:off x="8657220" y="5925708"/>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꺾인 연결선 262"/>
          <p:cNvCxnSpPr>
            <a:stCxn id="257" idx="3"/>
            <a:endCxn id="260" idx="1"/>
          </p:cNvCxnSpPr>
          <p:nvPr/>
        </p:nvCxnSpPr>
        <p:spPr>
          <a:xfrm>
            <a:off x="8657220" y="5934143"/>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꺾인 연결선 263"/>
          <p:cNvCxnSpPr>
            <a:stCxn id="273" idx="3"/>
            <a:endCxn id="295" idx="1"/>
          </p:cNvCxnSpPr>
          <p:nvPr/>
        </p:nvCxnSpPr>
        <p:spPr>
          <a:xfrm flipV="1">
            <a:off x="4278775" y="4164703"/>
            <a:ext cx="168733" cy="44072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5" name="꺾인 연결선 264"/>
          <p:cNvCxnSpPr>
            <a:stCxn id="273" idx="3"/>
            <a:endCxn id="296" idx="1"/>
          </p:cNvCxnSpPr>
          <p:nvPr/>
        </p:nvCxnSpPr>
        <p:spPr>
          <a:xfrm flipV="1">
            <a:off x="4278775" y="4328505"/>
            <a:ext cx="168733" cy="27692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6" name="직사각형 265"/>
          <p:cNvSpPr/>
          <p:nvPr/>
        </p:nvSpPr>
        <p:spPr>
          <a:xfrm>
            <a:off x="612833" y="5324052"/>
            <a:ext cx="355015"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소송</a:t>
            </a:r>
          </a:p>
        </p:txBody>
      </p:sp>
      <p:sp>
        <p:nvSpPr>
          <p:cNvPr id="267" name="직사각형 266"/>
          <p:cNvSpPr/>
          <p:nvPr/>
        </p:nvSpPr>
        <p:spPr>
          <a:xfrm>
            <a:off x="1121497" y="523247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심결취소소송</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186~189)</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68" name="직사각형 267"/>
          <p:cNvSpPr/>
          <p:nvPr/>
        </p:nvSpPr>
        <p:spPr>
          <a:xfrm>
            <a:off x="1121497" y="5428481"/>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보상금</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대가에 대한 소송</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190, 191)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69" name="직사각형 268"/>
          <p:cNvSpPr/>
          <p:nvPr/>
        </p:nvSpPr>
        <p:spPr>
          <a:xfrm>
            <a:off x="1121497" y="561905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변리사 보수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191</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70" name="꺾인 연결선 269"/>
          <p:cNvCxnSpPr>
            <a:stCxn id="266" idx="3"/>
            <a:endCxn id="267" idx="1"/>
          </p:cNvCxnSpPr>
          <p:nvPr/>
        </p:nvCxnSpPr>
        <p:spPr>
          <a:xfrm flipV="1">
            <a:off x="967848" y="5301758"/>
            <a:ext cx="153649"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1" name="꺾인 연결선 270"/>
          <p:cNvCxnSpPr>
            <a:stCxn id="266" idx="3"/>
            <a:endCxn id="268" idx="1"/>
          </p:cNvCxnSpPr>
          <p:nvPr/>
        </p:nvCxnSpPr>
        <p:spPr>
          <a:xfrm flipV="1">
            <a:off x="967848" y="5497760"/>
            <a:ext cx="153649"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2" name="꺾인 연결선 271"/>
          <p:cNvCxnSpPr>
            <a:stCxn id="266" idx="3"/>
            <a:endCxn id="269" idx="1"/>
          </p:cNvCxnSpPr>
          <p:nvPr/>
        </p:nvCxnSpPr>
        <p:spPr>
          <a:xfrm>
            <a:off x="967848" y="5506195"/>
            <a:ext cx="153649"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3" name="직사각형 272"/>
          <p:cNvSpPr/>
          <p:nvPr/>
        </p:nvSpPr>
        <p:spPr>
          <a:xfrm>
            <a:off x="3609544" y="4480740"/>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소송요건</a:t>
            </a:r>
            <a:endParaRPr kumimoji="0" lang="en-US" altLang="ko-KR" sz="10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a:t>
            </a:r>
            <a:r>
              <a:rPr kumimoji="0" lang="ko-KR" altLang="en-US" sz="7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法 </a:t>
            </a:r>
            <a:r>
              <a:rPr kumimoji="0" lang="en-US" altLang="ko-KR" sz="7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186, 187)</a:t>
            </a:r>
            <a:endParaRPr kumimoji="0" lang="ko-KR" altLang="en-US" sz="7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endParaRPr>
          </a:p>
        </p:txBody>
      </p:sp>
      <p:sp>
        <p:nvSpPr>
          <p:cNvPr id="274" name="직사각형 273"/>
          <p:cNvSpPr/>
          <p:nvPr/>
        </p:nvSpPr>
        <p:spPr>
          <a:xfrm>
            <a:off x="3609544" y="5109654"/>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소송제기</a:t>
            </a:r>
          </a:p>
        </p:txBody>
      </p:sp>
      <p:sp>
        <p:nvSpPr>
          <p:cNvPr id="275" name="직사각형 274"/>
          <p:cNvSpPr/>
          <p:nvPr/>
        </p:nvSpPr>
        <p:spPr>
          <a:xfrm>
            <a:off x="3609544" y="5640678"/>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소송심리</a:t>
            </a:r>
          </a:p>
        </p:txBody>
      </p:sp>
      <p:sp>
        <p:nvSpPr>
          <p:cNvPr id="276" name="직사각형 275"/>
          <p:cNvSpPr/>
          <p:nvPr/>
        </p:nvSpPr>
        <p:spPr>
          <a:xfrm>
            <a:off x="3609544" y="6249551"/>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소송종료</a:t>
            </a:r>
          </a:p>
        </p:txBody>
      </p:sp>
      <p:cxnSp>
        <p:nvCxnSpPr>
          <p:cNvPr id="277" name="꺾인 연결선 276"/>
          <p:cNvCxnSpPr>
            <a:stCxn id="267" idx="3"/>
            <a:endCxn id="273" idx="1"/>
          </p:cNvCxnSpPr>
          <p:nvPr/>
        </p:nvCxnSpPr>
        <p:spPr>
          <a:xfrm flipV="1">
            <a:off x="3454709" y="4605428"/>
            <a:ext cx="154835" cy="696330"/>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꺾인 연결선 277"/>
          <p:cNvCxnSpPr>
            <a:stCxn id="267" idx="3"/>
            <a:endCxn id="276" idx="1"/>
          </p:cNvCxnSpPr>
          <p:nvPr/>
        </p:nvCxnSpPr>
        <p:spPr>
          <a:xfrm>
            <a:off x="3454709" y="5301758"/>
            <a:ext cx="154835" cy="1072481"/>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꺾인 연결선 278"/>
          <p:cNvCxnSpPr>
            <a:stCxn id="267" idx="3"/>
            <a:endCxn id="274" idx="1"/>
          </p:cNvCxnSpPr>
          <p:nvPr/>
        </p:nvCxnSpPr>
        <p:spPr>
          <a:xfrm flipV="1">
            <a:off x="3454709" y="5234342"/>
            <a:ext cx="154835" cy="6741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꺾인 연결선 279"/>
          <p:cNvCxnSpPr>
            <a:stCxn id="267" idx="3"/>
            <a:endCxn id="275" idx="1"/>
          </p:cNvCxnSpPr>
          <p:nvPr/>
        </p:nvCxnSpPr>
        <p:spPr>
          <a:xfrm>
            <a:off x="3454709" y="5301758"/>
            <a:ext cx="154835" cy="46360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꺾인 연결선 280"/>
          <p:cNvCxnSpPr>
            <a:stCxn id="273" idx="3"/>
            <a:endCxn id="297" idx="1"/>
          </p:cNvCxnSpPr>
          <p:nvPr/>
        </p:nvCxnSpPr>
        <p:spPr>
          <a:xfrm flipV="1">
            <a:off x="4278775" y="4489475"/>
            <a:ext cx="168733" cy="1159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꺾인 연결선 281"/>
          <p:cNvCxnSpPr>
            <a:stCxn id="274" idx="3"/>
            <a:endCxn id="298" idx="1"/>
          </p:cNvCxnSpPr>
          <p:nvPr/>
        </p:nvCxnSpPr>
        <p:spPr>
          <a:xfrm flipV="1">
            <a:off x="4278775" y="5070329"/>
            <a:ext cx="168733" cy="16401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꺾인 연결선 282"/>
          <p:cNvCxnSpPr>
            <a:stCxn id="274" idx="3"/>
            <a:endCxn id="299" idx="1"/>
          </p:cNvCxnSpPr>
          <p:nvPr/>
        </p:nvCxnSpPr>
        <p:spPr>
          <a:xfrm flipV="1">
            <a:off x="4278775" y="5234131"/>
            <a:ext cx="168733" cy="2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4" name="꺾인 연결선 283"/>
          <p:cNvCxnSpPr>
            <a:stCxn id="275" idx="3"/>
            <a:endCxn id="300" idx="1"/>
          </p:cNvCxnSpPr>
          <p:nvPr/>
        </p:nvCxnSpPr>
        <p:spPr>
          <a:xfrm flipV="1">
            <a:off x="4278775" y="5762383"/>
            <a:ext cx="168733" cy="298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5" name="꺾인 연결선 284"/>
          <p:cNvCxnSpPr>
            <a:cxnSpLocks/>
            <a:stCxn id="275" idx="3"/>
            <a:endCxn id="301" idx="1"/>
          </p:cNvCxnSpPr>
          <p:nvPr/>
        </p:nvCxnSpPr>
        <p:spPr>
          <a:xfrm>
            <a:off x="4278775" y="5765366"/>
            <a:ext cx="168733" cy="2485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6" name="꺾인 연결선 285"/>
          <p:cNvCxnSpPr>
            <a:stCxn id="276" idx="3"/>
            <a:endCxn id="302" idx="1"/>
          </p:cNvCxnSpPr>
          <p:nvPr/>
        </p:nvCxnSpPr>
        <p:spPr>
          <a:xfrm flipV="1">
            <a:off x="4278775" y="6284664"/>
            <a:ext cx="168733" cy="895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7" name="꺾인 연결선 286"/>
          <p:cNvCxnSpPr>
            <a:cxnSpLocks/>
            <a:stCxn id="276" idx="3"/>
            <a:endCxn id="303" idx="1"/>
          </p:cNvCxnSpPr>
          <p:nvPr/>
        </p:nvCxnSpPr>
        <p:spPr>
          <a:xfrm>
            <a:off x="4278775" y="6374239"/>
            <a:ext cx="168733" cy="1744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9" name="직사각형 288"/>
          <p:cNvSpPr/>
          <p:nvPr/>
        </p:nvSpPr>
        <p:spPr>
          <a:xfrm>
            <a:off x="5954614" y="5228714"/>
            <a:ext cx="1396961" cy="32899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변론주의 원칙</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직권주의 가미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90" name="직사각형 289"/>
          <p:cNvSpPr/>
          <p:nvPr/>
        </p:nvSpPr>
        <p:spPr>
          <a:xfrm>
            <a:off x="5954614" y="5591097"/>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위법판단의 기준시점</a:t>
            </a:r>
          </a:p>
        </p:txBody>
      </p:sp>
      <p:sp>
        <p:nvSpPr>
          <p:cNvPr id="291" name="직사각형 290"/>
          <p:cNvSpPr/>
          <p:nvPr/>
        </p:nvSpPr>
        <p:spPr>
          <a:xfrm>
            <a:off x="5954614" y="575324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심리범위</a:t>
            </a:r>
          </a:p>
        </p:txBody>
      </p:sp>
      <p:sp>
        <p:nvSpPr>
          <p:cNvPr id="292" name="직사각형 291"/>
          <p:cNvSpPr/>
          <p:nvPr/>
        </p:nvSpPr>
        <p:spPr>
          <a:xfrm>
            <a:off x="5954614" y="591100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주장증명책임</a:t>
            </a:r>
          </a:p>
        </p:txBody>
      </p:sp>
      <p:sp>
        <p:nvSpPr>
          <p:cNvPr id="293" name="직사각형 292"/>
          <p:cNvSpPr/>
          <p:nvPr/>
        </p:nvSpPr>
        <p:spPr>
          <a:xfrm>
            <a:off x="5954614" y="6071372"/>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자백</a:t>
            </a:r>
          </a:p>
        </p:txBody>
      </p:sp>
      <p:sp>
        <p:nvSpPr>
          <p:cNvPr id="295" name="직사각형 294"/>
          <p:cNvSpPr/>
          <p:nvPr/>
        </p:nvSpPr>
        <p:spPr>
          <a:xfrm>
            <a:off x="4447508" y="410052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소송물</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96" name="직사각형 295"/>
          <p:cNvSpPr/>
          <p:nvPr/>
        </p:nvSpPr>
        <p:spPr>
          <a:xfrm>
            <a:off x="4447508" y="426432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소의 이익</a:t>
            </a:r>
          </a:p>
        </p:txBody>
      </p:sp>
      <p:sp>
        <p:nvSpPr>
          <p:cNvPr id="297" name="직사각형 296"/>
          <p:cNvSpPr/>
          <p:nvPr/>
        </p:nvSpPr>
        <p:spPr>
          <a:xfrm>
            <a:off x="4447508" y="442529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관할</a:t>
            </a:r>
          </a:p>
        </p:txBody>
      </p:sp>
      <p:sp>
        <p:nvSpPr>
          <p:cNvPr id="298" name="직사각형 297"/>
          <p:cNvSpPr/>
          <p:nvPr/>
        </p:nvSpPr>
        <p:spPr>
          <a:xfrm>
            <a:off x="4447508" y="5006153"/>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소장의 제출</a:t>
            </a:r>
          </a:p>
        </p:txBody>
      </p:sp>
      <p:sp>
        <p:nvSpPr>
          <p:cNvPr id="299" name="직사각형 298"/>
          <p:cNvSpPr/>
          <p:nvPr/>
        </p:nvSpPr>
        <p:spPr>
          <a:xfrm>
            <a:off x="4447508" y="516995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심판원장에게 통지</a:t>
            </a:r>
            <a:r>
              <a:rPr kumimoji="0" lang="en-US" altLang="ko-KR" sz="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6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600" b="0" i="0" u="none" strike="noStrike" kern="1200" cap="none" spc="0" normalizeH="0" baseline="0" noProof="0" dirty="0">
                <a:ln>
                  <a:noFill/>
                </a:ln>
                <a:solidFill>
                  <a:prstClr val="black"/>
                </a:solidFill>
                <a:effectLst/>
                <a:uLnTx/>
                <a:uFillTx/>
                <a:latin typeface="Frutiger LT 65 Bold"/>
                <a:ea typeface="Rix모던고딕 B"/>
                <a:cs typeface="+mn-cs"/>
              </a:rPr>
              <a:t>188)</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0" name="직사각형 299"/>
          <p:cNvSpPr/>
          <p:nvPr/>
        </p:nvSpPr>
        <p:spPr>
          <a:xfrm>
            <a:off x="4447508" y="569820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본안심리</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1" name="직사각형 300"/>
          <p:cNvSpPr/>
          <p:nvPr/>
        </p:nvSpPr>
        <p:spPr>
          <a:xfrm>
            <a:off x="4447508" y="5859952"/>
            <a:ext cx="1380067" cy="30802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기술심리관의 관여</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8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188</a:t>
            </a:r>
            <a:r>
              <a:rPr kumimoji="0" lang="ko-KR" altLang="en-US" sz="8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2" name="직사각형 301"/>
          <p:cNvSpPr/>
          <p:nvPr/>
        </p:nvSpPr>
        <p:spPr>
          <a:xfrm>
            <a:off x="4447508" y="622048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당사자에 의한 종결</a:t>
            </a:r>
          </a:p>
        </p:txBody>
      </p:sp>
      <p:sp>
        <p:nvSpPr>
          <p:cNvPr id="303" name="직사각형 302"/>
          <p:cNvSpPr/>
          <p:nvPr/>
        </p:nvSpPr>
        <p:spPr>
          <a:xfrm>
            <a:off x="4447508" y="6382234"/>
            <a:ext cx="1380067" cy="33289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종국판결에 의한 종결</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8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189)</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4" name="직사각형 303"/>
          <p:cNvSpPr/>
          <p:nvPr/>
        </p:nvSpPr>
        <p:spPr>
          <a:xfrm>
            <a:off x="4447508" y="459403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당사자</a:t>
            </a:r>
          </a:p>
        </p:txBody>
      </p:sp>
      <p:sp>
        <p:nvSpPr>
          <p:cNvPr id="305" name="직사각형 304"/>
          <p:cNvSpPr/>
          <p:nvPr/>
        </p:nvSpPr>
        <p:spPr>
          <a:xfrm>
            <a:off x="4447508" y="554183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소송요건의 심리</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6" name="직사각형 305"/>
          <p:cNvSpPr/>
          <p:nvPr/>
        </p:nvSpPr>
        <p:spPr>
          <a:xfrm>
            <a:off x="4447508" y="5338441"/>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소장의 심사</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7" name="직사각형 306"/>
          <p:cNvSpPr/>
          <p:nvPr/>
        </p:nvSpPr>
        <p:spPr>
          <a:xfrm>
            <a:off x="4447508" y="476412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제소기간</a:t>
            </a:r>
          </a:p>
        </p:txBody>
      </p:sp>
      <p:cxnSp>
        <p:nvCxnSpPr>
          <p:cNvPr id="309" name="꺾인 연결선 308"/>
          <p:cNvCxnSpPr>
            <a:stCxn id="273" idx="3"/>
            <a:endCxn id="304" idx="1"/>
          </p:cNvCxnSpPr>
          <p:nvPr/>
        </p:nvCxnSpPr>
        <p:spPr>
          <a:xfrm>
            <a:off x="4278775" y="4605428"/>
            <a:ext cx="168733" cy="527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0" name="꺾인 연결선 309"/>
          <p:cNvCxnSpPr>
            <a:stCxn id="273" idx="3"/>
            <a:endCxn id="307" idx="1"/>
          </p:cNvCxnSpPr>
          <p:nvPr/>
        </p:nvCxnSpPr>
        <p:spPr>
          <a:xfrm>
            <a:off x="4278775" y="4605428"/>
            <a:ext cx="168733" cy="2228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꺾인 연결선 310"/>
          <p:cNvCxnSpPr>
            <a:stCxn id="274" idx="3"/>
            <a:endCxn id="306" idx="1"/>
          </p:cNvCxnSpPr>
          <p:nvPr/>
        </p:nvCxnSpPr>
        <p:spPr>
          <a:xfrm>
            <a:off x="4278775" y="5234342"/>
            <a:ext cx="168733" cy="1682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꺾인 연결선 311"/>
          <p:cNvCxnSpPr>
            <a:stCxn id="275" idx="3"/>
            <a:endCxn id="305" idx="1"/>
          </p:cNvCxnSpPr>
          <p:nvPr/>
        </p:nvCxnSpPr>
        <p:spPr>
          <a:xfrm flipV="1">
            <a:off x="4278775" y="5606011"/>
            <a:ext cx="168733" cy="15935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꺾인 연결선 312"/>
          <p:cNvCxnSpPr>
            <a:stCxn id="300" idx="3"/>
            <a:endCxn id="289" idx="1"/>
          </p:cNvCxnSpPr>
          <p:nvPr/>
        </p:nvCxnSpPr>
        <p:spPr>
          <a:xfrm flipV="1">
            <a:off x="5827575" y="5393209"/>
            <a:ext cx="127039" cy="36917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꺾인 연결선 313"/>
          <p:cNvCxnSpPr>
            <a:stCxn id="300" idx="3"/>
            <a:endCxn id="290" idx="1"/>
          </p:cNvCxnSpPr>
          <p:nvPr/>
        </p:nvCxnSpPr>
        <p:spPr>
          <a:xfrm flipV="1">
            <a:off x="5827575" y="5655273"/>
            <a:ext cx="127039" cy="1071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꺾인 연결선 314"/>
          <p:cNvCxnSpPr>
            <a:stCxn id="300" idx="3"/>
            <a:endCxn id="291" idx="1"/>
          </p:cNvCxnSpPr>
          <p:nvPr/>
        </p:nvCxnSpPr>
        <p:spPr>
          <a:xfrm>
            <a:off x="5827575" y="5762383"/>
            <a:ext cx="127039" cy="5503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6" name="꺾인 연결선 315"/>
          <p:cNvCxnSpPr>
            <a:stCxn id="300" idx="3"/>
            <a:endCxn id="292" idx="1"/>
          </p:cNvCxnSpPr>
          <p:nvPr/>
        </p:nvCxnSpPr>
        <p:spPr>
          <a:xfrm>
            <a:off x="5827575" y="5762383"/>
            <a:ext cx="127039" cy="21279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꺾인 연결선 316"/>
          <p:cNvCxnSpPr>
            <a:endCxn id="293" idx="1"/>
          </p:cNvCxnSpPr>
          <p:nvPr/>
        </p:nvCxnSpPr>
        <p:spPr>
          <a:xfrm rot="16200000" flipH="1">
            <a:off x="5802218" y="5983152"/>
            <a:ext cx="293982" cy="10810"/>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8" name="직사각형 317"/>
          <p:cNvSpPr/>
          <p:nvPr/>
        </p:nvSpPr>
        <p:spPr>
          <a:xfrm>
            <a:off x="6103431" y="3574465"/>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특허법</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체계도</a:t>
            </a:r>
          </a:p>
        </p:txBody>
      </p:sp>
      <p:sp>
        <p:nvSpPr>
          <p:cNvPr id="319" name="타원 318"/>
          <p:cNvSpPr/>
          <p:nvPr/>
        </p:nvSpPr>
        <p:spPr>
          <a:xfrm>
            <a:off x="322118" y="268689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5</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20" name="타원 319"/>
          <p:cNvSpPr/>
          <p:nvPr/>
        </p:nvSpPr>
        <p:spPr>
          <a:xfrm>
            <a:off x="262164" y="5316045"/>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7</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21" name="타원 320"/>
          <p:cNvSpPr/>
          <p:nvPr/>
        </p:nvSpPr>
        <p:spPr>
          <a:xfrm>
            <a:off x="7873581" y="5757616"/>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8</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22" name="타원 321"/>
          <p:cNvSpPr/>
          <p:nvPr/>
        </p:nvSpPr>
        <p:spPr>
          <a:xfrm>
            <a:off x="6772900" y="266696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6</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23" name="자유형 322"/>
          <p:cNvSpPr/>
          <p:nvPr/>
        </p:nvSpPr>
        <p:spPr>
          <a:xfrm>
            <a:off x="523875" y="3059642"/>
            <a:ext cx="5571067" cy="1845733"/>
          </a:xfrm>
          <a:custGeom>
            <a:avLst/>
            <a:gdLst>
              <a:gd name="connsiteX0" fmla="*/ 5571067 w 5571067"/>
              <a:gd name="connsiteY0" fmla="*/ 872066 h 1845733"/>
              <a:gd name="connsiteX1" fmla="*/ 3708400 w 5571067"/>
              <a:gd name="connsiteY1" fmla="*/ 872066 h 1845733"/>
              <a:gd name="connsiteX2" fmla="*/ 3708400 w 5571067"/>
              <a:gd name="connsiteY2" fmla="*/ 1244600 h 1845733"/>
              <a:gd name="connsiteX3" fmla="*/ 2853267 w 5571067"/>
              <a:gd name="connsiteY3" fmla="*/ 1244600 h 1845733"/>
              <a:gd name="connsiteX4" fmla="*/ 2853267 w 5571067"/>
              <a:gd name="connsiteY4" fmla="*/ 1845733 h 1845733"/>
              <a:gd name="connsiteX5" fmla="*/ 0 w 5571067"/>
              <a:gd name="connsiteY5" fmla="*/ 1845733 h 1845733"/>
              <a:gd name="connsiteX6" fmla="*/ 0 w 5571067"/>
              <a:gd name="connsiteY6" fmla="*/ 0 h 184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1067" h="1845733">
                <a:moveTo>
                  <a:pt x="5571067" y="872066"/>
                </a:moveTo>
                <a:lnTo>
                  <a:pt x="3708400" y="872066"/>
                </a:lnTo>
                <a:lnTo>
                  <a:pt x="3708400" y="1244600"/>
                </a:lnTo>
                <a:lnTo>
                  <a:pt x="2853267" y="1244600"/>
                </a:lnTo>
                <a:lnTo>
                  <a:pt x="2853267" y="1845733"/>
                </a:lnTo>
                <a:lnTo>
                  <a:pt x="0" y="1845733"/>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324" name="자유형 323"/>
          <p:cNvSpPr/>
          <p:nvPr/>
        </p:nvSpPr>
        <p:spPr>
          <a:xfrm>
            <a:off x="422275" y="4905375"/>
            <a:ext cx="84667" cy="397933"/>
          </a:xfrm>
          <a:custGeom>
            <a:avLst/>
            <a:gdLst>
              <a:gd name="connsiteX0" fmla="*/ 84667 w 84667"/>
              <a:gd name="connsiteY0" fmla="*/ 0 h 397933"/>
              <a:gd name="connsiteX1" fmla="*/ 0 w 84667"/>
              <a:gd name="connsiteY1" fmla="*/ 0 h 397933"/>
              <a:gd name="connsiteX2" fmla="*/ 0 w 84667"/>
              <a:gd name="connsiteY2" fmla="*/ 397933 h 397933"/>
            </a:gdLst>
            <a:ahLst/>
            <a:cxnLst>
              <a:cxn ang="0">
                <a:pos x="connsiteX0" y="connsiteY0"/>
              </a:cxn>
              <a:cxn ang="0">
                <a:pos x="connsiteX1" y="connsiteY1"/>
              </a:cxn>
              <a:cxn ang="0">
                <a:pos x="connsiteX2" y="connsiteY2"/>
              </a:cxn>
            </a:cxnLst>
            <a:rect l="l" t="t" r="r" b="b"/>
            <a:pathLst>
              <a:path w="84667" h="397933">
                <a:moveTo>
                  <a:pt x="84667" y="0"/>
                </a:moveTo>
                <a:lnTo>
                  <a:pt x="0" y="0"/>
                </a:lnTo>
                <a:lnTo>
                  <a:pt x="0" y="397933"/>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325" name="자유형 324"/>
          <p:cNvSpPr/>
          <p:nvPr/>
        </p:nvSpPr>
        <p:spPr>
          <a:xfrm>
            <a:off x="6569075" y="2839508"/>
            <a:ext cx="186267" cy="745067"/>
          </a:xfrm>
          <a:custGeom>
            <a:avLst/>
            <a:gdLst>
              <a:gd name="connsiteX0" fmla="*/ 0 w 186267"/>
              <a:gd name="connsiteY0" fmla="*/ 745067 h 745067"/>
              <a:gd name="connsiteX1" fmla="*/ 0 w 186267"/>
              <a:gd name="connsiteY1" fmla="*/ 745067 h 745067"/>
              <a:gd name="connsiteX2" fmla="*/ 0 w 186267"/>
              <a:gd name="connsiteY2" fmla="*/ 0 h 745067"/>
              <a:gd name="connsiteX3" fmla="*/ 186267 w 186267"/>
              <a:gd name="connsiteY3" fmla="*/ 0 h 745067"/>
            </a:gdLst>
            <a:ahLst/>
            <a:cxnLst>
              <a:cxn ang="0">
                <a:pos x="connsiteX0" y="connsiteY0"/>
              </a:cxn>
              <a:cxn ang="0">
                <a:pos x="connsiteX1" y="connsiteY1"/>
              </a:cxn>
              <a:cxn ang="0">
                <a:pos x="connsiteX2" y="connsiteY2"/>
              </a:cxn>
              <a:cxn ang="0">
                <a:pos x="connsiteX3" y="connsiteY3"/>
              </a:cxn>
            </a:cxnLst>
            <a:rect l="l" t="t" r="r" b="b"/>
            <a:pathLst>
              <a:path w="186267" h="745067">
                <a:moveTo>
                  <a:pt x="0" y="745067"/>
                </a:moveTo>
                <a:lnTo>
                  <a:pt x="0" y="745067"/>
                </a:lnTo>
                <a:lnTo>
                  <a:pt x="0" y="0"/>
                </a:lnTo>
                <a:lnTo>
                  <a:pt x="186267"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326" name="자유형 325"/>
          <p:cNvSpPr/>
          <p:nvPr/>
        </p:nvSpPr>
        <p:spPr>
          <a:xfrm>
            <a:off x="6577542" y="4498975"/>
            <a:ext cx="1498600" cy="1244600"/>
          </a:xfrm>
          <a:custGeom>
            <a:avLst/>
            <a:gdLst>
              <a:gd name="connsiteX0" fmla="*/ 0 w 1498600"/>
              <a:gd name="connsiteY0" fmla="*/ 0 h 1244600"/>
              <a:gd name="connsiteX1" fmla="*/ 0 w 1498600"/>
              <a:gd name="connsiteY1" fmla="*/ 423333 h 1244600"/>
              <a:gd name="connsiteX2" fmla="*/ 1498600 w 1498600"/>
              <a:gd name="connsiteY2" fmla="*/ 423333 h 1244600"/>
              <a:gd name="connsiteX3" fmla="*/ 1498600 w 1498600"/>
              <a:gd name="connsiteY3" fmla="*/ 1244600 h 1244600"/>
            </a:gdLst>
            <a:ahLst/>
            <a:cxnLst>
              <a:cxn ang="0">
                <a:pos x="connsiteX0" y="connsiteY0"/>
              </a:cxn>
              <a:cxn ang="0">
                <a:pos x="connsiteX1" y="connsiteY1"/>
              </a:cxn>
              <a:cxn ang="0">
                <a:pos x="connsiteX2" y="connsiteY2"/>
              </a:cxn>
              <a:cxn ang="0">
                <a:pos x="connsiteX3" y="connsiteY3"/>
              </a:cxn>
            </a:cxnLst>
            <a:rect l="l" t="t" r="r" b="b"/>
            <a:pathLst>
              <a:path w="1498600" h="1244600">
                <a:moveTo>
                  <a:pt x="0" y="0"/>
                </a:moveTo>
                <a:lnTo>
                  <a:pt x="0" y="423333"/>
                </a:lnTo>
                <a:lnTo>
                  <a:pt x="1498600" y="423333"/>
                </a:lnTo>
                <a:lnTo>
                  <a:pt x="1498600" y="12446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294" name="직사각형 293">
            <a:extLst>
              <a:ext uri="{FF2B5EF4-FFF2-40B4-BE49-F238E27FC236}">
                <a16:creationId xmlns:a16="http://schemas.microsoft.com/office/drawing/2014/main" id="{9B6DE0DF-BFFF-497F-9FD1-C58A8CA97621}"/>
              </a:ext>
            </a:extLst>
          </p:cNvPr>
          <p:cNvSpPr/>
          <p:nvPr/>
        </p:nvSpPr>
        <p:spPr>
          <a:xfrm>
            <a:off x="8500191" y="3384273"/>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관련</a:t>
            </a:r>
          </a:p>
        </p:txBody>
      </p:sp>
      <p:sp>
        <p:nvSpPr>
          <p:cNvPr id="327" name="직사각형 326">
            <a:extLst>
              <a:ext uri="{FF2B5EF4-FFF2-40B4-BE49-F238E27FC236}">
                <a16:creationId xmlns:a16="http://schemas.microsoft.com/office/drawing/2014/main" id="{A6BC253F-D9C4-4A98-984C-D8D62D28E8E9}"/>
              </a:ext>
            </a:extLst>
          </p:cNvPr>
          <p:cNvSpPr/>
          <p:nvPr/>
        </p:nvSpPr>
        <p:spPr>
          <a:xfrm>
            <a:off x="9363869" y="3290897"/>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타절차와의 관계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164)</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28" name="직사각형 327">
            <a:extLst>
              <a:ext uri="{FF2B5EF4-FFF2-40B4-BE49-F238E27FC236}">
                <a16:creationId xmlns:a16="http://schemas.microsoft.com/office/drawing/2014/main" id="{855EA2A3-2862-42AE-AC8B-FB8E8761530B}"/>
              </a:ext>
            </a:extLst>
          </p:cNvPr>
          <p:cNvSpPr/>
          <p:nvPr/>
        </p:nvSpPr>
        <p:spPr>
          <a:xfrm>
            <a:off x="9363869" y="372062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심판비용</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165, 166)</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329" name="꺾인 연결선 244">
            <a:extLst>
              <a:ext uri="{FF2B5EF4-FFF2-40B4-BE49-F238E27FC236}">
                <a16:creationId xmlns:a16="http://schemas.microsoft.com/office/drawing/2014/main" id="{A54F89B3-B4E9-4E0A-BB23-C1DB0F7A25D8}"/>
              </a:ext>
            </a:extLst>
          </p:cNvPr>
          <p:cNvCxnSpPr>
            <a:cxnSpLocks/>
            <a:stCxn id="294" idx="3"/>
            <a:endCxn id="308" idx="1"/>
          </p:cNvCxnSpPr>
          <p:nvPr/>
        </p:nvCxnSpPr>
        <p:spPr>
          <a:xfrm>
            <a:off x="9210221" y="3469781"/>
            <a:ext cx="151225" cy="1077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0" name="꺾인 연결선 245">
            <a:extLst>
              <a:ext uri="{FF2B5EF4-FFF2-40B4-BE49-F238E27FC236}">
                <a16:creationId xmlns:a16="http://schemas.microsoft.com/office/drawing/2014/main" id="{48543D6B-7C92-4D3D-B213-6D84DC780C17}"/>
              </a:ext>
            </a:extLst>
          </p:cNvPr>
          <p:cNvCxnSpPr>
            <a:cxnSpLocks/>
            <a:stCxn id="294" idx="3"/>
            <a:endCxn id="328" idx="1"/>
          </p:cNvCxnSpPr>
          <p:nvPr/>
        </p:nvCxnSpPr>
        <p:spPr>
          <a:xfrm>
            <a:off x="9210221" y="3469781"/>
            <a:ext cx="153648" cy="32012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연결선: 꺾임 6">
            <a:extLst>
              <a:ext uri="{FF2B5EF4-FFF2-40B4-BE49-F238E27FC236}">
                <a16:creationId xmlns:a16="http://schemas.microsoft.com/office/drawing/2014/main" id="{B370871F-6F80-4244-8543-0634A44D09BD}"/>
              </a:ext>
            </a:extLst>
          </p:cNvPr>
          <p:cNvCxnSpPr>
            <a:stCxn id="205" idx="3"/>
            <a:endCxn id="294" idx="1"/>
          </p:cNvCxnSpPr>
          <p:nvPr/>
        </p:nvCxnSpPr>
        <p:spPr>
          <a:xfrm>
            <a:off x="8336650" y="2489931"/>
            <a:ext cx="163541" cy="9798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8" name="직사각형 287">
            <a:extLst>
              <a:ext uri="{FF2B5EF4-FFF2-40B4-BE49-F238E27FC236}">
                <a16:creationId xmlns:a16="http://schemas.microsoft.com/office/drawing/2014/main" id="{CCF75EB5-ACDA-45AD-A3D7-EAD9647556E3}"/>
              </a:ext>
            </a:extLst>
          </p:cNvPr>
          <p:cNvSpPr/>
          <p:nvPr/>
        </p:nvSpPr>
        <p:spPr>
          <a:xfrm>
            <a:off x="9358843" y="1365202"/>
            <a:ext cx="2333212" cy="288480"/>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국선대리인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전문심리위원 및 참고인</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139</a:t>
            </a:r>
            <a:r>
              <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2, 154</a:t>
            </a:r>
            <a:r>
              <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2, 154</a:t>
            </a:r>
            <a:r>
              <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3)</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8" name="직사각형 307">
            <a:extLst>
              <a:ext uri="{FF2B5EF4-FFF2-40B4-BE49-F238E27FC236}">
                <a16:creationId xmlns:a16="http://schemas.microsoft.com/office/drawing/2014/main" id="{FBCE5317-4D8A-4C1C-92B6-ECD14431C289}"/>
              </a:ext>
            </a:extLst>
          </p:cNvPr>
          <p:cNvSpPr/>
          <p:nvPr/>
        </p:nvSpPr>
        <p:spPr>
          <a:xfrm>
            <a:off x="9361446" y="3486404"/>
            <a:ext cx="2330609" cy="182239"/>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조정위원회 회부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164</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331" name="꺾인 연결선 245">
            <a:extLst>
              <a:ext uri="{FF2B5EF4-FFF2-40B4-BE49-F238E27FC236}">
                <a16:creationId xmlns:a16="http://schemas.microsoft.com/office/drawing/2014/main" id="{8272E89B-C399-461C-82CA-028F1E621707}"/>
              </a:ext>
            </a:extLst>
          </p:cNvPr>
          <p:cNvCxnSpPr>
            <a:cxnSpLocks/>
            <a:stCxn id="294" idx="3"/>
            <a:endCxn id="327" idx="1"/>
          </p:cNvCxnSpPr>
          <p:nvPr/>
        </p:nvCxnSpPr>
        <p:spPr>
          <a:xfrm flipV="1">
            <a:off x="9210221" y="3360176"/>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717170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lstStyle/>
          <a:p>
            <a:r>
              <a:rPr lang="ko-KR" altLang="en-US" dirty="0"/>
              <a:t>거절이유</a:t>
            </a:r>
          </a:p>
        </p:txBody>
      </p:sp>
      <p:cxnSp>
        <p:nvCxnSpPr>
          <p:cNvPr id="24" name="직선 연결선 23"/>
          <p:cNvCxnSpPr/>
          <p:nvPr/>
        </p:nvCxnSpPr>
        <p:spPr>
          <a:xfrm>
            <a:off x="224116" y="2280232"/>
            <a:ext cx="452568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직사각형 24"/>
          <p:cNvSpPr/>
          <p:nvPr/>
        </p:nvSpPr>
        <p:spPr>
          <a:xfrm>
            <a:off x="353503" y="2063783"/>
            <a:ext cx="1143434" cy="4328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특허출원</a:t>
            </a:r>
          </a:p>
        </p:txBody>
      </p:sp>
      <p:sp>
        <p:nvSpPr>
          <p:cNvPr id="27" name="직사각형 26"/>
          <p:cNvSpPr/>
          <p:nvPr/>
        </p:nvSpPr>
        <p:spPr>
          <a:xfrm>
            <a:off x="1818175" y="2063783"/>
            <a:ext cx="1143434" cy="432898"/>
          </a:xfrm>
          <a:prstGeom prst="rect">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심사청구</a:t>
            </a:r>
          </a:p>
        </p:txBody>
      </p:sp>
      <p:sp>
        <p:nvSpPr>
          <p:cNvPr id="28" name="직사각형 27"/>
          <p:cNvSpPr/>
          <p:nvPr/>
        </p:nvSpPr>
        <p:spPr>
          <a:xfrm>
            <a:off x="3262486" y="2063783"/>
            <a:ext cx="1143434" cy="432898"/>
          </a:xfrm>
          <a:prstGeom prst="rect">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white"/>
                </a:solidFill>
                <a:effectLst/>
                <a:uLnTx/>
                <a:uFillTx/>
                <a:latin typeface="Frutiger LT 65 Bold"/>
                <a:ea typeface="Rix모던고딕 B"/>
                <a:cs typeface="+mn-cs"/>
              </a:rPr>
              <a:t>실체심사</a:t>
            </a:r>
            <a:endPar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11" name="꺾인 연결선 10"/>
          <p:cNvCxnSpPr>
            <a:stCxn id="25" idx="0"/>
          </p:cNvCxnSpPr>
          <p:nvPr/>
        </p:nvCxnSpPr>
        <p:spPr>
          <a:xfrm rot="16200000" flipH="1">
            <a:off x="1969631" y="1019372"/>
            <a:ext cx="114642" cy="2203465"/>
          </a:xfrm>
          <a:prstGeom prst="bentConnector4">
            <a:avLst>
              <a:gd name="adj1" fmla="val -199403"/>
              <a:gd name="adj2" fmla="val 100057"/>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1756136" y="1562418"/>
            <a:ext cx="697504" cy="27699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년</a:t>
            </a:r>
          </a:p>
        </p:txBody>
      </p:sp>
      <p:cxnSp>
        <p:nvCxnSpPr>
          <p:cNvPr id="54" name="꺾인 연결선 53"/>
          <p:cNvCxnSpPr>
            <a:stCxn id="27" idx="2"/>
            <a:endCxn id="28" idx="2"/>
          </p:cNvCxnSpPr>
          <p:nvPr/>
        </p:nvCxnSpPr>
        <p:spPr>
          <a:xfrm rot="16200000" flipH="1">
            <a:off x="3112047" y="1774525"/>
            <a:ext cx="12700" cy="1444311"/>
          </a:xfrm>
          <a:prstGeom prst="bentConnector3">
            <a:avLst>
              <a:gd name="adj1" fmla="val 1800000"/>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2539598" y="2726392"/>
            <a:ext cx="1157598" cy="27699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Frutiger LT 65 Bold"/>
                <a:ea typeface="Rix모던고딕 B"/>
                <a:cs typeface="+mn-cs"/>
              </a:rPr>
              <a:t>심사청구순서</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7" name="직사각형 56"/>
          <p:cNvSpPr/>
          <p:nvPr/>
        </p:nvSpPr>
        <p:spPr>
          <a:xfrm>
            <a:off x="943336" y="4115549"/>
            <a:ext cx="633756" cy="3302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주체</a:t>
            </a:r>
          </a:p>
        </p:txBody>
      </p:sp>
      <p:sp>
        <p:nvSpPr>
          <p:cNvPr id="58" name="직사각형 57"/>
          <p:cNvSpPr/>
          <p:nvPr/>
        </p:nvSpPr>
        <p:spPr>
          <a:xfrm>
            <a:off x="943336" y="4520453"/>
            <a:ext cx="633756" cy="5384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객체</a:t>
            </a:r>
          </a:p>
        </p:txBody>
      </p:sp>
      <p:sp>
        <p:nvSpPr>
          <p:cNvPr id="59" name="직사각형 58"/>
          <p:cNvSpPr/>
          <p:nvPr/>
        </p:nvSpPr>
        <p:spPr>
          <a:xfrm>
            <a:off x="943336" y="5133783"/>
            <a:ext cx="633756" cy="107775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방법</a:t>
            </a:r>
          </a:p>
        </p:txBody>
      </p:sp>
      <p:cxnSp>
        <p:nvCxnSpPr>
          <p:cNvPr id="61" name="꺾인 연결선 60"/>
          <p:cNvCxnSpPr>
            <a:stCxn id="57" idx="1"/>
            <a:endCxn id="59" idx="1"/>
          </p:cNvCxnSpPr>
          <p:nvPr/>
        </p:nvCxnSpPr>
        <p:spPr>
          <a:xfrm rot="10800000" flipV="1">
            <a:off x="943336" y="4280649"/>
            <a:ext cx="12700" cy="1392014"/>
          </a:xfrm>
          <a:prstGeom prst="bentConnector3">
            <a:avLst>
              <a:gd name="adj1" fmla="val 1800000"/>
            </a:avLst>
          </a:prstGeom>
          <a:ln w="28575">
            <a:solidFill>
              <a:schemeClr val="accent5">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꺾인 연결선 62"/>
          <p:cNvCxnSpPr>
            <a:stCxn id="57" idx="1"/>
            <a:endCxn id="58" idx="1"/>
          </p:cNvCxnSpPr>
          <p:nvPr/>
        </p:nvCxnSpPr>
        <p:spPr>
          <a:xfrm rot="10800000" flipV="1">
            <a:off x="943336" y="4280648"/>
            <a:ext cx="12700" cy="509015"/>
          </a:xfrm>
          <a:prstGeom prst="bentConnector3">
            <a:avLst>
              <a:gd name="adj1" fmla="val 1800000"/>
            </a:avLst>
          </a:prstGeom>
          <a:ln w="28575">
            <a:solidFill>
              <a:schemeClr val="accent5">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1615192" y="4117704"/>
            <a:ext cx="3023844" cy="328045"/>
          </a:xfrm>
          <a:prstGeom prst="rect">
            <a:avLst/>
          </a:prstGeom>
          <a:noFill/>
          <a:ln>
            <a:solidFill>
              <a:schemeClr val="bg1">
                <a:lumMod val="50000"/>
              </a:schemeClr>
            </a:solidFill>
          </a:ln>
        </p:spPr>
        <p:txBody>
          <a:bodyPr wrap="squar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심사관</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6" name="TextBox 65"/>
          <p:cNvSpPr txBox="1"/>
          <p:nvPr/>
        </p:nvSpPr>
        <p:spPr>
          <a:xfrm>
            <a:off x="1615192" y="4520454"/>
            <a:ext cx="3023844" cy="538421"/>
          </a:xfrm>
          <a:prstGeom prst="rect">
            <a:avLst/>
          </a:prstGeom>
          <a:noFill/>
          <a:ln>
            <a:solidFill>
              <a:schemeClr val="bg1">
                <a:lumMod val="50000"/>
              </a:schemeClr>
            </a:solidFill>
          </a:ln>
        </p:spPr>
        <p:txBody>
          <a:bodyPr wrap="squar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청구범위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중심</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발명의 설명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도면 참작 </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7" name="TextBox 66"/>
          <p:cNvSpPr txBox="1"/>
          <p:nvPr/>
        </p:nvSpPr>
        <p:spPr>
          <a:xfrm>
            <a:off x="1627892" y="5135939"/>
            <a:ext cx="3011884" cy="1075978"/>
          </a:xfrm>
          <a:prstGeom prst="rect">
            <a:avLst/>
          </a:prstGeom>
          <a:noFill/>
          <a:ln>
            <a:solidFill>
              <a:schemeClr val="bg1">
                <a:lumMod val="50000"/>
              </a:schemeClr>
            </a:solidFill>
          </a:ln>
        </p:spPr>
        <p:txBody>
          <a:bodyPr wrap="square" rtlCol="0" anchor="ctr">
            <a:noAutofit/>
          </a:bodyPr>
          <a:lstStyle/>
          <a:p>
            <a:pPr marL="88900" marR="0" lvl="0" indent="-8890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청구항</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별로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제한열거적인</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88900" marR="0" lvl="0" indent="-8890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거절이유</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62)*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 해당 여부를 판단하나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p>
          <a:p>
            <a:pPr marL="88900" marR="0" lvl="0" indent="-8890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하나의 청구항이라도 거절이유가 있으면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88900" marR="0" lvl="0" indent="-8890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 전체를 거절결정</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88900" marR="0" lvl="0" indent="-8890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출원일체의</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원칙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All or Nothing Rule)</a:t>
            </a:r>
          </a:p>
        </p:txBody>
      </p:sp>
      <p:sp>
        <p:nvSpPr>
          <p:cNvPr id="72" name="자유형 71"/>
          <p:cNvSpPr/>
          <p:nvPr/>
        </p:nvSpPr>
        <p:spPr>
          <a:xfrm>
            <a:off x="355600" y="2526554"/>
            <a:ext cx="3695700" cy="2260600"/>
          </a:xfrm>
          <a:custGeom>
            <a:avLst/>
            <a:gdLst>
              <a:gd name="connsiteX0" fmla="*/ 355600 w 3695700"/>
              <a:gd name="connsiteY0" fmla="*/ 2260600 h 2260600"/>
              <a:gd name="connsiteX1" fmla="*/ 0 w 3695700"/>
              <a:gd name="connsiteY1" fmla="*/ 2260600 h 2260600"/>
              <a:gd name="connsiteX2" fmla="*/ 0 w 3695700"/>
              <a:gd name="connsiteY2" fmla="*/ 749300 h 2260600"/>
              <a:gd name="connsiteX3" fmla="*/ 3695700 w 3695700"/>
              <a:gd name="connsiteY3" fmla="*/ 749300 h 2260600"/>
              <a:gd name="connsiteX4" fmla="*/ 3695700 w 3695700"/>
              <a:gd name="connsiteY4" fmla="*/ 0 h 226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5700" h="2260600">
                <a:moveTo>
                  <a:pt x="355600" y="2260600"/>
                </a:moveTo>
                <a:lnTo>
                  <a:pt x="0" y="2260600"/>
                </a:lnTo>
                <a:lnTo>
                  <a:pt x="0" y="749300"/>
                </a:lnTo>
                <a:lnTo>
                  <a:pt x="3695700" y="749300"/>
                </a:lnTo>
                <a:lnTo>
                  <a:pt x="3695700" y="0"/>
                </a:lnTo>
              </a:path>
            </a:pathLst>
          </a:custGeom>
          <a:noFill/>
          <a:ln w="28575">
            <a:solidFill>
              <a:schemeClr val="tx2"/>
            </a:solidFill>
            <a:headEnd type="triangl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5" name="직사각형 74"/>
          <p:cNvSpPr/>
          <p:nvPr/>
        </p:nvSpPr>
        <p:spPr>
          <a:xfrm>
            <a:off x="4966243" y="2273304"/>
            <a:ext cx="735586" cy="678328"/>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rPr>
              <a:t>주체적</a:t>
            </a:r>
            <a:endParaRPr kumimoji="0" lang="en-US" altLang="ko-KR" sz="14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rPr>
              <a:t>요건</a:t>
            </a:r>
          </a:p>
        </p:txBody>
      </p:sp>
      <p:sp>
        <p:nvSpPr>
          <p:cNvPr id="77" name="직사각형 76"/>
          <p:cNvSpPr/>
          <p:nvPr/>
        </p:nvSpPr>
        <p:spPr>
          <a:xfrm>
            <a:off x="4966243" y="3428469"/>
            <a:ext cx="735586" cy="678328"/>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rPr>
              <a:t>실체적</a:t>
            </a:r>
            <a:endParaRPr kumimoji="0" lang="en-US" altLang="ko-KR" sz="14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rPr>
              <a:t>요건</a:t>
            </a:r>
          </a:p>
        </p:txBody>
      </p:sp>
      <p:sp>
        <p:nvSpPr>
          <p:cNvPr id="78" name="직사각형 77"/>
          <p:cNvSpPr/>
          <p:nvPr/>
        </p:nvSpPr>
        <p:spPr>
          <a:xfrm>
            <a:off x="4966243" y="4606367"/>
            <a:ext cx="735586" cy="678328"/>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rPr>
              <a:t>조약 </a:t>
            </a:r>
            <a:endParaRPr kumimoji="0" lang="en-US" altLang="ko-KR" sz="14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rPr>
              <a:t>위반</a:t>
            </a:r>
          </a:p>
        </p:txBody>
      </p:sp>
      <p:sp>
        <p:nvSpPr>
          <p:cNvPr id="79" name="직사각형 78"/>
          <p:cNvSpPr/>
          <p:nvPr/>
        </p:nvSpPr>
        <p:spPr>
          <a:xfrm>
            <a:off x="4966243" y="5981489"/>
            <a:ext cx="735586" cy="678328"/>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rPr>
              <a:t>절차적 </a:t>
            </a:r>
            <a:endParaRPr kumimoji="0" lang="en-US" altLang="ko-KR" sz="14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rPr>
              <a:t>요건</a:t>
            </a:r>
          </a:p>
        </p:txBody>
      </p:sp>
      <p:grpSp>
        <p:nvGrpSpPr>
          <p:cNvPr id="84" name="그룹 83"/>
          <p:cNvGrpSpPr/>
          <p:nvPr/>
        </p:nvGrpSpPr>
        <p:grpSpPr>
          <a:xfrm>
            <a:off x="5986969" y="2076396"/>
            <a:ext cx="3112200" cy="1065736"/>
            <a:chOff x="7505746" y="1042464"/>
            <a:chExt cx="3746453" cy="3152758"/>
          </a:xfrm>
        </p:grpSpPr>
        <p:sp>
          <p:nvSpPr>
            <p:cNvPr id="80" name="직사각형 79"/>
            <p:cNvSpPr/>
            <p:nvPr/>
          </p:nvSpPr>
          <p:spPr>
            <a:xfrm>
              <a:off x="7505746" y="1042464"/>
              <a:ext cx="3746453" cy="67832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외국인의 권리능력</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25)</a:t>
              </a:r>
            </a:p>
          </p:txBody>
        </p:sp>
        <p:sp>
          <p:nvSpPr>
            <p:cNvPr id="81" name="직사각형 80"/>
            <p:cNvSpPr/>
            <p:nvPr/>
          </p:nvSpPr>
          <p:spPr>
            <a:xfrm>
              <a:off x="7505746" y="1867274"/>
              <a:ext cx="3746453" cy="67832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권리를 가지는 자</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33</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①본문</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82" name="직사각형 81"/>
            <p:cNvSpPr/>
            <p:nvPr/>
          </p:nvSpPr>
          <p:spPr>
            <a:xfrm>
              <a:off x="7505746" y="2692084"/>
              <a:ext cx="3746453" cy="67832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없는 자</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33</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①단서</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83" name="직사각형 82"/>
            <p:cNvSpPr/>
            <p:nvPr/>
          </p:nvSpPr>
          <p:spPr>
            <a:xfrm>
              <a:off x="7505746" y="3516894"/>
              <a:ext cx="3746453" cy="67832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srgbClr val="44546A"/>
                  </a:solidFill>
                  <a:effectLst/>
                  <a:uLnTx/>
                  <a:uFillTx/>
                  <a:latin typeface="Frutiger LT 65 Bold"/>
                  <a:ea typeface="Rix모던고딕 B"/>
                  <a:cs typeface="+mn-cs"/>
                </a:rPr>
                <a:t>공동출원</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44)</a:t>
              </a:r>
              <a:endPar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grpSp>
      <p:grpSp>
        <p:nvGrpSpPr>
          <p:cNvPr id="85" name="그룹 84"/>
          <p:cNvGrpSpPr/>
          <p:nvPr/>
        </p:nvGrpSpPr>
        <p:grpSpPr>
          <a:xfrm>
            <a:off x="5986969" y="3323235"/>
            <a:ext cx="3112200" cy="1065736"/>
            <a:chOff x="7505746" y="1042464"/>
            <a:chExt cx="3746453" cy="3152758"/>
          </a:xfrm>
        </p:grpSpPr>
        <p:sp>
          <p:nvSpPr>
            <p:cNvPr id="86" name="직사각형 85"/>
            <p:cNvSpPr/>
            <p:nvPr/>
          </p:nvSpPr>
          <p:spPr>
            <a:xfrm>
              <a:off x="7505746" y="1042464"/>
              <a:ext cx="3746453" cy="67832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특허요건</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29)*</a:t>
              </a:r>
            </a:p>
          </p:txBody>
        </p:sp>
        <p:sp>
          <p:nvSpPr>
            <p:cNvPr id="87" name="직사각형 86"/>
            <p:cNvSpPr/>
            <p:nvPr/>
          </p:nvSpPr>
          <p:spPr>
            <a:xfrm>
              <a:off x="7505746" y="1867274"/>
              <a:ext cx="3746453" cy="67832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선출원주의</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36)</a:t>
              </a:r>
            </a:p>
          </p:txBody>
        </p:sp>
        <p:sp>
          <p:nvSpPr>
            <p:cNvPr id="88" name="직사각형 87"/>
            <p:cNvSpPr/>
            <p:nvPr/>
          </p:nvSpPr>
          <p:spPr>
            <a:xfrm>
              <a:off x="7505746" y="2692084"/>
              <a:ext cx="3746453" cy="67832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없는 발명</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32)</a:t>
              </a:r>
            </a:p>
          </p:txBody>
        </p:sp>
        <p:sp>
          <p:nvSpPr>
            <p:cNvPr id="89" name="직사각형 88"/>
            <p:cNvSpPr/>
            <p:nvPr/>
          </p:nvSpPr>
          <p:spPr>
            <a:xfrm>
              <a:off x="7505746" y="3516894"/>
              <a:ext cx="3746453" cy="67832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일반적 발명의 설명 기재</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42③Ⅰ) </a:t>
              </a:r>
            </a:p>
          </p:txBody>
        </p:sp>
      </p:grpSp>
      <p:sp>
        <p:nvSpPr>
          <p:cNvPr id="92" name="직사각형 91"/>
          <p:cNvSpPr/>
          <p:nvPr/>
        </p:nvSpPr>
        <p:spPr>
          <a:xfrm>
            <a:off x="5986969" y="4440303"/>
            <a:ext cx="3112200" cy="229297"/>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srgbClr val="44546A"/>
                </a:solidFill>
                <a:effectLst/>
                <a:uLnTx/>
                <a:uFillTx/>
                <a:latin typeface="Frutiger LT 65 Bold"/>
                <a:ea typeface="Rix모던고딕 B"/>
                <a:cs typeface="+mn-cs"/>
              </a:rPr>
              <a:t>청구범위</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 기재</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42④)</a:t>
            </a:r>
          </a:p>
        </p:txBody>
      </p:sp>
      <p:sp>
        <p:nvSpPr>
          <p:cNvPr id="93" name="직사각형 92"/>
          <p:cNvSpPr/>
          <p:nvPr/>
        </p:nvSpPr>
        <p:spPr>
          <a:xfrm>
            <a:off x="5986969" y="4719116"/>
            <a:ext cx="3112200" cy="229297"/>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신규사항추가금지</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47</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②</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94" name="직사각형 93"/>
          <p:cNvSpPr/>
          <p:nvPr/>
        </p:nvSpPr>
        <p:spPr>
          <a:xfrm>
            <a:off x="5986969" y="4997929"/>
            <a:ext cx="3112200" cy="229297"/>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srgbClr val="44546A"/>
                </a:solidFill>
                <a:effectLst/>
                <a:uLnTx/>
                <a:uFillTx/>
                <a:latin typeface="Frutiger LT 65 Bold"/>
                <a:ea typeface="Rix모던고딕 B"/>
                <a:cs typeface="+mn-cs"/>
              </a:rPr>
              <a:t>분할출원의</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 범위를 벗어난 경우</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52①)</a:t>
            </a:r>
          </a:p>
        </p:txBody>
      </p:sp>
      <p:sp>
        <p:nvSpPr>
          <p:cNvPr id="95" name="직사각형 94"/>
          <p:cNvSpPr/>
          <p:nvPr/>
        </p:nvSpPr>
        <p:spPr>
          <a:xfrm>
            <a:off x="5986969" y="5276742"/>
            <a:ext cx="3112200" cy="229297"/>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분리출원의 범위를 벗어난 경우</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52</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의</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2①)</a:t>
            </a:r>
          </a:p>
        </p:txBody>
      </p:sp>
      <p:sp>
        <p:nvSpPr>
          <p:cNvPr id="97" name="직사각형 96"/>
          <p:cNvSpPr/>
          <p:nvPr/>
        </p:nvSpPr>
        <p:spPr>
          <a:xfrm>
            <a:off x="5986969" y="5982622"/>
            <a:ext cx="3112200" cy="229297"/>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발명의 설명 중 </a:t>
            </a:r>
            <a:r>
              <a:rPr kumimoji="0" lang="ko-KR" altLang="en-US" sz="1100" b="0" i="0" u="none" strike="noStrike" kern="1200" cap="none" spc="0" normalizeH="0" baseline="0" noProof="0" dirty="0" err="1">
                <a:ln>
                  <a:noFill/>
                </a:ln>
                <a:solidFill>
                  <a:srgbClr val="44546A"/>
                </a:solidFill>
                <a:effectLst/>
                <a:uLnTx/>
                <a:uFillTx/>
                <a:latin typeface="Frutiger LT 65 Bold"/>
                <a:ea typeface="Rix모던고딕 B"/>
                <a:cs typeface="+mn-cs"/>
              </a:rPr>
              <a:t>배경기술</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 기재</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42③Ⅱ)</a:t>
            </a:r>
          </a:p>
        </p:txBody>
      </p:sp>
      <p:sp>
        <p:nvSpPr>
          <p:cNvPr id="98" name="직사각형 97"/>
          <p:cNvSpPr/>
          <p:nvPr/>
        </p:nvSpPr>
        <p:spPr>
          <a:xfrm>
            <a:off x="5986969" y="6261435"/>
            <a:ext cx="3112200" cy="229297"/>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srgbClr val="44546A"/>
                </a:solidFill>
                <a:effectLst/>
                <a:uLnTx/>
                <a:uFillTx/>
                <a:latin typeface="Frutiger LT 65 Bold"/>
                <a:ea typeface="Rix모던고딕 B"/>
                <a:cs typeface="+mn-cs"/>
              </a:rPr>
              <a:t>다항제</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err="1">
                <a:ln>
                  <a:noFill/>
                </a:ln>
                <a:solidFill>
                  <a:srgbClr val="44546A"/>
                </a:solidFill>
                <a:effectLst/>
                <a:uLnTx/>
                <a:uFillTx/>
                <a:latin typeface="Frutiger LT 65 Bold"/>
                <a:ea typeface="Rix모던고딕 B"/>
                <a:cs typeface="+mn-cs"/>
              </a:rPr>
              <a:t>기재방법</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42⑧)</a:t>
            </a:r>
          </a:p>
        </p:txBody>
      </p:sp>
      <p:sp>
        <p:nvSpPr>
          <p:cNvPr id="99" name="직사각형 98"/>
          <p:cNvSpPr/>
          <p:nvPr/>
        </p:nvSpPr>
        <p:spPr>
          <a:xfrm>
            <a:off x="5986969" y="6540248"/>
            <a:ext cx="3112200" cy="229297"/>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하나의 특허출원의 범위</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45)</a:t>
            </a:r>
          </a:p>
        </p:txBody>
      </p:sp>
      <p:cxnSp>
        <p:nvCxnSpPr>
          <p:cNvPr id="102" name="꺾인 연결선 101"/>
          <p:cNvCxnSpPr>
            <a:stCxn id="75" idx="3"/>
            <a:endCxn id="80" idx="1"/>
          </p:cNvCxnSpPr>
          <p:nvPr/>
        </p:nvCxnSpPr>
        <p:spPr>
          <a:xfrm flipV="1">
            <a:off x="5701829" y="2191045"/>
            <a:ext cx="285140" cy="42142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꺾인 연결선 103"/>
          <p:cNvCxnSpPr>
            <a:stCxn id="75" idx="3"/>
            <a:endCxn id="83" idx="1"/>
          </p:cNvCxnSpPr>
          <p:nvPr/>
        </p:nvCxnSpPr>
        <p:spPr>
          <a:xfrm>
            <a:off x="5701829" y="2612468"/>
            <a:ext cx="285140" cy="41501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꺾인 연결선 105"/>
          <p:cNvCxnSpPr>
            <a:stCxn id="75" idx="3"/>
            <a:endCxn id="81" idx="1"/>
          </p:cNvCxnSpPr>
          <p:nvPr/>
        </p:nvCxnSpPr>
        <p:spPr>
          <a:xfrm flipV="1">
            <a:off x="5701829" y="2469858"/>
            <a:ext cx="285140" cy="14261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꺾인 연결선 107"/>
          <p:cNvCxnSpPr>
            <a:stCxn id="75" idx="3"/>
            <a:endCxn id="82" idx="1"/>
          </p:cNvCxnSpPr>
          <p:nvPr/>
        </p:nvCxnSpPr>
        <p:spPr>
          <a:xfrm>
            <a:off x="5701829" y="2612468"/>
            <a:ext cx="285140" cy="13620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꺾인 연결선 109"/>
          <p:cNvCxnSpPr>
            <a:cxnSpLocks/>
            <a:stCxn id="67" idx="3"/>
            <a:endCxn id="75" idx="1"/>
          </p:cNvCxnSpPr>
          <p:nvPr/>
        </p:nvCxnSpPr>
        <p:spPr>
          <a:xfrm flipV="1">
            <a:off x="4639776" y="2612468"/>
            <a:ext cx="326467" cy="306146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꺾인 연결선 111"/>
          <p:cNvCxnSpPr>
            <a:cxnSpLocks/>
            <a:stCxn id="67" idx="3"/>
            <a:endCxn id="79" idx="1"/>
          </p:cNvCxnSpPr>
          <p:nvPr/>
        </p:nvCxnSpPr>
        <p:spPr>
          <a:xfrm>
            <a:off x="4639776" y="5673928"/>
            <a:ext cx="326467" cy="646725"/>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꺾인 연결선 114"/>
          <p:cNvCxnSpPr>
            <a:cxnSpLocks/>
            <a:stCxn id="67" idx="3"/>
            <a:endCxn id="77" idx="1"/>
          </p:cNvCxnSpPr>
          <p:nvPr/>
        </p:nvCxnSpPr>
        <p:spPr>
          <a:xfrm flipV="1">
            <a:off x="4639776" y="3767633"/>
            <a:ext cx="326467" cy="190629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꺾인 연결선 116"/>
          <p:cNvCxnSpPr>
            <a:cxnSpLocks/>
            <a:stCxn id="67" idx="3"/>
            <a:endCxn id="78" idx="1"/>
          </p:cNvCxnSpPr>
          <p:nvPr/>
        </p:nvCxnSpPr>
        <p:spPr>
          <a:xfrm flipV="1">
            <a:off x="4639776" y="4945531"/>
            <a:ext cx="326467" cy="72839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꺾인 연결선 118"/>
          <p:cNvCxnSpPr>
            <a:stCxn id="79" idx="3"/>
            <a:endCxn id="97" idx="1"/>
          </p:cNvCxnSpPr>
          <p:nvPr/>
        </p:nvCxnSpPr>
        <p:spPr>
          <a:xfrm flipV="1">
            <a:off x="5701829" y="6097271"/>
            <a:ext cx="285140" cy="22338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꺾인 연결선 120"/>
          <p:cNvCxnSpPr>
            <a:stCxn id="79" idx="3"/>
            <a:endCxn id="99" idx="1"/>
          </p:cNvCxnSpPr>
          <p:nvPr/>
        </p:nvCxnSpPr>
        <p:spPr>
          <a:xfrm>
            <a:off x="5701829" y="6320653"/>
            <a:ext cx="285140" cy="33424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꺾인 연결선 122"/>
          <p:cNvCxnSpPr>
            <a:stCxn id="79" idx="3"/>
            <a:endCxn id="98" idx="1"/>
          </p:cNvCxnSpPr>
          <p:nvPr/>
        </p:nvCxnSpPr>
        <p:spPr>
          <a:xfrm>
            <a:off x="5701829" y="6320653"/>
            <a:ext cx="285140" cy="5543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5" name="꺾인 연결선 124"/>
          <p:cNvCxnSpPr>
            <a:stCxn id="77" idx="3"/>
            <a:endCxn id="86" idx="1"/>
          </p:cNvCxnSpPr>
          <p:nvPr/>
        </p:nvCxnSpPr>
        <p:spPr>
          <a:xfrm flipV="1">
            <a:off x="5701829" y="3437884"/>
            <a:ext cx="285140" cy="32974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7" name="꺾인 연결선 126"/>
          <p:cNvCxnSpPr>
            <a:stCxn id="77" idx="3"/>
            <a:endCxn id="95" idx="1"/>
          </p:cNvCxnSpPr>
          <p:nvPr/>
        </p:nvCxnSpPr>
        <p:spPr>
          <a:xfrm>
            <a:off x="5701829" y="3767633"/>
            <a:ext cx="285140" cy="1623758"/>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꺾인 연결선 128"/>
          <p:cNvCxnSpPr>
            <a:stCxn id="77" idx="3"/>
            <a:endCxn id="87" idx="1"/>
          </p:cNvCxnSpPr>
          <p:nvPr/>
        </p:nvCxnSpPr>
        <p:spPr>
          <a:xfrm flipV="1">
            <a:off x="5701829" y="3716697"/>
            <a:ext cx="285140" cy="5093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꺾인 연결선 130"/>
          <p:cNvCxnSpPr>
            <a:stCxn id="77" idx="3"/>
            <a:endCxn id="94" idx="1"/>
          </p:cNvCxnSpPr>
          <p:nvPr/>
        </p:nvCxnSpPr>
        <p:spPr>
          <a:xfrm>
            <a:off x="5701829" y="3767633"/>
            <a:ext cx="285140" cy="134494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꺾인 연결선 132"/>
          <p:cNvCxnSpPr>
            <a:stCxn id="77" idx="3"/>
            <a:endCxn id="93" idx="1"/>
          </p:cNvCxnSpPr>
          <p:nvPr/>
        </p:nvCxnSpPr>
        <p:spPr>
          <a:xfrm>
            <a:off x="5701829" y="3767633"/>
            <a:ext cx="285140" cy="106613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꺾인 연결선 134"/>
          <p:cNvCxnSpPr>
            <a:stCxn id="77" idx="3"/>
            <a:endCxn id="88" idx="1"/>
          </p:cNvCxnSpPr>
          <p:nvPr/>
        </p:nvCxnSpPr>
        <p:spPr>
          <a:xfrm>
            <a:off x="5701829" y="3767633"/>
            <a:ext cx="285140" cy="22787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7" name="꺾인 연결선 136"/>
          <p:cNvCxnSpPr>
            <a:stCxn id="77" idx="3"/>
            <a:endCxn id="89" idx="1"/>
          </p:cNvCxnSpPr>
          <p:nvPr/>
        </p:nvCxnSpPr>
        <p:spPr>
          <a:xfrm>
            <a:off x="5701829" y="3767633"/>
            <a:ext cx="285140" cy="50669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9" name="꺾인 연결선 138"/>
          <p:cNvCxnSpPr>
            <a:stCxn id="77" idx="3"/>
            <a:endCxn id="92" idx="1"/>
          </p:cNvCxnSpPr>
          <p:nvPr/>
        </p:nvCxnSpPr>
        <p:spPr>
          <a:xfrm>
            <a:off x="5701829" y="3767633"/>
            <a:ext cx="285140" cy="78731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9" name="직사각형 68"/>
          <p:cNvSpPr/>
          <p:nvPr/>
        </p:nvSpPr>
        <p:spPr>
          <a:xfrm>
            <a:off x="9312882" y="2940875"/>
            <a:ext cx="2493635" cy="229297"/>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산업상 이용가능성</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29</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①본문</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70" name="직사각형 69"/>
          <p:cNvSpPr/>
          <p:nvPr/>
        </p:nvSpPr>
        <p:spPr>
          <a:xfrm>
            <a:off x="9312882" y="3219688"/>
            <a:ext cx="2493635" cy="229297"/>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신규성</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29</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①각호</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71" name="직사각형 70"/>
          <p:cNvSpPr/>
          <p:nvPr/>
        </p:nvSpPr>
        <p:spPr>
          <a:xfrm>
            <a:off x="9312882" y="3498501"/>
            <a:ext cx="2493635" cy="229297"/>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진보성</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29</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②</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p>
        </p:txBody>
      </p:sp>
      <p:sp>
        <p:nvSpPr>
          <p:cNvPr id="73" name="직사각형 72"/>
          <p:cNvSpPr/>
          <p:nvPr/>
        </p:nvSpPr>
        <p:spPr>
          <a:xfrm>
            <a:off x="9312882" y="3777314"/>
            <a:ext cx="2493635" cy="229297"/>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확대된 </a:t>
            </a:r>
            <a:r>
              <a:rPr kumimoji="0" lang="ko-KR" altLang="en-US" sz="1100" b="0" i="0" u="none" strike="noStrike" kern="1200" cap="none" spc="0" normalizeH="0" baseline="0" noProof="0" dirty="0" err="1">
                <a:ln>
                  <a:noFill/>
                </a:ln>
                <a:solidFill>
                  <a:srgbClr val="44546A"/>
                </a:solidFill>
                <a:effectLst/>
                <a:uLnTx/>
                <a:uFillTx/>
                <a:latin typeface="Frutiger LT 65 Bold"/>
                <a:ea typeface="Rix모던고딕 B"/>
                <a:cs typeface="+mn-cs"/>
              </a:rPr>
              <a:t>선출원</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29</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③④⑤⑥⑦</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10" name="꺾인 연결선 9"/>
          <p:cNvCxnSpPr>
            <a:stCxn id="86" idx="3"/>
            <a:endCxn id="69" idx="1"/>
          </p:cNvCxnSpPr>
          <p:nvPr/>
        </p:nvCxnSpPr>
        <p:spPr>
          <a:xfrm flipV="1">
            <a:off x="9099169" y="3055524"/>
            <a:ext cx="213713" cy="38236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꺾인 연결선 12"/>
          <p:cNvCxnSpPr>
            <a:stCxn id="86" idx="3"/>
            <a:endCxn id="70" idx="1"/>
          </p:cNvCxnSpPr>
          <p:nvPr/>
        </p:nvCxnSpPr>
        <p:spPr>
          <a:xfrm flipV="1">
            <a:off x="9099169" y="3334337"/>
            <a:ext cx="213713" cy="10354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꺾인 연결선 14"/>
          <p:cNvCxnSpPr>
            <a:stCxn id="86" idx="3"/>
            <a:endCxn id="71" idx="1"/>
          </p:cNvCxnSpPr>
          <p:nvPr/>
        </p:nvCxnSpPr>
        <p:spPr>
          <a:xfrm>
            <a:off x="9099169" y="3437884"/>
            <a:ext cx="213713" cy="17526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꺾인 연결선 16"/>
          <p:cNvCxnSpPr>
            <a:stCxn id="86" idx="3"/>
            <a:endCxn id="73" idx="1"/>
          </p:cNvCxnSpPr>
          <p:nvPr/>
        </p:nvCxnSpPr>
        <p:spPr>
          <a:xfrm>
            <a:off x="9099169" y="3437884"/>
            <a:ext cx="213713" cy="45407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0" name="TextBox 89"/>
          <p:cNvSpPr txBox="1"/>
          <p:nvPr/>
        </p:nvSpPr>
        <p:spPr>
          <a:xfrm>
            <a:off x="77875" y="986046"/>
            <a:ext cx="11936323"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특허법상 협의의 특허요건은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29</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조에서 규정하고 있는 산업상 이용가능성</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신규성</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진보성 및 확대된 선출원을 의미하고</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광의의 특허요건은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조에서 규정하고 있는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거절이유에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해당하지 아니한 것을 의미하는데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일반적으로 </a:t>
            </a:r>
            <a:r>
              <a:rPr kumimoji="0" lang="ko-KR" altLang="en-US" sz="14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특허요건이라</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함은 후자를 지칭</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p>
        </p:txBody>
      </p:sp>
      <p:cxnSp>
        <p:nvCxnSpPr>
          <p:cNvPr id="96" name="직선 연결선 95"/>
          <p:cNvCxnSpPr/>
          <p:nvPr/>
        </p:nvCxnSpPr>
        <p:spPr>
          <a:xfrm>
            <a:off x="0" y="151703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53</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6" name="직사각형 5">
            <a:extLst>
              <a:ext uri="{FF2B5EF4-FFF2-40B4-BE49-F238E27FC236}">
                <a16:creationId xmlns:a16="http://schemas.microsoft.com/office/drawing/2014/main" id="{E0E71461-B905-09CE-6BED-7A1F5AD0CC99}"/>
              </a:ext>
            </a:extLst>
          </p:cNvPr>
          <p:cNvSpPr/>
          <p:nvPr/>
        </p:nvSpPr>
        <p:spPr>
          <a:xfrm>
            <a:off x="5986969" y="5565257"/>
            <a:ext cx="3112200" cy="229297"/>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srgbClr val="44546A"/>
                </a:solidFill>
                <a:effectLst/>
                <a:uLnTx/>
                <a:uFillTx/>
                <a:latin typeface="Frutiger LT 65 Bold"/>
                <a:ea typeface="Rix모던고딕 B"/>
                <a:cs typeface="+mn-cs"/>
              </a:rPr>
              <a:t>변경출원의</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 범위를 벗어난 경우</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53①)</a:t>
            </a:r>
          </a:p>
        </p:txBody>
      </p:sp>
      <p:cxnSp>
        <p:nvCxnSpPr>
          <p:cNvPr id="7" name="꺾인 연결선 126">
            <a:extLst>
              <a:ext uri="{FF2B5EF4-FFF2-40B4-BE49-F238E27FC236}">
                <a16:creationId xmlns:a16="http://schemas.microsoft.com/office/drawing/2014/main" id="{8251359D-52BA-6A12-21AD-C2E0C41C527A}"/>
              </a:ext>
            </a:extLst>
          </p:cNvPr>
          <p:cNvCxnSpPr>
            <a:cxnSpLocks/>
            <a:stCxn id="77" idx="3"/>
            <a:endCxn id="6" idx="1"/>
          </p:cNvCxnSpPr>
          <p:nvPr/>
        </p:nvCxnSpPr>
        <p:spPr>
          <a:xfrm>
            <a:off x="5701829" y="3767633"/>
            <a:ext cx="285140" cy="1912273"/>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192171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43"/>
          <p:cNvSpPr txBox="1"/>
          <p:nvPr/>
        </p:nvSpPr>
        <p:spPr>
          <a:xfrm>
            <a:off x="1657610" y="1031403"/>
            <a:ext cx="4707334" cy="2063994"/>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 name="직선 연결선 6"/>
          <p:cNvCxnSpPr/>
          <p:nvPr/>
        </p:nvCxnSpPr>
        <p:spPr>
          <a:xfrm>
            <a:off x="896595" y="4038068"/>
            <a:ext cx="906753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항본문</a:t>
            </a:r>
            <a:endParaRPr lang="ko-KR" altLang="en-US" dirty="0"/>
          </a:p>
        </p:txBody>
      </p:sp>
      <p:sp>
        <p:nvSpPr>
          <p:cNvPr id="4" name="텍스트 개체 틀 3"/>
          <p:cNvSpPr>
            <a:spLocks noGrp="1"/>
          </p:cNvSpPr>
          <p:nvPr>
            <p:ph type="body" sz="quarter" idx="13"/>
          </p:nvPr>
        </p:nvSpPr>
        <p:spPr/>
        <p:txBody>
          <a:bodyPr/>
          <a:lstStyle/>
          <a:p>
            <a:r>
              <a:rPr lang="ko-KR" altLang="en-US" dirty="0"/>
              <a:t>기술적 사상 </a:t>
            </a:r>
            <a:r>
              <a:rPr lang="en-US" altLang="ko-KR" dirty="0"/>
              <a:t>vs </a:t>
            </a:r>
            <a:r>
              <a:rPr lang="ko-KR" altLang="en-US" dirty="0"/>
              <a:t>이용가능성</a:t>
            </a:r>
          </a:p>
        </p:txBody>
      </p:sp>
      <p:sp>
        <p:nvSpPr>
          <p:cNvPr id="5" name="슬라이드 번호 개체 틀 4"/>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54</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cxnSp>
        <p:nvCxnSpPr>
          <p:cNvPr id="46" name="직선 연결선 45"/>
          <p:cNvCxnSpPr/>
          <p:nvPr/>
        </p:nvCxnSpPr>
        <p:spPr>
          <a:xfrm>
            <a:off x="0" y="323826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 name="직사각형 7"/>
          <p:cNvSpPr/>
          <p:nvPr/>
        </p:nvSpPr>
        <p:spPr>
          <a:xfrm>
            <a:off x="2227129" y="3821619"/>
            <a:ext cx="1143434" cy="4328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사상</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착상</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9" name="직사각형 8"/>
          <p:cNvSpPr/>
          <p:nvPr/>
        </p:nvSpPr>
        <p:spPr>
          <a:xfrm>
            <a:off x="4471731" y="3821619"/>
            <a:ext cx="1143434" cy="432898"/>
          </a:xfrm>
          <a:prstGeom prst="rect">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기술적 사상</a:t>
            </a:r>
          </a:p>
        </p:txBody>
      </p:sp>
      <p:sp>
        <p:nvSpPr>
          <p:cNvPr id="14" name="직사각형 13"/>
          <p:cNvSpPr/>
          <p:nvPr/>
        </p:nvSpPr>
        <p:spPr>
          <a:xfrm>
            <a:off x="6624255" y="3821619"/>
            <a:ext cx="1143434" cy="432898"/>
          </a:xfrm>
          <a:prstGeom prst="rect">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기술</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구현</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5" name="직사각형 14"/>
          <p:cNvSpPr/>
          <p:nvPr/>
        </p:nvSpPr>
        <p:spPr>
          <a:xfrm>
            <a:off x="10116315" y="3821619"/>
            <a:ext cx="1563496" cy="4328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44546A">
                    <a:lumMod val="50000"/>
                  </a:srgbClr>
                </a:solidFill>
                <a:effectLst/>
                <a:uLnTx/>
                <a:uFillTx/>
                <a:latin typeface="Frutiger LT 65 Bold"/>
                <a:ea typeface="Rix모던고딕 B"/>
                <a:cs typeface="+mn-cs"/>
              </a:rPr>
              <a:t>발명의 </a:t>
            </a:r>
            <a:r>
              <a:rPr kumimoji="0" lang="ko-KR" altLang="en-US" sz="1600" b="0" i="0" u="none" strike="noStrike" kern="1200" cap="none" spc="0" normalizeH="0" baseline="0" noProof="0" dirty="0" err="1">
                <a:ln>
                  <a:noFill/>
                </a:ln>
                <a:solidFill>
                  <a:srgbClr val="44546A">
                    <a:lumMod val="50000"/>
                  </a:srgbClr>
                </a:solidFill>
                <a:effectLst/>
                <a:uLnTx/>
                <a:uFillTx/>
                <a:latin typeface="Frutiger LT 65 Bold"/>
                <a:ea typeface="Rix모던고딕 B"/>
                <a:cs typeface="+mn-cs"/>
              </a:rPr>
              <a:t>완성과정</a:t>
            </a:r>
            <a:endParaRPr kumimoji="0" lang="ko-KR" altLang="en-US" sz="1600" b="0" i="0" u="none" strike="noStrike" kern="1200" cap="none" spc="0" normalizeH="0" baseline="0" noProof="0" dirty="0">
              <a:ln>
                <a:noFill/>
              </a:ln>
              <a:solidFill>
                <a:srgbClr val="44546A">
                  <a:lumMod val="50000"/>
                </a:srgbClr>
              </a:solidFill>
              <a:effectLst/>
              <a:uLnTx/>
              <a:uFillTx/>
              <a:latin typeface="Frutiger LT 65 Bold"/>
              <a:ea typeface="Rix모던고딕 B"/>
              <a:cs typeface="+mn-cs"/>
            </a:endParaRPr>
          </a:p>
        </p:txBody>
      </p:sp>
      <p:sp>
        <p:nvSpPr>
          <p:cNvPr id="6" name="타원 5"/>
          <p:cNvSpPr/>
          <p:nvPr/>
        </p:nvSpPr>
        <p:spPr>
          <a:xfrm>
            <a:off x="718840" y="3439283"/>
            <a:ext cx="848413" cy="471340"/>
          </a:xfrm>
          <a:prstGeom prst="ellipse">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rPr>
              <a:t>추상적</a:t>
            </a:r>
          </a:p>
        </p:txBody>
      </p:sp>
      <p:sp>
        <p:nvSpPr>
          <p:cNvPr id="19" name="타원 18"/>
          <p:cNvSpPr/>
          <p:nvPr/>
        </p:nvSpPr>
        <p:spPr>
          <a:xfrm>
            <a:off x="8974738" y="3439283"/>
            <a:ext cx="848413" cy="471340"/>
          </a:xfrm>
          <a:prstGeom prst="ellipse">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E7E6E6">
                    <a:lumMod val="10000"/>
                  </a:srgbClr>
                </a:solidFill>
                <a:effectLst/>
                <a:uLnTx/>
                <a:uFillTx/>
                <a:latin typeface="Frutiger LT 65 Bold"/>
                <a:ea typeface="Rix모던고딕 B"/>
                <a:cs typeface="+mn-cs"/>
              </a:rPr>
              <a:t>구체적</a:t>
            </a:r>
          </a:p>
        </p:txBody>
      </p:sp>
      <p:cxnSp>
        <p:nvCxnSpPr>
          <p:cNvPr id="20" name="직선 연결선 19"/>
          <p:cNvCxnSpPr/>
          <p:nvPr/>
        </p:nvCxnSpPr>
        <p:spPr>
          <a:xfrm flipH="1">
            <a:off x="3956837" y="4389512"/>
            <a:ext cx="1" cy="51225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직사각형 20"/>
          <p:cNvSpPr/>
          <p:nvPr/>
        </p:nvSpPr>
        <p:spPr>
          <a:xfrm>
            <a:off x="3633671" y="3714902"/>
            <a:ext cx="646331" cy="646331"/>
          </a:xfrm>
          <a:prstGeom prst="rect">
            <a:avLst/>
          </a:prstGeom>
          <a:solidFill>
            <a:schemeClr val="bg1"/>
          </a:solidFill>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3600" b="0" i="0" u="none" strike="noStrike" kern="1200" cap="none" spc="0" normalizeH="0" baseline="0" noProof="0" dirty="0">
                <a:ln>
                  <a:noFill/>
                </a:ln>
                <a:solidFill>
                  <a:srgbClr val="44546A"/>
                </a:solidFill>
                <a:effectLst/>
                <a:uLnTx/>
                <a:uFillTx/>
                <a:latin typeface="Frutiger LT 65 Bold"/>
                <a:ea typeface="Rix모던고딕 B"/>
                <a:cs typeface="+mn-cs"/>
              </a:rPr>
              <a:t>❶</a:t>
            </a:r>
            <a:endParaRPr kumimoji="0" lang="ko-KR" altLang="en-US" sz="3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6" name="TextBox 25"/>
          <p:cNvSpPr txBox="1"/>
          <p:nvPr/>
        </p:nvSpPr>
        <p:spPr>
          <a:xfrm>
            <a:off x="3352684" y="4766885"/>
            <a:ext cx="1241045" cy="538609"/>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수지상 세포 사건</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9" name="직선 연결선 28"/>
          <p:cNvCxnSpPr/>
          <p:nvPr/>
        </p:nvCxnSpPr>
        <p:spPr>
          <a:xfrm flipH="1">
            <a:off x="6151985" y="4389512"/>
            <a:ext cx="1" cy="51225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직사각형 29"/>
          <p:cNvSpPr/>
          <p:nvPr/>
        </p:nvSpPr>
        <p:spPr>
          <a:xfrm>
            <a:off x="5828819" y="3714902"/>
            <a:ext cx="646331" cy="646331"/>
          </a:xfrm>
          <a:prstGeom prst="rect">
            <a:avLst/>
          </a:prstGeom>
          <a:solidFill>
            <a:schemeClr val="bg1"/>
          </a:solidFill>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3600" b="0" i="0" u="none" strike="noStrike" kern="1200" cap="none" spc="0" normalizeH="0" baseline="0" noProof="0" dirty="0">
                <a:ln>
                  <a:noFill/>
                </a:ln>
                <a:solidFill>
                  <a:srgbClr val="44546A"/>
                </a:solidFill>
                <a:effectLst/>
                <a:uLnTx/>
                <a:uFillTx/>
                <a:latin typeface="Frutiger LT 65 Bold"/>
                <a:ea typeface="Rix모던고딕 B"/>
                <a:cs typeface="+mn-cs"/>
              </a:rPr>
              <a:t>❷</a:t>
            </a:r>
            <a:endParaRPr kumimoji="0" lang="ko-KR" altLang="en-US" sz="3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1" name="TextBox 30"/>
          <p:cNvSpPr txBox="1"/>
          <p:nvPr/>
        </p:nvSpPr>
        <p:spPr>
          <a:xfrm>
            <a:off x="5648652" y="4766885"/>
            <a:ext cx="1018227" cy="369332"/>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cxnSp>
        <p:nvCxnSpPr>
          <p:cNvPr id="32" name="직선 연결선 31"/>
          <p:cNvCxnSpPr/>
          <p:nvPr/>
        </p:nvCxnSpPr>
        <p:spPr>
          <a:xfrm flipH="1">
            <a:off x="8328737" y="4389512"/>
            <a:ext cx="1" cy="51225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직사각형 32"/>
          <p:cNvSpPr/>
          <p:nvPr/>
        </p:nvSpPr>
        <p:spPr>
          <a:xfrm>
            <a:off x="8005571" y="3714902"/>
            <a:ext cx="646331" cy="646331"/>
          </a:xfrm>
          <a:prstGeom prst="rect">
            <a:avLst/>
          </a:prstGeom>
          <a:solidFill>
            <a:schemeClr val="bg1"/>
          </a:solidFill>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3600" b="0" i="0" u="none" strike="noStrike" kern="1200" cap="none" spc="0" normalizeH="0" baseline="0" noProof="0" dirty="0">
                <a:ln>
                  <a:noFill/>
                </a:ln>
                <a:solidFill>
                  <a:srgbClr val="44546A"/>
                </a:solidFill>
                <a:effectLst/>
                <a:uLnTx/>
                <a:uFillTx/>
                <a:latin typeface="Frutiger LT 65 Bold"/>
                <a:ea typeface="Rix모던고딕 B"/>
                <a:cs typeface="+mn-cs"/>
              </a:rPr>
              <a:t>❸</a:t>
            </a:r>
            <a:endParaRPr kumimoji="0" lang="ko-KR" altLang="en-US" sz="3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4" name="TextBox 33"/>
          <p:cNvSpPr txBox="1"/>
          <p:nvPr/>
        </p:nvSpPr>
        <p:spPr>
          <a:xfrm>
            <a:off x="7825404" y="4766885"/>
            <a:ext cx="1018227" cy="369332"/>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sp>
        <p:nvSpPr>
          <p:cNvPr id="35" name="직사각형 34"/>
          <p:cNvSpPr/>
          <p:nvPr/>
        </p:nvSpPr>
        <p:spPr bwMode="auto">
          <a:xfrm>
            <a:off x="348791" y="5760839"/>
            <a:ext cx="11519555" cy="975339"/>
          </a:xfrm>
          <a:prstGeom prst="rect">
            <a:avLst/>
          </a:prstGeom>
          <a:ln>
            <a:solidFill>
              <a:schemeClr val="accent3"/>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72000" bIns="72000"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특허출원발명의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출원일 당시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수지상 세포는 혈액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단핵세포의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0.5%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미만으로 존재하고 분리된 후에는 수일 내로 사멸하기 때문에 연구하기가 쉽지 아니하여 혈액으로부터 충분한 양의 수지상 세포를 분리해 내는 것은 기술적으로 쉽지 않고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출원일 이후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기술의 발전에 따라 사람의 혈액으로부터 수지상 세포를 추출하고 이를 이용하여 면역반응을 유발시키는 기술이 임상적으로 실시되고 있다는 것이므로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결국 출원발명의 출원일 당시를 기준으로 수지상 세포를 사람의 혈액으로부터 분리하여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출원발명에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사용하는 기술이 장래에 산업상 이용가능성이 있다고 보기는 어렵다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36" name="모서리가 둥근 직사각형 35"/>
          <p:cNvSpPr/>
          <p:nvPr/>
        </p:nvSpPr>
        <p:spPr bwMode="auto">
          <a:xfrm>
            <a:off x="348791" y="5470524"/>
            <a:ext cx="4680521" cy="288032"/>
          </a:xfrm>
          <a:prstGeom prst="roundRect">
            <a:avLst>
              <a:gd name="adj" fmla="val 0"/>
            </a:avLst>
          </a:prstGeom>
          <a:solidFill>
            <a:schemeClr val="accent2">
              <a:lumMod val="75000"/>
            </a:schemeClr>
          </a:solidFill>
          <a:ln>
            <a:solidFill>
              <a:schemeClr val="accent3"/>
            </a:solidFill>
            <a:headEnd type="none" w="med" len="med"/>
            <a:tailEnd type="none"/>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2003. 3. 14.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2001</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2801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판결</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거절사정</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특</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2" name="TextBox 1"/>
          <p:cNvSpPr txBox="1"/>
          <p:nvPr/>
        </p:nvSpPr>
        <p:spPr>
          <a:xfrm>
            <a:off x="247191" y="1031403"/>
            <a:ext cx="1360786" cy="2074100"/>
          </a:xfrm>
          <a:prstGeom prst="rect">
            <a:avLst/>
          </a:prstGeom>
          <a:solidFill>
            <a:schemeClr val="tx2">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2800" b="0" i="0" u="none" strike="noStrike" kern="1200" cap="none" spc="0" normalizeH="0" baseline="0" noProof="0" dirty="0">
                <a:ln>
                  <a:noFill/>
                </a:ln>
                <a:solidFill>
                  <a:prstClr val="black"/>
                </a:solidFill>
                <a:effectLst/>
                <a:uLnTx/>
                <a:uFillTx/>
                <a:latin typeface="Frutiger LT 65 Bold"/>
                <a:ea typeface="Rix모던고딕 B"/>
                <a:cs typeface="+mn-cs"/>
              </a:rPr>
              <a:t>29</a:t>
            </a:r>
            <a:r>
              <a:rPr kumimoji="0" lang="ko-KR" altLang="en-US" sz="2800" b="0" i="0" u="none" strike="noStrike" kern="1200" cap="none" spc="0" normalizeH="0" baseline="0" noProof="0" dirty="0">
                <a:ln>
                  <a:noFill/>
                </a:ln>
                <a:solidFill>
                  <a:prstClr val="black"/>
                </a:solidFill>
                <a:effectLst/>
                <a:uLnTx/>
                <a:uFillTx/>
                <a:latin typeface="Frutiger LT 65 Bold"/>
                <a:ea typeface="Rix모던고딕 B"/>
                <a:cs typeface="+mn-cs"/>
              </a:rPr>
              <a:t>조</a:t>
            </a:r>
            <a:endParaRPr kumimoji="0" lang="en-US" altLang="ko-KR" sz="28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28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2800" b="0" i="0" u="none" strike="noStrike" kern="1200" cap="none" spc="0" normalizeH="0" baseline="0" noProof="0" dirty="0">
                <a:ln>
                  <a:noFill/>
                </a:ln>
                <a:solidFill>
                  <a:prstClr val="black"/>
                </a:solidFill>
                <a:effectLst/>
                <a:uLnTx/>
                <a:uFillTx/>
                <a:latin typeface="Frutiger LT 65 Bold"/>
                <a:ea typeface="Rix모던고딕 B"/>
                <a:cs typeface="+mn-cs"/>
              </a:rPr>
              <a:t>항</a:t>
            </a:r>
            <a:endParaRPr kumimoji="0" lang="en-US" altLang="ko-KR" sz="28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prstClr val="black"/>
                </a:solidFill>
                <a:effectLst/>
                <a:uLnTx/>
                <a:uFillTx/>
                <a:latin typeface="Frutiger LT 65 Bold"/>
                <a:ea typeface="Rix모던고딕 B"/>
                <a:cs typeface="+mn-cs"/>
              </a:rPr>
              <a:t>본문</a:t>
            </a:r>
          </a:p>
        </p:txBody>
      </p:sp>
      <p:sp>
        <p:nvSpPr>
          <p:cNvPr id="25" name="TextBox 24"/>
          <p:cNvSpPr txBox="1"/>
          <p:nvPr/>
        </p:nvSpPr>
        <p:spPr>
          <a:xfrm>
            <a:off x="1959351" y="1124469"/>
            <a:ext cx="4233947" cy="52322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prstClr val="black"/>
                </a:solidFill>
                <a:effectLst/>
                <a:uLnTx/>
                <a:uFillTx/>
                <a:latin typeface="Frutiger LT 65 Bold"/>
                <a:ea typeface="Rix모던고딕 B"/>
                <a:cs typeface="+mn-cs"/>
              </a:rPr>
              <a:t>산업상 이용할 수 있는 발명</a:t>
            </a:r>
          </a:p>
        </p:txBody>
      </p:sp>
      <p:cxnSp>
        <p:nvCxnSpPr>
          <p:cNvPr id="10" name="직선 연결선 9"/>
          <p:cNvCxnSpPr/>
          <p:nvPr/>
        </p:nvCxnSpPr>
        <p:spPr>
          <a:xfrm>
            <a:off x="2101299" y="1647689"/>
            <a:ext cx="3092823"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직선 연결선 36"/>
          <p:cNvCxnSpPr/>
          <p:nvPr/>
        </p:nvCxnSpPr>
        <p:spPr>
          <a:xfrm>
            <a:off x="5334036" y="1647689"/>
            <a:ext cx="662199"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1838955" y="2001026"/>
            <a:ext cx="2550698"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협의</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산업상 이용가능성</a:t>
            </a:r>
          </a:p>
        </p:txBody>
      </p:sp>
      <p:sp>
        <p:nvSpPr>
          <p:cNvPr id="38" name="TextBox 37"/>
          <p:cNvSpPr txBox="1"/>
          <p:nvPr/>
        </p:nvSpPr>
        <p:spPr>
          <a:xfrm>
            <a:off x="4692068" y="2001026"/>
            <a:ext cx="1499128"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발명의 </a:t>
            </a:r>
            <a:r>
              <a:rPr kumimoji="0" lang="ko-KR" altLang="en-US" sz="1800" b="0" i="0" u="none" strike="noStrike" kern="1200" cap="none" spc="0" normalizeH="0" baseline="0" noProof="0" dirty="0" err="1">
                <a:ln>
                  <a:noFill/>
                </a:ln>
                <a:solidFill>
                  <a:prstClr val="black"/>
                </a:solidFill>
                <a:effectLst/>
                <a:uLnTx/>
                <a:uFillTx/>
                <a:latin typeface="Frutiger LT 65 Bold"/>
                <a:ea typeface="Rix모던고딕 B"/>
                <a:cs typeface="+mn-cs"/>
              </a:rPr>
              <a:t>성립성</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4" name="TextBox 23"/>
          <p:cNvSpPr txBox="1"/>
          <p:nvPr/>
        </p:nvSpPr>
        <p:spPr>
          <a:xfrm>
            <a:off x="4369544" y="2001026"/>
            <a:ext cx="322524"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9" name="TextBox 38"/>
          <p:cNvSpPr txBox="1"/>
          <p:nvPr/>
        </p:nvSpPr>
        <p:spPr>
          <a:xfrm>
            <a:off x="2982354" y="2672128"/>
            <a:ext cx="2550698"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광의</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산업상 이용가능성</a:t>
            </a:r>
          </a:p>
        </p:txBody>
      </p:sp>
      <p:cxnSp>
        <p:nvCxnSpPr>
          <p:cNvPr id="28" name="꺾인 연결선 27"/>
          <p:cNvCxnSpPr>
            <a:stCxn id="13" idx="2"/>
            <a:endCxn id="39" idx="0"/>
          </p:cNvCxnSpPr>
          <p:nvPr/>
        </p:nvCxnSpPr>
        <p:spPr>
          <a:xfrm rot="16200000" flipH="1">
            <a:off x="3535118" y="1949543"/>
            <a:ext cx="301770" cy="114339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38" idx="2"/>
            <a:endCxn id="39" idx="0"/>
          </p:cNvCxnSpPr>
          <p:nvPr/>
        </p:nvCxnSpPr>
        <p:spPr>
          <a:xfrm rot="5400000">
            <a:off x="4698783" y="1929279"/>
            <a:ext cx="301770" cy="118392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2" name="표 41"/>
          <p:cNvGraphicFramePr>
            <a:graphicFrameLocks noGrp="1"/>
          </p:cNvGraphicFramePr>
          <p:nvPr/>
        </p:nvGraphicFramePr>
        <p:xfrm>
          <a:off x="6476785" y="1031403"/>
          <a:ext cx="5491186" cy="2084716"/>
        </p:xfrm>
        <a:graphic>
          <a:graphicData uri="http://schemas.openxmlformats.org/drawingml/2006/table">
            <a:tbl>
              <a:tblPr firstRow="1">
                <a:tableStyleId>{69CF1AB2-1976-4502-BF36-3FF5EA218861}</a:tableStyleId>
              </a:tblPr>
              <a:tblGrid>
                <a:gridCol w="2745593">
                  <a:extLst>
                    <a:ext uri="{9D8B030D-6E8A-4147-A177-3AD203B41FA5}">
                      <a16:colId xmlns:a16="http://schemas.microsoft.com/office/drawing/2014/main" val="734753533"/>
                    </a:ext>
                  </a:extLst>
                </a:gridCol>
                <a:gridCol w="2745593">
                  <a:extLst>
                    <a:ext uri="{9D8B030D-6E8A-4147-A177-3AD203B41FA5}">
                      <a16:colId xmlns:a16="http://schemas.microsoft.com/office/drawing/2014/main" val="3868350455"/>
                    </a:ext>
                  </a:extLst>
                </a:gridCol>
              </a:tblGrid>
              <a:tr h="383336">
                <a:tc>
                  <a:txBody>
                    <a:bodyPr/>
                    <a:lstStyle/>
                    <a:p>
                      <a:pPr algn="ctr" latinLnBrk="1"/>
                      <a:r>
                        <a:rPr lang="ko-KR" altLang="en-US" dirty="0"/>
                        <a:t>발명의 </a:t>
                      </a:r>
                      <a:r>
                        <a:rPr lang="ko-KR" altLang="en-US" dirty="0" err="1"/>
                        <a:t>성립성의</a:t>
                      </a:r>
                      <a:r>
                        <a:rPr lang="ko-KR" altLang="en-US" dirty="0"/>
                        <a:t> 관점</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dirty="0"/>
                        <a:t>산업상 이용가능성의 관점</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152754866"/>
                  </a:ext>
                </a:extLst>
              </a:tr>
              <a:tr h="661648">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200" dirty="0">
                          <a:solidFill>
                            <a:schemeClr val="tx1"/>
                          </a:solidFill>
                        </a:rPr>
                        <a:t>발명의 기술적 사상이면 되지 꼭 </a:t>
                      </a:r>
                      <a:r>
                        <a:rPr lang="ko-KR" altLang="en-US" sz="1200" dirty="0" err="1">
                          <a:solidFill>
                            <a:schemeClr val="tx1"/>
                          </a:solidFill>
                        </a:rPr>
                        <a:t>기술이어야</a:t>
                      </a:r>
                      <a:r>
                        <a:rPr lang="ko-KR" altLang="en-US" sz="1200" dirty="0">
                          <a:solidFill>
                            <a:schemeClr val="tx1"/>
                          </a:solidFill>
                        </a:rPr>
                        <a:t> 하는 것은 아니다</a:t>
                      </a:r>
                      <a:r>
                        <a:rPr lang="en-US" altLang="ko-KR" sz="1200" dirty="0">
                          <a:solidFill>
                            <a:schemeClr val="tx1"/>
                          </a:solidFill>
                        </a:rPr>
                        <a:t>.</a:t>
                      </a:r>
                    </a:p>
                    <a:p>
                      <a:pPr latinLnBrk="1"/>
                      <a:endParaRPr lang="ko-KR" altLang="en-US" sz="120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latinLnBrk="1"/>
                      <a:r>
                        <a:rPr lang="ko-KR" altLang="en-US" sz="1200" dirty="0">
                          <a:solidFill>
                            <a:schemeClr val="tx1"/>
                          </a:solidFill>
                        </a:rPr>
                        <a:t>발명이 즉시 이용되어야 하는 것은 아니며</a:t>
                      </a:r>
                      <a:r>
                        <a:rPr lang="en-US" altLang="ko-KR" sz="1200" dirty="0">
                          <a:solidFill>
                            <a:schemeClr val="tx1"/>
                          </a:solidFill>
                        </a:rPr>
                        <a:t>, </a:t>
                      </a:r>
                      <a:r>
                        <a:rPr lang="ko-KR" altLang="en-US" sz="1200" dirty="0">
                          <a:solidFill>
                            <a:schemeClr val="tx1"/>
                          </a:solidFill>
                        </a:rPr>
                        <a:t>장래에 이용될 가능성만 있으면 된다</a:t>
                      </a:r>
                      <a:r>
                        <a:rPr lang="en-US" altLang="ko-KR" sz="1200" dirty="0">
                          <a:solidFill>
                            <a:schemeClr val="tx1"/>
                          </a:solidFill>
                        </a:rPr>
                        <a:t>.</a:t>
                      </a:r>
                      <a:endParaRPr lang="ko-KR" altLang="en-US" sz="120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897226398"/>
                  </a:ext>
                </a:extLst>
              </a:tr>
              <a:tr h="1039732">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200" dirty="0">
                          <a:solidFill>
                            <a:schemeClr val="tx1"/>
                          </a:solidFill>
                        </a:rPr>
                        <a:t>발명의 기술적 </a:t>
                      </a:r>
                      <a:r>
                        <a:rPr lang="ko-KR" altLang="en-US" sz="1200" dirty="0" err="1">
                          <a:solidFill>
                            <a:schemeClr val="tx1"/>
                          </a:solidFill>
                        </a:rPr>
                        <a:t>사상이어야</a:t>
                      </a:r>
                      <a:r>
                        <a:rPr lang="ko-KR" altLang="en-US" sz="1200" dirty="0">
                          <a:solidFill>
                            <a:schemeClr val="tx1"/>
                          </a:solidFill>
                        </a:rPr>
                        <a:t> 하며 사상이어서는 안된다</a:t>
                      </a:r>
                      <a:r>
                        <a:rPr lang="en-US" altLang="ko-KR" sz="1200" dirty="0">
                          <a:solidFill>
                            <a:schemeClr val="tx1"/>
                          </a:solidFill>
                        </a:rPr>
                        <a:t>.</a:t>
                      </a:r>
                    </a:p>
                    <a:p>
                      <a:pPr latinLnBrk="1"/>
                      <a:endParaRPr lang="ko-KR" altLang="en-US" sz="120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latinLnBrk="1"/>
                      <a:r>
                        <a:rPr lang="ko-KR" altLang="en-US" sz="1200" dirty="0">
                          <a:solidFill>
                            <a:schemeClr val="tx1"/>
                          </a:solidFill>
                        </a:rPr>
                        <a:t>발명의 산업적 </a:t>
                      </a:r>
                      <a:r>
                        <a:rPr lang="ko-KR" altLang="en-US" sz="1200" dirty="0" err="1">
                          <a:solidFill>
                            <a:schemeClr val="tx1"/>
                          </a:solidFill>
                        </a:rPr>
                        <a:t>실시화가</a:t>
                      </a:r>
                      <a:r>
                        <a:rPr lang="ko-KR" altLang="en-US" sz="1200" dirty="0">
                          <a:solidFill>
                            <a:schemeClr val="tx1"/>
                          </a:solidFill>
                        </a:rPr>
                        <a:t> 장래에 있어도 좋다는 의미일 뿐 장래 관련 기술의 발전에 따라 기술적으로 보완되어 장래에 비로소 산업상 이용가능성이 생겨나는 경우까지 포함하는 것은 아니다</a:t>
                      </a:r>
                      <a:r>
                        <a:rPr lang="en-US" altLang="ko-KR" sz="1200" dirty="0">
                          <a:solidFill>
                            <a:schemeClr val="tx1"/>
                          </a:solidFill>
                        </a:rPr>
                        <a:t>.</a:t>
                      </a:r>
                      <a:endParaRPr lang="ko-KR" altLang="en-US" sz="120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597428338"/>
                  </a:ext>
                </a:extLst>
              </a:tr>
            </a:tbl>
          </a:graphicData>
        </a:graphic>
      </p:graphicFrame>
      <p:cxnSp>
        <p:nvCxnSpPr>
          <p:cNvPr id="54" name="꺾인 연결선 53"/>
          <p:cNvCxnSpPr>
            <a:stCxn id="25" idx="2"/>
            <a:endCxn id="13" idx="0"/>
          </p:cNvCxnSpPr>
          <p:nvPr/>
        </p:nvCxnSpPr>
        <p:spPr>
          <a:xfrm rot="5400000">
            <a:off x="3418647" y="1343347"/>
            <a:ext cx="353337" cy="962021"/>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6" name="꺾인 연결선 55"/>
          <p:cNvCxnSpPr>
            <a:endCxn id="38" idx="0"/>
          </p:cNvCxnSpPr>
          <p:nvPr/>
        </p:nvCxnSpPr>
        <p:spPr>
          <a:xfrm rot="5400000">
            <a:off x="5351731" y="1737591"/>
            <a:ext cx="353337" cy="173533"/>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69707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항본문</a:t>
            </a:r>
            <a:endParaRPr lang="ko-KR" altLang="en-US" dirty="0"/>
          </a:p>
        </p:txBody>
      </p:sp>
      <p:sp>
        <p:nvSpPr>
          <p:cNvPr id="4" name="텍스트 개체 틀 3"/>
          <p:cNvSpPr>
            <a:spLocks noGrp="1"/>
          </p:cNvSpPr>
          <p:nvPr>
            <p:ph type="body" sz="quarter" idx="13"/>
          </p:nvPr>
        </p:nvSpPr>
        <p:spPr/>
        <p:txBody>
          <a:bodyPr/>
          <a:lstStyle/>
          <a:p>
            <a:r>
              <a:rPr lang="ko-KR" altLang="en-US" dirty="0"/>
              <a:t>의료업의 판단</a:t>
            </a:r>
          </a:p>
        </p:txBody>
      </p:sp>
      <p:sp>
        <p:nvSpPr>
          <p:cNvPr id="5" name="슬라이드 번호 개체 틀 4"/>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55</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graphicFrame>
        <p:nvGraphicFramePr>
          <p:cNvPr id="11" name="표 10">
            <a:extLst>
              <a:ext uri="{FF2B5EF4-FFF2-40B4-BE49-F238E27FC236}">
                <a16:creationId xmlns:a16="http://schemas.microsoft.com/office/drawing/2014/main" id="{D0C1CB4B-F913-4E0A-B584-60EEAF7ABE0B}"/>
              </a:ext>
            </a:extLst>
          </p:cNvPr>
          <p:cNvGraphicFramePr>
            <a:graphicFrameLocks noGrp="1"/>
          </p:cNvGraphicFramePr>
          <p:nvPr/>
        </p:nvGraphicFramePr>
        <p:xfrm>
          <a:off x="1336391" y="2822022"/>
          <a:ext cx="9609517" cy="2253135"/>
        </p:xfrm>
        <a:graphic>
          <a:graphicData uri="http://schemas.openxmlformats.org/drawingml/2006/table">
            <a:tbl>
              <a:tblPr/>
              <a:tblGrid>
                <a:gridCol w="3067438">
                  <a:extLst>
                    <a:ext uri="{9D8B030D-6E8A-4147-A177-3AD203B41FA5}">
                      <a16:colId xmlns:a16="http://schemas.microsoft.com/office/drawing/2014/main" val="3467885255"/>
                    </a:ext>
                  </a:extLst>
                </a:gridCol>
                <a:gridCol w="1321246">
                  <a:extLst>
                    <a:ext uri="{9D8B030D-6E8A-4147-A177-3AD203B41FA5}">
                      <a16:colId xmlns:a16="http://schemas.microsoft.com/office/drawing/2014/main" val="2176955321"/>
                    </a:ext>
                  </a:extLst>
                </a:gridCol>
                <a:gridCol w="1017561">
                  <a:extLst>
                    <a:ext uri="{9D8B030D-6E8A-4147-A177-3AD203B41FA5}">
                      <a16:colId xmlns:a16="http://schemas.microsoft.com/office/drawing/2014/main" val="3839028592"/>
                    </a:ext>
                  </a:extLst>
                </a:gridCol>
                <a:gridCol w="4203272">
                  <a:extLst>
                    <a:ext uri="{9D8B030D-6E8A-4147-A177-3AD203B41FA5}">
                      <a16:colId xmlns:a16="http://schemas.microsoft.com/office/drawing/2014/main" val="4260659783"/>
                    </a:ext>
                  </a:extLst>
                </a:gridCol>
              </a:tblGrid>
              <a:tr h="459595">
                <a:tc>
                  <a:txBody>
                    <a:bodyPr/>
                    <a:lstStyle/>
                    <a:p>
                      <a:pPr marL="0" marR="0" indent="0" algn="ctr" fontAlgn="base" latinLnBrk="0">
                        <a:lnSpc>
                          <a:spcPct val="130000"/>
                        </a:lnSpc>
                        <a:spcBef>
                          <a:spcPts val="0"/>
                        </a:spcBef>
                        <a:spcAft>
                          <a:spcPts val="0"/>
                        </a:spcAft>
                      </a:pPr>
                      <a:r>
                        <a:rPr lang="ko-KR" altLang="en-US" sz="1600" kern="0" spc="-100" dirty="0">
                          <a:solidFill>
                            <a:srgbClr val="000000"/>
                          </a:solidFill>
                          <a:effectLst/>
                          <a:latin typeface="+mn-ea"/>
                          <a:ea typeface="+mn-ea"/>
                        </a:rPr>
                        <a:t>산업상 이용가능성</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tc>
                  <a:txBody>
                    <a:bodyPr/>
                    <a:lstStyle/>
                    <a:p>
                      <a:pPr marL="0" marR="0" indent="0" algn="ctr" fontAlgn="base" latinLnBrk="0">
                        <a:lnSpc>
                          <a:spcPct val="130000"/>
                        </a:lnSpc>
                        <a:spcBef>
                          <a:spcPts val="0"/>
                        </a:spcBef>
                        <a:spcAft>
                          <a:spcPts val="0"/>
                        </a:spcAft>
                      </a:pPr>
                      <a:r>
                        <a:rPr lang="ko-KR" altLang="en-US" sz="1600" kern="0" spc="-100" dirty="0">
                          <a:solidFill>
                            <a:srgbClr val="000000"/>
                          </a:solidFill>
                          <a:effectLst/>
                          <a:latin typeface="+mn-ea"/>
                          <a:ea typeface="+mn-ea"/>
                        </a:rPr>
                        <a:t>의료업</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tc>
                  <a:txBody>
                    <a:bodyPr/>
                    <a:lstStyle/>
                    <a:p>
                      <a:pPr marL="0" marR="0" indent="0" algn="ctr" fontAlgn="base" latinLnBrk="0">
                        <a:lnSpc>
                          <a:spcPct val="130000"/>
                        </a:lnSpc>
                        <a:spcBef>
                          <a:spcPts val="0"/>
                        </a:spcBef>
                        <a:spcAft>
                          <a:spcPts val="0"/>
                        </a:spcAft>
                      </a:pPr>
                      <a:r>
                        <a:rPr lang="ko-KR" altLang="en-US" sz="1600" kern="0" spc="-100" dirty="0">
                          <a:solidFill>
                            <a:srgbClr val="000000"/>
                          </a:solidFill>
                          <a:effectLst/>
                          <a:latin typeface="+mn-ea"/>
                          <a:ea typeface="+mn-ea"/>
                        </a:rPr>
                        <a:t>비의료업</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tc>
                  <a:txBody>
                    <a:bodyPr/>
                    <a:lstStyle/>
                    <a:p>
                      <a:pPr marL="0" marR="0" indent="0" algn="ctr" fontAlgn="base" latinLnBrk="0">
                        <a:lnSpc>
                          <a:spcPct val="130000"/>
                        </a:lnSpc>
                        <a:spcBef>
                          <a:spcPts val="0"/>
                        </a:spcBef>
                        <a:spcAft>
                          <a:spcPts val="0"/>
                        </a:spcAft>
                      </a:pPr>
                      <a:r>
                        <a:rPr lang="ko-KR" altLang="en-US" sz="1600" kern="0" spc="-100" dirty="0">
                          <a:solidFill>
                            <a:srgbClr val="000000"/>
                          </a:solidFill>
                          <a:effectLst/>
                          <a:latin typeface="+mn-ea"/>
                          <a:ea typeface="+mn-ea"/>
                        </a:rPr>
                        <a:t>비고</a:t>
                      </a:r>
                      <a:r>
                        <a:rPr lang="en-US" altLang="ko-KR" sz="1600" kern="0" spc="-100" dirty="0">
                          <a:solidFill>
                            <a:srgbClr val="000000"/>
                          </a:solidFill>
                          <a:effectLst/>
                          <a:latin typeface="+mn-ea"/>
                          <a:ea typeface="+mn-ea"/>
                        </a:rPr>
                        <a:t>(</a:t>
                      </a:r>
                      <a:r>
                        <a:rPr lang="ko-KR" altLang="en-US" sz="1600" kern="0" spc="-100" dirty="0">
                          <a:solidFill>
                            <a:srgbClr val="000000"/>
                          </a:solidFill>
                          <a:effectLst/>
                          <a:latin typeface="+mn-ea"/>
                          <a:ea typeface="+mn-ea"/>
                        </a:rPr>
                        <a:t>제</a:t>
                      </a:r>
                      <a:r>
                        <a:rPr lang="en-US" altLang="ko-KR" sz="1600" kern="0" spc="-100" dirty="0">
                          <a:solidFill>
                            <a:srgbClr val="000000"/>
                          </a:solidFill>
                          <a:effectLst/>
                          <a:latin typeface="+mn-ea"/>
                          <a:ea typeface="+mn-ea"/>
                        </a:rPr>
                        <a:t>32</a:t>
                      </a:r>
                      <a:r>
                        <a:rPr lang="ko-KR" altLang="en-US" sz="1600" kern="0" spc="-100" dirty="0">
                          <a:solidFill>
                            <a:srgbClr val="000000"/>
                          </a:solidFill>
                          <a:effectLst/>
                          <a:latin typeface="+mn-ea"/>
                          <a:ea typeface="+mn-ea"/>
                        </a:rPr>
                        <a:t>조 위반 여부는 별개</a:t>
                      </a:r>
                      <a:r>
                        <a:rPr lang="en-US" altLang="ko-KR" sz="1600" kern="0" spc="-100" dirty="0">
                          <a:solidFill>
                            <a:srgbClr val="000000"/>
                          </a:solidFill>
                          <a:effectLst/>
                          <a:latin typeface="+mn-ea"/>
                          <a:ea typeface="+mn-ea"/>
                        </a:rPr>
                        <a:t>)</a:t>
                      </a:r>
                      <a:endParaRPr lang="ko-KR" altLang="en-US" sz="1600" kern="0" spc="-10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extLst>
                  <a:ext uri="{0D108BD9-81ED-4DB2-BD59-A6C34878D82A}">
                    <a16:rowId xmlns:a16="http://schemas.microsoft.com/office/drawing/2014/main" val="2020115365"/>
                  </a:ext>
                </a:extLst>
              </a:tr>
              <a:tr h="896770">
                <a:tc>
                  <a:txBody>
                    <a:bodyPr/>
                    <a:lstStyle/>
                    <a:p>
                      <a:pPr marL="0" marR="0" indent="0" algn="ctr" fontAlgn="base" latinLnBrk="0">
                        <a:lnSpc>
                          <a:spcPct val="130000"/>
                        </a:lnSpc>
                        <a:spcBef>
                          <a:spcPts val="0"/>
                        </a:spcBef>
                        <a:spcAft>
                          <a:spcPts val="0"/>
                        </a:spcAft>
                      </a:pPr>
                      <a:r>
                        <a:rPr lang="ko-KR" altLang="en-US" sz="1600" kern="0" spc="-100" dirty="0">
                          <a:solidFill>
                            <a:srgbClr val="000000"/>
                          </a:solidFill>
                          <a:effectLst/>
                          <a:latin typeface="+mn-ea"/>
                          <a:ea typeface="+mn-ea"/>
                        </a:rPr>
                        <a:t>인체를 직접적인 구성요소로 </a:t>
                      </a:r>
                    </a:p>
                    <a:p>
                      <a:pPr marL="0" marR="0" indent="0" algn="ctr" fontAlgn="base" latinLnBrk="0">
                        <a:lnSpc>
                          <a:spcPct val="130000"/>
                        </a:lnSpc>
                        <a:spcBef>
                          <a:spcPts val="0"/>
                        </a:spcBef>
                        <a:spcAft>
                          <a:spcPts val="0"/>
                        </a:spcAft>
                      </a:pPr>
                      <a:r>
                        <a:rPr lang="ko-KR" altLang="en-US" sz="1600" kern="0" spc="-100" dirty="0">
                          <a:solidFill>
                            <a:srgbClr val="000000"/>
                          </a:solidFill>
                          <a:effectLst/>
                          <a:latin typeface="+mn-ea"/>
                          <a:ea typeface="+mn-ea"/>
                        </a:rPr>
                        <a:t>하는 경우</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600" kern="0" spc="-50" dirty="0">
                          <a:solidFill>
                            <a:srgbClr val="000000"/>
                          </a:solidFill>
                          <a:effectLst/>
                          <a:latin typeface="+mn-ea"/>
                          <a:ea typeface="+mn-ea"/>
                        </a:rPr>
                        <a:t>불인정</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600" kern="0" spc="-50" dirty="0">
                          <a:solidFill>
                            <a:srgbClr val="000000"/>
                          </a:solidFill>
                          <a:effectLst/>
                          <a:latin typeface="+mn-ea"/>
                          <a:ea typeface="+mn-ea"/>
                        </a:rPr>
                        <a:t>인정</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rowSpan="2">
                  <a:txBody>
                    <a:bodyPr/>
                    <a:lstStyle/>
                    <a:p>
                      <a:pPr marL="17780" marR="17780" lvl="0" indent="0" algn="ctr" defTabSz="914400" rtl="0" eaLnBrk="1" fontAlgn="base" latinLnBrk="0" hangingPunct="1">
                        <a:lnSpc>
                          <a:spcPct val="130000"/>
                        </a:lnSpc>
                        <a:spcBef>
                          <a:spcPts val="0"/>
                        </a:spcBef>
                        <a:spcAft>
                          <a:spcPts val="0"/>
                        </a:spcAft>
                        <a:buClrTx/>
                        <a:buSzTx/>
                        <a:buFontTx/>
                        <a:buNone/>
                        <a:tabLst/>
                        <a:defRPr/>
                      </a:pPr>
                      <a:r>
                        <a:rPr lang="ko-KR" altLang="en-US" sz="1600" kern="0" spc="-50" dirty="0">
                          <a:solidFill>
                            <a:schemeClr val="tx1"/>
                          </a:solidFill>
                          <a:effectLst/>
                          <a:latin typeface="+mn-ea"/>
                          <a:ea typeface="+mn-ea"/>
                        </a:rPr>
                        <a:t>단 발명을 실행할 때 필연적으로 신체를 손상하거나 신체의 자유를 비인도적으로 구속하는 경우 </a:t>
                      </a:r>
                      <a:r>
                        <a:rPr lang="ko-KR" altLang="en-US" sz="1600" kern="0" spc="-50" dirty="0" err="1">
                          <a:solidFill>
                            <a:schemeClr val="tx1"/>
                          </a:solidFill>
                          <a:effectLst/>
                          <a:latin typeface="+mn-ea"/>
                          <a:ea typeface="+mn-ea"/>
                        </a:rPr>
                        <a:t>불특허발명에</a:t>
                      </a:r>
                      <a:r>
                        <a:rPr lang="ko-KR" altLang="en-US" sz="1600" kern="0" spc="-50" dirty="0">
                          <a:solidFill>
                            <a:schemeClr val="tx1"/>
                          </a:solidFill>
                          <a:effectLst/>
                          <a:latin typeface="+mn-ea"/>
                          <a:ea typeface="+mn-ea"/>
                        </a:rPr>
                        <a:t> 해당 </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594422285"/>
                  </a:ext>
                </a:extLst>
              </a:tr>
              <a:tr h="896770">
                <a:tc>
                  <a:txBody>
                    <a:bodyPr/>
                    <a:lstStyle/>
                    <a:p>
                      <a:pPr marL="0" marR="0" indent="0" algn="ctr" fontAlgn="base" latinLnBrk="0">
                        <a:lnSpc>
                          <a:spcPct val="130000"/>
                        </a:lnSpc>
                        <a:spcBef>
                          <a:spcPts val="0"/>
                        </a:spcBef>
                        <a:spcAft>
                          <a:spcPts val="0"/>
                        </a:spcAft>
                      </a:pPr>
                      <a:r>
                        <a:rPr lang="ko-KR" altLang="en-US" sz="1600" kern="0" spc="-100">
                          <a:solidFill>
                            <a:srgbClr val="000000"/>
                          </a:solidFill>
                          <a:effectLst/>
                          <a:latin typeface="+mn-ea"/>
                          <a:ea typeface="+mn-ea"/>
                        </a:rPr>
                        <a:t>인체를 직접적인 구성요소로 </a:t>
                      </a:r>
                    </a:p>
                    <a:p>
                      <a:pPr marL="0" marR="0" indent="0" algn="ctr" fontAlgn="base" latinLnBrk="0">
                        <a:lnSpc>
                          <a:spcPct val="130000"/>
                        </a:lnSpc>
                        <a:spcBef>
                          <a:spcPts val="0"/>
                        </a:spcBef>
                        <a:spcAft>
                          <a:spcPts val="0"/>
                        </a:spcAft>
                      </a:pPr>
                      <a:r>
                        <a:rPr lang="ko-KR" altLang="en-US" sz="1600" kern="0" spc="-100">
                          <a:solidFill>
                            <a:srgbClr val="000000"/>
                          </a:solidFill>
                          <a:effectLst/>
                          <a:latin typeface="+mn-ea"/>
                          <a:ea typeface="+mn-ea"/>
                        </a:rPr>
                        <a:t>하지 아니하는 경우</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600" kern="0" spc="-50">
                          <a:solidFill>
                            <a:srgbClr val="000000"/>
                          </a:solidFill>
                          <a:effectLst/>
                          <a:latin typeface="+mn-ea"/>
                          <a:ea typeface="+mn-ea"/>
                        </a:rPr>
                        <a:t>인정</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600" kern="0" spc="-50" dirty="0">
                          <a:solidFill>
                            <a:srgbClr val="000000"/>
                          </a:solidFill>
                          <a:effectLst/>
                          <a:latin typeface="+mn-ea"/>
                          <a:ea typeface="+mn-ea"/>
                        </a:rPr>
                        <a:t>인정</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vMerge="1">
                  <a:txBody>
                    <a:bodyPr/>
                    <a:lstStyle/>
                    <a:p>
                      <a:pPr latinLnBrk="1"/>
                      <a:endParaRPr lang="ko-KR" altLang="en-US"/>
                    </a:p>
                  </a:txBody>
                  <a:tcPr/>
                </a:tc>
                <a:extLst>
                  <a:ext uri="{0D108BD9-81ED-4DB2-BD59-A6C34878D82A}">
                    <a16:rowId xmlns:a16="http://schemas.microsoft.com/office/drawing/2014/main" val="1344393845"/>
                  </a:ext>
                </a:extLst>
              </a:tr>
            </a:tbl>
          </a:graphicData>
        </a:graphic>
      </p:graphicFrame>
      <p:sp>
        <p:nvSpPr>
          <p:cNvPr id="16" name="말풍선: 모서리가 둥근 사각형 15">
            <a:extLst>
              <a:ext uri="{FF2B5EF4-FFF2-40B4-BE49-F238E27FC236}">
                <a16:creationId xmlns:a16="http://schemas.microsoft.com/office/drawing/2014/main" id="{84C0FC24-0E75-4BB3-B807-D236B423746B}"/>
              </a:ext>
            </a:extLst>
          </p:cNvPr>
          <p:cNvSpPr/>
          <p:nvPr/>
        </p:nvSpPr>
        <p:spPr>
          <a:xfrm>
            <a:off x="232473" y="1596306"/>
            <a:ext cx="4819973" cy="1071256"/>
          </a:xfrm>
          <a:prstGeom prst="wedgeRoundRectCallout">
            <a:avLst>
              <a:gd name="adj1" fmla="val 40438"/>
              <a:gd name="adj2" fmla="val 143910"/>
              <a:gd name="adj3" fmla="val 16667"/>
            </a:avLst>
          </a:prstGeom>
          <a:no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인간을 대상으로 하는 수술방법</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치료방법</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진단방법</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285750" marR="0" lvl="0" indent="-285750" algn="l"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혈액투석방법</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285750" marR="0" lvl="0" indent="-285750" algn="l"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온구기를 사용하여 사람의 등 부위의 경혈과 배 부위의 경혈을 자극하는 방법</a:t>
            </a:r>
          </a:p>
        </p:txBody>
      </p:sp>
      <p:sp>
        <p:nvSpPr>
          <p:cNvPr id="43" name="말풍선: 모서리가 둥근 사각형 42">
            <a:extLst>
              <a:ext uri="{FF2B5EF4-FFF2-40B4-BE49-F238E27FC236}">
                <a16:creationId xmlns:a16="http://schemas.microsoft.com/office/drawing/2014/main" id="{2AB76D06-146A-4336-9D4A-68A594A8950C}"/>
              </a:ext>
            </a:extLst>
          </p:cNvPr>
          <p:cNvSpPr/>
          <p:nvPr/>
        </p:nvSpPr>
        <p:spPr>
          <a:xfrm>
            <a:off x="495945" y="5218983"/>
            <a:ext cx="11353874" cy="1518205"/>
          </a:xfrm>
          <a:prstGeom prst="wedgeRoundRectCallout">
            <a:avLst>
              <a:gd name="adj1" fmla="val -9715"/>
              <a:gd name="adj2" fmla="val -75934"/>
              <a:gd name="adj3" fmla="val 16667"/>
            </a:avLst>
          </a:prstGeom>
          <a:no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사람으로부터 자연적으로 배출된 것</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채취된 것을 처리하는 방법</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285750" marR="0" lvl="0" indent="-285750" algn="l"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인체를 직접적인 구성요소로 하지 아니한 의료행위에 사용하는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의료기기ㆍ장치</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및 의약품</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혈액투석장치</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285750" marR="0" lvl="0" indent="-285750" algn="l"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사람의 등과 배 부위의 경혈을 자극하는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온구기</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285750" marR="0" lvl="0" indent="-285750" algn="l"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인간 이외의 동물에 한정함을 청구범위에 명시</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285750" marR="0" lvl="0" indent="-285750" algn="l"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진단방법이라고 할지라도 의사의 임상적 판단을 포함하지 아니한 경우</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285750" marR="0" lvl="0" indent="-285750" algn="l"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의료기기의 작동방법 또는 의료기기를 이용한 측정방법 발명</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그 구성에 인체와 의료기기 간의 상호작용이 인체에 직접적이면서 일시적이 아닌 영향을 주는 경우 또는 실질적인 의료행위를 포함하는 경우를 제외</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45" name="말풍선: 모서리가 둥근 사각형 44">
            <a:extLst>
              <a:ext uri="{FF2B5EF4-FFF2-40B4-BE49-F238E27FC236}">
                <a16:creationId xmlns:a16="http://schemas.microsoft.com/office/drawing/2014/main" id="{6AE6840E-7749-4246-B581-34A55EE4B57F}"/>
              </a:ext>
            </a:extLst>
          </p:cNvPr>
          <p:cNvSpPr/>
          <p:nvPr/>
        </p:nvSpPr>
        <p:spPr>
          <a:xfrm>
            <a:off x="8704053" y="2218110"/>
            <a:ext cx="2125312" cy="449451"/>
          </a:xfrm>
          <a:prstGeom prst="wedgeRoundRectCallout">
            <a:avLst>
              <a:gd name="adj1" fmla="val -150509"/>
              <a:gd name="adj2" fmla="val 287955"/>
              <a:gd name="adj3" fmla="val 16667"/>
            </a:avLst>
          </a:prstGeom>
          <a:no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모발의 웨이브방법</a:t>
            </a:r>
          </a:p>
        </p:txBody>
      </p:sp>
      <p:sp>
        <p:nvSpPr>
          <p:cNvPr id="2" name="사각형: 둥근 모서리 1">
            <a:extLst>
              <a:ext uri="{FF2B5EF4-FFF2-40B4-BE49-F238E27FC236}">
                <a16:creationId xmlns:a16="http://schemas.microsoft.com/office/drawing/2014/main" id="{13CF8121-668C-446B-A262-730354446CF2}"/>
              </a:ext>
            </a:extLst>
          </p:cNvPr>
          <p:cNvSpPr/>
          <p:nvPr/>
        </p:nvSpPr>
        <p:spPr>
          <a:xfrm>
            <a:off x="4701397" y="2811388"/>
            <a:ext cx="2044460" cy="509782"/>
          </a:xfrm>
          <a:prstGeom prst="roundRect">
            <a:avLst>
              <a:gd name="adj" fmla="val 50000"/>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 name="직사각형 5">
            <a:extLst>
              <a:ext uri="{FF2B5EF4-FFF2-40B4-BE49-F238E27FC236}">
                <a16:creationId xmlns:a16="http://schemas.microsoft.com/office/drawing/2014/main" id="{52329E31-DEC5-4EAF-9148-ADB98F099D6C}"/>
              </a:ext>
            </a:extLst>
          </p:cNvPr>
          <p:cNvSpPr/>
          <p:nvPr/>
        </p:nvSpPr>
        <p:spPr>
          <a:xfrm>
            <a:off x="5555411" y="1068035"/>
            <a:ext cx="1423361" cy="603791"/>
          </a:xfrm>
          <a:prstGeom prst="rect">
            <a:avLst/>
          </a:prstGeom>
          <a:solidFill>
            <a:schemeClr val="accent2">
              <a:lumMod val="20000"/>
              <a:lumOff val="80000"/>
            </a:schemeClr>
          </a:solid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치료</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비치료</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효과 </a:t>
            </a:r>
            <a:endPar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혼재된 경우</a:t>
            </a:r>
          </a:p>
        </p:txBody>
      </p:sp>
      <p:cxnSp>
        <p:nvCxnSpPr>
          <p:cNvPr id="8" name="연결선: 꺾임 7">
            <a:extLst>
              <a:ext uri="{FF2B5EF4-FFF2-40B4-BE49-F238E27FC236}">
                <a16:creationId xmlns:a16="http://schemas.microsoft.com/office/drawing/2014/main" id="{9CA518BD-6F6C-4318-8A57-7E0AE9655D78}"/>
              </a:ext>
            </a:extLst>
          </p:cNvPr>
          <p:cNvCxnSpPr>
            <a:cxnSpLocks/>
            <a:stCxn id="2" idx="0"/>
            <a:endCxn id="6" idx="2"/>
          </p:cNvCxnSpPr>
          <p:nvPr/>
        </p:nvCxnSpPr>
        <p:spPr>
          <a:xfrm rot="5400000" flipH="1" flipV="1">
            <a:off x="5425578" y="1969875"/>
            <a:ext cx="1139562" cy="543465"/>
          </a:xfrm>
          <a:prstGeom prst="bentConnector3">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 name="직사각형 8">
            <a:extLst>
              <a:ext uri="{FF2B5EF4-FFF2-40B4-BE49-F238E27FC236}">
                <a16:creationId xmlns:a16="http://schemas.microsoft.com/office/drawing/2014/main" id="{A3D28216-58E4-456D-BEB2-D8982A631F48}"/>
              </a:ext>
            </a:extLst>
          </p:cNvPr>
          <p:cNvSpPr/>
          <p:nvPr/>
        </p:nvSpPr>
        <p:spPr>
          <a:xfrm>
            <a:off x="7146987" y="1596305"/>
            <a:ext cx="4826477" cy="353683"/>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lumMod val="65000"/>
                    <a:lumOff val="35000"/>
                  </a:prstClr>
                </a:solidFill>
                <a:effectLst/>
                <a:uLnTx/>
                <a:uFillTx/>
                <a:latin typeface="Frutiger LT 65 Bold"/>
                <a:ea typeface="Rix모던고딕 B"/>
                <a:cs typeface="+mn-cs"/>
              </a:rPr>
              <a:t>그렇지 아니하면</a:t>
            </a:r>
            <a:r>
              <a:rPr kumimoji="0" lang="en-US" altLang="ko-KR" sz="1200" b="0" i="0" u="none" strike="noStrike" kern="1200" cap="none" spc="0" normalizeH="0" baseline="0" noProof="0" dirty="0">
                <a:ln>
                  <a:noFill/>
                </a:ln>
                <a:solidFill>
                  <a:prstClr val="black">
                    <a:lumMod val="65000"/>
                    <a:lumOff val="35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lumMod val="65000"/>
                    <a:lumOff val="35000"/>
                  </a:prstClr>
                </a:solidFill>
                <a:effectLst/>
                <a:uLnTx/>
                <a:uFillTx/>
                <a:latin typeface="Frutiger LT 65 Bold"/>
                <a:ea typeface="Rix모던고딕 B"/>
                <a:cs typeface="+mn-cs"/>
              </a:rPr>
              <a:t>산업상 이용가능성 불인정</a:t>
            </a:r>
          </a:p>
        </p:txBody>
      </p:sp>
      <p:sp>
        <p:nvSpPr>
          <p:cNvPr id="14" name="직사각형 13">
            <a:extLst>
              <a:ext uri="{FF2B5EF4-FFF2-40B4-BE49-F238E27FC236}">
                <a16:creationId xmlns:a16="http://schemas.microsoft.com/office/drawing/2014/main" id="{942B8B56-098C-4B24-AC23-5CF608CE818C}"/>
              </a:ext>
            </a:extLst>
          </p:cNvPr>
          <p:cNvSpPr/>
          <p:nvPr/>
        </p:nvSpPr>
        <p:spPr>
          <a:xfrm>
            <a:off x="7146987" y="915196"/>
            <a:ext cx="4826477" cy="603791"/>
          </a:xfrm>
          <a:prstGeom prst="rect">
            <a:avLst/>
          </a:prstGeom>
          <a:noFill/>
          <a:ln>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① 분리가능 </a:t>
            </a:r>
            <a:r>
              <a:rPr kumimoji="0" lang="en-US" altLang="ko-KR" sz="1200" b="0" i="0" u="none" strike="noStrike" kern="1200" cap="none" spc="0" normalizeH="0" baseline="0" noProof="0">
                <a:ln>
                  <a:noFill/>
                </a:ln>
                <a:solidFill>
                  <a:srgbClr val="FF0000"/>
                </a:solidFill>
                <a:effectLst/>
                <a:uLnTx/>
                <a:uFillTx/>
                <a:latin typeface="Frutiger LT 65 Bold"/>
                <a:ea typeface="Rix모던고딕 B"/>
                <a:cs typeface="+mn-cs"/>
              </a:rPr>
              <a:t>&amp;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②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청구항이 비치료적 용도 한정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&amp; ③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치료 효과가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비치료</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효과를 달성하기 위한 과정에서 부수적인 효과인 경우 산업상 이용가능성 인정</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endPar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13" name="연결선: 꺾임 12">
            <a:extLst>
              <a:ext uri="{FF2B5EF4-FFF2-40B4-BE49-F238E27FC236}">
                <a16:creationId xmlns:a16="http://schemas.microsoft.com/office/drawing/2014/main" id="{1DB5241E-0AD9-45C3-B6DC-39CD4EB1D3B2}"/>
              </a:ext>
            </a:extLst>
          </p:cNvPr>
          <p:cNvCxnSpPr>
            <a:stCxn id="6" idx="3"/>
            <a:endCxn id="9" idx="1"/>
          </p:cNvCxnSpPr>
          <p:nvPr/>
        </p:nvCxnSpPr>
        <p:spPr>
          <a:xfrm>
            <a:off x="6978772" y="1369931"/>
            <a:ext cx="168215" cy="40321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연결선: 꺾임 16">
            <a:extLst>
              <a:ext uri="{FF2B5EF4-FFF2-40B4-BE49-F238E27FC236}">
                <a16:creationId xmlns:a16="http://schemas.microsoft.com/office/drawing/2014/main" id="{EC70ECFC-BE1A-4C5E-9414-10FCFB1AD7D9}"/>
              </a:ext>
            </a:extLst>
          </p:cNvPr>
          <p:cNvCxnSpPr>
            <a:stCxn id="6" idx="3"/>
            <a:endCxn id="14" idx="1"/>
          </p:cNvCxnSpPr>
          <p:nvPr/>
        </p:nvCxnSpPr>
        <p:spPr>
          <a:xfrm flipV="1">
            <a:off x="6978772" y="1217092"/>
            <a:ext cx="168215" cy="15283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말풍선: 모서리가 둥근 사각형 6">
            <a:extLst>
              <a:ext uri="{FF2B5EF4-FFF2-40B4-BE49-F238E27FC236}">
                <a16:creationId xmlns:a16="http://schemas.microsoft.com/office/drawing/2014/main" id="{A7E2491E-BE75-BE8D-75BD-5E7328079DAD}"/>
              </a:ext>
            </a:extLst>
          </p:cNvPr>
          <p:cNvSpPr/>
          <p:nvPr/>
        </p:nvSpPr>
        <p:spPr>
          <a:xfrm>
            <a:off x="1303572" y="1005712"/>
            <a:ext cx="3895999" cy="364220"/>
          </a:xfrm>
          <a:prstGeom prst="wedgeRoundRectCallout">
            <a:avLst>
              <a:gd name="adj1" fmla="val 58117"/>
              <a:gd name="adj2" fmla="val 30536"/>
              <a:gd name="adj3" fmla="val 16667"/>
            </a:avLst>
          </a:prstGeom>
          <a:no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오케스트라 연주기법에 의한 피부미용법</a:t>
            </a:r>
          </a:p>
        </p:txBody>
      </p:sp>
    </p:spTree>
    <p:extLst>
      <p:ext uri="{BB962C8B-B14F-4D97-AF65-F5344CB8AC3E}">
        <p14:creationId xmlns:p14="http://schemas.microsoft.com/office/powerpoint/2010/main" val="305717548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직선 화살표 연결선 5"/>
          <p:cNvCxnSpPr>
            <a:stCxn id="72" idx="3"/>
            <a:endCxn id="67" idx="1"/>
          </p:cNvCxnSpPr>
          <p:nvPr/>
        </p:nvCxnSpPr>
        <p:spPr>
          <a:xfrm>
            <a:off x="4286900" y="4011751"/>
            <a:ext cx="4618004" cy="431800"/>
          </a:xfrm>
          <a:prstGeom prst="straightConnector1">
            <a:avLst/>
          </a:prstGeom>
          <a:ln w="57150">
            <a:solidFill>
              <a:schemeClr val="accent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 name="자유형 15"/>
          <p:cNvSpPr/>
          <p:nvPr/>
        </p:nvSpPr>
        <p:spPr>
          <a:xfrm>
            <a:off x="1612900" y="2777122"/>
            <a:ext cx="7797800" cy="664577"/>
          </a:xfrm>
          <a:custGeom>
            <a:avLst/>
            <a:gdLst>
              <a:gd name="connsiteX0" fmla="*/ 7797800 w 7797800"/>
              <a:gd name="connsiteY0" fmla="*/ 1066800 h 1104900"/>
              <a:gd name="connsiteX1" fmla="*/ 7327900 w 7797800"/>
              <a:gd name="connsiteY1" fmla="*/ 0 h 1104900"/>
              <a:gd name="connsiteX2" fmla="*/ 0 w 7797800"/>
              <a:gd name="connsiteY2" fmla="*/ 0 h 1104900"/>
              <a:gd name="connsiteX3" fmla="*/ 0 w 7797800"/>
              <a:gd name="connsiteY3" fmla="*/ 1104900 h 1104900"/>
            </a:gdLst>
            <a:ahLst/>
            <a:cxnLst>
              <a:cxn ang="0">
                <a:pos x="connsiteX0" y="connsiteY0"/>
              </a:cxn>
              <a:cxn ang="0">
                <a:pos x="connsiteX1" y="connsiteY1"/>
              </a:cxn>
              <a:cxn ang="0">
                <a:pos x="connsiteX2" y="connsiteY2"/>
              </a:cxn>
              <a:cxn ang="0">
                <a:pos x="connsiteX3" y="connsiteY3"/>
              </a:cxn>
            </a:cxnLst>
            <a:rect l="l" t="t" r="r" b="b"/>
            <a:pathLst>
              <a:path w="7797800" h="1104900">
                <a:moveTo>
                  <a:pt x="7797800" y="1066800"/>
                </a:moveTo>
                <a:lnTo>
                  <a:pt x="7327900" y="0"/>
                </a:lnTo>
                <a:lnTo>
                  <a:pt x="0" y="0"/>
                </a:lnTo>
                <a:lnTo>
                  <a:pt x="0" y="1104900"/>
                </a:lnTo>
              </a:path>
            </a:pathLst>
          </a:custGeom>
          <a:pattFill prst="smGrid">
            <a:fgClr>
              <a:schemeClr val="accent2">
                <a:lumMod val="40000"/>
                <a:lumOff val="6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p:cNvSpPr>
            <a:spLocks noGrp="1"/>
          </p:cNvSpPr>
          <p:nvPr>
            <p:ph type="body" sz="quarter" idx="13"/>
          </p:nvPr>
        </p:nvSpPr>
        <p:spPr/>
        <p:txBody>
          <a:bodyPr/>
          <a:lstStyle/>
          <a:p>
            <a:r>
              <a:rPr lang="ko-KR" altLang="en-US" dirty="0"/>
              <a:t>신규성의 개념</a:t>
            </a:r>
          </a:p>
        </p:txBody>
      </p:sp>
      <p:cxnSp>
        <p:nvCxnSpPr>
          <p:cNvPr id="52" name="직선 연결선 51"/>
          <p:cNvCxnSpPr/>
          <p:nvPr/>
        </p:nvCxnSpPr>
        <p:spPr>
          <a:xfrm>
            <a:off x="1595095" y="3466568"/>
            <a:ext cx="906753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직사각형 56"/>
          <p:cNvSpPr/>
          <p:nvPr/>
        </p:nvSpPr>
        <p:spPr>
          <a:xfrm>
            <a:off x="8016544" y="3250119"/>
            <a:ext cx="2626056" cy="43289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특허출원일</a:t>
            </a:r>
            <a:endParaRPr kumimoji="0" lang="ko-KR" altLang="en-US" sz="2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65" name="직선 연결선 64"/>
          <p:cNvCxnSpPr/>
          <p:nvPr/>
        </p:nvCxnSpPr>
        <p:spPr>
          <a:xfrm flipH="1">
            <a:off x="9408237" y="3818012"/>
            <a:ext cx="1" cy="51225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8904904" y="4258885"/>
            <a:ext cx="1018227" cy="369332"/>
          </a:xfrm>
          <a:prstGeom prst="rect">
            <a:avLst/>
          </a:prstGeom>
          <a:solidFill>
            <a:schemeClr val="accent1">
              <a:lumMod val="40000"/>
              <a:lumOff val="60000"/>
            </a:schemeClr>
          </a:solid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sp>
        <p:nvSpPr>
          <p:cNvPr id="5" name="TextBox 4"/>
          <p:cNvSpPr txBox="1"/>
          <p:nvPr/>
        </p:nvSpPr>
        <p:spPr>
          <a:xfrm>
            <a:off x="7812802" y="3751758"/>
            <a:ext cx="445956"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68" name="TextBox 67"/>
          <p:cNvSpPr txBox="1"/>
          <p:nvPr/>
        </p:nvSpPr>
        <p:spPr>
          <a:xfrm>
            <a:off x="10439655" y="3751758"/>
            <a:ext cx="545342"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69" name="TextBox 68"/>
          <p:cNvSpPr txBox="1"/>
          <p:nvPr/>
        </p:nvSpPr>
        <p:spPr>
          <a:xfrm>
            <a:off x="9408237" y="3751758"/>
            <a:ext cx="545342"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70" name="TextBox 69"/>
          <p:cNvSpPr txBox="1"/>
          <p:nvPr/>
        </p:nvSpPr>
        <p:spPr>
          <a:xfrm>
            <a:off x="4814225" y="2391196"/>
            <a:ext cx="1290738" cy="369332"/>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 전</a:t>
            </a:r>
          </a:p>
        </p:txBody>
      </p:sp>
      <p:cxnSp>
        <p:nvCxnSpPr>
          <p:cNvPr id="71" name="직선 연결선 70"/>
          <p:cNvCxnSpPr/>
          <p:nvPr/>
        </p:nvCxnSpPr>
        <p:spPr>
          <a:xfrm>
            <a:off x="3438314" y="3520063"/>
            <a:ext cx="1" cy="810205"/>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2579381" y="3827085"/>
            <a:ext cx="1707519" cy="369332"/>
          </a:xfrm>
          <a:prstGeom prst="rect">
            <a:avLst/>
          </a:prstGeom>
          <a:solidFill>
            <a:schemeClr val="accent4">
              <a:lumMod val="40000"/>
              <a:lumOff val="60000"/>
            </a:schemeClr>
          </a:solid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국내외 </a:t>
            </a:r>
            <a:r>
              <a:rPr kumimoji="0" lang="ko-KR" altLang="en-US" sz="1800" b="0" i="0" u="none" strike="noStrike" kern="1200" cap="none" spc="0" normalizeH="0" baseline="0" noProof="0" dirty="0" err="1">
                <a:ln>
                  <a:noFill/>
                </a:ln>
                <a:solidFill>
                  <a:prstClr val="black"/>
                </a:solidFill>
                <a:effectLst/>
                <a:uLnTx/>
                <a:uFillTx/>
                <a:latin typeface="Frutiger LT 65 Bold"/>
                <a:ea typeface="Rix모던고딕 B"/>
                <a:cs typeface="+mn-cs"/>
              </a:rPr>
              <a:t>공지기술</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8" name="직사각형 17"/>
          <p:cNvSpPr/>
          <p:nvPr/>
        </p:nvSpPr>
        <p:spPr>
          <a:xfrm>
            <a:off x="1428380" y="2476500"/>
            <a:ext cx="203200" cy="1104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3" name="TextBox 72"/>
          <p:cNvSpPr txBox="1"/>
          <p:nvPr/>
        </p:nvSpPr>
        <p:spPr>
          <a:xfrm>
            <a:off x="3712540" y="4565280"/>
            <a:ext cx="2894448" cy="369332"/>
          </a:xfrm>
          <a:prstGeom prst="rect">
            <a:avLst/>
          </a:prstGeom>
          <a:solidFill>
            <a:schemeClr val="bg1"/>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공지</a:t>
            </a:r>
          </a:p>
        </p:txBody>
      </p:sp>
      <p:sp>
        <p:nvSpPr>
          <p:cNvPr id="74" name="TextBox 73"/>
          <p:cNvSpPr txBox="1"/>
          <p:nvPr/>
        </p:nvSpPr>
        <p:spPr>
          <a:xfrm>
            <a:off x="3712540" y="4994567"/>
            <a:ext cx="2894448" cy="369332"/>
          </a:xfrm>
          <a:prstGeom prst="rect">
            <a:avLst/>
          </a:prstGeom>
          <a:solidFill>
            <a:schemeClr val="bg1"/>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공연실시</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5" name="TextBox 74"/>
          <p:cNvSpPr txBox="1"/>
          <p:nvPr/>
        </p:nvSpPr>
        <p:spPr>
          <a:xfrm>
            <a:off x="3712540" y="5397087"/>
            <a:ext cx="2894448" cy="369332"/>
          </a:xfrm>
          <a:prstGeom prst="rect">
            <a:avLst/>
          </a:prstGeom>
          <a:solidFill>
            <a:schemeClr val="bg1"/>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반포된 간행물 게재</a:t>
            </a:r>
          </a:p>
        </p:txBody>
      </p:sp>
      <p:sp>
        <p:nvSpPr>
          <p:cNvPr id="76" name="TextBox 75"/>
          <p:cNvSpPr txBox="1"/>
          <p:nvPr/>
        </p:nvSpPr>
        <p:spPr>
          <a:xfrm>
            <a:off x="3712540" y="5826374"/>
            <a:ext cx="2894448" cy="369332"/>
          </a:xfrm>
          <a:prstGeom prst="rect">
            <a:avLst/>
          </a:prstGeom>
          <a:solidFill>
            <a:schemeClr val="bg1"/>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전기통신회선을 통하여 공중 이용가능</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3" name="꺾인 연결선 22"/>
          <p:cNvCxnSpPr>
            <a:stCxn id="72" idx="2"/>
            <a:endCxn id="76" idx="1"/>
          </p:cNvCxnSpPr>
          <p:nvPr/>
        </p:nvCxnSpPr>
        <p:spPr>
          <a:xfrm rot="16200000" flipH="1">
            <a:off x="2665529" y="4964028"/>
            <a:ext cx="1814623" cy="279399"/>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꺾인 연결선 76"/>
          <p:cNvCxnSpPr>
            <a:stCxn id="72" idx="2"/>
            <a:endCxn id="73" idx="1"/>
          </p:cNvCxnSpPr>
          <p:nvPr/>
        </p:nvCxnSpPr>
        <p:spPr>
          <a:xfrm rot="16200000" flipH="1">
            <a:off x="3296076" y="4333481"/>
            <a:ext cx="553529" cy="279399"/>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꺾인 연결선 78"/>
          <p:cNvCxnSpPr>
            <a:stCxn id="72" idx="2"/>
            <a:endCxn id="74" idx="1"/>
          </p:cNvCxnSpPr>
          <p:nvPr/>
        </p:nvCxnSpPr>
        <p:spPr>
          <a:xfrm rot="16200000" flipH="1">
            <a:off x="3081432" y="4548125"/>
            <a:ext cx="982816" cy="279399"/>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꺾인 연결선 80"/>
          <p:cNvCxnSpPr>
            <a:stCxn id="72" idx="2"/>
            <a:endCxn id="75" idx="1"/>
          </p:cNvCxnSpPr>
          <p:nvPr/>
        </p:nvCxnSpPr>
        <p:spPr>
          <a:xfrm rot="16200000" flipH="1">
            <a:off x="2880172" y="4749385"/>
            <a:ext cx="1385336" cy="279399"/>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0" name="TextBox 89"/>
          <p:cNvSpPr txBox="1"/>
          <p:nvPr/>
        </p:nvSpPr>
        <p:spPr>
          <a:xfrm>
            <a:off x="77875" y="986046"/>
            <a:ext cx="11936323" cy="738664"/>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29</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err="1">
                <a:ln>
                  <a:noFill/>
                </a:ln>
                <a:solidFill>
                  <a:srgbClr val="5B9BD5"/>
                </a:solidFill>
                <a:effectLst/>
                <a:uLnTx/>
                <a:uFillTx/>
                <a:latin typeface="Frutiger LT 65 Bold"/>
                <a:ea typeface="Rix모던고딕 B"/>
                <a:cs typeface="+mn-cs"/>
              </a:rPr>
              <a:t>특허요건</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산업상 이용할 수 있는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발명으로서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다음 각 호의 어느 하나에 해당하는 것을 제외하고는 그 발명에 대하여 특허를 받을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 전에 국내 또는 국외에서 공지</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公知</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되었거나 공연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公然</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히 실시된 발명</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 전에 국내 또는 국외에서 반포된 간행물에 게재되었거나 전기통신회선을 통하여 공중</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公衆</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 이용할 수 있는 발명</a:t>
            </a:r>
          </a:p>
        </p:txBody>
      </p:sp>
      <p:cxnSp>
        <p:nvCxnSpPr>
          <p:cNvPr id="91" name="직선 연결선 90"/>
          <p:cNvCxnSpPr/>
          <p:nvPr/>
        </p:nvCxnSpPr>
        <p:spPr>
          <a:xfrm>
            <a:off x="0" y="174563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2" name="TextBox 81"/>
          <p:cNvSpPr txBox="1"/>
          <p:nvPr/>
        </p:nvSpPr>
        <p:spPr>
          <a:xfrm>
            <a:off x="6042295" y="3871770"/>
            <a:ext cx="1324402" cy="584775"/>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동일성</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객관적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창작성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56</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7" name="TextBox 6">
            <a:extLst>
              <a:ext uri="{FF2B5EF4-FFF2-40B4-BE49-F238E27FC236}">
                <a16:creationId xmlns:a16="http://schemas.microsoft.com/office/drawing/2014/main" id="{12C84BD2-1575-8450-B9EA-225AA57E0B98}"/>
              </a:ext>
            </a:extLst>
          </p:cNvPr>
          <p:cNvSpPr txBox="1"/>
          <p:nvPr/>
        </p:nvSpPr>
        <p:spPr>
          <a:xfrm>
            <a:off x="8992097" y="4648900"/>
            <a:ext cx="832279" cy="523220"/>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청구범위</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Tree>
    <p:extLst>
      <p:ext uri="{BB962C8B-B14F-4D97-AF65-F5344CB8AC3E}">
        <p14:creationId xmlns:p14="http://schemas.microsoft.com/office/powerpoint/2010/main" val="90897066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p:cNvSpPr>
            <a:spLocks noGrp="1"/>
          </p:cNvSpPr>
          <p:nvPr>
            <p:ph type="body" sz="quarter" idx="13"/>
          </p:nvPr>
        </p:nvSpPr>
        <p:spPr/>
        <p:txBody>
          <a:bodyPr/>
          <a:lstStyle/>
          <a:p>
            <a:r>
              <a:rPr lang="ko-KR" altLang="en-US" dirty="0" err="1"/>
              <a:t>심사실무상</a:t>
            </a:r>
            <a:r>
              <a:rPr lang="ko-KR" altLang="en-US" dirty="0"/>
              <a:t> 간행물 </a:t>
            </a:r>
            <a:r>
              <a:rPr lang="ko-KR" altLang="en-US" dirty="0" err="1"/>
              <a:t>반포시기의</a:t>
            </a:r>
            <a:r>
              <a:rPr lang="ko-KR" altLang="en-US" dirty="0"/>
              <a:t> 결정</a:t>
            </a:r>
          </a:p>
        </p:txBody>
      </p:sp>
      <p:sp>
        <p:nvSpPr>
          <p:cNvPr id="90" name="TextBox 89"/>
          <p:cNvSpPr txBox="1"/>
          <p:nvPr/>
        </p:nvSpPr>
        <p:spPr>
          <a:xfrm>
            <a:off x="77875" y="986046"/>
            <a:ext cx="11936323" cy="1169551"/>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간행물의 발행시기가 기재되어 있지 아니한 경우에는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ⅰ)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외국간행물로서 국내에 입수된 시기가 분명한 때에는 그 입수된 시기로부터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발행국에서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국내에 입수되는데 소요되는 통상의 기간을 소급한 시기에 반포된 것으로 추정하고</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ⅱ)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해당 간행물에 대하여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서평ㆍ발췌</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카탈로그 등을 게재한 간행물이 있으면 그 발행시기로부터 해당 간행물의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반포시기를</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추정하며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ⅲ)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해당 간행물에 관하여 중판 또는 재판 등이 있고</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여기에 초판의 발행시기가 기재되어 있을 때에는 그 초판의 발행일을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반포시기로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추정한다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 재판의 경우에는 재판과 초판의 인용하는 부분의 내용이 상호 일치할 것을 전제로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ⅳ)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밖에 적당한 근거가 있으면 그것으로부터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반포시기를</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추정 또는 인정한다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이와 같은 추정은 반증에 의하면 얼마든지 번복될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91" name="직선 연결선 90"/>
          <p:cNvCxnSpPr/>
          <p:nvPr/>
        </p:nvCxnSpPr>
        <p:spPr>
          <a:xfrm>
            <a:off x="0" y="216473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직선 연결선 27"/>
          <p:cNvCxnSpPr/>
          <p:nvPr/>
        </p:nvCxnSpPr>
        <p:spPr>
          <a:xfrm>
            <a:off x="290626" y="4359385"/>
            <a:ext cx="3575136" cy="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직선 연결선 34"/>
          <p:cNvCxnSpPr/>
          <p:nvPr/>
        </p:nvCxnSpPr>
        <p:spPr>
          <a:xfrm flipH="1">
            <a:off x="3173068" y="4418729"/>
            <a:ext cx="1" cy="512256"/>
          </a:xfrm>
          <a:prstGeom prst="line">
            <a:avLst/>
          </a:prstGeom>
          <a:ln>
            <a:solidFill>
              <a:schemeClr val="bg1">
                <a:lumMod val="50000"/>
              </a:schemeClr>
            </a:solidFill>
            <a:prstDash val="solid"/>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2680324" y="4796102"/>
            <a:ext cx="1018228" cy="369332"/>
          </a:xfrm>
          <a:prstGeom prst="rect">
            <a:avLst/>
          </a:prstGeom>
          <a:solidFill>
            <a:schemeClr val="accent1">
              <a:lumMod val="40000"/>
              <a:lumOff val="60000"/>
            </a:schemeClr>
          </a:solidFill>
          <a:ln>
            <a:solidFill>
              <a:schemeClr val="bg1">
                <a:lumMod val="50000"/>
              </a:schemeClr>
            </a:solid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err="1">
                <a:ln>
                  <a:noFill/>
                </a:ln>
                <a:solidFill>
                  <a:prstClr val="black"/>
                </a:solidFill>
                <a:effectLst/>
                <a:uLnTx/>
                <a:uFillTx/>
                <a:latin typeface="Frutiger LT 65 Bold"/>
                <a:ea typeface="Rix모던고딕 B"/>
                <a:cs typeface="+mn-cs"/>
              </a:rPr>
              <a:t>국내입수</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 name="자유형 8"/>
          <p:cNvSpPr/>
          <p:nvPr/>
        </p:nvSpPr>
        <p:spPr>
          <a:xfrm>
            <a:off x="1705431" y="3890779"/>
            <a:ext cx="1485900" cy="449720"/>
          </a:xfrm>
          <a:custGeom>
            <a:avLst/>
            <a:gdLst>
              <a:gd name="connsiteX0" fmla="*/ 1485900 w 1485900"/>
              <a:gd name="connsiteY0" fmla="*/ 437020 h 449720"/>
              <a:gd name="connsiteX1" fmla="*/ 1143000 w 1485900"/>
              <a:gd name="connsiteY1" fmla="*/ 56020 h 449720"/>
              <a:gd name="connsiteX2" fmla="*/ 393700 w 1485900"/>
              <a:gd name="connsiteY2" fmla="*/ 43320 h 449720"/>
              <a:gd name="connsiteX3" fmla="*/ 0 w 1485900"/>
              <a:gd name="connsiteY3" fmla="*/ 449720 h 449720"/>
            </a:gdLst>
            <a:ahLst/>
            <a:cxnLst>
              <a:cxn ang="0">
                <a:pos x="connsiteX0" y="connsiteY0"/>
              </a:cxn>
              <a:cxn ang="0">
                <a:pos x="connsiteX1" y="connsiteY1"/>
              </a:cxn>
              <a:cxn ang="0">
                <a:pos x="connsiteX2" y="connsiteY2"/>
              </a:cxn>
              <a:cxn ang="0">
                <a:pos x="connsiteX3" y="connsiteY3"/>
              </a:cxn>
            </a:cxnLst>
            <a:rect l="l" t="t" r="r" b="b"/>
            <a:pathLst>
              <a:path w="1485900" h="449720">
                <a:moveTo>
                  <a:pt x="1485900" y="437020"/>
                </a:moveTo>
                <a:cubicBezTo>
                  <a:pt x="1405466" y="279328"/>
                  <a:pt x="1325033" y="121637"/>
                  <a:pt x="1143000" y="56020"/>
                </a:cubicBezTo>
                <a:cubicBezTo>
                  <a:pt x="960967" y="-9597"/>
                  <a:pt x="584200" y="-22297"/>
                  <a:pt x="393700" y="43320"/>
                </a:cubicBezTo>
                <a:cubicBezTo>
                  <a:pt x="203200" y="108937"/>
                  <a:pt x="101600" y="279328"/>
                  <a:pt x="0" y="449720"/>
                </a:cubicBezTo>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9" name="TextBox 48"/>
          <p:cNvSpPr txBox="1"/>
          <p:nvPr/>
        </p:nvSpPr>
        <p:spPr>
          <a:xfrm>
            <a:off x="1870338" y="3502561"/>
            <a:ext cx="1156087" cy="307777"/>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입수소요기간</a:t>
            </a:r>
            <a:endPar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1" name="직선 연결선 10"/>
          <p:cNvCxnSpPr>
            <a:endCxn id="9" idx="3"/>
          </p:cNvCxnSpPr>
          <p:nvPr/>
        </p:nvCxnSpPr>
        <p:spPr>
          <a:xfrm>
            <a:off x="290626" y="4340499"/>
            <a:ext cx="1414805" cy="0"/>
          </a:xfrm>
          <a:prstGeom prst="line">
            <a:avLst/>
          </a:prstGeom>
          <a:ln w="5715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직선 연결선 52"/>
          <p:cNvCxnSpPr>
            <a:endCxn id="54" idx="0"/>
          </p:cNvCxnSpPr>
          <p:nvPr/>
        </p:nvCxnSpPr>
        <p:spPr>
          <a:xfrm>
            <a:off x="1663038" y="4389057"/>
            <a:ext cx="16995" cy="806290"/>
          </a:xfrm>
          <a:prstGeom prst="line">
            <a:avLst/>
          </a:prstGeom>
          <a:ln w="38100">
            <a:solidFill>
              <a:schemeClr val="bg1">
                <a:lumMod val="50000"/>
              </a:schemeClr>
            </a:solidFill>
            <a:prstDash val="solid"/>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990581" y="5195347"/>
            <a:ext cx="1378904" cy="461665"/>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400" b="0" i="0" u="none" strike="noStrike" kern="1200" cap="none" spc="0" normalizeH="0" baseline="0" noProof="0" dirty="0">
                <a:ln>
                  <a:noFill/>
                </a:ln>
                <a:solidFill>
                  <a:srgbClr val="FF0000"/>
                </a:solidFill>
                <a:effectLst/>
                <a:uLnTx/>
                <a:uFillTx/>
                <a:latin typeface="Frutiger LT 65 Bold"/>
                <a:ea typeface="Rix모던고딕 B"/>
                <a:cs typeface="+mn-cs"/>
              </a:rPr>
              <a:t>반포 추정</a:t>
            </a:r>
            <a:endPar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59" name="직선 연결선 58"/>
          <p:cNvCxnSpPr/>
          <p:nvPr/>
        </p:nvCxnSpPr>
        <p:spPr>
          <a:xfrm>
            <a:off x="4137933" y="2713404"/>
            <a:ext cx="0" cy="3946979"/>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4412681" y="4359385"/>
            <a:ext cx="3061270" cy="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flipH="1">
            <a:off x="6061411" y="4418729"/>
            <a:ext cx="1" cy="512256"/>
          </a:xfrm>
          <a:prstGeom prst="line">
            <a:avLst/>
          </a:prstGeom>
          <a:ln>
            <a:solidFill>
              <a:schemeClr val="bg1">
                <a:lumMod val="50000"/>
              </a:schemeClr>
            </a:solidFill>
            <a:prstDash val="solid"/>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직선 연결선 77"/>
          <p:cNvCxnSpPr/>
          <p:nvPr/>
        </p:nvCxnSpPr>
        <p:spPr>
          <a:xfrm>
            <a:off x="4412681" y="4340499"/>
            <a:ext cx="1665103" cy="0"/>
          </a:xfrm>
          <a:prstGeom prst="line">
            <a:avLst/>
          </a:prstGeom>
          <a:ln w="5715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3" name="TextBox 82"/>
          <p:cNvSpPr txBox="1"/>
          <p:nvPr/>
        </p:nvSpPr>
        <p:spPr>
          <a:xfrm>
            <a:off x="4432364" y="3307444"/>
            <a:ext cx="2568332" cy="461665"/>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dirty="0">
                <a:ln>
                  <a:noFill/>
                </a:ln>
                <a:solidFill>
                  <a:srgbClr val="FF0000"/>
                </a:solidFill>
                <a:effectLst/>
                <a:uLnTx/>
                <a:uFillTx/>
                <a:latin typeface="Frutiger LT 65 Bold"/>
                <a:ea typeface="Rix모던고딕 B"/>
                <a:cs typeface="+mn-cs"/>
              </a:rPr>
              <a:t>B </a:t>
            </a:r>
            <a:r>
              <a:rPr kumimoji="0" lang="ko-KR" altLang="en-US" sz="2400" b="0" i="0" u="none" strike="noStrike" kern="1200" cap="none" spc="0" normalizeH="0" baseline="0" noProof="0" dirty="0">
                <a:ln>
                  <a:noFill/>
                </a:ln>
                <a:solidFill>
                  <a:srgbClr val="FF0000"/>
                </a:solidFill>
                <a:effectLst/>
                <a:uLnTx/>
                <a:uFillTx/>
                <a:latin typeface="Frutiger LT 65 Bold"/>
                <a:ea typeface="Rix모던고딕 B"/>
                <a:cs typeface="+mn-cs"/>
              </a:rPr>
              <a:t>간행물 반포 추정</a:t>
            </a:r>
            <a:endPar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84" name="TextBox 83"/>
          <p:cNvSpPr txBox="1"/>
          <p:nvPr/>
        </p:nvSpPr>
        <p:spPr>
          <a:xfrm>
            <a:off x="5082617" y="5558572"/>
            <a:ext cx="1957587" cy="338554"/>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B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간행물은 쓰레기다</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85" name="직선 연결선 84"/>
          <p:cNvCxnSpPr>
            <a:endCxn id="83" idx="2"/>
          </p:cNvCxnSpPr>
          <p:nvPr/>
        </p:nvCxnSpPr>
        <p:spPr>
          <a:xfrm flipH="1" flipV="1">
            <a:off x="5716530" y="3769109"/>
            <a:ext cx="361254" cy="537592"/>
          </a:xfrm>
          <a:prstGeom prst="line">
            <a:avLst/>
          </a:prstGeom>
          <a:ln w="38100">
            <a:solidFill>
              <a:schemeClr val="bg1">
                <a:lumMod val="50000"/>
              </a:schemeClr>
            </a:solidFill>
            <a:prstDash val="solid"/>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직선 연결선 85"/>
          <p:cNvCxnSpPr/>
          <p:nvPr/>
        </p:nvCxnSpPr>
        <p:spPr>
          <a:xfrm>
            <a:off x="7882619" y="2713404"/>
            <a:ext cx="0" cy="3946979"/>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아래쪽 화살표 설명선 44"/>
          <p:cNvSpPr/>
          <p:nvPr/>
        </p:nvSpPr>
        <p:spPr>
          <a:xfrm>
            <a:off x="5245232" y="4930985"/>
            <a:ext cx="1634541" cy="555017"/>
          </a:xfrm>
          <a:prstGeom prst="downArrowCallout">
            <a:avLst>
              <a:gd name="adj1" fmla="val 155756"/>
              <a:gd name="adj2" fmla="val 95608"/>
              <a:gd name="adj3" fmla="val 25000"/>
              <a:gd name="adj4" fmla="val 64977"/>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간행물 반포</a:t>
            </a:r>
          </a:p>
        </p:txBody>
      </p:sp>
      <p:cxnSp>
        <p:nvCxnSpPr>
          <p:cNvPr id="87" name="직선 연결선 86"/>
          <p:cNvCxnSpPr/>
          <p:nvPr/>
        </p:nvCxnSpPr>
        <p:spPr>
          <a:xfrm>
            <a:off x="7996466" y="4359385"/>
            <a:ext cx="3575136" cy="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직선 연결선 87"/>
          <p:cNvCxnSpPr/>
          <p:nvPr/>
        </p:nvCxnSpPr>
        <p:spPr>
          <a:xfrm flipH="1">
            <a:off x="10878908" y="4418729"/>
            <a:ext cx="1" cy="512256"/>
          </a:xfrm>
          <a:prstGeom prst="line">
            <a:avLst/>
          </a:prstGeom>
          <a:ln>
            <a:solidFill>
              <a:schemeClr val="bg1">
                <a:lumMod val="50000"/>
              </a:schemeClr>
            </a:solidFill>
            <a:prstDash val="solid"/>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93" name="TextBox 92"/>
          <p:cNvSpPr txBox="1"/>
          <p:nvPr/>
        </p:nvSpPr>
        <p:spPr>
          <a:xfrm>
            <a:off x="8928693" y="4037905"/>
            <a:ext cx="880370" cy="307777"/>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2017.5.1</a:t>
            </a:r>
            <a:endPar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5" name="직선 연결선 94"/>
          <p:cNvCxnSpPr>
            <a:stCxn id="93" idx="0"/>
          </p:cNvCxnSpPr>
          <p:nvPr/>
        </p:nvCxnSpPr>
        <p:spPr>
          <a:xfrm flipH="1" flipV="1">
            <a:off x="9364006" y="3627909"/>
            <a:ext cx="4872" cy="409996"/>
          </a:xfrm>
          <a:prstGeom prst="line">
            <a:avLst/>
          </a:prstGeom>
          <a:ln w="38100">
            <a:solidFill>
              <a:schemeClr val="bg1">
                <a:lumMod val="50000"/>
              </a:schemeClr>
            </a:solidFill>
            <a:prstDash val="solid"/>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TextBox 96"/>
          <p:cNvSpPr txBox="1"/>
          <p:nvPr/>
        </p:nvSpPr>
        <p:spPr>
          <a:xfrm>
            <a:off x="8021922" y="3133527"/>
            <a:ext cx="2656496" cy="677108"/>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400" b="0" i="0" u="none" strike="noStrike" kern="1200" cap="none" spc="0" normalizeH="0" baseline="0" noProof="0" dirty="0">
                <a:ln>
                  <a:noFill/>
                </a:ln>
                <a:solidFill>
                  <a:srgbClr val="FF0000"/>
                </a:solidFill>
                <a:effectLst/>
                <a:uLnTx/>
                <a:uFillTx/>
                <a:latin typeface="Frutiger LT 65 Bold"/>
                <a:ea typeface="Rix모던고딕 B"/>
                <a:cs typeface="+mn-cs"/>
              </a:rPr>
              <a:t>반포 추정</a:t>
            </a:r>
            <a:endParaRPr kumimoji="0" lang="en-US" altLang="ko-KR" sz="24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단</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초판과 재판의 </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인용부분</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 일치</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98" name="아래쪽 화살표 설명선 97"/>
          <p:cNvSpPr/>
          <p:nvPr/>
        </p:nvSpPr>
        <p:spPr>
          <a:xfrm>
            <a:off x="10079900" y="4930985"/>
            <a:ext cx="1634541" cy="555017"/>
          </a:xfrm>
          <a:prstGeom prst="downArrowCallout">
            <a:avLst>
              <a:gd name="adj1" fmla="val 155756"/>
              <a:gd name="adj2" fmla="val 95608"/>
              <a:gd name="adj3" fmla="val 25000"/>
              <a:gd name="adj4" fmla="val 64977"/>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재판 발행</a:t>
            </a:r>
          </a:p>
        </p:txBody>
      </p:sp>
      <p:sp>
        <p:nvSpPr>
          <p:cNvPr id="99" name="TextBox 98"/>
          <p:cNvSpPr txBox="1"/>
          <p:nvPr/>
        </p:nvSpPr>
        <p:spPr>
          <a:xfrm>
            <a:off x="9996078" y="5644550"/>
            <a:ext cx="2020105" cy="338554"/>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초판발행일</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2017.5.1</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57</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5" name="TextBox 4">
            <a:extLst>
              <a:ext uri="{FF2B5EF4-FFF2-40B4-BE49-F238E27FC236}">
                <a16:creationId xmlns:a16="http://schemas.microsoft.com/office/drawing/2014/main" id="{A6974BC3-6C1E-27F0-2DF7-C69C1FEBF86A}"/>
              </a:ext>
            </a:extLst>
          </p:cNvPr>
          <p:cNvSpPr txBox="1"/>
          <p:nvPr/>
        </p:nvSpPr>
        <p:spPr>
          <a:xfrm>
            <a:off x="163267" y="2293598"/>
            <a:ext cx="4112023" cy="369332"/>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a:ln>
                  <a:noFill/>
                </a:ln>
                <a:solidFill>
                  <a:prstClr val="black"/>
                </a:solidFill>
                <a:effectLst/>
                <a:highlight>
                  <a:srgbClr val="FFFF00"/>
                </a:highlight>
                <a:uLnTx/>
                <a:uFillTx/>
                <a:latin typeface="Frutiger LT 65 Bold"/>
                <a:ea typeface="Rix모던고딕 B"/>
                <a:cs typeface="+mn-cs"/>
              </a:rPr>
              <a:t>최대한 늦게 반포된 것으로 추정 또는 간주</a:t>
            </a:r>
          </a:p>
        </p:txBody>
      </p:sp>
    </p:spTree>
    <p:extLst>
      <p:ext uri="{BB962C8B-B14F-4D97-AF65-F5344CB8AC3E}">
        <p14:creationId xmlns:p14="http://schemas.microsoft.com/office/powerpoint/2010/main" val="374067432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p:cNvSpPr>
            <a:spLocks noGrp="1"/>
          </p:cNvSpPr>
          <p:nvPr>
            <p:ph type="body" sz="quarter" idx="13"/>
          </p:nvPr>
        </p:nvSpPr>
        <p:spPr/>
        <p:txBody>
          <a:bodyPr/>
          <a:lstStyle/>
          <a:p>
            <a:r>
              <a:rPr lang="ko-KR" altLang="en-US" dirty="0"/>
              <a:t>특허출원 및 </a:t>
            </a:r>
            <a:r>
              <a:rPr lang="ko-KR" altLang="en-US" dirty="0" err="1"/>
              <a:t>출원공개의</a:t>
            </a:r>
            <a:r>
              <a:rPr lang="ko-KR" altLang="en-US" dirty="0"/>
              <a:t> </a:t>
            </a:r>
            <a:r>
              <a:rPr lang="ko-KR" altLang="en-US" dirty="0" err="1"/>
              <a:t>공지기술</a:t>
            </a:r>
            <a:r>
              <a:rPr lang="ko-KR" altLang="en-US" dirty="0"/>
              <a:t> 지위 인정 여부</a:t>
            </a:r>
          </a:p>
        </p:txBody>
      </p:sp>
      <p:sp>
        <p:nvSpPr>
          <p:cNvPr id="90" name="TextBox 89"/>
          <p:cNvSpPr txBox="1"/>
          <p:nvPr/>
        </p:nvSpPr>
        <p:spPr>
          <a:xfrm>
            <a:off x="77875" y="986046"/>
            <a:ext cx="11936323" cy="1169551"/>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甲 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은</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발명의 내용을 포함하고 있어 정보성이 있으나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지식재산처 직원이 비밀유지의무가 있는 특정인</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이기 때문에 공개성이 없어 간행물이라 할 수 없다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한편 甲 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의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출원공개는</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출원된 내용을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공개공보에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게재하여 일반 공중에게 발명의 내용을 알리는 것이기 때문에 </a:t>
            </a:r>
            <a:r>
              <a:rPr kumimoji="0" lang="ko-KR" altLang="en-US" sz="14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정보성과</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공개성이</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있어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간행물이라 할 수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따라서 乙의 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은 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전에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공지기술이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없어 신규성이 상실되지 아니하지만</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丙의 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(Z)</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은 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(Z)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전에 甲 출원의 공개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에 의한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공지기술이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있고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그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공지기술과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丙의 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(Z)</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의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청구범위에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기재된 발명인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C</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가 동일성이 있어 신규성이 상실된다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물론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乙의 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은 신규성이 상실되지는 아니하지만 확대된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위반으로 특허를 받을 수 없다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1" name="직선 연결선 90"/>
          <p:cNvCxnSpPr/>
          <p:nvPr/>
        </p:nvCxnSpPr>
        <p:spPr>
          <a:xfrm>
            <a:off x="0" y="216473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직선 연결선 29"/>
          <p:cNvCxnSpPr/>
          <p:nvPr/>
        </p:nvCxnSpPr>
        <p:spPr>
          <a:xfrm>
            <a:off x="4238171" y="4203442"/>
            <a:ext cx="7547429"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직사각형 30"/>
          <p:cNvSpPr/>
          <p:nvPr/>
        </p:nvSpPr>
        <p:spPr>
          <a:xfrm>
            <a:off x="4643091" y="4479065"/>
            <a:ext cx="1467422" cy="345357"/>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甲 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5" name="직선 화살표 연결선 4"/>
          <p:cNvCxnSpPr>
            <a:stCxn id="31" idx="0"/>
          </p:cNvCxnSpPr>
          <p:nvPr/>
        </p:nvCxnSpPr>
        <p:spPr>
          <a:xfrm flipV="1">
            <a:off x="5376802" y="4203443"/>
            <a:ext cx="0" cy="275622"/>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50" name="그룹 49"/>
          <p:cNvGrpSpPr/>
          <p:nvPr/>
        </p:nvGrpSpPr>
        <p:grpSpPr>
          <a:xfrm>
            <a:off x="4643091" y="4895929"/>
            <a:ext cx="1467422" cy="612001"/>
            <a:chOff x="2814293" y="4469336"/>
            <a:chExt cx="1177134" cy="696098"/>
          </a:xfrm>
        </p:grpSpPr>
        <p:sp>
          <p:nvSpPr>
            <p:cNvPr id="36" name="직사각형 35"/>
            <p:cNvSpPr/>
            <p:nvPr/>
          </p:nvSpPr>
          <p:spPr>
            <a:xfrm>
              <a:off x="2814293" y="4469336"/>
              <a:ext cx="1177134" cy="348049"/>
            </a:xfrm>
            <a:prstGeom prst="rect">
              <a:avLst/>
            </a:prstGeom>
            <a:solidFill>
              <a:schemeClr val="accent5">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a:t>
              </a:r>
              <a:endPar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8" name="직사각형 37"/>
            <p:cNvSpPr/>
            <p:nvPr/>
          </p:nvSpPr>
          <p:spPr>
            <a:xfrm>
              <a:off x="2814293" y="4817385"/>
              <a:ext cx="1177134" cy="348049"/>
            </a:xfrm>
            <a:prstGeom prst="rect">
              <a:avLst/>
            </a:prstGeom>
            <a:solidFill>
              <a:schemeClr val="accent4">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 B, C</a:t>
              </a:r>
              <a:endPar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grpSp>
      <p:sp>
        <p:nvSpPr>
          <p:cNvPr id="39" name="직사각형 38"/>
          <p:cNvSpPr/>
          <p:nvPr/>
        </p:nvSpPr>
        <p:spPr>
          <a:xfrm>
            <a:off x="477494" y="3351150"/>
            <a:ext cx="1177134" cy="34804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출원서</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0" name="직사각형 39"/>
          <p:cNvSpPr/>
          <p:nvPr/>
        </p:nvSpPr>
        <p:spPr>
          <a:xfrm>
            <a:off x="477494" y="3815607"/>
            <a:ext cx="1177134" cy="348049"/>
          </a:xfrm>
          <a:prstGeom prst="rect">
            <a:avLst/>
          </a:prstGeom>
          <a:solidFill>
            <a:schemeClr val="accent4">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명세서</a:t>
            </a:r>
            <a:endPar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41" name="직사각형 40"/>
          <p:cNvSpPr/>
          <p:nvPr/>
        </p:nvSpPr>
        <p:spPr>
          <a:xfrm>
            <a:off x="477494" y="4308322"/>
            <a:ext cx="1177134" cy="348049"/>
          </a:xfrm>
          <a:prstGeom prst="rect">
            <a:avLst/>
          </a:prstGeom>
          <a:solidFill>
            <a:schemeClr val="accent4">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필요한 도면</a:t>
            </a:r>
            <a:endPar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42" name="직사각형 41"/>
          <p:cNvSpPr/>
          <p:nvPr/>
        </p:nvSpPr>
        <p:spPr>
          <a:xfrm>
            <a:off x="477494" y="4772779"/>
            <a:ext cx="1177134" cy="34804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요약서</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3" name="직사각형 42"/>
          <p:cNvSpPr/>
          <p:nvPr/>
        </p:nvSpPr>
        <p:spPr>
          <a:xfrm>
            <a:off x="1957951" y="3815607"/>
            <a:ext cx="1785259" cy="319165"/>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발명의 설명</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 B, C</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4" name="직사각형 43"/>
          <p:cNvSpPr/>
          <p:nvPr/>
        </p:nvSpPr>
        <p:spPr>
          <a:xfrm>
            <a:off x="1957951" y="4308321"/>
            <a:ext cx="1785259" cy="375251"/>
          </a:xfrm>
          <a:prstGeom prst="rect">
            <a:avLst/>
          </a:prstGeom>
          <a:solidFill>
            <a:schemeClr val="accent5">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white"/>
                </a:solidFill>
                <a:effectLst/>
                <a:uLnTx/>
                <a:uFillTx/>
                <a:latin typeface="Frutiger LT 65 Bold"/>
                <a:ea typeface="Rix모던고딕 B"/>
                <a:cs typeface="+mn-cs"/>
              </a:rPr>
              <a:t>청구범위</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 A</a:t>
            </a:r>
            <a:endPar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8" name="꺾인 연결선 7"/>
          <p:cNvCxnSpPr>
            <a:stCxn id="39" idx="1"/>
            <a:endCxn id="42" idx="1"/>
          </p:cNvCxnSpPr>
          <p:nvPr/>
        </p:nvCxnSpPr>
        <p:spPr>
          <a:xfrm rot="10800000" flipV="1">
            <a:off x="477494" y="3525174"/>
            <a:ext cx="12700" cy="1421629"/>
          </a:xfrm>
          <a:prstGeom prst="bentConnector3">
            <a:avLst>
              <a:gd name="adj1" fmla="val 180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꺾인 연결선 11"/>
          <p:cNvCxnSpPr>
            <a:stCxn id="39" idx="1"/>
            <a:endCxn id="40" idx="1"/>
          </p:cNvCxnSpPr>
          <p:nvPr/>
        </p:nvCxnSpPr>
        <p:spPr>
          <a:xfrm rot="10800000" flipV="1">
            <a:off x="477494" y="3525174"/>
            <a:ext cx="12700" cy="464457"/>
          </a:xfrm>
          <a:prstGeom prst="bentConnector3">
            <a:avLst>
              <a:gd name="adj1" fmla="val 180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꺾인 연결선 13"/>
          <p:cNvCxnSpPr>
            <a:stCxn id="39" idx="1"/>
            <a:endCxn id="41" idx="1"/>
          </p:cNvCxnSpPr>
          <p:nvPr/>
        </p:nvCxnSpPr>
        <p:spPr>
          <a:xfrm rot="10800000" flipV="1">
            <a:off x="477494" y="3525175"/>
            <a:ext cx="12700" cy="957172"/>
          </a:xfrm>
          <a:prstGeom prst="bentConnector3">
            <a:avLst>
              <a:gd name="adj1" fmla="val 180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40" idx="3"/>
            <a:endCxn id="44" idx="1"/>
          </p:cNvCxnSpPr>
          <p:nvPr/>
        </p:nvCxnSpPr>
        <p:spPr>
          <a:xfrm>
            <a:off x="1654628" y="3989632"/>
            <a:ext cx="303323" cy="50631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직선 화살표 연결선 23"/>
          <p:cNvCxnSpPr>
            <a:cxnSpLocks/>
            <a:stCxn id="40" idx="3"/>
            <a:endCxn id="38" idx="1"/>
          </p:cNvCxnSpPr>
          <p:nvPr/>
        </p:nvCxnSpPr>
        <p:spPr>
          <a:xfrm>
            <a:off x="1654628" y="3989632"/>
            <a:ext cx="2988463" cy="1365299"/>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0" name="직선 화살표 연결선 59"/>
          <p:cNvCxnSpPr>
            <a:cxnSpLocks/>
            <a:stCxn id="44" idx="3"/>
            <a:endCxn id="36" idx="1"/>
          </p:cNvCxnSpPr>
          <p:nvPr/>
        </p:nvCxnSpPr>
        <p:spPr>
          <a:xfrm>
            <a:off x="3743210" y="4495947"/>
            <a:ext cx="899881" cy="552983"/>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3" name="직사각형 62"/>
          <p:cNvSpPr/>
          <p:nvPr/>
        </p:nvSpPr>
        <p:spPr>
          <a:xfrm>
            <a:off x="7763662" y="4479065"/>
            <a:ext cx="1467424" cy="345357"/>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甲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출원공개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64" name="직선 화살표 연결선 63"/>
          <p:cNvCxnSpPr>
            <a:stCxn id="63" idx="0"/>
          </p:cNvCxnSpPr>
          <p:nvPr/>
        </p:nvCxnSpPr>
        <p:spPr>
          <a:xfrm flipV="1">
            <a:off x="8497374" y="4203443"/>
            <a:ext cx="0" cy="275622"/>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5" name="직사각형 74"/>
          <p:cNvSpPr/>
          <p:nvPr/>
        </p:nvSpPr>
        <p:spPr>
          <a:xfrm>
            <a:off x="6283205" y="3593189"/>
            <a:ext cx="1467422" cy="345357"/>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乙 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6" name="직선 화살표 연결선 75"/>
          <p:cNvCxnSpPr>
            <a:stCxn id="75" idx="2"/>
          </p:cNvCxnSpPr>
          <p:nvPr/>
        </p:nvCxnSpPr>
        <p:spPr>
          <a:xfrm>
            <a:off x="7016916" y="3938546"/>
            <a:ext cx="0" cy="243391"/>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77" name="그룹 76"/>
          <p:cNvGrpSpPr/>
          <p:nvPr/>
        </p:nvGrpSpPr>
        <p:grpSpPr>
          <a:xfrm>
            <a:off x="6283205" y="2900880"/>
            <a:ext cx="1467422" cy="612001"/>
            <a:chOff x="2814293" y="4469336"/>
            <a:chExt cx="1177134" cy="696098"/>
          </a:xfrm>
          <a:solidFill>
            <a:schemeClr val="bg1"/>
          </a:solidFill>
        </p:grpSpPr>
        <p:sp>
          <p:nvSpPr>
            <p:cNvPr id="79" name="직사각형 78"/>
            <p:cNvSpPr/>
            <p:nvPr/>
          </p:nvSpPr>
          <p:spPr>
            <a:xfrm>
              <a:off x="2814293" y="4469336"/>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0" name="직사각형 79"/>
            <p:cNvSpPr/>
            <p:nvPr/>
          </p:nvSpPr>
          <p:spPr>
            <a:xfrm>
              <a:off x="2814293" y="4817385"/>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sp>
        <p:nvSpPr>
          <p:cNvPr id="89" name="직사각형 88"/>
          <p:cNvSpPr/>
          <p:nvPr/>
        </p:nvSpPr>
        <p:spPr>
          <a:xfrm>
            <a:off x="9535886" y="3593189"/>
            <a:ext cx="1467422" cy="345357"/>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丙 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(Z)</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2" name="직선 화살표 연결선 91"/>
          <p:cNvCxnSpPr>
            <a:stCxn id="89" idx="2"/>
          </p:cNvCxnSpPr>
          <p:nvPr/>
        </p:nvCxnSpPr>
        <p:spPr>
          <a:xfrm>
            <a:off x="10269597" y="3938546"/>
            <a:ext cx="0" cy="243391"/>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94" name="그룹 93"/>
          <p:cNvGrpSpPr/>
          <p:nvPr/>
        </p:nvGrpSpPr>
        <p:grpSpPr>
          <a:xfrm>
            <a:off x="9535886" y="2900880"/>
            <a:ext cx="1467422" cy="612001"/>
            <a:chOff x="2814293" y="4469336"/>
            <a:chExt cx="1177134" cy="696098"/>
          </a:xfrm>
          <a:solidFill>
            <a:schemeClr val="bg1"/>
          </a:solidFill>
        </p:grpSpPr>
        <p:sp>
          <p:nvSpPr>
            <p:cNvPr id="96" name="직사각형 95"/>
            <p:cNvSpPr/>
            <p:nvPr/>
          </p:nvSpPr>
          <p:spPr>
            <a:xfrm>
              <a:off x="2814293" y="4469336"/>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C</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0" name="직사각형 99"/>
            <p:cNvSpPr/>
            <p:nvPr/>
          </p:nvSpPr>
          <p:spPr>
            <a:xfrm>
              <a:off x="2814293" y="4817385"/>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C</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cxnSp>
        <p:nvCxnSpPr>
          <p:cNvPr id="71" name="꺾인 연결선 70"/>
          <p:cNvCxnSpPr>
            <a:stCxn id="40" idx="3"/>
            <a:endCxn id="43" idx="1"/>
          </p:cNvCxnSpPr>
          <p:nvPr/>
        </p:nvCxnSpPr>
        <p:spPr>
          <a:xfrm flipV="1">
            <a:off x="1654628" y="3975190"/>
            <a:ext cx="303323" cy="1444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4021821" y="2513105"/>
            <a:ext cx="0" cy="3946979"/>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TextBox 80"/>
          <p:cNvSpPr txBox="1"/>
          <p:nvPr/>
        </p:nvSpPr>
        <p:spPr>
          <a:xfrm>
            <a:off x="7016916" y="5481877"/>
            <a:ext cx="1707519"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간행물인지 여부</a:t>
            </a:r>
            <a:endPar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102" name="직선 화살표 연결선 101"/>
          <p:cNvCxnSpPr>
            <a:stCxn id="81" idx="0"/>
            <a:endCxn id="31" idx="3"/>
          </p:cNvCxnSpPr>
          <p:nvPr/>
        </p:nvCxnSpPr>
        <p:spPr>
          <a:xfrm flipH="1" flipV="1">
            <a:off x="6110513" y="4651744"/>
            <a:ext cx="1760163" cy="830133"/>
          </a:xfrm>
          <a:prstGeom prst="straightConnector1">
            <a:avLst/>
          </a:prstGeom>
          <a:ln>
            <a:solidFill>
              <a:schemeClr val="accent5">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3" name="직선 화살표 연결선 102"/>
          <p:cNvCxnSpPr>
            <a:stCxn id="81" idx="0"/>
            <a:endCxn id="63" idx="2"/>
          </p:cNvCxnSpPr>
          <p:nvPr/>
        </p:nvCxnSpPr>
        <p:spPr>
          <a:xfrm flipV="1">
            <a:off x="7870676" y="4824422"/>
            <a:ext cx="626698" cy="657455"/>
          </a:xfrm>
          <a:prstGeom prst="straightConnector1">
            <a:avLst/>
          </a:prstGeom>
          <a:ln>
            <a:solidFill>
              <a:schemeClr val="accent5">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6" name="TextBox 105"/>
          <p:cNvSpPr txBox="1"/>
          <p:nvPr/>
        </p:nvSpPr>
        <p:spPr>
          <a:xfrm>
            <a:off x="6328847" y="5099794"/>
            <a:ext cx="1362874" cy="276999"/>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No(</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공개성이</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없음</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7" name="TextBox 106"/>
          <p:cNvSpPr txBox="1"/>
          <p:nvPr/>
        </p:nvSpPr>
        <p:spPr>
          <a:xfrm>
            <a:off x="8070398" y="5101831"/>
            <a:ext cx="426976" cy="276999"/>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Yes</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8" name="자유형 107"/>
          <p:cNvSpPr/>
          <p:nvPr/>
        </p:nvSpPr>
        <p:spPr>
          <a:xfrm>
            <a:off x="4426857" y="2702295"/>
            <a:ext cx="2583543" cy="201935"/>
          </a:xfrm>
          <a:custGeom>
            <a:avLst/>
            <a:gdLst>
              <a:gd name="connsiteX0" fmla="*/ 2583543 w 2583543"/>
              <a:gd name="connsiteY0" fmla="*/ 406400 h 406400"/>
              <a:gd name="connsiteX1" fmla="*/ 2583543 w 2583543"/>
              <a:gd name="connsiteY1" fmla="*/ 0 h 406400"/>
              <a:gd name="connsiteX2" fmla="*/ 0 w 2583543"/>
              <a:gd name="connsiteY2" fmla="*/ 0 h 406400"/>
            </a:gdLst>
            <a:ahLst/>
            <a:cxnLst>
              <a:cxn ang="0">
                <a:pos x="connsiteX0" y="connsiteY0"/>
              </a:cxn>
              <a:cxn ang="0">
                <a:pos x="connsiteX1" y="connsiteY1"/>
              </a:cxn>
              <a:cxn ang="0">
                <a:pos x="connsiteX2" y="connsiteY2"/>
              </a:cxn>
            </a:cxnLst>
            <a:rect l="l" t="t" r="r" b="b"/>
            <a:pathLst>
              <a:path w="2583543" h="406400">
                <a:moveTo>
                  <a:pt x="2583543" y="406400"/>
                </a:moveTo>
                <a:lnTo>
                  <a:pt x="2583543" y="0"/>
                </a:lnTo>
                <a:lnTo>
                  <a:pt x="0" y="0"/>
                </a:lnTo>
              </a:path>
            </a:pathLst>
          </a:custGeom>
          <a:noFill/>
          <a:ln>
            <a:solidFill>
              <a:schemeClr val="accent2">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9" name="자유형 108"/>
          <p:cNvSpPr/>
          <p:nvPr/>
        </p:nvSpPr>
        <p:spPr>
          <a:xfrm>
            <a:off x="4426857" y="2569029"/>
            <a:ext cx="5849257" cy="345357"/>
          </a:xfrm>
          <a:custGeom>
            <a:avLst/>
            <a:gdLst>
              <a:gd name="connsiteX0" fmla="*/ 5849257 w 5849257"/>
              <a:gd name="connsiteY0" fmla="*/ 856342 h 856342"/>
              <a:gd name="connsiteX1" fmla="*/ 5849257 w 5849257"/>
              <a:gd name="connsiteY1" fmla="*/ 0 h 856342"/>
              <a:gd name="connsiteX2" fmla="*/ 0 w 5849257"/>
              <a:gd name="connsiteY2" fmla="*/ 0 h 856342"/>
            </a:gdLst>
            <a:ahLst/>
            <a:cxnLst>
              <a:cxn ang="0">
                <a:pos x="connsiteX0" y="connsiteY0"/>
              </a:cxn>
              <a:cxn ang="0">
                <a:pos x="connsiteX1" y="connsiteY1"/>
              </a:cxn>
              <a:cxn ang="0">
                <a:pos x="connsiteX2" y="connsiteY2"/>
              </a:cxn>
            </a:cxnLst>
            <a:rect l="l" t="t" r="r" b="b"/>
            <a:pathLst>
              <a:path w="5849257" h="856342">
                <a:moveTo>
                  <a:pt x="5849257" y="856342"/>
                </a:moveTo>
                <a:lnTo>
                  <a:pt x="5849257" y="0"/>
                </a:lnTo>
                <a:lnTo>
                  <a:pt x="0" y="0"/>
                </a:lnTo>
              </a:path>
            </a:pathLst>
          </a:custGeom>
          <a:noFill/>
          <a:ln>
            <a:solidFill>
              <a:schemeClr val="accent6">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0" name="TextBox 109"/>
          <p:cNvSpPr txBox="1"/>
          <p:nvPr/>
        </p:nvSpPr>
        <p:spPr>
          <a:xfrm>
            <a:off x="4826463" y="2735893"/>
            <a:ext cx="1236236" cy="276999"/>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乙의 특허출원 전</a:t>
            </a:r>
          </a:p>
        </p:txBody>
      </p:sp>
      <p:sp>
        <p:nvSpPr>
          <p:cNvPr id="111" name="TextBox 110"/>
          <p:cNvSpPr txBox="1"/>
          <p:nvPr/>
        </p:nvSpPr>
        <p:spPr>
          <a:xfrm>
            <a:off x="7884451" y="2624712"/>
            <a:ext cx="1236236" cy="276999"/>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丙의 특허출원 전</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58</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cxnSp>
        <p:nvCxnSpPr>
          <p:cNvPr id="48" name="직선 화살표 연결선 47"/>
          <p:cNvCxnSpPr>
            <a:cxnSpLocks/>
            <a:stCxn id="41" idx="3"/>
            <a:endCxn id="38" idx="1"/>
          </p:cNvCxnSpPr>
          <p:nvPr/>
        </p:nvCxnSpPr>
        <p:spPr>
          <a:xfrm>
            <a:off x="1654628" y="4482347"/>
            <a:ext cx="2988463" cy="872584"/>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45088354-6D9E-4316-97EA-CB9C4E68BF81}"/>
              </a:ext>
            </a:extLst>
          </p:cNvPr>
          <p:cNvSpPr txBox="1"/>
          <p:nvPr/>
        </p:nvSpPr>
        <p:spPr>
          <a:xfrm>
            <a:off x="4193151" y="6009368"/>
            <a:ext cx="7706406" cy="646331"/>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丙 출원 기준</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일반적으로 丙 출원일로부터 </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6</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개월전에 출원된 것</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甲 출원</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만 검색을 할 수 있으며</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그 사이에 있는 출원된 것</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乙 출원</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은 비밀상태를 유지함</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Tree>
    <p:extLst>
      <p:ext uri="{BB962C8B-B14F-4D97-AF65-F5344CB8AC3E}">
        <p14:creationId xmlns:p14="http://schemas.microsoft.com/office/powerpoint/2010/main" val="284201932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p:cNvSpPr>
            <a:spLocks noGrp="1"/>
          </p:cNvSpPr>
          <p:nvPr>
            <p:ph type="body" sz="quarter" idx="13"/>
          </p:nvPr>
        </p:nvSpPr>
        <p:spPr/>
        <p:txBody>
          <a:bodyPr/>
          <a:lstStyle/>
          <a:p>
            <a:r>
              <a:rPr lang="ko-KR" altLang="en-US" dirty="0"/>
              <a:t>특허출원 전 </a:t>
            </a:r>
            <a:r>
              <a:rPr lang="en-US" altLang="ko-KR" dirty="0"/>
              <a:t>vs </a:t>
            </a:r>
            <a:r>
              <a:rPr lang="ko-KR" altLang="en-US" dirty="0"/>
              <a:t>특허출원일 전</a:t>
            </a:r>
          </a:p>
        </p:txBody>
      </p:sp>
      <p:sp>
        <p:nvSpPr>
          <p:cNvPr id="90" name="TextBox 89"/>
          <p:cNvSpPr txBox="1"/>
          <p:nvPr/>
        </p:nvSpPr>
        <p:spPr>
          <a:xfrm>
            <a:off x="77875" y="986046"/>
            <a:ext cx="11936323"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특허출원을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2014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년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월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일 오전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10</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시에 한 경우 특허출원 전이란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2014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년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월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일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10</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시 전을 의미하고</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특허출원일 전이란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2014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년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월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일 전을 의미한다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즉</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특허출원 전은 </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2014</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년 </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6</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월 </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11</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일 오전 </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0</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시부터 오전 </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10</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시 전까지를 포함하는 의미</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라는 점에서 특허출원일 전과 구별된다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91" name="직선 연결선 90"/>
          <p:cNvCxnSpPr/>
          <p:nvPr/>
        </p:nvCxnSpPr>
        <p:spPr>
          <a:xfrm>
            <a:off x="0" y="151160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직사각형 51"/>
          <p:cNvSpPr/>
          <p:nvPr/>
        </p:nvSpPr>
        <p:spPr>
          <a:xfrm>
            <a:off x="188686" y="3608614"/>
            <a:ext cx="203200" cy="1104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grpSp>
        <p:nvGrpSpPr>
          <p:cNvPr id="2" name="그룹 1"/>
          <p:cNvGrpSpPr/>
          <p:nvPr/>
        </p:nvGrpSpPr>
        <p:grpSpPr>
          <a:xfrm>
            <a:off x="1553317" y="2269919"/>
            <a:ext cx="8911485" cy="3568665"/>
            <a:chOff x="1553317" y="2269919"/>
            <a:chExt cx="8911485" cy="3568665"/>
          </a:xfrm>
        </p:grpSpPr>
        <p:sp>
          <p:nvSpPr>
            <p:cNvPr id="15" name="자유형 14"/>
            <p:cNvSpPr/>
            <p:nvPr/>
          </p:nvSpPr>
          <p:spPr>
            <a:xfrm>
              <a:off x="1582060" y="2656111"/>
              <a:ext cx="4934857" cy="914400"/>
            </a:xfrm>
            <a:custGeom>
              <a:avLst/>
              <a:gdLst>
                <a:gd name="connsiteX0" fmla="*/ 4934857 w 4934857"/>
                <a:gd name="connsiteY0" fmla="*/ 914400 h 914400"/>
                <a:gd name="connsiteX1" fmla="*/ 4238171 w 4934857"/>
                <a:gd name="connsiteY1" fmla="*/ 0 h 914400"/>
                <a:gd name="connsiteX2" fmla="*/ 0 w 4934857"/>
                <a:gd name="connsiteY2" fmla="*/ 0 h 914400"/>
                <a:gd name="connsiteX3" fmla="*/ 0 w 4934857"/>
                <a:gd name="connsiteY3" fmla="*/ 914400 h 914400"/>
              </a:gdLst>
              <a:ahLst/>
              <a:cxnLst>
                <a:cxn ang="0">
                  <a:pos x="connsiteX0" y="connsiteY0"/>
                </a:cxn>
                <a:cxn ang="0">
                  <a:pos x="connsiteX1" y="connsiteY1"/>
                </a:cxn>
                <a:cxn ang="0">
                  <a:pos x="connsiteX2" y="connsiteY2"/>
                </a:cxn>
                <a:cxn ang="0">
                  <a:pos x="connsiteX3" y="connsiteY3"/>
                </a:cxn>
              </a:cxnLst>
              <a:rect l="l" t="t" r="r" b="b"/>
              <a:pathLst>
                <a:path w="4934857" h="914400">
                  <a:moveTo>
                    <a:pt x="4934857" y="914400"/>
                  </a:moveTo>
                  <a:lnTo>
                    <a:pt x="4238171" y="0"/>
                  </a:lnTo>
                  <a:lnTo>
                    <a:pt x="0" y="0"/>
                  </a:lnTo>
                  <a:lnTo>
                    <a:pt x="0" y="914400"/>
                  </a:lnTo>
                </a:path>
              </a:pathLst>
            </a:custGeom>
            <a:pattFill prst="ltUpDiag">
              <a:fgClr>
                <a:schemeClr val="accent2"/>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 name="자유형 10"/>
            <p:cNvSpPr/>
            <p:nvPr/>
          </p:nvSpPr>
          <p:spPr>
            <a:xfrm>
              <a:off x="6226629" y="2641596"/>
              <a:ext cx="3991429" cy="943429"/>
            </a:xfrm>
            <a:custGeom>
              <a:avLst/>
              <a:gdLst>
                <a:gd name="connsiteX0" fmla="*/ 0 w 4180115"/>
                <a:gd name="connsiteY0" fmla="*/ 914400 h 943429"/>
                <a:gd name="connsiteX1" fmla="*/ 711200 w 4180115"/>
                <a:gd name="connsiteY1" fmla="*/ 0 h 943429"/>
                <a:gd name="connsiteX2" fmla="*/ 4180115 w 4180115"/>
                <a:gd name="connsiteY2" fmla="*/ 0 h 943429"/>
                <a:gd name="connsiteX3" fmla="*/ 4180115 w 4180115"/>
                <a:gd name="connsiteY3" fmla="*/ 943429 h 943429"/>
              </a:gdLst>
              <a:ahLst/>
              <a:cxnLst>
                <a:cxn ang="0">
                  <a:pos x="connsiteX0" y="connsiteY0"/>
                </a:cxn>
                <a:cxn ang="0">
                  <a:pos x="connsiteX1" y="connsiteY1"/>
                </a:cxn>
                <a:cxn ang="0">
                  <a:pos x="connsiteX2" y="connsiteY2"/>
                </a:cxn>
                <a:cxn ang="0">
                  <a:pos x="connsiteX3" y="connsiteY3"/>
                </a:cxn>
              </a:cxnLst>
              <a:rect l="l" t="t" r="r" b="b"/>
              <a:pathLst>
                <a:path w="4180115" h="943429">
                  <a:moveTo>
                    <a:pt x="0" y="914400"/>
                  </a:moveTo>
                  <a:lnTo>
                    <a:pt x="711200" y="0"/>
                  </a:lnTo>
                  <a:lnTo>
                    <a:pt x="4180115" y="0"/>
                  </a:lnTo>
                  <a:lnTo>
                    <a:pt x="4180115" y="943429"/>
                  </a:lnTo>
                </a:path>
              </a:pathLst>
            </a:custGeom>
            <a:pattFill prst="narHorz">
              <a:fgClr>
                <a:schemeClr val="accent4"/>
              </a:fgClr>
              <a:bgClr>
                <a:schemeClr val="bg1"/>
              </a:bgClr>
            </a:patt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3" name="TextBox 52"/>
            <p:cNvSpPr txBox="1"/>
            <p:nvPr/>
          </p:nvSpPr>
          <p:spPr>
            <a:xfrm>
              <a:off x="4779316" y="4056552"/>
              <a:ext cx="445956"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54" name="TextBox 53"/>
            <p:cNvSpPr txBox="1"/>
            <p:nvPr/>
          </p:nvSpPr>
          <p:spPr>
            <a:xfrm>
              <a:off x="7406169" y="4056552"/>
              <a:ext cx="545342"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55" name="TextBox 54"/>
            <p:cNvSpPr txBox="1"/>
            <p:nvPr/>
          </p:nvSpPr>
          <p:spPr>
            <a:xfrm>
              <a:off x="6374751" y="4056552"/>
              <a:ext cx="545342"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cxnSp>
          <p:nvCxnSpPr>
            <p:cNvPr id="56" name="직선 연결선 55"/>
            <p:cNvCxnSpPr>
              <a:stCxn id="49" idx="2"/>
              <a:endCxn id="57" idx="0"/>
            </p:cNvCxnSpPr>
            <p:nvPr/>
          </p:nvCxnSpPr>
          <p:spPr>
            <a:xfrm>
              <a:off x="6325113" y="4034971"/>
              <a:ext cx="6096" cy="143428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5822095" y="5469252"/>
              <a:ext cx="1018227" cy="369332"/>
            </a:xfrm>
            <a:prstGeom prst="rect">
              <a:avLst/>
            </a:prstGeom>
            <a:solidFill>
              <a:schemeClr val="accent1">
                <a:lumMod val="40000"/>
                <a:lumOff val="60000"/>
              </a:schemeClr>
            </a:solid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sp>
          <p:nvSpPr>
            <p:cNvPr id="16" name="자유형 15"/>
            <p:cNvSpPr/>
            <p:nvPr/>
          </p:nvSpPr>
          <p:spPr>
            <a:xfrm>
              <a:off x="7634516" y="3585028"/>
              <a:ext cx="2569028" cy="957943"/>
            </a:xfrm>
            <a:custGeom>
              <a:avLst/>
              <a:gdLst>
                <a:gd name="connsiteX0" fmla="*/ 0 w 2569028"/>
                <a:gd name="connsiteY0" fmla="*/ 0 h 957943"/>
                <a:gd name="connsiteX1" fmla="*/ 711200 w 2569028"/>
                <a:gd name="connsiteY1" fmla="*/ 957943 h 957943"/>
                <a:gd name="connsiteX2" fmla="*/ 2569028 w 2569028"/>
                <a:gd name="connsiteY2" fmla="*/ 957943 h 957943"/>
                <a:gd name="connsiteX3" fmla="*/ 2569028 w 2569028"/>
                <a:gd name="connsiteY3" fmla="*/ 14514 h 957943"/>
              </a:gdLst>
              <a:ahLst/>
              <a:cxnLst>
                <a:cxn ang="0">
                  <a:pos x="connsiteX0" y="connsiteY0"/>
                </a:cxn>
                <a:cxn ang="0">
                  <a:pos x="connsiteX1" y="connsiteY1"/>
                </a:cxn>
                <a:cxn ang="0">
                  <a:pos x="connsiteX2" y="connsiteY2"/>
                </a:cxn>
                <a:cxn ang="0">
                  <a:pos x="connsiteX3" y="connsiteY3"/>
                </a:cxn>
              </a:cxnLst>
              <a:rect l="l" t="t" r="r" b="b"/>
              <a:pathLst>
                <a:path w="2569028" h="957943">
                  <a:moveTo>
                    <a:pt x="0" y="0"/>
                  </a:moveTo>
                  <a:lnTo>
                    <a:pt x="711200" y="957943"/>
                  </a:lnTo>
                  <a:lnTo>
                    <a:pt x="2569028" y="957943"/>
                  </a:lnTo>
                  <a:lnTo>
                    <a:pt x="2569028" y="14514"/>
                  </a:lnTo>
                </a:path>
              </a:pathLst>
            </a:custGeom>
            <a:pattFill prst="pct40">
              <a:fgClr>
                <a:schemeClr val="accent6">
                  <a:lumMod val="50000"/>
                </a:schemeClr>
              </a:fgClr>
              <a:bgClr>
                <a:schemeClr val="bg1"/>
              </a:bgClr>
            </a:patt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7" name="자유형 16"/>
            <p:cNvSpPr/>
            <p:nvPr/>
          </p:nvSpPr>
          <p:spPr>
            <a:xfrm>
              <a:off x="1596571" y="3570513"/>
              <a:ext cx="3396343" cy="1016000"/>
            </a:xfrm>
            <a:custGeom>
              <a:avLst/>
              <a:gdLst>
                <a:gd name="connsiteX0" fmla="*/ 3396343 w 3396343"/>
                <a:gd name="connsiteY0" fmla="*/ 0 h 1016000"/>
                <a:gd name="connsiteX1" fmla="*/ 2699657 w 3396343"/>
                <a:gd name="connsiteY1" fmla="*/ 1016000 h 1016000"/>
                <a:gd name="connsiteX2" fmla="*/ 0 w 3396343"/>
                <a:gd name="connsiteY2" fmla="*/ 1016000 h 1016000"/>
                <a:gd name="connsiteX3" fmla="*/ 0 w 3396343"/>
                <a:gd name="connsiteY3" fmla="*/ 43543 h 1016000"/>
              </a:gdLst>
              <a:ahLst/>
              <a:cxnLst>
                <a:cxn ang="0">
                  <a:pos x="connsiteX0" y="connsiteY0"/>
                </a:cxn>
                <a:cxn ang="0">
                  <a:pos x="connsiteX1" y="connsiteY1"/>
                </a:cxn>
                <a:cxn ang="0">
                  <a:pos x="connsiteX2" y="connsiteY2"/>
                </a:cxn>
                <a:cxn ang="0">
                  <a:pos x="connsiteX3" y="connsiteY3"/>
                </a:cxn>
              </a:cxnLst>
              <a:rect l="l" t="t" r="r" b="b"/>
              <a:pathLst>
                <a:path w="3396343" h="1016000">
                  <a:moveTo>
                    <a:pt x="3396343" y="0"/>
                  </a:moveTo>
                  <a:lnTo>
                    <a:pt x="2699657" y="1016000"/>
                  </a:lnTo>
                  <a:lnTo>
                    <a:pt x="0" y="1016000"/>
                  </a:lnTo>
                  <a:lnTo>
                    <a:pt x="0" y="43543"/>
                  </a:lnTo>
                </a:path>
              </a:pathLst>
            </a:custGeom>
            <a:pattFill prst="narHorz">
              <a:fgClr>
                <a:schemeClr val="accent3"/>
              </a:fgClr>
              <a:bgClr>
                <a:schemeClr val="bg1"/>
              </a:bgClr>
            </a:patt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8" name="직사각형 67"/>
            <p:cNvSpPr/>
            <p:nvPr/>
          </p:nvSpPr>
          <p:spPr>
            <a:xfrm>
              <a:off x="10203545" y="2466137"/>
              <a:ext cx="57028" cy="207683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48" name="직선 연결선 47"/>
            <p:cNvCxnSpPr/>
            <p:nvPr/>
          </p:nvCxnSpPr>
          <p:spPr>
            <a:xfrm>
              <a:off x="1580580" y="3568165"/>
              <a:ext cx="8884222"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직사각형 68"/>
            <p:cNvSpPr/>
            <p:nvPr/>
          </p:nvSpPr>
          <p:spPr>
            <a:xfrm>
              <a:off x="1553317" y="2466137"/>
              <a:ext cx="57028" cy="207683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9" name="직사각형 48"/>
            <p:cNvSpPr/>
            <p:nvPr/>
          </p:nvSpPr>
          <p:spPr>
            <a:xfrm>
              <a:off x="5012085" y="3351715"/>
              <a:ext cx="2626056" cy="68325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특허출원일</a:t>
              </a:r>
              <a:endPar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(2014.6.11)</a:t>
              </a:r>
              <a:endParaRPr kumimoji="0" lang="ko-KR" altLang="en-US" sz="2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0" name="TextBox 69"/>
            <p:cNvSpPr txBox="1"/>
            <p:nvPr/>
          </p:nvSpPr>
          <p:spPr>
            <a:xfrm>
              <a:off x="7951511" y="2269919"/>
              <a:ext cx="1290738" cy="369332"/>
            </a:xfrm>
            <a:prstGeom prst="rect">
              <a:avLst/>
            </a:prstGeom>
            <a:no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 후</a:t>
              </a:r>
            </a:p>
          </p:txBody>
        </p:sp>
        <p:sp>
          <p:nvSpPr>
            <p:cNvPr id="72" name="TextBox 71"/>
            <p:cNvSpPr txBox="1"/>
            <p:nvPr/>
          </p:nvSpPr>
          <p:spPr>
            <a:xfrm>
              <a:off x="2681433" y="2269919"/>
              <a:ext cx="1290738" cy="369332"/>
            </a:xfrm>
            <a:prstGeom prst="rect">
              <a:avLst/>
            </a:prstGeom>
            <a:no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 전</a:t>
              </a:r>
            </a:p>
          </p:txBody>
        </p:sp>
        <p:sp>
          <p:nvSpPr>
            <p:cNvPr id="73" name="TextBox 72"/>
            <p:cNvSpPr txBox="1"/>
            <p:nvPr/>
          </p:nvSpPr>
          <p:spPr>
            <a:xfrm>
              <a:off x="2362119" y="4639215"/>
              <a:ext cx="1499128" cy="369332"/>
            </a:xfrm>
            <a:prstGeom prst="rect">
              <a:avLst/>
            </a:prstGeom>
            <a:no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특허출원일 전</a:t>
              </a:r>
            </a:p>
          </p:txBody>
        </p:sp>
        <p:sp>
          <p:nvSpPr>
            <p:cNvPr id="74" name="TextBox 73"/>
            <p:cNvSpPr txBox="1"/>
            <p:nvPr/>
          </p:nvSpPr>
          <p:spPr>
            <a:xfrm>
              <a:off x="8460625" y="4639215"/>
              <a:ext cx="1499128" cy="369332"/>
            </a:xfrm>
            <a:prstGeom prst="rect">
              <a:avLst/>
            </a:prstGeom>
            <a:no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특허출원일 후</a:t>
              </a:r>
            </a:p>
          </p:txBody>
        </p:sp>
      </p:grpSp>
      <p:sp>
        <p:nvSpPr>
          <p:cNvPr id="5" name="슬라이드 번호 개체 틀 4"/>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59</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99427477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p:cNvSpPr>
            <a:spLocks noGrp="1"/>
          </p:cNvSpPr>
          <p:nvPr>
            <p:ph type="body" sz="quarter" idx="13"/>
          </p:nvPr>
        </p:nvSpPr>
        <p:spPr/>
        <p:txBody>
          <a:bodyPr/>
          <a:lstStyle/>
          <a:p>
            <a:r>
              <a:rPr lang="ko-KR" altLang="en-US" dirty="0"/>
              <a:t>특허출원 전 공지와 증거 자료의 작성</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60</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cxnSp>
        <p:nvCxnSpPr>
          <p:cNvPr id="56" name="직선 연결선 55"/>
          <p:cNvCxnSpPr>
            <a:cxnSpLocks/>
          </p:cNvCxnSpPr>
          <p:nvPr/>
        </p:nvCxnSpPr>
        <p:spPr>
          <a:xfrm flipH="1" flipV="1">
            <a:off x="3444174" y="5476601"/>
            <a:ext cx="1" cy="256854"/>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2935061" y="5096739"/>
            <a:ext cx="1018227" cy="369332"/>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cxnSp>
        <p:nvCxnSpPr>
          <p:cNvPr id="48" name="직선 연결선 47"/>
          <p:cNvCxnSpPr/>
          <p:nvPr/>
        </p:nvCxnSpPr>
        <p:spPr>
          <a:xfrm>
            <a:off x="1303176" y="5818679"/>
            <a:ext cx="8884222"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직선 연결선 26"/>
          <p:cNvCxnSpPr>
            <a:cxnSpLocks/>
          </p:cNvCxnSpPr>
          <p:nvPr/>
        </p:nvCxnSpPr>
        <p:spPr>
          <a:xfrm>
            <a:off x="2222842" y="5863398"/>
            <a:ext cx="0" cy="37723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1922118" y="6195608"/>
            <a:ext cx="601447" cy="369332"/>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공지</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39" name="직선 연결선 38"/>
          <p:cNvCxnSpPr>
            <a:cxnSpLocks/>
          </p:cNvCxnSpPr>
          <p:nvPr/>
        </p:nvCxnSpPr>
        <p:spPr>
          <a:xfrm>
            <a:off x="4432782" y="5863398"/>
            <a:ext cx="3" cy="37723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3410710" y="6247368"/>
            <a:ext cx="2044150" cy="369332"/>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공지 증거 자료 작성</a:t>
            </a:r>
          </a:p>
        </p:txBody>
      </p:sp>
      <p:cxnSp>
        <p:nvCxnSpPr>
          <p:cNvPr id="43" name="직선 연결선 42"/>
          <p:cNvCxnSpPr>
            <a:cxnSpLocks/>
          </p:cNvCxnSpPr>
          <p:nvPr/>
        </p:nvCxnSpPr>
        <p:spPr>
          <a:xfrm flipH="1" flipV="1">
            <a:off x="5961034" y="5543172"/>
            <a:ext cx="2942" cy="19028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5454860" y="5131243"/>
            <a:ext cx="1018228" cy="369332"/>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심사청구</a:t>
            </a:r>
          </a:p>
        </p:txBody>
      </p:sp>
      <p:cxnSp>
        <p:nvCxnSpPr>
          <p:cNvPr id="45" name="직선 연결선 44"/>
          <p:cNvCxnSpPr>
            <a:cxnSpLocks/>
          </p:cNvCxnSpPr>
          <p:nvPr/>
        </p:nvCxnSpPr>
        <p:spPr>
          <a:xfrm flipV="1">
            <a:off x="8199616" y="5543172"/>
            <a:ext cx="0" cy="19028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7459670" y="5031017"/>
            <a:ext cx="1479892" cy="523220"/>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err="1">
                <a:ln>
                  <a:noFill/>
                </a:ln>
                <a:solidFill>
                  <a:srgbClr val="ED7D31"/>
                </a:solidFill>
                <a:effectLst/>
                <a:uLnTx/>
                <a:uFillTx/>
                <a:latin typeface="Frutiger LT 65 Bold"/>
                <a:ea typeface="Rix모던고딕 B"/>
                <a:cs typeface="+mn-cs"/>
              </a:rPr>
              <a:t>실체심사</a:t>
            </a:r>
            <a:endParaRPr kumimoji="0" lang="ko-KR" altLang="en-US" sz="1800" b="0" i="0" u="none" strike="noStrike" kern="1200" cap="none" spc="0" normalizeH="0" baseline="0" noProof="0" dirty="0">
              <a:ln>
                <a:noFill/>
              </a:ln>
              <a:solidFill>
                <a:srgbClr val="ED7D31"/>
              </a:solidFill>
              <a:effectLst/>
              <a:uLnTx/>
              <a:uFillTx/>
              <a:latin typeface="Frutiger LT 65 Bold"/>
              <a:ea typeface="Rix모던고딕 B"/>
              <a:cs typeface="+mn-cs"/>
            </a:endParaRPr>
          </a:p>
        </p:txBody>
      </p:sp>
      <p:sp>
        <p:nvSpPr>
          <p:cNvPr id="50" name="TextBox 49"/>
          <p:cNvSpPr txBox="1"/>
          <p:nvPr/>
        </p:nvSpPr>
        <p:spPr>
          <a:xfrm>
            <a:off x="5307440" y="4015774"/>
            <a:ext cx="5757824" cy="646331"/>
          </a:xfrm>
          <a:prstGeom prst="rect">
            <a:avLst/>
          </a:prstGeom>
          <a:solidFill>
            <a:schemeClr val="bg1">
              <a:lumMod val="85000"/>
            </a:schemeClr>
          </a:solid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4472C4">
                    <a:lumMod val="50000"/>
                  </a:srgbClr>
                </a:solidFill>
                <a:effectLst/>
                <a:uLnTx/>
                <a:uFillTx/>
                <a:latin typeface="Frutiger LT 65 Bold"/>
                <a:ea typeface="Rix모던고딕 B"/>
                <a:cs typeface="+mn-cs"/>
              </a:rPr>
              <a:t>특허출원 후에 작성된 증거 자료에 의하여 </a:t>
            </a:r>
            <a:r>
              <a:rPr kumimoji="0" lang="ko-KR" altLang="en-US" sz="1800" b="0" i="0" u="none" strike="noStrike" kern="1200" cap="none" spc="0" normalizeH="0" baseline="0" noProof="0" dirty="0" err="1">
                <a:ln>
                  <a:noFill/>
                </a:ln>
                <a:solidFill>
                  <a:srgbClr val="4472C4">
                    <a:lumMod val="50000"/>
                  </a:srgbClr>
                </a:solidFill>
                <a:effectLst/>
                <a:uLnTx/>
                <a:uFillTx/>
                <a:latin typeface="Frutiger LT 65 Bold"/>
                <a:ea typeface="Rix모던고딕 B"/>
                <a:cs typeface="+mn-cs"/>
              </a:rPr>
              <a:t>특허출원된</a:t>
            </a:r>
            <a:r>
              <a:rPr kumimoji="0" lang="ko-KR" altLang="en-US" sz="1800" b="0" i="0" u="none" strike="noStrike" kern="1200" cap="none" spc="0" normalizeH="0" baseline="0" noProof="0" dirty="0">
                <a:ln>
                  <a:noFill/>
                </a:ln>
                <a:solidFill>
                  <a:srgbClr val="4472C4">
                    <a:lumMod val="50000"/>
                  </a:srgbClr>
                </a:solidFill>
                <a:effectLst/>
                <a:uLnTx/>
                <a:uFillTx/>
                <a:latin typeface="Frutiger LT 65 Bold"/>
                <a:ea typeface="Rix모던고딕 B"/>
                <a:cs typeface="+mn-cs"/>
              </a:rPr>
              <a:t> 발명의 신규성 판단 가능</a:t>
            </a:r>
          </a:p>
        </p:txBody>
      </p:sp>
      <p:sp>
        <p:nvSpPr>
          <p:cNvPr id="18" name="아래쪽 화살표 17"/>
          <p:cNvSpPr/>
          <p:nvPr/>
        </p:nvSpPr>
        <p:spPr>
          <a:xfrm>
            <a:off x="7828905" y="4701892"/>
            <a:ext cx="719191" cy="349321"/>
          </a:xfrm>
          <a:prstGeom prst="downArrow">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grpSp>
        <p:nvGrpSpPr>
          <p:cNvPr id="5" name="그룹 4">
            <a:extLst>
              <a:ext uri="{FF2B5EF4-FFF2-40B4-BE49-F238E27FC236}">
                <a16:creationId xmlns:a16="http://schemas.microsoft.com/office/drawing/2014/main" id="{4B1583C3-A449-4097-A0F8-7A671F4CEDDD}"/>
              </a:ext>
            </a:extLst>
          </p:cNvPr>
          <p:cNvGrpSpPr/>
          <p:nvPr/>
        </p:nvGrpSpPr>
        <p:grpSpPr>
          <a:xfrm>
            <a:off x="0" y="985031"/>
            <a:ext cx="12191999" cy="2852980"/>
            <a:chOff x="0" y="964867"/>
            <a:chExt cx="12191999" cy="2852980"/>
          </a:xfrm>
        </p:grpSpPr>
        <p:sp>
          <p:nvSpPr>
            <p:cNvPr id="20" name="TextBox 19">
              <a:extLst>
                <a:ext uri="{FF2B5EF4-FFF2-40B4-BE49-F238E27FC236}">
                  <a16:creationId xmlns:a16="http://schemas.microsoft.com/office/drawing/2014/main" id="{E3CF2E2A-225A-44AD-8E5F-2006B5EC99DD}"/>
                </a:ext>
              </a:extLst>
            </p:cNvPr>
            <p:cNvSpPr txBox="1"/>
            <p:nvPr/>
          </p:nvSpPr>
          <p:spPr>
            <a:xfrm>
              <a:off x="77875" y="1341693"/>
              <a:ext cx="11936323" cy="2462213"/>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구 특허법</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(2001. 2. 3.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법률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6411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호로 개정되기 전의 것</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29</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호 소정의 ‘특허출원 전에 국내에서 공지되었거나 공연히 실시된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발명’에서</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‘특허출원 </a:t>
              </a:r>
              <a:r>
                <a:rPr kumimoji="0" lang="ko-KR" altLang="en-US" sz="14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전’의</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의미는 발명의 공지 또는 공연 실시된 시점이 특허출원 전이라는 의미이지 그 공지 또는 공연 실시된 사실을 인정하기 위한 증거가 특허출원 전에 작성된 것을 의미하는 것은 아니므로</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법원은 특허출원 후에 작성된 문건들에 기초하여 어떤 발명 또는 기술이 특허출원 전에 공지 또는 공연 실시된 것인지 여부를 인정할 수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의견서 제출기회를 부여하는 구 특허법</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(2001. 2. 3.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법률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6411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호로 개정되기 전의 것</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136</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항은 정정청구에 대한 심사의 적정을 기하고 심사제도의 신용을 유지하기 위한 공익상의 요구에 기인하는 이른바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강행규정이므로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정정심판이나 그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심결취소소송에서</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정정의견제출통지서를 통하여 심판청구인에게 의견서 제출 기회를 부여한 바 없는 사유를 들어 정정심판청구를 기각하는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심결을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하거나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심결취소청구를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기각하는 것은 위법하나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정정의견제출통지서에 기재된 사유와 다른 별개의 새로운 사유가 아니고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주된 취지에 있어서 정정의견제출통지서에 기재된 사유와 실질적으로 동일한 사유로 정정심판을 기각하는 </a:t>
              </a:r>
              <a:r>
                <a:rPr kumimoji="0" lang="ko-KR" altLang="en-US" sz="14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심결을</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하거나 그 </a:t>
              </a:r>
              <a:r>
                <a:rPr kumimoji="0" lang="ko-KR" altLang="en-US" sz="14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심결에</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대한 취소청구를 기각하는 것은 허용</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된다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정정의견제출통지서에 기재된 증거가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아니라도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정정거절이유를</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보충</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하는 것이라면 새로운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정정거절이유라고</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할 수 없으므로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특허법원이 그 증거를 채용하여 정정청구를 기각한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심결이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정당하다는 사유의 하나로 삼았다고 하여 심리범위를 일탈하였다고 할 수 없다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 name="사각형: 둥근 모서리 20">
              <a:extLst>
                <a:ext uri="{FF2B5EF4-FFF2-40B4-BE49-F238E27FC236}">
                  <a16:creationId xmlns:a16="http://schemas.microsoft.com/office/drawing/2014/main" id="{08FE81B0-4EAC-43BC-A432-3F1ED8B60173}"/>
                </a:ext>
              </a:extLst>
            </p:cNvPr>
            <p:cNvSpPr/>
            <p:nvPr/>
          </p:nvSpPr>
          <p:spPr>
            <a:xfrm>
              <a:off x="113937" y="964867"/>
              <a:ext cx="5100068" cy="346234"/>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2007. 4. 27.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2006</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2660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판결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정정</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특</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2" name="직선 연결선 21">
              <a:extLst>
                <a:ext uri="{FF2B5EF4-FFF2-40B4-BE49-F238E27FC236}">
                  <a16:creationId xmlns:a16="http://schemas.microsoft.com/office/drawing/2014/main" id="{E9A069B6-FEAB-4319-9DED-B2FB8A167478}"/>
                </a:ext>
              </a:extLst>
            </p:cNvPr>
            <p:cNvCxnSpPr/>
            <p:nvPr/>
          </p:nvCxnSpPr>
          <p:spPr>
            <a:xfrm>
              <a:off x="0" y="3817847"/>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56828907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p:cNvSpPr>
            <a:spLocks noGrp="1"/>
          </p:cNvSpPr>
          <p:nvPr>
            <p:ph type="body" sz="quarter" idx="13"/>
          </p:nvPr>
        </p:nvSpPr>
        <p:spPr/>
        <p:txBody>
          <a:bodyPr/>
          <a:lstStyle/>
          <a:p>
            <a:r>
              <a:rPr lang="ko-KR" altLang="en-US" dirty="0">
                <a:solidFill>
                  <a:srgbClr val="525252"/>
                </a:solidFill>
              </a:rPr>
              <a:t>동일성의 유형</a:t>
            </a:r>
          </a:p>
        </p:txBody>
      </p:sp>
      <p:sp>
        <p:nvSpPr>
          <p:cNvPr id="5" name="슬라이드 번호 개체 틀 4"/>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61</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35" name="직사각형 34">
            <a:extLst>
              <a:ext uri="{FF2B5EF4-FFF2-40B4-BE49-F238E27FC236}">
                <a16:creationId xmlns:a16="http://schemas.microsoft.com/office/drawing/2014/main" id="{9FA977EE-34D8-4F4D-9639-E06A8258554B}"/>
              </a:ext>
            </a:extLst>
          </p:cNvPr>
          <p:cNvSpPr/>
          <p:nvPr/>
        </p:nvSpPr>
        <p:spPr>
          <a:xfrm>
            <a:off x="5310399" y="1710752"/>
            <a:ext cx="354792" cy="4445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37" name="직선 화살표 연결선 36">
            <a:extLst>
              <a:ext uri="{FF2B5EF4-FFF2-40B4-BE49-F238E27FC236}">
                <a16:creationId xmlns:a16="http://schemas.microsoft.com/office/drawing/2014/main" id="{27ADE674-B031-4A66-AF15-FCCDEB979558}"/>
              </a:ext>
            </a:extLst>
          </p:cNvPr>
          <p:cNvCxnSpPr>
            <a:cxnSpLocks/>
          </p:cNvCxnSpPr>
          <p:nvPr/>
        </p:nvCxnSpPr>
        <p:spPr>
          <a:xfrm flipV="1">
            <a:off x="1315672" y="1832948"/>
            <a:ext cx="0" cy="3709114"/>
          </a:xfrm>
          <a:prstGeom prst="straightConnector1">
            <a:avLst/>
          </a:prstGeom>
          <a:ln w="762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직사각형 37">
            <a:extLst>
              <a:ext uri="{FF2B5EF4-FFF2-40B4-BE49-F238E27FC236}">
                <a16:creationId xmlns:a16="http://schemas.microsoft.com/office/drawing/2014/main" id="{0CF6E71B-7D59-4817-8E88-733FE04D38C6}"/>
              </a:ext>
            </a:extLst>
          </p:cNvPr>
          <p:cNvSpPr/>
          <p:nvPr/>
        </p:nvSpPr>
        <p:spPr>
          <a:xfrm>
            <a:off x="774498" y="1191593"/>
            <a:ext cx="1082348" cy="646331"/>
          </a:xfrm>
          <a:prstGeom prst="rect">
            <a:avLst/>
          </a:prstGeom>
        </p:spPr>
        <p:txBody>
          <a:bodyPr wrap="non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발명창작 </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수준</a:t>
            </a:r>
          </a:p>
        </p:txBody>
      </p:sp>
      <p:sp>
        <p:nvSpPr>
          <p:cNvPr id="48" name="타원 47">
            <a:extLst>
              <a:ext uri="{FF2B5EF4-FFF2-40B4-BE49-F238E27FC236}">
                <a16:creationId xmlns:a16="http://schemas.microsoft.com/office/drawing/2014/main" id="{F7DF9243-1995-4590-997D-0863D5DCCB57}"/>
              </a:ext>
            </a:extLst>
          </p:cNvPr>
          <p:cNvSpPr/>
          <p:nvPr/>
        </p:nvSpPr>
        <p:spPr>
          <a:xfrm>
            <a:off x="1106122" y="4931908"/>
            <a:ext cx="393700" cy="393700"/>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44546A"/>
                </a:solidFill>
                <a:effectLst/>
                <a:uLnTx/>
                <a:uFillTx/>
                <a:latin typeface="Rix모던고딕 EB"/>
                <a:ea typeface="Rix모던고딕 EB"/>
                <a:cs typeface="+mn-cs"/>
              </a:rPr>
              <a:t>1</a:t>
            </a:r>
            <a:endParaRPr kumimoji="0" lang="ko-KR" altLang="en-US" sz="1800" b="0" i="0" u="none" strike="noStrike" kern="1200" cap="none" spc="0" normalizeH="0" baseline="0" noProof="0" dirty="0">
              <a:ln>
                <a:noFill/>
              </a:ln>
              <a:solidFill>
                <a:srgbClr val="44546A"/>
              </a:solidFill>
              <a:effectLst/>
              <a:uLnTx/>
              <a:uFillTx/>
              <a:latin typeface="Rix모던고딕 EB"/>
              <a:ea typeface="Rix모던고딕 EB"/>
              <a:cs typeface="+mn-cs"/>
            </a:endParaRPr>
          </a:p>
        </p:txBody>
      </p:sp>
      <p:sp>
        <p:nvSpPr>
          <p:cNvPr id="49" name="타원 48">
            <a:extLst>
              <a:ext uri="{FF2B5EF4-FFF2-40B4-BE49-F238E27FC236}">
                <a16:creationId xmlns:a16="http://schemas.microsoft.com/office/drawing/2014/main" id="{45839D75-B55F-49CE-8A91-39809EA7A513}"/>
              </a:ext>
            </a:extLst>
          </p:cNvPr>
          <p:cNvSpPr/>
          <p:nvPr/>
        </p:nvSpPr>
        <p:spPr>
          <a:xfrm>
            <a:off x="1118822" y="4395957"/>
            <a:ext cx="393700" cy="393700"/>
          </a:xfrm>
          <a:prstGeom prst="ellipse">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44546A"/>
                </a:solidFill>
                <a:effectLst/>
                <a:uLnTx/>
                <a:uFillTx/>
                <a:latin typeface="Rix모던고딕 EB"/>
                <a:ea typeface="Rix모던고딕 EB"/>
                <a:cs typeface="+mn-cs"/>
              </a:rPr>
              <a:t>2</a:t>
            </a:r>
            <a:endParaRPr kumimoji="0" lang="ko-KR" altLang="en-US" sz="1800" b="0" i="0" u="none" strike="noStrike" kern="1200" cap="none" spc="0" normalizeH="0" baseline="0" noProof="0" dirty="0">
              <a:ln>
                <a:noFill/>
              </a:ln>
              <a:solidFill>
                <a:srgbClr val="44546A"/>
              </a:solidFill>
              <a:effectLst/>
              <a:uLnTx/>
              <a:uFillTx/>
              <a:latin typeface="Rix모던고딕 EB"/>
              <a:ea typeface="Rix모던고딕 EB"/>
              <a:cs typeface="+mn-cs"/>
            </a:endParaRPr>
          </a:p>
        </p:txBody>
      </p:sp>
      <p:sp>
        <p:nvSpPr>
          <p:cNvPr id="50" name="타원 49">
            <a:extLst>
              <a:ext uri="{FF2B5EF4-FFF2-40B4-BE49-F238E27FC236}">
                <a16:creationId xmlns:a16="http://schemas.microsoft.com/office/drawing/2014/main" id="{40EB0E8E-659F-4DC3-A994-476E3FF30CB6}"/>
              </a:ext>
            </a:extLst>
          </p:cNvPr>
          <p:cNvSpPr/>
          <p:nvPr/>
        </p:nvSpPr>
        <p:spPr>
          <a:xfrm>
            <a:off x="1118822" y="3852624"/>
            <a:ext cx="393700" cy="393700"/>
          </a:xfrm>
          <a:prstGeom prst="ellipse">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44546A"/>
                </a:solidFill>
                <a:effectLst/>
                <a:uLnTx/>
                <a:uFillTx/>
                <a:latin typeface="Rix모던고딕 EB"/>
                <a:ea typeface="Rix모던고딕 EB"/>
                <a:cs typeface="+mn-cs"/>
              </a:rPr>
              <a:t>3</a:t>
            </a:r>
            <a:endParaRPr kumimoji="0" lang="ko-KR" altLang="en-US" sz="1800" b="0" i="0" u="none" strike="noStrike" kern="1200" cap="none" spc="0" normalizeH="0" baseline="0" noProof="0" dirty="0">
              <a:ln>
                <a:noFill/>
              </a:ln>
              <a:solidFill>
                <a:srgbClr val="44546A"/>
              </a:solidFill>
              <a:effectLst/>
              <a:uLnTx/>
              <a:uFillTx/>
              <a:latin typeface="Rix모던고딕 EB"/>
              <a:ea typeface="Rix모던고딕 EB"/>
              <a:cs typeface="+mn-cs"/>
            </a:endParaRPr>
          </a:p>
        </p:txBody>
      </p:sp>
      <p:sp>
        <p:nvSpPr>
          <p:cNvPr id="51" name="타원 50">
            <a:extLst>
              <a:ext uri="{FF2B5EF4-FFF2-40B4-BE49-F238E27FC236}">
                <a16:creationId xmlns:a16="http://schemas.microsoft.com/office/drawing/2014/main" id="{98475122-F576-49CF-A719-FA9A5E5DB001}"/>
              </a:ext>
            </a:extLst>
          </p:cNvPr>
          <p:cNvSpPr/>
          <p:nvPr/>
        </p:nvSpPr>
        <p:spPr>
          <a:xfrm>
            <a:off x="1106122" y="3308030"/>
            <a:ext cx="393700" cy="393700"/>
          </a:xfrm>
          <a:prstGeom prst="ellipse">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Rix모던고딕 EB"/>
                <a:ea typeface="Rix모던고딕 EB"/>
                <a:cs typeface="+mn-cs"/>
              </a:rPr>
              <a:t>4</a:t>
            </a:r>
            <a:endParaRPr kumimoji="0" lang="ko-KR" altLang="en-US" sz="1800" b="0" i="0" u="none" strike="noStrike" kern="1200" cap="none" spc="0" normalizeH="0" baseline="0" noProof="0" dirty="0">
              <a:ln>
                <a:noFill/>
              </a:ln>
              <a:solidFill>
                <a:prstClr val="white"/>
              </a:solidFill>
              <a:effectLst/>
              <a:uLnTx/>
              <a:uFillTx/>
              <a:latin typeface="Rix모던고딕 EB"/>
              <a:ea typeface="Rix모던고딕 EB"/>
              <a:cs typeface="+mn-cs"/>
            </a:endParaRPr>
          </a:p>
        </p:txBody>
      </p:sp>
      <p:sp>
        <p:nvSpPr>
          <p:cNvPr id="52" name="타원 51">
            <a:extLst>
              <a:ext uri="{FF2B5EF4-FFF2-40B4-BE49-F238E27FC236}">
                <a16:creationId xmlns:a16="http://schemas.microsoft.com/office/drawing/2014/main" id="{438C1D5F-B0DD-4505-932B-FE7BCC944C86}"/>
              </a:ext>
            </a:extLst>
          </p:cNvPr>
          <p:cNvSpPr/>
          <p:nvPr/>
        </p:nvSpPr>
        <p:spPr>
          <a:xfrm>
            <a:off x="1118822" y="2724041"/>
            <a:ext cx="393700" cy="393700"/>
          </a:xfrm>
          <a:prstGeom prst="ellipse">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Rix모던고딕 EB"/>
                <a:ea typeface="Rix모던고딕 EB"/>
                <a:cs typeface="+mn-cs"/>
              </a:rPr>
              <a:t>5</a:t>
            </a:r>
            <a:endParaRPr kumimoji="0" lang="ko-KR" altLang="en-US" sz="1800" b="0" i="0" u="none" strike="noStrike" kern="1200" cap="none" spc="0" normalizeH="0" baseline="0" noProof="0" dirty="0">
              <a:ln>
                <a:noFill/>
              </a:ln>
              <a:solidFill>
                <a:prstClr val="white"/>
              </a:solidFill>
              <a:effectLst/>
              <a:uLnTx/>
              <a:uFillTx/>
              <a:latin typeface="Rix모던고딕 EB"/>
              <a:ea typeface="Rix모던고딕 EB"/>
              <a:cs typeface="+mn-cs"/>
            </a:endParaRPr>
          </a:p>
        </p:txBody>
      </p:sp>
      <p:sp>
        <p:nvSpPr>
          <p:cNvPr id="53" name="타원 52">
            <a:extLst>
              <a:ext uri="{FF2B5EF4-FFF2-40B4-BE49-F238E27FC236}">
                <a16:creationId xmlns:a16="http://schemas.microsoft.com/office/drawing/2014/main" id="{0D213575-549D-4B89-B17D-2C3971D872D5}"/>
              </a:ext>
            </a:extLst>
          </p:cNvPr>
          <p:cNvSpPr/>
          <p:nvPr/>
        </p:nvSpPr>
        <p:spPr>
          <a:xfrm>
            <a:off x="1106122" y="2148902"/>
            <a:ext cx="393700" cy="393700"/>
          </a:xfrm>
          <a:prstGeom prst="ellipse">
            <a:avLst/>
          </a:prstGeom>
          <a:solidFill>
            <a:schemeClr val="tx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Rix모던고딕 EB"/>
                <a:ea typeface="Rix모던고딕 EB"/>
                <a:cs typeface="+mn-cs"/>
              </a:rPr>
              <a:t>6</a:t>
            </a:r>
            <a:endParaRPr kumimoji="0" lang="ko-KR" altLang="en-US" sz="1800" b="0" i="0" u="none" strike="noStrike" kern="1200" cap="none" spc="0" normalizeH="0" baseline="0" noProof="0" dirty="0">
              <a:ln>
                <a:noFill/>
              </a:ln>
              <a:solidFill>
                <a:prstClr val="white"/>
              </a:solidFill>
              <a:effectLst/>
              <a:uLnTx/>
              <a:uFillTx/>
              <a:latin typeface="Rix모던고딕 EB"/>
              <a:ea typeface="Rix모던고딕 EB"/>
              <a:cs typeface="+mn-cs"/>
            </a:endParaRPr>
          </a:p>
        </p:txBody>
      </p:sp>
      <p:sp>
        <p:nvSpPr>
          <p:cNvPr id="54" name="직사각형 53">
            <a:extLst>
              <a:ext uri="{FF2B5EF4-FFF2-40B4-BE49-F238E27FC236}">
                <a16:creationId xmlns:a16="http://schemas.microsoft.com/office/drawing/2014/main" id="{D02CD782-A44F-4DB6-B225-B1D3908465CB}"/>
              </a:ext>
            </a:extLst>
          </p:cNvPr>
          <p:cNvSpPr/>
          <p:nvPr/>
        </p:nvSpPr>
        <p:spPr>
          <a:xfrm>
            <a:off x="1607772" y="5853040"/>
            <a:ext cx="4323128" cy="3882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보정</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우선권주장출원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정정심판 등 소급효 인정</a:t>
            </a:r>
          </a:p>
        </p:txBody>
      </p:sp>
      <p:sp>
        <p:nvSpPr>
          <p:cNvPr id="55" name="직사각형 54">
            <a:extLst>
              <a:ext uri="{FF2B5EF4-FFF2-40B4-BE49-F238E27FC236}">
                <a16:creationId xmlns:a16="http://schemas.microsoft.com/office/drawing/2014/main" id="{6E0F7ADD-F1A9-469D-B19E-CBE9130CA40B}"/>
              </a:ext>
            </a:extLst>
          </p:cNvPr>
          <p:cNvSpPr/>
          <p:nvPr/>
        </p:nvSpPr>
        <p:spPr>
          <a:xfrm>
            <a:off x="7830295" y="5853040"/>
            <a:ext cx="4328745" cy="3882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신규성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확대된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6" name="직사각형 55">
            <a:extLst>
              <a:ext uri="{FF2B5EF4-FFF2-40B4-BE49-F238E27FC236}">
                <a16:creationId xmlns:a16="http://schemas.microsoft.com/office/drawing/2014/main" id="{243C140E-AEA5-4C3C-9AE1-44A5A52263A5}"/>
              </a:ext>
            </a:extLst>
          </p:cNvPr>
          <p:cNvSpPr/>
          <p:nvPr/>
        </p:nvSpPr>
        <p:spPr>
          <a:xfrm>
            <a:off x="1630017" y="4943693"/>
            <a:ext cx="4143323" cy="400965"/>
          </a:xfrm>
          <a:prstGeom prst="rect">
            <a:avLst/>
          </a:prstGeom>
          <a:solidFill>
            <a:schemeClr val="bg1">
              <a:lumMod val="95000"/>
            </a:schemeClr>
          </a:solidFill>
          <a:ln>
            <a:solidFill>
              <a:schemeClr val="bg1">
                <a:lumMod val="50000"/>
              </a:schemeClr>
            </a:solidFill>
          </a:ln>
        </p:spPr>
        <p:txBody>
          <a:bodyPr wrap="square" tIns="0" bIns="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000000"/>
                </a:solidFill>
                <a:effectLst/>
                <a:uLnTx/>
                <a:uFillTx/>
                <a:latin typeface="Rix모던명조 M" panose="02020603020101020101" pitchFamily="18" charset="-127"/>
                <a:ea typeface="Rix모던고딕 B"/>
                <a:cs typeface="+mn-cs"/>
              </a:rPr>
              <a:t>문언적으로 완전히 일치하는 단계</a:t>
            </a:r>
            <a:r>
              <a:rPr kumimoji="0" lang="en-US" altLang="ko-KR"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a:t>
            </a:r>
            <a:r>
              <a:rPr kumimoji="0" lang="ko-KR" altLang="en-US" sz="1200" b="1" i="0" u="none" strike="noStrike" kern="1200" cap="none" spc="0" normalizeH="0" baseline="0" noProof="0" dirty="0" err="1">
                <a:ln>
                  <a:noFill/>
                </a:ln>
                <a:solidFill>
                  <a:srgbClr val="FF0000"/>
                </a:solidFill>
                <a:effectLst/>
                <a:uLnTx/>
                <a:uFillTx/>
                <a:latin typeface="Rix모던명조 M" panose="02020603020101020101" pitchFamily="18" charset="-127"/>
                <a:ea typeface="Rix모던고딕 B"/>
                <a:cs typeface="+mn-cs"/>
              </a:rPr>
              <a:t>문언적</a:t>
            </a:r>
            <a:r>
              <a:rPr kumimoji="0" lang="ko-KR" altLang="en-US"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 동일</a:t>
            </a:r>
            <a:r>
              <a:rPr kumimoji="0" lang="en-US" altLang="ko-KR"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a:t>
            </a:r>
            <a:r>
              <a:rPr kumimoji="0" lang="ko-KR" altLang="en-US" sz="1200" b="0" i="0" u="none" strike="noStrike" kern="1200" cap="none" spc="0" normalizeH="0" baseline="0" noProof="0" dirty="0">
                <a:ln>
                  <a:noFill/>
                </a:ln>
                <a:solidFill>
                  <a:srgbClr val="000000"/>
                </a:solidFill>
                <a:effectLst/>
                <a:uLnTx/>
                <a:uFillTx/>
                <a:latin typeface="Rix모던명조 M" panose="02020603020101020101" pitchFamily="18" charset="-127"/>
                <a:ea typeface="Rix모던고딕 B"/>
                <a:cs typeface="+mn-cs"/>
              </a:rPr>
              <a:t> </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7" name="직사각형 56">
            <a:extLst>
              <a:ext uri="{FF2B5EF4-FFF2-40B4-BE49-F238E27FC236}">
                <a16:creationId xmlns:a16="http://schemas.microsoft.com/office/drawing/2014/main" id="{93030A7E-A67F-4B38-9DE5-FB182A493CAA}"/>
              </a:ext>
            </a:extLst>
          </p:cNvPr>
          <p:cNvSpPr/>
          <p:nvPr/>
        </p:nvSpPr>
        <p:spPr>
          <a:xfrm>
            <a:off x="1630017" y="4395957"/>
            <a:ext cx="4143323" cy="400965"/>
          </a:xfrm>
          <a:prstGeom prst="rect">
            <a:avLst/>
          </a:prstGeom>
          <a:solidFill>
            <a:schemeClr val="bg1">
              <a:lumMod val="95000"/>
            </a:schemeClr>
          </a:solidFill>
          <a:ln>
            <a:solidFill>
              <a:schemeClr val="bg1">
                <a:lumMod val="50000"/>
              </a:schemeClr>
            </a:solidFill>
          </a:ln>
        </p:spPr>
        <p:txBody>
          <a:bodyPr wrap="square" tIns="0" bIns="0" anchor="ctr">
            <a:noAutofit/>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000000"/>
                </a:solidFill>
                <a:effectLst/>
                <a:uLnTx/>
                <a:uFillTx/>
                <a:latin typeface="Rix모던명조 M" panose="02020603020101020101" pitchFamily="18" charset="-127"/>
                <a:ea typeface="Rix모던고딕 B"/>
                <a:cs typeface="+mn-cs"/>
              </a:rPr>
              <a:t>문언적으로 일치하지는 않으나 그 기술구성 및 내용은 일치하는 단계</a:t>
            </a:r>
            <a:r>
              <a:rPr kumimoji="0" lang="en-US" altLang="ko-KR"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a:t>
            </a:r>
            <a:r>
              <a:rPr kumimoji="0" lang="ko-KR" altLang="en-US"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내재적 동일성</a:t>
            </a:r>
            <a:r>
              <a:rPr kumimoji="0" lang="en-US" altLang="ko-KR"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a:t>
            </a:r>
            <a:r>
              <a:rPr kumimoji="0" lang="ko-KR" altLang="en-US" sz="1200" b="0" i="0" u="none" strike="noStrike" kern="1200" cap="none" spc="0" normalizeH="0" baseline="0" noProof="0" dirty="0">
                <a:ln>
                  <a:noFill/>
                </a:ln>
                <a:solidFill>
                  <a:srgbClr val="000000"/>
                </a:solidFill>
                <a:effectLst/>
                <a:uLnTx/>
                <a:uFillTx/>
                <a:latin typeface="Rix모던명조 M" panose="02020603020101020101" pitchFamily="18" charset="-127"/>
                <a:ea typeface="Rix모던고딕 B"/>
                <a:cs typeface="+mn-cs"/>
              </a:rPr>
              <a:t> </a:t>
            </a:r>
          </a:p>
        </p:txBody>
      </p:sp>
      <p:sp>
        <p:nvSpPr>
          <p:cNvPr id="58" name="직사각형 57">
            <a:extLst>
              <a:ext uri="{FF2B5EF4-FFF2-40B4-BE49-F238E27FC236}">
                <a16:creationId xmlns:a16="http://schemas.microsoft.com/office/drawing/2014/main" id="{02762741-6AD9-4F22-B5A3-642CDD558CB1}"/>
              </a:ext>
            </a:extLst>
          </p:cNvPr>
          <p:cNvSpPr/>
          <p:nvPr/>
        </p:nvSpPr>
        <p:spPr>
          <a:xfrm>
            <a:off x="1630017" y="3845359"/>
            <a:ext cx="4143323" cy="400965"/>
          </a:xfrm>
          <a:prstGeom prst="rect">
            <a:avLst/>
          </a:prstGeom>
          <a:solidFill>
            <a:schemeClr val="accent4">
              <a:lumMod val="60000"/>
              <a:lumOff val="40000"/>
            </a:schemeClr>
          </a:solidFill>
          <a:ln>
            <a:solidFill>
              <a:schemeClr val="bg1">
                <a:lumMod val="50000"/>
              </a:schemeClr>
            </a:solidFill>
          </a:ln>
        </p:spPr>
        <p:txBody>
          <a:bodyPr wrap="square" tIns="0" bIns="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50" normalizeH="0" baseline="0" noProof="0" dirty="0">
                <a:ln>
                  <a:noFill/>
                </a:ln>
                <a:solidFill>
                  <a:srgbClr val="000000"/>
                </a:solidFill>
                <a:effectLst/>
                <a:uLnTx/>
                <a:uFillTx/>
                <a:latin typeface="Rix모던명조 M" panose="02020603020101020101" pitchFamily="18" charset="-127"/>
                <a:ea typeface="Rix모던고딕 B"/>
                <a:cs typeface="+mn-cs"/>
              </a:rPr>
              <a:t>기술구성 및 내용에 일부 차이가 있으나 그 차이에도 불구하고 양 발명을 실질적으로 동일하다고 볼 수 있는 단계</a:t>
            </a:r>
            <a:r>
              <a:rPr kumimoji="0" lang="en-US" altLang="ko-KR" sz="1200" b="1" i="0" u="none" strike="noStrike" kern="1200" cap="none" spc="-50" normalizeH="0" baseline="0" noProof="0" dirty="0">
                <a:ln>
                  <a:noFill/>
                </a:ln>
                <a:solidFill>
                  <a:srgbClr val="FF0000"/>
                </a:solidFill>
                <a:effectLst/>
                <a:uLnTx/>
                <a:uFillTx/>
                <a:latin typeface="Rix모던명조 M" panose="02020603020101020101" pitchFamily="18" charset="-127"/>
                <a:ea typeface="Rix모던고딕 B"/>
                <a:cs typeface="+mn-cs"/>
              </a:rPr>
              <a:t>(</a:t>
            </a:r>
            <a:r>
              <a:rPr kumimoji="0" lang="ko-KR" altLang="en-US" sz="1200" b="1" i="0" u="none" strike="noStrike" kern="1200" cap="none" spc="-50" normalizeH="0" baseline="0" noProof="0" dirty="0">
                <a:ln>
                  <a:noFill/>
                </a:ln>
                <a:solidFill>
                  <a:srgbClr val="FF0000"/>
                </a:solidFill>
                <a:effectLst/>
                <a:uLnTx/>
                <a:uFillTx/>
                <a:latin typeface="Rix모던명조 M" panose="02020603020101020101" pitchFamily="18" charset="-127"/>
                <a:ea typeface="Rix모던고딕 B"/>
                <a:cs typeface="+mn-cs"/>
              </a:rPr>
              <a:t>실질적 동일성</a:t>
            </a:r>
            <a:r>
              <a:rPr kumimoji="0" lang="en-US" altLang="ko-KR" sz="1200" b="1" i="0" u="none" strike="noStrike" kern="1200" cap="none" spc="-50" normalizeH="0" baseline="0" noProof="0" dirty="0">
                <a:ln>
                  <a:noFill/>
                </a:ln>
                <a:solidFill>
                  <a:srgbClr val="FF0000"/>
                </a:solidFill>
                <a:effectLst/>
                <a:uLnTx/>
                <a:uFillTx/>
                <a:latin typeface="Rix모던명조 M" panose="02020603020101020101" pitchFamily="18" charset="-127"/>
                <a:ea typeface="Rix모던고딕 B"/>
                <a:cs typeface="+mn-cs"/>
              </a:rPr>
              <a:t>)</a:t>
            </a:r>
            <a:endParaRPr kumimoji="0" lang="ko-KR" altLang="en-US" sz="1200" b="1" i="0" u="none" strike="noStrike" kern="1200" cap="none" spc="-50" normalizeH="0" baseline="0" noProof="0" dirty="0">
              <a:ln>
                <a:noFill/>
              </a:ln>
              <a:solidFill>
                <a:srgbClr val="FF0000"/>
              </a:solidFill>
              <a:effectLst/>
              <a:uLnTx/>
              <a:uFillTx/>
              <a:latin typeface="Frutiger LT 65 Bold"/>
              <a:ea typeface="Rix모던고딕 B"/>
              <a:cs typeface="+mn-cs"/>
            </a:endParaRPr>
          </a:p>
        </p:txBody>
      </p:sp>
      <p:sp>
        <p:nvSpPr>
          <p:cNvPr id="59" name="직사각형 58">
            <a:extLst>
              <a:ext uri="{FF2B5EF4-FFF2-40B4-BE49-F238E27FC236}">
                <a16:creationId xmlns:a16="http://schemas.microsoft.com/office/drawing/2014/main" id="{17C98224-098E-42E2-841C-03845B8BC7F3}"/>
              </a:ext>
            </a:extLst>
          </p:cNvPr>
          <p:cNvSpPr/>
          <p:nvPr/>
        </p:nvSpPr>
        <p:spPr>
          <a:xfrm>
            <a:off x="1630017" y="3272648"/>
            <a:ext cx="4143323" cy="400965"/>
          </a:xfrm>
          <a:prstGeom prst="rect">
            <a:avLst/>
          </a:prstGeom>
          <a:solidFill>
            <a:schemeClr val="bg1">
              <a:lumMod val="95000"/>
            </a:schemeClr>
          </a:solidFill>
          <a:ln>
            <a:solidFill>
              <a:schemeClr val="bg1">
                <a:lumMod val="50000"/>
              </a:schemeClr>
            </a:solidFill>
          </a:ln>
        </p:spPr>
        <p:txBody>
          <a:bodyPr wrap="square" tIns="0" bIns="0" anchor="ctr">
            <a:noAutofit/>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000000"/>
                </a:solidFill>
                <a:effectLst/>
                <a:uLnTx/>
                <a:uFillTx/>
                <a:latin typeface="Rix모던명조 M" panose="02020603020101020101" pitchFamily="18" charset="-127"/>
                <a:ea typeface="Rix모던고딕 B"/>
                <a:cs typeface="+mn-cs"/>
              </a:rPr>
              <a:t>실질적으로 동일하다고 볼 수는 없으나 당해 발명이 선행발명으로부터 극히 용이하게 발명할 수 있는 단계</a:t>
            </a:r>
            <a:r>
              <a:rPr kumimoji="0" lang="en-US" altLang="ko-KR"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a:t>
            </a:r>
            <a:r>
              <a:rPr kumimoji="0" lang="ko-KR" altLang="en-US"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극히 용이성</a:t>
            </a:r>
            <a:r>
              <a:rPr kumimoji="0" lang="en-US" altLang="ko-KR"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a:t>
            </a:r>
            <a:endParaRPr kumimoji="0" lang="en-US" altLang="ko-KR" sz="1200" b="1" i="0" u="none" strike="noStrike" kern="1200" cap="none" spc="0" normalizeH="0" baseline="0" noProof="0" dirty="0">
              <a:ln>
                <a:noFill/>
              </a:ln>
              <a:solidFill>
                <a:srgbClr val="FF0000"/>
              </a:solidFill>
              <a:effectLst/>
              <a:uLnTx/>
              <a:uFillTx/>
              <a:latin typeface="Rix모던고딕 M" panose="02020603020101020101" pitchFamily="18" charset="-127"/>
              <a:ea typeface="Rix모던고딕 B"/>
              <a:cs typeface="+mn-cs"/>
            </a:endParaRPr>
          </a:p>
        </p:txBody>
      </p:sp>
      <p:sp>
        <p:nvSpPr>
          <p:cNvPr id="60" name="직사각형 59">
            <a:extLst>
              <a:ext uri="{FF2B5EF4-FFF2-40B4-BE49-F238E27FC236}">
                <a16:creationId xmlns:a16="http://schemas.microsoft.com/office/drawing/2014/main" id="{FA0A7A7C-9BB7-43DE-92CF-192DDD555527}"/>
              </a:ext>
            </a:extLst>
          </p:cNvPr>
          <p:cNvSpPr/>
          <p:nvPr/>
        </p:nvSpPr>
        <p:spPr>
          <a:xfrm>
            <a:off x="1630017" y="2724041"/>
            <a:ext cx="4143323" cy="400965"/>
          </a:xfrm>
          <a:prstGeom prst="rect">
            <a:avLst/>
          </a:prstGeom>
          <a:solidFill>
            <a:schemeClr val="bg1">
              <a:lumMod val="95000"/>
            </a:schemeClr>
          </a:solidFill>
          <a:ln>
            <a:solidFill>
              <a:schemeClr val="bg1">
                <a:lumMod val="50000"/>
              </a:schemeClr>
            </a:solidFill>
          </a:ln>
        </p:spPr>
        <p:txBody>
          <a:bodyPr wrap="square" tIns="0" bIns="0" anchor="ctr">
            <a:noAutofit/>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40" normalizeH="0" baseline="0" noProof="0" dirty="0">
                <a:ln>
                  <a:noFill/>
                </a:ln>
                <a:solidFill>
                  <a:srgbClr val="000000"/>
                </a:solidFill>
                <a:effectLst/>
                <a:uLnTx/>
                <a:uFillTx/>
                <a:latin typeface="Rix모던명조 M" panose="02020603020101020101" pitchFamily="18" charset="-127"/>
                <a:ea typeface="Rix모던고딕 B"/>
                <a:cs typeface="+mn-cs"/>
              </a:rPr>
              <a:t>극히 용이하게 발명할 수는 없으나 용이하게 발명할 수 있는 단계</a:t>
            </a:r>
            <a:endParaRPr kumimoji="0" lang="en-US" altLang="ko-KR" sz="1200" b="0" i="0" u="none" strike="noStrike" kern="1200" cap="none" spc="-40" normalizeH="0" baseline="0" noProof="0" dirty="0">
              <a:ln>
                <a:noFill/>
              </a:ln>
              <a:solidFill>
                <a:srgbClr val="000000"/>
              </a:solidFill>
              <a:effectLst/>
              <a:uLnTx/>
              <a:uFillTx/>
              <a:latin typeface="Rix모던명조 M" panose="02020603020101020101" pitchFamily="18" charset="-127"/>
              <a:ea typeface="Rix모던고딕 B"/>
              <a:cs typeface="+mn-cs"/>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a:t>
            </a:r>
            <a:r>
              <a:rPr kumimoji="0" lang="ko-KR" altLang="en-US"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용이성</a:t>
            </a:r>
            <a:r>
              <a:rPr kumimoji="0" lang="en-US" altLang="ko-KR"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a:t>
            </a:r>
            <a:endParaRPr kumimoji="0" lang="en-US" altLang="ko-KR" sz="1200" b="1" i="0" u="none" strike="noStrike" kern="1200" cap="none" spc="0" normalizeH="0" baseline="0" noProof="0" dirty="0">
              <a:ln>
                <a:noFill/>
              </a:ln>
              <a:solidFill>
                <a:srgbClr val="FF0000"/>
              </a:solidFill>
              <a:effectLst/>
              <a:uLnTx/>
              <a:uFillTx/>
              <a:latin typeface="Rix모던고딕 M" panose="02020603020101020101" pitchFamily="18" charset="-127"/>
              <a:ea typeface="Rix모던고딕 B"/>
              <a:cs typeface="+mn-cs"/>
            </a:endParaRPr>
          </a:p>
        </p:txBody>
      </p:sp>
      <p:sp>
        <p:nvSpPr>
          <p:cNvPr id="61" name="직사각형 60">
            <a:extLst>
              <a:ext uri="{FF2B5EF4-FFF2-40B4-BE49-F238E27FC236}">
                <a16:creationId xmlns:a16="http://schemas.microsoft.com/office/drawing/2014/main" id="{E0D05E2F-18C1-4AB9-A153-9BDA46198C7F}"/>
              </a:ext>
            </a:extLst>
          </p:cNvPr>
          <p:cNvSpPr/>
          <p:nvPr/>
        </p:nvSpPr>
        <p:spPr>
          <a:xfrm>
            <a:off x="1630017" y="2161086"/>
            <a:ext cx="4143323" cy="400965"/>
          </a:xfrm>
          <a:prstGeom prst="rect">
            <a:avLst/>
          </a:prstGeom>
          <a:solidFill>
            <a:schemeClr val="bg1">
              <a:lumMod val="95000"/>
            </a:schemeClr>
          </a:solidFill>
          <a:ln>
            <a:solidFill>
              <a:schemeClr val="bg1">
                <a:lumMod val="50000"/>
              </a:schemeClr>
            </a:solidFill>
          </a:ln>
        </p:spPr>
        <p:txBody>
          <a:bodyPr wrap="square" tIns="0" bIns="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000000"/>
                </a:solidFill>
                <a:effectLst/>
                <a:uLnTx/>
                <a:uFillTx/>
                <a:latin typeface="Rix모던명조 M" panose="02020603020101020101" pitchFamily="18" charset="-127"/>
                <a:ea typeface="Rix모던고딕 B"/>
                <a:cs typeface="+mn-cs"/>
              </a:rPr>
              <a:t>용이하게 발명할 수 없는 단계</a:t>
            </a:r>
            <a:r>
              <a:rPr kumimoji="0" lang="en-US" altLang="ko-KR"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a:t>
            </a:r>
            <a:r>
              <a:rPr kumimoji="0" lang="ko-KR" altLang="en-US"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비용이성</a:t>
            </a:r>
            <a:r>
              <a:rPr kumimoji="0" lang="en-US" altLang="ko-KR" sz="1200" b="1" i="0"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a:t>
            </a:r>
            <a:endParaRPr kumimoji="0" lang="ko-KR" altLang="en-US" sz="1200" b="1"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62" name="직사각형 61">
            <a:extLst>
              <a:ext uri="{FF2B5EF4-FFF2-40B4-BE49-F238E27FC236}">
                <a16:creationId xmlns:a16="http://schemas.microsoft.com/office/drawing/2014/main" id="{B5138CF3-779D-4747-A728-F663018ECC5D}"/>
              </a:ext>
            </a:extLst>
          </p:cNvPr>
          <p:cNvSpPr/>
          <p:nvPr/>
        </p:nvSpPr>
        <p:spPr>
          <a:xfrm>
            <a:off x="6061673" y="3315858"/>
            <a:ext cx="1285104" cy="388212"/>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발명의 범주가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다른 경우</a:t>
            </a:r>
          </a:p>
        </p:txBody>
      </p:sp>
      <p:cxnSp>
        <p:nvCxnSpPr>
          <p:cNvPr id="63" name="연결선: 꺾임 62">
            <a:extLst>
              <a:ext uri="{FF2B5EF4-FFF2-40B4-BE49-F238E27FC236}">
                <a16:creationId xmlns:a16="http://schemas.microsoft.com/office/drawing/2014/main" id="{B3D06153-2E09-4882-BA51-2971DAC5B982}"/>
              </a:ext>
            </a:extLst>
          </p:cNvPr>
          <p:cNvCxnSpPr>
            <a:cxnSpLocks/>
            <a:stCxn id="58" idx="3"/>
            <a:endCxn id="75" idx="1"/>
          </p:cNvCxnSpPr>
          <p:nvPr/>
        </p:nvCxnSpPr>
        <p:spPr>
          <a:xfrm>
            <a:off x="5773340" y="4045842"/>
            <a:ext cx="288333" cy="42272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연결선: 꺾임 63">
            <a:extLst>
              <a:ext uri="{FF2B5EF4-FFF2-40B4-BE49-F238E27FC236}">
                <a16:creationId xmlns:a16="http://schemas.microsoft.com/office/drawing/2014/main" id="{6C2FD3A1-ED28-4058-98EA-46A932F4D23C}"/>
              </a:ext>
            </a:extLst>
          </p:cNvPr>
          <p:cNvCxnSpPr>
            <a:stCxn id="58" idx="3"/>
            <a:endCxn id="62" idx="1"/>
          </p:cNvCxnSpPr>
          <p:nvPr/>
        </p:nvCxnSpPr>
        <p:spPr>
          <a:xfrm flipV="1">
            <a:off x="5773340" y="3509964"/>
            <a:ext cx="288333" cy="53587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연결선: 꺾임 64">
            <a:extLst>
              <a:ext uri="{FF2B5EF4-FFF2-40B4-BE49-F238E27FC236}">
                <a16:creationId xmlns:a16="http://schemas.microsoft.com/office/drawing/2014/main" id="{9BCB3616-3EBE-4BF5-99C7-256A8608FBF8}"/>
              </a:ext>
            </a:extLst>
          </p:cNvPr>
          <p:cNvCxnSpPr>
            <a:stCxn id="58" idx="3"/>
            <a:endCxn id="76" idx="1"/>
          </p:cNvCxnSpPr>
          <p:nvPr/>
        </p:nvCxnSpPr>
        <p:spPr>
          <a:xfrm flipV="1">
            <a:off x="5773340" y="3955083"/>
            <a:ext cx="288333" cy="9075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B0738DE1-5686-4556-B209-7FB5250D6263}"/>
              </a:ext>
            </a:extLst>
          </p:cNvPr>
          <p:cNvCxnSpPr>
            <a:cxnSpLocks/>
          </p:cNvCxnSpPr>
          <p:nvPr/>
        </p:nvCxnSpPr>
        <p:spPr>
          <a:xfrm>
            <a:off x="5778406" y="2164520"/>
            <a:ext cx="5387658"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4ECEA560-FC2E-4825-B473-EFCF3361F276}"/>
              </a:ext>
            </a:extLst>
          </p:cNvPr>
          <p:cNvCxnSpPr>
            <a:cxnSpLocks/>
          </p:cNvCxnSpPr>
          <p:nvPr/>
        </p:nvCxnSpPr>
        <p:spPr>
          <a:xfrm>
            <a:off x="5778406" y="2722390"/>
            <a:ext cx="5387658"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직선 연결선 67">
            <a:extLst>
              <a:ext uri="{FF2B5EF4-FFF2-40B4-BE49-F238E27FC236}">
                <a16:creationId xmlns:a16="http://schemas.microsoft.com/office/drawing/2014/main" id="{B42755BD-1815-472B-81B8-1CA8EFF7EECF}"/>
              </a:ext>
            </a:extLst>
          </p:cNvPr>
          <p:cNvCxnSpPr>
            <a:cxnSpLocks/>
          </p:cNvCxnSpPr>
          <p:nvPr/>
        </p:nvCxnSpPr>
        <p:spPr>
          <a:xfrm>
            <a:off x="5751237" y="3852624"/>
            <a:ext cx="5387658"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직선 연결선 68">
            <a:extLst>
              <a:ext uri="{FF2B5EF4-FFF2-40B4-BE49-F238E27FC236}">
                <a16:creationId xmlns:a16="http://schemas.microsoft.com/office/drawing/2014/main" id="{828D56CB-67D6-4CB2-AD05-09DE68A2EFEC}"/>
              </a:ext>
            </a:extLst>
          </p:cNvPr>
          <p:cNvCxnSpPr>
            <a:cxnSpLocks/>
          </p:cNvCxnSpPr>
          <p:nvPr/>
        </p:nvCxnSpPr>
        <p:spPr>
          <a:xfrm>
            <a:off x="5773340" y="4404333"/>
            <a:ext cx="5387658"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직선 연결선 69">
            <a:extLst>
              <a:ext uri="{FF2B5EF4-FFF2-40B4-BE49-F238E27FC236}">
                <a16:creationId xmlns:a16="http://schemas.microsoft.com/office/drawing/2014/main" id="{50FE500E-1F47-4EF6-A3DD-3860E0B622FC}"/>
              </a:ext>
            </a:extLst>
          </p:cNvPr>
          <p:cNvCxnSpPr>
            <a:cxnSpLocks/>
          </p:cNvCxnSpPr>
          <p:nvPr/>
        </p:nvCxnSpPr>
        <p:spPr>
          <a:xfrm>
            <a:off x="5778406" y="5344658"/>
            <a:ext cx="5387658"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직선 화살표 연결선 70">
            <a:extLst>
              <a:ext uri="{FF2B5EF4-FFF2-40B4-BE49-F238E27FC236}">
                <a16:creationId xmlns:a16="http://schemas.microsoft.com/office/drawing/2014/main" id="{4C5FA1FE-0D27-4DA2-8202-FE2090626299}"/>
              </a:ext>
            </a:extLst>
          </p:cNvPr>
          <p:cNvCxnSpPr>
            <a:cxnSpLocks/>
          </p:cNvCxnSpPr>
          <p:nvPr/>
        </p:nvCxnSpPr>
        <p:spPr>
          <a:xfrm flipV="1">
            <a:off x="7927546" y="4395957"/>
            <a:ext cx="0" cy="92965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2" name="직선 화살표 연결선 71">
            <a:extLst>
              <a:ext uri="{FF2B5EF4-FFF2-40B4-BE49-F238E27FC236}">
                <a16:creationId xmlns:a16="http://schemas.microsoft.com/office/drawing/2014/main" id="{82062616-518E-4801-81BD-A9BC447267D1}"/>
              </a:ext>
            </a:extLst>
          </p:cNvPr>
          <p:cNvCxnSpPr>
            <a:cxnSpLocks/>
          </p:cNvCxnSpPr>
          <p:nvPr/>
        </p:nvCxnSpPr>
        <p:spPr>
          <a:xfrm flipV="1">
            <a:off x="8668952" y="3845360"/>
            <a:ext cx="0" cy="1499298"/>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3" name="직선 화살표 연결선 72">
            <a:extLst>
              <a:ext uri="{FF2B5EF4-FFF2-40B4-BE49-F238E27FC236}">
                <a16:creationId xmlns:a16="http://schemas.microsoft.com/office/drawing/2014/main" id="{59C367FC-1A64-42A3-82B1-DE77689C393B}"/>
              </a:ext>
            </a:extLst>
          </p:cNvPr>
          <p:cNvCxnSpPr>
            <a:cxnSpLocks/>
          </p:cNvCxnSpPr>
          <p:nvPr/>
        </p:nvCxnSpPr>
        <p:spPr>
          <a:xfrm flipV="1">
            <a:off x="9435071" y="2721982"/>
            <a:ext cx="0" cy="2603626"/>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4" name="직선 화살표 연결선 73">
            <a:extLst>
              <a:ext uri="{FF2B5EF4-FFF2-40B4-BE49-F238E27FC236}">
                <a16:creationId xmlns:a16="http://schemas.microsoft.com/office/drawing/2014/main" id="{AC36A4F1-E43A-4225-BA4A-9738CD96FDB8}"/>
              </a:ext>
            </a:extLst>
          </p:cNvPr>
          <p:cNvCxnSpPr>
            <a:cxnSpLocks/>
          </p:cNvCxnSpPr>
          <p:nvPr/>
        </p:nvCxnSpPr>
        <p:spPr>
          <a:xfrm flipV="1">
            <a:off x="10225904" y="2148902"/>
            <a:ext cx="0" cy="3176706"/>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5" name="직사각형 74">
            <a:extLst>
              <a:ext uri="{FF2B5EF4-FFF2-40B4-BE49-F238E27FC236}">
                <a16:creationId xmlns:a16="http://schemas.microsoft.com/office/drawing/2014/main" id="{A52DA801-EE96-478A-861B-21DAF1B795B4}"/>
              </a:ext>
            </a:extLst>
          </p:cNvPr>
          <p:cNvSpPr/>
          <p:nvPr/>
        </p:nvSpPr>
        <p:spPr>
          <a:xfrm>
            <a:off x="6061673" y="4212001"/>
            <a:ext cx="1285104" cy="513127"/>
          </a:xfrm>
          <a:prstGeom prst="rect">
            <a:avLst/>
          </a:prstGeom>
          <a:solidFill>
            <a:schemeClr val="tx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발명의 구성 일부가 변경된 경우</a:t>
            </a:r>
          </a:p>
        </p:txBody>
      </p:sp>
      <p:sp>
        <p:nvSpPr>
          <p:cNvPr id="76" name="직사각형 75">
            <a:extLst>
              <a:ext uri="{FF2B5EF4-FFF2-40B4-BE49-F238E27FC236}">
                <a16:creationId xmlns:a16="http://schemas.microsoft.com/office/drawing/2014/main" id="{B63FA6E6-E715-4B58-B830-E07837345ED6}"/>
              </a:ext>
            </a:extLst>
          </p:cNvPr>
          <p:cNvSpPr/>
          <p:nvPr/>
        </p:nvSpPr>
        <p:spPr>
          <a:xfrm>
            <a:off x="6061673" y="3760977"/>
            <a:ext cx="1285104" cy="388212"/>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발명의 범위가</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다른 경우</a:t>
            </a:r>
          </a:p>
        </p:txBody>
      </p:sp>
      <p:sp>
        <p:nvSpPr>
          <p:cNvPr id="77" name="사각형: 둥근 모서리 76">
            <a:extLst>
              <a:ext uri="{FF2B5EF4-FFF2-40B4-BE49-F238E27FC236}">
                <a16:creationId xmlns:a16="http://schemas.microsoft.com/office/drawing/2014/main" id="{09DFAD8F-B2EF-430B-85ED-C81CBE890D41}"/>
              </a:ext>
            </a:extLst>
          </p:cNvPr>
          <p:cNvSpPr/>
          <p:nvPr/>
        </p:nvSpPr>
        <p:spPr>
          <a:xfrm>
            <a:off x="7591161" y="4710423"/>
            <a:ext cx="704704" cy="348037"/>
          </a:xfrm>
          <a:prstGeom prst="round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유형</a:t>
            </a:r>
          </a:p>
        </p:txBody>
      </p:sp>
      <p:sp>
        <p:nvSpPr>
          <p:cNvPr id="78" name="사각형: 둥근 모서리 77">
            <a:extLst>
              <a:ext uri="{FF2B5EF4-FFF2-40B4-BE49-F238E27FC236}">
                <a16:creationId xmlns:a16="http://schemas.microsoft.com/office/drawing/2014/main" id="{1030B629-6F80-4553-9932-F186809C22C0}"/>
              </a:ext>
            </a:extLst>
          </p:cNvPr>
          <p:cNvSpPr/>
          <p:nvPr/>
        </p:nvSpPr>
        <p:spPr>
          <a:xfrm>
            <a:off x="8312716" y="4230315"/>
            <a:ext cx="704704" cy="348037"/>
          </a:xfrm>
          <a:prstGeom prst="round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유형</a:t>
            </a:r>
          </a:p>
        </p:txBody>
      </p:sp>
      <p:sp>
        <p:nvSpPr>
          <p:cNvPr id="79" name="사각형: 둥근 모서리 78">
            <a:extLst>
              <a:ext uri="{FF2B5EF4-FFF2-40B4-BE49-F238E27FC236}">
                <a16:creationId xmlns:a16="http://schemas.microsoft.com/office/drawing/2014/main" id="{1349F4C5-27B8-484E-A2D6-218E837D1278}"/>
              </a:ext>
            </a:extLst>
          </p:cNvPr>
          <p:cNvSpPr/>
          <p:nvPr/>
        </p:nvSpPr>
        <p:spPr>
          <a:xfrm>
            <a:off x="9082719" y="3315858"/>
            <a:ext cx="704704" cy="348037"/>
          </a:xfrm>
          <a:prstGeom prst="round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C</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유형</a:t>
            </a:r>
          </a:p>
        </p:txBody>
      </p:sp>
      <p:sp>
        <p:nvSpPr>
          <p:cNvPr id="80" name="사각형: 둥근 모서리 79">
            <a:extLst>
              <a:ext uri="{FF2B5EF4-FFF2-40B4-BE49-F238E27FC236}">
                <a16:creationId xmlns:a16="http://schemas.microsoft.com/office/drawing/2014/main" id="{E80DB301-43C2-4C3E-B667-5D37B4BE640A}"/>
              </a:ext>
            </a:extLst>
          </p:cNvPr>
          <p:cNvSpPr/>
          <p:nvPr/>
        </p:nvSpPr>
        <p:spPr>
          <a:xfrm>
            <a:off x="9873552" y="2450719"/>
            <a:ext cx="704704" cy="348037"/>
          </a:xfrm>
          <a:prstGeom prst="round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D</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유형</a:t>
            </a:r>
          </a:p>
        </p:txBody>
      </p:sp>
      <p:sp>
        <p:nvSpPr>
          <p:cNvPr id="81" name="사각형: 둥근 모서리 80">
            <a:extLst>
              <a:ext uri="{FF2B5EF4-FFF2-40B4-BE49-F238E27FC236}">
                <a16:creationId xmlns:a16="http://schemas.microsoft.com/office/drawing/2014/main" id="{54876DF7-BFA3-4E13-94C6-EC2230FE1696}"/>
              </a:ext>
            </a:extLst>
          </p:cNvPr>
          <p:cNvSpPr/>
          <p:nvPr/>
        </p:nvSpPr>
        <p:spPr>
          <a:xfrm>
            <a:off x="854512" y="5879411"/>
            <a:ext cx="704704" cy="348037"/>
          </a:xfrm>
          <a:prstGeom prst="round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유형</a:t>
            </a:r>
          </a:p>
        </p:txBody>
      </p:sp>
      <p:sp>
        <p:nvSpPr>
          <p:cNvPr id="82" name="직사각형 81">
            <a:extLst>
              <a:ext uri="{FF2B5EF4-FFF2-40B4-BE49-F238E27FC236}">
                <a16:creationId xmlns:a16="http://schemas.microsoft.com/office/drawing/2014/main" id="{B3681720-4689-4654-9644-1A5CBDFB5854}"/>
              </a:ext>
            </a:extLst>
          </p:cNvPr>
          <p:cNvSpPr/>
          <p:nvPr/>
        </p:nvSpPr>
        <p:spPr>
          <a:xfrm>
            <a:off x="549712" y="1073345"/>
            <a:ext cx="11044166" cy="467371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3" name="사각형: 둥근 모서리 82">
            <a:extLst>
              <a:ext uri="{FF2B5EF4-FFF2-40B4-BE49-F238E27FC236}">
                <a16:creationId xmlns:a16="http://schemas.microsoft.com/office/drawing/2014/main" id="{DB6F5ECE-3C61-4C36-9B76-C9BF03EDCBC2}"/>
              </a:ext>
            </a:extLst>
          </p:cNvPr>
          <p:cNvSpPr/>
          <p:nvPr/>
        </p:nvSpPr>
        <p:spPr>
          <a:xfrm>
            <a:off x="7035137" y="5879411"/>
            <a:ext cx="704704" cy="348037"/>
          </a:xfrm>
          <a:prstGeom prst="round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유형</a:t>
            </a:r>
          </a:p>
        </p:txBody>
      </p:sp>
      <p:sp>
        <p:nvSpPr>
          <p:cNvPr id="84" name="직사각형 83">
            <a:extLst>
              <a:ext uri="{FF2B5EF4-FFF2-40B4-BE49-F238E27FC236}">
                <a16:creationId xmlns:a16="http://schemas.microsoft.com/office/drawing/2014/main" id="{F0B9F256-3F04-4B55-9727-D61607BA73C1}"/>
              </a:ext>
            </a:extLst>
          </p:cNvPr>
          <p:cNvSpPr/>
          <p:nvPr/>
        </p:nvSpPr>
        <p:spPr>
          <a:xfrm>
            <a:off x="1607772" y="6335544"/>
            <a:ext cx="4323128" cy="3882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선출원주의</a:t>
            </a:r>
          </a:p>
        </p:txBody>
      </p:sp>
      <p:sp>
        <p:nvSpPr>
          <p:cNvPr id="85" name="직사각형 84">
            <a:extLst>
              <a:ext uri="{FF2B5EF4-FFF2-40B4-BE49-F238E27FC236}">
                <a16:creationId xmlns:a16="http://schemas.microsoft.com/office/drawing/2014/main" id="{9E54CE7C-8C1A-40F6-87C9-3B061930E4B6}"/>
              </a:ext>
            </a:extLst>
          </p:cNvPr>
          <p:cNvSpPr/>
          <p:nvPr/>
        </p:nvSpPr>
        <p:spPr>
          <a:xfrm>
            <a:off x="7830295" y="6335544"/>
            <a:ext cx="4328745" cy="3882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무권리자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허위표시</a:t>
            </a:r>
          </a:p>
        </p:txBody>
      </p:sp>
      <p:sp>
        <p:nvSpPr>
          <p:cNvPr id="86" name="사각형: 둥근 모서리 85">
            <a:extLst>
              <a:ext uri="{FF2B5EF4-FFF2-40B4-BE49-F238E27FC236}">
                <a16:creationId xmlns:a16="http://schemas.microsoft.com/office/drawing/2014/main" id="{CEF5F959-C0D2-4999-B6A8-FF693E4C11A7}"/>
              </a:ext>
            </a:extLst>
          </p:cNvPr>
          <p:cNvSpPr/>
          <p:nvPr/>
        </p:nvSpPr>
        <p:spPr>
          <a:xfrm>
            <a:off x="854512" y="6361915"/>
            <a:ext cx="704704" cy="348037"/>
          </a:xfrm>
          <a:prstGeom prst="round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C</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유형</a:t>
            </a:r>
          </a:p>
        </p:txBody>
      </p:sp>
      <p:sp>
        <p:nvSpPr>
          <p:cNvPr id="87" name="사각형: 둥근 모서리 86">
            <a:extLst>
              <a:ext uri="{FF2B5EF4-FFF2-40B4-BE49-F238E27FC236}">
                <a16:creationId xmlns:a16="http://schemas.microsoft.com/office/drawing/2014/main" id="{50FAEF3C-F999-4776-B9B4-AD158F2F5FDC}"/>
              </a:ext>
            </a:extLst>
          </p:cNvPr>
          <p:cNvSpPr/>
          <p:nvPr/>
        </p:nvSpPr>
        <p:spPr>
          <a:xfrm>
            <a:off x="7035137" y="6361915"/>
            <a:ext cx="704704" cy="348037"/>
          </a:xfrm>
          <a:prstGeom prst="round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D</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유형</a:t>
            </a:r>
          </a:p>
        </p:txBody>
      </p:sp>
      <p:cxnSp>
        <p:nvCxnSpPr>
          <p:cNvPr id="8" name="직선 화살표 연결선 7">
            <a:extLst>
              <a:ext uri="{FF2B5EF4-FFF2-40B4-BE49-F238E27FC236}">
                <a16:creationId xmlns:a16="http://schemas.microsoft.com/office/drawing/2014/main" id="{3A3712B5-25A6-25EE-47B4-60B1945DA7EA}"/>
              </a:ext>
            </a:extLst>
          </p:cNvPr>
          <p:cNvCxnSpPr>
            <a:stCxn id="75" idx="3"/>
          </p:cNvCxnSpPr>
          <p:nvPr/>
        </p:nvCxnSpPr>
        <p:spPr>
          <a:xfrm flipV="1">
            <a:off x="7346777" y="4320988"/>
            <a:ext cx="949088" cy="147577"/>
          </a:xfrm>
          <a:prstGeom prst="straightConnector1">
            <a:avLst/>
          </a:prstGeom>
          <a:ln w="5715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269875D2-E3AA-90B0-960D-DF86D14B00BE}"/>
              </a:ext>
            </a:extLst>
          </p:cNvPr>
          <p:cNvCxnSpPr>
            <a:cxnSpLocks/>
            <a:stCxn id="75" idx="3"/>
            <a:endCxn id="79" idx="1"/>
          </p:cNvCxnSpPr>
          <p:nvPr/>
        </p:nvCxnSpPr>
        <p:spPr>
          <a:xfrm flipV="1">
            <a:off x="7346777" y="3489877"/>
            <a:ext cx="1735942" cy="978688"/>
          </a:xfrm>
          <a:prstGeom prst="straightConnector1">
            <a:avLst/>
          </a:prstGeom>
          <a:ln w="5715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103412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4FB63A-50F1-B76D-2BF8-125E15A6D34B}"/>
            </a:ext>
          </a:extLst>
        </p:cNvPr>
        <p:cNvGrpSpPr/>
        <p:nvPr/>
      </p:nvGrpSpPr>
      <p:grpSpPr>
        <a:xfrm>
          <a:off x="0" y="0"/>
          <a:ext cx="0" cy="0"/>
          <a:chOff x="0" y="0"/>
          <a:chExt cx="0" cy="0"/>
        </a:xfrm>
      </p:grpSpPr>
      <p:sp>
        <p:nvSpPr>
          <p:cNvPr id="3" name="제목 2">
            <a:extLst>
              <a:ext uri="{FF2B5EF4-FFF2-40B4-BE49-F238E27FC236}">
                <a16:creationId xmlns:a16="http://schemas.microsoft.com/office/drawing/2014/main" id="{BBD7A54D-66D3-F5B7-711B-5FA5CF211B18}"/>
              </a:ext>
            </a:extLst>
          </p:cNvPr>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a:extLst>
              <a:ext uri="{FF2B5EF4-FFF2-40B4-BE49-F238E27FC236}">
                <a16:creationId xmlns:a16="http://schemas.microsoft.com/office/drawing/2014/main" id="{BDCE7C8A-821D-62DA-97BD-2CB6A79D357A}"/>
              </a:ext>
            </a:extLst>
          </p:cNvPr>
          <p:cNvSpPr>
            <a:spLocks noGrp="1"/>
          </p:cNvSpPr>
          <p:nvPr>
            <p:ph type="body" sz="quarter" idx="13"/>
          </p:nvPr>
        </p:nvSpPr>
        <p:spPr/>
        <p:txBody>
          <a:bodyPr/>
          <a:lstStyle/>
          <a:p>
            <a:r>
              <a:rPr lang="ko-KR" altLang="en-US" dirty="0">
                <a:solidFill>
                  <a:srgbClr val="525252"/>
                </a:solidFill>
              </a:rPr>
              <a:t>동일성의 유형</a:t>
            </a:r>
            <a:r>
              <a:rPr lang="en-US" altLang="ko-KR" dirty="0">
                <a:solidFill>
                  <a:srgbClr val="525252"/>
                </a:solidFill>
              </a:rPr>
              <a:t>(A, B </a:t>
            </a:r>
            <a:r>
              <a:rPr lang="ko-KR" altLang="en-US" dirty="0">
                <a:solidFill>
                  <a:srgbClr val="525252"/>
                </a:solidFill>
              </a:rPr>
              <a:t>유형</a:t>
            </a:r>
            <a:r>
              <a:rPr lang="en-US" altLang="ko-KR" dirty="0">
                <a:solidFill>
                  <a:srgbClr val="525252"/>
                </a:solidFill>
              </a:rPr>
              <a:t>)</a:t>
            </a:r>
            <a:endParaRPr lang="ko-KR" altLang="en-US" dirty="0">
              <a:solidFill>
                <a:srgbClr val="525252"/>
              </a:solidFill>
            </a:endParaRPr>
          </a:p>
        </p:txBody>
      </p:sp>
      <p:sp>
        <p:nvSpPr>
          <p:cNvPr id="5" name="슬라이드 번호 개체 틀 4">
            <a:extLst>
              <a:ext uri="{FF2B5EF4-FFF2-40B4-BE49-F238E27FC236}">
                <a16:creationId xmlns:a16="http://schemas.microsoft.com/office/drawing/2014/main" id="{E2054A69-E7C4-3322-2398-EE0A9EA0919D}"/>
              </a:ext>
            </a:extLst>
          </p:cNvPr>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62</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12" name="직사각형 11">
            <a:extLst>
              <a:ext uri="{FF2B5EF4-FFF2-40B4-BE49-F238E27FC236}">
                <a16:creationId xmlns:a16="http://schemas.microsoft.com/office/drawing/2014/main" id="{3975873C-DAFF-8681-E59B-BF11F98AB0F3}"/>
              </a:ext>
            </a:extLst>
          </p:cNvPr>
          <p:cNvSpPr/>
          <p:nvPr/>
        </p:nvSpPr>
        <p:spPr>
          <a:xfrm>
            <a:off x="634504" y="1074882"/>
            <a:ext cx="347025" cy="1388917"/>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보정</a:t>
            </a:r>
          </a:p>
        </p:txBody>
      </p:sp>
      <p:sp>
        <p:nvSpPr>
          <p:cNvPr id="13" name="TextBox 12">
            <a:extLst>
              <a:ext uri="{FF2B5EF4-FFF2-40B4-BE49-F238E27FC236}">
                <a16:creationId xmlns:a16="http://schemas.microsoft.com/office/drawing/2014/main" id="{5B981472-F4E2-92B1-AF06-13967CDEDA51}"/>
              </a:ext>
            </a:extLst>
          </p:cNvPr>
          <p:cNvSpPr txBox="1"/>
          <p:nvPr/>
        </p:nvSpPr>
        <p:spPr>
          <a:xfrm>
            <a:off x="55628" y="1083453"/>
            <a:ext cx="440005" cy="414780"/>
          </a:xfrm>
          <a:prstGeom prst="ellipse">
            <a:avLst/>
          </a:prstGeom>
          <a:solidFill>
            <a:schemeClr val="accent2">
              <a:lumMod val="50000"/>
            </a:schemeClr>
          </a:solidFill>
          <a:ln>
            <a:solidFill>
              <a:schemeClr val="bg1">
                <a:lumMod val="50000"/>
              </a:schemeClr>
            </a:solidFill>
          </a:ln>
        </p:spPr>
        <p:txBody>
          <a:bodyPr wrap="non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5B9BD5">
                    <a:lumMod val="20000"/>
                    <a:lumOff val="80000"/>
                  </a:srgbClr>
                </a:solidFill>
                <a:effectLst/>
                <a:uLnTx/>
                <a:uFillTx/>
                <a:latin typeface="Frutiger LT 65 Bold"/>
                <a:ea typeface="Rix모던고딕 B"/>
                <a:cs typeface="+mn-cs"/>
              </a:rPr>
              <a:t>A</a:t>
            </a:r>
            <a:endParaRPr kumimoji="0" lang="ko-KR" altLang="en-US" sz="1400" b="0" i="0" u="none" strike="noStrike" kern="1200" cap="none" spc="0" normalizeH="0" baseline="0" noProof="0" dirty="0">
              <a:ln>
                <a:noFill/>
              </a:ln>
              <a:solidFill>
                <a:srgbClr val="5B9BD5">
                  <a:lumMod val="20000"/>
                  <a:lumOff val="80000"/>
                </a:srgbClr>
              </a:solidFill>
              <a:effectLst/>
              <a:uLnTx/>
              <a:uFillTx/>
              <a:latin typeface="Frutiger LT 65 Bold"/>
              <a:ea typeface="Rix모던고딕 B"/>
              <a:cs typeface="+mn-cs"/>
            </a:endParaRPr>
          </a:p>
        </p:txBody>
      </p:sp>
      <p:sp>
        <p:nvSpPr>
          <p:cNvPr id="14" name="직사각형 13">
            <a:extLst>
              <a:ext uri="{FF2B5EF4-FFF2-40B4-BE49-F238E27FC236}">
                <a16:creationId xmlns:a16="http://schemas.microsoft.com/office/drawing/2014/main" id="{6AEB94CF-DF44-5C49-F8E4-093CC9DDA25E}"/>
              </a:ext>
            </a:extLst>
          </p:cNvPr>
          <p:cNvSpPr/>
          <p:nvPr/>
        </p:nvSpPr>
        <p:spPr>
          <a:xfrm>
            <a:off x="1011010" y="1074883"/>
            <a:ext cx="5186590" cy="1388917"/>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47</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항에서 최초로 첨부된 명세서 또는 도면에 기재된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사항이란 최초 명세서 등에 명시적으로 기재되어 있는 사항이거나 또는 명시적인 기재가 없더라도 그 발명이 속하는 기술분야에서 통상의 지식을 가진 사람이라면 출원시의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기술상식에</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비추어 보아 보정된 사항이 최초 명세서 등에 기재되어 있는 것과 마찬가지라고 이해할 수 있는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사항</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이어야</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한다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또한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highlight>
                  <a:srgbClr val="00FFFF"/>
                </a:highlight>
                <a:uLnTx/>
                <a:uFillTx/>
                <a:latin typeface="Frutiger LT 65 Bold"/>
                <a:ea typeface="Rix모던고딕 B"/>
                <a:cs typeface="+mn-cs"/>
              </a:rPr>
              <a:t>보정된 사항이 </a:t>
            </a:r>
            <a:r>
              <a:rPr kumimoji="0" lang="ko-KR" altLang="en-US" sz="1100" b="0" i="0" u="none" strike="noStrike" kern="1200" cap="none" spc="0" normalizeH="0" baseline="0" noProof="0" dirty="0" err="1">
                <a:ln>
                  <a:noFill/>
                </a:ln>
                <a:solidFill>
                  <a:prstClr val="black"/>
                </a:solidFill>
                <a:effectLst/>
                <a:highlight>
                  <a:srgbClr val="00FFFF"/>
                </a:highlight>
                <a:uLnTx/>
                <a:uFillTx/>
                <a:latin typeface="Frutiger LT 65 Bold"/>
                <a:ea typeface="Rix모던고딕 B"/>
                <a:cs typeface="+mn-cs"/>
              </a:rPr>
              <a:t>주지관용기술이더라도</a:t>
            </a:r>
            <a:r>
              <a:rPr kumimoji="0" lang="ko-KR" altLang="en-US" sz="1100" b="0" i="0" u="none" strike="noStrike" kern="1200" cap="none" spc="0" normalizeH="0" baseline="0" noProof="0" dirty="0">
                <a:ln>
                  <a:noFill/>
                </a:ln>
                <a:solidFill>
                  <a:prstClr val="black"/>
                </a:solidFill>
                <a:effectLst/>
                <a:highlight>
                  <a:srgbClr val="00FFFF"/>
                </a:highlight>
                <a:uLnTx/>
                <a:uFillTx/>
                <a:latin typeface="Frutiger LT 65 Bold"/>
                <a:ea typeface="Rix모던고딕 B"/>
                <a:cs typeface="+mn-cs"/>
              </a:rPr>
              <a:t> 그것이 통상의 기술자가 최초 명세서 및 도면에 기재되어 있는 것과 마찬가지라고 이해할 수 있는 사항이 아니라면</a:t>
            </a:r>
            <a:r>
              <a:rPr kumimoji="0" lang="en-US" altLang="ko-KR" sz="1100" b="0" i="0" u="none" strike="noStrike" kern="1200" cap="none" spc="0" normalizeH="0" baseline="0" noProof="0" dirty="0">
                <a:ln>
                  <a:noFill/>
                </a:ln>
                <a:solidFill>
                  <a:prstClr val="black"/>
                </a:solidFill>
                <a:effectLst/>
                <a:highlight>
                  <a:srgbClr val="00FFFF"/>
                </a:highligh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highlight>
                  <a:srgbClr val="00FFFF"/>
                </a:highlight>
                <a:uLnTx/>
                <a:uFillTx/>
                <a:latin typeface="Frutiger LT 65 Bold"/>
                <a:ea typeface="Rix모던고딕 B"/>
                <a:cs typeface="+mn-cs"/>
              </a:rPr>
              <a:t>이를 추가하는 보정은 최초 명세서 및 도면에 기재된 사항의 범위를 벗어난 것이어서 허용될 수 없다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2007. 2. 8.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2005</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3130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p>
        </p:txBody>
      </p:sp>
      <p:sp>
        <p:nvSpPr>
          <p:cNvPr id="15" name="직사각형 14">
            <a:extLst>
              <a:ext uri="{FF2B5EF4-FFF2-40B4-BE49-F238E27FC236}">
                <a16:creationId xmlns:a16="http://schemas.microsoft.com/office/drawing/2014/main" id="{4E85F50F-08CF-00C2-A563-9E578F3EF957}"/>
              </a:ext>
            </a:extLst>
          </p:cNvPr>
          <p:cNvSpPr/>
          <p:nvPr/>
        </p:nvSpPr>
        <p:spPr>
          <a:xfrm>
            <a:off x="1011010" y="2529609"/>
            <a:ext cx="5186590" cy="276629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그런데 이와 같은 국내 우선권 제도에 의하여 실제 특허출원일보다 앞서 우선권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주장일에</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특허출원된</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것으로 보아 그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특허요건을</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심사함으로써 우선권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주장일과</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우선권 주장을 수반하는 특허출원일 사이에 특허출원을 한 사람 등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자의 이익을 부당하게 침해하는 결과가 일어날 수 있음은 특허법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47</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항의 규정에 의한 명세서 또는 도면의 보정이 받아들여져 그 효과가 출원 시로 소급하는 경우와 별다른 차이가 없으므로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이러한 보정의 경우와 같은 관점에서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우선권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주장일에</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특허출원된</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것으로 보아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특허요건을</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심사하는 발명의 범위를 제한할 필요가 있다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따라서 특허법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55</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항에 따라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특허요건</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적용의 기준일이 우선권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주장일로</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소급하는 발명은 특허법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47</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항과 마찬가지로 우선권 주장을 수반하는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특허출원된</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발명 가운데 우선권 주장의 기초가 된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최초 명세서 등에 기재된 사항의 범위 안에 있는 것으로 한정된다고 봄이 타당하다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그리고 여기서 ‘우선권 주장의 기초가 된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최초 명세서 등에 기재된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사항’이란</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우선권 주장의 기초가 된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선출원의</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최초 명세서 등에 명시적으로 기재되어 있는 사항이거나 또는 명시적인 기재가 없더라도 그 발명이 속하는 기술분야에서 통상의 지식을 가진 사람</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이하 ‘통상의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기술자’라</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한다</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이라면 </a:t>
            </a:r>
            <a:r>
              <a:rPr kumimoji="0" lang="ko-KR" altLang="en-US" sz="1100" b="0" i="0" u="none" strike="noStrike" kern="1200" cap="none" spc="0" normalizeH="0" baseline="0" noProof="0" dirty="0">
                <a:ln>
                  <a:noFill/>
                </a:ln>
                <a:solidFill>
                  <a:srgbClr val="FF0000"/>
                </a:solidFill>
                <a:effectLst/>
                <a:highlight>
                  <a:srgbClr val="00FFFF"/>
                </a:highlight>
                <a:uLnTx/>
                <a:uFillTx/>
                <a:latin typeface="Frutiger LT 65 Bold"/>
                <a:ea typeface="Rix모던고딕 B"/>
                <a:cs typeface="+mn-cs"/>
              </a:rPr>
              <a:t>우선권 주장일 당시</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의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기술상식에</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비추어 보아 우선권 주장을 수반하는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특허출원된</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발명이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선출원의</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최초 명세서 등에 기재되어 있는 것과 마찬가지라고 이해할 수 있는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사항</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이어야</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한다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2015. 1. 15.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2012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2999).</a:t>
            </a:r>
          </a:p>
        </p:txBody>
      </p:sp>
      <p:sp>
        <p:nvSpPr>
          <p:cNvPr id="16" name="직사각형 15">
            <a:extLst>
              <a:ext uri="{FF2B5EF4-FFF2-40B4-BE49-F238E27FC236}">
                <a16:creationId xmlns:a16="http://schemas.microsoft.com/office/drawing/2014/main" id="{D7326ABD-A50D-7305-E5BD-D27CEE5B2125}"/>
              </a:ext>
            </a:extLst>
          </p:cNvPr>
          <p:cNvSpPr/>
          <p:nvPr/>
        </p:nvSpPr>
        <p:spPr>
          <a:xfrm>
            <a:off x="634504" y="2529609"/>
            <a:ext cx="347025" cy="276629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우선권주장</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출원</a:t>
            </a:r>
          </a:p>
        </p:txBody>
      </p:sp>
      <p:sp>
        <p:nvSpPr>
          <p:cNvPr id="17" name="직사각형 16">
            <a:extLst>
              <a:ext uri="{FF2B5EF4-FFF2-40B4-BE49-F238E27FC236}">
                <a16:creationId xmlns:a16="http://schemas.microsoft.com/office/drawing/2014/main" id="{ADB84D5E-118C-69A6-7679-F46C7C68A32D}"/>
              </a:ext>
            </a:extLst>
          </p:cNvPr>
          <p:cNvSpPr/>
          <p:nvPr/>
        </p:nvSpPr>
        <p:spPr>
          <a:xfrm>
            <a:off x="1011010" y="5353627"/>
            <a:ext cx="5186590" cy="1390074"/>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특허발명의 명세서 또는 도면의 정정은 그 명세서 또는 도면에 기재된 사항의 범위 이내에서 할 수 있다</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특허법 제</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136</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조 제</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2</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항</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여기서 ‘명세서 또는 도면에 기재된 </a:t>
            </a:r>
            <a:r>
              <a:rPr kumimoji="0" lang="ko-KR" altLang="en-US" sz="1100" b="0" i="0" u="none" strike="noStrike" kern="1200" cap="none" spc="0" normalizeH="0" baseline="0" noProof="0" dirty="0" err="1">
                <a:ln>
                  <a:noFill/>
                </a:ln>
                <a:solidFill>
                  <a:prstClr val="black"/>
                </a:solidFill>
                <a:effectLst/>
                <a:uLnTx/>
                <a:uFillTx/>
                <a:latin typeface="Rix모던고딕 B"/>
                <a:ea typeface="Rix모던고딕 B"/>
                <a:cs typeface="+mn-cs"/>
              </a:rPr>
              <a:t>사항’이라</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 함은 </a:t>
            </a:r>
            <a:r>
              <a:rPr kumimoji="0" lang="ko-KR" altLang="en-US" sz="1100" b="0" i="0" u="none" strike="noStrike" kern="1200" cap="none" spc="0" normalizeH="0" baseline="0" noProof="0" dirty="0">
                <a:ln>
                  <a:noFill/>
                </a:ln>
                <a:solidFill>
                  <a:srgbClr val="FF0000"/>
                </a:solidFill>
                <a:effectLst/>
                <a:uLnTx/>
                <a:uFillTx/>
                <a:latin typeface="Rix모던고딕 B"/>
                <a:ea typeface="Rix모던고딕 B"/>
                <a:cs typeface="+mn-cs"/>
              </a:rPr>
              <a:t>거기에 명시적으로 기재되어 있는 것뿐만 아니라 기재되어 있지는 않지만 출원시의 기술상식으로 볼 때 그 발명이 속하는 기술분야에서 통상의 지식을 가진 사람</a:t>
            </a:r>
            <a:r>
              <a:rPr kumimoji="0" lang="en-US" altLang="ko-KR" sz="11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Rix모던고딕 B"/>
                <a:ea typeface="Rix모던고딕 B"/>
                <a:cs typeface="+mn-cs"/>
              </a:rPr>
              <a:t>이하 ‘통상의 </a:t>
            </a:r>
            <a:r>
              <a:rPr kumimoji="0" lang="ko-KR" altLang="en-US" sz="1100" b="0" i="0" u="none" strike="noStrike" kern="1200" cap="none" spc="0" normalizeH="0" baseline="0" noProof="0" dirty="0" err="1">
                <a:ln>
                  <a:noFill/>
                </a:ln>
                <a:solidFill>
                  <a:srgbClr val="FF0000"/>
                </a:solidFill>
                <a:effectLst/>
                <a:uLnTx/>
                <a:uFillTx/>
                <a:latin typeface="Rix모던고딕 B"/>
                <a:ea typeface="Rix모던고딕 B"/>
                <a:cs typeface="+mn-cs"/>
              </a:rPr>
              <a:t>기술자’라</a:t>
            </a:r>
            <a:r>
              <a:rPr kumimoji="0" lang="ko-KR" altLang="en-US" sz="1100" b="0" i="0" u="none" strike="noStrike" kern="1200" cap="none" spc="0" normalizeH="0" baseline="0" noProof="0" dirty="0">
                <a:ln>
                  <a:noFill/>
                </a:ln>
                <a:solidFill>
                  <a:srgbClr val="FF0000"/>
                </a:solidFill>
                <a:effectLst/>
                <a:uLnTx/>
                <a:uFillTx/>
                <a:latin typeface="Rix모던고딕 B"/>
                <a:ea typeface="Rix모던고딕 B"/>
                <a:cs typeface="+mn-cs"/>
              </a:rPr>
              <a:t> 한다</a:t>
            </a:r>
            <a:r>
              <a:rPr kumimoji="0" lang="en-US" altLang="ko-KR" sz="11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Rix모던고딕 B"/>
                <a:ea typeface="Rix모던고딕 B"/>
                <a:cs typeface="+mn-cs"/>
              </a:rPr>
              <a:t>이면 명시적으로 기재되어 있는 내용 자체로부터 그와 같은 기재가 있는 것과 마찬가지라고 명확하게 이해할 수 있는 사항</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을 포함하지만</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100" b="0" i="0" u="none" strike="noStrike" kern="1200" cap="none" spc="0" normalizeH="0" baseline="0" noProof="0" dirty="0">
                <a:ln>
                  <a:noFill/>
                </a:ln>
                <a:solidFill>
                  <a:prstClr val="black"/>
                </a:solidFill>
                <a:effectLst/>
                <a:highlight>
                  <a:srgbClr val="00FFFF"/>
                </a:highlight>
                <a:uLnTx/>
                <a:uFillTx/>
                <a:latin typeface="Rix모던고딕 B"/>
                <a:ea typeface="Rix모던고딕 B"/>
                <a:cs typeface="+mn-cs"/>
              </a:rPr>
              <a:t>상위개념을 하위개념으로 정정하였다고 하더라도 그러한 사항의 범위를 넘는 </a:t>
            </a:r>
            <a:r>
              <a:rPr kumimoji="0" lang="ko-KR" altLang="en-US" sz="1100" b="0" i="0" u="none" strike="noStrike" kern="1200" cap="none" spc="0" normalizeH="0" baseline="0" noProof="0" dirty="0" err="1">
                <a:ln>
                  <a:noFill/>
                </a:ln>
                <a:solidFill>
                  <a:prstClr val="black"/>
                </a:solidFill>
                <a:effectLst/>
                <a:highlight>
                  <a:srgbClr val="00FFFF"/>
                </a:highlight>
                <a:uLnTx/>
                <a:uFillTx/>
                <a:latin typeface="Rix모던고딕 B"/>
                <a:ea typeface="Rix모던고딕 B"/>
                <a:cs typeface="+mn-cs"/>
              </a:rPr>
              <a:t>신규사항을</a:t>
            </a:r>
            <a:r>
              <a:rPr kumimoji="0" lang="ko-KR" altLang="en-US" sz="1100" b="0" i="0" u="none" strike="noStrike" kern="1200" cap="none" spc="0" normalizeH="0" baseline="0" noProof="0" dirty="0">
                <a:ln>
                  <a:noFill/>
                </a:ln>
                <a:solidFill>
                  <a:prstClr val="black"/>
                </a:solidFill>
                <a:effectLst/>
                <a:highlight>
                  <a:srgbClr val="00FFFF"/>
                </a:highlight>
                <a:uLnTx/>
                <a:uFillTx/>
                <a:latin typeface="Rix모던고딕 B"/>
                <a:ea typeface="Rix모던고딕 B"/>
                <a:cs typeface="+mn-cs"/>
              </a:rPr>
              <a:t> 추가하여 특허발명의 명세서 또는 도면을 정정하는 것은 허용될 수 없다</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100" cap="none" spc="-100" normalizeH="0" baseline="0" noProof="0" dirty="0">
                <a:ln>
                  <a:noFill/>
                </a:ln>
                <a:solidFill>
                  <a:srgbClr val="000000"/>
                </a:solidFill>
                <a:effectLst/>
                <a:uLnTx/>
                <a:uFillTx/>
                <a:latin typeface="Rix모던고딕 B"/>
                <a:ea typeface="Rix모던고딕 B"/>
                <a:cs typeface="+mn-cs"/>
              </a:rPr>
              <a:t>대법원 </a:t>
            </a:r>
            <a:r>
              <a:rPr kumimoji="0" lang="en-US" altLang="ko-KR" sz="1100" b="0" i="0" u="none" strike="noStrike" kern="100" cap="none" spc="-100" normalizeH="0" baseline="0" noProof="0" dirty="0">
                <a:ln>
                  <a:noFill/>
                </a:ln>
                <a:solidFill>
                  <a:srgbClr val="000000"/>
                </a:solidFill>
                <a:effectLst/>
                <a:uLnTx/>
                <a:uFillTx/>
                <a:latin typeface="Rix모던고딕 B"/>
                <a:ea typeface="Rix모던고딕 B"/>
                <a:cs typeface="+mn-cs"/>
              </a:rPr>
              <a:t>2014. 2. 27. </a:t>
            </a:r>
            <a:r>
              <a:rPr kumimoji="0" lang="ko-KR" altLang="en-US" sz="1100" b="0" i="0" u="none" strike="noStrike" kern="100" cap="none" spc="-100" normalizeH="0" baseline="0" noProof="0" dirty="0">
                <a:ln>
                  <a:noFill/>
                </a:ln>
                <a:solidFill>
                  <a:srgbClr val="000000"/>
                </a:solidFill>
                <a:effectLst/>
                <a:uLnTx/>
                <a:uFillTx/>
                <a:latin typeface="Rix모던고딕 B"/>
                <a:ea typeface="Rix모던고딕 B"/>
                <a:cs typeface="+mn-cs"/>
              </a:rPr>
              <a:t>선고 </a:t>
            </a:r>
            <a:r>
              <a:rPr kumimoji="0" lang="en-US" altLang="ko-KR" sz="1100" b="0" i="0" u="none" strike="noStrike" kern="100" cap="none" spc="-100" normalizeH="0" baseline="0" noProof="0" dirty="0">
                <a:ln>
                  <a:noFill/>
                </a:ln>
                <a:solidFill>
                  <a:srgbClr val="000000"/>
                </a:solidFill>
                <a:effectLst/>
                <a:uLnTx/>
                <a:uFillTx/>
                <a:latin typeface="Rix모던고딕 B"/>
                <a:ea typeface="Rix모던고딕 B"/>
                <a:cs typeface="+mn-cs"/>
              </a:rPr>
              <a:t>2012</a:t>
            </a:r>
            <a:r>
              <a:rPr kumimoji="0" lang="ko-KR" altLang="en-US" sz="1100" b="0" i="0" u="none" strike="noStrike" kern="100" cap="none" spc="-100" normalizeH="0" baseline="0" noProof="0" dirty="0">
                <a:ln>
                  <a:noFill/>
                </a:ln>
                <a:solidFill>
                  <a:srgbClr val="000000"/>
                </a:solidFill>
                <a:effectLst/>
                <a:uLnTx/>
                <a:uFillTx/>
                <a:latin typeface="Rix모던고딕 B"/>
                <a:ea typeface="Rix모던고딕 B"/>
                <a:cs typeface="+mn-cs"/>
              </a:rPr>
              <a:t>후</a:t>
            </a:r>
            <a:r>
              <a:rPr kumimoji="0" lang="en-US" altLang="ko-KR" sz="1100" b="0" i="0" u="none" strike="noStrike" kern="100" cap="none" spc="-100" normalizeH="0" baseline="0" noProof="0" dirty="0">
                <a:ln>
                  <a:noFill/>
                </a:ln>
                <a:solidFill>
                  <a:srgbClr val="000000"/>
                </a:solidFill>
                <a:effectLst/>
                <a:uLnTx/>
                <a:uFillTx/>
                <a:latin typeface="Rix모던고딕 B"/>
                <a:ea typeface="Rix모던고딕 B"/>
                <a:cs typeface="+mn-cs"/>
              </a:rPr>
              <a:t>3404 </a:t>
            </a:r>
            <a:r>
              <a:rPr kumimoji="0" lang="ko-KR" altLang="en-US" sz="1100" b="0" i="0" u="none" strike="noStrike" kern="100" cap="none" spc="-100" normalizeH="0" baseline="0" noProof="0" dirty="0">
                <a:ln>
                  <a:noFill/>
                </a:ln>
                <a:solidFill>
                  <a:srgbClr val="000000"/>
                </a:solidFill>
                <a:effectLst/>
                <a:uLnTx/>
                <a:uFillTx/>
                <a:latin typeface="Rix모던고딕 B"/>
                <a:ea typeface="Rix모던고딕 B"/>
                <a:cs typeface="+mn-cs"/>
              </a:rPr>
              <a:t>판결 </a:t>
            </a:r>
            <a:r>
              <a:rPr kumimoji="0" lang="en-US" altLang="ko-KR" sz="1100" b="0" i="0" u="none" strike="noStrike" kern="100" cap="none" spc="-100" normalizeH="0" baseline="0" noProof="0" dirty="0">
                <a:ln>
                  <a:noFill/>
                </a:ln>
                <a:solidFill>
                  <a:srgbClr val="000000"/>
                </a:solidFill>
                <a:effectLst/>
                <a:uLnTx/>
                <a:uFillTx/>
                <a:latin typeface="Rix모던고딕 B"/>
                <a:ea typeface="Rix모던고딕 B"/>
                <a:cs typeface="+mn-cs"/>
              </a:rPr>
              <a:t>)</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p>
        </p:txBody>
      </p:sp>
      <p:sp>
        <p:nvSpPr>
          <p:cNvPr id="18" name="직사각형 17">
            <a:extLst>
              <a:ext uri="{FF2B5EF4-FFF2-40B4-BE49-F238E27FC236}">
                <a16:creationId xmlns:a16="http://schemas.microsoft.com/office/drawing/2014/main" id="{6AA4CF28-1FAB-190C-F06F-47CE22FCE23F}"/>
              </a:ext>
            </a:extLst>
          </p:cNvPr>
          <p:cNvSpPr/>
          <p:nvPr/>
        </p:nvSpPr>
        <p:spPr>
          <a:xfrm>
            <a:off x="634504" y="5350514"/>
            <a:ext cx="347025" cy="1393187"/>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정정</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심판</a:t>
            </a:r>
          </a:p>
        </p:txBody>
      </p:sp>
      <p:cxnSp>
        <p:nvCxnSpPr>
          <p:cNvPr id="19" name="꺾인 연결선 9">
            <a:extLst>
              <a:ext uri="{FF2B5EF4-FFF2-40B4-BE49-F238E27FC236}">
                <a16:creationId xmlns:a16="http://schemas.microsoft.com/office/drawing/2014/main" id="{4E1D4F53-3343-0A6C-DE6F-0AACA37C2ED7}"/>
              </a:ext>
            </a:extLst>
          </p:cNvPr>
          <p:cNvCxnSpPr>
            <a:cxnSpLocks/>
            <a:stCxn id="13" idx="6"/>
            <a:endCxn id="12" idx="1"/>
          </p:cNvCxnSpPr>
          <p:nvPr/>
        </p:nvCxnSpPr>
        <p:spPr>
          <a:xfrm>
            <a:off x="495633" y="1290843"/>
            <a:ext cx="138871" cy="478498"/>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1">
            <a:extLst>
              <a:ext uri="{FF2B5EF4-FFF2-40B4-BE49-F238E27FC236}">
                <a16:creationId xmlns:a16="http://schemas.microsoft.com/office/drawing/2014/main" id="{9E5F2201-5683-DC68-0956-FAD494D7330F}"/>
              </a:ext>
            </a:extLst>
          </p:cNvPr>
          <p:cNvCxnSpPr>
            <a:cxnSpLocks/>
            <a:stCxn id="13" idx="6"/>
            <a:endCxn id="16" idx="1"/>
          </p:cNvCxnSpPr>
          <p:nvPr/>
        </p:nvCxnSpPr>
        <p:spPr>
          <a:xfrm>
            <a:off x="495633" y="1290843"/>
            <a:ext cx="138871" cy="262191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2">
            <a:extLst>
              <a:ext uri="{FF2B5EF4-FFF2-40B4-BE49-F238E27FC236}">
                <a16:creationId xmlns:a16="http://schemas.microsoft.com/office/drawing/2014/main" id="{20CE3F7A-F48F-3D9C-B464-5F9A4E63A4F3}"/>
              </a:ext>
            </a:extLst>
          </p:cNvPr>
          <p:cNvCxnSpPr>
            <a:cxnSpLocks/>
            <a:stCxn id="13" idx="6"/>
            <a:endCxn id="18" idx="1"/>
          </p:cNvCxnSpPr>
          <p:nvPr/>
        </p:nvCxnSpPr>
        <p:spPr>
          <a:xfrm>
            <a:off x="495633" y="1290843"/>
            <a:ext cx="138871" cy="475626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4F054490-684F-4472-5383-7F37D7F3087D}"/>
              </a:ext>
            </a:extLst>
          </p:cNvPr>
          <p:cNvSpPr/>
          <p:nvPr/>
        </p:nvSpPr>
        <p:spPr>
          <a:xfrm>
            <a:off x="6904381" y="1090246"/>
            <a:ext cx="347025" cy="219802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신규성</a:t>
            </a:r>
          </a:p>
        </p:txBody>
      </p:sp>
      <p:sp>
        <p:nvSpPr>
          <p:cNvPr id="30" name="TextBox 29">
            <a:extLst>
              <a:ext uri="{FF2B5EF4-FFF2-40B4-BE49-F238E27FC236}">
                <a16:creationId xmlns:a16="http://schemas.microsoft.com/office/drawing/2014/main" id="{8D01302F-86A4-5236-4420-60BBC9400DCC}"/>
              </a:ext>
            </a:extLst>
          </p:cNvPr>
          <p:cNvSpPr txBox="1"/>
          <p:nvPr/>
        </p:nvSpPr>
        <p:spPr>
          <a:xfrm>
            <a:off x="6267449" y="1116772"/>
            <a:ext cx="440005" cy="414780"/>
          </a:xfrm>
          <a:prstGeom prst="ellipse">
            <a:avLst/>
          </a:prstGeom>
          <a:solidFill>
            <a:schemeClr val="accent3">
              <a:lumMod val="50000"/>
            </a:schemeClr>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FFFF00"/>
                </a:solidFill>
                <a:effectLst/>
                <a:uLnTx/>
                <a:uFillTx/>
                <a:latin typeface="Frutiger LT 65 Bold"/>
                <a:ea typeface="Rix모던고딕 B"/>
                <a:cs typeface="+mn-cs"/>
              </a:rPr>
              <a:t>B</a:t>
            </a:r>
            <a:endParaRPr kumimoji="0" lang="ko-KR" altLang="en-US" sz="1400" b="0" i="0" u="none" strike="noStrike" kern="1200" cap="none" spc="0" normalizeH="0" baseline="0" noProof="0" dirty="0">
              <a:ln>
                <a:noFill/>
              </a:ln>
              <a:solidFill>
                <a:srgbClr val="FFFF00"/>
              </a:solidFill>
              <a:effectLst/>
              <a:uLnTx/>
              <a:uFillTx/>
              <a:latin typeface="Frutiger LT 65 Bold"/>
              <a:ea typeface="Rix모던고딕 B"/>
              <a:cs typeface="+mn-cs"/>
            </a:endParaRPr>
          </a:p>
        </p:txBody>
      </p:sp>
      <p:sp>
        <p:nvSpPr>
          <p:cNvPr id="31" name="직사각형 30">
            <a:extLst>
              <a:ext uri="{FF2B5EF4-FFF2-40B4-BE49-F238E27FC236}">
                <a16:creationId xmlns:a16="http://schemas.microsoft.com/office/drawing/2014/main" id="{EA2E0739-1BFF-D031-0F66-F5B66C9FEF2C}"/>
              </a:ext>
            </a:extLst>
          </p:cNvPr>
          <p:cNvSpPr/>
          <p:nvPr/>
        </p:nvSpPr>
        <p:spPr>
          <a:xfrm>
            <a:off x="7312558" y="1090245"/>
            <a:ext cx="4784191" cy="220449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특허법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29</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항의 발명의 동일성 여부의 판단은 특허청구범위에 기재된 양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발명의 기술적 구성이 동일한가 여부에 의하여 판단하되 그 효과도 참작하여야 할 것인바</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기술적 구성에 차이가 있더라도 그 차이가 과제 해결을 위한 구체적 수단에서 주지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관용기술의</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부가</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삭제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변경 등으로 새로운 효과의 발생이 없는 정도의 미세한 차이에 불과하다면 양 발명은 서로 동일하다는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법리</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2001. 6. 1.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98</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1013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2004. 3. 12.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2002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2778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판결 등 참조</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와 기록에 나타난 이 사건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특허발명이</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해결하고자 하는 과제 및 효과 등을 종합하면</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 사건 특허발명과 선행발명에서 차이가 나는 부분은 그 기술적 사상에 영향을 미치지 않는 단순한 설계변경에 해당하거나 그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과제해결을</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위한 미세한 차이에 지나지 아니하므로 양 발명은 실질적으로 동일하다고 본 원심의 인정과 판단은 정당하고</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거기에 상고이유에서 주장하는 바와 같은 발명의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신규성에</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관한 법리오해나 진보성에 관한 법리오해 등의 위법이 없다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2004. 10. 15.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2003</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472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32" name="직사각형 31">
            <a:extLst>
              <a:ext uri="{FF2B5EF4-FFF2-40B4-BE49-F238E27FC236}">
                <a16:creationId xmlns:a16="http://schemas.microsoft.com/office/drawing/2014/main" id="{AEDA0597-7949-E3D0-C6BD-4C00E92FD96A}"/>
              </a:ext>
            </a:extLst>
          </p:cNvPr>
          <p:cNvSpPr/>
          <p:nvPr/>
        </p:nvSpPr>
        <p:spPr>
          <a:xfrm>
            <a:off x="7312558" y="3349936"/>
            <a:ext cx="4784191" cy="1536389"/>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발명의 동일성은 발명의 진보성과는 구별되는 것으로서 두 발명의 기술적 구성이 동일한지 여부에 따르되 발명의 효과도 참작해서 판단해야 한다</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두 발명의 기술적 구성에 차이가 있더라도 그 차이가 과제해결을 위한 구체적 수단에서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주지관용기술의</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부가ㆍ삭제ㆍ변경</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등에 지나지 않아 새로운 효과가 발생하지 않는 정도의 미세한 차이가 있을 뿐이라면 두 발명은 서로 실질적으로 동일하다고 할 수 있다</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highlight>
                  <a:srgbClr val="00FFFF"/>
                </a:highlight>
                <a:uLnTx/>
                <a:uFillTx/>
                <a:latin typeface="Frutiger LT 65 Bold"/>
                <a:ea typeface="Rix모던고딕 B"/>
                <a:cs typeface="+mn-cs"/>
              </a:rPr>
              <a:t>그러나 두 발명의 기술적 구성의 차이가 위와 같은 정도를 벗어난다면 설령 그 차이가 그 발명이 속하는 기술분야에서 통상의 지식을 가진 사람</a:t>
            </a:r>
            <a:r>
              <a:rPr kumimoji="0" lang="en-US" altLang="ko-KR" sz="1100" b="0" i="0" u="none" strike="noStrike" kern="1200" cap="none" spc="0" normalizeH="0" baseline="0" noProof="0" dirty="0">
                <a:ln>
                  <a:noFill/>
                </a:ln>
                <a:solidFill>
                  <a:srgbClr val="FF0000"/>
                </a:solidFill>
                <a:effectLst/>
                <a:highlight>
                  <a:srgbClr val="00FFFF"/>
                </a:highligh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0000"/>
                </a:solidFill>
                <a:effectLst/>
                <a:highlight>
                  <a:srgbClr val="00FFFF"/>
                </a:highlight>
                <a:uLnTx/>
                <a:uFillTx/>
                <a:latin typeface="Frutiger LT 65 Bold"/>
                <a:ea typeface="Rix모던고딕 B"/>
                <a:cs typeface="+mn-cs"/>
              </a:rPr>
              <a:t>이하 ‘통상의 </a:t>
            </a:r>
            <a:r>
              <a:rPr kumimoji="0" lang="ko-KR" altLang="en-US" sz="1100" b="0" i="0" u="none" strike="noStrike" kern="1200" cap="none" spc="0" normalizeH="0" baseline="0" noProof="0" dirty="0" err="1">
                <a:ln>
                  <a:noFill/>
                </a:ln>
                <a:solidFill>
                  <a:srgbClr val="FF0000"/>
                </a:solidFill>
                <a:effectLst/>
                <a:highlight>
                  <a:srgbClr val="00FFFF"/>
                </a:highlight>
                <a:uLnTx/>
                <a:uFillTx/>
                <a:latin typeface="Frutiger LT 65 Bold"/>
                <a:ea typeface="Rix모던고딕 B"/>
                <a:cs typeface="+mn-cs"/>
              </a:rPr>
              <a:t>기술자’라</a:t>
            </a:r>
            <a:r>
              <a:rPr kumimoji="0" lang="ko-KR" altLang="en-US" sz="1100" b="0" i="0" u="none" strike="noStrike" kern="1200" cap="none" spc="0" normalizeH="0" baseline="0" noProof="0" dirty="0">
                <a:ln>
                  <a:noFill/>
                </a:ln>
                <a:solidFill>
                  <a:srgbClr val="FF0000"/>
                </a:solidFill>
                <a:effectLst/>
                <a:highlight>
                  <a:srgbClr val="00FFFF"/>
                </a:highlight>
                <a:uLnTx/>
                <a:uFillTx/>
                <a:latin typeface="Frutiger LT 65 Bold"/>
                <a:ea typeface="Rix모던고딕 B"/>
                <a:cs typeface="+mn-cs"/>
              </a:rPr>
              <a:t> 한다</a:t>
            </a:r>
            <a:r>
              <a:rPr kumimoji="0" lang="en-US" altLang="ko-KR" sz="1100" b="0" i="0" u="none" strike="noStrike" kern="1200" cap="none" spc="0" normalizeH="0" baseline="0" noProof="0" dirty="0">
                <a:ln>
                  <a:noFill/>
                </a:ln>
                <a:solidFill>
                  <a:srgbClr val="FF0000"/>
                </a:solidFill>
                <a:effectLst/>
                <a:highlight>
                  <a:srgbClr val="00FFFF"/>
                </a:highligh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0000"/>
                </a:solidFill>
                <a:effectLst/>
                <a:highlight>
                  <a:srgbClr val="00FFFF"/>
                </a:highlight>
                <a:uLnTx/>
                <a:uFillTx/>
                <a:latin typeface="Frutiger LT 65 Bold"/>
                <a:ea typeface="Rix모던고딕 B"/>
                <a:cs typeface="+mn-cs"/>
              </a:rPr>
              <a:t>이 용이하게 도출할 수 있는 범위 내라고 하더라도 두 발명이 동일하다고 할 수 없다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2011. 4. 28.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2010</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2179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판결 등 참조</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3" name="직사각형 32">
            <a:extLst>
              <a:ext uri="{FF2B5EF4-FFF2-40B4-BE49-F238E27FC236}">
                <a16:creationId xmlns:a16="http://schemas.microsoft.com/office/drawing/2014/main" id="{980F385F-DFD8-40E4-0C9E-DAC16AB35A1E}"/>
              </a:ext>
            </a:extLst>
          </p:cNvPr>
          <p:cNvSpPr/>
          <p:nvPr/>
        </p:nvSpPr>
        <p:spPr>
          <a:xfrm>
            <a:off x="6904381" y="3349936"/>
            <a:ext cx="347025" cy="329579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확대된</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선출원</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4" name="직사각형 33">
            <a:extLst>
              <a:ext uri="{FF2B5EF4-FFF2-40B4-BE49-F238E27FC236}">
                <a16:creationId xmlns:a16="http://schemas.microsoft.com/office/drawing/2014/main" id="{43C13905-A10B-9B3F-C912-CEF5150D8312}"/>
              </a:ext>
            </a:extLst>
          </p:cNvPr>
          <p:cNvSpPr/>
          <p:nvPr/>
        </p:nvSpPr>
        <p:spPr>
          <a:xfrm>
            <a:off x="7312558" y="4936481"/>
            <a:ext cx="4784191" cy="170924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base" latinLnBrk="1" hangingPunct="1">
              <a:lnSpc>
                <a:spcPct val="100000"/>
              </a:lnSpc>
              <a:spcBef>
                <a:spcPts val="0"/>
              </a:spcBef>
              <a:spcAft>
                <a:spcPts val="0"/>
              </a:spcAft>
              <a:buClrTx/>
              <a:buSzTx/>
              <a:buFontTx/>
              <a:buNone/>
              <a:tabLst>
                <a:tab pos="408940" algn="l"/>
                <a:tab pos="624840" algn="l"/>
                <a:tab pos="4561840" algn="r"/>
                <a:tab pos="408940" algn="l"/>
                <a:tab pos="624840" algn="l"/>
                <a:tab pos="4561840" algn="r"/>
              </a:tabLst>
              <a:defRPr/>
            </a:pPr>
            <a:r>
              <a:rPr kumimoji="0" lang="ko-KR" altLang="en-US" sz="1100" b="0" i="0" u="none" strike="noStrike" kern="0" cap="none" spc="0" normalizeH="0" baseline="0" noProof="0" dirty="0" err="1">
                <a:ln>
                  <a:noFill/>
                </a:ln>
                <a:solidFill>
                  <a:prstClr val="black"/>
                </a:solidFill>
                <a:effectLst/>
                <a:uLnTx/>
                <a:uFillTx/>
                <a:latin typeface="Rix모던고딕 B"/>
                <a:ea typeface="Rix모던고딕 B"/>
                <a:cs typeface="+mn-cs"/>
              </a:rPr>
              <a:t>특허출원한</a:t>
            </a:r>
            <a:r>
              <a:rPr kumimoji="0" lang="ko-KR" altLang="en-US" sz="1100" b="0" i="0" u="none" strike="noStrike" kern="0" cap="none" spc="0" normalizeH="0" baseline="0" noProof="0" dirty="0">
                <a:ln>
                  <a:noFill/>
                </a:ln>
                <a:solidFill>
                  <a:prstClr val="black"/>
                </a:solidFill>
                <a:effectLst/>
                <a:uLnTx/>
                <a:uFillTx/>
                <a:latin typeface="Rix모던고딕 B"/>
                <a:ea typeface="Rix모던고딕 B"/>
                <a:cs typeface="+mn-cs"/>
              </a:rPr>
              <a:t> 발명이 그보다 먼저 출원된 다른 발명의 특허출원서에 최초로 첨부된 명세서에 기재된 특허청구범위나 발명의 상세한 설명 또는 도면의 내용과 동일성이 인정될 경우에는 </a:t>
            </a:r>
            <a:r>
              <a:rPr kumimoji="0" lang="ko-KR" altLang="en-US" sz="1100" b="0" i="0" u="none" strike="noStrike" kern="0" cap="none" spc="0" normalizeH="0" baseline="0" noProof="0" dirty="0" err="1">
                <a:ln>
                  <a:noFill/>
                </a:ln>
                <a:solidFill>
                  <a:prstClr val="black"/>
                </a:solidFill>
                <a:effectLst/>
                <a:uLnTx/>
                <a:uFillTx/>
                <a:latin typeface="Rix모던고딕 B"/>
                <a:ea typeface="Rix모던고딕 B"/>
                <a:cs typeface="+mn-cs"/>
              </a:rPr>
              <a:t>선출원된</a:t>
            </a:r>
            <a:r>
              <a:rPr kumimoji="0" lang="ko-KR" altLang="en-US" sz="1100" b="0" i="0" u="none" strike="noStrike" kern="0" cap="none" spc="0" normalizeH="0" baseline="0" noProof="0" dirty="0">
                <a:ln>
                  <a:noFill/>
                </a:ln>
                <a:solidFill>
                  <a:prstClr val="black"/>
                </a:solidFill>
                <a:effectLst/>
                <a:uLnTx/>
                <a:uFillTx/>
                <a:latin typeface="Rix모던고딕 B"/>
                <a:ea typeface="Rix모던고딕 B"/>
                <a:cs typeface="+mn-cs"/>
              </a:rPr>
              <a:t> 발명이 나중에 공개된 경우에도 특허를 받을 수 없다</a:t>
            </a:r>
            <a:r>
              <a:rPr kumimoji="0" lang="en-US" altLang="ko-KR" sz="1100" b="0" i="0" u="none" strike="noStrike" kern="0" cap="none" spc="0" normalizeH="0" baseline="0" noProof="0" dirty="0">
                <a:ln>
                  <a:noFill/>
                </a:ln>
                <a:solidFill>
                  <a:prstClr val="black"/>
                </a:solidFill>
                <a:effectLst/>
                <a:uLnTx/>
                <a:uFillTx/>
                <a:latin typeface="Rix모던고딕 B"/>
                <a:ea typeface="Rix모던고딕 B"/>
                <a:cs typeface="+mn-cs"/>
              </a:rPr>
              <a:t>. </a:t>
            </a:r>
            <a:r>
              <a:rPr kumimoji="0" lang="ko-KR" altLang="en-US" sz="1100" b="0" i="0" u="none" strike="noStrike" kern="0" cap="none" spc="0" normalizeH="0" baseline="0" noProof="0" dirty="0">
                <a:ln>
                  <a:noFill/>
                </a:ln>
                <a:solidFill>
                  <a:prstClr val="black"/>
                </a:solidFill>
                <a:effectLst/>
                <a:uLnTx/>
                <a:uFillTx/>
                <a:latin typeface="Rix모던고딕 B"/>
                <a:ea typeface="Rix모던고딕 B"/>
                <a:cs typeface="+mn-cs"/>
              </a:rPr>
              <a:t>이 경우 </a:t>
            </a:r>
            <a:r>
              <a:rPr kumimoji="0" lang="ko-KR" altLang="en-US" sz="1100" b="0" i="0" u="none" strike="noStrike" kern="0" cap="none" spc="0" normalizeH="0" baseline="0" noProof="0" dirty="0">
                <a:ln>
                  <a:noFill/>
                </a:ln>
                <a:solidFill>
                  <a:srgbClr val="FF0000"/>
                </a:solidFill>
                <a:effectLst/>
                <a:uLnTx/>
                <a:uFillTx/>
                <a:latin typeface="Rix모던고딕 B"/>
                <a:ea typeface="Rix모던고딕 B"/>
                <a:cs typeface="+mn-cs"/>
              </a:rPr>
              <a:t>전후로 출원된 양 발명의 </a:t>
            </a:r>
            <a:r>
              <a:rPr kumimoji="0" lang="ko-KR" altLang="en-US" sz="1100" b="0" i="0" u="none" strike="noStrike" kern="0" cap="none" spc="0" normalizeH="0" baseline="0" noProof="0" dirty="0">
                <a:ln>
                  <a:noFill/>
                </a:ln>
                <a:solidFill>
                  <a:srgbClr val="FF0000"/>
                </a:solidFill>
                <a:effectLst/>
                <a:highlight>
                  <a:srgbClr val="00FFFF"/>
                </a:highlight>
                <a:uLnTx/>
                <a:uFillTx/>
                <a:latin typeface="Rix모던고딕 B"/>
                <a:ea typeface="Rix모던고딕 B"/>
                <a:cs typeface="+mn-cs"/>
              </a:rPr>
              <a:t>기술적 구성이 전면적으로 일치하는 경우는 물론 부분적으로만 일치하더라도 그 차이가 발명의 포섭 범위를 달리한 데 지나지 아니하는 때</a:t>
            </a:r>
            <a:r>
              <a:rPr kumimoji="0" lang="ko-KR" altLang="en-US" sz="1100" b="0" i="0" u="none" strike="noStrike" kern="0" cap="none" spc="0" normalizeH="0" baseline="0" noProof="0" dirty="0">
                <a:ln>
                  <a:noFill/>
                </a:ln>
                <a:solidFill>
                  <a:srgbClr val="FF0000"/>
                </a:solidFill>
                <a:effectLst/>
                <a:uLnTx/>
                <a:uFillTx/>
                <a:latin typeface="Rix모던고딕 B"/>
                <a:ea typeface="Rix모던고딕 B"/>
                <a:cs typeface="+mn-cs"/>
              </a:rPr>
              <a:t>에는 양 발명은 특별한 사정이 없는 한 실질적 동일성이 있다 할 것이다</a:t>
            </a:r>
            <a:r>
              <a:rPr kumimoji="0" lang="en-US" altLang="ko-KR" sz="1100" b="0" i="0" u="none" strike="noStrike" kern="0" cap="none" spc="0" normalizeH="0" baseline="0" noProof="0" dirty="0">
                <a:ln>
                  <a:noFill/>
                </a:ln>
                <a:solidFill>
                  <a:srgbClr val="FF0000"/>
                </a:solidFill>
                <a:effectLst/>
                <a:uLnTx/>
                <a:uFillTx/>
                <a:latin typeface="Rix모던고딕 B"/>
                <a:ea typeface="Rix모던고딕 B"/>
                <a:cs typeface="+mn-cs"/>
              </a:rPr>
              <a:t>. </a:t>
            </a:r>
            <a:r>
              <a:rPr kumimoji="0" lang="ko-KR" altLang="en-US" sz="1100" b="0" i="0" u="none" strike="noStrike" kern="0" cap="none" spc="0" normalizeH="0" baseline="0" noProof="0" dirty="0">
                <a:ln>
                  <a:noFill/>
                </a:ln>
                <a:solidFill>
                  <a:srgbClr val="FF0000"/>
                </a:solidFill>
                <a:effectLst/>
                <a:uLnTx/>
                <a:uFillTx/>
                <a:latin typeface="Rix모던고딕 B"/>
                <a:ea typeface="Rix모던고딕 B"/>
                <a:cs typeface="+mn-cs"/>
              </a:rPr>
              <a:t>또한 양 발명의 구성의 차이가 그 기술분야에서 통상의 지식을 가진 사람에게는 이미 널리 알려져 활용되고 있는 기술을 부가</a:t>
            </a:r>
            <a:r>
              <a:rPr kumimoji="0" lang="en-US" altLang="ko-KR" sz="1100" b="0" i="0" u="none" strike="noStrike" kern="0" cap="none" spc="0" normalizeH="0" baseline="0" noProof="0" dirty="0">
                <a:ln>
                  <a:noFill/>
                </a:ln>
                <a:solidFill>
                  <a:srgbClr val="FF0000"/>
                </a:solidFill>
                <a:effectLst/>
                <a:uLnTx/>
                <a:uFillTx/>
                <a:latin typeface="Rix모던고딕 B"/>
                <a:ea typeface="Rix모던고딕 B"/>
                <a:cs typeface="+mn-cs"/>
              </a:rPr>
              <a:t>․</a:t>
            </a:r>
            <a:r>
              <a:rPr kumimoji="0" lang="ko-KR" altLang="en-US" sz="1100" b="0" i="0" u="none" strike="noStrike" kern="0" cap="none" spc="0" normalizeH="0" baseline="0" noProof="0" dirty="0">
                <a:ln>
                  <a:noFill/>
                </a:ln>
                <a:solidFill>
                  <a:srgbClr val="FF0000"/>
                </a:solidFill>
                <a:effectLst/>
                <a:uLnTx/>
                <a:uFillTx/>
                <a:latin typeface="Rix모던고딕 B"/>
                <a:ea typeface="Rix모던고딕 B"/>
                <a:cs typeface="+mn-cs"/>
              </a:rPr>
              <a:t>삭제</a:t>
            </a:r>
            <a:r>
              <a:rPr kumimoji="0" lang="en-US" altLang="ko-KR" sz="1100" b="0" i="0" u="none" strike="noStrike" kern="0" cap="none" spc="0" normalizeH="0" baseline="0" noProof="0" dirty="0">
                <a:ln>
                  <a:noFill/>
                </a:ln>
                <a:solidFill>
                  <a:srgbClr val="FF0000"/>
                </a:solidFill>
                <a:effectLst/>
                <a:uLnTx/>
                <a:uFillTx/>
                <a:latin typeface="Rix모던고딕 B"/>
                <a:ea typeface="Rix모던고딕 B"/>
                <a:cs typeface="+mn-cs"/>
              </a:rPr>
              <a:t>․</a:t>
            </a:r>
            <a:r>
              <a:rPr kumimoji="0" lang="ko-KR" altLang="en-US" sz="1100" b="0" i="0" u="none" strike="noStrike" kern="0" cap="none" spc="0" normalizeH="0" baseline="0" noProof="0" dirty="0">
                <a:ln>
                  <a:noFill/>
                </a:ln>
                <a:solidFill>
                  <a:srgbClr val="FF0000"/>
                </a:solidFill>
                <a:effectLst/>
                <a:uLnTx/>
                <a:uFillTx/>
                <a:latin typeface="Rix모던고딕 B"/>
                <a:ea typeface="Rix모던고딕 B"/>
                <a:cs typeface="+mn-cs"/>
              </a:rPr>
              <a:t>변경한 것에 지나지 아니하여 새로운 </a:t>
            </a:r>
            <a:r>
              <a:rPr kumimoji="0" lang="ko-KR" altLang="en-US" sz="1100" b="0" i="0" u="none" strike="noStrike" kern="0" cap="none" spc="0" normalizeH="0" baseline="0" noProof="0" dirty="0" err="1">
                <a:ln>
                  <a:noFill/>
                </a:ln>
                <a:solidFill>
                  <a:srgbClr val="FF0000"/>
                </a:solidFill>
                <a:effectLst/>
                <a:uLnTx/>
                <a:uFillTx/>
                <a:latin typeface="Rix모던고딕 B"/>
                <a:ea typeface="Rix모던고딕 B"/>
                <a:cs typeface="+mn-cs"/>
              </a:rPr>
              <a:t>작용효과가</a:t>
            </a:r>
            <a:r>
              <a:rPr kumimoji="0" lang="ko-KR" altLang="en-US" sz="1100" b="0" i="0" u="none" strike="noStrike" kern="0" cap="none" spc="0" normalizeH="0" baseline="0" noProof="0" dirty="0">
                <a:ln>
                  <a:noFill/>
                </a:ln>
                <a:solidFill>
                  <a:srgbClr val="FF0000"/>
                </a:solidFill>
                <a:effectLst/>
                <a:uLnTx/>
                <a:uFillTx/>
                <a:latin typeface="Rix모던고딕 B"/>
                <a:ea typeface="Rix모던고딕 B"/>
                <a:cs typeface="+mn-cs"/>
              </a:rPr>
              <a:t> 발생한다고 보기 어려운 경우에도 마찬가지라 할 것이다</a:t>
            </a:r>
            <a:r>
              <a:rPr kumimoji="0" lang="en-US" altLang="ko-KR" sz="1100" b="0" i="0" u="none" strike="noStrike" kern="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2013. 2. 28.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2012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726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en-US" altLang="ko-KR" sz="1100" b="0" i="0" u="none" strike="noStrike" kern="0" cap="none" spc="0" normalizeH="0" baseline="0" noProof="0" dirty="0">
                <a:ln>
                  <a:noFill/>
                </a:ln>
                <a:solidFill>
                  <a:prstClr val="black"/>
                </a:solidFill>
                <a:effectLst/>
                <a:uLnTx/>
                <a:uFillTx/>
                <a:latin typeface="Rix모던고딕 B"/>
                <a:ea typeface="Rix모던고딕 B"/>
                <a:cs typeface="+mn-cs"/>
              </a:rPr>
              <a:t>.</a:t>
            </a:r>
            <a:endParaRPr kumimoji="0" lang="ko-KR" altLang="en-US" sz="1100" b="0" i="0" u="none" strike="noStrike" kern="0" cap="none" spc="0" normalizeH="0" baseline="0" noProof="0" dirty="0">
              <a:ln>
                <a:noFill/>
              </a:ln>
              <a:solidFill>
                <a:prstClr val="black"/>
              </a:solidFill>
              <a:effectLst/>
              <a:uLnTx/>
              <a:uFillTx/>
              <a:latin typeface="Rix모던고딕 B"/>
              <a:ea typeface="Rix모던고딕 B"/>
              <a:cs typeface="+mn-cs"/>
            </a:endParaRPr>
          </a:p>
        </p:txBody>
      </p:sp>
      <p:cxnSp>
        <p:nvCxnSpPr>
          <p:cNvPr id="36" name="꺾인 연결선 5">
            <a:extLst>
              <a:ext uri="{FF2B5EF4-FFF2-40B4-BE49-F238E27FC236}">
                <a16:creationId xmlns:a16="http://schemas.microsoft.com/office/drawing/2014/main" id="{DFDCE16D-33DE-7F0E-5EAB-5D02F2D11881}"/>
              </a:ext>
            </a:extLst>
          </p:cNvPr>
          <p:cNvCxnSpPr>
            <a:cxnSpLocks/>
            <a:stCxn id="30" idx="6"/>
            <a:endCxn id="29" idx="1"/>
          </p:cNvCxnSpPr>
          <p:nvPr/>
        </p:nvCxnSpPr>
        <p:spPr>
          <a:xfrm>
            <a:off x="6707454" y="1324162"/>
            <a:ext cx="196927" cy="865098"/>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꺾인 연결선 7">
            <a:extLst>
              <a:ext uri="{FF2B5EF4-FFF2-40B4-BE49-F238E27FC236}">
                <a16:creationId xmlns:a16="http://schemas.microsoft.com/office/drawing/2014/main" id="{B0011AB3-8DAD-92B6-C5A4-C3EDFA583590}"/>
              </a:ext>
            </a:extLst>
          </p:cNvPr>
          <p:cNvCxnSpPr>
            <a:cxnSpLocks/>
            <a:stCxn id="30" idx="6"/>
            <a:endCxn id="33" idx="1"/>
          </p:cNvCxnSpPr>
          <p:nvPr/>
        </p:nvCxnSpPr>
        <p:spPr>
          <a:xfrm>
            <a:off x="6707454" y="1324162"/>
            <a:ext cx="196927" cy="367367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1" name="말풍선: 모서리가 둥근 사각형 90">
            <a:extLst>
              <a:ext uri="{FF2B5EF4-FFF2-40B4-BE49-F238E27FC236}">
                <a16:creationId xmlns:a16="http://schemas.microsoft.com/office/drawing/2014/main" id="{D71C52A0-8BC8-4187-F32E-BD4F8F942DE9}"/>
              </a:ext>
            </a:extLst>
          </p:cNvPr>
          <p:cNvSpPr/>
          <p:nvPr/>
        </p:nvSpPr>
        <p:spPr>
          <a:xfrm>
            <a:off x="6904381" y="746666"/>
            <a:ext cx="4392269" cy="288386"/>
          </a:xfrm>
          <a:prstGeom prst="wedgeRoundRectCallout">
            <a:avLst>
              <a:gd name="adj1" fmla="val -19370"/>
              <a:gd name="adj2" fmla="val 151826"/>
              <a:gd name="adj3" fmla="val 16667"/>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실질적 동일성 중 구성이 변경된 경우</a:t>
            </a:r>
            <a:r>
              <a:rPr kumimoji="0" lang="en-US" altLang="ko-KR" sz="1400" b="0" i="0" u="none" strike="noStrike" kern="1200" cap="none" spc="0" normalizeH="0" baseline="0" noProof="0" dirty="0">
                <a:ln>
                  <a:noFill/>
                </a:ln>
                <a:solidFill>
                  <a:srgbClr val="ED7D31"/>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진보성 판단과 차이</a:t>
            </a:r>
          </a:p>
        </p:txBody>
      </p:sp>
      <p:sp>
        <p:nvSpPr>
          <p:cNvPr id="92" name="말풍선: 모서리가 둥근 사각형 91">
            <a:extLst>
              <a:ext uri="{FF2B5EF4-FFF2-40B4-BE49-F238E27FC236}">
                <a16:creationId xmlns:a16="http://schemas.microsoft.com/office/drawing/2014/main" id="{1B353247-E9F1-C665-5DA1-50A3DAF7EFA9}"/>
              </a:ext>
            </a:extLst>
          </p:cNvPr>
          <p:cNvSpPr/>
          <p:nvPr/>
        </p:nvSpPr>
        <p:spPr>
          <a:xfrm>
            <a:off x="9209430" y="6501536"/>
            <a:ext cx="2887319" cy="288386"/>
          </a:xfrm>
          <a:prstGeom prst="wedgeRoundRectCallout">
            <a:avLst>
              <a:gd name="adj1" fmla="val -25968"/>
              <a:gd name="adj2" fmla="val -300666"/>
              <a:gd name="adj3" fmla="val 16667"/>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실질적 동일성 중 범위가 다른 경우</a:t>
            </a:r>
          </a:p>
        </p:txBody>
      </p:sp>
    </p:spTree>
    <p:extLst>
      <p:ext uri="{BB962C8B-B14F-4D97-AF65-F5344CB8AC3E}">
        <p14:creationId xmlns:p14="http://schemas.microsoft.com/office/powerpoint/2010/main" val="3495440654"/>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B10FD4-B29E-34BA-8AAE-77FFAE72266D}"/>
            </a:ext>
          </a:extLst>
        </p:cNvPr>
        <p:cNvGrpSpPr/>
        <p:nvPr/>
      </p:nvGrpSpPr>
      <p:grpSpPr>
        <a:xfrm>
          <a:off x="0" y="0"/>
          <a:ext cx="0" cy="0"/>
          <a:chOff x="0" y="0"/>
          <a:chExt cx="0" cy="0"/>
        </a:xfrm>
      </p:grpSpPr>
      <p:sp>
        <p:nvSpPr>
          <p:cNvPr id="3" name="제목 2">
            <a:extLst>
              <a:ext uri="{FF2B5EF4-FFF2-40B4-BE49-F238E27FC236}">
                <a16:creationId xmlns:a16="http://schemas.microsoft.com/office/drawing/2014/main" id="{78C515BA-234C-06DB-FF9F-586E68C0D184}"/>
              </a:ext>
            </a:extLst>
          </p:cNvPr>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a:extLst>
              <a:ext uri="{FF2B5EF4-FFF2-40B4-BE49-F238E27FC236}">
                <a16:creationId xmlns:a16="http://schemas.microsoft.com/office/drawing/2014/main" id="{CFD3DA03-FFF0-19E1-B9BC-68BE58ED5B8E}"/>
              </a:ext>
            </a:extLst>
          </p:cNvPr>
          <p:cNvSpPr>
            <a:spLocks noGrp="1"/>
          </p:cNvSpPr>
          <p:nvPr>
            <p:ph type="body" sz="quarter" idx="13"/>
          </p:nvPr>
        </p:nvSpPr>
        <p:spPr/>
        <p:txBody>
          <a:bodyPr/>
          <a:lstStyle/>
          <a:p>
            <a:r>
              <a:rPr lang="ko-KR" altLang="en-US" dirty="0">
                <a:solidFill>
                  <a:srgbClr val="525252"/>
                </a:solidFill>
              </a:rPr>
              <a:t>동일성의 유형</a:t>
            </a:r>
            <a:r>
              <a:rPr lang="en-US" altLang="ko-KR" dirty="0">
                <a:solidFill>
                  <a:srgbClr val="525252"/>
                </a:solidFill>
              </a:rPr>
              <a:t>(C, D </a:t>
            </a:r>
            <a:r>
              <a:rPr lang="ko-KR" altLang="en-US" dirty="0">
                <a:solidFill>
                  <a:srgbClr val="525252"/>
                </a:solidFill>
              </a:rPr>
              <a:t>유형</a:t>
            </a:r>
            <a:r>
              <a:rPr lang="en-US" altLang="ko-KR" dirty="0">
                <a:solidFill>
                  <a:srgbClr val="525252"/>
                </a:solidFill>
              </a:rPr>
              <a:t>)</a:t>
            </a:r>
            <a:endParaRPr lang="ko-KR" altLang="en-US" dirty="0">
              <a:solidFill>
                <a:srgbClr val="525252"/>
              </a:solidFill>
            </a:endParaRPr>
          </a:p>
        </p:txBody>
      </p:sp>
      <p:sp>
        <p:nvSpPr>
          <p:cNvPr id="5" name="슬라이드 번호 개체 틀 4">
            <a:extLst>
              <a:ext uri="{FF2B5EF4-FFF2-40B4-BE49-F238E27FC236}">
                <a16:creationId xmlns:a16="http://schemas.microsoft.com/office/drawing/2014/main" id="{AE9158BD-A2F2-9892-5D23-C029B078782A}"/>
              </a:ext>
            </a:extLst>
          </p:cNvPr>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63</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12" name="직사각형 11">
            <a:extLst>
              <a:ext uri="{FF2B5EF4-FFF2-40B4-BE49-F238E27FC236}">
                <a16:creationId xmlns:a16="http://schemas.microsoft.com/office/drawing/2014/main" id="{7FA2B38E-FCDE-5C35-0B08-292E6E91D1B6}"/>
              </a:ext>
            </a:extLst>
          </p:cNvPr>
          <p:cNvSpPr/>
          <p:nvPr/>
        </p:nvSpPr>
        <p:spPr>
          <a:xfrm>
            <a:off x="634504" y="1074882"/>
            <a:ext cx="347025" cy="280460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선출원주의</a:t>
            </a:r>
          </a:p>
        </p:txBody>
      </p:sp>
      <p:sp>
        <p:nvSpPr>
          <p:cNvPr id="13" name="TextBox 12">
            <a:extLst>
              <a:ext uri="{FF2B5EF4-FFF2-40B4-BE49-F238E27FC236}">
                <a16:creationId xmlns:a16="http://schemas.microsoft.com/office/drawing/2014/main" id="{D7D4743D-99D2-82F1-8289-66A0CBBDAF33}"/>
              </a:ext>
            </a:extLst>
          </p:cNvPr>
          <p:cNvSpPr txBox="1"/>
          <p:nvPr/>
        </p:nvSpPr>
        <p:spPr>
          <a:xfrm>
            <a:off x="55628" y="1064403"/>
            <a:ext cx="440005" cy="414780"/>
          </a:xfrm>
          <a:prstGeom prst="ellipse">
            <a:avLst/>
          </a:prstGeom>
          <a:solidFill>
            <a:schemeClr val="accent2">
              <a:lumMod val="50000"/>
            </a:schemeClr>
          </a:solidFill>
          <a:ln>
            <a:solidFill>
              <a:schemeClr val="bg1">
                <a:lumMod val="50000"/>
              </a:schemeClr>
            </a:solidFill>
          </a:ln>
        </p:spPr>
        <p:txBody>
          <a:bodyPr wrap="non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5B9BD5">
                    <a:lumMod val="20000"/>
                    <a:lumOff val="80000"/>
                  </a:srgbClr>
                </a:solidFill>
                <a:effectLst/>
                <a:uLnTx/>
                <a:uFillTx/>
                <a:latin typeface="Frutiger LT 65 Bold"/>
                <a:ea typeface="Rix모던고딕 B"/>
                <a:cs typeface="+mn-cs"/>
              </a:rPr>
              <a:t>C</a:t>
            </a:r>
            <a:endParaRPr kumimoji="0" lang="ko-KR" altLang="en-US" sz="1400" b="0" i="0" u="none" strike="noStrike" kern="1200" cap="none" spc="0" normalizeH="0" baseline="0" noProof="0" dirty="0">
              <a:ln>
                <a:noFill/>
              </a:ln>
              <a:solidFill>
                <a:srgbClr val="5B9BD5">
                  <a:lumMod val="20000"/>
                  <a:lumOff val="80000"/>
                </a:srgbClr>
              </a:solidFill>
              <a:effectLst/>
              <a:uLnTx/>
              <a:uFillTx/>
              <a:latin typeface="Frutiger LT 65 Bold"/>
              <a:ea typeface="Rix모던고딕 B"/>
              <a:cs typeface="+mn-cs"/>
            </a:endParaRPr>
          </a:p>
        </p:txBody>
      </p:sp>
      <p:sp>
        <p:nvSpPr>
          <p:cNvPr id="14" name="직사각형 13">
            <a:extLst>
              <a:ext uri="{FF2B5EF4-FFF2-40B4-BE49-F238E27FC236}">
                <a16:creationId xmlns:a16="http://schemas.microsoft.com/office/drawing/2014/main" id="{AC022171-6157-FABF-84BF-86C17FA765E7}"/>
              </a:ext>
            </a:extLst>
          </p:cNvPr>
          <p:cNvSpPr/>
          <p:nvPr/>
        </p:nvSpPr>
        <p:spPr>
          <a:xfrm>
            <a:off x="1011010" y="1074883"/>
            <a:ext cx="5004664" cy="1114377"/>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구 특허법</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(2001. 2. 3.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법률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6411</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호로 개정되기 전의 것</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36</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조를 적용하기 위한 전제로서 두 발명이 서로 동일한 발명인지 여부는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대비되는 두 발명의 실체를 파악하여 따져 보아야 할 것이지 표현양식에 따른 차이에 따라 판단할 것은 아니므로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대비되는 두 발명이 각각 물건의 발명과 방법의 발명으로 서로 발명의 범주가 다르다고 하여 곧바로 동일한 발명이 아니라고 단정할 수 없다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2007. 1. 12.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2005</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3017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15" name="직사각형 14">
            <a:extLst>
              <a:ext uri="{FF2B5EF4-FFF2-40B4-BE49-F238E27FC236}">
                <a16:creationId xmlns:a16="http://schemas.microsoft.com/office/drawing/2014/main" id="{A438FDA0-8D6C-33E9-95CC-48F475B3C4A0}"/>
              </a:ext>
            </a:extLst>
          </p:cNvPr>
          <p:cNvSpPr/>
          <p:nvPr/>
        </p:nvSpPr>
        <p:spPr>
          <a:xfrm>
            <a:off x="1011010" y="2234334"/>
            <a:ext cx="5004664" cy="164514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구 특허법</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(1990. 1. 13.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법률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42307</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호로 전문 개정되기 전의 것</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11</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항은 동일한 발명에 대하여는 최선출원에 한하여 특허를 받을 수 있다고 규정하여 동일한 발명에 대한 중복등록을 방지하기 위하여 선원주의를 채택하고 있는바</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전후로 출원된 양 발명이 동일하다고 함은 그 기술적 구성이 전면적으로 일치하는 경우는 물론 그 범위에 차이가 있을 뿐 부분적으로 일치하는 경우라도 특별한 사정이 없는 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양 발명은 동일하고</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비록 양 발명의 구성에 상이점이 있어도 그 기술분야에 통상의 지식을 가진 자가 보통으로 채용하는 정도의 변경에 지나지 아니하고 발명의 목적과 작용효과에 특별한 차이를 일으키지 아니하는 경우</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에는 양 발명은 역시 동일한 발명이다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2009. 9. 24.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2007</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2827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cxnSp>
        <p:nvCxnSpPr>
          <p:cNvPr id="19" name="꺾인 연결선 9">
            <a:extLst>
              <a:ext uri="{FF2B5EF4-FFF2-40B4-BE49-F238E27FC236}">
                <a16:creationId xmlns:a16="http://schemas.microsoft.com/office/drawing/2014/main" id="{90154E4F-736B-F86C-D771-4884F1073D14}"/>
              </a:ext>
            </a:extLst>
          </p:cNvPr>
          <p:cNvCxnSpPr>
            <a:cxnSpLocks/>
            <a:stCxn id="13" idx="6"/>
            <a:endCxn id="12" idx="1"/>
          </p:cNvCxnSpPr>
          <p:nvPr/>
        </p:nvCxnSpPr>
        <p:spPr>
          <a:xfrm>
            <a:off x="495633" y="1271793"/>
            <a:ext cx="138871" cy="120539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7CBF175C-77A5-3277-DD97-20893EF9F18D}"/>
              </a:ext>
            </a:extLst>
          </p:cNvPr>
          <p:cNvSpPr/>
          <p:nvPr/>
        </p:nvSpPr>
        <p:spPr>
          <a:xfrm>
            <a:off x="6799606" y="1090245"/>
            <a:ext cx="347025" cy="2573307"/>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허위</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표시</a:t>
            </a:r>
          </a:p>
        </p:txBody>
      </p:sp>
      <p:sp>
        <p:nvSpPr>
          <p:cNvPr id="30" name="TextBox 29">
            <a:extLst>
              <a:ext uri="{FF2B5EF4-FFF2-40B4-BE49-F238E27FC236}">
                <a16:creationId xmlns:a16="http://schemas.microsoft.com/office/drawing/2014/main" id="{6A1CF478-181B-82EE-BB2A-6543625565CE}"/>
              </a:ext>
            </a:extLst>
          </p:cNvPr>
          <p:cNvSpPr txBox="1"/>
          <p:nvPr/>
        </p:nvSpPr>
        <p:spPr>
          <a:xfrm>
            <a:off x="6213528" y="1087215"/>
            <a:ext cx="440005" cy="414780"/>
          </a:xfrm>
          <a:prstGeom prst="ellipse">
            <a:avLst/>
          </a:prstGeom>
          <a:solidFill>
            <a:schemeClr val="bg1">
              <a:lumMod val="50000"/>
            </a:schemeClr>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FFFF00"/>
                </a:solidFill>
                <a:effectLst/>
                <a:uLnTx/>
                <a:uFillTx/>
                <a:latin typeface="Frutiger LT 65 Bold"/>
                <a:ea typeface="Rix모던고딕 B"/>
                <a:cs typeface="+mn-cs"/>
              </a:rPr>
              <a:t>D</a:t>
            </a:r>
            <a:endParaRPr kumimoji="0" lang="ko-KR" altLang="en-US" sz="1400" b="0" i="0" u="none" strike="noStrike" kern="1200" cap="none" spc="0" normalizeH="0" baseline="0" noProof="0" dirty="0">
              <a:ln>
                <a:noFill/>
              </a:ln>
              <a:solidFill>
                <a:srgbClr val="FFFF00"/>
              </a:solidFill>
              <a:effectLst/>
              <a:uLnTx/>
              <a:uFillTx/>
              <a:latin typeface="Frutiger LT 65 Bold"/>
              <a:ea typeface="Rix모던고딕 B"/>
              <a:cs typeface="+mn-cs"/>
            </a:endParaRPr>
          </a:p>
        </p:txBody>
      </p:sp>
      <p:sp>
        <p:nvSpPr>
          <p:cNvPr id="31" name="직사각형 30">
            <a:extLst>
              <a:ext uri="{FF2B5EF4-FFF2-40B4-BE49-F238E27FC236}">
                <a16:creationId xmlns:a16="http://schemas.microsoft.com/office/drawing/2014/main" id="{49D15D28-58F8-0ED6-4CE3-B8F7E5C21724}"/>
              </a:ext>
            </a:extLst>
          </p:cNvPr>
          <p:cNvSpPr/>
          <p:nvPr/>
        </p:nvSpPr>
        <p:spPr>
          <a:xfrm>
            <a:off x="7239610" y="1090244"/>
            <a:ext cx="4790465" cy="2573309"/>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특허법 제</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224</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조 제</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3</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호는 같은 조 제</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1</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호의 </a:t>
            </a:r>
            <a:r>
              <a:rPr kumimoji="0" lang="ko-KR" altLang="en-US" sz="1100" b="0" i="0" u="none" strike="noStrike" kern="1200" cap="none" spc="0" normalizeH="0" baseline="0" noProof="0" dirty="0" err="1">
                <a:ln>
                  <a:noFill/>
                </a:ln>
                <a:solidFill>
                  <a:prstClr val="black"/>
                </a:solidFill>
                <a:effectLst/>
                <a:uLnTx/>
                <a:uFillTx/>
                <a:latin typeface="Rix모던고딕 B"/>
                <a:ea typeface="Rix모던고딕 B"/>
                <a:cs typeface="+mn-cs"/>
              </a:rPr>
              <a:t>특허된</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 것이 아닌 물건</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특허출원 중이 아닌 물건</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100" b="0" i="0" u="none" strike="noStrike" kern="1200" cap="none" spc="0" normalizeH="0" baseline="0" noProof="0" dirty="0" err="1">
                <a:ln>
                  <a:noFill/>
                </a:ln>
                <a:solidFill>
                  <a:prstClr val="black"/>
                </a:solidFill>
                <a:effectLst/>
                <a:uLnTx/>
                <a:uFillTx/>
                <a:latin typeface="Rix모던고딕 B"/>
                <a:ea typeface="Rix모던고딕 B"/>
                <a:cs typeface="+mn-cs"/>
              </a:rPr>
              <a:t>특허된</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 것이 아닌 방법이나 특허출원 중이 아닌 방법에 의하여 생산한 물건을 생산</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사용</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양도하기 위하여 광고 등에 그 물건이 특허나 </a:t>
            </a:r>
            <a:r>
              <a:rPr kumimoji="0" lang="ko-KR" altLang="en-US" sz="1100" b="0" i="0" u="none" strike="noStrike" kern="1200" cap="none" spc="0" normalizeH="0" baseline="0" noProof="0" dirty="0" err="1">
                <a:ln>
                  <a:noFill/>
                </a:ln>
                <a:solidFill>
                  <a:prstClr val="black"/>
                </a:solidFill>
                <a:effectLst/>
                <a:uLnTx/>
                <a:uFillTx/>
                <a:latin typeface="Rix모던고딕 B"/>
                <a:ea typeface="Rix모던고딕 B"/>
                <a:cs typeface="+mn-cs"/>
              </a:rPr>
              <a:t>특허출원된</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 것 또는 </a:t>
            </a:r>
            <a:r>
              <a:rPr kumimoji="0" lang="ko-KR" altLang="en-US" sz="1100" b="0" i="0" u="none" strike="noStrike" kern="1200" cap="none" spc="0" normalizeH="0" baseline="0" noProof="0" dirty="0" err="1">
                <a:ln>
                  <a:noFill/>
                </a:ln>
                <a:solidFill>
                  <a:prstClr val="black"/>
                </a:solidFill>
                <a:effectLst/>
                <a:uLnTx/>
                <a:uFillTx/>
                <a:latin typeface="Rix모던고딕 B"/>
                <a:ea typeface="Rix모던고딕 B"/>
                <a:cs typeface="+mn-cs"/>
              </a:rPr>
              <a:t>특허된</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 방법이나 특허출원 중인 방법에 따라 생산한 것으로 표시하거나 이와 혼동하기 쉬운 표시</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이하 ‘</a:t>
            </a:r>
            <a:r>
              <a:rPr kumimoji="0" lang="ko-KR" altLang="en-US" sz="1100" b="0" i="0" u="none" strike="noStrike" kern="1200" cap="none" spc="0" normalizeH="0" baseline="0" noProof="0" dirty="0" err="1">
                <a:ln>
                  <a:noFill/>
                </a:ln>
                <a:solidFill>
                  <a:prstClr val="black"/>
                </a:solidFill>
                <a:effectLst/>
                <a:uLnTx/>
                <a:uFillTx/>
                <a:latin typeface="Rix모던고딕 B"/>
                <a:ea typeface="Rix모던고딕 B"/>
                <a:cs typeface="+mn-cs"/>
              </a:rPr>
              <a:t>특허된</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 것 등으로 </a:t>
            </a:r>
            <a:r>
              <a:rPr kumimoji="0" lang="ko-KR" altLang="en-US" sz="1100" b="0" i="0" u="none" strike="noStrike" kern="1200" cap="none" spc="0" normalizeH="0" baseline="0" noProof="0" dirty="0" err="1">
                <a:ln>
                  <a:noFill/>
                </a:ln>
                <a:solidFill>
                  <a:prstClr val="black"/>
                </a:solidFill>
                <a:effectLst/>
                <a:uLnTx/>
                <a:uFillTx/>
                <a:latin typeface="Rix모던고딕 B"/>
                <a:ea typeface="Rix모던고딕 B"/>
                <a:cs typeface="+mn-cs"/>
              </a:rPr>
              <a:t>표시’라</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 한다</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를 하는 행위를 금지하고 있다</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위 규정의 취지는 특허로 인한 거래상의 유리함과 특허에 관한 공중의 신뢰를 악용하여 공중을 </a:t>
            </a:r>
            <a:r>
              <a:rPr kumimoji="0" lang="ko-KR" altLang="en-US" sz="1100" b="0" i="0" u="none" strike="noStrike" kern="1200" cap="none" spc="0" normalizeH="0" baseline="0" noProof="0" dirty="0" err="1">
                <a:ln>
                  <a:noFill/>
                </a:ln>
                <a:solidFill>
                  <a:prstClr val="black"/>
                </a:solidFill>
                <a:effectLst/>
                <a:uLnTx/>
                <a:uFillTx/>
                <a:latin typeface="Rix모던고딕 B"/>
                <a:ea typeface="Rix모던고딕 B"/>
                <a:cs typeface="+mn-cs"/>
              </a:rPr>
              <a:t>오인시키는</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 행위를 처벌함으로써 거래의 안전을 보호하는 데에 있다고 할 것이다</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이러한 취지에 비추어 볼 때</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100" b="0" i="0" u="none" strike="noStrike" kern="1200" cap="none" spc="0" normalizeH="0" baseline="0" noProof="0" dirty="0" err="1">
                <a:ln>
                  <a:noFill/>
                </a:ln>
                <a:solidFill>
                  <a:srgbClr val="FF0000"/>
                </a:solidFill>
                <a:effectLst/>
                <a:uLnTx/>
                <a:uFillTx/>
                <a:latin typeface="Rix모던고딕 B"/>
                <a:ea typeface="Rix모던고딕 B"/>
                <a:cs typeface="+mn-cs"/>
              </a:rPr>
              <a:t>특허된</a:t>
            </a:r>
            <a:r>
              <a:rPr kumimoji="0" lang="ko-KR" altLang="en-US" sz="1100" b="0" i="0" u="none" strike="noStrike" kern="1200" cap="none" spc="0" normalizeH="0" baseline="0" noProof="0" dirty="0">
                <a:ln>
                  <a:noFill/>
                </a:ln>
                <a:solidFill>
                  <a:srgbClr val="FF0000"/>
                </a:solidFill>
                <a:effectLst/>
                <a:uLnTx/>
                <a:uFillTx/>
                <a:latin typeface="Rix모던고딕 B"/>
                <a:ea typeface="Rix모던고딕 B"/>
                <a:cs typeface="+mn-cs"/>
              </a:rPr>
              <a:t> 것 등으로 표시한 물건의 기술적 구성이 청구범위에 기재된 발명의 구성을 일부 변경한 것이라고 하더라도</a:t>
            </a:r>
            <a:r>
              <a:rPr kumimoji="0" lang="en-US" altLang="ko-KR" sz="1100" b="0" i="0" u="none" strike="noStrike" kern="1200" cap="none" spc="0" normalizeH="0" baseline="0" noProof="0" dirty="0">
                <a:ln>
                  <a:noFill/>
                </a:ln>
                <a:solidFill>
                  <a:srgbClr val="FF0000"/>
                </a:solidFill>
                <a:effectLst/>
                <a:uLnTx/>
                <a:uFillTx/>
                <a:latin typeface="Rix모던고딕 B"/>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Rix모던고딕 B"/>
                <a:ea typeface="Rix모던고딕 B"/>
                <a:cs typeface="+mn-cs"/>
              </a:rPr>
              <a:t>그러한 변경이 해당 기술분야에서 통상의 지식을 가진 사람</a:t>
            </a:r>
            <a:r>
              <a:rPr kumimoji="0" lang="en-US" altLang="ko-KR" sz="11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Rix모던고딕 B"/>
                <a:ea typeface="Rix모던고딕 B"/>
                <a:cs typeface="+mn-cs"/>
              </a:rPr>
              <a:t>이하 ‘통상의 </a:t>
            </a:r>
            <a:r>
              <a:rPr kumimoji="0" lang="ko-KR" altLang="en-US" sz="1100" b="0" i="0" u="none" strike="noStrike" kern="1200" cap="none" spc="0" normalizeH="0" baseline="0" noProof="0" dirty="0" err="1">
                <a:ln>
                  <a:noFill/>
                </a:ln>
                <a:solidFill>
                  <a:srgbClr val="FF0000"/>
                </a:solidFill>
                <a:effectLst/>
                <a:uLnTx/>
                <a:uFillTx/>
                <a:latin typeface="Rix모던고딕 B"/>
                <a:ea typeface="Rix모던고딕 B"/>
                <a:cs typeface="+mn-cs"/>
              </a:rPr>
              <a:t>기술자’라고</a:t>
            </a:r>
            <a:r>
              <a:rPr kumimoji="0" lang="ko-KR" altLang="en-US" sz="1100" b="0" i="0" u="none" strike="noStrike" kern="1200" cap="none" spc="0" normalizeH="0" baseline="0" noProof="0" dirty="0">
                <a:ln>
                  <a:noFill/>
                </a:ln>
                <a:solidFill>
                  <a:srgbClr val="FF0000"/>
                </a:solidFill>
                <a:effectLst/>
                <a:uLnTx/>
                <a:uFillTx/>
                <a:latin typeface="Rix모던고딕 B"/>
                <a:ea typeface="Rix모던고딕 B"/>
                <a:cs typeface="+mn-cs"/>
              </a:rPr>
              <a:t> 한다</a:t>
            </a:r>
            <a:r>
              <a:rPr kumimoji="0" lang="en-US" altLang="ko-KR" sz="11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Rix모던고딕 B"/>
                <a:ea typeface="Rix모던고딕 B"/>
                <a:cs typeface="+mn-cs"/>
              </a:rPr>
              <a:t>이 보통 채용하는 정도로 기술적 구성을 부가</a:t>
            </a:r>
            <a:r>
              <a:rPr kumimoji="0" lang="en-US" altLang="ko-KR" sz="11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Rix모던고딕 B"/>
                <a:ea typeface="Rix모던고딕 B"/>
                <a:cs typeface="+mn-cs"/>
              </a:rPr>
              <a:t>삭제</a:t>
            </a:r>
            <a:r>
              <a:rPr kumimoji="0" lang="en-US" altLang="ko-KR" sz="11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Rix모던고딕 B"/>
                <a:ea typeface="Rix모던고딕 B"/>
                <a:cs typeface="+mn-cs"/>
              </a:rPr>
              <a:t>변경한 것에 지나지 아니하고 그로 인하여 발명의 효과에 특별한 차이가 생기지도 아니하는 등 공중을 </a:t>
            </a:r>
            <a:r>
              <a:rPr kumimoji="0" lang="ko-KR" altLang="en-US" sz="1100" b="0" i="0" u="none" strike="noStrike" kern="1200" cap="none" spc="0" normalizeH="0" baseline="0" noProof="0" dirty="0" err="1">
                <a:ln>
                  <a:noFill/>
                </a:ln>
                <a:solidFill>
                  <a:srgbClr val="FF0000"/>
                </a:solidFill>
                <a:effectLst/>
                <a:uLnTx/>
                <a:uFillTx/>
                <a:latin typeface="Rix모던고딕 B"/>
                <a:ea typeface="Rix모던고딕 B"/>
                <a:cs typeface="+mn-cs"/>
              </a:rPr>
              <a:t>오인시킬</a:t>
            </a:r>
            <a:r>
              <a:rPr kumimoji="0" lang="ko-KR" altLang="en-US" sz="1100" b="0" i="0" u="none" strike="noStrike" kern="1200" cap="none" spc="0" normalizeH="0" baseline="0" noProof="0" dirty="0">
                <a:ln>
                  <a:noFill/>
                </a:ln>
                <a:solidFill>
                  <a:srgbClr val="FF0000"/>
                </a:solidFill>
                <a:effectLst/>
                <a:uLnTx/>
                <a:uFillTx/>
                <a:latin typeface="Rix모던고딕 B"/>
                <a:ea typeface="Rix모던고딕 B"/>
                <a:cs typeface="+mn-cs"/>
              </a:rPr>
              <a:t> 정도에 이르지 아니한 경우</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에는</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위 물건에 </a:t>
            </a:r>
            <a:r>
              <a:rPr kumimoji="0" lang="ko-KR" altLang="en-US" sz="1100" b="0" i="0" u="none" strike="noStrike" kern="1200" cap="none" spc="0" normalizeH="0" baseline="0" noProof="0" dirty="0" err="1">
                <a:ln>
                  <a:noFill/>
                </a:ln>
                <a:solidFill>
                  <a:prstClr val="black"/>
                </a:solidFill>
                <a:effectLst/>
                <a:uLnTx/>
                <a:uFillTx/>
                <a:latin typeface="Rix모던고딕 B"/>
                <a:ea typeface="Rix모던고딕 B"/>
                <a:cs typeface="+mn-cs"/>
              </a:rPr>
              <a:t>특허된</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 것 등으로 표시를 하는 행위가 위 규정에서 금지하는 표시행위에 해당한다고 볼 수 없다</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100" cap="none" spc="-100" normalizeH="0" baseline="0" noProof="0" dirty="0">
                <a:ln>
                  <a:noFill/>
                </a:ln>
                <a:solidFill>
                  <a:prstClr val="black"/>
                </a:solidFill>
                <a:effectLst/>
                <a:uLnTx/>
                <a:uFillTx/>
                <a:latin typeface="Rix모던고딕 B"/>
                <a:ea typeface="Rix모던고딕 B"/>
                <a:cs typeface="+mn-cs"/>
              </a:rPr>
              <a:t>대법원 </a:t>
            </a:r>
            <a:r>
              <a:rPr kumimoji="0" lang="en-US" altLang="ko-KR" sz="1100" b="0" i="0" u="none" strike="noStrike" kern="100" cap="none" spc="-100" normalizeH="0" baseline="0" noProof="0" dirty="0">
                <a:ln>
                  <a:noFill/>
                </a:ln>
                <a:solidFill>
                  <a:prstClr val="black"/>
                </a:solidFill>
                <a:effectLst/>
                <a:uLnTx/>
                <a:uFillTx/>
                <a:latin typeface="Rix모던고딕 B"/>
                <a:ea typeface="Rix모던고딕 B"/>
                <a:cs typeface="+mn-cs"/>
              </a:rPr>
              <a:t>2015. 8. 13. </a:t>
            </a:r>
            <a:r>
              <a:rPr kumimoji="0" lang="ko-KR" altLang="en-US" sz="1100" b="0" i="0" u="none" strike="noStrike" kern="100" cap="none" spc="-100" normalizeH="0" baseline="0" noProof="0" dirty="0">
                <a:ln>
                  <a:noFill/>
                </a:ln>
                <a:solidFill>
                  <a:prstClr val="black"/>
                </a:solidFill>
                <a:effectLst/>
                <a:uLnTx/>
                <a:uFillTx/>
                <a:latin typeface="Rix모던고딕 B"/>
                <a:ea typeface="Rix모던고딕 B"/>
                <a:cs typeface="+mn-cs"/>
              </a:rPr>
              <a:t>선고 </a:t>
            </a:r>
            <a:r>
              <a:rPr kumimoji="0" lang="en-US" altLang="ko-KR" sz="1100" b="0" i="0" u="none" strike="noStrike" kern="100" cap="none" spc="-100" normalizeH="0" baseline="0" noProof="0" dirty="0">
                <a:ln>
                  <a:noFill/>
                </a:ln>
                <a:solidFill>
                  <a:prstClr val="black"/>
                </a:solidFill>
                <a:effectLst/>
                <a:uLnTx/>
                <a:uFillTx/>
                <a:latin typeface="Rix모던고딕 B"/>
                <a:ea typeface="Rix모던고딕 B"/>
                <a:cs typeface="+mn-cs"/>
              </a:rPr>
              <a:t>2013</a:t>
            </a:r>
            <a:r>
              <a:rPr kumimoji="0" lang="ko-KR" altLang="en-US" sz="1100" b="0" i="0" u="none" strike="noStrike" kern="100" cap="none" spc="-100" normalizeH="0" baseline="0" noProof="0" dirty="0">
                <a:ln>
                  <a:noFill/>
                </a:ln>
                <a:solidFill>
                  <a:prstClr val="black"/>
                </a:solidFill>
                <a:effectLst/>
                <a:uLnTx/>
                <a:uFillTx/>
                <a:latin typeface="Rix모던고딕 B"/>
                <a:ea typeface="Rix모던고딕 B"/>
                <a:cs typeface="+mn-cs"/>
              </a:rPr>
              <a:t>도</a:t>
            </a:r>
            <a:r>
              <a:rPr kumimoji="0" lang="en-US" altLang="ko-KR" sz="1100" b="0" i="0" u="none" strike="noStrike" kern="100" cap="none" spc="-100" normalizeH="0" baseline="0" noProof="0" dirty="0">
                <a:ln>
                  <a:noFill/>
                </a:ln>
                <a:solidFill>
                  <a:prstClr val="black"/>
                </a:solidFill>
                <a:effectLst/>
                <a:uLnTx/>
                <a:uFillTx/>
                <a:latin typeface="Rix모던고딕 B"/>
                <a:ea typeface="Rix모던고딕 B"/>
                <a:cs typeface="+mn-cs"/>
              </a:rPr>
              <a:t>10265 </a:t>
            </a:r>
            <a:r>
              <a:rPr kumimoji="0" lang="ko-KR" altLang="en-US" sz="1100" b="0" i="0" u="none" strike="noStrike" kern="100" cap="none" spc="-100" normalizeH="0" baseline="0" noProof="0" dirty="0">
                <a:ln>
                  <a:noFill/>
                </a:ln>
                <a:solidFill>
                  <a:prstClr val="black"/>
                </a:solidFill>
                <a:effectLst/>
                <a:uLnTx/>
                <a:uFillTx/>
                <a:latin typeface="Rix모던고딕 B"/>
                <a:ea typeface="Rix모던고딕 B"/>
                <a:cs typeface="+mn-cs"/>
              </a:rPr>
              <a:t>판결 </a:t>
            </a:r>
            <a:r>
              <a:rPr kumimoji="0" lang="en-US" altLang="ko-KR" sz="1100" b="0" i="0" u="none" strike="noStrike" kern="100" cap="none" spc="-100" normalizeH="0" baseline="0" noProof="0" dirty="0">
                <a:ln>
                  <a:noFill/>
                </a:ln>
                <a:solidFill>
                  <a:prstClr val="black"/>
                </a:solidFill>
                <a:effectLst/>
                <a:uLnTx/>
                <a:uFillTx/>
                <a:latin typeface="Rix모던고딕 B"/>
                <a:ea typeface="Rix모던고딕 B"/>
                <a:cs typeface="+mn-cs"/>
              </a:rPr>
              <a:t>)</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p>
        </p:txBody>
      </p:sp>
      <p:sp>
        <p:nvSpPr>
          <p:cNvPr id="32" name="직사각형 31">
            <a:extLst>
              <a:ext uri="{FF2B5EF4-FFF2-40B4-BE49-F238E27FC236}">
                <a16:creationId xmlns:a16="http://schemas.microsoft.com/office/drawing/2014/main" id="{432B48AF-F502-25D7-F3D8-C0BB890D9A92}"/>
              </a:ext>
            </a:extLst>
          </p:cNvPr>
          <p:cNvSpPr/>
          <p:nvPr/>
        </p:nvSpPr>
        <p:spPr>
          <a:xfrm>
            <a:off x="7239610" y="3724133"/>
            <a:ext cx="4790465" cy="122886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base" latinLnBrk="1" hangingPunct="1">
              <a:lnSpc>
                <a:spcPct val="100000"/>
              </a:lnSpc>
              <a:spcBef>
                <a:spcPts val="0"/>
              </a:spcBef>
              <a:spcAft>
                <a:spcPts val="0"/>
              </a:spcAft>
              <a:buClrTx/>
              <a:buSzTx/>
              <a:buFontTx/>
              <a:buNone/>
              <a:tabLst>
                <a:tab pos="408940" algn="l"/>
                <a:tab pos="624840" algn="l"/>
                <a:tab pos="4561840" algn="r"/>
                <a:tab pos="408940" algn="l"/>
                <a:tab pos="624840" algn="l"/>
                <a:tab pos="4561840" algn="r"/>
              </a:tabLst>
              <a:defRPr/>
            </a:pPr>
            <a:r>
              <a:rPr kumimoji="0" lang="ko-KR" altLang="en-US" sz="1100" b="0" i="0" u="none" strike="noStrike" kern="0" cap="none" spc="0" normalizeH="0" baseline="0" noProof="0" dirty="0">
                <a:ln>
                  <a:noFill/>
                </a:ln>
                <a:solidFill>
                  <a:prstClr val="black"/>
                </a:solidFill>
                <a:effectLst/>
                <a:uLnTx/>
                <a:uFillTx/>
                <a:latin typeface="Rix모던고딕 B"/>
                <a:ea typeface="Rix모던고딕 B"/>
                <a:cs typeface="+mn-cs"/>
              </a:rPr>
              <a:t>발명자가 아닌 사람으로서 특허를 받을 수 있는 권리의 승계인이 아닌 사람</a:t>
            </a:r>
            <a:r>
              <a:rPr kumimoji="0" lang="en-US" altLang="ko-KR" sz="1100" b="0" i="0" u="none" strike="noStrike" kern="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0" cap="none" spc="0" normalizeH="0" baseline="0" noProof="0" dirty="0">
                <a:ln>
                  <a:noFill/>
                </a:ln>
                <a:solidFill>
                  <a:prstClr val="black"/>
                </a:solidFill>
                <a:effectLst/>
                <a:uLnTx/>
                <a:uFillTx/>
                <a:latin typeface="Rix모던고딕 B"/>
                <a:ea typeface="Rix모던고딕 B"/>
                <a:cs typeface="+mn-cs"/>
              </a:rPr>
              <a:t>이하 ‘</a:t>
            </a:r>
            <a:r>
              <a:rPr kumimoji="0" lang="ko-KR" altLang="en-US" sz="1100" b="0" i="0" u="none" strike="noStrike" kern="0" cap="none" spc="0" normalizeH="0" baseline="0" noProof="0" dirty="0" err="1">
                <a:ln>
                  <a:noFill/>
                </a:ln>
                <a:solidFill>
                  <a:prstClr val="black"/>
                </a:solidFill>
                <a:effectLst/>
                <a:uLnTx/>
                <a:uFillTx/>
                <a:latin typeface="Rix모던고딕 B"/>
                <a:ea typeface="Rix모던고딕 B"/>
                <a:cs typeface="+mn-cs"/>
              </a:rPr>
              <a:t>무권리자’라</a:t>
            </a:r>
            <a:r>
              <a:rPr kumimoji="0" lang="ko-KR" altLang="en-US" sz="1100" b="0" i="0" u="none" strike="noStrike" kern="0" cap="none" spc="0" normalizeH="0" baseline="0" noProof="0" dirty="0">
                <a:ln>
                  <a:noFill/>
                </a:ln>
                <a:solidFill>
                  <a:prstClr val="black"/>
                </a:solidFill>
                <a:effectLst/>
                <a:uLnTx/>
                <a:uFillTx/>
                <a:latin typeface="Rix모던고딕 B"/>
                <a:ea typeface="Rix모던고딕 B"/>
                <a:cs typeface="+mn-cs"/>
              </a:rPr>
              <a:t> 한다</a:t>
            </a:r>
            <a:r>
              <a:rPr kumimoji="0" lang="en-US" altLang="ko-KR" sz="1100" b="0" i="0" u="none" strike="noStrike" kern="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0" cap="none" spc="0" normalizeH="0" baseline="0" noProof="0" dirty="0">
                <a:ln>
                  <a:noFill/>
                </a:ln>
                <a:solidFill>
                  <a:prstClr val="black"/>
                </a:solidFill>
                <a:effectLst/>
                <a:uLnTx/>
                <a:uFillTx/>
                <a:latin typeface="Rix모던고딕 B"/>
                <a:ea typeface="Rix모던고딕 B"/>
                <a:cs typeface="+mn-cs"/>
              </a:rPr>
              <a:t>이 </a:t>
            </a:r>
            <a:r>
              <a:rPr kumimoji="0" lang="ko-KR" altLang="en-US" sz="1100" b="0" i="0" u="none" strike="noStrike" kern="0" cap="none" spc="0" normalizeH="0" baseline="0" noProof="0" dirty="0">
                <a:ln>
                  <a:noFill/>
                </a:ln>
                <a:solidFill>
                  <a:srgbClr val="FF0000"/>
                </a:solidFill>
                <a:effectLst/>
                <a:uLnTx/>
                <a:uFillTx/>
                <a:latin typeface="Rix모던고딕 B"/>
                <a:ea typeface="Rix모던고딕 B"/>
                <a:cs typeface="+mn-cs"/>
              </a:rPr>
              <a:t>발명자가 한 발명의 구성을 일부 변경함으로써 그 기술적 구성이 발명자의 발명과 상이하게 되었더라도</a:t>
            </a:r>
            <a:r>
              <a:rPr kumimoji="0" lang="en-US" altLang="ko-KR" sz="1100" b="0" i="0" u="none" strike="noStrike" kern="0" cap="none" spc="0" normalizeH="0" baseline="0" noProof="0" dirty="0">
                <a:ln>
                  <a:noFill/>
                </a:ln>
                <a:solidFill>
                  <a:srgbClr val="FF0000"/>
                </a:solidFill>
                <a:effectLst/>
                <a:uLnTx/>
                <a:uFillTx/>
                <a:latin typeface="Rix모던고딕 B"/>
                <a:ea typeface="Rix모던고딕 B"/>
                <a:cs typeface="+mn-cs"/>
              </a:rPr>
              <a:t>, </a:t>
            </a:r>
            <a:r>
              <a:rPr kumimoji="0" lang="ko-KR" altLang="en-US" sz="1100" b="0" i="0" u="none" strike="noStrike" kern="0" cap="none" spc="0" normalizeH="0" baseline="0" noProof="0" dirty="0">
                <a:ln>
                  <a:noFill/>
                </a:ln>
                <a:solidFill>
                  <a:srgbClr val="FF0000"/>
                </a:solidFill>
                <a:effectLst/>
                <a:uLnTx/>
                <a:uFillTx/>
                <a:latin typeface="Rix모던고딕 B"/>
                <a:ea typeface="Rix모던고딕 B"/>
                <a:cs typeface="+mn-cs"/>
              </a:rPr>
              <a:t>변경이 그 기술분야에서 통상의 지식을 가진 사람이 보통으로 채용하는 정도의 기술적 구성의 </a:t>
            </a:r>
            <a:r>
              <a:rPr kumimoji="0" lang="ko-KR" altLang="en-US" sz="1100" b="0" i="0" u="none" strike="noStrike" kern="0" cap="none" spc="0" normalizeH="0" baseline="0" noProof="0" dirty="0" err="1">
                <a:ln>
                  <a:noFill/>
                </a:ln>
                <a:solidFill>
                  <a:srgbClr val="FF0000"/>
                </a:solidFill>
                <a:effectLst/>
                <a:uLnTx/>
                <a:uFillTx/>
                <a:latin typeface="Rix모던고딕 B"/>
                <a:ea typeface="Rix모던고딕 B"/>
                <a:cs typeface="+mn-cs"/>
              </a:rPr>
              <a:t>부가⋅삭제⋅변경에</a:t>
            </a:r>
            <a:r>
              <a:rPr kumimoji="0" lang="ko-KR" altLang="en-US" sz="1100" b="0" i="0" u="none" strike="noStrike" kern="0" cap="none" spc="0" normalizeH="0" baseline="0" noProof="0" dirty="0">
                <a:ln>
                  <a:noFill/>
                </a:ln>
                <a:solidFill>
                  <a:srgbClr val="FF0000"/>
                </a:solidFill>
                <a:effectLst/>
                <a:uLnTx/>
                <a:uFillTx/>
                <a:latin typeface="Rix모던고딕 B"/>
                <a:ea typeface="Rix모던고딕 B"/>
                <a:cs typeface="+mn-cs"/>
              </a:rPr>
              <a:t> 지나지 않고 그로 인하여 발명의 작용효과에 특별한 차이를 일으키지 않는 등 기술적 사상의 창작에 실질적으로 기여하지 않은 경우</a:t>
            </a:r>
            <a:r>
              <a:rPr kumimoji="0" lang="ko-KR" altLang="en-US" sz="1100" b="0" i="0" u="none" strike="noStrike" kern="0" cap="none" spc="0" normalizeH="0" baseline="0" noProof="0" dirty="0">
                <a:ln>
                  <a:noFill/>
                </a:ln>
                <a:solidFill>
                  <a:prstClr val="black"/>
                </a:solidFill>
                <a:effectLst/>
                <a:uLnTx/>
                <a:uFillTx/>
                <a:latin typeface="Rix모던고딕 B"/>
                <a:ea typeface="Rix모던고딕 B"/>
                <a:cs typeface="+mn-cs"/>
              </a:rPr>
              <a:t>에 그 특허발명은 무권리자의 특허출원에 해당하여 등록이 무효이다</a:t>
            </a:r>
            <a:r>
              <a:rPr kumimoji="0" lang="en-US" altLang="ko-KR" sz="1100" b="0" i="0" u="none" strike="noStrike" kern="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100" cap="none" spc="-100" normalizeH="0" baseline="0" noProof="0" dirty="0">
                <a:ln>
                  <a:noFill/>
                </a:ln>
                <a:solidFill>
                  <a:prstClr val="black"/>
                </a:solidFill>
                <a:effectLst/>
                <a:uLnTx/>
                <a:uFillTx/>
                <a:latin typeface="Rix모던고딕 B"/>
                <a:ea typeface="Rix모던고딕 B"/>
                <a:cs typeface="+mn-cs"/>
              </a:rPr>
              <a:t>대법원 </a:t>
            </a:r>
            <a:r>
              <a:rPr kumimoji="0" lang="en-US" altLang="ko-KR" sz="1100" b="0" i="0" u="none" strike="noStrike" kern="100" cap="none" spc="-100" normalizeH="0" baseline="0" noProof="0" dirty="0">
                <a:ln>
                  <a:noFill/>
                </a:ln>
                <a:solidFill>
                  <a:prstClr val="black"/>
                </a:solidFill>
                <a:effectLst/>
                <a:uLnTx/>
                <a:uFillTx/>
                <a:latin typeface="Rix모던고딕 B"/>
                <a:ea typeface="Rix모던고딕 B"/>
                <a:cs typeface="+mn-cs"/>
              </a:rPr>
              <a:t>2011. 9. 29. </a:t>
            </a:r>
            <a:r>
              <a:rPr kumimoji="0" lang="ko-KR" altLang="en-US" sz="1100" b="0" i="0" u="none" strike="noStrike" kern="100" cap="none" spc="-100" normalizeH="0" baseline="0" noProof="0" dirty="0">
                <a:ln>
                  <a:noFill/>
                </a:ln>
                <a:solidFill>
                  <a:prstClr val="black"/>
                </a:solidFill>
                <a:effectLst/>
                <a:uLnTx/>
                <a:uFillTx/>
                <a:latin typeface="Rix모던고딕 B"/>
                <a:ea typeface="Rix모던고딕 B"/>
                <a:cs typeface="+mn-cs"/>
              </a:rPr>
              <a:t>선고 </a:t>
            </a:r>
            <a:r>
              <a:rPr kumimoji="0" lang="en-US" altLang="ko-KR" sz="1100" b="0" i="0" u="none" strike="noStrike" kern="100" cap="none" spc="-100" normalizeH="0" baseline="0" noProof="0" dirty="0">
                <a:ln>
                  <a:noFill/>
                </a:ln>
                <a:solidFill>
                  <a:prstClr val="black"/>
                </a:solidFill>
                <a:effectLst/>
                <a:uLnTx/>
                <a:uFillTx/>
                <a:latin typeface="Rix모던고딕 B"/>
                <a:ea typeface="Rix모던고딕 B"/>
                <a:cs typeface="+mn-cs"/>
              </a:rPr>
              <a:t>2009</a:t>
            </a:r>
            <a:r>
              <a:rPr kumimoji="0" lang="ko-KR" altLang="en-US" sz="1100" b="0" i="0" u="none" strike="noStrike" kern="100" cap="none" spc="-100" normalizeH="0" baseline="0" noProof="0" dirty="0">
                <a:ln>
                  <a:noFill/>
                </a:ln>
                <a:solidFill>
                  <a:prstClr val="black"/>
                </a:solidFill>
                <a:effectLst/>
                <a:uLnTx/>
                <a:uFillTx/>
                <a:latin typeface="Rix모던고딕 B"/>
                <a:ea typeface="Rix모던고딕 B"/>
                <a:cs typeface="+mn-cs"/>
              </a:rPr>
              <a:t>후</a:t>
            </a:r>
            <a:r>
              <a:rPr kumimoji="0" lang="en-US" altLang="ko-KR" sz="1100" b="0" i="0" u="none" strike="noStrike" kern="100" cap="none" spc="-100" normalizeH="0" baseline="0" noProof="0" dirty="0">
                <a:ln>
                  <a:noFill/>
                </a:ln>
                <a:solidFill>
                  <a:prstClr val="black"/>
                </a:solidFill>
                <a:effectLst/>
                <a:uLnTx/>
                <a:uFillTx/>
                <a:latin typeface="Rix모던고딕 B"/>
                <a:ea typeface="Rix모던고딕 B"/>
                <a:cs typeface="+mn-cs"/>
              </a:rPr>
              <a:t>2463 </a:t>
            </a:r>
            <a:r>
              <a:rPr kumimoji="0" lang="ko-KR" altLang="en-US" sz="1100" b="0" i="0" u="none" strike="noStrike" kern="100" cap="none" spc="-100" normalizeH="0" baseline="0" noProof="0" dirty="0">
                <a:ln>
                  <a:noFill/>
                </a:ln>
                <a:solidFill>
                  <a:prstClr val="black"/>
                </a:solidFill>
                <a:effectLst/>
                <a:uLnTx/>
                <a:uFillTx/>
                <a:latin typeface="Rix모던고딕 B"/>
                <a:ea typeface="Rix모던고딕 B"/>
                <a:cs typeface="+mn-cs"/>
              </a:rPr>
              <a:t>판결 </a:t>
            </a:r>
            <a:r>
              <a:rPr kumimoji="0" lang="en-US" altLang="ko-KR" sz="1100" b="0" i="0" u="none" strike="noStrike" kern="100" cap="none" spc="-100" normalizeH="0" baseline="0" noProof="0" dirty="0">
                <a:ln>
                  <a:noFill/>
                </a:ln>
                <a:solidFill>
                  <a:prstClr val="black"/>
                </a:solidFill>
                <a:effectLst/>
                <a:uLnTx/>
                <a:uFillTx/>
                <a:latin typeface="Rix모던고딕 B"/>
                <a:ea typeface="Rix모던고딕 B"/>
                <a:cs typeface="+mn-cs"/>
              </a:rPr>
              <a:t>)</a:t>
            </a:r>
            <a:r>
              <a:rPr kumimoji="0" lang="en-US" altLang="ko-KR" sz="1100" b="0" i="0" u="none" strike="noStrike" kern="0" cap="none" spc="0" normalizeH="0" baseline="0" noProof="0" dirty="0">
                <a:ln>
                  <a:noFill/>
                </a:ln>
                <a:solidFill>
                  <a:prstClr val="black"/>
                </a:solidFill>
                <a:effectLst/>
                <a:uLnTx/>
                <a:uFillTx/>
                <a:latin typeface="Rix모던고딕 B"/>
                <a:ea typeface="Rix모던고딕 B"/>
                <a:cs typeface="+mn-cs"/>
              </a:rPr>
              <a:t>. </a:t>
            </a:r>
            <a:endParaRPr kumimoji="0" lang="ko-KR" altLang="en-US" sz="11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33" name="직사각형 32">
            <a:extLst>
              <a:ext uri="{FF2B5EF4-FFF2-40B4-BE49-F238E27FC236}">
                <a16:creationId xmlns:a16="http://schemas.microsoft.com/office/drawing/2014/main" id="{64605478-99C2-D9EC-5EED-7547C494350E}"/>
              </a:ext>
            </a:extLst>
          </p:cNvPr>
          <p:cNvSpPr/>
          <p:nvPr/>
        </p:nvSpPr>
        <p:spPr>
          <a:xfrm>
            <a:off x="6799606" y="3724133"/>
            <a:ext cx="347025" cy="122886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무권</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리자</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36" name="꺾인 연결선 5">
            <a:extLst>
              <a:ext uri="{FF2B5EF4-FFF2-40B4-BE49-F238E27FC236}">
                <a16:creationId xmlns:a16="http://schemas.microsoft.com/office/drawing/2014/main" id="{4F022FEA-4FB2-47B9-4552-C743B98A2AD8}"/>
              </a:ext>
            </a:extLst>
          </p:cNvPr>
          <p:cNvCxnSpPr>
            <a:cxnSpLocks/>
            <a:stCxn id="30" idx="6"/>
            <a:endCxn id="29" idx="1"/>
          </p:cNvCxnSpPr>
          <p:nvPr/>
        </p:nvCxnSpPr>
        <p:spPr>
          <a:xfrm>
            <a:off x="6653533" y="1294605"/>
            <a:ext cx="146073" cy="108229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꺾인 연결선 7">
            <a:extLst>
              <a:ext uri="{FF2B5EF4-FFF2-40B4-BE49-F238E27FC236}">
                <a16:creationId xmlns:a16="http://schemas.microsoft.com/office/drawing/2014/main" id="{251A3920-7310-1E41-C7D8-548BBDDD2028}"/>
              </a:ext>
            </a:extLst>
          </p:cNvPr>
          <p:cNvCxnSpPr>
            <a:cxnSpLocks/>
            <a:stCxn id="30" idx="6"/>
            <a:endCxn id="33" idx="1"/>
          </p:cNvCxnSpPr>
          <p:nvPr/>
        </p:nvCxnSpPr>
        <p:spPr>
          <a:xfrm>
            <a:off x="6653533" y="1294605"/>
            <a:ext cx="146073" cy="304396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말풍선: 모서리가 둥근 사각형 23">
            <a:extLst>
              <a:ext uri="{FF2B5EF4-FFF2-40B4-BE49-F238E27FC236}">
                <a16:creationId xmlns:a16="http://schemas.microsoft.com/office/drawing/2014/main" id="{366246DA-29C6-B68B-50DB-2787FAB0B31B}"/>
              </a:ext>
            </a:extLst>
          </p:cNvPr>
          <p:cNvSpPr/>
          <p:nvPr/>
        </p:nvSpPr>
        <p:spPr>
          <a:xfrm>
            <a:off x="6015674" y="5167740"/>
            <a:ext cx="3601694" cy="294667"/>
          </a:xfrm>
          <a:prstGeom prst="wedgeRoundRectCallout">
            <a:avLst>
              <a:gd name="adj1" fmla="val -15100"/>
              <a:gd name="adj2" fmla="val -181763"/>
              <a:gd name="adj3" fmla="val 16667"/>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진보성 </a:t>
            </a:r>
            <a:r>
              <a:rPr kumimoji="0" lang="en-US" altLang="ko-KR" sz="1400" b="0" i="0" u="none" strike="noStrike" kern="1200" cap="none" spc="0" normalizeH="0" baseline="0" noProof="0" dirty="0">
                <a:ln>
                  <a:noFill/>
                </a:ln>
                <a:solidFill>
                  <a:srgbClr val="ED7D31"/>
                </a:solidFill>
                <a:effectLst/>
                <a:uLnTx/>
                <a:uFillTx/>
                <a:latin typeface="Frutiger LT 65 Bold"/>
                <a:ea typeface="Rix모던고딕 B"/>
                <a:cs typeface="+mn-cs"/>
              </a:rPr>
              <a:t>× + </a:t>
            </a: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등 </a:t>
            </a:r>
            <a:r>
              <a:rPr kumimoji="0" lang="en-US" altLang="ko-KR" sz="1400" b="0" i="0" u="none" strike="noStrike" kern="1200" cap="none" spc="0" normalizeH="0" baseline="0" noProof="0" dirty="0">
                <a:ln>
                  <a:noFill/>
                </a:ln>
                <a:solidFill>
                  <a:srgbClr val="ED7D31"/>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기술적 사상의 창작 기여 </a:t>
            </a:r>
            <a:r>
              <a:rPr kumimoji="0" lang="en-US" altLang="ko-KR" sz="1400" b="0" i="0" u="none" strike="noStrike" kern="1200" cap="none" spc="0" normalizeH="0" baseline="0" noProof="0" dirty="0">
                <a:ln>
                  <a:noFill/>
                </a:ln>
                <a:solidFill>
                  <a:srgbClr val="ED7D31"/>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endParaRPr>
          </a:p>
        </p:txBody>
      </p:sp>
      <p:sp>
        <p:nvSpPr>
          <p:cNvPr id="25" name="말풍선: 모서리가 둥근 사각형 24">
            <a:extLst>
              <a:ext uri="{FF2B5EF4-FFF2-40B4-BE49-F238E27FC236}">
                <a16:creationId xmlns:a16="http://schemas.microsoft.com/office/drawing/2014/main" id="{B5228C61-D6B7-8738-A1DE-7C2173948017}"/>
              </a:ext>
            </a:extLst>
          </p:cNvPr>
          <p:cNvSpPr/>
          <p:nvPr/>
        </p:nvSpPr>
        <p:spPr>
          <a:xfrm>
            <a:off x="7432053" y="659593"/>
            <a:ext cx="3601694" cy="294667"/>
          </a:xfrm>
          <a:prstGeom prst="wedgeRoundRectCallout">
            <a:avLst>
              <a:gd name="adj1" fmla="val 10211"/>
              <a:gd name="adj2" fmla="val 502997"/>
              <a:gd name="adj3" fmla="val 16667"/>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진보성 </a:t>
            </a:r>
            <a:r>
              <a:rPr kumimoji="0" lang="en-US" altLang="ko-KR" sz="1400" b="0" i="0" u="none" strike="noStrike" kern="1200" cap="none" spc="0" normalizeH="0" baseline="0" noProof="0" dirty="0">
                <a:ln>
                  <a:noFill/>
                </a:ln>
                <a:solidFill>
                  <a:srgbClr val="ED7D31"/>
                </a:solidFill>
                <a:effectLst/>
                <a:uLnTx/>
                <a:uFillTx/>
                <a:latin typeface="Frutiger LT 65 Bold"/>
                <a:ea typeface="Rix모던고딕 B"/>
                <a:cs typeface="+mn-cs"/>
              </a:rPr>
              <a:t>× + </a:t>
            </a: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등 </a:t>
            </a:r>
            <a:r>
              <a:rPr kumimoji="0" lang="en-US" altLang="ko-KR" sz="1400" b="0" i="0" u="none" strike="noStrike" kern="1200" cap="none" spc="0" normalizeH="0" baseline="0" noProof="0" dirty="0">
                <a:ln>
                  <a:noFill/>
                </a:ln>
                <a:solidFill>
                  <a:srgbClr val="ED7D31"/>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공중 오인 </a:t>
            </a:r>
            <a:r>
              <a:rPr kumimoji="0" lang="en-US" altLang="ko-KR" sz="1400" b="0" i="0" u="none" strike="noStrike" kern="1200" cap="none" spc="0" normalizeH="0" baseline="0" noProof="0" dirty="0">
                <a:ln>
                  <a:noFill/>
                </a:ln>
                <a:solidFill>
                  <a:srgbClr val="ED7D31"/>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endParaRPr>
          </a:p>
        </p:txBody>
      </p:sp>
      <p:sp>
        <p:nvSpPr>
          <p:cNvPr id="26" name="말풍선: 모서리가 둥근 사각형 25">
            <a:extLst>
              <a:ext uri="{FF2B5EF4-FFF2-40B4-BE49-F238E27FC236}">
                <a16:creationId xmlns:a16="http://schemas.microsoft.com/office/drawing/2014/main" id="{405A4B8A-738D-D385-F192-1EE73E25BC1E}"/>
              </a:ext>
            </a:extLst>
          </p:cNvPr>
          <p:cNvSpPr/>
          <p:nvPr/>
        </p:nvSpPr>
        <p:spPr>
          <a:xfrm>
            <a:off x="981529" y="4014138"/>
            <a:ext cx="4907558" cy="288386"/>
          </a:xfrm>
          <a:prstGeom prst="wedgeRoundRectCallout">
            <a:avLst>
              <a:gd name="adj1" fmla="val -15100"/>
              <a:gd name="adj2" fmla="val -181763"/>
              <a:gd name="adj3" fmla="val 16667"/>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실질적 동일성 중 구성이 변경된 경우</a:t>
            </a:r>
            <a:r>
              <a:rPr kumimoji="0" lang="en-US" altLang="ko-KR" sz="1400" b="0" i="0" u="none" strike="noStrike" kern="1200" cap="none" spc="0" normalizeH="0" baseline="0" noProof="0" dirty="0">
                <a:ln>
                  <a:noFill/>
                </a:ln>
                <a:solidFill>
                  <a:srgbClr val="ED7D31"/>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진보성 판단에 준하여 판단</a:t>
            </a:r>
          </a:p>
        </p:txBody>
      </p:sp>
      <p:sp>
        <p:nvSpPr>
          <p:cNvPr id="27" name="말풍선: 모서리가 둥근 사각형 26">
            <a:extLst>
              <a:ext uri="{FF2B5EF4-FFF2-40B4-BE49-F238E27FC236}">
                <a16:creationId xmlns:a16="http://schemas.microsoft.com/office/drawing/2014/main" id="{0DDB1A28-8AA8-3B53-4067-AB1C048A887D}"/>
              </a:ext>
            </a:extLst>
          </p:cNvPr>
          <p:cNvSpPr/>
          <p:nvPr/>
        </p:nvSpPr>
        <p:spPr>
          <a:xfrm>
            <a:off x="3917409" y="672846"/>
            <a:ext cx="2736124" cy="294667"/>
          </a:xfrm>
          <a:prstGeom prst="wedgeRoundRectCallout">
            <a:avLst>
              <a:gd name="adj1" fmla="val -42921"/>
              <a:gd name="adj2" fmla="val 148051"/>
              <a:gd name="adj3" fmla="val 16667"/>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srgbClr val="ED7D31"/>
                </a:solidFill>
                <a:effectLst/>
                <a:uLnTx/>
                <a:uFillTx/>
                <a:latin typeface="Frutiger LT 65 Bold"/>
                <a:ea typeface="Rix모던고딕 B"/>
                <a:cs typeface="+mn-cs"/>
              </a:rPr>
              <a:t>실질적 동일성 중 범주가 다른 경우</a:t>
            </a:r>
            <a:endPar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endParaRPr>
          </a:p>
        </p:txBody>
      </p:sp>
    </p:spTree>
    <p:extLst>
      <p:ext uri="{BB962C8B-B14F-4D97-AF65-F5344CB8AC3E}">
        <p14:creationId xmlns:p14="http://schemas.microsoft.com/office/powerpoint/2010/main" val="362741180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p:cNvSpPr>
            <a:spLocks noGrp="1"/>
          </p:cNvSpPr>
          <p:nvPr>
            <p:ph type="body" sz="quarter" idx="13"/>
          </p:nvPr>
        </p:nvSpPr>
        <p:spPr/>
        <p:txBody>
          <a:bodyPr/>
          <a:lstStyle/>
          <a:p>
            <a:r>
              <a:rPr lang="ko-KR" altLang="en-US" dirty="0"/>
              <a:t>동일성의</a:t>
            </a:r>
            <a:r>
              <a:rPr lang="en-US" altLang="ko-KR" dirty="0"/>
              <a:t> </a:t>
            </a:r>
            <a:r>
              <a:rPr lang="ko-KR" altLang="en-US" dirty="0"/>
              <a:t>유형</a:t>
            </a:r>
          </a:p>
        </p:txBody>
      </p:sp>
      <p:sp>
        <p:nvSpPr>
          <p:cNvPr id="5" name="슬라이드 번호 개체 틀 4"/>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64</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graphicFrame>
        <p:nvGraphicFramePr>
          <p:cNvPr id="2" name="표 1">
            <a:extLst>
              <a:ext uri="{FF2B5EF4-FFF2-40B4-BE49-F238E27FC236}">
                <a16:creationId xmlns:a16="http://schemas.microsoft.com/office/drawing/2014/main" id="{393C3125-9274-4CEB-BCF6-72027120C5D3}"/>
              </a:ext>
            </a:extLst>
          </p:cNvPr>
          <p:cNvGraphicFramePr>
            <a:graphicFrameLocks noGrp="1"/>
          </p:cNvGraphicFramePr>
          <p:nvPr/>
        </p:nvGraphicFramePr>
        <p:xfrm>
          <a:off x="311276" y="1020240"/>
          <a:ext cx="11588624" cy="4805790"/>
        </p:xfrm>
        <a:graphic>
          <a:graphicData uri="http://schemas.openxmlformats.org/drawingml/2006/table">
            <a:tbl>
              <a:tblPr/>
              <a:tblGrid>
                <a:gridCol w="704724">
                  <a:extLst>
                    <a:ext uri="{9D8B030D-6E8A-4147-A177-3AD203B41FA5}">
                      <a16:colId xmlns:a16="http://schemas.microsoft.com/office/drawing/2014/main" val="3155735300"/>
                    </a:ext>
                  </a:extLst>
                </a:gridCol>
                <a:gridCol w="584200">
                  <a:extLst>
                    <a:ext uri="{9D8B030D-6E8A-4147-A177-3AD203B41FA5}">
                      <a16:colId xmlns:a16="http://schemas.microsoft.com/office/drawing/2014/main" val="153185332"/>
                    </a:ext>
                  </a:extLst>
                </a:gridCol>
                <a:gridCol w="558800">
                  <a:extLst>
                    <a:ext uri="{9D8B030D-6E8A-4147-A177-3AD203B41FA5}">
                      <a16:colId xmlns:a16="http://schemas.microsoft.com/office/drawing/2014/main" val="2116165727"/>
                    </a:ext>
                  </a:extLst>
                </a:gridCol>
                <a:gridCol w="2311400">
                  <a:extLst>
                    <a:ext uri="{9D8B030D-6E8A-4147-A177-3AD203B41FA5}">
                      <a16:colId xmlns:a16="http://schemas.microsoft.com/office/drawing/2014/main" val="490334408"/>
                    </a:ext>
                  </a:extLst>
                </a:gridCol>
                <a:gridCol w="2489200">
                  <a:extLst>
                    <a:ext uri="{9D8B030D-6E8A-4147-A177-3AD203B41FA5}">
                      <a16:colId xmlns:a16="http://schemas.microsoft.com/office/drawing/2014/main" val="2726362088"/>
                    </a:ext>
                  </a:extLst>
                </a:gridCol>
                <a:gridCol w="2959100">
                  <a:extLst>
                    <a:ext uri="{9D8B030D-6E8A-4147-A177-3AD203B41FA5}">
                      <a16:colId xmlns:a16="http://schemas.microsoft.com/office/drawing/2014/main" val="1629682187"/>
                    </a:ext>
                  </a:extLst>
                </a:gridCol>
                <a:gridCol w="1981200">
                  <a:extLst>
                    <a:ext uri="{9D8B030D-6E8A-4147-A177-3AD203B41FA5}">
                      <a16:colId xmlns:a16="http://schemas.microsoft.com/office/drawing/2014/main" val="1463305122"/>
                    </a:ext>
                  </a:extLst>
                </a:gridCol>
              </a:tblGrid>
              <a:tr h="480579">
                <a:tc gridSpan="3">
                  <a:txBody>
                    <a:bodyPr/>
                    <a:lstStyle/>
                    <a:p>
                      <a:pPr marL="0" marR="0" indent="0" algn="ctr" fontAlgn="base" latinLnBrk="0">
                        <a:lnSpc>
                          <a:spcPct val="100000"/>
                        </a:lnSpc>
                        <a:spcBef>
                          <a:spcPts val="0"/>
                        </a:spcBef>
                        <a:spcAft>
                          <a:spcPts val="0"/>
                        </a:spcAft>
                      </a:pPr>
                      <a:r>
                        <a:rPr lang="ko-KR" altLang="en-US" sz="1200" b="1" kern="0" spc="-60" dirty="0">
                          <a:solidFill>
                            <a:srgbClr val="000000"/>
                          </a:solidFill>
                          <a:effectLst/>
                          <a:latin typeface="+mn-ea"/>
                          <a:ea typeface="+mn-ea"/>
                        </a:rPr>
                        <a:t>구분</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b="1" kern="0" spc="-60" dirty="0">
                          <a:solidFill>
                            <a:srgbClr val="000000"/>
                          </a:solidFill>
                          <a:effectLst/>
                          <a:latin typeface="+mn-ea"/>
                          <a:ea typeface="+mn-ea"/>
                        </a:rPr>
                        <a:t>인용대상</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b="1" kern="0" spc="-60">
                          <a:solidFill>
                            <a:srgbClr val="000000"/>
                          </a:solidFill>
                          <a:effectLst/>
                          <a:latin typeface="+mn-ea"/>
                          <a:ea typeface="+mn-ea"/>
                        </a:rPr>
                        <a:t>본원발명</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b="1" kern="0" spc="-60" dirty="0">
                          <a:solidFill>
                            <a:srgbClr val="000000"/>
                          </a:solidFill>
                          <a:effectLst/>
                          <a:latin typeface="+mn-ea"/>
                          <a:ea typeface="+mn-ea"/>
                        </a:rPr>
                        <a:t>동일성 인정여부</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b="1" kern="0" spc="-60" dirty="0">
                          <a:solidFill>
                            <a:srgbClr val="000000"/>
                          </a:solidFill>
                          <a:effectLst/>
                          <a:latin typeface="+mn-ea"/>
                          <a:ea typeface="+mn-ea"/>
                        </a:rPr>
                        <a:t>비고</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4036302035"/>
                  </a:ext>
                </a:extLst>
              </a:tr>
              <a:tr h="480579">
                <a:tc gridSpan="3">
                  <a:txBody>
                    <a:bodyPr/>
                    <a:lstStyle/>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문언적 동일</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en-US" sz="1200" kern="0" spc="-60">
                          <a:solidFill>
                            <a:srgbClr val="000000"/>
                          </a:solidFill>
                          <a:effectLst/>
                          <a:latin typeface="+mn-ea"/>
                          <a:ea typeface="+mn-ea"/>
                        </a:rPr>
                        <a:t>a+b(</a:t>
                      </a:r>
                      <a:r>
                        <a:rPr lang="ko-KR" altLang="en-US" sz="1200" kern="0" spc="-60">
                          <a:solidFill>
                            <a:srgbClr val="000000"/>
                          </a:solidFill>
                          <a:effectLst/>
                          <a:latin typeface="+mn-ea"/>
                          <a:ea typeface="+mn-ea"/>
                        </a:rPr>
                        <a:t>직접 기재</a:t>
                      </a:r>
                      <a:r>
                        <a:rPr lang="en-US" altLang="ko-KR" sz="1200" kern="0" spc="-60">
                          <a:solidFill>
                            <a:srgbClr val="000000"/>
                          </a:solidFill>
                          <a:effectLst/>
                          <a:latin typeface="+mn-ea"/>
                          <a:ea typeface="+mn-ea"/>
                        </a:rPr>
                        <a:t>)</a:t>
                      </a:r>
                      <a:endParaRPr lang="ko-KR" altLang="en-US" sz="1200" kern="0" spc="-6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en-US" sz="1200" kern="0" spc="-60">
                          <a:solidFill>
                            <a:srgbClr val="000000"/>
                          </a:solidFill>
                          <a:effectLst/>
                          <a:latin typeface="+mn-ea"/>
                          <a:ea typeface="+mn-ea"/>
                        </a:rPr>
                        <a:t>a+b</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ko-KR" altLang="en-US" sz="1200" kern="0" spc="-60" dirty="0">
                          <a:solidFill>
                            <a:srgbClr val="000000"/>
                          </a:solidFill>
                          <a:effectLst/>
                          <a:latin typeface="+mn-ea"/>
                          <a:ea typeface="+mn-ea"/>
                        </a:rPr>
                        <a:t>인정</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endParaRPr lang="ko-KR" altLang="en-US" sz="1200" kern="0" spc="-6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14425306"/>
                  </a:ext>
                </a:extLst>
              </a:tr>
              <a:tr h="480579">
                <a:tc gridSpan="3">
                  <a:txBody>
                    <a:bodyPr/>
                    <a:lstStyle/>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내재적 동일성</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en-US" altLang="ko-KR" sz="1200" kern="0" spc="-60" dirty="0" err="1">
                          <a:solidFill>
                            <a:srgbClr val="000000"/>
                          </a:solidFill>
                          <a:effectLst/>
                          <a:latin typeface="+mn-ea"/>
                          <a:ea typeface="+mn-ea"/>
                        </a:rPr>
                        <a:t>a+b</a:t>
                      </a:r>
                      <a:r>
                        <a:rPr lang="en-US" altLang="ko-KR" sz="1200" kern="0" spc="-60" dirty="0">
                          <a:solidFill>
                            <a:srgbClr val="000000"/>
                          </a:solidFill>
                          <a:effectLst/>
                          <a:latin typeface="+mn-ea"/>
                          <a:ea typeface="+mn-ea"/>
                        </a:rPr>
                        <a:t>(</a:t>
                      </a:r>
                      <a:r>
                        <a:rPr lang="ko-KR" altLang="en-US" sz="1200" kern="0" spc="-60" dirty="0">
                          <a:solidFill>
                            <a:srgbClr val="000000"/>
                          </a:solidFill>
                          <a:effectLst/>
                          <a:latin typeface="+mn-ea"/>
                          <a:ea typeface="+mn-ea"/>
                        </a:rPr>
                        <a:t>직접 기재와 마찬가지</a:t>
                      </a:r>
                      <a:r>
                        <a:rPr lang="en-US" altLang="ko-KR" sz="1200" kern="0" spc="-60" dirty="0">
                          <a:solidFill>
                            <a:srgbClr val="000000"/>
                          </a:solidFill>
                          <a:effectLst/>
                          <a:latin typeface="+mn-ea"/>
                          <a:ea typeface="+mn-ea"/>
                        </a:rPr>
                        <a:t>)</a:t>
                      </a:r>
                      <a:endParaRPr lang="ko-KR" altLang="en-US" sz="1200" kern="0" spc="-60" dirty="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en-US" sz="1200" kern="0" spc="-60">
                          <a:solidFill>
                            <a:srgbClr val="000000"/>
                          </a:solidFill>
                          <a:effectLst/>
                          <a:latin typeface="+mn-ea"/>
                          <a:ea typeface="+mn-ea"/>
                        </a:rPr>
                        <a:t>a+b</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ko-KR" altLang="en-US" sz="1200" kern="0" spc="-60" dirty="0">
                          <a:solidFill>
                            <a:srgbClr val="000000"/>
                          </a:solidFill>
                          <a:effectLst/>
                          <a:latin typeface="+mn-ea"/>
                          <a:ea typeface="+mn-ea"/>
                        </a:rPr>
                        <a:t>인정</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endParaRPr lang="ko-KR" altLang="en-US" sz="1200" kern="0" spc="-6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00395561"/>
                  </a:ext>
                </a:extLst>
              </a:tr>
              <a:tr h="480579">
                <a:tc rowSpan="7">
                  <a:txBody>
                    <a:bodyPr/>
                    <a:lstStyle/>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실질적 </a:t>
                      </a:r>
                    </a:p>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동일성</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rowSpan="2" gridSpan="2">
                  <a:txBody>
                    <a:bodyPr/>
                    <a:lstStyle/>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범주</a:t>
                      </a:r>
                    </a:p>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상이</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rowSpan="2"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물건발명</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제법발명</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ko-KR" altLang="en-US" sz="1200" kern="0" spc="-60" dirty="0">
                          <a:solidFill>
                            <a:srgbClr val="000000"/>
                          </a:solidFill>
                          <a:effectLst/>
                          <a:latin typeface="+mn-ea"/>
                          <a:ea typeface="+mn-ea"/>
                        </a:rPr>
                        <a:t>일반적 불인정</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chemeClr val="accent4">
                        <a:lumMod val="60000"/>
                        <a:lumOff val="40000"/>
                      </a:schemeClr>
                    </a:solidFill>
                  </a:tcPr>
                </a:tc>
                <a:tc>
                  <a:txBody>
                    <a:bodyPr/>
                    <a:lstStyle/>
                    <a:p>
                      <a:pPr marL="0" marR="0" indent="0" algn="ctr" fontAlgn="base" latinLnBrk="0">
                        <a:lnSpc>
                          <a:spcPct val="100000"/>
                        </a:lnSpc>
                        <a:spcBef>
                          <a:spcPts val="0"/>
                        </a:spcBef>
                        <a:spcAft>
                          <a:spcPts val="0"/>
                        </a:spcAft>
                      </a:pPr>
                      <a:endParaRPr lang="ko-KR" altLang="en-US" sz="1200" kern="0" spc="-6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78945453"/>
                  </a:ext>
                </a:extLst>
              </a:tr>
              <a:tr h="480579">
                <a:tc vMerge="1">
                  <a:txBody>
                    <a:bodyPr/>
                    <a:lstStyle/>
                    <a:p>
                      <a:pPr latinLnBrk="1"/>
                      <a:endParaRPr lang="ko-KR" altLang="en-US"/>
                    </a:p>
                  </a:txBody>
                  <a:tcPr/>
                </a:tc>
                <a:tc gridSpan="2" vMerge="1">
                  <a:txBody>
                    <a:bodyPr/>
                    <a:lstStyle/>
                    <a:p>
                      <a:pPr latinLnBrk="1"/>
                      <a:endParaRPr lang="ko-KR" altLang="en-US"/>
                    </a:p>
                  </a:txBody>
                  <a:tcPr/>
                </a:tc>
                <a:tc hMerge="1"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제법발명</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물건발명</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ko-KR" altLang="en-US" sz="1200" kern="0" spc="-60" dirty="0">
                          <a:solidFill>
                            <a:srgbClr val="000000"/>
                          </a:solidFill>
                          <a:effectLst/>
                          <a:latin typeface="+mn-ea"/>
                          <a:ea typeface="+mn-ea"/>
                        </a:rPr>
                        <a:t>일반적 인정</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endParaRPr lang="ko-KR" altLang="en-US" sz="1200" kern="0" spc="-6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86098350"/>
                  </a:ext>
                </a:extLst>
              </a:tr>
              <a:tr h="480579">
                <a:tc vMerge="1">
                  <a:txBody>
                    <a:bodyPr/>
                    <a:lstStyle/>
                    <a:p>
                      <a:pPr latinLnBrk="1"/>
                      <a:endParaRPr lang="ko-KR" altLang="en-US"/>
                    </a:p>
                  </a:txBody>
                  <a:tcPr/>
                </a:tc>
                <a:tc rowSpan="4">
                  <a:txBody>
                    <a:bodyPr/>
                    <a:lstStyle/>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범위</a:t>
                      </a:r>
                    </a:p>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상이</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rowSpan="2">
                  <a:txBody>
                    <a:bodyPr/>
                    <a:lstStyle/>
                    <a:p>
                      <a:pPr marL="0" marR="0" indent="0" algn="ctr" fontAlgn="base" latinLnBrk="0">
                        <a:lnSpc>
                          <a:spcPct val="100000"/>
                        </a:lnSpc>
                        <a:spcBef>
                          <a:spcPts val="0"/>
                        </a:spcBef>
                        <a:spcAft>
                          <a:spcPts val="0"/>
                        </a:spcAft>
                      </a:pPr>
                      <a:r>
                        <a:rPr lang="ko-KR" altLang="en-US" sz="1200" kern="0" spc="-60" dirty="0">
                          <a:solidFill>
                            <a:srgbClr val="000000"/>
                          </a:solidFill>
                          <a:effectLst/>
                          <a:latin typeface="+mn-ea"/>
                          <a:ea typeface="+mn-ea"/>
                        </a:rPr>
                        <a:t>부가</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en-US" sz="1200" kern="0" spc="-60">
                          <a:solidFill>
                            <a:srgbClr val="000000"/>
                          </a:solidFill>
                          <a:effectLst/>
                          <a:latin typeface="+mn-ea"/>
                          <a:ea typeface="+mn-ea"/>
                        </a:rPr>
                        <a:t>a+b</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en-US" sz="1200" kern="0" spc="-60">
                          <a:solidFill>
                            <a:srgbClr val="000000"/>
                          </a:solidFill>
                          <a:effectLst/>
                          <a:latin typeface="+mn-ea"/>
                          <a:ea typeface="+mn-ea"/>
                        </a:rPr>
                        <a:t>a+b+c</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ko-KR" altLang="en-US" sz="1200" kern="0" spc="-60" dirty="0">
                          <a:solidFill>
                            <a:srgbClr val="000000"/>
                          </a:solidFill>
                          <a:effectLst/>
                          <a:latin typeface="+mn-ea"/>
                          <a:ea typeface="+mn-ea"/>
                        </a:rPr>
                        <a:t>일반적 불인정</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chemeClr val="accent4">
                        <a:lumMod val="60000"/>
                        <a:lumOff val="40000"/>
                      </a:schemeClr>
                    </a:solidFill>
                  </a:tcPr>
                </a:tc>
                <a:tc>
                  <a:txBody>
                    <a:bodyPr/>
                    <a:lstStyle/>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결합발명</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76215270"/>
                  </a:ext>
                </a:extLst>
              </a:tr>
              <a:tr h="480579">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en-US" sz="1200" kern="0" spc="-60" dirty="0" err="1">
                          <a:solidFill>
                            <a:srgbClr val="000000"/>
                          </a:solidFill>
                          <a:effectLst/>
                          <a:latin typeface="+mn-ea"/>
                          <a:ea typeface="+mn-ea"/>
                        </a:rPr>
                        <a:t>a+b+c</a:t>
                      </a:r>
                      <a:endParaRPr lang="en-US" sz="1200" kern="0" spc="-60" dirty="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en-US" sz="1200" kern="0" spc="-60">
                          <a:solidFill>
                            <a:srgbClr val="000000"/>
                          </a:solidFill>
                          <a:effectLst/>
                          <a:latin typeface="+mn-ea"/>
                          <a:ea typeface="+mn-ea"/>
                        </a:rPr>
                        <a:t>a+b</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ko-KR" altLang="en-US" sz="1200" kern="0" spc="-60" dirty="0">
                          <a:solidFill>
                            <a:srgbClr val="000000"/>
                          </a:solidFill>
                          <a:effectLst/>
                          <a:latin typeface="+mn-ea"/>
                          <a:ea typeface="+mn-ea"/>
                        </a:rPr>
                        <a:t>일반적 인정</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endParaRPr lang="ko-KR" altLang="en-US" sz="1200" kern="0" spc="-6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29506727"/>
                  </a:ext>
                </a:extLst>
              </a:tr>
              <a:tr h="480579">
                <a:tc vMerge="1">
                  <a:txBody>
                    <a:bodyPr/>
                    <a:lstStyle/>
                    <a:p>
                      <a:pPr latinLnBrk="1"/>
                      <a:endParaRPr lang="ko-KR" altLang="en-US"/>
                    </a:p>
                  </a:txBody>
                  <a:tcPr/>
                </a:tc>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한정</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en-US" altLang="ko-KR" sz="1200" kern="0" spc="-60" dirty="0" err="1">
                          <a:solidFill>
                            <a:srgbClr val="000000"/>
                          </a:solidFill>
                          <a:effectLst/>
                          <a:latin typeface="+mn-ea"/>
                          <a:ea typeface="+mn-ea"/>
                        </a:rPr>
                        <a:t>A+b</a:t>
                      </a:r>
                      <a:endParaRPr lang="ko-KR" altLang="en-US" sz="1200" kern="0" spc="-60" dirty="0">
                        <a:solidFill>
                          <a:srgbClr val="000000"/>
                        </a:solidFill>
                        <a:effectLst/>
                        <a:latin typeface="+mn-ea"/>
                        <a:ea typeface="+mn-ea"/>
                      </a:endParaRPr>
                    </a:p>
                    <a:p>
                      <a:pPr marL="0" marR="0" indent="0" algn="ctr" fontAlgn="base" latinLnBrk="0">
                        <a:lnSpc>
                          <a:spcPct val="100000"/>
                        </a:lnSpc>
                        <a:spcBef>
                          <a:spcPts val="0"/>
                        </a:spcBef>
                        <a:spcAft>
                          <a:spcPts val="0"/>
                        </a:spcAft>
                      </a:pPr>
                      <a:r>
                        <a:rPr lang="en-US" altLang="ko-KR" sz="1200" kern="0" spc="-60" dirty="0">
                          <a:solidFill>
                            <a:srgbClr val="000000"/>
                          </a:solidFill>
                          <a:effectLst/>
                          <a:latin typeface="+mn-ea"/>
                          <a:ea typeface="+mn-ea"/>
                        </a:rPr>
                        <a:t>(A</a:t>
                      </a:r>
                      <a:r>
                        <a:rPr lang="ko-KR" altLang="en-US" sz="1200" kern="0" spc="-60" dirty="0">
                          <a:solidFill>
                            <a:srgbClr val="000000"/>
                          </a:solidFill>
                          <a:effectLst/>
                          <a:latin typeface="+mn-ea"/>
                          <a:ea typeface="+mn-ea"/>
                        </a:rPr>
                        <a:t>는 </a:t>
                      </a:r>
                      <a:r>
                        <a:rPr lang="en-US" altLang="ko-KR" sz="1200" kern="0" spc="-60" dirty="0">
                          <a:solidFill>
                            <a:srgbClr val="000000"/>
                          </a:solidFill>
                          <a:effectLst/>
                          <a:latin typeface="+mn-ea"/>
                          <a:ea typeface="+mn-ea"/>
                        </a:rPr>
                        <a:t>a</a:t>
                      </a:r>
                      <a:r>
                        <a:rPr lang="ko-KR" altLang="en-US" sz="1200" kern="0" spc="-60" dirty="0">
                          <a:solidFill>
                            <a:srgbClr val="000000"/>
                          </a:solidFill>
                          <a:effectLst/>
                          <a:latin typeface="+mn-ea"/>
                          <a:ea typeface="+mn-ea"/>
                        </a:rPr>
                        <a:t>의 상위개념</a:t>
                      </a:r>
                      <a:r>
                        <a:rPr lang="en-US" altLang="ko-KR" sz="1200" kern="0" spc="-60" dirty="0">
                          <a:solidFill>
                            <a:srgbClr val="000000"/>
                          </a:solidFill>
                          <a:effectLst/>
                          <a:latin typeface="+mn-ea"/>
                          <a:ea typeface="+mn-ea"/>
                        </a:rPr>
                        <a:t>)</a:t>
                      </a:r>
                      <a:endParaRPr lang="ko-KR" altLang="en-US" sz="1200" kern="0" spc="-60" dirty="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en-US" sz="1200" kern="0" spc="-60">
                          <a:solidFill>
                            <a:srgbClr val="000000"/>
                          </a:solidFill>
                          <a:effectLst/>
                          <a:latin typeface="+mn-ea"/>
                          <a:ea typeface="+mn-ea"/>
                        </a:rPr>
                        <a:t>a+b</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ko-KR" altLang="en-US" sz="1200" kern="0" spc="-60" dirty="0">
                          <a:solidFill>
                            <a:srgbClr val="000000"/>
                          </a:solidFill>
                          <a:effectLst/>
                          <a:latin typeface="+mn-ea"/>
                          <a:ea typeface="+mn-ea"/>
                        </a:rPr>
                        <a:t>일반적 불인정</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chemeClr val="accent4">
                        <a:lumMod val="60000"/>
                        <a:lumOff val="40000"/>
                      </a:schemeClr>
                    </a:solidFill>
                  </a:tcPr>
                </a:tc>
                <a:tc>
                  <a:txBody>
                    <a:bodyPr/>
                    <a:lstStyle/>
                    <a:p>
                      <a:pPr marL="0" marR="0" indent="0" algn="ctr" fontAlgn="base" latinLnBrk="0">
                        <a:lnSpc>
                          <a:spcPct val="100000"/>
                        </a:lnSpc>
                        <a:spcBef>
                          <a:spcPts val="0"/>
                        </a:spcBef>
                        <a:spcAft>
                          <a:spcPts val="0"/>
                        </a:spcAft>
                      </a:pPr>
                      <a:r>
                        <a:rPr lang="ko-KR" altLang="en-US" sz="1200" kern="0" spc="-60" dirty="0">
                          <a:solidFill>
                            <a:srgbClr val="000000"/>
                          </a:solidFill>
                          <a:effectLst/>
                          <a:latin typeface="+mn-ea"/>
                          <a:ea typeface="+mn-ea"/>
                        </a:rPr>
                        <a:t>선택발명</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43595802"/>
                  </a:ext>
                </a:extLst>
              </a:tr>
              <a:tr h="480579">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en-US" sz="1200" kern="0" spc="-60">
                          <a:solidFill>
                            <a:srgbClr val="000000"/>
                          </a:solidFill>
                          <a:effectLst/>
                          <a:latin typeface="+mn-ea"/>
                          <a:ea typeface="+mn-ea"/>
                        </a:rPr>
                        <a:t>a+b</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en-US" altLang="ko-KR" sz="1200" kern="0" spc="-60">
                          <a:solidFill>
                            <a:srgbClr val="000000"/>
                          </a:solidFill>
                          <a:effectLst/>
                          <a:latin typeface="+mn-ea"/>
                          <a:ea typeface="+mn-ea"/>
                        </a:rPr>
                        <a:t>A+b</a:t>
                      </a:r>
                      <a:endParaRPr lang="ko-KR" altLang="en-US" sz="1200" kern="0" spc="-60">
                        <a:solidFill>
                          <a:srgbClr val="000000"/>
                        </a:solidFill>
                        <a:effectLst/>
                        <a:latin typeface="+mn-ea"/>
                        <a:ea typeface="+mn-ea"/>
                      </a:endParaRPr>
                    </a:p>
                    <a:p>
                      <a:pPr marL="0" marR="0" indent="0" algn="ctr" fontAlgn="base" latinLnBrk="0">
                        <a:lnSpc>
                          <a:spcPct val="100000"/>
                        </a:lnSpc>
                        <a:spcBef>
                          <a:spcPts val="0"/>
                        </a:spcBef>
                        <a:spcAft>
                          <a:spcPts val="0"/>
                        </a:spcAft>
                      </a:pPr>
                      <a:r>
                        <a:rPr lang="en-US" altLang="ko-KR" sz="1200" kern="0" spc="-60">
                          <a:solidFill>
                            <a:srgbClr val="000000"/>
                          </a:solidFill>
                          <a:effectLst/>
                          <a:latin typeface="+mn-ea"/>
                          <a:ea typeface="+mn-ea"/>
                        </a:rPr>
                        <a:t>(A</a:t>
                      </a:r>
                      <a:r>
                        <a:rPr lang="ko-KR" altLang="en-US" sz="1200" kern="0" spc="-60">
                          <a:solidFill>
                            <a:srgbClr val="000000"/>
                          </a:solidFill>
                          <a:effectLst/>
                          <a:latin typeface="+mn-ea"/>
                          <a:ea typeface="+mn-ea"/>
                        </a:rPr>
                        <a:t>는 </a:t>
                      </a:r>
                      <a:r>
                        <a:rPr lang="en-US" altLang="ko-KR" sz="1200" kern="0" spc="-60">
                          <a:solidFill>
                            <a:srgbClr val="000000"/>
                          </a:solidFill>
                          <a:effectLst/>
                          <a:latin typeface="+mn-ea"/>
                          <a:ea typeface="+mn-ea"/>
                        </a:rPr>
                        <a:t>a</a:t>
                      </a:r>
                      <a:r>
                        <a:rPr lang="ko-KR" altLang="en-US" sz="1200" kern="0" spc="-60">
                          <a:solidFill>
                            <a:srgbClr val="000000"/>
                          </a:solidFill>
                          <a:effectLst/>
                          <a:latin typeface="+mn-ea"/>
                          <a:ea typeface="+mn-ea"/>
                        </a:rPr>
                        <a:t>의 상위개념</a:t>
                      </a:r>
                      <a:r>
                        <a:rPr lang="en-US" altLang="ko-KR" sz="1200" kern="0" spc="-60">
                          <a:solidFill>
                            <a:srgbClr val="000000"/>
                          </a:solidFill>
                          <a:effectLst/>
                          <a:latin typeface="+mn-ea"/>
                          <a:ea typeface="+mn-ea"/>
                        </a:rPr>
                        <a:t>)</a:t>
                      </a:r>
                      <a:endParaRPr lang="ko-KR" altLang="en-US" sz="1200" kern="0" spc="-6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ko-KR" altLang="en-US" sz="1200" kern="0" spc="-60" dirty="0">
                          <a:solidFill>
                            <a:srgbClr val="000000"/>
                          </a:solidFill>
                          <a:effectLst/>
                          <a:latin typeface="+mn-ea"/>
                          <a:ea typeface="+mn-ea"/>
                        </a:rPr>
                        <a:t>일반적 인정</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endParaRPr lang="ko-KR" altLang="en-US" sz="1200" kern="0" spc="-6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2628130"/>
                  </a:ext>
                </a:extLst>
              </a:tr>
              <a:tr h="480579">
                <a:tc v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구성</a:t>
                      </a:r>
                    </a:p>
                    <a:p>
                      <a:pPr marL="0" marR="0" indent="0" algn="ctr" fontAlgn="base" latinLnBrk="0">
                        <a:lnSpc>
                          <a:spcPct val="100000"/>
                        </a:lnSpc>
                        <a:spcBef>
                          <a:spcPts val="0"/>
                        </a:spcBef>
                        <a:spcAft>
                          <a:spcPts val="0"/>
                        </a:spcAft>
                      </a:pPr>
                      <a:r>
                        <a:rPr lang="ko-KR" altLang="en-US" sz="1200" kern="0" spc="-60">
                          <a:solidFill>
                            <a:srgbClr val="000000"/>
                          </a:solidFill>
                          <a:effectLst/>
                          <a:latin typeface="+mn-ea"/>
                          <a:ea typeface="+mn-ea"/>
                        </a:rPr>
                        <a:t>변경</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en-US" sz="1200" kern="0" spc="-60" dirty="0">
                          <a:solidFill>
                            <a:srgbClr val="000000"/>
                          </a:solidFill>
                          <a:effectLst/>
                          <a:latin typeface="+mn-ea"/>
                          <a:ea typeface="+mn-ea"/>
                        </a:rPr>
                        <a:t>a+b1</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en-US" sz="1200" kern="0" spc="-60">
                          <a:solidFill>
                            <a:srgbClr val="000000"/>
                          </a:solidFill>
                          <a:effectLst/>
                          <a:latin typeface="+mn-ea"/>
                          <a:ea typeface="+mn-ea"/>
                        </a:rPr>
                        <a:t>a+b</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0" marR="0" indent="0" algn="ctr" fontAlgn="base" latinLnBrk="0">
                        <a:lnSpc>
                          <a:spcPct val="100000"/>
                        </a:lnSpc>
                        <a:spcBef>
                          <a:spcPts val="0"/>
                        </a:spcBef>
                        <a:spcAft>
                          <a:spcPts val="0"/>
                        </a:spcAft>
                      </a:pPr>
                      <a:r>
                        <a:rPr lang="ko-KR" altLang="en-US" sz="1200" kern="0" spc="-60" dirty="0">
                          <a:solidFill>
                            <a:srgbClr val="000000"/>
                          </a:solidFill>
                          <a:effectLst/>
                          <a:latin typeface="+mn-ea"/>
                          <a:ea typeface="+mn-ea"/>
                        </a:rPr>
                        <a:t>일반적 불인정</a:t>
                      </a:r>
                      <a:r>
                        <a:rPr lang="en-US" altLang="ko-KR" sz="1200" kern="0" spc="-60">
                          <a:solidFill>
                            <a:srgbClr val="000000"/>
                          </a:solidFill>
                          <a:effectLst/>
                          <a:latin typeface="+mn-ea"/>
                          <a:ea typeface="+mn-ea"/>
                        </a:rPr>
                        <a:t>*</a:t>
                      </a:r>
                      <a:endParaRPr lang="ko-KR" altLang="en-US" sz="1200" kern="0" spc="-60" dirty="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chemeClr val="accent4">
                        <a:lumMod val="60000"/>
                        <a:lumOff val="40000"/>
                      </a:schemeClr>
                    </a:solidFill>
                  </a:tcPr>
                </a:tc>
                <a:tc>
                  <a:txBody>
                    <a:bodyPr/>
                    <a:lstStyle/>
                    <a:p>
                      <a:pPr marL="0" marR="0" indent="0" algn="ctr" fontAlgn="base" latinLnBrk="0">
                        <a:lnSpc>
                          <a:spcPct val="100000"/>
                        </a:lnSpc>
                        <a:spcBef>
                          <a:spcPts val="0"/>
                        </a:spcBef>
                        <a:spcAft>
                          <a:spcPts val="0"/>
                        </a:spcAft>
                      </a:pPr>
                      <a:endParaRPr lang="ko-KR" altLang="en-US" sz="1200" kern="0" spc="-60" dirty="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332388181"/>
                  </a:ext>
                </a:extLst>
              </a:tr>
            </a:tbl>
          </a:graphicData>
        </a:graphic>
      </p:graphicFrame>
      <p:sp>
        <p:nvSpPr>
          <p:cNvPr id="6" name="직사각형 5">
            <a:extLst>
              <a:ext uri="{FF2B5EF4-FFF2-40B4-BE49-F238E27FC236}">
                <a16:creationId xmlns:a16="http://schemas.microsoft.com/office/drawing/2014/main" id="{6347DFBA-8777-43FA-A37A-98C1EE5E7655}"/>
              </a:ext>
            </a:extLst>
          </p:cNvPr>
          <p:cNvSpPr/>
          <p:nvPr/>
        </p:nvSpPr>
        <p:spPr>
          <a:xfrm>
            <a:off x="225488" y="5842651"/>
            <a:ext cx="11760200" cy="830997"/>
          </a:xfrm>
          <a:prstGeom prst="rect">
            <a:avLst/>
          </a:prstGeom>
        </p:spPr>
        <p:txBody>
          <a:bodyPr wrap="square">
            <a:spAutoFit/>
          </a:bodyPr>
          <a:lstStyle/>
          <a:p>
            <a:pPr marL="171450" marR="0" lvl="0" indent="-171450" algn="just"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200" b="0" i="0" u="none" strike="noStrike" kern="0" cap="none" spc="-60" normalizeH="0" baseline="0" noProof="0" dirty="0">
                <a:ln>
                  <a:noFill/>
                </a:ln>
                <a:solidFill>
                  <a:prstClr val="black"/>
                </a:solidFill>
                <a:effectLst/>
                <a:uLnTx/>
                <a:uFillTx/>
                <a:latin typeface="Rix모던고딕 B"/>
                <a:ea typeface="Rix모던고딕 B"/>
                <a:cs typeface="+mn-cs"/>
              </a:rPr>
              <a:t>협의의 동일성</a:t>
            </a:r>
            <a:r>
              <a:rPr kumimoji="0" lang="en-US" altLang="ko-KR" sz="1200" b="0" i="0" u="none" strike="noStrike" kern="0" cap="none" spc="-6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0" cap="none" spc="-60" normalizeH="0" baseline="0" noProof="0" dirty="0">
                <a:ln>
                  <a:noFill/>
                </a:ln>
                <a:solidFill>
                  <a:prstClr val="black"/>
                </a:solidFill>
                <a:effectLst/>
                <a:uLnTx/>
                <a:uFillTx/>
                <a:latin typeface="Rix모던고딕 B"/>
                <a:ea typeface="Rix모던고딕 B"/>
                <a:cs typeface="+mn-cs"/>
              </a:rPr>
              <a:t>신규성</a:t>
            </a:r>
            <a:r>
              <a:rPr kumimoji="0" lang="en-US" altLang="ko-KR" sz="1200" b="0" i="0" u="none" strike="noStrike" kern="0" cap="none" spc="-6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0" cap="none" spc="-60" normalizeH="0" baseline="0" noProof="0" dirty="0">
                <a:ln>
                  <a:noFill/>
                </a:ln>
                <a:solidFill>
                  <a:prstClr val="black"/>
                </a:solidFill>
                <a:effectLst/>
                <a:uLnTx/>
                <a:uFillTx/>
                <a:latin typeface="Rix모던고딕 B"/>
                <a:ea typeface="Rix모던고딕 B"/>
                <a:cs typeface="+mn-cs"/>
              </a:rPr>
              <a:t>확대된 선출원의 지위</a:t>
            </a:r>
            <a:r>
              <a:rPr kumimoji="0" lang="en-US" altLang="ko-KR" sz="1200" b="0" i="0" u="none" strike="noStrike" kern="0" cap="none" spc="-6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0" cap="none" spc="0" normalizeH="0" baseline="0" noProof="0" dirty="0">
                <a:ln>
                  <a:noFill/>
                </a:ln>
                <a:solidFill>
                  <a:prstClr val="black"/>
                </a:solidFill>
                <a:effectLst/>
                <a:uLnTx/>
                <a:uFillTx/>
                <a:latin typeface="Rix모던고딕 B"/>
                <a:ea typeface="Rix모던고딕 B"/>
                <a:cs typeface="+mn-cs"/>
              </a:rPr>
              <a:t>과제해결을 위한 구체적 수단에서 </a:t>
            </a:r>
            <a:r>
              <a:rPr kumimoji="0" lang="ko-KR" altLang="en-US" sz="1200" b="0" i="0" u="none" strike="noStrike" kern="0" cap="none" spc="0" normalizeH="0" baseline="0" noProof="0" dirty="0" err="1">
                <a:ln>
                  <a:noFill/>
                </a:ln>
                <a:solidFill>
                  <a:srgbClr val="FF0000"/>
                </a:solidFill>
                <a:effectLst/>
                <a:uLnTx/>
                <a:uFillTx/>
                <a:latin typeface="Rix모던고딕 B"/>
                <a:ea typeface="Rix모던고딕 B"/>
                <a:cs typeface="+mn-cs"/>
              </a:rPr>
              <a:t>주지관용기술의</a:t>
            </a:r>
            <a:r>
              <a:rPr kumimoji="0" lang="ko-KR" altLang="en-US" sz="1200" b="0" i="0" u="none" strike="noStrike" kern="0" cap="none" spc="0" normalizeH="0" baseline="0" noProof="0" dirty="0">
                <a:ln>
                  <a:noFill/>
                </a:ln>
                <a:solidFill>
                  <a:srgbClr val="FF0000"/>
                </a:solidFill>
                <a:effectLst/>
                <a:uLnTx/>
                <a:uFillTx/>
                <a:latin typeface="Rix모던고딕 B"/>
                <a:ea typeface="Rix모던고딕 B"/>
                <a:cs typeface="+mn-cs"/>
              </a:rPr>
              <a:t> 단순한 부가</a:t>
            </a:r>
            <a:r>
              <a:rPr kumimoji="0" lang="en-US" altLang="ko-KR" sz="1200" b="0" i="0" u="none" strike="noStrike" kern="0" cap="none" spc="-60" normalizeH="0" baseline="0" noProof="0" dirty="0">
                <a:ln>
                  <a:noFill/>
                </a:ln>
                <a:solidFill>
                  <a:srgbClr val="FF0000"/>
                </a:solidFill>
                <a:effectLst/>
                <a:uLnTx/>
                <a:uFillTx/>
                <a:latin typeface="Rix모던고딕 B"/>
                <a:ea typeface="Rix모던고딕 B"/>
                <a:cs typeface="+mn-cs"/>
              </a:rPr>
              <a:t>, </a:t>
            </a:r>
            <a:r>
              <a:rPr kumimoji="0" lang="ko-KR" altLang="en-US" sz="1200" b="0" i="0" u="none" strike="noStrike" kern="0" cap="none" spc="0" normalizeH="0" baseline="0" noProof="0" dirty="0">
                <a:ln>
                  <a:noFill/>
                </a:ln>
                <a:solidFill>
                  <a:srgbClr val="FF0000"/>
                </a:solidFill>
                <a:effectLst/>
                <a:uLnTx/>
                <a:uFillTx/>
                <a:latin typeface="Rix모던고딕 B"/>
                <a:ea typeface="Rix모던고딕 B"/>
                <a:cs typeface="+mn-cs"/>
              </a:rPr>
              <a:t>전환</a:t>
            </a:r>
            <a:r>
              <a:rPr kumimoji="0" lang="en-US" altLang="ko-KR" sz="1200" b="0" i="0" u="none" strike="noStrike" kern="0" cap="none" spc="-60" normalizeH="0" baseline="0" noProof="0" dirty="0">
                <a:ln>
                  <a:noFill/>
                </a:ln>
                <a:solidFill>
                  <a:srgbClr val="FF0000"/>
                </a:solidFill>
                <a:effectLst/>
                <a:uLnTx/>
                <a:uFillTx/>
                <a:latin typeface="Rix모던고딕 B"/>
                <a:ea typeface="Rix모던고딕 B"/>
                <a:cs typeface="+mn-cs"/>
              </a:rPr>
              <a:t>, </a:t>
            </a:r>
            <a:r>
              <a:rPr kumimoji="0" lang="ko-KR" altLang="en-US" sz="1200" b="0" i="0" u="none" strike="noStrike" kern="0" cap="none" spc="0" normalizeH="0" baseline="0" noProof="0" dirty="0">
                <a:ln>
                  <a:noFill/>
                </a:ln>
                <a:solidFill>
                  <a:srgbClr val="FF0000"/>
                </a:solidFill>
                <a:effectLst/>
                <a:uLnTx/>
                <a:uFillTx/>
                <a:latin typeface="Rix모던고딕 B"/>
                <a:ea typeface="Rix모던고딕 B"/>
                <a:cs typeface="+mn-cs"/>
              </a:rPr>
              <a:t>삭제</a:t>
            </a:r>
            <a:r>
              <a:rPr kumimoji="0" lang="ko-KR" altLang="en-US" sz="1200" b="0" i="0" u="none" strike="noStrike" kern="0" cap="none" spc="0" normalizeH="0" baseline="0" noProof="0" dirty="0">
                <a:ln>
                  <a:noFill/>
                </a:ln>
                <a:solidFill>
                  <a:prstClr val="black"/>
                </a:solidFill>
                <a:effectLst/>
                <a:uLnTx/>
                <a:uFillTx/>
                <a:latin typeface="Rix모던고딕 B"/>
                <a:ea typeface="Rix모던고딕 B"/>
                <a:cs typeface="+mn-cs"/>
              </a:rPr>
              <a:t> 등에 불과하여 </a:t>
            </a:r>
            <a:r>
              <a:rPr kumimoji="0" lang="ko-KR" altLang="en-US" sz="1200" b="0" i="0" u="none" strike="noStrike" kern="0" cap="none" spc="0" normalizeH="0" baseline="0" noProof="0" dirty="0">
                <a:ln>
                  <a:noFill/>
                </a:ln>
                <a:solidFill>
                  <a:srgbClr val="FF0000"/>
                </a:solidFill>
                <a:effectLst/>
                <a:uLnTx/>
                <a:uFillTx/>
                <a:latin typeface="Rix모던고딕 B"/>
                <a:ea typeface="Rix모던고딕 B"/>
                <a:cs typeface="+mn-cs"/>
              </a:rPr>
              <a:t>새로운 효과</a:t>
            </a:r>
            <a:r>
              <a:rPr kumimoji="0" lang="ko-KR" altLang="en-US" sz="1200" b="0" i="0" u="none" strike="noStrike" kern="0" cap="none" spc="0" normalizeH="0" baseline="0" noProof="0" dirty="0">
                <a:ln>
                  <a:noFill/>
                </a:ln>
                <a:solidFill>
                  <a:prstClr val="black"/>
                </a:solidFill>
                <a:effectLst/>
                <a:uLnTx/>
                <a:uFillTx/>
                <a:latin typeface="Rix모던고딕 B"/>
                <a:ea typeface="Rix모던고딕 B"/>
                <a:cs typeface="+mn-cs"/>
              </a:rPr>
              <a:t> 발생이 없고</a:t>
            </a:r>
            <a:r>
              <a:rPr kumimoji="0" lang="en-US" altLang="ko-KR" sz="1200" b="0" i="0" u="none" strike="noStrike" kern="0" cap="none" spc="-6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0" cap="none" spc="0" normalizeH="0" baseline="0" noProof="0" dirty="0">
                <a:ln>
                  <a:noFill/>
                </a:ln>
                <a:solidFill>
                  <a:prstClr val="black"/>
                </a:solidFill>
                <a:effectLst/>
                <a:uLnTx/>
                <a:uFillTx/>
                <a:latin typeface="Rix모던고딕 B"/>
                <a:ea typeface="Rix모던고딕 B"/>
                <a:cs typeface="+mn-cs"/>
              </a:rPr>
              <a:t>발명 간의 차이가 발명의 사상에 실질적인 영향을 미치지 않는 비본질적 사항에 불과한 경우를 말한다</a:t>
            </a:r>
            <a:r>
              <a:rPr kumimoji="0" lang="en-US" altLang="ko-KR" sz="1200" b="0" i="0" u="none" strike="noStrike" kern="0" cap="none" spc="0" normalizeH="0" baseline="0" noProof="0" dirty="0">
                <a:ln>
                  <a:noFill/>
                </a:ln>
                <a:solidFill>
                  <a:prstClr val="black"/>
                </a:solidFill>
                <a:effectLst/>
                <a:uLnTx/>
                <a:uFillTx/>
                <a:latin typeface="Rix모던고딕 B"/>
                <a:ea typeface="Rix모던고딕 B"/>
                <a:cs typeface="+mn-cs"/>
              </a:rPr>
              <a:t>.</a:t>
            </a:r>
          </a:p>
          <a:p>
            <a:pPr marL="171450" marR="0" lvl="0" indent="-171450" algn="just" defTabSz="914400" rtl="0" eaLnBrk="1" fontAlgn="base" latinLnBrk="1" hangingPunct="1">
              <a:lnSpc>
                <a:spcPct val="100000"/>
              </a:lnSpc>
              <a:spcBef>
                <a:spcPts val="0"/>
              </a:spcBef>
              <a:spcAft>
                <a:spcPts val="0"/>
              </a:spcAft>
              <a:buClrTx/>
              <a:buSzTx/>
              <a:buFont typeface="Arial" panose="020B0604020202020204" pitchFamily="34" charset="0"/>
              <a:buChar char="•"/>
              <a:tabLst/>
              <a:defRPr/>
            </a:pPr>
            <a:r>
              <a:rPr kumimoji="0" lang="ko-KR" altLang="en-US" sz="1200" b="0" i="0" u="none" strike="noStrike" kern="0" cap="none" spc="-60" normalizeH="0" baseline="0" noProof="0" dirty="0">
                <a:ln>
                  <a:noFill/>
                </a:ln>
                <a:solidFill>
                  <a:prstClr val="black"/>
                </a:solidFill>
                <a:effectLst/>
                <a:uLnTx/>
                <a:uFillTx/>
                <a:latin typeface="Rix모던고딕 B"/>
                <a:ea typeface="Rix모던고딕 B"/>
                <a:cs typeface="+mn-cs"/>
              </a:rPr>
              <a:t>광의의 동일성</a:t>
            </a:r>
            <a:r>
              <a:rPr kumimoji="0" lang="en-US" altLang="ko-KR" sz="1200" b="0" i="0" u="none" strike="noStrike" kern="0" cap="none" spc="-6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0" cap="none" spc="-60" normalizeH="0" baseline="0" noProof="0" dirty="0">
                <a:ln>
                  <a:noFill/>
                </a:ln>
                <a:solidFill>
                  <a:prstClr val="black"/>
                </a:solidFill>
                <a:effectLst/>
                <a:uLnTx/>
                <a:uFillTx/>
                <a:latin typeface="Rix모던고딕 B"/>
                <a:ea typeface="Rix모던고딕 B"/>
                <a:cs typeface="+mn-cs"/>
              </a:rPr>
              <a:t>선출원주의</a:t>
            </a:r>
            <a:r>
              <a:rPr kumimoji="0" lang="en-US" altLang="ko-KR" sz="1200" b="0" i="0" u="none" strike="noStrike" kern="0" cap="none" spc="-6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0" cap="none" spc="0" normalizeH="0" baseline="0" noProof="0" dirty="0">
                <a:ln>
                  <a:noFill/>
                </a:ln>
                <a:solidFill>
                  <a:prstClr val="black"/>
                </a:solidFill>
                <a:effectLst/>
                <a:uLnTx/>
                <a:uFillTx/>
                <a:latin typeface="Rix모던고딕 B"/>
                <a:ea typeface="Rix모던고딕 B"/>
                <a:cs typeface="+mn-cs"/>
              </a:rPr>
              <a:t>그 변경이 목적달성을 위한 구체화 수단으로서 </a:t>
            </a:r>
            <a:r>
              <a:rPr kumimoji="0" lang="ko-KR" altLang="en-US" sz="1200" b="0" i="0" u="none" strike="noStrike" kern="0" cap="none" spc="0" normalizeH="0" baseline="0" noProof="0" dirty="0">
                <a:ln>
                  <a:noFill/>
                </a:ln>
                <a:solidFill>
                  <a:srgbClr val="FF0000"/>
                </a:solidFill>
                <a:effectLst/>
                <a:uLnTx/>
                <a:uFillTx/>
                <a:latin typeface="Rix모던고딕 B"/>
                <a:ea typeface="Rix모던고딕 B"/>
                <a:cs typeface="+mn-cs"/>
              </a:rPr>
              <a:t>통상의 기술자에 의하여 일반적으로 채용될 수 있는 정도의 기술수단의 단순한 치환</a:t>
            </a:r>
            <a:r>
              <a:rPr kumimoji="0" lang="en-US" altLang="ko-KR" sz="1200" b="0" i="0" u="none" strike="noStrike" kern="0" cap="none" spc="-60" normalizeH="0" baseline="0" noProof="0" dirty="0">
                <a:ln>
                  <a:noFill/>
                </a:ln>
                <a:solidFill>
                  <a:srgbClr val="FF0000"/>
                </a:solidFill>
                <a:effectLst/>
                <a:uLnTx/>
                <a:uFillTx/>
                <a:latin typeface="Rix모던고딕 B"/>
                <a:ea typeface="Rix모던고딕 B"/>
                <a:cs typeface="+mn-cs"/>
              </a:rPr>
              <a:t>, </a:t>
            </a:r>
            <a:r>
              <a:rPr kumimoji="0" lang="ko-KR" altLang="en-US" sz="1200" b="0" i="0" u="none" strike="noStrike" kern="0" cap="none" spc="0" normalizeH="0" baseline="0" noProof="0" dirty="0">
                <a:ln>
                  <a:noFill/>
                </a:ln>
                <a:solidFill>
                  <a:srgbClr val="FF0000"/>
                </a:solidFill>
                <a:effectLst/>
                <a:uLnTx/>
                <a:uFillTx/>
                <a:latin typeface="Rix모던고딕 B"/>
                <a:ea typeface="Rix모던고딕 B"/>
                <a:cs typeface="+mn-cs"/>
              </a:rPr>
              <a:t>부가 또는 삭제 등</a:t>
            </a:r>
            <a:r>
              <a:rPr kumimoji="0" lang="ko-KR" altLang="en-US" sz="1200" b="0" i="0" u="none" strike="noStrike" kern="0" cap="none" spc="0" normalizeH="0" baseline="0" noProof="0" dirty="0">
                <a:ln>
                  <a:noFill/>
                </a:ln>
                <a:solidFill>
                  <a:prstClr val="black"/>
                </a:solidFill>
                <a:effectLst/>
                <a:uLnTx/>
                <a:uFillTx/>
                <a:latin typeface="Rix모던고딕 B"/>
                <a:ea typeface="Rix모던고딕 B"/>
                <a:cs typeface="+mn-cs"/>
              </a:rPr>
              <a:t>에 해당하는 것이고 그 변경에 의하여 발명의 목적 및 </a:t>
            </a:r>
            <a:r>
              <a:rPr kumimoji="0" lang="ko-KR" altLang="en-US" sz="1200" b="0" i="0" u="none" strike="noStrike" kern="0" cap="none" spc="0" normalizeH="0" baseline="0" noProof="0" dirty="0">
                <a:ln>
                  <a:noFill/>
                </a:ln>
                <a:solidFill>
                  <a:srgbClr val="FF0000"/>
                </a:solidFill>
                <a:effectLst/>
                <a:uLnTx/>
                <a:uFillTx/>
                <a:latin typeface="Rix모던고딕 B"/>
                <a:ea typeface="Rix모던고딕 B"/>
                <a:cs typeface="+mn-cs"/>
              </a:rPr>
              <a:t>효과에 각별한 차이</a:t>
            </a:r>
            <a:r>
              <a:rPr kumimoji="0" lang="ko-KR" altLang="en-US" sz="1200" b="0" i="0" u="none" strike="noStrike" kern="0" cap="none" spc="0" normalizeH="0" baseline="0" noProof="0" dirty="0">
                <a:ln>
                  <a:noFill/>
                </a:ln>
                <a:solidFill>
                  <a:prstClr val="black"/>
                </a:solidFill>
                <a:effectLst/>
                <a:uLnTx/>
                <a:uFillTx/>
                <a:latin typeface="Rix모던고딕 B"/>
                <a:ea typeface="Rix모던고딕 B"/>
                <a:cs typeface="+mn-cs"/>
              </a:rPr>
              <a:t>가 생기지 않는 경우를 말한다</a:t>
            </a:r>
            <a:r>
              <a:rPr kumimoji="0" lang="en-US" altLang="ko-KR" sz="1200" b="0" i="0" u="none" strike="noStrike" kern="0" cap="none" spc="-60" normalizeH="0" baseline="0" noProof="0" dirty="0">
                <a:ln>
                  <a:noFill/>
                </a:ln>
                <a:solidFill>
                  <a:prstClr val="black"/>
                </a:solidFill>
                <a:effectLst/>
                <a:uLnTx/>
                <a:uFillTx/>
                <a:latin typeface="Rix모던고딕 B"/>
                <a:ea typeface="Rix모던고딕 B"/>
                <a:cs typeface="+mn-cs"/>
              </a:rPr>
              <a:t>.</a:t>
            </a:r>
            <a:endParaRPr kumimoji="0" lang="ko-KR" altLang="en-US" sz="12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Tree>
    <p:extLst>
      <p:ext uri="{BB962C8B-B14F-4D97-AF65-F5344CB8AC3E}">
        <p14:creationId xmlns:p14="http://schemas.microsoft.com/office/powerpoint/2010/main" val="78225301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p:cNvSpPr>
            <a:spLocks noGrp="1"/>
          </p:cNvSpPr>
          <p:nvPr>
            <p:ph type="body" sz="quarter" idx="13"/>
          </p:nvPr>
        </p:nvSpPr>
        <p:spPr/>
        <p:txBody>
          <a:bodyPr/>
          <a:lstStyle/>
          <a:p>
            <a:r>
              <a:rPr lang="ko-KR" altLang="en-US" dirty="0"/>
              <a:t>발명의 범주가 다른 경우 동일성의 판단</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65</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20" name="TextBox 19">
            <a:extLst>
              <a:ext uri="{FF2B5EF4-FFF2-40B4-BE49-F238E27FC236}">
                <a16:creationId xmlns:a16="http://schemas.microsoft.com/office/drawing/2014/main" id="{E3CF2E2A-225A-44AD-8E5F-2006B5EC99DD}"/>
              </a:ext>
            </a:extLst>
          </p:cNvPr>
          <p:cNvSpPr txBox="1"/>
          <p:nvPr/>
        </p:nvSpPr>
        <p:spPr>
          <a:xfrm>
            <a:off x="77875" y="1361857"/>
            <a:ext cx="11936323" cy="1754326"/>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물건의 발명에서 이와 동일한 발명이 그 출원 전에 공지되었거나 공연히 실시되었음이 인정되면 그 발명의 신규성은 부정된다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특허발명에서 구성요소로 특정된 물건의 구성이나 속성이 선행발명에 명시적으로 개시되어 있지 않은 경우라도 선행발명에 개시된 물건이 특허발명과 동일한 구성이나 속성을 갖는다는 점이 인정된다면</a:t>
            </a:r>
            <a:r>
              <a:rPr kumimoji="0" lang="en-US" altLang="ko-KR"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이는 선행발명에 내재된 구성 또는 속성으로 볼 수 있다</a:t>
            </a:r>
            <a:r>
              <a:rPr kumimoji="0" lang="en-US" altLang="ko-KR"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이와 같은 경우 특허발명이 해당 구성 또는 속성으로 인한 물질의 새로운 용도를 특허의 대상으로 한다는 등의 특별한 사정이 없는 한 공지된 물건에 원래부터 존재하였던 내재된 구성 또는 속성을 발견한 것에 불과하므로 신규성이 부정된다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이는 그 발명이 속하는 기술분야에서 통상의 지식을 가진 사람</a:t>
            </a:r>
            <a:r>
              <a:rPr kumimoji="0" lang="en-US" altLang="ko-KR"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이하 ‘통상의 </a:t>
            </a:r>
            <a:r>
              <a:rPr kumimoji="0" lang="ko-KR" altLang="en-US" sz="12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기술자’라고</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한다</a:t>
            </a:r>
            <a:r>
              <a:rPr kumimoji="0" lang="en-US" altLang="ko-KR"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이 출원 당시에 그 구성이나 속성을 인식할 수 없었던 경우에도 마찬가지이다</a:t>
            </a:r>
            <a:r>
              <a:rPr kumimoji="0" lang="en-US" altLang="ko-KR"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또한 공지된 물건의 내재된 구성 또는 속성을 파악하기 위하여 출원일 이후 공지된 자료를 증거로 사용할 수 있다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한편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선행발명에 개시된 물건이 특허발명과 동일한 구성 또는 속성을 가질 수도 있다는 가능성 또는 개연성만으로는 두 발명을 동일하다고 할 수 없고</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필연적으로 그와 같은 구성 또는 속성을 가진다는 점이 증명되어야 한다</a:t>
            </a:r>
            <a:r>
              <a:rPr kumimoji="0" lang="en-US" altLang="ko-KR"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즉</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선행발명이 공지된 물건 그 자체일 경우에는 그 물건과 특허발명의 구성을 대비하여 양 발명이 동일한지 판단할 수 있으나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선행발명이 특정 제조방법에 의해 제작된 물건에 관한 공지된 문헌인 경우</a:t>
            </a:r>
            <a:r>
              <a:rPr kumimoji="0" lang="en-US" altLang="ko-KR"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선행발명에 개시된 물건은 선행발명에 개시된 제조방법에 따라 제조된 물건이므로</a:t>
            </a:r>
            <a:r>
              <a:rPr kumimoji="0" lang="en-US" altLang="ko-KR"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선행발명에 개시된 제조방법에 따랐을 경우 우연한 결과일 수도 있는 한 </a:t>
            </a:r>
            <a:r>
              <a:rPr kumimoji="0" lang="ko-KR" altLang="en-US" sz="12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실시례가</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위와 같은 구성 또는 속성을 가진다는 점을 넘어 그 결과물이 필연적으로 해당 구성 또는 속성을 가진다는 점이 증명되어야 선행발명과 특허발명이 동일하다고 할 수 있다</a:t>
            </a:r>
            <a:r>
              <a:rPr kumimoji="0" lang="en-US" altLang="ko-KR"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endParaRPr>
          </a:p>
        </p:txBody>
      </p:sp>
      <p:sp>
        <p:nvSpPr>
          <p:cNvPr id="21" name="사각형: 둥근 모서리 20">
            <a:extLst>
              <a:ext uri="{FF2B5EF4-FFF2-40B4-BE49-F238E27FC236}">
                <a16:creationId xmlns:a16="http://schemas.microsoft.com/office/drawing/2014/main" id="{08FE81B0-4EAC-43BC-A432-3F1ED8B60173}"/>
              </a:ext>
            </a:extLst>
          </p:cNvPr>
          <p:cNvSpPr/>
          <p:nvPr/>
        </p:nvSpPr>
        <p:spPr>
          <a:xfrm>
            <a:off x="113937" y="985031"/>
            <a:ext cx="5780008" cy="346234"/>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2021. 12. 30.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2017</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1304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판결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등록무효</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특</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p>
        </p:txBody>
      </p:sp>
      <p:cxnSp>
        <p:nvCxnSpPr>
          <p:cNvPr id="22" name="직선 연결선 21">
            <a:extLst>
              <a:ext uri="{FF2B5EF4-FFF2-40B4-BE49-F238E27FC236}">
                <a16:creationId xmlns:a16="http://schemas.microsoft.com/office/drawing/2014/main" id="{E9A069B6-FEAB-4319-9DED-B2FB8A167478}"/>
              </a:ext>
            </a:extLst>
          </p:cNvPr>
          <p:cNvCxnSpPr/>
          <p:nvPr/>
        </p:nvCxnSpPr>
        <p:spPr>
          <a:xfrm>
            <a:off x="0" y="3116183"/>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852F79AA-4C45-4075-8E67-8E46444B0693}"/>
              </a:ext>
            </a:extLst>
          </p:cNvPr>
          <p:cNvSpPr txBox="1"/>
          <p:nvPr/>
        </p:nvSpPr>
        <p:spPr>
          <a:xfrm>
            <a:off x="1675" y="3146775"/>
            <a:ext cx="6133380" cy="3785652"/>
          </a:xfrm>
          <a:prstGeom prst="rect">
            <a:avLst/>
          </a:prstGeom>
          <a:noFill/>
        </p:spPr>
        <p:txBody>
          <a:bodyPr wrap="square">
            <a:spAutoFit/>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선행발명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은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에어로졸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디포지션</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방법</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 의해 형성된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PZT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후막의 미세구조 및 전기적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특성”이라는</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제목의 논문으로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공지된 물건 그 자체가 아니라 공지된 문헌이어서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선행발명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에서 대비대상이 되는 것은 선행발명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 제시된 제조방법에 의하여 제조된 막 형상 구조물이다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 사건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 발명과 선행발명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은 모두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취성</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재료 미립자를 상온에서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고속분사하여</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기재 표면에 충돌시킴으로써 미립자를 변형 또는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파쇄하여</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제작된 막 형상구조물에 관한 것이라는 점에서 공통되고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결과 입자간 결합력이 더 높은 복합 구</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조물이 형성된다</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(3)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다만</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이 사건 제</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항 발명은 </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a:t>
            </a:r>
            <a:r>
              <a:rPr kumimoji="0" lang="ko-KR" altLang="en-US" sz="1200" b="0" i="0" u="none" strike="noStrike" kern="1200" cap="none" spc="0" normalizeH="0" baseline="0" noProof="0" dirty="0" err="1">
                <a:ln>
                  <a:noFill/>
                </a:ln>
                <a:solidFill>
                  <a:srgbClr val="FF0000"/>
                </a:solidFill>
                <a:effectLst/>
                <a:uLnTx/>
                <a:uFillTx/>
                <a:latin typeface="CourtBT"/>
                <a:ea typeface="Rix모던고딕 B"/>
                <a:cs typeface="+mn-cs"/>
              </a:rPr>
              <a:t>결정끼리의</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 계면에 유리층으로 된 입계층이 존재하지 않는 </a:t>
            </a:r>
            <a:r>
              <a:rPr kumimoji="0" lang="ko-KR" altLang="en-US" sz="1200" b="0" i="0" u="none" strike="noStrike" kern="1200" cap="none" spc="0" normalizeH="0" baseline="0" noProof="0" dirty="0" err="1">
                <a:ln>
                  <a:noFill/>
                </a:ln>
                <a:solidFill>
                  <a:srgbClr val="FF0000"/>
                </a:solidFill>
                <a:effectLst/>
                <a:uLnTx/>
                <a:uFillTx/>
                <a:latin typeface="CourtBT"/>
                <a:ea typeface="Rix모던고딕 B"/>
                <a:cs typeface="+mn-cs"/>
              </a:rPr>
              <a:t>것</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’을</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구성요소로 하는 반면</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선행발명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에는 이에 대응하는 기재가 없고</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차이점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이 사건 제</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항 발명은 </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‘구조물의 일부가 기재 표면으로 먹어 들어간 </a:t>
            </a:r>
            <a:r>
              <a:rPr kumimoji="0" lang="ko-KR" altLang="en-US" sz="1200" b="0" i="0" u="none" strike="noStrike" kern="1200" cap="none" spc="0" normalizeH="0" baseline="0" noProof="0" dirty="0" err="1">
                <a:ln>
                  <a:noFill/>
                </a:ln>
                <a:solidFill>
                  <a:srgbClr val="FF0000"/>
                </a:solidFill>
                <a:effectLst/>
                <a:uLnTx/>
                <a:uFillTx/>
                <a:latin typeface="CourtBT"/>
                <a:ea typeface="Rix모던고딕 B"/>
                <a:cs typeface="+mn-cs"/>
              </a:rPr>
              <a:t>앵커부</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’를</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구성요소로 하는데</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선행발명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에는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100-150nm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두께의 손상층은 </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증착되는</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동안초미세</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PZT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입자들의 기계적 충격</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(anchor)</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부로 되어 있다’고 기재되어 있다</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차이점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2).</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(4) </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차이점 </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에 대하여</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가</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이 사건 제</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항 발명의 명세서에는 사전처리를 통하여 </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취성</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재료 미립자에 내부 변형을 부여하는 것이 바람직하다는 내용이 기재되어 있으나</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선행발명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에는 이에 관한 언급이 없고</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이 사건 제</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항 발명은 ‘원료 미립자의 파쇄로부터 </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재결합까지가</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순간적으로 행해지기 때문에 결합 시에 미세 단편 입자들의 표면 부근에서 원자의 확산이 거의 일어나지 않고</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따라서 </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결정자끼리의</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계면의 원자 배열에 흐트러짐이 없으며</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용해층인</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입계층</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유리층</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은 거의 형성되지 </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않는다’고</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그 결합 원리를 설명하는 반면</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선행발명 </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은 위와 같은 우수한 효과를 내는 실제 결합 메커니즘은 규명되지 않았다고 하고 있다</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나</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한편</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이 사건 특허발명의 공동발명자 중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인인 소외인이 </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이 사건 특허발명의 우선일인 </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1999. </a:t>
            </a:r>
            <a:endPar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26" name="TextBox 25">
            <a:extLst>
              <a:ext uri="{FF2B5EF4-FFF2-40B4-BE49-F238E27FC236}">
                <a16:creationId xmlns:a16="http://schemas.microsoft.com/office/drawing/2014/main" id="{4BF2071B-5AAB-44E2-AB08-E3089C232D78}"/>
              </a:ext>
            </a:extLst>
          </p:cNvPr>
          <p:cNvSpPr txBox="1"/>
          <p:nvPr/>
        </p:nvSpPr>
        <p:spPr>
          <a:xfrm>
            <a:off x="6095999" y="3146775"/>
            <a:ext cx="6133380" cy="3785652"/>
          </a:xfrm>
          <a:prstGeom prst="rect">
            <a:avLst/>
          </a:prstGeom>
          <a:noFill/>
        </p:spPr>
        <p:txBody>
          <a:bodyPr wrap="square">
            <a:spAutoFit/>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10. 12. </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이후인 </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2002</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년경 공동저자</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로 발표한 선행발명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과 동일한 제막 방식의 막 형상 구조물에 관한 논문 “미립자</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초미립자의 충돌 고화 현상을 이용한 세라믹 박막 형성 기술”</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갑 제</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12</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호증</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에서는</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선행발명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의 막 형상 구조물에 대한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TEM(</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투과전자현미경</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촬영 사진과 이보다 더 개선된 방식인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HR TEM(</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고분해능 투과전자현미경</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촬영 사진을 개시하고</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도</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6(a),(b)]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이들은 가열 없이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Si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기판 상에 실온 </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성막된</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PZT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후막의 열처리 전후의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TEM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이미지이다</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막 안에 원료분말의 형태는 관찰되지 않고</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각각의 결정은 서로 결합되어 치밀한 막을 형성하고 있다</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또한 막 안에는 원료분말에 가까운 크기의 결정자가 부분적으로 보이지만</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HR TEM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이미지 또는 </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전자선회절</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이미지로부터도</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결정자 간</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입자 간에 </a:t>
            </a:r>
            <a:r>
              <a:rPr kumimoji="0" lang="ko-KR" altLang="en-US" sz="1200" b="0" i="0" u="none" strike="noStrike" kern="1200" cap="none" spc="0" normalizeH="0" baseline="0" noProof="0" dirty="0" err="1">
                <a:ln>
                  <a:noFill/>
                </a:ln>
                <a:solidFill>
                  <a:prstClr val="black"/>
                </a:solidFill>
                <a:effectLst/>
                <a:uLnTx/>
                <a:uFillTx/>
                <a:latin typeface="CourtBT"/>
                <a:ea typeface="Rix모던고딕 B"/>
                <a:cs typeface="+mn-cs"/>
              </a:rPr>
              <a:t>비정질층이나</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상이한 모양은 거의 볼 수 없었고</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전체적으로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20nm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이하의 미세결정으로 구성되어 있다’고 설명하고 있다</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즉</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위 논문에 의하면 선행발명 </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에 개시된 사진의 막 형상 구조물 역시 결정자 사이의 계면에 </a:t>
            </a:r>
            <a:r>
              <a:rPr kumimoji="0" lang="ko-KR" altLang="en-US" sz="1200" b="0" i="0" u="none" strike="noStrike" kern="1200" cap="none" spc="0" normalizeH="0" baseline="0" noProof="0" dirty="0" err="1">
                <a:ln>
                  <a:noFill/>
                </a:ln>
                <a:solidFill>
                  <a:srgbClr val="FF0000"/>
                </a:solidFill>
                <a:effectLst/>
                <a:uLnTx/>
                <a:uFillTx/>
                <a:latin typeface="CourtBT"/>
                <a:ea typeface="Rix모던고딕 B"/>
                <a:cs typeface="+mn-cs"/>
              </a:rPr>
              <a:t>비정질층인</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 입계층이 존재하지 않는다는 것이다</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다</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그런데 위 논문에 의하면 선행발명 </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에 기재된 제조방법을 따른 하나의 </a:t>
            </a:r>
            <a:r>
              <a:rPr kumimoji="0" lang="ko-KR" altLang="en-US" sz="1200" b="0" i="0" u="none" strike="noStrike" kern="1200" cap="none" spc="0" normalizeH="0" baseline="0" noProof="0" dirty="0" err="1">
                <a:ln>
                  <a:noFill/>
                </a:ln>
                <a:solidFill>
                  <a:srgbClr val="FF0000"/>
                </a:solidFill>
                <a:effectLst/>
                <a:uLnTx/>
                <a:uFillTx/>
                <a:latin typeface="CourtBT"/>
                <a:ea typeface="Rix모던고딕 B"/>
                <a:cs typeface="+mn-cs"/>
              </a:rPr>
              <a:t>실시례가</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 유리층으로 된 입계층이 존재하지 않는 구성을 가진다는 점은 알 수 있지만</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더 나아가 선행발명 </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에 기재된 제조방법을 따랐을 때 필연적으로 </a:t>
            </a:r>
            <a:r>
              <a:rPr kumimoji="0" lang="ko-KR" altLang="en-US" sz="1200" b="0" i="0" u="none" strike="noStrike" kern="1200" cap="none" spc="0" normalizeH="0" baseline="0" noProof="0" dirty="0" err="1">
                <a:ln>
                  <a:noFill/>
                </a:ln>
                <a:solidFill>
                  <a:srgbClr val="FF0000"/>
                </a:solidFill>
                <a:effectLst/>
                <a:uLnTx/>
                <a:uFillTx/>
                <a:latin typeface="CourtBT"/>
                <a:ea typeface="Rix모던고딕 B"/>
                <a:cs typeface="+mn-cs"/>
              </a:rPr>
              <a:t>비정질층이</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 존재하지 않는 결과물에 도달할 것인지를 알 수 있는 자료는 없다</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오히려</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선행발명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은 원료 미립자의 사전처리 공정을 언급하고 있지 않은 반면</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이 사건 제</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항 발명의 명세서에서는 사전처리를 통한 내부 변형의 중요성을 강조하고 있을 뿐만 아니라 적절한 내부 변형의 정도</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(0.25~2.0%)</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와 방법 등까지 기재하는 등으로 </a:t>
            </a:r>
            <a:r>
              <a:rPr kumimoji="0" lang="ko-KR" altLang="en-US" sz="1200" b="0" i="0" u="none" strike="noStrike" kern="1200" cap="none" spc="0" normalizeH="0" baseline="0" noProof="0" dirty="0" err="1">
                <a:ln>
                  <a:noFill/>
                </a:ln>
                <a:solidFill>
                  <a:srgbClr val="FF0000"/>
                </a:solidFill>
                <a:effectLst/>
                <a:uLnTx/>
                <a:uFillTx/>
                <a:latin typeface="CourtBT"/>
                <a:ea typeface="Rix모던고딕 B"/>
                <a:cs typeface="+mn-cs"/>
              </a:rPr>
              <a:t>비정질층이</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 </a:t>
            </a:r>
            <a:r>
              <a:rPr kumimoji="0" lang="ko-KR" altLang="en-US" sz="1200" b="0" i="0" u="none" strike="noStrike" kern="1200" cap="none" spc="0" normalizeH="0" baseline="0" noProof="0" dirty="0" err="1">
                <a:ln>
                  <a:noFill/>
                </a:ln>
                <a:solidFill>
                  <a:srgbClr val="FF0000"/>
                </a:solidFill>
                <a:effectLst/>
                <a:uLnTx/>
                <a:uFillTx/>
                <a:latin typeface="CourtBT"/>
                <a:ea typeface="Rix모던고딕 B"/>
                <a:cs typeface="+mn-cs"/>
              </a:rPr>
              <a:t>부존재하는</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 복합 구조물을 성공적으로 제조하기 위한 제조방법을 더 구체적으로 공개</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하고 있다</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라</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이러한 점에 비추어 보면</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err="1">
                <a:ln>
                  <a:noFill/>
                </a:ln>
                <a:solidFill>
                  <a:srgbClr val="FF0000"/>
                </a:solidFill>
                <a:effectLst/>
                <a:uLnTx/>
                <a:uFillTx/>
                <a:latin typeface="CourtBT"/>
                <a:ea typeface="Rix모던고딕 B"/>
                <a:cs typeface="+mn-cs"/>
              </a:rPr>
              <a:t>비정질층의</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 부존재가 선행발명 </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에 개시된 막 형상 구조물의 내재된 구성이라는 점이 증명되었다고 보기 어려우므로</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CourtBT"/>
                <a:ea typeface="Rix모던고딕 B"/>
                <a:cs typeface="+mn-cs"/>
              </a:rPr>
              <a:t>두 발명이 동일하다고 할 수 없다</a:t>
            </a:r>
            <a:r>
              <a:rPr kumimoji="0" lang="en-US" altLang="ko-KR" sz="1200" b="0" i="0" u="none" strike="noStrike" kern="1200" cap="none" spc="0" normalizeH="0" baseline="0" noProof="0" dirty="0">
                <a:ln>
                  <a:noFill/>
                </a:ln>
                <a:solidFill>
                  <a:srgbClr val="FF0000"/>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따라서 차이점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에 관하여 나아가 살필 필요 없이 이 사건 제</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항 발명의 신규성이 부정되지 않는다</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 name="직선 연결선 8">
            <a:extLst>
              <a:ext uri="{FF2B5EF4-FFF2-40B4-BE49-F238E27FC236}">
                <a16:creationId xmlns:a16="http://schemas.microsoft.com/office/drawing/2014/main" id="{73993A9D-1453-4E1C-B42F-561CCEFEB5F5}"/>
              </a:ext>
            </a:extLst>
          </p:cNvPr>
          <p:cNvCxnSpPr/>
          <p:nvPr/>
        </p:nvCxnSpPr>
        <p:spPr>
          <a:xfrm>
            <a:off x="6105524" y="3146775"/>
            <a:ext cx="0" cy="3711225"/>
          </a:xfrm>
          <a:prstGeom prst="line">
            <a:avLst/>
          </a:prstGeom>
          <a:ln w="381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9235871"/>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직사각형 11"/>
          <p:cNvSpPr/>
          <p:nvPr/>
        </p:nvSpPr>
        <p:spPr>
          <a:xfrm>
            <a:off x="1806167" y="2503605"/>
            <a:ext cx="2867432" cy="3563367"/>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p:cNvSpPr>
            <a:spLocks noGrp="1"/>
          </p:cNvSpPr>
          <p:nvPr>
            <p:ph type="body" sz="quarter" idx="13"/>
          </p:nvPr>
        </p:nvSpPr>
        <p:spPr/>
        <p:txBody>
          <a:bodyPr/>
          <a:lstStyle/>
          <a:p>
            <a:r>
              <a:rPr lang="ko-KR" altLang="en-US" dirty="0"/>
              <a:t>발명의 범위가 다른 경우</a:t>
            </a:r>
            <a:r>
              <a:rPr lang="en-US" altLang="ko-KR" dirty="0"/>
              <a:t>(</a:t>
            </a:r>
            <a:r>
              <a:rPr lang="ko-KR" altLang="en-US" dirty="0"/>
              <a:t>상하위개념발명</a:t>
            </a:r>
            <a:r>
              <a:rPr lang="en-US" altLang="ko-KR" dirty="0"/>
              <a:t>)</a:t>
            </a:r>
            <a:endParaRPr lang="ko-KR" altLang="en-US" dirty="0"/>
          </a:p>
        </p:txBody>
      </p:sp>
      <p:sp>
        <p:nvSpPr>
          <p:cNvPr id="90" name="TextBox 89"/>
          <p:cNvSpPr txBox="1"/>
          <p:nvPr/>
        </p:nvSpPr>
        <p:spPr>
          <a:xfrm>
            <a:off x="77875" y="986046"/>
            <a:ext cx="11936323" cy="738664"/>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선행기술이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출원발명과의 관계에서 하위개념이 되는 유형은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구성요소를 한정하거나</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내적 부가</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구성요소를 부가</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외적 부가</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한 발명</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구체적인 예로는 구성요소를 한정한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선택발명과</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구성요소를 부가한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결합발명을</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들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특히</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구성요소를 더 많이 부가하면 할수록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권리범위가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좁아지게 되는 것을</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다기재협범위의 원칙이라고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이는 등록 후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구성요소완비의 원칙</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(All Element Rule)</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에 의하여 침해 여부를 판단</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할 때 하나의 구성요소라도 삭제하면 비침해가 되기 때문이다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p>
        </p:txBody>
      </p:sp>
      <p:cxnSp>
        <p:nvCxnSpPr>
          <p:cNvPr id="91" name="직선 연결선 90"/>
          <p:cNvCxnSpPr/>
          <p:nvPr/>
        </p:nvCxnSpPr>
        <p:spPr>
          <a:xfrm>
            <a:off x="0" y="172932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타원 4"/>
          <p:cNvSpPr/>
          <p:nvPr/>
        </p:nvSpPr>
        <p:spPr>
          <a:xfrm>
            <a:off x="2090056" y="3178627"/>
            <a:ext cx="2334986" cy="2334986"/>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7" name="타원 36"/>
          <p:cNvSpPr/>
          <p:nvPr/>
        </p:nvSpPr>
        <p:spPr>
          <a:xfrm>
            <a:off x="2625271" y="3742870"/>
            <a:ext cx="1264556" cy="1206500"/>
          </a:xfrm>
          <a:prstGeom prst="ellipse">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9" name="직선 화살표 연결선 8"/>
          <p:cNvCxnSpPr/>
          <p:nvPr/>
        </p:nvCxnSpPr>
        <p:spPr>
          <a:xfrm flipV="1">
            <a:off x="3257549" y="2631522"/>
            <a:ext cx="0" cy="1125862"/>
          </a:xfrm>
          <a:prstGeom prst="straightConnector1">
            <a:avLst/>
          </a:prstGeom>
          <a:ln w="762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3497397" y="2586077"/>
            <a:ext cx="809837" cy="369332"/>
          </a:xfrm>
          <a:prstGeom prst="rect">
            <a:avLst/>
          </a:prstGeom>
          <a:solidFill>
            <a:schemeClr val="bg1"/>
          </a:solid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동일성</a:t>
            </a:r>
          </a:p>
        </p:txBody>
      </p:sp>
      <p:sp>
        <p:nvSpPr>
          <p:cNvPr id="48" name="TextBox 47"/>
          <p:cNvSpPr txBox="1"/>
          <p:nvPr/>
        </p:nvSpPr>
        <p:spPr>
          <a:xfrm>
            <a:off x="2619998" y="4679774"/>
            <a:ext cx="1290738" cy="338554"/>
          </a:xfrm>
          <a:prstGeom prst="rect">
            <a:avLst/>
          </a:prstGeom>
          <a:solidFill>
            <a:schemeClr val="bg1"/>
          </a:solid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하위개념발명</a:t>
            </a:r>
          </a:p>
        </p:txBody>
      </p:sp>
      <p:sp>
        <p:nvSpPr>
          <p:cNvPr id="49" name="TextBox 48"/>
          <p:cNvSpPr txBox="1"/>
          <p:nvPr/>
        </p:nvSpPr>
        <p:spPr>
          <a:xfrm>
            <a:off x="2619998" y="5344336"/>
            <a:ext cx="1290738" cy="338554"/>
          </a:xfrm>
          <a:prstGeom prst="rect">
            <a:avLst/>
          </a:prstGeom>
          <a:solidFill>
            <a:schemeClr val="bg1"/>
          </a:solid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상위개념발명</a:t>
            </a:r>
          </a:p>
        </p:txBody>
      </p:sp>
      <p:sp>
        <p:nvSpPr>
          <p:cNvPr id="50" name="직사각형 49"/>
          <p:cNvSpPr/>
          <p:nvPr/>
        </p:nvSpPr>
        <p:spPr>
          <a:xfrm>
            <a:off x="7582808" y="2503605"/>
            <a:ext cx="2867432" cy="1763595"/>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1" name="직사각형 50"/>
          <p:cNvSpPr/>
          <p:nvPr/>
        </p:nvSpPr>
        <p:spPr>
          <a:xfrm>
            <a:off x="7582808" y="4377397"/>
            <a:ext cx="2867432" cy="1689576"/>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3" name="타원 52"/>
          <p:cNvSpPr/>
          <p:nvPr/>
        </p:nvSpPr>
        <p:spPr>
          <a:xfrm>
            <a:off x="8468130" y="2856830"/>
            <a:ext cx="1070210" cy="1096786"/>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4" name="타원 53"/>
          <p:cNvSpPr/>
          <p:nvPr/>
        </p:nvSpPr>
        <p:spPr>
          <a:xfrm>
            <a:off x="8713439" y="3121866"/>
            <a:ext cx="579592" cy="566715"/>
          </a:xfrm>
          <a:prstGeom prst="ellipse">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55" name="직선 화살표 연결선 54"/>
          <p:cNvCxnSpPr/>
          <p:nvPr/>
        </p:nvCxnSpPr>
        <p:spPr>
          <a:xfrm flipV="1">
            <a:off x="9003235" y="2599845"/>
            <a:ext cx="0" cy="528838"/>
          </a:xfrm>
          <a:prstGeom prst="straightConnector1">
            <a:avLst/>
          </a:prstGeom>
          <a:ln w="762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9203152" y="2512518"/>
            <a:ext cx="670376" cy="307777"/>
          </a:xfrm>
          <a:prstGeom prst="rect">
            <a:avLst/>
          </a:prstGeom>
          <a:solidFill>
            <a:schemeClr val="bg1"/>
          </a:solid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동일성</a:t>
            </a:r>
          </a:p>
        </p:txBody>
      </p:sp>
      <p:sp>
        <p:nvSpPr>
          <p:cNvPr id="57" name="TextBox 56"/>
          <p:cNvSpPr txBox="1"/>
          <p:nvPr/>
        </p:nvSpPr>
        <p:spPr>
          <a:xfrm>
            <a:off x="8711022" y="3561947"/>
            <a:ext cx="1191352" cy="276999"/>
          </a:xfrm>
          <a:prstGeom prst="rect">
            <a:avLst/>
          </a:prstGeom>
          <a:solidFill>
            <a:schemeClr val="bg1"/>
          </a:solid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라이트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자전거</a:t>
            </a:r>
          </a:p>
        </p:txBody>
      </p:sp>
      <p:sp>
        <p:nvSpPr>
          <p:cNvPr id="58" name="TextBox 57"/>
          <p:cNvSpPr txBox="1"/>
          <p:nvPr/>
        </p:nvSpPr>
        <p:spPr>
          <a:xfrm>
            <a:off x="8711021" y="3874104"/>
            <a:ext cx="598241" cy="276999"/>
          </a:xfrm>
          <a:prstGeom prst="rect">
            <a:avLst/>
          </a:prstGeom>
          <a:solidFill>
            <a:schemeClr val="bg1"/>
          </a:solid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자전거</a:t>
            </a:r>
          </a:p>
        </p:txBody>
      </p:sp>
      <p:sp>
        <p:nvSpPr>
          <p:cNvPr id="60" name="타원 59"/>
          <p:cNvSpPr/>
          <p:nvPr/>
        </p:nvSpPr>
        <p:spPr>
          <a:xfrm>
            <a:off x="8468130" y="4672763"/>
            <a:ext cx="1070210" cy="1096786"/>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1" name="타원 60"/>
          <p:cNvSpPr/>
          <p:nvPr/>
        </p:nvSpPr>
        <p:spPr>
          <a:xfrm>
            <a:off x="8713439" y="4937799"/>
            <a:ext cx="579593" cy="566715"/>
          </a:xfrm>
          <a:prstGeom prst="ellipse">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62" name="직선 화살표 연결선 61"/>
          <p:cNvCxnSpPr/>
          <p:nvPr/>
        </p:nvCxnSpPr>
        <p:spPr>
          <a:xfrm flipV="1">
            <a:off x="9003235" y="4415778"/>
            <a:ext cx="0" cy="528838"/>
          </a:xfrm>
          <a:prstGeom prst="straightConnector1">
            <a:avLst/>
          </a:prstGeom>
          <a:ln w="762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9157760" y="4412400"/>
            <a:ext cx="670376" cy="307777"/>
          </a:xfrm>
          <a:prstGeom prst="rect">
            <a:avLst/>
          </a:prstGeom>
          <a:solidFill>
            <a:schemeClr val="bg1"/>
          </a:solid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동일성</a:t>
            </a:r>
          </a:p>
        </p:txBody>
      </p:sp>
      <p:sp>
        <p:nvSpPr>
          <p:cNvPr id="64" name="TextBox 63"/>
          <p:cNvSpPr txBox="1"/>
          <p:nvPr/>
        </p:nvSpPr>
        <p:spPr>
          <a:xfrm>
            <a:off x="8711022" y="5377880"/>
            <a:ext cx="829073" cy="276999"/>
          </a:xfrm>
          <a:prstGeom prst="rect">
            <a:avLst/>
          </a:prstGeom>
          <a:solidFill>
            <a:schemeClr val="bg1"/>
          </a:solid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구리</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리벳</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5" name="TextBox 64"/>
          <p:cNvSpPr txBox="1"/>
          <p:nvPr/>
        </p:nvSpPr>
        <p:spPr>
          <a:xfrm>
            <a:off x="8711021" y="5690037"/>
            <a:ext cx="966931" cy="276999"/>
          </a:xfrm>
          <a:prstGeom prst="rect">
            <a:avLst/>
          </a:prstGeom>
          <a:solidFill>
            <a:schemeClr val="bg1"/>
          </a:solid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금속</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체결구</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4" name="직사각형 13"/>
          <p:cNvSpPr/>
          <p:nvPr/>
        </p:nvSpPr>
        <p:spPr>
          <a:xfrm>
            <a:off x="3364685" y="4084069"/>
            <a:ext cx="792750" cy="313584"/>
          </a:xfrm>
          <a:prstGeom prst="rect">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선행기술</a:t>
            </a:r>
          </a:p>
        </p:txBody>
      </p:sp>
      <p:sp>
        <p:nvSpPr>
          <p:cNvPr id="66" name="직사각형 65"/>
          <p:cNvSpPr/>
          <p:nvPr/>
        </p:nvSpPr>
        <p:spPr>
          <a:xfrm>
            <a:off x="2147169" y="3274540"/>
            <a:ext cx="792750" cy="313584"/>
          </a:xfrm>
          <a:prstGeom prst="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출원발명</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5" name="오각형 14"/>
          <p:cNvSpPr/>
          <p:nvPr/>
        </p:nvSpPr>
        <p:spPr>
          <a:xfrm>
            <a:off x="5457370" y="3009404"/>
            <a:ext cx="1378857" cy="824317"/>
          </a:xfrm>
          <a:prstGeom prst="homePlate">
            <a:avLst>
              <a:gd name="adj" fmla="val 25349"/>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외적 부가</a:t>
            </a:r>
          </a:p>
        </p:txBody>
      </p:sp>
      <p:sp>
        <p:nvSpPr>
          <p:cNvPr id="67" name="오각형 66"/>
          <p:cNvSpPr/>
          <p:nvPr/>
        </p:nvSpPr>
        <p:spPr>
          <a:xfrm>
            <a:off x="5457370" y="4865720"/>
            <a:ext cx="1378857" cy="824317"/>
          </a:xfrm>
          <a:prstGeom prst="homePlate">
            <a:avLst>
              <a:gd name="adj" fmla="val 25349"/>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내적 부가</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66</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22551304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p:cNvSpPr>
            <a:spLocks noGrp="1"/>
          </p:cNvSpPr>
          <p:nvPr>
            <p:ph type="body" sz="quarter" idx="13"/>
          </p:nvPr>
        </p:nvSpPr>
        <p:spPr/>
        <p:txBody>
          <a:bodyPr/>
          <a:lstStyle/>
          <a:p>
            <a:r>
              <a:rPr lang="ko-KR" altLang="en-US" dirty="0"/>
              <a:t>신규성 판단의 </a:t>
            </a:r>
            <a:r>
              <a:rPr lang="en-US" altLang="ko-KR" dirty="0"/>
              <a:t>CASE</a:t>
            </a:r>
            <a:endParaRPr lang="ko-KR" altLang="en-US" dirty="0"/>
          </a:p>
        </p:txBody>
      </p:sp>
      <p:sp>
        <p:nvSpPr>
          <p:cNvPr id="90" name="TextBox 89"/>
          <p:cNvSpPr txBox="1"/>
          <p:nvPr/>
        </p:nvSpPr>
        <p:spPr>
          <a:xfrm>
            <a:off x="77875" y="986046"/>
            <a:ext cx="11936323" cy="738664"/>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청구항</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청구항</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기재된 발명은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다기재</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협범위의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원칙에 따라 공지기술보다 상위개념이기 때문에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공지기술과</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동일성이 있어 신규성이 상실되나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청구항</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기재된 발명은 공지기술보다 하위개념이기 때문에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공지기술과</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동일성이 없어 신규성이 상실되지 아니한다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출원일체의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원칙</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(All or Nothing Rule)</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의하여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청구항</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청구항</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를 삭제보정하지 아니한 경우 출원 전체가 특허를 받을 수 없게 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91" name="직선 연결선 90"/>
          <p:cNvCxnSpPr/>
          <p:nvPr/>
        </p:nvCxnSpPr>
        <p:spPr>
          <a:xfrm>
            <a:off x="0" y="172932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직선 연결선 32"/>
          <p:cNvCxnSpPr/>
          <p:nvPr/>
        </p:nvCxnSpPr>
        <p:spPr>
          <a:xfrm>
            <a:off x="316404" y="4742543"/>
            <a:ext cx="478446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837718" y="5024724"/>
            <a:ext cx="832279" cy="307777"/>
          </a:xfrm>
          <a:prstGeom prst="rect">
            <a:avLst/>
          </a:prstGeom>
          <a:no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공지기술</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1" name="TextBox 40"/>
          <p:cNvSpPr txBox="1"/>
          <p:nvPr/>
        </p:nvSpPr>
        <p:spPr>
          <a:xfrm>
            <a:off x="3240260" y="5625357"/>
            <a:ext cx="832279" cy="307777"/>
          </a:xfrm>
          <a:prstGeom prst="rect">
            <a:avLst/>
          </a:prstGeom>
          <a:no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출원발명</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nvGrpSpPr>
          <p:cNvPr id="5" name="그룹 4">
            <a:extLst>
              <a:ext uri="{FF2B5EF4-FFF2-40B4-BE49-F238E27FC236}">
                <a16:creationId xmlns:a16="http://schemas.microsoft.com/office/drawing/2014/main" id="{33AA9AEF-0A50-4E82-3AB3-FEC9E424FD8A}"/>
              </a:ext>
            </a:extLst>
          </p:cNvPr>
          <p:cNvGrpSpPr/>
          <p:nvPr/>
        </p:nvGrpSpPr>
        <p:grpSpPr>
          <a:xfrm>
            <a:off x="602126" y="2230499"/>
            <a:ext cx="3754056" cy="1936377"/>
            <a:chOff x="602126" y="2230499"/>
            <a:chExt cx="3754056" cy="1936377"/>
          </a:xfrm>
        </p:grpSpPr>
        <p:sp>
          <p:nvSpPr>
            <p:cNvPr id="44" name="직사각형 43"/>
            <p:cNvSpPr/>
            <p:nvPr/>
          </p:nvSpPr>
          <p:spPr>
            <a:xfrm>
              <a:off x="602126" y="2230499"/>
              <a:ext cx="3651538" cy="1936377"/>
            </a:xfrm>
            <a:prstGeom prst="rect">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 name="타원 10"/>
            <p:cNvSpPr/>
            <p:nvPr/>
          </p:nvSpPr>
          <p:spPr>
            <a:xfrm>
              <a:off x="1428958" y="3126548"/>
              <a:ext cx="688525" cy="691233"/>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2" name="타원 41"/>
            <p:cNvSpPr/>
            <p:nvPr/>
          </p:nvSpPr>
          <p:spPr>
            <a:xfrm>
              <a:off x="2752637" y="3126548"/>
              <a:ext cx="688525" cy="691233"/>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3" name="자유형 12"/>
            <p:cNvSpPr/>
            <p:nvPr/>
          </p:nvSpPr>
          <p:spPr>
            <a:xfrm>
              <a:off x="1769333" y="2868364"/>
              <a:ext cx="1338808" cy="622678"/>
            </a:xfrm>
            <a:custGeom>
              <a:avLst/>
              <a:gdLst>
                <a:gd name="connsiteX0" fmla="*/ 0 w 1586753"/>
                <a:gd name="connsiteY0" fmla="*/ 735106 h 735106"/>
                <a:gd name="connsiteX1" fmla="*/ 1586753 w 1586753"/>
                <a:gd name="connsiteY1" fmla="*/ 735106 h 735106"/>
                <a:gd name="connsiteX2" fmla="*/ 1326777 w 1586753"/>
                <a:gd name="connsiteY2" fmla="*/ 0 h 735106"/>
                <a:gd name="connsiteX3" fmla="*/ 26894 w 1586753"/>
                <a:gd name="connsiteY3" fmla="*/ 0 h 735106"/>
                <a:gd name="connsiteX4" fmla="*/ 0 w 1586753"/>
                <a:gd name="connsiteY4" fmla="*/ 735106 h 735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6753" h="735106">
                  <a:moveTo>
                    <a:pt x="0" y="735106"/>
                  </a:moveTo>
                  <a:lnTo>
                    <a:pt x="1586753" y="735106"/>
                  </a:lnTo>
                  <a:lnTo>
                    <a:pt x="1326777" y="0"/>
                  </a:lnTo>
                  <a:lnTo>
                    <a:pt x="26894" y="0"/>
                  </a:lnTo>
                  <a:lnTo>
                    <a:pt x="0" y="735106"/>
                  </a:lnTo>
                  <a:close/>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7" name="직선 연결선 16"/>
            <p:cNvCxnSpPr>
              <a:stCxn id="13" idx="3"/>
            </p:cNvCxnSpPr>
            <p:nvPr/>
          </p:nvCxnSpPr>
          <p:spPr>
            <a:xfrm flipH="1" flipV="1">
              <a:off x="1625619" y="2534244"/>
              <a:ext cx="166405" cy="334120"/>
            </a:xfrm>
            <a:prstGeom prst="line">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직선 연결선 18"/>
            <p:cNvCxnSpPr>
              <a:stCxn id="13" idx="3"/>
            </p:cNvCxnSpPr>
            <p:nvPr/>
          </p:nvCxnSpPr>
          <p:spPr>
            <a:xfrm flipV="1">
              <a:off x="1792024" y="2541747"/>
              <a:ext cx="219353" cy="326617"/>
            </a:xfrm>
            <a:prstGeom prst="line">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 name="모서리가 둥근 직사각형 19"/>
            <p:cNvSpPr/>
            <p:nvPr/>
          </p:nvSpPr>
          <p:spPr>
            <a:xfrm>
              <a:off x="1625619" y="2929114"/>
              <a:ext cx="158630" cy="146083"/>
            </a:xfrm>
            <a:prstGeom prst="roundRect">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1" name="자유형 20"/>
            <p:cNvSpPr/>
            <p:nvPr/>
          </p:nvSpPr>
          <p:spPr>
            <a:xfrm>
              <a:off x="2245858" y="3248046"/>
              <a:ext cx="378194" cy="470805"/>
            </a:xfrm>
            <a:custGeom>
              <a:avLst/>
              <a:gdLst>
                <a:gd name="connsiteX0" fmla="*/ 0 w 448235"/>
                <a:gd name="connsiteY0" fmla="*/ 555811 h 555811"/>
                <a:gd name="connsiteX1" fmla="*/ 233082 w 448235"/>
                <a:gd name="connsiteY1" fmla="*/ 555811 h 555811"/>
                <a:gd name="connsiteX2" fmla="*/ 233082 w 448235"/>
                <a:gd name="connsiteY2" fmla="*/ 0 h 555811"/>
                <a:gd name="connsiteX3" fmla="*/ 448235 w 448235"/>
                <a:gd name="connsiteY3" fmla="*/ 0 h 555811"/>
              </a:gdLst>
              <a:ahLst/>
              <a:cxnLst>
                <a:cxn ang="0">
                  <a:pos x="connsiteX0" y="connsiteY0"/>
                </a:cxn>
                <a:cxn ang="0">
                  <a:pos x="connsiteX1" y="connsiteY1"/>
                </a:cxn>
                <a:cxn ang="0">
                  <a:pos x="connsiteX2" y="connsiteY2"/>
                </a:cxn>
                <a:cxn ang="0">
                  <a:pos x="connsiteX3" y="connsiteY3"/>
                </a:cxn>
              </a:cxnLst>
              <a:rect l="l" t="t" r="r" b="b"/>
              <a:pathLst>
                <a:path w="448235" h="555811">
                  <a:moveTo>
                    <a:pt x="0" y="555811"/>
                  </a:moveTo>
                  <a:lnTo>
                    <a:pt x="233082" y="555811"/>
                  </a:lnTo>
                  <a:lnTo>
                    <a:pt x="233082" y="0"/>
                  </a:lnTo>
                  <a:lnTo>
                    <a:pt x="448235" y="0"/>
                  </a:ln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2" name="모서리가 둥근 직사각형 51"/>
            <p:cNvSpPr/>
            <p:nvPr/>
          </p:nvSpPr>
          <p:spPr>
            <a:xfrm>
              <a:off x="2351752" y="2750001"/>
              <a:ext cx="272300" cy="121168"/>
            </a:xfrm>
            <a:prstGeom prst="roundRect">
              <a:avLst/>
            </a:prstGeom>
            <a:solidFill>
              <a:schemeClr val="accent2">
                <a:lumMod val="20000"/>
                <a:lumOff val="80000"/>
              </a:schemeClr>
            </a:solid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2" name="직사각형 21"/>
            <p:cNvSpPr/>
            <p:nvPr/>
          </p:nvSpPr>
          <p:spPr>
            <a:xfrm>
              <a:off x="1844972" y="3437887"/>
              <a:ext cx="1188160" cy="104506"/>
            </a:xfrm>
            <a:prstGeom prst="rect">
              <a:avLst/>
            </a:prstGeom>
            <a:solidFill>
              <a:schemeClr val="bg1">
                <a:lumMod val="50000"/>
              </a:schemeClr>
            </a:solid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3" name="TextBox 22"/>
            <p:cNvSpPr txBox="1"/>
            <p:nvPr/>
          </p:nvSpPr>
          <p:spPr>
            <a:xfrm>
              <a:off x="2117378" y="2362093"/>
              <a:ext cx="635154" cy="221599"/>
            </a:xfrm>
            <a:prstGeom prst="rect">
              <a:avLst/>
            </a:prstGeom>
            <a:noFill/>
            <a:ln w="38100">
              <a:no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핸들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9" name="TextBox 58"/>
            <p:cNvSpPr txBox="1"/>
            <p:nvPr/>
          </p:nvSpPr>
          <p:spPr>
            <a:xfrm>
              <a:off x="2821805" y="2383990"/>
              <a:ext cx="799678" cy="221599"/>
            </a:xfrm>
            <a:prstGeom prst="rect">
              <a:avLst/>
            </a:prstGeom>
            <a:noFill/>
            <a:ln w="38100">
              <a:no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안장</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(e)</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8" name="TextBox 67"/>
            <p:cNvSpPr txBox="1"/>
            <p:nvPr/>
          </p:nvSpPr>
          <p:spPr>
            <a:xfrm>
              <a:off x="3304924" y="2761377"/>
              <a:ext cx="610457" cy="221599"/>
            </a:xfrm>
            <a:prstGeom prst="rect">
              <a:avLst/>
            </a:prstGeom>
            <a:noFill/>
            <a:ln w="38100">
              <a:no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바디</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9" name="TextBox 68"/>
            <p:cNvSpPr txBox="1"/>
            <p:nvPr/>
          </p:nvSpPr>
          <p:spPr>
            <a:xfrm>
              <a:off x="3582783" y="3273346"/>
              <a:ext cx="773399" cy="22159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바퀴</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(c)</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0" name="TextBox 69"/>
            <p:cNvSpPr txBox="1"/>
            <p:nvPr/>
          </p:nvSpPr>
          <p:spPr>
            <a:xfrm>
              <a:off x="2450294" y="3836962"/>
              <a:ext cx="582208" cy="221599"/>
            </a:xfrm>
            <a:prstGeom prst="rect">
              <a:avLst/>
            </a:prstGeom>
            <a:noFill/>
            <a:ln w="38100">
              <a:no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폐달</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(d)</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1" name="TextBox 70"/>
            <p:cNvSpPr txBox="1"/>
            <p:nvPr/>
          </p:nvSpPr>
          <p:spPr>
            <a:xfrm>
              <a:off x="623809" y="2639202"/>
              <a:ext cx="710601" cy="2616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라이트</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(f)</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2" name="TextBox 71"/>
            <p:cNvSpPr txBox="1"/>
            <p:nvPr/>
          </p:nvSpPr>
          <p:spPr>
            <a:xfrm>
              <a:off x="1769438" y="3876015"/>
              <a:ext cx="680856" cy="261610"/>
            </a:xfrm>
            <a:prstGeom prst="rect">
              <a:avLst/>
            </a:prstGeom>
            <a:noFill/>
            <a:ln w="38100">
              <a:no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기어</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(g)</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6" name="자유형 25"/>
            <p:cNvSpPr/>
            <p:nvPr/>
          </p:nvSpPr>
          <p:spPr>
            <a:xfrm>
              <a:off x="1701258" y="2288179"/>
              <a:ext cx="486368" cy="359970"/>
            </a:xfrm>
            <a:custGeom>
              <a:avLst/>
              <a:gdLst>
                <a:gd name="connsiteX0" fmla="*/ 0 w 576443"/>
                <a:gd name="connsiteY0" fmla="*/ 424965 h 424965"/>
                <a:gd name="connsiteX1" fmla="*/ 304800 w 576443"/>
                <a:gd name="connsiteY1" fmla="*/ 3624 h 424965"/>
                <a:gd name="connsiteX2" fmla="*/ 537882 w 576443"/>
                <a:gd name="connsiteY2" fmla="*/ 209812 h 424965"/>
                <a:gd name="connsiteX3" fmla="*/ 573741 w 576443"/>
                <a:gd name="connsiteY3" fmla="*/ 191882 h 424965"/>
              </a:gdLst>
              <a:ahLst/>
              <a:cxnLst>
                <a:cxn ang="0">
                  <a:pos x="connsiteX0" y="connsiteY0"/>
                </a:cxn>
                <a:cxn ang="0">
                  <a:pos x="connsiteX1" y="connsiteY1"/>
                </a:cxn>
                <a:cxn ang="0">
                  <a:pos x="connsiteX2" y="connsiteY2"/>
                </a:cxn>
                <a:cxn ang="0">
                  <a:pos x="connsiteX3" y="connsiteY3"/>
                </a:cxn>
              </a:cxnLst>
              <a:rect l="l" t="t" r="r" b="b"/>
              <a:pathLst>
                <a:path w="576443" h="424965">
                  <a:moveTo>
                    <a:pt x="0" y="424965"/>
                  </a:moveTo>
                  <a:cubicBezTo>
                    <a:pt x="107576" y="232224"/>
                    <a:pt x="215153" y="39483"/>
                    <a:pt x="304800" y="3624"/>
                  </a:cubicBezTo>
                  <a:cubicBezTo>
                    <a:pt x="394447" y="-32235"/>
                    <a:pt x="537882" y="209812"/>
                    <a:pt x="537882" y="209812"/>
                  </a:cubicBezTo>
                  <a:cubicBezTo>
                    <a:pt x="582706" y="241188"/>
                    <a:pt x="578223" y="216535"/>
                    <a:pt x="573741" y="191882"/>
                  </a:cubicBezTo>
                </a:path>
              </a:pathLst>
            </a:custGeom>
            <a:noFill/>
            <a:ln>
              <a:solidFill>
                <a:schemeClr val="accent2">
                  <a:lumMod val="50000"/>
                </a:schemeClr>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7" name="자유형 26"/>
            <p:cNvSpPr/>
            <p:nvPr/>
          </p:nvSpPr>
          <p:spPr>
            <a:xfrm>
              <a:off x="2934171" y="2811309"/>
              <a:ext cx="416014" cy="211636"/>
            </a:xfrm>
            <a:custGeom>
              <a:avLst/>
              <a:gdLst>
                <a:gd name="connsiteX0" fmla="*/ 0 w 493059"/>
                <a:gd name="connsiteY0" fmla="*/ 174934 h 249848"/>
                <a:gd name="connsiteX1" fmla="*/ 17929 w 493059"/>
                <a:gd name="connsiteY1" fmla="*/ 94251 h 249848"/>
                <a:gd name="connsiteX2" fmla="*/ 107576 w 493059"/>
                <a:gd name="connsiteY2" fmla="*/ 4604 h 249848"/>
                <a:gd name="connsiteX3" fmla="*/ 358588 w 493059"/>
                <a:gd name="connsiteY3" fmla="*/ 246651 h 249848"/>
                <a:gd name="connsiteX4" fmla="*/ 493059 w 493059"/>
                <a:gd name="connsiteY4" fmla="*/ 121146 h 249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59" h="249848">
                  <a:moveTo>
                    <a:pt x="0" y="174934"/>
                  </a:moveTo>
                  <a:cubicBezTo>
                    <a:pt x="0" y="148786"/>
                    <a:pt x="0" y="122639"/>
                    <a:pt x="17929" y="94251"/>
                  </a:cubicBezTo>
                  <a:cubicBezTo>
                    <a:pt x="35858" y="65863"/>
                    <a:pt x="50800" y="-20796"/>
                    <a:pt x="107576" y="4604"/>
                  </a:cubicBezTo>
                  <a:cubicBezTo>
                    <a:pt x="164352" y="30004"/>
                    <a:pt x="294341" y="227227"/>
                    <a:pt x="358588" y="246651"/>
                  </a:cubicBezTo>
                  <a:cubicBezTo>
                    <a:pt x="422835" y="266075"/>
                    <a:pt x="457947" y="193610"/>
                    <a:pt x="493059" y="121146"/>
                  </a:cubicBezTo>
                </a:path>
              </a:pathLst>
            </a:custGeom>
            <a:noFill/>
            <a:ln>
              <a:solidFill>
                <a:schemeClr val="accent2">
                  <a:lumMod val="50000"/>
                </a:schemeClr>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8" name="자유형 27"/>
            <p:cNvSpPr/>
            <p:nvPr/>
          </p:nvSpPr>
          <p:spPr>
            <a:xfrm>
              <a:off x="3418260" y="3121108"/>
              <a:ext cx="529472" cy="286404"/>
            </a:xfrm>
            <a:custGeom>
              <a:avLst/>
              <a:gdLst>
                <a:gd name="connsiteX0" fmla="*/ 0 w 627529"/>
                <a:gd name="connsiteY0" fmla="*/ 338116 h 338116"/>
                <a:gd name="connsiteX1" fmla="*/ 143435 w 627529"/>
                <a:gd name="connsiteY1" fmla="*/ 6422 h 338116"/>
                <a:gd name="connsiteX2" fmla="*/ 304800 w 627529"/>
                <a:gd name="connsiteY2" fmla="*/ 113999 h 338116"/>
                <a:gd name="connsiteX3" fmla="*/ 528918 w 627529"/>
                <a:gd name="connsiteY3" fmla="*/ 51246 h 338116"/>
                <a:gd name="connsiteX4" fmla="*/ 627529 w 627529"/>
                <a:gd name="connsiteY4" fmla="*/ 167787 h 3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529" h="338116">
                  <a:moveTo>
                    <a:pt x="0" y="338116"/>
                  </a:moveTo>
                  <a:cubicBezTo>
                    <a:pt x="46317" y="190945"/>
                    <a:pt x="92635" y="43775"/>
                    <a:pt x="143435" y="6422"/>
                  </a:cubicBezTo>
                  <a:cubicBezTo>
                    <a:pt x="194235" y="-30931"/>
                    <a:pt x="240553" y="106528"/>
                    <a:pt x="304800" y="113999"/>
                  </a:cubicBezTo>
                  <a:cubicBezTo>
                    <a:pt x="369047" y="121470"/>
                    <a:pt x="475130" y="42281"/>
                    <a:pt x="528918" y="51246"/>
                  </a:cubicBezTo>
                  <a:cubicBezTo>
                    <a:pt x="582706" y="60211"/>
                    <a:pt x="605117" y="113999"/>
                    <a:pt x="627529" y="167787"/>
                  </a:cubicBezTo>
                </a:path>
              </a:pathLst>
            </a:custGeom>
            <a:noFill/>
            <a:ln>
              <a:solidFill>
                <a:schemeClr val="accent2">
                  <a:lumMod val="50000"/>
                </a:schemeClr>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9" name="자유형 28"/>
            <p:cNvSpPr/>
            <p:nvPr/>
          </p:nvSpPr>
          <p:spPr>
            <a:xfrm>
              <a:off x="2457647" y="3627728"/>
              <a:ext cx="153370" cy="205028"/>
            </a:xfrm>
            <a:custGeom>
              <a:avLst/>
              <a:gdLst>
                <a:gd name="connsiteX0" fmla="*/ 0 w 191051"/>
                <a:gd name="connsiteY0" fmla="*/ 0 h 242047"/>
                <a:gd name="connsiteX1" fmla="*/ 188259 w 191051"/>
                <a:gd name="connsiteY1" fmla="*/ 53788 h 242047"/>
                <a:gd name="connsiteX2" fmla="*/ 116541 w 191051"/>
                <a:gd name="connsiteY2" fmla="*/ 188259 h 242047"/>
                <a:gd name="connsiteX3" fmla="*/ 170330 w 191051"/>
                <a:gd name="connsiteY3" fmla="*/ 242047 h 242047"/>
              </a:gdLst>
              <a:ahLst/>
              <a:cxnLst>
                <a:cxn ang="0">
                  <a:pos x="connsiteX0" y="connsiteY0"/>
                </a:cxn>
                <a:cxn ang="0">
                  <a:pos x="connsiteX1" y="connsiteY1"/>
                </a:cxn>
                <a:cxn ang="0">
                  <a:pos x="connsiteX2" y="connsiteY2"/>
                </a:cxn>
                <a:cxn ang="0">
                  <a:pos x="connsiteX3" y="connsiteY3"/>
                </a:cxn>
              </a:cxnLst>
              <a:rect l="l" t="t" r="r" b="b"/>
              <a:pathLst>
                <a:path w="191051" h="242047">
                  <a:moveTo>
                    <a:pt x="0" y="0"/>
                  </a:moveTo>
                  <a:cubicBezTo>
                    <a:pt x="84417" y="11205"/>
                    <a:pt x="168835" y="22411"/>
                    <a:pt x="188259" y="53788"/>
                  </a:cubicBezTo>
                  <a:cubicBezTo>
                    <a:pt x="207683" y="85165"/>
                    <a:pt x="119529" y="156883"/>
                    <a:pt x="116541" y="188259"/>
                  </a:cubicBezTo>
                  <a:cubicBezTo>
                    <a:pt x="113553" y="219635"/>
                    <a:pt x="141941" y="230841"/>
                    <a:pt x="170330" y="242047"/>
                  </a:cubicBezTo>
                </a:path>
              </a:pathLst>
            </a:custGeom>
            <a:noFill/>
            <a:ln>
              <a:solidFill>
                <a:schemeClr val="accent2">
                  <a:lumMod val="50000"/>
                </a:schemeClr>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0" name="자유형 29"/>
            <p:cNvSpPr/>
            <p:nvPr/>
          </p:nvSpPr>
          <p:spPr>
            <a:xfrm>
              <a:off x="2487902" y="2587400"/>
              <a:ext cx="597547" cy="144280"/>
            </a:xfrm>
            <a:custGeom>
              <a:avLst/>
              <a:gdLst>
                <a:gd name="connsiteX0" fmla="*/ 0 w 708212"/>
                <a:gd name="connsiteY0" fmla="*/ 170330 h 170330"/>
                <a:gd name="connsiteX1" fmla="*/ 268941 w 708212"/>
                <a:gd name="connsiteY1" fmla="*/ 26894 h 170330"/>
                <a:gd name="connsiteX2" fmla="*/ 475130 w 708212"/>
                <a:gd name="connsiteY2" fmla="*/ 161365 h 170330"/>
                <a:gd name="connsiteX3" fmla="*/ 708212 w 708212"/>
                <a:gd name="connsiteY3" fmla="*/ 0 h 170330"/>
              </a:gdLst>
              <a:ahLst/>
              <a:cxnLst>
                <a:cxn ang="0">
                  <a:pos x="connsiteX0" y="connsiteY0"/>
                </a:cxn>
                <a:cxn ang="0">
                  <a:pos x="connsiteX1" y="connsiteY1"/>
                </a:cxn>
                <a:cxn ang="0">
                  <a:pos x="connsiteX2" y="connsiteY2"/>
                </a:cxn>
                <a:cxn ang="0">
                  <a:pos x="connsiteX3" y="connsiteY3"/>
                </a:cxn>
              </a:cxnLst>
              <a:rect l="l" t="t" r="r" b="b"/>
              <a:pathLst>
                <a:path w="708212" h="170330">
                  <a:moveTo>
                    <a:pt x="0" y="170330"/>
                  </a:moveTo>
                  <a:cubicBezTo>
                    <a:pt x="94876" y="99359"/>
                    <a:pt x="189753" y="28388"/>
                    <a:pt x="268941" y="26894"/>
                  </a:cubicBezTo>
                  <a:cubicBezTo>
                    <a:pt x="348129" y="25400"/>
                    <a:pt x="401918" y="165847"/>
                    <a:pt x="475130" y="161365"/>
                  </a:cubicBezTo>
                  <a:cubicBezTo>
                    <a:pt x="548342" y="156883"/>
                    <a:pt x="628277" y="78441"/>
                    <a:pt x="708212" y="0"/>
                  </a:cubicBezTo>
                </a:path>
              </a:pathLst>
            </a:custGeom>
            <a:noFill/>
            <a:ln>
              <a:solidFill>
                <a:schemeClr val="accent2">
                  <a:lumMod val="50000"/>
                </a:schemeClr>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2" name="자유형 31"/>
            <p:cNvSpPr/>
            <p:nvPr/>
          </p:nvSpPr>
          <p:spPr>
            <a:xfrm>
              <a:off x="1050764" y="2836513"/>
              <a:ext cx="567291" cy="206710"/>
            </a:xfrm>
            <a:custGeom>
              <a:avLst/>
              <a:gdLst>
                <a:gd name="connsiteX0" fmla="*/ 672353 w 672353"/>
                <a:gd name="connsiteY0" fmla="*/ 154143 h 244032"/>
                <a:gd name="connsiteX1" fmla="*/ 519953 w 672353"/>
                <a:gd name="connsiteY1" fmla="*/ 1743 h 244032"/>
                <a:gd name="connsiteX2" fmla="*/ 179294 w 672353"/>
                <a:gd name="connsiteY2" fmla="*/ 243791 h 244032"/>
                <a:gd name="connsiteX3" fmla="*/ 0 w 672353"/>
                <a:gd name="connsiteY3" fmla="*/ 37602 h 244032"/>
              </a:gdLst>
              <a:ahLst/>
              <a:cxnLst>
                <a:cxn ang="0">
                  <a:pos x="connsiteX0" y="connsiteY0"/>
                </a:cxn>
                <a:cxn ang="0">
                  <a:pos x="connsiteX1" y="connsiteY1"/>
                </a:cxn>
                <a:cxn ang="0">
                  <a:pos x="connsiteX2" y="connsiteY2"/>
                </a:cxn>
                <a:cxn ang="0">
                  <a:pos x="connsiteX3" y="connsiteY3"/>
                </a:cxn>
              </a:cxnLst>
              <a:rect l="l" t="t" r="r" b="b"/>
              <a:pathLst>
                <a:path w="672353" h="244032">
                  <a:moveTo>
                    <a:pt x="672353" y="154143"/>
                  </a:moveTo>
                  <a:cubicBezTo>
                    <a:pt x="637241" y="70472"/>
                    <a:pt x="602129" y="-13198"/>
                    <a:pt x="519953" y="1743"/>
                  </a:cubicBezTo>
                  <a:cubicBezTo>
                    <a:pt x="437777" y="16684"/>
                    <a:pt x="265953" y="237815"/>
                    <a:pt x="179294" y="243791"/>
                  </a:cubicBezTo>
                  <a:cubicBezTo>
                    <a:pt x="92635" y="249767"/>
                    <a:pt x="46317" y="143684"/>
                    <a:pt x="0" y="37602"/>
                  </a:cubicBezTo>
                </a:path>
              </a:pathLst>
            </a:custGeom>
            <a:noFill/>
            <a:ln>
              <a:solidFill>
                <a:schemeClr val="accent2">
                  <a:lumMod val="50000"/>
                </a:schemeClr>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4" name="자유형 33"/>
            <p:cNvSpPr/>
            <p:nvPr/>
          </p:nvSpPr>
          <p:spPr>
            <a:xfrm>
              <a:off x="2109650" y="3551792"/>
              <a:ext cx="98389" cy="341714"/>
            </a:xfrm>
            <a:custGeom>
              <a:avLst/>
              <a:gdLst>
                <a:gd name="connsiteX0" fmla="*/ 116610 w 116610"/>
                <a:gd name="connsiteY0" fmla="*/ 0 h 403412"/>
                <a:gd name="connsiteX1" fmla="*/ 69 w 116610"/>
                <a:gd name="connsiteY1" fmla="*/ 161365 h 403412"/>
                <a:gd name="connsiteX2" fmla="*/ 98681 w 116610"/>
                <a:gd name="connsiteY2" fmla="*/ 268941 h 403412"/>
                <a:gd name="connsiteX3" fmla="*/ 44892 w 116610"/>
                <a:gd name="connsiteY3" fmla="*/ 403412 h 403412"/>
              </a:gdLst>
              <a:ahLst/>
              <a:cxnLst>
                <a:cxn ang="0">
                  <a:pos x="connsiteX0" y="connsiteY0"/>
                </a:cxn>
                <a:cxn ang="0">
                  <a:pos x="connsiteX1" y="connsiteY1"/>
                </a:cxn>
                <a:cxn ang="0">
                  <a:pos x="connsiteX2" y="connsiteY2"/>
                </a:cxn>
                <a:cxn ang="0">
                  <a:pos x="connsiteX3" y="connsiteY3"/>
                </a:cxn>
              </a:cxnLst>
              <a:rect l="l" t="t" r="r" b="b"/>
              <a:pathLst>
                <a:path w="116610" h="403412">
                  <a:moveTo>
                    <a:pt x="116610" y="0"/>
                  </a:moveTo>
                  <a:cubicBezTo>
                    <a:pt x="59833" y="58271"/>
                    <a:pt x="3057" y="116542"/>
                    <a:pt x="69" y="161365"/>
                  </a:cubicBezTo>
                  <a:cubicBezTo>
                    <a:pt x="-2919" y="206188"/>
                    <a:pt x="91210" y="228600"/>
                    <a:pt x="98681" y="268941"/>
                  </a:cubicBezTo>
                  <a:cubicBezTo>
                    <a:pt x="106151" y="309282"/>
                    <a:pt x="75521" y="356347"/>
                    <a:pt x="44892" y="403412"/>
                  </a:cubicBezTo>
                </a:path>
              </a:pathLst>
            </a:custGeom>
            <a:noFill/>
            <a:ln>
              <a:solidFill>
                <a:schemeClr val="accent2">
                  <a:lumMod val="50000"/>
                </a:schemeClr>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grpSp>
      <p:sp>
        <p:nvSpPr>
          <p:cNvPr id="46" name="직사각형 45"/>
          <p:cNvSpPr/>
          <p:nvPr/>
        </p:nvSpPr>
        <p:spPr>
          <a:xfrm>
            <a:off x="602126" y="1954305"/>
            <a:ext cx="1507524" cy="276193"/>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자전거 구성요소</a:t>
            </a:r>
          </a:p>
        </p:txBody>
      </p:sp>
      <p:cxnSp>
        <p:nvCxnSpPr>
          <p:cNvPr id="73" name="직선 화살표 연결선 72"/>
          <p:cNvCxnSpPr>
            <a:stCxn id="39" idx="0"/>
          </p:cNvCxnSpPr>
          <p:nvPr/>
        </p:nvCxnSpPr>
        <p:spPr>
          <a:xfrm flipH="1" flipV="1">
            <a:off x="1253857" y="4742543"/>
            <a:ext cx="1" cy="282181"/>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5" name="직선 화살표 연결선 74"/>
          <p:cNvCxnSpPr>
            <a:stCxn id="41" idx="0"/>
          </p:cNvCxnSpPr>
          <p:nvPr/>
        </p:nvCxnSpPr>
        <p:spPr>
          <a:xfrm flipV="1">
            <a:off x="3656400" y="4782627"/>
            <a:ext cx="0" cy="84273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7" name="직사각형 76"/>
          <p:cNvSpPr/>
          <p:nvPr/>
        </p:nvSpPr>
        <p:spPr>
          <a:xfrm>
            <a:off x="315965" y="5352934"/>
            <a:ext cx="2156360" cy="276999"/>
          </a:xfrm>
          <a:prstGeom prst="rect">
            <a:avLst/>
          </a:prstGeom>
          <a:ln>
            <a:solidFill>
              <a:schemeClr val="bg1">
                <a:lumMod val="50000"/>
              </a:schemeClr>
            </a:solidFill>
          </a:ln>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 c, d, e, f</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로 구성된 자전거</a:t>
            </a:r>
          </a:p>
        </p:txBody>
      </p:sp>
      <p:sp>
        <p:nvSpPr>
          <p:cNvPr id="80" name="직사각형 79"/>
          <p:cNvSpPr/>
          <p:nvPr/>
        </p:nvSpPr>
        <p:spPr>
          <a:xfrm>
            <a:off x="917227" y="5973217"/>
            <a:ext cx="4336444" cy="646331"/>
          </a:xfrm>
          <a:prstGeom prst="rect">
            <a:avLst/>
          </a:prstGeom>
          <a:ln>
            <a:solidFill>
              <a:schemeClr val="bg1">
                <a:lumMod val="50000"/>
              </a:schemeClr>
            </a:solidFill>
          </a:ln>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 a, b, c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및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d</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포함하는 것을 특징으로 하는 자전거</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있어서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e</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더 포함하는 것을 특징으로 하는 자전거</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있어서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f</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와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g</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더 포함하는 것을 특징으로 하는 자전거</a:t>
            </a:r>
          </a:p>
        </p:txBody>
      </p:sp>
      <p:cxnSp>
        <p:nvCxnSpPr>
          <p:cNvPr id="82" name="직선 연결선 81"/>
          <p:cNvCxnSpPr/>
          <p:nvPr/>
        </p:nvCxnSpPr>
        <p:spPr>
          <a:xfrm>
            <a:off x="5787868" y="1891562"/>
            <a:ext cx="0" cy="485886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7" name="그룹 96"/>
          <p:cNvGrpSpPr/>
          <p:nvPr/>
        </p:nvGrpSpPr>
        <p:grpSpPr>
          <a:xfrm>
            <a:off x="7477521" y="1950561"/>
            <a:ext cx="3343153" cy="4528011"/>
            <a:chOff x="391885" y="2626850"/>
            <a:chExt cx="2334986" cy="3162536"/>
          </a:xfrm>
        </p:grpSpPr>
        <p:sp>
          <p:nvSpPr>
            <p:cNvPr id="98" name="타원 97"/>
            <p:cNvSpPr/>
            <p:nvPr/>
          </p:nvSpPr>
          <p:spPr>
            <a:xfrm>
              <a:off x="391885" y="3454400"/>
              <a:ext cx="2334986" cy="2334986"/>
            </a:xfrm>
            <a:prstGeom prst="ellipse">
              <a:avLst/>
            </a:prstGeom>
            <a:solidFill>
              <a:schemeClr val="bg1"/>
            </a:solid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99" name="타원 98"/>
            <p:cNvSpPr/>
            <p:nvPr/>
          </p:nvSpPr>
          <p:spPr>
            <a:xfrm>
              <a:off x="927100" y="4018643"/>
              <a:ext cx="1264556" cy="1206500"/>
            </a:xfrm>
            <a:prstGeom prst="ellipse">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00" name="직선 화살표 연결선 99"/>
            <p:cNvCxnSpPr/>
            <p:nvPr/>
          </p:nvCxnSpPr>
          <p:spPr>
            <a:xfrm flipV="1">
              <a:off x="1559378" y="2907295"/>
              <a:ext cx="0" cy="1125862"/>
            </a:xfrm>
            <a:prstGeom prst="straightConnector1">
              <a:avLst/>
            </a:prstGeom>
            <a:ln w="762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1" name="직사각형 100"/>
            <p:cNvSpPr/>
            <p:nvPr/>
          </p:nvSpPr>
          <p:spPr>
            <a:xfrm>
              <a:off x="1666514" y="4359842"/>
              <a:ext cx="792750" cy="313584"/>
            </a:xfrm>
            <a:prstGeom prst="rect">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공지기술</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02" name="직사각형 101"/>
            <p:cNvSpPr/>
            <p:nvPr/>
          </p:nvSpPr>
          <p:spPr>
            <a:xfrm>
              <a:off x="450489" y="3319158"/>
              <a:ext cx="792750" cy="313584"/>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청구항</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1</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독립항</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03" name="TextBox 102"/>
            <p:cNvSpPr txBox="1"/>
            <p:nvPr/>
          </p:nvSpPr>
          <p:spPr>
            <a:xfrm>
              <a:off x="1594756" y="2626850"/>
              <a:ext cx="809837" cy="369332"/>
            </a:xfrm>
            <a:prstGeom prst="rect">
              <a:avLst/>
            </a:prstGeom>
            <a:solidFill>
              <a:schemeClr val="bg1"/>
            </a:solid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동일성</a:t>
              </a:r>
            </a:p>
          </p:txBody>
        </p:sp>
        <p:sp>
          <p:nvSpPr>
            <p:cNvPr id="104" name="타원 103"/>
            <p:cNvSpPr/>
            <p:nvPr/>
          </p:nvSpPr>
          <p:spPr>
            <a:xfrm>
              <a:off x="668189" y="3734939"/>
              <a:ext cx="1809518" cy="1809518"/>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5" name="타원 104"/>
            <p:cNvSpPr/>
            <p:nvPr/>
          </p:nvSpPr>
          <p:spPr>
            <a:xfrm>
              <a:off x="1249899" y="4322359"/>
              <a:ext cx="618958" cy="618958"/>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6" name="직사각형 105"/>
            <p:cNvSpPr/>
            <p:nvPr/>
          </p:nvSpPr>
          <p:spPr>
            <a:xfrm>
              <a:off x="1622168" y="3696324"/>
              <a:ext cx="792750" cy="313584"/>
            </a:xfrm>
            <a:prstGeom prst="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청구항</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종속항</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07" name="직사각형 106"/>
            <p:cNvSpPr/>
            <p:nvPr/>
          </p:nvSpPr>
          <p:spPr>
            <a:xfrm>
              <a:off x="1176573" y="4750198"/>
              <a:ext cx="792750" cy="313584"/>
            </a:xfrm>
            <a:prstGeom prst="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청구항</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3</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종속항</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gr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67</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70704382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1</a:t>
            </a:r>
            <a:r>
              <a:rPr lang="ko-KR" altLang="en-US" dirty="0" err="1"/>
              <a:t>항각호</a:t>
            </a:r>
            <a:endParaRPr lang="ko-KR" altLang="en-US" dirty="0"/>
          </a:p>
        </p:txBody>
      </p:sp>
      <p:sp>
        <p:nvSpPr>
          <p:cNvPr id="4" name="텍스트 개체 틀 3"/>
          <p:cNvSpPr>
            <a:spLocks noGrp="1"/>
          </p:cNvSpPr>
          <p:nvPr>
            <p:ph type="body" sz="quarter" idx="13"/>
          </p:nvPr>
        </p:nvSpPr>
        <p:spPr/>
        <p:txBody>
          <a:bodyPr/>
          <a:lstStyle/>
          <a:p>
            <a:r>
              <a:rPr lang="ko-KR" altLang="en-US" dirty="0" err="1"/>
              <a:t>독립항과</a:t>
            </a:r>
            <a:r>
              <a:rPr lang="ko-KR" altLang="en-US" dirty="0"/>
              <a:t> </a:t>
            </a:r>
            <a:r>
              <a:rPr lang="ko-KR" altLang="en-US" dirty="0" err="1"/>
              <a:t>종속항의</a:t>
            </a:r>
            <a:r>
              <a:rPr lang="ko-KR" altLang="en-US" dirty="0"/>
              <a:t> 관계</a:t>
            </a:r>
          </a:p>
        </p:txBody>
      </p:sp>
      <p:sp>
        <p:nvSpPr>
          <p:cNvPr id="90" name="TextBox 89"/>
          <p:cNvSpPr txBox="1"/>
          <p:nvPr/>
        </p:nvSpPr>
        <p:spPr>
          <a:xfrm>
            <a:off x="77875" y="986046"/>
            <a:ext cx="11936323"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종속항이란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독립항을</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한정하거나 부가하여 구체화한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청구항</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을</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말하기 때문에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종속항은</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독립항과의</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관계에서 하위개념발명</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따라서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독립항의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신규성이 있는 경우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종속항은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당연히 신규성이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반대로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독립항의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신규성이 없는 경우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종속항은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개별적으로 신규성 여부를 판단하여야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91" name="직선 연결선 90"/>
          <p:cNvCxnSpPr/>
          <p:nvPr/>
        </p:nvCxnSpPr>
        <p:spPr>
          <a:xfrm>
            <a:off x="-27160" y="149709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직선 연결선 68"/>
          <p:cNvCxnSpPr/>
          <p:nvPr/>
        </p:nvCxnSpPr>
        <p:spPr>
          <a:xfrm>
            <a:off x="6126386" y="2023637"/>
            <a:ext cx="0" cy="453636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0" name="그룹 19"/>
          <p:cNvGrpSpPr/>
          <p:nvPr/>
        </p:nvGrpSpPr>
        <p:grpSpPr>
          <a:xfrm>
            <a:off x="7658073" y="1950561"/>
            <a:ext cx="3343153" cy="4528011"/>
            <a:chOff x="391885" y="2626850"/>
            <a:chExt cx="2334986" cy="3162536"/>
          </a:xfrm>
        </p:grpSpPr>
        <p:sp>
          <p:nvSpPr>
            <p:cNvPr id="80" name="타원 79"/>
            <p:cNvSpPr/>
            <p:nvPr/>
          </p:nvSpPr>
          <p:spPr>
            <a:xfrm>
              <a:off x="391885" y="3454400"/>
              <a:ext cx="2334986" cy="2334986"/>
            </a:xfrm>
            <a:prstGeom prst="ellipse">
              <a:avLst/>
            </a:prstGeom>
            <a:solidFill>
              <a:schemeClr val="bg1"/>
            </a:solid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1" name="타원 80"/>
            <p:cNvSpPr/>
            <p:nvPr/>
          </p:nvSpPr>
          <p:spPr>
            <a:xfrm>
              <a:off x="927100" y="4018643"/>
              <a:ext cx="1264556" cy="1206500"/>
            </a:xfrm>
            <a:prstGeom prst="ellipse">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82" name="직선 화살표 연결선 81"/>
            <p:cNvCxnSpPr/>
            <p:nvPr/>
          </p:nvCxnSpPr>
          <p:spPr>
            <a:xfrm flipV="1">
              <a:off x="1559378" y="2907295"/>
              <a:ext cx="0" cy="1125862"/>
            </a:xfrm>
            <a:prstGeom prst="straightConnector1">
              <a:avLst/>
            </a:prstGeom>
            <a:ln w="762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6" name="직사각형 85"/>
            <p:cNvSpPr/>
            <p:nvPr/>
          </p:nvSpPr>
          <p:spPr>
            <a:xfrm>
              <a:off x="1666514" y="4359842"/>
              <a:ext cx="792750" cy="313584"/>
            </a:xfrm>
            <a:prstGeom prst="rect">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선행기술</a:t>
              </a:r>
            </a:p>
          </p:txBody>
        </p:sp>
        <p:sp>
          <p:nvSpPr>
            <p:cNvPr id="87" name="직사각형 86"/>
            <p:cNvSpPr/>
            <p:nvPr/>
          </p:nvSpPr>
          <p:spPr>
            <a:xfrm>
              <a:off x="450489" y="3319158"/>
              <a:ext cx="792750" cy="313584"/>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독립항</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88" name="TextBox 87"/>
            <p:cNvSpPr txBox="1"/>
            <p:nvPr/>
          </p:nvSpPr>
          <p:spPr>
            <a:xfrm>
              <a:off x="1594756" y="2626850"/>
              <a:ext cx="809837" cy="369332"/>
            </a:xfrm>
            <a:prstGeom prst="rect">
              <a:avLst/>
            </a:prstGeom>
            <a:solidFill>
              <a:schemeClr val="bg1"/>
            </a:solid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동일성</a:t>
              </a:r>
            </a:p>
          </p:txBody>
        </p:sp>
        <p:sp>
          <p:nvSpPr>
            <p:cNvPr id="89" name="타원 88"/>
            <p:cNvSpPr/>
            <p:nvPr/>
          </p:nvSpPr>
          <p:spPr>
            <a:xfrm>
              <a:off x="668189" y="3734939"/>
              <a:ext cx="1809518" cy="1809518"/>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92" name="타원 91"/>
            <p:cNvSpPr/>
            <p:nvPr/>
          </p:nvSpPr>
          <p:spPr>
            <a:xfrm>
              <a:off x="1249899" y="4322359"/>
              <a:ext cx="618958" cy="618958"/>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93" name="직사각형 92"/>
            <p:cNvSpPr/>
            <p:nvPr/>
          </p:nvSpPr>
          <p:spPr>
            <a:xfrm>
              <a:off x="1622168" y="3696324"/>
              <a:ext cx="792750" cy="313584"/>
            </a:xfrm>
            <a:prstGeom prst="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종속항</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1</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94" name="직사각형 93"/>
            <p:cNvSpPr/>
            <p:nvPr/>
          </p:nvSpPr>
          <p:spPr>
            <a:xfrm>
              <a:off x="1176573" y="4750198"/>
              <a:ext cx="792750" cy="313584"/>
            </a:xfrm>
            <a:prstGeom prst="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종속항</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grpSp>
      <p:grpSp>
        <p:nvGrpSpPr>
          <p:cNvPr id="19" name="그룹 18"/>
          <p:cNvGrpSpPr/>
          <p:nvPr/>
        </p:nvGrpSpPr>
        <p:grpSpPr>
          <a:xfrm>
            <a:off x="1469416" y="1914953"/>
            <a:ext cx="3258705" cy="4413633"/>
            <a:chOff x="3048978" y="2626850"/>
            <a:chExt cx="2334986" cy="3162536"/>
          </a:xfrm>
        </p:grpSpPr>
        <p:sp>
          <p:nvSpPr>
            <p:cNvPr id="95" name="타원 94"/>
            <p:cNvSpPr/>
            <p:nvPr/>
          </p:nvSpPr>
          <p:spPr>
            <a:xfrm>
              <a:off x="3048978" y="3454400"/>
              <a:ext cx="2334986" cy="2334986"/>
            </a:xfrm>
            <a:prstGeom prst="ellipse">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96" name="타원 95"/>
            <p:cNvSpPr/>
            <p:nvPr/>
          </p:nvSpPr>
          <p:spPr>
            <a:xfrm>
              <a:off x="3584193" y="4018643"/>
              <a:ext cx="1264556" cy="1206500"/>
            </a:xfrm>
            <a:prstGeom prst="ellipse">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97" name="직선 화살표 연결선 96"/>
            <p:cNvCxnSpPr>
              <a:stCxn id="95" idx="0"/>
            </p:cNvCxnSpPr>
            <p:nvPr/>
          </p:nvCxnSpPr>
          <p:spPr>
            <a:xfrm flipV="1">
              <a:off x="4216471" y="2907295"/>
              <a:ext cx="0" cy="547105"/>
            </a:xfrm>
            <a:prstGeom prst="straightConnector1">
              <a:avLst/>
            </a:prstGeom>
            <a:ln w="762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8" name="직사각형 97"/>
            <p:cNvSpPr/>
            <p:nvPr/>
          </p:nvSpPr>
          <p:spPr>
            <a:xfrm>
              <a:off x="4323607" y="4359842"/>
              <a:ext cx="792750" cy="313584"/>
            </a:xfrm>
            <a:prstGeom prst="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종속항</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1</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99" name="직사각형 98"/>
            <p:cNvSpPr/>
            <p:nvPr/>
          </p:nvSpPr>
          <p:spPr>
            <a:xfrm>
              <a:off x="3107582" y="3319158"/>
              <a:ext cx="792750" cy="313584"/>
            </a:xfrm>
            <a:prstGeom prst="rect">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선행기술</a:t>
              </a:r>
            </a:p>
          </p:txBody>
        </p:sp>
        <p:sp>
          <p:nvSpPr>
            <p:cNvPr id="100" name="TextBox 99"/>
            <p:cNvSpPr txBox="1"/>
            <p:nvPr/>
          </p:nvSpPr>
          <p:spPr>
            <a:xfrm>
              <a:off x="4251849" y="2626850"/>
              <a:ext cx="809837" cy="369332"/>
            </a:xfrm>
            <a:prstGeom prst="rect">
              <a:avLst/>
            </a:prstGeom>
            <a:solidFill>
              <a:schemeClr val="bg1"/>
            </a:solid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동일성</a:t>
              </a:r>
            </a:p>
          </p:txBody>
        </p:sp>
        <p:sp>
          <p:nvSpPr>
            <p:cNvPr id="101" name="타원 100"/>
            <p:cNvSpPr/>
            <p:nvPr/>
          </p:nvSpPr>
          <p:spPr>
            <a:xfrm>
              <a:off x="3325282" y="3734939"/>
              <a:ext cx="1809518" cy="1809518"/>
            </a:xfrm>
            <a:prstGeom prst="ellipse">
              <a:avLst/>
            </a:pr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2" name="타원 101"/>
            <p:cNvSpPr/>
            <p:nvPr/>
          </p:nvSpPr>
          <p:spPr>
            <a:xfrm>
              <a:off x="3906992" y="4322359"/>
              <a:ext cx="618958" cy="618958"/>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3" name="직사각형 102"/>
            <p:cNvSpPr/>
            <p:nvPr/>
          </p:nvSpPr>
          <p:spPr>
            <a:xfrm>
              <a:off x="4308289" y="3623754"/>
              <a:ext cx="792750" cy="313584"/>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독립항</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04" name="직사각형 103"/>
            <p:cNvSpPr/>
            <p:nvPr/>
          </p:nvSpPr>
          <p:spPr>
            <a:xfrm>
              <a:off x="3833666" y="4750198"/>
              <a:ext cx="792750" cy="313584"/>
            </a:xfrm>
            <a:prstGeom prst="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종속항</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gr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68</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06829868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직선 화살표 연결선 8"/>
          <p:cNvCxnSpPr>
            <a:stCxn id="72" idx="3"/>
            <a:endCxn id="67" idx="1"/>
          </p:cNvCxnSpPr>
          <p:nvPr/>
        </p:nvCxnSpPr>
        <p:spPr>
          <a:xfrm>
            <a:off x="3955205" y="3599373"/>
            <a:ext cx="4618004" cy="431800"/>
          </a:xfrm>
          <a:prstGeom prst="straightConnector1">
            <a:avLst/>
          </a:prstGeom>
          <a:ln w="57150">
            <a:solidFill>
              <a:schemeClr val="accent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 name="자유형 15"/>
          <p:cNvSpPr/>
          <p:nvPr/>
        </p:nvSpPr>
        <p:spPr>
          <a:xfrm>
            <a:off x="1281205" y="2364744"/>
            <a:ext cx="7797800" cy="664577"/>
          </a:xfrm>
          <a:custGeom>
            <a:avLst/>
            <a:gdLst>
              <a:gd name="connsiteX0" fmla="*/ 7797800 w 7797800"/>
              <a:gd name="connsiteY0" fmla="*/ 1066800 h 1104900"/>
              <a:gd name="connsiteX1" fmla="*/ 7327900 w 7797800"/>
              <a:gd name="connsiteY1" fmla="*/ 0 h 1104900"/>
              <a:gd name="connsiteX2" fmla="*/ 0 w 7797800"/>
              <a:gd name="connsiteY2" fmla="*/ 0 h 1104900"/>
              <a:gd name="connsiteX3" fmla="*/ 0 w 7797800"/>
              <a:gd name="connsiteY3" fmla="*/ 1104900 h 1104900"/>
            </a:gdLst>
            <a:ahLst/>
            <a:cxnLst>
              <a:cxn ang="0">
                <a:pos x="connsiteX0" y="connsiteY0"/>
              </a:cxn>
              <a:cxn ang="0">
                <a:pos x="connsiteX1" y="connsiteY1"/>
              </a:cxn>
              <a:cxn ang="0">
                <a:pos x="connsiteX2" y="connsiteY2"/>
              </a:cxn>
              <a:cxn ang="0">
                <a:pos x="connsiteX3" y="connsiteY3"/>
              </a:cxn>
            </a:cxnLst>
            <a:rect l="l" t="t" r="r" b="b"/>
            <a:pathLst>
              <a:path w="7797800" h="1104900">
                <a:moveTo>
                  <a:pt x="7797800" y="1066800"/>
                </a:moveTo>
                <a:lnTo>
                  <a:pt x="7327900" y="0"/>
                </a:lnTo>
                <a:lnTo>
                  <a:pt x="0" y="0"/>
                </a:lnTo>
                <a:lnTo>
                  <a:pt x="0" y="1104900"/>
                </a:lnTo>
              </a:path>
            </a:pathLst>
          </a:custGeom>
          <a:pattFill prst="smGrid">
            <a:fgClr>
              <a:schemeClr val="accent2">
                <a:lumMod val="40000"/>
                <a:lumOff val="6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2</a:t>
            </a:r>
            <a:r>
              <a:rPr lang="ko-KR" altLang="en-US" dirty="0"/>
              <a:t>항</a:t>
            </a:r>
          </a:p>
        </p:txBody>
      </p:sp>
      <p:sp>
        <p:nvSpPr>
          <p:cNvPr id="4" name="텍스트 개체 틀 3"/>
          <p:cNvSpPr>
            <a:spLocks noGrp="1"/>
          </p:cNvSpPr>
          <p:nvPr>
            <p:ph type="body" sz="quarter" idx="13"/>
          </p:nvPr>
        </p:nvSpPr>
        <p:spPr/>
        <p:txBody>
          <a:bodyPr/>
          <a:lstStyle/>
          <a:p>
            <a:r>
              <a:rPr lang="ko-KR" altLang="en-US" dirty="0"/>
              <a:t>진보성의 개념</a:t>
            </a:r>
          </a:p>
        </p:txBody>
      </p:sp>
      <p:cxnSp>
        <p:nvCxnSpPr>
          <p:cNvPr id="52" name="직선 연결선 51"/>
          <p:cNvCxnSpPr/>
          <p:nvPr/>
        </p:nvCxnSpPr>
        <p:spPr>
          <a:xfrm>
            <a:off x="1263400" y="3054190"/>
            <a:ext cx="906753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직사각형 56"/>
          <p:cNvSpPr/>
          <p:nvPr/>
        </p:nvSpPr>
        <p:spPr>
          <a:xfrm>
            <a:off x="7684849" y="2837741"/>
            <a:ext cx="2626056" cy="43289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특허출원일</a:t>
            </a:r>
            <a:endParaRPr kumimoji="0" lang="ko-KR" altLang="en-US" sz="2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65" name="직선 연결선 64"/>
          <p:cNvCxnSpPr/>
          <p:nvPr/>
        </p:nvCxnSpPr>
        <p:spPr>
          <a:xfrm flipH="1">
            <a:off x="9076542" y="3405634"/>
            <a:ext cx="1" cy="51225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8573209" y="3846507"/>
            <a:ext cx="1018227" cy="369332"/>
          </a:xfrm>
          <a:prstGeom prst="rect">
            <a:avLst/>
          </a:prstGeom>
          <a:solidFill>
            <a:schemeClr val="accent1">
              <a:lumMod val="40000"/>
              <a:lumOff val="60000"/>
            </a:schemeClr>
          </a:solid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sp>
        <p:nvSpPr>
          <p:cNvPr id="5" name="TextBox 4"/>
          <p:cNvSpPr txBox="1"/>
          <p:nvPr/>
        </p:nvSpPr>
        <p:spPr>
          <a:xfrm>
            <a:off x="7481107" y="3339380"/>
            <a:ext cx="445956"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68" name="TextBox 67"/>
          <p:cNvSpPr txBox="1"/>
          <p:nvPr/>
        </p:nvSpPr>
        <p:spPr>
          <a:xfrm>
            <a:off x="10107960" y="3339380"/>
            <a:ext cx="545342"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69" name="TextBox 68"/>
          <p:cNvSpPr txBox="1"/>
          <p:nvPr/>
        </p:nvSpPr>
        <p:spPr>
          <a:xfrm>
            <a:off x="9076542" y="3339380"/>
            <a:ext cx="545342"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70" name="TextBox 69"/>
          <p:cNvSpPr txBox="1"/>
          <p:nvPr/>
        </p:nvSpPr>
        <p:spPr>
          <a:xfrm>
            <a:off x="4482530" y="1978818"/>
            <a:ext cx="1290738" cy="369332"/>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 전</a:t>
            </a:r>
          </a:p>
        </p:txBody>
      </p:sp>
      <p:cxnSp>
        <p:nvCxnSpPr>
          <p:cNvPr id="71" name="직선 연결선 70"/>
          <p:cNvCxnSpPr/>
          <p:nvPr/>
        </p:nvCxnSpPr>
        <p:spPr>
          <a:xfrm>
            <a:off x="3106619" y="3107685"/>
            <a:ext cx="1" cy="810205"/>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2247686" y="3414707"/>
            <a:ext cx="1707519" cy="369332"/>
          </a:xfrm>
          <a:prstGeom prst="rect">
            <a:avLst/>
          </a:prstGeom>
          <a:solidFill>
            <a:schemeClr val="accent4">
              <a:lumMod val="40000"/>
              <a:lumOff val="60000"/>
            </a:schemeClr>
          </a:solid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국내외 </a:t>
            </a:r>
            <a:r>
              <a:rPr kumimoji="0" lang="ko-KR" altLang="en-US" sz="1800" b="0" i="0" u="none" strike="noStrike" kern="1200" cap="none" spc="0" normalizeH="0" baseline="0" noProof="0" dirty="0" err="1">
                <a:ln>
                  <a:noFill/>
                </a:ln>
                <a:solidFill>
                  <a:prstClr val="black"/>
                </a:solidFill>
                <a:effectLst/>
                <a:uLnTx/>
                <a:uFillTx/>
                <a:latin typeface="Frutiger LT 65 Bold"/>
                <a:ea typeface="Rix모던고딕 B"/>
                <a:cs typeface="+mn-cs"/>
              </a:rPr>
              <a:t>공지기술</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8" name="직사각형 17"/>
          <p:cNvSpPr/>
          <p:nvPr/>
        </p:nvSpPr>
        <p:spPr>
          <a:xfrm>
            <a:off x="1087720" y="2064122"/>
            <a:ext cx="203200" cy="1104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3" name="TextBox 72"/>
          <p:cNvSpPr txBox="1"/>
          <p:nvPr/>
        </p:nvSpPr>
        <p:spPr>
          <a:xfrm>
            <a:off x="3380845" y="4152902"/>
            <a:ext cx="2885484" cy="369332"/>
          </a:xfrm>
          <a:prstGeom prst="rect">
            <a:avLst/>
          </a:prstGeom>
          <a:solidFill>
            <a:schemeClr val="bg1"/>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공지</a:t>
            </a:r>
          </a:p>
        </p:txBody>
      </p:sp>
      <p:sp>
        <p:nvSpPr>
          <p:cNvPr id="74" name="TextBox 73"/>
          <p:cNvSpPr txBox="1"/>
          <p:nvPr/>
        </p:nvSpPr>
        <p:spPr>
          <a:xfrm>
            <a:off x="3380845" y="4582189"/>
            <a:ext cx="2885484" cy="369332"/>
          </a:xfrm>
          <a:prstGeom prst="rect">
            <a:avLst/>
          </a:prstGeom>
          <a:solidFill>
            <a:schemeClr val="bg1"/>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공연실시</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5" name="TextBox 74"/>
          <p:cNvSpPr txBox="1"/>
          <p:nvPr/>
        </p:nvSpPr>
        <p:spPr>
          <a:xfrm>
            <a:off x="3380845" y="4984709"/>
            <a:ext cx="2885484" cy="369332"/>
          </a:xfrm>
          <a:prstGeom prst="rect">
            <a:avLst/>
          </a:prstGeom>
          <a:solidFill>
            <a:schemeClr val="bg1"/>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반포된 간행물 게재</a:t>
            </a:r>
          </a:p>
        </p:txBody>
      </p:sp>
      <p:sp>
        <p:nvSpPr>
          <p:cNvPr id="76" name="TextBox 75"/>
          <p:cNvSpPr txBox="1"/>
          <p:nvPr/>
        </p:nvSpPr>
        <p:spPr>
          <a:xfrm>
            <a:off x="3380845" y="5413996"/>
            <a:ext cx="2885484" cy="369332"/>
          </a:xfrm>
          <a:prstGeom prst="rect">
            <a:avLst/>
          </a:prstGeom>
          <a:solidFill>
            <a:schemeClr val="bg1"/>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전기통신회선을 통하여 공중 이용가능</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3" name="꺾인 연결선 22"/>
          <p:cNvCxnSpPr>
            <a:stCxn id="72" idx="2"/>
            <a:endCxn id="76" idx="1"/>
          </p:cNvCxnSpPr>
          <p:nvPr/>
        </p:nvCxnSpPr>
        <p:spPr>
          <a:xfrm rot="16200000" flipH="1">
            <a:off x="2333834" y="4551650"/>
            <a:ext cx="1814623" cy="279399"/>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꺾인 연결선 76"/>
          <p:cNvCxnSpPr>
            <a:stCxn id="72" idx="2"/>
            <a:endCxn id="73" idx="1"/>
          </p:cNvCxnSpPr>
          <p:nvPr/>
        </p:nvCxnSpPr>
        <p:spPr>
          <a:xfrm rot="16200000" flipH="1">
            <a:off x="2964381" y="3921103"/>
            <a:ext cx="553529" cy="279399"/>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꺾인 연결선 78"/>
          <p:cNvCxnSpPr>
            <a:stCxn id="72" idx="2"/>
            <a:endCxn id="74" idx="1"/>
          </p:cNvCxnSpPr>
          <p:nvPr/>
        </p:nvCxnSpPr>
        <p:spPr>
          <a:xfrm rot="16200000" flipH="1">
            <a:off x="2749737" y="4135747"/>
            <a:ext cx="982816" cy="279399"/>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꺾인 연결선 80"/>
          <p:cNvCxnSpPr>
            <a:stCxn id="72" idx="2"/>
            <a:endCxn id="75" idx="1"/>
          </p:cNvCxnSpPr>
          <p:nvPr/>
        </p:nvCxnSpPr>
        <p:spPr>
          <a:xfrm rot="16200000" flipH="1">
            <a:off x="2548477" y="4337007"/>
            <a:ext cx="1385336" cy="279399"/>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0" name="TextBox 89"/>
          <p:cNvSpPr txBox="1"/>
          <p:nvPr/>
        </p:nvSpPr>
        <p:spPr>
          <a:xfrm>
            <a:off x="77875" y="986046"/>
            <a:ext cx="11936323"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29</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err="1">
                <a:ln>
                  <a:noFill/>
                </a:ln>
                <a:solidFill>
                  <a:srgbClr val="5B9BD5"/>
                </a:solidFill>
                <a:effectLst/>
                <a:uLnTx/>
                <a:uFillTx/>
                <a:latin typeface="Frutiger LT 65 Bold"/>
                <a:ea typeface="Rix모던고딕 B"/>
                <a:cs typeface="+mn-cs"/>
              </a:rPr>
              <a:t>특허요건</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② 특허출원 전에 그 발명이 속하는 기술분야에서 통상의 지식을 가진 사람이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각 호의 어느 하나에 해당하는 발명에 의하여 쉽게 발명할 수 있으면 그 발명에 대해서는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항에도 불구하고 특허를 받을 수 없다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91" name="직선 연결선 90"/>
          <p:cNvCxnSpPr/>
          <p:nvPr/>
        </p:nvCxnSpPr>
        <p:spPr>
          <a:xfrm>
            <a:off x="0" y="150359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7100246" y="4766855"/>
            <a:ext cx="4213013" cy="584775"/>
          </a:xfrm>
          <a:prstGeom prst="rect">
            <a:avLst/>
          </a:prstGeom>
          <a:solidFill>
            <a:schemeClr val="bg1">
              <a:lumMod val="85000"/>
            </a:schemeClr>
          </a:solid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통상의 기술자의 입장에서 판단</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그 발명이 속하는 기술분야에서 통상의 지식을 가진 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 name="자유형 6"/>
          <p:cNvSpPr/>
          <p:nvPr/>
        </p:nvSpPr>
        <p:spPr>
          <a:xfrm>
            <a:off x="6364940" y="3962400"/>
            <a:ext cx="1488141" cy="770965"/>
          </a:xfrm>
          <a:custGeom>
            <a:avLst/>
            <a:gdLst>
              <a:gd name="connsiteX0" fmla="*/ 0 w 1524000"/>
              <a:gd name="connsiteY0" fmla="*/ 0 h 717177"/>
              <a:gd name="connsiteX1" fmla="*/ 340659 w 1524000"/>
              <a:gd name="connsiteY1" fmla="*/ 331694 h 717177"/>
              <a:gd name="connsiteX2" fmla="*/ 1102659 w 1524000"/>
              <a:gd name="connsiteY2" fmla="*/ 215153 h 717177"/>
              <a:gd name="connsiteX3" fmla="*/ 1524000 w 1524000"/>
              <a:gd name="connsiteY3" fmla="*/ 717177 h 717177"/>
            </a:gdLst>
            <a:ahLst/>
            <a:cxnLst>
              <a:cxn ang="0">
                <a:pos x="connsiteX0" y="connsiteY0"/>
              </a:cxn>
              <a:cxn ang="0">
                <a:pos x="connsiteX1" y="connsiteY1"/>
              </a:cxn>
              <a:cxn ang="0">
                <a:pos x="connsiteX2" y="connsiteY2"/>
              </a:cxn>
              <a:cxn ang="0">
                <a:pos x="connsiteX3" y="connsiteY3"/>
              </a:cxn>
            </a:cxnLst>
            <a:rect l="l" t="t" r="r" b="b"/>
            <a:pathLst>
              <a:path w="1524000" h="717177">
                <a:moveTo>
                  <a:pt x="0" y="0"/>
                </a:moveTo>
                <a:cubicBezTo>
                  <a:pt x="78441" y="147917"/>
                  <a:pt x="156883" y="295835"/>
                  <a:pt x="340659" y="331694"/>
                </a:cubicBezTo>
                <a:cubicBezTo>
                  <a:pt x="524436" y="367553"/>
                  <a:pt x="905436" y="150906"/>
                  <a:pt x="1102659" y="215153"/>
                </a:cubicBezTo>
                <a:cubicBezTo>
                  <a:pt x="1299882" y="279400"/>
                  <a:pt x="1411941" y="498288"/>
                  <a:pt x="1524000" y="717177"/>
                </a:cubicBezTo>
              </a:path>
            </a:pathLst>
          </a:custGeom>
          <a:noFill/>
          <a:ln>
            <a:solidFill>
              <a:schemeClr val="accent5">
                <a:lumMod val="50000"/>
              </a:schemeClr>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 name="TextBox 7"/>
          <p:cNvSpPr txBox="1"/>
          <p:nvPr/>
        </p:nvSpPr>
        <p:spPr>
          <a:xfrm>
            <a:off x="6313290" y="4328769"/>
            <a:ext cx="1374094"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심사의 객관성 부여</a:t>
            </a:r>
          </a:p>
        </p:txBody>
      </p:sp>
      <p:sp>
        <p:nvSpPr>
          <p:cNvPr id="32" name="TextBox 31"/>
          <p:cNvSpPr txBox="1"/>
          <p:nvPr/>
        </p:nvSpPr>
        <p:spPr>
          <a:xfrm>
            <a:off x="7853081" y="5595241"/>
            <a:ext cx="598241" cy="276999"/>
          </a:xfrm>
          <a:prstGeom prst="rect">
            <a:avLst/>
          </a:prstGeom>
          <a:solidFill>
            <a:schemeClr val="accent1">
              <a:lumMod val="40000"/>
              <a:lumOff val="60000"/>
            </a:schemeClr>
          </a:solid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자연인</a:t>
            </a:r>
          </a:p>
        </p:txBody>
      </p:sp>
      <p:sp>
        <p:nvSpPr>
          <p:cNvPr id="33" name="TextBox 32"/>
          <p:cNvSpPr txBox="1"/>
          <p:nvPr/>
        </p:nvSpPr>
        <p:spPr>
          <a:xfrm>
            <a:off x="7853081" y="5930492"/>
            <a:ext cx="3546439" cy="276999"/>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국내의 기술수준만을 고려하여 결정하는 것이 바람직함</a:t>
            </a:r>
          </a:p>
        </p:txBody>
      </p:sp>
      <p:cxnSp>
        <p:nvCxnSpPr>
          <p:cNvPr id="10" name="꺾인 연결선 9"/>
          <p:cNvCxnSpPr>
            <a:endCxn id="32" idx="1"/>
          </p:cNvCxnSpPr>
          <p:nvPr/>
        </p:nvCxnSpPr>
        <p:spPr>
          <a:xfrm rot="16200000" flipH="1">
            <a:off x="7523260" y="5403919"/>
            <a:ext cx="382111" cy="277532"/>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꺾인 연결선 11"/>
          <p:cNvCxnSpPr>
            <a:cxnSpLocks/>
            <a:endCxn id="33" idx="1"/>
          </p:cNvCxnSpPr>
          <p:nvPr/>
        </p:nvCxnSpPr>
        <p:spPr>
          <a:xfrm rot="16200000" flipH="1">
            <a:off x="7308412" y="5524323"/>
            <a:ext cx="717364" cy="371974"/>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2" name="TextBox 81"/>
          <p:cNvSpPr txBox="1"/>
          <p:nvPr/>
        </p:nvSpPr>
        <p:spPr>
          <a:xfrm>
            <a:off x="5833888" y="3490214"/>
            <a:ext cx="1324402" cy="584775"/>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용이성</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주관적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창작성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 name="슬라이드 번호 개체 틀 5"/>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69</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11" name="TextBox 10">
            <a:extLst>
              <a:ext uri="{FF2B5EF4-FFF2-40B4-BE49-F238E27FC236}">
                <a16:creationId xmlns:a16="http://schemas.microsoft.com/office/drawing/2014/main" id="{178AD2BD-706A-4BCE-4954-5C48FAE80EA5}"/>
              </a:ext>
            </a:extLst>
          </p:cNvPr>
          <p:cNvSpPr txBox="1"/>
          <p:nvPr/>
        </p:nvSpPr>
        <p:spPr>
          <a:xfrm>
            <a:off x="8660402" y="4243660"/>
            <a:ext cx="832279" cy="523220"/>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청구범위</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Tree>
    <p:extLst>
      <p:ext uri="{BB962C8B-B14F-4D97-AF65-F5344CB8AC3E}">
        <p14:creationId xmlns:p14="http://schemas.microsoft.com/office/powerpoint/2010/main" val="1640284304"/>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2</a:t>
            </a:r>
            <a:r>
              <a:rPr lang="ko-KR" altLang="en-US" dirty="0"/>
              <a:t>항</a:t>
            </a:r>
          </a:p>
        </p:txBody>
      </p:sp>
      <p:sp>
        <p:nvSpPr>
          <p:cNvPr id="4" name="텍스트 개체 틀 3"/>
          <p:cNvSpPr>
            <a:spLocks noGrp="1"/>
          </p:cNvSpPr>
          <p:nvPr>
            <p:ph type="body" sz="quarter" idx="13"/>
          </p:nvPr>
        </p:nvSpPr>
        <p:spPr/>
        <p:txBody>
          <a:bodyPr/>
          <a:lstStyle/>
          <a:p>
            <a:r>
              <a:rPr lang="ko-KR" altLang="en-US" dirty="0"/>
              <a:t>통상의 기술자의 개념과 사후적 고찰 금지</a:t>
            </a:r>
          </a:p>
        </p:txBody>
      </p:sp>
      <p:sp>
        <p:nvSpPr>
          <p:cNvPr id="90" name="TextBox 89"/>
          <p:cNvSpPr txBox="1"/>
          <p:nvPr/>
        </p:nvSpPr>
        <p:spPr>
          <a:xfrm>
            <a:off x="77875" y="986046"/>
            <a:ext cx="11936323" cy="738664"/>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통상의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기술자란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심사관이 진보성 판단에 객관성을 부여하기 위해 가정한 상상의 인물로서 자연인이다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한편</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심사관은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해당 발명의 출원 전의 상태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로 돌아가서 해당 발명의 지식을 알지 못한다는 상태에서 발명의 진보성 여부를 따져보아야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이유는 통상의 기술자로서 해당 발명의 이론을 알고 난 후에는 공지기술로부터 해당 특허의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발명적</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해결을 손쉽게 이끌어 낼 수 있는 경우가 극히 많기 때문이다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91" name="직선 연결선 90"/>
          <p:cNvCxnSpPr/>
          <p:nvPr/>
        </p:nvCxnSpPr>
        <p:spPr>
          <a:xfrm>
            <a:off x="0" y="172770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직선 화살표 연결선 10"/>
          <p:cNvCxnSpPr/>
          <p:nvPr/>
        </p:nvCxnSpPr>
        <p:spPr>
          <a:xfrm flipV="1">
            <a:off x="753036" y="2639674"/>
            <a:ext cx="0" cy="3075646"/>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4" name="직선 화살표 연결선 13"/>
          <p:cNvCxnSpPr/>
          <p:nvPr/>
        </p:nvCxnSpPr>
        <p:spPr>
          <a:xfrm>
            <a:off x="753036" y="5715319"/>
            <a:ext cx="4715435"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flipH="1">
            <a:off x="323626" y="2598981"/>
            <a:ext cx="429410" cy="5820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수준</a:t>
            </a:r>
          </a:p>
        </p:txBody>
      </p:sp>
      <p:sp>
        <p:nvSpPr>
          <p:cNvPr id="19" name="직사각형 18"/>
          <p:cNvSpPr/>
          <p:nvPr/>
        </p:nvSpPr>
        <p:spPr>
          <a:xfrm>
            <a:off x="1452283" y="3769832"/>
            <a:ext cx="358588" cy="1945488"/>
          </a:xfrm>
          <a:prstGeom prst="rect">
            <a:avLst/>
          </a:prstGeom>
          <a:solidFill>
            <a:schemeClr val="accent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3" name="직사각형 42"/>
          <p:cNvSpPr/>
          <p:nvPr/>
        </p:nvSpPr>
        <p:spPr>
          <a:xfrm>
            <a:off x="2394872" y="4052371"/>
            <a:ext cx="358588" cy="1662949"/>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4" name="직사각형 43"/>
          <p:cNvSpPr/>
          <p:nvPr/>
        </p:nvSpPr>
        <p:spPr>
          <a:xfrm>
            <a:off x="3337461" y="3382349"/>
            <a:ext cx="358588" cy="2332970"/>
          </a:xfrm>
          <a:prstGeom prst="rect">
            <a:avLst/>
          </a:prstGeom>
          <a:solidFill>
            <a:schemeClr val="accent3"/>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5" name="직사각형 44"/>
          <p:cNvSpPr/>
          <p:nvPr/>
        </p:nvSpPr>
        <p:spPr>
          <a:xfrm>
            <a:off x="4627085" y="4464072"/>
            <a:ext cx="358588" cy="1251246"/>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6" name="TextBox 45"/>
          <p:cNvSpPr txBox="1"/>
          <p:nvPr/>
        </p:nvSpPr>
        <p:spPr>
          <a:xfrm flipH="1">
            <a:off x="1237577" y="5771497"/>
            <a:ext cx="752587" cy="277148"/>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a:t>
            </a:r>
          </a:p>
        </p:txBody>
      </p:sp>
      <p:sp>
        <p:nvSpPr>
          <p:cNvPr id="47" name="TextBox 46"/>
          <p:cNvSpPr txBox="1"/>
          <p:nvPr/>
        </p:nvSpPr>
        <p:spPr>
          <a:xfrm flipH="1">
            <a:off x="2169908" y="5771497"/>
            <a:ext cx="752587" cy="471151"/>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심사관</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甲</a:t>
            </a:r>
          </a:p>
        </p:txBody>
      </p:sp>
      <p:sp>
        <p:nvSpPr>
          <p:cNvPr id="48" name="TextBox 47"/>
          <p:cNvSpPr txBox="1"/>
          <p:nvPr/>
        </p:nvSpPr>
        <p:spPr>
          <a:xfrm flipH="1">
            <a:off x="3140461" y="5771497"/>
            <a:ext cx="752587" cy="471151"/>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심사관</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a:t>
            </a:r>
          </a:p>
        </p:txBody>
      </p:sp>
      <p:sp>
        <p:nvSpPr>
          <p:cNvPr id="49" name="TextBox 48"/>
          <p:cNvSpPr txBox="1"/>
          <p:nvPr/>
        </p:nvSpPr>
        <p:spPr>
          <a:xfrm flipH="1">
            <a:off x="4430085" y="5771497"/>
            <a:ext cx="752587" cy="471151"/>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통상의</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기술자</a:t>
            </a:r>
          </a:p>
        </p:txBody>
      </p:sp>
      <p:sp>
        <p:nvSpPr>
          <p:cNvPr id="20" name="타원 19"/>
          <p:cNvSpPr/>
          <p:nvPr/>
        </p:nvSpPr>
        <p:spPr>
          <a:xfrm>
            <a:off x="1586753" y="3737529"/>
            <a:ext cx="89648" cy="80726"/>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1" name="타원 50"/>
          <p:cNvSpPr/>
          <p:nvPr/>
        </p:nvSpPr>
        <p:spPr>
          <a:xfrm>
            <a:off x="2529342" y="4009313"/>
            <a:ext cx="89648" cy="80726"/>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3" name="타원 52"/>
          <p:cNvSpPr/>
          <p:nvPr/>
        </p:nvSpPr>
        <p:spPr>
          <a:xfrm>
            <a:off x="3471930" y="3339291"/>
            <a:ext cx="89648" cy="80726"/>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4" name="타원 53"/>
          <p:cNvSpPr/>
          <p:nvPr/>
        </p:nvSpPr>
        <p:spPr>
          <a:xfrm>
            <a:off x="4761554" y="4432114"/>
            <a:ext cx="89648" cy="80726"/>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22" name="직선 화살표 연결선 21"/>
          <p:cNvCxnSpPr>
            <a:stCxn id="51" idx="1"/>
          </p:cNvCxnSpPr>
          <p:nvPr/>
        </p:nvCxnSpPr>
        <p:spPr>
          <a:xfrm flipH="1" flipV="1">
            <a:off x="1739154" y="3818255"/>
            <a:ext cx="803317" cy="202881"/>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5" name="직선 화살표 연결선 24"/>
          <p:cNvCxnSpPr>
            <a:stCxn id="53" idx="2"/>
            <a:endCxn id="20" idx="7"/>
          </p:cNvCxnSpPr>
          <p:nvPr/>
        </p:nvCxnSpPr>
        <p:spPr>
          <a:xfrm flipH="1">
            <a:off x="1663272" y="3379654"/>
            <a:ext cx="1808658" cy="369697"/>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1853037" y="3786309"/>
            <a:ext cx="670376" cy="277148"/>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비용이</a:t>
            </a:r>
          </a:p>
        </p:txBody>
      </p:sp>
      <p:sp>
        <p:nvSpPr>
          <p:cNvPr id="66" name="TextBox 65"/>
          <p:cNvSpPr txBox="1"/>
          <p:nvPr/>
        </p:nvSpPr>
        <p:spPr>
          <a:xfrm>
            <a:off x="2349146" y="3464130"/>
            <a:ext cx="508473" cy="277148"/>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용이</a:t>
            </a:r>
          </a:p>
        </p:txBody>
      </p:sp>
      <p:sp>
        <p:nvSpPr>
          <p:cNvPr id="78" name="TextBox 77"/>
          <p:cNvSpPr txBox="1"/>
          <p:nvPr/>
        </p:nvSpPr>
        <p:spPr>
          <a:xfrm>
            <a:off x="4055250" y="4181989"/>
            <a:ext cx="737702" cy="338554"/>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비용이</a:t>
            </a:r>
          </a:p>
        </p:txBody>
      </p:sp>
      <p:sp>
        <p:nvSpPr>
          <p:cNvPr id="37" name="자유형 36"/>
          <p:cNvSpPr/>
          <p:nvPr/>
        </p:nvSpPr>
        <p:spPr>
          <a:xfrm>
            <a:off x="1703295" y="3907065"/>
            <a:ext cx="3056965" cy="573152"/>
          </a:xfrm>
          <a:custGeom>
            <a:avLst/>
            <a:gdLst>
              <a:gd name="connsiteX0" fmla="*/ 3056965 w 3056965"/>
              <a:gd name="connsiteY0" fmla="*/ 636494 h 636494"/>
              <a:gd name="connsiteX1" fmla="*/ 502023 w 3056965"/>
              <a:gd name="connsiteY1" fmla="*/ 636494 h 636494"/>
              <a:gd name="connsiteX2" fmla="*/ 0 w 3056965"/>
              <a:gd name="connsiteY2" fmla="*/ 0 h 636494"/>
            </a:gdLst>
            <a:ahLst/>
            <a:cxnLst>
              <a:cxn ang="0">
                <a:pos x="connsiteX0" y="connsiteY0"/>
              </a:cxn>
              <a:cxn ang="0">
                <a:pos x="connsiteX1" y="connsiteY1"/>
              </a:cxn>
              <a:cxn ang="0">
                <a:pos x="connsiteX2" y="connsiteY2"/>
              </a:cxn>
            </a:cxnLst>
            <a:rect l="l" t="t" r="r" b="b"/>
            <a:pathLst>
              <a:path w="3056965" h="636494">
                <a:moveTo>
                  <a:pt x="3056965" y="636494"/>
                </a:moveTo>
                <a:lnTo>
                  <a:pt x="502023" y="636494"/>
                </a:lnTo>
                <a:lnTo>
                  <a:pt x="0" y="0"/>
                </a:lnTo>
              </a:path>
            </a:pathLst>
          </a:custGeom>
          <a:noFill/>
          <a:ln>
            <a:solidFill>
              <a:schemeClr val="bg1">
                <a:lumMod val="5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8" name="직사각형 37"/>
          <p:cNvSpPr/>
          <p:nvPr/>
        </p:nvSpPr>
        <p:spPr>
          <a:xfrm>
            <a:off x="2097742" y="2513143"/>
            <a:ext cx="1911225" cy="3880272"/>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9" name="TextBox 38"/>
          <p:cNvSpPr txBox="1"/>
          <p:nvPr/>
        </p:nvSpPr>
        <p:spPr>
          <a:xfrm>
            <a:off x="2067673" y="2525817"/>
            <a:ext cx="1980029" cy="3325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rPr>
              <a:t>심사의 객관성 저해</a:t>
            </a:r>
          </a:p>
        </p:txBody>
      </p:sp>
      <p:cxnSp>
        <p:nvCxnSpPr>
          <p:cNvPr id="41" name="꺾인 연결선 40"/>
          <p:cNvCxnSpPr/>
          <p:nvPr/>
        </p:nvCxnSpPr>
        <p:spPr>
          <a:xfrm rot="16200000" flipH="1">
            <a:off x="3706285" y="3321764"/>
            <a:ext cx="1413032" cy="807671"/>
          </a:xfrm>
          <a:prstGeom prst="bentConnector3">
            <a:avLst>
              <a:gd name="adj1" fmla="val 869"/>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0" name="TextBox 79"/>
          <p:cNvSpPr txBox="1"/>
          <p:nvPr/>
        </p:nvSpPr>
        <p:spPr>
          <a:xfrm>
            <a:off x="4126511" y="2738107"/>
            <a:ext cx="553357" cy="30486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가정</a:t>
            </a:r>
          </a:p>
        </p:txBody>
      </p:sp>
      <p:cxnSp>
        <p:nvCxnSpPr>
          <p:cNvPr id="83" name="직선 연결선 82"/>
          <p:cNvCxnSpPr/>
          <p:nvPr/>
        </p:nvCxnSpPr>
        <p:spPr>
          <a:xfrm>
            <a:off x="6126386" y="1921267"/>
            <a:ext cx="0" cy="472158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직선 화살표 연결선 83"/>
          <p:cNvCxnSpPr/>
          <p:nvPr/>
        </p:nvCxnSpPr>
        <p:spPr>
          <a:xfrm flipV="1">
            <a:off x="7058600" y="2639674"/>
            <a:ext cx="0" cy="3075646"/>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5" name="직선 화살표 연결선 84"/>
          <p:cNvCxnSpPr/>
          <p:nvPr/>
        </p:nvCxnSpPr>
        <p:spPr>
          <a:xfrm>
            <a:off x="7058600" y="5715319"/>
            <a:ext cx="4715435"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6" name="TextBox 85"/>
          <p:cNvSpPr txBox="1"/>
          <p:nvPr/>
        </p:nvSpPr>
        <p:spPr>
          <a:xfrm flipH="1">
            <a:off x="6629190" y="2598981"/>
            <a:ext cx="429410" cy="5820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수준</a:t>
            </a:r>
          </a:p>
        </p:txBody>
      </p:sp>
      <p:sp>
        <p:nvSpPr>
          <p:cNvPr id="87" name="직사각형 86"/>
          <p:cNvSpPr/>
          <p:nvPr/>
        </p:nvSpPr>
        <p:spPr>
          <a:xfrm>
            <a:off x="9263918" y="3769832"/>
            <a:ext cx="358588" cy="1945488"/>
          </a:xfrm>
          <a:prstGeom prst="rect">
            <a:avLst/>
          </a:prstGeom>
          <a:solidFill>
            <a:schemeClr val="accent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93" name="TextBox 92"/>
          <p:cNvSpPr txBox="1"/>
          <p:nvPr/>
        </p:nvSpPr>
        <p:spPr>
          <a:xfrm flipH="1">
            <a:off x="9067142" y="5771497"/>
            <a:ext cx="752587" cy="277148"/>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a:t>
            </a:r>
          </a:p>
        </p:txBody>
      </p:sp>
      <p:sp>
        <p:nvSpPr>
          <p:cNvPr id="98" name="타원 97"/>
          <p:cNvSpPr/>
          <p:nvPr/>
        </p:nvSpPr>
        <p:spPr>
          <a:xfrm>
            <a:off x="9398388" y="3737529"/>
            <a:ext cx="89648" cy="80726"/>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03" name="직선 화살표 연결선 102"/>
          <p:cNvCxnSpPr>
            <a:stCxn id="114" idx="7"/>
          </p:cNvCxnSpPr>
          <p:nvPr/>
        </p:nvCxnSpPr>
        <p:spPr>
          <a:xfrm flipV="1">
            <a:off x="8094626" y="3812649"/>
            <a:ext cx="1241009" cy="477566"/>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4" name="TextBox 103"/>
          <p:cNvSpPr txBox="1"/>
          <p:nvPr/>
        </p:nvSpPr>
        <p:spPr>
          <a:xfrm>
            <a:off x="9973823" y="4219441"/>
            <a:ext cx="508473" cy="277148"/>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용이</a:t>
            </a:r>
          </a:p>
        </p:txBody>
      </p:sp>
      <p:sp>
        <p:nvSpPr>
          <p:cNvPr id="113" name="직사각형 112"/>
          <p:cNvSpPr/>
          <p:nvPr/>
        </p:nvSpPr>
        <p:spPr>
          <a:xfrm>
            <a:off x="7883637" y="4310696"/>
            <a:ext cx="358588" cy="1399692"/>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4" name="타원 113"/>
          <p:cNvSpPr/>
          <p:nvPr/>
        </p:nvSpPr>
        <p:spPr>
          <a:xfrm>
            <a:off x="8018107" y="4278392"/>
            <a:ext cx="89648" cy="80726"/>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5" name="직사각형 114"/>
          <p:cNvSpPr/>
          <p:nvPr/>
        </p:nvSpPr>
        <p:spPr>
          <a:xfrm>
            <a:off x="10778669" y="3764225"/>
            <a:ext cx="358588" cy="1945487"/>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6" name="타원 115"/>
          <p:cNvSpPr/>
          <p:nvPr/>
        </p:nvSpPr>
        <p:spPr>
          <a:xfrm>
            <a:off x="10913139" y="3731922"/>
            <a:ext cx="89648" cy="80726"/>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0" name="자유형 59"/>
          <p:cNvSpPr/>
          <p:nvPr/>
        </p:nvSpPr>
        <p:spPr>
          <a:xfrm>
            <a:off x="9520518" y="3826340"/>
            <a:ext cx="1425388" cy="379410"/>
          </a:xfrm>
          <a:custGeom>
            <a:avLst/>
            <a:gdLst>
              <a:gd name="connsiteX0" fmla="*/ 1425388 w 1425388"/>
              <a:gd name="connsiteY0" fmla="*/ 0 h 421341"/>
              <a:gd name="connsiteX1" fmla="*/ 1183341 w 1425388"/>
              <a:gd name="connsiteY1" fmla="*/ 421341 h 421341"/>
              <a:gd name="connsiteX2" fmla="*/ 268941 w 1425388"/>
              <a:gd name="connsiteY2" fmla="*/ 421341 h 421341"/>
              <a:gd name="connsiteX3" fmla="*/ 0 w 1425388"/>
              <a:gd name="connsiteY3" fmla="*/ 26894 h 421341"/>
            </a:gdLst>
            <a:ahLst/>
            <a:cxnLst>
              <a:cxn ang="0">
                <a:pos x="connsiteX0" y="connsiteY0"/>
              </a:cxn>
              <a:cxn ang="0">
                <a:pos x="connsiteX1" y="connsiteY1"/>
              </a:cxn>
              <a:cxn ang="0">
                <a:pos x="connsiteX2" y="connsiteY2"/>
              </a:cxn>
              <a:cxn ang="0">
                <a:pos x="connsiteX3" y="connsiteY3"/>
              </a:cxn>
            </a:cxnLst>
            <a:rect l="l" t="t" r="r" b="b"/>
            <a:pathLst>
              <a:path w="1425388" h="421341">
                <a:moveTo>
                  <a:pt x="1425388" y="0"/>
                </a:moveTo>
                <a:lnTo>
                  <a:pt x="1183341" y="421341"/>
                </a:lnTo>
                <a:lnTo>
                  <a:pt x="268941" y="421341"/>
                </a:lnTo>
                <a:lnTo>
                  <a:pt x="0" y="26894"/>
                </a:lnTo>
              </a:path>
            </a:pathLst>
          </a:custGeom>
          <a:noFill/>
          <a:ln>
            <a:solidFill>
              <a:schemeClr val="bg1">
                <a:lumMod val="5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7" name="TextBox 116"/>
          <p:cNvSpPr txBox="1"/>
          <p:nvPr/>
        </p:nvSpPr>
        <p:spPr>
          <a:xfrm>
            <a:off x="8318720" y="3784870"/>
            <a:ext cx="670376" cy="277148"/>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비용이</a:t>
            </a:r>
          </a:p>
        </p:txBody>
      </p:sp>
      <p:sp>
        <p:nvSpPr>
          <p:cNvPr id="118" name="TextBox 117"/>
          <p:cNvSpPr txBox="1"/>
          <p:nvPr/>
        </p:nvSpPr>
        <p:spPr>
          <a:xfrm flipH="1">
            <a:off x="7686637" y="5771497"/>
            <a:ext cx="752587" cy="471151"/>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통상의</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기술자</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9" name="TextBox 118"/>
          <p:cNvSpPr txBox="1"/>
          <p:nvPr/>
        </p:nvSpPr>
        <p:spPr>
          <a:xfrm flipH="1">
            <a:off x="10581669" y="5771497"/>
            <a:ext cx="752587" cy="471151"/>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통상의</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기술자</a:t>
            </a:r>
          </a:p>
        </p:txBody>
      </p:sp>
      <p:sp>
        <p:nvSpPr>
          <p:cNvPr id="120" name="TextBox 119"/>
          <p:cNvSpPr txBox="1"/>
          <p:nvPr/>
        </p:nvSpPr>
        <p:spPr>
          <a:xfrm flipH="1">
            <a:off x="7223907" y="6393415"/>
            <a:ext cx="1678046" cy="249433"/>
          </a:xfrm>
          <a:prstGeom prst="rect">
            <a:avLst/>
          </a:prstGeom>
          <a:solidFill>
            <a:schemeClr val="accent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발명의 지식을 알기 전</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1" name="TextBox 120"/>
          <p:cNvSpPr txBox="1"/>
          <p:nvPr/>
        </p:nvSpPr>
        <p:spPr>
          <a:xfrm flipH="1">
            <a:off x="10066338" y="6393415"/>
            <a:ext cx="1793968" cy="249433"/>
          </a:xfrm>
          <a:prstGeom prst="rect">
            <a:avLst/>
          </a:prstGeom>
          <a:solidFill>
            <a:schemeClr val="accent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발명의 지식을 알고 난 후</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62" name="직선 화살표 연결선 61"/>
          <p:cNvCxnSpPr>
            <a:stCxn id="120" idx="0"/>
            <a:endCxn id="118" idx="2"/>
          </p:cNvCxnSpPr>
          <p:nvPr/>
        </p:nvCxnSpPr>
        <p:spPr>
          <a:xfrm flipV="1">
            <a:off x="8062930" y="6242647"/>
            <a:ext cx="0" cy="150768"/>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4" name="직선 화살표 연결선 63"/>
          <p:cNvCxnSpPr>
            <a:stCxn id="121" idx="0"/>
            <a:endCxn id="119" idx="2"/>
          </p:cNvCxnSpPr>
          <p:nvPr/>
        </p:nvCxnSpPr>
        <p:spPr>
          <a:xfrm flipH="1" flipV="1">
            <a:off x="10957962" y="6242647"/>
            <a:ext cx="5360" cy="150768"/>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5" name="Rectangle 5"/>
          <p:cNvSpPr>
            <a:spLocks noChangeArrowheads="1"/>
          </p:cNvSpPr>
          <p:nvPr/>
        </p:nvSpPr>
        <p:spPr bwMode="auto">
          <a:xfrm>
            <a:off x="195260" y="1938584"/>
            <a:ext cx="2153886" cy="348102"/>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통상의 기술자의 개념</a:t>
            </a:r>
          </a:p>
        </p:txBody>
      </p:sp>
      <p:sp>
        <p:nvSpPr>
          <p:cNvPr id="126" name="Rectangle 5"/>
          <p:cNvSpPr>
            <a:spLocks noChangeArrowheads="1"/>
          </p:cNvSpPr>
          <p:nvPr/>
        </p:nvSpPr>
        <p:spPr bwMode="auto">
          <a:xfrm>
            <a:off x="6359193" y="1938584"/>
            <a:ext cx="2080032" cy="348102"/>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white"/>
                </a:solidFill>
                <a:effectLst/>
                <a:uLnTx/>
                <a:uFillTx/>
                <a:latin typeface="Rix모던고딕 EB"/>
                <a:ea typeface="Rix모던고딕 EB"/>
                <a:cs typeface="+mn-cs"/>
              </a:rPr>
              <a:t>사후적 고찰의 금지</a:t>
            </a:r>
            <a:endPar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70</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9368039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2</a:t>
            </a:r>
            <a:r>
              <a:rPr lang="ko-KR" altLang="en-US" dirty="0"/>
              <a:t>항</a:t>
            </a:r>
          </a:p>
        </p:txBody>
      </p:sp>
      <p:sp>
        <p:nvSpPr>
          <p:cNvPr id="4" name="텍스트 개체 틀 3"/>
          <p:cNvSpPr>
            <a:spLocks noGrp="1"/>
          </p:cNvSpPr>
          <p:nvPr>
            <p:ph type="body" sz="quarter" idx="13"/>
          </p:nvPr>
        </p:nvSpPr>
        <p:spPr/>
        <p:txBody>
          <a:bodyPr/>
          <a:lstStyle/>
          <a:p>
            <a:r>
              <a:rPr lang="ko-KR" altLang="en-US" dirty="0"/>
              <a:t>용이성의 판단</a:t>
            </a:r>
          </a:p>
        </p:txBody>
      </p:sp>
      <p:sp>
        <p:nvSpPr>
          <p:cNvPr id="90" name="TextBox 89"/>
          <p:cNvSpPr txBox="1"/>
          <p:nvPr/>
        </p:nvSpPr>
        <p:spPr>
          <a:xfrm>
            <a:off x="77875" y="986046"/>
            <a:ext cx="11936323" cy="738664"/>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진보성 유무를 가늠하는 창작의 난이도는 그 구성의 차이와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작용효과를</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고려하여 판단하여야 하는 것이므로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기술의 구성이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선행기술과</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차이가 있을 뿐 아니라 그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작용효과에</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있어서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선행기술과</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비교하여 현저하게 향상 진보된 것</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인 때에는</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기술의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진보발전을</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도모하는 특허제도의 목적에 비추어 특허발명의 진보성을 인정하여야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즉</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구성</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요소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의 곤란성과 효과의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현저성에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따라 용이성을 판단하고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91" name="직선 연결선 90"/>
          <p:cNvCxnSpPr/>
          <p:nvPr/>
        </p:nvCxnSpPr>
        <p:spPr>
          <a:xfrm>
            <a:off x="0" y="172770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0" name="그룹 69"/>
          <p:cNvGrpSpPr/>
          <p:nvPr/>
        </p:nvGrpSpPr>
        <p:grpSpPr>
          <a:xfrm>
            <a:off x="6778063" y="2169495"/>
            <a:ext cx="4965298" cy="4225066"/>
            <a:chOff x="5979556" y="2169495"/>
            <a:chExt cx="5763805" cy="4225066"/>
          </a:xfrm>
        </p:grpSpPr>
        <p:sp>
          <p:nvSpPr>
            <p:cNvPr id="2" name="순서도: 판단 1"/>
            <p:cNvSpPr/>
            <p:nvPr/>
          </p:nvSpPr>
          <p:spPr>
            <a:xfrm>
              <a:off x="7939340" y="3133622"/>
              <a:ext cx="1741383" cy="934948"/>
            </a:xfrm>
            <a:prstGeom prst="flowChartDecision">
              <a:avLst/>
            </a:prstGeom>
            <a:solidFill>
              <a:schemeClr val="accent5"/>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rPr>
                <a:t>구성의 곤란성</a:t>
              </a:r>
            </a:p>
          </p:txBody>
        </p:sp>
        <p:sp>
          <p:nvSpPr>
            <p:cNvPr id="55" name="순서도: 판단 54"/>
            <p:cNvSpPr/>
            <p:nvPr/>
          </p:nvSpPr>
          <p:spPr>
            <a:xfrm>
              <a:off x="7939340" y="4570356"/>
              <a:ext cx="1741383" cy="934948"/>
            </a:xfrm>
            <a:prstGeom prst="flowChartDecision">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효과의 </a:t>
              </a:r>
              <a:r>
                <a:rPr kumimoji="0" lang="ko-KR" altLang="en-US" sz="1600" b="0" i="0" u="none" strike="noStrike" kern="1200" cap="none" spc="0" normalizeH="0" baseline="0" noProof="0" dirty="0" err="1">
                  <a:ln>
                    <a:noFill/>
                  </a:ln>
                  <a:solidFill>
                    <a:prstClr val="white"/>
                  </a:solidFill>
                  <a:effectLst/>
                  <a:uLnTx/>
                  <a:uFillTx/>
                  <a:latin typeface="Frutiger LT 65 Bold"/>
                  <a:ea typeface="Rix모던고딕 B"/>
                  <a:cs typeface="+mn-cs"/>
                </a:rPr>
                <a:t>현저성</a:t>
              </a:r>
              <a:endPar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6" name="직선 화살표 연결선 5"/>
            <p:cNvCxnSpPr>
              <a:stCxn id="2" idx="2"/>
              <a:endCxn id="55" idx="0"/>
            </p:cNvCxnSpPr>
            <p:nvPr/>
          </p:nvCxnSpPr>
          <p:spPr>
            <a:xfrm>
              <a:off x="8810031" y="4068570"/>
              <a:ext cx="0" cy="501786"/>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 name="직사각형 6"/>
            <p:cNvSpPr/>
            <p:nvPr/>
          </p:nvSpPr>
          <p:spPr>
            <a:xfrm>
              <a:off x="10397077" y="3349376"/>
              <a:ext cx="1089093" cy="513708"/>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진보성 </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인정</a:t>
              </a:r>
            </a:p>
          </p:txBody>
        </p:sp>
        <p:cxnSp>
          <p:nvCxnSpPr>
            <p:cNvPr id="9" name="직선 화살표 연결선 8"/>
            <p:cNvCxnSpPr>
              <a:stCxn id="2" idx="3"/>
              <a:endCxn id="7" idx="1"/>
            </p:cNvCxnSpPr>
            <p:nvPr/>
          </p:nvCxnSpPr>
          <p:spPr>
            <a:xfrm>
              <a:off x="9680723" y="3601096"/>
              <a:ext cx="716355" cy="5134"/>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9686547" y="3283134"/>
              <a:ext cx="242036"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Yes</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3" name="직사각형 62"/>
            <p:cNvSpPr/>
            <p:nvPr/>
          </p:nvSpPr>
          <p:spPr>
            <a:xfrm>
              <a:off x="5979556" y="3349376"/>
              <a:ext cx="1089093" cy="513708"/>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진보성 </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부정</a:t>
              </a:r>
            </a:p>
          </p:txBody>
        </p:sp>
        <p:cxnSp>
          <p:nvCxnSpPr>
            <p:cNvPr id="65" name="직선 화살표 연결선 64"/>
            <p:cNvCxnSpPr>
              <a:stCxn id="2" idx="1"/>
              <a:endCxn id="63" idx="3"/>
            </p:cNvCxnSpPr>
            <p:nvPr/>
          </p:nvCxnSpPr>
          <p:spPr>
            <a:xfrm flipH="1">
              <a:off x="7068649" y="3601096"/>
              <a:ext cx="870691" cy="5134"/>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7634431" y="3283134"/>
              <a:ext cx="220991"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No</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8" name="TextBox 67"/>
            <p:cNvSpPr txBox="1"/>
            <p:nvPr/>
          </p:nvSpPr>
          <p:spPr>
            <a:xfrm>
              <a:off x="8825181" y="4119940"/>
              <a:ext cx="53441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모호</a:t>
              </a:r>
            </a:p>
          </p:txBody>
        </p:sp>
        <p:cxnSp>
          <p:nvCxnSpPr>
            <p:cNvPr id="18" name="꺾인 연결선 17"/>
            <p:cNvCxnSpPr>
              <a:stCxn id="55" idx="3"/>
              <a:endCxn id="7" idx="2"/>
            </p:cNvCxnSpPr>
            <p:nvPr/>
          </p:nvCxnSpPr>
          <p:spPr>
            <a:xfrm flipV="1">
              <a:off x="9680723" y="3863084"/>
              <a:ext cx="1260901" cy="1174746"/>
            </a:xfrm>
            <a:prstGeom prst="bentConnector2">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 name="꺾인 연결선 25"/>
            <p:cNvCxnSpPr>
              <a:stCxn id="55" idx="1"/>
              <a:endCxn id="63" idx="2"/>
            </p:cNvCxnSpPr>
            <p:nvPr/>
          </p:nvCxnSpPr>
          <p:spPr>
            <a:xfrm rot="10800000">
              <a:off x="6524102" y="3863084"/>
              <a:ext cx="1415237" cy="1174746"/>
            </a:xfrm>
            <a:prstGeom prst="bentConnector2">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9686547" y="4740417"/>
              <a:ext cx="242036"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Yes</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6" name="TextBox 75"/>
            <p:cNvSpPr txBox="1"/>
            <p:nvPr/>
          </p:nvSpPr>
          <p:spPr>
            <a:xfrm>
              <a:off x="7634431" y="4730685"/>
              <a:ext cx="220991"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No</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9" name="모서리가 둥근 사각형 설명선 28"/>
            <p:cNvSpPr/>
            <p:nvPr/>
          </p:nvSpPr>
          <p:spPr>
            <a:xfrm>
              <a:off x="6078313" y="2169495"/>
              <a:ext cx="5665048" cy="610069"/>
            </a:xfrm>
            <a:prstGeom prst="wedgeRoundRectCallout">
              <a:avLst>
                <a:gd name="adj1" fmla="val -4827"/>
                <a:gd name="adj2" fmla="val 115794"/>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TSM Test: Teaching(</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교시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Suggesting(</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암시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Motivation(</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동기</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a:p>
              <a:pPr marL="342900" marR="0" lvl="0" indent="-342900" algn="l" defTabSz="914400" rtl="0" eaLnBrk="1" fontAlgn="auto" latinLnBrk="1" hangingPunct="1">
                <a:lnSpc>
                  <a:spcPct val="100000"/>
                </a:lnSpc>
                <a:spcBef>
                  <a:spcPts val="0"/>
                </a:spcBef>
                <a:spcAft>
                  <a:spcPts val="0"/>
                </a:spcAft>
                <a:buClrTx/>
                <a:buSzTx/>
                <a:buFontTx/>
                <a:buAutoNum type="arabicPeriod"/>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통상의 창작능력발휘 고려</a:t>
              </a:r>
            </a:p>
          </p:txBody>
        </p:sp>
        <p:sp>
          <p:nvSpPr>
            <p:cNvPr id="81" name="모서리가 둥근 사각형 설명선 80"/>
            <p:cNvSpPr/>
            <p:nvPr/>
          </p:nvSpPr>
          <p:spPr>
            <a:xfrm>
              <a:off x="8911951" y="5813674"/>
              <a:ext cx="2214957" cy="580887"/>
            </a:xfrm>
            <a:prstGeom prst="wedgeRoundRectCallout">
              <a:avLst>
                <a:gd name="adj1" fmla="val -38104"/>
                <a:gd name="adj2" fmla="val -123652"/>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1" hangingPunct="1">
                <a:lnSpc>
                  <a:spcPct val="100000"/>
                </a:lnSpc>
                <a:spcBef>
                  <a:spcPts val="0"/>
                </a:spcBef>
                <a:spcAft>
                  <a:spcPts val="0"/>
                </a:spcAft>
                <a:buClrTx/>
                <a:buSzTx/>
                <a:buFontTx/>
                <a:buAutoNum type="arabicPeriod"/>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이질적인 효과</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342900" marR="0" lvl="0" indent="-342900" algn="l" defTabSz="914400" rtl="0" eaLnBrk="1" fontAlgn="auto" latinLnBrk="1" hangingPunct="1">
                <a:lnSpc>
                  <a:spcPct val="100000"/>
                </a:lnSpc>
                <a:spcBef>
                  <a:spcPts val="0"/>
                </a:spcBef>
                <a:spcAft>
                  <a:spcPts val="0"/>
                </a:spcAft>
                <a:buClrTx/>
                <a:buSzTx/>
                <a:buFontTx/>
                <a:buAutoNum type="arabicPeriod"/>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동질의 우수한 효과</a:t>
              </a:r>
            </a:p>
          </p:txBody>
        </p:sp>
      </p:grpSp>
      <p:cxnSp>
        <p:nvCxnSpPr>
          <p:cNvPr id="82" name="직선 연결선 81"/>
          <p:cNvCxnSpPr/>
          <p:nvPr/>
        </p:nvCxnSpPr>
        <p:spPr>
          <a:xfrm>
            <a:off x="6598995" y="1921267"/>
            <a:ext cx="0" cy="472158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8" name="직사각형 87"/>
          <p:cNvSpPr/>
          <p:nvPr/>
        </p:nvSpPr>
        <p:spPr>
          <a:xfrm>
            <a:off x="991194" y="2580592"/>
            <a:ext cx="919791" cy="34804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Frutiger LT 65 Bold"/>
                <a:ea typeface="Rix모던고딕 B"/>
                <a:cs typeface="+mn-cs"/>
              </a:rPr>
              <a:t>출원서</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9" name="직사각형 88"/>
          <p:cNvSpPr/>
          <p:nvPr/>
        </p:nvSpPr>
        <p:spPr>
          <a:xfrm>
            <a:off x="991194" y="3045049"/>
            <a:ext cx="919791" cy="34804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명세서</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2" name="직사각형 91"/>
          <p:cNvSpPr/>
          <p:nvPr/>
        </p:nvSpPr>
        <p:spPr>
          <a:xfrm>
            <a:off x="991194" y="3537764"/>
            <a:ext cx="919791" cy="34804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필요한 도면</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4" name="직사각형 93"/>
          <p:cNvSpPr/>
          <p:nvPr/>
        </p:nvSpPr>
        <p:spPr>
          <a:xfrm>
            <a:off x="991194" y="4002221"/>
            <a:ext cx="919791" cy="34804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요약서</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5" name="직사각형 94"/>
          <p:cNvSpPr/>
          <p:nvPr/>
        </p:nvSpPr>
        <p:spPr>
          <a:xfrm>
            <a:off x="2142884" y="2007361"/>
            <a:ext cx="631136" cy="46716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발명의 설명</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6" name="직사각형 95"/>
          <p:cNvSpPr/>
          <p:nvPr/>
        </p:nvSpPr>
        <p:spPr>
          <a:xfrm>
            <a:off x="2142884" y="4935090"/>
            <a:ext cx="631136" cy="473617"/>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청구</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범위</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7" name="꺾인 연결선 96"/>
          <p:cNvCxnSpPr>
            <a:stCxn id="103" idx="3"/>
            <a:endCxn id="94" idx="1"/>
          </p:cNvCxnSpPr>
          <p:nvPr/>
        </p:nvCxnSpPr>
        <p:spPr>
          <a:xfrm>
            <a:off x="719190" y="3158885"/>
            <a:ext cx="272004" cy="1017361"/>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꺾인 연결선 98"/>
          <p:cNvCxnSpPr>
            <a:stCxn id="103" idx="3"/>
            <a:endCxn id="89" idx="1"/>
          </p:cNvCxnSpPr>
          <p:nvPr/>
        </p:nvCxnSpPr>
        <p:spPr>
          <a:xfrm>
            <a:off x="719190" y="3158885"/>
            <a:ext cx="272004" cy="60189"/>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꺾인 연결선 99"/>
          <p:cNvCxnSpPr>
            <a:stCxn id="103" idx="3"/>
            <a:endCxn id="92" idx="1"/>
          </p:cNvCxnSpPr>
          <p:nvPr/>
        </p:nvCxnSpPr>
        <p:spPr>
          <a:xfrm>
            <a:off x="719190" y="3158885"/>
            <a:ext cx="272004" cy="552904"/>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꺾인 연결선 100"/>
          <p:cNvCxnSpPr>
            <a:stCxn id="89" idx="3"/>
          </p:cNvCxnSpPr>
          <p:nvPr/>
        </p:nvCxnSpPr>
        <p:spPr>
          <a:xfrm>
            <a:off x="1910985" y="3219074"/>
            <a:ext cx="231899" cy="187559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꺾인 연결선 101"/>
          <p:cNvCxnSpPr>
            <a:stCxn id="89" idx="3"/>
            <a:endCxn id="95" idx="1"/>
          </p:cNvCxnSpPr>
          <p:nvPr/>
        </p:nvCxnSpPr>
        <p:spPr>
          <a:xfrm flipV="1">
            <a:off x="1910985" y="2240945"/>
            <a:ext cx="231899" cy="978129"/>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5" name="직사각형 104"/>
          <p:cNvSpPr/>
          <p:nvPr/>
        </p:nvSpPr>
        <p:spPr>
          <a:xfrm>
            <a:off x="2950152" y="2007361"/>
            <a:ext cx="1236668" cy="319165"/>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Frutiger LT 65 Bold"/>
                <a:ea typeface="Rix모던고딕 B"/>
                <a:cs typeface="+mn-cs"/>
              </a:rPr>
              <a:t>발명의 명칭</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6" name="직사각형 105"/>
          <p:cNvSpPr/>
          <p:nvPr/>
        </p:nvSpPr>
        <p:spPr>
          <a:xfrm>
            <a:off x="2950152" y="2435451"/>
            <a:ext cx="1236668" cy="319165"/>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기술분야</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7" name="직사각형 106"/>
          <p:cNvSpPr/>
          <p:nvPr/>
        </p:nvSpPr>
        <p:spPr>
          <a:xfrm>
            <a:off x="2950152" y="2864681"/>
            <a:ext cx="1236668" cy="319165"/>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배경기술</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8" name="직사각형 107"/>
          <p:cNvSpPr/>
          <p:nvPr/>
        </p:nvSpPr>
        <p:spPr>
          <a:xfrm>
            <a:off x="2950152" y="3293911"/>
            <a:ext cx="1236668" cy="319165"/>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발명의 내용</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9" name="직사각형 108"/>
          <p:cNvSpPr/>
          <p:nvPr/>
        </p:nvSpPr>
        <p:spPr>
          <a:xfrm>
            <a:off x="2950152" y="3725429"/>
            <a:ext cx="1236668" cy="450816"/>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도면의 간단한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설명</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0" name="직사각형 109"/>
          <p:cNvSpPr/>
          <p:nvPr/>
        </p:nvSpPr>
        <p:spPr>
          <a:xfrm>
            <a:off x="2950409" y="4289259"/>
            <a:ext cx="1236668" cy="461432"/>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실시를 위한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구체적인 내용</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1" name="직사각형 110"/>
          <p:cNvSpPr/>
          <p:nvPr/>
        </p:nvSpPr>
        <p:spPr>
          <a:xfrm>
            <a:off x="4812011" y="3295051"/>
            <a:ext cx="1236668" cy="319165"/>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해결과제</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2" name="직사각형 111"/>
          <p:cNvSpPr/>
          <p:nvPr/>
        </p:nvSpPr>
        <p:spPr>
          <a:xfrm>
            <a:off x="4812011" y="3724281"/>
            <a:ext cx="1236668" cy="319165"/>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해결수단</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2" name="직사각형 121"/>
          <p:cNvSpPr/>
          <p:nvPr/>
        </p:nvSpPr>
        <p:spPr>
          <a:xfrm>
            <a:off x="4812011" y="4153511"/>
            <a:ext cx="1236668" cy="319165"/>
          </a:xfrm>
          <a:prstGeom prst="rect">
            <a:avLst/>
          </a:prstGeom>
          <a:solidFill>
            <a:srgbClr val="FFC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효과</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3" name="직사각형 122"/>
          <p:cNvSpPr/>
          <p:nvPr/>
        </p:nvSpPr>
        <p:spPr>
          <a:xfrm>
            <a:off x="2950152" y="4935091"/>
            <a:ext cx="1236668" cy="42809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4" name="직사각형 123"/>
          <p:cNvSpPr/>
          <p:nvPr/>
        </p:nvSpPr>
        <p:spPr>
          <a:xfrm>
            <a:off x="2950152" y="5496742"/>
            <a:ext cx="1236668" cy="451997"/>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7" name="직사각형 126"/>
          <p:cNvSpPr/>
          <p:nvPr/>
        </p:nvSpPr>
        <p:spPr>
          <a:xfrm>
            <a:off x="2950152" y="6069811"/>
            <a:ext cx="1236668" cy="47029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(C</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8" name="직사각형 127"/>
          <p:cNvSpPr/>
          <p:nvPr/>
        </p:nvSpPr>
        <p:spPr>
          <a:xfrm>
            <a:off x="4146595" y="4935091"/>
            <a:ext cx="2376073" cy="428090"/>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 c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포함하는 자전거</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9" name="직사각형 128"/>
          <p:cNvSpPr/>
          <p:nvPr/>
        </p:nvSpPr>
        <p:spPr>
          <a:xfrm>
            <a:off x="4146595" y="5508695"/>
            <a:ext cx="2376073" cy="428090"/>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 c, d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포함하는 자전거</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0" name="직사각형 129"/>
          <p:cNvSpPr/>
          <p:nvPr/>
        </p:nvSpPr>
        <p:spPr>
          <a:xfrm>
            <a:off x="4146595" y="6069810"/>
            <a:ext cx="2376073" cy="470297"/>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 c, d, e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포함하는 자전거</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2" name="꺾인 연결선 71"/>
          <p:cNvCxnSpPr>
            <a:stCxn id="95" idx="3"/>
            <a:endCxn id="105" idx="1"/>
          </p:cNvCxnSpPr>
          <p:nvPr/>
        </p:nvCxnSpPr>
        <p:spPr>
          <a:xfrm flipV="1">
            <a:off x="2774020" y="2166944"/>
            <a:ext cx="176132" cy="7400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꺾인 연결선 73"/>
          <p:cNvCxnSpPr>
            <a:stCxn id="95" idx="3"/>
            <a:endCxn id="110" idx="1"/>
          </p:cNvCxnSpPr>
          <p:nvPr/>
        </p:nvCxnSpPr>
        <p:spPr>
          <a:xfrm>
            <a:off x="2774020" y="2240945"/>
            <a:ext cx="176389" cy="227903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꺾인 연결선 78"/>
          <p:cNvCxnSpPr>
            <a:stCxn id="95" idx="3"/>
            <a:endCxn id="106" idx="1"/>
          </p:cNvCxnSpPr>
          <p:nvPr/>
        </p:nvCxnSpPr>
        <p:spPr>
          <a:xfrm>
            <a:off x="2774020" y="2240945"/>
            <a:ext cx="176132" cy="35408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95" idx="3"/>
            <a:endCxn id="109" idx="1"/>
          </p:cNvCxnSpPr>
          <p:nvPr/>
        </p:nvCxnSpPr>
        <p:spPr>
          <a:xfrm>
            <a:off x="2774020" y="2240945"/>
            <a:ext cx="176132" cy="170989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stCxn id="95" idx="3"/>
            <a:endCxn id="107" idx="1"/>
          </p:cNvCxnSpPr>
          <p:nvPr/>
        </p:nvCxnSpPr>
        <p:spPr>
          <a:xfrm>
            <a:off x="2774020" y="2240945"/>
            <a:ext cx="176132" cy="78331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6" name="꺾인 연결선 135"/>
          <p:cNvCxnSpPr>
            <a:stCxn id="95" idx="3"/>
            <a:endCxn id="108" idx="1"/>
          </p:cNvCxnSpPr>
          <p:nvPr/>
        </p:nvCxnSpPr>
        <p:spPr>
          <a:xfrm>
            <a:off x="2774020" y="2240945"/>
            <a:ext cx="176132" cy="121254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8" name="꺾인 연결선 137"/>
          <p:cNvCxnSpPr>
            <a:stCxn id="111" idx="1"/>
            <a:endCxn id="108" idx="3"/>
          </p:cNvCxnSpPr>
          <p:nvPr/>
        </p:nvCxnSpPr>
        <p:spPr>
          <a:xfrm rot="10800000">
            <a:off x="4186821" y="3453494"/>
            <a:ext cx="625191" cy="1140"/>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꺾인 연결선 139"/>
          <p:cNvCxnSpPr>
            <a:stCxn id="108" idx="3"/>
            <a:endCxn id="122" idx="1"/>
          </p:cNvCxnSpPr>
          <p:nvPr/>
        </p:nvCxnSpPr>
        <p:spPr>
          <a:xfrm>
            <a:off x="4186820" y="3453494"/>
            <a:ext cx="625191" cy="859600"/>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2" name="꺾인 연결선 141"/>
          <p:cNvCxnSpPr>
            <a:stCxn id="108" idx="3"/>
            <a:endCxn id="112" idx="1"/>
          </p:cNvCxnSpPr>
          <p:nvPr/>
        </p:nvCxnSpPr>
        <p:spPr>
          <a:xfrm>
            <a:off x="4186820" y="3453494"/>
            <a:ext cx="625191" cy="430370"/>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꺾인 연결선 143"/>
          <p:cNvCxnSpPr>
            <a:stCxn id="96" idx="3"/>
            <a:endCxn id="127" idx="1"/>
          </p:cNvCxnSpPr>
          <p:nvPr/>
        </p:nvCxnSpPr>
        <p:spPr>
          <a:xfrm>
            <a:off x="2774020" y="5171899"/>
            <a:ext cx="176132" cy="113306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꺾인 연결선 145"/>
          <p:cNvCxnSpPr>
            <a:stCxn id="96" idx="3"/>
            <a:endCxn id="123" idx="1"/>
          </p:cNvCxnSpPr>
          <p:nvPr/>
        </p:nvCxnSpPr>
        <p:spPr>
          <a:xfrm flipV="1">
            <a:off x="2774020" y="5149136"/>
            <a:ext cx="176132" cy="2276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꺾인 연결선 147"/>
          <p:cNvCxnSpPr>
            <a:stCxn id="96" idx="3"/>
            <a:endCxn id="124" idx="1"/>
          </p:cNvCxnSpPr>
          <p:nvPr/>
        </p:nvCxnSpPr>
        <p:spPr>
          <a:xfrm>
            <a:off x="2774020" y="5171899"/>
            <a:ext cx="176132" cy="55084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9" name="직사각형 148"/>
          <p:cNvSpPr/>
          <p:nvPr/>
        </p:nvSpPr>
        <p:spPr>
          <a:xfrm>
            <a:off x="4263881" y="4621726"/>
            <a:ext cx="1037579" cy="2072492"/>
          </a:xfrm>
          <a:prstGeom prst="rect">
            <a:avLst/>
          </a:prstGeom>
          <a:noFill/>
          <a:ln w="38100">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50" name="TextBox 149"/>
          <p:cNvSpPr txBox="1"/>
          <p:nvPr/>
        </p:nvSpPr>
        <p:spPr>
          <a:xfrm>
            <a:off x="4258920" y="4647007"/>
            <a:ext cx="1970411" cy="338554"/>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구성</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요소</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 - </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해결수단</a:t>
            </a:r>
          </a:p>
        </p:txBody>
      </p:sp>
      <p:sp>
        <p:nvSpPr>
          <p:cNvPr id="103" name="직사각형 102"/>
          <p:cNvSpPr/>
          <p:nvPr/>
        </p:nvSpPr>
        <p:spPr>
          <a:xfrm>
            <a:off x="170341" y="2922076"/>
            <a:ext cx="548849" cy="473617"/>
          </a:xfrm>
          <a:prstGeom prst="rect">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서류</a:t>
            </a:r>
          </a:p>
        </p:txBody>
      </p:sp>
      <p:cxnSp>
        <p:nvCxnSpPr>
          <p:cNvPr id="56" name="꺾인 연결선 55"/>
          <p:cNvCxnSpPr>
            <a:stCxn id="88" idx="1"/>
            <a:endCxn id="103" idx="3"/>
          </p:cNvCxnSpPr>
          <p:nvPr/>
        </p:nvCxnSpPr>
        <p:spPr>
          <a:xfrm rot="10800000" flipV="1">
            <a:off x="719190" y="2754617"/>
            <a:ext cx="272004" cy="404268"/>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슬라이드 번호 개체 틀 4"/>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71</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74875969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2</a:t>
            </a:r>
            <a:r>
              <a:rPr lang="ko-KR" altLang="en-US" dirty="0"/>
              <a:t>항</a:t>
            </a:r>
          </a:p>
        </p:txBody>
      </p:sp>
      <p:sp>
        <p:nvSpPr>
          <p:cNvPr id="4" name="텍스트 개체 틀 3"/>
          <p:cNvSpPr>
            <a:spLocks noGrp="1"/>
          </p:cNvSpPr>
          <p:nvPr>
            <p:ph type="body" sz="quarter" idx="13"/>
          </p:nvPr>
        </p:nvSpPr>
        <p:spPr/>
        <p:txBody>
          <a:bodyPr/>
          <a:lstStyle/>
          <a:p>
            <a:r>
              <a:rPr lang="ko-KR" altLang="en-US" dirty="0"/>
              <a:t>의견서에 개진된 효과의 참작 여부</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72</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90" name="TextBox 89"/>
          <p:cNvSpPr txBox="1"/>
          <p:nvPr/>
        </p:nvSpPr>
        <p:spPr>
          <a:xfrm>
            <a:off x="77875" y="986046"/>
            <a:ext cx="11936323" cy="954107"/>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효과의 현저성은 특허발명의 명세서에 기재되어 통상의 기술자가 인식하거나 추론할 수 있는 효과를 중심으로 판단하여야 한다</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2021. 4. 8.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2019</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후</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10609).</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특허발명의 유리한 효과가 발명의 설명에 기재되어 있지 아니하더라도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통상의 기술자가 발명의 설명의 기재로부터 유리한 효과를 추론</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할 수 있을 때에는 출원일 이후에 의견서 등에서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주장ㆍ증명하는</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그 효과도 참작하여 진보성을 판단한다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2002. 8. 23.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2000</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3234)</a:t>
            </a:r>
            <a:r>
              <a:rPr kumimoji="0" lang="en-US" altLang="ko-KR" sz="1400" b="1"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그러나 발명의 설명에 기재되어 있지 않고 발명의 설명 또는 도면의 기재로부터 통상의 기술자가 미루어 짐작할 수 없는 경우에는 의견서 등에서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주장ㆍ증명하는</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효과는 참작해서는 아니 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91" name="직선 연결선 90"/>
          <p:cNvCxnSpPr/>
          <p:nvPr/>
        </p:nvCxnSpPr>
        <p:spPr>
          <a:xfrm>
            <a:off x="0" y="194015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직선 연결선 21"/>
          <p:cNvCxnSpPr>
            <a:cxnSpLocks/>
            <a:endCxn id="23" idx="2"/>
          </p:cNvCxnSpPr>
          <p:nvPr/>
        </p:nvCxnSpPr>
        <p:spPr>
          <a:xfrm flipV="1">
            <a:off x="2570882" y="2970691"/>
            <a:ext cx="0" cy="232895"/>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2061768" y="2601359"/>
            <a:ext cx="1018227" cy="369332"/>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cxnSp>
        <p:nvCxnSpPr>
          <p:cNvPr id="24" name="직선 연결선 23"/>
          <p:cNvCxnSpPr/>
          <p:nvPr/>
        </p:nvCxnSpPr>
        <p:spPr>
          <a:xfrm>
            <a:off x="820298" y="3231999"/>
            <a:ext cx="8884222"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직선 연결선 24"/>
          <p:cNvCxnSpPr>
            <a:cxnSpLocks/>
            <a:endCxn id="27" idx="0"/>
          </p:cNvCxnSpPr>
          <p:nvPr/>
        </p:nvCxnSpPr>
        <p:spPr>
          <a:xfrm>
            <a:off x="1739964" y="3276718"/>
            <a:ext cx="0" cy="234105"/>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1230850" y="3510823"/>
            <a:ext cx="1018228" cy="369332"/>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err="1">
                <a:ln>
                  <a:noFill/>
                </a:ln>
                <a:solidFill>
                  <a:prstClr val="black"/>
                </a:solidFill>
                <a:effectLst/>
                <a:uLnTx/>
                <a:uFillTx/>
                <a:latin typeface="Frutiger LT 65 Bold"/>
                <a:ea typeface="Rix모던고딕 B"/>
                <a:cs typeface="+mn-cs"/>
              </a:rPr>
              <a:t>공지기술</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31" name="직선 연결선 30"/>
          <p:cNvCxnSpPr>
            <a:cxnSpLocks/>
            <a:endCxn id="32" idx="2"/>
          </p:cNvCxnSpPr>
          <p:nvPr/>
        </p:nvCxnSpPr>
        <p:spPr>
          <a:xfrm flipV="1">
            <a:off x="3683127" y="2970691"/>
            <a:ext cx="0" cy="232895"/>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3174013" y="2601359"/>
            <a:ext cx="1018228" cy="369332"/>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심사청구</a:t>
            </a:r>
          </a:p>
        </p:txBody>
      </p:sp>
      <p:cxnSp>
        <p:nvCxnSpPr>
          <p:cNvPr id="33" name="직선 연결선 32"/>
          <p:cNvCxnSpPr>
            <a:cxnSpLocks/>
            <a:endCxn id="34" idx="0"/>
          </p:cNvCxnSpPr>
          <p:nvPr/>
        </p:nvCxnSpPr>
        <p:spPr>
          <a:xfrm>
            <a:off x="7778387" y="3276718"/>
            <a:ext cx="0" cy="33702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7038441" y="3613740"/>
            <a:ext cx="1479892" cy="523220"/>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err="1">
                <a:ln>
                  <a:noFill/>
                </a:ln>
                <a:solidFill>
                  <a:srgbClr val="ED7D31"/>
                </a:solidFill>
                <a:effectLst/>
                <a:uLnTx/>
                <a:uFillTx/>
                <a:latin typeface="Frutiger LT 65 Bold"/>
                <a:ea typeface="Rix모던고딕 B"/>
                <a:cs typeface="+mn-cs"/>
              </a:rPr>
              <a:t>실체심사</a:t>
            </a:r>
            <a:endParaRPr kumimoji="0" lang="ko-KR" altLang="en-US" sz="1800" b="0" i="0" u="none" strike="noStrike" kern="1200" cap="none" spc="0" normalizeH="0" baseline="0" noProof="0" dirty="0">
              <a:ln>
                <a:noFill/>
              </a:ln>
              <a:solidFill>
                <a:srgbClr val="ED7D31"/>
              </a:solidFill>
              <a:effectLst/>
              <a:uLnTx/>
              <a:uFillTx/>
              <a:latin typeface="Frutiger LT 65 Bold"/>
              <a:ea typeface="Rix모던고딕 B"/>
              <a:cs typeface="+mn-cs"/>
            </a:endParaRPr>
          </a:p>
        </p:txBody>
      </p:sp>
      <p:sp>
        <p:nvSpPr>
          <p:cNvPr id="35" name="TextBox 34"/>
          <p:cNvSpPr txBox="1"/>
          <p:nvPr/>
        </p:nvSpPr>
        <p:spPr>
          <a:xfrm>
            <a:off x="5838308" y="4312818"/>
            <a:ext cx="6074475" cy="646331"/>
          </a:xfrm>
          <a:prstGeom prst="rect">
            <a:avLst/>
          </a:prstGeom>
          <a:solidFill>
            <a:schemeClr val="bg1">
              <a:lumMod val="85000"/>
            </a:schemeClr>
          </a:solid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4472C4">
                    <a:lumMod val="50000"/>
                  </a:srgbClr>
                </a:solidFill>
                <a:effectLst/>
                <a:uLnTx/>
                <a:uFillTx/>
                <a:latin typeface="Frutiger LT 65 Bold"/>
                <a:ea typeface="Rix모던고딕 B"/>
                <a:cs typeface="+mn-cs"/>
              </a:rPr>
              <a:t>통상의 기술자가 </a:t>
            </a:r>
            <a:r>
              <a:rPr kumimoji="0" lang="en-US" altLang="ko-KR" sz="1800" b="0" i="0" u="none" strike="noStrike" kern="1200" cap="none" spc="0" normalizeH="0" baseline="0" noProof="0" dirty="0">
                <a:ln>
                  <a:noFill/>
                </a:ln>
                <a:solidFill>
                  <a:srgbClr val="4472C4">
                    <a:lumMod val="50000"/>
                  </a:srgbClr>
                </a:solidFill>
                <a:effectLst/>
                <a:uLnTx/>
                <a:uFillTx/>
                <a:latin typeface="Frutiger LT 65 Bold"/>
                <a:ea typeface="Rix모던고딕 B"/>
                <a:cs typeface="+mn-cs"/>
              </a:rPr>
              <a:t>B</a:t>
            </a:r>
            <a:r>
              <a:rPr kumimoji="0" lang="ko-KR" altLang="en-US" sz="1800" b="0" i="0" u="none" strike="noStrike" kern="1200" cap="none" spc="0" normalizeH="0" baseline="0" noProof="0" dirty="0">
                <a:ln>
                  <a:noFill/>
                </a:ln>
                <a:solidFill>
                  <a:srgbClr val="4472C4">
                    <a:lumMod val="50000"/>
                  </a:srgbClr>
                </a:solidFill>
                <a:effectLst/>
                <a:uLnTx/>
                <a:uFillTx/>
                <a:latin typeface="Frutiger LT 65 Bold"/>
                <a:ea typeface="Rix모던고딕 B"/>
                <a:cs typeface="+mn-cs"/>
              </a:rPr>
              <a:t>효과를 발명의 설명의 </a:t>
            </a:r>
            <a:r>
              <a:rPr kumimoji="0" lang="ko-KR" altLang="en-US" sz="1800" b="0" i="0" u="none" strike="noStrike" kern="1200" cap="none" spc="0" normalizeH="0" baseline="0" noProof="0" dirty="0" err="1">
                <a:ln>
                  <a:noFill/>
                </a:ln>
                <a:solidFill>
                  <a:srgbClr val="4472C4">
                    <a:lumMod val="50000"/>
                  </a:srgbClr>
                </a:solidFill>
                <a:effectLst/>
                <a:uLnTx/>
                <a:uFillTx/>
                <a:latin typeface="Frutiger LT 65 Bold"/>
                <a:ea typeface="Rix모던고딕 B"/>
                <a:cs typeface="+mn-cs"/>
              </a:rPr>
              <a:t>기재로부터</a:t>
            </a:r>
            <a:r>
              <a:rPr kumimoji="0" lang="ko-KR" altLang="en-US" sz="1800" b="0" i="0" u="none" strike="noStrike" kern="1200" cap="none" spc="0" normalizeH="0" baseline="0" noProof="0" dirty="0">
                <a:ln>
                  <a:noFill/>
                </a:ln>
                <a:solidFill>
                  <a:srgbClr val="4472C4">
                    <a:lumMod val="50000"/>
                  </a:srgbClr>
                </a:solidFill>
                <a:effectLst/>
                <a:uLnTx/>
                <a:uFillTx/>
                <a:latin typeface="Frutiger LT 65 Bold"/>
                <a:ea typeface="Rix모던고딕 B"/>
                <a:cs typeface="+mn-cs"/>
              </a:rPr>
              <a:t> 추론할 수 있을 때에 한해서만 </a:t>
            </a:r>
            <a:r>
              <a:rPr kumimoji="0" lang="en-US" altLang="ko-KR" sz="1800" b="0" i="0" u="none" strike="noStrike" kern="1200" cap="none" spc="0" normalizeH="0" baseline="0" noProof="0" dirty="0">
                <a:ln>
                  <a:noFill/>
                </a:ln>
                <a:solidFill>
                  <a:srgbClr val="4472C4">
                    <a:lumMod val="50000"/>
                  </a:srgbClr>
                </a:solidFill>
                <a:effectLst/>
                <a:uLnTx/>
                <a:uFillTx/>
                <a:latin typeface="Frutiger LT 65 Bold"/>
                <a:ea typeface="Rix모던고딕 B"/>
                <a:cs typeface="+mn-cs"/>
              </a:rPr>
              <a:t>B</a:t>
            </a:r>
            <a:r>
              <a:rPr kumimoji="0" lang="ko-KR" altLang="en-US" sz="1800" b="0" i="0" u="none" strike="noStrike" kern="1200" cap="none" spc="0" normalizeH="0" baseline="0" noProof="0" dirty="0">
                <a:ln>
                  <a:noFill/>
                </a:ln>
                <a:solidFill>
                  <a:srgbClr val="4472C4">
                    <a:lumMod val="50000"/>
                  </a:srgbClr>
                </a:solidFill>
                <a:effectLst/>
                <a:uLnTx/>
                <a:uFillTx/>
                <a:latin typeface="Frutiger LT 65 Bold"/>
                <a:ea typeface="Rix모던고딕 B"/>
                <a:cs typeface="+mn-cs"/>
              </a:rPr>
              <a:t>효과의 </a:t>
            </a:r>
            <a:r>
              <a:rPr kumimoji="0" lang="ko-KR" altLang="en-US" sz="1800" b="0" i="0" u="none" strike="noStrike" kern="1200" cap="none" spc="0" normalizeH="0" baseline="0" noProof="0" dirty="0" err="1">
                <a:ln>
                  <a:noFill/>
                </a:ln>
                <a:solidFill>
                  <a:srgbClr val="4472C4">
                    <a:lumMod val="50000"/>
                  </a:srgbClr>
                </a:solidFill>
                <a:effectLst/>
                <a:uLnTx/>
                <a:uFillTx/>
                <a:latin typeface="Frutiger LT 65 Bold"/>
                <a:ea typeface="Rix모던고딕 B"/>
                <a:cs typeface="+mn-cs"/>
              </a:rPr>
              <a:t>현저성을</a:t>
            </a:r>
            <a:r>
              <a:rPr kumimoji="0" lang="ko-KR" altLang="en-US" sz="1800" b="0" i="0" u="none" strike="noStrike" kern="1200" cap="none" spc="0" normalizeH="0" baseline="0" noProof="0" dirty="0">
                <a:ln>
                  <a:noFill/>
                </a:ln>
                <a:solidFill>
                  <a:srgbClr val="4472C4">
                    <a:lumMod val="50000"/>
                  </a:srgbClr>
                </a:solidFill>
                <a:effectLst/>
                <a:uLnTx/>
                <a:uFillTx/>
                <a:latin typeface="Frutiger LT 65 Bold"/>
                <a:ea typeface="Rix모던고딕 B"/>
                <a:cs typeface="+mn-cs"/>
              </a:rPr>
              <a:t> 진보성 판단에서 고려 </a:t>
            </a:r>
          </a:p>
        </p:txBody>
      </p:sp>
      <p:sp>
        <p:nvSpPr>
          <p:cNvPr id="36" name="아래쪽 화살표 35"/>
          <p:cNvSpPr/>
          <p:nvPr/>
        </p:nvSpPr>
        <p:spPr>
          <a:xfrm rot="10800000">
            <a:off x="7410531" y="4071077"/>
            <a:ext cx="719191" cy="216064"/>
          </a:xfrm>
          <a:prstGeom prst="downArrow">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39" name="직선 연결선 38"/>
          <p:cNvCxnSpPr>
            <a:cxnSpLocks/>
            <a:endCxn id="40" idx="0"/>
          </p:cNvCxnSpPr>
          <p:nvPr/>
        </p:nvCxnSpPr>
        <p:spPr>
          <a:xfrm>
            <a:off x="4226317" y="3276718"/>
            <a:ext cx="1" cy="234105"/>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3717204" y="3510823"/>
            <a:ext cx="1018228" cy="369332"/>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err="1">
                <a:ln>
                  <a:noFill/>
                </a:ln>
                <a:solidFill>
                  <a:prstClr val="black"/>
                </a:solidFill>
                <a:effectLst/>
                <a:uLnTx/>
                <a:uFillTx/>
                <a:latin typeface="Frutiger LT 65 Bold"/>
                <a:ea typeface="Rix모던고딕 B"/>
                <a:cs typeface="+mn-cs"/>
              </a:rPr>
              <a:t>실체심사</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41" name="직선 연결선 40"/>
          <p:cNvCxnSpPr>
            <a:cxnSpLocks/>
            <a:endCxn id="42" idx="0"/>
          </p:cNvCxnSpPr>
          <p:nvPr/>
        </p:nvCxnSpPr>
        <p:spPr>
          <a:xfrm>
            <a:off x="5467121" y="3276718"/>
            <a:ext cx="0" cy="234105"/>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4749616" y="3510823"/>
            <a:ext cx="1435009" cy="369332"/>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거절이유통지</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43" name="직선 연결선 42"/>
          <p:cNvCxnSpPr>
            <a:cxnSpLocks/>
            <a:endCxn id="44" idx="2"/>
          </p:cNvCxnSpPr>
          <p:nvPr/>
        </p:nvCxnSpPr>
        <p:spPr>
          <a:xfrm flipV="1">
            <a:off x="6349009" y="2970691"/>
            <a:ext cx="0" cy="232895"/>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5944090" y="2601359"/>
            <a:ext cx="809838" cy="369332"/>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의견서</a:t>
            </a:r>
          </a:p>
        </p:txBody>
      </p:sp>
      <p:sp>
        <p:nvSpPr>
          <p:cNvPr id="12" name="모서리가 둥근 사각형 설명선 11"/>
          <p:cNvSpPr/>
          <p:nvPr/>
        </p:nvSpPr>
        <p:spPr>
          <a:xfrm>
            <a:off x="2236427" y="1993501"/>
            <a:ext cx="2017080" cy="446388"/>
          </a:xfrm>
          <a:prstGeom prst="wedgeRoundRectCallout">
            <a:avLst>
              <a:gd name="adj1" fmla="val -35778"/>
              <a:gd name="adj2" fmla="val 80357"/>
              <a:gd name="adj3" fmla="val 16667"/>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발명은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효과가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8" name="모서리가 둥근 사각형 설명선 47"/>
          <p:cNvSpPr/>
          <p:nvPr/>
        </p:nvSpPr>
        <p:spPr>
          <a:xfrm>
            <a:off x="5672679" y="1993501"/>
            <a:ext cx="4693955" cy="446388"/>
          </a:xfrm>
          <a:prstGeom prst="wedgeRoundRectCallout">
            <a:avLst>
              <a:gd name="adj1" fmla="val -36216"/>
              <a:gd name="adj2" fmla="val 89563"/>
              <a:gd name="adj3" fmla="val 16667"/>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발명은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B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효과도 있기 때문에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효과의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현저성이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인정된다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9" name="모서리가 둥근 사각형 설명선 48"/>
          <p:cNvSpPr/>
          <p:nvPr/>
        </p:nvSpPr>
        <p:spPr>
          <a:xfrm>
            <a:off x="2570882" y="4199808"/>
            <a:ext cx="2896237" cy="446388"/>
          </a:xfrm>
          <a:prstGeom prst="wedgeRoundRectCallout">
            <a:avLst>
              <a:gd name="adj1" fmla="val 42812"/>
              <a:gd name="adj2" fmla="val -110678"/>
              <a:gd name="adj3" fmla="val 16667"/>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공지기술에 의하여 진보성 위반이다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 name="직사각형 12">
            <a:extLst>
              <a:ext uri="{FF2B5EF4-FFF2-40B4-BE49-F238E27FC236}">
                <a16:creationId xmlns:a16="http://schemas.microsoft.com/office/drawing/2014/main" id="{C600EB62-E45B-4AAA-8245-72294726EAC1}"/>
              </a:ext>
            </a:extLst>
          </p:cNvPr>
          <p:cNvSpPr/>
          <p:nvPr/>
        </p:nvSpPr>
        <p:spPr>
          <a:xfrm>
            <a:off x="341014" y="5234840"/>
            <a:ext cx="5331665" cy="1169551"/>
          </a:xfrm>
          <a:prstGeom prst="rect">
            <a:avLst/>
          </a:prstGeom>
          <a:noFill/>
          <a:ln>
            <a:solidFill>
              <a:schemeClr val="bg1">
                <a:lumMod val="50000"/>
              </a:schemeClr>
            </a:solidFill>
          </a:ln>
        </p:spPr>
        <p:txBody>
          <a:bodyPr wrap="square">
            <a:spAutoFit/>
          </a:bodyPr>
          <a:lstStyle/>
          <a:p>
            <a:pPr marL="0" marR="0" lvl="0" indent="0" algn="just" defTabSz="914400" rtl="0" eaLnBrk="1" fontAlgn="auto" latinLnBrk="1" hangingPunct="1">
              <a:lnSpc>
                <a:spcPct val="100000"/>
              </a:lnSpc>
              <a:spcBef>
                <a:spcPts val="0"/>
              </a:spcBef>
              <a:spcAft>
                <a:spcPts val="0"/>
              </a:spcAft>
              <a:buClrTx/>
              <a:buSzTx/>
              <a:buFontTx/>
              <a:buNone/>
              <a:tabLst/>
              <a:defRPr/>
            </a:pP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만일</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선택발명의 효과가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효과가</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의심스러울 때에는 그 기재내용의 범위를 넘지 않는 한도에서 출원일 이후에 추가적인 실험 자료를 제출하는 등의 방법으로 그 효과를 구체적으로 주장</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증명하는 것이 허용된다</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2021. 4. 8.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2019</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10609)</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6" name="직사각형 15">
            <a:extLst>
              <a:ext uri="{FF2B5EF4-FFF2-40B4-BE49-F238E27FC236}">
                <a16:creationId xmlns:a16="http://schemas.microsoft.com/office/drawing/2014/main" id="{19B84452-ABB7-4EEE-929A-4DFAD5818468}"/>
              </a:ext>
            </a:extLst>
          </p:cNvPr>
          <p:cNvSpPr/>
          <p:nvPr/>
        </p:nvSpPr>
        <p:spPr>
          <a:xfrm>
            <a:off x="6162393" y="5216910"/>
            <a:ext cx="5750389" cy="1600438"/>
          </a:xfrm>
          <a:prstGeom prst="rect">
            <a:avLst/>
          </a:prstGeom>
          <a:no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수치한정한 범위 전체에서 이질적이거나 양적으로 현저한 효과가 있어야 한다는 점이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출원 명세서에 당해 기술 분야에서 통상의 지식을 가진 자가 명세서 기재 자체를 통하여 인식할 수 있을 정도로 기재되어 있지 않은 이상 추후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실험자료</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에 의하여 인정되거나 확인되는 수치한정의 기술적 의의를 가지고서 당해 수치한정 발명의 진보성 여부를 판단할 수는 없다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특허법원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2009. 5. 22.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2008</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허</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1722).</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 name="사각형: 둥근 모서리 4">
            <a:extLst>
              <a:ext uri="{FF2B5EF4-FFF2-40B4-BE49-F238E27FC236}">
                <a16:creationId xmlns:a16="http://schemas.microsoft.com/office/drawing/2014/main" id="{64318E90-13A5-B3EC-E5EC-32FECB33763F}"/>
              </a:ext>
            </a:extLst>
          </p:cNvPr>
          <p:cNvSpPr/>
          <p:nvPr/>
        </p:nvSpPr>
        <p:spPr>
          <a:xfrm>
            <a:off x="457199" y="5045745"/>
            <a:ext cx="1282765" cy="342329"/>
          </a:xfrm>
          <a:prstGeom prst="roundRect">
            <a:avLst>
              <a:gd name="adj" fmla="val 50000"/>
            </a:avLst>
          </a:prstGeom>
          <a:solidFill>
            <a:schemeClr val="accent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긍정</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 CASE</a:t>
            </a:r>
            <a:endPar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6" name="사각형: 둥근 모서리 5">
            <a:extLst>
              <a:ext uri="{FF2B5EF4-FFF2-40B4-BE49-F238E27FC236}">
                <a16:creationId xmlns:a16="http://schemas.microsoft.com/office/drawing/2014/main" id="{2F56226B-4D4C-132E-A00B-318135382923}"/>
              </a:ext>
            </a:extLst>
          </p:cNvPr>
          <p:cNvSpPr/>
          <p:nvPr/>
        </p:nvSpPr>
        <p:spPr>
          <a:xfrm>
            <a:off x="6247791" y="5045745"/>
            <a:ext cx="1282765" cy="342329"/>
          </a:xfrm>
          <a:prstGeom prst="roundRect">
            <a:avLst>
              <a:gd name="adj" fmla="val 50000"/>
            </a:avLst>
          </a:prstGeom>
          <a:solidFill>
            <a:schemeClr val="accent5">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부정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CASE</a:t>
            </a:r>
            <a:endPar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Tree>
    <p:extLst>
      <p:ext uri="{BB962C8B-B14F-4D97-AF65-F5344CB8AC3E}">
        <p14:creationId xmlns:p14="http://schemas.microsoft.com/office/powerpoint/2010/main" val="207856436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2</a:t>
            </a:r>
            <a:r>
              <a:rPr lang="ko-KR" altLang="en-US" dirty="0"/>
              <a:t>항</a:t>
            </a:r>
          </a:p>
        </p:txBody>
      </p:sp>
      <p:sp>
        <p:nvSpPr>
          <p:cNvPr id="4" name="텍스트 개체 틀 3"/>
          <p:cNvSpPr>
            <a:spLocks noGrp="1"/>
          </p:cNvSpPr>
          <p:nvPr>
            <p:ph type="body" sz="quarter" idx="13"/>
          </p:nvPr>
        </p:nvSpPr>
        <p:spPr/>
        <p:txBody>
          <a:bodyPr/>
          <a:lstStyle/>
          <a:p>
            <a:r>
              <a:rPr lang="ko-KR" altLang="en-US" dirty="0"/>
              <a:t>신규성과</a:t>
            </a:r>
            <a:r>
              <a:rPr lang="en-US" altLang="ko-KR" dirty="0"/>
              <a:t> </a:t>
            </a:r>
            <a:r>
              <a:rPr lang="ko-KR" altLang="en-US" dirty="0"/>
              <a:t>진보성 판단의 비교</a:t>
            </a:r>
          </a:p>
        </p:txBody>
      </p:sp>
      <p:sp>
        <p:nvSpPr>
          <p:cNvPr id="22" name="자유형 21"/>
          <p:cNvSpPr/>
          <p:nvPr/>
        </p:nvSpPr>
        <p:spPr>
          <a:xfrm>
            <a:off x="1400256" y="1722880"/>
            <a:ext cx="5086168" cy="503258"/>
          </a:xfrm>
          <a:custGeom>
            <a:avLst/>
            <a:gdLst>
              <a:gd name="connsiteX0" fmla="*/ 7797800 w 7797800"/>
              <a:gd name="connsiteY0" fmla="*/ 1066800 h 1104900"/>
              <a:gd name="connsiteX1" fmla="*/ 7327900 w 7797800"/>
              <a:gd name="connsiteY1" fmla="*/ 0 h 1104900"/>
              <a:gd name="connsiteX2" fmla="*/ 0 w 7797800"/>
              <a:gd name="connsiteY2" fmla="*/ 0 h 1104900"/>
              <a:gd name="connsiteX3" fmla="*/ 0 w 7797800"/>
              <a:gd name="connsiteY3" fmla="*/ 1104900 h 1104900"/>
            </a:gdLst>
            <a:ahLst/>
            <a:cxnLst>
              <a:cxn ang="0">
                <a:pos x="connsiteX0" y="connsiteY0"/>
              </a:cxn>
              <a:cxn ang="0">
                <a:pos x="connsiteX1" y="connsiteY1"/>
              </a:cxn>
              <a:cxn ang="0">
                <a:pos x="connsiteX2" y="connsiteY2"/>
              </a:cxn>
              <a:cxn ang="0">
                <a:pos x="connsiteX3" y="connsiteY3"/>
              </a:cxn>
            </a:cxnLst>
            <a:rect l="l" t="t" r="r" b="b"/>
            <a:pathLst>
              <a:path w="7797800" h="1104900">
                <a:moveTo>
                  <a:pt x="7797800" y="1066800"/>
                </a:moveTo>
                <a:lnTo>
                  <a:pt x="7327900" y="0"/>
                </a:lnTo>
                <a:lnTo>
                  <a:pt x="0" y="0"/>
                </a:lnTo>
                <a:lnTo>
                  <a:pt x="0" y="1104900"/>
                </a:lnTo>
              </a:path>
            </a:pathLst>
          </a:custGeom>
          <a:pattFill prst="smGrid">
            <a:fgClr>
              <a:schemeClr val="accent2">
                <a:lumMod val="40000"/>
                <a:lumOff val="6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23" name="직선 연결선 22"/>
          <p:cNvCxnSpPr/>
          <p:nvPr/>
        </p:nvCxnSpPr>
        <p:spPr>
          <a:xfrm>
            <a:off x="1388642" y="2244971"/>
            <a:ext cx="591436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4" name="직사각형 23"/>
          <p:cNvSpPr/>
          <p:nvPr/>
        </p:nvSpPr>
        <p:spPr>
          <a:xfrm>
            <a:off x="5577076" y="2081062"/>
            <a:ext cx="1712863" cy="327817"/>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특허출원일</a:t>
            </a:r>
            <a:endPar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5" name="직선 연결선 24"/>
          <p:cNvCxnSpPr/>
          <p:nvPr/>
        </p:nvCxnSpPr>
        <p:spPr>
          <a:xfrm flipH="1">
            <a:off x="6484818" y="2511106"/>
            <a:ext cx="1" cy="38791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5929467" y="2844962"/>
            <a:ext cx="1117152" cy="338554"/>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sp>
        <p:nvSpPr>
          <p:cNvPr id="28" name="TextBox 27"/>
          <p:cNvSpPr txBox="1"/>
          <p:nvPr/>
        </p:nvSpPr>
        <p:spPr>
          <a:xfrm>
            <a:off x="5444184" y="2460934"/>
            <a:ext cx="265784" cy="20976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29" name="TextBox 28"/>
          <p:cNvSpPr txBox="1"/>
          <p:nvPr/>
        </p:nvSpPr>
        <p:spPr>
          <a:xfrm>
            <a:off x="7157567" y="2460934"/>
            <a:ext cx="321199" cy="20976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30" name="TextBox 29"/>
          <p:cNvSpPr txBox="1"/>
          <p:nvPr/>
        </p:nvSpPr>
        <p:spPr>
          <a:xfrm>
            <a:off x="6484818" y="2460934"/>
            <a:ext cx="321199" cy="20976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31" name="TextBox 30"/>
          <p:cNvSpPr txBox="1"/>
          <p:nvPr/>
        </p:nvSpPr>
        <p:spPr>
          <a:xfrm>
            <a:off x="3488342" y="1389537"/>
            <a:ext cx="759293" cy="256374"/>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특허출원 전</a:t>
            </a:r>
          </a:p>
        </p:txBody>
      </p:sp>
      <p:cxnSp>
        <p:nvCxnSpPr>
          <p:cNvPr id="32" name="직선 연결선 31"/>
          <p:cNvCxnSpPr/>
          <p:nvPr/>
        </p:nvCxnSpPr>
        <p:spPr>
          <a:xfrm>
            <a:off x="1974455" y="2285480"/>
            <a:ext cx="1" cy="613537"/>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1197952" y="2517976"/>
            <a:ext cx="1555578" cy="338554"/>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국내외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공지기술</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4" name="직사각형 33"/>
          <p:cNvSpPr/>
          <p:nvPr/>
        </p:nvSpPr>
        <p:spPr>
          <a:xfrm>
            <a:off x="1274054" y="1495230"/>
            <a:ext cx="132539" cy="8366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5" name="TextBox 34"/>
          <p:cNvSpPr txBox="1"/>
          <p:nvPr/>
        </p:nvSpPr>
        <p:spPr>
          <a:xfrm>
            <a:off x="262874" y="3395477"/>
            <a:ext cx="1611927" cy="279681"/>
          </a:xfrm>
          <a:prstGeom prst="rect">
            <a:avLst/>
          </a:prstGeom>
          <a:solidFill>
            <a:schemeClr val="bg1"/>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공지</a:t>
            </a:r>
          </a:p>
        </p:txBody>
      </p:sp>
      <p:sp>
        <p:nvSpPr>
          <p:cNvPr id="36" name="TextBox 35"/>
          <p:cNvSpPr txBox="1"/>
          <p:nvPr/>
        </p:nvSpPr>
        <p:spPr>
          <a:xfrm>
            <a:off x="262874" y="3720559"/>
            <a:ext cx="1611927" cy="279681"/>
          </a:xfrm>
          <a:prstGeom prst="rect">
            <a:avLst/>
          </a:prstGeom>
          <a:solidFill>
            <a:schemeClr val="bg1"/>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공연실시</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7" name="TextBox 36"/>
          <p:cNvSpPr txBox="1"/>
          <p:nvPr/>
        </p:nvSpPr>
        <p:spPr>
          <a:xfrm>
            <a:off x="262874" y="4045920"/>
            <a:ext cx="1611927" cy="279681"/>
          </a:xfrm>
          <a:prstGeom prst="rect">
            <a:avLst/>
          </a:prstGeom>
          <a:solidFill>
            <a:schemeClr val="bg1"/>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반포된 간행물 게재</a:t>
            </a:r>
          </a:p>
        </p:txBody>
      </p:sp>
      <p:sp>
        <p:nvSpPr>
          <p:cNvPr id="38" name="TextBox 37"/>
          <p:cNvSpPr txBox="1"/>
          <p:nvPr/>
        </p:nvSpPr>
        <p:spPr>
          <a:xfrm>
            <a:off x="262874" y="4350454"/>
            <a:ext cx="1611927" cy="443942"/>
          </a:xfrm>
          <a:prstGeom prst="rect">
            <a:avLst/>
          </a:prstGeom>
          <a:solidFill>
            <a:schemeClr val="bg1"/>
          </a:solidFill>
          <a:ln>
            <a:solidFill>
              <a:schemeClr val="bg1">
                <a:lumMod val="50000"/>
              </a:schemeClr>
            </a:solidFill>
          </a:ln>
        </p:spPr>
        <p:txBody>
          <a:bodyPr wrap="squar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Frutiger LT 65 Bold"/>
                <a:ea typeface="Rix모던고딕 B"/>
                <a:cs typeface="+mn-cs"/>
              </a:rPr>
              <a:t>전기통신회선을 통하여 공중 이용가능</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39" name="꺾인 연결선 38"/>
          <p:cNvCxnSpPr>
            <a:stCxn id="33" idx="2"/>
            <a:endCxn id="38" idx="3"/>
          </p:cNvCxnSpPr>
          <p:nvPr/>
        </p:nvCxnSpPr>
        <p:spPr>
          <a:xfrm rot="5400000">
            <a:off x="1067324" y="3664007"/>
            <a:ext cx="1715895" cy="100940"/>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33" idx="2"/>
            <a:endCxn id="35" idx="3"/>
          </p:cNvCxnSpPr>
          <p:nvPr/>
        </p:nvCxnSpPr>
        <p:spPr>
          <a:xfrm rot="5400000">
            <a:off x="1585877" y="3145454"/>
            <a:ext cx="678788" cy="100940"/>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33" idx="2"/>
            <a:endCxn id="36" idx="3"/>
          </p:cNvCxnSpPr>
          <p:nvPr/>
        </p:nvCxnSpPr>
        <p:spPr>
          <a:xfrm rot="5400000">
            <a:off x="1423336" y="3307995"/>
            <a:ext cx="1003870" cy="100940"/>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33" idx="2"/>
            <a:endCxn id="37" idx="3"/>
          </p:cNvCxnSpPr>
          <p:nvPr/>
        </p:nvCxnSpPr>
        <p:spPr>
          <a:xfrm rot="5400000">
            <a:off x="1260656" y="3470675"/>
            <a:ext cx="1329231" cy="100940"/>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4369773" y="5237116"/>
            <a:ext cx="3592697" cy="523220"/>
          </a:xfrm>
          <a:prstGeom prst="rect">
            <a:avLst/>
          </a:prstGeom>
          <a:solidFill>
            <a:schemeClr val="bg1">
              <a:lumMod val="85000"/>
            </a:schemeClr>
          </a:solid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통상의 기술자의 입장에서 판단</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발명이 속하는 기술분야에서 통상의 지식을 가진 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5" name="자유형 44"/>
          <p:cNvSpPr/>
          <p:nvPr/>
        </p:nvSpPr>
        <p:spPr>
          <a:xfrm>
            <a:off x="4739318" y="4616245"/>
            <a:ext cx="970650" cy="583822"/>
          </a:xfrm>
          <a:custGeom>
            <a:avLst/>
            <a:gdLst>
              <a:gd name="connsiteX0" fmla="*/ 0 w 1524000"/>
              <a:gd name="connsiteY0" fmla="*/ 0 h 717177"/>
              <a:gd name="connsiteX1" fmla="*/ 340659 w 1524000"/>
              <a:gd name="connsiteY1" fmla="*/ 331694 h 717177"/>
              <a:gd name="connsiteX2" fmla="*/ 1102659 w 1524000"/>
              <a:gd name="connsiteY2" fmla="*/ 215153 h 717177"/>
              <a:gd name="connsiteX3" fmla="*/ 1524000 w 1524000"/>
              <a:gd name="connsiteY3" fmla="*/ 717177 h 717177"/>
            </a:gdLst>
            <a:ahLst/>
            <a:cxnLst>
              <a:cxn ang="0">
                <a:pos x="connsiteX0" y="connsiteY0"/>
              </a:cxn>
              <a:cxn ang="0">
                <a:pos x="connsiteX1" y="connsiteY1"/>
              </a:cxn>
              <a:cxn ang="0">
                <a:pos x="connsiteX2" y="connsiteY2"/>
              </a:cxn>
              <a:cxn ang="0">
                <a:pos x="connsiteX3" y="connsiteY3"/>
              </a:cxn>
            </a:cxnLst>
            <a:rect l="l" t="t" r="r" b="b"/>
            <a:pathLst>
              <a:path w="1524000" h="717177">
                <a:moveTo>
                  <a:pt x="0" y="0"/>
                </a:moveTo>
                <a:cubicBezTo>
                  <a:pt x="78441" y="147917"/>
                  <a:pt x="156883" y="295835"/>
                  <a:pt x="340659" y="331694"/>
                </a:cubicBezTo>
                <a:cubicBezTo>
                  <a:pt x="524436" y="367553"/>
                  <a:pt x="905436" y="150906"/>
                  <a:pt x="1102659" y="215153"/>
                </a:cubicBezTo>
                <a:cubicBezTo>
                  <a:pt x="1299882" y="279400"/>
                  <a:pt x="1411941" y="498288"/>
                  <a:pt x="1524000" y="717177"/>
                </a:cubicBezTo>
              </a:path>
            </a:pathLst>
          </a:custGeom>
          <a:noFill/>
          <a:ln>
            <a:solidFill>
              <a:schemeClr val="accent5">
                <a:lumMod val="50000"/>
              </a:schemeClr>
            </a:solidFill>
            <a:prstDash val="sysDot"/>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6" name="TextBox 45"/>
          <p:cNvSpPr txBox="1"/>
          <p:nvPr/>
        </p:nvSpPr>
        <p:spPr>
          <a:xfrm>
            <a:off x="5599251" y="4754046"/>
            <a:ext cx="831437" cy="19810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심사의 객관성 부여</a:t>
            </a:r>
          </a:p>
        </p:txBody>
      </p:sp>
      <p:sp>
        <p:nvSpPr>
          <p:cNvPr id="87" name="자유형 86"/>
          <p:cNvSpPr/>
          <p:nvPr/>
        </p:nvSpPr>
        <p:spPr>
          <a:xfrm>
            <a:off x="2609636" y="2852565"/>
            <a:ext cx="3729519" cy="801384"/>
          </a:xfrm>
          <a:custGeom>
            <a:avLst/>
            <a:gdLst>
              <a:gd name="connsiteX0" fmla="*/ 0 w 3595955"/>
              <a:gd name="connsiteY0" fmla="*/ 0 h 801384"/>
              <a:gd name="connsiteX1" fmla="*/ 0 w 3595955"/>
              <a:gd name="connsiteY1" fmla="*/ 801384 h 801384"/>
              <a:gd name="connsiteX2" fmla="*/ 3595955 w 3595955"/>
              <a:gd name="connsiteY2" fmla="*/ 801384 h 801384"/>
              <a:gd name="connsiteX3" fmla="*/ 3595955 w 3595955"/>
              <a:gd name="connsiteY3" fmla="*/ 349321 h 801384"/>
            </a:gdLst>
            <a:ahLst/>
            <a:cxnLst>
              <a:cxn ang="0">
                <a:pos x="connsiteX0" y="connsiteY0"/>
              </a:cxn>
              <a:cxn ang="0">
                <a:pos x="connsiteX1" y="connsiteY1"/>
              </a:cxn>
              <a:cxn ang="0">
                <a:pos x="connsiteX2" y="connsiteY2"/>
              </a:cxn>
              <a:cxn ang="0">
                <a:pos x="connsiteX3" y="connsiteY3"/>
              </a:cxn>
            </a:cxnLst>
            <a:rect l="l" t="t" r="r" b="b"/>
            <a:pathLst>
              <a:path w="3595955" h="801384">
                <a:moveTo>
                  <a:pt x="0" y="0"/>
                </a:moveTo>
                <a:lnTo>
                  <a:pt x="0" y="801384"/>
                </a:lnTo>
                <a:lnTo>
                  <a:pt x="3595955" y="801384"/>
                </a:lnTo>
                <a:lnTo>
                  <a:pt x="3595955" y="349321"/>
                </a:lnTo>
              </a:path>
            </a:pathLst>
          </a:custGeom>
          <a:ln w="38100">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88" name="자유형 87"/>
          <p:cNvSpPr/>
          <p:nvPr/>
        </p:nvSpPr>
        <p:spPr>
          <a:xfrm>
            <a:off x="2400640" y="2844962"/>
            <a:ext cx="4244777" cy="1559001"/>
          </a:xfrm>
          <a:custGeom>
            <a:avLst/>
            <a:gdLst>
              <a:gd name="connsiteX0" fmla="*/ 0 w 4458985"/>
              <a:gd name="connsiteY0" fmla="*/ 0 h 1551398"/>
              <a:gd name="connsiteX1" fmla="*/ 0 w 4458985"/>
              <a:gd name="connsiteY1" fmla="*/ 1551398 h 1551398"/>
              <a:gd name="connsiteX2" fmla="*/ 4458985 w 4458985"/>
              <a:gd name="connsiteY2" fmla="*/ 1551398 h 1551398"/>
              <a:gd name="connsiteX3" fmla="*/ 4458985 w 4458985"/>
              <a:gd name="connsiteY3" fmla="*/ 369870 h 1551398"/>
            </a:gdLst>
            <a:ahLst/>
            <a:cxnLst>
              <a:cxn ang="0">
                <a:pos x="connsiteX0" y="connsiteY0"/>
              </a:cxn>
              <a:cxn ang="0">
                <a:pos x="connsiteX1" y="connsiteY1"/>
              </a:cxn>
              <a:cxn ang="0">
                <a:pos x="connsiteX2" y="connsiteY2"/>
              </a:cxn>
              <a:cxn ang="0">
                <a:pos x="connsiteX3" y="connsiteY3"/>
              </a:cxn>
            </a:cxnLst>
            <a:rect l="l" t="t" r="r" b="b"/>
            <a:pathLst>
              <a:path w="4458985" h="1551398">
                <a:moveTo>
                  <a:pt x="0" y="0"/>
                </a:moveTo>
                <a:lnTo>
                  <a:pt x="0" y="1551398"/>
                </a:lnTo>
                <a:lnTo>
                  <a:pt x="4458985" y="1551398"/>
                </a:lnTo>
                <a:lnTo>
                  <a:pt x="4458985" y="369870"/>
                </a:lnTo>
              </a:path>
            </a:pathLst>
          </a:custGeom>
          <a:ln w="38100">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43" name="TextBox 42"/>
          <p:cNvSpPr txBox="1"/>
          <p:nvPr/>
        </p:nvSpPr>
        <p:spPr>
          <a:xfrm>
            <a:off x="3496068" y="3337081"/>
            <a:ext cx="1519980" cy="523220"/>
          </a:xfrm>
          <a:prstGeom prst="rect">
            <a:avLst/>
          </a:prstGeom>
          <a:solidFill>
            <a:schemeClr val="bg1"/>
          </a:solid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동일성</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객관적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창작성</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2" name="TextBox 91"/>
          <p:cNvSpPr txBox="1"/>
          <p:nvPr/>
        </p:nvSpPr>
        <p:spPr>
          <a:xfrm>
            <a:off x="3496068" y="4230826"/>
            <a:ext cx="1519980" cy="523220"/>
          </a:xfrm>
          <a:prstGeom prst="rect">
            <a:avLst/>
          </a:prstGeom>
          <a:solidFill>
            <a:schemeClr val="bg1"/>
          </a:solid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용이성</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주관적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창작성</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3" name="TextBox 92"/>
          <p:cNvSpPr txBox="1"/>
          <p:nvPr/>
        </p:nvSpPr>
        <p:spPr>
          <a:xfrm>
            <a:off x="2455359" y="2950226"/>
            <a:ext cx="389850" cy="261610"/>
          </a:xfrm>
          <a:prstGeom prst="rect">
            <a:avLst/>
          </a:prstGeom>
          <a:solidFill>
            <a:schemeClr val="accent1">
              <a:lumMod val="50000"/>
            </a:schemeClr>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white"/>
                </a:solidFill>
                <a:effectLst/>
                <a:uLnTx/>
                <a:uFillTx/>
                <a:latin typeface="Frutiger LT 65 Bold"/>
                <a:ea typeface="Rix모던고딕 B"/>
                <a:cs typeface="+mn-cs"/>
              </a:rPr>
              <a:t>1</a:t>
            </a:r>
            <a:r>
              <a:rPr kumimoji="0" lang="ko-KR" altLang="en-US" sz="1100" b="0" i="0" u="none" strike="noStrike" kern="1200" cap="none" spc="0" normalizeH="0" baseline="0" noProof="0" dirty="0">
                <a:ln>
                  <a:noFill/>
                </a:ln>
                <a:solidFill>
                  <a:prstClr val="white"/>
                </a:solidFill>
                <a:effectLst/>
                <a:uLnTx/>
                <a:uFillTx/>
                <a:latin typeface="Frutiger LT 65 Bold"/>
                <a:ea typeface="Rix모던고딕 B"/>
                <a:cs typeface="+mn-cs"/>
              </a:rPr>
              <a:t>개</a:t>
            </a:r>
          </a:p>
        </p:txBody>
      </p:sp>
      <p:sp>
        <p:nvSpPr>
          <p:cNvPr id="94" name="TextBox 93"/>
          <p:cNvSpPr txBox="1"/>
          <p:nvPr/>
        </p:nvSpPr>
        <p:spPr>
          <a:xfrm>
            <a:off x="2079078" y="3792966"/>
            <a:ext cx="681597" cy="261610"/>
          </a:xfrm>
          <a:prstGeom prst="rect">
            <a:avLst/>
          </a:prstGeom>
          <a:solidFill>
            <a:schemeClr val="accent1">
              <a:lumMod val="50000"/>
            </a:schemeClr>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white"/>
                </a:solidFill>
                <a:effectLst/>
                <a:uLnTx/>
                <a:uFillTx/>
                <a:latin typeface="Frutiger LT 65 Bold"/>
                <a:ea typeface="Rix모던고딕 B"/>
                <a:cs typeface="+mn-cs"/>
              </a:rPr>
              <a:t>1</a:t>
            </a:r>
            <a:r>
              <a:rPr kumimoji="0" lang="ko-KR" altLang="en-US" sz="1100" b="0" i="0" u="none" strike="noStrike" kern="1200" cap="none" spc="0" normalizeH="0" baseline="0" noProof="0" dirty="0">
                <a:ln>
                  <a:noFill/>
                </a:ln>
                <a:solidFill>
                  <a:prstClr val="white"/>
                </a:solidFill>
                <a:effectLst/>
                <a:uLnTx/>
                <a:uFillTx/>
                <a:latin typeface="Frutiger LT 65 Bold"/>
                <a:ea typeface="Rix모던고딕 B"/>
                <a:cs typeface="+mn-cs"/>
              </a:rPr>
              <a:t>개 이상</a:t>
            </a:r>
          </a:p>
        </p:txBody>
      </p:sp>
      <p:cxnSp>
        <p:nvCxnSpPr>
          <p:cNvPr id="95" name="직선 연결선 94"/>
          <p:cNvCxnSpPr/>
          <p:nvPr/>
        </p:nvCxnSpPr>
        <p:spPr>
          <a:xfrm>
            <a:off x="8150393" y="965675"/>
            <a:ext cx="0" cy="5712527"/>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8" name="TextBox 97"/>
          <p:cNvSpPr txBox="1"/>
          <p:nvPr/>
        </p:nvSpPr>
        <p:spPr>
          <a:xfrm>
            <a:off x="8322564" y="1312813"/>
            <a:ext cx="1633095" cy="307777"/>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출원발명의 특정</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9" name="TextBox 98"/>
          <p:cNvSpPr txBox="1"/>
          <p:nvPr/>
        </p:nvSpPr>
        <p:spPr>
          <a:xfrm>
            <a:off x="8322564" y="1823327"/>
            <a:ext cx="1633095" cy="307777"/>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공지기술의 특정</a:t>
            </a:r>
          </a:p>
        </p:txBody>
      </p:sp>
      <p:sp>
        <p:nvSpPr>
          <p:cNvPr id="100" name="TextBox 99"/>
          <p:cNvSpPr txBox="1"/>
          <p:nvPr/>
        </p:nvSpPr>
        <p:spPr>
          <a:xfrm>
            <a:off x="8322564" y="2294168"/>
            <a:ext cx="1633095" cy="492443"/>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구성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효과의 비교</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차이 구성 추출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1" name="TextBox 100"/>
          <p:cNvSpPr txBox="1"/>
          <p:nvPr/>
        </p:nvSpPr>
        <p:spPr>
          <a:xfrm>
            <a:off x="8322564" y="2962156"/>
            <a:ext cx="1633095" cy="307777"/>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동일성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용이성 판단</a:t>
            </a:r>
          </a:p>
        </p:txBody>
      </p:sp>
      <p:sp>
        <p:nvSpPr>
          <p:cNvPr id="102" name="TextBox 101"/>
          <p:cNvSpPr txBox="1"/>
          <p:nvPr/>
        </p:nvSpPr>
        <p:spPr>
          <a:xfrm>
            <a:off x="10167619" y="2763667"/>
            <a:ext cx="816547" cy="307777"/>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동일성</a:t>
            </a:r>
          </a:p>
        </p:txBody>
      </p:sp>
      <p:sp>
        <p:nvSpPr>
          <p:cNvPr id="103" name="TextBox 102"/>
          <p:cNvSpPr txBox="1"/>
          <p:nvPr/>
        </p:nvSpPr>
        <p:spPr>
          <a:xfrm>
            <a:off x="10167619" y="3216772"/>
            <a:ext cx="816547" cy="307777"/>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용이성</a:t>
            </a:r>
          </a:p>
        </p:txBody>
      </p:sp>
      <p:sp>
        <p:nvSpPr>
          <p:cNvPr id="104" name="TextBox 103"/>
          <p:cNvSpPr txBox="1"/>
          <p:nvPr/>
        </p:nvSpPr>
        <p:spPr>
          <a:xfrm>
            <a:off x="11197651" y="2602387"/>
            <a:ext cx="816547" cy="307777"/>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문언적</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5" name="TextBox 104"/>
          <p:cNvSpPr txBox="1"/>
          <p:nvPr/>
        </p:nvSpPr>
        <p:spPr>
          <a:xfrm>
            <a:off x="11197651" y="3001952"/>
            <a:ext cx="816547" cy="307777"/>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내재적</a:t>
            </a:r>
          </a:p>
        </p:txBody>
      </p:sp>
      <p:cxnSp>
        <p:nvCxnSpPr>
          <p:cNvPr id="108" name="직선 연결선 107"/>
          <p:cNvCxnSpPr>
            <a:stCxn id="98" idx="2"/>
            <a:endCxn id="99" idx="0"/>
          </p:cNvCxnSpPr>
          <p:nvPr/>
        </p:nvCxnSpPr>
        <p:spPr>
          <a:xfrm>
            <a:off x="9139112" y="1620590"/>
            <a:ext cx="0" cy="202737"/>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직선 연결선 109"/>
          <p:cNvCxnSpPr>
            <a:stCxn id="99" idx="2"/>
            <a:endCxn id="100" idx="0"/>
          </p:cNvCxnSpPr>
          <p:nvPr/>
        </p:nvCxnSpPr>
        <p:spPr>
          <a:xfrm>
            <a:off x="9139112" y="2131104"/>
            <a:ext cx="0" cy="163064"/>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직선 연결선 111"/>
          <p:cNvCxnSpPr>
            <a:endCxn id="101" idx="0"/>
          </p:cNvCxnSpPr>
          <p:nvPr/>
        </p:nvCxnSpPr>
        <p:spPr>
          <a:xfrm>
            <a:off x="9139112" y="2797151"/>
            <a:ext cx="0" cy="165005"/>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꺾인 연결선 129"/>
          <p:cNvCxnSpPr>
            <a:stCxn id="101" idx="3"/>
            <a:endCxn id="102" idx="1"/>
          </p:cNvCxnSpPr>
          <p:nvPr/>
        </p:nvCxnSpPr>
        <p:spPr>
          <a:xfrm flipV="1">
            <a:off x="9955659" y="2917556"/>
            <a:ext cx="211960" cy="19848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101" idx="3"/>
            <a:endCxn id="103" idx="1"/>
          </p:cNvCxnSpPr>
          <p:nvPr/>
        </p:nvCxnSpPr>
        <p:spPr>
          <a:xfrm>
            <a:off x="9955659" y="3116045"/>
            <a:ext cx="211960" cy="25461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stCxn id="102" idx="3"/>
            <a:endCxn id="104" idx="1"/>
          </p:cNvCxnSpPr>
          <p:nvPr/>
        </p:nvCxnSpPr>
        <p:spPr>
          <a:xfrm flipV="1">
            <a:off x="10984166" y="2756276"/>
            <a:ext cx="213485" cy="16128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8" name="꺾인 연결선 137"/>
          <p:cNvCxnSpPr>
            <a:stCxn id="102" idx="3"/>
            <a:endCxn id="105" idx="1"/>
          </p:cNvCxnSpPr>
          <p:nvPr/>
        </p:nvCxnSpPr>
        <p:spPr>
          <a:xfrm>
            <a:off x="10984166" y="2917556"/>
            <a:ext cx="213485" cy="23828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139" name="표 138"/>
          <p:cNvGraphicFramePr>
            <a:graphicFrameLocks noGrp="1"/>
          </p:cNvGraphicFramePr>
          <p:nvPr/>
        </p:nvGraphicFramePr>
        <p:xfrm>
          <a:off x="8424905" y="4181396"/>
          <a:ext cx="3589293" cy="1325368"/>
        </p:xfrm>
        <a:graphic>
          <a:graphicData uri="http://schemas.openxmlformats.org/drawingml/2006/table">
            <a:tbl>
              <a:tblPr firstRow="1">
                <a:tableStyleId>{8799B23B-EC83-4686-B30A-512413B5E67A}</a:tableStyleId>
              </a:tblPr>
              <a:tblGrid>
                <a:gridCol w="1196431">
                  <a:extLst>
                    <a:ext uri="{9D8B030D-6E8A-4147-A177-3AD203B41FA5}">
                      <a16:colId xmlns:a16="http://schemas.microsoft.com/office/drawing/2014/main" val="20000"/>
                    </a:ext>
                  </a:extLst>
                </a:gridCol>
                <a:gridCol w="1196431">
                  <a:extLst>
                    <a:ext uri="{9D8B030D-6E8A-4147-A177-3AD203B41FA5}">
                      <a16:colId xmlns:a16="http://schemas.microsoft.com/office/drawing/2014/main" val="20001"/>
                    </a:ext>
                  </a:extLst>
                </a:gridCol>
                <a:gridCol w="1196431">
                  <a:extLst>
                    <a:ext uri="{9D8B030D-6E8A-4147-A177-3AD203B41FA5}">
                      <a16:colId xmlns:a16="http://schemas.microsoft.com/office/drawing/2014/main" val="20002"/>
                    </a:ext>
                  </a:extLst>
                </a:gridCol>
              </a:tblGrid>
              <a:tr h="361464">
                <a:tc>
                  <a:txBody>
                    <a:bodyPr/>
                    <a:lstStyle/>
                    <a:p>
                      <a:pPr algn="ctr" latinLnBrk="1"/>
                      <a:r>
                        <a:rPr lang="ko-KR" altLang="en-US" sz="1200" dirty="0"/>
                        <a:t>구분</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200" dirty="0"/>
                        <a:t>구성</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200" dirty="0"/>
                        <a:t>효과</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602440">
                <a:tc>
                  <a:txBody>
                    <a:bodyPr/>
                    <a:lstStyle/>
                    <a:p>
                      <a:pPr algn="ctr" latinLnBrk="1"/>
                      <a:r>
                        <a:rPr lang="ko-KR" altLang="en-US" sz="1200" dirty="0"/>
                        <a:t>실질적 </a:t>
                      </a:r>
                      <a:endParaRPr lang="en-US" altLang="ko-KR" sz="1200" dirty="0"/>
                    </a:p>
                    <a:p>
                      <a:pPr algn="ctr" latinLnBrk="1"/>
                      <a:r>
                        <a:rPr lang="ko-KR" altLang="en-US" sz="1200" dirty="0"/>
                        <a:t>동일성</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latinLnBrk="1"/>
                      <a:r>
                        <a:rPr lang="ko-KR" altLang="en-US" sz="1200" dirty="0"/>
                        <a:t>주지관용기술의 부가</a:t>
                      </a:r>
                      <a:r>
                        <a:rPr lang="en-US" altLang="ko-KR" sz="1200" dirty="0"/>
                        <a:t>/</a:t>
                      </a:r>
                      <a:r>
                        <a:rPr lang="ko-KR" altLang="en-US" sz="1200" dirty="0"/>
                        <a:t>삭제</a:t>
                      </a:r>
                      <a:r>
                        <a:rPr lang="en-US" altLang="ko-KR" sz="1200" dirty="0"/>
                        <a:t>/</a:t>
                      </a:r>
                      <a:r>
                        <a:rPr lang="ko-KR" altLang="en-US" sz="1200" dirty="0"/>
                        <a:t>변경</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a:t>새로운 효과</a:t>
                      </a:r>
                      <a:r>
                        <a:rPr lang="en-US" altLang="ko-KR" sz="1200" kern="1200" dirty="0">
                          <a:solidFill>
                            <a:schemeClr val="tx1"/>
                          </a:solidFill>
                          <a:effectLst/>
                          <a:latin typeface="+mn-lt"/>
                          <a:ea typeface="+mn-ea"/>
                          <a:cs typeface="+mn-cs"/>
                        </a:rPr>
                        <a:t>×</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361464">
                <a:tc>
                  <a:txBody>
                    <a:bodyPr/>
                    <a:lstStyle/>
                    <a:p>
                      <a:pPr algn="ctr" latinLnBrk="1"/>
                      <a:r>
                        <a:rPr lang="ko-KR" altLang="en-US" sz="1200" dirty="0"/>
                        <a:t>용이성</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a:t>곤란성</a:t>
                      </a:r>
                      <a:r>
                        <a:rPr lang="en-US" altLang="ko-KR" sz="1200" kern="1200" dirty="0">
                          <a:solidFill>
                            <a:schemeClr val="tx1"/>
                          </a:solidFill>
                          <a:effectLst/>
                          <a:latin typeface="+mn-lt"/>
                          <a:ea typeface="+mn-ea"/>
                          <a:cs typeface="+mn-cs"/>
                        </a:rPr>
                        <a:t>×</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a:solidFill>
                            <a:schemeClr val="tx1"/>
                          </a:solidFill>
                        </a:rPr>
                        <a:t>현저한 효과</a:t>
                      </a:r>
                      <a:r>
                        <a:rPr lang="en-US" altLang="ko-KR" sz="1200" kern="1200" dirty="0">
                          <a:solidFill>
                            <a:schemeClr val="tx1"/>
                          </a:solidFill>
                          <a:effectLst/>
                          <a:latin typeface="+mn-lt"/>
                          <a:ea typeface="+mn-ea"/>
                          <a:cs typeface="+mn-cs"/>
                        </a:rPr>
                        <a:t>×</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73</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54" name="TextBox 53">
            <a:extLst>
              <a:ext uri="{FF2B5EF4-FFF2-40B4-BE49-F238E27FC236}">
                <a16:creationId xmlns:a16="http://schemas.microsoft.com/office/drawing/2014/main" id="{C2894584-DE0E-48F1-92A6-75B7C2B320B1}"/>
              </a:ext>
            </a:extLst>
          </p:cNvPr>
          <p:cNvSpPr txBox="1"/>
          <p:nvPr/>
        </p:nvSpPr>
        <p:spPr>
          <a:xfrm>
            <a:off x="11197651" y="3412970"/>
            <a:ext cx="816547" cy="307777"/>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실질적</a:t>
            </a:r>
          </a:p>
        </p:txBody>
      </p:sp>
      <p:cxnSp>
        <p:nvCxnSpPr>
          <p:cNvPr id="55" name="꺾인 연결선 137">
            <a:extLst>
              <a:ext uri="{FF2B5EF4-FFF2-40B4-BE49-F238E27FC236}">
                <a16:creationId xmlns:a16="http://schemas.microsoft.com/office/drawing/2014/main" id="{BEBDD66C-B91C-4C20-B43C-58CBCD2619FE}"/>
              </a:ext>
            </a:extLst>
          </p:cNvPr>
          <p:cNvCxnSpPr>
            <a:cxnSpLocks/>
            <a:stCxn id="102" idx="3"/>
            <a:endCxn id="54" idx="1"/>
          </p:cNvCxnSpPr>
          <p:nvPr/>
        </p:nvCxnSpPr>
        <p:spPr>
          <a:xfrm>
            <a:off x="10984166" y="2917556"/>
            <a:ext cx="213485" cy="649303"/>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말풍선: 모서리가 둥근 사각형 4">
            <a:extLst>
              <a:ext uri="{FF2B5EF4-FFF2-40B4-BE49-F238E27FC236}">
                <a16:creationId xmlns:a16="http://schemas.microsoft.com/office/drawing/2014/main" id="{D66D1E81-4984-46A7-AEBD-58B98FF7364F}"/>
              </a:ext>
            </a:extLst>
          </p:cNvPr>
          <p:cNvSpPr/>
          <p:nvPr/>
        </p:nvSpPr>
        <p:spPr>
          <a:xfrm>
            <a:off x="8784174" y="5864847"/>
            <a:ext cx="2199992" cy="597528"/>
          </a:xfrm>
          <a:prstGeom prst="wedgeRoundRectCallout">
            <a:avLst>
              <a:gd name="adj1" fmla="val 7322"/>
              <a:gd name="adj2" fmla="val -121031"/>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통상의 기술자가 채용하는 정도의 구성의 변경</a:t>
            </a:r>
          </a:p>
        </p:txBody>
      </p:sp>
    </p:spTree>
    <p:extLst>
      <p:ext uri="{BB962C8B-B14F-4D97-AF65-F5344CB8AC3E}">
        <p14:creationId xmlns:p14="http://schemas.microsoft.com/office/powerpoint/2010/main" val="85818607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ko-KR" altLang="en-US" dirty="0"/>
              <a:t>동일성과 용이성 판단 실무</a:t>
            </a:r>
          </a:p>
        </p:txBody>
      </p:sp>
      <p:graphicFrame>
        <p:nvGraphicFramePr>
          <p:cNvPr id="4" name="표 3"/>
          <p:cNvGraphicFramePr>
            <a:graphicFrameLocks noGrp="1"/>
          </p:cNvGraphicFramePr>
          <p:nvPr/>
        </p:nvGraphicFramePr>
        <p:xfrm>
          <a:off x="316950" y="1252778"/>
          <a:ext cx="3197775" cy="2585797"/>
        </p:xfrm>
        <a:graphic>
          <a:graphicData uri="http://schemas.openxmlformats.org/drawingml/2006/table">
            <a:tbl>
              <a:tblPr>
                <a:tableStyleId>{8799B23B-EC83-4686-B30A-512413B5E67A}</a:tableStyleId>
              </a:tblPr>
              <a:tblGrid>
                <a:gridCol w="639555">
                  <a:extLst>
                    <a:ext uri="{9D8B030D-6E8A-4147-A177-3AD203B41FA5}">
                      <a16:colId xmlns:a16="http://schemas.microsoft.com/office/drawing/2014/main" val="20000"/>
                    </a:ext>
                  </a:extLst>
                </a:gridCol>
                <a:gridCol w="639555">
                  <a:extLst>
                    <a:ext uri="{9D8B030D-6E8A-4147-A177-3AD203B41FA5}">
                      <a16:colId xmlns:a16="http://schemas.microsoft.com/office/drawing/2014/main" val="20001"/>
                    </a:ext>
                  </a:extLst>
                </a:gridCol>
                <a:gridCol w="639555">
                  <a:extLst>
                    <a:ext uri="{9D8B030D-6E8A-4147-A177-3AD203B41FA5}">
                      <a16:colId xmlns:a16="http://schemas.microsoft.com/office/drawing/2014/main" val="20002"/>
                    </a:ext>
                  </a:extLst>
                </a:gridCol>
                <a:gridCol w="639555">
                  <a:extLst>
                    <a:ext uri="{9D8B030D-6E8A-4147-A177-3AD203B41FA5}">
                      <a16:colId xmlns:a16="http://schemas.microsoft.com/office/drawing/2014/main" val="20003"/>
                    </a:ext>
                  </a:extLst>
                </a:gridCol>
                <a:gridCol w="639555">
                  <a:extLst>
                    <a:ext uri="{9D8B030D-6E8A-4147-A177-3AD203B41FA5}">
                      <a16:colId xmlns:a16="http://schemas.microsoft.com/office/drawing/2014/main" val="20004"/>
                    </a:ext>
                  </a:extLst>
                </a:gridCol>
              </a:tblGrid>
              <a:tr h="174386">
                <a:tc>
                  <a:txBody>
                    <a:bodyPr/>
                    <a:lstStyle/>
                    <a:p>
                      <a:pPr marL="0" marR="0" indent="0" algn="ctr" fontAlgn="base" latinLnBrk="0">
                        <a:lnSpc>
                          <a:spcPct val="100000"/>
                        </a:lnSpc>
                        <a:spcBef>
                          <a:spcPts val="0"/>
                        </a:spcBef>
                        <a:spcAft>
                          <a:spcPts val="0"/>
                        </a:spcAft>
                      </a:pPr>
                      <a:r>
                        <a:rPr lang="ko-KR" altLang="en-US" sz="1200" kern="0" spc="-100" dirty="0">
                          <a:effectLst/>
                        </a:rPr>
                        <a:t>출원</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발명</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인용</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대상</a:t>
                      </a:r>
                      <a:r>
                        <a:rPr lang="en-US" altLang="ko-KR" sz="1200" kern="0" spc="-100" dirty="0">
                          <a:effectLst/>
                        </a:rPr>
                        <a:t>1</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인용</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대상</a:t>
                      </a:r>
                      <a:r>
                        <a:rPr lang="en-US" altLang="ko-KR" sz="1200" kern="0" spc="-100" dirty="0">
                          <a:effectLst/>
                        </a:rPr>
                        <a:t>2</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인용</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대상</a:t>
                      </a:r>
                      <a:r>
                        <a:rPr lang="en-US" altLang="ko-KR" sz="1200" kern="0" spc="-100" dirty="0">
                          <a:effectLst/>
                        </a:rPr>
                        <a:t>3</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조합</a:t>
                      </a:r>
                      <a:endParaRPr lang="en-US" altLang="ko-KR" sz="1200" kern="0" spc="-100" dirty="0">
                        <a:effectLst/>
                      </a:endParaRPr>
                    </a:p>
                    <a:p>
                      <a:pPr marL="0" marR="0" indent="0" algn="ctr" fontAlgn="base" latinLnBrk="0">
                        <a:lnSpc>
                          <a:spcPct val="100000"/>
                        </a:lnSpc>
                        <a:spcBef>
                          <a:spcPts val="0"/>
                        </a:spcBef>
                        <a:spcAft>
                          <a:spcPts val="0"/>
                        </a:spcAft>
                      </a:pPr>
                      <a:r>
                        <a:rPr lang="en-US" altLang="ko-KR" sz="1200" kern="0" spc="-100" dirty="0">
                          <a:effectLst/>
                        </a:rPr>
                        <a:t>(</a:t>
                      </a:r>
                      <a:r>
                        <a:rPr lang="en-US" sz="1200" kern="0" spc="-100" dirty="0">
                          <a:effectLst/>
                        </a:rPr>
                        <a:t>OR)</a:t>
                      </a:r>
                      <a:endParaRPr lang="en-US" sz="1200" kern="0" spc="-100" dirty="0">
                        <a:solidFill>
                          <a:srgbClr val="000000"/>
                        </a:solidFill>
                        <a:effectLst/>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10000"/>
                  </a:ext>
                </a:extLst>
              </a:tr>
              <a:tr h="94969">
                <a:tc>
                  <a:txBody>
                    <a:bodyPr/>
                    <a:lstStyle/>
                    <a:p>
                      <a:pPr marL="0" marR="0" indent="0" algn="ctr" fontAlgn="base" latinLnBrk="0">
                        <a:lnSpc>
                          <a:spcPct val="100000"/>
                        </a:lnSpc>
                        <a:spcBef>
                          <a:spcPts val="0"/>
                        </a:spcBef>
                        <a:spcAft>
                          <a:spcPts val="0"/>
                        </a:spcAft>
                      </a:pPr>
                      <a:r>
                        <a:rPr lang="en-US" sz="1200" kern="0" spc="-100">
                          <a:effectLst/>
                        </a:rPr>
                        <a:t>A</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extLst>
                  <a:ext uri="{0D108BD9-81ED-4DB2-BD59-A6C34878D82A}">
                    <a16:rowId xmlns:a16="http://schemas.microsoft.com/office/drawing/2014/main" val="10001"/>
                  </a:ext>
                </a:extLst>
              </a:tr>
              <a:tr h="94969">
                <a:tc>
                  <a:txBody>
                    <a:bodyPr/>
                    <a:lstStyle/>
                    <a:p>
                      <a:pPr marL="0" marR="0" indent="0" algn="ctr" fontAlgn="base" latinLnBrk="0">
                        <a:lnSpc>
                          <a:spcPct val="100000"/>
                        </a:lnSpc>
                        <a:spcBef>
                          <a:spcPts val="0"/>
                        </a:spcBef>
                        <a:spcAft>
                          <a:spcPts val="0"/>
                        </a:spcAft>
                      </a:pPr>
                      <a:r>
                        <a:rPr lang="en-US" sz="1200" kern="0" spc="-100">
                          <a:effectLst/>
                        </a:rPr>
                        <a:t>B</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extLst>
                  <a:ext uri="{0D108BD9-81ED-4DB2-BD59-A6C34878D82A}">
                    <a16:rowId xmlns:a16="http://schemas.microsoft.com/office/drawing/2014/main" val="10002"/>
                  </a:ext>
                </a:extLst>
              </a:tr>
              <a:tr h="94969">
                <a:tc>
                  <a:txBody>
                    <a:bodyPr/>
                    <a:lstStyle/>
                    <a:p>
                      <a:pPr marL="0" marR="0" indent="0" algn="ctr" fontAlgn="base" latinLnBrk="0">
                        <a:lnSpc>
                          <a:spcPct val="100000"/>
                        </a:lnSpc>
                        <a:spcBef>
                          <a:spcPts val="0"/>
                        </a:spcBef>
                        <a:spcAft>
                          <a:spcPts val="0"/>
                        </a:spcAft>
                      </a:pPr>
                      <a:r>
                        <a:rPr lang="en-US" sz="1200" kern="0" spc="-100">
                          <a:effectLst/>
                        </a:rPr>
                        <a:t>C</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dirty="0">
                          <a:effectLst/>
                        </a:rPr>
                        <a:t>×</a:t>
                      </a:r>
                      <a:endParaRPr lang="en-US" sz="1200" kern="0" spc="-100" dirty="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tc>
                <a:extLst>
                  <a:ext uri="{0D108BD9-81ED-4DB2-BD59-A6C34878D82A}">
                    <a16:rowId xmlns:a16="http://schemas.microsoft.com/office/drawing/2014/main" val="10003"/>
                  </a:ext>
                </a:extLst>
              </a:tr>
              <a:tr h="94969">
                <a:tc>
                  <a:txBody>
                    <a:bodyPr/>
                    <a:lstStyle/>
                    <a:p>
                      <a:pPr marL="0" marR="0" indent="0" algn="ctr" fontAlgn="base" latinLnBrk="0">
                        <a:lnSpc>
                          <a:spcPct val="100000"/>
                        </a:lnSpc>
                        <a:spcBef>
                          <a:spcPts val="0"/>
                        </a:spcBef>
                        <a:spcAft>
                          <a:spcPts val="0"/>
                        </a:spcAft>
                      </a:pPr>
                      <a:r>
                        <a:rPr lang="en-US" sz="1200" kern="0" spc="-100">
                          <a:effectLst/>
                        </a:rPr>
                        <a:t>D</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extLst>
                  <a:ext uri="{0D108BD9-81ED-4DB2-BD59-A6C34878D82A}">
                    <a16:rowId xmlns:a16="http://schemas.microsoft.com/office/drawing/2014/main" val="10004"/>
                  </a:ext>
                </a:extLst>
              </a:tr>
              <a:tr h="1309447">
                <a:tc>
                  <a:txBody>
                    <a:bodyPr/>
                    <a:lstStyle/>
                    <a:p>
                      <a:pPr marL="0" marR="0" indent="0" algn="ctr" fontAlgn="base" latinLnBrk="0">
                        <a:lnSpc>
                          <a:spcPct val="100000"/>
                        </a:lnSpc>
                        <a:spcBef>
                          <a:spcPts val="0"/>
                        </a:spcBef>
                        <a:spcAft>
                          <a:spcPts val="0"/>
                        </a:spcAft>
                      </a:pPr>
                      <a:r>
                        <a:rPr lang="ko-KR" altLang="en-US" sz="1200" kern="0" spc="-100">
                          <a:effectLst/>
                        </a:rPr>
                        <a:t>설명</a:t>
                      </a:r>
                      <a:endParaRPr lang="ko-KR" altLang="en-US" sz="1200" b="1" kern="0" spc="-100">
                        <a:solidFill>
                          <a:srgbClr val="000000"/>
                        </a:solidFill>
                        <a:effectLst/>
                      </a:endParaRPr>
                    </a:p>
                  </a:txBody>
                  <a:tcPr marL="64770" marR="64770" marT="17907" marB="17907" anchor="ctr"/>
                </a:tc>
                <a:tc gridSpan="4">
                  <a:txBody>
                    <a:bodyPr/>
                    <a:lstStyle/>
                    <a:p>
                      <a:pPr marL="85725" marR="17780" lvl="0" indent="-85725" algn="just" fontAlgn="base" latinLnBrk="1">
                        <a:lnSpc>
                          <a:spcPct val="100000"/>
                        </a:lnSpc>
                        <a:spcBef>
                          <a:spcPts val="0"/>
                        </a:spcBef>
                        <a:spcAft>
                          <a:spcPts val="0"/>
                        </a:spcAft>
                        <a:buFont typeface="Wingdings"/>
                        <a:buNone/>
                      </a:pPr>
                      <a:r>
                        <a:rPr lang="en-US" altLang="ko-KR" sz="1200" kern="0" spc="-50" dirty="0">
                          <a:effectLst/>
                        </a:rPr>
                        <a:t>-</a:t>
                      </a:r>
                      <a:r>
                        <a:rPr lang="en-US" altLang="ko-KR" sz="1200" kern="0" spc="-50" baseline="0" dirty="0">
                          <a:effectLst/>
                        </a:rPr>
                        <a:t> </a:t>
                      </a:r>
                      <a:r>
                        <a:rPr lang="ko-KR" altLang="en-US" sz="1200" kern="0" spc="-50" dirty="0">
                          <a:effectLst/>
                        </a:rPr>
                        <a:t>인용대상</a:t>
                      </a:r>
                      <a:r>
                        <a:rPr lang="en-US" altLang="ko-KR" sz="1200" kern="0" spc="-50" dirty="0">
                          <a:effectLst/>
                        </a:rPr>
                        <a:t>2</a:t>
                      </a:r>
                      <a:r>
                        <a:rPr lang="ko-KR" altLang="en-US" sz="1200" kern="0" spc="-50" dirty="0">
                          <a:effectLst/>
                        </a:rPr>
                        <a:t>에 출원발명의 구성요소가 모두 포함되어 있기 때문에 동일성이 있음</a:t>
                      </a:r>
                      <a:endParaRPr lang="ko-KR" altLang="en-US" sz="1200" kern="0" spc="-50" dirty="0">
                        <a:solidFill>
                          <a:srgbClr val="000000"/>
                        </a:solidFill>
                        <a:effectLst/>
                      </a:endParaRPr>
                    </a:p>
                  </a:txBody>
                  <a:tcPr marL="64770" marR="64770" marT="17907" marB="17907"/>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5"/>
                  </a:ext>
                </a:extLst>
              </a:tr>
            </a:tbl>
          </a:graphicData>
        </a:graphic>
      </p:graphicFrame>
      <p:graphicFrame>
        <p:nvGraphicFramePr>
          <p:cNvPr id="5" name="표 4"/>
          <p:cNvGraphicFramePr>
            <a:graphicFrameLocks noGrp="1"/>
          </p:cNvGraphicFramePr>
          <p:nvPr/>
        </p:nvGraphicFramePr>
        <p:xfrm>
          <a:off x="3660563" y="1253651"/>
          <a:ext cx="4320540" cy="2592324"/>
        </p:xfrm>
        <a:graphic>
          <a:graphicData uri="http://schemas.openxmlformats.org/drawingml/2006/table">
            <a:tbl>
              <a:tblPr>
                <a:tableStyleId>{8799B23B-EC83-4686-B30A-512413B5E67A}</a:tableStyleId>
              </a:tblPr>
              <a:tblGrid>
                <a:gridCol w="606637">
                  <a:extLst>
                    <a:ext uri="{9D8B030D-6E8A-4147-A177-3AD203B41FA5}">
                      <a16:colId xmlns:a16="http://schemas.microsoft.com/office/drawing/2014/main" val="20000"/>
                    </a:ext>
                  </a:extLst>
                </a:gridCol>
                <a:gridCol w="1121579">
                  <a:extLst>
                    <a:ext uri="{9D8B030D-6E8A-4147-A177-3AD203B41FA5}">
                      <a16:colId xmlns:a16="http://schemas.microsoft.com/office/drawing/2014/main" val="20001"/>
                    </a:ext>
                  </a:extLst>
                </a:gridCol>
                <a:gridCol w="864108">
                  <a:extLst>
                    <a:ext uri="{9D8B030D-6E8A-4147-A177-3AD203B41FA5}">
                      <a16:colId xmlns:a16="http://schemas.microsoft.com/office/drawing/2014/main" val="20002"/>
                    </a:ext>
                  </a:extLst>
                </a:gridCol>
                <a:gridCol w="864108">
                  <a:extLst>
                    <a:ext uri="{9D8B030D-6E8A-4147-A177-3AD203B41FA5}">
                      <a16:colId xmlns:a16="http://schemas.microsoft.com/office/drawing/2014/main" val="20003"/>
                    </a:ext>
                  </a:extLst>
                </a:gridCol>
                <a:gridCol w="864108">
                  <a:extLst>
                    <a:ext uri="{9D8B030D-6E8A-4147-A177-3AD203B41FA5}">
                      <a16:colId xmlns:a16="http://schemas.microsoft.com/office/drawing/2014/main" val="20004"/>
                    </a:ext>
                  </a:extLst>
                </a:gridCol>
              </a:tblGrid>
              <a:tr h="195385">
                <a:tc>
                  <a:txBody>
                    <a:bodyPr/>
                    <a:lstStyle/>
                    <a:p>
                      <a:pPr marL="0" marR="0" indent="0" algn="ctr" fontAlgn="base" latinLnBrk="0">
                        <a:lnSpc>
                          <a:spcPct val="100000"/>
                        </a:lnSpc>
                        <a:spcBef>
                          <a:spcPts val="0"/>
                        </a:spcBef>
                        <a:spcAft>
                          <a:spcPts val="0"/>
                        </a:spcAft>
                      </a:pPr>
                      <a:r>
                        <a:rPr lang="ko-KR" altLang="en-US" sz="1200" kern="0" spc="-100" dirty="0">
                          <a:effectLst/>
                        </a:rPr>
                        <a:t>출원</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발명</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인용</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대상</a:t>
                      </a:r>
                      <a:r>
                        <a:rPr lang="en-US" altLang="ko-KR" sz="1200" kern="0" spc="-100" dirty="0">
                          <a:effectLst/>
                        </a:rPr>
                        <a:t>1</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인용</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대상</a:t>
                      </a:r>
                      <a:r>
                        <a:rPr lang="en-US" altLang="ko-KR" sz="1200" kern="0" spc="-100" dirty="0">
                          <a:effectLst/>
                        </a:rPr>
                        <a:t>2</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인용</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대상</a:t>
                      </a:r>
                      <a:r>
                        <a:rPr lang="en-US" altLang="ko-KR" sz="1200" kern="0" spc="-100" dirty="0">
                          <a:effectLst/>
                        </a:rPr>
                        <a:t>3</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조합</a:t>
                      </a:r>
                      <a:endParaRPr lang="en-US" altLang="ko-KR" sz="1200" kern="0" spc="-100" dirty="0">
                        <a:effectLst/>
                      </a:endParaRPr>
                    </a:p>
                    <a:p>
                      <a:pPr marL="0" marR="0" indent="0" algn="ctr" fontAlgn="base" latinLnBrk="0">
                        <a:lnSpc>
                          <a:spcPct val="100000"/>
                        </a:lnSpc>
                        <a:spcBef>
                          <a:spcPts val="0"/>
                        </a:spcBef>
                        <a:spcAft>
                          <a:spcPts val="0"/>
                        </a:spcAft>
                      </a:pPr>
                      <a:r>
                        <a:rPr lang="en-US" altLang="ko-KR" sz="1200" kern="0" spc="-100" dirty="0">
                          <a:effectLst/>
                        </a:rPr>
                        <a:t>(</a:t>
                      </a:r>
                      <a:r>
                        <a:rPr lang="en-US" sz="1200" kern="0" spc="-100" dirty="0">
                          <a:effectLst/>
                        </a:rPr>
                        <a:t>OR)</a:t>
                      </a:r>
                      <a:endParaRPr lang="en-US" sz="1200" kern="0" spc="-100" dirty="0">
                        <a:solidFill>
                          <a:srgbClr val="000000"/>
                        </a:solidFill>
                        <a:effectLst/>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10000"/>
                  </a:ext>
                </a:extLst>
              </a:tr>
              <a:tr h="106405">
                <a:tc>
                  <a:txBody>
                    <a:bodyPr/>
                    <a:lstStyle/>
                    <a:p>
                      <a:pPr marL="0" marR="0" indent="0" algn="ctr" fontAlgn="base" latinLnBrk="0">
                        <a:lnSpc>
                          <a:spcPct val="100000"/>
                        </a:lnSpc>
                        <a:spcBef>
                          <a:spcPts val="0"/>
                        </a:spcBef>
                        <a:spcAft>
                          <a:spcPts val="0"/>
                        </a:spcAft>
                      </a:pPr>
                      <a:r>
                        <a:rPr lang="en-US" sz="1200" kern="0" spc="-100" dirty="0">
                          <a:effectLst/>
                        </a:rPr>
                        <a:t>A</a:t>
                      </a:r>
                      <a:endParaRPr lang="en-US" sz="1200" kern="0" spc="-100" dirty="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dirty="0">
                          <a:effectLst/>
                        </a:rPr>
                        <a:t>×</a:t>
                      </a:r>
                      <a:endParaRPr lang="en-US" sz="1200" kern="0" spc="-100" dirty="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1"/>
                  </a:ext>
                </a:extLst>
              </a:tr>
              <a:tr h="106405">
                <a:tc>
                  <a:txBody>
                    <a:bodyPr/>
                    <a:lstStyle/>
                    <a:p>
                      <a:pPr marL="0" marR="0" indent="0" algn="ctr" fontAlgn="base" latinLnBrk="0">
                        <a:lnSpc>
                          <a:spcPct val="100000"/>
                        </a:lnSpc>
                        <a:spcBef>
                          <a:spcPts val="0"/>
                        </a:spcBef>
                        <a:spcAft>
                          <a:spcPts val="0"/>
                        </a:spcAft>
                      </a:pPr>
                      <a:r>
                        <a:rPr lang="en-US" sz="1200" kern="0" spc="-100">
                          <a:effectLst/>
                        </a:rPr>
                        <a:t>B</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2"/>
                  </a:ext>
                </a:extLst>
              </a:tr>
              <a:tr h="106405">
                <a:tc>
                  <a:txBody>
                    <a:bodyPr/>
                    <a:lstStyle/>
                    <a:p>
                      <a:pPr marL="0" marR="0" indent="0" algn="ctr" fontAlgn="base" latinLnBrk="0">
                        <a:lnSpc>
                          <a:spcPct val="100000"/>
                        </a:lnSpc>
                        <a:spcBef>
                          <a:spcPts val="0"/>
                        </a:spcBef>
                        <a:spcAft>
                          <a:spcPts val="0"/>
                        </a:spcAft>
                      </a:pPr>
                      <a:r>
                        <a:rPr lang="en-US" sz="1200" kern="0" spc="-100">
                          <a:effectLst/>
                        </a:rPr>
                        <a:t>C</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3"/>
                  </a:ext>
                </a:extLst>
              </a:tr>
              <a:tr h="106405">
                <a:tc>
                  <a:txBody>
                    <a:bodyPr/>
                    <a:lstStyle/>
                    <a:p>
                      <a:pPr marL="0" marR="0" indent="0" algn="ctr" fontAlgn="base" latinLnBrk="0">
                        <a:lnSpc>
                          <a:spcPct val="100000"/>
                        </a:lnSpc>
                        <a:spcBef>
                          <a:spcPts val="0"/>
                        </a:spcBef>
                        <a:spcAft>
                          <a:spcPts val="0"/>
                        </a:spcAft>
                      </a:pPr>
                      <a:r>
                        <a:rPr lang="en-US" sz="1200" kern="0" spc="-100" dirty="0">
                          <a:effectLst/>
                        </a:rPr>
                        <a:t>D</a:t>
                      </a:r>
                      <a:endParaRPr lang="en-US" sz="1200" kern="0" spc="-100" dirty="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4"/>
                  </a:ext>
                </a:extLst>
              </a:tr>
              <a:tr h="988183">
                <a:tc>
                  <a:txBody>
                    <a:bodyPr/>
                    <a:lstStyle/>
                    <a:p>
                      <a:pPr marL="0" marR="0" indent="0" algn="ctr" fontAlgn="base" latinLnBrk="0">
                        <a:lnSpc>
                          <a:spcPct val="100000"/>
                        </a:lnSpc>
                        <a:spcBef>
                          <a:spcPts val="0"/>
                        </a:spcBef>
                        <a:spcAft>
                          <a:spcPts val="0"/>
                        </a:spcAft>
                      </a:pPr>
                      <a:r>
                        <a:rPr lang="ko-KR" altLang="en-US" sz="1200" kern="0" spc="-100" dirty="0">
                          <a:effectLst/>
                        </a:rPr>
                        <a:t>설명</a:t>
                      </a:r>
                      <a:endParaRPr lang="ko-KR" altLang="en-US" sz="1200" b="1" kern="0" spc="-100" dirty="0">
                        <a:solidFill>
                          <a:srgbClr val="000000"/>
                        </a:solidFill>
                        <a:effectLst/>
                      </a:endParaRPr>
                    </a:p>
                  </a:txBody>
                  <a:tcPr marL="64770" marR="64770" marT="17907" marB="17907" anchor="ctr"/>
                </a:tc>
                <a:tc gridSpan="4">
                  <a:txBody>
                    <a:bodyPr/>
                    <a:lstStyle/>
                    <a:p>
                      <a:pPr marL="85725" marR="17780" lvl="0" indent="-85725" algn="just" fontAlgn="base" latinLnBrk="1">
                        <a:lnSpc>
                          <a:spcPct val="100000"/>
                        </a:lnSpc>
                        <a:spcBef>
                          <a:spcPts val="0"/>
                        </a:spcBef>
                        <a:spcAft>
                          <a:spcPts val="0"/>
                        </a:spcAft>
                        <a:buFont typeface="Wingdings"/>
                        <a:buNone/>
                      </a:pPr>
                      <a:r>
                        <a:rPr lang="en-US" altLang="ko-KR" sz="1200" kern="0" spc="-50" dirty="0">
                          <a:effectLst/>
                        </a:rPr>
                        <a:t>- </a:t>
                      </a:r>
                      <a:r>
                        <a:rPr lang="ko-KR" altLang="en-US" sz="1200" kern="0" spc="-50" dirty="0">
                          <a:effectLst/>
                        </a:rPr>
                        <a:t>인용대상 </a:t>
                      </a:r>
                      <a:r>
                        <a:rPr lang="en-US" altLang="ko-KR" sz="1200" kern="0" spc="-50" dirty="0">
                          <a:effectLst/>
                        </a:rPr>
                        <a:t>1 </a:t>
                      </a:r>
                      <a:r>
                        <a:rPr lang="ko-KR" altLang="en-US" sz="1200" kern="0" spc="-50" dirty="0">
                          <a:effectLst/>
                        </a:rPr>
                        <a:t>내지 </a:t>
                      </a:r>
                      <a:r>
                        <a:rPr lang="en-US" altLang="ko-KR" sz="1200" kern="0" spc="-50" dirty="0">
                          <a:effectLst/>
                        </a:rPr>
                        <a:t>3 </a:t>
                      </a:r>
                      <a:r>
                        <a:rPr lang="ko-KR" altLang="en-US" sz="1200" kern="0" spc="-50" dirty="0">
                          <a:effectLst/>
                        </a:rPr>
                        <a:t>각각에 출원발명의 구성요소가 모두 포함되어 있지 않기 때문에 동일성이 없음</a:t>
                      </a:r>
                    </a:p>
                    <a:p>
                      <a:pPr marL="85725" marR="17780" lvl="0" indent="-85725" algn="just" fontAlgn="base" latinLnBrk="1">
                        <a:lnSpc>
                          <a:spcPct val="100000"/>
                        </a:lnSpc>
                        <a:spcBef>
                          <a:spcPts val="0"/>
                        </a:spcBef>
                        <a:spcAft>
                          <a:spcPts val="0"/>
                        </a:spcAft>
                        <a:buFont typeface="Wingdings"/>
                        <a:buNone/>
                      </a:pPr>
                      <a:r>
                        <a:rPr lang="en-US" altLang="ko-KR" sz="1200" kern="0" spc="-50" dirty="0">
                          <a:effectLst/>
                        </a:rPr>
                        <a:t>- </a:t>
                      </a:r>
                      <a:r>
                        <a:rPr lang="ko-KR" altLang="en-US" sz="1200" kern="0" spc="-50" dirty="0">
                          <a:effectLst/>
                        </a:rPr>
                        <a:t>인용대상 </a:t>
                      </a:r>
                      <a:r>
                        <a:rPr lang="en-US" altLang="ko-KR" sz="1200" kern="0" spc="-50" dirty="0">
                          <a:effectLst/>
                        </a:rPr>
                        <a:t>1 </a:t>
                      </a:r>
                      <a:r>
                        <a:rPr lang="ko-KR" altLang="en-US" sz="1200" kern="0" spc="-50" dirty="0">
                          <a:effectLst/>
                        </a:rPr>
                        <a:t>내지 </a:t>
                      </a:r>
                      <a:r>
                        <a:rPr lang="en-US" altLang="ko-KR" sz="1200" kern="0" spc="-50" dirty="0">
                          <a:effectLst/>
                        </a:rPr>
                        <a:t>3</a:t>
                      </a:r>
                      <a:r>
                        <a:rPr lang="ko-KR" altLang="en-US" sz="1200" kern="0" spc="-50" dirty="0">
                          <a:effectLst/>
                        </a:rPr>
                        <a:t>을 조합하면 출원발명의 구성요소가 모두 포함되어 있기 때문에 용이성이 있음</a:t>
                      </a:r>
                    </a:p>
                    <a:p>
                      <a:pPr marL="85725" marR="17780" lvl="0" indent="-85725" algn="just" fontAlgn="base" latinLnBrk="1">
                        <a:lnSpc>
                          <a:spcPct val="100000"/>
                        </a:lnSpc>
                        <a:spcBef>
                          <a:spcPts val="0"/>
                        </a:spcBef>
                        <a:spcAft>
                          <a:spcPts val="0"/>
                        </a:spcAft>
                        <a:buFont typeface="Wingdings"/>
                        <a:buNone/>
                      </a:pPr>
                      <a:r>
                        <a:rPr lang="en-US" altLang="ko-KR" sz="1200" kern="0" spc="-50" dirty="0">
                          <a:effectLst/>
                        </a:rPr>
                        <a:t>- </a:t>
                      </a:r>
                      <a:r>
                        <a:rPr lang="ko-KR" altLang="en-US" sz="1200" kern="0" spc="-50" dirty="0">
                          <a:effectLst/>
                        </a:rPr>
                        <a:t>단</a:t>
                      </a:r>
                      <a:r>
                        <a:rPr lang="en-US" altLang="ko-KR" sz="1200" kern="0" spc="-50" dirty="0">
                          <a:effectLst/>
                        </a:rPr>
                        <a:t>, </a:t>
                      </a:r>
                      <a:r>
                        <a:rPr lang="ko-KR" altLang="en-US" sz="1200" kern="0" spc="-50" dirty="0">
                          <a:effectLst/>
                        </a:rPr>
                        <a:t>출원발명의 구성의 결합에 특유의 과제해결원리에 기초한 결합관계가 있다면 그 결합관계 역시 구성으로 파악해야 함</a:t>
                      </a:r>
                      <a:endParaRPr lang="ko-KR" altLang="en-US" sz="1200" kern="0" spc="-50" dirty="0">
                        <a:solidFill>
                          <a:srgbClr val="000000"/>
                        </a:solidFill>
                        <a:effectLst/>
                      </a:endParaRPr>
                    </a:p>
                  </a:txBody>
                  <a:tcPr marL="64770" marR="64770" marT="17907" marB="17907" anchor="ct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5"/>
                  </a:ext>
                </a:extLst>
              </a:tr>
            </a:tbl>
          </a:graphicData>
        </a:graphic>
      </p:graphicFrame>
      <p:graphicFrame>
        <p:nvGraphicFramePr>
          <p:cNvPr id="6" name="표 5"/>
          <p:cNvGraphicFramePr>
            <a:graphicFrameLocks noGrp="1"/>
          </p:cNvGraphicFramePr>
          <p:nvPr/>
        </p:nvGraphicFramePr>
        <p:xfrm>
          <a:off x="8133080" y="1259747"/>
          <a:ext cx="3754120" cy="2588353"/>
        </p:xfrm>
        <a:graphic>
          <a:graphicData uri="http://schemas.openxmlformats.org/drawingml/2006/table">
            <a:tbl>
              <a:tblPr>
                <a:tableStyleId>{8799B23B-EC83-4686-B30A-512413B5E67A}</a:tableStyleId>
              </a:tblPr>
              <a:tblGrid>
                <a:gridCol w="750824">
                  <a:extLst>
                    <a:ext uri="{9D8B030D-6E8A-4147-A177-3AD203B41FA5}">
                      <a16:colId xmlns:a16="http://schemas.microsoft.com/office/drawing/2014/main" val="20000"/>
                    </a:ext>
                  </a:extLst>
                </a:gridCol>
                <a:gridCol w="750824">
                  <a:extLst>
                    <a:ext uri="{9D8B030D-6E8A-4147-A177-3AD203B41FA5}">
                      <a16:colId xmlns:a16="http://schemas.microsoft.com/office/drawing/2014/main" val="20001"/>
                    </a:ext>
                  </a:extLst>
                </a:gridCol>
                <a:gridCol w="750824">
                  <a:extLst>
                    <a:ext uri="{9D8B030D-6E8A-4147-A177-3AD203B41FA5}">
                      <a16:colId xmlns:a16="http://schemas.microsoft.com/office/drawing/2014/main" val="20002"/>
                    </a:ext>
                  </a:extLst>
                </a:gridCol>
                <a:gridCol w="750824">
                  <a:extLst>
                    <a:ext uri="{9D8B030D-6E8A-4147-A177-3AD203B41FA5}">
                      <a16:colId xmlns:a16="http://schemas.microsoft.com/office/drawing/2014/main" val="20003"/>
                    </a:ext>
                  </a:extLst>
                </a:gridCol>
                <a:gridCol w="750824">
                  <a:extLst>
                    <a:ext uri="{9D8B030D-6E8A-4147-A177-3AD203B41FA5}">
                      <a16:colId xmlns:a16="http://schemas.microsoft.com/office/drawing/2014/main" val="20004"/>
                    </a:ext>
                  </a:extLst>
                </a:gridCol>
              </a:tblGrid>
              <a:tr h="0">
                <a:tc>
                  <a:txBody>
                    <a:bodyPr/>
                    <a:lstStyle/>
                    <a:p>
                      <a:pPr marL="0" marR="0" indent="0" algn="ctr" fontAlgn="base" latinLnBrk="0">
                        <a:lnSpc>
                          <a:spcPct val="100000"/>
                        </a:lnSpc>
                        <a:spcBef>
                          <a:spcPts val="0"/>
                        </a:spcBef>
                        <a:spcAft>
                          <a:spcPts val="0"/>
                        </a:spcAft>
                      </a:pPr>
                      <a:r>
                        <a:rPr lang="ko-KR" altLang="en-US" sz="1200" b="0" kern="0" spc="-100" dirty="0">
                          <a:effectLst/>
                        </a:rPr>
                        <a:t>출원</a:t>
                      </a:r>
                      <a:endParaRPr lang="en-US" altLang="ko-KR" sz="1200" b="0" kern="0" spc="-100" dirty="0">
                        <a:effectLst/>
                      </a:endParaRPr>
                    </a:p>
                    <a:p>
                      <a:pPr marL="0" marR="0" indent="0" algn="ctr" fontAlgn="base" latinLnBrk="0">
                        <a:lnSpc>
                          <a:spcPct val="100000"/>
                        </a:lnSpc>
                        <a:spcBef>
                          <a:spcPts val="0"/>
                        </a:spcBef>
                        <a:spcAft>
                          <a:spcPts val="0"/>
                        </a:spcAft>
                      </a:pPr>
                      <a:r>
                        <a:rPr lang="ko-KR" altLang="en-US" sz="1200" b="0" kern="0" spc="-100" dirty="0">
                          <a:effectLst/>
                        </a:rPr>
                        <a:t>발명</a:t>
                      </a:r>
                      <a:endParaRPr lang="ko-KR" altLang="en-US" sz="1200" b="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b="0" kern="0" spc="-100" dirty="0">
                          <a:effectLst/>
                        </a:rPr>
                        <a:t>인용</a:t>
                      </a:r>
                      <a:endParaRPr lang="en-US" altLang="ko-KR" sz="1200" b="0" kern="0" spc="-100" dirty="0">
                        <a:effectLst/>
                      </a:endParaRPr>
                    </a:p>
                    <a:p>
                      <a:pPr marL="0" marR="0" indent="0" algn="ctr" fontAlgn="base" latinLnBrk="0">
                        <a:lnSpc>
                          <a:spcPct val="100000"/>
                        </a:lnSpc>
                        <a:spcBef>
                          <a:spcPts val="0"/>
                        </a:spcBef>
                        <a:spcAft>
                          <a:spcPts val="0"/>
                        </a:spcAft>
                      </a:pPr>
                      <a:r>
                        <a:rPr lang="ko-KR" altLang="en-US" sz="1200" b="0" kern="0" spc="-100" dirty="0">
                          <a:effectLst/>
                        </a:rPr>
                        <a:t>대상</a:t>
                      </a:r>
                      <a:r>
                        <a:rPr lang="en-US" altLang="ko-KR" sz="1200" b="0" kern="0" spc="-100" dirty="0">
                          <a:effectLst/>
                        </a:rPr>
                        <a:t>1</a:t>
                      </a:r>
                      <a:endParaRPr lang="ko-KR" altLang="en-US" sz="1200" b="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b="0" kern="0" spc="-100" dirty="0">
                          <a:effectLst/>
                        </a:rPr>
                        <a:t>인용</a:t>
                      </a:r>
                      <a:endParaRPr lang="en-US" altLang="ko-KR" sz="1200" b="0" kern="0" spc="-100" dirty="0">
                        <a:effectLst/>
                      </a:endParaRPr>
                    </a:p>
                    <a:p>
                      <a:pPr marL="0" marR="0" indent="0" algn="ctr" fontAlgn="base" latinLnBrk="0">
                        <a:lnSpc>
                          <a:spcPct val="100000"/>
                        </a:lnSpc>
                        <a:spcBef>
                          <a:spcPts val="0"/>
                        </a:spcBef>
                        <a:spcAft>
                          <a:spcPts val="0"/>
                        </a:spcAft>
                      </a:pPr>
                      <a:r>
                        <a:rPr lang="ko-KR" altLang="en-US" sz="1200" b="0" kern="0" spc="-100" dirty="0">
                          <a:effectLst/>
                        </a:rPr>
                        <a:t>대상</a:t>
                      </a:r>
                      <a:r>
                        <a:rPr lang="en-US" altLang="ko-KR" sz="1200" b="0" kern="0" spc="-100" dirty="0">
                          <a:effectLst/>
                        </a:rPr>
                        <a:t>2</a:t>
                      </a:r>
                      <a:endParaRPr lang="ko-KR" altLang="en-US" sz="1200" b="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b="0" kern="0" spc="-100" dirty="0">
                          <a:effectLst/>
                        </a:rPr>
                        <a:t>인용</a:t>
                      </a:r>
                      <a:endParaRPr lang="en-US" altLang="ko-KR" sz="1200" b="0" kern="0" spc="-100" dirty="0">
                        <a:effectLst/>
                      </a:endParaRPr>
                    </a:p>
                    <a:p>
                      <a:pPr marL="0" marR="0" indent="0" algn="ctr" fontAlgn="base" latinLnBrk="0">
                        <a:lnSpc>
                          <a:spcPct val="100000"/>
                        </a:lnSpc>
                        <a:spcBef>
                          <a:spcPts val="0"/>
                        </a:spcBef>
                        <a:spcAft>
                          <a:spcPts val="0"/>
                        </a:spcAft>
                      </a:pPr>
                      <a:r>
                        <a:rPr lang="ko-KR" altLang="en-US" sz="1200" b="0" kern="0" spc="-100" dirty="0">
                          <a:effectLst/>
                        </a:rPr>
                        <a:t>대상</a:t>
                      </a:r>
                      <a:r>
                        <a:rPr lang="en-US" altLang="ko-KR" sz="1200" b="0" kern="0" spc="-100" dirty="0">
                          <a:effectLst/>
                        </a:rPr>
                        <a:t>3</a:t>
                      </a:r>
                      <a:endParaRPr lang="ko-KR" altLang="en-US" sz="1200" b="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b="0" kern="0" spc="-100" dirty="0">
                          <a:effectLst/>
                        </a:rPr>
                        <a:t>조합</a:t>
                      </a:r>
                      <a:endParaRPr lang="en-US" altLang="ko-KR" sz="1200" b="0" kern="0" spc="-100" dirty="0">
                        <a:effectLst/>
                      </a:endParaRPr>
                    </a:p>
                    <a:p>
                      <a:pPr marL="0" marR="0" indent="0" algn="ctr" fontAlgn="base" latinLnBrk="0">
                        <a:lnSpc>
                          <a:spcPct val="100000"/>
                        </a:lnSpc>
                        <a:spcBef>
                          <a:spcPts val="0"/>
                        </a:spcBef>
                        <a:spcAft>
                          <a:spcPts val="0"/>
                        </a:spcAft>
                      </a:pPr>
                      <a:r>
                        <a:rPr lang="en-US" altLang="ko-KR" sz="1200" b="0" kern="0" spc="-100" dirty="0">
                          <a:effectLst/>
                        </a:rPr>
                        <a:t>(</a:t>
                      </a:r>
                      <a:r>
                        <a:rPr lang="en-US" sz="1200" b="0" kern="0" spc="-100" dirty="0">
                          <a:effectLst/>
                        </a:rPr>
                        <a:t>OR)</a:t>
                      </a:r>
                      <a:endParaRPr lang="en-US" sz="1200" b="0" kern="0" spc="-100" dirty="0">
                        <a:solidFill>
                          <a:srgbClr val="000000"/>
                        </a:solidFill>
                        <a:effectLst/>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10000"/>
                  </a:ext>
                </a:extLst>
              </a:tr>
              <a:tr h="0">
                <a:tc>
                  <a:txBody>
                    <a:bodyPr/>
                    <a:lstStyle/>
                    <a:p>
                      <a:pPr marL="0" marR="0" indent="0" algn="ctr" fontAlgn="base" latinLnBrk="0">
                        <a:lnSpc>
                          <a:spcPct val="100000"/>
                        </a:lnSpc>
                        <a:spcBef>
                          <a:spcPts val="0"/>
                        </a:spcBef>
                        <a:spcAft>
                          <a:spcPts val="0"/>
                        </a:spcAft>
                      </a:pPr>
                      <a:r>
                        <a:rPr lang="en-US" sz="1200" b="0" kern="0" spc="-100">
                          <a:effectLst/>
                        </a:rPr>
                        <a:t>A</a:t>
                      </a:r>
                      <a:endParaRPr lang="en-US" sz="1200" b="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b="0" kern="0" spc="-100">
                          <a:effectLst/>
                        </a:rPr>
                        <a:t>○</a:t>
                      </a:r>
                      <a:endParaRPr lang="ko-KR" altLang="en-US" sz="1200" b="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b="0" kern="0" spc="-100">
                          <a:effectLst/>
                        </a:rPr>
                        <a:t>×</a:t>
                      </a:r>
                      <a:endParaRPr lang="en-US" sz="1200" b="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b="0" kern="0" spc="-100">
                          <a:effectLst/>
                        </a:rPr>
                        <a:t>○</a:t>
                      </a:r>
                      <a:endParaRPr lang="ko-KR" altLang="en-US" sz="1200" b="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b="0" kern="0" spc="-100">
                          <a:effectLst/>
                        </a:rPr>
                        <a:t>○</a:t>
                      </a:r>
                      <a:endParaRPr lang="ko-KR" altLang="en-US" sz="1200" b="0" kern="0" spc="-100">
                        <a:solidFill>
                          <a:srgbClr val="000000"/>
                        </a:solidFill>
                        <a:effectLst/>
                      </a:endParaRPr>
                    </a:p>
                  </a:txBody>
                  <a:tcPr marL="64770" marR="64770" marT="17907" marB="17907" anchor="ctr"/>
                </a:tc>
                <a:extLst>
                  <a:ext uri="{0D108BD9-81ED-4DB2-BD59-A6C34878D82A}">
                    <a16:rowId xmlns:a16="http://schemas.microsoft.com/office/drawing/2014/main" val="10001"/>
                  </a:ext>
                </a:extLst>
              </a:tr>
              <a:tr h="0">
                <a:tc>
                  <a:txBody>
                    <a:bodyPr/>
                    <a:lstStyle/>
                    <a:p>
                      <a:pPr marL="0" marR="0" indent="0" algn="ctr" fontAlgn="base" latinLnBrk="0">
                        <a:lnSpc>
                          <a:spcPct val="100000"/>
                        </a:lnSpc>
                        <a:spcBef>
                          <a:spcPts val="0"/>
                        </a:spcBef>
                        <a:spcAft>
                          <a:spcPts val="0"/>
                        </a:spcAft>
                      </a:pPr>
                      <a:r>
                        <a:rPr lang="en-US" sz="1200" b="0" kern="0" spc="-100">
                          <a:effectLst/>
                        </a:rPr>
                        <a:t>B</a:t>
                      </a:r>
                      <a:endParaRPr lang="en-US" sz="1200" b="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b="0" kern="0" spc="-100">
                          <a:effectLst/>
                        </a:rPr>
                        <a:t>○</a:t>
                      </a:r>
                      <a:endParaRPr lang="ko-KR" altLang="en-US" sz="1200" b="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b="0" kern="0" spc="-100">
                          <a:effectLst/>
                        </a:rPr>
                        <a:t>○</a:t>
                      </a:r>
                      <a:endParaRPr lang="ko-KR" altLang="en-US" sz="1200" b="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b="0" kern="0" spc="-100">
                          <a:effectLst/>
                        </a:rPr>
                        <a:t>×</a:t>
                      </a:r>
                      <a:endParaRPr lang="en-US" sz="1200" b="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b="0" kern="0" spc="-100">
                          <a:effectLst/>
                        </a:rPr>
                        <a:t>○</a:t>
                      </a:r>
                      <a:endParaRPr lang="ko-KR" altLang="en-US" sz="1200" b="0" kern="0" spc="-100">
                        <a:solidFill>
                          <a:srgbClr val="000000"/>
                        </a:solidFill>
                        <a:effectLst/>
                      </a:endParaRPr>
                    </a:p>
                  </a:txBody>
                  <a:tcPr marL="64770" marR="64770" marT="17907" marB="17907" anchor="ctr"/>
                </a:tc>
                <a:extLst>
                  <a:ext uri="{0D108BD9-81ED-4DB2-BD59-A6C34878D82A}">
                    <a16:rowId xmlns:a16="http://schemas.microsoft.com/office/drawing/2014/main" val="10002"/>
                  </a:ext>
                </a:extLst>
              </a:tr>
              <a:tr h="0">
                <a:tc>
                  <a:txBody>
                    <a:bodyPr/>
                    <a:lstStyle/>
                    <a:p>
                      <a:pPr marL="0" marR="0" indent="0" algn="ctr" fontAlgn="base" latinLnBrk="0">
                        <a:lnSpc>
                          <a:spcPct val="100000"/>
                        </a:lnSpc>
                        <a:spcBef>
                          <a:spcPts val="0"/>
                        </a:spcBef>
                        <a:spcAft>
                          <a:spcPts val="0"/>
                        </a:spcAft>
                      </a:pPr>
                      <a:r>
                        <a:rPr lang="en-US" sz="1200" b="0" kern="0" spc="-100" dirty="0">
                          <a:effectLst/>
                        </a:rPr>
                        <a:t>C</a:t>
                      </a:r>
                      <a:endParaRPr lang="en-US" sz="1200" b="0" kern="0" spc="-100" dirty="0">
                        <a:solidFill>
                          <a:srgbClr val="000000"/>
                        </a:solidFill>
                        <a:effectLst/>
                      </a:endParaRPr>
                    </a:p>
                  </a:txBody>
                  <a:tcPr marL="64770" marR="64770" marT="17907" marB="17907" anchor="ctr">
                    <a:solidFill>
                      <a:schemeClr val="accent4">
                        <a:lumMod val="40000"/>
                        <a:lumOff val="60000"/>
                      </a:schemeClr>
                    </a:solidFill>
                  </a:tcPr>
                </a:tc>
                <a:tc>
                  <a:txBody>
                    <a:bodyPr/>
                    <a:lstStyle/>
                    <a:p>
                      <a:pPr marL="0" marR="0" indent="0" algn="ctr" fontAlgn="base" latinLnBrk="0">
                        <a:lnSpc>
                          <a:spcPct val="100000"/>
                        </a:lnSpc>
                        <a:spcBef>
                          <a:spcPts val="0"/>
                        </a:spcBef>
                        <a:spcAft>
                          <a:spcPts val="0"/>
                        </a:spcAft>
                      </a:pPr>
                      <a:r>
                        <a:rPr lang="en-US" sz="1200" b="0" kern="0" spc="-100" dirty="0">
                          <a:effectLst/>
                        </a:rPr>
                        <a:t>×</a:t>
                      </a:r>
                      <a:endParaRPr lang="en-US" sz="1200" b="0" kern="0" spc="-100" dirty="0">
                        <a:solidFill>
                          <a:srgbClr val="000000"/>
                        </a:solidFill>
                        <a:effectLst/>
                      </a:endParaRPr>
                    </a:p>
                  </a:txBody>
                  <a:tcPr marL="64770" marR="64770" marT="17907" marB="17907" anchor="ctr">
                    <a:solidFill>
                      <a:schemeClr val="accent4">
                        <a:lumMod val="40000"/>
                        <a:lumOff val="60000"/>
                      </a:schemeClr>
                    </a:solidFill>
                  </a:tcPr>
                </a:tc>
                <a:tc>
                  <a:txBody>
                    <a:bodyPr/>
                    <a:lstStyle/>
                    <a:p>
                      <a:pPr marL="0" marR="0" indent="0" algn="ctr" fontAlgn="base" latinLnBrk="0">
                        <a:lnSpc>
                          <a:spcPct val="100000"/>
                        </a:lnSpc>
                        <a:spcBef>
                          <a:spcPts val="0"/>
                        </a:spcBef>
                        <a:spcAft>
                          <a:spcPts val="0"/>
                        </a:spcAft>
                      </a:pPr>
                      <a:r>
                        <a:rPr lang="en-US" sz="1200" b="0" kern="0" spc="-100" dirty="0">
                          <a:effectLst/>
                        </a:rPr>
                        <a:t>×</a:t>
                      </a:r>
                      <a:endParaRPr lang="en-US" sz="1200" b="0" kern="0" spc="-100" dirty="0">
                        <a:solidFill>
                          <a:srgbClr val="000000"/>
                        </a:solidFill>
                        <a:effectLst/>
                      </a:endParaRPr>
                    </a:p>
                  </a:txBody>
                  <a:tcPr marL="64770" marR="64770" marT="17907" marB="17907" anchor="ctr">
                    <a:solidFill>
                      <a:schemeClr val="accent4">
                        <a:lumMod val="40000"/>
                        <a:lumOff val="60000"/>
                      </a:schemeClr>
                    </a:solidFill>
                  </a:tcPr>
                </a:tc>
                <a:tc>
                  <a:txBody>
                    <a:bodyPr/>
                    <a:lstStyle/>
                    <a:p>
                      <a:pPr marL="0" marR="0" indent="0" algn="ctr" fontAlgn="base" latinLnBrk="0">
                        <a:lnSpc>
                          <a:spcPct val="100000"/>
                        </a:lnSpc>
                        <a:spcBef>
                          <a:spcPts val="0"/>
                        </a:spcBef>
                        <a:spcAft>
                          <a:spcPts val="0"/>
                        </a:spcAft>
                      </a:pPr>
                      <a:r>
                        <a:rPr lang="en-US" sz="1200" b="0" kern="0" spc="-100" dirty="0">
                          <a:effectLst/>
                        </a:rPr>
                        <a:t>×</a:t>
                      </a:r>
                      <a:endParaRPr lang="en-US" sz="1200" b="0" kern="0" spc="-100" dirty="0">
                        <a:solidFill>
                          <a:srgbClr val="000000"/>
                        </a:solidFill>
                        <a:effectLst/>
                      </a:endParaRPr>
                    </a:p>
                  </a:txBody>
                  <a:tcPr marL="64770" marR="64770" marT="17907" marB="17907" anchor="ctr">
                    <a:solidFill>
                      <a:schemeClr val="accent4">
                        <a:lumMod val="40000"/>
                        <a:lumOff val="60000"/>
                      </a:schemeClr>
                    </a:solidFill>
                  </a:tcPr>
                </a:tc>
                <a:tc>
                  <a:txBody>
                    <a:bodyPr/>
                    <a:lstStyle/>
                    <a:p>
                      <a:pPr marL="0" marR="0" indent="0" algn="ctr" fontAlgn="base" latinLnBrk="0">
                        <a:lnSpc>
                          <a:spcPct val="100000"/>
                        </a:lnSpc>
                        <a:spcBef>
                          <a:spcPts val="0"/>
                        </a:spcBef>
                        <a:spcAft>
                          <a:spcPts val="0"/>
                        </a:spcAft>
                      </a:pPr>
                      <a:r>
                        <a:rPr lang="en-US" sz="1200" b="0" kern="0" spc="-100" dirty="0">
                          <a:effectLst/>
                        </a:rPr>
                        <a:t>×</a:t>
                      </a:r>
                      <a:endParaRPr lang="en-US" sz="1200" b="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3"/>
                  </a:ext>
                </a:extLst>
              </a:tr>
              <a:tr h="0">
                <a:tc>
                  <a:txBody>
                    <a:bodyPr/>
                    <a:lstStyle/>
                    <a:p>
                      <a:pPr marL="0" marR="0" indent="0" algn="ctr" fontAlgn="base" latinLnBrk="0">
                        <a:lnSpc>
                          <a:spcPct val="100000"/>
                        </a:lnSpc>
                        <a:spcBef>
                          <a:spcPts val="0"/>
                        </a:spcBef>
                        <a:spcAft>
                          <a:spcPts val="0"/>
                        </a:spcAft>
                      </a:pPr>
                      <a:r>
                        <a:rPr lang="en-US" sz="1200" b="0" kern="0" spc="-100">
                          <a:effectLst/>
                        </a:rPr>
                        <a:t>D</a:t>
                      </a:r>
                      <a:endParaRPr lang="en-US" sz="1200" b="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b="0" kern="0" spc="-100" dirty="0">
                          <a:effectLst/>
                        </a:rPr>
                        <a:t>×</a:t>
                      </a:r>
                      <a:endParaRPr lang="en-US" sz="1200" b="0" kern="0" spc="-100" dirty="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b="0" kern="0" spc="-100" dirty="0">
                          <a:effectLst/>
                        </a:rPr>
                        <a:t>○</a:t>
                      </a:r>
                      <a:endParaRPr lang="ko-KR" altLang="en-US" sz="1200" b="0" kern="0" spc="-100" dirty="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b="0" kern="0" spc="-100" dirty="0">
                          <a:effectLst/>
                        </a:rPr>
                        <a:t>×</a:t>
                      </a:r>
                      <a:endParaRPr lang="en-US" sz="1200" b="0" kern="0" spc="-100" dirty="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b="0" kern="0" spc="-100" dirty="0">
                          <a:effectLst/>
                        </a:rPr>
                        <a:t>○</a:t>
                      </a:r>
                      <a:endParaRPr lang="ko-KR" altLang="en-US" sz="1200" b="0" kern="0" spc="-100" dirty="0">
                        <a:solidFill>
                          <a:srgbClr val="000000"/>
                        </a:solidFill>
                        <a:effectLst/>
                      </a:endParaRPr>
                    </a:p>
                  </a:txBody>
                  <a:tcPr marL="64770" marR="64770" marT="17907" marB="17907" anchor="ctr"/>
                </a:tc>
                <a:extLst>
                  <a:ext uri="{0D108BD9-81ED-4DB2-BD59-A6C34878D82A}">
                    <a16:rowId xmlns:a16="http://schemas.microsoft.com/office/drawing/2014/main" val="10004"/>
                  </a:ext>
                </a:extLst>
              </a:tr>
              <a:tr h="1312003">
                <a:tc>
                  <a:txBody>
                    <a:bodyPr/>
                    <a:lstStyle/>
                    <a:p>
                      <a:pPr marL="0" marR="0" indent="0" algn="ctr" fontAlgn="base" latinLnBrk="0">
                        <a:lnSpc>
                          <a:spcPct val="100000"/>
                        </a:lnSpc>
                        <a:spcBef>
                          <a:spcPts val="0"/>
                        </a:spcBef>
                        <a:spcAft>
                          <a:spcPts val="0"/>
                        </a:spcAft>
                      </a:pPr>
                      <a:r>
                        <a:rPr lang="ko-KR" altLang="en-US" sz="1200" b="0" kern="0" spc="-100" dirty="0">
                          <a:effectLst/>
                        </a:rPr>
                        <a:t>설명</a:t>
                      </a:r>
                      <a:endParaRPr lang="ko-KR" altLang="en-US" sz="1200" b="0" kern="0" spc="-100" dirty="0">
                        <a:solidFill>
                          <a:srgbClr val="000000"/>
                        </a:solidFill>
                        <a:effectLst/>
                      </a:endParaRPr>
                    </a:p>
                  </a:txBody>
                  <a:tcPr marL="64770" marR="64770" marT="17907" marB="17907" anchor="ctr"/>
                </a:tc>
                <a:tc gridSpan="4">
                  <a:txBody>
                    <a:bodyPr/>
                    <a:lstStyle/>
                    <a:p>
                      <a:pPr marL="85725" marR="17780" lvl="0" indent="-85725" algn="just" fontAlgn="base" latinLnBrk="1">
                        <a:lnSpc>
                          <a:spcPct val="100000"/>
                        </a:lnSpc>
                        <a:spcBef>
                          <a:spcPts val="0"/>
                        </a:spcBef>
                        <a:spcAft>
                          <a:spcPts val="0"/>
                        </a:spcAft>
                        <a:buFont typeface="Wingdings"/>
                        <a:buNone/>
                      </a:pPr>
                      <a:r>
                        <a:rPr lang="en-US" altLang="ko-KR" sz="1200" b="0" kern="0" spc="-50" dirty="0">
                          <a:effectLst/>
                        </a:rPr>
                        <a:t>- </a:t>
                      </a:r>
                      <a:r>
                        <a:rPr lang="ko-KR" altLang="en-US" sz="1200" b="0" kern="0" spc="-50" dirty="0">
                          <a:effectLst/>
                        </a:rPr>
                        <a:t>인용대상 </a:t>
                      </a:r>
                      <a:r>
                        <a:rPr lang="en-US" altLang="ko-KR" sz="1200" b="0" kern="0" spc="-50" dirty="0">
                          <a:effectLst/>
                        </a:rPr>
                        <a:t>1 </a:t>
                      </a:r>
                      <a:r>
                        <a:rPr lang="ko-KR" altLang="en-US" sz="1200" b="0" kern="0" spc="-50" dirty="0">
                          <a:effectLst/>
                        </a:rPr>
                        <a:t>내지 </a:t>
                      </a:r>
                      <a:r>
                        <a:rPr lang="en-US" altLang="ko-KR" sz="1200" b="0" kern="0" spc="-50" dirty="0">
                          <a:effectLst/>
                        </a:rPr>
                        <a:t>3 </a:t>
                      </a:r>
                      <a:r>
                        <a:rPr lang="ko-KR" altLang="en-US" sz="1200" b="0" kern="0" spc="-50" dirty="0">
                          <a:effectLst/>
                        </a:rPr>
                        <a:t>각각에 출원발명의 구성요소가 모두 포함되어 있지 않기 때문에 동일성이 없음</a:t>
                      </a:r>
                    </a:p>
                    <a:p>
                      <a:pPr marL="85725" marR="17780" lvl="0" indent="-85725" algn="just" fontAlgn="base" latinLnBrk="1">
                        <a:lnSpc>
                          <a:spcPct val="100000"/>
                        </a:lnSpc>
                        <a:spcBef>
                          <a:spcPts val="0"/>
                        </a:spcBef>
                        <a:spcAft>
                          <a:spcPts val="0"/>
                        </a:spcAft>
                        <a:buFont typeface="Wingdings"/>
                        <a:buNone/>
                      </a:pPr>
                      <a:r>
                        <a:rPr lang="en-US" altLang="ko-KR" sz="1200" b="0" kern="0" spc="-50" dirty="0">
                          <a:effectLst/>
                        </a:rPr>
                        <a:t>- </a:t>
                      </a:r>
                      <a:r>
                        <a:rPr lang="ko-KR" altLang="en-US" sz="1200" b="0" kern="0" spc="-50" dirty="0">
                          <a:effectLst/>
                        </a:rPr>
                        <a:t>인용대상 </a:t>
                      </a:r>
                      <a:r>
                        <a:rPr lang="en-US" altLang="ko-KR" sz="1200" b="0" kern="0" spc="-50" dirty="0">
                          <a:effectLst/>
                        </a:rPr>
                        <a:t>1 </a:t>
                      </a:r>
                      <a:r>
                        <a:rPr lang="ko-KR" altLang="en-US" sz="1200" b="0" kern="0" spc="-50" dirty="0">
                          <a:effectLst/>
                        </a:rPr>
                        <a:t>내지 </a:t>
                      </a:r>
                      <a:r>
                        <a:rPr lang="en-US" altLang="ko-KR" sz="1200" b="0" kern="0" spc="-50" dirty="0">
                          <a:effectLst/>
                        </a:rPr>
                        <a:t>3</a:t>
                      </a:r>
                      <a:r>
                        <a:rPr lang="ko-KR" altLang="en-US" sz="1200" b="0" kern="0" spc="-50" dirty="0">
                          <a:effectLst/>
                        </a:rPr>
                        <a:t>을 조합하더라도 출원발명의 구성요소가 모두 포함되어 있지 않기 때문에 용이성이 없음</a:t>
                      </a:r>
                      <a:endParaRPr lang="ko-KR" altLang="en-US" sz="1200" b="0" kern="0" spc="-50" dirty="0">
                        <a:solidFill>
                          <a:srgbClr val="000000"/>
                        </a:solidFill>
                        <a:effectLst/>
                      </a:endParaRPr>
                    </a:p>
                  </a:txBody>
                  <a:tcPr marL="64770" marR="64770" marT="17907" marB="17907"/>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5"/>
                  </a:ext>
                </a:extLst>
              </a:tr>
            </a:tbl>
          </a:graphicData>
        </a:graphic>
      </p:graphicFrame>
      <p:graphicFrame>
        <p:nvGraphicFramePr>
          <p:cNvPr id="7" name="표 6"/>
          <p:cNvGraphicFramePr>
            <a:graphicFrameLocks noGrp="1"/>
          </p:cNvGraphicFramePr>
          <p:nvPr/>
        </p:nvGraphicFramePr>
        <p:xfrm>
          <a:off x="332405" y="4143375"/>
          <a:ext cx="4320540" cy="2409825"/>
        </p:xfrm>
        <a:graphic>
          <a:graphicData uri="http://schemas.openxmlformats.org/drawingml/2006/table">
            <a:tbl>
              <a:tblPr>
                <a:tableStyleId>{8799B23B-EC83-4686-B30A-512413B5E67A}</a:tableStyleId>
              </a:tblPr>
              <a:tblGrid>
                <a:gridCol w="864108">
                  <a:extLst>
                    <a:ext uri="{9D8B030D-6E8A-4147-A177-3AD203B41FA5}">
                      <a16:colId xmlns:a16="http://schemas.microsoft.com/office/drawing/2014/main" val="20000"/>
                    </a:ext>
                  </a:extLst>
                </a:gridCol>
                <a:gridCol w="864108">
                  <a:extLst>
                    <a:ext uri="{9D8B030D-6E8A-4147-A177-3AD203B41FA5}">
                      <a16:colId xmlns:a16="http://schemas.microsoft.com/office/drawing/2014/main" val="20001"/>
                    </a:ext>
                  </a:extLst>
                </a:gridCol>
                <a:gridCol w="864108">
                  <a:extLst>
                    <a:ext uri="{9D8B030D-6E8A-4147-A177-3AD203B41FA5}">
                      <a16:colId xmlns:a16="http://schemas.microsoft.com/office/drawing/2014/main" val="20002"/>
                    </a:ext>
                  </a:extLst>
                </a:gridCol>
                <a:gridCol w="864108">
                  <a:extLst>
                    <a:ext uri="{9D8B030D-6E8A-4147-A177-3AD203B41FA5}">
                      <a16:colId xmlns:a16="http://schemas.microsoft.com/office/drawing/2014/main" val="20003"/>
                    </a:ext>
                  </a:extLst>
                </a:gridCol>
                <a:gridCol w="864108">
                  <a:extLst>
                    <a:ext uri="{9D8B030D-6E8A-4147-A177-3AD203B41FA5}">
                      <a16:colId xmlns:a16="http://schemas.microsoft.com/office/drawing/2014/main" val="20004"/>
                    </a:ext>
                  </a:extLst>
                </a:gridCol>
              </a:tblGrid>
              <a:tr h="190697">
                <a:tc>
                  <a:txBody>
                    <a:bodyPr/>
                    <a:lstStyle/>
                    <a:p>
                      <a:pPr marL="0" marR="0" indent="0" algn="ctr" fontAlgn="base" latinLnBrk="0">
                        <a:lnSpc>
                          <a:spcPct val="100000"/>
                        </a:lnSpc>
                        <a:spcBef>
                          <a:spcPts val="0"/>
                        </a:spcBef>
                        <a:spcAft>
                          <a:spcPts val="0"/>
                        </a:spcAft>
                      </a:pPr>
                      <a:r>
                        <a:rPr lang="ko-KR" altLang="en-US" sz="1200" kern="0" spc="-100" dirty="0">
                          <a:effectLst/>
                        </a:rPr>
                        <a:t>출원</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발명</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인용</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대상</a:t>
                      </a:r>
                      <a:r>
                        <a:rPr lang="en-US" altLang="ko-KR" sz="1200" kern="0" spc="-100" dirty="0">
                          <a:effectLst/>
                        </a:rPr>
                        <a:t>1</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인용</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대상</a:t>
                      </a:r>
                      <a:r>
                        <a:rPr lang="en-US" altLang="ko-KR" sz="1200" kern="0" spc="-100" dirty="0">
                          <a:effectLst/>
                        </a:rPr>
                        <a:t>2</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인용</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대상</a:t>
                      </a:r>
                      <a:r>
                        <a:rPr lang="en-US" altLang="ko-KR" sz="1200" kern="0" spc="-100" dirty="0">
                          <a:effectLst/>
                        </a:rPr>
                        <a:t>3</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조합</a:t>
                      </a:r>
                      <a:endParaRPr lang="en-US" altLang="ko-KR" sz="1200" kern="0" spc="-100" dirty="0">
                        <a:effectLst/>
                      </a:endParaRPr>
                    </a:p>
                    <a:p>
                      <a:pPr marL="0" marR="0" indent="0" algn="ctr" fontAlgn="base" latinLnBrk="0">
                        <a:lnSpc>
                          <a:spcPct val="100000"/>
                        </a:lnSpc>
                        <a:spcBef>
                          <a:spcPts val="0"/>
                        </a:spcBef>
                        <a:spcAft>
                          <a:spcPts val="0"/>
                        </a:spcAft>
                      </a:pPr>
                      <a:r>
                        <a:rPr lang="en-US" altLang="ko-KR" sz="1200" kern="0" spc="-100" dirty="0">
                          <a:effectLst/>
                        </a:rPr>
                        <a:t>(</a:t>
                      </a:r>
                      <a:r>
                        <a:rPr lang="en-US" sz="1200" kern="0" spc="-100" dirty="0">
                          <a:effectLst/>
                        </a:rPr>
                        <a:t>OR)</a:t>
                      </a:r>
                      <a:endParaRPr lang="en-US" sz="1200" kern="0" spc="-100" dirty="0">
                        <a:solidFill>
                          <a:srgbClr val="000000"/>
                        </a:solidFill>
                        <a:effectLst/>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10000"/>
                  </a:ext>
                </a:extLst>
              </a:tr>
              <a:tr h="173355">
                <a:tc>
                  <a:txBody>
                    <a:bodyPr/>
                    <a:lstStyle/>
                    <a:p>
                      <a:pPr marL="0" marR="0" indent="0" algn="ctr" fontAlgn="base" latinLnBrk="0">
                        <a:lnSpc>
                          <a:spcPct val="100000"/>
                        </a:lnSpc>
                        <a:spcBef>
                          <a:spcPts val="0"/>
                        </a:spcBef>
                        <a:spcAft>
                          <a:spcPts val="0"/>
                        </a:spcAft>
                      </a:pPr>
                      <a:r>
                        <a:rPr lang="en-US" sz="1200" kern="0" spc="-100">
                          <a:effectLst/>
                        </a:rPr>
                        <a:t>A</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1"/>
                  </a:ext>
                </a:extLst>
              </a:tr>
              <a:tr h="173355">
                <a:tc>
                  <a:txBody>
                    <a:bodyPr/>
                    <a:lstStyle/>
                    <a:p>
                      <a:pPr marL="0" marR="0" indent="0" algn="ctr" fontAlgn="base" latinLnBrk="0">
                        <a:lnSpc>
                          <a:spcPct val="100000"/>
                        </a:lnSpc>
                        <a:spcBef>
                          <a:spcPts val="0"/>
                        </a:spcBef>
                        <a:spcAft>
                          <a:spcPts val="0"/>
                        </a:spcAft>
                      </a:pPr>
                      <a:r>
                        <a:rPr lang="en-US" sz="1200" kern="0" spc="-100">
                          <a:effectLst/>
                        </a:rPr>
                        <a:t>B</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2"/>
                  </a:ext>
                </a:extLst>
              </a:tr>
              <a:tr h="173355">
                <a:tc>
                  <a:txBody>
                    <a:bodyPr/>
                    <a:lstStyle/>
                    <a:p>
                      <a:pPr marL="0" marR="0" indent="0" algn="ctr" fontAlgn="base" latinLnBrk="0">
                        <a:lnSpc>
                          <a:spcPct val="100000"/>
                        </a:lnSpc>
                        <a:spcBef>
                          <a:spcPts val="0"/>
                        </a:spcBef>
                        <a:spcAft>
                          <a:spcPts val="0"/>
                        </a:spcAft>
                      </a:pPr>
                      <a:r>
                        <a:rPr lang="en-US" sz="1200" kern="0" spc="-100">
                          <a:effectLst/>
                        </a:rPr>
                        <a:t>C</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△(C1)</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3"/>
                  </a:ext>
                </a:extLst>
              </a:tr>
              <a:tr h="173355">
                <a:tc>
                  <a:txBody>
                    <a:bodyPr/>
                    <a:lstStyle/>
                    <a:p>
                      <a:pPr marL="0" marR="0" indent="0" algn="ctr" fontAlgn="base" latinLnBrk="0">
                        <a:lnSpc>
                          <a:spcPct val="100000"/>
                        </a:lnSpc>
                        <a:spcBef>
                          <a:spcPts val="0"/>
                        </a:spcBef>
                        <a:spcAft>
                          <a:spcPts val="0"/>
                        </a:spcAft>
                      </a:pPr>
                      <a:r>
                        <a:rPr lang="en-US" sz="1200" kern="0" spc="-100">
                          <a:effectLst/>
                        </a:rPr>
                        <a:t>D</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4"/>
                  </a:ext>
                </a:extLst>
              </a:tr>
              <a:tr h="1133475">
                <a:tc>
                  <a:txBody>
                    <a:bodyPr/>
                    <a:lstStyle/>
                    <a:p>
                      <a:pPr marL="0" marR="0" indent="0" algn="ctr" fontAlgn="base" latinLnBrk="0">
                        <a:lnSpc>
                          <a:spcPct val="100000"/>
                        </a:lnSpc>
                        <a:spcBef>
                          <a:spcPts val="0"/>
                        </a:spcBef>
                        <a:spcAft>
                          <a:spcPts val="0"/>
                        </a:spcAft>
                      </a:pPr>
                      <a:r>
                        <a:rPr lang="ko-KR" altLang="en-US" sz="1200" kern="0" spc="-100">
                          <a:effectLst/>
                        </a:rPr>
                        <a:t>설명</a:t>
                      </a:r>
                      <a:endParaRPr lang="ko-KR" altLang="en-US" sz="1200" b="1" kern="0" spc="-100">
                        <a:solidFill>
                          <a:srgbClr val="000000"/>
                        </a:solidFill>
                        <a:effectLst/>
                      </a:endParaRPr>
                    </a:p>
                  </a:txBody>
                  <a:tcPr marL="64770" marR="64770" marT="17907" marB="17907" anchor="ctr"/>
                </a:tc>
                <a:tc gridSpan="4">
                  <a:txBody>
                    <a:bodyPr/>
                    <a:lstStyle/>
                    <a:p>
                      <a:pPr marL="85725" marR="17780" lvl="0" indent="-85725" algn="just" fontAlgn="base" latinLnBrk="1">
                        <a:lnSpc>
                          <a:spcPct val="100000"/>
                        </a:lnSpc>
                        <a:spcBef>
                          <a:spcPts val="0"/>
                        </a:spcBef>
                        <a:spcAft>
                          <a:spcPts val="0"/>
                        </a:spcAft>
                        <a:buFont typeface="Wingdings"/>
                        <a:buNone/>
                      </a:pPr>
                      <a:r>
                        <a:rPr lang="en-US" altLang="ko-KR" sz="1200" kern="0" spc="-50" dirty="0">
                          <a:effectLst/>
                        </a:rPr>
                        <a:t>- C1</a:t>
                      </a:r>
                      <a:r>
                        <a:rPr lang="ko-KR" altLang="en-US" sz="1200" kern="0" spc="-50" dirty="0">
                          <a:effectLst/>
                        </a:rPr>
                        <a:t>에서 </a:t>
                      </a:r>
                      <a:r>
                        <a:rPr lang="en-US" altLang="ko-KR" sz="1200" kern="0" spc="-50" dirty="0">
                          <a:effectLst/>
                        </a:rPr>
                        <a:t>C</a:t>
                      </a:r>
                      <a:r>
                        <a:rPr lang="ko-KR" altLang="en-US" sz="1200" kern="0" spc="-50" dirty="0">
                          <a:effectLst/>
                        </a:rPr>
                        <a:t>를 도출하는 것에 대한 곤란성이 없고 효과의 </a:t>
                      </a:r>
                      <a:r>
                        <a:rPr lang="ko-KR" altLang="en-US" sz="1200" kern="0" spc="-50" dirty="0" err="1">
                          <a:effectLst/>
                        </a:rPr>
                        <a:t>현저성이</a:t>
                      </a:r>
                      <a:r>
                        <a:rPr lang="ko-KR" altLang="en-US" sz="1200" kern="0" spc="-50" dirty="0">
                          <a:effectLst/>
                        </a:rPr>
                        <a:t> 없다면 용이함</a:t>
                      </a:r>
                    </a:p>
                    <a:p>
                      <a:pPr marL="0" marR="17780" lvl="0" indent="0" algn="just" fontAlgn="base" latinLnBrk="1">
                        <a:lnSpc>
                          <a:spcPct val="100000"/>
                        </a:lnSpc>
                        <a:spcBef>
                          <a:spcPts val="0"/>
                        </a:spcBef>
                        <a:spcAft>
                          <a:spcPts val="0"/>
                        </a:spcAft>
                        <a:buFont typeface="Wingdings"/>
                        <a:buNone/>
                      </a:pPr>
                      <a:r>
                        <a:rPr lang="en-US" altLang="ko-KR" sz="1200" kern="0" spc="-50" dirty="0">
                          <a:effectLst/>
                        </a:rPr>
                        <a:t>-</a:t>
                      </a:r>
                      <a:r>
                        <a:rPr lang="en-US" altLang="ko-KR" sz="1200" kern="0" spc="-50" baseline="0" dirty="0">
                          <a:effectLst/>
                        </a:rPr>
                        <a:t>   </a:t>
                      </a:r>
                      <a:r>
                        <a:rPr lang="ko-KR" altLang="en-US" sz="1200" kern="0" spc="-50" baseline="0" dirty="0">
                          <a:effectLst/>
                        </a:rPr>
                        <a:t>그</a:t>
                      </a:r>
                      <a:r>
                        <a:rPr lang="ko-KR" altLang="en-US" sz="1200" kern="0" spc="-50" dirty="0">
                          <a:effectLst/>
                        </a:rPr>
                        <a:t>렇지 아니하면 용이성이 없어서 </a:t>
                      </a:r>
                      <a:r>
                        <a:rPr lang="ko-KR" altLang="en-US" sz="1200" kern="0" spc="-50" dirty="0" err="1">
                          <a:effectLst/>
                        </a:rPr>
                        <a:t>등록가능함</a:t>
                      </a:r>
                      <a:endParaRPr lang="ko-KR" altLang="en-US" sz="1200" kern="0" spc="-50" dirty="0">
                        <a:solidFill>
                          <a:srgbClr val="000000"/>
                        </a:solidFill>
                        <a:effectLst/>
                      </a:endParaRPr>
                    </a:p>
                  </a:txBody>
                  <a:tcPr marL="64770" marR="64770" marT="17907" marB="17907"/>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5"/>
                  </a:ext>
                </a:extLst>
              </a:tr>
            </a:tbl>
          </a:graphicData>
        </a:graphic>
      </p:graphicFrame>
      <p:graphicFrame>
        <p:nvGraphicFramePr>
          <p:cNvPr id="8" name="표 7"/>
          <p:cNvGraphicFramePr>
            <a:graphicFrameLocks noGrp="1"/>
          </p:cNvGraphicFramePr>
          <p:nvPr/>
        </p:nvGraphicFramePr>
        <p:xfrm>
          <a:off x="4775364" y="4142285"/>
          <a:ext cx="5096425" cy="2409444"/>
        </p:xfrm>
        <a:graphic>
          <a:graphicData uri="http://schemas.openxmlformats.org/drawingml/2006/table">
            <a:tbl>
              <a:tblPr>
                <a:tableStyleId>{8799B23B-EC83-4686-B30A-512413B5E67A}</a:tableStyleId>
              </a:tblPr>
              <a:tblGrid>
                <a:gridCol w="1019285">
                  <a:extLst>
                    <a:ext uri="{9D8B030D-6E8A-4147-A177-3AD203B41FA5}">
                      <a16:colId xmlns:a16="http://schemas.microsoft.com/office/drawing/2014/main" val="20000"/>
                    </a:ext>
                  </a:extLst>
                </a:gridCol>
                <a:gridCol w="1019285">
                  <a:extLst>
                    <a:ext uri="{9D8B030D-6E8A-4147-A177-3AD203B41FA5}">
                      <a16:colId xmlns:a16="http://schemas.microsoft.com/office/drawing/2014/main" val="20001"/>
                    </a:ext>
                  </a:extLst>
                </a:gridCol>
                <a:gridCol w="1019285">
                  <a:extLst>
                    <a:ext uri="{9D8B030D-6E8A-4147-A177-3AD203B41FA5}">
                      <a16:colId xmlns:a16="http://schemas.microsoft.com/office/drawing/2014/main" val="20002"/>
                    </a:ext>
                  </a:extLst>
                </a:gridCol>
                <a:gridCol w="1019285">
                  <a:extLst>
                    <a:ext uri="{9D8B030D-6E8A-4147-A177-3AD203B41FA5}">
                      <a16:colId xmlns:a16="http://schemas.microsoft.com/office/drawing/2014/main" val="20003"/>
                    </a:ext>
                  </a:extLst>
                </a:gridCol>
                <a:gridCol w="1019285">
                  <a:extLst>
                    <a:ext uri="{9D8B030D-6E8A-4147-A177-3AD203B41FA5}">
                      <a16:colId xmlns:a16="http://schemas.microsoft.com/office/drawing/2014/main" val="20004"/>
                    </a:ext>
                  </a:extLst>
                </a:gridCol>
              </a:tblGrid>
              <a:tr h="313098">
                <a:tc>
                  <a:txBody>
                    <a:bodyPr/>
                    <a:lstStyle/>
                    <a:p>
                      <a:pPr marL="0" marR="0" indent="0" algn="ctr" fontAlgn="base" latinLnBrk="0">
                        <a:lnSpc>
                          <a:spcPct val="100000"/>
                        </a:lnSpc>
                        <a:spcBef>
                          <a:spcPts val="0"/>
                        </a:spcBef>
                        <a:spcAft>
                          <a:spcPts val="0"/>
                        </a:spcAft>
                      </a:pPr>
                      <a:r>
                        <a:rPr lang="ko-KR" altLang="en-US" sz="1200" kern="0" spc="-100" dirty="0">
                          <a:effectLst/>
                        </a:rPr>
                        <a:t>출원</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발명</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인용</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대상</a:t>
                      </a:r>
                      <a:r>
                        <a:rPr lang="en-US" altLang="ko-KR" sz="1200" kern="0" spc="-100" dirty="0">
                          <a:effectLst/>
                        </a:rPr>
                        <a:t>1</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인용</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대상</a:t>
                      </a:r>
                      <a:r>
                        <a:rPr lang="en-US" altLang="ko-KR" sz="1200" kern="0" spc="-100" dirty="0">
                          <a:effectLst/>
                        </a:rPr>
                        <a:t>2</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인용</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대상</a:t>
                      </a:r>
                      <a:r>
                        <a:rPr lang="en-US" altLang="ko-KR" sz="1200" kern="0" spc="-100" dirty="0">
                          <a:effectLst/>
                        </a:rPr>
                        <a:t>3</a:t>
                      </a:r>
                      <a:endParaRPr lang="ko-KR" altLang="en-US" sz="1200" kern="0" spc="-100" dirty="0">
                        <a:solidFill>
                          <a:srgbClr val="000000"/>
                        </a:solidFill>
                        <a:effectLst/>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조합</a:t>
                      </a:r>
                      <a:endParaRPr lang="en-US" altLang="ko-KR" sz="1200" kern="0" spc="-100" dirty="0">
                        <a:effectLst/>
                      </a:endParaRPr>
                    </a:p>
                    <a:p>
                      <a:pPr marL="0" marR="0" indent="0" algn="ctr" fontAlgn="base" latinLnBrk="0">
                        <a:lnSpc>
                          <a:spcPct val="100000"/>
                        </a:lnSpc>
                        <a:spcBef>
                          <a:spcPts val="0"/>
                        </a:spcBef>
                        <a:spcAft>
                          <a:spcPts val="0"/>
                        </a:spcAft>
                      </a:pPr>
                      <a:r>
                        <a:rPr lang="en-US" altLang="ko-KR" sz="1200" kern="0" spc="-100" dirty="0">
                          <a:effectLst/>
                        </a:rPr>
                        <a:t>(</a:t>
                      </a:r>
                      <a:r>
                        <a:rPr lang="en-US" sz="1200" kern="0" spc="-100" dirty="0">
                          <a:effectLst/>
                        </a:rPr>
                        <a:t>OR)</a:t>
                      </a:r>
                      <a:endParaRPr lang="en-US" sz="1200" kern="0" spc="-100" dirty="0">
                        <a:solidFill>
                          <a:srgbClr val="000000"/>
                        </a:solidFill>
                        <a:effectLst/>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10000"/>
                  </a:ext>
                </a:extLst>
              </a:tr>
              <a:tr h="170511">
                <a:tc>
                  <a:txBody>
                    <a:bodyPr/>
                    <a:lstStyle/>
                    <a:p>
                      <a:pPr marL="0" marR="0" indent="0" algn="ctr" fontAlgn="base" latinLnBrk="0">
                        <a:lnSpc>
                          <a:spcPct val="100000"/>
                        </a:lnSpc>
                        <a:spcBef>
                          <a:spcPts val="0"/>
                        </a:spcBef>
                        <a:spcAft>
                          <a:spcPts val="0"/>
                        </a:spcAft>
                      </a:pPr>
                      <a:r>
                        <a:rPr lang="en-US" sz="1200" kern="0" spc="-100" dirty="0">
                          <a:effectLst/>
                        </a:rPr>
                        <a:t>A</a:t>
                      </a:r>
                      <a:endParaRPr lang="en-US" sz="1200" kern="0" spc="-100" dirty="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1"/>
                  </a:ext>
                </a:extLst>
              </a:tr>
              <a:tr h="170511">
                <a:tc>
                  <a:txBody>
                    <a:bodyPr/>
                    <a:lstStyle/>
                    <a:p>
                      <a:pPr marL="0" marR="0" indent="0" algn="ctr" fontAlgn="base" latinLnBrk="0">
                        <a:lnSpc>
                          <a:spcPct val="100000"/>
                        </a:lnSpc>
                        <a:spcBef>
                          <a:spcPts val="0"/>
                        </a:spcBef>
                        <a:spcAft>
                          <a:spcPts val="0"/>
                        </a:spcAft>
                      </a:pPr>
                      <a:r>
                        <a:rPr lang="en-US" sz="1200" kern="0" spc="-100">
                          <a:effectLst/>
                        </a:rPr>
                        <a:t>B</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2"/>
                  </a:ext>
                </a:extLst>
              </a:tr>
              <a:tr h="170511">
                <a:tc>
                  <a:txBody>
                    <a:bodyPr/>
                    <a:lstStyle/>
                    <a:p>
                      <a:pPr marL="0" marR="0" indent="0" algn="ctr" fontAlgn="base" latinLnBrk="0">
                        <a:lnSpc>
                          <a:spcPct val="100000"/>
                        </a:lnSpc>
                        <a:spcBef>
                          <a:spcPts val="0"/>
                        </a:spcBef>
                        <a:spcAft>
                          <a:spcPts val="0"/>
                        </a:spcAft>
                      </a:pPr>
                      <a:r>
                        <a:rPr lang="en-US" sz="1200" kern="0" spc="-100">
                          <a:effectLst/>
                        </a:rPr>
                        <a:t>C</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dirty="0">
                          <a:effectLst/>
                        </a:rPr>
                        <a:t>△(C1)</a:t>
                      </a:r>
                      <a:endParaRPr lang="en-US" sz="1200" kern="0" spc="-100" dirty="0">
                        <a:solidFill>
                          <a:srgbClr val="000000"/>
                        </a:solidFill>
                        <a:effectLst/>
                      </a:endParaRPr>
                    </a:p>
                  </a:txBody>
                  <a:tcPr marL="64770" marR="64770" marT="17907" marB="17907" anchor="ctr">
                    <a:solidFill>
                      <a:schemeClr val="accent4">
                        <a:lumMod val="40000"/>
                        <a:lumOff val="60000"/>
                      </a:schemeClr>
                    </a:solidFill>
                  </a:tcP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3"/>
                  </a:ext>
                </a:extLst>
              </a:tr>
              <a:tr h="170511">
                <a:tc>
                  <a:txBody>
                    <a:bodyPr/>
                    <a:lstStyle/>
                    <a:p>
                      <a:pPr marL="0" marR="0" indent="0" algn="ctr" fontAlgn="base" latinLnBrk="0">
                        <a:lnSpc>
                          <a:spcPct val="100000"/>
                        </a:lnSpc>
                        <a:spcBef>
                          <a:spcPts val="0"/>
                        </a:spcBef>
                        <a:spcAft>
                          <a:spcPts val="0"/>
                        </a:spcAft>
                      </a:pPr>
                      <a:r>
                        <a:rPr lang="en-US" sz="1200" kern="0" spc="-100">
                          <a:effectLst/>
                        </a:rPr>
                        <a:t>D</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tc>
                  <a:txBody>
                    <a:bodyPr/>
                    <a:lstStyle/>
                    <a:p>
                      <a:pPr marL="0" marR="0" indent="0" algn="ctr" fontAlgn="base" latinLnBrk="0">
                        <a:lnSpc>
                          <a:spcPct val="100000"/>
                        </a:lnSpc>
                        <a:spcBef>
                          <a:spcPts val="0"/>
                        </a:spcBef>
                        <a:spcAft>
                          <a:spcPts val="0"/>
                        </a:spcAft>
                      </a:pPr>
                      <a:r>
                        <a:rPr lang="ko-KR" altLang="en-US" sz="1200" kern="0" spc="-100">
                          <a:effectLst/>
                        </a:rPr>
                        <a:t>○</a:t>
                      </a:r>
                      <a:endParaRPr lang="ko-KR" alt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en-US" sz="1200" kern="0" spc="-100">
                          <a:effectLst/>
                        </a:rPr>
                        <a:t>×</a:t>
                      </a:r>
                      <a:endParaRPr lang="en-US" sz="1200" kern="0" spc="-100">
                        <a:solidFill>
                          <a:srgbClr val="000000"/>
                        </a:solidFill>
                        <a:effectLst/>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0" spc="-100" dirty="0">
                          <a:effectLst/>
                        </a:rPr>
                        <a:t>○</a:t>
                      </a:r>
                      <a:endParaRPr lang="ko-KR" altLang="en-US" sz="1200" kern="0" spc="-100" dirty="0">
                        <a:solidFill>
                          <a:srgbClr val="000000"/>
                        </a:solidFill>
                        <a:effectLst/>
                      </a:endParaRPr>
                    </a:p>
                  </a:txBody>
                  <a:tcPr marL="64770" marR="64770" marT="17907" marB="17907" anchor="ctr">
                    <a:solidFill>
                      <a:schemeClr val="accent4">
                        <a:lumMod val="40000"/>
                        <a:lumOff val="60000"/>
                      </a:schemeClr>
                    </a:solidFill>
                  </a:tcPr>
                </a:tc>
                <a:extLst>
                  <a:ext uri="{0D108BD9-81ED-4DB2-BD59-A6C34878D82A}">
                    <a16:rowId xmlns:a16="http://schemas.microsoft.com/office/drawing/2014/main" val="10004"/>
                  </a:ext>
                </a:extLst>
              </a:tr>
              <a:tr h="740861">
                <a:tc>
                  <a:txBody>
                    <a:bodyPr/>
                    <a:lstStyle/>
                    <a:p>
                      <a:pPr marL="0" marR="0" indent="0" algn="ctr" fontAlgn="base" latinLnBrk="0">
                        <a:lnSpc>
                          <a:spcPct val="100000"/>
                        </a:lnSpc>
                        <a:spcBef>
                          <a:spcPts val="0"/>
                        </a:spcBef>
                        <a:spcAft>
                          <a:spcPts val="0"/>
                        </a:spcAft>
                      </a:pPr>
                      <a:r>
                        <a:rPr lang="ko-KR" altLang="en-US" sz="1200" kern="0" spc="-100">
                          <a:effectLst/>
                        </a:rPr>
                        <a:t>설명</a:t>
                      </a:r>
                      <a:endParaRPr lang="ko-KR" altLang="en-US" sz="1200" b="1" kern="0" spc="-100">
                        <a:solidFill>
                          <a:srgbClr val="000000"/>
                        </a:solidFill>
                        <a:effectLst/>
                      </a:endParaRPr>
                    </a:p>
                  </a:txBody>
                  <a:tcPr marL="64770" marR="64770" marT="17907" marB="17907" anchor="ctr"/>
                </a:tc>
                <a:tc gridSpan="4">
                  <a:txBody>
                    <a:bodyPr/>
                    <a:lstStyle/>
                    <a:p>
                      <a:pPr marL="85725" marR="17780" lvl="0" indent="-85725" algn="just" fontAlgn="base" latinLnBrk="1">
                        <a:lnSpc>
                          <a:spcPct val="100000"/>
                        </a:lnSpc>
                        <a:spcBef>
                          <a:spcPts val="0"/>
                        </a:spcBef>
                        <a:spcAft>
                          <a:spcPts val="0"/>
                        </a:spcAft>
                        <a:buFont typeface="Wingdings"/>
                        <a:buNone/>
                      </a:pPr>
                      <a:r>
                        <a:rPr lang="en-US" altLang="ko-KR" sz="1200" kern="0" spc="-50" dirty="0">
                          <a:effectLst/>
                        </a:rPr>
                        <a:t>-  C1</a:t>
                      </a:r>
                      <a:r>
                        <a:rPr lang="ko-KR" altLang="en-US" sz="1200" kern="0" spc="-50" dirty="0">
                          <a:effectLst/>
                        </a:rPr>
                        <a:t>과 </a:t>
                      </a:r>
                      <a:r>
                        <a:rPr lang="en-US" altLang="ko-KR" sz="1200" kern="0" spc="-50" dirty="0">
                          <a:effectLst/>
                        </a:rPr>
                        <a:t>C</a:t>
                      </a:r>
                      <a:r>
                        <a:rPr lang="ko-KR" altLang="en-US" sz="1200" kern="0" spc="-50" dirty="0">
                          <a:effectLst/>
                        </a:rPr>
                        <a:t>의 차이가 주지관용기술의 부가</a:t>
                      </a:r>
                      <a:r>
                        <a:rPr lang="en-US" altLang="ko-KR" sz="1200" kern="0" spc="-50" dirty="0">
                          <a:effectLst/>
                        </a:rPr>
                        <a:t>, </a:t>
                      </a:r>
                      <a:r>
                        <a:rPr lang="ko-KR" altLang="en-US" sz="1200" kern="0" spc="-50" dirty="0">
                          <a:effectLst/>
                        </a:rPr>
                        <a:t>삭제</a:t>
                      </a:r>
                      <a:r>
                        <a:rPr lang="en-US" altLang="ko-KR" sz="1200" kern="0" spc="-50" dirty="0">
                          <a:effectLst/>
                        </a:rPr>
                        <a:t>, </a:t>
                      </a:r>
                      <a:r>
                        <a:rPr lang="ko-KR" altLang="en-US" sz="1200" kern="0" spc="-50" dirty="0">
                          <a:effectLst/>
                        </a:rPr>
                        <a:t>변경 등에 불과하여 그 차이로 인하여 새로운 효과가 발생하지 않는다면 동일성이 있음</a:t>
                      </a:r>
                    </a:p>
                    <a:p>
                      <a:pPr marL="85725" marR="17780" lvl="0" indent="-85725" algn="just" fontAlgn="base" latinLnBrk="1">
                        <a:lnSpc>
                          <a:spcPct val="100000"/>
                        </a:lnSpc>
                        <a:spcBef>
                          <a:spcPts val="0"/>
                        </a:spcBef>
                        <a:spcAft>
                          <a:spcPts val="0"/>
                        </a:spcAft>
                        <a:buFont typeface="Wingdings"/>
                        <a:buNone/>
                      </a:pPr>
                      <a:r>
                        <a:rPr lang="en-US" altLang="ko-KR" sz="1200" kern="0" spc="-110" dirty="0">
                          <a:effectLst/>
                        </a:rPr>
                        <a:t>-  C1</a:t>
                      </a:r>
                      <a:r>
                        <a:rPr lang="ko-KR" altLang="en-US" sz="1200" kern="0" spc="-110" dirty="0">
                          <a:effectLst/>
                        </a:rPr>
                        <a:t>에서 </a:t>
                      </a:r>
                      <a:r>
                        <a:rPr lang="en-US" altLang="ko-KR" sz="1200" kern="0" spc="-110" dirty="0">
                          <a:effectLst/>
                        </a:rPr>
                        <a:t>C</a:t>
                      </a:r>
                      <a:r>
                        <a:rPr lang="ko-KR" altLang="en-US" sz="1200" kern="0" spc="-110" dirty="0">
                          <a:effectLst/>
                        </a:rPr>
                        <a:t>를 도출하는 것에 대한 곤란성이 없고 효과의 </a:t>
                      </a:r>
                      <a:r>
                        <a:rPr lang="ko-KR" altLang="en-US" sz="1200" kern="0" spc="-110" dirty="0" err="1">
                          <a:effectLst/>
                        </a:rPr>
                        <a:t>현저성이</a:t>
                      </a:r>
                      <a:r>
                        <a:rPr lang="ko-KR" altLang="en-US" sz="1200" kern="0" spc="-110" dirty="0">
                          <a:effectLst/>
                        </a:rPr>
                        <a:t> 없다면 용이함</a:t>
                      </a:r>
                    </a:p>
                    <a:p>
                      <a:pPr marL="0" marR="17780" lvl="0" indent="0" algn="just" fontAlgn="base" latinLnBrk="1">
                        <a:lnSpc>
                          <a:spcPct val="100000"/>
                        </a:lnSpc>
                        <a:spcBef>
                          <a:spcPts val="0"/>
                        </a:spcBef>
                        <a:spcAft>
                          <a:spcPts val="0"/>
                        </a:spcAft>
                        <a:buFont typeface="Wingdings"/>
                        <a:buNone/>
                      </a:pPr>
                      <a:r>
                        <a:rPr lang="en-US" altLang="ko-KR" sz="1200" kern="0" spc="-50" dirty="0">
                          <a:effectLst/>
                        </a:rPr>
                        <a:t>-  </a:t>
                      </a:r>
                      <a:r>
                        <a:rPr lang="ko-KR" altLang="en-US" sz="1200" kern="0" spc="-50" dirty="0">
                          <a:effectLst/>
                        </a:rPr>
                        <a:t>그렇지 아니하면 용이성이 없어서 </a:t>
                      </a:r>
                      <a:r>
                        <a:rPr lang="ko-KR" altLang="en-US" sz="1200" kern="0" spc="-50" dirty="0" err="1">
                          <a:effectLst/>
                        </a:rPr>
                        <a:t>등록가능함</a:t>
                      </a:r>
                      <a:endParaRPr lang="en-US" altLang="ko-KR" sz="1200" kern="0" spc="-50" dirty="0">
                        <a:effectLst/>
                      </a:endParaRPr>
                    </a:p>
                    <a:p>
                      <a:pPr marL="0" marR="17780" lvl="0" indent="0" algn="just" fontAlgn="base" latinLnBrk="1">
                        <a:lnSpc>
                          <a:spcPct val="100000"/>
                        </a:lnSpc>
                        <a:spcBef>
                          <a:spcPts val="0"/>
                        </a:spcBef>
                        <a:spcAft>
                          <a:spcPts val="0"/>
                        </a:spcAft>
                        <a:buFont typeface="Wingdings"/>
                        <a:buNone/>
                      </a:pPr>
                      <a:endParaRPr lang="ko-KR" altLang="en-US" sz="1200" kern="0" spc="-50" dirty="0">
                        <a:solidFill>
                          <a:srgbClr val="000000"/>
                        </a:solidFill>
                        <a:effectLst/>
                      </a:endParaRPr>
                    </a:p>
                  </a:txBody>
                  <a:tcPr marL="64770" marR="64770" marT="17907" marB="17907" anchor="ct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5"/>
                  </a:ext>
                </a:extLst>
              </a:tr>
            </a:tbl>
          </a:graphicData>
        </a:graphic>
      </p:graphicFrame>
      <p:sp>
        <p:nvSpPr>
          <p:cNvPr id="9" name="슬라이드 번호 개체 틀 8"/>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74</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73422542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2</a:t>
            </a:r>
            <a:r>
              <a:rPr lang="ko-KR" altLang="en-US" dirty="0"/>
              <a:t>항</a:t>
            </a:r>
          </a:p>
        </p:txBody>
      </p:sp>
      <p:sp>
        <p:nvSpPr>
          <p:cNvPr id="4" name="텍스트 개체 틀 3"/>
          <p:cNvSpPr>
            <a:spLocks noGrp="1"/>
          </p:cNvSpPr>
          <p:nvPr>
            <p:ph type="body" sz="quarter" idx="13"/>
          </p:nvPr>
        </p:nvSpPr>
        <p:spPr/>
        <p:txBody>
          <a:bodyPr/>
          <a:lstStyle/>
          <a:p>
            <a:r>
              <a:rPr lang="ko-KR" altLang="en-US" dirty="0">
                <a:solidFill>
                  <a:srgbClr val="525252"/>
                </a:solidFill>
              </a:rPr>
              <a:t>결합발명의 진보성 판단</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75</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90" name="TextBox 89"/>
          <p:cNvSpPr txBox="1"/>
          <p:nvPr/>
        </p:nvSpPr>
        <p:spPr>
          <a:xfrm>
            <a:off x="77875" y="986046"/>
            <a:ext cx="11936323" cy="2031325"/>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청구항에 기재된 발명은 전체로서 고려되어야 하며 구성요소 각각이 공지 또는 자명하다고 하여 청구항에 기재된 발명의 진보성을 부정할 수 없다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즉</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진보성 판단의 기초가 되는 기술적 구성의 곤란성을 평가할 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과제해결원리를 배제한 채 청구항에 기재된 구성을 하나하나 분해한 후 선행기술의 대응 구성요소로부터 도출이 곤란한지만을 따져서는 아니 되고</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특유의 과제해결원리에 기초하여 그 발명에 채용된 특유한 구성요소들과 나머지 구성요소들 사이의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결합관계를 포함하여 유기적으로 결합된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전체</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로서의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구성의 곤란성을 살펴보아야 하며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 때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결합된 전체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구성으로서의</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발명이 갖는 특유한 효과도 함께 고려</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2021. 4. 8.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2019</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10609).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구체적으로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여러 공지기술을 인용하여 특허의 진보성을 판단할 때 그 인용되는 공지기술을 조합 또는 결합하면 해당 특허발명에 이를 수 있다는 교시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(teaching),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암시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(suggesting),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동기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(motivation)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등이 공지기술에 제시되어 있거나 그렇지 않더라도 해당 특허 출원 당시의 기술수준</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기술상식</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해당 기술분야의 기본적인 과제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발전경향</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해당 업계의 요구 등에 비추어 통상의 기술자가 쉽게 그와 같은 조합 또는 결합에 이를 수 있다고 인정할 수 있는 경우에는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주합발명으로서</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진보성이 부정된다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2007. 9. 6.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2005</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3277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참고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91" name="직선 연결선 90"/>
          <p:cNvCxnSpPr/>
          <p:nvPr/>
        </p:nvCxnSpPr>
        <p:spPr>
          <a:xfrm>
            <a:off x="0" y="281393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직선 연결선 25"/>
          <p:cNvCxnSpPr/>
          <p:nvPr/>
        </p:nvCxnSpPr>
        <p:spPr>
          <a:xfrm>
            <a:off x="390430" y="4798042"/>
            <a:ext cx="5655606"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직사각형 46"/>
          <p:cNvSpPr/>
          <p:nvPr/>
        </p:nvSpPr>
        <p:spPr>
          <a:xfrm>
            <a:off x="781611" y="4560369"/>
            <a:ext cx="987897" cy="45502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공지기술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라이트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8" name="직사각형 67"/>
          <p:cNvSpPr/>
          <p:nvPr/>
        </p:nvSpPr>
        <p:spPr>
          <a:xfrm>
            <a:off x="2509346" y="4560369"/>
            <a:ext cx="987897" cy="45502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공지기술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자전거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9" name="직사각형 68"/>
          <p:cNvSpPr/>
          <p:nvPr/>
        </p:nvSpPr>
        <p:spPr>
          <a:xfrm>
            <a:off x="4195392" y="4560369"/>
            <a:ext cx="1167718" cy="455022"/>
          </a:xfrm>
          <a:prstGeom prst="rect">
            <a:avLst/>
          </a:prstGeom>
          <a:solidFill>
            <a:schemeClr val="accent5">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라이트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자전거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0" name="TextBox 69"/>
          <p:cNvSpPr txBox="1"/>
          <p:nvPr/>
        </p:nvSpPr>
        <p:spPr>
          <a:xfrm>
            <a:off x="2753762" y="3715012"/>
            <a:ext cx="779381" cy="276999"/>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동일성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4" name="자유형 13"/>
          <p:cNvSpPr/>
          <p:nvPr/>
        </p:nvSpPr>
        <p:spPr>
          <a:xfrm>
            <a:off x="1284270" y="3987974"/>
            <a:ext cx="3626777" cy="575353"/>
          </a:xfrm>
          <a:custGeom>
            <a:avLst/>
            <a:gdLst>
              <a:gd name="connsiteX0" fmla="*/ 0 w 3626777"/>
              <a:gd name="connsiteY0" fmla="*/ 575353 h 575353"/>
              <a:gd name="connsiteX1" fmla="*/ 0 w 3626777"/>
              <a:gd name="connsiteY1" fmla="*/ 0 h 575353"/>
              <a:gd name="connsiteX2" fmla="*/ 3626777 w 3626777"/>
              <a:gd name="connsiteY2" fmla="*/ 0 h 575353"/>
              <a:gd name="connsiteX3" fmla="*/ 3626777 w 3626777"/>
              <a:gd name="connsiteY3" fmla="*/ 534256 h 575353"/>
            </a:gdLst>
            <a:ahLst/>
            <a:cxnLst>
              <a:cxn ang="0">
                <a:pos x="connsiteX0" y="connsiteY0"/>
              </a:cxn>
              <a:cxn ang="0">
                <a:pos x="connsiteX1" y="connsiteY1"/>
              </a:cxn>
              <a:cxn ang="0">
                <a:pos x="connsiteX2" y="connsiteY2"/>
              </a:cxn>
              <a:cxn ang="0">
                <a:pos x="connsiteX3" y="connsiteY3"/>
              </a:cxn>
            </a:cxnLst>
            <a:rect l="l" t="t" r="r" b="b"/>
            <a:pathLst>
              <a:path w="3626777" h="575353">
                <a:moveTo>
                  <a:pt x="0" y="575353"/>
                </a:moveTo>
                <a:lnTo>
                  <a:pt x="0" y="0"/>
                </a:lnTo>
                <a:lnTo>
                  <a:pt x="3626777" y="0"/>
                </a:lnTo>
                <a:lnTo>
                  <a:pt x="3626777" y="534256"/>
                </a:lnTo>
              </a:path>
            </a:pathLst>
          </a:cu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15" name="자유형 14"/>
          <p:cNvSpPr/>
          <p:nvPr/>
        </p:nvSpPr>
        <p:spPr>
          <a:xfrm>
            <a:off x="2989780" y="4306473"/>
            <a:ext cx="1633591" cy="267128"/>
          </a:xfrm>
          <a:custGeom>
            <a:avLst/>
            <a:gdLst>
              <a:gd name="connsiteX0" fmla="*/ 0 w 1633591"/>
              <a:gd name="connsiteY0" fmla="*/ 267128 h 267128"/>
              <a:gd name="connsiteX1" fmla="*/ 0 w 1633591"/>
              <a:gd name="connsiteY1" fmla="*/ 0 h 267128"/>
              <a:gd name="connsiteX2" fmla="*/ 1633591 w 1633591"/>
              <a:gd name="connsiteY2" fmla="*/ 0 h 267128"/>
              <a:gd name="connsiteX3" fmla="*/ 1633591 w 1633591"/>
              <a:gd name="connsiteY3" fmla="*/ 184935 h 267128"/>
            </a:gdLst>
            <a:ahLst/>
            <a:cxnLst>
              <a:cxn ang="0">
                <a:pos x="connsiteX0" y="connsiteY0"/>
              </a:cxn>
              <a:cxn ang="0">
                <a:pos x="connsiteX1" y="connsiteY1"/>
              </a:cxn>
              <a:cxn ang="0">
                <a:pos x="connsiteX2" y="connsiteY2"/>
              </a:cxn>
              <a:cxn ang="0">
                <a:pos x="connsiteX3" y="connsiteY3"/>
              </a:cxn>
            </a:cxnLst>
            <a:rect l="l" t="t" r="r" b="b"/>
            <a:pathLst>
              <a:path w="1633591" h="267128">
                <a:moveTo>
                  <a:pt x="0" y="267128"/>
                </a:moveTo>
                <a:lnTo>
                  <a:pt x="0" y="0"/>
                </a:lnTo>
                <a:lnTo>
                  <a:pt x="1633591" y="0"/>
                </a:lnTo>
                <a:lnTo>
                  <a:pt x="1633591" y="184935"/>
                </a:lnTo>
              </a:path>
            </a:pathLst>
          </a:cu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71" name="TextBox 70"/>
          <p:cNvSpPr txBox="1"/>
          <p:nvPr/>
        </p:nvSpPr>
        <p:spPr>
          <a:xfrm>
            <a:off x="3508618" y="4033915"/>
            <a:ext cx="779381" cy="276999"/>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동일성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7" name="꺾인 연결선 16"/>
          <p:cNvCxnSpPr>
            <a:stCxn id="47" idx="2"/>
            <a:endCxn id="68" idx="2"/>
          </p:cNvCxnSpPr>
          <p:nvPr/>
        </p:nvCxnSpPr>
        <p:spPr>
          <a:xfrm rot="16200000" flipH="1">
            <a:off x="2139427" y="4151523"/>
            <a:ext cx="12700" cy="1727735"/>
          </a:xfrm>
          <a:prstGeom prst="bentConnector3">
            <a:avLst>
              <a:gd name="adj1" fmla="val 180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 name="자유형 17"/>
          <p:cNvSpPr/>
          <p:nvPr/>
        </p:nvSpPr>
        <p:spPr>
          <a:xfrm>
            <a:off x="2126751" y="5178057"/>
            <a:ext cx="2671280" cy="161694"/>
          </a:xfrm>
          <a:custGeom>
            <a:avLst/>
            <a:gdLst>
              <a:gd name="connsiteX0" fmla="*/ 0 w 2671280"/>
              <a:gd name="connsiteY0" fmla="*/ 195209 h 493160"/>
              <a:gd name="connsiteX1" fmla="*/ 0 w 2671280"/>
              <a:gd name="connsiteY1" fmla="*/ 493160 h 493160"/>
              <a:gd name="connsiteX2" fmla="*/ 2671280 w 2671280"/>
              <a:gd name="connsiteY2" fmla="*/ 493160 h 493160"/>
              <a:gd name="connsiteX3" fmla="*/ 2671280 w 2671280"/>
              <a:gd name="connsiteY3" fmla="*/ 0 h 493160"/>
            </a:gdLst>
            <a:ahLst/>
            <a:cxnLst>
              <a:cxn ang="0">
                <a:pos x="connsiteX0" y="connsiteY0"/>
              </a:cxn>
              <a:cxn ang="0">
                <a:pos x="connsiteX1" y="connsiteY1"/>
              </a:cxn>
              <a:cxn ang="0">
                <a:pos x="connsiteX2" y="connsiteY2"/>
              </a:cxn>
              <a:cxn ang="0">
                <a:pos x="connsiteX3" y="connsiteY3"/>
              </a:cxn>
            </a:cxnLst>
            <a:rect l="l" t="t" r="r" b="b"/>
            <a:pathLst>
              <a:path w="2671280" h="493160">
                <a:moveTo>
                  <a:pt x="0" y="195209"/>
                </a:moveTo>
                <a:lnTo>
                  <a:pt x="0" y="493160"/>
                </a:lnTo>
                <a:lnTo>
                  <a:pt x="2671280" y="493160"/>
                </a:lnTo>
                <a:lnTo>
                  <a:pt x="2671280" y="0"/>
                </a:lnTo>
              </a:path>
            </a:pathLst>
          </a:cu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72" name="TextBox 71"/>
          <p:cNvSpPr txBox="1"/>
          <p:nvPr/>
        </p:nvSpPr>
        <p:spPr>
          <a:xfrm>
            <a:off x="3181446" y="5099428"/>
            <a:ext cx="779381" cy="276999"/>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용이성 △</a:t>
            </a:r>
          </a:p>
        </p:txBody>
      </p:sp>
      <p:sp>
        <p:nvSpPr>
          <p:cNvPr id="20" name="직사각형 19"/>
          <p:cNvSpPr/>
          <p:nvPr/>
        </p:nvSpPr>
        <p:spPr>
          <a:xfrm>
            <a:off x="273976" y="2889998"/>
            <a:ext cx="3455543" cy="830997"/>
          </a:xfrm>
          <a:prstGeom prst="rect">
            <a:avLst/>
          </a:prstGeom>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신규성</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29①</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각호</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판단</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공지기술과 일대일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매칭</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174625" marR="0" lvl="0" indent="-174625"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상위개념이 공지기술이고 하위개념이 출원발명인 경우 일반적으로 동일성이 없어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신규성</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상실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74" name="직사각형 73"/>
          <p:cNvSpPr/>
          <p:nvPr/>
        </p:nvSpPr>
        <p:spPr>
          <a:xfrm>
            <a:off x="1769509" y="5436917"/>
            <a:ext cx="4246262" cy="1200329"/>
          </a:xfrm>
          <a:prstGeom prst="rect">
            <a:avLst/>
          </a:prstGeom>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진보성</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29②)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판단</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둘 이상의 공지기술을 조합가능</a:t>
            </a:r>
          </a:p>
          <a:p>
            <a:pPr marL="174625" marR="0" lvl="0" indent="-174625"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공지기술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와 공지기술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의 결합</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채택의 곤란성</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효과의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현저성</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 → 진보성 인정</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조합발명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Combination)</a:t>
            </a:r>
          </a:p>
          <a:p>
            <a:pPr marL="174625" marR="0" lvl="0" indent="-174625"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공지기술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와 공지기술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의 결합</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채택의 곤란성</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효과의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현저성</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진보성 부정</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주합발명</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Aggregation)</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75" name="직선 연결선 74"/>
          <p:cNvCxnSpPr>
            <a:cxnSpLocks/>
          </p:cNvCxnSpPr>
          <p:nvPr/>
        </p:nvCxnSpPr>
        <p:spPr>
          <a:xfrm>
            <a:off x="6598995" y="2889998"/>
            <a:ext cx="0" cy="375285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77" name="Group 180"/>
          <p:cNvGraphicFramePr>
            <a:graphicFrameLocks/>
          </p:cNvGraphicFramePr>
          <p:nvPr/>
        </p:nvGraphicFramePr>
        <p:xfrm>
          <a:off x="6893959" y="2889998"/>
          <a:ext cx="4952145" cy="3603554"/>
        </p:xfrm>
        <a:graphic>
          <a:graphicData uri="http://schemas.openxmlformats.org/drawingml/2006/table">
            <a:tbl>
              <a:tblPr>
                <a:tableStyleId>{8799B23B-EC83-4686-B30A-512413B5E67A}</a:tableStyleId>
              </a:tblPr>
              <a:tblGrid>
                <a:gridCol w="1215281">
                  <a:extLst>
                    <a:ext uri="{9D8B030D-6E8A-4147-A177-3AD203B41FA5}">
                      <a16:colId xmlns:a16="http://schemas.microsoft.com/office/drawing/2014/main" val="20000"/>
                    </a:ext>
                  </a:extLst>
                </a:gridCol>
                <a:gridCol w="1216504">
                  <a:extLst>
                    <a:ext uri="{9D8B030D-6E8A-4147-A177-3AD203B41FA5}">
                      <a16:colId xmlns:a16="http://schemas.microsoft.com/office/drawing/2014/main" val="20001"/>
                    </a:ext>
                  </a:extLst>
                </a:gridCol>
                <a:gridCol w="1215281">
                  <a:extLst>
                    <a:ext uri="{9D8B030D-6E8A-4147-A177-3AD203B41FA5}">
                      <a16:colId xmlns:a16="http://schemas.microsoft.com/office/drawing/2014/main" val="20002"/>
                    </a:ext>
                  </a:extLst>
                </a:gridCol>
                <a:gridCol w="1305079">
                  <a:extLst>
                    <a:ext uri="{9D8B030D-6E8A-4147-A177-3AD203B41FA5}">
                      <a16:colId xmlns:a16="http://schemas.microsoft.com/office/drawing/2014/main" val="20003"/>
                    </a:ext>
                  </a:extLst>
                </a:gridCol>
              </a:tblGrid>
              <a:tr h="42628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200" b="1" u="none" strike="noStrike" cap="none" normalizeH="0" baseline="0" dirty="0">
                          <a:ln>
                            <a:noFill/>
                          </a:ln>
                          <a:effectLst/>
                        </a:rPr>
                        <a:t>구성요소</a:t>
                      </a:r>
                      <a:endParaRPr kumimoji="1" lang="ko-KR" altLang="en-US" sz="1200" b="1"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200" b="1" u="none" strike="noStrike" cap="none" normalizeH="0" baseline="0" dirty="0">
                          <a:ln>
                            <a:noFill/>
                          </a:ln>
                          <a:effectLst/>
                        </a:rPr>
                        <a:t>공지기술</a:t>
                      </a:r>
                      <a:r>
                        <a:rPr kumimoji="1" lang="en-US" altLang="ko-KR" sz="1200" b="1" u="none" strike="noStrike" cap="none" normalizeH="0" baseline="0" dirty="0">
                          <a:ln>
                            <a:noFill/>
                          </a:ln>
                          <a:effectLst/>
                        </a:rPr>
                        <a:t>1</a:t>
                      </a:r>
                      <a:endParaRPr kumimoji="1" lang="en-US" altLang="ko-KR" sz="1200" b="1"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200" b="1" u="none" strike="noStrike" cap="none" normalizeH="0" baseline="0" dirty="0">
                          <a:ln>
                            <a:noFill/>
                          </a:ln>
                          <a:effectLst/>
                        </a:rPr>
                        <a:t>공지기술</a:t>
                      </a:r>
                      <a:r>
                        <a:rPr kumimoji="1" lang="en-US" altLang="ko-KR" sz="1200" b="1" u="none" strike="noStrike" cap="none" normalizeH="0" baseline="0" dirty="0">
                          <a:ln>
                            <a:noFill/>
                          </a:ln>
                          <a:effectLst/>
                        </a:rPr>
                        <a:t>2</a:t>
                      </a:r>
                      <a:endParaRPr kumimoji="1" lang="en-US" altLang="ko-KR" sz="1200" b="1"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200" b="1" u="none" strike="noStrike" cap="none" normalizeH="0" baseline="0" dirty="0">
                          <a:ln>
                            <a:noFill/>
                          </a:ln>
                          <a:effectLst/>
                        </a:rPr>
                        <a:t>분석</a:t>
                      </a:r>
                      <a:r>
                        <a:rPr kumimoji="1" lang="en-US" altLang="ko-KR" sz="1200" b="1" u="none" strike="noStrike" cap="none" normalizeH="0" baseline="0" dirty="0">
                          <a:ln>
                            <a:noFill/>
                          </a:ln>
                          <a:effectLst/>
                        </a:rPr>
                        <a:t>(OR)</a:t>
                      </a:r>
                      <a:endParaRPr kumimoji="1" lang="en-US" altLang="ko-KR" sz="1200" b="1"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solidFill>
                      <a:schemeClr val="accent1">
                        <a:lumMod val="20000"/>
                        <a:lumOff val="80000"/>
                      </a:schemeClr>
                    </a:solidFill>
                  </a:tcPr>
                </a:tc>
                <a:extLst>
                  <a:ext uri="{0D108BD9-81ED-4DB2-BD59-A6C34878D82A}">
                    <a16:rowId xmlns:a16="http://schemas.microsoft.com/office/drawing/2014/main" val="10000"/>
                  </a:ext>
                </a:extLst>
              </a:tr>
              <a:tr h="784813">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200" u="none" strike="noStrike" cap="none" normalizeH="0" baseline="0" dirty="0" err="1">
                          <a:ln>
                            <a:noFill/>
                          </a:ln>
                          <a:effectLst/>
                        </a:rPr>
                        <a:t>라이트</a:t>
                      </a:r>
                      <a:r>
                        <a:rPr kumimoji="1" lang="en-US" altLang="ko-KR" sz="1200" u="none" strike="noStrike" cap="none" normalizeH="0" baseline="0" dirty="0">
                          <a:ln>
                            <a:noFill/>
                          </a:ln>
                          <a:effectLst/>
                        </a:rPr>
                        <a:t>(A)</a:t>
                      </a:r>
                      <a:endParaRPr kumimoji="1" lang="en-US" altLang="ko-KR" sz="12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u="none" strike="noStrike" cap="none" normalizeH="0" baseline="0" dirty="0">
                          <a:ln>
                            <a:noFill/>
                          </a:ln>
                          <a:effectLst/>
                        </a:rPr>
                        <a:t>O</a:t>
                      </a:r>
                      <a:endParaRPr kumimoji="1" lang="en-US" altLang="ko-KR" sz="12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u="none" strike="noStrike" cap="none" normalizeH="0" baseline="0" dirty="0">
                          <a:ln>
                            <a:noFill/>
                          </a:ln>
                          <a:effectLst/>
                        </a:rPr>
                        <a:t>X</a:t>
                      </a:r>
                      <a:endParaRPr kumimoji="1" lang="en-US" altLang="ko-KR" sz="12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u="none" strike="noStrike" cap="none" normalizeH="0" baseline="0" dirty="0">
                          <a:ln>
                            <a:noFill/>
                          </a:ln>
                          <a:effectLst/>
                        </a:rPr>
                        <a:t>O</a:t>
                      </a:r>
                      <a:endParaRPr kumimoji="1" lang="en-US" altLang="ko-KR" sz="12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tc>
                <a:extLst>
                  <a:ext uri="{0D108BD9-81ED-4DB2-BD59-A6C34878D82A}">
                    <a16:rowId xmlns:a16="http://schemas.microsoft.com/office/drawing/2014/main" val="10001"/>
                  </a:ext>
                </a:extLst>
              </a:tr>
              <a:tr h="806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200" u="none" strike="noStrike" cap="none" normalizeH="0" baseline="0" dirty="0">
                          <a:ln>
                            <a:noFill/>
                          </a:ln>
                          <a:effectLst/>
                        </a:rPr>
                        <a:t>결합</a:t>
                      </a:r>
                      <a:r>
                        <a:rPr kumimoji="1" lang="en-US" altLang="ko-KR" sz="1200" u="none" strike="noStrike" cap="none" normalizeH="0" baseline="0" dirty="0">
                          <a:ln>
                            <a:noFill/>
                          </a:ln>
                          <a:effectLst/>
                        </a:rPr>
                        <a:t>(B)</a:t>
                      </a:r>
                      <a:endParaRPr kumimoji="1" lang="en-US" altLang="ko-KR" sz="12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defRPr/>
                      </a:pPr>
                      <a:r>
                        <a:rPr kumimoji="1" lang="en-US" altLang="ko-KR" sz="1200" u="none" strike="noStrike" cap="none" normalizeH="0" baseline="0" dirty="0">
                          <a:ln>
                            <a:noFill/>
                          </a:ln>
                          <a:effectLst/>
                        </a:rPr>
                        <a:t>△</a:t>
                      </a:r>
                      <a:endParaRPr kumimoji="1" lang="en-US" altLang="ko-KR" sz="12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u="none" strike="noStrike" cap="none" normalizeH="0" baseline="0" dirty="0">
                          <a:ln>
                            <a:noFill/>
                          </a:ln>
                          <a:effectLst/>
                        </a:rPr>
                        <a:t>X</a:t>
                      </a:r>
                      <a:endParaRPr kumimoji="1" lang="en-US" altLang="ko-KR" sz="12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defRPr/>
                      </a:pPr>
                      <a:r>
                        <a:rPr lang="ko-KR" altLang="en-US" sz="1200" kern="1200" dirty="0">
                          <a:effectLst/>
                        </a:rPr>
                        <a:t>△</a:t>
                      </a:r>
                      <a:endParaRPr lang="ko-KR" altLang="en-US" sz="1200" kern="1200" dirty="0">
                        <a:solidFill>
                          <a:schemeClr val="tx1"/>
                        </a:solidFill>
                        <a:effectLst/>
                        <a:latin typeface="+mn-lt"/>
                        <a:ea typeface="+mn-ea"/>
                        <a:cs typeface="+mn-cs"/>
                      </a:endParaRPr>
                    </a:p>
                  </a:txBody>
                  <a:tcPr marL="95329" marR="95329" anchor="ctr" horzOverflow="overflow"/>
                </a:tc>
                <a:extLst>
                  <a:ext uri="{0D108BD9-81ED-4DB2-BD59-A6C34878D82A}">
                    <a16:rowId xmlns:a16="http://schemas.microsoft.com/office/drawing/2014/main" val="10002"/>
                  </a:ext>
                </a:extLst>
              </a:tr>
              <a:tr h="806538">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200" u="none" strike="noStrike" cap="none" normalizeH="0" baseline="0" dirty="0">
                          <a:ln>
                            <a:noFill/>
                          </a:ln>
                          <a:effectLst/>
                        </a:rPr>
                        <a:t>자전거</a:t>
                      </a:r>
                      <a:r>
                        <a:rPr kumimoji="1" lang="en-US" altLang="ko-KR" sz="1200" u="none" strike="noStrike" cap="none" normalizeH="0" baseline="0" dirty="0">
                          <a:ln>
                            <a:noFill/>
                          </a:ln>
                          <a:effectLst/>
                        </a:rPr>
                        <a:t>(C)</a:t>
                      </a:r>
                      <a:endParaRPr kumimoji="1" lang="en-US" altLang="ko-KR" sz="12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u="none" strike="noStrike" cap="none" normalizeH="0" baseline="0" dirty="0">
                          <a:ln>
                            <a:noFill/>
                          </a:ln>
                          <a:effectLst/>
                        </a:rPr>
                        <a:t>X</a:t>
                      </a:r>
                      <a:endParaRPr kumimoji="1" lang="en-US" altLang="ko-KR" sz="12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u="none" strike="noStrike" cap="none" normalizeH="0" baseline="0" dirty="0">
                          <a:ln>
                            <a:noFill/>
                          </a:ln>
                          <a:effectLst/>
                        </a:rPr>
                        <a:t>O</a:t>
                      </a:r>
                      <a:endParaRPr kumimoji="1" lang="en-US" altLang="ko-KR" sz="12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200" u="none" strike="noStrike" cap="none" normalizeH="0" baseline="0" dirty="0">
                          <a:ln>
                            <a:noFill/>
                          </a:ln>
                          <a:effectLst/>
                        </a:rPr>
                        <a:t>O</a:t>
                      </a:r>
                      <a:endParaRPr kumimoji="1" lang="en-US" altLang="ko-KR" sz="12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95329" marR="95329" anchor="ctr" horzOverflow="overflow"/>
                </a:tc>
                <a:extLst>
                  <a:ext uri="{0D108BD9-81ED-4DB2-BD59-A6C34878D82A}">
                    <a16:rowId xmlns:a16="http://schemas.microsoft.com/office/drawing/2014/main" val="10003"/>
                  </a:ext>
                </a:extLst>
              </a:tr>
              <a:tr h="779382">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200" b="1" u="none" strike="noStrike" cap="none" normalizeH="0" baseline="0" dirty="0" err="1">
                          <a:ln>
                            <a:noFill/>
                          </a:ln>
                          <a:effectLst/>
                        </a:rPr>
                        <a:t>소결</a:t>
                      </a:r>
                      <a:endParaRPr kumimoji="1" lang="ko-KR" altLang="en-US" sz="12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95329" marR="95329" anchor="ctr" horzOverflow="overflow">
                    <a:solidFill>
                      <a:schemeClr val="accent1">
                        <a:lumMod val="20000"/>
                        <a:lumOff val="80000"/>
                      </a:schemeClr>
                    </a:solidFill>
                  </a:tcPr>
                </a:tc>
                <a:tc gridSpan="3">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200" u="none" strike="noStrike" cap="none" normalizeH="0" baseline="0" dirty="0">
                          <a:ln>
                            <a:noFill/>
                          </a:ln>
                          <a:effectLst/>
                        </a:rPr>
                        <a:t>신규성은 인정되나</a:t>
                      </a:r>
                      <a:r>
                        <a:rPr kumimoji="1" lang="en-US" altLang="ko-KR" sz="1200" u="none" strike="noStrike" cap="none" normalizeH="0" baseline="0" dirty="0">
                          <a:ln>
                            <a:noFill/>
                          </a:ln>
                          <a:effectLst/>
                        </a:rPr>
                        <a:t>, </a:t>
                      </a:r>
                      <a:r>
                        <a:rPr kumimoji="1" lang="ko-KR" altLang="en-US" sz="1200" u="none" strike="noStrike" cap="none" normalizeH="0" baseline="0" dirty="0">
                          <a:ln>
                            <a:noFill/>
                          </a:ln>
                          <a:effectLst/>
                        </a:rPr>
                        <a:t>진보성 인정 여부는 불명확함</a:t>
                      </a:r>
                      <a:endParaRPr kumimoji="1" lang="ko-KR" altLang="en-US" sz="1200" b="0"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95329" marR="95329" anchor="ctr" horzOverflow="overflow"/>
                </a:tc>
                <a:tc hMerge="1">
                  <a:txBody>
                    <a:bodyPr/>
                    <a:lstStyle/>
                    <a:p>
                      <a:pPr latinLnBrk="1"/>
                      <a:endParaRPr lang="ko-KR" altLang="en-US"/>
                    </a:p>
                  </a:txBody>
                  <a:tcPr/>
                </a:tc>
                <a:tc hMerge="1">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en-US" sz="1200" b="0" i="0" u="none" strike="noStrike" cap="none" normalizeH="0" baseline="0" dirty="0">
                        <a:ln>
                          <a:noFill/>
                        </a:ln>
                        <a:solidFill>
                          <a:schemeClr val="bg1"/>
                        </a:solidFill>
                        <a:effectLst/>
                        <a:latin typeface="굴림" pitchFamily="50" charset="-127"/>
                        <a:ea typeface="굴림" pitchFamily="50" charset="-127"/>
                      </a:endParaRPr>
                    </a:p>
                  </a:txBody>
                  <a:tcPr marL="95329" marR="95329" anchor="ctr" horzOverflow="overflow"/>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186953987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2</a:t>
            </a:r>
            <a:r>
              <a:rPr lang="ko-KR" altLang="en-US" dirty="0"/>
              <a:t>항</a:t>
            </a:r>
          </a:p>
        </p:txBody>
      </p:sp>
      <p:sp>
        <p:nvSpPr>
          <p:cNvPr id="4" name="텍스트 개체 틀 3"/>
          <p:cNvSpPr>
            <a:spLocks noGrp="1"/>
          </p:cNvSpPr>
          <p:nvPr>
            <p:ph type="body" sz="quarter" idx="13"/>
          </p:nvPr>
        </p:nvSpPr>
        <p:spPr/>
        <p:txBody>
          <a:bodyPr/>
          <a:lstStyle/>
          <a:p>
            <a:r>
              <a:rPr lang="ko-KR" altLang="en-US" dirty="0"/>
              <a:t>선택발명의 신규성</a:t>
            </a:r>
            <a:r>
              <a:rPr lang="en-US" altLang="ko-KR" dirty="0"/>
              <a:t>, </a:t>
            </a:r>
            <a:r>
              <a:rPr lang="ko-KR" altLang="en-US" dirty="0"/>
              <a:t>진보성 판단 </a:t>
            </a:r>
            <a:r>
              <a:rPr lang="en-US" altLang="ko-KR" dirty="0"/>
              <a:t>CASE</a:t>
            </a:r>
            <a:endParaRPr lang="ko-KR" altLang="en-US" dirty="0"/>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76</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90" name="TextBox 89"/>
          <p:cNvSpPr txBox="1"/>
          <p:nvPr/>
        </p:nvSpPr>
        <p:spPr>
          <a:xfrm>
            <a:off x="1339913" y="2060127"/>
            <a:ext cx="10578707" cy="784830"/>
          </a:xfrm>
          <a:prstGeom prst="rect">
            <a:avLst/>
          </a:prstGeom>
          <a:noFill/>
          <a:ln>
            <a:solidFill>
              <a:schemeClr val="bg1">
                <a:lumMod val="50000"/>
              </a:schemeClr>
            </a:solidFill>
          </a:ln>
        </p:spPr>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선행 또는 공지의 발명에 구성요건이 상위개념으로 기재되어 있고 위 상위개념에 포함되는 하위개념만을 구성요건 중의 전부 또는 일부로 하는 이른바 선택발명의 신규성을 부정하기 위해서는 선행발명</a:t>
            </a:r>
            <a:r>
              <a:rPr kumimoji="0" lang="en-US" altLang="ko-KR" sz="1100" b="0" i="0" u="none" strike="noStrike" kern="1200" cap="none" spc="0" normalizeH="0" baseline="0" noProof="0" dirty="0">
                <a:ln>
                  <a:noFill/>
                </a:ln>
                <a:solidFill>
                  <a:srgbClr val="FF0000"/>
                </a:solidFill>
                <a:effectLst/>
                <a:highlight>
                  <a:srgbClr val="FFFF00"/>
                </a:highlight>
                <a:uLnTx/>
                <a:uFillTx/>
                <a:latin typeface="Rix모던고딕 B"/>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이 선택발명을 구성하는 하위개념을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구체적으로 개시</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하고 있어야 하고</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이에는 선행발명을 기재한 선행문헌에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선택발명에 대한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문언적인</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기재가 존재</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하는 경우 외에도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그 발명이 속하는 기술분야에서 통상의 지식을 가진 자가 선행문헌의 기재 내용과 출원시의 기술 상식에 기초하여 선행문헌으로부터 직접적으로 선택발명의 존재를 인식할 수 있는 경우</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도 포함된다</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2009. 10. 15.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2008</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736, 743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판결 참조</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5" name="사각형: 둥근 모서리 4">
            <a:extLst>
              <a:ext uri="{FF2B5EF4-FFF2-40B4-BE49-F238E27FC236}">
                <a16:creationId xmlns:a16="http://schemas.microsoft.com/office/drawing/2014/main" id="{CCE5BD75-FE62-410E-BBE2-0BD79FB081E7}"/>
              </a:ext>
            </a:extLst>
          </p:cNvPr>
          <p:cNvSpPr/>
          <p:nvPr/>
        </p:nvSpPr>
        <p:spPr>
          <a:xfrm>
            <a:off x="273381" y="2083092"/>
            <a:ext cx="892552" cy="892552"/>
          </a:xfrm>
          <a:prstGeom prst="round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신규성</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요건</a:t>
            </a:r>
          </a:p>
        </p:txBody>
      </p:sp>
      <p:sp>
        <p:nvSpPr>
          <p:cNvPr id="67" name="사각형: 둥근 모서리 66">
            <a:extLst>
              <a:ext uri="{FF2B5EF4-FFF2-40B4-BE49-F238E27FC236}">
                <a16:creationId xmlns:a16="http://schemas.microsoft.com/office/drawing/2014/main" id="{ADECC240-A040-4630-9423-C918FB652AAA}"/>
              </a:ext>
            </a:extLst>
          </p:cNvPr>
          <p:cNvSpPr/>
          <p:nvPr/>
        </p:nvSpPr>
        <p:spPr>
          <a:xfrm>
            <a:off x="273380" y="3837494"/>
            <a:ext cx="892552" cy="892552"/>
          </a:xfrm>
          <a:prstGeom prst="round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진보성</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요건</a:t>
            </a:r>
          </a:p>
        </p:txBody>
      </p:sp>
      <p:cxnSp>
        <p:nvCxnSpPr>
          <p:cNvPr id="7" name="연결선: 꺾임 6">
            <a:extLst>
              <a:ext uri="{FF2B5EF4-FFF2-40B4-BE49-F238E27FC236}">
                <a16:creationId xmlns:a16="http://schemas.microsoft.com/office/drawing/2014/main" id="{F997D670-A28A-4943-A0B4-CEFB3EC541E0}"/>
              </a:ext>
            </a:extLst>
          </p:cNvPr>
          <p:cNvCxnSpPr>
            <a:cxnSpLocks/>
            <a:stCxn id="5" idx="3"/>
            <a:endCxn id="90" idx="1"/>
          </p:cNvCxnSpPr>
          <p:nvPr/>
        </p:nvCxnSpPr>
        <p:spPr>
          <a:xfrm flipV="1">
            <a:off x="1165933" y="2452542"/>
            <a:ext cx="173980" cy="768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481B8823-AF4B-4925-8C48-75770D6AD6AD}"/>
              </a:ext>
            </a:extLst>
          </p:cNvPr>
          <p:cNvSpPr txBox="1"/>
          <p:nvPr/>
        </p:nvSpPr>
        <p:spPr>
          <a:xfrm>
            <a:off x="1339913" y="2856026"/>
            <a:ext cx="10578707" cy="1446550"/>
          </a:xfrm>
          <a:prstGeom prst="rect">
            <a:avLst/>
          </a:prstGeom>
          <a:noFill/>
          <a:ln>
            <a:solidFill>
              <a:schemeClr val="bg1">
                <a:lumMod val="50000"/>
              </a:schemeClr>
            </a:solidFill>
          </a:ln>
        </p:spPr>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선택발명에 포함되는 </a:t>
            </a:r>
            <a:r>
              <a:rPr kumimoji="0" lang="ko-KR" altLang="en-US"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하위개념들 모두</a:t>
            </a:r>
            <a:r>
              <a:rPr kumimoji="0" lang="en-US" altLang="ko-KR"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t>
            </a:r>
            <a:r>
              <a:rPr kumimoji="0" lang="en-US" altLang="ko-KR" sz="11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a1</a:t>
            </a:r>
            <a:r>
              <a:rPr kumimoji="0" lang="en-US" altLang="ko-KR"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a:t>
            </a:r>
            <a:r>
              <a:rPr kumimoji="0" lang="en-US" altLang="ko-KR" sz="11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a2</a:t>
            </a:r>
            <a:r>
              <a:rPr kumimoji="0" lang="en-US" altLang="ko-KR"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a:t>
            </a:r>
            <a:r>
              <a:rPr kumimoji="0" lang="en-US" altLang="ko-KR" sz="11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a3</a:t>
            </a:r>
            <a:r>
              <a:rPr kumimoji="0" lang="en-US" altLang="ko-KR"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가 공지된 상위개념인 선행발명과 비교하여 구성의 곤란성이 인정되어야 한다</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구성의 곤란성이 인정되는지 여부와 관련해서는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ⅰ)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상위개념의 크기</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ⅱ)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선행발명이 선택발명을 선택할 동기를 제공하거나 선행발명에 암시가 있는지 여부</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ⅲ)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선행발명에 기재된 하위개념발명과 선택발명이 구조적으로 유사한지 여부 등이 고려되어야 한다</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예를 들어</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선행발명에 발명을 이루는 구성요소 중 일부를 두 개 이상의 치환기로 하나 이상 선택할 수 있도록 기재하는 이른바 </a:t>
            </a:r>
            <a:r>
              <a:rPr kumimoji="0" lang="ko-KR" altLang="en-US" sz="1100" b="0" i="0" u="none" strike="noStrike" kern="1200" cap="none" spc="0" normalizeH="0" baseline="0" noProof="0" dirty="0" err="1">
                <a:ln>
                  <a:noFill/>
                </a:ln>
                <a:solidFill>
                  <a:srgbClr val="44546A"/>
                </a:solidFill>
                <a:effectLst/>
                <a:uLnTx/>
                <a:uFillTx/>
                <a:latin typeface="Frutiger LT 65 Bold"/>
                <a:ea typeface="Rix모던고딕 B"/>
                <a:cs typeface="+mn-cs"/>
              </a:rPr>
              <a:t>마쿠쉬</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(Markush)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형식으로 기재된 화학식과 그 치환기의 범위 내에 이론상 포함되기만 할 뿐 구체적으로 개시되지 않은 화합물을 청구범위로 하는 특허발명의 경우에도 진보성 판단을 위하여 구성의 곤란성을 따져보아야 한다</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위와 같은 특허발명의 구성의 곤란성을 판단할 때에는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선행발명에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마쿠쉬</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형식 등으로 기재된 화학식과 그 치환기의 범위 내에 이론상 포함될 수 있는 화합물의 개수</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통상의 기술자가 선행발명에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마쿠쉬</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형식 등으로 기재된 화합물 중에서 특정한 화합물이나 특정 치환기를 우선적으로 또는 쉽게 선택할 사정이나 동기 또는 암시의 유무</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선행발명에 구체적으로 기재된 화합물과 특허발명의 구조적 유사성 등을 종합적으로 고려</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하여야 한다</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다만</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구성의 곤란성을 따져 보지 않고 효과의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현저성</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유무만으로 진보성을 판단해서는 안 된다</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2021. 4. 8.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2019</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10609).</a:t>
            </a:r>
          </a:p>
        </p:txBody>
      </p:sp>
      <p:sp>
        <p:nvSpPr>
          <p:cNvPr id="70" name="TextBox 69">
            <a:extLst>
              <a:ext uri="{FF2B5EF4-FFF2-40B4-BE49-F238E27FC236}">
                <a16:creationId xmlns:a16="http://schemas.microsoft.com/office/drawing/2014/main" id="{C5C208C6-C8B4-4480-9979-D91AB9BFDED1}"/>
              </a:ext>
            </a:extLst>
          </p:cNvPr>
          <p:cNvSpPr txBox="1"/>
          <p:nvPr/>
        </p:nvSpPr>
        <p:spPr>
          <a:xfrm>
            <a:off x="1339913" y="5824568"/>
            <a:ext cx="10578707" cy="938719"/>
          </a:xfrm>
          <a:prstGeom prst="rect">
            <a:avLst/>
          </a:prstGeom>
          <a:noFill/>
          <a:ln>
            <a:solidFill>
              <a:schemeClr val="bg1">
                <a:lumMod val="50000"/>
              </a:schemeClr>
            </a:solidFill>
          </a:ln>
        </p:spPr>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효과의 현저성에 의해 진보성을 판단할 때</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선택발명에 여러 효과가 있는 경우에 선행발명과 비교하여 이질적이거나 양적으로 현저한 효과를 갖는다고 하기 위해서는 </a:t>
            </a:r>
            <a:r>
              <a:rPr kumimoji="0" lang="ko-KR" altLang="en-US"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선택발명</a:t>
            </a:r>
            <a:r>
              <a:rPr kumimoji="0" lang="en-US" altLang="ko-KR"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t>
            </a:r>
            <a:r>
              <a:rPr kumimoji="0" lang="en-US" altLang="ko-KR" sz="11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a1</a:t>
            </a:r>
            <a:r>
              <a:rPr kumimoji="0" lang="en-US" altLang="ko-KR"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의 모든 종류의 효과</a:t>
            </a:r>
            <a:r>
              <a:rPr kumimoji="0" lang="en-US" altLang="ko-KR"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t>
            </a:r>
            <a:r>
              <a:rPr kumimoji="0" lang="en-US" altLang="ko-KR" sz="11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e1</a:t>
            </a:r>
            <a:r>
              <a:rPr kumimoji="0" lang="en-US" altLang="ko-KR"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a:t>
            </a:r>
            <a:r>
              <a:rPr kumimoji="0" lang="en-US" altLang="ko-KR" sz="11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e2</a:t>
            </a:r>
            <a:r>
              <a:rPr kumimoji="0" lang="en-US" altLang="ko-KR"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a:t>
            </a:r>
            <a:r>
              <a:rPr kumimoji="0" lang="en-US" altLang="ko-KR" sz="11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e3</a:t>
            </a:r>
            <a:r>
              <a:rPr kumimoji="0" lang="en-US" altLang="ko-KR"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가 아니라 </a:t>
            </a:r>
            <a:r>
              <a:rPr kumimoji="0" lang="ko-KR" altLang="en-US" sz="11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그 중 일부</a:t>
            </a:r>
            <a:r>
              <a:rPr kumimoji="0" lang="en-US" altLang="ko-KR" sz="11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a:t>
            </a:r>
            <a:r>
              <a:rPr kumimoji="0" lang="en-US" altLang="ko-KR" sz="1100" b="0" i="0" u="none" strike="noStrike" kern="1200" cap="none" spc="0" normalizeH="0" baseline="0" noProof="0" dirty="0" err="1">
                <a:ln>
                  <a:noFill/>
                </a:ln>
                <a:solidFill>
                  <a:srgbClr val="FF0000"/>
                </a:solidFill>
                <a:effectLst/>
                <a:highlight>
                  <a:srgbClr val="FFFF00"/>
                </a:highlight>
                <a:uLnTx/>
                <a:uFillTx/>
                <a:latin typeface="Frutiger LT 65 Bold"/>
                <a:ea typeface="Rix모던고딕 B"/>
                <a:cs typeface="+mn-cs"/>
              </a:rPr>
              <a:t>e3</a:t>
            </a:r>
            <a:r>
              <a:rPr kumimoji="0" lang="en-US" altLang="ko-KR" sz="11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라도</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선행발명과 비교하여 그러한 효과를 갖는다고 인정</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되면 충분하다</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2012. 8. 23.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2010</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3424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참조</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한편</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선택발명에 포함되는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하위개념의 실시형태 중 가장 열등한 것의 효과</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en-US" altLang="ko-KR" sz="1100" b="0" i="0" u="none" strike="noStrike" kern="1200" cap="none" spc="0" normalizeH="0" baseline="0" noProof="0" dirty="0" err="1">
                <a:ln>
                  <a:noFill/>
                </a:ln>
                <a:solidFill>
                  <a:srgbClr val="FF0000"/>
                </a:solidFill>
                <a:effectLst/>
                <a:uLnTx/>
                <a:uFillTx/>
                <a:latin typeface="Frutiger LT 65 Bold"/>
                <a:ea typeface="Rix모던고딕 B"/>
                <a:cs typeface="+mn-cs"/>
              </a:rPr>
              <a:t>a1</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&gt; </a:t>
            </a:r>
            <a:r>
              <a:rPr kumimoji="0" lang="en-US" altLang="ko-KR" sz="1100" b="0" i="0" u="none" strike="noStrike" kern="1200" cap="none" spc="0" normalizeH="0" baseline="0" noProof="0" dirty="0" err="1">
                <a:ln>
                  <a:noFill/>
                </a:ln>
                <a:solidFill>
                  <a:srgbClr val="FF0000"/>
                </a:solidFill>
                <a:effectLst/>
                <a:uLnTx/>
                <a:uFillTx/>
                <a:latin typeface="Frutiger LT 65 Bold"/>
                <a:ea typeface="Rix모던고딕 B"/>
                <a:cs typeface="+mn-cs"/>
              </a:rPr>
              <a:t>a2</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&gt;</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가 선행발명에 개시된 실시형태 중 가장 우수한 것의 효과와 비교</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하여 현저하다는 관계가 인정되지 않는다면</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선택발명에 포함되는 하위개념의 실시형태 중 일부의 효과가 선행발명에 개시된 실시형태 중 일부의 효과보다 뛰어나 보인다고 하여 선택발명의 진보성이 부정되지 아니한다고 볼 수는 없다</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2016. 1. 28.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2013</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1887).</a:t>
            </a:r>
            <a:endPar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14" name="연결선: 꺾임 13">
            <a:extLst>
              <a:ext uri="{FF2B5EF4-FFF2-40B4-BE49-F238E27FC236}">
                <a16:creationId xmlns:a16="http://schemas.microsoft.com/office/drawing/2014/main" id="{0C033831-69A1-41CB-B59A-CD0D4C493B0A}"/>
              </a:ext>
            </a:extLst>
          </p:cNvPr>
          <p:cNvCxnSpPr>
            <a:stCxn id="67" idx="3"/>
            <a:endCxn id="70" idx="1"/>
          </p:cNvCxnSpPr>
          <p:nvPr/>
        </p:nvCxnSpPr>
        <p:spPr>
          <a:xfrm>
            <a:off x="1165932" y="4283770"/>
            <a:ext cx="173981" cy="201015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연결선: 꺾임 16">
            <a:extLst>
              <a:ext uri="{FF2B5EF4-FFF2-40B4-BE49-F238E27FC236}">
                <a16:creationId xmlns:a16="http://schemas.microsoft.com/office/drawing/2014/main" id="{1EF758D0-2E0F-43CF-B43C-8461B9736372}"/>
              </a:ext>
            </a:extLst>
          </p:cNvPr>
          <p:cNvCxnSpPr>
            <a:stCxn id="67" idx="3"/>
            <a:endCxn id="68" idx="1"/>
          </p:cNvCxnSpPr>
          <p:nvPr/>
        </p:nvCxnSpPr>
        <p:spPr>
          <a:xfrm flipV="1">
            <a:off x="1165932" y="3579301"/>
            <a:ext cx="173981" cy="70446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연결선: 꺾임 18">
            <a:extLst>
              <a:ext uri="{FF2B5EF4-FFF2-40B4-BE49-F238E27FC236}">
                <a16:creationId xmlns:a16="http://schemas.microsoft.com/office/drawing/2014/main" id="{2DB60878-6ABA-4DEA-9778-F57B55800A62}"/>
              </a:ext>
            </a:extLst>
          </p:cNvPr>
          <p:cNvCxnSpPr>
            <a:cxnSpLocks/>
            <a:stCxn id="67" idx="3"/>
          </p:cNvCxnSpPr>
          <p:nvPr/>
        </p:nvCxnSpPr>
        <p:spPr>
          <a:xfrm>
            <a:off x="1165932" y="4283770"/>
            <a:ext cx="173981" cy="5026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Line 5">
            <a:extLst>
              <a:ext uri="{FF2B5EF4-FFF2-40B4-BE49-F238E27FC236}">
                <a16:creationId xmlns:a16="http://schemas.microsoft.com/office/drawing/2014/main" id="{04250376-DFCC-4474-A196-26E2687E570D}"/>
              </a:ext>
            </a:extLst>
          </p:cNvPr>
          <p:cNvSpPr>
            <a:spLocks noChangeShapeType="1"/>
          </p:cNvSpPr>
          <p:nvPr/>
        </p:nvSpPr>
        <p:spPr bwMode="auto">
          <a:xfrm>
            <a:off x="395337" y="1689547"/>
            <a:ext cx="11464270" cy="0"/>
          </a:xfrm>
          <a:prstGeom prst="line">
            <a:avLst/>
          </a:prstGeom>
          <a:noFill/>
          <a:ln w="57150">
            <a:solidFill>
              <a:schemeClr val="bg1">
                <a:lumMod val="50000"/>
              </a:schemeClr>
            </a:solidFill>
            <a:round/>
            <a:headEnd/>
            <a:tailEnd type="stealth" w="med" len="med"/>
          </a:ln>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37" name="타원 36">
            <a:extLst>
              <a:ext uri="{FF2B5EF4-FFF2-40B4-BE49-F238E27FC236}">
                <a16:creationId xmlns:a16="http://schemas.microsoft.com/office/drawing/2014/main" id="{6030FBF3-5972-4B17-B130-B131F5CE9CD4}"/>
              </a:ext>
            </a:extLst>
          </p:cNvPr>
          <p:cNvSpPr/>
          <p:nvPr/>
        </p:nvSpPr>
        <p:spPr>
          <a:xfrm>
            <a:off x="1958674" y="15984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38" name="직선 화살표 연결선 37">
            <a:extLst>
              <a:ext uri="{FF2B5EF4-FFF2-40B4-BE49-F238E27FC236}">
                <a16:creationId xmlns:a16="http://schemas.microsoft.com/office/drawing/2014/main" id="{78DAD14A-ADE9-4DEE-9E9A-7B74C38B6F91}"/>
              </a:ext>
            </a:extLst>
          </p:cNvPr>
          <p:cNvCxnSpPr>
            <a:cxnSpLocks/>
            <a:stCxn id="45" idx="2"/>
            <a:endCxn id="37" idx="0"/>
          </p:cNvCxnSpPr>
          <p:nvPr/>
        </p:nvCxnSpPr>
        <p:spPr>
          <a:xfrm flipH="1">
            <a:off x="2036043" y="1475550"/>
            <a:ext cx="1" cy="12290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8FFDE3FA-9E38-4358-994E-06A931F2ACDE}"/>
              </a:ext>
            </a:extLst>
          </p:cNvPr>
          <p:cNvSpPr txBox="1"/>
          <p:nvPr/>
        </p:nvSpPr>
        <p:spPr>
          <a:xfrm>
            <a:off x="1112988" y="1009041"/>
            <a:ext cx="1846112" cy="4665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공지기술 </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 +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다른 기재</a:t>
            </a:r>
            <a:r>
              <a:rPr kumimoji="0" lang="en-US" altLang="ko-KR" sz="1200" b="0" i="0" u="none" strike="noStrike" kern="1200" cap="none" spc="0" normalizeH="0" baseline="0" noProof="0" dirty="0">
                <a:ln>
                  <a:noFill/>
                </a:ln>
                <a:solidFill>
                  <a:srgbClr val="FF0000"/>
                </a:solidFill>
                <a:effectLst/>
                <a:uLnTx/>
                <a:uFillTx/>
                <a:latin typeface="Rix모던고딕 B"/>
                <a:ea typeface="Rix모던고딕 B"/>
                <a:cs typeface="+mn-cs"/>
              </a:rPr>
              <a:t>(@)</a:t>
            </a:r>
          </a:p>
        </p:txBody>
      </p:sp>
      <p:sp>
        <p:nvSpPr>
          <p:cNvPr id="55" name="타원 54">
            <a:extLst>
              <a:ext uri="{FF2B5EF4-FFF2-40B4-BE49-F238E27FC236}">
                <a16:creationId xmlns:a16="http://schemas.microsoft.com/office/drawing/2014/main" id="{EDA6E673-3817-45B3-8494-D28F35A84460}"/>
              </a:ext>
            </a:extLst>
          </p:cNvPr>
          <p:cNvSpPr/>
          <p:nvPr/>
        </p:nvSpPr>
        <p:spPr>
          <a:xfrm>
            <a:off x="7039382" y="1598450"/>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56" name="직선 화살표 연결선 55">
            <a:extLst>
              <a:ext uri="{FF2B5EF4-FFF2-40B4-BE49-F238E27FC236}">
                <a16:creationId xmlns:a16="http://schemas.microsoft.com/office/drawing/2014/main" id="{D2A410B7-1993-4C31-A33E-90D83D9D6160}"/>
              </a:ext>
            </a:extLst>
          </p:cNvPr>
          <p:cNvCxnSpPr>
            <a:cxnSpLocks/>
            <a:stCxn id="57" idx="2"/>
            <a:endCxn id="55" idx="0"/>
          </p:cNvCxnSpPr>
          <p:nvPr/>
        </p:nvCxnSpPr>
        <p:spPr>
          <a:xfrm>
            <a:off x="7116751" y="1475550"/>
            <a:ext cx="0" cy="12290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CB92700F-36BD-4CDC-B22E-F409E956A946}"/>
              </a:ext>
            </a:extLst>
          </p:cNvPr>
          <p:cNvSpPr txBox="1"/>
          <p:nvPr/>
        </p:nvSpPr>
        <p:spPr>
          <a:xfrm>
            <a:off x="6086475" y="1009041"/>
            <a:ext cx="2060552" cy="46650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특허출원</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(a1, a2, a3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중 어느 하나</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p>
        </p:txBody>
      </p:sp>
      <p:sp>
        <p:nvSpPr>
          <p:cNvPr id="71" name="TextBox 70">
            <a:extLst>
              <a:ext uri="{FF2B5EF4-FFF2-40B4-BE49-F238E27FC236}">
                <a16:creationId xmlns:a16="http://schemas.microsoft.com/office/drawing/2014/main" id="{1883B48F-FB83-42BC-A0F8-B4728BFFFD1A}"/>
              </a:ext>
            </a:extLst>
          </p:cNvPr>
          <p:cNvSpPr txBox="1"/>
          <p:nvPr/>
        </p:nvSpPr>
        <p:spPr>
          <a:xfrm>
            <a:off x="395337" y="1786646"/>
            <a:ext cx="4600940"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가 상위개념이고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a1, a2, a3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가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를 한정한 하위개념발명</a:t>
            </a:r>
          </a:p>
        </p:txBody>
      </p:sp>
      <p:sp>
        <p:nvSpPr>
          <p:cNvPr id="74" name="TextBox 73">
            <a:extLst>
              <a:ext uri="{FF2B5EF4-FFF2-40B4-BE49-F238E27FC236}">
                <a16:creationId xmlns:a16="http://schemas.microsoft.com/office/drawing/2014/main" id="{A743C338-EC88-4375-83D8-EA16C3B2832E}"/>
              </a:ext>
            </a:extLst>
          </p:cNvPr>
          <p:cNvSpPr txBox="1"/>
          <p:nvPr/>
        </p:nvSpPr>
        <p:spPr>
          <a:xfrm>
            <a:off x="8903269" y="700242"/>
            <a:ext cx="1624163" cy="276999"/>
          </a:xfrm>
          <a:prstGeom prst="rect">
            <a:avLst/>
          </a:prstGeom>
          <a:noFill/>
          <a:ln>
            <a:solidFill>
              <a:schemeClr val="bg1">
                <a:lumMod val="50000"/>
              </a:schemeClr>
            </a:solidFill>
          </a:ln>
        </p:spPr>
        <p:txBody>
          <a:bodyPr wrap="none" rtlCol="0">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효과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e1, e2,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e3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5" name="TextBox 74">
            <a:extLst>
              <a:ext uri="{FF2B5EF4-FFF2-40B4-BE49-F238E27FC236}">
                <a16:creationId xmlns:a16="http://schemas.microsoft.com/office/drawing/2014/main" id="{8C52EBF2-73BD-448C-83D8-33BBADFB0ABF}"/>
              </a:ext>
            </a:extLst>
          </p:cNvPr>
          <p:cNvSpPr txBox="1"/>
          <p:nvPr/>
        </p:nvSpPr>
        <p:spPr>
          <a:xfrm>
            <a:off x="8903268" y="1000929"/>
            <a:ext cx="1624163" cy="276999"/>
          </a:xfrm>
          <a:prstGeom prst="rect">
            <a:avLst/>
          </a:prstGeom>
          <a:noFill/>
          <a:ln>
            <a:solidFill>
              <a:schemeClr val="bg1">
                <a:lumMod val="50000"/>
              </a:schemeClr>
            </a:solidFill>
          </a:ln>
        </p:spPr>
        <p:txBody>
          <a:bodyPr wrap="none" rtlCol="0">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의 효과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e4</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e5</a:t>
            </a:r>
          </a:p>
        </p:txBody>
      </p:sp>
      <p:sp>
        <p:nvSpPr>
          <p:cNvPr id="76" name="TextBox 75">
            <a:extLst>
              <a:ext uri="{FF2B5EF4-FFF2-40B4-BE49-F238E27FC236}">
                <a16:creationId xmlns:a16="http://schemas.microsoft.com/office/drawing/2014/main" id="{0AEF3563-B7C3-4AD3-9FD3-646D35A7B853}"/>
              </a:ext>
            </a:extLst>
          </p:cNvPr>
          <p:cNvSpPr txBox="1"/>
          <p:nvPr/>
        </p:nvSpPr>
        <p:spPr>
          <a:xfrm>
            <a:off x="8903268" y="1294516"/>
            <a:ext cx="1624163" cy="276999"/>
          </a:xfrm>
          <a:prstGeom prst="rect">
            <a:avLst/>
          </a:prstGeom>
          <a:noFill/>
          <a:ln>
            <a:solidFill>
              <a:schemeClr val="bg1">
                <a:lumMod val="50000"/>
              </a:schemeClr>
            </a:solidFill>
          </a:ln>
        </p:spPr>
        <p:txBody>
          <a:bodyPr wrap="none" rtlCol="0">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의 효과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e6,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e7</a:t>
            </a:r>
            <a:endPar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73" name="연결선: 꺾임 72">
            <a:extLst>
              <a:ext uri="{FF2B5EF4-FFF2-40B4-BE49-F238E27FC236}">
                <a16:creationId xmlns:a16="http://schemas.microsoft.com/office/drawing/2014/main" id="{E208696B-BEC9-4E8B-8C2B-C6F71C3B24C3}"/>
              </a:ext>
            </a:extLst>
          </p:cNvPr>
          <p:cNvCxnSpPr>
            <a:stCxn id="57" idx="3"/>
            <a:endCxn id="74" idx="1"/>
          </p:cNvCxnSpPr>
          <p:nvPr/>
        </p:nvCxnSpPr>
        <p:spPr>
          <a:xfrm flipV="1">
            <a:off x="8147027" y="838742"/>
            <a:ext cx="756242" cy="40355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연결선: 꺾임 77">
            <a:extLst>
              <a:ext uri="{FF2B5EF4-FFF2-40B4-BE49-F238E27FC236}">
                <a16:creationId xmlns:a16="http://schemas.microsoft.com/office/drawing/2014/main" id="{CA0AEB06-1117-4F0F-86E2-C4440CE3296A}"/>
              </a:ext>
            </a:extLst>
          </p:cNvPr>
          <p:cNvCxnSpPr>
            <a:stCxn id="57" idx="3"/>
            <a:endCxn id="76" idx="1"/>
          </p:cNvCxnSpPr>
          <p:nvPr/>
        </p:nvCxnSpPr>
        <p:spPr>
          <a:xfrm>
            <a:off x="8147027" y="1242296"/>
            <a:ext cx="756241" cy="19072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연결선: 꺾임 79">
            <a:extLst>
              <a:ext uri="{FF2B5EF4-FFF2-40B4-BE49-F238E27FC236}">
                <a16:creationId xmlns:a16="http://schemas.microsoft.com/office/drawing/2014/main" id="{80C08688-0A4E-4061-93DA-FB96196C025A}"/>
              </a:ext>
            </a:extLst>
          </p:cNvPr>
          <p:cNvCxnSpPr>
            <a:stCxn id="57" idx="3"/>
            <a:endCxn id="75" idx="1"/>
          </p:cNvCxnSpPr>
          <p:nvPr/>
        </p:nvCxnSpPr>
        <p:spPr>
          <a:xfrm flipV="1">
            <a:off x="8147027" y="1139429"/>
            <a:ext cx="756241" cy="10286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A2352F02-1A69-42B6-ACC7-5F1F6D138B22}"/>
              </a:ext>
            </a:extLst>
          </p:cNvPr>
          <p:cNvSpPr txBox="1"/>
          <p:nvPr/>
        </p:nvSpPr>
        <p:spPr>
          <a:xfrm>
            <a:off x="1339913" y="4342313"/>
            <a:ext cx="10578707" cy="1446550"/>
          </a:xfrm>
          <a:prstGeom prst="rect">
            <a:avLst/>
          </a:prstGeom>
          <a:noFill/>
          <a:ln>
            <a:solidFill>
              <a:schemeClr val="bg1">
                <a:lumMod val="50000"/>
              </a:schemeClr>
            </a:solidFill>
          </a:ln>
        </p:spPr>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선택발명의 진보성을 판단할 때에는 그 발명이 갖는 특유한 효과도 함께 고려하여야 한다</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선행발명에 이론적으로 포함되는 수많은 화합물 중 특정한 화합물을 선택할 동기나 암시 등이 선행발명에 개시되어 있지 않은 경우에도 그것이 아무런 기술적 의의가 없는 임의의 선택에 불과한 경우라면 그와 같은 선택에 어려움이 있다고 볼 수 없는데</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발명의 효과는 선택의 동기가 없어 구성이 곤란한 경우인지 임의의 선택에 불과한 경우인지를 구별할 수 있는 중요한 표지가 될 수 있기 때문이다</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또한 화학</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의약 등의 기술분야에 속하는 발명은 구성만으로 효과의 예측이 쉽지 않으므로</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err="1">
                <a:ln>
                  <a:noFill/>
                </a:ln>
                <a:solidFill>
                  <a:srgbClr val="44546A"/>
                </a:solidFill>
                <a:effectLst/>
                <a:uLnTx/>
                <a:uFillTx/>
                <a:latin typeface="Frutiger LT 65 Bold"/>
                <a:ea typeface="Rix모던고딕 B"/>
                <a:cs typeface="+mn-cs"/>
              </a:rPr>
              <a:t>선행발명으로부터</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 특허발명의 구성요소들이 쉽게 도출되는지를 판단할 때 발명의 효과를 참작할 필요가 있고</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solidFill>
                <a:effectLst/>
                <a:uLnTx/>
                <a:uFillTx/>
                <a:latin typeface="Frutiger LT 65 Bold"/>
                <a:ea typeface="Rix모던고딕 B"/>
                <a:cs typeface="+mn-cs"/>
              </a:rPr>
              <a:t>발명의 효과가 선행발명에 비하여 현저하다면 구성의 곤란성을 추론하는 유력한 자료가 될 것이다</a:t>
            </a:r>
            <a:r>
              <a:rPr kumimoji="0" lang="en-US" altLang="ko-KR" sz="11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나아가 구성의 곤란성 여부의 판단이 불분명한 경우라고 하더라도</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특허발명이 선행발명에 비하여 이질적이거나 양적으로 현저한 효과를 가지고 있다면 진보성이 부정되지 않는다</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효과의 현저성은 특허발명의 명세서에 기재되어 통상의 기술자가 인식하거나 추론할 수 있는 효과를 중심으로 판단하여야 하고</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만일 그 효과가 의심스러울 때에는 그 기재내용의 범위를 넘지 않는 한도에서 출원일 이후에 추가적인 실험 자료를 제출하는 등의 방법으로 그 효과를 구체적으로 주장</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증명하는 것이 허용된다</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대법원 </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2021. 4. 8.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선고 </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2019</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10609).</a:t>
            </a:r>
          </a:p>
        </p:txBody>
      </p:sp>
      <p:cxnSp>
        <p:nvCxnSpPr>
          <p:cNvPr id="10" name="연결선: 꺾임 9">
            <a:extLst>
              <a:ext uri="{FF2B5EF4-FFF2-40B4-BE49-F238E27FC236}">
                <a16:creationId xmlns:a16="http://schemas.microsoft.com/office/drawing/2014/main" id="{848FE7E5-A0D9-4086-A81B-466D392B5409}"/>
              </a:ext>
            </a:extLst>
          </p:cNvPr>
          <p:cNvCxnSpPr>
            <a:stCxn id="67" idx="3"/>
            <a:endCxn id="32" idx="1"/>
          </p:cNvCxnSpPr>
          <p:nvPr/>
        </p:nvCxnSpPr>
        <p:spPr>
          <a:xfrm>
            <a:off x="1165932" y="4283770"/>
            <a:ext cx="173981" cy="78181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285074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2</a:t>
            </a:r>
            <a:r>
              <a:rPr lang="ko-KR" altLang="en-US" dirty="0"/>
              <a:t>항</a:t>
            </a:r>
          </a:p>
        </p:txBody>
      </p:sp>
      <p:sp>
        <p:nvSpPr>
          <p:cNvPr id="4" name="텍스트 개체 틀 3"/>
          <p:cNvSpPr>
            <a:spLocks noGrp="1"/>
          </p:cNvSpPr>
          <p:nvPr>
            <p:ph type="body" sz="quarter" idx="13"/>
          </p:nvPr>
        </p:nvSpPr>
        <p:spPr/>
        <p:txBody>
          <a:bodyPr/>
          <a:lstStyle/>
          <a:p>
            <a:r>
              <a:rPr lang="ko-KR" altLang="en-US" dirty="0"/>
              <a:t>수치한정발명의 신규성</a:t>
            </a:r>
            <a:r>
              <a:rPr lang="en-US" altLang="ko-KR" dirty="0"/>
              <a:t>, </a:t>
            </a:r>
            <a:r>
              <a:rPr lang="ko-KR" altLang="en-US" dirty="0"/>
              <a:t>진보성 판단 </a:t>
            </a:r>
            <a:r>
              <a:rPr lang="en-US" altLang="ko-KR" dirty="0"/>
              <a:t>CASE</a:t>
            </a:r>
            <a:endParaRPr lang="ko-KR" altLang="en-US" dirty="0"/>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77</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90" name="TextBox 89"/>
          <p:cNvSpPr txBox="1"/>
          <p:nvPr/>
        </p:nvSpPr>
        <p:spPr>
          <a:xfrm>
            <a:off x="1339913" y="2844233"/>
            <a:ext cx="10578707" cy="1892826"/>
          </a:xfrm>
          <a:prstGeom prst="rect">
            <a:avLst/>
          </a:prstGeom>
          <a:noFill/>
          <a:ln>
            <a:solidFill>
              <a:schemeClr val="bg1">
                <a:lumMod val="50000"/>
              </a:schemeClr>
            </a:solidFill>
          </a:ln>
        </p:spPr>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구성요소의 범위를 수치로써 한정하여 표현한 발명이 그 출원 전에 공지된 발명과 사이에 수치한정의 유무 또는 범위에서만 차이</a:t>
            </a:r>
            <a:r>
              <a:rPr kumimoji="0" lang="en-US" altLang="ko-KR" sz="13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(D1, D2)</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가 있는 경우에는</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그 한정된 수치범위가 공지된 발명</a:t>
            </a:r>
            <a:r>
              <a:rPr kumimoji="0" lang="en-US" altLang="ko-KR" sz="13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에 구체적으로 개시되어 있거나</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그렇지 않더라도 그러한 수치한정</a:t>
            </a:r>
            <a:r>
              <a:rPr kumimoji="0" lang="en-US" altLang="ko-KR" sz="13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(D2)</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이 그 발명이 속하는 기술분야에서 통상의 지식을 가진 자</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이하 ‘통상의 </a:t>
            </a:r>
            <a:r>
              <a:rPr kumimoji="0" lang="ko-KR" altLang="en-US" sz="1300" b="0" i="0" u="none" strike="noStrike" kern="1200" cap="none" spc="0" normalizeH="0" baseline="0" noProof="0" dirty="0" err="1">
                <a:ln>
                  <a:noFill/>
                </a:ln>
                <a:solidFill>
                  <a:srgbClr val="FF0000"/>
                </a:solidFill>
                <a:effectLst/>
                <a:uLnTx/>
                <a:uFillTx/>
                <a:latin typeface="Frutiger LT 65 Bold"/>
                <a:ea typeface="Rix모던고딕 B"/>
                <a:cs typeface="+mn-cs"/>
              </a:rPr>
              <a:t>기술자’라고</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 한다</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가 적절히 선택할 수 있는 주지</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관용의 수단에 불과하고 이에 따른 새로운 효과도 발생하지 않는다면 그 신규성이 부정된다</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그리고 한정된 수치범위가 공지된 발명</a:t>
            </a:r>
            <a:r>
              <a:rPr kumimoji="0" lang="en-US" altLang="ko-KR" sz="13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에 구체적으로 개시되어 있다는 것에는</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그 수치범위 내의 수치가 공지된 발명을 기재한 선행문헌의 실시 예 등에 나타나 있는 경우 등과 같이 </a:t>
            </a:r>
            <a:r>
              <a:rPr kumimoji="0" lang="ko-KR" altLang="en-US" sz="1300" b="0" i="0" u="none" strike="noStrike" kern="1200" cap="none" spc="0" normalizeH="0" baseline="0" noProof="0" dirty="0" err="1">
                <a:ln>
                  <a:noFill/>
                </a:ln>
                <a:solidFill>
                  <a:srgbClr val="FF0000"/>
                </a:solidFill>
                <a:effectLst/>
                <a:uLnTx/>
                <a:uFillTx/>
                <a:latin typeface="Frutiger LT 65 Bold"/>
                <a:ea typeface="Rix모던고딕 B"/>
                <a:cs typeface="+mn-cs"/>
              </a:rPr>
              <a:t>문언적인</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 기재가 존재하는 경우 외에도 통상의 기술자가 선행문헌의 기재 내용과 출원시의 기술상식에 기초하여 선행문헌으로부터 직접적으로 그 수치범위를 인식할 수 있는 경우도 포함된다</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한편 수치한정</a:t>
            </a:r>
            <a:r>
              <a:rPr kumimoji="0" lang="en-US" altLang="ko-KR" sz="13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(D2)</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이 공지된 발명과는 상이한 과제를 달성하기 위한 </a:t>
            </a:r>
            <a:r>
              <a:rPr kumimoji="0" lang="ko-KR" altLang="en-US" sz="1300" b="0" i="0" u="none" strike="noStrike" kern="1200" cap="none" spc="0" normalizeH="0" baseline="0" noProof="0" dirty="0" err="1">
                <a:ln>
                  <a:noFill/>
                </a:ln>
                <a:solidFill>
                  <a:srgbClr val="44546A"/>
                </a:solidFill>
                <a:effectLst/>
                <a:uLnTx/>
                <a:uFillTx/>
                <a:latin typeface="Frutiger LT 65 Bold"/>
                <a:ea typeface="Rix모던고딕 B"/>
                <a:cs typeface="+mn-cs"/>
              </a:rPr>
              <a:t>기술수단으로서의</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 의의를 가지고 그 효과도 이질적인 경우나 공지된 발명과 비교하여 한정된 수치범위 내외에서 현저한 효과의 차이가 생기는 경우 등에는</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그 수치범위가 공지된 발명에 구체적으로 개시되어 있다고 할 수 없음은 물론</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그 수치한정이 통상의 기술자가 적절히 선택할 수 있는 주지</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관용의 수단에 불과하다고 볼 수도 없다</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2013. 5. 24.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2011</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2015).</a:t>
            </a:r>
            <a:endPar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5" name="사각형: 둥근 모서리 4">
            <a:extLst>
              <a:ext uri="{FF2B5EF4-FFF2-40B4-BE49-F238E27FC236}">
                <a16:creationId xmlns:a16="http://schemas.microsoft.com/office/drawing/2014/main" id="{CCE5BD75-FE62-410E-BBE2-0BD79FB081E7}"/>
              </a:ext>
            </a:extLst>
          </p:cNvPr>
          <p:cNvSpPr/>
          <p:nvPr/>
        </p:nvSpPr>
        <p:spPr>
          <a:xfrm>
            <a:off x="273381" y="2848148"/>
            <a:ext cx="892552" cy="892552"/>
          </a:xfrm>
          <a:prstGeom prst="round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신규성</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요건</a:t>
            </a:r>
          </a:p>
        </p:txBody>
      </p:sp>
      <p:sp>
        <p:nvSpPr>
          <p:cNvPr id="67" name="사각형: 둥근 모서리 66">
            <a:extLst>
              <a:ext uri="{FF2B5EF4-FFF2-40B4-BE49-F238E27FC236}">
                <a16:creationId xmlns:a16="http://schemas.microsoft.com/office/drawing/2014/main" id="{ADECC240-A040-4630-9423-C918FB652AAA}"/>
              </a:ext>
            </a:extLst>
          </p:cNvPr>
          <p:cNvSpPr/>
          <p:nvPr/>
        </p:nvSpPr>
        <p:spPr>
          <a:xfrm>
            <a:off x="273380" y="4840115"/>
            <a:ext cx="892552" cy="892552"/>
          </a:xfrm>
          <a:prstGeom prst="round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진보성</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요건</a:t>
            </a:r>
          </a:p>
        </p:txBody>
      </p:sp>
      <p:cxnSp>
        <p:nvCxnSpPr>
          <p:cNvPr id="7" name="연결선: 꺾임 6">
            <a:extLst>
              <a:ext uri="{FF2B5EF4-FFF2-40B4-BE49-F238E27FC236}">
                <a16:creationId xmlns:a16="http://schemas.microsoft.com/office/drawing/2014/main" id="{F997D670-A28A-4943-A0B4-CEFB3EC541E0}"/>
              </a:ext>
            </a:extLst>
          </p:cNvPr>
          <p:cNvCxnSpPr>
            <a:cxnSpLocks/>
            <a:stCxn id="5" idx="3"/>
            <a:endCxn id="90" idx="1"/>
          </p:cNvCxnSpPr>
          <p:nvPr/>
        </p:nvCxnSpPr>
        <p:spPr>
          <a:xfrm>
            <a:off x="1165933" y="3294424"/>
            <a:ext cx="173980" cy="49622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C5C208C6-C8B4-4480-9979-D91AB9BFDED1}"/>
              </a:ext>
            </a:extLst>
          </p:cNvPr>
          <p:cNvSpPr txBox="1"/>
          <p:nvPr/>
        </p:nvSpPr>
        <p:spPr>
          <a:xfrm>
            <a:off x="1339913" y="4837558"/>
            <a:ext cx="10578707" cy="892552"/>
          </a:xfrm>
          <a:prstGeom prst="rect">
            <a:avLst/>
          </a:prstGeom>
          <a:noFill/>
          <a:ln>
            <a:solidFill>
              <a:schemeClr val="bg1">
                <a:lumMod val="50000"/>
              </a:schemeClr>
            </a:solidFill>
          </a:ln>
        </p:spPr>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그 출원 전에 공지된 발명이 가지는 구성요소의 범위를 수치로써 한정하여 표현한 경우에는 그 특허발명에 진보성을 인정할 수 있는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다른 구성요소가 부가</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(E)</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되어 있어서 그 특허발명에서의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수치한정</a:t>
            </a:r>
            <a:r>
              <a:rPr kumimoji="0" lang="en-US" altLang="ko-KR" sz="13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(D2)</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이 보충적인 사항에 불과한 것이 아닌 이상</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그 특허발명이 그 기술분야에서 통상의 지식을 가진 사람이 통상적이고 반복적인 실험을 통하여 적절히 선택할 수 있는 정도의 단순한 수치한정으로서</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공지된 발명과 비교하여 이질적인 효과나 한정된 수치범위 내외에서 현저한 효과 차이</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가 생기지 않는 것이라면 진보성이 부정된다</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2023. 7. 13.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2022</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10180).</a:t>
            </a:r>
            <a:endPar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19" name="연결선: 꺾임 18">
            <a:extLst>
              <a:ext uri="{FF2B5EF4-FFF2-40B4-BE49-F238E27FC236}">
                <a16:creationId xmlns:a16="http://schemas.microsoft.com/office/drawing/2014/main" id="{2DB60878-6ABA-4DEA-9778-F57B55800A62}"/>
              </a:ext>
            </a:extLst>
          </p:cNvPr>
          <p:cNvCxnSpPr>
            <a:cxnSpLocks/>
            <a:stCxn id="67" idx="3"/>
            <a:endCxn id="70" idx="1"/>
          </p:cNvCxnSpPr>
          <p:nvPr/>
        </p:nvCxnSpPr>
        <p:spPr>
          <a:xfrm flipV="1">
            <a:off x="1165932" y="5283834"/>
            <a:ext cx="173981" cy="255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Line 5">
            <a:extLst>
              <a:ext uri="{FF2B5EF4-FFF2-40B4-BE49-F238E27FC236}">
                <a16:creationId xmlns:a16="http://schemas.microsoft.com/office/drawing/2014/main" id="{04250376-DFCC-4474-A196-26E2687E570D}"/>
              </a:ext>
            </a:extLst>
          </p:cNvPr>
          <p:cNvSpPr>
            <a:spLocks noChangeShapeType="1"/>
          </p:cNvSpPr>
          <p:nvPr/>
        </p:nvSpPr>
        <p:spPr bwMode="auto">
          <a:xfrm>
            <a:off x="395337" y="2386061"/>
            <a:ext cx="11523282" cy="0"/>
          </a:xfrm>
          <a:prstGeom prst="line">
            <a:avLst/>
          </a:prstGeom>
          <a:noFill/>
          <a:ln w="57150">
            <a:solidFill>
              <a:schemeClr val="bg1">
                <a:lumMod val="50000"/>
              </a:schemeClr>
            </a:solidFill>
            <a:round/>
            <a:headEnd/>
            <a:tailEnd type="stealth" w="med" len="med"/>
          </a:ln>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37" name="타원 36">
            <a:extLst>
              <a:ext uri="{FF2B5EF4-FFF2-40B4-BE49-F238E27FC236}">
                <a16:creationId xmlns:a16="http://schemas.microsoft.com/office/drawing/2014/main" id="{6030FBF3-5972-4B17-B130-B131F5CE9CD4}"/>
              </a:ext>
            </a:extLst>
          </p:cNvPr>
          <p:cNvSpPr/>
          <p:nvPr/>
        </p:nvSpPr>
        <p:spPr>
          <a:xfrm>
            <a:off x="2549554" y="2303673"/>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45" name="TextBox 44">
            <a:extLst>
              <a:ext uri="{FF2B5EF4-FFF2-40B4-BE49-F238E27FC236}">
                <a16:creationId xmlns:a16="http://schemas.microsoft.com/office/drawing/2014/main" id="{8FFDE3FA-9E38-4358-994E-06A931F2ACDE}"/>
              </a:ext>
            </a:extLst>
          </p:cNvPr>
          <p:cNvSpPr txBox="1"/>
          <p:nvPr/>
        </p:nvSpPr>
        <p:spPr>
          <a:xfrm>
            <a:off x="1121113" y="1085813"/>
            <a:ext cx="3011618" cy="368902"/>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공지기술</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1: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A+B+C+D1 +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다른 기재</a:t>
            </a:r>
            <a:r>
              <a:rPr kumimoji="0" lang="en-US" altLang="ko-KR" sz="1200" b="0" i="0" u="none" strike="noStrike" kern="1200" cap="none" spc="0" normalizeH="0" baseline="0" noProof="0" dirty="0">
                <a:ln>
                  <a:noFill/>
                </a:ln>
                <a:solidFill>
                  <a:srgbClr val="FF0000"/>
                </a:solidFill>
                <a:effectLst/>
                <a:uLnTx/>
                <a:uFillTx/>
                <a:latin typeface="Rix모던고딕 B"/>
                <a:ea typeface="Rix모던고딕 B"/>
                <a:cs typeface="+mn-cs"/>
              </a:rPr>
              <a:t>(@)</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55" name="타원 54">
            <a:extLst>
              <a:ext uri="{FF2B5EF4-FFF2-40B4-BE49-F238E27FC236}">
                <a16:creationId xmlns:a16="http://schemas.microsoft.com/office/drawing/2014/main" id="{EDA6E673-3817-45B3-8494-D28F35A84460}"/>
              </a:ext>
            </a:extLst>
          </p:cNvPr>
          <p:cNvSpPr/>
          <p:nvPr/>
        </p:nvSpPr>
        <p:spPr>
          <a:xfrm>
            <a:off x="8097219" y="2303673"/>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56" name="직선 화살표 연결선 55">
            <a:extLst>
              <a:ext uri="{FF2B5EF4-FFF2-40B4-BE49-F238E27FC236}">
                <a16:creationId xmlns:a16="http://schemas.microsoft.com/office/drawing/2014/main" id="{D2A410B7-1993-4C31-A33E-90D83D9D6160}"/>
              </a:ext>
            </a:extLst>
          </p:cNvPr>
          <p:cNvCxnSpPr>
            <a:cxnSpLocks/>
            <a:stCxn id="57" idx="2"/>
          </p:cNvCxnSpPr>
          <p:nvPr/>
        </p:nvCxnSpPr>
        <p:spPr>
          <a:xfrm>
            <a:off x="8174588" y="2080757"/>
            <a:ext cx="0"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CB92700F-36BD-4CDC-B22E-F409E956A946}"/>
              </a:ext>
            </a:extLst>
          </p:cNvPr>
          <p:cNvSpPr txBox="1"/>
          <p:nvPr/>
        </p:nvSpPr>
        <p:spPr>
          <a:xfrm>
            <a:off x="7144312" y="1614248"/>
            <a:ext cx="2060552" cy="46650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출원발명</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A+B+C+D2+</a:t>
            </a:r>
            <a:r>
              <a:rPr kumimoji="0" lang="en-US" altLang="ko-KR" sz="1200" b="0" i="0" u="none" strike="noStrike" kern="1200" cap="none" spc="0" normalizeH="0" baseline="0" noProof="0" dirty="0">
                <a:ln>
                  <a:noFill/>
                </a:ln>
                <a:solidFill>
                  <a:srgbClr val="FF0000"/>
                </a:solidFill>
                <a:effectLst/>
                <a:uLnTx/>
                <a:uFillTx/>
                <a:latin typeface="Rix모던고딕 B"/>
                <a:ea typeface="Rix모던고딕 B"/>
                <a:cs typeface="+mn-cs"/>
              </a:rPr>
              <a:t>(E)</a:t>
            </a:r>
          </a:p>
        </p:txBody>
      </p:sp>
      <p:sp>
        <p:nvSpPr>
          <p:cNvPr id="33" name="TextBox 32">
            <a:extLst>
              <a:ext uri="{FF2B5EF4-FFF2-40B4-BE49-F238E27FC236}">
                <a16:creationId xmlns:a16="http://schemas.microsoft.com/office/drawing/2014/main" id="{64FA6267-EE0F-45B6-9EEE-9BB4F88A27F6}"/>
              </a:ext>
            </a:extLst>
          </p:cNvPr>
          <p:cNvSpPr txBox="1"/>
          <p:nvPr/>
        </p:nvSpPr>
        <p:spPr>
          <a:xfrm>
            <a:off x="1121113" y="1584012"/>
            <a:ext cx="3011618" cy="4557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공지기술</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1: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A+B+D1</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공지기술</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2: B+C+D1</a:t>
            </a:r>
          </a:p>
        </p:txBody>
      </p:sp>
      <p:cxnSp>
        <p:nvCxnSpPr>
          <p:cNvPr id="11" name="직선 화살표 연결선 10">
            <a:extLst>
              <a:ext uri="{FF2B5EF4-FFF2-40B4-BE49-F238E27FC236}">
                <a16:creationId xmlns:a16="http://schemas.microsoft.com/office/drawing/2014/main" id="{A8BCC56A-221B-428F-B1D8-BD2CADDEF934}"/>
              </a:ext>
            </a:extLst>
          </p:cNvPr>
          <p:cNvCxnSpPr>
            <a:cxnSpLocks/>
            <a:endCxn id="57" idx="1"/>
          </p:cNvCxnSpPr>
          <p:nvPr/>
        </p:nvCxnSpPr>
        <p:spPr>
          <a:xfrm>
            <a:off x="4151184" y="1270264"/>
            <a:ext cx="2993128" cy="577239"/>
          </a:xfrm>
          <a:prstGeom prst="straightConnector1">
            <a:avLst/>
          </a:prstGeom>
          <a:ln w="28575">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C71B1C68-7150-42E6-85EC-7B951E696EE2}"/>
              </a:ext>
            </a:extLst>
          </p:cNvPr>
          <p:cNvCxnSpPr>
            <a:cxnSpLocks/>
            <a:endCxn id="57" idx="1"/>
          </p:cNvCxnSpPr>
          <p:nvPr/>
        </p:nvCxnSpPr>
        <p:spPr>
          <a:xfrm>
            <a:off x="4151184" y="1811912"/>
            <a:ext cx="2993128" cy="35591"/>
          </a:xfrm>
          <a:prstGeom prst="straightConnector1">
            <a:avLst/>
          </a:prstGeom>
          <a:ln w="28575">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00ABBC43-232C-40F7-AAB8-722C324A9507}"/>
              </a:ext>
            </a:extLst>
          </p:cNvPr>
          <p:cNvSpPr txBox="1"/>
          <p:nvPr/>
        </p:nvSpPr>
        <p:spPr>
          <a:xfrm>
            <a:off x="4515066" y="1306471"/>
            <a:ext cx="2265364" cy="307777"/>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CASE1: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신규성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진보성 판단</a:t>
            </a:r>
          </a:p>
        </p:txBody>
      </p:sp>
      <p:sp>
        <p:nvSpPr>
          <p:cNvPr id="39" name="TextBox 38">
            <a:extLst>
              <a:ext uri="{FF2B5EF4-FFF2-40B4-BE49-F238E27FC236}">
                <a16:creationId xmlns:a16="http://schemas.microsoft.com/office/drawing/2014/main" id="{9DA4C187-B560-4186-84B9-9B5FA9F0E774}"/>
              </a:ext>
            </a:extLst>
          </p:cNvPr>
          <p:cNvSpPr txBox="1"/>
          <p:nvPr/>
        </p:nvSpPr>
        <p:spPr>
          <a:xfrm>
            <a:off x="4515066" y="1705787"/>
            <a:ext cx="1680268" cy="307777"/>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CASE2: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진보성 판단</a:t>
            </a:r>
          </a:p>
        </p:txBody>
      </p:sp>
      <p:cxnSp>
        <p:nvCxnSpPr>
          <p:cNvPr id="44" name="직선 화살표 연결선 43">
            <a:extLst>
              <a:ext uri="{FF2B5EF4-FFF2-40B4-BE49-F238E27FC236}">
                <a16:creationId xmlns:a16="http://schemas.microsoft.com/office/drawing/2014/main" id="{84900DA3-4CEB-42BD-9AE2-28A55B9F3F3A}"/>
              </a:ext>
            </a:extLst>
          </p:cNvPr>
          <p:cNvCxnSpPr>
            <a:cxnSpLocks/>
            <a:stCxn id="33" idx="2"/>
            <a:endCxn id="37" idx="0"/>
          </p:cNvCxnSpPr>
          <p:nvPr/>
        </p:nvCxnSpPr>
        <p:spPr>
          <a:xfrm>
            <a:off x="2626922" y="2039811"/>
            <a:ext cx="1" cy="26386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6ED2A9BA-DF12-48CE-A89D-16001C1FCB9C}"/>
              </a:ext>
            </a:extLst>
          </p:cNvPr>
          <p:cNvSpPr txBox="1"/>
          <p:nvPr/>
        </p:nvSpPr>
        <p:spPr>
          <a:xfrm>
            <a:off x="1339912" y="5774580"/>
            <a:ext cx="10578707" cy="692497"/>
          </a:xfrm>
          <a:prstGeom prst="rect">
            <a:avLst/>
          </a:prstGeom>
          <a:noFill/>
          <a:ln>
            <a:solidFill>
              <a:schemeClr val="bg1">
                <a:lumMod val="50000"/>
              </a:schemeClr>
            </a:solidFill>
          </a:ln>
        </p:spPr>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수치한정한 범위 전체</a:t>
            </a:r>
            <a:r>
              <a:rPr kumimoji="0" lang="en-US" altLang="ko-KR" sz="13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(D2)</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에서 이질적이거나 양적으로 현저한 효과가 있어야 한다는 점이</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출원 명세서에 당해 기술 분야에서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통상의 지식을 가진 자가 명세서 기재 자체를 통하여 인식할 수 있을 정도로 기재되어 있지 않은 이상 추후 실험자료에 의하여 인정되거나 확인되는 수치한정의 기술적 의의를 가지고서 당해 수치한정 발명의 진보성 여부를 판단할 수는 없다</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특허법원 </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2009. 5. 22.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선고 </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2008</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허</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1722).</a:t>
            </a:r>
            <a:endPar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8" name="연결선: 꺾임 7">
            <a:extLst>
              <a:ext uri="{FF2B5EF4-FFF2-40B4-BE49-F238E27FC236}">
                <a16:creationId xmlns:a16="http://schemas.microsoft.com/office/drawing/2014/main" id="{4EBC7EAF-15EE-25F6-2849-508D11871332}"/>
              </a:ext>
            </a:extLst>
          </p:cNvPr>
          <p:cNvCxnSpPr>
            <a:cxnSpLocks/>
            <a:stCxn id="67" idx="3"/>
            <a:endCxn id="47" idx="1"/>
          </p:cNvCxnSpPr>
          <p:nvPr/>
        </p:nvCxnSpPr>
        <p:spPr>
          <a:xfrm>
            <a:off x="1165932" y="5286391"/>
            <a:ext cx="173980" cy="834438"/>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말풍선: 모서리가 둥근 사각형 5">
            <a:extLst>
              <a:ext uri="{FF2B5EF4-FFF2-40B4-BE49-F238E27FC236}">
                <a16:creationId xmlns:a16="http://schemas.microsoft.com/office/drawing/2014/main" id="{070F6DF0-62DD-4470-3B01-2756C6735E45}"/>
              </a:ext>
            </a:extLst>
          </p:cNvPr>
          <p:cNvSpPr/>
          <p:nvPr/>
        </p:nvSpPr>
        <p:spPr>
          <a:xfrm>
            <a:off x="8467109" y="1328247"/>
            <a:ext cx="1670331" cy="317582"/>
          </a:xfrm>
          <a:prstGeom prst="wedgeRoundRectCallout">
            <a:avLst>
              <a:gd name="adj1" fmla="val -36931"/>
              <a:gd name="adj2" fmla="val 104842"/>
              <a:gd name="adj3" fmla="val 16667"/>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a:ln>
                  <a:noFill/>
                </a:ln>
                <a:solidFill>
                  <a:prstClr val="black">
                    <a:lumMod val="75000"/>
                    <a:lumOff val="25000"/>
                  </a:prstClr>
                </a:solidFill>
                <a:effectLst/>
                <a:uLnTx/>
                <a:uFillTx/>
                <a:latin typeface="Frutiger LT 65 Bold"/>
                <a:ea typeface="Rix모던고딕 B"/>
                <a:cs typeface="+mn-cs"/>
              </a:rPr>
              <a:t>진보성이 있는 구성요소</a:t>
            </a:r>
            <a:endParaRPr kumimoji="0" lang="ko-KR" altLang="en-US" sz="1100" b="0" i="0" u="none" strike="noStrike" kern="1200" cap="none" spc="0" normalizeH="0" baseline="0" noProof="0" dirty="0">
              <a:ln>
                <a:noFill/>
              </a:ln>
              <a:solidFill>
                <a:prstClr val="black">
                  <a:lumMod val="75000"/>
                  <a:lumOff val="25000"/>
                </a:prst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219409507"/>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2</a:t>
            </a:r>
            <a:r>
              <a:rPr lang="ko-KR" altLang="en-US" dirty="0"/>
              <a:t>항</a:t>
            </a:r>
          </a:p>
        </p:txBody>
      </p:sp>
      <p:sp>
        <p:nvSpPr>
          <p:cNvPr id="4" name="텍스트 개체 틀 3"/>
          <p:cNvSpPr>
            <a:spLocks noGrp="1"/>
          </p:cNvSpPr>
          <p:nvPr>
            <p:ph type="body" sz="quarter" idx="13"/>
          </p:nvPr>
        </p:nvSpPr>
        <p:spPr/>
        <p:txBody>
          <a:bodyPr/>
          <a:lstStyle/>
          <a:p>
            <a:r>
              <a:rPr lang="ko-KR" altLang="en-US" dirty="0" err="1"/>
              <a:t>파라미터발명의</a:t>
            </a:r>
            <a:r>
              <a:rPr lang="ko-KR" altLang="en-US" dirty="0"/>
              <a:t> 신규성</a:t>
            </a:r>
            <a:r>
              <a:rPr lang="en-US" altLang="ko-KR" dirty="0"/>
              <a:t>, </a:t>
            </a:r>
            <a:r>
              <a:rPr lang="ko-KR" altLang="en-US" dirty="0"/>
              <a:t>진보성 판단 </a:t>
            </a:r>
            <a:r>
              <a:rPr lang="en-US" altLang="ko-KR" dirty="0"/>
              <a:t>CASE</a:t>
            </a:r>
            <a:endParaRPr lang="ko-KR" altLang="en-US" dirty="0"/>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78</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90" name="TextBox 89"/>
          <p:cNvSpPr txBox="1"/>
          <p:nvPr/>
        </p:nvSpPr>
        <p:spPr>
          <a:xfrm>
            <a:off x="1339913" y="2666897"/>
            <a:ext cx="10578707" cy="1292662"/>
          </a:xfrm>
          <a:prstGeom prst="rect">
            <a:avLst/>
          </a:prstGeom>
          <a:noFill/>
          <a:ln>
            <a:solidFill>
              <a:schemeClr val="bg1">
                <a:lumMod val="50000"/>
              </a:schemeClr>
            </a:solidFill>
          </a:ln>
        </p:spPr>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새롭게 창출한 물리적</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화학적</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생물학적 특성 값을 이용하거나 복수의 변수 사이의 상관관계를 이용하여 발명의 구성요소를 특정한 이른바 ‘파라미터 </a:t>
            </a:r>
            <a:r>
              <a:rPr kumimoji="0" lang="ko-KR" altLang="en-US" sz="1300" b="0" i="0" u="none" strike="noStrike" kern="1200" cap="none" spc="0" normalizeH="0" baseline="0" noProof="0" dirty="0" err="1">
                <a:ln>
                  <a:noFill/>
                </a:ln>
                <a:solidFill>
                  <a:srgbClr val="FF0000"/>
                </a:solidFill>
                <a:effectLst/>
                <a:uLnTx/>
                <a:uFillTx/>
                <a:latin typeface="Frutiger LT 65 Bold"/>
                <a:ea typeface="Rix모던고딕 B"/>
                <a:cs typeface="+mn-cs"/>
              </a:rPr>
              <a:t>발명’</a:t>
            </a:r>
            <a:r>
              <a:rPr kumimoji="0" lang="ko-KR" altLang="en-US" sz="1300" b="0" i="0" u="none" strike="noStrike" kern="1200" cap="none" spc="0" normalizeH="0" baseline="0" noProof="0" dirty="0" err="1">
                <a:ln>
                  <a:noFill/>
                </a:ln>
                <a:solidFill>
                  <a:srgbClr val="44546A"/>
                </a:solidFill>
                <a:effectLst/>
                <a:uLnTx/>
                <a:uFillTx/>
                <a:latin typeface="Frutiger LT 65 Bold"/>
                <a:ea typeface="Rix모던고딕 B"/>
                <a:cs typeface="+mn-cs"/>
              </a:rPr>
              <a:t>과</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 이와 다른 성질 또는 특성 등에 의해 물건 또는 방법을 특정하고 있는 선행발명을 대비할 때</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특허발명의 청구범위에 기재된 성질 또는 특성이 다른 정의 또는 시험</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측정방법에 의한 것으로 환산이 가능하여 환산해 본 결과 선행발명의 대응되는 것과 동일하거나 또는 특허발명의 명세서의 상세한 설명에 기재된 실시형태와 선행발명의 구체적 실시형태가 동일한 경우에는</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달리 특별한 사정이 없는 한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양 발명은 발명에 대한 기술적인 표현만 달리할 뿐 실질적으로는 동일한 것으로 보아야 할 것이므로</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이러한 특허발명은 신규성이 부정된다</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반면</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위와 같은 방법 등을 통하여 양 발명이 실질적으로 동일하다는 점이 증명되지 않으면</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신규성이 부정된다고 할 수 없다</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2021. 12. 30.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2017</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1298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판결</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5" name="사각형: 둥근 모서리 4">
            <a:extLst>
              <a:ext uri="{FF2B5EF4-FFF2-40B4-BE49-F238E27FC236}">
                <a16:creationId xmlns:a16="http://schemas.microsoft.com/office/drawing/2014/main" id="{CCE5BD75-FE62-410E-BBE2-0BD79FB081E7}"/>
              </a:ext>
            </a:extLst>
          </p:cNvPr>
          <p:cNvSpPr/>
          <p:nvPr/>
        </p:nvSpPr>
        <p:spPr>
          <a:xfrm>
            <a:off x="273381" y="2670812"/>
            <a:ext cx="892552" cy="892552"/>
          </a:xfrm>
          <a:prstGeom prst="round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신규성</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요건</a:t>
            </a:r>
          </a:p>
        </p:txBody>
      </p:sp>
      <p:sp>
        <p:nvSpPr>
          <p:cNvPr id="67" name="사각형: 둥근 모서리 66">
            <a:extLst>
              <a:ext uri="{FF2B5EF4-FFF2-40B4-BE49-F238E27FC236}">
                <a16:creationId xmlns:a16="http://schemas.microsoft.com/office/drawing/2014/main" id="{ADECC240-A040-4630-9423-C918FB652AAA}"/>
              </a:ext>
            </a:extLst>
          </p:cNvPr>
          <p:cNvSpPr/>
          <p:nvPr/>
        </p:nvSpPr>
        <p:spPr>
          <a:xfrm>
            <a:off x="273380" y="3961119"/>
            <a:ext cx="892552" cy="892552"/>
          </a:xfrm>
          <a:prstGeom prst="round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진보성</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요건</a:t>
            </a:r>
          </a:p>
        </p:txBody>
      </p:sp>
      <p:cxnSp>
        <p:nvCxnSpPr>
          <p:cNvPr id="7" name="연결선: 꺾임 6">
            <a:extLst>
              <a:ext uri="{FF2B5EF4-FFF2-40B4-BE49-F238E27FC236}">
                <a16:creationId xmlns:a16="http://schemas.microsoft.com/office/drawing/2014/main" id="{F997D670-A28A-4943-A0B4-CEFB3EC541E0}"/>
              </a:ext>
            </a:extLst>
          </p:cNvPr>
          <p:cNvCxnSpPr>
            <a:cxnSpLocks/>
            <a:stCxn id="5" idx="3"/>
            <a:endCxn id="90" idx="1"/>
          </p:cNvCxnSpPr>
          <p:nvPr/>
        </p:nvCxnSpPr>
        <p:spPr>
          <a:xfrm>
            <a:off x="1165933" y="3117088"/>
            <a:ext cx="173980" cy="19614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C5C208C6-C8B4-4480-9979-D91AB9BFDED1}"/>
              </a:ext>
            </a:extLst>
          </p:cNvPr>
          <p:cNvSpPr txBox="1"/>
          <p:nvPr/>
        </p:nvSpPr>
        <p:spPr>
          <a:xfrm>
            <a:off x="1339913" y="4101998"/>
            <a:ext cx="10578707" cy="1092607"/>
          </a:xfrm>
          <a:prstGeom prst="rect">
            <a:avLst/>
          </a:prstGeom>
          <a:noFill/>
          <a:ln>
            <a:solidFill>
              <a:schemeClr val="bg1">
                <a:lumMod val="50000"/>
              </a:schemeClr>
            </a:solidFill>
          </a:ln>
        </p:spPr>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파라미터 발명이 공지된 발명과 파라미터에 의해 한정된 구성에서만 차이가 있는 경우</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발명의 명세서 기재 및 출원 당시 통상의 기술자의 기술 수준을 종합하여 보았을 때 파라미터가 공지된 발명과는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상이한 과제를 해결하기 위한 </a:t>
            </a:r>
            <a:r>
              <a:rPr kumimoji="0" lang="ko-KR" altLang="en-US" sz="1300" b="0" i="0" u="none" strike="noStrike" kern="1200" cap="none" spc="0" normalizeH="0" baseline="0" noProof="0" dirty="0" err="1">
                <a:ln>
                  <a:noFill/>
                </a:ln>
                <a:solidFill>
                  <a:srgbClr val="FF0000"/>
                </a:solidFill>
                <a:effectLst/>
                <a:uLnTx/>
                <a:uFillTx/>
                <a:latin typeface="Frutiger LT 65 Bold"/>
                <a:ea typeface="Rix모던고딕 B"/>
                <a:cs typeface="+mn-cs"/>
              </a:rPr>
              <a:t>기술수단으로서의</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 의의를 가지고</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그로 인해 특유한 효과를 갖는다고 인정되는 경우</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에는 진보성이 부정되지 않는다</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한편</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파라미터의 도입 자체에 대하여는 위와 같은 기술적 의의를 인정할 수 없더라도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발명이 새롭게 도입한 파라미터를 수치로 한정하는 형태를 취하고 있는 경우에는</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한정된 수치범위 내외에서 현저한 효과의 차이가 생기거나</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그 수치한정이 공지된 발명과는 상이한 과제를 달성하기 위한 </a:t>
            </a:r>
            <a:r>
              <a:rPr kumimoji="0" lang="ko-KR" altLang="en-US" sz="1300" b="0" i="0" u="none" strike="noStrike" kern="1200" cap="none" spc="0" normalizeH="0" baseline="0" noProof="0" dirty="0" err="1">
                <a:ln>
                  <a:noFill/>
                </a:ln>
                <a:solidFill>
                  <a:srgbClr val="FF0000"/>
                </a:solidFill>
                <a:effectLst/>
                <a:uLnTx/>
                <a:uFillTx/>
                <a:latin typeface="Frutiger LT 65 Bold"/>
                <a:ea typeface="Rix모던고딕 B"/>
                <a:cs typeface="+mn-cs"/>
              </a:rPr>
              <a:t>기술수단으로서의</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 의의를 가지고 그 효과도 이질적인 경우라면</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진보성이 부정되지 않는다</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2021. 12. 30.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2017</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1298 </a:t>
            </a:r>
            <a:r>
              <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rPr>
              <a:t>판결</a:t>
            </a:r>
            <a:r>
              <a:rPr kumimoji="0" lang="en-US" altLang="ko-KR" sz="13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3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19" name="연결선: 꺾임 18">
            <a:extLst>
              <a:ext uri="{FF2B5EF4-FFF2-40B4-BE49-F238E27FC236}">
                <a16:creationId xmlns:a16="http://schemas.microsoft.com/office/drawing/2014/main" id="{2DB60878-6ABA-4DEA-9778-F57B55800A62}"/>
              </a:ext>
            </a:extLst>
          </p:cNvPr>
          <p:cNvCxnSpPr>
            <a:cxnSpLocks/>
            <a:stCxn id="67" idx="3"/>
            <a:endCxn id="70" idx="1"/>
          </p:cNvCxnSpPr>
          <p:nvPr/>
        </p:nvCxnSpPr>
        <p:spPr>
          <a:xfrm>
            <a:off x="1165932" y="4407395"/>
            <a:ext cx="173981" cy="24090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Line 5">
            <a:extLst>
              <a:ext uri="{FF2B5EF4-FFF2-40B4-BE49-F238E27FC236}">
                <a16:creationId xmlns:a16="http://schemas.microsoft.com/office/drawing/2014/main" id="{79818389-E90F-472B-8D0A-77A41819FD3D}"/>
              </a:ext>
            </a:extLst>
          </p:cNvPr>
          <p:cNvSpPr>
            <a:spLocks noChangeShapeType="1"/>
          </p:cNvSpPr>
          <p:nvPr/>
        </p:nvSpPr>
        <p:spPr bwMode="auto">
          <a:xfrm>
            <a:off x="395337" y="2287446"/>
            <a:ext cx="11523282" cy="0"/>
          </a:xfrm>
          <a:prstGeom prst="line">
            <a:avLst/>
          </a:prstGeom>
          <a:noFill/>
          <a:ln w="57150">
            <a:solidFill>
              <a:schemeClr val="bg1">
                <a:lumMod val="50000"/>
              </a:schemeClr>
            </a:solidFill>
            <a:round/>
            <a:headEnd/>
            <a:tailEnd type="stealth" w="med" len="med"/>
          </a:ln>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28" name="타원 27">
            <a:extLst>
              <a:ext uri="{FF2B5EF4-FFF2-40B4-BE49-F238E27FC236}">
                <a16:creationId xmlns:a16="http://schemas.microsoft.com/office/drawing/2014/main" id="{7F48D8BA-8C9A-4814-A7D5-381B1B18ED5C}"/>
              </a:ext>
            </a:extLst>
          </p:cNvPr>
          <p:cNvSpPr/>
          <p:nvPr/>
        </p:nvSpPr>
        <p:spPr>
          <a:xfrm>
            <a:off x="1958674" y="220505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31" name="타원 30">
            <a:extLst>
              <a:ext uri="{FF2B5EF4-FFF2-40B4-BE49-F238E27FC236}">
                <a16:creationId xmlns:a16="http://schemas.microsoft.com/office/drawing/2014/main" id="{9165F994-8C67-420E-A6D8-006A081122E9}"/>
              </a:ext>
            </a:extLst>
          </p:cNvPr>
          <p:cNvSpPr/>
          <p:nvPr/>
        </p:nvSpPr>
        <p:spPr>
          <a:xfrm>
            <a:off x="7039382" y="2205058"/>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32" name="직선 화살표 연결선 31">
            <a:extLst>
              <a:ext uri="{FF2B5EF4-FFF2-40B4-BE49-F238E27FC236}">
                <a16:creationId xmlns:a16="http://schemas.microsoft.com/office/drawing/2014/main" id="{DB6D2C57-74E3-4442-AE1B-EC2DFACB6056}"/>
              </a:ext>
            </a:extLst>
          </p:cNvPr>
          <p:cNvCxnSpPr>
            <a:cxnSpLocks/>
            <a:stCxn id="34" idx="2"/>
            <a:endCxn id="31" idx="0"/>
          </p:cNvCxnSpPr>
          <p:nvPr/>
        </p:nvCxnSpPr>
        <p:spPr>
          <a:xfrm>
            <a:off x="7116751" y="1939012"/>
            <a:ext cx="0" cy="26604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8002E2F-4C9B-4400-8E46-60F6AB8A23BE}"/>
              </a:ext>
            </a:extLst>
          </p:cNvPr>
          <p:cNvSpPr txBox="1"/>
          <p:nvPr/>
        </p:nvSpPr>
        <p:spPr>
          <a:xfrm>
            <a:off x="3659448" y="1472503"/>
            <a:ext cx="6914606" cy="46650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단부와</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1200" cap="none" spc="0" normalizeH="0" baseline="0" noProof="0" dirty="0" err="1">
                <a:ln>
                  <a:noFill/>
                </a:ln>
                <a:solidFill>
                  <a:srgbClr val="FF0000"/>
                </a:solidFill>
                <a:effectLst/>
                <a:uLnTx/>
                <a:uFillTx/>
                <a:latin typeface="Rix모던고딕 B"/>
                <a:ea typeface="Rix모던고딕 B"/>
                <a:cs typeface="+mn-cs"/>
              </a:rPr>
              <a:t>최외부</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사이의 거리는 </a:t>
            </a:r>
            <a:r>
              <a:rPr kumimoji="0" lang="ko-KR" altLang="en-US" sz="1200" b="0" i="0" u="none" strike="noStrike" kern="1200" cap="none" spc="0" normalizeH="0" baseline="0" noProof="0" dirty="0">
                <a:ln>
                  <a:noFill/>
                </a:ln>
                <a:solidFill>
                  <a:srgbClr val="FF0000"/>
                </a:solidFill>
                <a:effectLst/>
                <a:uLnTx/>
                <a:uFillTx/>
                <a:latin typeface="Rix모던고딕 B"/>
                <a:ea typeface="Rix모던고딕 B"/>
                <a:cs typeface="+mn-cs"/>
              </a:rPr>
              <a:t>평균 막 두께</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의 </a:t>
            </a:r>
            <a:r>
              <a:rPr kumimoji="0" lang="en-US" altLang="ko-KR" sz="1200" b="0" i="0" u="none" strike="noStrike" kern="1200" cap="none" spc="0" normalizeH="0" baseline="0" noProof="0" dirty="0">
                <a:ln>
                  <a:noFill/>
                </a:ln>
                <a:solidFill>
                  <a:prstClr val="black"/>
                </a:solidFill>
                <a:effectLst/>
                <a:highlight>
                  <a:srgbClr val="FFFF00"/>
                </a:highlight>
                <a:uLnTx/>
                <a:uFillTx/>
                <a:latin typeface="Rix모던고딕 B"/>
                <a:ea typeface="Rix모던고딕 B"/>
                <a:cs typeface="+mn-cs"/>
              </a:rPr>
              <a:t>10</a:t>
            </a:r>
            <a:r>
              <a:rPr kumimoji="0" lang="ko-KR" altLang="en-US" sz="1200" b="0" i="0" u="none" strike="noStrike" kern="1200" cap="none" spc="0" normalizeH="0" baseline="0" noProof="0" dirty="0">
                <a:ln>
                  <a:noFill/>
                </a:ln>
                <a:solidFill>
                  <a:prstClr val="black"/>
                </a:solidFill>
                <a:effectLst/>
                <a:highlight>
                  <a:srgbClr val="FFFF00"/>
                </a:highlight>
                <a:uLnTx/>
                <a:uFillTx/>
                <a:latin typeface="Rix모던고딕 B"/>
                <a:ea typeface="Rix모던고딕 B"/>
                <a:cs typeface="+mn-cs"/>
              </a:rPr>
              <a:t>배 이상 </a:t>
            </a:r>
            <a:r>
              <a:rPr kumimoji="0" lang="en-US" altLang="ko-KR" sz="1200" b="0" i="0" u="none" strike="noStrike" kern="1200" cap="none" spc="0" normalizeH="0" baseline="0" noProof="0" dirty="0">
                <a:ln>
                  <a:noFill/>
                </a:ln>
                <a:solidFill>
                  <a:prstClr val="black"/>
                </a:solidFill>
                <a:effectLst/>
                <a:highlight>
                  <a:srgbClr val="FFFF00"/>
                </a:highlight>
                <a:uLnTx/>
                <a:uFillTx/>
                <a:latin typeface="Rix모던고딕 B"/>
                <a:ea typeface="Rix모던고딕 B"/>
                <a:cs typeface="+mn-cs"/>
              </a:rPr>
              <a:t>10,000</a:t>
            </a:r>
            <a:r>
              <a:rPr kumimoji="0" lang="ko-KR" altLang="en-US" sz="1200" b="0" i="0" u="none" strike="noStrike" kern="1200" cap="none" spc="0" normalizeH="0" baseline="0" noProof="0" dirty="0">
                <a:ln>
                  <a:noFill/>
                </a:ln>
                <a:solidFill>
                  <a:prstClr val="black"/>
                </a:solidFill>
                <a:effectLst/>
                <a:highlight>
                  <a:srgbClr val="FFFF00"/>
                </a:highlight>
                <a:uLnTx/>
                <a:uFillTx/>
                <a:latin typeface="Rix모던고딕 B"/>
                <a:ea typeface="Rix모던고딕 B"/>
                <a:cs typeface="+mn-cs"/>
              </a:rPr>
              <a:t>배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이하인 것을 특징으로 하는 복합구조물</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35" name="TextBox 34">
            <a:extLst>
              <a:ext uri="{FF2B5EF4-FFF2-40B4-BE49-F238E27FC236}">
                <a16:creationId xmlns:a16="http://schemas.microsoft.com/office/drawing/2014/main" id="{4AB12C08-BAB3-47A7-AC67-67BE1CE236C6}"/>
              </a:ext>
            </a:extLst>
          </p:cNvPr>
          <p:cNvSpPr txBox="1"/>
          <p:nvPr/>
        </p:nvSpPr>
        <p:spPr>
          <a:xfrm>
            <a:off x="978739" y="1485397"/>
            <a:ext cx="2114608" cy="4557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공지기술</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복합구조물</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42" name="직선 화살표 연결선 41">
            <a:extLst>
              <a:ext uri="{FF2B5EF4-FFF2-40B4-BE49-F238E27FC236}">
                <a16:creationId xmlns:a16="http://schemas.microsoft.com/office/drawing/2014/main" id="{0DC0D733-FF9B-495C-B246-C3EFB589230F}"/>
              </a:ext>
            </a:extLst>
          </p:cNvPr>
          <p:cNvCxnSpPr>
            <a:cxnSpLocks/>
            <a:stCxn id="35" idx="2"/>
          </p:cNvCxnSpPr>
          <p:nvPr/>
        </p:nvCxnSpPr>
        <p:spPr>
          <a:xfrm>
            <a:off x="2036043" y="1941196"/>
            <a:ext cx="10557" cy="26386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88B7F0C7-2622-4D42-8801-7194CC3AC437}"/>
              </a:ext>
            </a:extLst>
          </p:cNvPr>
          <p:cNvSpPr txBox="1"/>
          <p:nvPr/>
        </p:nvSpPr>
        <p:spPr>
          <a:xfrm>
            <a:off x="1339911" y="5194605"/>
            <a:ext cx="10578707" cy="1034579"/>
          </a:xfrm>
          <a:prstGeom prst="rect">
            <a:avLst/>
          </a:prstGeom>
          <a:noFill/>
        </p:spPr>
        <p:txBody>
          <a:bodyPr wrap="square">
            <a:spAutoFit/>
          </a:bodyPr>
          <a:lstStyle/>
          <a:p>
            <a:pPr marL="0" marR="0" lvl="0" indent="0" algn="just" defTabSz="914400" rtl="0" eaLnBrk="1" fontAlgn="base" latinLnBrk="1" hangingPunct="1">
              <a:lnSpc>
                <a:spcPct val="130000"/>
              </a:lnSpc>
              <a:spcBef>
                <a:spcPts val="0"/>
              </a:spcBef>
              <a:spcAft>
                <a:spcPts val="0"/>
              </a:spcAft>
              <a:buClrTx/>
              <a:buSzTx/>
              <a:buFontTx/>
              <a:buNone/>
              <a:tabLst>
                <a:tab pos="85725" algn="l"/>
                <a:tab pos="320675" algn="l"/>
                <a:tab pos="320675" algn="l"/>
              </a:tabLst>
              <a:defRPr/>
            </a:pPr>
            <a:r>
              <a:rPr kumimoji="0" lang="en-US" altLang="ko-KR" sz="1200" b="0" i="0" u="none" strike="noStrike" kern="0" cap="none" spc="-30" normalizeH="0" baseline="0" noProof="0" dirty="0">
                <a:ln>
                  <a:noFill/>
                </a:ln>
                <a:solidFill>
                  <a:srgbClr val="44546A"/>
                </a:solidFill>
                <a:effectLst/>
                <a:uLnTx/>
                <a:uFillTx/>
                <a:latin typeface="Rix모던고딕 B"/>
                <a:ea typeface="Rix모던고딕 B"/>
                <a:cs typeface="+mn-cs"/>
              </a:rPr>
              <a:t>* </a:t>
            </a:r>
            <a:r>
              <a:rPr kumimoji="0" lang="ko-KR" altLang="en-US" sz="1200" b="0" i="0" u="none" strike="noStrike" kern="0" cap="none" spc="-30" normalizeH="0" baseline="0" noProof="0" dirty="0">
                <a:ln>
                  <a:noFill/>
                </a:ln>
                <a:solidFill>
                  <a:srgbClr val="44546A"/>
                </a:solidFill>
                <a:effectLst/>
                <a:uLnTx/>
                <a:uFillTx/>
                <a:latin typeface="Rix모던고딕 B"/>
                <a:ea typeface="Rix모던고딕 B"/>
                <a:cs typeface="+mn-cs"/>
              </a:rPr>
              <a:t>분석기기 등의 발달로 인해 특정 파라미터를 발견해 내기 용이하게 되어 파라미터 발명의 출원이 증가함</a:t>
            </a:r>
            <a:endParaRPr kumimoji="0" lang="en-US" altLang="ko-KR" sz="1200" b="0" i="0" u="none" strike="noStrike" kern="0" cap="none" spc="-30" normalizeH="0" baseline="0" noProof="0" dirty="0">
              <a:ln>
                <a:noFill/>
              </a:ln>
              <a:solidFill>
                <a:srgbClr val="44546A"/>
              </a:solidFill>
              <a:effectLst/>
              <a:uLnTx/>
              <a:uFillTx/>
              <a:latin typeface="Rix모던고딕 B"/>
              <a:ea typeface="Rix모던고딕 B"/>
              <a:cs typeface="+mn-cs"/>
            </a:endParaRPr>
          </a:p>
          <a:p>
            <a:pPr marL="85725" marR="0" lvl="0" indent="-85725" algn="just" defTabSz="914400" rtl="0" eaLnBrk="1" fontAlgn="base" latinLnBrk="1" hangingPunct="1">
              <a:lnSpc>
                <a:spcPct val="130000"/>
              </a:lnSpc>
              <a:spcBef>
                <a:spcPts val="0"/>
              </a:spcBef>
              <a:spcAft>
                <a:spcPts val="0"/>
              </a:spcAft>
              <a:buClrTx/>
              <a:buSzTx/>
              <a:buFontTx/>
              <a:buNone/>
              <a:tabLst>
                <a:tab pos="85725" algn="l"/>
                <a:tab pos="320675" algn="l"/>
                <a:tab pos="320675" algn="l"/>
              </a:tabLst>
              <a:defRPr/>
            </a:pPr>
            <a:r>
              <a:rPr kumimoji="0" lang="en-US" altLang="ko-KR" sz="1200" b="0" i="0" u="none" strike="noStrike" kern="0" cap="none" spc="-30" normalizeH="0" baseline="0" noProof="0" dirty="0">
                <a:ln>
                  <a:noFill/>
                </a:ln>
                <a:solidFill>
                  <a:srgbClr val="44546A"/>
                </a:solidFill>
                <a:effectLst/>
                <a:uLnTx/>
                <a:uFillTx/>
                <a:latin typeface="Rix모던고딕 B"/>
                <a:ea typeface="Rix모던고딕 B"/>
                <a:cs typeface="+mn-cs"/>
              </a:rPr>
              <a:t>* </a:t>
            </a:r>
            <a:r>
              <a:rPr kumimoji="0" lang="ko-KR" altLang="en-US" sz="1200" b="0" i="0" u="none" strike="noStrike" kern="0" cap="none" spc="-30" normalizeH="0" baseline="0" noProof="0" dirty="0">
                <a:ln>
                  <a:noFill/>
                </a:ln>
                <a:solidFill>
                  <a:srgbClr val="44546A"/>
                </a:solidFill>
                <a:effectLst/>
                <a:uLnTx/>
                <a:uFillTx/>
                <a:latin typeface="Rix모던고딕 B"/>
                <a:ea typeface="Rix모던고딕 B"/>
                <a:cs typeface="+mn-cs"/>
              </a:rPr>
              <a:t>파라미터 발명은 물질의 구조를 특정하여 청구범위를 기재하는 것이 아니라</a:t>
            </a:r>
            <a:r>
              <a:rPr kumimoji="0" lang="en-US" altLang="ko-KR" sz="1200" b="0" i="0" u="none" strike="noStrike" kern="0" cap="none" spc="-30" normalizeH="0" baseline="0" noProof="0" dirty="0">
                <a:ln>
                  <a:noFill/>
                </a:ln>
                <a:solidFill>
                  <a:srgbClr val="44546A"/>
                </a:solidFill>
                <a:effectLst/>
                <a:uLnTx/>
                <a:uFillTx/>
                <a:latin typeface="Rix모던고딕 B"/>
                <a:ea typeface="Rix모던고딕 B"/>
                <a:cs typeface="+mn-cs"/>
              </a:rPr>
              <a:t>, </a:t>
            </a:r>
            <a:r>
              <a:rPr kumimoji="0" lang="ko-KR" altLang="en-US" sz="1200" b="0" i="0" u="none" strike="noStrike" kern="0" cap="none" spc="-30" normalizeH="0" baseline="0" noProof="0" dirty="0">
                <a:ln>
                  <a:noFill/>
                </a:ln>
                <a:solidFill>
                  <a:srgbClr val="44546A"/>
                </a:solidFill>
                <a:effectLst/>
                <a:uLnTx/>
                <a:uFillTx/>
                <a:latin typeface="Rix모던고딕 B"/>
                <a:ea typeface="Rix모던고딕 B"/>
                <a:cs typeface="+mn-cs"/>
              </a:rPr>
              <a:t>그 물질이 갖는 물성이나 특성에 대한 파라미터를 사용하여 청구범위가 특정되므로 권리범위를 넓게 설정할 수 있고</a:t>
            </a:r>
            <a:r>
              <a:rPr kumimoji="0" lang="en-US" altLang="ko-KR" sz="1200" b="0" i="0" u="none" strike="noStrike" kern="0" cap="none" spc="-30" normalizeH="0" baseline="0" noProof="0" dirty="0">
                <a:ln>
                  <a:noFill/>
                </a:ln>
                <a:solidFill>
                  <a:srgbClr val="44546A"/>
                </a:solidFill>
                <a:effectLst/>
                <a:uLnTx/>
                <a:uFillTx/>
                <a:latin typeface="Rix모던고딕 B"/>
                <a:ea typeface="Rix모던고딕 B"/>
                <a:cs typeface="+mn-cs"/>
              </a:rPr>
              <a:t>, </a:t>
            </a:r>
            <a:r>
              <a:rPr kumimoji="0" lang="ko-KR" altLang="en-US" sz="1200" b="0" i="0" u="none" strike="noStrike" kern="0" cap="none" spc="-30" normalizeH="0" baseline="0" noProof="0" dirty="0">
                <a:ln>
                  <a:noFill/>
                </a:ln>
                <a:solidFill>
                  <a:srgbClr val="44546A"/>
                </a:solidFill>
                <a:effectLst/>
                <a:uLnTx/>
                <a:uFillTx/>
                <a:latin typeface="Rix모던고딕 B"/>
                <a:ea typeface="Rix모던고딕 B"/>
                <a:cs typeface="+mn-cs"/>
              </a:rPr>
              <a:t>권리침해의 주장 및 증명이 쉬움</a:t>
            </a:r>
            <a:endParaRPr kumimoji="0" lang="en-US" altLang="ko-KR" sz="1200" b="0" i="0" u="none" strike="noStrike" kern="0" cap="none" spc="-30" normalizeH="0" baseline="0" noProof="0" dirty="0">
              <a:ln>
                <a:noFill/>
              </a:ln>
              <a:solidFill>
                <a:srgbClr val="44546A"/>
              </a:solidFill>
              <a:effectLst/>
              <a:uLnTx/>
              <a:uFillTx/>
              <a:latin typeface="Rix모던고딕 B"/>
              <a:ea typeface="Rix모던고딕 B"/>
              <a:cs typeface="+mn-cs"/>
            </a:endParaRPr>
          </a:p>
          <a:p>
            <a:pPr marL="0" marR="0" lvl="0" indent="0" algn="just" defTabSz="914400" rtl="0" eaLnBrk="1" fontAlgn="base" latinLnBrk="1" hangingPunct="1">
              <a:lnSpc>
                <a:spcPct val="130000"/>
              </a:lnSpc>
              <a:spcBef>
                <a:spcPts val="0"/>
              </a:spcBef>
              <a:spcAft>
                <a:spcPts val="0"/>
              </a:spcAft>
              <a:buClrTx/>
              <a:buSzTx/>
              <a:buFontTx/>
              <a:buNone/>
              <a:tabLst>
                <a:tab pos="85725" algn="l"/>
                <a:tab pos="320675" algn="l"/>
                <a:tab pos="320675" algn="l"/>
              </a:tabLst>
              <a:defRPr/>
            </a:pPr>
            <a:r>
              <a:rPr kumimoji="0" lang="en-US" altLang="ko-KR" sz="1200" b="0" i="0" u="none" strike="noStrike" kern="0" cap="none" spc="-30" normalizeH="0" baseline="0" noProof="0" dirty="0">
                <a:ln>
                  <a:noFill/>
                </a:ln>
                <a:solidFill>
                  <a:srgbClr val="44546A"/>
                </a:solidFill>
                <a:effectLst/>
                <a:uLnTx/>
                <a:uFillTx/>
                <a:latin typeface="Rix모던고딕 B"/>
                <a:ea typeface="Rix모던고딕 B"/>
                <a:cs typeface="+mn-cs"/>
              </a:rPr>
              <a:t>* </a:t>
            </a:r>
            <a:r>
              <a:rPr kumimoji="0" lang="ko-KR" altLang="en-US" sz="1200" b="0" i="0" u="none" strike="noStrike" kern="0" cap="none" spc="-30" normalizeH="0" baseline="0" noProof="0" dirty="0">
                <a:ln>
                  <a:noFill/>
                </a:ln>
                <a:solidFill>
                  <a:srgbClr val="44546A"/>
                </a:solidFill>
                <a:effectLst/>
                <a:uLnTx/>
                <a:uFillTx/>
                <a:latin typeface="Rix모던고딕 B"/>
                <a:ea typeface="Rix모던고딕 B"/>
                <a:cs typeface="+mn-cs"/>
              </a:rPr>
              <a:t>또한</a:t>
            </a:r>
            <a:r>
              <a:rPr kumimoji="0" lang="en-US" altLang="ko-KR" sz="1200" b="0" i="0" u="none" strike="noStrike" kern="0" cap="none" spc="-30" normalizeH="0" baseline="0" noProof="0" dirty="0">
                <a:ln>
                  <a:noFill/>
                </a:ln>
                <a:solidFill>
                  <a:srgbClr val="44546A"/>
                </a:solidFill>
                <a:effectLst/>
                <a:uLnTx/>
                <a:uFillTx/>
                <a:latin typeface="Rix모던고딕 B"/>
                <a:ea typeface="Rix모던고딕 B"/>
                <a:cs typeface="+mn-cs"/>
              </a:rPr>
              <a:t>, </a:t>
            </a:r>
            <a:r>
              <a:rPr kumimoji="0" lang="ko-KR" altLang="en-US" sz="1200" b="0" i="0" u="none" strike="noStrike" kern="0" cap="none" spc="-30" normalizeH="0" baseline="0" noProof="0" dirty="0">
                <a:ln>
                  <a:noFill/>
                </a:ln>
                <a:solidFill>
                  <a:srgbClr val="44546A"/>
                </a:solidFill>
                <a:effectLst/>
                <a:uLnTx/>
                <a:uFillTx/>
                <a:latin typeface="Rix모던고딕 B"/>
                <a:ea typeface="Rix모던고딕 B"/>
                <a:cs typeface="+mn-cs"/>
              </a:rPr>
              <a:t>새로이 창작된 파라미터를 이용하는 경우 그 파라미터에 대응되는 선행기술을 찾고 확인하기 어렵기 때문에 현실적으로 등록가능성이 높음</a:t>
            </a:r>
          </a:p>
        </p:txBody>
      </p:sp>
      <p:sp>
        <p:nvSpPr>
          <p:cNvPr id="6" name="말풍선: 모서리가 둥근 사각형 5">
            <a:extLst>
              <a:ext uri="{FF2B5EF4-FFF2-40B4-BE49-F238E27FC236}">
                <a16:creationId xmlns:a16="http://schemas.microsoft.com/office/drawing/2014/main" id="{08C2DDAD-3305-23C2-DCD4-31F4CC19AA03}"/>
              </a:ext>
            </a:extLst>
          </p:cNvPr>
          <p:cNvSpPr/>
          <p:nvPr/>
        </p:nvSpPr>
        <p:spPr>
          <a:xfrm>
            <a:off x="7463061" y="1057835"/>
            <a:ext cx="909974" cy="317582"/>
          </a:xfrm>
          <a:prstGeom prst="wedgeRoundRectCallout">
            <a:avLst>
              <a:gd name="adj1" fmla="val -36931"/>
              <a:gd name="adj2" fmla="val 104842"/>
              <a:gd name="adj3" fmla="val 16667"/>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lumMod val="75000"/>
                    <a:lumOff val="25000"/>
                  </a:prstClr>
                </a:solidFill>
                <a:effectLst/>
                <a:uLnTx/>
                <a:uFillTx/>
                <a:latin typeface="Frutiger LT 65 Bold"/>
                <a:ea typeface="Rix모던고딕 B"/>
                <a:cs typeface="+mn-cs"/>
              </a:rPr>
              <a:t>수치한정</a:t>
            </a:r>
          </a:p>
        </p:txBody>
      </p:sp>
      <p:sp>
        <p:nvSpPr>
          <p:cNvPr id="8" name="말풍선: 모서리가 둥근 사각형 7">
            <a:extLst>
              <a:ext uri="{FF2B5EF4-FFF2-40B4-BE49-F238E27FC236}">
                <a16:creationId xmlns:a16="http://schemas.microsoft.com/office/drawing/2014/main" id="{825BE50C-4C88-7CFE-7B8A-DAE08C986910}"/>
              </a:ext>
            </a:extLst>
          </p:cNvPr>
          <p:cNvSpPr/>
          <p:nvPr/>
        </p:nvSpPr>
        <p:spPr>
          <a:xfrm>
            <a:off x="4441955" y="1057835"/>
            <a:ext cx="909974" cy="317582"/>
          </a:xfrm>
          <a:prstGeom prst="wedgeRoundRectCallout">
            <a:avLst>
              <a:gd name="adj1" fmla="val -36931"/>
              <a:gd name="adj2" fmla="val 104842"/>
              <a:gd name="adj3" fmla="val 16667"/>
            </a:avLst>
          </a:prstGeom>
          <a:solidFill>
            <a:schemeClr val="accent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lumMod val="75000"/>
                    <a:lumOff val="25000"/>
                  </a:prstClr>
                </a:solidFill>
                <a:effectLst/>
                <a:uLnTx/>
                <a:uFillTx/>
                <a:latin typeface="Frutiger LT 65 Bold"/>
                <a:ea typeface="Rix모던고딕 B"/>
                <a:cs typeface="+mn-cs"/>
              </a:rPr>
              <a:t>파라미터</a:t>
            </a:r>
          </a:p>
        </p:txBody>
      </p:sp>
    </p:spTree>
    <p:extLst>
      <p:ext uri="{BB962C8B-B14F-4D97-AF65-F5344CB8AC3E}">
        <p14:creationId xmlns:p14="http://schemas.microsoft.com/office/powerpoint/2010/main" val="175245773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 name="자유형 163"/>
          <p:cNvSpPr/>
          <p:nvPr/>
        </p:nvSpPr>
        <p:spPr>
          <a:xfrm>
            <a:off x="7387119" y="3164440"/>
            <a:ext cx="4130211" cy="565079"/>
          </a:xfrm>
          <a:custGeom>
            <a:avLst/>
            <a:gdLst>
              <a:gd name="connsiteX0" fmla="*/ 0 w 4130211"/>
              <a:gd name="connsiteY0" fmla="*/ 565079 h 565079"/>
              <a:gd name="connsiteX1" fmla="*/ 318499 w 4130211"/>
              <a:gd name="connsiteY1" fmla="*/ 0 h 565079"/>
              <a:gd name="connsiteX2" fmla="*/ 4130211 w 4130211"/>
              <a:gd name="connsiteY2" fmla="*/ 0 h 565079"/>
              <a:gd name="connsiteX3" fmla="*/ 4130211 w 4130211"/>
              <a:gd name="connsiteY3" fmla="*/ 554805 h 565079"/>
            </a:gdLst>
            <a:ahLst/>
            <a:cxnLst>
              <a:cxn ang="0">
                <a:pos x="connsiteX0" y="connsiteY0"/>
              </a:cxn>
              <a:cxn ang="0">
                <a:pos x="connsiteX1" y="connsiteY1"/>
              </a:cxn>
              <a:cxn ang="0">
                <a:pos x="connsiteX2" y="connsiteY2"/>
              </a:cxn>
              <a:cxn ang="0">
                <a:pos x="connsiteX3" y="connsiteY3"/>
              </a:cxn>
            </a:cxnLst>
            <a:rect l="l" t="t" r="r" b="b"/>
            <a:pathLst>
              <a:path w="4130211" h="565079">
                <a:moveTo>
                  <a:pt x="0" y="565079"/>
                </a:moveTo>
                <a:lnTo>
                  <a:pt x="318499" y="0"/>
                </a:lnTo>
                <a:lnTo>
                  <a:pt x="4130211" y="0"/>
                </a:lnTo>
                <a:lnTo>
                  <a:pt x="4130211" y="554805"/>
                </a:lnTo>
              </a:path>
            </a:pathLst>
          </a:custGeom>
          <a:pattFill prst="dotGrid">
            <a:fgClr>
              <a:schemeClr val="accent1"/>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2</a:t>
            </a:r>
            <a:r>
              <a:rPr lang="ko-KR" altLang="en-US" dirty="0"/>
              <a:t>항</a:t>
            </a:r>
          </a:p>
        </p:txBody>
      </p:sp>
      <p:sp>
        <p:nvSpPr>
          <p:cNvPr id="4" name="텍스트 개체 틀 3"/>
          <p:cNvSpPr>
            <a:spLocks noGrp="1"/>
          </p:cNvSpPr>
          <p:nvPr>
            <p:ph type="body" sz="quarter" idx="13"/>
          </p:nvPr>
        </p:nvSpPr>
        <p:spPr/>
        <p:txBody>
          <a:bodyPr/>
          <a:lstStyle/>
          <a:p>
            <a:r>
              <a:rPr lang="ko-KR" altLang="en-US" dirty="0"/>
              <a:t>공지기술의 지위</a:t>
            </a:r>
          </a:p>
        </p:txBody>
      </p:sp>
      <p:sp>
        <p:nvSpPr>
          <p:cNvPr id="90" name="TextBox 89"/>
          <p:cNvSpPr txBox="1"/>
          <p:nvPr/>
        </p:nvSpPr>
        <p:spPr>
          <a:xfrm>
            <a:off x="77875" y="986046"/>
            <a:ext cx="11936323" cy="307777"/>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국내외에서 공지된 후부터 공지기술의 지위가 인정</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되어 이와 동일한 발명은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신규성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위반으로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이로부터 용이한 발명은 진보성 위반으로 특허를 받을 수 없게 된다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1" name="직선 연결선 90"/>
          <p:cNvCxnSpPr/>
          <p:nvPr/>
        </p:nvCxnSpPr>
        <p:spPr>
          <a:xfrm>
            <a:off x="0" y="129619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자유형 21"/>
          <p:cNvSpPr/>
          <p:nvPr/>
        </p:nvSpPr>
        <p:spPr>
          <a:xfrm>
            <a:off x="922113" y="3205999"/>
            <a:ext cx="3913707" cy="503258"/>
          </a:xfrm>
          <a:custGeom>
            <a:avLst/>
            <a:gdLst>
              <a:gd name="connsiteX0" fmla="*/ 7797800 w 7797800"/>
              <a:gd name="connsiteY0" fmla="*/ 1066800 h 1104900"/>
              <a:gd name="connsiteX1" fmla="*/ 7327900 w 7797800"/>
              <a:gd name="connsiteY1" fmla="*/ 0 h 1104900"/>
              <a:gd name="connsiteX2" fmla="*/ 0 w 7797800"/>
              <a:gd name="connsiteY2" fmla="*/ 0 h 1104900"/>
              <a:gd name="connsiteX3" fmla="*/ 0 w 7797800"/>
              <a:gd name="connsiteY3" fmla="*/ 1104900 h 1104900"/>
            </a:gdLst>
            <a:ahLst/>
            <a:cxnLst>
              <a:cxn ang="0">
                <a:pos x="connsiteX0" y="connsiteY0"/>
              </a:cxn>
              <a:cxn ang="0">
                <a:pos x="connsiteX1" y="connsiteY1"/>
              </a:cxn>
              <a:cxn ang="0">
                <a:pos x="connsiteX2" y="connsiteY2"/>
              </a:cxn>
              <a:cxn ang="0">
                <a:pos x="connsiteX3" y="connsiteY3"/>
              </a:cxn>
            </a:cxnLst>
            <a:rect l="l" t="t" r="r" b="b"/>
            <a:pathLst>
              <a:path w="7797800" h="1104900">
                <a:moveTo>
                  <a:pt x="7797800" y="1066800"/>
                </a:moveTo>
                <a:lnTo>
                  <a:pt x="7327900" y="0"/>
                </a:lnTo>
                <a:lnTo>
                  <a:pt x="0" y="0"/>
                </a:lnTo>
                <a:lnTo>
                  <a:pt x="0" y="1104900"/>
                </a:lnTo>
              </a:path>
            </a:pathLst>
          </a:custGeom>
          <a:pattFill prst="smGrid">
            <a:fgClr>
              <a:schemeClr val="accent2">
                <a:lumMod val="40000"/>
                <a:lumOff val="6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23" name="직선 연결선 22"/>
          <p:cNvCxnSpPr/>
          <p:nvPr/>
        </p:nvCxnSpPr>
        <p:spPr>
          <a:xfrm>
            <a:off x="913176" y="3728090"/>
            <a:ext cx="455098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4" name="직사각형 23"/>
          <p:cNvSpPr/>
          <p:nvPr/>
        </p:nvSpPr>
        <p:spPr>
          <a:xfrm>
            <a:off x="4136095" y="3564181"/>
            <a:ext cx="1318015" cy="327817"/>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특허출원일</a:t>
            </a:r>
            <a:endPar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5" name="직선 연결선 24"/>
          <p:cNvCxnSpPr>
            <a:stCxn id="24" idx="2"/>
            <a:endCxn id="27" idx="0"/>
          </p:cNvCxnSpPr>
          <p:nvPr/>
        </p:nvCxnSpPr>
        <p:spPr>
          <a:xfrm>
            <a:off x="4795103" y="3891998"/>
            <a:ext cx="11142" cy="43608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3951429" y="4328081"/>
            <a:ext cx="1709632" cy="523220"/>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월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8</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8" name="TextBox 27"/>
          <p:cNvSpPr txBox="1"/>
          <p:nvPr/>
        </p:nvSpPr>
        <p:spPr>
          <a:xfrm>
            <a:off x="4033837" y="3944053"/>
            <a:ext cx="204516" cy="20976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29" name="TextBox 28"/>
          <p:cNvSpPr txBox="1"/>
          <p:nvPr/>
        </p:nvSpPr>
        <p:spPr>
          <a:xfrm>
            <a:off x="5352252" y="3944053"/>
            <a:ext cx="247156" cy="20976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30" name="TextBox 29"/>
          <p:cNvSpPr txBox="1"/>
          <p:nvPr/>
        </p:nvSpPr>
        <p:spPr>
          <a:xfrm>
            <a:off x="4834584" y="3944053"/>
            <a:ext cx="247156" cy="20976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31" name="TextBox 30"/>
          <p:cNvSpPr txBox="1"/>
          <p:nvPr/>
        </p:nvSpPr>
        <p:spPr>
          <a:xfrm>
            <a:off x="2528854" y="2872656"/>
            <a:ext cx="584261" cy="256374"/>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특허출원 전</a:t>
            </a:r>
          </a:p>
        </p:txBody>
      </p:sp>
      <p:cxnSp>
        <p:nvCxnSpPr>
          <p:cNvPr id="32" name="직선 연결선 31"/>
          <p:cNvCxnSpPr/>
          <p:nvPr/>
        </p:nvCxnSpPr>
        <p:spPr>
          <a:xfrm>
            <a:off x="1363948" y="3768599"/>
            <a:ext cx="1" cy="613537"/>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449017" y="4001095"/>
            <a:ext cx="1831842" cy="523220"/>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국내외 공지기술</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월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5</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일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4" name="직사각형 33"/>
          <p:cNvSpPr/>
          <p:nvPr/>
        </p:nvSpPr>
        <p:spPr>
          <a:xfrm>
            <a:off x="825003" y="2978349"/>
            <a:ext cx="101986" cy="8366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41" name="직선 연결선 140"/>
          <p:cNvCxnSpPr/>
          <p:nvPr/>
        </p:nvCxnSpPr>
        <p:spPr>
          <a:xfrm>
            <a:off x="6046036" y="1556911"/>
            <a:ext cx="0" cy="5106256"/>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직선 연결선 143"/>
          <p:cNvCxnSpPr/>
          <p:nvPr/>
        </p:nvCxnSpPr>
        <p:spPr>
          <a:xfrm>
            <a:off x="7067396" y="3728090"/>
            <a:ext cx="455098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6" name="직선 연결선 145"/>
          <p:cNvCxnSpPr/>
          <p:nvPr/>
        </p:nvCxnSpPr>
        <p:spPr>
          <a:xfrm>
            <a:off x="10988804" y="3768599"/>
            <a:ext cx="1" cy="61353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47" name="TextBox 146"/>
          <p:cNvSpPr txBox="1"/>
          <p:nvPr/>
        </p:nvSpPr>
        <p:spPr>
          <a:xfrm>
            <a:off x="10136471" y="4173971"/>
            <a:ext cx="1709632" cy="523220"/>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월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8</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일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1" name="TextBox 150"/>
          <p:cNvSpPr txBox="1"/>
          <p:nvPr/>
        </p:nvSpPr>
        <p:spPr>
          <a:xfrm>
            <a:off x="8683074" y="2821286"/>
            <a:ext cx="795411" cy="338554"/>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공지 후</a:t>
            </a:r>
          </a:p>
        </p:txBody>
      </p:sp>
      <p:cxnSp>
        <p:nvCxnSpPr>
          <p:cNvPr id="152" name="직선 연결선 151"/>
          <p:cNvCxnSpPr>
            <a:stCxn id="155" idx="2"/>
            <a:endCxn id="153" idx="0"/>
          </p:cNvCxnSpPr>
          <p:nvPr/>
        </p:nvCxnSpPr>
        <p:spPr>
          <a:xfrm>
            <a:off x="7497212" y="3891998"/>
            <a:ext cx="1398" cy="66389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53" name="TextBox 152"/>
          <p:cNvSpPr txBox="1"/>
          <p:nvPr/>
        </p:nvSpPr>
        <p:spPr>
          <a:xfrm>
            <a:off x="6582689" y="4555891"/>
            <a:ext cx="1831842" cy="523220"/>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국내외 공지기술</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월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5</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5" name="직사각형 154"/>
          <p:cNvSpPr/>
          <p:nvPr/>
        </p:nvSpPr>
        <p:spPr>
          <a:xfrm>
            <a:off x="6838204" y="3564181"/>
            <a:ext cx="1318015" cy="327817"/>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공지일</a:t>
            </a:r>
          </a:p>
        </p:txBody>
      </p:sp>
      <p:sp>
        <p:nvSpPr>
          <p:cNvPr id="156" name="TextBox 155"/>
          <p:cNvSpPr txBox="1"/>
          <p:nvPr/>
        </p:nvSpPr>
        <p:spPr>
          <a:xfrm>
            <a:off x="6735946" y="3944053"/>
            <a:ext cx="204516" cy="20976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157" name="TextBox 156"/>
          <p:cNvSpPr txBox="1"/>
          <p:nvPr/>
        </p:nvSpPr>
        <p:spPr>
          <a:xfrm>
            <a:off x="8054361" y="3944053"/>
            <a:ext cx="247156" cy="20976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158" name="TextBox 157"/>
          <p:cNvSpPr txBox="1"/>
          <p:nvPr/>
        </p:nvSpPr>
        <p:spPr>
          <a:xfrm>
            <a:off x="7536693" y="3944053"/>
            <a:ext cx="492443"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166" name="직사각형 165"/>
          <p:cNvSpPr/>
          <p:nvPr/>
        </p:nvSpPr>
        <p:spPr>
          <a:xfrm>
            <a:off x="11517330" y="3195262"/>
            <a:ext cx="101054" cy="4726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79</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957221255"/>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 name="자유형 163"/>
          <p:cNvSpPr/>
          <p:nvPr/>
        </p:nvSpPr>
        <p:spPr>
          <a:xfrm>
            <a:off x="316446" y="3552836"/>
            <a:ext cx="2811427" cy="565079"/>
          </a:xfrm>
          <a:custGeom>
            <a:avLst/>
            <a:gdLst>
              <a:gd name="connsiteX0" fmla="*/ 0 w 4130211"/>
              <a:gd name="connsiteY0" fmla="*/ 565079 h 565079"/>
              <a:gd name="connsiteX1" fmla="*/ 318499 w 4130211"/>
              <a:gd name="connsiteY1" fmla="*/ 0 h 565079"/>
              <a:gd name="connsiteX2" fmla="*/ 4130211 w 4130211"/>
              <a:gd name="connsiteY2" fmla="*/ 0 h 565079"/>
              <a:gd name="connsiteX3" fmla="*/ 4130211 w 4130211"/>
              <a:gd name="connsiteY3" fmla="*/ 554805 h 565079"/>
            </a:gdLst>
            <a:ahLst/>
            <a:cxnLst>
              <a:cxn ang="0">
                <a:pos x="connsiteX0" y="connsiteY0"/>
              </a:cxn>
              <a:cxn ang="0">
                <a:pos x="connsiteX1" y="connsiteY1"/>
              </a:cxn>
              <a:cxn ang="0">
                <a:pos x="connsiteX2" y="connsiteY2"/>
              </a:cxn>
              <a:cxn ang="0">
                <a:pos x="connsiteX3" y="connsiteY3"/>
              </a:cxn>
            </a:cxnLst>
            <a:rect l="l" t="t" r="r" b="b"/>
            <a:pathLst>
              <a:path w="4130211" h="565079">
                <a:moveTo>
                  <a:pt x="0" y="565079"/>
                </a:moveTo>
                <a:lnTo>
                  <a:pt x="318499" y="0"/>
                </a:lnTo>
                <a:lnTo>
                  <a:pt x="4130211" y="0"/>
                </a:lnTo>
                <a:lnTo>
                  <a:pt x="4130211" y="554805"/>
                </a:lnTo>
              </a:path>
            </a:pathLst>
          </a:custGeom>
          <a:pattFill prst="dotGrid">
            <a:fgClr>
              <a:schemeClr val="accent1"/>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44" name="도넛 43"/>
          <p:cNvSpPr/>
          <p:nvPr/>
        </p:nvSpPr>
        <p:spPr>
          <a:xfrm>
            <a:off x="1722159" y="2989780"/>
            <a:ext cx="856654" cy="825047"/>
          </a:xfrm>
          <a:prstGeom prst="donut">
            <a:avLst>
              <a:gd name="adj" fmla="val 15409"/>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0000"/>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제</a:t>
            </a:r>
            <a:r>
              <a:rPr lang="en-US" altLang="ko-KR" dirty="0"/>
              <a:t>36</a:t>
            </a:r>
            <a:r>
              <a:rPr lang="ko-KR" altLang="en-US" dirty="0"/>
              <a:t>조</a:t>
            </a:r>
          </a:p>
        </p:txBody>
      </p:sp>
      <p:sp>
        <p:nvSpPr>
          <p:cNvPr id="4" name="텍스트 개체 틀 3"/>
          <p:cNvSpPr>
            <a:spLocks noGrp="1"/>
          </p:cNvSpPr>
          <p:nvPr>
            <p:ph type="body" sz="quarter" idx="13"/>
          </p:nvPr>
        </p:nvSpPr>
        <p:spPr/>
        <p:txBody>
          <a:bodyPr/>
          <a:lstStyle/>
          <a:p>
            <a:r>
              <a:rPr lang="ko-KR" altLang="en-US" dirty="0" err="1"/>
              <a:t>선출원의</a:t>
            </a:r>
            <a:r>
              <a:rPr lang="ko-KR" altLang="en-US" dirty="0"/>
              <a:t> 지위</a:t>
            </a:r>
          </a:p>
        </p:txBody>
      </p:sp>
      <p:sp>
        <p:nvSpPr>
          <p:cNvPr id="90" name="TextBox 89"/>
          <p:cNvSpPr txBox="1"/>
          <p:nvPr/>
        </p:nvSpPr>
        <p:spPr>
          <a:xfrm>
            <a:off x="77875" y="986046"/>
            <a:ext cx="11936323" cy="1384995"/>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선출원주의에서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선후출원의 판단은 </a:t>
            </a:r>
            <a:r>
              <a:rPr kumimoji="0" lang="ko-KR" altLang="en-US" sz="1400" b="0" i="0" u="none" strike="noStrike" kern="1200" cap="none" spc="0" normalizeH="0" baseline="0" noProof="0" dirty="0" err="1">
                <a:ln>
                  <a:noFill/>
                </a:ln>
                <a:solidFill>
                  <a:srgbClr val="A5A5A5">
                    <a:lumMod val="50000"/>
                  </a:srgbClr>
                </a:solidFill>
                <a:effectLst/>
                <a:highlight>
                  <a:srgbClr val="FFFF00"/>
                </a:highligh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지위가 있음을 전제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로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예를 들어</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甲이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발명을 먼저 출원하고 乙이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발명을 나중에 출원했다고 하더라도 甲의 출원이 무효</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포기 등으로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지위가 없어졌다면 乙의 출원은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선출원주의에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위반되지 아니한다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ⅰ)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특허출원 또는 실용신안등록출원이 </a:t>
            </a:r>
            <a:r>
              <a:rPr kumimoji="0" lang="ko-KR" altLang="en-US" sz="1400" b="0" i="0" u="none" strike="noStrike" kern="1200" cap="none" spc="0" normalizeH="0" baseline="0" noProof="0" dirty="0" err="1">
                <a:ln>
                  <a:noFill/>
                </a:ln>
                <a:solidFill>
                  <a:srgbClr val="A5A5A5">
                    <a:lumMod val="50000"/>
                  </a:srgbClr>
                </a:solidFill>
                <a:effectLst/>
                <a:highlight>
                  <a:srgbClr val="FFFF00"/>
                </a:highlight>
                <a:uLnTx/>
                <a:uFillTx/>
                <a:latin typeface="Frutiger LT 65 Bold"/>
                <a:ea typeface="Rix모던고딕 B"/>
                <a:cs typeface="+mn-cs"/>
              </a:rPr>
              <a:t>무효ㆍ취하</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또는 포기되거나 특허거절결정이나 거절한다는 취지의 </a:t>
            </a:r>
            <a:r>
              <a:rPr kumimoji="0" lang="ko-KR" altLang="en-US" sz="1400" b="0" i="0" u="none" strike="noStrike" kern="1200" cap="none" spc="0" normalizeH="0" baseline="0" noProof="0" dirty="0" err="1">
                <a:ln>
                  <a:noFill/>
                </a:ln>
                <a:solidFill>
                  <a:srgbClr val="A5A5A5">
                    <a:lumMod val="50000"/>
                  </a:srgbClr>
                </a:solidFill>
                <a:effectLst/>
                <a:highlight>
                  <a:srgbClr val="FFFF00"/>
                </a:highlight>
                <a:uLnTx/>
                <a:uFillTx/>
                <a:latin typeface="Frutiger LT 65 Bold"/>
                <a:ea typeface="Rix모던고딕 B"/>
                <a:cs typeface="+mn-cs"/>
              </a:rPr>
              <a:t>심결이</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확정된 경우</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ⅱ)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발명자 또는 고안자가 아닌 자로서 특허를 받을 수 있는 권리 또는 실용신안등록을 받을 수 있는 권리의 승계인이 아닌 자가 한 특허출원 또는 실용신안등록출원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의 경우에는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지위가 없다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36④⑤).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그러나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동일자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출원에 대하여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36</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항단서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준용되는 경우를 포함한다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따른 협의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불성립</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등으로 특허거절결정이나 거절한다는 취지의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심결이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확정된 경우에는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지위가 인정된다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36④</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단서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91" name="직선 연결선 90"/>
          <p:cNvCxnSpPr/>
          <p:nvPr/>
        </p:nvCxnSpPr>
        <p:spPr>
          <a:xfrm>
            <a:off x="0" y="235352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직선 연결선 42"/>
          <p:cNvCxnSpPr/>
          <p:nvPr/>
        </p:nvCxnSpPr>
        <p:spPr>
          <a:xfrm>
            <a:off x="3569970" y="2640458"/>
            <a:ext cx="0" cy="4022709"/>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직선 연결선 143"/>
          <p:cNvCxnSpPr>
            <a:stCxn id="164" idx="0"/>
          </p:cNvCxnSpPr>
          <p:nvPr/>
        </p:nvCxnSpPr>
        <p:spPr>
          <a:xfrm>
            <a:off x="316446" y="4117915"/>
            <a:ext cx="305187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a:off x="1479171" y="3244654"/>
            <a:ext cx="1414170" cy="276999"/>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지위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52" name="직선 연결선 151"/>
          <p:cNvCxnSpPr>
            <a:stCxn id="155" idx="2"/>
            <a:endCxn id="153" idx="0"/>
          </p:cNvCxnSpPr>
          <p:nvPr/>
        </p:nvCxnSpPr>
        <p:spPr>
          <a:xfrm>
            <a:off x="1229440" y="4259846"/>
            <a:ext cx="9427" cy="66389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53" name="TextBox 152"/>
          <p:cNvSpPr txBox="1"/>
          <p:nvPr/>
        </p:nvSpPr>
        <p:spPr>
          <a:xfrm>
            <a:off x="758849" y="4923739"/>
            <a:ext cx="960036" cy="276999"/>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5" name="직사각형 154"/>
          <p:cNvSpPr/>
          <p:nvPr/>
        </p:nvSpPr>
        <p:spPr>
          <a:xfrm>
            <a:off x="403729" y="3932029"/>
            <a:ext cx="1651422" cy="327817"/>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특허출원일</a:t>
            </a:r>
          </a:p>
        </p:txBody>
      </p:sp>
      <p:sp>
        <p:nvSpPr>
          <p:cNvPr id="156" name="TextBox 155"/>
          <p:cNvSpPr txBox="1"/>
          <p:nvPr/>
        </p:nvSpPr>
        <p:spPr>
          <a:xfrm>
            <a:off x="396231" y="4311901"/>
            <a:ext cx="389850" cy="261610"/>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0</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157" name="TextBox 156"/>
          <p:cNvSpPr txBox="1"/>
          <p:nvPr/>
        </p:nvSpPr>
        <p:spPr>
          <a:xfrm>
            <a:off x="1897413" y="4311901"/>
            <a:ext cx="468398" cy="261610"/>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24</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158" name="TextBox 157"/>
          <p:cNvSpPr txBox="1"/>
          <p:nvPr/>
        </p:nvSpPr>
        <p:spPr>
          <a:xfrm>
            <a:off x="1209491" y="4311901"/>
            <a:ext cx="468398" cy="261610"/>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12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166" name="직사각형 165"/>
          <p:cNvSpPr/>
          <p:nvPr/>
        </p:nvSpPr>
        <p:spPr>
          <a:xfrm>
            <a:off x="3043948" y="3552836"/>
            <a:ext cx="90962" cy="5239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grpSp>
        <p:nvGrpSpPr>
          <p:cNvPr id="36" name="그룹 35"/>
          <p:cNvGrpSpPr/>
          <p:nvPr/>
        </p:nvGrpSpPr>
        <p:grpSpPr>
          <a:xfrm>
            <a:off x="759363" y="5306205"/>
            <a:ext cx="962796" cy="459001"/>
            <a:chOff x="2814293" y="4469336"/>
            <a:chExt cx="1177134" cy="696098"/>
          </a:xfrm>
          <a:solidFill>
            <a:schemeClr val="bg1"/>
          </a:solidFill>
        </p:grpSpPr>
        <p:sp>
          <p:nvSpPr>
            <p:cNvPr id="37" name="직사각형 36"/>
            <p:cNvSpPr/>
            <p:nvPr/>
          </p:nvSpPr>
          <p:spPr>
            <a:xfrm>
              <a:off x="2814293" y="4469336"/>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8" name="직사각형 37"/>
            <p:cNvSpPr/>
            <p:nvPr/>
          </p:nvSpPr>
          <p:spPr>
            <a:xfrm>
              <a:off x="2814293" y="4817385"/>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 B, C</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sp>
        <p:nvSpPr>
          <p:cNvPr id="9" name="직사각형 8"/>
          <p:cNvSpPr/>
          <p:nvPr/>
        </p:nvSpPr>
        <p:spPr>
          <a:xfrm>
            <a:off x="297950" y="3819964"/>
            <a:ext cx="98281" cy="4604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5" name="자유형 44"/>
          <p:cNvSpPr/>
          <p:nvPr/>
        </p:nvSpPr>
        <p:spPr>
          <a:xfrm>
            <a:off x="4324965" y="3568032"/>
            <a:ext cx="2811427" cy="565079"/>
          </a:xfrm>
          <a:custGeom>
            <a:avLst/>
            <a:gdLst>
              <a:gd name="connsiteX0" fmla="*/ 0 w 4130211"/>
              <a:gd name="connsiteY0" fmla="*/ 565079 h 565079"/>
              <a:gd name="connsiteX1" fmla="*/ 318499 w 4130211"/>
              <a:gd name="connsiteY1" fmla="*/ 0 h 565079"/>
              <a:gd name="connsiteX2" fmla="*/ 4130211 w 4130211"/>
              <a:gd name="connsiteY2" fmla="*/ 0 h 565079"/>
              <a:gd name="connsiteX3" fmla="*/ 4130211 w 4130211"/>
              <a:gd name="connsiteY3" fmla="*/ 554805 h 565079"/>
            </a:gdLst>
            <a:ahLst/>
            <a:cxnLst>
              <a:cxn ang="0">
                <a:pos x="connsiteX0" y="connsiteY0"/>
              </a:cxn>
              <a:cxn ang="0">
                <a:pos x="connsiteX1" y="connsiteY1"/>
              </a:cxn>
              <a:cxn ang="0">
                <a:pos x="connsiteX2" y="connsiteY2"/>
              </a:cxn>
              <a:cxn ang="0">
                <a:pos x="connsiteX3" y="connsiteY3"/>
              </a:cxn>
            </a:cxnLst>
            <a:rect l="l" t="t" r="r" b="b"/>
            <a:pathLst>
              <a:path w="4130211" h="565079">
                <a:moveTo>
                  <a:pt x="0" y="565079"/>
                </a:moveTo>
                <a:lnTo>
                  <a:pt x="318499" y="0"/>
                </a:lnTo>
                <a:lnTo>
                  <a:pt x="4130211" y="0"/>
                </a:lnTo>
                <a:lnTo>
                  <a:pt x="4130211" y="554805"/>
                </a:lnTo>
              </a:path>
            </a:pathLst>
          </a:custGeom>
          <a:pattFill prst="dotGrid">
            <a:fgClr>
              <a:schemeClr val="accent1"/>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endParaRPr>
          </a:p>
        </p:txBody>
      </p:sp>
      <p:cxnSp>
        <p:nvCxnSpPr>
          <p:cNvPr id="46" name="직선 연결선 45"/>
          <p:cNvCxnSpPr>
            <a:stCxn id="45" idx="0"/>
          </p:cNvCxnSpPr>
          <p:nvPr/>
        </p:nvCxnSpPr>
        <p:spPr>
          <a:xfrm>
            <a:off x="4324965" y="4133111"/>
            <a:ext cx="3051878" cy="0"/>
          </a:xfrm>
          <a:prstGeom prst="line">
            <a:avLst/>
          </a:prstGeom>
          <a:ln w="57150">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8" name="직선 연결선 47"/>
          <p:cNvCxnSpPr>
            <a:endCxn id="49" idx="0"/>
          </p:cNvCxnSpPr>
          <p:nvPr/>
        </p:nvCxnSpPr>
        <p:spPr>
          <a:xfrm>
            <a:off x="4331836" y="4133111"/>
            <a:ext cx="1" cy="30239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3867044" y="4435509"/>
            <a:ext cx="929585" cy="276999"/>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4" name="직사각형 53"/>
          <p:cNvSpPr/>
          <p:nvPr/>
        </p:nvSpPr>
        <p:spPr>
          <a:xfrm>
            <a:off x="7093563" y="3568032"/>
            <a:ext cx="90962" cy="5239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endParaRPr>
          </a:p>
        </p:txBody>
      </p:sp>
      <p:grpSp>
        <p:nvGrpSpPr>
          <p:cNvPr id="55" name="그룹 54"/>
          <p:cNvGrpSpPr/>
          <p:nvPr/>
        </p:nvGrpSpPr>
        <p:grpSpPr>
          <a:xfrm>
            <a:off x="3867602" y="4817975"/>
            <a:ext cx="932256" cy="612001"/>
            <a:chOff x="2814293" y="4469336"/>
            <a:chExt cx="1177134" cy="696098"/>
          </a:xfrm>
          <a:solidFill>
            <a:schemeClr val="bg1"/>
          </a:solidFill>
        </p:grpSpPr>
        <p:sp>
          <p:nvSpPr>
            <p:cNvPr id="56" name="직사각형 55"/>
            <p:cNvSpPr/>
            <p:nvPr/>
          </p:nvSpPr>
          <p:spPr>
            <a:xfrm>
              <a:off x="2814293" y="4469336"/>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7" name="직사각형 56"/>
            <p:cNvSpPr/>
            <p:nvPr/>
          </p:nvSpPr>
          <p:spPr>
            <a:xfrm>
              <a:off x="2814293" y="4817385"/>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 B, C</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cxnSp>
        <p:nvCxnSpPr>
          <p:cNvPr id="65" name="직선 연결선 64"/>
          <p:cNvCxnSpPr>
            <a:endCxn id="66" idx="0"/>
          </p:cNvCxnSpPr>
          <p:nvPr/>
        </p:nvCxnSpPr>
        <p:spPr>
          <a:xfrm>
            <a:off x="5492183" y="4133111"/>
            <a:ext cx="1" cy="30239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5105681" y="4435509"/>
            <a:ext cx="773005" cy="276999"/>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취하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1" name="직선 연결선 70"/>
          <p:cNvCxnSpPr>
            <a:endCxn id="72" idx="0"/>
          </p:cNvCxnSpPr>
          <p:nvPr/>
        </p:nvCxnSpPr>
        <p:spPr>
          <a:xfrm>
            <a:off x="2792552" y="4180987"/>
            <a:ext cx="0" cy="44480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2312534" y="4625793"/>
            <a:ext cx="960036" cy="276999"/>
          </a:xfrm>
          <a:prstGeom prst="rect">
            <a:avLst/>
          </a:prstGeom>
          <a:solidFill>
            <a:schemeClr val="accent2">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nvGrpSpPr>
          <p:cNvPr id="74" name="그룹 73"/>
          <p:cNvGrpSpPr/>
          <p:nvPr/>
        </p:nvGrpSpPr>
        <p:grpSpPr>
          <a:xfrm>
            <a:off x="2313048" y="5008259"/>
            <a:ext cx="962796" cy="459001"/>
            <a:chOff x="2814293" y="4469336"/>
            <a:chExt cx="1177134" cy="696098"/>
          </a:xfrm>
          <a:solidFill>
            <a:schemeClr val="bg1"/>
          </a:solidFill>
        </p:grpSpPr>
        <p:sp>
          <p:nvSpPr>
            <p:cNvPr id="75" name="직사각형 74"/>
            <p:cNvSpPr/>
            <p:nvPr/>
          </p:nvSpPr>
          <p:spPr>
            <a:xfrm>
              <a:off x="2814293" y="4469336"/>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6" name="직사각형 75"/>
            <p:cNvSpPr/>
            <p:nvPr/>
          </p:nvSpPr>
          <p:spPr>
            <a:xfrm>
              <a:off x="2814293" y="4817385"/>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sp>
        <p:nvSpPr>
          <p:cNvPr id="79" name="아래쪽 화살표 78"/>
          <p:cNvSpPr/>
          <p:nvPr/>
        </p:nvSpPr>
        <p:spPr>
          <a:xfrm>
            <a:off x="2472021" y="5520688"/>
            <a:ext cx="647368" cy="349321"/>
          </a:xfrm>
          <a:prstGeom prst="downArrow">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1" name="TextBox 40"/>
          <p:cNvSpPr txBox="1"/>
          <p:nvPr/>
        </p:nvSpPr>
        <p:spPr>
          <a:xfrm>
            <a:off x="2376359" y="5954344"/>
            <a:ext cx="838691" cy="584775"/>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36</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조 </a:t>
            </a:r>
            <a:endPar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위반○</a:t>
            </a:r>
          </a:p>
        </p:txBody>
      </p:sp>
      <p:cxnSp>
        <p:nvCxnSpPr>
          <p:cNvPr id="81" name="직선 연결선 80"/>
          <p:cNvCxnSpPr>
            <a:endCxn id="82" idx="0"/>
          </p:cNvCxnSpPr>
          <p:nvPr/>
        </p:nvCxnSpPr>
        <p:spPr>
          <a:xfrm>
            <a:off x="6606170" y="4144591"/>
            <a:ext cx="0" cy="44480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2" name="TextBox 81"/>
          <p:cNvSpPr txBox="1"/>
          <p:nvPr/>
        </p:nvSpPr>
        <p:spPr>
          <a:xfrm>
            <a:off x="6126152" y="4589397"/>
            <a:ext cx="960036" cy="276999"/>
          </a:xfrm>
          <a:prstGeom prst="rect">
            <a:avLst/>
          </a:prstGeom>
          <a:solidFill>
            <a:schemeClr val="accent2">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nvGrpSpPr>
          <p:cNvPr id="83" name="그룹 82"/>
          <p:cNvGrpSpPr/>
          <p:nvPr/>
        </p:nvGrpSpPr>
        <p:grpSpPr>
          <a:xfrm>
            <a:off x="6126666" y="4971863"/>
            <a:ext cx="962796" cy="459001"/>
            <a:chOff x="2814293" y="4469336"/>
            <a:chExt cx="1177134" cy="696098"/>
          </a:xfrm>
          <a:solidFill>
            <a:schemeClr val="bg1"/>
          </a:solidFill>
        </p:grpSpPr>
        <p:sp>
          <p:nvSpPr>
            <p:cNvPr id="84" name="직사각형 83"/>
            <p:cNvSpPr/>
            <p:nvPr/>
          </p:nvSpPr>
          <p:spPr>
            <a:xfrm>
              <a:off x="2814293" y="4469336"/>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5" name="직사각형 84"/>
            <p:cNvSpPr/>
            <p:nvPr/>
          </p:nvSpPr>
          <p:spPr>
            <a:xfrm>
              <a:off x="2814293" y="4817385"/>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sp>
        <p:nvSpPr>
          <p:cNvPr id="86" name="아래쪽 화살표 85"/>
          <p:cNvSpPr/>
          <p:nvPr/>
        </p:nvSpPr>
        <p:spPr>
          <a:xfrm>
            <a:off x="6285638" y="5484292"/>
            <a:ext cx="647368" cy="349321"/>
          </a:xfrm>
          <a:prstGeom prst="downArrow">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7" name="TextBox 86"/>
          <p:cNvSpPr txBox="1"/>
          <p:nvPr/>
        </p:nvSpPr>
        <p:spPr>
          <a:xfrm>
            <a:off x="6189977" y="5917948"/>
            <a:ext cx="838691" cy="584775"/>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36</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조 </a:t>
            </a:r>
            <a:endPar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위반</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a:t>
            </a:r>
            <a:endPar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88" name="직선 연결선 87"/>
          <p:cNvCxnSpPr/>
          <p:nvPr/>
        </p:nvCxnSpPr>
        <p:spPr>
          <a:xfrm>
            <a:off x="7689911" y="2640458"/>
            <a:ext cx="0" cy="4022709"/>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곱셈 기호 58"/>
          <p:cNvSpPr/>
          <p:nvPr/>
        </p:nvSpPr>
        <p:spPr>
          <a:xfrm>
            <a:off x="5229546" y="2856218"/>
            <a:ext cx="1125671" cy="1154811"/>
          </a:xfrm>
          <a:prstGeom prst="mathMultiply">
            <a:avLst>
              <a:gd name="adj1" fmla="val 1530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7" name="TextBox 46"/>
          <p:cNvSpPr txBox="1"/>
          <p:nvPr/>
        </p:nvSpPr>
        <p:spPr>
          <a:xfrm>
            <a:off x="5043787" y="3290672"/>
            <a:ext cx="1414170" cy="276999"/>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지위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0" name="자유형 109"/>
          <p:cNvSpPr/>
          <p:nvPr/>
        </p:nvSpPr>
        <p:spPr>
          <a:xfrm>
            <a:off x="8569066" y="3568032"/>
            <a:ext cx="2811427" cy="565079"/>
          </a:xfrm>
          <a:custGeom>
            <a:avLst/>
            <a:gdLst>
              <a:gd name="connsiteX0" fmla="*/ 0 w 4130211"/>
              <a:gd name="connsiteY0" fmla="*/ 565079 h 565079"/>
              <a:gd name="connsiteX1" fmla="*/ 318499 w 4130211"/>
              <a:gd name="connsiteY1" fmla="*/ 0 h 565079"/>
              <a:gd name="connsiteX2" fmla="*/ 4130211 w 4130211"/>
              <a:gd name="connsiteY2" fmla="*/ 0 h 565079"/>
              <a:gd name="connsiteX3" fmla="*/ 4130211 w 4130211"/>
              <a:gd name="connsiteY3" fmla="*/ 554805 h 565079"/>
            </a:gdLst>
            <a:ahLst/>
            <a:cxnLst>
              <a:cxn ang="0">
                <a:pos x="connsiteX0" y="connsiteY0"/>
              </a:cxn>
              <a:cxn ang="0">
                <a:pos x="connsiteX1" y="connsiteY1"/>
              </a:cxn>
              <a:cxn ang="0">
                <a:pos x="connsiteX2" y="connsiteY2"/>
              </a:cxn>
              <a:cxn ang="0">
                <a:pos x="connsiteX3" y="connsiteY3"/>
              </a:cxn>
            </a:cxnLst>
            <a:rect l="l" t="t" r="r" b="b"/>
            <a:pathLst>
              <a:path w="4130211" h="565079">
                <a:moveTo>
                  <a:pt x="0" y="565079"/>
                </a:moveTo>
                <a:lnTo>
                  <a:pt x="318499" y="0"/>
                </a:lnTo>
                <a:lnTo>
                  <a:pt x="4130211" y="0"/>
                </a:lnTo>
                <a:lnTo>
                  <a:pt x="4130211" y="554805"/>
                </a:lnTo>
              </a:path>
            </a:pathLst>
          </a:custGeom>
          <a:pattFill prst="dotGrid">
            <a:fgClr>
              <a:schemeClr val="accent1"/>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endParaRPr>
          </a:p>
        </p:txBody>
      </p:sp>
      <p:cxnSp>
        <p:nvCxnSpPr>
          <p:cNvPr id="111" name="직선 연결선 110"/>
          <p:cNvCxnSpPr>
            <a:stCxn id="110" idx="0"/>
          </p:cNvCxnSpPr>
          <p:nvPr/>
        </p:nvCxnSpPr>
        <p:spPr>
          <a:xfrm>
            <a:off x="8569066" y="4133111"/>
            <a:ext cx="305187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직선 연결선 111"/>
          <p:cNvCxnSpPr>
            <a:endCxn id="113" idx="0"/>
          </p:cNvCxnSpPr>
          <p:nvPr/>
        </p:nvCxnSpPr>
        <p:spPr>
          <a:xfrm>
            <a:off x="8575937" y="4133111"/>
            <a:ext cx="1" cy="30239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13" name="TextBox 112"/>
          <p:cNvSpPr txBox="1"/>
          <p:nvPr/>
        </p:nvSpPr>
        <p:spPr>
          <a:xfrm>
            <a:off x="8111145" y="4435509"/>
            <a:ext cx="929585" cy="276999"/>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4" name="직사각형 113"/>
          <p:cNvSpPr/>
          <p:nvPr/>
        </p:nvSpPr>
        <p:spPr>
          <a:xfrm>
            <a:off x="11337664" y="3568032"/>
            <a:ext cx="90962" cy="5239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endParaRPr>
          </a:p>
        </p:txBody>
      </p:sp>
      <p:grpSp>
        <p:nvGrpSpPr>
          <p:cNvPr id="115" name="그룹 114"/>
          <p:cNvGrpSpPr/>
          <p:nvPr/>
        </p:nvGrpSpPr>
        <p:grpSpPr>
          <a:xfrm>
            <a:off x="8111703" y="4817975"/>
            <a:ext cx="932256" cy="612001"/>
            <a:chOff x="2814293" y="4469336"/>
            <a:chExt cx="1177134" cy="696098"/>
          </a:xfrm>
          <a:solidFill>
            <a:schemeClr val="bg1"/>
          </a:solidFill>
        </p:grpSpPr>
        <p:sp>
          <p:nvSpPr>
            <p:cNvPr id="116" name="직사각형 115"/>
            <p:cNvSpPr/>
            <p:nvPr/>
          </p:nvSpPr>
          <p:spPr>
            <a:xfrm>
              <a:off x="2814293" y="4469336"/>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7" name="직사각형 116"/>
            <p:cNvSpPr/>
            <p:nvPr/>
          </p:nvSpPr>
          <p:spPr>
            <a:xfrm>
              <a:off x="2814293" y="4817385"/>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 B, C</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cxnSp>
        <p:nvCxnSpPr>
          <p:cNvPr id="118" name="직선 연결선 117"/>
          <p:cNvCxnSpPr>
            <a:endCxn id="119" idx="0"/>
          </p:cNvCxnSpPr>
          <p:nvPr/>
        </p:nvCxnSpPr>
        <p:spPr>
          <a:xfrm>
            <a:off x="9856399" y="4180987"/>
            <a:ext cx="0" cy="25452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19" name="TextBox 118"/>
          <p:cNvSpPr txBox="1"/>
          <p:nvPr/>
        </p:nvSpPr>
        <p:spPr>
          <a:xfrm>
            <a:off x="9192061" y="4435509"/>
            <a:ext cx="1328676" cy="438582"/>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거절결정확정</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(X,Z)</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err="1">
                <a:ln>
                  <a:noFill/>
                </a:ln>
                <a:solidFill>
                  <a:prstClr val="black"/>
                </a:solidFill>
                <a:effectLst/>
                <a:uLnTx/>
                <a:uFillTx/>
                <a:latin typeface="Frutiger LT 65 Bold"/>
                <a:ea typeface="Rix모던고딕 B"/>
                <a:cs typeface="+mn-cs"/>
              </a:rPr>
              <a:t>협의불성립</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20" name="직선 연결선 119"/>
          <p:cNvCxnSpPr>
            <a:endCxn id="121" idx="0"/>
          </p:cNvCxnSpPr>
          <p:nvPr/>
        </p:nvCxnSpPr>
        <p:spPr>
          <a:xfrm>
            <a:off x="11107121" y="4144591"/>
            <a:ext cx="0" cy="44480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21" name="TextBox 120"/>
          <p:cNvSpPr txBox="1"/>
          <p:nvPr/>
        </p:nvSpPr>
        <p:spPr>
          <a:xfrm>
            <a:off x="10627103" y="4589397"/>
            <a:ext cx="960036" cy="276999"/>
          </a:xfrm>
          <a:prstGeom prst="rect">
            <a:avLst/>
          </a:prstGeom>
          <a:solidFill>
            <a:schemeClr val="accent2">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nvGrpSpPr>
          <p:cNvPr id="122" name="그룹 121"/>
          <p:cNvGrpSpPr/>
          <p:nvPr/>
        </p:nvGrpSpPr>
        <p:grpSpPr>
          <a:xfrm>
            <a:off x="10627617" y="4971863"/>
            <a:ext cx="962796" cy="459001"/>
            <a:chOff x="2814293" y="4469336"/>
            <a:chExt cx="1177134" cy="696098"/>
          </a:xfrm>
          <a:solidFill>
            <a:schemeClr val="bg1"/>
          </a:solidFill>
        </p:grpSpPr>
        <p:sp>
          <p:nvSpPr>
            <p:cNvPr id="123" name="직사각형 122"/>
            <p:cNvSpPr/>
            <p:nvPr/>
          </p:nvSpPr>
          <p:spPr>
            <a:xfrm>
              <a:off x="2814293" y="4469336"/>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4" name="직사각형 123"/>
            <p:cNvSpPr/>
            <p:nvPr/>
          </p:nvSpPr>
          <p:spPr>
            <a:xfrm>
              <a:off x="2814293" y="4817385"/>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sp>
        <p:nvSpPr>
          <p:cNvPr id="125" name="아래쪽 화살표 124"/>
          <p:cNvSpPr/>
          <p:nvPr/>
        </p:nvSpPr>
        <p:spPr>
          <a:xfrm>
            <a:off x="10786589" y="5484292"/>
            <a:ext cx="647368" cy="349321"/>
          </a:xfrm>
          <a:prstGeom prst="downArrow">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26" name="TextBox 125"/>
          <p:cNvSpPr txBox="1"/>
          <p:nvPr/>
        </p:nvSpPr>
        <p:spPr>
          <a:xfrm>
            <a:off x="10690928" y="5917948"/>
            <a:ext cx="838691" cy="584775"/>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36</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조 </a:t>
            </a:r>
            <a:endPar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위반 ○</a:t>
            </a:r>
          </a:p>
        </p:txBody>
      </p:sp>
      <p:cxnSp>
        <p:nvCxnSpPr>
          <p:cNvPr id="129" name="직선 연결선 128"/>
          <p:cNvCxnSpPr>
            <a:stCxn id="110" idx="0"/>
            <a:endCxn id="130" idx="0"/>
          </p:cNvCxnSpPr>
          <p:nvPr/>
        </p:nvCxnSpPr>
        <p:spPr>
          <a:xfrm flipV="1">
            <a:off x="8569066" y="3201759"/>
            <a:ext cx="6872" cy="93135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30" name="TextBox 129"/>
          <p:cNvSpPr txBox="1"/>
          <p:nvPr/>
        </p:nvSpPr>
        <p:spPr>
          <a:xfrm>
            <a:off x="8111145" y="3201759"/>
            <a:ext cx="929585" cy="276999"/>
          </a:xfrm>
          <a:prstGeom prst="rect">
            <a:avLst/>
          </a:prstGeom>
          <a:solidFill>
            <a:schemeClr val="accent6">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(Z)</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nvGrpSpPr>
          <p:cNvPr id="131" name="그룹 130"/>
          <p:cNvGrpSpPr/>
          <p:nvPr/>
        </p:nvGrpSpPr>
        <p:grpSpPr>
          <a:xfrm>
            <a:off x="8111703" y="2526003"/>
            <a:ext cx="932256" cy="612001"/>
            <a:chOff x="2814293" y="4469336"/>
            <a:chExt cx="1177134" cy="696098"/>
          </a:xfrm>
          <a:solidFill>
            <a:schemeClr val="bg1"/>
          </a:solidFill>
        </p:grpSpPr>
        <p:sp>
          <p:nvSpPr>
            <p:cNvPr id="132" name="직사각형 131"/>
            <p:cNvSpPr/>
            <p:nvPr/>
          </p:nvSpPr>
          <p:spPr>
            <a:xfrm>
              <a:off x="2814293" y="4469336"/>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3" name="직사각형 132"/>
            <p:cNvSpPr/>
            <p:nvPr/>
          </p:nvSpPr>
          <p:spPr>
            <a:xfrm>
              <a:off x="2814293" y="4817385"/>
              <a:ext cx="1177134" cy="348049"/>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sp>
        <p:nvSpPr>
          <p:cNvPr id="139" name="도넛 138"/>
          <p:cNvSpPr/>
          <p:nvPr/>
        </p:nvSpPr>
        <p:spPr>
          <a:xfrm>
            <a:off x="9546452" y="2989780"/>
            <a:ext cx="856654" cy="825047"/>
          </a:xfrm>
          <a:prstGeom prst="donut">
            <a:avLst>
              <a:gd name="adj" fmla="val 15409"/>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0000"/>
              </a:solidFill>
              <a:effectLst/>
              <a:uLnTx/>
              <a:uFillTx/>
              <a:latin typeface="Frutiger LT 65 Bold"/>
              <a:ea typeface="Rix모던고딕 B"/>
              <a:cs typeface="+mn-cs"/>
            </a:endParaRPr>
          </a:p>
        </p:txBody>
      </p:sp>
      <p:sp>
        <p:nvSpPr>
          <p:cNvPr id="128" name="TextBox 127"/>
          <p:cNvSpPr txBox="1"/>
          <p:nvPr/>
        </p:nvSpPr>
        <p:spPr>
          <a:xfrm>
            <a:off x="9287888" y="3290672"/>
            <a:ext cx="1585690" cy="276999"/>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지위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(X,Z)</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80</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402857438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36</a:t>
            </a:r>
            <a:r>
              <a:rPr lang="ko-KR" altLang="en-US" dirty="0"/>
              <a:t>조</a:t>
            </a:r>
          </a:p>
        </p:txBody>
      </p:sp>
      <p:sp>
        <p:nvSpPr>
          <p:cNvPr id="4" name="텍스트 개체 틀 3"/>
          <p:cNvSpPr>
            <a:spLocks noGrp="1"/>
          </p:cNvSpPr>
          <p:nvPr>
            <p:ph type="body" sz="quarter" idx="13"/>
          </p:nvPr>
        </p:nvSpPr>
        <p:spPr/>
        <p:txBody>
          <a:bodyPr/>
          <a:lstStyle/>
          <a:p>
            <a:r>
              <a:rPr lang="ko-KR" altLang="en-US" dirty="0"/>
              <a:t>선출원주의</a:t>
            </a:r>
            <a:r>
              <a:rPr lang="en-US" altLang="ko-KR" dirty="0"/>
              <a:t>(</a:t>
            </a:r>
            <a:r>
              <a:rPr lang="ko-KR" altLang="en-US" dirty="0"/>
              <a:t>제</a:t>
            </a:r>
            <a:r>
              <a:rPr lang="en-US" altLang="ko-KR" dirty="0"/>
              <a:t>36</a:t>
            </a:r>
            <a:r>
              <a:rPr lang="ko-KR" altLang="en-US" dirty="0"/>
              <a:t>조</a:t>
            </a:r>
            <a:r>
              <a:rPr lang="en-US" altLang="ko-KR" dirty="0"/>
              <a:t>)</a:t>
            </a:r>
            <a:r>
              <a:rPr lang="ko-KR" altLang="en-US"/>
              <a:t>의 법조문</a:t>
            </a:r>
            <a:endParaRPr lang="ko-KR" altLang="en-US" dirty="0"/>
          </a:p>
        </p:txBody>
      </p:sp>
      <p:sp>
        <p:nvSpPr>
          <p:cNvPr id="77" name="직사각형 76"/>
          <p:cNvSpPr/>
          <p:nvPr/>
        </p:nvSpPr>
        <p:spPr>
          <a:xfrm>
            <a:off x="634521" y="4829547"/>
            <a:ext cx="1429725" cy="656170"/>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선출원주의</a:t>
            </a:r>
            <a:endParaRPr kumimoji="0" lang="en-US" altLang="ko-KR" sz="16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法 </a:t>
            </a:r>
            <a:r>
              <a:rPr kumimoji="0" lang="en-US" altLang="ko-KR" sz="1600" b="0" i="0" u="none" strike="noStrike" kern="1200" cap="none" spc="0" normalizeH="0" baseline="0" noProof="0" dirty="0">
                <a:ln>
                  <a:noFill/>
                </a:ln>
                <a:solidFill>
                  <a:prstClr val="white"/>
                </a:solidFill>
                <a:effectLst/>
                <a:uLnTx/>
                <a:uFillTx/>
                <a:latin typeface="Frutiger LT 65 Bold"/>
                <a:ea typeface="Rix모던고딕 B"/>
                <a:cs typeface="+mn-cs"/>
              </a:rPr>
              <a:t>36)</a:t>
            </a:r>
            <a:endPar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80" name="직사각형 79"/>
          <p:cNvSpPr/>
          <p:nvPr/>
        </p:nvSpPr>
        <p:spPr>
          <a:xfrm>
            <a:off x="2848603" y="4324360"/>
            <a:ext cx="1833936" cy="39457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ctr" defTabSz="914400" rtl="0" eaLnBrk="1" fontAlgn="base" latinLnBrk="1" hangingPunct="1">
              <a:lnSpc>
                <a:spcPct val="13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이일출원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9" name="직사각형 88"/>
          <p:cNvSpPr/>
          <p:nvPr/>
        </p:nvSpPr>
        <p:spPr>
          <a:xfrm>
            <a:off x="2848603" y="4959626"/>
            <a:ext cx="1833936" cy="39457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ctr" defTabSz="914400" rtl="0" eaLnBrk="1" fontAlgn="base" latinLnBrk="1" hangingPunct="1">
              <a:lnSpc>
                <a:spcPct val="13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동일출원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2" name="직사각형 91"/>
          <p:cNvSpPr/>
          <p:nvPr/>
        </p:nvSpPr>
        <p:spPr>
          <a:xfrm>
            <a:off x="2848603" y="5565443"/>
            <a:ext cx="1833936" cy="39457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ctr"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지위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780" marR="17780" lvl="0" indent="0" algn="ctr"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인정 여부</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 name="꺾인 연결선 6"/>
          <p:cNvCxnSpPr>
            <a:cxnSpLocks/>
            <a:stCxn id="77" idx="3"/>
            <a:endCxn id="80" idx="1"/>
          </p:cNvCxnSpPr>
          <p:nvPr/>
        </p:nvCxnSpPr>
        <p:spPr>
          <a:xfrm flipV="1">
            <a:off x="2064246" y="4521646"/>
            <a:ext cx="784357" cy="63598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꺾인 연결선 9"/>
          <p:cNvCxnSpPr>
            <a:cxnSpLocks/>
            <a:stCxn id="77" idx="3"/>
            <a:endCxn id="89" idx="1"/>
          </p:cNvCxnSpPr>
          <p:nvPr/>
        </p:nvCxnSpPr>
        <p:spPr>
          <a:xfrm flipV="1">
            <a:off x="2064246" y="5156912"/>
            <a:ext cx="784357" cy="72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꺾인 연결선 11"/>
          <p:cNvCxnSpPr>
            <a:cxnSpLocks/>
            <a:stCxn id="77" idx="3"/>
            <a:endCxn id="92" idx="1"/>
          </p:cNvCxnSpPr>
          <p:nvPr/>
        </p:nvCxnSpPr>
        <p:spPr>
          <a:xfrm>
            <a:off x="2064246" y="5157632"/>
            <a:ext cx="784357" cy="60509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직사각형 98"/>
          <p:cNvSpPr/>
          <p:nvPr/>
        </p:nvSpPr>
        <p:spPr>
          <a:xfrm>
            <a:off x="4995905" y="5565442"/>
            <a:ext cx="1833936" cy="39457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ctr"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지위가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780" marR="17780" lvl="0" indent="0" algn="ctr"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없는 경우</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0" name="직사각형 99"/>
          <p:cNvSpPr/>
          <p:nvPr/>
        </p:nvSpPr>
        <p:spPr>
          <a:xfrm>
            <a:off x="4995905" y="6171258"/>
            <a:ext cx="1833936" cy="39457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 marR="17780" lvl="0" indent="0" algn="ctr"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지위가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780" marR="17780" lvl="0" indent="0" algn="ctr"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있는 경우</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2" name="꺾인 연결선 21"/>
          <p:cNvCxnSpPr>
            <a:stCxn id="92" idx="3"/>
            <a:endCxn id="100" idx="1"/>
          </p:cNvCxnSpPr>
          <p:nvPr/>
        </p:nvCxnSpPr>
        <p:spPr>
          <a:xfrm>
            <a:off x="4682539" y="5762728"/>
            <a:ext cx="313366" cy="60581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stCxn id="92" idx="3"/>
            <a:endCxn id="99" idx="1"/>
          </p:cNvCxnSpPr>
          <p:nvPr/>
        </p:nvCxnSpPr>
        <p:spPr>
          <a:xfrm flipV="1">
            <a:off x="4682539" y="5762728"/>
            <a:ext cx="313366" cy="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6" name="직사각형 105"/>
          <p:cNvSpPr/>
          <p:nvPr/>
        </p:nvSpPr>
        <p:spPr>
          <a:xfrm>
            <a:off x="4810967" y="4324360"/>
            <a:ext cx="3786030" cy="3945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03530" marR="17780" lvl="0" indent="-285750" algn="l" defTabSz="914400" rtl="0" eaLnBrk="1" fontAlgn="base" latinLnBrk="1" hangingPunct="1">
              <a:lnSpc>
                <a:spcPct val="130000"/>
              </a:lnSpc>
              <a:spcBef>
                <a:spcPts val="0"/>
              </a:spcBef>
              <a:spcAft>
                <a:spcPts val="0"/>
              </a:spcAft>
              <a:buClrTx/>
              <a:buSzTx/>
              <a:buFont typeface="Wingdings" pitchFamily="2" charset="2"/>
              <a:buChar char="§"/>
              <a:tabLst/>
              <a:defRPr/>
            </a:pP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최선의 출원인</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36①③)</a:t>
            </a:r>
          </a:p>
        </p:txBody>
      </p:sp>
      <p:sp>
        <p:nvSpPr>
          <p:cNvPr id="107" name="직사각형 106"/>
          <p:cNvSpPr/>
          <p:nvPr/>
        </p:nvSpPr>
        <p:spPr>
          <a:xfrm>
            <a:off x="4810967" y="4959625"/>
            <a:ext cx="3786030" cy="3945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03530" marR="17780" lvl="0" indent="-285750" algn="l" defTabSz="914400" rtl="0" eaLnBrk="1" fontAlgn="base" latinLnBrk="1" hangingPunct="1">
              <a:lnSpc>
                <a:spcPct val="100000"/>
              </a:lnSpc>
              <a:spcBef>
                <a:spcPts val="0"/>
              </a:spcBef>
              <a:spcAft>
                <a:spcPts val="0"/>
              </a:spcAft>
              <a:buClrTx/>
              <a:buSzTx/>
              <a:buFont typeface="Wingdings" pitchFamily="2" charset="2"/>
              <a:buChar char="§"/>
              <a:tabLst/>
              <a:defRPr/>
            </a:pPr>
            <a:r>
              <a:rPr kumimoji="0" lang="ko-KR" altLang="en-US" sz="1200" b="0" i="0" u="none" strike="noStrike" kern="1200" cap="none" spc="0" normalizeH="0" baseline="0" noProof="0" dirty="0" err="1">
                <a:ln>
                  <a:noFill/>
                </a:ln>
                <a:solidFill>
                  <a:srgbClr val="E7E6E6">
                    <a:lumMod val="50000"/>
                  </a:srgbClr>
                </a:solidFill>
                <a:effectLst/>
                <a:uLnTx/>
                <a:uFillTx/>
                <a:latin typeface="Frutiger LT 65 Bold"/>
                <a:ea typeface="Rix모던고딕 B"/>
                <a:cs typeface="+mn-cs"/>
              </a:rPr>
              <a:t>협의제</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36②③)</a:t>
            </a:r>
          </a:p>
          <a:p>
            <a:pPr marL="303530" marR="17780" lvl="0" indent="-285750" algn="l" defTabSz="914400" rtl="0" eaLnBrk="1" fontAlgn="base" latinLnBrk="1" hangingPunct="1">
              <a:lnSpc>
                <a:spcPct val="100000"/>
              </a:lnSpc>
              <a:spcBef>
                <a:spcPts val="0"/>
              </a:spcBef>
              <a:spcAft>
                <a:spcPts val="0"/>
              </a:spcAft>
              <a:buClrTx/>
              <a:buSzTx/>
              <a:buFont typeface="Wingdings" pitchFamily="2" charset="2"/>
              <a:buChar char="§"/>
              <a:tabLst/>
              <a:defRPr/>
            </a:pP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협의명령</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36⑥)</a:t>
            </a:r>
          </a:p>
        </p:txBody>
      </p:sp>
      <p:sp>
        <p:nvSpPr>
          <p:cNvPr id="108" name="직사각형 107"/>
          <p:cNvSpPr/>
          <p:nvPr/>
        </p:nvSpPr>
        <p:spPr>
          <a:xfrm>
            <a:off x="6958269" y="5565441"/>
            <a:ext cx="4649055" cy="3945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03530" marR="17780" lvl="0" indent="-285750" algn="l" defTabSz="914400" rtl="0" eaLnBrk="1" fontAlgn="base" latinLnBrk="1" hangingPunct="1">
              <a:lnSpc>
                <a:spcPct val="100000"/>
              </a:lnSpc>
              <a:spcBef>
                <a:spcPts val="0"/>
              </a:spcBef>
              <a:spcAft>
                <a:spcPts val="0"/>
              </a:spcAft>
              <a:buClrTx/>
              <a:buSzTx/>
              <a:buFont typeface="Wingdings" pitchFamily="2" charset="2"/>
              <a:buChar char="§"/>
              <a:tabLst/>
              <a:defRPr/>
            </a:pP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출원의 </a:t>
            </a:r>
            <a:r>
              <a:rPr kumimoji="0" lang="ko-KR" altLang="en-US" sz="1200" b="0" i="0" u="none" strike="noStrike" kern="1200" cap="none" spc="0" normalizeH="0" baseline="0" noProof="0" dirty="0" err="1">
                <a:ln>
                  <a:noFill/>
                </a:ln>
                <a:solidFill>
                  <a:srgbClr val="E7E6E6">
                    <a:lumMod val="50000"/>
                  </a:srgbClr>
                </a:solidFill>
                <a:effectLst/>
                <a:uLnTx/>
                <a:uFillTx/>
                <a:latin typeface="Frutiger LT 65 Bold"/>
                <a:ea typeface="Rix모던고딕 B"/>
                <a:cs typeface="+mn-cs"/>
              </a:rPr>
              <a:t>무효ㆍ취하ㆍ포기ㆍ거절결정</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 확정</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36④</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본문</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a:t>
            </a:r>
          </a:p>
          <a:p>
            <a:pPr marL="303530" marR="17780" lvl="0" indent="-285750" algn="l" defTabSz="914400" rtl="0" eaLnBrk="1" fontAlgn="base" latinLnBrk="1" hangingPunct="1">
              <a:lnSpc>
                <a:spcPct val="100000"/>
              </a:lnSpc>
              <a:spcBef>
                <a:spcPts val="0"/>
              </a:spcBef>
              <a:spcAft>
                <a:spcPts val="0"/>
              </a:spcAft>
              <a:buClrTx/>
              <a:buSzTx/>
              <a:buFont typeface="Wingdings" pitchFamily="2" charset="2"/>
              <a:buChar char="§"/>
              <a:tabLst/>
              <a:defRPr/>
            </a:pPr>
            <a:r>
              <a:rPr kumimoji="0" lang="ko-KR" altLang="en-US" sz="1200" b="0" i="0" u="none" strike="noStrike" kern="1200" cap="none" spc="0" normalizeH="0" baseline="0" noProof="0" dirty="0" err="1">
                <a:ln>
                  <a:noFill/>
                </a:ln>
                <a:solidFill>
                  <a:srgbClr val="E7E6E6">
                    <a:lumMod val="50000"/>
                  </a:srgbClr>
                </a:solidFill>
                <a:effectLst/>
                <a:uLnTx/>
                <a:uFillTx/>
                <a:latin typeface="Frutiger LT 65 Bold"/>
                <a:ea typeface="Rix모던고딕 B"/>
                <a:cs typeface="+mn-cs"/>
              </a:rPr>
              <a:t>무권리자출원</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36⑤)</a:t>
            </a:r>
          </a:p>
        </p:txBody>
      </p:sp>
      <p:sp>
        <p:nvSpPr>
          <p:cNvPr id="109" name="직사각형 108"/>
          <p:cNvSpPr/>
          <p:nvPr/>
        </p:nvSpPr>
        <p:spPr>
          <a:xfrm>
            <a:off x="6958269" y="6171257"/>
            <a:ext cx="4649055" cy="3945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03530" marR="17780" lvl="0" indent="-285750" algn="l" defTabSz="914400" rtl="0" eaLnBrk="1" fontAlgn="base" latinLnBrk="1" hangingPunct="1">
              <a:lnSpc>
                <a:spcPct val="100000"/>
              </a:lnSpc>
              <a:spcBef>
                <a:spcPts val="0"/>
              </a:spcBef>
              <a:spcAft>
                <a:spcPts val="0"/>
              </a:spcAft>
              <a:buClrTx/>
              <a:buSzTx/>
              <a:buFont typeface="Wingdings" pitchFamily="2" charset="2"/>
              <a:buChar char="§"/>
              <a:tabLst/>
              <a:defRPr/>
            </a:pPr>
            <a:r>
              <a:rPr kumimoji="0" lang="ko-KR" altLang="en-US" sz="1200" b="0" i="0" u="none" strike="noStrike" kern="1200" cap="none" spc="0" normalizeH="0" baseline="0" noProof="0" dirty="0" err="1">
                <a:ln>
                  <a:noFill/>
                </a:ln>
                <a:solidFill>
                  <a:srgbClr val="E7E6E6">
                    <a:lumMod val="50000"/>
                  </a:srgbClr>
                </a:solidFill>
                <a:effectLst/>
                <a:uLnTx/>
                <a:uFillTx/>
                <a:latin typeface="Frutiger LT 65 Bold"/>
                <a:ea typeface="Rix모던고딕 B"/>
                <a:cs typeface="+mn-cs"/>
              </a:rPr>
              <a:t>협의불성립으로</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 거절결정 확정</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36④</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단서</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a:t>
            </a:r>
          </a:p>
        </p:txBody>
      </p:sp>
      <p:sp>
        <p:nvSpPr>
          <p:cNvPr id="20" name="TextBox 19"/>
          <p:cNvSpPr txBox="1"/>
          <p:nvPr/>
        </p:nvSpPr>
        <p:spPr>
          <a:xfrm>
            <a:off x="77875" y="986046"/>
            <a:ext cx="11936323" cy="3108543"/>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36</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err="1">
                <a:ln>
                  <a:noFill/>
                </a:ln>
                <a:solidFill>
                  <a:srgbClr val="5B9BD5"/>
                </a:solidFill>
                <a:effectLst/>
                <a:uLnTx/>
                <a:uFillTx/>
                <a:latin typeface="Frutiger LT 65 Bold"/>
                <a:ea typeface="Rix모던고딕 B"/>
                <a:cs typeface="+mn-cs"/>
              </a:rPr>
              <a:t>선출원</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동일한 발명에 대하여 다른 날에 둘 이상의 특허출원이 있는 경우에는 먼저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자만이 그 발명에 대하여 특허를 받을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②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동일한 발명에 대하여 같은 날에 둘 이상의 특허출원이 있는 경우에는 특허출원인 간에 협의하여 정한 하나의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특허출원인만이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그 발명에 대하여 특허를 받을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협의가 성립하지 아니하거나 협의를 할 수 없는 경우에는 어느 특허출원인도 그 발명에 대하여 특허를 받을 수 없다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③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발명과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실용신안등록출원된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고안이 동일한 경우 그 특허출원과 실용신안등록출원이 다른 날에 출원된 것이면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항을 준용하고</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특허출원과 실용신안등록출원이 같은 날에 출원된 것이면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항을 준용한다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④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 또는 실용신안등록출원이 다음 각 호의 어느 하나에 해당하는 경우 그 특허출원 또는 실용신안등록출원은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항부터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항까지의 규정을 적용할 때에는 처음부터 없었던 것으로 본다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단서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준용되는 경우를 포함한다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해당하여 그 특허출원 또는 실용신안등록출원에 대하여 거절결정이나 거절한다는 취지의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심결이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확정된 경우에는 그러하지 아니하다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포기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무효 또는 취하된 경우</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거절결정이나 거절한다는 취지의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심결이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확정된 경우</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⑤ 발명자 또는 고안자가 아닌 자로서 특허를 받을 수 있는 권리 또는 실용신안등록을 받을 수 있는 권리의 승계인이 아닌 자가 한 특허출원 또는 실용신안등록출원은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항부터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항까지의 규정을 적용할 때에는 처음부터 없었던 것으로 본다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⑥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지식재산처장은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항의 경우에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특허출원인에게</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기간을 정하여 협의의 결과를 신고할 것을 명하고</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기간에 신고가 없으면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협의는 성립되지 아니한 것으로 본다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21" name="직선 연결선 20"/>
          <p:cNvCxnSpPr/>
          <p:nvPr/>
        </p:nvCxnSpPr>
        <p:spPr>
          <a:xfrm>
            <a:off x="0" y="409555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81</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91655054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 name="자유형 153"/>
          <p:cNvSpPr/>
          <p:nvPr/>
        </p:nvSpPr>
        <p:spPr>
          <a:xfrm>
            <a:off x="8490864" y="3737372"/>
            <a:ext cx="2811427" cy="565079"/>
          </a:xfrm>
          <a:custGeom>
            <a:avLst/>
            <a:gdLst>
              <a:gd name="connsiteX0" fmla="*/ 0 w 4130211"/>
              <a:gd name="connsiteY0" fmla="*/ 565079 h 565079"/>
              <a:gd name="connsiteX1" fmla="*/ 318499 w 4130211"/>
              <a:gd name="connsiteY1" fmla="*/ 0 h 565079"/>
              <a:gd name="connsiteX2" fmla="*/ 4130211 w 4130211"/>
              <a:gd name="connsiteY2" fmla="*/ 0 h 565079"/>
              <a:gd name="connsiteX3" fmla="*/ 4130211 w 4130211"/>
              <a:gd name="connsiteY3" fmla="*/ 554805 h 565079"/>
            </a:gdLst>
            <a:ahLst/>
            <a:cxnLst>
              <a:cxn ang="0">
                <a:pos x="connsiteX0" y="connsiteY0"/>
              </a:cxn>
              <a:cxn ang="0">
                <a:pos x="connsiteX1" y="connsiteY1"/>
              </a:cxn>
              <a:cxn ang="0">
                <a:pos x="connsiteX2" y="connsiteY2"/>
              </a:cxn>
              <a:cxn ang="0">
                <a:pos x="connsiteX3" y="connsiteY3"/>
              </a:cxn>
            </a:cxnLst>
            <a:rect l="l" t="t" r="r" b="b"/>
            <a:pathLst>
              <a:path w="4130211" h="565079">
                <a:moveTo>
                  <a:pt x="0" y="565079"/>
                </a:moveTo>
                <a:lnTo>
                  <a:pt x="318499" y="0"/>
                </a:lnTo>
                <a:lnTo>
                  <a:pt x="4130211" y="0"/>
                </a:lnTo>
                <a:lnTo>
                  <a:pt x="4130211" y="554805"/>
                </a:lnTo>
              </a:path>
            </a:pathLst>
          </a:custGeom>
          <a:pattFill prst="dotGrid">
            <a:fgClr>
              <a:schemeClr val="accent1"/>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185" name="도넛 184"/>
          <p:cNvSpPr/>
          <p:nvPr/>
        </p:nvSpPr>
        <p:spPr>
          <a:xfrm>
            <a:off x="9461782" y="3243790"/>
            <a:ext cx="856654" cy="825047"/>
          </a:xfrm>
          <a:prstGeom prst="donut">
            <a:avLst>
              <a:gd name="adj" fmla="val 15409"/>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0000"/>
              </a:solidFill>
              <a:effectLst/>
              <a:uLnTx/>
              <a:uFillTx/>
              <a:latin typeface="Frutiger LT 65 Bold"/>
              <a:ea typeface="Rix모던고딕 B"/>
              <a:cs typeface="+mn-cs"/>
            </a:endParaRPr>
          </a:p>
        </p:txBody>
      </p:sp>
      <p:sp>
        <p:nvSpPr>
          <p:cNvPr id="108" name="자유형 107"/>
          <p:cNvSpPr/>
          <p:nvPr/>
        </p:nvSpPr>
        <p:spPr>
          <a:xfrm>
            <a:off x="4367597" y="3737372"/>
            <a:ext cx="2811427" cy="565079"/>
          </a:xfrm>
          <a:custGeom>
            <a:avLst/>
            <a:gdLst>
              <a:gd name="connsiteX0" fmla="*/ 0 w 4130211"/>
              <a:gd name="connsiteY0" fmla="*/ 565079 h 565079"/>
              <a:gd name="connsiteX1" fmla="*/ 318499 w 4130211"/>
              <a:gd name="connsiteY1" fmla="*/ 0 h 565079"/>
              <a:gd name="connsiteX2" fmla="*/ 4130211 w 4130211"/>
              <a:gd name="connsiteY2" fmla="*/ 0 h 565079"/>
              <a:gd name="connsiteX3" fmla="*/ 4130211 w 4130211"/>
              <a:gd name="connsiteY3" fmla="*/ 554805 h 565079"/>
            </a:gdLst>
            <a:ahLst/>
            <a:cxnLst>
              <a:cxn ang="0">
                <a:pos x="connsiteX0" y="connsiteY0"/>
              </a:cxn>
              <a:cxn ang="0">
                <a:pos x="connsiteX1" y="connsiteY1"/>
              </a:cxn>
              <a:cxn ang="0">
                <a:pos x="connsiteX2" y="connsiteY2"/>
              </a:cxn>
              <a:cxn ang="0">
                <a:pos x="connsiteX3" y="connsiteY3"/>
              </a:cxn>
            </a:cxnLst>
            <a:rect l="l" t="t" r="r" b="b"/>
            <a:pathLst>
              <a:path w="4130211" h="565079">
                <a:moveTo>
                  <a:pt x="0" y="565079"/>
                </a:moveTo>
                <a:lnTo>
                  <a:pt x="318499" y="0"/>
                </a:lnTo>
                <a:lnTo>
                  <a:pt x="4130211" y="0"/>
                </a:lnTo>
                <a:lnTo>
                  <a:pt x="4130211" y="554805"/>
                </a:lnTo>
              </a:path>
            </a:pathLst>
          </a:custGeom>
          <a:pattFill prst="dotGrid">
            <a:fgClr>
              <a:schemeClr val="accent1"/>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black"/>
              </a:solidFill>
              <a:effectLst/>
              <a:uLnTx/>
              <a:uFillTx/>
              <a:latin typeface="Frutiger LT 65 Bold"/>
              <a:ea typeface="Rix모던고딕 B"/>
              <a:cs typeface="+mn-cs"/>
            </a:endParaRPr>
          </a:p>
        </p:txBody>
      </p:sp>
      <p:cxnSp>
        <p:nvCxnSpPr>
          <p:cNvPr id="94" name="직선 연결선 93"/>
          <p:cNvCxnSpPr>
            <a:stCxn id="105" idx="2"/>
          </p:cNvCxnSpPr>
          <p:nvPr/>
        </p:nvCxnSpPr>
        <p:spPr>
          <a:xfrm>
            <a:off x="4309001" y="4301931"/>
            <a:ext cx="2909391" cy="520"/>
          </a:xfrm>
          <a:prstGeom prst="line">
            <a:avLst/>
          </a:prstGeom>
          <a:ln w="57150">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1" name="직선 연결선 180"/>
          <p:cNvCxnSpPr>
            <a:endCxn id="106" idx="6"/>
          </p:cNvCxnSpPr>
          <p:nvPr/>
        </p:nvCxnSpPr>
        <p:spPr>
          <a:xfrm>
            <a:off x="4355717" y="4301931"/>
            <a:ext cx="943248" cy="0"/>
          </a:xfrm>
          <a:prstGeom prst="line">
            <a:avLst/>
          </a:prstGeom>
          <a:ln w="57150">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자유형 44"/>
          <p:cNvSpPr/>
          <p:nvPr/>
        </p:nvSpPr>
        <p:spPr>
          <a:xfrm>
            <a:off x="625032" y="3737372"/>
            <a:ext cx="2811427" cy="565079"/>
          </a:xfrm>
          <a:custGeom>
            <a:avLst/>
            <a:gdLst>
              <a:gd name="connsiteX0" fmla="*/ 0 w 4130211"/>
              <a:gd name="connsiteY0" fmla="*/ 565079 h 565079"/>
              <a:gd name="connsiteX1" fmla="*/ 318499 w 4130211"/>
              <a:gd name="connsiteY1" fmla="*/ 0 h 565079"/>
              <a:gd name="connsiteX2" fmla="*/ 4130211 w 4130211"/>
              <a:gd name="connsiteY2" fmla="*/ 0 h 565079"/>
              <a:gd name="connsiteX3" fmla="*/ 4130211 w 4130211"/>
              <a:gd name="connsiteY3" fmla="*/ 554805 h 565079"/>
            </a:gdLst>
            <a:ahLst/>
            <a:cxnLst>
              <a:cxn ang="0">
                <a:pos x="connsiteX0" y="connsiteY0"/>
              </a:cxn>
              <a:cxn ang="0">
                <a:pos x="connsiteX1" y="connsiteY1"/>
              </a:cxn>
              <a:cxn ang="0">
                <a:pos x="connsiteX2" y="connsiteY2"/>
              </a:cxn>
              <a:cxn ang="0">
                <a:pos x="connsiteX3" y="connsiteY3"/>
              </a:cxn>
            </a:cxnLst>
            <a:rect l="l" t="t" r="r" b="b"/>
            <a:pathLst>
              <a:path w="4130211" h="565079">
                <a:moveTo>
                  <a:pt x="0" y="565079"/>
                </a:moveTo>
                <a:lnTo>
                  <a:pt x="318499" y="0"/>
                </a:lnTo>
                <a:lnTo>
                  <a:pt x="4130211" y="0"/>
                </a:lnTo>
                <a:lnTo>
                  <a:pt x="4130211" y="554805"/>
                </a:lnTo>
              </a:path>
            </a:pathLst>
          </a:custGeom>
          <a:pattFill prst="dotGrid">
            <a:fgClr>
              <a:schemeClr val="accent1"/>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black"/>
              </a:solidFill>
              <a:effectLst/>
              <a:uLnTx/>
              <a:uFillTx/>
              <a:latin typeface="Frutiger LT 65 Bold"/>
              <a:ea typeface="Rix모던고딕 B"/>
              <a:cs typeface="+mn-cs"/>
            </a:endParaRPr>
          </a:p>
        </p:txBody>
      </p:sp>
      <p:cxnSp>
        <p:nvCxnSpPr>
          <p:cNvPr id="46" name="직선 연결선 45"/>
          <p:cNvCxnSpPr>
            <a:stCxn id="89" idx="6"/>
          </p:cNvCxnSpPr>
          <p:nvPr/>
        </p:nvCxnSpPr>
        <p:spPr>
          <a:xfrm>
            <a:off x="691797" y="4301931"/>
            <a:ext cx="2792795" cy="520"/>
          </a:xfrm>
          <a:prstGeom prst="line">
            <a:avLst/>
          </a:prstGeom>
          <a:ln w="57150">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36</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특허의 무효와 포기</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82</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90" name="TextBox 89"/>
          <p:cNvSpPr txBox="1"/>
          <p:nvPr/>
        </p:nvSpPr>
        <p:spPr>
          <a:xfrm>
            <a:off x="77875" y="986046"/>
            <a:ext cx="11936323" cy="1815882"/>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1990. 8. 14.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89</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1103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판결에서는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동일인이 동일고안에 대하여 같은 날에 경합출원을 하여 모두 등록된 경우에 그 후 어느 한쪽의 등록이 무효로 확정되었다면 나머지 등록을 유지</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존속시켜 주는 것이 타당하고 당초에 경합출원이었다는 사실만으로 나머지 등록까지 모두 무효로 볼 것이 아니다</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라고 판시하였고</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2007. 1. 12.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2005</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3017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판결에서는 “특허권이나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실용신안권의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포기에 의하여 경합출원의 하자가 치유되어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자에 대한 관계에서 특허권의 효력을 주장할 수 있다고 보는 것은 명문의 근거가 없을 뿐만 아니라 권리자가 포기의 대상과 시기를 임의로 선택할 수 있어 권리관계가 불확정한 상태에 놓이게 되는 등 법적 안정성을 해칠 우려가 있는 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특허권이나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실용신안권의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포기는 그 출원의 포기와는 달리 소급효가 없음에도 결과적으로 그 포기에 소급효를 인정하는 셈이 되어 부당하며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나아가 특허권 등의 포기는 등록만으로 이루어져 대외적인 공시방법으로는 충분하지 아니한 점 등을 종합하여 보면</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출원이 경합된 상태에서 등록된 특허권이나 </a:t>
            </a:r>
            <a:r>
              <a:rPr kumimoji="0" lang="ko-KR" altLang="en-US" sz="1400" b="0" i="0" u="none" strike="noStrike" kern="1200" cap="none" spc="0" normalizeH="0" baseline="0" noProof="0" dirty="0" err="1">
                <a:ln>
                  <a:noFill/>
                </a:ln>
                <a:solidFill>
                  <a:srgbClr val="A5A5A5">
                    <a:lumMod val="50000"/>
                  </a:srgbClr>
                </a:solidFill>
                <a:effectLst/>
                <a:highlight>
                  <a:srgbClr val="FFFF00"/>
                </a:highlight>
                <a:uLnTx/>
                <a:uFillTx/>
                <a:latin typeface="Frutiger LT 65 Bold"/>
                <a:ea typeface="Rix모던고딕 B"/>
                <a:cs typeface="+mn-cs"/>
              </a:rPr>
              <a:t>실용신안권</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중 어느 하나에 대하여 사후 권리자가 그 권리를 포기하였다고 하더라도 경합출원으로 인한 하자가 치유된다고 보기는 어렵다</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고 판시하여</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특허권의 무효와 포기에 대하여 달리 취급하고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91" name="직선 연결선 90"/>
          <p:cNvCxnSpPr/>
          <p:nvPr/>
        </p:nvCxnSpPr>
        <p:spPr>
          <a:xfrm>
            <a:off x="0" y="280626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직선 연결선 42"/>
          <p:cNvCxnSpPr/>
          <p:nvPr/>
        </p:nvCxnSpPr>
        <p:spPr>
          <a:xfrm>
            <a:off x="3705442" y="2984740"/>
            <a:ext cx="0" cy="3678427"/>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직선 연결선 47"/>
          <p:cNvCxnSpPr>
            <a:endCxn id="49" idx="0"/>
          </p:cNvCxnSpPr>
          <p:nvPr/>
        </p:nvCxnSpPr>
        <p:spPr>
          <a:xfrm>
            <a:off x="631903" y="4353253"/>
            <a:ext cx="1" cy="30239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247807" y="4655651"/>
            <a:ext cx="768194" cy="246221"/>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sp>
        <p:nvSpPr>
          <p:cNvPr id="54" name="직사각형 53"/>
          <p:cNvSpPr/>
          <p:nvPr/>
        </p:nvSpPr>
        <p:spPr>
          <a:xfrm>
            <a:off x="3393630" y="3737372"/>
            <a:ext cx="90962" cy="5239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Frutiger LT 65 Bold"/>
              <a:ea typeface="Rix모던고딕 B"/>
              <a:cs typeface="+mn-cs"/>
            </a:endParaRPr>
          </a:p>
        </p:txBody>
      </p:sp>
      <p:grpSp>
        <p:nvGrpSpPr>
          <p:cNvPr id="55" name="그룹 54"/>
          <p:cNvGrpSpPr/>
          <p:nvPr/>
        </p:nvGrpSpPr>
        <p:grpSpPr>
          <a:xfrm>
            <a:off x="248597" y="5038117"/>
            <a:ext cx="770400" cy="459001"/>
            <a:chOff x="2814293" y="4469336"/>
            <a:chExt cx="1177134" cy="696098"/>
          </a:xfrm>
          <a:solidFill>
            <a:schemeClr val="bg1"/>
          </a:solidFill>
        </p:grpSpPr>
        <p:sp>
          <p:nvSpPr>
            <p:cNvPr id="56" name="직사각형 55"/>
            <p:cNvSpPr/>
            <p:nvPr/>
          </p:nvSpPr>
          <p:spPr>
            <a:xfrm>
              <a:off x="2814293" y="4469336"/>
              <a:ext cx="1177134" cy="348049"/>
            </a:xfrm>
            <a:prstGeom prst="rect">
              <a:avLst/>
            </a:prstGeom>
            <a:grp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7" name="직사각형 56"/>
            <p:cNvSpPr/>
            <p:nvPr/>
          </p:nvSpPr>
          <p:spPr>
            <a:xfrm>
              <a:off x="2814293" y="4817385"/>
              <a:ext cx="1177134" cy="348049"/>
            </a:xfrm>
            <a:prstGeom prst="rect">
              <a:avLst/>
            </a:prstGeom>
            <a:grp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 B, C</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cxnSp>
        <p:nvCxnSpPr>
          <p:cNvPr id="65" name="직선 연결선 64"/>
          <p:cNvCxnSpPr>
            <a:endCxn id="66" idx="0"/>
          </p:cNvCxnSpPr>
          <p:nvPr/>
        </p:nvCxnSpPr>
        <p:spPr>
          <a:xfrm>
            <a:off x="2235029" y="4357005"/>
            <a:ext cx="1" cy="30239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1676060" y="4659403"/>
            <a:ext cx="1117940" cy="246221"/>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 무효</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포기</a:t>
            </a:r>
          </a:p>
        </p:txBody>
      </p:sp>
      <p:cxnSp>
        <p:nvCxnSpPr>
          <p:cNvPr id="88" name="직선 연결선 87"/>
          <p:cNvCxnSpPr/>
          <p:nvPr/>
        </p:nvCxnSpPr>
        <p:spPr>
          <a:xfrm>
            <a:off x="7689911" y="2984740"/>
            <a:ext cx="0" cy="3678427"/>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곱셈 기호 58"/>
          <p:cNvSpPr/>
          <p:nvPr/>
        </p:nvSpPr>
        <p:spPr>
          <a:xfrm>
            <a:off x="1529613" y="3118695"/>
            <a:ext cx="1125671" cy="1154811"/>
          </a:xfrm>
          <a:prstGeom prst="mathMultiply">
            <a:avLst>
              <a:gd name="adj1" fmla="val 1530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7" name="TextBox 46"/>
          <p:cNvSpPr txBox="1"/>
          <p:nvPr/>
        </p:nvSpPr>
        <p:spPr>
          <a:xfrm>
            <a:off x="1343854" y="3460012"/>
            <a:ext cx="1124026" cy="261610"/>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지위</a:t>
            </a:r>
          </a:p>
        </p:txBody>
      </p:sp>
      <p:sp>
        <p:nvSpPr>
          <p:cNvPr id="89" name="Rectangle 14"/>
          <p:cNvSpPr>
            <a:spLocks noChangeArrowheads="1"/>
          </p:cNvSpPr>
          <p:nvPr/>
        </p:nvSpPr>
        <p:spPr bwMode="auto">
          <a:xfrm flipV="1">
            <a:off x="575201" y="4239477"/>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92" name="Rectangle 14"/>
          <p:cNvSpPr>
            <a:spLocks noChangeArrowheads="1"/>
          </p:cNvSpPr>
          <p:nvPr/>
        </p:nvSpPr>
        <p:spPr bwMode="auto">
          <a:xfrm flipV="1">
            <a:off x="2176731" y="4239477"/>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97" name="직사각형 96"/>
          <p:cNvSpPr/>
          <p:nvPr/>
        </p:nvSpPr>
        <p:spPr>
          <a:xfrm>
            <a:off x="7127430" y="3737372"/>
            <a:ext cx="90962" cy="5239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3" name="곱셈 기호 102"/>
          <p:cNvSpPr/>
          <p:nvPr/>
        </p:nvSpPr>
        <p:spPr>
          <a:xfrm>
            <a:off x="5263413" y="3118695"/>
            <a:ext cx="1125671" cy="1154811"/>
          </a:xfrm>
          <a:prstGeom prst="mathMultiply">
            <a:avLst>
              <a:gd name="adj1" fmla="val 1530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4" name="TextBox 103"/>
          <p:cNvSpPr txBox="1"/>
          <p:nvPr/>
        </p:nvSpPr>
        <p:spPr>
          <a:xfrm>
            <a:off x="5277350" y="3460012"/>
            <a:ext cx="1124026" cy="261610"/>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지위</a:t>
            </a:r>
          </a:p>
        </p:txBody>
      </p:sp>
      <p:cxnSp>
        <p:nvCxnSpPr>
          <p:cNvPr id="109" name="직선 연결선 108"/>
          <p:cNvCxnSpPr>
            <a:endCxn id="127" idx="0"/>
          </p:cNvCxnSpPr>
          <p:nvPr/>
        </p:nvCxnSpPr>
        <p:spPr>
          <a:xfrm>
            <a:off x="4367596" y="4353253"/>
            <a:ext cx="1" cy="30239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27" name="TextBox 126"/>
          <p:cNvSpPr txBox="1"/>
          <p:nvPr/>
        </p:nvSpPr>
        <p:spPr>
          <a:xfrm>
            <a:off x="3983500" y="4655651"/>
            <a:ext cx="768194" cy="246221"/>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grpSp>
        <p:nvGrpSpPr>
          <p:cNvPr id="134" name="그룹 133"/>
          <p:cNvGrpSpPr/>
          <p:nvPr/>
        </p:nvGrpSpPr>
        <p:grpSpPr>
          <a:xfrm>
            <a:off x="3984290" y="5038117"/>
            <a:ext cx="770400" cy="459001"/>
            <a:chOff x="2814293" y="4469336"/>
            <a:chExt cx="1177134" cy="696098"/>
          </a:xfrm>
          <a:solidFill>
            <a:schemeClr val="bg1"/>
          </a:solidFill>
        </p:grpSpPr>
        <p:sp>
          <p:nvSpPr>
            <p:cNvPr id="135" name="직사각형 134"/>
            <p:cNvSpPr/>
            <p:nvPr/>
          </p:nvSpPr>
          <p:spPr>
            <a:xfrm>
              <a:off x="2814293" y="4469336"/>
              <a:ext cx="1177134" cy="348049"/>
            </a:xfrm>
            <a:prstGeom prst="rect">
              <a:avLst/>
            </a:prstGeom>
            <a:grp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6" name="직사각형 135"/>
            <p:cNvSpPr/>
            <p:nvPr/>
          </p:nvSpPr>
          <p:spPr>
            <a:xfrm>
              <a:off x="2814293" y="4817385"/>
              <a:ext cx="1177134" cy="348049"/>
            </a:xfrm>
            <a:prstGeom prst="rect">
              <a:avLst/>
            </a:prstGeom>
            <a:grp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 B, C</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cxnSp>
        <p:nvCxnSpPr>
          <p:cNvPr id="137" name="직선 연결선 136"/>
          <p:cNvCxnSpPr>
            <a:endCxn id="138" idx="0"/>
          </p:cNvCxnSpPr>
          <p:nvPr/>
        </p:nvCxnSpPr>
        <p:spPr>
          <a:xfrm>
            <a:off x="5233810" y="4353253"/>
            <a:ext cx="1" cy="30239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38" name="TextBox 137"/>
          <p:cNvSpPr txBox="1"/>
          <p:nvPr/>
        </p:nvSpPr>
        <p:spPr>
          <a:xfrm>
            <a:off x="4849714" y="4655651"/>
            <a:ext cx="768194" cy="246221"/>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설정등록</a:t>
            </a:r>
          </a:p>
        </p:txBody>
      </p:sp>
      <p:sp>
        <p:nvSpPr>
          <p:cNvPr id="143" name="Rectangle 14"/>
          <p:cNvSpPr>
            <a:spLocks noChangeArrowheads="1"/>
          </p:cNvSpPr>
          <p:nvPr/>
        </p:nvSpPr>
        <p:spPr bwMode="auto">
          <a:xfrm flipV="1">
            <a:off x="5892609" y="4240443"/>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145" name="Rectangle 14"/>
          <p:cNvSpPr>
            <a:spLocks noChangeArrowheads="1"/>
          </p:cNvSpPr>
          <p:nvPr/>
        </p:nvSpPr>
        <p:spPr bwMode="auto">
          <a:xfrm flipV="1">
            <a:off x="6765977" y="4240443"/>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cxnSp>
        <p:nvCxnSpPr>
          <p:cNvPr id="146" name="직선 연결선 145"/>
          <p:cNvCxnSpPr>
            <a:endCxn id="147" idx="0"/>
          </p:cNvCxnSpPr>
          <p:nvPr/>
        </p:nvCxnSpPr>
        <p:spPr>
          <a:xfrm>
            <a:off x="5951205" y="4365351"/>
            <a:ext cx="0" cy="731550"/>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47" name="TextBox 146"/>
          <p:cNvSpPr txBox="1"/>
          <p:nvPr/>
        </p:nvSpPr>
        <p:spPr>
          <a:xfrm>
            <a:off x="5567108" y="5096901"/>
            <a:ext cx="768194" cy="400110"/>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무효심판</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청구</a:t>
            </a:r>
          </a:p>
        </p:txBody>
      </p:sp>
      <p:cxnSp>
        <p:nvCxnSpPr>
          <p:cNvPr id="148" name="직선 연결선 147"/>
          <p:cNvCxnSpPr>
            <a:stCxn id="145" idx="0"/>
          </p:cNvCxnSpPr>
          <p:nvPr/>
        </p:nvCxnSpPr>
        <p:spPr>
          <a:xfrm flipH="1">
            <a:off x="6817419" y="4365351"/>
            <a:ext cx="6856" cy="731550"/>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50" name="TextBox 149"/>
          <p:cNvSpPr txBox="1"/>
          <p:nvPr/>
        </p:nvSpPr>
        <p:spPr>
          <a:xfrm>
            <a:off x="6440178" y="5096901"/>
            <a:ext cx="768194" cy="400110"/>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무효심결</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확정</a:t>
            </a:r>
          </a:p>
        </p:txBody>
      </p:sp>
      <p:sp>
        <p:nvSpPr>
          <p:cNvPr id="24" name="직사각형 23"/>
          <p:cNvSpPr/>
          <p:nvPr/>
        </p:nvSpPr>
        <p:spPr>
          <a:xfrm>
            <a:off x="4711188" y="5984495"/>
            <a:ext cx="2725310" cy="600164"/>
          </a:xfrm>
          <a:prstGeom prst="rect">
            <a:avLst/>
          </a:prstGeom>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특허를 무효로 한다는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심결이</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확정된 경우에는 그 특허권은 처음부터 없었던 것으로 본다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133</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③</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8" name="꺾인 연결선 27"/>
          <p:cNvCxnSpPr>
            <a:stCxn id="24" idx="0"/>
            <a:endCxn id="150" idx="2"/>
          </p:cNvCxnSpPr>
          <p:nvPr/>
        </p:nvCxnSpPr>
        <p:spPr>
          <a:xfrm rot="5400000" flipH="1" flipV="1">
            <a:off x="6205317" y="5365537"/>
            <a:ext cx="487484" cy="750432"/>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9" name="직선 연결선 158"/>
          <p:cNvCxnSpPr>
            <a:stCxn id="162" idx="2"/>
          </p:cNvCxnSpPr>
          <p:nvPr/>
        </p:nvCxnSpPr>
        <p:spPr>
          <a:xfrm>
            <a:off x="8432268" y="4301931"/>
            <a:ext cx="2909391" cy="520"/>
          </a:xfrm>
          <a:prstGeom prst="line">
            <a:avLst/>
          </a:prstGeom>
          <a:ln w="57150">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0" name="직사각형 159"/>
          <p:cNvSpPr/>
          <p:nvPr/>
        </p:nvSpPr>
        <p:spPr>
          <a:xfrm>
            <a:off x="11250697" y="3737372"/>
            <a:ext cx="90962" cy="5239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61" name="TextBox 160"/>
          <p:cNvSpPr txBox="1"/>
          <p:nvPr/>
        </p:nvSpPr>
        <p:spPr>
          <a:xfrm>
            <a:off x="9316531" y="3460012"/>
            <a:ext cx="1124026" cy="261610"/>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지위</a:t>
            </a:r>
          </a:p>
        </p:txBody>
      </p:sp>
      <p:cxnSp>
        <p:nvCxnSpPr>
          <p:cNvPr id="165" name="직선 연결선 164"/>
          <p:cNvCxnSpPr>
            <a:endCxn id="167" idx="0"/>
          </p:cNvCxnSpPr>
          <p:nvPr/>
        </p:nvCxnSpPr>
        <p:spPr>
          <a:xfrm>
            <a:off x="8490863" y="4353253"/>
            <a:ext cx="1" cy="30239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67" name="TextBox 166"/>
          <p:cNvSpPr txBox="1"/>
          <p:nvPr/>
        </p:nvSpPr>
        <p:spPr>
          <a:xfrm>
            <a:off x="8106767" y="4655651"/>
            <a:ext cx="768194" cy="246221"/>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grpSp>
        <p:nvGrpSpPr>
          <p:cNvPr id="168" name="그룹 167"/>
          <p:cNvGrpSpPr/>
          <p:nvPr/>
        </p:nvGrpSpPr>
        <p:grpSpPr>
          <a:xfrm>
            <a:off x="8107557" y="5038117"/>
            <a:ext cx="770400" cy="459001"/>
            <a:chOff x="2814293" y="4469336"/>
            <a:chExt cx="1177134" cy="696098"/>
          </a:xfrm>
          <a:solidFill>
            <a:schemeClr val="bg1"/>
          </a:solidFill>
        </p:grpSpPr>
        <p:sp>
          <p:nvSpPr>
            <p:cNvPr id="169" name="직사각형 168"/>
            <p:cNvSpPr/>
            <p:nvPr/>
          </p:nvSpPr>
          <p:spPr>
            <a:xfrm>
              <a:off x="2814293" y="4469336"/>
              <a:ext cx="1177134" cy="348049"/>
            </a:xfrm>
            <a:prstGeom prst="rect">
              <a:avLst/>
            </a:prstGeom>
            <a:grp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70" name="직사각형 169"/>
            <p:cNvSpPr/>
            <p:nvPr/>
          </p:nvSpPr>
          <p:spPr>
            <a:xfrm>
              <a:off x="2814293" y="4817385"/>
              <a:ext cx="1177134" cy="348049"/>
            </a:xfrm>
            <a:prstGeom prst="rect">
              <a:avLst/>
            </a:prstGeom>
            <a:grp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 B, C</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cxnSp>
        <p:nvCxnSpPr>
          <p:cNvPr id="171" name="직선 연결선 170"/>
          <p:cNvCxnSpPr>
            <a:endCxn id="172" idx="0"/>
          </p:cNvCxnSpPr>
          <p:nvPr/>
        </p:nvCxnSpPr>
        <p:spPr>
          <a:xfrm>
            <a:off x="9357077" y="4353253"/>
            <a:ext cx="1" cy="30239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a:off x="8972981" y="4655651"/>
            <a:ext cx="768194" cy="246221"/>
          </a:xfrm>
          <a:prstGeom prst="rect">
            <a:avLst/>
          </a:prstGeom>
          <a:solidFill>
            <a:schemeClr val="accent4">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설정등록</a:t>
            </a:r>
          </a:p>
        </p:txBody>
      </p:sp>
      <p:sp>
        <p:nvSpPr>
          <p:cNvPr id="173" name="Rectangle 14"/>
          <p:cNvSpPr>
            <a:spLocks noChangeArrowheads="1"/>
          </p:cNvSpPr>
          <p:nvPr/>
        </p:nvSpPr>
        <p:spPr bwMode="auto">
          <a:xfrm flipV="1">
            <a:off x="10405358" y="4240443"/>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cxnSp>
        <p:nvCxnSpPr>
          <p:cNvPr id="177" name="직선 연결선 176"/>
          <p:cNvCxnSpPr/>
          <p:nvPr/>
        </p:nvCxnSpPr>
        <p:spPr>
          <a:xfrm flipH="1">
            <a:off x="10456457" y="4353253"/>
            <a:ext cx="6856" cy="731550"/>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78" name="TextBox 177"/>
          <p:cNvSpPr txBox="1"/>
          <p:nvPr/>
        </p:nvSpPr>
        <p:spPr>
          <a:xfrm>
            <a:off x="10072359" y="5096901"/>
            <a:ext cx="768194" cy="246221"/>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 포기</a:t>
            </a:r>
          </a:p>
        </p:txBody>
      </p:sp>
      <p:sp>
        <p:nvSpPr>
          <p:cNvPr id="179" name="직사각형 178"/>
          <p:cNvSpPr/>
          <p:nvPr/>
        </p:nvSpPr>
        <p:spPr>
          <a:xfrm>
            <a:off x="8834455" y="5984495"/>
            <a:ext cx="1687499" cy="261610"/>
          </a:xfrm>
          <a:prstGeom prst="rect">
            <a:avLst/>
          </a:prstGeom>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특허권이 장래를 향해 소멸</a:t>
            </a:r>
          </a:p>
        </p:txBody>
      </p:sp>
      <p:cxnSp>
        <p:nvCxnSpPr>
          <p:cNvPr id="180" name="꺾인 연결선 179"/>
          <p:cNvCxnSpPr>
            <a:stCxn id="179" idx="0"/>
            <a:endCxn id="178" idx="2"/>
          </p:cNvCxnSpPr>
          <p:nvPr/>
        </p:nvCxnSpPr>
        <p:spPr>
          <a:xfrm rot="5400000" flipH="1" flipV="1">
            <a:off x="9746644" y="5274684"/>
            <a:ext cx="641373" cy="778251"/>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5" name="Rectangle 14"/>
          <p:cNvSpPr>
            <a:spLocks noChangeArrowheads="1"/>
          </p:cNvSpPr>
          <p:nvPr/>
        </p:nvSpPr>
        <p:spPr bwMode="auto">
          <a:xfrm flipV="1">
            <a:off x="4309001" y="4239477"/>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106" name="Rectangle 14"/>
          <p:cNvSpPr>
            <a:spLocks noChangeArrowheads="1"/>
          </p:cNvSpPr>
          <p:nvPr/>
        </p:nvSpPr>
        <p:spPr bwMode="auto">
          <a:xfrm flipV="1">
            <a:off x="5182369" y="4239477"/>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cxnSp>
        <p:nvCxnSpPr>
          <p:cNvPr id="182" name="직선 연결선 181"/>
          <p:cNvCxnSpPr>
            <a:endCxn id="173" idx="2"/>
          </p:cNvCxnSpPr>
          <p:nvPr/>
        </p:nvCxnSpPr>
        <p:spPr>
          <a:xfrm>
            <a:off x="8492757" y="4301931"/>
            <a:ext cx="1912601" cy="966"/>
          </a:xfrm>
          <a:prstGeom prst="line">
            <a:avLst/>
          </a:prstGeom>
          <a:ln w="57150">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2" name="Rectangle 14"/>
          <p:cNvSpPr>
            <a:spLocks noChangeArrowheads="1"/>
          </p:cNvSpPr>
          <p:nvPr/>
        </p:nvSpPr>
        <p:spPr bwMode="auto">
          <a:xfrm flipV="1">
            <a:off x="8432268" y="4239477"/>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163" name="Rectangle 14"/>
          <p:cNvSpPr>
            <a:spLocks noChangeArrowheads="1"/>
          </p:cNvSpPr>
          <p:nvPr/>
        </p:nvSpPr>
        <p:spPr bwMode="auto">
          <a:xfrm flipV="1">
            <a:off x="9305636" y="4239477"/>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183" name="직사각형 182"/>
          <p:cNvSpPr/>
          <p:nvPr/>
        </p:nvSpPr>
        <p:spPr>
          <a:xfrm>
            <a:off x="977021" y="5853691"/>
            <a:ext cx="1687499" cy="261610"/>
          </a:xfrm>
          <a:prstGeom prst="rect">
            <a:avLst/>
          </a:prstGeom>
          <a:ln>
            <a:solidFill>
              <a:schemeClr val="bg1">
                <a:lumMod val="50000"/>
              </a:schemeClr>
            </a:solidFill>
          </a:ln>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특허출원이 소급 소멸</a:t>
            </a:r>
          </a:p>
        </p:txBody>
      </p:sp>
      <p:cxnSp>
        <p:nvCxnSpPr>
          <p:cNvPr id="184" name="꺾인 연결선 183"/>
          <p:cNvCxnSpPr>
            <a:stCxn id="183" idx="0"/>
            <a:endCxn id="66" idx="2"/>
          </p:cNvCxnSpPr>
          <p:nvPr/>
        </p:nvCxnSpPr>
        <p:spPr>
          <a:xfrm rot="5400000" flipH="1" flipV="1">
            <a:off x="1553867" y="5172529"/>
            <a:ext cx="948067" cy="414259"/>
          </a:xfrm>
          <a:prstGeom prst="bentConnector3">
            <a:avLst>
              <a:gd name="adj1" fmla="val 50000"/>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9477831"/>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36</a:t>
            </a:r>
            <a:r>
              <a:rPr lang="ko-KR" altLang="en-US" dirty="0"/>
              <a:t>조</a:t>
            </a:r>
          </a:p>
        </p:txBody>
      </p:sp>
      <p:sp>
        <p:nvSpPr>
          <p:cNvPr id="3" name="텍스트 개체 틀 2"/>
          <p:cNvSpPr>
            <a:spLocks noGrp="1"/>
          </p:cNvSpPr>
          <p:nvPr>
            <p:ph type="body" sz="quarter" idx="13"/>
          </p:nvPr>
        </p:nvSpPr>
        <p:spPr/>
        <p:txBody>
          <a:bodyPr/>
          <a:lstStyle/>
          <a:p>
            <a:r>
              <a:rPr lang="ko-KR" altLang="en-US" dirty="0" err="1">
                <a:solidFill>
                  <a:srgbClr val="525252"/>
                </a:solidFill>
              </a:rPr>
              <a:t>동일자</a:t>
            </a:r>
            <a:r>
              <a:rPr lang="ko-KR" altLang="en-US" dirty="0">
                <a:solidFill>
                  <a:srgbClr val="525252"/>
                </a:solidFill>
              </a:rPr>
              <a:t> 출원의 실질적 동일성과 특허의 무효</a:t>
            </a:r>
            <a:r>
              <a:rPr lang="en-US" altLang="ko-KR" dirty="0">
                <a:solidFill>
                  <a:srgbClr val="525252"/>
                </a:solidFill>
              </a:rPr>
              <a:t>/</a:t>
            </a:r>
            <a:r>
              <a:rPr lang="ko-KR" altLang="en-US" dirty="0">
                <a:solidFill>
                  <a:srgbClr val="525252"/>
                </a:solidFill>
              </a:rPr>
              <a:t>포기</a:t>
            </a:r>
          </a:p>
        </p:txBody>
      </p:sp>
      <p:sp>
        <p:nvSpPr>
          <p:cNvPr id="4" name="슬라이드 번호 개체 틀 3"/>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83</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6" name="TextBox 5"/>
          <p:cNvSpPr txBox="1"/>
          <p:nvPr/>
        </p:nvSpPr>
        <p:spPr>
          <a:xfrm>
            <a:off x="77875" y="1341693"/>
            <a:ext cx="11936323" cy="2031325"/>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구 특허법</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(2001. 2. 3.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법률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6411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호로 개정되기 전의 것</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36</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조를 적용하기 위한 전제로서 두 발명이 서로 동일한 발명인지 여부는 대비되는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두 발명의 실체를 파악하여 따져보아야 할 것이지 표현양식에 따른 차이에 따라 판단할 것은 아니므로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대비되는 두 발명이 각각 물건의 발명과 방법의 발명으로 서로 발명의 범주가 다르다고 하여 곧바로 동일한 발명이 아니라고 단정할 수 없다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구 특허법</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(2001. 2. 3.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법률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6411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호로 개정되기 전의 것</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36</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 등의 적용에 있어 특허권이나 실용신안권의 포기에 의하여 경합출원의 하자가 치유되어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자에 대한 관계에서 특허권의 효력을 주장할 수 있다고 보는 것은 </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1)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명문의 근거가 없을 뿐만 아니라 </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2)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권리자가 포기의 대상과 시기를 임의로 선택할 수 있어 권리관계가 불확정한 상태에 놓이게 되는 등 법적 안정성을 해칠 우려가 있는 점</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3)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특허권이나 실용신안권의 포기는 그 출원의 포기와는 달리 소급효가 없음에도 결과적으로 그 포기에 소급효를 인정하는 셈이 되어 부당하며</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4)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나아가 특허권 등의 포기는 등록만으로 이루어져 대외적인 공시방법으로는 충분하지 아니한 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등을 종합하여 보면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출원이 경합된 상태에서 등록된 특허권이나 실용신안권 중 어느 하나에 대하여 사후 권리자가 그 권리를 포기하였다고 하더라도 경합출원으로 인한 하자가 치유된다고 보기는 어렵다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0" name="Line 5">
            <a:extLst>
              <a:ext uri="{FF2B5EF4-FFF2-40B4-BE49-F238E27FC236}">
                <a16:creationId xmlns:a16="http://schemas.microsoft.com/office/drawing/2014/main" id="{ACCDA59F-2AF7-4FC8-9236-82288B8FB7B1}"/>
              </a:ext>
            </a:extLst>
          </p:cNvPr>
          <p:cNvSpPr>
            <a:spLocks noChangeShapeType="1"/>
          </p:cNvSpPr>
          <p:nvPr/>
        </p:nvSpPr>
        <p:spPr bwMode="auto">
          <a:xfrm>
            <a:off x="607658" y="4587933"/>
            <a:ext cx="11001374" cy="0"/>
          </a:xfrm>
          <a:prstGeom prst="line">
            <a:avLst/>
          </a:prstGeom>
          <a:noFill/>
          <a:ln w="57150">
            <a:solidFill>
              <a:schemeClr val="bg1">
                <a:lumMod val="50000"/>
              </a:schemeClr>
            </a:solidFill>
            <a:round/>
            <a:headEnd/>
            <a:tailEnd type="stealth" w="med" len="med"/>
          </a:ln>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21" name="TextBox 20">
            <a:extLst>
              <a:ext uri="{FF2B5EF4-FFF2-40B4-BE49-F238E27FC236}">
                <a16:creationId xmlns:a16="http://schemas.microsoft.com/office/drawing/2014/main" id="{984A9B38-9CBF-428C-922A-DB33022A9147}"/>
              </a:ext>
            </a:extLst>
          </p:cNvPr>
          <p:cNvSpPr txBox="1"/>
          <p:nvPr/>
        </p:nvSpPr>
        <p:spPr>
          <a:xfrm>
            <a:off x="1142399" y="4844108"/>
            <a:ext cx="114732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甲 특허출원</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22" name="타원 21">
            <a:extLst>
              <a:ext uri="{FF2B5EF4-FFF2-40B4-BE49-F238E27FC236}">
                <a16:creationId xmlns:a16="http://schemas.microsoft.com/office/drawing/2014/main" id="{D7DE53CC-C4D9-422B-AF3A-7B30A9EA5F60}"/>
              </a:ext>
            </a:extLst>
          </p:cNvPr>
          <p:cNvSpPr/>
          <p:nvPr/>
        </p:nvSpPr>
        <p:spPr>
          <a:xfrm>
            <a:off x="1645488" y="4501084"/>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23" name="직선 연결선 22">
            <a:extLst>
              <a:ext uri="{FF2B5EF4-FFF2-40B4-BE49-F238E27FC236}">
                <a16:creationId xmlns:a16="http://schemas.microsoft.com/office/drawing/2014/main" id="{408FCD3A-E182-4831-A770-42918078B18B}"/>
              </a:ext>
            </a:extLst>
          </p:cNvPr>
          <p:cNvCxnSpPr>
            <a:cxnSpLocks/>
            <a:stCxn id="21" idx="0"/>
            <a:endCxn id="22" idx="4"/>
          </p:cNvCxnSpPr>
          <p:nvPr/>
        </p:nvCxnSpPr>
        <p:spPr>
          <a:xfrm flipH="1" flipV="1">
            <a:off x="1716062" y="4648252"/>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B61FAB89-FCF5-43F0-95FF-6883B7A962C2}"/>
              </a:ext>
            </a:extLst>
          </p:cNvPr>
          <p:cNvSpPr txBox="1"/>
          <p:nvPr/>
        </p:nvSpPr>
        <p:spPr>
          <a:xfrm>
            <a:off x="3166859" y="4844108"/>
            <a:ext cx="720266"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등록</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28" name="타원 27">
            <a:extLst>
              <a:ext uri="{FF2B5EF4-FFF2-40B4-BE49-F238E27FC236}">
                <a16:creationId xmlns:a16="http://schemas.microsoft.com/office/drawing/2014/main" id="{F287B676-6868-44D3-B4DB-53B7D46E69F1}"/>
              </a:ext>
            </a:extLst>
          </p:cNvPr>
          <p:cNvSpPr/>
          <p:nvPr/>
        </p:nvSpPr>
        <p:spPr>
          <a:xfrm>
            <a:off x="3449622" y="449399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29" name="직선 연결선 28">
            <a:extLst>
              <a:ext uri="{FF2B5EF4-FFF2-40B4-BE49-F238E27FC236}">
                <a16:creationId xmlns:a16="http://schemas.microsoft.com/office/drawing/2014/main" id="{616A2BCD-A858-4187-8094-DEF1E330CA4D}"/>
              </a:ext>
            </a:extLst>
          </p:cNvPr>
          <p:cNvCxnSpPr>
            <a:cxnSpLocks/>
            <a:stCxn id="27" idx="0"/>
            <a:endCxn id="28" idx="4"/>
          </p:cNvCxnSpPr>
          <p:nvPr/>
        </p:nvCxnSpPr>
        <p:spPr>
          <a:xfrm flipH="1" flipV="1">
            <a:off x="3526991" y="4655337"/>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타원 62">
            <a:extLst>
              <a:ext uri="{FF2B5EF4-FFF2-40B4-BE49-F238E27FC236}">
                <a16:creationId xmlns:a16="http://schemas.microsoft.com/office/drawing/2014/main" id="{C2461AB7-FD80-4C84-8E9E-04501376A5BE}"/>
              </a:ext>
            </a:extLst>
          </p:cNvPr>
          <p:cNvSpPr/>
          <p:nvPr/>
        </p:nvSpPr>
        <p:spPr>
          <a:xfrm>
            <a:off x="5237730" y="4493999"/>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64" name="직선 연결선 63">
            <a:extLst>
              <a:ext uri="{FF2B5EF4-FFF2-40B4-BE49-F238E27FC236}">
                <a16:creationId xmlns:a16="http://schemas.microsoft.com/office/drawing/2014/main" id="{EDFEB377-469E-485F-ACD4-4A671E6F66DA}"/>
              </a:ext>
            </a:extLst>
          </p:cNvPr>
          <p:cNvCxnSpPr>
            <a:cxnSpLocks/>
            <a:stCxn id="65" idx="0"/>
            <a:endCxn id="63" idx="4"/>
          </p:cNvCxnSpPr>
          <p:nvPr/>
        </p:nvCxnSpPr>
        <p:spPr>
          <a:xfrm flipV="1">
            <a:off x="5315099" y="4655337"/>
            <a:ext cx="0" cy="20309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559BA8A2-1A64-4952-B4D2-C4C6B791FA0D}"/>
              </a:ext>
            </a:extLst>
          </p:cNvPr>
          <p:cNvSpPr txBox="1"/>
          <p:nvPr/>
        </p:nvSpPr>
        <p:spPr>
          <a:xfrm>
            <a:off x="4686597" y="4858427"/>
            <a:ext cx="1257004"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乙의 </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무효심판청구</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19" name="사각형: 둥근 모서리 18">
            <a:extLst>
              <a:ext uri="{FF2B5EF4-FFF2-40B4-BE49-F238E27FC236}">
                <a16:creationId xmlns:a16="http://schemas.microsoft.com/office/drawing/2014/main" id="{A83D1C3A-9892-4861-9E7D-128450D07D78}"/>
              </a:ext>
            </a:extLst>
          </p:cNvPr>
          <p:cNvSpPr/>
          <p:nvPr/>
        </p:nvSpPr>
        <p:spPr>
          <a:xfrm>
            <a:off x="113937" y="964867"/>
            <a:ext cx="5365671" cy="346234"/>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2007. 1. 12.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2005</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3017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등록무효</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특</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83" name="직선 연결선 82">
            <a:extLst>
              <a:ext uri="{FF2B5EF4-FFF2-40B4-BE49-F238E27FC236}">
                <a16:creationId xmlns:a16="http://schemas.microsoft.com/office/drawing/2014/main" id="{85DA65B5-3277-4ADF-95AF-47AB4FD658B7}"/>
              </a:ext>
            </a:extLst>
          </p:cNvPr>
          <p:cNvCxnSpPr/>
          <p:nvPr/>
        </p:nvCxnSpPr>
        <p:spPr>
          <a:xfrm>
            <a:off x="0" y="3369279"/>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7AC2CAAE-BD39-4990-A867-53F268370BFC}"/>
              </a:ext>
            </a:extLst>
          </p:cNvPr>
          <p:cNvSpPr txBox="1"/>
          <p:nvPr/>
        </p:nvSpPr>
        <p:spPr>
          <a:xfrm>
            <a:off x="737141" y="5282520"/>
            <a:ext cx="1957842"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로스트 왁스 주조용 </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폐왁스의</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재생방법</a:t>
            </a:r>
          </a:p>
        </p:txBody>
      </p:sp>
      <p:cxnSp>
        <p:nvCxnSpPr>
          <p:cNvPr id="8" name="직선 연결선 7">
            <a:extLst>
              <a:ext uri="{FF2B5EF4-FFF2-40B4-BE49-F238E27FC236}">
                <a16:creationId xmlns:a16="http://schemas.microsoft.com/office/drawing/2014/main" id="{952B0388-8969-4B15-B793-E3C1AF7D164D}"/>
              </a:ext>
            </a:extLst>
          </p:cNvPr>
          <p:cNvCxnSpPr>
            <a:stCxn id="37" idx="0"/>
            <a:endCxn id="21" idx="2"/>
          </p:cNvCxnSpPr>
          <p:nvPr/>
        </p:nvCxnSpPr>
        <p:spPr>
          <a:xfrm flipV="1">
            <a:off x="1716062" y="5121107"/>
            <a:ext cx="1" cy="16141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B6A6D92F-3456-4E35-B7C3-B37DA01DD08F}"/>
              </a:ext>
            </a:extLst>
          </p:cNvPr>
          <p:cNvSpPr txBox="1"/>
          <p:nvPr/>
        </p:nvSpPr>
        <p:spPr>
          <a:xfrm>
            <a:off x="1192779" y="4073203"/>
            <a:ext cx="1046568"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甲 실용출원</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(Y)</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42" name="TextBox 41">
            <a:extLst>
              <a:ext uri="{FF2B5EF4-FFF2-40B4-BE49-F238E27FC236}">
                <a16:creationId xmlns:a16="http://schemas.microsoft.com/office/drawing/2014/main" id="{8601AE4F-6B2F-4B0E-8606-3513BF249DF8}"/>
              </a:ext>
            </a:extLst>
          </p:cNvPr>
          <p:cNvSpPr txBox="1"/>
          <p:nvPr/>
        </p:nvSpPr>
        <p:spPr>
          <a:xfrm>
            <a:off x="737141" y="3471288"/>
            <a:ext cx="1957842"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로스트 왁스 주조용 </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폐왁스의</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재생장치</a:t>
            </a:r>
          </a:p>
        </p:txBody>
      </p:sp>
      <p:cxnSp>
        <p:nvCxnSpPr>
          <p:cNvPr id="43" name="직선 연결선 42">
            <a:extLst>
              <a:ext uri="{FF2B5EF4-FFF2-40B4-BE49-F238E27FC236}">
                <a16:creationId xmlns:a16="http://schemas.microsoft.com/office/drawing/2014/main" id="{D6F989D6-AFAD-4BD5-8F37-C28FC01F67B4}"/>
              </a:ext>
            </a:extLst>
          </p:cNvPr>
          <p:cNvCxnSpPr>
            <a:cxnSpLocks/>
            <a:stCxn id="42" idx="2"/>
            <a:endCxn id="41" idx="0"/>
          </p:cNvCxnSpPr>
          <p:nvPr/>
        </p:nvCxnSpPr>
        <p:spPr>
          <a:xfrm>
            <a:off x="1716062" y="3932953"/>
            <a:ext cx="1" cy="14025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직선 연결선 47">
            <a:extLst>
              <a:ext uri="{FF2B5EF4-FFF2-40B4-BE49-F238E27FC236}">
                <a16:creationId xmlns:a16="http://schemas.microsoft.com/office/drawing/2014/main" id="{C513C404-2A87-4E14-85E8-C3CA1D0A05C6}"/>
              </a:ext>
            </a:extLst>
          </p:cNvPr>
          <p:cNvCxnSpPr>
            <a:cxnSpLocks/>
            <a:stCxn id="41" idx="2"/>
            <a:endCxn id="22" idx="0"/>
          </p:cNvCxnSpPr>
          <p:nvPr/>
        </p:nvCxnSpPr>
        <p:spPr>
          <a:xfrm flipH="1">
            <a:off x="1716062" y="4350202"/>
            <a:ext cx="1" cy="15088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44130F92-BFED-41BE-80C0-B40193DAF13B}"/>
              </a:ext>
            </a:extLst>
          </p:cNvPr>
          <p:cNvSpPr txBox="1"/>
          <p:nvPr/>
        </p:nvSpPr>
        <p:spPr>
          <a:xfrm>
            <a:off x="2477708" y="4061040"/>
            <a:ext cx="667476"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등록</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(Y)</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59" name="직선 연결선 58">
            <a:extLst>
              <a:ext uri="{FF2B5EF4-FFF2-40B4-BE49-F238E27FC236}">
                <a16:creationId xmlns:a16="http://schemas.microsoft.com/office/drawing/2014/main" id="{7B735FDE-534D-4C32-A88C-0033E968BCF4}"/>
              </a:ext>
            </a:extLst>
          </p:cNvPr>
          <p:cNvCxnSpPr>
            <a:cxnSpLocks/>
            <a:stCxn id="58" idx="2"/>
          </p:cNvCxnSpPr>
          <p:nvPr/>
        </p:nvCxnSpPr>
        <p:spPr>
          <a:xfrm>
            <a:off x="2811446" y="4338039"/>
            <a:ext cx="0" cy="15596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2" name="타원 71">
            <a:extLst>
              <a:ext uri="{FF2B5EF4-FFF2-40B4-BE49-F238E27FC236}">
                <a16:creationId xmlns:a16="http://schemas.microsoft.com/office/drawing/2014/main" id="{675BF3F3-C91C-4F21-A764-A7281904A65E}"/>
              </a:ext>
            </a:extLst>
          </p:cNvPr>
          <p:cNvSpPr/>
          <p:nvPr/>
        </p:nvSpPr>
        <p:spPr>
          <a:xfrm>
            <a:off x="2738063" y="449399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73" name="TextBox 72">
            <a:extLst>
              <a:ext uri="{FF2B5EF4-FFF2-40B4-BE49-F238E27FC236}">
                <a16:creationId xmlns:a16="http://schemas.microsoft.com/office/drawing/2014/main" id="{EDAD79FE-4685-490A-A61E-4F240A3AE857}"/>
              </a:ext>
            </a:extLst>
          </p:cNvPr>
          <p:cNvSpPr txBox="1"/>
          <p:nvPr/>
        </p:nvSpPr>
        <p:spPr>
          <a:xfrm>
            <a:off x="4027618" y="4061040"/>
            <a:ext cx="667476"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포기</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(Y)</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74" name="직선 연결선 73">
            <a:extLst>
              <a:ext uri="{FF2B5EF4-FFF2-40B4-BE49-F238E27FC236}">
                <a16:creationId xmlns:a16="http://schemas.microsoft.com/office/drawing/2014/main" id="{CADE4A9E-C751-4A2C-8B9C-17E5820A27EC}"/>
              </a:ext>
            </a:extLst>
          </p:cNvPr>
          <p:cNvCxnSpPr>
            <a:cxnSpLocks/>
            <a:stCxn id="73" idx="2"/>
          </p:cNvCxnSpPr>
          <p:nvPr/>
        </p:nvCxnSpPr>
        <p:spPr>
          <a:xfrm>
            <a:off x="4361356" y="4338039"/>
            <a:ext cx="0" cy="15596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타원 74">
            <a:extLst>
              <a:ext uri="{FF2B5EF4-FFF2-40B4-BE49-F238E27FC236}">
                <a16:creationId xmlns:a16="http://schemas.microsoft.com/office/drawing/2014/main" id="{8D5F350E-3E73-431E-B0DA-76A12135E575}"/>
              </a:ext>
            </a:extLst>
          </p:cNvPr>
          <p:cNvSpPr/>
          <p:nvPr/>
        </p:nvSpPr>
        <p:spPr>
          <a:xfrm>
            <a:off x="4287973" y="449399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76" name="타원 75">
            <a:extLst>
              <a:ext uri="{FF2B5EF4-FFF2-40B4-BE49-F238E27FC236}">
                <a16:creationId xmlns:a16="http://schemas.microsoft.com/office/drawing/2014/main" id="{EA0F166C-73C2-4228-BDE4-CAA5D7881981}"/>
              </a:ext>
            </a:extLst>
          </p:cNvPr>
          <p:cNvSpPr/>
          <p:nvPr/>
        </p:nvSpPr>
        <p:spPr>
          <a:xfrm>
            <a:off x="6314818" y="4493999"/>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77" name="직선 연결선 76">
            <a:extLst>
              <a:ext uri="{FF2B5EF4-FFF2-40B4-BE49-F238E27FC236}">
                <a16:creationId xmlns:a16="http://schemas.microsoft.com/office/drawing/2014/main" id="{D2B1C9FE-8D7C-43D8-8F84-85BC9AF0C919}"/>
              </a:ext>
            </a:extLst>
          </p:cNvPr>
          <p:cNvCxnSpPr>
            <a:cxnSpLocks/>
            <a:stCxn id="78" idx="0"/>
            <a:endCxn id="76" idx="4"/>
          </p:cNvCxnSpPr>
          <p:nvPr/>
        </p:nvCxnSpPr>
        <p:spPr>
          <a:xfrm flipV="1">
            <a:off x="6392187" y="4655337"/>
            <a:ext cx="0" cy="20309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6438682B-790F-402A-8545-CAD2FC4B1F85}"/>
              </a:ext>
            </a:extLst>
          </p:cNvPr>
          <p:cNvSpPr txBox="1"/>
          <p:nvPr/>
        </p:nvSpPr>
        <p:spPr>
          <a:xfrm>
            <a:off x="6015060" y="4858427"/>
            <a:ext cx="754254"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기각심결</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84" name="타원 83">
            <a:extLst>
              <a:ext uri="{FF2B5EF4-FFF2-40B4-BE49-F238E27FC236}">
                <a16:creationId xmlns:a16="http://schemas.microsoft.com/office/drawing/2014/main" id="{784455AA-DE5D-4168-B07C-4DAA9F22CFC0}"/>
              </a:ext>
            </a:extLst>
          </p:cNvPr>
          <p:cNvSpPr/>
          <p:nvPr/>
        </p:nvSpPr>
        <p:spPr>
          <a:xfrm>
            <a:off x="7551363" y="4493999"/>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88" name="직선 연결선 87">
            <a:extLst>
              <a:ext uri="{FF2B5EF4-FFF2-40B4-BE49-F238E27FC236}">
                <a16:creationId xmlns:a16="http://schemas.microsoft.com/office/drawing/2014/main" id="{63814A67-DFB5-4FB5-A6D8-4FDE28A00532}"/>
              </a:ext>
            </a:extLst>
          </p:cNvPr>
          <p:cNvCxnSpPr>
            <a:cxnSpLocks/>
            <a:stCxn id="93" idx="0"/>
            <a:endCxn id="84" idx="4"/>
          </p:cNvCxnSpPr>
          <p:nvPr/>
        </p:nvCxnSpPr>
        <p:spPr>
          <a:xfrm flipV="1">
            <a:off x="7628732" y="4655337"/>
            <a:ext cx="0" cy="20309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TextBox 92">
            <a:extLst>
              <a:ext uri="{FF2B5EF4-FFF2-40B4-BE49-F238E27FC236}">
                <a16:creationId xmlns:a16="http://schemas.microsoft.com/office/drawing/2014/main" id="{7A82D6E7-94E1-4D7A-BE0F-E4A86DF18AE7}"/>
              </a:ext>
            </a:extLst>
          </p:cNvPr>
          <p:cNvSpPr txBox="1"/>
          <p:nvPr/>
        </p:nvSpPr>
        <p:spPr>
          <a:xfrm>
            <a:off x="6869605" y="4858427"/>
            <a:ext cx="1518254"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乙의 </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심결취소소송제기</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95" name="타원 94">
            <a:extLst>
              <a:ext uri="{FF2B5EF4-FFF2-40B4-BE49-F238E27FC236}">
                <a16:creationId xmlns:a16="http://schemas.microsoft.com/office/drawing/2014/main" id="{605601D7-A620-442B-9D2B-1EDBBF7D1A62}"/>
              </a:ext>
            </a:extLst>
          </p:cNvPr>
          <p:cNvSpPr/>
          <p:nvPr/>
        </p:nvSpPr>
        <p:spPr>
          <a:xfrm>
            <a:off x="8815071" y="4493999"/>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96" name="직선 연결선 95">
            <a:extLst>
              <a:ext uri="{FF2B5EF4-FFF2-40B4-BE49-F238E27FC236}">
                <a16:creationId xmlns:a16="http://schemas.microsoft.com/office/drawing/2014/main" id="{03BA267D-D576-40B9-AE81-D6CDD7B30C4B}"/>
              </a:ext>
            </a:extLst>
          </p:cNvPr>
          <p:cNvCxnSpPr>
            <a:cxnSpLocks/>
            <a:stCxn id="97" idx="0"/>
            <a:endCxn id="95" idx="4"/>
          </p:cNvCxnSpPr>
          <p:nvPr/>
        </p:nvCxnSpPr>
        <p:spPr>
          <a:xfrm flipV="1">
            <a:off x="8892440" y="4655337"/>
            <a:ext cx="0" cy="20309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5B1E8417-EE45-41D8-AA52-2B2FD1584DB8}"/>
              </a:ext>
            </a:extLst>
          </p:cNvPr>
          <p:cNvSpPr txBox="1"/>
          <p:nvPr/>
        </p:nvSpPr>
        <p:spPr>
          <a:xfrm>
            <a:off x="8515313" y="4858427"/>
            <a:ext cx="754254"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인용판결</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98" name="타원 97">
            <a:extLst>
              <a:ext uri="{FF2B5EF4-FFF2-40B4-BE49-F238E27FC236}">
                <a16:creationId xmlns:a16="http://schemas.microsoft.com/office/drawing/2014/main" id="{5A211B6B-4B83-4475-BC09-A41F7D1360F6}"/>
              </a:ext>
            </a:extLst>
          </p:cNvPr>
          <p:cNvSpPr/>
          <p:nvPr/>
        </p:nvSpPr>
        <p:spPr>
          <a:xfrm>
            <a:off x="9668112" y="4493999"/>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99" name="직선 연결선 98">
            <a:extLst>
              <a:ext uri="{FF2B5EF4-FFF2-40B4-BE49-F238E27FC236}">
                <a16:creationId xmlns:a16="http://schemas.microsoft.com/office/drawing/2014/main" id="{904B8374-B68D-43D2-87E8-8A6113BBD27D}"/>
              </a:ext>
            </a:extLst>
          </p:cNvPr>
          <p:cNvCxnSpPr>
            <a:cxnSpLocks/>
            <a:stCxn id="100" idx="0"/>
            <a:endCxn id="98" idx="4"/>
          </p:cNvCxnSpPr>
          <p:nvPr/>
        </p:nvCxnSpPr>
        <p:spPr>
          <a:xfrm flipV="1">
            <a:off x="9745481" y="4655337"/>
            <a:ext cx="0" cy="20309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0" name="TextBox 99">
            <a:extLst>
              <a:ext uri="{FF2B5EF4-FFF2-40B4-BE49-F238E27FC236}">
                <a16:creationId xmlns:a16="http://schemas.microsoft.com/office/drawing/2014/main" id="{1A5608C0-33C9-44C8-B175-F35BA9A093BD}"/>
              </a:ext>
            </a:extLst>
          </p:cNvPr>
          <p:cNvSpPr txBox="1"/>
          <p:nvPr/>
        </p:nvSpPr>
        <p:spPr>
          <a:xfrm>
            <a:off x="9370958" y="4858427"/>
            <a:ext cx="749046"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甲의</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상고</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101" name="타원 100">
            <a:extLst>
              <a:ext uri="{FF2B5EF4-FFF2-40B4-BE49-F238E27FC236}">
                <a16:creationId xmlns:a16="http://schemas.microsoft.com/office/drawing/2014/main" id="{53743B83-8563-4876-A9C6-AE220FB3E0B6}"/>
              </a:ext>
            </a:extLst>
          </p:cNvPr>
          <p:cNvSpPr/>
          <p:nvPr/>
        </p:nvSpPr>
        <p:spPr>
          <a:xfrm>
            <a:off x="10502612" y="4493999"/>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102" name="직선 연결선 101">
            <a:extLst>
              <a:ext uri="{FF2B5EF4-FFF2-40B4-BE49-F238E27FC236}">
                <a16:creationId xmlns:a16="http://schemas.microsoft.com/office/drawing/2014/main" id="{4AB14D99-378A-4EE2-AB6C-22EC0B080725}"/>
              </a:ext>
            </a:extLst>
          </p:cNvPr>
          <p:cNvCxnSpPr>
            <a:cxnSpLocks/>
            <a:stCxn id="103" idx="0"/>
            <a:endCxn id="101" idx="4"/>
          </p:cNvCxnSpPr>
          <p:nvPr/>
        </p:nvCxnSpPr>
        <p:spPr>
          <a:xfrm flipV="1">
            <a:off x="10579981" y="4655337"/>
            <a:ext cx="0" cy="20309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TextBox 102">
            <a:extLst>
              <a:ext uri="{FF2B5EF4-FFF2-40B4-BE49-F238E27FC236}">
                <a16:creationId xmlns:a16="http://schemas.microsoft.com/office/drawing/2014/main" id="{3FB62375-65F0-4A2E-B76F-E3A9E3691CF6}"/>
              </a:ext>
            </a:extLst>
          </p:cNvPr>
          <p:cNvSpPr txBox="1"/>
          <p:nvPr/>
        </p:nvSpPr>
        <p:spPr>
          <a:xfrm>
            <a:off x="10202854" y="4858427"/>
            <a:ext cx="754254"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기각판결</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47" name="말풍선: 모서리가 둥근 사각형 46">
            <a:extLst>
              <a:ext uri="{FF2B5EF4-FFF2-40B4-BE49-F238E27FC236}">
                <a16:creationId xmlns:a16="http://schemas.microsoft.com/office/drawing/2014/main" id="{C7B0F6DC-3155-4D54-98EC-5B8D2D2AC288}"/>
              </a:ext>
            </a:extLst>
          </p:cNvPr>
          <p:cNvSpPr/>
          <p:nvPr/>
        </p:nvSpPr>
        <p:spPr>
          <a:xfrm>
            <a:off x="4234543" y="5511765"/>
            <a:ext cx="6890657" cy="325727"/>
          </a:xfrm>
          <a:prstGeom prst="wedgeRoundRectCallout">
            <a:avLst>
              <a:gd name="adj1" fmla="val -20126"/>
              <a:gd name="adj2" fmla="val -104785"/>
              <a:gd name="adj3" fmla="val 16667"/>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실질적 동일성이 있으나 어느 한 권리를 유지하고 나머지 권리를 포기한 경우 협의가 이루어진 것으로 봐야 함</a:t>
            </a:r>
          </a:p>
        </p:txBody>
      </p:sp>
      <p:sp>
        <p:nvSpPr>
          <p:cNvPr id="104" name="말풍선: 모서리가 둥근 사각형 103">
            <a:extLst>
              <a:ext uri="{FF2B5EF4-FFF2-40B4-BE49-F238E27FC236}">
                <a16:creationId xmlns:a16="http://schemas.microsoft.com/office/drawing/2014/main" id="{43373A3F-398A-41D9-84F5-BAC68481A06C}"/>
              </a:ext>
            </a:extLst>
          </p:cNvPr>
          <p:cNvSpPr/>
          <p:nvPr/>
        </p:nvSpPr>
        <p:spPr>
          <a:xfrm>
            <a:off x="4768477" y="3597428"/>
            <a:ext cx="7245715" cy="528840"/>
          </a:xfrm>
          <a:prstGeom prst="wedgeRoundRectCallout">
            <a:avLst>
              <a:gd name="adj1" fmla="val 26554"/>
              <a:gd name="adj2" fmla="val 169028"/>
              <a:gd name="adj3" fmla="val 16667"/>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실질적 동일성이 있으며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사후적으로 포기하더라도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36</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조의 협의에 해당하지 않고 무효사유가 치유되지 않음</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auto"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등록무효와 달리 소급효가 없어 포기하기 전까지는 권리가 유효하게 중복된 상태이므로 등록무효와 달리 봐야 함</a:t>
            </a:r>
          </a:p>
        </p:txBody>
      </p:sp>
      <p:sp>
        <p:nvSpPr>
          <p:cNvPr id="51" name="직사각형 50">
            <a:extLst>
              <a:ext uri="{FF2B5EF4-FFF2-40B4-BE49-F238E27FC236}">
                <a16:creationId xmlns:a16="http://schemas.microsoft.com/office/drawing/2014/main" id="{266AA437-29DE-465D-A1C1-A1E305F9D763}"/>
              </a:ext>
            </a:extLst>
          </p:cNvPr>
          <p:cNvSpPr/>
          <p:nvPr/>
        </p:nvSpPr>
        <p:spPr>
          <a:xfrm>
            <a:off x="113937" y="5923623"/>
            <a:ext cx="11987867" cy="900246"/>
          </a:xfrm>
          <a:prstGeom prst="rect">
            <a:avLst/>
          </a:prstGeom>
          <a:ln>
            <a:solidFill>
              <a:schemeClr val="bg1">
                <a:lumMod val="75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50" b="1"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050" b="1" i="0" u="none" strike="noStrike" kern="1200" cap="none" spc="0" normalizeH="0" baseline="0" noProof="0" dirty="0">
                <a:ln>
                  <a:noFill/>
                </a:ln>
                <a:solidFill>
                  <a:srgbClr val="FF0000"/>
                </a:solidFill>
                <a:effectLst/>
                <a:uLnTx/>
                <a:uFillTx/>
                <a:latin typeface="Frutiger LT 65 Bold"/>
                <a:ea typeface="Rix모던고딕 B"/>
                <a:cs typeface="+mn-cs"/>
              </a:rPr>
              <a:t>실질적 동일성의 비판</a:t>
            </a:r>
            <a:r>
              <a:rPr kumimoji="0" lang="en-US" altLang="ko-KR" sz="1050" b="1"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출원인이 서로 상이하다고 판단하여 별개의 출원으로 출원한 복수의 발명을 그 구성의 차이에도 불구하고 </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실질적으로 </a:t>
            </a:r>
            <a:r>
              <a:rPr kumimoji="0" lang="ko-KR" altLang="en-US" sz="1050" b="0" i="0" u="none" strike="noStrike" kern="1200" cap="none" spc="0" normalizeH="0" baseline="0" noProof="0" dirty="0" err="1">
                <a:ln>
                  <a:noFill/>
                </a:ln>
                <a:solidFill>
                  <a:prstClr val="black"/>
                </a:solidFill>
                <a:effectLst/>
                <a:uLnTx/>
                <a:uFillTx/>
                <a:latin typeface="Frutiger LT 65 Bold"/>
                <a:ea typeface="Rix모던고딕 B"/>
                <a:cs typeface="+mn-cs"/>
              </a:rPr>
              <a:t>동일’하다고</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 판단하여 모두 무효로 하는 것은</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1)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이와 같은 복수의 출원을 하나의 출원서에 복수의 청구항으로 기재하여 출원하는 경우라면 모두 유효하게 등록될 수 있었을 것이라는 점과</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2)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유사한 복수의 발명을 출원일을 달리하여 출원하는 경우에는 독점권을 부당하게 연장시키는 효과가 발생할 수도 있으나</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출원일이 동일하므로 유사한 복수의 발명을 출원하여 독점권을 향유할 수 있는 기간을 부당하게 연장하는 점이 없다는 점</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3)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특히 발명의 범주의 차이에도 불구하고 동일하다고 판단한 경우에서 물건의 발명과 방법의 발명은 특허권자가 누릴 수 있는 권리의 내용에 있어 큰 차이가 있다는 점</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4)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선후출원 판단시의 실질적 동일성 개념의 적용은 미국에서 선출원에 비하여 진보성이 부정되는 후출원이 등록이 되지 아니하는 점과 일견 유사한 점이 있으나 미국에서도 이 경우 기간의 포기서</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(terminal disclaimer)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제출로 동일인의 경우 경합발명이 모두 등록이 가능하다는 점을 상기하면</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상기와 같은 결과는 매우 부당한 것이라고 생각된다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 name="타원 4">
            <a:extLst>
              <a:ext uri="{FF2B5EF4-FFF2-40B4-BE49-F238E27FC236}">
                <a16:creationId xmlns:a16="http://schemas.microsoft.com/office/drawing/2014/main" id="{6DE3E196-FEFA-4997-9849-3AF2F2D1B258}"/>
              </a:ext>
            </a:extLst>
          </p:cNvPr>
          <p:cNvSpPr/>
          <p:nvPr/>
        </p:nvSpPr>
        <p:spPr>
          <a:xfrm>
            <a:off x="10871617" y="4729162"/>
            <a:ext cx="325720" cy="32572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1</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49" name="타원 48">
            <a:extLst>
              <a:ext uri="{FF2B5EF4-FFF2-40B4-BE49-F238E27FC236}">
                <a16:creationId xmlns:a16="http://schemas.microsoft.com/office/drawing/2014/main" id="{3FB1E980-9301-43C2-A78E-8FE7D74A1C02}"/>
              </a:ext>
            </a:extLst>
          </p:cNvPr>
          <p:cNvSpPr/>
          <p:nvPr/>
        </p:nvSpPr>
        <p:spPr>
          <a:xfrm>
            <a:off x="11197337" y="4729162"/>
            <a:ext cx="325720" cy="32572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Tree>
    <p:extLst>
      <p:ext uri="{BB962C8B-B14F-4D97-AF65-F5344CB8AC3E}">
        <p14:creationId xmlns:p14="http://schemas.microsoft.com/office/powerpoint/2010/main" val="678767912"/>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3279509F-5216-C035-D723-7AE32CE13300}"/>
              </a:ext>
            </a:extLst>
          </p:cNvPr>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84</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5" name="제목 4">
            <a:extLst>
              <a:ext uri="{FF2B5EF4-FFF2-40B4-BE49-F238E27FC236}">
                <a16:creationId xmlns:a16="http://schemas.microsoft.com/office/drawing/2014/main" id="{C7D3C623-9D3B-4267-DB69-C16E8FFB471C}"/>
              </a:ext>
            </a:extLst>
          </p:cNvPr>
          <p:cNvSpPr>
            <a:spLocks noGrp="1"/>
          </p:cNvSpPr>
          <p:nvPr>
            <p:ph type="title"/>
          </p:nvPr>
        </p:nvSpPr>
        <p:spPr/>
        <p:txBody>
          <a:bodyPr/>
          <a:lstStyle/>
          <a:p>
            <a:r>
              <a:rPr lang="ko-KR" altLang="en-US" dirty="0"/>
              <a:t>참고노트</a:t>
            </a:r>
          </a:p>
        </p:txBody>
      </p:sp>
      <p:sp>
        <p:nvSpPr>
          <p:cNvPr id="6" name="텍스트 개체 틀 5">
            <a:extLst>
              <a:ext uri="{FF2B5EF4-FFF2-40B4-BE49-F238E27FC236}">
                <a16:creationId xmlns:a16="http://schemas.microsoft.com/office/drawing/2014/main" id="{A9B69469-AEBC-2300-B16E-10C8409A7E7C}"/>
              </a:ext>
            </a:extLst>
          </p:cNvPr>
          <p:cNvSpPr>
            <a:spLocks noGrp="1"/>
          </p:cNvSpPr>
          <p:nvPr>
            <p:ph type="body" sz="quarter" idx="13"/>
          </p:nvPr>
        </p:nvSpPr>
        <p:spPr/>
        <p:txBody>
          <a:bodyPr/>
          <a:lstStyle/>
          <a:p>
            <a:r>
              <a:rPr lang="ko-KR" altLang="en-US" dirty="0"/>
              <a:t>판례의 논거들</a:t>
            </a:r>
          </a:p>
        </p:txBody>
      </p:sp>
      <p:sp>
        <p:nvSpPr>
          <p:cNvPr id="7" name="TextBox 6">
            <a:extLst>
              <a:ext uri="{FF2B5EF4-FFF2-40B4-BE49-F238E27FC236}">
                <a16:creationId xmlns:a16="http://schemas.microsoft.com/office/drawing/2014/main" id="{ACA7EC58-1263-F08A-6927-74620DBF8306}"/>
              </a:ext>
            </a:extLst>
          </p:cNvPr>
          <p:cNvSpPr txBox="1"/>
          <p:nvPr/>
        </p:nvSpPr>
        <p:spPr>
          <a:xfrm>
            <a:off x="820135" y="1837768"/>
            <a:ext cx="2420470" cy="1073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err="1">
                <a:ln>
                  <a:noFill/>
                </a:ln>
                <a:solidFill>
                  <a:prstClr val="black"/>
                </a:solidFill>
                <a:effectLst/>
                <a:uLnTx/>
                <a:uFillTx/>
                <a:latin typeface="Frutiger LT 65 Bold"/>
                <a:ea typeface="Rix모던고딕 B"/>
                <a:cs typeface="+mn-cs"/>
              </a:rPr>
              <a:t>문언적</a:t>
            </a: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 해석</a:t>
            </a:r>
          </a:p>
        </p:txBody>
      </p:sp>
      <p:sp>
        <p:nvSpPr>
          <p:cNvPr id="8" name="TextBox 7">
            <a:extLst>
              <a:ext uri="{FF2B5EF4-FFF2-40B4-BE49-F238E27FC236}">
                <a16:creationId xmlns:a16="http://schemas.microsoft.com/office/drawing/2014/main" id="{297B546E-7BD6-2894-CCA8-0D278B1C4D8E}"/>
              </a:ext>
            </a:extLst>
          </p:cNvPr>
          <p:cNvSpPr txBox="1"/>
          <p:nvPr/>
        </p:nvSpPr>
        <p:spPr>
          <a:xfrm>
            <a:off x="820135" y="3040484"/>
            <a:ext cx="2420470" cy="1073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법규정</a:t>
            </a: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법리</a:t>
            </a: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의 </a:t>
            </a:r>
            <a:endPar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취지</a:t>
            </a:r>
          </a:p>
        </p:txBody>
      </p:sp>
      <p:sp>
        <p:nvSpPr>
          <p:cNvPr id="9" name="TextBox 8">
            <a:extLst>
              <a:ext uri="{FF2B5EF4-FFF2-40B4-BE49-F238E27FC236}">
                <a16:creationId xmlns:a16="http://schemas.microsoft.com/office/drawing/2014/main" id="{B797B07C-DF73-0249-52E3-FDDA6092DCB6}"/>
              </a:ext>
            </a:extLst>
          </p:cNvPr>
          <p:cNvSpPr txBox="1"/>
          <p:nvPr/>
        </p:nvSpPr>
        <p:spPr>
          <a:xfrm>
            <a:off x="820135" y="4225272"/>
            <a:ext cx="2420470" cy="1073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특허법의 목적</a:t>
            </a:r>
          </a:p>
        </p:txBody>
      </p:sp>
      <p:sp>
        <p:nvSpPr>
          <p:cNvPr id="10" name="TextBox 9">
            <a:extLst>
              <a:ext uri="{FF2B5EF4-FFF2-40B4-BE49-F238E27FC236}">
                <a16:creationId xmlns:a16="http://schemas.microsoft.com/office/drawing/2014/main" id="{38F44F88-A4EE-DDF7-E483-20FEAA423288}"/>
              </a:ext>
            </a:extLst>
          </p:cNvPr>
          <p:cNvSpPr txBox="1"/>
          <p:nvPr/>
        </p:nvSpPr>
        <p:spPr>
          <a:xfrm>
            <a:off x="820135" y="5426134"/>
            <a:ext cx="2420470" cy="1073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다른 법률과의 </a:t>
            </a:r>
            <a:endPar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형평성</a:t>
            </a:r>
          </a:p>
        </p:txBody>
      </p:sp>
      <p:cxnSp>
        <p:nvCxnSpPr>
          <p:cNvPr id="12" name="직선 연결선 11">
            <a:extLst>
              <a:ext uri="{FF2B5EF4-FFF2-40B4-BE49-F238E27FC236}">
                <a16:creationId xmlns:a16="http://schemas.microsoft.com/office/drawing/2014/main" id="{C9877A0C-4DCB-7FAE-71C5-7AFEB8A512F9}"/>
              </a:ext>
            </a:extLst>
          </p:cNvPr>
          <p:cNvCxnSpPr>
            <a:cxnSpLocks/>
          </p:cNvCxnSpPr>
          <p:nvPr/>
        </p:nvCxnSpPr>
        <p:spPr>
          <a:xfrm>
            <a:off x="3527477" y="1649506"/>
            <a:ext cx="0" cy="5047129"/>
          </a:xfrm>
          <a:prstGeom prst="line">
            <a:avLst/>
          </a:prstGeom>
          <a:ln w="381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B766129A-BFD1-6064-DE0C-FA82F6BBAFD6}"/>
              </a:ext>
            </a:extLst>
          </p:cNvPr>
          <p:cNvSpPr txBox="1"/>
          <p:nvPr/>
        </p:nvSpPr>
        <p:spPr>
          <a:xfrm>
            <a:off x="3724700" y="1070641"/>
            <a:ext cx="6333785" cy="369332"/>
          </a:xfrm>
          <a:prstGeom prst="rect">
            <a:avLst/>
          </a:prstGeom>
          <a:solidFill>
            <a:schemeClr val="tx2">
              <a:lumMod val="50000"/>
            </a:schemeClr>
          </a:solid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FFFF00"/>
                </a:solidFill>
                <a:effectLst/>
                <a:uLnTx/>
                <a:uFillTx/>
                <a:latin typeface="Frutiger LT 65 Bold"/>
                <a:ea typeface="Rix모던고딕 B"/>
                <a:cs typeface="+mn-cs"/>
              </a:rPr>
              <a:t>(2005</a:t>
            </a:r>
            <a:r>
              <a:rPr kumimoji="0" lang="ko-KR" altLang="en-US" sz="1800" b="0" i="0" u="none" strike="noStrike" kern="1200" cap="none" spc="0" normalizeH="0" baseline="0" noProof="0" dirty="0">
                <a:ln>
                  <a:noFill/>
                </a:ln>
                <a:solidFill>
                  <a:srgbClr val="FFFF00"/>
                </a:solidFill>
                <a:effectLst/>
                <a:uLnTx/>
                <a:uFillTx/>
                <a:latin typeface="Frutiger LT 65 Bold"/>
                <a:ea typeface="Rix모던고딕 B"/>
                <a:cs typeface="+mn-cs"/>
              </a:rPr>
              <a:t>후</a:t>
            </a:r>
            <a:r>
              <a:rPr kumimoji="0" lang="en-US" altLang="ko-KR" sz="1800" b="0" i="0" u="none" strike="noStrike" kern="1200" cap="none" spc="0" normalizeH="0" baseline="0" noProof="0" dirty="0">
                <a:ln>
                  <a:noFill/>
                </a:ln>
                <a:solidFill>
                  <a:srgbClr val="FFFF00"/>
                </a:solidFill>
                <a:effectLst/>
                <a:uLnTx/>
                <a:uFillTx/>
                <a:latin typeface="Frutiger LT 65 Bold"/>
                <a:ea typeface="Rix모던고딕 B"/>
                <a:cs typeface="+mn-cs"/>
              </a:rPr>
              <a:t>3017) </a:t>
            </a:r>
            <a:r>
              <a:rPr kumimoji="0" lang="ko-KR" altLang="en-US" sz="1800" b="0" i="0" u="none" strike="noStrike" kern="1200" cap="none" spc="0" normalizeH="0" baseline="0" noProof="0" dirty="0">
                <a:ln>
                  <a:noFill/>
                </a:ln>
                <a:solidFill>
                  <a:srgbClr val="FFFF00"/>
                </a:solidFill>
                <a:effectLst/>
                <a:uLnTx/>
                <a:uFillTx/>
                <a:latin typeface="Frutiger LT 65 Bold"/>
                <a:ea typeface="Rix모던고딕 B"/>
                <a:cs typeface="+mn-cs"/>
              </a:rPr>
              <a:t>특허권의 포기에 대해서는 선출원의 지위가 인정됨</a:t>
            </a:r>
          </a:p>
        </p:txBody>
      </p:sp>
      <p:sp>
        <p:nvSpPr>
          <p:cNvPr id="18" name="TextBox 17">
            <a:extLst>
              <a:ext uri="{FF2B5EF4-FFF2-40B4-BE49-F238E27FC236}">
                <a16:creationId xmlns:a16="http://schemas.microsoft.com/office/drawing/2014/main" id="{3293E9CD-DED6-D614-0788-65D77B9DA38D}"/>
              </a:ext>
            </a:extLst>
          </p:cNvPr>
          <p:cNvSpPr txBox="1"/>
          <p:nvPr/>
        </p:nvSpPr>
        <p:spPr>
          <a:xfrm>
            <a:off x="3724699" y="1830108"/>
            <a:ext cx="7923961" cy="338554"/>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36</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조</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에 선출원의 지위 불인정 사유로 규정되어 있지 않음</a:t>
            </a:r>
          </a:p>
        </p:txBody>
      </p:sp>
      <p:sp>
        <p:nvSpPr>
          <p:cNvPr id="19" name="TextBox 18">
            <a:extLst>
              <a:ext uri="{FF2B5EF4-FFF2-40B4-BE49-F238E27FC236}">
                <a16:creationId xmlns:a16="http://schemas.microsoft.com/office/drawing/2014/main" id="{7417043D-FCA1-CA67-B640-77B32CF95921}"/>
              </a:ext>
            </a:extLst>
          </p:cNvPr>
          <p:cNvSpPr txBox="1"/>
          <p:nvPr/>
        </p:nvSpPr>
        <p:spPr>
          <a:xfrm>
            <a:off x="3724700" y="2214593"/>
            <a:ext cx="7923964" cy="338554"/>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120</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조</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에 의한 특허권의 포기는 특허권의 포기는 출원의 포기와 달리 소급효가 인정되지 않음</a:t>
            </a:r>
          </a:p>
        </p:txBody>
      </p:sp>
      <p:sp>
        <p:nvSpPr>
          <p:cNvPr id="20" name="TextBox 19">
            <a:extLst>
              <a:ext uri="{FF2B5EF4-FFF2-40B4-BE49-F238E27FC236}">
                <a16:creationId xmlns:a16="http://schemas.microsoft.com/office/drawing/2014/main" id="{9C47F3E3-803A-EE43-5B73-CAD0D62256A7}"/>
              </a:ext>
            </a:extLst>
          </p:cNvPr>
          <p:cNvSpPr txBox="1"/>
          <p:nvPr/>
        </p:nvSpPr>
        <p:spPr>
          <a:xfrm>
            <a:off x="3724699" y="2593806"/>
            <a:ext cx="7923963" cy="584775"/>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120</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조에 의한 특허권의 포기는 </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101</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600" b="0" i="0" u="none" strike="noStrike" kern="1200" cap="none" spc="0" normalizeH="0" baseline="0" noProof="0" dirty="0" err="1">
                <a:ln>
                  <a:noFill/>
                </a:ln>
                <a:solidFill>
                  <a:srgbClr val="FF0000"/>
                </a:solidFill>
                <a:effectLst/>
                <a:uLnTx/>
                <a:uFillTx/>
                <a:latin typeface="Frutiger LT 65 Bold"/>
                <a:ea typeface="Rix모던고딕 B"/>
                <a:cs typeface="+mn-cs"/>
              </a:rPr>
              <a:t>항제</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호</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에 따라 등록이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효력발생요건인데</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대외적인 공시방법으로 충분하지 않음</a:t>
            </a:r>
          </a:p>
        </p:txBody>
      </p:sp>
      <p:sp>
        <p:nvSpPr>
          <p:cNvPr id="21" name="TextBox 20">
            <a:extLst>
              <a:ext uri="{FF2B5EF4-FFF2-40B4-BE49-F238E27FC236}">
                <a16:creationId xmlns:a16="http://schemas.microsoft.com/office/drawing/2014/main" id="{BF409775-5262-4FE1-37B0-B8CBDC34003E}"/>
              </a:ext>
            </a:extLst>
          </p:cNvPr>
          <p:cNvSpPr txBox="1"/>
          <p:nvPr/>
        </p:nvSpPr>
        <p:spPr>
          <a:xfrm>
            <a:off x="3724700" y="3345319"/>
            <a:ext cx="7923962" cy="584775"/>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120</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조에 의한 특허권의 포기는 특허권자가 시기와 대상을 임의로 정할 수 있어서 법적 안정성을 해침</a:t>
            </a:r>
          </a:p>
        </p:txBody>
      </p:sp>
    </p:spTree>
    <p:extLst>
      <p:ext uri="{BB962C8B-B14F-4D97-AF65-F5344CB8AC3E}">
        <p14:creationId xmlns:p14="http://schemas.microsoft.com/office/powerpoint/2010/main" val="201605645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36</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발명의 범주가 다른 경우의 선출원주의</a:t>
            </a:r>
          </a:p>
        </p:txBody>
      </p:sp>
      <p:sp>
        <p:nvSpPr>
          <p:cNvPr id="4" name="슬라이드 번호 개체 틀 3"/>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85</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6" name="TextBox 5"/>
          <p:cNvSpPr txBox="1"/>
          <p:nvPr/>
        </p:nvSpPr>
        <p:spPr>
          <a:xfrm>
            <a:off x="77875" y="1341693"/>
            <a:ext cx="11936323" cy="2462213"/>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구 특허법</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(1990.1.13.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법률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42307</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호로 전부 개정되기 전의 것</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 은 동일한 발명에 대하여는 최선출원에 한하여 특허를 받을 수 있다고 규정하여 동일한 발명에 대한 중복등록을 방지하기 위하여 선출원주의를 채택하고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전후로 출원된 양 발명이 동일하다고 함은 그 기술적 구성이 전면적으로 일치하는 경우는 물론 그 범위에 차이가 있을 뿐 부분적으로 일치하는 경우라도 특별한 사정이 없는 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양발명은 동일하고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비록 양 발명의 구성에 상이점이 있어도 그 기술분야에 통상의 지식을 가진 자가 보통으로 채용하는 정도의 변경에 지나지 아니하고 발명의 목적과 작용 효과에 특별한 차이를 일으키지 아니하는 경우</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에는 양 발명은 역시 동일한 발명이다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구 특허법</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(1990.1.13.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법률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42307</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호로 전부 개정되기 전의 것</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항을 적용하기 위한 전제로서 두 발명이 서로 동일한 발명인지 여부를 판단함에 있어서는 대비되는 두 발명의 실체를 파악하여 따져보아야 할 것이지 표현양식에 따른 차이가 있는지 여부에 따라 판단할 것은 아니므로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대비되는 두 발명이 각각 물건의 발명과 방법의 발명으로 서로 발명의 범주가 다르다는 사정만으로 곧바로 동일한 발명이 아니라고 단정할 수 없다</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등록된 특허발명이 그 출원 전에 국내에서 공지되었거나 공연히 실시된 발명으로서 신규성이 없는 경우에는 그에 대한 등록무효심판이 없어도</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그 권리범위를 인정 할 수 없으며</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특허무효사유에 있어서 신규성 결여와 선출원주의 위반은 특허발명 내지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후출원발명과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선행발명 내지 선출원발명의 동일성 여부가 문제된다는 점에서 다르지 않으므로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위 법리는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후출원발명에</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선출원주의 위반의 무효사유가 있는 경우에도 그대로 적용</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된다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p>
        </p:txBody>
      </p:sp>
      <p:sp>
        <p:nvSpPr>
          <p:cNvPr id="20" name="Line 5">
            <a:extLst>
              <a:ext uri="{FF2B5EF4-FFF2-40B4-BE49-F238E27FC236}">
                <a16:creationId xmlns:a16="http://schemas.microsoft.com/office/drawing/2014/main" id="{ACCDA59F-2AF7-4FC8-9236-82288B8FB7B1}"/>
              </a:ext>
            </a:extLst>
          </p:cNvPr>
          <p:cNvSpPr>
            <a:spLocks noChangeShapeType="1"/>
          </p:cNvSpPr>
          <p:nvPr/>
        </p:nvSpPr>
        <p:spPr bwMode="auto">
          <a:xfrm>
            <a:off x="607658" y="4563258"/>
            <a:ext cx="11001374" cy="0"/>
          </a:xfrm>
          <a:prstGeom prst="line">
            <a:avLst/>
          </a:prstGeom>
          <a:noFill/>
          <a:ln w="57150">
            <a:solidFill>
              <a:schemeClr val="bg1">
                <a:lumMod val="50000"/>
              </a:schemeClr>
            </a:solidFill>
            <a:round/>
            <a:headEnd/>
            <a:tailEnd type="stealth" w="med" len="med"/>
          </a:ln>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21" name="TextBox 20">
            <a:extLst>
              <a:ext uri="{FF2B5EF4-FFF2-40B4-BE49-F238E27FC236}">
                <a16:creationId xmlns:a16="http://schemas.microsoft.com/office/drawing/2014/main" id="{984A9B38-9CBF-428C-922A-DB33022A9147}"/>
              </a:ext>
            </a:extLst>
          </p:cNvPr>
          <p:cNvSpPr txBox="1"/>
          <p:nvPr/>
        </p:nvSpPr>
        <p:spPr>
          <a:xfrm>
            <a:off x="1530399" y="4819433"/>
            <a:ext cx="114732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甲 특허출원</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22" name="타원 21">
            <a:extLst>
              <a:ext uri="{FF2B5EF4-FFF2-40B4-BE49-F238E27FC236}">
                <a16:creationId xmlns:a16="http://schemas.microsoft.com/office/drawing/2014/main" id="{D7DE53CC-C4D9-422B-AF3A-7B30A9EA5F60}"/>
              </a:ext>
            </a:extLst>
          </p:cNvPr>
          <p:cNvSpPr/>
          <p:nvPr/>
        </p:nvSpPr>
        <p:spPr>
          <a:xfrm>
            <a:off x="2033488" y="4476409"/>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23" name="직선 연결선 22">
            <a:extLst>
              <a:ext uri="{FF2B5EF4-FFF2-40B4-BE49-F238E27FC236}">
                <a16:creationId xmlns:a16="http://schemas.microsoft.com/office/drawing/2014/main" id="{408FCD3A-E182-4831-A770-42918078B18B}"/>
              </a:ext>
            </a:extLst>
          </p:cNvPr>
          <p:cNvCxnSpPr>
            <a:cxnSpLocks/>
            <a:stCxn id="21" idx="0"/>
            <a:endCxn id="22" idx="4"/>
          </p:cNvCxnSpPr>
          <p:nvPr/>
        </p:nvCxnSpPr>
        <p:spPr>
          <a:xfrm flipH="1" flipV="1">
            <a:off x="2104062" y="4623577"/>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B61FAB89-FCF5-43F0-95FF-6883B7A962C2}"/>
              </a:ext>
            </a:extLst>
          </p:cNvPr>
          <p:cNvSpPr txBox="1"/>
          <p:nvPr/>
        </p:nvSpPr>
        <p:spPr>
          <a:xfrm>
            <a:off x="5944560" y="4819433"/>
            <a:ext cx="720266"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등록</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28" name="타원 27">
            <a:extLst>
              <a:ext uri="{FF2B5EF4-FFF2-40B4-BE49-F238E27FC236}">
                <a16:creationId xmlns:a16="http://schemas.microsoft.com/office/drawing/2014/main" id="{F287B676-6868-44D3-B4DB-53B7D46E69F1}"/>
              </a:ext>
            </a:extLst>
          </p:cNvPr>
          <p:cNvSpPr/>
          <p:nvPr/>
        </p:nvSpPr>
        <p:spPr>
          <a:xfrm>
            <a:off x="6227323" y="446932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29" name="직선 연결선 28">
            <a:extLst>
              <a:ext uri="{FF2B5EF4-FFF2-40B4-BE49-F238E27FC236}">
                <a16:creationId xmlns:a16="http://schemas.microsoft.com/office/drawing/2014/main" id="{616A2BCD-A858-4187-8094-DEF1E330CA4D}"/>
              </a:ext>
            </a:extLst>
          </p:cNvPr>
          <p:cNvCxnSpPr>
            <a:cxnSpLocks/>
            <a:stCxn id="27" idx="0"/>
            <a:endCxn id="28" idx="4"/>
          </p:cNvCxnSpPr>
          <p:nvPr/>
        </p:nvCxnSpPr>
        <p:spPr>
          <a:xfrm flipH="1" flipV="1">
            <a:off x="6304692" y="463066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 name="사각형: 둥근 모서리 18">
            <a:extLst>
              <a:ext uri="{FF2B5EF4-FFF2-40B4-BE49-F238E27FC236}">
                <a16:creationId xmlns:a16="http://schemas.microsoft.com/office/drawing/2014/main" id="{A83D1C3A-9892-4861-9E7D-128450D07D78}"/>
              </a:ext>
            </a:extLst>
          </p:cNvPr>
          <p:cNvSpPr/>
          <p:nvPr/>
        </p:nvSpPr>
        <p:spPr>
          <a:xfrm>
            <a:off x="113937" y="964867"/>
            <a:ext cx="5969374" cy="346234"/>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2009. 9. 24.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2007</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2827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판결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권리범위확인</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특</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83" name="직선 연결선 82">
            <a:extLst>
              <a:ext uri="{FF2B5EF4-FFF2-40B4-BE49-F238E27FC236}">
                <a16:creationId xmlns:a16="http://schemas.microsoft.com/office/drawing/2014/main" id="{85DA65B5-3277-4ADF-95AF-47AB4FD658B7}"/>
              </a:ext>
            </a:extLst>
          </p:cNvPr>
          <p:cNvCxnSpPr/>
          <p:nvPr/>
        </p:nvCxnSpPr>
        <p:spPr>
          <a:xfrm>
            <a:off x="0" y="3848905"/>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7AC2CAAE-BD39-4990-A867-53F268370BFC}"/>
              </a:ext>
            </a:extLst>
          </p:cNvPr>
          <p:cNvSpPr txBox="1"/>
          <p:nvPr/>
        </p:nvSpPr>
        <p:spPr>
          <a:xfrm>
            <a:off x="472884" y="5257845"/>
            <a:ext cx="3262356" cy="83099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암로디핀</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염기를 불활성 용매 중에서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벤젠설폰산</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또는 그의 암모늄염의 용액과 반응시킨 후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암로디핀의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베실레이트염을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회수함을 특징으로 하여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암로디핀의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베실레이트염을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제조하는 방법</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8" name="직선 연결선 7">
            <a:extLst>
              <a:ext uri="{FF2B5EF4-FFF2-40B4-BE49-F238E27FC236}">
                <a16:creationId xmlns:a16="http://schemas.microsoft.com/office/drawing/2014/main" id="{952B0388-8969-4B15-B793-E3C1AF7D164D}"/>
              </a:ext>
            </a:extLst>
          </p:cNvPr>
          <p:cNvCxnSpPr>
            <a:cxnSpLocks/>
            <a:stCxn id="37" idx="0"/>
            <a:endCxn id="21" idx="2"/>
          </p:cNvCxnSpPr>
          <p:nvPr/>
        </p:nvCxnSpPr>
        <p:spPr>
          <a:xfrm flipV="1">
            <a:off x="2104062" y="5096432"/>
            <a:ext cx="1" cy="16141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6999B311-108C-4360-B404-112176F90F45}"/>
              </a:ext>
            </a:extLst>
          </p:cNvPr>
          <p:cNvSpPr txBox="1"/>
          <p:nvPr/>
        </p:nvSpPr>
        <p:spPr>
          <a:xfrm>
            <a:off x="4202166" y="4819433"/>
            <a:ext cx="1147328"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乙 특허출원</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(Y)</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61" name="타원 60">
            <a:extLst>
              <a:ext uri="{FF2B5EF4-FFF2-40B4-BE49-F238E27FC236}">
                <a16:creationId xmlns:a16="http://schemas.microsoft.com/office/drawing/2014/main" id="{79A5A288-5FA6-46E6-BC75-43B7FB32100D}"/>
              </a:ext>
            </a:extLst>
          </p:cNvPr>
          <p:cNvSpPr/>
          <p:nvPr/>
        </p:nvSpPr>
        <p:spPr>
          <a:xfrm>
            <a:off x="4705255" y="4476409"/>
            <a:ext cx="141148" cy="14716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62" name="직선 연결선 61">
            <a:extLst>
              <a:ext uri="{FF2B5EF4-FFF2-40B4-BE49-F238E27FC236}">
                <a16:creationId xmlns:a16="http://schemas.microsoft.com/office/drawing/2014/main" id="{DA0317E4-1917-4596-8F89-DE15A2F8693F}"/>
              </a:ext>
            </a:extLst>
          </p:cNvPr>
          <p:cNvCxnSpPr>
            <a:cxnSpLocks/>
            <a:stCxn id="60" idx="0"/>
            <a:endCxn id="61" idx="4"/>
          </p:cNvCxnSpPr>
          <p:nvPr/>
        </p:nvCxnSpPr>
        <p:spPr>
          <a:xfrm flipH="1" flipV="1">
            <a:off x="4775829" y="4623577"/>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AB666DEF-976A-4485-BF11-5BA2FC8164BF}"/>
              </a:ext>
            </a:extLst>
          </p:cNvPr>
          <p:cNvSpPr txBox="1"/>
          <p:nvPr/>
        </p:nvSpPr>
        <p:spPr>
          <a:xfrm>
            <a:off x="6800987" y="4819433"/>
            <a:ext cx="720266"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등록</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(Y)</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67" name="타원 66">
            <a:extLst>
              <a:ext uri="{FF2B5EF4-FFF2-40B4-BE49-F238E27FC236}">
                <a16:creationId xmlns:a16="http://schemas.microsoft.com/office/drawing/2014/main" id="{040A2FA9-1AF7-4118-BB3B-0B51F886A91A}"/>
              </a:ext>
            </a:extLst>
          </p:cNvPr>
          <p:cNvSpPr/>
          <p:nvPr/>
        </p:nvSpPr>
        <p:spPr>
          <a:xfrm>
            <a:off x="7083750" y="4469324"/>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68" name="직선 연결선 67">
            <a:extLst>
              <a:ext uri="{FF2B5EF4-FFF2-40B4-BE49-F238E27FC236}">
                <a16:creationId xmlns:a16="http://schemas.microsoft.com/office/drawing/2014/main" id="{CCD9C98D-7A02-461F-9633-FD964C654F46}"/>
              </a:ext>
            </a:extLst>
          </p:cNvPr>
          <p:cNvCxnSpPr>
            <a:cxnSpLocks/>
            <a:stCxn id="66" idx="0"/>
            <a:endCxn id="67" idx="4"/>
          </p:cNvCxnSpPr>
          <p:nvPr/>
        </p:nvCxnSpPr>
        <p:spPr>
          <a:xfrm flipH="1" flipV="1">
            <a:off x="7161119" y="463066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625C9412-C9FA-4CF0-85C6-81EC37FF4FAA}"/>
              </a:ext>
            </a:extLst>
          </p:cNvPr>
          <p:cNvSpPr txBox="1"/>
          <p:nvPr/>
        </p:nvSpPr>
        <p:spPr>
          <a:xfrm>
            <a:off x="3815093" y="5257845"/>
            <a:ext cx="1921472"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암로디핀의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베실레이트염</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70" name="직선 연결선 69">
            <a:extLst>
              <a:ext uri="{FF2B5EF4-FFF2-40B4-BE49-F238E27FC236}">
                <a16:creationId xmlns:a16="http://schemas.microsoft.com/office/drawing/2014/main" id="{C90EFF77-743B-4320-AE0C-1C6DCE726A20}"/>
              </a:ext>
            </a:extLst>
          </p:cNvPr>
          <p:cNvCxnSpPr>
            <a:cxnSpLocks/>
            <a:stCxn id="69" idx="0"/>
            <a:endCxn id="60" idx="2"/>
          </p:cNvCxnSpPr>
          <p:nvPr/>
        </p:nvCxnSpPr>
        <p:spPr>
          <a:xfrm flipV="1">
            <a:off x="4775829" y="5096432"/>
            <a:ext cx="1" cy="16141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2663F233-3270-46CE-AC7E-08B18F89A077}"/>
              </a:ext>
            </a:extLst>
          </p:cNvPr>
          <p:cNvSpPr txBox="1"/>
          <p:nvPr/>
        </p:nvSpPr>
        <p:spPr>
          <a:xfrm>
            <a:off x="7890138" y="4819433"/>
            <a:ext cx="1996288" cy="276999"/>
          </a:xfrm>
          <a:prstGeom prst="rect">
            <a:avLst/>
          </a:prstGeom>
          <a:solidFill>
            <a:schemeClr val="accent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丙 소극적 권리범위 청구</a:t>
            </a:r>
            <a:r>
              <a:rPr kumimoji="0" lang="en-US" altLang="ko-KR" sz="1200" b="0" i="0" u="none" strike="noStrike" kern="1200" cap="none" spc="0" normalizeH="0" baseline="0" noProof="0" dirty="0">
                <a:ln>
                  <a:noFill/>
                </a:ln>
                <a:solidFill>
                  <a:prstClr val="white"/>
                </a:solidFill>
                <a:effectLst/>
                <a:uLnTx/>
                <a:uFillTx/>
                <a:latin typeface="Rix모던고딕 B"/>
                <a:ea typeface="Rix모던고딕 B"/>
                <a:cs typeface="+mn-cs"/>
              </a:rPr>
              <a:t>(Y)</a:t>
            </a:r>
            <a:endPar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endParaRPr>
          </a:p>
        </p:txBody>
      </p:sp>
      <p:sp>
        <p:nvSpPr>
          <p:cNvPr id="79" name="타원 78">
            <a:extLst>
              <a:ext uri="{FF2B5EF4-FFF2-40B4-BE49-F238E27FC236}">
                <a16:creationId xmlns:a16="http://schemas.microsoft.com/office/drawing/2014/main" id="{45C73ACC-334A-47F7-A7E9-DE32779A3F74}"/>
              </a:ext>
            </a:extLst>
          </p:cNvPr>
          <p:cNvSpPr/>
          <p:nvPr/>
        </p:nvSpPr>
        <p:spPr>
          <a:xfrm>
            <a:off x="8810912" y="4469324"/>
            <a:ext cx="154738" cy="161338"/>
          </a:xfrm>
          <a:prstGeom prst="ellipse">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80" name="직선 연결선 79">
            <a:extLst>
              <a:ext uri="{FF2B5EF4-FFF2-40B4-BE49-F238E27FC236}">
                <a16:creationId xmlns:a16="http://schemas.microsoft.com/office/drawing/2014/main" id="{B4CD380B-A1C4-419A-9CC1-854A74D308A3}"/>
              </a:ext>
            </a:extLst>
          </p:cNvPr>
          <p:cNvCxnSpPr>
            <a:cxnSpLocks/>
            <a:stCxn id="71" idx="0"/>
            <a:endCxn id="79" idx="4"/>
          </p:cNvCxnSpPr>
          <p:nvPr/>
        </p:nvCxnSpPr>
        <p:spPr>
          <a:xfrm flipH="1" flipV="1">
            <a:off x="8888281" y="463066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5F40A7C9-79E0-4CEF-BF03-743C0BCA5657}"/>
              </a:ext>
            </a:extLst>
          </p:cNvPr>
          <p:cNvSpPr txBox="1"/>
          <p:nvPr/>
        </p:nvSpPr>
        <p:spPr>
          <a:xfrm>
            <a:off x="10263880" y="4819433"/>
            <a:ext cx="1054150" cy="276999"/>
          </a:xfrm>
          <a:prstGeom prst="rect">
            <a:avLst/>
          </a:prstGeom>
          <a:solidFill>
            <a:schemeClr val="accent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rPr>
              <a:t>인용심결</a:t>
            </a:r>
            <a:r>
              <a:rPr kumimoji="0" lang="en-US" altLang="ko-KR" sz="1200" b="0" i="0" u="none" strike="noStrike" kern="1200" cap="none" spc="0" normalizeH="0" baseline="0" noProof="0" dirty="0">
                <a:ln>
                  <a:noFill/>
                </a:ln>
                <a:solidFill>
                  <a:prstClr val="white"/>
                </a:solidFill>
                <a:effectLst/>
                <a:uLnTx/>
                <a:uFillTx/>
                <a:latin typeface="Rix모던고딕 B"/>
                <a:ea typeface="Rix모던고딕 B"/>
                <a:cs typeface="+mn-cs"/>
              </a:rPr>
              <a:t>(Y)</a:t>
            </a:r>
            <a:endPar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endParaRPr>
          </a:p>
        </p:txBody>
      </p:sp>
      <p:sp>
        <p:nvSpPr>
          <p:cNvPr id="31" name="타원 30">
            <a:extLst>
              <a:ext uri="{FF2B5EF4-FFF2-40B4-BE49-F238E27FC236}">
                <a16:creationId xmlns:a16="http://schemas.microsoft.com/office/drawing/2014/main" id="{21FD8562-30CC-4973-89CD-B5CFF7EACBD8}"/>
              </a:ext>
            </a:extLst>
          </p:cNvPr>
          <p:cNvSpPr/>
          <p:nvPr/>
        </p:nvSpPr>
        <p:spPr>
          <a:xfrm>
            <a:off x="10713585" y="4469324"/>
            <a:ext cx="154738" cy="161338"/>
          </a:xfrm>
          <a:prstGeom prst="ellipse">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32" name="직선 연결선 31">
            <a:extLst>
              <a:ext uri="{FF2B5EF4-FFF2-40B4-BE49-F238E27FC236}">
                <a16:creationId xmlns:a16="http://schemas.microsoft.com/office/drawing/2014/main" id="{D9358921-39CF-44C3-848A-E5A513D013F5}"/>
              </a:ext>
            </a:extLst>
          </p:cNvPr>
          <p:cNvCxnSpPr>
            <a:cxnSpLocks/>
            <a:stCxn id="30" idx="0"/>
            <a:endCxn id="31" idx="4"/>
          </p:cNvCxnSpPr>
          <p:nvPr/>
        </p:nvCxnSpPr>
        <p:spPr>
          <a:xfrm flipH="1" flipV="1">
            <a:off x="10790954" y="463066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 name="타원 6">
            <a:extLst>
              <a:ext uri="{FF2B5EF4-FFF2-40B4-BE49-F238E27FC236}">
                <a16:creationId xmlns:a16="http://schemas.microsoft.com/office/drawing/2014/main" id="{DD021D7D-C776-42D1-B61D-4C80C7620963}"/>
              </a:ext>
            </a:extLst>
          </p:cNvPr>
          <p:cNvSpPr/>
          <p:nvPr/>
        </p:nvSpPr>
        <p:spPr>
          <a:xfrm>
            <a:off x="8515935" y="5678279"/>
            <a:ext cx="317241" cy="317241"/>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1</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3" name="타원 32">
            <a:extLst>
              <a:ext uri="{FF2B5EF4-FFF2-40B4-BE49-F238E27FC236}">
                <a16:creationId xmlns:a16="http://schemas.microsoft.com/office/drawing/2014/main" id="{5578F54A-B0BE-45C2-B4A0-6C10BA0FAEC2}"/>
              </a:ext>
            </a:extLst>
          </p:cNvPr>
          <p:cNvSpPr/>
          <p:nvPr/>
        </p:nvSpPr>
        <p:spPr>
          <a:xfrm>
            <a:off x="6040793" y="6090894"/>
            <a:ext cx="317241" cy="317241"/>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4" name="타원 33">
            <a:extLst>
              <a:ext uri="{FF2B5EF4-FFF2-40B4-BE49-F238E27FC236}">
                <a16:creationId xmlns:a16="http://schemas.microsoft.com/office/drawing/2014/main" id="{80CC6B1A-8D2B-4433-8056-9DE2E8F54A4A}"/>
              </a:ext>
            </a:extLst>
          </p:cNvPr>
          <p:cNvSpPr/>
          <p:nvPr/>
        </p:nvSpPr>
        <p:spPr>
          <a:xfrm>
            <a:off x="10661601" y="5126582"/>
            <a:ext cx="317241" cy="317241"/>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3</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14" name="연결선: 꺾임 13">
            <a:extLst>
              <a:ext uri="{FF2B5EF4-FFF2-40B4-BE49-F238E27FC236}">
                <a16:creationId xmlns:a16="http://schemas.microsoft.com/office/drawing/2014/main" id="{0CCFF819-37C6-A7B9-828E-D848FC01DF9A}"/>
              </a:ext>
            </a:extLst>
          </p:cNvPr>
          <p:cNvCxnSpPr>
            <a:endCxn id="69" idx="2"/>
          </p:cNvCxnSpPr>
          <p:nvPr/>
        </p:nvCxnSpPr>
        <p:spPr>
          <a:xfrm flipV="1">
            <a:off x="3735240" y="5534844"/>
            <a:ext cx="1040589" cy="272584"/>
          </a:xfrm>
          <a:prstGeom prst="bentConnector2">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249CA73D-A044-AB92-2E4C-FF2E84C33EAB}"/>
              </a:ext>
            </a:extLst>
          </p:cNvPr>
          <p:cNvSpPr txBox="1"/>
          <p:nvPr/>
        </p:nvSpPr>
        <p:spPr>
          <a:xfrm>
            <a:off x="4749077" y="5728058"/>
            <a:ext cx="3831498" cy="600164"/>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제법에 의해 생산된 물건발명과 </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후출원</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물건발명의 구성의 상이</a:t>
            </a:r>
            <a:endPar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제법발명</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물건발명</a:t>
            </a:r>
            <a:endPar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Tree>
    <p:extLst>
      <p:ext uri="{BB962C8B-B14F-4D97-AF65-F5344CB8AC3E}">
        <p14:creationId xmlns:p14="http://schemas.microsoft.com/office/powerpoint/2010/main" val="330052014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자유형 10"/>
          <p:cNvSpPr/>
          <p:nvPr/>
        </p:nvSpPr>
        <p:spPr>
          <a:xfrm>
            <a:off x="3719244" y="3914453"/>
            <a:ext cx="6256746" cy="832207"/>
          </a:xfrm>
          <a:custGeom>
            <a:avLst/>
            <a:gdLst>
              <a:gd name="connsiteX0" fmla="*/ 0 w 6318607"/>
              <a:gd name="connsiteY0" fmla="*/ 832207 h 832207"/>
              <a:gd name="connsiteX1" fmla="*/ 277402 w 6318607"/>
              <a:gd name="connsiteY1" fmla="*/ 0 h 832207"/>
              <a:gd name="connsiteX2" fmla="*/ 6010382 w 6318607"/>
              <a:gd name="connsiteY2" fmla="*/ 0 h 832207"/>
              <a:gd name="connsiteX3" fmla="*/ 6318607 w 6318607"/>
              <a:gd name="connsiteY3" fmla="*/ 791110 h 832207"/>
            </a:gdLst>
            <a:ahLst/>
            <a:cxnLst>
              <a:cxn ang="0">
                <a:pos x="connsiteX0" y="connsiteY0"/>
              </a:cxn>
              <a:cxn ang="0">
                <a:pos x="connsiteX1" y="connsiteY1"/>
              </a:cxn>
              <a:cxn ang="0">
                <a:pos x="connsiteX2" y="connsiteY2"/>
              </a:cxn>
              <a:cxn ang="0">
                <a:pos x="connsiteX3" y="connsiteY3"/>
              </a:cxn>
            </a:cxnLst>
            <a:rect l="l" t="t" r="r" b="b"/>
            <a:pathLst>
              <a:path w="6318607" h="832207">
                <a:moveTo>
                  <a:pt x="0" y="832207"/>
                </a:moveTo>
                <a:lnTo>
                  <a:pt x="277402" y="0"/>
                </a:lnTo>
                <a:lnTo>
                  <a:pt x="6010382" y="0"/>
                </a:lnTo>
                <a:lnTo>
                  <a:pt x="6318607" y="791110"/>
                </a:lnTo>
              </a:path>
            </a:pathLst>
          </a:custGeom>
          <a:pattFill prst="ltHorz">
            <a:fgClr>
              <a:schemeClr val="accent2"/>
            </a:fgClr>
            <a:bgClr>
              <a:schemeClr val="bg1"/>
            </a:bgClr>
          </a:pattFill>
          <a:ln>
            <a:solidFill>
              <a:schemeClr val="accent4">
                <a:lumMod val="50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3</a:t>
            </a:r>
            <a:r>
              <a:rPr lang="ko-KR" altLang="en-US" dirty="0"/>
              <a:t>항</a:t>
            </a:r>
          </a:p>
        </p:txBody>
      </p:sp>
      <p:sp>
        <p:nvSpPr>
          <p:cNvPr id="4" name="텍스트 개체 틀 3"/>
          <p:cNvSpPr>
            <a:spLocks noGrp="1"/>
          </p:cNvSpPr>
          <p:nvPr>
            <p:ph type="body" sz="quarter" idx="13"/>
          </p:nvPr>
        </p:nvSpPr>
        <p:spPr/>
        <p:txBody>
          <a:bodyPr/>
          <a:lstStyle/>
          <a:p>
            <a:r>
              <a:rPr lang="ko-KR" altLang="en-US" dirty="0"/>
              <a:t>확대된 선출원의 개념</a:t>
            </a:r>
          </a:p>
        </p:txBody>
      </p:sp>
      <p:cxnSp>
        <p:nvCxnSpPr>
          <p:cNvPr id="52" name="직선 연결선 51"/>
          <p:cNvCxnSpPr/>
          <p:nvPr/>
        </p:nvCxnSpPr>
        <p:spPr>
          <a:xfrm>
            <a:off x="1656739" y="4750837"/>
            <a:ext cx="906753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TextBox 89"/>
          <p:cNvSpPr txBox="1"/>
          <p:nvPr/>
        </p:nvSpPr>
        <p:spPr>
          <a:xfrm>
            <a:off x="77875" y="986046"/>
            <a:ext cx="11936323" cy="1169551"/>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29</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err="1">
                <a:ln>
                  <a:noFill/>
                </a:ln>
                <a:solidFill>
                  <a:srgbClr val="5B9BD5"/>
                </a:solidFill>
                <a:effectLst/>
                <a:uLnTx/>
                <a:uFillTx/>
                <a:latin typeface="Frutiger LT 65 Bold"/>
                <a:ea typeface="Rix모던고딕 B"/>
                <a:cs typeface="+mn-cs"/>
              </a:rPr>
              <a:t>특허요건</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③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발명이 다음 각 호의 요건을 모두 갖춘 다른 특허출원의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출원서에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최초로 첨부한 명세서 또는 도면에 기재된 발명과 동일한 경우에 그 발명은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항에도 불구하고 특허를 받을 수 없다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특허출원의 발명자와 다른 특허출원의 발명자가 같거나 그 특허출원을 출원한 때의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출원인과</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다른 특허출원의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출원인이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같은 경우에는 그러하지 아니하다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1.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특허출원일 전에 출원된 특허출원일 것</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특허출원 후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조에 따라 출원공개되거나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87</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등록공고된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특허출원일 것</a:t>
            </a:r>
          </a:p>
        </p:txBody>
      </p:sp>
      <p:cxnSp>
        <p:nvCxnSpPr>
          <p:cNvPr id="91" name="직선 연결선 90"/>
          <p:cNvCxnSpPr/>
          <p:nvPr/>
        </p:nvCxnSpPr>
        <p:spPr>
          <a:xfrm>
            <a:off x="0" y="215660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 name="직사각형 27"/>
          <p:cNvSpPr/>
          <p:nvPr/>
        </p:nvSpPr>
        <p:spPr>
          <a:xfrm>
            <a:off x="1167003" y="4534388"/>
            <a:ext cx="2626056" cy="43289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특허출원일</a:t>
            </a:r>
            <a:endParaRPr kumimoji="0" lang="ko-KR" altLang="en-US" sz="2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9" name="직선 연결선 28"/>
          <p:cNvCxnSpPr>
            <a:stCxn id="28" idx="0"/>
            <a:endCxn id="30" idx="2"/>
          </p:cNvCxnSpPr>
          <p:nvPr/>
        </p:nvCxnSpPr>
        <p:spPr>
          <a:xfrm flipV="1">
            <a:off x="2480031" y="3558936"/>
            <a:ext cx="5856" cy="97545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1766237" y="3251159"/>
            <a:ext cx="1439300" cy="307777"/>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다른 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1" name="TextBox 30"/>
          <p:cNvSpPr txBox="1"/>
          <p:nvPr/>
        </p:nvSpPr>
        <p:spPr>
          <a:xfrm>
            <a:off x="963261" y="4240562"/>
            <a:ext cx="445956"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32" name="TextBox 31"/>
          <p:cNvSpPr txBox="1"/>
          <p:nvPr/>
        </p:nvSpPr>
        <p:spPr>
          <a:xfrm>
            <a:off x="3590114" y="4240562"/>
            <a:ext cx="545342"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33" name="TextBox 32"/>
          <p:cNvSpPr txBox="1"/>
          <p:nvPr/>
        </p:nvSpPr>
        <p:spPr>
          <a:xfrm>
            <a:off x="2558696" y="4240562"/>
            <a:ext cx="545342"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37" name="직사각형 36"/>
          <p:cNvSpPr/>
          <p:nvPr/>
        </p:nvSpPr>
        <p:spPr>
          <a:xfrm>
            <a:off x="8584297" y="4534388"/>
            <a:ext cx="2626056" cy="43289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err="1">
                <a:ln>
                  <a:noFill/>
                </a:ln>
                <a:solidFill>
                  <a:prstClr val="black"/>
                </a:solidFill>
                <a:effectLst/>
                <a:uLnTx/>
                <a:uFillTx/>
                <a:latin typeface="Frutiger LT 65 Bold"/>
                <a:ea typeface="Rix모던고딕 B"/>
                <a:cs typeface="+mn-cs"/>
              </a:rPr>
              <a:t>출원공개일</a:t>
            </a:r>
            <a:endParaRPr kumimoji="0" lang="ko-KR" altLang="en-US" sz="2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38" name="직선 연결선 37"/>
          <p:cNvCxnSpPr>
            <a:stCxn id="37" idx="0"/>
            <a:endCxn id="39" idx="2"/>
          </p:cNvCxnSpPr>
          <p:nvPr/>
        </p:nvCxnSpPr>
        <p:spPr>
          <a:xfrm flipV="1">
            <a:off x="9897325" y="3558936"/>
            <a:ext cx="5856" cy="97545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9285029" y="3251159"/>
            <a:ext cx="1236304" cy="307777"/>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출원공개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0" name="TextBox 39"/>
          <p:cNvSpPr txBox="1"/>
          <p:nvPr/>
        </p:nvSpPr>
        <p:spPr>
          <a:xfrm>
            <a:off x="8380555" y="4240562"/>
            <a:ext cx="445956"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41" name="TextBox 40"/>
          <p:cNvSpPr txBox="1"/>
          <p:nvPr/>
        </p:nvSpPr>
        <p:spPr>
          <a:xfrm>
            <a:off x="11007408" y="4240562"/>
            <a:ext cx="545342"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sp>
        <p:nvSpPr>
          <p:cNvPr id="42" name="TextBox 41"/>
          <p:cNvSpPr txBox="1"/>
          <p:nvPr/>
        </p:nvSpPr>
        <p:spPr>
          <a:xfrm>
            <a:off x="9975990" y="4240562"/>
            <a:ext cx="545342"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시</a:t>
            </a:r>
          </a:p>
        </p:txBody>
      </p:sp>
      <p:cxnSp>
        <p:nvCxnSpPr>
          <p:cNvPr id="46" name="직선 연결선 45"/>
          <p:cNvCxnSpPr>
            <a:endCxn id="47" idx="0"/>
          </p:cNvCxnSpPr>
          <p:nvPr/>
        </p:nvCxnSpPr>
        <p:spPr>
          <a:xfrm>
            <a:off x="6606170" y="4812408"/>
            <a:ext cx="0" cy="44480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5876592" y="5257214"/>
            <a:ext cx="1459156" cy="307777"/>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그 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9" name="직사각형 48"/>
          <p:cNvSpPr/>
          <p:nvPr/>
        </p:nvSpPr>
        <p:spPr>
          <a:xfrm>
            <a:off x="1766234" y="2716546"/>
            <a:ext cx="1439304"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0" name="직사각형 49"/>
          <p:cNvSpPr/>
          <p:nvPr/>
        </p:nvSpPr>
        <p:spPr>
          <a:xfrm>
            <a:off x="1766234" y="2946047"/>
            <a:ext cx="1439304" cy="229500"/>
          </a:xfrm>
          <a:prstGeom prst="rect">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4" name="직사각형 53"/>
          <p:cNvSpPr/>
          <p:nvPr/>
        </p:nvSpPr>
        <p:spPr>
          <a:xfrm>
            <a:off x="5876591" y="5636430"/>
            <a:ext cx="1459158" cy="229500"/>
          </a:xfrm>
          <a:prstGeom prst="rect">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5" name="직사각형 54"/>
          <p:cNvSpPr/>
          <p:nvPr/>
        </p:nvSpPr>
        <p:spPr>
          <a:xfrm>
            <a:off x="5876591" y="5865931"/>
            <a:ext cx="1459158"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1" name="구부러진 연결선 20"/>
          <p:cNvCxnSpPr>
            <a:stCxn id="50" idx="3"/>
            <a:endCxn id="54" idx="1"/>
          </p:cNvCxnSpPr>
          <p:nvPr/>
        </p:nvCxnSpPr>
        <p:spPr>
          <a:xfrm>
            <a:off x="3205538" y="3060797"/>
            <a:ext cx="2671053" cy="2690383"/>
          </a:xfrm>
          <a:prstGeom prst="curvedConnector3">
            <a:avLst>
              <a:gd name="adj1" fmla="val 50001"/>
            </a:avLst>
          </a:prstGeom>
          <a:ln>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3633026" y="3210966"/>
            <a:ext cx="1519980" cy="523220"/>
          </a:xfrm>
          <a:prstGeom prst="rect">
            <a:avLst/>
          </a:prstGeom>
          <a:solidFill>
            <a:schemeClr val="bg1"/>
          </a:solid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동일성</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객관적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창작성</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86</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985527181"/>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3</a:t>
            </a:r>
            <a:r>
              <a:rPr lang="ko-KR" altLang="en-US" dirty="0"/>
              <a:t>항</a:t>
            </a:r>
          </a:p>
        </p:txBody>
      </p:sp>
      <p:sp>
        <p:nvSpPr>
          <p:cNvPr id="4" name="텍스트 개체 틀 3"/>
          <p:cNvSpPr>
            <a:spLocks noGrp="1"/>
          </p:cNvSpPr>
          <p:nvPr>
            <p:ph type="body" sz="quarter" idx="13"/>
          </p:nvPr>
        </p:nvSpPr>
        <p:spPr/>
        <p:txBody>
          <a:bodyPr/>
          <a:lstStyle/>
          <a:p>
            <a:r>
              <a:rPr lang="ko-KR" altLang="en-US" dirty="0"/>
              <a:t>시기적 기준</a:t>
            </a:r>
          </a:p>
        </p:txBody>
      </p:sp>
      <p:sp>
        <p:nvSpPr>
          <p:cNvPr id="90" name="TextBox 89"/>
          <p:cNvSpPr txBox="1"/>
          <p:nvPr/>
        </p:nvSpPr>
        <p:spPr>
          <a:xfrm>
            <a:off x="77875" y="1229205"/>
            <a:ext cx="4607141" cy="1220456"/>
          </a:xfrm>
          <a:prstGeom prst="rect">
            <a:avLst/>
          </a:prstGeom>
          <a:solidFill>
            <a:schemeClr val="bg1">
              <a:lumMod val="95000"/>
            </a:schemeClr>
          </a:solidFill>
          <a:ln>
            <a:solidFill>
              <a:schemeClr val="bg1">
                <a:lumMod val="50000"/>
              </a:schemeClr>
            </a:solidFill>
          </a:ln>
        </p:spPr>
        <p:txBody>
          <a:bodyPr wrap="square" rtlCol="0">
            <a:no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그 특허출원일</a:t>
            </a:r>
            <a:r>
              <a:rPr kumimoji="0" lang="en-US" altLang="ko-KR" sz="1600" b="0" i="0" u="none" strike="noStrike" kern="1200" cap="none" spc="0" normalizeH="0" baseline="0" noProof="0" dirty="0">
                <a:ln>
                  <a:noFill/>
                </a:ln>
                <a:solidFill>
                  <a:srgbClr val="44546A"/>
                </a:solidFill>
                <a:effectLst/>
                <a:uLnTx/>
                <a:uFillTx/>
                <a:latin typeface="Frutiger LT 65 Bold"/>
                <a:ea typeface="Rix모던고딕 B"/>
                <a:cs typeface="+mn-cs"/>
              </a:rPr>
              <a:t>(Y) </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전에 출원된 다른 특허출원</a:t>
            </a:r>
            <a:r>
              <a:rPr kumimoji="0" lang="en-US" altLang="ko-KR" sz="1600" b="0" i="0" u="none" strike="noStrike" kern="1200" cap="none" spc="0" normalizeH="0" baseline="0" noProof="0" dirty="0">
                <a:ln>
                  <a:noFill/>
                </a:ln>
                <a:solidFill>
                  <a:srgbClr val="44546A"/>
                </a:solidFill>
                <a:effectLst/>
                <a:uLnTx/>
                <a:uFillTx/>
                <a:latin typeface="Frutiger LT 65 Bold"/>
                <a:ea typeface="Rix모던고딕 B"/>
                <a:cs typeface="+mn-cs"/>
              </a:rPr>
              <a:t>(X)</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일 것</a:t>
            </a:r>
            <a:endParaRPr kumimoji="0" lang="en-US" altLang="ko-KR" sz="16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다른 특허출원일</a:t>
            </a:r>
            <a:r>
              <a:rPr kumimoji="0" lang="en-US" altLang="ko-KR" sz="1600" b="0" i="0" u="none" strike="noStrike" kern="1200" cap="none" spc="0" normalizeH="0" baseline="0" noProof="0" dirty="0">
                <a:ln>
                  <a:noFill/>
                </a:ln>
                <a:solidFill>
                  <a:srgbClr val="44546A"/>
                </a:solidFill>
                <a:effectLst/>
                <a:uLnTx/>
                <a:uFillTx/>
                <a:latin typeface="Frutiger LT 65 Bold"/>
                <a:ea typeface="Rix모던고딕 B"/>
                <a:cs typeface="+mn-cs"/>
              </a:rPr>
              <a:t>(X) </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후 그 특허출원</a:t>
            </a:r>
            <a:r>
              <a:rPr kumimoji="0" lang="en-US" altLang="ko-KR" sz="1600" b="0" i="0" u="none" strike="noStrike" kern="1200" cap="none" spc="0" normalizeH="0" baseline="0" noProof="0" dirty="0">
                <a:ln>
                  <a:noFill/>
                </a:ln>
                <a:solidFill>
                  <a:srgbClr val="44546A"/>
                </a:solidFill>
                <a:effectLst/>
                <a:uLnTx/>
                <a:uFillTx/>
                <a:latin typeface="Frutiger LT 65 Bold"/>
                <a:ea typeface="Rix모던고딕 B"/>
                <a:cs typeface="+mn-cs"/>
              </a:rPr>
              <a:t>(Y)</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이 있을 것 </a:t>
            </a:r>
          </a:p>
        </p:txBody>
      </p:sp>
      <p:sp>
        <p:nvSpPr>
          <p:cNvPr id="35" name="TextBox 34"/>
          <p:cNvSpPr txBox="1"/>
          <p:nvPr/>
        </p:nvSpPr>
        <p:spPr>
          <a:xfrm>
            <a:off x="7321174" y="2879217"/>
            <a:ext cx="4607141" cy="1235172"/>
          </a:xfrm>
          <a:prstGeom prst="rect">
            <a:avLst/>
          </a:prstGeom>
          <a:solidFill>
            <a:schemeClr val="bg1">
              <a:lumMod val="95000"/>
            </a:schemeClr>
          </a:solidFill>
          <a:ln>
            <a:solidFill>
              <a:schemeClr val="bg1">
                <a:lumMod val="50000"/>
              </a:schemeClr>
            </a:solidFill>
          </a:ln>
        </p:spPr>
        <p:txBody>
          <a:bodyPr wrap="square" rtlCol="0">
            <a:no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그 특허출원</a:t>
            </a:r>
            <a:r>
              <a:rPr kumimoji="0" lang="en-US" altLang="ko-KR" sz="1600" b="0" i="0" u="none" strike="noStrike" kern="1200" cap="none" spc="0" normalizeH="0" baseline="0" noProof="0" dirty="0">
                <a:ln>
                  <a:noFill/>
                </a:ln>
                <a:solidFill>
                  <a:srgbClr val="44546A"/>
                </a:solidFill>
                <a:effectLst/>
                <a:uLnTx/>
                <a:uFillTx/>
                <a:latin typeface="Frutiger LT 65 Bold"/>
                <a:ea typeface="Rix모던고딕 B"/>
                <a:cs typeface="+mn-cs"/>
              </a:rPr>
              <a:t>(Y) </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후에 </a:t>
            </a:r>
            <a:r>
              <a:rPr kumimoji="0" lang="ko-KR" altLang="en-US" sz="1600" b="0" i="0" u="none" strike="noStrike" kern="1200" cap="none" spc="0" normalizeH="0" baseline="0" noProof="0" dirty="0" err="1">
                <a:ln>
                  <a:noFill/>
                </a:ln>
                <a:solidFill>
                  <a:srgbClr val="44546A"/>
                </a:solidFill>
                <a:effectLst/>
                <a:uLnTx/>
                <a:uFillTx/>
                <a:latin typeface="Frutiger LT 65 Bold"/>
                <a:ea typeface="Rix모던고딕 B"/>
                <a:cs typeface="+mn-cs"/>
              </a:rPr>
              <a:t>출원공개나</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600" b="0" i="0" u="none" strike="noStrike" kern="1200" cap="none" spc="0" normalizeH="0" baseline="0" noProof="0" dirty="0" err="1">
                <a:ln>
                  <a:noFill/>
                </a:ln>
                <a:solidFill>
                  <a:srgbClr val="44546A"/>
                </a:solidFill>
                <a:effectLst/>
                <a:uLnTx/>
                <a:uFillTx/>
                <a:latin typeface="Frutiger LT 65 Bold"/>
                <a:ea typeface="Rix모던고딕 B"/>
                <a:cs typeface="+mn-cs"/>
              </a:rPr>
              <a:t>등록공고된</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 다른 특허출원</a:t>
            </a:r>
            <a:r>
              <a:rPr kumimoji="0" lang="en-US" altLang="ko-KR" sz="1600" b="0" i="0" u="none" strike="noStrike" kern="1200" cap="none" spc="0" normalizeH="0" baseline="0" noProof="0" dirty="0">
                <a:ln>
                  <a:noFill/>
                </a:ln>
                <a:solidFill>
                  <a:srgbClr val="44546A"/>
                </a:solidFill>
                <a:effectLst/>
                <a:uLnTx/>
                <a:uFillTx/>
                <a:latin typeface="Frutiger LT 65 Bold"/>
                <a:ea typeface="Rix모던고딕 B"/>
                <a:cs typeface="+mn-cs"/>
              </a:rPr>
              <a:t>(X)</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일 것</a:t>
            </a:r>
            <a:endParaRPr kumimoji="0" lang="en-US" altLang="ko-KR" sz="16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다른 특허출원</a:t>
            </a:r>
            <a:r>
              <a:rPr kumimoji="0" lang="en-US" altLang="ko-KR" sz="1600" b="0" i="0" u="none" strike="noStrike" kern="1200" cap="none" spc="0" normalizeH="0" baseline="0" noProof="0" dirty="0">
                <a:ln>
                  <a:noFill/>
                </a:ln>
                <a:solidFill>
                  <a:srgbClr val="44546A"/>
                </a:solidFill>
                <a:effectLst/>
                <a:uLnTx/>
                <a:uFillTx/>
                <a:latin typeface="Frutiger LT 65 Bold"/>
                <a:ea typeface="Rix모던고딕 B"/>
                <a:cs typeface="+mn-cs"/>
              </a:rPr>
              <a:t>(X)</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의 </a:t>
            </a:r>
            <a:r>
              <a:rPr kumimoji="0" lang="ko-KR" altLang="en-US" sz="1600" b="0" i="0" u="none" strike="noStrike" kern="1200" cap="none" spc="0" normalizeH="0" baseline="0" noProof="0" dirty="0" err="1">
                <a:ln>
                  <a:noFill/>
                </a:ln>
                <a:solidFill>
                  <a:srgbClr val="44546A"/>
                </a:solidFill>
                <a:effectLst/>
                <a:uLnTx/>
                <a:uFillTx/>
                <a:latin typeface="Frutiger LT 65 Bold"/>
                <a:ea typeface="Rix모던고딕 B"/>
                <a:cs typeface="+mn-cs"/>
              </a:rPr>
              <a:t>출원공개나</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600" b="0" i="0" u="none" strike="noStrike" kern="1200" cap="none" spc="0" normalizeH="0" baseline="0" noProof="0" dirty="0" err="1">
                <a:ln>
                  <a:noFill/>
                </a:ln>
                <a:solidFill>
                  <a:srgbClr val="44546A"/>
                </a:solidFill>
                <a:effectLst/>
                <a:uLnTx/>
                <a:uFillTx/>
                <a:latin typeface="Frutiger LT 65 Bold"/>
                <a:ea typeface="Rix모던고딕 B"/>
                <a:cs typeface="+mn-cs"/>
              </a:rPr>
              <a:t>등록공고</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 전에 그 특허출원</a:t>
            </a:r>
            <a:r>
              <a:rPr kumimoji="0" lang="en-US" altLang="ko-KR" sz="1600" b="0" i="0" u="none" strike="noStrike" kern="1200" cap="none" spc="0" normalizeH="0" baseline="0" noProof="0" dirty="0">
                <a:ln>
                  <a:noFill/>
                </a:ln>
                <a:solidFill>
                  <a:srgbClr val="44546A"/>
                </a:solidFill>
                <a:effectLst/>
                <a:uLnTx/>
                <a:uFillTx/>
                <a:latin typeface="Frutiger LT 65 Bold"/>
                <a:ea typeface="Rix모던고딕 B"/>
                <a:cs typeface="+mn-cs"/>
              </a:rPr>
              <a:t>(Y)</a:t>
            </a:r>
            <a:r>
              <a:rPr kumimoji="0" lang="ko-KR" altLang="en-US" sz="1600" b="0" i="0" u="none" strike="noStrike" kern="1200" cap="none" spc="0" normalizeH="0" baseline="0" noProof="0" dirty="0">
                <a:ln>
                  <a:noFill/>
                </a:ln>
                <a:solidFill>
                  <a:srgbClr val="44546A"/>
                </a:solidFill>
                <a:effectLst/>
                <a:uLnTx/>
                <a:uFillTx/>
                <a:latin typeface="Frutiger LT 65 Bold"/>
                <a:ea typeface="Rix모던고딕 B"/>
                <a:cs typeface="+mn-cs"/>
              </a:rPr>
              <a:t>이 있을 것</a:t>
            </a:r>
          </a:p>
        </p:txBody>
      </p:sp>
      <p:sp>
        <p:nvSpPr>
          <p:cNvPr id="61" name="자유형 60"/>
          <p:cNvSpPr/>
          <p:nvPr/>
        </p:nvSpPr>
        <p:spPr>
          <a:xfrm>
            <a:off x="5323839" y="1372889"/>
            <a:ext cx="1474364" cy="364501"/>
          </a:xfrm>
          <a:custGeom>
            <a:avLst/>
            <a:gdLst>
              <a:gd name="connsiteX0" fmla="*/ 7797800 w 7797800"/>
              <a:gd name="connsiteY0" fmla="*/ 1066800 h 1104900"/>
              <a:gd name="connsiteX1" fmla="*/ 7327900 w 7797800"/>
              <a:gd name="connsiteY1" fmla="*/ 0 h 1104900"/>
              <a:gd name="connsiteX2" fmla="*/ 0 w 7797800"/>
              <a:gd name="connsiteY2" fmla="*/ 0 h 1104900"/>
              <a:gd name="connsiteX3" fmla="*/ 0 w 7797800"/>
              <a:gd name="connsiteY3" fmla="*/ 1104900 h 1104900"/>
            </a:gdLst>
            <a:ahLst/>
            <a:cxnLst>
              <a:cxn ang="0">
                <a:pos x="connsiteX0" y="connsiteY0"/>
              </a:cxn>
              <a:cxn ang="0">
                <a:pos x="connsiteX1" y="connsiteY1"/>
              </a:cxn>
              <a:cxn ang="0">
                <a:pos x="connsiteX2" y="connsiteY2"/>
              </a:cxn>
              <a:cxn ang="0">
                <a:pos x="connsiteX3" y="connsiteY3"/>
              </a:cxn>
            </a:cxnLst>
            <a:rect l="l" t="t" r="r" b="b"/>
            <a:pathLst>
              <a:path w="7797800" h="1104900">
                <a:moveTo>
                  <a:pt x="7797800" y="1066800"/>
                </a:moveTo>
                <a:lnTo>
                  <a:pt x="7327900" y="0"/>
                </a:lnTo>
                <a:lnTo>
                  <a:pt x="0" y="0"/>
                </a:lnTo>
                <a:lnTo>
                  <a:pt x="0" y="1104900"/>
                </a:lnTo>
              </a:path>
            </a:pathLst>
          </a:custGeom>
          <a:pattFill prst="dkVert">
            <a:fgClr>
              <a:schemeClr val="accent5">
                <a:lumMod val="60000"/>
                <a:lumOff val="4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62" name="직선 연결선 61"/>
          <p:cNvCxnSpPr/>
          <p:nvPr/>
        </p:nvCxnSpPr>
        <p:spPr>
          <a:xfrm>
            <a:off x="5334222" y="1751031"/>
            <a:ext cx="260530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직사각형 63"/>
          <p:cNvSpPr/>
          <p:nvPr/>
        </p:nvSpPr>
        <p:spPr>
          <a:xfrm>
            <a:off x="6760767" y="1632314"/>
            <a:ext cx="1169836" cy="23743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특허출원일</a:t>
            </a:r>
          </a:p>
        </p:txBody>
      </p:sp>
      <p:cxnSp>
        <p:nvCxnSpPr>
          <p:cNvPr id="65" name="직선 연결선 64"/>
          <p:cNvCxnSpPr>
            <a:stCxn id="64" idx="2"/>
            <a:endCxn id="66" idx="0"/>
          </p:cNvCxnSpPr>
          <p:nvPr/>
        </p:nvCxnSpPr>
        <p:spPr>
          <a:xfrm>
            <a:off x="7345685" y="1869746"/>
            <a:ext cx="9890" cy="31584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6780547" y="2185594"/>
            <a:ext cx="1150056" cy="276999"/>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  </a:t>
            </a:r>
          </a:p>
        </p:txBody>
      </p:sp>
      <p:sp>
        <p:nvSpPr>
          <p:cNvPr id="70" name="TextBox 69"/>
          <p:cNvSpPr txBox="1"/>
          <p:nvPr/>
        </p:nvSpPr>
        <p:spPr>
          <a:xfrm>
            <a:off x="5336736" y="1111171"/>
            <a:ext cx="1441420" cy="200626"/>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특허출원일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전</a:t>
            </a:r>
          </a:p>
        </p:txBody>
      </p:sp>
      <p:cxnSp>
        <p:nvCxnSpPr>
          <p:cNvPr id="71" name="직선 연결선 70"/>
          <p:cNvCxnSpPr>
            <a:endCxn id="72" idx="0"/>
          </p:cNvCxnSpPr>
          <p:nvPr/>
        </p:nvCxnSpPr>
        <p:spPr>
          <a:xfrm>
            <a:off x="5731975" y="1780371"/>
            <a:ext cx="878" cy="16839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5111412" y="1948763"/>
            <a:ext cx="124288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다른 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  </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3" name="직사각형 72"/>
          <p:cNvSpPr/>
          <p:nvPr/>
        </p:nvSpPr>
        <p:spPr>
          <a:xfrm>
            <a:off x="5317455" y="1118710"/>
            <a:ext cx="90520" cy="6060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9" name="직사각형 8"/>
          <p:cNvSpPr/>
          <p:nvPr/>
        </p:nvSpPr>
        <p:spPr>
          <a:xfrm>
            <a:off x="5013789" y="1037689"/>
            <a:ext cx="3082247" cy="157757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5" name="자유형 14"/>
          <p:cNvSpPr/>
          <p:nvPr/>
        </p:nvSpPr>
        <p:spPr>
          <a:xfrm>
            <a:off x="10078948" y="1394875"/>
            <a:ext cx="1479479" cy="349745"/>
          </a:xfrm>
          <a:custGeom>
            <a:avLst/>
            <a:gdLst>
              <a:gd name="connsiteX0" fmla="*/ 0 w 1479479"/>
              <a:gd name="connsiteY0" fmla="*/ 482885 h 482885"/>
              <a:gd name="connsiteX1" fmla="*/ 215758 w 1479479"/>
              <a:gd name="connsiteY1" fmla="*/ 0 h 482885"/>
              <a:gd name="connsiteX2" fmla="*/ 1479479 w 1479479"/>
              <a:gd name="connsiteY2" fmla="*/ 0 h 482885"/>
              <a:gd name="connsiteX3" fmla="*/ 1479479 w 1479479"/>
              <a:gd name="connsiteY3" fmla="*/ 472611 h 482885"/>
            </a:gdLst>
            <a:ahLst/>
            <a:cxnLst>
              <a:cxn ang="0">
                <a:pos x="connsiteX0" y="connsiteY0"/>
              </a:cxn>
              <a:cxn ang="0">
                <a:pos x="connsiteX1" y="connsiteY1"/>
              </a:cxn>
              <a:cxn ang="0">
                <a:pos x="connsiteX2" y="connsiteY2"/>
              </a:cxn>
              <a:cxn ang="0">
                <a:pos x="connsiteX3" y="connsiteY3"/>
              </a:cxn>
            </a:cxnLst>
            <a:rect l="l" t="t" r="r" b="b"/>
            <a:pathLst>
              <a:path w="1479479" h="482885">
                <a:moveTo>
                  <a:pt x="0" y="482885"/>
                </a:moveTo>
                <a:lnTo>
                  <a:pt x="215758" y="0"/>
                </a:lnTo>
                <a:lnTo>
                  <a:pt x="1479479" y="0"/>
                </a:lnTo>
                <a:lnTo>
                  <a:pt x="1479479" y="472611"/>
                </a:lnTo>
              </a:path>
            </a:pathLst>
          </a:custGeom>
          <a:pattFill prst="dkHorz">
            <a:fgClr>
              <a:schemeClr val="accent2">
                <a:lumMod val="60000"/>
                <a:lumOff val="40000"/>
              </a:schemeClr>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86" name="직선 연결선 85"/>
          <p:cNvCxnSpPr/>
          <p:nvPr/>
        </p:nvCxnSpPr>
        <p:spPr>
          <a:xfrm>
            <a:off x="9170767" y="1751031"/>
            <a:ext cx="260530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직선 연결선 87"/>
          <p:cNvCxnSpPr>
            <a:endCxn id="89" idx="0"/>
          </p:cNvCxnSpPr>
          <p:nvPr/>
        </p:nvCxnSpPr>
        <p:spPr>
          <a:xfrm>
            <a:off x="11182230" y="1780371"/>
            <a:ext cx="9890" cy="181984"/>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TextBox 88"/>
          <p:cNvSpPr txBox="1"/>
          <p:nvPr/>
        </p:nvSpPr>
        <p:spPr>
          <a:xfrm>
            <a:off x="10617092" y="1962355"/>
            <a:ext cx="1150056" cy="276999"/>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  </a:t>
            </a:r>
          </a:p>
        </p:txBody>
      </p:sp>
      <p:cxnSp>
        <p:nvCxnSpPr>
          <p:cNvPr id="93" name="직선 연결선 92"/>
          <p:cNvCxnSpPr>
            <a:stCxn id="97" idx="2"/>
            <a:endCxn id="94" idx="0"/>
          </p:cNvCxnSpPr>
          <p:nvPr/>
        </p:nvCxnSpPr>
        <p:spPr>
          <a:xfrm>
            <a:off x="9568354" y="1869746"/>
            <a:ext cx="1044" cy="34690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94" name="TextBox 93"/>
          <p:cNvSpPr txBox="1"/>
          <p:nvPr/>
        </p:nvSpPr>
        <p:spPr>
          <a:xfrm>
            <a:off x="8947957" y="2216652"/>
            <a:ext cx="124288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다른 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  </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5" name="직사각형 94"/>
          <p:cNvSpPr/>
          <p:nvPr/>
        </p:nvSpPr>
        <p:spPr>
          <a:xfrm>
            <a:off x="9154000" y="1118710"/>
            <a:ext cx="90520" cy="6060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96" name="직사각형 95"/>
          <p:cNvSpPr/>
          <p:nvPr/>
        </p:nvSpPr>
        <p:spPr>
          <a:xfrm>
            <a:off x="8850334" y="1037689"/>
            <a:ext cx="3082247" cy="157757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97" name="직사각형 96"/>
          <p:cNvSpPr/>
          <p:nvPr/>
        </p:nvSpPr>
        <p:spPr>
          <a:xfrm>
            <a:off x="8983436" y="1632314"/>
            <a:ext cx="1169836" cy="23743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rIns="720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다른 특허출원일</a:t>
            </a:r>
          </a:p>
        </p:txBody>
      </p:sp>
      <p:sp>
        <p:nvSpPr>
          <p:cNvPr id="98" name="직사각형 97"/>
          <p:cNvSpPr/>
          <p:nvPr/>
        </p:nvSpPr>
        <p:spPr>
          <a:xfrm>
            <a:off x="11485085" y="1118710"/>
            <a:ext cx="90520" cy="6060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92" name="TextBox 91"/>
          <p:cNvSpPr txBox="1"/>
          <p:nvPr/>
        </p:nvSpPr>
        <p:spPr>
          <a:xfrm>
            <a:off x="10118501" y="1140936"/>
            <a:ext cx="1579278" cy="200626"/>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다른 특허출원일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후</a:t>
            </a:r>
          </a:p>
        </p:txBody>
      </p:sp>
      <p:sp>
        <p:nvSpPr>
          <p:cNvPr id="17" name="오른쪽 화살표 16"/>
          <p:cNvSpPr/>
          <p:nvPr/>
        </p:nvSpPr>
        <p:spPr>
          <a:xfrm>
            <a:off x="8301519" y="1436522"/>
            <a:ext cx="421241" cy="823484"/>
          </a:xfrm>
          <a:prstGeom prst="rightArrow">
            <a:avLst>
              <a:gd name="adj1" fmla="val 73495"/>
              <a:gd name="adj2" fmla="val 50000"/>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0" name="자유형 109"/>
          <p:cNvSpPr/>
          <p:nvPr/>
        </p:nvSpPr>
        <p:spPr>
          <a:xfrm>
            <a:off x="795895" y="3065203"/>
            <a:ext cx="1990073" cy="349745"/>
          </a:xfrm>
          <a:custGeom>
            <a:avLst/>
            <a:gdLst>
              <a:gd name="connsiteX0" fmla="*/ 0 w 1479479"/>
              <a:gd name="connsiteY0" fmla="*/ 482885 h 482885"/>
              <a:gd name="connsiteX1" fmla="*/ 215758 w 1479479"/>
              <a:gd name="connsiteY1" fmla="*/ 0 h 482885"/>
              <a:gd name="connsiteX2" fmla="*/ 1479479 w 1479479"/>
              <a:gd name="connsiteY2" fmla="*/ 0 h 482885"/>
              <a:gd name="connsiteX3" fmla="*/ 1479479 w 1479479"/>
              <a:gd name="connsiteY3" fmla="*/ 472611 h 482885"/>
            </a:gdLst>
            <a:ahLst/>
            <a:cxnLst>
              <a:cxn ang="0">
                <a:pos x="connsiteX0" y="connsiteY0"/>
              </a:cxn>
              <a:cxn ang="0">
                <a:pos x="connsiteX1" y="connsiteY1"/>
              </a:cxn>
              <a:cxn ang="0">
                <a:pos x="connsiteX2" y="connsiteY2"/>
              </a:cxn>
              <a:cxn ang="0">
                <a:pos x="connsiteX3" y="connsiteY3"/>
              </a:cxn>
            </a:cxnLst>
            <a:rect l="l" t="t" r="r" b="b"/>
            <a:pathLst>
              <a:path w="1479479" h="482885">
                <a:moveTo>
                  <a:pt x="0" y="482885"/>
                </a:moveTo>
                <a:lnTo>
                  <a:pt x="215758" y="0"/>
                </a:lnTo>
                <a:lnTo>
                  <a:pt x="1479479" y="0"/>
                </a:lnTo>
                <a:lnTo>
                  <a:pt x="1479479" y="472611"/>
                </a:lnTo>
              </a:path>
            </a:pathLst>
          </a:custGeom>
          <a:pattFill prst="dkVert">
            <a:fgClr>
              <a:schemeClr val="accent1"/>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11" name="직선 연결선 110"/>
          <p:cNvCxnSpPr/>
          <p:nvPr/>
        </p:nvCxnSpPr>
        <p:spPr>
          <a:xfrm>
            <a:off x="398308" y="3421358"/>
            <a:ext cx="260530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직선 연결선 111"/>
          <p:cNvCxnSpPr>
            <a:endCxn id="113" idx="0"/>
          </p:cNvCxnSpPr>
          <p:nvPr/>
        </p:nvCxnSpPr>
        <p:spPr>
          <a:xfrm>
            <a:off x="2409771" y="3450698"/>
            <a:ext cx="9890" cy="181984"/>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13" name="TextBox 112"/>
          <p:cNvSpPr txBox="1"/>
          <p:nvPr/>
        </p:nvSpPr>
        <p:spPr>
          <a:xfrm>
            <a:off x="1844633" y="3632682"/>
            <a:ext cx="1150056" cy="461665"/>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출원공개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등록공고</a:t>
            </a:r>
            <a:r>
              <a:rPr kumimoji="0" lang="en-US" altLang="ko-KR" sz="1200" b="0" i="0" u="none" strike="noStrike" kern="1200" cap="none" spc="0" normalizeH="0" baseline="0" noProof="0">
                <a:ln>
                  <a:noFill/>
                </a:ln>
                <a:solidFill>
                  <a:prstClr val="black"/>
                </a:solidFill>
                <a:effectLst/>
                <a:uLnTx/>
                <a:uFillTx/>
                <a:latin typeface="Frutiger LT 65 Bold"/>
                <a:ea typeface="Rix모던고딕 B"/>
                <a:cs typeface="+mn-cs"/>
              </a:rPr>
              <a:t>(X)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14" name="직선 연결선 113"/>
          <p:cNvCxnSpPr>
            <a:stCxn id="118" idx="2"/>
            <a:endCxn id="115" idx="0"/>
          </p:cNvCxnSpPr>
          <p:nvPr/>
        </p:nvCxnSpPr>
        <p:spPr>
          <a:xfrm>
            <a:off x="795895" y="3540073"/>
            <a:ext cx="1044" cy="34690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15" name="TextBox 114"/>
          <p:cNvSpPr txBox="1"/>
          <p:nvPr/>
        </p:nvSpPr>
        <p:spPr>
          <a:xfrm>
            <a:off x="175498" y="3886979"/>
            <a:ext cx="124288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 </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6" name="직사각형 115"/>
          <p:cNvSpPr/>
          <p:nvPr/>
        </p:nvSpPr>
        <p:spPr>
          <a:xfrm>
            <a:off x="381541" y="2789037"/>
            <a:ext cx="90520" cy="6060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7" name="직사각형 116"/>
          <p:cNvSpPr/>
          <p:nvPr/>
        </p:nvSpPr>
        <p:spPr>
          <a:xfrm>
            <a:off x="77875" y="2708016"/>
            <a:ext cx="3082247" cy="157757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8" name="직사각형 117"/>
          <p:cNvSpPr/>
          <p:nvPr/>
        </p:nvSpPr>
        <p:spPr>
          <a:xfrm>
            <a:off x="210977" y="3302641"/>
            <a:ext cx="1169836" cy="23743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특허출원일</a:t>
            </a:r>
          </a:p>
        </p:txBody>
      </p:sp>
      <p:sp>
        <p:nvSpPr>
          <p:cNvPr id="119" name="직사각형 118"/>
          <p:cNvSpPr/>
          <p:nvPr/>
        </p:nvSpPr>
        <p:spPr>
          <a:xfrm>
            <a:off x="2712626" y="2789037"/>
            <a:ext cx="90520" cy="6060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20" name="TextBox 119"/>
          <p:cNvSpPr txBox="1"/>
          <p:nvPr/>
        </p:nvSpPr>
        <p:spPr>
          <a:xfrm>
            <a:off x="1253575" y="2811263"/>
            <a:ext cx="1303562" cy="234986"/>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후</a:t>
            </a:r>
          </a:p>
        </p:txBody>
      </p:sp>
      <p:sp>
        <p:nvSpPr>
          <p:cNvPr id="121" name="오른쪽 화살표 120"/>
          <p:cNvSpPr/>
          <p:nvPr/>
        </p:nvSpPr>
        <p:spPr>
          <a:xfrm>
            <a:off x="3365605" y="3106850"/>
            <a:ext cx="421241" cy="823484"/>
          </a:xfrm>
          <a:prstGeom prst="rightArrow">
            <a:avLst>
              <a:gd name="adj1" fmla="val 73495"/>
              <a:gd name="adj2" fmla="val 50000"/>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22" name="자유형 121"/>
          <p:cNvSpPr/>
          <p:nvPr/>
        </p:nvSpPr>
        <p:spPr>
          <a:xfrm>
            <a:off x="4249838" y="3045981"/>
            <a:ext cx="1965683" cy="364501"/>
          </a:xfrm>
          <a:custGeom>
            <a:avLst/>
            <a:gdLst>
              <a:gd name="connsiteX0" fmla="*/ 7797800 w 7797800"/>
              <a:gd name="connsiteY0" fmla="*/ 1066800 h 1104900"/>
              <a:gd name="connsiteX1" fmla="*/ 7327900 w 7797800"/>
              <a:gd name="connsiteY1" fmla="*/ 0 h 1104900"/>
              <a:gd name="connsiteX2" fmla="*/ 0 w 7797800"/>
              <a:gd name="connsiteY2" fmla="*/ 0 h 1104900"/>
              <a:gd name="connsiteX3" fmla="*/ 0 w 7797800"/>
              <a:gd name="connsiteY3" fmla="*/ 1104900 h 1104900"/>
            </a:gdLst>
            <a:ahLst/>
            <a:cxnLst>
              <a:cxn ang="0">
                <a:pos x="connsiteX0" y="connsiteY0"/>
              </a:cxn>
              <a:cxn ang="0">
                <a:pos x="connsiteX1" y="connsiteY1"/>
              </a:cxn>
              <a:cxn ang="0">
                <a:pos x="connsiteX2" y="connsiteY2"/>
              </a:cxn>
              <a:cxn ang="0">
                <a:pos x="connsiteX3" y="connsiteY3"/>
              </a:cxn>
            </a:cxnLst>
            <a:rect l="l" t="t" r="r" b="b"/>
            <a:pathLst>
              <a:path w="7797800" h="1104900">
                <a:moveTo>
                  <a:pt x="7797800" y="1066800"/>
                </a:moveTo>
                <a:lnTo>
                  <a:pt x="7327900" y="0"/>
                </a:lnTo>
                <a:lnTo>
                  <a:pt x="0" y="0"/>
                </a:lnTo>
                <a:lnTo>
                  <a:pt x="0" y="1104900"/>
                </a:lnTo>
              </a:path>
            </a:pathLst>
          </a:custGeom>
          <a:pattFill prst="ltHorz">
            <a:fgClr>
              <a:schemeClr val="accent2"/>
            </a:fgClr>
            <a:bgClr>
              <a:schemeClr val="bg1"/>
            </a:bgClr>
          </a:patt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123" name="직선 연결선 122"/>
          <p:cNvCxnSpPr/>
          <p:nvPr/>
        </p:nvCxnSpPr>
        <p:spPr>
          <a:xfrm>
            <a:off x="4260222" y="3424123"/>
            <a:ext cx="260530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4" name="직사각형 123"/>
          <p:cNvSpPr/>
          <p:nvPr/>
        </p:nvSpPr>
        <p:spPr>
          <a:xfrm>
            <a:off x="5376876" y="3305406"/>
            <a:ext cx="1579950" cy="23743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출원공개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등록공고일</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7" name="TextBox 126"/>
          <p:cNvSpPr txBox="1"/>
          <p:nvPr/>
        </p:nvSpPr>
        <p:spPr>
          <a:xfrm>
            <a:off x="4324377" y="2784262"/>
            <a:ext cx="1733167" cy="234986"/>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출원공개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등록공고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전</a:t>
            </a:r>
          </a:p>
        </p:txBody>
      </p:sp>
      <p:cxnSp>
        <p:nvCxnSpPr>
          <p:cNvPr id="128" name="직선 연결선 127"/>
          <p:cNvCxnSpPr>
            <a:endCxn id="129" idx="0"/>
          </p:cNvCxnSpPr>
          <p:nvPr/>
        </p:nvCxnSpPr>
        <p:spPr>
          <a:xfrm>
            <a:off x="4657975" y="3453462"/>
            <a:ext cx="878" cy="16839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29" name="TextBox 128"/>
          <p:cNvSpPr txBox="1"/>
          <p:nvPr/>
        </p:nvSpPr>
        <p:spPr>
          <a:xfrm>
            <a:off x="4037412" y="3621855"/>
            <a:ext cx="124288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특허출원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 </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0" name="직사각형 129"/>
          <p:cNvSpPr/>
          <p:nvPr/>
        </p:nvSpPr>
        <p:spPr>
          <a:xfrm>
            <a:off x="4243455" y="2791802"/>
            <a:ext cx="90520" cy="6060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31" name="직사각형 130"/>
          <p:cNvSpPr/>
          <p:nvPr/>
        </p:nvSpPr>
        <p:spPr>
          <a:xfrm>
            <a:off x="3939789" y="2710781"/>
            <a:ext cx="3082247" cy="157757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32" name="직선 연결선 131"/>
          <p:cNvCxnSpPr>
            <a:endCxn id="133" idx="0"/>
          </p:cNvCxnSpPr>
          <p:nvPr/>
        </p:nvCxnSpPr>
        <p:spPr>
          <a:xfrm>
            <a:off x="6215522" y="3537855"/>
            <a:ext cx="9890" cy="181985"/>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33" name="TextBox 132"/>
          <p:cNvSpPr txBox="1"/>
          <p:nvPr/>
        </p:nvSpPr>
        <p:spPr>
          <a:xfrm>
            <a:off x="5650384" y="3719840"/>
            <a:ext cx="1150056" cy="461665"/>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출원공개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등록공고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 </a:t>
            </a:r>
          </a:p>
        </p:txBody>
      </p:sp>
      <p:cxnSp>
        <p:nvCxnSpPr>
          <p:cNvPr id="134" name="직선 연결선 133"/>
          <p:cNvCxnSpPr/>
          <p:nvPr/>
        </p:nvCxnSpPr>
        <p:spPr>
          <a:xfrm flipV="1">
            <a:off x="77875" y="4410732"/>
            <a:ext cx="12014808" cy="1743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5" name="자유형 134"/>
          <p:cNvSpPr/>
          <p:nvPr/>
        </p:nvSpPr>
        <p:spPr>
          <a:xfrm>
            <a:off x="3719244" y="4798036"/>
            <a:ext cx="6256746" cy="832207"/>
          </a:xfrm>
          <a:custGeom>
            <a:avLst/>
            <a:gdLst>
              <a:gd name="connsiteX0" fmla="*/ 0 w 6318607"/>
              <a:gd name="connsiteY0" fmla="*/ 832207 h 832207"/>
              <a:gd name="connsiteX1" fmla="*/ 277402 w 6318607"/>
              <a:gd name="connsiteY1" fmla="*/ 0 h 832207"/>
              <a:gd name="connsiteX2" fmla="*/ 6010382 w 6318607"/>
              <a:gd name="connsiteY2" fmla="*/ 0 h 832207"/>
              <a:gd name="connsiteX3" fmla="*/ 6318607 w 6318607"/>
              <a:gd name="connsiteY3" fmla="*/ 791110 h 832207"/>
            </a:gdLst>
            <a:ahLst/>
            <a:cxnLst>
              <a:cxn ang="0">
                <a:pos x="connsiteX0" y="connsiteY0"/>
              </a:cxn>
              <a:cxn ang="0">
                <a:pos x="connsiteX1" y="connsiteY1"/>
              </a:cxn>
              <a:cxn ang="0">
                <a:pos x="connsiteX2" y="connsiteY2"/>
              </a:cxn>
              <a:cxn ang="0">
                <a:pos x="connsiteX3" y="connsiteY3"/>
              </a:cxn>
            </a:cxnLst>
            <a:rect l="l" t="t" r="r" b="b"/>
            <a:pathLst>
              <a:path w="6318607" h="832207">
                <a:moveTo>
                  <a:pt x="0" y="832207"/>
                </a:moveTo>
                <a:lnTo>
                  <a:pt x="277402" y="0"/>
                </a:lnTo>
                <a:lnTo>
                  <a:pt x="6010382" y="0"/>
                </a:lnTo>
                <a:lnTo>
                  <a:pt x="6318607" y="791110"/>
                </a:lnTo>
              </a:path>
            </a:pathLst>
          </a:custGeom>
          <a:pattFill prst="ltHorz">
            <a:fgClr>
              <a:schemeClr val="accent2"/>
            </a:fgClr>
            <a:bgClr>
              <a:schemeClr val="bg1"/>
            </a:bgClr>
          </a:pattFill>
          <a:ln>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36" name="직선 연결선 135"/>
          <p:cNvCxnSpPr/>
          <p:nvPr/>
        </p:nvCxnSpPr>
        <p:spPr>
          <a:xfrm>
            <a:off x="1656739" y="5634420"/>
            <a:ext cx="906753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7" name="직사각형 136"/>
          <p:cNvSpPr/>
          <p:nvPr/>
        </p:nvSpPr>
        <p:spPr>
          <a:xfrm>
            <a:off x="1167003" y="5417971"/>
            <a:ext cx="2626056" cy="43289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다른 특허출원일</a:t>
            </a:r>
            <a:endParaRPr kumimoji="0" lang="ko-KR" altLang="en-US" sz="2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38" name="직선 연결선 137"/>
          <p:cNvCxnSpPr>
            <a:stCxn id="137" idx="2"/>
            <a:endCxn id="139" idx="2"/>
          </p:cNvCxnSpPr>
          <p:nvPr/>
        </p:nvCxnSpPr>
        <p:spPr>
          <a:xfrm>
            <a:off x="2480031" y="5850869"/>
            <a:ext cx="5856" cy="619935"/>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39" name="TextBox 138"/>
          <p:cNvSpPr txBox="1"/>
          <p:nvPr/>
        </p:nvSpPr>
        <p:spPr>
          <a:xfrm>
            <a:off x="1766237" y="6163027"/>
            <a:ext cx="1439300" cy="307777"/>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다른 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43" name="직사각형 142"/>
          <p:cNvSpPr/>
          <p:nvPr/>
        </p:nvSpPr>
        <p:spPr>
          <a:xfrm>
            <a:off x="8584297" y="5417971"/>
            <a:ext cx="2626056" cy="43289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0" i="0" u="none" strike="noStrike" kern="1200" cap="none" spc="0" normalizeH="0" baseline="0" noProof="0" dirty="0" err="1">
                <a:ln>
                  <a:noFill/>
                </a:ln>
                <a:solidFill>
                  <a:prstClr val="black"/>
                </a:solidFill>
                <a:effectLst/>
                <a:uLnTx/>
                <a:uFillTx/>
                <a:latin typeface="Frutiger LT 65 Bold"/>
                <a:ea typeface="Rix모던고딕 B"/>
                <a:cs typeface="+mn-cs"/>
              </a:rPr>
              <a:t>출원공개</a:t>
            </a: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2000" b="0" i="0" u="none" strike="noStrike" kern="1200" cap="none" spc="0" normalizeH="0" baseline="0" noProof="0" dirty="0" err="1">
                <a:ln>
                  <a:noFill/>
                </a:ln>
                <a:solidFill>
                  <a:prstClr val="black"/>
                </a:solidFill>
                <a:effectLst/>
                <a:uLnTx/>
                <a:uFillTx/>
                <a:latin typeface="Frutiger LT 65 Bold"/>
                <a:ea typeface="Rix모던고딕 B"/>
                <a:cs typeface="+mn-cs"/>
              </a:rPr>
              <a:t>등록공고일</a:t>
            </a:r>
            <a:endParaRPr kumimoji="0" lang="ko-KR" altLang="en-US" sz="2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44" name="직선 연결선 143"/>
          <p:cNvCxnSpPr>
            <a:stCxn id="143" idx="2"/>
            <a:endCxn id="145" idx="2"/>
          </p:cNvCxnSpPr>
          <p:nvPr/>
        </p:nvCxnSpPr>
        <p:spPr>
          <a:xfrm>
            <a:off x="9897325" y="5850869"/>
            <a:ext cx="5856" cy="619935"/>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45" name="TextBox 144"/>
          <p:cNvSpPr txBox="1"/>
          <p:nvPr/>
        </p:nvSpPr>
        <p:spPr>
          <a:xfrm>
            <a:off x="8915755" y="6163027"/>
            <a:ext cx="1974852" cy="307777"/>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출원공개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등록공고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49" name="직선 연결선 148"/>
          <p:cNvCxnSpPr>
            <a:endCxn id="150" idx="0"/>
          </p:cNvCxnSpPr>
          <p:nvPr/>
        </p:nvCxnSpPr>
        <p:spPr>
          <a:xfrm>
            <a:off x="6606170" y="5675443"/>
            <a:ext cx="0" cy="44480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50" name="TextBox 149"/>
          <p:cNvSpPr txBox="1"/>
          <p:nvPr/>
        </p:nvSpPr>
        <p:spPr>
          <a:xfrm>
            <a:off x="5876592" y="6120249"/>
            <a:ext cx="1459156" cy="307777"/>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그 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87</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31945586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3</a:t>
            </a:r>
            <a:r>
              <a:rPr lang="ko-KR" altLang="en-US" dirty="0"/>
              <a:t>항</a:t>
            </a:r>
          </a:p>
        </p:txBody>
      </p:sp>
      <p:sp>
        <p:nvSpPr>
          <p:cNvPr id="4" name="텍스트 개체 틀 3"/>
          <p:cNvSpPr>
            <a:spLocks noGrp="1"/>
          </p:cNvSpPr>
          <p:nvPr>
            <p:ph type="body" sz="quarter" idx="13"/>
          </p:nvPr>
        </p:nvSpPr>
        <p:spPr/>
        <p:txBody>
          <a:bodyPr/>
          <a:lstStyle/>
          <a:p>
            <a:r>
              <a:rPr lang="ko-KR" altLang="en-US" dirty="0"/>
              <a:t>객체적 기준</a:t>
            </a:r>
          </a:p>
        </p:txBody>
      </p:sp>
      <p:sp>
        <p:nvSpPr>
          <p:cNvPr id="63" name="직사각형 62"/>
          <p:cNvSpPr/>
          <p:nvPr/>
        </p:nvSpPr>
        <p:spPr>
          <a:xfrm>
            <a:off x="298061" y="1150706"/>
            <a:ext cx="5506837" cy="1027415"/>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최초란</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출원할 때 처음으로 첨부된 것을 기준으로 한다는 의미이며</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보정을 했을 때 </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판단대상을</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 결정하는 기준</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이 된다</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구체적으로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최초 단어가 있으면 보정과 상관없이 가장 처음 첨부된 것을 기준으로 판단하고</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최초 단어가 없으면 보정했을 때 가장 나중 것을 기준으로 판단한다</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cxnSp>
        <p:nvCxnSpPr>
          <p:cNvPr id="67" name="직선 연결선 66"/>
          <p:cNvCxnSpPr/>
          <p:nvPr/>
        </p:nvCxnSpPr>
        <p:spPr>
          <a:xfrm>
            <a:off x="6097412" y="965770"/>
            <a:ext cx="0" cy="536311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직선 연결선 78"/>
          <p:cNvCxnSpPr/>
          <p:nvPr/>
        </p:nvCxnSpPr>
        <p:spPr>
          <a:xfrm>
            <a:off x="521738" y="4557866"/>
            <a:ext cx="4029711"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 name="직선 연결선 10"/>
          <p:cNvCxnSpPr/>
          <p:nvPr/>
        </p:nvCxnSpPr>
        <p:spPr>
          <a:xfrm>
            <a:off x="1643864" y="3037227"/>
            <a:ext cx="0" cy="2085654"/>
          </a:xfrm>
          <a:prstGeom prst="line">
            <a:avLst/>
          </a:prstGeom>
          <a:ln w="28575">
            <a:solidFill>
              <a:srgbClr val="FF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직선 연결선 79"/>
          <p:cNvCxnSpPr/>
          <p:nvPr/>
        </p:nvCxnSpPr>
        <p:spPr>
          <a:xfrm>
            <a:off x="3472664" y="3037227"/>
            <a:ext cx="0" cy="2085654"/>
          </a:xfrm>
          <a:prstGeom prst="line">
            <a:avLst/>
          </a:prstGeom>
          <a:ln w="28575">
            <a:solidFill>
              <a:srgbClr val="FF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직선 연결선 15"/>
          <p:cNvCxnSpPr/>
          <p:nvPr/>
        </p:nvCxnSpPr>
        <p:spPr>
          <a:xfrm>
            <a:off x="667817" y="4116015"/>
            <a:ext cx="4027470" cy="0"/>
          </a:xfrm>
          <a:prstGeom prst="line">
            <a:avLst/>
          </a:prstGeom>
          <a:ln w="38100">
            <a:solidFill>
              <a:schemeClr val="accent4"/>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직선 연결선 82"/>
          <p:cNvCxnSpPr/>
          <p:nvPr/>
        </p:nvCxnSpPr>
        <p:spPr>
          <a:xfrm>
            <a:off x="667817" y="3674226"/>
            <a:ext cx="4027470" cy="0"/>
          </a:xfrm>
          <a:prstGeom prst="line">
            <a:avLst/>
          </a:prstGeom>
          <a:ln w="38100">
            <a:solidFill>
              <a:schemeClr val="accent4"/>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직사각형 73"/>
          <p:cNvSpPr/>
          <p:nvPr/>
        </p:nvSpPr>
        <p:spPr>
          <a:xfrm>
            <a:off x="1055925" y="3458468"/>
            <a:ext cx="1185426" cy="442204"/>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최초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청구범위</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5" name="직사각형 74"/>
          <p:cNvSpPr/>
          <p:nvPr/>
        </p:nvSpPr>
        <p:spPr>
          <a:xfrm>
            <a:off x="1055925" y="3900674"/>
            <a:ext cx="1185426" cy="442204"/>
          </a:xfrm>
          <a:prstGeom prst="rect">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최초 명세서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도면</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7" name="직사각형 76"/>
          <p:cNvSpPr/>
          <p:nvPr/>
        </p:nvSpPr>
        <p:spPr>
          <a:xfrm>
            <a:off x="2884571" y="3458468"/>
            <a:ext cx="1185426" cy="442204"/>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청구범위</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8" name="직사각형 77"/>
          <p:cNvSpPr/>
          <p:nvPr/>
        </p:nvSpPr>
        <p:spPr>
          <a:xfrm>
            <a:off x="2884571" y="3900674"/>
            <a:ext cx="1185426" cy="442204"/>
          </a:xfrm>
          <a:prstGeom prst="rect">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명세서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도면</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9" name="TextBox 68"/>
          <p:cNvSpPr txBox="1"/>
          <p:nvPr/>
        </p:nvSpPr>
        <p:spPr>
          <a:xfrm>
            <a:off x="1055928" y="4418489"/>
            <a:ext cx="1185422" cy="307777"/>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6" name="TextBox 75"/>
          <p:cNvSpPr txBox="1"/>
          <p:nvPr/>
        </p:nvSpPr>
        <p:spPr>
          <a:xfrm>
            <a:off x="2884574" y="4418489"/>
            <a:ext cx="1185422" cy="307777"/>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보정</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4" name="TextBox 83"/>
          <p:cNvSpPr txBox="1"/>
          <p:nvPr/>
        </p:nvSpPr>
        <p:spPr>
          <a:xfrm>
            <a:off x="883874" y="2817441"/>
            <a:ext cx="1519980" cy="338554"/>
          </a:xfrm>
          <a:prstGeom prst="rect">
            <a:avLst/>
          </a:prstGeom>
          <a:solidFill>
            <a:schemeClr val="bg1"/>
          </a:solid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최초 존재</a:t>
            </a:r>
            <a:endPar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140" name="TextBox 139"/>
          <p:cNvSpPr txBox="1"/>
          <p:nvPr/>
        </p:nvSpPr>
        <p:spPr>
          <a:xfrm>
            <a:off x="2696619" y="2817441"/>
            <a:ext cx="1519980" cy="338554"/>
          </a:xfrm>
          <a:prstGeom prst="rect">
            <a:avLst/>
          </a:prstGeom>
          <a:solidFill>
            <a:schemeClr val="bg1"/>
          </a:solid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최초 </a:t>
            </a:r>
            <a:r>
              <a:rPr kumimoji="0" lang="ko-KR" altLang="en-US" sz="1600" b="0" i="0" u="none" strike="noStrike" kern="1200" cap="none" spc="0" normalizeH="0" baseline="0" noProof="0" dirty="0" err="1">
                <a:ln>
                  <a:noFill/>
                </a:ln>
                <a:solidFill>
                  <a:srgbClr val="FF0000"/>
                </a:solidFill>
                <a:effectLst/>
                <a:uLnTx/>
                <a:uFillTx/>
                <a:latin typeface="Frutiger LT 65 Bold"/>
                <a:ea typeface="Rix모던고딕 B"/>
                <a:cs typeface="+mn-cs"/>
              </a:rPr>
              <a:t>부존재</a:t>
            </a:r>
            <a:endPar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141" name="TextBox 140"/>
          <p:cNvSpPr txBox="1"/>
          <p:nvPr/>
        </p:nvSpPr>
        <p:spPr>
          <a:xfrm>
            <a:off x="4513045" y="3536287"/>
            <a:ext cx="1251052" cy="338554"/>
          </a:xfrm>
          <a:prstGeom prst="rect">
            <a:avLst/>
          </a:prstGeom>
          <a:solidFill>
            <a:schemeClr val="bg1"/>
          </a:solid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err="1">
                <a:ln>
                  <a:noFill/>
                </a:ln>
                <a:solidFill>
                  <a:srgbClr val="FF0000"/>
                </a:solidFill>
                <a:effectLst/>
                <a:uLnTx/>
                <a:uFillTx/>
                <a:latin typeface="Frutiger LT 65 Bold"/>
                <a:ea typeface="Rix모던고딕 B"/>
                <a:cs typeface="+mn-cs"/>
              </a:rPr>
              <a:t>청구범위</a:t>
            </a:r>
            <a:endPar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142" name="TextBox 141"/>
          <p:cNvSpPr txBox="1"/>
          <p:nvPr/>
        </p:nvSpPr>
        <p:spPr>
          <a:xfrm>
            <a:off x="4513045" y="3951374"/>
            <a:ext cx="1251052" cy="338554"/>
          </a:xfrm>
          <a:prstGeom prst="rect">
            <a:avLst/>
          </a:prstGeom>
          <a:solidFill>
            <a:schemeClr val="bg1"/>
          </a:solid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명세서</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도면</a:t>
            </a:r>
            <a:endPar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147" name="직선 연결선 146"/>
          <p:cNvCxnSpPr/>
          <p:nvPr/>
        </p:nvCxnSpPr>
        <p:spPr>
          <a:xfrm>
            <a:off x="6618312" y="2172361"/>
            <a:ext cx="539217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8" name="직사각형 147"/>
          <p:cNvSpPr/>
          <p:nvPr/>
        </p:nvSpPr>
        <p:spPr>
          <a:xfrm>
            <a:off x="6453860" y="1376737"/>
            <a:ext cx="839823" cy="24117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 B(★2)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1" name="직사각형 150"/>
          <p:cNvSpPr/>
          <p:nvPr/>
        </p:nvSpPr>
        <p:spPr>
          <a:xfrm>
            <a:off x="6453860" y="1613463"/>
            <a:ext cx="839823" cy="241170"/>
          </a:xfrm>
          <a:prstGeom prst="rect">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 B, C(★1)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2" name="직사각형 151"/>
          <p:cNvSpPr/>
          <p:nvPr/>
        </p:nvSpPr>
        <p:spPr>
          <a:xfrm>
            <a:off x="7574718" y="1376737"/>
            <a:ext cx="839823" cy="24117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C(▲2)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3" name="직사각형 152"/>
          <p:cNvSpPr/>
          <p:nvPr/>
        </p:nvSpPr>
        <p:spPr>
          <a:xfrm>
            <a:off x="7574718" y="1613463"/>
            <a:ext cx="839823" cy="241170"/>
          </a:xfrm>
          <a:prstGeom prst="rect">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B, C(▲1)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4" name="TextBox 153"/>
          <p:cNvSpPr txBox="1"/>
          <p:nvPr/>
        </p:nvSpPr>
        <p:spPr>
          <a:xfrm>
            <a:off x="6453862" y="2032984"/>
            <a:ext cx="839820" cy="261610"/>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甲 출원</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5" name="TextBox 154"/>
          <p:cNvSpPr txBox="1"/>
          <p:nvPr/>
        </p:nvSpPr>
        <p:spPr>
          <a:xfrm>
            <a:off x="7574720" y="2032984"/>
            <a:ext cx="839820" cy="261610"/>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乙 출원</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6" name="직사각형 155"/>
          <p:cNvSpPr/>
          <p:nvPr/>
        </p:nvSpPr>
        <p:spPr>
          <a:xfrm>
            <a:off x="8658633" y="1376737"/>
            <a:ext cx="839823" cy="24117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C(■2)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7" name="직사각형 156"/>
          <p:cNvSpPr/>
          <p:nvPr/>
        </p:nvSpPr>
        <p:spPr>
          <a:xfrm>
            <a:off x="8658633" y="1613463"/>
            <a:ext cx="839823" cy="241170"/>
          </a:xfrm>
          <a:prstGeom prst="rect">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B, C(■1)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8" name="직사각형 157"/>
          <p:cNvSpPr/>
          <p:nvPr/>
        </p:nvSpPr>
        <p:spPr>
          <a:xfrm>
            <a:off x="9779491" y="1376737"/>
            <a:ext cx="839823" cy="24117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B(◆2)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9" name="직사각형 158"/>
          <p:cNvSpPr/>
          <p:nvPr/>
        </p:nvSpPr>
        <p:spPr>
          <a:xfrm>
            <a:off x="9779491" y="1613463"/>
            <a:ext cx="839823" cy="241170"/>
          </a:xfrm>
          <a:prstGeom prst="rect">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B(◆1)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60" name="TextBox 159"/>
          <p:cNvSpPr txBox="1"/>
          <p:nvPr/>
        </p:nvSpPr>
        <p:spPr>
          <a:xfrm>
            <a:off x="8658635" y="2032984"/>
            <a:ext cx="839820" cy="261610"/>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보정</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61" name="TextBox 160"/>
          <p:cNvSpPr txBox="1"/>
          <p:nvPr/>
        </p:nvSpPr>
        <p:spPr>
          <a:xfrm>
            <a:off x="9779493" y="2032984"/>
            <a:ext cx="839820" cy="261610"/>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보정</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64" name="TextBox 163"/>
          <p:cNvSpPr txBox="1"/>
          <p:nvPr/>
        </p:nvSpPr>
        <p:spPr>
          <a:xfrm>
            <a:off x="10872804" y="2032984"/>
            <a:ext cx="839820" cy="261610"/>
          </a:xfrm>
          <a:prstGeom prst="rect">
            <a:avLst/>
          </a:prstGeom>
          <a:solidFill>
            <a:schemeClr val="accent1">
              <a:lumMod val="40000"/>
              <a:lumOff val="6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공개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aphicFrame>
        <p:nvGraphicFramePr>
          <p:cNvPr id="165" name="표 164"/>
          <p:cNvGraphicFramePr>
            <a:graphicFrameLocks noGrp="1"/>
          </p:cNvGraphicFramePr>
          <p:nvPr/>
        </p:nvGraphicFramePr>
        <p:xfrm>
          <a:off x="6453860" y="2789426"/>
          <a:ext cx="5556630" cy="903845"/>
        </p:xfrm>
        <a:graphic>
          <a:graphicData uri="http://schemas.openxmlformats.org/drawingml/2006/table">
            <a:tbl>
              <a:tblPr firstRow="1">
                <a:tableStyleId>{8799B23B-EC83-4686-B30A-512413B5E67A}</a:tableStyleId>
              </a:tblPr>
              <a:tblGrid>
                <a:gridCol w="1852210">
                  <a:extLst>
                    <a:ext uri="{9D8B030D-6E8A-4147-A177-3AD203B41FA5}">
                      <a16:colId xmlns:a16="http://schemas.microsoft.com/office/drawing/2014/main" val="20000"/>
                    </a:ext>
                  </a:extLst>
                </a:gridCol>
                <a:gridCol w="1852210">
                  <a:extLst>
                    <a:ext uri="{9D8B030D-6E8A-4147-A177-3AD203B41FA5}">
                      <a16:colId xmlns:a16="http://schemas.microsoft.com/office/drawing/2014/main" val="20001"/>
                    </a:ext>
                  </a:extLst>
                </a:gridCol>
                <a:gridCol w="1852210">
                  <a:extLst>
                    <a:ext uri="{9D8B030D-6E8A-4147-A177-3AD203B41FA5}">
                      <a16:colId xmlns:a16="http://schemas.microsoft.com/office/drawing/2014/main" val="20002"/>
                    </a:ext>
                  </a:extLst>
                </a:gridCol>
              </a:tblGrid>
              <a:tr h="213123">
                <a:tc>
                  <a:txBody>
                    <a:bodyPr/>
                    <a:lstStyle/>
                    <a:p>
                      <a:pPr algn="ctr" latinLnBrk="1"/>
                      <a:r>
                        <a:rPr lang="ko-KR" altLang="en-US" sz="1200" dirty="0" err="1"/>
                        <a:t>판단대상</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200" dirty="0"/>
                        <a:t>선</a:t>
                      </a:r>
                      <a:r>
                        <a:rPr lang="en-US" altLang="ko-KR" sz="1200" dirty="0"/>
                        <a:t>(</a:t>
                      </a:r>
                      <a:r>
                        <a:rPr lang="ko-KR" altLang="en-US" sz="1200" dirty="0"/>
                        <a:t>다른</a:t>
                      </a:r>
                      <a:r>
                        <a:rPr lang="en-US" altLang="ko-KR" sz="1200" dirty="0"/>
                        <a:t>) </a:t>
                      </a:r>
                      <a:r>
                        <a:rPr lang="ko-KR" altLang="en-US" sz="1200" dirty="0"/>
                        <a:t>출원</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200" dirty="0"/>
                        <a:t>후</a:t>
                      </a:r>
                      <a:r>
                        <a:rPr lang="en-US" altLang="ko-KR" sz="1200" dirty="0"/>
                        <a:t>(</a:t>
                      </a:r>
                      <a:r>
                        <a:rPr lang="ko-KR" altLang="en-US" sz="1200" dirty="0"/>
                        <a:t>그</a:t>
                      </a:r>
                      <a:r>
                        <a:rPr lang="en-US" altLang="ko-KR" sz="1200" dirty="0"/>
                        <a:t>) </a:t>
                      </a:r>
                      <a:r>
                        <a:rPr lang="ko-KR" altLang="en-US" sz="1200" dirty="0"/>
                        <a:t>출원</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355205">
                <a:tc>
                  <a:txBody>
                    <a:bodyPr/>
                    <a:lstStyle/>
                    <a:p>
                      <a:pPr algn="ctr" latinLnBrk="1"/>
                      <a:r>
                        <a:rPr lang="ko-KR" altLang="en-US" sz="1200" dirty="0"/>
                        <a:t>선출원주의</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latinLnBrk="1"/>
                      <a:r>
                        <a:rPr lang="ko-KR" altLang="en-US" sz="1200" dirty="0" err="1"/>
                        <a:t>청구범위</a:t>
                      </a:r>
                      <a:r>
                        <a:rPr lang="en-US" altLang="ko-KR" sz="1200" dirty="0">
                          <a:solidFill>
                            <a:schemeClr val="tx1"/>
                          </a:solidFill>
                        </a:rPr>
                        <a:t>(■2)</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err="1"/>
                        <a:t>청구범위</a:t>
                      </a:r>
                      <a:r>
                        <a:rPr lang="en-US" altLang="ko-KR" sz="1200" dirty="0">
                          <a:solidFill>
                            <a:schemeClr val="tx1"/>
                          </a:solidFill>
                        </a:rPr>
                        <a:t>(◆2)</a:t>
                      </a:r>
                      <a:endParaRPr lang="en-US" altLang="ko-KR" sz="1200" kern="1200" dirty="0">
                        <a:solidFill>
                          <a:schemeClr val="tx1"/>
                        </a:solidFill>
                        <a:effectLst/>
                        <a:latin typeface="+mn-lt"/>
                        <a:ea typeface="+mn-ea"/>
                        <a:cs typeface="+mn-cs"/>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213123">
                <a:tc>
                  <a:txBody>
                    <a:bodyPr/>
                    <a:lstStyle/>
                    <a:p>
                      <a:pPr algn="ctr" latinLnBrk="1"/>
                      <a:r>
                        <a:rPr lang="ko-KR" altLang="en-US" sz="1200" dirty="0"/>
                        <a:t>확대된 </a:t>
                      </a:r>
                      <a:r>
                        <a:rPr lang="ko-KR" altLang="en-US" sz="1200" dirty="0" err="1"/>
                        <a:t>선출원의</a:t>
                      </a:r>
                      <a:r>
                        <a:rPr lang="ko-KR" altLang="en-US" sz="1200" dirty="0"/>
                        <a:t> 지위</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a:t>최초 명세서</a:t>
                      </a:r>
                      <a:r>
                        <a:rPr lang="en-US" altLang="ko-KR" sz="1200" dirty="0"/>
                        <a:t>/</a:t>
                      </a:r>
                      <a:r>
                        <a:rPr lang="ko-KR" altLang="en-US" sz="1200" dirty="0"/>
                        <a:t>도면</a:t>
                      </a:r>
                      <a:r>
                        <a:rPr lang="en-US" altLang="ko-KR" sz="1200" dirty="0">
                          <a:solidFill>
                            <a:schemeClr val="tx1"/>
                          </a:solidFill>
                        </a:rPr>
                        <a:t>(★1)</a:t>
                      </a:r>
                      <a:endParaRPr lang="en-US" altLang="ko-KR" sz="1200" kern="1200" dirty="0">
                        <a:solidFill>
                          <a:schemeClr val="tx1"/>
                        </a:solidFill>
                        <a:effectLst/>
                        <a:latin typeface="+mn-lt"/>
                        <a:ea typeface="+mn-ea"/>
                        <a:cs typeface="+mn-cs"/>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err="1"/>
                        <a:t>청구범위</a:t>
                      </a:r>
                      <a:r>
                        <a:rPr lang="en-US" altLang="ko-KR" sz="1200" dirty="0">
                          <a:solidFill>
                            <a:schemeClr val="tx1"/>
                          </a:solidFill>
                        </a:rPr>
                        <a:t>(◆2)</a:t>
                      </a:r>
                      <a:endParaRPr lang="en-US" altLang="ko-KR" sz="1200" kern="1200" dirty="0">
                        <a:solidFill>
                          <a:schemeClr val="tx1"/>
                        </a:solidFill>
                        <a:effectLst/>
                        <a:latin typeface="+mn-lt"/>
                        <a:ea typeface="+mn-ea"/>
                        <a:cs typeface="+mn-cs"/>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166" name="직사각형 165"/>
          <p:cNvSpPr/>
          <p:nvPr/>
        </p:nvSpPr>
        <p:spPr>
          <a:xfrm>
            <a:off x="6453860" y="4232199"/>
            <a:ext cx="5556630" cy="156796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X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출원의 최초 명세서 또는 도면은 ★</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최초 </a:t>
            </a:r>
            <a:r>
              <a:rPr kumimoji="0" lang="ko-KR" altLang="en-US" sz="14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청구범위는</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를 의미하고</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명세서 또는 도면은 ■</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 </a:t>
            </a:r>
            <a:r>
              <a:rPr kumimoji="0" lang="ko-KR" altLang="en-US" sz="14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청구범위는</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를 의미한다</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Y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출원의 등록가능성과 관련하여서는</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Y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출원의 </a:t>
            </a:r>
            <a:r>
              <a:rPr kumimoji="0" lang="ko-KR" altLang="en-US" sz="14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청구범위에</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기재된 발명</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이 </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X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출원과 관련하여 확대된 </a:t>
            </a:r>
            <a:r>
              <a:rPr kumimoji="0" lang="ko-KR" altLang="en-US" sz="14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선출원</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선출원주의에 위반되는지 여부가 문제이다</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확대된 </a:t>
            </a:r>
            <a:r>
              <a:rPr kumimoji="0" lang="ko-KR" altLang="en-US" sz="14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선출원</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위반 여부는 </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X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출원의 최초 명세서 또는 도면에 기재된 발명</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과 비교하여 동일성이 있는지 판단하고</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선출원주의 위반 여부는 </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X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출원의 </a:t>
            </a:r>
            <a:r>
              <a:rPr kumimoji="0" lang="ko-KR" altLang="en-US" sz="14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청구범위에</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기재된 발명</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과 비교하여 동일성이 있는지 판단한다</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2" name="모서리가 둥근 사각형 설명선 1"/>
          <p:cNvSpPr/>
          <p:nvPr/>
        </p:nvSpPr>
        <p:spPr>
          <a:xfrm>
            <a:off x="2963333" y="5232384"/>
            <a:ext cx="2841565" cy="770466"/>
          </a:xfrm>
          <a:prstGeom prst="wedgeRoundRectCallout">
            <a:avLst>
              <a:gd name="adj1" fmla="val -17483"/>
              <a:gd name="adj2" fmla="val -115476"/>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보충</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정정의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줄임말로서</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보정을 한 경우 보정한 내용대로 출원한 것으로 간주</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소급효가 인정</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 name="슬라이드 번호 개체 틀 4"/>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88</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584065231"/>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5" name="직선 연결선 84"/>
          <p:cNvCxnSpPr>
            <a:stCxn id="88" idx="2"/>
          </p:cNvCxnSpPr>
          <p:nvPr/>
        </p:nvCxnSpPr>
        <p:spPr>
          <a:xfrm>
            <a:off x="8175465" y="4529147"/>
            <a:ext cx="0" cy="1974203"/>
          </a:xfrm>
          <a:prstGeom prst="line">
            <a:avLst/>
          </a:prstGeom>
          <a:ln w="57150">
            <a:solidFill>
              <a:srgbClr val="FF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3</a:t>
            </a:r>
            <a:r>
              <a:rPr lang="ko-KR" altLang="en-US" dirty="0"/>
              <a:t>항</a:t>
            </a:r>
          </a:p>
        </p:txBody>
      </p:sp>
      <p:sp>
        <p:nvSpPr>
          <p:cNvPr id="4" name="텍스트 개체 틀 3"/>
          <p:cNvSpPr>
            <a:spLocks noGrp="1"/>
          </p:cNvSpPr>
          <p:nvPr>
            <p:ph type="body" sz="quarter" idx="13"/>
          </p:nvPr>
        </p:nvSpPr>
        <p:spPr/>
        <p:txBody>
          <a:bodyPr/>
          <a:lstStyle/>
          <a:p>
            <a:r>
              <a:rPr lang="ko-KR" altLang="en-US" dirty="0"/>
              <a:t>적용의 예외</a:t>
            </a:r>
            <a:r>
              <a:rPr lang="en-US" altLang="ko-KR" dirty="0"/>
              <a:t>(</a:t>
            </a:r>
            <a:r>
              <a:rPr lang="ko-KR" altLang="en-US" dirty="0"/>
              <a:t>제</a:t>
            </a:r>
            <a:r>
              <a:rPr lang="en-US" altLang="ko-KR" dirty="0"/>
              <a:t>29</a:t>
            </a:r>
            <a:r>
              <a:rPr lang="ko-KR" altLang="en-US" dirty="0"/>
              <a:t>조제</a:t>
            </a:r>
            <a:r>
              <a:rPr lang="en-US" altLang="ko-KR" dirty="0"/>
              <a:t>3</a:t>
            </a:r>
            <a:r>
              <a:rPr lang="ko-KR" altLang="en-US" dirty="0" err="1"/>
              <a:t>항단서</a:t>
            </a:r>
            <a:r>
              <a:rPr lang="en-US" altLang="ko-KR" dirty="0"/>
              <a:t>)</a:t>
            </a:r>
            <a:endParaRPr lang="ko-KR" altLang="en-US" dirty="0"/>
          </a:p>
        </p:txBody>
      </p:sp>
      <p:sp>
        <p:nvSpPr>
          <p:cNvPr id="37" name="Rectangle 5"/>
          <p:cNvSpPr>
            <a:spLocks noChangeArrowheads="1"/>
          </p:cNvSpPr>
          <p:nvPr/>
        </p:nvSpPr>
        <p:spPr bwMode="auto">
          <a:xfrm>
            <a:off x="195260" y="1106383"/>
            <a:ext cx="2153886" cy="348102"/>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발명자 동일</a:t>
            </a:r>
          </a:p>
        </p:txBody>
      </p:sp>
      <p:cxnSp>
        <p:nvCxnSpPr>
          <p:cNvPr id="147" name="직선 연결선 146"/>
          <p:cNvCxnSpPr/>
          <p:nvPr/>
        </p:nvCxnSpPr>
        <p:spPr>
          <a:xfrm>
            <a:off x="714031" y="3939876"/>
            <a:ext cx="441194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직선 연결선 38"/>
          <p:cNvCxnSpPr>
            <a:endCxn id="40" idx="0"/>
          </p:cNvCxnSpPr>
          <p:nvPr/>
        </p:nvCxnSpPr>
        <p:spPr>
          <a:xfrm>
            <a:off x="1196412" y="3973792"/>
            <a:ext cx="4050" cy="36303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714031" y="4336824"/>
            <a:ext cx="972861"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a:t>
            </a:r>
          </a:p>
        </p:txBody>
      </p:sp>
      <p:sp>
        <p:nvSpPr>
          <p:cNvPr id="41" name="직사각형 40"/>
          <p:cNvSpPr/>
          <p:nvPr/>
        </p:nvSpPr>
        <p:spPr>
          <a:xfrm>
            <a:off x="3341673" y="4741210"/>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2" name="직사각형 41"/>
          <p:cNvSpPr/>
          <p:nvPr/>
        </p:nvSpPr>
        <p:spPr>
          <a:xfrm>
            <a:off x="3341673" y="4970711"/>
            <a:ext cx="850393" cy="229500"/>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 name="TextBox 10"/>
          <p:cNvSpPr txBox="1"/>
          <p:nvPr/>
        </p:nvSpPr>
        <p:spPr>
          <a:xfrm>
            <a:off x="1822632" y="4336824"/>
            <a:ext cx="1093846"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乙에게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양도</a:t>
            </a:r>
          </a:p>
        </p:txBody>
      </p:sp>
      <p:cxnSp>
        <p:nvCxnSpPr>
          <p:cNvPr id="12" name="직선 연결선 11"/>
          <p:cNvCxnSpPr>
            <a:endCxn id="13" idx="0"/>
          </p:cNvCxnSpPr>
          <p:nvPr/>
        </p:nvCxnSpPr>
        <p:spPr>
          <a:xfrm>
            <a:off x="3766870" y="4025068"/>
            <a:ext cx="0" cy="311756"/>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3341674" y="4336824"/>
            <a:ext cx="85039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4" name="직선 연결선 13"/>
          <p:cNvCxnSpPr>
            <a:endCxn id="11" idx="0"/>
          </p:cNvCxnSpPr>
          <p:nvPr/>
        </p:nvCxnSpPr>
        <p:spPr>
          <a:xfrm flipH="1">
            <a:off x="2369555" y="3973792"/>
            <a:ext cx="6176" cy="36303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2415307" y="3322101"/>
            <a:ext cx="850392" cy="276999"/>
          </a:xfrm>
          <a:prstGeom prst="rect">
            <a:avLst/>
          </a:prstGeom>
          <a:solidFill>
            <a:schemeClr val="accent2"/>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출원</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18" name="직선 연결선 17"/>
          <p:cNvCxnSpPr>
            <a:endCxn id="17" idx="2"/>
          </p:cNvCxnSpPr>
          <p:nvPr/>
        </p:nvCxnSpPr>
        <p:spPr>
          <a:xfrm flipV="1">
            <a:off x="2840503" y="3599100"/>
            <a:ext cx="0" cy="29818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4192066" y="3322101"/>
            <a:ext cx="850392" cy="276999"/>
          </a:xfrm>
          <a:prstGeom prst="rect">
            <a:avLst/>
          </a:prstGeom>
          <a:solidFill>
            <a:schemeClr val="accent2"/>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乙공개</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23" name="직선 연결선 22"/>
          <p:cNvCxnSpPr>
            <a:endCxn id="22" idx="2"/>
          </p:cNvCxnSpPr>
          <p:nvPr/>
        </p:nvCxnSpPr>
        <p:spPr>
          <a:xfrm flipV="1">
            <a:off x="4617262" y="3599100"/>
            <a:ext cx="0" cy="29818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직사각형 23"/>
          <p:cNvSpPr/>
          <p:nvPr/>
        </p:nvSpPr>
        <p:spPr>
          <a:xfrm>
            <a:off x="2415307" y="2764201"/>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5" name="직사각형 24"/>
          <p:cNvSpPr/>
          <p:nvPr/>
        </p:nvSpPr>
        <p:spPr>
          <a:xfrm>
            <a:off x="2415307" y="2993702"/>
            <a:ext cx="850393" cy="229500"/>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 name="모서리가 둥근 사각형 설명선 9"/>
          <p:cNvSpPr/>
          <p:nvPr/>
        </p:nvSpPr>
        <p:spPr>
          <a:xfrm>
            <a:off x="3102124" y="1909576"/>
            <a:ext cx="2392743" cy="592106"/>
          </a:xfrm>
          <a:prstGeom prst="wedgeRoundRectCallout">
            <a:avLst>
              <a:gd name="adj1" fmla="val -42595"/>
              <a:gd name="adj2" fmla="val 153660"/>
              <a:gd name="adj3" fmla="val 16667"/>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B</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가 관련기술로서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불가피하게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도 설명</a:t>
            </a:r>
          </a:p>
        </p:txBody>
      </p:sp>
      <p:sp>
        <p:nvSpPr>
          <p:cNvPr id="33" name="모서리가 둥근 사각형 설명선 32"/>
          <p:cNvSpPr/>
          <p:nvPr/>
        </p:nvSpPr>
        <p:spPr>
          <a:xfrm>
            <a:off x="1196412" y="5542607"/>
            <a:ext cx="2023855" cy="592106"/>
          </a:xfrm>
          <a:prstGeom prst="wedgeRoundRectCallout">
            <a:avLst>
              <a:gd name="adj1" fmla="val 53990"/>
              <a:gd name="adj2" fmla="val -166710"/>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의 발명자가 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의 발명자와 동일</a:t>
            </a:r>
          </a:p>
        </p:txBody>
      </p:sp>
      <p:cxnSp>
        <p:nvCxnSpPr>
          <p:cNvPr id="34" name="직선 연결선 33"/>
          <p:cNvCxnSpPr/>
          <p:nvPr/>
        </p:nvCxnSpPr>
        <p:spPr>
          <a:xfrm>
            <a:off x="6097412" y="965770"/>
            <a:ext cx="0" cy="536311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 name="Rectangle 5"/>
          <p:cNvSpPr>
            <a:spLocks noChangeArrowheads="1"/>
          </p:cNvSpPr>
          <p:nvPr/>
        </p:nvSpPr>
        <p:spPr bwMode="auto">
          <a:xfrm>
            <a:off x="6284959" y="1106383"/>
            <a:ext cx="2954519" cy="348102"/>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그 </a:t>
            </a:r>
            <a:r>
              <a:rPr kumimoji="0" lang="ko-KR" altLang="en-US" sz="1600" b="0" i="0" u="none" strike="noStrike" kern="1200" cap="none" spc="0" normalizeH="0" baseline="0" noProof="0" dirty="0" err="1">
                <a:ln>
                  <a:noFill/>
                </a:ln>
                <a:solidFill>
                  <a:prstClr val="white"/>
                </a:solidFill>
                <a:effectLst/>
                <a:uLnTx/>
                <a:uFillTx/>
                <a:latin typeface="Rix모던고딕 EB"/>
                <a:ea typeface="Rix모던고딕 EB"/>
                <a:cs typeface="+mn-cs"/>
              </a:rPr>
              <a:t>특허출원한</a:t>
            </a: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 때의 출원인 동일</a:t>
            </a:r>
          </a:p>
        </p:txBody>
      </p:sp>
      <p:cxnSp>
        <p:nvCxnSpPr>
          <p:cNvPr id="36" name="직선 연결선 35"/>
          <p:cNvCxnSpPr/>
          <p:nvPr/>
        </p:nvCxnSpPr>
        <p:spPr>
          <a:xfrm>
            <a:off x="6766003" y="3389393"/>
            <a:ext cx="5018647"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직사각형 43"/>
          <p:cNvSpPr/>
          <p:nvPr/>
        </p:nvSpPr>
        <p:spPr>
          <a:xfrm>
            <a:off x="7233384" y="2270509"/>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5" name="직사각형 44"/>
          <p:cNvSpPr/>
          <p:nvPr/>
        </p:nvSpPr>
        <p:spPr>
          <a:xfrm>
            <a:off x="7233384" y="2500010"/>
            <a:ext cx="850393" cy="229500"/>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47" name="직선 연결선 46"/>
          <p:cNvCxnSpPr/>
          <p:nvPr/>
        </p:nvCxnSpPr>
        <p:spPr>
          <a:xfrm flipH="1" flipV="1">
            <a:off x="7658581" y="3122617"/>
            <a:ext cx="6994" cy="255647"/>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7233385" y="2823250"/>
            <a:ext cx="85039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8" name="직사각형 57"/>
          <p:cNvSpPr/>
          <p:nvPr/>
        </p:nvSpPr>
        <p:spPr>
          <a:xfrm>
            <a:off x="8724497" y="2270509"/>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9" name="직사각형 58"/>
          <p:cNvSpPr/>
          <p:nvPr/>
        </p:nvSpPr>
        <p:spPr>
          <a:xfrm>
            <a:off x="8724497" y="2500010"/>
            <a:ext cx="850393" cy="229500"/>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60" name="직선 연결선 59"/>
          <p:cNvCxnSpPr/>
          <p:nvPr/>
        </p:nvCxnSpPr>
        <p:spPr>
          <a:xfrm flipH="1" flipV="1">
            <a:off x="9149694" y="3122617"/>
            <a:ext cx="6994" cy="255647"/>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8724498" y="2823250"/>
            <a:ext cx="850392" cy="276999"/>
          </a:xfrm>
          <a:prstGeom prst="rect">
            <a:avLst/>
          </a:prstGeom>
          <a:solidFill>
            <a:schemeClr val="accent5"/>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甲 출원</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(Y)</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64" name="직선 연결선 63"/>
          <p:cNvCxnSpPr/>
          <p:nvPr/>
        </p:nvCxnSpPr>
        <p:spPr>
          <a:xfrm flipH="1" flipV="1">
            <a:off x="10544339" y="3122617"/>
            <a:ext cx="6994" cy="255647"/>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10119143" y="2823250"/>
            <a:ext cx="85039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6" name="모서리가 둥근 사각형 설명선 65"/>
          <p:cNvSpPr/>
          <p:nvPr/>
        </p:nvSpPr>
        <p:spPr>
          <a:xfrm>
            <a:off x="9395552" y="1593495"/>
            <a:ext cx="2389098" cy="592106"/>
          </a:xfrm>
          <a:prstGeom prst="wedgeRoundRectCallout">
            <a:avLst>
              <a:gd name="adj1" fmla="val -41862"/>
              <a:gd name="adj2" fmla="val 88752"/>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의 발명의 설명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도면에만 기재된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보호받고자 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 </a:t>
            </a:r>
          </a:p>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진행했을 때 출원인 동일</a:t>
            </a:r>
          </a:p>
        </p:txBody>
      </p:sp>
      <p:cxnSp>
        <p:nvCxnSpPr>
          <p:cNvPr id="67" name="직선 연결선 66"/>
          <p:cNvCxnSpPr/>
          <p:nvPr/>
        </p:nvCxnSpPr>
        <p:spPr>
          <a:xfrm>
            <a:off x="6774549" y="5284018"/>
            <a:ext cx="5018647"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8" name="직사각형 67"/>
          <p:cNvSpPr/>
          <p:nvPr/>
        </p:nvSpPr>
        <p:spPr>
          <a:xfrm>
            <a:off x="6489894" y="4165134"/>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9" name="직사각형 68"/>
          <p:cNvSpPr/>
          <p:nvPr/>
        </p:nvSpPr>
        <p:spPr>
          <a:xfrm>
            <a:off x="6489894" y="4394635"/>
            <a:ext cx="850393" cy="229500"/>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0" name="직선 연결선 69"/>
          <p:cNvCxnSpPr/>
          <p:nvPr/>
        </p:nvCxnSpPr>
        <p:spPr>
          <a:xfrm flipH="1" flipV="1">
            <a:off x="6915091" y="5017242"/>
            <a:ext cx="6994" cy="255647"/>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TextBox 70"/>
          <p:cNvSpPr txBox="1"/>
          <p:nvPr/>
        </p:nvSpPr>
        <p:spPr>
          <a:xfrm>
            <a:off x="6489895" y="4717875"/>
            <a:ext cx="85039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2" name="직사각형 71"/>
          <p:cNvSpPr/>
          <p:nvPr/>
        </p:nvSpPr>
        <p:spPr>
          <a:xfrm>
            <a:off x="7750269" y="5600826"/>
            <a:ext cx="850393"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3" name="직사각형 72"/>
          <p:cNvSpPr/>
          <p:nvPr/>
        </p:nvSpPr>
        <p:spPr>
          <a:xfrm>
            <a:off x="7750269" y="5830327"/>
            <a:ext cx="850393" cy="229500"/>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4" name="직선 연결선 73"/>
          <p:cNvCxnSpPr>
            <a:endCxn id="72" idx="0"/>
          </p:cNvCxnSpPr>
          <p:nvPr/>
        </p:nvCxnSpPr>
        <p:spPr>
          <a:xfrm>
            <a:off x="8175465" y="5295148"/>
            <a:ext cx="1" cy="305678"/>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7750270" y="6153567"/>
            <a:ext cx="850392" cy="276999"/>
          </a:xfrm>
          <a:prstGeom prst="rect">
            <a:avLst/>
          </a:prstGeom>
          <a:solidFill>
            <a:schemeClr val="accent5"/>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(Y)</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76" name="직선 연결선 75"/>
          <p:cNvCxnSpPr/>
          <p:nvPr/>
        </p:nvCxnSpPr>
        <p:spPr>
          <a:xfrm flipH="1" flipV="1">
            <a:off x="9339375" y="5017242"/>
            <a:ext cx="6994" cy="255647"/>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7" name="TextBox 76"/>
          <p:cNvSpPr txBox="1"/>
          <p:nvPr/>
        </p:nvSpPr>
        <p:spPr>
          <a:xfrm>
            <a:off x="10623337" y="4717875"/>
            <a:ext cx="85039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乙</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8" name="모서리가 둥근 사각형 설명선 77"/>
          <p:cNvSpPr/>
          <p:nvPr/>
        </p:nvSpPr>
        <p:spPr>
          <a:xfrm>
            <a:off x="9148506" y="3869081"/>
            <a:ext cx="2644690" cy="592106"/>
          </a:xfrm>
          <a:prstGeom prst="wedgeRoundRectCallout">
            <a:avLst>
              <a:gd name="adj1" fmla="val -61552"/>
              <a:gd name="adj2" fmla="val 3598"/>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할 때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출원인이</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甲이기 때문에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출원인도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甲이어야 함</a:t>
            </a:r>
          </a:p>
        </p:txBody>
      </p:sp>
      <p:cxnSp>
        <p:nvCxnSpPr>
          <p:cNvPr id="79" name="직선 연결선 78"/>
          <p:cNvCxnSpPr/>
          <p:nvPr/>
        </p:nvCxnSpPr>
        <p:spPr>
          <a:xfrm flipH="1" flipV="1">
            <a:off x="11039988" y="5017242"/>
            <a:ext cx="6994" cy="255647"/>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TextBox 79"/>
          <p:cNvSpPr txBox="1"/>
          <p:nvPr/>
        </p:nvSpPr>
        <p:spPr>
          <a:xfrm>
            <a:off x="8363974" y="4717875"/>
            <a:ext cx="1967890"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乙</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출원인변경신고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8" name="TextBox 87"/>
          <p:cNvSpPr txBox="1"/>
          <p:nvPr/>
        </p:nvSpPr>
        <p:spPr>
          <a:xfrm>
            <a:off x="7498036" y="3882816"/>
            <a:ext cx="1354858" cy="64633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그 출원할 때</a:t>
            </a:r>
            <a:endPar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그 </a:t>
            </a:r>
            <a:r>
              <a:rPr kumimoji="0" lang="ko-KR" altLang="en-US" sz="1800" b="0" i="0" u="none" strike="noStrike" kern="1200" cap="none" spc="0" normalizeH="0" baseline="0" noProof="0" dirty="0" err="1">
                <a:ln>
                  <a:noFill/>
                </a:ln>
                <a:solidFill>
                  <a:srgbClr val="FF0000"/>
                </a:solidFill>
                <a:effectLst/>
                <a:uLnTx/>
                <a:uFillTx/>
                <a:latin typeface="Frutiger LT 65 Bold"/>
                <a:ea typeface="Rix모던고딕 B"/>
                <a:cs typeface="+mn-cs"/>
              </a:rPr>
              <a:t>출원시</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89</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25191339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a:t>그 출원 지위 </a:t>
            </a:r>
            <a:r>
              <a:rPr lang="en-US" altLang="ko-KR" dirty="0"/>
              <a:t>vs </a:t>
            </a:r>
            <a:r>
              <a:rPr lang="ko-KR" altLang="en-US" dirty="0"/>
              <a:t>다른</a:t>
            </a:r>
            <a:r>
              <a:rPr lang="en-US" altLang="ko-KR" dirty="0"/>
              <a:t> </a:t>
            </a:r>
            <a:r>
              <a:rPr lang="ko-KR" altLang="en-US" dirty="0"/>
              <a:t>출원 지위</a:t>
            </a:r>
          </a:p>
        </p:txBody>
      </p:sp>
      <p:sp>
        <p:nvSpPr>
          <p:cNvPr id="74" name="TextBox 73"/>
          <p:cNvSpPr txBox="1"/>
          <p:nvPr/>
        </p:nvSpPr>
        <p:spPr>
          <a:xfrm>
            <a:off x="216206" y="2393357"/>
            <a:ext cx="864838" cy="686261"/>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2400" b="0" i="0" u="none" strike="noStrike" kern="1200" cap="none" spc="0" normalizeH="0" baseline="0" noProof="0" dirty="0">
                <a:ln>
                  <a:noFill/>
                </a:ln>
                <a:solidFill>
                  <a:srgbClr val="44546A"/>
                </a:solidFill>
                <a:effectLst/>
                <a:uLnTx/>
                <a:uFillTx/>
                <a:latin typeface="Frutiger LT 65 Bold"/>
                <a:ea typeface="Rix모던고딕 B"/>
                <a:cs typeface="+mn-cs"/>
              </a:rPr>
              <a:t>출원</a:t>
            </a:r>
          </a:p>
        </p:txBody>
      </p:sp>
      <p:sp>
        <p:nvSpPr>
          <p:cNvPr id="100" name="TextBox 99"/>
          <p:cNvSpPr txBox="1"/>
          <p:nvPr/>
        </p:nvSpPr>
        <p:spPr>
          <a:xfrm>
            <a:off x="1421162" y="2393357"/>
            <a:ext cx="864838" cy="686261"/>
          </a:xfrm>
          <a:prstGeom prst="rect">
            <a:avLst/>
          </a:prstGeom>
          <a:solidFill>
            <a:schemeClr val="accent1">
              <a:lumMod val="60000"/>
              <a:lumOff val="40000"/>
            </a:schemeClr>
          </a:solidFill>
          <a:ln>
            <a:solidFill>
              <a:schemeClr val="bg1">
                <a:lumMod val="50000"/>
              </a:schemeClr>
            </a:solidFill>
          </a:ln>
        </p:spPr>
        <p:txBody>
          <a:bodyPr wrap="square" rtlCol="0" anchor="ctr">
            <a:noAutofit/>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2400" b="0" i="0" u="none" strike="noStrike" kern="1200" cap="none" spc="0" normalizeH="0" baseline="0" noProof="0" dirty="0">
                <a:ln>
                  <a:noFill/>
                </a:ln>
                <a:solidFill>
                  <a:srgbClr val="44546A"/>
                </a:solidFill>
                <a:effectLst/>
                <a:uLnTx/>
                <a:uFillTx/>
                <a:latin typeface="Frutiger LT 65 Bold"/>
                <a:ea typeface="Rix모던고딕 B"/>
                <a:cs typeface="+mn-cs"/>
              </a:rPr>
              <a:t>등록</a:t>
            </a:r>
          </a:p>
        </p:txBody>
      </p:sp>
      <p:cxnSp>
        <p:nvCxnSpPr>
          <p:cNvPr id="6" name="직선 화살표 연결선 5"/>
          <p:cNvCxnSpPr>
            <a:stCxn id="74" idx="3"/>
            <a:endCxn id="100" idx="1"/>
          </p:cNvCxnSpPr>
          <p:nvPr/>
        </p:nvCxnSpPr>
        <p:spPr>
          <a:xfrm>
            <a:off x="1081044" y="2736488"/>
            <a:ext cx="340118"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1" name="TextBox 100"/>
          <p:cNvSpPr txBox="1"/>
          <p:nvPr/>
        </p:nvSpPr>
        <p:spPr>
          <a:xfrm>
            <a:off x="2708635" y="1816692"/>
            <a:ext cx="3606439" cy="482951"/>
          </a:xfrm>
          <a:prstGeom prst="rect">
            <a:avLst/>
          </a:prstGeom>
          <a:solidFill>
            <a:schemeClr val="bg1"/>
          </a:solidFill>
          <a:ln>
            <a:solidFill>
              <a:schemeClr val="bg1">
                <a:lumMod val="50000"/>
              </a:schemeClr>
            </a:solidFill>
          </a:ln>
        </p:spPr>
        <p:txBody>
          <a:bodyPr wrap="square" rtlCol="0">
            <a:noAutofit/>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출원의 지위</a:t>
            </a:r>
            <a:endPar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내 출원이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등록받을</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수 있는가</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03" name="TextBox 102"/>
          <p:cNvSpPr txBox="1"/>
          <p:nvPr/>
        </p:nvSpPr>
        <p:spPr>
          <a:xfrm>
            <a:off x="2708636" y="3203955"/>
            <a:ext cx="3606438" cy="482951"/>
          </a:xfrm>
          <a:prstGeom prst="rect">
            <a:avLst/>
          </a:prstGeom>
          <a:solidFill>
            <a:schemeClr val="bg1"/>
          </a:solidFill>
          <a:ln>
            <a:solidFill>
              <a:schemeClr val="bg1">
                <a:lumMod val="50000"/>
              </a:schemeClr>
            </a:solidFill>
          </a:ln>
        </p:spPr>
        <p:txBody>
          <a:bodyPr wrap="square" rtlCol="0">
            <a:noAutofit/>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다른 출원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인용대상</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의 지위</a:t>
            </a:r>
            <a:endPar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내 출원에 의하여 등록을 금지시킬 수 있는가</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07" name="TextBox 106"/>
          <p:cNvSpPr txBox="1"/>
          <p:nvPr/>
        </p:nvSpPr>
        <p:spPr>
          <a:xfrm>
            <a:off x="6623411" y="2910316"/>
            <a:ext cx="1872889" cy="309866"/>
          </a:xfrm>
          <a:prstGeom prst="rect">
            <a:avLst/>
          </a:prstGeom>
          <a:solidFill>
            <a:schemeClr val="bg1"/>
          </a:solidFill>
          <a:ln>
            <a:solidFill>
              <a:schemeClr val="bg1">
                <a:lumMod val="50000"/>
              </a:schemeClr>
            </a:solidFill>
          </a:ln>
        </p:spPr>
        <p:txBody>
          <a:bodyPr wrap="square" rtlCol="0" anchor="ctr">
            <a:noAutofit/>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공지기술의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지위</a:t>
            </a:r>
          </a:p>
        </p:txBody>
      </p:sp>
      <p:sp>
        <p:nvSpPr>
          <p:cNvPr id="109" name="TextBox 108"/>
          <p:cNvSpPr txBox="1"/>
          <p:nvPr/>
        </p:nvSpPr>
        <p:spPr>
          <a:xfrm>
            <a:off x="6623411" y="3321950"/>
            <a:ext cx="1872889" cy="309866"/>
          </a:xfrm>
          <a:prstGeom prst="rect">
            <a:avLst/>
          </a:prstGeom>
          <a:solidFill>
            <a:schemeClr val="bg1"/>
          </a:solidFill>
          <a:ln>
            <a:solidFill>
              <a:schemeClr val="bg1">
                <a:lumMod val="50000"/>
              </a:schemeClr>
            </a:solidFill>
          </a:ln>
        </p:spPr>
        <p:txBody>
          <a:bodyPr wrap="square" rtlCol="0" anchor="ctr">
            <a:noAutofit/>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지위</a:t>
            </a:r>
          </a:p>
        </p:txBody>
      </p:sp>
      <p:sp>
        <p:nvSpPr>
          <p:cNvPr id="111" name="TextBox 110"/>
          <p:cNvSpPr txBox="1"/>
          <p:nvPr/>
        </p:nvSpPr>
        <p:spPr>
          <a:xfrm>
            <a:off x="6623411" y="3724364"/>
            <a:ext cx="1872889" cy="309866"/>
          </a:xfrm>
          <a:prstGeom prst="rect">
            <a:avLst/>
          </a:prstGeom>
          <a:solidFill>
            <a:schemeClr val="bg1"/>
          </a:solidFill>
          <a:ln>
            <a:solidFill>
              <a:schemeClr val="bg1">
                <a:lumMod val="50000"/>
              </a:schemeClr>
            </a:solidFill>
          </a:ln>
        </p:spPr>
        <p:txBody>
          <a:bodyPr wrap="square" rtlCol="0" anchor="ctr">
            <a:noAutofit/>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확대된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지위</a:t>
            </a:r>
          </a:p>
        </p:txBody>
      </p:sp>
      <p:cxnSp>
        <p:nvCxnSpPr>
          <p:cNvPr id="19" name="꺾인 연결선 18"/>
          <p:cNvCxnSpPr>
            <a:stCxn id="100" idx="3"/>
            <a:endCxn id="101" idx="1"/>
          </p:cNvCxnSpPr>
          <p:nvPr/>
        </p:nvCxnSpPr>
        <p:spPr>
          <a:xfrm flipV="1">
            <a:off x="2286000" y="2058168"/>
            <a:ext cx="422635" cy="67832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stCxn id="100" idx="3"/>
            <a:endCxn id="103" idx="1"/>
          </p:cNvCxnSpPr>
          <p:nvPr/>
        </p:nvCxnSpPr>
        <p:spPr>
          <a:xfrm>
            <a:off x="2286000" y="2736488"/>
            <a:ext cx="422636" cy="70894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stCxn id="103" idx="3"/>
            <a:endCxn id="107" idx="1"/>
          </p:cNvCxnSpPr>
          <p:nvPr/>
        </p:nvCxnSpPr>
        <p:spPr>
          <a:xfrm flipV="1">
            <a:off x="6315074" y="3065249"/>
            <a:ext cx="308337" cy="38018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꺾인 연결선 29"/>
          <p:cNvCxnSpPr>
            <a:stCxn id="103" idx="3"/>
            <a:endCxn id="109" idx="1"/>
          </p:cNvCxnSpPr>
          <p:nvPr/>
        </p:nvCxnSpPr>
        <p:spPr>
          <a:xfrm>
            <a:off x="6315074" y="3445431"/>
            <a:ext cx="308337" cy="3145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꺾인 연결선 31"/>
          <p:cNvCxnSpPr>
            <a:stCxn id="103" idx="3"/>
            <a:endCxn id="111" idx="1"/>
          </p:cNvCxnSpPr>
          <p:nvPr/>
        </p:nvCxnSpPr>
        <p:spPr>
          <a:xfrm>
            <a:off x="6315074" y="3445431"/>
            <a:ext cx="308337" cy="43386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3" name="TextBox 112"/>
          <p:cNvSpPr txBox="1"/>
          <p:nvPr/>
        </p:nvSpPr>
        <p:spPr>
          <a:xfrm>
            <a:off x="8296275" y="1332925"/>
            <a:ext cx="3429000" cy="309866"/>
          </a:xfrm>
          <a:prstGeom prst="rect">
            <a:avLst/>
          </a:prstGeom>
          <a:solidFill>
            <a:schemeClr val="bg1"/>
          </a:solidFill>
          <a:ln>
            <a:noFill/>
          </a:ln>
        </p:spPr>
        <p:txBody>
          <a:bodyPr wrap="square" rtlCol="0" anchor="ctr">
            <a:noAutofit/>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3600" b="0" i="0" u="none" strike="noStrike" kern="1200" cap="none" spc="0" normalizeH="0" baseline="0" noProof="0" dirty="0" err="1">
                <a:ln>
                  <a:noFill/>
                </a:ln>
                <a:solidFill>
                  <a:srgbClr val="FF0000"/>
                </a:solidFill>
                <a:effectLst/>
                <a:uLnTx/>
                <a:uFillTx/>
                <a:latin typeface="Frutiger LT 65 Bold"/>
                <a:ea typeface="Rix모던고딕 B"/>
                <a:cs typeface="+mn-cs"/>
              </a:rPr>
              <a:t>등록금지적</a:t>
            </a:r>
            <a:r>
              <a:rPr kumimoji="0" lang="ko-KR" altLang="en-US" sz="3600" b="0" i="0" u="none" strike="noStrike" kern="1200" cap="none" spc="0" normalizeH="0" baseline="0" noProof="0" dirty="0">
                <a:ln>
                  <a:noFill/>
                </a:ln>
                <a:solidFill>
                  <a:srgbClr val="FF0000"/>
                </a:solidFill>
                <a:effectLst/>
                <a:uLnTx/>
                <a:uFillTx/>
                <a:latin typeface="Frutiger LT 65 Bold"/>
                <a:ea typeface="Rix모던고딕 B"/>
                <a:cs typeface="+mn-cs"/>
              </a:rPr>
              <a:t> 효력</a:t>
            </a:r>
          </a:p>
        </p:txBody>
      </p:sp>
      <p:sp>
        <p:nvSpPr>
          <p:cNvPr id="36" name="왼쪽 화살표 35"/>
          <p:cNvSpPr/>
          <p:nvPr/>
        </p:nvSpPr>
        <p:spPr>
          <a:xfrm rot="19261059">
            <a:off x="8090262" y="1876549"/>
            <a:ext cx="723900" cy="915418"/>
          </a:xfrm>
          <a:prstGeom prst="leftArrow">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90</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grpSp>
        <p:nvGrpSpPr>
          <p:cNvPr id="9" name="그룹 8">
            <a:extLst>
              <a:ext uri="{FF2B5EF4-FFF2-40B4-BE49-F238E27FC236}">
                <a16:creationId xmlns:a16="http://schemas.microsoft.com/office/drawing/2014/main" id="{4AD97CAA-B593-422B-8F18-7DF43CF333F0}"/>
              </a:ext>
            </a:extLst>
          </p:cNvPr>
          <p:cNvGrpSpPr/>
          <p:nvPr/>
        </p:nvGrpSpPr>
        <p:grpSpPr>
          <a:xfrm>
            <a:off x="1293785" y="4756784"/>
            <a:ext cx="9442580" cy="1653770"/>
            <a:chOff x="1026367" y="1057733"/>
            <a:chExt cx="9442580" cy="1653770"/>
          </a:xfrm>
        </p:grpSpPr>
        <p:cxnSp>
          <p:nvCxnSpPr>
            <p:cNvPr id="20" name="직선 화살표 연결선 19">
              <a:extLst>
                <a:ext uri="{FF2B5EF4-FFF2-40B4-BE49-F238E27FC236}">
                  <a16:creationId xmlns:a16="http://schemas.microsoft.com/office/drawing/2014/main" id="{73DD0464-661C-42C0-B4BE-212E48F351BE}"/>
                </a:ext>
              </a:extLst>
            </p:cNvPr>
            <p:cNvCxnSpPr/>
            <p:nvPr/>
          </p:nvCxnSpPr>
          <p:spPr>
            <a:xfrm>
              <a:off x="1803326" y="1777108"/>
              <a:ext cx="8064896" cy="0"/>
            </a:xfrm>
            <a:prstGeom prst="straightConnector1">
              <a:avLst/>
            </a:prstGeom>
            <a:ln w="762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2" name="직사각형 21">
              <a:extLst>
                <a:ext uri="{FF2B5EF4-FFF2-40B4-BE49-F238E27FC236}">
                  <a16:creationId xmlns:a16="http://schemas.microsoft.com/office/drawing/2014/main" id="{4C63D3A5-3C1B-4B8C-8560-59610295F138}"/>
                </a:ext>
              </a:extLst>
            </p:cNvPr>
            <p:cNvSpPr/>
            <p:nvPr/>
          </p:nvSpPr>
          <p:spPr>
            <a:xfrm>
              <a:off x="5105161" y="1057733"/>
              <a:ext cx="1245202" cy="360040"/>
            </a:xfrm>
            <a:prstGeom prst="rect">
              <a:avLst/>
            </a:prstGeom>
            <a:solidFill>
              <a:schemeClr val="accent5">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rPr>
                <a:t>특허출원</a:t>
              </a:r>
            </a:p>
          </p:txBody>
        </p:sp>
        <p:sp>
          <p:nvSpPr>
            <p:cNvPr id="5" name="자유형: 도형 4">
              <a:extLst>
                <a:ext uri="{FF2B5EF4-FFF2-40B4-BE49-F238E27FC236}">
                  <a16:creationId xmlns:a16="http://schemas.microsoft.com/office/drawing/2014/main" id="{CFF23956-1EC0-4FAC-B21B-EC126AFB0A1F}"/>
                </a:ext>
              </a:extLst>
            </p:cNvPr>
            <p:cNvSpPr/>
            <p:nvPr/>
          </p:nvSpPr>
          <p:spPr>
            <a:xfrm>
              <a:off x="1026367" y="1959430"/>
              <a:ext cx="4721290" cy="569166"/>
            </a:xfrm>
            <a:custGeom>
              <a:avLst/>
              <a:gdLst>
                <a:gd name="csX0" fmla="*/ 4721290 w 4721290"/>
                <a:gd name="csY0" fmla="*/ 0 h 569166"/>
                <a:gd name="csX1" fmla="*/ 4392386 w 4721290"/>
                <a:gd name="csY1" fmla="*/ 267508 h 569166"/>
                <a:gd name="csX2" fmla="*/ 4021494 w 4721290"/>
                <a:gd name="csY2" fmla="*/ 569166 h 569166"/>
                <a:gd name="csX3" fmla="*/ 3431675 w 4721290"/>
                <a:gd name="csY3" fmla="*/ 569166 h 569166"/>
                <a:gd name="csX4" fmla="*/ 2721211 w 4721290"/>
                <a:gd name="csY4" fmla="*/ 569166 h 569166"/>
                <a:gd name="csX5" fmla="*/ 2131392 w 4721290"/>
                <a:gd name="csY5" fmla="*/ 569166 h 569166"/>
                <a:gd name="csX6" fmla="*/ 1581788 w 4721290"/>
                <a:gd name="csY6" fmla="*/ 569166 h 569166"/>
                <a:gd name="csX7" fmla="*/ 831109 w 4721290"/>
                <a:gd name="csY7" fmla="*/ 569166 h 569166"/>
                <a:gd name="csX8" fmla="*/ 0 w 4721290"/>
                <a:gd name="csY8" fmla="*/ 569166 h 5691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21290" h="569166" extrusionOk="0">
                  <a:moveTo>
                    <a:pt x="4721290" y="0"/>
                  </a:moveTo>
                  <a:cubicBezTo>
                    <a:pt x="4575297" y="95535"/>
                    <a:pt x="4513131" y="150027"/>
                    <a:pt x="4392386" y="267508"/>
                  </a:cubicBezTo>
                  <a:cubicBezTo>
                    <a:pt x="4271641" y="384989"/>
                    <a:pt x="4166567" y="445411"/>
                    <a:pt x="4021494" y="569166"/>
                  </a:cubicBezTo>
                  <a:cubicBezTo>
                    <a:pt x="3835215" y="571127"/>
                    <a:pt x="3618634" y="587290"/>
                    <a:pt x="3431675" y="569166"/>
                  </a:cubicBezTo>
                  <a:cubicBezTo>
                    <a:pt x="3244716" y="551042"/>
                    <a:pt x="3073856" y="552040"/>
                    <a:pt x="2721211" y="569166"/>
                  </a:cubicBezTo>
                  <a:cubicBezTo>
                    <a:pt x="2368566" y="586292"/>
                    <a:pt x="2408101" y="596949"/>
                    <a:pt x="2131392" y="569166"/>
                  </a:cubicBezTo>
                  <a:cubicBezTo>
                    <a:pt x="1854683" y="541383"/>
                    <a:pt x="1828199" y="589824"/>
                    <a:pt x="1581788" y="569166"/>
                  </a:cubicBezTo>
                  <a:cubicBezTo>
                    <a:pt x="1335377" y="548508"/>
                    <a:pt x="1108845" y="533010"/>
                    <a:pt x="831109" y="569166"/>
                  </a:cubicBezTo>
                  <a:cubicBezTo>
                    <a:pt x="553373" y="605322"/>
                    <a:pt x="349229" y="551185"/>
                    <a:pt x="0" y="569166"/>
                  </a:cubicBezTo>
                </a:path>
              </a:pathLst>
            </a:custGeom>
            <a:noFill/>
            <a:ln w="28575">
              <a:prstDash val="sysDot"/>
              <a:tailEnd type="triangle"/>
              <a:extLst>
                <a:ext uri="{C807C97D-BFC1-408E-A445-0C87EB9F89A2}">
                  <ask:lineSketchStyleProps xmlns:ask="http://schemas.microsoft.com/office/drawing/2018/sketchyshapes" sd="2802881777">
                    <a:custGeom>
                      <a:avLst/>
                      <a:gdLst>
                        <a:gd name="connsiteX0" fmla="*/ 4721290 w 4721290"/>
                        <a:gd name="connsiteY0" fmla="*/ 0 h 625151"/>
                        <a:gd name="connsiteX1" fmla="*/ 4021494 w 4721290"/>
                        <a:gd name="connsiteY1" fmla="*/ 625151 h 625151"/>
                        <a:gd name="connsiteX2" fmla="*/ 0 w 4721290"/>
                        <a:gd name="connsiteY2" fmla="*/ 625151 h 625151"/>
                      </a:gdLst>
                      <a:ahLst/>
                      <a:cxnLst>
                        <a:cxn ang="0">
                          <a:pos x="connsiteX0" y="connsiteY0"/>
                        </a:cxn>
                        <a:cxn ang="0">
                          <a:pos x="connsiteX1" y="connsiteY1"/>
                        </a:cxn>
                        <a:cxn ang="0">
                          <a:pos x="connsiteX2" y="connsiteY2"/>
                        </a:cxn>
                      </a:cxnLst>
                      <a:rect l="l" t="t" r="r" b="b"/>
                      <a:pathLst>
                        <a:path w="4721290" h="625151">
                          <a:moveTo>
                            <a:pt x="4721290" y="0"/>
                          </a:moveTo>
                          <a:lnTo>
                            <a:pt x="4021494" y="625151"/>
                          </a:lnTo>
                          <a:lnTo>
                            <a:pt x="0" y="625151"/>
                          </a:ln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7" name="자유형: 도형 6">
              <a:extLst>
                <a:ext uri="{FF2B5EF4-FFF2-40B4-BE49-F238E27FC236}">
                  <a16:creationId xmlns:a16="http://schemas.microsoft.com/office/drawing/2014/main" id="{5F93293E-FEC5-4AD1-AF77-EC9640750454}"/>
                </a:ext>
              </a:extLst>
            </p:cNvPr>
            <p:cNvSpPr/>
            <p:nvPr/>
          </p:nvSpPr>
          <p:spPr>
            <a:xfrm>
              <a:off x="5756988" y="1968759"/>
              <a:ext cx="4711959" cy="559837"/>
            </a:xfrm>
            <a:custGeom>
              <a:avLst/>
              <a:gdLst>
                <a:gd name="csX0" fmla="*/ 0 w 4711959"/>
                <a:gd name="csY0" fmla="*/ 0 h 559837"/>
                <a:gd name="csX1" fmla="*/ 263123 w 4711959"/>
                <a:gd name="csY1" fmla="*/ 263123 h 559837"/>
                <a:gd name="csX2" fmla="*/ 559837 w 4711959"/>
                <a:gd name="csY2" fmla="*/ 559837 h 559837"/>
                <a:gd name="csX3" fmla="*/ 1127294 w 4711959"/>
                <a:gd name="csY3" fmla="*/ 559837 h 559837"/>
                <a:gd name="csX4" fmla="*/ 1819314 w 4711959"/>
                <a:gd name="csY4" fmla="*/ 559837 h 559837"/>
                <a:gd name="csX5" fmla="*/ 2428292 w 4711959"/>
                <a:gd name="csY5" fmla="*/ 559837 h 559837"/>
                <a:gd name="csX6" fmla="*/ 3078791 w 4711959"/>
                <a:gd name="csY6" fmla="*/ 559837 h 559837"/>
                <a:gd name="csX7" fmla="*/ 3853854 w 4711959"/>
                <a:gd name="csY7" fmla="*/ 559837 h 559837"/>
                <a:gd name="csX8" fmla="*/ 4711959 w 4711959"/>
                <a:gd name="csY8" fmla="*/ 559837 h 5598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711959" h="559837" extrusionOk="0">
                  <a:moveTo>
                    <a:pt x="0" y="0"/>
                  </a:moveTo>
                  <a:cubicBezTo>
                    <a:pt x="128555" y="123173"/>
                    <a:pt x="186359" y="176707"/>
                    <a:pt x="263123" y="263123"/>
                  </a:cubicBezTo>
                  <a:cubicBezTo>
                    <a:pt x="339887" y="349539"/>
                    <a:pt x="472934" y="447947"/>
                    <a:pt x="559837" y="559837"/>
                  </a:cubicBezTo>
                  <a:cubicBezTo>
                    <a:pt x="688711" y="533784"/>
                    <a:pt x="890160" y="582479"/>
                    <a:pt x="1127294" y="559837"/>
                  </a:cubicBezTo>
                  <a:cubicBezTo>
                    <a:pt x="1364428" y="537195"/>
                    <a:pt x="1602260" y="534757"/>
                    <a:pt x="1819314" y="559837"/>
                  </a:cubicBezTo>
                  <a:cubicBezTo>
                    <a:pt x="2036368" y="584917"/>
                    <a:pt x="2294894" y="579304"/>
                    <a:pt x="2428292" y="559837"/>
                  </a:cubicBezTo>
                  <a:cubicBezTo>
                    <a:pt x="2561690" y="540370"/>
                    <a:pt x="2876937" y="529698"/>
                    <a:pt x="3078791" y="559837"/>
                  </a:cubicBezTo>
                  <a:cubicBezTo>
                    <a:pt x="3280645" y="589976"/>
                    <a:pt x="3652456" y="555001"/>
                    <a:pt x="3853854" y="559837"/>
                  </a:cubicBezTo>
                  <a:cubicBezTo>
                    <a:pt x="4055252" y="564673"/>
                    <a:pt x="4285360" y="594155"/>
                    <a:pt x="4711959" y="559837"/>
                  </a:cubicBezTo>
                </a:path>
              </a:pathLst>
            </a:custGeom>
            <a:noFill/>
            <a:ln w="28575">
              <a:prstDash val="sysDot"/>
              <a:tailEnd type="triangle"/>
              <a:extLst>
                <a:ext uri="{C807C97D-BFC1-408E-A445-0C87EB9F89A2}">
                  <ask:lineSketchStyleProps xmlns:ask="http://schemas.microsoft.com/office/drawing/2018/sketchyshapes" sd="3483464521">
                    <a:custGeom>
                      <a:avLst/>
                      <a:gdLst>
                        <a:gd name="connsiteX0" fmla="*/ 0 w 4711959"/>
                        <a:gd name="connsiteY0" fmla="*/ 0 h 559837"/>
                        <a:gd name="connsiteX1" fmla="*/ 559837 w 4711959"/>
                        <a:gd name="connsiteY1" fmla="*/ 559837 h 559837"/>
                        <a:gd name="connsiteX2" fmla="*/ 4711959 w 4711959"/>
                        <a:gd name="connsiteY2" fmla="*/ 559837 h 559837"/>
                      </a:gdLst>
                      <a:ahLst/>
                      <a:cxnLst>
                        <a:cxn ang="0">
                          <a:pos x="connsiteX0" y="connsiteY0"/>
                        </a:cxn>
                        <a:cxn ang="0">
                          <a:pos x="connsiteX1" y="connsiteY1"/>
                        </a:cxn>
                        <a:cxn ang="0">
                          <a:pos x="connsiteX2" y="connsiteY2"/>
                        </a:cxn>
                      </a:cxnLst>
                      <a:rect l="l" t="t" r="r" b="b"/>
                      <a:pathLst>
                        <a:path w="4711959" h="559837">
                          <a:moveTo>
                            <a:pt x="0" y="0"/>
                          </a:moveTo>
                          <a:lnTo>
                            <a:pt x="559837" y="559837"/>
                          </a:lnTo>
                          <a:lnTo>
                            <a:pt x="4711959" y="559837"/>
                          </a:ln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 name="TextBox 7">
              <a:extLst>
                <a:ext uri="{FF2B5EF4-FFF2-40B4-BE49-F238E27FC236}">
                  <a16:creationId xmlns:a16="http://schemas.microsoft.com/office/drawing/2014/main" id="{AC781033-007D-4D16-8561-409449C80A5C}"/>
                </a:ext>
              </a:extLst>
            </p:cNvPr>
            <p:cNvSpPr txBox="1"/>
            <p:nvPr/>
          </p:nvSpPr>
          <p:spPr>
            <a:xfrm>
              <a:off x="2006082" y="2342171"/>
              <a:ext cx="1540806" cy="369332"/>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그 출원의 지위</a:t>
              </a:r>
            </a:p>
          </p:txBody>
        </p:sp>
        <p:sp>
          <p:nvSpPr>
            <p:cNvPr id="25" name="TextBox 24">
              <a:extLst>
                <a:ext uri="{FF2B5EF4-FFF2-40B4-BE49-F238E27FC236}">
                  <a16:creationId xmlns:a16="http://schemas.microsoft.com/office/drawing/2014/main" id="{E08E5332-538F-4346-B0DF-40DD81775E10}"/>
                </a:ext>
              </a:extLst>
            </p:cNvPr>
            <p:cNvSpPr txBox="1"/>
            <p:nvPr/>
          </p:nvSpPr>
          <p:spPr>
            <a:xfrm>
              <a:off x="7725897" y="2342171"/>
              <a:ext cx="1749197" cy="369332"/>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다른 출원의 지위</a:t>
              </a:r>
            </a:p>
          </p:txBody>
        </p:sp>
      </p:grpSp>
      <p:cxnSp>
        <p:nvCxnSpPr>
          <p:cNvPr id="11" name="직선 연결선 10">
            <a:extLst>
              <a:ext uri="{FF2B5EF4-FFF2-40B4-BE49-F238E27FC236}">
                <a16:creationId xmlns:a16="http://schemas.microsoft.com/office/drawing/2014/main" id="{FC791F33-BB75-4701-A830-F3EA5F4BD5D0}"/>
              </a:ext>
            </a:extLst>
          </p:cNvPr>
          <p:cNvCxnSpPr/>
          <p:nvPr/>
        </p:nvCxnSpPr>
        <p:spPr>
          <a:xfrm>
            <a:off x="74645" y="4376057"/>
            <a:ext cx="11859208"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1A2E151A-2F3D-4710-8375-EFE3323F96F0}"/>
              </a:ext>
            </a:extLst>
          </p:cNvPr>
          <p:cNvCxnSpPr>
            <a:stCxn id="22" idx="2"/>
          </p:cNvCxnSpPr>
          <p:nvPr/>
        </p:nvCxnSpPr>
        <p:spPr>
          <a:xfrm>
            <a:off x="5995180" y="5116824"/>
            <a:ext cx="0" cy="26605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 name="타원 12">
            <a:extLst>
              <a:ext uri="{FF2B5EF4-FFF2-40B4-BE49-F238E27FC236}">
                <a16:creationId xmlns:a16="http://schemas.microsoft.com/office/drawing/2014/main" id="{412C7731-B558-4F68-BD64-7839EE311535}"/>
              </a:ext>
            </a:extLst>
          </p:cNvPr>
          <p:cNvSpPr/>
          <p:nvPr/>
        </p:nvSpPr>
        <p:spPr>
          <a:xfrm>
            <a:off x="5897949" y="5399233"/>
            <a:ext cx="194461" cy="19446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 name="TextBox 9">
            <a:extLst>
              <a:ext uri="{FF2B5EF4-FFF2-40B4-BE49-F238E27FC236}">
                <a16:creationId xmlns:a16="http://schemas.microsoft.com/office/drawing/2014/main" id="{06E582A1-3E61-414A-AD34-DC4237A37A4C}"/>
              </a:ext>
            </a:extLst>
          </p:cNvPr>
          <p:cNvSpPr txBox="1"/>
          <p:nvPr/>
        </p:nvSpPr>
        <p:spPr>
          <a:xfrm>
            <a:off x="6321569" y="1907446"/>
            <a:ext cx="1253011" cy="307777"/>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청구범위</a:t>
            </a:r>
          </a:p>
        </p:txBody>
      </p:sp>
      <p:sp>
        <p:nvSpPr>
          <p:cNvPr id="31" name="TextBox 30">
            <a:extLst>
              <a:ext uri="{FF2B5EF4-FFF2-40B4-BE49-F238E27FC236}">
                <a16:creationId xmlns:a16="http://schemas.microsoft.com/office/drawing/2014/main" id="{44BF3D8C-91F2-4454-BE74-A63E1FCFC133}"/>
              </a:ext>
            </a:extLst>
          </p:cNvPr>
          <p:cNvSpPr txBox="1"/>
          <p:nvPr/>
        </p:nvSpPr>
        <p:spPr>
          <a:xfrm>
            <a:off x="8496300" y="2921625"/>
            <a:ext cx="2274538" cy="307777"/>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최초 명세서 또는 도면</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3" name="TextBox 32">
            <a:extLst>
              <a:ext uri="{FF2B5EF4-FFF2-40B4-BE49-F238E27FC236}">
                <a16:creationId xmlns:a16="http://schemas.microsoft.com/office/drawing/2014/main" id="{8F8F6B4D-383A-4429-B3C2-F7390414B558}"/>
              </a:ext>
            </a:extLst>
          </p:cNvPr>
          <p:cNvSpPr txBox="1"/>
          <p:nvPr/>
        </p:nvSpPr>
        <p:spPr>
          <a:xfrm>
            <a:off x="8496300" y="3321950"/>
            <a:ext cx="2274538" cy="307777"/>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청구범위</a:t>
            </a:r>
          </a:p>
        </p:txBody>
      </p:sp>
      <p:sp>
        <p:nvSpPr>
          <p:cNvPr id="34" name="TextBox 33">
            <a:extLst>
              <a:ext uri="{FF2B5EF4-FFF2-40B4-BE49-F238E27FC236}">
                <a16:creationId xmlns:a16="http://schemas.microsoft.com/office/drawing/2014/main" id="{2AB5BC0C-C40F-4C4F-90C1-4321FADF1801}"/>
              </a:ext>
            </a:extLst>
          </p:cNvPr>
          <p:cNvSpPr txBox="1"/>
          <p:nvPr/>
        </p:nvSpPr>
        <p:spPr>
          <a:xfrm>
            <a:off x="8496300" y="3734724"/>
            <a:ext cx="2274538" cy="307777"/>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최초 명세서 또는 도면</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Tree>
    <p:extLst>
      <p:ext uri="{BB962C8B-B14F-4D97-AF65-F5344CB8AC3E}">
        <p14:creationId xmlns:p14="http://schemas.microsoft.com/office/powerpoint/2010/main" val="414078072"/>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a:t>출원발명의 등록금지적 효력</a:t>
            </a:r>
            <a:r>
              <a:rPr lang="en-US" altLang="ko-KR" dirty="0"/>
              <a:t>(</a:t>
            </a:r>
            <a:r>
              <a:rPr lang="ko-KR" altLang="en-US" dirty="0"/>
              <a:t>다른</a:t>
            </a:r>
            <a:r>
              <a:rPr lang="en-US" altLang="ko-KR" dirty="0"/>
              <a:t> </a:t>
            </a:r>
            <a:r>
              <a:rPr lang="ko-KR" altLang="en-US" dirty="0"/>
              <a:t>출원의 지위</a:t>
            </a:r>
            <a:r>
              <a:rPr lang="en-US" altLang="ko-KR" dirty="0"/>
              <a:t>)</a:t>
            </a:r>
            <a:endParaRPr lang="ko-KR" altLang="en-US" dirty="0"/>
          </a:p>
        </p:txBody>
      </p:sp>
      <p:graphicFrame>
        <p:nvGraphicFramePr>
          <p:cNvPr id="2" name="표 1"/>
          <p:cNvGraphicFramePr>
            <a:graphicFrameLocks noGrp="1"/>
          </p:cNvGraphicFramePr>
          <p:nvPr/>
        </p:nvGraphicFramePr>
        <p:xfrm>
          <a:off x="341419" y="1065165"/>
          <a:ext cx="11536256" cy="1677924"/>
        </p:xfrm>
        <a:graphic>
          <a:graphicData uri="http://schemas.openxmlformats.org/drawingml/2006/table">
            <a:tbl>
              <a:tblPr/>
              <a:tblGrid>
                <a:gridCol w="1697845">
                  <a:extLst>
                    <a:ext uri="{9D8B030D-6E8A-4147-A177-3AD203B41FA5}">
                      <a16:colId xmlns:a16="http://schemas.microsoft.com/office/drawing/2014/main" val="1938038473"/>
                    </a:ext>
                  </a:extLst>
                </a:gridCol>
                <a:gridCol w="2668749">
                  <a:extLst>
                    <a:ext uri="{9D8B030D-6E8A-4147-A177-3AD203B41FA5}">
                      <a16:colId xmlns:a16="http://schemas.microsoft.com/office/drawing/2014/main" val="721845093"/>
                    </a:ext>
                  </a:extLst>
                </a:gridCol>
                <a:gridCol w="3774309">
                  <a:extLst>
                    <a:ext uri="{9D8B030D-6E8A-4147-A177-3AD203B41FA5}">
                      <a16:colId xmlns:a16="http://schemas.microsoft.com/office/drawing/2014/main" val="1556334561"/>
                    </a:ext>
                  </a:extLst>
                </a:gridCol>
                <a:gridCol w="3395353">
                  <a:extLst>
                    <a:ext uri="{9D8B030D-6E8A-4147-A177-3AD203B41FA5}">
                      <a16:colId xmlns:a16="http://schemas.microsoft.com/office/drawing/2014/main" val="3907008119"/>
                    </a:ext>
                  </a:extLst>
                </a:gridCol>
              </a:tblGrid>
              <a:tr h="194367">
                <a:tc>
                  <a:txBody>
                    <a:bodyPr/>
                    <a:lstStyle/>
                    <a:p>
                      <a:pPr marL="0" marR="0" indent="0" algn="ctr" fontAlgn="base" latinLnBrk="0">
                        <a:lnSpc>
                          <a:spcPct val="120000"/>
                        </a:lnSpc>
                        <a:spcBef>
                          <a:spcPts val="0"/>
                        </a:spcBef>
                        <a:spcAft>
                          <a:spcPts val="0"/>
                        </a:spcAft>
                      </a:pPr>
                      <a:r>
                        <a:rPr lang="ko-KR" altLang="en-US" sz="1050" b="1" kern="1200" dirty="0">
                          <a:solidFill>
                            <a:schemeClr val="tx1"/>
                          </a:solidFill>
                          <a:latin typeface="+mn-lt"/>
                          <a:ea typeface="+mn-ea"/>
                          <a:cs typeface="+mn-cs"/>
                        </a:rPr>
                        <a:t>다른 출원의 지위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050" b="1" kern="1200" dirty="0" err="1">
                          <a:solidFill>
                            <a:schemeClr val="tx1"/>
                          </a:solidFill>
                          <a:latin typeface="+mn-lt"/>
                          <a:ea typeface="+mn-ea"/>
                          <a:cs typeface="+mn-cs"/>
                        </a:rPr>
                        <a:t>공지기술의</a:t>
                      </a:r>
                      <a:r>
                        <a:rPr lang="ko-KR" altLang="en-US" sz="1050" b="1" kern="1200" dirty="0">
                          <a:solidFill>
                            <a:schemeClr val="tx1"/>
                          </a:solidFill>
                          <a:latin typeface="+mn-lt"/>
                          <a:ea typeface="+mn-ea"/>
                          <a:cs typeface="+mn-cs"/>
                        </a:rPr>
                        <a:t> 지위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050" b="1" kern="1200" dirty="0" err="1">
                          <a:solidFill>
                            <a:schemeClr val="tx1"/>
                          </a:solidFill>
                          <a:latin typeface="+mn-lt"/>
                          <a:ea typeface="+mn-ea"/>
                          <a:cs typeface="+mn-cs"/>
                        </a:rPr>
                        <a:t>선출원의</a:t>
                      </a:r>
                      <a:r>
                        <a:rPr lang="ko-KR" altLang="en-US" sz="1050" b="1" kern="1200" dirty="0">
                          <a:solidFill>
                            <a:schemeClr val="tx1"/>
                          </a:solidFill>
                          <a:latin typeface="+mn-lt"/>
                          <a:ea typeface="+mn-ea"/>
                          <a:cs typeface="+mn-cs"/>
                        </a:rPr>
                        <a:t> 지위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050" b="1" kern="1200" dirty="0">
                          <a:solidFill>
                            <a:schemeClr val="tx1"/>
                          </a:solidFill>
                          <a:latin typeface="+mn-lt"/>
                          <a:ea typeface="+mn-ea"/>
                          <a:cs typeface="+mn-cs"/>
                        </a:rPr>
                        <a:t>확대된 </a:t>
                      </a:r>
                      <a:r>
                        <a:rPr lang="ko-KR" altLang="en-US" sz="1050" b="1" kern="1200" dirty="0" err="1">
                          <a:solidFill>
                            <a:schemeClr val="tx1"/>
                          </a:solidFill>
                          <a:latin typeface="+mn-lt"/>
                          <a:ea typeface="+mn-ea"/>
                          <a:cs typeface="+mn-cs"/>
                        </a:rPr>
                        <a:t>선출원의</a:t>
                      </a:r>
                      <a:r>
                        <a:rPr lang="ko-KR" altLang="en-US" sz="1050" b="1" kern="1200" dirty="0">
                          <a:solidFill>
                            <a:schemeClr val="tx1"/>
                          </a:solidFill>
                          <a:latin typeface="+mn-lt"/>
                          <a:ea typeface="+mn-ea"/>
                          <a:cs typeface="+mn-cs"/>
                        </a:rPr>
                        <a:t> 지위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752852261"/>
                  </a:ext>
                </a:extLst>
              </a:tr>
              <a:tr h="358181">
                <a:tc>
                  <a:txBody>
                    <a:bodyPr/>
                    <a:lstStyle/>
                    <a:p>
                      <a:pPr marL="0" marR="0" indent="0" algn="ctr" fontAlgn="base" latinLnBrk="0">
                        <a:lnSpc>
                          <a:spcPct val="120000"/>
                        </a:lnSpc>
                        <a:spcBef>
                          <a:spcPts val="0"/>
                        </a:spcBef>
                        <a:spcAft>
                          <a:spcPts val="0"/>
                        </a:spcAft>
                      </a:pPr>
                      <a:r>
                        <a:rPr lang="ko-KR" altLang="en-US" sz="1050" kern="1200" dirty="0">
                          <a:solidFill>
                            <a:schemeClr val="tx1"/>
                          </a:solidFill>
                          <a:latin typeface="+mn-lt"/>
                          <a:ea typeface="+mn-ea"/>
                          <a:cs typeface="+mn-cs"/>
                        </a:rPr>
                        <a:t>시기</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just" fontAlgn="base" latinLnBrk="1">
                        <a:lnSpc>
                          <a:spcPct val="120000"/>
                        </a:lnSpc>
                        <a:spcBef>
                          <a:spcPts val="0"/>
                        </a:spcBef>
                        <a:spcAft>
                          <a:spcPts val="0"/>
                        </a:spcAft>
                      </a:pPr>
                      <a:r>
                        <a:rPr lang="ko-KR" altLang="en-US" sz="1050" kern="1200" dirty="0" err="1">
                          <a:solidFill>
                            <a:schemeClr val="tx1"/>
                          </a:solidFill>
                          <a:latin typeface="+mn-lt"/>
                          <a:ea typeface="+mn-ea"/>
                          <a:cs typeface="+mn-cs"/>
                        </a:rPr>
                        <a:t>출원공개</a:t>
                      </a:r>
                      <a:r>
                        <a:rPr lang="ko-KR" altLang="en-US" sz="1050" kern="1200" dirty="0">
                          <a:solidFill>
                            <a:schemeClr val="tx1"/>
                          </a:solidFill>
                          <a:latin typeface="+mn-lt"/>
                          <a:ea typeface="+mn-ea"/>
                          <a:cs typeface="+mn-cs"/>
                        </a:rPr>
                        <a:t> 또는 </a:t>
                      </a:r>
                      <a:r>
                        <a:rPr lang="ko-KR" altLang="en-US" sz="1050" kern="1200" dirty="0" err="1">
                          <a:solidFill>
                            <a:schemeClr val="tx1"/>
                          </a:solidFill>
                          <a:latin typeface="+mn-lt"/>
                          <a:ea typeface="+mn-ea"/>
                          <a:cs typeface="+mn-cs"/>
                        </a:rPr>
                        <a:t>설정등록된</a:t>
                      </a:r>
                      <a:r>
                        <a:rPr lang="ko-KR" altLang="en-US" sz="1050" kern="1200" dirty="0">
                          <a:solidFill>
                            <a:schemeClr val="tx1"/>
                          </a:solidFill>
                          <a:latin typeface="+mn-lt"/>
                          <a:ea typeface="+mn-ea"/>
                          <a:cs typeface="+mn-cs"/>
                        </a:rPr>
                        <a:t> 후부터 발생</a:t>
                      </a:r>
                      <a:r>
                        <a:rPr lang="en-US" altLang="ko-KR" sz="1050" kern="1200" dirty="0">
                          <a:solidFill>
                            <a:schemeClr val="tx1"/>
                          </a:solidFill>
                          <a:latin typeface="+mn-lt"/>
                          <a:ea typeface="+mn-ea"/>
                          <a:cs typeface="+mn-cs"/>
                        </a:rPr>
                        <a:t>(</a:t>
                      </a:r>
                      <a:r>
                        <a:rPr lang="ko-KR" altLang="en-US" sz="1050" kern="1200" dirty="0">
                          <a:solidFill>
                            <a:schemeClr val="tx1"/>
                          </a:solidFill>
                          <a:latin typeface="+mn-lt"/>
                          <a:ea typeface="+mn-ea"/>
                          <a:cs typeface="+mn-cs"/>
                        </a:rPr>
                        <a:t>法 </a:t>
                      </a:r>
                      <a:r>
                        <a:rPr lang="en-US" altLang="ko-KR" sz="1050" kern="1200" dirty="0">
                          <a:solidFill>
                            <a:schemeClr val="tx1"/>
                          </a:solidFill>
                          <a:latin typeface="+mn-lt"/>
                          <a:ea typeface="+mn-ea"/>
                          <a:cs typeface="+mn-cs"/>
                        </a:rPr>
                        <a:t>216)</a:t>
                      </a:r>
                      <a:endParaRPr lang="ko-KR" altLang="en-US" sz="1050" kern="1200" dirty="0">
                        <a:solidFill>
                          <a:schemeClr val="tx1"/>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20000"/>
                        </a:lnSpc>
                        <a:spcBef>
                          <a:spcPts val="0"/>
                        </a:spcBef>
                        <a:spcAft>
                          <a:spcPts val="0"/>
                        </a:spcAft>
                      </a:pPr>
                      <a:r>
                        <a:rPr lang="ko-KR" altLang="en-US" sz="1050" kern="1200" dirty="0">
                          <a:solidFill>
                            <a:schemeClr val="tx1"/>
                          </a:solidFill>
                          <a:latin typeface="+mn-lt"/>
                          <a:ea typeface="+mn-ea"/>
                          <a:cs typeface="+mn-cs"/>
                        </a:rPr>
                        <a:t>출원한 날부터 발생</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20000"/>
                        </a:lnSpc>
                        <a:spcBef>
                          <a:spcPts val="0"/>
                        </a:spcBef>
                        <a:spcAft>
                          <a:spcPts val="0"/>
                        </a:spcAft>
                      </a:pPr>
                      <a:r>
                        <a:rPr lang="ko-KR" altLang="en-US" sz="1050" kern="1200" dirty="0">
                          <a:solidFill>
                            <a:schemeClr val="tx1"/>
                          </a:solidFill>
                          <a:latin typeface="+mn-lt"/>
                          <a:ea typeface="+mn-ea"/>
                          <a:cs typeface="+mn-cs"/>
                        </a:rPr>
                        <a:t>출원한 날의 다음날부터 발생하여 출원공개 또는 등록공고 전까지 인정</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366872430"/>
                  </a:ext>
                </a:extLst>
              </a:tr>
              <a:tr h="194367">
                <a:tc>
                  <a:txBody>
                    <a:bodyPr/>
                    <a:lstStyle/>
                    <a:p>
                      <a:pPr marL="0" marR="0" indent="0" algn="ctr" fontAlgn="base" latinLnBrk="0">
                        <a:lnSpc>
                          <a:spcPct val="120000"/>
                        </a:lnSpc>
                        <a:spcBef>
                          <a:spcPts val="0"/>
                        </a:spcBef>
                        <a:spcAft>
                          <a:spcPts val="0"/>
                        </a:spcAft>
                      </a:pPr>
                      <a:r>
                        <a:rPr lang="ko-KR" altLang="en-US" sz="1050" kern="1200" dirty="0">
                          <a:solidFill>
                            <a:schemeClr val="tx1"/>
                          </a:solidFill>
                          <a:latin typeface="+mn-lt"/>
                          <a:ea typeface="+mn-ea"/>
                          <a:cs typeface="+mn-cs"/>
                        </a:rPr>
                        <a:t>범위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just" fontAlgn="base" latinLnBrk="1">
                        <a:lnSpc>
                          <a:spcPct val="120000"/>
                        </a:lnSpc>
                        <a:spcBef>
                          <a:spcPts val="0"/>
                        </a:spcBef>
                        <a:spcAft>
                          <a:spcPts val="0"/>
                        </a:spcAft>
                      </a:pPr>
                      <a:r>
                        <a:rPr lang="ko-KR" altLang="en-US" sz="1050" kern="1200" dirty="0">
                          <a:solidFill>
                            <a:schemeClr val="tx1"/>
                          </a:solidFill>
                          <a:latin typeface="+mn-lt"/>
                          <a:ea typeface="+mn-ea"/>
                          <a:cs typeface="+mn-cs"/>
                        </a:rPr>
                        <a:t>최초 명세서 또는 도면</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20000"/>
                        </a:lnSpc>
                        <a:spcBef>
                          <a:spcPts val="0"/>
                        </a:spcBef>
                        <a:spcAft>
                          <a:spcPts val="0"/>
                        </a:spcAft>
                      </a:pPr>
                      <a:r>
                        <a:rPr lang="ko-KR" altLang="en-US" sz="1050" kern="1200" dirty="0" err="1">
                          <a:solidFill>
                            <a:schemeClr val="tx1"/>
                          </a:solidFill>
                          <a:latin typeface="+mn-lt"/>
                          <a:ea typeface="+mn-ea"/>
                          <a:cs typeface="+mn-cs"/>
                        </a:rPr>
                        <a:t>청구범위</a:t>
                      </a:r>
                      <a:endParaRPr lang="ko-KR" altLang="en-US" sz="1050" kern="1200" dirty="0">
                        <a:solidFill>
                          <a:schemeClr val="tx1"/>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20000"/>
                        </a:lnSpc>
                        <a:spcBef>
                          <a:spcPts val="0"/>
                        </a:spcBef>
                        <a:spcAft>
                          <a:spcPts val="0"/>
                        </a:spcAft>
                      </a:pPr>
                      <a:r>
                        <a:rPr lang="ko-KR" altLang="en-US" sz="1050" kern="1200">
                          <a:solidFill>
                            <a:schemeClr val="tx1"/>
                          </a:solidFill>
                          <a:latin typeface="+mn-lt"/>
                          <a:ea typeface="+mn-ea"/>
                          <a:cs typeface="+mn-cs"/>
                        </a:rPr>
                        <a:t>최초 명세서 또는 도면</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956722737"/>
                  </a:ext>
                </a:extLst>
              </a:tr>
              <a:tr h="194367">
                <a:tc>
                  <a:txBody>
                    <a:bodyPr/>
                    <a:lstStyle/>
                    <a:p>
                      <a:pPr marL="0" marR="0" indent="0" algn="ctr" fontAlgn="base" latinLnBrk="0">
                        <a:lnSpc>
                          <a:spcPct val="120000"/>
                        </a:lnSpc>
                        <a:spcBef>
                          <a:spcPts val="0"/>
                        </a:spcBef>
                        <a:spcAft>
                          <a:spcPts val="0"/>
                        </a:spcAft>
                      </a:pPr>
                      <a:r>
                        <a:rPr lang="ko-KR" altLang="en-US" sz="1050" kern="1200" dirty="0">
                          <a:solidFill>
                            <a:schemeClr val="tx1"/>
                          </a:solidFill>
                          <a:latin typeface="+mn-lt"/>
                          <a:ea typeface="+mn-ea"/>
                          <a:cs typeface="+mn-cs"/>
                        </a:rPr>
                        <a:t>지역</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just" fontAlgn="base" latinLnBrk="1">
                        <a:lnSpc>
                          <a:spcPct val="120000"/>
                        </a:lnSpc>
                        <a:spcBef>
                          <a:spcPts val="0"/>
                        </a:spcBef>
                        <a:spcAft>
                          <a:spcPts val="0"/>
                        </a:spcAft>
                      </a:pPr>
                      <a:r>
                        <a:rPr lang="ko-KR" altLang="en-US" sz="1050" kern="1200">
                          <a:solidFill>
                            <a:schemeClr val="tx1"/>
                          </a:solidFill>
                          <a:latin typeface="+mn-lt"/>
                          <a:ea typeface="+mn-ea"/>
                          <a:cs typeface="+mn-cs"/>
                        </a:rPr>
                        <a:t>국제주의</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20000"/>
                        </a:lnSpc>
                        <a:spcBef>
                          <a:spcPts val="0"/>
                        </a:spcBef>
                        <a:spcAft>
                          <a:spcPts val="0"/>
                        </a:spcAft>
                      </a:pPr>
                      <a:r>
                        <a:rPr lang="ko-KR" altLang="en-US" sz="1050" kern="1200" dirty="0" err="1">
                          <a:solidFill>
                            <a:schemeClr val="tx1"/>
                          </a:solidFill>
                          <a:latin typeface="+mn-lt"/>
                          <a:ea typeface="+mn-ea"/>
                          <a:cs typeface="+mn-cs"/>
                        </a:rPr>
                        <a:t>국내주의</a:t>
                      </a:r>
                      <a:endParaRPr lang="ko-KR" altLang="en-US" sz="1050" kern="1200" dirty="0">
                        <a:solidFill>
                          <a:schemeClr val="tx1"/>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20000"/>
                        </a:lnSpc>
                        <a:spcBef>
                          <a:spcPts val="0"/>
                        </a:spcBef>
                        <a:spcAft>
                          <a:spcPts val="0"/>
                        </a:spcAft>
                      </a:pPr>
                      <a:r>
                        <a:rPr lang="ko-KR" altLang="en-US" sz="1050" kern="1200">
                          <a:solidFill>
                            <a:schemeClr val="tx1"/>
                          </a:solidFill>
                          <a:latin typeface="+mn-lt"/>
                          <a:ea typeface="+mn-ea"/>
                          <a:cs typeface="+mn-cs"/>
                        </a:rPr>
                        <a:t>국내주의</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267946965"/>
                  </a:ext>
                </a:extLst>
              </a:tr>
              <a:tr h="194367">
                <a:tc>
                  <a:txBody>
                    <a:bodyPr/>
                    <a:lstStyle/>
                    <a:p>
                      <a:pPr marL="0" marR="0" indent="0" algn="ctr" fontAlgn="base" latinLnBrk="0">
                        <a:lnSpc>
                          <a:spcPct val="120000"/>
                        </a:lnSpc>
                        <a:spcBef>
                          <a:spcPts val="0"/>
                        </a:spcBef>
                        <a:spcAft>
                          <a:spcPts val="0"/>
                        </a:spcAft>
                      </a:pPr>
                      <a:r>
                        <a:rPr lang="ko-KR" altLang="en-US" sz="1050" kern="1200" dirty="0">
                          <a:solidFill>
                            <a:schemeClr val="tx1"/>
                          </a:solidFill>
                          <a:latin typeface="+mn-lt"/>
                          <a:ea typeface="+mn-ea"/>
                          <a:cs typeface="+mn-cs"/>
                        </a:rPr>
                        <a:t>판단</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just" fontAlgn="base" latinLnBrk="1">
                        <a:lnSpc>
                          <a:spcPct val="120000"/>
                        </a:lnSpc>
                        <a:spcBef>
                          <a:spcPts val="0"/>
                        </a:spcBef>
                        <a:spcAft>
                          <a:spcPts val="0"/>
                        </a:spcAft>
                      </a:pPr>
                      <a:r>
                        <a:rPr lang="ko-KR" altLang="en-US" sz="1050" kern="1200">
                          <a:solidFill>
                            <a:schemeClr val="tx1"/>
                          </a:solidFill>
                          <a:latin typeface="+mn-lt"/>
                          <a:ea typeface="+mn-ea"/>
                          <a:cs typeface="+mn-cs"/>
                        </a:rPr>
                        <a:t>동일성과 용이성 판단</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20000"/>
                        </a:lnSpc>
                        <a:spcBef>
                          <a:spcPts val="0"/>
                        </a:spcBef>
                        <a:spcAft>
                          <a:spcPts val="0"/>
                        </a:spcAft>
                      </a:pPr>
                      <a:r>
                        <a:rPr lang="ko-KR" altLang="en-US" sz="1050" kern="1200" dirty="0">
                          <a:solidFill>
                            <a:schemeClr val="tx1"/>
                          </a:solidFill>
                          <a:latin typeface="+mn-lt"/>
                          <a:ea typeface="+mn-ea"/>
                          <a:cs typeface="+mn-cs"/>
                        </a:rPr>
                        <a:t>동일성 판단</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20000"/>
                        </a:lnSpc>
                        <a:spcBef>
                          <a:spcPts val="0"/>
                        </a:spcBef>
                        <a:spcAft>
                          <a:spcPts val="0"/>
                        </a:spcAft>
                      </a:pPr>
                      <a:r>
                        <a:rPr lang="ko-KR" altLang="en-US" sz="1050" kern="1200">
                          <a:solidFill>
                            <a:schemeClr val="tx1"/>
                          </a:solidFill>
                          <a:latin typeface="+mn-lt"/>
                          <a:ea typeface="+mn-ea"/>
                          <a:cs typeface="+mn-cs"/>
                        </a:rPr>
                        <a:t>동일성 판단</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39845314"/>
                  </a:ext>
                </a:extLst>
              </a:tr>
              <a:tr h="358181">
                <a:tc>
                  <a:txBody>
                    <a:bodyPr/>
                    <a:lstStyle/>
                    <a:p>
                      <a:pPr marL="0" marR="0" indent="0" algn="ctr" fontAlgn="base" latinLnBrk="0">
                        <a:lnSpc>
                          <a:spcPct val="120000"/>
                        </a:lnSpc>
                        <a:spcBef>
                          <a:spcPts val="0"/>
                        </a:spcBef>
                        <a:spcAft>
                          <a:spcPts val="0"/>
                        </a:spcAft>
                      </a:pPr>
                      <a:r>
                        <a:rPr lang="ko-KR" altLang="en-US" sz="1050" kern="1200" dirty="0">
                          <a:solidFill>
                            <a:schemeClr val="tx1"/>
                          </a:solidFill>
                          <a:latin typeface="+mn-lt"/>
                          <a:ea typeface="+mn-ea"/>
                          <a:cs typeface="+mn-cs"/>
                        </a:rPr>
                        <a:t>비고</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just" fontAlgn="base" latinLnBrk="1">
                        <a:lnSpc>
                          <a:spcPct val="120000"/>
                        </a:lnSpc>
                        <a:spcBef>
                          <a:spcPts val="0"/>
                        </a:spcBef>
                        <a:spcAft>
                          <a:spcPts val="0"/>
                        </a:spcAft>
                      </a:pPr>
                      <a:endParaRPr lang="ko-KR" altLang="en-US" sz="1050" kern="1200" dirty="0">
                        <a:solidFill>
                          <a:schemeClr val="tx1"/>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20000"/>
                        </a:lnSpc>
                        <a:spcBef>
                          <a:spcPts val="0"/>
                        </a:spcBef>
                        <a:spcAft>
                          <a:spcPts val="0"/>
                        </a:spcAft>
                      </a:pPr>
                      <a:r>
                        <a:rPr lang="ko-KR" altLang="en-US" sz="1050" kern="1200">
                          <a:solidFill>
                            <a:schemeClr val="tx1"/>
                          </a:solidFill>
                          <a:latin typeface="+mn-lt"/>
                          <a:ea typeface="+mn-ea"/>
                          <a:cs typeface="+mn-cs"/>
                        </a:rPr>
                        <a:t>출원이 무효</a:t>
                      </a:r>
                      <a:r>
                        <a:rPr lang="en-US" altLang="ko-KR" sz="1050" kern="1200">
                          <a:solidFill>
                            <a:schemeClr val="tx1"/>
                          </a:solidFill>
                          <a:latin typeface="+mn-lt"/>
                          <a:ea typeface="+mn-ea"/>
                          <a:cs typeface="+mn-cs"/>
                        </a:rPr>
                        <a:t>, </a:t>
                      </a:r>
                      <a:r>
                        <a:rPr lang="ko-KR" altLang="en-US" sz="1050" kern="1200">
                          <a:solidFill>
                            <a:schemeClr val="tx1"/>
                          </a:solidFill>
                          <a:latin typeface="+mn-lt"/>
                          <a:ea typeface="+mn-ea"/>
                          <a:cs typeface="+mn-cs"/>
                        </a:rPr>
                        <a:t>취하</a:t>
                      </a:r>
                      <a:r>
                        <a:rPr lang="en-US" altLang="ko-KR" sz="1050" kern="1200">
                          <a:solidFill>
                            <a:schemeClr val="tx1"/>
                          </a:solidFill>
                          <a:latin typeface="+mn-lt"/>
                          <a:ea typeface="+mn-ea"/>
                          <a:cs typeface="+mn-cs"/>
                        </a:rPr>
                        <a:t>, </a:t>
                      </a:r>
                      <a:r>
                        <a:rPr lang="ko-KR" altLang="en-US" sz="1050" kern="1200">
                          <a:solidFill>
                            <a:schemeClr val="tx1"/>
                          </a:solidFill>
                          <a:latin typeface="+mn-lt"/>
                          <a:ea typeface="+mn-ea"/>
                          <a:cs typeface="+mn-cs"/>
                        </a:rPr>
                        <a:t>포기</a:t>
                      </a:r>
                      <a:r>
                        <a:rPr lang="en-US" altLang="ko-KR" sz="1050" kern="1200">
                          <a:solidFill>
                            <a:schemeClr val="tx1"/>
                          </a:solidFill>
                          <a:latin typeface="+mn-lt"/>
                          <a:ea typeface="+mn-ea"/>
                          <a:cs typeface="+mn-cs"/>
                        </a:rPr>
                        <a:t>, </a:t>
                      </a:r>
                      <a:r>
                        <a:rPr lang="ko-KR" altLang="en-US" sz="1050" kern="1200">
                          <a:solidFill>
                            <a:schemeClr val="tx1"/>
                          </a:solidFill>
                          <a:latin typeface="+mn-lt"/>
                          <a:ea typeface="+mn-ea"/>
                          <a:cs typeface="+mn-cs"/>
                        </a:rPr>
                        <a:t>거절결정확정</a:t>
                      </a:r>
                      <a:r>
                        <a:rPr lang="en-US" altLang="ko-KR" sz="1050" kern="1200">
                          <a:solidFill>
                            <a:schemeClr val="tx1"/>
                          </a:solidFill>
                          <a:latin typeface="+mn-lt"/>
                          <a:ea typeface="+mn-ea"/>
                          <a:cs typeface="+mn-cs"/>
                        </a:rPr>
                        <a:t>(</a:t>
                      </a:r>
                      <a:r>
                        <a:rPr lang="ko-KR" altLang="en-US" sz="1050" kern="1200">
                          <a:solidFill>
                            <a:schemeClr val="tx1"/>
                          </a:solidFill>
                          <a:latin typeface="+mn-lt"/>
                          <a:ea typeface="+mn-ea"/>
                          <a:cs typeface="+mn-cs"/>
                        </a:rPr>
                        <a:t>단</a:t>
                      </a:r>
                      <a:r>
                        <a:rPr lang="en-US" altLang="ko-KR" sz="1050" kern="1200">
                          <a:solidFill>
                            <a:schemeClr val="tx1"/>
                          </a:solidFill>
                          <a:latin typeface="+mn-lt"/>
                          <a:ea typeface="+mn-ea"/>
                          <a:cs typeface="+mn-cs"/>
                        </a:rPr>
                        <a:t>, </a:t>
                      </a:r>
                      <a:r>
                        <a:rPr lang="ko-KR" altLang="en-US" sz="1050" kern="1200">
                          <a:solidFill>
                            <a:schemeClr val="tx1"/>
                          </a:solidFill>
                          <a:latin typeface="+mn-lt"/>
                          <a:ea typeface="+mn-ea"/>
                          <a:cs typeface="+mn-cs"/>
                        </a:rPr>
                        <a:t>협의불성립으로 거절결정이 확정된 경우는 제외</a:t>
                      </a:r>
                      <a:r>
                        <a:rPr lang="en-US" altLang="ko-KR" sz="1050" kern="1200">
                          <a:solidFill>
                            <a:schemeClr val="tx1"/>
                          </a:solidFill>
                          <a:latin typeface="+mn-lt"/>
                          <a:ea typeface="+mn-ea"/>
                          <a:cs typeface="+mn-cs"/>
                        </a:rPr>
                        <a:t>)</a:t>
                      </a:r>
                      <a:r>
                        <a:rPr lang="ko-KR" altLang="en-US" sz="1050" kern="1200">
                          <a:solidFill>
                            <a:schemeClr val="tx1"/>
                          </a:solidFill>
                          <a:latin typeface="+mn-lt"/>
                          <a:ea typeface="+mn-ea"/>
                          <a:cs typeface="+mn-cs"/>
                        </a:rPr>
                        <a:t>된 경우나 무권리자 출원의 경우 부적용</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20000"/>
                        </a:lnSpc>
                        <a:spcBef>
                          <a:spcPts val="0"/>
                        </a:spcBef>
                        <a:spcAft>
                          <a:spcPts val="0"/>
                        </a:spcAft>
                      </a:pPr>
                      <a:r>
                        <a:rPr lang="ko-KR" altLang="en-US" sz="1050" kern="1200" dirty="0">
                          <a:solidFill>
                            <a:schemeClr val="tx1"/>
                          </a:solidFill>
                          <a:latin typeface="+mn-lt"/>
                          <a:ea typeface="+mn-ea"/>
                          <a:cs typeface="+mn-cs"/>
                        </a:rPr>
                        <a:t>발명자나 그 </a:t>
                      </a:r>
                      <a:r>
                        <a:rPr lang="ko-KR" altLang="en-US" sz="1050" kern="1200" dirty="0" err="1">
                          <a:solidFill>
                            <a:schemeClr val="tx1"/>
                          </a:solidFill>
                          <a:latin typeface="+mn-lt"/>
                          <a:ea typeface="+mn-ea"/>
                          <a:cs typeface="+mn-cs"/>
                        </a:rPr>
                        <a:t>특허출원할</a:t>
                      </a:r>
                      <a:r>
                        <a:rPr lang="ko-KR" altLang="en-US" sz="1050" kern="1200" dirty="0">
                          <a:solidFill>
                            <a:schemeClr val="tx1"/>
                          </a:solidFill>
                          <a:latin typeface="+mn-lt"/>
                          <a:ea typeface="+mn-ea"/>
                          <a:cs typeface="+mn-cs"/>
                        </a:rPr>
                        <a:t> 때의 출원인 동일의 경우 </a:t>
                      </a:r>
                      <a:r>
                        <a:rPr lang="ko-KR" altLang="en-US" sz="1050" kern="1200" dirty="0" err="1">
                          <a:solidFill>
                            <a:schemeClr val="tx1"/>
                          </a:solidFill>
                          <a:latin typeface="+mn-lt"/>
                          <a:ea typeface="+mn-ea"/>
                          <a:cs typeface="+mn-cs"/>
                        </a:rPr>
                        <a:t>부적용</a:t>
                      </a:r>
                      <a:endParaRPr lang="ko-KR" altLang="en-US" sz="1050" kern="1200" dirty="0">
                        <a:solidFill>
                          <a:schemeClr val="tx1"/>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374889861"/>
                  </a:ext>
                </a:extLst>
              </a:tr>
            </a:tbl>
          </a:graphicData>
        </a:graphic>
      </p:graphicFrame>
      <p:cxnSp>
        <p:nvCxnSpPr>
          <p:cNvPr id="114" name="직선 연결선 113"/>
          <p:cNvCxnSpPr/>
          <p:nvPr/>
        </p:nvCxnSpPr>
        <p:spPr>
          <a:xfrm flipV="1">
            <a:off x="133350" y="2915711"/>
            <a:ext cx="11963400" cy="2857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6" name="자유형 115"/>
          <p:cNvSpPr/>
          <p:nvPr/>
        </p:nvSpPr>
        <p:spPr>
          <a:xfrm flipV="1">
            <a:off x="2595414" y="4554427"/>
            <a:ext cx="3240360" cy="717277"/>
          </a:xfrm>
          <a:custGeom>
            <a:avLst/>
            <a:gdLst>
              <a:gd name="connsiteX0" fmla="*/ 0 w 3612445"/>
              <a:gd name="connsiteY0" fmla="*/ 699911 h 711200"/>
              <a:gd name="connsiteX1" fmla="*/ 688623 w 3612445"/>
              <a:gd name="connsiteY1" fmla="*/ 11289 h 711200"/>
              <a:gd name="connsiteX2" fmla="*/ 2889956 w 3612445"/>
              <a:gd name="connsiteY2" fmla="*/ 0 h 711200"/>
              <a:gd name="connsiteX3" fmla="*/ 3612445 w 3612445"/>
              <a:gd name="connsiteY3" fmla="*/ 711200 h 711200"/>
            </a:gdLst>
            <a:ahLst/>
            <a:cxnLst>
              <a:cxn ang="0">
                <a:pos x="connsiteX0" y="connsiteY0"/>
              </a:cxn>
              <a:cxn ang="0">
                <a:pos x="connsiteX1" y="connsiteY1"/>
              </a:cxn>
              <a:cxn ang="0">
                <a:pos x="connsiteX2" y="connsiteY2"/>
              </a:cxn>
              <a:cxn ang="0">
                <a:pos x="connsiteX3" y="connsiteY3"/>
              </a:cxn>
            </a:cxnLst>
            <a:rect l="l" t="t" r="r" b="b"/>
            <a:pathLst>
              <a:path w="3612445" h="711200">
                <a:moveTo>
                  <a:pt x="0" y="699911"/>
                </a:moveTo>
                <a:lnTo>
                  <a:pt x="688623" y="11289"/>
                </a:lnTo>
                <a:lnTo>
                  <a:pt x="2889956" y="0"/>
                </a:lnTo>
                <a:lnTo>
                  <a:pt x="3612445" y="711200"/>
                </a:lnTo>
              </a:path>
            </a:pathLst>
          </a:custGeom>
          <a:pattFill prst="lgGrid">
            <a:fgClr>
              <a:schemeClr val="accent2">
                <a:lumMod val="60000"/>
                <a:lumOff val="40000"/>
              </a:schemeClr>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8" name="자유형 117"/>
          <p:cNvSpPr/>
          <p:nvPr/>
        </p:nvSpPr>
        <p:spPr>
          <a:xfrm flipV="1">
            <a:off x="5547741" y="4565719"/>
            <a:ext cx="3938939" cy="711802"/>
          </a:xfrm>
          <a:custGeom>
            <a:avLst/>
            <a:gdLst>
              <a:gd name="connsiteX0" fmla="*/ 0 w 3680178"/>
              <a:gd name="connsiteY0" fmla="*/ 699911 h 733778"/>
              <a:gd name="connsiteX1" fmla="*/ 722489 w 3680178"/>
              <a:gd name="connsiteY1" fmla="*/ 0 h 733778"/>
              <a:gd name="connsiteX2" fmla="*/ 3680178 w 3680178"/>
              <a:gd name="connsiteY2" fmla="*/ 0 h 733778"/>
              <a:gd name="connsiteX3" fmla="*/ 3680178 w 3680178"/>
              <a:gd name="connsiteY3" fmla="*/ 733778 h 733778"/>
            </a:gdLst>
            <a:ahLst/>
            <a:cxnLst>
              <a:cxn ang="0">
                <a:pos x="connsiteX0" y="connsiteY0"/>
              </a:cxn>
              <a:cxn ang="0">
                <a:pos x="connsiteX1" y="connsiteY1"/>
              </a:cxn>
              <a:cxn ang="0">
                <a:pos x="connsiteX2" y="connsiteY2"/>
              </a:cxn>
              <a:cxn ang="0">
                <a:pos x="connsiteX3" y="connsiteY3"/>
              </a:cxn>
            </a:cxnLst>
            <a:rect l="l" t="t" r="r" b="b"/>
            <a:pathLst>
              <a:path w="3680178" h="733778">
                <a:moveTo>
                  <a:pt x="0" y="699911"/>
                </a:moveTo>
                <a:lnTo>
                  <a:pt x="722489" y="0"/>
                </a:lnTo>
                <a:lnTo>
                  <a:pt x="3680178" y="0"/>
                </a:lnTo>
                <a:lnTo>
                  <a:pt x="3680178" y="733778"/>
                </a:lnTo>
              </a:path>
            </a:pathLst>
          </a:custGeom>
          <a:pattFill prst="ltVert">
            <a:fgClr>
              <a:schemeClr val="accent3">
                <a:lumMod val="50000"/>
              </a:schemeClr>
            </a:fgClr>
            <a:bgClr>
              <a:schemeClr val="bg1"/>
            </a:bgClr>
          </a:patt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20" name="자유형 119"/>
          <p:cNvSpPr/>
          <p:nvPr/>
        </p:nvSpPr>
        <p:spPr>
          <a:xfrm flipV="1">
            <a:off x="1378188" y="3808907"/>
            <a:ext cx="8223012" cy="720493"/>
          </a:xfrm>
          <a:custGeom>
            <a:avLst/>
            <a:gdLst>
              <a:gd name="connsiteX0" fmla="*/ 0 w 7303911"/>
              <a:gd name="connsiteY0" fmla="*/ 33867 h 722489"/>
              <a:gd name="connsiteX1" fmla="*/ 722489 w 7303911"/>
              <a:gd name="connsiteY1" fmla="*/ 722489 h 722489"/>
              <a:gd name="connsiteX2" fmla="*/ 7303911 w 7303911"/>
              <a:gd name="connsiteY2" fmla="*/ 722489 h 722489"/>
              <a:gd name="connsiteX3" fmla="*/ 7303911 w 7303911"/>
              <a:gd name="connsiteY3" fmla="*/ 0 h 722489"/>
            </a:gdLst>
            <a:ahLst/>
            <a:cxnLst>
              <a:cxn ang="0">
                <a:pos x="connsiteX0" y="connsiteY0"/>
              </a:cxn>
              <a:cxn ang="0">
                <a:pos x="connsiteX1" y="connsiteY1"/>
              </a:cxn>
              <a:cxn ang="0">
                <a:pos x="connsiteX2" y="connsiteY2"/>
              </a:cxn>
              <a:cxn ang="0">
                <a:pos x="connsiteX3" y="connsiteY3"/>
              </a:cxn>
            </a:cxnLst>
            <a:rect l="l" t="t" r="r" b="b"/>
            <a:pathLst>
              <a:path w="7303911" h="722489">
                <a:moveTo>
                  <a:pt x="0" y="33867"/>
                </a:moveTo>
                <a:lnTo>
                  <a:pt x="722489" y="722489"/>
                </a:lnTo>
                <a:lnTo>
                  <a:pt x="7303911" y="722489"/>
                </a:lnTo>
                <a:lnTo>
                  <a:pt x="7303911" y="0"/>
                </a:lnTo>
              </a:path>
            </a:pathLst>
          </a:custGeom>
          <a:pattFill prst="pct5">
            <a:fgClr>
              <a:schemeClr val="accent5">
                <a:lumMod val="50000"/>
              </a:schemeClr>
            </a:fgClr>
            <a:bgClr>
              <a:schemeClr val="bg1"/>
            </a:bgClr>
          </a:pattFill>
          <a:ln>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22" name="직선 화살표 연결선 121"/>
          <p:cNvCxnSpPr/>
          <p:nvPr/>
        </p:nvCxnSpPr>
        <p:spPr>
          <a:xfrm>
            <a:off x="1803326" y="4551608"/>
            <a:ext cx="8064896" cy="0"/>
          </a:xfrm>
          <a:prstGeom prst="straightConnector1">
            <a:avLst/>
          </a:prstGeom>
          <a:ln w="762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4" name="직사각형 123"/>
          <p:cNvSpPr/>
          <p:nvPr/>
        </p:nvSpPr>
        <p:spPr>
          <a:xfrm>
            <a:off x="1515294" y="4371588"/>
            <a:ext cx="1080120" cy="360040"/>
          </a:xfrm>
          <a:prstGeom prst="rect">
            <a:avLst/>
          </a:prstGeom>
          <a:solidFill>
            <a:schemeClr val="accent5">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rPr>
              <a:t>특허출원</a:t>
            </a:r>
            <a:r>
              <a:rPr kumimoji="0" lang="en-US" altLang="ko-KR"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endParaRPr>
          </a:p>
        </p:txBody>
      </p:sp>
      <p:sp>
        <p:nvSpPr>
          <p:cNvPr id="126" name="직사각형 125"/>
          <p:cNvSpPr/>
          <p:nvPr/>
        </p:nvSpPr>
        <p:spPr>
          <a:xfrm>
            <a:off x="5105161" y="4371588"/>
            <a:ext cx="1245202" cy="360040"/>
          </a:xfrm>
          <a:prstGeom prst="rect">
            <a:avLst/>
          </a:prstGeom>
          <a:solidFill>
            <a:schemeClr val="accent5">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rPr>
              <a:t>출원공개</a:t>
            </a:r>
            <a:r>
              <a:rPr kumimoji="0" lang="en-US" altLang="ko-KR"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endParaRPr>
          </a:p>
        </p:txBody>
      </p:sp>
      <p:sp>
        <p:nvSpPr>
          <p:cNvPr id="128" name="TextBox 127"/>
          <p:cNvSpPr txBox="1"/>
          <p:nvPr/>
        </p:nvSpPr>
        <p:spPr>
          <a:xfrm>
            <a:off x="2925162" y="5055664"/>
            <a:ext cx="2374368" cy="1077218"/>
          </a:xfrm>
          <a:prstGeom prst="rect">
            <a:avLst/>
          </a:prstGeom>
          <a:solidFill>
            <a:schemeClr val="bg1">
              <a:lumMod val="95000"/>
            </a:schemeClr>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1" i="0" u="none" strike="noStrike" kern="1200" cap="none" spc="0" normalizeH="0" baseline="0" noProof="0" dirty="0">
                <a:ln>
                  <a:noFill/>
                </a:ln>
                <a:solidFill>
                  <a:srgbClr val="ED7D31"/>
                </a:solidFill>
                <a:effectLst/>
                <a:uLnTx/>
                <a:uFillTx/>
                <a:latin typeface="Frutiger LT 65 Bold"/>
                <a:ea typeface="Rix모던고딕 B"/>
                <a:cs typeface="+mn-cs"/>
              </a:rPr>
              <a:t>확대된 </a:t>
            </a:r>
            <a:r>
              <a:rPr kumimoji="0" lang="ko-KR" altLang="en-US" sz="1600" b="1" i="0" u="none" strike="noStrike" kern="1200" cap="none" spc="0" normalizeH="0" baseline="0" noProof="0" dirty="0" err="1">
                <a:ln>
                  <a:noFill/>
                </a:ln>
                <a:solidFill>
                  <a:srgbClr val="ED7D31"/>
                </a:solidFill>
                <a:effectLst/>
                <a:uLnTx/>
                <a:uFillTx/>
                <a:latin typeface="Frutiger LT 65 Bold"/>
                <a:ea typeface="Rix모던고딕 B"/>
                <a:cs typeface="+mn-cs"/>
              </a:rPr>
              <a:t>선출원의</a:t>
            </a:r>
            <a:r>
              <a:rPr kumimoji="0" lang="ko-KR" altLang="en-US" sz="1600" b="1" i="0" u="none" strike="noStrike" kern="1200" cap="none" spc="0" normalizeH="0" baseline="0" noProof="0" dirty="0">
                <a:ln>
                  <a:noFill/>
                </a:ln>
                <a:solidFill>
                  <a:srgbClr val="ED7D31"/>
                </a:solidFill>
                <a:effectLst/>
                <a:uLnTx/>
                <a:uFillTx/>
                <a:latin typeface="Frutiger LT 65 Bold"/>
                <a:ea typeface="Rix모던고딕 B"/>
                <a:cs typeface="+mn-cs"/>
              </a:rPr>
              <a:t> 지위</a:t>
            </a:r>
            <a:endParaRPr kumimoji="0" lang="en-US" altLang="ko-KR" sz="1600" b="1" i="0" u="none" strike="noStrike" kern="1200" cap="none" spc="0" normalizeH="0" baseline="0" noProof="0" dirty="0">
              <a:ln>
                <a:noFill/>
              </a:ln>
              <a:solidFill>
                <a:srgbClr val="ED7D31"/>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범위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최초 명세서 또는 도면</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지역</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국내</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판단</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동일성</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비고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출원인 동일 부적용</a:t>
            </a:r>
          </a:p>
        </p:txBody>
      </p:sp>
      <p:sp>
        <p:nvSpPr>
          <p:cNvPr id="130" name="TextBox 129"/>
          <p:cNvSpPr txBox="1"/>
          <p:nvPr/>
        </p:nvSpPr>
        <p:spPr>
          <a:xfrm>
            <a:off x="6134339" y="5055664"/>
            <a:ext cx="3114638" cy="1077218"/>
          </a:xfrm>
          <a:prstGeom prst="rect">
            <a:avLst/>
          </a:prstGeom>
          <a:solidFill>
            <a:schemeClr val="bg1">
              <a:lumMod val="95000"/>
            </a:schemeClr>
          </a:solid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1"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공지기술</a:t>
            </a:r>
            <a:r>
              <a:rPr kumimoji="0" lang="en-US" altLang="ko-KR" sz="1600" b="1"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a:t>
            </a:r>
            <a:r>
              <a:rPr kumimoji="0" lang="ko-KR" altLang="en-US" sz="1600" b="1"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의 지위</a:t>
            </a:r>
            <a:r>
              <a:rPr kumimoji="0" lang="en-US" altLang="ko-KR" sz="1600" b="1"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a:t>
            </a:r>
            <a:r>
              <a:rPr kumimoji="0" lang="ko-KR" altLang="en-US" sz="1600" b="1" i="0" u="none" strike="noStrike" kern="1200" cap="none" spc="0" normalizeH="0" baseline="0" noProof="0" dirty="0" err="1">
                <a:ln>
                  <a:noFill/>
                </a:ln>
                <a:solidFill>
                  <a:srgbClr val="A5A5A5">
                    <a:lumMod val="50000"/>
                  </a:srgbClr>
                </a:solidFill>
                <a:effectLst/>
                <a:uLnTx/>
                <a:uFillTx/>
                <a:latin typeface="Frutiger LT 65 Bold"/>
                <a:ea typeface="Rix모던고딕 B"/>
                <a:cs typeface="+mn-cs"/>
              </a:rPr>
              <a:t>신규성</a:t>
            </a:r>
            <a:r>
              <a:rPr kumimoji="0" lang="en-US" altLang="ko-KR" sz="1600" b="1"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a:t>
            </a:r>
            <a:r>
              <a:rPr kumimoji="0" lang="ko-KR" altLang="en-US" sz="1600" b="1"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진보성</a:t>
            </a:r>
            <a:r>
              <a:rPr kumimoji="0" lang="en-US" altLang="ko-KR" sz="1600" b="1"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a:t>
            </a:r>
            <a:r>
              <a:rPr kumimoji="0" lang="ko-KR" altLang="en-US" sz="1200" b="1"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 </a:t>
            </a:r>
            <a:endParaRPr kumimoji="0" lang="en-US" altLang="ko-KR" sz="1200" b="1" i="0" u="none" strike="noStrike" kern="1200" cap="none" spc="0" normalizeH="0" baseline="0" noProof="0" dirty="0">
              <a:ln>
                <a:noFill/>
              </a:ln>
              <a:solidFill>
                <a:srgbClr val="A5A5A5">
                  <a:lumMod val="50000"/>
                </a:srgbClr>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범위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최초 명세서 또는 도면</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지역</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국외</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판단</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동일성</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용이성</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비고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2" name="TextBox 131"/>
          <p:cNvSpPr txBox="1"/>
          <p:nvPr/>
        </p:nvSpPr>
        <p:spPr>
          <a:xfrm>
            <a:off x="3572449" y="3043753"/>
            <a:ext cx="4580100" cy="1077218"/>
          </a:xfrm>
          <a:prstGeom prst="rect">
            <a:avLst/>
          </a:prstGeom>
          <a:solidFill>
            <a:schemeClr val="bg1">
              <a:lumMod val="95000"/>
            </a:schemeClr>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1" i="0" u="none" strike="noStrike" kern="1200" cap="none" spc="0" normalizeH="0" baseline="0" noProof="0" dirty="0" err="1">
                <a:ln>
                  <a:noFill/>
                </a:ln>
                <a:solidFill>
                  <a:srgbClr val="ED7D31"/>
                </a:solidFill>
                <a:effectLst/>
                <a:uLnTx/>
                <a:uFillTx/>
                <a:latin typeface="Frutiger LT 65 Bold"/>
                <a:ea typeface="Rix모던고딕 B"/>
                <a:cs typeface="+mn-cs"/>
              </a:rPr>
              <a:t>선출원의</a:t>
            </a:r>
            <a:r>
              <a:rPr kumimoji="0" lang="ko-KR" altLang="en-US" sz="1600" b="1" i="0" u="none" strike="noStrike" kern="1200" cap="none" spc="0" normalizeH="0" baseline="0" noProof="0" dirty="0">
                <a:ln>
                  <a:noFill/>
                </a:ln>
                <a:solidFill>
                  <a:srgbClr val="ED7D31"/>
                </a:solidFill>
                <a:effectLst/>
                <a:uLnTx/>
                <a:uFillTx/>
                <a:latin typeface="Frutiger LT 65 Bold"/>
                <a:ea typeface="Rix모던고딕 B"/>
                <a:cs typeface="+mn-cs"/>
              </a:rPr>
              <a:t> 지위</a:t>
            </a:r>
            <a:endParaRPr kumimoji="0" lang="en-US" altLang="ko-KR" sz="1600" b="1" i="0" u="none" strike="noStrike" kern="1200" cap="none" spc="0" normalizeH="0" baseline="0" noProof="0" dirty="0">
              <a:ln>
                <a:noFill/>
              </a:ln>
              <a:solidFill>
                <a:srgbClr val="ED7D31"/>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범위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청구범위</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지역</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국내</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판단</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동일성</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비고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출원의 무효</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취하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포기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거절결정확정</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무권리자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출원은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부적용</a:t>
            </a:r>
          </a:p>
        </p:txBody>
      </p:sp>
      <p:sp>
        <p:nvSpPr>
          <p:cNvPr id="134" name="TextBox 133"/>
          <p:cNvSpPr txBox="1"/>
          <p:nvPr/>
        </p:nvSpPr>
        <p:spPr>
          <a:xfrm>
            <a:off x="147489" y="6256707"/>
            <a:ext cx="11949261" cy="573779"/>
          </a:xfrm>
          <a:prstGeom prst="rect">
            <a:avLst/>
          </a:prstGeom>
          <a:noFill/>
        </p:spPr>
        <p:txBody>
          <a:bodyPr wrap="square" rtlCol="0">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출원공개</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(x)</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는 일반적으로 특허출원</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(x)</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한 날로부터 </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1</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년 </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6</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개월이 지난 후이나</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 1) </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조기공개신청을 하거나 </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2) </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그 전에 </a:t>
            </a:r>
            <a:r>
              <a:rPr kumimoji="0" lang="ko-KR" altLang="en-US" sz="1100" b="0" i="0" u="none" strike="noStrike" kern="1200" cap="none" spc="0" normalizeH="0" baseline="0" noProof="0" dirty="0" err="1">
                <a:ln>
                  <a:noFill/>
                </a:ln>
                <a:solidFill>
                  <a:srgbClr val="44546A">
                    <a:lumMod val="75000"/>
                  </a:srgbClr>
                </a:solidFill>
                <a:effectLst/>
                <a:uLnTx/>
                <a:uFillTx/>
                <a:latin typeface="Frutiger LT 65 Bold"/>
                <a:ea typeface="Rix모던고딕 B"/>
                <a:cs typeface="+mn-cs"/>
              </a:rPr>
              <a:t>실체심사하여</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 등록된 경우에는 </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1</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년 </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6</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개월 전에 공개될 수도 있다</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 </a:t>
            </a:r>
            <a:r>
              <a:rPr kumimoji="0" lang="ko-KR" altLang="en-US" sz="1100" b="0" i="0" u="none" strike="noStrike" kern="1200" cap="none" spc="0" normalizeH="0" baseline="0" noProof="0" dirty="0" err="1">
                <a:ln>
                  <a:noFill/>
                </a:ln>
                <a:solidFill>
                  <a:srgbClr val="44546A">
                    <a:lumMod val="75000"/>
                  </a:srgbClr>
                </a:solidFill>
                <a:effectLst/>
                <a:uLnTx/>
                <a:uFillTx/>
                <a:latin typeface="Frutiger LT 65 Bold"/>
                <a:ea typeface="Rix모던고딕 B"/>
                <a:cs typeface="+mn-cs"/>
              </a:rPr>
              <a:t>공지기술의</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 지위는 </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1) </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공지</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 2) </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공연실시</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 3) </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반포된 간행물에 게재 또는 </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4) </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전기통신회선을 통하여 공중이 </a:t>
            </a:r>
            <a:r>
              <a:rPr kumimoji="0" lang="ko-KR" altLang="en-US" sz="1100" b="0" i="0" u="none" strike="noStrike" kern="1200" cap="none" spc="0" normalizeH="0" baseline="0" noProof="0" dirty="0" err="1">
                <a:ln>
                  <a:noFill/>
                </a:ln>
                <a:solidFill>
                  <a:srgbClr val="44546A">
                    <a:lumMod val="75000"/>
                  </a:srgbClr>
                </a:solidFill>
                <a:effectLst/>
                <a:uLnTx/>
                <a:uFillTx/>
                <a:latin typeface="Frutiger LT 65 Bold"/>
                <a:ea typeface="Rix모던고딕 B"/>
                <a:cs typeface="+mn-cs"/>
              </a:rPr>
              <a:t>이용가능하게</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 된 경우에 인정이 된다</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그 중에서 출원공개</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(x)</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는 반포된 간행물에 게재에 해당한다</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 </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다만</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특허출원</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(x)</a:t>
            </a:r>
            <a:r>
              <a:rPr kumimoji="0" lang="ko-KR" altLang="en-US"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자체는 공개되지 않기 때문에 공지기술의 지위를 갖지 않는다</a:t>
            </a:r>
            <a:r>
              <a:rPr kumimoji="0" lang="en-US" altLang="ko-KR" sz="11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a:t>
            </a:r>
          </a:p>
        </p:txBody>
      </p:sp>
      <p:sp>
        <p:nvSpPr>
          <p:cNvPr id="39" name="직사각형 38"/>
          <p:cNvSpPr/>
          <p:nvPr/>
        </p:nvSpPr>
        <p:spPr>
          <a:xfrm>
            <a:off x="1228725" y="3944411"/>
            <a:ext cx="286569" cy="11112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36" name="직사각형 135"/>
          <p:cNvSpPr/>
          <p:nvPr/>
        </p:nvSpPr>
        <p:spPr>
          <a:xfrm>
            <a:off x="9506151" y="3806740"/>
            <a:ext cx="188059" cy="6996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38" name="직사각형 137"/>
          <p:cNvSpPr/>
          <p:nvPr/>
        </p:nvSpPr>
        <p:spPr>
          <a:xfrm>
            <a:off x="9506151" y="4593774"/>
            <a:ext cx="188059" cy="6996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 name="슬라이드 번호 개체 틀 4"/>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91</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66177839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a:t>출원발명의 </a:t>
            </a:r>
            <a:r>
              <a:rPr lang="ko-KR" altLang="en-US" dirty="0" err="1"/>
              <a:t>등록금지적</a:t>
            </a:r>
            <a:r>
              <a:rPr lang="ko-KR" altLang="en-US" dirty="0"/>
              <a:t> 효력 </a:t>
            </a:r>
            <a:r>
              <a:rPr lang="en-US" altLang="ko-KR" dirty="0"/>
              <a:t>CASE</a:t>
            </a:r>
            <a:endParaRPr lang="ko-KR" altLang="en-US" dirty="0"/>
          </a:p>
        </p:txBody>
      </p:sp>
      <p:sp>
        <p:nvSpPr>
          <p:cNvPr id="19" name="Rectangle 5"/>
          <p:cNvSpPr>
            <a:spLocks noChangeArrowheads="1"/>
          </p:cNvSpPr>
          <p:nvPr/>
        </p:nvSpPr>
        <p:spPr bwMode="auto">
          <a:xfrm>
            <a:off x="195260" y="1106383"/>
            <a:ext cx="952235" cy="348102"/>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시기</a:t>
            </a:r>
          </a:p>
        </p:txBody>
      </p:sp>
      <p:cxnSp>
        <p:nvCxnSpPr>
          <p:cNvPr id="20" name="직선 연결선 19"/>
          <p:cNvCxnSpPr/>
          <p:nvPr/>
        </p:nvCxnSpPr>
        <p:spPr>
          <a:xfrm>
            <a:off x="809281" y="2815926"/>
            <a:ext cx="505991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 name="직사각형 22"/>
          <p:cNvSpPr/>
          <p:nvPr/>
        </p:nvSpPr>
        <p:spPr>
          <a:xfrm>
            <a:off x="722298" y="1645585"/>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4" name="직사각형 23"/>
          <p:cNvSpPr/>
          <p:nvPr/>
        </p:nvSpPr>
        <p:spPr>
          <a:xfrm>
            <a:off x="722298" y="1875086"/>
            <a:ext cx="850393" cy="229500"/>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6" name="직선 연결선 25"/>
          <p:cNvCxnSpPr>
            <a:stCxn id="40" idx="0"/>
            <a:endCxn id="27" idx="2"/>
          </p:cNvCxnSpPr>
          <p:nvPr/>
        </p:nvCxnSpPr>
        <p:spPr>
          <a:xfrm flipV="1">
            <a:off x="1147495" y="2480223"/>
            <a:ext cx="0" cy="22095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722299" y="2203224"/>
            <a:ext cx="85039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0" name="직사각형 39"/>
          <p:cNvSpPr/>
          <p:nvPr/>
        </p:nvSpPr>
        <p:spPr>
          <a:xfrm>
            <a:off x="542389" y="2701176"/>
            <a:ext cx="121021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출원일</a:t>
            </a:r>
          </a:p>
        </p:txBody>
      </p:sp>
      <p:cxnSp>
        <p:nvCxnSpPr>
          <p:cNvPr id="44" name="직선 연결선 43"/>
          <p:cNvCxnSpPr>
            <a:stCxn id="46" idx="0"/>
            <a:endCxn id="45" idx="2"/>
          </p:cNvCxnSpPr>
          <p:nvPr/>
        </p:nvCxnSpPr>
        <p:spPr>
          <a:xfrm flipV="1">
            <a:off x="4096131" y="2480223"/>
            <a:ext cx="0" cy="22095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3670935" y="2203224"/>
            <a:ext cx="85039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6" name="직사각형 45"/>
          <p:cNvSpPr/>
          <p:nvPr/>
        </p:nvSpPr>
        <p:spPr>
          <a:xfrm>
            <a:off x="3491025" y="2701176"/>
            <a:ext cx="121021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공개일</a:t>
            </a:r>
          </a:p>
        </p:txBody>
      </p:sp>
      <p:cxnSp>
        <p:nvCxnSpPr>
          <p:cNvPr id="48" name="직선 연결선 47"/>
          <p:cNvCxnSpPr/>
          <p:nvPr/>
        </p:nvCxnSpPr>
        <p:spPr>
          <a:xfrm>
            <a:off x="6097412" y="965770"/>
            <a:ext cx="0" cy="536311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직선 연결선 49"/>
          <p:cNvCxnSpPr>
            <a:endCxn id="55" idx="2"/>
          </p:cNvCxnSpPr>
          <p:nvPr/>
        </p:nvCxnSpPr>
        <p:spPr>
          <a:xfrm>
            <a:off x="620457"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직사각형 53"/>
          <p:cNvSpPr/>
          <p:nvPr/>
        </p:nvSpPr>
        <p:spPr>
          <a:xfrm>
            <a:off x="195260"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55" name="직사각형 54"/>
          <p:cNvSpPr/>
          <p:nvPr/>
        </p:nvSpPr>
        <p:spPr>
          <a:xfrm>
            <a:off x="195260" y="4049756"/>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(7)</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57" name="직선 연결선 56"/>
          <p:cNvCxnSpPr>
            <a:endCxn id="59" idx="2"/>
          </p:cNvCxnSpPr>
          <p:nvPr/>
        </p:nvCxnSpPr>
        <p:spPr>
          <a:xfrm>
            <a:off x="1605532"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직사각형 57"/>
          <p:cNvSpPr/>
          <p:nvPr/>
        </p:nvSpPr>
        <p:spPr>
          <a:xfrm>
            <a:off x="1180335"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59" name="직사각형 58"/>
          <p:cNvSpPr/>
          <p:nvPr/>
        </p:nvSpPr>
        <p:spPr>
          <a:xfrm>
            <a:off x="1180335" y="4049756"/>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(8)</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60" name="직선 연결선 59"/>
          <p:cNvCxnSpPr>
            <a:endCxn id="62" idx="2"/>
          </p:cNvCxnSpPr>
          <p:nvPr/>
        </p:nvCxnSpPr>
        <p:spPr>
          <a:xfrm>
            <a:off x="2653798"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직사각형 60"/>
          <p:cNvSpPr/>
          <p:nvPr/>
        </p:nvSpPr>
        <p:spPr>
          <a:xfrm>
            <a:off x="2228601"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(3)</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62" name="직사각형 61"/>
          <p:cNvSpPr/>
          <p:nvPr/>
        </p:nvSpPr>
        <p:spPr>
          <a:xfrm>
            <a:off x="2228601" y="4049756"/>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(9)</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cxnSp>
        <p:nvCxnSpPr>
          <p:cNvPr id="63" name="직선 연결선 62"/>
          <p:cNvCxnSpPr>
            <a:endCxn id="65" idx="2"/>
          </p:cNvCxnSpPr>
          <p:nvPr/>
        </p:nvCxnSpPr>
        <p:spPr>
          <a:xfrm>
            <a:off x="3624778"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직사각형 63"/>
          <p:cNvSpPr/>
          <p:nvPr/>
        </p:nvSpPr>
        <p:spPr>
          <a:xfrm>
            <a:off x="3199581"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(4)</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65" name="직사각형 64"/>
          <p:cNvSpPr/>
          <p:nvPr/>
        </p:nvSpPr>
        <p:spPr>
          <a:xfrm>
            <a:off x="3199581" y="4049756"/>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(10)</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cxnSp>
        <p:nvCxnSpPr>
          <p:cNvPr id="66" name="직선 연결선 65"/>
          <p:cNvCxnSpPr>
            <a:endCxn id="68" idx="2"/>
          </p:cNvCxnSpPr>
          <p:nvPr/>
        </p:nvCxnSpPr>
        <p:spPr>
          <a:xfrm>
            <a:off x="4548932"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직사각형 66"/>
          <p:cNvSpPr/>
          <p:nvPr/>
        </p:nvSpPr>
        <p:spPr>
          <a:xfrm>
            <a:off x="4123735"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(5)</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68" name="직사각형 67"/>
          <p:cNvSpPr/>
          <p:nvPr/>
        </p:nvSpPr>
        <p:spPr>
          <a:xfrm>
            <a:off x="4123735" y="4049756"/>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(11)</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cxnSp>
        <p:nvCxnSpPr>
          <p:cNvPr id="69" name="직선 연결선 68"/>
          <p:cNvCxnSpPr>
            <a:endCxn id="71" idx="2"/>
          </p:cNvCxnSpPr>
          <p:nvPr/>
        </p:nvCxnSpPr>
        <p:spPr>
          <a:xfrm>
            <a:off x="5443998"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0" name="직사각형 69"/>
          <p:cNvSpPr/>
          <p:nvPr/>
        </p:nvSpPr>
        <p:spPr>
          <a:xfrm>
            <a:off x="5018801"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(6)</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71" name="직사각형 70"/>
          <p:cNvSpPr/>
          <p:nvPr/>
        </p:nvSpPr>
        <p:spPr>
          <a:xfrm>
            <a:off x="5018801" y="4049756"/>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(12)</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graphicFrame>
        <p:nvGraphicFramePr>
          <p:cNvPr id="41" name="표 40"/>
          <p:cNvGraphicFramePr>
            <a:graphicFrameLocks noGrp="1"/>
          </p:cNvGraphicFramePr>
          <p:nvPr/>
        </p:nvGraphicFramePr>
        <p:xfrm>
          <a:off x="133350" y="4791391"/>
          <a:ext cx="5791209" cy="1559560"/>
        </p:xfrm>
        <a:graphic>
          <a:graphicData uri="http://schemas.openxmlformats.org/drawingml/2006/table">
            <a:tbl>
              <a:tblPr firstRow="1" bandRow="1">
                <a:tableStyleId>{69CF1AB2-1976-4502-BF36-3FF5EA218861}</a:tableStyleId>
              </a:tblPr>
              <a:tblGrid>
                <a:gridCol w="940233">
                  <a:extLst>
                    <a:ext uri="{9D8B030D-6E8A-4147-A177-3AD203B41FA5}">
                      <a16:colId xmlns:a16="http://schemas.microsoft.com/office/drawing/2014/main" val="2616795804"/>
                    </a:ext>
                  </a:extLst>
                </a:gridCol>
                <a:gridCol w="404248">
                  <a:extLst>
                    <a:ext uri="{9D8B030D-6E8A-4147-A177-3AD203B41FA5}">
                      <a16:colId xmlns:a16="http://schemas.microsoft.com/office/drawing/2014/main" val="3940597772"/>
                    </a:ext>
                  </a:extLst>
                </a:gridCol>
                <a:gridCol w="404248">
                  <a:extLst>
                    <a:ext uri="{9D8B030D-6E8A-4147-A177-3AD203B41FA5}">
                      <a16:colId xmlns:a16="http://schemas.microsoft.com/office/drawing/2014/main" val="1509181753"/>
                    </a:ext>
                  </a:extLst>
                </a:gridCol>
                <a:gridCol w="404248">
                  <a:extLst>
                    <a:ext uri="{9D8B030D-6E8A-4147-A177-3AD203B41FA5}">
                      <a16:colId xmlns:a16="http://schemas.microsoft.com/office/drawing/2014/main" val="2111996257"/>
                    </a:ext>
                  </a:extLst>
                </a:gridCol>
                <a:gridCol w="404248">
                  <a:extLst>
                    <a:ext uri="{9D8B030D-6E8A-4147-A177-3AD203B41FA5}">
                      <a16:colId xmlns:a16="http://schemas.microsoft.com/office/drawing/2014/main" val="3310433508"/>
                    </a:ext>
                  </a:extLst>
                </a:gridCol>
                <a:gridCol w="404248">
                  <a:extLst>
                    <a:ext uri="{9D8B030D-6E8A-4147-A177-3AD203B41FA5}">
                      <a16:colId xmlns:a16="http://schemas.microsoft.com/office/drawing/2014/main" val="3278951296"/>
                    </a:ext>
                  </a:extLst>
                </a:gridCol>
                <a:gridCol w="404248">
                  <a:extLst>
                    <a:ext uri="{9D8B030D-6E8A-4147-A177-3AD203B41FA5}">
                      <a16:colId xmlns:a16="http://schemas.microsoft.com/office/drawing/2014/main" val="682422079"/>
                    </a:ext>
                  </a:extLst>
                </a:gridCol>
                <a:gridCol w="404248">
                  <a:extLst>
                    <a:ext uri="{9D8B030D-6E8A-4147-A177-3AD203B41FA5}">
                      <a16:colId xmlns:a16="http://schemas.microsoft.com/office/drawing/2014/main" val="2294019505"/>
                    </a:ext>
                  </a:extLst>
                </a:gridCol>
                <a:gridCol w="404248">
                  <a:extLst>
                    <a:ext uri="{9D8B030D-6E8A-4147-A177-3AD203B41FA5}">
                      <a16:colId xmlns:a16="http://schemas.microsoft.com/office/drawing/2014/main" val="3923538741"/>
                    </a:ext>
                  </a:extLst>
                </a:gridCol>
                <a:gridCol w="404248">
                  <a:extLst>
                    <a:ext uri="{9D8B030D-6E8A-4147-A177-3AD203B41FA5}">
                      <a16:colId xmlns:a16="http://schemas.microsoft.com/office/drawing/2014/main" val="3838919691"/>
                    </a:ext>
                  </a:extLst>
                </a:gridCol>
                <a:gridCol w="404248">
                  <a:extLst>
                    <a:ext uri="{9D8B030D-6E8A-4147-A177-3AD203B41FA5}">
                      <a16:colId xmlns:a16="http://schemas.microsoft.com/office/drawing/2014/main" val="997937256"/>
                    </a:ext>
                  </a:extLst>
                </a:gridCol>
                <a:gridCol w="404248">
                  <a:extLst>
                    <a:ext uri="{9D8B030D-6E8A-4147-A177-3AD203B41FA5}">
                      <a16:colId xmlns:a16="http://schemas.microsoft.com/office/drawing/2014/main" val="4201534290"/>
                    </a:ext>
                  </a:extLst>
                </a:gridCol>
                <a:gridCol w="404248">
                  <a:extLst>
                    <a:ext uri="{9D8B030D-6E8A-4147-A177-3AD203B41FA5}">
                      <a16:colId xmlns:a16="http://schemas.microsoft.com/office/drawing/2014/main" val="3289386902"/>
                    </a:ext>
                  </a:extLst>
                </a:gridCol>
              </a:tblGrid>
              <a:tr h="370840">
                <a:tc>
                  <a:txBody>
                    <a:bodyPr/>
                    <a:lstStyle/>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(2)</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(3)</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(4)</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(5)</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(6)</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(7)</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(8)</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(9)</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(10)</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(11)</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(12)</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3744596863"/>
                  </a:ext>
                </a:extLst>
              </a:tr>
              <a:tr h="370840">
                <a:tc>
                  <a:txBody>
                    <a:bodyPr/>
                    <a:lstStyle/>
                    <a:p>
                      <a:pPr latinLnBrk="1"/>
                      <a:r>
                        <a:rPr lang="ko-KR" altLang="en-US" sz="1000" dirty="0"/>
                        <a:t>신규성</a:t>
                      </a:r>
                      <a:endParaRPr lang="en-US" altLang="ko-KR" sz="1000" dirty="0"/>
                    </a:p>
                    <a:p>
                      <a:pPr latinLnBrk="1"/>
                      <a:r>
                        <a:rPr lang="ko-KR" altLang="en-US" sz="1000" dirty="0"/>
                        <a:t>위반</a:t>
                      </a:r>
                      <a:endParaRPr lang="en-US" altLang="ko-KR"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64332382"/>
                  </a:ext>
                </a:extLst>
              </a:tr>
              <a:tr h="370840">
                <a:tc>
                  <a:txBody>
                    <a:bodyPr/>
                    <a:lstStyle/>
                    <a:p>
                      <a:pPr latinLnBrk="1"/>
                      <a:r>
                        <a:rPr lang="ko-KR" altLang="en-US" sz="1000" dirty="0" err="1"/>
                        <a:t>선출원</a:t>
                      </a:r>
                      <a:endParaRPr lang="en-US" altLang="ko-KR" sz="1000" dirty="0"/>
                    </a:p>
                    <a:p>
                      <a:pPr latinLnBrk="1"/>
                      <a:r>
                        <a:rPr lang="ko-KR" altLang="en-US" sz="1000" dirty="0"/>
                        <a:t>위반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r>
                        <a:rPr lang="ko-KR" altLang="en-US" sz="900" dirty="0"/>
                        <a:t>협의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00" dirty="0"/>
                        <a:t>협의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89054708"/>
                  </a:ext>
                </a:extLst>
              </a:tr>
              <a:tr h="370840">
                <a:tc>
                  <a:txBody>
                    <a:bodyPr/>
                    <a:lstStyle/>
                    <a:p>
                      <a:pPr latinLnBrk="1"/>
                      <a:r>
                        <a:rPr lang="ko-KR" altLang="en-US" sz="1000" dirty="0" err="1"/>
                        <a:t>확선</a:t>
                      </a:r>
                      <a:endParaRPr lang="en-US" altLang="ko-KR" sz="1000" dirty="0"/>
                    </a:p>
                    <a:p>
                      <a:pPr latinLnBrk="1"/>
                      <a:r>
                        <a:rPr lang="ko-KR" altLang="en-US" sz="1000" dirty="0"/>
                        <a:t>위반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76270503"/>
                  </a:ext>
                </a:extLst>
              </a:tr>
            </a:tbl>
          </a:graphicData>
        </a:graphic>
      </p:graphicFrame>
      <p:sp>
        <p:nvSpPr>
          <p:cNvPr id="42" name="Rectangle 5"/>
          <p:cNvSpPr>
            <a:spLocks noChangeArrowheads="1"/>
          </p:cNvSpPr>
          <p:nvPr/>
        </p:nvSpPr>
        <p:spPr bwMode="auto">
          <a:xfrm>
            <a:off x="6409793" y="1106383"/>
            <a:ext cx="952235" cy="348102"/>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범위</a:t>
            </a:r>
          </a:p>
        </p:txBody>
      </p:sp>
      <p:cxnSp>
        <p:nvCxnSpPr>
          <p:cNvPr id="92" name="직선 연결선 91"/>
          <p:cNvCxnSpPr/>
          <p:nvPr/>
        </p:nvCxnSpPr>
        <p:spPr>
          <a:xfrm>
            <a:off x="6905281" y="2815926"/>
            <a:ext cx="505991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직사각형 92"/>
          <p:cNvSpPr/>
          <p:nvPr/>
        </p:nvSpPr>
        <p:spPr>
          <a:xfrm>
            <a:off x="6818298" y="1645585"/>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4" name="직사각형 93"/>
          <p:cNvSpPr/>
          <p:nvPr/>
        </p:nvSpPr>
        <p:spPr>
          <a:xfrm>
            <a:off x="6818298" y="1875086"/>
            <a:ext cx="850393" cy="229500"/>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5" name="직선 연결선 94"/>
          <p:cNvCxnSpPr>
            <a:stCxn id="97" idx="0"/>
            <a:endCxn id="96" idx="2"/>
          </p:cNvCxnSpPr>
          <p:nvPr/>
        </p:nvCxnSpPr>
        <p:spPr>
          <a:xfrm flipV="1">
            <a:off x="7243495" y="2480223"/>
            <a:ext cx="0" cy="22095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TextBox 95"/>
          <p:cNvSpPr txBox="1"/>
          <p:nvPr/>
        </p:nvSpPr>
        <p:spPr>
          <a:xfrm>
            <a:off x="6818299" y="2203224"/>
            <a:ext cx="85039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7" name="직사각형 96"/>
          <p:cNvSpPr/>
          <p:nvPr/>
        </p:nvSpPr>
        <p:spPr>
          <a:xfrm>
            <a:off x="6638389" y="2701176"/>
            <a:ext cx="121021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출원일</a:t>
            </a:r>
          </a:p>
        </p:txBody>
      </p:sp>
      <p:cxnSp>
        <p:nvCxnSpPr>
          <p:cNvPr id="98" name="직선 연결선 97"/>
          <p:cNvCxnSpPr>
            <a:stCxn id="100" idx="0"/>
            <a:endCxn id="99" idx="2"/>
          </p:cNvCxnSpPr>
          <p:nvPr/>
        </p:nvCxnSpPr>
        <p:spPr>
          <a:xfrm flipV="1">
            <a:off x="10192131" y="2480223"/>
            <a:ext cx="0" cy="22095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TextBox 98"/>
          <p:cNvSpPr txBox="1"/>
          <p:nvPr/>
        </p:nvSpPr>
        <p:spPr>
          <a:xfrm>
            <a:off x="9766935" y="2203224"/>
            <a:ext cx="85039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0" name="직사각형 99"/>
          <p:cNvSpPr/>
          <p:nvPr/>
        </p:nvSpPr>
        <p:spPr>
          <a:xfrm>
            <a:off x="9587025" y="2701176"/>
            <a:ext cx="121021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공개일</a:t>
            </a:r>
          </a:p>
        </p:txBody>
      </p:sp>
      <p:cxnSp>
        <p:nvCxnSpPr>
          <p:cNvPr id="101" name="직선 연결선 100"/>
          <p:cNvCxnSpPr>
            <a:endCxn id="103" idx="2"/>
          </p:cNvCxnSpPr>
          <p:nvPr/>
        </p:nvCxnSpPr>
        <p:spPr>
          <a:xfrm>
            <a:off x="6716457"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02" name="직사각형 101"/>
          <p:cNvSpPr/>
          <p:nvPr/>
        </p:nvSpPr>
        <p:spPr>
          <a:xfrm>
            <a:off x="6291260" y="3538153"/>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(1)</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03" name="직사각형 102"/>
          <p:cNvSpPr/>
          <p:nvPr/>
        </p:nvSpPr>
        <p:spPr>
          <a:xfrm>
            <a:off x="6291260" y="4049756"/>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(7)</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cxnSp>
        <p:nvCxnSpPr>
          <p:cNvPr id="104" name="직선 연결선 103"/>
          <p:cNvCxnSpPr>
            <a:endCxn id="106" idx="2"/>
          </p:cNvCxnSpPr>
          <p:nvPr/>
        </p:nvCxnSpPr>
        <p:spPr>
          <a:xfrm>
            <a:off x="7701532"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05" name="직사각형 104"/>
          <p:cNvSpPr/>
          <p:nvPr/>
        </p:nvSpPr>
        <p:spPr>
          <a:xfrm>
            <a:off x="7276335" y="3538153"/>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06" name="직사각형 105"/>
          <p:cNvSpPr/>
          <p:nvPr/>
        </p:nvSpPr>
        <p:spPr>
          <a:xfrm>
            <a:off x="7276335" y="4049756"/>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(8)</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cxnSp>
        <p:nvCxnSpPr>
          <p:cNvPr id="107" name="직선 연결선 106"/>
          <p:cNvCxnSpPr>
            <a:endCxn id="109" idx="2"/>
          </p:cNvCxnSpPr>
          <p:nvPr/>
        </p:nvCxnSpPr>
        <p:spPr>
          <a:xfrm>
            <a:off x="8749798"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08" name="직사각형 107"/>
          <p:cNvSpPr/>
          <p:nvPr/>
        </p:nvSpPr>
        <p:spPr>
          <a:xfrm>
            <a:off x="8324601"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(3)</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09" name="직사각형 108"/>
          <p:cNvSpPr/>
          <p:nvPr/>
        </p:nvSpPr>
        <p:spPr>
          <a:xfrm>
            <a:off x="8324601" y="4049756"/>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(9)</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cxnSp>
        <p:nvCxnSpPr>
          <p:cNvPr id="110" name="직선 연결선 109"/>
          <p:cNvCxnSpPr>
            <a:endCxn id="112" idx="2"/>
          </p:cNvCxnSpPr>
          <p:nvPr/>
        </p:nvCxnSpPr>
        <p:spPr>
          <a:xfrm>
            <a:off x="9720778"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11" name="직사각형 110"/>
          <p:cNvSpPr/>
          <p:nvPr/>
        </p:nvSpPr>
        <p:spPr>
          <a:xfrm>
            <a:off x="9295581"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(4)</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12" name="직사각형 111"/>
          <p:cNvSpPr/>
          <p:nvPr/>
        </p:nvSpPr>
        <p:spPr>
          <a:xfrm>
            <a:off x="9295581" y="4049756"/>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(10)</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cxnSp>
        <p:nvCxnSpPr>
          <p:cNvPr id="113" name="직선 연결선 112"/>
          <p:cNvCxnSpPr>
            <a:endCxn id="115" idx="2"/>
          </p:cNvCxnSpPr>
          <p:nvPr/>
        </p:nvCxnSpPr>
        <p:spPr>
          <a:xfrm>
            <a:off x="10644932"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14" name="직사각형 113"/>
          <p:cNvSpPr/>
          <p:nvPr/>
        </p:nvSpPr>
        <p:spPr>
          <a:xfrm>
            <a:off x="10219735"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(5)</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15" name="직사각형 114"/>
          <p:cNvSpPr/>
          <p:nvPr/>
        </p:nvSpPr>
        <p:spPr>
          <a:xfrm>
            <a:off x="10219735" y="4049756"/>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(11)</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cxnSp>
        <p:nvCxnSpPr>
          <p:cNvPr id="116" name="직선 연결선 115"/>
          <p:cNvCxnSpPr>
            <a:endCxn id="118" idx="2"/>
          </p:cNvCxnSpPr>
          <p:nvPr/>
        </p:nvCxnSpPr>
        <p:spPr>
          <a:xfrm>
            <a:off x="11539998"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17" name="직사각형 116"/>
          <p:cNvSpPr/>
          <p:nvPr/>
        </p:nvSpPr>
        <p:spPr>
          <a:xfrm>
            <a:off x="11114801"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(6)</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18" name="직사각형 117"/>
          <p:cNvSpPr/>
          <p:nvPr/>
        </p:nvSpPr>
        <p:spPr>
          <a:xfrm>
            <a:off x="11114801" y="4049756"/>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(12)</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graphicFrame>
        <p:nvGraphicFramePr>
          <p:cNvPr id="119" name="표 118"/>
          <p:cNvGraphicFramePr>
            <a:graphicFrameLocks noGrp="1"/>
          </p:cNvGraphicFramePr>
          <p:nvPr/>
        </p:nvGraphicFramePr>
        <p:xfrm>
          <a:off x="6229350" y="4791391"/>
          <a:ext cx="5791209" cy="1559560"/>
        </p:xfrm>
        <a:graphic>
          <a:graphicData uri="http://schemas.openxmlformats.org/drawingml/2006/table">
            <a:tbl>
              <a:tblPr firstRow="1" bandRow="1">
                <a:tableStyleId>{69CF1AB2-1976-4502-BF36-3FF5EA218861}</a:tableStyleId>
              </a:tblPr>
              <a:tblGrid>
                <a:gridCol w="940233">
                  <a:extLst>
                    <a:ext uri="{9D8B030D-6E8A-4147-A177-3AD203B41FA5}">
                      <a16:colId xmlns:a16="http://schemas.microsoft.com/office/drawing/2014/main" val="2616795804"/>
                    </a:ext>
                  </a:extLst>
                </a:gridCol>
                <a:gridCol w="404248">
                  <a:extLst>
                    <a:ext uri="{9D8B030D-6E8A-4147-A177-3AD203B41FA5}">
                      <a16:colId xmlns:a16="http://schemas.microsoft.com/office/drawing/2014/main" val="3940597772"/>
                    </a:ext>
                  </a:extLst>
                </a:gridCol>
                <a:gridCol w="404248">
                  <a:extLst>
                    <a:ext uri="{9D8B030D-6E8A-4147-A177-3AD203B41FA5}">
                      <a16:colId xmlns:a16="http://schemas.microsoft.com/office/drawing/2014/main" val="1509181753"/>
                    </a:ext>
                  </a:extLst>
                </a:gridCol>
                <a:gridCol w="404248">
                  <a:extLst>
                    <a:ext uri="{9D8B030D-6E8A-4147-A177-3AD203B41FA5}">
                      <a16:colId xmlns:a16="http://schemas.microsoft.com/office/drawing/2014/main" val="2111996257"/>
                    </a:ext>
                  </a:extLst>
                </a:gridCol>
                <a:gridCol w="404248">
                  <a:extLst>
                    <a:ext uri="{9D8B030D-6E8A-4147-A177-3AD203B41FA5}">
                      <a16:colId xmlns:a16="http://schemas.microsoft.com/office/drawing/2014/main" val="3310433508"/>
                    </a:ext>
                  </a:extLst>
                </a:gridCol>
                <a:gridCol w="404248">
                  <a:extLst>
                    <a:ext uri="{9D8B030D-6E8A-4147-A177-3AD203B41FA5}">
                      <a16:colId xmlns:a16="http://schemas.microsoft.com/office/drawing/2014/main" val="3278951296"/>
                    </a:ext>
                  </a:extLst>
                </a:gridCol>
                <a:gridCol w="404248">
                  <a:extLst>
                    <a:ext uri="{9D8B030D-6E8A-4147-A177-3AD203B41FA5}">
                      <a16:colId xmlns:a16="http://schemas.microsoft.com/office/drawing/2014/main" val="682422079"/>
                    </a:ext>
                  </a:extLst>
                </a:gridCol>
                <a:gridCol w="404248">
                  <a:extLst>
                    <a:ext uri="{9D8B030D-6E8A-4147-A177-3AD203B41FA5}">
                      <a16:colId xmlns:a16="http://schemas.microsoft.com/office/drawing/2014/main" val="2294019505"/>
                    </a:ext>
                  </a:extLst>
                </a:gridCol>
                <a:gridCol w="404248">
                  <a:extLst>
                    <a:ext uri="{9D8B030D-6E8A-4147-A177-3AD203B41FA5}">
                      <a16:colId xmlns:a16="http://schemas.microsoft.com/office/drawing/2014/main" val="3923538741"/>
                    </a:ext>
                  </a:extLst>
                </a:gridCol>
                <a:gridCol w="404248">
                  <a:extLst>
                    <a:ext uri="{9D8B030D-6E8A-4147-A177-3AD203B41FA5}">
                      <a16:colId xmlns:a16="http://schemas.microsoft.com/office/drawing/2014/main" val="3838919691"/>
                    </a:ext>
                  </a:extLst>
                </a:gridCol>
                <a:gridCol w="404248">
                  <a:extLst>
                    <a:ext uri="{9D8B030D-6E8A-4147-A177-3AD203B41FA5}">
                      <a16:colId xmlns:a16="http://schemas.microsoft.com/office/drawing/2014/main" val="997937256"/>
                    </a:ext>
                  </a:extLst>
                </a:gridCol>
                <a:gridCol w="404248">
                  <a:extLst>
                    <a:ext uri="{9D8B030D-6E8A-4147-A177-3AD203B41FA5}">
                      <a16:colId xmlns:a16="http://schemas.microsoft.com/office/drawing/2014/main" val="4201534290"/>
                    </a:ext>
                  </a:extLst>
                </a:gridCol>
                <a:gridCol w="404248">
                  <a:extLst>
                    <a:ext uri="{9D8B030D-6E8A-4147-A177-3AD203B41FA5}">
                      <a16:colId xmlns:a16="http://schemas.microsoft.com/office/drawing/2014/main" val="3289386902"/>
                    </a:ext>
                  </a:extLst>
                </a:gridCol>
              </a:tblGrid>
              <a:tr h="370840">
                <a:tc>
                  <a:txBody>
                    <a:bodyPr/>
                    <a:lstStyle/>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(2)</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(3)</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(4)</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(5)</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(6)</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(7)</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(8)</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(9)</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(10)</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(11)</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(12)</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3744596863"/>
                  </a:ext>
                </a:extLst>
              </a:tr>
              <a:tr h="370840">
                <a:tc>
                  <a:txBody>
                    <a:bodyPr/>
                    <a:lstStyle/>
                    <a:p>
                      <a:pPr latinLnBrk="1"/>
                      <a:r>
                        <a:rPr lang="ko-KR" altLang="en-US" sz="1000" dirty="0"/>
                        <a:t>신규성</a:t>
                      </a:r>
                      <a:endParaRPr lang="en-US" altLang="ko-KR" sz="1000" dirty="0"/>
                    </a:p>
                    <a:p>
                      <a:pPr latinLnBrk="1"/>
                      <a:r>
                        <a:rPr lang="ko-KR" altLang="en-US" sz="1000" dirty="0"/>
                        <a:t>위반</a:t>
                      </a:r>
                      <a:endParaRPr lang="en-US" altLang="ko-KR"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64332382"/>
                  </a:ext>
                </a:extLst>
              </a:tr>
              <a:tr h="370840">
                <a:tc>
                  <a:txBody>
                    <a:bodyPr/>
                    <a:lstStyle/>
                    <a:p>
                      <a:pPr latinLnBrk="1"/>
                      <a:r>
                        <a:rPr lang="ko-KR" altLang="en-US" sz="1000" dirty="0" err="1"/>
                        <a:t>선출원</a:t>
                      </a:r>
                      <a:endParaRPr lang="en-US" altLang="ko-KR" sz="1000" dirty="0"/>
                    </a:p>
                    <a:p>
                      <a:pPr latinLnBrk="1"/>
                      <a:r>
                        <a:rPr lang="ko-KR" altLang="en-US" sz="1000" dirty="0"/>
                        <a:t>위반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p>
                      <a:pPr latinLnBrk="1"/>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p>
                      <a:pPr marL="0" marR="0" indent="0" algn="l" defTabSz="914400" rtl="0" eaLnBrk="1" fontAlgn="auto" latinLnBrk="1" hangingPunct="1">
                        <a:lnSpc>
                          <a:spcPct val="100000"/>
                        </a:lnSpc>
                        <a:spcBef>
                          <a:spcPts val="0"/>
                        </a:spcBef>
                        <a:spcAft>
                          <a:spcPts val="0"/>
                        </a:spcAft>
                        <a:buClrTx/>
                        <a:buSzTx/>
                        <a:buFontTx/>
                        <a:buNone/>
                        <a:tabLst/>
                        <a:defRPr/>
                      </a:pP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r>
                        <a:rPr lang="ko-KR" altLang="en-US" sz="900" dirty="0"/>
                        <a:t>협의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r>
                        <a:rPr lang="ko-KR" altLang="en-US" sz="900" dirty="0"/>
                        <a:t>협의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89054708"/>
                  </a:ext>
                </a:extLst>
              </a:tr>
              <a:tr h="370840">
                <a:tc>
                  <a:txBody>
                    <a:bodyPr/>
                    <a:lstStyle/>
                    <a:p>
                      <a:pPr latinLnBrk="1"/>
                      <a:r>
                        <a:rPr lang="ko-KR" altLang="en-US" sz="1000" dirty="0" err="1"/>
                        <a:t>확선</a:t>
                      </a:r>
                      <a:endParaRPr lang="en-US" altLang="ko-KR" sz="1000" dirty="0"/>
                    </a:p>
                    <a:p>
                      <a:pPr latinLnBrk="1"/>
                      <a:r>
                        <a:rPr lang="ko-KR" altLang="en-US" sz="1000" dirty="0"/>
                        <a:t>위반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76270503"/>
                  </a:ext>
                </a:extLst>
              </a:tr>
            </a:tbl>
          </a:graphicData>
        </a:graphic>
      </p:graphicFrame>
      <p:sp>
        <p:nvSpPr>
          <p:cNvPr id="120" name="직사각형 119"/>
          <p:cNvSpPr/>
          <p:nvPr/>
        </p:nvSpPr>
        <p:spPr>
          <a:xfrm>
            <a:off x="8584844" y="1645585"/>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1" name="직사각형 120"/>
          <p:cNvSpPr/>
          <p:nvPr/>
        </p:nvSpPr>
        <p:spPr>
          <a:xfrm>
            <a:off x="8584844" y="1875086"/>
            <a:ext cx="850393" cy="229500"/>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22" name="직선 연결선 121"/>
          <p:cNvCxnSpPr>
            <a:endCxn id="123" idx="2"/>
          </p:cNvCxnSpPr>
          <p:nvPr/>
        </p:nvCxnSpPr>
        <p:spPr>
          <a:xfrm flipV="1">
            <a:off x="9010041" y="2480223"/>
            <a:ext cx="0" cy="22095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23" name="TextBox 122"/>
          <p:cNvSpPr txBox="1"/>
          <p:nvPr/>
        </p:nvSpPr>
        <p:spPr>
          <a:xfrm>
            <a:off x="8584845" y="2203224"/>
            <a:ext cx="85039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보정</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1" name="직선 화살표 연결선 10"/>
          <p:cNvCxnSpPr>
            <a:stCxn id="123" idx="1"/>
            <a:endCxn id="96" idx="3"/>
          </p:cNvCxnSpPr>
          <p:nvPr/>
        </p:nvCxnSpPr>
        <p:spPr>
          <a:xfrm flipH="1">
            <a:off x="7668691" y="2341724"/>
            <a:ext cx="916154" cy="0"/>
          </a:xfrm>
          <a:prstGeom prst="straightConnector1">
            <a:avLst/>
          </a:prstGeom>
          <a:ln w="38100">
            <a:solidFill>
              <a:srgbClr val="FF0000"/>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5" name="TextBox 124"/>
          <p:cNvSpPr txBox="1"/>
          <p:nvPr/>
        </p:nvSpPr>
        <p:spPr>
          <a:xfrm>
            <a:off x="7361005" y="2016116"/>
            <a:ext cx="1519980" cy="2616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소급효</a:t>
            </a:r>
            <a:endPar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92</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003056270"/>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a:t>출원발명의 </a:t>
            </a:r>
            <a:r>
              <a:rPr lang="ko-KR" altLang="en-US" dirty="0" err="1"/>
              <a:t>등록금지적</a:t>
            </a:r>
            <a:r>
              <a:rPr lang="ko-KR" altLang="en-US" dirty="0"/>
              <a:t> 효력 </a:t>
            </a:r>
            <a:r>
              <a:rPr lang="en-US" altLang="ko-KR" dirty="0"/>
              <a:t>CASE</a:t>
            </a:r>
            <a:endParaRPr lang="ko-KR" altLang="en-US" dirty="0"/>
          </a:p>
        </p:txBody>
      </p:sp>
      <p:sp>
        <p:nvSpPr>
          <p:cNvPr id="19" name="Rectangle 5"/>
          <p:cNvSpPr>
            <a:spLocks noChangeArrowheads="1"/>
          </p:cNvSpPr>
          <p:nvPr/>
        </p:nvSpPr>
        <p:spPr bwMode="auto">
          <a:xfrm>
            <a:off x="195260" y="1106383"/>
            <a:ext cx="952235" cy="348102"/>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지역</a:t>
            </a:r>
          </a:p>
        </p:txBody>
      </p:sp>
      <p:cxnSp>
        <p:nvCxnSpPr>
          <p:cNvPr id="20" name="직선 연결선 19"/>
          <p:cNvCxnSpPr/>
          <p:nvPr/>
        </p:nvCxnSpPr>
        <p:spPr>
          <a:xfrm>
            <a:off x="809281" y="2815926"/>
            <a:ext cx="505991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 name="직사각형 22"/>
          <p:cNvSpPr/>
          <p:nvPr/>
        </p:nvSpPr>
        <p:spPr>
          <a:xfrm>
            <a:off x="722298" y="1645585"/>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4" name="직사각형 23"/>
          <p:cNvSpPr/>
          <p:nvPr/>
        </p:nvSpPr>
        <p:spPr>
          <a:xfrm>
            <a:off x="722298" y="1875086"/>
            <a:ext cx="850393" cy="229500"/>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6" name="직선 연결선 25"/>
          <p:cNvCxnSpPr>
            <a:stCxn id="40" idx="0"/>
            <a:endCxn id="27" idx="2"/>
          </p:cNvCxnSpPr>
          <p:nvPr/>
        </p:nvCxnSpPr>
        <p:spPr>
          <a:xfrm flipV="1">
            <a:off x="1147495" y="2480223"/>
            <a:ext cx="0" cy="22095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542389" y="2203224"/>
            <a:ext cx="121021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일본출원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0" name="직사각형 39"/>
          <p:cNvSpPr/>
          <p:nvPr/>
        </p:nvSpPr>
        <p:spPr>
          <a:xfrm>
            <a:off x="542389" y="2701176"/>
            <a:ext cx="121021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출원일</a:t>
            </a:r>
          </a:p>
        </p:txBody>
      </p:sp>
      <p:cxnSp>
        <p:nvCxnSpPr>
          <p:cNvPr id="44" name="직선 연결선 43"/>
          <p:cNvCxnSpPr>
            <a:stCxn id="46" idx="0"/>
            <a:endCxn id="45" idx="2"/>
          </p:cNvCxnSpPr>
          <p:nvPr/>
        </p:nvCxnSpPr>
        <p:spPr>
          <a:xfrm flipV="1">
            <a:off x="4096131" y="2480223"/>
            <a:ext cx="0" cy="22095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3491025" y="2203224"/>
            <a:ext cx="121021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일본공개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6" name="직사각형 45"/>
          <p:cNvSpPr/>
          <p:nvPr/>
        </p:nvSpPr>
        <p:spPr>
          <a:xfrm>
            <a:off x="3491025" y="2701176"/>
            <a:ext cx="121021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공개일</a:t>
            </a:r>
          </a:p>
        </p:txBody>
      </p:sp>
      <p:cxnSp>
        <p:nvCxnSpPr>
          <p:cNvPr id="48" name="직선 연결선 47"/>
          <p:cNvCxnSpPr/>
          <p:nvPr/>
        </p:nvCxnSpPr>
        <p:spPr>
          <a:xfrm>
            <a:off x="6097412" y="965770"/>
            <a:ext cx="0" cy="536311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직선 연결선 49"/>
          <p:cNvCxnSpPr>
            <a:endCxn id="55" idx="2"/>
          </p:cNvCxnSpPr>
          <p:nvPr/>
        </p:nvCxnSpPr>
        <p:spPr>
          <a:xfrm>
            <a:off x="620457"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직사각형 53"/>
          <p:cNvSpPr/>
          <p:nvPr/>
        </p:nvSpPr>
        <p:spPr>
          <a:xfrm>
            <a:off x="195260" y="3538153"/>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(1)</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55" name="직사각형 54"/>
          <p:cNvSpPr/>
          <p:nvPr/>
        </p:nvSpPr>
        <p:spPr>
          <a:xfrm>
            <a:off x="195260" y="4049756"/>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(7)</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57" name="직선 연결선 56"/>
          <p:cNvCxnSpPr>
            <a:endCxn id="59" idx="2"/>
          </p:cNvCxnSpPr>
          <p:nvPr/>
        </p:nvCxnSpPr>
        <p:spPr>
          <a:xfrm>
            <a:off x="1605532"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직사각형 57"/>
          <p:cNvSpPr/>
          <p:nvPr/>
        </p:nvSpPr>
        <p:spPr>
          <a:xfrm>
            <a:off x="1180335" y="3538153"/>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59" name="직사각형 58"/>
          <p:cNvSpPr/>
          <p:nvPr/>
        </p:nvSpPr>
        <p:spPr>
          <a:xfrm>
            <a:off x="1180335" y="4049756"/>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(8)</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60" name="직선 연결선 59"/>
          <p:cNvCxnSpPr>
            <a:endCxn id="62" idx="2"/>
          </p:cNvCxnSpPr>
          <p:nvPr/>
        </p:nvCxnSpPr>
        <p:spPr>
          <a:xfrm>
            <a:off x="2653798"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직사각형 60"/>
          <p:cNvSpPr/>
          <p:nvPr/>
        </p:nvSpPr>
        <p:spPr>
          <a:xfrm>
            <a:off x="2228601" y="3538153"/>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(3)</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62" name="직사각형 61"/>
          <p:cNvSpPr/>
          <p:nvPr/>
        </p:nvSpPr>
        <p:spPr>
          <a:xfrm>
            <a:off x="2228601" y="4049756"/>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(9)</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63" name="직선 연결선 62"/>
          <p:cNvCxnSpPr>
            <a:endCxn id="65" idx="2"/>
          </p:cNvCxnSpPr>
          <p:nvPr/>
        </p:nvCxnSpPr>
        <p:spPr>
          <a:xfrm>
            <a:off x="3624778"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직사각형 63"/>
          <p:cNvSpPr/>
          <p:nvPr/>
        </p:nvSpPr>
        <p:spPr>
          <a:xfrm>
            <a:off x="3199581" y="3538153"/>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(4)</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65" name="직사각형 64"/>
          <p:cNvSpPr/>
          <p:nvPr/>
        </p:nvSpPr>
        <p:spPr>
          <a:xfrm>
            <a:off x="3199581" y="4049756"/>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(10)</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66" name="직선 연결선 65"/>
          <p:cNvCxnSpPr>
            <a:endCxn id="68" idx="2"/>
          </p:cNvCxnSpPr>
          <p:nvPr/>
        </p:nvCxnSpPr>
        <p:spPr>
          <a:xfrm>
            <a:off x="4548932"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직사각형 66"/>
          <p:cNvSpPr/>
          <p:nvPr/>
        </p:nvSpPr>
        <p:spPr>
          <a:xfrm>
            <a:off x="4123735"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(5)</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68" name="직사각형 67"/>
          <p:cNvSpPr/>
          <p:nvPr/>
        </p:nvSpPr>
        <p:spPr>
          <a:xfrm>
            <a:off x="4123735" y="4049756"/>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(11)</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cxnSp>
        <p:nvCxnSpPr>
          <p:cNvPr id="69" name="직선 연결선 68"/>
          <p:cNvCxnSpPr>
            <a:endCxn id="71" idx="2"/>
          </p:cNvCxnSpPr>
          <p:nvPr/>
        </p:nvCxnSpPr>
        <p:spPr>
          <a:xfrm>
            <a:off x="5443998"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0" name="직사각형 69"/>
          <p:cNvSpPr/>
          <p:nvPr/>
        </p:nvSpPr>
        <p:spPr>
          <a:xfrm>
            <a:off x="5018801"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(6)</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71" name="직사각형 70"/>
          <p:cNvSpPr/>
          <p:nvPr/>
        </p:nvSpPr>
        <p:spPr>
          <a:xfrm>
            <a:off x="5018801" y="4049756"/>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(12)</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graphicFrame>
        <p:nvGraphicFramePr>
          <p:cNvPr id="41" name="표 40"/>
          <p:cNvGraphicFramePr>
            <a:graphicFrameLocks noGrp="1"/>
          </p:cNvGraphicFramePr>
          <p:nvPr/>
        </p:nvGraphicFramePr>
        <p:xfrm>
          <a:off x="133350" y="4791391"/>
          <a:ext cx="5791209" cy="1559560"/>
        </p:xfrm>
        <a:graphic>
          <a:graphicData uri="http://schemas.openxmlformats.org/drawingml/2006/table">
            <a:tbl>
              <a:tblPr firstRow="1" bandRow="1">
                <a:tableStyleId>{69CF1AB2-1976-4502-BF36-3FF5EA218861}</a:tableStyleId>
              </a:tblPr>
              <a:tblGrid>
                <a:gridCol w="940233">
                  <a:extLst>
                    <a:ext uri="{9D8B030D-6E8A-4147-A177-3AD203B41FA5}">
                      <a16:colId xmlns:a16="http://schemas.microsoft.com/office/drawing/2014/main" val="2616795804"/>
                    </a:ext>
                  </a:extLst>
                </a:gridCol>
                <a:gridCol w="404248">
                  <a:extLst>
                    <a:ext uri="{9D8B030D-6E8A-4147-A177-3AD203B41FA5}">
                      <a16:colId xmlns:a16="http://schemas.microsoft.com/office/drawing/2014/main" val="3940597772"/>
                    </a:ext>
                  </a:extLst>
                </a:gridCol>
                <a:gridCol w="404248">
                  <a:extLst>
                    <a:ext uri="{9D8B030D-6E8A-4147-A177-3AD203B41FA5}">
                      <a16:colId xmlns:a16="http://schemas.microsoft.com/office/drawing/2014/main" val="1509181753"/>
                    </a:ext>
                  </a:extLst>
                </a:gridCol>
                <a:gridCol w="404248">
                  <a:extLst>
                    <a:ext uri="{9D8B030D-6E8A-4147-A177-3AD203B41FA5}">
                      <a16:colId xmlns:a16="http://schemas.microsoft.com/office/drawing/2014/main" val="2111996257"/>
                    </a:ext>
                  </a:extLst>
                </a:gridCol>
                <a:gridCol w="404248">
                  <a:extLst>
                    <a:ext uri="{9D8B030D-6E8A-4147-A177-3AD203B41FA5}">
                      <a16:colId xmlns:a16="http://schemas.microsoft.com/office/drawing/2014/main" val="3310433508"/>
                    </a:ext>
                  </a:extLst>
                </a:gridCol>
                <a:gridCol w="404248">
                  <a:extLst>
                    <a:ext uri="{9D8B030D-6E8A-4147-A177-3AD203B41FA5}">
                      <a16:colId xmlns:a16="http://schemas.microsoft.com/office/drawing/2014/main" val="3278951296"/>
                    </a:ext>
                  </a:extLst>
                </a:gridCol>
                <a:gridCol w="404248">
                  <a:extLst>
                    <a:ext uri="{9D8B030D-6E8A-4147-A177-3AD203B41FA5}">
                      <a16:colId xmlns:a16="http://schemas.microsoft.com/office/drawing/2014/main" val="682422079"/>
                    </a:ext>
                  </a:extLst>
                </a:gridCol>
                <a:gridCol w="404248">
                  <a:extLst>
                    <a:ext uri="{9D8B030D-6E8A-4147-A177-3AD203B41FA5}">
                      <a16:colId xmlns:a16="http://schemas.microsoft.com/office/drawing/2014/main" val="2294019505"/>
                    </a:ext>
                  </a:extLst>
                </a:gridCol>
                <a:gridCol w="404248">
                  <a:extLst>
                    <a:ext uri="{9D8B030D-6E8A-4147-A177-3AD203B41FA5}">
                      <a16:colId xmlns:a16="http://schemas.microsoft.com/office/drawing/2014/main" val="3923538741"/>
                    </a:ext>
                  </a:extLst>
                </a:gridCol>
                <a:gridCol w="404248">
                  <a:extLst>
                    <a:ext uri="{9D8B030D-6E8A-4147-A177-3AD203B41FA5}">
                      <a16:colId xmlns:a16="http://schemas.microsoft.com/office/drawing/2014/main" val="3838919691"/>
                    </a:ext>
                  </a:extLst>
                </a:gridCol>
                <a:gridCol w="404248">
                  <a:extLst>
                    <a:ext uri="{9D8B030D-6E8A-4147-A177-3AD203B41FA5}">
                      <a16:colId xmlns:a16="http://schemas.microsoft.com/office/drawing/2014/main" val="997937256"/>
                    </a:ext>
                  </a:extLst>
                </a:gridCol>
                <a:gridCol w="404248">
                  <a:extLst>
                    <a:ext uri="{9D8B030D-6E8A-4147-A177-3AD203B41FA5}">
                      <a16:colId xmlns:a16="http://schemas.microsoft.com/office/drawing/2014/main" val="4201534290"/>
                    </a:ext>
                  </a:extLst>
                </a:gridCol>
                <a:gridCol w="404248">
                  <a:extLst>
                    <a:ext uri="{9D8B030D-6E8A-4147-A177-3AD203B41FA5}">
                      <a16:colId xmlns:a16="http://schemas.microsoft.com/office/drawing/2014/main" val="3289386902"/>
                    </a:ext>
                  </a:extLst>
                </a:gridCol>
              </a:tblGrid>
              <a:tr h="370840">
                <a:tc>
                  <a:txBody>
                    <a:bodyPr/>
                    <a:lstStyle/>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(2)</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(3)</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(4)</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(5)</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(6)</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(7)</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(8)</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(9)</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(10)</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(11)</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(12)</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3744596863"/>
                  </a:ext>
                </a:extLst>
              </a:tr>
              <a:tr h="370840">
                <a:tc>
                  <a:txBody>
                    <a:bodyPr/>
                    <a:lstStyle/>
                    <a:p>
                      <a:pPr latinLnBrk="1"/>
                      <a:r>
                        <a:rPr lang="ko-KR" altLang="en-US" sz="1000" dirty="0"/>
                        <a:t>신규성</a:t>
                      </a:r>
                      <a:endParaRPr lang="en-US" altLang="ko-KR" sz="1000" dirty="0"/>
                    </a:p>
                    <a:p>
                      <a:pPr latinLnBrk="1"/>
                      <a:r>
                        <a:rPr lang="ko-KR" altLang="en-US" sz="1000" dirty="0"/>
                        <a:t>위반</a:t>
                      </a:r>
                      <a:endParaRPr lang="en-US" altLang="ko-KR"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64332382"/>
                  </a:ext>
                </a:extLst>
              </a:tr>
              <a:tr h="370840">
                <a:tc>
                  <a:txBody>
                    <a:bodyPr/>
                    <a:lstStyle/>
                    <a:p>
                      <a:pPr latinLnBrk="1"/>
                      <a:r>
                        <a:rPr lang="ko-KR" altLang="en-US" sz="1000" dirty="0" err="1"/>
                        <a:t>선출원</a:t>
                      </a:r>
                      <a:endParaRPr lang="en-US" altLang="ko-KR" sz="1000" dirty="0"/>
                    </a:p>
                    <a:p>
                      <a:pPr latinLnBrk="1"/>
                      <a:r>
                        <a:rPr lang="ko-KR" altLang="en-US" sz="1000" dirty="0"/>
                        <a:t>위반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89054708"/>
                  </a:ext>
                </a:extLst>
              </a:tr>
              <a:tr h="370840">
                <a:tc>
                  <a:txBody>
                    <a:bodyPr/>
                    <a:lstStyle/>
                    <a:p>
                      <a:pPr latinLnBrk="1"/>
                      <a:r>
                        <a:rPr lang="ko-KR" altLang="en-US" sz="1000" dirty="0" err="1"/>
                        <a:t>확선</a:t>
                      </a:r>
                      <a:endParaRPr lang="en-US" altLang="ko-KR" sz="1000" dirty="0"/>
                    </a:p>
                    <a:p>
                      <a:pPr latinLnBrk="1"/>
                      <a:r>
                        <a:rPr lang="ko-KR" altLang="en-US" sz="1000" dirty="0"/>
                        <a:t>위반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76270503"/>
                  </a:ext>
                </a:extLst>
              </a:tr>
            </a:tbl>
          </a:graphicData>
        </a:graphic>
      </p:graphicFrame>
      <p:sp>
        <p:nvSpPr>
          <p:cNvPr id="42" name="Rectangle 5"/>
          <p:cNvSpPr>
            <a:spLocks noChangeArrowheads="1"/>
          </p:cNvSpPr>
          <p:nvPr/>
        </p:nvSpPr>
        <p:spPr bwMode="auto">
          <a:xfrm>
            <a:off x="6409793" y="1106383"/>
            <a:ext cx="952235" cy="348102"/>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판단</a:t>
            </a:r>
          </a:p>
        </p:txBody>
      </p:sp>
      <p:cxnSp>
        <p:nvCxnSpPr>
          <p:cNvPr id="92" name="직선 연결선 91"/>
          <p:cNvCxnSpPr/>
          <p:nvPr/>
        </p:nvCxnSpPr>
        <p:spPr>
          <a:xfrm>
            <a:off x="6905281" y="2815926"/>
            <a:ext cx="505991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직사각형 92"/>
          <p:cNvSpPr/>
          <p:nvPr/>
        </p:nvSpPr>
        <p:spPr>
          <a:xfrm>
            <a:off x="6818298" y="1645585"/>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4" name="직사각형 93"/>
          <p:cNvSpPr/>
          <p:nvPr/>
        </p:nvSpPr>
        <p:spPr>
          <a:xfrm>
            <a:off x="6818298" y="1875086"/>
            <a:ext cx="850393" cy="229500"/>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5" name="직선 연결선 94"/>
          <p:cNvCxnSpPr>
            <a:stCxn id="97" idx="0"/>
            <a:endCxn id="96" idx="2"/>
          </p:cNvCxnSpPr>
          <p:nvPr/>
        </p:nvCxnSpPr>
        <p:spPr>
          <a:xfrm flipV="1">
            <a:off x="7243495" y="2480223"/>
            <a:ext cx="0" cy="22095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TextBox 95"/>
          <p:cNvSpPr txBox="1"/>
          <p:nvPr/>
        </p:nvSpPr>
        <p:spPr>
          <a:xfrm>
            <a:off x="6818299" y="2203224"/>
            <a:ext cx="85039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7" name="직사각형 96"/>
          <p:cNvSpPr/>
          <p:nvPr/>
        </p:nvSpPr>
        <p:spPr>
          <a:xfrm>
            <a:off x="6638389" y="2701176"/>
            <a:ext cx="121021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출원일</a:t>
            </a:r>
          </a:p>
        </p:txBody>
      </p:sp>
      <p:cxnSp>
        <p:nvCxnSpPr>
          <p:cNvPr id="98" name="직선 연결선 97"/>
          <p:cNvCxnSpPr>
            <a:stCxn id="100" idx="0"/>
            <a:endCxn id="99" idx="2"/>
          </p:cNvCxnSpPr>
          <p:nvPr/>
        </p:nvCxnSpPr>
        <p:spPr>
          <a:xfrm flipV="1">
            <a:off x="10192131" y="2480223"/>
            <a:ext cx="0" cy="220953"/>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TextBox 98"/>
          <p:cNvSpPr txBox="1"/>
          <p:nvPr/>
        </p:nvSpPr>
        <p:spPr>
          <a:xfrm>
            <a:off x="9766935" y="2203224"/>
            <a:ext cx="850392" cy="276999"/>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0" name="직사각형 99"/>
          <p:cNvSpPr/>
          <p:nvPr/>
        </p:nvSpPr>
        <p:spPr>
          <a:xfrm>
            <a:off x="9587025" y="2701176"/>
            <a:ext cx="121021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공개일</a:t>
            </a:r>
          </a:p>
        </p:txBody>
      </p:sp>
      <p:grpSp>
        <p:nvGrpSpPr>
          <p:cNvPr id="6" name="그룹 5"/>
          <p:cNvGrpSpPr/>
          <p:nvPr/>
        </p:nvGrpSpPr>
        <p:grpSpPr>
          <a:xfrm>
            <a:off x="6716457" y="2930677"/>
            <a:ext cx="4823541" cy="834732"/>
            <a:chOff x="6716457" y="2930676"/>
            <a:chExt cx="4823541" cy="1573591"/>
          </a:xfrm>
        </p:grpSpPr>
        <p:cxnSp>
          <p:nvCxnSpPr>
            <p:cNvPr id="101" name="직선 연결선 100"/>
            <p:cNvCxnSpPr/>
            <p:nvPr/>
          </p:nvCxnSpPr>
          <p:spPr>
            <a:xfrm>
              <a:off x="6716457"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직선 연결선 103"/>
            <p:cNvCxnSpPr/>
            <p:nvPr/>
          </p:nvCxnSpPr>
          <p:spPr>
            <a:xfrm>
              <a:off x="7701532"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직선 연결선 106"/>
            <p:cNvCxnSpPr/>
            <p:nvPr/>
          </p:nvCxnSpPr>
          <p:spPr>
            <a:xfrm>
              <a:off x="8749798"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직선 연결선 109"/>
            <p:cNvCxnSpPr/>
            <p:nvPr/>
          </p:nvCxnSpPr>
          <p:spPr>
            <a:xfrm>
              <a:off x="9720778"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직선 연결선 112"/>
            <p:cNvCxnSpPr/>
            <p:nvPr/>
          </p:nvCxnSpPr>
          <p:spPr>
            <a:xfrm>
              <a:off x="10644932"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직선 연결선 115"/>
            <p:cNvCxnSpPr/>
            <p:nvPr/>
          </p:nvCxnSpPr>
          <p:spPr>
            <a:xfrm>
              <a:off x="11539998" y="2930676"/>
              <a:ext cx="0" cy="157359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graphicFrame>
        <p:nvGraphicFramePr>
          <p:cNvPr id="119" name="표 118"/>
          <p:cNvGraphicFramePr>
            <a:graphicFrameLocks noGrp="1"/>
          </p:cNvGraphicFramePr>
          <p:nvPr/>
        </p:nvGraphicFramePr>
        <p:xfrm>
          <a:off x="6229350" y="4791391"/>
          <a:ext cx="5581647" cy="1537491"/>
        </p:xfrm>
        <a:graphic>
          <a:graphicData uri="http://schemas.openxmlformats.org/drawingml/2006/table">
            <a:tbl>
              <a:tblPr firstRow="1" bandRow="1">
                <a:tableStyleId>{69CF1AB2-1976-4502-BF36-3FF5EA218861}</a:tableStyleId>
              </a:tblPr>
              <a:tblGrid>
                <a:gridCol w="1559265">
                  <a:extLst>
                    <a:ext uri="{9D8B030D-6E8A-4147-A177-3AD203B41FA5}">
                      <a16:colId xmlns:a16="http://schemas.microsoft.com/office/drawing/2014/main" val="2616795804"/>
                    </a:ext>
                  </a:extLst>
                </a:gridCol>
                <a:gridCol w="670397">
                  <a:extLst>
                    <a:ext uri="{9D8B030D-6E8A-4147-A177-3AD203B41FA5}">
                      <a16:colId xmlns:a16="http://schemas.microsoft.com/office/drawing/2014/main" val="3940597772"/>
                    </a:ext>
                  </a:extLst>
                </a:gridCol>
                <a:gridCol w="670397">
                  <a:extLst>
                    <a:ext uri="{9D8B030D-6E8A-4147-A177-3AD203B41FA5}">
                      <a16:colId xmlns:a16="http://schemas.microsoft.com/office/drawing/2014/main" val="1509181753"/>
                    </a:ext>
                  </a:extLst>
                </a:gridCol>
                <a:gridCol w="670397">
                  <a:extLst>
                    <a:ext uri="{9D8B030D-6E8A-4147-A177-3AD203B41FA5}">
                      <a16:colId xmlns:a16="http://schemas.microsoft.com/office/drawing/2014/main" val="2111996257"/>
                    </a:ext>
                  </a:extLst>
                </a:gridCol>
                <a:gridCol w="670397">
                  <a:extLst>
                    <a:ext uri="{9D8B030D-6E8A-4147-A177-3AD203B41FA5}">
                      <a16:colId xmlns:a16="http://schemas.microsoft.com/office/drawing/2014/main" val="3310433508"/>
                    </a:ext>
                  </a:extLst>
                </a:gridCol>
                <a:gridCol w="670397">
                  <a:extLst>
                    <a:ext uri="{9D8B030D-6E8A-4147-A177-3AD203B41FA5}">
                      <a16:colId xmlns:a16="http://schemas.microsoft.com/office/drawing/2014/main" val="3278951296"/>
                    </a:ext>
                  </a:extLst>
                </a:gridCol>
                <a:gridCol w="670397">
                  <a:extLst>
                    <a:ext uri="{9D8B030D-6E8A-4147-A177-3AD203B41FA5}">
                      <a16:colId xmlns:a16="http://schemas.microsoft.com/office/drawing/2014/main" val="682422079"/>
                    </a:ext>
                  </a:extLst>
                </a:gridCol>
              </a:tblGrid>
              <a:tr h="283434">
                <a:tc>
                  <a:txBody>
                    <a:bodyPr/>
                    <a:lstStyle/>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(2)</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(3)</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(4)</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(5)</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(6)</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3744596863"/>
                  </a:ext>
                </a:extLst>
              </a:tr>
              <a:tr h="323541">
                <a:tc>
                  <a:txBody>
                    <a:bodyPr/>
                    <a:lstStyle/>
                    <a:p>
                      <a:pPr latinLnBrk="1"/>
                      <a:r>
                        <a:rPr lang="ko-KR" altLang="en-US" sz="1000" dirty="0" err="1"/>
                        <a:t>신규성</a:t>
                      </a:r>
                      <a:r>
                        <a:rPr lang="ko-KR" altLang="en-US" sz="1000" dirty="0"/>
                        <a:t> 위반</a:t>
                      </a:r>
                      <a:endParaRPr lang="en-US" altLang="ko-KR"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64332382"/>
                  </a:ext>
                </a:extLst>
              </a:tr>
              <a:tr h="283434">
                <a:tc>
                  <a:txBody>
                    <a:bodyPr/>
                    <a:lstStyle/>
                    <a:p>
                      <a:pPr latinLnBrk="1"/>
                      <a:r>
                        <a:rPr lang="ko-KR" altLang="en-US" sz="1000" dirty="0"/>
                        <a:t>진보성 위반</a:t>
                      </a:r>
                      <a:endParaRPr lang="en-US" altLang="ko-KR"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323541">
                <a:tc>
                  <a:txBody>
                    <a:bodyPr/>
                    <a:lstStyle/>
                    <a:p>
                      <a:pPr latinLnBrk="1"/>
                      <a:r>
                        <a:rPr lang="ko-KR" altLang="en-US" sz="1000" dirty="0" err="1"/>
                        <a:t>선출원</a:t>
                      </a:r>
                      <a:r>
                        <a:rPr lang="ko-KR" altLang="en-US" sz="1000" dirty="0"/>
                        <a:t> 위반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89054708"/>
                  </a:ext>
                </a:extLst>
              </a:tr>
              <a:tr h="323541">
                <a:tc>
                  <a:txBody>
                    <a:bodyPr/>
                    <a:lstStyle/>
                    <a:p>
                      <a:pPr latinLnBrk="1"/>
                      <a:r>
                        <a:rPr lang="ko-KR" altLang="en-US" sz="1000" dirty="0" err="1"/>
                        <a:t>확선</a:t>
                      </a:r>
                      <a:r>
                        <a:rPr lang="ko-KR" altLang="en-US" sz="1000" dirty="0"/>
                        <a:t> 위반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76270503"/>
                  </a:ext>
                </a:extLst>
              </a:tr>
            </a:tbl>
          </a:graphicData>
        </a:graphic>
      </p:graphicFrame>
      <p:sp>
        <p:nvSpPr>
          <p:cNvPr id="72" name="TextBox 71"/>
          <p:cNvSpPr txBox="1"/>
          <p:nvPr/>
        </p:nvSpPr>
        <p:spPr>
          <a:xfrm>
            <a:off x="1752601" y="1203375"/>
            <a:ext cx="4250265" cy="671710"/>
          </a:xfrm>
          <a:prstGeom prst="wedgeRoundRectCallout">
            <a:avLst>
              <a:gd name="adj1" fmla="val -62594"/>
              <a:gd name="adj2" fmla="val -37077"/>
              <a:gd name="adj3" fmla="val 16667"/>
            </a:avLst>
          </a:prstGeom>
          <a:noFill/>
          <a:ln>
            <a:solidFill>
              <a:schemeClr val="accent6">
                <a:lumMod val="50000"/>
              </a:schemeClr>
            </a:solidFill>
          </a:ln>
        </p:spPr>
        <p:txBody>
          <a:bodyPr wrap="squar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lumMod val="65000"/>
                    <a:lumOff val="35000"/>
                  </a:prstClr>
                </a:solidFill>
                <a:effectLst/>
                <a:uLnTx/>
                <a:uFillTx/>
                <a:latin typeface="Frutiger LT 65 Bold"/>
                <a:ea typeface="Rix모던고딕 B"/>
                <a:cs typeface="+mn-cs"/>
              </a:rPr>
              <a:t>외국에서 시장조사를 하던 중 괜찮은 아이템을 발견했는데</a:t>
            </a:r>
            <a:r>
              <a:rPr kumimoji="0" lang="en-US" altLang="ko-KR" sz="1200" b="0" i="0" u="none" strike="noStrike" kern="1200" cap="none" spc="0" normalizeH="0" baseline="0" noProof="0" dirty="0">
                <a:ln>
                  <a:noFill/>
                </a:ln>
                <a:solidFill>
                  <a:prstClr val="black">
                    <a:lumMod val="65000"/>
                    <a:lumOff val="35000"/>
                  </a:prstClr>
                </a:solidFill>
                <a:effectLst/>
                <a:uLnTx/>
                <a:uFillTx/>
                <a:latin typeface="Frutiger LT 65 Bold"/>
                <a:ea typeface="Rix모던고딕 B"/>
                <a:cs typeface="+mn-cs"/>
              </a:rPr>
              <a:t>, </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lumMod val="65000"/>
                    <a:lumOff val="35000"/>
                  </a:prstClr>
                </a:solidFill>
                <a:effectLst/>
                <a:uLnTx/>
                <a:uFillTx/>
                <a:latin typeface="Frutiger LT 65 Bold"/>
                <a:ea typeface="Rix모던고딕 B"/>
                <a:cs typeface="+mn-cs"/>
              </a:rPr>
              <a:t>국내에서 조사해 보니 아무도 특허등록을 해 놓지 않은 상태이다</a:t>
            </a:r>
            <a:r>
              <a:rPr kumimoji="0" lang="en-US" altLang="ko-KR" sz="1200" b="0" i="0" u="none" strike="noStrike" kern="1200" cap="none" spc="0" normalizeH="0" baseline="0" noProof="0" dirty="0">
                <a:ln>
                  <a:noFill/>
                </a:ln>
                <a:solidFill>
                  <a:prstClr val="black">
                    <a:lumMod val="65000"/>
                    <a:lumOff val="35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lumMod val="65000"/>
                    <a:lumOff val="35000"/>
                  </a:prstClr>
                </a:solidFill>
                <a:effectLst/>
                <a:uLnTx/>
                <a:uFillTx/>
                <a:latin typeface="Frutiger LT 65 Bold"/>
                <a:ea typeface="Rix모던고딕 B"/>
                <a:cs typeface="+mn-cs"/>
              </a:rPr>
              <a:t>국내에서 특허를 받을 수 있는 방법은</a:t>
            </a:r>
            <a:r>
              <a:rPr kumimoji="0" lang="en-US" altLang="ko-KR" sz="1200" b="0" i="0" u="none" strike="noStrike" kern="1200" cap="none" spc="0" normalizeH="0" baseline="0" noProof="0" dirty="0">
                <a:ln>
                  <a:noFill/>
                </a:ln>
                <a:solidFill>
                  <a:prstClr val="black">
                    <a:lumMod val="65000"/>
                    <a:lumOff val="35000"/>
                  </a:prstClr>
                </a:solidFill>
                <a:effectLst/>
                <a:uLnTx/>
                <a:uFillTx/>
                <a:latin typeface="Frutiger LT 65 Bold"/>
                <a:ea typeface="Rix모던고딕 B"/>
                <a:cs typeface="+mn-cs"/>
              </a:rPr>
              <a:t>?</a:t>
            </a:r>
          </a:p>
        </p:txBody>
      </p:sp>
      <p:sp>
        <p:nvSpPr>
          <p:cNvPr id="7" name="TextBox 6"/>
          <p:cNvSpPr txBox="1"/>
          <p:nvPr/>
        </p:nvSpPr>
        <p:spPr>
          <a:xfrm>
            <a:off x="6409793" y="4191000"/>
            <a:ext cx="1596912"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B’</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는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로부터 용이함</a:t>
            </a:r>
          </a:p>
        </p:txBody>
      </p:sp>
      <p:sp>
        <p:nvSpPr>
          <p:cNvPr id="102" name="직사각형 101"/>
          <p:cNvSpPr/>
          <p:nvPr/>
        </p:nvSpPr>
        <p:spPr>
          <a:xfrm>
            <a:off x="6291260" y="3538153"/>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(1)</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05" name="직사각형 104"/>
          <p:cNvSpPr/>
          <p:nvPr/>
        </p:nvSpPr>
        <p:spPr>
          <a:xfrm>
            <a:off x="7276335" y="3538153"/>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08" name="직사각형 107"/>
          <p:cNvSpPr/>
          <p:nvPr/>
        </p:nvSpPr>
        <p:spPr>
          <a:xfrm>
            <a:off x="8324601" y="3538153"/>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(3)</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11" name="직사각형 110"/>
          <p:cNvSpPr/>
          <p:nvPr/>
        </p:nvSpPr>
        <p:spPr>
          <a:xfrm>
            <a:off x="9295581" y="3538153"/>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(4)</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14" name="직사각형 113"/>
          <p:cNvSpPr/>
          <p:nvPr/>
        </p:nvSpPr>
        <p:spPr>
          <a:xfrm>
            <a:off x="10219735"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(5)</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17" name="직사각형 116"/>
          <p:cNvSpPr/>
          <p:nvPr/>
        </p:nvSpPr>
        <p:spPr>
          <a:xfrm>
            <a:off x="11114801" y="3538153"/>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(6)</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93</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187200468"/>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a:t>출원 절차의 종료와 등록금지적 효력</a:t>
            </a:r>
          </a:p>
        </p:txBody>
      </p:sp>
      <p:sp>
        <p:nvSpPr>
          <p:cNvPr id="17" name="TextBox 16"/>
          <p:cNvSpPr txBox="1"/>
          <p:nvPr/>
        </p:nvSpPr>
        <p:spPr>
          <a:xfrm>
            <a:off x="77875" y="986046"/>
            <a:ext cx="11936323"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출원공개 전 출원의 무효</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취하</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포기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거절결정 확정에 의하여 출원 절차가 종료되면 등록금지적 효력이 남지 않는다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한편</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출원공개 후 출원 절차가 종료되면 공지기술의 지위와 확대된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지위가 남지만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지위는 남지 않게 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18" name="직선 연결선 17"/>
          <p:cNvCxnSpPr/>
          <p:nvPr/>
        </p:nvCxnSpPr>
        <p:spPr>
          <a:xfrm>
            <a:off x="0" y="151495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6" name="표 5"/>
          <p:cNvGraphicFramePr>
            <a:graphicFrameLocks noGrp="1"/>
          </p:cNvGraphicFramePr>
          <p:nvPr/>
        </p:nvGraphicFramePr>
        <p:xfrm>
          <a:off x="431505" y="2769712"/>
          <a:ext cx="4690828" cy="2676746"/>
        </p:xfrm>
        <a:graphic>
          <a:graphicData uri="http://schemas.openxmlformats.org/drawingml/2006/table">
            <a:tbl>
              <a:tblPr/>
              <a:tblGrid>
                <a:gridCol w="956296">
                  <a:extLst>
                    <a:ext uri="{9D8B030D-6E8A-4147-A177-3AD203B41FA5}">
                      <a16:colId xmlns:a16="http://schemas.microsoft.com/office/drawing/2014/main" val="20000"/>
                    </a:ext>
                  </a:extLst>
                </a:gridCol>
                <a:gridCol w="1428466">
                  <a:extLst>
                    <a:ext uri="{9D8B030D-6E8A-4147-A177-3AD203B41FA5}">
                      <a16:colId xmlns:a16="http://schemas.microsoft.com/office/drawing/2014/main" val="20001"/>
                    </a:ext>
                  </a:extLst>
                </a:gridCol>
                <a:gridCol w="1153033">
                  <a:extLst>
                    <a:ext uri="{9D8B030D-6E8A-4147-A177-3AD203B41FA5}">
                      <a16:colId xmlns:a16="http://schemas.microsoft.com/office/drawing/2014/main" val="20002"/>
                    </a:ext>
                  </a:extLst>
                </a:gridCol>
                <a:gridCol w="1153033">
                  <a:extLst>
                    <a:ext uri="{9D8B030D-6E8A-4147-A177-3AD203B41FA5}">
                      <a16:colId xmlns:a16="http://schemas.microsoft.com/office/drawing/2014/main" val="20003"/>
                    </a:ext>
                  </a:extLst>
                </a:gridCol>
              </a:tblGrid>
              <a:tr h="1199464">
                <a:tc>
                  <a:txBody>
                    <a:bodyPr/>
                    <a:lstStyle/>
                    <a:p>
                      <a:pPr marL="0" marR="0" indent="0" algn="ctr" fontAlgn="base" latinLnBrk="0">
                        <a:lnSpc>
                          <a:spcPct val="100000"/>
                        </a:lnSpc>
                        <a:spcBef>
                          <a:spcPts val="0"/>
                        </a:spcBef>
                        <a:spcAft>
                          <a:spcPts val="0"/>
                        </a:spcAft>
                      </a:pPr>
                      <a:r>
                        <a:rPr lang="ko-KR" altLang="en-US" sz="1400" b="1" kern="1200" dirty="0">
                          <a:solidFill>
                            <a:schemeClr val="tx2"/>
                          </a:solidFill>
                          <a:latin typeface="+mn-lt"/>
                          <a:ea typeface="+mn-ea"/>
                          <a:cs typeface="+mn-cs"/>
                        </a:rPr>
                        <a:t>시기</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400" b="1" kern="1200" dirty="0" err="1">
                          <a:solidFill>
                            <a:schemeClr val="tx2"/>
                          </a:solidFill>
                          <a:latin typeface="+mn-lt"/>
                          <a:ea typeface="+mn-ea"/>
                          <a:cs typeface="+mn-cs"/>
                        </a:rPr>
                        <a:t>선출원의</a:t>
                      </a:r>
                      <a:r>
                        <a:rPr lang="ko-KR" altLang="en-US" sz="1400" b="1" kern="1200" dirty="0">
                          <a:solidFill>
                            <a:schemeClr val="tx2"/>
                          </a:solidFill>
                          <a:latin typeface="+mn-lt"/>
                          <a:ea typeface="+mn-ea"/>
                          <a:cs typeface="+mn-cs"/>
                        </a:rPr>
                        <a:t> </a:t>
                      </a:r>
                      <a:endParaRPr lang="en-US" altLang="ko-KR" sz="1400" b="1" kern="1200" dirty="0">
                        <a:solidFill>
                          <a:schemeClr val="tx2"/>
                        </a:solidFill>
                        <a:latin typeface="+mn-lt"/>
                        <a:ea typeface="+mn-ea"/>
                        <a:cs typeface="+mn-cs"/>
                      </a:endParaRPr>
                    </a:p>
                    <a:p>
                      <a:pPr marL="0" marR="0" indent="0" algn="ctr" fontAlgn="base" latinLnBrk="0">
                        <a:lnSpc>
                          <a:spcPct val="100000"/>
                        </a:lnSpc>
                        <a:spcBef>
                          <a:spcPts val="0"/>
                        </a:spcBef>
                        <a:spcAft>
                          <a:spcPts val="0"/>
                        </a:spcAft>
                      </a:pPr>
                      <a:r>
                        <a:rPr lang="ko-KR" altLang="en-US" sz="1400" b="1" kern="1200" dirty="0">
                          <a:solidFill>
                            <a:schemeClr val="tx2"/>
                          </a:solidFill>
                          <a:latin typeface="+mn-lt"/>
                          <a:ea typeface="+mn-ea"/>
                          <a:cs typeface="+mn-cs"/>
                        </a:rPr>
                        <a:t>지위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400" b="1" kern="1200" dirty="0">
                          <a:solidFill>
                            <a:schemeClr val="tx2"/>
                          </a:solidFill>
                          <a:latin typeface="+mn-lt"/>
                          <a:ea typeface="+mn-ea"/>
                          <a:cs typeface="+mn-cs"/>
                        </a:rPr>
                        <a:t>확대된 </a:t>
                      </a:r>
                      <a:r>
                        <a:rPr lang="ko-KR" altLang="en-US" sz="1400" b="1" kern="1200" dirty="0" err="1">
                          <a:solidFill>
                            <a:schemeClr val="tx2"/>
                          </a:solidFill>
                          <a:latin typeface="+mn-lt"/>
                          <a:ea typeface="+mn-ea"/>
                          <a:cs typeface="+mn-cs"/>
                        </a:rPr>
                        <a:t>선출원의</a:t>
                      </a:r>
                      <a:r>
                        <a:rPr lang="ko-KR" altLang="en-US" sz="1400" b="1" kern="1200" dirty="0">
                          <a:solidFill>
                            <a:schemeClr val="tx2"/>
                          </a:solidFill>
                          <a:latin typeface="+mn-lt"/>
                          <a:ea typeface="+mn-ea"/>
                          <a:cs typeface="+mn-cs"/>
                        </a:rPr>
                        <a:t> </a:t>
                      </a:r>
                      <a:endParaRPr lang="en-US" altLang="ko-KR" sz="1400" b="1" kern="1200" dirty="0">
                        <a:solidFill>
                          <a:schemeClr val="tx2"/>
                        </a:solidFill>
                        <a:latin typeface="+mn-lt"/>
                        <a:ea typeface="+mn-ea"/>
                        <a:cs typeface="+mn-cs"/>
                      </a:endParaRPr>
                    </a:p>
                    <a:p>
                      <a:pPr marL="0" marR="0" indent="0" algn="ctr" fontAlgn="base" latinLnBrk="0">
                        <a:lnSpc>
                          <a:spcPct val="100000"/>
                        </a:lnSpc>
                        <a:spcBef>
                          <a:spcPts val="0"/>
                        </a:spcBef>
                        <a:spcAft>
                          <a:spcPts val="0"/>
                        </a:spcAft>
                      </a:pPr>
                      <a:r>
                        <a:rPr lang="ko-KR" altLang="en-US" sz="1400" b="1" kern="1200" dirty="0">
                          <a:solidFill>
                            <a:schemeClr val="tx2"/>
                          </a:solidFill>
                          <a:latin typeface="+mn-lt"/>
                          <a:ea typeface="+mn-ea"/>
                          <a:cs typeface="+mn-cs"/>
                        </a:rPr>
                        <a:t>지위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400" b="1" kern="1200" dirty="0">
                          <a:solidFill>
                            <a:schemeClr val="tx2"/>
                          </a:solidFill>
                          <a:latin typeface="+mn-lt"/>
                          <a:ea typeface="+mn-ea"/>
                          <a:cs typeface="+mn-cs"/>
                        </a:rPr>
                        <a:t>공지기술의 지위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738641">
                <a:tc>
                  <a:txBody>
                    <a:bodyPr/>
                    <a:lstStyle/>
                    <a:p>
                      <a:pPr marL="0" marR="0" indent="0" algn="ctr" fontAlgn="base" latinLnBrk="0">
                        <a:lnSpc>
                          <a:spcPct val="100000"/>
                        </a:lnSpc>
                        <a:spcBef>
                          <a:spcPts val="0"/>
                        </a:spcBef>
                        <a:spcAft>
                          <a:spcPts val="0"/>
                        </a:spcAft>
                      </a:pPr>
                      <a:r>
                        <a:rPr lang="ko-KR" altLang="en-US" sz="1400" kern="1200" dirty="0">
                          <a:solidFill>
                            <a:schemeClr val="tx2"/>
                          </a:solidFill>
                          <a:latin typeface="+mn-lt"/>
                          <a:ea typeface="+mn-ea"/>
                          <a:cs typeface="+mn-cs"/>
                        </a:rPr>
                        <a:t>공개 전 </a:t>
                      </a:r>
                      <a:endParaRPr lang="en-US" altLang="ko-KR" sz="1400" kern="1200" dirty="0">
                        <a:solidFill>
                          <a:schemeClr val="tx2"/>
                        </a:solidFill>
                        <a:latin typeface="+mn-lt"/>
                        <a:ea typeface="+mn-ea"/>
                        <a:cs typeface="+mn-cs"/>
                      </a:endParaRPr>
                    </a:p>
                    <a:p>
                      <a:pPr marL="0" marR="0" indent="0" algn="ctr" fontAlgn="base" latinLnBrk="0">
                        <a:lnSpc>
                          <a:spcPct val="100000"/>
                        </a:lnSpc>
                        <a:spcBef>
                          <a:spcPts val="0"/>
                        </a:spcBef>
                        <a:spcAft>
                          <a:spcPts val="0"/>
                        </a:spcAft>
                      </a:pPr>
                      <a:r>
                        <a:rPr lang="ko-KR" altLang="en-US" sz="1400" kern="1200" dirty="0">
                          <a:solidFill>
                            <a:schemeClr val="tx2"/>
                          </a:solidFill>
                          <a:latin typeface="+mn-lt"/>
                          <a:ea typeface="+mn-ea"/>
                          <a:cs typeface="+mn-cs"/>
                        </a:rPr>
                        <a:t>소멸</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ctr" fontAlgn="base" latinLnBrk="0">
                        <a:lnSpc>
                          <a:spcPct val="100000"/>
                        </a:lnSpc>
                        <a:spcBef>
                          <a:spcPts val="0"/>
                        </a:spcBef>
                        <a:spcAft>
                          <a:spcPts val="0"/>
                        </a:spcAft>
                      </a:pPr>
                      <a:r>
                        <a:rPr lang="ko-KR" altLang="en-US" sz="1400" kern="1200" dirty="0">
                          <a:solidFill>
                            <a:schemeClr val="tx2"/>
                          </a:solidFill>
                          <a:latin typeface="+mn-lt"/>
                          <a:ea typeface="+mn-ea"/>
                          <a:cs typeface="+mn-cs"/>
                        </a:rPr>
                        <a:t>불인정</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400" kern="1200" dirty="0">
                          <a:solidFill>
                            <a:schemeClr val="tx2"/>
                          </a:solidFill>
                          <a:latin typeface="+mn-lt"/>
                          <a:ea typeface="+mn-ea"/>
                          <a:cs typeface="+mn-cs"/>
                        </a:rPr>
                        <a:t>불인정</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400" kern="1200">
                          <a:solidFill>
                            <a:schemeClr val="tx2"/>
                          </a:solidFill>
                          <a:latin typeface="+mn-lt"/>
                          <a:ea typeface="+mn-ea"/>
                          <a:cs typeface="+mn-cs"/>
                        </a:rPr>
                        <a:t>불인정</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738641">
                <a:tc>
                  <a:txBody>
                    <a:bodyPr/>
                    <a:lstStyle/>
                    <a:p>
                      <a:pPr marL="0" marR="0" indent="0" algn="ctr" fontAlgn="base" latinLnBrk="0">
                        <a:lnSpc>
                          <a:spcPct val="100000"/>
                        </a:lnSpc>
                        <a:spcBef>
                          <a:spcPts val="0"/>
                        </a:spcBef>
                        <a:spcAft>
                          <a:spcPts val="0"/>
                        </a:spcAft>
                      </a:pPr>
                      <a:r>
                        <a:rPr lang="ko-KR" altLang="en-US" sz="1400" kern="1200" dirty="0">
                          <a:solidFill>
                            <a:schemeClr val="tx2"/>
                          </a:solidFill>
                          <a:latin typeface="+mn-lt"/>
                          <a:ea typeface="+mn-ea"/>
                          <a:cs typeface="+mn-cs"/>
                        </a:rPr>
                        <a:t>공개 후 </a:t>
                      </a:r>
                      <a:endParaRPr lang="en-US" altLang="ko-KR" sz="1400" kern="1200" dirty="0">
                        <a:solidFill>
                          <a:schemeClr val="tx2"/>
                        </a:solidFill>
                        <a:latin typeface="+mn-lt"/>
                        <a:ea typeface="+mn-ea"/>
                        <a:cs typeface="+mn-cs"/>
                      </a:endParaRPr>
                    </a:p>
                    <a:p>
                      <a:pPr marL="0" marR="0" indent="0" algn="ctr" fontAlgn="base" latinLnBrk="0">
                        <a:lnSpc>
                          <a:spcPct val="100000"/>
                        </a:lnSpc>
                        <a:spcBef>
                          <a:spcPts val="0"/>
                        </a:spcBef>
                        <a:spcAft>
                          <a:spcPts val="0"/>
                        </a:spcAft>
                      </a:pPr>
                      <a:r>
                        <a:rPr lang="ko-KR" altLang="en-US" sz="1400" kern="1200" dirty="0">
                          <a:solidFill>
                            <a:schemeClr val="tx2"/>
                          </a:solidFill>
                          <a:latin typeface="+mn-lt"/>
                          <a:ea typeface="+mn-ea"/>
                          <a:cs typeface="+mn-cs"/>
                        </a:rPr>
                        <a:t>소멸</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ctr" fontAlgn="base" latinLnBrk="0">
                        <a:lnSpc>
                          <a:spcPct val="100000"/>
                        </a:lnSpc>
                        <a:spcBef>
                          <a:spcPts val="0"/>
                        </a:spcBef>
                        <a:spcAft>
                          <a:spcPts val="0"/>
                        </a:spcAft>
                      </a:pPr>
                      <a:r>
                        <a:rPr lang="ko-KR" altLang="en-US" sz="1400" kern="1200">
                          <a:solidFill>
                            <a:schemeClr val="tx2"/>
                          </a:solidFill>
                          <a:latin typeface="+mn-lt"/>
                          <a:ea typeface="+mn-ea"/>
                          <a:cs typeface="+mn-cs"/>
                        </a:rPr>
                        <a:t>불인정</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400" kern="1200" dirty="0">
                          <a:solidFill>
                            <a:schemeClr val="tx2"/>
                          </a:solidFill>
                          <a:latin typeface="+mn-lt"/>
                          <a:ea typeface="+mn-ea"/>
                          <a:cs typeface="+mn-cs"/>
                        </a:rPr>
                        <a:t>인정</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400" kern="1200" dirty="0">
                          <a:solidFill>
                            <a:schemeClr val="tx2"/>
                          </a:solidFill>
                          <a:latin typeface="+mn-lt"/>
                          <a:ea typeface="+mn-ea"/>
                          <a:cs typeface="+mn-cs"/>
                        </a:rPr>
                        <a:t>인정</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pSp>
        <p:nvGrpSpPr>
          <p:cNvPr id="11" name="그룹 10"/>
          <p:cNvGrpSpPr/>
          <p:nvPr/>
        </p:nvGrpSpPr>
        <p:grpSpPr>
          <a:xfrm>
            <a:off x="6419052" y="1819056"/>
            <a:ext cx="2757925" cy="4866416"/>
            <a:chOff x="1778000" y="3217333"/>
            <a:chExt cx="4343400" cy="3081867"/>
          </a:xfrm>
        </p:grpSpPr>
        <p:cxnSp>
          <p:nvCxnSpPr>
            <p:cNvPr id="8" name="직선 연결선 7"/>
            <p:cNvCxnSpPr/>
            <p:nvPr/>
          </p:nvCxnSpPr>
          <p:spPr>
            <a:xfrm>
              <a:off x="1778000" y="3217333"/>
              <a:ext cx="0" cy="3081867"/>
            </a:xfrm>
            <a:prstGeom prst="line">
              <a:avLst/>
            </a:prstGeom>
            <a:ln w="28575">
              <a:solidFill>
                <a:schemeClr val="accent4">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직선 연결선 23"/>
            <p:cNvCxnSpPr/>
            <p:nvPr/>
          </p:nvCxnSpPr>
          <p:spPr>
            <a:xfrm>
              <a:off x="6121400" y="3217333"/>
              <a:ext cx="0" cy="3081867"/>
            </a:xfrm>
            <a:prstGeom prst="line">
              <a:avLst/>
            </a:prstGeom>
            <a:ln w="28575">
              <a:solidFill>
                <a:schemeClr val="accent4">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10" name="직선 연결선 9"/>
          <p:cNvCxnSpPr/>
          <p:nvPr/>
        </p:nvCxnSpPr>
        <p:spPr>
          <a:xfrm>
            <a:off x="6354277" y="3066046"/>
            <a:ext cx="5507088" cy="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직선 화살표 연결선 12"/>
          <p:cNvCxnSpPr/>
          <p:nvPr/>
        </p:nvCxnSpPr>
        <p:spPr>
          <a:xfrm flipV="1">
            <a:off x="6438252" y="2021787"/>
            <a:ext cx="2717802" cy="8935"/>
          </a:xfrm>
          <a:prstGeom prst="straightConnector1">
            <a:avLst/>
          </a:prstGeom>
          <a:ln>
            <a:solidFill>
              <a:schemeClr val="accent2">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7365492" y="1867898"/>
            <a:ext cx="910048" cy="307777"/>
          </a:xfrm>
          <a:prstGeom prst="rect">
            <a:avLst/>
          </a:prstGeom>
          <a:solidFill>
            <a:schemeClr val="bg1"/>
          </a:solid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년 </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6</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월</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32" name="타원 31"/>
          <p:cNvSpPr/>
          <p:nvPr/>
        </p:nvSpPr>
        <p:spPr>
          <a:xfrm>
            <a:off x="9020344" y="2913644"/>
            <a:ext cx="313266" cy="313266"/>
          </a:xfrm>
          <a:prstGeom prst="ellipse">
            <a:avLst/>
          </a:prstGeom>
          <a:solidFill>
            <a:schemeClr val="accent4">
              <a:lumMod val="75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5" name="TextBox 34"/>
          <p:cNvSpPr txBox="1"/>
          <p:nvPr/>
        </p:nvSpPr>
        <p:spPr>
          <a:xfrm>
            <a:off x="8808927" y="3281943"/>
            <a:ext cx="73609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출원공개</a:t>
            </a:r>
          </a:p>
        </p:txBody>
      </p:sp>
      <p:sp>
        <p:nvSpPr>
          <p:cNvPr id="19" name="자유형 18"/>
          <p:cNvSpPr/>
          <p:nvPr/>
        </p:nvSpPr>
        <p:spPr>
          <a:xfrm>
            <a:off x="6579919" y="2566512"/>
            <a:ext cx="5281445" cy="474134"/>
          </a:xfrm>
          <a:custGeom>
            <a:avLst/>
            <a:gdLst>
              <a:gd name="connsiteX0" fmla="*/ 0 w 8449733"/>
              <a:gd name="connsiteY0" fmla="*/ 474134 h 474134"/>
              <a:gd name="connsiteX1" fmla="*/ 186266 w 8449733"/>
              <a:gd name="connsiteY1" fmla="*/ 8467 h 474134"/>
              <a:gd name="connsiteX2" fmla="*/ 3869266 w 8449733"/>
              <a:gd name="connsiteY2" fmla="*/ 8467 h 474134"/>
              <a:gd name="connsiteX3" fmla="*/ 4174066 w 8449733"/>
              <a:gd name="connsiteY3" fmla="*/ 338667 h 474134"/>
              <a:gd name="connsiteX4" fmla="*/ 4461933 w 8449733"/>
              <a:gd name="connsiteY4" fmla="*/ 0 h 474134"/>
              <a:gd name="connsiteX5" fmla="*/ 8449733 w 8449733"/>
              <a:gd name="connsiteY5" fmla="*/ 0 h 474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9733" h="474134">
                <a:moveTo>
                  <a:pt x="0" y="474134"/>
                </a:moveTo>
                <a:lnTo>
                  <a:pt x="186266" y="8467"/>
                </a:lnTo>
                <a:lnTo>
                  <a:pt x="3869266" y="8467"/>
                </a:lnTo>
                <a:lnTo>
                  <a:pt x="4174066" y="338667"/>
                </a:lnTo>
                <a:lnTo>
                  <a:pt x="4461933" y="0"/>
                </a:lnTo>
                <a:lnTo>
                  <a:pt x="8449733" y="0"/>
                </a:lnTo>
              </a:path>
            </a:pathLst>
          </a:cu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20" name="자유형 19"/>
          <p:cNvSpPr/>
          <p:nvPr/>
        </p:nvSpPr>
        <p:spPr>
          <a:xfrm>
            <a:off x="6275107" y="3150712"/>
            <a:ext cx="5586257" cy="465667"/>
          </a:xfrm>
          <a:custGeom>
            <a:avLst/>
            <a:gdLst>
              <a:gd name="connsiteX0" fmla="*/ 0 w 8466667"/>
              <a:gd name="connsiteY0" fmla="*/ 0 h 465667"/>
              <a:gd name="connsiteX1" fmla="*/ 228600 w 8466667"/>
              <a:gd name="connsiteY1" fmla="*/ 465667 h 465667"/>
              <a:gd name="connsiteX2" fmla="*/ 8466667 w 8466667"/>
              <a:gd name="connsiteY2" fmla="*/ 465667 h 465667"/>
            </a:gdLst>
            <a:ahLst/>
            <a:cxnLst>
              <a:cxn ang="0">
                <a:pos x="connsiteX0" y="connsiteY0"/>
              </a:cxn>
              <a:cxn ang="0">
                <a:pos x="connsiteX1" y="connsiteY1"/>
              </a:cxn>
              <a:cxn ang="0">
                <a:pos x="connsiteX2" y="connsiteY2"/>
              </a:cxn>
            </a:cxnLst>
            <a:rect l="l" t="t" r="r" b="b"/>
            <a:pathLst>
              <a:path w="8466667" h="465667">
                <a:moveTo>
                  <a:pt x="0" y="0"/>
                </a:moveTo>
                <a:lnTo>
                  <a:pt x="228600" y="465667"/>
                </a:lnTo>
                <a:lnTo>
                  <a:pt x="8466667" y="465667"/>
                </a:lnTo>
              </a:path>
            </a:pathLst>
          </a:cu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cxnSp>
        <p:nvCxnSpPr>
          <p:cNvPr id="55" name="직선 연결선 54"/>
          <p:cNvCxnSpPr/>
          <p:nvPr/>
        </p:nvCxnSpPr>
        <p:spPr>
          <a:xfrm>
            <a:off x="6354277" y="4498031"/>
            <a:ext cx="5005183" cy="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타원 55"/>
          <p:cNvSpPr/>
          <p:nvPr/>
        </p:nvSpPr>
        <p:spPr>
          <a:xfrm>
            <a:off x="6266652" y="4345629"/>
            <a:ext cx="313266" cy="313266"/>
          </a:xfrm>
          <a:prstGeom prst="ellipse">
            <a:avLst/>
          </a:prstGeom>
          <a:solidFill>
            <a:schemeClr val="accent4">
              <a:lumMod val="75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7" name="타원 56"/>
          <p:cNvSpPr/>
          <p:nvPr/>
        </p:nvSpPr>
        <p:spPr>
          <a:xfrm>
            <a:off x="9020344" y="4345629"/>
            <a:ext cx="313266" cy="313266"/>
          </a:xfrm>
          <a:prstGeom prst="ellipse">
            <a:avLst/>
          </a:prstGeom>
          <a:solidFill>
            <a:schemeClr val="accent4">
              <a:lumMod val="75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9" name="TextBox 58"/>
          <p:cNvSpPr txBox="1"/>
          <p:nvPr/>
        </p:nvSpPr>
        <p:spPr>
          <a:xfrm>
            <a:off x="8808927" y="4713928"/>
            <a:ext cx="73609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출원공개</a:t>
            </a:r>
          </a:p>
        </p:txBody>
      </p:sp>
      <p:sp>
        <p:nvSpPr>
          <p:cNvPr id="60" name="자유형 59"/>
          <p:cNvSpPr/>
          <p:nvPr/>
        </p:nvSpPr>
        <p:spPr>
          <a:xfrm>
            <a:off x="6579919" y="3998497"/>
            <a:ext cx="5281445" cy="474134"/>
          </a:xfrm>
          <a:custGeom>
            <a:avLst/>
            <a:gdLst>
              <a:gd name="connsiteX0" fmla="*/ 0 w 8449733"/>
              <a:gd name="connsiteY0" fmla="*/ 474134 h 474134"/>
              <a:gd name="connsiteX1" fmla="*/ 186266 w 8449733"/>
              <a:gd name="connsiteY1" fmla="*/ 8467 h 474134"/>
              <a:gd name="connsiteX2" fmla="*/ 3869266 w 8449733"/>
              <a:gd name="connsiteY2" fmla="*/ 8467 h 474134"/>
              <a:gd name="connsiteX3" fmla="*/ 4174066 w 8449733"/>
              <a:gd name="connsiteY3" fmla="*/ 338667 h 474134"/>
              <a:gd name="connsiteX4" fmla="*/ 4461933 w 8449733"/>
              <a:gd name="connsiteY4" fmla="*/ 0 h 474134"/>
              <a:gd name="connsiteX5" fmla="*/ 8449733 w 8449733"/>
              <a:gd name="connsiteY5" fmla="*/ 0 h 474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9733" h="474134">
                <a:moveTo>
                  <a:pt x="0" y="474134"/>
                </a:moveTo>
                <a:lnTo>
                  <a:pt x="186266" y="8467"/>
                </a:lnTo>
                <a:lnTo>
                  <a:pt x="3869266" y="8467"/>
                </a:lnTo>
                <a:lnTo>
                  <a:pt x="4174066" y="338667"/>
                </a:lnTo>
                <a:lnTo>
                  <a:pt x="4461933" y="0"/>
                </a:lnTo>
                <a:lnTo>
                  <a:pt x="8449733" y="0"/>
                </a:lnTo>
              </a:path>
            </a:pathLst>
          </a:cu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61" name="자유형 60"/>
          <p:cNvSpPr/>
          <p:nvPr/>
        </p:nvSpPr>
        <p:spPr>
          <a:xfrm>
            <a:off x="6275108" y="4582697"/>
            <a:ext cx="5586258" cy="465667"/>
          </a:xfrm>
          <a:custGeom>
            <a:avLst/>
            <a:gdLst>
              <a:gd name="connsiteX0" fmla="*/ 0 w 8466667"/>
              <a:gd name="connsiteY0" fmla="*/ 0 h 465667"/>
              <a:gd name="connsiteX1" fmla="*/ 228600 w 8466667"/>
              <a:gd name="connsiteY1" fmla="*/ 465667 h 465667"/>
              <a:gd name="connsiteX2" fmla="*/ 8466667 w 8466667"/>
              <a:gd name="connsiteY2" fmla="*/ 465667 h 465667"/>
            </a:gdLst>
            <a:ahLst/>
            <a:cxnLst>
              <a:cxn ang="0">
                <a:pos x="connsiteX0" y="connsiteY0"/>
              </a:cxn>
              <a:cxn ang="0">
                <a:pos x="connsiteX1" y="connsiteY1"/>
              </a:cxn>
              <a:cxn ang="0">
                <a:pos x="connsiteX2" y="connsiteY2"/>
              </a:cxn>
            </a:cxnLst>
            <a:rect l="l" t="t" r="r" b="b"/>
            <a:pathLst>
              <a:path w="8466667" h="465667">
                <a:moveTo>
                  <a:pt x="0" y="0"/>
                </a:moveTo>
                <a:lnTo>
                  <a:pt x="228600" y="465667"/>
                </a:lnTo>
                <a:lnTo>
                  <a:pt x="8466667" y="465667"/>
                </a:lnTo>
              </a:path>
            </a:pathLst>
          </a:custGeom>
          <a:ln w="381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cxnSp>
        <p:nvCxnSpPr>
          <p:cNvPr id="62" name="직선 연결선 61"/>
          <p:cNvCxnSpPr/>
          <p:nvPr/>
        </p:nvCxnSpPr>
        <p:spPr>
          <a:xfrm>
            <a:off x="6354277" y="5886884"/>
            <a:ext cx="1599509" cy="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타원 62"/>
          <p:cNvSpPr/>
          <p:nvPr/>
        </p:nvSpPr>
        <p:spPr>
          <a:xfrm>
            <a:off x="6266652" y="5734482"/>
            <a:ext cx="313266" cy="313266"/>
          </a:xfrm>
          <a:prstGeom prst="ellipse">
            <a:avLst/>
          </a:prstGeom>
          <a:solidFill>
            <a:schemeClr val="accent4">
              <a:lumMod val="75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4" name="타원 63"/>
          <p:cNvSpPr/>
          <p:nvPr/>
        </p:nvSpPr>
        <p:spPr>
          <a:xfrm>
            <a:off x="9020344" y="5734482"/>
            <a:ext cx="313266" cy="313266"/>
          </a:xfrm>
          <a:prstGeom prst="ellipse">
            <a:avLst/>
          </a:prstGeom>
          <a:solidFill>
            <a:schemeClr val="accent4">
              <a:lumMod val="75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7" name="자유형 66"/>
          <p:cNvSpPr/>
          <p:nvPr/>
        </p:nvSpPr>
        <p:spPr>
          <a:xfrm>
            <a:off x="6579919" y="5387350"/>
            <a:ext cx="5281445" cy="474134"/>
          </a:xfrm>
          <a:custGeom>
            <a:avLst/>
            <a:gdLst>
              <a:gd name="connsiteX0" fmla="*/ 0 w 8449733"/>
              <a:gd name="connsiteY0" fmla="*/ 474134 h 474134"/>
              <a:gd name="connsiteX1" fmla="*/ 186266 w 8449733"/>
              <a:gd name="connsiteY1" fmla="*/ 8467 h 474134"/>
              <a:gd name="connsiteX2" fmla="*/ 3869266 w 8449733"/>
              <a:gd name="connsiteY2" fmla="*/ 8467 h 474134"/>
              <a:gd name="connsiteX3" fmla="*/ 4174066 w 8449733"/>
              <a:gd name="connsiteY3" fmla="*/ 338667 h 474134"/>
              <a:gd name="connsiteX4" fmla="*/ 4461933 w 8449733"/>
              <a:gd name="connsiteY4" fmla="*/ 0 h 474134"/>
              <a:gd name="connsiteX5" fmla="*/ 8449733 w 8449733"/>
              <a:gd name="connsiteY5" fmla="*/ 0 h 474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9733" h="474134">
                <a:moveTo>
                  <a:pt x="0" y="474134"/>
                </a:moveTo>
                <a:lnTo>
                  <a:pt x="186266" y="8467"/>
                </a:lnTo>
                <a:lnTo>
                  <a:pt x="3869266" y="8467"/>
                </a:lnTo>
                <a:lnTo>
                  <a:pt x="4174066" y="338667"/>
                </a:lnTo>
                <a:lnTo>
                  <a:pt x="4461933" y="0"/>
                </a:lnTo>
                <a:lnTo>
                  <a:pt x="8449733" y="0"/>
                </a:lnTo>
              </a:path>
            </a:pathLst>
          </a:custGeom>
          <a:ln w="381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68" name="자유형 67"/>
          <p:cNvSpPr/>
          <p:nvPr/>
        </p:nvSpPr>
        <p:spPr>
          <a:xfrm>
            <a:off x="6275108" y="5971550"/>
            <a:ext cx="5586257" cy="465667"/>
          </a:xfrm>
          <a:custGeom>
            <a:avLst/>
            <a:gdLst>
              <a:gd name="connsiteX0" fmla="*/ 0 w 8466667"/>
              <a:gd name="connsiteY0" fmla="*/ 0 h 465667"/>
              <a:gd name="connsiteX1" fmla="*/ 228600 w 8466667"/>
              <a:gd name="connsiteY1" fmla="*/ 465667 h 465667"/>
              <a:gd name="connsiteX2" fmla="*/ 8466667 w 8466667"/>
              <a:gd name="connsiteY2" fmla="*/ 465667 h 465667"/>
            </a:gdLst>
            <a:ahLst/>
            <a:cxnLst>
              <a:cxn ang="0">
                <a:pos x="connsiteX0" y="connsiteY0"/>
              </a:cxn>
              <a:cxn ang="0">
                <a:pos x="connsiteX1" y="connsiteY1"/>
              </a:cxn>
              <a:cxn ang="0">
                <a:pos x="connsiteX2" y="connsiteY2"/>
              </a:cxn>
            </a:cxnLst>
            <a:rect l="l" t="t" r="r" b="b"/>
            <a:pathLst>
              <a:path w="8466667" h="465667">
                <a:moveTo>
                  <a:pt x="0" y="0"/>
                </a:moveTo>
                <a:lnTo>
                  <a:pt x="228600" y="465667"/>
                </a:lnTo>
                <a:lnTo>
                  <a:pt x="8466667" y="465667"/>
                </a:lnTo>
              </a:path>
            </a:pathLst>
          </a:custGeom>
          <a:ln w="381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69" name="타원 68"/>
          <p:cNvSpPr/>
          <p:nvPr/>
        </p:nvSpPr>
        <p:spPr>
          <a:xfrm>
            <a:off x="11202827" y="4345629"/>
            <a:ext cx="313266" cy="313266"/>
          </a:xfrm>
          <a:prstGeom prst="ellipse">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0" name="TextBox 69"/>
          <p:cNvSpPr txBox="1"/>
          <p:nvPr/>
        </p:nvSpPr>
        <p:spPr>
          <a:xfrm>
            <a:off x="10991410" y="4713928"/>
            <a:ext cx="73609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절차종료</a:t>
            </a:r>
          </a:p>
        </p:txBody>
      </p:sp>
      <p:sp>
        <p:nvSpPr>
          <p:cNvPr id="72" name="타원 71"/>
          <p:cNvSpPr/>
          <p:nvPr/>
        </p:nvSpPr>
        <p:spPr>
          <a:xfrm>
            <a:off x="7797153" y="5734482"/>
            <a:ext cx="313266" cy="313266"/>
          </a:xfrm>
          <a:prstGeom prst="ellipse">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3" name="TextBox 72"/>
          <p:cNvSpPr txBox="1"/>
          <p:nvPr/>
        </p:nvSpPr>
        <p:spPr>
          <a:xfrm>
            <a:off x="7585736" y="6102781"/>
            <a:ext cx="73609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절차종료</a:t>
            </a:r>
          </a:p>
        </p:txBody>
      </p:sp>
      <p:sp>
        <p:nvSpPr>
          <p:cNvPr id="26" name="도넛 25"/>
          <p:cNvSpPr/>
          <p:nvPr/>
        </p:nvSpPr>
        <p:spPr>
          <a:xfrm>
            <a:off x="7547386" y="2363312"/>
            <a:ext cx="406400" cy="406400"/>
          </a:xfrm>
          <a:prstGeom prst="donut">
            <a:avLst>
              <a:gd name="adj" fmla="val 22739"/>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76" name="도넛 75"/>
          <p:cNvSpPr/>
          <p:nvPr/>
        </p:nvSpPr>
        <p:spPr>
          <a:xfrm>
            <a:off x="7547386" y="3383545"/>
            <a:ext cx="406400" cy="406400"/>
          </a:xfrm>
          <a:prstGeom prst="donut">
            <a:avLst>
              <a:gd name="adj" fmla="val 22739"/>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77" name="도넛 76"/>
          <p:cNvSpPr/>
          <p:nvPr/>
        </p:nvSpPr>
        <p:spPr>
          <a:xfrm>
            <a:off x="10646186" y="2363312"/>
            <a:ext cx="406400" cy="406400"/>
          </a:xfrm>
          <a:prstGeom prst="donut">
            <a:avLst>
              <a:gd name="adj" fmla="val 22739"/>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78" name="도넛 77"/>
          <p:cNvSpPr/>
          <p:nvPr/>
        </p:nvSpPr>
        <p:spPr>
          <a:xfrm>
            <a:off x="10646186" y="3845864"/>
            <a:ext cx="406400" cy="406400"/>
          </a:xfrm>
          <a:prstGeom prst="donut">
            <a:avLst>
              <a:gd name="adj" fmla="val 22739"/>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79" name="도넛 78"/>
          <p:cNvSpPr/>
          <p:nvPr/>
        </p:nvSpPr>
        <p:spPr>
          <a:xfrm>
            <a:off x="8072340" y="3845864"/>
            <a:ext cx="406400" cy="406400"/>
          </a:xfrm>
          <a:prstGeom prst="donut">
            <a:avLst>
              <a:gd name="adj" fmla="val 22739"/>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81" name="곱셈 기호 80"/>
          <p:cNvSpPr/>
          <p:nvPr/>
        </p:nvSpPr>
        <p:spPr>
          <a:xfrm>
            <a:off x="7440438" y="4713928"/>
            <a:ext cx="620296" cy="620296"/>
          </a:xfrm>
          <a:prstGeom prst="mathMultiply">
            <a:avLst>
              <a:gd name="adj1" fmla="val 1260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2" name="곱셈 기호 81"/>
          <p:cNvSpPr/>
          <p:nvPr/>
        </p:nvSpPr>
        <p:spPr>
          <a:xfrm>
            <a:off x="8068554" y="5077202"/>
            <a:ext cx="620296" cy="620296"/>
          </a:xfrm>
          <a:prstGeom prst="mathMultiply">
            <a:avLst>
              <a:gd name="adj1" fmla="val 1260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3" name="곱셈 기호 82"/>
          <p:cNvSpPr/>
          <p:nvPr/>
        </p:nvSpPr>
        <p:spPr>
          <a:xfrm>
            <a:off x="10371114" y="5077202"/>
            <a:ext cx="620296" cy="620296"/>
          </a:xfrm>
          <a:prstGeom prst="mathMultiply">
            <a:avLst>
              <a:gd name="adj1" fmla="val 1260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4" name="곱셈 기호 83"/>
          <p:cNvSpPr/>
          <p:nvPr/>
        </p:nvSpPr>
        <p:spPr>
          <a:xfrm>
            <a:off x="9696347" y="6127069"/>
            <a:ext cx="620296" cy="620296"/>
          </a:xfrm>
          <a:prstGeom prst="mathMultiply">
            <a:avLst>
              <a:gd name="adj1" fmla="val 1260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85" name="직선 연결선 84"/>
          <p:cNvCxnSpPr/>
          <p:nvPr/>
        </p:nvCxnSpPr>
        <p:spPr>
          <a:xfrm>
            <a:off x="5437012" y="1803394"/>
            <a:ext cx="0" cy="489065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6055235" y="3281943"/>
            <a:ext cx="73609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sp>
        <p:nvSpPr>
          <p:cNvPr id="14" name="타원 13"/>
          <p:cNvSpPr/>
          <p:nvPr/>
        </p:nvSpPr>
        <p:spPr>
          <a:xfrm>
            <a:off x="6266652" y="2913644"/>
            <a:ext cx="313266" cy="313266"/>
          </a:xfrm>
          <a:prstGeom prst="ellipse">
            <a:avLst/>
          </a:prstGeom>
          <a:solidFill>
            <a:schemeClr val="accent4">
              <a:lumMod val="75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8" name="TextBox 57"/>
          <p:cNvSpPr txBox="1"/>
          <p:nvPr/>
        </p:nvSpPr>
        <p:spPr>
          <a:xfrm>
            <a:off x="6055235" y="4713928"/>
            <a:ext cx="73609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sp>
        <p:nvSpPr>
          <p:cNvPr id="65" name="TextBox 64"/>
          <p:cNvSpPr txBox="1"/>
          <p:nvPr/>
        </p:nvSpPr>
        <p:spPr>
          <a:xfrm>
            <a:off x="6055235" y="6102781"/>
            <a:ext cx="73609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94</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726691768"/>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자유형 24"/>
          <p:cNvSpPr/>
          <p:nvPr/>
        </p:nvSpPr>
        <p:spPr>
          <a:xfrm>
            <a:off x="1587495" y="2116654"/>
            <a:ext cx="8661400" cy="804333"/>
          </a:xfrm>
          <a:custGeom>
            <a:avLst/>
            <a:gdLst>
              <a:gd name="connsiteX0" fmla="*/ 0 w 8619067"/>
              <a:gd name="connsiteY0" fmla="*/ 0 h 702733"/>
              <a:gd name="connsiteX1" fmla="*/ 364067 w 8619067"/>
              <a:gd name="connsiteY1" fmla="*/ 702733 h 702733"/>
              <a:gd name="connsiteX2" fmla="*/ 8619067 w 8619067"/>
              <a:gd name="connsiteY2" fmla="*/ 702733 h 702733"/>
              <a:gd name="connsiteX3" fmla="*/ 8619067 w 8619067"/>
              <a:gd name="connsiteY3" fmla="*/ 76200 h 702733"/>
            </a:gdLst>
            <a:ahLst/>
            <a:cxnLst>
              <a:cxn ang="0">
                <a:pos x="connsiteX0" y="connsiteY0"/>
              </a:cxn>
              <a:cxn ang="0">
                <a:pos x="connsiteX1" y="connsiteY1"/>
              </a:cxn>
              <a:cxn ang="0">
                <a:pos x="connsiteX2" y="connsiteY2"/>
              </a:cxn>
              <a:cxn ang="0">
                <a:pos x="connsiteX3" y="connsiteY3"/>
              </a:cxn>
            </a:cxnLst>
            <a:rect l="l" t="t" r="r" b="b"/>
            <a:pathLst>
              <a:path w="8619067" h="702733">
                <a:moveTo>
                  <a:pt x="0" y="0"/>
                </a:moveTo>
                <a:lnTo>
                  <a:pt x="364067" y="702733"/>
                </a:lnTo>
                <a:lnTo>
                  <a:pt x="8619067" y="702733"/>
                </a:lnTo>
                <a:lnTo>
                  <a:pt x="8619067" y="76200"/>
                </a:lnTo>
              </a:path>
            </a:pathLst>
          </a:custGeom>
          <a:pattFill prst="ltHorz">
            <a:fgClr>
              <a:schemeClr val="accent6">
                <a:lumMod val="50000"/>
              </a:schemeClr>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cxnSp>
        <p:nvCxnSpPr>
          <p:cNvPr id="112" name="직선 연결선 111"/>
          <p:cNvCxnSpPr>
            <a:endCxn id="114" idx="2"/>
          </p:cNvCxnSpPr>
          <p:nvPr/>
        </p:nvCxnSpPr>
        <p:spPr>
          <a:xfrm>
            <a:off x="2542433" y="2370641"/>
            <a:ext cx="0" cy="2101091"/>
          </a:xfrm>
          <a:prstGeom prst="line">
            <a:avLst/>
          </a:prstGeom>
          <a:ln w="19050">
            <a:solidFill>
              <a:srgbClr val="C00000"/>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직선 연결선 114"/>
          <p:cNvCxnSpPr>
            <a:endCxn id="117" idx="2"/>
          </p:cNvCxnSpPr>
          <p:nvPr/>
        </p:nvCxnSpPr>
        <p:spPr>
          <a:xfrm>
            <a:off x="3502106" y="2226720"/>
            <a:ext cx="1" cy="1955801"/>
          </a:xfrm>
          <a:prstGeom prst="line">
            <a:avLst/>
          </a:prstGeom>
          <a:ln w="19050">
            <a:solidFill>
              <a:srgbClr val="C00000"/>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직선 연결선 117"/>
          <p:cNvCxnSpPr>
            <a:endCxn id="120" idx="2"/>
          </p:cNvCxnSpPr>
          <p:nvPr/>
        </p:nvCxnSpPr>
        <p:spPr>
          <a:xfrm>
            <a:off x="5744220" y="2370641"/>
            <a:ext cx="0" cy="2101091"/>
          </a:xfrm>
          <a:prstGeom prst="line">
            <a:avLst/>
          </a:prstGeom>
          <a:ln w="19050">
            <a:solidFill>
              <a:srgbClr val="C00000"/>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직선 연결선 120"/>
          <p:cNvCxnSpPr>
            <a:endCxn id="123" idx="2"/>
          </p:cNvCxnSpPr>
          <p:nvPr/>
        </p:nvCxnSpPr>
        <p:spPr>
          <a:xfrm>
            <a:off x="6969209" y="2226720"/>
            <a:ext cx="1" cy="1955801"/>
          </a:xfrm>
          <a:prstGeom prst="line">
            <a:avLst/>
          </a:prstGeom>
          <a:ln w="19050">
            <a:solidFill>
              <a:srgbClr val="C00000"/>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4" name="직선 연결선 123"/>
          <p:cNvCxnSpPr>
            <a:endCxn id="126" idx="2"/>
          </p:cNvCxnSpPr>
          <p:nvPr/>
        </p:nvCxnSpPr>
        <p:spPr>
          <a:xfrm>
            <a:off x="7893364" y="2370641"/>
            <a:ext cx="0" cy="2101091"/>
          </a:xfrm>
          <a:prstGeom prst="line">
            <a:avLst/>
          </a:prstGeom>
          <a:ln w="19050">
            <a:solidFill>
              <a:srgbClr val="C00000"/>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7" name="직선 연결선 126"/>
          <p:cNvCxnSpPr>
            <a:endCxn id="129" idx="2"/>
          </p:cNvCxnSpPr>
          <p:nvPr/>
        </p:nvCxnSpPr>
        <p:spPr>
          <a:xfrm>
            <a:off x="8788430" y="2370641"/>
            <a:ext cx="0" cy="2101091"/>
          </a:xfrm>
          <a:prstGeom prst="line">
            <a:avLst/>
          </a:prstGeom>
          <a:ln w="19050">
            <a:solidFill>
              <a:srgbClr val="C00000"/>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a:t>설정등록과 등록공고에 의한 등록금지적 효력</a:t>
            </a:r>
          </a:p>
        </p:txBody>
      </p:sp>
      <p:sp>
        <p:nvSpPr>
          <p:cNvPr id="113" name="직사각형 112"/>
          <p:cNvSpPr/>
          <p:nvPr/>
        </p:nvSpPr>
        <p:spPr>
          <a:xfrm>
            <a:off x="2117236" y="3216407"/>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14" name="직사각형 113"/>
          <p:cNvSpPr/>
          <p:nvPr/>
        </p:nvSpPr>
        <p:spPr>
          <a:xfrm>
            <a:off x="2117236" y="3728010"/>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16" name="직사각형 115"/>
          <p:cNvSpPr/>
          <p:nvPr/>
        </p:nvSpPr>
        <p:spPr>
          <a:xfrm>
            <a:off x="3076910" y="3216407"/>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(4)</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17" name="직사각형 116"/>
          <p:cNvSpPr/>
          <p:nvPr/>
        </p:nvSpPr>
        <p:spPr>
          <a:xfrm>
            <a:off x="3076910" y="3728010"/>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(5)</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19" name="직사각형 118"/>
          <p:cNvSpPr/>
          <p:nvPr/>
        </p:nvSpPr>
        <p:spPr>
          <a:xfrm>
            <a:off x="5319023" y="3216407"/>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(10)</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20" name="직사각형 119"/>
          <p:cNvSpPr/>
          <p:nvPr/>
        </p:nvSpPr>
        <p:spPr>
          <a:xfrm>
            <a:off x="5319023" y="3728010"/>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(11)</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22" name="직사각형 121"/>
          <p:cNvSpPr/>
          <p:nvPr/>
        </p:nvSpPr>
        <p:spPr>
          <a:xfrm>
            <a:off x="6544013" y="3216407"/>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(13)</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23" name="직사각형 122"/>
          <p:cNvSpPr/>
          <p:nvPr/>
        </p:nvSpPr>
        <p:spPr>
          <a:xfrm>
            <a:off x="6544013" y="3728010"/>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(14)</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25" name="직사각형 124"/>
          <p:cNvSpPr/>
          <p:nvPr/>
        </p:nvSpPr>
        <p:spPr>
          <a:xfrm>
            <a:off x="7468167" y="3216407"/>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(16)</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26" name="직사각형 125"/>
          <p:cNvSpPr/>
          <p:nvPr/>
        </p:nvSpPr>
        <p:spPr>
          <a:xfrm>
            <a:off x="7468167" y="3728010"/>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(17)</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28" name="직사각형 127"/>
          <p:cNvSpPr/>
          <p:nvPr/>
        </p:nvSpPr>
        <p:spPr>
          <a:xfrm>
            <a:off x="8363233" y="3216407"/>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(19)</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29" name="직사각형 128"/>
          <p:cNvSpPr/>
          <p:nvPr/>
        </p:nvSpPr>
        <p:spPr>
          <a:xfrm>
            <a:off x="8363233" y="3728010"/>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(20)</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graphicFrame>
        <p:nvGraphicFramePr>
          <p:cNvPr id="130" name="표 129"/>
          <p:cNvGraphicFramePr>
            <a:graphicFrameLocks noGrp="1"/>
          </p:cNvGraphicFramePr>
          <p:nvPr/>
        </p:nvGraphicFramePr>
        <p:xfrm>
          <a:off x="1140897" y="4960758"/>
          <a:ext cx="10026630" cy="1676400"/>
        </p:xfrm>
        <a:graphic>
          <a:graphicData uri="http://schemas.openxmlformats.org/drawingml/2006/table">
            <a:tbl>
              <a:tblPr firstRow="1" bandRow="1">
                <a:tableStyleId>{69CF1AB2-1976-4502-BF36-3FF5EA218861}</a:tableStyleId>
              </a:tblPr>
              <a:tblGrid>
                <a:gridCol w="999780">
                  <a:extLst>
                    <a:ext uri="{9D8B030D-6E8A-4147-A177-3AD203B41FA5}">
                      <a16:colId xmlns:a16="http://schemas.microsoft.com/office/drawing/2014/main" val="2616795804"/>
                    </a:ext>
                  </a:extLst>
                </a:gridCol>
                <a:gridCol w="429850">
                  <a:extLst>
                    <a:ext uri="{9D8B030D-6E8A-4147-A177-3AD203B41FA5}">
                      <a16:colId xmlns:a16="http://schemas.microsoft.com/office/drawing/2014/main" val="3940597772"/>
                    </a:ext>
                  </a:extLst>
                </a:gridCol>
                <a:gridCol w="429850">
                  <a:extLst>
                    <a:ext uri="{9D8B030D-6E8A-4147-A177-3AD203B41FA5}">
                      <a16:colId xmlns:a16="http://schemas.microsoft.com/office/drawing/2014/main" val="1509181753"/>
                    </a:ext>
                  </a:extLst>
                </a:gridCol>
                <a:gridCol w="429850">
                  <a:extLst>
                    <a:ext uri="{9D8B030D-6E8A-4147-A177-3AD203B41FA5}">
                      <a16:colId xmlns:a16="http://schemas.microsoft.com/office/drawing/2014/main" val="2111996257"/>
                    </a:ext>
                  </a:extLst>
                </a:gridCol>
                <a:gridCol w="429850">
                  <a:extLst>
                    <a:ext uri="{9D8B030D-6E8A-4147-A177-3AD203B41FA5}">
                      <a16:colId xmlns:a16="http://schemas.microsoft.com/office/drawing/2014/main" val="3310433508"/>
                    </a:ext>
                  </a:extLst>
                </a:gridCol>
                <a:gridCol w="429850">
                  <a:extLst>
                    <a:ext uri="{9D8B030D-6E8A-4147-A177-3AD203B41FA5}">
                      <a16:colId xmlns:a16="http://schemas.microsoft.com/office/drawing/2014/main" val="3278951296"/>
                    </a:ext>
                  </a:extLst>
                </a:gridCol>
                <a:gridCol w="429850">
                  <a:extLst>
                    <a:ext uri="{9D8B030D-6E8A-4147-A177-3AD203B41FA5}">
                      <a16:colId xmlns:a16="http://schemas.microsoft.com/office/drawing/2014/main" val="682422079"/>
                    </a:ext>
                  </a:extLst>
                </a:gridCol>
                <a:gridCol w="429850">
                  <a:extLst>
                    <a:ext uri="{9D8B030D-6E8A-4147-A177-3AD203B41FA5}">
                      <a16:colId xmlns:a16="http://schemas.microsoft.com/office/drawing/2014/main" val="2294019505"/>
                    </a:ext>
                  </a:extLst>
                </a:gridCol>
                <a:gridCol w="429850">
                  <a:extLst>
                    <a:ext uri="{9D8B030D-6E8A-4147-A177-3AD203B41FA5}">
                      <a16:colId xmlns:a16="http://schemas.microsoft.com/office/drawing/2014/main" val="3923538741"/>
                    </a:ext>
                  </a:extLst>
                </a:gridCol>
                <a:gridCol w="429850">
                  <a:extLst>
                    <a:ext uri="{9D8B030D-6E8A-4147-A177-3AD203B41FA5}">
                      <a16:colId xmlns:a16="http://schemas.microsoft.com/office/drawing/2014/main" val="3838919691"/>
                    </a:ext>
                  </a:extLst>
                </a:gridCol>
                <a:gridCol w="429850">
                  <a:extLst>
                    <a:ext uri="{9D8B030D-6E8A-4147-A177-3AD203B41FA5}">
                      <a16:colId xmlns:a16="http://schemas.microsoft.com/office/drawing/2014/main" val="997937256"/>
                    </a:ext>
                  </a:extLst>
                </a:gridCol>
                <a:gridCol w="429850">
                  <a:extLst>
                    <a:ext uri="{9D8B030D-6E8A-4147-A177-3AD203B41FA5}">
                      <a16:colId xmlns:a16="http://schemas.microsoft.com/office/drawing/2014/main" val="4201534290"/>
                    </a:ext>
                  </a:extLst>
                </a:gridCol>
                <a:gridCol w="429850">
                  <a:extLst>
                    <a:ext uri="{9D8B030D-6E8A-4147-A177-3AD203B41FA5}">
                      <a16:colId xmlns:a16="http://schemas.microsoft.com/office/drawing/2014/main" val="3289386902"/>
                    </a:ext>
                  </a:extLst>
                </a:gridCol>
                <a:gridCol w="429850">
                  <a:extLst>
                    <a:ext uri="{9D8B030D-6E8A-4147-A177-3AD203B41FA5}">
                      <a16:colId xmlns:a16="http://schemas.microsoft.com/office/drawing/2014/main" val="20013"/>
                    </a:ext>
                  </a:extLst>
                </a:gridCol>
                <a:gridCol w="429850">
                  <a:extLst>
                    <a:ext uri="{9D8B030D-6E8A-4147-A177-3AD203B41FA5}">
                      <a16:colId xmlns:a16="http://schemas.microsoft.com/office/drawing/2014/main" val="20014"/>
                    </a:ext>
                  </a:extLst>
                </a:gridCol>
                <a:gridCol w="429850">
                  <a:extLst>
                    <a:ext uri="{9D8B030D-6E8A-4147-A177-3AD203B41FA5}">
                      <a16:colId xmlns:a16="http://schemas.microsoft.com/office/drawing/2014/main" val="20015"/>
                    </a:ext>
                  </a:extLst>
                </a:gridCol>
                <a:gridCol w="429850">
                  <a:extLst>
                    <a:ext uri="{9D8B030D-6E8A-4147-A177-3AD203B41FA5}">
                      <a16:colId xmlns:a16="http://schemas.microsoft.com/office/drawing/2014/main" val="20016"/>
                    </a:ext>
                  </a:extLst>
                </a:gridCol>
                <a:gridCol w="429850">
                  <a:extLst>
                    <a:ext uri="{9D8B030D-6E8A-4147-A177-3AD203B41FA5}">
                      <a16:colId xmlns:a16="http://schemas.microsoft.com/office/drawing/2014/main" val="20017"/>
                    </a:ext>
                  </a:extLst>
                </a:gridCol>
                <a:gridCol w="429850">
                  <a:extLst>
                    <a:ext uri="{9D8B030D-6E8A-4147-A177-3AD203B41FA5}">
                      <a16:colId xmlns:a16="http://schemas.microsoft.com/office/drawing/2014/main" val="20018"/>
                    </a:ext>
                  </a:extLst>
                </a:gridCol>
                <a:gridCol w="429850">
                  <a:extLst>
                    <a:ext uri="{9D8B030D-6E8A-4147-A177-3AD203B41FA5}">
                      <a16:colId xmlns:a16="http://schemas.microsoft.com/office/drawing/2014/main" val="20019"/>
                    </a:ext>
                  </a:extLst>
                </a:gridCol>
                <a:gridCol w="429850">
                  <a:extLst>
                    <a:ext uri="{9D8B030D-6E8A-4147-A177-3AD203B41FA5}">
                      <a16:colId xmlns:a16="http://schemas.microsoft.com/office/drawing/2014/main" val="20020"/>
                    </a:ext>
                  </a:extLst>
                </a:gridCol>
                <a:gridCol w="429850">
                  <a:extLst>
                    <a:ext uri="{9D8B030D-6E8A-4147-A177-3AD203B41FA5}">
                      <a16:colId xmlns:a16="http://schemas.microsoft.com/office/drawing/2014/main" val="20021"/>
                    </a:ext>
                  </a:extLst>
                </a:gridCol>
              </a:tblGrid>
              <a:tr h="170917">
                <a:tc>
                  <a:txBody>
                    <a:bodyPr/>
                    <a:lstStyle/>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(2)</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(3)</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(4)</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(5)</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(6)</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(7)</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(8)</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(9)</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(10)</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(11)</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(12)</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(13)</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(14)</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(15)</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(16)</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(17)</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(18)</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(19)</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(20)</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tc>
                  <a:txBody>
                    <a:bodyPr/>
                    <a:lstStyle/>
                    <a:p>
                      <a:pPr latinLnBrk="1"/>
                      <a:r>
                        <a:rPr lang="en-US" altLang="ko-KR" sz="1000" dirty="0"/>
                        <a:t>(21)</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3744596863"/>
                  </a:ext>
                </a:extLst>
              </a:tr>
              <a:tr h="182624">
                <a:tc>
                  <a:txBody>
                    <a:bodyPr/>
                    <a:lstStyle/>
                    <a:p>
                      <a:pPr latinLnBrk="1"/>
                      <a:r>
                        <a:rPr lang="ko-KR" altLang="en-US" sz="1000" dirty="0" err="1"/>
                        <a:t>신규성</a:t>
                      </a:r>
                      <a:r>
                        <a:rPr lang="ko-KR" altLang="en-US" sz="1000" dirty="0"/>
                        <a:t> 위반</a:t>
                      </a:r>
                      <a:endParaRPr lang="en-US" altLang="ko-KR"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64332382"/>
                  </a:ext>
                </a:extLst>
              </a:tr>
              <a:tr h="170917">
                <a:tc>
                  <a:txBody>
                    <a:bodyPr/>
                    <a:lstStyle/>
                    <a:p>
                      <a:pPr latinLnBrk="1"/>
                      <a:r>
                        <a:rPr lang="ko-KR" altLang="en-US" sz="1000" dirty="0"/>
                        <a:t>진보성 위반</a:t>
                      </a:r>
                      <a:endParaRPr lang="en-US" altLang="ko-KR"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182624">
                <a:tc>
                  <a:txBody>
                    <a:bodyPr/>
                    <a:lstStyle/>
                    <a:p>
                      <a:pPr latinLnBrk="1"/>
                      <a:r>
                        <a:rPr lang="ko-KR" altLang="en-US" sz="1000" dirty="0" err="1"/>
                        <a:t>선출원</a:t>
                      </a:r>
                      <a:r>
                        <a:rPr lang="ko-KR" altLang="en-US" sz="1000" dirty="0"/>
                        <a:t> 위반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r>
                        <a:rPr lang="ko-KR" altLang="en-US" sz="900" dirty="0"/>
                        <a:t>협의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900" dirty="0"/>
                        <a:t>×</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89054708"/>
                  </a:ext>
                </a:extLst>
              </a:tr>
              <a:tr h="182624">
                <a:tc>
                  <a:txBody>
                    <a:bodyPr/>
                    <a:lstStyle/>
                    <a:p>
                      <a:pPr latinLnBrk="1"/>
                      <a:r>
                        <a:rPr lang="ko-KR" altLang="en-US" sz="1000" dirty="0" err="1"/>
                        <a:t>확선</a:t>
                      </a:r>
                      <a:r>
                        <a:rPr lang="ko-KR" altLang="en-US" sz="1000" dirty="0"/>
                        <a:t> 위반</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p>
                      <a:pPr latinLnBrk="1"/>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ko-KR" altLang="en-US" sz="1000" dirty="0"/>
                        <a:t>○</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000" dirty="0"/>
                        <a:t>×</a:t>
                      </a:r>
                      <a:endParaRPr lang="ko-KR" altLang="en-US" sz="10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76270503"/>
                  </a:ext>
                </a:extLst>
              </a:tr>
            </a:tbl>
          </a:graphicData>
        </a:graphic>
      </p:graphicFrame>
      <p:sp>
        <p:nvSpPr>
          <p:cNvPr id="134" name="직사각형 133"/>
          <p:cNvSpPr/>
          <p:nvPr/>
        </p:nvSpPr>
        <p:spPr>
          <a:xfrm>
            <a:off x="1889684" y="1080457"/>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5" name="직사각형 134"/>
          <p:cNvSpPr/>
          <p:nvPr/>
        </p:nvSpPr>
        <p:spPr>
          <a:xfrm>
            <a:off x="1889684" y="1309958"/>
            <a:ext cx="850393" cy="229500"/>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36" name="직선 연결선 135"/>
          <p:cNvCxnSpPr>
            <a:stCxn id="108" idx="0"/>
            <a:endCxn id="135" idx="2"/>
          </p:cNvCxnSpPr>
          <p:nvPr/>
        </p:nvCxnSpPr>
        <p:spPr>
          <a:xfrm flipH="1" flipV="1">
            <a:off x="2314881" y="1539458"/>
            <a:ext cx="1027" cy="400901"/>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자유형 22"/>
          <p:cNvSpPr/>
          <p:nvPr/>
        </p:nvSpPr>
        <p:spPr>
          <a:xfrm>
            <a:off x="5266262" y="1066787"/>
            <a:ext cx="4944533" cy="1083734"/>
          </a:xfrm>
          <a:custGeom>
            <a:avLst/>
            <a:gdLst>
              <a:gd name="connsiteX0" fmla="*/ 0 w 4944533"/>
              <a:gd name="connsiteY0" fmla="*/ 1075267 h 1083734"/>
              <a:gd name="connsiteX1" fmla="*/ 389466 w 4944533"/>
              <a:gd name="connsiteY1" fmla="*/ 0 h 1083734"/>
              <a:gd name="connsiteX2" fmla="*/ 4944533 w 4944533"/>
              <a:gd name="connsiteY2" fmla="*/ 0 h 1083734"/>
              <a:gd name="connsiteX3" fmla="*/ 4944533 w 4944533"/>
              <a:gd name="connsiteY3" fmla="*/ 1083734 h 1083734"/>
            </a:gdLst>
            <a:ahLst/>
            <a:cxnLst>
              <a:cxn ang="0">
                <a:pos x="connsiteX0" y="connsiteY0"/>
              </a:cxn>
              <a:cxn ang="0">
                <a:pos x="connsiteX1" y="connsiteY1"/>
              </a:cxn>
              <a:cxn ang="0">
                <a:pos x="connsiteX2" y="connsiteY2"/>
              </a:cxn>
              <a:cxn ang="0">
                <a:pos x="connsiteX3" y="connsiteY3"/>
              </a:cxn>
            </a:cxnLst>
            <a:rect l="l" t="t" r="r" b="b"/>
            <a:pathLst>
              <a:path w="4944533" h="1083734">
                <a:moveTo>
                  <a:pt x="0" y="1075267"/>
                </a:moveTo>
                <a:lnTo>
                  <a:pt x="389466" y="0"/>
                </a:lnTo>
                <a:lnTo>
                  <a:pt x="4944533" y="0"/>
                </a:lnTo>
                <a:lnTo>
                  <a:pt x="4944533" y="1083734"/>
                </a:lnTo>
              </a:path>
            </a:pathLst>
          </a:custGeom>
          <a:pattFill prst="pct10">
            <a:fgClr>
              <a:schemeClr val="accent2">
                <a:lumMod val="75000"/>
              </a:schemeClr>
            </a:fgClr>
            <a:bgClr>
              <a:schemeClr val="bg1"/>
            </a:bgClr>
          </a:pattFill>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22" name="자유형 21"/>
          <p:cNvSpPr/>
          <p:nvPr/>
        </p:nvSpPr>
        <p:spPr>
          <a:xfrm>
            <a:off x="2912528" y="1540921"/>
            <a:ext cx="5367867" cy="609600"/>
          </a:xfrm>
          <a:custGeom>
            <a:avLst/>
            <a:gdLst>
              <a:gd name="connsiteX0" fmla="*/ 0 w 5367867"/>
              <a:gd name="connsiteY0" fmla="*/ 609600 h 609600"/>
              <a:gd name="connsiteX1" fmla="*/ 0 w 5367867"/>
              <a:gd name="connsiteY1" fmla="*/ 609600 h 609600"/>
              <a:gd name="connsiteX2" fmla="*/ 186267 w 5367867"/>
              <a:gd name="connsiteY2" fmla="*/ 0 h 609600"/>
              <a:gd name="connsiteX3" fmla="*/ 5096934 w 5367867"/>
              <a:gd name="connsiteY3" fmla="*/ 0 h 609600"/>
              <a:gd name="connsiteX4" fmla="*/ 5367867 w 5367867"/>
              <a:gd name="connsiteY4" fmla="*/ 575733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7867" h="609600">
                <a:moveTo>
                  <a:pt x="0" y="609600"/>
                </a:moveTo>
                <a:lnTo>
                  <a:pt x="0" y="609600"/>
                </a:lnTo>
                <a:lnTo>
                  <a:pt x="186267" y="0"/>
                </a:lnTo>
                <a:lnTo>
                  <a:pt x="5096934" y="0"/>
                </a:lnTo>
                <a:lnTo>
                  <a:pt x="5367867" y="575733"/>
                </a:lnTo>
              </a:path>
            </a:pathLst>
          </a:custGeom>
          <a:pattFill prst="ltUpDiag">
            <a:fgClr>
              <a:schemeClr val="accent1"/>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cxnSp>
        <p:nvCxnSpPr>
          <p:cNvPr id="103" name="직선 연결선 102"/>
          <p:cNvCxnSpPr>
            <a:stCxn id="108" idx="1"/>
          </p:cNvCxnSpPr>
          <p:nvPr/>
        </p:nvCxnSpPr>
        <p:spPr>
          <a:xfrm>
            <a:off x="1710802" y="2155500"/>
            <a:ext cx="8762446"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8" name="직사각형 107"/>
          <p:cNvSpPr/>
          <p:nvPr/>
        </p:nvSpPr>
        <p:spPr>
          <a:xfrm>
            <a:off x="1710802" y="1940359"/>
            <a:ext cx="1210212" cy="430282"/>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특허출원일</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11" name="직사각형 110"/>
          <p:cNvSpPr/>
          <p:nvPr/>
        </p:nvSpPr>
        <p:spPr>
          <a:xfrm>
            <a:off x="4659438" y="1940359"/>
            <a:ext cx="1210212" cy="430282"/>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설정등록일</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33" name="직사각형 132"/>
          <p:cNvSpPr/>
          <p:nvPr/>
        </p:nvSpPr>
        <p:spPr>
          <a:xfrm>
            <a:off x="7673571" y="1940359"/>
            <a:ext cx="1210212" cy="430282"/>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등록공고일</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cxnSp>
        <p:nvCxnSpPr>
          <p:cNvPr id="28" name="직선 연결선 27"/>
          <p:cNvCxnSpPr>
            <a:endCxn id="111" idx="0"/>
          </p:cNvCxnSpPr>
          <p:nvPr/>
        </p:nvCxnSpPr>
        <p:spPr>
          <a:xfrm flipH="1">
            <a:off x="5320923" y="1539458"/>
            <a:ext cx="165472" cy="415668"/>
          </a:xfrm>
          <a:prstGeom prst="line">
            <a:avLst/>
          </a:prstGeom>
          <a:ln>
            <a:solidFill>
              <a:schemeClr val="accent2">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직사각형 28"/>
          <p:cNvSpPr/>
          <p:nvPr/>
        </p:nvSpPr>
        <p:spPr>
          <a:xfrm>
            <a:off x="10045693" y="1066787"/>
            <a:ext cx="262467" cy="10498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37" name="직사각형 136"/>
          <p:cNvSpPr/>
          <p:nvPr/>
        </p:nvSpPr>
        <p:spPr>
          <a:xfrm>
            <a:off x="10045693" y="2226720"/>
            <a:ext cx="262467" cy="10498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38" name="직사각형 137"/>
          <p:cNvSpPr/>
          <p:nvPr/>
        </p:nvSpPr>
        <p:spPr>
          <a:xfrm>
            <a:off x="1441984" y="1498587"/>
            <a:ext cx="262467" cy="10498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1" name="TextBox 30"/>
          <p:cNvSpPr txBox="1"/>
          <p:nvPr/>
        </p:nvSpPr>
        <p:spPr>
          <a:xfrm>
            <a:off x="3571677" y="1401354"/>
            <a:ext cx="1770036" cy="338554"/>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확선의</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지위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 B</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9" name="TextBox 138"/>
          <p:cNvSpPr txBox="1"/>
          <p:nvPr/>
        </p:nvSpPr>
        <p:spPr>
          <a:xfrm>
            <a:off x="6924477" y="911180"/>
            <a:ext cx="2138727" cy="338554"/>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black"/>
                </a:solidFill>
                <a:effectLst/>
                <a:uLnTx/>
                <a:uFillTx/>
                <a:latin typeface="Frutiger LT 65 Bold"/>
                <a:ea typeface="Rix모던고딕 B"/>
                <a:cs typeface="+mn-cs"/>
              </a:rPr>
              <a:t>공지기술의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지위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 B</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40" name="TextBox 139"/>
          <p:cNvSpPr txBox="1"/>
          <p:nvPr/>
        </p:nvSpPr>
        <p:spPr>
          <a:xfrm>
            <a:off x="7390199" y="2748453"/>
            <a:ext cx="1713931" cy="338554"/>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지위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41" name="직사각형 140"/>
          <p:cNvSpPr/>
          <p:nvPr/>
        </p:nvSpPr>
        <p:spPr>
          <a:xfrm>
            <a:off x="2117236" y="4244477"/>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(3)</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42" name="직사각형 141"/>
          <p:cNvSpPr/>
          <p:nvPr/>
        </p:nvSpPr>
        <p:spPr>
          <a:xfrm>
            <a:off x="3076910" y="4244477"/>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(6)</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43" name="직사각형 142"/>
          <p:cNvSpPr/>
          <p:nvPr/>
        </p:nvSpPr>
        <p:spPr>
          <a:xfrm>
            <a:off x="5319023" y="4244477"/>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(12)</a:t>
            </a:r>
          </a:p>
        </p:txBody>
      </p:sp>
      <p:sp>
        <p:nvSpPr>
          <p:cNvPr id="144" name="직사각형 143"/>
          <p:cNvSpPr/>
          <p:nvPr/>
        </p:nvSpPr>
        <p:spPr>
          <a:xfrm>
            <a:off x="6544013" y="4244477"/>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(15)</a:t>
            </a:r>
          </a:p>
        </p:txBody>
      </p:sp>
      <p:sp>
        <p:nvSpPr>
          <p:cNvPr id="145" name="직사각형 144"/>
          <p:cNvSpPr/>
          <p:nvPr/>
        </p:nvSpPr>
        <p:spPr>
          <a:xfrm>
            <a:off x="7468167" y="4244477"/>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(18)</a:t>
            </a:r>
          </a:p>
        </p:txBody>
      </p:sp>
      <p:sp>
        <p:nvSpPr>
          <p:cNvPr id="146" name="직사각형 145"/>
          <p:cNvSpPr/>
          <p:nvPr/>
        </p:nvSpPr>
        <p:spPr>
          <a:xfrm>
            <a:off x="8363233" y="4244477"/>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(21)</a:t>
            </a:r>
          </a:p>
        </p:txBody>
      </p:sp>
      <p:cxnSp>
        <p:nvCxnSpPr>
          <p:cNvPr id="147" name="직선 연결선 146"/>
          <p:cNvCxnSpPr>
            <a:endCxn id="149" idx="2"/>
          </p:cNvCxnSpPr>
          <p:nvPr/>
        </p:nvCxnSpPr>
        <p:spPr>
          <a:xfrm>
            <a:off x="4755174" y="2370641"/>
            <a:ext cx="0" cy="2101091"/>
          </a:xfrm>
          <a:prstGeom prst="line">
            <a:avLst/>
          </a:prstGeom>
          <a:ln w="19050">
            <a:solidFill>
              <a:srgbClr val="C00000"/>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48" name="직사각형 147"/>
          <p:cNvSpPr/>
          <p:nvPr/>
        </p:nvSpPr>
        <p:spPr>
          <a:xfrm>
            <a:off x="4329977" y="3216407"/>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(7)</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49" name="직사각형 148"/>
          <p:cNvSpPr/>
          <p:nvPr/>
        </p:nvSpPr>
        <p:spPr>
          <a:xfrm>
            <a:off x="4329977" y="3728010"/>
            <a:ext cx="850393" cy="45451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(8)</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50" name="직사각형 149"/>
          <p:cNvSpPr/>
          <p:nvPr/>
        </p:nvSpPr>
        <p:spPr>
          <a:xfrm>
            <a:off x="4329977" y="4244477"/>
            <a:ext cx="850393" cy="454511"/>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乙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(9)</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7" name="TextBox 36"/>
          <p:cNvSpPr txBox="1"/>
          <p:nvPr/>
        </p:nvSpPr>
        <p:spPr>
          <a:xfrm>
            <a:off x="9272877" y="4382744"/>
            <a:ext cx="1834156"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B’</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는</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B</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로부터 용이함</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95</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139609425"/>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a:t>그 출원의 지위 관점에서 제</a:t>
            </a:r>
            <a:r>
              <a:rPr lang="en-US" altLang="ko-KR" dirty="0"/>
              <a:t>29</a:t>
            </a:r>
            <a:r>
              <a:rPr lang="ko-KR" altLang="en-US" dirty="0"/>
              <a:t>조</a:t>
            </a:r>
            <a:r>
              <a:rPr lang="en-US" altLang="ko-KR" dirty="0"/>
              <a:t>, </a:t>
            </a:r>
            <a:r>
              <a:rPr lang="ko-KR" altLang="en-US" dirty="0"/>
              <a:t>제</a:t>
            </a:r>
            <a:r>
              <a:rPr lang="en-US" altLang="ko-KR" dirty="0"/>
              <a:t>36</a:t>
            </a:r>
            <a:r>
              <a:rPr lang="ko-KR" altLang="en-US" dirty="0"/>
              <a:t>조의 판단</a:t>
            </a:r>
          </a:p>
        </p:txBody>
      </p:sp>
      <p:sp>
        <p:nvSpPr>
          <p:cNvPr id="51" name="TextBox 50"/>
          <p:cNvSpPr txBox="1"/>
          <p:nvPr/>
        </p:nvSpPr>
        <p:spPr>
          <a:xfrm>
            <a:off x="77875" y="986046"/>
            <a:ext cx="11936323"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차적으로 시기적 기준에 의하여 신규성</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진보성</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선출원주의</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확대된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중 논점을 추출한 후</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차적으로 객체적</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지역적 기준 및 판단방법을 고려하여 구체적인 등록가능성을 판단한다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52" name="직선 연결선 51"/>
          <p:cNvCxnSpPr/>
          <p:nvPr/>
        </p:nvCxnSpPr>
        <p:spPr>
          <a:xfrm>
            <a:off x="0" y="151495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 name="그룹 4"/>
          <p:cNvGrpSpPr/>
          <p:nvPr/>
        </p:nvGrpSpPr>
        <p:grpSpPr>
          <a:xfrm>
            <a:off x="397911" y="2916789"/>
            <a:ext cx="1888067" cy="3407811"/>
            <a:chOff x="965200" y="2324100"/>
            <a:chExt cx="1888067" cy="2908300"/>
          </a:xfrm>
        </p:grpSpPr>
        <p:sp>
          <p:nvSpPr>
            <p:cNvPr id="2" name="직사각형 1"/>
            <p:cNvSpPr/>
            <p:nvPr/>
          </p:nvSpPr>
          <p:spPr>
            <a:xfrm>
              <a:off x="965200" y="2324100"/>
              <a:ext cx="1888067" cy="61383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29</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36</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 中 논점의 추출</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시기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5" name="직사각형 54"/>
            <p:cNvSpPr/>
            <p:nvPr/>
          </p:nvSpPr>
          <p:spPr>
            <a:xfrm>
              <a:off x="965200" y="3441700"/>
              <a:ext cx="1888067" cy="61383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비교</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객체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지역</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방법</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6" name="직사각형 55"/>
            <p:cNvSpPr/>
            <p:nvPr/>
          </p:nvSpPr>
          <p:spPr>
            <a:xfrm>
              <a:off x="965200" y="4618566"/>
              <a:ext cx="1888067" cy="61383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결론도출</a:t>
              </a:r>
            </a:p>
          </p:txBody>
        </p:sp>
      </p:grpSp>
      <p:cxnSp>
        <p:nvCxnSpPr>
          <p:cNvPr id="7" name="직선 화살표 연결선 6"/>
          <p:cNvCxnSpPr>
            <a:stCxn id="2" idx="2"/>
            <a:endCxn id="55" idx="0"/>
          </p:cNvCxnSpPr>
          <p:nvPr/>
        </p:nvCxnSpPr>
        <p:spPr>
          <a:xfrm>
            <a:off x="1341945" y="3636051"/>
            <a:ext cx="0" cy="590290"/>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0" name="직선 화살표 연결선 59"/>
          <p:cNvCxnSpPr>
            <a:stCxn id="55" idx="2"/>
            <a:endCxn id="56" idx="0"/>
          </p:cNvCxnSpPr>
          <p:nvPr/>
        </p:nvCxnSpPr>
        <p:spPr>
          <a:xfrm>
            <a:off x="1341945" y="4945603"/>
            <a:ext cx="0" cy="659735"/>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1430865" y="1746419"/>
            <a:ext cx="4792132" cy="919401"/>
          </a:xfrm>
          <a:prstGeom prst="wedgeRoundRectCallout">
            <a:avLst>
              <a:gd name="adj1" fmla="val -32847"/>
              <a:gd name="adj2" fmla="val 74471"/>
              <a:gd name="adj3" fmla="val 16667"/>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출원</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일</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기준으로 앞쪽 영역을 살펴서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출원이 있는 경우 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36</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조</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29</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단</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출원 후 공개가 있어야 함</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을</a:t>
            </a:r>
            <a:endPar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공개가 있는 경우 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29</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및 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항을 </a:t>
            </a:r>
            <a:endPar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논점으로 추출함</a:t>
            </a:r>
          </a:p>
        </p:txBody>
      </p:sp>
      <p:cxnSp>
        <p:nvCxnSpPr>
          <p:cNvPr id="68" name="직선 연결선 67"/>
          <p:cNvCxnSpPr/>
          <p:nvPr/>
        </p:nvCxnSpPr>
        <p:spPr>
          <a:xfrm>
            <a:off x="3244145" y="2916789"/>
            <a:ext cx="0" cy="340781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직선 연결선 63"/>
          <p:cNvCxnSpPr>
            <a:stCxn id="65" idx="1"/>
          </p:cNvCxnSpPr>
          <p:nvPr/>
        </p:nvCxnSpPr>
        <p:spPr>
          <a:xfrm>
            <a:off x="8496914" y="5575129"/>
            <a:ext cx="349681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44" name="그룹 43"/>
          <p:cNvGrpSpPr/>
          <p:nvPr/>
        </p:nvGrpSpPr>
        <p:grpSpPr>
          <a:xfrm>
            <a:off x="9082352" y="2882610"/>
            <a:ext cx="2291071" cy="3382723"/>
            <a:chOff x="9082352" y="2882610"/>
            <a:chExt cx="2291071" cy="3631721"/>
          </a:xfrm>
        </p:grpSpPr>
        <p:cxnSp>
          <p:nvCxnSpPr>
            <p:cNvPr id="16" name="직선 연결선 15"/>
            <p:cNvCxnSpPr/>
            <p:nvPr/>
          </p:nvCxnSpPr>
          <p:spPr>
            <a:xfrm>
              <a:off x="9082352" y="2882610"/>
              <a:ext cx="0" cy="3631721"/>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직선 연결선 73"/>
            <p:cNvCxnSpPr/>
            <p:nvPr/>
          </p:nvCxnSpPr>
          <p:spPr>
            <a:xfrm>
              <a:off x="9841896" y="2882610"/>
              <a:ext cx="0" cy="3631721"/>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직선 연결선 74"/>
            <p:cNvCxnSpPr/>
            <p:nvPr/>
          </p:nvCxnSpPr>
          <p:spPr>
            <a:xfrm>
              <a:off x="10659913" y="2882610"/>
              <a:ext cx="0" cy="3631721"/>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직선 연결선 75"/>
            <p:cNvCxnSpPr/>
            <p:nvPr/>
          </p:nvCxnSpPr>
          <p:spPr>
            <a:xfrm>
              <a:off x="11373423" y="2882610"/>
              <a:ext cx="0" cy="3631721"/>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18" name="직선 화살표 연결선 17"/>
          <p:cNvCxnSpPr/>
          <p:nvPr/>
        </p:nvCxnSpPr>
        <p:spPr>
          <a:xfrm flipH="1">
            <a:off x="8483898" y="4970203"/>
            <a:ext cx="589987" cy="0"/>
          </a:xfrm>
          <a:prstGeom prst="straightConnector1">
            <a:avLst/>
          </a:prstGeom>
          <a:ln>
            <a:solidFill>
              <a:srgbClr val="FF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20" name="직선 화살표 연결선 19"/>
          <p:cNvCxnSpPr/>
          <p:nvPr/>
        </p:nvCxnSpPr>
        <p:spPr>
          <a:xfrm flipH="1">
            <a:off x="8483898" y="4432084"/>
            <a:ext cx="1349531" cy="0"/>
          </a:xfrm>
          <a:prstGeom prst="straightConnector1">
            <a:avLst/>
          </a:prstGeom>
          <a:ln>
            <a:solidFill>
              <a:srgbClr val="FF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24" name="직선 화살표 연결선 23"/>
          <p:cNvCxnSpPr/>
          <p:nvPr/>
        </p:nvCxnSpPr>
        <p:spPr>
          <a:xfrm flipH="1">
            <a:off x="8483898" y="3917185"/>
            <a:ext cx="2175989" cy="0"/>
          </a:xfrm>
          <a:prstGeom prst="straightConnector1">
            <a:avLst/>
          </a:prstGeom>
          <a:ln>
            <a:solidFill>
              <a:srgbClr val="FF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27" name="직선 화살표 연결선 26"/>
          <p:cNvCxnSpPr/>
          <p:nvPr/>
        </p:nvCxnSpPr>
        <p:spPr>
          <a:xfrm flipH="1">
            <a:off x="8483898" y="3400195"/>
            <a:ext cx="2881058" cy="0"/>
          </a:xfrm>
          <a:prstGeom prst="straightConnector1">
            <a:avLst/>
          </a:prstGeom>
          <a:ln>
            <a:solidFill>
              <a:srgbClr val="FF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5" name="직사각형 84"/>
          <p:cNvSpPr/>
          <p:nvPr/>
        </p:nvSpPr>
        <p:spPr>
          <a:xfrm>
            <a:off x="7879287" y="4724828"/>
            <a:ext cx="508473" cy="523220"/>
          </a:xfrm>
          <a:prstGeom prst="rect">
            <a:avLst/>
          </a:prstGeom>
          <a:solidFill>
            <a:schemeClr val="bg1"/>
          </a:solidFill>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srgbClr val="44546A"/>
                </a:solidFill>
                <a:effectLst/>
                <a:uLnTx/>
                <a:uFillTx/>
                <a:latin typeface="Frutiger LT 65 Bold"/>
                <a:ea typeface="Rix모던고딕 B"/>
                <a:cs typeface="+mn-cs"/>
              </a:rPr>
              <a:t>①</a:t>
            </a:r>
            <a:endParaRPr kumimoji="0" lang="ko-KR" altLang="en-US" sz="2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6" name="직사각형 85"/>
          <p:cNvSpPr/>
          <p:nvPr/>
        </p:nvSpPr>
        <p:spPr>
          <a:xfrm>
            <a:off x="7879287" y="4211033"/>
            <a:ext cx="508473" cy="523220"/>
          </a:xfrm>
          <a:prstGeom prst="rect">
            <a:avLst/>
          </a:prstGeom>
          <a:solidFill>
            <a:schemeClr val="bg1"/>
          </a:solidFill>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srgbClr val="44546A"/>
                </a:solidFill>
                <a:effectLst/>
                <a:uLnTx/>
                <a:uFillTx/>
                <a:latin typeface="Frutiger LT 65 Bold"/>
                <a:ea typeface="Rix모던고딕 B"/>
                <a:cs typeface="+mn-cs"/>
              </a:rPr>
              <a:t>②</a:t>
            </a:r>
            <a:endParaRPr kumimoji="0" lang="ko-KR" altLang="en-US" sz="2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7" name="직사각형 86"/>
          <p:cNvSpPr/>
          <p:nvPr/>
        </p:nvSpPr>
        <p:spPr>
          <a:xfrm>
            <a:off x="7879287" y="3680292"/>
            <a:ext cx="508473" cy="523220"/>
          </a:xfrm>
          <a:prstGeom prst="rect">
            <a:avLst/>
          </a:prstGeom>
          <a:solidFill>
            <a:schemeClr val="bg1"/>
          </a:solidFill>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srgbClr val="44546A"/>
                </a:solidFill>
                <a:effectLst/>
                <a:uLnTx/>
                <a:uFillTx/>
                <a:latin typeface="Frutiger LT 65 Bold"/>
                <a:ea typeface="Rix모던고딕 B"/>
                <a:cs typeface="+mn-cs"/>
              </a:rPr>
              <a:t>③</a:t>
            </a:r>
            <a:endParaRPr kumimoji="0" lang="ko-KR" altLang="en-US" sz="2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8" name="직사각형 87"/>
          <p:cNvSpPr/>
          <p:nvPr/>
        </p:nvSpPr>
        <p:spPr>
          <a:xfrm>
            <a:off x="7879287" y="3112846"/>
            <a:ext cx="508473" cy="523220"/>
          </a:xfrm>
          <a:prstGeom prst="rect">
            <a:avLst/>
          </a:prstGeom>
          <a:solidFill>
            <a:schemeClr val="bg1"/>
          </a:solidFill>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srgbClr val="44546A"/>
                </a:solidFill>
                <a:effectLst/>
                <a:uLnTx/>
                <a:uFillTx/>
                <a:latin typeface="Frutiger LT 65 Bold"/>
                <a:ea typeface="Rix모던고딕 B"/>
                <a:cs typeface="+mn-cs"/>
              </a:rPr>
              <a:t>④</a:t>
            </a:r>
            <a:endParaRPr kumimoji="0" lang="ko-KR" altLang="en-US" sz="2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 name="TextBox 29"/>
          <p:cNvSpPr txBox="1"/>
          <p:nvPr/>
        </p:nvSpPr>
        <p:spPr>
          <a:xfrm>
            <a:off x="7089837" y="4830574"/>
            <a:ext cx="780983" cy="338554"/>
          </a:xfrm>
          <a:prstGeom prst="rect">
            <a:avLst/>
          </a:prstGeom>
          <a:noFill/>
        </p:spPr>
        <p:txBody>
          <a:bodyPr wrap="none" rtlCol="0">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36</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2" name="TextBox 91"/>
          <p:cNvSpPr txBox="1"/>
          <p:nvPr/>
        </p:nvSpPr>
        <p:spPr>
          <a:xfrm>
            <a:off x="5887585" y="4329138"/>
            <a:ext cx="1983235" cy="338554"/>
          </a:xfrm>
          <a:prstGeom prst="rect">
            <a:avLst/>
          </a:prstGeom>
          <a:noFill/>
        </p:spPr>
        <p:txBody>
          <a:bodyPr wrap="none" rtlCol="0">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36</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29</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항</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3" name="TextBox 92"/>
          <p:cNvSpPr txBox="1"/>
          <p:nvPr/>
        </p:nvSpPr>
        <p:spPr>
          <a:xfrm>
            <a:off x="3338810" y="3781467"/>
            <a:ext cx="4532010" cy="338554"/>
          </a:xfrm>
          <a:prstGeom prst="rect">
            <a:avLst/>
          </a:prstGeom>
          <a:noFill/>
        </p:spPr>
        <p:txBody>
          <a:bodyPr wrap="none" rtlCol="0">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36</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29</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29</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항제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항 中 하나</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4" name="TextBox 93"/>
          <p:cNvSpPr txBox="1"/>
          <p:nvPr/>
        </p:nvSpPr>
        <p:spPr>
          <a:xfrm>
            <a:off x="5289665" y="3215529"/>
            <a:ext cx="2581155" cy="338554"/>
          </a:xfrm>
          <a:prstGeom prst="rect">
            <a:avLst/>
          </a:prstGeom>
          <a:noFill/>
        </p:spPr>
        <p:txBody>
          <a:bodyPr wrap="none" rtlCol="0">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36</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29</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항제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항 </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5" name="직사각형 64"/>
          <p:cNvSpPr/>
          <p:nvPr/>
        </p:nvSpPr>
        <p:spPr>
          <a:xfrm>
            <a:off x="8496914" y="5359988"/>
            <a:ext cx="1176596" cy="430282"/>
          </a:xfrm>
          <a:prstGeom prst="rect">
            <a:avLst/>
          </a:prstGeom>
          <a:solidFill>
            <a:schemeClr val="accent4">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특허출원</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66" name="직사각형 65"/>
          <p:cNvSpPr/>
          <p:nvPr/>
        </p:nvSpPr>
        <p:spPr>
          <a:xfrm>
            <a:off x="10071747" y="5359988"/>
            <a:ext cx="1176596" cy="430282"/>
          </a:xfrm>
          <a:prstGeom prst="rect">
            <a:avLst/>
          </a:prstGeom>
          <a:solidFill>
            <a:schemeClr val="accent4">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출원공개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6" name="슬라이드 번호 개체 틀 5"/>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96</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4276062310"/>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사각형: 둥근 위쪽 모서리 15">
            <a:extLst>
              <a:ext uri="{FF2B5EF4-FFF2-40B4-BE49-F238E27FC236}">
                <a16:creationId xmlns:a16="http://schemas.microsoft.com/office/drawing/2014/main" id="{46183799-BA4D-9A14-F1BB-C636E650A69B}"/>
              </a:ext>
            </a:extLst>
          </p:cNvPr>
          <p:cNvSpPr/>
          <p:nvPr/>
        </p:nvSpPr>
        <p:spPr>
          <a:xfrm rot="10800000">
            <a:off x="1943099" y="2909081"/>
            <a:ext cx="7016070" cy="769042"/>
          </a:xfrm>
          <a:prstGeom prst="round2SameRect">
            <a:avLst>
              <a:gd name="adj1" fmla="val 50000"/>
              <a:gd name="adj2" fmla="val 0"/>
            </a:avLst>
          </a:prstGeom>
          <a:pattFill prst="pct30">
            <a:fgClr>
              <a:schemeClr val="accent3"/>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err="1"/>
              <a:t>무권리자출원과</a:t>
            </a:r>
            <a:r>
              <a:rPr lang="ko-KR" altLang="en-US" dirty="0"/>
              <a:t> 미완성발명출원의 등록금지적 효력</a:t>
            </a:r>
          </a:p>
        </p:txBody>
      </p:sp>
      <p:sp>
        <p:nvSpPr>
          <p:cNvPr id="6" name="슬라이드 번호 개체 틀 5"/>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97</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graphicFrame>
        <p:nvGraphicFramePr>
          <p:cNvPr id="8" name="표 8">
            <a:extLst>
              <a:ext uri="{FF2B5EF4-FFF2-40B4-BE49-F238E27FC236}">
                <a16:creationId xmlns:a16="http://schemas.microsoft.com/office/drawing/2014/main" id="{A233082A-9AD6-437D-B2B4-44B61A9CAF98}"/>
              </a:ext>
            </a:extLst>
          </p:cNvPr>
          <p:cNvGraphicFramePr>
            <a:graphicFrameLocks noGrp="1"/>
          </p:cNvGraphicFramePr>
          <p:nvPr/>
        </p:nvGraphicFramePr>
        <p:xfrm>
          <a:off x="773651" y="4220235"/>
          <a:ext cx="10544205" cy="2316480"/>
        </p:xfrm>
        <a:graphic>
          <a:graphicData uri="http://schemas.openxmlformats.org/drawingml/2006/table">
            <a:tbl>
              <a:tblPr>
                <a:tableStyleId>{8799B23B-EC83-4686-B30A-512413B5E67A}</a:tableStyleId>
              </a:tblPr>
              <a:tblGrid>
                <a:gridCol w="2536396">
                  <a:extLst>
                    <a:ext uri="{9D8B030D-6E8A-4147-A177-3AD203B41FA5}">
                      <a16:colId xmlns:a16="http://schemas.microsoft.com/office/drawing/2014/main" val="43425660"/>
                    </a:ext>
                  </a:extLst>
                </a:gridCol>
                <a:gridCol w="2443772">
                  <a:extLst>
                    <a:ext uri="{9D8B030D-6E8A-4147-A177-3AD203B41FA5}">
                      <a16:colId xmlns:a16="http://schemas.microsoft.com/office/drawing/2014/main" val="535295143"/>
                    </a:ext>
                  </a:extLst>
                </a:gridCol>
                <a:gridCol w="5564037">
                  <a:extLst>
                    <a:ext uri="{9D8B030D-6E8A-4147-A177-3AD203B41FA5}">
                      <a16:colId xmlns:a16="http://schemas.microsoft.com/office/drawing/2014/main" val="2676927970"/>
                    </a:ext>
                  </a:extLst>
                </a:gridCol>
              </a:tblGrid>
              <a:tr h="274122">
                <a:tc>
                  <a:txBody>
                    <a:bodyPr/>
                    <a:lstStyle/>
                    <a:p>
                      <a:pPr algn="ctr" latinLnBrk="1"/>
                      <a:r>
                        <a:rPr lang="ko-KR" altLang="en-US" sz="1600" dirty="0"/>
                        <a:t>등록금지적 효력</a:t>
                      </a:r>
                    </a:p>
                  </a:txBody>
                  <a:tcPr anchor="ctr">
                    <a:solidFill>
                      <a:schemeClr val="tx2">
                        <a:lumMod val="20000"/>
                        <a:lumOff val="80000"/>
                      </a:schemeClr>
                    </a:solidFill>
                  </a:tcPr>
                </a:tc>
                <a:tc>
                  <a:txBody>
                    <a:bodyPr/>
                    <a:lstStyle/>
                    <a:p>
                      <a:pPr algn="ctr" latinLnBrk="1"/>
                      <a:r>
                        <a:rPr lang="ko-KR" altLang="en-US" sz="1600" dirty="0"/>
                        <a:t>미완성발명출원</a:t>
                      </a:r>
                    </a:p>
                  </a:txBody>
                  <a:tcPr anchor="ctr">
                    <a:solidFill>
                      <a:schemeClr val="tx2">
                        <a:lumMod val="20000"/>
                        <a:lumOff val="80000"/>
                      </a:schemeClr>
                    </a:solidFill>
                  </a:tcPr>
                </a:tc>
                <a:tc>
                  <a:txBody>
                    <a:bodyPr/>
                    <a:lstStyle/>
                    <a:p>
                      <a:pPr algn="ctr" latinLnBrk="1"/>
                      <a:r>
                        <a:rPr lang="ko-KR" altLang="en-US" sz="1600" dirty="0" err="1"/>
                        <a:t>무권리자출원</a:t>
                      </a:r>
                      <a:endParaRPr lang="ko-KR" altLang="en-US" sz="1600" dirty="0"/>
                    </a:p>
                  </a:txBody>
                  <a:tcPr anchor="ctr">
                    <a:solidFill>
                      <a:schemeClr val="tx2">
                        <a:lumMod val="20000"/>
                        <a:lumOff val="80000"/>
                      </a:schemeClr>
                    </a:solidFill>
                  </a:tcPr>
                </a:tc>
                <a:extLst>
                  <a:ext uri="{0D108BD9-81ED-4DB2-BD59-A6C34878D82A}">
                    <a16:rowId xmlns:a16="http://schemas.microsoft.com/office/drawing/2014/main" val="3514986666"/>
                  </a:ext>
                </a:extLst>
              </a:tr>
              <a:tr h="274122">
                <a:tc>
                  <a:txBody>
                    <a:bodyPr/>
                    <a:lstStyle/>
                    <a:p>
                      <a:pPr algn="ctr" latinLnBrk="1"/>
                      <a:r>
                        <a:rPr lang="ko-KR" altLang="en-US" sz="1600" dirty="0"/>
                        <a:t>선출원의 지위</a:t>
                      </a:r>
                    </a:p>
                  </a:txBody>
                  <a:tcPr anchor="ctr"/>
                </a:tc>
                <a:tc>
                  <a:txBody>
                    <a:bodyPr/>
                    <a:lstStyle/>
                    <a:p>
                      <a:pPr algn="ctr" latinLnBrk="1"/>
                      <a:r>
                        <a:rPr lang="ko-KR" altLang="en-US" sz="1600" dirty="0"/>
                        <a:t>불인정</a:t>
                      </a:r>
                      <a:r>
                        <a:rPr lang="en-US" altLang="ko-KR" sz="1600" dirty="0"/>
                        <a:t>(</a:t>
                      </a:r>
                      <a:r>
                        <a:rPr lang="ko-KR" altLang="en-US" sz="1600" dirty="0"/>
                        <a:t>제</a:t>
                      </a:r>
                      <a:r>
                        <a:rPr lang="en-US" altLang="ko-KR" sz="1600" dirty="0"/>
                        <a:t>36</a:t>
                      </a:r>
                      <a:r>
                        <a:rPr lang="ko-KR" altLang="en-US" sz="1600" dirty="0"/>
                        <a:t>조제</a:t>
                      </a:r>
                      <a:r>
                        <a:rPr lang="en-US" altLang="ko-KR" sz="1600" dirty="0"/>
                        <a:t>4</a:t>
                      </a:r>
                      <a:r>
                        <a:rPr lang="ko-KR" altLang="en-US" sz="1600" dirty="0"/>
                        <a:t>항</a:t>
                      </a:r>
                      <a:r>
                        <a:rPr lang="en-US" altLang="ko-KR" sz="1600" dirty="0"/>
                        <a:t>)</a:t>
                      </a:r>
                      <a:endParaRPr lang="ko-KR" altLang="en-US" sz="1600" dirty="0"/>
                    </a:p>
                  </a:txBody>
                  <a:tcPr anchor="ctr"/>
                </a:tc>
                <a:tc>
                  <a:txBody>
                    <a:bodyPr/>
                    <a:lstStyle/>
                    <a:p>
                      <a:pPr algn="ctr" latinLnBrk="1"/>
                      <a:r>
                        <a:rPr lang="ko-KR" altLang="en-US" sz="1600" dirty="0"/>
                        <a:t>불인정</a:t>
                      </a:r>
                      <a:r>
                        <a:rPr lang="en-US" altLang="ko-KR" sz="1600" dirty="0"/>
                        <a:t>(</a:t>
                      </a:r>
                      <a:r>
                        <a:rPr lang="ko-KR" altLang="en-US" sz="1600" dirty="0"/>
                        <a:t>제</a:t>
                      </a:r>
                      <a:r>
                        <a:rPr lang="en-US" altLang="ko-KR" sz="1600" dirty="0"/>
                        <a:t>36</a:t>
                      </a:r>
                      <a:r>
                        <a:rPr lang="ko-KR" altLang="en-US" sz="1600" dirty="0"/>
                        <a:t>조 제</a:t>
                      </a:r>
                      <a:r>
                        <a:rPr lang="en-US" altLang="ko-KR" sz="1600" dirty="0"/>
                        <a:t>5</a:t>
                      </a:r>
                      <a:r>
                        <a:rPr lang="ko-KR" altLang="en-US" sz="1600" dirty="0"/>
                        <a:t>항</a:t>
                      </a:r>
                      <a:r>
                        <a:rPr lang="en-US" altLang="ko-KR" sz="1600" dirty="0"/>
                        <a:t>)</a:t>
                      </a:r>
                      <a:endParaRPr lang="ko-KR" altLang="en-US" sz="1600" dirty="0"/>
                    </a:p>
                  </a:txBody>
                  <a:tcPr anchor="ctr"/>
                </a:tc>
                <a:extLst>
                  <a:ext uri="{0D108BD9-81ED-4DB2-BD59-A6C34878D82A}">
                    <a16:rowId xmlns:a16="http://schemas.microsoft.com/office/drawing/2014/main" val="3419549618"/>
                  </a:ext>
                </a:extLst>
              </a:tr>
              <a:tr h="383020">
                <a:tc>
                  <a:txBody>
                    <a:bodyPr/>
                    <a:lstStyle/>
                    <a:p>
                      <a:pPr algn="ctr" latinLnBrk="1"/>
                      <a:r>
                        <a:rPr lang="ko-KR" altLang="en-US" sz="1600" dirty="0"/>
                        <a:t>확대된 선출원의 지위</a:t>
                      </a:r>
                    </a:p>
                  </a:txBody>
                  <a:tcPr anchor="ctr"/>
                </a:tc>
                <a:tc>
                  <a:txBody>
                    <a:bodyPr/>
                    <a:lstStyle/>
                    <a:p>
                      <a:pPr algn="ctr" latinLnBrk="1"/>
                      <a:r>
                        <a:rPr lang="ko-KR" altLang="en-US" sz="1600" dirty="0"/>
                        <a:t>불인정</a:t>
                      </a:r>
                      <a:r>
                        <a:rPr lang="en-US" altLang="ko-KR" sz="1600" dirty="0"/>
                        <a:t>(</a:t>
                      </a:r>
                      <a:r>
                        <a:rPr lang="ko-KR" altLang="en-US" sz="1600" dirty="0"/>
                        <a:t>判例</a:t>
                      </a:r>
                      <a:r>
                        <a:rPr lang="en-US" altLang="ko-KR" sz="1600" dirty="0"/>
                        <a:t>)</a:t>
                      </a:r>
                      <a:endParaRPr lang="ko-KR" altLang="en-US" sz="1600" dirty="0"/>
                    </a:p>
                  </a:txBody>
                  <a:tcPr anchor="ctr"/>
                </a:tc>
                <a:tc>
                  <a:txBody>
                    <a:bodyPr/>
                    <a:lstStyle/>
                    <a:p>
                      <a:pPr algn="ctr" latinLnBrk="1"/>
                      <a:r>
                        <a:rPr lang="ko-KR" altLang="en-US" sz="1600" dirty="0"/>
                        <a:t>인정</a:t>
                      </a:r>
                      <a:endParaRPr lang="en-US" altLang="ko-KR" sz="1600" dirty="0"/>
                    </a:p>
                    <a:p>
                      <a:pPr algn="ctr" latinLnBrk="1"/>
                      <a:r>
                        <a:rPr lang="en-US" altLang="ko-KR" sz="1600" dirty="0"/>
                        <a:t>(</a:t>
                      </a:r>
                      <a:r>
                        <a:rPr lang="ko-KR" altLang="en-US" sz="1600" dirty="0"/>
                        <a:t>단</a:t>
                      </a:r>
                      <a:r>
                        <a:rPr lang="en-US" altLang="ko-KR" sz="1600" dirty="0"/>
                        <a:t>, </a:t>
                      </a:r>
                      <a:r>
                        <a:rPr lang="ko-KR" altLang="en-US" sz="1600" dirty="0"/>
                        <a:t>정당한 권리자 출원에 대해서는 발명자가 동일하여 불인정</a:t>
                      </a:r>
                      <a:r>
                        <a:rPr lang="en-US" altLang="ko-KR" sz="1600" dirty="0"/>
                        <a:t>)</a:t>
                      </a:r>
                      <a:endParaRPr lang="ko-KR" altLang="en-US" sz="1600" dirty="0"/>
                    </a:p>
                  </a:txBody>
                  <a:tcPr anchor="ctr"/>
                </a:tc>
                <a:extLst>
                  <a:ext uri="{0D108BD9-81ED-4DB2-BD59-A6C34878D82A}">
                    <a16:rowId xmlns:a16="http://schemas.microsoft.com/office/drawing/2014/main" val="3221605332"/>
                  </a:ext>
                </a:extLst>
              </a:tr>
              <a:tr h="540734">
                <a:tc>
                  <a:txBody>
                    <a:bodyPr/>
                    <a:lstStyle/>
                    <a:p>
                      <a:pPr algn="ctr" latinLnBrk="1"/>
                      <a:r>
                        <a:rPr lang="ko-KR" altLang="en-US" sz="1600" dirty="0"/>
                        <a:t>공지기술의 지위</a:t>
                      </a:r>
                    </a:p>
                  </a:txBody>
                  <a:tcPr anchor="ctr"/>
                </a:tc>
                <a:tc>
                  <a:txBody>
                    <a:bodyPr/>
                    <a:lstStyle/>
                    <a:p>
                      <a:pPr algn="ctr" latinLnBrk="1"/>
                      <a:r>
                        <a:rPr lang="ko-KR" altLang="en-US" sz="1600" dirty="0"/>
                        <a:t>인정</a:t>
                      </a:r>
                      <a:r>
                        <a:rPr lang="en-US" altLang="ko-KR" sz="1600" dirty="0"/>
                        <a:t>(</a:t>
                      </a:r>
                      <a:r>
                        <a:rPr lang="ko-KR" altLang="en-US" sz="1600" dirty="0"/>
                        <a:t>判例</a:t>
                      </a:r>
                      <a:r>
                        <a:rPr lang="en-US" altLang="ko-KR" sz="1600" dirty="0"/>
                        <a:t>)</a:t>
                      </a:r>
                      <a:endParaRPr lang="ko-KR" altLang="en-US" sz="1600" dirty="0"/>
                    </a:p>
                  </a:txBody>
                  <a:tcPr anchor="ctr"/>
                </a:tc>
                <a:tc>
                  <a:txBody>
                    <a:bodyPr/>
                    <a:lstStyle/>
                    <a:p>
                      <a:pPr algn="ctr" latinLnBrk="1"/>
                      <a:r>
                        <a:rPr lang="ko-KR" altLang="en-US" sz="1600" dirty="0"/>
                        <a:t>인정</a:t>
                      </a:r>
                      <a:endParaRPr lang="en-US" altLang="ko-KR" sz="1600" dirty="0"/>
                    </a:p>
                    <a:p>
                      <a:pPr algn="ctr" latinLnBrk="1"/>
                      <a:r>
                        <a:rPr lang="en-US" altLang="ko-KR" sz="1600" dirty="0"/>
                        <a:t>(</a:t>
                      </a:r>
                      <a:r>
                        <a:rPr lang="ko-KR" altLang="en-US" sz="1600" dirty="0"/>
                        <a:t>단</a:t>
                      </a:r>
                      <a:r>
                        <a:rPr lang="en-US" altLang="ko-KR" sz="1600" dirty="0"/>
                        <a:t>, </a:t>
                      </a:r>
                      <a:r>
                        <a:rPr lang="ko-KR" altLang="en-US" sz="1600" dirty="0"/>
                        <a:t>정당한 권리자 출원에 대해서는 의사에 반한 공지이기 때문에 공지된 날로부터 </a:t>
                      </a:r>
                      <a:r>
                        <a:rPr lang="en-US" altLang="ko-KR" sz="1600" dirty="0"/>
                        <a:t>12</a:t>
                      </a:r>
                      <a:r>
                        <a:rPr lang="ko-KR" altLang="en-US" sz="1600" dirty="0"/>
                        <a:t>개월 이내에 정당한 권리자가 출원한 경우 </a:t>
                      </a:r>
                      <a:endParaRPr lang="en-US" altLang="ko-KR" sz="1600" dirty="0"/>
                    </a:p>
                    <a:p>
                      <a:pPr algn="ctr" latinLnBrk="1"/>
                      <a:r>
                        <a:rPr lang="ko-KR" altLang="en-US" sz="1600" dirty="0"/>
                        <a:t>불인정</a:t>
                      </a:r>
                      <a:r>
                        <a:rPr lang="en-US" altLang="ko-KR" sz="1600" dirty="0"/>
                        <a:t>)</a:t>
                      </a:r>
                      <a:endParaRPr lang="ko-KR" altLang="en-US" sz="1600" dirty="0"/>
                    </a:p>
                  </a:txBody>
                  <a:tcPr anchor="ctr"/>
                </a:tc>
                <a:extLst>
                  <a:ext uri="{0D108BD9-81ED-4DB2-BD59-A6C34878D82A}">
                    <a16:rowId xmlns:a16="http://schemas.microsoft.com/office/drawing/2014/main" val="3852965140"/>
                  </a:ext>
                </a:extLst>
              </a:tr>
            </a:tbl>
          </a:graphicData>
        </a:graphic>
      </p:graphicFrame>
      <p:cxnSp>
        <p:nvCxnSpPr>
          <p:cNvPr id="7" name="직선 화살표 연결선 6">
            <a:extLst>
              <a:ext uri="{FF2B5EF4-FFF2-40B4-BE49-F238E27FC236}">
                <a16:creationId xmlns:a16="http://schemas.microsoft.com/office/drawing/2014/main" id="{F3C10E25-5463-F158-258B-97E2BB2214DA}"/>
              </a:ext>
            </a:extLst>
          </p:cNvPr>
          <p:cNvCxnSpPr>
            <a:cxnSpLocks/>
          </p:cNvCxnSpPr>
          <p:nvPr/>
        </p:nvCxnSpPr>
        <p:spPr>
          <a:xfrm>
            <a:off x="1803326" y="2873050"/>
            <a:ext cx="9032314" cy="0"/>
          </a:xfrm>
          <a:prstGeom prst="straightConnector1">
            <a:avLst/>
          </a:prstGeom>
          <a:ln w="76200">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9" name="사각형: 둥근 모서리 8">
            <a:extLst>
              <a:ext uri="{FF2B5EF4-FFF2-40B4-BE49-F238E27FC236}">
                <a16:creationId xmlns:a16="http://schemas.microsoft.com/office/drawing/2014/main" id="{25C0AD24-F1CB-0051-C9E1-791127FA72CA}"/>
              </a:ext>
            </a:extLst>
          </p:cNvPr>
          <p:cNvSpPr/>
          <p:nvPr/>
        </p:nvSpPr>
        <p:spPr>
          <a:xfrm>
            <a:off x="1515294" y="2592682"/>
            <a:ext cx="1080120" cy="560736"/>
          </a:xfrm>
          <a:prstGeom prst="roundRect">
            <a:avLst>
              <a:gd name="adj" fmla="val 50000"/>
            </a:avLst>
          </a:prstGeom>
          <a:solidFill>
            <a:schemeClr val="accent1">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rPr>
              <a:t>무권리자</a:t>
            </a:r>
            <a:endParaRPr kumimoji="0" lang="en-US" altLang="ko-KR"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rPr>
              <a:t>출원</a:t>
            </a:r>
            <a:r>
              <a:rPr kumimoji="0" lang="en-US" altLang="ko-KR"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endParaRPr>
          </a:p>
        </p:txBody>
      </p:sp>
      <p:sp>
        <p:nvSpPr>
          <p:cNvPr id="10" name="사각형: 둥근 모서리 9">
            <a:extLst>
              <a:ext uri="{FF2B5EF4-FFF2-40B4-BE49-F238E27FC236}">
                <a16:creationId xmlns:a16="http://schemas.microsoft.com/office/drawing/2014/main" id="{0D9B4F07-40A2-63AB-123A-A6DEA9540869}"/>
              </a:ext>
            </a:extLst>
          </p:cNvPr>
          <p:cNvSpPr/>
          <p:nvPr/>
        </p:nvSpPr>
        <p:spPr>
          <a:xfrm>
            <a:off x="5105161" y="2592682"/>
            <a:ext cx="1245202" cy="560736"/>
          </a:xfrm>
          <a:prstGeom prst="roundRect">
            <a:avLst>
              <a:gd name="adj" fmla="val 50000"/>
            </a:avLst>
          </a:prstGeom>
          <a:solidFill>
            <a:schemeClr val="accent1">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rPr>
              <a:t>무권리자</a:t>
            </a:r>
            <a:endParaRPr kumimoji="0" lang="en-US" altLang="ko-KR"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rPr>
              <a:t>공개</a:t>
            </a:r>
            <a:r>
              <a:rPr kumimoji="0" lang="en-US" altLang="ko-KR"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white">
                  <a:lumMod val="95000"/>
                </a:prstClr>
              </a:solidFill>
              <a:effectLst/>
              <a:uLnTx/>
              <a:uFillTx/>
              <a:latin typeface="Frutiger LT 65 Bold"/>
              <a:ea typeface="Rix모던고딕 B"/>
              <a:cs typeface="+mn-cs"/>
            </a:endParaRPr>
          </a:p>
        </p:txBody>
      </p:sp>
      <p:sp>
        <p:nvSpPr>
          <p:cNvPr id="11" name="타원 10">
            <a:extLst>
              <a:ext uri="{FF2B5EF4-FFF2-40B4-BE49-F238E27FC236}">
                <a16:creationId xmlns:a16="http://schemas.microsoft.com/office/drawing/2014/main" id="{9C4C28D3-6339-CF37-D90B-F25442D93578}"/>
              </a:ext>
            </a:extLst>
          </p:cNvPr>
          <p:cNvSpPr/>
          <p:nvPr/>
        </p:nvSpPr>
        <p:spPr>
          <a:xfrm>
            <a:off x="8896260" y="2806938"/>
            <a:ext cx="125820" cy="132224"/>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4" name="연결선: 꺾임 13">
            <a:extLst>
              <a:ext uri="{FF2B5EF4-FFF2-40B4-BE49-F238E27FC236}">
                <a16:creationId xmlns:a16="http://schemas.microsoft.com/office/drawing/2014/main" id="{5E4F846A-121E-0C8D-EE86-85B7110B5FD6}"/>
              </a:ext>
            </a:extLst>
          </p:cNvPr>
          <p:cNvCxnSpPr>
            <a:stCxn id="10" idx="0"/>
            <a:endCxn id="11" idx="0"/>
          </p:cNvCxnSpPr>
          <p:nvPr/>
        </p:nvCxnSpPr>
        <p:spPr>
          <a:xfrm rot="16200000" flipH="1">
            <a:off x="7236338" y="1084106"/>
            <a:ext cx="214256" cy="3231408"/>
          </a:xfrm>
          <a:prstGeom prst="bentConnector3">
            <a:avLst>
              <a:gd name="adj1" fmla="val -106695"/>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1130C431-DC46-373E-91FA-6D0B0016D459}"/>
              </a:ext>
            </a:extLst>
          </p:cNvPr>
          <p:cNvSpPr txBox="1"/>
          <p:nvPr/>
        </p:nvSpPr>
        <p:spPr>
          <a:xfrm>
            <a:off x="7139940" y="1968088"/>
            <a:ext cx="521297"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년</a:t>
            </a:r>
          </a:p>
        </p:txBody>
      </p:sp>
      <p:sp>
        <p:nvSpPr>
          <p:cNvPr id="17" name="TextBox 16">
            <a:extLst>
              <a:ext uri="{FF2B5EF4-FFF2-40B4-BE49-F238E27FC236}">
                <a16:creationId xmlns:a16="http://schemas.microsoft.com/office/drawing/2014/main" id="{050DE536-96C8-5ED3-998D-8F505319C5A4}"/>
              </a:ext>
            </a:extLst>
          </p:cNvPr>
          <p:cNvSpPr txBox="1"/>
          <p:nvPr/>
        </p:nvSpPr>
        <p:spPr>
          <a:xfrm>
            <a:off x="3634245" y="3249120"/>
            <a:ext cx="4047903"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정당한 권리자 출원의 거절되지 않는 구간</a:t>
            </a:r>
          </a:p>
        </p:txBody>
      </p:sp>
      <p:sp>
        <p:nvSpPr>
          <p:cNvPr id="18" name="TextBox 17">
            <a:extLst>
              <a:ext uri="{FF2B5EF4-FFF2-40B4-BE49-F238E27FC236}">
                <a16:creationId xmlns:a16="http://schemas.microsoft.com/office/drawing/2014/main" id="{F2B76E01-AE70-368E-ACE0-8C8811865640}"/>
              </a:ext>
            </a:extLst>
          </p:cNvPr>
          <p:cNvSpPr txBox="1"/>
          <p:nvPr/>
        </p:nvSpPr>
        <p:spPr>
          <a:xfrm>
            <a:off x="447105" y="1150377"/>
            <a:ext cx="11144260" cy="646331"/>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pPr marL="179388" marR="0" lvl="0" indent="-179388"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 정당한 권리자 출원이 무권리자 출원일로 소급효가 인정되지 않을 때 정당한 권리자 출원이 무권리자 출원 또는 </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   공개에 의하여 거절되지 않는 구간</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 name="직선 연결선 1">
            <a:extLst>
              <a:ext uri="{FF2B5EF4-FFF2-40B4-BE49-F238E27FC236}">
                <a16:creationId xmlns:a16="http://schemas.microsoft.com/office/drawing/2014/main" id="{FA17D492-0EE4-611F-4DD1-74824A6962A5}"/>
              </a:ext>
            </a:extLst>
          </p:cNvPr>
          <p:cNvCxnSpPr/>
          <p:nvPr/>
        </p:nvCxnSpPr>
        <p:spPr>
          <a:xfrm flipH="1" flipV="1">
            <a:off x="280574" y="3976951"/>
            <a:ext cx="11539951" cy="952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5588914"/>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41</a:t>
            </a:r>
            <a:r>
              <a:rPr lang="ko-KR" altLang="en-US" dirty="0"/>
              <a:t>조</a:t>
            </a:r>
            <a:r>
              <a:rPr lang="en-US" altLang="ko-KR" dirty="0"/>
              <a:t>, </a:t>
            </a:r>
            <a:r>
              <a:rPr lang="ko-KR" altLang="en-US" dirty="0"/>
              <a:t>제</a:t>
            </a:r>
            <a:r>
              <a:rPr lang="en-US" altLang="ko-KR" dirty="0"/>
              <a:t>106</a:t>
            </a:r>
            <a:r>
              <a:rPr lang="ko-KR" altLang="en-US" dirty="0"/>
              <a:t>조</a:t>
            </a:r>
          </a:p>
        </p:txBody>
      </p:sp>
      <p:sp>
        <p:nvSpPr>
          <p:cNvPr id="4" name="텍스트 개체 틀 3"/>
          <p:cNvSpPr>
            <a:spLocks noGrp="1"/>
          </p:cNvSpPr>
          <p:nvPr>
            <p:ph type="body" sz="quarter" idx="13"/>
          </p:nvPr>
        </p:nvSpPr>
        <p:spPr/>
        <p:txBody>
          <a:bodyPr/>
          <a:lstStyle/>
          <a:p>
            <a:r>
              <a:rPr lang="ko-KR" altLang="en-US" dirty="0"/>
              <a:t>국방상 필요한 발명</a:t>
            </a:r>
          </a:p>
        </p:txBody>
      </p:sp>
      <p:sp>
        <p:nvSpPr>
          <p:cNvPr id="46" name="TextBox 45"/>
          <p:cNvSpPr txBox="1"/>
          <p:nvPr/>
        </p:nvSpPr>
        <p:spPr>
          <a:xfrm>
            <a:off x="355600" y="986046"/>
            <a:ext cx="11472332" cy="3539430"/>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41</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국방상 필요한 발명 등</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① 정부는 국방상 필요한 경우 외국에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특허출원하는</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것을 금지하거나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발명자ㆍ출원인</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및 대리인에게 그 특허출원의 발명을 비밀로 취급하도록 명할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정부의 허가를 받은 경우에는 외국에 특허출원을 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②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정부는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발명이 국방상 필요한 경우에는 특허를 하지 아니할 수 있으며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전시ㆍ사변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또는 이에 준하는 비상시에 국방상 필요한 경우에는 특허를 받을 수 있는 권리를 수용할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외국에의 특허출원 금지 또는 비밀취급에 따른 손실에 대해서는 정부는 정당한 보상금을 지급하여야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④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특허하지 아니하거나 수용한 경우에는 정부는 정당한 보상금을 지급하여야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⑤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외국에의 특허출원 금지 또는 비밀취급명령을 위반한 경우에는 그 발명에 대하여 특허를 받을 수 있는 권리를 포기한 것으로 본다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⑥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외국에의 특허출원 금지 또는 비밀취급명령을 위반한 경우에는 외국에의 특허출원 금지 또는 비밀취급에 따른 손실보상금의 청구권을 포기한 것으로 본다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⑦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외국에의 특허출원 금지 및 비밀취급의 절차</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항부터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항까지의 규정에 따른 수용</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보상금 지급의 절차</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밖에 필요한 사항은 대통령령으로 정한다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106</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특허권의 수용</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정부는 특허발명이 전시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사변 또는 이에 준하는 비상시에 국방상 필요한 경우에는 특허권을 수용할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②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특허권이 수용되는 경우에는 그 특허발명에 관한 특허권 외의 권리는 소멸된다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정부는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특허권을 수용하는 경우에는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특허권자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전용실시권자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또는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통상실시권자에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대하여 정당한 보상금을 지급하여야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④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특허권의 수용 및 보상금의 지급에 필요한 사항은 대통령령으로 정한다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graphicFrame>
        <p:nvGraphicFramePr>
          <p:cNvPr id="6" name="표 5"/>
          <p:cNvGraphicFramePr>
            <a:graphicFrameLocks noGrp="1"/>
          </p:cNvGraphicFramePr>
          <p:nvPr/>
        </p:nvGraphicFramePr>
        <p:xfrm>
          <a:off x="350180" y="4766598"/>
          <a:ext cx="11477751" cy="1946339"/>
        </p:xfrm>
        <a:graphic>
          <a:graphicData uri="http://schemas.openxmlformats.org/drawingml/2006/table">
            <a:tbl>
              <a:tblPr/>
              <a:tblGrid>
                <a:gridCol w="933777">
                  <a:extLst>
                    <a:ext uri="{9D8B030D-6E8A-4147-A177-3AD203B41FA5}">
                      <a16:colId xmlns:a16="http://schemas.microsoft.com/office/drawing/2014/main" val="20000"/>
                    </a:ext>
                  </a:extLst>
                </a:gridCol>
                <a:gridCol w="933777">
                  <a:extLst>
                    <a:ext uri="{9D8B030D-6E8A-4147-A177-3AD203B41FA5}">
                      <a16:colId xmlns:a16="http://schemas.microsoft.com/office/drawing/2014/main" val="20001"/>
                    </a:ext>
                  </a:extLst>
                </a:gridCol>
                <a:gridCol w="1423027">
                  <a:extLst>
                    <a:ext uri="{9D8B030D-6E8A-4147-A177-3AD203B41FA5}">
                      <a16:colId xmlns:a16="http://schemas.microsoft.com/office/drawing/2014/main" val="20002"/>
                    </a:ext>
                  </a:extLst>
                </a:gridCol>
                <a:gridCol w="1908392">
                  <a:extLst>
                    <a:ext uri="{9D8B030D-6E8A-4147-A177-3AD203B41FA5}">
                      <a16:colId xmlns:a16="http://schemas.microsoft.com/office/drawing/2014/main" val="20003"/>
                    </a:ext>
                  </a:extLst>
                </a:gridCol>
                <a:gridCol w="1246094">
                  <a:extLst>
                    <a:ext uri="{9D8B030D-6E8A-4147-A177-3AD203B41FA5}">
                      <a16:colId xmlns:a16="http://schemas.microsoft.com/office/drawing/2014/main" val="20004"/>
                    </a:ext>
                  </a:extLst>
                </a:gridCol>
                <a:gridCol w="5032684">
                  <a:extLst>
                    <a:ext uri="{9D8B030D-6E8A-4147-A177-3AD203B41FA5}">
                      <a16:colId xmlns:a16="http://schemas.microsoft.com/office/drawing/2014/main" val="20005"/>
                    </a:ext>
                  </a:extLst>
                </a:gridCol>
              </a:tblGrid>
              <a:tr h="102229">
                <a:tc>
                  <a:txBody>
                    <a:bodyPr/>
                    <a:lstStyle/>
                    <a:p>
                      <a:pPr marL="0" marR="0" indent="0" algn="ctr" fontAlgn="base" latinLnBrk="0">
                        <a:lnSpc>
                          <a:spcPct val="120000"/>
                        </a:lnSpc>
                        <a:spcBef>
                          <a:spcPts val="0"/>
                        </a:spcBef>
                        <a:spcAft>
                          <a:spcPts val="0"/>
                        </a:spcAft>
                      </a:pPr>
                      <a:r>
                        <a:rPr lang="ko-KR" altLang="en-US" sz="1200" b="1" kern="1200" dirty="0">
                          <a:solidFill>
                            <a:schemeClr val="tx2"/>
                          </a:solidFill>
                          <a:latin typeface="+mn-lt"/>
                          <a:ea typeface="+mn-ea"/>
                          <a:cs typeface="+mn-cs"/>
                        </a:rPr>
                        <a:t>구분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b="1" kern="1200" dirty="0">
                          <a:solidFill>
                            <a:schemeClr val="tx2"/>
                          </a:solidFill>
                          <a:latin typeface="+mn-lt"/>
                          <a:ea typeface="+mn-ea"/>
                          <a:cs typeface="+mn-cs"/>
                        </a:rPr>
                        <a:t>법 규정</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b="1" kern="1200" dirty="0" err="1">
                          <a:solidFill>
                            <a:schemeClr val="tx2"/>
                          </a:solidFill>
                          <a:latin typeface="+mn-lt"/>
                          <a:ea typeface="+mn-ea"/>
                          <a:cs typeface="+mn-cs"/>
                        </a:rPr>
                        <a:t>취</a:t>
                      </a:r>
                      <a:r>
                        <a:rPr lang="ko-KR" altLang="en-US" sz="1200" b="1" kern="1200" dirty="0">
                          <a:solidFill>
                            <a:schemeClr val="tx2"/>
                          </a:solidFill>
                          <a:latin typeface="+mn-lt"/>
                          <a:ea typeface="+mn-ea"/>
                          <a:cs typeface="+mn-cs"/>
                        </a:rPr>
                        <a:t> 급</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b="1" kern="1200" dirty="0">
                          <a:solidFill>
                            <a:schemeClr val="tx2"/>
                          </a:solidFill>
                          <a:latin typeface="+mn-lt"/>
                          <a:ea typeface="+mn-ea"/>
                          <a:cs typeface="+mn-cs"/>
                        </a:rPr>
                        <a:t>요 건</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b="1" kern="1200" dirty="0">
                          <a:solidFill>
                            <a:schemeClr val="tx2"/>
                          </a:solidFill>
                          <a:latin typeface="+mn-lt"/>
                          <a:ea typeface="+mn-ea"/>
                          <a:cs typeface="+mn-cs"/>
                        </a:rPr>
                        <a:t>보 상</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b="1" kern="1200" dirty="0">
                          <a:solidFill>
                            <a:schemeClr val="tx2"/>
                          </a:solidFill>
                          <a:latin typeface="+mn-lt"/>
                          <a:ea typeface="+mn-ea"/>
                          <a:cs typeface="+mn-cs"/>
                        </a:rPr>
                        <a:t>비 고</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123583">
                <a:tc rowSpan="4">
                  <a:txBody>
                    <a:bodyPr/>
                    <a:lstStyle/>
                    <a:p>
                      <a:pPr marL="0" marR="0" indent="0" algn="ctr" fontAlgn="base" latinLnBrk="0">
                        <a:lnSpc>
                          <a:spcPct val="120000"/>
                        </a:lnSpc>
                        <a:spcBef>
                          <a:spcPts val="0"/>
                        </a:spcBef>
                        <a:spcAft>
                          <a:spcPts val="0"/>
                        </a:spcAft>
                      </a:pPr>
                      <a:r>
                        <a:rPr lang="ko-KR" altLang="en-US" sz="1200" kern="1200" dirty="0">
                          <a:solidFill>
                            <a:schemeClr val="tx2"/>
                          </a:solidFill>
                          <a:latin typeface="+mn-lt"/>
                          <a:ea typeface="+mn-ea"/>
                          <a:cs typeface="+mn-cs"/>
                        </a:rPr>
                        <a:t>등록 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rowSpan="2">
                  <a:txBody>
                    <a:bodyPr/>
                    <a:lstStyle/>
                    <a:p>
                      <a:pPr marL="0" marR="0" indent="0" algn="ctr" fontAlgn="base" latinLnBrk="0">
                        <a:lnSpc>
                          <a:spcPct val="120000"/>
                        </a:lnSpc>
                        <a:spcBef>
                          <a:spcPts val="0"/>
                        </a:spcBef>
                        <a:spcAft>
                          <a:spcPts val="0"/>
                        </a:spcAft>
                      </a:pP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41</a:t>
                      </a:r>
                      <a:r>
                        <a:rPr lang="ko-KR" altLang="en-US" sz="1200" kern="1200" dirty="0">
                          <a:solidFill>
                            <a:schemeClr val="tx2"/>
                          </a:solidFill>
                          <a:latin typeface="+mn-lt"/>
                          <a:ea typeface="+mn-ea"/>
                          <a:cs typeface="+mn-cs"/>
                        </a:rPr>
                        <a:t>조</a:t>
                      </a:r>
                    </a:p>
                    <a:p>
                      <a:pPr marL="0" marR="0" indent="0" algn="ctr" fontAlgn="base" latinLnBrk="0">
                        <a:lnSpc>
                          <a:spcPct val="120000"/>
                        </a:lnSpc>
                        <a:spcBef>
                          <a:spcPts val="0"/>
                        </a:spcBef>
                        <a:spcAft>
                          <a:spcPts val="0"/>
                        </a:spcAft>
                      </a:pP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1</a:t>
                      </a:r>
                      <a:r>
                        <a:rPr lang="ko-KR" altLang="en-US" sz="1200" kern="1200" dirty="0">
                          <a:solidFill>
                            <a:schemeClr val="tx2"/>
                          </a:solidFill>
                          <a:latin typeface="+mn-lt"/>
                          <a:ea typeface="+mn-ea"/>
                          <a:cs typeface="+mn-cs"/>
                        </a:rPr>
                        <a:t>항</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20000"/>
                        </a:lnSpc>
                        <a:spcBef>
                          <a:spcPts val="0"/>
                        </a:spcBef>
                        <a:spcAft>
                          <a:spcPts val="0"/>
                        </a:spcAft>
                      </a:pPr>
                      <a:r>
                        <a:rPr lang="ko-KR" altLang="en-US" sz="1200" kern="1200" dirty="0">
                          <a:solidFill>
                            <a:schemeClr val="tx2"/>
                          </a:solidFill>
                          <a:latin typeface="+mn-lt"/>
                          <a:ea typeface="+mn-ea"/>
                          <a:cs typeface="+mn-cs"/>
                        </a:rPr>
                        <a:t>외국에의 출원금지</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rowSpan="3">
                  <a:txBody>
                    <a:bodyPr/>
                    <a:lstStyle/>
                    <a:p>
                      <a:pPr marL="31750" marR="31750" indent="0" algn="ctr" fontAlgn="base" latinLnBrk="0">
                        <a:lnSpc>
                          <a:spcPct val="130000"/>
                        </a:lnSpc>
                        <a:spcBef>
                          <a:spcPts val="0"/>
                        </a:spcBef>
                        <a:spcAft>
                          <a:spcPts val="0"/>
                        </a:spcAft>
                      </a:pPr>
                      <a:r>
                        <a:rPr lang="ko-KR" altLang="en-US" sz="1200" kern="1200" dirty="0">
                          <a:solidFill>
                            <a:schemeClr val="tx2"/>
                          </a:solidFill>
                          <a:latin typeface="+mn-lt"/>
                          <a:ea typeface="+mn-ea"/>
                          <a:cs typeface="+mn-cs"/>
                        </a:rPr>
                        <a:t>국방상 필요</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rowSpan="2">
                  <a:txBody>
                    <a:bodyPr/>
                    <a:lstStyle/>
                    <a:p>
                      <a:pPr marL="31750" marR="31750" indent="0" algn="ctr" fontAlgn="base" latinLnBrk="0">
                        <a:lnSpc>
                          <a:spcPct val="130000"/>
                        </a:lnSpc>
                        <a:spcBef>
                          <a:spcPts val="0"/>
                        </a:spcBef>
                        <a:spcAft>
                          <a:spcPts val="0"/>
                        </a:spcAft>
                      </a:pPr>
                      <a:r>
                        <a:rPr lang="ko-KR" altLang="en-US" sz="1200" kern="1200" dirty="0">
                          <a:solidFill>
                            <a:schemeClr val="tx2"/>
                          </a:solidFill>
                          <a:latin typeface="+mn-lt"/>
                          <a:ea typeface="+mn-ea"/>
                          <a:cs typeface="+mn-cs"/>
                        </a:rPr>
                        <a:t>○</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法</a:t>
                      </a:r>
                      <a:r>
                        <a:rPr lang="en-US" altLang="ko-KR" sz="1200" kern="1200" dirty="0">
                          <a:solidFill>
                            <a:schemeClr val="tx2"/>
                          </a:solidFill>
                          <a:latin typeface="+mn-lt"/>
                          <a:ea typeface="+mn-ea"/>
                          <a:cs typeface="+mn-cs"/>
                        </a:rPr>
                        <a:t>41</a:t>
                      </a:r>
                      <a:r>
                        <a:rPr lang="ko-KR" altLang="en-US" sz="1200" kern="1200" dirty="0">
                          <a:solidFill>
                            <a:schemeClr val="tx2"/>
                          </a:solidFill>
                          <a:latin typeface="+mn-lt"/>
                          <a:ea typeface="+mn-ea"/>
                          <a:cs typeface="+mn-cs"/>
                        </a:rPr>
                        <a:t>③</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rowSpan="2">
                  <a:txBody>
                    <a:bodyPr/>
                    <a:lstStyle/>
                    <a:p>
                      <a:pPr marL="133350" marR="31750" indent="-133350" algn="l" fontAlgn="base" latinLnBrk="1">
                        <a:lnSpc>
                          <a:spcPct val="130000"/>
                        </a:lnSpc>
                        <a:spcBef>
                          <a:spcPts val="0"/>
                        </a:spcBef>
                        <a:spcAft>
                          <a:spcPts val="0"/>
                        </a:spcAft>
                      </a:pPr>
                      <a:r>
                        <a:rPr lang="en-US" altLang="ko-KR" sz="1200" kern="1200" dirty="0">
                          <a:solidFill>
                            <a:schemeClr val="tx2"/>
                          </a:solidFill>
                          <a:latin typeface="+mn-lt"/>
                          <a:ea typeface="+mn-ea"/>
                          <a:cs typeface="+mn-cs"/>
                        </a:rPr>
                        <a:t>1.</a:t>
                      </a:r>
                      <a:r>
                        <a:rPr lang="ko-KR" altLang="en-US" sz="1200" kern="1200" dirty="0">
                          <a:solidFill>
                            <a:schemeClr val="tx2"/>
                          </a:solidFill>
                          <a:latin typeface="+mn-lt"/>
                          <a:ea typeface="+mn-ea"/>
                          <a:cs typeface="+mn-cs"/>
                        </a:rPr>
                        <a:t>위반시 특허를 받을 수 있는 권리 포기</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보상금청구권 포기 간주</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法 </a:t>
                      </a:r>
                      <a:r>
                        <a:rPr lang="en-US" altLang="ko-KR" sz="1200" kern="1200" dirty="0">
                          <a:solidFill>
                            <a:schemeClr val="tx2"/>
                          </a:solidFill>
                          <a:latin typeface="+mn-lt"/>
                          <a:ea typeface="+mn-ea"/>
                          <a:cs typeface="+mn-cs"/>
                        </a:rPr>
                        <a:t>41⑤⑥)</a:t>
                      </a:r>
                    </a:p>
                    <a:p>
                      <a:pPr marL="133350" marR="31750" indent="-133350" algn="l" fontAlgn="base" latinLnBrk="1">
                        <a:lnSpc>
                          <a:spcPct val="130000"/>
                        </a:lnSpc>
                        <a:spcBef>
                          <a:spcPts val="0"/>
                        </a:spcBef>
                        <a:spcAft>
                          <a:spcPts val="0"/>
                        </a:spcAft>
                      </a:pPr>
                      <a:r>
                        <a:rPr lang="en-US" altLang="ko-KR" sz="1200" kern="1200" dirty="0">
                          <a:solidFill>
                            <a:schemeClr val="tx2"/>
                          </a:solidFill>
                          <a:latin typeface="+mn-lt"/>
                          <a:ea typeface="+mn-ea"/>
                          <a:cs typeface="+mn-cs"/>
                        </a:rPr>
                        <a:t>2. </a:t>
                      </a:r>
                      <a:r>
                        <a:rPr lang="ko-KR" altLang="en-US" sz="1200" kern="1200" dirty="0">
                          <a:solidFill>
                            <a:schemeClr val="tx2"/>
                          </a:solidFill>
                          <a:latin typeface="+mn-lt"/>
                          <a:ea typeface="+mn-ea"/>
                          <a:cs typeface="+mn-cs"/>
                        </a:rPr>
                        <a:t>위반시 </a:t>
                      </a:r>
                      <a:r>
                        <a:rPr lang="en-US" altLang="ko-KR" sz="1200" kern="1200" dirty="0">
                          <a:solidFill>
                            <a:schemeClr val="tx2"/>
                          </a:solidFill>
                          <a:latin typeface="+mn-lt"/>
                          <a:ea typeface="+mn-ea"/>
                          <a:cs typeface="+mn-cs"/>
                        </a:rPr>
                        <a:t>5</a:t>
                      </a:r>
                      <a:r>
                        <a:rPr lang="ko-KR" altLang="en-US" sz="1200" kern="1200" dirty="0">
                          <a:solidFill>
                            <a:schemeClr val="tx2"/>
                          </a:solidFill>
                          <a:latin typeface="+mn-lt"/>
                          <a:ea typeface="+mn-ea"/>
                          <a:cs typeface="+mn-cs"/>
                        </a:rPr>
                        <a:t>년 이하의 징역 또는 </a:t>
                      </a:r>
                      <a:r>
                        <a:rPr lang="en-US" altLang="ko-KR" sz="1200" kern="1200" dirty="0">
                          <a:solidFill>
                            <a:schemeClr val="tx2"/>
                          </a:solidFill>
                          <a:latin typeface="+mn-lt"/>
                          <a:ea typeface="+mn-ea"/>
                          <a:cs typeface="+mn-cs"/>
                        </a:rPr>
                        <a:t>5</a:t>
                      </a:r>
                      <a:r>
                        <a:rPr lang="ko-KR" altLang="en-US" sz="1200" kern="1200" dirty="0">
                          <a:solidFill>
                            <a:schemeClr val="tx2"/>
                          </a:solidFill>
                          <a:latin typeface="+mn-lt"/>
                          <a:ea typeface="+mn-ea"/>
                          <a:cs typeface="+mn-cs"/>
                        </a:rPr>
                        <a:t>천만원 이하의 벌금형</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法 </a:t>
                      </a:r>
                      <a:r>
                        <a:rPr lang="en-US" altLang="ko-KR" sz="1200" kern="1200" dirty="0">
                          <a:solidFill>
                            <a:schemeClr val="tx2"/>
                          </a:solidFill>
                          <a:latin typeface="+mn-lt"/>
                          <a:ea typeface="+mn-ea"/>
                          <a:cs typeface="+mn-cs"/>
                        </a:rPr>
                        <a:t>229</a:t>
                      </a:r>
                      <a:r>
                        <a:rPr lang="ko-KR" altLang="en-US" sz="1200" kern="1200" dirty="0">
                          <a:solidFill>
                            <a:schemeClr val="tx2"/>
                          </a:solidFill>
                          <a:latin typeface="+mn-lt"/>
                          <a:ea typeface="+mn-ea"/>
                          <a:cs typeface="+mn-cs"/>
                        </a:rPr>
                        <a:t>의</a:t>
                      </a:r>
                      <a:r>
                        <a:rPr lang="en-US" altLang="ko-KR" sz="1200" kern="1200" dirty="0">
                          <a:solidFill>
                            <a:schemeClr val="tx2"/>
                          </a:solidFill>
                          <a:latin typeface="+mn-lt"/>
                          <a:ea typeface="+mn-ea"/>
                          <a:cs typeface="+mn-cs"/>
                        </a:rPr>
                        <a:t>3), </a:t>
                      </a:r>
                      <a:r>
                        <a:rPr lang="ko-KR" altLang="en-US" sz="1200" kern="1200" dirty="0" err="1">
                          <a:solidFill>
                            <a:schemeClr val="tx2"/>
                          </a:solidFill>
                          <a:latin typeface="+mn-lt"/>
                          <a:ea typeface="+mn-ea"/>
                          <a:cs typeface="+mn-cs"/>
                        </a:rPr>
                        <a:t>양벌규정</a:t>
                      </a:r>
                      <a:r>
                        <a:rPr lang="ko-KR" altLang="en-US" sz="1200" kern="1200" dirty="0">
                          <a:solidFill>
                            <a:schemeClr val="tx2"/>
                          </a:solidFill>
                          <a:latin typeface="+mn-lt"/>
                          <a:ea typeface="+mn-ea"/>
                          <a:cs typeface="+mn-cs"/>
                        </a:rPr>
                        <a:t> 적용</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法 </a:t>
                      </a:r>
                      <a:r>
                        <a:rPr lang="en-US" altLang="ko-KR" sz="1200" kern="1200" dirty="0">
                          <a:solidFill>
                            <a:schemeClr val="tx2"/>
                          </a:solidFill>
                          <a:latin typeface="+mn-lt"/>
                          <a:ea typeface="+mn-ea"/>
                          <a:cs typeface="+mn-cs"/>
                        </a:rPr>
                        <a:t>230)</a:t>
                      </a:r>
                      <a:endParaRPr lang="ko-KR" altLang="en-US" sz="1200" kern="1200" dirty="0">
                        <a:solidFill>
                          <a:schemeClr val="tx2"/>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123583">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20000"/>
                        </a:lnSpc>
                        <a:spcBef>
                          <a:spcPts val="0"/>
                        </a:spcBef>
                        <a:spcAft>
                          <a:spcPts val="0"/>
                        </a:spcAft>
                      </a:pPr>
                      <a:r>
                        <a:rPr lang="ko-KR" altLang="en-US" sz="1200" kern="1200" dirty="0">
                          <a:solidFill>
                            <a:schemeClr val="tx2"/>
                          </a:solidFill>
                          <a:latin typeface="+mn-lt"/>
                          <a:ea typeface="+mn-ea"/>
                          <a:cs typeface="+mn-cs"/>
                        </a:rPr>
                        <a:t>비밀취급명령</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2"/>
                  </a:ext>
                </a:extLst>
              </a:tr>
              <a:tr h="96535">
                <a:tc vMerge="1">
                  <a:txBody>
                    <a:bodyPr/>
                    <a:lstStyle/>
                    <a:p>
                      <a:pPr latinLnBrk="1"/>
                      <a:endParaRPr lang="ko-KR" altLang="en-US"/>
                    </a:p>
                  </a:txBody>
                  <a:tcPr/>
                </a:tc>
                <a:tc rowSpan="2">
                  <a:txBody>
                    <a:bodyPr/>
                    <a:lstStyle/>
                    <a:p>
                      <a:pPr marL="0" marR="0" indent="0" algn="ctr" fontAlgn="base" latinLnBrk="0">
                        <a:lnSpc>
                          <a:spcPct val="120000"/>
                        </a:lnSpc>
                        <a:spcBef>
                          <a:spcPts val="0"/>
                        </a:spcBef>
                        <a:spcAft>
                          <a:spcPts val="0"/>
                        </a:spcAft>
                      </a:pP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41</a:t>
                      </a:r>
                      <a:r>
                        <a:rPr lang="ko-KR" altLang="en-US" sz="1200" kern="1200" dirty="0">
                          <a:solidFill>
                            <a:schemeClr val="tx2"/>
                          </a:solidFill>
                          <a:latin typeface="+mn-lt"/>
                          <a:ea typeface="+mn-ea"/>
                          <a:cs typeface="+mn-cs"/>
                        </a:rPr>
                        <a:t>조</a:t>
                      </a:r>
                    </a:p>
                    <a:p>
                      <a:pPr marL="0" marR="0" indent="0" algn="ctr" fontAlgn="base" latinLnBrk="0">
                        <a:lnSpc>
                          <a:spcPct val="120000"/>
                        </a:lnSpc>
                        <a:spcBef>
                          <a:spcPts val="0"/>
                        </a:spcBef>
                        <a:spcAft>
                          <a:spcPts val="0"/>
                        </a:spcAft>
                      </a:pP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2</a:t>
                      </a:r>
                      <a:r>
                        <a:rPr lang="ko-KR" altLang="en-US" sz="1200" kern="1200" dirty="0">
                          <a:solidFill>
                            <a:schemeClr val="tx2"/>
                          </a:solidFill>
                          <a:latin typeface="+mn-lt"/>
                          <a:ea typeface="+mn-ea"/>
                          <a:cs typeface="+mn-cs"/>
                        </a:rPr>
                        <a:t>항</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20000"/>
                        </a:lnSpc>
                        <a:spcBef>
                          <a:spcPts val="0"/>
                        </a:spcBef>
                        <a:spcAft>
                          <a:spcPts val="0"/>
                        </a:spcAft>
                      </a:pPr>
                      <a:r>
                        <a:rPr lang="ko-KR" altLang="en-US" sz="1200" kern="1200">
                          <a:solidFill>
                            <a:schemeClr val="tx2"/>
                          </a:solidFill>
                          <a:latin typeface="+mn-lt"/>
                          <a:ea typeface="+mn-ea"/>
                          <a:cs typeface="+mn-cs"/>
                        </a:rPr>
                        <a:t>불특허</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latinLnBrk="1"/>
                      <a:endParaRPr lang="ko-KR" altLang="en-US"/>
                    </a:p>
                  </a:txBody>
                  <a:tcPr/>
                </a:tc>
                <a:tc rowSpan="2">
                  <a:txBody>
                    <a:bodyPr/>
                    <a:lstStyle/>
                    <a:p>
                      <a:pPr marL="31750" marR="31750" indent="0" algn="ctr" fontAlgn="base" latinLnBrk="0">
                        <a:lnSpc>
                          <a:spcPct val="130000"/>
                        </a:lnSpc>
                        <a:spcBef>
                          <a:spcPts val="0"/>
                        </a:spcBef>
                        <a:spcAft>
                          <a:spcPts val="0"/>
                        </a:spcAft>
                      </a:pPr>
                      <a:r>
                        <a:rPr lang="ko-KR" altLang="en-US" sz="1200" kern="1200" dirty="0">
                          <a:solidFill>
                            <a:schemeClr val="tx2"/>
                          </a:solidFill>
                          <a:latin typeface="+mn-lt"/>
                          <a:ea typeface="+mn-ea"/>
                          <a:cs typeface="+mn-cs"/>
                        </a:rPr>
                        <a:t>○</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法 </a:t>
                      </a:r>
                      <a:r>
                        <a:rPr lang="en-US" altLang="ko-KR" sz="1200" kern="1200" dirty="0">
                          <a:solidFill>
                            <a:schemeClr val="tx2"/>
                          </a:solidFill>
                          <a:latin typeface="+mn-lt"/>
                          <a:ea typeface="+mn-ea"/>
                          <a:cs typeface="+mn-cs"/>
                        </a:rPr>
                        <a:t>41</a:t>
                      </a:r>
                      <a:r>
                        <a:rPr lang="ko-KR" altLang="en-US" sz="1200" kern="1200" dirty="0">
                          <a:solidFill>
                            <a:schemeClr val="tx2"/>
                          </a:solidFill>
                          <a:latin typeface="+mn-lt"/>
                          <a:ea typeface="+mn-ea"/>
                          <a:cs typeface="+mn-cs"/>
                        </a:rPr>
                        <a:t>④</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rowSpan="2">
                  <a:txBody>
                    <a:bodyPr/>
                    <a:lstStyle/>
                    <a:p>
                      <a:pPr marL="31750" marR="31750" indent="0" algn="l" fontAlgn="base" latinLnBrk="1">
                        <a:lnSpc>
                          <a:spcPct val="130000"/>
                        </a:lnSpc>
                        <a:spcBef>
                          <a:spcPts val="0"/>
                        </a:spcBef>
                        <a:spcAft>
                          <a:spcPts val="0"/>
                        </a:spcAft>
                      </a:pPr>
                      <a:endParaRPr lang="ko-KR" altLang="en-US" sz="1200" kern="1200" dirty="0">
                        <a:solidFill>
                          <a:schemeClr val="tx2"/>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3"/>
                  </a:ext>
                </a:extLst>
              </a:tr>
              <a:tr h="96535">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20000"/>
                        </a:lnSpc>
                        <a:spcBef>
                          <a:spcPts val="0"/>
                        </a:spcBef>
                        <a:spcAft>
                          <a:spcPts val="0"/>
                        </a:spcAft>
                      </a:pPr>
                      <a:r>
                        <a:rPr lang="ko-KR" altLang="en-US" sz="1200" kern="1200">
                          <a:solidFill>
                            <a:schemeClr val="tx2"/>
                          </a:solidFill>
                          <a:latin typeface="+mn-lt"/>
                          <a:ea typeface="+mn-ea"/>
                          <a:cs typeface="+mn-cs"/>
                        </a:rPr>
                        <a:t>수용</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rowSpan="2">
                  <a:txBody>
                    <a:bodyPr/>
                    <a:lstStyle/>
                    <a:p>
                      <a:pPr marL="31750" marR="31750" indent="0" algn="ctr" fontAlgn="base" latinLnBrk="0">
                        <a:lnSpc>
                          <a:spcPct val="130000"/>
                        </a:lnSpc>
                        <a:spcBef>
                          <a:spcPts val="0"/>
                        </a:spcBef>
                        <a:spcAft>
                          <a:spcPts val="0"/>
                        </a:spcAft>
                      </a:pPr>
                      <a:r>
                        <a:rPr lang="ko-KR" altLang="en-US" sz="1200" kern="1200" dirty="0" err="1">
                          <a:solidFill>
                            <a:schemeClr val="tx2"/>
                          </a:solidFill>
                          <a:latin typeface="+mn-lt"/>
                          <a:ea typeface="+mn-ea"/>
                          <a:cs typeface="+mn-cs"/>
                        </a:rPr>
                        <a:t>전시ㆍ사변</a:t>
                      </a:r>
                      <a:r>
                        <a:rPr lang="ko-KR" altLang="en-US" sz="1200" kern="1200" dirty="0">
                          <a:solidFill>
                            <a:schemeClr val="tx2"/>
                          </a:solidFill>
                          <a:latin typeface="+mn-lt"/>
                          <a:ea typeface="+mn-ea"/>
                          <a:cs typeface="+mn-cs"/>
                        </a:rPr>
                        <a:t> 또는 이에 준하는 비상시에 국방상 필요</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4"/>
                  </a:ext>
                </a:extLst>
              </a:tr>
              <a:tr h="219673">
                <a:tc>
                  <a:txBody>
                    <a:bodyPr/>
                    <a:lstStyle/>
                    <a:p>
                      <a:pPr marL="0" marR="0" indent="0" algn="ctr" fontAlgn="base" latinLnBrk="0">
                        <a:lnSpc>
                          <a:spcPct val="120000"/>
                        </a:lnSpc>
                        <a:spcBef>
                          <a:spcPts val="0"/>
                        </a:spcBef>
                        <a:spcAft>
                          <a:spcPts val="0"/>
                        </a:spcAft>
                      </a:pPr>
                      <a:r>
                        <a:rPr lang="ko-KR" altLang="en-US" sz="1200" kern="1200" dirty="0">
                          <a:solidFill>
                            <a:schemeClr val="tx2"/>
                          </a:solidFill>
                          <a:latin typeface="+mn-lt"/>
                          <a:ea typeface="+mn-ea"/>
                          <a:cs typeface="+mn-cs"/>
                        </a:rPr>
                        <a:t>등록 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20000"/>
                        </a:lnSpc>
                        <a:spcBef>
                          <a:spcPts val="0"/>
                        </a:spcBef>
                        <a:spcAft>
                          <a:spcPts val="0"/>
                        </a:spcAft>
                      </a:pP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106</a:t>
                      </a:r>
                      <a:r>
                        <a:rPr lang="ko-KR" altLang="en-US" sz="1200" kern="1200" dirty="0">
                          <a:solidFill>
                            <a:schemeClr val="tx2"/>
                          </a:solidFill>
                          <a:latin typeface="+mn-lt"/>
                          <a:ea typeface="+mn-ea"/>
                          <a:cs typeface="+mn-cs"/>
                        </a:rPr>
                        <a:t>조</a:t>
                      </a:r>
                    </a:p>
                    <a:p>
                      <a:pPr marL="0" marR="0" indent="0" algn="ctr" fontAlgn="base" latinLnBrk="0">
                        <a:lnSpc>
                          <a:spcPct val="120000"/>
                        </a:lnSpc>
                        <a:spcBef>
                          <a:spcPts val="0"/>
                        </a:spcBef>
                        <a:spcAft>
                          <a:spcPts val="0"/>
                        </a:spcAft>
                      </a:pP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1</a:t>
                      </a:r>
                      <a:r>
                        <a:rPr lang="ko-KR" altLang="en-US" sz="1200" kern="1200" dirty="0">
                          <a:solidFill>
                            <a:schemeClr val="tx2"/>
                          </a:solidFill>
                          <a:latin typeface="+mn-lt"/>
                          <a:ea typeface="+mn-ea"/>
                          <a:cs typeface="+mn-cs"/>
                        </a:rPr>
                        <a:t>항</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20000"/>
                        </a:lnSpc>
                        <a:spcBef>
                          <a:spcPts val="0"/>
                        </a:spcBef>
                        <a:spcAft>
                          <a:spcPts val="0"/>
                        </a:spcAft>
                      </a:pPr>
                      <a:r>
                        <a:rPr lang="ko-KR" altLang="en-US" sz="1200" kern="1200" dirty="0">
                          <a:solidFill>
                            <a:schemeClr val="tx2"/>
                          </a:solidFill>
                          <a:latin typeface="+mn-lt"/>
                          <a:ea typeface="+mn-ea"/>
                          <a:cs typeface="+mn-cs"/>
                        </a:rPr>
                        <a:t>수용</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latinLnBrk="1"/>
                      <a:endParaRPr lang="ko-KR" altLang="en-US"/>
                    </a:p>
                  </a:txBody>
                  <a:tcPr/>
                </a:tc>
                <a:tc>
                  <a:txBody>
                    <a:bodyPr/>
                    <a:lstStyle/>
                    <a:p>
                      <a:pPr marL="31750" marR="31750" indent="0" algn="ctr" fontAlgn="base" latinLnBrk="0">
                        <a:lnSpc>
                          <a:spcPct val="130000"/>
                        </a:lnSpc>
                        <a:spcBef>
                          <a:spcPts val="0"/>
                        </a:spcBef>
                        <a:spcAft>
                          <a:spcPts val="0"/>
                        </a:spcAft>
                      </a:pPr>
                      <a:r>
                        <a:rPr lang="ko-KR" altLang="en-US" sz="1200" kern="1200" dirty="0">
                          <a:solidFill>
                            <a:schemeClr val="tx2"/>
                          </a:solidFill>
                          <a:latin typeface="+mn-lt"/>
                          <a:ea typeface="+mn-ea"/>
                          <a:cs typeface="+mn-cs"/>
                        </a:rPr>
                        <a:t>○</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法 </a:t>
                      </a:r>
                      <a:r>
                        <a:rPr lang="en-US" altLang="ko-KR" sz="1200" kern="1200" dirty="0">
                          <a:solidFill>
                            <a:schemeClr val="tx2"/>
                          </a:solidFill>
                          <a:latin typeface="+mn-lt"/>
                          <a:ea typeface="+mn-ea"/>
                          <a:cs typeface="+mn-cs"/>
                        </a:rPr>
                        <a:t>106</a:t>
                      </a:r>
                      <a:r>
                        <a:rPr lang="ko-KR" altLang="en-US" sz="1200" kern="1200" dirty="0">
                          <a:solidFill>
                            <a:schemeClr val="tx2"/>
                          </a:solidFill>
                          <a:latin typeface="+mn-lt"/>
                          <a:ea typeface="+mn-ea"/>
                          <a:cs typeface="+mn-cs"/>
                        </a:rPr>
                        <a:t>③</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44780" marR="31750" indent="-144780" algn="l" fontAlgn="base" latinLnBrk="1">
                        <a:lnSpc>
                          <a:spcPct val="130000"/>
                        </a:lnSpc>
                        <a:spcBef>
                          <a:spcPts val="0"/>
                        </a:spcBef>
                        <a:spcAft>
                          <a:spcPts val="0"/>
                        </a:spcAft>
                      </a:pPr>
                      <a:r>
                        <a:rPr lang="en-US" altLang="ko-KR" sz="1200" kern="1200" dirty="0">
                          <a:solidFill>
                            <a:schemeClr val="tx2"/>
                          </a:solidFill>
                          <a:latin typeface="+mn-lt"/>
                          <a:ea typeface="+mn-ea"/>
                          <a:cs typeface="+mn-cs"/>
                        </a:rPr>
                        <a:t>1. </a:t>
                      </a:r>
                      <a:r>
                        <a:rPr lang="ko-KR" altLang="en-US" sz="1200" kern="1200" dirty="0">
                          <a:solidFill>
                            <a:schemeClr val="tx2"/>
                          </a:solidFill>
                          <a:latin typeface="+mn-lt"/>
                          <a:ea typeface="+mn-ea"/>
                          <a:cs typeface="+mn-cs"/>
                        </a:rPr>
                        <a:t>특허권 이외의 권리 소멸</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法 </a:t>
                      </a:r>
                      <a:r>
                        <a:rPr lang="en-US" altLang="ko-KR" sz="1200" kern="1200" dirty="0">
                          <a:solidFill>
                            <a:schemeClr val="tx2"/>
                          </a:solidFill>
                          <a:latin typeface="+mn-lt"/>
                          <a:ea typeface="+mn-ea"/>
                          <a:cs typeface="+mn-cs"/>
                        </a:rPr>
                        <a:t>106</a:t>
                      </a:r>
                      <a:r>
                        <a:rPr lang="ko-KR" altLang="en-US" sz="1200" kern="1200" dirty="0">
                          <a:solidFill>
                            <a:schemeClr val="tx2"/>
                          </a:solidFill>
                          <a:latin typeface="+mn-lt"/>
                          <a:ea typeface="+mn-ea"/>
                          <a:cs typeface="+mn-cs"/>
                        </a:rPr>
                        <a:t>②</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132080" marR="31750" indent="-132080" algn="l" fontAlgn="base" latinLnBrk="1">
                        <a:lnSpc>
                          <a:spcPct val="130000"/>
                        </a:lnSpc>
                        <a:spcBef>
                          <a:spcPts val="0"/>
                        </a:spcBef>
                        <a:spcAft>
                          <a:spcPts val="0"/>
                        </a:spcAft>
                      </a:pPr>
                      <a:r>
                        <a:rPr lang="en-US" altLang="ko-KR" sz="1200" kern="1200" dirty="0">
                          <a:solidFill>
                            <a:schemeClr val="tx2"/>
                          </a:solidFill>
                          <a:latin typeface="+mn-lt"/>
                          <a:ea typeface="+mn-ea"/>
                          <a:cs typeface="+mn-cs"/>
                        </a:rPr>
                        <a:t>2. </a:t>
                      </a:r>
                      <a:r>
                        <a:rPr lang="ko-KR" altLang="en-US" sz="1200" kern="1200" dirty="0" err="1">
                          <a:solidFill>
                            <a:schemeClr val="tx2"/>
                          </a:solidFill>
                          <a:latin typeface="+mn-lt"/>
                          <a:ea typeface="+mn-ea"/>
                          <a:cs typeface="+mn-cs"/>
                        </a:rPr>
                        <a:t>질권자는</a:t>
                      </a:r>
                      <a:r>
                        <a:rPr lang="ko-KR" altLang="en-US" sz="1200" kern="1200" dirty="0">
                          <a:solidFill>
                            <a:schemeClr val="tx2"/>
                          </a:solidFill>
                          <a:latin typeface="+mn-lt"/>
                          <a:ea typeface="+mn-ea"/>
                          <a:cs typeface="+mn-cs"/>
                        </a:rPr>
                        <a:t> 보상받지 못함</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∵물상대위가능</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法 </a:t>
                      </a:r>
                      <a:r>
                        <a:rPr lang="en-US" altLang="ko-KR" sz="1200" kern="1200" dirty="0">
                          <a:solidFill>
                            <a:schemeClr val="tx2"/>
                          </a:solidFill>
                          <a:latin typeface="+mn-lt"/>
                          <a:ea typeface="+mn-ea"/>
                          <a:cs typeface="+mn-cs"/>
                        </a:rPr>
                        <a:t>123))</a:t>
                      </a:r>
                      <a:endParaRPr lang="ko-KR" altLang="en-US" sz="1200" kern="1200" dirty="0">
                        <a:solidFill>
                          <a:schemeClr val="tx2"/>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98</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264389981"/>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sz="2000" dirty="0"/>
              <a:t>제</a:t>
            </a:r>
            <a:r>
              <a:rPr lang="en-US" altLang="ko-KR" sz="2000" dirty="0"/>
              <a:t>25</a:t>
            </a:r>
            <a:r>
              <a:rPr lang="ko-KR" altLang="en-US" sz="2000" dirty="0"/>
              <a:t>조</a:t>
            </a:r>
            <a:r>
              <a:rPr lang="en-US" altLang="ko-KR" sz="2000" dirty="0"/>
              <a:t>, </a:t>
            </a:r>
            <a:r>
              <a:rPr lang="ko-KR" altLang="en-US" sz="2000" dirty="0"/>
              <a:t>제</a:t>
            </a:r>
            <a:r>
              <a:rPr lang="en-US" altLang="ko-KR" sz="2000" dirty="0"/>
              <a:t>33</a:t>
            </a:r>
            <a:r>
              <a:rPr lang="ko-KR" altLang="en-US" sz="2000" dirty="0"/>
              <a:t>조</a:t>
            </a:r>
            <a:r>
              <a:rPr lang="en-US" altLang="ko-KR" sz="2000" dirty="0"/>
              <a:t>, </a:t>
            </a:r>
            <a:r>
              <a:rPr lang="ko-KR" altLang="en-US" sz="2000" dirty="0"/>
              <a:t>제</a:t>
            </a:r>
            <a:r>
              <a:rPr lang="en-US" altLang="ko-KR" sz="2000" dirty="0"/>
              <a:t>44</a:t>
            </a:r>
            <a:r>
              <a:rPr lang="ko-KR" altLang="en-US" sz="2000" dirty="0"/>
              <a:t>조</a:t>
            </a:r>
          </a:p>
        </p:txBody>
      </p:sp>
      <p:sp>
        <p:nvSpPr>
          <p:cNvPr id="4" name="텍스트 개체 틀 3"/>
          <p:cNvSpPr>
            <a:spLocks noGrp="1"/>
          </p:cNvSpPr>
          <p:nvPr>
            <p:ph type="body" sz="quarter" idx="13"/>
          </p:nvPr>
        </p:nvSpPr>
        <p:spPr/>
        <p:txBody>
          <a:bodyPr/>
          <a:lstStyle/>
          <a:p>
            <a:r>
              <a:rPr lang="ko-KR" altLang="en-US"/>
              <a:t>출원인 </a:t>
            </a:r>
            <a:endParaRPr lang="ko-KR" altLang="en-US" dirty="0"/>
          </a:p>
        </p:txBody>
      </p:sp>
      <p:cxnSp>
        <p:nvCxnSpPr>
          <p:cNvPr id="43" name="직선 연결선 42"/>
          <p:cNvCxnSpPr/>
          <p:nvPr/>
        </p:nvCxnSpPr>
        <p:spPr>
          <a:xfrm>
            <a:off x="0" y="151703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77875" y="986046"/>
            <a:ext cx="11936323"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출원인이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되기 위해서는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ⅰ)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일반적인 권리의 주체가 될 수 있는 능력인 권리능력이 있어야 하며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ⅱ)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권리능력이 있는 자라 하더라도 해당 발명에 대한 권리의 주체가 될 수 있는 권리적격이 있어야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p>
        </p:txBody>
      </p:sp>
      <p:sp>
        <p:nvSpPr>
          <p:cNvPr id="10" name="다이아몬드 9"/>
          <p:cNvSpPr/>
          <p:nvPr/>
        </p:nvSpPr>
        <p:spPr>
          <a:xfrm>
            <a:off x="3141397" y="1811839"/>
            <a:ext cx="1524000" cy="1151467"/>
          </a:xfrm>
          <a:prstGeom prst="diamond">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권리</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능력자 </a:t>
            </a:r>
          </a:p>
        </p:txBody>
      </p:sp>
      <p:sp>
        <p:nvSpPr>
          <p:cNvPr id="48" name="다이아몬드 47"/>
          <p:cNvSpPr/>
          <p:nvPr/>
        </p:nvSpPr>
        <p:spPr>
          <a:xfrm>
            <a:off x="3141397" y="3539039"/>
            <a:ext cx="1524000" cy="1151467"/>
          </a:xfrm>
          <a:prstGeom prst="diamond">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권리</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적격자 </a:t>
            </a:r>
          </a:p>
        </p:txBody>
      </p:sp>
      <p:sp>
        <p:nvSpPr>
          <p:cNvPr id="13" name="직사각형 12"/>
          <p:cNvSpPr/>
          <p:nvPr/>
        </p:nvSpPr>
        <p:spPr>
          <a:xfrm>
            <a:off x="349623" y="2662388"/>
            <a:ext cx="1902522" cy="62805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실체심사</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외국인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25</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위반의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거절이유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1" name="직사각형 70"/>
          <p:cNvSpPr/>
          <p:nvPr/>
        </p:nvSpPr>
        <p:spPr>
          <a:xfrm>
            <a:off x="349624" y="3795025"/>
            <a:ext cx="1902522" cy="628055"/>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실체심사</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 본문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단서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위반의 거절이유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2" name="직선 화살표 연결선 71"/>
          <p:cNvCxnSpPr>
            <a:cxnSpLocks/>
            <a:stCxn id="48" idx="1"/>
            <a:endCxn id="71" idx="3"/>
          </p:cNvCxnSpPr>
          <p:nvPr/>
        </p:nvCxnSpPr>
        <p:spPr>
          <a:xfrm flipH="1" flipV="1">
            <a:off x="2252146" y="4109053"/>
            <a:ext cx="889251" cy="5720"/>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직사각형 72"/>
          <p:cNvSpPr/>
          <p:nvPr/>
        </p:nvSpPr>
        <p:spPr>
          <a:xfrm>
            <a:off x="3285288" y="5228136"/>
            <a:ext cx="1236208" cy="503789"/>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등록가능</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5" name="직선 화살표 연결선 24"/>
          <p:cNvCxnSpPr>
            <a:cxnSpLocks/>
            <a:stCxn id="10" idx="2"/>
            <a:endCxn id="48" idx="0"/>
          </p:cNvCxnSpPr>
          <p:nvPr/>
        </p:nvCxnSpPr>
        <p:spPr>
          <a:xfrm>
            <a:off x="3903397" y="2963306"/>
            <a:ext cx="0" cy="575733"/>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직선 화살표 연결선 82"/>
          <p:cNvCxnSpPr>
            <a:cxnSpLocks/>
            <a:stCxn id="48" idx="2"/>
            <a:endCxn id="73" idx="0"/>
          </p:cNvCxnSpPr>
          <p:nvPr/>
        </p:nvCxnSpPr>
        <p:spPr>
          <a:xfrm flipH="1">
            <a:off x="3903392" y="4690506"/>
            <a:ext cx="5" cy="537630"/>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3878064" y="2921374"/>
            <a:ext cx="482600" cy="2616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Yes</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5" name="TextBox 84"/>
          <p:cNvSpPr txBox="1"/>
          <p:nvPr/>
        </p:nvSpPr>
        <p:spPr>
          <a:xfrm>
            <a:off x="3874772" y="4733750"/>
            <a:ext cx="482600" cy="2616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Yes</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6" name="TextBox 85"/>
          <p:cNvSpPr txBox="1"/>
          <p:nvPr/>
        </p:nvSpPr>
        <p:spPr>
          <a:xfrm>
            <a:off x="2816724" y="2122723"/>
            <a:ext cx="482600" cy="2616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No</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8" name="TextBox 87"/>
          <p:cNvSpPr txBox="1"/>
          <p:nvPr/>
        </p:nvSpPr>
        <p:spPr>
          <a:xfrm>
            <a:off x="2771779" y="3834333"/>
            <a:ext cx="482600" cy="2616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No</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 name="TextBox 1"/>
          <p:cNvSpPr txBox="1"/>
          <p:nvPr/>
        </p:nvSpPr>
        <p:spPr>
          <a:xfrm>
            <a:off x="5046151" y="1879575"/>
            <a:ext cx="564578" cy="261610"/>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내국인</a:t>
            </a:r>
          </a:p>
        </p:txBody>
      </p:sp>
      <p:sp>
        <p:nvSpPr>
          <p:cNvPr id="20" name="TextBox 19"/>
          <p:cNvSpPr txBox="1"/>
          <p:nvPr/>
        </p:nvSpPr>
        <p:spPr>
          <a:xfrm>
            <a:off x="5046151" y="2574313"/>
            <a:ext cx="564578" cy="261610"/>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외국인</a:t>
            </a:r>
          </a:p>
        </p:txBody>
      </p:sp>
      <p:cxnSp>
        <p:nvCxnSpPr>
          <p:cNvPr id="8" name="꺾인 연결선 7"/>
          <p:cNvCxnSpPr>
            <a:cxnSpLocks/>
            <a:stCxn id="10" idx="3"/>
            <a:endCxn id="2" idx="1"/>
          </p:cNvCxnSpPr>
          <p:nvPr/>
        </p:nvCxnSpPr>
        <p:spPr>
          <a:xfrm flipV="1">
            <a:off x="4665397" y="2010380"/>
            <a:ext cx="380754" cy="37719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꺾인 연결선 10"/>
          <p:cNvCxnSpPr>
            <a:cxnSpLocks/>
            <a:stCxn id="10" idx="3"/>
            <a:endCxn id="20" idx="1"/>
          </p:cNvCxnSpPr>
          <p:nvPr/>
        </p:nvCxnSpPr>
        <p:spPr>
          <a:xfrm>
            <a:off x="4665397" y="2387573"/>
            <a:ext cx="380754" cy="31754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6037587" y="2244946"/>
            <a:ext cx="564578" cy="261610"/>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재내자</a:t>
            </a:r>
          </a:p>
        </p:txBody>
      </p:sp>
      <p:sp>
        <p:nvSpPr>
          <p:cNvPr id="30" name="TextBox 29"/>
          <p:cNvSpPr txBox="1"/>
          <p:nvPr/>
        </p:nvSpPr>
        <p:spPr>
          <a:xfrm>
            <a:off x="6037587" y="2838080"/>
            <a:ext cx="564578" cy="261610"/>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재외자</a:t>
            </a:r>
          </a:p>
        </p:txBody>
      </p:sp>
      <p:cxnSp>
        <p:nvCxnSpPr>
          <p:cNvPr id="17" name="꺾인 연결선 16"/>
          <p:cNvCxnSpPr>
            <a:stCxn id="20" idx="3"/>
            <a:endCxn id="29" idx="1"/>
          </p:cNvCxnSpPr>
          <p:nvPr/>
        </p:nvCxnSpPr>
        <p:spPr>
          <a:xfrm flipV="1">
            <a:off x="5610729" y="2375751"/>
            <a:ext cx="426858" cy="32936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20" idx="3"/>
            <a:endCxn id="30" idx="1"/>
          </p:cNvCxnSpPr>
          <p:nvPr/>
        </p:nvCxnSpPr>
        <p:spPr>
          <a:xfrm>
            <a:off x="5610729" y="2705118"/>
            <a:ext cx="426858" cy="26376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5046151" y="3594926"/>
            <a:ext cx="564578" cy="261610"/>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발명자</a:t>
            </a:r>
          </a:p>
        </p:txBody>
      </p:sp>
      <p:sp>
        <p:nvSpPr>
          <p:cNvPr id="36" name="TextBox 35"/>
          <p:cNvSpPr txBox="1"/>
          <p:nvPr/>
        </p:nvSpPr>
        <p:spPr>
          <a:xfrm>
            <a:off x="5046151" y="3984852"/>
            <a:ext cx="564578" cy="261610"/>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승계인</a:t>
            </a:r>
          </a:p>
        </p:txBody>
      </p:sp>
      <p:cxnSp>
        <p:nvCxnSpPr>
          <p:cNvPr id="37" name="꺾인 연결선 36"/>
          <p:cNvCxnSpPr>
            <a:cxnSpLocks/>
            <a:stCxn id="48" idx="3"/>
            <a:endCxn id="35" idx="1"/>
          </p:cNvCxnSpPr>
          <p:nvPr/>
        </p:nvCxnSpPr>
        <p:spPr>
          <a:xfrm flipV="1">
            <a:off x="4665397" y="3725731"/>
            <a:ext cx="380754" cy="38904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cxnSpLocks/>
            <a:stCxn id="48" idx="3"/>
            <a:endCxn id="36" idx="1"/>
          </p:cNvCxnSpPr>
          <p:nvPr/>
        </p:nvCxnSpPr>
        <p:spPr>
          <a:xfrm>
            <a:off x="4665397" y="4114773"/>
            <a:ext cx="380754" cy="88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5046151" y="4360325"/>
            <a:ext cx="1544012" cy="261610"/>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지식재산처</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심판원 직원</a:t>
            </a:r>
          </a:p>
        </p:txBody>
      </p:sp>
      <p:sp>
        <p:nvSpPr>
          <p:cNvPr id="49" name="TextBox 48"/>
          <p:cNvSpPr txBox="1"/>
          <p:nvPr/>
        </p:nvSpPr>
        <p:spPr>
          <a:xfrm>
            <a:off x="5046151" y="4750251"/>
            <a:ext cx="1426357" cy="261610"/>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공동발명</a:t>
            </a:r>
          </a:p>
        </p:txBody>
      </p:sp>
      <p:cxnSp>
        <p:nvCxnSpPr>
          <p:cNvPr id="32" name="꺾인 연결선 31"/>
          <p:cNvCxnSpPr>
            <a:cxnSpLocks/>
            <a:stCxn id="48" idx="3"/>
            <a:endCxn id="49" idx="1"/>
          </p:cNvCxnSpPr>
          <p:nvPr/>
        </p:nvCxnSpPr>
        <p:spPr>
          <a:xfrm>
            <a:off x="4665397" y="4114773"/>
            <a:ext cx="380754" cy="76628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꺾인 연결선 33"/>
          <p:cNvCxnSpPr>
            <a:cxnSpLocks/>
            <a:stCxn id="48" idx="3"/>
            <a:endCxn id="47" idx="1"/>
          </p:cNvCxnSpPr>
          <p:nvPr/>
        </p:nvCxnSpPr>
        <p:spPr>
          <a:xfrm>
            <a:off x="4665397" y="4114773"/>
            <a:ext cx="380754" cy="37635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5623784" y="1879575"/>
            <a:ext cx="3239990" cy="261610"/>
          </a:xfrm>
          <a:prstGeom prst="rect">
            <a:avLst/>
          </a:prstGeom>
          <a:no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재내외자</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불문하고 자연인</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법인의 경우 권리능력 인정</a:t>
            </a:r>
          </a:p>
        </p:txBody>
      </p:sp>
      <p:sp>
        <p:nvSpPr>
          <p:cNvPr id="57" name="TextBox 56"/>
          <p:cNvSpPr txBox="1"/>
          <p:nvPr/>
        </p:nvSpPr>
        <p:spPr>
          <a:xfrm>
            <a:off x="6602165" y="2254682"/>
            <a:ext cx="982961" cy="261610"/>
          </a:xfrm>
          <a:prstGeom prst="rect">
            <a:avLst/>
          </a:prstGeom>
          <a:no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권리능력 인정</a:t>
            </a:r>
          </a:p>
        </p:txBody>
      </p:sp>
      <p:sp>
        <p:nvSpPr>
          <p:cNvPr id="59" name="TextBox 58"/>
          <p:cNvSpPr txBox="1"/>
          <p:nvPr/>
        </p:nvSpPr>
        <p:spPr>
          <a:xfrm>
            <a:off x="6811356" y="2652673"/>
            <a:ext cx="437940" cy="261610"/>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원칙</a:t>
            </a:r>
          </a:p>
        </p:txBody>
      </p:sp>
      <p:sp>
        <p:nvSpPr>
          <p:cNvPr id="60" name="TextBox 59"/>
          <p:cNvSpPr txBox="1"/>
          <p:nvPr/>
        </p:nvSpPr>
        <p:spPr>
          <a:xfrm>
            <a:off x="6811356" y="3028835"/>
            <a:ext cx="437940" cy="261610"/>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예외</a:t>
            </a:r>
          </a:p>
        </p:txBody>
      </p:sp>
      <p:cxnSp>
        <p:nvCxnSpPr>
          <p:cNvPr id="51" name="꺾인 연결선 50"/>
          <p:cNvCxnSpPr>
            <a:stCxn id="30" idx="3"/>
            <a:endCxn id="59" idx="1"/>
          </p:cNvCxnSpPr>
          <p:nvPr/>
        </p:nvCxnSpPr>
        <p:spPr>
          <a:xfrm flipV="1">
            <a:off x="6602165" y="2783478"/>
            <a:ext cx="209191" cy="185407"/>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꺾인 연결선 52"/>
          <p:cNvCxnSpPr>
            <a:stCxn id="30" idx="3"/>
            <a:endCxn id="60" idx="1"/>
          </p:cNvCxnSpPr>
          <p:nvPr/>
        </p:nvCxnSpPr>
        <p:spPr>
          <a:xfrm>
            <a:off x="6602165" y="2968885"/>
            <a:ext cx="209191" cy="19075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7243779" y="2652673"/>
            <a:ext cx="1109599" cy="261610"/>
          </a:xfrm>
          <a:prstGeom prst="rect">
            <a:avLst/>
          </a:prstGeom>
          <a:no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a:ln>
                  <a:noFill/>
                </a:ln>
                <a:solidFill>
                  <a:prstClr val="black"/>
                </a:solidFill>
                <a:effectLst/>
                <a:uLnTx/>
                <a:uFillTx/>
                <a:latin typeface="Frutiger LT 65 Bold"/>
                <a:ea typeface="Rix모던고딕 B"/>
                <a:cs typeface="+mn-cs"/>
              </a:rPr>
              <a:t>권리능력 불인정</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6" name="TextBox 65"/>
          <p:cNvSpPr txBox="1"/>
          <p:nvPr/>
        </p:nvSpPr>
        <p:spPr>
          <a:xfrm>
            <a:off x="7243779" y="3039062"/>
            <a:ext cx="4030270" cy="261610"/>
          </a:xfrm>
          <a:prstGeom prst="rect">
            <a:avLst/>
          </a:prstGeom>
          <a:noFill/>
          <a:ln>
            <a:no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권리능력 인정</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상호주의</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25Ⅰ,Ⅱ),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조약에 의한 경우</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25Ⅲ)</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4" name="모서리가 둥근 사각형 설명선 53"/>
          <p:cNvSpPr/>
          <p:nvPr/>
        </p:nvSpPr>
        <p:spPr>
          <a:xfrm>
            <a:off x="499542" y="4602866"/>
            <a:ext cx="2616200" cy="399620"/>
          </a:xfrm>
          <a:prstGeom prst="wedgeRoundRectCallout">
            <a:avLst>
              <a:gd name="adj1" fmla="val 50516"/>
              <a:gd name="adj2" fmla="val -155724"/>
              <a:gd name="adj3" fmla="val 16667"/>
            </a:avLst>
          </a:pr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정당한 권리자</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권리를 가진 자</a:t>
            </a:r>
          </a:p>
        </p:txBody>
      </p:sp>
      <p:sp>
        <p:nvSpPr>
          <p:cNvPr id="68" name="TextBox 67"/>
          <p:cNvSpPr txBox="1"/>
          <p:nvPr/>
        </p:nvSpPr>
        <p:spPr>
          <a:xfrm>
            <a:off x="5623784" y="3594926"/>
            <a:ext cx="2730235" cy="261610"/>
          </a:xfrm>
          <a:prstGeom prst="rect">
            <a:avLst/>
          </a:prstGeom>
          <a:noFill/>
          <a:ln>
            <a:noFill/>
          </a:ln>
        </p:spPr>
        <p:txBody>
          <a:bodyPr wrap="non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자연인 ○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법인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발명행위는 사실행위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9" name="TextBox 68"/>
          <p:cNvSpPr txBox="1"/>
          <p:nvPr/>
        </p:nvSpPr>
        <p:spPr>
          <a:xfrm>
            <a:off x="5623784" y="3992859"/>
            <a:ext cx="1279517" cy="261610"/>
          </a:xfrm>
          <a:prstGeom prst="rect">
            <a:avLst/>
          </a:prstGeom>
          <a:noFill/>
          <a:ln>
            <a:noFill/>
          </a:ln>
        </p:spPr>
        <p:txBody>
          <a:bodyPr wrap="non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자연인 ○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법인 ○</a:t>
            </a:r>
          </a:p>
        </p:txBody>
      </p:sp>
      <p:sp>
        <p:nvSpPr>
          <p:cNvPr id="70" name="TextBox 69"/>
          <p:cNvSpPr txBox="1"/>
          <p:nvPr/>
        </p:nvSpPr>
        <p:spPr>
          <a:xfrm>
            <a:off x="6602164" y="4257815"/>
            <a:ext cx="5484715" cy="430887"/>
          </a:xfrm>
          <a:prstGeom prst="rect">
            <a:avLst/>
          </a:prstGeom>
          <a:noFill/>
          <a:ln>
            <a:no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상속</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유증의</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경우를 제외하고는 재직 중 특허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①단서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단</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있는 권리는 가짐</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4" name="TextBox 73"/>
          <p:cNvSpPr txBox="1"/>
          <p:nvPr/>
        </p:nvSpPr>
        <p:spPr>
          <a:xfrm>
            <a:off x="7291570" y="4953055"/>
            <a:ext cx="3118161" cy="261610"/>
          </a:xfrm>
          <a:prstGeom prst="rect">
            <a:avLst/>
          </a:prstGeom>
          <a:noFill/>
          <a:ln>
            <a:noFill/>
          </a:ln>
        </p:spPr>
        <p:txBody>
          <a:bodyPr wrap="non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있는 권리의 공유→ 공동출원</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44)</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5" name="직사각형 54"/>
          <p:cNvSpPr/>
          <p:nvPr/>
        </p:nvSpPr>
        <p:spPr>
          <a:xfrm>
            <a:off x="4905631" y="3099690"/>
            <a:ext cx="802824" cy="1203262"/>
          </a:xfrm>
          <a:prstGeom prst="rect">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5" name="TextBox 74"/>
          <p:cNvSpPr txBox="1"/>
          <p:nvPr/>
        </p:nvSpPr>
        <p:spPr>
          <a:xfrm>
            <a:off x="4861780" y="3078449"/>
            <a:ext cx="926857" cy="430887"/>
          </a:xfrm>
          <a:prstGeom prst="rect">
            <a:avLst/>
          </a:prstGeom>
          <a:noFill/>
          <a:ln>
            <a:noFill/>
          </a:ln>
        </p:spPr>
        <p:txBody>
          <a:bodyPr wrap="none" rtlCol="0">
            <a:spAutoFit/>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33</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항</a:t>
            </a:r>
            <a:endPar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본문</a:t>
            </a:r>
          </a:p>
        </p:txBody>
      </p:sp>
      <p:graphicFrame>
        <p:nvGraphicFramePr>
          <p:cNvPr id="62" name="표 61"/>
          <p:cNvGraphicFramePr>
            <a:graphicFrameLocks noGrp="1"/>
          </p:cNvGraphicFramePr>
          <p:nvPr/>
        </p:nvGraphicFramePr>
        <p:xfrm>
          <a:off x="5191729" y="5604920"/>
          <a:ext cx="6703937" cy="853440"/>
        </p:xfrm>
        <a:graphic>
          <a:graphicData uri="http://schemas.openxmlformats.org/drawingml/2006/table">
            <a:tbl>
              <a:tblPr/>
              <a:tblGrid>
                <a:gridCol w="2439049">
                  <a:extLst>
                    <a:ext uri="{9D8B030D-6E8A-4147-A177-3AD203B41FA5}">
                      <a16:colId xmlns:a16="http://schemas.microsoft.com/office/drawing/2014/main" val="20000"/>
                    </a:ext>
                  </a:extLst>
                </a:gridCol>
                <a:gridCol w="2160317">
                  <a:extLst>
                    <a:ext uri="{9D8B030D-6E8A-4147-A177-3AD203B41FA5}">
                      <a16:colId xmlns:a16="http://schemas.microsoft.com/office/drawing/2014/main" val="20001"/>
                    </a:ext>
                  </a:extLst>
                </a:gridCol>
                <a:gridCol w="2104571">
                  <a:extLst>
                    <a:ext uri="{9D8B030D-6E8A-4147-A177-3AD203B41FA5}">
                      <a16:colId xmlns:a16="http://schemas.microsoft.com/office/drawing/2014/main" val="20002"/>
                    </a:ext>
                  </a:extLst>
                </a:gridCol>
              </a:tblGrid>
              <a:tr h="0">
                <a:tc>
                  <a:txBody>
                    <a:bodyPr/>
                    <a:lstStyle/>
                    <a:p>
                      <a:pPr marL="0" marR="63500" indent="0" algn="r" fontAlgn="base" latinLnBrk="0">
                        <a:lnSpc>
                          <a:spcPct val="130000"/>
                        </a:lnSpc>
                        <a:spcBef>
                          <a:spcPts val="0"/>
                        </a:spcBef>
                        <a:spcAft>
                          <a:spcPts val="0"/>
                        </a:spcAft>
                      </a:pPr>
                      <a:r>
                        <a:rPr lang="ko-KR" altLang="en-US" sz="1000" kern="1200" dirty="0">
                          <a:solidFill>
                            <a:schemeClr val="tx1"/>
                          </a:solidFill>
                          <a:latin typeface="+mn-lt"/>
                          <a:ea typeface="+mn-ea"/>
                          <a:cs typeface="+mn-cs"/>
                        </a:rPr>
                        <a:t>권리적격</a:t>
                      </a:r>
                    </a:p>
                    <a:p>
                      <a:pPr marL="63500" marR="0" indent="0" algn="l" fontAlgn="base" latinLnBrk="0">
                        <a:lnSpc>
                          <a:spcPct val="130000"/>
                        </a:lnSpc>
                        <a:spcBef>
                          <a:spcPts val="0"/>
                        </a:spcBef>
                        <a:spcAft>
                          <a:spcPts val="0"/>
                        </a:spcAft>
                      </a:pPr>
                      <a:r>
                        <a:rPr lang="ko-KR" altLang="en-US" sz="1000" kern="1200" dirty="0">
                          <a:solidFill>
                            <a:schemeClr val="tx1"/>
                          </a:solidFill>
                          <a:latin typeface="+mn-lt"/>
                          <a:ea typeface="+mn-ea"/>
                          <a:cs typeface="+mn-cs"/>
                        </a:rPr>
                        <a:t>권리능력</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ctr" fontAlgn="base" latinLnBrk="0">
                        <a:lnSpc>
                          <a:spcPct val="130000"/>
                        </a:lnSpc>
                        <a:spcBef>
                          <a:spcPts val="0"/>
                        </a:spcBef>
                        <a:spcAft>
                          <a:spcPts val="0"/>
                        </a:spcAft>
                      </a:pPr>
                      <a:r>
                        <a:rPr lang="ko-KR" altLang="en-US" sz="1000" kern="1200" dirty="0">
                          <a:solidFill>
                            <a:schemeClr val="tx1"/>
                          </a:solidFill>
                          <a:latin typeface="+mn-lt"/>
                          <a:ea typeface="+mn-ea"/>
                          <a:cs typeface="+mn-cs"/>
                        </a:rPr>
                        <a:t>발명자</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000" kern="1200" dirty="0">
                          <a:solidFill>
                            <a:schemeClr val="tx1"/>
                          </a:solidFill>
                          <a:latin typeface="+mn-lt"/>
                          <a:ea typeface="+mn-ea"/>
                          <a:cs typeface="+mn-cs"/>
                        </a:rPr>
                        <a:t>승계인</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0">
                <a:tc>
                  <a:txBody>
                    <a:bodyPr/>
                    <a:lstStyle/>
                    <a:p>
                      <a:pPr marL="0" marR="0" indent="0" algn="ctr" fontAlgn="base" latinLnBrk="0">
                        <a:lnSpc>
                          <a:spcPct val="130000"/>
                        </a:lnSpc>
                        <a:spcBef>
                          <a:spcPts val="0"/>
                        </a:spcBef>
                        <a:spcAft>
                          <a:spcPts val="0"/>
                        </a:spcAft>
                      </a:pPr>
                      <a:r>
                        <a:rPr lang="ko-KR" altLang="en-US" sz="1000" kern="1200" dirty="0">
                          <a:solidFill>
                            <a:schemeClr val="tx1"/>
                          </a:solidFill>
                          <a:latin typeface="+mn-lt"/>
                          <a:ea typeface="+mn-ea"/>
                          <a:cs typeface="+mn-cs"/>
                        </a:rPr>
                        <a:t>자연인</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000" kern="1200" dirty="0">
                          <a:solidFill>
                            <a:schemeClr val="tx1"/>
                          </a:solidFill>
                          <a:latin typeface="+mn-lt"/>
                          <a:ea typeface="+mn-ea"/>
                          <a:cs typeface="+mn-cs"/>
                        </a:rPr>
                        <a:t>○</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ctr" fontAlgn="base" latinLnBrk="0">
                        <a:lnSpc>
                          <a:spcPct val="130000"/>
                        </a:lnSpc>
                        <a:spcBef>
                          <a:spcPts val="0"/>
                        </a:spcBef>
                        <a:spcAft>
                          <a:spcPts val="0"/>
                        </a:spcAft>
                      </a:pPr>
                      <a:r>
                        <a:rPr lang="ko-KR" altLang="en-US" sz="1000" kern="1200">
                          <a:solidFill>
                            <a:schemeClr val="tx1"/>
                          </a:solidFill>
                          <a:latin typeface="+mn-lt"/>
                          <a:ea typeface="+mn-ea"/>
                          <a:cs typeface="+mn-cs"/>
                        </a:rPr>
                        <a:t>○</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0">
                <a:tc>
                  <a:txBody>
                    <a:bodyPr/>
                    <a:lstStyle/>
                    <a:p>
                      <a:pPr marL="0" marR="0" indent="0" algn="ctr" fontAlgn="base" latinLnBrk="0">
                        <a:lnSpc>
                          <a:spcPct val="130000"/>
                        </a:lnSpc>
                        <a:spcBef>
                          <a:spcPts val="0"/>
                        </a:spcBef>
                        <a:spcAft>
                          <a:spcPts val="0"/>
                        </a:spcAft>
                      </a:pPr>
                      <a:r>
                        <a:rPr lang="ko-KR" altLang="en-US" sz="1000" kern="1200" dirty="0">
                          <a:solidFill>
                            <a:schemeClr val="tx1"/>
                          </a:solidFill>
                          <a:latin typeface="+mn-lt"/>
                          <a:ea typeface="+mn-ea"/>
                          <a:cs typeface="+mn-cs"/>
                        </a:rPr>
                        <a:t>법 인</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marL="0" marR="0" indent="0" algn="ctr" fontAlgn="base" latinLnBrk="0">
                        <a:lnSpc>
                          <a:spcPct val="130000"/>
                        </a:lnSpc>
                        <a:spcBef>
                          <a:spcPts val="0"/>
                        </a:spcBef>
                        <a:spcAft>
                          <a:spcPts val="0"/>
                        </a:spcAft>
                      </a:pPr>
                      <a:r>
                        <a:rPr lang="en-US" altLang="ko-KR" sz="1000" kern="1200" dirty="0">
                          <a:solidFill>
                            <a:schemeClr val="tx1"/>
                          </a:solidFill>
                          <a:latin typeface="+mn-lt"/>
                          <a:ea typeface="+mn-ea"/>
                          <a:cs typeface="+mn-cs"/>
                        </a:rPr>
                        <a:t>×(</a:t>
                      </a:r>
                      <a:r>
                        <a:rPr lang="ko-KR" altLang="en-US" sz="1000" kern="1200" dirty="0">
                          <a:solidFill>
                            <a:schemeClr val="tx1"/>
                          </a:solidFill>
                          <a:latin typeface="+mn-lt"/>
                          <a:ea typeface="+mn-ea"/>
                          <a:cs typeface="+mn-cs"/>
                        </a:rPr>
                        <a:t>∵발명행위가 사실행위</a:t>
                      </a:r>
                      <a:r>
                        <a:rPr lang="en-US" altLang="ko-KR" sz="1000" kern="1200" dirty="0">
                          <a:solidFill>
                            <a:schemeClr val="tx1"/>
                          </a:solidFill>
                          <a:latin typeface="+mn-lt"/>
                          <a:ea typeface="+mn-ea"/>
                          <a:cs typeface="+mn-cs"/>
                        </a:rPr>
                        <a:t>)</a:t>
                      </a:r>
                      <a:endParaRPr lang="ko-KR" altLang="en-US" sz="1000" kern="1200" dirty="0">
                        <a:solidFill>
                          <a:schemeClr val="tx1"/>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ctr" fontAlgn="base" latinLnBrk="0">
                        <a:lnSpc>
                          <a:spcPct val="130000"/>
                        </a:lnSpc>
                        <a:spcBef>
                          <a:spcPts val="0"/>
                        </a:spcBef>
                        <a:spcAft>
                          <a:spcPts val="0"/>
                        </a:spcAft>
                      </a:pPr>
                      <a:r>
                        <a:rPr lang="ko-KR" altLang="en-US" sz="1000" kern="1200" dirty="0">
                          <a:solidFill>
                            <a:schemeClr val="tx1"/>
                          </a:solidFill>
                          <a:latin typeface="+mn-lt"/>
                          <a:ea typeface="+mn-ea"/>
                          <a:cs typeface="+mn-cs"/>
                        </a:rPr>
                        <a:t>○</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cxnSp>
        <p:nvCxnSpPr>
          <p:cNvPr id="76" name="직선 연결선 75"/>
          <p:cNvCxnSpPr/>
          <p:nvPr/>
        </p:nvCxnSpPr>
        <p:spPr>
          <a:xfrm flipH="1" flipV="1">
            <a:off x="5198533" y="5604933"/>
            <a:ext cx="2391263" cy="414867"/>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자유형 78"/>
          <p:cNvSpPr/>
          <p:nvPr/>
        </p:nvSpPr>
        <p:spPr>
          <a:xfrm>
            <a:off x="8398933" y="3733800"/>
            <a:ext cx="270934" cy="389467"/>
          </a:xfrm>
          <a:custGeom>
            <a:avLst/>
            <a:gdLst>
              <a:gd name="connsiteX0" fmla="*/ 0 w 270934"/>
              <a:gd name="connsiteY0" fmla="*/ 0 h 389467"/>
              <a:gd name="connsiteX1" fmla="*/ 270934 w 270934"/>
              <a:gd name="connsiteY1" fmla="*/ 0 h 389467"/>
              <a:gd name="connsiteX2" fmla="*/ 270934 w 270934"/>
              <a:gd name="connsiteY2" fmla="*/ 389467 h 389467"/>
              <a:gd name="connsiteX3" fmla="*/ 16934 w 270934"/>
              <a:gd name="connsiteY3" fmla="*/ 389467 h 389467"/>
            </a:gdLst>
            <a:ahLst/>
            <a:cxnLst>
              <a:cxn ang="0">
                <a:pos x="connsiteX0" y="connsiteY0"/>
              </a:cxn>
              <a:cxn ang="0">
                <a:pos x="connsiteX1" y="connsiteY1"/>
              </a:cxn>
              <a:cxn ang="0">
                <a:pos x="connsiteX2" y="connsiteY2"/>
              </a:cxn>
              <a:cxn ang="0">
                <a:pos x="connsiteX3" y="connsiteY3"/>
              </a:cxn>
            </a:cxnLst>
            <a:rect l="l" t="t" r="r" b="b"/>
            <a:pathLst>
              <a:path w="270934" h="389467">
                <a:moveTo>
                  <a:pt x="0" y="0"/>
                </a:moveTo>
                <a:lnTo>
                  <a:pt x="270934" y="0"/>
                </a:lnTo>
                <a:lnTo>
                  <a:pt x="270934" y="389467"/>
                </a:lnTo>
                <a:lnTo>
                  <a:pt x="16934" y="389467"/>
                </a:lnTo>
              </a:path>
            </a:pathLst>
          </a:cu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cxnSp>
        <p:nvCxnSpPr>
          <p:cNvPr id="81" name="직선 화살표 연결선 80"/>
          <p:cNvCxnSpPr/>
          <p:nvPr/>
        </p:nvCxnSpPr>
        <p:spPr>
          <a:xfrm>
            <a:off x="8669867" y="3928533"/>
            <a:ext cx="389466" cy="0"/>
          </a:xfrm>
          <a:prstGeom prst="straightConnector1">
            <a:avLst/>
          </a:prstGeom>
          <a:ln>
            <a:solidFill>
              <a:schemeClr val="bg1">
                <a:lumMod val="50000"/>
              </a:schemeClr>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7" name="TextBox 86"/>
          <p:cNvSpPr txBox="1"/>
          <p:nvPr/>
        </p:nvSpPr>
        <p:spPr>
          <a:xfrm>
            <a:off x="9083064" y="3673532"/>
            <a:ext cx="2833607" cy="523220"/>
          </a:xfrm>
          <a:prstGeom prst="rect">
            <a:avLst/>
          </a:prstGeom>
          <a:noFill/>
          <a:ln>
            <a:noFill/>
          </a:ln>
        </p:spPr>
        <p:txBody>
          <a:bodyPr wrap="square" rtlCol="0">
            <a:spAutoFit/>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특허를 받을 수 있는 권리가 없는 자</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무권리자</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33</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항본문</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 위반</a:t>
            </a:r>
          </a:p>
        </p:txBody>
      </p:sp>
      <p:sp>
        <p:nvSpPr>
          <p:cNvPr id="5" name="슬라이드 번호 개체 틀 4"/>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99</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26" name="직사각형 25">
            <a:extLst>
              <a:ext uri="{FF2B5EF4-FFF2-40B4-BE49-F238E27FC236}">
                <a16:creationId xmlns:a16="http://schemas.microsoft.com/office/drawing/2014/main" id="{6D38C64C-EDA3-D9F1-99EB-94CBA0AF0307}"/>
              </a:ext>
            </a:extLst>
          </p:cNvPr>
          <p:cNvSpPr/>
          <p:nvPr/>
        </p:nvSpPr>
        <p:spPr>
          <a:xfrm>
            <a:off x="349623" y="1830046"/>
            <a:ext cx="1902522" cy="503789"/>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방식심사</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내외국인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불수리</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1" name="TextBox 30">
            <a:extLst>
              <a:ext uri="{FF2B5EF4-FFF2-40B4-BE49-F238E27FC236}">
                <a16:creationId xmlns:a16="http://schemas.microsoft.com/office/drawing/2014/main" id="{583BD6C0-D6E1-3796-D31E-85872E1437EF}"/>
              </a:ext>
            </a:extLst>
          </p:cNvPr>
          <p:cNvSpPr txBox="1"/>
          <p:nvPr/>
        </p:nvSpPr>
        <p:spPr>
          <a:xfrm>
            <a:off x="5046151" y="5110938"/>
            <a:ext cx="1426362" cy="261610"/>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a:ln>
                  <a:noFill/>
                </a:ln>
                <a:solidFill>
                  <a:prstClr val="black"/>
                </a:solidFill>
                <a:effectLst/>
                <a:uLnTx/>
                <a:uFillTx/>
                <a:latin typeface="Frutiger LT 65 Bold"/>
                <a:ea typeface="Rix모던고딕 B"/>
                <a:cs typeface="+mn-cs"/>
              </a:rPr>
              <a:t>단독발명후 지분 양도</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40" name="연결선: 꺾임 39">
            <a:extLst>
              <a:ext uri="{FF2B5EF4-FFF2-40B4-BE49-F238E27FC236}">
                <a16:creationId xmlns:a16="http://schemas.microsoft.com/office/drawing/2014/main" id="{D600CF4E-63D4-9881-C804-863081792646}"/>
              </a:ext>
            </a:extLst>
          </p:cNvPr>
          <p:cNvCxnSpPr>
            <a:stCxn id="49" idx="3"/>
            <a:endCxn id="74" idx="1"/>
          </p:cNvCxnSpPr>
          <p:nvPr/>
        </p:nvCxnSpPr>
        <p:spPr>
          <a:xfrm>
            <a:off x="6472508" y="4881056"/>
            <a:ext cx="819062" cy="202804"/>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 name="연결선: 꺾임 41">
            <a:extLst>
              <a:ext uri="{FF2B5EF4-FFF2-40B4-BE49-F238E27FC236}">
                <a16:creationId xmlns:a16="http://schemas.microsoft.com/office/drawing/2014/main" id="{4FAB1701-9229-C754-5C9C-24D5A513D616}"/>
              </a:ext>
            </a:extLst>
          </p:cNvPr>
          <p:cNvCxnSpPr>
            <a:stCxn id="31" idx="3"/>
            <a:endCxn id="74" idx="1"/>
          </p:cNvCxnSpPr>
          <p:nvPr/>
        </p:nvCxnSpPr>
        <p:spPr>
          <a:xfrm flipV="1">
            <a:off x="6472513" y="5083860"/>
            <a:ext cx="819057" cy="157883"/>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5D826E09-BCA7-6F0B-9B70-41FC7D4D3AAF}"/>
              </a:ext>
            </a:extLst>
          </p:cNvPr>
          <p:cNvSpPr txBox="1"/>
          <p:nvPr/>
        </p:nvSpPr>
        <p:spPr>
          <a:xfrm>
            <a:off x="6434210" y="4642069"/>
            <a:ext cx="727077" cy="246221"/>
          </a:xfrm>
          <a:prstGeom prst="rect">
            <a:avLst/>
          </a:prstGeom>
          <a:noFill/>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②</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52" name="연결선: 꺾임 51">
            <a:extLst>
              <a:ext uri="{FF2B5EF4-FFF2-40B4-BE49-F238E27FC236}">
                <a16:creationId xmlns:a16="http://schemas.microsoft.com/office/drawing/2014/main" id="{ADCEA5B0-3900-1B6A-2F7F-777F1382C824}"/>
              </a:ext>
            </a:extLst>
          </p:cNvPr>
          <p:cNvCxnSpPr>
            <a:stCxn id="10" idx="1"/>
            <a:endCxn id="26" idx="3"/>
          </p:cNvCxnSpPr>
          <p:nvPr/>
        </p:nvCxnSpPr>
        <p:spPr>
          <a:xfrm rot="10800000">
            <a:off x="2252145" y="2081941"/>
            <a:ext cx="889252" cy="305632"/>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1" name="연결선: 꺾임 60">
            <a:extLst>
              <a:ext uri="{FF2B5EF4-FFF2-40B4-BE49-F238E27FC236}">
                <a16:creationId xmlns:a16="http://schemas.microsoft.com/office/drawing/2014/main" id="{46E5E3A8-0200-4276-191E-83D106D25813}"/>
              </a:ext>
            </a:extLst>
          </p:cNvPr>
          <p:cNvCxnSpPr>
            <a:cxnSpLocks/>
            <a:stCxn id="10" idx="1"/>
            <a:endCxn id="13" idx="3"/>
          </p:cNvCxnSpPr>
          <p:nvPr/>
        </p:nvCxnSpPr>
        <p:spPr>
          <a:xfrm rot="10800000" flipV="1">
            <a:off x="2252145" y="2387572"/>
            <a:ext cx="889252" cy="588843"/>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 name="말풍선: 모서리가 둥근 사각형 5">
            <a:extLst>
              <a:ext uri="{FF2B5EF4-FFF2-40B4-BE49-F238E27FC236}">
                <a16:creationId xmlns:a16="http://schemas.microsoft.com/office/drawing/2014/main" id="{1C2883CD-0053-8AF5-6683-2B209DE0E483}"/>
              </a:ext>
            </a:extLst>
          </p:cNvPr>
          <p:cNvSpPr/>
          <p:nvPr/>
        </p:nvSpPr>
        <p:spPr>
          <a:xfrm>
            <a:off x="6026098" y="3317524"/>
            <a:ext cx="1040074" cy="246306"/>
          </a:xfrm>
          <a:prstGeom prst="wedgeRoundRectCallout">
            <a:avLst>
              <a:gd name="adj1" fmla="val -28159"/>
              <a:gd name="adj2" fmla="val 77968"/>
              <a:gd name="adj3" fmla="val 16667"/>
            </a:avLst>
          </a:prstGeom>
          <a:solidFill>
            <a:schemeClr val="tx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lumMod val="95000"/>
                    <a:lumOff val="5000"/>
                  </a:prstClr>
                </a:solidFill>
                <a:effectLst/>
                <a:uLnTx/>
                <a:uFillTx/>
                <a:latin typeface="Frutiger LT 65 Bold"/>
                <a:ea typeface="Rix모던고딕 B"/>
                <a:cs typeface="+mn-cs"/>
              </a:rPr>
              <a:t>발명을 한 사람</a:t>
            </a:r>
          </a:p>
        </p:txBody>
      </p:sp>
    </p:spTree>
    <p:extLst>
      <p:ext uri="{BB962C8B-B14F-4D97-AF65-F5344CB8AC3E}">
        <p14:creationId xmlns:p14="http://schemas.microsoft.com/office/powerpoint/2010/main" val="923095735"/>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sz="2000" dirty="0"/>
              <a:t>제</a:t>
            </a:r>
            <a:r>
              <a:rPr lang="en-US" altLang="ko-KR" sz="2000" dirty="0"/>
              <a:t>33</a:t>
            </a:r>
            <a:r>
              <a:rPr lang="ko-KR" altLang="en-US" sz="2000" dirty="0"/>
              <a:t>조제</a:t>
            </a:r>
            <a:r>
              <a:rPr lang="en-US" altLang="ko-KR" sz="2000" dirty="0"/>
              <a:t>1</a:t>
            </a:r>
            <a:r>
              <a:rPr lang="ko-KR" altLang="en-US" sz="2000" dirty="0"/>
              <a:t>항</a:t>
            </a:r>
            <a:r>
              <a:rPr lang="en-US" altLang="ko-KR" sz="2000" dirty="0"/>
              <a:t>, </a:t>
            </a:r>
            <a:r>
              <a:rPr lang="ko-KR" altLang="en-US" sz="2000" dirty="0"/>
              <a:t>제</a:t>
            </a:r>
            <a:r>
              <a:rPr lang="en-US" altLang="ko-KR" sz="2000" dirty="0"/>
              <a:t>44</a:t>
            </a:r>
            <a:r>
              <a:rPr lang="ko-KR" altLang="en-US" sz="2000" dirty="0"/>
              <a:t>조</a:t>
            </a:r>
          </a:p>
        </p:txBody>
      </p:sp>
      <p:sp>
        <p:nvSpPr>
          <p:cNvPr id="4" name="텍스트 개체 틀 3"/>
          <p:cNvSpPr>
            <a:spLocks noGrp="1"/>
          </p:cNvSpPr>
          <p:nvPr>
            <p:ph type="body" sz="quarter" idx="13"/>
          </p:nvPr>
        </p:nvSpPr>
        <p:spPr/>
        <p:txBody>
          <a:bodyPr/>
          <a:lstStyle/>
          <a:p>
            <a:r>
              <a:rPr lang="ko-KR" altLang="en-US" dirty="0"/>
              <a:t>제</a:t>
            </a:r>
            <a:r>
              <a:rPr lang="en-US" altLang="ko-KR" dirty="0"/>
              <a:t>33</a:t>
            </a:r>
            <a:r>
              <a:rPr lang="ko-KR" altLang="en-US" dirty="0"/>
              <a:t>조제</a:t>
            </a:r>
            <a:r>
              <a:rPr lang="en-US" altLang="ko-KR" dirty="0"/>
              <a:t>1</a:t>
            </a:r>
            <a:r>
              <a:rPr lang="ko-KR" altLang="en-US" dirty="0" err="1"/>
              <a:t>항본문과</a:t>
            </a:r>
            <a:r>
              <a:rPr lang="ko-KR" altLang="en-US" dirty="0"/>
              <a:t> 제</a:t>
            </a:r>
            <a:r>
              <a:rPr lang="en-US" altLang="ko-KR" dirty="0"/>
              <a:t>44</a:t>
            </a:r>
            <a:r>
              <a:rPr lang="ko-KR" altLang="en-US" dirty="0"/>
              <a:t>조의 적용</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prstClr val="white"/>
                </a:solidFill>
                <a:effectLst/>
                <a:uLnTx/>
                <a:uFillTx/>
                <a:latin typeface="Frutiger LT 65 Bold"/>
                <a:ea typeface="Rix모던고딕 B"/>
                <a:cs typeface="+mn-cs"/>
              </a:rPr>
              <a:t>100</a:t>
            </a:r>
            <a:endParaRPr kumimoji="0" lang="ko-KR" altLang="en-US" sz="3600" b="1" i="0" u="none" strike="noStrike" kern="1200" cap="none" spc="0" normalizeH="0" baseline="0" noProof="0" dirty="0">
              <a:ln w="12700">
                <a:solidFill>
                  <a:srgbClr val="44546A">
                    <a:satMod val="155000"/>
                  </a:srgbClr>
                </a:solidFill>
                <a:prstDash val="solid"/>
              </a:ln>
              <a:solidFill>
                <a:prstClr val="white"/>
              </a:solidFill>
              <a:effectLst/>
              <a:uLnTx/>
              <a:uFillTx/>
              <a:latin typeface="Frutiger LT 65 Bold"/>
              <a:ea typeface="Rix모던고딕 B"/>
              <a:cs typeface="+mn-cs"/>
            </a:endParaRPr>
          </a:p>
        </p:txBody>
      </p:sp>
      <p:sp>
        <p:nvSpPr>
          <p:cNvPr id="58" name="Rectangle 5"/>
          <p:cNvSpPr>
            <a:spLocks noChangeArrowheads="1"/>
          </p:cNvSpPr>
          <p:nvPr/>
        </p:nvSpPr>
        <p:spPr bwMode="auto">
          <a:xfrm>
            <a:off x="127524" y="1106383"/>
            <a:ext cx="2153886" cy="348102"/>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제</a:t>
            </a:r>
            <a:r>
              <a:rPr kumimoji="0" lang="en-US" altLang="ko-KR" sz="1600" b="0" i="0" u="none" strike="noStrike" kern="1200" cap="none" spc="0" normalizeH="0" baseline="0" noProof="0" dirty="0">
                <a:ln>
                  <a:noFill/>
                </a:ln>
                <a:solidFill>
                  <a:prstClr val="white"/>
                </a:solidFill>
                <a:effectLst/>
                <a:uLnTx/>
                <a:uFillTx/>
                <a:latin typeface="Rix모던고딕 EB"/>
                <a:ea typeface="Rix모던고딕 EB"/>
                <a:cs typeface="+mn-cs"/>
              </a:rPr>
              <a:t>33</a:t>
            </a: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조제</a:t>
            </a:r>
            <a:r>
              <a:rPr kumimoji="0" lang="en-US" altLang="ko-KR" sz="1600" b="0" i="0" u="none" strike="noStrike" kern="1200" cap="none" spc="0" normalizeH="0" baseline="0" noProof="0" dirty="0">
                <a:ln>
                  <a:noFill/>
                </a:ln>
                <a:solidFill>
                  <a:prstClr val="white"/>
                </a:solidFill>
                <a:effectLst/>
                <a:uLnTx/>
                <a:uFillTx/>
                <a:latin typeface="Rix모던고딕 EB"/>
                <a:ea typeface="Rix모던고딕 EB"/>
                <a:cs typeface="+mn-cs"/>
              </a:rPr>
              <a:t>1</a:t>
            </a:r>
            <a:r>
              <a:rPr kumimoji="0" lang="ko-KR" altLang="en-US" sz="1600" b="0" i="0" u="none" strike="noStrike" kern="1200" cap="none" spc="0" normalizeH="0" baseline="0" noProof="0" dirty="0" err="1">
                <a:ln>
                  <a:noFill/>
                </a:ln>
                <a:solidFill>
                  <a:prstClr val="white"/>
                </a:solidFill>
                <a:effectLst/>
                <a:uLnTx/>
                <a:uFillTx/>
                <a:latin typeface="Rix모던고딕 EB"/>
                <a:ea typeface="Rix모던고딕 EB"/>
                <a:cs typeface="+mn-cs"/>
              </a:rPr>
              <a:t>항본문</a:t>
            </a: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 위반</a:t>
            </a:r>
          </a:p>
        </p:txBody>
      </p:sp>
      <p:cxnSp>
        <p:nvCxnSpPr>
          <p:cNvPr id="61" name="직선 연결선 60"/>
          <p:cNvCxnSpPr/>
          <p:nvPr/>
        </p:nvCxnSpPr>
        <p:spPr>
          <a:xfrm>
            <a:off x="6097412" y="965770"/>
            <a:ext cx="0" cy="536311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275775" y="2738473"/>
            <a:ext cx="5506957" cy="436526"/>
          </a:xfrm>
          <a:prstGeom prst="rect">
            <a:avLst/>
          </a:prstGeom>
          <a:noFill/>
          <a:ln>
            <a:solidFill>
              <a:schemeClr val="bg1">
                <a:lumMod val="50000"/>
              </a:schemeClr>
            </a:solidFill>
          </a:ln>
        </p:spPr>
        <p:txBody>
          <a:bodyPr wrap="square" rtlCol="0" anchor="ctr">
            <a:no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발명자가 아닌 자로서 승계인이 아닌 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모인자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77" name="TextBox 76"/>
          <p:cNvSpPr txBox="1"/>
          <p:nvPr/>
        </p:nvSpPr>
        <p:spPr>
          <a:xfrm>
            <a:off x="275775" y="3825658"/>
            <a:ext cx="5506957" cy="523220"/>
          </a:xfrm>
          <a:prstGeom prst="rect">
            <a:avLst/>
          </a:prstGeom>
          <a:no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권리를 승계한 승계인이 다시 특허를 받을 수 있는 권리를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재양도한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후 출원한 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(2006</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허</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6143)</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78" name="TextBox 77"/>
          <p:cNvSpPr txBox="1"/>
          <p:nvPr/>
        </p:nvSpPr>
        <p:spPr>
          <a:xfrm>
            <a:off x="275775" y="5079839"/>
            <a:ext cx="5506957" cy="523220"/>
          </a:xfrm>
          <a:prstGeom prst="rect">
            <a:avLst/>
          </a:prstGeom>
          <a:no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무권리자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출원일지라도 정당한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권리자로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출원인변경이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된 경우에는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항본문</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위반 하자 치유</a:t>
            </a:r>
          </a:p>
        </p:txBody>
      </p:sp>
      <p:sp>
        <p:nvSpPr>
          <p:cNvPr id="79" name="직사각형 78"/>
          <p:cNvSpPr/>
          <p:nvPr/>
        </p:nvSpPr>
        <p:spPr>
          <a:xfrm>
            <a:off x="298060" y="1658699"/>
            <a:ext cx="5506837" cy="927368"/>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발명을 한 사람 또는 그 승계인은 이 법에서 정하는 바에 따라 특허를 받을 수 있는 권리를 가진다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sym typeface="Wingdings" pitchFamily="2" charset="2"/>
              </a:rPr>
              <a:t>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33</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항본문</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 위반인 특허를 받을 수 있는 권리를 가지지 아니한 자를 </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무권리자라고</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 한다</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80" name="TextBox 79"/>
          <p:cNvSpPr txBox="1"/>
          <p:nvPr/>
        </p:nvSpPr>
        <p:spPr>
          <a:xfrm>
            <a:off x="275775" y="3238026"/>
            <a:ext cx="5506957" cy="523220"/>
          </a:xfrm>
          <a:prstGeom prst="rect">
            <a:avLst/>
          </a:prstGeom>
          <a:no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구성을 변경했지만 진보성이 없는 등 기술적 사상의 창작에 기여하지 않은 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(2009</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2463)</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81" name="Rectangle 5"/>
          <p:cNvSpPr>
            <a:spLocks noChangeArrowheads="1"/>
          </p:cNvSpPr>
          <p:nvPr/>
        </p:nvSpPr>
        <p:spPr bwMode="auto">
          <a:xfrm>
            <a:off x="6231991" y="1106383"/>
            <a:ext cx="2153886" cy="348102"/>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 제</a:t>
            </a:r>
            <a:r>
              <a:rPr kumimoji="0" lang="en-US" altLang="ko-KR" sz="1600" b="0" i="0" u="none" strike="noStrike" kern="1200" cap="none" spc="0" normalizeH="0" baseline="0" noProof="0" dirty="0">
                <a:ln>
                  <a:noFill/>
                </a:ln>
                <a:solidFill>
                  <a:prstClr val="white"/>
                </a:solidFill>
                <a:effectLst/>
                <a:uLnTx/>
                <a:uFillTx/>
                <a:latin typeface="Rix모던고딕 EB"/>
                <a:ea typeface="Rix모던고딕 EB"/>
                <a:cs typeface="+mn-cs"/>
              </a:rPr>
              <a:t>44</a:t>
            </a: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조 위반</a:t>
            </a:r>
          </a:p>
        </p:txBody>
      </p:sp>
      <p:sp>
        <p:nvSpPr>
          <p:cNvPr id="82" name="TextBox 81"/>
          <p:cNvSpPr txBox="1"/>
          <p:nvPr/>
        </p:nvSpPr>
        <p:spPr>
          <a:xfrm>
            <a:off x="6380242" y="3608048"/>
            <a:ext cx="5506957" cy="436526"/>
          </a:xfrm>
          <a:prstGeom prst="rect">
            <a:avLst/>
          </a:prstGeom>
          <a:noFill/>
          <a:ln>
            <a:solidFill>
              <a:schemeClr val="bg1">
                <a:lumMod val="50000"/>
              </a:schemeClr>
            </a:solidFill>
          </a:ln>
        </p:spPr>
        <p:txBody>
          <a:bodyPr wrap="square" rtlCol="0" anchor="ctr">
            <a:no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ED7D31">
                    <a:lumMod val="50000"/>
                  </a:srgbClr>
                </a:solidFill>
                <a:effectLst/>
                <a:uLnTx/>
                <a:uFillTx/>
                <a:latin typeface="Frutiger LT 65 Bold"/>
                <a:ea typeface="Rix모던고딕 B"/>
                <a:cs typeface="+mn-cs"/>
              </a:rPr>
              <a:t>공동발명하여</a:t>
            </a:r>
            <a:r>
              <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 특허를 받을 수 있는 권리가 공유인데 단독으로 출원한 경우</a:t>
            </a:r>
          </a:p>
        </p:txBody>
      </p:sp>
      <p:sp>
        <p:nvSpPr>
          <p:cNvPr id="87" name="TextBox 86"/>
          <p:cNvSpPr txBox="1"/>
          <p:nvPr/>
        </p:nvSpPr>
        <p:spPr>
          <a:xfrm>
            <a:off x="6380242" y="5079839"/>
            <a:ext cx="5506957" cy="523220"/>
          </a:xfrm>
          <a:prstGeom prst="rect">
            <a:avLst/>
          </a:prstGeom>
          <a:no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특허를 받을 수 있는 권리가 공유인 경우인데 일부가 지분 모두를 </a:t>
            </a:r>
            <a:r>
              <a:rPr kumimoji="0" lang="ko-KR" altLang="en-US" sz="1400" b="0" i="0" u="none" strike="noStrike" kern="1200" cap="none" spc="0" normalizeH="0" baseline="0" noProof="0" dirty="0" err="1">
                <a:ln>
                  <a:noFill/>
                </a:ln>
                <a:solidFill>
                  <a:srgbClr val="ED7D31">
                    <a:lumMod val="50000"/>
                  </a:srgbClr>
                </a:solidFill>
                <a:effectLst/>
                <a:uLnTx/>
                <a:uFillTx/>
                <a:latin typeface="Frutiger LT 65 Bold"/>
                <a:ea typeface="Rix모던고딕 B"/>
                <a:cs typeface="+mn-cs"/>
              </a:rPr>
              <a:t>이전받아</a:t>
            </a:r>
            <a:r>
              <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 단독 권리자가 된다면 제</a:t>
            </a:r>
            <a:r>
              <a:rPr kumimoji="0" lang="en-US" altLang="ko-KR"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44</a:t>
            </a:r>
            <a:r>
              <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조 위반 하자 치유 </a:t>
            </a:r>
            <a:r>
              <a:rPr kumimoji="0" lang="en-US" altLang="ko-KR"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(2004</a:t>
            </a:r>
            <a:r>
              <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허</a:t>
            </a:r>
            <a:r>
              <a:rPr kumimoji="0" lang="en-US" altLang="ko-KR"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5894)</a:t>
            </a:r>
            <a:endPar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endParaRPr>
          </a:p>
        </p:txBody>
      </p:sp>
      <p:sp>
        <p:nvSpPr>
          <p:cNvPr id="90" name="직사각형 89"/>
          <p:cNvSpPr/>
          <p:nvPr/>
        </p:nvSpPr>
        <p:spPr>
          <a:xfrm>
            <a:off x="6402527" y="1658699"/>
            <a:ext cx="5506837" cy="61036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공동출원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권리가 공유</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인 경우에는 공유자 모두가 공동으로 특허출원을 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91" name="TextBox 90"/>
          <p:cNvSpPr txBox="1"/>
          <p:nvPr/>
        </p:nvSpPr>
        <p:spPr>
          <a:xfrm>
            <a:off x="6380242" y="4093158"/>
            <a:ext cx="5506957" cy="523220"/>
          </a:xfrm>
          <a:prstGeom prst="rect">
            <a:avLst/>
          </a:prstGeom>
          <a:no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ED7D31">
                    <a:lumMod val="50000"/>
                  </a:srgbClr>
                </a:solidFill>
                <a:effectLst/>
                <a:uLnTx/>
                <a:uFillTx/>
                <a:latin typeface="Frutiger LT 65 Bold"/>
                <a:ea typeface="Rix모던고딕 B"/>
                <a:cs typeface="+mn-cs"/>
              </a:rPr>
              <a:t>단독발명후</a:t>
            </a:r>
            <a:r>
              <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 지분의 일부를 이전하여 특허를 받을 수 있는 권리가 공유인데 단독으로 출원한 경우</a:t>
            </a:r>
          </a:p>
        </p:txBody>
      </p:sp>
      <p:sp>
        <p:nvSpPr>
          <p:cNvPr id="92" name="TextBox 91"/>
          <p:cNvSpPr txBox="1"/>
          <p:nvPr/>
        </p:nvSpPr>
        <p:spPr>
          <a:xfrm>
            <a:off x="275775" y="5697905"/>
            <a:ext cx="5506957" cy="523220"/>
          </a:xfrm>
          <a:prstGeom prst="rect">
            <a:avLst/>
          </a:prstGeom>
          <a:no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착오로 등록되었을지라도 정당한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권리자에게</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이전등록한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경우에는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항본문</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위반 하자 치유</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133①Ⅱ</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단서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93" name="TextBox 92"/>
          <p:cNvSpPr txBox="1"/>
          <p:nvPr/>
        </p:nvSpPr>
        <p:spPr>
          <a:xfrm>
            <a:off x="6402527" y="5702394"/>
            <a:ext cx="5506957" cy="523220"/>
          </a:xfrm>
          <a:prstGeom prst="rect">
            <a:avLst/>
          </a:prstGeom>
          <a:no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착오로 등록되었을지라도 다른 공유자에게 지분을 </a:t>
            </a:r>
            <a:r>
              <a:rPr kumimoji="0" lang="ko-KR" altLang="en-US" sz="1400" b="0" i="0" u="none" strike="noStrike" kern="1200" cap="none" spc="0" normalizeH="0" baseline="0" noProof="0" dirty="0" err="1">
                <a:ln>
                  <a:noFill/>
                </a:ln>
                <a:solidFill>
                  <a:srgbClr val="ED7D31">
                    <a:lumMod val="50000"/>
                  </a:srgbClr>
                </a:solidFill>
                <a:effectLst/>
                <a:uLnTx/>
                <a:uFillTx/>
                <a:latin typeface="Frutiger LT 65 Bold"/>
                <a:ea typeface="Rix모던고딕 B"/>
                <a:cs typeface="+mn-cs"/>
              </a:rPr>
              <a:t>이전등록한</a:t>
            </a:r>
            <a:r>
              <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 경우에는 제</a:t>
            </a:r>
            <a:r>
              <a:rPr kumimoji="0" lang="en-US" altLang="ko-KR"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44</a:t>
            </a:r>
            <a:r>
              <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조 위반 하자 치유</a:t>
            </a:r>
            <a:r>
              <a:rPr kumimoji="0" lang="en-US" altLang="ko-KR"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133①Ⅱ</a:t>
            </a:r>
            <a:r>
              <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단서</a:t>
            </a:r>
            <a:r>
              <a:rPr kumimoji="0" lang="en-US" altLang="ko-KR"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endParaRPr>
          </a:p>
        </p:txBody>
      </p:sp>
      <p:sp>
        <p:nvSpPr>
          <p:cNvPr id="22" name="TextBox 21"/>
          <p:cNvSpPr txBox="1"/>
          <p:nvPr/>
        </p:nvSpPr>
        <p:spPr>
          <a:xfrm>
            <a:off x="275775" y="4399078"/>
            <a:ext cx="5506957" cy="523220"/>
          </a:xfrm>
          <a:prstGeom prst="rect">
            <a:avLst/>
          </a:prstGeom>
          <a:no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발명자가 특허를 받을 수 있는 권리를 양도한 후 스스로 출원한 경우</a:t>
            </a:r>
            <a:endPar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(2008</a:t>
            </a:r>
            <a:r>
              <a:rPr kumimoji="0" lang="ko-KR" altLang="en-US"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허</a:t>
            </a:r>
            <a:r>
              <a:rPr kumimoji="0" lang="en-US" altLang="ko-KR"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3018)</a:t>
            </a:r>
            <a:endParaRPr kumimoji="0" lang="ko-KR" altLang="en-US"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endParaRPr>
          </a:p>
        </p:txBody>
      </p:sp>
      <p:sp>
        <p:nvSpPr>
          <p:cNvPr id="5" name="직사각형 4">
            <a:extLst>
              <a:ext uri="{FF2B5EF4-FFF2-40B4-BE49-F238E27FC236}">
                <a16:creationId xmlns:a16="http://schemas.microsoft.com/office/drawing/2014/main" id="{EA415BB0-BF22-EE84-B97F-8117D28E51D9}"/>
              </a:ext>
            </a:extLst>
          </p:cNvPr>
          <p:cNvSpPr/>
          <p:nvPr/>
        </p:nvSpPr>
        <p:spPr>
          <a:xfrm>
            <a:off x="127524" y="4993341"/>
            <a:ext cx="11858282" cy="1335540"/>
          </a:xfrm>
          <a:prstGeom prst="rect">
            <a:avLst/>
          </a:prstGeom>
          <a:noFill/>
          <a:ln w="28575">
            <a:solidFill>
              <a:srgbClr val="FF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 name="TextBox 5">
            <a:extLst>
              <a:ext uri="{FF2B5EF4-FFF2-40B4-BE49-F238E27FC236}">
                <a16:creationId xmlns:a16="http://schemas.microsoft.com/office/drawing/2014/main" id="{B88569C1-223D-AFF9-F26E-61D004FC769A}"/>
              </a:ext>
            </a:extLst>
          </p:cNvPr>
          <p:cNvSpPr txBox="1"/>
          <p:nvPr/>
        </p:nvSpPr>
        <p:spPr>
          <a:xfrm>
            <a:off x="6094589" y="4607240"/>
            <a:ext cx="1290738"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err="1">
                <a:ln>
                  <a:noFill/>
                </a:ln>
                <a:solidFill>
                  <a:srgbClr val="FF0000"/>
                </a:solidFill>
                <a:effectLst/>
                <a:uLnTx/>
                <a:uFillTx/>
                <a:latin typeface="Frutiger LT 65 Bold"/>
                <a:ea typeface="Rix모던고딕 B"/>
                <a:cs typeface="+mn-cs"/>
              </a:rPr>
              <a:t>판단시</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 기준</a:t>
            </a:r>
          </a:p>
        </p:txBody>
      </p:sp>
      <p:sp>
        <p:nvSpPr>
          <p:cNvPr id="7" name="TextBox 6">
            <a:extLst>
              <a:ext uri="{FF2B5EF4-FFF2-40B4-BE49-F238E27FC236}">
                <a16:creationId xmlns:a16="http://schemas.microsoft.com/office/drawing/2014/main" id="{233FB10F-681A-CDB4-3EDD-575605AEE133}"/>
              </a:ext>
            </a:extLst>
          </p:cNvPr>
          <p:cNvSpPr txBox="1"/>
          <p:nvPr/>
        </p:nvSpPr>
        <p:spPr>
          <a:xfrm>
            <a:off x="6402527" y="2321857"/>
            <a:ext cx="4397358"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구법에서는 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항에 의한 특허를 받을 수 있는 권리가 공유인 경우에 적용</a:t>
            </a:r>
          </a:p>
        </p:txBody>
      </p:sp>
      <p:graphicFrame>
        <p:nvGraphicFramePr>
          <p:cNvPr id="8" name="표 7">
            <a:extLst>
              <a:ext uri="{FF2B5EF4-FFF2-40B4-BE49-F238E27FC236}">
                <a16:creationId xmlns:a16="http://schemas.microsoft.com/office/drawing/2014/main" id="{CE55D480-CB4C-9A07-A49D-FB55571E768E}"/>
              </a:ext>
            </a:extLst>
          </p:cNvPr>
          <p:cNvGraphicFramePr>
            <a:graphicFrameLocks noGrp="1"/>
          </p:cNvGraphicFramePr>
          <p:nvPr/>
        </p:nvGraphicFramePr>
        <p:xfrm>
          <a:off x="6382868" y="2559747"/>
          <a:ext cx="5533356" cy="822960"/>
        </p:xfrm>
        <a:graphic>
          <a:graphicData uri="http://schemas.openxmlformats.org/drawingml/2006/table">
            <a:tbl>
              <a:tblPr>
                <a:tableStyleId>{8799B23B-EC83-4686-B30A-512413B5E67A}</a:tableStyleId>
              </a:tblPr>
              <a:tblGrid>
                <a:gridCol w="1383339">
                  <a:extLst>
                    <a:ext uri="{9D8B030D-6E8A-4147-A177-3AD203B41FA5}">
                      <a16:colId xmlns:a16="http://schemas.microsoft.com/office/drawing/2014/main" val="1199459884"/>
                    </a:ext>
                  </a:extLst>
                </a:gridCol>
                <a:gridCol w="633722">
                  <a:extLst>
                    <a:ext uri="{9D8B030D-6E8A-4147-A177-3AD203B41FA5}">
                      <a16:colId xmlns:a16="http://schemas.microsoft.com/office/drawing/2014/main" val="42243944"/>
                    </a:ext>
                  </a:extLst>
                </a:gridCol>
                <a:gridCol w="1649506">
                  <a:extLst>
                    <a:ext uri="{9D8B030D-6E8A-4147-A177-3AD203B41FA5}">
                      <a16:colId xmlns:a16="http://schemas.microsoft.com/office/drawing/2014/main" val="1406179581"/>
                    </a:ext>
                  </a:extLst>
                </a:gridCol>
                <a:gridCol w="1866789">
                  <a:extLst>
                    <a:ext uri="{9D8B030D-6E8A-4147-A177-3AD203B41FA5}">
                      <a16:colId xmlns:a16="http://schemas.microsoft.com/office/drawing/2014/main" val="2149660212"/>
                    </a:ext>
                  </a:extLst>
                </a:gridCol>
              </a:tblGrid>
              <a:tr h="0">
                <a:tc gridSpan="2">
                  <a:txBody>
                    <a:bodyPr/>
                    <a:lstStyle/>
                    <a:p>
                      <a:pPr algn="ctr" latinLnBrk="1"/>
                      <a:r>
                        <a:rPr lang="ko-KR" altLang="en-US" sz="900" dirty="0"/>
                        <a:t>특허를 받을 수 있는 권리의 공유</a:t>
                      </a:r>
                    </a:p>
                  </a:txBody>
                  <a:tcPr/>
                </a:tc>
                <a:tc hMerge="1">
                  <a:txBody>
                    <a:bodyPr/>
                    <a:lstStyle/>
                    <a:p>
                      <a:pPr latinLnBrk="1"/>
                      <a:endParaRPr lang="ko-KR" altLang="en-US" dirty="0"/>
                    </a:p>
                  </a:txBody>
                  <a:tcPr/>
                </a:tc>
                <a:tc>
                  <a:txBody>
                    <a:bodyPr/>
                    <a:lstStyle/>
                    <a:p>
                      <a:pPr algn="ctr" latinLnBrk="1"/>
                      <a:r>
                        <a:rPr lang="ko-KR" altLang="en-US" sz="900" dirty="0"/>
                        <a:t>단독발명후 지분이전</a:t>
                      </a:r>
                    </a:p>
                  </a:txBody>
                  <a:tcPr/>
                </a:tc>
                <a:tc>
                  <a:txBody>
                    <a:bodyPr/>
                    <a:lstStyle/>
                    <a:p>
                      <a:pPr algn="ctr" latinLnBrk="1"/>
                      <a:r>
                        <a:rPr lang="ko-KR" altLang="en-US" sz="900" dirty="0"/>
                        <a:t>공동발명</a:t>
                      </a:r>
                    </a:p>
                  </a:txBody>
                  <a:tcPr/>
                </a:tc>
                <a:extLst>
                  <a:ext uri="{0D108BD9-81ED-4DB2-BD59-A6C34878D82A}">
                    <a16:rowId xmlns:a16="http://schemas.microsoft.com/office/drawing/2014/main" val="2570431519"/>
                  </a:ext>
                </a:extLst>
              </a:tr>
              <a:tr h="0">
                <a:tc rowSpan="2">
                  <a:txBody>
                    <a:bodyPr/>
                    <a:lstStyle/>
                    <a:p>
                      <a:pPr algn="ctr" latinLnBrk="1"/>
                      <a:r>
                        <a:rPr lang="ko-KR" altLang="en-US" sz="900" dirty="0"/>
                        <a:t>제</a:t>
                      </a:r>
                      <a:r>
                        <a:rPr lang="en-US" altLang="ko-KR" sz="900" dirty="0"/>
                        <a:t>44</a:t>
                      </a:r>
                      <a:r>
                        <a:rPr lang="ko-KR" altLang="en-US" sz="900" dirty="0"/>
                        <a:t>조 위반</a:t>
                      </a:r>
                    </a:p>
                  </a:txBody>
                  <a:tcPr anchor="ctr"/>
                </a:tc>
                <a:tc>
                  <a:txBody>
                    <a:bodyPr/>
                    <a:lstStyle/>
                    <a:p>
                      <a:pPr algn="ctr" latinLnBrk="1"/>
                      <a:r>
                        <a:rPr lang="ko-KR" altLang="en-US" sz="900" dirty="0"/>
                        <a:t>구법</a:t>
                      </a:r>
                    </a:p>
                  </a:txBody>
                  <a:tcPr/>
                </a:tc>
                <a:tc>
                  <a:txBody>
                    <a:bodyPr/>
                    <a:lstStyle/>
                    <a:p>
                      <a:pPr algn="ctr" latinLnBrk="1"/>
                      <a:r>
                        <a:rPr lang="ko-KR" altLang="en-US" sz="900" dirty="0"/>
                        <a:t>불인정</a:t>
                      </a:r>
                      <a:endParaRPr lang="en-US" altLang="ko-KR" sz="900" dirty="0"/>
                    </a:p>
                    <a:p>
                      <a:pPr algn="ctr" latinLnBrk="1"/>
                      <a:r>
                        <a:rPr lang="en-US" altLang="ko-KR" sz="900" dirty="0"/>
                        <a:t>(</a:t>
                      </a:r>
                      <a:r>
                        <a:rPr lang="ko-KR" altLang="en-US" sz="900" dirty="0"/>
                        <a:t>계약상 채무불이행</a:t>
                      </a:r>
                      <a:r>
                        <a:rPr lang="en-US" altLang="ko-KR" sz="900" dirty="0"/>
                        <a:t>)</a:t>
                      </a:r>
                      <a:endParaRPr lang="ko-KR" altLang="en-US" sz="900" dirty="0"/>
                    </a:p>
                  </a:txBody>
                  <a:tcPr/>
                </a:tc>
                <a:tc>
                  <a:txBody>
                    <a:bodyPr/>
                    <a:lstStyle/>
                    <a:p>
                      <a:pPr algn="ctr" latinLnBrk="1"/>
                      <a:r>
                        <a:rPr lang="ko-KR" altLang="en-US" sz="900" dirty="0"/>
                        <a:t>인정</a:t>
                      </a:r>
                    </a:p>
                  </a:txBody>
                  <a:tcPr/>
                </a:tc>
                <a:extLst>
                  <a:ext uri="{0D108BD9-81ED-4DB2-BD59-A6C34878D82A}">
                    <a16:rowId xmlns:a16="http://schemas.microsoft.com/office/drawing/2014/main" val="3979176282"/>
                  </a:ext>
                </a:extLst>
              </a:tr>
              <a:tr h="0">
                <a:tc vMerge="1">
                  <a:txBody>
                    <a:bodyPr/>
                    <a:lstStyle/>
                    <a:p>
                      <a:pPr latinLnBrk="1"/>
                      <a:endParaRPr lang="ko-KR" altLang="en-US" sz="1050" dirty="0"/>
                    </a:p>
                  </a:txBody>
                  <a:tcPr/>
                </a:tc>
                <a:tc>
                  <a:txBody>
                    <a:bodyPr/>
                    <a:lstStyle/>
                    <a:p>
                      <a:pPr algn="ctr" latinLnBrk="1"/>
                      <a:r>
                        <a:rPr lang="ko-KR" altLang="en-US" sz="900" dirty="0"/>
                        <a:t>현행법</a:t>
                      </a:r>
                    </a:p>
                  </a:txBody>
                  <a:tcPr/>
                </a:tc>
                <a:tc>
                  <a:txBody>
                    <a:bodyPr/>
                    <a:lstStyle/>
                    <a:p>
                      <a:pPr algn="ctr" latinLnBrk="1"/>
                      <a:r>
                        <a:rPr lang="ko-KR" altLang="en-US" sz="900" dirty="0"/>
                        <a:t>인정</a:t>
                      </a:r>
                    </a:p>
                  </a:txBody>
                  <a:tcPr/>
                </a:tc>
                <a:tc>
                  <a:txBody>
                    <a:bodyPr/>
                    <a:lstStyle/>
                    <a:p>
                      <a:pPr algn="ctr" latinLnBrk="1"/>
                      <a:r>
                        <a:rPr lang="ko-KR" altLang="en-US" sz="900" dirty="0"/>
                        <a:t>인정</a:t>
                      </a:r>
                    </a:p>
                  </a:txBody>
                  <a:tcPr/>
                </a:tc>
                <a:extLst>
                  <a:ext uri="{0D108BD9-81ED-4DB2-BD59-A6C34878D82A}">
                    <a16:rowId xmlns:a16="http://schemas.microsoft.com/office/drawing/2014/main" val="1682090558"/>
                  </a:ext>
                </a:extLst>
              </a:tr>
            </a:tbl>
          </a:graphicData>
        </a:graphic>
      </p:graphicFrame>
    </p:spTree>
    <p:extLst>
      <p:ext uri="{BB962C8B-B14F-4D97-AF65-F5344CB8AC3E}">
        <p14:creationId xmlns:p14="http://schemas.microsoft.com/office/powerpoint/2010/main" val="153004424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Line 5">
            <a:extLst>
              <a:ext uri="{FF2B5EF4-FFF2-40B4-BE49-F238E27FC236}">
                <a16:creationId xmlns:a16="http://schemas.microsoft.com/office/drawing/2014/main" id="{89A7BBA8-4E00-44C3-A470-536BA2A58222}"/>
              </a:ext>
            </a:extLst>
          </p:cNvPr>
          <p:cNvSpPr>
            <a:spLocks noChangeShapeType="1"/>
          </p:cNvSpPr>
          <p:nvPr/>
        </p:nvSpPr>
        <p:spPr bwMode="auto">
          <a:xfrm>
            <a:off x="607658" y="5437022"/>
            <a:ext cx="9432081" cy="0"/>
          </a:xfrm>
          <a:prstGeom prst="line">
            <a:avLst/>
          </a:prstGeom>
          <a:noFill/>
          <a:ln w="57150">
            <a:solidFill>
              <a:schemeClr val="bg1">
                <a:lumMod val="50000"/>
              </a:schemeClr>
            </a:solidFill>
            <a:round/>
            <a:headEnd/>
            <a:tailEnd type="stealth" w="med" len="med"/>
          </a:ln>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2" name="제목 1"/>
          <p:cNvSpPr>
            <a:spLocks noGrp="1"/>
          </p:cNvSpPr>
          <p:nvPr>
            <p:ph type="title"/>
          </p:nvPr>
        </p:nvSpPr>
        <p:spPr/>
        <p:txBody>
          <a:bodyPr/>
          <a:lstStyle/>
          <a:p>
            <a:r>
              <a:rPr lang="ko-KR" altLang="en-US" dirty="0"/>
              <a:t>제</a:t>
            </a:r>
            <a:r>
              <a:rPr lang="en-US" altLang="ko-KR" dirty="0"/>
              <a:t>33</a:t>
            </a:r>
            <a:r>
              <a:rPr lang="ko-KR" altLang="en-US" dirty="0"/>
              <a:t>조 제</a:t>
            </a:r>
            <a:r>
              <a:rPr lang="en-US" altLang="ko-KR" dirty="0"/>
              <a:t>1</a:t>
            </a:r>
            <a:r>
              <a:rPr lang="ko-KR" altLang="en-US" dirty="0"/>
              <a:t>항</a:t>
            </a:r>
          </a:p>
        </p:txBody>
      </p:sp>
      <p:sp>
        <p:nvSpPr>
          <p:cNvPr id="3" name="텍스트 개체 틀 2"/>
          <p:cNvSpPr>
            <a:spLocks noGrp="1"/>
          </p:cNvSpPr>
          <p:nvPr>
            <p:ph type="body" sz="quarter" idx="13"/>
          </p:nvPr>
        </p:nvSpPr>
        <p:spPr/>
        <p:txBody>
          <a:bodyPr/>
          <a:lstStyle/>
          <a:p>
            <a:r>
              <a:rPr lang="ko-KR" altLang="en-US" dirty="0" err="1"/>
              <a:t>찰떡초코파이</a:t>
            </a:r>
            <a:r>
              <a:rPr lang="ko-KR" altLang="en-US" dirty="0"/>
              <a:t> </a:t>
            </a:r>
            <a:r>
              <a:rPr lang="en-US" altLang="ko-KR" dirty="0"/>
              <a:t>CASE</a:t>
            </a:r>
            <a:endParaRPr lang="ko-KR" altLang="en-US" dirty="0"/>
          </a:p>
        </p:txBody>
      </p:sp>
      <p:sp>
        <p:nvSpPr>
          <p:cNvPr id="38" name="슬라이드 번호 개체 틀 1">
            <a:extLst>
              <a:ext uri="{FF2B5EF4-FFF2-40B4-BE49-F238E27FC236}">
                <a16:creationId xmlns:a16="http://schemas.microsoft.com/office/drawing/2014/main" id="{0F75A23A-7A3E-48BF-8C01-2171501A1370}"/>
              </a:ext>
            </a:extLst>
          </p:cNvPr>
          <p:cNvSpPr>
            <a:spLocks noGrp="1"/>
          </p:cNvSpPr>
          <p:nvPr>
            <p:ph type="sldNum" sz="quarter" idx="4294967295"/>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fld id="{3875FC6C-1516-4DC4-8C58-3090F7D4F003}" type="slidenum">
              <a:rPr kumimoji="0" lang="ko-KR" altLang="en-US" sz="3600" b="1" i="0" u="none" strike="noStrike" kern="1200" cap="none" spc="0" normalizeH="0" baseline="0" noProof="0" smtClean="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pPr marL="0" marR="0" lvl="0" indent="0" algn="ctr" defTabSz="914400" rtl="0" eaLnBrk="1" fontAlgn="auto" latinLnBrk="1" hangingPunct="1">
                <a:lnSpc>
                  <a:spcPct val="100000"/>
                </a:lnSpc>
                <a:spcBef>
                  <a:spcPts val="0"/>
                </a:spcBef>
                <a:spcAft>
                  <a:spcPts val="0"/>
                </a:spcAft>
                <a:buClrTx/>
                <a:buSzTx/>
                <a:buFontTx/>
                <a:buNone/>
                <a:tabLst/>
                <a:defRPr/>
              </a:pPr>
              <a:t>103</a:t>
            </a:fld>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cxnSp>
        <p:nvCxnSpPr>
          <p:cNvPr id="23" name="직선 연결선 22">
            <a:extLst>
              <a:ext uri="{FF2B5EF4-FFF2-40B4-BE49-F238E27FC236}">
                <a16:creationId xmlns:a16="http://schemas.microsoft.com/office/drawing/2014/main" id="{BC744699-A9D8-41E8-AC09-E31EE1EB6442}"/>
              </a:ext>
            </a:extLst>
          </p:cNvPr>
          <p:cNvCxnSpPr/>
          <p:nvPr/>
        </p:nvCxnSpPr>
        <p:spPr>
          <a:xfrm>
            <a:off x="0" y="2287351"/>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직사각형 54">
            <a:extLst>
              <a:ext uri="{FF2B5EF4-FFF2-40B4-BE49-F238E27FC236}">
                <a16:creationId xmlns:a16="http://schemas.microsoft.com/office/drawing/2014/main" id="{88F9BA11-776F-458B-AEBF-785908167EF1}"/>
              </a:ext>
            </a:extLst>
          </p:cNvPr>
          <p:cNvSpPr/>
          <p:nvPr/>
        </p:nvSpPr>
        <p:spPr>
          <a:xfrm>
            <a:off x="232372" y="1269047"/>
            <a:ext cx="11681987" cy="1015663"/>
          </a:xfrm>
          <a:prstGeom prst="rect">
            <a:avLst/>
          </a:prstGeom>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甲이 경영하는 개인업체 연구개발부장 乙이 丙 회사로 전직하여 甲의 영업비밀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이하 ‘모인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冒認</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대상발명’이라</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을 丙 회사 직원들에게 누설함으로써 丙 회사가 甲의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모인대상발명을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변형하여 명칭이 “떡을 내장하는 과자 및 그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제조방법”인</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특허발명을 출원하여 특허등록을 받은 사안에서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특허발명의 특징적인 부분인 ‘떡이 가진 장기간 보관할 수 없는 문제점을 해결하기 위한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떡생지</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제조공정인 구성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는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모인대상발명의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구성과 실질적인 차이가 없고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丙 회사가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모인대상발명과</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실질적으로 차이가 없는 구성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모인대상발명에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없는 구성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1, 3, 4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새로 부가하는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것은 통상의 기술자가 보통으로 채용하는 정도의 변경에 지나지 않고 그 변경으로 발명의 작용효과에 특별한 차이를 일으키지 않아서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丙 회사가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특허발명의 기술적 사상의 창작에 실질적으로 기여한 것이 없다</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는 이유로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위 특허발명은 무권리자가 출원하여 특허를 받은 경우에 해당하여 특허법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133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 본문에 따라 그 등록이 무효이다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7" name="타원 26">
            <a:extLst>
              <a:ext uri="{FF2B5EF4-FFF2-40B4-BE49-F238E27FC236}">
                <a16:creationId xmlns:a16="http://schemas.microsoft.com/office/drawing/2014/main" id="{845B491D-8404-4504-83DB-F8CBD9B10B19}"/>
              </a:ext>
            </a:extLst>
          </p:cNvPr>
          <p:cNvSpPr/>
          <p:nvPr/>
        </p:nvSpPr>
        <p:spPr>
          <a:xfrm>
            <a:off x="1645488" y="5350173"/>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37" name="TextBox 36">
            <a:extLst>
              <a:ext uri="{FF2B5EF4-FFF2-40B4-BE49-F238E27FC236}">
                <a16:creationId xmlns:a16="http://schemas.microsoft.com/office/drawing/2014/main" id="{2C7F855E-63E7-4276-9A07-944733EA92D5}"/>
              </a:ext>
            </a:extLst>
          </p:cNvPr>
          <p:cNvSpPr txBox="1"/>
          <p:nvPr/>
        </p:nvSpPr>
        <p:spPr>
          <a:xfrm>
            <a:off x="351138" y="4292831"/>
            <a:ext cx="1637126" cy="830997"/>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과자류 제조업체</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삼진식품</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운영하는 甲이 외피가 도포된 떡 및 그 제조방법 </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특허출원후</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등록</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61" name="타원 60">
            <a:extLst>
              <a:ext uri="{FF2B5EF4-FFF2-40B4-BE49-F238E27FC236}">
                <a16:creationId xmlns:a16="http://schemas.microsoft.com/office/drawing/2014/main" id="{0E0EF7D2-5FEE-4A2F-ABD4-9147C82EBFE2}"/>
              </a:ext>
            </a:extLst>
          </p:cNvPr>
          <p:cNvSpPr/>
          <p:nvPr/>
        </p:nvSpPr>
        <p:spPr>
          <a:xfrm>
            <a:off x="2299726" y="534308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77" name="타원 76">
            <a:extLst>
              <a:ext uri="{FF2B5EF4-FFF2-40B4-BE49-F238E27FC236}">
                <a16:creationId xmlns:a16="http://schemas.microsoft.com/office/drawing/2014/main" id="{62437A67-7853-4410-9F0F-93BCE51D441E}"/>
              </a:ext>
            </a:extLst>
          </p:cNvPr>
          <p:cNvSpPr/>
          <p:nvPr/>
        </p:nvSpPr>
        <p:spPr>
          <a:xfrm>
            <a:off x="3929544" y="534308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79" name="TextBox 78">
            <a:extLst>
              <a:ext uri="{FF2B5EF4-FFF2-40B4-BE49-F238E27FC236}">
                <a16:creationId xmlns:a16="http://schemas.microsoft.com/office/drawing/2014/main" id="{FCC7409E-9708-455F-937F-1A02408E7A56}"/>
              </a:ext>
            </a:extLst>
          </p:cNvPr>
          <p:cNvSpPr txBox="1"/>
          <p:nvPr/>
        </p:nvSpPr>
        <p:spPr>
          <a:xfrm>
            <a:off x="319066" y="5739981"/>
            <a:ext cx="3525146" cy="1015663"/>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171450" marR="0" lvl="0" indent="-171450" algn="l" defTabSz="914400" rtl="0" eaLnBrk="1" fontAlgn="auto"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연구개발부장으로 제품 개발 및 제조공정 전반에 관한 정보를 관리할 수 있는 유일한 직원이었던 乙이 퇴사 후 丙 주식회사</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청우식품</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에 입사</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171450" marR="0" lvl="0" indent="-171450" algn="l" defTabSz="914400" rtl="0" eaLnBrk="1" fontAlgn="auto"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乙은 기술정보와 동일한 내용의 ‘떡 생지의 원재료 및 </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배합비’에</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관한 보고서를 丙 주식회사 제출</a:t>
            </a:r>
          </a:p>
        </p:txBody>
      </p:sp>
      <p:cxnSp>
        <p:nvCxnSpPr>
          <p:cNvPr id="9" name="연결선: 꺾임 8">
            <a:extLst>
              <a:ext uri="{FF2B5EF4-FFF2-40B4-BE49-F238E27FC236}">
                <a16:creationId xmlns:a16="http://schemas.microsoft.com/office/drawing/2014/main" id="{2F7C9590-F96C-443E-8904-DE90258FAF82}"/>
              </a:ext>
            </a:extLst>
          </p:cNvPr>
          <p:cNvCxnSpPr>
            <a:cxnSpLocks/>
            <a:stCxn id="37" idx="2"/>
            <a:endCxn id="27" idx="0"/>
          </p:cNvCxnSpPr>
          <p:nvPr/>
        </p:nvCxnSpPr>
        <p:spPr>
          <a:xfrm rot="16200000" flipH="1">
            <a:off x="1329709" y="4963819"/>
            <a:ext cx="226345" cy="546361"/>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C178A8E6-8843-432E-B2B7-F049BC13ECC2}"/>
              </a:ext>
            </a:extLst>
          </p:cNvPr>
          <p:cNvSpPr txBox="1"/>
          <p:nvPr/>
        </p:nvSpPr>
        <p:spPr>
          <a:xfrm>
            <a:off x="2065632" y="4623762"/>
            <a:ext cx="1132450"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초코찰떡파이</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제품 개발</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출시</a:t>
            </a:r>
          </a:p>
        </p:txBody>
      </p:sp>
      <p:cxnSp>
        <p:nvCxnSpPr>
          <p:cNvPr id="84" name="연결선: 꺾임 83">
            <a:extLst>
              <a:ext uri="{FF2B5EF4-FFF2-40B4-BE49-F238E27FC236}">
                <a16:creationId xmlns:a16="http://schemas.microsoft.com/office/drawing/2014/main" id="{212386C3-0CC1-42F1-B941-40D96C54403B}"/>
              </a:ext>
            </a:extLst>
          </p:cNvPr>
          <p:cNvCxnSpPr>
            <a:cxnSpLocks/>
            <a:stCxn id="83" idx="2"/>
            <a:endCxn id="61" idx="0"/>
          </p:cNvCxnSpPr>
          <p:nvPr/>
        </p:nvCxnSpPr>
        <p:spPr>
          <a:xfrm rot="5400000">
            <a:off x="2375646" y="5086876"/>
            <a:ext cx="257661" cy="254762"/>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5" name="타원 84">
            <a:extLst>
              <a:ext uri="{FF2B5EF4-FFF2-40B4-BE49-F238E27FC236}">
                <a16:creationId xmlns:a16="http://schemas.microsoft.com/office/drawing/2014/main" id="{F5F209D4-546B-45E0-9FC8-78934FA6AC87}"/>
              </a:ext>
            </a:extLst>
          </p:cNvPr>
          <p:cNvSpPr/>
          <p:nvPr/>
        </p:nvSpPr>
        <p:spPr>
          <a:xfrm>
            <a:off x="3509545" y="534308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86" name="TextBox 85">
            <a:extLst>
              <a:ext uri="{FF2B5EF4-FFF2-40B4-BE49-F238E27FC236}">
                <a16:creationId xmlns:a16="http://schemas.microsoft.com/office/drawing/2014/main" id="{5542F93E-BC94-427B-895D-B20B68F6D95E}"/>
              </a:ext>
            </a:extLst>
          </p:cNvPr>
          <p:cNvSpPr txBox="1"/>
          <p:nvPr/>
        </p:nvSpPr>
        <p:spPr>
          <a:xfrm>
            <a:off x="3863279" y="4586434"/>
            <a:ext cx="2369570"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제품품질을 개선한 원재료 및 </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배합비</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기술 연구개발</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영업비밀로 관리</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87" name="연결선: 꺾임 86">
            <a:extLst>
              <a:ext uri="{FF2B5EF4-FFF2-40B4-BE49-F238E27FC236}">
                <a16:creationId xmlns:a16="http://schemas.microsoft.com/office/drawing/2014/main" id="{A351E9F3-9FFB-4B2E-A4A4-E5AA09B24698}"/>
              </a:ext>
            </a:extLst>
          </p:cNvPr>
          <p:cNvCxnSpPr>
            <a:cxnSpLocks/>
            <a:stCxn id="86" idx="2"/>
            <a:endCxn id="85" idx="0"/>
          </p:cNvCxnSpPr>
          <p:nvPr/>
        </p:nvCxnSpPr>
        <p:spPr>
          <a:xfrm rot="5400000">
            <a:off x="4169995" y="4465018"/>
            <a:ext cx="294989" cy="1461150"/>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4" name="연결선: 꺾임 23">
            <a:extLst>
              <a:ext uri="{FF2B5EF4-FFF2-40B4-BE49-F238E27FC236}">
                <a16:creationId xmlns:a16="http://schemas.microsoft.com/office/drawing/2014/main" id="{619D9534-0796-45A3-A189-E5997798044F}"/>
              </a:ext>
            </a:extLst>
          </p:cNvPr>
          <p:cNvCxnSpPr>
            <a:stCxn id="79" idx="0"/>
            <a:endCxn id="77" idx="4"/>
          </p:cNvCxnSpPr>
          <p:nvPr/>
        </p:nvCxnSpPr>
        <p:spPr>
          <a:xfrm rot="5400000" flipH="1" flipV="1">
            <a:off x="2926499" y="4659567"/>
            <a:ext cx="235555" cy="1925274"/>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9" name="타원 88">
            <a:extLst>
              <a:ext uri="{FF2B5EF4-FFF2-40B4-BE49-F238E27FC236}">
                <a16:creationId xmlns:a16="http://schemas.microsoft.com/office/drawing/2014/main" id="{D0BCFBF0-4BEE-4BCF-B574-F09834429646}"/>
              </a:ext>
            </a:extLst>
          </p:cNvPr>
          <p:cNvSpPr/>
          <p:nvPr/>
        </p:nvSpPr>
        <p:spPr>
          <a:xfrm>
            <a:off x="6560361" y="534308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90" name="TextBox 89">
            <a:extLst>
              <a:ext uri="{FF2B5EF4-FFF2-40B4-BE49-F238E27FC236}">
                <a16:creationId xmlns:a16="http://schemas.microsoft.com/office/drawing/2014/main" id="{9DEC9646-AB01-4AB9-8CF9-DE60BB0A9C0E}"/>
              </a:ext>
            </a:extLst>
          </p:cNvPr>
          <p:cNvSpPr txBox="1"/>
          <p:nvPr/>
        </p:nvSpPr>
        <p:spPr>
          <a:xfrm>
            <a:off x="5709726" y="5739981"/>
            <a:ext cx="1211623"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丙 주식회사에서 찰떡 쿠키 출시</a:t>
            </a:r>
          </a:p>
        </p:txBody>
      </p:sp>
      <p:cxnSp>
        <p:nvCxnSpPr>
          <p:cNvPr id="91" name="연결선: 꺾임 90">
            <a:extLst>
              <a:ext uri="{FF2B5EF4-FFF2-40B4-BE49-F238E27FC236}">
                <a16:creationId xmlns:a16="http://schemas.microsoft.com/office/drawing/2014/main" id="{41787710-DFF3-444B-8773-13BD50582944}"/>
              </a:ext>
            </a:extLst>
          </p:cNvPr>
          <p:cNvCxnSpPr>
            <a:cxnSpLocks/>
            <a:stCxn id="90" idx="0"/>
            <a:endCxn id="89" idx="4"/>
          </p:cNvCxnSpPr>
          <p:nvPr/>
        </p:nvCxnSpPr>
        <p:spPr>
          <a:xfrm rot="5400000" flipH="1" flipV="1">
            <a:off x="6358857" y="5461108"/>
            <a:ext cx="235555" cy="322192"/>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6" name="타원 95">
            <a:extLst>
              <a:ext uri="{FF2B5EF4-FFF2-40B4-BE49-F238E27FC236}">
                <a16:creationId xmlns:a16="http://schemas.microsoft.com/office/drawing/2014/main" id="{1AADE59F-0011-4F37-8952-8288FDBA2E53}"/>
              </a:ext>
            </a:extLst>
          </p:cNvPr>
          <p:cNvSpPr/>
          <p:nvPr/>
        </p:nvSpPr>
        <p:spPr>
          <a:xfrm>
            <a:off x="4934744" y="534308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97" name="TextBox 96">
            <a:extLst>
              <a:ext uri="{FF2B5EF4-FFF2-40B4-BE49-F238E27FC236}">
                <a16:creationId xmlns:a16="http://schemas.microsoft.com/office/drawing/2014/main" id="{D8AFB44E-C66F-4BE4-908F-B73F3FA4135C}"/>
              </a:ext>
            </a:extLst>
          </p:cNvPr>
          <p:cNvSpPr txBox="1"/>
          <p:nvPr/>
        </p:nvSpPr>
        <p:spPr>
          <a:xfrm>
            <a:off x="4084109" y="5739981"/>
            <a:ext cx="1504011" cy="83099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떡을 내장하는 과자 및 그 제조방법을 발명자</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丙 직원</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출원인 丙으로 출원하여 등록</a:t>
            </a:r>
          </a:p>
        </p:txBody>
      </p:sp>
      <p:cxnSp>
        <p:nvCxnSpPr>
          <p:cNvPr id="98" name="연결선: 꺾임 97">
            <a:extLst>
              <a:ext uri="{FF2B5EF4-FFF2-40B4-BE49-F238E27FC236}">
                <a16:creationId xmlns:a16="http://schemas.microsoft.com/office/drawing/2014/main" id="{48D264A2-CAD7-41A3-80A4-2FD4324FE157}"/>
              </a:ext>
            </a:extLst>
          </p:cNvPr>
          <p:cNvCxnSpPr>
            <a:cxnSpLocks/>
            <a:stCxn id="97" idx="0"/>
            <a:endCxn id="96" idx="4"/>
          </p:cNvCxnSpPr>
          <p:nvPr/>
        </p:nvCxnSpPr>
        <p:spPr>
          <a:xfrm rot="5400000" flipH="1" flipV="1">
            <a:off x="4806337" y="5534205"/>
            <a:ext cx="235555" cy="175998"/>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2" name="타원 101">
            <a:extLst>
              <a:ext uri="{FF2B5EF4-FFF2-40B4-BE49-F238E27FC236}">
                <a16:creationId xmlns:a16="http://schemas.microsoft.com/office/drawing/2014/main" id="{C18B1B71-920E-4836-82C6-EE7D80461224}"/>
              </a:ext>
            </a:extLst>
          </p:cNvPr>
          <p:cNvSpPr/>
          <p:nvPr/>
        </p:nvSpPr>
        <p:spPr>
          <a:xfrm>
            <a:off x="7118803" y="5343088"/>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103" name="TextBox 102">
            <a:extLst>
              <a:ext uri="{FF2B5EF4-FFF2-40B4-BE49-F238E27FC236}">
                <a16:creationId xmlns:a16="http://schemas.microsoft.com/office/drawing/2014/main" id="{D9AE6D4A-7560-4BA8-B6CD-96B2D5ED795C}"/>
              </a:ext>
            </a:extLst>
          </p:cNvPr>
          <p:cNvSpPr txBox="1"/>
          <p:nvPr/>
        </p:nvSpPr>
        <p:spPr>
          <a:xfrm>
            <a:off x="6398177" y="4801285"/>
            <a:ext cx="126553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甲 무효심판청구</a:t>
            </a:r>
          </a:p>
        </p:txBody>
      </p:sp>
      <p:cxnSp>
        <p:nvCxnSpPr>
          <p:cNvPr id="104" name="연결선: 꺾임 103">
            <a:extLst>
              <a:ext uri="{FF2B5EF4-FFF2-40B4-BE49-F238E27FC236}">
                <a16:creationId xmlns:a16="http://schemas.microsoft.com/office/drawing/2014/main" id="{887F22AF-6A4D-4896-9B99-F4DFFC873F9B}"/>
              </a:ext>
            </a:extLst>
          </p:cNvPr>
          <p:cNvCxnSpPr>
            <a:cxnSpLocks/>
            <a:stCxn id="103" idx="2"/>
            <a:endCxn id="102" idx="0"/>
          </p:cNvCxnSpPr>
          <p:nvPr/>
        </p:nvCxnSpPr>
        <p:spPr>
          <a:xfrm rot="16200000" flipH="1">
            <a:off x="6981155" y="5128071"/>
            <a:ext cx="264804" cy="165229"/>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6" name="타원 105">
            <a:extLst>
              <a:ext uri="{FF2B5EF4-FFF2-40B4-BE49-F238E27FC236}">
                <a16:creationId xmlns:a16="http://schemas.microsoft.com/office/drawing/2014/main" id="{4FB52A7F-5312-43D4-A540-D37AE90413E8}"/>
              </a:ext>
            </a:extLst>
          </p:cNvPr>
          <p:cNvSpPr/>
          <p:nvPr/>
        </p:nvSpPr>
        <p:spPr>
          <a:xfrm>
            <a:off x="8863351" y="5343088"/>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107" name="TextBox 106">
            <a:extLst>
              <a:ext uri="{FF2B5EF4-FFF2-40B4-BE49-F238E27FC236}">
                <a16:creationId xmlns:a16="http://schemas.microsoft.com/office/drawing/2014/main" id="{BE4FF013-B00A-4584-9406-2846FB8BC45C}"/>
              </a:ext>
            </a:extLst>
          </p:cNvPr>
          <p:cNvSpPr txBox="1"/>
          <p:nvPr/>
        </p:nvSpPr>
        <p:spPr>
          <a:xfrm>
            <a:off x="7797532" y="4801285"/>
            <a:ext cx="1738354"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甲 </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영업비밀침해소송제기</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108" name="연결선: 꺾임 107">
            <a:extLst>
              <a:ext uri="{FF2B5EF4-FFF2-40B4-BE49-F238E27FC236}">
                <a16:creationId xmlns:a16="http://schemas.microsoft.com/office/drawing/2014/main" id="{E71B15CA-EB86-4DBE-8207-C9EDA6F81C8D}"/>
              </a:ext>
            </a:extLst>
          </p:cNvPr>
          <p:cNvCxnSpPr>
            <a:cxnSpLocks/>
            <a:stCxn id="107" idx="2"/>
            <a:endCxn id="106" idx="0"/>
          </p:cNvCxnSpPr>
          <p:nvPr/>
        </p:nvCxnSpPr>
        <p:spPr>
          <a:xfrm rot="16200000" flipH="1">
            <a:off x="8671312" y="5073680"/>
            <a:ext cx="264804" cy="274011"/>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1" name="사각형: 둥근 모서리 110">
            <a:extLst>
              <a:ext uri="{FF2B5EF4-FFF2-40B4-BE49-F238E27FC236}">
                <a16:creationId xmlns:a16="http://schemas.microsoft.com/office/drawing/2014/main" id="{554490DD-F0E6-414B-856D-491321691AA4}"/>
              </a:ext>
            </a:extLst>
          </p:cNvPr>
          <p:cNvSpPr/>
          <p:nvPr/>
        </p:nvSpPr>
        <p:spPr>
          <a:xfrm>
            <a:off x="113937" y="964867"/>
            <a:ext cx="4765205" cy="302955"/>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2011. 9. 29.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2009</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2463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판결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등록무효</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특</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2" name="사각형: 둥근 모서리 111">
            <a:extLst>
              <a:ext uri="{FF2B5EF4-FFF2-40B4-BE49-F238E27FC236}">
                <a16:creationId xmlns:a16="http://schemas.microsoft.com/office/drawing/2014/main" id="{FB76F859-88A1-4D6E-9410-CD53FEF533BA}"/>
              </a:ext>
            </a:extLst>
          </p:cNvPr>
          <p:cNvSpPr/>
          <p:nvPr/>
        </p:nvSpPr>
        <p:spPr>
          <a:xfrm>
            <a:off x="113937" y="2325974"/>
            <a:ext cx="3827176" cy="302955"/>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의정부지방법원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2011. 9. 8.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2009</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가합</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7325</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4" name="직사각형 113">
            <a:extLst>
              <a:ext uri="{FF2B5EF4-FFF2-40B4-BE49-F238E27FC236}">
                <a16:creationId xmlns:a16="http://schemas.microsoft.com/office/drawing/2014/main" id="{EFA80E0B-E456-45D1-9A4E-386FBE42E6F9}"/>
              </a:ext>
            </a:extLst>
          </p:cNvPr>
          <p:cNvSpPr/>
          <p:nvPr/>
        </p:nvSpPr>
        <p:spPr>
          <a:xfrm>
            <a:off x="227449" y="2637741"/>
            <a:ext cx="11686909" cy="1569660"/>
          </a:xfrm>
          <a:prstGeom prst="rect">
            <a:avLst/>
          </a:prstGeom>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과자류 제조업체를 운영하는 甲이 ‘외피가 도포된 떡 및 그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제조방법’에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관한 특허발명 등록을 마치고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초코찰떡파이’라는</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제품을 개발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출시한 후 상당한 시간과 비용을 투입하여 제품 품질을 개선한 ‘원재료 및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배합비’에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관한 기술을 연구</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개발하였는데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업체의 연구개발부장으로 제품 개발 및 제조공정 전반에 관한 정보를 관리할 수 있는 유일한 직원이었던 乙이 퇴사 후 丙 주식회사에 입사하여 위 기술정보와 동일한 내용의 ‘떡 생지의 원재료 및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배합비’에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관한 보고서를 제출하여 丙 회사가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찰떡쿠키’라는</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제품을 출시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판매한 사안에서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甲의 기술정보가 상당한 인적</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물적 시설을 투입하여 개발한 것으로 甲 업체의 주력 상품인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찰떡초코파이의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핵심 기술이고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일반적으로 알려져 있지 아니함은 물론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甲이 乙을 포함한 전 직원들에게서 영업비밀 준수에 관한 서약서를 받는 등 기술정보를 엄격하게 관리하여 비밀로 유지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관리하여 온 점 등에 비추어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위 기술정보는 부정경쟁방지 및 영업비밀보호에 관한 법률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호에 정한 영업비밀에 해당하고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丙 회사가 乙을 통하여 취득한 위 영업비밀을 이용하여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찰떡쿠키의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개발에 성공하거나 또는 개발 성공에 필요한 시간적</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인적</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물적 비용을 상당 부분 단축</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절감하였다고 보이고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영업비밀과 丙 회사의 기술 사이에 일부 차이점이 존재하더라도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丙 회사가 위 영업비밀을 자신의 영업활동에 이용하여 기업활동에 직접 또는 간접적으로 사용한 이상</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영업비밀을 침해하였다고 보이므로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丙 회사는 영업비밀 침해행위로 인하여 甲이 입은 손해를 배상할 책임이 있다</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단</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영업비밀의 보호기간을 乙이 甲 업체를 퇴직한 날을 기준으로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년으로 인정함</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117" name="직선 연결선 116">
            <a:extLst>
              <a:ext uri="{FF2B5EF4-FFF2-40B4-BE49-F238E27FC236}">
                <a16:creationId xmlns:a16="http://schemas.microsoft.com/office/drawing/2014/main" id="{BFD281FC-CD72-49F6-854D-14A8B3DE91EB}"/>
              </a:ext>
            </a:extLst>
          </p:cNvPr>
          <p:cNvCxnSpPr/>
          <p:nvPr/>
        </p:nvCxnSpPr>
        <p:spPr>
          <a:xfrm>
            <a:off x="0" y="4199421"/>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39" name="Picture 6" descr="http://image.daldalmall.co.kr/data_daldalmall/goods/14344321497620/14344321497620_5.jpg">
            <a:extLst>
              <a:ext uri="{FF2B5EF4-FFF2-40B4-BE49-F238E27FC236}">
                <a16:creationId xmlns:a16="http://schemas.microsoft.com/office/drawing/2014/main" id="{1119D9E0-B8DB-44C9-B8F3-DC4573F660B2}"/>
              </a:ext>
            </a:extLst>
          </p:cNvPr>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t="17536" b="56225"/>
          <a:stretch/>
        </p:blipFill>
        <p:spPr bwMode="auto">
          <a:xfrm>
            <a:off x="10126368" y="4237781"/>
            <a:ext cx="1974389" cy="1404005"/>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4" descr="https://postfiles.pstatic.net/MjAxNzA0MDFfMTQ1/MDAxNDkwOTc0NTA1Mzgw.OFtuDrCkA8yIUWn9BBPDYgPYeYK2x675xq5OyS9mxMEg.-vV4Ym1O--Q3rCJCfzm6x72QfREuNJr-uO_DyBUkODAg.JPEG.sonamuhangru/20170330_234820.jpg?type=w2">
            <a:extLst>
              <a:ext uri="{FF2B5EF4-FFF2-40B4-BE49-F238E27FC236}">
                <a16:creationId xmlns:a16="http://schemas.microsoft.com/office/drawing/2014/main" id="{428CC643-FCDC-444F-909F-8A7EE44CD2C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09154" y="5588953"/>
            <a:ext cx="1373900" cy="1214875"/>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3F9381A3-1AE0-1B48-E3A7-28EEC87A14D3}"/>
              </a:ext>
            </a:extLst>
          </p:cNvPr>
          <p:cNvSpPr txBox="1"/>
          <p:nvPr/>
        </p:nvSpPr>
        <p:spPr>
          <a:xfrm>
            <a:off x="3315789" y="4311541"/>
            <a:ext cx="3589444"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5</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년</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/30</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억 투자하여 보존기간을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10</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주에서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5</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개월로 연장</a:t>
            </a:r>
          </a:p>
        </p:txBody>
      </p:sp>
    </p:spTree>
    <p:extLst>
      <p:ext uri="{BB962C8B-B14F-4D97-AF65-F5344CB8AC3E}">
        <p14:creationId xmlns:p14="http://schemas.microsoft.com/office/powerpoint/2010/main" val="3187303026"/>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33</a:t>
            </a:r>
            <a:r>
              <a:rPr lang="ko-KR" altLang="en-US" dirty="0"/>
              <a:t>조제</a:t>
            </a:r>
            <a:r>
              <a:rPr lang="en-US" altLang="ko-KR" dirty="0"/>
              <a:t>1</a:t>
            </a:r>
            <a:r>
              <a:rPr lang="ko-KR" altLang="en-US" dirty="0"/>
              <a:t>항</a:t>
            </a:r>
          </a:p>
        </p:txBody>
      </p:sp>
      <p:sp>
        <p:nvSpPr>
          <p:cNvPr id="3" name="텍스트 개체 틀 2"/>
          <p:cNvSpPr>
            <a:spLocks noGrp="1"/>
          </p:cNvSpPr>
          <p:nvPr>
            <p:ph type="body" sz="quarter" idx="13"/>
          </p:nvPr>
        </p:nvSpPr>
        <p:spPr/>
        <p:txBody>
          <a:bodyPr/>
          <a:lstStyle/>
          <a:p>
            <a:r>
              <a:rPr lang="ko-KR" altLang="en-US" dirty="0">
                <a:solidFill>
                  <a:srgbClr val="525252"/>
                </a:solidFill>
              </a:rPr>
              <a:t>롤</a:t>
            </a:r>
            <a:r>
              <a:rPr lang="en-US" altLang="ko-KR" dirty="0">
                <a:solidFill>
                  <a:srgbClr val="525252"/>
                </a:solidFill>
              </a:rPr>
              <a:t> </a:t>
            </a:r>
            <a:r>
              <a:rPr lang="ko-KR" altLang="en-US" dirty="0">
                <a:solidFill>
                  <a:srgbClr val="525252"/>
                </a:solidFill>
              </a:rPr>
              <a:t>코팅장치 </a:t>
            </a:r>
            <a:r>
              <a:rPr lang="en-US" altLang="ko-KR" dirty="0">
                <a:solidFill>
                  <a:srgbClr val="525252"/>
                </a:solidFill>
              </a:rPr>
              <a:t>CASE</a:t>
            </a:r>
            <a:endParaRPr lang="ko-KR" altLang="en-US" dirty="0">
              <a:solidFill>
                <a:srgbClr val="525252"/>
              </a:solidFill>
            </a:endParaRPr>
          </a:p>
        </p:txBody>
      </p:sp>
      <p:sp>
        <p:nvSpPr>
          <p:cNvPr id="4" name="슬라이드 번호 개체 틀 3"/>
          <p:cNvSpPr>
            <a:spLocks noGrp="1"/>
          </p:cNvSpPr>
          <p:nvPr>
            <p:ph type="sldNum" sz="quarter" idx="4294967295"/>
          </p:nvPr>
        </p:nvSpPr>
        <p:spPr>
          <a:xfrm>
            <a:off x="11125200" y="0"/>
            <a:ext cx="1066800" cy="744538"/>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102</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46" name="모서리가 둥근 직사각형 10">
            <a:extLst>
              <a:ext uri="{FF2B5EF4-FFF2-40B4-BE49-F238E27FC236}">
                <a16:creationId xmlns:a16="http://schemas.microsoft.com/office/drawing/2014/main" id="{EA6D0AA3-A795-463F-A932-E97DEE7EE09B}"/>
              </a:ext>
            </a:extLst>
          </p:cNvPr>
          <p:cNvSpPr/>
          <p:nvPr/>
        </p:nvSpPr>
        <p:spPr bwMode="auto">
          <a:xfrm>
            <a:off x="335289" y="1008637"/>
            <a:ext cx="4314352"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2022. 11. 17.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2019</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11268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판결</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등록무효</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특</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p>
        </p:txBody>
      </p:sp>
      <p:sp>
        <p:nvSpPr>
          <p:cNvPr id="6" name="직사각형 5">
            <a:extLst>
              <a:ext uri="{FF2B5EF4-FFF2-40B4-BE49-F238E27FC236}">
                <a16:creationId xmlns:a16="http://schemas.microsoft.com/office/drawing/2014/main" id="{D8297537-B24B-4300-B18D-EAD87B250EF1}"/>
              </a:ext>
            </a:extLst>
          </p:cNvPr>
          <p:cNvSpPr/>
          <p:nvPr/>
        </p:nvSpPr>
        <p:spPr>
          <a:xfrm>
            <a:off x="69012" y="1363747"/>
            <a:ext cx="12051102" cy="1015663"/>
          </a:xfrm>
          <a:prstGeom prst="rect">
            <a:avLst/>
          </a:prstGeom>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구 특허법</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(2006. 3. 3.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법률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7871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호로 개정되기 전의 것</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이하 같다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 본문은 발명을 한 사람 또는 그 승계인은 특허법에서 정하는 바에 따라 특허를 받을 수 있는 권리를 가진다고 규정하고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133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호는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 본문의 규정에 의한 특허를 받을 수 있는 권리를 가지지 아니한 사람</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무권리자’라고</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 출원하여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특허받은</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경우를 특허무효사유의 하나로 규정하고 있다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무권리자의 출원을 무효사유로 한 특허무효심판 및 그에 따른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심결취소소송에서</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위와 같은 무효사유에 관한 증명책임은 무효라고 주장하는 당사자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에게 있다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한편 특허법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호는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발명’이란</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자연법칙을 이용하여 기술적 사상을 고도로 창작한 것을 말한다고 규정하고 있으므로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특허법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항에서 정하고 있는 ‘발명을 한 자’는 바로 이러한 발명행위를 한 사람을 가리킨다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2011. 9. 29.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2009</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2463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판결 등 참조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19" name="Line 5">
            <a:extLst>
              <a:ext uri="{FF2B5EF4-FFF2-40B4-BE49-F238E27FC236}">
                <a16:creationId xmlns:a16="http://schemas.microsoft.com/office/drawing/2014/main" id="{0BEAE8CA-D13F-4977-A54A-833036EDBC7A}"/>
              </a:ext>
            </a:extLst>
          </p:cNvPr>
          <p:cNvSpPr>
            <a:spLocks noChangeShapeType="1"/>
          </p:cNvSpPr>
          <p:nvPr/>
        </p:nvSpPr>
        <p:spPr bwMode="auto">
          <a:xfrm>
            <a:off x="359257" y="3737363"/>
            <a:ext cx="11555101" cy="0"/>
          </a:xfrm>
          <a:prstGeom prst="line">
            <a:avLst/>
          </a:prstGeom>
          <a:noFill/>
          <a:ln w="57150">
            <a:solidFill>
              <a:schemeClr val="bg1">
                <a:lumMod val="50000"/>
              </a:schemeClr>
            </a:solidFill>
            <a:round/>
            <a:headEnd/>
            <a:tailEnd type="stealth" w="med" len="med"/>
          </a:ln>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20" name="TextBox 19">
            <a:extLst>
              <a:ext uri="{FF2B5EF4-FFF2-40B4-BE49-F238E27FC236}">
                <a16:creationId xmlns:a16="http://schemas.microsoft.com/office/drawing/2014/main" id="{3EA6D475-FAFA-4A69-BABE-E114DE552074}"/>
              </a:ext>
            </a:extLst>
          </p:cNvPr>
          <p:cNvSpPr txBox="1"/>
          <p:nvPr/>
        </p:nvSpPr>
        <p:spPr>
          <a:xfrm>
            <a:off x="353184" y="4065258"/>
            <a:ext cx="1184326" cy="461665"/>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선행발명</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1</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모인대상발명</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1)</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23" name="타원 22">
            <a:extLst>
              <a:ext uri="{FF2B5EF4-FFF2-40B4-BE49-F238E27FC236}">
                <a16:creationId xmlns:a16="http://schemas.microsoft.com/office/drawing/2014/main" id="{7D8F240F-02EC-41B5-BA72-840A15F086A4}"/>
              </a:ext>
            </a:extLst>
          </p:cNvPr>
          <p:cNvSpPr/>
          <p:nvPr/>
        </p:nvSpPr>
        <p:spPr>
          <a:xfrm>
            <a:off x="867977"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25" name="직선 연결선 24">
            <a:extLst>
              <a:ext uri="{FF2B5EF4-FFF2-40B4-BE49-F238E27FC236}">
                <a16:creationId xmlns:a16="http://schemas.microsoft.com/office/drawing/2014/main" id="{F1B8DF3E-919A-4473-8D03-48A2196079D8}"/>
              </a:ext>
            </a:extLst>
          </p:cNvPr>
          <p:cNvCxnSpPr>
            <a:cxnSpLocks/>
            <a:stCxn id="20" idx="0"/>
            <a:endCxn id="23" idx="4"/>
          </p:cNvCxnSpPr>
          <p:nvPr/>
        </p:nvCxnSpPr>
        <p:spPr>
          <a:xfrm flipH="1" flipV="1">
            <a:off x="945346" y="3804767"/>
            <a:ext cx="1" cy="2604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1A1F400C-EA48-4876-9FDE-A22E6F3F4695}"/>
              </a:ext>
            </a:extLst>
          </p:cNvPr>
          <p:cNvSpPr txBox="1"/>
          <p:nvPr/>
        </p:nvSpPr>
        <p:spPr>
          <a:xfrm>
            <a:off x="174038" y="5250373"/>
            <a:ext cx="1542618" cy="600164"/>
          </a:xfrm>
          <a:prstGeom prst="rect">
            <a:avLst/>
          </a:prstGeom>
          <a:solidFill>
            <a:schemeClr val="accent2">
              <a:lumMod val="20000"/>
              <a:lumOff val="80000"/>
            </a:schemeClr>
          </a:solidFill>
          <a:ln w="38100">
            <a:solidFill>
              <a:srgbClr val="FF0000"/>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H </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제작소에서 </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G</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에 제공한 패턴 필름 코팅장치</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(1)</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의 조립도</a:t>
            </a:r>
          </a:p>
        </p:txBody>
      </p:sp>
      <p:cxnSp>
        <p:nvCxnSpPr>
          <p:cNvPr id="27" name="직선 연결선 26">
            <a:extLst>
              <a:ext uri="{FF2B5EF4-FFF2-40B4-BE49-F238E27FC236}">
                <a16:creationId xmlns:a16="http://schemas.microsoft.com/office/drawing/2014/main" id="{46B11F7C-C520-4C40-AE96-8A5FDCFC7CB7}"/>
              </a:ext>
            </a:extLst>
          </p:cNvPr>
          <p:cNvCxnSpPr>
            <a:cxnSpLocks/>
            <a:stCxn id="20" idx="2"/>
            <a:endCxn id="26" idx="0"/>
          </p:cNvCxnSpPr>
          <p:nvPr/>
        </p:nvCxnSpPr>
        <p:spPr>
          <a:xfrm>
            <a:off x="945347" y="4526923"/>
            <a:ext cx="0" cy="72345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D9CB9059-D662-42C5-8B61-D5AB8BD8CA4F}"/>
              </a:ext>
            </a:extLst>
          </p:cNvPr>
          <p:cNvSpPr txBox="1"/>
          <p:nvPr/>
        </p:nvSpPr>
        <p:spPr>
          <a:xfrm>
            <a:off x="10832963" y="3998396"/>
            <a:ext cx="927209" cy="461665"/>
          </a:xfrm>
          <a:prstGeom prst="rect">
            <a:avLst/>
          </a:prstGeom>
          <a:solidFill>
            <a:schemeClr val="tx2"/>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95000"/>
                  </a:prstClr>
                </a:solidFill>
                <a:effectLst/>
                <a:uLnTx/>
                <a:uFillTx/>
                <a:latin typeface="Rix모던고딕 B"/>
                <a:ea typeface="Rix모던고딕 B"/>
                <a:cs typeface="+mn-cs"/>
              </a:rPr>
              <a:t>대법원 판단</a:t>
            </a:r>
            <a:endParaRPr kumimoji="0" lang="en-US" altLang="ko-KR" sz="1200" b="0" i="0" u="none" strike="noStrike" kern="1200" cap="none" spc="0" normalizeH="0" baseline="0" noProof="0" dirty="0">
              <a:ln>
                <a:noFill/>
              </a:ln>
              <a:solidFill>
                <a:prstClr val="white">
                  <a:lumMod val="95000"/>
                </a:prstClr>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95000"/>
                  </a:prstClr>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white">
                    <a:lumMod val="95000"/>
                  </a:prstClr>
                </a:solidFill>
                <a:effectLst/>
                <a:uLnTx/>
                <a:uFillTx/>
                <a:latin typeface="Rix모던고딕 B"/>
                <a:ea typeface="Rix모던고딕 B"/>
                <a:cs typeface="+mn-cs"/>
              </a:rPr>
              <a:t>기각</a:t>
            </a:r>
            <a:r>
              <a:rPr kumimoji="0" lang="en-US" altLang="ko-KR" sz="1200" b="0" i="0" u="none" strike="noStrike" kern="1200" cap="none" spc="0" normalizeH="0" baseline="0" noProof="0" dirty="0">
                <a:ln>
                  <a:noFill/>
                </a:ln>
                <a:solidFill>
                  <a:prstClr val="white">
                    <a:lumMod val="95000"/>
                  </a:prstClr>
                </a:solidFill>
                <a:effectLst/>
                <a:uLnTx/>
                <a:uFillTx/>
                <a:latin typeface="Rix모던고딕 B"/>
                <a:ea typeface="Rix모던고딕 B"/>
                <a:cs typeface="+mn-cs"/>
              </a:rPr>
              <a:t>)</a:t>
            </a:r>
            <a:endParaRPr kumimoji="0" lang="ko-KR" altLang="en-US" sz="1200" b="0" i="0" u="none" strike="noStrike" kern="1200" cap="none" spc="0" normalizeH="0" baseline="0" noProof="0" dirty="0">
              <a:ln>
                <a:noFill/>
              </a:ln>
              <a:solidFill>
                <a:prstClr val="white">
                  <a:lumMod val="95000"/>
                </a:prstClr>
              </a:solidFill>
              <a:effectLst/>
              <a:uLnTx/>
              <a:uFillTx/>
              <a:latin typeface="Rix모던고딕 B"/>
              <a:ea typeface="Rix모던고딕 B"/>
              <a:cs typeface="+mn-cs"/>
            </a:endParaRPr>
          </a:p>
        </p:txBody>
      </p:sp>
      <p:sp>
        <p:nvSpPr>
          <p:cNvPr id="40" name="타원 39">
            <a:extLst>
              <a:ext uri="{FF2B5EF4-FFF2-40B4-BE49-F238E27FC236}">
                <a16:creationId xmlns:a16="http://schemas.microsoft.com/office/drawing/2014/main" id="{82251259-CCB1-45F1-8B5F-A3238466F5DE}"/>
              </a:ext>
            </a:extLst>
          </p:cNvPr>
          <p:cNvSpPr/>
          <p:nvPr/>
        </p:nvSpPr>
        <p:spPr>
          <a:xfrm>
            <a:off x="11217161"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41" name="직선 연결선 40">
            <a:extLst>
              <a:ext uri="{FF2B5EF4-FFF2-40B4-BE49-F238E27FC236}">
                <a16:creationId xmlns:a16="http://schemas.microsoft.com/office/drawing/2014/main" id="{886A1B5D-764D-4029-962B-2DCB60A496DF}"/>
              </a:ext>
            </a:extLst>
          </p:cNvPr>
          <p:cNvCxnSpPr>
            <a:cxnSpLocks/>
            <a:stCxn id="39" idx="0"/>
            <a:endCxn id="40" idx="4"/>
          </p:cNvCxnSpPr>
          <p:nvPr/>
        </p:nvCxnSpPr>
        <p:spPr>
          <a:xfrm flipH="1" flipV="1">
            <a:off x="11294530" y="3804767"/>
            <a:ext cx="2038" cy="19362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F9A7D604-C2BE-31E0-3297-813504BAD580}"/>
              </a:ext>
            </a:extLst>
          </p:cNvPr>
          <p:cNvSpPr txBox="1"/>
          <p:nvPr/>
        </p:nvSpPr>
        <p:spPr>
          <a:xfrm>
            <a:off x="5349541" y="3993538"/>
            <a:ext cx="781942"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특허</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출원</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(2’)</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54" name="타원 53">
            <a:extLst>
              <a:ext uri="{FF2B5EF4-FFF2-40B4-BE49-F238E27FC236}">
                <a16:creationId xmlns:a16="http://schemas.microsoft.com/office/drawing/2014/main" id="{1BE0968F-66E6-BFA0-AD29-D07CDCD33C9E}"/>
              </a:ext>
            </a:extLst>
          </p:cNvPr>
          <p:cNvSpPr/>
          <p:nvPr/>
        </p:nvSpPr>
        <p:spPr>
          <a:xfrm>
            <a:off x="5670931"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55" name="직선 연결선 54">
            <a:extLst>
              <a:ext uri="{FF2B5EF4-FFF2-40B4-BE49-F238E27FC236}">
                <a16:creationId xmlns:a16="http://schemas.microsoft.com/office/drawing/2014/main" id="{1C5A0AA3-8C28-28AB-4970-F69B903D970C}"/>
              </a:ext>
            </a:extLst>
          </p:cNvPr>
          <p:cNvCxnSpPr>
            <a:cxnSpLocks/>
            <a:stCxn id="49" idx="0"/>
            <a:endCxn id="54" idx="4"/>
          </p:cNvCxnSpPr>
          <p:nvPr/>
        </p:nvCxnSpPr>
        <p:spPr>
          <a:xfrm flipV="1">
            <a:off x="5740512" y="3804767"/>
            <a:ext cx="7788"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0414ACC8-CCFF-485F-5121-F755E341C9C8}"/>
              </a:ext>
            </a:extLst>
          </p:cNvPr>
          <p:cNvSpPr txBox="1"/>
          <p:nvPr/>
        </p:nvSpPr>
        <p:spPr>
          <a:xfrm>
            <a:off x="7703095" y="3993538"/>
            <a:ext cx="769124" cy="461665"/>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무효심판</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청구</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69" name="타원 68">
            <a:extLst>
              <a:ext uri="{FF2B5EF4-FFF2-40B4-BE49-F238E27FC236}">
                <a16:creationId xmlns:a16="http://schemas.microsoft.com/office/drawing/2014/main" id="{37973283-0482-DD8B-E06E-A70460ED2EC1}"/>
              </a:ext>
            </a:extLst>
          </p:cNvPr>
          <p:cNvSpPr/>
          <p:nvPr/>
        </p:nvSpPr>
        <p:spPr>
          <a:xfrm>
            <a:off x="8010287"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70" name="직선 연결선 69">
            <a:extLst>
              <a:ext uri="{FF2B5EF4-FFF2-40B4-BE49-F238E27FC236}">
                <a16:creationId xmlns:a16="http://schemas.microsoft.com/office/drawing/2014/main" id="{BB86F4DA-C064-89BD-0111-B180DF2A2CED}"/>
              </a:ext>
            </a:extLst>
          </p:cNvPr>
          <p:cNvCxnSpPr>
            <a:cxnSpLocks/>
            <a:stCxn id="68" idx="0"/>
            <a:endCxn id="69" idx="4"/>
          </p:cNvCxnSpPr>
          <p:nvPr/>
        </p:nvCxnSpPr>
        <p:spPr>
          <a:xfrm flipH="1" flipV="1">
            <a:off x="8087656" y="3804767"/>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93F38F27-CC79-9ACB-E718-2F75DD20F241}"/>
              </a:ext>
            </a:extLst>
          </p:cNvPr>
          <p:cNvSpPr txBox="1"/>
          <p:nvPr/>
        </p:nvSpPr>
        <p:spPr>
          <a:xfrm>
            <a:off x="8526291" y="3993538"/>
            <a:ext cx="474308"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인용</a:t>
            </a:r>
          </a:p>
        </p:txBody>
      </p:sp>
      <p:sp>
        <p:nvSpPr>
          <p:cNvPr id="88" name="타원 87">
            <a:extLst>
              <a:ext uri="{FF2B5EF4-FFF2-40B4-BE49-F238E27FC236}">
                <a16:creationId xmlns:a16="http://schemas.microsoft.com/office/drawing/2014/main" id="{5B410617-9714-0CBB-4051-61CCBC455620}"/>
              </a:ext>
            </a:extLst>
          </p:cNvPr>
          <p:cNvSpPr/>
          <p:nvPr/>
        </p:nvSpPr>
        <p:spPr>
          <a:xfrm>
            <a:off x="8686381"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89" name="직선 연결선 88">
            <a:extLst>
              <a:ext uri="{FF2B5EF4-FFF2-40B4-BE49-F238E27FC236}">
                <a16:creationId xmlns:a16="http://schemas.microsoft.com/office/drawing/2014/main" id="{FDEBC522-9277-AFF5-0C19-47EFB6632897}"/>
              </a:ext>
            </a:extLst>
          </p:cNvPr>
          <p:cNvCxnSpPr>
            <a:cxnSpLocks/>
            <a:stCxn id="87" idx="0"/>
            <a:endCxn id="88" idx="4"/>
          </p:cNvCxnSpPr>
          <p:nvPr/>
        </p:nvCxnSpPr>
        <p:spPr>
          <a:xfrm flipV="1">
            <a:off x="8763445" y="3804767"/>
            <a:ext cx="305"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E64734ED-6BC6-8FFB-AF91-44C820E4F5CB}"/>
              </a:ext>
            </a:extLst>
          </p:cNvPr>
          <p:cNvSpPr txBox="1"/>
          <p:nvPr/>
        </p:nvSpPr>
        <p:spPr>
          <a:xfrm>
            <a:off x="1652240" y="4065258"/>
            <a:ext cx="1184326" cy="461665"/>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선행발명</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2</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모인대상발명</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2)</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7" name="타원 6">
            <a:extLst>
              <a:ext uri="{FF2B5EF4-FFF2-40B4-BE49-F238E27FC236}">
                <a16:creationId xmlns:a16="http://schemas.microsoft.com/office/drawing/2014/main" id="{1E0D2369-5AC8-79A9-9A70-167C140017A6}"/>
              </a:ext>
            </a:extLst>
          </p:cNvPr>
          <p:cNvSpPr/>
          <p:nvPr/>
        </p:nvSpPr>
        <p:spPr>
          <a:xfrm>
            <a:off x="2161475"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8" name="직선 연결선 7">
            <a:extLst>
              <a:ext uri="{FF2B5EF4-FFF2-40B4-BE49-F238E27FC236}">
                <a16:creationId xmlns:a16="http://schemas.microsoft.com/office/drawing/2014/main" id="{FD472042-0C0E-8D4F-8941-E668D92FFF47}"/>
              </a:ext>
            </a:extLst>
          </p:cNvPr>
          <p:cNvCxnSpPr>
            <a:cxnSpLocks/>
          </p:cNvCxnSpPr>
          <p:nvPr/>
        </p:nvCxnSpPr>
        <p:spPr>
          <a:xfrm flipH="1" flipV="1">
            <a:off x="2244402" y="3876487"/>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1030C8C3-93E6-AA4D-2209-014D63A417BC}"/>
              </a:ext>
            </a:extLst>
          </p:cNvPr>
          <p:cNvSpPr txBox="1"/>
          <p:nvPr/>
        </p:nvSpPr>
        <p:spPr>
          <a:xfrm>
            <a:off x="1422515" y="4603463"/>
            <a:ext cx="1643776" cy="600164"/>
          </a:xfrm>
          <a:prstGeom prst="rect">
            <a:avLst/>
          </a:prstGeom>
          <a:solidFill>
            <a:schemeClr val="accent2">
              <a:lumMod val="20000"/>
              <a:lumOff val="80000"/>
            </a:schemeClr>
          </a:solidFill>
          <a:ln w="38100">
            <a:solidFill>
              <a:srgbClr val="FF0000"/>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H </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제작소에서 </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G</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에 제공한 패턴 필름 코팅장치</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1200" cap="none" spc="0" normalizeH="0" baseline="0" noProof="0" dirty="0" err="1">
                <a:ln>
                  <a:noFill/>
                </a:ln>
                <a:solidFill>
                  <a:prstClr val="black"/>
                </a:solidFill>
                <a:effectLst/>
                <a:uLnTx/>
                <a:uFillTx/>
                <a:latin typeface="Rix모던고딕 B"/>
                <a:ea typeface="Rix모던고딕 B"/>
                <a:cs typeface="+mn-cs"/>
              </a:rPr>
              <a:t>개선품</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)(2)</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의  취급설명서</a:t>
            </a:r>
          </a:p>
        </p:txBody>
      </p:sp>
      <p:cxnSp>
        <p:nvCxnSpPr>
          <p:cNvPr id="11" name="직선 연결선 10">
            <a:extLst>
              <a:ext uri="{FF2B5EF4-FFF2-40B4-BE49-F238E27FC236}">
                <a16:creationId xmlns:a16="http://schemas.microsoft.com/office/drawing/2014/main" id="{63F47DE8-74E1-C3E5-3254-5C1A42A945D0}"/>
              </a:ext>
            </a:extLst>
          </p:cNvPr>
          <p:cNvCxnSpPr>
            <a:cxnSpLocks/>
            <a:endCxn id="10" idx="0"/>
          </p:cNvCxnSpPr>
          <p:nvPr/>
        </p:nvCxnSpPr>
        <p:spPr>
          <a:xfrm>
            <a:off x="2244403" y="4517958"/>
            <a:ext cx="0" cy="8550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81958B0-2073-C4FB-F5E9-36865FE7E895}"/>
              </a:ext>
            </a:extLst>
          </p:cNvPr>
          <p:cNvSpPr txBox="1"/>
          <p:nvPr/>
        </p:nvSpPr>
        <p:spPr>
          <a:xfrm>
            <a:off x="3791538" y="3159741"/>
            <a:ext cx="1040348" cy="276999"/>
          </a:xfrm>
          <a:prstGeom prst="rect">
            <a:avLst/>
          </a:prstGeom>
          <a:solidFill>
            <a:schemeClr val="accent3">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선행발명</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3</a:t>
            </a:r>
          </a:p>
        </p:txBody>
      </p:sp>
      <p:sp>
        <p:nvSpPr>
          <p:cNvPr id="16" name="타원 15">
            <a:extLst>
              <a:ext uri="{FF2B5EF4-FFF2-40B4-BE49-F238E27FC236}">
                <a16:creationId xmlns:a16="http://schemas.microsoft.com/office/drawing/2014/main" id="{8EA84AD3-BBA4-36A3-21C1-E6F7235C4AB2}"/>
              </a:ext>
            </a:extLst>
          </p:cNvPr>
          <p:cNvSpPr/>
          <p:nvPr/>
        </p:nvSpPr>
        <p:spPr>
          <a:xfrm>
            <a:off x="4234342"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17" name="직선 연결선 16">
            <a:extLst>
              <a:ext uri="{FF2B5EF4-FFF2-40B4-BE49-F238E27FC236}">
                <a16:creationId xmlns:a16="http://schemas.microsoft.com/office/drawing/2014/main" id="{F2F4DA59-CED0-5B7D-2411-FC4DAED0D49F}"/>
              </a:ext>
            </a:extLst>
          </p:cNvPr>
          <p:cNvCxnSpPr>
            <a:cxnSpLocks/>
            <a:stCxn id="15" idx="2"/>
            <a:endCxn id="16" idx="0"/>
          </p:cNvCxnSpPr>
          <p:nvPr/>
        </p:nvCxnSpPr>
        <p:spPr>
          <a:xfrm flipH="1">
            <a:off x="4311711" y="3436740"/>
            <a:ext cx="1" cy="20668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4E59A791-6E7A-07A8-AD25-9C69E5C3E28C}"/>
              </a:ext>
            </a:extLst>
          </p:cNvPr>
          <p:cNvSpPr txBox="1"/>
          <p:nvPr/>
        </p:nvSpPr>
        <p:spPr>
          <a:xfrm>
            <a:off x="3540403" y="2514766"/>
            <a:ext cx="1542618" cy="600164"/>
          </a:xfrm>
          <a:prstGeom prst="rect">
            <a:avLst/>
          </a:prstGeom>
          <a:solidFill>
            <a:schemeClr val="accent3">
              <a:lumMod val="20000"/>
              <a:lumOff val="80000"/>
            </a:schemeClr>
          </a:solidFill>
          <a:ln w="38100">
            <a:solidFill>
              <a:schemeClr val="accent4"/>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원고</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가 </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I</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에게 제공한 프리즘 코팅기계</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(3)</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의 운영</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보수설명서</a:t>
            </a:r>
          </a:p>
        </p:txBody>
      </p:sp>
      <p:cxnSp>
        <p:nvCxnSpPr>
          <p:cNvPr id="28" name="직선 연결선 27">
            <a:extLst>
              <a:ext uri="{FF2B5EF4-FFF2-40B4-BE49-F238E27FC236}">
                <a16:creationId xmlns:a16="http://schemas.microsoft.com/office/drawing/2014/main" id="{C7A5FEB5-3B21-908F-8013-6FAB50DF196D}"/>
              </a:ext>
            </a:extLst>
          </p:cNvPr>
          <p:cNvCxnSpPr>
            <a:cxnSpLocks/>
            <a:stCxn id="15" idx="0"/>
            <a:endCxn id="24" idx="2"/>
          </p:cNvCxnSpPr>
          <p:nvPr/>
        </p:nvCxnSpPr>
        <p:spPr>
          <a:xfrm flipV="1">
            <a:off x="4311712" y="3114930"/>
            <a:ext cx="0" cy="4481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35173BA9-F58C-3AA2-4D42-F3D6AEE39FC3}"/>
              </a:ext>
            </a:extLst>
          </p:cNvPr>
          <p:cNvSpPr txBox="1"/>
          <p:nvPr/>
        </p:nvSpPr>
        <p:spPr>
          <a:xfrm>
            <a:off x="486126" y="3374748"/>
            <a:ext cx="929738" cy="261610"/>
          </a:xfrm>
          <a:prstGeom prst="rect">
            <a:avLst/>
          </a:prstGeom>
          <a:noFill/>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2004.12.</a:t>
            </a: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경</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1" name="TextBox 30">
            <a:extLst>
              <a:ext uri="{FF2B5EF4-FFF2-40B4-BE49-F238E27FC236}">
                <a16:creationId xmlns:a16="http://schemas.microsoft.com/office/drawing/2014/main" id="{60F61A72-5C62-D292-FB5A-D464D49FA5A7}"/>
              </a:ext>
            </a:extLst>
          </p:cNvPr>
          <p:cNvSpPr txBox="1"/>
          <p:nvPr/>
        </p:nvSpPr>
        <p:spPr>
          <a:xfrm>
            <a:off x="1794147" y="3374748"/>
            <a:ext cx="929738" cy="261610"/>
          </a:xfrm>
          <a:prstGeom prst="rect">
            <a:avLst/>
          </a:prstGeom>
          <a:noFill/>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2005.5.</a:t>
            </a: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경</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2" name="TextBox 31">
            <a:extLst>
              <a:ext uri="{FF2B5EF4-FFF2-40B4-BE49-F238E27FC236}">
                <a16:creationId xmlns:a16="http://schemas.microsoft.com/office/drawing/2014/main" id="{3F257F6F-0A96-AF45-C235-0ACCE09F82C6}"/>
              </a:ext>
            </a:extLst>
          </p:cNvPr>
          <p:cNvSpPr txBox="1"/>
          <p:nvPr/>
        </p:nvSpPr>
        <p:spPr>
          <a:xfrm>
            <a:off x="3810381" y="3778840"/>
            <a:ext cx="1030560" cy="253916"/>
          </a:xfrm>
          <a:prstGeom prst="rect">
            <a:avLst/>
          </a:prstGeom>
          <a:noFill/>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2005.7.19.</a:t>
            </a: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경</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4" name="TextBox 33">
            <a:extLst>
              <a:ext uri="{FF2B5EF4-FFF2-40B4-BE49-F238E27FC236}">
                <a16:creationId xmlns:a16="http://schemas.microsoft.com/office/drawing/2014/main" id="{638AAD02-358F-F3B4-2E28-43BBE1F2B17B}"/>
              </a:ext>
            </a:extLst>
          </p:cNvPr>
          <p:cNvSpPr txBox="1"/>
          <p:nvPr/>
        </p:nvSpPr>
        <p:spPr>
          <a:xfrm>
            <a:off x="5224055" y="3374748"/>
            <a:ext cx="1030560" cy="253916"/>
          </a:xfrm>
          <a:prstGeom prst="rect">
            <a:avLst/>
          </a:prstGeom>
          <a:noFill/>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2006.9.21.</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5" name="TextBox 34">
            <a:extLst>
              <a:ext uri="{FF2B5EF4-FFF2-40B4-BE49-F238E27FC236}">
                <a16:creationId xmlns:a16="http://schemas.microsoft.com/office/drawing/2014/main" id="{5FB31D72-0119-D356-04C0-26B62547E6E7}"/>
              </a:ext>
            </a:extLst>
          </p:cNvPr>
          <p:cNvSpPr txBox="1"/>
          <p:nvPr/>
        </p:nvSpPr>
        <p:spPr>
          <a:xfrm>
            <a:off x="6295428" y="3993538"/>
            <a:ext cx="485610"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특허등록</a:t>
            </a:r>
          </a:p>
        </p:txBody>
      </p:sp>
      <p:sp>
        <p:nvSpPr>
          <p:cNvPr id="36" name="타원 35">
            <a:extLst>
              <a:ext uri="{FF2B5EF4-FFF2-40B4-BE49-F238E27FC236}">
                <a16:creationId xmlns:a16="http://schemas.microsoft.com/office/drawing/2014/main" id="{B6A24AAB-246E-133C-F28B-5A54B9955E2F}"/>
              </a:ext>
            </a:extLst>
          </p:cNvPr>
          <p:cNvSpPr/>
          <p:nvPr/>
        </p:nvSpPr>
        <p:spPr>
          <a:xfrm>
            <a:off x="6468652"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38" name="직선 연결선 37">
            <a:extLst>
              <a:ext uri="{FF2B5EF4-FFF2-40B4-BE49-F238E27FC236}">
                <a16:creationId xmlns:a16="http://schemas.microsoft.com/office/drawing/2014/main" id="{1782E8E4-60EF-A738-615B-A2EE266C66F5}"/>
              </a:ext>
            </a:extLst>
          </p:cNvPr>
          <p:cNvCxnSpPr>
            <a:cxnSpLocks/>
            <a:stCxn id="35" idx="0"/>
            <a:endCxn id="36" idx="4"/>
          </p:cNvCxnSpPr>
          <p:nvPr/>
        </p:nvCxnSpPr>
        <p:spPr>
          <a:xfrm flipV="1">
            <a:off x="6538233" y="3804767"/>
            <a:ext cx="7788"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8912B4A2-076E-0068-BDEC-7BDAC96B0721}"/>
              </a:ext>
            </a:extLst>
          </p:cNvPr>
          <p:cNvSpPr txBox="1"/>
          <p:nvPr/>
        </p:nvSpPr>
        <p:spPr>
          <a:xfrm>
            <a:off x="6030741" y="3374748"/>
            <a:ext cx="1030560" cy="253916"/>
          </a:xfrm>
          <a:prstGeom prst="rect">
            <a:avLst/>
          </a:prstGeom>
          <a:noFill/>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2008.3.4.</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2" name="TextBox 61">
            <a:extLst>
              <a:ext uri="{FF2B5EF4-FFF2-40B4-BE49-F238E27FC236}">
                <a16:creationId xmlns:a16="http://schemas.microsoft.com/office/drawing/2014/main" id="{CC1E0800-5622-F095-ECFA-DBE61B86DEEA}"/>
              </a:ext>
            </a:extLst>
          </p:cNvPr>
          <p:cNvSpPr txBox="1"/>
          <p:nvPr/>
        </p:nvSpPr>
        <p:spPr>
          <a:xfrm>
            <a:off x="9077733" y="3993538"/>
            <a:ext cx="61178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소제기</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63" name="타원 62">
            <a:extLst>
              <a:ext uri="{FF2B5EF4-FFF2-40B4-BE49-F238E27FC236}">
                <a16:creationId xmlns:a16="http://schemas.microsoft.com/office/drawing/2014/main" id="{90F7C6B8-8DCE-1186-CD48-D6D8AE531707}"/>
              </a:ext>
            </a:extLst>
          </p:cNvPr>
          <p:cNvSpPr/>
          <p:nvPr/>
        </p:nvSpPr>
        <p:spPr>
          <a:xfrm>
            <a:off x="9306253"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66" name="직선 연결선 65">
            <a:extLst>
              <a:ext uri="{FF2B5EF4-FFF2-40B4-BE49-F238E27FC236}">
                <a16:creationId xmlns:a16="http://schemas.microsoft.com/office/drawing/2014/main" id="{97F51310-4292-E53A-1ECE-2904CCA683B8}"/>
              </a:ext>
            </a:extLst>
          </p:cNvPr>
          <p:cNvCxnSpPr>
            <a:cxnSpLocks/>
            <a:stCxn id="62" idx="0"/>
            <a:endCxn id="63" idx="4"/>
          </p:cNvCxnSpPr>
          <p:nvPr/>
        </p:nvCxnSpPr>
        <p:spPr>
          <a:xfrm flipH="1" flipV="1">
            <a:off x="9383622" y="3804767"/>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0596DEE3-8782-B38B-DA30-6D8D5F8B2341}"/>
              </a:ext>
            </a:extLst>
          </p:cNvPr>
          <p:cNvSpPr txBox="1"/>
          <p:nvPr/>
        </p:nvSpPr>
        <p:spPr>
          <a:xfrm>
            <a:off x="9768472" y="3993538"/>
            <a:ext cx="474308"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인용</a:t>
            </a:r>
          </a:p>
        </p:txBody>
      </p:sp>
      <p:sp>
        <p:nvSpPr>
          <p:cNvPr id="71" name="타원 70">
            <a:extLst>
              <a:ext uri="{FF2B5EF4-FFF2-40B4-BE49-F238E27FC236}">
                <a16:creationId xmlns:a16="http://schemas.microsoft.com/office/drawing/2014/main" id="{CE267434-A721-618E-1A03-EBDF75E999D7}"/>
              </a:ext>
            </a:extLst>
          </p:cNvPr>
          <p:cNvSpPr/>
          <p:nvPr/>
        </p:nvSpPr>
        <p:spPr>
          <a:xfrm>
            <a:off x="9928562"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73" name="직선 연결선 72">
            <a:extLst>
              <a:ext uri="{FF2B5EF4-FFF2-40B4-BE49-F238E27FC236}">
                <a16:creationId xmlns:a16="http://schemas.microsoft.com/office/drawing/2014/main" id="{1C5CD137-E184-2D72-E39C-76237B871E84}"/>
              </a:ext>
            </a:extLst>
          </p:cNvPr>
          <p:cNvCxnSpPr>
            <a:cxnSpLocks/>
            <a:stCxn id="67" idx="0"/>
            <a:endCxn id="71" idx="4"/>
          </p:cNvCxnSpPr>
          <p:nvPr/>
        </p:nvCxnSpPr>
        <p:spPr>
          <a:xfrm flipV="1">
            <a:off x="10005626" y="3804767"/>
            <a:ext cx="305"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A7F37F28-E01D-0AD8-958C-99266E811280}"/>
              </a:ext>
            </a:extLst>
          </p:cNvPr>
          <p:cNvSpPr txBox="1"/>
          <p:nvPr/>
        </p:nvSpPr>
        <p:spPr>
          <a:xfrm>
            <a:off x="10299152" y="3993538"/>
            <a:ext cx="474308"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상고</a:t>
            </a:r>
          </a:p>
        </p:txBody>
      </p:sp>
      <p:sp>
        <p:nvSpPr>
          <p:cNvPr id="90" name="타원 89">
            <a:extLst>
              <a:ext uri="{FF2B5EF4-FFF2-40B4-BE49-F238E27FC236}">
                <a16:creationId xmlns:a16="http://schemas.microsoft.com/office/drawing/2014/main" id="{EADD974B-AB0B-07C9-74C8-2844F329B965}"/>
              </a:ext>
            </a:extLst>
          </p:cNvPr>
          <p:cNvSpPr/>
          <p:nvPr/>
        </p:nvSpPr>
        <p:spPr>
          <a:xfrm>
            <a:off x="10459242"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91" name="직선 연결선 90">
            <a:extLst>
              <a:ext uri="{FF2B5EF4-FFF2-40B4-BE49-F238E27FC236}">
                <a16:creationId xmlns:a16="http://schemas.microsoft.com/office/drawing/2014/main" id="{60C96D68-7EDA-ACF4-0E3E-5F2CCEC6B87C}"/>
              </a:ext>
            </a:extLst>
          </p:cNvPr>
          <p:cNvCxnSpPr>
            <a:cxnSpLocks/>
            <a:stCxn id="86" idx="0"/>
            <a:endCxn id="90" idx="4"/>
          </p:cNvCxnSpPr>
          <p:nvPr/>
        </p:nvCxnSpPr>
        <p:spPr>
          <a:xfrm flipV="1">
            <a:off x="10536306" y="3804767"/>
            <a:ext cx="305"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EED5A369-5FDF-A8A4-A64F-6374427227CA}"/>
              </a:ext>
            </a:extLst>
          </p:cNvPr>
          <p:cNvSpPr txBox="1"/>
          <p:nvPr/>
        </p:nvSpPr>
        <p:spPr>
          <a:xfrm>
            <a:off x="6911826" y="3993538"/>
            <a:ext cx="739127" cy="646331"/>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G</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에게</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특허권</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지분양도</a:t>
            </a:r>
          </a:p>
        </p:txBody>
      </p:sp>
      <p:sp>
        <p:nvSpPr>
          <p:cNvPr id="98" name="타원 97">
            <a:extLst>
              <a:ext uri="{FF2B5EF4-FFF2-40B4-BE49-F238E27FC236}">
                <a16:creationId xmlns:a16="http://schemas.microsoft.com/office/drawing/2014/main" id="{CF122DC5-DC8A-68A9-8A89-3DE4D3334531}"/>
              </a:ext>
            </a:extLst>
          </p:cNvPr>
          <p:cNvSpPr/>
          <p:nvPr/>
        </p:nvSpPr>
        <p:spPr>
          <a:xfrm>
            <a:off x="7211809"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99" name="직선 연결선 98">
            <a:extLst>
              <a:ext uri="{FF2B5EF4-FFF2-40B4-BE49-F238E27FC236}">
                <a16:creationId xmlns:a16="http://schemas.microsoft.com/office/drawing/2014/main" id="{7D344759-0B8E-13A6-4B06-6966F251676D}"/>
              </a:ext>
            </a:extLst>
          </p:cNvPr>
          <p:cNvCxnSpPr>
            <a:cxnSpLocks/>
            <a:stCxn id="97" idx="0"/>
            <a:endCxn id="98" idx="4"/>
          </p:cNvCxnSpPr>
          <p:nvPr/>
        </p:nvCxnSpPr>
        <p:spPr>
          <a:xfrm flipV="1">
            <a:off x="7281390" y="3804767"/>
            <a:ext cx="7788"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0" name="TextBox 99">
            <a:extLst>
              <a:ext uri="{FF2B5EF4-FFF2-40B4-BE49-F238E27FC236}">
                <a16:creationId xmlns:a16="http://schemas.microsoft.com/office/drawing/2014/main" id="{AA58A046-8911-DC49-B834-6FB7F88A1E7A}"/>
              </a:ext>
            </a:extLst>
          </p:cNvPr>
          <p:cNvSpPr txBox="1"/>
          <p:nvPr/>
        </p:nvSpPr>
        <p:spPr>
          <a:xfrm>
            <a:off x="6773898" y="3374748"/>
            <a:ext cx="1030560" cy="253916"/>
          </a:xfrm>
          <a:prstGeom prst="rect">
            <a:avLst/>
          </a:prstGeom>
          <a:noFill/>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2010.7.19.</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6" name="타원 105">
            <a:extLst>
              <a:ext uri="{FF2B5EF4-FFF2-40B4-BE49-F238E27FC236}">
                <a16:creationId xmlns:a16="http://schemas.microsoft.com/office/drawing/2014/main" id="{A2652E66-F5AA-A6E8-644D-0F17986B08CF}"/>
              </a:ext>
            </a:extLst>
          </p:cNvPr>
          <p:cNvSpPr/>
          <p:nvPr/>
        </p:nvSpPr>
        <p:spPr>
          <a:xfrm>
            <a:off x="3476151"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107" name="직선 연결선 106">
            <a:extLst>
              <a:ext uri="{FF2B5EF4-FFF2-40B4-BE49-F238E27FC236}">
                <a16:creationId xmlns:a16="http://schemas.microsoft.com/office/drawing/2014/main" id="{50B75A69-D8A5-3DAB-F3B9-0063E0C5B2C4}"/>
              </a:ext>
            </a:extLst>
          </p:cNvPr>
          <p:cNvCxnSpPr>
            <a:cxnSpLocks/>
            <a:stCxn id="108" idx="0"/>
            <a:endCxn id="106" idx="4"/>
          </p:cNvCxnSpPr>
          <p:nvPr/>
        </p:nvCxnSpPr>
        <p:spPr>
          <a:xfrm flipH="1" flipV="1">
            <a:off x="3553520" y="3804767"/>
            <a:ext cx="1" cy="146665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FA070D65-583F-A691-4C71-83FB7D70F832}"/>
              </a:ext>
            </a:extLst>
          </p:cNvPr>
          <p:cNvSpPr txBox="1"/>
          <p:nvPr/>
        </p:nvSpPr>
        <p:spPr>
          <a:xfrm>
            <a:off x="2875695" y="5271425"/>
            <a:ext cx="1355652" cy="600164"/>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와 </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G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비밀유지계약</a:t>
            </a:r>
            <a:endPar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highlight>
                  <a:srgbClr val="00FF00"/>
                </a:highlight>
                <a:uLnTx/>
                <a:uFillTx/>
                <a:latin typeface="Rix모던고딕 B"/>
                <a:ea typeface="Rix모던고딕 B"/>
                <a:cs typeface="+mn-cs"/>
              </a:rPr>
              <a:t>(2005.6 </a:t>
            </a:r>
            <a:r>
              <a:rPr kumimoji="0" lang="ko-KR" altLang="en-US" sz="1100" b="0" i="0" u="none" strike="noStrike" kern="1200" cap="none" spc="0" normalizeH="0" baseline="0" noProof="0" dirty="0">
                <a:ln>
                  <a:noFill/>
                </a:ln>
                <a:solidFill>
                  <a:prstClr val="black"/>
                </a:solidFill>
                <a:effectLst/>
                <a:highlight>
                  <a:srgbClr val="00FF00"/>
                </a:highlight>
                <a:uLnTx/>
                <a:uFillTx/>
                <a:latin typeface="Rix모던고딕 B"/>
                <a:ea typeface="Rix모던고딕 B"/>
                <a:cs typeface="+mn-cs"/>
              </a:rPr>
              <a:t>정보개시</a:t>
            </a:r>
            <a:r>
              <a:rPr kumimoji="0" lang="en-US" altLang="ko-KR" sz="1100" b="0" i="0" u="none" strike="noStrike" kern="1200" cap="none" spc="0" normalizeH="0" baseline="0" noProof="0" dirty="0">
                <a:ln>
                  <a:noFill/>
                </a:ln>
                <a:solidFill>
                  <a:prstClr val="black"/>
                </a:solidFill>
                <a:effectLst/>
                <a:highlight>
                  <a:srgbClr val="00FF00"/>
                </a:highlight>
                <a:uLnTx/>
                <a:uFillTx/>
                <a:latin typeface="Rix모던고딕 B"/>
                <a:ea typeface="Rix모던고딕 B"/>
                <a:cs typeface="+mn-cs"/>
              </a:rPr>
              <a:t>)</a:t>
            </a:r>
            <a:endParaRPr kumimoji="0" lang="ko-KR" altLang="en-US" sz="1100" b="0" i="0" u="none" strike="noStrike" kern="1200" cap="none" spc="0" normalizeH="0" baseline="0" noProof="0" dirty="0">
              <a:ln>
                <a:noFill/>
              </a:ln>
              <a:solidFill>
                <a:prstClr val="black"/>
              </a:solidFill>
              <a:effectLst/>
              <a:highlight>
                <a:srgbClr val="00FF00"/>
              </a:highlight>
              <a:uLnTx/>
              <a:uFillTx/>
              <a:latin typeface="Rix모던고딕 B"/>
              <a:ea typeface="Rix모던고딕 B"/>
              <a:cs typeface="+mn-cs"/>
            </a:endParaRPr>
          </a:p>
        </p:txBody>
      </p:sp>
      <p:sp>
        <p:nvSpPr>
          <p:cNvPr id="110" name="TextBox 109">
            <a:extLst>
              <a:ext uri="{FF2B5EF4-FFF2-40B4-BE49-F238E27FC236}">
                <a16:creationId xmlns:a16="http://schemas.microsoft.com/office/drawing/2014/main" id="{956F3F5A-5744-5885-D3E1-28F44F1565C8}"/>
              </a:ext>
            </a:extLst>
          </p:cNvPr>
          <p:cNvSpPr txBox="1"/>
          <p:nvPr/>
        </p:nvSpPr>
        <p:spPr>
          <a:xfrm>
            <a:off x="3103265" y="3374748"/>
            <a:ext cx="929738" cy="261610"/>
          </a:xfrm>
          <a:prstGeom prst="rect">
            <a:avLst/>
          </a:prstGeom>
          <a:noFill/>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2005.7.1</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2" name="타원 121">
            <a:extLst>
              <a:ext uri="{FF2B5EF4-FFF2-40B4-BE49-F238E27FC236}">
                <a16:creationId xmlns:a16="http://schemas.microsoft.com/office/drawing/2014/main" id="{788D5A2D-EC75-59B1-D3CE-B5AEEC3A4FA5}"/>
              </a:ext>
            </a:extLst>
          </p:cNvPr>
          <p:cNvSpPr/>
          <p:nvPr/>
        </p:nvSpPr>
        <p:spPr>
          <a:xfrm>
            <a:off x="4891097"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123" name="직선 연결선 122">
            <a:extLst>
              <a:ext uri="{FF2B5EF4-FFF2-40B4-BE49-F238E27FC236}">
                <a16:creationId xmlns:a16="http://schemas.microsoft.com/office/drawing/2014/main" id="{FF976161-0017-EA93-FFBB-1B2BDB7F36DA}"/>
              </a:ext>
            </a:extLst>
          </p:cNvPr>
          <p:cNvCxnSpPr>
            <a:cxnSpLocks/>
            <a:stCxn id="124" idx="0"/>
            <a:endCxn id="122" idx="4"/>
          </p:cNvCxnSpPr>
          <p:nvPr/>
        </p:nvCxnSpPr>
        <p:spPr>
          <a:xfrm flipH="1" flipV="1">
            <a:off x="4968466" y="3804767"/>
            <a:ext cx="1" cy="73897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44573DAF-7BC4-5F23-439E-D52B410258B2}"/>
              </a:ext>
            </a:extLst>
          </p:cNvPr>
          <p:cNvSpPr txBox="1"/>
          <p:nvPr/>
        </p:nvSpPr>
        <p:spPr>
          <a:xfrm>
            <a:off x="4481239" y="4543741"/>
            <a:ext cx="974456" cy="600164"/>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와 </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G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코팅기계</a:t>
            </a:r>
            <a:endPar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납품계약</a:t>
            </a:r>
          </a:p>
        </p:txBody>
      </p:sp>
      <p:sp>
        <p:nvSpPr>
          <p:cNvPr id="125" name="TextBox 124">
            <a:extLst>
              <a:ext uri="{FF2B5EF4-FFF2-40B4-BE49-F238E27FC236}">
                <a16:creationId xmlns:a16="http://schemas.microsoft.com/office/drawing/2014/main" id="{951E49EB-2A6D-82FB-66BA-0BB179551B1B}"/>
              </a:ext>
            </a:extLst>
          </p:cNvPr>
          <p:cNvSpPr txBox="1"/>
          <p:nvPr/>
        </p:nvSpPr>
        <p:spPr>
          <a:xfrm>
            <a:off x="4518211" y="3374748"/>
            <a:ext cx="929738" cy="261610"/>
          </a:xfrm>
          <a:prstGeom prst="rect">
            <a:avLst/>
          </a:prstGeom>
          <a:noFill/>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2005.8.1</a:t>
            </a:r>
            <a:endPar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3" name="타원 132">
            <a:extLst>
              <a:ext uri="{FF2B5EF4-FFF2-40B4-BE49-F238E27FC236}">
                <a16:creationId xmlns:a16="http://schemas.microsoft.com/office/drawing/2014/main" id="{3321B93B-8A8D-DA72-E4F3-BBED6519ED97}"/>
              </a:ext>
            </a:extLst>
          </p:cNvPr>
          <p:cNvSpPr/>
          <p:nvPr/>
        </p:nvSpPr>
        <p:spPr>
          <a:xfrm>
            <a:off x="1525565"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134" name="직선 연결선 133">
            <a:extLst>
              <a:ext uri="{FF2B5EF4-FFF2-40B4-BE49-F238E27FC236}">
                <a16:creationId xmlns:a16="http://schemas.microsoft.com/office/drawing/2014/main" id="{695C33F1-AD45-1B7A-5077-9E8147BBC611}"/>
              </a:ext>
            </a:extLst>
          </p:cNvPr>
          <p:cNvCxnSpPr>
            <a:cxnSpLocks/>
            <a:stCxn id="135" idx="2"/>
            <a:endCxn id="133" idx="0"/>
          </p:cNvCxnSpPr>
          <p:nvPr/>
        </p:nvCxnSpPr>
        <p:spPr>
          <a:xfrm flipH="1">
            <a:off x="1602934" y="3098054"/>
            <a:ext cx="1" cy="54537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5" name="TextBox 134">
            <a:extLst>
              <a:ext uri="{FF2B5EF4-FFF2-40B4-BE49-F238E27FC236}">
                <a16:creationId xmlns:a16="http://schemas.microsoft.com/office/drawing/2014/main" id="{E8F9D85A-E428-10C7-C75E-95453CAF5A07}"/>
              </a:ext>
            </a:extLst>
          </p:cNvPr>
          <p:cNvSpPr txBox="1"/>
          <p:nvPr/>
        </p:nvSpPr>
        <p:spPr>
          <a:xfrm>
            <a:off x="1177947" y="2667167"/>
            <a:ext cx="849976" cy="430887"/>
          </a:xfrm>
          <a:prstGeom prst="rect">
            <a:avLst/>
          </a:prstGeom>
          <a:solidFill>
            <a:schemeClr val="accent3">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원고</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와 </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I</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 </a:t>
            </a:r>
            <a:endPar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납품계약</a:t>
            </a:r>
          </a:p>
        </p:txBody>
      </p:sp>
      <p:sp>
        <p:nvSpPr>
          <p:cNvPr id="137" name="TextBox 136">
            <a:extLst>
              <a:ext uri="{FF2B5EF4-FFF2-40B4-BE49-F238E27FC236}">
                <a16:creationId xmlns:a16="http://schemas.microsoft.com/office/drawing/2014/main" id="{27BEA9AA-7E3A-F4C4-FADA-75A75375197E}"/>
              </a:ext>
            </a:extLst>
          </p:cNvPr>
          <p:cNvSpPr txBox="1"/>
          <p:nvPr/>
        </p:nvSpPr>
        <p:spPr>
          <a:xfrm>
            <a:off x="1101604" y="3778840"/>
            <a:ext cx="1030560" cy="253916"/>
          </a:xfrm>
          <a:prstGeom prst="rect">
            <a:avLst/>
          </a:prstGeom>
          <a:noFill/>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highlight>
                  <a:srgbClr val="00FF00"/>
                </a:highlight>
                <a:uLnTx/>
                <a:uFillTx/>
                <a:latin typeface="Rix모던고딕 B"/>
                <a:ea typeface="Rix모던고딕 B"/>
                <a:cs typeface="+mn-cs"/>
              </a:rPr>
              <a:t>2005.3.9</a:t>
            </a:r>
            <a:endParaRPr kumimoji="0" lang="ko-KR" altLang="en-US" sz="1050" b="0" i="0" u="none" strike="noStrike" kern="1200" cap="none" spc="0" normalizeH="0" baseline="0" noProof="0" dirty="0">
              <a:ln>
                <a:noFill/>
              </a:ln>
              <a:solidFill>
                <a:prstClr val="black"/>
              </a:solidFill>
              <a:effectLst/>
              <a:highlight>
                <a:srgbClr val="00FF00"/>
              </a:highlight>
              <a:uLnTx/>
              <a:uFillTx/>
              <a:latin typeface="Frutiger LT 65 Bold"/>
              <a:ea typeface="Rix모던고딕 B"/>
              <a:cs typeface="+mn-cs"/>
            </a:endParaRPr>
          </a:p>
        </p:txBody>
      </p:sp>
      <p:sp>
        <p:nvSpPr>
          <p:cNvPr id="139" name="타원 138">
            <a:extLst>
              <a:ext uri="{FF2B5EF4-FFF2-40B4-BE49-F238E27FC236}">
                <a16:creationId xmlns:a16="http://schemas.microsoft.com/office/drawing/2014/main" id="{95DD681A-3305-48F8-FBD8-80301FF47585}"/>
              </a:ext>
            </a:extLst>
          </p:cNvPr>
          <p:cNvSpPr/>
          <p:nvPr/>
        </p:nvSpPr>
        <p:spPr>
          <a:xfrm>
            <a:off x="2843268" y="36434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140" name="직선 연결선 139">
            <a:extLst>
              <a:ext uri="{FF2B5EF4-FFF2-40B4-BE49-F238E27FC236}">
                <a16:creationId xmlns:a16="http://schemas.microsoft.com/office/drawing/2014/main" id="{CFA7E383-09B4-C62D-B86C-9A699A80C54E}"/>
              </a:ext>
            </a:extLst>
          </p:cNvPr>
          <p:cNvCxnSpPr>
            <a:cxnSpLocks/>
            <a:stCxn id="141" idx="2"/>
            <a:endCxn id="139" idx="0"/>
          </p:cNvCxnSpPr>
          <p:nvPr/>
        </p:nvCxnSpPr>
        <p:spPr>
          <a:xfrm flipH="1">
            <a:off x="2920637" y="2928777"/>
            <a:ext cx="1" cy="71465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1" name="TextBox 140">
            <a:extLst>
              <a:ext uri="{FF2B5EF4-FFF2-40B4-BE49-F238E27FC236}">
                <a16:creationId xmlns:a16="http://schemas.microsoft.com/office/drawing/2014/main" id="{14AE476A-93BF-F87D-F836-96320BA157CE}"/>
              </a:ext>
            </a:extLst>
          </p:cNvPr>
          <p:cNvSpPr txBox="1"/>
          <p:nvPr/>
        </p:nvSpPr>
        <p:spPr>
          <a:xfrm>
            <a:off x="2495650" y="2667167"/>
            <a:ext cx="849976" cy="261610"/>
          </a:xfrm>
          <a:prstGeom prst="rect">
            <a:avLst/>
          </a:prstGeom>
          <a:solidFill>
            <a:schemeClr val="accent3">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납품완료</a:t>
            </a:r>
          </a:p>
        </p:txBody>
      </p:sp>
      <p:sp>
        <p:nvSpPr>
          <p:cNvPr id="142" name="TextBox 141">
            <a:extLst>
              <a:ext uri="{FF2B5EF4-FFF2-40B4-BE49-F238E27FC236}">
                <a16:creationId xmlns:a16="http://schemas.microsoft.com/office/drawing/2014/main" id="{030308EF-646E-1B74-3021-7021A733024C}"/>
              </a:ext>
            </a:extLst>
          </p:cNvPr>
          <p:cNvSpPr txBox="1"/>
          <p:nvPr/>
        </p:nvSpPr>
        <p:spPr>
          <a:xfrm>
            <a:off x="2419307" y="3778840"/>
            <a:ext cx="1030560" cy="253916"/>
          </a:xfrm>
          <a:prstGeom prst="rect">
            <a:avLst/>
          </a:prstGeom>
          <a:noFill/>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highlight>
                  <a:srgbClr val="00FF00"/>
                </a:highlight>
                <a:uLnTx/>
                <a:uFillTx/>
                <a:latin typeface="Rix모던고딕 B"/>
                <a:ea typeface="Rix모던고딕 B"/>
                <a:cs typeface="+mn-cs"/>
              </a:rPr>
              <a:t>2005.5.15</a:t>
            </a:r>
            <a:endParaRPr kumimoji="0" lang="ko-KR" altLang="en-US" sz="1050" b="0" i="0" u="none" strike="noStrike" kern="1200" cap="none" spc="0" normalizeH="0" baseline="0" noProof="0" dirty="0">
              <a:ln>
                <a:noFill/>
              </a:ln>
              <a:solidFill>
                <a:prstClr val="black"/>
              </a:solidFill>
              <a:effectLst/>
              <a:highlight>
                <a:srgbClr val="00FF00"/>
              </a:highlight>
              <a:uLnTx/>
              <a:uFillTx/>
              <a:latin typeface="Frutiger LT 65 Bold"/>
              <a:ea typeface="Rix모던고딕 B"/>
              <a:cs typeface="+mn-cs"/>
            </a:endParaRPr>
          </a:p>
        </p:txBody>
      </p:sp>
      <p:sp>
        <p:nvSpPr>
          <p:cNvPr id="146" name="TextBox 145">
            <a:extLst>
              <a:ext uri="{FF2B5EF4-FFF2-40B4-BE49-F238E27FC236}">
                <a16:creationId xmlns:a16="http://schemas.microsoft.com/office/drawing/2014/main" id="{441CECA7-A0F3-7852-359F-E0155C1CD18F}"/>
              </a:ext>
            </a:extLst>
          </p:cNvPr>
          <p:cNvSpPr txBox="1"/>
          <p:nvPr/>
        </p:nvSpPr>
        <p:spPr>
          <a:xfrm>
            <a:off x="165033" y="6099893"/>
            <a:ext cx="5638082" cy="646331"/>
          </a:xfrm>
          <a:prstGeom prst="rect">
            <a:avLst/>
          </a:prstGeom>
          <a:noFill/>
          <a:ln>
            <a:solidFill>
              <a:srgbClr val="FF0000"/>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H</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와 </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G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사이에 비밀유지계약 없지만</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8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G</a:t>
            </a:r>
            <a:r>
              <a:rPr kumimoji="0" lang="ko-KR" altLang="en-US" sz="18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가 비밀로 관리</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하여 </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불특정인이 인식할 수 있는 상태가 아님</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따라서 공지</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48" name="직선 화살표 연결선 147">
            <a:extLst>
              <a:ext uri="{FF2B5EF4-FFF2-40B4-BE49-F238E27FC236}">
                <a16:creationId xmlns:a16="http://schemas.microsoft.com/office/drawing/2014/main" id="{0017C685-4C22-17A6-0B77-46B3FDA7FA02}"/>
              </a:ext>
            </a:extLst>
          </p:cNvPr>
          <p:cNvCxnSpPr>
            <a:endCxn id="26" idx="3"/>
          </p:cNvCxnSpPr>
          <p:nvPr/>
        </p:nvCxnSpPr>
        <p:spPr>
          <a:xfrm flipH="1" flipV="1">
            <a:off x="1716656" y="5550455"/>
            <a:ext cx="311267" cy="549438"/>
          </a:xfrm>
          <a:prstGeom prst="straightConnector1">
            <a:avLst/>
          </a:prstGeom>
          <a:ln w="28575">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49" name="직선 화살표 연결선 148">
            <a:extLst>
              <a:ext uri="{FF2B5EF4-FFF2-40B4-BE49-F238E27FC236}">
                <a16:creationId xmlns:a16="http://schemas.microsoft.com/office/drawing/2014/main" id="{93107F52-2E66-4254-7C12-468EA018A320}"/>
              </a:ext>
            </a:extLst>
          </p:cNvPr>
          <p:cNvCxnSpPr>
            <a:cxnSpLocks/>
            <a:endCxn id="10" idx="2"/>
          </p:cNvCxnSpPr>
          <p:nvPr/>
        </p:nvCxnSpPr>
        <p:spPr>
          <a:xfrm flipV="1">
            <a:off x="2027923" y="5203627"/>
            <a:ext cx="216480" cy="896266"/>
          </a:xfrm>
          <a:prstGeom prst="straightConnector1">
            <a:avLst/>
          </a:prstGeom>
          <a:ln w="28575">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2" name="TextBox 151">
            <a:extLst>
              <a:ext uri="{FF2B5EF4-FFF2-40B4-BE49-F238E27FC236}">
                <a16:creationId xmlns:a16="http://schemas.microsoft.com/office/drawing/2014/main" id="{75ECCE08-1B40-243B-8842-A139CD978976}"/>
              </a:ext>
            </a:extLst>
          </p:cNvPr>
          <p:cNvSpPr txBox="1"/>
          <p:nvPr/>
        </p:nvSpPr>
        <p:spPr>
          <a:xfrm>
            <a:off x="5487117" y="2551245"/>
            <a:ext cx="5730041" cy="646331"/>
          </a:xfrm>
          <a:prstGeom prst="rect">
            <a:avLst/>
          </a:prstGeom>
          <a:noFill/>
          <a:ln>
            <a:solidFill>
              <a:schemeClr val="accent4"/>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만 비밀유지의무를 부담하고</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I</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는 비밀유지의무를 부담하지 않을 뿐더러 </a:t>
            </a:r>
            <a:r>
              <a:rPr kumimoji="0" lang="en-US" altLang="ko-KR" sz="18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I</a:t>
            </a:r>
            <a:r>
              <a:rPr kumimoji="0" lang="ko-KR" altLang="en-US" sz="18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가 비밀로 관리하지 않음</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따라서 공지 </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O</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53" name="직선 화살표 연결선 152">
            <a:extLst>
              <a:ext uri="{FF2B5EF4-FFF2-40B4-BE49-F238E27FC236}">
                <a16:creationId xmlns:a16="http://schemas.microsoft.com/office/drawing/2014/main" id="{9D65985A-D02D-830F-F4EE-CFCABEDF083F}"/>
              </a:ext>
            </a:extLst>
          </p:cNvPr>
          <p:cNvCxnSpPr>
            <a:cxnSpLocks/>
            <a:stCxn id="152" idx="1"/>
            <a:endCxn id="24" idx="3"/>
          </p:cNvCxnSpPr>
          <p:nvPr/>
        </p:nvCxnSpPr>
        <p:spPr>
          <a:xfrm flipH="1" flipV="1">
            <a:off x="5083021" y="2814848"/>
            <a:ext cx="404096" cy="59563"/>
          </a:xfrm>
          <a:prstGeom prst="straightConnector1">
            <a:avLst/>
          </a:prstGeom>
          <a:ln w="28575">
            <a:solidFill>
              <a:schemeClr val="accent4"/>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56" name="직선 연결선 155">
            <a:extLst>
              <a:ext uri="{FF2B5EF4-FFF2-40B4-BE49-F238E27FC236}">
                <a16:creationId xmlns:a16="http://schemas.microsoft.com/office/drawing/2014/main" id="{EF0033D8-3C84-5451-D0F5-C9CBA9213B1A}"/>
              </a:ext>
            </a:extLst>
          </p:cNvPr>
          <p:cNvCxnSpPr/>
          <p:nvPr/>
        </p:nvCxnSpPr>
        <p:spPr>
          <a:xfrm>
            <a:off x="0" y="2390527"/>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7" name="TextBox 156">
            <a:extLst>
              <a:ext uri="{FF2B5EF4-FFF2-40B4-BE49-F238E27FC236}">
                <a16:creationId xmlns:a16="http://schemas.microsoft.com/office/drawing/2014/main" id="{B231E1F0-A0BC-3D52-6670-57A535E8BCC0}"/>
              </a:ext>
            </a:extLst>
          </p:cNvPr>
          <p:cNvSpPr txBox="1"/>
          <p:nvPr/>
        </p:nvSpPr>
        <p:spPr>
          <a:xfrm>
            <a:off x="5942923" y="4828353"/>
            <a:ext cx="5817250" cy="120032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선행발명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와 실질적으로 동일하다고 볼 여지가 있으나</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가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G</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로부터 선행발명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를 제공받았다 하더라도 그 전에 특허발명을 자체적으로 완성하였다</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피고가 제출한 자료만으로는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가 선행발명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 또는 </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CourtBT"/>
                <a:ea typeface="Rix모던고딕 B"/>
                <a:cs typeface="+mn-cs"/>
              </a:rPr>
              <a:t>를 모방하여 정당한 권한 없이 무단으로 이 사건 특허발명을 출원하였다는 점이 증명되었다고 보기 어렵다</a:t>
            </a:r>
            <a:r>
              <a:rPr kumimoji="0" lang="en-US" altLang="ko-KR" sz="1200" b="0" i="0" u="none" strike="noStrike" kern="1200" cap="none" spc="0" normalizeH="0" baseline="0" noProof="0" dirty="0">
                <a:ln>
                  <a:noFill/>
                </a:ln>
                <a:solidFill>
                  <a:prstClr val="black"/>
                </a:solidFill>
                <a:effectLst/>
                <a:uLnTx/>
                <a:uFillTx/>
                <a:latin typeface="CourtBT"/>
                <a:ea typeface="Rix모던고딕 B"/>
                <a:cs typeface="+mn-cs"/>
              </a:rPr>
              <a:t>.</a:t>
            </a: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kumimoji="0" lang="ko-KR" altLang="en-US" sz="1200" b="0" i="0" u="none" strike="noStrike" kern="1200" cap="none" spc="0" normalizeH="0" baseline="0" noProof="0" dirty="0">
                <a:ln>
                  <a:noFill/>
                </a:ln>
                <a:solidFill>
                  <a:prstClr val="black"/>
                </a:solidFill>
                <a:effectLst/>
                <a:highlight>
                  <a:srgbClr val="00FFFF"/>
                </a:highlight>
                <a:uLnTx/>
                <a:uFillTx/>
                <a:latin typeface="Rix모던고딕 B"/>
                <a:ea typeface="Rix모던고딕 B"/>
                <a:cs typeface="+mn-cs"/>
              </a:rPr>
              <a:t>선행발명 </a:t>
            </a:r>
            <a:r>
              <a:rPr kumimoji="0" lang="en-US" altLang="ko-KR" sz="1200" b="0" i="0" u="none" strike="noStrike" kern="1200" cap="none" spc="0" normalizeH="0" baseline="0" noProof="0" dirty="0">
                <a:ln>
                  <a:noFill/>
                </a:ln>
                <a:solidFill>
                  <a:prstClr val="black"/>
                </a:solidFill>
                <a:effectLst/>
                <a:highlight>
                  <a:srgbClr val="00FFFF"/>
                </a:highlight>
                <a:uLnTx/>
                <a:uFillTx/>
                <a:latin typeface="Rix모던고딕 B"/>
                <a:ea typeface="Rix모던고딕 B"/>
                <a:cs typeface="+mn-cs"/>
              </a:rPr>
              <a:t>1, 2</a:t>
            </a:r>
            <a:r>
              <a:rPr kumimoji="0" lang="ko-KR" altLang="en-US" sz="1200" b="0" i="0" u="none" strike="noStrike" kern="1200" cap="none" spc="0" normalizeH="0" baseline="0" noProof="0" dirty="0">
                <a:ln>
                  <a:noFill/>
                </a:ln>
                <a:solidFill>
                  <a:prstClr val="black"/>
                </a:solidFill>
                <a:effectLst/>
                <a:highlight>
                  <a:srgbClr val="00FFFF"/>
                </a:highlight>
                <a:uLnTx/>
                <a:uFillTx/>
                <a:latin typeface="Rix모던고딕 B"/>
                <a:ea typeface="Rix모던고딕 B"/>
                <a:cs typeface="+mn-cs"/>
              </a:rPr>
              <a:t>는 출원 전에 공지되지 않았고</a:t>
            </a:r>
            <a:r>
              <a:rPr kumimoji="0" lang="en-US" altLang="ko-KR" sz="1200" b="0" i="0" u="none" strike="noStrike" kern="1200" cap="none" spc="0" normalizeH="0" baseline="0" noProof="0" dirty="0">
                <a:ln>
                  <a:noFill/>
                </a:ln>
                <a:solidFill>
                  <a:prstClr val="black"/>
                </a:solidFill>
                <a:effectLst/>
                <a:highlight>
                  <a:srgbClr val="00FFFF"/>
                </a:highlight>
                <a:uLnTx/>
                <a:uFillTx/>
                <a:latin typeface="Rix모던고딕 B"/>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선행발명 </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은 출원 전 공지되었으나 선행발명 </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에 의하여 신규성</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진보성이 부정되지 않는다</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a:t>
            </a:r>
          </a:p>
        </p:txBody>
      </p:sp>
      <p:cxnSp>
        <p:nvCxnSpPr>
          <p:cNvPr id="158" name="연결선: 꺾임 157">
            <a:extLst>
              <a:ext uri="{FF2B5EF4-FFF2-40B4-BE49-F238E27FC236}">
                <a16:creationId xmlns:a16="http://schemas.microsoft.com/office/drawing/2014/main" id="{A70AE49C-B0F1-3D2B-65E7-4F87FD0E8818}"/>
              </a:ext>
            </a:extLst>
          </p:cNvPr>
          <p:cNvCxnSpPr>
            <a:cxnSpLocks/>
            <a:stCxn id="39" idx="2"/>
            <a:endCxn id="157" idx="0"/>
          </p:cNvCxnSpPr>
          <p:nvPr/>
        </p:nvCxnSpPr>
        <p:spPr>
          <a:xfrm rot="5400000">
            <a:off x="9889912" y="3421697"/>
            <a:ext cx="368292" cy="2445020"/>
          </a:xfrm>
          <a:prstGeom prst="bentConnector3">
            <a:avLst>
              <a:gd name="adj1" fmla="val 50000"/>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22269700"/>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33</a:t>
            </a:r>
            <a:r>
              <a:rPr lang="ko-KR" altLang="en-US" dirty="0"/>
              <a:t>조제</a:t>
            </a:r>
            <a:r>
              <a:rPr lang="en-US" altLang="ko-KR" dirty="0"/>
              <a:t>2</a:t>
            </a:r>
            <a:r>
              <a:rPr lang="ko-KR" altLang="en-US" dirty="0"/>
              <a:t>항</a:t>
            </a:r>
          </a:p>
        </p:txBody>
      </p:sp>
      <p:sp>
        <p:nvSpPr>
          <p:cNvPr id="4" name="텍스트 개체 틀 3"/>
          <p:cNvSpPr>
            <a:spLocks noGrp="1"/>
          </p:cNvSpPr>
          <p:nvPr>
            <p:ph type="body" sz="quarter" idx="13"/>
          </p:nvPr>
        </p:nvSpPr>
        <p:spPr/>
        <p:txBody>
          <a:bodyPr/>
          <a:lstStyle/>
          <a:p>
            <a:r>
              <a:rPr lang="ko-KR" altLang="en-US" dirty="0"/>
              <a:t>공동발명자에 해당하는 자</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103</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cxnSp>
        <p:nvCxnSpPr>
          <p:cNvPr id="5" name="직선 연결선 4"/>
          <p:cNvCxnSpPr/>
          <p:nvPr/>
        </p:nvCxnSpPr>
        <p:spPr>
          <a:xfrm>
            <a:off x="0" y="172710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7875" y="986046"/>
            <a:ext cx="11936323" cy="738664"/>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공동발명이란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명 이상의 자연인이 실질적으로 협력하여 함께 완성한 발명</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을 말한다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공동발명자가 되기 위해서는 이루는 기술적 사상의 창작에 실질적 협력하였다는 객관적 요건과 상호 협력하여 발명행위를 수행한다는 주관적 요건이 필요하다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실질적 협력이란 발명의 착상단계에서 구체화하는 단계에 실질적으로 관여하는 것을 의미한다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따라서 단순한 보조자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관리자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위탁자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자본주 등은 공동발명자가 되지 못한다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graphicFrame>
        <p:nvGraphicFramePr>
          <p:cNvPr id="8" name="표 7"/>
          <p:cNvGraphicFramePr>
            <a:graphicFrameLocks noGrp="1"/>
          </p:cNvGraphicFramePr>
          <p:nvPr/>
        </p:nvGraphicFramePr>
        <p:xfrm>
          <a:off x="372533" y="1815625"/>
          <a:ext cx="11446934" cy="2411984"/>
        </p:xfrm>
        <a:graphic>
          <a:graphicData uri="http://schemas.openxmlformats.org/drawingml/2006/table">
            <a:tbl>
              <a:tblPr/>
              <a:tblGrid>
                <a:gridCol w="5723467">
                  <a:extLst>
                    <a:ext uri="{9D8B030D-6E8A-4147-A177-3AD203B41FA5}">
                      <a16:colId xmlns:a16="http://schemas.microsoft.com/office/drawing/2014/main" val="20000"/>
                    </a:ext>
                  </a:extLst>
                </a:gridCol>
                <a:gridCol w="5723467">
                  <a:extLst>
                    <a:ext uri="{9D8B030D-6E8A-4147-A177-3AD203B41FA5}">
                      <a16:colId xmlns:a16="http://schemas.microsoft.com/office/drawing/2014/main" val="20001"/>
                    </a:ext>
                  </a:extLst>
                </a:gridCol>
              </a:tblGrid>
              <a:tr h="128968">
                <a:tc>
                  <a:txBody>
                    <a:bodyPr/>
                    <a:lstStyle/>
                    <a:p>
                      <a:pPr marL="0" marR="0" indent="0" algn="ctr" defTabSz="914400" rtl="0" eaLnBrk="1" fontAlgn="base" latinLnBrk="0" hangingPunct="1">
                        <a:lnSpc>
                          <a:spcPct val="130000"/>
                        </a:lnSpc>
                        <a:spcBef>
                          <a:spcPts val="0"/>
                        </a:spcBef>
                        <a:spcAft>
                          <a:spcPts val="0"/>
                        </a:spcAft>
                        <a:buClrTx/>
                        <a:buSzTx/>
                        <a:buFontTx/>
                        <a:buNone/>
                        <a:tabLst/>
                        <a:defRPr/>
                      </a:pPr>
                      <a:r>
                        <a:rPr lang="ko-KR" altLang="en-US" sz="1200" kern="1200" dirty="0">
                          <a:solidFill>
                            <a:schemeClr val="tx2"/>
                          </a:solidFill>
                          <a:latin typeface="+mn-lt"/>
                          <a:ea typeface="+mn-ea"/>
                          <a:cs typeface="+mn-cs"/>
                        </a:rPr>
                        <a:t>발명자에 해당하는 자</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1200" dirty="0">
                          <a:solidFill>
                            <a:schemeClr val="tx2"/>
                          </a:solidFill>
                          <a:latin typeface="+mn-lt"/>
                          <a:ea typeface="+mn-ea"/>
                          <a:cs typeface="+mn-cs"/>
                        </a:rPr>
                        <a:t>발명자에 해당하지 아니한 자</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488770">
                <a:tc>
                  <a:txBody>
                    <a:bodyPr/>
                    <a:lstStyle/>
                    <a:p>
                      <a:pPr marL="17780" marR="17780" indent="0"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1. </a:t>
                      </a:r>
                      <a:r>
                        <a:rPr lang="ko-KR" altLang="en-US" sz="1200" kern="1200" dirty="0">
                          <a:solidFill>
                            <a:schemeClr val="tx2"/>
                          </a:solidFill>
                          <a:latin typeface="+mn-lt"/>
                          <a:ea typeface="+mn-ea"/>
                          <a:cs typeface="+mn-cs"/>
                        </a:rPr>
                        <a:t>어떤 문제를 해결하기 위한 기술적 수단을 착상한 자</a:t>
                      </a:r>
                    </a:p>
                    <a:p>
                      <a:pPr marL="17780" marR="17780" indent="0"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2. </a:t>
                      </a:r>
                      <a:r>
                        <a:rPr lang="ko-KR" altLang="en-US" sz="1200" kern="1200" dirty="0">
                          <a:solidFill>
                            <a:schemeClr val="tx2"/>
                          </a:solidFill>
                          <a:latin typeface="+mn-lt"/>
                          <a:ea typeface="+mn-ea"/>
                          <a:cs typeface="+mn-cs"/>
                        </a:rPr>
                        <a:t>타인의 착상에 의거 연구를 하여 발명을 완성하게 한 자</a:t>
                      </a:r>
                    </a:p>
                    <a:p>
                      <a:pPr marL="17780" marR="17780" indent="0"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3. </a:t>
                      </a:r>
                      <a:r>
                        <a:rPr lang="ko-KR" altLang="en-US" sz="1200" kern="1200" dirty="0">
                          <a:solidFill>
                            <a:schemeClr val="tx2"/>
                          </a:solidFill>
                          <a:latin typeface="+mn-lt"/>
                          <a:ea typeface="+mn-ea"/>
                          <a:cs typeface="+mn-cs"/>
                        </a:rPr>
                        <a:t>타인의 착상에 대하여 구체화하는 기술적 수단을 부가하여 발명을 완성한 자</a:t>
                      </a:r>
                    </a:p>
                    <a:p>
                      <a:pPr marL="179388" marR="17780" indent="-179388"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4. </a:t>
                      </a:r>
                      <a:r>
                        <a:rPr lang="ko-KR" altLang="en-US" sz="1200" kern="1200" dirty="0">
                          <a:solidFill>
                            <a:schemeClr val="tx2"/>
                          </a:solidFill>
                          <a:latin typeface="+mn-lt"/>
                          <a:ea typeface="+mn-ea"/>
                          <a:cs typeface="+mn-cs"/>
                        </a:rPr>
                        <a:t>구체화하기 위해서 약간 불완전한 착상을 하고 타인에게 일반적인 지식의 조언 또는 지도를 얻어 발명을 완성한 자</a:t>
                      </a:r>
                    </a:p>
                    <a:p>
                      <a:pPr marL="106680" marR="17780" indent="-106680"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5. </a:t>
                      </a:r>
                      <a:r>
                        <a:rPr lang="ko-KR" altLang="en-US" sz="1200" kern="1200" dirty="0">
                          <a:solidFill>
                            <a:schemeClr val="tx2"/>
                          </a:solidFill>
                          <a:latin typeface="+mn-lt"/>
                          <a:ea typeface="+mn-ea"/>
                          <a:cs typeface="+mn-cs"/>
                        </a:rPr>
                        <a:t>타인의 발명에 힌트를 얻고 다시 그 발명의 범위를 확대하는 발명을 한 자</a:t>
                      </a:r>
                      <a:endParaRPr lang="en-US" altLang="ko-KR" sz="1200" kern="1200" dirty="0">
                        <a:solidFill>
                          <a:schemeClr val="tx2"/>
                        </a:solidFill>
                        <a:latin typeface="+mn-lt"/>
                        <a:ea typeface="+mn-ea"/>
                        <a:cs typeface="+mn-cs"/>
                      </a:endParaRPr>
                    </a:p>
                    <a:p>
                      <a:pPr marL="179388" marR="17780" indent="-179388"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6. </a:t>
                      </a:r>
                      <a:r>
                        <a:rPr lang="ko-KR" altLang="en-US" sz="1200" kern="1200" dirty="0">
                          <a:solidFill>
                            <a:schemeClr val="tx2"/>
                          </a:solidFill>
                          <a:latin typeface="+mn-lt"/>
                          <a:ea typeface="+mn-ea"/>
                          <a:cs typeface="+mn-cs"/>
                        </a:rPr>
                        <a:t>화학발명의 경우 실제 실험을</a:t>
                      </a:r>
                      <a:r>
                        <a:rPr lang="ko-KR" altLang="en-US" sz="1200" dirty="0">
                          <a:solidFill>
                            <a:srgbClr val="FF0000"/>
                          </a:solidFill>
                        </a:rPr>
                        <a:t> </a:t>
                      </a:r>
                      <a:r>
                        <a:rPr lang="ko-KR" altLang="en-US" sz="1200" dirty="0">
                          <a:solidFill>
                            <a:schemeClr val="tx2"/>
                          </a:solidFill>
                        </a:rPr>
                        <a:t>통하여 발명을 구체화하고 완성하는 데 실질적으로 기여한 자</a:t>
                      </a:r>
                      <a:endParaRPr lang="ko-KR" altLang="en-US" sz="1200" kern="1200" dirty="0">
                        <a:solidFill>
                          <a:schemeClr val="tx2"/>
                        </a:solidFill>
                        <a:latin typeface="+mn-lt"/>
                        <a:ea typeface="+mn-ea"/>
                        <a:cs typeface="+mn-cs"/>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11760" marR="17780" indent="-111760"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1. </a:t>
                      </a:r>
                      <a:r>
                        <a:rPr lang="ko-KR" altLang="en-US" sz="1200" kern="1200" dirty="0">
                          <a:solidFill>
                            <a:schemeClr val="tx2"/>
                          </a:solidFill>
                          <a:latin typeface="+mn-lt"/>
                          <a:ea typeface="+mn-ea"/>
                          <a:cs typeface="+mn-cs"/>
                        </a:rPr>
                        <a:t>발명자에게 자금을 제공하거나 설비이용의 편의를 주는 등 발명의 완성을 원조하거나 위탁한 자</a:t>
                      </a:r>
                      <a:r>
                        <a:rPr lang="en-US" altLang="ko-KR" sz="1200" kern="1200" dirty="0">
                          <a:solidFill>
                            <a:srgbClr val="FF0000"/>
                          </a:solidFill>
                          <a:latin typeface="+mn-lt"/>
                          <a:ea typeface="+mn-ea"/>
                          <a:cs typeface="+mn-cs"/>
                        </a:rPr>
                        <a:t>(</a:t>
                      </a:r>
                      <a:r>
                        <a:rPr lang="ko-KR" altLang="en-US" sz="1200" kern="1200" dirty="0">
                          <a:solidFill>
                            <a:srgbClr val="FF0000"/>
                          </a:solidFill>
                          <a:latin typeface="+mn-lt"/>
                          <a:ea typeface="+mn-ea"/>
                          <a:cs typeface="+mn-cs"/>
                        </a:rPr>
                        <a:t>단순후원자</a:t>
                      </a:r>
                      <a:r>
                        <a:rPr lang="en-US" altLang="ko-KR" sz="1200" kern="1200" dirty="0">
                          <a:solidFill>
                            <a:srgbClr val="FF0000"/>
                          </a:solidFill>
                          <a:latin typeface="+mn-lt"/>
                          <a:ea typeface="+mn-ea"/>
                          <a:cs typeface="+mn-cs"/>
                        </a:rPr>
                        <a:t>, </a:t>
                      </a:r>
                      <a:r>
                        <a:rPr lang="ko-KR" altLang="en-US" sz="1200" kern="1200" dirty="0">
                          <a:solidFill>
                            <a:srgbClr val="FF0000"/>
                          </a:solidFill>
                          <a:latin typeface="+mn-lt"/>
                          <a:ea typeface="+mn-ea"/>
                          <a:cs typeface="+mn-cs"/>
                        </a:rPr>
                        <a:t>위탁자</a:t>
                      </a:r>
                      <a:r>
                        <a:rPr lang="en-US" altLang="ko-KR" sz="1200" kern="1200" dirty="0">
                          <a:solidFill>
                            <a:srgbClr val="FF0000"/>
                          </a:solidFill>
                          <a:latin typeface="+mn-lt"/>
                          <a:ea typeface="+mn-ea"/>
                          <a:cs typeface="+mn-cs"/>
                        </a:rPr>
                        <a:t>)</a:t>
                      </a:r>
                      <a:endParaRPr lang="ko-KR" altLang="en-US" sz="1200" kern="1200" dirty="0">
                        <a:solidFill>
                          <a:srgbClr val="FF0000"/>
                        </a:solidFill>
                        <a:latin typeface="+mn-lt"/>
                        <a:ea typeface="+mn-ea"/>
                        <a:cs typeface="+mn-cs"/>
                      </a:endParaRPr>
                    </a:p>
                    <a:p>
                      <a:pPr marL="106680" marR="17780" indent="-106680"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2. </a:t>
                      </a:r>
                      <a:r>
                        <a:rPr lang="ko-KR" altLang="en-US" sz="1200" kern="1200" dirty="0">
                          <a:solidFill>
                            <a:schemeClr val="tx2"/>
                          </a:solidFill>
                          <a:latin typeface="+mn-lt"/>
                          <a:ea typeface="+mn-ea"/>
                          <a:cs typeface="+mn-cs"/>
                        </a:rPr>
                        <a:t>희망조건만 제시하고 그것을 해결할 착상을 제공하지 아니한 자</a:t>
                      </a:r>
                      <a:r>
                        <a:rPr lang="en-US" altLang="ko-KR" sz="1200" kern="1200" dirty="0">
                          <a:solidFill>
                            <a:srgbClr val="FF0000"/>
                          </a:solidFill>
                          <a:latin typeface="+mn-lt"/>
                          <a:ea typeface="+mn-ea"/>
                          <a:cs typeface="+mn-cs"/>
                        </a:rPr>
                        <a:t>(</a:t>
                      </a:r>
                      <a:r>
                        <a:rPr lang="ko-KR" altLang="en-US" sz="1200" kern="1200" dirty="0">
                          <a:solidFill>
                            <a:srgbClr val="FF0000"/>
                          </a:solidFill>
                          <a:latin typeface="+mn-lt"/>
                          <a:ea typeface="+mn-ea"/>
                          <a:cs typeface="+mn-cs"/>
                        </a:rPr>
                        <a:t>단순 관리자</a:t>
                      </a:r>
                      <a:r>
                        <a:rPr lang="en-US" altLang="ko-KR" sz="1200" kern="1200" dirty="0">
                          <a:solidFill>
                            <a:srgbClr val="FF0000"/>
                          </a:solidFill>
                          <a:latin typeface="+mn-lt"/>
                          <a:ea typeface="+mn-ea"/>
                          <a:cs typeface="+mn-cs"/>
                        </a:rPr>
                        <a:t>)</a:t>
                      </a:r>
                      <a:endParaRPr lang="ko-KR" altLang="en-US" sz="1200" kern="1200" dirty="0">
                        <a:solidFill>
                          <a:srgbClr val="FF0000"/>
                        </a:solidFill>
                        <a:latin typeface="+mn-lt"/>
                        <a:ea typeface="+mn-ea"/>
                        <a:cs typeface="+mn-cs"/>
                      </a:endParaRPr>
                    </a:p>
                    <a:p>
                      <a:pPr marL="106680" marR="17780" indent="-106680"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3. </a:t>
                      </a:r>
                      <a:r>
                        <a:rPr lang="ko-KR" altLang="en-US" sz="1200" kern="1200" dirty="0">
                          <a:solidFill>
                            <a:schemeClr val="tx2"/>
                          </a:solidFill>
                          <a:latin typeface="+mn-lt"/>
                          <a:ea typeface="+mn-ea"/>
                          <a:cs typeface="+mn-cs"/>
                        </a:rPr>
                        <a:t>타인이 제시한 착상 속에서 실용성이 있을 것을 선택한 것에 지나지 아니한 자</a:t>
                      </a:r>
                    </a:p>
                    <a:p>
                      <a:pPr marL="106680" marR="17780" indent="-106680"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4. </a:t>
                      </a:r>
                      <a:r>
                        <a:rPr lang="ko-KR" altLang="en-US" sz="1200" kern="1200" dirty="0">
                          <a:solidFill>
                            <a:schemeClr val="tx2"/>
                          </a:solidFill>
                          <a:latin typeface="+mn-lt"/>
                          <a:ea typeface="+mn-ea"/>
                          <a:cs typeface="+mn-cs"/>
                        </a:rPr>
                        <a:t>그 발명에 관하여 착상만 하고 구체화하는 과정에서 실질적으로 관여하지 아니한 자</a:t>
                      </a:r>
                    </a:p>
                    <a:p>
                      <a:pPr marL="118110" marR="17780" indent="-118110"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5. </a:t>
                      </a:r>
                      <a:r>
                        <a:rPr lang="ko-KR" altLang="en-US" sz="1200" kern="1200" dirty="0">
                          <a:solidFill>
                            <a:schemeClr val="tx2"/>
                          </a:solidFill>
                          <a:latin typeface="+mn-lt"/>
                          <a:ea typeface="+mn-ea"/>
                          <a:cs typeface="+mn-cs"/>
                        </a:rPr>
                        <a:t>발명의 과정에서 연구자의 지시로 단순히 데이터를 정리하거나 제시된 제도</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실험 등을 한 것에 지니지 아니한 자</a:t>
                      </a:r>
                      <a:r>
                        <a:rPr lang="en-US" altLang="ko-KR" sz="1200" kern="1200" dirty="0">
                          <a:solidFill>
                            <a:srgbClr val="FF0000"/>
                          </a:solidFill>
                          <a:latin typeface="+mn-lt"/>
                          <a:ea typeface="+mn-ea"/>
                          <a:cs typeface="+mn-cs"/>
                        </a:rPr>
                        <a:t>(</a:t>
                      </a:r>
                      <a:r>
                        <a:rPr lang="ko-KR" altLang="en-US" sz="1200" kern="1200" dirty="0">
                          <a:solidFill>
                            <a:srgbClr val="FF0000"/>
                          </a:solidFill>
                          <a:latin typeface="+mn-lt"/>
                          <a:ea typeface="+mn-ea"/>
                          <a:cs typeface="+mn-cs"/>
                        </a:rPr>
                        <a:t>단순보조자</a:t>
                      </a:r>
                      <a:r>
                        <a:rPr lang="en-US" altLang="ko-KR" sz="1200" kern="1200" dirty="0">
                          <a:solidFill>
                            <a:srgbClr val="FF0000"/>
                          </a:solidFill>
                          <a:latin typeface="+mn-lt"/>
                          <a:ea typeface="+mn-ea"/>
                          <a:cs typeface="+mn-cs"/>
                        </a:rPr>
                        <a:t>)</a:t>
                      </a:r>
                      <a:endParaRPr lang="ko-KR" altLang="en-US" sz="1200" kern="1200" dirty="0">
                        <a:solidFill>
                          <a:srgbClr val="FF0000"/>
                        </a:solidFill>
                        <a:latin typeface="+mn-lt"/>
                        <a:ea typeface="+mn-ea"/>
                        <a:cs typeface="+mn-cs"/>
                      </a:endParaRPr>
                    </a:p>
                    <a:p>
                      <a:pPr marL="17780" marR="17780" indent="0"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6. </a:t>
                      </a:r>
                      <a:r>
                        <a:rPr lang="ko-KR" altLang="en-US" sz="1200" kern="1200" dirty="0">
                          <a:solidFill>
                            <a:schemeClr val="tx2"/>
                          </a:solidFill>
                          <a:latin typeface="+mn-lt"/>
                          <a:ea typeface="+mn-ea"/>
                          <a:cs typeface="+mn-cs"/>
                        </a:rPr>
                        <a:t>단지</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일반 지식의 조언 또는 제시를 주기만 한 자</a:t>
                      </a:r>
                      <a:endParaRPr lang="en-US" altLang="ko-KR" sz="1200" kern="1200" dirty="0">
                        <a:solidFill>
                          <a:schemeClr val="tx2"/>
                        </a:solidFill>
                        <a:latin typeface="+mn-lt"/>
                        <a:ea typeface="+mn-ea"/>
                        <a:cs typeface="+mn-cs"/>
                      </a:endParaRPr>
                    </a:p>
                    <a:p>
                      <a:pPr marL="17780" marR="17780" indent="0" algn="just" fontAlgn="base" latinLnBrk="1">
                        <a:lnSpc>
                          <a:spcPct val="130000"/>
                        </a:lnSpc>
                        <a:spcBef>
                          <a:spcPts val="0"/>
                        </a:spcBef>
                        <a:spcAft>
                          <a:spcPts val="0"/>
                        </a:spcAft>
                      </a:pPr>
                      <a:r>
                        <a:rPr lang="en-US" altLang="ko-KR" sz="1200" kern="1200" dirty="0">
                          <a:solidFill>
                            <a:schemeClr val="tx2"/>
                          </a:solidFill>
                          <a:latin typeface="+mn-lt"/>
                          <a:ea typeface="+mn-ea"/>
                          <a:cs typeface="+mn-cs"/>
                        </a:rPr>
                        <a:t>7. </a:t>
                      </a:r>
                      <a:r>
                        <a:rPr lang="ko-KR" altLang="en-US" sz="1200" kern="1200" dirty="0">
                          <a:solidFill>
                            <a:schemeClr val="tx2"/>
                          </a:solidFill>
                          <a:latin typeface="+mn-lt"/>
                          <a:ea typeface="+mn-ea"/>
                          <a:cs typeface="+mn-cs"/>
                        </a:rPr>
                        <a:t>구성을 변경했지만 기술적 사상의 창작에 기여하지 않은 자</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
        <p:nvSpPr>
          <p:cNvPr id="9" name="직사각형 8"/>
          <p:cNvSpPr/>
          <p:nvPr/>
        </p:nvSpPr>
        <p:spPr bwMode="auto">
          <a:xfrm>
            <a:off x="348791" y="4663101"/>
            <a:ext cx="11519555" cy="1986212"/>
          </a:xfrm>
          <a:prstGeom prst="rect">
            <a:avLst/>
          </a:prstGeom>
          <a:ln>
            <a:solidFill>
              <a:schemeClr val="accent3"/>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72000" bIns="72000" rtlCol="0" anchor="ctr"/>
          <a:lstStyle/>
          <a:p>
            <a:pPr marL="0" marR="0" lvl="0" indent="0" algn="l" defTabSz="914400" rtl="0" eaLnBrk="1" fontAlgn="base" latinLnBrk="1" hangingPunct="1">
              <a:lnSpc>
                <a:spcPct val="15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공동발명자가 되기 위해서는 발명의 완성을 위하여 실질적으로 상호 협력하는 관계가 있어야 하므로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ⅰ)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단순히 발명에 대한 기본적인 과제와 아이디어만을 제공하였거나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ⅱ)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연구자를 일반적으로 관리하였거나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ⅲ)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연구자의 지시로 데이터의 정리와 실험만을 하였거나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ⅳ)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자금⋅설비 등을 제공하여 발명의 완성을 후원⋅위탁하였을 뿐인 정도 등에 그치지 않고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ⅰ)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발명의 기술적 과제를 해결하기 위한 구체적인 착상을 새롭게 제시⋅부가⋅보완하거나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ⅱ)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실험 등을 통하여 새로운 착상을 구체화하거나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ⅲ)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발명의 목적 및 효과를 달성하기 위한 구체적인 수단과 방법의 제공 또는 구체적인 조언⋅지도를 통하여 발명을 가능하게 한 경우 등과 같이 기술적 사상의 창작행위에 실질적으로 기여하기에 이르러야 공동발명자에 해당한다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한편 이른바 실험의 과학이라고 하는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화학발명의 경우</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에는 그 발명 내용과 기술수준에 따라 차이가 있을 수는 있지만 예측가능성 내지 실현가능성이 현저히 부족하여 실험데이터가 제시된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실험예가</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없으면 완성된 발명으로 보기 어려운 경우가 많이 있는데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그와 같은 경우에는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실제 실험을 통하여 발명을 구체화하고 완성하는 데 실질적으로 기여하였는지의 관점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에서 공동발명자인지를 결정하여야 한다</a:t>
            </a:r>
          </a:p>
        </p:txBody>
      </p:sp>
      <p:sp>
        <p:nvSpPr>
          <p:cNvPr id="10" name="모서리가 둥근 직사각형 9"/>
          <p:cNvSpPr/>
          <p:nvPr/>
        </p:nvSpPr>
        <p:spPr bwMode="auto">
          <a:xfrm>
            <a:off x="348791" y="4372785"/>
            <a:ext cx="4680521" cy="288032"/>
          </a:xfrm>
          <a:prstGeom prst="roundRect">
            <a:avLst>
              <a:gd name="adj" fmla="val 0"/>
            </a:avLst>
          </a:prstGeom>
          <a:solidFill>
            <a:schemeClr val="accent2">
              <a:lumMod val="75000"/>
            </a:schemeClr>
          </a:solidFill>
          <a:ln>
            <a:solidFill>
              <a:schemeClr val="accent3"/>
            </a:solidFill>
            <a:headEnd type="none" w="med" len="med"/>
            <a:tailEnd type="none"/>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base"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2011. 7. 28.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2009</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다</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75178</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 판결</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직무 발명 보상금</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Tree>
    <p:extLst>
      <p:ext uri="{BB962C8B-B14F-4D97-AF65-F5344CB8AC3E}">
        <p14:creationId xmlns:p14="http://schemas.microsoft.com/office/powerpoint/2010/main" val="265395198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33</a:t>
            </a:r>
            <a:r>
              <a:rPr lang="ko-KR" altLang="en-US" dirty="0"/>
              <a:t>조제</a:t>
            </a:r>
            <a:r>
              <a:rPr lang="en-US" altLang="ko-KR" dirty="0"/>
              <a:t>2</a:t>
            </a:r>
            <a:r>
              <a:rPr lang="ko-KR" altLang="en-US" dirty="0"/>
              <a:t>항</a:t>
            </a:r>
          </a:p>
        </p:txBody>
      </p:sp>
      <p:sp>
        <p:nvSpPr>
          <p:cNvPr id="4" name="텍스트 개체 틀 3"/>
          <p:cNvSpPr>
            <a:spLocks noGrp="1"/>
          </p:cNvSpPr>
          <p:nvPr>
            <p:ph type="body" sz="quarter" idx="13"/>
          </p:nvPr>
        </p:nvSpPr>
        <p:spPr/>
        <p:txBody>
          <a:bodyPr/>
          <a:lstStyle/>
          <a:p>
            <a:r>
              <a:rPr lang="ko-KR" altLang="en-US" dirty="0"/>
              <a:t>공동발명자의 법적 취급</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104</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7" name="TextBox 6">
            <a:extLst>
              <a:ext uri="{FF2B5EF4-FFF2-40B4-BE49-F238E27FC236}">
                <a16:creationId xmlns:a16="http://schemas.microsoft.com/office/drawing/2014/main" id="{768A501A-DE38-4C46-AA95-C34350E97086}"/>
              </a:ext>
            </a:extLst>
          </p:cNvPr>
          <p:cNvSpPr txBox="1"/>
          <p:nvPr/>
        </p:nvSpPr>
        <p:spPr>
          <a:xfrm>
            <a:off x="1613132" y="1074920"/>
            <a:ext cx="1009290" cy="369332"/>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의의</a:t>
            </a:r>
          </a:p>
        </p:txBody>
      </p:sp>
      <p:sp>
        <p:nvSpPr>
          <p:cNvPr id="11" name="TextBox 10">
            <a:extLst>
              <a:ext uri="{FF2B5EF4-FFF2-40B4-BE49-F238E27FC236}">
                <a16:creationId xmlns:a16="http://schemas.microsoft.com/office/drawing/2014/main" id="{EABFDA6B-D707-492F-8239-7FE810697B86}"/>
              </a:ext>
            </a:extLst>
          </p:cNvPr>
          <p:cNvSpPr txBox="1"/>
          <p:nvPr/>
        </p:nvSpPr>
        <p:spPr>
          <a:xfrm>
            <a:off x="1613132" y="1627010"/>
            <a:ext cx="1009290" cy="369332"/>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성립요건</a:t>
            </a:r>
          </a:p>
        </p:txBody>
      </p:sp>
      <p:sp>
        <p:nvSpPr>
          <p:cNvPr id="12" name="TextBox 11">
            <a:extLst>
              <a:ext uri="{FF2B5EF4-FFF2-40B4-BE49-F238E27FC236}">
                <a16:creationId xmlns:a16="http://schemas.microsoft.com/office/drawing/2014/main" id="{CC35DAE6-83A0-4209-943C-79F070A474AB}"/>
              </a:ext>
            </a:extLst>
          </p:cNvPr>
          <p:cNvSpPr txBox="1"/>
          <p:nvPr/>
        </p:nvSpPr>
        <p:spPr>
          <a:xfrm>
            <a:off x="1613132" y="3002460"/>
            <a:ext cx="1009290" cy="369332"/>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유 형</a:t>
            </a:r>
          </a:p>
        </p:txBody>
      </p:sp>
      <p:sp>
        <p:nvSpPr>
          <p:cNvPr id="13" name="TextBox 12">
            <a:extLst>
              <a:ext uri="{FF2B5EF4-FFF2-40B4-BE49-F238E27FC236}">
                <a16:creationId xmlns:a16="http://schemas.microsoft.com/office/drawing/2014/main" id="{FA886FEA-06E8-4E3C-A619-FD903249AD25}"/>
              </a:ext>
            </a:extLst>
          </p:cNvPr>
          <p:cNvSpPr txBox="1"/>
          <p:nvPr/>
        </p:nvSpPr>
        <p:spPr>
          <a:xfrm>
            <a:off x="1613132" y="4300818"/>
            <a:ext cx="1009290" cy="369332"/>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법적취급</a:t>
            </a:r>
          </a:p>
        </p:txBody>
      </p:sp>
      <p:sp>
        <p:nvSpPr>
          <p:cNvPr id="14" name="TextBox 13">
            <a:extLst>
              <a:ext uri="{FF2B5EF4-FFF2-40B4-BE49-F238E27FC236}">
                <a16:creationId xmlns:a16="http://schemas.microsoft.com/office/drawing/2014/main" id="{9FF2E40B-F794-49A9-856E-A80C7BD7FC5A}"/>
              </a:ext>
            </a:extLst>
          </p:cNvPr>
          <p:cNvSpPr txBox="1"/>
          <p:nvPr/>
        </p:nvSpPr>
        <p:spPr>
          <a:xfrm>
            <a:off x="3140247" y="1350011"/>
            <a:ext cx="1466490"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인 이상</a:t>
            </a:r>
          </a:p>
        </p:txBody>
      </p:sp>
      <p:sp>
        <p:nvSpPr>
          <p:cNvPr id="15" name="TextBox 14">
            <a:extLst>
              <a:ext uri="{FF2B5EF4-FFF2-40B4-BE49-F238E27FC236}">
                <a16:creationId xmlns:a16="http://schemas.microsoft.com/office/drawing/2014/main" id="{B7249277-79C6-4AC0-B443-475021FD0F25}"/>
              </a:ext>
            </a:extLst>
          </p:cNvPr>
          <p:cNvSpPr txBox="1"/>
          <p:nvPr/>
        </p:nvSpPr>
        <p:spPr>
          <a:xfrm>
            <a:off x="3140247" y="1679387"/>
            <a:ext cx="1466490"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자연인</a:t>
            </a:r>
          </a:p>
        </p:txBody>
      </p:sp>
      <p:sp>
        <p:nvSpPr>
          <p:cNvPr id="16" name="TextBox 15">
            <a:extLst>
              <a:ext uri="{FF2B5EF4-FFF2-40B4-BE49-F238E27FC236}">
                <a16:creationId xmlns:a16="http://schemas.microsoft.com/office/drawing/2014/main" id="{AC7A7049-271D-4B3F-9BC6-0E73C9632BC1}"/>
              </a:ext>
            </a:extLst>
          </p:cNvPr>
          <p:cNvSpPr txBox="1"/>
          <p:nvPr/>
        </p:nvSpPr>
        <p:spPr>
          <a:xfrm>
            <a:off x="3140247" y="2008763"/>
            <a:ext cx="1466490"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실질적 협력 완성</a:t>
            </a:r>
          </a:p>
        </p:txBody>
      </p:sp>
      <p:sp>
        <p:nvSpPr>
          <p:cNvPr id="17" name="TextBox 16">
            <a:extLst>
              <a:ext uri="{FF2B5EF4-FFF2-40B4-BE49-F238E27FC236}">
                <a16:creationId xmlns:a16="http://schemas.microsoft.com/office/drawing/2014/main" id="{3CF1EE66-AF37-4B8C-82FF-47A16BCD9E22}"/>
              </a:ext>
            </a:extLst>
          </p:cNvPr>
          <p:cNvSpPr txBox="1"/>
          <p:nvPr/>
        </p:nvSpPr>
        <p:spPr>
          <a:xfrm>
            <a:off x="5124562" y="1811676"/>
            <a:ext cx="2673712"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주관적 요건</a:t>
            </a:r>
          </a:p>
        </p:txBody>
      </p:sp>
      <p:sp>
        <p:nvSpPr>
          <p:cNvPr id="18" name="TextBox 17">
            <a:extLst>
              <a:ext uri="{FF2B5EF4-FFF2-40B4-BE49-F238E27FC236}">
                <a16:creationId xmlns:a16="http://schemas.microsoft.com/office/drawing/2014/main" id="{A5AEC894-68F3-4258-BCA9-EF5C26998A3F}"/>
              </a:ext>
            </a:extLst>
          </p:cNvPr>
          <p:cNvSpPr txBox="1"/>
          <p:nvPr/>
        </p:nvSpPr>
        <p:spPr>
          <a:xfrm>
            <a:off x="5124562" y="2175808"/>
            <a:ext cx="2673712"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객관적 요건</a:t>
            </a:r>
          </a:p>
        </p:txBody>
      </p:sp>
      <p:sp>
        <p:nvSpPr>
          <p:cNvPr id="19" name="TextBox 18">
            <a:extLst>
              <a:ext uri="{FF2B5EF4-FFF2-40B4-BE49-F238E27FC236}">
                <a16:creationId xmlns:a16="http://schemas.microsoft.com/office/drawing/2014/main" id="{A1DFAC0B-FBCD-4746-8BF4-572E900C3E6E}"/>
              </a:ext>
            </a:extLst>
          </p:cNvPr>
          <p:cNvSpPr txBox="1"/>
          <p:nvPr/>
        </p:nvSpPr>
        <p:spPr>
          <a:xfrm>
            <a:off x="3140247" y="2920991"/>
            <a:ext cx="1466490"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해당하는 자</a:t>
            </a:r>
          </a:p>
        </p:txBody>
      </p:sp>
      <p:sp>
        <p:nvSpPr>
          <p:cNvPr id="20" name="TextBox 19">
            <a:extLst>
              <a:ext uri="{FF2B5EF4-FFF2-40B4-BE49-F238E27FC236}">
                <a16:creationId xmlns:a16="http://schemas.microsoft.com/office/drawing/2014/main" id="{8DF9B9D6-F717-4D9B-81E3-3B9F81683D98}"/>
              </a:ext>
            </a:extLst>
          </p:cNvPr>
          <p:cNvSpPr txBox="1"/>
          <p:nvPr/>
        </p:nvSpPr>
        <p:spPr>
          <a:xfrm>
            <a:off x="3140247" y="3250367"/>
            <a:ext cx="1466490"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해당하지 않는 자</a:t>
            </a:r>
          </a:p>
        </p:txBody>
      </p:sp>
      <p:sp>
        <p:nvSpPr>
          <p:cNvPr id="23" name="TextBox 22">
            <a:extLst>
              <a:ext uri="{FF2B5EF4-FFF2-40B4-BE49-F238E27FC236}">
                <a16:creationId xmlns:a16="http://schemas.microsoft.com/office/drawing/2014/main" id="{86703ABD-4B33-4AED-8342-ECBA580A435F}"/>
              </a:ext>
            </a:extLst>
          </p:cNvPr>
          <p:cNvSpPr txBox="1"/>
          <p:nvPr/>
        </p:nvSpPr>
        <p:spPr>
          <a:xfrm>
            <a:off x="3140247" y="4162318"/>
            <a:ext cx="1466490"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공유</a:t>
            </a:r>
          </a:p>
        </p:txBody>
      </p:sp>
      <p:sp>
        <p:nvSpPr>
          <p:cNvPr id="24" name="TextBox 23">
            <a:extLst>
              <a:ext uri="{FF2B5EF4-FFF2-40B4-BE49-F238E27FC236}">
                <a16:creationId xmlns:a16="http://schemas.microsoft.com/office/drawing/2014/main" id="{58D703C1-AA7B-4607-8FEF-316F9BC75F84}"/>
              </a:ext>
            </a:extLst>
          </p:cNvPr>
          <p:cNvSpPr txBox="1"/>
          <p:nvPr/>
        </p:nvSpPr>
        <p:spPr>
          <a:xfrm>
            <a:off x="3140247" y="4776362"/>
            <a:ext cx="1466490"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심판</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및</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소송</a:t>
            </a:r>
          </a:p>
        </p:txBody>
      </p:sp>
      <p:sp>
        <p:nvSpPr>
          <p:cNvPr id="25" name="TextBox 24">
            <a:extLst>
              <a:ext uri="{FF2B5EF4-FFF2-40B4-BE49-F238E27FC236}">
                <a16:creationId xmlns:a16="http://schemas.microsoft.com/office/drawing/2014/main" id="{B1939AFB-DEC8-4E8C-B255-C22388228573}"/>
              </a:ext>
            </a:extLst>
          </p:cNvPr>
          <p:cNvSpPr txBox="1"/>
          <p:nvPr/>
        </p:nvSpPr>
        <p:spPr>
          <a:xfrm>
            <a:off x="3140247" y="5916144"/>
            <a:ext cx="1466490"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그 밖의 절차</a:t>
            </a:r>
          </a:p>
        </p:txBody>
      </p:sp>
      <p:sp>
        <p:nvSpPr>
          <p:cNvPr id="26" name="TextBox 25">
            <a:extLst>
              <a:ext uri="{FF2B5EF4-FFF2-40B4-BE49-F238E27FC236}">
                <a16:creationId xmlns:a16="http://schemas.microsoft.com/office/drawing/2014/main" id="{9E0C8CE3-FD24-49BB-BDE2-380436520087}"/>
              </a:ext>
            </a:extLst>
          </p:cNvPr>
          <p:cNvSpPr txBox="1"/>
          <p:nvPr/>
        </p:nvSpPr>
        <p:spPr>
          <a:xfrm>
            <a:off x="5124562" y="4023818"/>
            <a:ext cx="2673712"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등록전</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취급</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37</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27" name="TextBox 26">
            <a:extLst>
              <a:ext uri="{FF2B5EF4-FFF2-40B4-BE49-F238E27FC236}">
                <a16:creationId xmlns:a16="http://schemas.microsoft.com/office/drawing/2014/main" id="{80CEFF5F-4C53-42DE-8FCC-C667D92F2868}"/>
              </a:ext>
            </a:extLst>
          </p:cNvPr>
          <p:cNvSpPr txBox="1"/>
          <p:nvPr/>
        </p:nvSpPr>
        <p:spPr>
          <a:xfrm>
            <a:off x="5124562" y="4387950"/>
            <a:ext cx="2673712"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등록후</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취급</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99</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28" name="TextBox 27">
            <a:extLst>
              <a:ext uri="{FF2B5EF4-FFF2-40B4-BE49-F238E27FC236}">
                <a16:creationId xmlns:a16="http://schemas.microsoft.com/office/drawing/2014/main" id="{7578B074-7893-4261-92D2-1046A5674BB1}"/>
              </a:ext>
            </a:extLst>
          </p:cNvPr>
          <p:cNvSpPr txBox="1"/>
          <p:nvPr/>
        </p:nvSpPr>
        <p:spPr>
          <a:xfrm>
            <a:off x="5124562" y="4776362"/>
            <a:ext cx="2673712"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a:t>
            </a:r>
          </a:p>
        </p:txBody>
      </p:sp>
      <p:sp>
        <p:nvSpPr>
          <p:cNvPr id="29" name="TextBox 28">
            <a:extLst>
              <a:ext uri="{FF2B5EF4-FFF2-40B4-BE49-F238E27FC236}">
                <a16:creationId xmlns:a16="http://schemas.microsoft.com/office/drawing/2014/main" id="{35B76C42-487F-4BD2-A9AF-470552BC7397}"/>
              </a:ext>
            </a:extLst>
          </p:cNvPr>
          <p:cNvSpPr txBox="1"/>
          <p:nvPr/>
        </p:nvSpPr>
        <p:spPr>
          <a:xfrm>
            <a:off x="5124562" y="5140494"/>
            <a:ext cx="2673712"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심판청구</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139</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30" name="TextBox 29">
            <a:extLst>
              <a:ext uri="{FF2B5EF4-FFF2-40B4-BE49-F238E27FC236}">
                <a16:creationId xmlns:a16="http://schemas.microsoft.com/office/drawing/2014/main" id="{D6FC9AB2-015D-4FD7-9706-B6138430CFD9}"/>
              </a:ext>
            </a:extLst>
          </p:cNvPr>
          <p:cNvSpPr txBox="1"/>
          <p:nvPr/>
        </p:nvSpPr>
        <p:spPr>
          <a:xfrm>
            <a:off x="5124562" y="5506587"/>
            <a:ext cx="2673712"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소송</a:t>
            </a:r>
          </a:p>
        </p:txBody>
      </p:sp>
      <p:sp>
        <p:nvSpPr>
          <p:cNvPr id="32" name="TextBox 31">
            <a:extLst>
              <a:ext uri="{FF2B5EF4-FFF2-40B4-BE49-F238E27FC236}">
                <a16:creationId xmlns:a16="http://schemas.microsoft.com/office/drawing/2014/main" id="{67F1AF87-74C6-402B-8D70-543A8DD10608}"/>
              </a:ext>
            </a:extLst>
          </p:cNvPr>
          <p:cNvSpPr txBox="1"/>
          <p:nvPr/>
        </p:nvSpPr>
        <p:spPr>
          <a:xfrm>
            <a:off x="5124562" y="5912930"/>
            <a:ext cx="2673712"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대표자가 없는 경우</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11</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a:t>
            </a:r>
            <a:r>
              <a:rPr kumimoji="0" lang="ko-KR" altLang="en-US" sz="12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항본문</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33" name="TextBox 32">
            <a:extLst>
              <a:ext uri="{FF2B5EF4-FFF2-40B4-BE49-F238E27FC236}">
                <a16:creationId xmlns:a16="http://schemas.microsoft.com/office/drawing/2014/main" id="{B39DE7A4-9B8B-4FF1-BC44-A033EE37A318}"/>
              </a:ext>
            </a:extLst>
          </p:cNvPr>
          <p:cNvSpPr txBox="1"/>
          <p:nvPr/>
        </p:nvSpPr>
        <p:spPr>
          <a:xfrm>
            <a:off x="5124562" y="6276189"/>
            <a:ext cx="2673712"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대표자가 있는 경우</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11</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a:t>
            </a:r>
            <a:r>
              <a:rPr kumimoji="0" lang="ko-KR" altLang="en-US" sz="12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항단서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34" name="TextBox 33">
            <a:extLst>
              <a:ext uri="{FF2B5EF4-FFF2-40B4-BE49-F238E27FC236}">
                <a16:creationId xmlns:a16="http://schemas.microsoft.com/office/drawing/2014/main" id="{FEE31550-1CDB-4058-B51B-AF54AAD18704}"/>
              </a:ext>
            </a:extLst>
          </p:cNvPr>
          <p:cNvSpPr txBox="1"/>
          <p:nvPr/>
        </p:nvSpPr>
        <p:spPr>
          <a:xfrm>
            <a:off x="8092048" y="4578205"/>
            <a:ext cx="3915917"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특허출원</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44</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62</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63</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조의</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133</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99</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조의</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35" name="TextBox 34">
            <a:extLst>
              <a:ext uri="{FF2B5EF4-FFF2-40B4-BE49-F238E27FC236}">
                <a16:creationId xmlns:a16="http://schemas.microsoft.com/office/drawing/2014/main" id="{C463814B-7EB4-43CC-AE6C-F3B462ACB19D}"/>
              </a:ext>
            </a:extLst>
          </p:cNvPr>
          <p:cNvSpPr txBox="1"/>
          <p:nvPr/>
        </p:nvSpPr>
        <p:spPr>
          <a:xfrm>
            <a:off x="8092048" y="4942337"/>
            <a:ext cx="3915917"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연장등록출원</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90</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92</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조의</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3): </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134</a:t>
            </a: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a:t>
            </a:r>
          </a:p>
        </p:txBody>
      </p:sp>
      <p:sp>
        <p:nvSpPr>
          <p:cNvPr id="36" name="TextBox 35">
            <a:extLst>
              <a:ext uri="{FF2B5EF4-FFF2-40B4-BE49-F238E27FC236}">
                <a16:creationId xmlns:a16="http://schemas.microsoft.com/office/drawing/2014/main" id="{9AB14F71-010D-4956-8760-5647891670B4}"/>
              </a:ext>
            </a:extLst>
          </p:cNvPr>
          <p:cNvSpPr txBox="1"/>
          <p:nvPr/>
        </p:nvSpPr>
        <p:spPr>
          <a:xfrm>
            <a:off x="8092049" y="5368087"/>
            <a:ext cx="3915916"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침해소송</a:t>
            </a:r>
          </a:p>
        </p:txBody>
      </p:sp>
      <p:sp>
        <p:nvSpPr>
          <p:cNvPr id="37" name="TextBox 36">
            <a:extLst>
              <a:ext uri="{FF2B5EF4-FFF2-40B4-BE49-F238E27FC236}">
                <a16:creationId xmlns:a16="http://schemas.microsoft.com/office/drawing/2014/main" id="{F6BEF9A7-6279-4C2D-B60C-E19E9F52DFC6}"/>
              </a:ext>
            </a:extLst>
          </p:cNvPr>
          <p:cNvSpPr txBox="1"/>
          <p:nvPr/>
        </p:nvSpPr>
        <p:spPr>
          <a:xfrm>
            <a:off x="8092049" y="5732219"/>
            <a:ext cx="3915916"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심결취소소송</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cxnSp>
        <p:nvCxnSpPr>
          <p:cNvPr id="40" name="연결선: 꺾임 39">
            <a:extLst>
              <a:ext uri="{FF2B5EF4-FFF2-40B4-BE49-F238E27FC236}">
                <a16:creationId xmlns:a16="http://schemas.microsoft.com/office/drawing/2014/main" id="{DDCB939A-4B13-444D-A250-D13DC8AE206D}"/>
              </a:ext>
            </a:extLst>
          </p:cNvPr>
          <p:cNvCxnSpPr>
            <a:stCxn id="11" idx="3"/>
            <a:endCxn id="14" idx="1"/>
          </p:cNvCxnSpPr>
          <p:nvPr/>
        </p:nvCxnSpPr>
        <p:spPr>
          <a:xfrm flipV="1">
            <a:off x="2622422" y="1488511"/>
            <a:ext cx="517825" cy="32316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연결선: 꺾임 41">
            <a:extLst>
              <a:ext uri="{FF2B5EF4-FFF2-40B4-BE49-F238E27FC236}">
                <a16:creationId xmlns:a16="http://schemas.microsoft.com/office/drawing/2014/main" id="{00597A5A-6EF7-4EEC-9600-6E626C3C1914}"/>
              </a:ext>
            </a:extLst>
          </p:cNvPr>
          <p:cNvCxnSpPr>
            <a:stCxn id="11" idx="3"/>
            <a:endCxn id="15" idx="1"/>
          </p:cNvCxnSpPr>
          <p:nvPr/>
        </p:nvCxnSpPr>
        <p:spPr>
          <a:xfrm>
            <a:off x="2622422" y="1811676"/>
            <a:ext cx="517825" cy="621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연결선: 꺾임 42">
            <a:extLst>
              <a:ext uri="{FF2B5EF4-FFF2-40B4-BE49-F238E27FC236}">
                <a16:creationId xmlns:a16="http://schemas.microsoft.com/office/drawing/2014/main" id="{8160DB3B-DE60-4986-B979-4D36BB3E83E4}"/>
              </a:ext>
            </a:extLst>
          </p:cNvPr>
          <p:cNvCxnSpPr>
            <a:cxnSpLocks/>
            <a:stCxn id="11" idx="3"/>
            <a:endCxn id="16" idx="1"/>
          </p:cNvCxnSpPr>
          <p:nvPr/>
        </p:nvCxnSpPr>
        <p:spPr>
          <a:xfrm>
            <a:off x="2622422" y="1811676"/>
            <a:ext cx="517825" cy="33558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연결선: 꺾임 46">
            <a:extLst>
              <a:ext uri="{FF2B5EF4-FFF2-40B4-BE49-F238E27FC236}">
                <a16:creationId xmlns:a16="http://schemas.microsoft.com/office/drawing/2014/main" id="{D593535D-8674-47F6-A9EB-23BF813B573A}"/>
              </a:ext>
            </a:extLst>
          </p:cNvPr>
          <p:cNvCxnSpPr>
            <a:cxnSpLocks/>
            <a:stCxn id="16" idx="3"/>
            <a:endCxn id="18" idx="1"/>
          </p:cNvCxnSpPr>
          <p:nvPr/>
        </p:nvCxnSpPr>
        <p:spPr>
          <a:xfrm>
            <a:off x="4606737" y="2147263"/>
            <a:ext cx="517825" cy="16704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연결선: 꺾임 49">
            <a:extLst>
              <a:ext uri="{FF2B5EF4-FFF2-40B4-BE49-F238E27FC236}">
                <a16:creationId xmlns:a16="http://schemas.microsoft.com/office/drawing/2014/main" id="{5FE3E447-A4B0-42FD-88E8-EEBE209C2286}"/>
              </a:ext>
            </a:extLst>
          </p:cNvPr>
          <p:cNvCxnSpPr>
            <a:cxnSpLocks/>
            <a:stCxn id="16" idx="3"/>
            <a:endCxn id="17" idx="1"/>
          </p:cNvCxnSpPr>
          <p:nvPr/>
        </p:nvCxnSpPr>
        <p:spPr>
          <a:xfrm flipV="1">
            <a:off x="4606737" y="1950176"/>
            <a:ext cx="517825" cy="197087"/>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연결선: 꺾임 52">
            <a:extLst>
              <a:ext uri="{FF2B5EF4-FFF2-40B4-BE49-F238E27FC236}">
                <a16:creationId xmlns:a16="http://schemas.microsoft.com/office/drawing/2014/main" id="{DB0DCD71-A484-498C-87BA-480F3203A9D6}"/>
              </a:ext>
            </a:extLst>
          </p:cNvPr>
          <p:cNvCxnSpPr>
            <a:cxnSpLocks/>
            <a:stCxn id="12" idx="3"/>
            <a:endCxn id="20" idx="1"/>
          </p:cNvCxnSpPr>
          <p:nvPr/>
        </p:nvCxnSpPr>
        <p:spPr>
          <a:xfrm>
            <a:off x="2622422" y="3187126"/>
            <a:ext cx="517825" cy="201741"/>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연결선: 꺾임 56">
            <a:extLst>
              <a:ext uri="{FF2B5EF4-FFF2-40B4-BE49-F238E27FC236}">
                <a16:creationId xmlns:a16="http://schemas.microsoft.com/office/drawing/2014/main" id="{E48C3F50-F8B4-48D2-9827-5FFE9464F406}"/>
              </a:ext>
            </a:extLst>
          </p:cNvPr>
          <p:cNvCxnSpPr>
            <a:cxnSpLocks/>
            <a:stCxn id="12" idx="3"/>
            <a:endCxn id="19" idx="1"/>
          </p:cNvCxnSpPr>
          <p:nvPr/>
        </p:nvCxnSpPr>
        <p:spPr>
          <a:xfrm flipV="1">
            <a:off x="2622422" y="3059491"/>
            <a:ext cx="517825" cy="127635"/>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연결선: 꺾임 59">
            <a:extLst>
              <a:ext uri="{FF2B5EF4-FFF2-40B4-BE49-F238E27FC236}">
                <a16:creationId xmlns:a16="http://schemas.microsoft.com/office/drawing/2014/main" id="{162466A5-3CE4-4D2C-AFCD-346532FBDFB2}"/>
              </a:ext>
            </a:extLst>
          </p:cNvPr>
          <p:cNvCxnSpPr>
            <a:cxnSpLocks/>
            <a:stCxn id="13" idx="3"/>
            <a:endCxn id="23" idx="1"/>
          </p:cNvCxnSpPr>
          <p:nvPr/>
        </p:nvCxnSpPr>
        <p:spPr>
          <a:xfrm flipV="1">
            <a:off x="2622422" y="4300818"/>
            <a:ext cx="517825" cy="184666"/>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연결선: 꺾임 60">
            <a:extLst>
              <a:ext uri="{FF2B5EF4-FFF2-40B4-BE49-F238E27FC236}">
                <a16:creationId xmlns:a16="http://schemas.microsoft.com/office/drawing/2014/main" id="{E01DCEDF-E68D-4E24-AB05-7DD5D05921A6}"/>
              </a:ext>
            </a:extLst>
          </p:cNvPr>
          <p:cNvCxnSpPr>
            <a:cxnSpLocks/>
            <a:stCxn id="13" idx="3"/>
            <a:endCxn id="24" idx="1"/>
          </p:cNvCxnSpPr>
          <p:nvPr/>
        </p:nvCxnSpPr>
        <p:spPr>
          <a:xfrm>
            <a:off x="2622422" y="4485484"/>
            <a:ext cx="517825" cy="429378"/>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연결선: 꺾임 66">
            <a:extLst>
              <a:ext uri="{FF2B5EF4-FFF2-40B4-BE49-F238E27FC236}">
                <a16:creationId xmlns:a16="http://schemas.microsoft.com/office/drawing/2014/main" id="{EB1CE4F0-434B-494B-BE21-28663AEDDA40}"/>
              </a:ext>
            </a:extLst>
          </p:cNvPr>
          <p:cNvCxnSpPr>
            <a:cxnSpLocks/>
            <a:stCxn id="13" idx="3"/>
            <a:endCxn id="25" idx="1"/>
          </p:cNvCxnSpPr>
          <p:nvPr/>
        </p:nvCxnSpPr>
        <p:spPr>
          <a:xfrm>
            <a:off x="2622422" y="4485484"/>
            <a:ext cx="517825" cy="1569160"/>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연결선: 꺾임 70">
            <a:extLst>
              <a:ext uri="{FF2B5EF4-FFF2-40B4-BE49-F238E27FC236}">
                <a16:creationId xmlns:a16="http://schemas.microsoft.com/office/drawing/2014/main" id="{D336F581-ED1A-40E3-82C9-15A6AC4BDB46}"/>
              </a:ext>
            </a:extLst>
          </p:cNvPr>
          <p:cNvCxnSpPr>
            <a:stCxn id="23" idx="3"/>
            <a:endCxn id="26" idx="1"/>
          </p:cNvCxnSpPr>
          <p:nvPr/>
        </p:nvCxnSpPr>
        <p:spPr>
          <a:xfrm flipV="1">
            <a:off x="4606737" y="4162318"/>
            <a:ext cx="517825" cy="1385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연결선: 꺾임 72">
            <a:extLst>
              <a:ext uri="{FF2B5EF4-FFF2-40B4-BE49-F238E27FC236}">
                <a16:creationId xmlns:a16="http://schemas.microsoft.com/office/drawing/2014/main" id="{AA732E75-903F-49F8-A1B8-9F0F8E8E5479}"/>
              </a:ext>
            </a:extLst>
          </p:cNvPr>
          <p:cNvCxnSpPr>
            <a:stCxn id="23" idx="3"/>
            <a:endCxn id="27" idx="1"/>
          </p:cNvCxnSpPr>
          <p:nvPr/>
        </p:nvCxnSpPr>
        <p:spPr>
          <a:xfrm>
            <a:off x="4606737" y="4300818"/>
            <a:ext cx="517825" cy="22563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연결선: 꺾임 74">
            <a:extLst>
              <a:ext uri="{FF2B5EF4-FFF2-40B4-BE49-F238E27FC236}">
                <a16:creationId xmlns:a16="http://schemas.microsoft.com/office/drawing/2014/main" id="{8539D245-0789-476D-9C3E-14D80147C46E}"/>
              </a:ext>
            </a:extLst>
          </p:cNvPr>
          <p:cNvCxnSpPr>
            <a:stCxn id="24" idx="3"/>
            <a:endCxn id="28" idx="1"/>
          </p:cNvCxnSpPr>
          <p:nvPr/>
        </p:nvCxnSpPr>
        <p:spPr>
          <a:xfrm>
            <a:off x="4606737" y="4914862"/>
            <a:ext cx="517825"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연결선: 꺾임 76">
            <a:extLst>
              <a:ext uri="{FF2B5EF4-FFF2-40B4-BE49-F238E27FC236}">
                <a16:creationId xmlns:a16="http://schemas.microsoft.com/office/drawing/2014/main" id="{4DE64BCF-AECF-4C48-B3EE-0B1DA0B9EA2D}"/>
              </a:ext>
            </a:extLst>
          </p:cNvPr>
          <p:cNvCxnSpPr>
            <a:stCxn id="24" idx="3"/>
            <a:endCxn id="29" idx="1"/>
          </p:cNvCxnSpPr>
          <p:nvPr/>
        </p:nvCxnSpPr>
        <p:spPr>
          <a:xfrm>
            <a:off x="4606737" y="4914862"/>
            <a:ext cx="517825" cy="36413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연결선: 꺾임 78">
            <a:extLst>
              <a:ext uri="{FF2B5EF4-FFF2-40B4-BE49-F238E27FC236}">
                <a16:creationId xmlns:a16="http://schemas.microsoft.com/office/drawing/2014/main" id="{4D561E87-2719-47D4-B4B1-2E96938D5319}"/>
              </a:ext>
            </a:extLst>
          </p:cNvPr>
          <p:cNvCxnSpPr>
            <a:stCxn id="24" idx="3"/>
            <a:endCxn id="30" idx="1"/>
          </p:cNvCxnSpPr>
          <p:nvPr/>
        </p:nvCxnSpPr>
        <p:spPr>
          <a:xfrm>
            <a:off x="4606737" y="4914862"/>
            <a:ext cx="517825" cy="7302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연결선: 꺾임 80">
            <a:extLst>
              <a:ext uri="{FF2B5EF4-FFF2-40B4-BE49-F238E27FC236}">
                <a16:creationId xmlns:a16="http://schemas.microsoft.com/office/drawing/2014/main" id="{26799282-4548-4D75-A68B-7811EB5E9F40}"/>
              </a:ext>
            </a:extLst>
          </p:cNvPr>
          <p:cNvCxnSpPr>
            <a:stCxn id="25" idx="3"/>
            <a:endCxn id="32" idx="1"/>
          </p:cNvCxnSpPr>
          <p:nvPr/>
        </p:nvCxnSpPr>
        <p:spPr>
          <a:xfrm flipV="1">
            <a:off x="4606737" y="6051430"/>
            <a:ext cx="517825" cy="321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연결선: 꺾임 82">
            <a:extLst>
              <a:ext uri="{FF2B5EF4-FFF2-40B4-BE49-F238E27FC236}">
                <a16:creationId xmlns:a16="http://schemas.microsoft.com/office/drawing/2014/main" id="{A0702361-465D-4615-ACE6-BE79746DC879}"/>
              </a:ext>
            </a:extLst>
          </p:cNvPr>
          <p:cNvCxnSpPr>
            <a:stCxn id="25" idx="3"/>
            <a:endCxn id="33" idx="1"/>
          </p:cNvCxnSpPr>
          <p:nvPr/>
        </p:nvCxnSpPr>
        <p:spPr>
          <a:xfrm>
            <a:off x="4606737" y="6054644"/>
            <a:ext cx="517825" cy="36004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연결선: 꺾임 83">
            <a:extLst>
              <a:ext uri="{FF2B5EF4-FFF2-40B4-BE49-F238E27FC236}">
                <a16:creationId xmlns:a16="http://schemas.microsoft.com/office/drawing/2014/main" id="{4E73D6FC-25FD-402E-82E3-D129CC929168}"/>
              </a:ext>
            </a:extLst>
          </p:cNvPr>
          <p:cNvCxnSpPr>
            <a:cxnSpLocks/>
            <a:stCxn id="28" idx="3"/>
            <a:endCxn id="34" idx="1"/>
          </p:cNvCxnSpPr>
          <p:nvPr/>
        </p:nvCxnSpPr>
        <p:spPr>
          <a:xfrm flipV="1">
            <a:off x="7798274" y="4716705"/>
            <a:ext cx="293774" cy="19815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연결선: 꺾임 86">
            <a:extLst>
              <a:ext uri="{FF2B5EF4-FFF2-40B4-BE49-F238E27FC236}">
                <a16:creationId xmlns:a16="http://schemas.microsoft.com/office/drawing/2014/main" id="{54A8AF95-D9F4-4E81-8D94-78472580CCB3}"/>
              </a:ext>
            </a:extLst>
          </p:cNvPr>
          <p:cNvCxnSpPr>
            <a:cxnSpLocks/>
            <a:stCxn id="28" idx="3"/>
            <a:endCxn id="35" idx="1"/>
          </p:cNvCxnSpPr>
          <p:nvPr/>
        </p:nvCxnSpPr>
        <p:spPr>
          <a:xfrm>
            <a:off x="7798274" y="4914862"/>
            <a:ext cx="293774" cy="16597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연결선: 꺾임 89">
            <a:extLst>
              <a:ext uri="{FF2B5EF4-FFF2-40B4-BE49-F238E27FC236}">
                <a16:creationId xmlns:a16="http://schemas.microsoft.com/office/drawing/2014/main" id="{D7BA42F9-E030-4216-9BBE-BAAFD9D0073E}"/>
              </a:ext>
            </a:extLst>
          </p:cNvPr>
          <p:cNvCxnSpPr>
            <a:cxnSpLocks/>
            <a:stCxn id="30" idx="3"/>
            <a:endCxn id="36" idx="1"/>
          </p:cNvCxnSpPr>
          <p:nvPr/>
        </p:nvCxnSpPr>
        <p:spPr>
          <a:xfrm flipV="1">
            <a:off x="7798274" y="5506587"/>
            <a:ext cx="293775" cy="1385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연결선: 꺾임 92">
            <a:extLst>
              <a:ext uri="{FF2B5EF4-FFF2-40B4-BE49-F238E27FC236}">
                <a16:creationId xmlns:a16="http://schemas.microsoft.com/office/drawing/2014/main" id="{6091854D-9DF9-4BD4-AC21-E7CAA1B5B65E}"/>
              </a:ext>
            </a:extLst>
          </p:cNvPr>
          <p:cNvCxnSpPr>
            <a:cxnSpLocks/>
            <a:stCxn id="30" idx="3"/>
            <a:endCxn id="37" idx="1"/>
          </p:cNvCxnSpPr>
          <p:nvPr/>
        </p:nvCxnSpPr>
        <p:spPr>
          <a:xfrm>
            <a:off x="7798274" y="5645087"/>
            <a:ext cx="293775" cy="22563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F0B8D483-ACC3-427E-B25B-660E6F343882}"/>
              </a:ext>
            </a:extLst>
          </p:cNvPr>
          <p:cNvSpPr txBox="1"/>
          <p:nvPr/>
        </p:nvSpPr>
        <p:spPr>
          <a:xfrm>
            <a:off x="344930" y="2365094"/>
            <a:ext cx="750377" cy="646331"/>
          </a:xfrm>
          <a:prstGeom prst="rect">
            <a:avLst/>
          </a:prstGeom>
          <a:solidFill>
            <a:schemeClr val="accent1">
              <a:lumMod val="5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공동</a:t>
            </a:r>
            <a:endParaRPr kumimoji="0" lang="en-US" altLang="ko-KR" sz="18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발명</a:t>
            </a:r>
          </a:p>
        </p:txBody>
      </p:sp>
      <p:cxnSp>
        <p:nvCxnSpPr>
          <p:cNvPr id="109" name="연결선: 꺾임 108">
            <a:extLst>
              <a:ext uri="{FF2B5EF4-FFF2-40B4-BE49-F238E27FC236}">
                <a16:creationId xmlns:a16="http://schemas.microsoft.com/office/drawing/2014/main" id="{70B2C7D3-1927-4A92-9684-AB9954EBDDBB}"/>
              </a:ext>
            </a:extLst>
          </p:cNvPr>
          <p:cNvCxnSpPr>
            <a:stCxn id="107" idx="3"/>
            <a:endCxn id="7" idx="1"/>
          </p:cNvCxnSpPr>
          <p:nvPr/>
        </p:nvCxnSpPr>
        <p:spPr>
          <a:xfrm flipV="1">
            <a:off x="1095307" y="1259586"/>
            <a:ext cx="517825" cy="142867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연결선: 꺾임 110">
            <a:extLst>
              <a:ext uri="{FF2B5EF4-FFF2-40B4-BE49-F238E27FC236}">
                <a16:creationId xmlns:a16="http://schemas.microsoft.com/office/drawing/2014/main" id="{6FE9BA1F-396E-461F-A965-F6101EC2C857}"/>
              </a:ext>
            </a:extLst>
          </p:cNvPr>
          <p:cNvCxnSpPr>
            <a:stCxn id="107" idx="3"/>
            <a:endCxn id="11" idx="1"/>
          </p:cNvCxnSpPr>
          <p:nvPr/>
        </p:nvCxnSpPr>
        <p:spPr>
          <a:xfrm flipV="1">
            <a:off x="1095307" y="1811676"/>
            <a:ext cx="517825" cy="87658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연결선: 꺾임 112">
            <a:extLst>
              <a:ext uri="{FF2B5EF4-FFF2-40B4-BE49-F238E27FC236}">
                <a16:creationId xmlns:a16="http://schemas.microsoft.com/office/drawing/2014/main" id="{02A69A62-3276-4EE9-ADAC-E33FDA3AC83D}"/>
              </a:ext>
            </a:extLst>
          </p:cNvPr>
          <p:cNvCxnSpPr>
            <a:stCxn id="107" idx="3"/>
            <a:endCxn id="12" idx="1"/>
          </p:cNvCxnSpPr>
          <p:nvPr/>
        </p:nvCxnSpPr>
        <p:spPr>
          <a:xfrm>
            <a:off x="1095307" y="2688260"/>
            <a:ext cx="517825" cy="49886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연결선: 꺾임 114">
            <a:extLst>
              <a:ext uri="{FF2B5EF4-FFF2-40B4-BE49-F238E27FC236}">
                <a16:creationId xmlns:a16="http://schemas.microsoft.com/office/drawing/2014/main" id="{9001C80B-5312-403A-9FA9-610880EEAE74}"/>
              </a:ext>
            </a:extLst>
          </p:cNvPr>
          <p:cNvCxnSpPr>
            <a:stCxn id="107" idx="3"/>
            <a:endCxn id="13" idx="1"/>
          </p:cNvCxnSpPr>
          <p:nvPr/>
        </p:nvCxnSpPr>
        <p:spPr>
          <a:xfrm>
            <a:off x="1095307" y="2688260"/>
            <a:ext cx="517825" cy="179722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92539C69-595E-6D6D-C6AD-4B599B03920F}"/>
              </a:ext>
            </a:extLst>
          </p:cNvPr>
          <p:cNvSpPr txBox="1"/>
          <p:nvPr/>
        </p:nvSpPr>
        <p:spPr>
          <a:xfrm>
            <a:off x="5124562" y="2568796"/>
            <a:ext cx="1466490"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white">
                    <a:lumMod val="50000"/>
                  </a:prstClr>
                </a:solidFill>
                <a:effectLst/>
                <a:uLnTx/>
                <a:uFillTx/>
                <a:latin typeface="Frutiger LT 65 Bold"/>
                <a:ea typeface="Rix모던고딕 B"/>
                <a:cs typeface="+mn-cs"/>
              </a:rPr>
              <a:t>일반</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8" name="TextBox 7">
            <a:extLst>
              <a:ext uri="{FF2B5EF4-FFF2-40B4-BE49-F238E27FC236}">
                <a16:creationId xmlns:a16="http://schemas.microsoft.com/office/drawing/2014/main" id="{5D3C3076-B8CE-3BB3-356D-BBDC3545A708}"/>
              </a:ext>
            </a:extLst>
          </p:cNvPr>
          <p:cNvSpPr txBox="1"/>
          <p:nvPr/>
        </p:nvSpPr>
        <p:spPr>
          <a:xfrm>
            <a:off x="5124562" y="2919226"/>
            <a:ext cx="1466490"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화학발명</a:t>
            </a:r>
          </a:p>
        </p:txBody>
      </p:sp>
      <p:sp>
        <p:nvSpPr>
          <p:cNvPr id="9" name="TextBox 8">
            <a:extLst>
              <a:ext uri="{FF2B5EF4-FFF2-40B4-BE49-F238E27FC236}">
                <a16:creationId xmlns:a16="http://schemas.microsoft.com/office/drawing/2014/main" id="{220D3BEE-5B1A-8165-C133-517F95A213BA}"/>
              </a:ext>
            </a:extLst>
          </p:cNvPr>
          <p:cNvSpPr txBox="1"/>
          <p:nvPr/>
        </p:nvSpPr>
        <p:spPr>
          <a:xfrm>
            <a:off x="5124562" y="3259959"/>
            <a:ext cx="1466490"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white">
                    <a:lumMod val="50000"/>
                  </a:prstClr>
                </a:solidFill>
                <a:effectLst/>
                <a:uLnTx/>
                <a:uFillTx/>
                <a:latin typeface="Frutiger LT 65 Bold"/>
                <a:ea typeface="Rix모던고딕 B"/>
                <a:cs typeface="+mn-cs"/>
              </a:rPr>
              <a:t>일반</a:t>
            </a:r>
            <a:endPar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p:txBody>
      </p:sp>
      <p:sp>
        <p:nvSpPr>
          <p:cNvPr id="10" name="TextBox 9">
            <a:extLst>
              <a:ext uri="{FF2B5EF4-FFF2-40B4-BE49-F238E27FC236}">
                <a16:creationId xmlns:a16="http://schemas.microsoft.com/office/drawing/2014/main" id="{A599950A-BEAD-4CE9-B9D8-5C23AC4909AD}"/>
              </a:ext>
            </a:extLst>
          </p:cNvPr>
          <p:cNvSpPr txBox="1"/>
          <p:nvPr/>
        </p:nvSpPr>
        <p:spPr>
          <a:xfrm>
            <a:off x="5124562" y="3628319"/>
            <a:ext cx="1466490" cy="276999"/>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무권리자</a:t>
            </a:r>
          </a:p>
        </p:txBody>
      </p:sp>
      <p:cxnSp>
        <p:nvCxnSpPr>
          <p:cNvPr id="21" name="연결선: 꺾임 20">
            <a:extLst>
              <a:ext uri="{FF2B5EF4-FFF2-40B4-BE49-F238E27FC236}">
                <a16:creationId xmlns:a16="http://schemas.microsoft.com/office/drawing/2014/main" id="{07766E73-9FBE-F08E-EA95-EBD43D26577F}"/>
              </a:ext>
            </a:extLst>
          </p:cNvPr>
          <p:cNvCxnSpPr>
            <a:cxnSpLocks/>
            <a:stCxn id="19" idx="3"/>
            <a:endCxn id="6" idx="1"/>
          </p:cNvCxnSpPr>
          <p:nvPr/>
        </p:nvCxnSpPr>
        <p:spPr>
          <a:xfrm flipV="1">
            <a:off x="4606737" y="2707296"/>
            <a:ext cx="517825" cy="35219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연결선: 꺾임 37">
            <a:extLst>
              <a:ext uri="{FF2B5EF4-FFF2-40B4-BE49-F238E27FC236}">
                <a16:creationId xmlns:a16="http://schemas.microsoft.com/office/drawing/2014/main" id="{61DCCCB2-01C3-1230-360C-5BBE6DCA1A4B}"/>
              </a:ext>
            </a:extLst>
          </p:cNvPr>
          <p:cNvCxnSpPr>
            <a:cxnSpLocks/>
            <a:stCxn id="19" idx="3"/>
            <a:endCxn id="8" idx="1"/>
          </p:cNvCxnSpPr>
          <p:nvPr/>
        </p:nvCxnSpPr>
        <p:spPr>
          <a:xfrm flipV="1">
            <a:off x="4606737" y="3057726"/>
            <a:ext cx="517825" cy="1765"/>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연결선: 꺾임 43">
            <a:extLst>
              <a:ext uri="{FF2B5EF4-FFF2-40B4-BE49-F238E27FC236}">
                <a16:creationId xmlns:a16="http://schemas.microsoft.com/office/drawing/2014/main" id="{6582D29D-4121-17FD-27CF-F92127372CC1}"/>
              </a:ext>
            </a:extLst>
          </p:cNvPr>
          <p:cNvCxnSpPr>
            <a:cxnSpLocks/>
            <a:stCxn id="20" idx="3"/>
            <a:endCxn id="9" idx="1"/>
          </p:cNvCxnSpPr>
          <p:nvPr/>
        </p:nvCxnSpPr>
        <p:spPr>
          <a:xfrm>
            <a:off x="4606737" y="3388867"/>
            <a:ext cx="517825" cy="959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연결선: 꺾임 44">
            <a:extLst>
              <a:ext uri="{FF2B5EF4-FFF2-40B4-BE49-F238E27FC236}">
                <a16:creationId xmlns:a16="http://schemas.microsoft.com/office/drawing/2014/main" id="{D436DDDA-11C9-745E-5CB4-9FD10B5B56B7}"/>
              </a:ext>
            </a:extLst>
          </p:cNvPr>
          <p:cNvCxnSpPr>
            <a:cxnSpLocks/>
            <a:stCxn id="20" idx="3"/>
          </p:cNvCxnSpPr>
          <p:nvPr/>
        </p:nvCxnSpPr>
        <p:spPr>
          <a:xfrm>
            <a:off x="4606737" y="3388867"/>
            <a:ext cx="517825" cy="530145"/>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연결선: 꺾임 51">
            <a:extLst>
              <a:ext uri="{FF2B5EF4-FFF2-40B4-BE49-F238E27FC236}">
                <a16:creationId xmlns:a16="http://schemas.microsoft.com/office/drawing/2014/main" id="{4B5DF429-5C37-0E56-441E-DE7ECC3303F7}"/>
              </a:ext>
            </a:extLst>
          </p:cNvPr>
          <p:cNvCxnSpPr>
            <a:cxnSpLocks/>
            <a:stCxn id="20" idx="3"/>
            <a:endCxn id="10" idx="1"/>
          </p:cNvCxnSpPr>
          <p:nvPr/>
        </p:nvCxnSpPr>
        <p:spPr>
          <a:xfrm>
            <a:off x="4606737" y="3388867"/>
            <a:ext cx="517825" cy="377952"/>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5116796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Line 5">
            <a:extLst>
              <a:ext uri="{FF2B5EF4-FFF2-40B4-BE49-F238E27FC236}">
                <a16:creationId xmlns:a16="http://schemas.microsoft.com/office/drawing/2014/main" id="{89A7BBA8-4E00-44C3-A470-536BA2A58222}"/>
              </a:ext>
            </a:extLst>
          </p:cNvPr>
          <p:cNvSpPr>
            <a:spLocks noChangeShapeType="1"/>
          </p:cNvSpPr>
          <p:nvPr/>
        </p:nvSpPr>
        <p:spPr bwMode="auto">
          <a:xfrm>
            <a:off x="607658" y="6179976"/>
            <a:ext cx="11479567" cy="0"/>
          </a:xfrm>
          <a:prstGeom prst="line">
            <a:avLst/>
          </a:prstGeom>
          <a:noFill/>
          <a:ln w="57150">
            <a:solidFill>
              <a:schemeClr val="bg1">
                <a:lumMod val="50000"/>
              </a:schemeClr>
            </a:solidFill>
            <a:round/>
            <a:headEnd/>
            <a:tailEnd type="stealth" w="med" len="med"/>
          </a:ln>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05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2" name="제목 1"/>
          <p:cNvSpPr>
            <a:spLocks noGrp="1"/>
          </p:cNvSpPr>
          <p:nvPr>
            <p:ph type="title"/>
          </p:nvPr>
        </p:nvSpPr>
        <p:spPr/>
        <p:txBody>
          <a:bodyPr/>
          <a:lstStyle/>
          <a:p>
            <a:r>
              <a:rPr lang="ko-KR" altLang="en-US" dirty="0"/>
              <a:t>제</a:t>
            </a:r>
            <a:r>
              <a:rPr lang="en-US" altLang="ko-KR" dirty="0"/>
              <a:t>33</a:t>
            </a:r>
            <a:r>
              <a:rPr lang="ko-KR" altLang="en-US" dirty="0"/>
              <a:t>조 제</a:t>
            </a:r>
            <a:r>
              <a:rPr lang="en-US" altLang="ko-KR" dirty="0"/>
              <a:t>1</a:t>
            </a:r>
            <a:r>
              <a:rPr lang="ko-KR" altLang="en-US" dirty="0"/>
              <a:t>항</a:t>
            </a:r>
          </a:p>
        </p:txBody>
      </p:sp>
      <p:sp>
        <p:nvSpPr>
          <p:cNvPr id="3" name="텍스트 개체 틀 2"/>
          <p:cNvSpPr>
            <a:spLocks noGrp="1"/>
          </p:cNvSpPr>
          <p:nvPr>
            <p:ph type="body" sz="quarter" idx="13"/>
          </p:nvPr>
        </p:nvSpPr>
        <p:spPr/>
        <p:txBody>
          <a:bodyPr/>
          <a:lstStyle/>
          <a:p>
            <a:r>
              <a:rPr lang="ko-KR" altLang="en-US" dirty="0"/>
              <a:t>인공지능이 발명자가 될 수 있는가</a:t>
            </a:r>
            <a:r>
              <a:rPr lang="en-US" altLang="ko-KR" dirty="0"/>
              <a:t>?</a:t>
            </a:r>
            <a:endParaRPr lang="ko-KR" altLang="en-US" dirty="0"/>
          </a:p>
        </p:txBody>
      </p:sp>
      <p:sp>
        <p:nvSpPr>
          <p:cNvPr id="38" name="슬라이드 번호 개체 틀 1">
            <a:extLst>
              <a:ext uri="{FF2B5EF4-FFF2-40B4-BE49-F238E27FC236}">
                <a16:creationId xmlns:a16="http://schemas.microsoft.com/office/drawing/2014/main" id="{0F75A23A-7A3E-48BF-8C01-2171501A1370}"/>
              </a:ext>
            </a:extLst>
          </p:cNvPr>
          <p:cNvSpPr>
            <a:spLocks noGrp="1"/>
          </p:cNvSpPr>
          <p:nvPr>
            <p:ph type="sldNum" sz="quarter" idx="4294967295"/>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fld id="{3875FC6C-1516-4DC4-8C58-3090F7D4F003}" type="slidenum">
              <a:rPr kumimoji="0" lang="ko-KR" altLang="en-US" sz="3600" b="1" i="0" u="none" strike="noStrike" kern="1200" cap="none" spc="0" normalizeH="0" baseline="0" noProof="0" smtClean="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pPr marL="0" marR="0" lvl="0" indent="0" algn="ctr" defTabSz="914400" rtl="0" eaLnBrk="1" fontAlgn="auto" latinLnBrk="1" hangingPunct="1">
                <a:lnSpc>
                  <a:spcPct val="100000"/>
                </a:lnSpc>
                <a:spcBef>
                  <a:spcPts val="0"/>
                </a:spcBef>
                <a:spcAft>
                  <a:spcPts val="0"/>
                </a:spcAft>
                <a:buClrTx/>
                <a:buSzTx/>
                <a:buFontTx/>
                <a:buNone/>
                <a:tabLst/>
                <a:defRPr/>
              </a:pPr>
              <a:t>107</a:t>
            </a:fld>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cxnSp>
        <p:nvCxnSpPr>
          <p:cNvPr id="23" name="직선 연결선 22">
            <a:extLst>
              <a:ext uri="{FF2B5EF4-FFF2-40B4-BE49-F238E27FC236}">
                <a16:creationId xmlns:a16="http://schemas.microsoft.com/office/drawing/2014/main" id="{BC744699-A9D8-41E8-AC09-E31EE1EB6442}"/>
              </a:ext>
            </a:extLst>
          </p:cNvPr>
          <p:cNvCxnSpPr/>
          <p:nvPr/>
        </p:nvCxnSpPr>
        <p:spPr>
          <a:xfrm>
            <a:off x="0" y="5997062"/>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직사각형 54">
            <a:extLst>
              <a:ext uri="{FF2B5EF4-FFF2-40B4-BE49-F238E27FC236}">
                <a16:creationId xmlns:a16="http://schemas.microsoft.com/office/drawing/2014/main" id="{88F9BA11-776F-458B-AEBF-785908167EF1}"/>
              </a:ext>
            </a:extLst>
          </p:cNvPr>
          <p:cNvSpPr/>
          <p:nvPr/>
        </p:nvSpPr>
        <p:spPr>
          <a:xfrm>
            <a:off x="104775" y="1259522"/>
            <a:ext cx="11989587" cy="4912114"/>
          </a:xfrm>
          <a:prstGeom prst="rect">
            <a:avLst/>
          </a:prstGeom>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 원고가 이 법원에서 주장하는 사유는 제</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심에서의 주장과 크게 다르지 않고</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심 및 이 법원에 제출된 증거와 이 법원에서의 변론 내용을 종합하여 보더라도 제</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심의 판단은 정당한 것으로 인정된다</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이에 이 법원이 기재할 이유는 원고가 이 법원에서 강조하거나 새롭게 한 주장에 대하여 제</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항에서 추가로 판단하는 것 외에는 제</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심판결의 이유와 같으므로 행정소송법 제</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8</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민사소송법 제</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420</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조 본문에 따라 이를 인용한다</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 추가판단</a:t>
            </a:r>
            <a:endPar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가</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원고는</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특허법상 발명자는 자연인으로 한정된다는 해석은 근거가 없고</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특허법 입법 당시 인공지능 발명자에 대한 고려가 없었을 것이라는 점에 비추어 입법적 공백은 규정의 합리적인 해석을 통하여 해결해야 한다고 주장한다</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특허법 제</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조 및 제</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42</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조의 해석에 비추어 </a:t>
            </a:r>
            <a:r>
              <a:rPr kumimoji="0" lang="ko-KR" altLang="en-US"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특허법상 발명자가 자연인을 의미하는 것이 분명</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함은 제</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심판결에서 본 바와 같다</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인공지능의 출현 및 발전 정도</a:t>
            </a:r>
            <a:r>
              <a:rPr kumimoji="0" lang="en-US" altLang="ko-KR"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현재까지의 기술 수준</a:t>
            </a:r>
            <a:r>
              <a:rPr kumimoji="0" lang="en-US" altLang="ko-KR"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인공지능에 대한 사회의 인식 등에 비추어 현재의 특허법 규정만으로 인공지능을 발명자에 포함시키는 것은 정당한 법률해석의 한계를 벗어난다</a:t>
            </a:r>
            <a:r>
              <a:rPr kumimoji="0" lang="en-US" altLang="ko-KR"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향후 인공지능의 발명으로 보호받아야 할 대상이 존재한다면 이는 사회적 논의를 거쳐 입법을 통해 보완해 나가야 할 것이다</a:t>
            </a:r>
            <a:r>
              <a:rPr kumimoji="0" lang="en-US" altLang="ko-KR"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나</a:t>
            </a:r>
            <a:r>
              <a:rPr kumimoji="0" lang="en-US" altLang="ko-KR" sz="108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uLnTx/>
                <a:uFillTx/>
                <a:latin typeface="Frutiger LT 65 Bold"/>
                <a:ea typeface="Rix모던고딕 B"/>
                <a:cs typeface="+mn-cs"/>
              </a:rPr>
              <a:t>원고는 인공지능이 권리능력을 갖지 못하더라도 특허법상 발명자로 인정될 수 있다고 하면서 인공지능이 생성한 결과물에 대한 권리 및 의무는 인공지능의 소유자 또는 관리운영자에게 귀속시키는 것이 가능하다고 주장한다</a:t>
            </a:r>
            <a:r>
              <a:rPr kumimoji="0" lang="en-US" altLang="ko-KR" sz="108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특허법 제</a:t>
            </a:r>
            <a:r>
              <a:rPr kumimoji="0" lang="en-US" altLang="ko-KR"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33</a:t>
            </a:r>
            <a:r>
              <a:rPr kumimoji="0" lang="ko-KR" altLang="en-US"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조 제</a:t>
            </a:r>
            <a:r>
              <a:rPr kumimoji="0" lang="en-US" altLang="ko-KR"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1</a:t>
            </a:r>
            <a:r>
              <a:rPr kumimoji="0" lang="ko-KR" altLang="en-US"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항에서 발명을 한 사람 또는 그 승계인은 이 법에서 정하는 바에 따라 특허를 받을 수 있는 권리를 가진다</a:t>
            </a:r>
            <a:r>
              <a:rPr kumimoji="0" lang="en-US" altLang="ko-KR"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ko-KR" altLang="en-US"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고 규정하여 발명자주의를 채택하고 있어 원고의 주장은 그 자체로 특허법에 맞지 않을 뿐 아니라</a:t>
            </a:r>
            <a:r>
              <a:rPr kumimoji="0" lang="en-US" altLang="ko-KR"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관련 권리와 의무는 인공지능의 소유자 등에게 귀속시키는 것 또한 아무런 근거가 없고 현행 특허법의 </a:t>
            </a:r>
            <a:r>
              <a:rPr kumimoji="0" lang="ko-KR" altLang="en-US" sz="108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체계와도</a:t>
            </a:r>
            <a:r>
              <a:rPr kumimoji="0" lang="ko-KR" altLang="en-US"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전혀 부합하지 않는다</a:t>
            </a:r>
            <a:r>
              <a:rPr kumimoji="0" lang="en-US" altLang="ko-KR"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endParaRPr kumimoji="0" lang="ko-KR" altLang="en-US" sz="108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endParaRPr>
          </a:p>
        </p:txBody>
      </p:sp>
      <p:sp>
        <p:nvSpPr>
          <p:cNvPr id="27" name="타원 26">
            <a:extLst>
              <a:ext uri="{FF2B5EF4-FFF2-40B4-BE49-F238E27FC236}">
                <a16:creationId xmlns:a16="http://schemas.microsoft.com/office/drawing/2014/main" id="{845B491D-8404-4504-83DB-F8CBD9B10B19}"/>
              </a:ext>
            </a:extLst>
          </p:cNvPr>
          <p:cNvSpPr/>
          <p:nvPr/>
        </p:nvSpPr>
        <p:spPr>
          <a:xfrm>
            <a:off x="1681348" y="6093127"/>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05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79" name="TextBox 78">
            <a:extLst>
              <a:ext uri="{FF2B5EF4-FFF2-40B4-BE49-F238E27FC236}">
                <a16:creationId xmlns:a16="http://schemas.microsoft.com/office/drawing/2014/main" id="{FCC7409E-9708-455F-937F-1A02408E7A56}"/>
              </a:ext>
            </a:extLst>
          </p:cNvPr>
          <p:cNvSpPr txBox="1"/>
          <p:nvPr/>
        </p:nvSpPr>
        <p:spPr>
          <a:xfrm>
            <a:off x="54910" y="6397211"/>
            <a:ext cx="3219578" cy="415498"/>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PCT </a:t>
            </a: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출원</a:t>
            </a:r>
            <a:endPar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발명자</a:t>
            </a: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 AI(DABUS)/(</a:t>
            </a: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출원인</a:t>
            </a: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 AI </a:t>
            </a: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개발자</a:t>
            </a: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스티븐 테일러</a:t>
            </a: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a:t>
            </a:r>
            <a:endPar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24" name="연결선: 꺾임 23">
            <a:extLst>
              <a:ext uri="{FF2B5EF4-FFF2-40B4-BE49-F238E27FC236}">
                <a16:creationId xmlns:a16="http://schemas.microsoft.com/office/drawing/2014/main" id="{619D9534-0796-45A3-A189-E5997798044F}"/>
              </a:ext>
            </a:extLst>
          </p:cNvPr>
          <p:cNvCxnSpPr>
            <a:cxnSpLocks/>
            <a:stCxn id="79" idx="0"/>
            <a:endCxn id="27" idx="4"/>
          </p:cNvCxnSpPr>
          <p:nvPr/>
        </p:nvCxnSpPr>
        <p:spPr>
          <a:xfrm rot="5400000" flipH="1" flipV="1">
            <a:off x="1629852" y="6275142"/>
            <a:ext cx="156916" cy="87223"/>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1" name="사각형: 둥근 모서리 110">
            <a:extLst>
              <a:ext uri="{FF2B5EF4-FFF2-40B4-BE49-F238E27FC236}">
                <a16:creationId xmlns:a16="http://schemas.microsoft.com/office/drawing/2014/main" id="{554490DD-F0E6-414B-856D-491321691AA4}"/>
              </a:ext>
            </a:extLst>
          </p:cNvPr>
          <p:cNvSpPr/>
          <p:nvPr/>
        </p:nvSpPr>
        <p:spPr>
          <a:xfrm>
            <a:off x="113937" y="964867"/>
            <a:ext cx="6153883" cy="302955"/>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서울고등법원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2024. 5. 16.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2023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52088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특허출원무효처분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취소 청구의 소</a:t>
            </a:r>
          </a:p>
        </p:txBody>
      </p:sp>
      <p:sp>
        <p:nvSpPr>
          <p:cNvPr id="5" name="직사각형 4">
            <a:extLst>
              <a:ext uri="{FF2B5EF4-FFF2-40B4-BE49-F238E27FC236}">
                <a16:creationId xmlns:a16="http://schemas.microsoft.com/office/drawing/2014/main" id="{D3D8B745-0E7B-464D-643B-E291D4C2AF55}"/>
              </a:ext>
            </a:extLst>
          </p:cNvPr>
          <p:cNvSpPr/>
          <p:nvPr/>
        </p:nvSpPr>
        <p:spPr>
          <a:xfrm>
            <a:off x="97637" y="1797421"/>
            <a:ext cx="11989588" cy="2812677"/>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5B9BD5">
                    <a:lumMod val="50000"/>
                  </a:srgbClr>
                </a:solidFill>
                <a:effectLst/>
                <a:uLnTx/>
                <a:uFillTx/>
                <a:latin typeface="Frutiger LT 65 Bold"/>
                <a:ea typeface="Rix모던고딕 B"/>
                <a:cs typeface="+mn-cs"/>
              </a:rPr>
              <a:t>[</a:t>
            </a:r>
            <a:r>
              <a:rPr kumimoji="0" lang="ko-KR" altLang="en-US" sz="1200" b="1" i="0" u="none" strike="noStrike" kern="1200" cap="none" spc="0" normalizeH="0" baseline="0" noProof="0" dirty="0">
                <a:ln>
                  <a:noFill/>
                </a:ln>
                <a:solidFill>
                  <a:srgbClr val="5B9BD5">
                    <a:lumMod val="50000"/>
                  </a:srgbClr>
                </a:solidFill>
                <a:effectLst/>
                <a:uLnTx/>
                <a:uFillTx/>
                <a:latin typeface="Frutiger LT 65 Bold"/>
                <a:ea typeface="Rix모던고딕 B"/>
                <a:cs typeface="+mn-cs"/>
              </a:rPr>
              <a:t>원심판결</a:t>
            </a:r>
            <a:r>
              <a:rPr kumimoji="0" lang="en-US" altLang="ko-KR" sz="1200" b="1" i="0" u="none" strike="noStrike" kern="1200" cap="none" spc="0" normalizeH="0" baseline="0" noProof="0" dirty="0">
                <a:ln>
                  <a:noFill/>
                </a:ln>
                <a:solidFill>
                  <a:srgbClr val="5B9BD5">
                    <a:lumMod val="50000"/>
                  </a:srgbClr>
                </a:solidFill>
                <a:effectLst/>
                <a:uLnTx/>
                <a:uFillTx/>
                <a:latin typeface="Frutiger LT 65 Bold"/>
                <a:ea typeface="Rix모던고딕 B"/>
                <a:cs typeface="+mn-cs"/>
              </a:rPr>
              <a:t>: </a:t>
            </a:r>
            <a:r>
              <a:rPr kumimoji="0" lang="ko-KR" altLang="en-US" sz="1200" b="1" i="0" u="none" strike="noStrike" kern="1200" cap="none" spc="0" normalizeH="0" baseline="0" noProof="0" dirty="0">
                <a:ln>
                  <a:noFill/>
                </a:ln>
                <a:solidFill>
                  <a:srgbClr val="5B9BD5">
                    <a:lumMod val="50000"/>
                  </a:srgbClr>
                </a:solidFill>
                <a:effectLst/>
                <a:uLnTx/>
                <a:uFillTx/>
                <a:latin typeface="Frutiger LT 65 Bold"/>
                <a:ea typeface="Rix모던고딕 B"/>
                <a:cs typeface="+mn-cs"/>
              </a:rPr>
              <a:t>서울행정법원 </a:t>
            </a:r>
            <a:r>
              <a:rPr kumimoji="0" lang="en-US" altLang="ko-KR" sz="1200" b="1" i="0" u="none" strike="noStrike" kern="1200" cap="none" spc="0" normalizeH="0" baseline="0" noProof="0" dirty="0">
                <a:ln>
                  <a:noFill/>
                </a:ln>
                <a:solidFill>
                  <a:srgbClr val="5B9BD5">
                    <a:lumMod val="50000"/>
                  </a:srgbClr>
                </a:solidFill>
                <a:effectLst/>
                <a:uLnTx/>
                <a:uFillTx/>
                <a:latin typeface="Frutiger LT 65 Bold"/>
                <a:ea typeface="Rix모던고딕 B"/>
                <a:cs typeface="+mn-cs"/>
              </a:rPr>
              <a:t>2023. 6. 30. </a:t>
            </a:r>
            <a:r>
              <a:rPr kumimoji="0" lang="ko-KR" altLang="en-US" sz="1200" b="1" i="0" u="none" strike="noStrike" kern="1200" cap="none" spc="0" normalizeH="0" baseline="0" noProof="0" dirty="0">
                <a:ln>
                  <a:noFill/>
                </a:ln>
                <a:solidFill>
                  <a:srgbClr val="5B9BD5">
                    <a:lumMod val="50000"/>
                  </a:srgbClr>
                </a:solidFill>
                <a:effectLst/>
                <a:uLnTx/>
                <a:uFillTx/>
                <a:latin typeface="Frutiger LT 65 Bold"/>
                <a:ea typeface="Rix모던고딕 B"/>
                <a:cs typeface="+mn-cs"/>
              </a:rPr>
              <a:t>선고 </a:t>
            </a:r>
            <a:r>
              <a:rPr kumimoji="0" lang="en-US" altLang="ko-KR" sz="1200" b="1" i="0" u="none" strike="noStrike" kern="1200" cap="none" spc="0" normalizeH="0" baseline="0" noProof="0" dirty="0">
                <a:ln>
                  <a:noFill/>
                </a:ln>
                <a:solidFill>
                  <a:srgbClr val="5B9BD5">
                    <a:lumMod val="50000"/>
                  </a:srgbClr>
                </a:solidFill>
                <a:effectLst/>
                <a:uLnTx/>
                <a:uFillTx/>
                <a:latin typeface="Frutiger LT 65 Bold"/>
                <a:ea typeface="Rix모던고딕 B"/>
                <a:cs typeface="+mn-cs"/>
              </a:rPr>
              <a:t>2022</a:t>
            </a:r>
            <a:r>
              <a:rPr kumimoji="0" lang="ko-KR" altLang="en-US" sz="1200" b="1" i="0" u="none" strike="noStrike" kern="1200" cap="none" spc="0" normalizeH="0" baseline="0" noProof="0" dirty="0" err="1">
                <a:ln>
                  <a:noFill/>
                </a:ln>
                <a:solidFill>
                  <a:srgbClr val="5B9BD5">
                    <a:lumMod val="50000"/>
                  </a:srgbClr>
                </a:solidFill>
                <a:effectLst/>
                <a:uLnTx/>
                <a:uFillTx/>
                <a:latin typeface="Frutiger LT 65 Bold"/>
                <a:ea typeface="Rix모던고딕 B"/>
                <a:cs typeface="+mn-cs"/>
              </a:rPr>
              <a:t>구합</a:t>
            </a:r>
            <a:r>
              <a:rPr kumimoji="0" lang="en-US" altLang="ko-KR" sz="1200" b="1" i="0" u="none" strike="noStrike" kern="1200" cap="none" spc="0" normalizeH="0" baseline="0" noProof="0" dirty="0">
                <a:ln>
                  <a:noFill/>
                </a:ln>
                <a:solidFill>
                  <a:srgbClr val="5B9BD5">
                    <a:lumMod val="50000"/>
                  </a:srgbClr>
                </a:solidFill>
                <a:effectLst/>
                <a:uLnTx/>
                <a:uFillTx/>
                <a:latin typeface="Frutiger LT 65 Bold"/>
                <a:ea typeface="Rix모던고딕 B"/>
                <a:cs typeface="+mn-cs"/>
              </a:rPr>
              <a:t>89524 </a:t>
            </a:r>
            <a:r>
              <a:rPr kumimoji="0" lang="ko-KR" altLang="en-US" sz="1200" b="1" i="0" u="none" strike="noStrike" kern="1200" cap="none" spc="0" normalizeH="0" baseline="0" noProof="0" dirty="0" err="1">
                <a:ln>
                  <a:noFill/>
                </a:ln>
                <a:solidFill>
                  <a:srgbClr val="5B9BD5">
                    <a:lumMod val="50000"/>
                  </a:srgbClr>
                </a:solidFill>
                <a:effectLst/>
                <a:uLnTx/>
                <a:uFillTx/>
                <a:latin typeface="Frutiger LT 65 Bold"/>
                <a:ea typeface="Rix모던고딕 B"/>
                <a:cs typeface="+mn-cs"/>
              </a:rPr>
              <a:t>특허출원무효처분</a:t>
            </a:r>
            <a:r>
              <a:rPr kumimoji="0" lang="ko-KR" altLang="en-US" sz="1200" b="1" i="0" u="none" strike="noStrike" kern="1200" cap="none" spc="0" normalizeH="0" baseline="0" noProof="0" dirty="0">
                <a:ln>
                  <a:noFill/>
                </a:ln>
                <a:solidFill>
                  <a:srgbClr val="5B9BD5">
                    <a:lumMod val="50000"/>
                  </a:srgbClr>
                </a:solidFill>
                <a:effectLst/>
                <a:uLnTx/>
                <a:uFillTx/>
                <a:latin typeface="Frutiger LT 65 Bold"/>
                <a:ea typeface="Rix모던고딕 B"/>
                <a:cs typeface="+mn-cs"/>
              </a:rPr>
              <a:t> 취소 청구의 소</a:t>
            </a:r>
            <a:r>
              <a:rPr kumimoji="0" lang="en-US" altLang="ko-KR" sz="1200" b="1" i="0" u="none" strike="noStrike" kern="1200" cap="none" spc="0" normalizeH="0" baseline="0" noProof="0" dirty="0">
                <a:ln>
                  <a:noFill/>
                </a:ln>
                <a:solidFill>
                  <a:srgbClr val="5B9BD5">
                    <a:lumMod val="50000"/>
                  </a:srgbClr>
                </a:solidFill>
                <a:effectLst/>
                <a:uLnTx/>
                <a:uFillTx/>
                <a:latin typeface="Frutiger LT 65 Bold"/>
                <a:ea typeface="Rix모던고딕 B"/>
                <a:cs typeface="+mn-cs"/>
              </a:rPr>
              <a:t>] </a:t>
            </a:r>
          </a:p>
          <a:p>
            <a:pPr marL="171450" marR="0" lvl="0" indent="-171450" algn="just" defTabSz="914400" rtl="0" eaLnBrk="1" fontAlgn="base" latinLnBrk="1" hangingPunct="1">
              <a:lnSpc>
                <a:spcPct val="100000"/>
              </a:lnSpc>
              <a:spcBef>
                <a:spcPts val="0"/>
              </a:spcBef>
              <a:spcAft>
                <a:spcPts val="0"/>
              </a:spcAft>
              <a:buClrTx/>
              <a:buSzTx/>
              <a:buFontTx/>
              <a:buChar char="-"/>
              <a:tabLst/>
              <a:defRPr/>
            </a:pP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특허법 제</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호는 ‘발명이라 함은 자연법칙을 이용한 기술적 사상의 창작으로서 고도한 것을 말한다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고 규정하고 있다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그런데 ‘기술’ 자체가 아닌 ‘기술적 </a:t>
            </a:r>
            <a:r>
              <a:rPr kumimoji="0" lang="ko-KR" altLang="en-US" sz="105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사상’이란</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결국 인간의 사유를 전제로 하는 것이고</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창작’ 역시 인간의 정신적 활동을 전제</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로 하는 것이다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또한 발명행위는 이른바 사실행위로써</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발명행위를 하게 되면 특허법상 발명자지위가 부여되고 특허권이 발명자에게 원시적으로 귀속되므로</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특허법 제</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소위 ‘발명자주의’</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발명자의 지위는 원칙적으로 권리능력이 전제가 되어야 한다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그런데 민법에서는 ‘사람은 생존한 동안 권리와 의무의 주체가 된다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고 규정하여 원칙적으로 자연인에게만 권리능력이 부여된다는 점을 명시하고 있고</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다만 제한된 범위 내에서 법인에게도 권리능력을 부여하고 있는데</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34</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인공지능은 법령상 자연인과 법인 모두에 포섭되지 않으므로</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민법상 ‘본법에서 물건이라 함은 유체물 및 전기 기타 관리할 수 있는 자연력을 말한다</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고 하여 사람과 법인을 제외한 나머지를 포괄적으로 물건으로 보고 있는바</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제</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98</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조</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소프트웨어와 하드웨어가 결합하는 형태의 인공지능 역시 민법상 유체물로서 물건에 해당할 여지가 높아 보인다</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현행 법령상으로 인공지능에게 권리능력을 인정할 수도 없다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원고는 인공지능이 출원서에 ‘발명자’ 로 기재되는 것이 권리능력 등과 별개로 허용될 수 있다는 취지로 주장하나</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이는 앞서 본 바와 같은 특허법상 발명자의 개념과 상치되는 것이고</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통일적 법해석에 전혀 부합하지 않는 주장이어서 받아들이기 어렵다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just" defTabSz="914400" rtl="0" eaLnBrk="1" fontAlgn="base" latinLnBrk="1" hangingPunct="1">
              <a:lnSpc>
                <a:spcPct val="100000"/>
              </a:lnSpc>
              <a:spcBef>
                <a:spcPts val="0"/>
              </a:spcBef>
              <a:spcAft>
                <a:spcPts val="0"/>
              </a:spcAft>
              <a:buClrTx/>
              <a:buSzTx/>
              <a:buFontTx/>
              <a:buChar char="-"/>
              <a:tabLst/>
              <a:defRPr/>
            </a:pP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나아가 원고는 인공지능을 발명자로 표시할 수 있도록 허용하는 것이 발명을 장려하고 그 이용을 도모함으로써 기술발전을 촉진하여 산업발전에 이바지하고자 하는 특허법의 목적</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취지에 더 부합한다고도 주장한다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그러나 </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인공지능이 발명자로 표시될 수 있다 하더라도 그로 인하여 인공지능이나 인공지능의 개발자가 더 적극적으로 발명을 할 유인이 발생한다고 볼만한 합리적 근거는 부족한 반면</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인공지능을 발명자로 인정할 경우 향후 인간 지성의 위축을 초래하여 미래 인간의 혁신에 부정적인 영향을 미칠 우려</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연구 집약적인 산업 자체가 붕괴될 우려</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발명이나 그 결과물과 관련된 법적 분쟁이 발생할 경우 인공지능의 개발자인 인간이 책임을 회피함으로써 책임 소재가 불분명해질 우려 등이 엄존하고</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소수 거대 기업 등이 강력한 인공지능을 독점함으로써 특허법이 소수의 권익만을 보호하는 수단으로 전락할 위험성도 있는바</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인공지능을 발명자로 인정하는 것이 우리 사회의 기술 및 산업발전의 도모에 궁극적으로 기여할 것이라고 단정하기도 어렵다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just" defTabSz="914400" rtl="0" eaLnBrk="1" fontAlgn="base" latinLnBrk="1" hangingPunct="1">
              <a:lnSpc>
                <a:spcPct val="100000"/>
              </a:lnSpc>
              <a:spcBef>
                <a:spcPts val="0"/>
              </a:spcBef>
              <a:spcAft>
                <a:spcPts val="0"/>
              </a:spcAft>
              <a:buClrTx/>
              <a:buSzTx/>
              <a:buFontTx/>
              <a:buChar char="-"/>
              <a:tabLst/>
              <a:defRPr/>
            </a:pP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원고는 인공지능을 발명자로 표시할 수 없을 경우</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인공지능이 인간의 개입 없이 독자적으로 한 발명에 관하여 어느 누구도 적법하게 특허를 출원할 수 없는 문제가 발생할 수 있고</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이는 특허법의 목적이나 취지에도 반한다고 주장한다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그러나 </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앞서 본 바와 같이 현 단계의 인공지능이 인간의 어떠한 개입 없이도 독자적으로 발명할 정도의 기술적 수준에 이르렀다고는 보이지 않을 뿐 아니라</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현행 법령상 인공지능을 활용하여 발명에 기여한 인간을 발명자로 표시하여 특허를 출원하는 것까지 금지된다고 보이지도 않고</a:t>
            </a:r>
            <a:r>
              <a:rPr kumimoji="0" lang="en-US" altLang="ko-KR"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이를 영업비밀 등으로 보호하는 다른 수단도 존재</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하므로</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원고의 주장과 같은 문제는 현실적으로 발생할 것으로 보이지 않는다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물론 미래에 강한 인공지능이 출현할 경우에 원고의 주장과 같은 문제가 현실화할 가능성까지 완전히 배제할 수는 없으나</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이는 기술적</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정책적 판단을 거쳐 향후 제도 개선 등을 통해 해결할 과제로 보일 뿐이다</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ko-KR" altLang="en-US" sz="105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2" name="타원 11">
            <a:extLst>
              <a:ext uri="{FF2B5EF4-FFF2-40B4-BE49-F238E27FC236}">
                <a16:creationId xmlns:a16="http://schemas.microsoft.com/office/drawing/2014/main" id="{663795D8-F784-70B4-5808-C6852AF90DFC}"/>
              </a:ext>
            </a:extLst>
          </p:cNvPr>
          <p:cNvSpPr/>
          <p:nvPr/>
        </p:nvSpPr>
        <p:spPr>
          <a:xfrm>
            <a:off x="3801041" y="6093127"/>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05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13" name="TextBox 12">
            <a:extLst>
              <a:ext uri="{FF2B5EF4-FFF2-40B4-BE49-F238E27FC236}">
                <a16:creationId xmlns:a16="http://schemas.microsoft.com/office/drawing/2014/main" id="{D6E01058-00A4-F7DA-D004-69157C151FC0}"/>
              </a:ext>
            </a:extLst>
          </p:cNvPr>
          <p:cNvSpPr txBox="1"/>
          <p:nvPr/>
        </p:nvSpPr>
        <p:spPr>
          <a:xfrm>
            <a:off x="3331242" y="6387686"/>
            <a:ext cx="937683" cy="43088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2021.5.17</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국내단계진입</a:t>
            </a:r>
          </a:p>
        </p:txBody>
      </p:sp>
      <p:sp>
        <p:nvSpPr>
          <p:cNvPr id="21" name="타원 20">
            <a:extLst>
              <a:ext uri="{FF2B5EF4-FFF2-40B4-BE49-F238E27FC236}">
                <a16:creationId xmlns:a16="http://schemas.microsoft.com/office/drawing/2014/main" id="{42C6D380-2D85-FACB-9437-A948A915EFF8}"/>
              </a:ext>
            </a:extLst>
          </p:cNvPr>
          <p:cNvSpPr/>
          <p:nvPr/>
        </p:nvSpPr>
        <p:spPr>
          <a:xfrm>
            <a:off x="4971174" y="6093127"/>
            <a:ext cx="141148" cy="14716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05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22" name="TextBox 21">
            <a:extLst>
              <a:ext uri="{FF2B5EF4-FFF2-40B4-BE49-F238E27FC236}">
                <a16:creationId xmlns:a16="http://schemas.microsoft.com/office/drawing/2014/main" id="{7D381575-D24E-1A2E-3E4C-BCD1374D482B}"/>
              </a:ext>
            </a:extLst>
          </p:cNvPr>
          <p:cNvSpPr txBox="1"/>
          <p:nvPr/>
        </p:nvSpPr>
        <p:spPr>
          <a:xfrm>
            <a:off x="4316549" y="6387686"/>
            <a:ext cx="1254579" cy="43088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2022.9.18</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특허출원 무효처분</a:t>
            </a:r>
          </a:p>
        </p:txBody>
      </p:sp>
      <p:cxnSp>
        <p:nvCxnSpPr>
          <p:cNvPr id="33" name="연결선: 꺾임 32">
            <a:extLst>
              <a:ext uri="{FF2B5EF4-FFF2-40B4-BE49-F238E27FC236}">
                <a16:creationId xmlns:a16="http://schemas.microsoft.com/office/drawing/2014/main" id="{EF7FB744-B2AB-68F1-3981-86D6FFCEB313}"/>
              </a:ext>
            </a:extLst>
          </p:cNvPr>
          <p:cNvCxnSpPr>
            <a:cxnSpLocks/>
            <a:stCxn id="13" idx="0"/>
            <a:endCxn id="12" idx="4"/>
          </p:cNvCxnSpPr>
          <p:nvPr/>
        </p:nvCxnSpPr>
        <p:spPr>
          <a:xfrm rot="5400000" flipH="1" flipV="1">
            <a:off x="3762154" y="6278226"/>
            <a:ext cx="147391" cy="71531"/>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5" name="연결선: 꺾임 34">
            <a:extLst>
              <a:ext uri="{FF2B5EF4-FFF2-40B4-BE49-F238E27FC236}">
                <a16:creationId xmlns:a16="http://schemas.microsoft.com/office/drawing/2014/main" id="{0F6C9B97-A4F5-92DF-390F-FCAF8BAD65FA}"/>
              </a:ext>
            </a:extLst>
          </p:cNvPr>
          <p:cNvCxnSpPr>
            <a:cxnSpLocks/>
            <a:stCxn id="22" idx="0"/>
            <a:endCxn id="21" idx="4"/>
          </p:cNvCxnSpPr>
          <p:nvPr/>
        </p:nvCxnSpPr>
        <p:spPr>
          <a:xfrm rot="5400000" flipH="1" flipV="1">
            <a:off x="4919098" y="6265037"/>
            <a:ext cx="147391" cy="97909"/>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타원 41">
            <a:extLst>
              <a:ext uri="{FF2B5EF4-FFF2-40B4-BE49-F238E27FC236}">
                <a16:creationId xmlns:a16="http://schemas.microsoft.com/office/drawing/2014/main" id="{21E123BC-3978-7B37-1D8F-D6F9305A6CDD}"/>
              </a:ext>
            </a:extLst>
          </p:cNvPr>
          <p:cNvSpPr/>
          <p:nvPr/>
        </p:nvSpPr>
        <p:spPr>
          <a:xfrm>
            <a:off x="6454402" y="6093127"/>
            <a:ext cx="141148" cy="147168"/>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05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43" name="TextBox 42">
            <a:extLst>
              <a:ext uri="{FF2B5EF4-FFF2-40B4-BE49-F238E27FC236}">
                <a16:creationId xmlns:a16="http://schemas.microsoft.com/office/drawing/2014/main" id="{15694817-8679-7508-4A11-7432A6F5A5CA}"/>
              </a:ext>
            </a:extLst>
          </p:cNvPr>
          <p:cNvSpPr txBox="1"/>
          <p:nvPr/>
        </p:nvSpPr>
        <p:spPr>
          <a:xfrm>
            <a:off x="5628537" y="6387686"/>
            <a:ext cx="1783314" cy="43088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서울행정법원</a:t>
            </a:r>
            <a:endPar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무효처분취소의 소 제기</a:t>
            </a:r>
          </a:p>
        </p:txBody>
      </p:sp>
      <p:cxnSp>
        <p:nvCxnSpPr>
          <p:cNvPr id="44" name="연결선: 꺾임 43">
            <a:extLst>
              <a:ext uri="{FF2B5EF4-FFF2-40B4-BE49-F238E27FC236}">
                <a16:creationId xmlns:a16="http://schemas.microsoft.com/office/drawing/2014/main" id="{3F938071-29F0-A509-2EB9-7813BAFFB244}"/>
              </a:ext>
            </a:extLst>
          </p:cNvPr>
          <p:cNvCxnSpPr>
            <a:cxnSpLocks/>
            <a:stCxn id="43" idx="0"/>
            <a:endCxn id="42" idx="4"/>
          </p:cNvCxnSpPr>
          <p:nvPr/>
        </p:nvCxnSpPr>
        <p:spPr>
          <a:xfrm rot="5400000" flipH="1" flipV="1">
            <a:off x="6448890" y="6311600"/>
            <a:ext cx="147391" cy="4782"/>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7" name="타원 46">
            <a:extLst>
              <a:ext uri="{FF2B5EF4-FFF2-40B4-BE49-F238E27FC236}">
                <a16:creationId xmlns:a16="http://schemas.microsoft.com/office/drawing/2014/main" id="{C3CC1D3F-5688-CDA6-C319-FFBDFBE262EC}"/>
              </a:ext>
            </a:extLst>
          </p:cNvPr>
          <p:cNvSpPr/>
          <p:nvPr/>
        </p:nvSpPr>
        <p:spPr>
          <a:xfrm>
            <a:off x="8105765" y="6093127"/>
            <a:ext cx="141148" cy="14716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05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48" name="TextBox 47">
            <a:extLst>
              <a:ext uri="{FF2B5EF4-FFF2-40B4-BE49-F238E27FC236}">
                <a16:creationId xmlns:a16="http://schemas.microsoft.com/office/drawing/2014/main" id="{A613461B-FFCC-BA98-F1D2-F9F41CDFE2D0}"/>
              </a:ext>
            </a:extLst>
          </p:cNvPr>
          <p:cNvSpPr txBox="1"/>
          <p:nvPr/>
        </p:nvSpPr>
        <p:spPr>
          <a:xfrm>
            <a:off x="7473915" y="6387686"/>
            <a:ext cx="1584438" cy="43088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2023.6.30</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기각</a:t>
            </a: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en-US" altLang="ko-KR" sz="1050" b="0" i="0" u="none" strike="noStrike" kern="1200" cap="none" spc="0" normalizeH="0" baseline="0" noProof="0" dirty="0">
                <a:ln>
                  <a:noFill/>
                </a:ln>
                <a:solidFill>
                  <a:srgbClr val="FF0000"/>
                </a:solidFill>
                <a:effectLst/>
                <a:uLnTx/>
                <a:uFillTx/>
                <a:latin typeface="Frutiger LT 65 Bold"/>
                <a:ea typeface="Rix모던고딕 B"/>
                <a:cs typeface="+mn-cs"/>
              </a:rPr>
              <a:t>2022</a:t>
            </a:r>
            <a:r>
              <a:rPr kumimoji="0" lang="ko-KR" altLang="en-US" sz="1050" b="0" i="0" u="none" strike="noStrike" kern="1200" cap="none" spc="0" normalizeH="0" baseline="0" noProof="0" dirty="0" err="1">
                <a:ln>
                  <a:noFill/>
                </a:ln>
                <a:solidFill>
                  <a:srgbClr val="FF0000"/>
                </a:solidFill>
                <a:effectLst/>
                <a:uLnTx/>
                <a:uFillTx/>
                <a:latin typeface="Frutiger LT 65 Bold"/>
                <a:ea typeface="Rix모던고딕 B"/>
                <a:cs typeface="+mn-cs"/>
              </a:rPr>
              <a:t>구합</a:t>
            </a:r>
            <a:r>
              <a:rPr kumimoji="0" lang="en-US" altLang="ko-KR" sz="1050" b="0" i="0" u="none" strike="noStrike" kern="1200" cap="none" spc="0" normalizeH="0" baseline="0" noProof="0" dirty="0">
                <a:ln>
                  <a:noFill/>
                </a:ln>
                <a:solidFill>
                  <a:srgbClr val="FF0000"/>
                </a:solidFill>
                <a:effectLst/>
                <a:uLnTx/>
                <a:uFillTx/>
                <a:latin typeface="Frutiger LT 65 Bold"/>
                <a:ea typeface="Rix모던고딕 B"/>
                <a:cs typeface="+mn-cs"/>
              </a:rPr>
              <a:t>89524</a:t>
            </a: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49" name="연결선: 꺾임 48">
            <a:extLst>
              <a:ext uri="{FF2B5EF4-FFF2-40B4-BE49-F238E27FC236}">
                <a16:creationId xmlns:a16="http://schemas.microsoft.com/office/drawing/2014/main" id="{DABB69DA-A982-9453-B4DC-CEAC196F98E2}"/>
              </a:ext>
            </a:extLst>
          </p:cNvPr>
          <p:cNvCxnSpPr>
            <a:cxnSpLocks/>
            <a:stCxn id="48" idx="0"/>
            <a:endCxn id="47" idx="4"/>
          </p:cNvCxnSpPr>
          <p:nvPr/>
        </p:nvCxnSpPr>
        <p:spPr>
          <a:xfrm rot="16200000" flipV="1">
            <a:off x="8147542" y="6269093"/>
            <a:ext cx="147391" cy="89795"/>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1" name="타원 50">
            <a:extLst>
              <a:ext uri="{FF2B5EF4-FFF2-40B4-BE49-F238E27FC236}">
                <a16:creationId xmlns:a16="http://schemas.microsoft.com/office/drawing/2014/main" id="{65D8ACA0-39F9-DF00-6840-EC379ED2BCD1}"/>
              </a:ext>
            </a:extLst>
          </p:cNvPr>
          <p:cNvSpPr/>
          <p:nvPr/>
        </p:nvSpPr>
        <p:spPr>
          <a:xfrm>
            <a:off x="9665274" y="6093127"/>
            <a:ext cx="141148" cy="147168"/>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05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52" name="TextBox 51">
            <a:extLst>
              <a:ext uri="{FF2B5EF4-FFF2-40B4-BE49-F238E27FC236}">
                <a16:creationId xmlns:a16="http://schemas.microsoft.com/office/drawing/2014/main" id="{310B131D-9703-BD6B-76CA-7FFC2CC83C71}"/>
              </a:ext>
            </a:extLst>
          </p:cNvPr>
          <p:cNvSpPr txBox="1"/>
          <p:nvPr/>
        </p:nvSpPr>
        <p:spPr>
          <a:xfrm>
            <a:off x="9178032" y="6387686"/>
            <a:ext cx="1106068" cy="43088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서울고등법원</a:t>
            </a:r>
            <a:endPar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항소</a:t>
            </a:r>
          </a:p>
        </p:txBody>
      </p:sp>
      <p:cxnSp>
        <p:nvCxnSpPr>
          <p:cNvPr id="53" name="연결선: 꺾임 52">
            <a:extLst>
              <a:ext uri="{FF2B5EF4-FFF2-40B4-BE49-F238E27FC236}">
                <a16:creationId xmlns:a16="http://schemas.microsoft.com/office/drawing/2014/main" id="{8ED9E45E-9A74-7C30-8E08-7E6EB090AEA1}"/>
              </a:ext>
            </a:extLst>
          </p:cNvPr>
          <p:cNvCxnSpPr>
            <a:cxnSpLocks/>
            <a:stCxn id="52" idx="0"/>
            <a:endCxn id="51" idx="4"/>
          </p:cNvCxnSpPr>
          <p:nvPr/>
        </p:nvCxnSpPr>
        <p:spPr>
          <a:xfrm rot="5400000" flipH="1" flipV="1">
            <a:off x="9659762" y="6311600"/>
            <a:ext cx="147391" cy="4782"/>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4" name="타원 53">
            <a:extLst>
              <a:ext uri="{FF2B5EF4-FFF2-40B4-BE49-F238E27FC236}">
                <a16:creationId xmlns:a16="http://schemas.microsoft.com/office/drawing/2014/main" id="{98A9F25F-88A5-DDB1-9B80-7F82214EC77F}"/>
              </a:ext>
            </a:extLst>
          </p:cNvPr>
          <p:cNvSpPr/>
          <p:nvPr/>
        </p:nvSpPr>
        <p:spPr>
          <a:xfrm>
            <a:off x="11173762" y="6093127"/>
            <a:ext cx="141148" cy="14716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05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56" name="TextBox 55">
            <a:extLst>
              <a:ext uri="{FF2B5EF4-FFF2-40B4-BE49-F238E27FC236}">
                <a16:creationId xmlns:a16="http://schemas.microsoft.com/office/drawing/2014/main" id="{3A25194B-1A32-1860-14A2-BACFA0BC870C}"/>
              </a:ext>
            </a:extLst>
          </p:cNvPr>
          <p:cNvSpPr txBox="1"/>
          <p:nvPr/>
        </p:nvSpPr>
        <p:spPr>
          <a:xfrm>
            <a:off x="10395561" y="6387686"/>
            <a:ext cx="1680530" cy="43088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2024.5.16</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rPr>
              <a:t>기각</a:t>
            </a: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en-US" altLang="ko-KR" sz="1050" b="0" i="0" u="none" strike="noStrike" kern="1200" cap="none" spc="0" normalizeH="0" baseline="0" noProof="0" dirty="0">
                <a:ln>
                  <a:noFill/>
                </a:ln>
                <a:solidFill>
                  <a:srgbClr val="FF0000"/>
                </a:solidFill>
                <a:effectLst/>
                <a:uLnTx/>
                <a:uFillTx/>
                <a:latin typeface="Rix모던고딕 B"/>
                <a:ea typeface="Rix모던고딕 B"/>
                <a:cs typeface="+mn-cs"/>
              </a:rPr>
              <a:t>2023</a:t>
            </a:r>
            <a:r>
              <a:rPr kumimoji="0" lang="ko-KR" altLang="en-US" sz="1050" b="0" i="0" u="none" strike="noStrike" kern="1200" cap="none" spc="0" normalizeH="0" baseline="0" noProof="0" dirty="0">
                <a:ln>
                  <a:noFill/>
                </a:ln>
                <a:solidFill>
                  <a:srgbClr val="FF0000"/>
                </a:solidFill>
                <a:effectLst/>
                <a:uLnTx/>
                <a:uFillTx/>
                <a:latin typeface="Rix모던고딕 B"/>
                <a:ea typeface="Rix모던고딕 B"/>
                <a:cs typeface="+mn-cs"/>
              </a:rPr>
              <a:t>누</a:t>
            </a:r>
            <a:r>
              <a:rPr kumimoji="0" lang="en-US" altLang="ko-KR" sz="1050" b="0" i="0" u="none" strike="noStrike" kern="1200" cap="none" spc="0" normalizeH="0" baseline="0" noProof="0" dirty="0">
                <a:ln>
                  <a:noFill/>
                </a:ln>
                <a:solidFill>
                  <a:srgbClr val="FF0000"/>
                </a:solidFill>
                <a:effectLst/>
                <a:uLnTx/>
                <a:uFillTx/>
                <a:latin typeface="Rix모던고딕 B"/>
                <a:ea typeface="Rix모던고딕 B"/>
                <a:cs typeface="+mn-cs"/>
              </a:rPr>
              <a:t>52088</a:t>
            </a:r>
            <a:r>
              <a:rPr kumimoji="0" lang="en-US" altLang="ko-KR" sz="1050" b="0" i="0" u="none" strike="noStrike" kern="1200" cap="none" spc="0" normalizeH="0" baseline="0" noProof="0" dirty="0">
                <a:ln>
                  <a:noFill/>
                </a:ln>
                <a:solidFill>
                  <a:prstClr val="black"/>
                </a:solidFill>
                <a:effectLst/>
                <a:uLnTx/>
                <a:uFillTx/>
                <a:latin typeface="Rix모던고딕 B"/>
                <a:ea typeface="Rix모던고딕 B"/>
                <a:cs typeface="+mn-cs"/>
              </a:rPr>
              <a:t>)</a:t>
            </a:r>
            <a:endParaRPr kumimoji="0" lang="ko-KR" altLang="en-US" sz="105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57" name="연결선: 꺾임 56">
            <a:extLst>
              <a:ext uri="{FF2B5EF4-FFF2-40B4-BE49-F238E27FC236}">
                <a16:creationId xmlns:a16="http://schemas.microsoft.com/office/drawing/2014/main" id="{4A8DCF5D-EE09-EC74-F254-280A0EEF6B8C}"/>
              </a:ext>
            </a:extLst>
          </p:cNvPr>
          <p:cNvCxnSpPr>
            <a:cxnSpLocks/>
            <a:stCxn id="56" idx="0"/>
            <a:endCxn id="54" idx="4"/>
          </p:cNvCxnSpPr>
          <p:nvPr/>
        </p:nvCxnSpPr>
        <p:spPr>
          <a:xfrm rot="5400000" flipH="1" flipV="1">
            <a:off x="11166386" y="6309736"/>
            <a:ext cx="147391" cy="8510"/>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1700309"/>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37</a:t>
            </a:r>
            <a:r>
              <a:rPr lang="ko-KR" altLang="en-US" dirty="0"/>
              <a:t>조</a:t>
            </a:r>
          </a:p>
        </p:txBody>
      </p:sp>
      <p:sp>
        <p:nvSpPr>
          <p:cNvPr id="4" name="텍스트 개체 틀 3"/>
          <p:cNvSpPr>
            <a:spLocks noGrp="1"/>
          </p:cNvSpPr>
          <p:nvPr>
            <p:ph type="body" sz="quarter" idx="13"/>
          </p:nvPr>
        </p:nvSpPr>
        <p:spPr/>
        <p:txBody>
          <a:bodyPr/>
          <a:lstStyle/>
          <a:p>
            <a:r>
              <a:rPr lang="ko-KR" altLang="en-US" dirty="0"/>
              <a:t>제</a:t>
            </a:r>
            <a:r>
              <a:rPr lang="en-US" altLang="ko-KR" dirty="0"/>
              <a:t>37</a:t>
            </a:r>
            <a:r>
              <a:rPr lang="ko-KR" altLang="en-US" dirty="0"/>
              <a:t>조의 법조문 정리</a:t>
            </a:r>
          </a:p>
        </p:txBody>
      </p:sp>
      <p:sp>
        <p:nvSpPr>
          <p:cNvPr id="12" name="TextBox 11"/>
          <p:cNvSpPr txBox="1"/>
          <p:nvPr/>
        </p:nvSpPr>
        <p:spPr>
          <a:xfrm>
            <a:off x="77875" y="1029105"/>
            <a:ext cx="11936323" cy="307777"/>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권리는 이전할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13" name="TextBox 12"/>
          <p:cNvSpPr txBox="1"/>
          <p:nvPr/>
        </p:nvSpPr>
        <p:spPr>
          <a:xfrm>
            <a:off x="77875" y="1985824"/>
            <a:ext cx="11936323" cy="307777"/>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②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권리는 질권의 목적으로 할 수 없다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14" name="TextBox 13"/>
          <p:cNvSpPr txBox="1"/>
          <p:nvPr/>
        </p:nvSpPr>
        <p:spPr>
          <a:xfrm>
            <a:off x="77875" y="2790135"/>
            <a:ext cx="11936323" cy="307777"/>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권리가 공유인 경우에는 각 공유자는 다른 공유자 모두의 동의를 받아야만 그 지분을 양도할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15" name="TextBox 14"/>
          <p:cNvSpPr txBox="1"/>
          <p:nvPr/>
        </p:nvSpPr>
        <p:spPr>
          <a:xfrm>
            <a:off x="365743" y="1376236"/>
            <a:ext cx="11648456" cy="276999"/>
          </a:xfrm>
          <a:prstGeom prst="rect">
            <a:avLst/>
          </a:prstGeom>
          <a:solidFill>
            <a:schemeClr val="bg1"/>
          </a:solidFill>
          <a:ln>
            <a:solidFill>
              <a:schemeClr val="bg1">
                <a:lumMod val="50000"/>
              </a:schemeClr>
            </a:solidFill>
          </a:ln>
        </p:spPr>
        <p:txBody>
          <a:bodyPr wrap="square" rtlCol="0">
            <a:spAutoFit/>
          </a:bodyPr>
          <a:lstStyle/>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이전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양도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상속</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 name="TextBox 15"/>
          <p:cNvSpPr txBox="1"/>
          <p:nvPr/>
        </p:nvSpPr>
        <p:spPr>
          <a:xfrm>
            <a:off x="365743" y="2341432"/>
            <a:ext cx="11648456" cy="276999"/>
          </a:xfrm>
          <a:prstGeom prst="rect">
            <a:avLst/>
          </a:prstGeom>
          <a:solidFill>
            <a:schemeClr val="bg1"/>
          </a:solidFill>
          <a:ln>
            <a:solidFill>
              <a:schemeClr val="bg1">
                <a:lumMod val="50000"/>
              </a:schemeClr>
            </a:solidFill>
          </a:ln>
        </p:spPr>
        <p:txBody>
          <a:bodyPr wrap="square" rtlCol="0">
            <a:spAutoFit/>
          </a:bodyPr>
          <a:lstStyle/>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불안정한 상태</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7" name="TextBox 16"/>
          <p:cNvSpPr txBox="1"/>
          <p:nvPr/>
        </p:nvSpPr>
        <p:spPr>
          <a:xfrm>
            <a:off x="365743" y="3154232"/>
            <a:ext cx="11648456" cy="673427"/>
          </a:xfrm>
          <a:prstGeom prst="rect">
            <a:avLst/>
          </a:prstGeom>
          <a:solidFill>
            <a:schemeClr val="bg1"/>
          </a:solidFill>
          <a:ln>
            <a:solidFill>
              <a:schemeClr val="bg1">
                <a:lumMod val="50000"/>
              </a:schemeClr>
            </a:solidFill>
          </a:ln>
        </p:spPr>
        <p:txBody>
          <a:bodyPr wrap="square" rtlCol="0">
            <a:noAutofit/>
          </a:bodyPr>
          <a:lstStyle/>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새로이 공유자로 될 자의 자본력</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기술력</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신용력</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여하에 따라 기존 공유자의 이해관계에 영향을 미치기 때문에 제한을 두고 있음</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민법과 차이점</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지분의 상속은 다른 공유자에게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불측의</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손해를 줄 염려가 없기 때문에 다른 공유자의 동의를 받지 아니하고 할 수 있으며 공유자끼리의 지분양도는 공유자 사이의 지분 비율의 변동에 불과하기 때문에 다른 공유자의 동의를 받지 아니하고 가능하다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106</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cxnSp>
        <p:nvCxnSpPr>
          <p:cNvPr id="7" name="직선 연결선 6">
            <a:extLst>
              <a:ext uri="{FF2B5EF4-FFF2-40B4-BE49-F238E27FC236}">
                <a16:creationId xmlns:a16="http://schemas.microsoft.com/office/drawing/2014/main" id="{75D3D5A2-A7CA-4BAF-A52A-210F4D0F5454}"/>
              </a:ext>
            </a:extLst>
          </p:cNvPr>
          <p:cNvCxnSpPr/>
          <p:nvPr/>
        </p:nvCxnSpPr>
        <p:spPr>
          <a:xfrm>
            <a:off x="17418" y="3979817"/>
            <a:ext cx="1212233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 name="직사각형 7">
            <a:extLst>
              <a:ext uri="{FF2B5EF4-FFF2-40B4-BE49-F238E27FC236}">
                <a16:creationId xmlns:a16="http://schemas.microsoft.com/office/drawing/2014/main" id="{666CA6DE-28A0-4408-8B78-BFBF21F50FE4}"/>
              </a:ext>
            </a:extLst>
          </p:cNvPr>
          <p:cNvSpPr/>
          <p:nvPr/>
        </p:nvSpPr>
        <p:spPr>
          <a:xfrm>
            <a:off x="226423" y="5167579"/>
            <a:ext cx="1743663" cy="377316"/>
          </a:xfrm>
          <a:prstGeom prst="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특허를 받을 수 있는 권리</a:t>
            </a:r>
          </a:p>
        </p:txBody>
      </p:sp>
      <p:sp>
        <p:nvSpPr>
          <p:cNvPr id="18" name="직사각형 17">
            <a:extLst>
              <a:ext uri="{FF2B5EF4-FFF2-40B4-BE49-F238E27FC236}">
                <a16:creationId xmlns:a16="http://schemas.microsoft.com/office/drawing/2014/main" id="{7D6D972E-B048-4F0C-95CD-8DAEEA811B36}"/>
              </a:ext>
            </a:extLst>
          </p:cNvPr>
          <p:cNvSpPr/>
          <p:nvPr/>
        </p:nvSpPr>
        <p:spPr>
          <a:xfrm>
            <a:off x="2335763" y="4559220"/>
            <a:ext cx="1326679" cy="37731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특허부여요구권적</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효력</a:t>
            </a:r>
          </a:p>
        </p:txBody>
      </p:sp>
      <p:sp>
        <p:nvSpPr>
          <p:cNvPr id="19" name="직사각형 18">
            <a:extLst>
              <a:ext uri="{FF2B5EF4-FFF2-40B4-BE49-F238E27FC236}">
                <a16:creationId xmlns:a16="http://schemas.microsoft.com/office/drawing/2014/main" id="{A88E5946-5366-4A79-92C5-59DE5C726E44}"/>
              </a:ext>
            </a:extLst>
          </p:cNvPr>
          <p:cNvSpPr/>
          <p:nvPr/>
        </p:nvSpPr>
        <p:spPr>
          <a:xfrm>
            <a:off x="2335763" y="5744418"/>
            <a:ext cx="1326679" cy="377316"/>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발명자권적</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효력</a:t>
            </a:r>
          </a:p>
        </p:txBody>
      </p:sp>
      <p:sp>
        <p:nvSpPr>
          <p:cNvPr id="20" name="직사각형 19">
            <a:extLst>
              <a:ext uri="{FF2B5EF4-FFF2-40B4-BE49-F238E27FC236}">
                <a16:creationId xmlns:a16="http://schemas.microsoft.com/office/drawing/2014/main" id="{20F7BC4D-DC91-4D42-B22B-4A8145570711}"/>
              </a:ext>
            </a:extLst>
          </p:cNvPr>
          <p:cNvSpPr/>
          <p:nvPr/>
        </p:nvSpPr>
        <p:spPr>
          <a:xfrm>
            <a:off x="3996684" y="4232881"/>
            <a:ext cx="1326679"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권리부여의 요구</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42)</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21" name="직사각형 20">
            <a:extLst>
              <a:ext uri="{FF2B5EF4-FFF2-40B4-BE49-F238E27FC236}">
                <a16:creationId xmlns:a16="http://schemas.microsoft.com/office/drawing/2014/main" id="{0A4B3DD0-C8C9-4CDF-AAAB-7744960D69E7}"/>
              </a:ext>
            </a:extLst>
          </p:cNvPr>
          <p:cNvSpPr/>
          <p:nvPr/>
        </p:nvSpPr>
        <p:spPr>
          <a:xfrm>
            <a:off x="3996684" y="4673065"/>
            <a:ext cx="1326679"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타인출원의 등록</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금지</a:t>
            </a:r>
          </a:p>
        </p:txBody>
      </p:sp>
      <p:sp>
        <p:nvSpPr>
          <p:cNvPr id="23" name="직사각형 22">
            <a:extLst>
              <a:ext uri="{FF2B5EF4-FFF2-40B4-BE49-F238E27FC236}">
                <a16:creationId xmlns:a16="http://schemas.microsoft.com/office/drawing/2014/main" id="{F5661651-5C56-4E82-BB29-3B733279EE2D}"/>
              </a:ext>
            </a:extLst>
          </p:cNvPr>
          <p:cNvSpPr/>
          <p:nvPr/>
        </p:nvSpPr>
        <p:spPr>
          <a:xfrm>
            <a:off x="3996684" y="5570190"/>
            <a:ext cx="1326679"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재산권</a:t>
            </a:r>
          </a:p>
        </p:txBody>
      </p:sp>
      <p:sp>
        <p:nvSpPr>
          <p:cNvPr id="24" name="직사각형 23">
            <a:extLst>
              <a:ext uri="{FF2B5EF4-FFF2-40B4-BE49-F238E27FC236}">
                <a16:creationId xmlns:a16="http://schemas.microsoft.com/office/drawing/2014/main" id="{59492269-D1CC-4FD5-A76A-396C4BD65C67}"/>
              </a:ext>
            </a:extLst>
          </p:cNvPr>
          <p:cNvSpPr/>
          <p:nvPr/>
        </p:nvSpPr>
        <p:spPr>
          <a:xfrm>
            <a:off x="3996684" y="6010374"/>
            <a:ext cx="1326679"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인격권</a:t>
            </a:r>
          </a:p>
        </p:txBody>
      </p:sp>
      <p:sp>
        <p:nvSpPr>
          <p:cNvPr id="25" name="직사각형 24">
            <a:extLst>
              <a:ext uri="{FF2B5EF4-FFF2-40B4-BE49-F238E27FC236}">
                <a16:creationId xmlns:a16="http://schemas.microsoft.com/office/drawing/2014/main" id="{641F05BF-99A6-4D0F-9A39-372768919F69}"/>
              </a:ext>
            </a:extLst>
          </p:cNvPr>
          <p:cNvSpPr/>
          <p:nvPr/>
        </p:nvSpPr>
        <p:spPr>
          <a:xfrm>
            <a:off x="5648899" y="4982880"/>
            <a:ext cx="1326679"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침해에 대한 보호</a:t>
            </a:r>
          </a:p>
        </p:txBody>
      </p:sp>
      <p:sp>
        <p:nvSpPr>
          <p:cNvPr id="26" name="직사각형 25">
            <a:extLst>
              <a:ext uri="{FF2B5EF4-FFF2-40B4-BE49-F238E27FC236}">
                <a16:creationId xmlns:a16="http://schemas.microsoft.com/office/drawing/2014/main" id="{D54D394F-EE52-4F28-93ED-B01293F8C932}"/>
              </a:ext>
            </a:extLst>
          </p:cNvPr>
          <p:cNvSpPr/>
          <p:nvPr/>
        </p:nvSpPr>
        <p:spPr>
          <a:xfrm>
            <a:off x="5648899" y="5798475"/>
            <a:ext cx="1326679"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발명의 실시</a:t>
            </a:r>
          </a:p>
        </p:txBody>
      </p:sp>
      <p:sp>
        <p:nvSpPr>
          <p:cNvPr id="27" name="직사각형 26">
            <a:extLst>
              <a:ext uri="{FF2B5EF4-FFF2-40B4-BE49-F238E27FC236}">
                <a16:creationId xmlns:a16="http://schemas.microsoft.com/office/drawing/2014/main" id="{38C52AA2-6F6F-4F36-96EE-F39A501B4903}"/>
              </a:ext>
            </a:extLst>
          </p:cNvPr>
          <p:cNvSpPr/>
          <p:nvPr/>
        </p:nvSpPr>
        <p:spPr>
          <a:xfrm>
            <a:off x="7365381" y="4272461"/>
            <a:ext cx="1712830"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무권리자출원</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무단출원</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28" name="직사각형 27">
            <a:extLst>
              <a:ext uri="{FF2B5EF4-FFF2-40B4-BE49-F238E27FC236}">
                <a16:creationId xmlns:a16="http://schemas.microsoft.com/office/drawing/2014/main" id="{D548D5AD-8BBD-4B8A-BA41-B6F0FF835DCD}"/>
              </a:ext>
            </a:extLst>
          </p:cNvPr>
          <p:cNvSpPr/>
          <p:nvPr/>
        </p:nvSpPr>
        <p:spPr>
          <a:xfrm>
            <a:off x="7365381" y="4695930"/>
            <a:ext cx="1712830"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무단공표</a:t>
            </a:r>
          </a:p>
        </p:txBody>
      </p:sp>
      <p:sp>
        <p:nvSpPr>
          <p:cNvPr id="29" name="직사각형 28">
            <a:extLst>
              <a:ext uri="{FF2B5EF4-FFF2-40B4-BE49-F238E27FC236}">
                <a16:creationId xmlns:a16="http://schemas.microsoft.com/office/drawing/2014/main" id="{97012A8D-6A48-4A93-93EC-2C182C7B39D1}"/>
              </a:ext>
            </a:extLst>
          </p:cNvPr>
          <p:cNvSpPr/>
          <p:nvPr/>
        </p:nvSpPr>
        <p:spPr>
          <a:xfrm>
            <a:off x="7365381" y="5124918"/>
            <a:ext cx="1712830"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무단실시</a:t>
            </a:r>
          </a:p>
        </p:txBody>
      </p:sp>
      <p:sp>
        <p:nvSpPr>
          <p:cNvPr id="30" name="직사각형 29">
            <a:extLst>
              <a:ext uri="{FF2B5EF4-FFF2-40B4-BE49-F238E27FC236}">
                <a16:creationId xmlns:a16="http://schemas.microsoft.com/office/drawing/2014/main" id="{69F48EEE-E037-4216-A599-0DCF1B440DB5}"/>
              </a:ext>
            </a:extLst>
          </p:cNvPr>
          <p:cNvSpPr/>
          <p:nvPr/>
        </p:nvSpPr>
        <p:spPr>
          <a:xfrm>
            <a:off x="9751538" y="4161282"/>
            <a:ext cx="1647994"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정당한 권리자 출원</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34, 35)</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31" name="직사각형 30">
            <a:extLst>
              <a:ext uri="{FF2B5EF4-FFF2-40B4-BE49-F238E27FC236}">
                <a16:creationId xmlns:a16="http://schemas.microsoft.com/office/drawing/2014/main" id="{A78B960F-E357-4A56-AD2F-3A86F4992C3F}"/>
              </a:ext>
            </a:extLst>
          </p:cNvPr>
          <p:cNvSpPr/>
          <p:nvPr/>
        </p:nvSpPr>
        <p:spPr>
          <a:xfrm>
            <a:off x="9751538" y="4584751"/>
            <a:ext cx="1647994"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이전청구</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99</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의</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32" name="직사각형 31">
            <a:extLst>
              <a:ext uri="{FF2B5EF4-FFF2-40B4-BE49-F238E27FC236}">
                <a16:creationId xmlns:a16="http://schemas.microsoft.com/office/drawing/2014/main" id="{B672F1FB-C1E9-4FC0-A2D5-D18AD269FC52}"/>
              </a:ext>
            </a:extLst>
          </p:cNvPr>
          <p:cNvSpPr/>
          <p:nvPr/>
        </p:nvSpPr>
        <p:spPr>
          <a:xfrm>
            <a:off x="9751538" y="4997447"/>
            <a:ext cx="1647994"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의사에 반한 공지</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30①Ⅱ)</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33" name="직사각형 32">
            <a:extLst>
              <a:ext uri="{FF2B5EF4-FFF2-40B4-BE49-F238E27FC236}">
                <a16:creationId xmlns:a16="http://schemas.microsoft.com/office/drawing/2014/main" id="{1D60C29B-A6E1-4B36-9F59-8B18D1F7036E}"/>
              </a:ext>
            </a:extLst>
          </p:cNvPr>
          <p:cNvSpPr/>
          <p:nvPr/>
        </p:nvSpPr>
        <p:spPr>
          <a:xfrm>
            <a:off x="9751538" y="5422414"/>
            <a:ext cx="1647994"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보상금청구권</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65)</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34" name="직사각형 33">
            <a:extLst>
              <a:ext uri="{FF2B5EF4-FFF2-40B4-BE49-F238E27FC236}">
                <a16:creationId xmlns:a16="http://schemas.microsoft.com/office/drawing/2014/main" id="{DF60A919-0130-4897-ACB2-60C4E721BC4A}"/>
              </a:ext>
            </a:extLst>
          </p:cNvPr>
          <p:cNvSpPr/>
          <p:nvPr/>
        </p:nvSpPr>
        <p:spPr>
          <a:xfrm>
            <a:off x="7365381" y="5800597"/>
            <a:ext cx="1712830"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선사용권</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103)</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35" name="직사각형 34">
            <a:extLst>
              <a:ext uri="{FF2B5EF4-FFF2-40B4-BE49-F238E27FC236}">
                <a16:creationId xmlns:a16="http://schemas.microsoft.com/office/drawing/2014/main" id="{8D728F45-024E-42CF-972C-90EECADDBC12}"/>
              </a:ext>
            </a:extLst>
          </p:cNvPr>
          <p:cNvSpPr/>
          <p:nvPr/>
        </p:nvSpPr>
        <p:spPr>
          <a:xfrm>
            <a:off x="7365381" y="6229585"/>
            <a:ext cx="1712830" cy="37731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특허출원시부터</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국내에 있던 물건</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96①Ⅲ)</a:t>
            </a:r>
            <a:endPar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37" name="직사각형 36">
            <a:extLst>
              <a:ext uri="{FF2B5EF4-FFF2-40B4-BE49-F238E27FC236}">
                <a16:creationId xmlns:a16="http://schemas.microsoft.com/office/drawing/2014/main" id="{54F17131-9782-4919-995C-139A63D6850F}"/>
              </a:ext>
            </a:extLst>
          </p:cNvPr>
          <p:cNvSpPr/>
          <p:nvPr/>
        </p:nvSpPr>
        <p:spPr>
          <a:xfrm>
            <a:off x="9751538" y="5847381"/>
            <a:ext cx="1647994" cy="377316"/>
          </a:xfrm>
          <a:prstGeom prst="rect">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영업비밀보호법에 의한</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보호</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부정취득</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공개</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38" name="연결선: 꺾임 37">
            <a:extLst>
              <a:ext uri="{FF2B5EF4-FFF2-40B4-BE49-F238E27FC236}">
                <a16:creationId xmlns:a16="http://schemas.microsoft.com/office/drawing/2014/main" id="{36D58A31-84F4-45F4-9189-7127B1334981}"/>
              </a:ext>
            </a:extLst>
          </p:cNvPr>
          <p:cNvCxnSpPr>
            <a:stCxn id="8" idx="3"/>
            <a:endCxn id="18" idx="1"/>
          </p:cNvCxnSpPr>
          <p:nvPr/>
        </p:nvCxnSpPr>
        <p:spPr>
          <a:xfrm flipV="1">
            <a:off x="1970086" y="4747878"/>
            <a:ext cx="365677" cy="60835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연결선: 꺾임 39">
            <a:extLst>
              <a:ext uri="{FF2B5EF4-FFF2-40B4-BE49-F238E27FC236}">
                <a16:creationId xmlns:a16="http://schemas.microsoft.com/office/drawing/2014/main" id="{46BD3106-8750-4983-BF65-D7B61B778AA3}"/>
              </a:ext>
            </a:extLst>
          </p:cNvPr>
          <p:cNvCxnSpPr>
            <a:stCxn id="8" idx="3"/>
            <a:endCxn id="19" idx="1"/>
          </p:cNvCxnSpPr>
          <p:nvPr/>
        </p:nvCxnSpPr>
        <p:spPr>
          <a:xfrm>
            <a:off x="1970086" y="5356237"/>
            <a:ext cx="365677" cy="57683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연결선: 꺾임 41">
            <a:extLst>
              <a:ext uri="{FF2B5EF4-FFF2-40B4-BE49-F238E27FC236}">
                <a16:creationId xmlns:a16="http://schemas.microsoft.com/office/drawing/2014/main" id="{867933C7-2F27-4C66-9EBE-FDD346CE4997}"/>
              </a:ext>
            </a:extLst>
          </p:cNvPr>
          <p:cNvCxnSpPr>
            <a:stCxn id="18" idx="3"/>
            <a:endCxn id="20" idx="1"/>
          </p:cNvCxnSpPr>
          <p:nvPr/>
        </p:nvCxnSpPr>
        <p:spPr>
          <a:xfrm flipV="1">
            <a:off x="3662442" y="4421539"/>
            <a:ext cx="334242" cy="32633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연결선: 꺾임 43">
            <a:extLst>
              <a:ext uri="{FF2B5EF4-FFF2-40B4-BE49-F238E27FC236}">
                <a16:creationId xmlns:a16="http://schemas.microsoft.com/office/drawing/2014/main" id="{2E20248E-3E20-4892-81D7-3D0E60962BCC}"/>
              </a:ext>
            </a:extLst>
          </p:cNvPr>
          <p:cNvCxnSpPr>
            <a:stCxn id="18" idx="3"/>
            <a:endCxn id="21" idx="1"/>
          </p:cNvCxnSpPr>
          <p:nvPr/>
        </p:nvCxnSpPr>
        <p:spPr>
          <a:xfrm>
            <a:off x="3662442" y="4747878"/>
            <a:ext cx="334242" cy="11384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연결선: 꺾임 45">
            <a:extLst>
              <a:ext uri="{FF2B5EF4-FFF2-40B4-BE49-F238E27FC236}">
                <a16:creationId xmlns:a16="http://schemas.microsoft.com/office/drawing/2014/main" id="{5F50DBB7-BB14-4657-A1B7-ECDB27B38B63}"/>
              </a:ext>
            </a:extLst>
          </p:cNvPr>
          <p:cNvCxnSpPr>
            <a:stCxn id="19" idx="3"/>
            <a:endCxn id="23" idx="1"/>
          </p:cNvCxnSpPr>
          <p:nvPr/>
        </p:nvCxnSpPr>
        <p:spPr>
          <a:xfrm flipV="1">
            <a:off x="3662442" y="5758848"/>
            <a:ext cx="334242" cy="17422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연결선: 꺾임 47">
            <a:extLst>
              <a:ext uri="{FF2B5EF4-FFF2-40B4-BE49-F238E27FC236}">
                <a16:creationId xmlns:a16="http://schemas.microsoft.com/office/drawing/2014/main" id="{AA182F24-0EAC-4F1A-8C79-B5C2ECDEFF9D}"/>
              </a:ext>
            </a:extLst>
          </p:cNvPr>
          <p:cNvCxnSpPr>
            <a:stCxn id="19" idx="3"/>
            <a:endCxn id="24" idx="1"/>
          </p:cNvCxnSpPr>
          <p:nvPr/>
        </p:nvCxnSpPr>
        <p:spPr>
          <a:xfrm>
            <a:off x="3662442" y="5933076"/>
            <a:ext cx="334242" cy="26595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연결선: 꺾임 49">
            <a:extLst>
              <a:ext uri="{FF2B5EF4-FFF2-40B4-BE49-F238E27FC236}">
                <a16:creationId xmlns:a16="http://schemas.microsoft.com/office/drawing/2014/main" id="{C614E993-A8CC-4CEE-A785-5DA49D8C0863}"/>
              </a:ext>
            </a:extLst>
          </p:cNvPr>
          <p:cNvCxnSpPr>
            <a:stCxn id="23" idx="3"/>
            <a:endCxn id="25" idx="1"/>
          </p:cNvCxnSpPr>
          <p:nvPr/>
        </p:nvCxnSpPr>
        <p:spPr>
          <a:xfrm flipV="1">
            <a:off x="5323363" y="5171538"/>
            <a:ext cx="325536" cy="58731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연결선: 꺾임 51">
            <a:extLst>
              <a:ext uri="{FF2B5EF4-FFF2-40B4-BE49-F238E27FC236}">
                <a16:creationId xmlns:a16="http://schemas.microsoft.com/office/drawing/2014/main" id="{801C308D-C6FF-452D-B3E8-CD7AE4A9ABCD}"/>
              </a:ext>
            </a:extLst>
          </p:cNvPr>
          <p:cNvCxnSpPr>
            <a:stCxn id="23" idx="3"/>
            <a:endCxn id="26" idx="1"/>
          </p:cNvCxnSpPr>
          <p:nvPr/>
        </p:nvCxnSpPr>
        <p:spPr>
          <a:xfrm>
            <a:off x="5323363" y="5758848"/>
            <a:ext cx="325536" cy="22828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연결선: 꺾임 53">
            <a:extLst>
              <a:ext uri="{FF2B5EF4-FFF2-40B4-BE49-F238E27FC236}">
                <a16:creationId xmlns:a16="http://schemas.microsoft.com/office/drawing/2014/main" id="{CF8DAA59-E95E-4186-A198-7391729F10C5}"/>
              </a:ext>
            </a:extLst>
          </p:cNvPr>
          <p:cNvCxnSpPr>
            <a:stCxn id="25" idx="3"/>
            <a:endCxn id="27" idx="1"/>
          </p:cNvCxnSpPr>
          <p:nvPr/>
        </p:nvCxnSpPr>
        <p:spPr>
          <a:xfrm flipV="1">
            <a:off x="6975578" y="4461119"/>
            <a:ext cx="389803" cy="71041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연결선: 꺾임 55">
            <a:extLst>
              <a:ext uri="{FF2B5EF4-FFF2-40B4-BE49-F238E27FC236}">
                <a16:creationId xmlns:a16="http://schemas.microsoft.com/office/drawing/2014/main" id="{A8BAB1ED-F912-46F7-B36A-E53581FD1BC5}"/>
              </a:ext>
            </a:extLst>
          </p:cNvPr>
          <p:cNvCxnSpPr>
            <a:stCxn id="25" idx="3"/>
            <a:endCxn id="29" idx="1"/>
          </p:cNvCxnSpPr>
          <p:nvPr/>
        </p:nvCxnSpPr>
        <p:spPr>
          <a:xfrm>
            <a:off x="6975578" y="5171538"/>
            <a:ext cx="389803" cy="14203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연결선: 꺾임 57">
            <a:extLst>
              <a:ext uri="{FF2B5EF4-FFF2-40B4-BE49-F238E27FC236}">
                <a16:creationId xmlns:a16="http://schemas.microsoft.com/office/drawing/2014/main" id="{E23EFB4C-7436-4C8E-A494-C0764B47189F}"/>
              </a:ext>
            </a:extLst>
          </p:cNvPr>
          <p:cNvCxnSpPr>
            <a:stCxn id="25" idx="3"/>
            <a:endCxn id="28" idx="1"/>
          </p:cNvCxnSpPr>
          <p:nvPr/>
        </p:nvCxnSpPr>
        <p:spPr>
          <a:xfrm flipV="1">
            <a:off x="6975578" y="4884588"/>
            <a:ext cx="389803" cy="2869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연결선: 꺾임 59">
            <a:extLst>
              <a:ext uri="{FF2B5EF4-FFF2-40B4-BE49-F238E27FC236}">
                <a16:creationId xmlns:a16="http://schemas.microsoft.com/office/drawing/2014/main" id="{AF5C3EC7-D9F3-42E5-B44B-9270F5D4C0C2}"/>
              </a:ext>
            </a:extLst>
          </p:cNvPr>
          <p:cNvCxnSpPr>
            <a:stCxn id="26" idx="3"/>
            <a:endCxn id="34" idx="1"/>
          </p:cNvCxnSpPr>
          <p:nvPr/>
        </p:nvCxnSpPr>
        <p:spPr>
          <a:xfrm>
            <a:off x="6975578" y="5987133"/>
            <a:ext cx="389803" cy="212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연결선: 꺾임 61">
            <a:extLst>
              <a:ext uri="{FF2B5EF4-FFF2-40B4-BE49-F238E27FC236}">
                <a16:creationId xmlns:a16="http://schemas.microsoft.com/office/drawing/2014/main" id="{A67B1319-BBD5-4211-8034-1F4912882DFE}"/>
              </a:ext>
            </a:extLst>
          </p:cNvPr>
          <p:cNvCxnSpPr>
            <a:stCxn id="26" idx="3"/>
            <a:endCxn id="35" idx="1"/>
          </p:cNvCxnSpPr>
          <p:nvPr/>
        </p:nvCxnSpPr>
        <p:spPr>
          <a:xfrm>
            <a:off x="6975578" y="5987133"/>
            <a:ext cx="389803" cy="43111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연결선: 꺾임 63">
            <a:extLst>
              <a:ext uri="{FF2B5EF4-FFF2-40B4-BE49-F238E27FC236}">
                <a16:creationId xmlns:a16="http://schemas.microsoft.com/office/drawing/2014/main" id="{C786560F-5B36-470D-A305-7A03493127FF}"/>
              </a:ext>
            </a:extLst>
          </p:cNvPr>
          <p:cNvCxnSpPr>
            <a:stCxn id="27" idx="3"/>
            <a:endCxn id="30" idx="1"/>
          </p:cNvCxnSpPr>
          <p:nvPr/>
        </p:nvCxnSpPr>
        <p:spPr>
          <a:xfrm flipV="1">
            <a:off x="9078211" y="4349940"/>
            <a:ext cx="673327" cy="11117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연결선: 꺾임 65">
            <a:extLst>
              <a:ext uri="{FF2B5EF4-FFF2-40B4-BE49-F238E27FC236}">
                <a16:creationId xmlns:a16="http://schemas.microsoft.com/office/drawing/2014/main" id="{27008CE9-3D91-4686-86FB-25F159CCDC6D}"/>
              </a:ext>
            </a:extLst>
          </p:cNvPr>
          <p:cNvCxnSpPr>
            <a:cxnSpLocks/>
            <a:stCxn id="27" idx="3"/>
            <a:endCxn id="31" idx="1"/>
          </p:cNvCxnSpPr>
          <p:nvPr/>
        </p:nvCxnSpPr>
        <p:spPr>
          <a:xfrm>
            <a:off x="9078211" y="4461119"/>
            <a:ext cx="673327" cy="31229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연결선: 꺾임 68">
            <a:extLst>
              <a:ext uri="{FF2B5EF4-FFF2-40B4-BE49-F238E27FC236}">
                <a16:creationId xmlns:a16="http://schemas.microsoft.com/office/drawing/2014/main" id="{8413A653-7E6D-4456-B85B-C0D563A190AB}"/>
              </a:ext>
            </a:extLst>
          </p:cNvPr>
          <p:cNvCxnSpPr>
            <a:stCxn id="28" idx="3"/>
            <a:endCxn id="32" idx="1"/>
          </p:cNvCxnSpPr>
          <p:nvPr/>
        </p:nvCxnSpPr>
        <p:spPr>
          <a:xfrm>
            <a:off x="9078211" y="4884588"/>
            <a:ext cx="673327" cy="30151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연결선: 꺾임 70">
            <a:extLst>
              <a:ext uri="{FF2B5EF4-FFF2-40B4-BE49-F238E27FC236}">
                <a16:creationId xmlns:a16="http://schemas.microsoft.com/office/drawing/2014/main" id="{98C13B22-2AC6-4AA9-B45A-68DDF7C419FC}"/>
              </a:ext>
            </a:extLst>
          </p:cNvPr>
          <p:cNvCxnSpPr>
            <a:stCxn id="29" idx="3"/>
            <a:endCxn id="33" idx="1"/>
          </p:cNvCxnSpPr>
          <p:nvPr/>
        </p:nvCxnSpPr>
        <p:spPr>
          <a:xfrm>
            <a:off x="9078211" y="5313576"/>
            <a:ext cx="673327" cy="29749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3362018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37</a:t>
            </a:r>
            <a:r>
              <a:rPr lang="ko-KR" altLang="en-US" dirty="0"/>
              <a:t>조</a:t>
            </a:r>
          </a:p>
        </p:txBody>
      </p:sp>
      <p:sp>
        <p:nvSpPr>
          <p:cNvPr id="4" name="텍스트 개체 틀 3"/>
          <p:cNvSpPr>
            <a:spLocks noGrp="1"/>
          </p:cNvSpPr>
          <p:nvPr>
            <p:ph type="body" sz="quarter" idx="13"/>
          </p:nvPr>
        </p:nvSpPr>
        <p:spPr/>
        <p:txBody>
          <a:bodyPr/>
          <a:lstStyle/>
          <a:p>
            <a:r>
              <a:rPr lang="ko-KR" altLang="en-US" dirty="0"/>
              <a:t>제</a:t>
            </a:r>
            <a:r>
              <a:rPr lang="en-US" altLang="ko-KR" dirty="0"/>
              <a:t>37</a:t>
            </a:r>
            <a:r>
              <a:rPr lang="ko-KR" altLang="en-US" dirty="0"/>
              <a:t>조제</a:t>
            </a:r>
            <a:r>
              <a:rPr lang="en-US" altLang="ko-KR" dirty="0"/>
              <a:t>3</a:t>
            </a:r>
            <a:r>
              <a:rPr lang="ko-KR" altLang="en-US" dirty="0"/>
              <a:t>항의 개념</a:t>
            </a:r>
          </a:p>
        </p:txBody>
      </p:sp>
      <p:sp>
        <p:nvSpPr>
          <p:cNvPr id="18" name="TextBox 17"/>
          <p:cNvSpPr txBox="1"/>
          <p:nvPr/>
        </p:nvSpPr>
        <p:spPr>
          <a:xfrm>
            <a:off x="695967" y="1746507"/>
            <a:ext cx="1043876" cy="592672"/>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a:t>
            </a:r>
          </a:p>
        </p:txBody>
      </p:sp>
      <p:sp>
        <p:nvSpPr>
          <p:cNvPr id="19" name="TextBox 18"/>
          <p:cNvSpPr txBox="1"/>
          <p:nvPr/>
        </p:nvSpPr>
        <p:spPr>
          <a:xfrm>
            <a:off x="695967" y="3980749"/>
            <a:ext cx="1043876" cy="592672"/>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무체물</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0" name="TextBox 19"/>
          <p:cNvSpPr txBox="1"/>
          <p:nvPr/>
        </p:nvSpPr>
        <p:spPr>
          <a:xfrm>
            <a:off x="695968" y="5084930"/>
            <a:ext cx="1043876" cy="592672"/>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점유 수반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 name="TextBox 20"/>
          <p:cNvSpPr txBox="1"/>
          <p:nvPr/>
        </p:nvSpPr>
        <p:spPr>
          <a:xfrm>
            <a:off x="2312157" y="1427453"/>
            <a:ext cx="3436861" cy="592672"/>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공유자 모두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지분 비율 무관</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 전체 실시</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99</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③</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 name="TextBox 21"/>
          <p:cNvSpPr txBox="1"/>
          <p:nvPr/>
        </p:nvSpPr>
        <p:spPr>
          <a:xfrm>
            <a:off x="2312159" y="2985788"/>
            <a:ext cx="3436860" cy="592672"/>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지분 비율보다는 자본력</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기술력</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신용력</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등 다른 요인</a:t>
            </a:r>
          </a:p>
        </p:txBody>
      </p:sp>
      <p:sp>
        <p:nvSpPr>
          <p:cNvPr id="23" name="TextBox 22"/>
          <p:cNvSpPr txBox="1"/>
          <p:nvPr/>
        </p:nvSpPr>
        <p:spPr>
          <a:xfrm>
            <a:off x="695967" y="2807556"/>
            <a:ext cx="1043876" cy="592672"/>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기술적 사상</a:t>
            </a:r>
          </a:p>
        </p:txBody>
      </p:sp>
      <p:cxnSp>
        <p:nvCxnSpPr>
          <p:cNvPr id="7" name="직선 화살표 연결선 6"/>
          <p:cNvCxnSpPr>
            <a:stCxn id="18" idx="2"/>
            <a:endCxn id="23" idx="0"/>
          </p:cNvCxnSpPr>
          <p:nvPr/>
        </p:nvCxnSpPr>
        <p:spPr>
          <a:xfrm>
            <a:off x="1217905" y="2339179"/>
            <a:ext cx="0" cy="468377"/>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 name="직선 연결선 25"/>
          <p:cNvCxnSpPr>
            <a:stCxn id="23" idx="2"/>
          </p:cNvCxnSpPr>
          <p:nvPr/>
        </p:nvCxnSpPr>
        <p:spPr>
          <a:xfrm>
            <a:off x="1217905" y="3400228"/>
            <a:ext cx="1" cy="580521"/>
          </a:xfrm>
          <a:prstGeom prst="line">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직선 연결선 27"/>
          <p:cNvCxnSpPr>
            <a:stCxn id="19" idx="2"/>
            <a:endCxn id="20" idx="0"/>
          </p:cNvCxnSpPr>
          <p:nvPr/>
        </p:nvCxnSpPr>
        <p:spPr>
          <a:xfrm>
            <a:off x="1217905" y="4573421"/>
            <a:ext cx="1" cy="511509"/>
          </a:xfrm>
          <a:prstGeom prst="line">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 name="꺾인 연결선 29"/>
          <p:cNvCxnSpPr>
            <a:stCxn id="20" idx="2"/>
            <a:endCxn id="21" idx="0"/>
          </p:cNvCxnSpPr>
          <p:nvPr/>
        </p:nvCxnSpPr>
        <p:spPr>
          <a:xfrm rot="5400000" flipH="1" flipV="1">
            <a:off x="499172" y="2146187"/>
            <a:ext cx="4250149" cy="2812682"/>
          </a:xfrm>
          <a:prstGeom prst="bentConnector5">
            <a:avLst>
              <a:gd name="adj1" fmla="val -5379"/>
              <a:gd name="adj2" fmla="val 28730"/>
              <a:gd name="adj3" fmla="val 105379"/>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 name="직선 연결선 33"/>
          <p:cNvCxnSpPr>
            <a:stCxn id="22" idx="0"/>
            <a:endCxn id="21" idx="2"/>
          </p:cNvCxnSpPr>
          <p:nvPr/>
        </p:nvCxnSpPr>
        <p:spPr>
          <a:xfrm flipH="1" flipV="1">
            <a:off x="4030588" y="2020125"/>
            <a:ext cx="1" cy="965663"/>
          </a:xfrm>
          <a:prstGeom prst="line">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3633409" y="2332095"/>
            <a:ext cx="809837" cy="369332"/>
          </a:xfrm>
          <a:prstGeom prst="rect">
            <a:avLst/>
          </a:prstGeom>
          <a:solidFill>
            <a:schemeClr val="bg1"/>
          </a:solid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C000">
                    <a:lumMod val="50000"/>
                  </a:srgbClr>
                </a:solidFill>
                <a:effectLst/>
                <a:uLnTx/>
                <a:uFillTx/>
                <a:latin typeface="Frutiger LT 65 Bold"/>
                <a:ea typeface="Rix모던고딕 B"/>
                <a:cs typeface="+mn-cs"/>
              </a:rPr>
              <a:t>영향력</a:t>
            </a:r>
          </a:p>
        </p:txBody>
      </p:sp>
      <p:sp>
        <p:nvSpPr>
          <p:cNvPr id="36" name="왼쪽 화살표 35"/>
          <p:cNvSpPr/>
          <p:nvPr/>
        </p:nvSpPr>
        <p:spPr>
          <a:xfrm>
            <a:off x="4571998" y="2332095"/>
            <a:ext cx="575733" cy="369332"/>
          </a:xfrm>
          <a:prstGeom prst="leftArrow">
            <a:avLst/>
          </a:prstGeom>
          <a:solidFill>
            <a:schemeClr val="bg1">
              <a:lumMod val="8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7" name="TextBox 36"/>
          <p:cNvSpPr txBox="1"/>
          <p:nvPr/>
        </p:nvSpPr>
        <p:spPr>
          <a:xfrm>
            <a:off x="5242075" y="2332095"/>
            <a:ext cx="601447" cy="369332"/>
          </a:xfrm>
          <a:prstGeom prst="rect">
            <a:avLst/>
          </a:prstGeom>
          <a:solidFill>
            <a:srgbClr val="FF0000"/>
          </a:solid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제한</a:t>
            </a:r>
          </a:p>
        </p:txBody>
      </p:sp>
      <p:sp>
        <p:nvSpPr>
          <p:cNvPr id="38" name="TextBox 37"/>
          <p:cNvSpPr txBox="1"/>
          <p:nvPr/>
        </p:nvSpPr>
        <p:spPr>
          <a:xfrm>
            <a:off x="6122609" y="1561841"/>
            <a:ext cx="670376" cy="307777"/>
          </a:xfrm>
          <a:prstGeom prst="rect">
            <a:avLst/>
          </a:prstGeom>
          <a:solidFill>
            <a:schemeClr val="bg1"/>
          </a:solidFill>
          <a:ln>
            <a:solidFill>
              <a:schemeClr val="bg1">
                <a:lumMod val="50000"/>
              </a:schemeClr>
            </a:solidFill>
          </a:ln>
        </p:spPr>
        <p:txBody>
          <a:bodyPr wrap="square" rtlCol="0">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a:ln>
                  <a:noFill/>
                </a:ln>
                <a:solidFill>
                  <a:srgbClr val="5B9BD5">
                    <a:lumMod val="50000"/>
                  </a:srgbClr>
                </a:solidFill>
                <a:effectLst/>
                <a:uLnTx/>
                <a:uFillTx/>
                <a:latin typeface="Frutiger LT 65 Bold"/>
                <a:ea typeface="Rix모던고딕 B"/>
                <a:cs typeface="+mn-cs"/>
              </a:rPr>
              <a:t>등록전</a:t>
            </a:r>
            <a:endParaRPr kumimoji="0" lang="ko-KR" altLang="en-US" sz="1400" b="1" i="0" u="none" strike="noStrike" kern="1200" cap="none" spc="0" normalizeH="0" baseline="0" noProof="0" dirty="0">
              <a:ln>
                <a:noFill/>
              </a:ln>
              <a:solidFill>
                <a:srgbClr val="5B9BD5">
                  <a:lumMod val="50000"/>
                </a:srgbClr>
              </a:solidFill>
              <a:effectLst/>
              <a:uLnTx/>
              <a:uFillTx/>
              <a:latin typeface="Frutiger LT 65 Bold"/>
              <a:ea typeface="Rix모던고딕 B"/>
              <a:cs typeface="+mn-cs"/>
            </a:endParaRPr>
          </a:p>
        </p:txBody>
      </p:sp>
      <p:sp>
        <p:nvSpPr>
          <p:cNvPr id="39" name="TextBox 38"/>
          <p:cNvSpPr txBox="1"/>
          <p:nvPr/>
        </p:nvSpPr>
        <p:spPr>
          <a:xfrm>
            <a:off x="6122609" y="2517534"/>
            <a:ext cx="670376" cy="307777"/>
          </a:xfrm>
          <a:prstGeom prst="rect">
            <a:avLst/>
          </a:prstGeom>
          <a:solidFill>
            <a:schemeClr val="bg1"/>
          </a:solidFill>
          <a:ln>
            <a:solidFill>
              <a:schemeClr val="bg1">
                <a:lumMod val="50000"/>
              </a:schemeClr>
            </a:solidFill>
          </a:ln>
        </p:spPr>
        <p:txBody>
          <a:bodyPr wrap="square" rtlCol="0">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err="1">
                <a:ln>
                  <a:noFill/>
                </a:ln>
                <a:solidFill>
                  <a:srgbClr val="5B9BD5">
                    <a:lumMod val="50000"/>
                  </a:srgbClr>
                </a:solidFill>
                <a:effectLst/>
                <a:uLnTx/>
                <a:uFillTx/>
                <a:latin typeface="Frutiger LT 65 Bold"/>
                <a:ea typeface="Rix모던고딕 B"/>
                <a:cs typeface="+mn-cs"/>
              </a:rPr>
              <a:t>등록후</a:t>
            </a:r>
            <a:endParaRPr kumimoji="0" lang="ko-KR" altLang="en-US" sz="1400" b="1" i="0" u="none" strike="noStrike" kern="1200" cap="none" spc="0" normalizeH="0" baseline="0" noProof="0" dirty="0">
              <a:ln>
                <a:noFill/>
              </a:ln>
              <a:solidFill>
                <a:srgbClr val="5B9BD5">
                  <a:lumMod val="50000"/>
                </a:srgbClr>
              </a:solidFill>
              <a:effectLst/>
              <a:uLnTx/>
              <a:uFillTx/>
              <a:latin typeface="Frutiger LT 65 Bold"/>
              <a:ea typeface="Rix모던고딕 B"/>
              <a:cs typeface="+mn-cs"/>
            </a:endParaRPr>
          </a:p>
        </p:txBody>
      </p:sp>
      <p:sp>
        <p:nvSpPr>
          <p:cNvPr id="40" name="직사각형 39"/>
          <p:cNvSpPr/>
          <p:nvPr/>
        </p:nvSpPr>
        <p:spPr>
          <a:xfrm>
            <a:off x="6883400" y="1492956"/>
            <a:ext cx="4960668" cy="461665"/>
          </a:xfrm>
          <a:prstGeom prst="rect">
            <a:avLst/>
          </a:prstGeom>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1"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1" i="0" u="none" strike="noStrike" kern="1200" cap="none" spc="0" normalizeH="0" baseline="0" noProof="0" dirty="0">
                <a:ln>
                  <a:noFill/>
                </a:ln>
                <a:solidFill>
                  <a:srgbClr val="44546A"/>
                </a:solidFill>
                <a:effectLst/>
                <a:uLnTx/>
                <a:uFillTx/>
                <a:latin typeface="Frutiger LT 65 Bold"/>
                <a:ea typeface="Rix모던고딕 B"/>
                <a:cs typeface="+mn-cs"/>
              </a:rPr>
              <a:t>37</a:t>
            </a:r>
            <a:r>
              <a:rPr kumimoji="0" lang="ko-KR" altLang="en-US" sz="1200" b="1"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1"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200" b="1" i="0" u="none" strike="noStrike" kern="1200" cap="none" spc="0" normalizeH="0" baseline="0" noProof="0" dirty="0">
                <a:ln>
                  <a:noFill/>
                </a:ln>
                <a:solidFill>
                  <a:srgbClr val="44546A"/>
                </a:solidFill>
                <a:effectLst/>
                <a:uLnTx/>
                <a:uFillTx/>
                <a:latin typeface="Frutiger LT 65 Bold"/>
                <a:ea typeface="Rix모던고딕 B"/>
                <a:cs typeface="+mn-cs"/>
              </a:rPr>
              <a:t>항</a:t>
            </a:r>
            <a:r>
              <a:rPr kumimoji="0" lang="en-US" altLang="ko-KR" sz="1200" b="1"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권리가 공유인 경우에는 각 공유자는 다른 공유자 모두의 동의를 받아야만 그 지분을 양도할 수 있다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41" name="직사각형 40"/>
          <p:cNvSpPr/>
          <p:nvPr/>
        </p:nvSpPr>
        <p:spPr>
          <a:xfrm>
            <a:off x="6874933" y="2186579"/>
            <a:ext cx="4960668" cy="1200329"/>
          </a:xfrm>
          <a:prstGeom prst="rect">
            <a:avLst/>
          </a:prstGeom>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1"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1" i="0" u="none" strike="noStrike" kern="1200" cap="none" spc="0" normalizeH="0" baseline="0" noProof="0" dirty="0">
                <a:ln>
                  <a:noFill/>
                </a:ln>
                <a:solidFill>
                  <a:srgbClr val="44546A"/>
                </a:solidFill>
                <a:effectLst/>
                <a:uLnTx/>
                <a:uFillTx/>
                <a:latin typeface="Frutiger LT 65 Bold"/>
                <a:ea typeface="Rix모던고딕 B"/>
                <a:cs typeface="+mn-cs"/>
              </a:rPr>
              <a:t>99</a:t>
            </a:r>
            <a:r>
              <a:rPr kumimoji="0" lang="ko-KR" altLang="en-US" sz="1200" b="1"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1"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200" b="1" i="0" u="none" strike="noStrike" kern="1200" cap="none" spc="0" normalizeH="0" baseline="0" noProof="0" dirty="0">
                <a:ln>
                  <a:noFill/>
                </a:ln>
                <a:solidFill>
                  <a:srgbClr val="44546A"/>
                </a:solidFill>
                <a:effectLst/>
                <a:uLnTx/>
                <a:uFillTx/>
                <a:latin typeface="Frutiger LT 65 Bold"/>
                <a:ea typeface="Rix모던고딕 B"/>
                <a:cs typeface="+mn-cs"/>
              </a:rPr>
              <a:t>항</a:t>
            </a:r>
            <a:r>
              <a:rPr kumimoji="0" lang="en-US" altLang="ko-KR" sz="1200" b="1"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특허권이 공유인 경우에는 각 공유자는 다른 공유자 모두의 동의를 받아야만 그 지분을 양도하거나 그 지분을 목적으로 하는 질권을 설정할 수 있다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1"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1" i="0" u="none" strike="noStrike" kern="1200" cap="none" spc="0" normalizeH="0" baseline="0" noProof="0" dirty="0">
                <a:ln>
                  <a:noFill/>
                </a:ln>
                <a:solidFill>
                  <a:srgbClr val="44546A"/>
                </a:solidFill>
                <a:effectLst/>
                <a:uLnTx/>
                <a:uFillTx/>
                <a:latin typeface="Frutiger LT 65 Bold"/>
                <a:ea typeface="Rix모던고딕 B"/>
                <a:cs typeface="+mn-cs"/>
              </a:rPr>
              <a:t>99</a:t>
            </a:r>
            <a:r>
              <a:rPr kumimoji="0" lang="ko-KR" altLang="en-US" sz="1200" b="1"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1"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200" b="1" i="0" u="none" strike="noStrike" kern="1200" cap="none" spc="0" normalizeH="0" baseline="0" noProof="0" dirty="0">
                <a:ln>
                  <a:noFill/>
                </a:ln>
                <a:solidFill>
                  <a:srgbClr val="44546A"/>
                </a:solidFill>
                <a:effectLst/>
                <a:uLnTx/>
                <a:uFillTx/>
                <a:latin typeface="Frutiger LT 65 Bold"/>
                <a:ea typeface="Rix모던고딕 B"/>
                <a:cs typeface="+mn-cs"/>
              </a:rPr>
              <a:t>항</a:t>
            </a:r>
            <a:r>
              <a:rPr kumimoji="0" lang="en-US" altLang="ko-KR" sz="1200" b="1"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특허권이 공유인 경우에는 각 공유자는 다른 공유자 모두의 동의를 받아야만 그 특허권에 대하여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전용실시권을</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설정하거나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통상실시권을</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허락할 수 있다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cxnSp>
        <p:nvCxnSpPr>
          <p:cNvPr id="43" name="꺾인 연결선 42"/>
          <p:cNvCxnSpPr>
            <a:stCxn id="37" idx="3"/>
            <a:endCxn id="38" idx="1"/>
          </p:cNvCxnSpPr>
          <p:nvPr/>
        </p:nvCxnSpPr>
        <p:spPr>
          <a:xfrm flipV="1">
            <a:off x="5843522" y="1715730"/>
            <a:ext cx="279087" cy="80103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37" idx="3"/>
            <a:endCxn id="39" idx="1"/>
          </p:cNvCxnSpPr>
          <p:nvPr/>
        </p:nvCxnSpPr>
        <p:spPr>
          <a:xfrm>
            <a:off x="5843522" y="2516761"/>
            <a:ext cx="279087" cy="15466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직선 연결선 45"/>
          <p:cNvCxnSpPr/>
          <p:nvPr/>
        </p:nvCxnSpPr>
        <p:spPr>
          <a:xfrm>
            <a:off x="2312159" y="3886200"/>
            <a:ext cx="953190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9" name="표 48"/>
          <p:cNvGraphicFramePr>
            <a:graphicFrameLocks noGrp="1"/>
          </p:cNvGraphicFramePr>
          <p:nvPr/>
        </p:nvGraphicFramePr>
        <p:xfrm>
          <a:off x="2428427" y="4421024"/>
          <a:ext cx="3489772" cy="1569720"/>
        </p:xfrm>
        <a:graphic>
          <a:graphicData uri="http://schemas.openxmlformats.org/drawingml/2006/table">
            <a:tbl>
              <a:tblPr firstRow="1">
                <a:tableStyleId>{69CF1AB2-1976-4502-BF36-3FF5EA218861}</a:tableStyleId>
              </a:tblPr>
              <a:tblGrid>
                <a:gridCol w="872443">
                  <a:extLst>
                    <a:ext uri="{9D8B030D-6E8A-4147-A177-3AD203B41FA5}">
                      <a16:colId xmlns:a16="http://schemas.microsoft.com/office/drawing/2014/main" val="20000"/>
                    </a:ext>
                  </a:extLst>
                </a:gridCol>
                <a:gridCol w="872443">
                  <a:extLst>
                    <a:ext uri="{9D8B030D-6E8A-4147-A177-3AD203B41FA5}">
                      <a16:colId xmlns:a16="http://schemas.microsoft.com/office/drawing/2014/main" val="20001"/>
                    </a:ext>
                  </a:extLst>
                </a:gridCol>
                <a:gridCol w="872443">
                  <a:extLst>
                    <a:ext uri="{9D8B030D-6E8A-4147-A177-3AD203B41FA5}">
                      <a16:colId xmlns:a16="http://schemas.microsoft.com/office/drawing/2014/main" val="20002"/>
                    </a:ext>
                  </a:extLst>
                </a:gridCol>
                <a:gridCol w="872443">
                  <a:extLst>
                    <a:ext uri="{9D8B030D-6E8A-4147-A177-3AD203B41FA5}">
                      <a16:colId xmlns:a16="http://schemas.microsoft.com/office/drawing/2014/main" val="20003"/>
                    </a:ext>
                  </a:extLst>
                </a:gridCol>
              </a:tblGrid>
              <a:tr h="370840">
                <a:tc>
                  <a:txBody>
                    <a:bodyPr/>
                    <a:lstStyle/>
                    <a:p>
                      <a:pPr algn="ctr" latinLnBrk="1"/>
                      <a:r>
                        <a:rPr lang="ko-KR" altLang="en-US" sz="1200" dirty="0"/>
                        <a:t>공유</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1200" dirty="0"/>
                        <a:t>지분</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1200" dirty="0"/>
                        <a:t>자본</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1200" dirty="0"/>
                        <a:t>상대적 </a:t>
                      </a:r>
                      <a:endParaRPr lang="en-US" altLang="ko-KR" sz="1200" dirty="0"/>
                    </a:p>
                    <a:p>
                      <a:pPr algn="ctr" latinLnBrk="1"/>
                      <a:r>
                        <a:rPr lang="ko-KR" altLang="en-US" sz="1200" dirty="0"/>
                        <a:t>우위</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0"/>
                  </a:ext>
                </a:extLst>
              </a:tr>
              <a:tr h="370840">
                <a:tc>
                  <a:txBody>
                    <a:bodyPr/>
                    <a:lstStyle/>
                    <a:p>
                      <a:pPr algn="ctr" latinLnBrk="1"/>
                      <a:r>
                        <a:rPr lang="ko-KR" altLang="en-US" sz="1200" dirty="0"/>
                        <a:t>甲</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t>60%</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백만원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rowSpan="3">
                  <a:txBody>
                    <a:bodyPr/>
                    <a:lstStyle/>
                    <a:p>
                      <a:pPr algn="ctr" latinLnBrk="1"/>
                      <a:r>
                        <a:rPr lang="ko-KR" altLang="en-US" sz="1200" dirty="0"/>
                        <a:t>丙</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370840">
                <a:tc>
                  <a:txBody>
                    <a:bodyPr/>
                    <a:lstStyle/>
                    <a:p>
                      <a:pPr algn="ctr" latinLnBrk="1"/>
                      <a:r>
                        <a:rPr lang="ko-KR" altLang="en-US" sz="1200" dirty="0"/>
                        <a:t>乙</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t>30%</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천만원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algn="ctr" latinLnBrk="1"/>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370840">
                <a:tc>
                  <a:txBody>
                    <a:bodyPr/>
                    <a:lstStyle/>
                    <a:p>
                      <a:pPr algn="ctr" latinLnBrk="1"/>
                      <a:r>
                        <a:rPr lang="ko-KR" altLang="en-US" sz="1200" dirty="0"/>
                        <a:t>丙</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t>10%</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일억원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algn="ctr" latinLnBrk="1"/>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grpSp>
        <p:nvGrpSpPr>
          <p:cNvPr id="54" name="그룹 53"/>
          <p:cNvGrpSpPr/>
          <p:nvPr/>
        </p:nvGrpSpPr>
        <p:grpSpPr>
          <a:xfrm>
            <a:off x="6244163" y="4622800"/>
            <a:ext cx="1443571" cy="982134"/>
            <a:chOff x="6659029" y="4622800"/>
            <a:chExt cx="1443571" cy="982134"/>
          </a:xfrm>
        </p:grpSpPr>
        <p:sp>
          <p:nvSpPr>
            <p:cNvPr id="51" name="오른쪽 화살표 50"/>
            <p:cNvSpPr/>
            <p:nvPr/>
          </p:nvSpPr>
          <p:spPr>
            <a:xfrm>
              <a:off x="6680200" y="4622800"/>
              <a:ext cx="1422400" cy="982134"/>
            </a:xfrm>
            <a:prstGeom prst="rightArrow">
              <a:avLst>
                <a:gd name="adj1" fmla="val 71348"/>
                <a:gd name="adj2" fmla="val 51191"/>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dirty="0">
                <a:ln>
                  <a:noFill/>
                </a:ln>
                <a:solidFill>
                  <a:prstClr val="black">
                    <a:lumMod val="50000"/>
                    <a:lumOff val="50000"/>
                  </a:prstClr>
                </a:solidFill>
                <a:effectLst/>
                <a:uLnTx/>
                <a:uFillTx/>
                <a:latin typeface="Frutiger LT 65 Bold"/>
                <a:ea typeface="Rix모던고딕 B"/>
                <a:cs typeface="+mn-cs"/>
              </a:endParaRPr>
            </a:p>
          </p:txBody>
        </p:sp>
        <p:sp>
          <p:nvSpPr>
            <p:cNvPr id="52" name="TextBox 51"/>
            <p:cNvSpPr txBox="1"/>
            <p:nvPr/>
          </p:nvSpPr>
          <p:spPr>
            <a:xfrm>
              <a:off x="6659029" y="4823320"/>
              <a:ext cx="1278467" cy="52322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甲이 丁에게 </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지분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5%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양도</a:t>
              </a:r>
            </a:p>
          </p:txBody>
        </p:sp>
      </p:grpSp>
      <p:graphicFrame>
        <p:nvGraphicFramePr>
          <p:cNvPr id="55" name="표 54"/>
          <p:cNvGraphicFramePr>
            <a:graphicFrameLocks noGrp="1"/>
          </p:cNvGraphicFramePr>
          <p:nvPr/>
        </p:nvGraphicFramePr>
        <p:xfrm>
          <a:off x="8024893" y="4421024"/>
          <a:ext cx="3489772" cy="1940560"/>
        </p:xfrm>
        <a:graphic>
          <a:graphicData uri="http://schemas.openxmlformats.org/drawingml/2006/table">
            <a:tbl>
              <a:tblPr firstRow="1">
                <a:tableStyleId>{69CF1AB2-1976-4502-BF36-3FF5EA218861}</a:tableStyleId>
              </a:tblPr>
              <a:tblGrid>
                <a:gridCol w="872443">
                  <a:extLst>
                    <a:ext uri="{9D8B030D-6E8A-4147-A177-3AD203B41FA5}">
                      <a16:colId xmlns:a16="http://schemas.microsoft.com/office/drawing/2014/main" val="20000"/>
                    </a:ext>
                  </a:extLst>
                </a:gridCol>
                <a:gridCol w="872443">
                  <a:extLst>
                    <a:ext uri="{9D8B030D-6E8A-4147-A177-3AD203B41FA5}">
                      <a16:colId xmlns:a16="http://schemas.microsoft.com/office/drawing/2014/main" val="20001"/>
                    </a:ext>
                  </a:extLst>
                </a:gridCol>
                <a:gridCol w="872443">
                  <a:extLst>
                    <a:ext uri="{9D8B030D-6E8A-4147-A177-3AD203B41FA5}">
                      <a16:colId xmlns:a16="http://schemas.microsoft.com/office/drawing/2014/main" val="20002"/>
                    </a:ext>
                  </a:extLst>
                </a:gridCol>
                <a:gridCol w="872443">
                  <a:extLst>
                    <a:ext uri="{9D8B030D-6E8A-4147-A177-3AD203B41FA5}">
                      <a16:colId xmlns:a16="http://schemas.microsoft.com/office/drawing/2014/main" val="20003"/>
                    </a:ext>
                  </a:extLst>
                </a:gridCol>
              </a:tblGrid>
              <a:tr h="370840">
                <a:tc>
                  <a:txBody>
                    <a:bodyPr/>
                    <a:lstStyle/>
                    <a:p>
                      <a:pPr algn="ctr" latinLnBrk="1"/>
                      <a:r>
                        <a:rPr lang="ko-KR" altLang="en-US" sz="1200" dirty="0"/>
                        <a:t>공유</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1200" dirty="0"/>
                        <a:t>지분</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1200" dirty="0"/>
                        <a:t>자본</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1200" dirty="0"/>
                        <a:t>상대적 </a:t>
                      </a:r>
                      <a:endParaRPr lang="en-US" altLang="ko-KR" sz="1200" dirty="0"/>
                    </a:p>
                    <a:p>
                      <a:pPr algn="ctr" latinLnBrk="1"/>
                      <a:r>
                        <a:rPr lang="ko-KR" altLang="en-US" sz="1200" dirty="0"/>
                        <a:t>우위</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0"/>
                  </a:ext>
                </a:extLst>
              </a:tr>
              <a:tr h="370840">
                <a:tc>
                  <a:txBody>
                    <a:bodyPr/>
                    <a:lstStyle/>
                    <a:p>
                      <a:pPr algn="ctr" latinLnBrk="1"/>
                      <a:r>
                        <a:rPr lang="ko-KR" altLang="en-US" sz="1200" dirty="0"/>
                        <a:t>甲</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solidFill>
                            <a:srgbClr val="FF0000"/>
                          </a:solidFill>
                        </a:rPr>
                        <a:t>55%</a:t>
                      </a:r>
                      <a:endParaRPr lang="ko-KR" altLang="en-US" sz="1200" dirty="0">
                        <a:solidFill>
                          <a:srgbClr val="FF0000"/>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백만원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rowSpan="4">
                  <a:txBody>
                    <a:bodyPr/>
                    <a:lstStyle/>
                    <a:p>
                      <a:pPr algn="ctr" latinLnBrk="1"/>
                      <a:r>
                        <a:rPr lang="ko-KR" altLang="en-US" sz="1200" dirty="0">
                          <a:solidFill>
                            <a:srgbClr val="FF0000"/>
                          </a:solidFill>
                        </a:rPr>
                        <a:t>丁</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370840">
                <a:tc>
                  <a:txBody>
                    <a:bodyPr/>
                    <a:lstStyle/>
                    <a:p>
                      <a:pPr algn="ctr" latinLnBrk="1"/>
                      <a:r>
                        <a:rPr lang="ko-KR" altLang="en-US" sz="1200" dirty="0"/>
                        <a:t>乙</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t>30%</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천만원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algn="ctr" latinLnBrk="1"/>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370840">
                <a:tc>
                  <a:txBody>
                    <a:bodyPr/>
                    <a:lstStyle/>
                    <a:p>
                      <a:pPr algn="ctr" latinLnBrk="1"/>
                      <a:r>
                        <a:rPr lang="ko-KR" altLang="en-US" sz="1200" dirty="0"/>
                        <a:t>丙</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t>10%</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일억원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algn="ctr" latinLnBrk="1"/>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r h="370840">
                <a:tc>
                  <a:txBody>
                    <a:bodyPr/>
                    <a:lstStyle/>
                    <a:p>
                      <a:pPr algn="ctr" latinLnBrk="1"/>
                      <a:r>
                        <a:rPr lang="ko-KR" altLang="en-US" sz="1200" dirty="0"/>
                        <a:t>丁</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solidFill>
                            <a:srgbClr val="FF0000"/>
                          </a:solidFill>
                        </a:rPr>
                        <a:t>5%</a:t>
                      </a:r>
                      <a:endParaRPr lang="ko-KR" altLang="en-US" sz="1200" dirty="0">
                        <a:solidFill>
                          <a:srgbClr val="FF0000"/>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일조원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algn="ctr" latinLnBrk="1"/>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107</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39869799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37</a:t>
            </a:r>
            <a:r>
              <a:rPr lang="ko-KR" altLang="en-US" dirty="0"/>
              <a:t>조</a:t>
            </a:r>
          </a:p>
        </p:txBody>
      </p:sp>
      <p:sp>
        <p:nvSpPr>
          <p:cNvPr id="4" name="텍스트 개체 틀 3"/>
          <p:cNvSpPr>
            <a:spLocks noGrp="1"/>
          </p:cNvSpPr>
          <p:nvPr>
            <p:ph type="body" sz="quarter" idx="13"/>
          </p:nvPr>
        </p:nvSpPr>
        <p:spPr/>
        <p:txBody>
          <a:bodyPr/>
          <a:lstStyle/>
          <a:p>
            <a:r>
              <a:rPr lang="ko-KR" altLang="en-US" dirty="0"/>
              <a:t>발명자의 추가 또는 정정</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108</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93" name="TextBox 92"/>
          <p:cNvSpPr txBox="1"/>
          <p:nvPr/>
        </p:nvSpPr>
        <p:spPr>
          <a:xfrm>
            <a:off x="77875" y="986046"/>
            <a:ext cx="11936323" cy="3323987"/>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등록 전 출원인과 등록 후 특허권자는 발명자의 추가</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정정을 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등록 전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특허출원인이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착오로 인하여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특허출원서에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발명자의 기재를 일부 누락하거나 잘못 적은 경우에는 발명자를 추가 또는 정정할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특허출원인은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법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66</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조에 따른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특허결정이 있는 때부터 법 제</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87</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항에 따른 특허권의 설정등록을 받기 전</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까지는 발명자를 추가할 수 없고 발명자의 동일성이 유지되지 않는 경우 발명자를 정정할 수 없다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특허출원인은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발명자를 추가 또는 정정하려는 경우에는 보정서에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ⅰ)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발명자의 추가 또는 정정 이유를 기재한 설명서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ⅱ)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특허출원인 및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추가 또는 정정의 대상이 되는 발명자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가 서명 또는 날인한 확인서류</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발명자의 사망 등으로 서명 또는 날인이 불가한 특별한 사유가 있는 경우에는 그 사유를 확인서류에 기재하고 서명 또는 날인을 생략할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를 첨부하여 지식재산처장에게 제출해야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특허출원서에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적은 발명자의 기재가 일부 누락되거나 발명자를 잘못 적은 것임이 명백한 경우에는 확인서류를 첨부하지 않을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施規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28①②).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등록 후 특허권자도 발명자의 추가</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정정을 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특허권자가 발명자를 추가 또는 정정하려는 경우에는 정정발급신청서에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ⅰ)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발명자의 추가 또는 정정 이유를 기재한 설명서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ⅱ)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특허권자 및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신청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전ㆍ후</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발명자 전원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 서명 또는 날인한 확인서류를 첨부하여 지식재산처장에게 제출해야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ⅰ)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특허출원서에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적은 발명자의 기재가 일부 누락된 경우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ⅱ)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발명자를 잘못 적은 것임이 명백한 경우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ⅲ)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특허권자가 법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99</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조의</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특허권 이전등록을 받은 자인 경우에는 확인서류를 첨부하지 않을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施規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28③④).</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진실한 발명자가 발명자로 표시되지 않았으면 발명자는 특허증에 발명자로 기재된 권리를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제한받았기</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때문에 특허권자에게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발명자 인격권의 침해에 대한 손해배상을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청구할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그러나 특허증에 발명자로 표시되는 것은 직무발명의 보상 등과 같은 개인적인 만족을 넘어서 입시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인사 등에서 사회적으로 유의미한 이익을 누리도록 하는 기능이 있고</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수수료를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감면받거나</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확대된 선출원을 회피할 목적으로 악용될 소지가 있으므로 제한하고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또한 감면 대상자를 발명자에 포함하여 부당하게 수수료를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감면받은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경우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감면받은</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특허료 및 수수료의 </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배를 추징</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하고 </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일정 기간 감면을 제한</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法 </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83④)</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함으로써 제도의 악용을 방지하고 공정성을 제고하고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 인격권을 침해하였다고 하여 등록된 특허가 </a:t>
            </a:r>
            <a:r>
              <a:rPr kumimoji="0" lang="ko-KR" altLang="en-US" sz="1400" b="0" i="0" u="none" strike="noStrike" kern="1200" cap="none" spc="0" normalizeH="0" baseline="0" noProof="0" dirty="0" err="1">
                <a:ln>
                  <a:noFill/>
                </a:ln>
                <a:solidFill>
                  <a:srgbClr val="44546A"/>
                </a:solidFill>
                <a:effectLst/>
                <a:highlight>
                  <a:srgbClr val="FFFF00"/>
                </a:highlight>
                <a:uLnTx/>
                <a:uFillTx/>
                <a:latin typeface="Frutiger LT 65 Bold"/>
                <a:ea typeface="Rix모던고딕 B"/>
                <a:cs typeface="+mn-cs"/>
              </a:rPr>
              <a:t>제한열거적인</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무효사유</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法 </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133①</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각호</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에 해당하지 않는다</a:t>
            </a:r>
            <a:r>
              <a:rPr kumimoji="0" lang="en-US" altLang="ko-KR"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rPr>
              <a:t>. </a:t>
            </a:r>
            <a:endParaRPr kumimoji="0" lang="ko-KR" altLang="en-US" sz="1400" b="0" i="0" u="none" strike="noStrike" kern="1200" cap="none" spc="0" normalizeH="0" baseline="0" noProof="0" dirty="0">
              <a:ln>
                <a:noFill/>
              </a:ln>
              <a:solidFill>
                <a:srgbClr val="44546A"/>
              </a:solidFill>
              <a:effectLst/>
              <a:highlight>
                <a:srgbClr val="FFFF00"/>
              </a:highlight>
              <a:uLnTx/>
              <a:uFillTx/>
              <a:latin typeface="Frutiger LT 65 Bold"/>
              <a:ea typeface="Rix모던고딕 B"/>
              <a:cs typeface="+mn-cs"/>
            </a:endParaRPr>
          </a:p>
        </p:txBody>
      </p:sp>
      <p:cxnSp>
        <p:nvCxnSpPr>
          <p:cNvPr id="95" name="직선 연결선 94"/>
          <p:cNvCxnSpPr/>
          <p:nvPr/>
        </p:nvCxnSpPr>
        <p:spPr>
          <a:xfrm>
            <a:off x="0" y="434761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직선 연결선 99"/>
          <p:cNvCxnSpPr/>
          <p:nvPr/>
        </p:nvCxnSpPr>
        <p:spPr>
          <a:xfrm>
            <a:off x="11783864" y="6795984"/>
            <a:ext cx="0" cy="86824"/>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15" name="TextBox 114"/>
          <p:cNvSpPr txBox="1"/>
          <p:nvPr/>
        </p:nvSpPr>
        <p:spPr>
          <a:xfrm>
            <a:off x="233084" y="5170649"/>
            <a:ext cx="3908612" cy="1384995"/>
          </a:xfrm>
          <a:prstGeom prst="rect">
            <a:avLst/>
          </a:prstGeom>
          <a:noFill/>
          <a:ln>
            <a:noFill/>
          </a:ln>
        </p:spPr>
        <p:txBody>
          <a:bodyPr wrap="square" rtlCol="0">
            <a:spAutoFit/>
          </a:bodyPr>
          <a:lstStyle/>
          <a:p>
            <a:pPr marL="92075" marR="0" lvl="0" indent="-92075"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표시상 완전히 일치하지 않더라도 실질적으로 동일한 발명자로 판단되면 발명자가 동일한 것으로 인정된다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2011. 12. 13.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10525).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다만</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발명자가 동일하다는 것은 출원인이 증명하여야 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한편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출원인이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29</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 및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위반된 것을 염려하여 발명자의 추가나 정정신청을 한 경우 심사관은 진정한 발명자인지 여부를 증명할 수 있는 서류를 출원인에게 요구할 수 있다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 name="TextBox 5">
            <a:extLst>
              <a:ext uri="{FF2B5EF4-FFF2-40B4-BE49-F238E27FC236}">
                <a16:creationId xmlns:a16="http://schemas.microsoft.com/office/drawing/2014/main" id="{83168424-E31A-4153-B06B-E07ADBC83727}"/>
              </a:ext>
            </a:extLst>
          </p:cNvPr>
          <p:cNvSpPr txBox="1"/>
          <p:nvPr/>
        </p:nvSpPr>
        <p:spPr>
          <a:xfrm>
            <a:off x="275098" y="4684197"/>
            <a:ext cx="3730508" cy="369332"/>
          </a:xfrm>
          <a:prstGeom prst="rect">
            <a:avLst/>
          </a:prstGeom>
          <a:solidFill>
            <a:schemeClr val="bg1">
              <a:lumMod val="85000"/>
            </a:schemeClr>
          </a:solid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확대된 </a:t>
            </a:r>
            <a:r>
              <a:rPr kumimoji="0" lang="ko-KR" altLang="en-US" sz="1800" b="0" i="0" u="none" strike="noStrike" kern="1200" cap="none" spc="0" normalizeH="0" baseline="0" noProof="0" dirty="0" err="1">
                <a:ln>
                  <a:noFill/>
                </a:ln>
                <a:solidFill>
                  <a:prstClr val="black"/>
                </a:solidFill>
                <a:effectLst/>
                <a:uLnTx/>
                <a:uFillTx/>
                <a:latin typeface="Frutiger LT 65 Bold"/>
                <a:ea typeface="Rix모던고딕 B"/>
                <a:cs typeface="+mn-cs"/>
              </a:rPr>
              <a:t>선출원</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 위반 회피 악용</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방지</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3" name="TextBox 22">
            <a:extLst>
              <a:ext uri="{FF2B5EF4-FFF2-40B4-BE49-F238E27FC236}">
                <a16:creationId xmlns:a16="http://schemas.microsoft.com/office/drawing/2014/main" id="{FBDD8919-62DB-4CD5-8CAE-F75EC9CC1CF2}"/>
              </a:ext>
            </a:extLst>
          </p:cNvPr>
          <p:cNvSpPr txBox="1"/>
          <p:nvPr/>
        </p:nvSpPr>
        <p:spPr>
          <a:xfrm>
            <a:off x="4456044" y="4680144"/>
            <a:ext cx="7418394" cy="646331"/>
          </a:xfrm>
          <a:prstGeom prst="rect">
            <a:avLst/>
          </a:prstGeom>
          <a:solidFill>
            <a:schemeClr val="bg1">
              <a:lumMod val="85000"/>
            </a:schemeClr>
          </a:solidFill>
          <a:ln>
            <a:solidFill>
              <a:schemeClr val="bg1">
                <a:lumMod val="50000"/>
              </a:schemeClr>
            </a:solidFill>
          </a:ln>
        </p:spPr>
        <p:txBody>
          <a:bodyPr wrap="square" rtlCol="0">
            <a:spAutoFit/>
          </a:bodyPr>
          <a:lstStyle/>
          <a:p>
            <a:pPr marL="176213" marR="0" lvl="0" indent="-176213"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甲으로부터 특허를 받을 수 있는 권리를 양수한 乙이 발명자</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출원인을 乙로 기재하여 </a:t>
            </a:r>
            <a:r>
              <a:rPr kumimoji="0" lang="ko-KR" altLang="en-US" sz="1800" b="0" i="0" u="none" strike="noStrike" kern="1200" cap="none" spc="0" normalizeH="0" baseline="0" noProof="0" dirty="0" err="1">
                <a:ln>
                  <a:noFill/>
                </a:ln>
                <a:solidFill>
                  <a:prstClr val="black"/>
                </a:solidFill>
                <a:effectLst/>
                <a:uLnTx/>
                <a:uFillTx/>
                <a:latin typeface="Frutiger LT 65 Bold"/>
                <a:ea typeface="Rix모던고딕 B"/>
                <a:cs typeface="+mn-cs"/>
              </a:rPr>
              <a:t>특허출원한</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 경우</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4" name="TextBox 23">
            <a:extLst>
              <a:ext uri="{FF2B5EF4-FFF2-40B4-BE49-F238E27FC236}">
                <a16:creationId xmlns:a16="http://schemas.microsoft.com/office/drawing/2014/main" id="{21A33203-DC4F-4573-8BEA-22193E13C33A}"/>
              </a:ext>
            </a:extLst>
          </p:cNvPr>
          <p:cNvSpPr txBox="1"/>
          <p:nvPr/>
        </p:nvSpPr>
        <p:spPr>
          <a:xfrm>
            <a:off x="4456044" y="5460469"/>
            <a:ext cx="7486573" cy="1015663"/>
          </a:xfrm>
          <a:prstGeom prst="rect">
            <a:avLst/>
          </a:prstGeom>
          <a:noFill/>
          <a:ln>
            <a:noFill/>
          </a:ln>
        </p:spPr>
        <p:txBody>
          <a:bodyPr wrap="square" rtlCol="0">
            <a:spAutoFit/>
          </a:bodyPr>
          <a:lstStyle/>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등록 전 심사과정에서 발명자 기재에 대한 방식 흠결을 이유로 보정명령 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진정한 발명자임을 증명하지 못하거나 발명자 정정을 하지 않은 경우 출원을 무효로 할 수 있으나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제한열거적인</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거절이유에 해당하지 않음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등록 후에는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제한열거적인</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무효사유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133①</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각호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 해당하지 않음</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2018. 7. 20.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2015</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1669)</a:t>
            </a: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발명자 인격권 침해에 대한 손해배상청구가능</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서울행정법원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2011. 11. 4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2011</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구합</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21942)</a:t>
            </a: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부당 수수료 감면자에 대하여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감면받은</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특허료 및 수수료의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배를 추징하고 일정기간 감면을 제한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83④)</a:t>
            </a:r>
            <a:endPar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Tree>
    <p:extLst>
      <p:ext uri="{BB962C8B-B14F-4D97-AF65-F5344CB8AC3E}">
        <p14:creationId xmlns:p14="http://schemas.microsoft.com/office/powerpoint/2010/main" val="3542444230"/>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37</a:t>
            </a:r>
            <a:r>
              <a:rPr lang="ko-KR" altLang="en-US" dirty="0"/>
              <a:t>조</a:t>
            </a:r>
          </a:p>
        </p:txBody>
      </p:sp>
      <p:sp>
        <p:nvSpPr>
          <p:cNvPr id="4" name="텍스트 개체 틀 3"/>
          <p:cNvSpPr>
            <a:spLocks noGrp="1"/>
          </p:cNvSpPr>
          <p:nvPr>
            <p:ph type="body" sz="quarter" idx="13"/>
          </p:nvPr>
        </p:nvSpPr>
        <p:spPr/>
        <p:txBody>
          <a:bodyPr/>
          <a:lstStyle/>
          <a:p>
            <a:r>
              <a:rPr lang="ko-KR" altLang="en-US" dirty="0" err="1"/>
              <a:t>특허출원서상</a:t>
            </a:r>
            <a:r>
              <a:rPr lang="ko-KR" altLang="en-US" dirty="0"/>
              <a:t> 발명자 허위 기재의 취급</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109</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6" name="TextBox 5">
            <a:extLst>
              <a:ext uri="{FF2B5EF4-FFF2-40B4-BE49-F238E27FC236}">
                <a16:creationId xmlns:a16="http://schemas.microsoft.com/office/drawing/2014/main" id="{83168424-E31A-4153-B06B-E07ADBC83727}"/>
              </a:ext>
            </a:extLst>
          </p:cNvPr>
          <p:cNvSpPr txBox="1"/>
          <p:nvPr/>
        </p:nvSpPr>
        <p:spPr>
          <a:xfrm>
            <a:off x="435012" y="1150854"/>
            <a:ext cx="4160113" cy="646330"/>
          </a:xfrm>
          <a:prstGeom prst="rect">
            <a:avLst/>
          </a:prstGeom>
          <a:solidFill>
            <a:schemeClr val="accent2">
              <a:lumMod val="20000"/>
              <a:lumOff val="80000"/>
            </a:schemeClr>
          </a:solidFill>
          <a:ln>
            <a:solidFill>
              <a:schemeClr val="bg1">
                <a:lumMod val="50000"/>
              </a:schemeClr>
            </a:solidFill>
          </a:ln>
        </p:spPr>
        <p:txBody>
          <a:bodyPr wrap="square" rtlCol="0">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발명자만을 허위 기재한 경우</a:t>
            </a:r>
          </a:p>
        </p:txBody>
      </p:sp>
      <p:sp>
        <p:nvSpPr>
          <p:cNvPr id="9" name="TextBox 8">
            <a:extLst>
              <a:ext uri="{FF2B5EF4-FFF2-40B4-BE49-F238E27FC236}">
                <a16:creationId xmlns:a16="http://schemas.microsoft.com/office/drawing/2014/main" id="{99F3A249-DED7-5240-252B-122068F689E0}"/>
              </a:ext>
            </a:extLst>
          </p:cNvPr>
          <p:cNvSpPr txBox="1"/>
          <p:nvPr/>
        </p:nvSpPr>
        <p:spPr>
          <a:xfrm>
            <a:off x="4595125" y="1150854"/>
            <a:ext cx="7188739" cy="646331"/>
          </a:xfrm>
          <a:prstGeom prst="rect">
            <a:avLst/>
          </a:prstGeom>
          <a:solidFill>
            <a:schemeClr val="bg1"/>
          </a:solid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甲으로부터 발명에 대한 특허를 받을 수 있는 권리를 </a:t>
            </a:r>
            <a:r>
              <a:rPr kumimoji="0" lang="ko-KR" altLang="en-US" sz="1800" b="0" i="0" u="none" strike="noStrike" kern="1200" cap="none" spc="0" normalizeH="0" baseline="0" noProof="0" dirty="0" err="1">
                <a:ln>
                  <a:noFill/>
                </a:ln>
                <a:solidFill>
                  <a:prstClr val="black"/>
                </a:solidFill>
                <a:effectLst/>
                <a:uLnTx/>
                <a:uFillTx/>
                <a:latin typeface="Frutiger LT 65 Bold"/>
                <a:ea typeface="Rix모던고딕 B"/>
                <a:cs typeface="+mn-cs"/>
              </a:rPr>
              <a:t>이전받은</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 乙이 발명자</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출원인을 乙로 기재하여 특허출원</a:t>
            </a:r>
          </a:p>
        </p:txBody>
      </p:sp>
      <p:sp>
        <p:nvSpPr>
          <p:cNvPr id="10" name="TextBox 9">
            <a:extLst>
              <a:ext uri="{FF2B5EF4-FFF2-40B4-BE49-F238E27FC236}">
                <a16:creationId xmlns:a16="http://schemas.microsoft.com/office/drawing/2014/main" id="{330F85D3-8FAD-07FD-7E74-4262D1A8F447}"/>
              </a:ext>
            </a:extLst>
          </p:cNvPr>
          <p:cNvSpPr txBox="1"/>
          <p:nvPr/>
        </p:nvSpPr>
        <p:spPr>
          <a:xfrm>
            <a:off x="435012" y="1849354"/>
            <a:ext cx="11348852" cy="1815882"/>
          </a:xfrm>
          <a:prstGeom prst="rect">
            <a:avLst/>
          </a:prstGeom>
          <a:solidFill>
            <a:schemeClr val="bg1"/>
          </a:solidFill>
          <a:ln>
            <a:solidFill>
              <a:schemeClr val="bg1">
                <a:lumMod val="50000"/>
              </a:schemeClr>
            </a:solidFill>
          </a:ln>
        </p:spPr>
        <p:txBody>
          <a:bodyPr wrap="square" rtlCol="0">
            <a:spAutoFit/>
          </a:bodyPr>
          <a:lstStyle/>
          <a:p>
            <a:pPr marL="285750" marR="0" lvl="0" indent="-285750" algn="l" defTabSz="914400" rtl="0" eaLnBrk="1" fontAlgn="auto" latinLnBrk="1" hangingPunct="1">
              <a:lnSpc>
                <a:spcPct val="100000"/>
              </a:lnSpc>
              <a:spcBef>
                <a:spcPts val="0"/>
              </a:spcBef>
              <a:spcAft>
                <a:spcPts val="0"/>
              </a:spcAft>
              <a:buClrTx/>
              <a:buSzTx/>
              <a:buFontTx/>
              <a:buChar char="-"/>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진정한 발명자인지 여부는 실질에 의하여 판단</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285750" marR="0" lvl="0" indent="-285750" algn="l" defTabSz="914400" rtl="0" eaLnBrk="1" fontAlgn="auto" latinLnBrk="1" hangingPunct="1">
              <a:lnSpc>
                <a:spcPct val="100000"/>
              </a:lnSpc>
              <a:spcBef>
                <a:spcPts val="0"/>
              </a:spcBef>
              <a:spcAft>
                <a:spcPts val="0"/>
              </a:spcAft>
              <a:buClrTx/>
              <a:buSzTx/>
              <a:buFontTx/>
              <a:buChar char="-"/>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등록 전 심사과정에서 발명자 기재에 대한 방식 위반으로 절차보정사유</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46)</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이므로 보정명령 후</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진정한 발명자임을 증명하지 못하거나 발명자 정정을 하지 않은 경우 출원을 무효</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16)</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로 할 수 있으나</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제한열거적인</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거절이유</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62)</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에 해당하지 않음 </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285750" marR="0" lvl="0" indent="-285750" algn="l" defTabSz="914400" rtl="0" eaLnBrk="1" fontAlgn="auto" latinLnBrk="1" hangingPunct="1">
              <a:lnSpc>
                <a:spcPct val="100000"/>
              </a:lnSpc>
              <a:spcBef>
                <a:spcPts val="0"/>
              </a:spcBef>
              <a:spcAft>
                <a:spcPts val="0"/>
              </a:spcAft>
              <a:buClrTx/>
              <a:buSzTx/>
              <a:buFontTx/>
              <a:buChar char="-"/>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착오로 등록된 경우에는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제한열거적인</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특허무효사유</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133①)</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에 해당하지</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않으므로 하자 치유 간주</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285750" marR="0" lvl="0" indent="-285750" algn="l" defTabSz="914400" rtl="0" eaLnBrk="1" fontAlgn="auto" latinLnBrk="1" hangingPunct="1">
              <a:lnSpc>
                <a:spcPct val="100000"/>
              </a:lnSpc>
              <a:spcBef>
                <a:spcPts val="0"/>
              </a:spcBef>
              <a:spcAft>
                <a:spcPts val="0"/>
              </a:spcAft>
              <a:buClrTx/>
              <a:buSzTx/>
              <a:buFontTx/>
              <a:buChar char="-"/>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발명자 인격권 침해에 대한 손해배상청구를 할 수 있고</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발명자를 잘못 적은 것임이 명백한 경우나 특허권자 및 신청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전ㆍ후</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발명자 전원이 서명 또는 날인한 확인서류를 첨부한 경우에 해당하기 때문에 발명자 정정 가능 </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285750" marR="0" lvl="0" indent="-285750" algn="l" defTabSz="914400" rtl="0" eaLnBrk="1" fontAlgn="auto" latinLnBrk="1" hangingPunct="1">
              <a:lnSpc>
                <a:spcPct val="100000"/>
              </a:lnSpc>
              <a:spcBef>
                <a:spcPts val="0"/>
              </a:spcBef>
              <a:spcAft>
                <a:spcPts val="0"/>
              </a:spcAft>
              <a:buClrTx/>
              <a:buSzTx/>
              <a:buFontTx/>
              <a:buChar char="-"/>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수수료 면탈 목적인 경우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감면받은</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특허료 및 수수료의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배를 추징하고 일정기간 감면을 제한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83④)</a:t>
            </a:r>
          </a:p>
        </p:txBody>
      </p:sp>
      <p:sp>
        <p:nvSpPr>
          <p:cNvPr id="11" name="TextBox 10">
            <a:extLst>
              <a:ext uri="{FF2B5EF4-FFF2-40B4-BE49-F238E27FC236}">
                <a16:creationId xmlns:a16="http://schemas.microsoft.com/office/drawing/2014/main" id="{21679672-0AB9-D4F9-771A-577A6F241471}"/>
              </a:ext>
            </a:extLst>
          </p:cNvPr>
          <p:cNvSpPr txBox="1"/>
          <p:nvPr/>
        </p:nvSpPr>
        <p:spPr>
          <a:xfrm>
            <a:off x="435012" y="4305605"/>
            <a:ext cx="4160113" cy="646330"/>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발명자</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출원인 모두를 허위 기재한 경우</a:t>
            </a:r>
          </a:p>
        </p:txBody>
      </p:sp>
      <p:sp>
        <p:nvSpPr>
          <p:cNvPr id="12" name="TextBox 11">
            <a:extLst>
              <a:ext uri="{FF2B5EF4-FFF2-40B4-BE49-F238E27FC236}">
                <a16:creationId xmlns:a16="http://schemas.microsoft.com/office/drawing/2014/main" id="{9A018319-7A7A-1BF8-8FA3-71867488C77C}"/>
              </a:ext>
            </a:extLst>
          </p:cNvPr>
          <p:cNvSpPr txBox="1"/>
          <p:nvPr/>
        </p:nvSpPr>
        <p:spPr>
          <a:xfrm>
            <a:off x="4595125" y="4305605"/>
            <a:ext cx="7188739" cy="646331"/>
          </a:xfrm>
          <a:prstGeom prst="rect">
            <a:avLst/>
          </a:prstGeom>
          <a:solidFill>
            <a:schemeClr val="bg1"/>
          </a:solid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甲으로부터 발명에 대한 특허를 받을 수 있는 권리를 </a:t>
            </a:r>
            <a:r>
              <a:rPr kumimoji="0" lang="ko-KR" altLang="en-US" sz="1800" b="0" i="0" u="none" strike="noStrike" kern="1200" cap="none" spc="0" normalizeH="0" baseline="0" noProof="0" dirty="0" err="1">
                <a:ln>
                  <a:noFill/>
                </a:ln>
                <a:solidFill>
                  <a:prstClr val="black"/>
                </a:solidFill>
                <a:effectLst/>
                <a:uLnTx/>
                <a:uFillTx/>
                <a:latin typeface="Frutiger LT 65 Bold"/>
                <a:ea typeface="Rix모던고딕 B"/>
                <a:cs typeface="+mn-cs"/>
              </a:rPr>
              <a:t>이전받지</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 못한</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甲의 발명을 </a:t>
            </a:r>
            <a:r>
              <a:rPr kumimoji="0" lang="ko-KR" altLang="en-US" sz="1800" b="0" i="0" u="none" strike="noStrike" kern="1200" cap="none" spc="0" normalizeH="0" baseline="0" noProof="0" dirty="0" err="1">
                <a:ln>
                  <a:noFill/>
                </a:ln>
                <a:solidFill>
                  <a:prstClr val="black"/>
                </a:solidFill>
                <a:effectLst/>
                <a:uLnTx/>
                <a:uFillTx/>
                <a:latin typeface="Frutiger LT 65 Bold"/>
                <a:ea typeface="Rix모던고딕 B"/>
                <a:cs typeface="+mn-cs"/>
              </a:rPr>
              <a:t>모인한</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 乙이 발명자</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출원인을 乙로 기재하여 특허출원</a:t>
            </a:r>
          </a:p>
        </p:txBody>
      </p:sp>
      <p:sp>
        <p:nvSpPr>
          <p:cNvPr id="13" name="TextBox 12">
            <a:extLst>
              <a:ext uri="{FF2B5EF4-FFF2-40B4-BE49-F238E27FC236}">
                <a16:creationId xmlns:a16="http://schemas.microsoft.com/office/drawing/2014/main" id="{593AFC7F-96D9-6687-BFA4-EBAF4E293A11}"/>
              </a:ext>
            </a:extLst>
          </p:cNvPr>
          <p:cNvSpPr txBox="1"/>
          <p:nvPr/>
        </p:nvSpPr>
        <p:spPr>
          <a:xfrm>
            <a:off x="435012" y="5004105"/>
            <a:ext cx="11348852" cy="1077218"/>
          </a:xfrm>
          <a:prstGeom prst="rect">
            <a:avLst/>
          </a:prstGeom>
          <a:solidFill>
            <a:schemeClr val="bg1"/>
          </a:solidFill>
          <a:ln>
            <a:solidFill>
              <a:schemeClr val="bg1">
                <a:lumMod val="50000"/>
              </a:schemeClr>
            </a:solidFill>
          </a:ln>
        </p:spPr>
        <p:txBody>
          <a:bodyPr wrap="square" rtlCol="0">
            <a:spAutoFit/>
          </a:bodyPr>
          <a:lstStyle/>
          <a:p>
            <a:pPr marL="285750" marR="0" lvl="0" indent="-285750" algn="l" defTabSz="914400" rtl="0" eaLnBrk="1" fontAlgn="auto" latinLnBrk="1" hangingPunct="1">
              <a:lnSpc>
                <a:spcPct val="100000"/>
              </a:lnSpc>
              <a:spcBef>
                <a:spcPts val="0"/>
              </a:spcBef>
              <a:spcAft>
                <a:spcPts val="0"/>
              </a:spcAft>
              <a:buClrTx/>
              <a:buSzTx/>
              <a:buFontTx/>
              <a:buChar char="-"/>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진정한 발명자인지 여부는 실질에 의하여 판단</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285750" marR="0" lvl="0" indent="-285750" algn="l" defTabSz="914400" rtl="0" eaLnBrk="1" fontAlgn="auto" latinLnBrk="1" hangingPunct="1">
              <a:lnSpc>
                <a:spcPct val="100000"/>
              </a:lnSpc>
              <a:spcBef>
                <a:spcPts val="0"/>
              </a:spcBef>
              <a:spcAft>
                <a:spcPts val="0"/>
              </a:spcAft>
              <a:buClrTx/>
              <a:buSzTx/>
              <a:buFontTx/>
              <a:buChar char="-"/>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발명자 허위 기재는 방식 위반으로 절차보정사유</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46)</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이고</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출원인 흠결은 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항본문</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위반으로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제한열거적인</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거절이유</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62),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특허무효사유</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133①)</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에 해당하나</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34</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35</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99</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조의</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에 의한 정당한 권리자 보호를 위해 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항본문</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위반으로 처리가 적절함</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4" name="직선 연결선 13">
            <a:extLst>
              <a:ext uri="{FF2B5EF4-FFF2-40B4-BE49-F238E27FC236}">
                <a16:creationId xmlns:a16="http://schemas.microsoft.com/office/drawing/2014/main" id="{21E393FE-C157-A9D7-4893-40E4DA6FDEBA}"/>
              </a:ext>
            </a:extLst>
          </p:cNvPr>
          <p:cNvCxnSpPr>
            <a:cxnSpLocks/>
          </p:cNvCxnSpPr>
          <p:nvPr/>
        </p:nvCxnSpPr>
        <p:spPr>
          <a:xfrm>
            <a:off x="0" y="3984178"/>
            <a:ext cx="12191999" cy="0"/>
          </a:xfrm>
          <a:prstGeom prst="line">
            <a:avLst/>
          </a:prstGeom>
          <a:ln w="28575">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31017022"/>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38</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제</a:t>
            </a:r>
            <a:r>
              <a:rPr lang="en-US" altLang="ko-KR" dirty="0">
                <a:solidFill>
                  <a:srgbClr val="525252"/>
                </a:solidFill>
              </a:rPr>
              <a:t>38</a:t>
            </a:r>
            <a:r>
              <a:rPr lang="ko-KR" altLang="en-US" dirty="0">
                <a:solidFill>
                  <a:srgbClr val="525252"/>
                </a:solidFill>
              </a:rPr>
              <a:t>조의 법조문 정리</a:t>
            </a:r>
          </a:p>
        </p:txBody>
      </p:sp>
      <p:sp>
        <p:nvSpPr>
          <p:cNvPr id="31" name="TextBox 30"/>
          <p:cNvSpPr txBox="1"/>
          <p:nvPr/>
        </p:nvSpPr>
        <p:spPr>
          <a:xfrm>
            <a:off x="289543" y="986046"/>
            <a:ext cx="11538390" cy="2462213"/>
          </a:xfrm>
          <a:prstGeom prst="rect">
            <a:avLst/>
          </a:prstGeom>
          <a:no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38</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특허를 받을 수 있는 권리의 승계</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 전에 이루어진 특허를 받을 수 있는 권리의 승계는 그 승계인이 특허출원을 하여야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자에게 대항할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②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동일한 자로부터 동일한 특허를 받을 수 있는 권리를 승계한 자가 둘 이상인 경우 그 승계한 권리에 대하여 같은 날에 둘 이상의 특허출원이 있으면 특허출원인 간에 협의하여 정한 자에게만 승계의 효력이 발생한다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동일한 자로부터 동일한 발명 및 고안에 대한 특허를 받을 수 있는 권리 및 실용신안등록을 받을 수 있는 권리를 승계한 자가 둘 이상인 경우 그 승계한 권리에 대하여 같은 날에 특허출원 및 실용신안등록출원이 있으면 특허출원인 및 실용신안등록출원인 간에 협의하여 정한 자에게만 승계의 효력이 발생한다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④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 후에는 특허를 받을 수 있는 권리의 승계는 상속</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밖의 일반승계의 경우를 제외하고는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특허출원인변경신고를</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하여야만 그 효력이 발생한다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⑤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권리의 상속</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밖의 일반승계가 있는 경우에는 승계인은 지체 없이 그 취지를 지식재산처장에게 신고하여야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⑥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동일한 자로부터 동일한 특허를 받을 수 있는 권리를 승계한 자가 둘 이상인 경우 그 승계한 권리에 대하여 같은 날에 둘 이상의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특허출원인변경신고가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있으면 신고를 한 자 간에 협의하여 정한 자에게만 신고의 효력이 발생한다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⑦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항ㆍ제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또는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항의 경우에는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36</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항을 준용한다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graphicFrame>
        <p:nvGraphicFramePr>
          <p:cNvPr id="2" name="표 1"/>
          <p:cNvGraphicFramePr>
            <a:graphicFrameLocks noGrp="1"/>
          </p:cNvGraphicFramePr>
          <p:nvPr/>
        </p:nvGraphicFramePr>
        <p:xfrm>
          <a:off x="289543" y="3700330"/>
          <a:ext cx="11538390" cy="2871915"/>
        </p:xfrm>
        <a:graphic>
          <a:graphicData uri="http://schemas.openxmlformats.org/drawingml/2006/table">
            <a:tbl>
              <a:tblPr/>
              <a:tblGrid>
                <a:gridCol w="1907901">
                  <a:extLst>
                    <a:ext uri="{9D8B030D-6E8A-4147-A177-3AD203B41FA5}">
                      <a16:colId xmlns:a16="http://schemas.microsoft.com/office/drawing/2014/main" val="20000"/>
                    </a:ext>
                  </a:extLst>
                </a:gridCol>
                <a:gridCol w="4259227">
                  <a:extLst>
                    <a:ext uri="{9D8B030D-6E8A-4147-A177-3AD203B41FA5}">
                      <a16:colId xmlns:a16="http://schemas.microsoft.com/office/drawing/2014/main" val="20001"/>
                    </a:ext>
                  </a:extLst>
                </a:gridCol>
                <a:gridCol w="5371262">
                  <a:extLst>
                    <a:ext uri="{9D8B030D-6E8A-4147-A177-3AD203B41FA5}">
                      <a16:colId xmlns:a16="http://schemas.microsoft.com/office/drawing/2014/main" val="20002"/>
                    </a:ext>
                  </a:extLst>
                </a:gridCol>
              </a:tblGrid>
              <a:tr h="125832">
                <a:tc>
                  <a:txBody>
                    <a:bodyPr/>
                    <a:lstStyle/>
                    <a:p>
                      <a:pPr marL="0" marR="0" indent="0" algn="r" fontAlgn="base" latinLnBrk="0">
                        <a:lnSpc>
                          <a:spcPct val="120000"/>
                        </a:lnSpc>
                        <a:spcBef>
                          <a:spcPts val="0"/>
                        </a:spcBef>
                        <a:spcAft>
                          <a:spcPts val="0"/>
                        </a:spcAft>
                      </a:pPr>
                      <a:r>
                        <a:rPr lang="ko-KR" altLang="en-US" sz="1200" kern="1200" dirty="0">
                          <a:solidFill>
                            <a:schemeClr val="tx2"/>
                          </a:solidFill>
                          <a:latin typeface="+mn-lt"/>
                          <a:ea typeface="+mn-ea"/>
                          <a:cs typeface="+mn-cs"/>
                        </a:rPr>
                        <a:t>이전형식</a:t>
                      </a:r>
                    </a:p>
                    <a:p>
                      <a:pPr marL="0" marR="0" indent="0" algn="just" fontAlgn="base" latinLnBrk="1">
                        <a:lnSpc>
                          <a:spcPct val="120000"/>
                        </a:lnSpc>
                        <a:spcBef>
                          <a:spcPts val="0"/>
                        </a:spcBef>
                        <a:spcAft>
                          <a:spcPts val="0"/>
                        </a:spcAft>
                      </a:pPr>
                      <a:r>
                        <a:rPr lang="ko-KR" altLang="en-US" sz="1200" kern="1200" dirty="0">
                          <a:solidFill>
                            <a:schemeClr val="tx2"/>
                          </a:solidFill>
                          <a:latin typeface="+mn-lt"/>
                          <a:ea typeface="+mn-ea"/>
                          <a:cs typeface="+mn-cs"/>
                        </a:rPr>
                        <a:t>이전시기</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ctr" fontAlgn="base" latinLnBrk="0">
                        <a:lnSpc>
                          <a:spcPct val="120000"/>
                        </a:lnSpc>
                        <a:spcBef>
                          <a:spcPts val="0"/>
                        </a:spcBef>
                        <a:spcAft>
                          <a:spcPts val="0"/>
                        </a:spcAft>
                      </a:pPr>
                      <a:r>
                        <a:rPr lang="ko-KR" altLang="en-US" sz="1200" b="1" kern="1200" dirty="0">
                          <a:solidFill>
                            <a:schemeClr val="tx2"/>
                          </a:solidFill>
                          <a:latin typeface="+mn-lt"/>
                          <a:ea typeface="+mn-ea"/>
                          <a:cs typeface="+mn-cs"/>
                        </a:rPr>
                        <a:t>일반승계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b="1" kern="1200" dirty="0">
                          <a:solidFill>
                            <a:schemeClr val="tx2"/>
                          </a:solidFill>
                          <a:latin typeface="+mn-lt"/>
                          <a:ea typeface="+mn-ea"/>
                          <a:cs typeface="+mn-cs"/>
                        </a:rPr>
                        <a:t>특정승계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324579">
                <a:tc>
                  <a:txBody>
                    <a:bodyPr/>
                    <a:lstStyle/>
                    <a:p>
                      <a:pPr marL="0" marR="0" indent="0" algn="ctr" fontAlgn="base" latinLnBrk="0">
                        <a:lnSpc>
                          <a:spcPct val="120000"/>
                        </a:lnSpc>
                        <a:spcBef>
                          <a:spcPts val="0"/>
                        </a:spcBef>
                        <a:spcAft>
                          <a:spcPts val="0"/>
                        </a:spcAft>
                      </a:pPr>
                      <a:r>
                        <a:rPr lang="ko-KR" altLang="en-US" sz="1200" b="1" kern="1200" dirty="0">
                          <a:solidFill>
                            <a:schemeClr val="tx2"/>
                          </a:solidFill>
                          <a:latin typeface="+mn-lt"/>
                          <a:ea typeface="+mn-ea"/>
                          <a:cs typeface="+mn-cs"/>
                        </a:rPr>
                        <a:t>출원 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tc gridSpan="2">
                  <a:txBody>
                    <a:bodyPr/>
                    <a:lstStyle/>
                    <a:p>
                      <a:pPr marL="31750" marR="31750" indent="0" algn="l" fontAlgn="base" latinLnBrk="1">
                        <a:lnSpc>
                          <a:spcPct val="130000"/>
                        </a:lnSpc>
                        <a:spcBef>
                          <a:spcPts val="0"/>
                        </a:spcBef>
                        <a:spcAft>
                          <a:spcPts val="0"/>
                        </a:spcAft>
                      </a:pPr>
                      <a:r>
                        <a:rPr lang="en-US" altLang="ko-KR" sz="1200" kern="1200" dirty="0">
                          <a:solidFill>
                            <a:schemeClr val="tx2"/>
                          </a:solidFill>
                          <a:latin typeface="+mn-lt"/>
                          <a:ea typeface="+mn-ea"/>
                          <a:cs typeface="+mn-cs"/>
                        </a:rPr>
                        <a:t>1. </a:t>
                      </a:r>
                      <a:r>
                        <a:rPr lang="ko-KR" altLang="en-US" sz="1200" kern="1200" dirty="0">
                          <a:solidFill>
                            <a:schemeClr val="tx2"/>
                          </a:solidFill>
                          <a:latin typeface="+mn-lt"/>
                          <a:ea typeface="+mn-ea"/>
                          <a:cs typeface="+mn-cs"/>
                        </a:rPr>
                        <a:t>사유발생시 효력발생</a:t>
                      </a:r>
                    </a:p>
                    <a:p>
                      <a:pPr marL="31750" marR="31750" indent="0" algn="l" fontAlgn="base" latinLnBrk="1">
                        <a:lnSpc>
                          <a:spcPct val="130000"/>
                        </a:lnSpc>
                        <a:spcBef>
                          <a:spcPts val="0"/>
                        </a:spcBef>
                        <a:spcAft>
                          <a:spcPts val="0"/>
                        </a:spcAft>
                      </a:pPr>
                      <a:r>
                        <a:rPr lang="en-US" altLang="ko-KR" sz="1200" kern="1200" dirty="0">
                          <a:solidFill>
                            <a:schemeClr val="tx2"/>
                          </a:solidFill>
                          <a:latin typeface="+mn-lt"/>
                          <a:ea typeface="+mn-ea"/>
                          <a:cs typeface="+mn-cs"/>
                        </a:rPr>
                        <a:t>2. </a:t>
                      </a:r>
                      <a:r>
                        <a:rPr lang="ko-KR" altLang="en-US" sz="1200" kern="1200" dirty="0">
                          <a:solidFill>
                            <a:schemeClr val="tx2"/>
                          </a:solidFill>
                          <a:latin typeface="+mn-lt"/>
                          <a:ea typeface="+mn-ea"/>
                          <a:cs typeface="+mn-cs"/>
                        </a:rPr>
                        <a:t>승계인이 특허출원 → 제</a:t>
                      </a:r>
                      <a:r>
                        <a:rPr lang="en-US" altLang="ko-KR" sz="1200" kern="1200" dirty="0">
                          <a:solidFill>
                            <a:schemeClr val="tx2"/>
                          </a:solidFill>
                          <a:latin typeface="+mn-lt"/>
                          <a:ea typeface="+mn-ea"/>
                          <a:cs typeface="+mn-cs"/>
                        </a:rPr>
                        <a:t>3</a:t>
                      </a:r>
                      <a:r>
                        <a:rPr lang="ko-KR" altLang="en-US" sz="1200" kern="1200" dirty="0">
                          <a:solidFill>
                            <a:schemeClr val="tx2"/>
                          </a:solidFill>
                          <a:latin typeface="+mn-lt"/>
                          <a:ea typeface="+mn-ea"/>
                          <a:cs typeface="+mn-cs"/>
                        </a:rPr>
                        <a:t>자 대항요건</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法 </a:t>
                      </a:r>
                      <a:r>
                        <a:rPr lang="en-US" altLang="ko-KR" sz="1200" kern="1200" dirty="0">
                          <a:solidFill>
                            <a:schemeClr val="tx2"/>
                          </a:solidFill>
                          <a:latin typeface="+mn-lt"/>
                          <a:ea typeface="+mn-ea"/>
                          <a:cs typeface="+mn-cs"/>
                        </a:rPr>
                        <a:t>38</a:t>
                      </a:r>
                      <a:r>
                        <a:rPr lang="ko-KR" altLang="en-US" sz="1200" kern="1200" dirty="0">
                          <a:solidFill>
                            <a:schemeClr val="tx2"/>
                          </a:solidFill>
                          <a:latin typeface="+mn-lt"/>
                          <a:ea typeface="+mn-ea"/>
                          <a:cs typeface="+mn-cs"/>
                        </a:rPr>
                        <a:t>①</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31750" marR="31750" indent="0" algn="l" fontAlgn="base" latinLnBrk="1">
                        <a:lnSpc>
                          <a:spcPct val="130000"/>
                        </a:lnSpc>
                        <a:spcBef>
                          <a:spcPts val="0"/>
                        </a:spcBef>
                        <a:spcAft>
                          <a:spcPts val="0"/>
                        </a:spcAft>
                      </a:pPr>
                      <a:r>
                        <a:rPr lang="en-US" altLang="ko-KR" sz="1200" kern="1200" dirty="0">
                          <a:solidFill>
                            <a:schemeClr val="tx2"/>
                          </a:solidFill>
                          <a:latin typeface="+mn-lt"/>
                          <a:ea typeface="+mn-ea"/>
                          <a:cs typeface="+mn-cs"/>
                        </a:rPr>
                        <a:t>3. </a:t>
                      </a:r>
                      <a:r>
                        <a:rPr lang="ko-KR" altLang="en-US" sz="1200" kern="1200" dirty="0" err="1">
                          <a:solidFill>
                            <a:schemeClr val="tx2"/>
                          </a:solidFill>
                          <a:latin typeface="+mn-lt"/>
                          <a:ea typeface="+mn-ea"/>
                          <a:cs typeface="+mn-cs"/>
                        </a:rPr>
                        <a:t>동일자</a:t>
                      </a:r>
                      <a:r>
                        <a:rPr lang="ko-KR" altLang="en-US" sz="1200" kern="1200" dirty="0">
                          <a:solidFill>
                            <a:schemeClr val="tx2"/>
                          </a:solidFill>
                          <a:latin typeface="+mn-lt"/>
                          <a:ea typeface="+mn-ea"/>
                          <a:cs typeface="+mn-cs"/>
                        </a:rPr>
                        <a:t> 출원</a:t>
                      </a:r>
                    </a:p>
                    <a:p>
                      <a:pPr marL="31750" marR="31750" indent="0" algn="l" fontAlgn="base" latinLnBrk="1">
                        <a:lnSpc>
                          <a:spcPct val="130000"/>
                        </a:lnSpc>
                        <a:spcBef>
                          <a:spcPts val="0"/>
                        </a:spcBef>
                        <a:spcAft>
                          <a:spcPts val="0"/>
                        </a:spcAft>
                      </a:pPr>
                      <a:r>
                        <a:rPr lang="ko-KR" altLang="en-US" sz="1200" kern="1200" dirty="0">
                          <a:solidFill>
                            <a:schemeClr val="tx2"/>
                          </a:solidFill>
                          <a:latin typeface="+mn-lt"/>
                          <a:ea typeface="+mn-ea"/>
                          <a:cs typeface="+mn-cs"/>
                        </a:rPr>
                        <a:t>① </a:t>
                      </a:r>
                      <a:r>
                        <a:rPr lang="ko-KR" altLang="en-US" sz="1200" kern="1200" dirty="0" err="1">
                          <a:solidFill>
                            <a:schemeClr val="tx2"/>
                          </a:solidFill>
                          <a:latin typeface="+mn-lt"/>
                          <a:ea typeface="+mn-ea"/>
                          <a:cs typeface="+mn-cs"/>
                        </a:rPr>
                        <a:t>협의제</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협의명령</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法 </a:t>
                      </a:r>
                      <a:r>
                        <a:rPr lang="en-US" altLang="ko-KR" sz="1200" kern="1200" dirty="0">
                          <a:solidFill>
                            <a:schemeClr val="tx2"/>
                          </a:solidFill>
                          <a:latin typeface="+mn-lt"/>
                          <a:ea typeface="+mn-ea"/>
                          <a:cs typeface="+mn-cs"/>
                        </a:rPr>
                        <a:t>38</a:t>
                      </a:r>
                      <a:r>
                        <a:rPr lang="ko-KR" altLang="en-US" sz="1200" kern="1200" dirty="0">
                          <a:solidFill>
                            <a:schemeClr val="tx2"/>
                          </a:solidFill>
                          <a:latin typeface="+mn-lt"/>
                          <a:ea typeface="+mn-ea"/>
                          <a:cs typeface="+mn-cs"/>
                        </a:rPr>
                        <a:t>②③⑦</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 협의하여 정한 자에게만 승계의 효력발생</a:t>
                      </a:r>
                    </a:p>
                    <a:p>
                      <a:pPr marL="31750" marR="31750" indent="0" algn="l" fontAlgn="base" latinLnBrk="1">
                        <a:lnSpc>
                          <a:spcPct val="130000"/>
                        </a:lnSpc>
                        <a:spcBef>
                          <a:spcPts val="0"/>
                        </a:spcBef>
                        <a:spcAft>
                          <a:spcPts val="0"/>
                        </a:spcAft>
                      </a:pPr>
                      <a:r>
                        <a:rPr lang="ko-KR" altLang="en-US" sz="1200" kern="1200" dirty="0">
                          <a:solidFill>
                            <a:schemeClr val="tx2"/>
                          </a:solidFill>
                          <a:latin typeface="+mn-lt"/>
                          <a:ea typeface="+mn-ea"/>
                          <a:cs typeface="+mn-cs"/>
                        </a:rPr>
                        <a:t>② 협의가 성립되지 아니하면 승계의 효력 </a:t>
                      </a:r>
                      <a:r>
                        <a:rPr lang="ko-KR" altLang="en-US" sz="1200" kern="1200" dirty="0" err="1">
                          <a:solidFill>
                            <a:schemeClr val="tx2"/>
                          </a:solidFill>
                          <a:latin typeface="+mn-lt"/>
                          <a:ea typeface="+mn-ea"/>
                          <a:cs typeface="+mn-cs"/>
                        </a:rPr>
                        <a:t>불발생</a:t>
                      </a:r>
                      <a:r>
                        <a:rPr lang="ko-KR" altLang="en-US" sz="1200" kern="1200" dirty="0">
                          <a:solidFill>
                            <a:schemeClr val="tx2"/>
                          </a:solidFill>
                          <a:latin typeface="+mn-lt"/>
                          <a:ea typeface="+mn-ea"/>
                          <a:cs typeface="+mn-cs"/>
                        </a:rPr>
                        <a:t> → 무권리자 출원으로 간주</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10001"/>
                  </a:ext>
                </a:extLst>
              </a:tr>
              <a:tr h="319664">
                <a:tc>
                  <a:txBody>
                    <a:bodyPr/>
                    <a:lstStyle/>
                    <a:p>
                      <a:pPr marL="0" marR="0" indent="0" algn="ctr" fontAlgn="base" latinLnBrk="0">
                        <a:lnSpc>
                          <a:spcPct val="120000"/>
                        </a:lnSpc>
                        <a:spcBef>
                          <a:spcPts val="0"/>
                        </a:spcBef>
                        <a:spcAft>
                          <a:spcPts val="0"/>
                        </a:spcAft>
                      </a:pPr>
                      <a:r>
                        <a:rPr lang="ko-KR" altLang="en-US" sz="1200" b="1" kern="1200" dirty="0">
                          <a:solidFill>
                            <a:schemeClr val="tx2"/>
                          </a:solidFill>
                          <a:latin typeface="+mn-lt"/>
                          <a:ea typeface="+mn-ea"/>
                          <a:cs typeface="+mn-cs"/>
                        </a:rPr>
                        <a:t>출원 후</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E4E4E4"/>
                    </a:solidFill>
                  </a:tcPr>
                </a:tc>
                <a:tc>
                  <a:txBody>
                    <a:bodyPr/>
                    <a:lstStyle/>
                    <a:p>
                      <a:pPr marL="31750" marR="31750" indent="0" algn="l" defTabSz="914400" rtl="0" eaLnBrk="1" fontAlgn="base" latinLnBrk="1" hangingPunct="1">
                        <a:lnSpc>
                          <a:spcPct val="130000"/>
                        </a:lnSpc>
                        <a:spcBef>
                          <a:spcPts val="0"/>
                        </a:spcBef>
                        <a:spcAft>
                          <a:spcPts val="0"/>
                        </a:spcAft>
                        <a:buClrTx/>
                        <a:buSzTx/>
                        <a:buFontTx/>
                        <a:buNone/>
                        <a:tabLst/>
                        <a:defRPr/>
                      </a:pPr>
                      <a:r>
                        <a:rPr lang="en-US" altLang="ko-KR" sz="1200" kern="1200" dirty="0">
                          <a:solidFill>
                            <a:schemeClr val="tx2"/>
                          </a:solidFill>
                          <a:latin typeface="+mn-lt"/>
                          <a:ea typeface="+mn-ea"/>
                          <a:cs typeface="+mn-cs"/>
                        </a:rPr>
                        <a:t>1. </a:t>
                      </a:r>
                      <a:r>
                        <a:rPr lang="ko-KR" altLang="en-US" sz="1200" kern="1200" dirty="0">
                          <a:solidFill>
                            <a:schemeClr val="tx2"/>
                          </a:solidFill>
                          <a:latin typeface="+mn-lt"/>
                          <a:ea typeface="+mn-ea"/>
                          <a:cs typeface="+mn-cs"/>
                        </a:rPr>
                        <a:t>사유발생시 효력 발생</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∵권리의 단절 막기 위해</a:t>
                      </a:r>
                      <a:r>
                        <a:rPr lang="en-US" altLang="ko-KR" sz="1200" kern="1200" dirty="0">
                          <a:solidFill>
                            <a:schemeClr val="tx2"/>
                          </a:solidFill>
                          <a:latin typeface="+mn-lt"/>
                          <a:ea typeface="+mn-ea"/>
                          <a:cs typeface="+mn-cs"/>
                        </a:rPr>
                        <a:t>)</a:t>
                      </a:r>
                    </a:p>
                    <a:p>
                      <a:pPr marL="31750" marR="31750" indent="0" algn="l" defTabSz="914400" rtl="0" eaLnBrk="1" fontAlgn="base" latinLnBrk="1" hangingPunct="1">
                        <a:lnSpc>
                          <a:spcPct val="130000"/>
                        </a:lnSpc>
                        <a:spcBef>
                          <a:spcPts val="0"/>
                        </a:spcBef>
                        <a:spcAft>
                          <a:spcPts val="0"/>
                        </a:spcAft>
                        <a:buClrTx/>
                        <a:buSzTx/>
                        <a:buFontTx/>
                        <a:buNone/>
                        <a:tabLst/>
                        <a:defRPr/>
                      </a:pPr>
                      <a:r>
                        <a:rPr lang="en-US" altLang="ko-KR" sz="1200" kern="1200" dirty="0">
                          <a:solidFill>
                            <a:schemeClr val="tx2"/>
                          </a:solidFill>
                          <a:latin typeface="+mn-lt"/>
                          <a:ea typeface="+mn-ea"/>
                          <a:cs typeface="+mn-cs"/>
                        </a:rPr>
                        <a:t>2. </a:t>
                      </a:r>
                      <a:r>
                        <a:rPr lang="ko-KR" altLang="en-US" sz="1200" kern="1200" dirty="0">
                          <a:solidFill>
                            <a:schemeClr val="tx2"/>
                          </a:solidFill>
                          <a:latin typeface="+mn-lt"/>
                          <a:ea typeface="+mn-ea"/>
                          <a:cs typeface="+mn-cs"/>
                        </a:rPr>
                        <a:t>승계인이 지식재산처장에 신고 要</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法 </a:t>
                      </a:r>
                      <a:r>
                        <a:rPr lang="en-US" altLang="ko-KR" sz="1200" kern="1200" dirty="0">
                          <a:solidFill>
                            <a:schemeClr val="tx2"/>
                          </a:solidFill>
                          <a:latin typeface="+mn-lt"/>
                          <a:ea typeface="+mn-ea"/>
                          <a:cs typeface="+mn-cs"/>
                        </a:rPr>
                        <a:t>38</a:t>
                      </a:r>
                      <a:r>
                        <a:rPr lang="ko-KR" altLang="en-US" sz="1200" kern="1200" dirty="0">
                          <a:solidFill>
                            <a:schemeClr val="tx2"/>
                          </a:solidFill>
                          <a:latin typeface="+mn-lt"/>
                          <a:ea typeface="+mn-ea"/>
                          <a:cs typeface="+mn-cs"/>
                        </a:rPr>
                        <a:t>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31750" marR="31750" indent="0" algn="l" fontAlgn="base" latinLnBrk="1">
                        <a:lnSpc>
                          <a:spcPct val="130000"/>
                        </a:lnSpc>
                        <a:spcBef>
                          <a:spcPts val="0"/>
                        </a:spcBef>
                        <a:spcAft>
                          <a:spcPts val="0"/>
                        </a:spcAft>
                      </a:pPr>
                      <a:endParaRPr lang="ko-KR" altLang="en-US" sz="1200" kern="1200" dirty="0">
                        <a:solidFill>
                          <a:schemeClr val="tx2"/>
                        </a:solidFill>
                        <a:latin typeface="+mn-lt"/>
                        <a:ea typeface="+mn-ea"/>
                        <a:cs typeface="+mn-cs"/>
                      </a:endParaRP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31750" marR="31750" indent="0" algn="l" fontAlgn="base" latinLnBrk="1">
                        <a:lnSpc>
                          <a:spcPct val="130000"/>
                        </a:lnSpc>
                        <a:spcBef>
                          <a:spcPts val="0"/>
                        </a:spcBef>
                        <a:spcAft>
                          <a:spcPts val="0"/>
                        </a:spcAft>
                      </a:pPr>
                      <a:r>
                        <a:rPr lang="en-US" altLang="ko-KR" sz="1200" kern="1200" dirty="0">
                          <a:solidFill>
                            <a:schemeClr val="tx2"/>
                          </a:solidFill>
                          <a:latin typeface="+mn-lt"/>
                          <a:ea typeface="+mn-ea"/>
                          <a:cs typeface="+mn-cs"/>
                        </a:rPr>
                        <a:t>1. </a:t>
                      </a:r>
                      <a:r>
                        <a:rPr lang="ko-KR" altLang="en-US" sz="1200" kern="1200" dirty="0">
                          <a:solidFill>
                            <a:schemeClr val="tx2"/>
                          </a:solidFill>
                          <a:latin typeface="+mn-lt"/>
                          <a:ea typeface="+mn-ea"/>
                          <a:cs typeface="+mn-cs"/>
                        </a:rPr>
                        <a:t>승계인의 출원인변경신고 → 효력발생요건</a:t>
                      </a:r>
                    </a:p>
                    <a:p>
                      <a:pPr marL="31750" marR="31750" indent="0" algn="l" fontAlgn="base" latinLnBrk="1">
                        <a:lnSpc>
                          <a:spcPct val="130000"/>
                        </a:lnSpc>
                        <a:spcBef>
                          <a:spcPts val="0"/>
                        </a:spcBef>
                        <a:spcAft>
                          <a:spcPts val="0"/>
                        </a:spcAft>
                      </a:pPr>
                      <a:r>
                        <a:rPr lang="en-US" altLang="ko-KR" sz="1200" kern="1200" dirty="0">
                          <a:solidFill>
                            <a:schemeClr val="tx2"/>
                          </a:solidFill>
                          <a:latin typeface="+mn-lt"/>
                          <a:ea typeface="+mn-ea"/>
                          <a:cs typeface="+mn-cs"/>
                        </a:rPr>
                        <a:t>2. </a:t>
                      </a:r>
                      <a:r>
                        <a:rPr lang="ko-KR" altLang="en-US" sz="1200" kern="1200" dirty="0" err="1">
                          <a:solidFill>
                            <a:schemeClr val="tx2"/>
                          </a:solidFill>
                          <a:latin typeface="+mn-lt"/>
                          <a:ea typeface="+mn-ea"/>
                          <a:cs typeface="+mn-cs"/>
                        </a:rPr>
                        <a:t>동일자</a:t>
                      </a:r>
                      <a:r>
                        <a:rPr lang="ko-KR" altLang="en-US" sz="1200"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출원인변경신고</a:t>
                      </a:r>
                      <a:endParaRPr lang="ko-KR" altLang="en-US" sz="1200" kern="1200" dirty="0">
                        <a:solidFill>
                          <a:schemeClr val="tx2"/>
                        </a:solidFill>
                        <a:latin typeface="+mn-lt"/>
                        <a:ea typeface="+mn-ea"/>
                        <a:cs typeface="+mn-cs"/>
                      </a:endParaRPr>
                    </a:p>
                    <a:p>
                      <a:pPr marL="31750" marR="31750" indent="0" algn="l" fontAlgn="base" latinLnBrk="1">
                        <a:lnSpc>
                          <a:spcPct val="130000"/>
                        </a:lnSpc>
                        <a:spcBef>
                          <a:spcPts val="0"/>
                        </a:spcBef>
                        <a:spcAft>
                          <a:spcPts val="0"/>
                        </a:spcAft>
                      </a:pPr>
                      <a:r>
                        <a:rPr lang="ko-KR" altLang="en-US" sz="1200" kern="1200" dirty="0">
                          <a:solidFill>
                            <a:schemeClr val="tx2"/>
                          </a:solidFill>
                          <a:latin typeface="+mn-lt"/>
                          <a:ea typeface="+mn-ea"/>
                          <a:cs typeface="+mn-cs"/>
                        </a:rPr>
                        <a:t>① </a:t>
                      </a:r>
                      <a:r>
                        <a:rPr lang="ko-KR" altLang="en-US" sz="1200" kern="1200" dirty="0" err="1">
                          <a:solidFill>
                            <a:schemeClr val="tx2"/>
                          </a:solidFill>
                          <a:latin typeface="+mn-lt"/>
                          <a:ea typeface="+mn-ea"/>
                          <a:cs typeface="+mn-cs"/>
                        </a:rPr>
                        <a:t>협의제</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협의명령</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法 </a:t>
                      </a:r>
                      <a:r>
                        <a:rPr lang="en-US" altLang="ko-KR" sz="1200" kern="1200" dirty="0">
                          <a:solidFill>
                            <a:schemeClr val="tx2"/>
                          </a:solidFill>
                          <a:latin typeface="+mn-lt"/>
                          <a:ea typeface="+mn-ea"/>
                          <a:cs typeface="+mn-cs"/>
                        </a:rPr>
                        <a:t>38⑥⑦) → </a:t>
                      </a:r>
                      <a:r>
                        <a:rPr lang="ko-KR" altLang="en-US" sz="1200" kern="1200" dirty="0">
                          <a:solidFill>
                            <a:schemeClr val="tx2"/>
                          </a:solidFill>
                          <a:latin typeface="+mn-lt"/>
                          <a:ea typeface="+mn-ea"/>
                          <a:cs typeface="+mn-cs"/>
                        </a:rPr>
                        <a:t>협의하여 정한 자에게만 </a:t>
                      </a:r>
                      <a:r>
                        <a:rPr lang="ko-KR" altLang="en-US" sz="1200" kern="1200" dirty="0" err="1">
                          <a:solidFill>
                            <a:schemeClr val="tx2"/>
                          </a:solidFill>
                          <a:latin typeface="+mn-lt"/>
                          <a:ea typeface="+mn-ea"/>
                          <a:cs typeface="+mn-cs"/>
                        </a:rPr>
                        <a:t>출원인변경신고</a:t>
                      </a:r>
                      <a:r>
                        <a:rPr lang="ko-KR" altLang="en-US" sz="1200" kern="1200" dirty="0">
                          <a:solidFill>
                            <a:schemeClr val="tx2"/>
                          </a:solidFill>
                          <a:latin typeface="+mn-lt"/>
                          <a:ea typeface="+mn-ea"/>
                          <a:cs typeface="+mn-cs"/>
                        </a:rPr>
                        <a:t> 효력발생 </a:t>
                      </a:r>
                    </a:p>
                    <a:p>
                      <a:pPr marL="180975" marR="31750" indent="-149225" algn="l" fontAlgn="base" latinLnBrk="1">
                        <a:lnSpc>
                          <a:spcPct val="130000"/>
                        </a:lnSpc>
                        <a:spcBef>
                          <a:spcPts val="0"/>
                        </a:spcBef>
                        <a:spcAft>
                          <a:spcPts val="0"/>
                        </a:spcAft>
                      </a:pPr>
                      <a:r>
                        <a:rPr lang="ko-KR" altLang="en-US" sz="1200" kern="1200" dirty="0">
                          <a:solidFill>
                            <a:schemeClr val="tx2"/>
                          </a:solidFill>
                          <a:latin typeface="+mn-lt"/>
                          <a:ea typeface="+mn-ea"/>
                          <a:cs typeface="+mn-cs"/>
                        </a:rPr>
                        <a:t>② 협의가 성립되지 아니하면 </a:t>
                      </a:r>
                      <a:r>
                        <a:rPr lang="ko-KR" altLang="en-US" sz="1200" kern="1200" dirty="0" err="1">
                          <a:solidFill>
                            <a:schemeClr val="tx2"/>
                          </a:solidFill>
                          <a:latin typeface="+mn-lt"/>
                          <a:ea typeface="+mn-ea"/>
                          <a:cs typeface="+mn-cs"/>
                        </a:rPr>
                        <a:t>출원인변경신고의</a:t>
                      </a:r>
                      <a:r>
                        <a:rPr lang="ko-KR" altLang="en-US" sz="1200" kern="1200" dirty="0">
                          <a:solidFill>
                            <a:schemeClr val="tx2"/>
                          </a:solidFill>
                          <a:latin typeface="+mn-lt"/>
                          <a:ea typeface="+mn-ea"/>
                          <a:cs typeface="+mn-cs"/>
                        </a:rPr>
                        <a:t> 효력 </a:t>
                      </a:r>
                      <a:r>
                        <a:rPr lang="ko-KR" altLang="en-US" sz="1200" kern="1200" dirty="0" err="1">
                          <a:solidFill>
                            <a:schemeClr val="tx2"/>
                          </a:solidFill>
                          <a:latin typeface="+mn-lt"/>
                          <a:ea typeface="+mn-ea"/>
                          <a:cs typeface="+mn-cs"/>
                        </a:rPr>
                        <a:t>불발생</a:t>
                      </a:r>
                      <a:r>
                        <a:rPr lang="ko-KR" altLang="en-US" sz="1200" kern="1200" dirty="0">
                          <a:solidFill>
                            <a:schemeClr val="tx2"/>
                          </a:solidFill>
                          <a:latin typeface="+mn-lt"/>
                          <a:ea typeface="+mn-ea"/>
                          <a:cs typeface="+mn-cs"/>
                        </a:rPr>
                        <a:t> → 피승계인이 </a:t>
                      </a:r>
                      <a:r>
                        <a:rPr lang="ko-KR" altLang="en-US" sz="1200" kern="1200" dirty="0" err="1">
                          <a:solidFill>
                            <a:schemeClr val="tx2"/>
                          </a:solidFill>
                          <a:latin typeface="+mn-lt"/>
                          <a:ea typeface="+mn-ea"/>
                          <a:cs typeface="+mn-cs"/>
                        </a:rPr>
                        <a:t>출원인인</a:t>
                      </a:r>
                      <a:r>
                        <a:rPr lang="ko-KR" altLang="en-US" sz="1200" kern="1200" dirty="0">
                          <a:solidFill>
                            <a:schemeClr val="tx2"/>
                          </a:solidFill>
                          <a:latin typeface="+mn-lt"/>
                          <a:ea typeface="+mn-ea"/>
                          <a:cs typeface="+mn-cs"/>
                        </a:rPr>
                        <a:t> 상태로 출원절차 진행</a:t>
                      </a:r>
                    </a:p>
                  </a:txBody>
                  <a:tcPr marL="17907" marR="17907"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cxnSp>
        <p:nvCxnSpPr>
          <p:cNvPr id="6" name="직선 연결선 5"/>
          <p:cNvCxnSpPr/>
          <p:nvPr/>
        </p:nvCxnSpPr>
        <p:spPr>
          <a:xfrm>
            <a:off x="289543" y="3691467"/>
            <a:ext cx="1903324" cy="440266"/>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슬라이드 번호 개체 틀 4"/>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110</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4240372681"/>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Line 5">
            <a:extLst>
              <a:ext uri="{FF2B5EF4-FFF2-40B4-BE49-F238E27FC236}">
                <a16:creationId xmlns:a16="http://schemas.microsoft.com/office/drawing/2014/main" id="{89A7BBA8-4E00-44C3-A470-536BA2A58222}"/>
              </a:ext>
            </a:extLst>
          </p:cNvPr>
          <p:cNvSpPr>
            <a:spLocks noChangeShapeType="1"/>
          </p:cNvSpPr>
          <p:nvPr/>
        </p:nvSpPr>
        <p:spPr bwMode="auto">
          <a:xfrm>
            <a:off x="564528" y="4582548"/>
            <a:ext cx="11391685" cy="0"/>
          </a:xfrm>
          <a:prstGeom prst="line">
            <a:avLst/>
          </a:prstGeom>
          <a:noFill/>
          <a:ln w="57150">
            <a:solidFill>
              <a:schemeClr val="bg1">
                <a:lumMod val="50000"/>
              </a:schemeClr>
            </a:solidFill>
            <a:round/>
            <a:headEnd/>
            <a:tailEnd type="stealth" w="med" len="med"/>
          </a:ln>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2" name="제목 1"/>
          <p:cNvSpPr>
            <a:spLocks noGrp="1"/>
          </p:cNvSpPr>
          <p:nvPr>
            <p:ph type="title"/>
          </p:nvPr>
        </p:nvSpPr>
        <p:spPr/>
        <p:txBody>
          <a:bodyPr/>
          <a:lstStyle/>
          <a:p>
            <a:r>
              <a:rPr lang="ko-KR" altLang="en-US" dirty="0"/>
              <a:t>제</a:t>
            </a:r>
            <a:r>
              <a:rPr lang="en-US" altLang="ko-KR" dirty="0"/>
              <a:t>38</a:t>
            </a:r>
            <a:r>
              <a:rPr lang="ko-KR" altLang="en-US" dirty="0"/>
              <a:t>조 제</a:t>
            </a:r>
            <a:r>
              <a:rPr lang="en-US" altLang="ko-KR" dirty="0"/>
              <a:t>1</a:t>
            </a:r>
            <a:r>
              <a:rPr lang="ko-KR" altLang="en-US" dirty="0"/>
              <a:t>항</a:t>
            </a:r>
          </a:p>
        </p:txBody>
      </p:sp>
      <p:sp>
        <p:nvSpPr>
          <p:cNvPr id="3" name="텍스트 개체 틀 2"/>
          <p:cNvSpPr>
            <a:spLocks noGrp="1"/>
          </p:cNvSpPr>
          <p:nvPr>
            <p:ph type="body" sz="quarter" idx="13"/>
          </p:nvPr>
        </p:nvSpPr>
        <p:spPr/>
        <p:txBody>
          <a:bodyPr/>
          <a:lstStyle/>
          <a:p>
            <a:r>
              <a:rPr lang="ko-KR" altLang="en-US" dirty="0">
                <a:solidFill>
                  <a:schemeClr val="tx1">
                    <a:lumMod val="65000"/>
                    <a:lumOff val="35000"/>
                  </a:schemeClr>
                </a:solidFill>
              </a:rPr>
              <a:t>분리탑재형 발전기의</a:t>
            </a:r>
            <a:r>
              <a:rPr lang="en-US" altLang="ko-KR" dirty="0">
                <a:solidFill>
                  <a:schemeClr val="tx1">
                    <a:lumMod val="65000"/>
                    <a:lumOff val="35000"/>
                  </a:schemeClr>
                </a:solidFill>
              </a:rPr>
              <a:t> CASE</a:t>
            </a:r>
            <a:endParaRPr lang="ko-KR" altLang="en-US" dirty="0">
              <a:solidFill>
                <a:schemeClr val="tx1">
                  <a:lumMod val="65000"/>
                  <a:lumOff val="35000"/>
                </a:schemeClr>
              </a:solidFill>
            </a:endParaRPr>
          </a:p>
        </p:txBody>
      </p:sp>
      <p:sp>
        <p:nvSpPr>
          <p:cNvPr id="38" name="슬라이드 번호 개체 틀 1">
            <a:extLst>
              <a:ext uri="{FF2B5EF4-FFF2-40B4-BE49-F238E27FC236}">
                <a16:creationId xmlns:a16="http://schemas.microsoft.com/office/drawing/2014/main" id="{0F75A23A-7A3E-48BF-8C01-2171501A1370}"/>
              </a:ext>
            </a:extLst>
          </p:cNvPr>
          <p:cNvSpPr>
            <a:spLocks noGrp="1"/>
          </p:cNvSpPr>
          <p:nvPr>
            <p:ph type="sldNum" sz="quarter" idx="4294967295"/>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fld id="{3875FC6C-1516-4DC4-8C58-3090F7D4F003}" type="slidenum">
              <a:rPr kumimoji="0" lang="ko-KR" altLang="en-US" sz="3600" b="1" i="0" u="none" strike="noStrike" kern="1200" cap="none" spc="0" normalizeH="0" baseline="0" noProof="0" smtClean="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pPr marL="0" marR="0" lvl="0" indent="0" algn="ctr" defTabSz="914400" rtl="0" eaLnBrk="1" fontAlgn="auto" latinLnBrk="1" hangingPunct="1">
                <a:lnSpc>
                  <a:spcPct val="100000"/>
                </a:lnSpc>
                <a:spcBef>
                  <a:spcPts val="0"/>
                </a:spcBef>
                <a:spcAft>
                  <a:spcPts val="0"/>
                </a:spcAft>
                <a:buClrTx/>
                <a:buSzTx/>
                <a:buFontTx/>
                <a:buNone/>
                <a:tabLst/>
                <a:defRPr/>
              </a:pPr>
              <a:t>113</a:t>
            </a:fld>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55" name="직사각형 54">
            <a:extLst>
              <a:ext uri="{FF2B5EF4-FFF2-40B4-BE49-F238E27FC236}">
                <a16:creationId xmlns:a16="http://schemas.microsoft.com/office/drawing/2014/main" id="{88F9BA11-776F-458B-AEBF-785908167EF1}"/>
              </a:ext>
            </a:extLst>
          </p:cNvPr>
          <p:cNvSpPr/>
          <p:nvPr/>
        </p:nvSpPr>
        <p:spPr>
          <a:xfrm>
            <a:off x="232372" y="1269047"/>
            <a:ext cx="11681987" cy="1815882"/>
          </a:xfrm>
          <a:prstGeom prst="rect">
            <a:avLst/>
          </a:prstGeom>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발명을 한 사람 또는 그 승계인은 특허법에서 정하는 바에 따라 특허를 받을 수 있는 권리를 가진다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특허법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 본문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만일 이러한 정당한 권리자 아닌 사람</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이하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무권리자’라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한다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이 한 특허출원에 대하여 특허권의 설정등록이 이루어지면 특허무효사유에 해당한다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특허법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133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특허출원 전에 특허를 받을 수 있는 권리를 계약에 따라 이전한 양도인은 더 이상 그 권리의 귀속주체가 아니므로 그러한 양도인이 한 특허출원에 대하여 설정등록이 이루어진 특허권은 특허무효사유에 해당하는 무권리자의 특허이다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특허출원 전에 이루어진 특허를 받을 수 있는 권리의 승계는 그 승계인이 특허출원을 하여야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자에게 대항할 수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특허법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38</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여기서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자는 특허를 받을 수 있는 권리에 관하여 승계인의 지위와 양립할 수 없는 법률상 지위를 취득한 사람에 한한다</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무권리자의 특허로서 특허무효사유가 있는 특허권을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이전받은</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양수인은 특허법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38</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항에서 말하는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자에 해당하지 않는다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7" name="타원 26">
            <a:extLst>
              <a:ext uri="{FF2B5EF4-FFF2-40B4-BE49-F238E27FC236}">
                <a16:creationId xmlns:a16="http://schemas.microsoft.com/office/drawing/2014/main" id="{845B491D-8404-4504-83DB-F8CBD9B10B19}"/>
              </a:ext>
            </a:extLst>
          </p:cNvPr>
          <p:cNvSpPr/>
          <p:nvPr/>
        </p:nvSpPr>
        <p:spPr>
          <a:xfrm>
            <a:off x="2464998" y="4495699"/>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37" name="TextBox 36">
            <a:extLst>
              <a:ext uri="{FF2B5EF4-FFF2-40B4-BE49-F238E27FC236}">
                <a16:creationId xmlns:a16="http://schemas.microsoft.com/office/drawing/2014/main" id="{2C7F855E-63E7-4276-9A07-944733EA92D5}"/>
              </a:ext>
            </a:extLst>
          </p:cNvPr>
          <p:cNvSpPr txBox="1"/>
          <p:nvPr/>
        </p:nvSpPr>
        <p:spPr>
          <a:xfrm>
            <a:off x="926301" y="3438357"/>
            <a:ext cx="1881473" cy="646331"/>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피고</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乙</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가 피고보조참가인</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丙</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에게 세트 제작 공급 </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계약 체결</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61" name="타원 60">
            <a:extLst>
              <a:ext uri="{FF2B5EF4-FFF2-40B4-BE49-F238E27FC236}">
                <a16:creationId xmlns:a16="http://schemas.microsoft.com/office/drawing/2014/main" id="{0E0EF7D2-5FEE-4A2F-ABD4-9147C82EBFE2}"/>
              </a:ext>
            </a:extLst>
          </p:cNvPr>
          <p:cNvSpPr/>
          <p:nvPr/>
        </p:nvSpPr>
        <p:spPr>
          <a:xfrm>
            <a:off x="3119236" y="448861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77" name="타원 76">
            <a:extLst>
              <a:ext uri="{FF2B5EF4-FFF2-40B4-BE49-F238E27FC236}">
                <a16:creationId xmlns:a16="http://schemas.microsoft.com/office/drawing/2014/main" id="{62437A67-7853-4410-9F0F-93BCE51D441E}"/>
              </a:ext>
            </a:extLst>
          </p:cNvPr>
          <p:cNvSpPr/>
          <p:nvPr/>
        </p:nvSpPr>
        <p:spPr>
          <a:xfrm>
            <a:off x="5016472" y="4488614"/>
            <a:ext cx="154738" cy="161338"/>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9" name="연결선: 꺾임 8">
            <a:extLst>
              <a:ext uri="{FF2B5EF4-FFF2-40B4-BE49-F238E27FC236}">
                <a16:creationId xmlns:a16="http://schemas.microsoft.com/office/drawing/2014/main" id="{2F7C9590-F96C-443E-8904-DE90258FAF82}"/>
              </a:ext>
            </a:extLst>
          </p:cNvPr>
          <p:cNvCxnSpPr>
            <a:cxnSpLocks/>
            <a:stCxn id="37" idx="2"/>
            <a:endCxn id="27" idx="0"/>
          </p:cNvCxnSpPr>
          <p:nvPr/>
        </p:nvCxnSpPr>
        <p:spPr>
          <a:xfrm rot="16200000" flipH="1">
            <a:off x="1995800" y="3955926"/>
            <a:ext cx="411011" cy="668534"/>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C178A8E6-8843-432E-B2B7-F049BC13ECC2}"/>
              </a:ext>
            </a:extLst>
          </p:cNvPr>
          <p:cNvSpPr txBox="1"/>
          <p:nvPr/>
        </p:nvSpPr>
        <p:spPr>
          <a:xfrm>
            <a:off x="2941596" y="3438357"/>
            <a:ext cx="1411483" cy="646331"/>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甲 회사는 피고</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乙</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에게 부품 개발 공급 계약 체결 </a:t>
            </a:r>
          </a:p>
        </p:txBody>
      </p:sp>
      <p:cxnSp>
        <p:nvCxnSpPr>
          <p:cNvPr id="84" name="연결선: 꺾임 83">
            <a:extLst>
              <a:ext uri="{FF2B5EF4-FFF2-40B4-BE49-F238E27FC236}">
                <a16:creationId xmlns:a16="http://schemas.microsoft.com/office/drawing/2014/main" id="{212386C3-0CC1-42F1-B941-40D96C54403B}"/>
              </a:ext>
            </a:extLst>
          </p:cNvPr>
          <p:cNvCxnSpPr>
            <a:cxnSpLocks/>
            <a:stCxn id="83" idx="2"/>
            <a:endCxn id="61" idx="0"/>
          </p:cNvCxnSpPr>
          <p:nvPr/>
        </p:nvCxnSpPr>
        <p:spPr>
          <a:xfrm rot="5400000">
            <a:off x="3220009" y="4061285"/>
            <a:ext cx="403926" cy="450733"/>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5" name="타원 84">
            <a:extLst>
              <a:ext uri="{FF2B5EF4-FFF2-40B4-BE49-F238E27FC236}">
                <a16:creationId xmlns:a16="http://schemas.microsoft.com/office/drawing/2014/main" id="{F5F209D4-546B-45E0-9FC8-78934FA6AC87}"/>
              </a:ext>
            </a:extLst>
          </p:cNvPr>
          <p:cNvSpPr/>
          <p:nvPr/>
        </p:nvSpPr>
        <p:spPr>
          <a:xfrm>
            <a:off x="3716582" y="448861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86" name="TextBox 85">
            <a:extLst>
              <a:ext uri="{FF2B5EF4-FFF2-40B4-BE49-F238E27FC236}">
                <a16:creationId xmlns:a16="http://schemas.microsoft.com/office/drawing/2014/main" id="{5542F93E-BC94-427B-895D-B20B68F6D95E}"/>
              </a:ext>
            </a:extLst>
          </p:cNvPr>
          <p:cNvSpPr txBox="1"/>
          <p:nvPr/>
        </p:nvSpPr>
        <p:spPr>
          <a:xfrm>
            <a:off x="1740130" y="5171873"/>
            <a:ext cx="1576457"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甲 회사 직원이 </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부품 관련 발명 완성</a:t>
            </a:r>
          </a:p>
        </p:txBody>
      </p:sp>
      <p:cxnSp>
        <p:nvCxnSpPr>
          <p:cNvPr id="87" name="연결선: 꺾임 86">
            <a:extLst>
              <a:ext uri="{FF2B5EF4-FFF2-40B4-BE49-F238E27FC236}">
                <a16:creationId xmlns:a16="http://schemas.microsoft.com/office/drawing/2014/main" id="{A351E9F3-9FFB-4B2E-A4A4-E5AA09B24698}"/>
              </a:ext>
            </a:extLst>
          </p:cNvPr>
          <p:cNvCxnSpPr>
            <a:cxnSpLocks/>
            <a:stCxn id="86" idx="0"/>
            <a:endCxn id="85" idx="4"/>
          </p:cNvCxnSpPr>
          <p:nvPr/>
        </p:nvCxnSpPr>
        <p:spPr>
          <a:xfrm rot="5400000" flipH="1" flipV="1">
            <a:off x="2900195" y="4278117"/>
            <a:ext cx="521921" cy="1265592"/>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6" name="타원 95">
            <a:extLst>
              <a:ext uri="{FF2B5EF4-FFF2-40B4-BE49-F238E27FC236}">
                <a16:creationId xmlns:a16="http://schemas.microsoft.com/office/drawing/2014/main" id="{1AADE59F-0011-4F37-8952-8288FDBA2E53}"/>
              </a:ext>
            </a:extLst>
          </p:cNvPr>
          <p:cNvSpPr/>
          <p:nvPr/>
        </p:nvSpPr>
        <p:spPr>
          <a:xfrm>
            <a:off x="6229530" y="4488614"/>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111" name="사각형: 둥근 모서리 110">
            <a:extLst>
              <a:ext uri="{FF2B5EF4-FFF2-40B4-BE49-F238E27FC236}">
                <a16:creationId xmlns:a16="http://schemas.microsoft.com/office/drawing/2014/main" id="{554490DD-F0E6-414B-856D-491321691AA4}"/>
              </a:ext>
            </a:extLst>
          </p:cNvPr>
          <p:cNvSpPr/>
          <p:nvPr/>
        </p:nvSpPr>
        <p:spPr>
          <a:xfrm>
            <a:off x="113937" y="964867"/>
            <a:ext cx="4765205" cy="302955"/>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2020. 5. 14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2020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10087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판결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등록무효</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특</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17" name="직선 연결선 116">
            <a:extLst>
              <a:ext uri="{FF2B5EF4-FFF2-40B4-BE49-F238E27FC236}">
                <a16:creationId xmlns:a16="http://schemas.microsoft.com/office/drawing/2014/main" id="{BFD281FC-CD72-49F6-854D-14A8B3DE91EB}"/>
              </a:ext>
            </a:extLst>
          </p:cNvPr>
          <p:cNvCxnSpPr/>
          <p:nvPr/>
        </p:nvCxnSpPr>
        <p:spPr>
          <a:xfrm>
            <a:off x="0" y="2914082"/>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연결선: 꺾임 6">
            <a:extLst>
              <a:ext uri="{FF2B5EF4-FFF2-40B4-BE49-F238E27FC236}">
                <a16:creationId xmlns:a16="http://schemas.microsoft.com/office/drawing/2014/main" id="{C30ED1FB-6D67-4B29-B733-DBE7262F2FA1}"/>
              </a:ext>
            </a:extLst>
          </p:cNvPr>
          <p:cNvCxnSpPr>
            <a:cxnSpLocks/>
            <a:stCxn id="37" idx="0"/>
            <a:endCxn id="83" idx="0"/>
          </p:cNvCxnSpPr>
          <p:nvPr/>
        </p:nvCxnSpPr>
        <p:spPr>
          <a:xfrm rot="5400000" flipH="1" flipV="1">
            <a:off x="2757188" y="2548207"/>
            <a:ext cx="12700" cy="1780300"/>
          </a:xfrm>
          <a:prstGeom prst="bentConnector3">
            <a:avLst>
              <a:gd name="adj1" fmla="val 50943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FEF00C7A-51FB-4FB7-85D1-D7FBDB337667}"/>
              </a:ext>
            </a:extLst>
          </p:cNvPr>
          <p:cNvSpPr txBox="1"/>
          <p:nvPr/>
        </p:nvSpPr>
        <p:spPr>
          <a:xfrm>
            <a:off x="1467243" y="2926197"/>
            <a:ext cx="2994731" cy="461665"/>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계약을 통해 발생한 모든 지적재산권은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피고</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乙</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거쳐 피고보조참가인</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丙</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에게 귀속</a:t>
            </a:r>
          </a:p>
        </p:txBody>
      </p:sp>
      <p:sp>
        <p:nvSpPr>
          <p:cNvPr id="50" name="TextBox 49">
            <a:extLst>
              <a:ext uri="{FF2B5EF4-FFF2-40B4-BE49-F238E27FC236}">
                <a16:creationId xmlns:a16="http://schemas.microsoft.com/office/drawing/2014/main" id="{AA9AFEB1-C195-4069-BFF3-270C48ACF668}"/>
              </a:ext>
            </a:extLst>
          </p:cNvPr>
          <p:cNvSpPr txBox="1"/>
          <p:nvPr/>
        </p:nvSpPr>
        <p:spPr>
          <a:xfrm>
            <a:off x="4501737" y="3440788"/>
            <a:ext cx="1452021" cy="646331"/>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甲 회사 출원하여 등록 후 원고</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丁</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에게 이전</a:t>
            </a:r>
          </a:p>
        </p:txBody>
      </p:sp>
      <p:cxnSp>
        <p:nvCxnSpPr>
          <p:cNvPr id="51" name="연결선: 꺾임 50">
            <a:extLst>
              <a:ext uri="{FF2B5EF4-FFF2-40B4-BE49-F238E27FC236}">
                <a16:creationId xmlns:a16="http://schemas.microsoft.com/office/drawing/2014/main" id="{547B67AB-4A92-4381-AECE-1AE88639A781}"/>
              </a:ext>
            </a:extLst>
          </p:cNvPr>
          <p:cNvCxnSpPr>
            <a:cxnSpLocks/>
            <a:stCxn id="50" idx="2"/>
            <a:endCxn id="77" idx="0"/>
          </p:cNvCxnSpPr>
          <p:nvPr/>
        </p:nvCxnSpPr>
        <p:spPr>
          <a:xfrm rot="5400000">
            <a:off x="4960048" y="4220913"/>
            <a:ext cx="401495" cy="133907"/>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A7F1B931-A240-423A-AD48-BE70F863E845}"/>
              </a:ext>
            </a:extLst>
          </p:cNvPr>
          <p:cNvSpPr txBox="1"/>
          <p:nvPr/>
        </p:nvSpPr>
        <p:spPr>
          <a:xfrm>
            <a:off x="6031126" y="3440788"/>
            <a:ext cx="1059785"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피고</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乙</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무효심판청구</a:t>
            </a:r>
          </a:p>
        </p:txBody>
      </p:sp>
      <p:cxnSp>
        <p:nvCxnSpPr>
          <p:cNvPr id="62" name="연결선: 꺾임 61">
            <a:extLst>
              <a:ext uri="{FF2B5EF4-FFF2-40B4-BE49-F238E27FC236}">
                <a16:creationId xmlns:a16="http://schemas.microsoft.com/office/drawing/2014/main" id="{87887B0F-9391-491F-98B3-5E9CAC320861}"/>
              </a:ext>
            </a:extLst>
          </p:cNvPr>
          <p:cNvCxnSpPr>
            <a:cxnSpLocks/>
            <a:stCxn id="60" idx="2"/>
            <a:endCxn id="96" idx="0"/>
          </p:cNvCxnSpPr>
          <p:nvPr/>
        </p:nvCxnSpPr>
        <p:spPr>
          <a:xfrm rot="5400000">
            <a:off x="6140879" y="4068473"/>
            <a:ext cx="586161" cy="254120"/>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4" name="타원 63">
            <a:extLst>
              <a:ext uri="{FF2B5EF4-FFF2-40B4-BE49-F238E27FC236}">
                <a16:creationId xmlns:a16="http://schemas.microsoft.com/office/drawing/2014/main" id="{ED132116-906D-4B8B-B0BC-3C0D57ADF92A}"/>
              </a:ext>
            </a:extLst>
          </p:cNvPr>
          <p:cNvSpPr/>
          <p:nvPr/>
        </p:nvSpPr>
        <p:spPr>
          <a:xfrm>
            <a:off x="6554939" y="4488614"/>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65" name="TextBox 64">
            <a:extLst>
              <a:ext uri="{FF2B5EF4-FFF2-40B4-BE49-F238E27FC236}">
                <a16:creationId xmlns:a16="http://schemas.microsoft.com/office/drawing/2014/main" id="{27635A6B-8BB9-4529-9606-6D788F68EEC2}"/>
              </a:ext>
            </a:extLst>
          </p:cNvPr>
          <p:cNvSpPr txBox="1"/>
          <p:nvPr/>
        </p:nvSpPr>
        <p:spPr>
          <a:xfrm>
            <a:off x="6339279" y="4994072"/>
            <a:ext cx="75163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rPr>
              <a:t>인용심결</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66" name="연결선: 꺾임 65">
            <a:extLst>
              <a:ext uri="{FF2B5EF4-FFF2-40B4-BE49-F238E27FC236}">
                <a16:creationId xmlns:a16="http://schemas.microsoft.com/office/drawing/2014/main" id="{F407AB73-2EDC-43ED-A330-9708767BECEC}"/>
              </a:ext>
            </a:extLst>
          </p:cNvPr>
          <p:cNvCxnSpPr>
            <a:cxnSpLocks/>
            <a:stCxn id="65" idx="0"/>
            <a:endCxn id="64" idx="4"/>
          </p:cNvCxnSpPr>
          <p:nvPr/>
        </p:nvCxnSpPr>
        <p:spPr>
          <a:xfrm rot="16200000" flipV="1">
            <a:off x="6501642" y="4780618"/>
            <a:ext cx="344120" cy="82787"/>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1" name="타원 70">
            <a:extLst>
              <a:ext uri="{FF2B5EF4-FFF2-40B4-BE49-F238E27FC236}">
                <a16:creationId xmlns:a16="http://schemas.microsoft.com/office/drawing/2014/main" id="{446CF830-2D6D-4D46-A7A0-4C5BFFAC0ABD}"/>
              </a:ext>
            </a:extLst>
          </p:cNvPr>
          <p:cNvSpPr/>
          <p:nvPr/>
        </p:nvSpPr>
        <p:spPr>
          <a:xfrm>
            <a:off x="7833621" y="4488614"/>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72" name="TextBox 71">
            <a:extLst>
              <a:ext uri="{FF2B5EF4-FFF2-40B4-BE49-F238E27FC236}">
                <a16:creationId xmlns:a16="http://schemas.microsoft.com/office/drawing/2014/main" id="{8A8870B3-76B0-490D-9A8E-88A122FCDDCB}"/>
              </a:ext>
            </a:extLst>
          </p:cNvPr>
          <p:cNvSpPr txBox="1"/>
          <p:nvPr/>
        </p:nvSpPr>
        <p:spPr>
          <a:xfrm>
            <a:off x="7264285" y="3440788"/>
            <a:ext cx="1059785"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원고</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丁</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소제기</a:t>
            </a:r>
          </a:p>
        </p:txBody>
      </p:sp>
      <p:cxnSp>
        <p:nvCxnSpPr>
          <p:cNvPr id="73" name="연결선: 꺾임 72">
            <a:extLst>
              <a:ext uri="{FF2B5EF4-FFF2-40B4-BE49-F238E27FC236}">
                <a16:creationId xmlns:a16="http://schemas.microsoft.com/office/drawing/2014/main" id="{9A9AA8B0-F785-4B00-A138-640F3ABD042C}"/>
              </a:ext>
            </a:extLst>
          </p:cNvPr>
          <p:cNvCxnSpPr>
            <a:cxnSpLocks/>
            <a:stCxn id="72" idx="2"/>
            <a:endCxn id="71" idx="0"/>
          </p:cNvCxnSpPr>
          <p:nvPr/>
        </p:nvCxnSpPr>
        <p:spPr>
          <a:xfrm rot="16200000" flipH="1">
            <a:off x="7559504" y="4137127"/>
            <a:ext cx="586161" cy="116812"/>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4" name="타원 73">
            <a:extLst>
              <a:ext uri="{FF2B5EF4-FFF2-40B4-BE49-F238E27FC236}">
                <a16:creationId xmlns:a16="http://schemas.microsoft.com/office/drawing/2014/main" id="{56F87F6E-67F6-44AB-AA7D-E93EE4AA08F4}"/>
              </a:ext>
            </a:extLst>
          </p:cNvPr>
          <p:cNvSpPr/>
          <p:nvPr/>
        </p:nvSpPr>
        <p:spPr>
          <a:xfrm>
            <a:off x="9064802" y="4488614"/>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75" name="TextBox 74">
            <a:extLst>
              <a:ext uri="{FF2B5EF4-FFF2-40B4-BE49-F238E27FC236}">
                <a16:creationId xmlns:a16="http://schemas.microsoft.com/office/drawing/2014/main" id="{F9C26916-2D59-4BA2-ADED-17944F6CDA36}"/>
              </a:ext>
            </a:extLst>
          </p:cNvPr>
          <p:cNvSpPr txBox="1"/>
          <p:nvPr/>
        </p:nvSpPr>
        <p:spPr>
          <a:xfrm>
            <a:off x="8849142" y="4994072"/>
            <a:ext cx="75163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기각판결</a:t>
            </a:r>
          </a:p>
        </p:txBody>
      </p:sp>
      <p:cxnSp>
        <p:nvCxnSpPr>
          <p:cNvPr id="76" name="연결선: 꺾임 75">
            <a:extLst>
              <a:ext uri="{FF2B5EF4-FFF2-40B4-BE49-F238E27FC236}">
                <a16:creationId xmlns:a16="http://schemas.microsoft.com/office/drawing/2014/main" id="{D6D0686A-E3C9-4939-B0AA-BD635A1420AD}"/>
              </a:ext>
            </a:extLst>
          </p:cNvPr>
          <p:cNvCxnSpPr>
            <a:cxnSpLocks/>
            <a:stCxn id="75" idx="0"/>
            <a:endCxn id="74" idx="4"/>
          </p:cNvCxnSpPr>
          <p:nvPr/>
        </p:nvCxnSpPr>
        <p:spPr>
          <a:xfrm rot="16200000" flipV="1">
            <a:off x="9011505" y="4780618"/>
            <a:ext cx="344120" cy="82787"/>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8" name="타원 77">
            <a:extLst>
              <a:ext uri="{FF2B5EF4-FFF2-40B4-BE49-F238E27FC236}">
                <a16:creationId xmlns:a16="http://schemas.microsoft.com/office/drawing/2014/main" id="{3F6224EB-9327-4FDF-A844-06DA9E8EEC5F}"/>
              </a:ext>
            </a:extLst>
          </p:cNvPr>
          <p:cNvSpPr/>
          <p:nvPr/>
        </p:nvSpPr>
        <p:spPr>
          <a:xfrm>
            <a:off x="9515802" y="4488614"/>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80" name="TextBox 79">
            <a:extLst>
              <a:ext uri="{FF2B5EF4-FFF2-40B4-BE49-F238E27FC236}">
                <a16:creationId xmlns:a16="http://schemas.microsoft.com/office/drawing/2014/main" id="{801DA923-1069-4817-9B85-3AAAFCCE4B17}"/>
              </a:ext>
            </a:extLst>
          </p:cNvPr>
          <p:cNvSpPr txBox="1"/>
          <p:nvPr/>
        </p:nvSpPr>
        <p:spPr>
          <a:xfrm>
            <a:off x="9351903" y="3440788"/>
            <a:ext cx="1059785"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원고</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丁</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상고</a:t>
            </a:r>
          </a:p>
        </p:txBody>
      </p:sp>
      <p:cxnSp>
        <p:nvCxnSpPr>
          <p:cNvPr id="81" name="연결선: 꺾임 80">
            <a:extLst>
              <a:ext uri="{FF2B5EF4-FFF2-40B4-BE49-F238E27FC236}">
                <a16:creationId xmlns:a16="http://schemas.microsoft.com/office/drawing/2014/main" id="{7058E585-DFDA-4C5E-B219-C439FE590D21}"/>
              </a:ext>
            </a:extLst>
          </p:cNvPr>
          <p:cNvCxnSpPr>
            <a:cxnSpLocks/>
            <a:stCxn id="80" idx="2"/>
            <a:endCxn id="78" idx="0"/>
          </p:cNvCxnSpPr>
          <p:nvPr/>
        </p:nvCxnSpPr>
        <p:spPr>
          <a:xfrm rot="5400000">
            <a:off x="9444404" y="4051221"/>
            <a:ext cx="586161" cy="288625"/>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2" name="타원 81">
            <a:extLst>
              <a:ext uri="{FF2B5EF4-FFF2-40B4-BE49-F238E27FC236}">
                <a16:creationId xmlns:a16="http://schemas.microsoft.com/office/drawing/2014/main" id="{196C4D4C-BB4E-410C-A57F-6D1F451965F5}"/>
              </a:ext>
            </a:extLst>
          </p:cNvPr>
          <p:cNvSpPr/>
          <p:nvPr/>
        </p:nvSpPr>
        <p:spPr>
          <a:xfrm>
            <a:off x="8222215" y="4488614"/>
            <a:ext cx="154738" cy="161338"/>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88" name="TextBox 87">
            <a:extLst>
              <a:ext uri="{FF2B5EF4-FFF2-40B4-BE49-F238E27FC236}">
                <a16:creationId xmlns:a16="http://schemas.microsoft.com/office/drawing/2014/main" id="{014442E4-5A95-4FDB-AFC2-3DFEF7E7895B}"/>
              </a:ext>
            </a:extLst>
          </p:cNvPr>
          <p:cNvSpPr txBox="1"/>
          <p:nvPr/>
        </p:nvSpPr>
        <p:spPr>
          <a:xfrm>
            <a:off x="8006555" y="4994072"/>
            <a:ext cx="751632"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보조참가</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신청</a:t>
            </a:r>
          </a:p>
        </p:txBody>
      </p:sp>
      <p:cxnSp>
        <p:nvCxnSpPr>
          <p:cNvPr id="92" name="연결선: 꺾임 91">
            <a:extLst>
              <a:ext uri="{FF2B5EF4-FFF2-40B4-BE49-F238E27FC236}">
                <a16:creationId xmlns:a16="http://schemas.microsoft.com/office/drawing/2014/main" id="{94D69269-5CFA-473A-BF40-AEF121BD588F}"/>
              </a:ext>
            </a:extLst>
          </p:cNvPr>
          <p:cNvCxnSpPr>
            <a:cxnSpLocks/>
            <a:stCxn id="88" idx="0"/>
            <a:endCxn id="82" idx="4"/>
          </p:cNvCxnSpPr>
          <p:nvPr/>
        </p:nvCxnSpPr>
        <p:spPr>
          <a:xfrm rot="16200000" flipV="1">
            <a:off x="8168918" y="4780618"/>
            <a:ext cx="344120" cy="82787"/>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5" name="직사각형 34">
            <a:extLst>
              <a:ext uri="{FF2B5EF4-FFF2-40B4-BE49-F238E27FC236}">
                <a16:creationId xmlns:a16="http://schemas.microsoft.com/office/drawing/2014/main" id="{3F3D0C1F-FE7F-47E3-AA0E-DF5972CAB440}"/>
              </a:ext>
            </a:extLst>
          </p:cNvPr>
          <p:cNvSpPr/>
          <p:nvPr/>
        </p:nvSpPr>
        <p:spPr>
          <a:xfrm>
            <a:off x="3291494" y="5491057"/>
            <a:ext cx="8892262" cy="1384995"/>
          </a:xfrm>
          <a:prstGeom prst="rect">
            <a:avLst/>
          </a:prstGeom>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특정 소송사건에서 한쪽 당사자를 보조하기 위하여 보조참가를 하려면 그 소송의 결과에 대하여 이해관계가 있어야 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여기서 이해관계라고 함은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사실상ㆍ경제상</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또는 감정상의 이해관계가 아니라 법률상의 이해관계를 말하는 것으로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소송의 판결의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기판력이나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집행력을 당연히 받는 경우 또는 적어도 그 판결을 전제로 하여 보조참가를 하려는 자의 법률상의 지위가 결정되는 관계에 있는 경우를 의미한다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2017. 6. 22.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225809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전원합의체 판결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2007. 4. 26.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2005</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19156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판결 등 참조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살피건대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뒤에서 보는 바와 같이 피고보조참가인은 이 사건 특허발명에 관한 특허를 출원할 권리를 적법하게 승계한 자로서 이 사건 소송에서 이 사건 특허발명이 무권리자에 의한 출원으로 인정되어 그 특허가 무효가 될 경우 자신 명의로 이 사건 특허발명을 출원하여 특허를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등록받을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수 있는 지위에 있다고 인정되므로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 사건 소송의 결과에 대하여 법률상 이해관계가 있다고 할 것이다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 name="TextBox 12">
            <a:extLst>
              <a:ext uri="{FF2B5EF4-FFF2-40B4-BE49-F238E27FC236}">
                <a16:creationId xmlns:a16="http://schemas.microsoft.com/office/drawing/2014/main" id="{418630A9-6382-49F9-B082-F36F519BE7E5}"/>
              </a:ext>
            </a:extLst>
          </p:cNvPr>
          <p:cNvSpPr txBox="1"/>
          <p:nvPr/>
        </p:nvSpPr>
        <p:spPr>
          <a:xfrm>
            <a:off x="289226" y="5789349"/>
            <a:ext cx="2901808" cy="923330"/>
          </a:xfrm>
          <a:prstGeom prst="rect">
            <a:avLst/>
          </a:prstGeom>
          <a:no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현재는 특허를 받을 수 있는 권리를 가진 丙만이 무효심판청구 가능</a:t>
            </a:r>
          </a:p>
        </p:txBody>
      </p:sp>
    </p:spTree>
    <p:extLst>
      <p:ext uri="{BB962C8B-B14F-4D97-AF65-F5344CB8AC3E}">
        <p14:creationId xmlns:p14="http://schemas.microsoft.com/office/powerpoint/2010/main" val="2332566524"/>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38</a:t>
            </a:r>
            <a:r>
              <a:rPr lang="ko-KR" altLang="en-US" dirty="0"/>
              <a:t>조 제</a:t>
            </a:r>
            <a:r>
              <a:rPr lang="en-US" altLang="ko-KR" dirty="0"/>
              <a:t>1</a:t>
            </a:r>
            <a:r>
              <a:rPr lang="ko-KR" altLang="en-US" dirty="0"/>
              <a:t>항</a:t>
            </a:r>
          </a:p>
        </p:txBody>
      </p:sp>
      <p:sp>
        <p:nvSpPr>
          <p:cNvPr id="3" name="텍스트 개체 틀 2"/>
          <p:cNvSpPr>
            <a:spLocks noGrp="1"/>
          </p:cNvSpPr>
          <p:nvPr>
            <p:ph type="body" sz="quarter" idx="13"/>
          </p:nvPr>
        </p:nvSpPr>
        <p:spPr/>
        <p:txBody>
          <a:bodyPr/>
          <a:lstStyle/>
          <a:p>
            <a:r>
              <a:rPr lang="ko-KR" altLang="en-US" dirty="0"/>
              <a:t>분리탑재형 발전기의</a:t>
            </a:r>
            <a:r>
              <a:rPr lang="en-US" altLang="ko-KR" dirty="0"/>
              <a:t> CASE</a:t>
            </a:r>
            <a:endParaRPr lang="ko-KR" altLang="en-US" dirty="0"/>
          </a:p>
        </p:txBody>
      </p:sp>
      <p:sp>
        <p:nvSpPr>
          <p:cNvPr id="38" name="슬라이드 번호 개체 틀 1">
            <a:extLst>
              <a:ext uri="{FF2B5EF4-FFF2-40B4-BE49-F238E27FC236}">
                <a16:creationId xmlns:a16="http://schemas.microsoft.com/office/drawing/2014/main" id="{0F75A23A-7A3E-48BF-8C01-2171501A1370}"/>
              </a:ext>
            </a:extLst>
          </p:cNvPr>
          <p:cNvSpPr>
            <a:spLocks noGrp="1"/>
          </p:cNvSpPr>
          <p:nvPr>
            <p:ph type="sldNum" sz="quarter" idx="4294967295"/>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fld id="{3875FC6C-1516-4DC4-8C58-3090F7D4F003}" type="slidenum">
              <a:rPr kumimoji="0" lang="ko-KR" altLang="en-US" sz="3600" b="1" i="0" u="none" strike="noStrike" kern="1200" cap="none" spc="0" normalizeH="0" baseline="0" noProof="0" smtClean="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pPr marL="0" marR="0" lvl="0" indent="0" algn="ctr" defTabSz="914400" rtl="0" eaLnBrk="1" fontAlgn="auto" latinLnBrk="1" hangingPunct="1">
                <a:lnSpc>
                  <a:spcPct val="100000"/>
                </a:lnSpc>
                <a:spcBef>
                  <a:spcPts val="0"/>
                </a:spcBef>
                <a:spcAft>
                  <a:spcPts val="0"/>
                </a:spcAft>
                <a:buClrTx/>
                <a:buSzTx/>
                <a:buFontTx/>
                <a:buNone/>
                <a:tabLst/>
                <a:defRPr/>
              </a:pPr>
              <a:t>114</a:t>
            </a:fld>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44" name="TextBox 43">
            <a:extLst>
              <a:ext uri="{FF2B5EF4-FFF2-40B4-BE49-F238E27FC236}">
                <a16:creationId xmlns:a16="http://schemas.microsoft.com/office/drawing/2014/main" id="{B439CAB7-A0DD-4B52-B97C-8449DEFC839A}"/>
              </a:ext>
            </a:extLst>
          </p:cNvPr>
          <p:cNvSpPr txBox="1"/>
          <p:nvPr/>
        </p:nvSpPr>
        <p:spPr>
          <a:xfrm>
            <a:off x="2188131" y="2432653"/>
            <a:ext cx="468498" cy="408623"/>
          </a:xfrm>
          <a:prstGeom prst="round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병</a:t>
            </a:r>
          </a:p>
        </p:txBody>
      </p:sp>
      <p:sp>
        <p:nvSpPr>
          <p:cNvPr id="45" name="TextBox 44">
            <a:extLst>
              <a:ext uri="{FF2B5EF4-FFF2-40B4-BE49-F238E27FC236}">
                <a16:creationId xmlns:a16="http://schemas.microsoft.com/office/drawing/2014/main" id="{5B52AAB2-5201-4304-BC2A-8E53B3DCA00F}"/>
              </a:ext>
            </a:extLst>
          </p:cNvPr>
          <p:cNvSpPr txBox="1"/>
          <p:nvPr/>
        </p:nvSpPr>
        <p:spPr>
          <a:xfrm>
            <a:off x="2188842" y="4382222"/>
            <a:ext cx="470850" cy="408623"/>
          </a:xfrm>
          <a:prstGeom prst="round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정</a:t>
            </a:r>
          </a:p>
        </p:txBody>
      </p:sp>
      <p:sp>
        <p:nvSpPr>
          <p:cNvPr id="46" name="TextBox 45">
            <a:extLst>
              <a:ext uri="{FF2B5EF4-FFF2-40B4-BE49-F238E27FC236}">
                <a16:creationId xmlns:a16="http://schemas.microsoft.com/office/drawing/2014/main" id="{B8F322C9-2035-4206-BDD4-5F340BF7CF73}"/>
              </a:ext>
            </a:extLst>
          </p:cNvPr>
          <p:cNvSpPr txBox="1"/>
          <p:nvPr/>
        </p:nvSpPr>
        <p:spPr>
          <a:xfrm>
            <a:off x="454934" y="3338426"/>
            <a:ext cx="470850" cy="408623"/>
          </a:xfrm>
          <a:prstGeom prst="round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갑</a:t>
            </a:r>
          </a:p>
        </p:txBody>
      </p:sp>
      <p:cxnSp>
        <p:nvCxnSpPr>
          <p:cNvPr id="6" name="직선 화살표 연결선 5">
            <a:extLst>
              <a:ext uri="{FF2B5EF4-FFF2-40B4-BE49-F238E27FC236}">
                <a16:creationId xmlns:a16="http://schemas.microsoft.com/office/drawing/2014/main" id="{13DA43A0-333E-4EE1-9661-1A07AA9CBD60}"/>
              </a:ext>
            </a:extLst>
          </p:cNvPr>
          <p:cNvCxnSpPr>
            <a:cxnSpLocks/>
          </p:cNvCxnSpPr>
          <p:nvPr/>
        </p:nvCxnSpPr>
        <p:spPr>
          <a:xfrm flipV="1">
            <a:off x="1068026" y="2636965"/>
            <a:ext cx="978572" cy="90577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5782202D-74F0-403B-94BF-C94A52817D1D}"/>
              </a:ext>
            </a:extLst>
          </p:cNvPr>
          <p:cNvSpPr txBox="1"/>
          <p:nvPr/>
        </p:nvSpPr>
        <p:spPr>
          <a:xfrm>
            <a:off x="868807" y="2632709"/>
            <a:ext cx="1301959" cy="584775"/>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양도</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출원전</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승계</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52" name="직선 화살표 연결선 51">
            <a:extLst>
              <a:ext uri="{FF2B5EF4-FFF2-40B4-BE49-F238E27FC236}">
                <a16:creationId xmlns:a16="http://schemas.microsoft.com/office/drawing/2014/main" id="{0E7861E0-E3B2-42B8-9121-6D63D501DC70}"/>
              </a:ext>
            </a:extLst>
          </p:cNvPr>
          <p:cNvCxnSpPr>
            <a:cxnSpLocks/>
          </p:cNvCxnSpPr>
          <p:nvPr/>
        </p:nvCxnSpPr>
        <p:spPr>
          <a:xfrm>
            <a:off x="1068026" y="3542738"/>
            <a:ext cx="978573" cy="104379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2FAF416F-8CC3-46C8-99AC-EFC5873F9924}"/>
              </a:ext>
            </a:extLst>
          </p:cNvPr>
          <p:cNvSpPr txBox="1"/>
          <p:nvPr/>
        </p:nvSpPr>
        <p:spPr>
          <a:xfrm>
            <a:off x="951450" y="3800739"/>
            <a:ext cx="1301959" cy="584775"/>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양도</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출원전</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승계</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4" name="TextBox 53">
            <a:extLst>
              <a:ext uri="{FF2B5EF4-FFF2-40B4-BE49-F238E27FC236}">
                <a16:creationId xmlns:a16="http://schemas.microsoft.com/office/drawing/2014/main" id="{7F4F9CBF-F984-48CD-B65A-77863187FB6A}"/>
              </a:ext>
            </a:extLst>
          </p:cNvPr>
          <p:cNvSpPr txBox="1"/>
          <p:nvPr/>
        </p:nvSpPr>
        <p:spPr>
          <a:xfrm>
            <a:off x="2310230" y="4852947"/>
            <a:ext cx="782587" cy="338554"/>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출원</a:t>
            </a:r>
          </a:p>
        </p:txBody>
      </p:sp>
      <p:cxnSp>
        <p:nvCxnSpPr>
          <p:cNvPr id="56" name="직선 연결선 55">
            <a:extLst>
              <a:ext uri="{FF2B5EF4-FFF2-40B4-BE49-F238E27FC236}">
                <a16:creationId xmlns:a16="http://schemas.microsoft.com/office/drawing/2014/main" id="{63BE3F51-F81E-4DA7-99E0-9BAE042BD24F}"/>
              </a:ext>
            </a:extLst>
          </p:cNvPr>
          <p:cNvCxnSpPr>
            <a:cxnSpLocks/>
          </p:cNvCxnSpPr>
          <p:nvPr/>
        </p:nvCxnSpPr>
        <p:spPr>
          <a:xfrm>
            <a:off x="6107506" y="1075676"/>
            <a:ext cx="0" cy="577969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사각형: 둥근 모서리 15">
            <a:extLst>
              <a:ext uri="{FF2B5EF4-FFF2-40B4-BE49-F238E27FC236}">
                <a16:creationId xmlns:a16="http://schemas.microsoft.com/office/drawing/2014/main" id="{256199DC-97D5-40B7-9AAE-1234AE4B0201}"/>
              </a:ext>
            </a:extLst>
          </p:cNvPr>
          <p:cNvSpPr/>
          <p:nvPr/>
        </p:nvSpPr>
        <p:spPr>
          <a:xfrm>
            <a:off x="198828" y="1273489"/>
            <a:ext cx="2651095" cy="302955"/>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특허법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38</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 적용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CASE</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3" name="사각형: 둥근 모서리 62">
            <a:extLst>
              <a:ext uri="{FF2B5EF4-FFF2-40B4-BE49-F238E27FC236}">
                <a16:creationId xmlns:a16="http://schemas.microsoft.com/office/drawing/2014/main" id="{3E817E42-661E-428D-BFED-55542CEC4C94}"/>
              </a:ext>
            </a:extLst>
          </p:cNvPr>
          <p:cNvSpPr/>
          <p:nvPr/>
        </p:nvSpPr>
        <p:spPr>
          <a:xfrm>
            <a:off x="6617353" y="1273489"/>
            <a:ext cx="4765205" cy="302955"/>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2020. 5. 14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2020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10087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판결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등록무효</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특</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8" name="연결선: 꺾임 17">
            <a:extLst>
              <a:ext uri="{FF2B5EF4-FFF2-40B4-BE49-F238E27FC236}">
                <a16:creationId xmlns:a16="http://schemas.microsoft.com/office/drawing/2014/main" id="{99BA7B2C-BF58-476C-919E-1F5A3EEE9AD7}"/>
              </a:ext>
            </a:extLst>
          </p:cNvPr>
          <p:cNvCxnSpPr>
            <a:cxnSpLocks/>
            <a:endCxn id="45" idx="3"/>
          </p:cNvCxnSpPr>
          <p:nvPr/>
        </p:nvCxnSpPr>
        <p:spPr>
          <a:xfrm rot="16200000" flipH="1">
            <a:off x="1668407" y="3595249"/>
            <a:ext cx="1745258" cy="237312"/>
          </a:xfrm>
          <a:prstGeom prst="bentConnector4">
            <a:avLst>
              <a:gd name="adj1" fmla="val 44147"/>
              <a:gd name="adj2" fmla="val 276603"/>
            </a:avLst>
          </a:prstGeom>
          <a:ln w="762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CA1E752B-0F6D-4BD8-9ADE-8DF664CA2D47}"/>
              </a:ext>
            </a:extLst>
          </p:cNvPr>
          <p:cNvSpPr txBox="1"/>
          <p:nvPr/>
        </p:nvSpPr>
        <p:spPr>
          <a:xfrm>
            <a:off x="198828" y="1626450"/>
            <a:ext cx="5822407" cy="523220"/>
          </a:xfrm>
          <a:prstGeom prst="rect">
            <a:avLst/>
          </a:prstGeom>
          <a:no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 전에 이루어진 특허를 받을 수 있는 권리의 승계는 그 승계인이 특허출원을 하여야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자에게 대항할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9" name="TextBox 88">
            <a:extLst>
              <a:ext uri="{FF2B5EF4-FFF2-40B4-BE49-F238E27FC236}">
                <a16:creationId xmlns:a16="http://schemas.microsoft.com/office/drawing/2014/main" id="{0E3764FD-51D7-423E-9A2F-4D588F4BECE3}"/>
              </a:ext>
            </a:extLst>
          </p:cNvPr>
          <p:cNvSpPr txBox="1"/>
          <p:nvPr/>
        </p:nvSpPr>
        <p:spPr>
          <a:xfrm>
            <a:off x="2768247" y="2871796"/>
            <a:ext cx="3294492" cy="584775"/>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병이</a:t>
            </a:r>
            <a:r>
              <a:rPr kumimoji="0" lang="en-US" altLang="ko-KR" sz="16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a:t>
            </a:r>
            <a:r>
              <a:rPr kumimoji="0" lang="ko-KR" altLang="en-US" sz="16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출원하지 않았기 때문에 제</a:t>
            </a:r>
            <a:r>
              <a:rPr kumimoji="0" lang="en-US" altLang="ko-KR" sz="16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3</a:t>
            </a:r>
            <a:r>
              <a:rPr kumimoji="0" lang="ko-KR" altLang="en-US" sz="16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자인</a:t>
            </a:r>
            <a:endParaRPr kumimoji="0" lang="en-US" altLang="ko-KR" sz="16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정에게 양도의 효력을 주장하지 못함 </a:t>
            </a:r>
          </a:p>
        </p:txBody>
      </p:sp>
      <p:sp>
        <p:nvSpPr>
          <p:cNvPr id="90" name="TextBox 89">
            <a:extLst>
              <a:ext uri="{FF2B5EF4-FFF2-40B4-BE49-F238E27FC236}">
                <a16:creationId xmlns:a16="http://schemas.microsoft.com/office/drawing/2014/main" id="{A8229F80-1550-4812-9B07-DFA3A9DED2B4}"/>
              </a:ext>
            </a:extLst>
          </p:cNvPr>
          <p:cNvSpPr txBox="1"/>
          <p:nvPr/>
        </p:nvSpPr>
        <p:spPr>
          <a:xfrm>
            <a:off x="3667447" y="5564311"/>
            <a:ext cx="2046585" cy="769441"/>
          </a:xfrm>
          <a:prstGeom prst="wedgeRectCallout">
            <a:avLst>
              <a:gd name="adj1" fmla="val -89829"/>
              <a:gd name="adj2" fmla="val -163776"/>
            </a:avLst>
          </a:prstGeom>
          <a:no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38</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항의 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3</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자 인정</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특허를 받을 수 있는 권리에 관하여 승계인의 지위와 양립할 수 없는 법률상 지위를 취득한 사람</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1" name="TextBox 90">
            <a:extLst>
              <a:ext uri="{FF2B5EF4-FFF2-40B4-BE49-F238E27FC236}">
                <a16:creationId xmlns:a16="http://schemas.microsoft.com/office/drawing/2014/main" id="{DAB95E8E-507B-4A56-B164-B344277CDDC6}"/>
              </a:ext>
            </a:extLst>
          </p:cNvPr>
          <p:cNvSpPr txBox="1"/>
          <p:nvPr/>
        </p:nvSpPr>
        <p:spPr>
          <a:xfrm>
            <a:off x="8130001" y="1915072"/>
            <a:ext cx="470848" cy="408623"/>
          </a:xfrm>
          <a:prstGeom prst="round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병</a:t>
            </a:r>
          </a:p>
        </p:txBody>
      </p:sp>
      <p:sp>
        <p:nvSpPr>
          <p:cNvPr id="93" name="TextBox 92">
            <a:extLst>
              <a:ext uri="{FF2B5EF4-FFF2-40B4-BE49-F238E27FC236}">
                <a16:creationId xmlns:a16="http://schemas.microsoft.com/office/drawing/2014/main" id="{40F021D1-C29C-4F50-B018-3A07E6AA0C59}"/>
              </a:ext>
            </a:extLst>
          </p:cNvPr>
          <p:cNvSpPr txBox="1"/>
          <p:nvPr/>
        </p:nvSpPr>
        <p:spPr>
          <a:xfrm>
            <a:off x="8130003" y="3864641"/>
            <a:ext cx="470850" cy="408623"/>
          </a:xfrm>
          <a:prstGeom prst="round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정</a:t>
            </a:r>
          </a:p>
        </p:txBody>
      </p:sp>
      <p:sp>
        <p:nvSpPr>
          <p:cNvPr id="94" name="TextBox 93">
            <a:extLst>
              <a:ext uri="{FF2B5EF4-FFF2-40B4-BE49-F238E27FC236}">
                <a16:creationId xmlns:a16="http://schemas.microsoft.com/office/drawing/2014/main" id="{2F6A9FC1-A552-4DB0-B491-06ACD5E1ADED}"/>
              </a:ext>
            </a:extLst>
          </p:cNvPr>
          <p:cNvSpPr txBox="1"/>
          <p:nvPr/>
        </p:nvSpPr>
        <p:spPr>
          <a:xfrm>
            <a:off x="6396095" y="2820845"/>
            <a:ext cx="470850" cy="408623"/>
          </a:xfrm>
          <a:prstGeom prst="round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갑</a:t>
            </a:r>
          </a:p>
        </p:txBody>
      </p:sp>
      <p:cxnSp>
        <p:nvCxnSpPr>
          <p:cNvPr id="95" name="직선 화살표 연결선 94">
            <a:extLst>
              <a:ext uri="{FF2B5EF4-FFF2-40B4-BE49-F238E27FC236}">
                <a16:creationId xmlns:a16="http://schemas.microsoft.com/office/drawing/2014/main" id="{BF626377-BFDB-470B-8407-78B719335BAC}"/>
              </a:ext>
            </a:extLst>
          </p:cNvPr>
          <p:cNvCxnSpPr>
            <a:cxnSpLocks/>
          </p:cNvCxnSpPr>
          <p:nvPr/>
        </p:nvCxnSpPr>
        <p:spPr>
          <a:xfrm flipV="1">
            <a:off x="7009187" y="2119384"/>
            <a:ext cx="978572" cy="90577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16BE2A72-AB5E-4AA6-8251-80EFF5CDCA97}"/>
              </a:ext>
            </a:extLst>
          </p:cNvPr>
          <p:cNvSpPr txBox="1"/>
          <p:nvPr/>
        </p:nvSpPr>
        <p:spPr>
          <a:xfrm>
            <a:off x="6872813" y="2123127"/>
            <a:ext cx="1301959" cy="584775"/>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양도</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출원전</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승계</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8" name="직선 화살표 연결선 97">
            <a:extLst>
              <a:ext uri="{FF2B5EF4-FFF2-40B4-BE49-F238E27FC236}">
                <a16:creationId xmlns:a16="http://schemas.microsoft.com/office/drawing/2014/main" id="{8973BAA5-78B7-41FF-BAC0-2D4043F69EEA}"/>
              </a:ext>
            </a:extLst>
          </p:cNvPr>
          <p:cNvCxnSpPr>
            <a:cxnSpLocks/>
          </p:cNvCxnSpPr>
          <p:nvPr/>
        </p:nvCxnSpPr>
        <p:spPr>
          <a:xfrm>
            <a:off x="7009187" y="3025157"/>
            <a:ext cx="978573" cy="104379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9" name="TextBox 98">
            <a:extLst>
              <a:ext uri="{FF2B5EF4-FFF2-40B4-BE49-F238E27FC236}">
                <a16:creationId xmlns:a16="http://schemas.microsoft.com/office/drawing/2014/main" id="{7ECB4053-5F03-4DF5-B02E-9AD131911868}"/>
              </a:ext>
            </a:extLst>
          </p:cNvPr>
          <p:cNvSpPr txBox="1"/>
          <p:nvPr/>
        </p:nvSpPr>
        <p:spPr>
          <a:xfrm>
            <a:off x="7107179" y="3871661"/>
            <a:ext cx="782587" cy="338554"/>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양도</a:t>
            </a:r>
          </a:p>
        </p:txBody>
      </p:sp>
      <p:sp>
        <p:nvSpPr>
          <p:cNvPr id="100" name="TextBox 99">
            <a:extLst>
              <a:ext uri="{FF2B5EF4-FFF2-40B4-BE49-F238E27FC236}">
                <a16:creationId xmlns:a16="http://schemas.microsoft.com/office/drawing/2014/main" id="{629B9B48-D0AA-4E71-8A4F-D0623400E415}"/>
              </a:ext>
            </a:extLst>
          </p:cNvPr>
          <p:cNvSpPr txBox="1"/>
          <p:nvPr/>
        </p:nvSpPr>
        <p:spPr>
          <a:xfrm>
            <a:off x="6141175" y="3235498"/>
            <a:ext cx="1393330" cy="338554"/>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출원후</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등록</a:t>
            </a:r>
          </a:p>
        </p:txBody>
      </p:sp>
      <p:cxnSp>
        <p:nvCxnSpPr>
          <p:cNvPr id="101" name="연결선: 꺾임 100">
            <a:extLst>
              <a:ext uri="{FF2B5EF4-FFF2-40B4-BE49-F238E27FC236}">
                <a16:creationId xmlns:a16="http://schemas.microsoft.com/office/drawing/2014/main" id="{7EBB987F-72F4-4A97-B8CC-1B843296DB82}"/>
              </a:ext>
            </a:extLst>
          </p:cNvPr>
          <p:cNvCxnSpPr>
            <a:cxnSpLocks/>
            <a:endCxn id="93" idx="3"/>
          </p:cNvCxnSpPr>
          <p:nvPr/>
        </p:nvCxnSpPr>
        <p:spPr>
          <a:xfrm rot="16200000" flipH="1">
            <a:off x="7610510" y="3078610"/>
            <a:ext cx="1745258" cy="235428"/>
          </a:xfrm>
          <a:prstGeom prst="bentConnector4">
            <a:avLst>
              <a:gd name="adj1" fmla="val 44147"/>
              <a:gd name="adj2" fmla="val 288805"/>
            </a:avLst>
          </a:prstGeom>
          <a:ln w="762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FCF8F045-0759-4DF9-90BE-0F7AE36FBA17}"/>
              </a:ext>
            </a:extLst>
          </p:cNvPr>
          <p:cNvSpPr txBox="1"/>
          <p:nvPr/>
        </p:nvSpPr>
        <p:spPr>
          <a:xfrm>
            <a:off x="8709408" y="2354215"/>
            <a:ext cx="3238387" cy="584775"/>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병이 양도에 의해 정당한 권리자라는 </a:t>
            </a:r>
            <a:endParaRPr kumimoji="0" lang="en-US" altLang="ko-KR" sz="16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것을 정에게 주장 가능</a:t>
            </a:r>
          </a:p>
        </p:txBody>
      </p:sp>
      <p:sp>
        <p:nvSpPr>
          <p:cNvPr id="103" name="TextBox 102">
            <a:extLst>
              <a:ext uri="{FF2B5EF4-FFF2-40B4-BE49-F238E27FC236}">
                <a16:creationId xmlns:a16="http://schemas.microsoft.com/office/drawing/2014/main" id="{2FBF242F-5264-40FA-ACA0-36916484B729}"/>
              </a:ext>
            </a:extLst>
          </p:cNvPr>
          <p:cNvSpPr txBox="1"/>
          <p:nvPr/>
        </p:nvSpPr>
        <p:spPr>
          <a:xfrm>
            <a:off x="9632035" y="4534621"/>
            <a:ext cx="2345627" cy="769441"/>
          </a:xfrm>
          <a:prstGeom prst="wedgeRectCallout">
            <a:avLst>
              <a:gd name="adj1" fmla="val -93648"/>
              <a:gd name="adj2" fmla="val -95803"/>
            </a:avLst>
          </a:prstGeom>
          <a:no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38</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항의 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3</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자 불인정</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특허를 받을 수 있는 권리에 관하여 승계인의 지위와 양립할 수 없는 법률상 지위를 취득하지 않은 사람</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 name="직사각형 3">
            <a:extLst>
              <a:ext uri="{FF2B5EF4-FFF2-40B4-BE49-F238E27FC236}">
                <a16:creationId xmlns:a16="http://schemas.microsoft.com/office/drawing/2014/main" id="{135D3DCC-BA19-4628-B4B1-2D77D292FE2F}"/>
              </a:ext>
            </a:extLst>
          </p:cNvPr>
          <p:cNvSpPr/>
          <p:nvPr/>
        </p:nvSpPr>
        <p:spPr>
          <a:xfrm>
            <a:off x="6471914" y="5398558"/>
            <a:ext cx="5505745" cy="1123009"/>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42900" marR="0" lvl="0" indent="-342900" algn="l" defTabSz="914400" rtl="0" eaLnBrk="1" fontAlgn="auto" latinLnBrk="1" hangingPunct="1">
              <a:lnSpc>
                <a:spcPct val="100000"/>
              </a:lnSpc>
              <a:spcBef>
                <a:spcPts val="0"/>
              </a:spcBef>
              <a:spcAft>
                <a:spcPts val="0"/>
              </a:spcAft>
              <a:buClrTx/>
              <a:buSzTx/>
              <a:buFontTx/>
              <a:buAutoNum type="arabicPeriod"/>
              <a:tabLst/>
              <a:defRPr/>
            </a:pP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등록후</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특허권의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이전으로서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특허를 받을 수 있는 권리의 이중양도가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아니라서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38</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항의 적용 사안이라고 할 수 없음</a:t>
            </a:r>
            <a:endPar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342900" marR="0" lvl="0" indent="-342900" algn="l" defTabSz="914400" rtl="0" eaLnBrk="1" fontAlgn="auto" latinLnBrk="1" hangingPunct="1">
              <a:lnSpc>
                <a:spcPct val="100000"/>
              </a:lnSpc>
              <a:spcBef>
                <a:spcPts val="0"/>
              </a:spcBef>
              <a:spcAft>
                <a:spcPts val="0"/>
              </a:spcAft>
              <a:buClrTx/>
              <a:buSzTx/>
              <a:buFontTx/>
              <a:buAutoNum type="arabicPeriod"/>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권리의 양도</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양수의 당사자인 양도인은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자에 포함되지 않음</a:t>
            </a:r>
          </a:p>
        </p:txBody>
      </p:sp>
      <p:sp>
        <p:nvSpPr>
          <p:cNvPr id="32" name="TextBox 31">
            <a:extLst>
              <a:ext uri="{FF2B5EF4-FFF2-40B4-BE49-F238E27FC236}">
                <a16:creationId xmlns:a16="http://schemas.microsoft.com/office/drawing/2014/main" id="{AFB0DAA4-AD2E-4ADD-B7A7-82FDFC6EC2FC}"/>
              </a:ext>
            </a:extLst>
          </p:cNvPr>
          <p:cNvSpPr txBox="1"/>
          <p:nvPr/>
        </p:nvSpPr>
        <p:spPr>
          <a:xfrm>
            <a:off x="3667447" y="800010"/>
            <a:ext cx="2046585" cy="769441"/>
          </a:xfrm>
          <a:prstGeom prst="wedgeRectCallout">
            <a:avLst>
              <a:gd name="adj1" fmla="val -106979"/>
              <a:gd name="adj2" fmla="val 89508"/>
            </a:avLst>
          </a:prstGeom>
          <a:solidFill>
            <a:schemeClr val="accent4">
              <a:lumMod val="20000"/>
              <a:lumOff val="80000"/>
            </a:schemeClr>
          </a:solid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특허를 받을 수 있는 권리에 관하여 양립할 수 없는 법률상 지위를 취득한 사람 사이에서 우열을 결정하는 의미</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 name="직사각형 4">
            <a:extLst>
              <a:ext uri="{FF2B5EF4-FFF2-40B4-BE49-F238E27FC236}">
                <a16:creationId xmlns:a16="http://schemas.microsoft.com/office/drawing/2014/main" id="{98203E73-24CB-422F-BB49-0FFB378DC13C}"/>
              </a:ext>
            </a:extLst>
          </p:cNvPr>
          <p:cNvSpPr/>
          <p:nvPr/>
        </p:nvSpPr>
        <p:spPr>
          <a:xfrm>
            <a:off x="2129722" y="1872817"/>
            <a:ext cx="329602" cy="26454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 name="TextBox 6">
            <a:extLst>
              <a:ext uri="{FF2B5EF4-FFF2-40B4-BE49-F238E27FC236}">
                <a16:creationId xmlns:a16="http://schemas.microsoft.com/office/drawing/2014/main" id="{715E7C09-68D0-4B0D-A54F-3EEA7C6DEBED}"/>
              </a:ext>
            </a:extLst>
          </p:cNvPr>
          <p:cNvSpPr txBox="1"/>
          <p:nvPr/>
        </p:nvSpPr>
        <p:spPr>
          <a:xfrm>
            <a:off x="6255222" y="4534621"/>
            <a:ext cx="2345627" cy="769441"/>
          </a:xfrm>
          <a:prstGeom prst="wedgeRectCallout">
            <a:avLst>
              <a:gd name="adj1" fmla="val -37204"/>
              <a:gd name="adj2" fmla="val -178743"/>
            </a:avLst>
          </a:prstGeom>
          <a:no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38</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항의 제</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3</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자 불인정</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특허를 받을 수 있는 권리에 관하여 승계인의 지위와 양립할 수 없는 법률상 지위를 취득하지 않은 사람</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Tree>
    <p:extLst>
      <p:ext uri="{BB962C8B-B14F-4D97-AF65-F5344CB8AC3E}">
        <p14:creationId xmlns:p14="http://schemas.microsoft.com/office/powerpoint/2010/main" val="3005292430"/>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직무발명</a:t>
            </a:r>
          </a:p>
        </p:txBody>
      </p:sp>
      <p:sp>
        <p:nvSpPr>
          <p:cNvPr id="4" name="텍스트 개체 틀 3"/>
          <p:cNvSpPr>
            <a:spLocks noGrp="1"/>
          </p:cNvSpPr>
          <p:nvPr>
            <p:ph type="body" sz="quarter" idx="13"/>
          </p:nvPr>
        </p:nvSpPr>
        <p:spPr/>
        <p:txBody>
          <a:bodyPr/>
          <a:lstStyle/>
          <a:p>
            <a:r>
              <a:rPr lang="ko-KR" altLang="en-US" dirty="0"/>
              <a:t>직무발명의 필요성</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113</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24" name="TextBox 23">
            <a:extLst>
              <a:ext uri="{FF2B5EF4-FFF2-40B4-BE49-F238E27FC236}">
                <a16:creationId xmlns:a16="http://schemas.microsoft.com/office/drawing/2014/main" id="{EC97A3D7-0E8E-4AB9-A707-558984B8C033}"/>
              </a:ext>
            </a:extLst>
          </p:cNvPr>
          <p:cNvSpPr txBox="1"/>
          <p:nvPr/>
        </p:nvSpPr>
        <p:spPr>
          <a:xfrm>
            <a:off x="304302" y="1600959"/>
            <a:ext cx="4343898" cy="1023044"/>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연구개발투자와 시설 등을 제공한 사용자와 창조적인 노력으로 발명을 완성한 종업원의 합리적인 이익 조정으로 상호 </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Win-Win</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할 수 있는 구도가 직무발명제도의 기본 전제이자 작동원리</a:t>
            </a:r>
          </a:p>
        </p:txBody>
      </p:sp>
      <p:sp>
        <p:nvSpPr>
          <p:cNvPr id="32" name="Text Box 4">
            <a:extLst>
              <a:ext uri="{FF2B5EF4-FFF2-40B4-BE49-F238E27FC236}">
                <a16:creationId xmlns:a16="http://schemas.microsoft.com/office/drawing/2014/main" id="{A81D4840-0330-49E7-B4CF-44E48F9FD737}"/>
              </a:ext>
            </a:extLst>
          </p:cNvPr>
          <p:cNvSpPr txBox="1">
            <a:spLocks noChangeArrowheads="1"/>
          </p:cNvSpPr>
          <p:nvPr/>
        </p:nvSpPr>
        <p:spPr bwMode="auto">
          <a:xfrm>
            <a:off x="9239045" y="1789238"/>
            <a:ext cx="1181305" cy="261610"/>
          </a:xfrm>
          <a:prstGeom prst="rect">
            <a:avLst/>
          </a:prstGeom>
          <a:noFill/>
          <a:ln w="9525">
            <a:noFill/>
            <a:miter lim="800000"/>
            <a:headEnd/>
            <a:tailEnd/>
          </a:ln>
        </p:spPr>
        <p:txBody>
          <a:bodyPr>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명조 M" panose="02020603020101020101" pitchFamily="18" charset="-127"/>
                <a:ea typeface="Rix모던고딕 B"/>
                <a:cs typeface="+mn-cs"/>
              </a:rPr>
              <a:t>연구의욕 고취</a:t>
            </a:r>
          </a:p>
        </p:txBody>
      </p:sp>
      <p:sp>
        <p:nvSpPr>
          <p:cNvPr id="31" name="Rectangle 3">
            <a:extLst>
              <a:ext uri="{FF2B5EF4-FFF2-40B4-BE49-F238E27FC236}">
                <a16:creationId xmlns:a16="http://schemas.microsoft.com/office/drawing/2014/main" id="{913EEE06-50AA-4557-9EB5-2770FF2A302E}"/>
              </a:ext>
            </a:extLst>
          </p:cNvPr>
          <p:cNvSpPr>
            <a:spLocks noChangeArrowheads="1"/>
          </p:cNvSpPr>
          <p:nvPr/>
        </p:nvSpPr>
        <p:spPr bwMode="auto">
          <a:xfrm>
            <a:off x="6842183" y="1765690"/>
            <a:ext cx="918046" cy="397032"/>
          </a:xfrm>
          <a:prstGeom prst="rect">
            <a:avLst/>
          </a:prstGeom>
          <a:noFill/>
          <a:ln w="9525" algn="ctr">
            <a:noFill/>
            <a:miter lim="800000"/>
            <a:headEnd/>
            <a:tailEnd/>
          </a:ln>
        </p:spPr>
        <p:txBody>
          <a:bodyPr wrap="square">
            <a:spAutoFit/>
          </a:bodyPr>
          <a:lstStyle/>
          <a:p>
            <a:pPr marL="0" marR="0" lvl="0" indent="0" algn="l" defTabSz="914400" rtl="0" eaLnBrk="1" fontAlgn="auto" latinLnBrk="1" hangingPunct="1">
              <a:lnSpc>
                <a:spcPct val="9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명조 M" panose="02020603020101020101" pitchFamily="18" charset="-127"/>
                <a:ea typeface="Rix모던고딕 B"/>
                <a:cs typeface="+mn-cs"/>
              </a:rPr>
              <a:t>지속적인 </a:t>
            </a:r>
            <a:endParaRPr kumimoji="0" lang="en-US" altLang="ko-KR" sz="1100" b="0" i="0" u="none" strike="noStrike" kern="1200" cap="none" spc="0" normalizeH="0" baseline="0" noProof="0" dirty="0">
              <a:ln>
                <a:noFill/>
              </a:ln>
              <a:solidFill>
                <a:prstClr val="black"/>
              </a:solidFill>
              <a:effectLst/>
              <a:uLnTx/>
              <a:uFillTx/>
              <a:latin typeface="Rix모던명조 M" panose="02020603020101020101" pitchFamily="18" charset="-127"/>
              <a:ea typeface="Rix모던고딕 B"/>
              <a:cs typeface="+mn-cs"/>
            </a:endParaRPr>
          </a:p>
          <a:p>
            <a:pPr marL="0" marR="0" lvl="0" indent="0" algn="l" defTabSz="914400" rtl="0" eaLnBrk="1" fontAlgn="auto" latinLnBrk="1" hangingPunct="1">
              <a:lnSpc>
                <a:spcPct val="9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Rix모던명조 M" panose="02020603020101020101" pitchFamily="18" charset="-127"/>
                <a:ea typeface="Rix모던고딕 B"/>
                <a:cs typeface="+mn-cs"/>
              </a:rPr>
              <a:t>R&amp;D</a:t>
            </a:r>
            <a:r>
              <a:rPr kumimoji="0" lang="ko-KR" altLang="en-US" sz="1100" b="0" i="0" u="none" strike="noStrike" kern="1200" cap="none" spc="0" normalizeH="0" baseline="0" noProof="0" dirty="0">
                <a:ln>
                  <a:noFill/>
                </a:ln>
                <a:solidFill>
                  <a:prstClr val="black"/>
                </a:solidFill>
                <a:effectLst/>
                <a:uLnTx/>
                <a:uFillTx/>
                <a:latin typeface="Rix모던명조 M" panose="02020603020101020101" pitchFamily="18" charset="-127"/>
                <a:ea typeface="Rix모던고딕 B"/>
                <a:cs typeface="+mn-cs"/>
              </a:rPr>
              <a:t>투자</a:t>
            </a:r>
          </a:p>
        </p:txBody>
      </p:sp>
      <p:sp>
        <p:nvSpPr>
          <p:cNvPr id="33" name="Text Box 5">
            <a:extLst>
              <a:ext uri="{FF2B5EF4-FFF2-40B4-BE49-F238E27FC236}">
                <a16:creationId xmlns:a16="http://schemas.microsoft.com/office/drawing/2014/main" id="{C232A39C-0FFB-46EF-B413-B0DB03C62B83}"/>
              </a:ext>
            </a:extLst>
          </p:cNvPr>
          <p:cNvSpPr txBox="1">
            <a:spLocks noChangeArrowheads="1"/>
          </p:cNvSpPr>
          <p:nvPr/>
        </p:nvSpPr>
        <p:spPr bwMode="auto">
          <a:xfrm>
            <a:off x="7760229" y="2315626"/>
            <a:ext cx="1504451" cy="338554"/>
          </a:xfrm>
          <a:prstGeom prst="rect">
            <a:avLst/>
          </a:prstGeom>
          <a:noFill/>
          <a:ln w="9525">
            <a:noFill/>
            <a:miter lim="800000"/>
            <a:headEnd/>
            <a:tailEnd/>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1" i="1"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R&amp;D  </a:t>
            </a:r>
            <a:r>
              <a:rPr kumimoji="0" lang="ko-KR" altLang="en-US" sz="1600" b="1" i="1" u="none" strike="noStrike" kern="1200" cap="none" spc="0" normalizeH="0" baseline="0" noProof="0" dirty="0">
                <a:ln>
                  <a:noFill/>
                </a:ln>
                <a:solidFill>
                  <a:srgbClr val="FF0000"/>
                </a:solidFill>
                <a:effectLst/>
                <a:uLnTx/>
                <a:uFillTx/>
                <a:latin typeface="Rix모던명조 M" panose="02020603020101020101" pitchFamily="18" charset="-127"/>
                <a:ea typeface="Rix모던고딕 B"/>
                <a:cs typeface="+mn-cs"/>
              </a:rPr>
              <a:t>선순환 </a:t>
            </a:r>
          </a:p>
        </p:txBody>
      </p:sp>
      <p:sp>
        <p:nvSpPr>
          <p:cNvPr id="34" name="Rectangle 6">
            <a:extLst>
              <a:ext uri="{FF2B5EF4-FFF2-40B4-BE49-F238E27FC236}">
                <a16:creationId xmlns:a16="http://schemas.microsoft.com/office/drawing/2014/main" id="{DD4F1921-F8B7-4838-A24C-6DC7477E5D75}"/>
              </a:ext>
            </a:extLst>
          </p:cNvPr>
          <p:cNvSpPr>
            <a:spLocks noChangeArrowheads="1"/>
          </p:cNvSpPr>
          <p:nvPr/>
        </p:nvSpPr>
        <p:spPr bwMode="auto">
          <a:xfrm>
            <a:off x="7926478" y="3120465"/>
            <a:ext cx="1259148" cy="244682"/>
          </a:xfrm>
          <a:prstGeom prst="rect">
            <a:avLst/>
          </a:prstGeom>
          <a:noFill/>
          <a:ln w="9525" algn="ctr">
            <a:noFill/>
            <a:miter lim="800000"/>
            <a:headEnd/>
            <a:tailEnd/>
          </a:ln>
        </p:spPr>
        <p:txBody>
          <a:bodyPr wrap="square">
            <a:spAutoFit/>
          </a:bodyPr>
          <a:lstStyle/>
          <a:p>
            <a:pPr marL="0" marR="0" lvl="0" indent="0" algn="ctr" defTabSz="914400" rtl="0" eaLnBrk="1" fontAlgn="auto" latinLnBrk="1" hangingPunct="1">
              <a:lnSpc>
                <a:spcPct val="9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Rix모던명조 M" panose="02020603020101020101" pitchFamily="18" charset="-127"/>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Rix모던명조 M" panose="02020603020101020101" pitchFamily="18" charset="-127"/>
                <a:ea typeface="Rix모던고딕 B"/>
                <a:cs typeface="+mn-cs"/>
              </a:rPr>
              <a:t>발명의 권리화</a:t>
            </a:r>
          </a:p>
        </p:txBody>
      </p:sp>
      <p:sp>
        <p:nvSpPr>
          <p:cNvPr id="57" name="Oval 10">
            <a:extLst>
              <a:ext uri="{FF2B5EF4-FFF2-40B4-BE49-F238E27FC236}">
                <a16:creationId xmlns:a16="http://schemas.microsoft.com/office/drawing/2014/main" id="{3CE0D44C-4195-4445-B834-D64166ABF8A1}"/>
              </a:ext>
            </a:extLst>
          </p:cNvPr>
          <p:cNvSpPr>
            <a:spLocks noChangeArrowheads="1"/>
          </p:cNvSpPr>
          <p:nvPr/>
        </p:nvSpPr>
        <p:spPr bwMode="auto">
          <a:xfrm>
            <a:off x="8086783" y="947902"/>
            <a:ext cx="763477" cy="758932"/>
          </a:xfrm>
          <a:prstGeom prst="ellipse">
            <a:avLst/>
          </a:prstGeom>
          <a:solidFill>
            <a:schemeClr val="accent5"/>
          </a:solidFill>
          <a:ln w="9525">
            <a:noFill/>
            <a:round/>
            <a:headEnd/>
            <a:tailEnd/>
          </a:ln>
        </p:spPr>
        <p:txBody>
          <a:bodyPr wrap="none" anchor="ct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1100" b="0" i="0" u="none" strike="noStrike" kern="1200" cap="none" spc="0" normalizeH="0" baseline="0" noProof="0" dirty="0">
              <a:ln>
                <a:noFill/>
              </a:ln>
              <a:solidFill>
                <a:srgbClr val="FFFFFF"/>
              </a:solidFill>
              <a:effectLst/>
              <a:uLnTx/>
              <a:uFillTx/>
              <a:latin typeface="Rix모던명조 M" panose="02020603020101020101" pitchFamily="18" charset="-127"/>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1100" b="0" i="0" u="none" strike="noStrike" kern="1200" cap="none" spc="0" normalizeH="0" baseline="0" noProof="0" dirty="0">
              <a:ln>
                <a:noFill/>
              </a:ln>
              <a:solidFill>
                <a:srgbClr val="FFFFFF"/>
              </a:solidFill>
              <a:effectLst/>
              <a:uLnTx/>
              <a:uFillTx/>
              <a:latin typeface="Rix모던명조 M" panose="02020603020101020101" pitchFamily="18" charset="-127"/>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1100" b="0" i="0" u="none" strike="noStrike" kern="1200" cap="none" spc="0" normalizeH="0" baseline="0" noProof="0" dirty="0">
              <a:ln>
                <a:noFill/>
              </a:ln>
              <a:solidFill>
                <a:srgbClr val="000000"/>
              </a:solidFill>
              <a:effectLst/>
              <a:uLnTx/>
              <a:uFillTx/>
              <a:latin typeface="Rix모던명조 M" panose="02020603020101020101" pitchFamily="18" charset="-127"/>
              <a:ea typeface="Rix모던고딕 B"/>
              <a:cs typeface="+mn-cs"/>
            </a:endParaRPr>
          </a:p>
        </p:txBody>
      </p:sp>
      <p:sp>
        <p:nvSpPr>
          <p:cNvPr id="54" name="Text Box 13">
            <a:extLst>
              <a:ext uri="{FF2B5EF4-FFF2-40B4-BE49-F238E27FC236}">
                <a16:creationId xmlns:a16="http://schemas.microsoft.com/office/drawing/2014/main" id="{CACD02F9-3605-4B6D-BF62-B94D699E57A9}"/>
              </a:ext>
            </a:extLst>
          </p:cNvPr>
          <p:cNvSpPr txBox="1">
            <a:spLocks noChangeArrowheads="1"/>
          </p:cNvSpPr>
          <p:nvPr/>
        </p:nvSpPr>
        <p:spPr bwMode="auto">
          <a:xfrm>
            <a:off x="8260151" y="1154644"/>
            <a:ext cx="426669" cy="369332"/>
          </a:xfrm>
          <a:prstGeom prst="rect">
            <a:avLst/>
          </a:prstGeom>
          <a:noFill/>
          <a:ln w="19050" algn="ctr">
            <a:noFill/>
            <a:miter lim="800000"/>
            <a:headEnd/>
            <a:tailEnd/>
          </a:ln>
        </p:spPr>
        <p:txBody>
          <a:bodyPr lIns="0" tIns="0" rIns="0" bIns="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명조 M" panose="02020603020101020101" pitchFamily="18" charset="-127"/>
                <a:ea typeface="Rix모던고딕 B"/>
                <a:cs typeface="+mn-cs"/>
              </a:rPr>
              <a:t>정당한 보상</a:t>
            </a:r>
          </a:p>
        </p:txBody>
      </p:sp>
      <p:sp>
        <p:nvSpPr>
          <p:cNvPr id="51" name="Oval 17">
            <a:extLst>
              <a:ext uri="{FF2B5EF4-FFF2-40B4-BE49-F238E27FC236}">
                <a16:creationId xmlns:a16="http://schemas.microsoft.com/office/drawing/2014/main" id="{F6C85B30-11CF-4486-A343-2C8FD1165A25}"/>
              </a:ext>
            </a:extLst>
          </p:cNvPr>
          <p:cNvSpPr>
            <a:spLocks noChangeArrowheads="1"/>
          </p:cNvSpPr>
          <p:nvPr/>
        </p:nvSpPr>
        <p:spPr bwMode="auto">
          <a:xfrm>
            <a:off x="9245412" y="2626584"/>
            <a:ext cx="740294" cy="706300"/>
          </a:xfrm>
          <a:prstGeom prst="ellipse">
            <a:avLst/>
          </a:prstGeom>
          <a:solidFill>
            <a:schemeClr val="accent6"/>
          </a:solidFill>
          <a:ln w="9525">
            <a:noFill/>
            <a:round/>
            <a:headEnd/>
            <a:tailEnd/>
          </a:ln>
        </p:spPr>
        <p:txBody>
          <a:bodyPr wrap="none" anchor="ct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ko-KR" sz="1100" b="0" i="0" u="none" strike="noStrike" kern="1200" cap="none" spc="0" normalizeH="0" baseline="0" noProof="0" dirty="0">
              <a:ln>
                <a:noFill/>
              </a:ln>
              <a:solidFill>
                <a:srgbClr val="000000"/>
              </a:solidFill>
              <a:effectLst/>
              <a:uLnTx/>
              <a:uFillTx/>
              <a:latin typeface="Rix모던명조 M" panose="02020603020101020101" pitchFamily="18" charset="-127"/>
              <a:ea typeface="Rix모던고딕 B"/>
              <a:cs typeface="+mn-cs"/>
            </a:endParaRPr>
          </a:p>
        </p:txBody>
      </p:sp>
      <p:sp>
        <p:nvSpPr>
          <p:cNvPr id="48" name="Text Box 20">
            <a:extLst>
              <a:ext uri="{FF2B5EF4-FFF2-40B4-BE49-F238E27FC236}">
                <a16:creationId xmlns:a16="http://schemas.microsoft.com/office/drawing/2014/main" id="{CFC5BE1F-B75F-4FF8-8398-67EE52BFC609}"/>
              </a:ext>
            </a:extLst>
          </p:cNvPr>
          <p:cNvSpPr txBox="1">
            <a:spLocks noChangeArrowheads="1"/>
          </p:cNvSpPr>
          <p:nvPr/>
        </p:nvSpPr>
        <p:spPr bwMode="auto">
          <a:xfrm>
            <a:off x="9266395" y="2801943"/>
            <a:ext cx="698327" cy="369332"/>
          </a:xfrm>
          <a:prstGeom prst="rect">
            <a:avLst/>
          </a:prstGeom>
          <a:noFill/>
          <a:ln w="19050" algn="ctr">
            <a:noFill/>
            <a:miter lim="800000"/>
            <a:headEnd/>
            <a:tailEnd/>
          </a:ln>
        </p:spPr>
        <p:txBody>
          <a:bodyPr lIns="0" tIns="0" rIns="0" bIns="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명조 M" panose="02020603020101020101" pitchFamily="18" charset="-127"/>
                <a:ea typeface="Rix모던고딕 B"/>
                <a:cs typeface="+mn-cs"/>
              </a:rPr>
              <a:t>우수발명</a:t>
            </a:r>
            <a:endParaRPr kumimoji="0" lang="en-US" altLang="ko-KR" sz="1200" b="0" i="0" u="none" strike="noStrike" kern="1200" cap="none" spc="0" normalizeH="0" baseline="0" noProof="0" dirty="0">
              <a:ln>
                <a:noFill/>
              </a:ln>
              <a:solidFill>
                <a:prstClr val="white"/>
              </a:solidFill>
              <a:effectLst/>
              <a:uLnTx/>
              <a:uFillTx/>
              <a:latin typeface="Rix모던명조 M" panose="02020603020101020101" pitchFamily="18" charset="-127"/>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명조 M" panose="02020603020101020101" pitchFamily="18" charset="-127"/>
                <a:ea typeface="Rix모던고딕 B"/>
                <a:cs typeface="+mn-cs"/>
              </a:rPr>
              <a:t>창출</a:t>
            </a:r>
          </a:p>
        </p:txBody>
      </p:sp>
      <p:sp>
        <p:nvSpPr>
          <p:cNvPr id="45" name="Oval 24">
            <a:extLst>
              <a:ext uri="{FF2B5EF4-FFF2-40B4-BE49-F238E27FC236}">
                <a16:creationId xmlns:a16="http://schemas.microsoft.com/office/drawing/2014/main" id="{D76C17AB-7E67-4AFF-A5ED-1AFEB1C3E5CC}"/>
              </a:ext>
            </a:extLst>
          </p:cNvPr>
          <p:cNvSpPr>
            <a:spLocks noChangeArrowheads="1"/>
          </p:cNvSpPr>
          <p:nvPr/>
        </p:nvSpPr>
        <p:spPr bwMode="auto">
          <a:xfrm>
            <a:off x="6846589" y="2607230"/>
            <a:ext cx="686374" cy="707899"/>
          </a:xfrm>
          <a:prstGeom prst="ellipse">
            <a:avLst/>
          </a:prstGeom>
          <a:solidFill>
            <a:schemeClr val="accent2"/>
          </a:solidFill>
          <a:ln w="9525">
            <a:noFill/>
            <a:round/>
            <a:headEnd/>
            <a:tailEnd/>
          </a:ln>
        </p:spPr>
        <p:txBody>
          <a:bodyPr wrap="none" anchor="ct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1100" b="0" i="0" u="none" strike="noStrike" kern="1200" cap="none" spc="0" normalizeH="0" baseline="0" noProof="0" dirty="0">
              <a:ln>
                <a:noFill/>
              </a:ln>
              <a:solidFill>
                <a:srgbClr val="FFFFFF"/>
              </a:solidFill>
              <a:effectLst/>
              <a:uLnTx/>
              <a:uFillTx/>
              <a:latin typeface="Rix모던명조 M" panose="02020603020101020101" pitchFamily="18" charset="-127"/>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1100" b="0" i="0" u="none" strike="noStrike" kern="1200" cap="none" spc="0" normalizeH="0" baseline="0" noProof="0" dirty="0">
              <a:ln>
                <a:noFill/>
              </a:ln>
              <a:solidFill>
                <a:srgbClr val="000000"/>
              </a:solidFill>
              <a:effectLst/>
              <a:uLnTx/>
              <a:uFillTx/>
              <a:latin typeface="Rix모던명조 M" panose="02020603020101020101" pitchFamily="18" charset="-127"/>
              <a:ea typeface="Rix모던고딕 B"/>
              <a:cs typeface="+mn-cs"/>
            </a:endParaRPr>
          </a:p>
        </p:txBody>
      </p:sp>
      <p:sp>
        <p:nvSpPr>
          <p:cNvPr id="42" name="Text Box 27">
            <a:extLst>
              <a:ext uri="{FF2B5EF4-FFF2-40B4-BE49-F238E27FC236}">
                <a16:creationId xmlns:a16="http://schemas.microsoft.com/office/drawing/2014/main" id="{D8974F44-332F-4909-B665-1D5B9A4A91BC}"/>
              </a:ext>
            </a:extLst>
          </p:cNvPr>
          <p:cNvSpPr txBox="1">
            <a:spLocks noChangeArrowheads="1"/>
          </p:cNvSpPr>
          <p:nvPr/>
        </p:nvSpPr>
        <p:spPr bwMode="auto">
          <a:xfrm>
            <a:off x="6764083" y="2809299"/>
            <a:ext cx="824988" cy="369332"/>
          </a:xfrm>
          <a:prstGeom prst="rect">
            <a:avLst/>
          </a:prstGeom>
          <a:noFill/>
          <a:ln w="19050" algn="ctr">
            <a:noFill/>
            <a:miter lim="800000"/>
            <a:headEnd/>
            <a:tailEnd/>
          </a:ln>
        </p:spPr>
        <p:txBody>
          <a:bodyPr lIns="0" tIns="0" rIns="0" bIns="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명조 M" panose="02020603020101020101" pitchFamily="18" charset="-127"/>
                <a:ea typeface="Rix모던고딕 B"/>
                <a:cs typeface="+mn-cs"/>
              </a:rPr>
              <a:t>이익</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명조 M" panose="02020603020101020101" pitchFamily="18" charset="-127"/>
                <a:ea typeface="Rix모던고딕 B"/>
                <a:cs typeface="+mn-cs"/>
              </a:rPr>
              <a:t>증대</a:t>
            </a:r>
          </a:p>
        </p:txBody>
      </p:sp>
      <p:sp>
        <p:nvSpPr>
          <p:cNvPr id="38" name="AutoShape 28">
            <a:extLst>
              <a:ext uri="{FF2B5EF4-FFF2-40B4-BE49-F238E27FC236}">
                <a16:creationId xmlns:a16="http://schemas.microsoft.com/office/drawing/2014/main" id="{CD2B7764-9141-4F02-AC9B-7593D1580C95}"/>
              </a:ext>
            </a:extLst>
          </p:cNvPr>
          <p:cNvSpPr>
            <a:spLocks noChangeArrowheads="1"/>
          </p:cNvSpPr>
          <p:nvPr/>
        </p:nvSpPr>
        <p:spPr bwMode="auto">
          <a:xfrm rot="3028264">
            <a:off x="8692193" y="1942326"/>
            <a:ext cx="1046623" cy="340267"/>
          </a:xfrm>
          <a:prstGeom prst="rightArrow">
            <a:avLst>
              <a:gd name="adj1" fmla="val 56269"/>
              <a:gd name="adj2" fmla="val 112126"/>
            </a:avLst>
          </a:prstGeom>
          <a:solidFill>
            <a:schemeClr val="accent3">
              <a:lumMod val="20000"/>
              <a:lumOff val="80000"/>
            </a:schemeClr>
          </a:solidFill>
          <a:ln w="38100" cmpd="dbl" algn="ctr">
            <a:solidFill>
              <a:schemeClr val="tx1"/>
            </a:solidFill>
            <a:miter lim="800000"/>
            <a:headEnd/>
            <a:tailEnd/>
          </a:ln>
        </p:spPr>
        <p:txBody>
          <a:bodyPr wrap="none" anchor="ct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dirty="0">
              <a:ln>
                <a:noFill/>
              </a:ln>
              <a:solidFill>
                <a:prstClr val="black"/>
              </a:solidFill>
              <a:effectLst/>
              <a:uLnTx/>
              <a:uFillTx/>
              <a:latin typeface="Rix모던명조 M" panose="02020603020101020101" pitchFamily="18" charset="-127"/>
              <a:ea typeface="Rix모던고딕 B"/>
              <a:cs typeface="+mn-cs"/>
            </a:endParaRPr>
          </a:p>
        </p:txBody>
      </p:sp>
      <p:sp>
        <p:nvSpPr>
          <p:cNvPr id="39" name="AutoShape 29">
            <a:extLst>
              <a:ext uri="{FF2B5EF4-FFF2-40B4-BE49-F238E27FC236}">
                <a16:creationId xmlns:a16="http://schemas.microsoft.com/office/drawing/2014/main" id="{148CCD5A-BEFF-46E7-8978-9BAD00AF7600}"/>
              </a:ext>
            </a:extLst>
          </p:cNvPr>
          <p:cNvSpPr>
            <a:spLocks noChangeArrowheads="1"/>
          </p:cNvSpPr>
          <p:nvPr/>
        </p:nvSpPr>
        <p:spPr bwMode="auto">
          <a:xfrm>
            <a:off x="7637221" y="2786389"/>
            <a:ext cx="1504452" cy="399080"/>
          </a:xfrm>
          <a:prstGeom prst="leftArrow">
            <a:avLst>
              <a:gd name="adj1" fmla="val 50000"/>
              <a:gd name="adj2" fmla="val 96832"/>
            </a:avLst>
          </a:prstGeom>
          <a:solidFill>
            <a:schemeClr val="accent3">
              <a:lumMod val="20000"/>
              <a:lumOff val="80000"/>
            </a:schemeClr>
          </a:solidFill>
          <a:ln w="38100" cmpd="dbl" algn="ctr">
            <a:solidFill>
              <a:schemeClr val="tx1"/>
            </a:solidFill>
            <a:miter lim="800000"/>
            <a:headEnd/>
            <a:tailEnd/>
          </a:ln>
        </p:spPr>
        <p:txBody>
          <a:bodyPr wrap="none" anchor="ct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dirty="0">
              <a:ln>
                <a:noFill/>
              </a:ln>
              <a:solidFill>
                <a:prstClr val="black"/>
              </a:solidFill>
              <a:effectLst/>
              <a:uLnTx/>
              <a:uFillTx/>
              <a:latin typeface="Rix모던명조 M" panose="02020603020101020101" pitchFamily="18" charset="-127"/>
              <a:ea typeface="Rix모던고딕 B"/>
              <a:cs typeface="+mn-cs"/>
            </a:endParaRPr>
          </a:p>
        </p:txBody>
      </p:sp>
      <p:sp>
        <p:nvSpPr>
          <p:cNvPr id="40" name="AutoShape 30">
            <a:extLst>
              <a:ext uri="{FF2B5EF4-FFF2-40B4-BE49-F238E27FC236}">
                <a16:creationId xmlns:a16="http://schemas.microsoft.com/office/drawing/2014/main" id="{D862C650-643A-4087-9478-2CAAE9555EA6}"/>
              </a:ext>
            </a:extLst>
          </p:cNvPr>
          <p:cNvSpPr>
            <a:spLocks noChangeArrowheads="1"/>
          </p:cNvSpPr>
          <p:nvPr/>
        </p:nvSpPr>
        <p:spPr bwMode="auto">
          <a:xfrm rot="18676126">
            <a:off x="7283494" y="1845253"/>
            <a:ext cx="1047722" cy="436569"/>
          </a:xfrm>
          <a:prstGeom prst="rightArrow">
            <a:avLst>
              <a:gd name="adj1" fmla="val 50000"/>
              <a:gd name="adj2" fmla="val 58395"/>
            </a:avLst>
          </a:prstGeom>
          <a:solidFill>
            <a:schemeClr val="accent3">
              <a:lumMod val="20000"/>
              <a:lumOff val="80000"/>
            </a:schemeClr>
          </a:solidFill>
          <a:ln w="38100" cmpd="dbl" algn="ctr">
            <a:solidFill>
              <a:schemeClr val="tx1"/>
            </a:solidFill>
            <a:miter lim="800000"/>
            <a:headEnd/>
            <a:tailEnd/>
          </a:ln>
        </p:spPr>
        <p:txBody>
          <a:bodyPr wrap="none" anchor="ct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dirty="0">
              <a:ln>
                <a:noFill/>
              </a:ln>
              <a:solidFill>
                <a:prstClr val="black"/>
              </a:solidFill>
              <a:effectLst/>
              <a:uLnTx/>
              <a:uFillTx/>
              <a:latin typeface="Rix모던명조 M" panose="02020603020101020101" pitchFamily="18" charset="-127"/>
              <a:ea typeface="Rix모던고딕 B"/>
              <a:cs typeface="+mn-cs"/>
            </a:endParaRPr>
          </a:p>
        </p:txBody>
      </p:sp>
      <p:sp>
        <p:nvSpPr>
          <p:cNvPr id="59" name="TextBox 58">
            <a:extLst>
              <a:ext uri="{FF2B5EF4-FFF2-40B4-BE49-F238E27FC236}">
                <a16:creationId xmlns:a16="http://schemas.microsoft.com/office/drawing/2014/main" id="{3832EE1D-B676-4EED-9CC8-F16284180741}"/>
              </a:ext>
            </a:extLst>
          </p:cNvPr>
          <p:cNvSpPr txBox="1"/>
          <p:nvPr/>
        </p:nvSpPr>
        <p:spPr>
          <a:xfrm>
            <a:off x="337260" y="4146632"/>
            <a:ext cx="4310940" cy="1169551"/>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기술이 고도로 복잡화 및 다양화됨에 따라 기존의 기술</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(prior art)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을 뛰어 넘는 새로운 기술의 개발은 대규모 연구시설과 인력 및 막대한 연구비의 </a:t>
            </a:r>
            <a:r>
              <a:rPr kumimoji="0" lang="ko-KR" altLang="en-US" sz="14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지원없이는</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사실상 불가능하게 됨</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그 결과 기업체</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연구소 및 대학 등에 의한 직무발명의 비중이 갈수록 높아지고 있음</a:t>
            </a:r>
          </a:p>
        </p:txBody>
      </p:sp>
      <p:graphicFrame>
        <p:nvGraphicFramePr>
          <p:cNvPr id="60" name="Group 131">
            <a:extLst>
              <a:ext uri="{FF2B5EF4-FFF2-40B4-BE49-F238E27FC236}">
                <a16:creationId xmlns:a16="http://schemas.microsoft.com/office/drawing/2014/main" id="{A97BA65E-B34A-4920-8A78-D6C78C252177}"/>
              </a:ext>
            </a:extLst>
          </p:cNvPr>
          <p:cNvGraphicFramePr>
            <a:graphicFrameLocks/>
          </p:cNvGraphicFramePr>
          <p:nvPr/>
        </p:nvGraphicFramePr>
        <p:xfrm>
          <a:off x="4894217" y="4143376"/>
          <a:ext cx="6853644" cy="1471850"/>
        </p:xfrm>
        <a:graphic>
          <a:graphicData uri="http://schemas.openxmlformats.org/drawingml/2006/table">
            <a:tbl>
              <a:tblPr>
                <a:tableStyleId>{BC89EF96-8CEA-46FF-86C4-4CE0E7609802}</a:tableStyleId>
              </a:tblPr>
              <a:tblGrid>
                <a:gridCol w="1169644">
                  <a:extLst>
                    <a:ext uri="{9D8B030D-6E8A-4147-A177-3AD203B41FA5}">
                      <a16:colId xmlns:a16="http://schemas.microsoft.com/office/drawing/2014/main" val="20000"/>
                    </a:ext>
                  </a:extLst>
                </a:gridCol>
                <a:gridCol w="710500">
                  <a:extLst>
                    <a:ext uri="{9D8B030D-6E8A-4147-A177-3AD203B41FA5}">
                      <a16:colId xmlns:a16="http://schemas.microsoft.com/office/drawing/2014/main" val="20005"/>
                    </a:ext>
                  </a:extLst>
                </a:gridCol>
                <a:gridCol w="710500">
                  <a:extLst>
                    <a:ext uri="{9D8B030D-6E8A-4147-A177-3AD203B41FA5}">
                      <a16:colId xmlns:a16="http://schemas.microsoft.com/office/drawing/2014/main" val="20006"/>
                    </a:ext>
                  </a:extLst>
                </a:gridCol>
                <a:gridCol w="710500">
                  <a:extLst>
                    <a:ext uri="{9D8B030D-6E8A-4147-A177-3AD203B41FA5}">
                      <a16:colId xmlns:a16="http://schemas.microsoft.com/office/drawing/2014/main" val="20007"/>
                    </a:ext>
                  </a:extLst>
                </a:gridCol>
                <a:gridCol w="710500">
                  <a:extLst>
                    <a:ext uri="{9D8B030D-6E8A-4147-A177-3AD203B41FA5}">
                      <a16:colId xmlns:a16="http://schemas.microsoft.com/office/drawing/2014/main" val="20008"/>
                    </a:ext>
                  </a:extLst>
                </a:gridCol>
                <a:gridCol w="710500">
                  <a:extLst>
                    <a:ext uri="{9D8B030D-6E8A-4147-A177-3AD203B41FA5}">
                      <a16:colId xmlns:a16="http://schemas.microsoft.com/office/drawing/2014/main" val="3965333382"/>
                    </a:ext>
                  </a:extLst>
                </a:gridCol>
                <a:gridCol w="710500">
                  <a:extLst>
                    <a:ext uri="{9D8B030D-6E8A-4147-A177-3AD203B41FA5}">
                      <a16:colId xmlns:a16="http://schemas.microsoft.com/office/drawing/2014/main" val="646776974"/>
                    </a:ext>
                  </a:extLst>
                </a:gridCol>
                <a:gridCol w="710500">
                  <a:extLst>
                    <a:ext uri="{9D8B030D-6E8A-4147-A177-3AD203B41FA5}">
                      <a16:colId xmlns:a16="http://schemas.microsoft.com/office/drawing/2014/main" val="2139306465"/>
                    </a:ext>
                  </a:extLst>
                </a:gridCol>
                <a:gridCol w="710500">
                  <a:extLst>
                    <a:ext uri="{9D8B030D-6E8A-4147-A177-3AD203B41FA5}">
                      <a16:colId xmlns:a16="http://schemas.microsoft.com/office/drawing/2014/main" val="1438454979"/>
                    </a:ext>
                  </a:extLst>
                </a:gridCol>
              </a:tblGrid>
              <a:tr h="596912">
                <a:tc>
                  <a:txBody>
                    <a:bodyPr/>
                    <a:lstStyle/>
                    <a:p>
                      <a:pPr marL="0" marR="0" lvl="0" indent="0" algn="ctr" defTabSz="914400" rtl="0" eaLnBrk="1" fontAlgn="base" latinLnBrk="1" hangingPunct="1">
                        <a:lnSpc>
                          <a:spcPct val="100000"/>
                        </a:lnSpc>
                        <a:spcBef>
                          <a:spcPct val="50000"/>
                        </a:spcBef>
                        <a:spcAft>
                          <a:spcPct val="30000"/>
                        </a:spcAft>
                        <a:buClrTx/>
                        <a:buSzTx/>
                        <a:buFontTx/>
                        <a:buNone/>
                        <a:tabLst/>
                      </a:pPr>
                      <a:r>
                        <a:rPr kumimoji="1" lang="en-US" altLang="ko-KR" sz="1200" u="none" strike="noStrike" cap="none" normalizeH="0" baseline="0" dirty="0">
                          <a:ln>
                            <a:noFill/>
                          </a:ln>
                          <a:effectLst/>
                        </a:rPr>
                        <a:t>             </a:t>
                      </a:r>
                      <a:r>
                        <a:rPr kumimoji="1" lang="ko-KR" altLang="en-US" sz="1200" u="none" strike="noStrike" cap="none" normalizeH="0" baseline="0" dirty="0">
                          <a:ln>
                            <a:noFill/>
                          </a:ln>
                          <a:effectLst/>
                        </a:rPr>
                        <a:t>구분</a:t>
                      </a:r>
                    </a:p>
                    <a:p>
                      <a:pPr marL="0" marR="0" lvl="0" indent="0" algn="l" defTabSz="914400" rtl="0" eaLnBrk="1" fontAlgn="base" latinLnBrk="1" hangingPunct="1">
                        <a:lnSpc>
                          <a:spcPct val="100000"/>
                        </a:lnSpc>
                        <a:spcBef>
                          <a:spcPct val="50000"/>
                        </a:spcBef>
                        <a:spcAft>
                          <a:spcPct val="30000"/>
                        </a:spcAft>
                        <a:buClrTx/>
                        <a:buSzTx/>
                        <a:buFontTx/>
                        <a:buNone/>
                        <a:tabLst/>
                      </a:pPr>
                      <a:r>
                        <a:rPr kumimoji="1" lang="ko-KR" altLang="en-US" sz="1200" u="none" strike="noStrike" cap="none" normalizeH="0" baseline="0" dirty="0">
                          <a:ln>
                            <a:noFill/>
                          </a:ln>
                          <a:effectLst/>
                        </a:rPr>
                        <a:t>  연도    </a:t>
                      </a:r>
                      <a:endParaRPr kumimoji="1" lang="ko-KR" altLang="en-US" sz="12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0" marR="0"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ap="flat" cmpd="sng" algn="ctr">
                      <a:solidFill>
                        <a:schemeClr val="bg1">
                          <a:lumMod val="50000"/>
                        </a:schemeClr>
                      </a:solidFill>
                      <a:prstDash val="solid"/>
                      <a:round/>
                      <a:headEnd type="none" w="med" len="med"/>
                      <a:tailEnd type="none" w="med" len="med"/>
                    </a:lnTlToBr>
                    <a:lnBlToTr w="12700" cmpd="sng">
                      <a:noFill/>
                      <a:prstDash val="solid"/>
                    </a:lnBlToTr>
                    <a:solidFill>
                      <a:schemeClr val="bg1">
                        <a:lumMod val="95000"/>
                      </a:schemeClr>
                    </a:solidFill>
                  </a:tcPr>
                </a:tc>
                <a:tc>
                  <a:txBody>
                    <a:bodyPr/>
                    <a:lstStyle/>
                    <a:p>
                      <a:pPr algn="ctr" fontAlgn="ctr"/>
                      <a:r>
                        <a:rPr lang="en-US" altLang="ko-KR" sz="1100" b="0" i="0" u="none" strike="noStrike" dirty="0">
                          <a:solidFill>
                            <a:srgbClr val="000000"/>
                          </a:solidFill>
                          <a:effectLst/>
                          <a:latin typeface="+mn-ea"/>
                          <a:ea typeface="+mn-ea"/>
                        </a:rPr>
                        <a:t>2015</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fontAlgn="ctr"/>
                      <a:r>
                        <a:rPr lang="en-US" altLang="ko-KR" sz="1100" b="0" i="0" u="none" strike="noStrike">
                          <a:solidFill>
                            <a:srgbClr val="000000"/>
                          </a:solidFill>
                          <a:effectLst/>
                          <a:latin typeface="+mn-ea"/>
                          <a:ea typeface="+mn-ea"/>
                        </a:rPr>
                        <a:t>2016</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fontAlgn="ctr"/>
                      <a:r>
                        <a:rPr lang="en-US" altLang="ko-KR" sz="1100" b="0" i="0" u="none" strike="noStrike">
                          <a:solidFill>
                            <a:srgbClr val="000000"/>
                          </a:solidFill>
                          <a:effectLst/>
                          <a:latin typeface="+mn-ea"/>
                          <a:ea typeface="+mn-ea"/>
                        </a:rPr>
                        <a:t>2017</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fontAlgn="ctr"/>
                      <a:r>
                        <a:rPr lang="en-US" altLang="ko-KR" sz="1100" b="0" i="0" u="none" strike="noStrike">
                          <a:solidFill>
                            <a:srgbClr val="000000"/>
                          </a:solidFill>
                          <a:effectLst/>
                          <a:latin typeface="+mn-ea"/>
                          <a:ea typeface="+mn-ea"/>
                        </a:rPr>
                        <a:t>2018</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fontAlgn="ctr"/>
                      <a:r>
                        <a:rPr lang="en-US" altLang="ko-KR" sz="1100" b="0" i="0" u="none" strike="noStrike">
                          <a:solidFill>
                            <a:srgbClr val="000000"/>
                          </a:solidFill>
                          <a:effectLst/>
                          <a:latin typeface="+mn-ea"/>
                          <a:ea typeface="+mn-ea"/>
                        </a:rPr>
                        <a:t>2019</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fontAlgn="ctr"/>
                      <a:r>
                        <a:rPr lang="en-US" altLang="ko-KR" sz="1100" b="0" i="0" u="none" strike="noStrike">
                          <a:solidFill>
                            <a:srgbClr val="000000"/>
                          </a:solidFill>
                          <a:effectLst/>
                          <a:latin typeface="+mn-ea"/>
                          <a:ea typeface="+mn-ea"/>
                        </a:rPr>
                        <a:t>2020</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fontAlgn="ctr"/>
                      <a:r>
                        <a:rPr lang="en-US" altLang="ko-KR" sz="1100" b="0" i="0" u="none" strike="noStrike">
                          <a:solidFill>
                            <a:srgbClr val="000000"/>
                          </a:solidFill>
                          <a:effectLst/>
                          <a:latin typeface="+mn-ea"/>
                          <a:ea typeface="+mn-ea"/>
                        </a:rPr>
                        <a:t>2021</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fontAlgn="ctr"/>
                      <a:r>
                        <a:rPr lang="en-US" altLang="ko-KR" sz="1100" b="0" i="0" u="none" strike="noStrike">
                          <a:solidFill>
                            <a:srgbClr val="000000"/>
                          </a:solidFill>
                          <a:effectLst/>
                          <a:latin typeface="+mn-ea"/>
                          <a:ea typeface="+mn-ea"/>
                        </a:rPr>
                        <a:t>2022</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213183">
                <a:tc>
                  <a:txBody>
                    <a:bodyPr/>
                    <a:lstStyle/>
                    <a:p>
                      <a:pPr marL="0" marR="0" lvl="0" indent="0" algn="ctr" defTabSz="914400" rtl="0" eaLnBrk="1" fontAlgn="base" latinLnBrk="1" hangingPunct="1">
                        <a:lnSpc>
                          <a:spcPct val="100000"/>
                        </a:lnSpc>
                        <a:spcBef>
                          <a:spcPct val="50000"/>
                        </a:spcBef>
                        <a:spcAft>
                          <a:spcPct val="30000"/>
                        </a:spcAft>
                        <a:buClrTx/>
                        <a:buSzTx/>
                        <a:buFontTx/>
                        <a:buNone/>
                        <a:tabLst/>
                      </a:pPr>
                      <a:r>
                        <a:rPr kumimoji="1" lang="ko-KR" altLang="en-US" sz="1200" u="none" strike="noStrike" cap="none" normalizeH="0" baseline="0" dirty="0">
                          <a:ln>
                            <a:noFill/>
                          </a:ln>
                          <a:effectLst/>
                        </a:rPr>
                        <a:t>개인발명</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건</a:t>
                      </a:r>
                      <a:r>
                        <a:rPr kumimoji="1" lang="en-US" altLang="ko-KR" sz="1200" u="none" strike="noStrike" cap="none" normalizeH="0" baseline="0" dirty="0">
                          <a:ln>
                            <a:noFill/>
                          </a:ln>
                          <a:effectLst/>
                        </a:rPr>
                        <a:t>)</a:t>
                      </a:r>
                      <a:endParaRPr kumimoji="1" lang="en-US" altLang="ko-KR" sz="12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0" marR="0"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fontAlgn="b"/>
                      <a:r>
                        <a:rPr lang="en-US" altLang="ko-KR" sz="1000" b="0" i="0" u="none" strike="noStrike">
                          <a:solidFill>
                            <a:srgbClr val="000000"/>
                          </a:solidFill>
                          <a:effectLst/>
                          <a:latin typeface="+mn-ea"/>
                          <a:ea typeface="+mn-ea"/>
                        </a:rPr>
                        <a:t>41,972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40,878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41,671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42,487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44,552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44,696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42,043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36,049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213183">
                <a:tc>
                  <a:txBody>
                    <a:bodyPr/>
                    <a:lstStyle/>
                    <a:p>
                      <a:pPr marL="0" marR="0" lvl="0" indent="0" algn="ctr" defTabSz="914400" rtl="0" eaLnBrk="1" fontAlgn="base" latinLnBrk="1" hangingPunct="1">
                        <a:lnSpc>
                          <a:spcPct val="100000"/>
                        </a:lnSpc>
                        <a:spcBef>
                          <a:spcPct val="50000"/>
                        </a:spcBef>
                        <a:spcAft>
                          <a:spcPct val="30000"/>
                        </a:spcAft>
                        <a:buClrTx/>
                        <a:buSzTx/>
                        <a:buFontTx/>
                        <a:buNone/>
                        <a:tabLst/>
                      </a:pPr>
                      <a:r>
                        <a:rPr kumimoji="1" lang="ko-KR" altLang="en-US" sz="1200" u="none" strike="noStrike" cap="none" normalizeH="0" baseline="0" dirty="0">
                          <a:ln>
                            <a:noFill/>
                          </a:ln>
                          <a:effectLst/>
                        </a:rPr>
                        <a:t>직무발명</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건</a:t>
                      </a:r>
                      <a:r>
                        <a:rPr kumimoji="1" lang="en-US" altLang="ko-KR" sz="1200" u="none" strike="noStrike" cap="none" normalizeH="0" baseline="0" dirty="0">
                          <a:ln>
                            <a:noFill/>
                          </a:ln>
                          <a:effectLst/>
                        </a:rPr>
                        <a:t>)</a:t>
                      </a:r>
                      <a:endParaRPr kumimoji="1" lang="en-US" altLang="ko-KR" sz="12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0" marR="0"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fontAlgn="b"/>
                      <a:r>
                        <a:rPr lang="en-US" altLang="ko-KR" sz="1000" b="0" i="0" u="none" strike="noStrike">
                          <a:solidFill>
                            <a:srgbClr val="000000"/>
                          </a:solidFill>
                          <a:effectLst/>
                          <a:latin typeface="+mn-ea"/>
                          <a:ea typeface="+mn-ea"/>
                        </a:rPr>
                        <a:t>171,722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167,952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163,104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167,505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174,423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182,063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195,955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
                      <a:r>
                        <a:rPr lang="en-US" altLang="ko-KR" sz="1000" b="0" i="0" u="none" strike="noStrike">
                          <a:solidFill>
                            <a:srgbClr val="000000"/>
                          </a:solidFill>
                          <a:effectLst/>
                          <a:latin typeface="+mn-ea"/>
                          <a:ea typeface="+mn-ea"/>
                        </a:rPr>
                        <a:t>201,584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r h="224286">
                <a:tc>
                  <a:txBody>
                    <a:bodyPr/>
                    <a:lstStyle/>
                    <a:p>
                      <a:pPr marL="0" marR="0" lvl="0" indent="0" algn="ctr" defTabSz="914400" rtl="0" eaLnBrk="1" fontAlgn="base" latinLnBrk="1" hangingPunct="1">
                        <a:lnSpc>
                          <a:spcPct val="100000"/>
                        </a:lnSpc>
                        <a:spcBef>
                          <a:spcPct val="50000"/>
                        </a:spcBef>
                        <a:spcAft>
                          <a:spcPct val="30000"/>
                        </a:spcAft>
                        <a:buClrTx/>
                        <a:buSzTx/>
                        <a:buFontTx/>
                        <a:buNone/>
                        <a:tabLst/>
                      </a:pPr>
                      <a:r>
                        <a:rPr kumimoji="1" lang="ko-KR" altLang="en-US" sz="1200" u="none" strike="noStrike" cap="none" normalizeH="0" baseline="0" dirty="0">
                          <a:ln>
                            <a:noFill/>
                          </a:ln>
                          <a:effectLst/>
                        </a:rPr>
                        <a:t>합계</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건</a:t>
                      </a:r>
                      <a:r>
                        <a:rPr kumimoji="1" lang="en-US" altLang="ko-KR" sz="1200" u="none" strike="noStrike" cap="none" normalizeH="0" baseline="0" dirty="0">
                          <a:ln>
                            <a:noFill/>
                          </a:ln>
                          <a:effectLst/>
                        </a:rPr>
                        <a:t>)</a:t>
                      </a:r>
                      <a:endParaRPr kumimoji="1" lang="en-US" altLang="ko-KR" sz="12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0" marR="0"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fontAlgn="ctr"/>
                      <a:r>
                        <a:rPr lang="en-US" altLang="ko-KR" sz="1100" b="0" i="0" u="none" strike="noStrike">
                          <a:solidFill>
                            <a:srgbClr val="000000"/>
                          </a:solidFill>
                          <a:effectLst/>
                          <a:latin typeface="+mn-ea"/>
                          <a:ea typeface="+mn-ea"/>
                        </a:rPr>
                        <a:t>213,694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mn-ea"/>
                          <a:ea typeface="+mn-ea"/>
                        </a:rPr>
                        <a:t>208,830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mn-ea"/>
                          <a:ea typeface="+mn-ea"/>
                        </a:rPr>
                        <a:t>204,775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mn-ea"/>
                          <a:ea typeface="+mn-ea"/>
                        </a:rPr>
                        <a:t>209,992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mn-ea"/>
                          <a:ea typeface="+mn-ea"/>
                        </a:rPr>
                        <a:t>218,975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mn-ea"/>
                          <a:ea typeface="+mn-ea"/>
                        </a:rPr>
                        <a:t>226,759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mn-ea"/>
                          <a:ea typeface="+mn-ea"/>
                        </a:rPr>
                        <a:t>237,998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a:solidFill>
                            <a:srgbClr val="000000"/>
                          </a:solidFill>
                          <a:effectLst/>
                          <a:latin typeface="+mn-ea"/>
                          <a:ea typeface="+mn-ea"/>
                        </a:rPr>
                        <a:t>237,633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3"/>
                  </a:ext>
                </a:extLst>
              </a:tr>
              <a:tr h="224286">
                <a:tc>
                  <a:txBody>
                    <a:bodyPr/>
                    <a:lstStyle/>
                    <a:p>
                      <a:pPr marL="0" marR="0" lvl="0" indent="0" algn="ctr" defTabSz="914400" rtl="0" eaLnBrk="1" fontAlgn="base" latinLnBrk="1" hangingPunct="1">
                        <a:lnSpc>
                          <a:spcPct val="100000"/>
                        </a:lnSpc>
                        <a:spcBef>
                          <a:spcPct val="50000"/>
                        </a:spcBef>
                        <a:spcAft>
                          <a:spcPct val="30000"/>
                        </a:spcAft>
                        <a:buClrTx/>
                        <a:buSzTx/>
                        <a:buFontTx/>
                        <a:buNone/>
                        <a:tabLst/>
                      </a:pPr>
                      <a:r>
                        <a:rPr kumimoji="1" lang="ko-KR" altLang="en-US" sz="1200" u="none" strike="noStrike" cap="none" normalizeH="0" baseline="0" dirty="0">
                          <a:ln>
                            <a:noFill/>
                          </a:ln>
                          <a:effectLst/>
                        </a:rPr>
                        <a:t>직무발명 비중</a:t>
                      </a:r>
                      <a:r>
                        <a:rPr kumimoji="1" lang="en-US" altLang="ko-KR" sz="1200" u="none" strike="noStrike" cap="none" normalizeH="0" baseline="0" dirty="0">
                          <a:ln>
                            <a:noFill/>
                          </a:ln>
                          <a:effectLst/>
                        </a:rPr>
                        <a:t>(%)</a:t>
                      </a:r>
                      <a:endParaRPr kumimoji="1" lang="en-US" altLang="ko-KR" sz="12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0" marR="0"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algn="ctr" fontAlgn="ctr"/>
                      <a:r>
                        <a:rPr lang="en-US" altLang="ko-KR" sz="1100" b="0" i="0" u="none" strike="noStrike" dirty="0">
                          <a:solidFill>
                            <a:srgbClr val="FF0000"/>
                          </a:solidFill>
                          <a:effectLst/>
                          <a:latin typeface="+mn-ea"/>
                          <a:ea typeface="+mn-ea"/>
                        </a:rPr>
                        <a:t>80.36%</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dirty="0">
                          <a:solidFill>
                            <a:srgbClr val="FF0000"/>
                          </a:solidFill>
                          <a:effectLst/>
                          <a:latin typeface="+mn-ea"/>
                          <a:ea typeface="+mn-ea"/>
                        </a:rPr>
                        <a:t>80.43%</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a:solidFill>
                            <a:srgbClr val="FF0000"/>
                          </a:solidFill>
                          <a:effectLst/>
                          <a:latin typeface="+mn-ea"/>
                          <a:ea typeface="+mn-ea"/>
                        </a:rPr>
                        <a:t>79.65%</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dirty="0">
                          <a:solidFill>
                            <a:srgbClr val="FF0000"/>
                          </a:solidFill>
                          <a:effectLst/>
                          <a:latin typeface="+mn-ea"/>
                          <a:ea typeface="+mn-ea"/>
                        </a:rPr>
                        <a:t>79.77%</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dirty="0">
                          <a:solidFill>
                            <a:srgbClr val="FF0000"/>
                          </a:solidFill>
                          <a:effectLst/>
                          <a:latin typeface="+mn-ea"/>
                          <a:ea typeface="+mn-ea"/>
                        </a:rPr>
                        <a:t>79.65%</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dirty="0">
                          <a:solidFill>
                            <a:srgbClr val="FF0000"/>
                          </a:solidFill>
                          <a:effectLst/>
                          <a:latin typeface="+mn-ea"/>
                          <a:ea typeface="+mn-ea"/>
                        </a:rPr>
                        <a:t>80.29%</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dirty="0">
                          <a:solidFill>
                            <a:srgbClr val="FF0000"/>
                          </a:solidFill>
                          <a:effectLst/>
                          <a:latin typeface="+mn-ea"/>
                          <a:ea typeface="+mn-ea"/>
                        </a:rPr>
                        <a:t>82.33%</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ctr"/>
                      <a:r>
                        <a:rPr lang="en-US" altLang="ko-KR" sz="1100" b="0" i="0" u="none" strike="noStrike" dirty="0">
                          <a:solidFill>
                            <a:srgbClr val="FF0000"/>
                          </a:solidFill>
                          <a:effectLst/>
                          <a:latin typeface="+mn-ea"/>
                          <a:ea typeface="+mn-ea"/>
                        </a:rPr>
                        <a:t>84.83%</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sp>
        <p:nvSpPr>
          <p:cNvPr id="61" name="TextBox 60">
            <a:extLst>
              <a:ext uri="{FF2B5EF4-FFF2-40B4-BE49-F238E27FC236}">
                <a16:creationId xmlns:a16="http://schemas.microsoft.com/office/drawing/2014/main" id="{1BFEFE71-1031-4818-B071-B449BB0A68CC}"/>
              </a:ext>
            </a:extLst>
          </p:cNvPr>
          <p:cNvSpPr txBox="1"/>
          <p:nvPr/>
        </p:nvSpPr>
        <p:spPr>
          <a:xfrm>
            <a:off x="4894217" y="5723364"/>
            <a:ext cx="6603090"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특허출원건수를 기준으로 하였으며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개인발명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은 개인출원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직무발명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은 법인출원 건수를 의미함</a:t>
            </a:r>
          </a:p>
        </p:txBody>
      </p:sp>
      <p:cxnSp>
        <p:nvCxnSpPr>
          <p:cNvPr id="11" name="직선 연결선 10">
            <a:extLst>
              <a:ext uri="{FF2B5EF4-FFF2-40B4-BE49-F238E27FC236}">
                <a16:creationId xmlns:a16="http://schemas.microsoft.com/office/drawing/2014/main" id="{5B7C6AA5-B86E-4BF5-AF5C-0A8E9D9350FA}"/>
              </a:ext>
            </a:extLst>
          </p:cNvPr>
          <p:cNvCxnSpPr/>
          <p:nvPr/>
        </p:nvCxnSpPr>
        <p:spPr>
          <a:xfrm>
            <a:off x="304302" y="3667125"/>
            <a:ext cx="11550438" cy="0"/>
          </a:xfrm>
          <a:prstGeom prst="line">
            <a:avLst/>
          </a:prstGeom>
          <a:ln w="1905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3775791"/>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직무발명</a:t>
            </a:r>
          </a:p>
        </p:txBody>
      </p:sp>
      <p:sp>
        <p:nvSpPr>
          <p:cNvPr id="4" name="텍스트 개체 틀 3"/>
          <p:cNvSpPr>
            <a:spLocks noGrp="1"/>
          </p:cNvSpPr>
          <p:nvPr>
            <p:ph type="body" sz="quarter" idx="13"/>
          </p:nvPr>
        </p:nvSpPr>
        <p:spPr/>
        <p:txBody>
          <a:bodyPr/>
          <a:lstStyle/>
          <a:p>
            <a:r>
              <a:rPr lang="ko-KR" altLang="en-US" dirty="0"/>
              <a:t>직무발명의 혜택</a:t>
            </a:r>
          </a:p>
        </p:txBody>
      </p:sp>
      <p:sp>
        <p:nvSpPr>
          <p:cNvPr id="23" name="TextBox 22"/>
          <p:cNvSpPr txBox="1"/>
          <p:nvPr/>
        </p:nvSpPr>
        <p:spPr>
          <a:xfrm>
            <a:off x="77875" y="986046"/>
            <a:ext cx="11936323" cy="334451"/>
          </a:xfrm>
          <a:prstGeom prst="rect">
            <a:avLst/>
          </a:prstGeom>
          <a:noFill/>
        </p:spPr>
        <p:txBody>
          <a:bodyPr wrap="square" rtlCol="0">
            <a:spAutoFit/>
          </a:bodyPr>
          <a:lstStyle/>
          <a:p>
            <a:pPr marL="0" marR="0" lvl="0" indent="0" algn="just" defTabSz="914400" rtl="0" eaLnBrk="0" fontAlgn="auto" latinLnBrk="1" hangingPunct="0">
              <a:lnSpc>
                <a:spcPct val="120000"/>
              </a:lnSpc>
              <a:spcBef>
                <a:spcPts val="0"/>
              </a:spcBef>
              <a:spcAft>
                <a:spcPct val="30000"/>
              </a:spcAft>
              <a:buClr>
                <a:srgbClr val="1F497D">
                  <a:lumMod val="75000"/>
                </a:srgbClr>
              </a:buClr>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직무발명제도 도입 기업에게는 직무발명보상금 지출비용에 대하여 세액공제 혜택이 주어지고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정부지원사업 대상자 선정 시에 인센티브가 부여됨</a:t>
            </a:r>
            <a:endParaRPr kumimoji="0" lang="ko-KR" altLang="en-US" sz="1400" b="0" i="0" u="none" strike="noStrike" kern="0" cap="none" spc="0" normalizeH="0" baseline="0" noProof="0" dirty="0">
              <a:ln>
                <a:noFill/>
              </a:ln>
              <a:solidFill>
                <a:prstClr val="black"/>
              </a:solidFill>
              <a:effectLst/>
              <a:uLnTx/>
              <a:uFillTx/>
              <a:latin typeface="Frutiger LT 65 Bold"/>
              <a:ea typeface="Rix모던고딕 B"/>
              <a:cs typeface="+mn-cs"/>
            </a:endParaRPr>
          </a:p>
        </p:txBody>
      </p:sp>
      <p:cxnSp>
        <p:nvCxnSpPr>
          <p:cNvPr id="25" name="직선 연결선 24"/>
          <p:cNvCxnSpPr/>
          <p:nvPr/>
        </p:nvCxnSpPr>
        <p:spPr>
          <a:xfrm>
            <a:off x="0" y="132049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114</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graphicFrame>
        <p:nvGraphicFramePr>
          <p:cNvPr id="22" name="표 21">
            <a:extLst>
              <a:ext uri="{FF2B5EF4-FFF2-40B4-BE49-F238E27FC236}">
                <a16:creationId xmlns:a16="http://schemas.microsoft.com/office/drawing/2014/main" id="{833A38DD-5C45-4D27-B981-9FEB1D92F184}"/>
              </a:ext>
            </a:extLst>
          </p:cNvPr>
          <p:cNvGraphicFramePr>
            <a:graphicFrameLocks noGrp="1"/>
          </p:cNvGraphicFramePr>
          <p:nvPr/>
        </p:nvGraphicFramePr>
        <p:xfrm>
          <a:off x="499170" y="1683795"/>
          <a:ext cx="11007030" cy="3853708"/>
        </p:xfrm>
        <a:graphic>
          <a:graphicData uri="http://schemas.openxmlformats.org/drawingml/2006/table">
            <a:tbl>
              <a:tblPr>
                <a:tableStyleId>{BC89EF96-8CEA-46FF-86C4-4CE0E7609802}</a:tableStyleId>
              </a:tblPr>
              <a:tblGrid>
                <a:gridCol w="1954087">
                  <a:extLst>
                    <a:ext uri="{9D8B030D-6E8A-4147-A177-3AD203B41FA5}">
                      <a16:colId xmlns:a16="http://schemas.microsoft.com/office/drawing/2014/main" val="20000"/>
                    </a:ext>
                  </a:extLst>
                </a:gridCol>
                <a:gridCol w="9052943">
                  <a:extLst>
                    <a:ext uri="{9D8B030D-6E8A-4147-A177-3AD203B41FA5}">
                      <a16:colId xmlns:a16="http://schemas.microsoft.com/office/drawing/2014/main" val="20001"/>
                    </a:ext>
                  </a:extLst>
                </a:gridCol>
              </a:tblGrid>
              <a:tr h="240866">
                <a:tc>
                  <a:txBody>
                    <a:bodyPr/>
                    <a:lstStyle/>
                    <a:p>
                      <a:pPr algn="ctr" latinLnBrk="1"/>
                      <a:r>
                        <a:rPr lang="ko-KR" altLang="en-US" sz="1200" dirty="0">
                          <a:latin typeface="+mn-ea"/>
                          <a:ea typeface="+mn-ea"/>
                        </a:rPr>
                        <a:t>항목</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85000"/>
                      </a:schemeClr>
                    </a:solidFill>
                  </a:tcPr>
                </a:tc>
                <a:tc>
                  <a:txBody>
                    <a:bodyPr/>
                    <a:lstStyle/>
                    <a:p>
                      <a:pPr algn="ctr" latinLnBrk="1"/>
                      <a:r>
                        <a:rPr lang="ko-KR" altLang="en-US" sz="1200" dirty="0">
                          <a:latin typeface="+mn-ea"/>
                          <a:ea typeface="+mn-ea"/>
                        </a:rPr>
                        <a:t>내용</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240866">
                <a:tc>
                  <a:txBody>
                    <a:bodyPr/>
                    <a:lstStyle/>
                    <a:p>
                      <a:pPr algn="ctr" latinLnBrk="1"/>
                      <a:r>
                        <a:rPr lang="ko-KR" altLang="en-US" sz="1200" dirty="0">
                          <a:latin typeface="+mn-ea"/>
                          <a:ea typeface="+mn-ea"/>
                        </a:rPr>
                        <a:t>권리확보</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latinLnBrk="1"/>
                      <a:r>
                        <a:rPr lang="en-US" altLang="ko-KR" sz="1200" b="0" dirty="0">
                          <a:latin typeface="+mn-ea"/>
                          <a:ea typeface="+mn-ea"/>
                        </a:rPr>
                        <a:t>-</a:t>
                      </a:r>
                      <a:r>
                        <a:rPr lang="en-US" altLang="ko-KR" sz="1200" b="0" baseline="0" dirty="0">
                          <a:latin typeface="+mn-ea"/>
                          <a:ea typeface="+mn-ea"/>
                        </a:rPr>
                        <a:t> </a:t>
                      </a:r>
                      <a:r>
                        <a:rPr lang="ko-KR" altLang="en-US" sz="1200" b="0" dirty="0">
                          <a:latin typeface="+mn-ea"/>
                          <a:ea typeface="+mn-ea"/>
                        </a:rPr>
                        <a:t>직무발명에 대한 합리적이고 안정적인 권리를 확보</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653308">
                <a:tc>
                  <a:txBody>
                    <a:bodyPr/>
                    <a:lstStyle/>
                    <a:p>
                      <a:pPr algn="ctr" latinLnBrk="1"/>
                      <a:r>
                        <a:rPr lang="ko-KR" altLang="en-US" sz="1200" dirty="0">
                          <a:latin typeface="+mn-ea"/>
                          <a:ea typeface="+mn-ea"/>
                        </a:rPr>
                        <a:t>세액공제</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171450" indent="-171450">
                        <a:buFontTx/>
                        <a:buChar char="-"/>
                      </a:pPr>
                      <a:r>
                        <a:rPr lang="ko-KR" altLang="en-US" sz="1200" b="0" dirty="0">
                          <a:latin typeface="+mn-ea"/>
                          <a:ea typeface="+mn-ea"/>
                        </a:rPr>
                        <a:t>사용자</a:t>
                      </a:r>
                      <a:r>
                        <a:rPr lang="en-US" altLang="ko-KR" sz="1200" b="0" dirty="0">
                          <a:latin typeface="+mn-ea"/>
                          <a:ea typeface="+mn-ea"/>
                        </a:rPr>
                        <a:t>: </a:t>
                      </a:r>
                      <a:r>
                        <a:rPr lang="ko-KR" altLang="en-US" sz="1200" b="0" dirty="0">
                          <a:latin typeface="+mn-ea"/>
                          <a:ea typeface="+mn-ea"/>
                        </a:rPr>
                        <a:t>직무발명 보상금으로 지출한 금액에 대해서 </a:t>
                      </a:r>
                      <a:r>
                        <a:rPr lang="ko-KR" altLang="en-US" sz="1200" b="1" dirty="0">
                          <a:solidFill>
                            <a:srgbClr val="FF0000"/>
                          </a:solidFill>
                          <a:latin typeface="+mn-ea"/>
                          <a:ea typeface="+mn-ea"/>
                        </a:rPr>
                        <a:t>연구개발비용으로 소득세 또는 법인세에서 세액공제</a:t>
                      </a:r>
                      <a:r>
                        <a:rPr lang="en-US" altLang="ko-KR" sz="1200" b="0" dirty="0">
                          <a:latin typeface="+mn-ea"/>
                          <a:ea typeface="+mn-ea"/>
                        </a:rPr>
                        <a:t>(</a:t>
                      </a:r>
                      <a:r>
                        <a:rPr lang="ko-KR" altLang="en-US" sz="1200" b="0" dirty="0">
                          <a:latin typeface="+mn-ea"/>
                          <a:ea typeface="+mn-ea"/>
                        </a:rPr>
                        <a:t>조세특례제한법 제</a:t>
                      </a:r>
                      <a:r>
                        <a:rPr lang="en-US" altLang="ko-KR" sz="1200" b="0" dirty="0">
                          <a:latin typeface="+mn-ea"/>
                          <a:ea typeface="+mn-ea"/>
                        </a:rPr>
                        <a:t>9</a:t>
                      </a:r>
                      <a:r>
                        <a:rPr lang="ko-KR" altLang="en-US" sz="1200" b="0" dirty="0">
                          <a:latin typeface="+mn-ea"/>
                          <a:ea typeface="+mn-ea"/>
                        </a:rPr>
                        <a:t>조</a:t>
                      </a:r>
                      <a:r>
                        <a:rPr lang="en-US" altLang="ko-KR" sz="1200" b="0" dirty="0">
                          <a:latin typeface="+mn-ea"/>
                          <a:ea typeface="+mn-ea"/>
                        </a:rPr>
                        <a:t>, </a:t>
                      </a:r>
                      <a:r>
                        <a:rPr lang="ko-KR" altLang="en-US" sz="1200" b="0" dirty="0">
                          <a:latin typeface="+mn-ea"/>
                          <a:ea typeface="+mn-ea"/>
                        </a:rPr>
                        <a:t>제</a:t>
                      </a:r>
                      <a:r>
                        <a:rPr lang="en-US" altLang="ko-KR" sz="1200" b="0" dirty="0">
                          <a:latin typeface="+mn-ea"/>
                          <a:ea typeface="+mn-ea"/>
                        </a:rPr>
                        <a:t>10</a:t>
                      </a:r>
                      <a:r>
                        <a:rPr lang="ko-KR" altLang="en-US" sz="1200" b="0" dirty="0">
                          <a:latin typeface="+mn-ea"/>
                          <a:ea typeface="+mn-ea"/>
                        </a:rPr>
                        <a:t>조</a:t>
                      </a:r>
                      <a:r>
                        <a:rPr lang="en-US" altLang="ko-KR" sz="1200" b="0" dirty="0">
                          <a:latin typeface="+mn-ea"/>
                          <a:ea typeface="+mn-ea"/>
                        </a:rPr>
                        <a:t>, </a:t>
                      </a:r>
                      <a:r>
                        <a:rPr lang="ko-KR" altLang="en-US" sz="1200" b="0" dirty="0">
                          <a:latin typeface="+mn-ea"/>
                          <a:ea typeface="+mn-ea"/>
                        </a:rPr>
                        <a:t>동법 시행령 제</a:t>
                      </a:r>
                      <a:r>
                        <a:rPr lang="en-US" altLang="ko-KR" sz="1200" b="0" dirty="0">
                          <a:latin typeface="+mn-ea"/>
                          <a:ea typeface="+mn-ea"/>
                        </a:rPr>
                        <a:t>8</a:t>
                      </a:r>
                      <a:r>
                        <a:rPr lang="ko-KR" altLang="en-US" sz="1200" b="0" dirty="0">
                          <a:latin typeface="+mn-ea"/>
                          <a:ea typeface="+mn-ea"/>
                        </a:rPr>
                        <a:t>조</a:t>
                      </a:r>
                      <a:r>
                        <a:rPr lang="en-US" altLang="ko-KR" sz="1200" b="0" dirty="0">
                          <a:latin typeface="+mn-ea"/>
                          <a:ea typeface="+mn-ea"/>
                        </a:rPr>
                        <a:t>)</a:t>
                      </a:r>
                    </a:p>
                    <a:p>
                      <a:pPr marL="171450" indent="-171450">
                        <a:buFontTx/>
                        <a:buChar char="-"/>
                      </a:pPr>
                      <a:r>
                        <a:rPr lang="ko-KR" altLang="en-US" sz="1200" b="0" dirty="0">
                          <a:latin typeface="+mn-ea"/>
                          <a:ea typeface="+mn-ea"/>
                        </a:rPr>
                        <a:t>발명자</a:t>
                      </a:r>
                      <a:r>
                        <a:rPr lang="en-US" altLang="ko-KR" sz="1200" b="0" dirty="0">
                          <a:latin typeface="+mn-ea"/>
                          <a:ea typeface="+mn-ea"/>
                        </a:rPr>
                        <a:t>: </a:t>
                      </a:r>
                      <a:r>
                        <a:rPr lang="ko-KR" altLang="en-US" sz="1200" b="0" dirty="0">
                          <a:latin typeface="+mn-ea"/>
                          <a:ea typeface="+mn-ea"/>
                        </a:rPr>
                        <a:t>사용자로부터 받는 보상금에 대하여 </a:t>
                      </a:r>
                      <a:r>
                        <a:rPr lang="en-US" altLang="ko-KR" sz="1200" b="1" dirty="0">
                          <a:solidFill>
                            <a:srgbClr val="FF0000"/>
                          </a:solidFill>
                          <a:latin typeface="+mn-ea"/>
                          <a:ea typeface="+mn-ea"/>
                        </a:rPr>
                        <a:t>500</a:t>
                      </a:r>
                      <a:r>
                        <a:rPr lang="ko-KR" altLang="en-US" sz="1200" b="1" dirty="0">
                          <a:solidFill>
                            <a:srgbClr val="FF0000"/>
                          </a:solidFill>
                          <a:latin typeface="+mn-ea"/>
                          <a:ea typeface="+mn-ea"/>
                        </a:rPr>
                        <a:t>만원까지 비과세 혜택</a:t>
                      </a:r>
                      <a:r>
                        <a:rPr lang="en-US" altLang="ko-KR" sz="1200" b="0" dirty="0">
                          <a:latin typeface="+mn-ea"/>
                          <a:ea typeface="+mn-ea"/>
                        </a:rPr>
                        <a:t>(</a:t>
                      </a:r>
                      <a:r>
                        <a:rPr lang="ko-KR" altLang="en-US" sz="1200" b="0" dirty="0">
                          <a:latin typeface="+mn-ea"/>
                          <a:ea typeface="+mn-ea"/>
                        </a:rPr>
                        <a:t>소득세법 제</a:t>
                      </a:r>
                      <a:r>
                        <a:rPr lang="en-US" altLang="ko-KR" sz="1200" b="0" dirty="0">
                          <a:latin typeface="+mn-ea"/>
                          <a:ea typeface="+mn-ea"/>
                        </a:rPr>
                        <a:t>12</a:t>
                      </a:r>
                      <a:r>
                        <a:rPr lang="ko-KR" altLang="en-US" sz="1200" b="0" dirty="0">
                          <a:latin typeface="+mn-ea"/>
                          <a:ea typeface="+mn-ea"/>
                        </a:rPr>
                        <a:t>조 제</a:t>
                      </a:r>
                      <a:r>
                        <a:rPr lang="en-US" altLang="ko-KR" sz="1200" b="0" dirty="0">
                          <a:latin typeface="+mn-ea"/>
                          <a:ea typeface="+mn-ea"/>
                        </a:rPr>
                        <a:t>5</a:t>
                      </a:r>
                      <a:r>
                        <a:rPr lang="ko-KR" altLang="en-US" sz="1200" b="0" dirty="0">
                          <a:latin typeface="+mn-ea"/>
                          <a:ea typeface="+mn-ea"/>
                        </a:rPr>
                        <a:t>호 </a:t>
                      </a:r>
                      <a:r>
                        <a:rPr lang="ko-KR" altLang="en-US" sz="1200" b="0" dirty="0" err="1">
                          <a:latin typeface="+mn-ea"/>
                          <a:ea typeface="+mn-ea"/>
                        </a:rPr>
                        <a:t>라목</a:t>
                      </a:r>
                      <a:r>
                        <a:rPr lang="en-US" altLang="ko-KR" sz="1200" b="0" dirty="0">
                          <a:latin typeface="+mn-ea"/>
                          <a:ea typeface="+mn-ea"/>
                        </a:rPr>
                        <a:t>) </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798569">
                <a:tc>
                  <a:txBody>
                    <a:bodyPr/>
                    <a:lstStyle/>
                    <a:p>
                      <a:pPr algn="ctr" latinLnBrk="1"/>
                      <a:r>
                        <a:rPr lang="ko-KR" altLang="en-US" sz="1200" dirty="0">
                          <a:latin typeface="+mn-ea"/>
                          <a:ea typeface="+mn-ea"/>
                        </a:rPr>
                        <a:t>지식재산처</a:t>
                      </a:r>
                      <a:r>
                        <a:rPr lang="en-US" altLang="ko-KR" sz="1200" dirty="0">
                          <a:latin typeface="+mn-ea"/>
                          <a:ea typeface="+mn-ea"/>
                        </a:rPr>
                        <a:t>*</a:t>
                      </a:r>
                      <a:endParaRPr lang="ko-KR" altLang="en-US" sz="1200" dirty="0">
                        <a:latin typeface="+mn-ea"/>
                        <a:ea typeface="+mn-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0" indent="0" latinLnBrk="1">
                        <a:buFontTx/>
                        <a:buNone/>
                      </a:pPr>
                      <a:r>
                        <a:rPr lang="en-US" altLang="ko-KR" sz="1200" b="0" dirty="0">
                          <a:latin typeface="+mn-ea"/>
                          <a:ea typeface="+mn-ea"/>
                        </a:rPr>
                        <a:t>- </a:t>
                      </a:r>
                      <a:r>
                        <a:rPr lang="ko-KR" altLang="en-US" sz="1200" b="0" dirty="0">
                          <a:latin typeface="+mn-ea"/>
                          <a:ea typeface="+mn-ea"/>
                        </a:rPr>
                        <a:t>민간 </a:t>
                      </a:r>
                      <a:r>
                        <a:rPr lang="en-US" altLang="ko-KR" sz="1200" b="0" dirty="0">
                          <a:latin typeface="+mn-ea"/>
                          <a:ea typeface="+mn-ea"/>
                        </a:rPr>
                        <a:t>IP-R&amp;D </a:t>
                      </a:r>
                      <a:r>
                        <a:rPr lang="ko-KR" altLang="en-US" sz="1200" b="0" dirty="0">
                          <a:latin typeface="+mn-ea"/>
                          <a:ea typeface="+mn-ea"/>
                        </a:rPr>
                        <a:t>연계전략 지원사업</a:t>
                      </a:r>
                      <a:br>
                        <a:rPr lang="ko-KR" altLang="en-US" sz="1200" b="0" dirty="0">
                          <a:latin typeface="+mn-ea"/>
                          <a:ea typeface="+mn-ea"/>
                        </a:rPr>
                      </a:br>
                      <a:r>
                        <a:rPr lang="en-US" altLang="ko-KR" sz="1200" b="0" dirty="0">
                          <a:latin typeface="+mn-ea"/>
                          <a:ea typeface="+mn-ea"/>
                        </a:rPr>
                        <a:t>- </a:t>
                      </a:r>
                      <a:r>
                        <a:rPr lang="ko-KR" altLang="en-US" sz="1200" b="0" dirty="0">
                          <a:latin typeface="+mn-ea"/>
                          <a:ea typeface="+mn-ea"/>
                        </a:rPr>
                        <a:t>특허기술의 전략적 사업화 지원사업</a:t>
                      </a:r>
                      <a:br>
                        <a:rPr lang="ko-KR" altLang="en-US" sz="1200" b="0" dirty="0">
                          <a:latin typeface="+mn-ea"/>
                          <a:ea typeface="+mn-ea"/>
                        </a:rPr>
                      </a:br>
                      <a:r>
                        <a:rPr lang="en-US" altLang="ko-KR" sz="1200" b="0" dirty="0">
                          <a:latin typeface="+mn-ea"/>
                          <a:ea typeface="+mn-ea"/>
                        </a:rPr>
                        <a:t>- </a:t>
                      </a:r>
                      <a:r>
                        <a:rPr lang="ko-KR" altLang="en-US" sz="1200" b="0" dirty="0">
                          <a:latin typeface="+mn-ea"/>
                          <a:ea typeface="+mn-ea"/>
                        </a:rPr>
                        <a:t>지역지식재산 창출 지원사업 </a:t>
                      </a:r>
                      <a:endParaRPr lang="en-US" altLang="ko-KR" sz="1200" b="0" dirty="0">
                        <a:latin typeface="+mn-ea"/>
                        <a:ea typeface="+mn-ea"/>
                      </a:endParaRPr>
                    </a:p>
                    <a:p>
                      <a:pPr marL="0" indent="0" latinLnBrk="1">
                        <a:buFontTx/>
                        <a:buNone/>
                      </a:pPr>
                      <a:r>
                        <a:rPr lang="en-US" altLang="ko-KR" sz="1200" b="0" dirty="0">
                          <a:latin typeface="+mn-ea"/>
                          <a:ea typeface="+mn-ea"/>
                        </a:rPr>
                        <a:t>- </a:t>
                      </a:r>
                      <a:r>
                        <a:rPr lang="ko-KR" altLang="en-US" sz="1200" b="0" dirty="0">
                          <a:latin typeface="+mn-ea"/>
                          <a:ea typeface="+mn-ea"/>
                        </a:rPr>
                        <a:t>특허</a:t>
                      </a:r>
                      <a:r>
                        <a:rPr lang="en-US" altLang="ko-KR" sz="1200" b="0" dirty="0">
                          <a:latin typeface="+mn-ea"/>
                          <a:ea typeface="+mn-ea"/>
                        </a:rPr>
                        <a:t>, </a:t>
                      </a:r>
                      <a:r>
                        <a:rPr lang="ko-KR" altLang="en-US" sz="1200" b="0" dirty="0">
                          <a:latin typeface="+mn-ea"/>
                          <a:ea typeface="+mn-ea"/>
                        </a:rPr>
                        <a:t>실용신안</a:t>
                      </a:r>
                      <a:r>
                        <a:rPr lang="en-US" altLang="ko-KR" sz="1200" b="0" dirty="0">
                          <a:latin typeface="+mn-ea"/>
                          <a:ea typeface="+mn-ea"/>
                        </a:rPr>
                        <a:t>, </a:t>
                      </a:r>
                      <a:r>
                        <a:rPr lang="ko-KR" altLang="en-US" sz="1200" b="0" dirty="0">
                          <a:latin typeface="+mn-ea"/>
                          <a:ea typeface="+mn-ea"/>
                        </a:rPr>
                        <a:t>디자인 </a:t>
                      </a:r>
                      <a:r>
                        <a:rPr lang="ko-KR" altLang="en-US" sz="1200" b="1" dirty="0">
                          <a:solidFill>
                            <a:srgbClr val="FF0000"/>
                          </a:solidFill>
                          <a:latin typeface="+mn-ea"/>
                          <a:ea typeface="+mn-ea"/>
                        </a:rPr>
                        <a:t>우선심사대상</a:t>
                      </a:r>
                      <a:endParaRPr lang="en-US" altLang="ko-KR" sz="1200" b="1" dirty="0">
                        <a:solidFill>
                          <a:srgbClr val="FF0000"/>
                        </a:solidFill>
                        <a:latin typeface="+mn-ea"/>
                        <a:ea typeface="+mn-ea"/>
                      </a:endParaRPr>
                    </a:p>
                    <a:p>
                      <a:r>
                        <a:rPr lang="en-US" altLang="ko-KR" sz="1200" b="1" dirty="0">
                          <a:latin typeface="+mn-ea"/>
                          <a:ea typeface="+mn-ea"/>
                        </a:rPr>
                        <a:t>- </a:t>
                      </a:r>
                      <a:r>
                        <a:rPr lang="ko-KR" altLang="en-US" sz="1200" b="1" dirty="0">
                          <a:solidFill>
                            <a:srgbClr val="FF0000"/>
                          </a:solidFill>
                          <a:latin typeface="+mn-ea"/>
                          <a:ea typeface="+mn-ea"/>
                        </a:rPr>
                        <a:t>특허</a:t>
                      </a:r>
                      <a:r>
                        <a:rPr lang="en-US" altLang="ko-KR" sz="1200" b="1" dirty="0">
                          <a:solidFill>
                            <a:srgbClr val="FF0000"/>
                          </a:solidFill>
                          <a:latin typeface="+mn-ea"/>
                          <a:ea typeface="+mn-ea"/>
                        </a:rPr>
                        <a:t>, </a:t>
                      </a:r>
                      <a:r>
                        <a:rPr lang="ko-KR" altLang="en-US" sz="1200" b="1" dirty="0">
                          <a:solidFill>
                            <a:srgbClr val="FF0000"/>
                          </a:solidFill>
                          <a:latin typeface="+mn-ea"/>
                          <a:ea typeface="+mn-ea"/>
                        </a:rPr>
                        <a:t>실용신안</a:t>
                      </a:r>
                      <a:r>
                        <a:rPr lang="en-US" altLang="ko-KR" sz="1200" b="1" dirty="0">
                          <a:solidFill>
                            <a:srgbClr val="FF0000"/>
                          </a:solidFill>
                          <a:latin typeface="+mn-ea"/>
                          <a:ea typeface="+mn-ea"/>
                        </a:rPr>
                        <a:t>, </a:t>
                      </a:r>
                      <a:r>
                        <a:rPr lang="ko-KR" altLang="en-US" sz="1200" b="1" dirty="0">
                          <a:solidFill>
                            <a:srgbClr val="FF0000"/>
                          </a:solidFill>
                          <a:latin typeface="+mn-ea"/>
                          <a:ea typeface="+mn-ea"/>
                        </a:rPr>
                        <a:t>디자인 </a:t>
                      </a:r>
                      <a:r>
                        <a:rPr lang="en-US" altLang="ko-KR" sz="1200" b="1" dirty="0">
                          <a:solidFill>
                            <a:srgbClr val="FF0000"/>
                          </a:solidFill>
                          <a:latin typeface="+mn-ea"/>
                          <a:ea typeface="+mn-ea"/>
                        </a:rPr>
                        <a:t>4~6</a:t>
                      </a:r>
                      <a:r>
                        <a:rPr lang="ko-KR" altLang="en-US" sz="1200" b="1" dirty="0" err="1">
                          <a:solidFill>
                            <a:srgbClr val="FF0000"/>
                          </a:solidFill>
                          <a:latin typeface="+mn-ea"/>
                          <a:ea typeface="+mn-ea"/>
                        </a:rPr>
                        <a:t>년차</a:t>
                      </a:r>
                      <a:r>
                        <a:rPr lang="ko-KR" altLang="en-US" sz="1200" b="1" dirty="0">
                          <a:solidFill>
                            <a:srgbClr val="FF0000"/>
                          </a:solidFill>
                          <a:latin typeface="+mn-ea"/>
                          <a:ea typeface="+mn-ea"/>
                        </a:rPr>
                        <a:t> 등록료 </a:t>
                      </a:r>
                      <a:r>
                        <a:rPr lang="en-US" altLang="ko-KR" sz="1200" b="1" dirty="0">
                          <a:solidFill>
                            <a:srgbClr val="FF0000"/>
                          </a:solidFill>
                          <a:latin typeface="+mn-ea"/>
                          <a:ea typeface="+mn-ea"/>
                        </a:rPr>
                        <a:t>20% </a:t>
                      </a:r>
                      <a:r>
                        <a:rPr lang="ko-KR" altLang="en-US" sz="1200" b="1" dirty="0">
                          <a:solidFill>
                            <a:srgbClr val="FF0000"/>
                          </a:solidFill>
                          <a:latin typeface="+mn-ea"/>
                          <a:ea typeface="+mn-ea"/>
                        </a:rPr>
                        <a:t>추가감면</a:t>
                      </a:r>
                      <a:r>
                        <a:rPr lang="en-US" altLang="ko-KR" sz="1200" b="1" dirty="0">
                          <a:solidFill>
                            <a:srgbClr val="FF0000"/>
                          </a:solidFill>
                          <a:latin typeface="+mn-ea"/>
                          <a:ea typeface="+mn-ea"/>
                        </a:rPr>
                        <a:t>(</a:t>
                      </a:r>
                      <a:r>
                        <a:rPr lang="en-US" altLang="ko-KR" sz="1200" b="1" dirty="0">
                          <a:solidFill>
                            <a:srgbClr val="FF0000"/>
                          </a:solidFill>
                          <a:effectLst/>
                          <a:latin typeface="+mn-ea"/>
                          <a:ea typeface="+mn-ea"/>
                        </a:rPr>
                        <a:t>2026</a:t>
                      </a:r>
                      <a:r>
                        <a:rPr lang="ko-KR" altLang="en-US" sz="1200" b="1" dirty="0">
                          <a:solidFill>
                            <a:srgbClr val="FF0000"/>
                          </a:solidFill>
                          <a:effectLst/>
                          <a:latin typeface="+mn-ea"/>
                          <a:ea typeface="+mn-ea"/>
                        </a:rPr>
                        <a:t>년 </a:t>
                      </a:r>
                      <a:r>
                        <a:rPr lang="en-US" altLang="ko-KR" sz="1200" b="1" dirty="0">
                          <a:solidFill>
                            <a:srgbClr val="FF0000"/>
                          </a:solidFill>
                          <a:effectLst/>
                          <a:latin typeface="+mn-ea"/>
                          <a:ea typeface="+mn-ea"/>
                        </a:rPr>
                        <a:t>2</a:t>
                      </a:r>
                      <a:r>
                        <a:rPr lang="ko-KR" altLang="en-US" sz="1200" b="1" dirty="0">
                          <a:solidFill>
                            <a:srgbClr val="FF0000"/>
                          </a:solidFill>
                          <a:effectLst/>
                          <a:latin typeface="+mn-ea"/>
                          <a:ea typeface="+mn-ea"/>
                        </a:rPr>
                        <a:t>월말까지</a:t>
                      </a:r>
                      <a:r>
                        <a:rPr lang="en-US" altLang="ko-KR" sz="1200" b="1" dirty="0">
                          <a:solidFill>
                            <a:srgbClr val="FF0000"/>
                          </a:solidFill>
                          <a:effectLst/>
                          <a:latin typeface="+mn-ea"/>
                          <a:ea typeface="+mn-ea"/>
                        </a:rPr>
                        <a:t>)</a:t>
                      </a:r>
                      <a:r>
                        <a:rPr lang="en-US" altLang="ko-KR" sz="1200" b="1" dirty="0">
                          <a:effectLst/>
                          <a:latin typeface="+mn-ea"/>
                          <a:ea typeface="+mn-ea"/>
                        </a:rPr>
                        <a:t>**</a:t>
                      </a:r>
                      <a:endParaRPr lang="ko-KR" altLang="en-US" sz="1200" b="1" dirty="0">
                        <a:effectLst/>
                        <a:latin typeface="+mn-ea"/>
                        <a:ea typeface="+mn-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798569">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a:latin typeface="+mn-ea"/>
                          <a:ea typeface="+mn-ea"/>
                        </a:rPr>
                        <a:t>중소벤처기업부</a:t>
                      </a:r>
                      <a:r>
                        <a:rPr lang="en-US" altLang="ko-KR" sz="1200" dirty="0">
                          <a:latin typeface="+mn-ea"/>
                          <a:ea typeface="+mn-ea"/>
                        </a:rPr>
                        <a:t>*</a:t>
                      </a:r>
                      <a:endParaRPr lang="ko-KR" altLang="en-US" sz="1200" dirty="0">
                        <a:latin typeface="+mn-ea"/>
                        <a:ea typeface="+mn-ea"/>
                      </a:endParaRPr>
                    </a:p>
                    <a:p>
                      <a:pPr algn="ctr" latinLnBrk="1"/>
                      <a:endParaRPr lang="ko-KR" altLang="en-US" sz="1200" dirty="0">
                        <a:latin typeface="+mn-ea"/>
                        <a:ea typeface="+mn-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r>
                        <a:rPr lang="en-US" altLang="ko-KR" sz="1200" b="0" dirty="0">
                          <a:latin typeface="+mn-ea"/>
                          <a:ea typeface="+mn-ea"/>
                        </a:rPr>
                        <a:t>- </a:t>
                      </a:r>
                      <a:r>
                        <a:rPr lang="ko-KR" altLang="en-US" sz="1200" b="0" dirty="0">
                          <a:latin typeface="+mn-ea"/>
                          <a:ea typeface="+mn-ea"/>
                        </a:rPr>
                        <a:t>중소기업 기술혁신 개발사업</a:t>
                      </a:r>
                      <a:br>
                        <a:rPr lang="ko-KR" altLang="en-US" sz="1200" b="0" dirty="0">
                          <a:latin typeface="+mn-ea"/>
                          <a:ea typeface="+mn-ea"/>
                        </a:rPr>
                      </a:br>
                      <a:r>
                        <a:rPr lang="en-US" altLang="ko-KR" sz="1200" b="0" dirty="0">
                          <a:latin typeface="+mn-ea"/>
                          <a:ea typeface="+mn-ea"/>
                        </a:rPr>
                        <a:t>- </a:t>
                      </a:r>
                      <a:r>
                        <a:rPr lang="ko-KR" altLang="en-US" sz="1200" b="0" dirty="0">
                          <a:latin typeface="+mn-ea"/>
                          <a:ea typeface="+mn-ea"/>
                        </a:rPr>
                        <a:t>융</a:t>
                      </a:r>
                      <a:r>
                        <a:rPr lang="en-US" altLang="ko-KR" sz="1200" b="0" dirty="0">
                          <a:latin typeface="+mn-ea"/>
                          <a:ea typeface="+mn-ea"/>
                        </a:rPr>
                        <a:t>·</a:t>
                      </a:r>
                      <a:r>
                        <a:rPr lang="ko-KR" altLang="en-US" sz="1200" b="0" dirty="0">
                          <a:latin typeface="+mn-ea"/>
                          <a:ea typeface="+mn-ea"/>
                        </a:rPr>
                        <a:t>복합기술 개발사업</a:t>
                      </a:r>
                      <a:br>
                        <a:rPr lang="ko-KR" altLang="en-US" sz="1200" b="0" dirty="0">
                          <a:latin typeface="+mn-ea"/>
                          <a:ea typeface="+mn-ea"/>
                        </a:rPr>
                      </a:br>
                      <a:r>
                        <a:rPr lang="en-US" altLang="ko-KR" sz="1200" b="0" dirty="0">
                          <a:latin typeface="+mn-ea"/>
                          <a:ea typeface="+mn-ea"/>
                        </a:rPr>
                        <a:t>- </a:t>
                      </a:r>
                      <a:r>
                        <a:rPr lang="ko-KR" altLang="en-US" sz="1200" b="0" dirty="0" err="1">
                          <a:latin typeface="+mn-ea"/>
                          <a:ea typeface="+mn-ea"/>
                        </a:rPr>
                        <a:t>상용화기술</a:t>
                      </a:r>
                      <a:r>
                        <a:rPr lang="ko-KR" altLang="en-US" sz="1200" b="0" dirty="0">
                          <a:latin typeface="+mn-ea"/>
                          <a:ea typeface="+mn-ea"/>
                        </a:rPr>
                        <a:t> 개발사업</a:t>
                      </a:r>
                      <a:br>
                        <a:rPr lang="ko-KR" altLang="en-US" sz="1200" b="0" dirty="0">
                          <a:latin typeface="+mn-ea"/>
                          <a:ea typeface="+mn-ea"/>
                        </a:rPr>
                      </a:br>
                      <a:r>
                        <a:rPr lang="en-US" altLang="ko-KR" sz="1200" b="0" dirty="0">
                          <a:latin typeface="+mn-ea"/>
                          <a:ea typeface="+mn-ea"/>
                        </a:rPr>
                        <a:t>- </a:t>
                      </a:r>
                      <a:r>
                        <a:rPr lang="ko-KR" altLang="en-US" sz="1200" b="0" dirty="0">
                          <a:latin typeface="+mn-ea"/>
                          <a:ea typeface="+mn-ea"/>
                        </a:rPr>
                        <a:t>창업성장기술 개발사업</a:t>
                      </a:r>
                      <a:br>
                        <a:rPr lang="ko-KR" altLang="en-US" sz="1200" b="0" dirty="0">
                          <a:latin typeface="+mn-ea"/>
                          <a:ea typeface="+mn-ea"/>
                        </a:rPr>
                      </a:br>
                      <a:r>
                        <a:rPr lang="en-US" altLang="ko-KR" sz="1200" b="0" dirty="0">
                          <a:latin typeface="+mn-ea"/>
                          <a:ea typeface="+mn-ea"/>
                        </a:rPr>
                        <a:t>- </a:t>
                      </a:r>
                      <a:r>
                        <a:rPr lang="ko-KR" altLang="en-US" sz="1200" b="0" dirty="0">
                          <a:latin typeface="+mn-ea"/>
                          <a:ea typeface="+mn-ea"/>
                        </a:rPr>
                        <a:t>제품</a:t>
                      </a:r>
                      <a:r>
                        <a:rPr lang="en-US" altLang="ko-KR" sz="1200" b="0" dirty="0">
                          <a:latin typeface="+mn-ea"/>
                          <a:ea typeface="+mn-ea"/>
                        </a:rPr>
                        <a:t>·</a:t>
                      </a:r>
                      <a:r>
                        <a:rPr lang="ko-KR" altLang="en-US" sz="1200" b="0" dirty="0">
                          <a:latin typeface="+mn-ea"/>
                          <a:ea typeface="+mn-ea"/>
                        </a:rPr>
                        <a:t>공정개선 기술개발 </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508180">
                <a:tc>
                  <a:txBody>
                    <a:bodyPr/>
                    <a:lstStyle/>
                    <a:p>
                      <a:pPr algn="ctr" latinLnBrk="1"/>
                      <a:r>
                        <a:rPr lang="ko-KR" altLang="en-US" sz="1200" dirty="0">
                          <a:latin typeface="+mn-ea"/>
                          <a:ea typeface="+mn-ea"/>
                        </a:rPr>
                        <a:t>과학기술정부통신부</a:t>
                      </a:r>
                      <a:r>
                        <a:rPr lang="en-US" altLang="ko-KR" sz="1200" dirty="0">
                          <a:latin typeface="+mn-ea"/>
                          <a:ea typeface="+mn-ea"/>
                        </a:rPr>
                        <a:t>*</a:t>
                      </a:r>
                      <a:endParaRPr lang="ko-KR" altLang="en-US" sz="1200" dirty="0">
                        <a:latin typeface="+mn-ea"/>
                        <a:ea typeface="+mn-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tc>
                  <a:txBody>
                    <a:bodyPr/>
                    <a:lstStyle/>
                    <a:p>
                      <a:pPr marL="171450" indent="-171450">
                        <a:buFontTx/>
                        <a:buChar char="-"/>
                      </a:pPr>
                      <a:r>
                        <a:rPr lang="en-US" altLang="ko-KR" sz="1200" b="0" dirty="0">
                          <a:latin typeface="+mn-ea"/>
                          <a:ea typeface="+mn-ea"/>
                        </a:rPr>
                        <a:t>SW </a:t>
                      </a:r>
                      <a:r>
                        <a:rPr lang="ko-KR" altLang="en-US" sz="1200" b="0" dirty="0">
                          <a:latin typeface="+mn-ea"/>
                          <a:ea typeface="+mn-ea"/>
                        </a:rPr>
                        <a:t>공학기술 현장적용 지원사업</a:t>
                      </a:r>
                      <a:endParaRPr lang="en-US" altLang="ko-KR" sz="1200" b="0" dirty="0">
                        <a:latin typeface="+mn-ea"/>
                        <a:ea typeface="+mn-ea"/>
                      </a:endParaRPr>
                    </a:p>
                    <a:p>
                      <a:pPr marL="171450" marR="0" indent="-171450" algn="l" defTabSz="914400" rtl="0" eaLnBrk="1" fontAlgn="auto" latinLnBrk="1" hangingPunct="1">
                        <a:lnSpc>
                          <a:spcPct val="100000"/>
                        </a:lnSpc>
                        <a:spcBef>
                          <a:spcPts val="0"/>
                        </a:spcBef>
                        <a:spcAft>
                          <a:spcPts val="0"/>
                        </a:spcAft>
                        <a:buClrTx/>
                        <a:buSzTx/>
                        <a:buFontTx/>
                        <a:buChar char="-"/>
                        <a:tabLst/>
                        <a:defRPr/>
                      </a:pPr>
                      <a:r>
                        <a:rPr lang="ko-KR" altLang="en-US" sz="1200" b="0" kern="1200" dirty="0" err="1">
                          <a:solidFill>
                            <a:schemeClr val="tx1"/>
                          </a:solidFill>
                          <a:effectLst/>
                          <a:latin typeface="+mn-ea"/>
                          <a:ea typeface="+mn-ea"/>
                          <a:cs typeface="+mn-cs"/>
                        </a:rPr>
                        <a:t>모바일</a:t>
                      </a:r>
                      <a:r>
                        <a:rPr lang="ko-KR" altLang="en-US" sz="1200" b="0" kern="1200" dirty="0">
                          <a:solidFill>
                            <a:schemeClr val="tx1"/>
                          </a:solidFill>
                          <a:effectLst/>
                          <a:latin typeface="+mn-ea"/>
                          <a:ea typeface="+mn-ea"/>
                          <a:cs typeface="+mn-cs"/>
                        </a:rPr>
                        <a:t> 융합 제품화 기술개발 및 </a:t>
                      </a:r>
                      <a:r>
                        <a:rPr lang="en-US" altLang="ko-KR" sz="1200" b="0" kern="1200" dirty="0">
                          <a:solidFill>
                            <a:schemeClr val="tx1"/>
                          </a:solidFill>
                          <a:effectLst/>
                          <a:latin typeface="+mn-ea"/>
                          <a:ea typeface="+mn-ea"/>
                          <a:cs typeface="+mn-cs"/>
                        </a:rPr>
                        <a:t>R&amp;D</a:t>
                      </a:r>
                      <a:r>
                        <a:rPr lang="ko-KR" altLang="en-US" sz="1200" b="0" kern="1200" dirty="0" err="1">
                          <a:solidFill>
                            <a:schemeClr val="tx1"/>
                          </a:solidFill>
                          <a:effectLst/>
                          <a:latin typeface="+mn-ea"/>
                          <a:ea typeface="+mn-ea"/>
                          <a:cs typeface="+mn-cs"/>
                        </a:rPr>
                        <a:t>역략강화사업</a:t>
                      </a:r>
                      <a:endParaRPr lang="ko-KR" altLang="en-US" sz="1200" b="0" kern="1200" dirty="0">
                        <a:solidFill>
                          <a:schemeClr val="tx1"/>
                        </a:solidFill>
                        <a:effectLst/>
                        <a:latin typeface="+mn-ea"/>
                        <a:ea typeface="+mn-ea"/>
                        <a:cs typeface="+mn-cs"/>
                      </a:endParaRPr>
                    </a:p>
                    <a:p>
                      <a:pPr marL="171450" marR="0" indent="-171450" algn="l" defTabSz="914400" rtl="0" eaLnBrk="1" fontAlgn="auto" latinLnBrk="1" hangingPunct="1">
                        <a:lnSpc>
                          <a:spcPct val="100000"/>
                        </a:lnSpc>
                        <a:spcBef>
                          <a:spcPts val="0"/>
                        </a:spcBef>
                        <a:spcAft>
                          <a:spcPts val="0"/>
                        </a:spcAft>
                        <a:buClrTx/>
                        <a:buSzTx/>
                        <a:buFontTx/>
                        <a:buChar char="-"/>
                        <a:tabLst/>
                        <a:defRPr/>
                      </a:pPr>
                      <a:r>
                        <a:rPr lang="en-US" altLang="ko-KR" sz="1200" b="0" kern="1200" dirty="0">
                          <a:solidFill>
                            <a:schemeClr val="tx1"/>
                          </a:solidFill>
                          <a:effectLst/>
                          <a:latin typeface="+mn-ea"/>
                          <a:ea typeface="+mn-ea"/>
                          <a:cs typeface="+mn-cs"/>
                        </a:rPr>
                        <a:t>IT</a:t>
                      </a:r>
                      <a:r>
                        <a:rPr lang="ko-KR" altLang="en-US" sz="1200" b="0" kern="1200" dirty="0">
                          <a:solidFill>
                            <a:schemeClr val="tx1"/>
                          </a:solidFill>
                          <a:effectLst/>
                          <a:latin typeface="+mn-ea"/>
                          <a:ea typeface="+mn-ea"/>
                          <a:cs typeface="+mn-cs"/>
                        </a:rPr>
                        <a:t>중소기업 공통 애로 해소지원사업</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bl>
          </a:graphicData>
        </a:graphic>
      </p:graphicFrame>
      <p:sp>
        <p:nvSpPr>
          <p:cNvPr id="24" name="TextBox 23">
            <a:extLst>
              <a:ext uri="{FF2B5EF4-FFF2-40B4-BE49-F238E27FC236}">
                <a16:creationId xmlns:a16="http://schemas.microsoft.com/office/drawing/2014/main" id="{E4194752-0FFE-4FEF-91D7-391D54523EA0}"/>
              </a:ext>
            </a:extLst>
          </p:cNvPr>
          <p:cNvSpPr txBox="1"/>
          <p:nvPr/>
        </p:nvSpPr>
        <p:spPr>
          <a:xfrm>
            <a:off x="432495" y="5553177"/>
            <a:ext cx="7622934" cy="461665"/>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직무발명 보상 우수기업으로 인증된 경우에 한함</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항의 등록특허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건의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4~6</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년차</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등록료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감면금액</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370,500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등록특허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100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건은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37,050,000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원 절감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Tree>
    <p:extLst>
      <p:ext uri="{BB962C8B-B14F-4D97-AF65-F5344CB8AC3E}">
        <p14:creationId xmlns:p14="http://schemas.microsoft.com/office/powerpoint/2010/main" val="3625841873"/>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직무발명</a:t>
            </a:r>
          </a:p>
        </p:txBody>
      </p:sp>
      <p:sp>
        <p:nvSpPr>
          <p:cNvPr id="4" name="텍스트 개체 틀 3"/>
          <p:cNvSpPr>
            <a:spLocks noGrp="1"/>
          </p:cNvSpPr>
          <p:nvPr>
            <p:ph type="body" sz="quarter" idx="13"/>
          </p:nvPr>
        </p:nvSpPr>
        <p:spPr/>
        <p:txBody>
          <a:bodyPr/>
          <a:lstStyle/>
          <a:p>
            <a:r>
              <a:rPr lang="ko-KR" altLang="en-US" dirty="0"/>
              <a:t>직무발명의 법률관계</a:t>
            </a:r>
          </a:p>
        </p:txBody>
      </p:sp>
      <p:sp>
        <p:nvSpPr>
          <p:cNvPr id="7" name="TextBox 6"/>
          <p:cNvSpPr txBox="1"/>
          <p:nvPr/>
        </p:nvSpPr>
        <p:spPr>
          <a:xfrm>
            <a:off x="4213913" y="1283544"/>
            <a:ext cx="3429000" cy="309866"/>
          </a:xfrm>
          <a:prstGeom prst="rect">
            <a:avLst/>
          </a:prstGeom>
          <a:solidFill>
            <a:schemeClr val="bg1"/>
          </a:solidFill>
          <a:ln>
            <a:noFill/>
          </a:ln>
        </p:spPr>
        <p:txBody>
          <a:bodyPr wrap="square" rtlCol="0" anchor="ctr">
            <a:noAutofit/>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4800" b="0" i="0" u="none" strike="noStrike" kern="1200" cap="none" spc="0" normalizeH="0" baseline="0" noProof="0" dirty="0">
                <a:ln>
                  <a:noFill/>
                </a:ln>
                <a:solidFill>
                  <a:srgbClr val="5B9BD5">
                    <a:lumMod val="50000"/>
                  </a:srgbClr>
                </a:solidFill>
                <a:effectLst/>
                <a:uLnTx/>
                <a:uFillTx/>
                <a:latin typeface="Frutiger LT 65 Bold"/>
                <a:ea typeface="Rix모던고딕 B"/>
                <a:cs typeface="+mn-cs"/>
              </a:rPr>
              <a:t>종업원 발명</a:t>
            </a:r>
          </a:p>
        </p:txBody>
      </p:sp>
      <p:cxnSp>
        <p:nvCxnSpPr>
          <p:cNvPr id="8" name="직선 연결선 7"/>
          <p:cNvCxnSpPr/>
          <p:nvPr/>
        </p:nvCxnSpPr>
        <p:spPr>
          <a:xfrm flipH="1">
            <a:off x="4494370" y="1849124"/>
            <a:ext cx="1591733"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직선 연결선 9"/>
          <p:cNvCxnSpPr/>
          <p:nvPr/>
        </p:nvCxnSpPr>
        <p:spPr>
          <a:xfrm flipH="1">
            <a:off x="6314707" y="1849124"/>
            <a:ext cx="1083732"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4147266" y="2136962"/>
            <a:ext cx="1707519" cy="369332"/>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민법의 고용관계</a:t>
            </a:r>
          </a:p>
        </p:txBody>
      </p:sp>
      <p:sp>
        <p:nvSpPr>
          <p:cNvPr id="14" name="TextBox 13"/>
          <p:cNvSpPr txBox="1"/>
          <p:nvPr/>
        </p:nvSpPr>
        <p:spPr>
          <a:xfrm>
            <a:off x="6873496" y="2136962"/>
            <a:ext cx="809837" cy="369332"/>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특허법</a:t>
            </a:r>
          </a:p>
        </p:txBody>
      </p:sp>
      <p:sp>
        <p:nvSpPr>
          <p:cNvPr id="13" name="아래쪽 화살표 12"/>
          <p:cNvSpPr/>
          <p:nvPr/>
        </p:nvSpPr>
        <p:spPr>
          <a:xfrm>
            <a:off x="4672195" y="2653430"/>
            <a:ext cx="677333" cy="406438"/>
          </a:xfrm>
          <a:prstGeom prst="downArrow">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6" name="아래쪽 화살표 15"/>
          <p:cNvSpPr/>
          <p:nvPr/>
        </p:nvSpPr>
        <p:spPr>
          <a:xfrm>
            <a:off x="6939747" y="2653430"/>
            <a:ext cx="677333" cy="406438"/>
          </a:xfrm>
          <a:prstGeom prst="downArrow">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7" name="TextBox 16"/>
          <p:cNvSpPr txBox="1"/>
          <p:nvPr/>
        </p:nvSpPr>
        <p:spPr>
          <a:xfrm>
            <a:off x="4164200" y="3313821"/>
            <a:ext cx="1707519" cy="369332"/>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사용자에게 귀속</a:t>
            </a:r>
          </a:p>
        </p:txBody>
      </p:sp>
      <p:sp>
        <p:nvSpPr>
          <p:cNvPr id="18" name="TextBox 17"/>
          <p:cNvSpPr txBox="1"/>
          <p:nvPr/>
        </p:nvSpPr>
        <p:spPr>
          <a:xfrm>
            <a:off x="6433541" y="3313821"/>
            <a:ext cx="1707519" cy="369332"/>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종업원에게 귀속</a:t>
            </a:r>
          </a:p>
        </p:txBody>
      </p:sp>
      <p:sp>
        <p:nvSpPr>
          <p:cNvPr id="19" name="TextBox 18"/>
          <p:cNvSpPr txBox="1"/>
          <p:nvPr/>
        </p:nvSpPr>
        <p:spPr>
          <a:xfrm>
            <a:off x="5947449" y="3313821"/>
            <a:ext cx="415498" cy="369332"/>
          </a:xfrm>
          <a:prstGeom prst="rect">
            <a:avLst/>
          </a:prstGeom>
          <a:noFill/>
          <a:ln>
            <a:no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vs</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 name="자유형 20"/>
          <p:cNvSpPr/>
          <p:nvPr/>
        </p:nvSpPr>
        <p:spPr>
          <a:xfrm>
            <a:off x="5001025" y="1849134"/>
            <a:ext cx="323128" cy="300055"/>
          </a:xfrm>
          <a:custGeom>
            <a:avLst/>
            <a:gdLst>
              <a:gd name="connsiteX0" fmla="*/ 1032933 w 1032933"/>
              <a:gd name="connsiteY0" fmla="*/ 0 h 491066"/>
              <a:gd name="connsiteX1" fmla="*/ 1032933 w 1032933"/>
              <a:gd name="connsiteY1" fmla="*/ 245533 h 491066"/>
              <a:gd name="connsiteX2" fmla="*/ 0 w 1032933"/>
              <a:gd name="connsiteY2" fmla="*/ 245533 h 491066"/>
              <a:gd name="connsiteX3" fmla="*/ 0 w 1032933"/>
              <a:gd name="connsiteY3" fmla="*/ 491066 h 491066"/>
            </a:gdLst>
            <a:ahLst/>
            <a:cxnLst>
              <a:cxn ang="0">
                <a:pos x="connsiteX0" y="connsiteY0"/>
              </a:cxn>
              <a:cxn ang="0">
                <a:pos x="connsiteX1" y="connsiteY1"/>
              </a:cxn>
              <a:cxn ang="0">
                <a:pos x="connsiteX2" y="connsiteY2"/>
              </a:cxn>
              <a:cxn ang="0">
                <a:pos x="connsiteX3" y="connsiteY3"/>
              </a:cxn>
            </a:cxnLst>
            <a:rect l="l" t="t" r="r" b="b"/>
            <a:pathLst>
              <a:path w="1032933" h="491066">
                <a:moveTo>
                  <a:pt x="1032933" y="0"/>
                </a:moveTo>
                <a:lnTo>
                  <a:pt x="1032933" y="245533"/>
                </a:lnTo>
                <a:lnTo>
                  <a:pt x="0" y="245533"/>
                </a:lnTo>
                <a:lnTo>
                  <a:pt x="0" y="491066"/>
                </a:lnTo>
              </a:path>
            </a:pathLst>
          </a:cu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23" name="자유형 22"/>
          <p:cNvSpPr/>
          <p:nvPr/>
        </p:nvSpPr>
        <p:spPr>
          <a:xfrm>
            <a:off x="6865088" y="1857600"/>
            <a:ext cx="413326" cy="279362"/>
          </a:xfrm>
          <a:custGeom>
            <a:avLst/>
            <a:gdLst>
              <a:gd name="connsiteX0" fmla="*/ 0 w 753533"/>
              <a:gd name="connsiteY0" fmla="*/ 0 h 457200"/>
              <a:gd name="connsiteX1" fmla="*/ 0 w 753533"/>
              <a:gd name="connsiteY1" fmla="*/ 237067 h 457200"/>
              <a:gd name="connsiteX2" fmla="*/ 753533 w 753533"/>
              <a:gd name="connsiteY2" fmla="*/ 237067 h 457200"/>
              <a:gd name="connsiteX3" fmla="*/ 753533 w 753533"/>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753533" h="457200">
                <a:moveTo>
                  <a:pt x="0" y="0"/>
                </a:moveTo>
                <a:lnTo>
                  <a:pt x="0" y="237067"/>
                </a:lnTo>
                <a:lnTo>
                  <a:pt x="753533" y="237067"/>
                </a:lnTo>
                <a:lnTo>
                  <a:pt x="753533" y="457200"/>
                </a:lnTo>
              </a:path>
            </a:pathLst>
          </a:cu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25" name="TextBox 24"/>
          <p:cNvSpPr txBox="1"/>
          <p:nvPr/>
        </p:nvSpPr>
        <p:spPr>
          <a:xfrm>
            <a:off x="8365091" y="1846135"/>
            <a:ext cx="3268133" cy="715089"/>
          </a:xfrm>
          <a:prstGeom prst="wedgeRoundRectCallout">
            <a:avLst>
              <a:gd name="adj1" fmla="val -69279"/>
              <a:gd name="adj2" fmla="val 12772"/>
              <a:gd name="adj3" fmla="val 16667"/>
            </a:avLst>
          </a:prstGeom>
          <a:solidFill>
            <a:schemeClr val="bg1">
              <a:lumMod val="95000"/>
            </a:schemeClr>
          </a:solid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1"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1" i="0" u="none" strike="noStrike" kern="1200" cap="none" spc="0" normalizeH="0" baseline="0" noProof="0" dirty="0">
                <a:ln>
                  <a:noFill/>
                </a:ln>
                <a:solidFill>
                  <a:prstClr val="black"/>
                </a:solidFill>
                <a:effectLst/>
                <a:uLnTx/>
                <a:uFillTx/>
                <a:latin typeface="Frutiger LT 65 Bold"/>
                <a:ea typeface="Rix모던고딕 B"/>
                <a:cs typeface="+mn-cs"/>
              </a:rPr>
              <a:t>33</a:t>
            </a:r>
            <a:r>
              <a:rPr kumimoji="0" lang="ko-KR" altLang="en-US" sz="1200" b="1"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200" b="1"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1" i="0" u="none" strike="noStrike" kern="1200" cap="none" spc="0" normalizeH="0" baseline="0" noProof="0" dirty="0" err="1">
                <a:ln>
                  <a:noFill/>
                </a:ln>
                <a:solidFill>
                  <a:prstClr val="black"/>
                </a:solidFill>
                <a:effectLst/>
                <a:uLnTx/>
                <a:uFillTx/>
                <a:latin typeface="Frutiger LT 65 Bold"/>
                <a:ea typeface="Rix모던고딕 B"/>
                <a:cs typeface="+mn-cs"/>
              </a:rPr>
              <a:t>항본문</a:t>
            </a:r>
            <a:r>
              <a:rPr kumimoji="0" lang="en-US" altLang="ko-KR" sz="1200" b="1"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발명을 한 사람 또는 그 승계인은 이 법에서 정하는 바에 따라 특허를 받을 수 있는 권리를 가진다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7" name="TextBox 26"/>
          <p:cNvSpPr txBox="1"/>
          <p:nvPr/>
        </p:nvSpPr>
        <p:spPr>
          <a:xfrm>
            <a:off x="474158" y="1846135"/>
            <a:ext cx="3268133" cy="919401"/>
          </a:xfrm>
          <a:prstGeom prst="wedgeRoundRectCallout">
            <a:avLst>
              <a:gd name="adj1" fmla="val 61379"/>
              <a:gd name="adj2" fmla="val 15185"/>
              <a:gd name="adj3" fmla="val 16667"/>
            </a:avLst>
          </a:prstGeom>
          <a:solidFill>
            <a:schemeClr val="bg1">
              <a:lumMod val="95000"/>
            </a:schemeClr>
          </a:solid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1"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1"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1" i="0" u="none" strike="noStrike" kern="1200" cap="none" spc="0" normalizeH="0" baseline="0" noProof="0" dirty="0">
                <a:ln>
                  <a:noFill/>
                </a:ln>
                <a:solidFill>
                  <a:prstClr val="black"/>
                </a:solidFill>
                <a:effectLst/>
                <a:uLnTx/>
                <a:uFillTx/>
                <a:latin typeface="Frutiger LT 65 Bold"/>
                <a:ea typeface="Rix모던고딕 B"/>
                <a:cs typeface="+mn-cs"/>
              </a:rPr>
              <a:t>655</a:t>
            </a:r>
            <a:r>
              <a:rPr kumimoji="0" lang="ko-KR" altLang="en-US" sz="1200" b="1"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200" b="1"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고용은 당사자 일방이 상대방에 대하여 노무를 제공할 것을 약정하고 상대방이 이에 대하여 보수를 지급할 것을 약정함으로써 그 효력이 생긴다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6" name="직사각형 25"/>
          <p:cNvSpPr/>
          <p:nvPr/>
        </p:nvSpPr>
        <p:spPr>
          <a:xfrm>
            <a:off x="2971800" y="3302004"/>
            <a:ext cx="6663267" cy="931334"/>
          </a:xfrm>
          <a:prstGeom prst="rect">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8" name="TextBox 27"/>
          <p:cNvSpPr txBox="1"/>
          <p:nvPr/>
        </p:nvSpPr>
        <p:spPr>
          <a:xfrm>
            <a:off x="2985930" y="3731141"/>
            <a:ext cx="6623010"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400" b="0" i="0" u="none" strike="noStrike" kern="1200" cap="none" spc="0" normalizeH="0" baseline="0" noProof="0" dirty="0">
                <a:ln>
                  <a:noFill/>
                </a:ln>
                <a:solidFill>
                  <a:srgbClr val="FF0000"/>
                </a:solidFill>
                <a:effectLst/>
                <a:uLnTx/>
                <a:uFillTx/>
                <a:latin typeface="Frutiger LT 65 Bold"/>
                <a:ea typeface="Rix모던고딕 B"/>
                <a:cs typeface="+mn-cs"/>
              </a:rPr>
              <a:t>발명진흥법에서 양자간의 관계를 조절</a:t>
            </a:r>
          </a:p>
        </p:txBody>
      </p:sp>
      <p:graphicFrame>
        <p:nvGraphicFramePr>
          <p:cNvPr id="29" name="표 28"/>
          <p:cNvGraphicFramePr>
            <a:graphicFrameLocks noGrp="1"/>
          </p:cNvGraphicFramePr>
          <p:nvPr/>
        </p:nvGraphicFramePr>
        <p:xfrm>
          <a:off x="490451" y="4637424"/>
          <a:ext cx="11329016" cy="1953768"/>
        </p:xfrm>
        <a:graphic>
          <a:graphicData uri="http://schemas.openxmlformats.org/drawingml/2006/table">
            <a:tbl>
              <a:tblPr/>
              <a:tblGrid>
                <a:gridCol w="1401573">
                  <a:extLst>
                    <a:ext uri="{9D8B030D-6E8A-4147-A177-3AD203B41FA5}">
                      <a16:colId xmlns:a16="http://schemas.microsoft.com/office/drawing/2014/main" val="20000"/>
                    </a:ext>
                  </a:extLst>
                </a:gridCol>
                <a:gridCol w="5230883">
                  <a:extLst>
                    <a:ext uri="{9D8B030D-6E8A-4147-A177-3AD203B41FA5}">
                      <a16:colId xmlns:a16="http://schemas.microsoft.com/office/drawing/2014/main" val="20001"/>
                    </a:ext>
                  </a:extLst>
                </a:gridCol>
                <a:gridCol w="4696560">
                  <a:extLst>
                    <a:ext uri="{9D8B030D-6E8A-4147-A177-3AD203B41FA5}">
                      <a16:colId xmlns:a16="http://schemas.microsoft.com/office/drawing/2014/main" val="20002"/>
                    </a:ext>
                  </a:extLst>
                </a:gridCol>
              </a:tblGrid>
              <a:tr h="176492">
                <a:tc>
                  <a:txBody>
                    <a:bodyPr/>
                    <a:lstStyle/>
                    <a:p>
                      <a:pPr marL="0" marR="0" indent="0" algn="ctr" fontAlgn="base" latinLnBrk="0">
                        <a:lnSpc>
                          <a:spcPct val="130000"/>
                        </a:lnSpc>
                        <a:spcBef>
                          <a:spcPts val="0"/>
                        </a:spcBef>
                        <a:spcAft>
                          <a:spcPts val="0"/>
                        </a:spcAft>
                      </a:pPr>
                      <a:r>
                        <a:rPr lang="ko-KR" altLang="en-US" sz="1200" kern="1200" dirty="0">
                          <a:solidFill>
                            <a:schemeClr val="tx1"/>
                          </a:solidFill>
                          <a:latin typeface="+mn-lt"/>
                          <a:ea typeface="+mn-ea"/>
                          <a:cs typeface="+mn-cs"/>
                        </a:rPr>
                        <a:t>구 분</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1200" dirty="0">
                          <a:solidFill>
                            <a:schemeClr val="tx1"/>
                          </a:solidFill>
                          <a:latin typeface="+mn-lt"/>
                          <a:ea typeface="+mn-ea"/>
                          <a:cs typeface="+mn-cs"/>
                        </a:rPr>
                        <a:t>종업원 등의 권리 및 의무</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1200" dirty="0">
                          <a:solidFill>
                            <a:schemeClr val="tx1"/>
                          </a:solidFill>
                          <a:latin typeface="+mn-lt"/>
                          <a:ea typeface="+mn-ea"/>
                          <a:cs typeface="+mn-cs"/>
                        </a:rPr>
                        <a:t>사용자 등의 권리 및 의무</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834646">
                <a:tc>
                  <a:txBody>
                    <a:bodyPr/>
                    <a:lstStyle/>
                    <a:p>
                      <a:pPr marL="0" marR="0" indent="0" algn="ctr" fontAlgn="base" latinLnBrk="0">
                        <a:lnSpc>
                          <a:spcPct val="130000"/>
                        </a:lnSpc>
                        <a:spcBef>
                          <a:spcPts val="0"/>
                        </a:spcBef>
                        <a:spcAft>
                          <a:spcPts val="0"/>
                        </a:spcAft>
                      </a:pPr>
                      <a:r>
                        <a:rPr lang="ko-KR" altLang="en-US" sz="1200" kern="1200" dirty="0">
                          <a:solidFill>
                            <a:schemeClr val="tx1"/>
                          </a:solidFill>
                          <a:latin typeface="+mn-lt"/>
                          <a:ea typeface="+mn-ea"/>
                          <a:cs typeface="+mn-cs"/>
                        </a:rPr>
                        <a:t>직무발명</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just" fontAlgn="base" latinLnBrk="1">
                        <a:lnSpc>
                          <a:spcPct val="130000"/>
                        </a:lnSpc>
                        <a:spcBef>
                          <a:spcPts val="0"/>
                        </a:spcBef>
                        <a:spcAft>
                          <a:spcPts val="0"/>
                        </a:spcAft>
                      </a:pPr>
                      <a:r>
                        <a:rPr lang="ko-KR" altLang="en-US" sz="1200" kern="1200" dirty="0">
                          <a:solidFill>
                            <a:schemeClr val="tx1"/>
                          </a:solidFill>
                          <a:latin typeface="+mn-lt"/>
                          <a:ea typeface="+mn-ea"/>
                          <a:cs typeface="+mn-cs"/>
                        </a:rPr>
                        <a:t>▪ 특허를 받을 수 있는 권리의 원시적 취득</a:t>
                      </a:r>
                    </a:p>
                    <a:p>
                      <a:pPr marL="17780" marR="17780" indent="0" algn="just" fontAlgn="base" latinLnBrk="1">
                        <a:lnSpc>
                          <a:spcPct val="130000"/>
                        </a:lnSpc>
                        <a:spcBef>
                          <a:spcPts val="0"/>
                        </a:spcBef>
                        <a:spcAft>
                          <a:spcPts val="0"/>
                        </a:spcAft>
                      </a:pPr>
                      <a:r>
                        <a:rPr lang="ko-KR" altLang="en-US" sz="1200" kern="1200" dirty="0">
                          <a:solidFill>
                            <a:schemeClr val="tx1"/>
                          </a:solidFill>
                          <a:latin typeface="+mn-lt"/>
                          <a:ea typeface="+mn-ea"/>
                          <a:cs typeface="+mn-cs"/>
                        </a:rPr>
                        <a:t>▪ 발명완성사실통지의무</a:t>
                      </a:r>
                    </a:p>
                    <a:p>
                      <a:pPr marL="17780" marR="17780" indent="0" algn="just" fontAlgn="base" latinLnBrk="1">
                        <a:lnSpc>
                          <a:spcPct val="130000"/>
                        </a:lnSpc>
                        <a:spcBef>
                          <a:spcPts val="0"/>
                        </a:spcBef>
                        <a:spcAft>
                          <a:spcPts val="0"/>
                        </a:spcAft>
                      </a:pPr>
                      <a:r>
                        <a:rPr lang="ko-KR" altLang="en-US" sz="1200" kern="1200" dirty="0">
                          <a:solidFill>
                            <a:schemeClr val="tx1"/>
                          </a:solidFill>
                          <a:latin typeface="+mn-lt"/>
                          <a:ea typeface="+mn-ea"/>
                          <a:cs typeface="+mn-cs"/>
                        </a:rPr>
                        <a:t>▪ 비밀유지의무</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91440" marR="17780" indent="-91440" algn="just" fontAlgn="base" latinLnBrk="1">
                        <a:lnSpc>
                          <a:spcPct val="130000"/>
                        </a:lnSpc>
                        <a:spcBef>
                          <a:spcPts val="0"/>
                        </a:spcBef>
                        <a:spcAft>
                          <a:spcPts val="0"/>
                        </a:spcAft>
                      </a:pPr>
                      <a:r>
                        <a:rPr lang="ko-KR" altLang="en-US" sz="1200" kern="1200" dirty="0">
                          <a:solidFill>
                            <a:schemeClr val="tx1"/>
                          </a:solidFill>
                          <a:latin typeface="+mn-lt"/>
                          <a:ea typeface="+mn-ea"/>
                          <a:cs typeface="+mn-cs"/>
                        </a:rPr>
                        <a:t>▪ </a:t>
                      </a:r>
                      <a:r>
                        <a:rPr lang="ko-KR" altLang="en-US" sz="1200" kern="1200" dirty="0" err="1">
                          <a:solidFill>
                            <a:schemeClr val="tx1"/>
                          </a:solidFill>
                          <a:latin typeface="+mn-lt"/>
                          <a:ea typeface="+mn-ea"/>
                          <a:cs typeface="+mn-cs"/>
                        </a:rPr>
                        <a:t>법정실시권</a:t>
                      </a:r>
                      <a:endParaRPr lang="en-US" altLang="ko-KR" sz="1200" kern="1200" dirty="0">
                        <a:solidFill>
                          <a:schemeClr val="tx1"/>
                        </a:solidFill>
                        <a:latin typeface="+mn-lt"/>
                        <a:ea typeface="+mn-ea"/>
                        <a:cs typeface="+mn-cs"/>
                      </a:endParaRPr>
                    </a:p>
                    <a:p>
                      <a:pPr marL="91440" marR="17780" indent="-91440" algn="just" fontAlgn="base" latinLnBrk="1">
                        <a:lnSpc>
                          <a:spcPct val="130000"/>
                        </a:lnSpc>
                        <a:spcBef>
                          <a:spcPts val="0"/>
                        </a:spcBef>
                        <a:spcAft>
                          <a:spcPts val="0"/>
                        </a:spcAft>
                      </a:pPr>
                      <a:r>
                        <a:rPr lang="en-US" altLang="ko-KR" sz="1200" kern="1200" dirty="0">
                          <a:solidFill>
                            <a:schemeClr val="tx1"/>
                          </a:solidFill>
                          <a:latin typeface="+mn-lt"/>
                          <a:ea typeface="+mn-ea"/>
                          <a:cs typeface="+mn-cs"/>
                        </a:rPr>
                        <a:t>   (</a:t>
                      </a:r>
                      <a:r>
                        <a:rPr lang="ko-KR" altLang="en-US" sz="1200" kern="1200" dirty="0">
                          <a:solidFill>
                            <a:schemeClr val="tx1"/>
                          </a:solidFill>
                          <a:latin typeface="+mn-lt"/>
                          <a:ea typeface="+mn-ea"/>
                          <a:cs typeface="+mn-cs"/>
                        </a:rPr>
                        <a:t>단</a:t>
                      </a:r>
                      <a:r>
                        <a:rPr lang="en-US" altLang="ko-KR" sz="1200" kern="1200" dirty="0">
                          <a:solidFill>
                            <a:schemeClr val="tx1"/>
                          </a:solidFill>
                          <a:latin typeface="+mn-lt"/>
                          <a:ea typeface="+mn-ea"/>
                          <a:cs typeface="+mn-cs"/>
                        </a:rPr>
                        <a:t>, </a:t>
                      </a:r>
                      <a:r>
                        <a:rPr lang="ko-KR" altLang="en-US" sz="1200" kern="1200" dirty="0">
                          <a:solidFill>
                            <a:schemeClr val="tx1"/>
                          </a:solidFill>
                          <a:latin typeface="+mn-lt"/>
                          <a:ea typeface="+mn-ea"/>
                          <a:cs typeface="+mn-cs"/>
                        </a:rPr>
                        <a:t>대기업의 경우 예약승계 계약의 체결 또는 근무규정의 작성이 있는 경우에 한함</a:t>
                      </a:r>
                      <a:r>
                        <a:rPr lang="en-US" altLang="ko-KR" sz="1200" kern="1200" dirty="0">
                          <a:solidFill>
                            <a:schemeClr val="tx1"/>
                          </a:solidFill>
                          <a:latin typeface="+mn-lt"/>
                          <a:ea typeface="+mn-ea"/>
                          <a:cs typeface="+mn-cs"/>
                        </a:rPr>
                        <a:t>)</a:t>
                      </a:r>
                      <a:endParaRPr lang="ko-KR" altLang="en-US" sz="1200" kern="1200" dirty="0">
                        <a:solidFill>
                          <a:schemeClr val="tx1"/>
                        </a:solidFill>
                        <a:latin typeface="+mn-lt"/>
                        <a:ea typeface="+mn-ea"/>
                        <a:cs typeface="+mn-cs"/>
                      </a:endParaRPr>
                    </a:p>
                    <a:p>
                      <a:pPr marL="17780" marR="17780" indent="0" algn="just" fontAlgn="base" latinLnBrk="1">
                        <a:lnSpc>
                          <a:spcPct val="130000"/>
                        </a:lnSpc>
                        <a:spcBef>
                          <a:spcPts val="0"/>
                        </a:spcBef>
                        <a:spcAft>
                          <a:spcPts val="0"/>
                        </a:spcAft>
                      </a:pPr>
                      <a:r>
                        <a:rPr lang="ko-KR" altLang="en-US" sz="1200" kern="1200" dirty="0">
                          <a:solidFill>
                            <a:schemeClr val="tx1"/>
                          </a:solidFill>
                          <a:latin typeface="+mn-lt"/>
                          <a:ea typeface="+mn-ea"/>
                          <a:cs typeface="+mn-cs"/>
                        </a:rPr>
                        <a:t>▪ 예약승계</a:t>
                      </a:r>
                    </a:p>
                    <a:p>
                      <a:pPr marL="17780" marR="17780" indent="0" algn="just" fontAlgn="base" latinLnBrk="1">
                        <a:lnSpc>
                          <a:spcPct val="130000"/>
                        </a:lnSpc>
                        <a:spcBef>
                          <a:spcPts val="0"/>
                        </a:spcBef>
                        <a:spcAft>
                          <a:spcPts val="0"/>
                        </a:spcAft>
                      </a:pPr>
                      <a:r>
                        <a:rPr lang="en-US" altLang="ko-KR" sz="1200" kern="1200" dirty="0">
                          <a:solidFill>
                            <a:schemeClr val="tx1"/>
                          </a:solidFill>
                          <a:latin typeface="+mn-lt"/>
                          <a:ea typeface="+mn-ea"/>
                          <a:cs typeface="+mn-cs"/>
                        </a:rPr>
                        <a:t> - </a:t>
                      </a:r>
                      <a:r>
                        <a:rPr lang="ko-KR" altLang="en-US" sz="1200" kern="1200" dirty="0">
                          <a:solidFill>
                            <a:schemeClr val="tx1"/>
                          </a:solidFill>
                          <a:latin typeface="+mn-lt"/>
                          <a:ea typeface="+mn-ea"/>
                          <a:cs typeface="+mn-cs"/>
                        </a:rPr>
                        <a:t>예약승계계약이나 근무규정에 근거한 승계취득</a:t>
                      </a:r>
                    </a:p>
                    <a:p>
                      <a:pPr marL="17780" marR="17780" indent="0" algn="just" fontAlgn="base" latinLnBrk="1">
                        <a:lnSpc>
                          <a:spcPct val="130000"/>
                        </a:lnSpc>
                        <a:spcBef>
                          <a:spcPts val="0"/>
                        </a:spcBef>
                        <a:spcAft>
                          <a:spcPts val="0"/>
                        </a:spcAft>
                      </a:pPr>
                      <a:r>
                        <a:rPr lang="en-US" altLang="ko-KR" sz="1200" kern="1200" dirty="0">
                          <a:solidFill>
                            <a:schemeClr val="tx1"/>
                          </a:solidFill>
                          <a:latin typeface="+mn-lt"/>
                          <a:ea typeface="+mn-ea"/>
                          <a:cs typeface="+mn-cs"/>
                        </a:rPr>
                        <a:t> - </a:t>
                      </a:r>
                      <a:r>
                        <a:rPr lang="ko-KR" altLang="en-US" sz="1200" kern="1200" dirty="0">
                          <a:solidFill>
                            <a:schemeClr val="tx1"/>
                          </a:solidFill>
                          <a:latin typeface="+mn-lt"/>
                          <a:ea typeface="+mn-ea"/>
                          <a:cs typeface="+mn-cs"/>
                        </a:rPr>
                        <a:t>승계한 경우 정당한 보상 의무</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176492">
                <a:tc>
                  <a:txBody>
                    <a:bodyPr/>
                    <a:lstStyle/>
                    <a:p>
                      <a:pPr marL="0" marR="0" indent="0" algn="ctr" fontAlgn="base" latinLnBrk="0">
                        <a:lnSpc>
                          <a:spcPct val="130000"/>
                        </a:lnSpc>
                        <a:spcBef>
                          <a:spcPts val="0"/>
                        </a:spcBef>
                        <a:spcAft>
                          <a:spcPts val="0"/>
                        </a:spcAft>
                      </a:pPr>
                      <a:r>
                        <a:rPr lang="ko-KR" altLang="en-US" sz="1200" kern="1200" dirty="0">
                          <a:solidFill>
                            <a:schemeClr val="tx1"/>
                          </a:solidFill>
                          <a:latin typeface="+mn-lt"/>
                          <a:ea typeface="+mn-ea"/>
                          <a:cs typeface="+mn-cs"/>
                        </a:rPr>
                        <a:t>자유발명</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just" fontAlgn="base" latinLnBrk="1">
                        <a:lnSpc>
                          <a:spcPct val="130000"/>
                        </a:lnSpc>
                        <a:spcBef>
                          <a:spcPts val="0"/>
                        </a:spcBef>
                        <a:spcAft>
                          <a:spcPts val="0"/>
                        </a:spcAft>
                      </a:pPr>
                      <a:r>
                        <a:rPr lang="ko-KR" altLang="en-US" sz="1200" kern="1200" dirty="0">
                          <a:solidFill>
                            <a:schemeClr val="tx1"/>
                          </a:solidFill>
                          <a:latin typeface="+mn-lt"/>
                          <a:ea typeface="+mn-ea"/>
                          <a:cs typeface="+mn-cs"/>
                        </a:rPr>
                        <a:t>▪ 특허를 받을 수 있는 권리의 원시적 취득</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30000"/>
                        </a:lnSpc>
                        <a:spcBef>
                          <a:spcPts val="0"/>
                        </a:spcBef>
                        <a:spcAft>
                          <a:spcPts val="0"/>
                        </a:spcAft>
                      </a:pPr>
                      <a:r>
                        <a:rPr lang="ko-KR" altLang="en-US" sz="1200" kern="1200" dirty="0">
                          <a:solidFill>
                            <a:schemeClr val="tx1"/>
                          </a:solidFill>
                          <a:latin typeface="+mn-lt"/>
                          <a:ea typeface="+mn-ea"/>
                          <a:cs typeface="+mn-cs"/>
                        </a:rPr>
                        <a:t>▪ 승계한 경우 정당한 보상 의무</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115</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079260172"/>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6" name="직선 연결선 55"/>
          <p:cNvCxnSpPr/>
          <p:nvPr/>
        </p:nvCxnSpPr>
        <p:spPr>
          <a:xfrm>
            <a:off x="1864306" y="3075764"/>
            <a:ext cx="0" cy="2825503"/>
          </a:xfrm>
          <a:prstGeom prst="line">
            <a:avLst/>
          </a:prstGeom>
          <a:ln w="57150">
            <a:solidFill>
              <a:srgbClr val="FF0000"/>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직무발명</a:t>
            </a:r>
          </a:p>
        </p:txBody>
      </p:sp>
      <p:sp>
        <p:nvSpPr>
          <p:cNvPr id="4" name="텍스트 개체 틀 3"/>
          <p:cNvSpPr>
            <a:spLocks noGrp="1"/>
          </p:cNvSpPr>
          <p:nvPr>
            <p:ph type="body" sz="quarter" idx="13"/>
          </p:nvPr>
        </p:nvSpPr>
        <p:spPr/>
        <p:txBody>
          <a:bodyPr/>
          <a:lstStyle/>
          <a:p>
            <a:r>
              <a:rPr lang="ko-KR" altLang="en-US" dirty="0"/>
              <a:t>현재 또는 과거의 직무</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116</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22" name="직사각형 21"/>
          <p:cNvSpPr/>
          <p:nvPr/>
        </p:nvSpPr>
        <p:spPr bwMode="auto">
          <a:xfrm>
            <a:off x="348791" y="1535859"/>
            <a:ext cx="11519555" cy="885607"/>
          </a:xfrm>
          <a:prstGeom prst="rect">
            <a:avLst/>
          </a:prstGeom>
          <a:ln>
            <a:solidFill>
              <a:schemeClr val="accent3"/>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72000" bIns="72000" rtlCol="0" anchor="ctr"/>
          <a:lstStyle/>
          <a:p>
            <a:pPr marL="0" marR="0" lvl="0" indent="0" algn="l" defTabSz="914400" rtl="0" eaLnBrk="1" fontAlgn="base" latinLnBrk="1" hangingPunct="1">
              <a:lnSpc>
                <a:spcPct val="15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구특허법</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항이나 특허법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39</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의하면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직무발명에 관한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통상실시권을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취득하게 되는 사용자는 그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피용자나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종업원이 직무발명을 완성할 당시의 사용자이고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그에 따른 특허권의 등록이 그 이후에 이루어졌다고 하여 등록 당시의 사용자가 그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통상실시권을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취득하는 것은 아니다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base" latinLnBrk="1" hangingPunct="1">
              <a:lnSpc>
                <a:spcPct val="15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FFC000">
                    <a:lumMod val="50000"/>
                  </a:srgbClr>
                </a:solidFill>
                <a:effectLst/>
                <a:highlight>
                  <a:srgbClr val="FFFF00"/>
                </a:highlight>
                <a:uLnTx/>
                <a:uFillTx/>
                <a:latin typeface="Frutiger LT 65 Bold"/>
                <a:ea typeface="Rix모던고딕 B"/>
                <a:cs typeface="+mn-cs"/>
                <a:sym typeface="Wingdings" pitchFamily="2" charset="2"/>
              </a:rPr>
              <a:t> </a:t>
            </a:r>
            <a:r>
              <a:rPr kumimoji="0" lang="ko-KR" altLang="en-US" sz="1200" b="0" i="0" u="none" strike="noStrike" kern="1200" cap="none" spc="0" normalizeH="0" baseline="0" noProof="0" dirty="0">
                <a:ln>
                  <a:noFill/>
                </a:ln>
                <a:solidFill>
                  <a:srgbClr val="FFC000">
                    <a:lumMod val="50000"/>
                  </a:srgbClr>
                </a:solidFill>
                <a:effectLst/>
                <a:highlight>
                  <a:srgbClr val="FFFF00"/>
                </a:highlight>
                <a:uLnTx/>
                <a:uFillTx/>
                <a:latin typeface="Frutiger LT 65 Bold"/>
                <a:ea typeface="Rix모던고딕 B"/>
                <a:cs typeface="+mn-cs"/>
              </a:rPr>
              <a:t>이는 발명완성 당시에 고용관계에 있는 사용자 등을 기준으로 직무발명인지 여부를 판단하기 때문이다</a:t>
            </a:r>
            <a:r>
              <a:rPr kumimoji="0" lang="en-US" altLang="ko-KR" sz="1200" b="0" i="0" u="none" strike="noStrike" kern="1200" cap="none" spc="0" normalizeH="0" baseline="0" noProof="0" dirty="0">
                <a:ln>
                  <a:noFill/>
                </a:ln>
                <a:solidFill>
                  <a:srgbClr val="FFC000">
                    <a:lumMod val="50000"/>
                  </a:srgbClr>
                </a:solidFill>
                <a:effectLst/>
                <a:highlight>
                  <a:srgbClr val="FFFF00"/>
                </a:highlight>
                <a:uLnTx/>
                <a:uFillTx/>
                <a:latin typeface="Frutiger LT 65 Bold"/>
                <a:ea typeface="Rix모던고딕 B"/>
                <a:cs typeface="+mn-cs"/>
              </a:rPr>
              <a:t>.</a:t>
            </a:r>
            <a:endParaRPr kumimoji="0" lang="ko-KR" altLang="en-US" sz="1200" b="0" i="0" u="none" strike="noStrike" kern="1200" cap="none" spc="0" normalizeH="0" baseline="0" noProof="0" dirty="0">
              <a:ln>
                <a:noFill/>
              </a:ln>
              <a:solidFill>
                <a:srgbClr val="FFC000">
                  <a:lumMod val="50000"/>
                </a:srgbClr>
              </a:solidFill>
              <a:effectLst/>
              <a:highlight>
                <a:srgbClr val="FFFF00"/>
              </a:highlight>
              <a:uLnTx/>
              <a:uFillTx/>
              <a:latin typeface="Frutiger LT 65 Bold"/>
              <a:ea typeface="Rix모던고딕 B"/>
              <a:cs typeface="+mn-cs"/>
            </a:endParaRPr>
          </a:p>
        </p:txBody>
      </p:sp>
      <p:sp>
        <p:nvSpPr>
          <p:cNvPr id="24" name="모서리가 둥근 직사각형 23"/>
          <p:cNvSpPr/>
          <p:nvPr/>
        </p:nvSpPr>
        <p:spPr bwMode="auto">
          <a:xfrm>
            <a:off x="348791" y="1245544"/>
            <a:ext cx="4680521" cy="288032"/>
          </a:xfrm>
          <a:prstGeom prst="roundRect">
            <a:avLst>
              <a:gd name="adj" fmla="val 0"/>
            </a:avLst>
          </a:prstGeom>
          <a:solidFill>
            <a:schemeClr val="accent2">
              <a:lumMod val="75000"/>
            </a:schemeClr>
          </a:solidFill>
          <a:ln>
            <a:solidFill>
              <a:schemeClr val="accent3"/>
            </a:solidFill>
            <a:headEnd type="none" w="med" len="med"/>
            <a:tailEnd type="none"/>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base"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1997. 6. 27.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97</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도</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516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판결</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실용신안법위반</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30" name="직선 연결선 29"/>
          <p:cNvCxnSpPr/>
          <p:nvPr/>
        </p:nvCxnSpPr>
        <p:spPr>
          <a:xfrm>
            <a:off x="714031" y="4126150"/>
            <a:ext cx="5738527"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1" name="직선 연결선 30"/>
          <p:cNvCxnSpPr>
            <a:endCxn id="32" idx="0"/>
          </p:cNvCxnSpPr>
          <p:nvPr/>
        </p:nvCxnSpPr>
        <p:spPr>
          <a:xfrm>
            <a:off x="1196412" y="4160066"/>
            <a:ext cx="4050" cy="36303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714031" y="4523098"/>
            <a:ext cx="972861" cy="461665"/>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甲이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회사 입사</a:t>
            </a:r>
          </a:p>
        </p:txBody>
      </p:sp>
      <p:cxnSp>
        <p:nvCxnSpPr>
          <p:cNvPr id="40" name="직선 연결선 39"/>
          <p:cNvCxnSpPr>
            <a:endCxn id="51" idx="2"/>
          </p:cNvCxnSpPr>
          <p:nvPr/>
        </p:nvCxnSpPr>
        <p:spPr>
          <a:xfrm flipV="1">
            <a:off x="1867642" y="3785374"/>
            <a:ext cx="0" cy="29818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직선 연결선 46"/>
          <p:cNvCxnSpPr>
            <a:endCxn id="48" idx="0"/>
          </p:cNvCxnSpPr>
          <p:nvPr/>
        </p:nvCxnSpPr>
        <p:spPr>
          <a:xfrm>
            <a:off x="3634015" y="4160066"/>
            <a:ext cx="4050" cy="36303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3151634" y="4523098"/>
            <a:ext cx="972861" cy="461665"/>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甲이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회사 퇴사</a:t>
            </a:r>
          </a:p>
        </p:txBody>
      </p:sp>
      <p:cxnSp>
        <p:nvCxnSpPr>
          <p:cNvPr id="49" name="직선 연결선 48"/>
          <p:cNvCxnSpPr>
            <a:endCxn id="50" idx="0"/>
          </p:cNvCxnSpPr>
          <p:nvPr/>
        </p:nvCxnSpPr>
        <p:spPr>
          <a:xfrm>
            <a:off x="4816402" y="4160066"/>
            <a:ext cx="4050" cy="36303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4334021" y="4523098"/>
            <a:ext cx="972861" cy="461665"/>
          </a:xfrm>
          <a:prstGeom prst="rect">
            <a:avLst/>
          </a:prstGeom>
          <a:solidFill>
            <a:schemeClr val="accent4"/>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甲이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회사 입사</a:t>
            </a:r>
          </a:p>
        </p:txBody>
      </p:sp>
      <p:sp>
        <p:nvSpPr>
          <p:cNvPr id="51" name="TextBox 50"/>
          <p:cNvSpPr txBox="1"/>
          <p:nvPr/>
        </p:nvSpPr>
        <p:spPr>
          <a:xfrm>
            <a:off x="1381211" y="3323709"/>
            <a:ext cx="972861" cy="461665"/>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발명완성</a:t>
            </a:r>
          </a:p>
        </p:txBody>
      </p:sp>
      <p:cxnSp>
        <p:nvCxnSpPr>
          <p:cNvPr id="52" name="직선 연결선 51"/>
          <p:cNvCxnSpPr>
            <a:endCxn id="53" idx="2"/>
          </p:cNvCxnSpPr>
          <p:nvPr/>
        </p:nvCxnSpPr>
        <p:spPr>
          <a:xfrm flipV="1">
            <a:off x="3175482" y="3785374"/>
            <a:ext cx="0" cy="29818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2689051" y="3323709"/>
            <a:ext cx="972861" cy="461665"/>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 출원</a:t>
            </a:r>
          </a:p>
        </p:txBody>
      </p:sp>
      <p:cxnSp>
        <p:nvCxnSpPr>
          <p:cNvPr id="54" name="직선 연결선 53"/>
          <p:cNvCxnSpPr>
            <a:endCxn id="55" idx="2"/>
          </p:cNvCxnSpPr>
          <p:nvPr/>
        </p:nvCxnSpPr>
        <p:spPr>
          <a:xfrm flipV="1">
            <a:off x="5569037" y="3785374"/>
            <a:ext cx="0" cy="298182"/>
          </a:xfrm>
          <a:prstGeom prst="line">
            <a:avLst/>
          </a:prstGeom>
          <a:ln>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5082606" y="3323709"/>
            <a:ext cx="972861" cy="461665"/>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甲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 등록</a:t>
            </a:r>
          </a:p>
        </p:txBody>
      </p:sp>
      <p:sp>
        <p:nvSpPr>
          <p:cNvPr id="9" name="TextBox 8"/>
          <p:cNvSpPr txBox="1"/>
          <p:nvPr/>
        </p:nvSpPr>
        <p:spPr>
          <a:xfrm>
            <a:off x="6818222" y="3523570"/>
            <a:ext cx="4980851" cy="1415772"/>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발명에 대하여 통상실시권을 취득하는 사용자는</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X</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발명은 </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A/B </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회사 中 어느 회사의 직무발명인가</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종업원 등이 발명하였을 것</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사용자 등의 업무범위에 속할 것 </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  - </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종업원 등의 현재 또는 과거의 직무에 속할 것</a:t>
            </a:r>
          </a:p>
        </p:txBody>
      </p:sp>
      <p:sp>
        <p:nvSpPr>
          <p:cNvPr id="20" name="TextBox 19"/>
          <p:cNvSpPr txBox="1"/>
          <p:nvPr/>
        </p:nvSpPr>
        <p:spPr>
          <a:xfrm>
            <a:off x="1086018" y="6053667"/>
            <a:ext cx="1563248"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a:ln>
                  <a:noFill/>
                </a:ln>
                <a:solidFill>
                  <a:srgbClr val="FF0000"/>
                </a:solidFill>
                <a:effectLst/>
                <a:uLnTx/>
                <a:uFillTx/>
                <a:latin typeface="Frutiger LT 65 Bold"/>
                <a:ea typeface="Rix모던고딕 B"/>
                <a:cs typeface="+mn-cs"/>
              </a:rPr>
              <a:t>발명 완성 당시</a:t>
            </a:r>
          </a:p>
        </p:txBody>
      </p:sp>
    </p:spTree>
    <p:extLst>
      <p:ext uri="{BB962C8B-B14F-4D97-AF65-F5344CB8AC3E}">
        <p14:creationId xmlns:p14="http://schemas.microsoft.com/office/powerpoint/2010/main" val="1134198699"/>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직무발명</a:t>
            </a:r>
          </a:p>
        </p:txBody>
      </p:sp>
      <p:sp>
        <p:nvSpPr>
          <p:cNvPr id="4" name="텍스트 개체 틀 3"/>
          <p:cNvSpPr>
            <a:spLocks noGrp="1"/>
          </p:cNvSpPr>
          <p:nvPr>
            <p:ph type="body" sz="quarter" idx="13"/>
          </p:nvPr>
        </p:nvSpPr>
        <p:spPr/>
        <p:txBody>
          <a:bodyPr/>
          <a:lstStyle/>
          <a:p>
            <a:r>
              <a:rPr lang="ko-KR" altLang="en-US" dirty="0"/>
              <a:t>예약승계규정의 해석</a:t>
            </a:r>
          </a:p>
        </p:txBody>
      </p:sp>
      <p:sp>
        <p:nvSpPr>
          <p:cNvPr id="23" name="TextBox 22"/>
          <p:cNvSpPr txBox="1"/>
          <p:nvPr/>
        </p:nvSpPr>
        <p:spPr>
          <a:xfrm>
            <a:off x="77875" y="986046"/>
            <a:ext cx="11936323"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직무발명 외의 종업원 등의 발명에 대하여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미리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사용자 등에게 특허를 받을 수 있는 권리나 특허권을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승계시키거나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사용자 등을 위하여 전용실시권을 설정하도록 하는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계약이나 근무규정의 조항은 무효로 한다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發振法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10③).</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5" name="직선 연결선 24"/>
          <p:cNvCxnSpPr/>
          <p:nvPr/>
        </p:nvCxnSpPr>
        <p:spPr>
          <a:xfrm>
            <a:off x="0" y="150926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117</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graphicFrame>
        <p:nvGraphicFramePr>
          <p:cNvPr id="6" name="표 5">
            <a:extLst>
              <a:ext uri="{FF2B5EF4-FFF2-40B4-BE49-F238E27FC236}">
                <a16:creationId xmlns:a16="http://schemas.microsoft.com/office/drawing/2014/main" id="{15EB0361-C7F8-4E76-9E9C-BC1138B09603}"/>
              </a:ext>
            </a:extLst>
          </p:cNvPr>
          <p:cNvGraphicFramePr>
            <a:graphicFrameLocks noGrp="1"/>
          </p:cNvGraphicFramePr>
          <p:nvPr/>
        </p:nvGraphicFramePr>
        <p:xfrm>
          <a:off x="707366" y="2032485"/>
          <a:ext cx="10636371" cy="4126766"/>
        </p:xfrm>
        <a:graphic>
          <a:graphicData uri="http://schemas.openxmlformats.org/drawingml/2006/table">
            <a:tbl>
              <a:tblPr>
                <a:tableStyleId>{8799B23B-EC83-4686-B30A-512413B5E67A}</a:tableStyleId>
              </a:tblPr>
              <a:tblGrid>
                <a:gridCol w="1199072">
                  <a:extLst>
                    <a:ext uri="{9D8B030D-6E8A-4147-A177-3AD203B41FA5}">
                      <a16:colId xmlns:a16="http://schemas.microsoft.com/office/drawing/2014/main" val="3157120850"/>
                    </a:ext>
                  </a:extLst>
                </a:gridCol>
                <a:gridCol w="3812875">
                  <a:extLst>
                    <a:ext uri="{9D8B030D-6E8A-4147-A177-3AD203B41FA5}">
                      <a16:colId xmlns:a16="http://schemas.microsoft.com/office/drawing/2014/main" val="166338093"/>
                    </a:ext>
                  </a:extLst>
                </a:gridCol>
                <a:gridCol w="3114136">
                  <a:extLst>
                    <a:ext uri="{9D8B030D-6E8A-4147-A177-3AD203B41FA5}">
                      <a16:colId xmlns:a16="http://schemas.microsoft.com/office/drawing/2014/main" val="2651455179"/>
                    </a:ext>
                  </a:extLst>
                </a:gridCol>
                <a:gridCol w="2510288">
                  <a:extLst>
                    <a:ext uri="{9D8B030D-6E8A-4147-A177-3AD203B41FA5}">
                      <a16:colId xmlns:a16="http://schemas.microsoft.com/office/drawing/2014/main" val="45869260"/>
                    </a:ext>
                  </a:extLst>
                </a:gridCol>
              </a:tblGrid>
              <a:tr h="358214">
                <a:tc gridSpan="2">
                  <a:txBody>
                    <a:bodyPr/>
                    <a:lstStyle/>
                    <a:p>
                      <a:pPr marL="0" marR="0" indent="0" algn="ctr" fontAlgn="base" latinLnBrk="0">
                        <a:lnSpc>
                          <a:spcPct val="130000"/>
                        </a:lnSpc>
                        <a:spcBef>
                          <a:spcPts val="0"/>
                        </a:spcBef>
                        <a:spcAft>
                          <a:spcPts val="0"/>
                        </a:spcAft>
                      </a:pPr>
                      <a:r>
                        <a:rPr lang="ko-KR" altLang="en-US" sz="1200" kern="0" spc="-100" dirty="0">
                          <a:effectLst/>
                        </a:rPr>
                        <a:t>구 분</a:t>
                      </a:r>
                      <a:endParaRPr lang="ko-KR" altLang="en-US" sz="1200" kern="0" spc="-100" dirty="0">
                        <a:solidFill>
                          <a:srgbClr val="000000"/>
                        </a:solidFill>
                        <a:effectLst/>
                      </a:endParaRPr>
                    </a:p>
                  </a:txBody>
                  <a:tcPr marL="17907" marR="17907" marT="17907" marB="17907"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30000"/>
                        </a:lnSpc>
                        <a:spcBef>
                          <a:spcPts val="0"/>
                        </a:spcBef>
                        <a:spcAft>
                          <a:spcPts val="0"/>
                        </a:spcAft>
                      </a:pPr>
                      <a:r>
                        <a:rPr lang="ko-KR" altLang="en-US" sz="1200" kern="0" spc="-100" dirty="0">
                          <a:effectLst/>
                        </a:rPr>
                        <a:t>발명 완성 전</a:t>
                      </a:r>
                      <a:r>
                        <a:rPr lang="en-US" altLang="ko-KR" sz="1200" kern="0" spc="-100" dirty="0">
                          <a:effectLst/>
                        </a:rPr>
                        <a:t>(</a:t>
                      </a:r>
                      <a:r>
                        <a:rPr lang="ko-KR" altLang="en-US" sz="1200" kern="0" spc="-100" dirty="0">
                          <a:effectLst/>
                        </a:rPr>
                        <a:t>예약승계</a:t>
                      </a:r>
                      <a:r>
                        <a:rPr lang="en-US" altLang="ko-KR" sz="1200" kern="0" spc="-100" dirty="0">
                          <a:effectLst/>
                        </a:rPr>
                        <a:t>)</a:t>
                      </a:r>
                      <a:endParaRPr lang="ko-KR" altLang="en-US" sz="1200" kern="0" spc="-100" dirty="0">
                        <a:solidFill>
                          <a:srgbClr val="000000"/>
                        </a:solidFill>
                        <a:effectLst/>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0" spc="-100" dirty="0">
                          <a:effectLst/>
                        </a:rPr>
                        <a:t>발명 완성 후</a:t>
                      </a:r>
                      <a:endParaRPr lang="ko-KR" altLang="en-US" sz="1200" kern="0" spc="-100" dirty="0">
                        <a:solidFill>
                          <a:srgbClr val="000000"/>
                        </a:solidFill>
                        <a:effectLst/>
                      </a:endParaRPr>
                    </a:p>
                  </a:txBody>
                  <a:tcPr marL="17907" marR="17907" marT="17907" marB="17907" anchor="ctr">
                    <a:solidFill>
                      <a:schemeClr val="accent1">
                        <a:lumMod val="20000"/>
                        <a:lumOff val="80000"/>
                      </a:schemeClr>
                    </a:solidFill>
                  </a:tcPr>
                </a:tc>
                <a:extLst>
                  <a:ext uri="{0D108BD9-81ED-4DB2-BD59-A6C34878D82A}">
                    <a16:rowId xmlns:a16="http://schemas.microsoft.com/office/drawing/2014/main" val="1092184423"/>
                  </a:ext>
                </a:extLst>
              </a:tr>
              <a:tr h="353837">
                <a:tc rowSpan="4">
                  <a:txBody>
                    <a:bodyPr/>
                    <a:lstStyle/>
                    <a:p>
                      <a:pPr marL="0" marR="0" indent="0" algn="ctr" fontAlgn="base" latinLnBrk="0">
                        <a:lnSpc>
                          <a:spcPct val="130000"/>
                        </a:lnSpc>
                        <a:spcBef>
                          <a:spcPts val="0"/>
                        </a:spcBef>
                        <a:spcAft>
                          <a:spcPts val="0"/>
                        </a:spcAft>
                      </a:pPr>
                      <a:r>
                        <a:rPr lang="ko-KR" altLang="en-US" sz="1200" kern="0" spc="-100" dirty="0">
                          <a:effectLst/>
                        </a:rPr>
                        <a:t>직무</a:t>
                      </a:r>
                    </a:p>
                    <a:p>
                      <a:pPr marL="0" marR="0" indent="0" algn="ctr" fontAlgn="base" latinLnBrk="0">
                        <a:lnSpc>
                          <a:spcPct val="130000"/>
                        </a:lnSpc>
                        <a:spcBef>
                          <a:spcPts val="0"/>
                        </a:spcBef>
                        <a:spcAft>
                          <a:spcPts val="0"/>
                        </a:spcAft>
                      </a:pPr>
                      <a:r>
                        <a:rPr lang="ko-KR" altLang="en-US" sz="1200" kern="0" spc="-100" dirty="0">
                          <a:effectLst/>
                        </a:rPr>
                        <a:t>발명</a:t>
                      </a:r>
                      <a:endParaRPr lang="ko-KR" altLang="en-US" sz="1200" kern="0" spc="-100" dirty="0">
                        <a:solidFill>
                          <a:srgbClr val="000000"/>
                        </a:solidFill>
                        <a:effectLst/>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200" kern="0" spc="-50">
                          <a:effectLst/>
                        </a:rPr>
                        <a:t>특허를 받을 수 있는 권리 승계계약</a:t>
                      </a:r>
                      <a:endParaRPr lang="ko-KR" altLang="en-US" sz="1200" kern="0" spc="-50">
                        <a:solidFill>
                          <a:srgbClr val="000000"/>
                        </a:solidFill>
                        <a:effectLst/>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200" kern="0" spc="-50">
                          <a:effectLst/>
                        </a:rPr>
                        <a:t>가능</a:t>
                      </a:r>
                      <a:endParaRPr lang="ko-KR" altLang="en-US" sz="1200" kern="0" spc="-50">
                        <a:solidFill>
                          <a:srgbClr val="000000"/>
                        </a:solidFill>
                        <a:effectLst/>
                      </a:endParaRPr>
                    </a:p>
                  </a:txBody>
                  <a:tcPr marL="17907" marR="17907" marT="17907" marB="17907" anchor="ctr"/>
                </a:tc>
                <a:tc rowSpan="3">
                  <a:txBody>
                    <a:bodyPr/>
                    <a:lstStyle/>
                    <a:p>
                      <a:pPr marL="17780" marR="17780" indent="0" algn="ctr" fontAlgn="base" latinLnBrk="0">
                        <a:lnSpc>
                          <a:spcPct val="130000"/>
                        </a:lnSpc>
                        <a:spcBef>
                          <a:spcPts val="0"/>
                        </a:spcBef>
                        <a:spcAft>
                          <a:spcPts val="0"/>
                        </a:spcAft>
                      </a:pPr>
                      <a:r>
                        <a:rPr lang="ko-KR" altLang="en-US" sz="1200" kern="0" spc="-50" dirty="0">
                          <a:effectLst/>
                        </a:rPr>
                        <a:t>가능</a:t>
                      </a:r>
                      <a:endParaRPr lang="ko-KR" altLang="en-US" sz="1200" kern="0" spc="-50" dirty="0">
                        <a:solidFill>
                          <a:srgbClr val="000000"/>
                        </a:solidFill>
                        <a:effectLst/>
                      </a:endParaRPr>
                    </a:p>
                  </a:txBody>
                  <a:tcPr marL="17907" marR="17907" marT="17907" marB="17907" anchor="ctr"/>
                </a:tc>
                <a:extLst>
                  <a:ext uri="{0D108BD9-81ED-4DB2-BD59-A6C34878D82A}">
                    <a16:rowId xmlns:a16="http://schemas.microsoft.com/office/drawing/2014/main" val="1783852364"/>
                  </a:ext>
                </a:extLst>
              </a:tr>
              <a:tr h="353837">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200" kern="0" spc="-50">
                          <a:effectLst/>
                        </a:rPr>
                        <a:t>특허권 승계계약</a:t>
                      </a:r>
                      <a:endParaRPr lang="ko-KR" altLang="en-US" sz="1200" kern="0" spc="-50">
                        <a:solidFill>
                          <a:srgbClr val="000000"/>
                        </a:solidFill>
                        <a:effectLst/>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200" kern="0" spc="-50" dirty="0">
                          <a:effectLst/>
                        </a:rPr>
                        <a:t>가능</a:t>
                      </a:r>
                      <a:endParaRPr lang="ko-KR" altLang="en-US" sz="1200" kern="0" spc="-50" dirty="0">
                        <a:solidFill>
                          <a:srgbClr val="000000"/>
                        </a:solidFill>
                        <a:effectLst/>
                      </a:endParaRPr>
                    </a:p>
                  </a:txBody>
                  <a:tcPr marL="17907" marR="17907" marT="17907" marB="17907" anchor="ctr"/>
                </a:tc>
                <a:tc vMerge="1">
                  <a:txBody>
                    <a:bodyPr/>
                    <a:lstStyle/>
                    <a:p>
                      <a:pPr marL="17780" marR="17780" indent="0" algn="ctr" fontAlgn="base" latinLnBrk="0">
                        <a:lnSpc>
                          <a:spcPct val="130000"/>
                        </a:lnSpc>
                        <a:spcBef>
                          <a:spcPts val="0"/>
                        </a:spcBef>
                        <a:spcAft>
                          <a:spcPts val="0"/>
                        </a:spcAft>
                      </a:pPr>
                      <a:endParaRPr lang="ko-KR" altLang="en-US" sz="1200" kern="0" spc="-50" dirty="0">
                        <a:solidFill>
                          <a:srgbClr val="000000"/>
                        </a:solidFill>
                        <a:effectLst/>
                      </a:endParaRP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13645143"/>
                  </a:ext>
                </a:extLst>
              </a:tr>
              <a:tr h="353837">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200" kern="0" spc="-50">
                          <a:effectLst/>
                        </a:rPr>
                        <a:t>전용실시권 설정계약</a:t>
                      </a:r>
                      <a:endParaRPr lang="ko-KR" altLang="en-US" sz="1200" kern="0" spc="-50">
                        <a:solidFill>
                          <a:srgbClr val="000000"/>
                        </a:solidFill>
                        <a:effectLst/>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200" kern="0" spc="-50">
                          <a:effectLst/>
                        </a:rPr>
                        <a:t>가능</a:t>
                      </a:r>
                      <a:endParaRPr lang="ko-KR" altLang="en-US" sz="1200" kern="0" spc="-50">
                        <a:solidFill>
                          <a:srgbClr val="000000"/>
                        </a:solidFill>
                        <a:effectLst/>
                      </a:endParaRPr>
                    </a:p>
                  </a:txBody>
                  <a:tcPr marL="17907" marR="17907" marT="17907" marB="17907" anchor="ctr"/>
                </a:tc>
                <a:tc vMerge="1">
                  <a:txBody>
                    <a:bodyPr/>
                    <a:lstStyle/>
                    <a:p>
                      <a:pPr marL="17780" marR="17780" indent="0" algn="ctr" fontAlgn="base" latinLnBrk="0">
                        <a:lnSpc>
                          <a:spcPct val="130000"/>
                        </a:lnSpc>
                        <a:spcBef>
                          <a:spcPts val="0"/>
                        </a:spcBef>
                        <a:spcAft>
                          <a:spcPts val="0"/>
                        </a:spcAft>
                      </a:pPr>
                      <a:endParaRPr lang="ko-KR" altLang="en-US" sz="1200" kern="0" spc="-50">
                        <a:solidFill>
                          <a:srgbClr val="000000"/>
                        </a:solidFill>
                        <a:effectLst/>
                      </a:endParaRP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99034027"/>
                  </a:ext>
                </a:extLst>
              </a:tr>
              <a:tr h="1291693">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200" kern="0" spc="-50" dirty="0">
                          <a:effectLst/>
                        </a:rPr>
                        <a:t>통상실시권 허락계약</a:t>
                      </a:r>
                      <a:endParaRPr lang="ko-KR" altLang="en-US" sz="1200" kern="0" spc="-50" dirty="0">
                        <a:solidFill>
                          <a:srgbClr val="000000"/>
                        </a:solidFill>
                        <a:effectLst/>
                      </a:endParaRPr>
                    </a:p>
                  </a:txBody>
                  <a:tcPr marL="17907" marR="17907" marT="17907" marB="17907" anchor="ctr"/>
                </a:tc>
                <a:tc gridSpan="2">
                  <a:txBody>
                    <a:bodyPr/>
                    <a:lstStyle/>
                    <a:p>
                      <a:pPr marL="17780" marR="17780" indent="0" algn="ctr" fontAlgn="base" latinLnBrk="0">
                        <a:lnSpc>
                          <a:spcPct val="130000"/>
                        </a:lnSpc>
                        <a:spcBef>
                          <a:spcPts val="0"/>
                        </a:spcBef>
                        <a:spcAft>
                          <a:spcPts val="0"/>
                        </a:spcAft>
                      </a:pPr>
                      <a:r>
                        <a:rPr lang="ko-KR" altLang="en-US" sz="1200" kern="0" spc="-50" dirty="0">
                          <a:effectLst/>
                        </a:rPr>
                        <a:t>종업원 등 또는 승계인이 특허를 받은 경우 법정실시권 발생하기 때문에 불필요</a:t>
                      </a:r>
                    </a:p>
                    <a:p>
                      <a:pPr marL="17780" marR="17780" indent="0" algn="ctr" fontAlgn="base" latinLnBrk="0">
                        <a:lnSpc>
                          <a:spcPct val="130000"/>
                        </a:lnSpc>
                        <a:spcBef>
                          <a:spcPts val="0"/>
                        </a:spcBef>
                        <a:spcAft>
                          <a:spcPts val="0"/>
                        </a:spcAft>
                      </a:pPr>
                      <a:r>
                        <a:rPr lang="en-US" altLang="ko-KR" sz="1200" kern="0" spc="-50" dirty="0">
                          <a:effectLst/>
                        </a:rPr>
                        <a:t>(</a:t>
                      </a:r>
                      <a:r>
                        <a:rPr lang="ko-KR" altLang="en-US" sz="1200" kern="0" spc="-50" dirty="0">
                          <a:effectLst/>
                        </a:rPr>
                        <a:t>단</a:t>
                      </a:r>
                      <a:r>
                        <a:rPr lang="en-US" altLang="ko-KR" sz="1200" kern="0" spc="-50" dirty="0">
                          <a:effectLst/>
                        </a:rPr>
                        <a:t>, </a:t>
                      </a:r>
                      <a:r>
                        <a:rPr lang="ko-KR" altLang="en-US" sz="1200" kern="0" spc="-50" dirty="0">
                          <a:effectLst/>
                        </a:rPr>
                        <a:t>대기업의 </a:t>
                      </a:r>
                      <a:r>
                        <a:rPr lang="ko-KR" altLang="en-US" sz="1200" kern="0" spc="-50" dirty="0">
                          <a:solidFill>
                            <a:srgbClr val="FF0000"/>
                          </a:solidFill>
                          <a:effectLst/>
                        </a:rPr>
                        <a:t>경우 예약승계계약의 체결 또는 근무규정의 작성이 된 경우</a:t>
                      </a:r>
                      <a:r>
                        <a:rPr lang="ko-KR" altLang="en-US" sz="1200" kern="0" spc="-50" dirty="0">
                          <a:effectLst/>
                        </a:rPr>
                        <a:t>에 한함</a:t>
                      </a:r>
                      <a:r>
                        <a:rPr lang="en-US" altLang="ko-KR" sz="1200" kern="0" spc="-50" dirty="0">
                          <a:effectLst/>
                        </a:rPr>
                        <a:t>)</a:t>
                      </a:r>
                      <a:endParaRPr lang="ko-KR" altLang="en-US" sz="1200" kern="0" spc="-50" dirty="0">
                        <a:solidFill>
                          <a:srgbClr val="000000"/>
                        </a:solidFill>
                        <a:effectLst/>
                      </a:endParaRPr>
                    </a:p>
                  </a:txBody>
                  <a:tcPr marL="17907" marR="17907" marT="17907" marB="17907" anchor="ctr"/>
                </a:tc>
                <a:tc hMerge="1">
                  <a:txBody>
                    <a:bodyPr/>
                    <a:lstStyle/>
                    <a:p>
                      <a:pPr latinLnBrk="1"/>
                      <a:endParaRPr lang="ko-KR" altLang="en-US"/>
                    </a:p>
                  </a:txBody>
                  <a:tcPr/>
                </a:tc>
                <a:extLst>
                  <a:ext uri="{0D108BD9-81ED-4DB2-BD59-A6C34878D82A}">
                    <a16:rowId xmlns:a16="http://schemas.microsoft.com/office/drawing/2014/main" val="1995717695"/>
                  </a:ext>
                </a:extLst>
              </a:tr>
              <a:tr h="353837">
                <a:tc rowSpan="4">
                  <a:txBody>
                    <a:bodyPr/>
                    <a:lstStyle/>
                    <a:p>
                      <a:pPr marL="0" marR="0" indent="0" algn="ctr" fontAlgn="base" latinLnBrk="0">
                        <a:lnSpc>
                          <a:spcPct val="130000"/>
                        </a:lnSpc>
                        <a:spcBef>
                          <a:spcPts val="0"/>
                        </a:spcBef>
                        <a:spcAft>
                          <a:spcPts val="0"/>
                        </a:spcAft>
                      </a:pPr>
                      <a:r>
                        <a:rPr lang="ko-KR" altLang="en-US" sz="1200" kern="0" spc="-100">
                          <a:effectLst/>
                        </a:rPr>
                        <a:t>자유</a:t>
                      </a:r>
                    </a:p>
                    <a:p>
                      <a:pPr marL="0" marR="0" indent="0" algn="ctr" fontAlgn="base" latinLnBrk="0">
                        <a:lnSpc>
                          <a:spcPct val="130000"/>
                        </a:lnSpc>
                        <a:spcBef>
                          <a:spcPts val="0"/>
                        </a:spcBef>
                        <a:spcAft>
                          <a:spcPts val="0"/>
                        </a:spcAft>
                      </a:pPr>
                      <a:r>
                        <a:rPr lang="ko-KR" altLang="en-US" sz="1200" kern="0" spc="-100">
                          <a:effectLst/>
                        </a:rPr>
                        <a:t>발명</a:t>
                      </a:r>
                      <a:endParaRPr lang="ko-KR" altLang="en-US" sz="1200" kern="0" spc="-100">
                        <a:solidFill>
                          <a:srgbClr val="000000"/>
                        </a:solidFill>
                        <a:effectLst/>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200" kern="0" spc="-50">
                          <a:effectLst/>
                        </a:rPr>
                        <a:t>특허를 받을 수 있는 권리 승계계약</a:t>
                      </a:r>
                      <a:endParaRPr lang="ko-KR" altLang="en-US" sz="1200" kern="0" spc="-50">
                        <a:solidFill>
                          <a:srgbClr val="000000"/>
                        </a:solidFill>
                        <a:effectLst/>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200" kern="0" spc="-50">
                          <a:effectLst/>
                        </a:rPr>
                        <a:t>불가능</a:t>
                      </a:r>
                      <a:endParaRPr lang="ko-KR" altLang="en-US" sz="1200" kern="0" spc="-50">
                        <a:solidFill>
                          <a:srgbClr val="000000"/>
                        </a:solidFill>
                        <a:effectLst/>
                      </a:endParaRPr>
                    </a:p>
                  </a:txBody>
                  <a:tcPr marL="17907" marR="17907" marT="17907" marB="17907" anchor="ctr"/>
                </a:tc>
                <a:tc rowSpan="4">
                  <a:txBody>
                    <a:bodyPr/>
                    <a:lstStyle/>
                    <a:p>
                      <a:pPr marL="17780" marR="17780" indent="0" algn="ctr" fontAlgn="base" latinLnBrk="0">
                        <a:lnSpc>
                          <a:spcPct val="130000"/>
                        </a:lnSpc>
                        <a:spcBef>
                          <a:spcPts val="0"/>
                        </a:spcBef>
                        <a:spcAft>
                          <a:spcPts val="0"/>
                        </a:spcAft>
                      </a:pPr>
                      <a:r>
                        <a:rPr lang="ko-KR" altLang="en-US" sz="1200" kern="0" spc="-50" dirty="0">
                          <a:effectLst/>
                        </a:rPr>
                        <a:t>가능</a:t>
                      </a:r>
                      <a:endParaRPr lang="ko-KR" altLang="en-US" sz="1200" kern="0" spc="-50" dirty="0">
                        <a:solidFill>
                          <a:srgbClr val="000000"/>
                        </a:solidFill>
                        <a:effectLst/>
                      </a:endParaRPr>
                    </a:p>
                  </a:txBody>
                  <a:tcPr marL="17907" marR="17907" marT="17907" marB="17907" anchor="ctr"/>
                </a:tc>
                <a:extLst>
                  <a:ext uri="{0D108BD9-81ED-4DB2-BD59-A6C34878D82A}">
                    <a16:rowId xmlns:a16="http://schemas.microsoft.com/office/drawing/2014/main" val="3169423051"/>
                  </a:ext>
                </a:extLst>
              </a:tr>
              <a:tr h="353837">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200" kern="0" spc="-50">
                          <a:effectLst/>
                        </a:rPr>
                        <a:t>특허권 승계계약</a:t>
                      </a:r>
                      <a:endParaRPr lang="ko-KR" altLang="en-US" sz="1200" kern="0" spc="-50">
                        <a:solidFill>
                          <a:srgbClr val="000000"/>
                        </a:solidFill>
                        <a:effectLst/>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200" kern="0" spc="-50">
                          <a:effectLst/>
                        </a:rPr>
                        <a:t>불가능</a:t>
                      </a:r>
                      <a:endParaRPr lang="ko-KR" altLang="en-US" sz="1200" kern="0" spc="-50">
                        <a:solidFill>
                          <a:srgbClr val="000000"/>
                        </a:solidFill>
                        <a:effectLst/>
                      </a:endParaRPr>
                    </a:p>
                  </a:txBody>
                  <a:tcPr marL="17907" marR="17907" marT="17907" marB="17907" anchor="ctr"/>
                </a:tc>
                <a:tc vMerge="1">
                  <a:txBody>
                    <a:bodyPr/>
                    <a:lstStyle/>
                    <a:p>
                      <a:pPr marL="17780" marR="17780" indent="0" algn="ctr" fontAlgn="base" latinLnBrk="0">
                        <a:lnSpc>
                          <a:spcPct val="130000"/>
                        </a:lnSpc>
                        <a:spcBef>
                          <a:spcPts val="0"/>
                        </a:spcBef>
                        <a:spcAft>
                          <a:spcPts val="0"/>
                        </a:spcAft>
                      </a:pPr>
                      <a:endParaRPr lang="ko-KR" altLang="en-US" sz="1200" kern="0" spc="-50">
                        <a:solidFill>
                          <a:srgbClr val="000000"/>
                        </a:solidFill>
                        <a:effectLst/>
                      </a:endParaRP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92120119"/>
                  </a:ext>
                </a:extLst>
              </a:tr>
              <a:tr h="353837">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200" kern="0" spc="-50">
                          <a:effectLst/>
                        </a:rPr>
                        <a:t>전용실시권 설정계약</a:t>
                      </a:r>
                      <a:endParaRPr lang="ko-KR" altLang="en-US" sz="1200" kern="0" spc="-50">
                        <a:solidFill>
                          <a:srgbClr val="000000"/>
                        </a:solidFill>
                        <a:effectLst/>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200" kern="0" spc="-50">
                          <a:effectLst/>
                        </a:rPr>
                        <a:t>불가능</a:t>
                      </a:r>
                      <a:endParaRPr lang="ko-KR" altLang="en-US" sz="1200" kern="0" spc="-50">
                        <a:solidFill>
                          <a:srgbClr val="000000"/>
                        </a:solidFill>
                        <a:effectLst/>
                      </a:endParaRPr>
                    </a:p>
                  </a:txBody>
                  <a:tcPr marL="17907" marR="17907" marT="17907" marB="17907" anchor="ctr"/>
                </a:tc>
                <a:tc vMerge="1">
                  <a:txBody>
                    <a:bodyPr/>
                    <a:lstStyle/>
                    <a:p>
                      <a:pPr marL="17780" marR="17780" indent="0" algn="ctr" fontAlgn="base" latinLnBrk="0">
                        <a:lnSpc>
                          <a:spcPct val="130000"/>
                        </a:lnSpc>
                        <a:spcBef>
                          <a:spcPts val="0"/>
                        </a:spcBef>
                        <a:spcAft>
                          <a:spcPts val="0"/>
                        </a:spcAft>
                      </a:pPr>
                      <a:endParaRPr lang="ko-KR" altLang="en-US" sz="1200" kern="0" spc="-50">
                        <a:solidFill>
                          <a:srgbClr val="000000"/>
                        </a:solidFill>
                        <a:effectLst/>
                      </a:endParaRP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5845393"/>
                  </a:ext>
                </a:extLst>
              </a:tr>
              <a:tr h="353837">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200" kern="0" spc="-50">
                          <a:effectLst/>
                        </a:rPr>
                        <a:t>통상실시권 허락계약</a:t>
                      </a:r>
                      <a:endParaRPr lang="ko-KR" altLang="en-US" sz="1200" kern="0" spc="-50">
                        <a:solidFill>
                          <a:srgbClr val="000000"/>
                        </a:solidFill>
                        <a:effectLst/>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200" kern="0" spc="-50" dirty="0">
                          <a:effectLst/>
                        </a:rPr>
                        <a:t>가능</a:t>
                      </a:r>
                      <a:endParaRPr lang="ko-KR" altLang="en-US" sz="1200" kern="0" spc="-50" dirty="0">
                        <a:solidFill>
                          <a:srgbClr val="000000"/>
                        </a:solidFill>
                        <a:effectLst/>
                      </a:endParaRPr>
                    </a:p>
                  </a:txBody>
                  <a:tcPr marL="17907" marR="17907" marT="17907" marB="17907" anchor="ctr"/>
                </a:tc>
                <a:tc vMerge="1">
                  <a:txBody>
                    <a:bodyPr/>
                    <a:lstStyle/>
                    <a:p>
                      <a:pPr marL="17780" marR="17780" indent="0" algn="ctr" fontAlgn="base" latinLnBrk="0">
                        <a:lnSpc>
                          <a:spcPct val="130000"/>
                        </a:lnSpc>
                        <a:spcBef>
                          <a:spcPts val="0"/>
                        </a:spcBef>
                        <a:spcAft>
                          <a:spcPts val="0"/>
                        </a:spcAft>
                      </a:pPr>
                      <a:endParaRPr lang="ko-KR" altLang="en-US" sz="1200" kern="0" spc="-50" dirty="0">
                        <a:solidFill>
                          <a:srgbClr val="000000"/>
                        </a:solidFill>
                        <a:effectLst/>
                      </a:endParaRP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2159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6884634"/>
                  </a:ext>
                </a:extLst>
              </a:tr>
            </a:tbl>
          </a:graphicData>
        </a:graphic>
      </p:graphicFrame>
      <p:sp>
        <p:nvSpPr>
          <p:cNvPr id="7" name="타원 6">
            <a:extLst>
              <a:ext uri="{FF2B5EF4-FFF2-40B4-BE49-F238E27FC236}">
                <a16:creationId xmlns:a16="http://schemas.microsoft.com/office/drawing/2014/main" id="{6E4282AE-17E4-4938-97AF-28162500348D}"/>
              </a:ext>
            </a:extLst>
          </p:cNvPr>
          <p:cNvSpPr/>
          <p:nvPr/>
        </p:nvSpPr>
        <p:spPr>
          <a:xfrm>
            <a:off x="854015" y="5031819"/>
            <a:ext cx="836762" cy="840136"/>
          </a:xfrm>
          <a:prstGeom prst="ellipse">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 name="사각형: 둥근 모서리 7">
            <a:extLst>
              <a:ext uri="{FF2B5EF4-FFF2-40B4-BE49-F238E27FC236}">
                <a16:creationId xmlns:a16="http://schemas.microsoft.com/office/drawing/2014/main" id="{35CCB7CC-A538-4BFE-907A-BE53E64231CB}"/>
              </a:ext>
            </a:extLst>
          </p:cNvPr>
          <p:cNvSpPr/>
          <p:nvPr/>
        </p:nvSpPr>
        <p:spPr>
          <a:xfrm>
            <a:off x="6374921" y="1923691"/>
            <a:ext cx="1794294" cy="577961"/>
          </a:xfrm>
          <a:prstGeom prst="roundRect">
            <a:avLst>
              <a:gd name="adj" fmla="val 50000"/>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9" name="사각형: 둥근 모서리 28">
            <a:extLst>
              <a:ext uri="{FF2B5EF4-FFF2-40B4-BE49-F238E27FC236}">
                <a16:creationId xmlns:a16="http://schemas.microsoft.com/office/drawing/2014/main" id="{A4EB620A-BBA0-4DA0-AF39-F4E2A4749FE5}"/>
              </a:ext>
            </a:extLst>
          </p:cNvPr>
          <p:cNvSpPr/>
          <p:nvPr/>
        </p:nvSpPr>
        <p:spPr>
          <a:xfrm>
            <a:off x="2613745" y="4585300"/>
            <a:ext cx="2363698" cy="1208292"/>
          </a:xfrm>
          <a:prstGeom prst="roundRect">
            <a:avLst>
              <a:gd name="adj" fmla="val 50000"/>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0" name="사각형: 둥근 모서리 29">
            <a:extLst>
              <a:ext uri="{FF2B5EF4-FFF2-40B4-BE49-F238E27FC236}">
                <a16:creationId xmlns:a16="http://schemas.microsoft.com/office/drawing/2014/main" id="{F0FE0831-051A-4B18-B60C-BA15962BB7C9}"/>
              </a:ext>
            </a:extLst>
          </p:cNvPr>
          <p:cNvSpPr/>
          <p:nvPr/>
        </p:nvSpPr>
        <p:spPr>
          <a:xfrm>
            <a:off x="6502215" y="4585300"/>
            <a:ext cx="1451340" cy="1208292"/>
          </a:xfrm>
          <a:prstGeom prst="roundRect">
            <a:avLst>
              <a:gd name="adj" fmla="val 50000"/>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 name="타원 4">
            <a:extLst>
              <a:ext uri="{FF2B5EF4-FFF2-40B4-BE49-F238E27FC236}">
                <a16:creationId xmlns:a16="http://schemas.microsoft.com/office/drawing/2014/main" id="{834201B9-0FA0-C167-559E-E22F4197C65A}"/>
              </a:ext>
            </a:extLst>
          </p:cNvPr>
          <p:cNvSpPr/>
          <p:nvPr/>
        </p:nvSpPr>
        <p:spPr>
          <a:xfrm>
            <a:off x="115975" y="982617"/>
            <a:ext cx="251012" cy="251012"/>
          </a:xfrm>
          <a:prstGeom prst="ellipse">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1</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9" name="타원 8">
            <a:extLst>
              <a:ext uri="{FF2B5EF4-FFF2-40B4-BE49-F238E27FC236}">
                <a16:creationId xmlns:a16="http://schemas.microsoft.com/office/drawing/2014/main" id="{80FC8850-671A-BF90-0053-A218E77913BD}"/>
              </a:ext>
            </a:extLst>
          </p:cNvPr>
          <p:cNvSpPr/>
          <p:nvPr/>
        </p:nvSpPr>
        <p:spPr>
          <a:xfrm>
            <a:off x="3430680" y="1001669"/>
            <a:ext cx="251012" cy="251012"/>
          </a:xfrm>
          <a:prstGeom prst="ellipse">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0" name="타원 9">
            <a:extLst>
              <a:ext uri="{FF2B5EF4-FFF2-40B4-BE49-F238E27FC236}">
                <a16:creationId xmlns:a16="http://schemas.microsoft.com/office/drawing/2014/main" id="{6138A7F7-7069-FC11-2540-86E9DE22ECC4}"/>
              </a:ext>
            </a:extLst>
          </p:cNvPr>
          <p:cNvSpPr/>
          <p:nvPr/>
        </p:nvSpPr>
        <p:spPr>
          <a:xfrm>
            <a:off x="4064096" y="1001669"/>
            <a:ext cx="251012" cy="251012"/>
          </a:xfrm>
          <a:prstGeom prst="ellipse">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3</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2" name="타원 11">
            <a:extLst>
              <a:ext uri="{FF2B5EF4-FFF2-40B4-BE49-F238E27FC236}">
                <a16:creationId xmlns:a16="http://schemas.microsoft.com/office/drawing/2014/main" id="{F10B3D37-E0B6-5B7B-DFA4-FD828BC6A17D}"/>
              </a:ext>
            </a:extLst>
          </p:cNvPr>
          <p:cNvSpPr/>
          <p:nvPr/>
        </p:nvSpPr>
        <p:spPr>
          <a:xfrm>
            <a:off x="1065834" y="1222907"/>
            <a:ext cx="251012" cy="251012"/>
          </a:xfrm>
          <a:prstGeom prst="ellipse">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4</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3" name="타원 12">
            <a:extLst>
              <a:ext uri="{FF2B5EF4-FFF2-40B4-BE49-F238E27FC236}">
                <a16:creationId xmlns:a16="http://schemas.microsoft.com/office/drawing/2014/main" id="{5A950811-1B28-70A7-5148-739828712A6F}"/>
              </a:ext>
            </a:extLst>
          </p:cNvPr>
          <p:cNvSpPr/>
          <p:nvPr/>
        </p:nvSpPr>
        <p:spPr>
          <a:xfrm>
            <a:off x="6249415" y="1656048"/>
            <a:ext cx="251012" cy="251012"/>
          </a:xfrm>
          <a:prstGeom prst="ellipse">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4" name="타원 13">
            <a:extLst>
              <a:ext uri="{FF2B5EF4-FFF2-40B4-BE49-F238E27FC236}">
                <a16:creationId xmlns:a16="http://schemas.microsoft.com/office/drawing/2014/main" id="{1E3FEBE8-7244-4304-F243-904CCDE2026F}"/>
              </a:ext>
            </a:extLst>
          </p:cNvPr>
          <p:cNvSpPr/>
          <p:nvPr/>
        </p:nvSpPr>
        <p:spPr>
          <a:xfrm>
            <a:off x="727108" y="4851916"/>
            <a:ext cx="251012" cy="251012"/>
          </a:xfrm>
          <a:prstGeom prst="ellipse">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1</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5" name="타원 14">
            <a:extLst>
              <a:ext uri="{FF2B5EF4-FFF2-40B4-BE49-F238E27FC236}">
                <a16:creationId xmlns:a16="http://schemas.microsoft.com/office/drawing/2014/main" id="{884E2CE6-A429-1252-43AC-C0912EDA9FE8}"/>
              </a:ext>
            </a:extLst>
          </p:cNvPr>
          <p:cNvSpPr/>
          <p:nvPr/>
        </p:nvSpPr>
        <p:spPr>
          <a:xfrm>
            <a:off x="2959100" y="4297571"/>
            <a:ext cx="251012" cy="251012"/>
          </a:xfrm>
          <a:prstGeom prst="ellipse">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3</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6" name="타원 15">
            <a:extLst>
              <a:ext uri="{FF2B5EF4-FFF2-40B4-BE49-F238E27FC236}">
                <a16:creationId xmlns:a16="http://schemas.microsoft.com/office/drawing/2014/main" id="{867CF98C-E78E-733A-0E5A-D600AE6918B6}"/>
              </a:ext>
            </a:extLst>
          </p:cNvPr>
          <p:cNvSpPr/>
          <p:nvPr/>
        </p:nvSpPr>
        <p:spPr>
          <a:xfrm>
            <a:off x="6296016" y="4675445"/>
            <a:ext cx="251012" cy="251012"/>
          </a:xfrm>
          <a:prstGeom prst="ellipse">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4</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Tree>
    <p:extLst>
      <p:ext uri="{BB962C8B-B14F-4D97-AF65-F5344CB8AC3E}">
        <p14:creationId xmlns:p14="http://schemas.microsoft.com/office/powerpoint/2010/main" val="1277022872"/>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직무발명</a:t>
            </a:r>
          </a:p>
        </p:txBody>
      </p:sp>
      <p:sp>
        <p:nvSpPr>
          <p:cNvPr id="4" name="텍스트 개체 틀 3"/>
          <p:cNvSpPr>
            <a:spLocks noGrp="1"/>
          </p:cNvSpPr>
          <p:nvPr>
            <p:ph type="body" sz="quarter" idx="13"/>
          </p:nvPr>
        </p:nvSpPr>
        <p:spPr/>
        <p:txBody>
          <a:bodyPr/>
          <a:lstStyle/>
          <a:p>
            <a:r>
              <a:rPr lang="ko-KR" altLang="en-US" dirty="0"/>
              <a:t>공동직무발명의 경우</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118</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32" name="TextBox 31"/>
          <p:cNvSpPr txBox="1"/>
          <p:nvPr/>
        </p:nvSpPr>
        <p:spPr>
          <a:xfrm>
            <a:off x="1101804" y="2378296"/>
            <a:ext cx="972861" cy="584775"/>
          </a:xfrm>
          <a:prstGeom prst="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甲 </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사용자</a:t>
            </a:r>
          </a:p>
        </p:txBody>
      </p:sp>
      <p:sp>
        <p:nvSpPr>
          <p:cNvPr id="9" name="TextBox 8"/>
          <p:cNvSpPr txBox="1"/>
          <p:nvPr/>
        </p:nvSpPr>
        <p:spPr>
          <a:xfrm>
            <a:off x="3202978" y="2437070"/>
            <a:ext cx="8010526" cy="369332"/>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乙의 특허를 받을 수 있는 권리에 대한 지분을 甲이 丙의 </a:t>
            </a:r>
            <a:r>
              <a:rPr kumimoji="0" lang="ko-KR" altLang="en-US" sz="1800" b="0" i="0" u="none" strike="noStrike" kern="1200" cap="none" spc="0" normalizeH="0" baseline="0" noProof="0" dirty="0" err="1">
                <a:ln>
                  <a:noFill/>
                </a:ln>
                <a:solidFill>
                  <a:prstClr val="black"/>
                </a:solidFill>
                <a:effectLst/>
                <a:uLnTx/>
                <a:uFillTx/>
                <a:latin typeface="Frutiger LT 65 Bold"/>
                <a:ea typeface="Rix모던고딕 B"/>
                <a:cs typeface="+mn-cs"/>
              </a:rPr>
              <a:t>동의없이</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 취득할 수 있는가</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20" name="TextBox 19"/>
          <p:cNvSpPr txBox="1"/>
          <p:nvPr/>
        </p:nvSpPr>
        <p:spPr>
          <a:xfrm>
            <a:off x="134839" y="3077944"/>
            <a:ext cx="1631982" cy="52322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예약승계계약체결</a:t>
            </a:r>
            <a:endPar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근무규정작성</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23" name="TextBox 22"/>
          <p:cNvSpPr txBox="1"/>
          <p:nvPr/>
        </p:nvSpPr>
        <p:spPr>
          <a:xfrm>
            <a:off x="77875" y="986046"/>
            <a:ext cx="11979654" cy="738664"/>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종업원 등의 직무발명이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자와 공동으로 행하여진 경우 계약이나 근무규정에 따라 사용자 등이 그 발명에 대한 권리를 승계하면 사용자 등은 그 발명에 대하여 종업원 등이 가지는 권리의 지분을 갖는다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發振法</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14).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이 경우 지분의 이전에 대하여 특허법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37</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항에 의하여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자인 다른 공유자의 동의를 받아야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하는지와</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관련하여</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대법원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(2012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6676)</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은 이미 공동개발을 할 때 다른 공유자의 묵시적 동의가 있는 것으로 간주하여 별도의 동의절차를 밟을 필요가 없는 것으로 해석하고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5" name="직선 연결선 24"/>
          <p:cNvCxnSpPr/>
          <p:nvPr/>
        </p:nvCxnSpPr>
        <p:spPr>
          <a:xfrm>
            <a:off x="0" y="177251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1101803" y="3716038"/>
            <a:ext cx="972861" cy="584775"/>
          </a:xfrm>
          <a:prstGeom prst="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乙</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종업원</a:t>
            </a:r>
          </a:p>
        </p:txBody>
      </p:sp>
      <p:sp>
        <p:nvSpPr>
          <p:cNvPr id="27" name="TextBox 26"/>
          <p:cNvSpPr txBox="1"/>
          <p:nvPr/>
        </p:nvSpPr>
        <p:spPr>
          <a:xfrm>
            <a:off x="1101803" y="5019904"/>
            <a:ext cx="972861" cy="584775"/>
          </a:xfrm>
          <a:prstGeom prst="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丙</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자</a:t>
            </a:r>
          </a:p>
        </p:txBody>
      </p:sp>
      <p:cxnSp>
        <p:nvCxnSpPr>
          <p:cNvPr id="5" name="직선 연결선 4"/>
          <p:cNvCxnSpPr>
            <a:stCxn id="32" idx="2"/>
            <a:endCxn id="26" idx="0"/>
          </p:cNvCxnSpPr>
          <p:nvPr/>
        </p:nvCxnSpPr>
        <p:spPr>
          <a:xfrm flipH="1">
            <a:off x="1588234" y="2963071"/>
            <a:ext cx="1" cy="75296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직선 연결선 9"/>
          <p:cNvCxnSpPr>
            <a:stCxn id="26" idx="2"/>
            <a:endCxn id="27" idx="0"/>
          </p:cNvCxnSpPr>
          <p:nvPr/>
        </p:nvCxnSpPr>
        <p:spPr>
          <a:xfrm>
            <a:off x="1588234" y="4300813"/>
            <a:ext cx="0" cy="71909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1734576" y="4476433"/>
            <a:ext cx="832279" cy="307777"/>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공동발명</a:t>
            </a:r>
          </a:p>
        </p:txBody>
      </p:sp>
      <p:sp>
        <p:nvSpPr>
          <p:cNvPr id="15" name="자유형 14"/>
          <p:cNvSpPr/>
          <p:nvPr/>
        </p:nvSpPr>
        <p:spPr>
          <a:xfrm>
            <a:off x="2082822" y="2692400"/>
            <a:ext cx="855133" cy="1320800"/>
          </a:xfrm>
          <a:custGeom>
            <a:avLst/>
            <a:gdLst>
              <a:gd name="connsiteX0" fmla="*/ 0 w 855133"/>
              <a:gd name="connsiteY0" fmla="*/ 1320800 h 1320800"/>
              <a:gd name="connsiteX1" fmla="*/ 846667 w 855133"/>
              <a:gd name="connsiteY1" fmla="*/ 1320800 h 1320800"/>
              <a:gd name="connsiteX2" fmla="*/ 855133 w 855133"/>
              <a:gd name="connsiteY2" fmla="*/ 1227667 h 1320800"/>
              <a:gd name="connsiteX3" fmla="*/ 855133 w 855133"/>
              <a:gd name="connsiteY3" fmla="*/ 16933 h 1320800"/>
              <a:gd name="connsiteX4" fmla="*/ 762000 w 855133"/>
              <a:gd name="connsiteY4" fmla="*/ 0 h 1320800"/>
              <a:gd name="connsiteX5" fmla="*/ 42333 w 855133"/>
              <a:gd name="connsiteY5" fmla="*/ 0 h 132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5133" h="1320800">
                <a:moveTo>
                  <a:pt x="0" y="1320800"/>
                </a:moveTo>
                <a:lnTo>
                  <a:pt x="846667" y="1320800"/>
                </a:lnTo>
                <a:lnTo>
                  <a:pt x="855133" y="1227667"/>
                </a:lnTo>
                <a:lnTo>
                  <a:pt x="855133" y="16933"/>
                </a:lnTo>
                <a:lnTo>
                  <a:pt x="762000" y="0"/>
                </a:lnTo>
                <a:lnTo>
                  <a:pt x="42333" y="0"/>
                </a:lnTo>
              </a:path>
            </a:pathLst>
          </a:custGeom>
          <a:ln w="38100">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16" name="직사각형 15"/>
          <p:cNvSpPr/>
          <p:nvPr/>
        </p:nvSpPr>
        <p:spPr>
          <a:xfrm>
            <a:off x="3202978" y="3446123"/>
            <a:ext cx="2836324" cy="954107"/>
          </a:xfrm>
          <a:prstGeom prst="rect">
            <a:avLst/>
          </a:prstGeom>
          <a:ln>
            <a:solidFill>
              <a:schemeClr val="bg1">
                <a:lumMod val="65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권리가 공유인 경우에는 각 공유자는 다른 공유자 모두의 동의를 받아야만 그 지분을 양도할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17" name="TextBox 16"/>
          <p:cNvSpPr txBox="1"/>
          <p:nvPr/>
        </p:nvSpPr>
        <p:spPr>
          <a:xfrm>
            <a:off x="3202978" y="3136060"/>
            <a:ext cx="1665841" cy="307777"/>
          </a:xfrm>
          <a:prstGeom prst="rect">
            <a:avLst/>
          </a:prstGeom>
          <a:solidFill>
            <a:schemeClr val="accent4"/>
          </a:solidFill>
          <a:ln>
            <a:solidFill>
              <a:schemeClr val="bg1">
                <a:lumMod val="65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특허법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37</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a:t>
            </a:r>
          </a:p>
        </p:txBody>
      </p:sp>
      <p:sp>
        <p:nvSpPr>
          <p:cNvPr id="41" name="직사각형 40"/>
          <p:cNvSpPr/>
          <p:nvPr/>
        </p:nvSpPr>
        <p:spPr>
          <a:xfrm>
            <a:off x="3202978" y="4816532"/>
            <a:ext cx="2836324" cy="1384995"/>
          </a:xfrm>
          <a:prstGeom prst="rect">
            <a:avLst/>
          </a:prstGeom>
          <a:ln>
            <a:solidFill>
              <a:schemeClr val="bg1">
                <a:lumMod val="65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종업원 등의 직무발명이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자와 공동으로 행하여진 경우 계약이나 근무규정에 따라 사용자 등이 그 발명에 대한 권리를 승계하면 사용자 등은 그 발명에 대하여 종업원 등이 가지는 권리의 지분을 갖는다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42" name="TextBox 41"/>
          <p:cNvSpPr txBox="1"/>
          <p:nvPr/>
        </p:nvSpPr>
        <p:spPr>
          <a:xfrm>
            <a:off x="3202978" y="4506469"/>
            <a:ext cx="1566454" cy="307777"/>
          </a:xfrm>
          <a:prstGeom prst="rect">
            <a:avLst/>
          </a:prstGeom>
          <a:solidFill>
            <a:schemeClr val="accent4"/>
          </a:solidFill>
          <a:ln>
            <a:solidFill>
              <a:schemeClr val="bg1">
                <a:lumMod val="65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발명진흥법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a:t>
            </a:r>
          </a:p>
        </p:txBody>
      </p:sp>
      <p:cxnSp>
        <p:nvCxnSpPr>
          <p:cNvPr id="19" name="꺾인 연결선 18"/>
          <p:cNvCxnSpPr>
            <a:stCxn id="16" idx="3"/>
            <a:endCxn id="41" idx="3"/>
          </p:cNvCxnSpPr>
          <p:nvPr/>
        </p:nvCxnSpPr>
        <p:spPr>
          <a:xfrm>
            <a:off x="6039302" y="3923177"/>
            <a:ext cx="12700" cy="1585853"/>
          </a:xfrm>
          <a:prstGeom prst="bentConnector3">
            <a:avLst>
              <a:gd name="adj1" fmla="val 3333339"/>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 name="직사각형 27"/>
          <p:cNvSpPr/>
          <p:nvPr/>
        </p:nvSpPr>
        <p:spPr>
          <a:xfrm>
            <a:off x="6504048" y="4499603"/>
            <a:ext cx="5291833" cy="369332"/>
          </a:xfrm>
          <a:prstGeom prst="rect">
            <a:avLst/>
          </a:prstGeom>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대법원</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(2012</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도</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6676) : </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별도의 추가적인 동의절차 不要</a:t>
            </a:r>
          </a:p>
        </p:txBody>
      </p:sp>
    </p:spTree>
    <p:extLst>
      <p:ext uri="{BB962C8B-B14F-4D97-AF65-F5344CB8AC3E}">
        <p14:creationId xmlns:p14="http://schemas.microsoft.com/office/powerpoint/2010/main" val="1679096638"/>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직무발명</a:t>
            </a:r>
          </a:p>
        </p:txBody>
      </p:sp>
      <p:sp>
        <p:nvSpPr>
          <p:cNvPr id="4" name="텍스트 개체 틀 3"/>
          <p:cNvSpPr>
            <a:spLocks noGrp="1"/>
          </p:cNvSpPr>
          <p:nvPr>
            <p:ph type="body" sz="quarter" idx="13"/>
          </p:nvPr>
        </p:nvSpPr>
        <p:spPr/>
        <p:txBody>
          <a:bodyPr/>
          <a:lstStyle/>
          <a:p>
            <a:r>
              <a:rPr lang="ko-KR" altLang="en-US" dirty="0">
                <a:solidFill>
                  <a:srgbClr val="525252"/>
                </a:solidFill>
              </a:rPr>
              <a:t>직무발명 절차 규정에 따른 권리관계</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119</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17" name="Rectangle 4">
            <a:extLst>
              <a:ext uri="{FF2B5EF4-FFF2-40B4-BE49-F238E27FC236}">
                <a16:creationId xmlns:a16="http://schemas.microsoft.com/office/drawing/2014/main" id="{47C3AF08-B0C6-4FD0-82DC-C8EF09D8A36B}"/>
              </a:ext>
            </a:extLst>
          </p:cNvPr>
          <p:cNvSpPr>
            <a:spLocks noChangeArrowheads="1"/>
          </p:cNvSpPr>
          <p:nvPr/>
        </p:nvSpPr>
        <p:spPr bwMode="auto">
          <a:xfrm>
            <a:off x="1478053" y="1421586"/>
            <a:ext cx="1367798" cy="442368"/>
          </a:xfrm>
          <a:prstGeom prst="roundRect">
            <a:avLst>
              <a:gd name="adj" fmla="val 50000"/>
            </a:avLst>
          </a:prstGeom>
          <a:solidFill>
            <a:schemeClr val="accent1">
              <a:lumMod val="75000"/>
            </a:schemeClr>
          </a:solidFill>
          <a:ln>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rPr>
              <a:t>예약승계 계약</a:t>
            </a:r>
          </a:p>
        </p:txBody>
      </p:sp>
      <p:sp>
        <p:nvSpPr>
          <p:cNvPr id="18" name="Rectangle 5">
            <a:extLst>
              <a:ext uri="{FF2B5EF4-FFF2-40B4-BE49-F238E27FC236}">
                <a16:creationId xmlns:a16="http://schemas.microsoft.com/office/drawing/2014/main" id="{C3E285FB-62DC-4927-8FC7-10254196B385}"/>
              </a:ext>
            </a:extLst>
          </p:cNvPr>
          <p:cNvSpPr>
            <a:spLocks noChangeArrowheads="1"/>
          </p:cNvSpPr>
          <p:nvPr/>
        </p:nvSpPr>
        <p:spPr bwMode="auto">
          <a:xfrm>
            <a:off x="1478053" y="2062919"/>
            <a:ext cx="1367798" cy="442368"/>
          </a:xfrm>
          <a:prstGeom prst="roundRect">
            <a:avLst>
              <a:gd name="adj" fmla="val 50000"/>
            </a:avLst>
          </a:prstGeom>
          <a:solidFill>
            <a:schemeClr val="accent2"/>
          </a:solidFill>
          <a:ln>
            <a:headEnd/>
            <a:tailEnd/>
          </a:ln>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rPr>
              <a:t>직무발명 완성</a:t>
            </a:r>
          </a:p>
        </p:txBody>
      </p:sp>
      <p:sp>
        <p:nvSpPr>
          <p:cNvPr id="19" name="Rectangle 6">
            <a:extLst>
              <a:ext uri="{FF2B5EF4-FFF2-40B4-BE49-F238E27FC236}">
                <a16:creationId xmlns:a16="http://schemas.microsoft.com/office/drawing/2014/main" id="{7E63E6F4-57AC-4608-98E8-89DD763E9835}"/>
              </a:ext>
            </a:extLst>
          </p:cNvPr>
          <p:cNvSpPr>
            <a:spLocks noChangeArrowheads="1"/>
          </p:cNvSpPr>
          <p:nvPr/>
        </p:nvSpPr>
        <p:spPr bwMode="auto">
          <a:xfrm>
            <a:off x="1478053" y="2776568"/>
            <a:ext cx="1367798" cy="442368"/>
          </a:xfrm>
          <a:prstGeom prst="roundRect">
            <a:avLst>
              <a:gd name="adj" fmla="val 50000"/>
            </a:avLst>
          </a:prstGeom>
          <a:solidFill>
            <a:schemeClr val="accent2"/>
          </a:solidFill>
          <a:ln>
            <a:headEnd/>
            <a:tailEnd/>
          </a:ln>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rPr>
              <a:t>완성사실통지</a:t>
            </a:r>
          </a:p>
        </p:txBody>
      </p:sp>
      <p:sp>
        <p:nvSpPr>
          <p:cNvPr id="20" name="Rectangle 8">
            <a:extLst>
              <a:ext uri="{FF2B5EF4-FFF2-40B4-BE49-F238E27FC236}">
                <a16:creationId xmlns:a16="http://schemas.microsoft.com/office/drawing/2014/main" id="{215A8C94-8ABC-4EC6-9CFA-EA9222BA2155}"/>
              </a:ext>
            </a:extLst>
          </p:cNvPr>
          <p:cNvSpPr>
            <a:spLocks noChangeArrowheads="1"/>
          </p:cNvSpPr>
          <p:nvPr/>
        </p:nvSpPr>
        <p:spPr bwMode="auto">
          <a:xfrm>
            <a:off x="1478053" y="4852287"/>
            <a:ext cx="1367798" cy="445338"/>
          </a:xfrm>
          <a:prstGeom prst="roundRect">
            <a:avLst>
              <a:gd name="adj" fmla="val 50000"/>
            </a:avLst>
          </a:prstGeom>
          <a:solidFill>
            <a:schemeClr val="accent4"/>
          </a:solidFill>
          <a:ln>
            <a:solidFill>
              <a:schemeClr val="accent4"/>
            </a:solidFill>
            <a:headEnd/>
            <a:tailEnd/>
          </a:ln>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E7E6E6">
                    <a:lumMod val="50000"/>
                  </a:srgbClr>
                </a:solidFill>
                <a:effectLst/>
                <a:uLnTx/>
                <a:uFillTx/>
                <a:latin typeface="Rix모던고딕 B"/>
                <a:ea typeface="Rix모던고딕 B"/>
                <a:cs typeface="+mn-cs"/>
              </a:rPr>
              <a:t>승계 여부 의사 통지</a:t>
            </a:r>
          </a:p>
        </p:txBody>
      </p:sp>
      <p:sp>
        <p:nvSpPr>
          <p:cNvPr id="26" name="Rectangle 12">
            <a:extLst>
              <a:ext uri="{FF2B5EF4-FFF2-40B4-BE49-F238E27FC236}">
                <a16:creationId xmlns:a16="http://schemas.microsoft.com/office/drawing/2014/main" id="{BAFBCA75-DB3F-4385-876B-BD1099111CF7}"/>
              </a:ext>
            </a:extLst>
          </p:cNvPr>
          <p:cNvSpPr>
            <a:spLocks noChangeArrowheads="1"/>
          </p:cNvSpPr>
          <p:nvPr/>
        </p:nvSpPr>
        <p:spPr bwMode="auto">
          <a:xfrm>
            <a:off x="6208627" y="4932226"/>
            <a:ext cx="1559914" cy="285460"/>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rPr>
              <a:t>종업원</a:t>
            </a:r>
          </a:p>
        </p:txBody>
      </p:sp>
      <p:sp>
        <p:nvSpPr>
          <p:cNvPr id="27" name="Rectangle 13">
            <a:extLst>
              <a:ext uri="{FF2B5EF4-FFF2-40B4-BE49-F238E27FC236}">
                <a16:creationId xmlns:a16="http://schemas.microsoft.com/office/drawing/2014/main" id="{FC765D87-C012-4655-83B0-BA6D3287B2A4}"/>
              </a:ext>
            </a:extLst>
          </p:cNvPr>
          <p:cNvSpPr>
            <a:spLocks noChangeArrowheads="1"/>
          </p:cNvSpPr>
          <p:nvPr/>
        </p:nvSpPr>
        <p:spPr bwMode="auto">
          <a:xfrm>
            <a:off x="6208627" y="5290002"/>
            <a:ext cx="1559914" cy="283556"/>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rPr>
              <a:t>종업원</a:t>
            </a:r>
          </a:p>
        </p:txBody>
      </p:sp>
      <p:sp>
        <p:nvSpPr>
          <p:cNvPr id="28" name="Rectangle 14">
            <a:extLst>
              <a:ext uri="{FF2B5EF4-FFF2-40B4-BE49-F238E27FC236}">
                <a16:creationId xmlns:a16="http://schemas.microsoft.com/office/drawing/2014/main" id="{851C39E7-97A2-457E-AA8C-1F8FB868D306}"/>
              </a:ext>
            </a:extLst>
          </p:cNvPr>
          <p:cNvSpPr>
            <a:spLocks noChangeArrowheads="1"/>
          </p:cNvSpPr>
          <p:nvPr/>
        </p:nvSpPr>
        <p:spPr bwMode="auto">
          <a:xfrm>
            <a:off x="6208627" y="4576352"/>
            <a:ext cx="1559914" cy="285460"/>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종업원</a:t>
            </a:r>
          </a:p>
        </p:txBody>
      </p:sp>
      <p:sp>
        <p:nvSpPr>
          <p:cNvPr id="32" name="Rectangle 15">
            <a:extLst>
              <a:ext uri="{FF2B5EF4-FFF2-40B4-BE49-F238E27FC236}">
                <a16:creationId xmlns:a16="http://schemas.microsoft.com/office/drawing/2014/main" id="{62341B48-D373-4F58-A5A9-00294EAE1B95}"/>
              </a:ext>
            </a:extLst>
          </p:cNvPr>
          <p:cNvSpPr>
            <a:spLocks noChangeArrowheads="1"/>
          </p:cNvSpPr>
          <p:nvPr/>
        </p:nvSpPr>
        <p:spPr bwMode="auto">
          <a:xfrm>
            <a:off x="7900947" y="4932226"/>
            <a:ext cx="1557845" cy="285460"/>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rPr>
              <a:t>미지급</a:t>
            </a:r>
          </a:p>
        </p:txBody>
      </p:sp>
      <p:sp>
        <p:nvSpPr>
          <p:cNvPr id="33" name="Rectangle 16">
            <a:extLst>
              <a:ext uri="{FF2B5EF4-FFF2-40B4-BE49-F238E27FC236}">
                <a16:creationId xmlns:a16="http://schemas.microsoft.com/office/drawing/2014/main" id="{DD1CA5BD-4A50-40F1-9BC7-9741034A7F27}"/>
              </a:ext>
            </a:extLst>
          </p:cNvPr>
          <p:cNvSpPr>
            <a:spLocks noChangeArrowheads="1"/>
          </p:cNvSpPr>
          <p:nvPr/>
        </p:nvSpPr>
        <p:spPr bwMode="auto">
          <a:xfrm>
            <a:off x="7900947" y="5290002"/>
            <a:ext cx="1557845" cy="283556"/>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rPr>
              <a:t>미지급</a:t>
            </a:r>
          </a:p>
        </p:txBody>
      </p:sp>
      <p:sp>
        <p:nvSpPr>
          <p:cNvPr id="36" name="Rectangle 17">
            <a:extLst>
              <a:ext uri="{FF2B5EF4-FFF2-40B4-BE49-F238E27FC236}">
                <a16:creationId xmlns:a16="http://schemas.microsoft.com/office/drawing/2014/main" id="{D207B5DE-8209-48FF-A9A5-DDA954FAA783}"/>
              </a:ext>
            </a:extLst>
          </p:cNvPr>
          <p:cNvSpPr>
            <a:spLocks noChangeArrowheads="1"/>
          </p:cNvSpPr>
          <p:nvPr/>
        </p:nvSpPr>
        <p:spPr bwMode="auto">
          <a:xfrm>
            <a:off x="7900947" y="4576352"/>
            <a:ext cx="1557845" cy="285460"/>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미지급</a:t>
            </a:r>
          </a:p>
        </p:txBody>
      </p:sp>
      <p:sp>
        <p:nvSpPr>
          <p:cNvPr id="37" name="Rectangle 18">
            <a:extLst>
              <a:ext uri="{FF2B5EF4-FFF2-40B4-BE49-F238E27FC236}">
                <a16:creationId xmlns:a16="http://schemas.microsoft.com/office/drawing/2014/main" id="{E7C62D4B-7394-4059-AE62-06F3279E7C22}"/>
              </a:ext>
            </a:extLst>
          </p:cNvPr>
          <p:cNvSpPr>
            <a:spLocks noChangeArrowheads="1"/>
          </p:cNvSpPr>
          <p:nvPr/>
        </p:nvSpPr>
        <p:spPr bwMode="auto">
          <a:xfrm>
            <a:off x="9589130" y="4932226"/>
            <a:ext cx="1557845" cy="285460"/>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인정 △</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38" name="Rectangle 19">
            <a:extLst>
              <a:ext uri="{FF2B5EF4-FFF2-40B4-BE49-F238E27FC236}">
                <a16:creationId xmlns:a16="http://schemas.microsoft.com/office/drawing/2014/main" id="{E8D89B5D-C954-4451-98C3-B940E6E8CC0A}"/>
              </a:ext>
            </a:extLst>
          </p:cNvPr>
          <p:cNvSpPr>
            <a:spLocks noChangeArrowheads="1"/>
          </p:cNvSpPr>
          <p:nvPr/>
        </p:nvSpPr>
        <p:spPr bwMode="auto">
          <a:xfrm>
            <a:off x="9589130" y="5290002"/>
            <a:ext cx="1557845" cy="283556"/>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동의 필요</a:t>
            </a:r>
          </a:p>
        </p:txBody>
      </p:sp>
      <p:sp>
        <p:nvSpPr>
          <p:cNvPr id="39" name="Rectangle 20">
            <a:extLst>
              <a:ext uri="{FF2B5EF4-FFF2-40B4-BE49-F238E27FC236}">
                <a16:creationId xmlns:a16="http://schemas.microsoft.com/office/drawing/2014/main" id="{2CFAAEC5-D0BB-472D-8C23-55A0046F0E22}"/>
              </a:ext>
            </a:extLst>
          </p:cNvPr>
          <p:cNvSpPr>
            <a:spLocks noChangeArrowheads="1"/>
          </p:cNvSpPr>
          <p:nvPr/>
        </p:nvSpPr>
        <p:spPr bwMode="auto">
          <a:xfrm>
            <a:off x="9589130" y="4576352"/>
            <a:ext cx="1557845" cy="285460"/>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인정 △</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43" name="Rectangle 40">
            <a:extLst>
              <a:ext uri="{FF2B5EF4-FFF2-40B4-BE49-F238E27FC236}">
                <a16:creationId xmlns:a16="http://schemas.microsoft.com/office/drawing/2014/main" id="{5B579888-C85A-47F3-B437-4C59F50093C1}"/>
              </a:ext>
            </a:extLst>
          </p:cNvPr>
          <p:cNvSpPr>
            <a:spLocks noChangeArrowheads="1"/>
          </p:cNvSpPr>
          <p:nvPr/>
        </p:nvSpPr>
        <p:spPr bwMode="auto">
          <a:xfrm>
            <a:off x="1478053" y="3700924"/>
            <a:ext cx="1367798" cy="445338"/>
          </a:xfrm>
          <a:prstGeom prst="roundRect">
            <a:avLst>
              <a:gd name="adj" fmla="val 50000"/>
            </a:avLst>
          </a:prstGeom>
          <a:solidFill>
            <a:schemeClr val="accent4"/>
          </a:solidFill>
          <a:ln>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srgbClr val="E7E6E6">
                    <a:lumMod val="50000"/>
                  </a:srgbClr>
                </a:solidFill>
                <a:effectLst/>
                <a:uLnTx/>
                <a:uFillTx/>
                <a:latin typeface="Rix모던고딕 B"/>
                <a:ea typeface="Rix모던고딕 B"/>
                <a:cs typeface="+mn-cs"/>
              </a:rPr>
              <a:t>미승계</a:t>
            </a:r>
            <a:r>
              <a:rPr kumimoji="0" lang="ko-KR" altLang="en-US" sz="1200" b="0" i="0" u="none" strike="noStrike" kern="1200" cap="none" spc="0" normalizeH="0" baseline="0" noProof="0" dirty="0">
                <a:ln>
                  <a:noFill/>
                </a:ln>
                <a:solidFill>
                  <a:srgbClr val="E7E6E6">
                    <a:lumMod val="50000"/>
                  </a:srgbClr>
                </a:solidFill>
                <a:effectLst/>
                <a:uLnTx/>
                <a:uFillTx/>
                <a:latin typeface="Rix모던고딕 B"/>
                <a:ea typeface="Rix모던고딕 B"/>
                <a:cs typeface="+mn-cs"/>
              </a:rPr>
              <a:t> 의사 통지</a:t>
            </a:r>
          </a:p>
        </p:txBody>
      </p:sp>
      <p:sp>
        <p:nvSpPr>
          <p:cNvPr id="45" name="Rectangle 42">
            <a:extLst>
              <a:ext uri="{FF2B5EF4-FFF2-40B4-BE49-F238E27FC236}">
                <a16:creationId xmlns:a16="http://schemas.microsoft.com/office/drawing/2014/main" id="{E0FE30B9-8521-4E8D-B82F-AF8E7E2FA362}"/>
              </a:ext>
            </a:extLst>
          </p:cNvPr>
          <p:cNvSpPr>
            <a:spLocks noChangeArrowheads="1"/>
          </p:cNvSpPr>
          <p:nvPr/>
        </p:nvSpPr>
        <p:spPr bwMode="auto">
          <a:xfrm>
            <a:off x="4925030" y="3795739"/>
            <a:ext cx="1170970" cy="283556"/>
          </a:xfrm>
          <a:prstGeom prst="roundRect">
            <a:avLst>
              <a:gd name="adj" fmla="val 50000"/>
            </a:avLst>
          </a:prstGeom>
          <a:solidFill>
            <a:schemeClr val="accent4"/>
          </a:solidFill>
          <a:ln>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srgbClr val="E7E6E6">
                    <a:lumMod val="50000"/>
                  </a:srgbClr>
                </a:solidFill>
                <a:effectLst/>
                <a:uLnTx/>
                <a:uFillTx/>
                <a:latin typeface="Rix모던고딕 B"/>
                <a:ea typeface="Rix모던고딕 B"/>
                <a:cs typeface="+mn-cs"/>
              </a:rPr>
              <a:t>불통지</a:t>
            </a:r>
          </a:p>
        </p:txBody>
      </p:sp>
      <p:sp>
        <p:nvSpPr>
          <p:cNvPr id="47" name="Rectangle 44">
            <a:extLst>
              <a:ext uri="{FF2B5EF4-FFF2-40B4-BE49-F238E27FC236}">
                <a16:creationId xmlns:a16="http://schemas.microsoft.com/office/drawing/2014/main" id="{F9194358-A26A-4395-B2CA-9D0F06A3F6CF}"/>
              </a:ext>
            </a:extLst>
          </p:cNvPr>
          <p:cNvSpPr>
            <a:spLocks noChangeArrowheads="1"/>
          </p:cNvSpPr>
          <p:nvPr/>
        </p:nvSpPr>
        <p:spPr bwMode="auto">
          <a:xfrm>
            <a:off x="6208627" y="3780863"/>
            <a:ext cx="1559914" cy="285460"/>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사용자</a:t>
            </a:r>
          </a:p>
        </p:txBody>
      </p:sp>
      <p:sp>
        <p:nvSpPr>
          <p:cNvPr id="48" name="Rectangle 45">
            <a:extLst>
              <a:ext uri="{FF2B5EF4-FFF2-40B4-BE49-F238E27FC236}">
                <a16:creationId xmlns:a16="http://schemas.microsoft.com/office/drawing/2014/main" id="{CCAA9FCD-85BF-4F4F-88AA-F1A864A387DB}"/>
              </a:ext>
            </a:extLst>
          </p:cNvPr>
          <p:cNvSpPr>
            <a:spLocks noChangeArrowheads="1"/>
          </p:cNvSpPr>
          <p:nvPr/>
        </p:nvSpPr>
        <p:spPr bwMode="auto">
          <a:xfrm>
            <a:off x="6208627" y="4214839"/>
            <a:ext cx="1559914" cy="283556"/>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사용자</a:t>
            </a:r>
          </a:p>
        </p:txBody>
      </p:sp>
      <p:sp>
        <p:nvSpPr>
          <p:cNvPr id="49" name="Rectangle 46">
            <a:extLst>
              <a:ext uri="{FF2B5EF4-FFF2-40B4-BE49-F238E27FC236}">
                <a16:creationId xmlns:a16="http://schemas.microsoft.com/office/drawing/2014/main" id="{6654CA81-37A6-4073-A33F-472924FD1087}"/>
              </a:ext>
            </a:extLst>
          </p:cNvPr>
          <p:cNvSpPr>
            <a:spLocks noChangeArrowheads="1"/>
          </p:cNvSpPr>
          <p:nvPr/>
        </p:nvSpPr>
        <p:spPr bwMode="auto">
          <a:xfrm>
            <a:off x="6208627" y="3426893"/>
            <a:ext cx="1559914" cy="283556"/>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종업원</a:t>
            </a:r>
          </a:p>
        </p:txBody>
      </p:sp>
      <p:sp>
        <p:nvSpPr>
          <p:cNvPr id="50" name="Rectangle 47">
            <a:extLst>
              <a:ext uri="{FF2B5EF4-FFF2-40B4-BE49-F238E27FC236}">
                <a16:creationId xmlns:a16="http://schemas.microsoft.com/office/drawing/2014/main" id="{5F57B121-BB33-4757-BF08-4483FCC027AD}"/>
              </a:ext>
            </a:extLst>
          </p:cNvPr>
          <p:cNvSpPr>
            <a:spLocks noChangeArrowheads="1"/>
          </p:cNvSpPr>
          <p:nvPr/>
        </p:nvSpPr>
        <p:spPr bwMode="auto">
          <a:xfrm>
            <a:off x="7900947" y="3780863"/>
            <a:ext cx="1557845" cy="285460"/>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지급</a:t>
            </a:r>
          </a:p>
        </p:txBody>
      </p:sp>
      <p:sp>
        <p:nvSpPr>
          <p:cNvPr id="51" name="Rectangle 48">
            <a:extLst>
              <a:ext uri="{FF2B5EF4-FFF2-40B4-BE49-F238E27FC236}">
                <a16:creationId xmlns:a16="http://schemas.microsoft.com/office/drawing/2014/main" id="{93214ECE-03D4-40F5-B764-16AA605C3E1A}"/>
              </a:ext>
            </a:extLst>
          </p:cNvPr>
          <p:cNvSpPr>
            <a:spLocks noChangeArrowheads="1"/>
          </p:cNvSpPr>
          <p:nvPr/>
        </p:nvSpPr>
        <p:spPr bwMode="auto">
          <a:xfrm>
            <a:off x="7900947" y="4214839"/>
            <a:ext cx="1557845" cy="283556"/>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지급</a:t>
            </a:r>
          </a:p>
        </p:txBody>
      </p:sp>
      <p:sp>
        <p:nvSpPr>
          <p:cNvPr id="52" name="Rectangle 49">
            <a:extLst>
              <a:ext uri="{FF2B5EF4-FFF2-40B4-BE49-F238E27FC236}">
                <a16:creationId xmlns:a16="http://schemas.microsoft.com/office/drawing/2014/main" id="{1D26CD26-6ACC-4B4D-9F03-DA1FD08E2C32}"/>
              </a:ext>
            </a:extLst>
          </p:cNvPr>
          <p:cNvSpPr>
            <a:spLocks noChangeArrowheads="1"/>
          </p:cNvSpPr>
          <p:nvPr/>
        </p:nvSpPr>
        <p:spPr bwMode="auto">
          <a:xfrm>
            <a:off x="7900947" y="3426893"/>
            <a:ext cx="1557845" cy="283556"/>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미지급</a:t>
            </a:r>
          </a:p>
        </p:txBody>
      </p:sp>
      <p:sp>
        <p:nvSpPr>
          <p:cNvPr id="53" name="Rectangle 50">
            <a:extLst>
              <a:ext uri="{FF2B5EF4-FFF2-40B4-BE49-F238E27FC236}">
                <a16:creationId xmlns:a16="http://schemas.microsoft.com/office/drawing/2014/main" id="{CFE468E8-3B93-431F-A9BE-4A68C48FB2B4}"/>
              </a:ext>
            </a:extLst>
          </p:cNvPr>
          <p:cNvSpPr>
            <a:spLocks noChangeArrowheads="1"/>
          </p:cNvSpPr>
          <p:nvPr/>
        </p:nvSpPr>
        <p:spPr bwMode="auto">
          <a:xfrm>
            <a:off x="9589130" y="3780863"/>
            <a:ext cx="1557845" cy="285460"/>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54" name="Rectangle 51">
            <a:extLst>
              <a:ext uri="{FF2B5EF4-FFF2-40B4-BE49-F238E27FC236}">
                <a16:creationId xmlns:a16="http://schemas.microsoft.com/office/drawing/2014/main" id="{1E4471B3-5814-4639-8FAD-A83C163B0440}"/>
              </a:ext>
            </a:extLst>
          </p:cNvPr>
          <p:cNvSpPr>
            <a:spLocks noChangeArrowheads="1"/>
          </p:cNvSpPr>
          <p:nvPr/>
        </p:nvSpPr>
        <p:spPr bwMode="auto">
          <a:xfrm>
            <a:off x="9589130" y="4214839"/>
            <a:ext cx="1557845" cy="283556"/>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55" name="Rectangle 52">
            <a:extLst>
              <a:ext uri="{FF2B5EF4-FFF2-40B4-BE49-F238E27FC236}">
                <a16:creationId xmlns:a16="http://schemas.microsoft.com/office/drawing/2014/main" id="{672436F0-AA8F-42C9-BB0A-34635E477B6E}"/>
              </a:ext>
            </a:extLst>
          </p:cNvPr>
          <p:cNvSpPr>
            <a:spLocks noChangeArrowheads="1"/>
          </p:cNvSpPr>
          <p:nvPr/>
        </p:nvSpPr>
        <p:spPr bwMode="auto">
          <a:xfrm>
            <a:off x="9589130" y="3426893"/>
            <a:ext cx="1557845" cy="283556"/>
          </a:xfrm>
          <a:prstGeom prst="rect">
            <a:avLst/>
          </a:prstGeom>
          <a:noFill/>
          <a:ln w="12700" algn="ctr">
            <a:solidFill>
              <a:srgbClr val="003300"/>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인정</a:t>
            </a:r>
          </a:p>
        </p:txBody>
      </p:sp>
      <p:cxnSp>
        <p:nvCxnSpPr>
          <p:cNvPr id="57" name="AutoShape 54">
            <a:extLst>
              <a:ext uri="{FF2B5EF4-FFF2-40B4-BE49-F238E27FC236}">
                <a16:creationId xmlns:a16="http://schemas.microsoft.com/office/drawing/2014/main" id="{9804D381-9487-4781-B364-35B3829F4022}"/>
              </a:ext>
            </a:extLst>
          </p:cNvPr>
          <p:cNvCxnSpPr>
            <a:cxnSpLocks noChangeShapeType="1"/>
            <a:stCxn id="43" idx="3"/>
            <a:endCxn id="15" idx="1"/>
          </p:cNvCxnSpPr>
          <p:nvPr/>
        </p:nvCxnSpPr>
        <p:spPr bwMode="auto">
          <a:xfrm flipV="1">
            <a:off x="2845851" y="3568671"/>
            <a:ext cx="2079179" cy="354922"/>
          </a:xfrm>
          <a:prstGeom prst="bentConnector3">
            <a:avLst>
              <a:gd name="adj1" fmla="val 50000"/>
            </a:avLst>
          </a:prstGeom>
          <a:noFill/>
          <a:ln w="12700">
            <a:solidFill>
              <a:srgbClr val="003300"/>
            </a:solidFill>
            <a:miter lim="800000"/>
            <a:headEnd/>
            <a:tailEnd/>
          </a:ln>
        </p:spPr>
      </p:cxnSp>
      <p:cxnSp>
        <p:nvCxnSpPr>
          <p:cNvPr id="58" name="AutoShape 55">
            <a:extLst>
              <a:ext uri="{FF2B5EF4-FFF2-40B4-BE49-F238E27FC236}">
                <a16:creationId xmlns:a16="http://schemas.microsoft.com/office/drawing/2014/main" id="{016B29B4-A7FA-4BDD-99ED-98611A3B6CCC}"/>
              </a:ext>
            </a:extLst>
          </p:cNvPr>
          <p:cNvCxnSpPr>
            <a:cxnSpLocks noChangeShapeType="1"/>
            <a:stCxn id="43" idx="3"/>
            <a:endCxn id="45" idx="1"/>
          </p:cNvCxnSpPr>
          <p:nvPr/>
        </p:nvCxnSpPr>
        <p:spPr bwMode="auto">
          <a:xfrm>
            <a:off x="2845851" y="3923593"/>
            <a:ext cx="2079179" cy="13924"/>
          </a:xfrm>
          <a:prstGeom prst="bentConnector3">
            <a:avLst>
              <a:gd name="adj1" fmla="val 50000"/>
            </a:avLst>
          </a:prstGeom>
          <a:noFill/>
          <a:ln w="12700">
            <a:solidFill>
              <a:srgbClr val="003300"/>
            </a:solidFill>
            <a:miter lim="800000"/>
            <a:headEnd/>
            <a:tailEnd/>
          </a:ln>
        </p:spPr>
      </p:cxnSp>
      <p:sp>
        <p:nvSpPr>
          <p:cNvPr id="59" name="Rectangle 56">
            <a:extLst>
              <a:ext uri="{FF2B5EF4-FFF2-40B4-BE49-F238E27FC236}">
                <a16:creationId xmlns:a16="http://schemas.microsoft.com/office/drawing/2014/main" id="{B6A7AE82-029A-4726-AA6E-2B40477C5864}"/>
              </a:ext>
            </a:extLst>
          </p:cNvPr>
          <p:cNvSpPr>
            <a:spLocks noChangeArrowheads="1"/>
          </p:cNvSpPr>
          <p:nvPr/>
        </p:nvSpPr>
        <p:spPr bwMode="auto">
          <a:xfrm>
            <a:off x="6208627" y="3069117"/>
            <a:ext cx="1559914" cy="285460"/>
          </a:xfrm>
          <a:prstGeom prst="rect">
            <a:avLst/>
          </a:prstGeom>
          <a:solidFill>
            <a:schemeClr val="bg2">
              <a:lumMod val="75000"/>
            </a:schemeClr>
          </a:solidFill>
          <a:ln>
            <a:solidFill>
              <a:schemeClr val="bg1">
                <a:lumMod val="50000"/>
              </a:schemeClr>
            </a:solidFill>
            <a:headEnd/>
            <a:tailEnd/>
          </a:ln>
        </p:spPr>
        <p:style>
          <a:lnRef idx="1">
            <a:schemeClr val="accent6"/>
          </a:lnRef>
          <a:fillRef idx="3">
            <a:schemeClr val="accent6"/>
          </a:fillRef>
          <a:effectRef idx="2">
            <a:schemeClr val="accent6"/>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rPr>
              <a:t>권리귀속</a:t>
            </a:r>
          </a:p>
        </p:txBody>
      </p:sp>
      <p:sp>
        <p:nvSpPr>
          <p:cNvPr id="60" name="Rectangle 57">
            <a:extLst>
              <a:ext uri="{FF2B5EF4-FFF2-40B4-BE49-F238E27FC236}">
                <a16:creationId xmlns:a16="http://schemas.microsoft.com/office/drawing/2014/main" id="{871B2D39-28DA-4322-976A-E3C2F36C1013}"/>
              </a:ext>
            </a:extLst>
          </p:cNvPr>
          <p:cNvSpPr>
            <a:spLocks noChangeArrowheads="1"/>
          </p:cNvSpPr>
          <p:nvPr/>
        </p:nvSpPr>
        <p:spPr bwMode="auto">
          <a:xfrm>
            <a:off x="7900947" y="3069117"/>
            <a:ext cx="1557845" cy="285460"/>
          </a:xfrm>
          <a:prstGeom prst="rect">
            <a:avLst/>
          </a:prstGeom>
          <a:solidFill>
            <a:schemeClr val="bg2">
              <a:lumMod val="75000"/>
            </a:schemeClr>
          </a:solidFill>
          <a:ln>
            <a:solidFill>
              <a:schemeClr val="bg1">
                <a:lumMod val="50000"/>
              </a:schemeClr>
            </a:solidFill>
            <a:headEnd/>
            <a:tailEnd/>
          </a:ln>
        </p:spPr>
        <p:style>
          <a:lnRef idx="1">
            <a:schemeClr val="accent6"/>
          </a:lnRef>
          <a:fillRef idx="3">
            <a:schemeClr val="accent6"/>
          </a:fillRef>
          <a:effectRef idx="2">
            <a:schemeClr val="accent6"/>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rPr>
              <a:t>보상금 지급</a:t>
            </a:r>
          </a:p>
        </p:txBody>
      </p:sp>
      <p:sp>
        <p:nvSpPr>
          <p:cNvPr id="61" name="Rectangle 58">
            <a:extLst>
              <a:ext uri="{FF2B5EF4-FFF2-40B4-BE49-F238E27FC236}">
                <a16:creationId xmlns:a16="http://schemas.microsoft.com/office/drawing/2014/main" id="{1D813920-A660-45B1-B389-21D840FCF9BC}"/>
              </a:ext>
            </a:extLst>
          </p:cNvPr>
          <p:cNvSpPr>
            <a:spLocks noChangeArrowheads="1"/>
          </p:cNvSpPr>
          <p:nvPr/>
        </p:nvSpPr>
        <p:spPr bwMode="auto">
          <a:xfrm>
            <a:off x="9589130" y="3069117"/>
            <a:ext cx="1557845" cy="285460"/>
          </a:xfrm>
          <a:prstGeom prst="rect">
            <a:avLst/>
          </a:prstGeom>
          <a:solidFill>
            <a:schemeClr val="bg2">
              <a:lumMod val="75000"/>
            </a:schemeClr>
          </a:solidFill>
          <a:ln>
            <a:solidFill>
              <a:schemeClr val="bg1">
                <a:lumMod val="50000"/>
              </a:schemeClr>
            </a:solidFill>
            <a:headEnd/>
            <a:tailEnd/>
          </a:ln>
        </p:spPr>
        <p:style>
          <a:lnRef idx="1">
            <a:schemeClr val="accent6"/>
          </a:lnRef>
          <a:fillRef idx="3">
            <a:schemeClr val="accent6"/>
          </a:fillRef>
          <a:effectRef idx="2">
            <a:schemeClr val="accent6"/>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Rix모던고딕 B"/>
                <a:ea typeface="Rix모던고딕 B"/>
                <a:cs typeface="+mn-cs"/>
              </a:rPr>
              <a:t>법정실시권</a:t>
            </a: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 인정</a:t>
            </a:r>
          </a:p>
        </p:txBody>
      </p:sp>
      <p:cxnSp>
        <p:nvCxnSpPr>
          <p:cNvPr id="62" name="AutoShape 59">
            <a:extLst>
              <a:ext uri="{FF2B5EF4-FFF2-40B4-BE49-F238E27FC236}">
                <a16:creationId xmlns:a16="http://schemas.microsoft.com/office/drawing/2014/main" id="{72D3A10A-9ADB-4B09-A615-7C70949A9644}"/>
              </a:ext>
            </a:extLst>
          </p:cNvPr>
          <p:cNvCxnSpPr>
            <a:cxnSpLocks noChangeShapeType="1"/>
            <a:stCxn id="17" idx="2"/>
            <a:endCxn id="18" idx="0"/>
          </p:cNvCxnSpPr>
          <p:nvPr/>
        </p:nvCxnSpPr>
        <p:spPr bwMode="auto">
          <a:xfrm>
            <a:off x="2161952" y="1863954"/>
            <a:ext cx="0" cy="198965"/>
          </a:xfrm>
          <a:prstGeom prst="straightConnector1">
            <a:avLst/>
          </a:prstGeom>
          <a:noFill/>
          <a:ln w="12700">
            <a:solidFill>
              <a:srgbClr val="003300"/>
            </a:solidFill>
            <a:round/>
            <a:headEnd/>
            <a:tailEnd type="stealth" w="lg" len="med"/>
          </a:ln>
        </p:spPr>
      </p:cxnSp>
      <p:cxnSp>
        <p:nvCxnSpPr>
          <p:cNvPr id="63" name="AutoShape 61">
            <a:extLst>
              <a:ext uri="{FF2B5EF4-FFF2-40B4-BE49-F238E27FC236}">
                <a16:creationId xmlns:a16="http://schemas.microsoft.com/office/drawing/2014/main" id="{FDAB9DBB-5421-470B-AE8C-C7954913684D}"/>
              </a:ext>
            </a:extLst>
          </p:cNvPr>
          <p:cNvCxnSpPr>
            <a:cxnSpLocks noChangeShapeType="1"/>
            <a:stCxn id="18" idx="2"/>
            <a:endCxn id="19" idx="0"/>
          </p:cNvCxnSpPr>
          <p:nvPr/>
        </p:nvCxnSpPr>
        <p:spPr bwMode="auto">
          <a:xfrm>
            <a:off x="2161952" y="2505287"/>
            <a:ext cx="0" cy="271281"/>
          </a:xfrm>
          <a:prstGeom prst="straightConnector1">
            <a:avLst/>
          </a:prstGeom>
          <a:noFill/>
          <a:ln w="12700">
            <a:solidFill>
              <a:srgbClr val="003300"/>
            </a:solidFill>
            <a:round/>
            <a:headEnd/>
            <a:tailEnd type="stealth" w="lg" len="med"/>
          </a:ln>
        </p:spPr>
      </p:cxnSp>
      <p:cxnSp>
        <p:nvCxnSpPr>
          <p:cNvPr id="64" name="AutoShape 62">
            <a:extLst>
              <a:ext uri="{FF2B5EF4-FFF2-40B4-BE49-F238E27FC236}">
                <a16:creationId xmlns:a16="http://schemas.microsoft.com/office/drawing/2014/main" id="{90C428C7-92F8-4B9F-8057-8F97AA84212D}"/>
              </a:ext>
            </a:extLst>
          </p:cNvPr>
          <p:cNvCxnSpPr>
            <a:cxnSpLocks noChangeShapeType="1"/>
            <a:stCxn id="19" idx="2"/>
            <a:endCxn id="43" idx="0"/>
          </p:cNvCxnSpPr>
          <p:nvPr/>
        </p:nvCxnSpPr>
        <p:spPr bwMode="auto">
          <a:xfrm>
            <a:off x="2161952" y="3218936"/>
            <a:ext cx="0" cy="481988"/>
          </a:xfrm>
          <a:prstGeom prst="straightConnector1">
            <a:avLst/>
          </a:prstGeom>
          <a:noFill/>
          <a:ln w="12700">
            <a:solidFill>
              <a:srgbClr val="003300"/>
            </a:solidFill>
            <a:round/>
            <a:headEnd/>
            <a:tailEnd type="stealth" w="lg" len="med"/>
          </a:ln>
        </p:spPr>
      </p:cxnSp>
      <p:sp>
        <p:nvSpPr>
          <p:cNvPr id="65" name="Rectangle 64">
            <a:extLst>
              <a:ext uri="{FF2B5EF4-FFF2-40B4-BE49-F238E27FC236}">
                <a16:creationId xmlns:a16="http://schemas.microsoft.com/office/drawing/2014/main" id="{B828F9E6-7FBE-4F40-A6CD-59B5CFDF3645}"/>
              </a:ext>
            </a:extLst>
          </p:cNvPr>
          <p:cNvSpPr>
            <a:spLocks noChangeArrowheads="1"/>
          </p:cNvSpPr>
          <p:nvPr/>
        </p:nvSpPr>
        <p:spPr bwMode="auto">
          <a:xfrm>
            <a:off x="2625360" y="3284162"/>
            <a:ext cx="1754385" cy="283557"/>
          </a:xfrm>
          <a:prstGeom prst="rect">
            <a:avLst/>
          </a:prstGeom>
          <a:noFill/>
          <a:ln w="12700" algn="ctr">
            <a:noFill/>
            <a:miter lim="800000"/>
            <a:headEnd/>
            <a:tailEnd/>
          </a:ln>
        </p:spPr>
        <p:txBody>
          <a:bodyPr wrap="none" anchor="ct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srgbClr val="000000"/>
                </a:solidFill>
                <a:effectLst/>
                <a:uLnTx/>
                <a:uFillTx/>
                <a:latin typeface="Rix모던고딕 B"/>
                <a:ea typeface="Rix모던고딕 B"/>
                <a:cs typeface="+mn-cs"/>
              </a:rPr>
              <a:t>예약승계</a:t>
            </a:r>
          </a:p>
          <a:p>
            <a:pPr marL="0" marR="0" lvl="0" indent="0" algn="l" defTabSz="914400" rtl="0" eaLnBrk="1" fontAlgn="auto" latinLnBrk="0" hangingPunct="1">
              <a:lnSpc>
                <a:spcPct val="12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srgbClr val="000000"/>
                </a:solidFill>
                <a:effectLst/>
                <a:uLnTx/>
                <a:uFillTx/>
                <a:latin typeface="Rix모던고딕 B"/>
                <a:ea typeface="Rix모던고딕 B"/>
                <a:cs typeface="+mn-cs"/>
              </a:rPr>
              <a:t>계약존재</a:t>
            </a:r>
          </a:p>
        </p:txBody>
      </p:sp>
      <p:sp>
        <p:nvSpPr>
          <p:cNvPr id="66" name="Rectangle 65">
            <a:extLst>
              <a:ext uri="{FF2B5EF4-FFF2-40B4-BE49-F238E27FC236}">
                <a16:creationId xmlns:a16="http://schemas.microsoft.com/office/drawing/2014/main" id="{B6B23DFE-23A1-49C2-9072-F88F0EF2A228}"/>
              </a:ext>
            </a:extLst>
          </p:cNvPr>
          <p:cNvSpPr>
            <a:spLocks noChangeArrowheads="1"/>
          </p:cNvSpPr>
          <p:nvPr/>
        </p:nvSpPr>
        <p:spPr bwMode="auto">
          <a:xfrm>
            <a:off x="1135787" y="4424098"/>
            <a:ext cx="1754385" cy="285460"/>
          </a:xfrm>
          <a:prstGeom prst="rect">
            <a:avLst/>
          </a:prstGeom>
          <a:noFill/>
          <a:ln w="12700" algn="ctr">
            <a:noFill/>
            <a:miter lim="800000"/>
            <a:headEnd/>
            <a:tailEnd/>
          </a:ln>
        </p:spPr>
        <p:txBody>
          <a:bodyPr wrap="none" anchor="ct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srgbClr val="000000"/>
                </a:solidFill>
                <a:effectLst/>
                <a:uLnTx/>
                <a:uFillTx/>
                <a:latin typeface="Rix모던고딕 B"/>
                <a:ea typeface="Rix모던고딕 B"/>
                <a:cs typeface="+mn-cs"/>
              </a:rPr>
              <a:t>예약승계계약 </a:t>
            </a:r>
          </a:p>
          <a:p>
            <a:pPr marL="0" marR="0" lvl="0" indent="0" algn="l" defTabSz="914400" rtl="0" eaLnBrk="1" fontAlgn="auto" latinLnBrk="0" hangingPunct="1">
              <a:lnSpc>
                <a:spcPct val="12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srgbClr val="000000"/>
                </a:solidFill>
                <a:effectLst/>
                <a:uLnTx/>
                <a:uFillTx/>
                <a:latin typeface="Rix모던고딕 B"/>
                <a:ea typeface="Rix모던고딕 B"/>
                <a:cs typeface="+mn-cs"/>
              </a:rPr>
              <a:t>부존재</a:t>
            </a:r>
          </a:p>
        </p:txBody>
      </p:sp>
      <p:cxnSp>
        <p:nvCxnSpPr>
          <p:cNvPr id="67" name="AutoShape 66">
            <a:extLst>
              <a:ext uri="{FF2B5EF4-FFF2-40B4-BE49-F238E27FC236}">
                <a16:creationId xmlns:a16="http://schemas.microsoft.com/office/drawing/2014/main" id="{4A703E7D-74F6-4511-8305-ADCE2F46794E}"/>
              </a:ext>
            </a:extLst>
          </p:cNvPr>
          <p:cNvCxnSpPr>
            <a:cxnSpLocks noChangeShapeType="1"/>
            <a:stCxn id="19" idx="1"/>
            <a:endCxn id="20" idx="0"/>
          </p:cNvCxnSpPr>
          <p:nvPr/>
        </p:nvCxnSpPr>
        <p:spPr bwMode="auto">
          <a:xfrm rot="10800000" flipH="1" flipV="1">
            <a:off x="1478052" y="2997751"/>
            <a:ext cx="683899" cy="1854535"/>
          </a:xfrm>
          <a:prstGeom prst="bentConnector4">
            <a:avLst>
              <a:gd name="adj1" fmla="val -33426"/>
              <a:gd name="adj2" fmla="val 71915"/>
            </a:avLst>
          </a:prstGeom>
          <a:noFill/>
          <a:ln w="12700">
            <a:solidFill>
              <a:srgbClr val="003300"/>
            </a:solidFill>
            <a:miter lim="800000"/>
            <a:headEnd/>
            <a:tailEnd type="stealth" w="lg" len="med"/>
          </a:ln>
        </p:spPr>
      </p:cxnSp>
      <p:sp>
        <p:nvSpPr>
          <p:cNvPr id="68" name="Rectangle 67">
            <a:extLst>
              <a:ext uri="{FF2B5EF4-FFF2-40B4-BE49-F238E27FC236}">
                <a16:creationId xmlns:a16="http://schemas.microsoft.com/office/drawing/2014/main" id="{3836406A-A90A-4C36-894A-3B247B7BF8D6}"/>
              </a:ext>
            </a:extLst>
          </p:cNvPr>
          <p:cNvSpPr>
            <a:spLocks noChangeArrowheads="1"/>
          </p:cNvSpPr>
          <p:nvPr/>
        </p:nvSpPr>
        <p:spPr bwMode="auto">
          <a:xfrm>
            <a:off x="8454011" y="1702717"/>
            <a:ext cx="682721" cy="283556"/>
          </a:xfrm>
          <a:prstGeom prst="roundRect">
            <a:avLst>
              <a:gd name="adj" fmla="val 50000"/>
            </a:avLst>
          </a:prstGeom>
          <a:solidFill>
            <a:schemeClr val="accent2"/>
          </a:solidFill>
          <a:ln>
            <a:headEnd/>
            <a:tailEnd/>
          </a:ln>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69" name="Rectangle 68">
            <a:extLst>
              <a:ext uri="{FF2B5EF4-FFF2-40B4-BE49-F238E27FC236}">
                <a16:creationId xmlns:a16="http://schemas.microsoft.com/office/drawing/2014/main" id="{84824F55-42C4-45AF-AADE-BD3F24FB1D92}"/>
              </a:ext>
            </a:extLst>
          </p:cNvPr>
          <p:cNvSpPr>
            <a:spLocks noChangeArrowheads="1"/>
          </p:cNvSpPr>
          <p:nvPr/>
        </p:nvSpPr>
        <p:spPr bwMode="auto">
          <a:xfrm>
            <a:off x="9389132" y="1702717"/>
            <a:ext cx="1756454" cy="283556"/>
          </a:xfrm>
          <a:prstGeom prst="rect">
            <a:avLst/>
          </a:prstGeom>
          <a:noFill/>
          <a:ln w="12700" algn="ctr">
            <a:no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srgbClr val="000000"/>
                </a:solidFill>
                <a:effectLst/>
                <a:uLnTx/>
                <a:uFillTx/>
                <a:latin typeface="Rix모던고딕 B"/>
                <a:ea typeface="Rix모던고딕 B"/>
                <a:cs typeface="+mn-cs"/>
              </a:rPr>
              <a:t>종업원</a:t>
            </a:r>
          </a:p>
        </p:txBody>
      </p:sp>
      <p:sp>
        <p:nvSpPr>
          <p:cNvPr id="70" name="Rectangle 69">
            <a:extLst>
              <a:ext uri="{FF2B5EF4-FFF2-40B4-BE49-F238E27FC236}">
                <a16:creationId xmlns:a16="http://schemas.microsoft.com/office/drawing/2014/main" id="{9DD6F56A-1010-4BC7-8E30-A52CD5EDDE93}"/>
              </a:ext>
            </a:extLst>
          </p:cNvPr>
          <p:cNvSpPr>
            <a:spLocks noChangeArrowheads="1"/>
          </p:cNvSpPr>
          <p:nvPr/>
        </p:nvSpPr>
        <p:spPr bwMode="auto">
          <a:xfrm>
            <a:off x="9389132" y="2058589"/>
            <a:ext cx="1756454" cy="285460"/>
          </a:xfrm>
          <a:prstGeom prst="rect">
            <a:avLst/>
          </a:prstGeom>
          <a:noFill/>
          <a:ln w="12700" algn="ctr">
            <a:no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srgbClr val="000000"/>
                </a:solidFill>
                <a:effectLst/>
                <a:uLnTx/>
                <a:uFillTx/>
                <a:latin typeface="Rix모던고딕 B"/>
                <a:ea typeface="Rix모던고딕 B"/>
                <a:cs typeface="+mn-cs"/>
              </a:rPr>
              <a:t>사용자</a:t>
            </a:r>
          </a:p>
        </p:txBody>
      </p:sp>
      <p:sp>
        <p:nvSpPr>
          <p:cNvPr id="71" name="Rectangle 70">
            <a:extLst>
              <a:ext uri="{FF2B5EF4-FFF2-40B4-BE49-F238E27FC236}">
                <a16:creationId xmlns:a16="http://schemas.microsoft.com/office/drawing/2014/main" id="{8C57B5A3-F23B-47E2-B9B3-5354EEAA6B03}"/>
              </a:ext>
            </a:extLst>
          </p:cNvPr>
          <p:cNvSpPr>
            <a:spLocks noChangeArrowheads="1"/>
          </p:cNvSpPr>
          <p:nvPr/>
        </p:nvSpPr>
        <p:spPr bwMode="auto">
          <a:xfrm>
            <a:off x="9389132" y="2416365"/>
            <a:ext cx="1756454" cy="283557"/>
          </a:xfrm>
          <a:prstGeom prst="rect">
            <a:avLst/>
          </a:prstGeom>
          <a:noFill/>
          <a:ln w="12700" algn="ctr">
            <a:no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srgbClr val="000000"/>
                </a:solidFill>
                <a:effectLst/>
                <a:uLnTx/>
                <a:uFillTx/>
                <a:latin typeface="Rix모던고딕 B"/>
                <a:ea typeface="Rix모던고딕 B"/>
                <a:cs typeface="+mn-cs"/>
              </a:rPr>
              <a:t>사용자와 종업원</a:t>
            </a:r>
          </a:p>
        </p:txBody>
      </p:sp>
      <p:sp>
        <p:nvSpPr>
          <p:cNvPr id="72" name="Rectangle 71">
            <a:extLst>
              <a:ext uri="{FF2B5EF4-FFF2-40B4-BE49-F238E27FC236}">
                <a16:creationId xmlns:a16="http://schemas.microsoft.com/office/drawing/2014/main" id="{72EF9AA5-C6AA-4591-B296-DCC1E5C7EB3E}"/>
              </a:ext>
            </a:extLst>
          </p:cNvPr>
          <p:cNvSpPr>
            <a:spLocks noChangeArrowheads="1"/>
          </p:cNvSpPr>
          <p:nvPr/>
        </p:nvSpPr>
        <p:spPr bwMode="auto">
          <a:xfrm>
            <a:off x="8454011" y="2058589"/>
            <a:ext cx="682721" cy="285460"/>
          </a:xfrm>
          <a:prstGeom prst="roundRect">
            <a:avLst>
              <a:gd name="adj" fmla="val 50000"/>
            </a:avLst>
          </a:prstGeom>
          <a:solidFill>
            <a:schemeClr val="accent4"/>
          </a:solidFill>
          <a:ln>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srgbClr val="E7E6E6">
                  <a:lumMod val="50000"/>
                </a:srgbClr>
              </a:solidFill>
              <a:effectLst/>
              <a:uLnTx/>
              <a:uFillTx/>
              <a:latin typeface="Rix모던고딕 B"/>
              <a:ea typeface="Rix모던고딕 B"/>
              <a:cs typeface="+mn-cs"/>
            </a:endParaRPr>
          </a:p>
        </p:txBody>
      </p:sp>
      <p:sp>
        <p:nvSpPr>
          <p:cNvPr id="73" name="Rectangle 72">
            <a:extLst>
              <a:ext uri="{FF2B5EF4-FFF2-40B4-BE49-F238E27FC236}">
                <a16:creationId xmlns:a16="http://schemas.microsoft.com/office/drawing/2014/main" id="{3E58A239-7360-4ED1-930F-ADAD3C10A58C}"/>
              </a:ext>
            </a:extLst>
          </p:cNvPr>
          <p:cNvSpPr>
            <a:spLocks noChangeArrowheads="1"/>
          </p:cNvSpPr>
          <p:nvPr/>
        </p:nvSpPr>
        <p:spPr bwMode="auto">
          <a:xfrm>
            <a:off x="8454011" y="2414463"/>
            <a:ext cx="682721" cy="283556"/>
          </a:xfrm>
          <a:prstGeom prst="roundRect">
            <a:avLst>
              <a:gd name="adj" fmla="val 50000"/>
            </a:avLst>
          </a:prstGeom>
          <a:solidFill>
            <a:schemeClr val="accent1">
              <a:lumMod val="75000"/>
            </a:schemeClr>
          </a:solidFill>
          <a:ln>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srgbClr val="000000"/>
              </a:solidFill>
              <a:effectLst/>
              <a:uLnTx/>
              <a:uFillTx/>
              <a:latin typeface="Rix모던고딕 B"/>
              <a:ea typeface="Rix모던고딕 B"/>
              <a:cs typeface="+mn-cs"/>
            </a:endParaRPr>
          </a:p>
        </p:txBody>
      </p:sp>
      <p:sp>
        <p:nvSpPr>
          <p:cNvPr id="74" name="직사각형 73">
            <a:extLst>
              <a:ext uri="{FF2B5EF4-FFF2-40B4-BE49-F238E27FC236}">
                <a16:creationId xmlns:a16="http://schemas.microsoft.com/office/drawing/2014/main" id="{9EDB0800-1FFD-4068-8DBF-FC0FEB180B77}"/>
              </a:ext>
            </a:extLst>
          </p:cNvPr>
          <p:cNvSpPr/>
          <p:nvPr/>
        </p:nvSpPr>
        <p:spPr>
          <a:xfrm>
            <a:off x="806607" y="6083025"/>
            <a:ext cx="10399106" cy="430887"/>
          </a:xfrm>
          <a:prstGeom prst="rect">
            <a:avLst/>
          </a:prstGeom>
        </p:spPr>
        <p:txBody>
          <a:bodyPr wrap="square">
            <a:spAutoFit/>
          </a:bodyPr>
          <a:lstStyle/>
          <a:p>
            <a:pPr marL="88900" marR="0" lvl="0" indent="-8890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법정실시권은 혼동에 의해 소멸</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88900" marR="0" lvl="0" indent="-8890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중소기업기본법」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조에 따른 중소기업이 아닌 기업은 종업원 등과의 협의를 거쳐 미리 예약승계에 관한 계약 또는 근무규정을 체결 또는 작성하지 않았다면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통상실시권</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불인정</a:t>
            </a:r>
          </a:p>
        </p:txBody>
      </p:sp>
      <p:sp>
        <p:nvSpPr>
          <p:cNvPr id="9" name="직사각형 8">
            <a:extLst>
              <a:ext uri="{FF2B5EF4-FFF2-40B4-BE49-F238E27FC236}">
                <a16:creationId xmlns:a16="http://schemas.microsoft.com/office/drawing/2014/main" id="{8C31CD27-A1DB-4DFB-9D4D-2DAD9BB5C318}"/>
              </a:ext>
            </a:extLst>
          </p:cNvPr>
          <p:cNvSpPr/>
          <p:nvPr/>
        </p:nvSpPr>
        <p:spPr>
          <a:xfrm>
            <a:off x="914400" y="1155940"/>
            <a:ext cx="10587318" cy="4856671"/>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5" name="Rectangle 43">
            <a:extLst>
              <a:ext uri="{FF2B5EF4-FFF2-40B4-BE49-F238E27FC236}">
                <a16:creationId xmlns:a16="http://schemas.microsoft.com/office/drawing/2014/main" id="{64CA581F-B410-6C8B-28F3-917BA14FFE15}"/>
              </a:ext>
            </a:extLst>
          </p:cNvPr>
          <p:cNvSpPr>
            <a:spLocks noChangeArrowheads="1"/>
          </p:cNvSpPr>
          <p:nvPr/>
        </p:nvSpPr>
        <p:spPr bwMode="auto">
          <a:xfrm>
            <a:off x="4925030" y="3426893"/>
            <a:ext cx="1170970" cy="283556"/>
          </a:xfrm>
          <a:prstGeom prst="roundRect">
            <a:avLst>
              <a:gd name="adj" fmla="val 50000"/>
            </a:avLst>
          </a:prstGeom>
          <a:solidFill>
            <a:schemeClr val="accent4"/>
          </a:solidFill>
          <a:ln>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E7E6E6">
                    <a:lumMod val="50000"/>
                  </a:srgbClr>
                </a:solidFill>
                <a:effectLst/>
                <a:uLnTx/>
                <a:uFillTx/>
                <a:latin typeface="Rix모던고딕 B"/>
                <a:ea typeface="Rix모던고딕 B"/>
                <a:cs typeface="+mn-cs"/>
              </a:rPr>
              <a:t>미승계통지</a:t>
            </a:r>
          </a:p>
        </p:txBody>
      </p:sp>
      <p:sp>
        <p:nvSpPr>
          <p:cNvPr id="31" name="Rectangle 42">
            <a:extLst>
              <a:ext uri="{FF2B5EF4-FFF2-40B4-BE49-F238E27FC236}">
                <a16:creationId xmlns:a16="http://schemas.microsoft.com/office/drawing/2014/main" id="{38DEC242-F4B6-1DAA-62C3-CEFE0B47D4A1}"/>
              </a:ext>
            </a:extLst>
          </p:cNvPr>
          <p:cNvSpPr>
            <a:spLocks noChangeArrowheads="1"/>
          </p:cNvSpPr>
          <p:nvPr/>
        </p:nvSpPr>
        <p:spPr bwMode="auto">
          <a:xfrm>
            <a:off x="4925030" y="4935673"/>
            <a:ext cx="1170970" cy="283556"/>
          </a:xfrm>
          <a:prstGeom prst="roundRect">
            <a:avLst>
              <a:gd name="adj" fmla="val 50000"/>
            </a:avLst>
          </a:prstGeom>
          <a:solidFill>
            <a:schemeClr val="accent4"/>
          </a:solidFill>
          <a:ln>
            <a:solidFill>
              <a:schemeClr val="accent4"/>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E7E6E6">
                    <a:lumMod val="50000"/>
                  </a:srgbClr>
                </a:solidFill>
                <a:effectLst/>
                <a:uLnTx/>
                <a:uFillTx/>
                <a:latin typeface="Rix모던고딕 B"/>
                <a:ea typeface="Rix모던고딕 B"/>
                <a:cs typeface="+mn-cs"/>
              </a:rPr>
              <a:t>미승계통지</a:t>
            </a:r>
          </a:p>
        </p:txBody>
      </p:sp>
      <p:sp>
        <p:nvSpPr>
          <p:cNvPr id="34" name="Rectangle 43">
            <a:extLst>
              <a:ext uri="{FF2B5EF4-FFF2-40B4-BE49-F238E27FC236}">
                <a16:creationId xmlns:a16="http://schemas.microsoft.com/office/drawing/2014/main" id="{E380FE34-AAD1-B7EF-7776-01BEAE35D9A0}"/>
              </a:ext>
            </a:extLst>
          </p:cNvPr>
          <p:cNvSpPr>
            <a:spLocks noChangeArrowheads="1"/>
          </p:cNvSpPr>
          <p:nvPr/>
        </p:nvSpPr>
        <p:spPr bwMode="auto">
          <a:xfrm>
            <a:off x="3717731" y="4223927"/>
            <a:ext cx="985461" cy="283556"/>
          </a:xfrm>
          <a:prstGeom prst="roundRect">
            <a:avLst>
              <a:gd name="adj" fmla="val 50000"/>
            </a:avLst>
          </a:prstGeom>
          <a:solidFill>
            <a:schemeClr val="accent4"/>
          </a:solidFill>
          <a:ln>
            <a:solidFill>
              <a:schemeClr val="accent4"/>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E7E6E6">
                    <a:lumMod val="50000"/>
                  </a:srgbClr>
                </a:solidFill>
                <a:effectLst/>
                <a:uLnTx/>
                <a:uFillTx/>
                <a:latin typeface="Rix모던고딕 B"/>
                <a:ea typeface="Rix모던고딕 B"/>
                <a:cs typeface="+mn-cs"/>
              </a:rPr>
              <a:t>승계통지</a:t>
            </a:r>
          </a:p>
        </p:txBody>
      </p:sp>
      <p:sp>
        <p:nvSpPr>
          <p:cNvPr id="35" name="Rectangle 41">
            <a:extLst>
              <a:ext uri="{FF2B5EF4-FFF2-40B4-BE49-F238E27FC236}">
                <a16:creationId xmlns:a16="http://schemas.microsoft.com/office/drawing/2014/main" id="{2648C492-5F69-5C44-CAA1-19300E68FD9C}"/>
              </a:ext>
            </a:extLst>
          </p:cNvPr>
          <p:cNvSpPr>
            <a:spLocks noChangeArrowheads="1"/>
          </p:cNvSpPr>
          <p:nvPr/>
        </p:nvSpPr>
        <p:spPr bwMode="auto">
          <a:xfrm>
            <a:off x="4925030" y="4577897"/>
            <a:ext cx="1170970" cy="285460"/>
          </a:xfrm>
          <a:prstGeom prst="roundRect">
            <a:avLst>
              <a:gd name="adj" fmla="val 50000"/>
            </a:avLst>
          </a:prstGeom>
          <a:solidFill>
            <a:schemeClr val="accent2"/>
          </a:solidFill>
          <a:ln>
            <a:solidFill>
              <a:schemeClr val="accent2"/>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Rix모던고딕 B"/>
                <a:ea typeface="Rix모던고딕 B"/>
                <a:cs typeface="+mn-cs"/>
              </a:rPr>
              <a:t>양도불승낙</a:t>
            </a:r>
            <a:endPar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endParaRPr>
          </a:p>
        </p:txBody>
      </p:sp>
      <p:sp>
        <p:nvSpPr>
          <p:cNvPr id="75" name="Rectangle 43">
            <a:extLst>
              <a:ext uri="{FF2B5EF4-FFF2-40B4-BE49-F238E27FC236}">
                <a16:creationId xmlns:a16="http://schemas.microsoft.com/office/drawing/2014/main" id="{9C3005B7-5EFD-6AA4-B01D-658064A29E86}"/>
              </a:ext>
            </a:extLst>
          </p:cNvPr>
          <p:cNvSpPr>
            <a:spLocks noChangeArrowheads="1"/>
          </p:cNvSpPr>
          <p:nvPr/>
        </p:nvSpPr>
        <p:spPr bwMode="auto">
          <a:xfrm>
            <a:off x="4925030" y="4223927"/>
            <a:ext cx="1170970" cy="283556"/>
          </a:xfrm>
          <a:prstGeom prst="roundRect">
            <a:avLst>
              <a:gd name="adj" fmla="val 50000"/>
            </a:avLst>
          </a:prstGeom>
          <a:solidFill>
            <a:schemeClr val="accent2"/>
          </a:solidFill>
          <a:ln>
            <a:solidFill>
              <a:schemeClr val="accent2"/>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양도승낙</a:t>
            </a:r>
          </a:p>
        </p:txBody>
      </p:sp>
      <p:cxnSp>
        <p:nvCxnSpPr>
          <p:cNvPr id="82" name="AutoShape 55">
            <a:extLst>
              <a:ext uri="{FF2B5EF4-FFF2-40B4-BE49-F238E27FC236}">
                <a16:creationId xmlns:a16="http://schemas.microsoft.com/office/drawing/2014/main" id="{B72054C8-AA26-0E5A-C217-22B8041CBE1E}"/>
              </a:ext>
            </a:extLst>
          </p:cNvPr>
          <p:cNvCxnSpPr>
            <a:cxnSpLocks noChangeShapeType="1"/>
            <a:stCxn id="34" idx="3"/>
            <a:endCxn id="35" idx="1"/>
          </p:cNvCxnSpPr>
          <p:nvPr/>
        </p:nvCxnSpPr>
        <p:spPr bwMode="auto">
          <a:xfrm>
            <a:off x="4703192" y="4365705"/>
            <a:ext cx="221838" cy="354922"/>
          </a:xfrm>
          <a:prstGeom prst="bentConnector3">
            <a:avLst>
              <a:gd name="adj1" fmla="val 50000"/>
            </a:avLst>
          </a:prstGeom>
          <a:noFill/>
          <a:ln w="12700">
            <a:solidFill>
              <a:srgbClr val="003300"/>
            </a:solidFill>
            <a:miter lim="800000"/>
            <a:headEnd/>
            <a:tailEnd/>
          </a:ln>
        </p:spPr>
      </p:cxnSp>
      <p:cxnSp>
        <p:nvCxnSpPr>
          <p:cNvPr id="85" name="AutoShape 55">
            <a:extLst>
              <a:ext uri="{FF2B5EF4-FFF2-40B4-BE49-F238E27FC236}">
                <a16:creationId xmlns:a16="http://schemas.microsoft.com/office/drawing/2014/main" id="{E8E3EEE6-F5CB-E8DA-4DA1-8098F08AB6B2}"/>
              </a:ext>
            </a:extLst>
          </p:cNvPr>
          <p:cNvCxnSpPr>
            <a:cxnSpLocks noChangeShapeType="1"/>
            <a:stCxn id="34" idx="3"/>
            <a:endCxn id="75" idx="1"/>
          </p:cNvCxnSpPr>
          <p:nvPr/>
        </p:nvCxnSpPr>
        <p:spPr bwMode="auto">
          <a:xfrm>
            <a:off x="4703192" y="4365705"/>
            <a:ext cx="221838" cy="12700"/>
          </a:xfrm>
          <a:prstGeom prst="bentConnector3">
            <a:avLst>
              <a:gd name="adj1" fmla="val 50000"/>
            </a:avLst>
          </a:prstGeom>
          <a:noFill/>
          <a:ln w="12700">
            <a:solidFill>
              <a:srgbClr val="003300"/>
            </a:solidFill>
            <a:miter lim="800000"/>
            <a:headEnd/>
            <a:tailEnd/>
          </a:ln>
        </p:spPr>
      </p:cxnSp>
      <p:cxnSp>
        <p:nvCxnSpPr>
          <p:cNvPr id="88" name="AutoShape 55">
            <a:extLst>
              <a:ext uri="{FF2B5EF4-FFF2-40B4-BE49-F238E27FC236}">
                <a16:creationId xmlns:a16="http://schemas.microsoft.com/office/drawing/2014/main" id="{85590966-80D0-9B08-C31D-1573C379D6F3}"/>
              </a:ext>
            </a:extLst>
          </p:cNvPr>
          <p:cNvCxnSpPr>
            <a:cxnSpLocks noChangeShapeType="1"/>
            <a:stCxn id="20" idx="3"/>
            <a:endCxn id="31" idx="1"/>
          </p:cNvCxnSpPr>
          <p:nvPr/>
        </p:nvCxnSpPr>
        <p:spPr bwMode="auto">
          <a:xfrm>
            <a:off x="2845851" y="5074956"/>
            <a:ext cx="2079179" cy="2495"/>
          </a:xfrm>
          <a:prstGeom prst="bentConnector3">
            <a:avLst>
              <a:gd name="adj1" fmla="val 50000"/>
            </a:avLst>
          </a:prstGeom>
          <a:noFill/>
          <a:ln w="12700">
            <a:solidFill>
              <a:srgbClr val="003300"/>
            </a:solidFill>
            <a:miter lim="800000"/>
            <a:headEnd/>
            <a:tailEnd/>
          </a:ln>
        </p:spPr>
      </p:cxnSp>
      <p:cxnSp>
        <p:nvCxnSpPr>
          <p:cNvPr id="91" name="AutoShape 55">
            <a:extLst>
              <a:ext uri="{FF2B5EF4-FFF2-40B4-BE49-F238E27FC236}">
                <a16:creationId xmlns:a16="http://schemas.microsoft.com/office/drawing/2014/main" id="{876B621C-C1C8-141D-69E3-991D5F85D2E9}"/>
              </a:ext>
            </a:extLst>
          </p:cNvPr>
          <p:cNvCxnSpPr>
            <a:cxnSpLocks noChangeShapeType="1"/>
            <a:stCxn id="20" idx="3"/>
            <a:endCxn id="34" idx="1"/>
          </p:cNvCxnSpPr>
          <p:nvPr/>
        </p:nvCxnSpPr>
        <p:spPr bwMode="auto">
          <a:xfrm flipV="1">
            <a:off x="2845851" y="4365705"/>
            <a:ext cx="871880" cy="709251"/>
          </a:xfrm>
          <a:prstGeom prst="bentConnector3">
            <a:avLst>
              <a:gd name="adj1" fmla="val 50000"/>
            </a:avLst>
          </a:prstGeom>
          <a:noFill/>
          <a:ln w="12700">
            <a:solidFill>
              <a:srgbClr val="003300"/>
            </a:solidFill>
            <a:miter lim="800000"/>
            <a:headEnd/>
            <a:tailEnd/>
          </a:ln>
        </p:spPr>
      </p:cxnSp>
      <p:sp>
        <p:nvSpPr>
          <p:cNvPr id="16" name="Rectangle 42">
            <a:extLst>
              <a:ext uri="{FF2B5EF4-FFF2-40B4-BE49-F238E27FC236}">
                <a16:creationId xmlns:a16="http://schemas.microsoft.com/office/drawing/2014/main" id="{15A3B6F6-5111-5609-6E51-F6E77AA6A017}"/>
              </a:ext>
            </a:extLst>
          </p:cNvPr>
          <p:cNvSpPr>
            <a:spLocks noChangeArrowheads="1"/>
          </p:cNvSpPr>
          <p:nvPr/>
        </p:nvSpPr>
        <p:spPr bwMode="auto">
          <a:xfrm>
            <a:off x="4925030" y="5278571"/>
            <a:ext cx="1170970" cy="283556"/>
          </a:xfrm>
          <a:prstGeom prst="roundRect">
            <a:avLst>
              <a:gd name="adj" fmla="val 50000"/>
            </a:avLst>
          </a:prstGeom>
          <a:solidFill>
            <a:schemeClr val="accent4"/>
          </a:solidFill>
          <a:ln>
            <a:solidFill>
              <a:schemeClr val="accent4"/>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E7E6E6">
                    <a:lumMod val="50000"/>
                  </a:srgbClr>
                </a:solidFill>
                <a:effectLst/>
                <a:uLnTx/>
                <a:uFillTx/>
                <a:latin typeface="Rix모던고딕 B"/>
                <a:ea typeface="Rix모던고딕 B"/>
                <a:cs typeface="+mn-cs"/>
              </a:rPr>
              <a:t>불통지</a:t>
            </a:r>
          </a:p>
        </p:txBody>
      </p:sp>
      <p:cxnSp>
        <p:nvCxnSpPr>
          <p:cNvPr id="23" name="AutoShape 55">
            <a:extLst>
              <a:ext uri="{FF2B5EF4-FFF2-40B4-BE49-F238E27FC236}">
                <a16:creationId xmlns:a16="http://schemas.microsoft.com/office/drawing/2014/main" id="{6DE1B58A-BC4A-C7E6-BD0C-72C08C1A58C7}"/>
              </a:ext>
            </a:extLst>
          </p:cNvPr>
          <p:cNvCxnSpPr>
            <a:cxnSpLocks noChangeShapeType="1"/>
            <a:stCxn id="20" idx="3"/>
            <a:endCxn id="16" idx="1"/>
          </p:cNvCxnSpPr>
          <p:nvPr/>
        </p:nvCxnSpPr>
        <p:spPr bwMode="auto">
          <a:xfrm>
            <a:off x="2845851" y="5074956"/>
            <a:ext cx="2079179" cy="345393"/>
          </a:xfrm>
          <a:prstGeom prst="bentConnector3">
            <a:avLst>
              <a:gd name="adj1" fmla="val 50000"/>
            </a:avLst>
          </a:prstGeom>
          <a:noFill/>
          <a:ln w="12700">
            <a:solidFill>
              <a:srgbClr val="003300"/>
            </a:solidFill>
            <a:miter lim="800000"/>
            <a:headEnd/>
            <a:tailEnd/>
          </a:ln>
        </p:spPr>
      </p:cxnSp>
    </p:spTree>
    <p:extLst>
      <p:ext uri="{BB962C8B-B14F-4D97-AF65-F5344CB8AC3E}">
        <p14:creationId xmlns:p14="http://schemas.microsoft.com/office/powerpoint/2010/main" val="986232874"/>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직무발명</a:t>
            </a:r>
          </a:p>
        </p:txBody>
      </p:sp>
      <p:sp>
        <p:nvSpPr>
          <p:cNvPr id="4" name="텍스트 개체 틀 3"/>
          <p:cNvSpPr>
            <a:spLocks noGrp="1"/>
          </p:cNvSpPr>
          <p:nvPr>
            <p:ph type="body" sz="quarter" idx="13"/>
          </p:nvPr>
        </p:nvSpPr>
        <p:spPr/>
        <p:txBody>
          <a:bodyPr/>
          <a:lstStyle/>
          <a:p>
            <a:r>
              <a:rPr lang="ko-KR" altLang="en-US" dirty="0"/>
              <a:t>정당한 보상액의 결정</a:t>
            </a:r>
          </a:p>
        </p:txBody>
      </p:sp>
      <p:sp>
        <p:nvSpPr>
          <p:cNvPr id="32" name="TextBox 31"/>
          <p:cNvSpPr txBox="1"/>
          <p:nvPr/>
        </p:nvSpPr>
        <p:spPr>
          <a:xfrm>
            <a:off x="761715" y="1150625"/>
            <a:ext cx="840897" cy="338554"/>
          </a:xfrm>
          <a:prstGeom prst="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black"/>
                </a:solidFill>
                <a:effectLst/>
                <a:uLnTx/>
                <a:uFillTx/>
                <a:latin typeface="Frutiger LT 65 Bold"/>
                <a:ea typeface="Rix모던고딕 B"/>
                <a:cs typeface="+mn-cs"/>
              </a:rPr>
              <a:t>기존</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4" name="TextBox 23"/>
          <p:cNvSpPr txBox="1"/>
          <p:nvPr/>
        </p:nvSpPr>
        <p:spPr>
          <a:xfrm>
            <a:off x="761715" y="2098892"/>
            <a:ext cx="840897" cy="338554"/>
          </a:xfrm>
          <a:prstGeom prst="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현재</a:t>
            </a:r>
          </a:p>
        </p:txBody>
      </p:sp>
      <p:sp>
        <p:nvSpPr>
          <p:cNvPr id="29" name="TextBox 28"/>
          <p:cNvSpPr txBox="1"/>
          <p:nvPr/>
        </p:nvSpPr>
        <p:spPr>
          <a:xfrm>
            <a:off x="1611879" y="1150625"/>
            <a:ext cx="4577253" cy="338554"/>
          </a:xfrm>
          <a:prstGeom prst="rect">
            <a:avLst/>
          </a:prstGeom>
          <a:noFill/>
          <a:ln>
            <a:no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사용자 등이 얻을 이익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종업원 등이 공헌한 정도</a:t>
            </a:r>
          </a:p>
        </p:txBody>
      </p:sp>
      <p:cxnSp>
        <p:nvCxnSpPr>
          <p:cNvPr id="11" name="직선 화살표 연결선 10"/>
          <p:cNvCxnSpPr>
            <a:stCxn id="32" idx="2"/>
            <a:endCxn id="24" idx="0"/>
          </p:cNvCxnSpPr>
          <p:nvPr/>
        </p:nvCxnSpPr>
        <p:spPr>
          <a:xfrm>
            <a:off x="1182164" y="1489179"/>
            <a:ext cx="0" cy="609713"/>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1247813" y="1563202"/>
            <a:ext cx="5940387" cy="461665"/>
          </a:xfrm>
          <a:prstGeom prst="rect">
            <a:avLst/>
          </a:prstGeom>
          <a:noFill/>
          <a:ln>
            <a:noFill/>
          </a:ln>
        </p:spPr>
        <p:txBody>
          <a:bodyPr wrap="square" rtlCol="0">
            <a:spAutoFit/>
          </a:bodyPr>
          <a:lstStyle/>
          <a:p>
            <a:pPr marL="171450" marR="0" lvl="0" indent="-171450" algn="l" defTabSz="914400" rtl="0" eaLnBrk="1" fontAlgn="auto"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법원에서 최종적으로 결정될 수 있어 대립과 반목을 통한 해결 조장</a:t>
            </a:r>
            <a:endParaRPr kumimoji="0" lang="en-US" altLang="ko-KR" sz="12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endParaRPr>
          </a:p>
          <a:p>
            <a:pPr marL="171450" marR="0" lvl="0" indent="-171450" algn="l" defTabSz="914400" rtl="0" eaLnBrk="1" fontAlgn="auto"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종업원 등이 공헌한 정도가 높게 평가되는 추세</a:t>
            </a:r>
            <a:r>
              <a:rPr kumimoji="0" lang="en-US" altLang="ko-KR" sz="12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srgbClr val="ED7D31">
                    <a:lumMod val="50000"/>
                  </a:srgbClr>
                </a:solidFill>
                <a:effectLst/>
                <a:uLnTx/>
                <a:uFillTx/>
                <a:latin typeface="Frutiger LT 65 Bold"/>
                <a:ea typeface="Rix모던고딕 B"/>
                <a:cs typeface="+mn-cs"/>
              </a:rPr>
              <a:t>니치아</a:t>
            </a:r>
            <a:r>
              <a:rPr kumimoji="0" lang="ko-KR" altLang="en-US" sz="12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 화학 사건에서 </a:t>
            </a:r>
            <a:r>
              <a:rPr kumimoji="0" lang="en-US" altLang="ko-KR" sz="12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50% </a:t>
            </a:r>
            <a:r>
              <a:rPr kumimoji="0" lang="ko-KR" altLang="en-US" sz="12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인정</a:t>
            </a:r>
            <a:r>
              <a:rPr kumimoji="0" lang="en-US" altLang="ko-KR" sz="12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endParaRPr>
          </a:p>
        </p:txBody>
      </p:sp>
      <p:sp>
        <p:nvSpPr>
          <p:cNvPr id="31" name="TextBox 30"/>
          <p:cNvSpPr txBox="1"/>
          <p:nvPr/>
        </p:nvSpPr>
        <p:spPr>
          <a:xfrm>
            <a:off x="2023062" y="2098892"/>
            <a:ext cx="3598806" cy="338554"/>
          </a:xfrm>
          <a:prstGeom prst="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합리적 절차에 의하여 보상액을 정한 경우</a:t>
            </a:r>
          </a:p>
        </p:txBody>
      </p:sp>
      <p:sp>
        <p:nvSpPr>
          <p:cNvPr id="34" name="TextBox 33"/>
          <p:cNvSpPr txBox="1"/>
          <p:nvPr/>
        </p:nvSpPr>
        <p:spPr>
          <a:xfrm>
            <a:off x="2023062" y="2612385"/>
            <a:ext cx="3598806" cy="338554"/>
          </a:xfrm>
          <a:prstGeom prst="rect">
            <a:avLst/>
          </a:prstGeom>
          <a:solidFill>
            <a:schemeClr val="tx2">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Otherwise</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5" name="TextBox 34"/>
          <p:cNvSpPr txBox="1"/>
          <p:nvPr/>
        </p:nvSpPr>
        <p:spPr>
          <a:xfrm>
            <a:off x="5621867" y="2098055"/>
            <a:ext cx="4577253" cy="338554"/>
          </a:xfrm>
          <a:prstGeom prst="rect">
            <a:avLst/>
          </a:prstGeom>
          <a:noFill/>
          <a:ln>
            <a:no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그 보상을 정당한 보상으로 간주</a:t>
            </a:r>
          </a:p>
        </p:txBody>
      </p:sp>
      <p:sp>
        <p:nvSpPr>
          <p:cNvPr id="36" name="TextBox 35"/>
          <p:cNvSpPr txBox="1"/>
          <p:nvPr/>
        </p:nvSpPr>
        <p:spPr>
          <a:xfrm>
            <a:off x="5621867" y="2612385"/>
            <a:ext cx="5689600" cy="338554"/>
          </a:xfrm>
          <a:prstGeom prst="rect">
            <a:avLst/>
          </a:prstGeom>
          <a:noFill/>
          <a:ln>
            <a:no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사용자 등이 얻을 이익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종업원 등이 공헌한 정도</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기존과 동일</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4" name="꺾인 연결선 13"/>
          <p:cNvCxnSpPr>
            <a:cxnSpLocks/>
            <a:stCxn id="24" idx="3"/>
            <a:endCxn id="31" idx="1"/>
          </p:cNvCxnSpPr>
          <p:nvPr/>
        </p:nvCxnSpPr>
        <p:spPr>
          <a:xfrm>
            <a:off x="1602612" y="2268169"/>
            <a:ext cx="420450"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cxnSpLocks/>
            <a:stCxn id="24" idx="3"/>
            <a:endCxn id="34" idx="1"/>
          </p:cNvCxnSpPr>
          <p:nvPr/>
        </p:nvCxnSpPr>
        <p:spPr>
          <a:xfrm>
            <a:off x="1602612" y="2268169"/>
            <a:ext cx="420450" cy="51349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8" name="다이어그램 37"/>
          <p:cNvGraphicFramePr/>
          <p:nvPr/>
        </p:nvGraphicFramePr>
        <p:xfrm>
          <a:off x="211675" y="3674960"/>
          <a:ext cx="1709355" cy="25516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9" name="직사각형 38"/>
          <p:cNvSpPr/>
          <p:nvPr/>
        </p:nvSpPr>
        <p:spPr>
          <a:xfrm>
            <a:off x="1750581" y="3668564"/>
            <a:ext cx="10356752" cy="646331"/>
          </a:xfrm>
          <a:prstGeom prst="rect">
            <a:avLst/>
          </a:prstGeom>
        </p:spPr>
        <p:txBody>
          <a:bodyPr wrap="square">
            <a:spAutoFit/>
          </a:bodyP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사용자 등은 보상에 대하여 보상형태와 보상액을 결정하기 위한 기준</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지급방법 등이 명시된 보상규정을 작성하고 종업원 등에게 서면으로 알려야 한다</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發振法</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15②). </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사용자 등 등은 보상규정의 작성 또는 변경에 관하여 종업원 등과 협의하여야 한다</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發振法</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15③). </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다만</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보상규정을 종업원 등에게 불리하게 변경하는 경우에는 해당 계약 또는 규정의 적용을 받는 종업원 등의 과반수의 동의를 받아야 한다</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發振法</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15③). </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0" name="직사각형 39"/>
          <p:cNvSpPr/>
          <p:nvPr/>
        </p:nvSpPr>
        <p:spPr>
          <a:xfrm>
            <a:off x="1750581" y="4642949"/>
            <a:ext cx="9217024" cy="276999"/>
          </a:xfrm>
          <a:prstGeom prst="rect">
            <a:avLst/>
          </a:prstGeom>
        </p:spPr>
        <p:txBody>
          <a:bodyPr wrap="square">
            <a:spAutoFit/>
          </a:bodyP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사용자 등은 보상을 받을 종업원 등에게 보상규정에 따라 결정된 보상액 등 보상의 구체적 사항을 서면으로 알려야 한다</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發振法</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15④). </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3" name="직사각형 42"/>
          <p:cNvSpPr/>
          <p:nvPr/>
        </p:nvSpPr>
        <p:spPr>
          <a:xfrm>
            <a:off x="1750581" y="5565484"/>
            <a:ext cx="10136624" cy="646331"/>
          </a:xfrm>
          <a:prstGeom prst="rect">
            <a:avLst/>
          </a:prstGeom>
        </p:spPr>
        <p:txBody>
          <a:bodyPr wrap="square">
            <a:spAutoFit/>
          </a:bodyP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사용자 등이 발명진흥법 제</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15</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항부터 제</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4</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항까지의 규정에 따라 종업원 등에게 보상한 경우에는 정당한 보상을 한 것으로 본다</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다만</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그 보상액이 직무발명에 의하여 「사용자 등이 얻을 이익」과 「그 발명의 완성에 사용자 등과 종업원 등이 공헌한 정도」를 고려하지 아니한 경우에는 그러하지 아니하다</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發振法</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15⑥).</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45" name="직선 연결선 44"/>
          <p:cNvCxnSpPr/>
          <p:nvPr/>
        </p:nvCxnSpPr>
        <p:spPr>
          <a:xfrm>
            <a:off x="143939" y="3166530"/>
            <a:ext cx="11743266"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120</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855490485"/>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직무발명</a:t>
            </a:r>
          </a:p>
        </p:txBody>
      </p:sp>
      <p:sp>
        <p:nvSpPr>
          <p:cNvPr id="4" name="텍스트 개체 틀 3"/>
          <p:cNvSpPr>
            <a:spLocks noGrp="1"/>
          </p:cNvSpPr>
          <p:nvPr>
            <p:ph type="body" sz="quarter" idx="13"/>
          </p:nvPr>
        </p:nvSpPr>
        <p:spPr/>
        <p:txBody>
          <a:bodyPr/>
          <a:lstStyle/>
          <a:p>
            <a:r>
              <a:rPr lang="ko-KR" altLang="en-US" dirty="0"/>
              <a:t>직무발명제도의 도입절차</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121</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pic>
        <p:nvPicPr>
          <p:cNvPr id="6" name="Picture 2" descr="http://employeeinvention.net/web/front/jinvt/images/16page_img.gif">
            <a:extLst>
              <a:ext uri="{FF2B5EF4-FFF2-40B4-BE49-F238E27FC236}">
                <a16:creationId xmlns:a16="http://schemas.microsoft.com/office/drawing/2014/main" id="{9839EEA4-1A2E-4D87-A394-C9E40229A9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88407" y="951012"/>
            <a:ext cx="6667500" cy="5562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2222965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r>
              <a:rPr lang="en-US" altLang="ko-KR" dirty="0"/>
              <a:t>, </a:t>
            </a:r>
            <a:r>
              <a:rPr lang="ko-KR" altLang="en-US" dirty="0"/>
              <a:t>제</a:t>
            </a:r>
            <a:r>
              <a:rPr lang="en-US" altLang="ko-KR" dirty="0"/>
              <a:t>42</a:t>
            </a:r>
            <a:r>
              <a:rPr lang="ko-KR" altLang="en-US" dirty="0"/>
              <a:t>조의</a:t>
            </a:r>
            <a:r>
              <a:rPr lang="en-US" altLang="ko-KR" dirty="0"/>
              <a:t>2</a:t>
            </a:r>
            <a:endParaRPr lang="ko-KR" altLang="en-US" dirty="0"/>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특허출원에 필요한 서류 및 심사</a:t>
            </a:r>
          </a:p>
        </p:txBody>
      </p:sp>
      <p:sp>
        <p:nvSpPr>
          <p:cNvPr id="31" name="직사각형 30"/>
          <p:cNvSpPr/>
          <p:nvPr/>
        </p:nvSpPr>
        <p:spPr>
          <a:xfrm>
            <a:off x="1397063" y="1739976"/>
            <a:ext cx="844027" cy="592930"/>
          </a:xfrm>
          <a:prstGeom prst="rect">
            <a:avLst/>
          </a:prstGeom>
          <a:solidFill>
            <a:schemeClr val="accent1">
              <a:lumMod val="7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특허출원</a:t>
            </a:r>
            <a:endParaRPr kumimoji="0" lang="en-US" altLang="ko-KR"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42)</a:t>
            </a:r>
            <a:endParaRPr kumimoji="0" lang="ko-KR" altLang="en-US"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endParaRPr>
          </a:p>
        </p:txBody>
      </p:sp>
      <p:sp>
        <p:nvSpPr>
          <p:cNvPr id="32" name="직사각형 31"/>
          <p:cNvSpPr/>
          <p:nvPr/>
        </p:nvSpPr>
        <p:spPr>
          <a:xfrm>
            <a:off x="2548803" y="1323602"/>
            <a:ext cx="505106" cy="416373"/>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제출서류</a:t>
            </a:r>
          </a:p>
        </p:txBody>
      </p:sp>
      <p:sp>
        <p:nvSpPr>
          <p:cNvPr id="33" name="직사각형 32"/>
          <p:cNvSpPr/>
          <p:nvPr/>
        </p:nvSpPr>
        <p:spPr>
          <a:xfrm>
            <a:off x="3294284" y="1323602"/>
            <a:ext cx="733269" cy="416373"/>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출원서</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42①)</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nvGrpSpPr>
          <p:cNvPr id="162" name="그룹 161"/>
          <p:cNvGrpSpPr/>
          <p:nvPr/>
        </p:nvGrpSpPr>
        <p:grpSpPr>
          <a:xfrm>
            <a:off x="4245437" y="1337542"/>
            <a:ext cx="1653271" cy="1066469"/>
            <a:chOff x="4612062" y="1091999"/>
            <a:chExt cx="2014837" cy="1066469"/>
          </a:xfrm>
        </p:grpSpPr>
        <p:sp>
          <p:nvSpPr>
            <p:cNvPr id="42" name="직사각형 41"/>
            <p:cNvSpPr/>
            <p:nvPr/>
          </p:nvSpPr>
          <p:spPr>
            <a:xfrm>
              <a:off x="4612062" y="1091999"/>
              <a:ext cx="2014837" cy="202373"/>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발명의 명칭</a:t>
              </a:r>
            </a:p>
          </p:txBody>
        </p:sp>
        <p:sp>
          <p:nvSpPr>
            <p:cNvPr id="44" name="직사각형 43"/>
            <p:cNvSpPr/>
            <p:nvPr/>
          </p:nvSpPr>
          <p:spPr>
            <a:xfrm>
              <a:off x="4612062" y="1380031"/>
              <a:ext cx="2014837" cy="202373"/>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출원인의 성명 및 주소</a:t>
              </a:r>
            </a:p>
          </p:txBody>
        </p:sp>
        <p:sp>
          <p:nvSpPr>
            <p:cNvPr id="47" name="직사각형 46"/>
            <p:cNvSpPr/>
            <p:nvPr/>
          </p:nvSpPr>
          <p:spPr>
            <a:xfrm>
              <a:off x="4612062" y="1668063"/>
              <a:ext cx="2014837" cy="202373"/>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대리인의 성명 및 주소</a:t>
              </a:r>
            </a:p>
          </p:txBody>
        </p:sp>
        <p:sp>
          <p:nvSpPr>
            <p:cNvPr id="48" name="직사각형 47"/>
            <p:cNvSpPr/>
            <p:nvPr/>
          </p:nvSpPr>
          <p:spPr>
            <a:xfrm>
              <a:off x="4612062" y="1956095"/>
              <a:ext cx="2014837" cy="202373"/>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발명자의 성명 및 주소</a:t>
              </a:r>
            </a:p>
          </p:txBody>
        </p:sp>
      </p:grpSp>
      <p:sp>
        <p:nvSpPr>
          <p:cNvPr id="50" name="직사각형 49"/>
          <p:cNvSpPr/>
          <p:nvPr/>
        </p:nvSpPr>
        <p:spPr>
          <a:xfrm>
            <a:off x="3294284" y="2564259"/>
            <a:ext cx="733269" cy="383344"/>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첨부서류</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42②)</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nvGrpSpPr>
          <p:cNvPr id="169" name="그룹 168"/>
          <p:cNvGrpSpPr/>
          <p:nvPr/>
        </p:nvGrpSpPr>
        <p:grpSpPr>
          <a:xfrm>
            <a:off x="5383593" y="2551559"/>
            <a:ext cx="1167040" cy="504056"/>
            <a:chOff x="5978827" y="2306016"/>
            <a:chExt cx="1584176" cy="504056"/>
          </a:xfrm>
        </p:grpSpPr>
        <p:sp>
          <p:nvSpPr>
            <p:cNvPr id="53" name="직사각형 52"/>
            <p:cNvSpPr/>
            <p:nvPr/>
          </p:nvSpPr>
          <p:spPr>
            <a:xfrm>
              <a:off x="5978827" y="2306016"/>
              <a:ext cx="1584176" cy="216024"/>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발명의 설명</a:t>
              </a:r>
            </a:p>
          </p:txBody>
        </p:sp>
        <p:sp>
          <p:nvSpPr>
            <p:cNvPr id="56" name="직사각형 55"/>
            <p:cNvSpPr/>
            <p:nvPr/>
          </p:nvSpPr>
          <p:spPr>
            <a:xfrm>
              <a:off x="5978827" y="2594048"/>
              <a:ext cx="1584176" cy="216024"/>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청구범위</a:t>
              </a:r>
            </a:p>
          </p:txBody>
        </p:sp>
      </p:grpSp>
      <p:grpSp>
        <p:nvGrpSpPr>
          <p:cNvPr id="168" name="그룹 167"/>
          <p:cNvGrpSpPr/>
          <p:nvPr/>
        </p:nvGrpSpPr>
        <p:grpSpPr>
          <a:xfrm>
            <a:off x="4244050" y="2547739"/>
            <a:ext cx="960392" cy="808608"/>
            <a:chOff x="4610675" y="2302196"/>
            <a:chExt cx="1117228" cy="808608"/>
          </a:xfrm>
        </p:grpSpPr>
        <p:sp>
          <p:nvSpPr>
            <p:cNvPr id="57" name="직사각형 56"/>
            <p:cNvSpPr/>
            <p:nvPr/>
          </p:nvSpPr>
          <p:spPr>
            <a:xfrm>
              <a:off x="4610675" y="2302196"/>
              <a:ext cx="1117228" cy="232544"/>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명세서</a:t>
              </a:r>
            </a:p>
          </p:txBody>
        </p:sp>
        <p:sp>
          <p:nvSpPr>
            <p:cNvPr id="58" name="직사각형 57"/>
            <p:cNvSpPr/>
            <p:nvPr/>
          </p:nvSpPr>
          <p:spPr>
            <a:xfrm>
              <a:off x="4610675" y="2590228"/>
              <a:ext cx="1117228" cy="232544"/>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필요한 도면</a:t>
              </a:r>
            </a:p>
          </p:txBody>
        </p:sp>
        <p:sp>
          <p:nvSpPr>
            <p:cNvPr id="59" name="직사각형 58"/>
            <p:cNvSpPr/>
            <p:nvPr/>
          </p:nvSpPr>
          <p:spPr>
            <a:xfrm>
              <a:off x="4610675" y="2878260"/>
              <a:ext cx="1117228" cy="232544"/>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요약서</a:t>
              </a:r>
            </a:p>
          </p:txBody>
        </p:sp>
      </p:grpSp>
      <p:cxnSp>
        <p:nvCxnSpPr>
          <p:cNvPr id="61" name="꺾인 연결선 60"/>
          <p:cNvCxnSpPr>
            <a:stCxn id="32" idx="3"/>
            <a:endCxn id="50" idx="1"/>
          </p:cNvCxnSpPr>
          <p:nvPr/>
        </p:nvCxnSpPr>
        <p:spPr>
          <a:xfrm>
            <a:off x="3053909" y="1531789"/>
            <a:ext cx="240375" cy="122414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꺾인 연결선 61"/>
          <p:cNvCxnSpPr>
            <a:stCxn id="33" idx="3"/>
            <a:endCxn id="42" idx="1"/>
          </p:cNvCxnSpPr>
          <p:nvPr/>
        </p:nvCxnSpPr>
        <p:spPr>
          <a:xfrm flipV="1">
            <a:off x="4027553" y="1438729"/>
            <a:ext cx="217884" cy="9306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꺾인 연결선 62"/>
          <p:cNvCxnSpPr>
            <a:stCxn id="33" idx="3"/>
            <a:endCxn id="48" idx="1"/>
          </p:cNvCxnSpPr>
          <p:nvPr/>
        </p:nvCxnSpPr>
        <p:spPr>
          <a:xfrm>
            <a:off x="4027553" y="1531789"/>
            <a:ext cx="217884" cy="77103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꺾인 연결선 63"/>
          <p:cNvCxnSpPr>
            <a:stCxn id="33" idx="3"/>
            <a:endCxn id="44" idx="1"/>
          </p:cNvCxnSpPr>
          <p:nvPr/>
        </p:nvCxnSpPr>
        <p:spPr>
          <a:xfrm>
            <a:off x="4027553" y="1531789"/>
            <a:ext cx="217884" cy="19497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33" idx="3"/>
            <a:endCxn id="47" idx="1"/>
          </p:cNvCxnSpPr>
          <p:nvPr/>
        </p:nvCxnSpPr>
        <p:spPr>
          <a:xfrm>
            <a:off x="4027553" y="1531789"/>
            <a:ext cx="217884" cy="48300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꺾인 연결선 66"/>
          <p:cNvCxnSpPr>
            <a:stCxn id="50" idx="3"/>
            <a:endCxn id="58" idx="1"/>
          </p:cNvCxnSpPr>
          <p:nvPr/>
        </p:nvCxnSpPr>
        <p:spPr>
          <a:xfrm>
            <a:off x="4027553" y="2755931"/>
            <a:ext cx="216497" cy="19611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꺾인 연결선 67"/>
          <p:cNvCxnSpPr>
            <a:stCxn id="50" idx="3"/>
            <a:endCxn id="59" idx="1"/>
          </p:cNvCxnSpPr>
          <p:nvPr/>
        </p:nvCxnSpPr>
        <p:spPr>
          <a:xfrm>
            <a:off x="4027553" y="2755931"/>
            <a:ext cx="216497" cy="48414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꺾인 연결선 68"/>
          <p:cNvCxnSpPr>
            <a:stCxn id="57" idx="3"/>
            <a:endCxn id="56" idx="1"/>
          </p:cNvCxnSpPr>
          <p:nvPr/>
        </p:nvCxnSpPr>
        <p:spPr>
          <a:xfrm>
            <a:off x="5204442" y="2664011"/>
            <a:ext cx="179151" cy="28359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69"/>
          <p:cNvCxnSpPr>
            <a:stCxn id="57" idx="3"/>
            <a:endCxn id="53" idx="1"/>
          </p:cNvCxnSpPr>
          <p:nvPr/>
        </p:nvCxnSpPr>
        <p:spPr>
          <a:xfrm flipV="1">
            <a:off x="5204442" y="2659571"/>
            <a:ext cx="179151" cy="444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직사각형 70"/>
          <p:cNvSpPr/>
          <p:nvPr/>
        </p:nvSpPr>
        <p:spPr>
          <a:xfrm>
            <a:off x="2548802" y="3483842"/>
            <a:ext cx="505107" cy="396189"/>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기재방법</a:t>
            </a:r>
          </a:p>
        </p:txBody>
      </p:sp>
      <p:sp>
        <p:nvSpPr>
          <p:cNvPr id="72" name="직사각형 71"/>
          <p:cNvSpPr/>
          <p:nvPr/>
        </p:nvSpPr>
        <p:spPr>
          <a:xfrm>
            <a:off x="3853104" y="3483843"/>
            <a:ext cx="2440114" cy="216024"/>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발명의 설명</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42③) </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3" name="직사각형 72"/>
          <p:cNvSpPr/>
          <p:nvPr/>
        </p:nvSpPr>
        <p:spPr>
          <a:xfrm>
            <a:off x="4357913" y="3771875"/>
            <a:ext cx="1872208" cy="216313"/>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일반적 기재</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42③Ⅰ) </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4" name="직사각형 73"/>
          <p:cNvSpPr/>
          <p:nvPr/>
        </p:nvSpPr>
        <p:spPr>
          <a:xfrm>
            <a:off x="4357913" y="4059907"/>
            <a:ext cx="1872208" cy="216313"/>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배경기술 기재</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42③Ⅱ) </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7" name="꺾인 연결선 76"/>
          <p:cNvCxnSpPr>
            <a:endCxn id="74" idx="1"/>
          </p:cNvCxnSpPr>
          <p:nvPr/>
        </p:nvCxnSpPr>
        <p:spPr>
          <a:xfrm rot="16200000" flipH="1">
            <a:off x="3958635" y="3768785"/>
            <a:ext cx="468197" cy="330360"/>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직사각형 77"/>
          <p:cNvSpPr/>
          <p:nvPr/>
        </p:nvSpPr>
        <p:spPr>
          <a:xfrm>
            <a:off x="3853104" y="4359021"/>
            <a:ext cx="2440114" cy="521481"/>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청구항의 기재원칙</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42④)</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청구항의 구성요소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기재방법</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42⑥)</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다항제</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기재방법</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42⑧)</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9" name="직사각형 78"/>
          <p:cNvSpPr/>
          <p:nvPr/>
        </p:nvSpPr>
        <p:spPr>
          <a:xfrm>
            <a:off x="3853104" y="4951677"/>
            <a:ext cx="2440114" cy="414878"/>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7800" marR="0" lvl="0" indent="-17780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발명의 설명</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도면 및 요약서의 기재방법</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42⑨)</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80" name="꺾인 연결선 79"/>
          <p:cNvCxnSpPr>
            <a:stCxn id="71" idx="3"/>
            <a:endCxn id="78" idx="1"/>
          </p:cNvCxnSpPr>
          <p:nvPr/>
        </p:nvCxnSpPr>
        <p:spPr>
          <a:xfrm>
            <a:off x="3053909" y="3681937"/>
            <a:ext cx="799195" cy="9378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꺾인 연결선 80"/>
          <p:cNvCxnSpPr>
            <a:stCxn id="71" idx="3"/>
            <a:endCxn id="79" idx="1"/>
          </p:cNvCxnSpPr>
          <p:nvPr/>
        </p:nvCxnSpPr>
        <p:spPr>
          <a:xfrm>
            <a:off x="3053909" y="3681937"/>
            <a:ext cx="799195" cy="147717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꺾인 연결선 81"/>
          <p:cNvCxnSpPr>
            <a:stCxn id="31" idx="3"/>
            <a:endCxn id="71" idx="1"/>
          </p:cNvCxnSpPr>
          <p:nvPr/>
        </p:nvCxnSpPr>
        <p:spPr>
          <a:xfrm>
            <a:off x="2241090" y="2036441"/>
            <a:ext cx="307712" cy="1645496"/>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꺾인 연결선 82"/>
          <p:cNvCxnSpPr>
            <a:stCxn id="31" idx="3"/>
            <a:endCxn id="32" idx="1"/>
          </p:cNvCxnSpPr>
          <p:nvPr/>
        </p:nvCxnSpPr>
        <p:spPr>
          <a:xfrm flipV="1">
            <a:off x="2241090" y="1531789"/>
            <a:ext cx="307713" cy="504652"/>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직사각형 85"/>
          <p:cNvSpPr/>
          <p:nvPr/>
        </p:nvSpPr>
        <p:spPr>
          <a:xfrm>
            <a:off x="1397063" y="5409685"/>
            <a:ext cx="844027" cy="576064"/>
          </a:xfrm>
          <a:prstGeom prst="rect">
            <a:avLst/>
          </a:prstGeom>
          <a:solidFill>
            <a:schemeClr val="accent2">
              <a:lumMod val="7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청구범위</a:t>
            </a:r>
            <a:endParaRPr kumimoji="0" lang="en-US" altLang="ko-KR"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제출유예</a:t>
            </a:r>
            <a:endParaRPr kumimoji="0" lang="en-US" altLang="ko-KR"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42</a:t>
            </a:r>
            <a:r>
              <a:rPr kumimoji="0" lang="ko-KR" altLang="en-US"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의</a:t>
            </a:r>
            <a:r>
              <a:rPr kumimoji="0" lang="en-US" altLang="ko-KR"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2)</a:t>
            </a:r>
            <a:endParaRPr kumimoji="0" lang="ko-KR" altLang="en-US" sz="11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endParaRPr>
          </a:p>
        </p:txBody>
      </p:sp>
      <p:cxnSp>
        <p:nvCxnSpPr>
          <p:cNvPr id="89" name="꺾인 연결선 88"/>
          <p:cNvCxnSpPr>
            <a:stCxn id="86" idx="3"/>
            <a:endCxn id="88" idx="1"/>
          </p:cNvCxnSpPr>
          <p:nvPr/>
        </p:nvCxnSpPr>
        <p:spPr>
          <a:xfrm>
            <a:off x="2241090" y="5697717"/>
            <a:ext cx="313537" cy="206861"/>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꺾인 연결선 89"/>
          <p:cNvCxnSpPr>
            <a:stCxn id="86" idx="3"/>
            <a:endCxn id="87" idx="1"/>
          </p:cNvCxnSpPr>
          <p:nvPr/>
        </p:nvCxnSpPr>
        <p:spPr>
          <a:xfrm flipV="1">
            <a:off x="2241090" y="5616546"/>
            <a:ext cx="313537" cy="81171"/>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7" name="직사각형 86"/>
          <p:cNvSpPr/>
          <p:nvPr/>
        </p:nvSpPr>
        <p:spPr>
          <a:xfrm>
            <a:off x="2554627" y="5508534"/>
            <a:ext cx="1537402" cy="216024"/>
          </a:xfrm>
          <a:prstGeom prst="rect">
            <a:avLst/>
          </a:prstGeom>
          <a:solidFill>
            <a:schemeClr val="accent2">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의의</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2①)</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8" name="직사각형 87"/>
          <p:cNvSpPr/>
          <p:nvPr/>
        </p:nvSpPr>
        <p:spPr>
          <a:xfrm>
            <a:off x="2554627" y="5796566"/>
            <a:ext cx="1537402" cy="216024"/>
          </a:xfrm>
          <a:prstGeom prst="rect">
            <a:avLst/>
          </a:prstGeom>
          <a:solidFill>
            <a:schemeClr val="accent2">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유예기간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2②)</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1" name="직사각형 90"/>
          <p:cNvSpPr/>
          <p:nvPr/>
        </p:nvSpPr>
        <p:spPr>
          <a:xfrm>
            <a:off x="2555849" y="6084598"/>
            <a:ext cx="1537402" cy="216024"/>
          </a:xfrm>
          <a:prstGeom prst="rect">
            <a:avLst/>
          </a:prstGeom>
          <a:solidFill>
            <a:schemeClr val="accent2">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不제출효과</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2③)</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4" name="직사각형 93"/>
          <p:cNvSpPr/>
          <p:nvPr/>
        </p:nvSpPr>
        <p:spPr>
          <a:xfrm>
            <a:off x="190655" y="3350235"/>
            <a:ext cx="930166" cy="637953"/>
          </a:xfrm>
          <a:prstGeom prst="rect">
            <a:avLst/>
          </a:prstGeom>
          <a:solidFill>
            <a:schemeClr val="accent3">
              <a:lumMod val="5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FFC000"/>
                </a:solidFill>
                <a:effectLst/>
                <a:uLnTx/>
                <a:uFillTx/>
                <a:latin typeface="Frutiger LT 65 Bold"/>
                <a:ea typeface="Rix모던고딕 B"/>
                <a:cs typeface="+mn-cs"/>
              </a:rPr>
              <a:t>특허출원</a:t>
            </a:r>
            <a:endParaRPr kumimoji="0" lang="en-US" altLang="ko-KR" sz="1400" b="0" i="0" u="none" strike="noStrike" kern="1200" cap="none" spc="0" normalizeH="0" baseline="0" noProof="0" dirty="0">
              <a:ln>
                <a:noFill/>
              </a:ln>
              <a:solidFill>
                <a:srgbClr val="FFC000"/>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FFC000"/>
                </a:solidFill>
                <a:effectLst/>
                <a:uLnTx/>
                <a:uFillTx/>
                <a:latin typeface="Frutiger LT 65 Bold"/>
                <a:ea typeface="Rix모던고딕 B"/>
                <a:cs typeface="+mn-cs"/>
              </a:rPr>
              <a:t>필요서류</a:t>
            </a:r>
          </a:p>
        </p:txBody>
      </p:sp>
      <p:cxnSp>
        <p:nvCxnSpPr>
          <p:cNvPr id="164" name="꺾인 연결선 163"/>
          <p:cNvCxnSpPr>
            <a:stCxn id="32" idx="3"/>
            <a:endCxn id="33" idx="1"/>
          </p:cNvCxnSpPr>
          <p:nvPr/>
        </p:nvCxnSpPr>
        <p:spPr>
          <a:xfrm>
            <a:off x="3053909" y="1531789"/>
            <a:ext cx="240375"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6" name="꺾인 연결선 165"/>
          <p:cNvCxnSpPr>
            <a:stCxn id="50" idx="3"/>
            <a:endCxn id="57" idx="1"/>
          </p:cNvCxnSpPr>
          <p:nvPr/>
        </p:nvCxnSpPr>
        <p:spPr>
          <a:xfrm flipV="1">
            <a:off x="4027553" y="2664011"/>
            <a:ext cx="216497" cy="9192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9" name="꺾인 연결선 178"/>
          <p:cNvCxnSpPr>
            <a:stCxn id="71" idx="3"/>
            <a:endCxn id="72" idx="1"/>
          </p:cNvCxnSpPr>
          <p:nvPr/>
        </p:nvCxnSpPr>
        <p:spPr>
          <a:xfrm flipV="1">
            <a:off x="3053909" y="3591855"/>
            <a:ext cx="799195" cy="9008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1" name="꺾인 연결선 200"/>
          <p:cNvCxnSpPr>
            <a:stCxn id="94" idx="3"/>
            <a:endCxn id="31" idx="1"/>
          </p:cNvCxnSpPr>
          <p:nvPr/>
        </p:nvCxnSpPr>
        <p:spPr>
          <a:xfrm flipV="1">
            <a:off x="1120821" y="2036441"/>
            <a:ext cx="276242" cy="163277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3" name="꺾인 연결선 202"/>
          <p:cNvCxnSpPr>
            <a:stCxn id="94" idx="3"/>
            <a:endCxn id="86" idx="1"/>
          </p:cNvCxnSpPr>
          <p:nvPr/>
        </p:nvCxnSpPr>
        <p:spPr>
          <a:xfrm>
            <a:off x="1120821" y="3669212"/>
            <a:ext cx="276242" cy="2028505"/>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2" name="직선 연결선 211"/>
          <p:cNvCxnSpPr>
            <a:stCxn id="73" idx="1"/>
          </p:cNvCxnSpPr>
          <p:nvPr/>
        </p:nvCxnSpPr>
        <p:spPr>
          <a:xfrm flipH="1" flipV="1">
            <a:off x="4027553" y="3880031"/>
            <a:ext cx="330360" cy="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7" name="꺾인 연결선 216"/>
          <p:cNvCxnSpPr>
            <a:stCxn id="86" idx="3"/>
            <a:endCxn id="91" idx="1"/>
          </p:cNvCxnSpPr>
          <p:nvPr/>
        </p:nvCxnSpPr>
        <p:spPr>
          <a:xfrm>
            <a:off x="2241090" y="5697717"/>
            <a:ext cx="314759" cy="49489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8" name="자유형 217"/>
          <p:cNvSpPr/>
          <p:nvPr/>
        </p:nvSpPr>
        <p:spPr>
          <a:xfrm>
            <a:off x="1809317" y="2946400"/>
            <a:ext cx="4876800" cy="3572933"/>
          </a:xfrm>
          <a:custGeom>
            <a:avLst/>
            <a:gdLst>
              <a:gd name="connsiteX0" fmla="*/ 4732867 w 4876800"/>
              <a:gd name="connsiteY0" fmla="*/ 0 h 3572933"/>
              <a:gd name="connsiteX1" fmla="*/ 4876800 w 4876800"/>
              <a:gd name="connsiteY1" fmla="*/ 0 h 3572933"/>
              <a:gd name="connsiteX2" fmla="*/ 4876800 w 4876800"/>
              <a:gd name="connsiteY2" fmla="*/ 3572933 h 3572933"/>
              <a:gd name="connsiteX3" fmla="*/ 0 w 4876800"/>
              <a:gd name="connsiteY3" fmla="*/ 3572933 h 3572933"/>
              <a:gd name="connsiteX4" fmla="*/ 0 w 4876800"/>
              <a:gd name="connsiteY4" fmla="*/ 3056467 h 3572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3572933">
                <a:moveTo>
                  <a:pt x="4732867" y="0"/>
                </a:moveTo>
                <a:lnTo>
                  <a:pt x="4876800" y="0"/>
                </a:lnTo>
                <a:lnTo>
                  <a:pt x="4876800" y="3572933"/>
                </a:lnTo>
                <a:lnTo>
                  <a:pt x="0" y="3572933"/>
                </a:lnTo>
                <a:lnTo>
                  <a:pt x="0" y="3056467"/>
                </a:lnTo>
              </a:path>
            </a:pathLst>
          </a:custGeom>
          <a:ln w="28575">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cxnSp>
        <p:nvCxnSpPr>
          <p:cNvPr id="219" name="직선 연결선 218"/>
          <p:cNvCxnSpPr/>
          <p:nvPr/>
        </p:nvCxnSpPr>
        <p:spPr>
          <a:xfrm>
            <a:off x="7011812" y="1095555"/>
            <a:ext cx="0" cy="5633049"/>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직선 연결선 221"/>
          <p:cNvCxnSpPr>
            <a:stCxn id="230" idx="2"/>
            <a:endCxn id="233" idx="0"/>
          </p:cNvCxnSpPr>
          <p:nvPr/>
        </p:nvCxnSpPr>
        <p:spPr>
          <a:xfrm>
            <a:off x="8586694" y="1595958"/>
            <a:ext cx="0" cy="99060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0" name="직사각형 229"/>
          <p:cNvSpPr/>
          <p:nvPr/>
        </p:nvSpPr>
        <p:spPr>
          <a:xfrm>
            <a:off x="7977614" y="1278458"/>
            <a:ext cx="1218160" cy="31750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출원서류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작성</a:t>
            </a:r>
          </a:p>
        </p:txBody>
      </p:sp>
      <p:sp>
        <p:nvSpPr>
          <p:cNvPr id="231" name="직사각형 230"/>
          <p:cNvSpPr/>
          <p:nvPr/>
        </p:nvSpPr>
        <p:spPr>
          <a:xfrm>
            <a:off x="7977614" y="1710258"/>
            <a:ext cx="1218160" cy="31750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출원서</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제출</a:t>
            </a:r>
          </a:p>
        </p:txBody>
      </p:sp>
      <p:sp>
        <p:nvSpPr>
          <p:cNvPr id="232" name="직사각형 231"/>
          <p:cNvSpPr/>
          <p:nvPr/>
        </p:nvSpPr>
        <p:spPr>
          <a:xfrm>
            <a:off x="7977614" y="2154758"/>
            <a:ext cx="1218160" cy="31750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출원료</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납부</a:t>
            </a:r>
          </a:p>
        </p:txBody>
      </p:sp>
      <p:sp>
        <p:nvSpPr>
          <p:cNvPr id="233" name="직사각형 232"/>
          <p:cNvSpPr/>
          <p:nvPr/>
        </p:nvSpPr>
        <p:spPr>
          <a:xfrm>
            <a:off x="7977614" y="2586558"/>
            <a:ext cx="1218160" cy="317500"/>
          </a:xfrm>
          <a:prstGeom prst="rect">
            <a:avLst/>
          </a:prstGeom>
          <a:solidFill>
            <a:schemeClr val="accent3">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srgbClr val="FFC000"/>
                </a:solidFill>
                <a:effectLst/>
                <a:uLnTx/>
                <a:uFillTx/>
                <a:latin typeface="Frutiger LT 65 Bold"/>
                <a:ea typeface="Rix모던고딕 B"/>
                <a:cs typeface="+mn-cs"/>
              </a:rPr>
              <a:t>방식심사</a:t>
            </a:r>
            <a:endPar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endParaRPr>
          </a:p>
        </p:txBody>
      </p:sp>
      <p:cxnSp>
        <p:nvCxnSpPr>
          <p:cNvPr id="234" name="직선 연결선 233"/>
          <p:cNvCxnSpPr/>
          <p:nvPr/>
        </p:nvCxnSpPr>
        <p:spPr>
          <a:xfrm flipV="1">
            <a:off x="7725460" y="1278458"/>
            <a:ext cx="252154" cy="54610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5" name="직선 연결선 234"/>
          <p:cNvCxnSpPr/>
          <p:nvPr/>
        </p:nvCxnSpPr>
        <p:spPr>
          <a:xfrm>
            <a:off x="7725460" y="2291283"/>
            <a:ext cx="252154" cy="612775"/>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6" name="직선 연결선 235"/>
          <p:cNvCxnSpPr>
            <a:stCxn id="237" idx="2"/>
            <a:endCxn id="240" idx="0"/>
          </p:cNvCxnSpPr>
          <p:nvPr/>
        </p:nvCxnSpPr>
        <p:spPr>
          <a:xfrm>
            <a:off x="8586694" y="3348349"/>
            <a:ext cx="0" cy="990600"/>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7" name="직사각형 236"/>
          <p:cNvSpPr/>
          <p:nvPr/>
        </p:nvSpPr>
        <p:spPr>
          <a:xfrm>
            <a:off x="7977614" y="3030849"/>
            <a:ext cx="1218160" cy="31750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심사청구서</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작성</a:t>
            </a:r>
          </a:p>
        </p:txBody>
      </p:sp>
      <p:sp>
        <p:nvSpPr>
          <p:cNvPr id="238" name="직사각형 237"/>
          <p:cNvSpPr/>
          <p:nvPr/>
        </p:nvSpPr>
        <p:spPr>
          <a:xfrm>
            <a:off x="7977614" y="3462649"/>
            <a:ext cx="1218160" cy="31750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심사청구서</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제출</a:t>
            </a:r>
          </a:p>
        </p:txBody>
      </p:sp>
      <p:sp>
        <p:nvSpPr>
          <p:cNvPr id="239" name="직사각형 238"/>
          <p:cNvSpPr/>
          <p:nvPr/>
        </p:nvSpPr>
        <p:spPr>
          <a:xfrm>
            <a:off x="7977614" y="3907149"/>
            <a:ext cx="1218160" cy="31750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심사청구료</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납부</a:t>
            </a:r>
          </a:p>
        </p:txBody>
      </p:sp>
      <p:sp>
        <p:nvSpPr>
          <p:cNvPr id="240" name="직사각형 239"/>
          <p:cNvSpPr/>
          <p:nvPr/>
        </p:nvSpPr>
        <p:spPr>
          <a:xfrm>
            <a:off x="7977614" y="4338949"/>
            <a:ext cx="1218160" cy="31750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방식심사</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41" name="직선 연결선 240"/>
          <p:cNvCxnSpPr/>
          <p:nvPr/>
        </p:nvCxnSpPr>
        <p:spPr>
          <a:xfrm flipV="1">
            <a:off x="7725460" y="3030849"/>
            <a:ext cx="252154" cy="546100"/>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직선 연결선 241"/>
          <p:cNvCxnSpPr/>
          <p:nvPr/>
        </p:nvCxnSpPr>
        <p:spPr>
          <a:xfrm>
            <a:off x="7725460" y="4043674"/>
            <a:ext cx="252154" cy="616686"/>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직사각형 223"/>
          <p:cNvSpPr/>
          <p:nvPr/>
        </p:nvSpPr>
        <p:spPr>
          <a:xfrm>
            <a:off x="7246204" y="1824558"/>
            <a:ext cx="479256" cy="48260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sp>
        <p:nvSpPr>
          <p:cNvPr id="225" name="직사각형 224"/>
          <p:cNvSpPr/>
          <p:nvPr/>
        </p:nvSpPr>
        <p:spPr>
          <a:xfrm>
            <a:off x="7246204" y="3593952"/>
            <a:ext cx="479256" cy="48260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심사청구</a:t>
            </a:r>
          </a:p>
        </p:txBody>
      </p:sp>
      <p:sp>
        <p:nvSpPr>
          <p:cNvPr id="226" name="직사각형 225"/>
          <p:cNvSpPr/>
          <p:nvPr/>
        </p:nvSpPr>
        <p:spPr>
          <a:xfrm>
            <a:off x="7246204" y="5303940"/>
            <a:ext cx="479256" cy="482600"/>
          </a:xfrm>
          <a:prstGeom prst="rect">
            <a:avLst/>
          </a:prstGeom>
          <a:solidFill>
            <a:schemeClr val="accent3">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실체심사</a:t>
            </a:r>
          </a:p>
        </p:txBody>
      </p:sp>
      <p:cxnSp>
        <p:nvCxnSpPr>
          <p:cNvPr id="228" name="직선 화살표 연결선 227"/>
          <p:cNvCxnSpPr>
            <a:stCxn id="224" idx="2"/>
            <a:endCxn id="225" idx="0"/>
          </p:cNvCxnSpPr>
          <p:nvPr/>
        </p:nvCxnSpPr>
        <p:spPr>
          <a:xfrm>
            <a:off x="7485832" y="2307158"/>
            <a:ext cx="0" cy="1286794"/>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9" name="직선 화살표 연결선 228"/>
          <p:cNvCxnSpPr>
            <a:stCxn id="225" idx="2"/>
            <a:endCxn id="226" idx="0"/>
          </p:cNvCxnSpPr>
          <p:nvPr/>
        </p:nvCxnSpPr>
        <p:spPr>
          <a:xfrm>
            <a:off x="7485832" y="4076552"/>
            <a:ext cx="0" cy="1227388"/>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58" name="직사각형 257"/>
          <p:cNvSpPr/>
          <p:nvPr/>
        </p:nvSpPr>
        <p:spPr>
          <a:xfrm>
            <a:off x="9507910" y="2102111"/>
            <a:ext cx="646965" cy="31839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흠결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60" name="직사각형 259"/>
          <p:cNvSpPr/>
          <p:nvPr/>
        </p:nvSpPr>
        <p:spPr>
          <a:xfrm>
            <a:off x="9507910" y="2589433"/>
            <a:ext cx="646965" cy="31839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흠결</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262" name="직사각형 261"/>
          <p:cNvSpPr/>
          <p:nvPr/>
        </p:nvSpPr>
        <p:spPr>
          <a:xfrm>
            <a:off x="10366547" y="2593197"/>
            <a:ext cx="1573889" cy="3183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 무효</a:t>
            </a:r>
            <a:r>
              <a:rPr kumimoji="0" lang="en-US" altLang="ko-KR" sz="105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a:t>
            </a:r>
            <a:r>
              <a:rPr kumimoji="0" lang="ko-KR" altLang="en-US" sz="105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방식위반</a:t>
            </a:r>
            <a:r>
              <a:rPr kumimoji="0" lang="en-US" altLang="ko-KR" sz="105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a:t>
            </a:r>
            <a:endParaRPr kumimoji="0" lang="ko-KR" altLang="en-US" sz="105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endParaRPr>
          </a:p>
        </p:txBody>
      </p:sp>
      <p:sp>
        <p:nvSpPr>
          <p:cNvPr id="263" name="직사각형 262"/>
          <p:cNvSpPr/>
          <p:nvPr/>
        </p:nvSpPr>
        <p:spPr>
          <a:xfrm>
            <a:off x="10366547" y="3080519"/>
            <a:ext cx="1573889" cy="3183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불수리</a:t>
            </a:r>
          </a:p>
        </p:txBody>
      </p:sp>
      <p:sp>
        <p:nvSpPr>
          <p:cNvPr id="265" name="직사각형 264"/>
          <p:cNvSpPr/>
          <p:nvPr/>
        </p:nvSpPr>
        <p:spPr>
          <a:xfrm>
            <a:off x="7977614" y="4780224"/>
            <a:ext cx="1218160" cy="317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주체적 요건</a:t>
            </a:r>
          </a:p>
        </p:txBody>
      </p:sp>
      <p:sp>
        <p:nvSpPr>
          <p:cNvPr id="266" name="직사각형 265"/>
          <p:cNvSpPr/>
          <p:nvPr/>
        </p:nvSpPr>
        <p:spPr>
          <a:xfrm>
            <a:off x="7977614" y="5212024"/>
            <a:ext cx="1218160" cy="317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실체적 요건</a:t>
            </a:r>
          </a:p>
        </p:txBody>
      </p:sp>
      <p:sp>
        <p:nvSpPr>
          <p:cNvPr id="267" name="직사각형 266"/>
          <p:cNvSpPr/>
          <p:nvPr/>
        </p:nvSpPr>
        <p:spPr>
          <a:xfrm>
            <a:off x="7977614" y="5656524"/>
            <a:ext cx="1218160" cy="317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조약 위반</a:t>
            </a:r>
          </a:p>
        </p:txBody>
      </p:sp>
      <p:sp>
        <p:nvSpPr>
          <p:cNvPr id="268" name="직사각형 267"/>
          <p:cNvSpPr/>
          <p:nvPr/>
        </p:nvSpPr>
        <p:spPr>
          <a:xfrm>
            <a:off x="7977614" y="6088324"/>
            <a:ext cx="1218160" cy="317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절차적 요건</a:t>
            </a:r>
          </a:p>
        </p:txBody>
      </p:sp>
      <p:sp>
        <p:nvSpPr>
          <p:cNvPr id="269" name="직사각형 268"/>
          <p:cNvSpPr/>
          <p:nvPr/>
        </p:nvSpPr>
        <p:spPr>
          <a:xfrm>
            <a:off x="9195774" y="5232318"/>
            <a:ext cx="2744662" cy="276999"/>
          </a:xfrm>
          <a:prstGeom prst="rect">
            <a:avLst/>
          </a:prstGeom>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 거절이유</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정보제공사유</a:t>
            </a:r>
            <a:r>
              <a:rPr kumimoji="0" lang="en-US" altLang="ko-KR"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특허무효사유</a:t>
            </a:r>
          </a:p>
        </p:txBody>
      </p:sp>
      <p:sp>
        <p:nvSpPr>
          <p:cNvPr id="270" name="직사각형 269"/>
          <p:cNvSpPr/>
          <p:nvPr/>
        </p:nvSpPr>
        <p:spPr>
          <a:xfrm>
            <a:off x="9203768" y="6108574"/>
            <a:ext cx="917239" cy="276999"/>
          </a:xfrm>
          <a:prstGeom prst="rect">
            <a:avLst/>
          </a:prstGeom>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 거절이유</a:t>
            </a:r>
          </a:p>
        </p:txBody>
      </p:sp>
      <p:cxnSp>
        <p:nvCxnSpPr>
          <p:cNvPr id="272" name="꺾인 연결선 271"/>
          <p:cNvCxnSpPr>
            <a:stCxn id="233" idx="3"/>
            <a:endCxn id="258" idx="1"/>
          </p:cNvCxnSpPr>
          <p:nvPr/>
        </p:nvCxnSpPr>
        <p:spPr>
          <a:xfrm flipV="1">
            <a:off x="9195774" y="2261307"/>
            <a:ext cx="312136" cy="48400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4" name="꺾인 연결선 273"/>
          <p:cNvCxnSpPr>
            <a:stCxn id="233" idx="3"/>
            <a:endCxn id="260" idx="1"/>
          </p:cNvCxnSpPr>
          <p:nvPr/>
        </p:nvCxnSpPr>
        <p:spPr>
          <a:xfrm>
            <a:off x="9195774" y="2745308"/>
            <a:ext cx="312136" cy="332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6" name="꺾인 연결선 275"/>
          <p:cNvCxnSpPr>
            <a:stCxn id="260" idx="3"/>
            <a:endCxn id="262" idx="1"/>
          </p:cNvCxnSpPr>
          <p:nvPr/>
        </p:nvCxnSpPr>
        <p:spPr>
          <a:xfrm>
            <a:off x="10154875" y="2748629"/>
            <a:ext cx="211672" cy="376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꺾인 연결선 277"/>
          <p:cNvCxnSpPr>
            <a:stCxn id="260" idx="3"/>
            <a:endCxn id="263" idx="1"/>
          </p:cNvCxnSpPr>
          <p:nvPr/>
        </p:nvCxnSpPr>
        <p:spPr>
          <a:xfrm>
            <a:off x="10154875" y="2748629"/>
            <a:ext cx="211672" cy="49108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꺾인 연결선 279"/>
          <p:cNvCxnSpPr>
            <a:stCxn id="226" idx="3"/>
            <a:endCxn id="265" idx="1"/>
          </p:cNvCxnSpPr>
          <p:nvPr/>
        </p:nvCxnSpPr>
        <p:spPr>
          <a:xfrm flipV="1">
            <a:off x="7725460" y="4938974"/>
            <a:ext cx="252154" cy="60626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꺾인 연결선 281"/>
          <p:cNvCxnSpPr>
            <a:stCxn id="226" idx="3"/>
            <a:endCxn id="266" idx="1"/>
          </p:cNvCxnSpPr>
          <p:nvPr/>
        </p:nvCxnSpPr>
        <p:spPr>
          <a:xfrm flipV="1">
            <a:off x="7725460" y="5370774"/>
            <a:ext cx="252154" cy="17446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4" name="꺾인 연결선 283"/>
          <p:cNvCxnSpPr>
            <a:stCxn id="226" idx="3"/>
            <a:endCxn id="267" idx="1"/>
          </p:cNvCxnSpPr>
          <p:nvPr/>
        </p:nvCxnSpPr>
        <p:spPr>
          <a:xfrm>
            <a:off x="7725460" y="5545240"/>
            <a:ext cx="252154" cy="27003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6" name="꺾인 연결선 285"/>
          <p:cNvCxnSpPr>
            <a:stCxn id="226" idx="3"/>
            <a:endCxn id="268" idx="1"/>
          </p:cNvCxnSpPr>
          <p:nvPr/>
        </p:nvCxnSpPr>
        <p:spPr>
          <a:xfrm>
            <a:off x="7725460" y="5545240"/>
            <a:ext cx="252154" cy="70183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122</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4207224482"/>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r>
              <a:rPr lang="en-US" altLang="ko-KR" dirty="0"/>
              <a:t>, </a:t>
            </a:r>
            <a:r>
              <a:rPr lang="ko-KR" altLang="en-US" dirty="0"/>
              <a:t>제</a:t>
            </a:r>
            <a:r>
              <a:rPr lang="en-US" altLang="ko-KR" dirty="0"/>
              <a:t>42</a:t>
            </a:r>
            <a:r>
              <a:rPr lang="ko-KR" altLang="en-US" dirty="0"/>
              <a:t>조의</a:t>
            </a:r>
            <a:r>
              <a:rPr lang="en-US" altLang="ko-KR" dirty="0"/>
              <a:t>2</a:t>
            </a:r>
            <a:endParaRPr lang="ko-KR" altLang="en-US" dirty="0"/>
          </a:p>
        </p:txBody>
      </p:sp>
      <p:sp>
        <p:nvSpPr>
          <p:cNvPr id="4" name="텍스트 개체 틀 3"/>
          <p:cNvSpPr>
            <a:spLocks noGrp="1"/>
          </p:cNvSpPr>
          <p:nvPr>
            <p:ph type="body" sz="quarter" idx="13"/>
          </p:nvPr>
        </p:nvSpPr>
        <p:spPr/>
        <p:txBody>
          <a:bodyPr/>
          <a:lstStyle/>
          <a:p>
            <a:r>
              <a:rPr lang="ko-KR" altLang="en-US" dirty="0">
                <a:solidFill>
                  <a:srgbClr val="525252"/>
                </a:solidFill>
              </a:rPr>
              <a:t>특허출원에 필요한 서류의</a:t>
            </a:r>
            <a:r>
              <a:rPr lang="en-US" altLang="ko-KR" dirty="0">
                <a:solidFill>
                  <a:srgbClr val="525252"/>
                </a:solidFill>
              </a:rPr>
              <a:t> </a:t>
            </a:r>
            <a:r>
              <a:rPr lang="ko-KR" altLang="en-US" dirty="0">
                <a:solidFill>
                  <a:srgbClr val="525252"/>
                </a:solidFill>
              </a:rPr>
              <a:t>핵심내용</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123</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graphicFrame>
        <p:nvGraphicFramePr>
          <p:cNvPr id="5" name="표 5">
            <a:extLst>
              <a:ext uri="{FF2B5EF4-FFF2-40B4-BE49-F238E27FC236}">
                <a16:creationId xmlns:a16="http://schemas.microsoft.com/office/drawing/2014/main" id="{3844575E-C7A6-47EA-98AD-CB6BB89DCDC5}"/>
              </a:ext>
            </a:extLst>
          </p:cNvPr>
          <p:cNvGraphicFramePr>
            <a:graphicFrameLocks noGrp="1"/>
          </p:cNvGraphicFramePr>
          <p:nvPr/>
        </p:nvGraphicFramePr>
        <p:xfrm>
          <a:off x="1570008" y="1107854"/>
          <a:ext cx="10230928" cy="5241187"/>
        </p:xfrm>
        <a:graphic>
          <a:graphicData uri="http://schemas.openxmlformats.org/drawingml/2006/table">
            <a:tbl>
              <a:tblPr>
                <a:tableStyleId>{8799B23B-EC83-4686-B30A-512413B5E67A}</a:tableStyleId>
              </a:tblPr>
              <a:tblGrid>
                <a:gridCol w="706547">
                  <a:extLst>
                    <a:ext uri="{9D8B030D-6E8A-4147-A177-3AD203B41FA5}">
                      <a16:colId xmlns:a16="http://schemas.microsoft.com/office/drawing/2014/main" val="3909132318"/>
                    </a:ext>
                  </a:extLst>
                </a:gridCol>
                <a:gridCol w="785822">
                  <a:extLst>
                    <a:ext uri="{9D8B030D-6E8A-4147-A177-3AD203B41FA5}">
                      <a16:colId xmlns:a16="http://schemas.microsoft.com/office/drawing/2014/main" val="4228982774"/>
                    </a:ext>
                  </a:extLst>
                </a:gridCol>
                <a:gridCol w="2137697">
                  <a:extLst>
                    <a:ext uri="{9D8B030D-6E8A-4147-A177-3AD203B41FA5}">
                      <a16:colId xmlns:a16="http://schemas.microsoft.com/office/drawing/2014/main" val="3060407361"/>
                    </a:ext>
                  </a:extLst>
                </a:gridCol>
                <a:gridCol w="1437398">
                  <a:extLst>
                    <a:ext uri="{9D8B030D-6E8A-4147-A177-3AD203B41FA5}">
                      <a16:colId xmlns:a16="http://schemas.microsoft.com/office/drawing/2014/main" val="1639798372"/>
                    </a:ext>
                  </a:extLst>
                </a:gridCol>
                <a:gridCol w="2935692">
                  <a:extLst>
                    <a:ext uri="{9D8B030D-6E8A-4147-A177-3AD203B41FA5}">
                      <a16:colId xmlns:a16="http://schemas.microsoft.com/office/drawing/2014/main" val="2499683190"/>
                    </a:ext>
                  </a:extLst>
                </a:gridCol>
                <a:gridCol w="2227772">
                  <a:extLst>
                    <a:ext uri="{9D8B030D-6E8A-4147-A177-3AD203B41FA5}">
                      <a16:colId xmlns:a16="http://schemas.microsoft.com/office/drawing/2014/main" val="1187653640"/>
                    </a:ext>
                  </a:extLst>
                </a:gridCol>
              </a:tblGrid>
              <a:tr h="320889">
                <a:tc gridSpan="2">
                  <a:txBody>
                    <a:bodyPr/>
                    <a:lstStyle/>
                    <a:p>
                      <a:pPr algn="ctr" latinLnBrk="1"/>
                      <a:r>
                        <a:rPr lang="ko-KR" altLang="en-US" sz="1200" dirty="0"/>
                        <a:t>제출서류</a:t>
                      </a:r>
                    </a:p>
                  </a:txBody>
                  <a:tcPr anchor="ctr">
                    <a:solidFill>
                      <a:schemeClr val="accent1">
                        <a:lumMod val="40000"/>
                        <a:lumOff val="60000"/>
                      </a:schemeClr>
                    </a:solidFill>
                  </a:tcPr>
                </a:tc>
                <a:tc hMerge="1">
                  <a:txBody>
                    <a:bodyPr/>
                    <a:lstStyle/>
                    <a:p>
                      <a:pPr latinLnBrk="1"/>
                      <a:endParaRPr lang="ko-KR" altLang="en-US"/>
                    </a:p>
                  </a:txBody>
                  <a:tcPr/>
                </a:tc>
                <a:tc>
                  <a:txBody>
                    <a:bodyPr/>
                    <a:lstStyle/>
                    <a:p>
                      <a:pPr algn="ctr" latinLnBrk="1"/>
                      <a:r>
                        <a:rPr lang="ko-KR" altLang="en-US" sz="1200" dirty="0"/>
                        <a:t>역할</a:t>
                      </a:r>
                    </a:p>
                  </a:txBody>
                  <a:tcPr anchor="ctr">
                    <a:solidFill>
                      <a:schemeClr val="accent1">
                        <a:lumMod val="40000"/>
                        <a:lumOff val="60000"/>
                      </a:schemeClr>
                    </a:solidFill>
                  </a:tcPr>
                </a:tc>
                <a:tc gridSpan="2">
                  <a:txBody>
                    <a:bodyPr/>
                    <a:lstStyle/>
                    <a:p>
                      <a:pPr algn="ctr" latinLnBrk="1"/>
                      <a:r>
                        <a:rPr lang="ko-KR" altLang="en-US" sz="1200" dirty="0"/>
                        <a:t>기재방법</a:t>
                      </a:r>
                    </a:p>
                  </a:txBody>
                  <a:tcPr anchor="ctr">
                    <a:solidFill>
                      <a:schemeClr val="accent1">
                        <a:lumMod val="40000"/>
                        <a:lumOff val="60000"/>
                      </a:schemeClr>
                    </a:solidFill>
                  </a:tcPr>
                </a:tc>
                <a:tc hMerge="1">
                  <a:txBody>
                    <a:bodyPr/>
                    <a:lstStyle/>
                    <a:p>
                      <a:pPr latinLnBrk="1"/>
                      <a:endParaRPr lang="ko-KR" altLang="en-US"/>
                    </a:p>
                  </a:txBody>
                  <a:tcPr/>
                </a:tc>
                <a:tc>
                  <a:txBody>
                    <a:bodyPr/>
                    <a:lstStyle/>
                    <a:p>
                      <a:pPr algn="ctr" latinLnBrk="1"/>
                      <a:r>
                        <a:rPr lang="ko-KR" altLang="en-US" sz="1200" dirty="0"/>
                        <a:t>위반 취급</a:t>
                      </a:r>
                    </a:p>
                  </a:txBody>
                  <a:tcPr anchor="ctr">
                    <a:solidFill>
                      <a:schemeClr val="accent1">
                        <a:lumMod val="40000"/>
                        <a:lumOff val="60000"/>
                      </a:schemeClr>
                    </a:solidFill>
                  </a:tcPr>
                </a:tc>
                <a:extLst>
                  <a:ext uri="{0D108BD9-81ED-4DB2-BD59-A6C34878D82A}">
                    <a16:rowId xmlns:a16="http://schemas.microsoft.com/office/drawing/2014/main" val="4208590124"/>
                  </a:ext>
                </a:extLst>
              </a:tr>
              <a:tr h="534815">
                <a:tc gridSpan="2">
                  <a:txBody>
                    <a:bodyPr/>
                    <a:lstStyle/>
                    <a:p>
                      <a:pPr algn="ctr" latinLnBrk="1"/>
                      <a:r>
                        <a:rPr lang="ko-KR" altLang="en-US" sz="1200" dirty="0"/>
                        <a:t>출원서</a:t>
                      </a:r>
                    </a:p>
                  </a:txBody>
                  <a:tcPr anchor="ctr"/>
                </a:tc>
                <a:tc hMerge="1">
                  <a:txBody>
                    <a:bodyPr/>
                    <a:lstStyle/>
                    <a:p>
                      <a:pPr latinLnBrk="1"/>
                      <a:endParaRPr lang="ko-KR" altLang="en-US"/>
                    </a:p>
                  </a:txBody>
                  <a:tcPr/>
                </a:tc>
                <a:tc>
                  <a:txBody>
                    <a:bodyPr/>
                    <a:lstStyle/>
                    <a:p>
                      <a:pPr algn="ctr" latinLnBrk="1"/>
                      <a:r>
                        <a:rPr lang="ko-KR" altLang="en-US" sz="1200" dirty="0"/>
                        <a:t>출원과 관련된 각종 취지를 </a:t>
                      </a:r>
                      <a:endParaRPr lang="en-US" altLang="ko-KR" sz="1200" dirty="0"/>
                    </a:p>
                    <a:p>
                      <a:pPr algn="ctr" latinLnBrk="1"/>
                      <a:r>
                        <a:rPr lang="ko-KR" altLang="en-US" sz="1200" dirty="0"/>
                        <a:t>적은 서면</a:t>
                      </a:r>
                    </a:p>
                  </a:txBody>
                  <a:tcPr anchor="ctr"/>
                </a:tc>
                <a:tc gridSpan="2">
                  <a:txBody>
                    <a:bodyPr/>
                    <a:lstStyle/>
                    <a:p>
                      <a:pPr algn="ctr" latinLnBrk="1"/>
                      <a:r>
                        <a:rPr lang="ko-KR" altLang="en-US" sz="1200" dirty="0"/>
                        <a:t>제</a:t>
                      </a:r>
                      <a:r>
                        <a:rPr lang="en-US" altLang="ko-KR" sz="1200" dirty="0"/>
                        <a:t>42</a:t>
                      </a:r>
                      <a:r>
                        <a:rPr lang="ko-KR" altLang="en-US" sz="1200" dirty="0"/>
                        <a:t>조제</a:t>
                      </a:r>
                      <a:r>
                        <a:rPr lang="en-US" altLang="ko-KR" sz="1200" dirty="0"/>
                        <a:t>1</a:t>
                      </a:r>
                      <a:r>
                        <a:rPr lang="ko-KR" altLang="en-US" sz="1200" dirty="0" err="1"/>
                        <a:t>항각호</a:t>
                      </a:r>
                      <a:r>
                        <a:rPr lang="ko-KR" altLang="en-US" sz="1200" dirty="0"/>
                        <a:t> </a:t>
                      </a:r>
                      <a:r>
                        <a:rPr lang="en-US" altLang="ko-KR" sz="1200" dirty="0"/>
                        <a:t>+ @</a:t>
                      </a:r>
                      <a:endParaRPr lang="ko-KR" altLang="en-US" sz="1200" dirty="0"/>
                    </a:p>
                  </a:txBody>
                  <a:tcPr anchor="ctr"/>
                </a:tc>
                <a:tc hMerge="1">
                  <a:txBody>
                    <a:bodyPr/>
                    <a:lstStyle/>
                    <a:p>
                      <a:pPr latinLnBrk="1"/>
                      <a:endParaRPr lang="ko-KR" altLang="en-US"/>
                    </a:p>
                  </a:txBody>
                  <a:tcPr/>
                </a:tc>
                <a:tc>
                  <a:txBody>
                    <a:bodyPr/>
                    <a:lstStyle/>
                    <a:p>
                      <a:pPr algn="ctr" latinLnBrk="1"/>
                      <a:r>
                        <a:rPr lang="ko-KR" altLang="en-US" sz="1200" dirty="0"/>
                        <a:t>무효</a:t>
                      </a:r>
                      <a:r>
                        <a:rPr lang="en-US" altLang="ko-KR" sz="1200" dirty="0"/>
                        <a:t>, </a:t>
                      </a:r>
                      <a:r>
                        <a:rPr lang="ko-KR" altLang="en-US" sz="1200" dirty="0" err="1"/>
                        <a:t>불수리</a:t>
                      </a:r>
                      <a:endParaRPr lang="ko-KR" altLang="en-US" sz="1200" dirty="0"/>
                    </a:p>
                  </a:txBody>
                  <a:tcPr anchor="ctr"/>
                </a:tc>
                <a:extLst>
                  <a:ext uri="{0D108BD9-81ED-4DB2-BD59-A6C34878D82A}">
                    <a16:rowId xmlns:a16="http://schemas.microsoft.com/office/drawing/2014/main" val="972920730"/>
                  </a:ext>
                </a:extLst>
              </a:tr>
              <a:tr h="534815">
                <a:tc rowSpan="7">
                  <a:txBody>
                    <a:bodyPr/>
                    <a:lstStyle/>
                    <a:p>
                      <a:pPr algn="ctr" latinLnBrk="1"/>
                      <a:r>
                        <a:rPr lang="ko-KR" altLang="en-US" sz="1200" dirty="0"/>
                        <a:t>명세서</a:t>
                      </a:r>
                    </a:p>
                  </a:txBody>
                  <a:tcPr anchor="ctr"/>
                </a:tc>
                <a:tc rowSpan="3">
                  <a:txBody>
                    <a:bodyPr/>
                    <a:lstStyle/>
                    <a:p>
                      <a:pPr algn="ctr" latinLnBrk="1"/>
                      <a:r>
                        <a:rPr lang="ko-KR" altLang="en-US" sz="1200" dirty="0"/>
                        <a:t>발명의 </a:t>
                      </a:r>
                      <a:endParaRPr lang="en-US" altLang="ko-KR" sz="1200" dirty="0"/>
                    </a:p>
                    <a:p>
                      <a:pPr algn="ctr" latinLnBrk="1"/>
                      <a:r>
                        <a:rPr lang="ko-KR" altLang="en-US" sz="1200" dirty="0"/>
                        <a:t>설명</a:t>
                      </a:r>
                    </a:p>
                  </a:txBody>
                  <a:tcPr anchor="ctr"/>
                </a:tc>
                <a:tc rowSpan="3">
                  <a:txBody>
                    <a:bodyPr/>
                    <a:lstStyle/>
                    <a:p>
                      <a:pPr algn="ctr" latinLnBrk="1"/>
                      <a:r>
                        <a:rPr lang="ko-KR" altLang="en-US" sz="1200" dirty="0"/>
                        <a:t>발명의 공개</a:t>
                      </a:r>
                    </a:p>
                  </a:txBody>
                  <a:tcPr anchor="ctr"/>
                </a:tc>
                <a:tc rowSpan="2">
                  <a:txBody>
                    <a:bodyPr/>
                    <a:lstStyle/>
                    <a:p>
                      <a:pPr algn="ctr" latinLnBrk="1"/>
                      <a:r>
                        <a:rPr lang="ko-KR" altLang="en-US" sz="1200" dirty="0"/>
                        <a:t>실시가능요건</a:t>
                      </a:r>
                      <a:endParaRPr lang="en-US" altLang="ko-KR" sz="1200" dirty="0"/>
                    </a:p>
                    <a:p>
                      <a:pPr algn="ctr" latinLnBrk="1"/>
                      <a:r>
                        <a:rPr lang="en-US" altLang="ko-KR" sz="1200" dirty="0"/>
                        <a:t>(</a:t>
                      </a:r>
                      <a:r>
                        <a:rPr lang="ko-KR" altLang="en-US" sz="1200" dirty="0"/>
                        <a:t>제</a:t>
                      </a:r>
                      <a:r>
                        <a:rPr lang="en-US" altLang="ko-KR" sz="1200" dirty="0"/>
                        <a:t>42</a:t>
                      </a:r>
                      <a:r>
                        <a:rPr lang="ko-KR" altLang="en-US" sz="1200" dirty="0"/>
                        <a:t>조제</a:t>
                      </a:r>
                      <a:r>
                        <a:rPr lang="en-US" altLang="ko-KR" sz="1200" dirty="0"/>
                        <a:t>3</a:t>
                      </a:r>
                      <a:r>
                        <a:rPr lang="ko-KR" altLang="en-US" sz="1200" dirty="0"/>
                        <a:t>항</a:t>
                      </a:r>
                      <a:r>
                        <a:rPr lang="en-US" altLang="ko-KR" sz="1200" dirty="0"/>
                        <a:t>)</a:t>
                      </a:r>
                      <a:endParaRPr lang="ko-KR" altLang="en-US" sz="1200" dirty="0"/>
                    </a:p>
                  </a:txBody>
                  <a:tcPr anchor="ctr"/>
                </a:tc>
                <a:tc>
                  <a:txBody>
                    <a:bodyPr/>
                    <a:lstStyle/>
                    <a:p>
                      <a:pPr algn="ctr" latinLnBrk="1"/>
                      <a:r>
                        <a:rPr lang="ko-KR" altLang="en-US" sz="1200" dirty="0"/>
                        <a:t>일반적</a:t>
                      </a:r>
                      <a:endParaRPr lang="en-US" altLang="ko-KR" sz="1200" dirty="0"/>
                    </a:p>
                    <a:p>
                      <a:pPr algn="ctr" latinLnBrk="1"/>
                      <a:r>
                        <a:rPr lang="en-US" altLang="ko-KR" sz="1200" dirty="0"/>
                        <a:t>(</a:t>
                      </a:r>
                      <a:r>
                        <a:rPr lang="ko-KR" altLang="en-US" sz="1200" dirty="0"/>
                        <a:t>제</a:t>
                      </a:r>
                      <a:r>
                        <a:rPr lang="en-US" altLang="ko-KR" sz="1200" dirty="0"/>
                        <a:t>42</a:t>
                      </a:r>
                      <a:r>
                        <a:rPr lang="ko-KR" altLang="en-US" sz="1200" dirty="0"/>
                        <a:t>조제</a:t>
                      </a:r>
                      <a:r>
                        <a:rPr lang="en-US" altLang="ko-KR" sz="1200" dirty="0"/>
                        <a:t>3</a:t>
                      </a:r>
                      <a:r>
                        <a:rPr lang="ko-KR" altLang="en-US" sz="1200" dirty="0" err="1"/>
                        <a:t>항제</a:t>
                      </a:r>
                      <a:r>
                        <a:rPr lang="en-US" altLang="ko-KR" sz="1200" dirty="0"/>
                        <a:t>1</a:t>
                      </a:r>
                      <a:r>
                        <a:rPr lang="ko-KR" altLang="en-US" sz="1200" dirty="0"/>
                        <a:t>호</a:t>
                      </a:r>
                      <a:r>
                        <a:rPr lang="en-US" altLang="ko-KR" sz="1200" dirty="0"/>
                        <a:t>)</a:t>
                      </a:r>
                      <a:endParaRPr lang="ko-KR" altLang="en-US" sz="1200" dirty="0"/>
                    </a:p>
                  </a:txBody>
                  <a:tcPr anchor="ctr"/>
                </a:tc>
                <a:tc>
                  <a:txBody>
                    <a:bodyPr/>
                    <a:lstStyle/>
                    <a:p>
                      <a:pPr algn="ctr" latinLnBrk="1"/>
                      <a:r>
                        <a:rPr lang="ko-KR" altLang="en-US" sz="1200" dirty="0"/>
                        <a:t>거절이유</a:t>
                      </a:r>
                      <a:r>
                        <a:rPr lang="en-US" altLang="ko-KR" sz="1200" dirty="0"/>
                        <a:t>(</a:t>
                      </a:r>
                      <a:r>
                        <a:rPr lang="ko-KR" altLang="en-US" sz="1200" dirty="0"/>
                        <a:t>실체적 요건 위반</a:t>
                      </a:r>
                      <a:r>
                        <a:rPr lang="en-US" altLang="ko-KR" sz="1200" dirty="0"/>
                        <a:t>)</a:t>
                      </a:r>
                      <a:endParaRPr lang="ko-KR" altLang="en-US" sz="1200" dirty="0"/>
                    </a:p>
                  </a:txBody>
                  <a:tcPr anchor="ctr"/>
                </a:tc>
                <a:extLst>
                  <a:ext uri="{0D108BD9-81ED-4DB2-BD59-A6C34878D82A}">
                    <a16:rowId xmlns:a16="http://schemas.microsoft.com/office/drawing/2014/main" val="1594312117"/>
                  </a:ext>
                </a:extLst>
              </a:tr>
              <a:tr h="534815">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ko-KR" altLang="en-US" sz="1200" dirty="0"/>
                        <a:t>배경기술</a:t>
                      </a:r>
                      <a:endParaRPr lang="en-US" altLang="ko-KR" sz="1200" dirty="0"/>
                    </a:p>
                    <a:p>
                      <a:pPr algn="ctr" latinLnBrk="1"/>
                      <a:r>
                        <a:rPr lang="en-US" altLang="ko-KR" sz="1200" dirty="0"/>
                        <a:t>(</a:t>
                      </a:r>
                      <a:r>
                        <a:rPr lang="ko-KR" altLang="en-US" sz="1200" dirty="0"/>
                        <a:t>제</a:t>
                      </a:r>
                      <a:r>
                        <a:rPr lang="en-US" altLang="ko-KR" sz="1200" dirty="0"/>
                        <a:t>42</a:t>
                      </a:r>
                      <a:r>
                        <a:rPr lang="ko-KR" altLang="en-US" sz="1200" dirty="0"/>
                        <a:t>조제</a:t>
                      </a:r>
                      <a:r>
                        <a:rPr lang="en-US" altLang="ko-KR" sz="1200" dirty="0"/>
                        <a:t>3</a:t>
                      </a:r>
                      <a:r>
                        <a:rPr lang="ko-KR" altLang="en-US" sz="1200" dirty="0" err="1"/>
                        <a:t>항제</a:t>
                      </a:r>
                      <a:r>
                        <a:rPr lang="en-US" altLang="ko-KR" sz="1200" dirty="0"/>
                        <a:t>2</a:t>
                      </a:r>
                      <a:r>
                        <a:rPr lang="ko-KR" altLang="en-US" sz="1200" dirty="0"/>
                        <a:t>호</a:t>
                      </a:r>
                      <a:r>
                        <a:rPr lang="en-US" altLang="ko-KR" sz="1200" dirty="0"/>
                        <a:t>)</a:t>
                      </a:r>
                      <a:endParaRPr lang="ko-KR" altLang="en-US" sz="1200" dirty="0"/>
                    </a:p>
                  </a:txBody>
                  <a:tcPr anchor="ctr"/>
                </a:tc>
                <a:tc>
                  <a:txBody>
                    <a:bodyPr/>
                    <a:lstStyle/>
                    <a:p>
                      <a:pPr algn="ctr" latinLnBrk="1"/>
                      <a:r>
                        <a:rPr lang="ko-KR" altLang="en-US" sz="1200" dirty="0"/>
                        <a:t>거절이유</a:t>
                      </a:r>
                      <a:r>
                        <a:rPr lang="en-US" altLang="ko-KR" sz="1200" dirty="0"/>
                        <a:t>(</a:t>
                      </a:r>
                      <a:r>
                        <a:rPr lang="ko-KR" altLang="en-US" sz="1200" dirty="0"/>
                        <a:t>절차적 요건 위반</a:t>
                      </a:r>
                      <a:r>
                        <a:rPr lang="en-US" altLang="ko-KR" sz="1200" dirty="0"/>
                        <a:t>)</a:t>
                      </a:r>
                      <a:endParaRPr lang="ko-KR" altLang="en-US" sz="1200" dirty="0"/>
                    </a:p>
                  </a:txBody>
                  <a:tcPr anchor="ctr"/>
                </a:tc>
                <a:extLst>
                  <a:ext uri="{0D108BD9-81ED-4DB2-BD59-A6C34878D82A}">
                    <a16:rowId xmlns:a16="http://schemas.microsoft.com/office/drawing/2014/main" val="738989611"/>
                  </a:ext>
                </a:extLst>
              </a:tr>
              <a:tr h="534815">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ko-KR" altLang="en-US" sz="1200" dirty="0"/>
                        <a:t>기재방법요건</a:t>
                      </a:r>
                      <a:endParaRPr lang="en-US" altLang="ko-KR" sz="1200" dirty="0"/>
                    </a:p>
                    <a:p>
                      <a:pPr algn="ctr" latinLnBrk="1"/>
                      <a:r>
                        <a:rPr lang="en-US" altLang="ko-KR" sz="1200" dirty="0"/>
                        <a:t>(</a:t>
                      </a:r>
                      <a:r>
                        <a:rPr lang="ko-KR" altLang="en-US" sz="1200" dirty="0"/>
                        <a:t>제</a:t>
                      </a:r>
                      <a:r>
                        <a:rPr lang="en-US" altLang="ko-KR" sz="1200" dirty="0"/>
                        <a:t>42</a:t>
                      </a:r>
                      <a:r>
                        <a:rPr lang="ko-KR" altLang="en-US" sz="1200" dirty="0"/>
                        <a:t>조제</a:t>
                      </a:r>
                      <a:r>
                        <a:rPr lang="en-US" altLang="ko-KR" sz="1200" dirty="0"/>
                        <a:t>9</a:t>
                      </a:r>
                      <a:r>
                        <a:rPr lang="ko-KR" altLang="en-US" sz="1200" dirty="0"/>
                        <a:t>항</a:t>
                      </a:r>
                      <a:r>
                        <a:rPr lang="en-US" altLang="ko-KR" sz="1200" dirty="0"/>
                        <a:t>)</a:t>
                      </a:r>
                      <a:endParaRPr lang="ko-KR" altLang="en-US" sz="1200" dirty="0"/>
                    </a:p>
                  </a:txBody>
                  <a:tcPr anchor="ctr"/>
                </a:tc>
                <a:tc hMerge="1">
                  <a:txBody>
                    <a:bodyPr/>
                    <a:lstStyle/>
                    <a:p>
                      <a:pPr latinLnBrk="1"/>
                      <a:endParaRPr lang="ko-KR" altLang="en-US"/>
                    </a:p>
                  </a:txBody>
                  <a:tcPr/>
                </a:tc>
                <a:tc>
                  <a:txBody>
                    <a:bodyPr/>
                    <a:lstStyle/>
                    <a:p>
                      <a:pPr algn="ctr" latinLnBrk="1"/>
                      <a:r>
                        <a:rPr lang="ko-KR" altLang="en-US" sz="1200" dirty="0"/>
                        <a:t>무효</a:t>
                      </a:r>
                    </a:p>
                  </a:txBody>
                  <a:tcPr anchor="ctr"/>
                </a:tc>
                <a:extLst>
                  <a:ext uri="{0D108BD9-81ED-4DB2-BD59-A6C34878D82A}">
                    <a16:rowId xmlns:a16="http://schemas.microsoft.com/office/drawing/2014/main" val="1375196539"/>
                  </a:ext>
                </a:extLst>
              </a:tr>
              <a:tr h="534815">
                <a:tc vMerge="1">
                  <a:txBody>
                    <a:bodyPr/>
                    <a:lstStyle/>
                    <a:p>
                      <a:pPr algn="ctr" latinLnBrk="1"/>
                      <a:endParaRPr lang="ko-KR" altLang="en-US" sz="1200" dirty="0"/>
                    </a:p>
                  </a:txBody>
                  <a:tcPr anchor="ctr"/>
                </a:tc>
                <a:tc rowSpan="4">
                  <a:txBody>
                    <a:bodyPr/>
                    <a:lstStyle/>
                    <a:p>
                      <a:pPr algn="ctr" latinLnBrk="1"/>
                      <a:r>
                        <a:rPr lang="ko-KR" altLang="en-US" sz="1200" dirty="0"/>
                        <a:t>청구범위</a:t>
                      </a:r>
                    </a:p>
                  </a:txBody>
                  <a:tcPr anchor="ctr"/>
                </a:tc>
                <a:tc rowSpan="4">
                  <a:txBody>
                    <a:bodyPr/>
                    <a:lstStyle/>
                    <a:p>
                      <a:pPr algn="ctr" latinLnBrk="1"/>
                      <a:r>
                        <a:rPr lang="ko-KR" altLang="en-US" sz="1200" dirty="0"/>
                        <a:t>발명의 보호</a:t>
                      </a:r>
                    </a:p>
                  </a:txBody>
                  <a:tcPr anchor="ctr"/>
                </a:tc>
                <a:tc rowSpan="2">
                  <a:txBody>
                    <a:bodyPr/>
                    <a:lstStyle/>
                    <a:p>
                      <a:pPr algn="ctr" latinLnBrk="1"/>
                      <a:r>
                        <a:rPr lang="ko-KR" altLang="en-US" sz="1200" dirty="0"/>
                        <a:t>기재원칙</a:t>
                      </a:r>
                      <a:endParaRPr lang="en-US" altLang="ko-KR" sz="1200" dirty="0"/>
                    </a:p>
                    <a:p>
                      <a:pPr algn="ctr" latinLnBrk="1"/>
                      <a:r>
                        <a:rPr lang="en-US" altLang="ko-KR" sz="1200" dirty="0"/>
                        <a:t>(</a:t>
                      </a:r>
                      <a:r>
                        <a:rPr lang="ko-KR" altLang="en-US" sz="1200" dirty="0"/>
                        <a:t>제</a:t>
                      </a:r>
                      <a:r>
                        <a:rPr lang="en-US" altLang="ko-KR" sz="1200" dirty="0"/>
                        <a:t>42</a:t>
                      </a:r>
                      <a:r>
                        <a:rPr lang="ko-KR" altLang="en-US" sz="1200" dirty="0"/>
                        <a:t>조제</a:t>
                      </a:r>
                      <a:r>
                        <a:rPr lang="en-US" altLang="ko-KR" sz="1200" dirty="0"/>
                        <a:t>4</a:t>
                      </a:r>
                      <a:r>
                        <a:rPr lang="ko-KR" altLang="en-US" sz="1200" dirty="0"/>
                        <a:t>항</a:t>
                      </a:r>
                      <a:r>
                        <a:rPr lang="en-US" altLang="ko-KR" sz="1200" dirty="0"/>
                        <a:t>)</a:t>
                      </a:r>
                      <a:endParaRPr lang="ko-KR" altLang="en-US" sz="1200" dirty="0"/>
                    </a:p>
                  </a:txBody>
                  <a:tcPr anchor="ctr"/>
                </a:tc>
                <a:tc>
                  <a:txBody>
                    <a:bodyPr/>
                    <a:lstStyle/>
                    <a:p>
                      <a:pPr algn="ctr" latinLnBrk="1"/>
                      <a:r>
                        <a:rPr lang="ko-KR" altLang="en-US" sz="1200" dirty="0"/>
                        <a:t>뒷받침 요건</a:t>
                      </a:r>
                      <a:endParaRPr lang="en-US" altLang="ko-KR" sz="1200" dirty="0"/>
                    </a:p>
                    <a:p>
                      <a:pPr algn="ctr" latinLnBrk="1"/>
                      <a:r>
                        <a:rPr lang="en-US" altLang="ko-KR" sz="1200" dirty="0"/>
                        <a:t>(</a:t>
                      </a:r>
                      <a:r>
                        <a:rPr lang="ko-KR" altLang="en-US" sz="1200" dirty="0"/>
                        <a:t>제</a:t>
                      </a:r>
                      <a:r>
                        <a:rPr lang="en-US" altLang="ko-KR" sz="1200" dirty="0"/>
                        <a:t>42</a:t>
                      </a:r>
                      <a:r>
                        <a:rPr lang="ko-KR" altLang="en-US" sz="1200" dirty="0"/>
                        <a:t>조제</a:t>
                      </a:r>
                      <a:r>
                        <a:rPr lang="en-US" altLang="ko-KR" sz="1200" dirty="0"/>
                        <a:t>4</a:t>
                      </a:r>
                      <a:r>
                        <a:rPr lang="ko-KR" altLang="en-US" sz="1200" dirty="0" err="1"/>
                        <a:t>항제</a:t>
                      </a:r>
                      <a:r>
                        <a:rPr lang="en-US" altLang="ko-KR" sz="1200" dirty="0"/>
                        <a:t>1</a:t>
                      </a:r>
                      <a:r>
                        <a:rPr lang="ko-KR" altLang="en-US" sz="1200" dirty="0"/>
                        <a:t>호</a:t>
                      </a:r>
                      <a:r>
                        <a:rPr lang="en-US" altLang="ko-KR" sz="1200" dirty="0"/>
                        <a:t>)</a:t>
                      </a:r>
                      <a:endParaRPr lang="ko-KR" altLang="en-US" sz="1200" dirty="0"/>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200" dirty="0"/>
                        <a:t>거절이유</a:t>
                      </a:r>
                      <a:r>
                        <a:rPr lang="en-US" altLang="ko-KR" sz="1200" dirty="0"/>
                        <a:t>(</a:t>
                      </a:r>
                      <a:r>
                        <a:rPr lang="ko-KR" altLang="en-US" sz="1200" dirty="0"/>
                        <a:t>실체적 요건 위반</a:t>
                      </a:r>
                      <a:r>
                        <a:rPr lang="en-US" altLang="ko-KR" sz="1200" dirty="0"/>
                        <a:t>)</a:t>
                      </a:r>
                      <a:endParaRPr lang="ko-KR" altLang="en-US" sz="1200" dirty="0"/>
                    </a:p>
                  </a:txBody>
                  <a:tcPr anchor="ctr"/>
                </a:tc>
                <a:extLst>
                  <a:ext uri="{0D108BD9-81ED-4DB2-BD59-A6C34878D82A}">
                    <a16:rowId xmlns:a16="http://schemas.microsoft.com/office/drawing/2014/main" val="3394870249"/>
                  </a:ext>
                </a:extLst>
              </a:tr>
              <a:tr h="534815">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ko-KR" altLang="en-US" sz="1200" dirty="0"/>
                        <a:t>명확성 요건</a:t>
                      </a:r>
                      <a:endParaRPr lang="en-US" altLang="ko-KR" sz="1200" dirty="0"/>
                    </a:p>
                    <a:p>
                      <a:pPr algn="ctr" latinLnBrk="1"/>
                      <a:r>
                        <a:rPr lang="en-US" altLang="ko-KR" sz="1200" dirty="0"/>
                        <a:t>(</a:t>
                      </a:r>
                      <a:r>
                        <a:rPr lang="ko-KR" altLang="en-US" sz="1200" dirty="0"/>
                        <a:t>제</a:t>
                      </a:r>
                      <a:r>
                        <a:rPr lang="en-US" altLang="ko-KR" sz="1200" dirty="0"/>
                        <a:t>42</a:t>
                      </a:r>
                      <a:r>
                        <a:rPr lang="ko-KR" altLang="en-US" sz="1200" dirty="0"/>
                        <a:t>조제</a:t>
                      </a:r>
                      <a:r>
                        <a:rPr lang="en-US" altLang="ko-KR" sz="1200" dirty="0"/>
                        <a:t>4</a:t>
                      </a:r>
                      <a:r>
                        <a:rPr lang="ko-KR" altLang="en-US" sz="1200" dirty="0" err="1"/>
                        <a:t>항제</a:t>
                      </a:r>
                      <a:r>
                        <a:rPr lang="en-US" altLang="ko-KR" sz="1200" dirty="0"/>
                        <a:t>2</a:t>
                      </a:r>
                      <a:r>
                        <a:rPr lang="ko-KR" altLang="en-US" sz="1200" dirty="0"/>
                        <a:t>호</a:t>
                      </a:r>
                      <a:r>
                        <a:rPr lang="en-US" altLang="ko-KR" sz="1200" dirty="0"/>
                        <a:t>)</a:t>
                      </a:r>
                      <a:endParaRPr lang="ko-KR" altLang="en-US" sz="1200" dirty="0"/>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200" dirty="0"/>
                        <a:t>거절이유</a:t>
                      </a:r>
                      <a:r>
                        <a:rPr lang="en-US" altLang="ko-KR" sz="1200" dirty="0"/>
                        <a:t>(</a:t>
                      </a:r>
                      <a:r>
                        <a:rPr lang="ko-KR" altLang="en-US" sz="1200" dirty="0"/>
                        <a:t>실체적 요건 위반</a:t>
                      </a:r>
                      <a:r>
                        <a:rPr lang="en-US" altLang="ko-KR" sz="1200" dirty="0"/>
                        <a:t>)</a:t>
                      </a:r>
                      <a:endParaRPr lang="ko-KR" altLang="en-US" sz="1200" dirty="0"/>
                    </a:p>
                  </a:txBody>
                  <a:tcPr anchor="ctr"/>
                </a:tc>
                <a:extLst>
                  <a:ext uri="{0D108BD9-81ED-4DB2-BD59-A6C34878D82A}">
                    <a16:rowId xmlns:a16="http://schemas.microsoft.com/office/drawing/2014/main" val="2279056085"/>
                  </a:ext>
                </a:extLst>
              </a:tr>
              <a:tr h="534815">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ko-KR" altLang="en-US" sz="1200" dirty="0"/>
                        <a:t>구성요소의 기재</a:t>
                      </a:r>
                      <a:endParaRPr lang="en-US" altLang="ko-KR" sz="1200" dirty="0"/>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dirty="0"/>
                        <a:t>(</a:t>
                      </a:r>
                      <a:r>
                        <a:rPr lang="ko-KR" altLang="en-US" sz="1200" dirty="0"/>
                        <a:t>제</a:t>
                      </a:r>
                      <a:r>
                        <a:rPr lang="en-US" altLang="ko-KR" sz="1200" dirty="0"/>
                        <a:t>42</a:t>
                      </a:r>
                      <a:r>
                        <a:rPr lang="ko-KR" altLang="en-US" sz="1200" dirty="0"/>
                        <a:t>조제</a:t>
                      </a:r>
                      <a:r>
                        <a:rPr lang="en-US" altLang="ko-KR" sz="1200" dirty="0"/>
                        <a:t>6</a:t>
                      </a:r>
                      <a:r>
                        <a:rPr lang="ko-KR" altLang="en-US" sz="1200" dirty="0"/>
                        <a:t>항</a:t>
                      </a:r>
                      <a:r>
                        <a:rPr lang="en-US" altLang="ko-KR" sz="1200" dirty="0"/>
                        <a:t>)</a:t>
                      </a:r>
                      <a:endParaRPr lang="ko-KR" altLang="en-US" sz="1200" dirty="0"/>
                    </a:p>
                  </a:txBody>
                  <a:tcPr anchor="ctr"/>
                </a:tc>
                <a:tc hMerge="1">
                  <a:txBody>
                    <a:bodyPr/>
                    <a:lstStyle/>
                    <a:p>
                      <a:pPr latinLnBrk="1"/>
                      <a:endParaRPr lang="ko-KR" altLang="en-US"/>
                    </a:p>
                  </a:txBody>
                  <a:tcPr/>
                </a:tc>
                <a:tc>
                  <a:txBody>
                    <a:bodyPr/>
                    <a:lstStyle/>
                    <a:p>
                      <a:pPr algn="ctr" latinLnBrk="1"/>
                      <a:r>
                        <a:rPr lang="en-US" altLang="ko-KR" sz="1200" dirty="0"/>
                        <a:t>-</a:t>
                      </a:r>
                      <a:endParaRPr lang="ko-KR" altLang="en-US" sz="1200" dirty="0"/>
                    </a:p>
                  </a:txBody>
                  <a:tcPr anchor="ctr"/>
                </a:tc>
                <a:extLst>
                  <a:ext uri="{0D108BD9-81ED-4DB2-BD59-A6C34878D82A}">
                    <a16:rowId xmlns:a16="http://schemas.microsoft.com/office/drawing/2014/main" val="2195124636"/>
                  </a:ext>
                </a:extLst>
              </a:tr>
              <a:tr h="534815">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ko-KR" altLang="en-US" sz="1200" dirty="0"/>
                        <a:t>다항제의 기재</a:t>
                      </a:r>
                      <a:endParaRPr lang="en-US" altLang="ko-KR" sz="1200" dirty="0"/>
                    </a:p>
                    <a:p>
                      <a:pPr algn="ctr" latinLnBrk="1"/>
                      <a:r>
                        <a:rPr lang="en-US" altLang="ko-KR" sz="1200" dirty="0"/>
                        <a:t>(</a:t>
                      </a:r>
                      <a:r>
                        <a:rPr lang="ko-KR" altLang="en-US" sz="1200" dirty="0"/>
                        <a:t>제</a:t>
                      </a:r>
                      <a:r>
                        <a:rPr lang="en-US" altLang="ko-KR" sz="1200" dirty="0"/>
                        <a:t>42</a:t>
                      </a:r>
                      <a:r>
                        <a:rPr lang="ko-KR" altLang="en-US" sz="1200" dirty="0"/>
                        <a:t>조제</a:t>
                      </a:r>
                      <a:r>
                        <a:rPr lang="en-US" altLang="ko-KR" sz="1200" dirty="0"/>
                        <a:t>8</a:t>
                      </a:r>
                      <a:r>
                        <a:rPr lang="ko-KR" altLang="en-US" sz="1200" dirty="0"/>
                        <a:t>항</a:t>
                      </a:r>
                      <a:r>
                        <a:rPr lang="en-US" altLang="ko-KR" sz="1200" dirty="0"/>
                        <a:t>)</a:t>
                      </a:r>
                      <a:endParaRPr lang="ko-KR" altLang="en-US" sz="1200" dirty="0"/>
                    </a:p>
                  </a:txBody>
                  <a:tcPr anchor="ctr"/>
                </a:tc>
                <a:tc hMerge="1">
                  <a:txBody>
                    <a:bodyPr/>
                    <a:lstStyle/>
                    <a:p>
                      <a:pPr latinLnBrk="1"/>
                      <a:endParaRPr lang="ko-KR" altLang="en-US"/>
                    </a:p>
                  </a:txBody>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200" dirty="0"/>
                        <a:t>거절이유</a:t>
                      </a:r>
                      <a:r>
                        <a:rPr lang="en-US" altLang="ko-KR" sz="1200" dirty="0"/>
                        <a:t>(</a:t>
                      </a:r>
                      <a:r>
                        <a:rPr lang="ko-KR" altLang="en-US" sz="1200" dirty="0"/>
                        <a:t>절차적 요건 위반</a:t>
                      </a:r>
                      <a:r>
                        <a:rPr lang="en-US" altLang="ko-KR" sz="1200" dirty="0"/>
                        <a:t>)</a:t>
                      </a:r>
                      <a:endParaRPr lang="ko-KR" altLang="en-US" sz="1200" dirty="0"/>
                    </a:p>
                  </a:txBody>
                  <a:tcPr anchor="ctr"/>
                </a:tc>
                <a:extLst>
                  <a:ext uri="{0D108BD9-81ED-4DB2-BD59-A6C34878D82A}">
                    <a16:rowId xmlns:a16="http://schemas.microsoft.com/office/drawing/2014/main" val="2217890160"/>
                  </a:ext>
                </a:extLst>
              </a:tr>
              <a:tr h="320889">
                <a:tc gridSpan="2">
                  <a:txBody>
                    <a:bodyPr/>
                    <a:lstStyle/>
                    <a:p>
                      <a:pPr algn="ctr" latinLnBrk="1"/>
                      <a:r>
                        <a:rPr lang="ko-KR" altLang="en-US" sz="1200" dirty="0"/>
                        <a:t>필요한 도면</a:t>
                      </a:r>
                    </a:p>
                  </a:txBody>
                  <a:tcPr anchor="ctr"/>
                </a:tc>
                <a:tc hMerge="1">
                  <a:txBody>
                    <a:bodyPr/>
                    <a:lstStyle/>
                    <a:p>
                      <a:pPr latinLnBrk="1"/>
                      <a:endParaRPr lang="ko-KR" altLang="en-US"/>
                    </a:p>
                  </a:txBody>
                  <a:tcPr/>
                </a:tc>
                <a:tc>
                  <a:txBody>
                    <a:bodyPr/>
                    <a:lstStyle/>
                    <a:p>
                      <a:pPr algn="ctr" latinLnBrk="1"/>
                      <a:r>
                        <a:rPr lang="ko-KR" altLang="en-US" sz="1200" dirty="0"/>
                        <a:t>명세서의 보조수단</a:t>
                      </a:r>
                    </a:p>
                  </a:txBody>
                  <a:tcPr anchor="ctr"/>
                </a:tc>
                <a:tc gridSpan="2">
                  <a:txBody>
                    <a:bodyPr/>
                    <a:lstStyle/>
                    <a:p>
                      <a:pPr algn="ctr" latinLnBrk="1"/>
                      <a:r>
                        <a:rPr lang="ko-KR" altLang="en-US" sz="1200" dirty="0"/>
                        <a:t>제</a:t>
                      </a:r>
                      <a:r>
                        <a:rPr lang="en-US" altLang="ko-KR" sz="1200" dirty="0"/>
                        <a:t>42</a:t>
                      </a:r>
                      <a:r>
                        <a:rPr lang="ko-KR" altLang="en-US" sz="1200" dirty="0"/>
                        <a:t>조제</a:t>
                      </a:r>
                      <a:r>
                        <a:rPr lang="en-US" altLang="ko-KR" sz="1200" dirty="0"/>
                        <a:t>9</a:t>
                      </a:r>
                      <a:r>
                        <a:rPr lang="ko-KR" altLang="en-US" sz="1200" dirty="0"/>
                        <a:t>항</a:t>
                      </a:r>
                    </a:p>
                  </a:txBody>
                  <a:tcPr anchor="ctr"/>
                </a:tc>
                <a:tc hMerge="1">
                  <a:txBody>
                    <a:bodyPr/>
                    <a:lstStyle/>
                    <a:p>
                      <a:pPr latinLnBrk="1"/>
                      <a:endParaRPr lang="ko-KR" altLang="en-US"/>
                    </a:p>
                  </a:txBody>
                  <a:tcPr/>
                </a:tc>
                <a:tc>
                  <a:txBody>
                    <a:bodyPr/>
                    <a:lstStyle/>
                    <a:p>
                      <a:pPr algn="ctr" latinLnBrk="1"/>
                      <a:r>
                        <a:rPr lang="ko-KR" altLang="en-US" sz="1200" dirty="0"/>
                        <a:t>무효</a:t>
                      </a:r>
                    </a:p>
                  </a:txBody>
                  <a:tcPr anchor="ctr"/>
                </a:tc>
                <a:extLst>
                  <a:ext uri="{0D108BD9-81ED-4DB2-BD59-A6C34878D82A}">
                    <a16:rowId xmlns:a16="http://schemas.microsoft.com/office/drawing/2014/main" val="1132224849"/>
                  </a:ext>
                </a:extLst>
              </a:tr>
              <a:tr h="320889">
                <a:tc gridSpan="2">
                  <a:txBody>
                    <a:bodyPr/>
                    <a:lstStyle/>
                    <a:p>
                      <a:pPr algn="ctr" latinLnBrk="1"/>
                      <a:r>
                        <a:rPr lang="ko-KR" altLang="en-US" sz="1200" dirty="0"/>
                        <a:t>요약서</a:t>
                      </a:r>
                    </a:p>
                  </a:txBody>
                  <a:tcPr anchor="ctr"/>
                </a:tc>
                <a:tc hMerge="1">
                  <a:txBody>
                    <a:bodyPr/>
                    <a:lstStyle/>
                    <a:p>
                      <a:pPr latinLnBrk="1"/>
                      <a:endParaRPr lang="ko-KR" altLang="en-US"/>
                    </a:p>
                  </a:txBody>
                  <a:tcPr/>
                </a:tc>
                <a:tc>
                  <a:txBody>
                    <a:bodyPr/>
                    <a:lstStyle/>
                    <a:p>
                      <a:pPr algn="ctr" latinLnBrk="1"/>
                      <a:r>
                        <a:rPr lang="ko-KR" altLang="en-US" sz="1200" dirty="0"/>
                        <a:t>기술정보</a:t>
                      </a:r>
                      <a:r>
                        <a:rPr lang="en-US" altLang="ko-KR" sz="1200" dirty="0">
                          <a:solidFill>
                            <a:srgbClr val="FF0000"/>
                          </a:solidFill>
                        </a:rPr>
                        <a:t>(</a:t>
                      </a:r>
                      <a:r>
                        <a:rPr lang="ko-KR" altLang="en-US" sz="1200" dirty="0">
                          <a:solidFill>
                            <a:srgbClr val="FF0000"/>
                          </a:solidFill>
                        </a:rPr>
                        <a:t>제</a:t>
                      </a:r>
                      <a:r>
                        <a:rPr lang="en-US" altLang="ko-KR" sz="1200" dirty="0">
                          <a:solidFill>
                            <a:srgbClr val="FF0000"/>
                          </a:solidFill>
                        </a:rPr>
                        <a:t>43</a:t>
                      </a:r>
                      <a:r>
                        <a:rPr lang="ko-KR" altLang="en-US" sz="1200" dirty="0">
                          <a:solidFill>
                            <a:srgbClr val="FF0000"/>
                          </a:solidFill>
                        </a:rPr>
                        <a:t>조</a:t>
                      </a:r>
                      <a:r>
                        <a:rPr lang="en-US" altLang="ko-KR" sz="1200" dirty="0">
                          <a:solidFill>
                            <a:srgbClr val="FF0000"/>
                          </a:solidFill>
                        </a:rPr>
                        <a:t>)</a:t>
                      </a:r>
                      <a:endParaRPr lang="ko-KR" altLang="en-US" sz="1200" dirty="0">
                        <a:solidFill>
                          <a:srgbClr val="FF0000"/>
                        </a:solidFill>
                      </a:endParaRPr>
                    </a:p>
                  </a:txBody>
                  <a:tcPr anchor="ctr"/>
                </a:tc>
                <a:tc gridSpan="2">
                  <a:txBody>
                    <a:bodyPr/>
                    <a:lstStyle/>
                    <a:p>
                      <a:pPr algn="ctr" latinLnBrk="1"/>
                      <a:r>
                        <a:rPr lang="ko-KR" altLang="en-US" sz="1200" dirty="0"/>
                        <a:t>제</a:t>
                      </a:r>
                      <a:r>
                        <a:rPr lang="en-US" altLang="ko-KR" sz="1200" dirty="0"/>
                        <a:t>42</a:t>
                      </a:r>
                      <a:r>
                        <a:rPr lang="ko-KR" altLang="en-US" sz="1200" dirty="0"/>
                        <a:t>조제</a:t>
                      </a:r>
                      <a:r>
                        <a:rPr lang="en-US" altLang="ko-KR" sz="1200" dirty="0"/>
                        <a:t>9</a:t>
                      </a:r>
                      <a:r>
                        <a:rPr lang="ko-KR" altLang="en-US" sz="1200" dirty="0"/>
                        <a:t>항</a:t>
                      </a:r>
                    </a:p>
                  </a:txBody>
                  <a:tcPr anchor="ctr"/>
                </a:tc>
                <a:tc hMerge="1">
                  <a:txBody>
                    <a:bodyPr/>
                    <a:lstStyle/>
                    <a:p>
                      <a:pPr latinLnBrk="1"/>
                      <a:endParaRPr lang="ko-KR" altLang="en-US"/>
                    </a:p>
                  </a:txBody>
                  <a:tcPr/>
                </a:tc>
                <a:tc>
                  <a:txBody>
                    <a:bodyPr/>
                    <a:lstStyle/>
                    <a:p>
                      <a:pPr algn="ctr" latinLnBrk="1"/>
                      <a:r>
                        <a:rPr lang="ko-KR" altLang="en-US" sz="1200" dirty="0"/>
                        <a:t>무효</a:t>
                      </a:r>
                    </a:p>
                  </a:txBody>
                  <a:tcPr anchor="ctr"/>
                </a:tc>
                <a:extLst>
                  <a:ext uri="{0D108BD9-81ED-4DB2-BD59-A6C34878D82A}">
                    <a16:rowId xmlns:a16="http://schemas.microsoft.com/office/drawing/2014/main" val="111087480"/>
                  </a:ext>
                </a:extLst>
              </a:tr>
            </a:tbl>
          </a:graphicData>
        </a:graphic>
      </p:graphicFrame>
      <p:sp>
        <p:nvSpPr>
          <p:cNvPr id="6" name="TextBox 5">
            <a:extLst>
              <a:ext uri="{FF2B5EF4-FFF2-40B4-BE49-F238E27FC236}">
                <a16:creationId xmlns:a16="http://schemas.microsoft.com/office/drawing/2014/main" id="{2E47098B-367B-4559-B8B1-3CC09CA7AFE3}"/>
              </a:ext>
            </a:extLst>
          </p:cNvPr>
          <p:cNvSpPr txBox="1"/>
          <p:nvPr/>
        </p:nvSpPr>
        <p:spPr>
          <a:xfrm>
            <a:off x="213363" y="1449238"/>
            <a:ext cx="707245" cy="523220"/>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a:t>
            </a:r>
          </a:p>
        </p:txBody>
      </p:sp>
      <p:sp>
        <p:nvSpPr>
          <p:cNvPr id="7" name="TextBox 6">
            <a:extLst>
              <a:ext uri="{FF2B5EF4-FFF2-40B4-BE49-F238E27FC236}">
                <a16:creationId xmlns:a16="http://schemas.microsoft.com/office/drawing/2014/main" id="{EE13D287-61F4-4098-A16E-979C839EE3AE}"/>
              </a:ext>
            </a:extLst>
          </p:cNvPr>
          <p:cNvSpPr txBox="1"/>
          <p:nvPr/>
        </p:nvSpPr>
        <p:spPr>
          <a:xfrm>
            <a:off x="213363" y="4537494"/>
            <a:ext cx="707245" cy="523220"/>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a:t>
            </a:r>
          </a:p>
        </p:txBody>
      </p:sp>
      <p:cxnSp>
        <p:nvCxnSpPr>
          <p:cNvPr id="9" name="직선 연결선 8">
            <a:extLst>
              <a:ext uri="{FF2B5EF4-FFF2-40B4-BE49-F238E27FC236}">
                <a16:creationId xmlns:a16="http://schemas.microsoft.com/office/drawing/2014/main" id="{1497C2F0-A5A4-4C6A-9599-6559C9E675E0}"/>
              </a:ext>
            </a:extLst>
          </p:cNvPr>
          <p:cNvCxnSpPr>
            <a:stCxn id="6" idx="3"/>
          </p:cNvCxnSpPr>
          <p:nvPr/>
        </p:nvCxnSpPr>
        <p:spPr>
          <a:xfrm>
            <a:off x="920608" y="1710848"/>
            <a:ext cx="1054841"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1D0BBDF0-C64F-45B1-9D10-6817C5E71755}"/>
              </a:ext>
            </a:extLst>
          </p:cNvPr>
          <p:cNvCxnSpPr>
            <a:cxnSpLocks/>
            <a:stCxn id="7" idx="3"/>
          </p:cNvCxnSpPr>
          <p:nvPr/>
        </p:nvCxnSpPr>
        <p:spPr>
          <a:xfrm flipV="1">
            <a:off x="920608" y="3862790"/>
            <a:ext cx="707245" cy="93631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AE1C4092-8406-4A1D-A9E7-678292C0D599}"/>
              </a:ext>
            </a:extLst>
          </p:cNvPr>
          <p:cNvCxnSpPr>
            <a:stCxn id="7" idx="3"/>
          </p:cNvCxnSpPr>
          <p:nvPr/>
        </p:nvCxnSpPr>
        <p:spPr>
          <a:xfrm>
            <a:off x="920608" y="4799104"/>
            <a:ext cx="821928" cy="142054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직선 연결선 19">
            <a:extLst>
              <a:ext uri="{FF2B5EF4-FFF2-40B4-BE49-F238E27FC236}">
                <a16:creationId xmlns:a16="http://schemas.microsoft.com/office/drawing/2014/main" id="{85E57364-C11F-448F-A0EE-5A534ABA83EA}"/>
              </a:ext>
            </a:extLst>
          </p:cNvPr>
          <p:cNvCxnSpPr>
            <a:stCxn id="7" idx="3"/>
          </p:cNvCxnSpPr>
          <p:nvPr/>
        </p:nvCxnSpPr>
        <p:spPr>
          <a:xfrm>
            <a:off x="920608" y="4799104"/>
            <a:ext cx="821928" cy="107548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6126575"/>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42</a:t>
            </a:r>
            <a:r>
              <a:rPr lang="ko-KR" altLang="en-US" dirty="0"/>
              <a:t>조의</a:t>
            </a:r>
            <a:r>
              <a:rPr lang="en-US" altLang="ko-KR" dirty="0"/>
              <a:t>2</a:t>
            </a:r>
            <a:endParaRPr lang="ko-KR" altLang="en-US" dirty="0"/>
          </a:p>
        </p:txBody>
      </p:sp>
      <p:sp>
        <p:nvSpPr>
          <p:cNvPr id="5" name="텍스트 개체 틀 4"/>
          <p:cNvSpPr>
            <a:spLocks noGrp="1"/>
          </p:cNvSpPr>
          <p:nvPr>
            <p:ph type="body" sz="quarter" idx="13"/>
          </p:nvPr>
        </p:nvSpPr>
        <p:spPr/>
        <p:txBody>
          <a:bodyPr/>
          <a:lstStyle/>
          <a:p>
            <a:r>
              <a:rPr lang="ko-KR" altLang="en-US" dirty="0"/>
              <a:t>청구범위 제출의 유예의 개념</a:t>
            </a:r>
          </a:p>
        </p:txBody>
      </p:sp>
      <p:cxnSp>
        <p:nvCxnSpPr>
          <p:cNvPr id="60" name="직선 연결선 59"/>
          <p:cNvCxnSpPr/>
          <p:nvPr/>
        </p:nvCxnSpPr>
        <p:spPr>
          <a:xfrm>
            <a:off x="0" y="238513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77875" y="986046"/>
            <a:ext cx="11936323" cy="1384995"/>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42</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조의</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2(</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특허출원일 등</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특허출원일은 명세서 및 필요한 도면을 첨부한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특허출원서가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지식재산처장에게 도달한 날로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 경우 명세서에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청구범위는</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적지 아니할 수 있으나</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발명의 설명은 적어야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②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특허출원인은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후단에 따라 특허출원서에 최초로 첨부한 명세서에 청구범위를 적지 아니한 경우에는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각 호의 구분에 따른 날부터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년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개월이 되는 날까지 명세서에 청구범위를 적는 보정을 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본문에 따른 기한 이전에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60</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출원심사</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청구의 취지를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통지받은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경우에는 그 통지를 받은 날부터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개월이 되는 날 또는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각 호의 구분에 따른 날부터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년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개월이 되는 날 중 빠른 날까지 보정을 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특허출원인이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보정을 하지 아니한 경우에는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기한이 되는 날의 다음 날에 해당 특허출원을 취하한 것으로 본다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62" name="직사각형 61"/>
          <p:cNvSpPr/>
          <p:nvPr/>
        </p:nvSpPr>
        <p:spPr>
          <a:xfrm>
            <a:off x="3827139" y="3168640"/>
            <a:ext cx="1808927" cy="448802"/>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출원서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4" name="직사각형 63"/>
          <p:cNvSpPr/>
          <p:nvPr/>
        </p:nvSpPr>
        <p:spPr>
          <a:xfrm>
            <a:off x="3827139" y="3767548"/>
            <a:ext cx="1808927" cy="448802"/>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명세서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6" name="직사각형 65"/>
          <p:cNvSpPr/>
          <p:nvPr/>
        </p:nvSpPr>
        <p:spPr>
          <a:xfrm>
            <a:off x="3827139" y="4402894"/>
            <a:ext cx="1808927" cy="448802"/>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필요한 도면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7" name="직사각형 66"/>
          <p:cNvSpPr/>
          <p:nvPr/>
        </p:nvSpPr>
        <p:spPr>
          <a:xfrm>
            <a:off x="3827139" y="5001802"/>
            <a:ext cx="1808927" cy="448802"/>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요약서</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9" name="직사각형 68"/>
          <p:cNvSpPr/>
          <p:nvPr/>
        </p:nvSpPr>
        <p:spPr>
          <a:xfrm>
            <a:off x="6092133" y="3762845"/>
            <a:ext cx="3214240" cy="453505"/>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발명의 설명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0" name="직사각형 69"/>
          <p:cNvSpPr/>
          <p:nvPr/>
        </p:nvSpPr>
        <p:spPr>
          <a:xfrm>
            <a:off x="6092135" y="4402894"/>
            <a:ext cx="3214238" cy="44880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청구범위</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1" name="꺾인 연결선 70"/>
          <p:cNvCxnSpPr>
            <a:stCxn id="76" idx="3"/>
            <a:endCxn id="67" idx="1"/>
          </p:cNvCxnSpPr>
          <p:nvPr/>
        </p:nvCxnSpPr>
        <p:spPr>
          <a:xfrm>
            <a:off x="3292197" y="4290352"/>
            <a:ext cx="534942" cy="935851"/>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꺾인 연결선 71"/>
          <p:cNvCxnSpPr>
            <a:stCxn id="76" idx="3"/>
            <a:endCxn id="64" idx="1"/>
          </p:cNvCxnSpPr>
          <p:nvPr/>
        </p:nvCxnSpPr>
        <p:spPr>
          <a:xfrm flipV="1">
            <a:off x="3292197" y="3991949"/>
            <a:ext cx="534942" cy="298403"/>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꺾인 연결선 72"/>
          <p:cNvCxnSpPr>
            <a:stCxn id="76" idx="3"/>
            <a:endCxn id="66" idx="1"/>
          </p:cNvCxnSpPr>
          <p:nvPr/>
        </p:nvCxnSpPr>
        <p:spPr>
          <a:xfrm>
            <a:off x="3292197" y="4290352"/>
            <a:ext cx="534942" cy="336943"/>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꺾인 연결선 73"/>
          <p:cNvCxnSpPr>
            <a:stCxn id="64" idx="3"/>
            <a:endCxn id="70" idx="1"/>
          </p:cNvCxnSpPr>
          <p:nvPr/>
        </p:nvCxnSpPr>
        <p:spPr>
          <a:xfrm>
            <a:off x="5636066" y="3991950"/>
            <a:ext cx="456069" cy="635346"/>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꺾인 연결선 74"/>
          <p:cNvCxnSpPr>
            <a:stCxn id="64" idx="3"/>
            <a:endCxn id="69" idx="1"/>
          </p:cNvCxnSpPr>
          <p:nvPr/>
        </p:nvCxnSpPr>
        <p:spPr>
          <a:xfrm flipV="1">
            <a:off x="5636066" y="3989598"/>
            <a:ext cx="456067" cy="2352"/>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직사각형 75"/>
          <p:cNvSpPr/>
          <p:nvPr/>
        </p:nvSpPr>
        <p:spPr>
          <a:xfrm>
            <a:off x="2212791" y="3984992"/>
            <a:ext cx="1079406" cy="610720"/>
          </a:xfrm>
          <a:prstGeom prst="rect">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출원</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서류</a:t>
            </a:r>
          </a:p>
        </p:txBody>
      </p:sp>
      <p:cxnSp>
        <p:nvCxnSpPr>
          <p:cNvPr id="77" name="꺾인 연결선 76"/>
          <p:cNvCxnSpPr>
            <a:stCxn id="62" idx="1"/>
            <a:endCxn id="76" idx="3"/>
          </p:cNvCxnSpPr>
          <p:nvPr/>
        </p:nvCxnSpPr>
        <p:spPr>
          <a:xfrm rot="10800000" flipV="1">
            <a:off x="3292197" y="3393040"/>
            <a:ext cx="534942" cy="89731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124</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4080849395"/>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Box 25"/>
          <p:cNvSpPr txBox="1"/>
          <p:nvPr/>
        </p:nvSpPr>
        <p:spPr>
          <a:xfrm>
            <a:off x="3749758" y="2024885"/>
            <a:ext cx="958306" cy="492443"/>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공개준비기간</a:t>
            </a:r>
            <a:endPar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최대 </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4</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개월</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endPar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4" name="제목 3"/>
          <p:cNvSpPr>
            <a:spLocks noGrp="1"/>
          </p:cNvSpPr>
          <p:nvPr>
            <p:ph type="title"/>
          </p:nvPr>
        </p:nvSpPr>
        <p:spPr/>
        <p:txBody>
          <a:bodyPr/>
          <a:lstStyle/>
          <a:p>
            <a:r>
              <a:rPr lang="ko-KR" altLang="en-US" dirty="0"/>
              <a:t>제</a:t>
            </a:r>
            <a:r>
              <a:rPr lang="en-US" altLang="ko-KR" dirty="0"/>
              <a:t>42</a:t>
            </a:r>
            <a:r>
              <a:rPr lang="ko-KR" altLang="en-US" dirty="0"/>
              <a:t>조의</a:t>
            </a:r>
            <a:r>
              <a:rPr lang="en-US" altLang="ko-KR" dirty="0"/>
              <a:t>2</a:t>
            </a:r>
            <a:endParaRPr lang="ko-KR" altLang="en-US" dirty="0"/>
          </a:p>
        </p:txBody>
      </p:sp>
      <p:sp>
        <p:nvSpPr>
          <p:cNvPr id="5" name="텍스트 개체 틀 4"/>
          <p:cNvSpPr>
            <a:spLocks noGrp="1"/>
          </p:cNvSpPr>
          <p:nvPr>
            <p:ph type="body" sz="quarter" idx="13"/>
          </p:nvPr>
        </p:nvSpPr>
        <p:spPr/>
        <p:txBody>
          <a:bodyPr/>
          <a:lstStyle/>
          <a:p>
            <a:r>
              <a:rPr lang="ko-KR" altLang="en-US" dirty="0"/>
              <a:t>청구범위 제출의 유예기간</a:t>
            </a:r>
          </a:p>
        </p:txBody>
      </p:sp>
      <p:sp>
        <p:nvSpPr>
          <p:cNvPr id="11" name="Rectangle 5"/>
          <p:cNvSpPr>
            <a:spLocks noChangeArrowheads="1"/>
          </p:cNvSpPr>
          <p:nvPr/>
        </p:nvSpPr>
        <p:spPr bwMode="auto">
          <a:xfrm>
            <a:off x="127524" y="1106382"/>
            <a:ext cx="2153886" cy="505913"/>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원칙적 유예기간</a:t>
            </a:r>
            <a:endParaRPr kumimoji="0" lang="en-US" altLang="ko-KR" sz="1600" b="0" i="0" u="none" strike="noStrike" kern="1200" cap="none" spc="0" normalizeH="0" baseline="0" noProof="0" dirty="0">
              <a:ln>
                <a:noFill/>
              </a:ln>
              <a:solidFill>
                <a:prstClr val="white"/>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a:t>
            </a: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제</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42</a:t>
            </a: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조의</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2</a:t>
            </a: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제</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2</a:t>
            </a:r>
            <a:r>
              <a:rPr kumimoji="0" lang="ko-KR" altLang="en-US" sz="1100" b="0" i="0" u="none" strike="noStrike" kern="1200" cap="none" spc="0" normalizeH="0" baseline="0" noProof="0" dirty="0" err="1">
                <a:ln>
                  <a:noFill/>
                </a:ln>
                <a:solidFill>
                  <a:prstClr val="white"/>
                </a:solidFill>
                <a:effectLst/>
                <a:uLnTx/>
                <a:uFillTx/>
                <a:latin typeface="Rix모던고딕 EB"/>
                <a:ea typeface="Rix모던고딕 EB"/>
                <a:cs typeface="+mn-cs"/>
              </a:rPr>
              <a:t>항본문</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a:t>
            </a:r>
            <a:endPar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endParaRPr>
          </a:p>
        </p:txBody>
      </p:sp>
      <p:cxnSp>
        <p:nvCxnSpPr>
          <p:cNvPr id="6" name="직선 연결선 5"/>
          <p:cNvCxnSpPr/>
          <p:nvPr/>
        </p:nvCxnSpPr>
        <p:spPr>
          <a:xfrm>
            <a:off x="100299" y="2536498"/>
            <a:ext cx="5453829"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 name="직선 화살표 연결선 13"/>
          <p:cNvCxnSpPr>
            <a:stCxn id="7" idx="0"/>
          </p:cNvCxnSpPr>
          <p:nvPr/>
        </p:nvCxnSpPr>
        <p:spPr>
          <a:xfrm flipV="1">
            <a:off x="752933" y="2536500"/>
            <a:ext cx="0" cy="282846"/>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직선 화살표 연결선 15"/>
          <p:cNvCxnSpPr>
            <a:stCxn id="8" idx="0"/>
          </p:cNvCxnSpPr>
          <p:nvPr/>
        </p:nvCxnSpPr>
        <p:spPr>
          <a:xfrm flipV="1">
            <a:off x="4860421" y="2536500"/>
            <a:ext cx="0" cy="282846"/>
          </a:xfrm>
          <a:prstGeom prst="straightConnector1">
            <a:avLst/>
          </a:prstGeom>
          <a:ln w="12700">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자유형 16"/>
          <p:cNvSpPr/>
          <p:nvPr/>
        </p:nvSpPr>
        <p:spPr>
          <a:xfrm>
            <a:off x="745975" y="1864623"/>
            <a:ext cx="4098634" cy="633033"/>
          </a:xfrm>
          <a:custGeom>
            <a:avLst/>
            <a:gdLst>
              <a:gd name="connsiteX0" fmla="*/ 0 w 4944533"/>
              <a:gd name="connsiteY0" fmla="*/ 524934 h 524934"/>
              <a:gd name="connsiteX1" fmla="*/ 0 w 4944533"/>
              <a:gd name="connsiteY1" fmla="*/ 0 h 524934"/>
              <a:gd name="connsiteX2" fmla="*/ 4944533 w 4944533"/>
              <a:gd name="connsiteY2" fmla="*/ 0 h 524934"/>
              <a:gd name="connsiteX3" fmla="*/ 4944533 w 4944533"/>
              <a:gd name="connsiteY3" fmla="*/ 524934 h 524934"/>
            </a:gdLst>
            <a:ahLst/>
            <a:cxnLst>
              <a:cxn ang="0">
                <a:pos x="connsiteX0" y="connsiteY0"/>
              </a:cxn>
              <a:cxn ang="0">
                <a:pos x="connsiteX1" y="connsiteY1"/>
              </a:cxn>
              <a:cxn ang="0">
                <a:pos x="connsiteX2" y="connsiteY2"/>
              </a:cxn>
              <a:cxn ang="0">
                <a:pos x="connsiteX3" y="connsiteY3"/>
              </a:cxn>
            </a:cxnLst>
            <a:rect l="l" t="t" r="r" b="b"/>
            <a:pathLst>
              <a:path w="4944533" h="524934">
                <a:moveTo>
                  <a:pt x="0" y="524934"/>
                </a:moveTo>
                <a:lnTo>
                  <a:pt x="0" y="0"/>
                </a:lnTo>
                <a:lnTo>
                  <a:pt x="4944533" y="0"/>
                </a:lnTo>
                <a:lnTo>
                  <a:pt x="4944533" y="524934"/>
                </a:lnTo>
              </a:path>
            </a:pathLst>
          </a:custGeom>
          <a:ln w="127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18" name="자유형 17"/>
          <p:cNvSpPr/>
          <p:nvPr/>
        </p:nvSpPr>
        <p:spPr>
          <a:xfrm>
            <a:off x="745975" y="2128971"/>
            <a:ext cx="2883347" cy="379076"/>
          </a:xfrm>
          <a:custGeom>
            <a:avLst/>
            <a:gdLst>
              <a:gd name="connsiteX0" fmla="*/ 0 w 4944533"/>
              <a:gd name="connsiteY0" fmla="*/ 524934 h 524934"/>
              <a:gd name="connsiteX1" fmla="*/ 0 w 4944533"/>
              <a:gd name="connsiteY1" fmla="*/ 0 h 524934"/>
              <a:gd name="connsiteX2" fmla="*/ 4944533 w 4944533"/>
              <a:gd name="connsiteY2" fmla="*/ 0 h 524934"/>
              <a:gd name="connsiteX3" fmla="*/ 4944533 w 4944533"/>
              <a:gd name="connsiteY3" fmla="*/ 524934 h 524934"/>
            </a:gdLst>
            <a:ahLst/>
            <a:cxnLst>
              <a:cxn ang="0">
                <a:pos x="connsiteX0" y="connsiteY0"/>
              </a:cxn>
              <a:cxn ang="0">
                <a:pos x="connsiteX1" y="connsiteY1"/>
              </a:cxn>
              <a:cxn ang="0">
                <a:pos x="connsiteX2" y="connsiteY2"/>
              </a:cxn>
              <a:cxn ang="0">
                <a:pos x="connsiteX3" y="connsiteY3"/>
              </a:cxn>
            </a:cxnLst>
            <a:rect l="l" t="t" r="r" b="b"/>
            <a:pathLst>
              <a:path w="4944533" h="524934">
                <a:moveTo>
                  <a:pt x="0" y="524934"/>
                </a:moveTo>
                <a:lnTo>
                  <a:pt x="0" y="0"/>
                </a:lnTo>
                <a:lnTo>
                  <a:pt x="4944533" y="0"/>
                </a:lnTo>
                <a:lnTo>
                  <a:pt x="4944533" y="524934"/>
                </a:lnTo>
              </a:path>
            </a:pathLst>
          </a:custGeom>
          <a:ln w="127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23" name="TextBox 22"/>
          <p:cNvSpPr txBox="1"/>
          <p:nvPr/>
        </p:nvSpPr>
        <p:spPr>
          <a:xfrm>
            <a:off x="2777221" y="1715973"/>
            <a:ext cx="811441" cy="276999"/>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6</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개월</a:t>
            </a:r>
          </a:p>
        </p:txBody>
      </p:sp>
      <p:sp>
        <p:nvSpPr>
          <p:cNvPr id="24" name="TextBox 23"/>
          <p:cNvSpPr txBox="1"/>
          <p:nvPr/>
        </p:nvSpPr>
        <p:spPr>
          <a:xfrm>
            <a:off x="1496913" y="1956603"/>
            <a:ext cx="672622" cy="276999"/>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개월</a:t>
            </a:r>
          </a:p>
        </p:txBody>
      </p:sp>
      <p:sp>
        <p:nvSpPr>
          <p:cNvPr id="25" name="TextBox 24"/>
          <p:cNvSpPr txBox="1"/>
          <p:nvPr/>
        </p:nvSpPr>
        <p:spPr>
          <a:xfrm>
            <a:off x="1012657" y="2196485"/>
            <a:ext cx="1133702" cy="307777"/>
          </a:xfrm>
          <a:prstGeom prst="rect">
            <a:avLst/>
          </a:prstGeom>
          <a:solidFill>
            <a:schemeClr val="bg1"/>
          </a:solid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일반적 유예기간</a:t>
            </a:r>
          </a:p>
        </p:txBody>
      </p:sp>
      <p:sp>
        <p:nvSpPr>
          <p:cNvPr id="7" name="직사각형 6"/>
          <p:cNvSpPr/>
          <p:nvPr/>
        </p:nvSpPr>
        <p:spPr>
          <a:xfrm>
            <a:off x="375735" y="2819346"/>
            <a:ext cx="754396" cy="33871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sp>
        <p:nvSpPr>
          <p:cNvPr id="8" name="직사각형 7"/>
          <p:cNvSpPr/>
          <p:nvPr/>
        </p:nvSpPr>
        <p:spPr>
          <a:xfrm>
            <a:off x="4483223" y="2819346"/>
            <a:ext cx="754396" cy="338710"/>
          </a:xfrm>
          <a:prstGeom prst="rect">
            <a:avLst/>
          </a:prstGeom>
          <a:solidFill>
            <a:schemeClr val="bg1">
              <a:lumMod val="95000"/>
            </a:schemeClr>
          </a:solid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출원공개</a:t>
            </a:r>
          </a:p>
        </p:txBody>
      </p:sp>
      <p:sp>
        <p:nvSpPr>
          <p:cNvPr id="53" name="자유형 52"/>
          <p:cNvSpPr/>
          <p:nvPr/>
        </p:nvSpPr>
        <p:spPr>
          <a:xfrm>
            <a:off x="8425865" y="2552095"/>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dotGrid">
            <a:fgClr>
              <a:schemeClr val="accent1"/>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ED7D31"/>
                </a:solidFill>
                <a:effectLst/>
                <a:uLnTx/>
                <a:uFillTx/>
                <a:latin typeface="Frutiger LT 65 Bold"/>
                <a:ea typeface="Rix모던고딕 B"/>
                <a:cs typeface="+mn-cs"/>
              </a:rPr>
              <a:t>3</a:t>
            </a:r>
            <a:r>
              <a:rPr kumimoji="0" lang="ko-KR" altLang="en-US" sz="1800" b="0" i="0" u="none" strike="noStrike" kern="1200" cap="none" spc="0" normalizeH="0" baseline="0" noProof="0" dirty="0">
                <a:ln>
                  <a:noFill/>
                </a:ln>
                <a:solidFill>
                  <a:srgbClr val="ED7D31"/>
                </a:solidFill>
                <a:effectLst/>
                <a:uLnTx/>
                <a:uFillTx/>
                <a:latin typeface="Frutiger LT 65 Bold"/>
                <a:ea typeface="Rix모던고딕 B"/>
                <a:cs typeface="+mn-cs"/>
              </a:rPr>
              <a:t>개월</a:t>
            </a:r>
          </a:p>
        </p:txBody>
      </p:sp>
      <p:cxnSp>
        <p:nvCxnSpPr>
          <p:cNvPr id="27" name="직선 연결선 26"/>
          <p:cNvCxnSpPr/>
          <p:nvPr/>
        </p:nvCxnSpPr>
        <p:spPr>
          <a:xfrm>
            <a:off x="6132541" y="2531671"/>
            <a:ext cx="588166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직사각형 27"/>
          <p:cNvSpPr/>
          <p:nvPr/>
        </p:nvSpPr>
        <p:spPr>
          <a:xfrm>
            <a:off x="6429584" y="2814519"/>
            <a:ext cx="813575" cy="33871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cxnSp>
        <p:nvCxnSpPr>
          <p:cNvPr id="30" name="직선 화살표 연결선 29"/>
          <p:cNvCxnSpPr>
            <a:stCxn id="28" idx="0"/>
          </p:cNvCxnSpPr>
          <p:nvPr/>
        </p:nvCxnSpPr>
        <p:spPr>
          <a:xfrm flipV="1">
            <a:off x="6836371" y="2531673"/>
            <a:ext cx="0" cy="282846"/>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자유형 32"/>
          <p:cNvSpPr/>
          <p:nvPr/>
        </p:nvSpPr>
        <p:spPr>
          <a:xfrm>
            <a:off x="6828867" y="2124144"/>
            <a:ext cx="4007714" cy="379076"/>
          </a:xfrm>
          <a:custGeom>
            <a:avLst/>
            <a:gdLst>
              <a:gd name="connsiteX0" fmla="*/ 0 w 4944533"/>
              <a:gd name="connsiteY0" fmla="*/ 524934 h 524934"/>
              <a:gd name="connsiteX1" fmla="*/ 0 w 4944533"/>
              <a:gd name="connsiteY1" fmla="*/ 0 h 524934"/>
              <a:gd name="connsiteX2" fmla="*/ 4944533 w 4944533"/>
              <a:gd name="connsiteY2" fmla="*/ 0 h 524934"/>
              <a:gd name="connsiteX3" fmla="*/ 4944533 w 4944533"/>
              <a:gd name="connsiteY3" fmla="*/ 524934 h 524934"/>
            </a:gdLst>
            <a:ahLst/>
            <a:cxnLst>
              <a:cxn ang="0">
                <a:pos x="connsiteX0" y="connsiteY0"/>
              </a:cxn>
              <a:cxn ang="0">
                <a:pos x="connsiteX1" y="connsiteY1"/>
              </a:cxn>
              <a:cxn ang="0">
                <a:pos x="connsiteX2" y="connsiteY2"/>
              </a:cxn>
              <a:cxn ang="0">
                <a:pos x="connsiteX3" y="connsiteY3"/>
              </a:cxn>
            </a:cxnLst>
            <a:rect l="l" t="t" r="r" b="b"/>
            <a:pathLst>
              <a:path w="4944533" h="524934">
                <a:moveTo>
                  <a:pt x="0" y="524934"/>
                </a:moveTo>
                <a:lnTo>
                  <a:pt x="0" y="0"/>
                </a:lnTo>
                <a:lnTo>
                  <a:pt x="4944533" y="0"/>
                </a:lnTo>
                <a:lnTo>
                  <a:pt x="4944533" y="524934"/>
                </a:lnTo>
              </a:path>
            </a:pathLst>
          </a:custGeom>
          <a:ln w="127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35" name="TextBox 34"/>
          <p:cNvSpPr txBox="1"/>
          <p:nvPr/>
        </p:nvSpPr>
        <p:spPr>
          <a:xfrm>
            <a:off x="8186073" y="1951776"/>
            <a:ext cx="811441" cy="276999"/>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개월</a:t>
            </a:r>
          </a:p>
        </p:txBody>
      </p:sp>
      <p:sp>
        <p:nvSpPr>
          <p:cNvPr id="41" name="직사각형 40"/>
          <p:cNvSpPr/>
          <p:nvPr/>
        </p:nvSpPr>
        <p:spPr>
          <a:xfrm>
            <a:off x="7139176" y="3280186"/>
            <a:ext cx="813575"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심사청구</a:t>
            </a:r>
          </a:p>
        </p:txBody>
      </p:sp>
      <p:cxnSp>
        <p:nvCxnSpPr>
          <p:cNvPr id="42" name="직선 화살표 연결선 41"/>
          <p:cNvCxnSpPr>
            <a:stCxn id="41" idx="0"/>
          </p:cNvCxnSpPr>
          <p:nvPr/>
        </p:nvCxnSpPr>
        <p:spPr>
          <a:xfrm flipV="1">
            <a:off x="7545963" y="2531674"/>
            <a:ext cx="0" cy="74851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직사각형 44"/>
          <p:cNvSpPr/>
          <p:nvPr/>
        </p:nvSpPr>
        <p:spPr>
          <a:xfrm>
            <a:off x="8001406" y="3280186"/>
            <a:ext cx="813575"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취지통지</a:t>
            </a:r>
          </a:p>
        </p:txBody>
      </p:sp>
      <p:cxnSp>
        <p:nvCxnSpPr>
          <p:cNvPr id="46" name="직선 화살표 연결선 45"/>
          <p:cNvCxnSpPr>
            <a:stCxn id="45" idx="0"/>
          </p:cNvCxnSpPr>
          <p:nvPr/>
        </p:nvCxnSpPr>
        <p:spPr>
          <a:xfrm flipV="1">
            <a:off x="8408194" y="2531674"/>
            <a:ext cx="0" cy="74851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직사각형 46"/>
          <p:cNvSpPr/>
          <p:nvPr/>
        </p:nvSpPr>
        <p:spPr>
          <a:xfrm>
            <a:off x="9274312" y="3441083"/>
            <a:ext cx="813575"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심사청구</a:t>
            </a:r>
          </a:p>
        </p:txBody>
      </p:sp>
      <p:cxnSp>
        <p:nvCxnSpPr>
          <p:cNvPr id="48" name="직선 화살표 연결선 47"/>
          <p:cNvCxnSpPr>
            <a:stCxn id="47" idx="0"/>
          </p:cNvCxnSpPr>
          <p:nvPr/>
        </p:nvCxnSpPr>
        <p:spPr>
          <a:xfrm flipV="1">
            <a:off x="9681100" y="2531674"/>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9" name="직사각형 48"/>
          <p:cNvSpPr/>
          <p:nvPr/>
        </p:nvSpPr>
        <p:spPr>
          <a:xfrm>
            <a:off x="10136543" y="3441083"/>
            <a:ext cx="813575"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취지통지</a:t>
            </a:r>
          </a:p>
        </p:txBody>
      </p:sp>
      <p:cxnSp>
        <p:nvCxnSpPr>
          <p:cNvPr id="50" name="직선 화살표 연결선 49"/>
          <p:cNvCxnSpPr>
            <a:stCxn id="49" idx="0"/>
          </p:cNvCxnSpPr>
          <p:nvPr/>
        </p:nvCxnSpPr>
        <p:spPr>
          <a:xfrm flipV="1">
            <a:off x="10543330" y="2531674"/>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자유형 53"/>
          <p:cNvSpPr/>
          <p:nvPr/>
        </p:nvSpPr>
        <p:spPr>
          <a:xfrm>
            <a:off x="10543330" y="2552095"/>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dotGrid">
            <a:fgClr>
              <a:schemeClr val="accent1"/>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ED7D31"/>
                </a:solidFill>
                <a:effectLst/>
                <a:uLnTx/>
                <a:uFillTx/>
                <a:latin typeface="Frutiger LT 65 Bold"/>
                <a:ea typeface="Rix모던고딕 B"/>
                <a:cs typeface="+mn-cs"/>
              </a:rPr>
              <a:t>3</a:t>
            </a:r>
            <a:r>
              <a:rPr kumimoji="0" lang="ko-KR" altLang="en-US" sz="1800" b="0" i="0" u="none" strike="noStrike" kern="1200" cap="none" spc="0" normalizeH="0" baseline="0" noProof="0" dirty="0">
                <a:ln>
                  <a:noFill/>
                </a:ln>
                <a:solidFill>
                  <a:srgbClr val="ED7D31"/>
                </a:solidFill>
                <a:effectLst/>
                <a:uLnTx/>
                <a:uFillTx/>
                <a:latin typeface="Frutiger LT 65 Bold"/>
                <a:ea typeface="Rix모던고딕 B"/>
                <a:cs typeface="+mn-cs"/>
              </a:rPr>
              <a:t>개월</a:t>
            </a:r>
          </a:p>
        </p:txBody>
      </p:sp>
      <p:sp>
        <p:nvSpPr>
          <p:cNvPr id="55" name="TextBox 54"/>
          <p:cNvSpPr txBox="1"/>
          <p:nvPr/>
        </p:nvSpPr>
        <p:spPr>
          <a:xfrm>
            <a:off x="10357895" y="3071751"/>
            <a:ext cx="370870" cy="369332"/>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❷</a:t>
            </a:r>
          </a:p>
        </p:txBody>
      </p:sp>
      <p:sp>
        <p:nvSpPr>
          <p:cNvPr id="56" name="TextBox 55"/>
          <p:cNvSpPr txBox="1"/>
          <p:nvPr/>
        </p:nvSpPr>
        <p:spPr>
          <a:xfrm>
            <a:off x="8213962" y="2945789"/>
            <a:ext cx="370870" cy="369332"/>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❶</a:t>
            </a:r>
          </a:p>
        </p:txBody>
      </p:sp>
      <p:sp>
        <p:nvSpPr>
          <p:cNvPr id="57" name="TextBox 56"/>
          <p:cNvSpPr txBox="1"/>
          <p:nvPr/>
        </p:nvSpPr>
        <p:spPr>
          <a:xfrm>
            <a:off x="9106441" y="2367429"/>
            <a:ext cx="370870" cy="369332"/>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❶</a:t>
            </a:r>
          </a:p>
        </p:txBody>
      </p:sp>
      <p:sp>
        <p:nvSpPr>
          <p:cNvPr id="58" name="TextBox 57"/>
          <p:cNvSpPr txBox="1"/>
          <p:nvPr/>
        </p:nvSpPr>
        <p:spPr>
          <a:xfrm>
            <a:off x="10658715" y="2249134"/>
            <a:ext cx="370870" cy="369332"/>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❷</a:t>
            </a:r>
          </a:p>
        </p:txBody>
      </p:sp>
      <p:sp>
        <p:nvSpPr>
          <p:cNvPr id="59" name="Rectangle 5"/>
          <p:cNvSpPr>
            <a:spLocks noChangeArrowheads="1"/>
          </p:cNvSpPr>
          <p:nvPr/>
        </p:nvSpPr>
        <p:spPr bwMode="auto">
          <a:xfrm>
            <a:off x="6166216" y="1106382"/>
            <a:ext cx="2153886" cy="505913"/>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제</a:t>
            </a:r>
            <a:r>
              <a:rPr kumimoji="0" lang="en-US" altLang="ko-KR" sz="1600" b="0" i="0" u="none" strike="noStrike" kern="1200" cap="none" spc="0" normalizeH="0" baseline="0" noProof="0" dirty="0">
                <a:ln>
                  <a:noFill/>
                </a:ln>
                <a:solidFill>
                  <a:prstClr val="white"/>
                </a:solidFill>
                <a:effectLst/>
                <a:uLnTx/>
                <a:uFillTx/>
                <a:latin typeface="Rix모던고딕 EB"/>
                <a:ea typeface="Rix모던고딕 EB"/>
                <a:cs typeface="+mn-cs"/>
              </a:rPr>
              <a:t>3</a:t>
            </a: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자의 심사청구</a:t>
            </a:r>
            <a:endParaRPr kumimoji="0" lang="en-US" altLang="ko-KR" sz="1600" b="0" i="0" u="none" strike="noStrike" kern="1200" cap="none" spc="0" normalizeH="0" baseline="0" noProof="0" dirty="0">
              <a:ln>
                <a:noFill/>
              </a:ln>
              <a:solidFill>
                <a:prstClr val="white"/>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a:t>
            </a: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제</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42</a:t>
            </a: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조의</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2</a:t>
            </a: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제</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2</a:t>
            </a:r>
            <a:r>
              <a:rPr kumimoji="0" lang="ko-KR" altLang="en-US" sz="1100" b="0" i="0" u="none" strike="noStrike" kern="1200" cap="none" spc="0" normalizeH="0" baseline="0" noProof="0" dirty="0" err="1">
                <a:ln>
                  <a:noFill/>
                </a:ln>
                <a:solidFill>
                  <a:prstClr val="white"/>
                </a:solidFill>
                <a:effectLst/>
                <a:uLnTx/>
                <a:uFillTx/>
                <a:latin typeface="Rix모던고딕 EB"/>
                <a:ea typeface="Rix모던고딕 EB"/>
                <a:cs typeface="+mn-cs"/>
              </a:rPr>
              <a:t>항단서</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a:t>
            </a:r>
            <a:endPar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endParaRPr>
          </a:p>
        </p:txBody>
      </p:sp>
      <p:cxnSp>
        <p:nvCxnSpPr>
          <p:cNvPr id="63" name="직선 연결선 62"/>
          <p:cNvCxnSpPr/>
          <p:nvPr/>
        </p:nvCxnSpPr>
        <p:spPr>
          <a:xfrm>
            <a:off x="5741812" y="1095555"/>
            <a:ext cx="0" cy="2816524"/>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직선 연결선 64"/>
          <p:cNvCxnSpPr/>
          <p:nvPr/>
        </p:nvCxnSpPr>
        <p:spPr>
          <a:xfrm>
            <a:off x="375735" y="4140200"/>
            <a:ext cx="11469132"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Rectangle 5"/>
          <p:cNvSpPr>
            <a:spLocks noChangeArrowheads="1"/>
          </p:cNvSpPr>
          <p:nvPr/>
        </p:nvSpPr>
        <p:spPr bwMode="auto">
          <a:xfrm>
            <a:off x="127524" y="4323715"/>
            <a:ext cx="2153886" cy="505913"/>
          </a:xfrm>
          <a:prstGeom prst="roundRect">
            <a:avLst>
              <a:gd name="adj" fmla="val 50000"/>
            </a:avLst>
          </a:prstGeom>
          <a:solidFill>
            <a:schemeClr val="accent1"/>
          </a:solid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EB"/>
                <a:ea typeface="Rix모던고딕 EB"/>
                <a:cs typeface="+mn-cs"/>
              </a:rPr>
              <a:t>분할출원</a:t>
            </a:r>
            <a:r>
              <a:rPr kumimoji="0" lang="en-US" altLang="ko-KR" sz="1600" b="0" i="0" u="none" strike="noStrike" kern="1200" cap="none" spc="0" normalizeH="0" baseline="0" noProof="0" dirty="0">
                <a:ln>
                  <a:noFill/>
                </a:ln>
                <a:solidFill>
                  <a:prstClr val="white"/>
                </a:solidFill>
                <a:effectLst/>
                <a:uLnTx/>
                <a:uFillTx/>
                <a:latin typeface="Rix모던고딕 EB"/>
                <a:ea typeface="Rix모던고딕 EB"/>
                <a:cs typeface="+mn-cs"/>
              </a:rPr>
              <a:t>, </a:t>
            </a:r>
            <a:r>
              <a:rPr kumimoji="0" lang="ko-KR" altLang="en-US" sz="1600" b="0" i="0" u="none" strike="noStrike" kern="1200" cap="none" spc="0" normalizeH="0" baseline="0" noProof="0" dirty="0" err="1">
                <a:ln>
                  <a:noFill/>
                </a:ln>
                <a:solidFill>
                  <a:prstClr val="white"/>
                </a:solidFill>
                <a:effectLst/>
                <a:uLnTx/>
                <a:uFillTx/>
                <a:latin typeface="Rix모던고딕 EB"/>
                <a:ea typeface="Rix모던고딕 EB"/>
                <a:cs typeface="+mn-cs"/>
              </a:rPr>
              <a:t>변경출원</a:t>
            </a:r>
            <a:endParaRPr kumimoji="0" lang="en-US" altLang="ko-KR" sz="1600" b="0" i="0" u="none" strike="noStrike" kern="1200" cap="none" spc="0" normalizeH="0" baseline="0" noProof="0" dirty="0">
              <a:ln>
                <a:noFill/>
              </a:ln>
              <a:solidFill>
                <a:prstClr val="white"/>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a:t>
            </a: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제</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52</a:t>
            </a: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조제</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8</a:t>
            </a: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항</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a:t>
            </a: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제</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53</a:t>
            </a: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조제</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8</a:t>
            </a: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항</a:t>
            </a:r>
            <a:r>
              <a:rPr kumimoji="0" lang="en-US" altLang="ko-KR" sz="1100" b="0" i="0" u="none" strike="noStrike" kern="1200" cap="none" spc="0" normalizeH="0" baseline="0" noProof="0" dirty="0">
                <a:ln>
                  <a:noFill/>
                </a:ln>
                <a:solidFill>
                  <a:prstClr val="white"/>
                </a:solidFill>
                <a:effectLst/>
                <a:uLnTx/>
                <a:uFillTx/>
                <a:latin typeface="Rix모던고딕 EB"/>
                <a:ea typeface="Rix모던고딕 EB"/>
                <a:cs typeface="+mn-cs"/>
              </a:rPr>
              <a:t>)</a:t>
            </a:r>
            <a:endParaRPr kumimoji="0" lang="ko-KR" altLang="en-US" sz="2000" b="0" i="0" u="none" strike="noStrike" kern="1200" cap="none" spc="0" normalizeH="0" baseline="0" noProof="0" dirty="0">
              <a:ln>
                <a:noFill/>
              </a:ln>
              <a:solidFill>
                <a:prstClr val="white"/>
              </a:solidFill>
              <a:effectLst/>
              <a:uLnTx/>
              <a:uFillTx/>
              <a:latin typeface="Rix모던고딕 EB"/>
              <a:ea typeface="Rix모던고딕 EB"/>
              <a:cs typeface="+mn-cs"/>
            </a:endParaRPr>
          </a:p>
        </p:txBody>
      </p:sp>
      <p:sp>
        <p:nvSpPr>
          <p:cNvPr id="80" name="자유형 79"/>
          <p:cNvSpPr/>
          <p:nvPr/>
        </p:nvSpPr>
        <p:spPr>
          <a:xfrm>
            <a:off x="5415468" y="5068041"/>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ltHorz">
            <a:fgClr>
              <a:schemeClr val="accent4"/>
            </a:fgClr>
            <a:bgClr>
              <a:schemeClr val="bg1"/>
            </a:bgClr>
          </a:pattFill>
          <a:ln>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30</a:t>
            </a:r>
            <a:r>
              <a:rPr kumimoji="0" lang="ko-KR" altLang="en-US" sz="18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일</a:t>
            </a:r>
          </a:p>
        </p:txBody>
      </p:sp>
      <p:cxnSp>
        <p:nvCxnSpPr>
          <p:cNvPr id="81" name="직선 연결선 80"/>
          <p:cNvCxnSpPr/>
          <p:nvPr/>
        </p:nvCxnSpPr>
        <p:spPr>
          <a:xfrm>
            <a:off x="3122144" y="5047617"/>
            <a:ext cx="8527989"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직사각형 81"/>
          <p:cNvSpPr/>
          <p:nvPr/>
        </p:nvSpPr>
        <p:spPr>
          <a:xfrm>
            <a:off x="3419187" y="5330465"/>
            <a:ext cx="813575" cy="33871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cxnSp>
        <p:nvCxnSpPr>
          <p:cNvPr id="83" name="직선 화살표 연결선 82"/>
          <p:cNvCxnSpPr>
            <a:stCxn id="82" idx="0"/>
          </p:cNvCxnSpPr>
          <p:nvPr/>
        </p:nvCxnSpPr>
        <p:spPr>
          <a:xfrm flipV="1">
            <a:off x="3825974" y="5047619"/>
            <a:ext cx="0" cy="282846"/>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4" name="자유형 83"/>
          <p:cNvSpPr/>
          <p:nvPr/>
        </p:nvSpPr>
        <p:spPr>
          <a:xfrm>
            <a:off x="3818470" y="4640090"/>
            <a:ext cx="4007714" cy="379076"/>
          </a:xfrm>
          <a:custGeom>
            <a:avLst/>
            <a:gdLst>
              <a:gd name="connsiteX0" fmla="*/ 0 w 4944533"/>
              <a:gd name="connsiteY0" fmla="*/ 524934 h 524934"/>
              <a:gd name="connsiteX1" fmla="*/ 0 w 4944533"/>
              <a:gd name="connsiteY1" fmla="*/ 0 h 524934"/>
              <a:gd name="connsiteX2" fmla="*/ 4944533 w 4944533"/>
              <a:gd name="connsiteY2" fmla="*/ 0 h 524934"/>
              <a:gd name="connsiteX3" fmla="*/ 4944533 w 4944533"/>
              <a:gd name="connsiteY3" fmla="*/ 524934 h 524934"/>
            </a:gdLst>
            <a:ahLst/>
            <a:cxnLst>
              <a:cxn ang="0">
                <a:pos x="connsiteX0" y="connsiteY0"/>
              </a:cxn>
              <a:cxn ang="0">
                <a:pos x="connsiteX1" y="connsiteY1"/>
              </a:cxn>
              <a:cxn ang="0">
                <a:pos x="connsiteX2" y="connsiteY2"/>
              </a:cxn>
              <a:cxn ang="0">
                <a:pos x="connsiteX3" y="connsiteY3"/>
              </a:cxn>
            </a:cxnLst>
            <a:rect l="l" t="t" r="r" b="b"/>
            <a:pathLst>
              <a:path w="4944533" h="524934">
                <a:moveTo>
                  <a:pt x="0" y="524934"/>
                </a:moveTo>
                <a:lnTo>
                  <a:pt x="0" y="0"/>
                </a:lnTo>
                <a:lnTo>
                  <a:pt x="4944533" y="0"/>
                </a:lnTo>
                <a:lnTo>
                  <a:pt x="4944533" y="524934"/>
                </a:lnTo>
              </a:path>
            </a:pathLst>
          </a:custGeom>
          <a:ln w="127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85" name="TextBox 84"/>
          <p:cNvSpPr txBox="1"/>
          <p:nvPr/>
        </p:nvSpPr>
        <p:spPr>
          <a:xfrm>
            <a:off x="4208554" y="4501590"/>
            <a:ext cx="3236784" cy="276999"/>
          </a:xfrm>
          <a:prstGeom prst="rect">
            <a:avLst/>
          </a:prstGeom>
          <a:solidFill>
            <a:schemeClr val="bg1"/>
          </a:solid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일반적인 유예기간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 본문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단서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8" name="직사각형 87"/>
          <p:cNvSpPr/>
          <p:nvPr/>
        </p:nvSpPr>
        <p:spPr>
          <a:xfrm>
            <a:off x="4991009" y="5940071"/>
            <a:ext cx="813575"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분할출원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변경출원</a:t>
            </a:r>
          </a:p>
        </p:txBody>
      </p:sp>
      <p:cxnSp>
        <p:nvCxnSpPr>
          <p:cNvPr id="89" name="직선 화살표 연결선 88"/>
          <p:cNvCxnSpPr>
            <a:stCxn id="88" idx="0"/>
          </p:cNvCxnSpPr>
          <p:nvPr/>
        </p:nvCxnSpPr>
        <p:spPr>
          <a:xfrm flipH="1" flipV="1">
            <a:off x="5389000" y="5076507"/>
            <a:ext cx="8797" cy="863564"/>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직사각형 91"/>
          <p:cNvSpPr/>
          <p:nvPr/>
        </p:nvSpPr>
        <p:spPr>
          <a:xfrm>
            <a:off x="7126146" y="5957029"/>
            <a:ext cx="813575"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분할출원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변경출원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3" name="직선 화살표 연결선 92"/>
          <p:cNvCxnSpPr>
            <a:stCxn id="92" idx="0"/>
          </p:cNvCxnSpPr>
          <p:nvPr/>
        </p:nvCxnSpPr>
        <p:spPr>
          <a:xfrm flipV="1">
            <a:off x="7532933" y="5047620"/>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4" name="자유형 93"/>
          <p:cNvSpPr/>
          <p:nvPr/>
        </p:nvSpPr>
        <p:spPr>
          <a:xfrm>
            <a:off x="7532933" y="5068041"/>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ltHorz">
            <a:fgClr>
              <a:schemeClr val="accent4"/>
            </a:fgClr>
            <a:bgClr>
              <a:schemeClr val="bg1"/>
            </a:bgClr>
          </a:pattFill>
          <a:ln>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30</a:t>
            </a:r>
            <a:r>
              <a:rPr kumimoji="0" lang="ko-KR" altLang="en-US" sz="18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일</a:t>
            </a:r>
          </a:p>
        </p:txBody>
      </p:sp>
      <p:sp>
        <p:nvSpPr>
          <p:cNvPr id="95" name="TextBox 94"/>
          <p:cNvSpPr txBox="1"/>
          <p:nvPr/>
        </p:nvSpPr>
        <p:spPr>
          <a:xfrm>
            <a:off x="7347498" y="5587697"/>
            <a:ext cx="370870" cy="369332"/>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❷</a:t>
            </a:r>
          </a:p>
        </p:txBody>
      </p:sp>
      <p:sp>
        <p:nvSpPr>
          <p:cNvPr id="96" name="TextBox 95"/>
          <p:cNvSpPr txBox="1"/>
          <p:nvPr/>
        </p:nvSpPr>
        <p:spPr>
          <a:xfrm>
            <a:off x="5203565" y="5554872"/>
            <a:ext cx="370870" cy="369332"/>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❶</a:t>
            </a:r>
          </a:p>
        </p:txBody>
      </p:sp>
      <p:sp>
        <p:nvSpPr>
          <p:cNvPr id="97" name="TextBox 96"/>
          <p:cNvSpPr txBox="1"/>
          <p:nvPr/>
        </p:nvSpPr>
        <p:spPr>
          <a:xfrm>
            <a:off x="7632931" y="4857974"/>
            <a:ext cx="370870" cy="369332"/>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❶</a:t>
            </a:r>
          </a:p>
        </p:txBody>
      </p:sp>
      <p:sp>
        <p:nvSpPr>
          <p:cNvPr id="98" name="TextBox 97"/>
          <p:cNvSpPr txBox="1"/>
          <p:nvPr/>
        </p:nvSpPr>
        <p:spPr>
          <a:xfrm>
            <a:off x="8215607" y="4866684"/>
            <a:ext cx="370870" cy="369332"/>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❷</a:t>
            </a:r>
          </a:p>
        </p:txBody>
      </p:sp>
      <p:sp>
        <p:nvSpPr>
          <p:cNvPr id="100" name="직사각형 99"/>
          <p:cNvSpPr/>
          <p:nvPr/>
        </p:nvSpPr>
        <p:spPr>
          <a:xfrm>
            <a:off x="9417031" y="5957029"/>
            <a:ext cx="813575"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분할출원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변경출원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01" name="직선 화살표 연결선 100"/>
          <p:cNvCxnSpPr>
            <a:stCxn id="100" idx="0"/>
          </p:cNvCxnSpPr>
          <p:nvPr/>
        </p:nvCxnSpPr>
        <p:spPr>
          <a:xfrm flipV="1">
            <a:off x="9823818" y="5047620"/>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2" name="자유형 101"/>
          <p:cNvSpPr/>
          <p:nvPr/>
        </p:nvSpPr>
        <p:spPr>
          <a:xfrm>
            <a:off x="9823818" y="5068041"/>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ltHorz">
            <a:fgClr>
              <a:schemeClr val="accent4"/>
            </a:fgClr>
            <a:bgClr>
              <a:schemeClr val="bg1"/>
            </a:bgClr>
          </a:pattFill>
          <a:ln>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30</a:t>
            </a:r>
            <a:r>
              <a:rPr kumimoji="0" lang="ko-KR" altLang="en-US" sz="18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일</a:t>
            </a:r>
          </a:p>
        </p:txBody>
      </p:sp>
      <p:sp>
        <p:nvSpPr>
          <p:cNvPr id="103" name="TextBox 102"/>
          <p:cNvSpPr txBox="1"/>
          <p:nvPr/>
        </p:nvSpPr>
        <p:spPr>
          <a:xfrm>
            <a:off x="9638383" y="5587697"/>
            <a:ext cx="370870" cy="369332"/>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❸</a:t>
            </a:r>
          </a:p>
        </p:txBody>
      </p:sp>
      <p:sp>
        <p:nvSpPr>
          <p:cNvPr id="104" name="TextBox 103"/>
          <p:cNvSpPr txBox="1"/>
          <p:nvPr/>
        </p:nvSpPr>
        <p:spPr>
          <a:xfrm>
            <a:off x="10503045" y="4857914"/>
            <a:ext cx="370870" cy="369332"/>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❸</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125</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3" name="TextBox 2">
            <a:extLst>
              <a:ext uri="{FF2B5EF4-FFF2-40B4-BE49-F238E27FC236}">
                <a16:creationId xmlns:a16="http://schemas.microsoft.com/office/drawing/2014/main" id="{79D26C01-DDBF-498F-BDC8-A1379D666A76}"/>
              </a:ext>
            </a:extLst>
          </p:cNvPr>
          <p:cNvSpPr txBox="1"/>
          <p:nvPr/>
        </p:nvSpPr>
        <p:spPr>
          <a:xfrm>
            <a:off x="100299" y="6527335"/>
            <a:ext cx="2608406" cy="261610"/>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분리출원의 경우 청구범위 제출유예 불가</a:t>
            </a:r>
          </a:p>
        </p:txBody>
      </p:sp>
    </p:spTree>
    <p:extLst>
      <p:ext uri="{BB962C8B-B14F-4D97-AF65-F5344CB8AC3E}">
        <p14:creationId xmlns:p14="http://schemas.microsoft.com/office/powerpoint/2010/main" val="177131303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126</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ko-KR" altLang="en-US" dirty="0"/>
              <a:t>명세서의 구조</a:t>
            </a:r>
          </a:p>
        </p:txBody>
      </p:sp>
      <p:sp>
        <p:nvSpPr>
          <p:cNvPr id="36" name="한쪽 모서리가 잘린 사각형 41">
            <a:extLst>
              <a:ext uri="{FF2B5EF4-FFF2-40B4-BE49-F238E27FC236}">
                <a16:creationId xmlns:a16="http://schemas.microsoft.com/office/drawing/2014/main" id="{C5DC9B61-F023-E3F5-DFEE-07F1F6638F30}"/>
              </a:ext>
            </a:extLst>
          </p:cNvPr>
          <p:cNvSpPr/>
          <p:nvPr/>
        </p:nvSpPr>
        <p:spPr bwMode="auto">
          <a:xfrm>
            <a:off x="431371" y="1232123"/>
            <a:ext cx="5568949" cy="2679700"/>
          </a:xfrm>
          <a:prstGeom prst="snip1Rect">
            <a:avLst/>
          </a:prstGeom>
          <a:ln>
            <a:solidFill>
              <a:schemeClr val="tx2">
                <a:lumMod val="50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lIns="90000" tIns="46800" rIns="90000" bIns="46800"/>
          <a:lstStyle/>
          <a:p>
            <a:pPr marL="0" marR="0" lvl="0" indent="0" algn="ctr" defTabSz="914400" rtl="0" eaLnBrk="1" fontAlgn="auto" latinLnBrk="1" hangingPunct="1">
              <a:lnSpc>
                <a:spcPct val="100000"/>
              </a:lnSpc>
              <a:spcBef>
                <a:spcPts val="0"/>
              </a:spcBef>
              <a:spcAft>
                <a:spcPts val="0"/>
              </a:spcAft>
              <a:buClrTx/>
              <a:buSzTx/>
              <a:buFont typeface="Wingdings" pitchFamily="2" charset="2"/>
              <a:buNone/>
              <a:tabLst/>
              <a:defRPr/>
            </a:pPr>
            <a:endParaRPr kumimoji="0" lang="ko-KR" altLang="en-US" sz="2000" b="0" i="0" u="none" strike="noStrike" kern="1200" cap="none" spc="0" normalizeH="0" baseline="0" noProof="0">
              <a:ln>
                <a:noFill/>
              </a:ln>
              <a:solidFill>
                <a:srgbClr val="1C1C1C"/>
              </a:solidFill>
              <a:effectLst/>
              <a:uLnTx/>
              <a:uFillTx/>
              <a:latin typeface="Rix모던고딕 B"/>
              <a:ea typeface="Rix모던고딕 B"/>
              <a:cs typeface="+mn-cs"/>
            </a:endParaRPr>
          </a:p>
        </p:txBody>
      </p:sp>
      <p:sp>
        <p:nvSpPr>
          <p:cNvPr id="37" name="Rectangle 7">
            <a:extLst>
              <a:ext uri="{FF2B5EF4-FFF2-40B4-BE49-F238E27FC236}">
                <a16:creationId xmlns:a16="http://schemas.microsoft.com/office/drawing/2014/main" id="{BC53DE68-4DF1-E830-1EBF-D636A24C8565}"/>
              </a:ext>
            </a:extLst>
          </p:cNvPr>
          <p:cNvSpPr>
            <a:spLocks noChangeArrowheads="1"/>
          </p:cNvSpPr>
          <p:nvPr/>
        </p:nvSpPr>
        <p:spPr bwMode="auto">
          <a:xfrm>
            <a:off x="816605" y="1628800"/>
            <a:ext cx="1150937" cy="260746"/>
          </a:xfrm>
          <a:prstGeom prst="rect">
            <a:avLst/>
          </a:prstGeom>
          <a:solidFill>
            <a:schemeClr val="accent1">
              <a:lumMod val="20000"/>
              <a:lumOff val="80000"/>
            </a:schemeClr>
          </a:solidFill>
          <a:ln>
            <a:headEnd/>
            <a:tailEnd/>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rPr>
              <a:t>출원서</a:t>
            </a:r>
          </a:p>
        </p:txBody>
      </p:sp>
      <p:sp>
        <p:nvSpPr>
          <p:cNvPr id="38" name="Rectangle 8">
            <a:extLst>
              <a:ext uri="{FF2B5EF4-FFF2-40B4-BE49-F238E27FC236}">
                <a16:creationId xmlns:a16="http://schemas.microsoft.com/office/drawing/2014/main" id="{49B0B647-03FB-24E7-9244-1AAEFC5581A6}"/>
              </a:ext>
            </a:extLst>
          </p:cNvPr>
          <p:cNvSpPr>
            <a:spLocks noChangeArrowheads="1"/>
          </p:cNvSpPr>
          <p:nvPr/>
        </p:nvSpPr>
        <p:spPr bwMode="auto">
          <a:xfrm>
            <a:off x="816605" y="2194389"/>
            <a:ext cx="1150937" cy="260746"/>
          </a:xfrm>
          <a:prstGeom prst="rect">
            <a:avLst/>
          </a:prstGeom>
          <a:solidFill>
            <a:schemeClr val="accent1">
              <a:lumMod val="20000"/>
              <a:lumOff val="80000"/>
            </a:schemeClr>
          </a:solidFill>
          <a:ln>
            <a:solidFill>
              <a:schemeClr val="accent4">
                <a:lumMod val="50000"/>
              </a:schemeClr>
            </a:solidFill>
            <a:headEnd/>
            <a:tailEnd/>
          </a:ln>
        </p:spPr>
        <p:style>
          <a:lnRef idx="2">
            <a:schemeClr val="accent4">
              <a:shade val="50000"/>
            </a:schemeClr>
          </a:lnRef>
          <a:fillRef idx="1">
            <a:schemeClr val="accent4"/>
          </a:fillRef>
          <a:effectRef idx="0">
            <a:schemeClr val="accent4"/>
          </a:effectRef>
          <a:fontRef idx="minor">
            <a:schemeClr val="lt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명세서</a:t>
            </a:r>
          </a:p>
        </p:txBody>
      </p:sp>
      <p:sp>
        <p:nvSpPr>
          <p:cNvPr id="39" name="Rectangle 9">
            <a:extLst>
              <a:ext uri="{FF2B5EF4-FFF2-40B4-BE49-F238E27FC236}">
                <a16:creationId xmlns:a16="http://schemas.microsoft.com/office/drawing/2014/main" id="{51CCB645-7BD2-15DC-F9C1-A9BE8C1C0A12}"/>
              </a:ext>
            </a:extLst>
          </p:cNvPr>
          <p:cNvSpPr>
            <a:spLocks noChangeArrowheads="1"/>
          </p:cNvSpPr>
          <p:nvPr/>
        </p:nvSpPr>
        <p:spPr bwMode="auto">
          <a:xfrm>
            <a:off x="816605" y="2803116"/>
            <a:ext cx="1150937" cy="260746"/>
          </a:xfrm>
          <a:prstGeom prst="rect">
            <a:avLst/>
          </a:prstGeom>
          <a:solidFill>
            <a:schemeClr val="accent1">
              <a:lumMod val="20000"/>
              <a:lumOff val="80000"/>
            </a:schemeClr>
          </a:solidFill>
          <a:ln>
            <a:headEnd/>
            <a:tailEnd/>
          </a:ln>
        </p:spPr>
        <p:style>
          <a:lnRef idx="2">
            <a:schemeClr val="accent5">
              <a:shade val="50000"/>
            </a:schemeClr>
          </a:lnRef>
          <a:fillRef idx="1">
            <a:schemeClr val="accent5"/>
          </a:fillRef>
          <a:effectRef idx="0">
            <a:schemeClr val="accent5"/>
          </a:effectRef>
          <a:fontRef idx="minor">
            <a:schemeClr val="lt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필요한 도면</a:t>
            </a:r>
          </a:p>
        </p:txBody>
      </p:sp>
      <p:sp>
        <p:nvSpPr>
          <p:cNvPr id="42" name="Rectangle 10">
            <a:extLst>
              <a:ext uri="{FF2B5EF4-FFF2-40B4-BE49-F238E27FC236}">
                <a16:creationId xmlns:a16="http://schemas.microsoft.com/office/drawing/2014/main" id="{A9552D65-B461-4102-3CED-3FB5814C24A7}"/>
              </a:ext>
            </a:extLst>
          </p:cNvPr>
          <p:cNvSpPr>
            <a:spLocks noChangeArrowheads="1"/>
          </p:cNvSpPr>
          <p:nvPr/>
        </p:nvSpPr>
        <p:spPr bwMode="auto">
          <a:xfrm>
            <a:off x="816605" y="3368705"/>
            <a:ext cx="1150937" cy="260746"/>
          </a:xfrm>
          <a:prstGeom prst="rect">
            <a:avLst/>
          </a:prstGeom>
          <a:solidFill>
            <a:schemeClr val="accent1">
              <a:lumMod val="20000"/>
              <a:lumOff val="80000"/>
            </a:schemeClr>
          </a:solidFill>
          <a:ln>
            <a:headEnd/>
            <a:tailEnd/>
          </a:ln>
        </p:spPr>
        <p:style>
          <a:lnRef idx="2">
            <a:schemeClr val="accent6">
              <a:shade val="50000"/>
            </a:schemeClr>
          </a:lnRef>
          <a:fillRef idx="1">
            <a:schemeClr val="accent6"/>
          </a:fillRef>
          <a:effectRef idx="0">
            <a:schemeClr val="accent6"/>
          </a:effectRef>
          <a:fontRef idx="minor">
            <a:schemeClr val="lt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rPr>
              <a:t>요약서</a:t>
            </a:r>
          </a:p>
        </p:txBody>
      </p:sp>
      <p:cxnSp>
        <p:nvCxnSpPr>
          <p:cNvPr id="44" name="AutoShape 11">
            <a:extLst>
              <a:ext uri="{FF2B5EF4-FFF2-40B4-BE49-F238E27FC236}">
                <a16:creationId xmlns:a16="http://schemas.microsoft.com/office/drawing/2014/main" id="{104EC371-41D8-99AA-EC32-33DEF666A3C4}"/>
              </a:ext>
            </a:extLst>
          </p:cNvPr>
          <p:cNvCxnSpPr>
            <a:cxnSpLocks noChangeShapeType="1"/>
            <a:stCxn id="37" idx="2"/>
            <a:endCxn id="38" idx="0"/>
          </p:cNvCxnSpPr>
          <p:nvPr/>
        </p:nvCxnSpPr>
        <p:spPr bwMode="auto">
          <a:xfrm>
            <a:off x="1392073" y="1889546"/>
            <a:ext cx="0" cy="304843"/>
          </a:xfrm>
          <a:prstGeom prst="straightConnector1">
            <a:avLst/>
          </a:prstGeom>
          <a:ln>
            <a:headEnd/>
            <a:tailEnd/>
          </a:ln>
        </p:spPr>
        <p:style>
          <a:lnRef idx="2">
            <a:schemeClr val="accent4">
              <a:shade val="50000"/>
            </a:schemeClr>
          </a:lnRef>
          <a:fillRef idx="1">
            <a:schemeClr val="accent4"/>
          </a:fillRef>
          <a:effectRef idx="0">
            <a:schemeClr val="accent4"/>
          </a:effectRef>
          <a:fontRef idx="minor">
            <a:schemeClr val="lt1"/>
          </a:fontRef>
        </p:style>
      </p:cxnSp>
      <p:cxnSp>
        <p:nvCxnSpPr>
          <p:cNvPr id="45" name="AutoShape 12">
            <a:extLst>
              <a:ext uri="{FF2B5EF4-FFF2-40B4-BE49-F238E27FC236}">
                <a16:creationId xmlns:a16="http://schemas.microsoft.com/office/drawing/2014/main" id="{F361BEF3-A113-4A3C-025C-D6CE532C48EF}"/>
              </a:ext>
            </a:extLst>
          </p:cNvPr>
          <p:cNvCxnSpPr>
            <a:cxnSpLocks noChangeShapeType="1"/>
            <a:stCxn id="38" idx="2"/>
            <a:endCxn id="39" idx="0"/>
          </p:cNvCxnSpPr>
          <p:nvPr/>
        </p:nvCxnSpPr>
        <p:spPr bwMode="auto">
          <a:xfrm>
            <a:off x="1392073" y="2455136"/>
            <a:ext cx="0" cy="347981"/>
          </a:xfrm>
          <a:prstGeom prst="straightConnector1">
            <a:avLst/>
          </a:prstGeom>
          <a:ln>
            <a:headEnd/>
            <a:tailEnd/>
          </a:ln>
        </p:spPr>
        <p:style>
          <a:lnRef idx="2">
            <a:schemeClr val="accent5">
              <a:shade val="50000"/>
            </a:schemeClr>
          </a:lnRef>
          <a:fillRef idx="1">
            <a:schemeClr val="accent5"/>
          </a:fillRef>
          <a:effectRef idx="0">
            <a:schemeClr val="accent5"/>
          </a:effectRef>
          <a:fontRef idx="minor">
            <a:schemeClr val="lt1"/>
          </a:fontRef>
        </p:style>
      </p:cxnSp>
      <p:cxnSp>
        <p:nvCxnSpPr>
          <p:cNvPr id="46" name="AutoShape 13">
            <a:extLst>
              <a:ext uri="{FF2B5EF4-FFF2-40B4-BE49-F238E27FC236}">
                <a16:creationId xmlns:a16="http://schemas.microsoft.com/office/drawing/2014/main" id="{09E505C5-2073-1968-442E-5AB4A9031244}"/>
              </a:ext>
            </a:extLst>
          </p:cNvPr>
          <p:cNvCxnSpPr>
            <a:cxnSpLocks noChangeShapeType="1"/>
            <a:stCxn id="39" idx="2"/>
            <a:endCxn id="42" idx="0"/>
          </p:cNvCxnSpPr>
          <p:nvPr/>
        </p:nvCxnSpPr>
        <p:spPr bwMode="auto">
          <a:xfrm>
            <a:off x="1392073" y="3063863"/>
            <a:ext cx="0" cy="304843"/>
          </a:xfrm>
          <a:prstGeom prst="straightConnector1">
            <a:avLst/>
          </a:prstGeom>
          <a:ln>
            <a:headEnd/>
            <a:tailEnd/>
          </a:ln>
        </p:spPr>
        <p:style>
          <a:lnRef idx="2">
            <a:schemeClr val="accent6">
              <a:shade val="50000"/>
            </a:schemeClr>
          </a:lnRef>
          <a:fillRef idx="1">
            <a:schemeClr val="accent6"/>
          </a:fillRef>
          <a:effectRef idx="0">
            <a:schemeClr val="accent6"/>
          </a:effectRef>
          <a:fontRef idx="minor">
            <a:schemeClr val="lt1"/>
          </a:fontRef>
        </p:style>
      </p:cxnSp>
      <p:sp>
        <p:nvSpPr>
          <p:cNvPr id="47" name="AutoShape 14">
            <a:extLst>
              <a:ext uri="{FF2B5EF4-FFF2-40B4-BE49-F238E27FC236}">
                <a16:creationId xmlns:a16="http://schemas.microsoft.com/office/drawing/2014/main" id="{0E4152DD-AE52-6640-FDAE-8F17E1E42FC2}"/>
              </a:ext>
            </a:extLst>
          </p:cNvPr>
          <p:cNvSpPr>
            <a:spLocks noChangeArrowheads="1"/>
          </p:cNvSpPr>
          <p:nvPr/>
        </p:nvSpPr>
        <p:spPr bwMode="auto">
          <a:xfrm>
            <a:off x="2929038" y="2107155"/>
            <a:ext cx="2592916" cy="241870"/>
          </a:xfrm>
          <a:prstGeom prst="roundRect">
            <a:avLst>
              <a:gd name="adj" fmla="val 16667"/>
            </a:avLst>
          </a:prstGeom>
          <a:solidFill>
            <a:schemeClr val="accent6">
              <a:lumMod val="50000"/>
            </a:schemeClr>
          </a:solidFill>
          <a:ln>
            <a:solidFill>
              <a:schemeClr val="accent4">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발명의 설명</a:t>
            </a:r>
            <a:r>
              <a:rPr kumimoji="0" lang="en-US" altLang="ko-KR" sz="1200" b="0" i="0" u="none" strike="noStrike" kern="1200" cap="none" spc="0" normalizeH="0" baseline="0" noProof="0" dirty="0">
                <a:ln>
                  <a:noFill/>
                </a:ln>
                <a:solidFill>
                  <a:prstClr val="white"/>
                </a:solidFill>
                <a:effectLst/>
                <a:uLnTx/>
                <a:uFillTx/>
                <a:latin typeface="Rix모던고딕 B"/>
                <a:ea typeface="Rix모던고딕 B"/>
                <a:cs typeface="+mn-cs"/>
              </a:rPr>
              <a:t>(A, B, C)</a:t>
            </a:r>
            <a:endPar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endParaRPr>
          </a:p>
        </p:txBody>
      </p:sp>
      <p:sp>
        <p:nvSpPr>
          <p:cNvPr id="48" name="AutoShape 17">
            <a:extLst>
              <a:ext uri="{FF2B5EF4-FFF2-40B4-BE49-F238E27FC236}">
                <a16:creationId xmlns:a16="http://schemas.microsoft.com/office/drawing/2014/main" id="{2B55328F-3CAC-E33A-6EE4-75F5FA34E9DE}"/>
              </a:ext>
            </a:extLst>
          </p:cNvPr>
          <p:cNvSpPr>
            <a:spLocks noChangeArrowheads="1"/>
          </p:cNvSpPr>
          <p:nvPr/>
        </p:nvSpPr>
        <p:spPr bwMode="auto">
          <a:xfrm>
            <a:off x="2929038" y="2446911"/>
            <a:ext cx="2592916" cy="241870"/>
          </a:xfrm>
          <a:prstGeom prst="roundRect">
            <a:avLst>
              <a:gd name="adj" fmla="val 16667"/>
            </a:avLst>
          </a:prstGeom>
          <a:solidFill>
            <a:schemeClr val="accent4"/>
          </a:solidFill>
          <a:ln>
            <a:solidFill>
              <a:schemeClr val="accent4">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청구범위</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 B)</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49" name="AutoShape 19">
            <a:extLst>
              <a:ext uri="{FF2B5EF4-FFF2-40B4-BE49-F238E27FC236}">
                <a16:creationId xmlns:a16="http://schemas.microsoft.com/office/drawing/2014/main" id="{C5C01786-5E3C-F073-49D9-83C0D091D94E}"/>
              </a:ext>
            </a:extLst>
          </p:cNvPr>
          <p:cNvCxnSpPr>
            <a:cxnSpLocks noChangeShapeType="1"/>
            <a:stCxn id="38" idx="3"/>
            <a:endCxn id="47" idx="1"/>
          </p:cNvCxnSpPr>
          <p:nvPr/>
        </p:nvCxnSpPr>
        <p:spPr bwMode="auto">
          <a:xfrm flipV="1">
            <a:off x="1967541" y="2228090"/>
            <a:ext cx="961496" cy="96672"/>
          </a:xfrm>
          <a:prstGeom prst="bentConnector3">
            <a:avLst>
              <a:gd name="adj1" fmla="val 50000"/>
            </a:avLst>
          </a:prstGeom>
          <a:ln>
            <a:solidFill>
              <a:schemeClr val="accent4">
                <a:lumMod val="50000"/>
              </a:schemeClr>
            </a:solidFill>
            <a:headEnd/>
            <a:tailEnd/>
          </a:ln>
        </p:spPr>
        <p:style>
          <a:lnRef idx="2">
            <a:schemeClr val="accent4"/>
          </a:lnRef>
          <a:fillRef idx="1">
            <a:schemeClr val="lt1"/>
          </a:fillRef>
          <a:effectRef idx="0">
            <a:schemeClr val="accent4"/>
          </a:effectRef>
          <a:fontRef idx="minor">
            <a:schemeClr val="dk1"/>
          </a:fontRef>
        </p:style>
      </p:cxnSp>
      <p:cxnSp>
        <p:nvCxnSpPr>
          <p:cNvPr id="50" name="AutoShape 22">
            <a:extLst>
              <a:ext uri="{FF2B5EF4-FFF2-40B4-BE49-F238E27FC236}">
                <a16:creationId xmlns:a16="http://schemas.microsoft.com/office/drawing/2014/main" id="{E93C6F3F-F081-9F48-1768-8A9E3C91AA35}"/>
              </a:ext>
            </a:extLst>
          </p:cNvPr>
          <p:cNvCxnSpPr>
            <a:cxnSpLocks noChangeShapeType="1"/>
            <a:stCxn id="38" idx="3"/>
            <a:endCxn id="48" idx="1"/>
          </p:cNvCxnSpPr>
          <p:nvPr/>
        </p:nvCxnSpPr>
        <p:spPr bwMode="auto">
          <a:xfrm>
            <a:off x="1967541" y="2324762"/>
            <a:ext cx="961496" cy="243084"/>
          </a:xfrm>
          <a:prstGeom prst="bentConnector3">
            <a:avLst>
              <a:gd name="adj1" fmla="val 50000"/>
            </a:avLst>
          </a:prstGeom>
          <a:ln>
            <a:solidFill>
              <a:schemeClr val="accent4">
                <a:lumMod val="50000"/>
              </a:schemeClr>
            </a:solidFill>
            <a:headEnd/>
            <a:tailEnd/>
          </a:ln>
        </p:spPr>
        <p:style>
          <a:lnRef idx="2">
            <a:schemeClr val="accent4"/>
          </a:lnRef>
          <a:fillRef idx="1">
            <a:schemeClr val="lt1"/>
          </a:fillRef>
          <a:effectRef idx="0">
            <a:schemeClr val="accent4"/>
          </a:effectRef>
          <a:fontRef idx="minor">
            <a:schemeClr val="dk1"/>
          </a:fontRef>
        </p:style>
      </p:cxnSp>
      <p:sp>
        <p:nvSpPr>
          <p:cNvPr id="51" name="모서리가 둥근 직사각형 53">
            <a:extLst>
              <a:ext uri="{FF2B5EF4-FFF2-40B4-BE49-F238E27FC236}">
                <a16:creationId xmlns:a16="http://schemas.microsoft.com/office/drawing/2014/main" id="{572D7694-02ED-BD45-6D04-147C4C62BEEF}"/>
              </a:ext>
            </a:extLst>
          </p:cNvPr>
          <p:cNvSpPr/>
          <p:nvPr/>
        </p:nvSpPr>
        <p:spPr bwMode="auto">
          <a:xfrm>
            <a:off x="719237" y="1052736"/>
            <a:ext cx="3073400" cy="360362"/>
          </a:xfrm>
          <a:prstGeom prst="roundRect">
            <a:avLst>
              <a:gd name="adj" fmla="val 50000"/>
            </a:avLst>
          </a:prstGeom>
          <a:solidFill>
            <a:schemeClr val="accent2"/>
          </a:solidFill>
          <a:ln>
            <a:solidFill>
              <a:schemeClr val="bg1">
                <a:lumMod val="50000"/>
              </a:schemeClr>
            </a:solidFill>
            <a:headEnd type="none" w="med" len="med"/>
            <a:tailEnd type="none" w="med" len="med"/>
          </a:ln>
          <a:effectLst/>
        </p:spPr>
        <p:style>
          <a:lnRef idx="1">
            <a:schemeClr val="accent1"/>
          </a:lnRef>
          <a:fillRef idx="3">
            <a:schemeClr val="accent1"/>
          </a:fillRef>
          <a:effectRef idx="2">
            <a:schemeClr val="accent1"/>
          </a:effectRef>
          <a:fontRef idx="minor">
            <a:schemeClr val="lt1"/>
          </a:fontRef>
        </p:style>
        <p:txBody>
          <a:bodyPr lIns="90000" tIns="46800" rIns="90000" bIns="4680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Rix모던고딕 EB"/>
                <a:ea typeface="Rix모던고딕 EB"/>
                <a:cs typeface="+mn-cs"/>
              </a:rPr>
              <a:t>특허출원에 필요한 서류</a:t>
            </a:r>
            <a:endParaRPr kumimoji="0" lang="ko-KR" altLang="en-US" sz="1400" b="0" i="0" u="none" strike="noStrike" kern="1200" cap="none" spc="0" normalizeH="0" baseline="0" noProof="0" dirty="0">
              <a:ln>
                <a:noFill/>
              </a:ln>
              <a:solidFill>
                <a:srgbClr val="1C1C1C"/>
              </a:solidFill>
              <a:effectLst/>
              <a:uLnTx/>
              <a:uFillTx/>
              <a:latin typeface="Rix모던고딕 EB"/>
              <a:ea typeface="Rix모던고딕 EB"/>
              <a:cs typeface="+mn-cs"/>
            </a:endParaRPr>
          </a:p>
        </p:txBody>
      </p:sp>
      <p:sp>
        <p:nvSpPr>
          <p:cNvPr id="52" name="직사각형 2">
            <a:extLst>
              <a:ext uri="{FF2B5EF4-FFF2-40B4-BE49-F238E27FC236}">
                <a16:creationId xmlns:a16="http://schemas.microsoft.com/office/drawing/2014/main" id="{8AF3CFE1-B65C-2C24-81B3-3C34C5C6A2C5}"/>
              </a:ext>
            </a:extLst>
          </p:cNvPr>
          <p:cNvSpPr>
            <a:spLocks noChangeArrowheads="1"/>
          </p:cNvSpPr>
          <p:nvPr/>
        </p:nvSpPr>
        <p:spPr bwMode="auto">
          <a:xfrm>
            <a:off x="7384826" y="1842629"/>
            <a:ext cx="3744384" cy="287338"/>
          </a:xfrm>
          <a:prstGeom prst="rect">
            <a:avLst/>
          </a:prstGeom>
          <a:solidFill>
            <a:schemeClr val="bg1"/>
          </a:solidFill>
          <a:ln>
            <a:noFill/>
          </a:ln>
          <a:extLst>
            <a:ext uri="{91240B29-F687-4F45-9708-019B960494DF}">
              <a14:hiddenLine xmlns:a14="http://schemas.microsoft.com/office/drawing/2010/main" w="28575" algn="ctr">
                <a:solidFill>
                  <a:srgbClr val="000000"/>
                </a:solidFill>
                <a:round/>
                <a:headEnd/>
                <a:tailEnd/>
              </a14:hiddenLine>
            </a:ext>
          </a:ex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발명의 명칭</a:t>
            </a: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필수</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p>
        </p:txBody>
      </p:sp>
      <p:sp>
        <p:nvSpPr>
          <p:cNvPr id="53" name="직사각형 52">
            <a:extLst>
              <a:ext uri="{FF2B5EF4-FFF2-40B4-BE49-F238E27FC236}">
                <a16:creationId xmlns:a16="http://schemas.microsoft.com/office/drawing/2014/main" id="{6B9792C6-B0CE-EC18-E197-6386DE1ABA53}"/>
              </a:ext>
            </a:extLst>
          </p:cNvPr>
          <p:cNvSpPr/>
          <p:nvPr/>
        </p:nvSpPr>
        <p:spPr bwMode="auto">
          <a:xfrm>
            <a:off x="7384826" y="2133143"/>
            <a:ext cx="3744384" cy="288925"/>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기술분야</a:t>
            </a: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p>
        </p:txBody>
      </p:sp>
      <p:sp>
        <p:nvSpPr>
          <p:cNvPr id="54" name="직사각형 53">
            <a:extLst>
              <a:ext uri="{FF2B5EF4-FFF2-40B4-BE49-F238E27FC236}">
                <a16:creationId xmlns:a16="http://schemas.microsoft.com/office/drawing/2014/main" id="{D96FF621-0D02-6BD9-BD01-CAAB30D46114}"/>
              </a:ext>
            </a:extLst>
          </p:cNvPr>
          <p:cNvSpPr/>
          <p:nvPr/>
        </p:nvSpPr>
        <p:spPr bwMode="auto">
          <a:xfrm>
            <a:off x="7384826" y="2737979"/>
            <a:ext cx="3744384" cy="287338"/>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발명의 내용</a:t>
            </a: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p>
        </p:txBody>
      </p:sp>
      <p:sp>
        <p:nvSpPr>
          <p:cNvPr id="55" name="직사각형 54">
            <a:extLst>
              <a:ext uri="{FF2B5EF4-FFF2-40B4-BE49-F238E27FC236}">
                <a16:creationId xmlns:a16="http://schemas.microsoft.com/office/drawing/2014/main" id="{EEC2AB12-8C37-1628-2B8A-C9BB0F6EA3F8}"/>
              </a:ext>
            </a:extLst>
          </p:cNvPr>
          <p:cNvSpPr/>
          <p:nvPr/>
        </p:nvSpPr>
        <p:spPr bwMode="auto">
          <a:xfrm>
            <a:off x="7672692" y="3028493"/>
            <a:ext cx="3744384" cy="288925"/>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해결하고자 하는 과제</a:t>
            </a: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p>
        </p:txBody>
      </p:sp>
      <p:sp>
        <p:nvSpPr>
          <p:cNvPr id="56" name="직사각형 55">
            <a:extLst>
              <a:ext uri="{FF2B5EF4-FFF2-40B4-BE49-F238E27FC236}">
                <a16:creationId xmlns:a16="http://schemas.microsoft.com/office/drawing/2014/main" id="{2BBA35A4-36AF-EC6F-E569-B15BEBE64AA9}"/>
              </a:ext>
            </a:extLst>
          </p:cNvPr>
          <p:cNvSpPr/>
          <p:nvPr/>
        </p:nvSpPr>
        <p:spPr bwMode="auto">
          <a:xfrm>
            <a:off x="7672692" y="3309479"/>
            <a:ext cx="3744384" cy="287338"/>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과제 해결 수단</a:t>
            </a: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p>
        </p:txBody>
      </p:sp>
      <p:sp>
        <p:nvSpPr>
          <p:cNvPr id="57" name="직사각형 56">
            <a:extLst>
              <a:ext uri="{FF2B5EF4-FFF2-40B4-BE49-F238E27FC236}">
                <a16:creationId xmlns:a16="http://schemas.microsoft.com/office/drawing/2014/main" id="{5DD3BC7B-4243-9FE1-5CF1-A96C63C64F84}"/>
              </a:ext>
            </a:extLst>
          </p:cNvPr>
          <p:cNvSpPr/>
          <p:nvPr/>
        </p:nvSpPr>
        <p:spPr bwMode="auto">
          <a:xfrm>
            <a:off x="7672692" y="3599993"/>
            <a:ext cx="3744384" cy="287337"/>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효과</a:t>
            </a: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p>
        </p:txBody>
      </p:sp>
      <p:sp>
        <p:nvSpPr>
          <p:cNvPr id="58" name="직사각형 28">
            <a:extLst>
              <a:ext uri="{FF2B5EF4-FFF2-40B4-BE49-F238E27FC236}">
                <a16:creationId xmlns:a16="http://schemas.microsoft.com/office/drawing/2014/main" id="{AA2DE04C-15D5-1988-3370-A609524B04A8}"/>
              </a:ext>
            </a:extLst>
          </p:cNvPr>
          <p:cNvSpPr>
            <a:spLocks noChangeArrowheads="1"/>
          </p:cNvSpPr>
          <p:nvPr/>
        </p:nvSpPr>
        <p:spPr bwMode="auto">
          <a:xfrm>
            <a:off x="7384826" y="3868279"/>
            <a:ext cx="3744384" cy="287338"/>
          </a:xfrm>
          <a:prstGeom prst="rect">
            <a:avLst/>
          </a:prstGeom>
          <a:solidFill>
            <a:schemeClr val="bg1"/>
          </a:solidFill>
          <a:ln>
            <a:noFill/>
          </a:ln>
          <a:extLst>
            <a:ext uri="{91240B29-F687-4F45-9708-019B960494DF}">
              <a14:hiddenLine xmlns:a14="http://schemas.microsoft.com/office/drawing/2010/main" w="28575" algn="ctr">
                <a:solidFill>
                  <a:srgbClr val="000000"/>
                </a:solidFill>
                <a:round/>
                <a:headEnd/>
                <a:tailEnd/>
              </a14:hiddenLine>
            </a:ext>
          </a:ex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a:ln>
                  <a:noFill/>
                </a:ln>
                <a:solidFill>
                  <a:srgbClr val="70AD47">
                    <a:lumMod val="50000"/>
                  </a:srgbClr>
                </a:solidFill>
                <a:effectLst/>
                <a:uLnTx/>
                <a:uFillTx/>
                <a:latin typeface="Rix모던고딕 B"/>
                <a:ea typeface="Rix모던고딕 B"/>
                <a:cs typeface="+mn-cs"/>
              </a:rPr>
              <a:t>도면의 간단한 설명</a:t>
            </a:r>
            <a:r>
              <a:rPr kumimoji="0" lang="en-US" altLang="ko-KR" sz="1400" b="0" i="0" u="none" strike="noStrike" kern="1200" cap="none" spc="0" normalizeH="0" baseline="0" noProof="0">
                <a:ln>
                  <a:noFill/>
                </a:ln>
                <a:solidFill>
                  <a:srgbClr val="70AD47">
                    <a:lumMod val="50000"/>
                  </a:srgbClr>
                </a:solidFill>
                <a:effectLst/>
                <a:uLnTx/>
                <a:uFillTx/>
                <a:latin typeface="Rix모던고딕 B"/>
                <a:ea typeface="Rix모던고딕 B"/>
                <a:cs typeface="+mn-cs"/>
              </a:rPr>
              <a:t>】</a:t>
            </a:r>
          </a:p>
        </p:txBody>
      </p:sp>
      <p:sp>
        <p:nvSpPr>
          <p:cNvPr id="59" name="직사각형 58">
            <a:extLst>
              <a:ext uri="{FF2B5EF4-FFF2-40B4-BE49-F238E27FC236}">
                <a16:creationId xmlns:a16="http://schemas.microsoft.com/office/drawing/2014/main" id="{7AAE483F-292F-044F-0E3D-10EF6EFE89A8}"/>
              </a:ext>
            </a:extLst>
          </p:cNvPr>
          <p:cNvSpPr/>
          <p:nvPr/>
        </p:nvSpPr>
        <p:spPr bwMode="auto">
          <a:xfrm>
            <a:off x="7384826" y="4158793"/>
            <a:ext cx="4225131" cy="287337"/>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발명의 실시를 위한 구체적인 내용</a:t>
            </a: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필수</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endPar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endParaRPr>
          </a:p>
        </p:txBody>
      </p:sp>
      <p:sp>
        <p:nvSpPr>
          <p:cNvPr id="60" name="직사각형 59">
            <a:extLst>
              <a:ext uri="{FF2B5EF4-FFF2-40B4-BE49-F238E27FC236}">
                <a16:creationId xmlns:a16="http://schemas.microsoft.com/office/drawing/2014/main" id="{67E71FFF-66A4-E359-3AFC-5732FD413C06}"/>
              </a:ext>
            </a:extLst>
          </p:cNvPr>
          <p:cNvSpPr/>
          <p:nvPr/>
        </p:nvSpPr>
        <p:spPr bwMode="auto">
          <a:xfrm>
            <a:off x="7672692" y="4454068"/>
            <a:ext cx="3744384" cy="287337"/>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dirty="0" err="1">
                <a:ln>
                  <a:noFill/>
                </a:ln>
                <a:solidFill>
                  <a:srgbClr val="70AD47">
                    <a:lumMod val="50000"/>
                  </a:srgbClr>
                </a:solidFill>
                <a:effectLst/>
                <a:uLnTx/>
                <a:uFillTx/>
                <a:latin typeface="Rix모던고딕 B"/>
                <a:ea typeface="Rix모던고딕 B"/>
                <a:cs typeface="+mn-cs"/>
              </a:rPr>
              <a:t>실시예</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 </a:t>
            </a: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1】x, y</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를 포함하는 발명</a:t>
            </a:r>
            <a:endPar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endParaRPr>
          </a:p>
        </p:txBody>
      </p:sp>
      <p:sp>
        <p:nvSpPr>
          <p:cNvPr id="61" name="직사각형 60">
            <a:extLst>
              <a:ext uri="{FF2B5EF4-FFF2-40B4-BE49-F238E27FC236}">
                <a16:creationId xmlns:a16="http://schemas.microsoft.com/office/drawing/2014/main" id="{0A2AAC01-F660-FDB1-63B3-7350CF3DA00F}"/>
              </a:ext>
            </a:extLst>
          </p:cNvPr>
          <p:cNvSpPr/>
          <p:nvPr/>
        </p:nvSpPr>
        <p:spPr bwMode="auto">
          <a:xfrm>
            <a:off x="7672692" y="4744580"/>
            <a:ext cx="3744384" cy="288925"/>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dirty="0" err="1">
                <a:ln>
                  <a:noFill/>
                </a:ln>
                <a:solidFill>
                  <a:srgbClr val="70AD47">
                    <a:lumMod val="50000"/>
                  </a:srgbClr>
                </a:solidFill>
                <a:effectLst/>
                <a:uLnTx/>
                <a:uFillTx/>
                <a:latin typeface="Rix모던고딕 B"/>
                <a:ea typeface="Rix모던고딕 B"/>
                <a:cs typeface="+mn-cs"/>
              </a:rPr>
              <a:t>실시예</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 </a:t>
            </a: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2】x, y, z</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를 포함하는 발명</a:t>
            </a:r>
            <a:endPar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endParaRPr>
          </a:p>
        </p:txBody>
      </p:sp>
      <p:sp>
        <p:nvSpPr>
          <p:cNvPr id="62" name="직사각형 61">
            <a:extLst>
              <a:ext uri="{FF2B5EF4-FFF2-40B4-BE49-F238E27FC236}">
                <a16:creationId xmlns:a16="http://schemas.microsoft.com/office/drawing/2014/main" id="{BA9215B2-F32C-1B0C-338A-A12733BC3163}"/>
              </a:ext>
            </a:extLst>
          </p:cNvPr>
          <p:cNvSpPr/>
          <p:nvPr/>
        </p:nvSpPr>
        <p:spPr bwMode="auto">
          <a:xfrm>
            <a:off x="7151787" y="5285018"/>
            <a:ext cx="3744384" cy="287337"/>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FFC000"/>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C000"/>
                </a:solidFill>
                <a:effectLst/>
                <a:uLnTx/>
                <a:uFillTx/>
                <a:latin typeface="Rix모던고딕 B"/>
                <a:ea typeface="Rix모던고딕 B"/>
                <a:cs typeface="+mn-cs"/>
              </a:rPr>
              <a:t>청구범위</a:t>
            </a:r>
            <a:r>
              <a:rPr kumimoji="0" lang="en-US" altLang="ko-KR" sz="1400" b="0" i="0" u="none" strike="noStrike" kern="1200" cap="none" spc="0" normalizeH="0" baseline="0" noProof="0" dirty="0">
                <a:ln>
                  <a:noFill/>
                </a:ln>
                <a:solidFill>
                  <a:srgbClr val="FFC000"/>
                </a:solidFill>
                <a:effectLst/>
                <a:uLnTx/>
                <a:uFillTx/>
                <a:latin typeface="Rix모던고딕 B"/>
                <a:ea typeface="Rix모던고딕 B"/>
                <a:cs typeface="+mn-cs"/>
              </a:rPr>
              <a:t>】</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필수</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endParaRPr kumimoji="0" lang="en-US" altLang="ko-KR" sz="1400" b="0" i="0" u="none" strike="noStrike" kern="1200" cap="none" spc="0" normalizeH="0" baseline="0" noProof="0" dirty="0">
              <a:ln>
                <a:noFill/>
              </a:ln>
              <a:solidFill>
                <a:srgbClr val="FFC000"/>
              </a:solidFill>
              <a:effectLst/>
              <a:uLnTx/>
              <a:uFillTx/>
              <a:latin typeface="Rix모던고딕 B"/>
              <a:ea typeface="Rix모던고딕 B"/>
              <a:cs typeface="+mn-cs"/>
            </a:endParaRPr>
          </a:p>
        </p:txBody>
      </p:sp>
      <p:sp>
        <p:nvSpPr>
          <p:cNvPr id="63" name="직사각형 62">
            <a:extLst>
              <a:ext uri="{FF2B5EF4-FFF2-40B4-BE49-F238E27FC236}">
                <a16:creationId xmlns:a16="http://schemas.microsoft.com/office/drawing/2014/main" id="{84653CB2-EED9-63A0-5744-53FA694A87C6}"/>
              </a:ext>
            </a:extLst>
          </p:cNvPr>
          <p:cNvSpPr/>
          <p:nvPr/>
        </p:nvSpPr>
        <p:spPr bwMode="auto">
          <a:xfrm>
            <a:off x="7439653" y="5575530"/>
            <a:ext cx="3744384" cy="288925"/>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FFC000"/>
                </a:solidFill>
                <a:effectLst/>
                <a:uLnTx/>
                <a:uFillTx/>
                <a:latin typeface="Rix모던고딕 B"/>
                <a:ea typeface="Rix모던고딕 B"/>
                <a:cs typeface="+mn-cs"/>
              </a:rPr>
              <a:t>【</a:t>
            </a:r>
            <a:r>
              <a:rPr kumimoji="0" lang="ko-KR" altLang="en-US" sz="1400" b="0" i="0" u="none" strike="noStrike" kern="1200" cap="none" spc="0" normalizeH="0" baseline="0" noProof="0" dirty="0" err="1">
                <a:ln>
                  <a:noFill/>
                </a:ln>
                <a:solidFill>
                  <a:srgbClr val="FFC000"/>
                </a:solidFill>
                <a:effectLst/>
                <a:uLnTx/>
                <a:uFillTx/>
                <a:latin typeface="Rix모던고딕 B"/>
                <a:ea typeface="Rix모던고딕 B"/>
                <a:cs typeface="+mn-cs"/>
              </a:rPr>
              <a:t>청구항</a:t>
            </a:r>
            <a:r>
              <a:rPr kumimoji="0" lang="ko-KR" altLang="en-US" sz="1400" b="0" i="0" u="none" strike="noStrike" kern="1200" cap="none" spc="0" normalizeH="0" baseline="0" noProof="0" dirty="0">
                <a:ln>
                  <a:noFill/>
                </a:ln>
                <a:solidFill>
                  <a:srgbClr val="FFC000"/>
                </a:solidFill>
                <a:effectLst/>
                <a:uLnTx/>
                <a:uFillTx/>
                <a:latin typeface="Rix모던고딕 B"/>
                <a:ea typeface="Rix모던고딕 B"/>
                <a:cs typeface="+mn-cs"/>
              </a:rPr>
              <a:t> </a:t>
            </a:r>
            <a:r>
              <a:rPr kumimoji="0" lang="en-US" altLang="ko-KR" sz="1400" b="0" i="0" u="none" strike="noStrike" kern="1200" cap="none" spc="0" normalizeH="0" baseline="0" noProof="0" dirty="0">
                <a:ln>
                  <a:noFill/>
                </a:ln>
                <a:solidFill>
                  <a:srgbClr val="FFC000"/>
                </a:solidFill>
                <a:effectLst/>
                <a:uLnTx/>
                <a:uFillTx/>
                <a:latin typeface="Rix모던고딕 B"/>
                <a:ea typeface="Rix모던고딕 B"/>
                <a:cs typeface="+mn-cs"/>
              </a:rPr>
              <a:t>1】x, y</a:t>
            </a:r>
            <a:r>
              <a:rPr kumimoji="0" lang="ko-KR" altLang="en-US" sz="1400" b="0" i="0" u="none" strike="noStrike" kern="1200" cap="none" spc="0" normalizeH="0" baseline="0" noProof="0" dirty="0">
                <a:ln>
                  <a:noFill/>
                </a:ln>
                <a:solidFill>
                  <a:srgbClr val="FFC000"/>
                </a:solidFill>
                <a:effectLst/>
                <a:uLnTx/>
                <a:uFillTx/>
                <a:latin typeface="Rix모던고딕 B"/>
                <a:ea typeface="Rix모던고딕 B"/>
                <a:cs typeface="+mn-cs"/>
              </a:rPr>
              <a:t>를 포함하는 발명 </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필수</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endParaRPr kumimoji="0" lang="en-US" altLang="ko-KR" sz="1400" b="0" i="0" u="none" strike="noStrike" kern="1200" cap="none" spc="0" normalizeH="0" baseline="0" noProof="0" dirty="0">
              <a:ln>
                <a:noFill/>
              </a:ln>
              <a:solidFill>
                <a:srgbClr val="FFC000"/>
              </a:solidFill>
              <a:effectLst/>
              <a:uLnTx/>
              <a:uFillTx/>
              <a:latin typeface="Rix모던고딕 B"/>
              <a:ea typeface="Rix모던고딕 B"/>
              <a:cs typeface="+mn-cs"/>
            </a:endParaRPr>
          </a:p>
        </p:txBody>
      </p:sp>
      <p:sp>
        <p:nvSpPr>
          <p:cNvPr id="64" name="직사각형 63">
            <a:extLst>
              <a:ext uri="{FF2B5EF4-FFF2-40B4-BE49-F238E27FC236}">
                <a16:creationId xmlns:a16="http://schemas.microsoft.com/office/drawing/2014/main" id="{AFD5961E-CB9C-5878-7F29-6B034D41B3EE}"/>
              </a:ext>
            </a:extLst>
          </p:cNvPr>
          <p:cNvSpPr/>
          <p:nvPr/>
        </p:nvSpPr>
        <p:spPr bwMode="auto">
          <a:xfrm>
            <a:off x="7439652" y="5856518"/>
            <a:ext cx="3977423" cy="287337"/>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FFC000"/>
                </a:solidFill>
                <a:effectLst/>
                <a:uLnTx/>
                <a:uFillTx/>
                <a:latin typeface="Rix모던고딕 B"/>
                <a:ea typeface="Rix모던고딕 B"/>
                <a:cs typeface="+mn-cs"/>
              </a:rPr>
              <a:t>【</a:t>
            </a:r>
            <a:r>
              <a:rPr kumimoji="0" lang="ko-KR" altLang="en-US" sz="1400" b="0" i="0" u="none" strike="noStrike" kern="1200" cap="none" spc="0" normalizeH="0" baseline="0" noProof="0" dirty="0" err="1">
                <a:ln>
                  <a:noFill/>
                </a:ln>
                <a:solidFill>
                  <a:srgbClr val="FFC000"/>
                </a:solidFill>
                <a:effectLst/>
                <a:uLnTx/>
                <a:uFillTx/>
                <a:latin typeface="Rix모던고딕 B"/>
                <a:ea typeface="Rix모던고딕 B"/>
                <a:cs typeface="+mn-cs"/>
              </a:rPr>
              <a:t>청구항</a:t>
            </a:r>
            <a:r>
              <a:rPr kumimoji="0" lang="ko-KR" altLang="en-US" sz="1400" b="0" i="0" u="none" strike="noStrike" kern="1200" cap="none" spc="0" normalizeH="0" baseline="0" noProof="0" dirty="0">
                <a:ln>
                  <a:noFill/>
                </a:ln>
                <a:solidFill>
                  <a:srgbClr val="FFC000"/>
                </a:solidFill>
                <a:effectLst/>
                <a:uLnTx/>
                <a:uFillTx/>
                <a:latin typeface="Rix모던고딕 B"/>
                <a:ea typeface="Rix모던고딕 B"/>
                <a:cs typeface="+mn-cs"/>
              </a:rPr>
              <a:t> </a:t>
            </a:r>
            <a:r>
              <a:rPr kumimoji="0" lang="en-US" altLang="ko-KR" sz="1400" b="0" i="0" u="none" strike="noStrike" kern="1200" cap="none" spc="0" normalizeH="0" baseline="0" noProof="0" dirty="0">
                <a:ln>
                  <a:noFill/>
                </a:ln>
                <a:solidFill>
                  <a:srgbClr val="FFC000"/>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FFC000"/>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FFC000"/>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FFC000"/>
                </a:solidFill>
                <a:effectLst/>
                <a:uLnTx/>
                <a:uFillTx/>
                <a:latin typeface="Rix모던고딕 B"/>
                <a:ea typeface="Rix모던고딕 B"/>
                <a:cs typeface="+mn-cs"/>
              </a:rPr>
              <a:t>항에 있어서</a:t>
            </a:r>
            <a:r>
              <a:rPr kumimoji="0" lang="en-US" altLang="ko-KR" sz="1400" b="0" i="0" u="none" strike="noStrike" kern="1200" cap="none" spc="0" normalizeH="0" baseline="0" noProof="0" dirty="0">
                <a:ln>
                  <a:noFill/>
                </a:ln>
                <a:solidFill>
                  <a:srgbClr val="FFC000"/>
                </a:solidFill>
                <a:effectLst/>
                <a:uLnTx/>
                <a:uFillTx/>
                <a:latin typeface="Rix모던고딕 B"/>
                <a:ea typeface="Rix모던고딕 B"/>
                <a:cs typeface="+mn-cs"/>
              </a:rPr>
              <a:t>, z</a:t>
            </a:r>
            <a:r>
              <a:rPr kumimoji="0" lang="ko-KR" altLang="en-US" sz="1400" b="0" i="0" u="none" strike="noStrike" kern="1200" cap="none" spc="0" normalizeH="0" baseline="0" noProof="0" dirty="0">
                <a:ln>
                  <a:noFill/>
                </a:ln>
                <a:solidFill>
                  <a:srgbClr val="FFC000"/>
                </a:solidFill>
                <a:effectLst/>
                <a:uLnTx/>
                <a:uFillTx/>
                <a:latin typeface="Rix모던고딕 B"/>
                <a:ea typeface="Rix모던고딕 B"/>
                <a:cs typeface="+mn-cs"/>
              </a:rPr>
              <a:t>를 더 포함하는 발명</a:t>
            </a:r>
            <a:endParaRPr kumimoji="0" lang="en-US" altLang="ko-KR" sz="1400" b="0" i="0" u="none" strike="noStrike" kern="1200" cap="none" spc="0" normalizeH="0" baseline="0" noProof="0" dirty="0">
              <a:ln>
                <a:noFill/>
              </a:ln>
              <a:solidFill>
                <a:srgbClr val="FFC000"/>
              </a:solidFill>
              <a:effectLst/>
              <a:uLnTx/>
              <a:uFillTx/>
              <a:latin typeface="Rix모던고딕 B"/>
              <a:ea typeface="Rix모던고딕 B"/>
              <a:cs typeface="+mn-cs"/>
            </a:endParaRPr>
          </a:p>
        </p:txBody>
      </p:sp>
      <p:sp>
        <p:nvSpPr>
          <p:cNvPr id="65" name="직사각형 38">
            <a:extLst>
              <a:ext uri="{FF2B5EF4-FFF2-40B4-BE49-F238E27FC236}">
                <a16:creationId xmlns:a16="http://schemas.microsoft.com/office/drawing/2014/main" id="{CC824A95-6C6E-EB20-C979-B642B871A301}"/>
              </a:ext>
            </a:extLst>
          </p:cNvPr>
          <p:cNvSpPr>
            <a:spLocks noChangeArrowheads="1"/>
          </p:cNvSpPr>
          <p:nvPr/>
        </p:nvSpPr>
        <p:spPr bwMode="auto">
          <a:xfrm>
            <a:off x="7151787" y="1227724"/>
            <a:ext cx="3744384" cy="287338"/>
          </a:xfrm>
          <a:prstGeom prst="rect">
            <a:avLst/>
          </a:prstGeom>
          <a:solidFill>
            <a:schemeClr val="bg1"/>
          </a:solidFill>
          <a:ln>
            <a:noFill/>
          </a:ln>
          <a:extLst>
            <a:ext uri="{91240B29-F687-4F45-9708-019B960494DF}">
              <a14:hiddenLine xmlns:a14="http://schemas.microsoft.com/office/drawing/2010/main" w="28575" algn="ctr">
                <a:solidFill>
                  <a:srgbClr val="000000"/>
                </a:solidFill>
                <a:round/>
                <a:headEnd/>
                <a:tailEnd/>
              </a14:hiddenLine>
            </a:ext>
          </a:extLst>
        </p:spPr>
        <p:txBody>
          <a:bodyPr lIns="90000" tIns="46800" rIns="90000" bIns="46800"/>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1C1C1C"/>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1C1C1C"/>
                </a:solidFill>
                <a:effectLst/>
                <a:uLnTx/>
                <a:uFillTx/>
                <a:latin typeface="Rix모던고딕 B"/>
                <a:ea typeface="Rix모던고딕 B"/>
                <a:cs typeface="+mn-cs"/>
              </a:rPr>
              <a:t>명세서</a:t>
            </a:r>
            <a:r>
              <a:rPr kumimoji="0" lang="en-US" altLang="ko-KR" sz="1400" b="0" i="0" u="none" strike="noStrike" kern="1200" cap="none" spc="0" normalizeH="0" baseline="0" noProof="0" dirty="0">
                <a:ln>
                  <a:noFill/>
                </a:ln>
                <a:solidFill>
                  <a:srgbClr val="1C1C1C"/>
                </a:solidFill>
                <a:effectLst/>
                <a:uLnTx/>
                <a:uFillTx/>
                <a:latin typeface="Rix모던고딕 B"/>
                <a:ea typeface="Rix모던고딕 B"/>
                <a:cs typeface="+mn-cs"/>
              </a:rPr>
              <a:t>】</a:t>
            </a:r>
          </a:p>
        </p:txBody>
      </p:sp>
      <p:cxnSp>
        <p:nvCxnSpPr>
          <p:cNvPr id="66" name="꺾인 연결선 4">
            <a:extLst>
              <a:ext uri="{FF2B5EF4-FFF2-40B4-BE49-F238E27FC236}">
                <a16:creationId xmlns:a16="http://schemas.microsoft.com/office/drawing/2014/main" id="{317A15CC-10A2-2009-978A-D352A36BF15C}"/>
              </a:ext>
            </a:extLst>
          </p:cNvPr>
          <p:cNvCxnSpPr>
            <a:cxnSpLocks noChangeShapeType="1"/>
            <a:stCxn id="47" idx="3"/>
            <a:endCxn id="72" idx="1"/>
          </p:cNvCxnSpPr>
          <p:nvPr/>
        </p:nvCxnSpPr>
        <p:spPr bwMode="auto">
          <a:xfrm flipV="1">
            <a:off x="5521954" y="1699744"/>
            <a:ext cx="1629833" cy="528346"/>
          </a:xfrm>
          <a:prstGeom prst="bentConnector3">
            <a:avLst>
              <a:gd name="adj1" fmla="val 50000"/>
            </a:avLst>
          </a:prstGeom>
          <a:noFill/>
          <a:ln w="9525">
            <a:solidFill>
              <a:srgbClr val="5F5F5F"/>
            </a:solidFill>
            <a:round/>
            <a:headEnd/>
            <a:tailEnd type="arrow" w="med" len="med"/>
          </a:ln>
          <a:extLst>
            <a:ext uri="{909E8E84-426E-40DD-AFC4-6F175D3DCCD1}">
              <a14:hiddenFill xmlns:a14="http://schemas.microsoft.com/office/drawing/2010/main">
                <a:noFill/>
              </a14:hiddenFill>
            </a:ext>
          </a:extLst>
        </p:spPr>
      </p:cxnSp>
      <p:cxnSp>
        <p:nvCxnSpPr>
          <p:cNvPr id="67" name="꺾인 연결선 6">
            <a:extLst>
              <a:ext uri="{FF2B5EF4-FFF2-40B4-BE49-F238E27FC236}">
                <a16:creationId xmlns:a16="http://schemas.microsoft.com/office/drawing/2014/main" id="{7E97B0E0-2B6D-DEA0-09FB-EB99A290DEBA}"/>
              </a:ext>
            </a:extLst>
          </p:cNvPr>
          <p:cNvCxnSpPr>
            <a:cxnSpLocks noChangeShapeType="1"/>
            <a:stCxn id="48" idx="3"/>
            <a:endCxn id="62" idx="1"/>
          </p:cNvCxnSpPr>
          <p:nvPr/>
        </p:nvCxnSpPr>
        <p:spPr bwMode="auto">
          <a:xfrm>
            <a:off x="5521954" y="2567846"/>
            <a:ext cx="1629833" cy="2860841"/>
          </a:xfrm>
          <a:prstGeom prst="bentConnector3">
            <a:avLst>
              <a:gd name="adj1" fmla="val 50000"/>
            </a:avLst>
          </a:prstGeom>
          <a:noFill/>
          <a:ln w="9525">
            <a:solidFill>
              <a:srgbClr val="5F5F5F"/>
            </a:solidFill>
            <a:round/>
            <a:headEnd/>
            <a:tailEnd type="arrow" w="med" len="med"/>
          </a:ln>
          <a:extLst>
            <a:ext uri="{909E8E84-426E-40DD-AFC4-6F175D3DCCD1}">
              <a14:hiddenFill xmlns:a14="http://schemas.microsoft.com/office/drawing/2010/main">
                <a:noFill/>
              </a14:hiddenFill>
            </a:ext>
          </a:extLst>
        </p:spPr>
      </p:cxnSp>
      <p:sp>
        <p:nvSpPr>
          <p:cNvPr id="68" name="직사각형 67">
            <a:extLst>
              <a:ext uri="{FF2B5EF4-FFF2-40B4-BE49-F238E27FC236}">
                <a16:creationId xmlns:a16="http://schemas.microsoft.com/office/drawing/2014/main" id="{68C25349-2121-F605-D195-0CDF6896EB3A}"/>
              </a:ext>
            </a:extLst>
          </p:cNvPr>
          <p:cNvSpPr/>
          <p:nvPr/>
        </p:nvSpPr>
        <p:spPr bwMode="auto">
          <a:xfrm>
            <a:off x="7384826" y="2449054"/>
            <a:ext cx="3744384" cy="287338"/>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배경기술</a:t>
            </a: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필수</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endPar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endParaRPr>
          </a:p>
        </p:txBody>
      </p:sp>
      <p:sp>
        <p:nvSpPr>
          <p:cNvPr id="69" name="직사각형 68">
            <a:extLst>
              <a:ext uri="{FF2B5EF4-FFF2-40B4-BE49-F238E27FC236}">
                <a16:creationId xmlns:a16="http://schemas.microsoft.com/office/drawing/2014/main" id="{39E1ADB8-8E0B-1FC3-43D0-03E92F185874}"/>
              </a:ext>
            </a:extLst>
          </p:cNvPr>
          <p:cNvSpPr/>
          <p:nvPr/>
        </p:nvSpPr>
        <p:spPr bwMode="auto">
          <a:xfrm>
            <a:off x="6768672" y="1195612"/>
            <a:ext cx="4992289" cy="4968875"/>
          </a:xfrm>
          <a:prstGeom prst="rect">
            <a:avLst/>
          </a:prstGeom>
          <a:noFill/>
          <a:ln w="28575" cap="flat" cmpd="sng" algn="ctr">
            <a:solidFill>
              <a:schemeClr val="bg2">
                <a:lumMod val="75000"/>
              </a:schemeClr>
            </a:solidFill>
            <a:prstDash val="solid"/>
            <a:round/>
            <a:headEnd type="none" w="med" len="med"/>
            <a:tailEnd type="none" w="med" len="med"/>
          </a:ln>
          <a:effectLst/>
        </p:spPr>
        <p:txBody>
          <a:bodyPr lIns="90000" tIns="46800" rIns="90000" bIns="46800"/>
          <a:lstStyle/>
          <a:p>
            <a:pPr marL="0" marR="0" lvl="0" indent="0" algn="ctr" defTabSz="914400" rtl="0" eaLnBrk="1" fontAlgn="auto" latinLnBrk="1" hangingPunct="1">
              <a:lnSpc>
                <a:spcPct val="100000"/>
              </a:lnSpc>
              <a:spcBef>
                <a:spcPts val="0"/>
              </a:spcBef>
              <a:spcAft>
                <a:spcPts val="0"/>
              </a:spcAft>
              <a:buClrTx/>
              <a:buSzTx/>
              <a:buFont typeface="Wingdings" pitchFamily="2" charset="2"/>
              <a:buNone/>
              <a:tabLst/>
              <a:defRPr/>
            </a:pPr>
            <a:endParaRPr kumimoji="0" lang="ko-KR" altLang="en-US" sz="2000" b="0" i="0" u="none" strike="noStrike" kern="1200" cap="none" spc="0" normalizeH="0" baseline="0" noProof="0">
              <a:ln>
                <a:noFill/>
              </a:ln>
              <a:solidFill>
                <a:srgbClr val="1C1C1C"/>
              </a:solidFill>
              <a:effectLst/>
              <a:uLnTx/>
              <a:uFillTx/>
              <a:latin typeface="Rix모던고딕 B"/>
              <a:ea typeface="Rix모던고딕 B"/>
              <a:cs typeface="+mn-cs"/>
            </a:endParaRPr>
          </a:p>
        </p:txBody>
      </p:sp>
      <p:graphicFrame>
        <p:nvGraphicFramePr>
          <p:cNvPr id="70" name="Group 224">
            <a:extLst>
              <a:ext uri="{FF2B5EF4-FFF2-40B4-BE49-F238E27FC236}">
                <a16:creationId xmlns:a16="http://schemas.microsoft.com/office/drawing/2014/main" id="{C7324699-4A10-9A2B-C756-1C516C3B7992}"/>
              </a:ext>
            </a:extLst>
          </p:cNvPr>
          <p:cNvGraphicFramePr>
            <a:graphicFrameLocks noGrp="1"/>
          </p:cNvGraphicFramePr>
          <p:nvPr/>
        </p:nvGraphicFramePr>
        <p:xfrm>
          <a:off x="431371" y="4149080"/>
          <a:ext cx="5568949" cy="2015408"/>
        </p:xfrm>
        <a:graphic>
          <a:graphicData uri="http://schemas.openxmlformats.org/drawingml/2006/table">
            <a:tbl>
              <a:tblPr firstRow="1">
                <a:tableStyleId>{BC89EF96-8CEA-46FF-86C4-4CE0E7609802}</a:tableStyleId>
              </a:tblPr>
              <a:tblGrid>
                <a:gridCol w="1152128">
                  <a:extLst>
                    <a:ext uri="{9D8B030D-6E8A-4147-A177-3AD203B41FA5}">
                      <a16:colId xmlns:a16="http://schemas.microsoft.com/office/drawing/2014/main" val="20000"/>
                    </a:ext>
                  </a:extLst>
                </a:gridCol>
                <a:gridCol w="2157209">
                  <a:extLst>
                    <a:ext uri="{9D8B030D-6E8A-4147-A177-3AD203B41FA5}">
                      <a16:colId xmlns:a16="http://schemas.microsoft.com/office/drawing/2014/main" val="20001"/>
                    </a:ext>
                  </a:extLst>
                </a:gridCol>
                <a:gridCol w="2259612">
                  <a:extLst>
                    <a:ext uri="{9D8B030D-6E8A-4147-A177-3AD203B41FA5}">
                      <a16:colId xmlns:a16="http://schemas.microsoft.com/office/drawing/2014/main" val="20002"/>
                    </a:ext>
                  </a:extLst>
                </a:gridCol>
              </a:tblGrid>
              <a:tr h="403082">
                <a:tc>
                  <a:txBody>
                    <a:bodyPr/>
                    <a:lstStyle/>
                    <a:p>
                      <a:pPr marL="0" marR="0" lvl="0" indent="0" algn="ctr" defTabSz="914400" rtl="0" eaLnBrk="1" fontAlgn="ctr" latinLnBrk="1" hangingPunct="1">
                        <a:lnSpc>
                          <a:spcPct val="100000"/>
                        </a:lnSpc>
                        <a:spcBef>
                          <a:spcPct val="50000"/>
                        </a:spcBef>
                        <a:spcAft>
                          <a:spcPts val="0"/>
                        </a:spcAft>
                        <a:buClrTx/>
                        <a:buSzTx/>
                        <a:buFont typeface="Wingdings" pitchFamily="2" charset="2"/>
                        <a:buNone/>
                        <a:tabLst/>
                      </a:pPr>
                      <a:r>
                        <a:rPr kumimoji="1" lang="ko-KR" altLang="en-US" sz="1400" u="none" strike="noStrike" cap="none" normalizeH="0" baseline="0" dirty="0">
                          <a:ln>
                            <a:noFill/>
                          </a:ln>
                          <a:effectLst/>
                        </a:rPr>
                        <a:t>구분</a:t>
                      </a:r>
                      <a:endParaRPr kumimoji="1" lang="ko-KR" altLang="ko-KR" sz="14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40000"/>
                        <a:lumOff val="60000"/>
                      </a:schemeClr>
                    </a:solidFill>
                  </a:tcPr>
                </a:tc>
                <a:tc>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400" u="none" strike="noStrike" cap="none" normalizeH="0" baseline="0" dirty="0">
                          <a:ln>
                            <a:noFill/>
                          </a:ln>
                          <a:effectLst/>
                        </a:rPr>
                        <a:t>출원인</a:t>
                      </a:r>
                      <a:endParaRPr kumimoji="1" lang="ko-KR" altLang="en-US" sz="14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40000"/>
                        <a:lumOff val="60000"/>
                      </a:schemeClr>
                    </a:solidFill>
                  </a:tcPr>
                </a:tc>
                <a:tc>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400" u="none" strike="noStrike" cap="none" normalizeH="0" baseline="0" dirty="0">
                          <a:ln>
                            <a:noFill/>
                          </a:ln>
                          <a:effectLst/>
                        </a:rPr>
                        <a:t>제</a:t>
                      </a:r>
                      <a:r>
                        <a:rPr kumimoji="1" lang="en-US" altLang="ko-KR" sz="1400" u="none" strike="noStrike" cap="none" normalizeH="0" baseline="0" dirty="0">
                          <a:ln>
                            <a:noFill/>
                          </a:ln>
                          <a:effectLst/>
                        </a:rPr>
                        <a:t>3</a:t>
                      </a:r>
                      <a:r>
                        <a:rPr kumimoji="1" lang="ko-KR" altLang="en-US" sz="1400" u="none" strike="noStrike" cap="none" normalizeH="0" baseline="0" dirty="0">
                          <a:ln>
                            <a:noFill/>
                          </a:ln>
                          <a:effectLst/>
                        </a:rPr>
                        <a:t>자</a:t>
                      </a:r>
                      <a:endParaRPr kumimoji="1" lang="ko-KR" altLang="en-US" sz="14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10000"/>
                  </a:ext>
                </a:extLst>
              </a:tr>
              <a:tr h="403082">
                <a:tc>
                  <a:txBody>
                    <a:bodyPr/>
                    <a:lstStyle/>
                    <a:p>
                      <a:pPr marL="0" marR="0" lvl="0" indent="0" algn="ctr" defTabSz="914400" rtl="0" eaLnBrk="1" fontAlgn="ctr" latinLnBrk="1" hangingPunct="1">
                        <a:lnSpc>
                          <a:spcPct val="100000"/>
                        </a:lnSpc>
                        <a:spcBef>
                          <a:spcPct val="50000"/>
                        </a:spcBef>
                        <a:spcAft>
                          <a:spcPts val="0"/>
                        </a:spcAft>
                        <a:buClrTx/>
                        <a:buSzTx/>
                        <a:buFont typeface="Wingdings" pitchFamily="2" charset="2"/>
                        <a:buNone/>
                        <a:tabLst/>
                      </a:pPr>
                      <a:r>
                        <a:rPr kumimoji="1" lang="ko-KR" altLang="en-US" sz="1400" u="none" strike="noStrike" cap="none" normalizeH="0" baseline="0" dirty="0">
                          <a:ln>
                            <a:noFill/>
                          </a:ln>
                          <a:effectLst/>
                        </a:rPr>
                        <a:t>발명의 설명</a:t>
                      </a:r>
                      <a:endParaRPr kumimoji="1" lang="ko-KR" altLang="en-US" sz="14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50000"/>
                        </a:spcBef>
                        <a:spcAft>
                          <a:spcPts val="0"/>
                        </a:spcAft>
                        <a:buClrTx/>
                        <a:buSzTx/>
                        <a:buFont typeface="Wingdings" pitchFamily="2" charset="2"/>
                        <a:buNone/>
                        <a:tabLst/>
                      </a:pPr>
                      <a:r>
                        <a:rPr kumimoji="1" lang="ko-KR" altLang="en-US" sz="1400" u="none" strike="noStrike" cap="none" normalizeH="0" baseline="0" dirty="0">
                          <a:ln>
                            <a:noFill/>
                          </a:ln>
                          <a:effectLst/>
                        </a:rPr>
                        <a:t>권리해설서</a:t>
                      </a:r>
                      <a:endParaRPr kumimoji="1" lang="ko-KR" altLang="en-US" sz="1400" b="0" i="0" u="none" strike="noStrike" cap="none" normalizeH="0" baseline="0" dirty="0">
                        <a:ln>
                          <a:noFill/>
                        </a:ln>
                        <a:solidFill>
                          <a:srgbClr val="4D4D4D"/>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914400" rtl="0" eaLnBrk="1" fontAlgn="ctr" latinLnBrk="1" hangingPunct="1">
                        <a:lnSpc>
                          <a:spcPct val="100000"/>
                        </a:lnSpc>
                        <a:spcBef>
                          <a:spcPct val="50000"/>
                        </a:spcBef>
                        <a:spcAft>
                          <a:spcPts val="0"/>
                        </a:spcAft>
                        <a:buClrTx/>
                        <a:buSzTx/>
                        <a:buFont typeface="Wingdings" pitchFamily="2" charset="2"/>
                        <a:buNone/>
                        <a:tabLst/>
                      </a:pPr>
                      <a:r>
                        <a:rPr kumimoji="1" lang="ko-KR" altLang="en-US" sz="1400" b="1" u="none" strike="noStrike" cap="none" normalizeH="0" baseline="0" dirty="0">
                          <a:ln>
                            <a:noFill/>
                          </a:ln>
                          <a:solidFill>
                            <a:srgbClr val="FF0000"/>
                          </a:solidFill>
                          <a:effectLst/>
                        </a:rPr>
                        <a:t>기술문헌</a:t>
                      </a:r>
                      <a:endParaRPr kumimoji="1" lang="ko-KR" altLang="en-US" sz="1400" b="1" i="0" u="none" strike="noStrike" cap="none" normalizeH="0" baseline="0" dirty="0">
                        <a:ln>
                          <a:noFill/>
                        </a:ln>
                        <a:solidFill>
                          <a:srgbClr val="FF0000"/>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209244">
                <a:tc>
                  <a:txBody>
                    <a:bodyPr/>
                    <a:lstStyle/>
                    <a:p>
                      <a:pPr marL="0" marR="0" lvl="0" indent="0" algn="ctr" defTabSz="914400" rtl="0" eaLnBrk="1" fontAlgn="ctr" latinLnBrk="1" hangingPunct="1">
                        <a:lnSpc>
                          <a:spcPct val="100000"/>
                        </a:lnSpc>
                        <a:spcBef>
                          <a:spcPct val="50000"/>
                        </a:spcBef>
                        <a:spcAft>
                          <a:spcPts val="0"/>
                        </a:spcAft>
                        <a:buClrTx/>
                        <a:buSzTx/>
                        <a:buFont typeface="Wingdings" pitchFamily="2" charset="2"/>
                        <a:buNone/>
                        <a:tabLst/>
                      </a:pPr>
                      <a:r>
                        <a:rPr kumimoji="1" lang="ko-KR" altLang="en-US" sz="1400" u="none" strike="noStrike" cap="none" normalizeH="0" baseline="0" dirty="0">
                          <a:ln>
                            <a:noFill/>
                          </a:ln>
                          <a:effectLst/>
                        </a:rPr>
                        <a:t>청구범위</a:t>
                      </a:r>
                      <a:endParaRPr kumimoji="1" lang="ko-KR" altLang="en-US" sz="1400" b="1"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400" u="none" strike="noStrike" cap="none" normalizeH="0" baseline="0" dirty="0" err="1">
                          <a:ln>
                            <a:noFill/>
                          </a:ln>
                          <a:effectLst/>
                        </a:rPr>
                        <a:t>등록전</a:t>
                      </a:r>
                      <a:r>
                        <a:rPr kumimoji="1" lang="en-US" altLang="ko-KR" sz="1400" u="none" strike="noStrike" cap="none" normalizeH="0" baseline="0" dirty="0">
                          <a:ln>
                            <a:noFill/>
                          </a:ln>
                          <a:effectLst/>
                        </a:rPr>
                        <a:t>: </a:t>
                      </a:r>
                      <a:r>
                        <a:rPr kumimoji="1" lang="ko-KR" altLang="en-US" sz="1400" u="none" strike="noStrike" cap="none" normalizeH="0" baseline="0" dirty="0">
                          <a:ln>
                            <a:noFill/>
                          </a:ln>
                          <a:effectLst/>
                        </a:rPr>
                        <a:t>권리요구서</a:t>
                      </a:r>
                      <a:endParaRPr kumimoji="1" lang="en-US" altLang="ko-KR" sz="1400" u="none" strike="noStrike" cap="none" normalizeH="0" baseline="0" dirty="0">
                        <a:ln>
                          <a:noFill/>
                        </a:ln>
                        <a:effectLst/>
                      </a:endParaRPr>
                    </a:p>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400" b="1" u="none" strike="noStrike" cap="none" normalizeH="0" baseline="0" dirty="0" err="1">
                          <a:ln>
                            <a:noFill/>
                          </a:ln>
                          <a:solidFill>
                            <a:srgbClr val="FF0000"/>
                          </a:solidFill>
                          <a:effectLst/>
                        </a:rPr>
                        <a:t>등록후</a:t>
                      </a:r>
                      <a:r>
                        <a:rPr kumimoji="1" lang="en-US" altLang="ko-KR" sz="1400" b="1" u="none" strike="noStrike" cap="none" normalizeH="0" baseline="0" dirty="0">
                          <a:ln>
                            <a:noFill/>
                          </a:ln>
                          <a:solidFill>
                            <a:srgbClr val="FF0000"/>
                          </a:solidFill>
                          <a:effectLst/>
                        </a:rPr>
                        <a:t>: </a:t>
                      </a:r>
                      <a:r>
                        <a:rPr kumimoji="1" lang="ko-KR" altLang="en-US" sz="1400" b="1" u="none" strike="noStrike" cap="none" normalizeH="0" baseline="0" dirty="0">
                          <a:ln>
                            <a:noFill/>
                          </a:ln>
                          <a:solidFill>
                            <a:srgbClr val="FF0000"/>
                          </a:solidFill>
                          <a:effectLst/>
                        </a:rPr>
                        <a:t>권리서</a:t>
                      </a:r>
                      <a:endParaRPr kumimoji="1" lang="ko-KR" altLang="en-US" sz="1400" b="1" i="0" u="none" strike="noStrike" cap="none" normalizeH="0" baseline="0" dirty="0">
                        <a:ln>
                          <a:noFill/>
                        </a:ln>
                        <a:solidFill>
                          <a:srgbClr val="FF0000"/>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400" u="none" strike="noStrike" cap="none" normalizeH="0" baseline="0" dirty="0">
                          <a:ln>
                            <a:noFill/>
                          </a:ln>
                          <a:effectLst/>
                        </a:rPr>
                        <a:t>공공영역</a:t>
                      </a:r>
                      <a:r>
                        <a:rPr kumimoji="1" lang="en-US" altLang="ko-KR" sz="1400" u="none" strike="noStrike" cap="none" normalizeH="0" baseline="0" dirty="0">
                          <a:ln>
                            <a:noFill/>
                          </a:ln>
                          <a:effectLst/>
                        </a:rPr>
                        <a:t>(C)</a:t>
                      </a:r>
                      <a:r>
                        <a:rPr kumimoji="1" lang="ko-KR" altLang="en-US" sz="1400" u="none" strike="noStrike" cap="none" normalizeH="0" baseline="0" dirty="0">
                          <a:ln>
                            <a:noFill/>
                          </a:ln>
                          <a:effectLst/>
                        </a:rPr>
                        <a:t>과 </a:t>
                      </a:r>
                      <a:endParaRPr kumimoji="1" lang="en-US" altLang="ko-KR" sz="1400" u="none" strike="noStrike" cap="none" normalizeH="0" baseline="0" dirty="0">
                        <a:ln>
                          <a:noFill/>
                        </a:ln>
                        <a:effectLst/>
                      </a:endParaRPr>
                    </a:p>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400" u="none" strike="noStrike" cap="none" normalizeH="0" baseline="0" dirty="0">
                          <a:ln>
                            <a:noFill/>
                          </a:ln>
                          <a:effectLst/>
                        </a:rPr>
                        <a:t>권리범위</a:t>
                      </a:r>
                      <a:r>
                        <a:rPr kumimoji="1" lang="en-US" altLang="ko-KR" sz="1400" u="none" strike="noStrike" cap="none" normalizeH="0" baseline="0" dirty="0">
                          <a:ln>
                            <a:noFill/>
                          </a:ln>
                          <a:effectLst/>
                        </a:rPr>
                        <a:t>(A, B)</a:t>
                      </a:r>
                      <a:r>
                        <a:rPr kumimoji="1" lang="ko-KR" altLang="en-US" sz="1400" u="none" strike="noStrike" cap="none" normalizeH="0" baseline="0" dirty="0">
                          <a:ln>
                            <a:noFill/>
                          </a:ln>
                          <a:effectLst/>
                        </a:rPr>
                        <a:t>의 한계 특정 </a:t>
                      </a:r>
                      <a:endParaRPr kumimoji="1" lang="en-US" altLang="ko-KR" sz="1400" u="none" strike="noStrike" cap="none" normalizeH="0" baseline="0" dirty="0">
                        <a:ln>
                          <a:noFill/>
                        </a:ln>
                        <a:effectLst/>
                      </a:endParaRPr>
                    </a:p>
                    <a:p>
                      <a:pPr marL="0" marR="0" lvl="0" indent="0" algn="ctr" defTabSz="914400" rtl="0" eaLnBrk="1" fontAlgn="ctr" latinLnBrk="1" hangingPunct="1">
                        <a:lnSpc>
                          <a:spcPct val="100000"/>
                        </a:lnSpc>
                        <a:spcBef>
                          <a:spcPct val="0"/>
                        </a:spcBef>
                        <a:spcAft>
                          <a:spcPts val="0"/>
                        </a:spcAft>
                        <a:buClrTx/>
                        <a:buSzTx/>
                        <a:buFontTx/>
                        <a:buNone/>
                        <a:tabLst/>
                      </a:pPr>
                      <a:r>
                        <a:rPr kumimoji="1" lang="en-US" altLang="ko-KR" sz="1400" u="none" strike="noStrike" cap="none" normalizeH="0" baseline="0" dirty="0">
                          <a:ln>
                            <a:noFill/>
                          </a:ln>
                          <a:effectLst/>
                        </a:rPr>
                        <a:t>(</a:t>
                      </a:r>
                      <a:r>
                        <a:rPr kumimoji="1" lang="ko-KR" altLang="en-US" sz="1400" u="none" strike="noStrike" cap="none" normalizeH="0" baseline="0" dirty="0">
                          <a:ln>
                            <a:noFill/>
                          </a:ln>
                          <a:effectLst/>
                        </a:rPr>
                        <a:t>울타리 이론</a:t>
                      </a:r>
                      <a:r>
                        <a:rPr kumimoji="1" lang="en-US" altLang="ko-KR" sz="1400" u="none" strike="noStrike" cap="none" normalizeH="0" baseline="0" dirty="0">
                          <a:ln>
                            <a:noFill/>
                          </a:ln>
                          <a:effectLst/>
                        </a:rPr>
                        <a:t>)</a:t>
                      </a:r>
                      <a:endParaRPr kumimoji="1" lang="en-US" altLang="ko-KR" sz="1400" b="0" i="0" u="none" strike="noStrike" cap="none" normalizeH="0" baseline="0" dirty="0">
                        <a:ln>
                          <a:noFill/>
                        </a:ln>
                        <a:solidFill>
                          <a:srgbClr val="4D4D4D"/>
                        </a:solidFill>
                        <a:effectLst/>
                        <a:latin typeface="Rix모던고딕 L" panose="02020603020101020101" pitchFamily="18" charset="-127"/>
                        <a:ea typeface="Rix모던고딕 L" panose="02020603020101020101" pitchFamily="18" charset="-127"/>
                      </a:endParaRPr>
                    </a:p>
                  </a:txBody>
                  <a:tcPr marL="48000" marR="4800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71" name="TextBox 70">
            <a:extLst>
              <a:ext uri="{FF2B5EF4-FFF2-40B4-BE49-F238E27FC236}">
                <a16:creationId xmlns:a16="http://schemas.microsoft.com/office/drawing/2014/main" id="{A8FA2AED-C529-1603-B69B-64A82047BBB3}"/>
              </a:ext>
            </a:extLst>
          </p:cNvPr>
          <p:cNvSpPr txBox="1"/>
          <p:nvPr/>
        </p:nvSpPr>
        <p:spPr>
          <a:xfrm>
            <a:off x="298020" y="6324600"/>
            <a:ext cx="11627279" cy="276999"/>
          </a:xfrm>
          <a:prstGeom prst="rect">
            <a:avLst/>
          </a:prstGeom>
          <a:noFill/>
        </p:spPr>
        <p:txBody>
          <a:bodyPr wrap="square" rtlCol="0">
            <a:spAutoFit/>
          </a:bodyPr>
          <a:lstStyle/>
          <a:p>
            <a:pPr marL="180975" marR="0" lvl="0" indent="-180975"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심사관은 청구범위의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청구항별로</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거절이유를 판단하지만</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하나의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청구항이라도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거절이유가 있으면 출원 전체를 거절결정하며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이를 출원일체의 원칙</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(All or Nothing Rule)</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이라고 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2" name="직사각형 2">
            <a:extLst>
              <a:ext uri="{FF2B5EF4-FFF2-40B4-BE49-F238E27FC236}">
                <a16:creationId xmlns:a16="http://schemas.microsoft.com/office/drawing/2014/main" id="{33339EA8-27D5-0A9A-6D11-CF7106005833}"/>
              </a:ext>
            </a:extLst>
          </p:cNvPr>
          <p:cNvSpPr>
            <a:spLocks noChangeArrowheads="1"/>
          </p:cNvSpPr>
          <p:nvPr/>
        </p:nvSpPr>
        <p:spPr bwMode="auto">
          <a:xfrm>
            <a:off x="7151787" y="1556075"/>
            <a:ext cx="3744384" cy="287338"/>
          </a:xfrm>
          <a:prstGeom prst="rect">
            <a:avLst/>
          </a:prstGeom>
          <a:solidFill>
            <a:schemeClr val="bg1"/>
          </a:solidFill>
          <a:ln>
            <a:noFill/>
          </a:ln>
          <a:extLst>
            <a:ext uri="{91240B29-F687-4F45-9708-019B960494DF}">
              <a14:hiddenLine xmlns:a14="http://schemas.microsoft.com/office/drawing/2010/main" w="28575" algn="ctr">
                <a:solidFill>
                  <a:srgbClr val="000000"/>
                </a:solidFill>
                <a:round/>
                <a:headEnd/>
                <a:tailEnd/>
              </a14:hiddenLine>
            </a:ext>
          </a:ex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발명의 설명</a:t>
            </a: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p>
        </p:txBody>
      </p:sp>
      <p:sp>
        <p:nvSpPr>
          <p:cNvPr id="73" name="직사각형 72">
            <a:extLst>
              <a:ext uri="{FF2B5EF4-FFF2-40B4-BE49-F238E27FC236}">
                <a16:creationId xmlns:a16="http://schemas.microsoft.com/office/drawing/2014/main" id="{6B37B208-B874-F9E1-FFC7-3F16E72591C5}"/>
              </a:ext>
            </a:extLst>
          </p:cNvPr>
          <p:cNvSpPr/>
          <p:nvPr/>
        </p:nvSpPr>
        <p:spPr>
          <a:xfrm>
            <a:off x="7384826" y="2403367"/>
            <a:ext cx="3112845" cy="921794"/>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4" name="직사각형 73">
            <a:extLst>
              <a:ext uri="{FF2B5EF4-FFF2-40B4-BE49-F238E27FC236}">
                <a16:creationId xmlns:a16="http://schemas.microsoft.com/office/drawing/2014/main" id="{BA7C863F-E099-8CAF-6922-4BE89441448C}"/>
              </a:ext>
            </a:extLst>
          </p:cNvPr>
          <p:cNvSpPr/>
          <p:nvPr/>
        </p:nvSpPr>
        <p:spPr bwMode="auto">
          <a:xfrm>
            <a:off x="9253008" y="2099585"/>
            <a:ext cx="1244663" cy="287338"/>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발명의 동기</a:t>
            </a:r>
            <a:endPar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endParaRPr>
          </a:p>
        </p:txBody>
      </p:sp>
      <p:sp>
        <p:nvSpPr>
          <p:cNvPr id="5" name="직사각형 4">
            <a:extLst>
              <a:ext uri="{FF2B5EF4-FFF2-40B4-BE49-F238E27FC236}">
                <a16:creationId xmlns:a16="http://schemas.microsoft.com/office/drawing/2014/main" id="{49E9160D-0BF2-24CD-2A83-A6E794EB7786}"/>
              </a:ext>
            </a:extLst>
          </p:cNvPr>
          <p:cNvSpPr/>
          <p:nvPr/>
        </p:nvSpPr>
        <p:spPr bwMode="auto">
          <a:xfrm>
            <a:off x="7672692" y="5014799"/>
            <a:ext cx="3744384" cy="288925"/>
          </a:xfrm>
          <a:prstGeom prst="rect">
            <a:avLst/>
          </a:prstGeom>
          <a:solidFill>
            <a:schemeClr val="bg1"/>
          </a:solidFill>
          <a:ln w="28575" cap="flat" cmpd="sng" algn="ctr">
            <a:noFill/>
            <a:prstDash val="solid"/>
            <a:round/>
            <a:headEnd type="none" w="med" len="med"/>
            <a:tailEnd type="none" w="med" len="med"/>
          </a:ln>
          <a:effectLst/>
        </p:spPr>
        <p:txBody>
          <a:bodyPr lIns="90000" tIns="46800" rIns="90000" bIns="46800"/>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실시예 </a:t>
            </a:r>
            <a:r>
              <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3】x, y, z, w</a:t>
            </a:r>
            <a:r>
              <a:rPr kumimoji="0" lang="ko-KR" altLang="en-US"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rPr>
              <a:t>를 포함하는 발명</a:t>
            </a:r>
            <a:endParaRPr kumimoji="0" lang="en-US" altLang="ko-KR" sz="1400" b="0" i="0" u="none" strike="noStrike" kern="1200" cap="none" spc="0" normalizeH="0" baseline="0" noProof="0" dirty="0">
              <a:ln>
                <a:noFill/>
              </a:ln>
              <a:solidFill>
                <a:srgbClr val="70AD47">
                  <a:lumMod val="50000"/>
                </a:srgbClr>
              </a:solidFill>
              <a:effectLst/>
              <a:uLnTx/>
              <a:uFillTx/>
              <a:latin typeface="Rix모던고딕 B"/>
              <a:ea typeface="Rix모던고딕 B"/>
              <a:cs typeface="+mn-cs"/>
            </a:endParaRPr>
          </a:p>
        </p:txBody>
      </p:sp>
      <p:sp>
        <p:nvSpPr>
          <p:cNvPr id="6" name="말풍선: 모서리가 둥근 사각형 5">
            <a:extLst>
              <a:ext uri="{FF2B5EF4-FFF2-40B4-BE49-F238E27FC236}">
                <a16:creationId xmlns:a16="http://schemas.microsoft.com/office/drawing/2014/main" id="{D79526F6-2442-9FEC-A1DA-F24DEC86DD4A}"/>
              </a:ext>
            </a:extLst>
          </p:cNvPr>
          <p:cNvSpPr/>
          <p:nvPr/>
        </p:nvSpPr>
        <p:spPr>
          <a:xfrm>
            <a:off x="10583853" y="4487332"/>
            <a:ext cx="739318" cy="216045"/>
          </a:xfrm>
          <a:prstGeom prst="wedgeRoundRectCallout">
            <a:avLst>
              <a:gd name="adj1" fmla="val -82445"/>
              <a:gd name="adj2" fmla="val -3255"/>
              <a:gd name="adj3" fmla="val 16667"/>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발명</a:t>
            </a:r>
          </a:p>
        </p:txBody>
      </p:sp>
      <p:sp>
        <p:nvSpPr>
          <p:cNvPr id="7" name="말풍선: 모서리가 둥근 사각형 6">
            <a:extLst>
              <a:ext uri="{FF2B5EF4-FFF2-40B4-BE49-F238E27FC236}">
                <a16:creationId xmlns:a16="http://schemas.microsoft.com/office/drawing/2014/main" id="{2D84AD0E-C0A0-E35E-74A1-DBDDC276682D}"/>
              </a:ext>
            </a:extLst>
          </p:cNvPr>
          <p:cNvSpPr/>
          <p:nvPr/>
        </p:nvSpPr>
        <p:spPr>
          <a:xfrm>
            <a:off x="10682165" y="4804222"/>
            <a:ext cx="739318" cy="216045"/>
          </a:xfrm>
          <a:prstGeom prst="wedgeRoundRectCallout">
            <a:avLst>
              <a:gd name="adj1" fmla="val -82445"/>
              <a:gd name="adj2" fmla="val -3255"/>
              <a:gd name="adj3" fmla="val 16667"/>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발명</a:t>
            </a:r>
          </a:p>
        </p:txBody>
      </p:sp>
      <p:sp>
        <p:nvSpPr>
          <p:cNvPr id="8" name="말풍선: 모서리가 둥근 사각형 7">
            <a:extLst>
              <a:ext uri="{FF2B5EF4-FFF2-40B4-BE49-F238E27FC236}">
                <a16:creationId xmlns:a16="http://schemas.microsoft.com/office/drawing/2014/main" id="{B1140AC5-8CAE-3C0C-D14C-58383B7C03AB}"/>
              </a:ext>
            </a:extLst>
          </p:cNvPr>
          <p:cNvSpPr/>
          <p:nvPr/>
        </p:nvSpPr>
        <p:spPr>
          <a:xfrm>
            <a:off x="10932169" y="5128785"/>
            <a:ext cx="739318" cy="216045"/>
          </a:xfrm>
          <a:prstGeom prst="wedgeRoundRectCallout">
            <a:avLst>
              <a:gd name="adj1" fmla="val -82445"/>
              <a:gd name="adj2" fmla="val -3255"/>
              <a:gd name="adj3" fmla="val 16667"/>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C</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발명</a:t>
            </a:r>
          </a:p>
        </p:txBody>
      </p:sp>
    </p:spTree>
    <p:extLst>
      <p:ext uri="{BB962C8B-B14F-4D97-AF65-F5344CB8AC3E}">
        <p14:creationId xmlns:p14="http://schemas.microsoft.com/office/powerpoint/2010/main" val="3058755600"/>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ko-KR" altLang="en-US" dirty="0"/>
              <a:t>배경기술의 기재</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127</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93" name="TextBox 92"/>
          <p:cNvSpPr txBox="1"/>
          <p:nvPr/>
        </p:nvSpPr>
        <p:spPr>
          <a:xfrm>
            <a:off x="77875" y="986046"/>
            <a:ext cx="11936323" cy="1384995"/>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문제가 되는 것은 배경기술에 기재된 경우 이를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신규성</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진보성을 부정하는 공지기술로 볼 수 있느냐는 것이다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기존 대법원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2005. 12. 23.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2004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2031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판결 등은 특별한 사정이 없는 한 공지기술로 보아야 한다는 입장이었으나</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2017. 1. 19.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2013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37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전원합의체 판결은 이러한 종래의 판결을 변경하면서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명세서에 배경기술로 기재되어 있다고 하여 그 자체로 공지기술로 볼 수 없다</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고 판시하였다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이는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출원 전 공지된 것인지는 사실인정의 문제인데 배경기술이라는 항목</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명세서의 기재형식</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에 기재했다는 것에 근거하여 공지기술로 간주하는 태도는 객관적 진실에 반하는 결과를 낳을 수 있고</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더욱이 배경기술이란 공개 여부는 묻지 않고 출원 전 존재한 기술을 말하는 것이기 때문이다</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예를 들어</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실제로는 출원 당시 아직 공개되지 아니한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선출원발명이나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출원인의 회사 내부에만 알려져 있었던 기술을 배경기술에 기재할 수 있는데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이를 공지기술이라고 단정할 수는 없는 것이다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95" name="직선 연결선 94"/>
          <p:cNvCxnSpPr/>
          <p:nvPr/>
        </p:nvCxnSpPr>
        <p:spPr>
          <a:xfrm>
            <a:off x="0" y="238513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직선 연결선 95"/>
          <p:cNvCxnSpPr>
            <a:cxnSpLocks/>
          </p:cNvCxnSpPr>
          <p:nvPr/>
        </p:nvCxnSpPr>
        <p:spPr>
          <a:xfrm>
            <a:off x="465826" y="3606370"/>
            <a:ext cx="1143956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8" name="TextBox 97"/>
          <p:cNvSpPr txBox="1"/>
          <p:nvPr/>
        </p:nvSpPr>
        <p:spPr>
          <a:xfrm>
            <a:off x="2670699" y="4784981"/>
            <a:ext cx="1749714" cy="646331"/>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배경기술에 기재된 일부 구성요소가 공지되었음을 자인</a:t>
            </a:r>
          </a:p>
        </p:txBody>
      </p:sp>
      <p:sp>
        <p:nvSpPr>
          <p:cNvPr id="99" name="직사각형 98"/>
          <p:cNvSpPr/>
          <p:nvPr/>
        </p:nvSpPr>
        <p:spPr>
          <a:xfrm>
            <a:off x="2260460" y="3464008"/>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sp>
        <p:nvSpPr>
          <p:cNvPr id="102" name="직사각형 101"/>
          <p:cNvSpPr/>
          <p:nvPr/>
        </p:nvSpPr>
        <p:spPr>
          <a:xfrm>
            <a:off x="5092547" y="3464008"/>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거절결정</a:t>
            </a:r>
          </a:p>
        </p:txBody>
      </p:sp>
      <p:sp>
        <p:nvSpPr>
          <p:cNvPr id="18" name="직사각형 17"/>
          <p:cNvSpPr/>
          <p:nvPr/>
        </p:nvSpPr>
        <p:spPr>
          <a:xfrm>
            <a:off x="6339596" y="3464008"/>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black"/>
                </a:solidFill>
                <a:effectLst/>
                <a:uLnTx/>
                <a:uFillTx/>
                <a:latin typeface="Frutiger LT 65 Bold"/>
                <a:ea typeface="Rix모던고딕 B"/>
                <a:cs typeface="+mn-cs"/>
              </a:rPr>
              <a:t>심판청구</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9" name="직사각형 18"/>
          <p:cNvSpPr/>
          <p:nvPr/>
        </p:nvSpPr>
        <p:spPr>
          <a:xfrm>
            <a:off x="7596718" y="3464008"/>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black"/>
                </a:solidFill>
                <a:effectLst/>
                <a:uLnTx/>
                <a:uFillTx/>
                <a:latin typeface="Frutiger LT 65 Bold"/>
                <a:ea typeface="Rix모던고딕 B"/>
                <a:cs typeface="+mn-cs"/>
              </a:rPr>
              <a:t>기각심결</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0" name="직사각형 19"/>
          <p:cNvSpPr/>
          <p:nvPr/>
        </p:nvSpPr>
        <p:spPr>
          <a:xfrm>
            <a:off x="8866718" y="3464008"/>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소제기</a:t>
            </a:r>
          </a:p>
        </p:txBody>
      </p:sp>
      <p:sp>
        <p:nvSpPr>
          <p:cNvPr id="21" name="직사각형 20"/>
          <p:cNvSpPr/>
          <p:nvPr/>
        </p:nvSpPr>
        <p:spPr>
          <a:xfrm>
            <a:off x="2695973" y="4427181"/>
            <a:ext cx="1724440" cy="300438"/>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rPr>
              <a:t>의견서</a:t>
            </a:r>
            <a:r>
              <a:rPr kumimoji="0" lang="en-US" altLang="ko-KR" sz="16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보정서</a:t>
            </a:r>
          </a:p>
        </p:txBody>
      </p:sp>
      <p:cxnSp>
        <p:nvCxnSpPr>
          <p:cNvPr id="5" name="직선 화살표 연결선 4"/>
          <p:cNvCxnSpPr>
            <a:stCxn id="21" idx="0"/>
          </p:cNvCxnSpPr>
          <p:nvPr/>
        </p:nvCxnSpPr>
        <p:spPr>
          <a:xfrm flipV="1">
            <a:off x="3558193" y="3622849"/>
            <a:ext cx="0" cy="80433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3711482" y="5936447"/>
            <a:ext cx="1749714" cy="646331"/>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별도의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증거없이도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공지된 것으로 추정한 후 심사 진행</a:t>
            </a:r>
          </a:p>
        </p:txBody>
      </p:sp>
      <p:sp>
        <p:nvSpPr>
          <p:cNvPr id="29" name="직사각형 28"/>
          <p:cNvSpPr/>
          <p:nvPr/>
        </p:nvSpPr>
        <p:spPr>
          <a:xfrm>
            <a:off x="3736756" y="5578647"/>
            <a:ext cx="1724440" cy="300438"/>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실체심사</a:t>
            </a:r>
          </a:p>
        </p:txBody>
      </p:sp>
      <p:cxnSp>
        <p:nvCxnSpPr>
          <p:cNvPr id="30" name="직선 화살표 연결선 29"/>
          <p:cNvCxnSpPr>
            <a:stCxn id="29" idx="0"/>
          </p:cNvCxnSpPr>
          <p:nvPr/>
        </p:nvCxnSpPr>
        <p:spPr>
          <a:xfrm flipH="1" flipV="1">
            <a:off x="4586339" y="3622850"/>
            <a:ext cx="12637" cy="1955797"/>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3" name="직선 화살표 연결선 32"/>
          <p:cNvCxnSpPr/>
          <p:nvPr/>
        </p:nvCxnSpPr>
        <p:spPr>
          <a:xfrm flipV="1">
            <a:off x="10451757" y="3614228"/>
            <a:ext cx="0" cy="80433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6240727" y="4432607"/>
            <a:ext cx="5087674" cy="830997"/>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실제로는 출원 당시 아직 공개되지 아니한 </a:t>
            </a:r>
            <a:r>
              <a:rPr kumimoji="0" lang="ko-KR" altLang="en-US" sz="1600" b="0" i="0" u="none" strike="noStrike" kern="1200" cap="none" spc="0" normalizeH="0" baseline="0" noProof="0" dirty="0" err="1">
                <a:ln>
                  <a:noFill/>
                </a:ln>
                <a:solidFill>
                  <a:srgbClr val="FF0000"/>
                </a:solidFill>
                <a:effectLst/>
                <a:uLnTx/>
                <a:uFillTx/>
                <a:latin typeface="Frutiger LT 65 Bold"/>
                <a:ea typeface="Rix모던고딕 B"/>
                <a:cs typeface="+mn-cs"/>
              </a:rPr>
              <a:t>선출원발명이나</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 출원인의 회사 내부에만 알려져 있었던 기술을 착오로 공지된 것으로 잘못 기재하였음이 밝혀짐 </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sym typeface="Wingdings" pitchFamily="2" charset="2"/>
              </a:rPr>
              <a:t> </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sym typeface="Wingdings" pitchFamily="2" charset="2"/>
              </a:rPr>
              <a:t>추정 번복</a:t>
            </a:r>
            <a:endPar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7" name="직사각형 6">
            <a:extLst>
              <a:ext uri="{FF2B5EF4-FFF2-40B4-BE49-F238E27FC236}">
                <a16:creationId xmlns:a16="http://schemas.microsoft.com/office/drawing/2014/main" id="{70858366-AD6A-494C-B97E-97EE0F99E849}"/>
              </a:ext>
            </a:extLst>
          </p:cNvPr>
          <p:cNvSpPr/>
          <p:nvPr/>
        </p:nvSpPr>
        <p:spPr>
          <a:xfrm>
            <a:off x="431831" y="3381073"/>
            <a:ext cx="1222916" cy="466308"/>
          </a:xfrm>
          <a:prstGeom prst="rect">
            <a:avLst/>
          </a:prstGeom>
          <a:solidFill>
            <a:schemeClr val="bg2">
              <a:lumMod val="1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공지기술</a:t>
            </a:r>
            <a:r>
              <a:rPr kumimoji="0" lang="en-US" altLang="ko-KR" sz="16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rPr>
              <a:t>(A)</a:t>
            </a:r>
            <a:endParaRPr kumimoji="0" lang="ko-KR" altLang="en-US" sz="1600" b="0" i="0" u="none" strike="noStrike" kern="1200" cap="none" spc="0" normalizeH="0" baseline="0" noProof="0" dirty="0">
              <a:ln>
                <a:noFill/>
              </a:ln>
              <a:solidFill>
                <a:srgbClr val="FFC000">
                  <a:lumMod val="20000"/>
                  <a:lumOff val="80000"/>
                </a:srgbClr>
              </a:solidFill>
              <a:effectLst/>
              <a:uLnTx/>
              <a:uFillTx/>
              <a:latin typeface="Frutiger LT 65 Bold"/>
              <a:ea typeface="Rix모던고딕 B"/>
              <a:cs typeface="+mn-cs"/>
            </a:endParaRPr>
          </a:p>
        </p:txBody>
      </p:sp>
      <p:sp>
        <p:nvSpPr>
          <p:cNvPr id="8" name="직사각형 7">
            <a:extLst>
              <a:ext uri="{FF2B5EF4-FFF2-40B4-BE49-F238E27FC236}">
                <a16:creationId xmlns:a16="http://schemas.microsoft.com/office/drawing/2014/main" id="{A2D25404-45B7-B5E0-D1BC-AB1F71FE8A9A}"/>
              </a:ext>
            </a:extLst>
          </p:cNvPr>
          <p:cNvSpPr/>
          <p:nvPr/>
        </p:nvSpPr>
        <p:spPr>
          <a:xfrm>
            <a:off x="1969198" y="2513404"/>
            <a:ext cx="1591582" cy="56943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배경기술에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를 기재</a:t>
            </a:r>
          </a:p>
        </p:txBody>
      </p:sp>
      <p:cxnSp>
        <p:nvCxnSpPr>
          <p:cNvPr id="9" name="직선 화살표 연결선 8">
            <a:extLst>
              <a:ext uri="{FF2B5EF4-FFF2-40B4-BE49-F238E27FC236}">
                <a16:creationId xmlns:a16="http://schemas.microsoft.com/office/drawing/2014/main" id="{35D72E51-2DCD-017C-EB9D-E8E7839CA04F}"/>
              </a:ext>
            </a:extLst>
          </p:cNvPr>
          <p:cNvCxnSpPr>
            <a:cxnSpLocks/>
            <a:stCxn id="8" idx="2"/>
            <a:endCxn id="99" idx="0"/>
          </p:cNvCxnSpPr>
          <p:nvPr/>
        </p:nvCxnSpPr>
        <p:spPr>
          <a:xfrm flipH="1">
            <a:off x="2758599" y="3082838"/>
            <a:ext cx="6390" cy="38117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04A7B93D-5C5E-27B8-9FA7-FA08FB1A99E2}"/>
              </a:ext>
            </a:extLst>
          </p:cNvPr>
          <p:cNvCxnSpPr>
            <a:stCxn id="8" idx="1"/>
            <a:endCxn id="7" idx="0"/>
          </p:cNvCxnSpPr>
          <p:nvPr/>
        </p:nvCxnSpPr>
        <p:spPr>
          <a:xfrm flipH="1">
            <a:off x="1043289" y="2798121"/>
            <a:ext cx="925909" cy="582952"/>
          </a:xfrm>
          <a:prstGeom prst="straightConnector1">
            <a:avLst/>
          </a:prstGeom>
          <a:ln w="5715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67D98C4D-AE3C-B67B-0141-FEA44B205607}"/>
              </a:ext>
            </a:extLst>
          </p:cNvPr>
          <p:cNvSpPr txBox="1"/>
          <p:nvPr/>
        </p:nvSpPr>
        <p:spPr>
          <a:xfrm>
            <a:off x="733200" y="2596338"/>
            <a:ext cx="893193" cy="461665"/>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2400" b="0" i="0" u="none" strike="noStrike" kern="1200" cap="none" spc="0" normalizeH="0" baseline="0" noProof="0" dirty="0">
                <a:ln>
                  <a:noFill/>
                </a:ln>
                <a:solidFill>
                  <a:srgbClr val="FF0000"/>
                </a:solidFill>
                <a:effectLst/>
                <a:uLnTx/>
                <a:uFillTx/>
                <a:latin typeface="Frutiger LT 65 Bold"/>
                <a:ea typeface="Rix모던고딕 B"/>
                <a:cs typeface="+mn-cs"/>
              </a:rPr>
              <a:t>인정</a:t>
            </a:r>
            <a:r>
              <a:rPr kumimoji="0" lang="en-US" altLang="ko-KR" sz="2400" b="0" i="0" u="none" strike="noStrike" kern="1200" cap="none" spc="0" normalizeH="0" baseline="0" noProof="0" dirty="0">
                <a:ln>
                  <a:noFill/>
                </a:ln>
                <a:solidFill>
                  <a:srgbClr val="FF0000"/>
                </a:solidFill>
                <a:effectLst/>
                <a:uLnTx/>
                <a:uFillTx/>
                <a:latin typeface="Frutiger LT 65 Bold"/>
                <a:ea typeface="Rix모던고딕 B"/>
                <a:cs typeface="+mn-cs"/>
              </a:rPr>
              <a:t>?</a:t>
            </a:r>
            <a:endParaRPr kumimoji="0" lang="ko-KR" altLang="en-US" sz="24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Tree>
    <p:extLst>
      <p:ext uri="{BB962C8B-B14F-4D97-AF65-F5344CB8AC3E}">
        <p14:creationId xmlns:p14="http://schemas.microsoft.com/office/powerpoint/2010/main" val="1668617766"/>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ko-KR" altLang="en-US" dirty="0"/>
              <a:t>뒷받침 요건의 판단</a:t>
            </a:r>
            <a:r>
              <a:rPr lang="en-US" altLang="ko-KR" dirty="0"/>
              <a:t>(</a:t>
            </a:r>
            <a:r>
              <a:rPr lang="ko-KR" altLang="en-US" dirty="0"/>
              <a:t>제</a:t>
            </a:r>
            <a:r>
              <a:rPr lang="en-US" altLang="ko-KR" dirty="0"/>
              <a:t>42</a:t>
            </a:r>
            <a:r>
              <a:rPr lang="ko-KR" altLang="en-US" dirty="0"/>
              <a:t>조제</a:t>
            </a:r>
            <a:r>
              <a:rPr lang="en-US" altLang="ko-KR" dirty="0"/>
              <a:t>4</a:t>
            </a:r>
            <a:r>
              <a:rPr lang="ko-KR" altLang="en-US" dirty="0" err="1"/>
              <a:t>항제</a:t>
            </a:r>
            <a:r>
              <a:rPr lang="en-US" altLang="ko-KR" dirty="0"/>
              <a:t>1</a:t>
            </a:r>
            <a:r>
              <a:rPr lang="ko-KR" altLang="en-US" dirty="0"/>
              <a:t>호</a:t>
            </a:r>
            <a:r>
              <a:rPr lang="en-US" altLang="ko-KR" dirty="0"/>
              <a:t>)</a:t>
            </a:r>
            <a:endParaRPr lang="ko-KR" altLang="en-US" dirty="0"/>
          </a:p>
        </p:txBody>
      </p:sp>
      <p:sp>
        <p:nvSpPr>
          <p:cNvPr id="93" name="TextBox 92"/>
          <p:cNvSpPr txBox="1"/>
          <p:nvPr/>
        </p:nvSpPr>
        <p:spPr>
          <a:xfrm>
            <a:off x="77875" y="986046"/>
            <a:ext cx="11936323" cy="738664"/>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발명의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설명에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뒷받침되고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있는지는</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당시의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기술수준을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기준으로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하여</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통상의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기술자의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입장에서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청구항에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적혀</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있는</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사항과</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대응되는</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사항이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발명의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설명에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적혀</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있는지에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의하여</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판단하여야</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rPr>
              <a:t>한다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출원시의 기술상식에 비추어 보더라도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발명의 설명에 개시된 내용을 청구범위에 기재된 발명의 범위까지 확장 내지 일반화할 수 없는 경우</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에는 그 청구범위는 발명의 설명에 의하여 뒷받침된다고 볼 수 없다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5" name="직선 연결선 94"/>
          <p:cNvCxnSpPr/>
          <p:nvPr/>
        </p:nvCxnSpPr>
        <p:spPr>
          <a:xfrm>
            <a:off x="0" y="173317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다이아몬드 21"/>
          <p:cNvSpPr/>
          <p:nvPr/>
        </p:nvSpPr>
        <p:spPr>
          <a:xfrm>
            <a:off x="3039567" y="2387595"/>
            <a:ext cx="1972733" cy="1151467"/>
          </a:xfrm>
          <a:prstGeom prst="diamond">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형식적 </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판단</a:t>
            </a:r>
          </a:p>
        </p:txBody>
      </p:sp>
      <p:sp>
        <p:nvSpPr>
          <p:cNvPr id="23" name="다이아몬드 22"/>
          <p:cNvSpPr/>
          <p:nvPr/>
        </p:nvSpPr>
        <p:spPr>
          <a:xfrm>
            <a:off x="3039567" y="3936988"/>
            <a:ext cx="1972733" cy="1151467"/>
          </a:xfrm>
          <a:prstGeom prst="diamond">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실질적</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판단</a:t>
            </a:r>
          </a:p>
        </p:txBody>
      </p:sp>
      <p:sp>
        <p:nvSpPr>
          <p:cNvPr id="24" name="직사각형 23"/>
          <p:cNvSpPr/>
          <p:nvPr/>
        </p:nvSpPr>
        <p:spPr>
          <a:xfrm>
            <a:off x="905956" y="2709349"/>
            <a:ext cx="1600200" cy="50378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항제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호 </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위반되지 않음</a:t>
            </a:r>
          </a:p>
        </p:txBody>
      </p:sp>
      <p:cxnSp>
        <p:nvCxnSpPr>
          <p:cNvPr id="26" name="직선 화살표 연결선 25"/>
          <p:cNvCxnSpPr>
            <a:stCxn id="22" idx="1"/>
            <a:endCxn id="24" idx="3"/>
          </p:cNvCxnSpPr>
          <p:nvPr/>
        </p:nvCxnSpPr>
        <p:spPr>
          <a:xfrm flipH="1" flipV="1">
            <a:off x="2506156" y="2961244"/>
            <a:ext cx="533411" cy="2085"/>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직사각형 30"/>
          <p:cNvSpPr/>
          <p:nvPr/>
        </p:nvSpPr>
        <p:spPr>
          <a:xfrm>
            <a:off x="3225829" y="5626085"/>
            <a:ext cx="1600200" cy="50378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항제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호 </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위반됨</a:t>
            </a:r>
          </a:p>
        </p:txBody>
      </p:sp>
      <p:cxnSp>
        <p:nvCxnSpPr>
          <p:cNvPr id="32" name="직선 화살표 연결선 31"/>
          <p:cNvCxnSpPr>
            <a:stCxn id="22" idx="2"/>
            <a:endCxn id="23" idx="0"/>
          </p:cNvCxnSpPr>
          <p:nvPr/>
        </p:nvCxnSpPr>
        <p:spPr>
          <a:xfrm>
            <a:off x="4025934" y="3539062"/>
            <a:ext cx="0" cy="397926"/>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 name="직선 화살표 연결선 33"/>
          <p:cNvCxnSpPr>
            <a:stCxn id="23" idx="2"/>
            <a:endCxn id="31" idx="0"/>
          </p:cNvCxnSpPr>
          <p:nvPr/>
        </p:nvCxnSpPr>
        <p:spPr>
          <a:xfrm flipH="1">
            <a:off x="4025929" y="5088455"/>
            <a:ext cx="5" cy="537630"/>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4030169" y="3539053"/>
            <a:ext cx="482600" cy="2616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No</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6" name="TextBox 35"/>
          <p:cNvSpPr txBox="1"/>
          <p:nvPr/>
        </p:nvSpPr>
        <p:spPr>
          <a:xfrm>
            <a:off x="4030169" y="5095660"/>
            <a:ext cx="482600" cy="2616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No</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8" name="TextBox 37"/>
          <p:cNvSpPr txBox="1"/>
          <p:nvPr/>
        </p:nvSpPr>
        <p:spPr>
          <a:xfrm>
            <a:off x="2662795" y="2689897"/>
            <a:ext cx="482600" cy="2616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Yes</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9" name="TextBox 38"/>
          <p:cNvSpPr txBox="1"/>
          <p:nvPr/>
        </p:nvSpPr>
        <p:spPr>
          <a:xfrm>
            <a:off x="2662795" y="4244769"/>
            <a:ext cx="482600" cy="26161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Yes</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6" name="꺾인 연결선 5"/>
          <p:cNvCxnSpPr>
            <a:stCxn id="23" idx="1"/>
            <a:endCxn id="24" idx="2"/>
          </p:cNvCxnSpPr>
          <p:nvPr/>
        </p:nvCxnSpPr>
        <p:spPr>
          <a:xfrm rot="10800000">
            <a:off x="1706057" y="3213138"/>
            <a:ext cx="1333511" cy="1299584"/>
          </a:xfrm>
          <a:prstGeom prst="bentConnector2">
            <a:avLst/>
          </a:prstGeom>
          <a:ln w="12700">
            <a:solidFill>
              <a:schemeClr val="bg1">
                <a:lumMod val="50000"/>
              </a:schemeClr>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5181600" y="2816035"/>
            <a:ext cx="6485467" cy="307777"/>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청구항에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기재된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발명이 발명의 설명에도 기재되어 있는지 여부</a:t>
            </a:r>
          </a:p>
        </p:txBody>
      </p:sp>
      <p:sp>
        <p:nvSpPr>
          <p:cNvPr id="41" name="TextBox 40"/>
          <p:cNvSpPr txBox="1"/>
          <p:nvPr/>
        </p:nvSpPr>
        <p:spPr>
          <a:xfrm>
            <a:off x="5181600" y="4250308"/>
            <a:ext cx="6485467" cy="52322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발명의 설명에 기재된 발명의 범위를 확장 내지 일반화하면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청구항에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기재된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발명에 이를 수 있는지 여부</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128</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23307666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ko-KR" altLang="en-US" dirty="0"/>
              <a:t>제</a:t>
            </a:r>
            <a:r>
              <a:rPr lang="en-US" altLang="ko-KR" dirty="0"/>
              <a:t>42</a:t>
            </a:r>
            <a:r>
              <a:rPr lang="ko-KR" altLang="en-US" dirty="0"/>
              <a:t>조제</a:t>
            </a:r>
            <a:r>
              <a:rPr lang="en-US" altLang="ko-KR" dirty="0"/>
              <a:t>3</a:t>
            </a:r>
            <a:r>
              <a:rPr lang="ko-KR" altLang="en-US" dirty="0" err="1"/>
              <a:t>항제</a:t>
            </a:r>
            <a:r>
              <a:rPr lang="en-US" altLang="ko-KR" dirty="0"/>
              <a:t>1</a:t>
            </a:r>
            <a:r>
              <a:rPr lang="ko-KR" altLang="en-US" dirty="0" err="1"/>
              <a:t>호과</a:t>
            </a:r>
            <a:r>
              <a:rPr lang="ko-KR" altLang="en-US" dirty="0"/>
              <a:t> 제</a:t>
            </a:r>
            <a:r>
              <a:rPr lang="en-US" altLang="ko-KR" dirty="0"/>
              <a:t>42</a:t>
            </a:r>
            <a:r>
              <a:rPr lang="ko-KR" altLang="en-US" dirty="0"/>
              <a:t>조제</a:t>
            </a:r>
            <a:r>
              <a:rPr lang="en-US" altLang="ko-KR" dirty="0"/>
              <a:t>4</a:t>
            </a:r>
            <a:r>
              <a:rPr lang="ko-KR" altLang="en-US" dirty="0"/>
              <a:t>항의 판단</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129</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graphicFrame>
        <p:nvGraphicFramePr>
          <p:cNvPr id="12" name="표 11">
            <a:extLst>
              <a:ext uri="{FF2B5EF4-FFF2-40B4-BE49-F238E27FC236}">
                <a16:creationId xmlns:a16="http://schemas.microsoft.com/office/drawing/2014/main" id="{B9B9D5D0-4BEE-4CFD-A48C-A1A1F08F3978}"/>
              </a:ext>
            </a:extLst>
          </p:cNvPr>
          <p:cNvGraphicFramePr>
            <a:graphicFrameLocks noGrp="1"/>
          </p:cNvGraphicFramePr>
          <p:nvPr/>
        </p:nvGraphicFramePr>
        <p:xfrm>
          <a:off x="601134" y="3525744"/>
          <a:ext cx="10989732" cy="3139440"/>
        </p:xfrm>
        <a:graphic>
          <a:graphicData uri="http://schemas.openxmlformats.org/drawingml/2006/table">
            <a:tbl>
              <a:tblPr>
                <a:tableStyleId>{BC89EF96-8CEA-46FF-86C4-4CE0E7609802}</a:tableStyleId>
              </a:tblPr>
              <a:tblGrid>
                <a:gridCol w="2353733">
                  <a:extLst>
                    <a:ext uri="{9D8B030D-6E8A-4147-A177-3AD203B41FA5}">
                      <a16:colId xmlns:a16="http://schemas.microsoft.com/office/drawing/2014/main" val="4152084408"/>
                    </a:ext>
                  </a:extLst>
                </a:gridCol>
                <a:gridCol w="4097867">
                  <a:extLst>
                    <a:ext uri="{9D8B030D-6E8A-4147-A177-3AD203B41FA5}">
                      <a16:colId xmlns:a16="http://schemas.microsoft.com/office/drawing/2014/main" val="1715484243"/>
                    </a:ext>
                  </a:extLst>
                </a:gridCol>
                <a:gridCol w="4538132">
                  <a:extLst>
                    <a:ext uri="{9D8B030D-6E8A-4147-A177-3AD203B41FA5}">
                      <a16:colId xmlns:a16="http://schemas.microsoft.com/office/drawing/2014/main" val="1893536710"/>
                    </a:ext>
                  </a:extLst>
                </a:gridCol>
              </a:tblGrid>
              <a:tr h="145495">
                <a:tc>
                  <a:txBody>
                    <a:bodyPr/>
                    <a:lstStyle/>
                    <a:p>
                      <a:pPr algn="ctr" latinLnBrk="1"/>
                      <a:r>
                        <a:rPr lang="ko-KR" altLang="en-US" sz="1400" dirty="0"/>
                        <a:t>기재요건</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400" dirty="0"/>
                        <a:t>취지</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400" dirty="0"/>
                        <a:t>판단</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32978690"/>
                  </a:ext>
                </a:extLst>
              </a:tr>
              <a:tr h="451035">
                <a:tc>
                  <a:txBody>
                    <a:bodyPr/>
                    <a:lstStyle/>
                    <a:p>
                      <a:pPr algn="ctr" latinLnBrk="1"/>
                      <a:r>
                        <a:rPr lang="ko-KR" altLang="en-US" sz="1400" dirty="0"/>
                        <a:t>제</a:t>
                      </a:r>
                      <a:r>
                        <a:rPr lang="en-US" altLang="ko-KR" sz="1400" dirty="0"/>
                        <a:t>42</a:t>
                      </a:r>
                      <a:r>
                        <a:rPr lang="ko-KR" altLang="en-US" sz="1400" dirty="0"/>
                        <a:t>조제</a:t>
                      </a:r>
                      <a:r>
                        <a:rPr lang="en-US" altLang="ko-KR" sz="1400" dirty="0"/>
                        <a:t>3</a:t>
                      </a:r>
                      <a:r>
                        <a:rPr lang="ko-KR" altLang="en-US" sz="1400" dirty="0" err="1"/>
                        <a:t>항제</a:t>
                      </a:r>
                      <a:r>
                        <a:rPr lang="en-US" altLang="ko-KR" sz="1400" dirty="0"/>
                        <a:t>1</a:t>
                      </a:r>
                      <a:r>
                        <a:rPr lang="ko-KR" altLang="en-US" sz="1400" dirty="0"/>
                        <a:t>호</a:t>
                      </a:r>
                      <a:endParaRPr lang="en-US" altLang="ko-KR" sz="1400" dirty="0"/>
                    </a:p>
                    <a:p>
                      <a:pPr algn="ctr" latinLnBrk="1"/>
                      <a:r>
                        <a:rPr lang="en-US" altLang="ko-KR" sz="1400" dirty="0"/>
                        <a:t>(</a:t>
                      </a:r>
                      <a:r>
                        <a:rPr lang="ko-KR" altLang="en-US" sz="1400" dirty="0"/>
                        <a:t>실시가능요건</a:t>
                      </a:r>
                      <a:r>
                        <a:rPr lang="en-US" altLang="ko-KR" sz="1400" dirty="0"/>
                        <a:t>)</a:t>
                      </a:r>
                      <a:endParaRPr lang="ko-KR" altLang="en-US" sz="14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400" kern="1200" dirty="0" err="1">
                          <a:solidFill>
                            <a:schemeClr val="tx1"/>
                          </a:solidFill>
                          <a:effectLst/>
                          <a:latin typeface="+mn-lt"/>
                          <a:ea typeface="+mn-ea"/>
                          <a:cs typeface="+mn-cs"/>
                        </a:rPr>
                        <a:t>특허출원된</a:t>
                      </a:r>
                      <a:r>
                        <a:rPr lang="ko-KR" altLang="en-US" sz="1400" kern="1200" dirty="0">
                          <a:solidFill>
                            <a:schemeClr val="tx1"/>
                          </a:solidFill>
                          <a:effectLst/>
                          <a:latin typeface="+mn-lt"/>
                          <a:ea typeface="+mn-ea"/>
                          <a:cs typeface="+mn-cs"/>
                        </a:rPr>
                        <a:t> </a:t>
                      </a:r>
                      <a:r>
                        <a:rPr lang="ko-KR" altLang="en-US" sz="1400" kern="1200" dirty="0">
                          <a:solidFill>
                            <a:srgbClr val="FF0000"/>
                          </a:solidFill>
                          <a:effectLst/>
                          <a:latin typeface="+mn-lt"/>
                          <a:ea typeface="+mn-ea"/>
                          <a:cs typeface="+mn-cs"/>
                        </a:rPr>
                        <a:t>발명의 내용을 제</a:t>
                      </a:r>
                      <a:r>
                        <a:rPr lang="en-US" altLang="ko-KR" sz="1400" kern="1200" dirty="0">
                          <a:solidFill>
                            <a:srgbClr val="FF0000"/>
                          </a:solidFill>
                          <a:effectLst/>
                          <a:latin typeface="+mn-lt"/>
                          <a:ea typeface="+mn-ea"/>
                          <a:cs typeface="+mn-cs"/>
                        </a:rPr>
                        <a:t>3</a:t>
                      </a:r>
                      <a:r>
                        <a:rPr lang="ko-KR" altLang="en-US" sz="1400" kern="1200" dirty="0">
                          <a:solidFill>
                            <a:srgbClr val="FF0000"/>
                          </a:solidFill>
                          <a:effectLst/>
                          <a:latin typeface="+mn-lt"/>
                          <a:ea typeface="+mn-ea"/>
                          <a:cs typeface="+mn-cs"/>
                        </a:rPr>
                        <a:t>자가 발명의 설명만으로 쉽게 알 수 있도록 공개</a:t>
                      </a:r>
                      <a:r>
                        <a:rPr lang="ko-KR" altLang="en-US" sz="1400" kern="1200" dirty="0">
                          <a:solidFill>
                            <a:schemeClr val="tx1"/>
                          </a:solidFill>
                          <a:effectLst/>
                          <a:latin typeface="+mn-lt"/>
                          <a:ea typeface="+mn-ea"/>
                          <a:cs typeface="+mn-cs"/>
                        </a:rPr>
                        <a:t>하여 특허권으로 보호받고자 하는 기술적 내용과 범위를 명확하게 하기 위한 것</a:t>
                      </a:r>
                      <a:endParaRPr lang="ko-KR" altLang="en-US" sz="14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tx1"/>
                          </a:solidFill>
                          <a:effectLst/>
                          <a:latin typeface="+mn-lt"/>
                          <a:ea typeface="+mn-ea"/>
                          <a:cs typeface="+mn-cs"/>
                        </a:rPr>
                        <a:t>통상의 기술자가 출원 시의 기술 수준으로 보아 </a:t>
                      </a:r>
                      <a:r>
                        <a:rPr lang="ko-KR" altLang="en-US" sz="1400" kern="1200" dirty="0">
                          <a:solidFill>
                            <a:srgbClr val="FF0000"/>
                          </a:solidFill>
                          <a:effectLst/>
                          <a:latin typeface="+mn-lt"/>
                          <a:ea typeface="+mn-ea"/>
                          <a:cs typeface="+mn-cs"/>
                        </a:rPr>
                        <a:t>과도한 실험이나 특수한 지식을 부가하지 않고서도 발명의 설명의 기재에 의하여 그 발명을 정확하게 이해할 수 있고 동시에 재현할 수 있는 정도로 기재</a:t>
                      </a:r>
                      <a:r>
                        <a:rPr lang="ko-KR" altLang="en-US" sz="1400" kern="1200" dirty="0">
                          <a:solidFill>
                            <a:schemeClr val="tx1"/>
                          </a:solidFill>
                          <a:effectLst/>
                          <a:latin typeface="+mn-lt"/>
                          <a:ea typeface="+mn-ea"/>
                          <a:cs typeface="+mn-cs"/>
                        </a:rPr>
                        <a:t>되었는지 여부</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708023678"/>
                  </a:ext>
                </a:extLst>
              </a:tr>
              <a:tr h="451035">
                <a:tc>
                  <a:txBody>
                    <a:bodyPr/>
                    <a:lstStyle/>
                    <a:p>
                      <a:pPr algn="ctr" latinLnBrk="1"/>
                      <a:r>
                        <a:rPr lang="ko-KR" altLang="en-US" sz="1400" dirty="0"/>
                        <a:t>제</a:t>
                      </a:r>
                      <a:r>
                        <a:rPr lang="en-US" altLang="ko-KR" sz="1400" dirty="0"/>
                        <a:t>42</a:t>
                      </a:r>
                      <a:r>
                        <a:rPr lang="ko-KR" altLang="en-US" sz="1400" dirty="0"/>
                        <a:t>조제</a:t>
                      </a:r>
                      <a:r>
                        <a:rPr lang="en-US" altLang="ko-KR" sz="1400" dirty="0"/>
                        <a:t>4</a:t>
                      </a:r>
                      <a:r>
                        <a:rPr lang="ko-KR" altLang="en-US" sz="1400" dirty="0" err="1"/>
                        <a:t>항제</a:t>
                      </a:r>
                      <a:r>
                        <a:rPr lang="en-US" altLang="ko-KR" sz="1400" dirty="0"/>
                        <a:t>1</a:t>
                      </a:r>
                      <a:r>
                        <a:rPr lang="ko-KR" altLang="en-US" sz="1400" dirty="0"/>
                        <a:t>호</a:t>
                      </a:r>
                      <a:endParaRPr lang="en-US" altLang="ko-KR" sz="1400" dirty="0"/>
                    </a:p>
                    <a:p>
                      <a:pPr algn="ctr" latinLnBrk="1"/>
                      <a:r>
                        <a:rPr lang="en-US" altLang="ko-KR" sz="1400" dirty="0"/>
                        <a:t>(</a:t>
                      </a:r>
                      <a:r>
                        <a:rPr lang="ko-KR" altLang="en-US" sz="1400" dirty="0"/>
                        <a:t>뒷받침요건</a:t>
                      </a:r>
                      <a:r>
                        <a:rPr lang="en-US" altLang="ko-KR" sz="1400" dirty="0"/>
                        <a:t>)</a:t>
                      </a:r>
                      <a:endParaRPr lang="ko-KR" altLang="en-US" sz="14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tx1"/>
                          </a:solidFill>
                          <a:effectLst/>
                          <a:latin typeface="+mn-lt"/>
                          <a:ea typeface="+mn-ea"/>
                          <a:cs typeface="+mn-cs"/>
                        </a:rPr>
                        <a:t>발명의 설명에 적지 아니함에 따라 공개하지 아니한 사항을 청구범위에 청구항으로 적어 특허권이 </a:t>
                      </a:r>
                      <a:r>
                        <a:rPr lang="ko-KR" altLang="en-US" sz="1400" kern="1200" dirty="0">
                          <a:solidFill>
                            <a:srgbClr val="FF0000"/>
                          </a:solidFill>
                          <a:effectLst/>
                          <a:latin typeface="+mn-lt"/>
                          <a:ea typeface="+mn-ea"/>
                          <a:cs typeface="+mn-cs"/>
                        </a:rPr>
                        <a:t>부여되면 공개하지 아니한 발명에 대하여 특허권이 부여되는 결과</a:t>
                      </a:r>
                      <a:r>
                        <a:rPr lang="ko-KR" altLang="en-US" sz="1400" kern="1200" dirty="0">
                          <a:solidFill>
                            <a:schemeClr val="tx1"/>
                          </a:solidFill>
                          <a:effectLst/>
                          <a:latin typeface="+mn-lt"/>
                          <a:ea typeface="+mn-ea"/>
                          <a:cs typeface="+mn-cs"/>
                        </a:rPr>
                        <a:t>를 초래</a:t>
                      </a:r>
                      <a:endParaRPr lang="ko-KR" altLang="en-US" sz="14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tx1"/>
                          </a:solidFill>
                          <a:effectLst/>
                          <a:latin typeface="+mn-lt"/>
                          <a:ea typeface="+mn-ea"/>
                          <a:cs typeface="+mn-cs"/>
                        </a:rPr>
                        <a:t>통상의 기술자가 출원시의 기술상식에 비추어 봤을 때 </a:t>
                      </a:r>
                      <a:r>
                        <a:rPr lang="ko-KR" altLang="en-US" sz="1400" kern="1200" dirty="0">
                          <a:solidFill>
                            <a:srgbClr val="FF0000"/>
                          </a:solidFill>
                          <a:effectLst/>
                          <a:latin typeface="+mn-lt"/>
                          <a:ea typeface="+mn-ea"/>
                          <a:cs typeface="+mn-cs"/>
                        </a:rPr>
                        <a:t>발명의 설명에 개시된 내용을 청구범위에 기재된 발명의 범위까지 확장 내지 일반화</a:t>
                      </a:r>
                      <a:r>
                        <a:rPr lang="ko-KR" altLang="en-US" sz="1400" kern="1200" dirty="0">
                          <a:solidFill>
                            <a:schemeClr val="tx1"/>
                          </a:solidFill>
                          <a:effectLst/>
                          <a:latin typeface="+mn-lt"/>
                          <a:ea typeface="+mn-ea"/>
                          <a:cs typeface="+mn-cs"/>
                        </a:rPr>
                        <a:t>할 수 있는지 여부</a:t>
                      </a:r>
                      <a:endParaRPr lang="ko-KR" altLang="en-US" sz="14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648392062"/>
                  </a:ext>
                </a:extLst>
              </a:tr>
              <a:tr h="451035">
                <a:tc>
                  <a:txBody>
                    <a:bodyPr/>
                    <a:lstStyle/>
                    <a:p>
                      <a:pPr algn="ctr" latinLnBrk="1"/>
                      <a:r>
                        <a:rPr lang="ko-KR" altLang="en-US" sz="1400" dirty="0"/>
                        <a:t>제</a:t>
                      </a:r>
                      <a:r>
                        <a:rPr lang="en-US" altLang="ko-KR" sz="1400" dirty="0"/>
                        <a:t>42</a:t>
                      </a:r>
                      <a:r>
                        <a:rPr lang="ko-KR" altLang="en-US" sz="1400" dirty="0"/>
                        <a:t>조제</a:t>
                      </a:r>
                      <a:r>
                        <a:rPr lang="en-US" altLang="ko-KR" sz="1400" dirty="0"/>
                        <a:t>4</a:t>
                      </a:r>
                      <a:r>
                        <a:rPr lang="ko-KR" altLang="en-US" sz="1400" dirty="0" err="1"/>
                        <a:t>항제</a:t>
                      </a:r>
                      <a:r>
                        <a:rPr lang="en-US" altLang="ko-KR" sz="1400" dirty="0"/>
                        <a:t>2</a:t>
                      </a:r>
                      <a:r>
                        <a:rPr lang="ko-KR" altLang="en-US" sz="1400" dirty="0"/>
                        <a:t>호</a:t>
                      </a:r>
                      <a:endParaRPr lang="en-US" altLang="ko-KR" sz="1400" dirty="0"/>
                    </a:p>
                    <a:p>
                      <a:pPr algn="ctr" latinLnBrk="1"/>
                      <a:r>
                        <a:rPr lang="en-US" altLang="ko-KR" sz="1400" dirty="0"/>
                        <a:t>(</a:t>
                      </a:r>
                      <a:r>
                        <a:rPr lang="ko-KR" altLang="en-US" sz="1400" dirty="0"/>
                        <a:t>명확성요건</a:t>
                      </a:r>
                      <a:r>
                        <a:rPr lang="en-US" altLang="ko-KR" sz="1400" dirty="0"/>
                        <a:t>)</a:t>
                      </a:r>
                      <a:endParaRPr lang="ko-KR" altLang="en-US" sz="14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tx1"/>
                          </a:solidFill>
                          <a:effectLst/>
                          <a:latin typeface="+mn-lt"/>
                          <a:ea typeface="+mn-ea"/>
                          <a:cs typeface="+mn-cs"/>
                        </a:rPr>
                        <a:t>청구항의 기재가 불명확하거나 그 기재내용이 간결하지 아니한 발명은 </a:t>
                      </a:r>
                      <a:r>
                        <a:rPr lang="ko-KR" altLang="en-US" sz="1400" kern="1200" dirty="0">
                          <a:solidFill>
                            <a:srgbClr val="FF0000"/>
                          </a:solidFill>
                          <a:effectLst/>
                          <a:latin typeface="+mn-lt"/>
                          <a:ea typeface="+mn-ea"/>
                          <a:cs typeface="+mn-cs"/>
                        </a:rPr>
                        <a:t>특허요건 판단 등이 불가능</a:t>
                      </a:r>
                      <a:r>
                        <a:rPr lang="ko-KR" altLang="en-US" sz="1400" kern="1200" dirty="0">
                          <a:solidFill>
                            <a:schemeClr val="tx1"/>
                          </a:solidFill>
                          <a:effectLst/>
                          <a:latin typeface="+mn-lt"/>
                          <a:ea typeface="+mn-ea"/>
                          <a:cs typeface="+mn-cs"/>
                        </a:rPr>
                        <a:t>하며 특허권이 부여되면 발명의 </a:t>
                      </a:r>
                      <a:r>
                        <a:rPr lang="ko-KR" altLang="en-US" sz="1400" kern="1200" dirty="0">
                          <a:solidFill>
                            <a:srgbClr val="FF0000"/>
                          </a:solidFill>
                          <a:effectLst/>
                          <a:latin typeface="+mn-lt"/>
                          <a:ea typeface="+mn-ea"/>
                          <a:cs typeface="+mn-cs"/>
                        </a:rPr>
                        <a:t>보호범위가 불명확</a:t>
                      </a:r>
                      <a:r>
                        <a:rPr lang="ko-KR" altLang="en-US" sz="1400" kern="1200" dirty="0">
                          <a:solidFill>
                            <a:schemeClr val="tx1"/>
                          </a:solidFill>
                          <a:effectLst/>
                          <a:latin typeface="+mn-lt"/>
                          <a:ea typeface="+mn-ea"/>
                          <a:cs typeface="+mn-cs"/>
                        </a:rPr>
                        <a:t>하여 특허발명의 보호범위를 결정할 수 없기 때문</a:t>
                      </a:r>
                      <a:endParaRPr lang="ko-KR" altLang="en-US" sz="14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tx1"/>
                          </a:solidFill>
                          <a:effectLst/>
                          <a:latin typeface="+mn-lt"/>
                          <a:ea typeface="+mn-ea"/>
                          <a:cs typeface="+mn-cs"/>
                        </a:rPr>
                        <a:t>통상의 기술자가 발명의 설명이나 도면 등의 기재와 출원 당시의 기술상식을 고려하여 청구범위에 기재된 사항으로부터 특허를 받고자 하는 </a:t>
                      </a:r>
                      <a:r>
                        <a:rPr lang="ko-KR" altLang="en-US" sz="1400" kern="1200" dirty="0">
                          <a:solidFill>
                            <a:srgbClr val="FF0000"/>
                          </a:solidFill>
                          <a:effectLst/>
                          <a:latin typeface="+mn-lt"/>
                          <a:ea typeface="+mn-ea"/>
                          <a:cs typeface="+mn-cs"/>
                        </a:rPr>
                        <a:t>발명을 명확하게 파악할 수 있는지</a:t>
                      </a:r>
                      <a:r>
                        <a:rPr lang="ko-KR" altLang="en-US" sz="1400" kern="1200" dirty="0">
                          <a:solidFill>
                            <a:schemeClr val="tx1"/>
                          </a:solidFill>
                          <a:effectLst/>
                          <a:latin typeface="+mn-lt"/>
                          <a:ea typeface="+mn-ea"/>
                          <a:cs typeface="+mn-cs"/>
                        </a:rPr>
                        <a:t>에 따라 개별적으로 판단</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10549754"/>
                  </a:ext>
                </a:extLst>
              </a:tr>
            </a:tbl>
          </a:graphicData>
        </a:graphic>
      </p:graphicFrame>
      <p:sp>
        <p:nvSpPr>
          <p:cNvPr id="5" name="타원 4">
            <a:extLst>
              <a:ext uri="{FF2B5EF4-FFF2-40B4-BE49-F238E27FC236}">
                <a16:creationId xmlns:a16="http://schemas.microsoft.com/office/drawing/2014/main" id="{D63109A5-6DFF-1C40-5990-BF501E609F65}"/>
              </a:ext>
            </a:extLst>
          </p:cNvPr>
          <p:cNvSpPr/>
          <p:nvPr/>
        </p:nvSpPr>
        <p:spPr>
          <a:xfrm>
            <a:off x="5017249" y="1026161"/>
            <a:ext cx="1866900" cy="1498600"/>
          </a:xfrm>
          <a:prstGeom prst="ellipse">
            <a:avLst/>
          </a:prstGeom>
          <a:noFill/>
          <a:ln w="127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 name="타원 5">
            <a:extLst>
              <a:ext uri="{FF2B5EF4-FFF2-40B4-BE49-F238E27FC236}">
                <a16:creationId xmlns:a16="http://schemas.microsoft.com/office/drawing/2014/main" id="{D9647F7D-9FDC-16BB-9C06-900E03D84695}"/>
              </a:ext>
            </a:extLst>
          </p:cNvPr>
          <p:cNvSpPr/>
          <p:nvPr/>
        </p:nvSpPr>
        <p:spPr>
          <a:xfrm>
            <a:off x="5957049" y="1026161"/>
            <a:ext cx="1866900" cy="1498600"/>
          </a:xfrm>
          <a:prstGeom prst="ellipse">
            <a:avLst/>
          </a:prstGeom>
          <a:noFill/>
          <a:ln w="127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 name="직사각형 6">
            <a:extLst>
              <a:ext uri="{FF2B5EF4-FFF2-40B4-BE49-F238E27FC236}">
                <a16:creationId xmlns:a16="http://schemas.microsoft.com/office/drawing/2014/main" id="{6F68248A-3F9A-DFF1-32C7-58D5277BB52E}"/>
              </a:ext>
            </a:extLst>
          </p:cNvPr>
          <p:cNvSpPr/>
          <p:nvPr/>
        </p:nvSpPr>
        <p:spPr>
          <a:xfrm>
            <a:off x="4433049" y="1466548"/>
            <a:ext cx="1168400" cy="603788"/>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42</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항</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호 위반</a:t>
            </a:r>
          </a:p>
        </p:txBody>
      </p:sp>
      <p:sp>
        <p:nvSpPr>
          <p:cNvPr id="8" name="직사각형 7">
            <a:extLst>
              <a:ext uri="{FF2B5EF4-FFF2-40B4-BE49-F238E27FC236}">
                <a16:creationId xmlns:a16="http://schemas.microsoft.com/office/drawing/2014/main" id="{89378E9D-9FAD-C2A6-0FCA-004FB130EDD2}"/>
              </a:ext>
            </a:extLst>
          </p:cNvPr>
          <p:cNvSpPr/>
          <p:nvPr/>
        </p:nvSpPr>
        <p:spPr>
          <a:xfrm>
            <a:off x="7328649" y="1395149"/>
            <a:ext cx="1168400" cy="603791"/>
          </a:xfrm>
          <a:prstGeom prst="rect">
            <a:avLst/>
          </a:prstGeom>
          <a:solidFill>
            <a:schemeClr val="accent4"/>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42</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항</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호 위반</a:t>
            </a:r>
          </a:p>
        </p:txBody>
      </p:sp>
      <p:sp>
        <p:nvSpPr>
          <p:cNvPr id="9" name="TextBox 8">
            <a:extLst>
              <a:ext uri="{FF2B5EF4-FFF2-40B4-BE49-F238E27FC236}">
                <a16:creationId xmlns:a16="http://schemas.microsoft.com/office/drawing/2014/main" id="{093ED31A-7E05-E84C-261B-263F97DD62E4}"/>
              </a:ext>
            </a:extLst>
          </p:cNvPr>
          <p:cNvSpPr txBox="1"/>
          <p:nvPr/>
        </p:nvSpPr>
        <p:spPr>
          <a:xfrm>
            <a:off x="8775700" y="1026161"/>
            <a:ext cx="1273105" cy="523220"/>
          </a:xfrm>
          <a:prstGeom prst="rect">
            <a:avLst/>
          </a:prstGeom>
          <a:solidFill>
            <a:schemeClr val="bg1">
              <a:lumMod val="85000"/>
            </a:schemeClr>
          </a:solid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청구범위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 B</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발명의 설명</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 name="TextBox 9">
            <a:extLst>
              <a:ext uri="{FF2B5EF4-FFF2-40B4-BE49-F238E27FC236}">
                <a16:creationId xmlns:a16="http://schemas.microsoft.com/office/drawing/2014/main" id="{2BFE591D-3928-4432-9D18-14EB0F819AAC}"/>
              </a:ext>
            </a:extLst>
          </p:cNvPr>
          <p:cNvSpPr txBox="1"/>
          <p:nvPr/>
        </p:nvSpPr>
        <p:spPr>
          <a:xfrm>
            <a:off x="8686799" y="1658626"/>
            <a:ext cx="3060701" cy="830997"/>
          </a:xfrm>
          <a:prstGeom prst="rect">
            <a:avLst/>
          </a:prstGeom>
          <a:noFill/>
          <a:ln>
            <a:noFill/>
          </a:ln>
        </p:spPr>
        <p:txBody>
          <a:bodyPr wrap="square" rtlCol="0">
            <a:spAutoFit/>
          </a:bodyPr>
          <a:lstStyle/>
          <a:p>
            <a:pPr marL="171450" marR="0" lvl="0" indent="-171450" algn="l" defTabSz="914400" rtl="0" eaLnBrk="1" fontAlgn="auto"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통상의 기술자가 출원시의 기술상식에 비추어 봤을 때 발명의 설명에 기재된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로부터 청구범위에 기재된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까지 확장 내지 일반화될 수 없는 경우</a:t>
            </a:r>
          </a:p>
        </p:txBody>
      </p:sp>
      <p:sp>
        <p:nvSpPr>
          <p:cNvPr id="11" name="TextBox 10">
            <a:extLst>
              <a:ext uri="{FF2B5EF4-FFF2-40B4-BE49-F238E27FC236}">
                <a16:creationId xmlns:a16="http://schemas.microsoft.com/office/drawing/2014/main" id="{48F6412D-B4B1-FC32-CE44-615BCC044D64}"/>
              </a:ext>
            </a:extLst>
          </p:cNvPr>
          <p:cNvSpPr txBox="1"/>
          <p:nvPr/>
        </p:nvSpPr>
        <p:spPr>
          <a:xfrm>
            <a:off x="1631576" y="1026161"/>
            <a:ext cx="1975975" cy="523220"/>
          </a:xfrm>
          <a:prstGeom prst="rect">
            <a:avLst/>
          </a:prstGeom>
          <a:solidFill>
            <a:schemeClr val="bg1">
              <a:lumMod val="85000"/>
            </a:schemeClr>
          </a:solid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청구범위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발명의 설명</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  B</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 name="TextBox 12">
            <a:extLst>
              <a:ext uri="{FF2B5EF4-FFF2-40B4-BE49-F238E27FC236}">
                <a16:creationId xmlns:a16="http://schemas.microsoft.com/office/drawing/2014/main" id="{B642A3D7-A0CE-92EB-8C83-2569A4B1937D}"/>
              </a:ext>
            </a:extLst>
          </p:cNvPr>
          <p:cNvSpPr txBox="1"/>
          <p:nvPr/>
        </p:nvSpPr>
        <p:spPr>
          <a:xfrm>
            <a:off x="689750" y="1595126"/>
            <a:ext cx="3248000" cy="1200329"/>
          </a:xfrm>
          <a:prstGeom prst="rect">
            <a:avLst/>
          </a:prstGeom>
          <a:noFill/>
          <a:ln>
            <a:noFill/>
          </a:ln>
        </p:spPr>
        <p:txBody>
          <a:bodyPr wrap="square" rtlCol="0">
            <a:spAutoFit/>
          </a:bodyPr>
          <a:lstStyle/>
          <a:p>
            <a:pPr marL="171450" marR="0" lvl="0" indent="-171450" algn="l" defTabSz="914400" rtl="0" eaLnBrk="1" fontAlgn="auto"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통상의 기술자가 출원 시의 기술 수준으로 보아 과도한 실험이나 특수한 지식을 부가하지 않고서도 발명의 설명에 기재에 의하여 청구범위에 기재된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발명을 정확하게 이해할 수 있고 동시에 재현할 수 있는 정도로 기재되지 않은 경우</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auto" latinLnBrk="1" hangingPunct="1">
              <a:lnSpc>
                <a:spcPct val="100000"/>
              </a:lnSpc>
              <a:spcBef>
                <a:spcPts val="0"/>
              </a:spcBef>
              <a:spcAft>
                <a:spcPts val="0"/>
              </a:spcAft>
              <a:buClrTx/>
              <a:buSzTx/>
              <a:buFontTx/>
              <a:buChar char="-"/>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는 발명의 설명 기재에 오류가 있더라도 무관</a:t>
            </a:r>
          </a:p>
        </p:txBody>
      </p:sp>
      <p:cxnSp>
        <p:nvCxnSpPr>
          <p:cNvPr id="14" name="직선 연결선 13">
            <a:extLst>
              <a:ext uri="{FF2B5EF4-FFF2-40B4-BE49-F238E27FC236}">
                <a16:creationId xmlns:a16="http://schemas.microsoft.com/office/drawing/2014/main" id="{0BD0690D-B233-30EF-8CC3-CAB815BAC5A6}"/>
              </a:ext>
            </a:extLst>
          </p:cNvPr>
          <p:cNvCxnSpPr/>
          <p:nvPr/>
        </p:nvCxnSpPr>
        <p:spPr>
          <a:xfrm>
            <a:off x="295301" y="3283325"/>
            <a:ext cx="11469132"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타원 14">
            <a:extLst>
              <a:ext uri="{FF2B5EF4-FFF2-40B4-BE49-F238E27FC236}">
                <a16:creationId xmlns:a16="http://schemas.microsoft.com/office/drawing/2014/main" id="{D9FC0124-EC26-5792-58B3-AEFDF0827FB6}"/>
              </a:ext>
            </a:extLst>
          </p:cNvPr>
          <p:cNvSpPr/>
          <p:nvPr/>
        </p:nvSpPr>
        <p:spPr>
          <a:xfrm>
            <a:off x="2428119" y="1013885"/>
            <a:ext cx="292849" cy="29366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6" name="타원 15">
            <a:extLst>
              <a:ext uri="{FF2B5EF4-FFF2-40B4-BE49-F238E27FC236}">
                <a16:creationId xmlns:a16="http://schemas.microsoft.com/office/drawing/2014/main" id="{C6D3737F-2F87-B274-A459-8FF661F3B748}"/>
              </a:ext>
            </a:extLst>
          </p:cNvPr>
          <p:cNvSpPr/>
          <p:nvPr/>
        </p:nvSpPr>
        <p:spPr>
          <a:xfrm>
            <a:off x="2694443" y="1255719"/>
            <a:ext cx="292849" cy="29366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7" name="설명선: 굽은 선 16">
            <a:extLst>
              <a:ext uri="{FF2B5EF4-FFF2-40B4-BE49-F238E27FC236}">
                <a16:creationId xmlns:a16="http://schemas.microsoft.com/office/drawing/2014/main" id="{F76A895C-A8E7-6FD7-190E-FEFCCC5886AE}"/>
              </a:ext>
            </a:extLst>
          </p:cNvPr>
          <p:cNvSpPr/>
          <p:nvPr/>
        </p:nvSpPr>
        <p:spPr>
          <a:xfrm>
            <a:off x="3305168" y="717711"/>
            <a:ext cx="1212472" cy="395105"/>
          </a:xfrm>
          <a:prstGeom prst="borderCallout2">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해결수단</a:t>
            </a:r>
          </a:p>
        </p:txBody>
      </p:sp>
      <p:sp>
        <p:nvSpPr>
          <p:cNvPr id="18" name="설명선: 굽은 선 17">
            <a:extLst>
              <a:ext uri="{FF2B5EF4-FFF2-40B4-BE49-F238E27FC236}">
                <a16:creationId xmlns:a16="http://schemas.microsoft.com/office/drawing/2014/main" id="{55D87B22-AE2E-BEF4-4CE4-318703AC70D0}"/>
              </a:ext>
            </a:extLst>
          </p:cNvPr>
          <p:cNvSpPr/>
          <p:nvPr/>
        </p:nvSpPr>
        <p:spPr>
          <a:xfrm>
            <a:off x="2959101" y="2779940"/>
            <a:ext cx="9044640" cy="395105"/>
          </a:xfrm>
          <a:prstGeom prst="borderCallout2">
            <a:avLst>
              <a:gd name="adj1" fmla="val 52784"/>
              <a:gd name="adj2" fmla="val -791"/>
              <a:gd name="adj3" fmla="val 57322"/>
              <a:gd name="adj4" fmla="val -4176"/>
              <a:gd name="adj5" fmla="val -320868"/>
              <a:gd name="adj6" fmla="val -929"/>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발명의 명칭</a:t>
            </a:r>
            <a:r>
              <a:rPr kumimoji="0" lang="en-US" altLang="ko-KR"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기술분야</a:t>
            </a:r>
            <a:r>
              <a:rPr kumimoji="0" lang="en-US" altLang="ko-KR"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배경기술</a:t>
            </a:r>
            <a:r>
              <a:rPr kumimoji="0" lang="en-US" altLang="ko-KR"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발명의 내용</a:t>
            </a:r>
            <a:r>
              <a:rPr kumimoji="0" lang="en-US" altLang="ko-KR"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해결과제</a:t>
            </a:r>
            <a:r>
              <a:rPr kumimoji="0" lang="en-US" altLang="ko-KR"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해결수단</a:t>
            </a:r>
            <a:r>
              <a:rPr kumimoji="0" lang="en-US" altLang="ko-KR"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효과</a:t>
            </a:r>
            <a:r>
              <a:rPr kumimoji="0" lang="en-US" altLang="ko-KR"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a:t>
            </a:r>
            <a:r>
              <a:rPr kumimoji="0" lang="en-US" altLang="ko-KR"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 </a:t>
            </a:r>
            <a:r>
              <a:rPr kumimoji="0" lang="ko-KR" altLang="en-US"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도면의 간단한 설명</a:t>
            </a:r>
            <a:r>
              <a:rPr kumimoji="0" lang="en-US" altLang="ko-KR"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 실시예</a:t>
            </a:r>
          </a:p>
        </p:txBody>
      </p:sp>
      <p:sp>
        <p:nvSpPr>
          <p:cNvPr id="19" name="TextBox 18">
            <a:extLst>
              <a:ext uri="{FF2B5EF4-FFF2-40B4-BE49-F238E27FC236}">
                <a16:creationId xmlns:a16="http://schemas.microsoft.com/office/drawing/2014/main" id="{8232AEBD-A490-9F25-1005-6B41B5210F3E}"/>
              </a:ext>
            </a:extLst>
          </p:cNvPr>
          <p:cNvSpPr txBox="1"/>
          <p:nvPr/>
        </p:nvSpPr>
        <p:spPr>
          <a:xfrm>
            <a:off x="162942" y="1001338"/>
            <a:ext cx="1164101" cy="584775"/>
          </a:xfrm>
          <a:prstGeom prst="rect">
            <a:avLst/>
          </a:prstGeom>
          <a:noFill/>
          <a:ln w="28575">
            <a:solidFill>
              <a:srgbClr val="FF0000"/>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판단대상</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발명의 설명</a:t>
            </a:r>
          </a:p>
        </p:txBody>
      </p:sp>
      <p:sp>
        <p:nvSpPr>
          <p:cNvPr id="20" name="TextBox 19">
            <a:extLst>
              <a:ext uri="{FF2B5EF4-FFF2-40B4-BE49-F238E27FC236}">
                <a16:creationId xmlns:a16="http://schemas.microsoft.com/office/drawing/2014/main" id="{4C88AEB6-E75C-8EAD-A409-6495D11BE518}"/>
              </a:ext>
            </a:extLst>
          </p:cNvPr>
          <p:cNvSpPr txBox="1"/>
          <p:nvPr/>
        </p:nvSpPr>
        <p:spPr>
          <a:xfrm>
            <a:off x="10327456" y="1001338"/>
            <a:ext cx="979755" cy="584775"/>
          </a:xfrm>
          <a:prstGeom prst="rect">
            <a:avLst/>
          </a:prstGeom>
          <a:noFill/>
          <a:ln w="28575">
            <a:solidFill>
              <a:srgbClr val="FF0000"/>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판단대상</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청구범위</a:t>
            </a:r>
          </a:p>
        </p:txBody>
      </p:sp>
    </p:spTree>
    <p:extLst>
      <p:ext uri="{BB962C8B-B14F-4D97-AF65-F5344CB8AC3E}">
        <p14:creationId xmlns:p14="http://schemas.microsoft.com/office/powerpoint/2010/main" val="3151222887"/>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ko-KR" altLang="en-US" dirty="0"/>
              <a:t>청구항 구성요소의 기재방법</a:t>
            </a:r>
            <a:r>
              <a:rPr lang="en-US" altLang="ko-KR" dirty="0"/>
              <a:t>(</a:t>
            </a:r>
            <a:r>
              <a:rPr lang="ko-KR" altLang="en-US" dirty="0"/>
              <a:t>제</a:t>
            </a:r>
            <a:r>
              <a:rPr lang="en-US" altLang="ko-KR" dirty="0"/>
              <a:t>42</a:t>
            </a:r>
            <a:r>
              <a:rPr lang="ko-KR" altLang="en-US" dirty="0"/>
              <a:t>조제</a:t>
            </a:r>
            <a:r>
              <a:rPr lang="en-US" altLang="ko-KR" dirty="0"/>
              <a:t>6</a:t>
            </a:r>
            <a:r>
              <a:rPr lang="ko-KR" altLang="en-US" dirty="0"/>
              <a:t>항</a:t>
            </a:r>
            <a:r>
              <a:rPr lang="en-US" altLang="ko-KR" dirty="0"/>
              <a:t>)</a:t>
            </a:r>
            <a:endParaRPr lang="ko-KR" altLang="en-US" dirty="0"/>
          </a:p>
        </p:txBody>
      </p:sp>
      <p:sp>
        <p:nvSpPr>
          <p:cNvPr id="93" name="TextBox 92"/>
          <p:cNvSpPr txBox="1"/>
          <p:nvPr/>
        </p:nvSpPr>
        <p:spPr>
          <a:xfrm>
            <a:off x="77875" y="986046"/>
            <a:ext cx="11936323" cy="1169551"/>
          </a:xfrm>
          <a:prstGeom prst="rect">
            <a:avLst/>
          </a:prstGeom>
          <a:noFill/>
        </p:spPr>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보드마카를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발명한 경우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출원인은</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다양한 방법에 의하여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보드마카의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구성요소를 특정하여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청구항에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적을 수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예를 들어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보드마카의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구조</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(structure)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B</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를 알고 있는 경우에는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의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일측에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B</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가 결합된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보드마카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」와 같이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청구항을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적을 수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구조를 알고 있지 아니한 경우에는 구조가 갖는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기능</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(function)</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는 필기하는 기능</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B</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는 지지하는 기능</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을 특정하여 「필기수단의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일측에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지지수단이 결합된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보드마카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」와 같이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청구항을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적을 수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또한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구조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(structure)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또는 기능</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(function)</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을 알지 못하더라도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제조방법</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을 알고 있는 경우에는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공정후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공정을 거치는 방법에 의하여 제조된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보드마카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」와 같이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청구항을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적을 수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출원인은</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이와 같은 기재방법 중 발명을 보호할 수 있는 가장 적절한 수단을 선택하여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청구항을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작성할 수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5" name="직선 연결선 94"/>
          <p:cNvCxnSpPr/>
          <p:nvPr/>
        </p:nvCxnSpPr>
        <p:spPr>
          <a:xfrm>
            <a:off x="0" y="215652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AutoShape 5"/>
          <p:cNvSpPr>
            <a:spLocks/>
          </p:cNvSpPr>
          <p:nvPr/>
        </p:nvSpPr>
        <p:spPr bwMode="auto">
          <a:xfrm>
            <a:off x="829705" y="3440113"/>
            <a:ext cx="358775" cy="792162"/>
          </a:xfrm>
          <a:prstGeom prst="rightBrace">
            <a:avLst>
              <a:gd name="adj1" fmla="val 18400"/>
              <a:gd name="adj2" fmla="val 50000"/>
            </a:avLst>
          </a:prstGeom>
          <a:noFill/>
          <a:ln w="28575">
            <a:solidFill>
              <a:srgbClr val="333300"/>
            </a:solidFill>
            <a:round/>
            <a:headEnd/>
            <a:tailEnd/>
          </a:ln>
        </p:spPr>
        <p:txBody>
          <a:bodyPr wrap="none" anchor="ct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Rix모던명조 L" panose="02020603020101020101" pitchFamily="18" charset="-127"/>
              <a:ea typeface="Rix모던고딕 L" panose="02020603020101020101" pitchFamily="18" charset="-127"/>
              <a:cs typeface="+mn-cs"/>
            </a:endParaRPr>
          </a:p>
        </p:txBody>
      </p:sp>
      <p:sp>
        <p:nvSpPr>
          <p:cNvPr id="25" name="AutoShape 6"/>
          <p:cNvSpPr>
            <a:spLocks/>
          </p:cNvSpPr>
          <p:nvPr/>
        </p:nvSpPr>
        <p:spPr bwMode="auto">
          <a:xfrm>
            <a:off x="829705" y="4305300"/>
            <a:ext cx="358775" cy="1152525"/>
          </a:xfrm>
          <a:prstGeom prst="rightBrace">
            <a:avLst>
              <a:gd name="adj1" fmla="val 26770"/>
              <a:gd name="adj2" fmla="val 50000"/>
            </a:avLst>
          </a:prstGeom>
          <a:noFill/>
          <a:ln w="28575">
            <a:solidFill>
              <a:srgbClr val="333300"/>
            </a:solidFill>
            <a:round/>
            <a:headEnd/>
            <a:tailEnd/>
          </a:ln>
        </p:spPr>
        <p:txBody>
          <a:bodyPr wrap="none" anchor="ct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Rix모던명조 L" panose="02020603020101020101" pitchFamily="18" charset="-127"/>
              <a:ea typeface="Rix모던고딕 L" panose="02020603020101020101" pitchFamily="18" charset="-127"/>
              <a:cs typeface="+mn-cs"/>
            </a:endParaRPr>
          </a:p>
        </p:txBody>
      </p:sp>
      <p:sp>
        <p:nvSpPr>
          <p:cNvPr id="27" name="Text Box 7"/>
          <p:cNvSpPr txBox="1">
            <a:spLocks noChangeArrowheads="1"/>
          </p:cNvSpPr>
          <p:nvPr/>
        </p:nvSpPr>
        <p:spPr bwMode="auto">
          <a:xfrm>
            <a:off x="1186893" y="3678238"/>
            <a:ext cx="327334" cy="369332"/>
          </a:xfrm>
          <a:prstGeom prst="rect">
            <a:avLst/>
          </a:prstGeom>
          <a:noFill/>
          <a:ln w="28575" algn="ctr">
            <a:noFill/>
            <a:miter lim="800000"/>
            <a:headEnd/>
            <a:tailEnd/>
          </a:ln>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Rix모던명조 L" panose="02020603020101020101" pitchFamily="18" charset="-127"/>
                <a:ea typeface="Rix모던고딕 L" panose="02020603020101020101" pitchFamily="18" charset="-127"/>
                <a:cs typeface="+mn-cs"/>
              </a:rPr>
              <a:t>A</a:t>
            </a:r>
          </a:p>
        </p:txBody>
      </p:sp>
      <p:sp>
        <p:nvSpPr>
          <p:cNvPr id="28" name="Text Box 8"/>
          <p:cNvSpPr txBox="1">
            <a:spLocks noChangeArrowheads="1"/>
          </p:cNvSpPr>
          <p:nvPr/>
        </p:nvSpPr>
        <p:spPr bwMode="auto">
          <a:xfrm>
            <a:off x="1186893" y="4737100"/>
            <a:ext cx="317716" cy="369332"/>
          </a:xfrm>
          <a:prstGeom prst="rect">
            <a:avLst/>
          </a:prstGeom>
          <a:noFill/>
          <a:ln w="28575" algn="ctr">
            <a:noFill/>
            <a:miter lim="800000"/>
            <a:headEnd/>
            <a:tailEnd/>
          </a:ln>
        </p:spPr>
        <p:txBody>
          <a:bodyPr wrap="non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Rix모던명조 L" panose="02020603020101020101" pitchFamily="18" charset="-127"/>
                <a:ea typeface="Rix모던고딕 L" panose="02020603020101020101" pitchFamily="18" charset="-127"/>
                <a:cs typeface="+mn-cs"/>
              </a:rPr>
              <a:t>B</a:t>
            </a:r>
          </a:p>
        </p:txBody>
      </p:sp>
      <p:sp>
        <p:nvSpPr>
          <p:cNvPr id="29" name="AutoShape 9"/>
          <p:cNvSpPr>
            <a:spLocks noChangeArrowheads="1"/>
          </p:cNvSpPr>
          <p:nvPr/>
        </p:nvSpPr>
        <p:spPr bwMode="auto">
          <a:xfrm>
            <a:off x="1548844" y="3729038"/>
            <a:ext cx="1008090" cy="1439862"/>
          </a:xfrm>
          <a:prstGeom prst="rightArrow">
            <a:avLst>
              <a:gd name="adj1" fmla="val 79731"/>
              <a:gd name="adj2" fmla="val 26102"/>
            </a:avLst>
          </a:prstGeom>
          <a:solidFill>
            <a:schemeClr val="bg1">
              <a:lumMod val="95000"/>
            </a:schemeClr>
          </a:solidFill>
          <a:ln>
            <a:solidFill>
              <a:schemeClr val="bg1">
                <a:lumMod val="50000"/>
              </a:schemeClr>
            </a:solidFill>
            <a:headEnd/>
            <a:tailEnd/>
          </a:ln>
        </p:spPr>
        <p:style>
          <a:lnRef idx="1">
            <a:schemeClr val="accent6"/>
          </a:lnRef>
          <a:fillRef idx="2">
            <a:schemeClr val="accent6"/>
          </a:fillRef>
          <a:effectRef idx="1">
            <a:schemeClr val="accent6"/>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000000"/>
                </a:solidFill>
                <a:effectLst/>
                <a:uLnTx/>
                <a:uFillTx/>
                <a:latin typeface="Rix모던고딕 B"/>
                <a:ea typeface="Rix모던고딕 B"/>
                <a:cs typeface="+mn-cs"/>
              </a:rPr>
              <a:t>청구항</a:t>
            </a:r>
            <a:endParaRPr kumimoji="0" lang="ko-KR" altLang="en-US" sz="1400" b="0" i="0" u="none" strike="noStrike" kern="1200" cap="none" spc="0" normalizeH="0" baseline="0" noProof="0" dirty="0">
              <a:ln>
                <a:noFill/>
              </a:ln>
              <a:solidFill>
                <a:srgbClr val="000000"/>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000000"/>
                </a:solidFill>
                <a:effectLst/>
                <a:uLnTx/>
                <a:uFillTx/>
                <a:latin typeface="Rix모던고딕 B"/>
                <a:ea typeface="Rix모던고딕 B"/>
                <a:cs typeface="+mn-cs"/>
              </a:rPr>
              <a:t>기재</a:t>
            </a:r>
            <a:r>
              <a:rPr kumimoji="0" lang="en-US" altLang="ko-KR" sz="1400" b="0" i="0" u="none" strike="noStrike" kern="1200" cap="none" spc="0" normalizeH="0" baseline="0" noProof="0" dirty="0">
                <a:ln>
                  <a:noFill/>
                </a:ln>
                <a:solidFill>
                  <a:srgbClr val="000000"/>
                </a:solidFill>
                <a:effectLst/>
                <a:uLnTx/>
                <a:uFillTx/>
                <a:latin typeface="Rix모던고딕 B"/>
                <a:ea typeface="Rix모던고딕 B"/>
                <a:cs typeface="+mn-cs"/>
              </a:rPr>
              <a:t>?</a:t>
            </a:r>
          </a:p>
        </p:txBody>
      </p:sp>
      <p:graphicFrame>
        <p:nvGraphicFramePr>
          <p:cNvPr id="30" name="Group 57"/>
          <p:cNvGraphicFramePr>
            <a:graphicFrameLocks noGrp="1"/>
          </p:cNvGraphicFramePr>
          <p:nvPr/>
        </p:nvGraphicFramePr>
        <p:xfrm>
          <a:off x="2678607" y="2751668"/>
          <a:ext cx="4681538" cy="3496732"/>
        </p:xfrm>
        <a:graphic>
          <a:graphicData uri="http://schemas.openxmlformats.org/drawingml/2006/table">
            <a:tbl>
              <a:tblPr>
                <a:tableStyleId>{BC89EF96-8CEA-46FF-86C4-4CE0E7609802}</a:tableStyleId>
              </a:tblPr>
              <a:tblGrid>
                <a:gridCol w="865188">
                  <a:extLst>
                    <a:ext uri="{9D8B030D-6E8A-4147-A177-3AD203B41FA5}">
                      <a16:colId xmlns:a16="http://schemas.microsoft.com/office/drawing/2014/main" val="20000"/>
                    </a:ext>
                  </a:extLst>
                </a:gridCol>
                <a:gridCol w="1150937">
                  <a:extLst>
                    <a:ext uri="{9D8B030D-6E8A-4147-A177-3AD203B41FA5}">
                      <a16:colId xmlns:a16="http://schemas.microsoft.com/office/drawing/2014/main" val="20001"/>
                    </a:ext>
                  </a:extLst>
                </a:gridCol>
                <a:gridCol w="1387475">
                  <a:extLst>
                    <a:ext uri="{9D8B030D-6E8A-4147-A177-3AD203B41FA5}">
                      <a16:colId xmlns:a16="http://schemas.microsoft.com/office/drawing/2014/main" val="20002"/>
                    </a:ext>
                  </a:extLst>
                </a:gridCol>
                <a:gridCol w="1277938">
                  <a:extLst>
                    <a:ext uri="{9D8B030D-6E8A-4147-A177-3AD203B41FA5}">
                      <a16:colId xmlns:a16="http://schemas.microsoft.com/office/drawing/2014/main" val="20003"/>
                    </a:ext>
                  </a:extLst>
                </a:gridCol>
              </a:tblGrid>
              <a:tr h="560598">
                <a:tc>
                  <a:txBody>
                    <a:bodyPr/>
                    <a:lstStyle/>
                    <a:p>
                      <a:pPr marL="0" marR="0" lvl="0" indent="0" algn="l" defTabSz="914400" rtl="0" eaLnBrk="1" fontAlgn="base" latinLnBrk="1" hangingPunct="1">
                        <a:lnSpc>
                          <a:spcPct val="100000"/>
                        </a:lnSpc>
                        <a:spcBef>
                          <a:spcPts val="0"/>
                        </a:spcBef>
                        <a:spcAft>
                          <a:spcPts val="0"/>
                        </a:spcAft>
                        <a:buClrTx/>
                        <a:buSzTx/>
                        <a:buFontTx/>
                        <a:buNone/>
                        <a:tabLst/>
                      </a:pPr>
                      <a:r>
                        <a:rPr kumimoji="1" lang="en-US" altLang="ko-KR" sz="1200" u="none" strike="noStrike" cap="none" normalizeH="0" baseline="0" dirty="0">
                          <a:ln>
                            <a:noFill/>
                          </a:ln>
                          <a:effectLst/>
                        </a:rPr>
                        <a:t>Element</a:t>
                      </a:r>
                      <a:endParaRPr kumimoji="1" lang="en-US" altLang="ko-KR" sz="1200" b="0" i="0" u="none" strike="noStrike" cap="none" normalizeH="0" baseline="0" dirty="0">
                        <a:ln>
                          <a:noFill/>
                        </a:ln>
                        <a:solidFill>
                          <a:schemeClr val="bg1"/>
                        </a:solidFill>
                        <a:effectLst/>
                        <a:latin typeface="+mn-ea"/>
                        <a:ea typeface="+mn-ea"/>
                      </a:endParaRPr>
                    </a:p>
                  </a:txBody>
                  <a:tcP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pPr>
                      <a:r>
                        <a:rPr kumimoji="1" lang="en-US" altLang="ko-KR" sz="1200" u="none" strike="noStrike" cap="none" normalizeH="0" baseline="0" dirty="0">
                          <a:ln>
                            <a:noFill/>
                          </a:ln>
                          <a:effectLst/>
                        </a:rPr>
                        <a:t>Structure</a:t>
                      </a:r>
                    </a:p>
                    <a:p>
                      <a:pPr marL="0" marR="0" lvl="0" indent="0" algn="ctr" defTabSz="914400" rtl="0" eaLnBrk="1" fontAlgn="base" latinLnBrk="1" hangingPunct="1">
                        <a:lnSpc>
                          <a:spcPct val="100000"/>
                        </a:lnSpc>
                        <a:spcBef>
                          <a:spcPts val="0"/>
                        </a:spcBef>
                        <a:spcAft>
                          <a:spcPts val="0"/>
                        </a:spcAft>
                        <a:buClrTx/>
                        <a:buSzTx/>
                        <a:buFontTx/>
                        <a:buNone/>
                        <a:tabLst/>
                      </a:pPr>
                      <a:r>
                        <a:rPr kumimoji="1" lang="en-US" altLang="ko-KR" sz="1200" b="0" i="0" u="none" strike="noStrike" cap="none" normalizeH="0" baseline="0" dirty="0">
                          <a:ln>
                            <a:noFill/>
                          </a:ln>
                          <a:solidFill>
                            <a:schemeClr val="tx1"/>
                          </a:solidFill>
                          <a:effectLst/>
                          <a:latin typeface="+mn-ea"/>
                          <a:ea typeface="+mn-ea"/>
                        </a:rPr>
                        <a:t>(</a:t>
                      </a:r>
                      <a:r>
                        <a:rPr kumimoji="1" lang="ko-KR" altLang="en-US" sz="1200" b="0" i="0" u="none" strike="noStrike" cap="none" normalizeH="0" baseline="0" dirty="0">
                          <a:ln>
                            <a:noFill/>
                          </a:ln>
                          <a:solidFill>
                            <a:schemeClr val="tx1"/>
                          </a:solidFill>
                          <a:effectLst/>
                          <a:latin typeface="+mn-ea"/>
                          <a:ea typeface="+mn-ea"/>
                        </a:rPr>
                        <a:t>구조</a:t>
                      </a:r>
                      <a:r>
                        <a:rPr kumimoji="1" lang="en-US" altLang="ko-KR" sz="1200" b="0" i="0" u="none" strike="noStrike" cap="none" normalizeH="0" baseline="0" dirty="0">
                          <a:ln>
                            <a:noFill/>
                          </a:ln>
                          <a:solidFill>
                            <a:schemeClr val="tx1"/>
                          </a:solidFill>
                          <a:effectLst/>
                          <a:latin typeface="+mn-ea"/>
                          <a:ea typeface="+mn-ea"/>
                        </a:rPr>
                        <a:t>)</a:t>
                      </a:r>
                    </a:p>
                  </a:txBody>
                  <a:tcP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pPr>
                      <a:r>
                        <a:rPr kumimoji="1" lang="en-US" altLang="ko-KR" sz="1200" u="none" strike="noStrike" cap="none" normalizeH="0" baseline="0" dirty="0">
                          <a:ln>
                            <a:noFill/>
                          </a:ln>
                          <a:effectLst/>
                        </a:rPr>
                        <a:t>Function</a:t>
                      </a:r>
                    </a:p>
                    <a:p>
                      <a:pPr marL="0" marR="0" lvl="0" indent="0" algn="ctr" defTabSz="914400" rtl="0" eaLnBrk="1" fontAlgn="base" latinLnBrk="1" hangingPunct="1">
                        <a:lnSpc>
                          <a:spcPct val="100000"/>
                        </a:lnSpc>
                        <a:spcBef>
                          <a:spcPts val="0"/>
                        </a:spcBef>
                        <a:spcAft>
                          <a:spcPts val="0"/>
                        </a:spcAft>
                        <a:buClrTx/>
                        <a:buSzTx/>
                        <a:buFontTx/>
                        <a:buNone/>
                        <a:tabLst/>
                      </a:pPr>
                      <a:r>
                        <a:rPr kumimoji="1" lang="en-US" altLang="ko-KR" sz="1200" b="0" i="0" u="none" strike="noStrike" cap="none" normalizeH="0" baseline="0" dirty="0">
                          <a:ln>
                            <a:noFill/>
                          </a:ln>
                          <a:solidFill>
                            <a:schemeClr val="tx1"/>
                          </a:solidFill>
                          <a:effectLst/>
                          <a:latin typeface="+mn-ea"/>
                          <a:ea typeface="+mn-ea"/>
                        </a:rPr>
                        <a:t>(</a:t>
                      </a:r>
                      <a:r>
                        <a:rPr kumimoji="1" lang="ko-KR" altLang="en-US" sz="1200" b="0" i="0" u="none" strike="noStrike" cap="none" normalizeH="0" baseline="0" dirty="0">
                          <a:ln>
                            <a:noFill/>
                          </a:ln>
                          <a:solidFill>
                            <a:schemeClr val="tx1"/>
                          </a:solidFill>
                          <a:effectLst/>
                          <a:latin typeface="+mn-ea"/>
                          <a:ea typeface="+mn-ea"/>
                        </a:rPr>
                        <a:t>기능</a:t>
                      </a:r>
                      <a:r>
                        <a:rPr kumimoji="1" lang="en-US" altLang="ko-KR" sz="1200" b="0" i="0" u="none" strike="noStrike" cap="none" normalizeH="0" baseline="0" dirty="0">
                          <a:ln>
                            <a:noFill/>
                          </a:ln>
                          <a:solidFill>
                            <a:schemeClr val="tx1"/>
                          </a:solidFill>
                          <a:effectLst/>
                          <a:latin typeface="+mn-ea"/>
                          <a:ea typeface="+mn-ea"/>
                        </a:rPr>
                        <a:t>)</a:t>
                      </a:r>
                    </a:p>
                  </a:txBody>
                  <a:tcP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ts val="0"/>
                        </a:spcBef>
                        <a:spcAft>
                          <a:spcPts val="0"/>
                        </a:spcAft>
                        <a:buClrTx/>
                        <a:buSzTx/>
                        <a:buFontTx/>
                        <a:buNone/>
                        <a:tabLst/>
                      </a:pPr>
                      <a:r>
                        <a:rPr kumimoji="1" lang="en-US" altLang="ko-KR" sz="1200" u="none" strike="noStrike" cap="none" normalizeH="0" baseline="0" dirty="0">
                          <a:ln>
                            <a:noFill/>
                          </a:ln>
                          <a:effectLst/>
                        </a:rPr>
                        <a:t>Method</a:t>
                      </a:r>
                    </a:p>
                    <a:p>
                      <a:pPr marL="0" marR="0" lvl="0" indent="0" algn="ctr" defTabSz="914400" rtl="0" eaLnBrk="1" fontAlgn="base" latinLnBrk="1" hangingPunct="1">
                        <a:lnSpc>
                          <a:spcPct val="100000"/>
                        </a:lnSpc>
                        <a:spcBef>
                          <a:spcPts val="0"/>
                        </a:spcBef>
                        <a:spcAft>
                          <a:spcPts val="0"/>
                        </a:spcAft>
                        <a:buClrTx/>
                        <a:buSzTx/>
                        <a:buFontTx/>
                        <a:buNone/>
                        <a:tabLst/>
                      </a:pPr>
                      <a:r>
                        <a:rPr kumimoji="1" lang="en-US" altLang="ko-KR" sz="1200" b="0" i="0" u="none" strike="noStrike" cap="none" normalizeH="0" baseline="0" dirty="0">
                          <a:ln>
                            <a:noFill/>
                          </a:ln>
                          <a:solidFill>
                            <a:schemeClr val="tx1"/>
                          </a:solidFill>
                          <a:effectLst/>
                          <a:latin typeface="+mn-ea"/>
                          <a:ea typeface="+mn-ea"/>
                        </a:rPr>
                        <a:t>(</a:t>
                      </a:r>
                      <a:r>
                        <a:rPr kumimoji="1" lang="ko-KR" altLang="en-US" sz="1200" b="0" i="0" u="none" strike="noStrike" cap="none" normalizeH="0" baseline="0" dirty="0">
                          <a:ln>
                            <a:noFill/>
                          </a:ln>
                          <a:solidFill>
                            <a:schemeClr val="tx1"/>
                          </a:solidFill>
                          <a:effectLst/>
                          <a:latin typeface="+mn-ea"/>
                          <a:ea typeface="+mn-ea"/>
                        </a:rPr>
                        <a:t>방법</a:t>
                      </a:r>
                      <a:r>
                        <a:rPr kumimoji="1" lang="en-US" altLang="ko-KR" sz="1200" b="0" i="0" u="none" strike="noStrike" cap="none" normalizeH="0" baseline="0" dirty="0">
                          <a:ln>
                            <a:noFill/>
                          </a:ln>
                          <a:solidFill>
                            <a:schemeClr val="tx1"/>
                          </a:solidFill>
                          <a:effectLst/>
                          <a:latin typeface="+mn-ea"/>
                          <a:ea typeface="+mn-ea"/>
                        </a:rPr>
                        <a:t>)</a:t>
                      </a:r>
                    </a:p>
                  </a:txBody>
                  <a:tcP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1799170">
                <a:tc>
                  <a:txBody>
                    <a:bodyPr/>
                    <a:lstStyle/>
                    <a:p>
                      <a:pPr marL="0" marR="0" lvl="0" indent="0" algn="l" defTabSz="914400" rtl="0" eaLnBrk="1" fontAlgn="base" latinLnBrk="1" hangingPunct="1">
                        <a:lnSpc>
                          <a:spcPct val="100000"/>
                        </a:lnSpc>
                        <a:spcBef>
                          <a:spcPts val="0"/>
                        </a:spcBef>
                        <a:spcAft>
                          <a:spcPts val="0"/>
                        </a:spcAft>
                        <a:buClrTx/>
                        <a:buSzTx/>
                        <a:buFontTx/>
                        <a:buNone/>
                        <a:tabLst/>
                      </a:pPr>
                      <a:r>
                        <a:rPr kumimoji="1" lang="ko-KR" altLang="en-US" sz="1200" u="none" strike="noStrike" cap="none" normalizeH="0" baseline="0" dirty="0" err="1">
                          <a:ln>
                            <a:noFill/>
                          </a:ln>
                          <a:effectLst/>
                        </a:rPr>
                        <a:t>청구항</a:t>
                      </a:r>
                      <a:endParaRPr kumimoji="1" lang="en-US" altLang="ko-KR" sz="1200" b="0" i="0" u="none" strike="noStrike" cap="none" normalizeH="0" baseline="0" dirty="0">
                        <a:ln>
                          <a:noFill/>
                        </a:ln>
                        <a:solidFill>
                          <a:schemeClr val="bg1"/>
                        </a:solidFill>
                        <a:effectLst/>
                        <a:latin typeface="+mn-ea"/>
                        <a:ea typeface="+mn-ea"/>
                      </a:endParaRPr>
                    </a:p>
                  </a:txBody>
                  <a:tcP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pPr>
                      <a:r>
                        <a:rPr kumimoji="1" lang="en-US" altLang="ko-KR" sz="1200" u="none" strike="noStrike" cap="none" normalizeH="0" baseline="0" dirty="0">
                          <a:ln>
                            <a:noFill/>
                          </a:ln>
                          <a:effectLst/>
                        </a:rPr>
                        <a:t>A</a:t>
                      </a:r>
                      <a:r>
                        <a:rPr kumimoji="1" lang="ko-KR" altLang="en-US" sz="1200" u="none" strike="noStrike" cap="none" normalizeH="0" baseline="0" dirty="0">
                          <a:ln>
                            <a:noFill/>
                          </a:ln>
                          <a:effectLst/>
                        </a:rPr>
                        <a:t>의 </a:t>
                      </a:r>
                      <a:r>
                        <a:rPr kumimoji="1" lang="ko-KR" altLang="en-US" sz="1200" u="none" strike="noStrike" cap="none" normalizeH="0" baseline="0" dirty="0" err="1">
                          <a:ln>
                            <a:noFill/>
                          </a:ln>
                          <a:effectLst/>
                        </a:rPr>
                        <a:t>일측에</a:t>
                      </a:r>
                      <a:r>
                        <a:rPr kumimoji="1" lang="ko-KR" altLang="en-US" sz="1200" u="none" strike="noStrike" cap="none" normalizeH="0" baseline="0" dirty="0">
                          <a:ln>
                            <a:noFill/>
                          </a:ln>
                          <a:effectLst/>
                        </a:rPr>
                        <a:t> </a:t>
                      </a:r>
                      <a:r>
                        <a:rPr kumimoji="1" lang="en-US" altLang="ko-KR" sz="1200" u="none" strike="noStrike" cap="none" normalizeH="0" baseline="0" dirty="0">
                          <a:ln>
                            <a:noFill/>
                          </a:ln>
                          <a:effectLst/>
                        </a:rPr>
                        <a:t>B</a:t>
                      </a:r>
                      <a:r>
                        <a:rPr kumimoji="1" lang="ko-KR" altLang="en-US" sz="1200" u="none" strike="noStrike" cap="none" normalizeH="0" baseline="0" dirty="0">
                          <a:ln>
                            <a:noFill/>
                          </a:ln>
                          <a:effectLst/>
                        </a:rPr>
                        <a:t>가 결합된 </a:t>
                      </a:r>
                      <a:endParaRPr kumimoji="1" lang="en-US" altLang="ko-KR" sz="1200" u="none" strike="noStrike" cap="none" normalizeH="0" baseline="0" dirty="0">
                        <a:ln>
                          <a:noFill/>
                        </a:ln>
                        <a:effectLst/>
                      </a:endParaRPr>
                    </a:p>
                    <a:p>
                      <a:pPr marL="0" marR="0" lvl="0" indent="0" algn="l" defTabSz="914400" rtl="0" eaLnBrk="1" fontAlgn="base" latinLnBrk="1" hangingPunct="1">
                        <a:lnSpc>
                          <a:spcPct val="100000"/>
                        </a:lnSpc>
                        <a:spcBef>
                          <a:spcPts val="0"/>
                        </a:spcBef>
                        <a:spcAft>
                          <a:spcPts val="0"/>
                        </a:spcAft>
                        <a:buClrTx/>
                        <a:buSzTx/>
                        <a:buFontTx/>
                        <a:buNone/>
                        <a:tabLst/>
                      </a:pPr>
                      <a:r>
                        <a:rPr kumimoji="1" lang="ko-KR" altLang="en-US" sz="1200" u="none" strike="noStrike" cap="none" normalizeH="0" baseline="0" dirty="0" err="1">
                          <a:ln>
                            <a:noFill/>
                          </a:ln>
                          <a:effectLst/>
                        </a:rPr>
                        <a:t>보드마카</a:t>
                      </a:r>
                      <a:endParaRPr kumimoji="1" lang="ko-KR" altLang="en-US" sz="1200" b="0" i="0" u="none" strike="noStrike" cap="none" normalizeH="0" baseline="0" dirty="0">
                        <a:ln>
                          <a:noFill/>
                        </a:ln>
                        <a:solidFill>
                          <a:srgbClr val="4D4D4D"/>
                        </a:solidFill>
                        <a:effectLst/>
                        <a:latin typeface="+mn-ea"/>
                        <a:ea typeface="+mn-ea"/>
                      </a:endParaRPr>
                    </a:p>
                  </a:txBody>
                  <a:tcP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pPr>
                      <a:r>
                        <a:rPr kumimoji="1" lang="ko-KR" altLang="en-US" sz="1200" u="none" strike="noStrike" cap="none" normalizeH="0" baseline="0" dirty="0">
                          <a:ln>
                            <a:noFill/>
                          </a:ln>
                          <a:effectLst/>
                        </a:rPr>
                        <a:t>필기수단의 </a:t>
                      </a:r>
                      <a:r>
                        <a:rPr kumimoji="1" lang="ko-KR" altLang="en-US" sz="1200" u="none" strike="noStrike" cap="none" normalizeH="0" baseline="0" dirty="0" err="1">
                          <a:ln>
                            <a:noFill/>
                          </a:ln>
                          <a:effectLst/>
                        </a:rPr>
                        <a:t>일측에</a:t>
                      </a:r>
                      <a:r>
                        <a:rPr kumimoji="1" lang="ko-KR" altLang="en-US" sz="1200" u="none" strike="noStrike" cap="none" normalizeH="0" baseline="0" dirty="0">
                          <a:ln>
                            <a:noFill/>
                          </a:ln>
                          <a:effectLst/>
                        </a:rPr>
                        <a:t> 지지수단이 결합된</a:t>
                      </a:r>
                      <a:endParaRPr kumimoji="1" lang="en-US" altLang="ko-KR" sz="1200" u="none" strike="noStrike" cap="none" normalizeH="0" baseline="0" dirty="0">
                        <a:ln>
                          <a:noFill/>
                        </a:ln>
                        <a:effectLst/>
                      </a:endParaRPr>
                    </a:p>
                    <a:p>
                      <a:pPr marL="0" marR="0" lvl="0" indent="0" algn="l" defTabSz="914400" rtl="0" eaLnBrk="1" fontAlgn="base" latinLnBrk="1" hangingPunct="1">
                        <a:lnSpc>
                          <a:spcPct val="100000"/>
                        </a:lnSpc>
                        <a:spcBef>
                          <a:spcPts val="0"/>
                        </a:spcBef>
                        <a:spcAft>
                          <a:spcPts val="0"/>
                        </a:spcAft>
                        <a:buClrTx/>
                        <a:buSzTx/>
                        <a:buFontTx/>
                        <a:buNone/>
                        <a:tabLst/>
                      </a:pPr>
                      <a:r>
                        <a:rPr kumimoji="1" lang="ko-KR" altLang="en-US" sz="1200" u="none" strike="noStrike" cap="none" normalizeH="0" baseline="0" dirty="0" err="1">
                          <a:ln>
                            <a:noFill/>
                          </a:ln>
                          <a:effectLst/>
                        </a:rPr>
                        <a:t>보드마카</a:t>
                      </a:r>
                      <a:endParaRPr kumimoji="1" lang="ko-KR" altLang="en-US" sz="1200" b="0" i="0" u="none" strike="noStrike" cap="none" normalizeH="0" baseline="0" dirty="0">
                        <a:ln>
                          <a:noFill/>
                        </a:ln>
                        <a:solidFill>
                          <a:srgbClr val="4D4D4D"/>
                        </a:solidFill>
                        <a:effectLst/>
                        <a:latin typeface="+mn-ea"/>
                        <a:ea typeface="+mn-ea"/>
                      </a:endParaRPr>
                    </a:p>
                  </a:txBody>
                  <a:tcP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pPr>
                      <a:r>
                        <a:rPr kumimoji="1" lang="en-US" altLang="ko-KR" sz="1200" u="none" strike="noStrike" cap="none" normalizeH="0" baseline="0" dirty="0">
                          <a:ln>
                            <a:noFill/>
                          </a:ln>
                          <a:effectLst/>
                        </a:rPr>
                        <a:t>X</a:t>
                      </a:r>
                      <a:r>
                        <a:rPr kumimoji="1" lang="ko-KR" altLang="en-US" sz="1200" u="none" strike="noStrike" cap="none" normalizeH="0" baseline="0" dirty="0" err="1">
                          <a:ln>
                            <a:noFill/>
                          </a:ln>
                          <a:effectLst/>
                        </a:rPr>
                        <a:t>공정후</a:t>
                      </a:r>
                      <a:r>
                        <a:rPr kumimoji="1" lang="ko-KR" altLang="en-US" sz="1200" u="none" strike="noStrike" cap="none" normalizeH="0" baseline="0" dirty="0">
                          <a:ln>
                            <a:noFill/>
                          </a:ln>
                          <a:effectLst/>
                        </a:rPr>
                        <a:t> </a:t>
                      </a:r>
                      <a:r>
                        <a:rPr kumimoji="1" lang="en-US" altLang="ko-KR" sz="1200" u="none" strike="noStrike" cap="none" normalizeH="0" baseline="0" dirty="0">
                          <a:ln>
                            <a:noFill/>
                          </a:ln>
                          <a:effectLst/>
                        </a:rPr>
                        <a:t>Y</a:t>
                      </a:r>
                      <a:r>
                        <a:rPr kumimoji="1" lang="ko-KR" altLang="en-US" sz="1200" u="none" strike="noStrike" cap="none" normalizeH="0" baseline="0" dirty="0">
                          <a:ln>
                            <a:noFill/>
                          </a:ln>
                          <a:effectLst/>
                        </a:rPr>
                        <a:t>공정을 거치는 방법에 의하여 제조된 </a:t>
                      </a:r>
                      <a:endParaRPr kumimoji="1" lang="en-US" altLang="ko-KR" sz="1200" u="none" strike="noStrike" cap="none" normalizeH="0" baseline="0" dirty="0">
                        <a:ln>
                          <a:noFill/>
                        </a:ln>
                        <a:effectLst/>
                      </a:endParaRPr>
                    </a:p>
                    <a:p>
                      <a:pPr marL="0" marR="0" lvl="0" indent="0" algn="l" defTabSz="914400" rtl="0" eaLnBrk="1" fontAlgn="base" latinLnBrk="1" hangingPunct="1">
                        <a:lnSpc>
                          <a:spcPct val="100000"/>
                        </a:lnSpc>
                        <a:spcBef>
                          <a:spcPts val="0"/>
                        </a:spcBef>
                        <a:spcAft>
                          <a:spcPts val="0"/>
                        </a:spcAft>
                        <a:buClrTx/>
                        <a:buSzTx/>
                        <a:buFontTx/>
                        <a:buNone/>
                        <a:tabLst/>
                      </a:pPr>
                      <a:r>
                        <a:rPr kumimoji="1" lang="ko-KR" altLang="en-US" sz="1200" u="none" strike="noStrike" cap="none" normalizeH="0" baseline="0" dirty="0" err="1">
                          <a:ln>
                            <a:noFill/>
                          </a:ln>
                          <a:effectLst/>
                        </a:rPr>
                        <a:t>보드마카</a:t>
                      </a:r>
                      <a:endParaRPr kumimoji="1" lang="ko-KR" altLang="en-US" sz="1200" b="0" i="0" u="none" strike="noStrike" cap="none" normalizeH="0" baseline="0" dirty="0">
                        <a:ln>
                          <a:noFill/>
                        </a:ln>
                        <a:solidFill>
                          <a:srgbClr val="4D4D4D"/>
                        </a:solidFill>
                        <a:effectLst/>
                        <a:latin typeface="+mn-ea"/>
                        <a:ea typeface="+mn-ea"/>
                      </a:endParaRPr>
                    </a:p>
                  </a:txBody>
                  <a:tcP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1136964">
                <a:tc>
                  <a:txBody>
                    <a:bodyPr/>
                    <a:lstStyle/>
                    <a:p>
                      <a:pPr marL="0" marR="0" lvl="0" indent="0" algn="l" defTabSz="914400" rtl="0" eaLnBrk="1" fontAlgn="base" latinLnBrk="1" hangingPunct="1">
                        <a:lnSpc>
                          <a:spcPct val="100000"/>
                        </a:lnSpc>
                        <a:spcBef>
                          <a:spcPts val="0"/>
                        </a:spcBef>
                        <a:spcAft>
                          <a:spcPts val="0"/>
                        </a:spcAft>
                        <a:buClrTx/>
                        <a:buSzTx/>
                        <a:buFontTx/>
                        <a:buNone/>
                        <a:tabLst/>
                      </a:pPr>
                      <a:r>
                        <a:rPr kumimoji="1" lang="ko-KR" altLang="en-US" sz="1200" u="none" strike="noStrike" cap="none" normalizeH="0" baseline="0">
                          <a:ln>
                            <a:noFill/>
                          </a:ln>
                          <a:effectLst/>
                        </a:rPr>
                        <a:t>비고</a:t>
                      </a:r>
                      <a:endParaRPr kumimoji="1" lang="ko-KR" altLang="en-US" sz="1200" b="0" i="0" u="none" strike="noStrike" cap="none" normalizeH="0" baseline="0">
                        <a:ln>
                          <a:noFill/>
                        </a:ln>
                        <a:solidFill>
                          <a:schemeClr val="bg1"/>
                        </a:solidFill>
                        <a:effectLst/>
                        <a:latin typeface="+mn-ea"/>
                        <a:ea typeface="+mn-ea"/>
                      </a:endParaRPr>
                    </a:p>
                  </a:txBody>
                  <a:tcP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pPr>
                      <a:r>
                        <a:rPr kumimoji="1" lang="en-US" altLang="ko-KR" sz="1200" u="none" strike="noStrike" cap="none" normalizeH="0" baseline="0">
                          <a:ln>
                            <a:noFill/>
                          </a:ln>
                          <a:effectLst/>
                        </a:rPr>
                        <a:t>-</a:t>
                      </a:r>
                      <a:endParaRPr kumimoji="1" lang="en-US" altLang="ko-KR" sz="1200" b="0" i="0" u="none" strike="noStrike" cap="none" normalizeH="0" baseline="0">
                        <a:ln>
                          <a:noFill/>
                        </a:ln>
                        <a:solidFill>
                          <a:srgbClr val="4D4D4D"/>
                        </a:solidFill>
                        <a:effectLst/>
                        <a:latin typeface="+mn-ea"/>
                        <a:ea typeface="+mn-ea"/>
                      </a:endParaRPr>
                    </a:p>
                  </a:txBody>
                  <a:tcP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pPr>
                      <a:r>
                        <a:rPr kumimoji="1" lang="en-US" altLang="ko-KR" sz="1200" u="none" strike="noStrike" cap="none" normalizeH="0" baseline="0" dirty="0">
                          <a:ln>
                            <a:noFill/>
                          </a:ln>
                          <a:effectLst/>
                        </a:rPr>
                        <a:t>Means plus function Claim</a:t>
                      </a:r>
                    </a:p>
                    <a:p>
                      <a:pPr marL="0" marR="0" lvl="0" indent="0" algn="l" defTabSz="914400" rtl="0" eaLnBrk="1" fontAlgn="base" latinLnBrk="1" hangingPunct="1">
                        <a:lnSpc>
                          <a:spcPct val="100000"/>
                        </a:lnSpc>
                        <a:spcBef>
                          <a:spcPts val="0"/>
                        </a:spcBef>
                        <a:spcAft>
                          <a:spcPts val="0"/>
                        </a:spcAft>
                        <a:buClrTx/>
                        <a:buSzTx/>
                        <a:buFontTx/>
                        <a:buNone/>
                        <a:tabLst/>
                      </a:pPr>
                      <a:r>
                        <a:rPr kumimoji="1" lang="en-US" altLang="ko-KR" sz="1200" u="none" strike="noStrike" cap="none" normalizeH="0" baseline="0" dirty="0">
                          <a:ln>
                            <a:noFill/>
                          </a:ln>
                          <a:effectLst/>
                        </a:rPr>
                        <a:t>(</a:t>
                      </a:r>
                      <a:r>
                        <a:rPr kumimoji="1" lang="ko-KR" altLang="en-US" sz="1200" u="none" strike="noStrike" cap="none" normalizeH="0" baseline="0" dirty="0" err="1">
                          <a:ln>
                            <a:noFill/>
                          </a:ln>
                          <a:effectLst/>
                        </a:rPr>
                        <a:t>기능식</a:t>
                      </a:r>
                      <a:r>
                        <a:rPr kumimoji="1" lang="ko-KR" altLang="en-US" sz="1200" u="none" strike="noStrike" cap="none" normalizeH="0" baseline="0" dirty="0">
                          <a:ln>
                            <a:noFill/>
                          </a:ln>
                          <a:effectLst/>
                        </a:rPr>
                        <a:t> </a:t>
                      </a:r>
                      <a:r>
                        <a:rPr kumimoji="1" lang="ko-KR" altLang="en-US" sz="1200" u="none" strike="noStrike" cap="none" normalizeH="0" baseline="0" dirty="0" err="1">
                          <a:ln>
                            <a:noFill/>
                          </a:ln>
                          <a:effectLst/>
                        </a:rPr>
                        <a:t>청구항</a:t>
                      </a:r>
                      <a:r>
                        <a:rPr kumimoji="1" lang="en-US" altLang="ko-KR" sz="1200" u="none" strike="noStrike" cap="none" normalizeH="0" baseline="0" dirty="0">
                          <a:ln>
                            <a:noFill/>
                          </a:ln>
                          <a:effectLst/>
                        </a:rPr>
                        <a:t>)</a:t>
                      </a:r>
                      <a:endParaRPr kumimoji="1" lang="en-US" altLang="ko-KR" sz="1200" b="0" i="0" u="none" strike="noStrike" cap="none" normalizeH="0" baseline="0" dirty="0">
                        <a:ln>
                          <a:noFill/>
                        </a:ln>
                        <a:solidFill>
                          <a:srgbClr val="4D4D4D"/>
                        </a:solidFill>
                        <a:effectLst/>
                        <a:latin typeface="+mn-ea"/>
                        <a:ea typeface="+mn-ea"/>
                      </a:endParaRPr>
                    </a:p>
                  </a:txBody>
                  <a:tcP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l" defTabSz="914400" rtl="0" eaLnBrk="1" fontAlgn="base" latinLnBrk="1" hangingPunct="1">
                        <a:lnSpc>
                          <a:spcPct val="100000"/>
                        </a:lnSpc>
                        <a:spcBef>
                          <a:spcPts val="0"/>
                        </a:spcBef>
                        <a:spcAft>
                          <a:spcPts val="0"/>
                        </a:spcAft>
                        <a:buClrTx/>
                        <a:buSzTx/>
                        <a:buFontTx/>
                        <a:buNone/>
                        <a:tabLst/>
                      </a:pPr>
                      <a:r>
                        <a:rPr kumimoji="1" lang="en-US" altLang="ko-KR" sz="1200" u="none" strike="noStrike" cap="none" normalizeH="0" baseline="0" dirty="0">
                          <a:ln>
                            <a:noFill/>
                          </a:ln>
                          <a:effectLst/>
                        </a:rPr>
                        <a:t>Product by Process Claim</a:t>
                      </a:r>
                    </a:p>
                    <a:p>
                      <a:pPr marL="0" marR="0" lvl="0" indent="0" algn="l" defTabSz="914400" rtl="0" eaLnBrk="1" fontAlgn="base" latinLnBrk="1" hangingPunct="1">
                        <a:lnSpc>
                          <a:spcPct val="100000"/>
                        </a:lnSpc>
                        <a:spcBef>
                          <a:spcPts val="0"/>
                        </a:spcBef>
                        <a:spcAft>
                          <a:spcPts val="0"/>
                        </a:spcAft>
                        <a:buClrTx/>
                        <a:buSzTx/>
                        <a:buFontTx/>
                        <a:buNone/>
                        <a:tabLst/>
                      </a:pPr>
                      <a:r>
                        <a:rPr kumimoji="1" lang="en-US" altLang="ko-KR" sz="1200" u="none" strike="noStrike" cap="none" normalizeH="0" baseline="0" dirty="0">
                          <a:ln>
                            <a:noFill/>
                          </a:ln>
                          <a:effectLst/>
                        </a:rPr>
                        <a:t>(PBP </a:t>
                      </a:r>
                      <a:r>
                        <a:rPr kumimoji="1" lang="ko-KR" altLang="en-US" sz="1200" u="none" strike="noStrike" cap="none" normalizeH="0" baseline="0" dirty="0" err="1">
                          <a:ln>
                            <a:noFill/>
                          </a:ln>
                          <a:effectLst/>
                        </a:rPr>
                        <a:t>청구항</a:t>
                      </a:r>
                      <a:r>
                        <a:rPr kumimoji="1" lang="en-US" altLang="ko-KR" sz="1200" u="none" strike="noStrike" cap="none" normalizeH="0" baseline="0" dirty="0">
                          <a:ln>
                            <a:noFill/>
                          </a:ln>
                          <a:effectLst/>
                        </a:rPr>
                        <a:t>)</a:t>
                      </a:r>
                      <a:endParaRPr kumimoji="1" lang="en-US" altLang="ko-KR" sz="1200" b="0" i="0" u="none" strike="noStrike" cap="none" normalizeH="0" baseline="0" dirty="0">
                        <a:ln>
                          <a:noFill/>
                        </a:ln>
                        <a:solidFill>
                          <a:srgbClr val="4D4D4D"/>
                        </a:solidFill>
                        <a:effectLst/>
                        <a:latin typeface="+mn-ea"/>
                        <a:ea typeface="+mn-ea"/>
                      </a:endParaRPr>
                    </a:p>
                  </a:txBody>
                  <a:tcP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cxnSp>
        <p:nvCxnSpPr>
          <p:cNvPr id="33" name="직선 연결선 32"/>
          <p:cNvCxnSpPr/>
          <p:nvPr/>
        </p:nvCxnSpPr>
        <p:spPr>
          <a:xfrm>
            <a:off x="7612946" y="2484567"/>
            <a:ext cx="0" cy="405170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타원 51"/>
          <p:cNvSpPr/>
          <p:nvPr/>
        </p:nvSpPr>
        <p:spPr>
          <a:xfrm>
            <a:off x="9046563" y="3643468"/>
            <a:ext cx="1252728" cy="502016"/>
          </a:xfrm>
          <a:prstGeom prst="ellipse">
            <a:avLst/>
          </a:prstGeom>
          <a:solidFill>
            <a:schemeClr val="accent4">
              <a:lumMod val="20000"/>
              <a:lumOff val="80000"/>
            </a:schemeClr>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rPr>
              <a:t>발명의 본질</a:t>
            </a:r>
          </a:p>
        </p:txBody>
      </p:sp>
      <p:sp>
        <p:nvSpPr>
          <p:cNvPr id="53" name="자유형 52"/>
          <p:cNvSpPr/>
          <p:nvPr/>
        </p:nvSpPr>
        <p:spPr>
          <a:xfrm>
            <a:off x="8541750" y="3038603"/>
            <a:ext cx="2233114" cy="1817130"/>
          </a:xfrm>
          <a:custGeom>
            <a:avLst/>
            <a:gdLst>
              <a:gd name="connsiteX0" fmla="*/ 811369 w 2498501"/>
              <a:gd name="connsiteY0" fmla="*/ 12879 h 2395471"/>
              <a:gd name="connsiteX1" fmla="*/ 811369 w 2498501"/>
              <a:gd name="connsiteY1" fmla="*/ 12879 h 2395471"/>
              <a:gd name="connsiteX2" fmla="*/ 965915 w 2498501"/>
              <a:gd name="connsiteY2" fmla="*/ 12879 h 2395471"/>
              <a:gd name="connsiteX3" fmla="*/ 1777284 w 2498501"/>
              <a:gd name="connsiteY3" fmla="*/ 12879 h 2395471"/>
              <a:gd name="connsiteX4" fmla="*/ 2498501 w 2498501"/>
              <a:gd name="connsiteY4" fmla="*/ 734096 h 2395471"/>
              <a:gd name="connsiteX5" fmla="*/ 2498501 w 2498501"/>
              <a:gd name="connsiteY5" fmla="*/ 1803043 h 2395471"/>
              <a:gd name="connsiteX6" fmla="*/ 1906073 w 2498501"/>
              <a:gd name="connsiteY6" fmla="*/ 2395471 h 2395471"/>
              <a:gd name="connsiteX7" fmla="*/ 837127 w 2498501"/>
              <a:gd name="connsiteY7" fmla="*/ 2395471 h 2395471"/>
              <a:gd name="connsiteX8" fmla="*/ 0 w 2498501"/>
              <a:gd name="connsiteY8" fmla="*/ 1558344 h 2395471"/>
              <a:gd name="connsiteX9" fmla="*/ 0 w 2498501"/>
              <a:gd name="connsiteY9" fmla="*/ 528034 h 2395471"/>
              <a:gd name="connsiteX10" fmla="*/ 862884 w 2498501"/>
              <a:gd name="connsiteY10" fmla="*/ 0 h 2395471"/>
              <a:gd name="connsiteX0" fmla="*/ 811369 w 2498501"/>
              <a:gd name="connsiteY0" fmla="*/ 12879 h 2395471"/>
              <a:gd name="connsiteX1" fmla="*/ 811369 w 2498501"/>
              <a:gd name="connsiteY1" fmla="*/ 12879 h 2395471"/>
              <a:gd name="connsiteX2" fmla="*/ 965915 w 2498501"/>
              <a:gd name="connsiteY2" fmla="*/ 12879 h 2395471"/>
              <a:gd name="connsiteX3" fmla="*/ 1777284 w 2498501"/>
              <a:gd name="connsiteY3" fmla="*/ 12879 h 2395471"/>
              <a:gd name="connsiteX4" fmla="*/ 2498501 w 2498501"/>
              <a:gd name="connsiteY4" fmla="*/ 734096 h 2395471"/>
              <a:gd name="connsiteX5" fmla="*/ 2498501 w 2498501"/>
              <a:gd name="connsiteY5" fmla="*/ 1803043 h 2395471"/>
              <a:gd name="connsiteX6" fmla="*/ 1906073 w 2498501"/>
              <a:gd name="connsiteY6" fmla="*/ 2395471 h 2395471"/>
              <a:gd name="connsiteX7" fmla="*/ 732352 w 2498501"/>
              <a:gd name="connsiteY7" fmla="*/ 2384710 h 2395471"/>
              <a:gd name="connsiteX8" fmla="*/ 0 w 2498501"/>
              <a:gd name="connsiteY8" fmla="*/ 1558344 h 2395471"/>
              <a:gd name="connsiteX9" fmla="*/ 0 w 2498501"/>
              <a:gd name="connsiteY9" fmla="*/ 528034 h 2395471"/>
              <a:gd name="connsiteX10" fmla="*/ 862884 w 2498501"/>
              <a:gd name="connsiteY10" fmla="*/ 0 h 2395471"/>
              <a:gd name="connsiteX0" fmla="*/ 811369 w 2498501"/>
              <a:gd name="connsiteY0" fmla="*/ 12879 h 2395471"/>
              <a:gd name="connsiteX1" fmla="*/ 811369 w 2498501"/>
              <a:gd name="connsiteY1" fmla="*/ 12879 h 2395471"/>
              <a:gd name="connsiteX2" fmla="*/ 965915 w 2498501"/>
              <a:gd name="connsiteY2" fmla="*/ 12879 h 2395471"/>
              <a:gd name="connsiteX3" fmla="*/ 1777284 w 2498501"/>
              <a:gd name="connsiteY3" fmla="*/ 12879 h 2395471"/>
              <a:gd name="connsiteX4" fmla="*/ 2498501 w 2498501"/>
              <a:gd name="connsiteY4" fmla="*/ 734096 h 2395471"/>
              <a:gd name="connsiteX5" fmla="*/ 2498501 w 2498501"/>
              <a:gd name="connsiteY5" fmla="*/ 1803043 h 2395471"/>
              <a:gd name="connsiteX6" fmla="*/ 1829873 w 2498501"/>
              <a:gd name="connsiteY6" fmla="*/ 2395471 h 2395471"/>
              <a:gd name="connsiteX7" fmla="*/ 732352 w 2498501"/>
              <a:gd name="connsiteY7" fmla="*/ 2384710 h 2395471"/>
              <a:gd name="connsiteX8" fmla="*/ 0 w 2498501"/>
              <a:gd name="connsiteY8" fmla="*/ 1558344 h 2395471"/>
              <a:gd name="connsiteX9" fmla="*/ 0 w 2498501"/>
              <a:gd name="connsiteY9" fmla="*/ 528034 h 2395471"/>
              <a:gd name="connsiteX10" fmla="*/ 862884 w 2498501"/>
              <a:gd name="connsiteY10" fmla="*/ 0 h 2395471"/>
              <a:gd name="connsiteX0" fmla="*/ 811369 w 2498501"/>
              <a:gd name="connsiteY0" fmla="*/ 12879 h 2395471"/>
              <a:gd name="connsiteX1" fmla="*/ 811369 w 2498501"/>
              <a:gd name="connsiteY1" fmla="*/ 12879 h 2395471"/>
              <a:gd name="connsiteX2" fmla="*/ 965915 w 2498501"/>
              <a:gd name="connsiteY2" fmla="*/ 12879 h 2395471"/>
              <a:gd name="connsiteX3" fmla="*/ 1777284 w 2498501"/>
              <a:gd name="connsiteY3" fmla="*/ 12879 h 2395471"/>
              <a:gd name="connsiteX4" fmla="*/ 2498501 w 2498501"/>
              <a:gd name="connsiteY4" fmla="*/ 734096 h 2395471"/>
              <a:gd name="connsiteX5" fmla="*/ 2498501 w 2498501"/>
              <a:gd name="connsiteY5" fmla="*/ 1803043 h 2395471"/>
              <a:gd name="connsiteX6" fmla="*/ 1829873 w 2498501"/>
              <a:gd name="connsiteY6" fmla="*/ 2395471 h 2395471"/>
              <a:gd name="connsiteX7" fmla="*/ 732352 w 2498501"/>
              <a:gd name="connsiteY7" fmla="*/ 2384710 h 2395471"/>
              <a:gd name="connsiteX8" fmla="*/ 19050 w 2498501"/>
              <a:gd name="connsiteY8" fmla="*/ 1708993 h 2395471"/>
              <a:gd name="connsiteX9" fmla="*/ 0 w 2498501"/>
              <a:gd name="connsiteY9" fmla="*/ 528034 h 2395471"/>
              <a:gd name="connsiteX10" fmla="*/ 862884 w 2498501"/>
              <a:gd name="connsiteY10" fmla="*/ 0 h 2395471"/>
              <a:gd name="connsiteX0" fmla="*/ 792319 w 2479451"/>
              <a:gd name="connsiteY0" fmla="*/ 12879 h 2395471"/>
              <a:gd name="connsiteX1" fmla="*/ 792319 w 2479451"/>
              <a:gd name="connsiteY1" fmla="*/ 12879 h 2395471"/>
              <a:gd name="connsiteX2" fmla="*/ 946865 w 2479451"/>
              <a:gd name="connsiteY2" fmla="*/ 12879 h 2395471"/>
              <a:gd name="connsiteX3" fmla="*/ 1758234 w 2479451"/>
              <a:gd name="connsiteY3" fmla="*/ 12879 h 2395471"/>
              <a:gd name="connsiteX4" fmla="*/ 2479451 w 2479451"/>
              <a:gd name="connsiteY4" fmla="*/ 734096 h 2395471"/>
              <a:gd name="connsiteX5" fmla="*/ 2479451 w 2479451"/>
              <a:gd name="connsiteY5" fmla="*/ 1803043 h 2395471"/>
              <a:gd name="connsiteX6" fmla="*/ 1810823 w 2479451"/>
              <a:gd name="connsiteY6" fmla="*/ 2395471 h 2395471"/>
              <a:gd name="connsiteX7" fmla="*/ 713302 w 2479451"/>
              <a:gd name="connsiteY7" fmla="*/ 2384710 h 2395471"/>
              <a:gd name="connsiteX8" fmla="*/ 0 w 2479451"/>
              <a:gd name="connsiteY8" fmla="*/ 1708993 h 2395471"/>
              <a:gd name="connsiteX9" fmla="*/ 9525 w 2479451"/>
              <a:gd name="connsiteY9" fmla="*/ 657162 h 2395471"/>
              <a:gd name="connsiteX10" fmla="*/ 843834 w 2479451"/>
              <a:gd name="connsiteY10" fmla="*/ 0 h 2395471"/>
              <a:gd name="connsiteX0" fmla="*/ 792319 w 2479451"/>
              <a:gd name="connsiteY0" fmla="*/ 12879 h 2395471"/>
              <a:gd name="connsiteX1" fmla="*/ 792319 w 2479451"/>
              <a:gd name="connsiteY1" fmla="*/ 12879 h 2395471"/>
              <a:gd name="connsiteX2" fmla="*/ 946865 w 2479451"/>
              <a:gd name="connsiteY2" fmla="*/ 12879 h 2395471"/>
              <a:gd name="connsiteX3" fmla="*/ 1758234 w 2479451"/>
              <a:gd name="connsiteY3" fmla="*/ 12879 h 2395471"/>
              <a:gd name="connsiteX4" fmla="*/ 2479451 w 2479451"/>
              <a:gd name="connsiteY4" fmla="*/ 734096 h 2395471"/>
              <a:gd name="connsiteX5" fmla="*/ 2479451 w 2479451"/>
              <a:gd name="connsiteY5" fmla="*/ 1803043 h 2395471"/>
              <a:gd name="connsiteX6" fmla="*/ 1810823 w 2479451"/>
              <a:gd name="connsiteY6" fmla="*/ 2395471 h 2395471"/>
              <a:gd name="connsiteX7" fmla="*/ 713302 w 2479451"/>
              <a:gd name="connsiteY7" fmla="*/ 2384710 h 2395471"/>
              <a:gd name="connsiteX8" fmla="*/ 0 w 2479451"/>
              <a:gd name="connsiteY8" fmla="*/ 1708993 h 2395471"/>
              <a:gd name="connsiteX9" fmla="*/ 9525 w 2479451"/>
              <a:gd name="connsiteY9" fmla="*/ 657162 h 2395471"/>
              <a:gd name="connsiteX10" fmla="*/ 751876 w 2479451"/>
              <a:gd name="connsiteY10" fmla="*/ 29049 h 2395471"/>
              <a:gd name="connsiteX11" fmla="*/ 843834 w 2479451"/>
              <a:gd name="connsiteY11" fmla="*/ 0 h 2395471"/>
              <a:gd name="connsiteX0" fmla="*/ 792319 w 2479451"/>
              <a:gd name="connsiteY0" fmla="*/ 2118 h 2384710"/>
              <a:gd name="connsiteX1" fmla="*/ 792319 w 2479451"/>
              <a:gd name="connsiteY1" fmla="*/ 2118 h 2384710"/>
              <a:gd name="connsiteX2" fmla="*/ 946865 w 2479451"/>
              <a:gd name="connsiteY2" fmla="*/ 2118 h 2384710"/>
              <a:gd name="connsiteX3" fmla="*/ 1758234 w 2479451"/>
              <a:gd name="connsiteY3" fmla="*/ 2118 h 2384710"/>
              <a:gd name="connsiteX4" fmla="*/ 2479451 w 2479451"/>
              <a:gd name="connsiteY4" fmla="*/ 723335 h 2384710"/>
              <a:gd name="connsiteX5" fmla="*/ 2479451 w 2479451"/>
              <a:gd name="connsiteY5" fmla="*/ 1792282 h 2384710"/>
              <a:gd name="connsiteX6" fmla="*/ 1810823 w 2479451"/>
              <a:gd name="connsiteY6" fmla="*/ 2384710 h 2384710"/>
              <a:gd name="connsiteX7" fmla="*/ 713302 w 2479451"/>
              <a:gd name="connsiteY7" fmla="*/ 2373949 h 2384710"/>
              <a:gd name="connsiteX8" fmla="*/ 0 w 2479451"/>
              <a:gd name="connsiteY8" fmla="*/ 1698232 h 2384710"/>
              <a:gd name="connsiteX9" fmla="*/ 9525 w 2479451"/>
              <a:gd name="connsiteY9" fmla="*/ 646401 h 2384710"/>
              <a:gd name="connsiteX10" fmla="*/ 751876 w 2479451"/>
              <a:gd name="connsiteY10" fmla="*/ 18288 h 2384710"/>
              <a:gd name="connsiteX11" fmla="*/ 799384 w 2479451"/>
              <a:gd name="connsiteY11" fmla="*/ 0 h 2384710"/>
              <a:gd name="connsiteX0" fmla="*/ 792319 w 2479451"/>
              <a:gd name="connsiteY0" fmla="*/ 0 h 2382592"/>
              <a:gd name="connsiteX1" fmla="*/ 792319 w 2479451"/>
              <a:gd name="connsiteY1" fmla="*/ 0 h 2382592"/>
              <a:gd name="connsiteX2" fmla="*/ 946865 w 2479451"/>
              <a:gd name="connsiteY2" fmla="*/ 0 h 2382592"/>
              <a:gd name="connsiteX3" fmla="*/ 1758234 w 2479451"/>
              <a:gd name="connsiteY3" fmla="*/ 0 h 2382592"/>
              <a:gd name="connsiteX4" fmla="*/ 2479451 w 2479451"/>
              <a:gd name="connsiteY4" fmla="*/ 721217 h 2382592"/>
              <a:gd name="connsiteX5" fmla="*/ 2479451 w 2479451"/>
              <a:gd name="connsiteY5" fmla="*/ 1790164 h 2382592"/>
              <a:gd name="connsiteX6" fmla="*/ 1810823 w 2479451"/>
              <a:gd name="connsiteY6" fmla="*/ 2382592 h 2382592"/>
              <a:gd name="connsiteX7" fmla="*/ 713302 w 2479451"/>
              <a:gd name="connsiteY7" fmla="*/ 2371831 h 2382592"/>
              <a:gd name="connsiteX8" fmla="*/ 0 w 2479451"/>
              <a:gd name="connsiteY8" fmla="*/ 1696114 h 2382592"/>
              <a:gd name="connsiteX9" fmla="*/ 9525 w 2479451"/>
              <a:gd name="connsiteY9" fmla="*/ 644283 h 2382592"/>
              <a:gd name="connsiteX10" fmla="*/ 751876 w 2479451"/>
              <a:gd name="connsiteY10" fmla="*/ 16170 h 2382592"/>
              <a:gd name="connsiteX11" fmla="*/ 767634 w 2479451"/>
              <a:gd name="connsiteY11" fmla="*/ 5056 h 2382592"/>
              <a:gd name="connsiteX0" fmla="*/ 792319 w 2479451"/>
              <a:gd name="connsiteY0" fmla="*/ 5705 h 2388297"/>
              <a:gd name="connsiteX1" fmla="*/ 792319 w 2479451"/>
              <a:gd name="connsiteY1" fmla="*/ 5705 h 2388297"/>
              <a:gd name="connsiteX2" fmla="*/ 946865 w 2479451"/>
              <a:gd name="connsiteY2" fmla="*/ 5705 h 2388297"/>
              <a:gd name="connsiteX3" fmla="*/ 1758234 w 2479451"/>
              <a:gd name="connsiteY3" fmla="*/ 5705 h 2388297"/>
              <a:gd name="connsiteX4" fmla="*/ 2479451 w 2479451"/>
              <a:gd name="connsiteY4" fmla="*/ 726922 h 2388297"/>
              <a:gd name="connsiteX5" fmla="*/ 2479451 w 2479451"/>
              <a:gd name="connsiteY5" fmla="*/ 1795869 h 2388297"/>
              <a:gd name="connsiteX6" fmla="*/ 1810823 w 2479451"/>
              <a:gd name="connsiteY6" fmla="*/ 2388297 h 2388297"/>
              <a:gd name="connsiteX7" fmla="*/ 713302 w 2479451"/>
              <a:gd name="connsiteY7" fmla="*/ 2377536 h 2388297"/>
              <a:gd name="connsiteX8" fmla="*/ 0 w 2479451"/>
              <a:gd name="connsiteY8" fmla="*/ 1701819 h 2388297"/>
              <a:gd name="connsiteX9" fmla="*/ 9525 w 2479451"/>
              <a:gd name="connsiteY9" fmla="*/ 649988 h 2388297"/>
              <a:gd name="connsiteX10" fmla="*/ 751876 w 2479451"/>
              <a:gd name="connsiteY10" fmla="*/ 21875 h 2388297"/>
              <a:gd name="connsiteX11" fmla="*/ 773984 w 2479451"/>
              <a:gd name="connsiteY11" fmla="*/ 0 h 2388297"/>
              <a:gd name="connsiteX0" fmla="*/ 792319 w 2479451"/>
              <a:gd name="connsiteY0" fmla="*/ 0 h 2382592"/>
              <a:gd name="connsiteX1" fmla="*/ 792319 w 2479451"/>
              <a:gd name="connsiteY1" fmla="*/ 0 h 2382592"/>
              <a:gd name="connsiteX2" fmla="*/ 946865 w 2479451"/>
              <a:gd name="connsiteY2" fmla="*/ 0 h 2382592"/>
              <a:gd name="connsiteX3" fmla="*/ 1758234 w 2479451"/>
              <a:gd name="connsiteY3" fmla="*/ 0 h 2382592"/>
              <a:gd name="connsiteX4" fmla="*/ 2479451 w 2479451"/>
              <a:gd name="connsiteY4" fmla="*/ 721217 h 2382592"/>
              <a:gd name="connsiteX5" fmla="*/ 2479451 w 2479451"/>
              <a:gd name="connsiteY5" fmla="*/ 1790164 h 2382592"/>
              <a:gd name="connsiteX6" fmla="*/ 1810823 w 2479451"/>
              <a:gd name="connsiteY6" fmla="*/ 2382592 h 2382592"/>
              <a:gd name="connsiteX7" fmla="*/ 713302 w 2479451"/>
              <a:gd name="connsiteY7" fmla="*/ 2371831 h 2382592"/>
              <a:gd name="connsiteX8" fmla="*/ 0 w 2479451"/>
              <a:gd name="connsiteY8" fmla="*/ 1696114 h 2382592"/>
              <a:gd name="connsiteX9" fmla="*/ 9525 w 2479451"/>
              <a:gd name="connsiteY9" fmla="*/ 644283 h 2382592"/>
              <a:gd name="connsiteX10" fmla="*/ 751876 w 2479451"/>
              <a:gd name="connsiteY10" fmla="*/ 16170 h 2382592"/>
              <a:gd name="connsiteX11" fmla="*/ 751759 w 2479451"/>
              <a:gd name="connsiteY11" fmla="*/ 26577 h 2382592"/>
              <a:gd name="connsiteX0" fmla="*/ 792319 w 2479451"/>
              <a:gd name="connsiteY0" fmla="*/ 0 h 2382592"/>
              <a:gd name="connsiteX1" fmla="*/ 792319 w 2479451"/>
              <a:gd name="connsiteY1" fmla="*/ 0 h 2382592"/>
              <a:gd name="connsiteX2" fmla="*/ 946865 w 2479451"/>
              <a:gd name="connsiteY2" fmla="*/ 0 h 2382592"/>
              <a:gd name="connsiteX3" fmla="*/ 1758234 w 2479451"/>
              <a:gd name="connsiteY3" fmla="*/ 0 h 2382592"/>
              <a:gd name="connsiteX4" fmla="*/ 2479451 w 2479451"/>
              <a:gd name="connsiteY4" fmla="*/ 721217 h 2382592"/>
              <a:gd name="connsiteX5" fmla="*/ 2479451 w 2479451"/>
              <a:gd name="connsiteY5" fmla="*/ 1790164 h 2382592"/>
              <a:gd name="connsiteX6" fmla="*/ 1810823 w 2479451"/>
              <a:gd name="connsiteY6" fmla="*/ 2382592 h 2382592"/>
              <a:gd name="connsiteX7" fmla="*/ 713302 w 2479451"/>
              <a:gd name="connsiteY7" fmla="*/ 2371831 h 2382592"/>
              <a:gd name="connsiteX8" fmla="*/ 0 w 2479451"/>
              <a:gd name="connsiteY8" fmla="*/ 1696114 h 2382592"/>
              <a:gd name="connsiteX9" fmla="*/ 9525 w 2479451"/>
              <a:gd name="connsiteY9" fmla="*/ 644283 h 2382592"/>
              <a:gd name="connsiteX10" fmla="*/ 751876 w 2479451"/>
              <a:gd name="connsiteY10" fmla="*/ 16170 h 2382592"/>
              <a:gd name="connsiteX11" fmla="*/ 780334 w 2479451"/>
              <a:gd name="connsiteY11" fmla="*/ 5056 h 2382592"/>
              <a:gd name="connsiteX0" fmla="*/ 792319 w 2479451"/>
              <a:gd name="connsiteY0" fmla="*/ 0 h 2382592"/>
              <a:gd name="connsiteX1" fmla="*/ 760569 w 2479451"/>
              <a:gd name="connsiteY1" fmla="*/ 3587 h 2382592"/>
              <a:gd name="connsiteX2" fmla="*/ 946865 w 2479451"/>
              <a:gd name="connsiteY2" fmla="*/ 0 h 2382592"/>
              <a:gd name="connsiteX3" fmla="*/ 1758234 w 2479451"/>
              <a:gd name="connsiteY3" fmla="*/ 0 h 2382592"/>
              <a:gd name="connsiteX4" fmla="*/ 2479451 w 2479451"/>
              <a:gd name="connsiteY4" fmla="*/ 721217 h 2382592"/>
              <a:gd name="connsiteX5" fmla="*/ 2479451 w 2479451"/>
              <a:gd name="connsiteY5" fmla="*/ 1790164 h 2382592"/>
              <a:gd name="connsiteX6" fmla="*/ 1810823 w 2479451"/>
              <a:gd name="connsiteY6" fmla="*/ 2382592 h 2382592"/>
              <a:gd name="connsiteX7" fmla="*/ 713302 w 2479451"/>
              <a:gd name="connsiteY7" fmla="*/ 2371831 h 2382592"/>
              <a:gd name="connsiteX8" fmla="*/ 0 w 2479451"/>
              <a:gd name="connsiteY8" fmla="*/ 1696114 h 2382592"/>
              <a:gd name="connsiteX9" fmla="*/ 9525 w 2479451"/>
              <a:gd name="connsiteY9" fmla="*/ 644283 h 2382592"/>
              <a:gd name="connsiteX10" fmla="*/ 751876 w 2479451"/>
              <a:gd name="connsiteY10" fmla="*/ 16170 h 2382592"/>
              <a:gd name="connsiteX11" fmla="*/ 780334 w 2479451"/>
              <a:gd name="connsiteY11" fmla="*/ 5056 h 2382592"/>
              <a:gd name="connsiteX0" fmla="*/ 792319 w 2479451"/>
              <a:gd name="connsiteY0" fmla="*/ 531 h 2383123"/>
              <a:gd name="connsiteX1" fmla="*/ 770094 w 2479451"/>
              <a:gd name="connsiteY1" fmla="*/ 531 h 2383123"/>
              <a:gd name="connsiteX2" fmla="*/ 946865 w 2479451"/>
              <a:gd name="connsiteY2" fmla="*/ 531 h 2383123"/>
              <a:gd name="connsiteX3" fmla="*/ 1758234 w 2479451"/>
              <a:gd name="connsiteY3" fmla="*/ 531 h 2383123"/>
              <a:gd name="connsiteX4" fmla="*/ 2479451 w 2479451"/>
              <a:gd name="connsiteY4" fmla="*/ 721748 h 2383123"/>
              <a:gd name="connsiteX5" fmla="*/ 2479451 w 2479451"/>
              <a:gd name="connsiteY5" fmla="*/ 1790695 h 2383123"/>
              <a:gd name="connsiteX6" fmla="*/ 1810823 w 2479451"/>
              <a:gd name="connsiteY6" fmla="*/ 2383123 h 2383123"/>
              <a:gd name="connsiteX7" fmla="*/ 713302 w 2479451"/>
              <a:gd name="connsiteY7" fmla="*/ 2372362 h 2383123"/>
              <a:gd name="connsiteX8" fmla="*/ 0 w 2479451"/>
              <a:gd name="connsiteY8" fmla="*/ 1696645 h 2383123"/>
              <a:gd name="connsiteX9" fmla="*/ 9525 w 2479451"/>
              <a:gd name="connsiteY9" fmla="*/ 644814 h 2383123"/>
              <a:gd name="connsiteX10" fmla="*/ 751876 w 2479451"/>
              <a:gd name="connsiteY10" fmla="*/ 16701 h 2383123"/>
              <a:gd name="connsiteX11" fmla="*/ 780334 w 2479451"/>
              <a:gd name="connsiteY11" fmla="*/ 5587 h 238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79451" h="2383123">
                <a:moveTo>
                  <a:pt x="792319" y="531"/>
                </a:moveTo>
                <a:lnTo>
                  <a:pt x="770094" y="531"/>
                </a:lnTo>
                <a:cubicBezTo>
                  <a:pt x="832193" y="-665"/>
                  <a:pt x="782175" y="531"/>
                  <a:pt x="946865" y="531"/>
                </a:cubicBezTo>
                <a:lnTo>
                  <a:pt x="1758234" y="531"/>
                </a:lnTo>
                <a:lnTo>
                  <a:pt x="2479451" y="721748"/>
                </a:lnTo>
                <a:lnTo>
                  <a:pt x="2479451" y="1790695"/>
                </a:lnTo>
                <a:lnTo>
                  <a:pt x="1810823" y="2383123"/>
                </a:lnTo>
                <a:lnTo>
                  <a:pt x="713302" y="2372362"/>
                </a:lnTo>
                <a:lnTo>
                  <a:pt x="0" y="1696645"/>
                </a:lnTo>
                <a:lnTo>
                  <a:pt x="9525" y="644814"/>
                </a:lnTo>
                <a:cubicBezTo>
                  <a:pt x="256975" y="442617"/>
                  <a:pt x="504426" y="218898"/>
                  <a:pt x="751876" y="16701"/>
                </a:cubicBezTo>
                <a:lnTo>
                  <a:pt x="780334" y="5587"/>
                </a:lnTo>
              </a:path>
            </a:pathLst>
          </a:custGeom>
          <a:noFill/>
          <a:ln w="1270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54" name="직선 화살표 연결선 53"/>
          <p:cNvCxnSpPr>
            <a:endCxn id="53" idx="3"/>
          </p:cNvCxnSpPr>
          <p:nvPr/>
        </p:nvCxnSpPr>
        <p:spPr>
          <a:xfrm flipV="1">
            <a:off x="9800520" y="3039008"/>
            <a:ext cx="324781" cy="604463"/>
          </a:xfrm>
          <a:prstGeom prst="straightConnector1">
            <a:avLst/>
          </a:prstGeom>
          <a:ln>
            <a:solidFill>
              <a:schemeClr val="tx1">
                <a:lumMod val="75000"/>
                <a:lumOff val="2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5" name="직선 화살표 연결선 54"/>
          <p:cNvCxnSpPr>
            <a:endCxn id="53" idx="5"/>
          </p:cNvCxnSpPr>
          <p:nvPr/>
        </p:nvCxnSpPr>
        <p:spPr>
          <a:xfrm>
            <a:off x="10212295" y="4018608"/>
            <a:ext cx="562568" cy="385399"/>
          </a:xfrm>
          <a:prstGeom prst="straightConnector1">
            <a:avLst/>
          </a:prstGeom>
          <a:ln>
            <a:solidFill>
              <a:schemeClr val="tx1">
                <a:lumMod val="75000"/>
                <a:lumOff val="2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6" name="직선 화살표 연결선 55"/>
          <p:cNvCxnSpPr>
            <a:endCxn id="53" idx="6"/>
          </p:cNvCxnSpPr>
          <p:nvPr/>
        </p:nvCxnSpPr>
        <p:spPr>
          <a:xfrm>
            <a:off x="9800520" y="4145483"/>
            <a:ext cx="372145" cy="710250"/>
          </a:xfrm>
          <a:prstGeom prst="straightConnector1">
            <a:avLst/>
          </a:prstGeom>
          <a:ln>
            <a:solidFill>
              <a:schemeClr val="tx1">
                <a:lumMod val="75000"/>
                <a:lumOff val="2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7" name="직선 화살표 연결선 56"/>
          <p:cNvCxnSpPr>
            <a:endCxn id="53" idx="7"/>
          </p:cNvCxnSpPr>
          <p:nvPr/>
        </p:nvCxnSpPr>
        <p:spPr>
          <a:xfrm flipH="1">
            <a:off x="9184184" y="4145483"/>
            <a:ext cx="279956" cy="702045"/>
          </a:xfrm>
          <a:prstGeom prst="straightConnector1">
            <a:avLst/>
          </a:prstGeom>
          <a:ln>
            <a:solidFill>
              <a:schemeClr val="tx1">
                <a:lumMod val="75000"/>
                <a:lumOff val="2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8" name="직선 화살표 연결선 57"/>
          <p:cNvCxnSpPr>
            <a:endCxn id="53" idx="8"/>
          </p:cNvCxnSpPr>
          <p:nvPr/>
        </p:nvCxnSpPr>
        <p:spPr>
          <a:xfrm flipH="1">
            <a:off x="8541750" y="4016824"/>
            <a:ext cx="586009" cy="315471"/>
          </a:xfrm>
          <a:prstGeom prst="straightConnector1">
            <a:avLst/>
          </a:prstGeom>
          <a:ln>
            <a:solidFill>
              <a:schemeClr val="tx1">
                <a:lumMod val="75000"/>
                <a:lumOff val="2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9" name="직선 화살표 연결선 58"/>
          <p:cNvCxnSpPr>
            <a:endCxn id="53" idx="9"/>
          </p:cNvCxnSpPr>
          <p:nvPr/>
        </p:nvCxnSpPr>
        <p:spPr>
          <a:xfrm flipH="1" flipV="1">
            <a:off x="8550329" y="3530273"/>
            <a:ext cx="536833" cy="254523"/>
          </a:xfrm>
          <a:prstGeom prst="straightConnector1">
            <a:avLst/>
          </a:prstGeom>
          <a:ln>
            <a:solidFill>
              <a:schemeClr val="tx1">
                <a:lumMod val="75000"/>
                <a:lumOff val="2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0" name="직선 화살표 연결선 59"/>
          <p:cNvCxnSpPr>
            <a:endCxn id="53" idx="11"/>
          </p:cNvCxnSpPr>
          <p:nvPr/>
        </p:nvCxnSpPr>
        <p:spPr>
          <a:xfrm flipH="1" flipV="1">
            <a:off x="9244557" y="3042863"/>
            <a:ext cx="242782" cy="600609"/>
          </a:xfrm>
          <a:prstGeom prst="straightConnector1">
            <a:avLst/>
          </a:prstGeom>
          <a:ln>
            <a:solidFill>
              <a:schemeClr val="tx1">
                <a:lumMod val="75000"/>
                <a:lumOff val="2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직선 화살표 연결선 60"/>
          <p:cNvCxnSpPr>
            <a:endCxn id="53" idx="4"/>
          </p:cNvCxnSpPr>
          <p:nvPr/>
        </p:nvCxnSpPr>
        <p:spPr>
          <a:xfrm flipV="1">
            <a:off x="10241294" y="3588935"/>
            <a:ext cx="533569" cy="195860"/>
          </a:xfrm>
          <a:prstGeom prst="straightConnector1">
            <a:avLst/>
          </a:prstGeom>
          <a:ln>
            <a:solidFill>
              <a:schemeClr val="tx1">
                <a:lumMod val="75000"/>
                <a:lumOff val="2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2" name="직선 연결선 61"/>
          <p:cNvCxnSpPr>
            <a:stCxn id="53" idx="8"/>
          </p:cNvCxnSpPr>
          <p:nvPr/>
        </p:nvCxnSpPr>
        <p:spPr>
          <a:xfrm>
            <a:off x="8541750" y="4332295"/>
            <a:ext cx="1107978" cy="2241958"/>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a:endCxn id="53" idx="5"/>
          </p:cNvCxnSpPr>
          <p:nvPr/>
        </p:nvCxnSpPr>
        <p:spPr>
          <a:xfrm flipV="1">
            <a:off x="9649728" y="4404007"/>
            <a:ext cx="1125136" cy="2170245"/>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a:stCxn id="53" idx="7"/>
          </p:cNvCxnSpPr>
          <p:nvPr/>
        </p:nvCxnSpPr>
        <p:spPr>
          <a:xfrm>
            <a:off x="9184184" y="4847529"/>
            <a:ext cx="465543" cy="1726724"/>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직선 연결선 64"/>
          <p:cNvCxnSpPr/>
          <p:nvPr/>
        </p:nvCxnSpPr>
        <p:spPr>
          <a:xfrm flipH="1">
            <a:off x="9649729" y="4855733"/>
            <a:ext cx="522936" cy="1718517"/>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6" name="직선 연결선 65"/>
          <p:cNvCxnSpPr/>
          <p:nvPr/>
        </p:nvCxnSpPr>
        <p:spPr>
          <a:xfrm>
            <a:off x="9306482" y="5273426"/>
            <a:ext cx="732891" cy="0"/>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flipV="1">
            <a:off x="10037615" y="4956855"/>
            <a:ext cx="455964" cy="321093"/>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8" name="직선 연결선 67"/>
          <p:cNvCxnSpPr/>
          <p:nvPr/>
        </p:nvCxnSpPr>
        <p:spPr>
          <a:xfrm flipH="1" flipV="1">
            <a:off x="8872574" y="4996536"/>
            <a:ext cx="423375" cy="276890"/>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9" name="직선 연결선 68"/>
          <p:cNvCxnSpPr/>
          <p:nvPr/>
        </p:nvCxnSpPr>
        <p:spPr>
          <a:xfrm flipV="1">
            <a:off x="9933826" y="5493955"/>
            <a:ext cx="266785" cy="196582"/>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0" name="직선 연결선 69"/>
          <p:cNvCxnSpPr/>
          <p:nvPr/>
        </p:nvCxnSpPr>
        <p:spPr>
          <a:xfrm>
            <a:off x="9426604" y="5701200"/>
            <a:ext cx="487172" cy="0"/>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1" name="직선 연결선 70"/>
          <p:cNvCxnSpPr/>
          <p:nvPr/>
        </p:nvCxnSpPr>
        <p:spPr>
          <a:xfrm flipH="1" flipV="1">
            <a:off x="9127758" y="5493955"/>
            <a:ext cx="289198" cy="212654"/>
          </a:xfrm>
          <a:prstGeom prst="line">
            <a:avLst/>
          </a:prstGeom>
          <a:ln>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2" name="직선 연결선 71"/>
          <p:cNvCxnSpPr/>
          <p:nvPr/>
        </p:nvCxnSpPr>
        <p:spPr>
          <a:xfrm>
            <a:off x="10880432" y="3899340"/>
            <a:ext cx="632585" cy="0"/>
          </a:xfrm>
          <a:prstGeom prst="line">
            <a:avLst/>
          </a:prstGeom>
          <a:ln>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3" name="직선 연결선 72"/>
          <p:cNvCxnSpPr/>
          <p:nvPr/>
        </p:nvCxnSpPr>
        <p:spPr>
          <a:xfrm>
            <a:off x="9700532" y="6574250"/>
            <a:ext cx="1812484" cy="0"/>
          </a:xfrm>
          <a:prstGeom prst="line">
            <a:avLst/>
          </a:prstGeom>
          <a:ln>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4" name="직선 연결선 73"/>
          <p:cNvCxnSpPr/>
          <p:nvPr/>
        </p:nvCxnSpPr>
        <p:spPr>
          <a:xfrm flipV="1">
            <a:off x="11205975" y="3899340"/>
            <a:ext cx="0" cy="2674910"/>
          </a:xfrm>
          <a:prstGeom prst="line">
            <a:avLst/>
          </a:prstGeom>
          <a:ln w="28575">
            <a:solidFill>
              <a:schemeClr val="bg1">
                <a:lumMod val="50000"/>
              </a:schemeClr>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5" name="직선 연결선 74"/>
          <p:cNvCxnSpPr/>
          <p:nvPr/>
        </p:nvCxnSpPr>
        <p:spPr>
          <a:xfrm flipV="1">
            <a:off x="8551844" y="2413007"/>
            <a:ext cx="0" cy="1015823"/>
          </a:xfrm>
          <a:prstGeom prst="line">
            <a:avLst/>
          </a:prstGeom>
          <a:ln>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6" name="직선 연결선 75"/>
          <p:cNvCxnSpPr/>
          <p:nvPr/>
        </p:nvCxnSpPr>
        <p:spPr>
          <a:xfrm flipV="1">
            <a:off x="10782264" y="2413007"/>
            <a:ext cx="0" cy="1055151"/>
          </a:xfrm>
          <a:prstGeom prst="line">
            <a:avLst/>
          </a:prstGeom>
          <a:ln>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7" name="직선 연결선 76"/>
          <p:cNvCxnSpPr/>
          <p:nvPr/>
        </p:nvCxnSpPr>
        <p:spPr>
          <a:xfrm>
            <a:off x="8551844" y="2668218"/>
            <a:ext cx="2223019" cy="0"/>
          </a:xfrm>
          <a:prstGeom prst="line">
            <a:avLst/>
          </a:prstGeom>
          <a:ln w="28575">
            <a:solidFill>
              <a:schemeClr val="bg1">
                <a:lumMod val="50000"/>
              </a:schemeClr>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타원 77"/>
          <p:cNvSpPr/>
          <p:nvPr/>
        </p:nvSpPr>
        <p:spPr>
          <a:xfrm>
            <a:off x="10660224" y="4805006"/>
            <a:ext cx="1091503" cy="50201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rPr>
              <a:t>발명의 </a:t>
            </a:r>
            <a:endParaRPr kumimoji="0" lang="en-US" altLang="ko-KR" sz="14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rPr>
              <a:t>수직적 </a:t>
            </a:r>
            <a:endParaRPr kumimoji="0" lang="en-US" altLang="ko-KR" sz="14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rPr>
              <a:t>확장</a:t>
            </a:r>
          </a:p>
        </p:txBody>
      </p:sp>
      <p:sp>
        <p:nvSpPr>
          <p:cNvPr id="42" name="TextBox 41"/>
          <p:cNvSpPr txBox="1"/>
          <p:nvPr/>
        </p:nvSpPr>
        <p:spPr>
          <a:xfrm>
            <a:off x="9044917" y="2814013"/>
            <a:ext cx="498957" cy="218384"/>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rPr>
              <a:t>용도</a:t>
            </a:r>
          </a:p>
        </p:txBody>
      </p:sp>
      <p:sp>
        <p:nvSpPr>
          <p:cNvPr id="43" name="직사각형 42"/>
          <p:cNvSpPr/>
          <p:nvPr/>
        </p:nvSpPr>
        <p:spPr>
          <a:xfrm>
            <a:off x="8818745" y="2506234"/>
            <a:ext cx="1642859" cy="307777"/>
          </a:xfrm>
          <a:prstGeom prst="rect">
            <a:avLst/>
          </a:prstGeom>
          <a:solidFill>
            <a:schemeClr val="bg1"/>
          </a:solidFill>
        </p:spPr>
        <p:txBody>
          <a:bodyPr wrap="square">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rPr>
              <a:t>발명의 수평적 확장</a:t>
            </a:r>
          </a:p>
        </p:txBody>
      </p:sp>
      <p:sp>
        <p:nvSpPr>
          <p:cNvPr id="44" name="TextBox 43"/>
          <p:cNvSpPr txBox="1"/>
          <p:nvPr/>
        </p:nvSpPr>
        <p:spPr>
          <a:xfrm>
            <a:off x="9964700" y="2822480"/>
            <a:ext cx="415498"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rPr>
              <a:t>형상</a:t>
            </a:r>
          </a:p>
        </p:txBody>
      </p:sp>
      <p:sp>
        <p:nvSpPr>
          <p:cNvPr id="45" name="TextBox 44"/>
          <p:cNvSpPr txBox="1"/>
          <p:nvPr/>
        </p:nvSpPr>
        <p:spPr>
          <a:xfrm>
            <a:off x="10774863" y="3342214"/>
            <a:ext cx="415498"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rPr>
              <a:t>구조</a:t>
            </a:r>
          </a:p>
        </p:txBody>
      </p:sp>
      <p:sp>
        <p:nvSpPr>
          <p:cNvPr id="46" name="TextBox 45"/>
          <p:cNvSpPr txBox="1"/>
          <p:nvPr/>
        </p:nvSpPr>
        <p:spPr>
          <a:xfrm>
            <a:off x="10774863" y="4347169"/>
            <a:ext cx="415498"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rPr>
              <a:t>물질</a:t>
            </a:r>
          </a:p>
        </p:txBody>
      </p:sp>
      <p:sp>
        <p:nvSpPr>
          <p:cNvPr id="47" name="TextBox 46"/>
          <p:cNvSpPr txBox="1"/>
          <p:nvPr/>
        </p:nvSpPr>
        <p:spPr>
          <a:xfrm>
            <a:off x="9848922" y="4868815"/>
            <a:ext cx="776156" cy="218384"/>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rPr>
              <a:t>사용방법</a:t>
            </a:r>
          </a:p>
        </p:txBody>
      </p:sp>
      <p:sp>
        <p:nvSpPr>
          <p:cNvPr id="48" name="TextBox 47"/>
          <p:cNvSpPr txBox="1"/>
          <p:nvPr/>
        </p:nvSpPr>
        <p:spPr>
          <a:xfrm>
            <a:off x="8940968" y="4877081"/>
            <a:ext cx="776156" cy="218384"/>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rPr>
              <a:t>제조방법</a:t>
            </a:r>
          </a:p>
        </p:txBody>
      </p:sp>
      <p:sp>
        <p:nvSpPr>
          <p:cNvPr id="49" name="TextBox 48"/>
          <p:cNvSpPr txBox="1"/>
          <p:nvPr/>
        </p:nvSpPr>
        <p:spPr>
          <a:xfrm>
            <a:off x="8227575" y="3344110"/>
            <a:ext cx="498957" cy="218384"/>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rPr>
              <a:t>기능</a:t>
            </a:r>
          </a:p>
        </p:txBody>
      </p:sp>
      <p:sp>
        <p:nvSpPr>
          <p:cNvPr id="50" name="TextBox 49"/>
          <p:cNvSpPr txBox="1"/>
          <p:nvPr/>
        </p:nvSpPr>
        <p:spPr>
          <a:xfrm>
            <a:off x="8210641" y="4332131"/>
            <a:ext cx="415498"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prstClr val="black"/>
                </a:solidFill>
                <a:effectLst/>
                <a:uLnTx/>
                <a:uFillTx/>
                <a:latin typeface="Rix모던고딕 B" panose="02020603020101020101" pitchFamily="18" charset="-127"/>
                <a:ea typeface="Rix모던고딕 B" panose="02020603020101020101" pitchFamily="18" charset="-127"/>
                <a:cs typeface="+mn-cs"/>
              </a:rPr>
              <a:t>재질</a:t>
            </a:r>
            <a:endParaRPr kumimoji="0" lang="ko-KR" altLang="en-US" sz="1000" b="0" i="0" u="none" strike="noStrike" kern="1200" cap="none" spc="0" normalizeH="0" baseline="0" noProof="0" dirty="0">
              <a:ln>
                <a:noFill/>
              </a:ln>
              <a:solidFill>
                <a:prstClr val="black"/>
              </a:solidFill>
              <a:effectLst/>
              <a:uLnTx/>
              <a:uFillTx/>
              <a:latin typeface="Rix모던고딕 B" panose="02020603020101020101" pitchFamily="18" charset="-127"/>
              <a:ea typeface="Rix모던고딕 B" panose="02020603020101020101" pitchFamily="18" charset="-127"/>
              <a:cs typeface="+mn-cs"/>
            </a:endParaRPr>
          </a:p>
        </p:txBody>
      </p:sp>
      <p:cxnSp>
        <p:nvCxnSpPr>
          <p:cNvPr id="51" name="직선 연결선 50"/>
          <p:cNvCxnSpPr>
            <a:stCxn id="53" idx="10"/>
            <a:endCxn id="53" idx="1"/>
          </p:cNvCxnSpPr>
          <p:nvPr/>
        </p:nvCxnSpPr>
        <p:spPr>
          <a:xfrm flipV="1">
            <a:off x="9218926" y="3039008"/>
            <a:ext cx="16408" cy="1232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130</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pic>
        <p:nvPicPr>
          <p:cNvPr id="79" name="Picture 4">
            <a:extLst>
              <a:ext uri="{FF2B5EF4-FFF2-40B4-BE49-F238E27FC236}">
                <a16:creationId xmlns:a16="http://schemas.microsoft.com/office/drawing/2014/main" id="{06B9C185-DD2F-496C-8588-B414FA71F801}"/>
              </a:ext>
            </a:extLst>
          </p:cNvPr>
          <p:cNvPicPr>
            <a:picLocks noChangeAspect="1" noChangeArrowheads="1"/>
          </p:cNvPicPr>
          <p:nvPr/>
        </p:nvPicPr>
        <p:blipFill>
          <a:blip r:embed="rId3" cstate="print">
            <a:extLst>
              <a:ext uri="{BEBA8EAE-BF5A-486C-A8C5-ECC9F3942E4B}">
                <a14:imgProps xmlns:a14="http://schemas.microsoft.com/office/drawing/2010/main">
                  <a14:imgLayer r:embed="rId4">
                    <a14:imgEffect>
                      <a14:artisticPaintBrush/>
                    </a14:imgEffect>
                  </a14:imgLayer>
                </a14:imgProps>
              </a:ext>
            </a:extLst>
          </a:blip>
          <a:srcRect/>
          <a:stretch>
            <a:fillRect/>
          </a:stretch>
        </p:blipFill>
        <p:spPr bwMode="auto">
          <a:xfrm>
            <a:off x="180418" y="3368675"/>
            <a:ext cx="504825" cy="2190750"/>
          </a:xfrm>
          <a:prstGeom prst="rect">
            <a:avLst/>
          </a:prstGeom>
          <a:noFill/>
          <a:ln w="28575" algn="ctr">
            <a:noFill/>
            <a:miter lim="800000"/>
            <a:headEnd/>
            <a:tailEnd/>
          </a:ln>
        </p:spPr>
      </p:pic>
      <p:sp>
        <p:nvSpPr>
          <p:cNvPr id="5" name="TextBox 4">
            <a:extLst>
              <a:ext uri="{FF2B5EF4-FFF2-40B4-BE49-F238E27FC236}">
                <a16:creationId xmlns:a16="http://schemas.microsoft.com/office/drawing/2014/main" id="{2D0C02C0-09C0-DCD7-8FAF-A2654F9E1B75}"/>
              </a:ext>
            </a:extLst>
          </p:cNvPr>
          <p:cNvSpPr txBox="1"/>
          <p:nvPr/>
        </p:nvSpPr>
        <p:spPr>
          <a:xfrm>
            <a:off x="9250666" y="2140350"/>
            <a:ext cx="809837"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err="1">
                <a:ln>
                  <a:noFill/>
                </a:ln>
                <a:solidFill>
                  <a:srgbClr val="FF0000"/>
                </a:solidFill>
                <a:effectLst/>
                <a:uLnTx/>
                <a:uFillTx/>
                <a:latin typeface="Frutiger LT 65 Bold"/>
                <a:ea typeface="Rix모던고딕 B"/>
                <a:cs typeface="+mn-cs"/>
              </a:rPr>
              <a:t>독립항</a:t>
            </a:r>
            <a:endPar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6" name="TextBox 5">
            <a:extLst>
              <a:ext uri="{FF2B5EF4-FFF2-40B4-BE49-F238E27FC236}">
                <a16:creationId xmlns:a16="http://schemas.microsoft.com/office/drawing/2014/main" id="{3D28574F-2774-F69B-C002-74BF561A5039}"/>
              </a:ext>
            </a:extLst>
          </p:cNvPr>
          <p:cNvSpPr txBox="1"/>
          <p:nvPr/>
        </p:nvSpPr>
        <p:spPr>
          <a:xfrm>
            <a:off x="10801056" y="5415616"/>
            <a:ext cx="809837"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err="1">
                <a:ln>
                  <a:noFill/>
                </a:ln>
                <a:solidFill>
                  <a:srgbClr val="FF0000"/>
                </a:solidFill>
                <a:effectLst/>
                <a:uLnTx/>
                <a:uFillTx/>
                <a:latin typeface="Frutiger LT 65 Bold"/>
                <a:ea typeface="Rix모던고딕 B"/>
                <a:cs typeface="+mn-cs"/>
              </a:rPr>
              <a:t>종속항</a:t>
            </a:r>
            <a:endPar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Tree>
    <p:extLst>
      <p:ext uri="{BB962C8B-B14F-4D97-AF65-F5344CB8AC3E}">
        <p14:creationId xmlns:p14="http://schemas.microsoft.com/office/powerpoint/2010/main" val="4158856509"/>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ko-KR" altLang="en-US" dirty="0"/>
              <a:t>제</a:t>
            </a:r>
            <a:r>
              <a:rPr lang="en-US" altLang="ko-KR" dirty="0"/>
              <a:t>42</a:t>
            </a:r>
            <a:r>
              <a:rPr lang="ko-KR" altLang="en-US" dirty="0"/>
              <a:t>조제</a:t>
            </a:r>
            <a:r>
              <a:rPr lang="en-US" altLang="ko-KR" dirty="0"/>
              <a:t>8</a:t>
            </a:r>
            <a:r>
              <a:rPr lang="ko-KR" altLang="en-US" dirty="0"/>
              <a:t>항에 따른 시행령 제</a:t>
            </a:r>
            <a:r>
              <a:rPr lang="en-US" altLang="ko-KR" dirty="0"/>
              <a:t>5</a:t>
            </a:r>
            <a:r>
              <a:rPr lang="ko-KR" altLang="en-US" dirty="0"/>
              <a:t>조</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131</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35" name="타원 34">
            <a:extLst>
              <a:ext uri="{FF2B5EF4-FFF2-40B4-BE49-F238E27FC236}">
                <a16:creationId xmlns:a16="http://schemas.microsoft.com/office/drawing/2014/main" id="{088D0CC0-7D47-4704-9321-806A22471F89}"/>
              </a:ext>
            </a:extLst>
          </p:cNvPr>
          <p:cNvSpPr/>
          <p:nvPr/>
        </p:nvSpPr>
        <p:spPr>
          <a:xfrm>
            <a:off x="259658" y="1761180"/>
            <a:ext cx="267417" cy="267417"/>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44546A"/>
                </a:solidFill>
                <a:effectLst/>
                <a:uLnTx/>
                <a:uFillTx/>
                <a:latin typeface="Frutiger LT 65 Bold"/>
                <a:ea typeface="Rix모던고딕 B"/>
                <a:cs typeface="+mn-cs"/>
              </a:rPr>
              <a:t>1</a:t>
            </a:r>
            <a:endParaRPr kumimoji="0" lang="ko-KR" altLang="en-US" sz="18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39" name="TextBox 38">
            <a:extLst>
              <a:ext uri="{FF2B5EF4-FFF2-40B4-BE49-F238E27FC236}">
                <a16:creationId xmlns:a16="http://schemas.microsoft.com/office/drawing/2014/main" id="{D5514AAC-B46D-4B6E-9971-7430750ED9C5}"/>
              </a:ext>
            </a:extLst>
          </p:cNvPr>
          <p:cNvSpPr txBox="1"/>
          <p:nvPr/>
        </p:nvSpPr>
        <p:spPr>
          <a:xfrm>
            <a:off x="640512" y="1539532"/>
            <a:ext cx="5455488" cy="769441"/>
          </a:xfrm>
          <a:prstGeom prst="rect">
            <a:avLst/>
          </a:prstGeom>
          <a:solidFill>
            <a:schemeClr val="bg1">
              <a:lumMod val="95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법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42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8</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항에 따른 청구범위의 청구항</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이하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청구항</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이라 한다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을 기재할 때에는 독립청구항</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이하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독립항</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이라 한다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을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기재하여야 하며</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그 독립항을 한정하거나 부가하여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구체화</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하는 종속청구항</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이하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종속항</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이라 한다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을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기재할 수 있다</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 경우 필요한 때에는 그 종속항을 한정하거나 부가하여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구체화</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하는 다른 종속항을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기재할 수 있다</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 </a:t>
            </a:r>
          </a:p>
        </p:txBody>
      </p:sp>
      <p:sp>
        <p:nvSpPr>
          <p:cNvPr id="40" name="타원 39">
            <a:extLst>
              <a:ext uri="{FF2B5EF4-FFF2-40B4-BE49-F238E27FC236}">
                <a16:creationId xmlns:a16="http://schemas.microsoft.com/office/drawing/2014/main" id="{016216A3-ECBB-4D00-80BD-8FE58E987A4B}"/>
              </a:ext>
            </a:extLst>
          </p:cNvPr>
          <p:cNvSpPr/>
          <p:nvPr/>
        </p:nvSpPr>
        <p:spPr>
          <a:xfrm>
            <a:off x="259658" y="2397480"/>
            <a:ext cx="267417" cy="267417"/>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44546A"/>
                </a:solidFill>
                <a:effectLst/>
                <a:uLnTx/>
                <a:uFillTx/>
                <a:latin typeface="Frutiger LT 65 Bold"/>
                <a:ea typeface="Rix모던고딕 B"/>
                <a:cs typeface="+mn-cs"/>
              </a:rPr>
              <a:t>2</a:t>
            </a:r>
            <a:endParaRPr kumimoji="0" lang="ko-KR" altLang="en-US" sz="18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41" name="TextBox 40">
            <a:extLst>
              <a:ext uri="{FF2B5EF4-FFF2-40B4-BE49-F238E27FC236}">
                <a16:creationId xmlns:a16="http://schemas.microsoft.com/office/drawing/2014/main" id="{5C2BCF54-CF0F-4EEB-9F56-0FC733AF1C50}"/>
              </a:ext>
            </a:extLst>
          </p:cNvPr>
          <p:cNvSpPr txBox="1"/>
          <p:nvPr/>
        </p:nvSpPr>
        <p:spPr>
          <a:xfrm>
            <a:off x="640512" y="2397480"/>
            <a:ext cx="5455488" cy="261610"/>
          </a:xfrm>
          <a:prstGeom prst="rect">
            <a:avLst/>
          </a:prstGeom>
          <a:solidFill>
            <a:schemeClr val="bg1">
              <a:lumMod val="95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청구항은 발명의 성질에 따라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적정한 수</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로 기재하여야 한다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p>
        </p:txBody>
      </p:sp>
      <p:sp>
        <p:nvSpPr>
          <p:cNvPr id="42" name="타원 41">
            <a:extLst>
              <a:ext uri="{FF2B5EF4-FFF2-40B4-BE49-F238E27FC236}">
                <a16:creationId xmlns:a16="http://schemas.microsoft.com/office/drawing/2014/main" id="{C4689F65-FEF9-40A4-A1A1-7FA4ED5177A6}"/>
              </a:ext>
            </a:extLst>
          </p:cNvPr>
          <p:cNvSpPr/>
          <p:nvPr/>
        </p:nvSpPr>
        <p:spPr>
          <a:xfrm>
            <a:off x="259658" y="2857271"/>
            <a:ext cx="267417" cy="267417"/>
          </a:xfrm>
          <a:prstGeom prst="ellipse">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3</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43" name="TextBox 42">
            <a:extLst>
              <a:ext uri="{FF2B5EF4-FFF2-40B4-BE49-F238E27FC236}">
                <a16:creationId xmlns:a16="http://schemas.microsoft.com/office/drawing/2014/main" id="{4C0D6360-1A2D-4BAB-9425-D5C76CFD006D}"/>
              </a:ext>
            </a:extLst>
          </p:cNvPr>
          <p:cNvSpPr txBox="1"/>
          <p:nvPr/>
        </p:nvSpPr>
        <p:spPr>
          <a:xfrm>
            <a:off x="640512" y="2762385"/>
            <a:ext cx="5455488" cy="430887"/>
          </a:xfrm>
          <a:prstGeom prst="rect">
            <a:avLst/>
          </a:prstGeom>
          <a:solidFill>
            <a:schemeClr val="bg1">
              <a:lumMod val="95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종속항은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독립항</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또는 다른 종속항을 한정하거나 부가하여 구체화하는데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필요한 수</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로 기재하여야 한다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44" name="타원 43">
            <a:extLst>
              <a:ext uri="{FF2B5EF4-FFF2-40B4-BE49-F238E27FC236}">
                <a16:creationId xmlns:a16="http://schemas.microsoft.com/office/drawing/2014/main" id="{2DB13D62-C755-4FF8-9A1F-0F4EF9CD078D}"/>
              </a:ext>
            </a:extLst>
          </p:cNvPr>
          <p:cNvSpPr/>
          <p:nvPr/>
        </p:nvSpPr>
        <p:spPr>
          <a:xfrm>
            <a:off x="259658" y="3275740"/>
            <a:ext cx="267417" cy="267417"/>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44546A"/>
                </a:solidFill>
                <a:effectLst/>
                <a:uLnTx/>
                <a:uFillTx/>
                <a:latin typeface="Frutiger LT 65 Bold"/>
                <a:ea typeface="Rix모던고딕 B"/>
                <a:cs typeface="+mn-cs"/>
              </a:rPr>
              <a:t>4</a:t>
            </a:r>
            <a:endParaRPr kumimoji="0" lang="ko-KR" altLang="en-US" sz="18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45" name="TextBox 44">
            <a:extLst>
              <a:ext uri="{FF2B5EF4-FFF2-40B4-BE49-F238E27FC236}">
                <a16:creationId xmlns:a16="http://schemas.microsoft.com/office/drawing/2014/main" id="{36E2AD75-9D10-49EF-8624-6F2BB5C70581}"/>
              </a:ext>
            </a:extLst>
          </p:cNvPr>
          <p:cNvSpPr txBox="1"/>
          <p:nvPr/>
        </p:nvSpPr>
        <p:spPr>
          <a:xfrm>
            <a:off x="640512" y="3275740"/>
            <a:ext cx="5455488" cy="261610"/>
          </a:xfrm>
          <a:prstGeom prst="rect">
            <a:avLst/>
          </a:prstGeom>
          <a:solidFill>
            <a:schemeClr val="bg1">
              <a:lumMod val="95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다른 청구항을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인용하는 청구항</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은 인용되는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항의 번호</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를 적어야 한다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46" name="타원 45">
            <a:extLst>
              <a:ext uri="{FF2B5EF4-FFF2-40B4-BE49-F238E27FC236}">
                <a16:creationId xmlns:a16="http://schemas.microsoft.com/office/drawing/2014/main" id="{9866DB19-DE31-4C4D-866C-E8CFC375A089}"/>
              </a:ext>
            </a:extLst>
          </p:cNvPr>
          <p:cNvSpPr/>
          <p:nvPr/>
        </p:nvSpPr>
        <p:spPr>
          <a:xfrm>
            <a:off x="259658" y="3667979"/>
            <a:ext cx="267417" cy="267417"/>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44546A"/>
                </a:solidFill>
                <a:effectLst/>
                <a:uLnTx/>
                <a:uFillTx/>
                <a:latin typeface="Frutiger LT 65 Bold"/>
                <a:ea typeface="Rix모던고딕 B"/>
                <a:cs typeface="+mn-cs"/>
              </a:rPr>
              <a:t>5</a:t>
            </a:r>
            <a:endParaRPr kumimoji="0" lang="ko-KR" altLang="en-US" sz="18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47" name="TextBox 46">
            <a:extLst>
              <a:ext uri="{FF2B5EF4-FFF2-40B4-BE49-F238E27FC236}">
                <a16:creationId xmlns:a16="http://schemas.microsoft.com/office/drawing/2014/main" id="{E01B6394-A893-4F02-AEF9-B681CF53A26D}"/>
              </a:ext>
            </a:extLst>
          </p:cNvPr>
          <p:cNvSpPr txBox="1"/>
          <p:nvPr/>
        </p:nvSpPr>
        <p:spPr>
          <a:xfrm>
            <a:off x="640512" y="3667979"/>
            <a:ext cx="5455488" cy="261610"/>
          </a:xfrm>
          <a:prstGeom prst="rect">
            <a:avLst/>
          </a:prstGeom>
          <a:solidFill>
            <a:schemeClr val="bg1">
              <a:lumMod val="95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2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이상의 항을 인용하는 청구항</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은 인용되는 항의 번호를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택일적</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으로 기재하여야 한다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48" name="타원 47">
            <a:extLst>
              <a:ext uri="{FF2B5EF4-FFF2-40B4-BE49-F238E27FC236}">
                <a16:creationId xmlns:a16="http://schemas.microsoft.com/office/drawing/2014/main" id="{F3033300-6EAE-4B40-A53F-6B33F902F82F}"/>
              </a:ext>
            </a:extLst>
          </p:cNvPr>
          <p:cNvSpPr/>
          <p:nvPr/>
        </p:nvSpPr>
        <p:spPr>
          <a:xfrm>
            <a:off x="259658" y="4311851"/>
            <a:ext cx="267417" cy="267417"/>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44546A"/>
                </a:solidFill>
                <a:effectLst/>
                <a:uLnTx/>
                <a:uFillTx/>
                <a:latin typeface="Frutiger LT 65 Bold"/>
                <a:ea typeface="Rix모던고딕 B"/>
                <a:cs typeface="+mn-cs"/>
              </a:rPr>
              <a:t>6</a:t>
            </a:r>
            <a:endParaRPr kumimoji="0" lang="ko-KR" altLang="en-US" sz="18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49" name="TextBox 48">
            <a:extLst>
              <a:ext uri="{FF2B5EF4-FFF2-40B4-BE49-F238E27FC236}">
                <a16:creationId xmlns:a16="http://schemas.microsoft.com/office/drawing/2014/main" id="{EAA6CF38-C999-4913-8738-014A0A8C323F}"/>
              </a:ext>
            </a:extLst>
          </p:cNvPr>
          <p:cNvSpPr txBox="1"/>
          <p:nvPr/>
        </p:nvSpPr>
        <p:spPr>
          <a:xfrm>
            <a:off x="640512" y="4056420"/>
            <a:ext cx="5455488" cy="769441"/>
          </a:xfrm>
          <a:prstGeom prst="rect">
            <a:avLst/>
          </a:prstGeom>
          <a:solidFill>
            <a:schemeClr val="bg1">
              <a:lumMod val="95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2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이상의 항을 인용한 청구항</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에서 그 청구항의 인용된 항은 다시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이상의 항을 인용하는 방식을 사용하여서는 아니 된다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2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이상의 항을 인용한 청구항</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에서 그 청구항의 인용된 항이 다시 하나의 항을 인용한 후에 그 하나의 항이 결과적으로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이상의 항을 인용하는 방식에 대하여도 또한 같다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50" name="타원 49">
            <a:extLst>
              <a:ext uri="{FF2B5EF4-FFF2-40B4-BE49-F238E27FC236}">
                <a16:creationId xmlns:a16="http://schemas.microsoft.com/office/drawing/2014/main" id="{06E5C684-6E20-41EE-9E08-0ECFDD8A3C56}"/>
              </a:ext>
            </a:extLst>
          </p:cNvPr>
          <p:cNvSpPr/>
          <p:nvPr/>
        </p:nvSpPr>
        <p:spPr>
          <a:xfrm>
            <a:off x="259658" y="4934159"/>
            <a:ext cx="267417" cy="267417"/>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44546A"/>
                </a:solidFill>
                <a:effectLst/>
                <a:uLnTx/>
                <a:uFillTx/>
                <a:latin typeface="Frutiger LT 65 Bold"/>
                <a:ea typeface="Rix모던고딕 B"/>
                <a:cs typeface="+mn-cs"/>
              </a:rPr>
              <a:t>7</a:t>
            </a:r>
            <a:endParaRPr kumimoji="0" lang="ko-KR" altLang="en-US" sz="18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51" name="TextBox 50">
            <a:extLst>
              <a:ext uri="{FF2B5EF4-FFF2-40B4-BE49-F238E27FC236}">
                <a16:creationId xmlns:a16="http://schemas.microsoft.com/office/drawing/2014/main" id="{5C4569E2-4315-4F92-A20C-05E9CD1F82D3}"/>
              </a:ext>
            </a:extLst>
          </p:cNvPr>
          <p:cNvSpPr txBox="1"/>
          <p:nvPr/>
        </p:nvSpPr>
        <p:spPr>
          <a:xfrm>
            <a:off x="640512" y="4947099"/>
            <a:ext cx="5455488" cy="261610"/>
          </a:xfrm>
          <a:prstGeom prst="rect">
            <a:avLst/>
          </a:prstGeom>
          <a:solidFill>
            <a:schemeClr val="bg1">
              <a:lumMod val="95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인용되는 청구항은 인용하는 청구항보다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먼저 기재</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하여야 한다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p>
        </p:txBody>
      </p:sp>
      <p:sp>
        <p:nvSpPr>
          <p:cNvPr id="52" name="타원 51">
            <a:extLst>
              <a:ext uri="{FF2B5EF4-FFF2-40B4-BE49-F238E27FC236}">
                <a16:creationId xmlns:a16="http://schemas.microsoft.com/office/drawing/2014/main" id="{5C79B939-ACB8-468D-8F57-E8CD495AC6A9}"/>
              </a:ext>
            </a:extLst>
          </p:cNvPr>
          <p:cNvSpPr/>
          <p:nvPr/>
        </p:nvSpPr>
        <p:spPr>
          <a:xfrm>
            <a:off x="259658" y="5452950"/>
            <a:ext cx="267417" cy="267417"/>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44546A"/>
                </a:solidFill>
                <a:effectLst/>
                <a:uLnTx/>
                <a:uFillTx/>
                <a:latin typeface="Frutiger LT 65 Bold"/>
                <a:ea typeface="Rix모던고딕 B"/>
                <a:cs typeface="+mn-cs"/>
              </a:rPr>
              <a:t>8</a:t>
            </a:r>
            <a:endParaRPr kumimoji="0" lang="ko-KR" altLang="en-US" sz="18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53" name="TextBox 52">
            <a:extLst>
              <a:ext uri="{FF2B5EF4-FFF2-40B4-BE49-F238E27FC236}">
                <a16:creationId xmlns:a16="http://schemas.microsoft.com/office/drawing/2014/main" id="{55FCCDD0-34D7-4EA6-AFC3-83DB9A054A78}"/>
              </a:ext>
            </a:extLst>
          </p:cNvPr>
          <p:cNvSpPr txBox="1"/>
          <p:nvPr/>
        </p:nvSpPr>
        <p:spPr>
          <a:xfrm>
            <a:off x="640512" y="5342428"/>
            <a:ext cx="5455488" cy="430887"/>
          </a:xfrm>
          <a:prstGeom prst="rect">
            <a:avLst/>
          </a:prstGeom>
          <a:solidFill>
            <a:schemeClr val="bg1">
              <a:lumMod val="95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각 청구항은 항마다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행을 바꾸어 기재</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하고</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그 기재하는 순서에 따라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아라비아숫자로 일련번호를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붙여야 한다</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54" name="TextBox 53">
            <a:extLst>
              <a:ext uri="{FF2B5EF4-FFF2-40B4-BE49-F238E27FC236}">
                <a16:creationId xmlns:a16="http://schemas.microsoft.com/office/drawing/2014/main" id="{12A2C8EF-A37F-4A69-8546-FDCA150DAB37}"/>
              </a:ext>
            </a:extLst>
          </p:cNvPr>
          <p:cNvSpPr txBox="1"/>
          <p:nvPr/>
        </p:nvSpPr>
        <p:spPr>
          <a:xfrm>
            <a:off x="6476854" y="991747"/>
            <a:ext cx="5455488" cy="1107996"/>
          </a:xfrm>
          <a:prstGeom prst="rect">
            <a:avLst/>
          </a:prstGeom>
          <a:noFill/>
          <a:ln>
            <a:solidFill>
              <a:schemeClr val="bg1">
                <a:lumMod val="50000"/>
              </a:schemeClr>
            </a:solidFill>
          </a:ln>
        </p:spPr>
        <p:txBody>
          <a:bodyPr wrap="square">
            <a:spAutoFit/>
          </a:bodyPr>
          <a:lstStyle/>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독립항은 필수</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종속항은 임의</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독립항은 넓이를 표현하는 것으로서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모든 실시유형 포섭될 수 있도록 넓게 기재</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다기재협범위의</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원칙</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종속항은 깊이를 표현하는 것으로서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독자적으로 신규성</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진보성 위반을 극복할 수 있는 구성요소를 기재</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종속항은 구체화한 청구항으로서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한정하여 구체화와 부가하여 구체화로 구분됨</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 name="연결선: 꺾임 6">
            <a:extLst>
              <a:ext uri="{FF2B5EF4-FFF2-40B4-BE49-F238E27FC236}">
                <a16:creationId xmlns:a16="http://schemas.microsoft.com/office/drawing/2014/main" id="{6533FE3E-CF2E-4C89-AA04-C92595C79FBB}"/>
              </a:ext>
            </a:extLst>
          </p:cNvPr>
          <p:cNvCxnSpPr>
            <a:stCxn id="39" idx="3"/>
            <a:endCxn id="54" idx="1"/>
          </p:cNvCxnSpPr>
          <p:nvPr/>
        </p:nvCxnSpPr>
        <p:spPr>
          <a:xfrm flipV="1">
            <a:off x="6096000" y="1545745"/>
            <a:ext cx="380854" cy="37850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BE7337AE-F9BD-4E7F-AFA1-C47CBE2300F9}"/>
              </a:ext>
            </a:extLst>
          </p:cNvPr>
          <p:cNvSpPr txBox="1"/>
          <p:nvPr/>
        </p:nvSpPr>
        <p:spPr>
          <a:xfrm>
            <a:off x="6476854" y="2128803"/>
            <a:ext cx="5455488" cy="600164"/>
          </a:xfrm>
          <a:prstGeom prst="rect">
            <a:avLst/>
          </a:prstGeom>
          <a:noFill/>
          <a:ln>
            <a:solidFill>
              <a:schemeClr val="bg1">
                <a:lumMod val="50000"/>
              </a:schemeClr>
            </a:solidFill>
          </a:ln>
        </p:spPr>
        <p:txBody>
          <a:bodyPr wrap="square">
            <a:spAutoFit/>
          </a:bodyPr>
          <a:lstStyle/>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하나의 청구항에 카테고리가 다른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이상의 발명을 기재하거나 청구하는 대상이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이상인 경우와 같이 법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호에 따라 하나의 실시유형으로 포섭할 수 </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없는</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기재를 하는 경우 시행령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5</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항 적용</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0" name="연결선: 꺾임 9">
            <a:extLst>
              <a:ext uri="{FF2B5EF4-FFF2-40B4-BE49-F238E27FC236}">
                <a16:creationId xmlns:a16="http://schemas.microsoft.com/office/drawing/2014/main" id="{7E80ACFB-1B63-4C80-B9D9-2D55D6D48A46}"/>
              </a:ext>
            </a:extLst>
          </p:cNvPr>
          <p:cNvCxnSpPr>
            <a:stCxn id="41" idx="3"/>
            <a:endCxn id="58" idx="1"/>
          </p:cNvCxnSpPr>
          <p:nvPr/>
        </p:nvCxnSpPr>
        <p:spPr>
          <a:xfrm flipV="1">
            <a:off x="6096000" y="2428885"/>
            <a:ext cx="380854" cy="994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45797070-4A5A-480A-8E1A-37204240F166}"/>
              </a:ext>
            </a:extLst>
          </p:cNvPr>
          <p:cNvSpPr txBox="1"/>
          <p:nvPr/>
        </p:nvSpPr>
        <p:spPr>
          <a:xfrm>
            <a:off x="6476854" y="2775275"/>
            <a:ext cx="5455488" cy="600164"/>
          </a:xfrm>
          <a:prstGeom prst="rect">
            <a:avLst/>
          </a:prstGeom>
          <a:noFill/>
          <a:ln>
            <a:solidFill>
              <a:schemeClr val="bg1">
                <a:lumMod val="50000"/>
              </a:schemeClr>
            </a:solidFill>
          </a:ln>
        </p:spPr>
        <p:txBody>
          <a:bodyPr wrap="square">
            <a:spAutoFit/>
          </a:bodyPr>
          <a:lstStyle/>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발명이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중복기재되어</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있다고 할지라도 적법하다는 판결</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(94</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1558)</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 나온 후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1999.6.30.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삭제됨</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현재 중복기재</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100" b="0" i="0" u="none" strike="noStrike" kern="1200" cap="none" spc="0" normalizeH="0" baseline="0" noProof="0" dirty="0" err="1">
                <a:ln>
                  <a:noFill/>
                </a:ln>
                <a:solidFill>
                  <a:srgbClr val="FF0000"/>
                </a:solidFill>
                <a:effectLst/>
                <a:uLnTx/>
                <a:uFillTx/>
                <a:latin typeface="Frutiger LT 65 Bold"/>
                <a:ea typeface="Rix모던고딕 B"/>
                <a:cs typeface="+mn-cs"/>
              </a:rPr>
              <a:t>문언적</a:t>
            </a:r>
            <a:r>
              <a:rPr kumimoji="0" lang="ko-KR" altLang="en-US" sz="1100" b="0" i="0" u="none" strike="noStrike" kern="1200" cap="none" spc="0" normalizeH="0" baseline="0" noProof="0" dirty="0">
                <a:ln>
                  <a:noFill/>
                </a:ln>
                <a:solidFill>
                  <a:srgbClr val="FF0000"/>
                </a:solidFill>
                <a:effectLst/>
                <a:uLnTx/>
                <a:uFillTx/>
                <a:latin typeface="Frutiger LT 65 Bold"/>
                <a:ea typeface="Rix모던고딕 B"/>
                <a:cs typeface="+mn-cs"/>
              </a:rPr>
              <a:t> 동일의 경우만</a:t>
            </a:r>
            <a:r>
              <a:rPr kumimoji="0" lang="en-US" altLang="ko-KR" sz="11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된 경우 시행령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5</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항 위반 적용</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3" name="TextBox 62">
            <a:extLst>
              <a:ext uri="{FF2B5EF4-FFF2-40B4-BE49-F238E27FC236}">
                <a16:creationId xmlns:a16="http://schemas.microsoft.com/office/drawing/2014/main" id="{33782639-BD05-4145-A2F0-407B2602EB34}"/>
              </a:ext>
            </a:extLst>
          </p:cNvPr>
          <p:cNvSpPr txBox="1"/>
          <p:nvPr/>
        </p:nvSpPr>
        <p:spPr>
          <a:xfrm>
            <a:off x="6476854" y="3409870"/>
            <a:ext cx="5455488" cy="430887"/>
          </a:xfrm>
          <a:prstGeom prst="rect">
            <a:avLst/>
          </a:prstGeom>
          <a:noFill/>
          <a:ln>
            <a:solidFill>
              <a:schemeClr val="bg1">
                <a:lumMod val="50000"/>
              </a:schemeClr>
            </a:solidFill>
          </a:ln>
        </p:spPr>
        <p:txBody>
          <a:bodyPr wrap="square">
            <a:spAutoFit/>
          </a:bodyPr>
          <a:lstStyle/>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인용형식이 없으면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독립항</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인용형식이 있으면</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구체화 여부에 따라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독립항</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종속항</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구별</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항의 번호를 구체적으로 적지 않고</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전술한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상술한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등과 같이 적은 경우 위반</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3" name="연결선: 꺾임 12">
            <a:extLst>
              <a:ext uri="{FF2B5EF4-FFF2-40B4-BE49-F238E27FC236}">
                <a16:creationId xmlns:a16="http://schemas.microsoft.com/office/drawing/2014/main" id="{5F409883-34A5-49C8-A3B0-F44CAD504BC4}"/>
              </a:ext>
            </a:extLst>
          </p:cNvPr>
          <p:cNvCxnSpPr>
            <a:stCxn id="43" idx="3"/>
            <a:endCxn id="62" idx="1"/>
          </p:cNvCxnSpPr>
          <p:nvPr/>
        </p:nvCxnSpPr>
        <p:spPr>
          <a:xfrm>
            <a:off x="6096000" y="2977829"/>
            <a:ext cx="380854" cy="9752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연결선: 꺾임 14">
            <a:extLst>
              <a:ext uri="{FF2B5EF4-FFF2-40B4-BE49-F238E27FC236}">
                <a16:creationId xmlns:a16="http://schemas.microsoft.com/office/drawing/2014/main" id="{86D81A1D-2728-4D68-87BF-BBA20B4F0F7A}"/>
              </a:ext>
            </a:extLst>
          </p:cNvPr>
          <p:cNvCxnSpPr>
            <a:stCxn id="45" idx="3"/>
            <a:endCxn id="63" idx="1"/>
          </p:cNvCxnSpPr>
          <p:nvPr/>
        </p:nvCxnSpPr>
        <p:spPr>
          <a:xfrm>
            <a:off x="6096000" y="3406545"/>
            <a:ext cx="380854" cy="21876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19E4362F-4CB5-405C-8A10-9DC47B125FDE}"/>
              </a:ext>
            </a:extLst>
          </p:cNvPr>
          <p:cNvSpPr txBox="1"/>
          <p:nvPr/>
        </p:nvSpPr>
        <p:spPr>
          <a:xfrm>
            <a:off x="6476854" y="3866753"/>
            <a:ext cx="5455488" cy="938719"/>
          </a:xfrm>
          <a:prstGeom prst="rect">
            <a:avLst/>
          </a:prstGeom>
          <a:noFill/>
          <a:ln>
            <a:solidFill>
              <a:schemeClr val="bg1">
                <a:lumMod val="50000"/>
              </a:schemeClr>
            </a:solidFill>
          </a:ln>
        </p:spPr>
        <p:txBody>
          <a:bodyPr wrap="square">
            <a:spAutoFit/>
          </a:bodyPr>
          <a:lstStyle/>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청구항은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택일적</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(OR)</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기재를 하여야 하나</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구성요소는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택일적</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병렬적</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)(OR)</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기재</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직렬적</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(AND)</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기재 모두 가능</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또는</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(OR)”</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는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택일적</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기재 만족하나</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및</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(AND)”,”</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내지</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(THROUGH)”</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는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중 어느 하나</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와 결합된 경우 </a:t>
            </a: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택일적</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기재 만족</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“,(COMMA)”</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는</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마지막 구분이 </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또는</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(OR)”,’</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및</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(AND)”</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인지 여부에 따라 성질 결정 </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8" name="연결선: 꺾임 17">
            <a:extLst>
              <a:ext uri="{FF2B5EF4-FFF2-40B4-BE49-F238E27FC236}">
                <a16:creationId xmlns:a16="http://schemas.microsoft.com/office/drawing/2014/main" id="{3C1D5E28-2CC9-41E5-BC2E-41BDD5A7AF0F}"/>
              </a:ext>
            </a:extLst>
          </p:cNvPr>
          <p:cNvCxnSpPr>
            <a:stCxn id="47" idx="3"/>
            <a:endCxn id="69" idx="1"/>
          </p:cNvCxnSpPr>
          <p:nvPr/>
        </p:nvCxnSpPr>
        <p:spPr>
          <a:xfrm>
            <a:off x="6096000" y="3798784"/>
            <a:ext cx="380854" cy="53732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E056898-48CB-481A-8867-52D1E1BE45FA}"/>
              </a:ext>
            </a:extLst>
          </p:cNvPr>
          <p:cNvSpPr txBox="1"/>
          <p:nvPr/>
        </p:nvSpPr>
        <p:spPr>
          <a:xfrm>
            <a:off x="6476854" y="4874480"/>
            <a:ext cx="5455488" cy="430887"/>
          </a:xfrm>
          <a:prstGeom prst="rect">
            <a:avLst/>
          </a:prstGeom>
          <a:noFill/>
          <a:ln>
            <a:solidFill>
              <a:schemeClr val="bg1">
                <a:lumMod val="50000"/>
              </a:schemeClr>
            </a:solidFill>
          </a:ln>
        </p:spPr>
        <p:txBody>
          <a:bodyPr wrap="square">
            <a:spAutoFit/>
          </a:bodyPr>
          <a:lstStyle/>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다중청구항을 다중청구항으로 인용 불가</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이상의 항을 인용하지 아니한 청구항은 시행령 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5</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6</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항 위반 아님</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1" name="연결선: 꺾임 20">
            <a:extLst>
              <a:ext uri="{FF2B5EF4-FFF2-40B4-BE49-F238E27FC236}">
                <a16:creationId xmlns:a16="http://schemas.microsoft.com/office/drawing/2014/main" id="{D88FDE95-BAAB-4F5C-8DBC-F348AF6C3131}"/>
              </a:ext>
            </a:extLst>
          </p:cNvPr>
          <p:cNvCxnSpPr>
            <a:stCxn id="49" idx="3"/>
            <a:endCxn id="73" idx="1"/>
          </p:cNvCxnSpPr>
          <p:nvPr/>
        </p:nvCxnSpPr>
        <p:spPr>
          <a:xfrm>
            <a:off x="6096000" y="4441141"/>
            <a:ext cx="380854" cy="64878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8707422"/>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종속항의 필요성</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132</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5" name="TextBox 4">
            <a:extLst>
              <a:ext uri="{FF2B5EF4-FFF2-40B4-BE49-F238E27FC236}">
                <a16:creationId xmlns:a16="http://schemas.microsoft.com/office/drawing/2014/main" id="{73F6A2EB-D3D4-E5E8-A940-0994DD9AC6DC}"/>
              </a:ext>
            </a:extLst>
          </p:cNvPr>
          <p:cNvSpPr txBox="1"/>
          <p:nvPr/>
        </p:nvSpPr>
        <p:spPr>
          <a:xfrm>
            <a:off x="77875" y="986046"/>
            <a:ext cx="11936323" cy="1892826"/>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청구범위의 청구항은 상호 독립되어 있기 때문에 </a:t>
            </a:r>
            <a:r>
              <a:rPr kumimoji="0" lang="ko-KR" altLang="en-US" sz="1300" b="0" i="0" u="none" strike="noStrike" kern="1200" cap="none" spc="0" normalizeH="0" baseline="0" noProof="0" dirty="0" err="1">
                <a:ln>
                  <a:noFill/>
                </a:ln>
                <a:solidFill>
                  <a:prstClr val="black"/>
                </a:solidFill>
                <a:effectLst/>
                <a:uLnTx/>
                <a:uFillTx/>
                <a:latin typeface="Frutiger LT 65 Bold"/>
                <a:ea typeface="Rix모던고딕 B"/>
                <a:cs typeface="+mn-cs"/>
              </a:rPr>
              <a:t>독립항</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err="1">
                <a:ln>
                  <a:noFill/>
                </a:ln>
                <a:solidFill>
                  <a:prstClr val="black"/>
                </a:solidFill>
                <a:effectLst/>
                <a:uLnTx/>
                <a:uFillTx/>
                <a:latin typeface="Frutiger LT 65 Bold"/>
                <a:ea typeface="Rix모던고딕 B"/>
                <a:cs typeface="+mn-cs"/>
              </a:rPr>
              <a:t>종속항</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 상관없이 </a:t>
            </a:r>
            <a:r>
              <a:rPr kumimoji="0" lang="ko-KR" altLang="en-US" sz="1300" b="0" i="0" u="none" strike="noStrike" kern="1200" cap="none" spc="0" normalizeH="0" baseline="0" noProof="0" dirty="0" err="1">
                <a:ln>
                  <a:noFill/>
                </a:ln>
                <a:solidFill>
                  <a:prstClr val="black"/>
                </a:solidFill>
                <a:effectLst/>
                <a:uLnTx/>
                <a:uFillTx/>
                <a:latin typeface="Frutiger LT 65 Bold"/>
                <a:ea typeface="Rix모던고딕 B"/>
                <a:cs typeface="+mn-cs"/>
              </a:rPr>
              <a:t>청구항별로</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 특허요건을 판단하고</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err="1">
                <a:ln>
                  <a:noFill/>
                </a:ln>
                <a:solidFill>
                  <a:prstClr val="black"/>
                </a:solidFill>
                <a:effectLst/>
                <a:uLnTx/>
                <a:uFillTx/>
                <a:latin typeface="Frutiger LT 65 Bold"/>
                <a:ea typeface="Rix모던고딕 B"/>
                <a:cs typeface="+mn-cs"/>
              </a:rPr>
              <a:t>등륵후에는</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err="1">
                <a:ln>
                  <a:noFill/>
                </a:ln>
                <a:solidFill>
                  <a:prstClr val="black"/>
                </a:solidFill>
                <a:effectLst/>
                <a:uLnTx/>
                <a:uFillTx/>
                <a:latin typeface="Frutiger LT 65 Bold"/>
                <a:ea typeface="Rix모던고딕 B"/>
                <a:cs typeface="+mn-cs"/>
              </a:rPr>
              <a:t>청구항별로</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 침해여부를 판단하는 것이 원칙이다</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그러나 종속항의 보호범위는 독립항을 한정하거나 부가하여 구체화한 청구항이기 때문에 독립항의 보호범위보다 상대적으로 좁다</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따라서 독립항이 특허요건판단에 있어서 신규성</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진보성 위반이 아니면</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종속항도 신규성</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진보성 위반이 아니다</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err="1">
                <a:ln>
                  <a:noFill/>
                </a:ln>
                <a:solidFill>
                  <a:prstClr val="black"/>
                </a:solidFill>
                <a:effectLst/>
                <a:uLnTx/>
                <a:uFillTx/>
                <a:latin typeface="Frutiger LT 65 Bold"/>
                <a:ea typeface="Rix모던고딕 B"/>
                <a:cs typeface="+mn-cs"/>
              </a:rPr>
              <a:t>등록후</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 침해여부판단에 있어서도 독립항의 침해가 아니면 종속항의 침해도 되지 아니한다</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물론 독립항의 보호범위가 인정되지 아니하고</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종속항의 보호범위만 인정되면 독립항의 침해가 아닐지라도 종속항의 침해가 될 수도 있다</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이와 같은 논리라면 표면적으로 살펴보면 종속항의 존재 의의가 없는 것으로 보일 수도 있다</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종속항의 가장 중요한 존재 의의는 </a:t>
            </a:r>
            <a:r>
              <a:rPr kumimoji="0" lang="ko-KR" altLang="en-US" sz="13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등록 후 특허의 취소나 무효 가능성을 대비</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할 수 있다는 것이다</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자가 실시하는 발명이 독립항과 그 종속항의 침해인 경우 독립항이 특허취소신청에 의하여 취소나 특허무효심판에 의하여 무효가 되더라도 종속항이 있다면 권리행사를 할 수 있게 된다</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종속항에 의하여 권리행사를 하기 위해서는 종속항에는 독립항을 한정하거나 부가하여 구체화해서 </a:t>
            </a:r>
            <a:r>
              <a:rPr kumimoji="0" lang="ko-KR" altLang="en-US" sz="13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별개의 새로운 발명이라고 부를 수 있는 정도의 구성요소</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를 적어야 한다</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즉</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심사관이 독립항의 구성요소와 결합하였을 때 신규성</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진보성 등의 특허요건 위반이 아니라고 판단할 만한 구성요소를 종속항에 적어야 한다</a:t>
            </a:r>
            <a:r>
              <a:rPr kumimoji="0" lang="en-US" altLang="ko-KR" sz="13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prstClr val="black"/>
                </a:solidFill>
                <a:effectLst/>
                <a:uLnTx/>
                <a:uFillTx/>
                <a:latin typeface="Frutiger LT 65 Bold"/>
                <a:ea typeface="Rix모던고딕 B"/>
                <a:cs typeface="+mn-cs"/>
              </a:rPr>
              <a:t>그렇지 아니한 경우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독립항의 특허요건 위반이 있으면</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종속항도 같이 특허요건 위반이 된다</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이와 같은 종속항을 적는 것은 출원인에게 </a:t>
            </a:r>
            <a:r>
              <a:rPr kumimoji="0" lang="ko-KR" altLang="en-US" sz="1300" b="0" i="0" u="none" strike="noStrike" kern="1200" cap="none" spc="0" normalizeH="0" baseline="0" noProof="0" dirty="0" err="1">
                <a:ln>
                  <a:noFill/>
                </a:ln>
                <a:solidFill>
                  <a:srgbClr val="FF0000"/>
                </a:solidFill>
                <a:effectLst/>
                <a:uLnTx/>
                <a:uFillTx/>
                <a:latin typeface="Frutiger LT 65 Bold"/>
                <a:ea typeface="Rix모던고딕 B"/>
                <a:cs typeface="+mn-cs"/>
              </a:rPr>
              <a:t>심사청구료</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rPr>
              <a:t>특허료 등 청구항 수에 따라 달라지는 비용 부담만 가중시키는 결과를 초래한다</a:t>
            </a:r>
            <a:r>
              <a:rPr kumimoji="0" lang="en-US" altLang="ko-KR" sz="1300" b="0" i="0" u="none" strike="noStrike" kern="1200" cap="none" spc="0" normalizeH="0" baseline="0" noProof="0" dirty="0">
                <a:ln>
                  <a:noFill/>
                </a:ln>
                <a:solidFill>
                  <a:srgbClr val="FF0000"/>
                </a:solidFill>
                <a:effectLst/>
                <a:uLnTx/>
                <a:uFillTx/>
                <a:latin typeface="Frutiger LT 65 Bold"/>
                <a:ea typeface="Rix모던고딕 B"/>
                <a:cs typeface="+mn-cs"/>
              </a:rPr>
              <a:t>. </a:t>
            </a:r>
            <a:endParaRPr kumimoji="0" lang="ko-KR" altLang="en-US" sz="13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6" name="직선 연결선 5">
            <a:extLst>
              <a:ext uri="{FF2B5EF4-FFF2-40B4-BE49-F238E27FC236}">
                <a16:creationId xmlns:a16="http://schemas.microsoft.com/office/drawing/2014/main" id="{EE971C09-41AB-9728-8F0A-85B9BE2B96EA}"/>
              </a:ext>
            </a:extLst>
          </p:cNvPr>
          <p:cNvCxnSpPr/>
          <p:nvPr/>
        </p:nvCxnSpPr>
        <p:spPr>
          <a:xfrm>
            <a:off x="0" y="287887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직사각형 6">
            <a:extLst>
              <a:ext uri="{FF2B5EF4-FFF2-40B4-BE49-F238E27FC236}">
                <a16:creationId xmlns:a16="http://schemas.microsoft.com/office/drawing/2014/main" id="{25B366CD-C0BF-F171-90F5-A74A6D70CCC2}"/>
              </a:ext>
            </a:extLst>
          </p:cNvPr>
          <p:cNvSpPr/>
          <p:nvPr/>
        </p:nvSpPr>
        <p:spPr>
          <a:xfrm>
            <a:off x="111853" y="3046066"/>
            <a:ext cx="8424936" cy="3657600"/>
          </a:xfrm>
          <a:prstGeom prst="rect">
            <a:avLst/>
          </a:prstGeom>
          <a:solidFill>
            <a:schemeClr val="accent3">
              <a:lumMod val="20000"/>
              <a:lumOff val="80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8" name="직선 화살표 연결선 7">
            <a:extLst>
              <a:ext uri="{FF2B5EF4-FFF2-40B4-BE49-F238E27FC236}">
                <a16:creationId xmlns:a16="http://schemas.microsoft.com/office/drawing/2014/main" id="{5A78A7C0-1DC8-6988-31BD-C207EA2EAA9A}"/>
              </a:ext>
            </a:extLst>
          </p:cNvPr>
          <p:cNvCxnSpPr/>
          <p:nvPr/>
        </p:nvCxnSpPr>
        <p:spPr>
          <a:xfrm>
            <a:off x="399885" y="4048381"/>
            <a:ext cx="7920880" cy="0"/>
          </a:xfrm>
          <a:prstGeom prst="straightConnector1">
            <a:avLst/>
          </a:prstGeom>
          <a:ln w="28575">
            <a:solidFill>
              <a:schemeClr val="accent2">
                <a:lumMod val="50000"/>
              </a:schemeClr>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9" name="타원 8">
            <a:extLst>
              <a:ext uri="{FF2B5EF4-FFF2-40B4-BE49-F238E27FC236}">
                <a16:creationId xmlns:a16="http://schemas.microsoft.com/office/drawing/2014/main" id="{190C550C-A036-87B2-5577-89D2DCA97BC5}"/>
              </a:ext>
            </a:extLst>
          </p:cNvPr>
          <p:cNvSpPr/>
          <p:nvPr/>
        </p:nvSpPr>
        <p:spPr>
          <a:xfrm>
            <a:off x="903941" y="3951322"/>
            <a:ext cx="216024" cy="216024"/>
          </a:xfrm>
          <a:prstGeom prst="ellipse">
            <a:avLst/>
          </a:prstGeom>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 name="타원 9">
            <a:extLst>
              <a:ext uri="{FF2B5EF4-FFF2-40B4-BE49-F238E27FC236}">
                <a16:creationId xmlns:a16="http://schemas.microsoft.com/office/drawing/2014/main" id="{5179CB54-6844-5ACF-FE73-5B7F921E8DF8}"/>
              </a:ext>
            </a:extLst>
          </p:cNvPr>
          <p:cNvSpPr/>
          <p:nvPr/>
        </p:nvSpPr>
        <p:spPr>
          <a:xfrm>
            <a:off x="2992173" y="3951322"/>
            <a:ext cx="216024" cy="216024"/>
          </a:xfrm>
          <a:prstGeom prst="ellipse">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 name="타원 10">
            <a:extLst>
              <a:ext uri="{FF2B5EF4-FFF2-40B4-BE49-F238E27FC236}">
                <a16:creationId xmlns:a16="http://schemas.microsoft.com/office/drawing/2014/main" id="{988BFF0B-0713-E2CB-7BFC-37F9A335A491}"/>
              </a:ext>
            </a:extLst>
          </p:cNvPr>
          <p:cNvSpPr/>
          <p:nvPr/>
        </p:nvSpPr>
        <p:spPr>
          <a:xfrm>
            <a:off x="5044401" y="3951322"/>
            <a:ext cx="216024" cy="216024"/>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2" name="타원 11">
            <a:extLst>
              <a:ext uri="{FF2B5EF4-FFF2-40B4-BE49-F238E27FC236}">
                <a16:creationId xmlns:a16="http://schemas.microsoft.com/office/drawing/2014/main" id="{282550DD-3310-F099-CF5B-F413FA0D3425}"/>
              </a:ext>
            </a:extLst>
          </p:cNvPr>
          <p:cNvSpPr/>
          <p:nvPr/>
        </p:nvSpPr>
        <p:spPr>
          <a:xfrm>
            <a:off x="5800486" y="3951322"/>
            <a:ext cx="216024" cy="216024"/>
          </a:xfrm>
          <a:prstGeom prst="ellipse">
            <a:avLst/>
          </a:prstGeom>
        </p:spPr>
        <p:style>
          <a:lnRef idx="0">
            <a:schemeClr val="accent3"/>
          </a:lnRef>
          <a:fillRef idx="3">
            <a:schemeClr val="accent3"/>
          </a:fillRef>
          <a:effectRef idx="3">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3" name="TextBox 12">
            <a:extLst>
              <a:ext uri="{FF2B5EF4-FFF2-40B4-BE49-F238E27FC236}">
                <a16:creationId xmlns:a16="http://schemas.microsoft.com/office/drawing/2014/main" id="{3461AA0F-C89B-7CA4-A455-CFF520528212}"/>
              </a:ext>
            </a:extLst>
          </p:cNvPr>
          <p:cNvSpPr txBox="1"/>
          <p:nvPr/>
        </p:nvSpPr>
        <p:spPr>
          <a:xfrm>
            <a:off x="2862849" y="3610497"/>
            <a:ext cx="561372"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공지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4" name="TextBox 13">
            <a:extLst>
              <a:ext uri="{FF2B5EF4-FFF2-40B4-BE49-F238E27FC236}">
                <a16:creationId xmlns:a16="http://schemas.microsoft.com/office/drawing/2014/main" id="{67D64B52-B69B-011A-0268-C7B07261E016}"/>
              </a:ext>
            </a:extLst>
          </p:cNvPr>
          <p:cNvSpPr txBox="1"/>
          <p:nvPr/>
        </p:nvSpPr>
        <p:spPr>
          <a:xfrm>
            <a:off x="4864381" y="3610496"/>
            <a:ext cx="576064" cy="27699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등록</a:t>
            </a:r>
          </a:p>
        </p:txBody>
      </p:sp>
      <p:sp>
        <p:nvSpPr>
          <p:cNvPr id="15" name="TextBox 14">
            <a:extLst>
              <a:ext uri="{FF2B5EF4-FFF2-40B4-BE49-F238E27FC236}">
                <a16:creationId xmlns:a16="http://schemas.microsoft.com/office/drawing/2014/main" id="{C841C479-8A5A-70F6-DC14-683A34C871A2}"/>
              </a:ext>
            </a:extLst>
          </p:cNvPr>
          <p:cNvSpPr txBox="1"/>
          <p:nvPr/>
        </p:nvSpPr>
        <p:spPr>
          <a:xfrm>
            <a:off x="5459496" y="3627366"/>
            <a:ext cx="898003"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 실시</a:t>
            </a:r>
          </a:p>
        </p:txBody>
      </p:sp>
      <p:sp>
        <p:nvSpPr>
          <p:cNvPr id="16" name="직사각형 15">
            <a:extLst>
              <a:ext uri="{FF2B5EF4-FFF2-40B4-BE49-F238E27FC236}">
                <a16:creationId xmlns:a16="http://schemas.microsoft.com/office/drawing/2014/main" id="{450F0D60-B769-DAFA-A794-FAABAF6FB6E6}"/>
              </a:ext>
            </a:extLst>
          </p:cNvPr>
          <p:cNvSpPr/>
          <p:nvPr/>
        </p:nvSpPr>
        <p:spPr>
          <a:xfrm>
            <a:off x="350737" y="4258569"/>
            <a:ext cx="1080120" cy="1764196"/>
          </a:xfrm>
          <a:prstGeom prst="rect">
            <a:avLst/>
          </a:prstGeom>
        </p:spPr>
        <p:style>
          <a:lnRef idx="2">
            <a:schemeClr val="accent2"/>
          </a:lnRef>
          <a:fillRef idx="1">
            <a:schemeClr val="lt1"/>
          </a:fillRef>
          <a:effectRef idx="0">
            <a:schemeClr val="accent2"/>
          </a:effectRef>
          <a:fontRef idx="minor">
            <a:schemeClr val="dk1"/>
          </a:fontRef>
        </p:style>
        <p:txBody>
          <a:bodyPr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핸들</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바퀴</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바디</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및</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폐달을</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포함하는 자전거</a:t>
            </a:r>
          </a:p>
        </p:txBody>
      </p:sp>
      <p:sp>
        <p:nvSpPr>
          <p:cNvPr id="17" name="타원 16">
            <a:extLst>
              <a:ext uri="{FF2B5EF4-FFF2-40B4-BE49-F238E27FC236}">
                <a16:creationId xmlns:a16="http://schemas.microsoft.com/office/drawing/2014/main" id="{7938457A-6D85-046D-8404-D606BBDBF6B6}"/>
              </a:ext>
            </a:extLst>
          </p:cNvPr>
          <p:cNvSpPr/>
          <p:nvPr/>
        </p:nvSpPr>
        <p:spPr>
          <a:xfrm>
            <a:off x="4276661" y="3951322"/>
            <a:ext cx="216024" cy="216024"/>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8" name="TextBox 17">
            <a:extLst>
              <a:ext uri="{FF2B5EF4-FFF2-40B4-BE49-F238E27FC236}">
                <a16:creationId xmlns:a16="http://schemas.microsoft.com/office/drawing/2014/main" id="{57C9BA31-E5A3-8877-5FEC-9E471B82EA67}"/>
              </a:ext>
            </a:extLst>
          </p:cNvPr>
          <p:cNvSpPr txBox="1"/>
          <p:nvPr/>
        </p:nvSpPr>
        <p:spPr>
          <a:xfrm>
            <a:off x="4144301" y="3610497"/>
            <a:ext cx="476412"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a:t>
            </a:r>
          </a:p>
        </p:txBody>
      </p:sp>
      <p:sp>
        <p:nvSpPr>
          <p:cNvPr id="19" name="TextBox 18">
            <a:extLst>
              <a:ext uri="{FF2B5EF4-FFF2-40B4-BE49-F238E27FC236}">
                <a16:creationId xmlns:a16="http://schemas.microsoft.com/office/drawing/2014/main" id="{412663AF-C056-D7CE-AE9C-626C39AAA9C9}"/>
              </a:ext>
            </a:extLst>
          </p:cNvPr>
          <p:cNvSpPr txBox="1"/>
          <p:nvPr/>
        </p:nvSpPr>
        <p:spPr>
          <a:xfrm>
            <a:off x="1622165" y="3616021"/>
            <a:ext cx="649928" cy="27699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공지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0" name="타원 19">
            <a:extLst>
              <a:ext uri="{FF2B5EF4-FFF2-40B4-BE49-F238E27FC236}">
                <a16:creationId xmlns:a16="http://schemas.microsoft.com/office/drawing/2014/main" id="{C9724B0D-7EEB-CDE1-5086-288689D87D4D}"/>
              </a:ext>
            </a:extLst>
          </p:cNvPr>
          <p:cNvSpPr/>
          <p:nvPr/>
        </p:nvSpPr>
        <p:spPr>
          <a:xfrm>
            <a:off x="1826533" y="3951322"/>
            <a:ext cx="216024" cy="216024"/>
          </a:xfrm>
          <a:prstGeom prst="ellipse">
            <a:avLst/>
          </a:prstGeom>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1" name="직사각형 20">
            <a:extLst>
              <a:ext uri="{FF2B5EF4-FFF2-40B4-BE49-F238E27FC236}">
                <a16:creationId xmlns:a16="http://schemas.microsoft.com/office/drawing/2014/main" id="{8E2F43CA-606C-DC0F-74E8-8DF1AC79B91A}"/>
              </a:ext>
            </a:extLst>
          </p:cNvPr>
          <p:cNvSpPr/>
          <p:nvPr/>
        </p:nvSpPr>
        <p:spPr>
          <a:xfrm>
            <a:off x="3740029" y="4258569"/>
            <a:ext cx="1368152" cy="1764196"/>
          </a:xfrm>
          <a:prstGeom prst="rect">
            <a:avLst/>
          </a:prstGeom>
        </p:spPr>
        <p:style>
          <a:lnRef idx="2">
            <a:schemeClr val="accent5"/>
          </a:lnRef>
          <a:fillRef idx="1">
            <a:schemeClr val="lt1"/>
          </a:fillRef>
          <a:effectRef idx="0">
            <a:schemeClr val="accent5"/>
          </a:effectRef>
          <a:fontRef idx="minor">
            <a:schemeClr val="dk1"/>
          </a:fontRef>
        </p:style>
        <p:txBody>
          <a:bodyPr rtlCol="0" anchor="ctr">
            <a:noAutofit/>
          </a:bodyPr>
          <a:lstStyle/>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핸들</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바퀴</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바디</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폐달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및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라이트를</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포함하는 자전거</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항에 있어서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안장을 더 포함하는 자전거</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항에 있어서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기어를 더 포함하는 자전거</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p>
        </p:txBody>
      </p:sp>
      <p:sp>
        <p:nvSpPr>
          <p:cNvPr id="22" name="TextBox 21">
            <a:extLst>
              <a:ext uri="{FF2B5EF4-FFF2-40B4-BE49-F238E27FC236}">
                <a16:creationId xmlns:a16="http://schemas.microsoft.com/office/drawing/2014/main" id="{78123906-FB3D-5265-9EA0-32702514F1EC}"/>
              </a:ext>
            </a:extLst>
          </p:cNvPr>
          <p:cNvSpPr txBox="1"/>
          <p:nvPr/>
        </p:nvSpPr>
        <p:spPr>
          <a:xfrm>
            <a:off x="773747" y="3627366"/>
            <a:ext cx="561372"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공지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3" name="타원 22">
            <a:extLst>
              <a:ext uri="{FF2B5EF4-FFF2-40B4-BE49-F238E27FC236}">
                <a16:creationId xmlns:a16="http://schemas.microsoft.com/office/drawing/2014/main" id="{EE3D51F6-D20D-DD01-4D26-EF5BB86F44BB}"/>
              </a:ext>
            </a:extLst>
          </p:cNvPr>
          <p:cNvSpPr/>
          <p:nvPr/>
        </p:nvSpPr>
        <p:spPr>
          <a:xfrm>
            <a:off x="6772593" y="3951322"/>
            <a:ext cx="216024" cy="216024"/>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4" name="TextBox 23">
            <a:extLst>
              <a:ext uri="{FF2B5EF4-FFF2-40B4-BE49-F238E27FC236}">
                <a16:creationId xmlns:a16="http://schemas.microsoft.com/office/drawing/2014/main" id="{AAD70028-1E6F-9BF4-A5ED-91B771EF3F82}"/>
              </a:ext>
            </a:extLst>
          </p:cNvPr>
          <p:cNvSpPr txBox="1"/>
          <p:nvPr/>
        </p:nvSpPr>
        <p:spPr>
          <a:xfrm>
            <a:off x="6304541" y="3610496"/>
            <a:ext cx="1224136" cy="27699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침해소송제기</a:t>
            </a:r>
          </a:p>
        </p:txBody>
      </p:sp>
      <p:sp>
        <p:nvSpPr>
          <p:cNvPr id="25" name="직사각형 24">
            <a:extLst>
              <a:ext uri="{FF2B5EF4-FFF2-40B4-BE49-F238E27FC236}">
                <a16:creationId xmlns:a16="http://schemas.microsoft.com/office/drawing/2014/main" id="{0FE18ADB-D654-D6C4-F5D0-645F1299B3D2}"/>
              </a:ext>
            </a:extLst>
          </p:cNvPr>
          <p:cNvSpPr/>
          <p:nvPr/>
        </p:nvSpPr>
        <p:spPr>
          <a:xfrm>
            <a:off x="1480005" y="4258569"/>
            <a:ext cx="1080120" cy="1764196"/>
          </a:xfrm>
          <a:prstGeom prst="rect">
            <a:avLst/>
          </a:prstGeom>
        </p:spPr>
        <p:style>
          <a:lnRef idx="2">
            <a:schemeClr val="accent2"/>
          </a:lnRef>
          <a:fillRef idx="1">
            <a:schemeClr val="lt1"/>
          </a:fillRef>
          <a:effectRef idx="0">
            <a:schemeClr val="accent2"/>
          </a:effectRef>
          <a:fontRef idx="minor">
            <a:schemeClr val="dk1"/>
          </a:fontRef>
        </p:style>
        <p:txBody>
          <a:bodyPr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핸들</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바퀴</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바디</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및</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안장을 포함하는 자전거</a:t>
            </a:r>
          </a:p>
        </p:txBody>
      </p:sp>
      <p:sp>
        <p:nvSpPr>
          <p:cNvPr id="26" name="직사각형 25">
            <a:extLst>
              <a:ext uri="{FF2B5EF4-FFF2-40B4-BE49-F238E27FC236}">
                <a16:creationId xmlns:a16="http://schemas.microsoft.com/office/drawing/2014/main" id="{90FF1711-F747-4EDE-66B9-9F7DA8931642}"/>
              </a:ext>
            </a:extLst>
          </p:cNvPr>
          <p:cNvSpPr/>
          <p:nvPr/>
        </p:nvSpPr>
        <p:spPr>
          <a:xfrm>
            <a:off x="2607393" y="4258569"/>
            <a:ext cx="1080120" cy="1764196"/>
          </a:xfrm>
          <a:prstGeom prst="rect">
            <a:avLst/>
          </a:prstGeom>
        </p:spPr>
        <p:style>
          <a:lnRef idx="2">
            <a:schemeClr val="accent4"/>
          </a:lnRef>
          <a:fillRef idx="1">
            <a:schemeClr val="lt1"/>
          </a:fillRef>
          <a:effectRef idx="0">
            <a:schemeClr val="accent4"/>
          </a:effectRef>
          <a:fontRef idx="minor">
            <a:schemeClr val="dk1"/>
          </a:fontRef>
        </p:style>
        <p:txBody>
          <a:bodyPr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핸들</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바퀴</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바디</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및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라이트를</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포함하는 자전거</a:t>
            </a:r>
          </a:p>
        </p:txBody>
      </p:sp>
      <p:sp>
        <p:nvSpPr>
          <p:cNvPr id="27" name="직사각형 26">
            <a:extLst>
              <a:ext uri="{FF2B5EF4-FFF2-40B4-BE49-F238E27FC236}">
                <a16:creationId xmlns:a16="http://schemas.microsoft.com/office/drawing/2014/main" id="{5EB1772B-C610-6A15-0938-FA89CDE29961}"/>
              </a:ext>
            </a:extLst>
          </p:cNvPr>
          <p:cNvSpPr/>
          <p:nvPr/>
        </p:nvSpPr>
        <p:spPr>
          <a:xfrm>
            <a:off x="5368437" y="4258569"/>
            <a:ext cx="1080120" cy="1764196"/>
          </a:xfrm>
          <a:prstGeom prst="rect">
            <a:avLst/>
          </a:prstGeom>
        </p:spPr>
        <p:style>
          <a:lnRef idx="2">
            <a:schemeClr val="accent3"/>
          </a:lnRef>
          <a:fillRef idx="1">
            <a:schemeClr val="lt1"/>
          </a:fillRef>
          <a:effectRef idx="0">
            <a:schemeClr val="accent3"/>
          </a:effectRef>
          <a:fontRef idx="minor">
            <a:schemeClr val="dk1"/>
          </a:fontRef>
        </p:style>
        <p:txBody>
          <a:bodyPr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핸들</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바퀴</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바디</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폐달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라이트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안장 및 기어를 포함하는 자전거</a:t>
            </a:r>
          </a:p>
        </p:txBody>
      </p:sp>
      <p:sp>
        <p:nvSpPr>
          <p:cNvPr id="28" name="타원 27">
            <a:extLst>
              <a:ext uri="{FF2B5EF4-FFF2-40B4-BE49-F238E27FC236}">
                <a16:creationId xmlns:a16="http://schemas.microsoft.com/office/drawing/2014/main" id="{85E6AF4C-7BAF-82BD-E4B5-DB33C645303B}"/>
              </a:ext>
            </a:extLst>
          </p:cNvPr>
          <p:cNvSpPr/>
          <p:nvPr/>
        </p:nvSpPr>
        <p:spPr>
          <a:xfrm>
            <a:off x="7535689" y="3951322"/>
            <a:ext cx="216024" cy="216024"/>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9" name="TextBox 28">
            <a:extLst>
              <a:ext uri="{FF2B5EF4-FFF2-40B4-BE49-F238E27FC236}">
                <a16:creationId xmlns:a16="http://schemas.microsoft.com/office/drawing/2014/main" id="{FB37D09D-8473-33FE-1D4C-5425E00E265A}"/>
              </a:ext>
            </a:extLst>
          </p:cNvPr>
          <p:cNvSpPr txBox="1"/>
          <p:nvPr/>
        </p:nvSpPr>
        <p:spPr>
          <a:xfrm>
            <a:off x="7036061" y="4212476"/>
            <a:ext cx="1224136" cy="27699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lumMod val="75000"/>
                  </a:srgbClr>
                </a:solidFill>
                <a:effectLst/>
                <a:uLnTx/>
                <a:uFillTx/>
                <a:latin typeface="Frutiger LT 65 Bold"/>
                <a:ea typeface="Rix모던고딕 B"/>
                <a:cs typeface="+mn-cs"/>
              </a:rPr>
              <a:t>무효심판청구</a:t>
            </a:r>
          </a:p>
        </p:txBody>
      </p:sp>
      <p:sp>
        <p:nvSpPr>
          <p:cNvPr id="30" name="TextBox 29">
            <a:extLst>
              <a:ext uri="{FF2B5EF4-FFF2-40B4-BE49-F238E27FC236}">
                <a16:creationId xmlns:a16="http://schemas.microsoft.com/office/drawing/2014/main" id="{D75B1606-B547-6890-87A8-3663EBDC29FC}"/>
              </a:ext>
            </a:extLst>
          </p:cNvPr>
          <p:cNvSpPr txBox="1"/>
          <p:nvPr/>
        </p:nvSpPr>
        <p:spPr>
          <a:xfrm>
            <a:off x="433910" y="3432134"/>
            <a:ext cx="1156086"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FF0000"/>
                </a:solidFill>
                <a:effectLst/>
                <a:uLnTx/>
                <a:uFillTx/>
                <a:latin typeface="Frutiger LT 65 Bold"/>
                <a:ea typeface="Rix모던고딕 B"/>
                <a:cs typeface="+mn-cs"/>
              </a:rPr>
              <a:t>심사관 </a:t>
            </a:r>
            <a:r>
              <a:rPr kumimoji="0" lang="en-US" altLang="ko-KR" sz="1000" b="0" i="0" u="none" strike="noStrike" kern="1200" cap="none" spc="0" normalizeH="0" baseline="0" noProof="0" dirty="0">
                <a:ln>
                  <a:noFill/>
                </a:ln>
                <a:solidFill>
                  <a:srgbClr val="FF0000"/>
                </a:solidFill>
                <a:effectLst/>
                <a:uLnTx/>
                <a:uFillTx/>
                <a:latin typeface="Frutiger LT 65 Bold"/>
                <a:ea typeface="Rix모던고딕 B"/>
                <a:cs typeface="+mn-cs"/>
              </a:rPr>
              <a:t>SEARCH)</a:t>
            </a:r>
            <a:endParaRPr kumimoji="0" lang="ko-KR" altLang="en-US" sz="10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31" name="TextBox 30">
            <a:extLst>
              <a:ext uri="{FF2B5EF4-FFF2-40B4-BE49-F238E27FC236}">
                <a16:creationId xmlns:a16="http://schemas.microsoft.com/office/drawing/2014/main" id="{AFCC1D1F-6E6C-F780-56A2-D92F2DA02A01}"/>
              </a:ext>
            </a:extLst>
          </p:cNvPr>
          <p:cNvSpPr txBox="1"/>
          <p:nvPr/>
        </p:nvSpPr>
        <p:spPr>
          <a:xfrm>
            <a:off x="1407997" y="3432134"/>
            <a:ext cx="1156086"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FF0000"/>
                </a:solidFill>
                <a:effectLst/>
                <a:uLnTx/>
                <a:uFillTx/>
                <a:latin typeface="Frutiger LT 65 Bold"/>
                <a:ea typeface="Rix모던고딕 B"/>
                <a:cs typeface="+mn-cs"/>
              </a:rPr>
              <a:t>심사관 </a:t>
            </a:r>
            <a:r>
              <a:rPr kumimoji="0" lang="en-US" altLang="ko-KR" sz="1000" b="0" i="0" u="none" strike="noStrike" kern="1200" cap="none" spc="0" normalizeH="0" baseline="0" noProof="0" dirty="0">
                <a:ln>
                  <a:noFill/>
                </a:ln>
                <a:solidFill>
                  <a:srgbClr val="FF0000"/>
                </a:solidFill>
                <a:effectLst/>
                <a:uLnTx/>
                <a:uFillTx/>
                <a:latin typeface="Frutiger LT 65 Bold"/>
                <a:ea typeface="Rix모던고딕 B"/>
                <a:cs typeface="+mn-cs"/>
              </a:rPr>
              <a:t>SEARCH)</a:t>
            </a:r>
            <a:endParaRPr kumimoji="0" lang="ko-KR" altLang="en-US" sz="10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32" name="TextBox 31">
            <a:extLst>
              <a:ext uri="{FF2B5EF4-FFF2-40B4-BE49-F238E27FC236}">
                <a16:creationId xmlns:a16="http://schemas.microsoft.com/office/drawing/2014/main" id="{77B260E5-EABA-EC13-00A6-80F1D5ECBE94}"/>
              </a:ext>
            </a:extLst>
          </p:cNvPr>
          <p:cNvSpPr txBox="1"/>
          <p:nvPr/>
        </p:nvSpPr>
        <p:spPr>
          <a:xfrm>
            <a:off x="2565492" y="3432134"/>
            <a:ext cx="1104790" cy="246221"/>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FFC000"/>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FFC000"/>
                </a:solidFill>
                <a:effectLst/>
                <a:uLnTx/>
                <a:uFillTx/>
                <a:latin typeface="Frutiger LT 65 Bold"/>
                <a:ea typeface="Rix모던고딕 B"/>
                <a:cs typeface="+mn-cs"/>
              </a:rPr>
              <a:t>제</a:t>
            </a:r>
            <a:r>
              <a:rPr kumimoji="0" lang="en-US" altLang="ko-KR" sz="1000" b="0" i="0" u="none" strike="noStrike" kern="1200" cap="none" spc="0" normalizeH="0" baseline="0" noProof="0" dirty="0">
                <a:ln>
                  <a:noFill/>
                </a:ln>
                <a:solidFill>
                  <a:srgbClr val="FFC000"/>
                </a:solidFill>
                <a:effectLst/>
                <a:uLnTx/>
                <a:uFillTx/>
                <a:latin typeface="Frutiger LT 65 Bold"/>
                <a:ea typeface="Rix모던고딕 B"/>
                <a:cs typeface="+mn-cs"/>
              </a:rPr>
              <a:t>3</a:t>
            </a:r>
            <a:r>
              <a:rPr kumimoji="0" lang="ko-KR" altLang="en-US" sz="1000" b="0" i="0" u="none" strike="noStrike" kern="1200" cap="none" spc="0" normalizeH="0" baseline="0" noProof="0" dirty="0">
                <a:ln>
                  <a:noFill/>
                </a:ln>
                <a:solidFill>
                  <a:srgbClr val="FFC000"/>
                </a:solidFill>
                <a:effectLst/>
                <a:uLnTx/>
                <a:uFillTx/>
                <a:latin typeface="Frutiger LT 65 Bold"/>
                <a:ea typeface="Rix모던고딕 B"/>
                <a:cs typeface="+mn-cs"/>
              </a:rPr>
              <a:t>자 </a:t>
            </a:r>
            <a:r>
              <a:rPr kumimoji="0" lang="en-US" altLang="ko-KR" sz="1000" b="0" i="0" u="none" strike="noStrike" kern="1200" cap="none" spc="0" normalizeH="0" baseline="0" noProof="0" dirty="0">
                <a:ln>
                  <a:noFill/>
                </a:ln>
                <a:solidFill>
                  <a:srgbClr val="FFC000"/>
                </a:solidFill>
                <a:effectLst/>
                <a:uLnTx/>
                <a:uFillTx/>
                <a:latin typeface="Frutiger LT 65 Bold"/>
                <a:ea typeface="Rix모던고딕 B"/>
                <a:cs typeface="+mn-cs"/>
              </a:rPr>
              <a:t>SEARCH)</a:t>
            </a:r>
            <a:endParaRPr kumimoji="0" lang="ko-KR" altLang="en-US" sz="1000" b="0" i="0" u="none" strike="noStrike" kern="1200" cap="none" spc="0" normalizeH="0" baseline="0" noProof="0" dirty="0">
              <a:ln>
                <a:noFill/>
              </a:ln>
              <a:solidFill>
                <a:srgbClr val="FFC000"/>
              </a:solidFill>
              <a:effectLst/>
              <a:uLnTx/>
              <a:uFillTx/>
              <a:latin typeface="Frutiger LT 65 Bold"/>
              <a:ea typeface="Rix모던고딕 B"/>
              <a:cs typeface="+mn-cs"/>
            </a:endParaRPr>
          </a:p>
        </p:txBody>
      </p:sp>
      <p:sp>
        <p:nvSpPr>
          <p:cNvPr id="33" name="TextBox 32">
            <a:extLst>
              <a:ext uri="{FF2B5EF4-FFF2-40B4-BE49-F238E27FC236}">
                <a16:creationId xmlns:a16="http://schemas.microsoft.com/office/drawing/2014/main" id="{A9848835-0822-DF9F-6928-6676E7A96530}"/>
              </a:ext>
            </a:extLst>
          </p:cNvPr>
          <p:cNvSpPr txBox="1"/>
          <p:nvPr/>
        </p:nvSpPr>
        <p:spPr>
          <a:xfrm>
            <a:off x="6581581" y="5136851"/>
            <a:ext cx="1883199" cy="576064"/>
          </a:xfrm>
          <a:prstGeom prst="rect">
            <a:avLst/>
          </a:prstGeom>
          <a:noFill/>
        </p:spPr>
        <p:txBody>
          <a:bodyPr wrap="square" rtlCol="0">
            <a:noAutofit/>
          </a:bodyPr>
          <a:lstStyle/>
          <a:p>
            <a:pPr marL="0" marR="0" lvl="1" indent="0" algn="just" defTabSz="914400" rtl="0" eaLnBrk="1" fontAlgn="auto" latinLnBrk="1" hangingPunct="1">
              <a:lnSpc>
                <a:spcPct val="100000"/>
              </a:lnSpc>
              <a:spcBef>
                <a:spcPts val="0"/>
              </a:spcBef>
              <a:spcAft>
                <a:spcPts val="0"/>
              </a:spcAft>
              <a:buClrTx/>
              <a:buSzTx/>
              <a:buFontTx/>
              <a:buNone/>
              <a:tabLst/>
              <a:defRPr/>
            </a:pPr>
            <a:r>
              <a:rPr kumimoji="0" lang="ko-KR" altLang="en-US" sz="2400" b="1" i="0" u="none" strike="noStrike" kern="1200" cap="none" spc="0" normalizeH="0" baseline="0" noProof="0" dirty="0" err="1">
                <a:ln>
                  <a:noFill/>
                </a:ln>
                <a:solidFill>
                  <a:srgbClr val="FF0000"/>
                </a:solidFill>
                <a:effectLst/>
                <a:uLnTx/>
                <a:uFillTx/>
                <a:latin typeface="Frutiger LT 65 Bold"/>
                <a:ea typeface="Rix모던고딕 B"/>
                <a:cs typeface="맑은 고딕"/>
              </a:rPr>
              <a:t>청구항</a:t>
            </a:r>
            <a:r>
              <a:rPr kumimoji="0" lang="en-US" altLang="ko-KR" sz="2400" b="1" i="0" u="none" strike="noStrike" kern="1200" cap="none" spc="0" normalizeH="0" baseline="0" noProof="0" dirty="0">
                <a:ln>
                  <a:noFill/>
                </a:ln>
                <a:solidFill>
                  <a:srgbClr val="FF0000"/>
                </a:solidFill>
                <a:effectLst/>
                <a:uLnTx/>
                <a:uFillTx/>
                <a:latin typeface="Frutiger LT 65 Bold"/>
                <a:ea typeface="Rix모던고딕 B"/>
                <a:cs typeface="맑은 고딕"/>
              </a:rPr>
              <a:t> 2, 3</a:t>
            </a:r>
            <a:r>
              <a:rPr kumimoji="0" lang="ko-KR" altLang="en-US" sz="2400" b="1" i="0" u="none" strike="noStrike" kern="1200" cap="none" spc="0" normalizeH="0" baseline="0" noProof="0" dirty="0">
                <a:ln>
                  <a:noFill/>
                </a:ln>
                <a:solidFill>
                  <a:srgbClr val="FF0000"/>
                </a:solidFill>
                <a:effectLst/>
                <a:uLnTx/>
                <a:uFillTx/>
                <a:latin typeface="Frutiger LT 65 Bold"/>
                <a:ea typeface="Rix모던고딕 B"/>
                <a:cs typeface="맑은 고딕"/>
              </a:rPr>
              <a:t>의 가치</a:t>
            </a:r>
            <a:r>
              <a:rPr kumimoji="0" lang="en-US" altLang="ko-KR" sz="2400" b="1" i="0" u="none" strike="noStrike" kern="1200" cap="none" spc="0" normalizeH="0" baseline="0" noProof="0" dirty="0">
                <a:ln>
                  <a:noFill/>
                </a:ln>
                <a:solidFill>
                  <a:srgbClr val="FF0000"/>
                </a:solidFill>
                <a:effectLst/>
                <a:uLnTx/>
                <a:uFillTx/>
                <a:latin typeface="Frutiger LT 65 Bold"/>
                <a:ea typeface="Rix모던고딕 B"/>
                <a:cs typeface="맑은 고딕"/>
              </a:rPr>
              <a:t>?</a:t>
            </a:r>
            <a:endParaRPr kumimoji="0" lang="ko-KR" altLang="en-US" sz="2400" b="1" i="0" u="none" strike="noStrike" kern="1200" cap="none" spc="0" normalizeH="0" baseline="0" noProof="0" dirty="0">
              <a:ln>
                <a:noFill/>
              </a:ln>
              <a:solidFill>
                <a:srgbClr val="FF0000"/>
              </a:solidFill>
              <a:effectLst/>
              <a:uLnTx/>
              <a:uFillTx/>
              <a:latin typeface="Frutiger LT 65 Bold"/>
              <a:ea typeface="Rix모던고딕 B"/>
              <a:cs typeface="맑은 고딕"/>
            </a:endParaRPr>
          </a:p>
        </p:txBody>
      </p:sp>
      <p:graphicFrame>
        <p:nvGraphicFramePr>
          <p:cNvPr id="34" name="표 33">
            <a:extLst>
              <a:ext uri="{FF2B5EF4-FFF2-40B4-BE49-F238E27FC236}">
                <a16:creationId xmlns:a16="http://schemas.microsoft.com/office/drawing/2014/main" id="{538C9B0F-E203-4668-7195-AEBFAE13DA61}"/>
              </a:ext>
            </a:extLst>
          </p:cNvPr>
          <p:cNvGraphicFramePr>
            <a:graphicFrameLocks noGrp="1"/>
          </p:cNvGraphicFramePr>
          <p:nvPr/>
        </p:nvGraphicFramePr>
        <p:xfrm>
          <a:off x="8675198" y="3026456"/>
          <a:ext cx="3347522" cy="3672840"/>
        </p:xfrm>
        <a:graphic>
          <a:graphicData uri="http://schemas.openxmlformats.org/drawingml/2006/table">
            <a:tbl>
              <a:tblPr>
                <a:tableStyleId>{BC89EF96-8CEA-46FF-86C4-4CE0E7609802}</a:tableStyleId>
              </a:tblPr>
              <a:tblGrid>
                <a:gridCol w="208280">
                  <a:extLst>
                    <a:ext uri="{9D8B030D-6E8A-4147-A177-3AD203B41FA5}">
                      <a16:colId xmlns:a16="http://schemas.microsoft.com/office/drawing/2014/main" val="20000"/>
                    </a:ext>
                  </a:extLst>
                </a:gridCol>
                <a:gridCol w="523207">
                  <a:extLst>
                    <a:ext uri="{9D8B030D-6E8A-4147-A177-3AD203B41FA5}">
                      <a16:colId xmlns:a16="http://schemas.microsoft.com/office/drawing/2014/main" val="20001"/>
                    </a:ext>
                  </a:extLst>
                </a:gridCol>
                <a:gridCol w="523207">
                  <a:extLst>
                    <a:ext uri="{9D8B030D-6E8A-4147-A177-3AD203B41FA5}">
                      <a16:colId xmlns:a16="http://schemas.microsoft.com/office/drawing/2014/main" val="20002"/>
                    </a:ext>
                  </a:extLst>
                </a:gridCol>
                <a:gridCol w="523207">
                  <a:extLst>
                    <a:ext uri="{9D8B030D-6E8A-4147-A177-3AD203B41FA5}">
                      <a16:colId xmlns:a16="http://schemas.microsoft.com/office/drawing/2014/main" val="20003"/>
                    </a:ext>
                  </a:extLst>
                </a:gridCol>
                <a:gridCol w="523207">
                  <a:extLst>
                    <a:ext uri="{9D8B030D-6E8A-4147-A177-3AD203B41FA5}">
                      <a16:colId xmlns:a16="http://schemas.microsoft.com/office/drawing/2014/main" val="20004"/>
                    </a:ext>
                  </a:extLst>
                </a:gridCol>
                <a:gridCol w="523207">
                  <a:extLst>
                    <a:ext uri="{9D8B030D-6E8A-4147-A177-3AD203B41FA5}">
                      <a16:colId xmlns:a16="http://schemas.microsoft.com/office/drawing/2014/main" val="20005"/>
                    </a:ext>
                  </a:extLst>
                </a:gridCol>
                <a:gridCol w="523207">
                  <a:extLst>
                    <a:ext uri="{9D8B030D-6E8A-4147-A177-3AD203B41FA5}">
                      <a16:colId xmlns:a16="http://schemas.microsoft.com/office/drawing/2014/main" val="20006"/>
                    </a:ext>
                  </a:extLst>
                </a:gridCol>
              </a:tblGrid>
              <a:tr h="276754">
                <a:tc gridSpan="2">
                  <a:txBody>
                    <a:bodyPr/>
                    <a:lstStyle/>
                    <a:p>
                      <a:pPr latinLnBrk="1"/>
                      <a:r>
                        <a:rPr lang="ko-KR" altLang="en-US" sz="700" b="1" dirty="0"/>
                        <a:t>출원발명</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dirty="0"/>
                    </a:p>
                  </a:txBody>
                  <a:tcPr/>
                </a:tc>
                <a:tc>
                  <a:txBody>
                    <a:bodyPr/>
                    <a:lstStyle/>
                    <a:p>
                      <a:pPr latinLnBrk="1"/>
                      <a:r>
                        <a:rPr lang="ko-KR" altLang="en-US" sz="700" b="1" dirty="0"/>
                        <a:t>공지</a:t>
                      </a:r>
                      <a:r>
                        <a:rPr lang="en-US" altLang="ko-KR" sz="700" b="1" dirty="0"/>
                        <a:t>1</a:t>
                      </a:r>
                      <a:endParaRPr lang="ko-KR" altLang="en-US" sz="700" b="1"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latinLnBrk="1"/>
                      <a:r>
                        <a:rPr lang="ko-KR" altLang="en-US" sz="700" b="1" dirty="0"/>
                        <a:t>공지</a:t>
                      </a:r>
                      <a:r>
                        <a:rPr lang="en-US" altLang="ko-KR" sz="700" b="1" dirty="0"/>
                        <a:t>2</a:t>
                      </a:r>
                      <a:endParaRPr lang="ko-KR" altLang="en-US" sz="700" b="1"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latinLnBrk="1"/>
                      <a:r>
                        <a:rPr lang="ko-KR" altLang="en-US" sz="700" b="1" dirty="0"/>
                        <a:t>심사</a:t>
                      </a:r>
                      <a:endParaRPr lang="en-US" altLang="ko-KR" sz="700" b="1" dirty="0"/>
                    </a:p>
                    <a:p>
                      <a:pPr latinLnBrk="1"/>
                      <a:r>
                        <a:rPr lang="en-US" altLang="ko-KR" sz="700" b="1" dirty="0"/>
                        <a:t>(1&amp;2)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latinLnBrk="1"/>
                      <a:r>
                        <a:rPr lang="ko-KR" altLang="en-US" sz="700" b="1" dirty="0"/>
                        <a:t>공지</a:t>
                      </a:r>
                      <a:r>
                        <a:rPr lang="en-US" altLang="ko-KR" sz="700" b="1" dirty="0"/>
                        <a:t>3</a:t>
                      </a:r>
                      <a:endParaRPr lang="ko-KR" altLang="en-US" sz="700" b="1"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latinLnBrk="1"/>
                      <a:r>
                        <a:rPr lang="ko-KR" altLang="en-US" sz="700" b="1" dirty="0"/>
                        <a:t>심판</a:t>
                      </a:r>
                      <a:endParaRPr lang="en-US" altLang="ko-KR" sz="700" b="1" dirty="0"/>
                    </a:p>
                    <a:p>
                      <a:pPr latinLnBrk="1"/>
                      <a:r>
                        <a:rPr lang="en-US" altLang="ko-KR" sz="700" b="1" dirty="0"/>
                        <a:t>(1&amp;2&amp;3)</a:t>
                      </a:r>
                      <a:endParaRPr lang="ko-KR" altLang="en-US" sz="700" b="1"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164667">
                <a:tc rowSpan="5">
                  <a:txBody>
                    <a:bodyPr/>
                    <a:lstStyle/>
                    <a:p>
                      <a:pPr latinLnBrk="1"/>
                      <a:r>
                        <a:rPr lang="en-US" altLang="ko-KR" sz="700" dirty="0"/>
                        <a:t>1</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lang="ko-KR" altLang="en-US" sz="700" dirty="0"/>
                        <a:t>핸들</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1" lang="en-US" altLang="ko-KR" sz="700" u="none" strike="noStrike" cap="none" normalizeH="0" baseline="0" dirty="0">
                          <a:ln>
                            <a:noFill/>
                          </a:ln>
                          <a:effectLst/>
                        </a:rPr>
                        <a:t>O</a:t>
                      </a:r>
                      <a:endParaRPr kumimoji="1" lang="en-US" altLang="ko-KR" sz="7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1" lang="en-US" altLang="ko-KR" sz="700" u="none" strike="noStrike" cap="none" normalizeH="0" baseline="0" dirty="0">
                          <a:ln>
                            <a:noFill/>
                          </a:ln>
                          <a:effectLst/>
                        </a:rPr>
                        <a:t>O</a:t>
                      </a:r>
                      <a:endParaRPr kumimoji="1" lang="en-US" altLang="ko-KR" sz="7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1"/>
                  </a:ext>
                </a:extLst>
              </a:tr>
              <a:tr h="164667">
                <a:tc vMerge="1">
                  <a:txBody>
                    <a:bodyPr/>
                    <a:lstStyle/>
                    <a:p>
                      <a:pPr latinLnBrk="1"/>
                      <a:endParaRPr lang="ko-KR" altLang="en-US" sz="1400" dirty="0"/>
                    </a:p>
                  </a:txBody>
                  <a:tcPr/>
                </a:tc>
                <a:tc>
                  <a:txBody>
                    <a:bodyPr/>
                    <a:lstStyle/>
                    <a:p>
                      <a:pPr latinLnBrk="1"/>
                      <a:r>
                        <a:rPr lang="ko-KR" altLang="en-US" sz="700" dirty="0"/>
                        <a:t>바퀴</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1" lang="en-US" altLang="ko-KR" sz="700" u="none" strike="noStrike" cap="none" normalizeH="0" baseline="0" dirty="0">
                          <a:ln>
                            <a:noFill/>
                          </a:ln>
                          <a:effectLst/>
                        </a:rPr>
                        <a:t>O</a:t>
                      </a:r>
                      <a:endParaRPr kumimoji="1" lang="en-US" altLang="ko-KR" sz="7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2"/>
                  </a:ext>
                </a:extLst>
              </a:tr>
              <a:tr h="164667">
                <a:tc vMerge="1">
                  <a:txBody>
                    <a:bodyPr/>
                    <a:lstStyle/>
                    <a:p>
                      <a:pPr latinLnBrk="1"/>
                      <a:endParaRPr lang="ko-KR" altLang="en-US" sz="1400" dirty="0"/>
                    </a:p>
                  </a:txBody>
                  <a:tcPr/>
                </a:tc>
                <a:tc>
                  <a:txBody>
                    <a:bodyPr/>
                    <a:lstStyle/>
                    <a:p>
                      <a:pPr latinLnBrk="1"/>
                      <a:r>
                        <a:rPr lang="ko-KR" altLang="en-US" sz="700" dirty="0"/>
                        <a:t>바디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3"/>
                  </a:ext>
                </a:extLst>
              </a:tr>
              <a:tr h="164667">
                <a:tc vMerge="1">
                  <a:txBody>
                    <a:bodyPr/>
                    <a:lstStyle/>
                    <a:p>
                      <a:pPr latinLnBrk="1"/>
                      <a:endParaRPr lang="ko-KR" altLang="en-US" sz="1400" dirty="0"/>
                    </a:p>
                  </a:txBody>
                  <a:tcPr/>
                </a:tc>
                <a:tc>
                  <a:txBody>
                    <a:bodyPr/>
                    <a:lstStyle/>
                    <a:p>
                      <a:pPr latinLnBrk="1"/>
                      <a:r>
                        <a:rPr lang="ko-KR" altLang="en-US" sz="700" dirty="0" err="1"/>
                        <a:t>폐달</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4"/>
                  </a:ext>
                </a:extLst>
              </a:tr>
              <a:tr h="164667">
                <a:tc vMerge="1">
                  <a:txBody>
                    <a:bodyPr/>
                    <a:lstStyle/>
                    <a:p>
                      <a:pPr latinLnBrk="1"/>
                      <a:endParaRPr lang="ko-KR" altLang="en-US" sz="1400" dirty="0"/>
                    </a:p>
                  </a:txBody>
                  <a:tcPr/>
                </a:tc>
                <a:tc>
                  <a:txBody>
                    <a:bodyPr/>
                    <a:lstStyle/>
                    <a:p>
                      <a:pPr latinLnBrk="1"/>
                      <a:r>
                        <a:rPr lang="ko-KR" altLang="en-US" sz="700" dirty="0" err="1"/>
                        <a:t>라이트</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pPr latinLnBrk="1"/>
                      <a:r>
                        <a:rPr kumimoji="1" lang="en-US" altLang="ko-KR" sz="700" u="none" strike="noStrike" cap="none" normalizeH="0" baseline="0">
                          <a:ln>
                            <a:noFill/>
                          </a:ln>
                          <a:effectLst/>
                        </a:rPr>
                        <a:t>O</a:t>
                      </a:r>
                      <a:endParaRPr lang="en-US" altLang="ko-KR" sz="70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solidFill>
                            <a:srgbClr val="FFFF00"/>
                          </a:solidFill>
                          <a:effectLst/>
                        </a:rPr>
                        <a:t>O</a:t>
                      </a:r>
                      <a:endParaRPr lang="ko-KR" altLang="en-US" sz="700" dirty="0">
                        <a:solidFill>
                          <a:srgbClr val="FFFF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extLst>
                  <a:ext uri="{0D108BD9-81ED-4DB2-BD59-A6C34878D82A}">
                    <a16:rowId xmlns:a16="http://schemas.microsoft.com/office/drawing/2014/main" val="10005"/>
                  </a:ext>
                </a:extLst>
              </a:tr>
              <a:tr h="164667">
                <a:tc rowSpan="6">
                  <a:txBody>
                    <a:bodyPr/>
                    <a:lstStyle/>
                    <a:p>
                      <a:pPr latinLnBrk="1"/>
                      <a:r>
                        <a:rPr lang="en-US" altLang="ko-KR" sz="700" dirty="0"/>
                        <a:t>2</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lang="ko-KR" altLang="en-US" sz="700" dirty="0"/>
                        <a:t>핸들</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6"/>
                  </a:ext>
                </a:extLst>
              </a:tr>
              <a:tr h="164667">
                <a:tc vMerge="1">
                  <a:txBody>
                    <a:bodyPr/>
                    <a:lstStyle/>
                    <a:p>
                      <a:pPr latinLnBrk="1"/>
                      <a:endParaRPr lang="ko-KR" altLang="en-US" sz="1400"/>
                    </a:p>
                  </a:txBody>
                  <a:tcPr/>
                </a:tc>
                <a:tc>
                  <a:txBody>
                    <a:bodyPr/>
                    <a:lstStyle/>
                    <a:p>
                      <a:pPr latinLnBrk="1"/>
                      <a:r>
                        <a:rPr lang="ko-KR" altLang="en-US" sz="700" dirty="0"/>
                        <a:t>바퀴</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7"/>
                  </a:ext>
                </a:extLst>
              </a:tr>
              <a:tr h="164667">
                <a:tc vMerge="1">
                  <a:txBody>
                    <a:bodyPr/>
                    <a:lstStyle/>
                    <a:p>
                      <a:pPr latinLnBrk="1"/>
                      <a:endParaRPr lang="ko-KR" altLang="en-US" sz="1400" dirty="0"/>
                    </a:p>
                  </a:txBody>
                  <a:tcPr/>
                </a:tc>
                <a:tc>
                  <a:txBody>
                    <a:bodyPr/>
                    <a:lstStyle/>
                    <a:p>
                      <a:pPr latinLnBrk="1"/>
                      <a:r>
                        <a:rPr lang="ko-KR" altLang="en-US" sz="700" dirty="0"/>
                        <a:t>바디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8"/>
                  </a:ext>
                </a:extLst>
              </a:tr>
              <a:tr h="164667">
                <a:tc vMerge="1">
                  <a:txBody>
                    <a:bodyPr/>
                    <a:lstStyle/>
                    <a:p>
                      <a:pPr latinLnBrk="1"/>
                      <a:endParaRPr lang="ko-KR" altLang="en-US" sz="1400"/>
                    </a:p>
                  </a:txBody>
                  <a:tcPr/>
                </a:tc>
                <a:tc>
                  <a:txBody>
                    <a:bodyPr/>
                    <a:lstStyle/>
                    <a:p>
                      <a:pPr latinLnBrk="1"/>
                      <a:r>
                        <a:rPr lang="ko-KR" altLang="en-US" sz="700" dirty="0" err="1"/>
                        <a:t>폐달</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9"/>
                  </a:ext>
                </a:extLst>
              </a:tr>
              <a:tr h="164667">
                <a:tc vMerge="1">
                  <a:txBody>
                    <a:bodyPr/>
                    <a:lstStyle/>
                    <a:p>
                      <a:pPr latinLnBrk="1"/>
                      <a:endParaRPr lang="ko-KR" altLang="en-US" sz="1400" dirty="0"/>
                    </a:p>
                  </a:txBody>
                  <a:tcPr/>
                </a:tc>
                <a:tc>
                  <a:txBody>
                    <a:bodyPr/>
                    <a:lstStyle/>
                    <a:p>
                      <a:pPr latinLnBrk="1"/>
                      <a:r>
                        <a:rPr lang="ko-KR" altLang="en-US" sz="700" dirty="0" err="1"/>
                        <a:t>라이트</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solidFill>
                            <a:srgbClr val="FFFF00"/>
                          </a:solidFill>
                          <a:effectLst/>
                        </a:rPr>
                        <a:t>O</a:t>
                      </a:r>
                      <a:endParaRPr lang="ko-KR" altLang="en-US" sz="700" dirty="0">
                        <a:solidFill>
                          <a:srgbClr val="FFFF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extLst>
                  <a:ext uri="{0D108BD9-81ED-4DB2-BD59-A6C34878D82A}">
                    <a16:rowId xmlns:a16="http://schemas.microsoft.com/office/drawing/2014/main" val="10010"/>
                  </a:ext>
                </a:extLst>
              </a:tr>
              <a:tr h="164667">
                <a:tc vMerge="1">
                  <a:txBody>
                    <a:bodyPr/>
                    <a:lstStyle/>
                    <a:p>
                      <a:pPr latinLnBrk="1"/>
                      <a:endParaRPr lang="ko-KR" altLang="en-US" sz="1400" dirty="0"/>
                    </a:p>
                  </a:txBody>
                  <a:tcPr/>
                </a:tc>
                <a:tc>
                  <a:txBody>
                    <a:bodyPr/>
                    <a:lstStyle/>
                    <a:p>
                      <a:pPr latinLnBrk="1"/>
                      <a:r>
                        <a:rPr lang="ko-KR" altLang="en-US" sz="700" dirty="0"/>
                        <a:t>안장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11"/>
                  </a:ext>
                </a:extLst>
              </a:tr>
              <a:tr h="164667">
                <a:tc rowSpan="6">
                  <a:txBody>
                    <a:bodyPr/>
                    <a:lstStyle/>
                    <a:p>
                      <a:pPr latinLnBrk="1"/>
                      <a:r>
                        <a:rPr lang="en-US" altLang="ko-KR" sz="700" dirty="0"/>
                        <a:t>3</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lang="ko-KR" altLang="en-US" sz="700" dirty="0"/>
                        <a:t>핸들</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12"/>
                  </a:ext>
                </a:extLst>
              </a:tr>
              <a:tr h="164667">
                <a:tc vMerge="1">
                  <a:txBody>
                    <a:bodyPr/>
                    <a:lstStyle/>
                    <a:p>
                      <a:pPr latinLnBrk="1"/>
                      <a:endParaRPr lang="ko-KR" altLang="en-US" sz="1400" dirty="0"/>
                    </a:p>
                  </a:txBody>
                  <a:tcPr/>
                </a:tc>
                <a:tc>
                  <a:txBody>
                    <a:bodyPr/>
                    <a:lstStyle/>
                    <a:p>
                      <a:pPr latinLnBrk="1"/>
                      <a:r>
                        <a:rPr lang="ko-KR" altLang="en-US" sz="700" dirty="0"/>
                        <a:t>바퀴</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13"/>
                  </a:ext>
                </a:extLst>
              </a:tr>
              <a:tr h="164667">
                <a:tc vMerge="1">
                  <a:txBody>
                    <a:bodyPr/>
                    <a:lstStyle/>
                    <a:p>
                      <a:pPr latinLnBrk="1"/>
                      <a:endParaRPr lang="ko-KR" altLang="en-US" sz="1400" dirty="0"/>
                    </a:p>
                  </a:txBody>
                  <a:tcPr/>
                </a:tc>
                <a:tc>
                  <a:txBody>
                    <a:bodyPr/>
                    <a:lstStyle/>
                    <a:p>
                      <a:pPr latinLnBrk="1"/>
                      <a:r>
                        <a:rPr lang="ko-KR" altLang="en-US" sz="700" dirty="0"/>
                        <a:t>바디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14"/>
                  </a:ext>
                </a:extLst>
              </a:tr>
              <a:tr h="164667">
                <a:tc vMerge="1">
                  <a:txBody>
                    <a:bodyPr/>
                    <a:lstStyle/>
                    <a:p>
                      <a:pPr latinLnBrk="1"/>
                      <a:endParaRPr lang="ko-KR" altLang="en-US" sz="1400" dirty="0"/>
                    </a:p>
                  </a:txBody>
                  <a:tcPr/>
                </a:tc>
                <a:tc>
                  <a:txBody>
                    <a:bodyPr/>
                    <a:lstStyle/>
                    <a:p>
                      <a:pPr latinLnBrk="1"/>
                      <a:r>
                        <a:rPr lang="ko-KR" altLang="en-US" sz="700" dirty="0" err="1"/>
                        <a:t>폐달</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15"/>
                  </a:ext>
                </a:extLst>
              </a:tr>
              <a:tr h="164667">
                <a:tc vMerge="1">
                  <a:txBody>
                    <a:bodyPr/>
                    <a:lstStyle/>
                    <a:p>
                      <a:pPr latinLnBrk="1"/>
                      <a:endParaRPr lang="ko-KR" altLang="en-US" sz="1400"/>
                    </a:p>
                  </a:txBody>
                  <a:tcPr/>
                </a:tc>
                <a:tc>
                  <a:txBody>
                    <a:bodyPr/>
                    <a:lstStyle/>
                    <a:p>
                      <a:pPr latinLnBrk="1"/>
                      <a:r>
                        <a:rPr lang="ko-KR" altLang="en-US" sz="700" dirty="0" err="1"/>
                        <a:t>라이트</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extLst>
                  <a:ext uri="{0D108BD9-81ED-4DB2-BD59-A6C34878D82A}">
                    <a16:rowId xmlns:a16="http://schemas.microsoft.com/office/drawing/2014/main" val="10016"/>
                  </a:ext>
                </a:extLst>
              </a:tr>
              <a:tr h="164667">
                <a:tc vMerge="1">
                  <a:txBody>
                    <a:bodyPr/>
                    <a:lstStyle/>
                    <a:p>
                      <a:pPr latinLnBrk="1"/>
                      <a:endParaRPr lang="ko-KR" altLang="en-US" sz="1400" dirty="0"/>
                    </a:p>
                  </a:txBody>
                  <a:tcPr/>
                </a:tc>
                <a:tc>
                  <a:txBody>
                    <a:bodyPr/>
                    <a:lstStyle/>
                    <a:p>
                      <a:pPr latinLnBrk="1"/>
                      <a:r>
                        <a:rPr lang="ko-KR" altLang="en-US" sz="700" dirty="0"/>
                        <a:t>기어</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extLst>
                  <a:ext uri="{0D108BD9-81ED-4DB2-BD59-A6C34878D82A}">
                    <a16:rowId xmlns:a16="http://schemas.microsoft.com/office/drawing/2014/main" val="10017"/>
                  </a:ext>
                </a:extLst>
              </a:tr>
            </a:tbl>
          </a:graphicData>
        </a:graphic>
      </p:graphicFrame>
    </p:spTree>
    <p:extLst>
      <p:ext uri="{BB962C8B-B14F-4D97-AF65-F5344CB8AC3E}">
        <p14:creationId xmlns:p14="http://schemas.microsoft.com/office/powerpoint/2010/main" val="377568031"/>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직사각형 40"/>
          <p:cNvSpPr/>
          <p:nvPr/>
        </p:nvSpPr>
        <p:spPr>
          <a:xfrm>
            <a:off x="516475" y="5205528"/>
            <a:ext cx="5571066" cy="484072"/>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rPr>
              <a:t>종결부</a:t>
            </a:r>
          </a:p>
        </p:txBody>
      </p:sp>
      <p:sp>
        <p:nvSpPr>
          <p:cNvPr id="39" name="직사각형 38"/>
          <p:cNvSpPr/>
          <p:nvPr/>
        </p:nvSpPr>
        <p:spPr>
          <a:xfrm>
            <a:off x="516475" y="4621328"/>
            <a:ext cx="5571066" cy="484072"/>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err="1">
                <a:ln>
                  <a:noFill/>
                </a:ln>
                <a:solidFill>
                  <a:srgbClr val="ED7D31">
                    <a:lumMod val="50000"/>
                  </a:srgbClr>
                </a:solidFill>
                <a:effectLst/>
                <a:uLnTx/>
                <a:uFillTx/>
                <a:latin typeface="Frutiger LT 65 Bold"/>
                <a:ea typeface="Rix모던고딕 B"/>
                <a:cs typeface="+mn-cs"/>
              </a:rPr>
              <a:t>연결부</a:t>
            </a:r>
            <a:endParaRPr kumimoji="0" lang="ko-KR" altLang="en-US" sz="18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endParaRPr>
          </a:p>
        </p:txBody>
      </p:sp>
      <p:sp>
        <p:nvSpPr>
          <p:cNvPr id="38" name="직사각형 37"/>
          <p:cNvSpPr/>
          <p:nvPr/>
        </p:nvSpPr>
        <p:spPr>
          <a:xfrm>
            <a:off x="516475" y="2810933"/>
            <a:ext cx="5571066" cy="1710267"/>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err="1">
                <a:ln>
                  <a:noFill/>
                </a:ln>
                <a:solidFill>
                  <a:srgbClr val="ED7D31">
                    <a:lumMod val="50000"/>
                  </a:srgbClr>
                </a:solidFill>
                <a:effectLst/>
                <a:uLnTx/>
                <a:uFillTx/>
                <a:latin typeface="Frutiger LT 65 Bold"/>
                <a:ea typeface="Rix모던고딕 B"/>
                <a:cs typeface="+mn-cs"/>
              </a:rPr>
              <a:t>특징부</a:t>
            </a:r>
            <a:endParaRPr kumimoji="0" lang="ko-KR" altLang="en-US" sz="18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endParaRPr>
          </a:p>
        </p:txBody>
      </p:sp>
      <p:sp>
        <p:nvSpPr>
          <p:cNvPr id="5" name="직사각형 4"/>
          <p:cNvSpPr/>
          <p:nvPr/>
        </p:nvSpPr>
        <p:spPr>
          <a:xfrm>
            <a:off x="516475" y="2159000"/>
            <a:ext cx="5571066" cy="516467"/>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err="1">
                <a:ln>
                  <a:noFill/>
                </a:ln>
                <a:solidFill>
                  <a:srgbClr val="ED7D31">
                    <a:lumMod val="50000"/>
                  </a:srgbClr>
                </a:solidFill>
                <a:effectLst/>
                <a:uLnTx/>
                <a:uFillTx/>
                <a:latin typeface="Frutiger LT 65 Bold"/>
                <a:ea typeface="Rix모던고딕 B"/>
                <a:cs typeface="+mn-cs"/>
              </a:rPr>
              <a:t>전제부</a:t>
            </a:r>
            <a:endParaRPr kumimoji="0" lang="ko-KR" altLang="en-US" sz="1800" b="0" i="0" u="none" strike="noStrike" kern="1200" cap="none" spc="0" normalizeH="0" baseline="0" noProof="0" dirty="0">
              <a:ln>
                <a:noFill/>
              </a:ln>
              <a:solidFill>
                <a:srgbClr val="ED7D31">
                  <a:lumMod val="50000"/>
                </a:srgbClr>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ko-KR" altLang="en-US" dirty="0"/>
              <a:t>청구항의 구조</a:t>
            </a:r>
            <a:r>
              <a:rPr lang="en-US" altLang="ko-KR" dirty="0"/>
              <a:t>(Claim Structure)</a:t>
            </a:r>
            <a:endParaRPr lang="ko-KR" altLang="en-US" dirty="0"/>
          </a:p>
        </p:txBody>
      </p:sp>
      <p:sp>
        <p:nvSpPr>
          <p:cNvPr id="6" name="슬라이드 번호 개체 틀 5"/>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133</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graphicFrame>
        <p:nvGraphicFramePr>
          <p:cNvPr id="34" name="Group 53"/>
          <p:cNvGraphicFramePr>
            <a:graphicFrameLocks noGrp="1"/>
          </p:cNvGraphicFramePr>
          <p:nvPr/>
        </p:nvGraphicFramePr>
        <p:xfrm>
          <a:off x="7044289" y="1405469"/>
          <a:ext cx="4665126" cy="4852173"/>
        </p:xfrm>
        <a:graphic>
          <a:graphicData uri="http://schemas.openxmlformats.org/drawingml/2006/table">
            <a:tbl>
              <a:tblPr>
                <a:tableStyleId>{8799B23B-EC83-4686-B30A-512413B5E67A}</a:tableStyleId>
              </a:tblPr>
              <a:tblGrid>
                <a:gridCol w="845587">
                  <a:extLst>
                    <a:ext uri="{9D8B030D-6E8A-4147-A177-3AD203B41FA5}">
                      <a16:colId xmlns:a16="http://schemas.microsoft.com/office/drawing/2014/main" val="20000"/>
                    </a:ext>
                  </a:extLst>
                </a:gridCol>
                <a:gridCol w="3819539">
                  <a:extLst>
                    <a:ext uri="{9D8B030D-6E8A-4147-A177-3AD203B41FA5}">
                      <a16:colId xmlns:a16="http://schemas.microsoft.com/office/drawing/2014/main" val="20001"/>
                    </a:ext>
                  </a:extLst>
                </a:gridCol>
              </a:tblGrid>
              <a:tr h="379076">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200" b="1" u="none" strike="noStrike" cap="none" normalizeH="0" baseline="0" dirty="0">
                          <a:ln>
                            <a:noFill/>
                          </a:ln>
                          <a:effectLst/>
                        </a:rPr>
                        <a:t>형 식</a:t>
                      </a:r>
                      <a:endParaRPr kumimoji="1" lang="ko-KR" altLang="en-US" sz="1200" b="1" i="0" u="none" strike="noStrike" cap="none" normalizeH="0" baseline="0" dirty="0">
                        <a:ln>
                          <a:noFill/>
                        </a:ln>
                        <a:solidFill>
                          <a:schemeClr val="bg1"/>
                        </a:solidFill>
                        <a:effectLst/>
                        <a:latin typeface="+mn-ea"/>
                        <a:ea typeface="+mn-ea"/>
                      </a:endParaRPr>
                    </a:p>
                  </a:txBody>
                  <a:tcPr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200" b="1" u="none" strike="noStrike" cap="none" normalizeH="0" baseline="0" dirty="0">
                          <a:ln>
                            <a:noFill/>
                          </a:ln>
                          <a:effectLst/>
                        </a:rPr>
                        <a:t>작     성    내     용</a:t>
                      </a:r>
                      <a:endParaRPr kumimoji="1" lang="ko-KR" altLang="en-US" sz="1200" b="1" i="0" u="none" strike="noStrike" cap="none" normalizeH="0" baseline="0" dirty="0">
                        <a:ln>
                          <a:noFill/>
                        </a:ln>
                        <a:solidFill>
                          <a:schemeClr val="bg1"/>
                        </a:solidFill>
                        <a:effectLst/>
                        <a:latin typeface="+mn-ea"/>
                        <a:ea typeface="+mn-ea"/>
                      </a:endParaRPr>
                    </a:p>
                  </a:txBody>
                  <a:tcPr anchor="ctr" horzOverflow="overflow">
                    <a:solidFill>
                      <a:schemeClr val="accent1">
                        <a:lumMod val="20000"/>
                        <a:lumOff val="80000"/>
                      </a:schemeClr>
                    </a:solidFill>
                  </a:tcPr>
                </a:tc>
                <a:extLst>
                  <a:ext uri="{0D108BD9-81ED-4DB2-BD59-A6C34878D82A}">
                    <a16:rowId xmlns:a16="http://schemas.microsoft.com/office/drawing/2014/main" val="10000"/>
                  </a:ext>
                </a:extLst>
              </a:tr>
              <a:tr h="1036141">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200" u="none" strike="noStrike" cap="none" normalizeH="0" baseline="0" dirty="0" err="1">
                          <a:ln>
                            <a:noFill/>
                          </a:ln>
                          <a:effectLst/>
                        </a:rPr>
                        <a:t>전제부</a:t>
                      </a:r>
                      <a:endParaRPr kumimoji="1" lang="ko-KR" altLang="en-US" sz="1200" b="1" i="0" u="none" strike="noStrike" cap="none" normalizeH="0" baseline="0" dirty="0">
                        <a:ln>
                          <a:noFill/>
                        </a:ln>
                        <a:solidFill>
                          <a:schemeClr val="bg1"/>
                        </a:solidFill>
                        <a:effectLst/>
                        <a:latin typeface="+mn-ea"/>
                        <a:ea typeface="+mn-ea"/>
                      </a:endParaRPr>
                    </a:p>
                  </a:txBody>
                  <a:tcPr anchor="ctr" horzOverflow="overflow"/>
                </a:tc>
                <a:tc>
                  <a:txBody>
                    <a:bodyPr/>
                    <a:lstStyle/>
                    <a:p>
                      <a:pPr marL="0" marR="0" lvl="0" indent="0" algn="just"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rPr>
                        <a:t> o </a:t>
                      </a:r>
                      <a:r>
                        <a:rPr kumimoji="1" lang="ko-KR" altLang="en-US" sz="1200" u="none" strike="noStrike" cap="none" normalizeH="0" baseline="0" dirty="0">
                          <a:ln>
                            <a:noFill/>
                          </a:ln>
                          <a:effectLst/>
                        </a:rPr>
                        <a:t>기술분야 한정</a:t>
                      </a:r>
                      <a:endParaRPr kumimoji="1" lang="en-US" altLang="ko-KR" sz="1200" u="none" strike="noStrike" cap="none" normalizeH="0" baseline="0" dirty="0">
                        <a:ln>
                          <a:noFill/>
                        </a:ln>
                        <a:effectLst/>
                      </a:endParaRPr>
                    </a:p>
                    <a:p>
                      <a:pPr marL="0" marR="0" lvl="0" indent="0" algn="just" defTabSz="914400" rtl="0" eaLnBrk="1" fontAlgn="base" latinLnBrk="1" hangingPunct="1">
                        <a:lnSpc>
                          <a:spcPct val="100000"/>
                        </a:lnSpc>
                        <a:spcBef>
                          <a:spcPct val="0"/>
                        </a:spcBef>
                        <a:spcAft>
                          <a:spcPct val="30000"/>
                        </a:spcAft>
                        <a:buClrTx/>
                        <a:buSzTx/>
                        <a:buFontTx/>
                        <a:buNone/>
                        <a:tabLst/>
                      </a:pPr>
                      <a:r>
                        <a:rPr kumimoji="1" lang="ko-KR" altLang="en-US" sz="1200" u="none" strike="noStrike" cap="none" normalizeH="0" baseline="0" dirty="0">
                          <a:ln>
                            <a:noFill/>
                          </a:ln>
                          <a:effectLst/>
                        </a:rPr>
                        <a:t> </a:t>
                      </a:r>
                      <a:r>
                        <a:rPr kumimoji="1" lang="en-US" altLang="ko-KR" sz="1200" u="none" strike="noStrike" cap="none" normalizeH="0" baseline="0" dirty="0">
                          <a:ln>
                            <a:noFill/>
                          </a:ln>
                          <a:effectLst/>
                        </a:rPr>
                        <a:t>o </a:t>
                      </a:r>
                      <a:r>
                        <a:rPr kumimoji="1" lang="ko-KR" altLang="en-US" sz="1200" u="none" strike="noStrike" cap="none" normalizeH="0" baseline="0" dirty="0">
                          <a:ln>
                            <a:noFill/>
                          </a:ln>
                          <a:effectLst/>
                        </a:rPr>
                        <a:t>기술이 적용되는 대상물품</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용도</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의 한정</a:t>
                      </a:r>
                      <a:endParaRPr kumimoji="1" lang="en-US" altLang="ko-KR" sz="1200" u="none" strike="noStrike" cap="none" normalizeH="0" baseline="0" dirty="0">
                        <a:ln>
                          <a:noFill/>
                        </a:ln>
                        <a:effectLst/>
                      </a:endParaRPr>
                    </a:p>
                    <a:p>
                      <a:pPr marL="0" marR="0" lvl="0" indent="0" algn="just" defTabSz="914400" rtl="0" eaLnBrk="1" fontAlgn="base" latinLnBrk="1" hangingPunct="1">
                        <a:lnSpc>
                          <a:spcPct val="100000"/>
                        </a:lnSpc>
                        <a:spcBef>
                          <a:spcPct val="0"/>
                        </a:spcBef>
                        <a:spcAft>
                          <a:spcPct val="30000"/>
                        </a:spcAft>
                        <a:buClrTx/>
                        <a:buSzTx/>
                        <a:buFontTx/>
                        <a:buNone/>
                        <a:tabLst/>
                      </a:pPr>
                      <a:r>
                        <a:rPr kumimoji="1" lang="ko-KR" altLang="en-US" sz="1200" u="none" strike="noStrike" cap="none" normalizeH="0" baseline="0" dirty="0">
                          <a:ln>
                            <a:noFill/>
                          </a:ln>
                          <a:solidFill>
                            <a:schemeClr val="tx1"/>
                          </a:solidFill>
                          <a:effectLst/>
                        </a:rPr>
                        <a:t> </a:t>
                      </a:r>
                      <a:r>
                        <a:rPr kumimoji="1" lang="en-US" altLang="ko-KR" sz="1200" u="none" strike="noStrike" cap="none" normalizeH="0" baseline="0" dirty="0">
                          <a:ln>
                            <a:noFill/>
                          </a:ln>
                          <a:solidFill>
                            <a:schemeClr val="tx1"/>
                          </a:solidFill>
                          <a:effectLst/>
                        </a:rPr>
                        <a:t>o </a:t>
                      </a:r>
                      <a:r>
                        <a:rPr kumimoji="1" lang="ko-KR" altLang="en-US" sz="1200" u="none" strike="noStrike" cap="none" normalizeH="0" baseline="0" dirty="0">
                          <a:ln>
                            <a:noFill/>
                          </a:ln>
                          <a:solidFill>
                            <a:schemeClr val="tx1"/>
                          </a:solidFill>
                          <a:effectLst/>
                        </a:rPr>
                        <a:t>선행기술로 생각하여 기재</a:t>
                      </a:r>
                      <a:endParaRPr kumimoji="1" lang="en-US" altLang="ko-KR" sz="1200" b="0" i="0" u="none" strike="noStrike" cap="none" normalizeH="0" baseline="0" dirty="0">
                        <a:ln>
                          <a:noFill/>
                        </a:ln>
                        <a:solidFill>
                          <a:schemeClr val="tx1"/>
                        </a:solidFill>
                        <a:effectLst/>
                        <a:latin typeface="+mn-ea"/>
                        <a:ea typeface="+mn-ea"/>
                      </a:endParaRPr>
                    </a:p>
                  </a:txBody>
                  <a:tcPr anchor="ctr" horzOverflow="overflow"/>
                </a:tc>
                <a:extLst>
                  <a:ext uri="{0D108BD9-81ED-4DB2-BD59-A6C34878D82A}">
                    <a16:rowId xmlns:a16="http://schemas.microsoft.com/office/drawing/2014/main" val="10001"/>
                  </a:ext>
                </a:extLst>
              </a:tr>
              <a:tr h="707609">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200" u="none" strike="noStrike" cap="none" normalizeH="0" baseline="0" dirty="0" err="1">
                          <a:ln>
                            <a:noFill/>
                          </a:ln>
                          <a:effectLst/>
                        </a:rPr>
                        <a:t>특징부</a:t>
                      </a:r>
                      <a:endParaRPr kumimoji="1" lang="en-US" altLang="ko-KR" sz="1200" u="none" strike="noStrike" cap="none" normalizeH="0" baseline="0" dirty="0">
                        <a:ln>
                          <a:noFill/>
                        </a:ln>
                        <a:effectLst/>
                      </a:endParaRPr>
                    </a:p>
                    <a:p>
                      <a:pPr marL="0" marR="0" lvl="0" indent="0" algn="ctr"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rPr>
                        <a:t>(</a:t>
                      </a:r>
                      <a:r>
                        <a:rPr kumimoji="1" lang="ko-KR" altLang="en-US" sz="1200" u="none" strike="noStrike" cap="none" normalizeH="0" baseline="0" dirty="0" err="1">
                          <a:ln>
                            <a:noFill/>
                          </a:ln>
                          <a:effectLst/>
                        </a:rPr>
                        <a:t>본체부</a:t>
                      </a:r>
                      <a:r>
                        <a:rPr kumimoji="1" lang="en-US" altLang="ko-KR" sz="1200" u="none" strike="noStrike" cap="none" normalizeH="0" baseline="0" dirty="0">
                          <a:ln>
                            <a:noFill/>
                          </a:ln>
                          <a:effectLst/>
                        </a:rPr>
                        <a:t>)</a:t>
                      </a:r>
                      <a:endParaRPr kumimoji="1" lang="ko-KR" altLang="en-US" sz="1200" b="1" i="0" u="none" strike="noStrike" cap="none" normalizeH="0" baseline="0" dirty="0">
                        <a:ln>
                          <a:noFill/>
                        </a:ln>
                        <a:solidFill>
                          <a:schemeClr val="bg1"/>
                        </a:solidFill>
                        <a:effectLst/>
                        <a:latin typeface="+mn-ea"/>
                        <a:ea typeface="+mn-ea"/>
                      </a:endParaRPr>
                    </a:p>
                  </a:txBody>
                  <a:tcPr anchor="ctr" horzOverflow="overflow"/>
                </a:tc>
                <a:tc>
                  <a:txBody>
                    <a:bodyPr/>
                    <a:lstStyle/>
                    <a:p>
                      <a:pPr marL="0" marR="0" lvl="0" indent="0" algn="just"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rPr>
                        <a:t> o </a:t>
                      </a:r>
                      <a:r>
                        <a:rPr kumimoji="1" lang="ko-KR" altLang="en-US" sz="1200" u="none" strike="noStrike" cap="none" normalizeH="0" baseline="0" dirty="0">
                          <a:ln>
                            <a:noFill/>
                          </a:ln>
                          <a:effectLst/>
                        </a:rPr>
                        <a:t>발명의 핵심적 구성요소 기재</a:t>
                      </a:r>
                    </a:p>
                    <a:p>
                      <a:pPr marL="0" marR="0" lvl="0" indent="0" algn="just" defTabSz="914400" rtl="0" eaLnBrk="1" fontAlgn="base" latinLnBrk="1" hangingPunct="1">
                        <a:lnSpc>
                          <a:spcPct val="100000"/>
                        </a:lnSpc>
                        <a:spcBef>
                          <a:spcPct val="0"/>
                        </a:spcBef>
                        <a:spcAft>
                          <a:spcPct val="30000"/>
                        </a:spcAft>
                        <a:buClrTx/>
                        <a:buSzTx/>
                        <a:buFontTx/>
                        <a:buNone/>
                        <a:tabLst/>
                      </a:pPr>
                      <a:r>
                        <a:rPr kumimoji="1" lang="ko-KR" altLang="en-US" sz="1200" u="none" strike="noStrike" cap="none" normalizeH="0" baseline="0" dirty="0">
                          <a:ln>
                            <a:noFill/>
                          </a:ln>
                          <a:effectLst/>
                        </a:rPr>
                        <a:t> </a:t>
                      </a:r>
                      <a:r>
                        <a:rPr kumimoji="1" lang="en-US" altLang="ko-KR" sz="1200" u="none" strike="noStrike" cap="none" normalizeH="0" baseline="0" dirty="0">
                          <a:ln>
                            <a:noFill/>
                          </a:ln>
                          <a:effectLst/>
                        </a:rPr>
                        <a:t>o </a:t>
                      </a:r>
                      <a:r>
                        <a:rPr kumimoji="1" lang="ko-KR" altLang="en-US" sz="1200" u="none" strike="noStrike" cap="none" normalizeH="0" baseline="0" dirty="0">
                          <a:ln>
                            <a:noFill/>
                          </a:ln>
                          <a:effectLst/>
                        </a:rPr>
                        <a:t>보호받으려고 하는 실질적인 구성요소 기재</a:t>
                      </a:r>
                    </a:p>
                  </a:txBody>
                  <a:tcPr anchor="ctr" horzOverflow="overflow"/>
                </a:tc>
                <a:extLst>
                  <a:ext uri="{0D108BD9-81ED-4DB2-BD59-A6C34878D82A}">
                    <a16:rowId xmlns:a16="http://schemas.microsoft.com/office/drawing/2014/main" val="10002"/>
                  </a:ext>
                </a:extLst>
              </a:tr>
              <a:tr h="1693206">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200" u="none" strike="noStrike" cap="none" normalizeH="0" baseline="0" dirty="0" err="1">
                          <a:ln>
                            <a:noFill/>
                          </a:ln>
                          <a:effectLst/>
                        </a:rPr>
                        <a:t>연결부</a:t>
                      </a:r>
                      <a:endParaRPr kumimoji="1" lang="ko-KR" altLang="en-US" sz="1200" b="1" i="0" u="none" strike="noStrike" cap="none" normalizeH="0" baseline="0" dirty="0">
                        <a:ln>
                          <a:noFill/>
                        </a:ln>
                        <a:solidFill>
                          <a:schemeClr val="bg1"/>
                        </a:solidFill>
                        <a:effectLst/>
                        <a:latin typeface="+mn-ea"/>
                        <a:ea typeface="+mn-ea"/>
                      </a:endParaRPr>
                    </a:p>
                  </a:txBody>
                  <a:tcPr anchor="ctr" horzOverflow="overflow"/>
                </a:tc>
                <a:tc>
                  <a:txBody>
                    <a:bodyPr/>
                    <a:lstStyle/>
                    <a:p>
                      <a:pPr marL="0" marR="0" lvl="0" indent="0" algn="just"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rPr>
                        <a:t> o </a:t>
                      </a:r>
                      <a:r>
                        <a:rPr kumimoji="1" lang="ko-KR" altLang="en-US" sz="1200" u="none" strike="noStrike" cap="none" normalizeH="0" baseline="0" dirty="0">
                          <a:ln>
                            <a:noFill/>
                          </a:ln>
                          <a:effectLst/>
                        </a:rPr>
                        <a:t>연결용어</a:t>
                      </a:r>
                    </a:p>
                    <a:p>
                      <a:pPr marL="0" marR="0" lvl="0" indent="0" algn="just" defTabSz="914400" rtl="0" eaLnBrk="1" fontAlgn="base" latinLnBrk="1" hangingPunct="1">
                        <a:lnSpc>
                          <a:spcPct val="100000"/>
                        </a:lnSpc>
                        <a:spcBef>
                          <a:spcPct val="0"/>
                        </a:spcBef>
                        <a:spcAft>
                          <a:spcPct val="30000"/>
                        </a:spcAft>
                        <a:buClrTx/>
                        <a:buSzTx/>
                        <a:buFontTx/>
                        <a:buNone/>
                        <a:tabLst/>
                      </a:pPr>
                      <a:r>
                        <a:rPr kumimoji="1" lang="ko-KR" altLang="en-US" sz="1200" u="none" strike="noStrike" cap="none" normalizeH="0" baseline="0" dirty="0">
                          <a:ln>
                            <a:noFill/>
                          </a:ln>
                          <a:effectLst/>
                        </a:rPr>
                        <a:t>   </a:t>
                      </a:r>
                      <a:r>
                        <a:rPr kumimoji="1" lang="en-US" altLang="ko-KR" sz="1200" u="none" strike="noStrike" cap="none" normalizeH="0" baseline="0" dirty="0">
                          <a:ln>
                            <a:noFill/>
                          </a:ln>
                          <a:effectLst/>
                        </a:rPr>
                        <a:t>- </a:t>
                      </a:r>
                      <a:r>
                        <a:rPr kumimoji="1" lang="ko-KR" altLang="en-US" sz="1200" u="none" strike="noStrike" cap="none" normalizeH="0" baseline="0" dirty="0">
                          <a:ln>
                            <a:noFill/>
                          </a:ln>
                          <a:effectLst/>
                        </a:rPr>
                        <a:t>을 포함하는 것을 특징으로 하는</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개방형</a:t>
                      </a:r>
                      <a:r>
                        <a:rPr kumimoji="1" lang="en-US" altLang="ko-KR" sz="1200" u="none" strike="noStrike" cap="none" normalizeH="0" baseline="0" dirty="0">
                          <a:ln>
                            <a:noFill/>
                          </a:ln>
                          <a:effectLst/>
                        </a:rPr>
                        <a:t>)</a:t>
                      </a:r>
                    </a:p>
                    <a:p>
                      <a:pPr marL="0" marR="0" lvl="0" indent="0" algn="just"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rPr>
                        <a:t>   - </a:t>
                      </a:r>
                      <a:r>
                        <a:rPr kumimoji="1" lang="ko-KR" altLang="en-US" sz="1200" u="none" strike="noStrike" cap="none" normalizeH="0" baseline="0" dirty="0">
                          <a:ln>
                            <a:noFill/>
                          </a:ln>
                          <a:effectLst/>
                        </a:rPr>
                        <a:t>로 구성된 것</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이루어진 것</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을 특징으로 하는</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폐쇄형</a:t>
                      </a:r>
                      <a:r>
                        <a:rPr kumimoji="1" lang="en-US" altLang="ko-KR" sz="1200" u="none" strike="noStrike" cap="none" normalizeH="0" baseline="0" dirty="0">
                          <a:ln>
                            <a:noFill/>
                          </a:ln>
                          <a:effectLst/>
                        </a:rPr>
                        <a:t>)</a:t>
                      </a:r>
                    </a:p>
                    <a:p>
                      <a:pPr marL="0" marR="0" lvl="0" indent="0" algn="just"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rPr>
                        <a:t>   - </a:t>
                      </a:r>
                      <a:r>
                        <a:rPr kumimoji="1" lang="ko-KR" altLang="en-US" sz="1200" u="none" strike="noStrike" cap="none" normalizeH="0" baseline="0" dirty="0">
                          <a:ln>
                            <a:noFill/>
                          </a:ln>
                          <a:effectLst/>
                        </a:rPr>
                        <a:t>로 필수적으로 구성된 것</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이루어진 것</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을 특징으로 하는 </a:t>
                      </a:r>
                      <a:endParaRPr kumimoji="1" lang="en-US" altLang="ko-KR" sz="1200" u="none" strike="noStrike" cap="none" normalizeH="0" baseline="0" dirty="0">
                        <a:ln>
                          <a:noFill/>
                        </a:ln>
                        <a:effectLst/>
                      </a:endParaRPr>
                    </a:p>
                    <a:p>
                      <a:pPr marL="0" marR="0" lvl="0" indent="0" algn="just"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rPr>
                        <a:t>     (</a:t>
                      </a:r>
                      <a:r>
                        <a:rPr kumimoji="1" lang="ko-KR" altLang="en-US" sz="1200" u="none" strike="noStrike" cap="none" normalizeH="0" baseline="0" dirty="0" err="1">
                          <a:ln>
                            <a:noFill/>
                          </a:ln>
                          <a:effectLst/>
                        </a:rPr>
                        <a:t>반폐쇄형</a:t>
                      </a:r>
                      <a:r>
                        <a:rPr kumimoji="1" lang="en-US" altLang="ko-KR" sz="1200" u="none" strike="noStrike" cap="none" normalizeH="0" baseline="0" dirty="0">
                          <a:ln>
                            <a:noFill/>
                          </a:ln>
                          <a:effectLst/>
                        </a:rPr>
                        <a:t>)</a:t>
                      </a:r>
                    </a:p>
                  </a:txBody>
                  <a:tcPr anchor="ctr" horzOverflow="overflow"/>
                </a:tc>
                <a:extLst>
                  <a:ext uri="{0D108BD9-81ED-4DB2-BD59-A6C34878D82A}">
                    <a16:rowId xmlns:a16="http://schemas.microsoft.com/office/drawing/2014/main" val="10003"/>
                  </a:ext>
                </a:extLst>
              </a:tr>
              <a:tr h="1036141">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200" u="none" strike="noStrike" cap="none" normalizeH="0" baseline="0">
                          <a:ln>
                            <a:noFill/>
                          </a:ln>
                          <a:effectLst/>
                        </a:rPr>
                        <a:t>종결부</a:t>
                      </a:r>
                      <a:endParaRPr kumimoji="1" lang="ko-KR" altLang="en-US" sz="1200" b="1" i="0" u="none" strike="noStrike" cap="none" normalizeH="0" baseline="0">
                        <a:ln>
                          <a:noFill/>
                        </a:ln>
                        <a:solidFill>
                          <a:schemeClr val="bg1"/>
                        </a:solidFill>
                        <a:effectLst/>
                        <a:latin typeface="+mn-ea"/>
                        <a:ea typeface="+mn-ea"/>
                      </a:endParaRPr>
                    </a:p>
                  </a:txBody>
                  <a:tcPr anchor="ctr" horzOverflow="overflow"/>
                </a:tc>
                <a:tc>
                  <a:txBody>
                    <a:bodyPr/>
                    <a:lstStyle/>
                    <a:p>
                      <a:pPr marL="0" marR="0" lvl="0" indent="0" algn="just"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rPr>
                        <a:t> o </a:t>
                      </a:r>
                      <a:r>
                        <a:rPr kumimoji="1" lang="ko-KR" altLang="en-US" sz="1200" u="none" strike="noStrike" cap="none" normalizeH="0" baseline="0" dirty="0">
                          <a:ln>
                            <a:noFill/>
                          </a:ln>
                          <a:effectLst/>
                        </a:rPr>
                        <a:t>발명의 카테고리 기재</a:t>
                      </a:r>
                    </a:p>
                    <a:p>
                      <a:pPr marL="0" marR="0" lvl="0" indent="0" algn="just" defTabSz="914400" rtl="0" eaLnBrk="1" fontAlgn="base" latinLnBrk="1" hangingPunct="1">
                        <a:lnSpc>
                          <a:spcPct val="100000"/>
                        </a:lnSpc>
                        <a:spcBef>
                          <a:spcPct val="0"/>
                        </a:spcBef>
                        <a:spcAft>
                          <a:spcPct val="30000"/>
                        </a:spcAft>
                        <a:buClrTx/>
                        <a:buSzTx/>
                        <a:buFontTx/>
                        <a:buNone/>
                        <a:tabLst/>
                      </a:pPr>
                      <a:r>
                        <a:rPr kumimoji="1" lang="ko-KR" altLang="en-US" sz="1200" u="none" strike="noStrike" cap="none" normalizeH="0" baseline="0" dirty="0">
                          <a:ln>
                            <a:noFill/>
                          </a:ln>
                          <a:effectLst/>
                        </a:rPr>
                        <a:t>   </a:t>
                      </a:r>
                      <a:r>
                        <a:rPr kumimoji="1" lang="en-US" altLang="ko-KR" sz="1200" u="none" strike="noStrike" cap="none" normalizeH="0" baseline="0" dirty="0">
                          <a:ln>
                            <a:noFill/>
                          </a:ln>
                          <a:effectLst/>
                        </a:rPr>
                        <a:t>- </a:t>
                      </a:r>
                      <a:r>
                        <a:rPr kumimoji="1" lang="ko-KR" altLang="en-US" sz="1200" u="none" strike="noStrike" cap="none" normalizeH="0" baseline="0" dirty="0">
                          <a:ln>
                            <a:noFill/>
                          </a:ln>
                          <a:effectLst/>
                        </a:rPr>
                        <a:t>주로 발명</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고안</a:t>
                      </a:r>
                      <a:r>
                        <a:rPr kumimoji="1" lang="en-US" altLang="ko-KR" sz="1200" u="none" strike="noStrike" cap="none" normalizeH="0" baseline="0" dirty="0">
                          <a:ln>
                            <a:noFill/>
                          </a:ln>
                          <a:effectLst/>
                        </a:rPr>
                        <a:t>)</a:t>
                      </a:r>
                      <a:r>
                        <a:rPr kumimoji="1" lang="ko-KR" altLang="en-US" sz="1200" u="none" strike="noStrike" cap="none" normalizeH="0" baseline="0" dirty="0">
                          <a:ln>
                            <a:noFill/>
                          </a:ln>
                          <a:effectLst/>
                        </a:rPr>
                        <a:t>의 명칭과 동일한 용어 사용</a:t>
                      </a:r>
                    </a:p>
                    <a:p>
                      <a:pPr marL="0" marR="0" lvl="0" indent="0" algn="just" defTabSz="914400" rtl="0" eaLnBrk="1" fontAlgn="base" latinLnBrk="1" hangingPunct="1">
                        <a:lnSpc>
                          <a:spcPct val="100000"/>
                        </a:lnSpc>
                        <a:spcBef>
                          <a:spcPct val="0"/>
                        </a:spcBef>
                        <a:spcAft>
                          <a:spcPct val="30000"/>
                        </a:spcAft>
                        <a:buClrTx/>
                        <a:buSzTx/>
                        <a:buFontTx/>
                        <a:buNone/>
                        <a:tabLst/>
                      </a:pPr>
                      <a:r>
                        <a:rPr kumimoji="1" lang="ko-KR" altLang="en-US" sz="1200" u="none" strike="noStrike" cap="none" normalizeH="0" baseline="0" dirty="0">
                          <a:ln>
                            <a:noFill/>
                          </a:ln>
                          <a:effectLst/>
                        </a:rPr>
                        <a:t>   </a:t>
                      </a:r>
                      <a:r>
                        <a:rPr kumimoji="1" lang="en-US" altLang="ko-KR" sz="1200" u="none" strike="noStrike" cap="none" normalizeH="0" baseline="0" dirty="0">
                          <a:ln>
                            <a:noFill/>
                          </a:ln>
                          <a:effectLst/>
                        </a:rPr>
                        <a:t>- </a:t>
                      </a:r>
                      <a:r>
                        <a:rPr kumimoji="1" lang="ko-KR" altLang="en-US" sz="1200" u="none" strike="noStrike" cap="none" normalizeH="0" baseline="0" dirty="0" err="1">
                          <a:ln>
                            <a:noFill/>
                          </a:ln>
                          <a:effectLst/>
                        </a:rPr>
                        <a:t>종속항은</a:t>
                      </a:r>
                      <a:r>
                        <a:rPr kumimoji="1" lang="ko-KR" altLang="en-US" sz="1200" u="none" strike="noStrike" cap="none" normalizeH="0" baseline="0" dirty="0">
                          <a:ln>
                            <a:noFill/>
                          </a:ln>
                          <a:effectLst/>
                        </a:rPr>
                        <a:t> </a:t>
                      </a:r>
                      <a:r>
                        <a:rPr kumimoji="1" lang="ko-KR" altLang="en-US" sz="1200" u="none" strike="noStrike" cap="none" normalizeH="0" baseline="0" dirty="0" err="1">
                          <a:ln>
                            <a:noFill/>
                          </a:ln>
                          <a:effectLst/>
                        </a:rPr>
                        <a:t>독립항과</a:t>
                      </a:r>
                      <a:r>
                        <a:rPr kumimoji="1" lang="ko-KR" altLang="en-US" sz="1200" u="none" strike="noStrike" cap="none" normalizeH="0" baseline="0" dirty="0">
                          <a:ln>
                            <a:noFill/>
                          </a:ln>
                          <a:effectLst/>
                        </a:rPr>
                        <a:t> 일치</a:t>
                      </a:r>
                      <a:endParaRPr kumimoji="1" lang="ko-KR" altLang="en-US" sz="1200" b="0" i="0" u="none" strike="noStrike" cap="none" normalizeH="0" baseline="0" dirty="0">
                        <a:ln>
                          <a:noFill/>
                        </a:ln>
                        <a:solidFill>
                          <a:schemeClr val="tx1"/>
                        </a:solidFill>
                        <a:effectLst/>
                        <a:latin typeface="+mn-ea"/>
                        <a:ea typeface="+mn-ea"/>
                      </a:endParaRPr>
                    </a:p>
                  </a:txBody>
                  <a:tcPr anchor="ctr" horzOverflow="overflow"/>
                </a:tc>
                <a:extLst>
                  <a:ext uri="{0D108BD9-81ED-4DB2-BD59-A6C34878D82A}">
                    <a16:rowId xmlns:a16="http://schemas.microsoft.com/office/drawing/2014/main" val="10004"/>
                  </a:ext>
                </a:extLst>
              </a:tr>
            </a:tbl>
          </a:graphicData>
        </a:graphic>
      </p:graphicFrame>
      <p:sp>
        <p:nvSpPr>
          <p:cNvPr id="2" name="TextBox 1"/>
          <p:cNvSpPr txBox="1"/>
          <p:nvPr/>
        </p:nvSpPr>
        <p:spPr>
          <a:xfrm>
            <a:off x="516475" y="1405469"/>
            <a:ext cx="4570482" cy="4401205"/>
          </a:xfrm>
          <a:prstGeom prst="rect">
            <a:avLst/>
          </a:prstGeom>
          <a:noFill/>
        </p:spPr>
        <p:txBody>
          <a:bodyPr wrap="none" rtlCol="0">
            <a:spAutoFit/>
          </a:bodyPr>
          <a:lstStyle/>
          <a:p>
            <a:pPr marL="0" marR="0" lvl="0" indent="0" algn="l" defTabSz="914400" rtl="0" eaLnBrk="1" fontAlgn="auto" latinLnBrk="1" hangingPunct="1">
              <a:lnSpc>
                <a:spcPct val="2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20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1]</a:t>
            </a:r>
          </a:p>
          <a:p>
            <a:pPr marL="0" marR="0" lvl="0" indent="0" algn="l" defTabSz="914400" rtl="0" eaLnBrk="1" fontAlgn="auto" latinLnBrk="1" hangingPunct="1">
              <a:lnSpc>
                <a:spcPct val="2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에 있어서</a:t>
            </a: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auto" latinLnBrk="1" hangingPunct="1">
              <a:lnSpc>
                <a:spcPct val="2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(function)…. A </a:t>
            </a: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수단</a:t>
            </a: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auto" latinLnBrk="1" hangingPunct="1">
              <a:lnSpc>
                <a:spcPct val="2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(function)…. B </a:t>
            </a: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수단</a:t>
            </a: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및</a:t>
            </a:r>
            <a:endPar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2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(function)…. C, D </a:t>
            </a: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및 </a:t>
            </a: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E </a:t>
            </a: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중 어느 한 수단</a:t>
            </a: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 </a:t>
            </a:r>
          </a:p>
          <a:p>
            <a:pPr marL="0" marR="0" lvl="0" indent="0" algn="l" defTabSz="914400" rtl="0" eaLnBrk="1" fontAlgn="auto" latinLnBrk="1" hangingPunct="1">
              <a:lnSpc>
                <a:spcPct val="200000"/>
              </a:lnSpc>
              <a:spcBef>
                <a:spcPts val="0"/>
              </a:spcBef>
              <a:spcAft>
                <a:spcPts val="0"/>
              </a:spcAft>
              <a:buClrTx/>
              <a:buSzTx/>
              <a:buFontTx/>
              <a:buNone/>
              <a:tabLst/>
              <a:defRPr/>
            </a:pPr>
            <a:r>
              <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rPr>
              <a:t>을 포함하는 것을 특징으로 하는 </a:t>
            </a:r>
            <a:endPar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2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2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46" name="직선 연결선 45"/>
          <p:cNvCxnSpPr/>
          <p:nvPr/>
        </p:nvCxnSpPr>
        <p:spPr>
          <a:xfrm>
            <a:off x="6478412" y="1754974"/>
            <a:ext cx="0" cy="405170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타원 6"/>
          <p:cNvSpPr/>
          <p:nvPr/>
        </p:nvSpPr>
        <p:spPr>
          <a:xfrm>
            <a:off x="414874" y="2040467"/>
            <a:ext cx="2167467" cy="770466"/>
          </a:xfrm>
          <a:prstGeom prst="ellipse">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9" name="직선 화살표 연결선 8"/>
          <p:cNvCxnSpPr>
            <a:endCxn id="7" idx="7"/>
          </p:cNvCxnSpPr>
          <p:nvPr/>
        </p:nvCxnSpPr>
        <p:spPr>
          <a:xfrm flipH="1">
            <a:off x="2264923" y="1651000"/>
            <a:ext cx="681485" cy="502299"/>
          </a:xfrm>
          <a:prstGeom prst="straightConnector1">
            <a:avLst/>
          </a:prstGeom>
          <a:ln w="12700">
            <a:solidFill>
              <a:srgbClr val="FF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2946408" y="1382443"/>
            <a:ext cx="2844800" cy="646331"/>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err="1">
                <a:ln>
                  <a:noFill/>
                </a:ln>
                <a:solidFill>
                  <a:srgbClr val="0070C0"/>
                </a:solidFill>
                <a:effectLst/>
                <a:uLnTx/>
                <a:uFillTx/>
                <a:latin typeface="Frutiger LT 65 Bold"/>
                <a:ea typeface="Rix모던고딕 B"/>
                <a:cs typeface="+mn-cs"/>
              </a:rPr>
              <a:t>젭슨</a:t>
            </a:r>
            <a:r>
              <a:rPr kumimoji="0" lang="ko-KR" altLang="en-US" sz="1800" b="0" i="0" u="none" strike="noStrike" kern="1200" cap="none" spc="0" normalizeH="0" baseline="0" noProof="0" dirty="0">
                <a:ln>
                  <a:noFill/>
                </a:ln>
                <a:solidFill>
                  <a:srgbClr val="0070C0"/>
                </a:solidFill>
                <a:effectLst/>
                <a:uLnTx/>
                <a:uFillTx/>
                <a:latin typeface="Frutiger LT 65 Bold"/>
                <a:ea typeface="Rix모던고딕 B"/>
                <a:cs typeface="+mn-cs"/>
              </a:rPr>
              <a:t> 청구항</a:t>
            </a:r>
            <a:endParaRPr kumimoji="0" lang="en-US" altLang="ko-KR" sz="1800" b="0" i="0" u="none" strike="noStrike" kern="1200" cap="none" spc="0" normalizeH="0" baseline="0" noProof="0" dirty="0">
              <a:ln>
                <a:noFill/>
              </a:ln>
              <a:solidFill>
                <a:srgbClr val="0070C0"/>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0070C0"/>
                </a:solidFill>
                <a:effectLst/>
                <a:uLnTx/>
                <a:uFillTx/>
                <a:latin typeface="Frutiger LT 65 Bold"/>
                <a:ea typeface="Rix모던고딕 B"/>
                <a:cs typeface="+mn-cs"/>
              </a:rPr>
              <a:t>(Jepson Claim)</a:t>
            </a:r>
            <a:endParaRPr kumimoji="0" lang="ko-KR" altLang="en-US" sz="1800" b="0" i="0" u="none" strike="noStrike" kern="1200" cap="none" spc="0" normalizeH="0" baseline="0" noProof="0" dirty="0">
              <a:ln>
                <a:noFill/>
              </a:ln>
              <a:solidFill>
                <a:srgbClr val="0070C0"/>
              </a:solidFill>
              <a:effectLst/>
              <a:uLnTx/>
              <a:uFillTx/>
              <a:latin typeface="Frutiger LT 65 Bold"/>
              <a:ea typeface="Rix모던고딕 B"/>
              <a:cs typeface="+mn-cs"/>
            </a:endParaRPr>
          </a:p>
        </p:txBody>
      </p:sp>
      <p:sp>
        <p:nvSpPr>
          <p:cNvPr id="47" name="타원 46"/>
          <p:cNvSpPr/>
          <p:nvPr/>
        </p:nvSpPr>
        <p:spPr>
          <a:xfrm>
            <a:off x="2125141" y="3850862"/>
            <a:ext cx="2167467" cy="770466"/>
          </a:xfrm>
          <a:prstGeom prst="ellipse">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0" name="TextBox 49"/>
          <p:cNvSpPr txBox="1"/>
          <p:nvPr/>
        </p:nvSpPr>
        <p:spPr>
          <a:xfrm>
            <a:off x="3496741" y="6072977"/>
            <a:ext cx="2844800" cy="646331"/>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err="1">
                <a:ln>
                  <a:noFill/>
                </a:ln>
                <a:solidFill>
                  <a:srgbClr val="0070C0"/>
                </a:solidFill>
                <a:effectLst/>
                <a:uLnTx/>
                <a:uFillTx/>
                <a:latin typeface="Frutiger LT 65 Bold"/>
                <a:ea typeface="Rix모던고딕 B"/>
                <a:cs typeface="+mn-cs"/>
              </a:rPr>
              <a:t>마쿠쉬</a:t>
            </a:r>
            <a:r>
              <a:rPr kumimoji="0" lang="ko-KR" altLang="en-US" sz="1800" b="0" i="0" u="none" strike="noStrike" kern="1200" cap="none" spc="0" normalizeH="0" baseline="0" noProof="0" dirty="0">
                <a:ln>
                  <a:noFill/>
                </a:ln>
                <a:solidFill>
                  <a:srgbClr val="0070C0"/>
                </a:solidFill>
                <a:effectLst/>
                <a:uLnTx/>
                <a:uFillTx/>
                <a:latin typeface="Frutiger LT 65 Bold"/>
                <a:ea typeface="Rix모던고딕 B"/>
                <a:cs typeface="+mn-cs"/>
              </a:rPr>
              <a:t> 청구항</a:t>
            </a:r>
            <a:endParaRPr kumimoji="0" lang="en-US" altLang="ko-KR" sz="1800" b="0" i="0" u="none" strike="noStrike" kern="1200" cap="none" spc="0" normalizeH="0" baseline="0" noProof="0" dirty="0">
              <a:ln>
                <a:noFill/>
              </a:ln>
              <a:solidFill>
                <a:srgbClr val="0070C0"/>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a:ln>
                  <a:noFill/>
                </a:ln>
                <a:solidFill>
                  <a:srgbClr val="0070C0"/>
                </a:solidFill>
                <a:effectLst/>
                <a:uLnTx/>
                <a:uFillTx/>
                <a:latin typeface="Frutiger LT 65 Bold"/>
                <a:ea typeface="Rix모던고딕 B"/>
                <a:cs typeface="+mn-cs"/>
              </a:rPr>
              <a:t>(Markush Claim)</a:t>
            </a:r>
            <a:endParaRPr kumimoji="0" lang="ko-KR" altLang="en-US" sz="1800" b="0" i="0" u="none" strike="noStrike" kern="1200" cap="none" spc="0" normalizeH="0" baseline="0" noProof="0" dirty="0">
              <a:ln>
                <a:noFill/>
              </a:ln>
              <a:solidFill>
                <a:srgbClr val="0070C0"/>
              </a:solidFill>
              <a:effectLst/>
              <a:uLnTx/>
              <a:uFillTx/>
              <a:latin typeface="Frutiger LT 65 Bold"/>
              <a:ea typeface="Rix모던고딕 B"/>
              <a:cs typeface="+mn-cs"/>
            </a:endParaRPr>
          </a:p>
        </p:txBody>
      </p:sp>
      <p:cxnSp>
        <p:nvCxnSpPr>
          <p:cNvPr id="53" name="직선 화살표 연결선 52"/>
          <p:cNvCxnSpPr/>
          <p:nvPr/>
        </p:nvCxnSpPr>
        <p:spPr>
          <a:xfrm flipH="1" flipV="1">
            <a:off x="3302008" y="4621328"/>
            <a:ext cx="990600" cy="1451649"/>
          </a:xfrm>
          <a:prstGeom prst="straightConnector1">
            <a:avLst/>
          </a:prstGeom>
          <a:ln w="12700">
            <a:solidFill>
              <a:srgbClr val="FF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4" name="타원 53"/>
          <p:cNvSpPr/>
          <p:nvPr/>
        </p:nvSpPr>
        <p:spPr>
          <a:xfrm>
            <a:off x="516475" y="3220838"/>
            <a:ext cx="2370666" cy="770466"/>
          </a:xfrm>
          <a:prstGeom prst="ellipse">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5" name="TextBox 54"/>
          <p:cNvSpPr txBox="1"/>
          <p:nvPr/>
        </p:nvSpPr>
        <p:spPr>
          <a:xfrm>
            <a:off x="364074" y="5971377"/>
            <a:ext cx="2844800" cy="646331"/>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0070C0"/>
                </a:solidFill>
                <a:effectLst/>
                <a:uLnTx/>
                <a:uFillTx/>
                <a:latin typeface="Frutiger LT 65 Bold"/>
                <a:ea typeface="Rix모던고딕 B"/>
                <a:cs typeface="+mn-cs"/>
              </a:rPr>
              <a:t>기능적 표현으로 기재된</a:t>
            </a:r>
            <a:endParaRPr kumimoji="0" lang="en-US" altLang="ko-KR" sz="1800" b="0" i="0" u="none" strike="noStrike" kern="1200" cap="none" spc="0" normalizeH="0" baseline="0" noProof="0" dirty="0">
              <a:ln>
                <a:noFill/>
              </a:ln>
              <a:solidFill>
                <a:srgbClr val="0070C0"/>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0070C0"/>
                </a:solidFill>
                <a:effectLst/>
                <a:uLnTx/>
                <a:uFillTx/>
                <a:latin typeface="Frutiger LT 65 Bold"/>
                <a:ea typeface="Rix모던고딕 B"/>
                <a:cs typeface="+mn-cs"/>
              </a:rPr>
              <a:t>청구항</a:t>
            </a:r>
          </a:p>
        </p:txBody>
      </p:sp>
      <p:cxnSp>
        <p:nvCxnSpPr>
          <p:cNvPr id="56" name="직선 화살표 연결선 55"/>
          <p:cNvCxnSpPr/>
          <p:nvPr/>
        </p:nvCxnSpPr>
        <p:spPr>
          <a:xfrm flipV="1">
            <a:off x="1354674" y="3991304"/>
            <a:ext cx="245534" cy="1981546"/>
          </a:xfrm>
          <a:prstGeom prst="straightConnector1">
            <a:avLst/>
          </a:prstGeom>
          <a:ln w="12700">
            <a:solidFill>
              <a:srgbClr val="FF0000"/>
            </a:solidFill>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2791964"/>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sz="2400" dirty="0" err="1"/>
              <a:t>젭슨</a:t>
            </a:r>
            <a:r>
              <a:rPr lang="ko-KR" altLang="en-US" sz="2400" dirty="0"/>
              <a:t> 청구항</a:t>
            </a:r>
            <a:r>
              <a:rPr lang="en-US" altLang="ko-KR" sz="2400" dirty="0"/>
              <a:t>, PBP </a:t>
            </a:r>
            <a:r>
              <a:rPr lang="ko-KR" altLang="en-US" sz="2400" dirty="0"/>
              <a:t>청구항</a:t>
            </a:r>
            <a:r>
              <a:rPr lang="en-US" altLang="ko-KR" sz="2400" dirty="0"/>
              <a:t> </a:t>
            </a:r>
            <a:r>
              <a:rPr lang="ko-KR" altLang="en-US" sz="2400" dirty="0"/>
              <a:t>및</a:t>
            </a:r>
            <a:r>
              <a:rPr lang="en-US" altLang="ko-KR" sz="2400" dirty="0"/>
              <a:t> </a:t>
            </a:r>
            <a:r>
              <a:rPr lang="ko-KR" altLang="en-US" sz="2400" dirty="0"/>
              <a:t>기능적 표현 청구항의 비교분석</a:t>
            </a:r>
          </a:p>
        </p:txBody>
      </p:sp>
      <p:sp>
        <p:nvSpPr>
          <p:cNvPr id="6" name="슬라이드 번호 개체 틀 5"/>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134</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graphicFrame>
        <p:nvGraphicFramePr>
          <p:cNvPr id="8" name="표 7">
            <a:extLst>
              <a:ext uri="{FF2B5EF4-FFF2-40B4-BE49-F238E27FC236}">
                <a16:creationId xmlns:a16="http://schemas.microsoft.com/office/drawing/2014/main" id="{DE1F1854-F0B3-4FD3-87BB-6829DE340731}"/>
              </a:ext>
            </a:extLst>
          </p:cNvPr>
          <p:cNvGraphicFramePr>
            <a:graphicFrameLocks noGrp="1"/>
          </p:cNvGraphicFramePr>
          <p:nvPr/>
        </p:nvGraphicFramePr>
        <p:xfrm>
          <a:off x="343929" y="1136821"/>
          <a:ext cx="11504141" cy="5377774"/>
        </p:xfrm>
        <a:graphic>
          <a:graphicData uri="http://schemas.openxmlformats.org/drawingml/2006/table">
            <a:tbl>
              <a:tblPr>
                <a:tableStyleId>{8799B23B-EC83-4686-B30A-512413B5E67A}</a:tableStyleId>
              </a:tblPr>
              <a:tblGrid>
                <a:gridCol w="848020">
                  <a:extLst>
                    <a:ext uri="{9D8B030D-6E8A-4147-A177-3AD203B41FA5}">
                      <a16:colId xmlns:a16="http://schemas.microsoft.com/office/drawing/2014/main" val="3899561792"/>
                    </a:ext>
                  </a:extLst>
                </a:gridCol>
                <a:gridCol w="4311597">
                  <a:extLst>
                    <a:ext uri="{9D8B030D-6E8A-4147-A177-3AD203B41FA5}">
                      <a16:colId xmlns:a16="http://schemas.microsoft.com/office/drawing/2014/main" val="585898363"/>
                    </a:ext>
                  </a:extLst>
                </a:gridCol>
                <a:gridCol w="2944395">
                  <a:extLst>
                    <a:ext uri="{9D8B030D-6E8A-4147-A177-3AD203B41FA5}">
                      <a16:colId xmlns:a16="http://schemas.microsoft.com/office/drawing/2014/main" val="2189036205"/>
                    </a:ext>
                  </a:extLst>
                </a:gridCol>
                <a:gridCol w="3400129">
                  <a:extLst>
                    <a:ext uri="{9D8B030D-6E8A-4147-A177-3AD203B41FA5}">
                      <a16:colId xmlns:a16="http://schemas.microsoft.com/office/drawing/2014/main" val="3126134941"/>
                    </a:ext>
                  </a:extLst>
                </a:gridCol>
              </a:tblGrid>
              <a:tr h="289433">
                <a:tc>
                  <a:txBody>
                    <a:bodyPr/>
                    <a:lstStyle/>
                    <a:p>
                      <a:pPr marL="0" marR="0" indent="0" algn="ctr" fontAlgn="base" latinLnBrk="0">
                        <a:lnSpc>
                          <a:spcPct val="130000"/>
                        </a:lnSpc>
                        <a:spcBef>
                          <a:spcPts val="0"/>
                        </a:spcBef>
                        <a:spcAft>
                          <a:spcPts val="0"/>
                        </a:spcAft>
                      </a:pPr>
                      <a:r>
                        <a:rPr lang="ko-KR" altLang="en-US" sz="1200" b="1" kern="0" spc="-100" dirty="0">
                          <a:effectLst/>
                        </a:rPr>
                        <a:t>구분</a:t>
                      </a:r>
                      <a:endParaRPr lang="ko-KR" altLang="en-US" sz="1200" b="1" kern="0" spc="-100" dirty="0">
                        <a:solidFill>
                          <a:srgbClr val="000000"/>
                        </a:solidFill>
                        <a:effectLst/>
                        <a:latin typeface="+mn-ea"/>
                        <a:ea typeface="+mn-ea"/>
                      </a:endParaRPr>
                    </a:p>
                  </a:txBody>
                  <a:tcPr marL="50287" marR="50287" marT="13903" marB="13903"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b="1" kern="0" spc="-100">
                          <a:effectLst/>
                        </a:rPr>
                        <a:t>젭슨 청구항</a:t>
                      </a:r>
                      <a:endParaRPr lang="ko-KR" altLang="en-US" sz="1200" b="1" kern="0" spc="-100">
                        <a:solidFill>
                          <a:srgbClr val="000000"/>
                        </a:solidFill>
                        <a:effectLst/>
                        <a:latin typeface="+mn-ea"/>
                        <a:ea typeface="+mn-ea"/>
                      </a:endParaRPr>
                    </a:p>
                  </a:txBody>
                  <a:tcPr marL="50287" marR="50287" marT="13903" marB="13903"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en-US" sz="1200" b="1" kern="0" spc="-100">
                          <a:effectLst/>
                        </a:rPr>
                        <a:t>PBP </a:t>
                      </a:r>
                      <a:r>
                        <a:rPr lang="ko-KR" altLang="en-US" sz="1200" b="1" kern="0" spc="-100">
                          <a:effectLst/>
                        </a:rPr>
                        <a:t>청구항</a:t>
                      </a:r>
                      <a:endParaRPr lang="ko-KR" altLang="en-US" sz="1200" b="1" kern="0" spc="-100">
                        <a:solidFill>
                          <a:srgbClr val="000000"/>
                        </a:solidFill>
                        <a:effectLst/>
                        <a:latin typeface="+mn-ea"/>
                        <a:ea typeface="+mn-ea"/>
                      </a:endParaRPr>
                    </a:p>
                  </a:txBody>
                  <a:tcPr marL="50287" marR="50287" marT="13903" marB="13903"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b="1" kern="0" spc="-100" dirty="0">
                          <a:solidFill>
                            <a:schemeClr val="tx1"/>
                          </a:solidFill>
                          <a:effectLst/>
                        </a:rPr>
                        <a:t>기능적 표현 청구항</a:t>
                      </a:r>
                      <a:endParaRPr lang="ko-KR" altLang="en-US" sz="1200" b="1" kern="0" spc="-100" dirty="0">
                        <a:solidFill>
                          <a:schemeClr val="tx1"/>
                        </a:solidFill>
                        <a:effectLst/>
                        <a:latin typeface="+mn-ea"/>
                        <a:ea typeface="+mn-ea"/>
                      </a:endParaRPr>
                    </a:p>
                  </a:txBody>
                  <a:tcPr marL="50287" marR="50287" marT="13903" marB="13903" anchor="ctr">
                    <a:solidFill>
                      <a:schemeClr val="accent1">
                        <a:lumMod val="20000"/>
                        <a:lumOff val="80000"/>
                      </a:schemeClr>
                    </a:solidFill>
                  </a:tcPr>
                </a:tc>
                <a:extLst>
                  <a:ext uri="{0D108BD9-81ED-4DB2-BD59-A6C34878D82A}">
                    <a16:rowId xmlns:a16="http://schemas.microsoft.com/office/drawing/2014/main" val="3297043822"/>
                  </a:ext>
                </a:extLst>
              </a:tr>
              <a:tr h="529832">
                <a:tc>
                  <a:txBody>
                    <a:bodyPr/>
                    <a:lstStyle/>
                    <a:p>
                      <a:pPr marL="0" marR="0" indent="0" algn="ctr" fontAlgn="base" latinLnBrk="0">
                        <a:lnSpc>
                          <a:spcPct val="130000"/>
                        </a:lnSpc>
                        <a:spcBef>
                          <a:spcPts val="0"/>
                        </a:spcBef>
                        <a:spcAft>
                          <a:spcPts val="0"/>
                        </a:spcAft>
                      </a:pPr>
                      <a:r>
                        <a:rPr lang="ko-KR" altLang="en-US" sz="1200" kern="0" spc="-100" dirty="0">
                          <a:effectLst/>
                        </a:rPr>
                        <a:t>형태</a:t>
                      </a:r>
                      <a:endParaRPr lang="ko-KR" altLang="en-US" sz="1200" kern="0" spc="-100" dirty="0">
                        <a:solidFill>
                          <a:srgbClr val="000000"/>
                        </a:solidFill>
                        <a:effectLst/>
                        <a:latin typeface="+mn-ea"/>
                        <a:ea typeface="+mn-ea"/>
                      </a:endParaRPr>
                    </a:p>
                  </a:txBody>
                  <a:tcPr marL="50287" marR="50287" marT="13903" marB="13903" anchor="ctr"/>
                </a:tc>
                <a:tc>
                  <a:txBody>
                    <a:bodyPr/>
                    <a:lstStyle/>
                    <a:p>
                      <a:pPr marL="17780" marR="17780" indent="0" algn="just" fontAlgn="base" latinLnBrk="1">
                        <a:lnSpc>
                          <a:spcPct val="120000"/>
                        </a:lnSpc>
                        <a:spcBef>
                          <a:spcPts val="0"/>
                        </a:spcBef>
                        <a:spcAft>
                          <a:spcPts val="0"/>
                        </a:spcAft>
                      </a:pPr>
                      <a:r>
                        <a:rPr lang="en-US" altLang="ko-KR" sz="1200" kern="0" spc="-50">
                          <a:effectLst/>
                        </a:rPr>
                        <a:t>……</a:t>
                      </a:r>
                      <a:r>
                        <a:rPr lang="ko-KR" altLang="en-US" sz="1200" kern="0" spc="-50">
                          <a:effectLst/>
                        </a:rPr>
                        <a:t>에 있어서</a:t>
                      </a:r>
                      <a:r>
                        <a:rPr lang="en-US" altLang="ko-KR" sz="1200" kern="0" spc="-50">
                          <a:effectLst/>
                        </a:rPr>
                        <a:t>, ~</a:t>
                      </a:r>
                      <a:r>
                        <a:rPr lang="ko-KR" altLang="en-US" sz="1200" kern="0" spc="-50">
                          <a:effectLst/>
                        </a:rPr>
                        <a:t>를 특징으로 하는 ○○발명</a:t>
                      </a:r>
                      <a:endParaRPr lang="ko-KR" altLang="en-US" sz="1200" kern="0" spc="-50">
                        <a:solidFill>
                          <a:srgbClr val="000000"/>
                        </a:solidFill>
                        <a:effectLst/>
                        <a:latin typeface="+mn-ea"/>
                        <a:ea typeface="+mn-ea"/>
                      </a:endParaRPr>
                    </a:p>
                  </a:txBody>
                  <a:tcPr marL="50287" marR="50287" marT="13903" marB="13903" anchor="ctr"/>
                </a:tc>
                <a:tc>
                  <a:txBody>
                    <a:bodyPr/>
                    <a:lstStyle/>
                    <a:p>
                      <a:pPr marL="17780" marR="17780" indent="0" algn="just" fontAlgn="base" latinLnBrk="1">
                        <a:lnSpc>
                          <a:spcPct val="120000"/>
                        </a:lnSpc>
                        <a:spcBef>
                          <a:spcPts val="0"/>
                        </a:spcBef>
                        <a:spcAft>
                          <a:spcPts val="0"/>
                        </a:spcAft>
                      </a:pPr>
                      <a:r>
                        <a:rPr lang="en-US" altLang="ko-KR" sz="1200" kern="0" spc="-50" dirty="0">
                          <a:effectLst/>
                        </a:rPr>
                        <a:t>X </a:t>
                      </a:r>
                      <a:r>
                        <a:rPr lang="ko-KR" altLang="en-US" sz="1200" kern="0" spc="-50" dirty="0">
                          <a:effectLst/>
                        </a:rPr>
                        <a:t>단계 후 </a:t>
                      </a:r>
                      <a:r>
                        <a:rPr lang="en-US" altLang="ko-KR" sz="1200" kern="0" spc="-50" dirty="0">
                          <a:effectLst/>
                        </a:rPr>
                        <a:t>Y </a:t>
                      </a:r>
                      <a:r>
                        <a:rPr lang="ko-KR" altLang="en-US" sz="1200" kern="0" spc="-50" dirty="0">
                          <a:effectLst/>
                        </a:rPr>
                        <a:t>단계를 거치는 방법에 의해 제조되는 화합물 </a:t>
                      </a:r>
                      <a:r>
                        <a:rPr lang="en-US" altLang="ko-KR" sz="1200" kern="0" spc="-50" dirty="0">
                          <a:effectLst/>
                        </a:rPr>
                        <a:t>Z</a:t>
                      </a:r>
                      <a:endParaRPr lang="ko-KR" altLang="en-US" sz="1200" kern="0" spc="-50" dirty="0">
                        <a:solidFill>
                          <a:srgbClr val="000000"/>
                        </a:solidFill>
                        <a:effectLst/>
                        <a:latin typeface="+mn-ea"/>
                        <a:ea typeface="+mn-ea"/>
                      </a:endParaRPr>
                    </a:p>
                  </a:txBody>
                  <a:tcPr marL="50287" marR="50287" marT="13903" marB="13903" anchor="ctr"/>
                </a:tc>
                <a:tc>
                  <a:txBody>
                    <a:bodyPr/>
                    <a:lstStyle/>
                    <a:p>
                      <a:pPr marL="17780" marR="17780" indent="0" algn="just" fontAlgn="base" latinLnBrk="1">
                        <a:lnSpc>
                          <a:spcPct val="120000"/>
                        </a:lnSpc>
                        <a:spcBef>
                          <a:spcPts val="0"/>
                        </a:spcBef>
                        <a:spcAft>
                          <a:spcPts val="0"/>
                        </a:spcAft>
                      </a:pPr>
                      <a:r>
                        <a:rPr lang="ko-KR" altLang="en-US" sz="1200" kern="0" spc="-140" dirty="0">
                          <a:solidFill>
                            <a:schemeClr val="tx1"/>
                          </a:solidFill>
                          <a:effectLst/>
                        </a:rPr>
                        <a:t>구성요소의 일부 또는 전부가 통상적인 구조</a:t>
                      </a:r>
                      <a:r>
                        <a:rPr lang="en-US" altLang="ko-KR" sz="1200" kern="0" spc="-140" dirty="0">
                          <a:solidFill>
                            <a:schemeClr val="tx1"/>
                          </a:solidFill>
                          <a:effectLst/>
                        </a:rPr>
                        <a:t>, </a:t>
                      </a:r>
                      <a:r>
                        <a:rPr lang="ko-KR" altLang="en-US" sz="1200" kern="0" spc="-140" dirty="0">
                          <a:solidFill>
                            <a:schemeClr val="tx1"/>
                          </a:solidFill>
                          <a:effectLst/>
                        </a:rPr>
                        <a:t>방법</a:t>
                      </a:r>
                      <a:r>
                        <a:rPr lang="en-US" altLang="ko-KR" sz="1200" kern="0" spc="-140" dirty="0">
                          <a:solidFill>
                            <a:schemeClr val="tx1"/>
                          </a:solidFill>
                          <a:effectLst/>
                        </a:rPr>
                        <a:t>, </a:t>
                      </a:r>
                      <a:r>
                        <a:rPr lang="ko-KR" altLang="en-US" sz="1200" kern="0" spc="-140" dirty="0">
                          <a:solidFill>
                            <a:schemeClr val="tx1"/>
                          </a:solidFill>
                          <a:effectLst/>
                        </a:rPr>
                        <a:t>물질 등이 아니라 기능</a:t>
                      </a:r>
                      <a:r>
                        <a:rPr lang="en-US" altLang="ko-KR" sz="1200" kern="0" spc="-140" dirty="0">
                          <a:solidFill>
                            <a:schemeClr val="tx1"/>
                          </a:solidFill>
                          <a:effectLst/>
                        </a:rPr>
                        <a:t>, </a:t>
                      </a:r>
                      <a:r>
                        <a:rPr lang="ko-KR" altLang="en-US" sz="1200" kern="0" spc="-140" dirty="0">
                          <a:solidFill>
                            <a:schemeClr val="tx1"/>
                          </a:solidFill>
                          <a:effectLst/>
                        </a:rPr>
                        <a:t>효과</a:t>
                      </a:r>
                      <a:r>
                        <a:rPr lang="en-US" altLang="ko-KR" sz="1200" kern="0" spc="-140" dirty="0">
                          <a:solidFill>
                            <a:schemeClr val="tx1"/>
                          </a:solidFill>
                          <a:effectLst/>
                        </a:rPr>
                        <a:t>, </a:t>
                      </a:r>
                      <a:r>
                        <a:rPr lang="ko-KR" altLang="en-US" sz="1200" kern="0" spc="-140" dirty="0">
                          <a:solidFill>
                            <a:schemeClr val="tx1"/>
                          </a:solidFill>
                          <a:effectLst/>
                        </a:rPr>
                        <a:t>성질 등의 기능적 표현으로 기재된 청구항</a:t>
                      </a:r>
                      <a:endParaRPr lang="ko-KR" altLang="en-US" sz="1200" kern="0" spc="-140" dirty="0">
                        <a:solidFill>
                          <a:schemeClr val="tx1"/>
                        </a:solidFill>
                        <a:effectLst/>
                        <a:latin typeface="+mn-ea"/>
                        <a:ea typeface="+mn-ea"/>
                      </a:endParaRPr>
                    </a:p>
                  </a:txBody>
                  <a:tcPr marL="50287" marR="50287" marT="13903" marB="13903" anchor="ctr"/>
                </a:tc>
                <a:extLst>
                  <a:ext uri="{0D108BD9-81ED-4DB2-BD59-A6C34878D82A}">
                    <a16:rowId xmlns:a16="http://schemas.microsoft.com/office/drawing/2014/main" val="2189363391"/>
                  </a:ext>
                </a:extLst>
              </a:tr>
              <a:tr h="1042680">
                <a:tc>
                  <a:txBody>
                    <a:bodyPr/>
                    <a:lstStyle/>
                    <a:p>
                      <a:pPr marL="0" marR="0" indent="0" algn="ctr" fontAlgn="base" latinLnBrk="0">
                        <a:lnSpc>
                          <a:spcPct val="130000"/>
                        </a:lnSpc>
                        <a:spcBef>
                          <a:spcPts val="0"/>
                        </a:spcBef>
                        <a:spcAft>
                          <a:spcPts val="0"/>
                        </a:spcAft>
                      </a:pPr>
                      <a:r>
                        <a:rPr lang="ko-KR" altLang="en-US" sz="1200" kern="0" spc="-100" dirty="0">
                          <a:effectLst/>
                        </a:rPr>
                        <a:t>필요성</a:t>
                      </a:r>
                      <a:endParaRPr lang="ko-KR" altLang="en-US" sz="1200" kern="0" spc="-100" dirty="0">
                        <a:solidFill>
                          <a:srgbClr val="000000"/>
                        </a:solidFill>
                        <a:effectLst/>
                        <a:latin typeface="+mn-ea"/>
                        <a:ea typeface="+mn-ea"/>
                      </a:endParaRPr>
                    </a:p>
                  </a:txBody>
                  <a:tcPr marL="50287" marR="50287" marT="13903" marB="13903" anchor="ctr"/>
                </a:tc>
                <a:tc>
                  <a:txBody>
                    <a:bodyPr/>
                    <a:lstStyle/>
                    <a:p>
                      <a:pPr marL="17780" marR="17780" indent="0" algn="just" fontAlgn="base" latinLnBrk="1">
                        <a:lnSpc>
                          <a:spcPct val="120000"/>
                        </a:lnSpc>
                        <a:spcBef>
                          <a:spcPts val="0"/>
                        </a:spcBef>
                        <a:spcAft>
                          <a:spcPts val="0"/>
                        </a:spcAft>
                      </a:pPr>
                      <a:r>
                        <a:rPr lang="ko-KR" altLang="en-US" sz="1200" kern="0" spc="-70" dirty="0">
                          <a:solidFill>
                            <a:schemeClr val="tx1"/>
                          </a:solidFill>
                          <a:effectLst/>
                        </a:rPr>
                        <a:t>소위 개량발명에 있어서 선행기술을 청구항의 전문에 기재하고 선행기술에 대하여 그 발명이 특징으로 하는 개량부분을 특징부에 명확하게 지적하여 독점권이 </a:t>
                      </a:r>
                      <a:r>
                        <a:rPr lang="ko-KR" altLang="en-US" sz="1200" kern="0" spc="-70" dirty="0" err="1">
                          <a:solidFill>
                            <a:schemeClr val="tx1"/>
                          </a:solidFill>
                          <a:effectLst/>
                        </a:rPr>
                        <a:t>허여될</a:t>
                      </a:r>
                      <a:r>
                        <a:rPr lang="ko-KR" altLang="en-US" sz="1200" kern="0" spc="-70" dirty="0">
                          <a:solidFill>
                            <a:schemeClr val="tx1"/>
                          </a:solidFill>
                          <a:effectLst/>
                        </a:rPr>
                        <a:t> 발명의 기술영역을 명백히 하는데 공헌함</a:t>
                      </a:r>
                      <a:endParaRPr lang="ko-KR" altLang="en-US" sz="1200" kern="0" spc="-70" dirty="0">
                        <a:solidFill>
                          <a:schemeClr val="tx1"/>
                        </a:solidFill>
                        <a:effectLst/>
                        <a:latin typeface="+mn-ea"/>
                        <a:ea typeface="+mn-ea"/>
                      </a:endParaRPr>
                    </a:p>
                  </a:txBody>
                  <a:tcPr marL="50287" marR="50287" marT="13903" marB="13903" anchor="ctr"/>
                </a:tc>
                <a:tc>
                  <a:txBody>
                    <a:bodyPr/>
                    <a:lstStyle/>
                    <a:p>
                      <a:pPr marL="17780" marR="17780" indent="0" algn="just" fontAlgn="base" latinLnBrk="1">
                        <a:lnSpc>
                          <a:spcPct val="120000"/>
                        </a:lnSpc>
                        <a:spcBef>
                          <a:spcPts val="0"/>
                        </a:spcBef>
                        <a:spcAft>
                          <a:spcPts val="0"/>
                        </a:spcAft>
                      </a:pPr>
                      <a:r>
                        <a:rPr lang="ko-KR" altLang="en-US" sz="1200" kern="0" spc="-110">
                          <a:effectLst/>
                        </a:rPr>
                        <a:t>물건</a:t>
                      </a:r>
                      <a:r>
                        <a:rPr lang="en-US" altLang="ko-KR" sz="1200" kern="0" spc="-110">
                          <a:effectLst/>
                        </a:rPr>
                        <a:t>(product)</a:t>
                      </a:r>
                      <a:r>
                        <a:rPr lang="ko-KR" altLang="en-US" sz="1200" kern="0" spc="-110">
                          <a:effectLst/>
                        </a:rPr>
                        <a:t>의 구조적 특성을 규명하지 못하여 그것을 제조하는 제법</a:t>
                      </a:r>
                      <a:r>
                        <a:rPr lang="en-US" altLang="ko-KR" sz="1200" kern="0" spc="-110">
                          <a:effectLst/>
                        </a:rPr>
                        <a:t>(process)</a:t>
                      </a:r>
                      <a:r>
                        <a:rPr lang="ko-KR" altLang="en-US" sz="1200" kern="0" spc="-110">
                          <a:effectLst/>
                        </a:rPr>
                        <a:t>을 특정하지 않으면 그 물건도 한정할 수 없는 경우에 이용됨</a:t>
                      </a:r>
                      <a:endParaRPr lang="ko-KR" altLang="en-US" sz="1200" kern="0" spc="-110">
                        <a:solidFill>
                          <a:srgbClr val="000000"/>
                        </a:solidFill>
                        <a:effectLst/>
                        <a:latin typeface="+mn-ea"/>
                        <a:ea typeface="+mn-ea"/>
                      </a:endParaRPr>
                    </a:p>
                  </a:txBody>
                  <a:tcPr marL="50287" marR="50287" marT="13903" marB="13903" anchor="ctr"/>
                </a:tc>
                <a:tc>
                  <a:txBody>
                    <a:bodyPr/>
                    <a:lstStyle/>
                    <a:p>
                      <a:pPr fontAlgn="base" latinLnBrk="1"/>
                      <a:r>
                        <a:rPr lang="ko-KR" altLang="en-US" sz="1200" kern="1200" dirty="0">
                          <a:solidFill>
                            <a:schemeClr val="tx1"/>
                          </a:solidFill>
                          <a:effectLst/>
                          <a:latin typeface="+mn-ea"/>
                          <a:ea typeface="+mn-ea"/>
                          <a:cs typeface="+mn-cs"/>
                        </a:rPr>
                        <a:t>발명의 구성요소로 통상적인 구조</a:t>
                      </a:r>
                      <a:r>
                        <a:rPr lang="en-US" altLang="ko-KR" sz="1200" kern="1200" dirty="0">
                          <a:solidFill>
                            <a:schemeClr val="tx1"/>
                          </a:solidFill>
                          <a:effectLst/>
                          <a:latin typeface="+mn-ea"/>
                          <a:ea typeface="+mn-ea"/>
                          <a:cs typeface="+mn-cs"/>
                        </a:rPr>
                        <a:t>, </a:t>
                      </a:r>
                      <a:r>
                        <a:rPr lang="ko-KR" altLang="en-US" sz="1200" kern="1200" dirty="0">
                          <a:solidFill>
                            <a:schemeClr val="tx1"/>
                          </a:solidFill>
                          <a:effectLst/>
                          <a:latin typeface="+mn-ea"/>
                          <a:ea typeface="+mn-ea"/>
                          <a:cs typeface="+mn-cs"/>
                        </a:rPr>
                        <a:t>방법</a:t>
                      </a:r>
                      <a:r>
                        <a:rPr lang="en-US" altLang="ko-KR" sz="1200" kern="1200" dirty="0">
                          <a:solidFill>
                            <a:schemeClr val="tx1"/>
                          </a:solidFill>
                          <a:effectLst/>
                          <a:latin typeface="+mn-ea"/>
                          <a:ea typeface="+mn-ea"/>
                          <a:cs typeface="+mn-cs"/>
                        </a:rPr>
                        <a:t>, </a:t>
                      </a:r>
                      <a:r>
                        <a:rPr lang="ko-KR" altLang="en-US" sz="1200" kern="1200" dirty="0">
                          <a:solidFill>
                            <a:schemeClr val="tx1"/>
                          </a:solidFill>
                          <a:effectLst/>
                          <a:latin typeface="+mn-ea"/>
                          <a:ea typeface="+mn-ea"/>
                          <a:cs typeface="+mn-cs"/>
                        </a:rPr>
                        <a:t>물질 등을 명확하게 구체화하는 것이 불필요하거나 그에 대한 적합한 발명 명칭이 존재하지 않은 경우에 이용됨</a:t>
                      </a:r>
                    </a:p>
                  </a:txBody>
                  <a:tcPr marL="50287" marR="50287" marT="13903" marB="13903" anchor="ctr"/>
                </a:tc>
                <a:extLst>
                  <a:ext uri="{0D108BD9-81ED-4DB2-BD59-A6C34878D82A}">
                    <a16:rowId xmlns:a16="http://schemas.microsoft.com/office/drawing/2014/main" val="158052828"/>
                  </a:ext>
                </a:extLst>
              </a:tr>
              <a:tr h="1359739">
                <a:tc>
                  <a:txBody>
                    <a:bodyPr/>
                    <a:lstStyle/>
                    <a:p>
                      <a:pPr marL="0" marR="0" indent="0" algn="ctr" fontAlgn="base" latinLnBrk="0">
                        <a:lnSpc>
                          <a:spcPct val="130000"/>
                        </a:lnSpc>
                        <a:spcBef>
                          <a:spcPts val="0"/>
                        </a:spcBef>
                        <a:spcAft>
                          <a:spcPts val="0"/>
                        </a:spcAft>
                      </a:pPr>
                      <a:r>
                        <a:rPr lang="ko-KR" altLang="en-US" sz="1200" kern="0" spc="-100" dirty="0">
                          <a:effectLst/>
                        </a:rPr>
                        <a:t>특허</a:t>
                      </a:r>
                    </a:p>
                    <a:p>
                      <a:pPr marL="0" marR="0" indent="0" algn="ctr" fontAlgn="base" latinLnBrk="0">
                        <a:lnSpc>
                          <a:spcPct val="130000"/>
                        </a:lnSpc>
                        <a:spcBef>
                          <a:spcPts val="0"/>
                        </a:spcBef>
                        <a:spcAft>
                          <a:spcPts val="0"/>
                        </a:spcAft>
                      </a:pPr>
                      <a:r>
                        <a:rPr lang="ko-KR" altLang="en-US" sz="1200" kern="0" spc="-100" dirty="0">
                          <a:effectLst/>
                        </a:rPr>
                        <a:t>요건 판단</a:t>
                      </a:r>
                      <a:endParaRPr lang="ko-KR" altLang="en-US" sz="1200" kern="0" spc="-100" dirty="0">
                        <a:solidFill>
                          <a:srgbClr val="000000"/>
                        </a:solidFill>
                        <a:effectLst/>
                        <a:latin typeface="+mn-ea"/>
                        <a:ea typeface="+mn-ea"/>
                      </a:endParaRPr>
                    </a:p>
                  </a:txBody>
                  <a:tcPr marL="50287" marR="50287" marT="13903" marB="13903" anchor="ctr"/>
                </a:tc>
                <a:tc>
                  <a:txBody>
                    <a:bodyPr/>
                    <a:lstStyle/>
                    <a:p>
                      <a:pPr marL="17780" marR="17780" indent="0" algn="just" fontAlgn="base" latinLnBrk="1">
                        <a:lnSpc>
                          <a:spcPct val="120000"/>
                        </a:lnSpc>
                        <a:spcBef>
                          <a:spcPts val="0"/>
                        </a:spcBef>
                        <a:spcAft>
                          <a:spcPts val="0"/>
                        </a:spcAft>
                      </a:pPr>
                      <a:r>
                        <a:rPr lang="ko-KR" altLang="en-US" sz="1200" kern="0" spc="-120" dirty="0">
                          <a:effectLst/>
                          <a:highlight>
                            <a:srgbClr val="FFFF00"/>
                          </a:highlight>
                        </a:rPr>
                        <a:t>전제부의 구성요소와 특징부의 구성요소의 결합에 의한 전체에 의하여 출원발명</a:t>
                      </a:r>
                      <a:r>
                        <a:rPr lang="ko-KR" altLang="en-US" sz="1200" kern="0" spc="-120" dirty="0">
                          <a:effectLst/>
                        </a:rPr>
                        <a:t>을 특정함</a:t>
                      </a:r>
                      <a:r>
                        <a:rPr lang="en-US" altLang="ko-KR" sz="1200" kern="0" spc="-120" dirty="0">
                          <a:effectLst/>
                        </a:rPr>
                        <a:t>(</a:t>
                      </a:r>
                      <a:r>
                        <a:rPr lang="ko-KR" altLang="en-US" sz="1200" kern="0" spc="-120" dirty="0">
                          <a:effectLst/>
                        </a:rPr>
                        <a:t>다만</a:t>
                      </a:r>
                      <a:r>
                        <a:rPr lang="en-US" altLang="ko-KR" sz="1200" kern="0" spc="-120" dirty="0">
                          <a:effectLst/>
                        </a:rPr>
                        <a:t>, </a:t>
                      </a:r>
                      <a:r>
                        <a:rPr lang="ko-KR" altLang="en-US" sz="1200" kern="0" spc="-70" dirty="0">
                          <a:effectLst/>
                        </a:rPr>
                        <a:t>명세서의 전체적인 기재와 출원 경과를 종합적으로 고려하여 출원인이 일정한 구성요소는 공지기술이라는 취지로 청구범위의 전제부에 기재하였음을 인정할 수 있는 경우</a:t>
                      </a:r>
                      <a:r>
                        <a:rPr lang="en-US" altLang="ko-KR" sz="1200" kern="0" spc="-70" dirty="0">
                          <a:effectLst/>
                        </a:rPr>
                        <a:t>(</a:t>
                      </a:r>
                      <a:r>
                        <a:rPr lang="ko-KR" altLang="en-US" sz="1200" kern="0" spc="-70" dirty="0">
                          <a:effectLst/>
                        </a:rPr>
                        <a:t>공지 자인</a:t>
                      </a:r>
                      <a:r>
                        <a:rPr lang="en-US" altLang="ko-KR" sz="1200" kern="0" spc="-70" dirty="0">
                          <a:effectLst/>
                        </a:rPr>
                        <a:t>)</a:t>
                      </a:r>
                      <a:r>
                        <a:rPr lang="ko-KR" altLang="en-US" sz="1200" kern="0" spc="-70" dirty="0">
                          <a:effectLst/>
                        </a:rPr>
                        <a:t>에는 별도의 증거 없이도 </a:t>
                      </a:r>
                      <a:r>
                        <a:rPr lang="ko-KR" altLang="en-US" sz="1200" kern="0" spc="-70" dirty="0" err="1">
                          <a:effectLst/>
                        </a:rPr>
                        <a:t>전제부</a:t>
                      </a:r>
                      <a:r>
                        <a:rPr lang="ko-KR" altLang="en-US" sz="1200" kern="0" spc="-70" dirty="0">
                          <a:effectLst/>
                        </a:rPr>
                        <a:t> 기재 구성요소를 출원 전 공지된 것이라고 사실상 추정함</a:t>
                      </a:r>
                      <a:r>
                        <a:rPr lang="en-US" altLang="ko-KR" sz="1200" kern="0" spc="-70" dirty="0">
                          <a:effectLst/>
                        </a:rPr>
                        <a:t>)</a:t>
                      </a:r>
                      <a:endParaRPr lang="ko-KR" altLang="en-US" sz="1200" kern="0" spc="-120" dirty="0">
                        <a:solidFill>
                          <a:srgbClr val="000000"/>
                        </a:solidFill>
                        <a:effectLst/>
                        <a:latin typeface="+mn-ea"/>
                        <a:ea typeface="+mn-ea"/>
                      </a:endParaRPr>
                    </a:p>
                  </a:txBody>
                  <a:tcPr marL="50287" marR="50287" marT="13903" marB="13903" anchor="ctr"/>
                </a:tc>
                <a:tc>
                  <a:txBody>
                    <a:bodyPr/>
                    <a:lstStyle/>
                    <a:p>
                      <a:pPr marL="17780" marR="17780" indent="0" algn="just" fontAlgn="base" latinLnBrk="1">
                        <a:lnSpc>
                          <a:spcPct val="130000"/>
                        </a:lnSpc>
                        <a:spcBef>
                          <a:spcPts val="0"/>
                        </a:spcBef>
                        <a:spcAft>
                          <a:spcPts val="0"/>
                        </a:spcAft>
                      </a:pPr>
                      <a:r>
                        <a:rPr lang="ko-KR" altLang="en-US" sz="1200" kern="0" spc="-60" dirty="0">
                          <a:effectLst/>
                          <a:highlight>
                            <a:srgbClr val="FFFF00"/>
                          </a:highlight>
                        </a:rPr>
                        <a:t>물건</a:t>
                      </a:r>
                      <a:r>
                        <a:rPr lang="en-US" altLang="ko-KR" sz="1200" kern="0" spc="-60" dirty="0">
                          <a:effectLst/>
                          <a:highlight>
                            <a:srgbClr val="FFFF00"/>
                          </a:highlight>
                        </a:rPr>
                        <a:t>(</a:t>
                      </a:r>
                      <a:r>
                        <a:rPr lang="ko-KR" altLang="en-US" sz="1200" kern="0" spc="-60" dirty="0">
                          <a:effectLst/>
                          <a:highlight>
                            <a:srgbClr val="FFFF00"/>
                          </a:highlight>
                        </a:rPr>
                        <a:t>제조방법의 기재가 물건의 구조나 성질에 영향을 준 경우 그 제조방법에 의하여 특정되는 구조나 성질을 가지는 물건</a:t>
                      </a:r>
                      <a:r>
                        <a:rPr lang="en-US" altLang="ko-KR" sz="1200" kern="0" spc="-60" dirty="0">
                          <a:effectLst/>
                          <a:highlight>
                            <a:srgbClr val="FFFF00"/>
                          </a:highlight>
                        </a:rPr>
                        <a:t>) </a:t>
                      </a:r>
                      <a:r>
                        <a:rPr lang="ko-KR" altLang="en-US" sz="1200" kern="0" spc="-60" dirty="0">
                          <a:effectLst/>
                        </a:rPr>
                        <a:t>으로 출원발명을 특정함</a:t>
                      </a:r>
                    </a:p>
                    <a:p>
                      <a:pPr marL="17780" marR="17780" indent="0" algn="just" fontAlgn="base" latinLnBrk="1">
                        <a:lnSpc>
                          <a:spcPct val="130000"/>
                        </a:lnSpc>
                        <a:spcBef>
                          <a:spcPts val="0"/>
                        </a:spcBef>
                        <a:spcAft>
                          <a:spcPts val="0"/>
                        </a:spcAft>
                      </a:pPr>
                      <a:r>
                        <a:rPr lang="ko-KR" altLang="en-US" sz="1200" kern="0" spc="-60" dirty="0">
                          <a:effectLst/>
                        </a:rPr>
                        <a:t>→ 제조방법에 특허성이 있는지 여부와는 무관</a:t>
                      </a:r>
                      <a:endParaRPr lang="ko-KR" altLang="en-US" sz="1200" kern="0" spc="-60" dirty="0">
                        <a:solidFill>
                          <a:srgbClr val="000000"/>
                        </a:solidFill>
                        <a:effectLst/>
                        <a:latin typeface="+mn-ea"/>
                        <a:ea typeface="+mn-ea"/>
                      </a:endParaRPr>
                    </a:p>
                  </a:txBody>
                  <a:tcPr marL="50287" marR="50287" marT="13903" marB="13903" anchor="ctr"/>
                </a:tc>
                <a:tc>
                  <a:txBody>
                    <a:bodyPr/>
                    <a:lstStyle/>
                    <a:p>
                      <a:pPr fontAlgn="base" latinLnBrk="1"/>
                      <a:r>
                        <a:rPr lang="ko-KR" altLang="en-US" sz="1200" kern="1200" dirty="0">
                          <a:solidFill>
                            <a:schemeClr val="tx1"/>
                          </a:solidFill>
                          <a:effectLst/>
                          <a:latin typeface="+mn-ea"/>
                          <a:ea typeface="+mn-ea"/>
                          <a:cs typeface="+mn-cs"/>
                        </a:rPr>
                        <a:t>기능</a:t>
                      </a:r>
                      <a:r>
                        <a:rPr lang="en-US" altLang="ko-KR" sz="1200" kern="1200" dirty="0">
                          <a:solidFill>
                            <a:schemeClr val="tx1"/>
                          </a:solidFill>
                          <a:effectLst/>
                          <a:latin typeface="+mn-ea"/>
                          <a:ea typeface="+mn-ea"/>
                          <a:cs typeface="+mn-cs"/>
                        </a:rPr>
                        <a:t>, </a:t>
                      </a:r>
                      <a:r>
                        <a:rPr lang="ko-KR" altLang="en-US" sz="1200" kern="1200" dirty="0">
                          <a:solidFill>
                            <a:schemeClr val="tx1"/>
                          </a:solidFill>
                          <a:effectLst/>
                          <a:latin typeface="+mn-ea"/>
                          <a:ea typeface="+mn-ea"/>
                          <a:cs typeface="+mn-cs"/>
                        </a:rPr>
                        <a:t>효과</a:t>
                      </a:r>
                      <a:r>
                        <a:rPr lang="en-US" altLang="ko-KR" sz="1200" kern="1200" dirty="0">
                          <a:solidFill>
                            <a:schemeClr val="tx1"/>
                          </a:solidFill>
                          <a:effectLst/>
                          <a:latin typeface="+mn-ea"/>
                          <a:ea typeface="+mn-ea"/>
                          <a:cs typeface="+mn-cs"/>
                        </a:rPr>
                        <a:t>, </a:t>
                      </a:r>
                      <a:r>
                        <a:rPr lang="ko-KR" altLang="en-US" sz="1200" kern="1200" dirty="0">
                          <a:solidFill>
                            <a:schemeClr val="tx1"/>
                          </a:solidFill>
                          <a:effectLst/>
                          <a:latin typeface="+mn-ea"/>
                          <a:ea typeface="+mn-ea"/>
                          <a:cs typeface="+mn-cs"/>
                        </a:rPr>
                        <a:t>성질 등을 가지는 </a:t>
                      </a:r>
                      <a:r>
                        <a:rPr lang="ko-KR" altLang="en-US" sz="1200" kern="1200" dirty="0">
                          <a:solidFill>
                            <a:schemeClr val="tx1"/>
                          </a:solidFill>
                          <a:effectLst/>
                          <a:highlight>
                            <a:srgbClr val="FFFF00"/>
                          </a:highlight>
                          <a:latin typeface="+mn-ea"/>
                          <a:ea typeface="+mn-ea"/>
                          <a:cs typeface="+mn-cs"/>
                        </a:rPr>
                        <a:t>모든 발명</a:t>
                      </a:r>
                      <a:r>
                        <a:rPr lang="ko-KR" altLang="en-US" sz="1200" kern="1200" dirty="0">
                          <a:solidFill>
                            <a:schemeClr val="tx1"/>
                          </a:solidFill>
                          <a:effectLst/>
                          <a:latin typeface="+mn-ea"/>
                          <a:ea typeface="+mn-ea"/>
                          <a:cs typeface="+mn-cs"/>
                        </a:rPr>
                        <a:t>으로 출원발명을 특정함</a:t>
                      </a:r>
                    </a:p>
                  </a:txBody>
                  <a:tcPr marL="50287" marR="50287" marT="13903" marB="13903" anchor="ctr"/>
                </a:tc>
                <a:extLst>
                  <a:ext uri="{0D108BD9-81ED-4DB2-BD59-A6C34878D82A}">
                    <a16:rowId xmlns:a16="http://schemas.microsoft.com/office/drawing/2014/main" val="963619718"/>
                  </a:ext>
                </a:extLst>
              </a:tr>
              <a:tr h="2156090">
                <a:tc>
                  <a:txBody>
                    <a:bodyPr/>
                    <a:lstStyle/>
                    <a:p>
                      <a:pPr marL="0" marR="0" indent="0" algn="ctr" fontAlgn="base" latinLnBrk="0">
                        <a:lnSpc>
                          <a:spcPct val="130000"/>
                        </a:lnSpc>
                        <a:spcBef>
                          <a:spcPts val="0"/>
                        </a:spcBef>
                        <a:spcAft>
                          <a:spcPts val="0"/>
                        </a:spcAft>
                      </a:pPr>
                      <a:r>
                        <a:rPr lang="ko-KR" altLang="en-US" sz="1200" kern="0" spc="-100" dirty="0">
                          <a:effectLst/>
                        </a:rPr>
                        <a:t>침해</a:t>
                      </a:r>
                    </a:p>
                    <a:p>
                      <a:pPr marL="0" marR="0" indent="0" algn="ctr" fontAlgn="base" latinLnBrk="0">
                        <a:lnSpc>
                          <a:spcPct val="130000"/>
                        </a:lnSpc>
                        <a:spcBef>
                          <a:spcPts val="0"/>
                        </a:spcBef>
                        <a:spcAft>
                          <a:spcPts val="0"/>
                        </a:spcAft>
                      </a:pPr>
                      <a:r>
                        <a:rPr lang="ko-KR" altLang="en-US" sz="1200" kern="0" spc="-100" dirty="0">
                          <a:effectLst/>
                        </a:rPr>
                        <a:t>여부 판단</a:t>
                      </a:r>
                      <a:endParaRPr lang="ko-KR" altLang="en-US" sz="1200" kern="0" spc="-100" dirty="0">
                        <a:solidFill>
                          <a:srgbClr val="000000"/>
                        </a:solidFill>
                        <a:effectLst/>
                        <a:latin typeface="+mn-ea"/>
                        <a:ea typeface="+mn-ea"/>
                      </a:endParaRPr>
                    </a:p>
                  </a:txBody>
                  <a:tcPr marL="50287" marR="50287" marT="13903" marB="13903" anchor="ctr"/>
                </a:tc>
                <a:tc>
                  <a:txBody>
                    <a:bodyPr/>
                    <a:lstStyle/>
                    <a:p>
                      <a:pPr marL="17780" marR="17780" indent="0" algn="just" fontAlgn="base" latinLnBrk="1">
                        <a:lnSpc>
                          <a:spcPct val="120000"/>
                        </a:lnSpc>
                        <a:spcBef>
                          <a:spcPts val="0"/>
                        </a:spcBef>
                        <a:spcAft>
                          <a:spcPts val="0"/>
                        </a:spcAft>
                      </a:pPr>
                      <a:r>
                        <a:rPr lang="ko-KR" altLang="en-US" sz="1200" kern="0" spc="-100" dirty="0">
                          <a:effectLst/>
                          <a:highlight>
                            <a:srgbClr val="FFFF00"/>
                          </a:highlight>
                        </a:rPr>
                        <a:t>특허요건 판단과 마찬가지로 전제부의 구성요소와 특징부의 구성요소의 결합에 의한 전체에 의하여 특허발명</a:t>
                      </a:r>
                      <a:r>
                        <a:rPr lang="ko-KR" altLang="en-US" sz="1200" kern="0" spc="-100" dirty="0">
                          <a:effectLst/>
                        </a:rPr>
                        <a:t>을 특정함</a:t>
                      </a:r>
                      <a:r>
                        <a:rPr lang="en-US" altLang="ko-KR" sz="1200" kern="0" spc="-100" dirty="0">
                          <a:effectLst/>
                        </a:rPr>
                        <a:t>. </a:t>
                      </a:r>
                      <a:r>
                        <a:rPr lang="ko-KR" altLang="en-US" sz="1200" kern="0" spc="-100" dirty="0">
                          <a:effectLst/>
                        </a:rPr>
                        <a:t>다만 </a:t>
                      </a:r>
                      <a:r>
                        <a:rPr lang="ko-KR" altLang="en-US" sz="1200" kern="0" spc="-70" dirty="0">
                          <a:effectLst/>
                        </a:rPr>
                        <a:t>출원인이 출원과정에서 선행기술과의 관계에서 신규성 및 진보성 결여의 거절이유를 극복하기 위하여</a:t>
                      </a:r>
                      <a:r>
                        <a:rPr lang="en-US" altLang="ko-KR" sz="1200" kern="0" spc="-70" dirty="0">
                          <a:effectLst/>
                        </a:rPr>
                        <a:t>, </a:t>
                      </a:r>
                      <a:r>
                        <a:rPr lang="ko-KR" altLang="en-US" sz="1200" kern="0" spc="-70" dirty="0">
                          <a:effectLst/>
                        </a:rPr>
                        <a:t>구성요소 중 일부를 전제부로 돌리면서 전제부에 대해서는 권리의 보호범위로 주장하지 않겠다는 의사를 분명히 한 때에는</a:t>
                      </a:r>
                      <a:r>
                        <a:rPr lang="en-US" altLang="ko-KR" sz="1200" kern="0" spc="-70" dirty="0">
                          <a:effectLst/>
                        </a:rPr>
                        <a:t>, </a:t>
                      </a:r>
                      <a:r>
                        <a:rPr lang="ko-KR" altLang="en-US" sz="1200" kern="0" spc="-70" dirty="0">
                          <a:effectLst/>
                        </a:rPr>
                        <a:t>등록 후에 특징부에는 해당하지 않고 전제부에만 해당하는 균등한 구성요소를 포함하는 기술의 실시에 대해서는 자신의 권리를 주장하지 않겠다는 의사로 파악함</a:t>
                      </a:r>
                      <a:endParaRPr lang="ko-KR" altLang="en-US" sz="1200" kern="0" spc="-70" dirty="0">
                        <a:solidFill>
                          <a:srgbClr val="000000"/>
                        </a:solidFill>
                        <a:effectLst/>
                        <a:latin typeface="+mn-ea"/>
                        <a:ea typeface="+mn-ea"/>
                      </a:endParaRPr>
                    </a:p>
                  </a:txBody>
                  <a:tcPr marL="50287" marR="50287" marT="13903" marB="13903" anchor="ctr"/>
                </a:tc>
                <a:tc>
                  <a:txBody>
                    <a:bodyPr/>
                    <a:lstStyle/>
                    <a:p>
                      <a:pPr marL="17780" marR="17780" indent="0" algn="just" fontAlgn="base" latinLnBrk="1">
                        <a:lnSpc>
                          <a:spcPct val="120000"/>
                        </a:lnSpc>
                        <a:spcBef>
                          <a:spcPts val="0"/>
                        </a:spcBef>
                        <a:spcAft>
                          <a:spcPts val="0"/>
                        </a:spcAft>
                      </a:pPr>
                      <a:r>
                        <a:rPr lang="ko-KR" altLang="en-US" sz="1200" kern="0" spc="-130" dirty="0">
                          <a:effectLst/>
                          <a:highlight>
                            <a:srgbClr val="FFFF00"/>
                          </a:highlight>
                        </a:rPr>
                        <a:t>특허요건 판단과 마찬가지로 </a:t>
                      </a:r>
                      <a:r>
                        <a:rPr lang="ko-KR" altLang="en-US" sz="1200" kern="0" spc="-90" dirty="0">
                          <a:effectLst/>
                          <a:highlight>
                            <a:srgbClr val="FFFF00"/>
                          </a:highlight>
                        </a:rPr>
                        <a:t>물건</a:t>
                      </a:r>
                      <a:r>
                        <a:rPr lang="en-US" altLang="ko-KR" sz="1200" kern="0" spc="-90" dirty="0">
                          <a:effectLst/>
                          <a:highlight>
                            <a:srgbClr val="FFFF00"/>
                          </a:highlight>
                        </a:rPr>
                        <a:t>(</a:t>
                      </a:r>
                      <a:r>
                        <a:rPr lang="ko-KR" altLang="en-US" sz="1200" kern="0" spc="-90" dirty="0">
                          <a:effectLst/>
                          <a:highlight>
                            <a:srgbClr val="FFFF00"/>
                          </a:highlight>
                        </a:rPr>
                        <a:t>제조방법의 기재가 물건의 구조나 성질에 영향을 준 경우 그 제조방법에 의하여 특정되는 구조나 성질을 가지는 물건</a:t>
                      </a:r>
                      <a:r>
                        <a:rPr lang="en-US" altLang="ko-KR" sz="1200" kern="0" spc="-90" dirty="0">
                          <a:effectLst/>
                          <a:highlight>
                            <a:srgbClr val="FFFF00"/>
                          </a:highlight>
                        </a:rPr>
                        <a:t>)</a:t>
                      </a:r>
                      <a:r>
                        <a:rPr lang="en-US" altLang="ko-KR" sz="1200" kern="0" spc="-90" dirty="0">
                          <a:effectLst/>
                        </a:rPr>
                        <a:t> </a:t>
                      </a:r>
                      <a:r>
                        <a:rPr lang="ko-KR" altLang="en-US" sz="1200" kern="0" spc="-90" dirty="0">
                          <a:effectLst/>
                        </a:rPr>
                        <a:t>으로 특허발명을 특정함</a:t>
                      </a:r>
                      <a:r>
                        <a:rPr lang="en-US" altLang="ko-KR" sz="1200" kern="0" spc="-90" dirty="0">
                          <a:effectLst/>
                        </a:rPr>
                        <a:t>. </a:t>
                      </a:r>
                      <a:r>
                        <a:rPr lang="ko-KR" altLang="en-US" sz="1200" kern="0" spc="-90" dirty="0">
                          <a:effectLst/>
                        </a:rPr>
                        <a:t>다만</a:t>
                      </a:r>
                      <a:r>
                        <a:rPr lang="en-US" altLang="ko-KR" sz="1200" kern="0" spc="-90" dirty="0">
                          <a:effectLst/>
                        </a:rPr>
                        <a:t>, </a:t>
                      </a:r>
                      <a:r>
                        <a:rPr lang="ko-KR" altLang="en-US" sz="1200" kern="0" spc="-80" dirty="0">
                          <a:effectLst/>
                        </a:rPr>
                        <a:t>권리범위가 명세서의 전체적인 기재에 의하여 파악되는 발명의 실체에 비추어 지나치게 넓다는 등의 명백히 불합리한 사정이 있는 경우에는 그 권리범위를 청구범위에 기재된 제조방법의 범위 내로 </a:t>
                      </a:r>
                      <a:r>
                        <a:rPr lang="ko-KR" altLang="en-US" sz="1200" kern="0" spc="-80" dirty="0" err="1">
                          <a:effectLst/>
                        </a:rPr>
                        <a:t>한정해석함</a:t>
                      </a:r>
                      <a:endParaRPr lang="ko-KR" altLang="en-US" sz="1200" kern="0" spc="-80" dirty="0">
                        <a:solidFill>
                          <a:srgbClr val="000000"/>
                        </a:solidFill>
                        <a:effectLst/>
                        <a:latin typeface="+mn-ea"/>
                        <a:ea typeface="+mn-ea"/>
                      </a:endParaRPr>
                    </a:p>
                  </a:txBody>
                  <a:tcPr marL="50287" marR="50287" marT="13903" marB="13903" anchor="ctr"/>
                </a:tc>
                <a:tc>
                  <a:txBody>
                    <a:bodyPr/>
                    <a:lstStyle/>
                    <a:p>
                      <a:pPr fontAlgn="base" latinLnBrk="1"/>
                      <a:r>
                        <a:rPr lang="ko-KR" altLang="en-US" sz="1200" kern="1200" dirty="0">
                          <a:solidFill>
                            <a:schemeClr val="tx1"/>
                          </a:solidFill>
                          <a:effectLst/>
                          <a:latin typeface="+mn-ea"/>
                          <a:ea typeface="+mn-ea"/>
                          <a:cs typeface="+mn-cs"/>
                        </a:rPr>
                        <a:t>청구항 그 자체만으로 특허발명의 기술적 구성의 내용을 알 수 없으므로 </a:t>
                      </a:r>
                      <a:r>
                        <a:rPr lang="ko-KR" altLang="en-US" sz="1200" kern="1200" dirty="0">
                          <a:solidFill>
                            <a:schemeClr val="tx1"/>
                          </a:solidFill>
                          <a:effectLst/>
                          <a:highlight>
                            <a:srgbClr val="FFFF00"/>
                          </a:highlight>
                          <a:latin typeface="+mn-ea"/>
                          <a:ea typeface="+mn-ea"/>
                          <a:cs typeface="+mn-cs"/>
                        </a:rPr>
                        <a:t>기능적 표현에 상응되는 발명의 설명과 도면에 기재된 실시예로 제한</a:t>
                      </a:r>
                      <a:r>
                        <a:rPr lang="ko-KR" altLang="en-US" sz="1200" kern="1200" dirty="0">
                          <a:solidFill>
                            <a:schemeClr val="tx1"/>
                          </a:solidFill>
                          <a:effectLst/>
                          <a:latin typeface="+mn-ea"/>
                          <a:ea typeface="+mn-ea"/>
                          <a:cs typeface="+mn-cs"/>
                        </a:rPr>
                        <a:t>하여 특허발명을 특정함</a:t>
                      </a:r>
                    </a:p>
                  </a:txBody>
                  <a:tcPr marL="50287" marR="50287" marT="13903" marB="13903" anchor="ctr"/>
                </a:tc>
                <a:extLst>
                  <a:ext uri="{0D108BD9-81ED-4DB2-BD59-A6C34878D82A}">
                    <a16:rowId xmlns:a16="http://schemas.microsoft.com/office/drawing/2014/main" val="2224277075"/>
                  </a:ext>
                </a:extLst>
              </a:tr>
            </a:tbl>
          </a:graphicData>
        </a:graphic>
      </p:graphicFrame>
    </p:spTree>
    <p:extLst>
      <p:ext uri="{BB962C8B-B14F-4D97-AF65-F5344CB8AC3E}">
        <p14:creationId xmlns:p14="http://schemas.microsoft.com/office/powerpoint/2010/main" val="13205273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특허요건 판단과 침해 여부 </a:t>
            </a:r>
            <a:r>
              <a:rPr lang="ko-KR" altLang="en-US" dirty="0" err="1">
                <a:solidFill>
                  <a:srgbClr val="525252"/>
                </a:solidFill>
              </a:rPr>
              <a:t>판단시</a:t>
            </a:r>
            <a:r>
              <a:rPr lang="ko-KR" altLang="en-US" dirty="0">
                <a:solidFill>
                  <a:srgbClr val="525252"/>
                </a:solidFill>
              </a:rPr>
              <a:t> 발명의 특정</a:t>
            </a:r>
          </a:p>
        </p:txBody>
      </p:sp>
      <p:sp>
        <p:nvSpPr>
          <p:cNvPr id="6" name="슬라이드 번호 개체 틀 5"/>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135</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cxnSp>
        <p:nvCxnSpPr>
          <p:cNvPr id="2" name="직선 연결선 1">
            <a:extLst>
              <a:ext uri="{FF2B5EF4-FFF2-40B4-BE49-F238E27FC236}">
                <a16:creationId xmlns:a16="http://schemas.microsoft.com/office/drawing/2014/main" id="{058B4714-2572-7226-F7C4-E1686A3B175E}"/>
              </a:ext>
            </a:extLst>
          </p:cNvPr>
          <p:cNvCxnSpPr/>
          <p:nvPr/>
        </p:nvCxnSpPr>
        <p:spPr>
          <a:xfrm>
            <a:off x="1079612" y="1219200"/>
            <a:ext cx="0" cy="5071533"/>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 name="직사각형 4">
            <a:extLst>
              <a:ext uri="{FF2B5EF4-FFF2-40B4-BE49-F238E27FC236}">
                <a16:creationId xmlns:a16="http://schemas.microsoft.com/office/drawing/2014/main" id="{150B51D9-95A6-D472-1048-AE86739C1467}"/>
              </a:ext>
            </a:extLst>
          </p:cNvPr>
          <p:cNvSpPr/>
          <p:nvPr/>
        </p:nvSpPr>
        <p:spPr>
          <a:xfrm>
            <a:off x="381081" y="1378089"/>
            <a:ext cx="1395264"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인용대상</a:t>
            </a:r>
          </a:p>
        </p:txBody>
      </p:sp>
      <p:sp>
        <p:nvSpPr>
          <p:cNvPr id="8" name="직사각형 7">
            <a:extLst>
              <a:ext uri="{FF2B5EF4-FFF2-40B4-BE49-F238E27FC236}">
                <a16:creationId xmlns:a16="http://schemas.microsoft.com/office/drawing/2014/main" id="{2C3AF3A8-4B33-A6C7-7890-215F54CBBF00}"/>
              </a:ext>
            </a:extLst>
          </p:cNvPr>
          <p:cNvSpPr/>
          <p:nvPr/>
        </p:nvSpPr>
        <p:spPr>
          <a:xfrm>
            <a:off x="381081" y="2522661"/>
            <a:ext cx="1395264"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black"/>
                </a:solidFill>
                <a:effectLst/>
                <a:uLnTx/>
                <a:uFillTx/>
                <a:latin typeface="Frutiger LT 65 Bold"/>
                <a:ea typeface="Rix모던고딕 B"/>
                <a:cs typeface="+mn-cs"/>
              </a:rPr>
              <a:t>출원</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 name="직사각형 8">
            <a:extLst>
              <a:ext uri="{FF2B5EF4-FFF2-40B4-BE49-F238E27FC236}">
                <a16:creationId xmlns:a16="http://schemas.microsoft.com/office/drawing/2014/main" id="{D6C80A9E-E3A1-411A-0567-188B363CCD05}"/>
              </a:ext>
            </a:extLst>
          </p:cNvPr>
          <p:cNvSpPr/>
          <p:nvPr/>
        </p:nvSpPr>
        <p:spPr>
          <a:xfrm>
            <a:off x="381081" y="3894264"/>
            <a:ext cx="1395264" cy="30043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등록</a:t>
            </a:r>
          </a:p>
        </p:txBody>
      </p:sp>
      <p:sp>
        <p:nvSpPr>
          <p:cNvPr id="11" name="직사각형 10">
            <a:extLst>
              <a:ext uri="{FF2B5EF4-FFF2-40B4-BE49-F238E27FC236}">
                <a16:creationId xmlns:a16="http://schemas.microsoft.com/office/drawing/2014/main" id="{68FE6085-A64E-9EC5-B553-BA16290407E5}"/>
              </a:ext>
            </a:extLst>
          </p:cNvPr>
          <p:cNvSpPr/>
          <p:nvPr/>
        </p:nvSpPr>
        <p:spPr>
          <a:xfrm>
            <a:off x="381081" y="5265867"/>
            <a:ext cx="1395264" cy="36082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자 실시</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5" name="직선 화살표 연결선 14">
            <a:extLst>
              <a:ext uri="{FF2B5EF4-FFF2-40B4-BE49-F238E27FC236}">
                <a16:creationId xmlns:a16="http://schemas.microsoft.com/office/drawing/2014/main" id="{F93D7BBD-7859-1487-392B-93CF9D714196}"/>
              </a:ext>
            </a:extLst>
          </p:cNvPr>
          <p:cNvCxnSpPr>
            <a:cxnSpLocks/>
            <a:endCxn id="20" idx="1"/>
          </p:cNvCxnSpPr>
          <p:nvPr/>
        </p:nvCxnSpPr>
        <p:spPr>
          <a:xfrm>
            <a:off x="1079612" y="4795167"/>
            <a:ext cx="559509" cy="0"/>
          </a:xfrm>
          <a:prstGeom prst="straightConnector1">
            <a:avLst/>
          </a:prstGeom>
          <a:ln w="28575">
            <a:solidFill>
              <a:schemeClr val="accent2">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CCC8FC11-69AD-8B11-F056-02A98381CF31}"/>
              </a:ext>
            </a:extLst>
          </p:cNvPr>
          <p:cNvCxnSpPr/>
          <p:nvPr/>
        </p:nvCxnSpPr>
        <p:spPr>
          <a:xfrm flipV="1">
            <a:off x="5090755" y="1041400"/>
            <a:ext cx="0" cy="532553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직선 화살표 연결선 16">
            <a:extLst>
              <a:ext uri="{FF2B5EF4-FFF2-40B4-BE49-F238E27FC236}">
                <a16:creationId xmlns:a16="http://schemas.microsoft.com/office/drawing/2014/main" id="{607D914F-DB1F-44D2-1E21-1E402B8EB673}"/>
              </a:ext>
            </a:extLst>
          </p:cNvPr>
          <p:cNvCxnSpPr>
            <a:cxnSpLocks/>
            <a:endCxn id="18" idx="1"/>
          </p:cNvCxnSpPr>
          <p:nvPr/>
        </p:nvCxnSpPr>
        <p:spPr>
          <a:xfrm>
            <a:off x="1079612" y="3244467"/>
            <a:ext cx="559509" cy="0"/>
          </a:xfrm>
          <a:prstGeom prst="straightConnector1">
            <a:avLst/>
          </a:prstGeom>
          <a:ln w="28575">
            <a:solidFill>
              <a:schemeClr val="accent2">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7444F937-225D-266A-0354-9CF9A133DC90}"/>
              </a:ext>
            </a:extLst>
          </p:cNvPr>
          <p:cNvSpPr txBox="1"/>
          <p:nvPr/>
        </p:nvSpPr>
        <p:spPr>
          <a:xfrm>
            <a:off x="1639121" y="2982857"/>
            <a:ext cx="881972" cy="523220"/>
          </a:xfrm>
          <a:prstGeom prst="rect">
            <a:avLst/>
          </a:prstGeom>
          <a:solidFill>
            <a:schemeClr val="accent2">
              <a:lumMod val="50000"/>
            </a:schemeClr>
          </a:solidFill>
          <a:ln>
            <a:solidFill>
              <a:schemeClr val="bg1">
                <a:lumMod val="50000"/>
              </a:schemeClr>
            </a:solid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특허요건 </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판단</a:t>
            </a:r>
          </a:p>
        </p:txBody>
      </p:sp>
      <p:graphicFrame>
        <p:nvGraphicFramePr>
          <p:cNvPr id="19" name="표 18">
            <a:extLst>
              <a:ext uri="{FF2B5EF4-FFF2-40B4-BE49-F238E27FC236}">
                <a16:creationId xmlns:a16="http://schemas.microsoft.com/office/drawing/2014/main" id="{19EC1A64-7F54-DA72-1142-79409CD40816}"/>
              </a:ext>
            </a:extLst>
          </p:cNvPr>
          <p:cNvGraphicFramePr>
            <a:graphicFrameLocks noGrp="1"/>
          </p:cNvGraphicFramePr>
          <p:nvPr/>
        </p:nvGraphicFramePr>
        <p:xfrm>
          <a:off x="5325310" y="2866723"/>
          <a:ext cx="6485598" cy="3592276"/>
        </p:xfrm>
        <a:graphic>
          <a:graphicData uri="http://schemas.openxmlformats.org/drawingml/2006/table">
            <a:tbl>
              <a:tblPr>
                <a:tableStyleId>{8799B23B-EC83-4686-B30A-512413B5E67A}</a:tableStyleId>
              </a:tblPr>
              <a:tblGrid>
                <a:gridCol w="1285555">
                  <a:extLst>
                    <a:ext uri="{9D8B030D-6E8A-4147-A177-3AD203B41FA5}">
                      <a16:colId xmlns:a16="http://schemas.microsoft.com/office/drawing/2014/main" val="20000"/>
                    </a:ext>
                  </a:extLst>
                </a:gridCol>
                <a:gridCol w="2589029">
                  <a:extLst>
                    <a:ext uri="{9D8B030D-6E8A-4147-A177-3AD203B41FA5}">
                      <a16:colId xmlns:a16="http://schemas.microsoft.com/office/drawing/2014/main" val="20001"/>
                    </a:ext>
                  </a:extLst>
                </a:gridCol>
                <a:gridCol w="2611014">
                  <a:extLst>
                    <a:ext uri="{9D8B030D-6E8A-4147-A177-3AD203B41FA5}">
                      <a16:colId xmlns:a16="http://schemas.microsoft.com/office/drawing/2014/main" val="20002"/>
                    </a:ext>
                  </a:extLst>
                </a:gridCol>
              </a:tblGrid>
              <a:tr h="284280">
                <a:tc>
                  <a:txBody>
                    <a:bodyPr/>
                    <a:lstStyle/>
                    <a:p>
                      <a:pPr algn="ctr" latinLnBrk="1"/>
                      <a:r>
                        <a:rPr lang="ko-KR" altLang="en-US" sz="1400" dirty="0"/>
                        <a:t>발명의 특정</a:t>
                      </a:r>
                    </a:p>
                  </a:txBody>
                  <a:tcPr anchor="ctr">
                    <a:solidFill>
                      <a:schemeClr val="accent1">
                        <a:lumMod val="20000"/>
                        <a:lumOff val="80000"/>
                      </a:schemeClr>
                    </a:solidFill>
                  </a:tcPr>
                </a:tc>
                <a:tc>
                  <a:txBody>
                    <a:bodyPr/>
                    <a:lstStyle/>
                    <a:p>
                      <a:pPr algn="ctr" latinLnBrk="1"/>
                      <a:r>
                        <a:rPr lang="ko-KR" altLang="en-US" sz="1400" dirty="0"/>
                        <a:t>특허요건 판단</a:t>
                      </a:r>
                    </a:p>
                  </a:txBody>
                  <a:tcPr anchor="ctr">
                    <a:solidFill>
                      <a:schemeClr val="accent1">
                        <a:lumMod val="20000"/>
                        <a:lumOff val="80000"/>
                      </a:schemeClr>
                    </a:solidFill>
                  </a:tcPr>
                </a:tc>
                <a:tc>
                  <a:txBody>
                    <a:bodyPr/>
                    <a:lstStyle/>
                    <a:p>
                      <a:pPr algn="ctr" latinLnBrk="1"/>
                      <a:r>
                        <a:rPr lang="ko-KR" altLang="en-US" sz="1400" dirty="0"/>
                        <a:t>보호범위 판단</a:t>
                      </a:r>
                    </a:p>
                  </a:txBody>
                  <a:tcPr anchor="ctr">
                    <a:solidFill>
                      <a:schemeClr val="accent1">
                        <a:lumMod val="20000"/>
                        <a:lumOff val="80000"/>
                      </a:schemeClr>
                    </a:solidFill>
                  </a:tcPr>
                </a:tc>
                <a:extLst>
                  <a:ext uri="{0D108BD9-81ED-4DB2-BD59-A6C34878D82A}">
                    <a16:rowId xmlns:a16="http://schemas.microsoft.com/office/drawing/2014/main" val="10000"/>
                  </a:ext>
                </a:extLst>
              </a:tr>
              <a:tr h="546458">
                <a:tc>
                  <a:txBody>
                    <a:bodyPr/>
                    <a:lstStyle/>
                    <a:p>
                      <a:pPr algn="ctr" latinLnBrk="1"/>
                      <a:r>
                        <a:rPr lang="ko-KR" altLang="en-US" sz="1400" dirty="0"/>
                        <a:t>청구범위 </a:t>
                      </a:r>
                      <a:endParaRPr lang="en-US" altLang="ko-KR" sz="1400" dirty="0"/>
                    </a:p>
                    <a:p>
                      <a:pPr algn="ctr" latinLnBrk="1"/>
                      <a:r>
                        <a:rPr lang="ko-KR" altLang="en-US" sz="1400" dirty="0"/>
                        <a:t>중심의 원칙</a:t>
                      </a:r>
                      <a:endParaRPr lang="en-US" altLang="ko-KR" sz="1400" dirty="0"/>
                    </a:p>
                  </a:txBody>
                  <a:tcPr anchor="ctr"/>
                </a:tc>
                <a:tc>
                  <a:txBody>
                    <a:bodyPr/>
                    <a:lstStyle/>
                    <a:p>
                      <a:pPr algn="ctr" latinLnBrk="1"/>
                      <a:r>
                        <a:rPr lang="ko-KR" altLang="en-US" sz="1400" dirty="0"/>
                        <a:t>적용</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적용</a:t>
                      </a:r>
                    </a:p>
                  </a:txBody>
                  <a:tcPr anchor="ctr"/>
                </a:tc>
                <a:extLst>
                  <a:ext uri="{0D108BD9-81ED-4DB2-BD59-A6C34878D82A}">
                    <a16:rowId xmlns:a16="http://schemas.microsoft.com/office/drawing/2014/main" val="10001"/>
                  </a:ext>
                </a:extLst>
              </a:tr>
              <a:tr h="546458">
                <a:tc>
                  <a:txBody>
                    <a:bodyPr/>
                    <a:lstStyle/>
                    <a:p>
                      <a:pPr algn="ctr" latinLnBrk="1"/>
                      <a:r>
                        <a:rPr lang="ko-KR" altLang="en-US" sz="1400" dirty="0"/>
                        <a:t>발명의 설명</a:t>
                      </a:r>
                      <a:r>
                        <a:rPr lang="en-US" altLang="ko-KR" sz="1400" dirty="0"/>
                        <a:t> </a:t>
                      </a:r>
                    </a:p>
                    <a:p>
                      <a:pPr algn="ctr" latinLnBrk="1"/>
                      <a:r>
                        <a:rPr lang="ko-KR" altLang="en-US" sz="1400" dirty="0"/>
                        <a:t>참작의 원칙</a:t>
                      </a:r>
                      <a:endParaRPr lang="en-US" altLang="ko-KR" sz="1400" dirty="0"/>
                    </a:p>
                  </a:txBody>
                  <a:tcPr anchor="ctr"/>
                </a:tc>
                <a:tc>
                  <a:txBody>
                    <a:bodyPr/>
                    <a:lstStyle/>
                    <a:p>
                      <a:pPr algn="ctr" latinLnBrk="1"/>
                      <a:r>
                        <a:rPr lang="ko-KR" altLang="en-US" sz="1400" dirty="0"/>
                        <a:t>적용</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적용 </a:t>
                      </a:r>
                      <a:r>
                        <a:rPr lang="en-US" altLang="ko-KR" sz="1400" dirty="0">
                          <a:solidFill>
                            <a:srgbClr val="FF0000"/>
                          </a:solidFill>
                        </a:rPr>
                        <a:t>(</a:t>
                      </a:r>
                      <a:r>
                        <a:rPr lang="ko-KR" altLang="en-US" sz="1400" dirty="0">
                          <a:solidFill>
                            <a:srgbClr val="FF0000"/>
                          </a:solidFill>
                        </a:rPr>
                        <a:t>제한해석 가능</a:t>
                      </a:r>
                      <a:r>
                        <a:rPr lang="en-US" altLang="ko-KR" sz="1400" dirty="0">
                          <a:solidFill>
                            <a:srgbClr val="FF0000"/>
                          </a:solidFill>
                        </a:rPr>
                        <a:t>)</a:t>
                      </a:r>
                      <a:endParaRPr lang="ko-KR" altLang="en-US" sz="1400" dirty="0">
                        <a:solidFill>
                          <a:srgbClr val="FF0000"/>
                        </a:solidFill>
                      </a:endParaRPr>
                    </a:p>
                  </a:txBody>
                  <a:tcPr anchor="ctr"/>
                </a:tc>
                <a:extLst>
                  <a:ext uri="{0D108BD9-81ED-4DB2-BD59-A6C34878D82A}">
                    <a16:rowId xmlns:a16="http://schemas.microsoft.com/office/drawing/2014/main" val="2673544724"/>
                  </a:ext>
                </a:extLst>
              </a:tr>
              <a:tr h="682271">
                <a:tc>
                  <a:txBody>
                    <a:bodyPr/>
                    <a:lstStyle/>
                    <a:p>
                      <a:pPr algn="ctr" latinLnBrk="1"/>
                      <a:r>
                        <a:rPr lang="ko-KR" altLang="en-US" sz="1400" dirty="0"/>
                        <a:t>공지기술</a:t>
                      </a:r>
                      <a:endParaRPr lang="en-US" altLang="ko-KR" sz="1400" dirty="0"/>
                    </a:p>
                    <a:p>
                      <a:pPr algn="ctr" latinLnBrk="1"/>
                      <a:r>
                        <a:rPr lang="ko-KR" altLang="en-US" sz="1400" dirty="0"/>
                        <a:t>참작의 원칙</a:t>
                      </a:r>
                      <a:endParaRPr lang="en-US" altLang="ko-KR" sz="1400" dirty="0"/>
                    </a:p>
                  </a:txBody>
                  <a:tcPr anchor="ctr"/>
                </a:tc>
                <a:tc>
                  <a:txBody>
                    <a:bodyPr/>
                    <a:lstStyle/>
                    <a:p>
                      <a:pPr algn="ctr" latinLnBrk="1"/>
                      <a:r>
                        <a:rPr lang="ko-KR" altLang="en-US" sz="1400" dirty="0"/>
                        <a:t>부적용</a:t>
                      </a:r>
                      <a:endParaRPr lang="en-US" altLang="ko-KR" sz="1400" dirty="0"/>
                    </a:p>
                    <a:p>
                      <a:pPr algn="ctr" latinLnBrk="1"/>
                      <a:r>
                        <a:rPr lang="en-US" altLang="ko-KR" sz="1400" dirty="0"/>
                        <a:t>(</a:t>
                      </a:r>
                      <a:r>
                        <a:rPr lang="ko-KR" altLang="en-US" sz="1400" dirty="0"/>
                        <a:t>발명의 특정 후 신규성</a:t>
                      </a:r>
                      <a:r>
                        <a:rPr lang="en-US" altLang="ko-KR" sz="1400" dirty="0"/>
                        <a:t>, </a:t>
                      </a:r>
                      <a:r>
                        <a:rPr lang="ko-KR" altLang="en-US" sz="1400" dirty="0"/>
                        <a:t>진보성 등 판단으로 갈음</a:t>
                      </a:r>
                      <a:r>
                        <a:rPr lang="en-US" altLang="ko-KR" sz="1400" dirty="0"/>
                        <a:t>)</a:t>
                      </a:r>
                      <a:endParaRPr lang="ko-KR" altLang="en-US" sz="14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적용 </a:t>
                      </a:r>
                      <a:r>
                        <a:rPr lang="en-US" altLang="ko-KR" sz="1400" dirty="0">
                          <a:solidFill>
                            <a:srgbClr val="FF0000"/>
                          </a:solidFill>
                        </a:rPr>
                        <a:t>(</a:t>
                      </a:r>
                      <a:r>
                        <a:rPr lang="ko-KR" altLang="en-US" sz="1400" dirty="0">
                          <a:solidFill>
                            <a:srgbClr val="FF0000"/>
                          </a:solidFill>
                        </a:rPr>
                        <a:t>제한해석</a:t>
                      </a:r>
                      <a:r>
                        <a:rPr lang="en-US" altLang="ko-KR" sz="1400" dirty="0">
                          <a:solidFill>
                            <a:srgbClr val="FF0000"/>
                          </a:solidFill>
                        </a:rPr>
                        <a:t>)</a:t>
                      </a:r>
                      <a:endParaRPr lang="ko-KR" altLang="en-US" sz="1400" dirty="0">
                        <a:solidFill>
                          <a:srgbClr val="FF0000"/>
                        </a:solidFill>
                      </a:endParaRPr>
                    </a:p>
                  </a:txBody>
                  <a:tcPr anchor="ctr"/>
                </a:tc>
                <a:extLst>
                  <a:ext uri="{0D108BD9-81ED-4DB2-BD59-A6C34878D82A}">
                    <a16:rowId xmlns:a16="http://schemas.microsoft.com/office/drawing/2014/main" val="36351010"/>
                  </a:ext>
                </a:extLst>
              </a:tr>
              <a:tr h="682271">
                <a:tc>
                  <a:txBody>
                    <a:bodyPr/>
                    <a:lstStyle/>
                    <a:p>
                      <a:pPr algn="ctr" latinLnBrk="1"/>
                      <a:r>
                        <a:rPr lang="ko-KR" altLang="en-US" sz="1400" dirty="0"/>
                        <a:t>출원경과</a:t>
                      </a:r>
                      <a:endParaRPr lang="en-US" altLang="ko-KR" sz="1400" dirty="0"/>
                    </a:p>
                    <a:p>
                      <a:pPr algn="ctr" latinLnBrk="1"/>
                      <a:r>
                        <a:rPr lang="ko-KR" altLang="en-US" sz="1400" dirty="0"/>
                        <a:t>참작의 원칙</a:t>
                      </a:r>
                      <a:endParaRPr lang="en-US" altLang="ko-KR" sz="1400" dirty="0"/>
                    </a:p>
                  </a:txBody>
                  <a:tcPr anchor="ctr"/>
                </a:tc>
                <a:tc>
                  <a:txBody>
                    <a:bodyPr/>
                    <a:lstStyle/>
                    <a:p>
                      <a:pPr algn="ctr" latinLnBrk="1"/>
                      <a:r>
                        <a:rPr lang="ko-KR" altLang="en-US" sz="1400" dirty="0"/>
                        <a:t>부적용</a:t>
                      </a:r>
                      <a:endParaRPr lang="en-US" altLang="ko-KR" sz="1400" dirty="0"/>
                    </a:p>
                    <a:p>
                      <a:pPr algn="ctr" latinLnBrk="1"/>
                      <a:r>
                        <a:rPr lang="en-US" altLang="ko-KR" sz="1400" dirty="0"/>
                        <a:t>(</a:t>
                      </a:r>
                      <a:r>
                        <a:rPr lang="ko-KR" altLang="en-US" sz="1400" dirty="0"/>
                        <a:t>다만</a:t>
                      </a:r>
                      <a:r>
                        <a:rPr lang="en-US" altLang="ko-KR" sz="1400" dirty="0"/>
                        <a:t>, </a:t>
                      </a:r>
                      <a:r>
                        <a:rPr lang="ko-KR" altLang="en-US" sz="1400" dirty="0"/>
                        <a:t>출원인이 공지되었음을 자인하는 경우 공지된 것으로 추정</a:t>
                      </a:r>
                      <a:r>
                        <a:rPr lang="en-US" altLang="ko-KR" sz="1400" dirty="0"/>
                        <a:t>)</a:t>
                      </a:r>
                      <a:endParaRPr lang="ko-KR" altLang="en-US" sz="14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적용 </a:t>
                      </a:r>
                      <a:r>
                        <a:rPr lang="en-US" altLang="ko-KR" sz="1400" dirty="0">
                          <a:solidFill>
                            <a:srgbClr val="FF0000"/>
                          </a:solidFill>
                        </a:rPr>
                        <a:t>(</a:t>
                      </a:r>
                      <a:r>
                        <a:rPr lang="ko-KR" altLang="en-US" sz="1400" dirty="0">
                          <a:solidFill>
                            <a:srgbClr val="FF0000"/>
                          </a:solidFill>
                        </a:rPr>
                        <a:t>제한해석</a:t>
                      </a:r>
                      <a:r>
                        <a:rPr lang="en-US" altLang="ko-KR" sz="1400" dirty="0">
                          <a:solidFill>
                            <a:srgbClr val="FF0000"/>
                          </a:solidFill>
                        </a:rPr>
                        <a:t>)</a:t>
                      </a:r>
                      <a:endParaRPr lang="ko-KR" altLang="en-US" sz="1400" dirty="0">
                        <a:solidFill>
                          <a:srgbClr val="FF0000"/>
                        </a:solidFill>
                      </a:endParaRPr>
                    </a:p>
                  </a:txBody>
                  <a:tcPr anchor="ctr"/>
                </a:tc>
                <a:extLst>
                  <a:ext uri="{0D108BD9-81ED-4DB2-BD59-A6C34878D82A}">
                    <a16:rowId xmlns:a16="http://schemas.microsoft.com/office/drawing/2014/main" val="624018035"/>
                  </a:ext>
                </a:extLst>
              </a:tr>
              <a:tr h="682271">
                <a:tc>
                  <a:txBody>
                    <a:bodyPr/>
                    <a:lstStyle/>
                    <a:p>
                      <a:pPr algn="ctr" latinLnBrk="1"/>
                      <a:r>
                        <a:rPr lang="ko-KR" altLang="en-US" sz="1400" dirty="0"/>
                        <a:t>특허권하자</a:t>
                      </a:r>
                      <a:endParaRPr lang="en-US" altLang="ko-KR" sz="1400" dirty="0"/>
                    </a:p>
                    <a:p>
                      <a:pPr algn="ctr" latinLnBrk="1"/>
                      <a:r>
                        <a:rPr lang="ko-KR" altLang="en-US" sz="1400" dirty="0"/>
                        <a:t>참작의 원칙</a:t>
                      </a:r>
                      <a:endParaRPr lang="en-US" altLang="ko-KR" sz="1400" dirty="0"/>
                    </a:p>
                  </a:txBody>
                  <a:tcPr anchor="ctr"/>
                </a:tc>
                <a:tc>
                  <a:txBody>
                    <a:bodyPr/>
                    <a:lstStyle/>
                    <a:p>
                      <a:pPr algn="ctr" latinLnBrk="1"/>
                      <a:r>
                        <a:rPr lang="ko-KR" altLang="en-US" sz="1400" dirty="0"/>
                        <a:t>부적용</a:t>
                      </a:r>
                      <a:endParaRPr lang="en-US" altLang="ko-KR" sz="1400" dirty="0"/>
                    </a:p>
                    <a:p>
                      <a:pPr algn="ctr" latinLnBrk="1"/>
                      <a:r>
                        <a:rPr lang="en-US" altLang="ko-KR" sz="1400" dirty="0"/>
                        <a:t>(</a:t>
                      </a:r>
                      <a:r>
                        <a:rPr lang="ko-KR" altLang="en-US" sz="1400" dirty="0"/>
                        <a:t>발명의 특정 후 특허요건 판단으로 갈음</a:t>
                      </a:r>
                      <a:r>
                        <a:rPr lang="en-US" altLang="ko-KR" sz="1400" dirty="0"/>
                        <a:t>)</a:t>
                      </a:r>
                      <a:endParaRPr lang="ko-KR" altLang="en-US" sz="14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적용 </a:t>
                      </a:r>
                      <a:r>
                        <a:rPr lang="en-US" altLang="ko-KR" sz="1400" dirty="0">
                          <a:solidFill>
                            <a:srgbClr val="FF0000"/>
                          </a:solidFill>
                        </a:rPr>
                        <a:t>(</a:t>
                      </a:r>
                      <a:r>
                        <a:rPr lang="ko-KR" altLang="en-US" sz="1400" dirty="0">
                          <a:solidFill>
                            <a:srgbClr val="FF0000"/>
                          </a:solidFill>
                        </a:rPr>
                        <a:t>제한해석</a:t>
                      </a:r>
                      <a:r>
                        <a:rPr lang="en-US" altLang="ko-KR" sz="1400" dirty="0">
                          <a:solidFill>
                            <a:srgbClr val="FF0000"/>
                          </a:solidFill>
                        </a:rPr>
                        <a:t>)</a:t>
                      </a:r>
                      <a:endParaRPr lang="ko-KR" altLang="en-US" sz="1400" dirty="0">
                        <a:solidFill>
                          <a:srgbClr val="FF0000"/>
                        </a:solidFill>
                      </a:endParaRPr>
                    </a:p>
                  </a:txBody>
                  <a:tcPr anchor="ctr"/>
                </a:tc>
                <a:extLst>
                  <a:ext uri="{0D108BD9-81ED-4DB2-BD59-A6C34878D82A}">
                    <a16:rowId xmlns:a16="http://schemas.microsoft.com/office/drawing/2014/main" val="280073106"/>
                  </a:ext>
                </a:extLst>
              </a:tr>
            </a:tbl>
          </a:graphicData>
        </a:graphic>
      </p:graphicFrame>
      <p:sp>
        <p:nvSpPr>
          <p:cNvPr id="20" name="TextBox 19">
            <a:extLst>
              <a:ext uri="{FF2B5EF4-FFF2-40B4-BE49-F238E27FC236}">
                <a16:creationId xmlns:a16="http://schemas.microsoft.com/office/drawing/2014/main" id="{12D5BD1B-C928-F40C-1CAE-01B574F737A0}"/>
              </a:ext>
            </a:extLst>
          </p:cNvPr>
          <p:cNvSpPr txBox="1"/>
          <p:nvPr/>
        </p:nvSpPr>
        <p:spPr>
          <a:xfrm>
            <a:off x="1639121" y="4533557"/>
            <a:ext cx="881972" cy="523220"/>
          </a:xfrm>
          <a:prstGeom prst="rect">
            <a:avLst/>
          </a:prstGeom>
          <a:solidFill>
            <a:schemeClr val="accent3">
              <a:lumMod val="75000"/>
            </a:schemeClr>
          </a:solidFill>
          <a:ln>
            <a:solidFill>
              <a:schemeClr val="bg1">
                <a:lumMod val="50000"/>
              </a:schemeClr>
            </a:solidFill>
          </a:ln>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보호범위 </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판단</a:t>
            </a:r>
          </a:p>
        </p:txBody>
      </p:sp>
      <p:sp>
        <p:nvSpPr>
          <p:cNvPr id="21" name="직사각형 20">
            <a:extLst>
              <a:ext uri="{FF2B5EF4-FFF2-40B4-BE49-F238E27FC236}">
                <a16:creationId xmlns:a16="http://schemas.microsoft.com/office/drawing/2014/main" id="{BBCB025E-DF1D-4A84-AB5C-24F2169EBCA5}"/>
              </a:ext>
            </a:extLst>
          </p:cNvPr>
          <p:cNvSpPr/>
          <p:nvPr/>
        </p:nvSpPr>
        <p:spPr>
          <a:xfrm>
            <a:off x="2721641" y="2708266"/>
            <a:ext cx="2134561" cy="30043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black"/>
                </a:solidFill>
                <a:effectLst/>
                <a:uLnTx/>
                <a:uFillTx/>
                <a:latin typeface="Frutiger LT 65 Bold"/>
                <a:ea typeface="Rix모던고딕 B"/>
                <a:cs typeface="+mn-cs"/>
              </a:rPr>
              <a:t>출원발명 특정</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 name="직사각형 21">
            <a:extLst>
              <a:ext uri="{FF2B5EF4-FFF2-40B4-BE49-F238E27FC236}">
                <a16:creationId xmlns:a16="http://schemas.microsoft.com/office/drawing/2014/main" id="{3AF5CFE7-6B9C-40EF-4AF0-FDB6C7DB24BF}"/>
              </a:ext>
            </a:extLst>
          </p:cNvPr>
          <p:cNvSpPr/>
          <p:nvPr/>
        </p:nvSpPr>
        <p:spPr>
          <a:xfrm>
            <a:off x="2721641" y="3081713"/>
            <a:ext cx="2134561" cy="30043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인용대상 특정</a:t>
            </a:r>
          </a:p>
        </p:txBody>
      </p:sp>
      <p:sp>
        <p:nvSpPr>
          <p:cNvPr id="23" name="직사각형 22">
            <a:extLst>
              <a:ext uri="{FF2B5EF4-FFF2-40B4-BE49-F238E27FC236}">
                <a16:creationId xmlns:a16="http://schemas.microsoft.com/office/drawing/2014/main" id="{5088702F-A331-AF52-C523-BCE8E06BD2E4}"/>
              </a:ext>
            </a:extLst>
          </p:cNvPr>
          <p:cNvSpPr/>
          <p:nvPr/>
        </p:nvSpPr>
        <p:spPr>
          <a:xfrm>
            <a:off x="2721641" y="3477257"/>
            <a:ext cx="2134561" cy="30043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동일성</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용이성 등 판단</a:t>
            </a:r>
          </a:p>
        </p:txBody>
      </p:sp>
      <p:sp>
        <p:nvSpPr>
          <p:cNvPr id="24" name="직사각형 23">
            <a:extLst>
              <a:ext uri="{FF2B5EF4-FFF2-40B4-BE49-F238E27FC236}">
                <a16:creationId xmlns:a16="http://schemas.microsoft.com/office/drawing/2014/main" id="{B2C4E53A-25F1-C0EE-0988-75446D50FE1B}"/>
              </a:ext>
            </a:extLst>
          </p:cNvPr>
          <p:cNvSpPr/>
          <p:nvPr/>
        </p:nvSpPr>
        <p:spPr>
          <a:xfrm>
            <a:off x="2721641" y="4259768"/>
            <a:ext cx="2134561" cy="30043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특허발명 특정</a:t>
            </a:r>
          </a:p>
        </p:txBody>
      </p:sp>
      <p:sp>
        <p:nvSpPr>
          <p:cNvPr id="25" name="직사각형 24">
            <a:extLst>
              <a:ext uri="{FF2B5EF4-FFF2-40B4-BE49-F238E27FC236}">
                <a16:creationId xmlns:a16="http://schemas.microsoft.com/office/drawing/2014/main" id="{2477FAEC-F567-D217-18D7-327CFB81835E}"/>
              </a:ext>
            </a:extLst>
          </p:cNvPr>
          <p:cNvSpPr/>
          <p:nvPr/>
        </p:nvSpPr>
        <p:spPr>
          <a:xfrm>
            <a:off x="2721641" y="4633215"/>
            <a:ext cx="2134561" cy="30043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확인대상발명 특정</a:t>
            </a:r>
          </a:p>
        </p:txBody>
      </p:sp>
      <p:sp>
        <p:nvSpPr>
          <p:cNvPr id="26" name="직사각형 25">
            <a:extLst>
              <a:ext uri="{FF2B5EF4-FFF2-40B4-BE49-F238E27FC236}">
                <a16:creationId xmlns:a16="http://schemas.microsoft.com/office/drawing/2014/main" id="{72C4C1D4-5AE8-B4D0-5C07-D10E1349FFC5}"/>
              </a:ext>
            </a:extLst>
          </p:cNvPr>
          <p:cNvSpPr/>
          <p:nvPr/>
        </p:nvSpPr>
        <p:spPr>
          <a:xfrm>
            <a:off x="2721641" y="5016402"/>
            <a:ext cx="2134561" cy="30043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AER,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균등론</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적용 판단</a:t>
            </a:r>
          </a:p>
        </p:txBody>
      </p:sp>
      <p:cxnSp>
        <p:nvCxnSpPr>
          <p:cNvPr id="27" name="연결선: 꺾임 26">
            <a:extLst>
              <a:ext uri="{FF2B5EF4-FFF2-40B4-BE49-F238E27FC236}">
                <a16:creationId xmlns:a16="http://schemas.microsoft.com/office/drawing/2014/main" id="{2A57237E-2068-3B5F-5022-1410F70A64F5}"/>
              </a:ext>
            </a:extLst>
          </p:cNvPr>
          <p:cNvCxnSpPr>
            <a:stCxn id="18" idx="3"/>
            <a:endCxn id="21" idx="1"/>
          </p:cNvCxnSpPr>
          <p:nvPr/>
        </p:nvCxnSpPr>
        <p:spPr>
          <a:xfrm flipV="1">
            <a:off x="2521093" y="2858485"/>
            <a:ext cx="200548" cy="38598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연결선: 꺾임 31">
            <a:extLst>
              <a:ext uri="{FF2B5EF4-FFF2-40B4-BE49-F238E27FC236}">
                <a16:creationId xmlns:a16="http://schemas.microsoft.com/office/drawing/2014/main" id="{D9CB72B6-232C-0DB1-CA8D-832945E0D40A}"/>
              </a:ext>
            </a:extLst>
          </p:cNvPr>
          <p:cNvCxnSpPr>
            <a:cxnSpLocks/>
            <a:stCxn id="18" idx="3"/>
            <a:endCxn id="22" idx="1"/>
          </p:cNvCxnSpPr>
          <p:nvPr/>
        </p:nvCxnSpPr>
        <p:spPr>
          <a:xfrm flipV="1">
            <a:off x="2521093" y="3231932"/>
            <a:ext cx="200548" cy="1253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연결선: 꺾임 33">
            <a:extLst>
              <a:ext uri="{FF2B5EF4-FFF2-40B4-BE49-F238E27FC236}">
                <a16:creationId xmlns:a16="http://schemas.microsoft.com/office/drawing/2014/main" id="{7C3B4FF1-1BD3-E1DA-3410-F81AA8450926}"/>
              </a:ext>
            </a:extLst>
          </p:cNvPr>
          <p:cNvCxnSpPr>
            <a:stCxn id="18" idx="3"/>
            <a:endCxn id="23" idx="1"/>
          </p:cNvCxnSpPr>
          <p:nvPr/>
        </p:nvCxnSpPr>
        <p:spPr>
          <a:xfrm>
            <a:off x="2521093" y="3244467"/>
            <a:ext cx="200548" cy="38300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연결선: 꺾임 35">
            <a:extLst>
              <a:ext uri="{FF2B5EF4-FFF2-40B4-BE49-F238E27FC236}">
                <a16:creationId xmlns:a16="http://schemas.microsoft.com/office/drawing/2014/main" id="{9D9379CD-79BE-1AF9-7EDC-52FB40486868}"/>
              </a:ext>
            </a:extLst>
          </p:cNvPr>
          <p:cNvCxnSpPr>
            <a:cxnSpLocks/>
            <a:stCxn id="20" idx="3"/>
            <a:endCxn id="24" idx="1"/>
          </p:cNvCxnSpPr>
          <p:nvPr/>
        </p:nvCxnSpPr>
        <p:spPr>
          <a:xfrm flipV="1">
            <a:off x="2521093" y="4409987"/>
            <a:ext cx="200548" cy="385180"/>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연결선: 꺾임 36">
            <a:extLst>
              <a:ext uri="{FF2B5EF4-FFF2-40B4-BE49-F238E27FC236}">
                <a16:creationId xmlns:a16="http://schemas.microsoft.com/office/drawing/2014/main" id="{79927DE8-6B37-11E6-D082-1AE0F6D16D0D}"/>
              </a:ext>
            </a:extLst>
          </p:cNvPr>
          <p:cNvCxnSpPr>
            <a:stCxn id="20" idx="3"/>
            <a:endCxn id="26" idx="1"/>
          </p:cNvCxnSpPr>
          <p:nvPr/>
        </p:nvCxnSpPr>
        <p:spPr>
          <a:xfrm>
            <a:off x="2521093" y="4795167"/>
            <a:ext cx="200548" cy="37145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연결선: 꺾임 37">
            <a:extLst>
              <a:ext uri="{FF2B5EF4-FFF2-40B4-BE49-F238E27FC236}">
                <a16:creationId xmlns:a16="http://schemas.microsoft.com/office/drawing/2014/main" id="{A3545A3D-7E07-356C-75CC-8E168D577F2F}"/>
              </a:ext>
            </a:extLst>
          </p:cNvPr>
          <p:cNvCxnSpPr>
            <a:stCxn id="20" idx="3"/>
            <a:endCxn id="25" idx="1"/>
          </p:cNvCxnSpPr>
          <p:nvPr/>
        </p:nvCxnSpPr>
        <p:spPr>
          <a:xfrm flipV="1">
            <a:off x="2521093" y="4783434"/>
            <a:ext cx="200548" cy="1173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말풍선: 모서리가 둥근 사각형 38">
            <a:extLst>
              <a:ext uri="{FF2B5EF4-FFF2-40B4-BE49-F238E27FC236}">
                <a16:creationId xmlns:a16="http://schemas.microsoft.com/office/drawing/2014/main" id="{CDAA0D92-199C-7D73-7283-56CD0214360A}"/>
              </a:ext>
            </a:extLst>
          </p:cNvPr>
          <p:cNvSpPr/>
          <p:nvPr/>
        </p:nvSpPr>
        <p:spPr>
          <a:xfrm>
            <a:off x="5325309" y="1124325"/>
            <a:ext cx="2557840" cy="1290919"/>
          </a:xfrm>
          <a:prstGeom prst="wedgeRoundRectCallout">
            <a:avLst>
              <a:gd name="adj1" fmla="val 30857"/>
              <a:gd name="adj2" fmla="val 87188"/>
              <a:gd name="adj3" fmla="val 16667"/>
            </a:avLst>
          </a:prstGeom>
          <a:solidFill>
            <a:schemeClr val="bg1"/>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출원인의 입장만 고려</a:t>
            </a:r>
            <a:r>
              <a:rPr kumimoji="0" lang="en-US" altLang="ko-KR" sz="16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출원인의 표시한 의사를 심사관이 임의로 변경하는 것은 타당하지 아니함</a:t>
            </a:r>
          </a:p>
        </p:txBody>
      </p:sp>
      <p:sp>
        <p:nvSpPr>
          <p:cNvPr id="40" name="말풍선: 모서리가 둥근 사각형 39">
            <a:extLst>
              <a:ext uri="{FF2B5EF4-FFF2-40B4-BE49-F238E27FC236}">
                <a16:creationId xmlns:a16="http://schemas.microsoft.com/office/drawing/2014/main" id="{03BE6E51-BF6D-8561-43CC-C4DCA5E283F1}"/>
              </a:ext>
            </a:extLst>
          </p:cNvPr>
          <p:cNvSpPr/>
          <p:nvPr/>
        </p:nvSpPr>
        <p:spPr>
          <a:xfrm>
            <a:off x="8117702" y="1124325"/>
            <a:ext cx="3892603" cy="1290919"/>
          </a:xfrm>
          <a:prstGeom prst="wedgeRoundRectCallout">
            <a:avLst>
              <a:gd name="adj1" fmla="val 3557"/>
              <a:gd name="adj2" fmla="val 83359"/>
              <a:gd name="adj3" fmla="val 16667"/>
            </a:avLst>
          </a:prstGeom>
          <a:solidFill>
            <a:schemeClr val="bg1"/>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출원인의 </a:t>
            </a:r>
            <a:r>
              <a:rPr kumimoji="0" lang="ko-KR" altLang="en-US" sz="1600" b="0" i="0" u="none" strike="noStrike" kern="1200" cap="none" spc="0" normalizeH="0" baseline="0" noProof="0" dirty="0" err="1">
                <a:ln>
                  <a:noFill/>
                </a:ln>
                <a:solidFill>
                  <a:srgbClr val="E7E6E6">
                    <a:lumMod val="50000"/>
                  </a:srgbClr>
                </a:solidFill>
                <a:effectLst/>
                <a:uLnTx/>
                <a:uFillTx/>
                <a:latin typeface="Frutiger LT 65 Bold"/>
                <a:ea typeface="Rix모던고딕 B"/>
                <a:cs typeface="+mn-cs"/>
              </a:rPr>
              <a:t>입장뿐만</a:t>
            </a:r>
            <a:r>
              <a:rPr kumimoji="0" lang="ko-KR" altLang="en-US" sz="16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 아니라 </a:t>
            </a:r>
            <a:r>
              <a:rPr kumimoji="0" lang="ko-KR" altLang="en-US" sz="1600" b="0" i="0" u="none" strike="noStrike" kern="1200" cap="none" spc="0" normalizeH="0" baseline="0" noProof="0" dirty="0">
                <a:ln>
                  <a:noFill/>
                </a:ln>
                <a:solidFill>
                  <a:srgbClr val="E7E6E6">
                    <a:lumMod val="50000"/>
                  </a:srgbClr>
                </a:solidFill>
                <a:effectLst/>
                <a:highlight>
                  <a:srgbClr val="FFFF00"/>
                </a:highlight>
                <a:uLnTx/>
                <a:uFillTx/>
                <a:latin typeface="Frutiger LT 65 Bold"/>
                <a:ea typeface="Rix모던고딕 B"/>
                <a:cs typeface="+mn-cs"/>
              </a:rPr>
              <a:t>제</a:t>
            </a:r>
            <a:r>
              <a:rPr kumimoji="0" lang="en-US" altLang="ko-KR" sz="1600" b="0" i="0" u="none" strike="noStrike" kern="1200" cap="none" spc="0" normalizeH="0" baseline="0" noProof="0" dirty="0">
                <a:ln>
                  <a:noFill/>
                </a:ln>
                <a:solidFill>
                  <a:srgbClr val="E7E6E6">
                    <a:lumMod val="50000"/>
                  </a:srgbClr>
                </a:solidFill>
                <a:effectLst/>
                <a:highlight>
                  <a:srgbClr val="FFFF00"/>
                </a:highlight>
                <a:uLnTx/>
                <a:uFillTx/>
                <a:latin typeface="Frutiger LT 65 Bold"/>
                <a:ea typeface="Rix모던고딕 B"/>
                <a:cs typeface="+mn-cs"/>
              </a:rPr>
              <a:t>3</a:t>
            </a:r>
            <a:r>
              <a:rPr kumimoji="0" lang="ko-KR" altLang="en-US" sz="1600" b="0" i="0" u="none" strike="noStrike" kern="1200" cap="none" spc="0" normalizeH="0" baseline="0" noProof="0" dirty="0">
                <a:ln>
                  <a:noFill/>
                </a:ln>
                <a:solidFill>
                  <a:srgbClr val="E7E6E6">
                    <a:lumMod val="50000"/>
                  </a:srgbClr>
                </a:solidFill>
                <a:effectLst/>
                <a:highlight>
                  <a:srgbClr val="FFFF00"/>
                </a:highlight>
                <a:uLnTx/>
                <a:uFillTx/>
                <a:latin typeface="Frutiger LT 65 Bold"/>
                <a:ea typeface="Rix모던고딕 B"/>
                <a:cs typeface="+mn-cs"/>
              </a:rPr>
              <a:t>자의 입장</a:t>
            </a:r>
            <a:r>
              <a:rPr kumimoji="0" lang="ko-KR" altLang="en-US" sz="16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 고려</a:t>
            </a:r>
            <a:r>
              <a:rPr kumimoji="0" lang="en-US" altLang="ko-KR" sz="16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srgbClr val="E7E6E6">
                    <a:lumMod val="50000"/>
                  </a:srgbClr>
                </a:solidFill>
                <a:effectLst/>
                <a:uLnTx/>
                <a:uFillTx/>
                <a:latin typeface="Frutiger LT 65 Bold"/>
                <a:ea typeface="Rix모던고딕 B"/>
                <a:cs typeface="+mn-cs"/>
              </a:rPr>
              <a:t>보호할 가치가 없는 사항이나 진실로 발명하지 아니한 부분까지 그 권리를 인정하는 것은 곤란</a:t>
            </a:r>
          </a:p>
        </p:txBody>
      </p:sp>
      <p:sp>
        <p:nvSpPr>
          <p:cNvPr id="41" name="자유형: 도형 40">
            <a:extLst>
              <a:ext uri="{FF2B5EF4-FFF2-40B4-BE49-F238E27FC236}">
                <a16:creationId xmlns:a16="http://schemas.microsoft.com/office/drawing/2014/main" id="{F9E074DF-8136-B97D-46DE-5F99147B8CE2}"/>
              </a:ext>
            </a:extLst>
          </p:cNvPr>
          <p:cNvSpPr/>
          <p:nvPr/>
        </p:nvSpPr>
        <p:spPr>
          <a:xfrm>
            <a:off x="9699812" y="3702424"/>
            <a:ext cx="1712259" cy="2752164"/>
          </a:xfrm>
          <a:custGeom>
            <a:avLst/>
            <a:gdLst>
              <a:gd name="connsiteX0" fmla="*/ 385482 w 1712259"/>
              <a:gd name="connsiteY0" fmla="*/ 0 h 2752164"/>
              <a:gd name="connsiteX1" fmla="*/ 385482 w 1712259"/>
              <a:gd name="connsiteY1" fmla="*/ 555811 h 2752164"/>
              <a:gd name="connsiteX2" fmla="*/ 0 w 1712259"/>
              <a:gd name="connsiteY2" fmla="*/ 555811 h 2752164"/>
              <a:gd name="connsiteX3" fmla="*/ 0 w 1712259"/>
              <a:gd name="connsiteY3" fmla="*/ 2752164 h 2752164"/>
              <a:gd name="connsiteX4" fmla="*/ 1712259 w 1712259"/>
              <a:gd name="connsiteY4" fmla="*/ 2752164 h 2752164"/>
              <a:gd name="connsiteX5" fmla="*/ 1712259 w 1712259"/>
              <a:gd name="connsiteY5" fmla="*/ 8964 h 2752164"/>
              <a:gd name="connsiteX6" fmla="*/ 385482 w 1712259"/>
              <a:gd name="connsiteY6" fmla="*/ 0 h 2752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2259" h="2752164">
                <a:moveTo>
                  <a:pt x="385482" y="0"/>
                </a:moveTo>
                <a:lnTo>
                  <a:pt x="385482" y="555811"/>
                </a:lnTo>
                <a:lnTo>
                  <a:pt x="0" y="555811"/>
                </a:lnTo>
                <a:lnTo>
                  <a:pt x="0" y="2752164"/>
                </a:lnTo>
                <a:lnTo>
                  <a:pt x="1712259" y="2752164"/>
                </a:lnTo>
                <a:lnTo>
                  <a:pt x="1712259" y="8964"/>
                </a:lnTo>
                <a:lnTo>
                  <a:pt x="385482" y="0"/>
                </a:lnTo>
                <a:close/>
              </a:path>
            </a:pathLst>
          </a:custGeom>
          <a:noFill/>
          <a:ln w="38100">
            <a:solidFill>
              <a:srgbClr val="FF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2" name="TextBox 41">
            <a:extLst>
              <a:ext uri="{FF2B5EF4-FFF2-40B4-BE49-F238E27FC236}">
                <a16:creationId xmlns:a16="http://schemas.microsoft.com/office/drawing/2014/main" id="{B10C2F59-6A30-7AE0-0F4A-F58278637965}"/>
              </a:ext>
            </a:extLst>
          </p:cNvPr>
          <p:cNvSpPr txBox="1"/>
          <p:nvPr/>
        </p:nvSpPr>
        <p:spPr>
          <a:xfrm>
            <a:off x="10555941" y="883356"/>
            <a:ext cx="922047" cy="338554"/>
          </a:xfrm>
          <a:prstGeom prst="rect">
            <a:avLst/>
          </a:prstGeom>
          <a:noFill/>
          <a:ln w="38100">
            <a:solidFill>
              <a:srgbClr val="FF0000"/>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특별사정</a:t>
            </a:r>
          </a:p>
        </p:txBody>
      </p:sp>
      <p:sp>
        <p:nvSpPr>
          <p:cNvPr id="43" name="TextBox 42">
            <a:extLst>
              <a:ext uri="{FF2B5EF4-FFF2-40B4-BE49-F238E27FC236}">
                <a16:creationId xmlns:a16="http://schemas.microsoft.com/office/drawing/2014/main" id="{4E9786F3-A522-8BE6-862F-5EB7E8B5095C}"/>
              </a:ext>
            </a:extLst>
          </p:cNvPr>
          <p:cNvSpPr txBox="1"/>
          <p:nvPr/>
        </p:nvSpPr>
        <p:spPr>
          <a:xfrm>
            <a:off x="10094917" y="6287517"/>
            <a:ext cx="922047" cy="338554"/>
          </a:xfrm>
          <a:prstGeom prst="rect">
            <a:avLst/>
          </a:prstGeom>
          <a:solidFill>
            <a:schemeClr val="bg1"/>
          </a:solidFill>
          <a:ln w="38100">
            <a:solidFill>
              <a:srgbClr val="FF0000"/>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특별사정</a:t>
            </a:r>
          </a:p>
        </p:txBody>
      </p:sp>
    </p:spTree>
    <p:extLst>
      <p:ext uri="{BB962C8B-B14F-4D97-AF65-F5344CB8AC3E}">
        <p14:creationId xmlns:p14="http://schemas.microsoft.com/office/powerpoint/2010/main" val="140062055"/>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ko-KR" altLang="en-US" dirty="0" err="1"/>
              <a:t>젭슨</a:t>
            </a:r>
            <a:r>
              <a:rPr lang="ko-KR" altLang="en-US" dirty="0"/>
              <a:t> 청구항의 </a:t>
            </a:r>
            <a:r>
              <a:rPr lang="en-US" altLang="ko-KR" dirty="0"/>
              <a:t>CASE(</a:t>
            </a:r>
            <a:r>
              <a:rPr lang="ko-KR" altLang="en-US" dirty="0"/>
              <a:t>특허요건 판단</a:t>
            </a:r>
            <a:r>
              <a:rPr lang="en-US" altLang="ko-KR" dirty="0"/>
              <a:t>)</a:t>
            </a:r>
            <a:endParaRPr lang="ko-KR" altLang="en-US" dirty="0"/>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136</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40" name="Rectangle 1"/>
          <p:cNvSpPr>
            <a:spLocks noChangeArrowheads="1"/>
          </p:cNvSpPr>
          <p:nvPr/>
        </p:nvSpPr>
        <p:spPr bwMode="auto">
          <a:xfrm>
            <a:off x="3012012" y="3100997"/>
            <a:ext cx="15507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42" name="직사각형 41"/>
          <p:cNvSpPr/>
          <p:nvPr/>
        </p:nvSpPr>
        <p:spPr>
          <a:xfrm>
            <a:off x="527381" y="2473595"/>
            <a:ext cx="11233248" cy="3528392"/>
          </a:xfrm>
          <a:prstGeom prst="rect">
            <a:avLst/>
          </a:prstGeom>
          <a:solidFill>
            <a:schemeClr val="accent3">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43" name="직선 화살표 연결선 42"/>
          <p:cNvCxnSpPr/>
          <p:nvPr/>
        </p:nvCxnSpPr>
        <p:spPr>
          <a:xfrm>
            <a:off x="911424" y="3271519"/>
            <a:ext cx="10561173" cy="0"/>
          </a:xfrm>
          <a:prstGeom prst="straightConnector1">
            <a:avLst/>
          </a:prstGeom>
          <a:ln w="28575">
            <a:solidFill>
              <a:schemeClr val="accent2">
                <a:lumMod val="50000"/>
              </a:schemeClr>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44" name="타원 43"/>
          <p:cNvSpPr/>
          <p:nvPr/>
        </p:nvSpPr>
        <p:spPr>
          <a:xfrm>
            <a:off x="1575778" y="3174460"/>
            <a:ext cx="241792" cy="216024"/>
          </a:xfrm>
          <a:prstGeom prst="ellipse">
            <a:avLst/>
          </a:prstGeom>
          <a:solidFill>
            <a:schemeClr val="accent2">
              <a:lumMod val="50000"/>
            </a:schemeClr>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5" name="타원 44"/>
          <p:cNvSpPr/>
          <p:nvPr/>
        </p:nvSpPr>
        <p:spPr>
          <a:xfrm>
            <a:off x="4072056" y="3174460"/>
            <a:ext cx="241792" cy="216024"/>
          </a:xfrm>
          <a:prstGeom prst="ellipse">
            <a:avLst/>
          </a:prstGeom>
          <a:solidFill>
            <a:schemeClr val="accent2">
              <a:lumMod val="50000"/>
            </a:schemeClr>
          </a:solidFill>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8" name="타원 47"/>
          <p:cNvSpPr/>
          <p:nvPr/>
        </p:nvSpPr>
        <p:spPr>
          <a:xfrm>
            <a:off x="8883160" y="3174460"/>
            <a:ext cx="241792" cy="216024"/>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9" name="타원 48"/>
          <p:cNvSpPr/>
          <p:nvPr/>
        </p:nvSpPr>
        <p:spPr>
          <a:xfrm>
            <a:off x="10616791" y="3174460"/>
            <a:ext cx="241792" cy="216024"/>
          </a:xfrm>
          <a:prstGeom prst="ellipse">
            <a:avLst/>
          </a:prstGeom>
          <a:solidFill>
            <a:srgbClr val="FF0000"/>
          </a:solidFill>
        </p:spPr>
        <p:style>
          <a:lnRef idx="0">
            <a:schemeClr val="accent5"/>
          </a:lnRef>
          <a:fillRef idx="3">
            <a:schemeClr val="accent5"/>
          </a:fillRef>
          <a:effectRef idx="3">
            <a:schemeClr val="accent5"/>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1" name="TextBox 50"/>
          <p:cNvSpPr txBox="1"/>
          <p:nvPr/>
        </p:nvSpPr>
        <p:spPr>
          <a:xfrm>
            <a:off x="1472203" y="2850505"/>
            <a:ext cx="460382"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a:t>
            </a:r>
          </a:p>
        </p:txBody>
      </p:sp>
      <p:sp>
        <p:nvSpPr>
          <p:cNvPr id="52" name="TextBox 51"/>
          <p:cNvSpPr txBox="1"/>
          <p:nvPr/>
        </p:nvSpPr>
        <p:spPr>
          <a:xfrm>
            <a:off x="3944575" y="2833636"/>
            <a:ext cx="460382"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보정</a:t>
            </a:r>
          </a:p>
        </p:txBody>
      </p:sp>
      <p:sp>
        <p:nvSpPr>
          <p:cNvPr id="57" name="TextBox 56"/>
          <p:cNvSpPr txBox="1"/>
          <p:nvPr/>
        </p:nvSpPr>
        <p:spPr>
          <a:xfrm>
            <a:off x="8620013" y="2833635"/>
            <a:ext cx="768085" cy="27699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거절결정</a:t>
            </a:r>
          </a:p>
        </p:txBody>
      </p:sp>
      <p:sp>
        <p:nvSpPr>
          <p:cNvPr id="58" name="직사각형 57"/>
          <p:cNvSpPr/>
          <p:nvPr/>
        </p:nvSpPr>
        <p:spPr>
          <a:xfrm>
            <a:off x="784573" y="3481707"/>
            <a:ext cx="1824203" cy="2448272"/>
          </a:xfrm>
          <a:prstGeom prst="rect">
            <a:avLst/>
          </a:prstGeom>
        </p:spPr>
        <p:style>
          <a:lnRef idx="2">
            <a:schemeClr val="accent2"/>
          </a:lnRef>
          <a:fillRef idx="1">
            <a:schemeClr val="lt1"/>
          </a:fillRef>
          <a:effectRef idx="0">
            <a:schemeClr val="accent2"/>
          </a:effectRef>
          <a:fontRef idx="minor">
            <a:schemeClr val="dk1"/>
          </a:fontRef>
        </p:style>
        <p:txBody>
          <a:bodyPr rtlCol="0" anchor="ctr">
            <a:noAutofit/>
          </a:bodyPr>
          <a:lstStyle/>
          <a:p>
            <a:pPr marL="180975" marR="0" lvl="0" indent="-180975"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 c</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포함하는 것을 특징으로 하는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p>
          <a:p>
            <a:pPr marL="180975" marR="0" lvl="0" indent="-180975" algn="l" defTabSz="914400" rtl="0" eaLnBrk="1" fontAlgn="auto" latinLnBrk="1" hangingPunct="1">
              <a:lnSpc>
                <a:spcPct val="100000"/>
              </a:lnSpc>
              <a:spcBef>
                <a:spcPts val="0"/>
              </a:spcBef>
              <a:spcAft>
                <a:spcPts val="0"/>
              </a:spcAft>
              <a:buClrTx/>
              <a:buSzTx/>
              <a:buFontTx/>
              <a:buAutoNum type="arabicPeriod"/>
              <a:tabLst/>
              <a:defRPr/>
            </a:pP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80975" marR="0" lvl="0" indent="-180975"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있어서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d</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더 포함하는 것을 특징으로 하는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9" name="직사각형 58"/>
          <p:cNvSpPr/>
          <p:nvPr/>
        </p:nvSpPr>
        <p:spPr>
          <a:xfrm>
            <a:off x="3328856" y="3481707"/>
            <a:ext cx="1824203" cy="2448272"/>
          </a:xfrm>
          <a:prstGeom prst="rect">
            <a:avLst/>
          </a:prstGeom>
        </p:spPr>
        <p:style>
          <a:lnRef idx="2">
            <a:schemeClr val="accent4"/>
          </a:lnRef>
          <a:fillRef idx="1">
            <a:schemeClr val="lt1"/>
          </a:fillRef>
          <a:effectRef idx="0">
            <a:schemeClr val="accent4"/>
          </a:effectRef>
          <a:fontRef idx="minor">
            <a:schemeClr val="dk1"/>
          </a:fontRef>
        </p:style>
        <p:txBody>
          <a:bodyPr rtlCol="0" anchor="ctr">
            <a:noAutofit/>
          </a:bodyPr>
          <a:lstStyle/>
          <a:p>
            <a:pPr marL="180975" marR="0" lvl="0" indent="-180975"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 c</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포함한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 있어서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d</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를 더 포함하는 것을 특징으로 하는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p>
          <a:p>
            <a:pPr marL="180975" marR="0" lvl="0" indent="-180975" algn="l" defTabSz="914400" rtl="0" eaLnBrk="1" fontAlgn="auto" latinLnBrk="1" hangingPunct="1">
              <a:lnSpc>
                <a:spcPct val="100000"/>
              </a:lnSpc>
              <a:spcBef>
                <a:spcPts val="0"/>
              </a:spcBef>
              <a:spcAft>
                <a:spcPts val="0"/>
              </a:spcAft>
              <a:buClrTx/>
              <a:buSzTx/>
              <a:buFontTx/>
              <a:buAutoNum type="arabicPeriod"/>
              <a:tabLst/>
              <a:defRPr/>
            </a:pP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80975" marR="0" lvl="0" indent="-180975" algn="l" defTabSz="914400" rtl="0" eaLnBrk="1" fontAlgn="auto" latinLnBrk="1" hangingPunct="1">
              <a:lnSpc>
                <a:spcPct val="100000"/>
              </a:lnSpc>
              <a:spcBef>
                <a:spcPts val="0"/>
              </a:spcBef>
              <a:spcAft>
                <a:spcPts val="0"/>
              </a:spcAft>
              <a:buClrTx/>
              <a:buSzTx/>
              <a:buFontTx/>
              <a:buAutoNum type="arabicPeriod"/>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삭제</a:t>
            </a:r>
          </a:p>
        </p:txBody>
      </p:sp>
      <p:sp>
        <p:nvSpPr>
          <p:cNvPr id="60" name="타원 59"/>
          <p:cNvSpPr/>
          <p:nvPr/>
        </p:nvSpPr>
        <p:spPr>
          <a:xfrm>
            <a:off x="6072738" y="3174460"/>
            <a:ext cx="241792" cy="216024"/>
          </a:xfrm>
          <a:prstGeom prst="ellipse">
            <a:avLst/>
          </a:prstGeom>
          <a:solidFill>
            <a:schemeClr val="accent2">
              <a:lumMod val="50000"/>
            </a:schemeClr>
          </a:solidFill>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1" name="TextBox 60"/>
          <p:cNvSpPr txBox="1"/>
          <p:nvPr/>
        </p:nvSpPr>
        <p:spPr>
          <a:xfrm>
            <a:off x="5882042" y="2833636"/>
            <a:ext cx="598241"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의견서</a:t>
            </a:r>
          </a:p>
        </p:txBody>
      </p:sp>
      <p:sp>
        <p:nvSpPr>
          <p:cNvPr id="62" name="직사각형 61"/>
          <p:cNvSpPr/>
          <p:nvPr/>
        </p:nvSpPr>
        <p:spPr>
          <a:xfrm>
            <a:off x="5329538" y="3481707"/>
            <a:ext cx="1824203" cy="2448272"/>
          </a:xfrm>
          <a:prstGeom prst="rect">
            <a:avLst/>
          </a:prstGeom>
        </p:spPr>
        <p:style>
          <a:lnRef idx="2">
            <a:schemeClr val="accent4"/>
          </a:lnRef>
          <a:fillRef idx="1">
            <a:schemeClr val="lt1"/>
          </a:fillRef>
          <a:effectRef idx="0">
            <a:schemeClr val="accent4"/>
          </a:effectRef>
          <a:fontRef idx="minor">
            <a:schemeClr val="dk1"/>
          </a:fontRef>
        </p:style>
        <p:txBody>
          <a:bodyPr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항과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항을 결합하여 하나의 항으로 만들되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청구항</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항에 있던 부분을 공지기술로 한정</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하여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전제부로</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기재하고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있던 부분을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특징부에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기재하였는</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바 재심사하여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특허결정해달라</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3" name="타원 62"/>
          <p:cNvSpPr/>
          <p:nvPr/>
        </p:nvSpPr>
        <p:spPr>
          <a:xfrm>
            <a:off x="2805901" y="3174460"/>
            <a:ext cx="241792" cy="216024"/>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4" name="TextBox 63"/>
          <p:cNvSpPr txBox="1"/>
          <p:nvPr/>
        </p:nvSpPr>
        <p:spPr>
          <a:xfrm>
            <a:off x="2094086" y="2739860"/>
            <a:ext cx="1715914"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OA</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항이 진보성 위반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5" name="직사각형 64"/>
          <p:cNvSpPr/>
          <p:nvPr/>
        </p:nvSpPr>
        <p:spPr>
          <a:xfrm>
            <a:off x="9825586" y="3481707"/>
            <a:ext cx="1824203" cy="2448272"/>
          </a:xfrm>
          <a:prstGeom prst="rect">
            <a:avLst/>
          </a:prstGeom>
        </p:spPr>
        <p:style>
          <a:lnRef idx="2">
            <a:schemeClr val="accent5"/>
          </a:lnRef>
          <a:fillRef idx="1">
            <a:schemeClr val="lt1"/>
          </a:fillRef>
          <a:effectRef idx="0">
            <a:schemeClr val="accent5"/>
          </a:effectRef>
          <a:fontRef idx="minor">
            <a:schemeClr val="dk1"/>
          </a:fontRef>
        </p:style>
        <p:txBody>
          <a:bodyPr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실제로는</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 b, c</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가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공지기술이</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아니고</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출원 당시 아직 공개되지 아니한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선출원발명</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또는 출원인의 회사 내부에만 알려져 있었던 기술이나 착오로 공지된 것으로 잘못 기재하였음이 밝혀짐</a:t>
            </a:r>
            <a:endPar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66" name="타원 65"/>
          <p:cNvSpPr/>
          <p:nvPr/>
        </p:nvSpPr>
        <p:spPr>
          <a:xfrm>
            <a:off x="9587756" y="3174460"/>
            <a:ext cx="241792" cy="216024"/>
          </a:xfrm>
          <a:prstGeom prst="ellipse">
            <a:avLst/>
          </a:prstGeom>
          <a:solidFill>
            <a:schemeClr val="accent2">
              <a:lumMod val="50000"/>
            </a:schemeClr>
          </a:solidFill>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7" name="TextBox 66"/>
          <p:cNvSpPr txBox="1"/>
          <p:nvPr/>
        </p:nvSpPr>
        <p:spPr>
          <a:xfrm>
            <a:off x="9354725" y="2833636"/>
            <a:ext cx="73609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심판청구</a:t>
            </a:r>
          </a:p>
        </p:txBody>
      </p:sp>
      <p:sp>
        <p:nvSpPr>
          <p:cNvPr id="68" name="TextBox 67"/>
          <p:cNvSpPr txBox="1"/>
          <p:nvPr/>
        </p:nvSpPr>
        <p:spPr>
          <a:xfrm>
            <a:off x="77875" y="986046"/>
            <a:ext cx="11936323" cy="954107"/>
          </a:xfrm>
          <a:prstGeom prst="rect">
            <a:avLst/>
          </a:prstGeom>
          <a:noFill/>
        </p:spPr>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특허요건을 판단할 때 명세서의 전체적인 기재와 출원 경과를 종합적으로 고려하여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출원인이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일정한 구성요소는 공지기술이라는 취지로 청구범위의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전제부에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기재하였음을 인정할 수 있는 경우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공지 자인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에는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별도의 증거 없이도 </a:t>
            </a:r>
            <a:r>
              <a:rPr kumimoji="0" lang="ko-KR" altLang="en-US" sz="1400" b="0" i="0" u="none" strike="noStrike" kern="1200" cap="none" spc="0" normalizeH="0" baseline="0" noProof="0" dirty="0" err="1">
                <a:ln>
                  <a:noFill/>
                </a:ln>
                <a:solidFill>
                  <a:srgbClr val="A5A5A5">
                    <a:lumMod val="50000"/>
                  </a:srgbClr>
                </a:solidFill>
                <a:effectLst/>
                <a:highlight>
                  <a:srgbClr val="FFFF00"/>
                </a:highlight>
                <a:uLnTx/>
                <a:uFillTx/>
                <a:latin typeface="Frutiger LT 65 Bold"/>
                <a:ea typeface="Rix모던고딕 B"/>
                <a:cs typeface="+mn-cs"/>
              </a:rPr>
              <a:t>전제부</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기재 구성요소를 출원 전 공지된 것이라고 사실상 추정</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할 수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그러나 이러한 추정이 절대적인 것은 아니므로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출원인이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실제로는 출원 당시 아직 공개되지 아니한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선출원발명이나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출원인의 회사 내부에만 알려져 있었던 기술을 착오로 공지된 것으로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잘못 기재하였음이 밝혀지는 경우와 같이 특별한 사정이 있는 때에는 추정이 번복될 수 있다</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endParaRPr>
          </a:p>
        </p:txBody>
      </p:sp>
      <p:cxnSp>
        <p:nvCxnSpPr>
          <p:cNvPr id="69" name="직선 연결선 68"/>
          <p:cNvCxnSpPr/>
          <p:nvPr/>
        </p:nvCxnSpPr>
        <p:spPr>
          <a:xfrm>
            <a:off x="0" y="194543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0" name="타원 69"/>
          <p:cNvSpPr/>
          <p:nvPr/>
        </p:nvSpPr>
        <p:spPr>
          <a:xfrm>
            <a:off x="7907376" y="3174460"/>
            <a:ext cx="241792" cy="216024"/>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1" name="TextBox 70"/>
          <p:cNvSpPr txBox="1"/>
          <p:nvPr/>
        </p:nvSpPr>
        <p:spPr>
          <a:xfrm>
            <a:off x="7644229" y="2833635"/>
            <a:ext cx="768085" cy="27699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실체심사</a:t>
            </a:r>
          </a:p>
        </p:txBody>
      </p:sp>
      <p:sp>
        <p:nvSpPr>
          <p:cNvPr id="72" name="직사각형 71"/>
          <p:cNvSpPr/>
          <p:nvPr/>
        </p:nvSpPr>
        <p:spPr>
          <a:xfrm>
            <a:off x="7216649" y="3481707"/>
            <a:ext cx="1824203" cy="2448272"/>
          </a:xfrm>
          <a:prstGeom prst="rect">
            <a:avLst/>
          </a:prstGeom>
        </p:spPr>
        <p:style>
          <a:lnRef idx="2">
            <a:schemeClr val="accent4"/>
          </a:lnRef>
          <a:fillRef idx="1">
            <a:schemeClr val="lt1"/>
          </a:fillRef>
          <a:effectRef idx="0">
            <a:schemeClr val="accent4"/>
          </a:effectRef>
          <a:fontRef idx="minor">
            <a:schemeClr val="dk1"/>
          </a:fontRef>
        </p:style>
        <p:txBody>
          <a:bodyPr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별도의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증거없이도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 b, c, d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중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 c</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가 공지된 것으로 추정한 후 심사진행</a:t>
            </a:r>
          </a:p>
        </p:txBody>
      </p:sp>
    </p:spTree>
    <p:extLst>
      <p:ext uri="{BB962C8B-B14F-4D97-AF65-F5344CB8AC3E}">
        <p14:creationId xmlns:p14="http://schemas.microsoft.com/office/powerpoint/2010/main" val="3348784733"/>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ko-KR" altLang="en-US" dirty="0" err="1"/>
              <a:t>젭슨</a:t>
            </a:r>
            <a:r>
              <a:rPr lang="ko-KR" altLang="en-US" dirty="0"/>
              <a:t> 청구항의 </a:t>
            </a:r>
            <a:r>
              <a:rPr lang="en-US" altLang="ko-KR" dirty="0"/>
              <a:t>CASE(</a:t>
            </a:r>
            <a:r>
              <a:rPr lang="ko-KR" altLang="en-US" dirty="0"/>
              <a:t>보호범위 판단</a:t>
            </a:r>
            <a:r>
              <a:rPr lang="en-US" altLang="ko-KR" dirty="0"/>
              <a:t>): </a:t>
            </a:r>
            <a:r>
              <a:rPr lang="ko-KR" altLang="en-US" dirty="0"/>
              <a:t>안락의자 사건</a:t>
            </a:r>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137</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5" name="TextBox 4">
            <a:extLst>
              <a:ext uri="{FF2B5EF4-FFF2-40B4-BE49-F238E27FC236}">
                <a16:creationId xmlns:a16="http://schemas.microsoft.com/office/drawing/2014/main" id="{D923F57A-3C17-F404-8165-FB0DECD18874}"/>
              </a:ext>
            </a:extLst>
          </p:cNvPr>
          <p:cNvSpPr txBox="1"/>
          <p:nvPr/>
        </p:nvSpPr>
        <p:spPr>
          <a:xfrm>
            <a:off x="77875" y="1362569"/>
            <a:ext cx="11936323" cy="1815882"/>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지식재산처 심사관으로부터 실용신안공고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95-4971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호 고안 등에 의하여 통상의 기술자가 극히 용이하게 고안할 수 있다는 이유로 거절이유통지를 받고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1998. 7. 22.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의견서 및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보정서를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제출하면서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인용발명에 저촉되는 부분을 공지의 기술로 하여 청구범위를 대폭 축소 한정한다고 주장함</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과 아울러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항과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항을 결합하여 하나의 항으로 만들되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항에 있던 부분을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전제부로</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기재하고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항에 있던 부분을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특징부에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기재하였는바</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그렇다면 출원인 스스로 전제부의 기재사항인 「등받이와 보조받침을 직접 연결하여 연계동작을 하는 연결레버를 안내부가 안내하도록 하는 구성」을 공지의 기술로 한정한 것이라 하겠고</a:t>
            </a:r>
            <a:r>
              <a:rPr kumimoji="0" lang="en-US" altLang="ko-KR"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나아가 다시 </a:t>
            </a:r>
            <a:r>
              <a:rPr kumimoji="0" lang="ko-KR" altLang="en-US" sz="14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특징부에서</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위 </a:t>
            </a:r>
            <a:r>
              <a:rPr kumimoji="0" lang="ko-KR" altLang="en-US" sz="1400" b="1"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안내부를</a:t>
            </a:r>
            <a:r>
              <a:rPr kumimoji="0" lang="ko-KR" altLang="en-US" sz="1400" b="1"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「한 쌍의 롤러」로 한정</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한 것은 </a:t>
            </a:r>
            <a:r>
              <a:rPr kumimoji="0" lang="ko-KR" altLang="en-US" sz="14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출원인이</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이와 균등관계에 있는 구성에 대해서는 그 권리범위를 주장하지 않겠다는 취지로 볼 것이므로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결국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출원경과금반언의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원칙상 등받이와 보조받침을 직접 연결하여 연계동작을 하는 연결레버를 안내부가 안내하도록 함에 있어서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그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안내부를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확인대상 고안과 같은</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슬라이드관으로</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구성하는 것은 이 사건 등록고안의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출원인이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의식적으로 그 보호범위로부터 제외한 것으로 봄이 상당하여</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확인대상 고안의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슬라이드관은</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이 사건 등록고안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항의 롤러의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균등론이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될 수 없다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6" name="직선 연결선 5">
            <a:extLst>
              <a:ext uri="{FF2B5EF4-FFF2-40B4-BE49-F238E27FC236}">
                <a16:creationId xmlns:a16="http://schemas.microsoft.com/office/drawing/2014/main" id="{1DE66145-8A82-A69A-8833-AD7659367D3E}"/>
              </a:ext>
            </a:extLst>
          </p:cNvPr>
          <p:cNvCxnSpPr/>
          <p:nvPr/>
        </p:nvCxnSpPr>
        <p:spPr>
          <a:xfrm>
            <a:off x="0" y="318502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직사각형 6">
            <a:extLst>
              <a:ext uri="{FF2B5EF4-FFF2-40B4-BE49-F238E27FC236}">
                <a16:creationId xmlns:a16="http://schemas.microsoft.com/office/drawing/2014/main" id="{8AA8B645-6494-02D7-2E7A-7092E6209BBE}"/>
              </a:ext>
            </a:extLst>
          </p:cNvPr>
          <p:cNvSpPr/>
          <p:nvPr/>
        </p:nvSpPr>
        <p:spPr>
          <a:xfrm>
            <a:off x="395535" y="3245223"/>
            <a:ext cx="11381597" cy="3399663"/>
          </a:xfrm>
          <a:prstGeom prst="rect">
            <a:avLst/>
          </a:prstGeom>
          <a:solidFill>
            <a:schemeClr val="accent3">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8" name="직선 화살표 연결선 7">
            <a:extLst>
              <a:ext uri="{FF2B5EF4-FFF2-40B4-BE49-F238E27FC236}">
                <a16:creationId xmlns:a16="http://schemas.microsoft.com/office/drawing/2014/main" id="{FF6252B0-3ED4-5658-267C-15141A9E1961}"/>
              </a:ext>
            </a:extLst>
          </p:cNvPr>
          <p:cNvCxnSpPr/>
          <p:nvPr/>
        </p:nvCxnSpPr>
        <p:spPr>
          <a:xfrm>
            <a:off x="683568" y="3914419"/>
            <a:ext cx="10721032" cy="0"/>
          </a:xfrm>
          <a:prstGeom prst="straightConnector1">
            <a:avLst/>
          </a:prstGeom>
          <a:ln w="28575">
            <a:solidFill>
              <a:schemeClr val="accent2">
                <a:lumMod val="50000"/>
              </a:schemeClr>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9" name="타원 8">
            <a:extLst>
              <a:ext uri="{FF2B5EF4-FFF2-40B4-BE49-F238E27FC236}">
                <a16:creationId xmlns:a16="http://schemas.microsoft.com/office/drawing/2014/main" id="{B453716C-1BFD-2456-F4C9-1395A493AE11}"/>
              </a:ext>
            </a:extLst>
          </p:cNvPr>
          <p:cNvSpPr/>
          <p:nvPr/>
        </p:nvSpPr>
        <p:spPr>
          <a:xfrm>
            <a:off x="1475656" y="3817360"/>
            <a:ext cx="216024" cy="216024"/>
          </a:xfrm>
          <a:prstGeom prst="ellipse">
            <a:avLst/>
          </a:prstGeom>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 name="타원 9">
            <a:extLst>
              <a:ext uri="{FF2B5EF4-FFF2-40B4-BE49-F238E27FC236}">
                <a16:creationId xmlns:a16="http://schemas.microsoft.com/office/drawing/2014/main" id="{C6131794-B755-3AE1-A718-51AEF6990E19}"/>
              </a:ext>
            </a:extLst>
          </p:cNvPr>
          <p:cNvSpPr/>
          <p:nvPr/>
        </p:nvSpPr>
        <p:spPr>
          <a:xfrm>
            <a:off x="3963671" y="3817360"/>
            <a:ext cx="216024" cy="216024"/>
          </a:xfrm>
          <a:prstGeom prst="ellipse">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1" name="타원 10">
            <a:extLst>
              <a:ext uri="{FF2B5EF4-FFF2-40B4-BE49-F238E27FC236}">
                <a16:creationId xmlns:a16="http://schemas.microsoft.com/office/drawing/2014/main" id="{FDA06F30-5629-5303-DEB6-73DBF4F81266}"/>
              </a:ext>
            </a:extLst>
          </p:cNvPr>
          <p:cNvSpPr/>
          <p:nvPr/>
        </p:nvSpPr>
        <p:spPr>
          <a:xfrm>
            <a:off x="6487561" y="3817360"/>
            <a:ext cx="216024" cy="216024"/>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2" name="타원 11">
            <a:extLst>
              <a:ext uri="{FF2B5EF4-FFF2-40B4-BE49-F238E27FC236}">
                <a16:creationId xmlns:a16="http://schemas.microsoft.com/office/drawing/2014/main" id="{10F6C951-FE27-6F95-AB73-7CB573A35DF3}"/>
              </a:ext>
            </a:extLst>
          </p:cNvPr>
          <p:cNvSpPr/>
          <p:nvPr/>
        </p:nvSpPr>
        <p:spPr>
          <a:xfrm>
            <a:off x="7615602" y="3817360"/>
            <a:ext cx="216024" cy="216024"/>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3" name="TextBox 12">
            <a:extLst>
              <a:ext uri="{FF2B5EF4-FFF2-40B4-BE49-F238E27FC236}">
                <a16:creationId xmlns:a16="http://schemas.microsoft.com/office/drawing/2014/main" id="{45AC02A9-3F08-EFCF-B6A7-C3FD1B9FC9E6}"/>
              </a:ext>
            </a:extLst>
          </p:cNvPr>
          <p:cNvSpPr txBox="1"/>
          <p:nvPr/>
        </p:nvSpPr>
        <p:spPr>
          <a:xfrm>
            <a:off x="1345462" y="3493404"/>
            <a:ext cx="476412"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a:t>
            </a:r>
          </a:p>
        </p:txBody>
      </p:sp>
      <p:sp>
        <p:nvSpPr>
          <p:cNvPr id="14" name="TextBox 13">
            <a:extLst>
              <a:ext uri="{FF2B5EF4-FFF2-40B4-BE49-F238E27FC236}">
                <a16:creationId xmlns:a16="http://schemas.microsoft.com/office/drawing/2014/main" id="{C7D15F78-AAB2-4567-960D-F5D399FB268F}"/>
              </a:ext>
            </a:extLst>
          </p:cNvPr>
          <p:cNvSpPr txBox="1"/>
          <p:nvPr/>
        </p:nvSpPr>
        <p:spPr>
          <a:xfrm>
            <a:off x="3847299" y="3476535"/>
            <a:ext cx="476412"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보정</a:t>
            </a:r>
          </a:p>
        </p:txBody>
      </p:sp>
      <p:sp>
        <p:nvSpPr>
          <p:cNvPr id="15" name="TextBox 14">
            <a:extLst>
              <a:ext uri="{FF2B5EF4-FFF2-40B4-BE49-F238E27FC236}">
                <a16:creationId xmlns:a16="http://schemas.microsoft.com/office/drawing/2014/main" id="{2C003A61-398C-EFE8-5D6D-9D7FB36C7482}"/>
              </a:ext>
            </a:extLst>
          </p:cNvPr>
          <p:cNvSpPr txBox="1"/>
          <p:nvPr/>
        </p:nvSpPr>
        <p:spPr>
          <a:xfrm>
            <a:off x="6307541" y="3476534"/>
            <a:ext cx="576064" cy="276999"/>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등록</a:t>
            </a:r>
          </a:p>
        </p:txBody>
      </p:sp>
      <p:sp>
        <p:nvSpPr>
          <p:cNvPr id="16" name="TextBox 15">
            <a:extLst>
              <a:ext uri="{FF2B5EF4-FFF2-40B4-BE49-F238E27FC236}">
                <a16:creationId xmlns:a16="http://schemas.microsoft.com/office/drawing/2014/main" id="{1E617FE2-4DE7-6903-E1EE-0BEB41151C2C}"/>
              </a:ext>
            </a:extLst>
          </p:cNvPr>
          <p:cNvSpPr txBox="1"/>
          <p:nvPr/>
        </p:nvSpPr>
        <p:spPr>
          <a:xfrm>
            <a:off x="7274612" y="3493404"/>
            <a:ext cx="898003"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 실시</a:t>
            </a:r>
          </a:p>
        </p:txBody>
      </p:sp>
      <p:sp>
        <p:nvSpPr>
          <p:cNvPr id="17" name="직사각형 16">
            <a:extLst>
              <a:ext uri="{FF2B5EF4-FFF2-40B4-BE49-F238E27FC236}">
                <a16:creationId xmlns:a16="http://schemas.microsoft.com/office/drawing/2014/main" id="{8CA41F34-51B0-20C9-D14F-4D5324EF4E5B}"/>
              </a:ext>
            </a:extLst>
          </p:cNvPr>
          <p:cNvSpPr/>
          <p:nvPr/>
        </p:nvSpPr>
        <p:spPr>
          <a:xfrm>
            <a:off x="899592" y="4124607"/>
            <a:ext cx="1368152" cy="2448272"/>
          </a:xfrm>
          <a:prstGeom prst="rect">
            <a:avLst/>
          </a:prstGeom>
        </p:spPr>
        <p:style>
          <a:lnRef idx="2">
            <a:schemeClr val="accent2"/>
          </a:lnRef>
          <a:fillRef idx="1">
            <a:schemeClr val="lt1"/>
          </a:fillRef>
          <a:effectRef idx="0">
            <a:schemeClr val="accent2"/>
          </a:effectRef>
          <a:fontRef idx="minor">
            <a:schemeClr val="dk1"/>
          </a:fontRef>
        </p:style>
        <p:txBody>
          <a:bodyPr rtlCol="0" anchor="ctr">
            <a:noAutofit/>
          </a:bodyPr>
          <a:lstStyle/>
          <a:p>
            <a:pPr marL="180975" marR="0" lvl="0" indent="-180975" algn="l" defTabSz="914400" rtl="0" eaLnBrk="1" fontAlgn="auto" latinLnBrk="1" hangingPunct="1">
              <a:lnSpc>
                <a:spcPct val="100000"/>
              </a:lnSpc>
              <a:spcBef>
                <a:spcPts val="0"/>
              </a:spcBef>
              <a:spcAft>
                <a:spcPts val="0"/>
              </a:spcAft>
              <a:buClrTx/>
              <a:buSzTx/>
              <a:buFontTx/>
              <a:buAutoNum type="arabicPeriod"/>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등받이와 보조받침을 직접 연결하여 연계동작을 하는 연결레버를 안내부가 안내하도록 하는 구성을 갖는 안락의자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80975" marR="0" lvl="0" indent="-180975" algn="l" defTabSz="914400" rtl="0" eaLnBrk="1" fontAlgn="auto" latinLnBrk="1" hangingPunct="1">
              <a:lnSpc>
                <a:spcPct val="100000"/>
              </a:lnSpc>
              <a:spcBef>
                <a:spcPts val="0"/>
              </a:spcBef>
              <a:spcAft>
                <a:spcPts val="0"/>
              </a:spcAft>
              <a:buClrTx/>
              <a:buSzTx/>
              <a:buFontTx/>
              <a:buAutoNum type="arabicPeriod"/>
              <a:tabLst/>
              <a:defRPr/>
            </a:pP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80975" marR="0" lvl="0" indent="-180975"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있어서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상기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안내부는</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한쌍의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롤러인 안락의자</a:t>
            </a:r>
          </a:p>
        </p:txBody>
      </p:sp>
      <p:sp>
        <p:nvSpPr>
          <p:cNvPr id="18" name="직사각형 17">
            <a:extLst>
              <a:ext uri="{FF2B5EF4-FFF2-40B4-BE49-F238E27FC236}">
                <a16:creationId xmlns:a16="http://schemas.microsoft.com/office/drawing/2014/main" id="{1AFF6807-BE53-52BE-BD6E-31808F9B6A6D}"/>
              </a:ext>
            </a:extLst>
          </p:cNvPr>
          <p:cNvSpPr/>
          <p:nvPr/>
        </p:nvSpPr>
        <p:spPr>
          <a:xfrm>
            <a:off x="3423611" y="4124607"/>
            <a:ext cx="1368152" cy="2448272"/>
          </a:xfrm>
          <a:prstGeom prst="rect">
            <a:avLst/>
          </a:prstGeom>
        </p:spPr>
        <p:style>
          <a:lnRef idx="2">
            <a:schemeClr val="accent4"/>
          </a:lnRef>
          <a:fillRef idx="1">
            <a:schemeClr val="lt1"/>
          </a:fillRef>
          <a:effectRef idx="0">
            <a:schemeClr val="accent4"/>
          </a:effectRef>
          <a:fontRef idx="minor">
            <a:schemeClr val="dk1"/>
          </a:fontRef>
        </p:style>
        <p:txBody>
          <a:bodyPr rtlCol="0" anchor="ctr">
            <a:noAutofit/>
          </a:bodyPr>
          <a:lstStyle/>
          <a:p>
            <a:pPr marL="180975" marR="0" lvl="0" indent="-180975" algn="l" defTabSz="914400" rtl="0" eaLnBrk="1" fontAlgn="auto" latinLnBrk="1" hangingPunct="1">
              <a:lnSpc>
                <a:spcPct val="100000"/>
              </a:lnSpc>
              <a:spcBef>
                <a:spcPts val="0"/>
              </a:spcBef>
              <a:spcAft>
                <a:spcPts val="0"/>
              </a:spcAft>
              <a:buClrTx/>
              <a:buSzTx/>
              <a:buFontTx/>
              <a:buAutoNum type="arabicPeriod"/>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등받이와 보조받침을 직접 연결하여 연계동작을 하는 연결레버를 안내부가 안내하도록 하는 구성을 갖는 안락의자에 있어서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안내부는</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한쌍의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롤러인 안락의자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80975" marR="0" lvl="0" indent="-180975" algn="l" defTabSz="914400" rtl="0" eaLnBrk="1" fontAlgn="auto" latinLnBrk="1" hangingPunct="1">
              <a:lnSpc>
                <a:spcPct val="100000"/>
              </a:lnSpc>
              <a:spcBef>
                <a:spcPts val="0"/>
              </a:spcBef>
              <a:spcAft>
                <a:spcPts val="0"/>
              </a:spcAft>
              <a:buClrTx/>
              <a:buSzTx/>
              <a:buFontTx/>
              <a:buAutoNum type="arabicPeriod"/>
              <a:tabLst/>
              <a:defRPr/>
            </a:pP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80975" marR="0" lvl="0" indent="-180975" algn="l" defTabSz="914400" rtl="0" eaLnBrk="1" fontAlgn="auto" latinLnBrk="1" hangingPunct="1">
              <a:lnSpc>
                <a:spcPct val="100000"/>
              </a:lnSpc>
              <a:spcBef>
                <a:spcPts val="0"/>
              </a:spcBef>
              <a:spcAft>
                <a:spcPts val="0"/>
              </a:spcAft>
              <a:buClrTx/>
              <a:buSzTx/>
              <a:buFontTx/>
              <a:buAutoNum type="arabicPeriod"/>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삭제</a:t>
            </a:r>
          </a:p>
        </p:txBody>
      </p:sp>
      <p:sp>
        <p:nvSpPr>
          <p:cNvPr id="19" name="타원 18">
            <a:extLst>
              <a:ext uri="{FF2B5EF4-FFF2-40B4-BE49-F238E27FC236}">
                <a16:creationId xmlns:a16="http://schemas.microsoft.com/office/drawing/2014/main" id="{9EA7400B-20D4-AA20-D614-FE937288CD64}"/>
              </a:ext>
            </a:extLst>
          </p:cNvPr>
          <p:cNvSpPr/>
          <p:nvPr/>
        </p:nvSpPr>
        <p:spPr>
          <a:xfrm>
            <a:off x="5641767" y="3817360"/>
            <a:ext cx="216024" cy="216024"/>
          </a:xfrm>
          <a:prstGeom prst="ellipse">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0" name="TextBox 19">
            <a:extLst>
              <a:ext uri="{FF2B5EF4-FFF2-40B4-BE49-F238E27FC236}">
                <a16:creationId xmlns:a16="http://schemas.microsoft.com/office/drawing/2014/main" id="{BC05DB69-F543-1B1E-1E7D-D468DAEA6676}"/>
              </a:ext>
            </a:extLst>
          </p:cNvPr>
          <p:cNvSpPr txBox="1"/>
          <p:nvPr/>
        </p:nvSpPr>
        <p:spPr>
          <a:xfrm>
            <a:off x="5427181" y="3476535"/>
            <a:ext cx="622286"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Frutiger LT 65 Bold"/>
                <a:ea typeface="Rix모던고딕 B"/>
                <a:cs typeface="+mn-cs"/>
              </a:rPr>
              <a:t>의견서</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 name="직사각형 20">
            <a:extLst>
              <a:ext uri="{FF2B5EF4-FFF2-40B4-BE49-F238E27FC236}">
                <a16:creationId xmlns:a16="http://schemas.microsoft.com/office/drawing/2014/main" id="{476F893C-3969-3F85-27D1-66002FA3AD33}"/>
              </a:ext>
            </a:extLst>
          </p:cNvPr>
          <p:cNvSpPr/>
          <p:nvPr/>
        </p:nvSpPr>
        <p:spPr>
          <a:xfrm>
            <a:off x="5101707" y="4124607"/>
            <a:ext cx="1368152" cy="2448272"/>
          </a:xfrm>
          <a:prstGeom prst="rect">
            <a:avLst/>
          </a:prstGeom>
        </p:spPr>
        <p:style>
          <a:lnRef idx="2">
            <a:schemeClr val="accent4"/>
          </a:lnRef>
          <a:fillRef idx="1">
            <a:schemeClr val="lt1"/>
          </a:fillRef>
          <a:effectRef idx="0">
            <a:schemeClr val="accent4"/>
          </a:effectRef>
          <a:fontRef idx="minor">
            <a:schemeClr val="dk1"/>
          </a:fontRef>
        </p:style>
        <p:txBody>
          <a:bodyPr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항과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항을 결합하여 하나의 항으로 만들되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있던 부분을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공지기술로 한정하여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전제부로</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기재</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하고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있던 부분을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특징부에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기재하였는</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바 재심사하여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특허결정해달라</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 name="타원 21">
            <a:extLst>
              <a:ext uri="{FF2B5EF4-FFF2-40B4-BE49-F238E27FC236}">
                <a16:creationId xmlns:a16="http://schemas.microsoft.com/office/drawing/2014/main" id="{3BAD6640-9FA3-1C02-3763-C81C61001583}"/>
              </a:ext>
            </a:extLst>
          </p:cNvPr>
          <p:cNvSpPr/>
          <p:nvPr/>
        </p:nvSpPr>
        <p:spPr>
          <a:xfrm>
            <a:off x="2693451" y="3817360"/>
            <a:ext cx="216024" cy="216024"/>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3" name="TextBox 22">
            <a:extLst>
              <a:ext uri="{FF2B5EF4-FFF2-40B4-BE49-F238E27FC236}">
                <a16:creationId xmlns:a16="http://schemas.microsoft.com/office/drawing/2014/main" id="{35BA0D58-0911-BB37-0FFC-4765EA479A84}"/>
              </a:ext>
            </a:extLst>
          </p:cNvPr>
          <p:cNvSpPr txBox="1"/>
          <p:nvPr/>
        </p:nvSpPr>
        <p:spPr>
          <a:xfrm>
            <a:off x="1743602" y="3382759"/>
            <a:ext cx="2090088"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OA</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항이 진보성 위반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4" name="직사각형 23">
            <a:extLst>
              <a:ext uri="{FF2B5EF4-FFF2-40B4-BE49-F238E27FC236}">
                <a16:creationId xmlns:a16="http://schemas.microsoft.com/office/drawing/2014/main" id="{F344FE1B-D3DB-3B96-B0C1-9A2D4B84D584}"/>
              </a:ext>
            </a:extLst>
          </p:cNvPr>
          <p:cNvSpPr/>
          <p:nvPr/>
        </p:nvSpPr>
        <p:spPr>
          <a:xfrm>
            <a:off x="7039538" y="4124607"/>
            <a:ext cx="1368152" cy="2448272"/>
          </a:xfrm>
          <a:prstGeom prst="rect">
            <a:avLst/>
          </a:prstGeom>
        </p:spPr>
        <p:style>
          <a:lnRef idx="2">
            <a:schemeClr val="accent5"/>
          </a:lnRef>
          <a:fillRef idx="1">
            <a:schemeClr val="lt1"/>
          </a:fillRef>
          <a:effectRef idx="0">
            <a:schemeClr val="accent5"/>
          </a:effectRef>
          <a:fontRef idx="minor">
            <a:schemeClr val="dk1"/>
          </a:fontRef>
        </p:style>
        <p:txBody>
          <a:bodyPr rtlCol="0" anchor="ctr">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등받이와 보조받침을 직접 연결하여 연계동작을 하는 연결레버를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슬라이드관으로</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구성된 안내부가 안내하도록 하는 구성을 갖는 안락의자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5" name="모서리가 둥근 직사각형 55">
            <a:extLst>
              <a:ext uri="{FF2B5EF4-FFF2-40B4-BE49-F238E27FC236}">
                <a16:creationId xmlns:a16="http://schemas.microsoft.com/office/drawing/2014/main" id="{FE62010C-CD8F-9906-FB22-30600E98C114}"/>
              </a:ext>
            </a:extLst>
          </p:cNvPr>
          <p:cNvSpPr/>
          <p:nvPr/>
        </p:nvSpPr>
        <p:spPr bwMode="auto">
          <a:xfrm>
            <a:off x="257975" y="994095"/>
            <a:ext cx="6509882" cy="360040"/>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2002. 6. 14. </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2000</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후</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2712 </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판결</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권리범위확인</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실</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안락의자 사건</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26" name="TextBox 25">
            <a:extLst>
              <a:ext uri="{FF2B5EF4-FFF2-40B4-BE49-F238E27FC236}">
                <a16:creationId xmlns:a16="http://schemas.microsoft.com/office/drawing/2014/main" id="{559942A4-2713-0D50-A355-61A18E46A507}"/>
              </a:ext>
            </a:extLst>
          </p:cNvPr>
          <p:cNvSpPr txBox="1"/>
          <p:nvPr/>
        </p:nvSpPr>
        <p:spPr>
          <a:xfrm>
            <a:off x="10703520" y="5291559"/>
            <a:ext cx="788999" cy="523220"/>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출원</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안내부</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7" name="직사각형 26">
            <a:extLst>
              <a:ext uri="{FF2B5EF4-FFF2-40B4-BE49-F238E27FC236}">
                <a16:creationId xmlns:a16="http://schemas.microsoft.com/office/drawing/2014/main" id="{450C6445-5086-10ED-F1F6-28AA54C59094}"/>
              </a:ext>
            </a:extLst>
          </p:cNvPr>
          <p:cNvSpPr/>
          <p:nvPr/>
        </p:nvSpPr>
        <p:spPr>
          <a:xfrm>
            <a:off x="8864836" y="4879146"/>
            <a:ext cx="1018227" cy="369327"/>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한쌍의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롤러</a:t>
            </a:r>
          </a:p>
        </p:txBody>
      </p:sp>
      <p:sp>
        <p:nvSpPr>
          <p:cNvPr id="28" name="직사각형 27">
            <a:extLst>
              <a:ext uri="{FF2B5EF4-FFF2-40B4-BE49-F238E27FC236}">
                <a16:creationId xmlns:a16="http://schemas.microsoft.com/office/drawing/2014/main" id="{0B537D87-E0F5-E557-7E3A-DAD76ED811EE}"/>
              </a:ext>
            </a:extLst>
          </p:cNvPr>
          <p:cNvSpPr/>
          <p:nvPr/>
        </p:nvSpPr>
        <p:spPr>
          <a:xfrm>
            <a:off x="9883063" y="4879146"/>
            <a:ext cx="1204457" cy="369327"/>
          </a:xfrm>
          <a:prstGeom prst="rect">
            <a:avLst/>
          </a:prstGeom>
          <a:solidFill>
            <a:schemeClr val="accent4">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슬라이드관</a:t>
            </a:r>
          </a:p>
        </p:txBody>
      </p:sp>
      <p:sp>
        <p:nvSpPr>
          <p:cNvPr id="29" name="TextBox 28">
            <a:extLst>
              <a:ext uri="{FF2B5EF4-FFF2-40B4-BE49-F238E27FC236}">
                <a16:creationId xmlns:a16="http://schemas.microsoft.com/office/drawing/2014/main" id="{EDE43529-5581-B7C9-38CE-DB923B5E235A}"/>
              </a:ext>
            </a:extLst>
          </p:cNvPr>
          <p:cNvSpPr txBox="1"/>
          <p:nvPr/>
        </p:nvSpPr>
        <p:spPr>
          <a:xfrm>
            <a:off x="9644077" y="5291559"/>
            <a:ext cx="508473" cy="738664"/>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감축</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보정</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pic>
        <p:nvPicPr>
          <p:cNvPr id="30" name="_x318566768" descr="EMB00002d2c0e36">
            <a:extLst>
              <a:ext uri="{FF2B5EF4-FFF2-40B4-BE49-F238E27FC236}">
                <a16:creationId xmlns:a16="http://schemas.microsoft.com/office/drawing/2014/main" id="{64F665B6-A04C-A9FA-638F-930B33FA83D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3333" b="12747"/>
          <a:stretch>
            <a:fillRect/>
          </a:stretch>
        </p:blipFill>
        <p:spPr bwMode="auto">
          <a:xfrm>
            <a:off x="8251640" y="3126978"/>
            <a:ext cx="1465263" cy="1141413"/>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pic>
        <p:nvPicPr>
          <p:cNvPr id="31" name="_x318565808" descr="EMB00002d2c0e37">
            <a:extLst>
              <a:ext uri="{FF2B5EF4-FFF2-40B4-BE49-F238E27FC236}">
                <a16:creationId xmlns:a16="http://schemas.microsoft.com/office/drawing/2014/main" id="{8DB9DBF4-DA37-8382-C8AD-584B883092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939" b="16272"/>
          <a:stretch>
            <a:fillRect/>
          </a:stretch>
        </p:blipFill>
        <p:spPr bwMode="auto">
          <a:xfrm>
            <a:off x="9641828" y="3128446"/>
            <a:ext cx="1368425" cy="1138237"/>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pic>
        <p:nvPicPr>
          <p:cNvPr id="32" name="_x318565248" descr="EMB00002d2c0e38">
            <a:extLst>
              <a:ext uri="{FF2B5EF4-FFF2-40B4-BE49-F238E27FC236}">
                <a16:creationId xmlns:a16="http://schemas.microsoft.com/office/drawing/2014/main" id="{79DED805-DEC7-7433-8EBA-158CCF1F016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t="2827" b="16331"/>
          <a:stretch>
            <a:fillRect/>
          </a:stretch>
        </p:blipFill>
        <p:spPr bwMode="auto">
          <a:xfrm>
            <a:off x="10900737" y="3125269"/>
            <a:ext cx="1135063" cy="1141413"/>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sp>
        <p:nvSpPr>
          <p:cNvPr id="33" name="TextBox 32">
            <a:extLst>
              <a:ext uri="{FF2B5EF4-FFF2-40B4-BE49-F238E27FC236}">
                <a16:creationId xmlns:a16="http://schemas.microsoft.com/office/drawing/2014/main" id="{DB618BC9-6921-BDF7-8C03-09FF81201113}"/>
              </a:ext>
            </a:extLst>
          </p:cNvPr>
          <p:cNvSpPr txBox="1"/>
          <p:nvPr/>
        </p:nvSpPr>
        <p:spPr>
          <a:xfrm>
            <a:off x="8541671" y="4262609"/>
            <a:ext cx="832279" cy="307777"/>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롤러방식</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4" name="TextBox 33">
            <a:extLst>
              <a:ext uri="{FF2B5EF4-FFF2-40B4-BE49-F238E27FC236}">
                <a16:creationId xmlns:a16="http://schemas.microsoft.com/office/drawing/2014/main" id="{018BB00C-2CAB-DF04-1AAC-0BAAF2076B68}"/>
              </a:ext>
            </a:extLst>
          </p:cNvPr>
          <p:cNvSpPr txBox="1"/>
          <p:nvPr/>
        </p:nvSpPr>
        <p:spPr>
          <a:xfrm>
            <a:off x="9721504" y="4262609"/>
            <a:ext cx="1156087" cy="307777"/>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슬라이딩방식</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5" name="TextBox 34">
            <a:extLst>
              <a:ext uri="{FF2B5EF4-FFF2-40B4-BE49-F238E27FC236}">
                <a16:creationId xmlns:a16="http://schemas.microsoft.com/office/drawing/2014/main" id="{0DC04CF5-624B-3ACD-5773-9F007E3B9630}"/>
              </a:ext>
            </a:extLst>
          </p:cNvPr>
          <p:cNvSpPr txBox="1"/>
          <p:nvPr/>
        </p:nvSpPr>
        <p:spPr>
          <a:xfrm>
            <a:off x="10888923" y="4262609"/>
            <a:ext cx="1156087" cy="307777"/>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슬라이딩방식</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9" name="TextBox 38">
            <a:extLst>
              <a:ext uri="{FF2B5EF4-FFF2-40B4-BE49-F238E27FC236}">
                <a16:creationId xmlns:a16="http://schemas.microsoft.com/office/drawing/2014/main" id="{A8EB723D-0423-FF82-4088-6FDDE5735D12}"/>
              </a:ext>
            </a:extLst>
          </p:cNvPr>
          <p:cNvSpPr txBox="1"/>
          <p:nvPr/>
        </p:nvSpPr>
        <p:spPr>
          <a:xfrm>
            <a:off x="10697059" y="6078031"/>
            <a:ext cx="803852"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BEFORE</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40" name="직선 연결선 39">
            <a:extLst>
              <a:ext uri="{FF2B5EF4-FFF2-40B4-BE49-F238E27FC236}">
                <a16:creationId xmlns:a16="http://schemas.microsoft.com/office/drawing/2014/main" id="{FDF99490-ED2A-1A86-9159-D5CF16E0AB91}"/>
              </a:ext>
            </a:extLst>
          </p:cNvPr>
          <p:cNvCxnSpPr>
            <a:cxnSpLocks/>
            <a:stCxn id="39" idx="0"/>
          </p:cNvCxnSpPr>
          <p:nvPr/>
        </p:nvCxnSpPr>
        <p:spPr>
          <a:xfrm flipH="1" flipV="1">
            <a:off x="11095407" y="5829111"/>
            <a:ext cx="3578" cy="24892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4A1614E4-A485-DA0C-0334-E3F9386AD1CD}"/>
              </a:ext>
            </a:extLst>
          </p:cNvPr>
          <p:cNvSpPr txBox="1"/>
          <p:nvPr/>
        </p:nvSpPr>
        <p:spPr>
          <a:xfrm>
            <a:off x="9491281" y="6078031"/>
            <a:ext cx="803852"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AFTER</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42" name="직선 연결선 41">
            <a:extLst>
              <a:ext uri="{FF2B5EF4-FFF2-40B4-BE49-F238E27FC236}">
                <a16:creationId xmlns:a16="http://schemas.microsoft.com/office/drawing/2014/main" id="{1830FE4E-73E3-D3E1-1B2F-8FCED89D4A20}"/>
              </a:ext>
            </a:extLst>
          </p:cNvPr>
          <p:cNvCxnSpPr>
            <a:cxnSpLocks/>
            <a:stCxn id="41" idx="0"/>
          </p:cNvCxnSpPr>
          <p:nvPr/>
        </p:nvCxnSpPr>
        <p:spPr>
          <a:xfrm flipH="1" flipV="1">
            <a:off x="9889629" y="5829111"/>
            <a:ext cx="3578" cy="24892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7096642"/>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en-US" altLang="ko-KR" dirty="0"/>
              <a:t>PBP</a:t>
            </a:r>
            <a:r>
              <a:rPr lang="ko-KR" altLang="en-US" dirty="0"/>
              <a:t> 청구항의 </a:t>
            </a:r>
            <a:r>
              <a:rPr lang="en-US" altLang="ko-KR" dirty="0"/>
              <a:t>CASE(</a:t>
            </a:r>
            <a:r>
              <a:rPr lang="ko-KR" altLang="en-US" dirty="0"/>
              <a:t>특허요건 판단</a:t>
            </a:r>
            <a:r>
              <a:rPr lang="en-US" altLang="ko-KR" dirty="0"/>
              <a:t>)</a:t>
            </a:r>
            <a:endParaRPr lang="ko-KR" altLang="en-US" dirty="0"/>
          </a:p>
        </p:txBody>
      </p:sp>
      <p:sp>
        <p:nvSpPr>
          <p:cNvPr id="5" name="슬라이드 번호 개체 틀 4"/>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138</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25" name="직사각형 24"/>
          <p:cNvSpPr/>
          <p:nvPr/>
        </p:nvSpPr>
        <p:spPr bwMode="auto">
          <a:xfrm>
            <a:off x="348791" y="1451189"/>
            <a:ext cx="11519555" cy="2866808"/>
          </a:xfrm>
          <a:prstGeom prst="rect">
            <a:avLst/>
          </a:prstGeom>
          <a:ln>
            <a:solidFill>
              <a:schemeClr val="accent3"/>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72000" bIns="72000"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특허법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호는 발명을 ‘물건의 발명’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방법의 발명’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물건을 생산하는 방법의 발명’으로 구분하고 있는바</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청구범위가 전체적으로 물건으로 기재되어 있으면서 그 제조방법의 기재를 포함하고 있는 발명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이하 ‘제조방법이 기재된 물건발명’이라고 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의 경우 제조방법이 기재되어 있다고 하더라도 발명의 대상은 그 제조방법이 아니라 최종적으로 얻어지는 물건 자체이므로 위와 같은 발명의 유형 중 ‘물건의 발명’에 해당한다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물건의 발명에 관한 청구범위는 발명의 대상인 물건의 구성을 특정하는 방식으로 기재되어야 하는 것이므로</a:t>
            </a:r>
            <a:r>
              <a:rPr kumimoji="0" lang="en-US" altLang="ko-KR" sz="12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물건의 발명의 청구범위에 기재된 제조방법은 최종 생산물인 물건의 구조나 성질 등을 특정하는 하나의 수단으로서 그 의미를 가질 뿐이다</a:t>
            </a:r>
            <a:r>
              <a:rPr kumimoji="0" lang="en-US" altLang="ko-KR" sz="12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a:t>
            </a:r>
            <a:endParaRPr kumimoji="0" lang="ko-KR" altLang="en-US" sz="12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[2] </a:t>
            </a:r>
            <a:r>
              <a:rPr kumimoji="0" lang="ko-KR" altLang="en-US" sz="12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따라서 제조방법이 기재된 물건발명의 특허요건을 판단함에 있어서 그 기술적 구성을 제조방법 자체로 한정하여 파악할 것이 아니라 제조방법의 기재를 포함하여 청구범위의 모든 기재에 의하여 특정되는 구조나 성질 등을 가지는 물건으로 파악하여 출원 전에 공지된 선행기술과 비교하여 </a:t>
            </a:r>
            <a:r>
              <a:rPr kumimoji="0" lang="ko-KR" altLang="en-US" sz="1200" b="0" i="0" u="none" strike="noStrike" kern="1200" cap="none" spc="0" normalizeH="0" baseline="0" noProof="0" dirty="0" err="1">
                <a:ln>
                  <a:noFill/>
                </a:ln>
                <a:solidFill>
                  <a:srgbClr val="A5A5A5">
                    <a:lumMod val="50000"/>
                  </a:srgbClr>
                </a:solidFill>
                <a:effectLst/>
                <a:highlight>
                  <a:srgbClr val="FFFF00"/>
                </a:highlight>
                <a:uLnTx/>
                <a:uFillTx/>
                <a:latin typeface="Frutiger LT 65 Bold"/>
                <a:ea typeface="Rix모던고딕 B"/>
                <a:cs typeface="+mn-cs"/>
              </a:rPr>
              <a:t>신규성</a:t>
            </a:r>
            <a:r>
              <a:rPr kumimoji="0" lang="en-US" altLang="ko-KR" sz="12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진보성 등이 있는지 여부를 살펴야 한다</a:t>
            </a:r>
            <a:r>
              <a:rPr kumimoji="0" lang="en-US" altLang="ko-KR" sz="12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a:t>
            </a:r>
            <a:endParaRPr kumimoji="0" lang="ko-KR" altLang="en-US" sz="12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한편 생명공학 분야나 고분자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혼합물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금속 등의 화학 분야 등에서의 물건의 발명 중에는 어떠한 제조방법에 의하여 얻어진 물건을 구조나 성질 등으로 직접적으로 특정하는 것이 불가능하거나 곤란하여 제조방법에 의해서만 물건을 특정할 수밖에 없는 사정이 있을 수 있지만</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이러한 사정에 의하여 제조방법이 기재된 물건발명이라고 하더라도 그 본질이 ‘물건의 발명’이라는 점과 청구범위에 기재된 제조방법이 물건의 구조나 성질 등을 특정하는 수단에 불과하다는 점은 마찬가지이므로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이러한 발명과 그와 같은 사정은 없지만 제조방법이 기재된 물건발명을 구분하여 그 기재된 제조방법의 의미를 달리 해석할 것은 아니다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이와 달리</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제조방법이 기재된 물건발명을 그 제조방법에 의해서만 물건을 특정할 수밖에 없는 등의 특별한 사정이 있는지 여부로 나누어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이러한 특별한 사정이 없는 경우에만 그 제조방법 자체를 고려할 필요가 없이 청구범위의 기재에 의하여 물건으로 특정되는 발명만을 선행기술과 대비하는 방법으로 진보성 유무를 판단해야 한다는 취지로 판시한 대법원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2006. 6. 29.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3416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2007. 5. 11.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449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2007. 9. 20.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2006</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1100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2008. 8. 21.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2006</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3472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2009. 1. 15.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1053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2009. 3. 26.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2006</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3250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2009. 9. 24.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4328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판결 등을 비롯한 같은 취지의 판결들은 이 판결의 견해에 배치되는 범위 내에서 모두 변경하기로 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6" name="모서리가 둥근 직사각형 25"/>
          <p:cNvSpPr/>
          <p:nvPr/>
        </p:nvSpPr>
        <p:spPr bwMode="auto">
          <a:xfrm>
            <a:off x="348791" y="1160874"/>
            <a:ext cx="4680521" cy="288032"/>
          </a:xfrm>
          <a:prstGeom prst="roundRect">
            <a:avLst>
              <a:gd name="adj" fmla="val 0"/>
            </a:avLst>
          </a:prstGeom>
          <a:solidFill>
            <a:schemeClr val="accent2">
              <a:lumMod val="75000"/>
            </a:schemeClr>
          </a:solidFill>
          <a:ln>
            <a:solidFill>
              <a:schemeClr val="accent3"/>
            </a:solidFill>
            <a:headEnd type="none" w="med" len="med"/>
            <a:tailEnd type="none"/>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base"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2015. 1. 22.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2011</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927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판결</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등록무효</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특</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28" name="직선 연결선 27"/>
          <p:cNvCxnSpPr/>
          <p:nvPr/>
        </p:nvCxnSpPr>
        <p:spPr>
          <a:xfrm>
            <a:off x="375735" y="4453458"/>
            <a:ext cx="11469132"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348791" y="4521172"/>
            <a:ext cx="11496075" cy="2133625"/>
          </a:xfrm>
          <a:prstGeom prst="rect">
            <a:avLst/>
          </a:prstGeom>
          <a:noFill/>
        </p:spPr>
        <p:txBody>
          <a:bodyPr wrap="square" rtlCol="0">
            <a:no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원심은</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이 사건 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6</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항 발명의 방법에 의하여 제조된 물건인 ‘편광필름’을 그 청구범위로 하여 제조방법이 기재된 물건발명에 해당하는 이 사건 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9, 10</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항 발명을 비교대상발명들과 대비함에 있어서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이 사건 </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6</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항 발명의 진보성이 부정되지 않는다고 판단한 다음 곧바로 그에 따라 이 사건 제</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9, 10</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항 발명의 진보성도 부정되지 않는다고 판단</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하였다</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앞서 본 법리에 비추어 볼 때</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제조방법이 기재된 물건발명에 해당하는 이 사건 제</a:t>
            </a:r>
            <a:r>
              <a:rPr kumimoji="0" lang="en-US" altLang="ko-KR" sz="1600" b="0" i="0" u="none" strike="noStrike" kern="1200" cap="none" spc="0" normalizeH="0" baseline="0" noProof="0" dirty="0">
                <a:ln>
                  <a:noFill/>
                </a:ln>
                <a:solidFill>
                  <a:srgbClr val="FF0000"/>
                </a:solidFill>
                <a:effectLst/>
                <a:uLnTx/>
                <a:uFillTx/>
                <a:latin typeface="Frutiger LT 65 Bold"/>
                <a:ea typeface="Rix모던고딕 B"/>
                <a:cs typeface="+mn-cs"/>
              </a:rPr>
              <a:t>9, 10</a:t>
            </a:r>
            <a:r>
              <a:rPr kumimoji="0" lang="ko-KR" altLang="en-US" sz="1600" b="0" i="0" u="none" strike="noStrike" kern="1200" cap="none" spc="0" normalizeH="0" baseline="0" noProof="0" dirty="0">
                <a:ln>
                  <a:noFill/>
                </a:ln>
                <a:solidFill>
                  <a:srgbClr val="FF0000"/>
                </a:solidFill>
                <a:effectLst/>
                <a:uLnTx/>
                <a:uFillTx/>
                <a:latin typeface="Frutiger LT 65 Bold"/>
                <a:ea typeface="Rix모던고딕 B"/>
                <a:cs typeface="+mn-cs"/>
              </a:rPr>
              <a:t>항 발명에 관하여는 그 제조방법의 기재를 포함한 청구범위의 모든 기재에 의하여 특정되는 구조나 성질을 가진 물건의 발명만을 비교대상발명들과 대비하여 진보성 유무를 판단</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하였어야 함에도</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원심은 그에 이르지 아니한 채 제조방법에 관한 발명의 진보성이 부정되지 않는다는 이유만으로 곧바로 그 제조방법이 기재된 물건의 발명인 이 사건 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9, 10</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항 발명의 진보성도 부정되지 않는다고 판단하였으니</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이러한 원심판결에는 제조방법이 기재된 물건발명의 진보성 판단에 관한 법리를 오해하여 판결에 영향을 미친 위법이 있다</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이를 지적하는 상고이유의 주장은 이유가 있다</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Tree>
    <p:extLst>
      <p:ext uri="{BB962C8B-B14F-4D97-AF65-F5344CB8AC3E}">
        <p14:creationId xmlns:p14="http://schemas.microsoft.com/office/powerpoint/2010/main" val="955237964"/>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en-US" altLang="ko-KR"/>
              <a:t>PBP </a:t>
            </a:r>
            <a:r>
              <a:rPr lang="ko-KR" altLang="en-US"/>
              <a:t>청구항의 </a:t>
            </a:r>
            <a:r>
              <a:rPr lang="en-US" altLang="ko-KR" dirty="0"/>
              <a:t>CASE</a:t>
            </a:r>
            <a:endParaRPr lang="ko-KR" altLang="en-US" dirty="0"/>
          </a:p>
        </p:txBody>
      </p:sp>
      <p:sp>
        <p:nvSpPr>
          <p:cNvPr id="2" name="슬라이드 번호 개체 틀 1"/>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139</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cxnSp>
        <p:nvCxnSpPr>
          <p:cNvPr id="10" name="직선 연결선 9"/>
          <p:cNvCxnSpPr/>
          <p:nvPr/>
        </p:nvCxnSpPr>
        <p:spPr>
          <a:xfrm>
            <a:off x="1079612" y="1219200"/>
            <a:ext cx="0" cy="5071533"/>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1671739" y="1118621"/>
            <a:ext cx="10274167" cy="738664"/>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물건발명</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흑연연필심과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상기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흑연연필심을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둘러싸도록 목재로 구성된 외각부로 구성된 연필</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방법발명</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공정후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b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공정후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c</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공정을 거치는 방법에 의해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흑연연필심과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상기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흑연연필심을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둘러싸도록 목재로 구성된 외각부로 구성된 연필을 제조하는 방법</a:t>
            </a:r>
          </a:p>
        </p:txBody>
      </p:sp>
      <p:sp>
        <p:nvSpPr>
          <p:cNvPr id="12" name="직사각형 11"/>
          <p:cNvSpPr/>
          <p:nvPr/>
        </p:nvSpPr>
        <p:spPr>
          <a:xfrm>
            <a:off x="580574" y="1378089"/>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공지기술</a:t>
            </a:r>
          </a:p>
        </p:txBody>
      </p:sp>
      <p:sp>
        <p:nvSpPr>
          <p:cNvPr id="27" name="직사각형 26"/>
          <p:cNvSpPr/>
          <p:nvPr/>
        </p:nvSpPr>
        <p:spPr>
          <a:xfrm>
            <a:off x="580574" y="2741185"/>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9" name="직사각형 28"/>
          <p:cNvSpPr/>
          <p:nvPr/>
        </p:nvSpPr>
        <p:spPr>
          <a:xfrm>
            <a:off x="580574" y="4639929"/>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4" name="TextBox 43">
            <a:extLst>
              <a:ext uri="{FF2B5EF4-FFF2-40B4-BE49-F238E27FC236}">
                <a16:creationId xmlns:a16="http://schemas.microsoft.com/office/drawing/2014/main" id="{ECB14D38-7E08-4D3F-8EC2-709D5B214B5F}"/>
              </a:ext>
            </a:extLst>
          </p:cNvPr>
          <p:cNvSpPr txBox="1"/>
          <p:nvPr/>
        </p:nvSpPr>
        <p:spPr>
          <a:xfrm>
            <a:off x="1671740" y="2560585"/>
            <a:ext cx="10274182" cy="738664"/>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 a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공정후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c2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공정후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b1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공정을 거치는 방법에 의해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흑연연필심과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상기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흑연연필심을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둘러싸도록 목재로 구성된 외각부로 구성된 연필을 제조하는 방법</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항의 방법에 의해 제조된 연필</a:t>
            </a:r>
          </a:p>
        </p:txBody>
      </p:sp>
      <p:sp>
        <p:nvSpPr>
          <p:cNvPr id="46" name="TextBox 45">
            <a:extLst>
              <a:ext uri="{FF2B5EF4-FFF2-40B4-BE49-F238E27FC236}">
                <a16:creationId xmlns:a16="http://schemas.microsoft.com/office/drawing/2014/main" id="{4BECC419-609D-40D3-B6AF-B7703513323E}"/>
              </a:ext>
            </a:extLst>
          </p:cNvPr>
          <p:cNvSpPr txBox="1"/>
          <p:nvPr/>
        </p:nvSpPr>
        <p:spPr>
          <a:xfrm>
            <a:off x="1671740" y="4432040"/>
            <a:ext cx="10274182" cy="738664"/>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 a1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공정후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c3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공정후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b2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공정을 거치는 방법에 의해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흑연연필심과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상기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흑연연필심을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둘러싸도록 목재로 구성되고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형상이 다각형인 외각부로 구성된 연필을 제조하는 방법</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항의 방법에 의해 제조된 연필</a:t>
            </a:r>
          </a:p>
        </p:txBody>
      </p:sp>
      <p:sp>
        <p:nvSpPr>
          <p:cNvPr id="5" name="TextBox 4">
            <a:extLst>
              <a:ext uri="{FF2B5EF4-FFF2-40B4-BE49-F238E27FC236}">
                <a16:creationId xmlns:a16="http://schemas.microsoft.com/office/drawing/2014/main" id="{3198CD3D-6A83-4E5D-8004-7869E08A189E}"/>
              </a:ext>
            </a:extLst>
          </p:cNvPr>
          <p:cNvSpPr txBox="1"/>
          <p:nvPr/>
        </p:nvSpPr>
        <p:spPr>
          <a:xfrm>
            <a:off x="2139193" y="3378205"/>
            <a:ext cx="8743099" cy="523220"/>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 a</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c2b1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을 구성으로 하며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공지기술인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sym typeface="Wingdings" panose="05000000000000000000" pitchFamily="2" charset="2"/>
              </a:rPr>
              <a:t>abc</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와 비교하여 동일성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신규성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용이성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진보성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판단</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청구항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2: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sym typeface="Wingdings" panose="05000000000000000000" pitchFamily="2" charset="2"/>
              </a:rPr>
              <a:t>흑연연필심과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sym typeface="Wingdings" panose="05000000000000000000" pitchFamily="2" charset="2"/>
              </a:rPr>
              <a:t>목재외각부를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구성으로 하며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공지기술인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sym typeface="Wingdings" panose="05000000000000000000" pitchFamily="2" charset="2"/>
              </a:rPr>
              <a:t>흑연연필심과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sym typeface="Wingdings" panose="05000000000000000000" pitchFamily="2" charset="2"/>
              </a:rPr>
              <a:t>목재외각부와</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동일성이 있어 신규성 위반</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 name="타원 5">
            <a:extLst>
              <a:ext uri="{FF2B5EF4-FFF2-40B4-BE49-F238E27FC236}">
                <a16:creationId xmlns:a16="http://schemas.microsoft.com/office/drawing/2014/main" id="{0C6A76E1-A947-4341-BBE2-3FB9629C2790}"/>
              </a:ext>
            </a:extLst>
          </p:cNvPr>
          <p:cNvSpPr/>
          <p:nvPr/>
        </p:nvSpPr>
        <p:spPr>
          <a:xfrm>
            <a:off x="1576852" y="3392535"/>
            <a:ext cx="570445" cy="570445"/>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rPr>
              <a:t>판단</a:t>
            </a:r>
          </a:p>
        </p:txBody>
      </p:sp>
      <p:sp>
        <p:nvSpPr>
          <p:cNvPr id="49" name="TextBox 48">
            <a:extLst>
              <a:ext uri="{FF2B5EF4-FFF2-40B4-BE49-F238E27FC236}">
                <a16:creationId xmlns:a16="http://schemas.microsoft.com/office/drawing/2014/main" id="{EC530306-AEA1-49F0-A73D-57FC24F47163}"/>
              </a:ext>
            </a:extLst>
          </p:cNvPr>
          <p:cNvSpPr txBox="1"/>
          <p:nvPr/>
        </p:nvSpPr>
        <p:spPr>
          <a:xfrm>
            <a:off x="2139193" y="5300820"/>
            <a:ext cx="9977411" cy="523220"/>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 a1</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c3b2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를 구성으로 하며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공지기술인 </a:t>
            </a:r>
            <a:r>
              <a:rPr kumimoji="0" lang="en-US" altLang="ko-KR" sz="1400" b="0" i="0" u="none" strike="noStrike" kern="1200" cap="none" spc="0" normalizeH="0" baseline="0" noProof="0" dirty="0" err="1">
                <a:ln>
                  <a:noFill/>
                </a:ln>
                <a:solidFill>
                  <a:prstClr val="black"/>
                </a:solidFill>
                <a:effectLst/>
                <a:uLnTx/>
                <a:uFillTx/>
                <a:latin typeface="Frutiger LT 65 Bold"/>
                <a:ea typeface="Rix모던고딕 B"/>
                <a:cs typeface="+mn-cs"/>
                <a:sym typeface="Wingdings" panose="05000000000000000000" pitchFamily="2" charset="2"/>
              </a:rPr>
              <a:t>abc</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와 비교하여 동일성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신규성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용이성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진보성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판단</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청구항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2: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sym typeface="Wingdings" panose="05000000000000000000" pitchFamily="2" charset="2"/>
              </a:rPr>
              <a:t>흑연연필심과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다각형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sym typeface="Wingdings" panose="05000000000000000000" pitchFamily="2" charset="2"/>
              </a:rPr>
              <a:t>목재외각부를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구성으로 하며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공지기술인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sym typeface="Wingdings" panose="05000000000000000000" pitchFamily="2" charset="2"/>
              </a:rPr>
              <a:t>흑연연필심과</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sym typeface="Wingdings" panose="05000000000000000000" pitchFamily="2" charset="2"/>
              </a:rPr>
              <a:t>목재외각부와</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동일성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신규성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용이성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진보성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sym typeface="Wingdings" panose="05000000000000000000" pitchFamily="2" charset="2"/>
              </a:rPr>
              <a:t> 판단</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3" name="타원 52">
            <a:extLst>
              <a:ext uri="{FF2B5EF4-FFF2-40B4-BE49-F238E27FC236}">
                <a16:creationId xmlns:a16="http://schemas.microsoft.com/office/drawing/2014/main" id="{A53C9913-F433-4643-81DD-4422D1428345}"/>
              </a:ext>
            </a:extLst>
          </p:cNvPr>
          <p:cNvSpPr/>
          <p:nvPr/>
        </p:nvSpPr>
        <p:spPr>
          <a:xfrm>
            <a:off x="1576852" y="5277208"/>
            <a:ext cx="570445" cy="570445"/>
          </a:xfrm>
          <a:prstGeom prst="ellipse">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rPr>
              <a:t>판단</a:t>
            </a:r>
          </a:p>
        </p:txBody>
      </p:sp>
    </p:spTree>
    <p:extLst>
      <p:ext uri="{BB962C8B-B14F-4D97-AF65-F5344CB8AC3E}">
        <p14:creationId xmlns:p14="http://schemas.microsoft.com/office/powerpoint/2010/main" val="289913670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p>
        </p:txBody>
      </p:sp>
      <p:sp>
        <p:nvSpPr>
          <p:cNvPr id="4" name="텍스트 개체 틀 3"/>
          <p:cNvSpPr>
            <a:spLocks noGrp="1"/>
          </p:cNvSpPr>
          <p:nvPr>
            <p:ph type="body" sz="quarter" idx="13"/>
          </p:nvPr>
        </p:nvSpPr>
        <p:spPr/>
        <p:txBody>
          <a:bodyPr/>
          <a:lstStyle/>
          <a:p>
            <a:r>
              <a:rPr lang="ko-KR" altLang="en-US" dirty="0"/>
              <a:t>기능적 표현 청구항의</a:t>
            </a:r>
            <a:r>
              <a:rPr lang="en-US" altLang="ko-KR" dirty="0"/>
              <a:t> CASE</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140</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cxnSp>
        <p:nvCxnSpPr>
          <p:cNvPr id="10" name="직선 연결선 9"/>
          <p:cNvCxnSpPr>
            <a:cxnSpLocks/>
          </p:cNvCxnSpPr>
          <p:nvPr/>
        </p:nvCxnSpPr>
        <p:spPr>
          <a:xfrm>
            <a:off x="380873" y="1984016"/>
            <a:ext cx="643191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507933" y="1394319"/>
            <a:ext cx="1143572" cy="261610"/>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지우개 결합 연필</a:t>
            </a:r>
          </a:p>
        </p:txBody>
      </p:sp>
      <p:sp>
        <p:nvSpPr>
          <p:cNvPr id="12" name="직사각형 11"/>
          <p:cNvSpPr/>
          <p:nvPr/>
        </p:nvSpPr>
        <p:spPr>
          <a:xfrm>
            <a:off x="580574" y="1845756"/>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공지기술</a:t>
            </a:r>
          </a:p>
        </p:txBody>
      </p:sp>
      <p:sp>
        <p:nvSpPr>
          <p:cNvPr id="24" name="직사각형 23"/>
          <p:cNvSpPr/>
          <p:nvPr/>
        </p:nvSpPr>
        <p:spPr>
          <a:xfrm>
            <a:off x="1962822" y="1871629"/>
            <a:ext cx="996278" cy="274565"/>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Frutiger LT 65 Bold"/>
                <a:ea typeface="Rix모던고딕 B"/>
                <a:cs typeface="+mn-cs"/>
              </a:rPr>
              <a:t>발명</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7" name="TextBox 36"/>
          <p:cNvSpPr txBox="1"/>
          <p:nvPr/>
        </p:nvSpPr>
        <p:spPr>
          <a:xfrm>
            <a:off x="6096000" y="4808781"/>
            <a:ext cx="1433576" cy="261610"/>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지우개 결합 연필 실시</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4" name="연결선: 꺾임 13">
            <a:extLst>
              <a:ext uri="{FF2B5EF4-FFF2-40B4-BE49-F238E27FC236}">
                <a16:creationId xmlns:a16="http://schemas.microsoft.com/office/drawing/2014/main" id="{4F71079C-7B8A-4681-9D03-4B129C66846B}"/>
              </a:ext>
            </a:extLst>
          </p:cNvPr>
          <p:cNvCxnSpPr>
            <a:cxnSpLocks/>
            <a:stCxn id="11" idx="2"/>
            <a:endCxn id="12" idx="0"/>
          </p:cNvCxnSpPr>
          <p:nvPr/>
        </p:nvCxnSpPr>
        <p:spPr>
          <a:xfrm rot="5400000">
            <a:off x="984303" y="1750339"/>
            <a:ext cx="189827" cy="1006"/>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F5ACD4DF-0F21-4C2F-9F23-1616AD7A6269}"/>
              </a:ext>
            </a:extLst>
          </p:cNvPr>
          <p:cNvSpPr txBox="1"/>
          <p:nvPr/>
        </p:nvSpPr>
        <p:spPr>
          <a:xfrm>
            <a:off x="1886000" y="1394319"/>
            <a:ext cx="1143572" cy="261610"/>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수정액 결합 볼펜</a:t>
            </a:r>
          </a:p>
        </p:txBody>
      </p:sp>
      <p:cxnSp>
        <p:nvCxnSpPr>
          <p:cNvPr id="47" name="연결선: 꺾임 46">
            <a:extLst>
              <a:ext uri="{FF2B5EF4-FFF2-40B4-BE49-F238E27FC236}">
                <a16:creationId xmlns:a16="http://schemas.microsoft.com/office/drawing/2014/main" id="{70DD68ED-20B7-4DD0-82C5-8C745CA3BF3E}"/>
              </a:ext>
            </a:extLst>
          </p:cNvPr>
          <p:cNvCxnSpPr>
            <a:cxnSpLocks/>
            <a:stCxn id="44" idx="2"/>
            <a:endCxn id="24" idx="0"/>
          </p:cNvCxnSpPr>
          <p:nvPr/>
        </p:nvCxnSpPr>
        <p:spPr>
          <a:xfrm rot="16200000" flipH="1">
            <a:off x="2351523" y="1762191"/>
            <a:ext cx="215700" cy="3175"/>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69ED3B97-7020-459C-AB38-E0A9CB32C2A1}"/>
              </a:ext>
            </a:extLst>
          </p:cNvPr>
          <p:cNvSpPr txBox="1"/>
          <p:nvPr/>
        </p:nvSpPr>
        <p:spPr>
          <a:xfrm>
            <a:off x="3338718" y="1045069"/>
            <a:ext cx="3226277" cy="600164"/>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청구범위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소거수단을 결합한 필기수단</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발명의 설명</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소거수단 결합한 필기수단과 그 실시예로 수정액 결합 볼펜 기재</a:t>
            </a:r>
          </a:p>
        </p:txBody>
      </p:sp>
      <p:sp>
        <p:nvSpPr>
          <p:cNvPr id="49" name="직사각형 48">
            <a:extLst>
              <a:ext uri="{FF2B5EF4-FFF2-40B4-BE49-F238E27FC236}">
                <a16:creationId xmlns:a16="http://schemas.microsoft.com/office/drawing/2014/main" id="{E5F83471-91AF-4949-A16A-6D8A06B02CB0}"/>
              </a:ext>
            </a:extLst>
          </p:cNvPr>
          <p:cNvSpPr/>
          <p:nvPr/>
        </p:nvSpPr>
        <p:spPr>
          <a:xfrm>
            <a:off x="3411360" y="1845756"/>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cxnSp>
        <p:nvCxnSpPr>
          <p:cNvPr id="53" name="연결선: 꺾임 52">
            <a:extLst>
              <a:ext uri="{FF2B5EF4-FFF2-40B4-BE49-F238E27FC236}">
                <a16:creationId xmlns:a16="http://schemas.microsoft.com/office/drawing/2014/main" id="{10172452-2F30-4A9C-9BD3-3A4B10AE9E81}"/>
              </a:ext>
            </a:extLst>
          </p:cNvPr>
          <p:cNvCxnSpPr>
            <a:cxnSpLocks/>
            <a:stCxn id="48" idx="2"/>
            <a:endCxn id="49" idx="0"/>
          </p:cNvCxnSpPr>
          <p:nvPr/>
        </p:nvCxnSpPr>
        <p:spPr>
          <a:xfrm rot="5400000">
            <a:off x="4330417" y="1224315"/>
            <a:ext cx="200523" cy="1042358"/>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55" name="직선 연결선 54">
            <a:extLst>
              <a:ext uri="{FF2B5EF4-FFF2-40B4-BE49-F238E27FC236}">
                <a16:creationId xmlns:a16="http://schemas.microsoft.com/office/drawing/2014/main" id="{D51D7E9B-F714-42B4-844F-F7E450B53C60}"/>
              </a:ext>
            </a:extLst>
          </p:cNvPr>
          <p:cNvCxnSpPr>
            <a:cxnSpLocks/>
          </p:cNvCxnSpPr>
          <p:nvPr/>
        </p:nvCxnSpPr>
        <p:spPr>
          <a:xfrm>
            <a:off x="380873" y="4359706"/>
            <a:ext cx="11630152"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직사각형 57">
            <a:extLst>
              <a:ext uri="{FF2B5EF4-FFF2-40B4-BE49-F238E27FC236}">
                <a16:creationId xmlns:a16="http://schemas.microsoft.com/office/drawing/2014/main" id="{9A2F5B07-0AC3-42AB-92EF-680474F3A582}"/>
              </a:ext>
            </a:extLst>
          </p:cNvPr>
          <p:cNvSpPr/>
          <p:nvPr/>
        </p:nvSpPr>
        <p:spPr>
          <a:xfrm>
            <a:off x="1962822" y="4247319"/>
            <a:ext cx="996278" cy="274565"/>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Frutiger LT 65 Bold"/>
                <a:ea typeface="Rix모던고딕 B"/>
                <a:cs typeface="+mn-cs"/>
              </a:rPr>
              <a:t>발명</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1" name="TextBox 60">
            <a:extLst>
              <a:ext uri="{FF2B5EF4-FFF2-40B4-BE49-F238E27FC236}">
                <a16:creationId xmlns:a16="http://schemas.microsoft.com/office/drawing/2014/main" id="{CD2235DC-5F1C-4C18-9200-5EADCC5DCC5A}"/>
              </a:ext>
            </a:extLst>
          </p:cNvPr>
          <p:cNvSpPr txBox="1"/>
          <p:nvPr/>
        </p:nvSpPr>
        <p:spPr>
          <a:xfrm>
            <a:off x="1886000" y="3770009"/>
            <a:ext cx="1143572" cy="261610"/>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수정액 결합 볼펜</a:t>
            </a:r>
          </a:p>
        </p:txBody>
      </p:sp>
      <p:cxnSp>
        <p:nvCxnSpPr>
          <p:cNvPr id="62" name="연결선: 꺾임 61">
            <a:extLst>
              <a:ext uri="{FF2B5EF4-FFF2-40B4-BE49-F238E27FC236}">
                <a16:creationId xmlns:a16="http://schemas.microsoft.com/office/drawing/2014/main" id="{E52E7A17-737A-4876-BA05-7D46A0EAE8E8}"/>
              </a:ext>
            </a:extLst>
          </p:cNvPr>
          <p:cNvCxnSpPr>
            <a:cxnSpLocks/>
            <a:stCxn id="61" idx="2"/>
            <a:endCxn id="58" idx="0"/>
          </p:cNvCxnSpPr>
          <p:nvPr/>
        </p:nvCxnSpPr>
        <p:spPr>
          <a:xfrm rot="16200000" flipH="1">
            <a:off x="2351523" y="4137881"/>
            <a:ext cx="215700" cy="3175"/>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5E85C7D3-2507-463B-A37D-61A27DF553E5}"/>
              </a:ext>
            </a:extLst>
          </p:cNvPr>
          <p:cNvSpPr txBox="1"/>
          <p:nvPr/>
        </p:nvSpPr>
        <p:spPr>
          <a:xfrm>
            <a:off x="3338718" y="3420759"/>
            <a:ext cx="3226277" cy="600164"/>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청구범위</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소거수단을 결합한 필기수단</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발명의 설명</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소거수단 결합한 필기수단과 그 실시예로 수정액 결합 볼펜 기재</a:t>
            </a:r>
          </a:p>
        </p:txBody>
      </p:sp>
      <p:sp>
        <p:nvSpPr>
          <p:cNvPr id="64" name="직사각형 63">
            <a:extLst>
              <a:ext uri="{FF2B5EF4-FFF2-40B4-BE49-F238E27FC236}">
                <a16:creationId xmlns:a16="http://schemas.microsoft.com/office/drawing/2014/main" id="{EB8FBFF0-8D19-4CBA-BDC3-04E70F2D553E}"/>
              </a:ext>
            </a:extLst>
          </p:cNvPr>
          <p:cNvSpPr/>
          <p:nvPr/>
        </p:nvSpPr>
        <p:spPr>
          <a:xfrm>
            <a:off x="3411360" y="4221446"/>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p>
        </p:txBody>
      </p:sp>
      <p:cxnSp>
        <p:nvCxnSpPr>
          <p:cNvPr id="65" name="연결선: 꺾임 64">
            <a:extLst>
              <a:ext uri="{FF2B5EF4-FFF2-40B4-BE49-F238E27FC236}">
                <a16:creationId xmlns:a16="http://schemas.microsoft.com/office/drawing/2014/main" id="{F2563F37-D790-4ACA-9D75-6FD661559DFA}"/>
              </a:ext>
            </a:extLst>
          </p:cNvPr>
          <p:cNvCxnSpPr>
            <a:cxnSpLocks/>
            <a:stCxn id="63" idx="2"/>
            <a:endCxn id="64" idx="0"/>
          </p:cNvCxnSpPr>
          <p:nvPr/>
        </p:nvCxnSpPr>
        <p:spPr>
          <a:xfrm rot="5400000">
            <a:off x="4330417" y="3600005"/>
            <a:ext cx="200523" cy="1042358"/>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66" name="직사각형 65">
            <a:extLst>
              <a:ext uri="{FF2B5EF4-FFF2-40B4-BE49-F238E27FC236}">
                <a16:creationId xmlns:a16="http://schemas.microsoft.com/office/drawing/2014/main" id="{5D0DB450-0B95-4E37-92A9-2456D908361F}"/>
              </a:ext>
            </a:extLst>
          </p:cNvPr>
          <p:cNvSpPr/>
          <p:nvPr/>
        </p:nvSpPr>
        <p:spPr>
          <a:xfrm>
            <a:off x="5099722" y="4221446"/>
            <a:ext cx="996278" cy="300438"/>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등록</a:t>
            </a:r>
          </a:p>
        </p:txBody>
      </p:sp>
      <p:sp>
        <p:nvSpPr>
          <p:cNvPr id="30" name="직사각형 29"/>
          <p:cNvSpPr/>
          <p:nvPr/>
        </p:nvSpPr>
        <p:spPr>
          <a:xfrm>
            <a:off x="6663678" y="4208803"/>
            <a:ext cx="1152931" cy="300437"/>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 실시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2" name="직사각형 91">
            <a:extLst>
              <a:ext uri="{FF2B5EF4-FFF2-40B4-BE49-F238E27FC236}">
                <a16:creationId xmlns:a16="http://schemas.microsoft.com/office/drawing/2014/main" id="{F4765440-AF7B-4DCA-989F-D2D419A8F54E}"/>
              </a:ext>
            </a:extLst>
          </p:cNvPr>
          <p:cNvSpPr/>
          <p:nvPr/>
        </p:nvSpPr>
        <p:spPr>
          <a:xfrm>
            <a:off x="8190542" y="4208803"/>
            <a:ext cx="1152931" cy="300437"/>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 실시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4" name="직사각형 93">
            <a:extLst>
              <a:ext uri="{FF2B5EF4-FFF2-40B4-BE49-F238E27FC236}">
                <a16:creationId xmlns:a16="http://schemas.microsoft.com/office/drawing/2014/main" id="{F7D05164-44B6-4EEF-B173-2C732D8C904C}"/>
              </a:ext>
            </a:extLst>
          </p:cNvPr>
          <p:cNvSpPr/>
          <p:nvPr/>
        </p:nvSpPr>
        <p:spPr>
          <a:xfrm>
            <a:off x="9717406" y="4208803"/>
            <a:ext cx="1152931" cy="300437"/>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 실시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6" name="연결선: 꺾임 95">
            <a:extLst>
              <a:ext uri="{FF2B5EF4-FFF2-40B4-BE49-F238E27FC236}">
                <a16:creationId xmlns:a16="http://schemas.microsoft.com/office/drawing/2014/main" id="{6DF647E0-4DC3-4C85-B1A4-E8A5A880E48E}"/>
              </a:ext>
            </a:extLst>
          </p:cNvPr>
          <p:cNvCxnSpPr>
            <a:cxnSpLocks/>
            <a:stCxn id="37" idx="0"/>
            <a:endCxn id="30" idx="2"/>
          </p:cNvCxnSpPr>
          <p:nvPr/>
        </p:nvCxnSpPr>
        <p:spPr>
          <a:xfrm rot="5400000" flipH="1" flipV="1">
            <a:off x="6876696" y="4445333"/>
            <a:ext cx="299541" cy="427356"/>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99" name="TextBox 98">
            <a:extLst>
              <a:ext uri="{FF2B5EF4-FFF2-40B4-BE49-F238E27FC236}">
                <a16:creationId xmlns:a16="http://schemas.microsoft.com/office/drawing/2014/main" id="{61BF306A-C4CD-400A-AA9E-BD2E8E5CA24D}"/>
              </a:ext>
            </a:extLst>
          </p:cNvPr>
          <p:cNvSpPr txBox="1"/>
          <p:nvPr/>
        </p:nvSpPr>
        <p:spPr>
          <a:xfrm>
            <a:off x="8051418" y="4808781"/>
            <a:ext cx="1433576" cy="261610"/>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수정액 결합 볼펜</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00" name="연결선: 꺾임 99">
            <a:extLst>
              <a:ext uri="{FF2B5EF4-FFF2-40B4-BE49-F238E27FC236}">
                <a16:creationId xmlns:a16="http://schemas.microsoft.com/office/drawing/2014/main" id="{60112D89-90A3-419A-93EA-F7BD3B812D83}"/>
              </a:ext>
            </a:extLst>
          </p:cNvPr>
          <p:cNvCxnSpPr>
            <a:cxnSpLocks/>
            <a:stCxn id="99" idx="0"/>
            <a:endCxn id="92" idx="2"/>
          </p:cNvCxnSpPr>
          <p:nvPr/>
        </p:nvCxnSpPr>
        <p:spPr>
          <a:xfrm rot="16200000" flipV="1">
            <a:off x="8617837" y="4658412"/>
            <a:ext cx="299541" cy="1198"/>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8CCD8D8C-C290-4346-A1C6-E3B2215240AA}"/>
              </a:ext>
            </a:extLst>
          </p:cNvPr>
          <p:cNvSpPr txBox="1"/>
          <p:nvPr/>
        </p:nvSpPr>
        <p:spPr>
          <a:xfrm>
            <a:off x="10060960" y="4808781"/>
            <a:ext cx="1433576" cy="261610"/>
          </a:xfrm>
          <a:prstGeom prst="rect">
            <a:avLst/>
          </a:prstGeom>
          <a:solidFill>
            <a:schemeClr val="bg1">
              <a:lumMod val="95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수정액</a:t>
            </a: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결합 볼펜</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03" name="연결선: 꺾임 102">
            <a:extLst>
              <a:ext uri="{FF2B5EF4-FFF2-40B4-BE49-F238E27FC236}">
                <a16:creationId xmlns:a16="http://schemas.microsoft.com/office/drawing/2014/main" id="{E80B7CED-7CEE-4CA0-8E22-CCEA3EA47C17}"/>
              </a:ext>
            </a:extLst>
          </p:cNvPr>
          <p:cNvCxnSpPr>
            <a:cxnSpLocks/>
            <a:stCxn id="102" idx="0"/>
            <a:endCxn id="94" idx="2"/>
          </p:cNvCxnSpPr>
          <p:nvPr/>
        </p:nvCxnSpPr>
        <p:spPr>
          <a:xfrm rot="16200000" flipV="1">
            <a:off x="10386040" y="4417073"/>
            <a:ext cx="299541" cy="483876"/>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graphicFrame>
        <p:nvGraphicFramePr>
          <p:cNvPr id="105" name="표 104">
            <a:extLst>
              <a:ext uri="{FF2B5EF4-FFF2-40B4-BE49-F238E27FC236}">
                <a16:creationId xmlns:a16="http://schemas.microsoft.com/office/drawing/2014/main" id="{638376A7-3480-4010-AF20-F3D42A9A9618}"/>
              </a:ext>
            </a:extLst>
          </p:cNvPr>
          <p:cNvGraphicFramePr>
            <a:graphicFrameLocks noGrp="1"/>
          </p:cNvGraphicFramePr>
          <p:nvPr/>
        </p:nvGraphicFramePr>
        <p:xfrm>
          <a:off x="2047260" y="5398638"/>
          <a:ext cx="7296213" cy="1036320"/>
        </p:xfrm>
        <a:graphic>
          <a:graphicData uri="http://schemas.openxmlformats.org/drawingml/2006/table">
            <a:tbl>
              <a:tblPr>
                <a:tableStyleId>{8799B23B-EC83-4686-B30A-512413B5E67A}</a:tableStyleId>
              </a:tblPr>
              <a:tblGrid>
                <a:gridCol w="1136767">
                  <a:extLst>
                    <a:ext uri="{9D8B030D-6E8A-4147-A177-3AD203B41FA5}">
                      <a16:colId xmlns:a16="http://schemas.microsoft.com/office/drawing/2014/main" val="20000"/>
                    </a:ext>
                  </a:extLst>
                </a:gridCol>
                <a:gridCol w="1646428">
                  <a:extLst>
                    <a:ext uri="{9D8B030D-6E8A-4147-A177-3AD203B41FA5}">
                      <a16:colId xmlns:a16="http://schemas.microsoft.com/office/drawing/2014/main" val="20001"/>
                    </a:ext>
                  </a:extLst>
                </a:gridCol>
                <a:gridCol w="1875545">
                  <a:extLst>
                    <a:ext uri="{9D8B030D-6E8A-4147-A177-3AD203B41FA5}">
                      <a16:colId xmlns:a16="http://schemas.microsoft.com/office/drawing/2014/main" val="20002"/>
                    </a:ext>
                  </a:extLst>
                </a:gridCol>
                <a:gridCol w="2637473">
                  <a:extLst>
                    <a:ext uri="{9D8B030D-6E8A-4147-A177-3AD203B41FA5}">
                      <a16:colId xmlns:a16="http://schemas.microsoft.com/office/drawing/2014/main" val="20003"/>
                    </a:ext>
                  </a:extLst>
                </a:gridCol>
              </a:tblGrid>
              <a:tr h="215419">
                <a:tc>
                  <a:txBody>
                    <a:bodyPr/>
                    <a:lstStyle/>
                    <a:p>
                      <a:pPr algn="ctr" latinLnBrk="1"/>
                      <a:r>
                        <a:rPr lang="ko-KR" altLang="en-US" sz="1100" dirty="0"/>
                        <a:t>구 분 </a:t>
                      </a:r>
                    </a:p>
                  </a:txBody>
                  <a:tcPr anchor="ctr">
                    <a:solidFill>
                      <a:schemeClr val="accent1">
                        <a:lumMod val="20000"/>
                        <a:lumOff val="80000"/>
                      </a:schemeClr>
                    </a:solidFill>
                  </a:tcPr>
                </a:tc>
                <a:tc>
                  <a:txBody>
                    <a:bodyPr/>
                    <a:lstStyle/>
                    <a:p>
                      <a:pPr algn="ctr" latinLnBrk="1"/>
                      <a:r>
                        <a:rPr lang="ko-KR" altLang="en-US" sz="1100" dirty="0"/>
                        <a:t>발명특정</a:t>
                      </a:r>
                    </a:p>
                  </a:txBody>
                  <a:tcPr anchor="ctr">
                    <a:solidFill>
                      <a:schemeClr val="accent1">
                        <a:lumMod val="20000"/>
                        <a:lumOff val="80000"/>
                      </a:schemeClr>
                    </a:solidFill>
                  </a:tcPr>
                </a:tc>
                <a:tc>
                  <a:txBody>
                    <a:bodyPr/>
                    <a:lstStyle/>
                    <a:p>
                      <a:pPr algn="ctr" latinLnBrk="1"/>
                      <a:r>
                        <a:rPr lang="ko-KR" altLang="en-US" sz="1100" dirty="0"/>
                        <a:t>비교대상특정</a:t>
                      </a:r>
                    </a:p>
                  </a:txBody>
                  <a:tcPr anchor="ctr">
                    <a:solidFill>
                      <a:schemeClr val="accent1">
                        <a:lumMod val="20000"/>
                        <a:lumOff val="80000"/>
                      </a:schemeClr>
                    </a:solidFill>
                  </a:tcPr>
                </a:tc>
                <a:tc>
                  <a:txBody>
                    <a:bodyPr/>
                    <a:lstStyle/>
                    <a:p>
                      <a:pPr algn="ctr" latinLnBrk="1"/>
                      <a:r>
                        <a:rPr lang="ko-KR" altLang="en-US" sz="1100" dirty="0"/>
                        <a:t>판단</a:t>
                      </a:r>
                    </a:p>
                  </a:txBody>
                  <a:tcPr anchor="ctr">
                    <a:solidFill>
                      <a:schemeClr val="accent1">
                        <a:lumMod val="20000"/>
                        <a:lumOff val="80000"/>
                      </a:schemeClr>
                    </a:solidFill>
                  </a:tcPr>
                </a:tc>
                <a:extLst>
                  <a:ext uri="{0D108BD9-81ED-4DB2-BD59-A6C34878D82A}">
                    <a16:rowId xmlns:a16="http://schemas.microsoft.com/office/drawing/2014/main" val="10000"/>
                  </a:ext>
                </a:extLst>
              </a:tr>
              <a:tr h="215419">
                <a:tc rowSpan="3">
                  <a:txBody>
                    <a:bodyPr/>
                    <a:lstStyle/>
                    <a:p>
                      <a:pPr algn="ctr" latinLnBrk="1"/>
                      <a:r>
                        <a:rPr lang="ko-KR" altLang="en-US" sz="1100" dirty="0"/>
                        <a:t>보호범위 </a:t>
                      </a:r>
                      <a:endParaRPr lang="en-US" altLang="ko-KR" sz="1100" dirty="0"/>
                    </a:p>
                    <a:p>
                      <a:pPr algn="ctr" latinLnBrk="1"/>
                      <a:r>
                        <a:rPr lang="ko-KR" altLang="en-US" sz="1100" dirty="0"/>
                        <a:t>판단</a:t>
                      </a:r>
                    </a:p>
                  </a:txBody>
                  <a:tcPr anchor="ctr"/>
                </a:tc>
                <a:tc rowSpan="3">
                  <a:txBody>
                    <a:bodyPr/>
                    <a:lstStyle/>
                    <a:p>
                      <a:pPr algn="ctr" latinLnBrk="1"/>
                      <a:r>
                        <a:rPr lang="ko-KR" altLang="en-US" sz="1100" dirty="0"/>
                        <a:t>수정액 결합한 볼펜</a:t>
                      </a:r>
                    </a:p>
                  </a:txBody>
                  <a:tcPr anchor="ctr"/>
                </a:tc>
                <a:tc>
                  <a:txBody>
                    <a:bodyPr/>
                    <a:lstStyle/>
                    <a:p>
                      <a:pPr algn="ctr" latinLnBrk="1"/>
                      <a:r>
                        <a:rPr lang="ko-KR" altLang="en-US" sz="1100" dirty="0"/>
                        <a:t>지우개 결합 연필</a:t>
                      </a:r>
                    </a:p>
                  </a:txBody>
                  <a:tcPr anchor="ctr"/>
                </a:tc>
                <a:tc>
                  <a:txBody>
                    <a:bodyPr/>
                    <a:lstStyle/>
                    <a:p>
                      <a:pPr algn="ctr" latinLnBrk="1"/>
                      <a:r>
                        <a:rPr lang="en-US" altLang="ko-KR" sz="1100" dirty="0"/>
                        <a:t>AER, </a:t>
                      </a:r>
                      <a:r>
                        <a:rPr lang="ko-KR" altLang="en-US" sz="1100" dirty="0" err="1"/>
                        <a:t>균등론</a:t>
                      </a:r>
                      <a:r>
                        <a:rPr lang="ko-KR" altLang="en-US" sz="1100" dirty="0"/>
                        <a:t> 의하여 </a:t>
                      </a:r>
                      <a:r>
                        <a:rPr lang="ko-KR" altLang="en-US" sz="1100" dirty="0" err="1"/>
                        <a:t>비침해</a:t>
                      </a:r>
                      <a:endParaRPr lang="ko-KR" altLang="en-US" sz="1100" dirty="0"/>
                    </a:p>
                  </a:txBody>
                  <a:tcPr anchor="ctr"/>
                </a:tc>
                <a:extLst>
                  <a:ext uri="{0D108BD9-81ED-4DB2-BD59-A6C34878D82A}">
                    <a16:rowId xmlns:a16="http://schemas.microsoft.com/office/drawing/2014/main" val="10002"/>
                  </a:ext>
                </a:extLst>
              </a:tr>
              <a:tr h="215419">
                <a:tc vMerge="1">
                  <a:txBody>
                    <a:bodyPr/>
                    <a:lstStyle/>
                    <a:p>
                      <a:pPr algn="ctr" latinLnBrk="1"/>
                      <a:endParaRPr lang="ko-KR" altLang="en-US" sz="1100" dirty="0"/>
                    </a:p>
                  </a:txBody>
                  <a:tcPr anchor="ctr"/>
                </a:tc>
                <a:tc vMerge="1">
                  <a:txBody>
                    <a:bodyPr/>
                    <a:lstStyle/>
                    <a:p>
                      <a:pPr algn="ctr" latinLnBrk="1"/>
                      <a:endParaRPr lang="ko-KR" altLang="en-US" sz="1100" dirty="0"/>
                    </a:p>
                  </a:txBody>
                  <a:tcPr anchor="ctr"/>
                </a:tc>
                <a:tc>
                  <a:txBody>
                    <a:bodyPr/>
                    <a:lstStyle/>
                    <a:p>
                      <a:pPr algn="ctr" latinLnBrk="1"/>
                      <a:r>
                        <a:rPr lang="ko-KR" altLang="en-US" sz="1100" dirty="0"/>
                        <a:t>수정액 결합 볼펜</a:t>
                      </a:r>
                    </a:p>
                  </a:txBody>
                  <a:tcPr anchor="ctr"/>
                </a:tc>
                <a:tc>
                  <a:txBody>
                    <a:bodyPr/>
                    <a:lstStyle/>
                    <a:p>
                      <a:pPr algn="ctr" latinLnBrk="1"/>
                      <a:r>
                        <a:rPr lang="en-US" altLang="ko-KR" sz="1100" dirty="0"/>
                        <a:t>AER</a:t>
                      </a:r>
                      <a:r>
                        <a:rPr lang="ko-KR" altLang="en-US" sz="1100" dirty="0"/>
                        <a:t>에 의한 침해</a:t>
                      </a:r>
                    </a:p>
                  </a:txBody>
                  <a:tcPr anchor="ctr"/>
                </a:tc>
                <a:extLst>
                  <a:ext uri="{0D108BD9-81ED-4DB2-BD59-A6C34878D82A}">
                    <a16:rowId xmlns:a16="http://schemas.microsoft.com/office/drawing/2014/main" val="10003"/>
                  </a:ext>
                </a:extLst>
              </a:tr>
              <a:tr h="215419">
                <a:tc vMerge="1">
                  <a:txBody>
                    <a:bodyPr/>
                    <a:lstStyle/>
                    <a:p>
                      <a:pPr algn="ctr" latinLnBrk="1"/>
                      <a:endParaRPr lang="ko-KR" altLang="en-US" sz="1100" dirty="0"/>
                    </a:p>
                  </a:txBody>
                  <a:tcPr anchor="ctr"/>
                </a:tc>
                <a:tc vMerge="1">
                  <a:txBody>
                    <a:bodyPr/>
                    <a:lstStyle/>
                    <a:p>
                      <a:pPr algn="ctr" latinLnBrk="1"/>
                      <a:endParaRPr lang="ko-KR" altLang="en-US" sz="1100" dirty="0"/>
                    </a:p>
                  </a:txBody>
                  <a:tcPr anchor="ctr"/>
                </a:tc>
                <a:tc>
                  <a:txBody>
                    <a:bodyPr/>
                    <a:lstStyle/>
                    <a:p>
                      <a:pPr algn="ctr" latinLnBrk="1"/>
                      <a:r>
                        <a:rPr lang="ko-KR" altLang="en-US" sz="1100" dirty="0"/>
                        <a:t>수정액</a:t>
                      </a:r>
                      <a:r>
                        <a:rPr lang="en-US" altLang="ko-KR" sz="1100" dirty="0"/>
                        <a:t>2 </a:t>
                      </a:r>
                      <a:r>
                        <a:rPr lang="ko-KR" altLang="en-US" sz="1100" dirty="0"/>
                        <a:t>결합 볼펜</a:t>
                      </a:r>
                    </a:p>
                  </a:txBody>
                  <a:tcPr anchor="ctr"/>
                </a:tc>
                <a:tc>
                  <a:txBody>
                    <a:bodyPr/>
                    <a:lstStyle/>
                    <a:p>
                      <a:pPr algn="ctr" latinLnBrk="1"/>
                      <a:r>
                        <a:rPr lang="ko-KR" altLang="en-US" sz="1100" dirty="0" err="1"/>
                        <a:t>균등론에</a:t>
                      </a:r>
                      <a:r>
                        <a:rPr lang="ko-KR" altLang="en-US" sz="1100" dirty="0"/>
                        <a:t> 의한 침해△</a:t>
                      </a:r>
                    </a:p>
                  </a:txBody>
                  <a:tcPr anchor="ctr"/>
                </a:tc>
                <a:extLst>
                  <a:ext uri="{0D108BD9-81ED-4DB2-BD59-A6C34878D82A}">
                    <a16:rowId xmlns:a16="http://schemas.microsoft.com/office/drawing/2014/main" val="10004"/>
                  </a:ext>
                </a:extLst>
              </a:tr>
            </a:tbl>
          </a:graphicData>
        </a:graphic>
      </p:graphicFrame>
      <p:graphicFrame>
        <p:nvGraphicFramePr>
          <p:cNvPr id="106" name="표 105">
            <a:extLst>
              <a:ext uri="{FF2B5EF4-FFF2-40B4-BE49-F238E27FC236}">
                <a16:creationId xmlns:a16="http://schemas.microsoft.com/office/drawing/2014/main" id="{5407F1DD-0719-45BB-9D19-C2C0F4CBF85C}"/>
              </a:ext>
            </a:extLst>
          </p:cNvPr>
          <p:cNvGraphicFramePr>
            <a:graphicFrameLocks noGrp="1"/>
          </p:cNvGraphicFramePr>
          <p:nvPr/>
        </p:nvGraphicFramePr>
        <p:xfrm>
          <a:off x="7135776" y="1624265"/>
          <a:ext cx="4823603" cy="777892"/>
        </p:xfrm>
        <a:graphic>
          <a:graphicData uri="http://schemas.openxmlformats.org/drawingml/2006/table">
            <a:tbl>
              <a:tblPr>
                <a:tableStyleId>{8799B23B-EC83-4686-B30A-512413B5E67A}</a:tableStyleId>
              </a:tblPr>
              <a:tblGrid>
                <a:gridCol w="751529">
                  <a:extLst>
                    <a:ext uri="{9D8B030D-6E8A-4147-A177-3AD203B41FA5}">
                      <a16:colId xmlns:a16="http://schemas.microsoft.com/office/drawing/2014/main" val="3020649315"/>
                    </a:ext>
                  </a:extLst>
                </a:gridCol>
                <a:gridCol w="1088471">
                  <a:extLst>
                    <a:ext uri="{9D8B030D-6E8A-4147-A177-3AD203B41FA5}">
                      <a16:colId xmlns:a16="http://schemas.microsoft.com/office/drawing/2014/main" val="3533084461"/>
                    </a:ext>
                  </a:extLst>
                </a:gridCol>
                <a:gridCol w="1239942">
                  <a:extLst>
                    <a:ext uri="{9D8B030D-6E8A-4147-A177-3AD203B41FA5}">
                      <a16:colId xmlns:a16="http://schemas.microsoft.com/office/drawing/2014/main" val="3299466833"/>
                    </a:ext>
                  </a:extLst>
                </a:gridCol>
                <a:gridCol w="1743661">
                  <a:extLst>
                    <a:ext uri="{9D8B030D-6E8A-4147-A177-3AD203B41FA5}">
                      <a16:colId xmlns:a16="http://schemas.microsoft.com/office/drawing/2014/main" val="1300455052"/>
                    </a:ext>
                  </a:extLst>
                </a:gridCol>
              </a:tblGrid>
              <a:tr h="0">
                <a:tc>
                  <a:txBody>
                    <a:bodyPr/>
                    <a:lstStyle/>
                    <a:p>
                      <a:pPr algn="ctr" latinLnBrk="1"/>
                      <a:r>
                        <a:rPr lang="ko-KR" altLang="en-US" sz="1100" dirty="0"/>
                        <a:t>구 분</a:t>
                      </a:r>
                    </a:p>
                  </a:txBody>
                  <a:tcPr anchor="ctr">
                    <a:solidFill>
                      <a:schemeClr val="accent1">
                        <a:lumMod val="20000"/>
                        <a:lumOff val="80000"/>
                      </a:schemeClr>
                    </a:solidFill>
                  </a:tcPr>
                </a:tc>
                <a:tc>
                  <a:txBody>
                    <a:bodyPr/>
                    <a:lstStyle/>
                    <a:p>
                      <a:pPr algn="ctr" latinLnBrk="1"/>
                      <a:r>
                        <a:rPr lang="ko-KR" altLang="en-US" sz="1100" dirty="0"/>
                        <a:t>발명특정</a:t>
                      </a:r>
                    </a:p>
                  </a:txBody>
                  <a:tcPr anchor="ctr">
                    <a:solidFill>
                      <a:schemeClr val="accent1">
                        <a:lumMod val="20000"/>
                        <a:lumOff val="80000"/>
                      </a:schemeClr>
                    </a:solidFill>
                  </a:tcPr>
                </a:tc>
                <a:tc>
                  <a:txBody>
                    <a:bodyPr/>
                    <a:lstStyle/>
                    <a:p>
                      <a:pPr algn="ctr" latinLnBrk="1"/>
                      <a:r>
                        <a:rPr lang="ko-KR" altLang="en-US" sz="1100" dirty="0"/>
                        <a:t>비교대상특정</a:t>
                      </a:r>
                    </a:p>
                  </a:txBody>
                  <a:tcPr anchor="ctr">
                    <a:solidFill>
                      <a:schemeClr val="accent1">
                        <a:lumMod val="20000"/>
                        <a:lumOff val="80000"/>
                      </a:schemeClr>
                    </a:solidFill>
                  </a:tcPr>
                </a:tc>
                <a:tc>
                  <a:txBody>
                    <a:bodyPr/>
                    <a:lstStyle/>
                    <a:p>
                      <a:pPr algn="ctr" latinLnBrk="1"/>
                      <a:r>
                        <a:rPr lang="ko-KR" altLang="en-US" sz="1100" dirty="0"/>
                        <a:t>판단</a:t>
                      </a:r>
                    </a:p>
                  </a:txBody>
                  <a:tcPr anchor="ctr">
                    <a:solidFill>
                      <a:schemeClr val="accent1">
                        <a:lumMod val="20000"/>
                        <a:lumOff val="80000"/>
                      </a:schemeClr>
                    </a:solidFill>
                  </a:tcPr>
                </a:tc>
                <a:extLst>
                  <a:ext uri="{0D108BD9-81ED-4DB2-BD59-A6C34878D82A}">
                    <a16:rowId xmlns:a16="http://schemas.microsoft.com/office/drawing/2014/main" val="3028050556"/>
                  </a:ext>
                </a:extLst>
              </a:tr>
              <a:tr h="518812">
                <a:tc>
                  <a:txBody>
                    <a:bodyPr/>
                    <a:lstStyle/>
                    <a:p>
                      <a:pPr algn="ctr" latinLnBrk="1"/>
                      <a:r>
                        <a:rPr lang="ko-KR" altLang="en-US" sz="1100" dirty="0"/>
                        <a:t>특허요건 </a:t>
                      </a:r>
                      <a:endParaRPr lang="en-US" altLang="ko-KR" sz="1100" dirty="0"/>
                    </a:p>
                    <a:p>
                      <a:pPr algn="ctr" latinLnBrk="1"/>
                      <a:r>
                        <a:rPr lang="ko-KR" altLang="en-US" sz="1100" dirty="0"/>
                        <a:t>판단</a:t>
                      </a:r>
                      <a:endParaRPr lang="en-US" altLang="ko-KR" sz="1100" dirty="0"/>
                    </a:p>
                  </a:txBody>
                  <a:tcPr anchor="ctr"/>
                </a:tc>
                <a:tc>
                  <a:txBody>
                    <a:bodyPr/>
                    <a:lstStyle/>
                    <a:p>
                      <a:pPr algn="ctr" latinLnBrk="1"/>
                      <a:r>
                        <a:rPr lang="ko-KR" altLang="en-US" sz="1100" dirty="0"/>
                        <a:t>소거수단</a:t>
                      </a:r>
                      <a:r>
                        <a:rPr lang="ko-KR" altLang="en-US" sz="1100" baseline="0" dirty="0"/>
                        <a:t> 결합한 필기수단</a:t>
                      </a:r>
                      <a:endParaRPr lang="ko-KR" altLang="en-US" sz="11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100" dirty="0"/>
                        <a:t>지우개 결합 연필</a:t>
                      </a:r>
                    </a:p>
                  </a:txBody>
                  <a:tcPr anchor="ctr"/>
                </a:tc>
                <a:tc>
                  <a:txBody>
                    <a:bodyPr/>
                    <a:lstStyle/>
                    <a:p>
                      <a:pPr algn="ctr" latinLnBrk="1"/>
                      <a:r>
                        <a:rPr lang="ko-KR" altLang="en-US" sz="1100" dirty="0"/>
                        <a:t>발명이 상위개념이기 때문에 </a:t>
                      </a:r>
                      <a:r>
                        <a:rPr lang="ko-KR" altLang="en-US" sz="1100" dirty="0" err="1"/>
                        <a:t>신규성</a:t>
                      </a:r>
                      <a:r>
                        <a:rPr lang="ko-KR" altLang="en-US" sz="1100" dirty="0"/>
                        <a:t> 위반</a:t>
                      </a:r>
                      <a:r>
                        <a:rPr lang="en-US" altLang="ko-KR" sz="1100" dirty="0"/>
                        <a:t>*</a:t>
                      </a:r>
                      <a:endParaRPr lang="ko-KR" altLang="en-US" sz="1100" dirty="0"/>
                    </a:p>
                  </a:txBody>
                  <a:tcPr anchor="ctr"/>
                </a:tc>
                <a:extLst>
                  <a:ext uri="{0D108BD9-81ED-4DB2-BD59-A6C34878D82A}">
                    <a16:rowId xmlns:a16="http://schemas.microsoft.com/office/drawing/2014/main" val="906456176"/>
                  </a:ext>
                </a:extLst>
              </a:tr>
            </a:tbl>
          </a:graphicData>
        </a:graphic>
      </p:graphicFrame>
      <p:sp>
        <p:nvSpPr>
          <p:cNvPr id="108" name="TextBox 107">
            <a:extLst>
              <a:ext uri="{FF2B5EF4-FFF2-40B4-BE49-F238E27FC236}">
                <a16:creationId xmlns:a16="http://schemas.microsoft.com/office/drawing/2014/main" id="{CB1106B9-5AF4-4B87-8A42-29FB5DF5F541}"/>
              </a:ext>
            </a:extLst>
          </p:cNvPr>
          <p:cNvSpPr txBox="1"/>
          <p:nvPr/>
        </p:nvSpPr>
        <p:spPr>
          <a:xfrm>
            <a:off x="7771010" y="1281748"/>
            <a:ext cx="370870"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srgbClr val="FF0000"/>
                </a:solidFill>
                <a:effectLst/>
                <a:uLnTx/>
                <a:uFillTx/>
                <a:latin typeface="Frutiger LT 65 Bold"/>
                <a:ea typeface="Rix모던고딕 B"/>
                <a:cs typeface="+mn-cs"/>
              </a:rPr>
              <a:t>❶</a:t>
            </a:r>
          </a:p>
        </p:txBody>
      </p:sp>
      <p:sp>
        <p:nvSpPr>
          <p:cNvPr id="109" name="TextBox 108">
            <a:extLst>
              <a:ext uri="{FF2B5EF4-FFF2-40B4-BE49-F238E27FC236}">
                <a16:creationId xmlns:a16="http://schemas.microsoft.com/office/drawing/2014/main" id="{15A2C8D1-B19D-41FF-AD27-2BAF030710AA}"/>
              </a:ext>
            </a:extLst>
          </p:cNvPr>
          <p:cNvSpPr txBox="1"/>
          <p:nvPr/>
        </p:nvSpPr>
        <p:spPr>
          <a:xfrm>
            <a:off x="8907896" y="1263514"/>
            <a:ext cx="370870"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srgbClr val="FF0000"/>
                </a:solidFill>
                <a:effectLst/>
                <a:uLnTx/>
                <a:uFillTx/>
                <a:latin typeface="Frutiger LT 65 Bold"/>
                <a:ea typeface="Rix모던고딕 B"/>
                <a:cs typeface="+mn-cs"/>
              </a:rPr>
              <a:t>❷</a:t>
            </a:r>
          </a:p>
        </p:txBody>
      </p:sp>
      <p:sp>
        <p:nvSpPr>
          <p:cNvPr id="110" name="TextBox 109">
            <a:extLst>
              <a:ext uri="{FF2B5EF4-FFF2-40B4-BE49-F238E27FC236}">
                <a16:creationId xmlns:a16="http://schemas.microsoft.com/office/drawing/2014/main" id="{511EA065-10A4-4B0D-9A5D-3B5CAEA8DC92}"/>
              </a:ext>
            </a:extLst>
          </p:cNvPr>
          <p:cNvSpPr txBox="1"/>
          <p:nvPr/>
        </p:nvSpPr>
        <p:spPr>
          <a:xfrm>
            <a:off x="10164940" y="1280449"/>
            <a:ext cx="370870"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srgbClr val="FF0000"/>
                </a:solidFill>
                <a:effectLst/>
                <a:uLnTx/>
                <a:uFillTx/>
                <a:latin typeface="Frutiger LT 65 Bold"/>
                <a:ea typeface="Rix모던고딕 B"/>
                <a:cs typeface="+mn-cs"/>
              </a:rPr>
              <a:t>❸</a:t>
            </a:r>
          </a:p>
        </p:txBody>
      </p:sp>
      <p:sp>
        <p:nvSpPr>
          <p:cNvPr id="111" name="TextBox 110">
            <a:extLst>
              <a:ext uri="{FF2B5EF4-FFF2-40B4-BE49-F238E27FC236}">
                <a16:creationId xmlns:a16="http://schemas.microsoft.com/office/drawing/2014/main" id="{D92F2284-109A-4DA1-8C27-9D831FFD4E78}"/>
              </a:ext>
            </a:extLst>
          </p:cNvPr>
          <p:cNvSpPr txBox="1"/>
          <p:nvPr/>
        </p:nvSpPr>
        <p:spPr>
          <a:xfrm>
            <a:off x="6764906" y="5124384"/>
            <a:ext cx="370870"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srgbClr val="FF0000"/>
                </a:solidFill>
                <a:effectLst/>
                <a:uLnTx/>
                <a:uFillTx/>
                <a:latin typeface="Frutiger LT 65 Bold"/>
                <a:ea typeface="Rix모던고딕 B"/>
                <a:cs typeface="+mn-cs"/>
              </a:rPr>
              <a:t>❸</a:t>
            </a:r>
          </a:p>
        </p:txBody>
      </p:sp>
      <p:sp>
        <p:nvSpPr>
          <p:cNvPr id="112" name="TextBox 111">
            <a:extLst>
              <a:ext uri="{FF2B5EF4-FFF2-40B4-BE49-F238E27FC236}">
                <a16:creationId xmlns:a16="http://schemas.microsoft.com/office/drawing/2014/main" id="{30A5AA45-9ECC-4D75-9CFD-6FDB9102CEBA}"/>
              </a:ext>
            </a:extLst>
          </p:cNvPr>
          <p:cNvSpPr txBox="1"/>
          <p:nvPr/>
        </p:nvSpPr>
        <p:spPr>
          <a:xfrm>
            <a:off x="4827602" y="5137028"/>
            <a:ext cx="370870"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srgbClr val="FF0000"/>
                </a:solidFill>
                <a:effectLst/>
                <a:uLnTx/>
                <a:uFillTx/>
                <a:latin typeface="Frutiger LT 65 Bold"/>
                <a:ea typeface="Rix모던고딕 B"/>
                <a:cs typeface="+mn-cs"/>
              </a:rPr>
              <a:t>❷</a:t>
            </a:r>
          </a:p>
        </p:txBody>
      </p:sp>
      <p:sp>
        <p:nvSpPr>
          <p:cNvPr id="113" name="TextBox 112">
            <a:extLst>
              <a:ext uri="{FF2B5EF4-FFF2-40B4-BE49-F238E27FC236}">
                <a16:creationId xmlns:a16="http://schemas.microsoft.com/office/drawing/2014/main" id="{9A873AB8-F03B-4559-9016-79B06BA1942A}"/>
              </a:ext>
            </a:extLst>
          </p:cNvPr>
          <p:cNvSpPr txBox="1"/>
          <p:nvPr/>
        </p:nvSpPr>
        <p:spPr>
          <a:xfrm>
            <a:off x="3153283" y="5149672"/>
            <a:ext cx="370870"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2800" b="0" i="0" u="none" strike="noStrike" kern="1200" cap="none" spc="0" normalizeH="0" baseline="0" noProof="0" dirty="0">
                <a:ln>
                  <a:noFill/>
                </a:ln>
                <a:solidFill>
                  <a:srgbClr val="FF0000"/>
                </a:solidFill>
                <a:effectLst/>
                <a:uLnTx/>
                <a:uFillTx/>
                <a:latin typeface="Frutiger LT 65 Bold"/>
                <a:ea typeface="Rix모던고딕 B"/>
                <a:cs typeface="+mn-cs"/>
              </a:rPr>
              <a:t>❶</a:t>
            </a:r>
          </a:p>
        </p:txBody>
      </p:sp>
      <p:cxnSp>
        <p:nvCxnSpPr>
          <p:cNvPr id="115" name="직선 연결선 114">
            <a:extLst>
              <a:ext uri="{FF2B5EF4-FFF2-40B4-BE49-F238E27FC236}">
                <a16:creationId xmlns:a16="http://schemas.microsoft.com/office/drawing/2014/main" id="{EA7FD405-838A-4508-8135-CE05394F3F22}"/>
              </a:ext>
            </a:extLst>
          </p:cNvPr>
          <p:cNvCxnSpPr/>
          <p:nvPr/>
        </p:nvCxnSpPr>
        <p:spPr>
          <a:xfrm>
            <a:off x="0" y="3027872"/>
            <a:ext cx="12191999" cy="0"/>
          </a:xfrm>
          <a:prstGeom prst="line">
            <a:avLst/>
          </a:prstGeom>
          <a:ln w="3810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6011553"/>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45</a:t>
            </a:r>
            <a:r>
              <a:rPr lang="ko-KR" altLang="en-US" dirty="0"/>
              <a:t>조</a:t>
            </a:r>
          </a:p>
        </p:txBody>
      </p:sp>
      <p:sp>
        <p:nvSpPr>
          <p:cNvPr id="4" name="텍스트 개체 틀 3"/>
          <p:cNvSpPr>
            <a:spLocks noGrp="1"/>
          </p:cNvSpPr>
          <p:nvPr>
            <p:ph type="body" sz="quarter" idx="13"/>
          </p:nvPr>
        </p:nvSpPr>
        <p:spPr/>
        <p:txBody>
          <a:bodyPr/>
          <a:lstStyle/>
          <a:p>
            <a:r>
              <a:rPr lang="ko-KR" altLang="en-US" dirty="0"/>
              <a:t>복수의 발명을 하나의 출원으로 할 수 있는가</a:t>
            </a:r>
            <a:r>
              <a:rPr lang="en-US" altLang="ko-KR" dirty="0"/>
              <a:t>?</a:t>
            </a:r>
            <a:endParaRPr lang="ko-KR" altLang="en-US" dirty="0"/>
          </a:p>
        </p:txBody>
      </p:sp>
      <p:sp>
        <p:nvSpPr>
          <p:cNvPr id="41" name="AutoShape 3"/>
          <p:cNvSpPr>
            <a:spLocks noChangeArrowheads="1"/>
          </p:cNvSpPr>
          <p:nvPr/>
        </p:nvSpPr>
        <p:spPr bwMode="auto">
          <a:xfrm>
            <a:off x="3136895" y="1256529"/>
            <a:ext cx="2015067" cy="377002"/>
          </a:xfrm>
          <a:prstGeom prst="flowChartProcess">
            <a:avLst/>
          </a:prstGeom>
          <a:solidFill>
            <a:schemeClr val="accent1">
              <a:lumMod val="20000"/>
              <a:lumOff val="80000"/>
            </a:schemeClr>
          </a:solidFill>
          <a:ln w="9525">
            <a:solidFill>
              <a:schemeClr val="bg1">
                <a:lumMod val="50000"/>
              </a:schemeClr>
            </a:solidFill>
            <a:miter lim="800000"/>
            <a:headEnd/>
            <a:tailEnd/>
          </a:ln>
        </p:spPr>
        <p:txBody>
          <a:bodyPr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고딕 EB"/>
                <a:ea typeface="Rix모던고딕 EB"/>
                <a:cs typeface="+mn-cs"/>
              </a:rPr>
              <a:t>다수의 발명</a:t>
            </a:r>
            <a:r>
              <a:rPr kumimoji="0" lang="en-US" altLang="ko-KR" sz="1100" b="0" i="0" u="none" strike="noStrike" kern="1200" cap="none" spc="0" normalizeH="0" baseline="0" noProof="0" dirty="0">
                <a:ln>
                  <a:noFill/>
                </a:ln>
                <a:solidFill>
                  <a:prstClr val="black"/>
                </a:solidFill>
                <a:effectLst/>
                <a:uLnTx/>
                <a:uFillTx/>
                <a:latin typeface="Rix모던고딕 EB"/>
                <a:ea typeface="Rix모던고딕 EB"/>
                <a:cs typeface="+mn-cs"/>
              </a:rPr>
              <a:t>(A, B)</a:t>
            </a:r>
            <a:endParaRPr kumimoji="0" lang="ko-KR" altLang="en-US" sz="11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42" name="AutoShape 6"/>
          <p:cNvSpPr>
            <a:spLocks noChangeArrowheads="1"/>
          </p:cNvSpPr>
          <p:nvPr/>
        </p:nvSpPr>
        <p:spPr bwMode="auto">
          <a:xfrm>
            <a:off x="2923094" y="2205987"/>
            <a:ext cx="2444786" cy="699278"/>
          </a:xfrm>
          <a:prstGeom prst="flowChartDecision">
            <a:avLst/>
          </a:prstGeom>
          <a:solidFill>
            <a:schemeClr val="accent4"/>
          </a:solidFill>
          <a:ln w="9525">
            <a:solidFill>
              <a:schemeClr val="bg1">
                <a:lumMod val="50000"/>
              </a:schemeClr>
            </a:solidFill>
            <a:miter lim="800000"/>
            <a:headEnd/>
            <a:tailEnd/>
          </a:ln>
        </p:spPr>
        <p:txBody>
          <a:bodyPr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Rix모던고딕 EB"/>
                <a:ea typeface="Rix모던고딕 EB"/>
                <a:cs typeface="+mn-cs"/>
              </a:rPr>
              <a:t>1</a:t>
            </a:r>
            <a:r>
              <a:rPr kumimoji="0" lang="ko-KR" altLang="en-US" sz="1100" b="0" i="0" u="none" strike="noStrike" kern="1200" cap="none" spc="0" normalizeH="0" baseline="0" noProof="0" dirty="0">
                <a:ln>
                  <a:noFill/>
                </a:ln>
                <a:solidFill>
                  <a:prstClr val="black"/>
                </a:solidFill>
                <a:effectLst/>
                <a:uLnTx/>
                <a:uFillTx/>
                <a:latin typeface="Rix모던고딕 EB"/>
                <a:ea typeface="Rix모던고딕 EB"/>
                <a:cs typeface="+mn-cs"/>
              </a:rPr>
              <a:t>군</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Rix모던고딕 EB"/>
                <a:ea typeface="Rix모던고딕 EB"/>
                <a:cs typeface="+mn-cs"/>
              </a:rPr>
              <a:t>(</a:t>
            </a:r>
            <a:r>
              <a:rPr kumimoji="0" lang="ko-KR" altLang="en-US" sz="1100" b="0" i="0" u="none" strike="noStrike" kern="1200" cap="none" spc="0" normalizeH="0" baseline="0" noProof="0" dirty="0" err="1">
                <a:ln>
                  <a:noFill/>
                </a:ln>
                <a:solidFill>
                  <a:prstClr val="black"/>
                </a:solidFill>
                <a:effectLst/>
                <a:uLnTx/>
                <a:uFillTx/>
                <a:latin typeface="Rix모던고딕 EB"/>
                <a:ea typeface="Rix모던고딕 EB"/>
                <a:cs typeface="+mn-cs"/>
              </a:rPr>
              <a:t>독립항</a:t>
            </a:r>
            <a:r>
              <a:rPr kumimoji="0" lang="ko-KR" altLang="en-US" sz="1100" b="0" i="0" u="none" strike="noStrike" kern="1200" cap="none" spc="0" normalizeH="0" baseline="0" noProof="0" dirty="0">
                <a:ln>
                  <a:noFill/>
                </a:ln>
                <a:solidFill>
                  <a:prstClr val="black"/>
                </a:solidFill>
                <a:effectLst/>
                <a:uLnTx/>
                <a:uFillTx/>
                <a:latin typeface="Rix모던고딕 EB"/>
                <a:ea typeface="Rix모던고딕 EB"/>
                <a:cs typeface="+mn-cs"/>
              </a:rPr>
              <a:t> 기준 판단</a:t>
            </a:r>
            <a:r>
              <a:rPr kumimoji="0" lang="en-US" altLang="ko-KR" sz="1100" b="0" i="0" u="none" strike="noStrike" kern="1200" cap="none" spc="0" normalizeH="0" baseline="0" noProof="0" dirty="0">
                <a:ln>
                  <a:noFill/>
                </a:ln>
                <a:solidFill>
                  <a:prstClr val="black"/>
                </a:solidFill>
                <a:effectLst/>
                <a:uLnTx/>
                <a:uFillTx/>
                <a:latin typeface="Rix모던고딕 EB"/>
                <a:ea typeface="Rix모던고딕 EB"/>
                <a:cs typeface="+mn-cs"/>
              </a:rPr>
              <a:t>)</a:t>
            </a:r>
          </a:p>
        </p:txBody>
      </p:sp>
      <p:sp>
        <p:nvSpPr>
          <p:cNvPr id="43" name="AutoShape 3"/>
          <p:cNvSpPr>
            <a:spLocks noChangeArrowheads="1"/>
          </p:cNvSpPr>
          <p:nvPr/>
        </p:nvSpPr>
        <p:spPr bwMode="auto">
          <a:xfrm>
            <a:off x="3136895" y="3983340"/>
            <a:ext cx="2015067" cy="377002"/>
          </a:xfrm>
          <a:prstGeom prst="flowChartProcess">
            <a:avLst/>
          </a:prstGeom>
          <a:solidFill>
            <a:schemeClr val="accent1">
              <a:lumMod val="20000"/>
              <a:lumOff val="80000"/>
            </a:schemeClr>
          </a:solidFill>
          <a:ln w="9525">
            <a:solidFill>
              <a:schemeClr val="bg1">
                <a:lumMod val="50000"/>
              </a:schemeClr>
            </a:solidFill>
            <a:miter lim="800000"/>
            <a:headEnd/>
            <a:tailEnd/>
          </a:ln>
        </p:spPr>
        <p:txBody>
          <a:bodyPr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고딕 EB"/>
                <a:ea typeface="Rix모던고딕 EB"/>
                <a:cs typeface="+mn-cs"/>
              </a:rPr>
              <a:t>하나의 출원</a:t>
            </a:r>
            <a:r>
              <a:rPr kumimoji="0" lang="en-US" altLang="ko-KR" sz="1100" b="0" i="0" u="none" strike="noStrike" kern="1200" cap="none" spc="0" normalizeH="0" baseline="0" noProof="0" dirty="0">
                <a:ln>
                  <a:noFill/>
                </a:ln>
                <a:solidFill>
                  <a:prstClr val="black"/>
                </a:solidFill>
                <a:effectLst/>
                <a:uLnTx/>
                <a:uFillTx/>
                <a:latin typeface="Rix모던고딕 EB"/>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Rix모던고딕 EB"/>
                <a:ea typeface="Rix모던고딕 B"/>
                <a:cs typeface="+mn-cs"/>
              </a:rPr>
              <a:t>法 </a:t>
            </a:r>
            <a:r>
              <a:rPr kumimoji="0" lang="en-US" altLang="ko-KR" sz="1100" b="0" i="0" u="none" strike="noStrike" kern="1200" cap="none" spc="0" normalizeH="0" baseline="0" noProof="0" dirty="0">
                <a:ln>
                  <a:noFill/>
                </a:ln>
                <a:solidFill>
                  <a:prstClr val="black"/>
                </a:solidFill>
                <a:effectLst/>
                <a:uLnTx/>
                <a:uFillTx/>
                <a:latin typeface="Rix모던고딕 EB"/>
                <a:ea typeface="Rix모던고딕 B"/>
                <a:cs typeface="+mn-cs"/>
              </a:rPr>
              <a:t>45</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①</a:t>
            </a:r>
            <a:r>
              <a:rPr kumimoji="0" lang="ko-KR" altLang="en-US" sz="1100" b="0" i="0" u="none" strike="noStrike" kern="1200" cap="none" spc="0" normalizeH="0" baseline="0" noProof="0" dirty="0">
                <a:ln>
                  <a:noFill/>
                </a:ln>
                <a:solidFill>
                  <a:prstClr val="black"/>
                </a:solidFill>
                <a:effectLst/>
                <a:uLnTx/>
                <a:uFillTx/>
                <a:latin typeface="Rix모던고딕 EB"/>
                <a:ea typeface="Rix모던고딕 B"/>
                <a:cs typeface="+mn-cs"/>
              </a:rPr>
              <a:t>단서</a:t>
            </a:r>
            <a:r>
              <a:rPr kumimoji="0" lang="en-US" altLang="ko-KR" sz="1100" b="0" i="0" u="none" strike="noStrike" kern="1200" cap="none" spc="0" normalizeH="0" baseline="0" noProof="0" dirty="0">
                <a:ln>
                  <a:noFill/>
                </a:ln>
                <a:solidFill>
                  <a:prstClr val="black"/>
                </a:solidFill>
                <a:effectLst/>
                <a:uLnTx/>
                <a:uFillTx/>
                <a:latin typeface="Rix모던고딕 EB"/>
                <a:ea typeface="Rix모던고딕 B"/>
                <a:cs typeface="+mn-cs"/>
              </a:rPr>
              <a:t>)</a:t>
            </a:r>
            <a:endParaRPr kumimoji="0" lang="ko-KR" altLang="en-US" sz="11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44" name="AutoShape 3"/>
          <p:cNvSpPr>
            <a:spLocks noChangeArrowheads="1"/>
          </p:cNvSpPr>
          <p:nvPr/>
        </p:nvSpPr>
        <p:spPr bwMode="auto">
          <a:xfrm>
            <a:off x="891113" y="3983340"/>
            <a:ext cx="2015067" cy="377002"/>
          </a:xfrm>
          <a:prstGeom prst="flowChartProcess">
            <a:avLst/>
          </a:prstGeom>
          <a:solidFill>
            <a:schemeClr val="accent1">
              <a:lumMod val="20000"/>
              <a:lumOff val="80000"/>
            </a:schemeClr>
          </a:solidFill>
          <a:ln w="9525">
            <a:solidFill>
              <a:schemeClr val="bg1">
                <a:lumMod val="50000"/>
              </a:schemeClr>
            </a:solidFill>
            <a:miter lim="800000"/>
            <a:headEnd/>
            <a:tailEnd/>
          </a:ln>
        </p:spPr>
        <p:txBody>
          <a:bodyPr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Rix모던고딕 EB"/>
                <a:ea typeface="Rix모던고딕 EB"/>
                <a:cs typeface="+mn-cs"/>
              </a:rPr>
              <a:t>개별출원</a:t>
            </a:r>
            <a:r>
              <a:rPr kumimoji="0" lang="en-US" altLang="ko-KR" sz="1100" b="0" i="0" u="none" strike="noStrike" kern="1200" cap="none" spc="0" normalizeH="0" baseline="0" noProof="0" dirty="0">
                <a:ln>
                  <a:noFill/>
                </a:ln>
                <a:solidFill>
                  <a:prstClr val="black"/>
                </a:solidFill>
                <a:effectLst/>
                <a:uLnTx/>
                <a:uFillTx/>
                <a:latin typeface="Rix모던고딕 EB"/>
                <a:ea typeface="Rix모던고딕 EB"/>
                <a:cs typeface="+mn-cs"/>
              </a:rPr>
              <a:t>(</a:t>
            </a:r>
            <a:r>
              <a:rPr kumimoji="0" lang="ko-KR" altLang="en-US" sz="1100" b="0" i="0" u="none" strike="noStrike" kern="1200" cap="none" spc="0" normalizeH="0" baseline="0" noProof="0" dirty="0">
                <a:ln>
                  <a:noFill/>
                </a:ln>
                <a:solidFill>
                  <a:prstClr val="black"/>
                </a:solidFill>
                <a:effectLst/>
                <a:uLnTx/>
                <a:uFillTx/>
                <a:latin typeface="Rix모던고딕 EB"/>
                <a:ea typeface="Rix모던고딕 EB"/>
                <a:cs typeface="+mn-cs"/>
              </a:rPr>
              <a:t>法 </a:t>
            </a:r>
            <a:r>
              <a:rPr kumimoji="0" lang="en-US" altLang="ko-KR" sz="1100" b="0" i="0" u="none" strike="noStrike" kern="1200" cap="none" spc="0" normalizeH="0" baseline="0" noProof="0" dirty="0">
                <a:ln>
                  <a:noFill/>
                </a:ln>
                <a:solidFill>
                  <a:prstClr val="black"/>
                </a:solidFill>
                <a:effectLst/>
                <a:uLnTx/>
                <a:uFillTx/>
                <a:latin typeface="Rix모던고딕 EB"/>
                <a:ea typeface="Rix모던고딕 EB"/>
                <a:cs typeface="+mn-cs"/>
              </a:rPr>
              <a:t>45</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①</a:t>
            </a:r>
            <a:r>
              <a:rPr kumimoji="0" lang="ko-KR" altLang="en-US" sz="1100" b="0" i="0" u="none" strike="noStrike" kern="1200" cap="none" spc="0" normalizeH="0" baseline="0" noProof="0" dirty="0">
                <a:ln>
                  <a:noFill/>
                </a:ln>
                <a:solidFill>
                  <a:prstClr val="black"/>
                </a:solidFill>
                <a:effectLst/>
                <a:uLnTx/>
                <a:uFillTx/>
                <a:latin typeface="Rix모던고딕 EB"/>
                <a:ea typeface="Rix모던고딕 EB"/>
                <a:cs typeface="+mn-cs"/>
              </a:rPr>
              <a:t>본문</a:t>
            </a:r>
            <a:r>
              <a:rPr kumimoji="0" lang="en-US" altLang="ko-KR" sz="1100" b="0" i="0" u="none" strike="noStrike" kern="1200" cap="none" spc="0" normalizeH="0" baseline="0" noProof="0" dirty="0">
                <a:ln>
                  <a:noFill/>
                </a:ln>
                <a:solidFill>
                  <a:prstClr val="black"/>
                </a:solidFill>
                <a:effectLst/>
                <a:uLnTx/>
                <a:uFillTx/>
                <a:latin typeface="Rix모던고딕 EB"/>
                <a:ea typeface="Rix모던고딕 EB"/>
                <a:cs typeface="+mn-cs"/>
              </a:rPr>
              <a:t>)</a:t>
            </a:r>
            <a:endParaRPr kumimoji="0" lang="ko-KR" altLang="en-US" sz="11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cxnSp>
        <p:nvCxnSpPr>
          <p:cNvPr id="46" name="AutoShape 49"/>
          <p:cNvCxnSpPr>
            <a:cxnSpLocks noChangeShapeType="1"/>
            <a:stCxn id="41" idx="2"/>
            <a:endCxn id="42" idx="0"/>
          </p:cNvCxnSpPr>
          <p:nvPr/>
        </p:nvCxnSpPr>
        <p:spPr bwMode="auto">
          <a:xfrm rot="16200000" flipH="1">
            <a:off x="3858730" y="1919230"/>
            <a:ext cx="572456" cy="1058"/>
          </a:xfrm>
          <a:prstGeom prst="bentConnector3">
            <a:avLst>
              <a:gd name="adj1" fmla="val 50000"/>
            </a:avLst>
          </a:prstGeom>
          <a:noFill/>
          <a:ln w="2857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48" name="AutoShape 50"/>
          <p:cNvCxnSpPr>
            <a:cxnSpLocks noChangeShapeType="1"/>
            <a:stCxn id="42" idx="2"/>
            <a:endCxn id="43" idx="0"/>
          </p:cNvCxnSpPr>
          <p:nvPr/>
        </p:nvCxnSpPr>
        <p:spPr bwMode="auto">
          <a:xfrm rot="5400000">
            <a:off x="3605921" y="3443773"/>
            <a:ext cx="1078075" cy="1058"/>
          </a:xfrm>
          <a:prstGeom prst="bentConnector3">
            <a:avLst>
              <a:gd name="adj1" fmla="val 50000"/>
            </a:avLst>
          </a:prstGeom>
          <a:noFill/>
          <a:ln w="2857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49" name="AutoShape 51"/>
          <p:cNvCxnSpPr>
            <a:cxnSpLocks noChangeShapeType="1"/>
            <a:stCxn id="42" idx="2"/>
            <a:endCxn id="44" idx="0"/>
          </p:cNvCxnSpPr>
          <p:nvPr/>
        </p:nvCxnSpPr>
        <p:spPr bwMode="auto">
          <a:xfrm rot="5400000">
            <a:off x="2483030" y="2320882"/>
            <a:ext cx="1078075" cy="2246840"/>
          </a:xfrm>
          <a:prstGeom prst="bentConnector3">
            <a:avLst>
              <a:gd name="adj1" fmla="val 50000"/>
            </a:avLst>
          </a:prstGeom>
          <a:noFill/>
          <a:ln w="2857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53" name="AutoShape 52"/>
          <p:cNvCxnSpPr>
            <a:cxnSpLocks noChangeShapeType="1"/>
            <a:stCxn id="42" idx="1"/>
            <a:endCxn id="44" idx="1"/>
          </p:cNvCxnSpPr>
          <p:nvPr/>
        </p:nvCxnSpPr>
        <p:spPr bwMode="auto">
          <a:xfrm rot="10800000" flipV="1">
            <a:off x="891114" y="2555625"/>
            <a:ext cx="2031981" cy="1616215"/>
          </a:xfrm>
          <a:prstGeom prst="bentConnector3">
            <a:avLst>
              <a:gd name="adj1" fmla="val 111250"/>
            </a:avLst>
          </a:prstGeom>
          <a:noFill/>
          <a:ln w="28575">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sp>
        <p:nvSpPr>
          <p:cNvPr id="55" name="Text Box 53"/>
          <p:cNvSpPr txBox="1">
            <a:spLocks noChangeArrowheads="1"/>
          </p:cNvSpPr>
          <p:nvPr/>
        </p:nvSpPr>
        <p:spPr bwMode="auto">
          <a:xfrm>
            <a:off x="4269312" y="2837529"/>
            <a:ext cx="413896" cy="261610"/>
          </a:xfrm>
          <a:prstGeom prst="rect">
            <a:avLst/>
          </a:prstGeom>
          <a:noFill/>
          <a:ln w="28575" algn="ctr">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1200" b="1">
                <a:solidFill>
                  <a:schemeClr val="bg1"/>
                </a:solidFill>
                <a:latin typeface="Arial" pitchFamily="34" charset="0"/>
                <a:ea typeface="맑은 고딕" pitchFamily="50" charset="-127"/>
              </a:defRPr>
            </a:lvl1pPr>
            <a:lvl2pPr marL="742950" indent="-285750" eaLnBrk="0" hangingPunct="0">
              <a:defRPr kumimoji="1" sz="1200" b="1">
                <a:solidFill>
                  <a:schemeClr val="bg1"/>
                </a:solidFill>
                <a:latin typeface="Arial" pitchFamily="34" charset="0"/>
                <a:ea typeface="맑은 고딕" pitchFamily="50" charset="-127"/>
              </a:defRPr>
            </a:lvl2pPr>
            <a:lvl3pPr marL="1143000" indent="-228600" eaLnBrk="0" hangingPunct="0">
              <a:defRPr kumimoji="1" sz="1200" b="1">
                <a:solidFill>
                  <a:schemeClr val="bg1"/>
                </a:solidFill>
                <a:latin typeface="Arial" pitchFamily="34" charset="0"/>
                <a:ea typeface="맑은 고딕" pitchFamily="50" charset="-127"/>
              </a:defRPr>
            </a:lvl3pPr>
            <a:lvl4pPr marL="1600200" indent="-228600" eaLnBrk="0" hangingPunct="0">
              <a:defRPr kumimoji="1" sz="1200" b="1">
                <a:solidFill>
                  <a:schemeClr val="bg1"/>
                </a:solidFill>
                <a:latin typeface="Arial" pitchFamily="34" charset="0"/>
                <a:ea typeface="맑은 고딕" pitchFamily="50" charset="-127"/>
              </a:defRPr>
            </a:lvl4pPr>
            <a:lvl5pPr marL="2057400" indent="-228600" eaLnBrk="0" hangingPunct="0">
              <a:defRPr kumimoji="1" sz="1200" b="1">
                <a:solidFill>
                  <a:schemeClr val="bg1"/>
                </a:solidFill>
                <a:latin typeface="Arial" pitchFamily="34" charset="0"/>
                <a:ea typeface="맑은 고딕" pitchFamily="50" charset="-127"/>
              </a:defRPr>
            </a:lvl5pPr>
            <a:lvl6pPr marL="25146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6pPr>
            <a:lvl7pPr marL="29718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7pPr>
            <a:lvl8pPr marL="34290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8pPr>
            <a:lvl9pPr marL="38862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9p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srgbClr val="808000"/>
                </a:solidFill>
                <a:effectLst/>
                <a:uLnTx/>
                <a:uFillTx/>
                <a:latin typeface="Rix모던고딕 EB"/>
                <a:ea typeface="Rix모던고딕 EB"/>
                <a:cs typeface="+mn-cs"/>
              </a:rPr>
              <a:t>Yes</a:t>
            </a:r>
          </a:p>
        </p:txBody>
      </p:sp>
      <p:sp>
        <p:nvSpPr>
          <p:cNvPr id="56" name="Text Box 54"/>
          <p:cNvSpPr txBox="1">
            <a:spLocks noChangeArrowheads="1"/>
          </p:cNvSpPr>
          <p:nvPr/>
        </p:nvSpPr>
        <p:spPr bwMode="auto">
          <a:xfrm>
            <a:off x="2573864" y="2571859"/>
            <a:ext cx="362600" cy="261610"/>
          </a:xfrm>
          <a:prstGeom prst="rect">
            <a:avLst/>
          </a:prstGeom>
          <a:noFill/>
          <a:ln w="28575" algn="ctr">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1200" b="1">
                <a:solidFill>
                  <a:schemeClr val="bg1"/>
                </a:solidFill>
                <a:latin typeface="Arial" pitchFamily="34" charset="0"/>
                <a:ea typeface="맑은 고딕" pitchFamily="50" charset="-127"/>
              </a:defRPr>
            </a:lvl1pPr>
            <a:lvl2pPr marL="742950" indent="-285750" eaLnBrk="0" hangingPunct="0">
              <a:defRPr kumimoji="1" sz="1200" b="1">
                <a:solidFill>
                  <a:schemeClr val="bg1"/>
                </a:solidFill>
                <a:latin typeface="Arial" pitchFamily="34" charset="0"/>
                <a:ea typeface="맑은 고딕" pitchFamily="50" charset="-127"/>
              </a:defRPr>
            </a:lvl2pPr>
            <a:lvl3pPr marL="1143000" indent="-228600" eaLnBrk="0" hangingPunct="0">
              <a:defRPr kumimoji="1" sz="1200" b="1">
                <a:solidFill>
                  <a:schemeClr val="bg1"/>
                </a:solidFill>
                <a:latin typeface="Arial" pitchFamily="34" charset="0"/>
                <a:ea typeface="맑은 고딕" pitchFamily="50" charset="-127"/>
              </a:defRPr>
            </a:lvl3pPr>
            <a:lvl4pPr marL="1600200" indent="-228600" eaLnBrk="0" hangingPunct="0">
              <a:defRPr kumimoji="1" sz="1200" b="1">
                <a:solidFill>
                  <a:schemeClr val="bg1"/>
                </a:solidFill>
                <a:latin typeface="Arial" pitchFamily="34" charset="0"/>
                <a:ea typeface="맑은 고딕" pitchFamily="50" charset="-127"/>
              </a:defRPr>
            </a:lvl4pPr>
            <a:lvl5pPr marL="2057400" indent="-228600" eaLnBrk="0" hangingPunct="0">
              <a:defRPr kumimoji="1" sz="1200" b="1">
                <a:solidFill>
                  <a:schemeClr val="bg1"/>
                </a:solidFill>
                <a:latin typeface="Arial" pitchFamily="34" charset="0"/>
                <a:ea typeface="맑은 고딕" pitchFamily="50" charset="-127"/>
              </a:defRPr>
            </a:lvl5pPr>
            <a:lvl6pPr marL="25146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6pPr>
            <a:lvl7pPr marL="29718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7pPr>
            <a:lvl8pPr marL="34290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8pPr>
            <a:lvl9pPr marL="38862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9p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dirty="0">
                <a:ln>
                  <a:noFill/>
                </a:ln>
                <a:solidFill>
                  <a:srgbClr val="808000"/>
                </a:solidFill>
                <a:effectLst/>
                <a:uLnTx/>
                <a:uFillTx/>
                <a:latin typeface="Rix모던고딕 EB"/>
                <a:ea typeface="Rix모던고딕 EB"/>
                <a:cs typeface="+mn-cs"/>
              </a:rPr>
              <a:t>No</a:t>
            </a:r>
          </a:p>
        </p:txBody>
      </p:sp>
      <p:sp>
        <p:nvSpPr>
          <p:cNvPr id="57" name="Oval 55"/>
          <p:cNvSpPr>
            <a:spLocks noChangeArrowheads="1"/>
          </p:cNvSpPr>
          <p:nvPr/>
        </p:nvSpPr>
        <p:spPr bwMode="auto">
          <a:xfrm>
            <a:off x="3718979" y="3228850"/>
            <a:ext cx="863600" cy="474814"/>
          </a:xfrm>
          <a:prstGeom prst="ellipse">
            <a:avLst/>
          </a:prstGeom>
          <a:solidFill>
            <a:schemeClr val="accent5">
              <a:lumMod val="50000"/>
            </a:schemeClr>
          </a:solidFill>
          <a:ln w="28575" algn="ctr">
            <a:solidFill>
              <a:schemeClr val="bg1">
                <a:lumMod val="50000"/>
              </a:schemeClr>
            </a:solidFill>
            <a:round/>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선택과</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white"/>
                </a:solidFill>
                <a:effectLst/>
                <a:uLnTx/>
                <a:uFillTx/>
                <a:latin typeface="Rix모던고딕 EB"/>
                <a:ea typeface="Rix모던고딕 EB"/>
                <a:cs typeface="+mn-cs"/>
              </a:rPr>
              <a:t>집중</a:t>
            </a:r>
          </a:p>
        </p:txBody>
      </p:sp>
      <p:graphicFrame>
        <p:nvGraphicFramePr>
          <p:cNvPr id="78" name="표 77"/>
          <p:cNvGraphicFramePr>
            <a:graphicFrameLocks noGrp="1"/>
          </p:cNvGraphicFramePr>
          <p:nvPr/>
        </p:nvGraphicFramePr>
        <p:xfrm>
          <a:off x="643559" y="4566352"/>
          <a:ext cx="5511721" cy="1947668"/>
        </p:xfrm>
        <a:graphic>
          <a:graphicData uri="http://schemas.openxmlformats.org/drawingml/2006/table">
            <a:tbl>
              <a:tblPr>
                <a:tableStyleId>{8799B23B-EC83-4686-B30A-512413B5E67A}</a:tableStyleId>
              </a:tblPr>
              <a:tblGrid>
                <a:gridCol w="915019">
                  <a:extLst>
                    <a:ext uri="{9D8B030D-6E8A-4147-A177-3AD203B41FA5}">
                      <a16:colId xmlns:a16="http://schemas.microsoft.com/office/drawing/2014/main" val="20000"/>
                    </a:ext>
                  </a:extLst>
                </a:gridCol>
                <a:gridCol w="2461248">
                  <a:extLst>
                    <a:ext uri="{9D8B030D-6E8A-4147-A177-3AD203B41FA5}">
                      <a16:colId xmlns:a16="http://schemas.microsoft.com/office/drawing/2014/main" val="20001"/>
                    </a:ext>
                  </a:extLst>
                </a:gridCol>
                <a:gridCol w="2135454">
                  <a:extLst>
                    <a:ext uri="{9D8B030D-6E8A-4147-A177-3AD203B41FA5}">
                      <a16:colId xmlns:a16="http://schemas.microsoft.com/office/drawing/2014/main" val="20002"/>
                    </a:ext>
                  </a:extLst>
                </a:gridCol>
              </a:tblGrid>
              <a:tr h="280585">
                <a:tc>
                  <a:txBody>
                    <a:bodyPr/>
                    <a:lstStyle/>
                    <a:p>
                      <a:pPr marL="0" marR="0" indent="0" algn="ctr" fontAlgn="base" latinLnBrk="0">
                        <a:lnSpc>
                          <a:spcPct val="130000"/>
                        </a:lnSpc>
                        <a:spcBef>
                          <a:spcPts val="0"/>
                        </a:spcBef>
                        <a:spcAft>
                          <a:spcPts val="0"/>
                        </a:spcAft>
                      </a:pPr>
                      <a:r>
                        <a:rPr lang="ko-KR" altLang="en-US" sz="1100" kern="1200" dirty="0">
                          <a:solidFill>
                            <a:schemeClr val="tx1"/>
                          </a:solidFill>
                          <a:latin typeface="+mn-lt"/>
                          <a:ea typeface="+mn-ea"/>
                          <a:cs typeface="+mn-cs"/>
                        </a:rPr>
                        <a:t>구 분</a:t>
                      </a:r>
                    </a:p>
                  </a:txBody>
                  <a:tcPr marL="72000" marR="72000" marT="18000"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100" kern="1200" dirty="0">
                          <a:solidFill>
                            <a:schemeClr val="tx1"/>
                          </a:solidFill>
                          <a:latin typeface="+mn-lt"/>
                          <a:ea typeface="+mn-ea"/>
                          <a:cs typeface="+mn-cs"/>
                        </a:rPr>
                        <a:t>단일성</a:t>
                      </a:r>
                      <a:r>
                        <a:rPr lang="en-US" altLang="ko-KR" sz="1100" kern="1200" dirty="0">
                          <a:solidFill>
                            <a:schemeClr val="tx1"/>
                          </a:solidFill>
                          <a:latin typeface="+mn-lt"/>
                          <a:ea typeface="+mn-ea"/>
                          <a:cs typeface="+mn-cs"/>
                        </a:rPr>
                        <a:t>(1</a:t>
                      </a:r>
                      <a:r>
                        <a:rPr lang="ko-KR" altLang="en-US" sz="1100" kern="1200" dirty="0">
                          <a:solidFill>
                            <a:schemeClr val="tx1"/>
                          </a:solidFill>
                          <a:latin typeface="+mn-lt"/>
                          <a:ea typeface="+mn-ea"/>
                          <a:cs typeface="+mn-cs"/>
                        </a:rPr>
                        <a:t>군 발명</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을 만족하는 경우</a:t>
                      </a:r>
                    </a:p>
                  </a:txBody>
                  <a:tcPr marL="72000" marR="72000" marT="18000"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100" kern="1200" dirty="0">
                          <a:solidFill>
                            <a:schemeClr val="tx1"/>
                          </a:solidFill>
                          <a:latin typeface="+mn-lt"/>
                          <a:ea typeface="+mn-ea"/>
                          <a:cs typeface="+mn-cs"/>
                        </a:rPr>
                        <a:t>단일성을 만족하지 아니한 경우</a:t>
                      </a:r>
                    </a:p>
                  </a:txBody>
                  <a:tcPr marL="72000" marR="72000" marT="18000" marB="17907" anchor="ctr">
                    <a:solidFill>
                      <a:schemeClr val="accent1">
                        <a:lumMod val="20000"/>
                        <a:lumOff val="80000"/>
                      </a:schemeClr>
                    </a:solidFill>
                  </a:tcPr>
                </a:tc>
                <a:extLst>
                  <a:ext uri="{0D108BD9-81ED-4DB2-BD59-A6C34878D82A}">
                    <a16:rowId xmlns:a16="http://schemas.microsoft.com/office/drawing/2014/main" val="10000"/>
                  </a:ext>
                </a:extLst>
              </a:tr>
              <a:tr h="280585">
                <a:tc>
                  <a:txBody>
                    <a:bodyPr/>
                    <a:lstStyle/>
                    <a:p>
                      <a:pPr marL="0" marR="0" indent="0" algn="ctr" fontAlgn="base" latinLnBrk="0">
                        <a:lnSpc>
                          <a:spcPct val="130000"/>
                        </a:lnSpc>
                        <a:spcBef>
                          <a:spcPts val="0"/>
                        </a:spcBef>
                        <a:spcAft>
                          <a:spcPts val="0"/>
                        </a:spcAft>
                      </a:pPr>
                      <a:r>
                        <a:rPr lang="ko-KR" altLang="en-US" sz="1100" kern="1200">
                          <a:solidFill>
                            <a:schemeClr val="tx1"/>
                          </a:solidFill>
                          <a:latin typeface="+mn-lt"/>
                          <a:ea typeface="+mn-ea"/>
                          <a:cs typeface="+mn-cs"/>
                        </a:rPr>
                        <a:t>개별 특허출원</a:t>
                      </a:r>
                    </a:p>
                  </a:txBody>
                  <a:tcPr marL="72000" marR="72000" marT="18000" marB="17907" anchor="ctr"/>
                </a:tc>
                <a:tc>
                  <a:txBody>
                    <a:bodyPr/>
                    <a:lstStyle/>
                    <a:p>
                      <a:pPr marL="17780" marR="17780" indent="0" algn="ctr" fontAlgn="base" latinLnBrk="0">
                        <a:lnSpc>
                          <a:spcPct val="130000"/>
                        </a:lnSpc>
                        <a:spcBef>
                          <a:spcPts val="0"/>
                        </a:spcBef>
                        <a:spcAft>
                          <a:spcPts val="0"/>
                        </a:spcAft>
                      </a:pPr>
                      <a:r>
                        <a:rPr lang="ko-KR" altLang="en-US" sz="1100" kern="1200" dirty="0">
                          <a:solidFill>
                            <a:schemeClr val="tx1"/>
                          </a:solidFill>
                          <a:latin typeface="+mn-lt"/>
                          <a:ea typeface="+mn-ea"/>
                          <a:cs typeface="+mn-cs"/>
                        </a:rPr>
                        <a:t>가능</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法 </a:t>
                      </a:r>
                      <a:r>
                        <a:rPr lang="en-US" altLang="ko-KR" sz="1100" kern="1200" dirty="0">
                          <a:solidFill>
                            <a:schemeClr val="tx1"/>
                          </a:solidFill>
                          <a:latin typeface="+mn-lt"/>
                          <a:ea typeface="+mn-ea"/>
                          <a:cs typeface="+mn-cs"/>
                        </a:rPr>
                        <a:t>45</a:t>
                      </a:r>
                      <a:r>
                        <a:rPr lang="ko-KR" altLang="en-US" sz="1100" kern="1200" dirty="0">
                          <a:solidFill>
                            <a:schemeClr val="tx1"/>
                          </a:solidFill>
                          <a:latin typeface="+mn-lt"/>
                          <a:ea typeface="+mn-ea"/>
                          <a:cs typeface="+mn-cs"/>
                        </a:rPr>
                        <a:t>①본문</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72000" marR="72000" marT="18000" marB="17907" anchor="ctr"/>
                </a:tc>
                <a:tc>
                  <a:txBody>
                    <a:bodyPr/>
                    <a:lstStyle/>
                    <a:p>
                      <a:pPr marL="17780" marR="17780" indent="0" algn="ctr" fontAlgn="base" latinLnBrk="0">
                        <a:lnSpc>
                          <a:spcPct val="130000"/>
                        </a:lnSpc>
                        <a:spcBef>
                          <a:spcPts val="0"/>
                        </a:spcBef>
                        <a:spcAft>
                          <a:spcPts val="0"/>
                        </a:spcAft>
                      </a:pPr>
                      <a:r>
                        <a:rPr lang="ko-KR" altLang="en-US" sz="1100" kern="1200">
                          <a:solidFill>
                            <a:schemeClr val="tx1"/>
                          </a:solidFill>
                          <a:latin typeface="+mn-lt"/>
                          <a:ea typeface="+mn-ea"/>
                          <a:cs typeface="+mn-cs"/>
                        </a:rPr>
                        <a:t>가능</a:t>
                      </a:r>
                      <a:r>
                        <a:rPr lang="en-US" altLang="ko-KR" sz="1100" kern="1200">
                          <a:solidFill>
                            <a:schemeClr val="tx1"/>
                          </a:solidFill>
                          <a:latin typeface="+mn-lt"/>
                          <a:ea typeface="+mn-ea"/>
                          <a:cs typeface="+mn-cs"/>
                        </a:rPr>
                        <a:t>(</a:t>
                      </a:r>
                      <a:r>
                        <a:rPr lang="ko-KR" altLang="en-US" sz="1100" kern="1200">
                          <a:solidFill>
                            <a:schemeClr val="tx1"/>
                          </a:solidFill>
                          <a:latin typeface="+mn-lt"/>
                          <a:ea typeface="+mn-ea"/>
                          <a:cs typeface="+mn-cs"/>
                        </a:rPr>
                        <a:t>法 </a:t>
                      </a:r>
                      <a:r>
                        <a:rPr lang="en-US" altLang="ko-KR" sz="1100" kern="1200">
                          <a:solidFill>
                            <a:schemeClr val="tx1"/>
                          </a:solidFill>
                          <a:latin typeface="+mn-lt"/>
                          <a:ea typeface="+mn-ea"/>
                          <a:cs typeface="+mn-cs"/>
                        </a:rPr>
                        <a:t>45</a:t>
                      </a:r>
                      <a:r>
                        <a:rPr lang="ko-KR" altLang="en-US" sz="1100" kern="1200">
                          <a:solidFill>
                            <a:schemeClr val="tx1"/>
                          </a:solidFill>
                          <a:latin typeface="+mn-lt"/>
                          <a:ea typeface="+mn-ea"/>
                          <a:cs typeface="+mn-cs"/>
                        </a:rPr>
                        <a:t>①본문</a:t>
                      </a:r>
                      <a:r>
                        <a:rPr lang="en-US" altLang="ko-KR" sz="1100" kern="1200">
                          <a:solidFill>
                            <a:schemeClr val="tx1"/>
                          </a:solidFill>
                          <a:latin typeface="+mn-lt"/>
                          <a:ea typeface="+mn-ea"/>
                          <a:cs typeface="+mn-cs"/>
                        </a:rPr>
                        <a:t>)</a:t>
                      </a:r>
                      <a:endParaRPr lang="ko-KR" altLang="en-US" sz="1100" kern="1200">
                        <a:solidFill>
                          <a:schemeClr val="tx1"/>
                        </a:solidFill>
                        <a:latin typeface="+mn-lt"/>
                        <a:ea typeface="+mn-ea"/>
                        <a:cs typeface="+mn-cs"/>
                      </a:endParaRPr>
                    </a:p>
                  </a:txBody>
                  <a:tcPr marL="72000" marR="72000" marT="18000" marB="17907" anchor="ctr"/>
                </a:tc>
                <a:extLst>
                  <a:ext uri="{0D108BD9-81ED-4DB2-BD59-A6C34878D82A}">
                    <a16:rowId xmlns:a16="http://schemas.microsoft.com/office/drawing/2014/main" val="10001"/>
                  </a:ext>
                </a:extLst>
              </a:tr>
              <a:tr h="539645">
                <a:tc>
                  <a:txBody>
                    <a:bodyPr/>
                    <a:lstStyle/>
                    <a:p>
                      <a:pPr marL="0" marR="0" indent="0" algn="ctr" fontAlgn="base" latinLnBrk="0">
                        <a:lnSpc>
                          <a:spcPct val="130000"/>
                        </a:lnSpc>
                        <a:spcBef>
                          <a:spcPts val="0"/>
                        </a:spcBef>
                        <a:spcAft>
                          <a:spcPts val="0"/>
                        </a:spcAft>
                      </a:pPr>
                      <a:r>
                        <a:rPr lang="ko-KR" altLang="en-US" sz="1100" kern="1200">
                          <a:solidFill>
                            <a:schemeClr val="tx1"/>
                          </a:solidFill>
                          <a:latin typeface="+mn-lt"/>
                          <a:ea typeface="+mn-ea"/>
                          <a:cs typeface="+mn-cs"/>
                        </a:rPr>
                        <a:t>하나의 특허출원</a:t>
                      </a:r>
                    </a:p>
                  </a:txBody>
                  <a:tcPr marL="72000" marR="72000" marT="18000" marB="17907" anchor="ctr"/>
                </a:tc>
                <a:tc>
                  <a:txBody>
                    <a:bodyPr/>
                    <a:lstStyle/>
                    <a:p>
                      <a:pPr marL="17780" marR="17780" indent="0" algn="ctr" fontAlgn="base" latinLnBrk="0">
                        <a:lnSpc>
                          <a:spcPct val="130000"/>
                        </a:lnSpc>
                        <a:spcBef>
                          <a:spcPts val="0"/>
                        </a:spcBef>
                        <a:spcAft>
                          <a:spcPts val="0"/>
                        </a:spcAft>
                      </a:pPr>
                      <a:r>
                        <a:rPr lang="ko-KR" altLang="en-US" sz="1100" kern="1200" dirty="0">
                          <a:solidFill>
                            <a:schemeClr val="tx1"/>
                          </a:solidFill>
                          <a:latin typeface="+mn-lt"/>
                          <a:ea typeface="+mn-ea"/>
                          <a:cs typeface="+mn-cs"/>
                        </a:rPr>
                        <a:t>가능</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法 </a:t>
                      </a:r>
                      <a:r>
                        <a:rPr lang="en-US" altLang="ko-KR" sz="1100" kern="1200" dirty="0">
                          <a:solidFill>
                            <a:schemeClr val="tx1"/>
                          </a:solidFill>
                          <a:latin typeface="+mn-lt"/>
                          <a:ea typeface="+mn-ea"/>
                          <a:cs typeface="+mn-cs"/>
                        </a:rPr>
                        <a:t>45</a:t>
                      </a:r>
                      <a:r>
                        <a:rPr lang="ko-KR" altLang="en-US" sz="1100" kern="1200" dirty="0">
                          <a:solidFill>
                            <a:schemeClr val="tx1"/>
                          </a:solidFill>
                          <a:latin typeface="+mn-lt"/>
                          <a:ea typeface="+mn-ea"/>
                          <a:cs typeface="+mn-cs"/>
                        </a:rPr>
                        <a:t>①단서</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72000" marR="72000" marT="18000" marB="17907" anchor="ctr"/>
                </a:tc>
                <a:tc>
                  <a:txBody>
                    <a:bodyPr/>
                    <a:lstStyle/>
                    <a:p>
                      <a:pPr marL="17780" marR="17780" indent="0" algn="ctr" fontAlgn="base" latinLnBrk="0">
                        <a:lnSpc>
                          <a:spcPct val="130000"/>
                        </a:lnSpc>
                        <a:spcBef>
                          <a:spcPts val="0"/>
                        </a:spcBef>
                        <a:spcAft>
                          <a:spcPts val="0"/>
                        </a:spcAft>
                      </a:pPr>
                      <a:r>
                        <a:rPr lang="ko-KR" altLang="en-US" sz="1100" kern="1200" dirty="0">
                          <a:solidFill>
                            <a:schemeClr val="tx1"/>
                          </a:solidFill>
                          <a:latin typeface="+mn-lt"/>
                          <a:ea typeface="+mn-ea"/>
                          <a:cs typeface="+mn-cs"/>
                        </a:rPr>
                        <a:t>불가능</a:t>
                      </a:r>
                    </a:p>
                  </a:txBody>
                  <a:tcPr marL="72000" marR="72000" marT="18000" marB="17907" anchor="ctr"/>
                </a:tc>
                <a:extLst>
                  <a:ext uri="{0D108BD9-81ED-4DB2-BD59-A6C34878D82A}">
                    <a16:rowId xmlns:a16="http://schemas.microsoft.com/office/drawing/2014/main" val="10002"/>
                  </a:ext>
                </a:extLst>
              </a:tr>
              <a:tr h="538892">
                <a:tc>
                  <a:txBody>
                    <a:bodyPr/>
                    <a:lstStyle/>
                    <a:p>
                      <a:pPr marL="0" marR="0" indent="0" algn="ctr" fontAlgn="base" latinLnBrk="0">
                        <a:lnSpc>
                          <a:spcPct val="130000"/>
                        </a:lnSpc>
                        <a:spcBef>
                          <a:spcPts val="0"/>
                        </a:spcBef>
                        <a:spcAft>
                          <a:spcPts val="0"/>
                        </a:spcAft>
                      </a:pPr>
                      <a:r>
                        <a:rPr lang="ko-KR" altLang="en-US" sz="1100" kern="1200">
                          <a:solidFill>
                            <a:schemeClr val="tx1"/>
                          </a:solidFill>
                          <a:latin typeface="+mn-lt"/>
                          <a:ea typeface="+mn-ea"/>
                          <a:cs typeface="+mn-cs"/>
                        </a:rPr>
                        <a:t>비 고</a:t>
                      </a:r>
                    </a:p>
                  </a:txBody>
                  <a:tcPr marL="72000" marR="72000" marT="18000" marB="17907" anchor="ctr"/>
                </a:tc>
                <a:tc gridSpan="2">
                  <a:txBody>
                    <a:bodyPr/>
                    <a:lstStyle/>
                    <a:p>
                      <a:pPr marL="17780" marR="17780" indent="0" algn="just" fontAlgn="base" latinLnBrk="1">
                        <a:lnSpc>
                          <a:spcPct val="130000"/>
                        </a:lnSpc>
                        <a:spcBef>
                          <a:spcPts val="0"/>
                        </a:spcBef>
                        <a:spcAft>
                          <a:spcPts val="0"/>
                        </a:spcAft>
                      </a:pPr>
                      <a:r>
                        <a:rPr lang="ko-KR" altLang="en-US" sz="1100" kern="1200" dirty="0">
                          <a:solidFill>
                            <a:schemeClr val="tx1"/>
                          </a:solidFill>
                          <a:latin typeface="+mn-lt"/>
                          <a:ea typeface="+mn-ea"/>
                          <a:cs typeface="+mn-cs"/>
                        </a:rPr>
                        <a:t>단일성을 만족하는 발명에 대해서는 비용</a:t>
                      </a:r>
                      <a:r>
                        <a:rPr lang="en-US" altLang="ko-KR" sz="1100" kern="1200" dirty="0">
                          <a:solidFill>
                            <a:schemeClr val="tx1"/>
                          </a:solidFill>
                          <a:latin typeface="+mn-lt"/>
                          <a:ea typeface="+mn-ea"/>
                          <a:cs typeface="+mn-cs"/>
                        </a:rPr>
                        <a:t>, </a:t>
                      </a:r>
                      <a:r>
                        <a:rPr lang="ko-KR" altLang="en-US" sz="1100" kern="1200" dirty="0">
                          <a:solidFill>
                            <a:schemeClr val="tx1"/>
                          </a:solidFill>
                          <a:latin typeface="+mn-lt"/>
                          <a:ea typeface="+mn-ea"/>
                          <a:cs typeface="+mn-cs"/>
                        </a:rPr>
                        <a:t>등록가능성 및 권리행사 측면을 고려하여 개별 </a:t>
                      </a:r>
                      <a:r>
                        <a:rPr lang="ko-KR" altLang="en-US" sz="1100" kern="1200" dirty="0" err="1">
                          <a:solidFill>
                            <a:schemeClr val="tx1"/>
                          </a:solidFill>
                          <a:latin typeface="+mn-lt"/>
                          <a:ea typeface="+mn-ea"/>
                          <a:cs typeface="+mn-cs"/>
                        </a:rPr>
                        <a:t>특허출원할</a:t>
                      </a:r>
                      <a:r>
                        <a:rPr lang="ko-KR" altLang="en-US" sz="1100" kern="1200" dirty="0">
                          <a:solidFill>
                            <a:schemeClr val="tx1"/>
                          </a:solidFill>
                          <a:latin typeface="+mn-lt"/>
                          <a:ea typeface="+mn-ea"/>
                          <a:cs typeface="+mn-cs"/>
                        </a:rPr>
                        <a:t> 것인지 아니면 하나의 특허출원을 할 것인지 선택하여야 한다</a:t>
                      </a:r>
                      <a:r>
                        <a:rPr lang="en-US" altLang="ko-KR" sz="1100" kern="1200" dirty="0">
                          <a:solidFill>
                            <a:schemeClr val="tx1"/>
                          </a:solidFill>
                          <a:latin typeface="+mn-lt"/>
                          <a:ea typeface="+mn-ea"/>
                          <a:cs typeface="+mn-cs"/>
                        </a:rPr>
                        <a:t>. </a:t>
                      </a:r>
                      <a:endParaRPr lang="ko-KR" altLang="en-US" sz="1100" kern="1200" dirty="0">
                        <a:solidFill>
                          <a:schemeClr val="tx1"/>
                        </a:solidFill>
                        <a:latin typeface="+mn-lt"/>
                        <a:ea typeface="+mn-ea"/>
                        <a:cs typeface="+mn-cs"/>
                      </a:endParaRPr>
                    </a:p>
                  </a:txBody>
                  <a:tcPr marL="72000" marR="72000" marT="18000" marB="17907" anchor="ctr"/>
                </a:tc>
                <a:tc hMerge="1">
                  <a:txBody>
                    <a:bodyPr/>
                    <a:lstStyle/>
                    <a:p>
                      <a:pPr latinLnBrk="1"/>
                      <a:endParaRPr lang="ko-KR" altLang="en-US"/>
                    </a:p>
                  </a:txBody>
                  <a:tcPr/>
                </a:tc>
                <a:extLst>
                  <a:ext uri="{0D108BD9-81ED-4DB2-BD59-A6C34878D82A}">
                    <a16:rowId xmlns:a16="http://schemas.microsoft.com/office/drawing/2014/main" val="10003"/>
                  </a:ext>
                </a:extLst>
              </a:tr>
            </a:tbl>
          </a:graphicData>
        </a:graphic>
      </p:graphicFrame>
      <p:sp>
        <p:nvSpPr>
          <p:cNvPr id="79" name="모서리가 둥근 사각형 설명선 78"/>
          <p:cNvSpPr/>
          <p:nvPr/>
        </p:nvSpPr>
        <p:spPr>
          <a:xfrm>
            <a:off x="146045" y="1621501"/>
            <a:ext cx="3693263" cy="638473"/>
          </a:xfrm>
          <a:prstGeom prst="wedgeRoundRectCallout">
            <a:avLst>
              <a:gd name="adj1" fmla="val 51912"/>
              <a:gd name="adj2" fmla="val 77433"/>
              <a:gd name="adj3" fmla="val 16667"/>
            </a:avLst>
          </a:prstGeom>
          <a:noFill/>
          <a:ln w="3175">
            <a:solidFill>
              <a:schemeClr val="bg1">
                <a:lumMod val="50000"/>
              </a:schemeClr>
            </a:solidFill>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05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 발명간에 기술적 상호관련성이 있을 것</a:t>
            </a:r>
          </a:p>
          <a:p>
            <a:pPr marL="142875" marR="0" lvl="0" indent="-142875" algn="l" defTabSz="914400" rtl="0" eaLnBrk="1" fontAlgn="base" latinLnBrk="1" hangingPunct="1">
              <a:lnSpc>
                <a:spcPct val="100000"/>
              </a:lnSpc>
              <a:spcBef>
                <a:spcPts val="0"/>
              </a:spcBef>
              <a:spcAft>
                <a:spcPts val="0"/>
              </a:spcAft>
              <a:buClrTx/>
              <a:buSzTx/>
              <a:buFontTx/>
              <a:buNone/>
              <a:tabLst/>
              <a:defRPr/>
            </a:pPr>
            <a:r>
              <a:rPr kumimoji="0" lang="en-US" altLang="ko-KR" sz="105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050" b="0" i="0" u="none" strike="noStrike" kern="1200" cap="none" spc="0" normalizeH="0" baseline="0" noProof="0" dirty="0">
                <a:ln>
                  <a:noFill/>
                </a:ln>
                <a:solidFill>
                  <a:prstClr val="black"/>
                </a:solidFill>
                <a:effectLst/>
                <a:uLnTx/>
                <a:uFillTx/>
                <a:latin typeface="Frutiger LT 65 Bold"/>
                <a:ea typeface="Rix모던고딕 B"/>
                <a:cs typeface="+mn-cs"/>
              </a:rPr>
              <a:t>발명 전체로 보아 선행기술과 비교하여 개선된 기술적 특징이 동일하거나 상응할 것</a:t>
            </a:r>
          </a:p>
        </p:txBody>
      </p:sp>
      <p:cxnSp>
        <p:nvCxnSpPr>
          <p:cNvPr id="80" name="직선 연결선 79"/>
          <p:cNvCxnSpPr/>
          <p:nvPr/>
        </p:nvCxnSpPr>
        <p:spPr>
          <a:xfrm flipV="1">
            <a:off x="6688670" y="1242426"/>
            <a:ext cx="0" cy="532553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2" name="그룹 81"/>
          <p:cNvGrpSpPr/>
          <p:nvPr/>
        </p:nvGrpSpPr>
        <p:grpSpPr>
          <a:xfrm>
            <a:off x="7070104" y="1822361"/>
            <a:ext cx="1252636" cy="4153084"/>
            <a:chOff x="6900764" y="1822361"/>
            <a:chExt cx="1252636" cy="4153084"/>
          </a:xfrm>
        </p:grpSpPr>
        <p:sp>
          <p:nvSpPr>
            <p:cNvPr id="83" name="자유형 82"/>
            <p:cNvSpPr/>
            <p:nvPr/>
          </p:nvSpPr>
          <p:spPr>
            <a:xfrm>
              <a:off x="6900764" y="1822361"/>
              <a:ext cx="1252636" cy="755106"/>
            </a:xfrm>
            <a:custGeom>
              <a:avLst/>
              <a:gdLst>
                <a:gd name="connsiteX0" fmla="*/ 0 w 1252636"/>
                <a:gd name="connsiteY0" fmla="*/ 75511 h 755106"/>
                <a:gd name="connsiteX1" fmla="*/ 75511 w 1252636"/>
                <a:gd name="connsiteY1" fmla="*/ 0 h 755106"/>
                <a:gd name="connsiteX2" fmla="*/ 1177125 w 1252636"/>
                <a:gd name="connsiteY2" fmla="*/ 0 h 755106"/>
                <a:gd name="connsiteX3" fmla="*/ 1252636 w 1252636"/>
                <a:gd name="connsiteY3" fmla="*/ 75511 h 755106"/>
                <a:gd name="connsiteX4" fmla="*/ 1252636 w 1252636"/>
                <a:gd name="connsiteY4" fmla="*/ 679595 h 755106"/>
                <a:gd name="connsiteX5" fmla="*/ 1177125 w 1252636"/>
                <a:gd name="connsiteY5" fmla="*/ 755106 h 755106"/>
                <a:gd name="connsiteX6" fmla="*/ 75511 w 1252636"/>
                <a:gd name="connsiteY6" fmla="*/ 755106 h 755106"/>
                <a:gd name="connsiteX7" fmla="*/ 0 w 1252636"/>
                <a:gd name="connsiteY7" fmla="*/ 679595 h 755106"/>
                <a:gd name="connsiteX8" fmla="*/ 0 w 1252636"/>
                <a:gd name="connsiteY8" fmla="*/ 75511 h 755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2636" h="755106">
                  <a:moveTo>
                    <a:pt x="0" y="75511"/>
                  </a:moveTo>
                  <a:cubicBezTo>
                    <a:pt x="0" y="33807"/>
                    <a:pt x="33807" y="0"/>
                    <a:pt x="75511" y="0"/>
                  </a:cubicBezTo>
                  <a:lnTo>
                    <a:pt x="1177125" y="0"/>
                  </a:lnTo>
                  <a:cubicBezTo>
                    <a:pt x="1218829" y="0"/>
                    <a:pt x="1252636" y="33807"/>
                    <a:pt x="1252636" y="75511"/>
                  </a:cubicBezTo>
                  <a:lnTo>
                    <a:pt x="1252636" y="679595"/>
                  </a:lnTo>
                  <a:cubicBezTo>
                    <a:pt x="1252636" y="721299"/>
                    <a:pt x="1218829" y="755106"/>
                    <a:pt x="1177125" y="755106"/>
                  </a:cubicBezTo>
                  <a:lnTo>
                    <a:pt x="75511" y="755106"/>
                  </a:lnTo>
                  <a:cubicBezTo>
                    <a:pt x="33807" y="755106"/>
                    <a:pt x="0" y="721299"/>
                    <a:pt x="0" y="679595"/>
                  </a:cubicBezTo>
                  <a:lnTo>
                    <a:pt x="0" y="75511"/>
                  </a:lnTo>
                  <a:close/>
                </a:path>
              </a:pathLst>
            </a:custGeom>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75456" tIns="75456" rIns="75456" bIns="75456" numCol="1" spcCol="1270" anchor="ctr" anchorCtr="0">
              <a:noAutofit/>
            </a:bodyPr>
            <a:lstStyle/>
            <a:p>
              <a:pPr marL="0" marR="0" lvl="0" indent="0" algn="ctr" defTabSz="622300" rtl="0" eaLnBrk="1" fontAlgn="auto" latinLnBrk="1" hangingPunct="1">
                <a:lnSpc>
                  <a:spcPct val="100000"/>
                </a:lnSpc>
                <a:spcBef>
                  <a:spcPct val="0"/>
                </a:spcBef>
                <a:spcAft>
                  <a:spcPts val="0"/>
                </a:spcAft>
                <a:buClrTx/>
                <a:buSzTx/>
                <a:buFontTx/>
                <a:buNone/>
                <a:tabLst/>
                <a:defRPr/>
              </a:pPr>
              <a:r>
                <a:rPr kumimoji="0" lang="ko-KR" altLang="en-US" sz="1400" b="0" i="0" u="none" strike="noStrike" kern="1200" cap="none" spc="0" normalizeH="0" baseline="0" noProof="0" dirty="0" err="1">
                  <a:ln>
                    <a:noFill/>
                  </a:ln>
                  <a:solidFill>
                    <a:prstClr val="white"/>
                  </a:solidFill>
                  <a:effectLst/>
                  <a:uLnTx/>
                  <a:uFillTx/>
                  <a:latin typeface="Frutiger LT 65 Bold"/>
                  <a:ea typeface="Rix모던고딕 B"/>
                  <a:cs typeface="+mn-cs"/>
                </a:rPr>
                <a:t>독립항</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 추출</a:t>
              </a:r>
            </a:p>
          </p:txBody>
        </p:sp>
        <p:sp>
          <p:nvSpPr>
            <p:cNvPr id="84" name="자유형 83"/>
            <p:cNvSpPr/>
            <p:nvPr/>
          </p:nvSpPr>
          <p:spPr>
            <a:xfrm>
              <a:off x="7357182" y="2624661"/>
              <a:ext cx="339798" cy="283165"/>
            </a:xfrm>
            <a:custGeom>
              <a:avLst/>
              <a:gdLst>
                <a:gd name="connsiteX0" fmla="*/ 0 w 283164"/>
                <a:gd name="connsiteY0" fmla="*/ 67959 h 339797"/>
                <a:gd name="connsiteX1" fmla="*/ 141582 w 283164"/>
                <a:gd name="connsiteY1" fmla="*/ 67959 h 339797"/>
                <a:gd name="connsiteX2" fmla="*/ 141582 w 283164"/>
                <a:gd name="connsiteY2" fmla="*/ 0 h 339797"/>
                <a:gd name="connsiteX3" fmla="*/ 283164 w 283164"/>
                <a:gd name="connsiteY3" fmla="*/ 169899 h 339797"/>
                <a:gd name="connsiteX4" fmla="*/ 141582 w 283164"/>
                <a:gd name="connsiteY4" fmla="*/ 339797 h 339797"/>
                <a:gd name="connsiteX5" fmla="*/ 141582 w 283164"/>
                <a:gd name="connsiteY5" fmla="*/ 271838 h 339797"/>
                <a:gd name="connsiteX6" fmla="*/ 0 w 283164"/>
                <a:gd name="connsiteY6" fmla="*/ 271838 h 339797"/>
                <a:gd name="connsiteX7" fmla="*/ 0 w 283164"/>
                <a:gd name="connsiteY7" fmla="*/ 67959 h 339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3164" h="339797">
                  <a:moveTo>
                    <a:pt x="226531" y="1"/>
                  </a:moveTo>
                  <a:lnTo>
                    <a:pt x="226531" y="169899"/>
                  </a:lnTo>
                  <a:lnTo>
                    <a:pt x="283164" y="169899"/>
                  </a:lnTo>
                  <a:lnTo>
                    <a:pt x="141582" y="339796"/>
                  </a:lnTo>
                  <a:lnTo>
                    <a:pt x="0" y="169899"/>
                  </a:lnTo>
                  <a:lnTo>
                    <a:pt x="56633" y="169899"/>
                  </a:lnTo>
                  <a:lnTo>
                    <a:pt x="56633" y="1"/>
                  </a:lnTo>
                  <a:lnTo>
                    <a:pt x="226531" y="1"/>
                  </a:lnTo>
                  <a:close/>
                </a:path>
              </a:pathLst>
            </a:custGeom>
          </p:spPr>
          <p:style>
            <a:lnRef idx="0">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67960" tIns="1" rIns="67959" bIns="84949" numCol="1" spcCol="1270" anchor="ctr" anchorCtr="0">
              <a:noAutofit/>
            </a:bodyPr>
            <a:lstStyle/>
            <a:p>
              <a:pPr marL="0" marR="0" lvl="0" indent="0" algn="ctr" defTabSz="488950" rtl="0" eaLnBrk="1" fontAlgn="auto" latinLnBrk="1" hangingPunct="1">
                <a:lnSpc>
                  <a:spcPct val="100000"/>
                </a:lnSpc>
                <a:spcBef>
                  <a:spcPct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5" name="자유형 84"/>
            <p:cNvSpPr/>
            <p:nvPr/>
          </p:nvSpPr>
          <p:spPr>
            <a:xfrm>
              <a:off x="6900764" y="2955020"/>
              <a:ext cx="1252636" cy="755106"/>
            </a:xfrm>
            <a:custGeom>
              <a:avLst/>
              <a:gdLst>
                <a:gd name="connsiteX0" fmla="*/ 0 w 1252636"/>
                <a:gd name="connsiteY0" fmla="*/ 75511 h 755106"/>
                <a:gd name="connsiteX1" fmla="*/ 75511 w 1252636"/>
                <a:gd name="connsiteY1" fmla="*/ 0 h 755106"/>
                <a:gd name="connsiteX2" fmla="*/ 1177125 w 1252636"/>
                <a:gd name="connsiteY2" fmla="*/ 0 h 755106"/>
                <a:gd name="connsiteX3" fmla="*/ 1252636 w 1252636"/>
                <a:gd name="connsiteY3" fmla="*/ 75511 h 755106"/>
                <a:gd name="connsiteX4" fmla="*/ 1252636 w 1252636"/>
                <a:gd name="connsiteY4" fmla="*/ 679595 h 755106"/>
                <a:gd name="connsiteX5" fmla="*/ 1177125 w 1252636"/>
                <a:gd name="connsiteY5" fmla="*/ 755106 h 755106"/>
                <a:gd name="connsiteX6" fmla="*/ 75511 w 1252636"/>
                <a:gd name="connsiteY6" fmla="*/ 755106 h 755106"/>
                <a:gd name="connsiteX7" fmla="*/ 0 w 1252636"/>
                <a:gd name="connsiteY7" fmla="*/ 679595 h 755106"/>
                <a:gd name="connsiteX8" fmla="*/ 0 w 1252636"/>
                <a:gd name="connsiteY8" fmla="*/ 75511 h 755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2636" h="755106">
                  <a:moveTo>
                    <a:pt x="0" y="75511"/>
                  </a:moveTo>
                  <a:cubicBezTo>
                    <a:pt x="0" y="33807"/>
                    <a:pt x="33807" y="0"/>
                    <a:pt x="75511" y="0"/>
                  </a:cubicBezTo>
                  <a:lnTo>
                    <a:pt x="1177125" y="0"/>
                  </a:lnTo>
                  <a:cubicBezTo>
                    <a:pt x="1218829" y="0"/>
                    <a:pt x="1252636" y="33807"/>
                    <a:pt x="1252636" y="75511"/>
                  </a:cubicBezTo>
                  <a:lnTo>
                    <a:pt x="1252636" y="679595"/>
                  </a:lnTo>
                  <a:cubicBezTo>
                    <a:pt x="1252636" y="721299"/>
                    <a:pt x="1218829" y="755106"/>
                    <a:pt x="1177125" y="755106"/>
                  </a:cubicBezTo>
                  <a:lnTo>
                    <a:pt x="75511" y="755106"/>
                  </a:lnTo>
                  <a:cubicBezTo>
                    <a:pt x="33807" y="755106"/>
                    <a:pt x="0" y="721299"/>
                    <a:pt x="0" y="679595"/>
                  </a:cubicBezTo>
                  <a:lnTo>
                    <a:pt x="0" y="75511"/>
                  </a:lnTo>
                  <a:close/>
                </a:path>
              </a:pathLst>
            </a:custGeom>
          </p:spPr>
          <p:style>
            <a:lnRef idx="2">
              <a:schemeClr val="lt1">
                <a:hueOff val="0"/>
                <a:satOff val="0"/>
                <a:lumOff val="0"/>
                <a:alphaOff val="0"/>
              </a:schemeClr>
            </a:lnRef>
            <a:fillRef idx="1">
              <a:schemeClr val="accent3">
                <a:hueOff val="903533"/>
                <a:satOff val="33333"/>
                <a:lumOff val="-4902"/>
                <a:alphaOff val="0"/>
              </a:schemeClr>
            </a:fillRef>
            <a:effectRef idx="0">
              <a:schemeClr val="accent3">
                <a:hueOff val="903533"/>
                <a:satOff val="33333"/>
                <a:lumOff val="-4902"/>
                <a:alphaOff val="0"/>
              </a:schemeClr>
            </a:effectRef>
            <a:fontRef idx="minor">
              <a:schemeClr val="lt1"/>
            </a:fontRef>
          </p:style>
          <p:txBody>
            <a:bodyPr spcFirstLastPara="0" vert="horz" wrap="square" lIns="75456" tIns="75456" rIns="75456" bIns="75456" numCol="1" spcCol="1270" anchor="ctr" anchorCtr="0">
              <a:noAutofit/>
            </a:bodyPr>
            <a:lstStyle/>
            <a:p>
              <a:pPr marL="0" marR="0" lvl="0" indent="0" algn="ctr" defTabSz="622300" rtl="0" eaLnBrk="1" fontAlgn="auto" latinLnBrk="1" hangingPunct="1">
                <a:lnSpc>
                  <a:spcPct val="100000"/>
                </a:lnSpc>
                <a:spcBef>
                  <a:spcPct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판단횟수</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622300" rtl="0" eaLnBrk="1" fontAlgn="auto" latinLnBrk="1" hangingPunct="1">
                <a:lnSpc>
                  <a:spcPct val="100000"/>
                </a:lnSpc>
                <a:spcBef>
                  <a:spcPct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결정</a:t>
              </a:r>
            </a:p>
          </p:txBody>
        </p:sp>
        <p:sp>
          <p:nvSpPr>
            <p:cNvPr id="86" name="자유형 85"/>
            <p:cNvSpPr/>
            <p:nvPr/>
          </p:nvSpPr>
          <p:spPr>
            <a:xfrm>
              <a:off x="7357182" y="3757320"/>
              <a:ext cx="339798" cy="283165"/>
            </a:xfrm>
            <a:custGeom>
              <a:avLst/>
              <a:gdLst>
                <a:gd name="connsiteX0" fmla="*/ 0 w 283164"/>
                <a:gd name="connsiteY0" fmla="*/ 67959 h 339797"/>
                <a:gd name="connsiteX1" fmla="*/ 141582 w 283164"/>
                <a:gd name="connsiteY1" fmla="*/ 67959 h 339797"/>
                <a:gd name="connsiteX2" fmla="*/ 141582 w 283164"/>
                <a:gd name="connsiteY2" fmla="*/ 0 h 339797"/>
                <a:gd name="connsiteX3" fmla="*/ 283164 w 283164"/>
                <a:gd name="connsiteY3" fmla="*/ 169899 h 339797"/>
                <a:gd name="connsiteX4" fmla="*/ 141582 w 283164"/>
                <a:gd name="connsiteY4" fmla="*/ 339797 h 339797"/>
                <a:gd name="connsiteX5" fmla="*/ 141582 w 283164"/>
                <a:gd name="connsiteY5" fmla="*/ 271838 h 339797"/>
                <a:gd name="connsiteX6" fmla="*/ 0 w 283164"/>
                <a:gd name="connsiteY6" fmla="*/ 271838 h 339797"/>
                <a:gd name="connsiteX7" fmla="*/ 0 w 283164"/>
                <a:gd name="connsiteY7" fmla="*/ 67959 h 339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3164" h="339797">
                  <a:moveTo>
                    <a:pt x="226531" y="1"/>
                  </a:moveTo>
                  <a:lnTo>
                    <a:pt x="226531" y="169899"/>
                  </a:lnTo>
                  <a:lnTo>
                    <a:pt x="283164" y="169899"/>
                  </a:lnTo>
                  <a:lnTo>
                    <a:pt x="141582" y="339796"/>
                  </a:lnTo>
                  <a:lnTo>
                    <a:pt x="0" y="169899"/>
                  </a:lnTo>
                  <a:lnTo>
                    <a:pt x="56633" y="169899"/>
                  </a:lnTo>
                  <a:lnTo>
                    <a:pt x="56633" y="1"/>
                  </a:lnTo>
                  <a:lnTo>
                    <a:pt x="226531" y="1"/>
                  </a:lnTo>
                  <a:close/>
                </a:path>
              </a:pathLst>
            </a:custGeom>
          </p:spPr>
          <p:style>
            <a:lnRef idx="0">
              <a:schemeClr val="lt1">
                <a:hueOff val="0"/>
                <a:satOff val="0"/>
                <a:lumOff val="0"/>
                <a:alphaOff val="0"/>
              </a:schemeClr>
            </a:lnRef>
            <a:fillRef idx="1">
              <a:schemeClr val="accent3">
                <a:hueOff val="1355300"/>
                <a:satOff val="50000"/>
                <a:lumOff val="-7353"/>
                <a:alphaOff val="0"/>
              </a:schemeClr>
            </a:fillRef>
            <a:effectRef idx="0">
              <a:schemeClr val="accent3">
                <a:hueOff val="1355300"/>
                <a:satOff val="50000"/>
                <a:lumOff val="-7353"/>
                <a:alphaOff val="0"/>
              </a:schemeClr>
            </a:effectRef>
            <a:fontRef idx="minor">
              <a:schemeClr val="lt1"/>
            </a:fontRef>
          </p:style>
          <p:txBody>
            <a:bodyPr spcFirstLastPara="0" vert="horz" wrap="square" lIns="67960" tIns="1" rIns="67959" bIns="84949" numCol="1" spcCol="1270" anchor="ctr" anchorCtr="0">
              <a:noAutofit/>
            </a:bodyPr>
            <a:lstStyle/>
            <a:p>
              <a:pPr marL="0" marR="0" lvl="0" indent="0" algn="ctr" defTabSz="488950" rtl="0" eaLnBrk="1" fontAlgn="auto" latinLnBrk="1" hangingPunct="1">
                <a:lnSpc>
                  <a:spcPct val="100000"/>
                </a:lnSpc>
                <a:spcBef>
                  <a:spcPct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7" name="자유형 86"/>
            <p:cNvSpPr/>
            <p:nvPr/>
          </p:nvSpPr>
          <p:spPr>
            <a:xfrm>
              <a:off x="6900764" y="4087680"/>
              <a:ext cx="1252636" cy="755106"/>
            </a:xfrm>
            <a:custGeom>
              <a:avLst/>
              <a:gdLst>
                <a:gd name="connsiteX0" fmla="*/ 0 w 1252636"/>
                <a:gd name="connsiteY0" fmla="*/ 75511 h 755106"/>
                <a:gd name="connsiteX1" fmla="*/ 75511 w 1252636"/>
                <a:gd name="connsiteY1" fmla="*/ 0 h 755106"/>
                <a:gd name="connsiteX2" fmla="*/ 1177125 w 1252636"/>
                <a:gd name="connsiteY2" fmla="*/ 0 h 755106"/>
                <a:gd name="connsiteX3" fmla="*/ 1252636 w 1252636"/>
                <a:gd name="connsiteY3" fmla="*/ 75511 h 755106"/>
                <a:gd name="connsiteX4" fmla="*/ 1252636 w 1252636"/>
                <a:gd name="connsiteY4" fmla="*/ 679595 h 755106"/>
                <a:gd name="connsiteX5" fmla="*/ 1177125 w 1252636"/>
                <a:gd name="connsiteY5" fmla="*/ 755106 h 755106"/>
                <a:gd name="connsiteX6" fmla="*/ 75511 w 1252636"/>
                <a:gd name="connsiteY6" fmla="*/ 755106 h 755106"/>
                <a:gd name="connsiteX7" fmla="*/ 0 w 1252636"/>
                <a:gd name="connsiteY7" fmla="*/ 679595 h 755106"/>
                <a:gd name="connsiteX8" fmla="*/ 0 w 1252636"/>
                <a:gd name="connsiteY8" fmla="*/ 75511 h 755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2636" h="755106">
                  <a:moveTo>
                    <a:pt x="0" y="75511"/>
                  </a:moveTo>
                  <a:cubicBezTo>
                    <a:pt x="0" y="33807"/>
                    <a:pt x="33807" y="0"/>
                    <a:pt x="75511" y="0"/>
                  </a:cubicBezTo>
                  <a:lnTo>
                    <a:pt x="1177125" y="0"/>
                  </a:lnTo>
                  <a:cubicBezTo>
                    <a:pt x="1218829" y="0"/>
                    <a:pt x="1252636" y="33807"/>
                    <a:pt x="1252636" y="75511"/>
                  </a:cubicBezTo>
                  <a:lnTo>
                    <a:pt x="1252636" y="679595"/>
                  </a:lnTo>
                  <a:cubicBezTo>
                    <a:pt x="1252636" y="721299"/>
                    <a:pt x="1218829" y="755106"/>
                    <a:pt x="1177125" y="755106"/>
                  </a:cubicBezTo>
                  <a:lnTo>
                    <a:pt x="75511" y="755106"/>
                  </a:lnTo>
                  <a:cubicBezTo>
                    <a:pt x="33807" y="755106"/>
                    <a:pt x="0" y="721299"/>
                    <a:pt x="0" y="679595"/>
                  </a:cubicBezTo>
                  <a:lnTo>
                    <a:pt x="0" y="75511"/>
                  </a:lnTo>
                  <a:close/>
                </a:path>
              </a:pathLst>
            </a:custGeom>
          </p:spPr>
          <p:style>
            <a:lnRef idx="2">
              <a:schemeClr val="lt1">
                <a:hueOff val="0"/>
                <a:satOff val="0"/>
                <a:lumOff val="0"/>
                <a:alphaOff val="0"/>
              </a:schemeClr>
            </a:lnRef>
            <a:fillRef idx="1">
              <a:schemeClr val="accent3">
                <a:hueOff val="1807066"/>
                <a:satOff val="66667"/>
                <a:lumOff val="-9804"/>
                <a:alphaOff val="0"/>
              </a:schemeClr>
            </a:fillRef>
            <a:effectRef idx="0">
              <a:schemeClr val="accent3">
                <a:hueOff val="1807066"/>
                <a:satOff val="66667"/>
                <a:lumOff val="-9804"/>
                <a:alphaOff val="0"/>
              </a:schemeClr>
            </a:effectRef>
            <a:fontRef idx="minor">
              <a:schemeClr val="lt1"/>
            </a:fontRef>
          </p:style>
          <p:txBody>
            <a:bodyPr spcFirstLastPara="0" vert="horz" wrap="square" lIns="75456" tIns="75456" rIns="75456" bIns="75456" numCol="1" spcCol="1270" anchor="ctr" anchorCtr="0">
              <a:noAutofit/>
            </a:bodyPr>
            <a:lstStyle/>
            <a:p>
              <a:pPr marL="0" marR="0" lvl="0" indent="0" algn="ctr" defTabSz="622300" rtl="0" eaLnBrk="1" fontAlgn="auto" latinLnBrk="1" hangingPunct="1">
                <a:lnSpc>
                  <a:spcPct val="100000"/>
                </a:lnSpc>
                <a:spcBef>
                  <a:spcPct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시행령 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6</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622300" rtl="0" eaLnBrk="1" fontAlgn="auto" latinLnBrk="1" hangingPunct="1">
                <a:lnSpc>
                  <a:spcPct val="100000"/>
                </a:lnSpc>
                <a:spcBef>
                  <a:spcPct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판단</a:t>
              </a:r>
            </a:p>
          </p:txBody>
        </p:sp>
        <p:sp>
          <p:nvSpPr>
            <p:cNvPr id="88" name="자유형 87"/>
            <p:cNvSpPr/>
            <p:nvPr/>
          </p:nvSpPr>
          <p:spPr>
            <a:xfrm>
              <a:off x="7357182" y="4889979"/>
              <a:ext cx="339798" cy="283165"/>
            </a:xfrm>
            <a:custGeom>
              <a:avLst/>
              <a:gdLst>
                <a:gd name="connsiteX0" fmla="*/ 0 w 283164"/>
                <a:gd name="connsiteY0" fmla="*/ 67959 h 339797"/>
                <a:gd name="connsiteX1" fmla="*/ 141582 w 283164"/>
                <a:gd name="connsiteY1" fmla="*/ 67959 h 339797"/>
                <a:gd name="connsiteX2" fmla="*/ 141582 w 283164"/>
                <a:gd name="connsiteY2" fmla="*/ 0 h 339797"/>
                <a:gd name="connsiteX3" fmla="*/ 283164 w 283164"/>
                <a:gd name="connsiteY3" fmla="*/ 169899 h 339797"/>
                <a:gd name="connsiteX4" fmla="*/ 141582 w 283164"/>
                <a:gd name="connsiteY4" fmla="*/ 339797 h 339797"/>
                <a:gd name="connsiteX5" fmla="*/ 141582 w 283164"/>
                <a:gd name="connsiteY5" fmla="*/ 271838 h 339797"/>
                <a:gd name="connsiteX6" fmla="*/ 0 w 283164"/>
                <a:gd name="connsiteY6" fmla="*/ 271838 h 339797"/>
                <a:gd name="connsiteX7" fmla="*/ 0 w 283164"/>
                <a:gd name="connsiteY7" fmla="*/ 67959 h 339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3164" h="339797">
                  <a:moveTo>
                    <a:pt x="226531" y="1"/>
                  </a:moveTo>
                  <a:lnTo>
                    <a:pt x="226531" y="169899"/>
                  </a:lnTo>
                  <a:lnTo>
                    <a:pt x="283164" y="169899"/>
                  </a:lnTo>
                  <a:lnTo>
                    <a:pt x="141582" y="339796"/>
                  </a:lnTo>
                  <a:lnTo>
                    <a:pt x="0" y="169899"/>
                  </a:lnTo>
                  <a:lnTo>
                    <a:pt x="56633" y="169899"/>
                  </a:lnTo>
                  <a:lnTo>
                    <a:pt x="56633" y="1"/>
                  </a:lnTo>
                  <a:lnTo>
                    <a:pt x="226531" y="1"/>
                  </a:lnTo>
                  <a:close/>
                </a:path>
              </a:pathLst>
            </a:custGeom>
          </p:spPr>
          <p:style>
            <a:lnRef idx="0">
              <a:schemeClr val="lt1">
                <a:hueOff val="0"/>
                <a:satOff val="0"/>
                <a:lumOff val="0"/>
                <a:alphaOff val="0"/>
              </a:schemeClr>
            </a:lnRef>
            <a:fillRef idx="1">
              <a:schemeClr val="accent3">
                <a:hueOff val="2710599"/>
                <a:satOff val="100000"/>
                <a:lumOff val="-14706"/>
                <a:alphaOff val="0"/>
              </a:schemeClr>
            </a:fillRef>
            <a:effectRef idx="0">
              <a:schemeClr val="accent3">
                <a:hueOff val="2710599"/>
                <a:satOff val="100000"/>
                <a:lumOff val="-14706"/>
                <a:alphaOff val="0"/>
              </a:schemeClr>
            </a:effectRef>
            <a:fontRef idx="minor">
              <a:schemeClr val="lt1"/>
            </a:fontRef>
          </p:style>
          <p:txBody>
            <a:bodyPr spcFirstLastPara="0" vert="horz" wrap="square" lIns="67960" tIns="1" rIns="67959" bIns="84949" numCol="1" spcCol="1270" anchor="ctr" anchorCtr="0">
              <a:noAutofit/>
            </a:bodyPr>
            <a:lstStyle/>
            <a:p>
              <a:pPr marL="0" marR="0" lvl="0" indent="0" algn="ctr" defTabSz="488950" rtl="0" eaLnBrk="1" fontAlgn="auto" latinLnBrk="1" hangingPunct="1">
                <a:lnSpc>
                  <a:spcPct val="100000"/>
                </a:lnSpc>
                <a:spcBef>
                  <a:spcPct val="0"/>
                </a:spcBef>
                <a:spcAft>
                  <a:spcPts val="0"/>
                </a:spcAft>
                <a:buClrTx/>
                <a:buSzTx/>
                <a:buFontTx/>
                <a:buNone/>
                <a:tabLst/>
                <a:defRPr/>
              </a:pPr>
              <a:endParaRPr kumimoji="0" lang="ko-KR" altLang="en-US" sz="11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9" name="자유형 88"/>
            <p:cNvSpPr/>
            <p:nvPr/>
          </p:nvSpPr>
          <p:spPr>
            <a:xfrm>
              <a:off x="6900764" y="5220339"/>
              <a:ext cx="1252636" cy="755106"/>
            </a:xfrm>
            <a:custGeom>
              <a:avLst/>
              <a:gdLst>
                <a:gd name="connsiteX0" fmla="*/ 0 w 1252636"/>
                <a:gd name="connsiteY0" fmla="*/ 75511 h 755106"/>
                <a:gd name="connsiteX1" fmla="*/ 75511 w 1252636"/>
                <a:gd name="connsiteY1" fmla="*/ 0 h 755106"/>
                <a:gd name="connsiteX2" fmla="*/ 1177125 w 1252636"/>
                <a:gd name="connsiteY2" fmla="*/ 0 h 755106"/>
                <a:gd name="connsiteX3" fmla="*/ 1252636 w 1252636"/>
                <a:gd name="connsiteY3" fmla="*/ 75511 h 755106"/>
                <a:gd name="connsiteX4" fmla="*/ 1252636 w 1252636"/>
                <a:gd name="connsiteY4" fmla="*/ 679595 h 755106"/>
                <a:gd name="connsiteX5" fmla="*/ 1177125 w 1252636"/>
                <a:gd name="connsiteY5" fmla="*/ 755106 h 755106"/>
                <a:gd name="connsiteX6" fmla="*/ 75511 w 1252636"/>
                <a:gd name="connsiteY6" fmla="*/ 755106 h 755106"/>
                <a:gd name="connsiteX7" fmla="*/ 0 w 1252636"/>
                <a:gd name="connsiteY7" fmla="*/ 679595 h 755106"/>
                <a:gd name="connsiteX8" fmla="*/ 0 w 1252636"/>
                <a:gd name="connsiteY8" fmla="*/ 75511 h 755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2636" h="755106">
                  <a:moveTo>
                    <a:pt x="0" y="75511"/>
                  </a:moveTo>
                  <a:cubicBezTo>
                    <a:pt x="0" y="33807"/>
                    <a:pt x="33807" y="0"/>
                    <a:pt x="75511" y="0"/>
                  </a:cubicBezTo>
                  <a:lnTo>
                    <a:pt x="1177125" y="0"/>
                  </a:lnTo>
                  <a:cubicBezTo>
                    <a:pt x="1218829" y="0"/>
                    <a:pt x="1252636" y="33807"/>
                    <a:pt x="1252636" y="75511"/>
                  </a:cubicBezTo>
                  <a:lnTo>
                    <a:pt x="1252636" y="679595"/>
                  </a:lnTo>
                  <a:cubicBezTo>
                    <a:pt x="1252636" y="721299"/>
                    <a:pt x="1218829" y="755106"/>
                    <a:pt x="1177125" y="755106"/>
                  </a:cubicBezTo>
                  <a:lnTo>
                    <a:pt x="75511" y="755106"/>
                  </a:lnTo>
                  <a:cubicBezTo>
                    <a:pt x="33807" y="755106"/>
                    <a:pt x="0" y="721299"/>
                    <a:pt x="0" y="679595"/>
                  </a:cubicBezTo>
                  <a:lnTo>
                    <a:pt x="0" y="75511"/>
                  </a:lnTo>
                  <a:close/>
                </a:path>
              </a:pathLst>
            </a:custGeom>
          </p:spPr>
          <p:style>
            <a:lnRef idx="2">
              <a:schemeClr val="lt1">
                <a:hueOff val="0"/>
                <a:satOff val="0"/>
                <a:lumOff val="0"/>
                <a:alphaOff val="0"/>
              </a:schemeClr>
            </a:lnRef>
            <a:fillRef idx="1">
              <a:schemeClr val="accent3">
                <a:hueOff val="2710599"/>
                <a:satOff val="100000"/>
                <a:lumOff val="-14706"/>
                <a:alphaOff val="0"/>
              </a:schemeClr>
            </a:fillRef>
            <a:effectRef idx="0">
              <a:schemeClr val="accent3">
                <a:hueOff val="2710599"/>
                <a:satOff val="100000"/>
                <a:lumOff val="-14706"/>
                <a:alphaOff val="0"/>
              </a:schemeClr>
            </a:effectRef>
            <a:fontRef idx="minor">
              <a:schemeClr val="lt1"/>
            </a:fontRef>
          </p:style>
          <p:txBody>
            <a:bodyPr spcFirstLastPara="0" vert="horz" wrap="square" lIns="75456" tIns="75456" rIns="75456" bIns="75456" numCol="1" spcCol="1270" anchor="ctr" anchorCtr="0">
              <a:noAutofit/>
            </a:bodyPr>
            <a:lstStyle/>
            <a:p>
              <a:pPr marL="0" marR="0" lvl="0" indent="0" algn="ctr" defTabSz="622300" rtl="0" eaLnBrk="1" fontAlgn="auto" latinLnBrk="1" hangingPunct="1">
                <a:lnSpc>
                  <a:spcPct val="100000"/>
                </a:lnSpc>
                <a:spcBef>
                  <a:spcPct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모두 만족</a:t>
              </a:r>
              <a:endParaRPr kumimoji="0" lang="en-US" altLang="ko-KR" sz="1400" b="0" i="0" u="none" strike="noStrike" kern="1200" cap="none" spc="0" normalizeH="0" baseline="0" noProof="0">
                <a:ln>
                  <a:noFill/>
                </a:ln>
                <a:solidFill>
                  <a:prstClr val="white"/>
                </a:solidFill>
                <a:effectLst/>
                <a:uLnTx/>
                <a:uFillTx/>
                <a:latin typeface="Frutiger LT 65 Bold"/>
                <a:ea typeface="Rix모던고딕 B"/>
                <a:cs typeface="+mn-cs"/>
              </a:endParaRPr>
            </a:p>
            <a:p>
              <a:pPr marL="0" marR="0" lvl="0" indent="0" algn="ctr" defTabSz="622300" rtl="0" eaLnBrk="1" fontAlgn="auto" latinLnBrk="1" hangingPunct="1">
                <a:lnSpc>
                  <a:spcPct val="100000"/>
                </a:lnSpc>
                <a:spcBef>
                  <a:spcPct val="0"/>
                </a:spcBef>
                <a:spcAft>
                  <a:spcPts val="0"/>
                </a:spcAft>
                <a:buClrTx/>
                <a:buSzTx/>
                <a:buFontTx/>
                <a:buNone/>
                <a:tabLst/>
                <a:defRPr/>
              </a:pPr>
              <a:r>
                <a:rPr kumimoji="0" lang="ko-KR" altLang="en-US" sz="1400" b="0" i="0" u="none" strike="noStrike" kern="1200" cap="none" spc="0" normalizeH="0" baseline="0" noProof="0">
                  <a:ln>
                    <a:noFill/>
                  </a:ln>
                  <a:solidFill>
                    <a:prstClr val="white"/>
                  </a:solidFill>
                  <a:effectLst/>
                  <a:uLnTx/>
                  <a:uFillTx/>
                  <a:latin typeface="Frutiger LT 65 Bold"/>
                  <a:ea typeface="Rix모던고딕 B"/>
                  <a:cs typeface="+mn-cs"/>
                </a:rPr>
                <a:t>여부</a:t>
              </a:r>
              <a:endPar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grpSp>
      <p:sp>
        <p:nvSpPr>
          <p:cNvPr id="90" name="TextBox 89"/>
          <p:cNvSpPr txBox="1"/>
          <p:nvPr/>
        </p:nvSpPr>
        <p:spPr>
          <a:xfrm>
            <a:off x="8407407" y="2036710"/>
            <a:ext cx="764953" cy="307777"/>
          </a:xfrm>
          <a:prstGeom prst="rect">
            <a:avLst/>
          </a:prstGeom>
          <a:noFill/>
        </p:spPr>
        <p:txBody>
          <a:bodyPr wrap="none" rtlCol="0">
            <a:spAutoFit/>
          </a:bodyPr>
          <a:lstStyle/>
          <a:p>
            <a:pPr marL="285750" marR="0" lvl="0" indent="-285750" algn="l" defTabSz="914400" rtl="0" eaLnBrk="1" fontAlgn="auto" latinLnBrk="1" hangingPunct="1">
              <a:lnSpc>
                <a:spcPct val="100000"/>
              </a:lnSpc>
              <a:spcBef>
                <a:spcPts val="0"/>
              </a:spcBef>
              <a:spcAft>
                <a:spcPts val="0"/>
              </a:spcAft>
              <a:buClrTx/>
              <a:buSzTx/>
              <a:buFont typeface="Wingdings" pitchFamily="2" charset="2"/>
              <a:buChar char="§"/>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N</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개</a:t>
            </a:r>
          </a:p>
        </p:txBody>
      </p:sp>
      <p:sp>
        <p:nvSpPr>
          <p:cNvPr id="91" name="TextBox 90"/>
          <p:cNvSpPr txBox="1"/>
          <p:nvPr/>
        </p:nvSpPr>
        <p:spPr>
          <a:xfrm>
            <a:off x="8407407" y="3027824"/>
            <a:ext cx="1457450" cy="523220"/>
          </a:xfrm>
          <a:prstGeom prst="rect">
            <a:avLst/>
          </a:prstGeom>
          <a:noFill/>
        </p:spPr>
        <p:txBody>
          <a:bodyPr wrap="none" rtlCol="0">
            <a:spAutoFit/>
          </a:bodyPr>
          <a:lstStyle/>
          <a:p>
            <a:pPr marL="285750" marR="0" lvl="0" indent="-285750" algn="l" defTabSz="914400" rtl="0" eaLnBrk="1" fontAlgn="auto" latinLnBrk="1" hangingPunct="1">
              <a:lnSpc>
                <a:spcPct val="100000"/>
              </a:lnSpc>
              <a:spcBef>
                <a:spcPts val="0"/>
              </a:spcBef>
              <a:spcAft>
                <a:spcPts val="0"/>
              </a:spcAft>
              <a:buClrTx/>
              <a:buSzTx/>
              <a:buFont typeface="Wingdings" pitchFamily="2" charset="2"/>
              <a:buChar char="§"/>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N</a:t>
            </a:r>
            <a:r>
              <a:rPr kumimoji="0" lang="en-US" altLang="ko-KR" sz="2800" b="0" i="0" u="none" strike="noStrike" kern="1200" cap="none" spc="0" normalizeH="0" baseline="0" noProof="0" dirty="0">
                <a:ln>
                  <a:noFill/>
                </a:ln>
                <a:solidFill>
                  <a:prstClr val="black"/>
                </a:solidFill>
                <a:effectLst/>
                <a:uLnTx/>
                <a:uFillTx/>
                <a:latin typeface="Frutiger LT 65 Bold"/>
                <a:ea typeface="Rix모던고딕 B"/>
                <a:cs typeface="+mn-cs"/>
              </a:rPr>
              <a:t>C</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 판단</a:t>
            </a:r>
          </a:p>
        </p:txBody>
      </p:sp>
      <p:sp>
        <p:nvSpPr>
          <p:cNvPr id="92" name="TextBox 91"/>
          <p:cNvSpPr txBox="1"/>
          <p:nvPr/>
        </p:nvSpPr>
        <p:spPr>
          <a:xfrm>
            <a:off x="8407407" y="4295956"/>
            <a:ext cx="2359941" cy="307777"/>
          </a:xfrm>
          <a:prstGeom prst="rect">
            <a:avLst/>
          </a:prstGeom>
          <a:noFill/>
        </p:spPr>
        <p:txBody>
          <a:bodyPr wrap="none" rtlCol="0">
            <a:spAutoFit/>
          </a:bodyPr>
          <a:lstStyle/>
          <a:p>
            <a:pPr marL="285750" marR="0" lvl="0" indent="-285750" algn="l" defTabSz="914400" rtl="0" eaLnBrk="1" fontAlgn="auto" latinLnBrk="1" hangingPunct="1">
              <a:lnSpc>
                <a:spcPct val="100000"/>
              </a:lnSpc>
              <a:spcBef>
                <a:spcPts val="0"/>
              </a:spcBef>
              <a:spcAft>
                <a:spcPts val="0"/>
              </a:spcAft>
              <a:buClrTx/>
              <a:buSzTx/>
              <a:buFont typeface="Wingdings" pitchFamily="2" charset="2"/>
              <a:buChar char="§"/>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단위로 판단 </a:t>
            </a:r>
          </a:p>
        </p:txBody>
      </p:sp>
      <p:sp>
        <p:nvSpPr>
          <p:cNvPr id="93" name="TextBox 92"/>
          <p:cNvSpPr txBox="1"/>
          <p:nvPr/>
        </p:nvSpPr>
        <p:spPr>
          <a:xfrm>
            <a:off x="8407407" y="5330905"/>
            <a:ext cx="3307316" cy="523220"/>
          </a:xfrm>
          <a:prstGeom prst="rect">
            <a:avLst/>
          </a:prstGeom>
          <a:noFill/>
        </p:spPr>
        <p:txBody>
          <a:bodyPr wrap="none" rtlCol="0">
            <a:spAutoFit/>
          </a:bodyPr>
          <a:lstStyle/>
          <a:p>
            <a:pPr marL="285750" marR="0" lvl="0" indent="-285750" algn="l" defTabSz="914400" rtl="0" eaLnBrk="1" fontAlgn="auto" latinLnBrk="1" hangingPunct="1">
              <a:lnSpc>
                <a:spcPct val="100000"/>
              </a:lnSpc>
              <a:spcBef>
                <a:spcPts val="0"/>
              </a:spcBef>
              <a:spcAft>
                <a:spcPts val="0"/>
              </a:spcAft>
              <a:buClrTx/>
              <a:buSzTx/>
              <a:buFont typeface="Wingdings" pitchFamily="2" charset="2"/>
              <a:buChar char="§"/>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모두 만족</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45</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항본문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단서 선택</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285750" marR="0" lvl="0" indent="-285750" algn="l" defTabSz="914400" rtl="0" eaLnBrk="1" fontAlgn="auto" latinLnBrk="1" hangingPunct="1">
              <a:lnSpc>
                <a:spcPct val="100000"/>
              </a:lnSpc>
              <a:spcBef>
                <a:spcPts val="0"/>
              </a:spcBef>
              <a:spcAft>
                <a:spcPts val="0"/>
              </a:spcAft>
              <a:buClrTx/>
              <a:buSzTx/>
              <a:buFont typeface="Wingdings" pitchFamily="2" charset="2"/>
              <a:buChar char="§"/>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그렇지 아니한 경우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45</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항본문</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141</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84714674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45</a:t>
            </a:r>
            <a:r>
              <a:rPr lang="ko-KR" altLang="en-US" dirty="0"/>
              <a:t>조</a:t>
            </a:r>
          </a:p>
        </p:txBody>
      </p:sp>
      <p:sp>
        <p:nvSpPr>
          <p:cNvPr id="4" name="텍스트 개체 틀 3"/>
          <p:cNvSpPr>
            <a:spLocks noGrp="1"/>
          </p:cNvSpPr>
          <p:nvPr>
            <p:ph type="body" sz="quarter" idx="13"/>
          </p:nvPr>
        </p:nvSpPr>
        <p:spPr/>
        <p:txBody>
          <a:bodyPr/>
          <a:lstStyle/>
          <a:p>
            <a:r>
              <a:rPr lang="ko-KR" altLang="en-US" dirty="0"/>
              <a:t>심사</a:t>
            </a:r>
            <a:r>
              <a:rPr lang="en-US" altLang="ko-KR" dirty="0"/>
              <a:t>(</a:t>
            </a:r>
            <a:r>
              <a:rPr lang="ko-KR" altLang="en-US" dirty="0"/>
              <a:t>심리</a:t>
            </a:r>
            <a:r>
              <a:rPr lang="en-US" altLang="ko-KR" dirty="0"/>
              <a:t>)</a:t>
            </a:r>
            <a:r>
              <a:rPr lang="ko-KR" altLang="en-US" dirty="0"/>
              <a:t>단위 </a:t>
            </a:r>
            <a:r>
              <a:rPr lang="en-US" altLang="ko-KR" dirty="0"/>
              <a:t>vs </a:t>
            </a:r>
            <a:r>
              <a:rPr lang="ko-KR" altLang="en-US" dirty="0"/>
              <a:t>처리단위</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142</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5" name="사각형: 둥근 모서리 4">
            <a:extLst>
              <a:ext uri="{FF2B5EF4-FFF2-40B4-BE49-F238E27FC236}">
                <a16:creationId xmlns:a16="http://schemas.microsoft.com/office/drawing/2014/main" id="{235E435C-38FE-4D26-A07A-40B8C4CA6432}"/>
              </a:ext>
            </a:extLst>
          </p:cNvPr>
          <p:cNvSpPr/>
          <p:nvPr/>
        </p:nvSpPr>
        <p:spPr>
          <a:xfrm>
            <a:off x="2355196" y="2809506"/>
            <a:ext cx="1155998" cy="422695"/>
          </a:xfrm>
          <a:prstGeom prst="roundRect">
            <a:avLst>
              <a:gd name="adj" fmla="val 50000"/>
            </a:avLst>
          </a:prstGeom>
          <a:solidFill>
            <a:schemeClr val="tx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청구범위</a:t>
            </a:r>
          </a:p>
        </p:txBody>
      </p:sp>
      <p:sp>
        <p:nvSpPr>
          <p:cNvPr id="6" name="타원 5">
            <a:extLst>
              <a:ext uri="{FF2B5EF4-FFF2-40B4-BE49-F238E27FC236}">
                <a16:creationId xmlns:a16="http://schemas.microsoft.com/office/drawing/2014/main" id="{088ACC68-9807-4B9C-A122-F3F2A755D832}"/>
              </a:ext>
            </a:extLst>
          </p:cNvPr>
          <p:cNvSpPr/>
          <p:nvPr/>
        </p:nvSpPr>
        <p:spPr>
          <a:xfrm>
            <a:off x="1190478" y="4106173"/>
            <a:ext cx="517585" cy="517585"/>
          </a:xfrm>
          <a:prstGeom prst="ellipse">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1</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3" name="타원 32">
            <a:extLst>
              <a:ext uri="{FF2B5EF4-FFF2-40B4-BE49-F238E27FC236}">
                <a16:creationId xmlns:a16="http://schemas.microsoft.com/office/drawing/2014/main" id="{38C5CD97-CD4B-4F02-8E93-9876D8D572AB}"/>
              </a:ext>
            </a:extLst>
          </p:cNvPr>
          <p:cNvSpPr/>
          <p:nvPr/>
        </p:nvSpPr>
        <p:spPr>
          <a:xfrm>
            <a:off x="3105513" y="4106173"/>
            <a:ext cx="517585" cy="517585"/>
          </a:xfrm>
          <a:prstGeom prst="ellipse">
            <a:avLst/>
          </a:prstGeom>
          <a:solidFill>
            <a:schemeClr val="accent4">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4" name="타원 33">
            <a:extLst>
              <a:ext uri="{FF2B5EF4-FFF2-40B4-BE49-F238E27FC236}">
                <a16:creationId xmlns:a16="http://schemas.microsoft.com/office/drawing/2014/main" id="{9E1CFC09-ED27-485C-952B-03AB61DC8E5B}"/>
              </a:ext>
            </a:extLst>
          </p:cNvPr>
          <p:cNvSpPr/>
          <p:nvPr/>
        </p:nvSpPr>
        <p:spPr>
          <a:xfrm>
            <a:off x="4433949" y="4106173"/>
            <a:ext cx="517585" cy="517585"/>
          </a:xfrm>
          <a:prstGeom prst="ellipse">
            <a:avLst/>
          </a:prstGeom>
          <a:solidFill>
            <a:schemeClr val="accent6">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3</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5" name="사각형: 둥근 모서리 34">
            <a:extLst>
              <a:ext uri="{FF2B5EF4-FFF2-40B4-BE49-F238E27FC236}">
                <a16:creationId xmlns:a16="http://schemas.microsoft.com/office/drawing/2014/main" id="{A178EC1E-E49F-484F-9C4D-25ADB63DED42}"/>
              </a:ext>
            </a:extLst>
          </p:cNvPr>
          <p:cNvSpPr/>
          <p:nvPr/>
        </p:nvSpPr>
        <p:spPr>
          <a:xfrm>
            <a:off x="552154" y="5111152"/>
            <a:ext cx="517585" cy="517585"/>
          </a:xfrm>
          <a:prstGeom prst="round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en-US" altLang="ko-KR" sz="1200" b="0" i="0" u="none" strike="noStrike" kern="1200" cap="none" spc="0" normalizeH="0" baseline="0" noProof="0" dirty="0" err="1">
                <a:ln>
                  <a:noFill/>
                </a:ln>
                <a:solidFill>
                  <a:prstClr val="black"/>
                </a:solidFill>
                <a:effectLst/>
                <a:uLnTx/>
                <a:uFillTx/>
                <a:latin typeface="Frutiger LT 65 Bold"/>
                <a:ea typeface="Rix모던고딕 B"/>
                <a:cs typeface="+mn-cs"/>
              </a:rPr>
              <a:t>abc</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6" name="사각형: 둥근 모서리 35">
            <a:extLst>
              <a:ext uri="{FF2B5EF4-FFF2-40B4-BE49-F238E27FC236}">
                <a16:creationId xmlns:a16="http://schemas.microsoft.com/office/drawing/2014/main" id="{E2661F49-028C-420B-A6D1-4159C6B3833B}"/>
              </a:ext>
            </a:extLst>
          </p:cNvPr>
          <p:cNvSpPr/>
          <p:nvPr/>
        </p:nvSpPr>
        <p:spPr>
          <a:xfrm>
            <a:off x="1190478" y="5111153"/>
            <a:ext cx="517585" cy="517585"/>
          </a:xfrm>
          <a:prstGeom prst="round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B</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en-US" altLang="ko-KR" sz="1200" b="0" i="0" u="none" strike="noStrike" kern="1200" cap="none" spc="0" normalizeH="0" baseline="0" noProof="0" dirty="0" err="1">
                <a:ln>
                  <a:noFill/>
                </a:ln>
                <a:solidFill>
                  <a:prstClr val="black"/>
                </a:solidFill>
                <a:effectLst/>
                <a:uLnTx/>
                <a:uFillTx/>
                <a:latin typeface="Frutiger LT 65 Bold"/>
                <a:ea typeface="Rix모던고딕 B"/>
                <a:cs typeface="+mn-cs"/>
              </a:rPr>
              <a:t>abd</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37" name="사각형: 둥근 모서리 36">
            <a:extLst>
              <a:ext uri="{FF2B5EF4-FFF2-40B4-BE49-F238E27FC236}">
                <a16:creationId xmlns:a16="http://schemas.microsoft.com/office/drawing/2014/main" id="{CAC0B592-1FE4-4952-9D59-63F552712F0C}"/>
              </a:ext>
            </a:extLst>
          </p:cNvPr>
          <p:cNvSpPr/>
          <p:nvPr/>
        </p:nvSpPr>
        <p:spPr>
          <a:xfrm>
            <a:off x="1828802" y="5111153"/>
            <a:ext cx="517585" cy="517585"/>
          </a:xfrm>
          <a:prstGeom prst="round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C</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en-US" altLang="ko-KR" sz="1200" b="0" i="0" u="none" strike="noStrike" kern="1200" cap="none" spc="0" normalizeH="0" baseline="0" noProof="0" dirty="0" err="1">
                <a:ln>
                  <a:noFill/>
                </a:ln>
                <a:solidFill>
                  <a:prstClr val="black"/>
                </a:solidFill>
                <a:effectLst/>
                <a:uLnTx/>
                <a:uFillTx/>
                <a:latin typeface="Frutiger LT 65 Bold"/>
                <a:ea typeface="Rix모던고딕 B"/>
                <a:cs typeface="+mn-cs"/>
              </a:rPr>
              <a:t>abe</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8" name="사각형: 둥근 모서리 37">
            <a:extLst>
              <a:ext uri="{FF2B5EF4-FFF2-40B4-BE49-F238E27FC236}">
                <a16:creationId xmlns:a16="http://schemas.microsoft.com/office/drawing/2014/main" id="{56615C40-8E7B-4F51-A3AF-057A09684DB8}"/>
              </a:ext>
            </a:extLst>
          </p:cNvPr>
          <p:cNvSpPr/>
          <p:nvPr/>
        </p:nvSpPr>
        <p:spPr>
          <a:xfrm>
            <a:off x="2760486" y="5111152"/>
            <a:ext cx="517585" cy="517585"/>
          </a:xfrm>
          <a:prstGeom prst="round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D</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en-US" altLang="ko-KR" sz="1200" b="0" i="0" u="none" strike="noStrike" kern="1200" cap="none" spc="0" normalizeH="0" baseline="0" noProof="0" dirty="0" err="1">
                <a:ln>
                  <a:noFill/>
                </a:ln>
                <a:solidFill>
                  <a:prstClr val="black"/>
                </a:solidFill>
                <a:effectLst/>
                <a:uLnTx/>
                <a:uFillTx/>
                <a:latin typeface="Frutiger LT 65 Bold"/>
                <a:ea typeface="Rix모던고딕 B"/>
                <a:cs typeface="+mn-cs"/>
              </a:rPr>
              <a:t>acf</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9" name="사각형: 둥근 모서리 38">
            <a:extLst>
              <a:ext uri="{FF2B5EF4-FFF2-40B4-BE49-F238E27FC236}">
                <a16:creationId xmlns:a16="http://schemas.microsoft.com/office/drawing/2014/main" id="{DB319350-6E03-4F88-AB40-248347E082B4}"/>
              </a:ext>
            </a:extLst>
          </p:cNvPr>
          <p:cNvSpPr/>
          <p:nvPr/>
        </p:nvSpPr>
        <p:spPr>
          <a:xfrm>
            <a:off x="3398810" y="5111153"/>
            <a:ext cx="517585" cy="517585"/>
          </a:xfrm>
          <a:prstGeom prst="round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E</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en-US" altLang="ko-KR" sz="1200" b="0" i="0" u="none" strike="noStrike" kern="1200" cap="none" spc="0" normalizeH="0" baseline="0" noProof="0" dirty="0" err="1">
                <a:ln>
                  <a:noFill/>
                </a:ln>
                <a:solidFill>
                  <a:prstClr val="black"/>
                </a:solidFill>
                <a:effectLst/>
                <a:uLnTx/>
                <a:uFillTx/>
                <a:latin typeface="Frutiger LT 65 Bold"/>
                <a:ea typeface="Rix모던고딕 B"/>
                <a:cs typeface="+mn-cs"/>
              </a:rPr>
              <a:t>acg</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0" name="사각형: 둥근 모서리 39">
            <a:extLst>
              <a:ext uri="{FF2B5EF4-FFF2-40B4-BE49-F238E27FC236}">
                <a16:creationId xmlns:a16="http://schemas.microsoft.com/office/drawing/2014/main" id="{C2D2C26A-58E7-4F1D-AEAD-B2758A1C0C06}"/>
              </a:ext>
            </a:extLst>
          </p:cNvPr>
          <p:cNvSpPr/>
          <p:nvPr/>
        </p:nvSpPr>
        <p:spPr>
          <a:xfrm>
            <a:off x="4433949" y="5111153"/>
            <a:ext cx="517585" cy="517585"/>
          </a:xfrm>
          <a:prstGeom prst="round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F</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en-US" altLang="ko-KR" sz="1200" b="0" i="0" u="none" strike="noStrike" kern="1200" cap="none" spc="0" normalizeH="0" baseline="0" noProof="0" dirty="0" err="1">
                <a:ln>
                  <a:noFill/>
                </a:ln>
                <a:solidFill>
                  <a:prstClr val="black"/>
                </a:solidFill>
                <a:effectLst/>
                <a:uLnTx/>
                <a:uFillTx/>
                <a:latin typeface="Frutiger LT 65 Bold"/>
                <a:ea typeface="Rix모던고딕 B"/>
                <a:cs typeface="+mn-cs"/>
              </a:rPr>
              <a:t>afh</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8" name="연결선: 꺾임 7">
            <a:extLst>
              <a:ext uri="{FF2B5EF4-FFF2-40B4-BE49-F238E27FC236}">
                <a16:creationId xmlns:a16="http://schemas.microsoft.com/office/drawing/2014/main" id="{2D852A73-519A-440B-A85C-05C0498CD7D7}"/>
              </a:ext>
            </a:extLst>
          </p:cNvPr>
          <p:cNvCxnSpPr>
            <a:stCxn id="5" idx="2"/>
            <a:endCxn id="6" idx="0"/>
          </p:cNvCxnSpPr>
          <p:nvPr/>
        </p:nvCxnSpPr>
        <p:spPr>
          <a:xfrm rot="5400000">
            <a:off x="1754247" y="2927225"/>
            <a:ext cx="873972" cy="148392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연결선: 꺾임 11">
            <a:extLst>
              <a:ext uri="{FF2B5EF4-FFF2-40B4-BE49-F238E27FC236}">
                <a16:creationId xmlns:a16="http://schemas.microsoft.com/office/drawing/2014/main" id="{BE58EFA0-D496-4B60-88C1-143E9128CFA3}"/>
              </a:ext>
            </a:extLst>
          </p:cNvPr>
          <p:cNvCxnSpPr>
            <a:stCxn id="5" idx="2"/>
            <a:endCxn id="34" idx="0"/>
          </p:cNvCxnSpPr>
          <p:nvPr/>
        </p:nvCxnSpPr>
        <p:spPr>
          <a:xfrm rot="16200000" flipH="1">
            <a:off x="3375982" y="2789413"/>
            <a:ext cx="873972" cy="175954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연결선: 꺾임 13">
            <a:extLst>
              <a:ext uri="{FF2B5EF4-FFF2-40B4-BE49-F238E27FC236}">
                <a16:creationId xmlns:a16="http://schemas.microsoft.com/office/drawing/2014/main" id="{1B11ED31-A33D-4DB6-8BF8-5DAD79C393A0}"/>
              </a:ext>
            </a:extLst>
          </p:cNvPr>
          <p:cNvCxnSpPr>
            <a:stCxn id="5" idx="2"/>
            <a:endCxn id="33" idx="0"/>
          </p:cNvCxnSpPr>
          <p:nvPr/>
        </p:nvCxnSpPr>
        <p:spPr>
          <a:xfrm rot="16200000" flipH="1">
            <a:off x="2711764" y="3453631"/>
            <a:ext cx="873972" cy="43111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연결선: 꺾임 15">
            <a:extLst>
              <a:ext uri="{FF2B5EF4-FFF2-40B4-BE49-F238E27FC236}">
                <a16:creationId xmlns:a16="http://schemas.microsoft.com/office/drawing/2014/main" id="{9FFD78D5-AF16-4404-8F82-984C6037174F}"/>
              </a:ext>
            </a:extLst>
          </p:cNvPr>
          <p:cNvCxnSpPr>
            <a:stCxn id="6" idx="4"/>
          </p:cNvCxnSpPr>
          <p:nvPr/>
        </p:nvCxnSpPr>
        <p:spPr>
          <a:xfrm rot="5400000">
            <a:off x="886412" y="4548293"/>
            <a:ext cx="487394" cy="63832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연결선: 꺾임 17">
            <a:extLst>
              <a:ext uri="{FF2B5EF4-FFF2-40B4-BE49-F238E27FC236}">
                <a16:creationId xmlns:a16="http://schemas.microsoft.com/office/drawing/2014/main" id="{CE4DAE70-D7AF-41BF-B4D7-08169616CD19}"/>
              </a:ext>
            </a:extLst>
          </p:cNvPr>
          <p:cNvCxnSpPr>
            <a:stCxn id="6" idx="4"/>
          </p:cNvCxnSpPr>
          <p:nvPr/>
        </p:nvCxnSpPr>
        <p:spPr>
          <a:xfrm rot="5400000">
            <a:off x="1205574" y="4867455"/>
            <a:ext cx="487395"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연결선: 꺾임 19">
            <a:extLst>
              <a:ext uri="{FF2B5EF4-FFF2-40B4-BE49-F238E27FC236}">
                <a16:creationId xmlns:a16="http://schemas.microsoft.com/office/drawing/2014/main" id="{7C13D60B-D590-478B-8122-753B08470C8B}"/>
              </a:ext>
            </a:extLst>
          </p:cNvPr>
          <p:cNvCxnSpPr>
            <a:stCxn id="6" idx="4"/>
          </p:cNvCxnSpPr>
          <p:nvPr/>
        </p:nvCxnSpPr>
        <p:spPr>
          <a:xfrm rot="16200000" flipH="1">
            <a:off x="1524736" y="4548293"/>
            <a:ext cx="487395" cy="63832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연결선: 꺾임 21">
            <a:extLst>
              <a:ext uri="{FF2B5EF4-FFF2-40B4-BE49-F238E27FC236}">
                <a16:creationId xmlns:a16="http://schemas.microsoft.com/office/drawing/2014/main" id="{57EECD95-3217-43FF-8C95-26E6C3B2564D}"/>
              </a:ext>
            </a:extLst>
          </p:cNvPr>
          <p:cNvCxnSpPr>
            <a:stCxn id="33" idx="4"/>
          </p:cNvCxnSpPr>
          <p:nvPr/>
        </p:nvCxnSpPr>
        <p:spPr>
          <a:xfrm rot="5400000">
            <a:off x="2948096" y="4694942"/>
            <a:ext cx="487394" cy="34502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연결선: 꺾임 23">
            <a:extLst>
              <a:ext uri="{FF2B5EF4-FFF2-40B4-BE49-F238E27FC236}">
                <a16:creationId xmlns:a16="http://schemas.microsoft.com/office/drawing/2014/main" id="{C5AB6CC2-249D-4AC5-A6AE-2C9E1565FDDB}"/>
              </a:ext>
            </a:extLst>
          </p:cNvPr>
          <p:cNvCxnSpPr>
            <a:stCxn id="33" idx="4"/>
          </p:cNvCxnSpPr>
          <p:nvPr/>
        </p:nvCxnSpPr>
        <p:spPr>
          <a:xfrm rot="16200000" flipH="1">
            <a:off x="3267257" y="4720806"/>
            <a:ext cx="487395" cy="29329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연결선: 꺾임 25">
            <a:extLst>
              <a:ext uri="{FF2B5EF4-FFF2-40B4-BE49-F238E27FC236}">
                <a16:creationId xmlns:a16="http://schemas.microsoft.com/office/drawing/2014/main" id="{B7AB4CBE-9E80-42A6-9E63-9BBEC4C75AB4}"/>
              </a:ext>
            </a:extLst>
          </p:cNvPr>
          <p:cNvCxnSpPr>
            <a:stCxn id="34" idx="4"/>
          </p:cNvCxnSpPr>
          <p:nvPr/>
        </p:nvCxnSpPr>
        <p:spPr>
          <a:xfrm rot="5400000">
            <a:off x="4449045" y="4867455"/>
            <a:ext cx="487395"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7B8E99E3-D508-4836-9FD1-E2E8563BBDE4}"/>
              </a:ext>
            </a:extLst>
          </p:cNvPr>
          <p:cNvSpPr txBox="1"/>
          <p:nvPr/>
        </p:nvSpPr>
        <p:spPr>
          <a:xfrm>
            <a:off x="552154" y="1375900"/>
            <a:ext cx="4399380" cy="1077218"/>
          </a:xfrm>
          <a:prstGeom prst="rect">
            <a:avLst/>
          </a:prstGeom>
          <a:noFill/>
          <a:ln>
            <a:solidFill>
              <a:schemeClr val="bg1">
                <a:lumMod val="50000"/>
              </a:schemeClr>
            </a:solidFill>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청구범위</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342900" marR="0" lvl="0" indent="-342900"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ab</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와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(c, d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및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e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중 어느 하나</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로 구성된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X</a:t>
            </a:r>
          </a:p>
          <a:p>
            <a:pPr marL="342900" marR="0" lvl="0" indent="-342900"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ac</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와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(f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및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g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중 어느 하나</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로 구성된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X</a:t>
            </a:r>
          </a:p>
          <a:p>
            <a:pPr marL="342900" marR="0" lvl="0" indent="-342900"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600" b="0" i="0" u="none" strike="noStrike" kern="1200" cap="none" spc="0" normalizeH="0" baseline="0" noProof="0" dirty="0" err="1">
                <a:ln>
                  <a:noFill/>
                </a:ln>
                <a:solidFill>
                  <a:prstClr val="black"/>
                </a:solidFill>
                <a:effectLst/>
                <a:uLnTx/>
                <a:uFillTx/>
                <a:latin typeface="Frutiger LT 65 Bold"/>
                <a:ea typeface="Rix모던고딕 B"/>
                <a:cs typeface="+mn-cs"/>
              </a:rPr>
              <a:t>afh</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로 구성된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31" name="화살표: 왼쪽 30">
            <a:extLst>
              <a:ext uri="{FF2B5EF4-FFF2-40B4-BE49-F238E27FC236}">
                <a16:creationId xmlns:a16="http://schemas.microsoft.com/office/drawing/2014/main" id="{AC72C26C-BF20-440B-8847-632E5A46A2ED}"/>
              </a:ext>
            </a:extLst>
          </p:cNvPr>
          <p:cNvSpPr/>
          <p:nvPr/>
        </p:nvSpPr>
        <p:spPr>
          <a:xfrm>
            <a:off x="5325345" y="5037825"/>
            <a:ext cx="1618169" cy="724618"/>
          </a:xfrm>
          <a:prstGeom prst="leftArrow">
            <a:avLst>
              <a:gd name="adj1" fmla="val 89655"/>
              <a:gd name="adj2" fmla="val 50000"/>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lumMod val="85000"/>
                    <a:lumOff val="15000"/>
                  </a:prstClr>
                </a:solidFill>
                <a:effectLst/>
                <a:uLnTx/>
                <a:uFillTx/>
                <a:latin typeface="Frutiger LT 65 Bold"/>
                <a:ea typeface="Rix모던고딕 B"/>
                <a:cs typeface="+mn-cs"/>
              </a:rPr>
              <a:t>심사</a:t>
            </a:r>
            <a:r>
              <a:rPr kumimoji="0" lang="en-US" altLang="ko-KR" sz="1800" b="0" i="0" u="none" strike="noStrike" kern="1200" cap="none" spc="0" normalizeH="0" baseline="0" noProof="0" dirty="0">
                <a:ln>
                  <a:noFill/>
                </a:ln>
                <a:solidFill>
                  <a:prstClr val="black">
                    <a:lumMod val="85000"/>
                    <a:lumOff val="15000"/>
                  </a:prstClr>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lumMod val="85000"/>
                    <a:lumOff val="15000"/>
                  </a:prstClr>
                </a:solidFill>
                <a:effectLst/>
                <a:uLnTx/>
                <a:uFillTx/>
                <a:latin typeface="Frutiger LT 65 Bold"/>
                <a:ea typeface="Rix모던고딕 B"/>
                <a:cs typeface="+mn-cs"/>
              </a:rPr>
              <a:t>심리</a:t>
            </a:r>
            <a:r>
              <a:rPr kumimoji="0" lang="en-US" altLang="ko-KR" sz="1800" b="0" i="0" u="none" strike="noStrike" kern="1200" cap="none" spc="0" normalizeH="0" baseline="0" noProof="0" dirty="0">
                <a:ln>
                  <a:noFill/>
                </a:ln>
                <a:solidFill>
                  <a:prstClr val="black">
                    <a:lumMod val="85000"/>
                    <a:lumOff val="15000"/>
                  </a:prstClr>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lumMod val="85000"/>
                    <a:lumOff val="15000"/>
                  </a:prstClr>
                </a:solidFill>
                <a:effectLst/>
                <a:uLnTx/>
                <a:uFillTx/>
                <a:latin typeface="Frutiger LT 65 Bold"/>
                <a:ea typeface="Rix모던고딕 B"/>
                <a:cs typeface="+mn-cs"/>
              </a:rPr>
              <a:t>단위</a:t>
            </a:r>
          </a:p>
        </p:txBody>
      </p:sp>
      <p:sp>
        <p:nvSpPr>
          <p:cNvPr id="66" name="화살표: 왼쪽 65">
            <a:extLst>
              <a:ext uri="{FF2B5EF4-FFF2-40B4-BE49-F238E27FC236}">
                <a16:creationId xmlns:a16="http://schemas.microsoft.com/office/drawing/2014/main" id="{7BE585AD-4D47-4442-9C94-EEB298B866FF}"/>
              </a:ext>
            </a:extLst>
          </p:cNvPr>
          <p:cNvSpPr/>
          <p:nvPr/>
        </p:nvSpPr>
        <p:spPr>
          <a:xfrm>
            <a:off x="5325345" y="4002656"/>
            <a:ext cx="1618169" cy="724618"/>
          </a:xfrm>
          <a:prstGeom prst="leftArrow">
            <a:avLst>
              <a:gd name="adj1" fmla="val 89655"/>
              <a:gd name="adj2" fmla="val 50000"/>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등록 후 </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처리단위</a:t>
            </a:r>
          </a:p>
        </p:txBody>
      </p:sp>
      <p:sp>
        <p:nvSpPr>
          <p:cNvPr id="67" name="화살표: 왼쪽 66">
            <a:extLst>
              <a:ext uri="{FF2B5EF4-FFF2-40B4-BE49-F238E27FC236}">
                <a16:creationId xmlns:a16="http://schemas.microsoft.com/office/drawing/2014/main" id="{C7084C5F-F548-4A57-899D-19ABC75BA422}"/>
              </a:ext>
            </a:extLst>
          </p:cNvPr>
          <p:cNvSpPr/>
          <p:nvPr/>
        </p:nvSpPr>
        <p:spPr>
          <a:xfrm>
            <a:off x="5325345" y="2658544"/>
            <a:ext cx="1618169" cy="724618"/>
          </a:xfrm>
          <a:prstGeom prst="leftArrow">
            <a:avLst>
              <a:gd name="adj1" fmla="val 89655"/>
              <a:gd name="adj2" fmla="val 50000"/>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등록 전 </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처리단위</a:t>
            </a:r>
          </a:p>
        </p:txBody>
      </p:sp>
      <p:sp>
        <p:nvSpPr>
          <p:cNvPr id="32" name="TextBox 31">
            <a:extLst>
              <a:ext uri="{FF2B5EF4-FFF2-40B4-BE49-F238E27FC236}">
                <a16:creationId xmlns:a16="http://schemas.microsoft.com/office/drawing/2014/main" id="{9BA377EC-CB8F-4F20-AE96-F0898166BD20}"/>
              </a:ext>
            </a:extLst>
          </p:cNvPr>
          <p:cNvSpPr txBox="1"/>
          <p:nvPr/>
        </p:nvSpPr>
        <p:spPr>
          <a:xfrm>
            <a:off x="7157211" y="4992736"/>
            <a:ext cx="4689294" cy="830997"/>
          </a:xfrm>
          <a:prstGeom prst="rect">
            <a:avLst/>
          </a:prstGeom>
          <a:noFill/>
        </p:spPr>
        <p:txBody>
          <a:bodyPr wrap="square" rtlCol="0">
            <a:spAutoFit/>
          </a:bodyPr>
          <a:lstStyle/>
          <a:p>
            <a:pPr marL="285750" marR="0" lvl="0" indent="-285750" algn="l" defTabSz="914400" rtl="0" eaLnBrk="1" fontAlgn="auto" latinLnBrk="1" hangingPunct="1">
              <a:lnSpc>
                <a:spcPct val="100000"/>
              </a:lnSpc>
              <a:spcBef>
                <a:spcPts val="0"/>
              </a:spcBef>
              <a:spcAft>
                <a:spcPts val="0"/>
              </a:spcAft>
              <a:buClrTx/>
              <a:buSzTx/>
              <a:buFontTx/>
              <a:buChar char="-"/>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발명 단위로 심사</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심리</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진행</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285750" marR="0" lvl="0" indent="-285750" algn="l" defTabSz="914400" rtl="0" eaLnBrk="1" fontAlgn="auto" latinLnBrk="1" hangingPunct="1">
              <a:lnSpc>
                <a:spcPct val="100000"/>
              </a:lnSpc>
              <a:spcBef>
                <a:spcPts val="0"/>
              </a:spcBef>
              <a:spcAft>
                <a:spcPts val="0"/>
              </a:spcAft>
              <a:buClrTx/>
              <a:buSzTx/>
              <a:buFontTx/>
              <a:buChar char="-"/>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일부 발명에 흠결이 있으면 청구항 전체에 흠결이 있는 것으로 처리</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9" name="TextBox 68">
            <a:extLst>
              <a:ext uri="{FF2B5EF4-FFF2-40B4-BE49-F238E27FC236}">
                <a16:creationId xmlns:a16="http://schemas.microsoft.com/office/drawing/2014/main" id="{89078874-C46C-4687-91DE-45CB560EA4E2}"/>
              </a:ext>
            </a:extLst>
          </p:cNvPr>
          <p:cNvSpPr txBox="1"/>
          <p:nvPr/>
        </p:nvSpPr>
        <p:spPr>
          <a:xfrm>
            <a:off x="7157211" y="4065999"/>
            <a:ext cx="4102405" cy="338554"/>
          </a:xfrm>
          <a:prstGeom prst="rect">
            <a:avLst/>
          </a:prstGeom>
          <a:noFill/>
        </p:spPr>
        <p:txBody>
          <a:bodyPr wrap="none" rtlCol="0">
            <a:spAutoFit/>
          </a:bodyPr>
          <a:lstStyle/>
          <a:p>
            <a:pPr marL="285750" marR="0" lvl="0" indent="-285750" algn="l" defTabSz="914400" rtl="0" eaLnBrk="1" fontAlgn="auto" latinLnBrk="1" hangingPunct="1">
              <a:lnSpc>
                <a:spcPct val="100000"/>
              </a:lnSpc>
              <a:spcBef>
                <a:spcPts val="0"/>
              </a:spcBef>
              <a:spcAft>
                <a:spcPts val="0"/>
              </a:spcAft>
              <a:buClrTx/>
              <a:buSzTx/>
              <a:buFontTx/>
              <a:buChar char="-"/>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하자 있는 청구항 단위로 일부무효</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일부취소</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0" name="TextBox 69">
            <a:extLst>
              <a:ext uri="{FF2B5EF4-FFF2-40B4-BE49-F238E27FC236}">
                <a16:creationId xmlns:a16="http://schemas.microsoft.com/office/drawing/2014/main" id="{29ECFD1E-2BDD-448D-AA8A-789FE381B0E8}"/>
              </a:ext>
            </a:extLst>
          </p:cNvPr>
          <p:cNvSpPr txBox="1"/>
          <p:nvPr/>
        </p:nvSpPr>
        <p:spPr>
          <a:xfrm>
            <a:off x="7157212" y="2699619"/>
            <a:ext cx="4490288" cy="369332"/>
          </a:xfrm>
          <a:prstGeom prst="rect">
            <a:avLst/>
          </a:prstGeom>
          <a:noFill/>
        </p:spPr>
        <p:txBody>
          <a:bodyPr wrap="square" rtlCol="0">
            <a:noAutofit/>
          </a:bodyPr>
          <a:lstStyle/>
          <a:p>
            <a:pPr marL="285750" marR="0" lvl="0" indent="-285750" algn="l" defTabSz="914400" rtl="0" eaLnBrk="1" fontAlgn="auto" latinLnBrk="1" hangingPunct="1">
              <a:lnSpc>
                <a:spcPct val="100000"/>
              </a:lnSpc>
              <a:spcBef>
                <a:spcPts val="0"/>
              </a:spcBef>
              <a:spcAft>
                <a:spcPts val="0"/>
              </a:spcAft>
              <a:buClrTx/>
              <a:buSzTx/>
              <a:buFontTx/>
              <a:buChar char="-"/>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일부 청구항이라도 거절이유가 있으면 출원전체가 거절결정</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출원일체의 원칙</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9" name="TextBox 8">
            <a:extLst>
              <a:ext uri="{FF2B5EF4-FFF2-40B4-BE49-F238E27FC236}">
                <a16:creationId xmlns:a16="http://schemas.microsoft.com/office/drawing/2014/main" id="{B3697052-3F8A-7061-7779-A7D34E0052D2}"/>
              </a:ext>
            </a:extLst>
          </p:cNvPr>
          <p:cNvSpPr txBox="1"/>
          <p:nvPr/>
        </p:nvSpPr>
        <p:spPr>
          <a:xfrm>
            <a:off x="7157211" y="5823733"/>
            <a:ext cx="4387089" cy="523220"/>
          </a:xfrm>
          <a:prstGeom prst="rect">
            <a:avLst/>
          </a:prstGeom>
          <a:solidFill>
            <a:schemeClr val="bg1">
              <a:lumMod val="95000"/>
            </a:schemeClr>
          </a:solid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예를 들어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발명에 흠결이 있는 경우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B, C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발명에 흠결이 없더라도 청구항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에 흠결이 있는 것으로 처리</a:t>
            </a:r>
          </a:p>
        </p:txBody>
      </p:sp>
      <p:sp>
        <p:nvSpPr>
          <p:cNvPr id="10" name="TextBox 9">
            <a:extLst>
              <a:ext uri="{FF2B5EF4-FFF2-40B4-BE49-F238E27FC236}">
                <a16:creationId xmlns:a16="http://schemas.microsoft.com/office/drawing/2014/main" id="{DC30C115-1A1D-00C1-7763-E8831D4689A9}"/>
              </a:ext>
            </a:extLst>
          </p:cNvPr>
          <p:cNvSpPr txBox="1"/>
          <p:nvPr/>
        </p:nvSpPr>
        <p:spPr>
          <a:xfrm>
            <a:off x="7157211" y="3305865"/>
            <a:ext cx="4387089" cy="523220"/>
          </a:xfrm>
          <a:prstGeom prst="rect">
            <a:avLst/>
          </a:prstGeom>
          <a:solidFill>
            <a:schemeClr val="bg1">
              <a:lumMod val="95000"/>
            </a:schemeClr>
          </a:solid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예를 들어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청구항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에 흠결이 있는 경우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청구항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2, 3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에 흠결이 없더라도 출원 전체를 거절결정</a:t>
            </a:r>
          </a:p>
        </p:txBody>
      </p:sp>
      <p:sp>
        <p:nvSpPr>
          <p:cNvPr id="11" name="TextBox 10">
            <a:extLst>
              <a:ext uri="{FF2B5EF4-FFF2-40B4-BE49-F238E27FC236}">
                <a16:creationId xmlns:a16="http://schemas.microsoft.com/office/drawing/2014/main" id="{FD1A627E-1570-4710-991D-11A7B0F4A3BB}"/>
              </a:ext>
            </a:extLst>
          </p:cNvPr>
          <p:cNvSpPr txBox="1"/>
          <p:nvPr/>
        </p:nvSpPr>
        <p:spPr>
          <a:xfrm>
            <a:off x="7157211" y="4421718"/>
            <a:ext cx="4387089" cy="523220"/>
          </a:xfrm>
          <a:prstGeom prst="rect">
            <a:avLst/>
          </a:prstGeom>
          <a:solidFill>
            <a:schemeClr val="bg1">
              <a:lumMod val="95000"/>
            </a:schemeClr>
          </a:solid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예를 들어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청구항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에 흠결이 있고</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청구항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2, 3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에 흠결이 없는 경우 청구항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만 무효</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취소</a:t>
            </a:r>
          </a:p>
        </p:txBody>
      </p:sp>
      <p:graphicFrame>
        <p:nvGraphicFramePr>
          <p:cNvPr id="7" name="표 6">
            <a:extLst>
              <a:ext uri="{FF2B5EF4-FFF2-40B4-BE49-F238E27FC236}">
                <a16:creationId xmlns:a16="http://schemas.microsoft.com/office/drawing/2014/main" id="{08FBC030-DA7B-B254-6EE3-DEF4DD50DF3B}"/>
              </a:ext>
            </a:extLst>
          </p:cNvPr>
          <p:cNvGraphicFramePr>
            <a:graphicFrameLocks noGrp="1"/>
          </p:cNvGraphicFramePr>
          <p:nvPr/>
        </p:nvGraphicFramePr>
        <p:xfrm>
          <a:off x="6293300" y="1221483"/>
          <a:ext cx="5251000" cy="929499"/>
        </p:xfrm>
        <a:graphic>
          <a:graphicData uri="http://schemas.openxmlformats.org/drawingml/2006/table">
            <a:tbl>
              <a:tblPr>
                <a:tableStyleId>{8799B23B-EC83-4686-B30A-512413B5E67A}</a:tableStyleId>
              </a:tblPr>
              <a:tblGrid>
                <a:gridCol w="672966">
                  <a:extLst>
                    <a:ext uri="{9D8B030D-6E8A-4147-A177-3AD203B41FA5}">
                      <a16:colId xmlns:a16="http://schemas.microsoft.com/office/drawing/2014/main" val="3599078112"/>
                    </a:ext>
                  </a:extLst>
                </a:gridCol>
                <a:gridCol w="1457217">
                  <a:extLst>
                    <a:ext uri="{9D8B030D-6E8A-4147-A177-3AD203B41FA5}">
                      <a16:colId xmlns:a16="http://schemas.microsoft.com/office/drawing/2014/main" val="3119953685"/>
                    </a:ext>
                  </a:extLst>
                </a:gridCol>
                <a:gridCol w="1828705">
                  <a:extLst>
                    <a:ext uri="{9D8B030D-6E8A-4147-A177-3AD203B41FA5}">
                      <a16:colId xmlns:a16="http://schemas.microsoft.com/office/drawing/2014/main" val="4123206507"/>
                    </a:ext>
                  </a:extLst>
                </a:gridCol>
                <a:gridCol w="1292112">
                  <a:extLst>
                    <a:ext uri="{9D8B030D-6E8A-4147-A177-3AD203B41FA5}">
                      <a16:colId xmlns:a16="http://schemas.microsoft.com/office/drawing/2014/main" val="3355360187"/>
                    </a:ext>
                  </a:extLst>
                </a:gridCol>
              </a:tblGrid>
              <a:tr h="309833">
                <a:tc>
                  <a:txBody>
                    <a:bodyPr/>
                    <a:lstStyle/>
                    <a:p>
                      <a:pPr marL="0" marR="0" indent="0" algn="ctr" fontAlgn="base" latinLnBrk="0">
                        <a:lnSpc>
                          <a:spcPct val="130000"/>
                        </a:lnSpc>
                        <a:spcBef>
                          <a:spcPts val="0"/>
                        </a:spcBef>
                        <a:spcAft>
                          <a:spcPts val="0"/>
                        </a:spcAft>
                      </a:pPr>
                      <a:r>
                        <a:rPr lang="ko-KR" altLang="en-US" sz="1100" kern="0" spc="-100" dirty="0">
                          <a:solidFill>
                            <a:srgbClr val="000000"/>
                          </a:solidFill>
                          <a:effectLst/>
                          <a:latin typeface="+mn-ea"/>
                          <a:ea typeface="+mn-ea"/>
                        </a:rPr>
                        <a:t>구 분</a:t>
                      </a:r>
                    </a:p>
                  </a:txBody>
                  <a:tcPr marL="17907" marR="17907" marT="17907" marB="17907" anchor="ctr">
                    <a:solidFill>
                      <a:schemeClr val="accent4">
                        <a:lumMod val="40000"/>
                        <a:lumOff val="60000"/>
                      </a:schemeClr>
                    </a:solidFill>
                  </a:tcPr>
                </a:tc>
                <a:tc>
                  <a:txBody>
                    <a:bodyPr/>
                    <a:lstStyle/>
                    <a:p>
                      <a:pPr marL="0" marR="0" indent="0" algn="ctr" fontAlgn="base" latinLnBrk="0">
                        <a:lnSpc>
                          <a:spcPct val="130000"/>
                        </a:lnSpc>
                        <a:spcBef>
                          <a:spcPts val="0"/>
                        </a:spcBef>
                        <a:spcAft>
                          <a:spcPts val="0"/>
                        </a:spcAft>
                      </a:pPr>
                      <a:r>
                        <a:rPr lang="ko-KR" altLang="en-US" sz="1100" kern="0" spc="-100" dirty="0">
                          <a:solidFill>
                            <a:srgbClr val="000000"/>
                          </a:solidFill>
                          <a:effectLst/>
                          <a:latin typeface="+mn-ea"/>
                          <a:ea typeface="+mn-ea"/>
                        </a:rPr>
                        <a:t>검토</a:t>
                      </a:r>
                    </a:p>
                  </a:txBody>
                  <a:tcPr marL="17907" marR="17907" marT="17907" marB="17907" anchor="ctr">
                    <a:solidFill>
                      <a:schemeClr val="accent4">
                        <a:lumMod val="40000"/>
                        <a:lumOff val="60000"/>
                      </a:schemeClr>
                    </a:solidFill>
                  </a:tcPr>
                </a:tc>
                <a:tc>
                  <a:txBody>
                    <a:bodyPr/>
                    <a:lstStyle/>
                    <a:p>
                      <a:pPr marL="0" marR="0" indent="0" algn="ctr" fontAlgn="base" latinLnBrk="0">
                        <a:lnSpc>
                          <a:spcPct val="130000"/>
                        </a:lnSpc>
                        <a:spcBef>
                          <a:spcPts val="0"/>
                        </a:spcBef>
                        <a:spcAft>
                          <a:spcPts val="0"/>
                        </a:spcAft>
                      </a:pPr>
                      <a:r>
                        <a:rPr lang="ko-KR" altLang="en-US" sz="1100" kern="0" spc="-100" dirty="0">
                          <a:solidFill>
                            <a:srgbClr val="000000"/>
                          </a:solidFill>
                          <a:effectLst/>
                          <a:latin typeface="+mn-ea"/>
                          <a:ea typeface="+mn-ea"/>
                        </a:rPr>
                        <a:t>처리</a:t>
                      </a:r>
                    </a:p>
                  </a:txBody>
                  <a:tcPr marL="17907" marR="17907" marT="17907" marB="17907" anchor="ctr">
                    <a:solidFill>
                      <a:schemeClr val="accent4">
                        <a:lumMod val="40000"/>
                        <a:lumOff val="60000"/>
                      </a:schemeClr>
                    </a:solidFill>
                  </a:tcPr>
                </a:tc>
                <a:tc>
                  <a:txBody>
                    <a:bodyPr/>
                    <a:lstStyle/>
                    <a:p>
                      <a:pPr marL="0" marR="0" indent="0" algn="ctr" fontAlgn="base" latinLnBrk="0">
                        <a:lnSpc>
                          <a:spcPct val="130000"/>
                        </a:lnSpc>
                        <a:spcBef>
                          <a:spcPts val="0"/>
                        </a:spcBef>
                        <a:spcAft>
                          <a:spcPts val="0"/>
                        </a:spcAft>
                      </a:pPr>
                      <a:r>
                        <a:rPr lang="ko-KR" altLang="en-US" sz="1100" kern="0" spc="-100" dirty="0">
                          <a:solidFill>
                            <a:srgbClr val="000000"/>
                          </a:solidFill>
                          <a:effectLst/>
                          <a:latin typeface="+mn-ea"/>
                          <a:ea typeface="+mn-ea"/>
                        </a:rPr>
                        <a:t>비고</a:t>
                      </a:r>
                    </a:p>
                  </a:txBody>
                  <a:tcPr marL="17907" marR="17907" marT="17907" marB="17907" anchor="ctr">
                    <a:solidFill>
                      <a:schemeClr val="accent4">
                        <a:lumMod val="40000"/>
                        <a:lumOff val="60000"/>
                      </a:schemeClr>
                    </a:solidFill>
                  </a:tcPr>
                </a:tc>
                <a:extLst>
                  <a:ext uri="{0D108BD9-81ED-4DB2-BD59-A6C34878D82A}">
                    <a16:rowId xmlns:a16="http://schemas.microsoft.com/office/drawing/2014/main" val="680911291"/>
                  </a:ext>
                </a:extLst>
              </a:tr>
              <a:tr h="309833">
                <a:tc>
                  <a:txBody>
                    <a:bodyPr/>
                    <a:lstStyle/>
                    <a:p>
                      <a:pPr marL="0" marR="0" indent="0" algn="ctr" fontAlgn="base" latinLnBrk="0">
                        <a:lnSpc>
                          <a:spcPct val="130000"/>
                        </a:lnSpc>
                        <a:spcBef>
                          <a:spcPts val="0"/>
                        </a:spcBef>
                        <a:spcAft>
                          <a:spcPts val="0"/>
                        </a:spcAft>
                      </a:pPr>
                      <a:r>
                        <a:rPr lang="ko-KR" altLang="en-US" sz="1100" kern="0" spc="-100" dirty="0">
                          <a:solidFill>
                            <a:srgbClr val="000000"/>
                          </a:solidFill>
                          <a:effectLst/>
                          <a:latin typeface="+mn-ea"/>
                          <a:ea typeface="+mn-ea"/>
                        </a:rPr>
                        <a:t>등록 전</a:t>
                      </a:r>
                    </a:p>
                  </a:txBody>
                  <a:tcPr marL="17907" marR="17907" marT="17907" marB="17907" anchor="ctr">
                    <a:solidFill>
                      <a:schemeClr val="accent4">
                        <a:lumMod val="40000"/>
                        <a:lumOff val="60000"/>
                      </a:schemeClr>
                    </a:solidFill>
                  </a:tcPr>
                </a:tc>
                <a:tc>
                  <a:txBody>
                    <a:bodyPr/>
                    <a:lstStyle/>
                    <a:p>
                      <a:pPr marL="17780" marR="17780" indent="0" algn="ctr" fontAlgn="base" latinLnBrk="0">
                        <a:lnSpc>
                          <a:spcPct val="130000"/>
                        </a:lnSpc>
                        <a:spcBef>
                          <a:spcPts val="0"/>
                        </a:spcBef>
                        <a:spcAft>
                          <a:spcPts val="0"/>
                        </a:spcAft>
                      </a:pPr>
                      <a:r>
                        <a:rPr lang="ko-KR" altLang="en-US" sz="1100" kern="0" spc="-50" dirty="0">
                          <a:solidFill>
                            <a:sysClr val="windowText" lastClr="000000"/>
                          </a:solidFill>
                          <a:effectLst/>
                          <a:latin typeface="+mn-ea"/>
                          <a:ea typeface="+mn-ea"/>
                        </a:rPr>
                        <a:t>발명 단위</a:t>
                      </a: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100" kern="0" spc="-50" dirty="0">
                          <a:solidFill>
                            <a:sysClr val="windowText" lastClr="000000"/>
                          </a:solidFill>
                          <a:effectLst/>
                          <a:latin typeface="+mn-ea"/>
                          <a:ea typeface="+mn-ea"/>
                        </a:rPr>
                        <a:t>출원 단위</a:t>
                      </a: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100" kern="0" spc="-50">
                          <a:solidFill>
                            <a:sysClr val="windowText" lastClr="000000"/>
                          </a:solidFill>
                          <a:effectLst/>
                          <a:latin typeface="+mn-ea"/>
                          <a:ea typeface="+mn-ea"/>
                        </a:rPr>
                        <a:t>심사의 무결성 추구</a:t>
                      </a:r>
                    </a:p>
                  </a:txBody>
                  <a:tcPr marL="17907" marR="17907" marT="17907" marB="17907" anchor="ctr"/>
                </a:tc>
                <a:extLst>
                  <a:ext uri="{0D108BD9-81ED-4DB2-BD59-A6C34878D82A}">
                    <a16:rowId xmlns:a16="http://schemas.microsoft.com/office/drawing/2014/main" val="3944363395"/>
                  </a:ext>
                </a:extLst>
              </a:tr>
              <a:tr h="309833">
                <a:tc>
                  <a:txBody>
                    <a:bodyPr/>
                    <a:lstStyle/>
                    <a:p>
                      <a:pPr marL="0" marR="0" indent="0" algn="ctr" fontAlgn="base" latinLnBrk="0">
                        <a:lnSpc>
                          <a:spcPct val="130000"/>
                        </a:lnSpc>
                        <a:spcBef>
                          <a:spcPts val="0"/>
                        </a:spcBef>
                        <a:spcAft>
                          <a:spcPts val="0"/>
                        </a:spcAft>
                      </a:pPr>
                      <a:r>
                        <a:rPr lang="ko-KR" altLang="en-US" sz="1100" kern="0" spc="-100" dirty="0">
                          <a:solidFill>
                            <a:srgbClr val="000000"/>
                          </a:solidFill>
                          <a:effectLst/>
                          <a:latin typeface="+mn-ea"/>
                          <a:ea typeface="+mn-ea"/>
                        </a:rPr>
                        <a:t>등록 후</a:t>
                      </a:r>
                    </a:p>
                  </a:txBody>
                  <a:tcPr marL="17907" marR="17907" marT="17907" marB="17907" anchor="ctr">
                    <a:solidFill>
                      <a:schemeClr val="accent4">
                        <a:lumMod val="40000"/>
                        <a:lumOff val="60000"/>
                      </a:schemeClr>
                    </a:solidFill>
                  </a:tcPr>
                </a:tc>
                <a:tc>
                  <a:txBody>
                    <a:bodyPr/>
                    <a:lstStyle/>
                    <a:p>
                      <a:pPr marL="17780" marR="17780" indent="0" algn="ctr" fontAlgn="base" latinLnBrk="0">
                        <a:lnSpc>
                          <a:spcPct val="130000"/>
                        </a:lnSpc>
                        <a:spcBef>
                          <a:spcPts val="0"/>
                        </a:spcBef>
                        <a:spcAft>
                          <a:spcPts val="0"/>
                        </a:spcAft>
                      </a:pPr>
                      <a:r>
                        <a:rPr lang="ko-KR" altLang="en-US" sz="1100" kern="0" spc="-50" dirty="0">
                          <a:solidFill>
                            <a:sysClr val="windowText" lastClr="000000"/>
                          </a:solidFill>
                          <a:effectLst/>
                          <a:latin typeface="+mn-ea"/>
                          <a:ea typeface="+mn-ea"/>
                        </a:rPr>
                        <a:t>발명 단위</a:t>
                      </a: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100" kern="0" spc="-50" dirty="0">
                          <a:solidFill>
                            <a:sysClr val="windowText" lastClr="000000"/>
                          </a:solidFill>
                          <a:effectLst/>
                          <a:latin typeface="+mn-ea"/>
                          <a:ea typeface="+mn-ea"/>
                        </a:rPr>
                        <a:t>청구항 단위</a:t>
                      </a:r>
                      <a:r>
                        <a:rPr lang="en-US" altLang="ko-KR" sz="1100" kern="0" spc="-50" dirty="0">
                          <a:solidFill>
                            <a:sysClr val="windowText" lastClr="000000"/>
                          </a:solidFill>
                          <a:effectLst/>
                          <a:latin typeface="+mn-ea"/>
                          <a:ea typeface="+mn-ea"/>
                        </a:rPr>
                        <a:t>(</a:t>
                      </a:r>
                      <a:r>
                        <a:rPr lang="ko-KR" altLang="en-US" sz="1100" kern="0" spc="-50" dirty="0">
                          <a:solidFill>
                            <a:sysClr val="windowText" lastClr="000000"/>
                          </a:solidFill>
                          <a:effectLst/>
                          <a:latin typeface="+mn-ea"/>
                          <a:ea typeface="+mn-ea"/>
                        </a:rPr>
                        <a:t>일부무효</a:t>
                      </a:r>
                      <a:r>
                        <a:rPr lang="en-US" altLang="ko-KR" sz="1100" kern="0" spc="-50" dirty="0">
                          <a:solidFill>
                            <a:sysClr val="windowText" lastClr="000000"/>
                          </a:solidFill>
                          <a:effectLst/>
                          <a:latin typeface="+mn-ea"/>
                          <a:ea typeface="+mn-ea"/>
                        </a:rPr>
                        <a:t>)</a:t>
                      </a:r>
                      <a:endParaRPr lang="ko-KR" altLang="en-US" sz="1100" kern="0" spc="-50" dirty="0">
                        <a:solidFill>
                          <a:sysClr val="windowText" lastClr="000000"/>
                        </a:solidFill>
                        <a:effectLst/>
                        <a:latin typeface="+mn-ea"/>
                        <a:ea typeface="+mn-ea"/>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100" kern="0" spc="-50" dirty="0">
                          <a:solidFill>
                            <a:sysClr val="windowText" lastClr="000000"/>
                          </a:solidFill>
                          <a:effectLst/>
                          <a:latin typeface="+mn-ea"/>
                          <a:ea typeface="+mn-ea"/>
                        </a:rPr>
                        <a:t>특허권자의 보호 추구</a:t>
                      </a:r>
                    </a:p>
                  </a:txBody>
                  <a:tcPr marL="17907" marR="17907" marT="17907" marB="17907" anchor="ctr"/>
                </a:tc>
                <a:extLst>
                  <a:ext uri="{0D108BD9-81ED-4DB2-BD59-A6C34878D82A}">
                    <a16:rowId xmlns:a16="http://schemas.microsoft.com/office/drawing/2014/main" val="542889679"/>
                  </a:ext>
                </a:extLst>
              </a:tr>
            </a:tbl>
          </a:graphicData>
        </a:graphic>
      </p:graphicFrame>
    </p:spTree>
    <p:extLst>
      <p:ext uri="{BB962C8B-B14F-4D97-AF65-F5344CB8AC3E}">
        <p14:creationId xmlns:p14="http://schemas.microsoft.com/office/powerpoint/2010/main" val="2843022146"/>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특허요건 체계</a:t>
            </a:r>
            <a:r>
              <a:rPr lang="en-US" altLang="ko-KR" dirty="0"/>
              <a:t>: </a:t>
            </a:r>
            <a:r>
              <a:rPr lang="ko-KR" altLang="en-US" dirty="0"/>
              <a:t>제</a:t>
            </a:r>
            <a:r>
              <a:rPr lang="en-US" altLang="ko-KR" dirty="0"/>
              <a:t>2</a:t>
            </a:r>
            <a:r>
              <a:rPr lang="ko-KR" altLang="en-US"/>
              <a:t>장</a:t>
            </a:r>
            <a:endParaRPr lang="ko-KR" altLang="en-US" dirty="0"/>
          </a:p>
        </p:txBody>
      </p:sp>
      <p:sp>
        <p:nvSpPr>
          <p:cNvPr id="5" name="직사각형 4"/>
          <p:cNvSpPr/>
          <p:nvPr/>
        </p:nvSpPr>
        <p:spPr>
          <a:xfrm>
            <a:off x="953688" y="3266569"/>
            <a:ext cx="970795" cy="940625"/>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400" b="0" i="0" u="none" strike="noStrike" kern="1200" cap="none" spc="0" normalizeH="0" baseline="0" noProof="0" dirty="0">
                <a:ln>
                  <a:noFill/>
                </a:ln>
                <a:solidFill>
                  <a:prstClr val="white"/>
                </a:solidFill>
                <a:effectLst/>
                <a:uLnTx/>
                <a:uFillTx/>
                <a:latin typeface="Frutiger LT 65 Bold"/>
                <a:ea typeface="Rix모던고딕 B"/>
                <a:cs typeface="+mn-cs"/>
              </a:rPr>
              <a:t>특허요건</a:t>
            </a:r>
          </a:p>
        </p:txBody>
      </p:sp>
      <p:sp>
        <p:nvSpPr>
          <p:cNvPr id="7" name="직사각형 6"/>
          <p:cNvSpPr/>
          <p:nvPr/>
        </p:nvSpPr>
        <p:spPr>
          <a:xfrm>
            <a:off x="7023274" y="1192744"/>
            <a:ext cx="3888432" cy="379904"/>
          </a:xfrm>
          <a:prstGeom prst="rect">
            <a:avLst/>
          </a:prstGeom>
          <a:solidFill>
            <a:schemeClr val="accent2">
              <a:lumMod val="20000"/>
              <a:lumOff val="8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협의의 특허요건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29)</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 name="직사각형 7"/>
          <p:cNvSpPr/>
          <p:nvPr/>
        </p:nvSpPr>
        <p:spPr>
          <a:xfrm>
            <a:off x="7023274" y="1699283"/>
            <a:ext cx="3888432" cy="379904"/>
          </a:xfrm>
          <a:prstGeom prst="rect">
            <a:avLst/>
          </a:prstGeom>
          <a:solidFill>
            <a:schemeClr val="accent2">
              <a:lumMod val="20000"/>
              <a:lumOff val="8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선출원주의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36)</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 name="직사각형 8"/>
          <p:cNvSpPr/>
          <p:nvPr/>
        </p:nvSpPr>
        <p:spPr>
          <a:xfrm>
            <a:off x="7023274" y="2366695"/>
            <a:ext cx="3888432" cy="379904"/>
          </a:xfrm>
          <a:prstGeom prst="rect">
            <a:avLst/>
          </a:prstGeom>
          <a:solidFill>
            <a:schemeClr val="accent4">
              <a:lumMod val="20000"/>
              <a:lumOff val="80000"/>
            </a:schemeClr>
          </a:solidFill>
          <a:ln>
            <a:solidFill>
              <a:schemeClr val="accent4">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불특허발명</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32)</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 name="직사각형 9"/>
          <p:cNvSpPr/>
          <p:nvPr/>
        </p:nvSpPr>
        <p:spPr>
          <a:xfrm>
            <a:off x="7023274" y="2873234"/>
            <a:ext cx="3888432" cy="379904"/>
          </a:xfrm>
          <a:prstGeom prst="rect">
            <a:avLst/>
          </a:prstGeom>
          <a:solidFill>
            <a:schemeClr val="accent4">
              <a:lumMod val="20000"/>
              <a:lumOff val="80000"/>
            </a:schemeClr>
          </a:solidFill>
          <a:ln>
            <a:solidFill>
              <a:schemeClr val="accent4">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국방상 필요한 발명</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41, 106)</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 name="직사각형 10"/>
          <p:cNvSpPr/>
          <p:nvPr/>
        </p:nvSpPr>
        <p:spPr>
          <a:xfrm>
            <a:off x="7023274" y="3597336"/>
            <a:ext cx="3888432" cy="379904"/>
          </a:xfrm>
          <a:prstGeom prst="rect">
            <a:avLst/>
          </a:prstGeom>
          <a:solidFill>
            <a:schemeClr val="tx2">
              <a:lumMod val="20000"/>
              <a:lumOff val="80000"/>
            </a:schemeClr>
          </a:solidFill>
          <a:ln>
            <a:solidFill>
              <a:schemeClr val="tx2">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출원인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25, 33, 44)</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 name="직사각형 11"/>
          <p:cNvSpPr/>
          <p:nvPr/>
        </p:nvSpPr>
        <p:spPr>
          <a:xfrm>
            <a:off x="7023274" y="4103875"/>
            <a:ext cx="3888432" cy="379904"/>
          </a:xfrm>
          <a:prstGeom prst="rect">
            <a:avLst/>
          </a:prstGeom>
          <a:solidFill>
            <a:schemeClr val="tx2">
              <a:lumMod val="20000"/>
              <a:lumOff val="80000"/>
            </a:schemeClr>
          </a:solidFill>
          <a:ln>
            <a:solidFill>
              <a:schemeClr val="tx2">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있는 권리</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37, 38)</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 name="직사각형 12"/>
          <p:cNvSpPr/>
          <p:nvPr/>
        </p:nvSpPr>
        <p:spPr>
          <a:xfrm>
            <a:off x="3443121" y="2763176"/>
            <a:ext cx="1385106" cy="823126"/>
          </a:xfrm>
          <a:prstGeom prst="rect">
            <a:avLst/>
          </a:prstGeom>
          <a:solidFill>
            <a:schemeClr val="accent4"/>
          </a:solidFill>
          <a:ln>
            <a:solidFill>
              <a:schemeClr val="accent4">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특허를 받을 수 없는 발명</a:t>
            </a:r>
          </a:p>
        </p:txBody>
      </p:sp>
      <p:sp>
        <p:nvSpPr>
          <p:cNvPr id="14" name="직사각형 13"/>
          <p:cNvSpPr/>
          <p:nvPr/>
        </p:nvSpPr>
        <p:spPr>
          <a:xfrm>
            <a:off x="3443121" y="3969884"/>
            <a:ext cx="1385106" cy="823126"/>
          </a:xfrm>
          <a:prstGeom prst="rect">
            <a:avLst/>
          </a:prstGeom>
          <a:solidFill>
            <a:schemeClr val="tx2"/>
          </a:solidFill>
          <a:ln>
            <a:solidFill>
              <a:schemeClr val="tx2">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특허를 받을 수 있는 자</a:t>
            </a:r>
          </a:p>
        </p:txBody>
      </p:sp>
      <p:sp>
        <p:nvSpPr>
          <p:cNvPr id="50" name="직사각형 49"/>
          <p:cNvSpPr/>
          <p:nvPr/>
        </p:nvSpPr>
        <p:spPr>
          <a:xfrm>
            <a:off x="3443121" y="1602110"/>
            <a:ext cx="1385106" cy="82312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특허를 받을 수 있는 발명</a:t>
            </a:r>
          </a:p>
        </p:txBody>
      </p:sp>
      <p:sp>
        <p:nvSpPr>
          <p:cNvPr id="63" name="직사각형 62"/>
          <p:cNvSpPr/>
          <p:nvPr/>
        </p:nvSpPr>
        <p:spPr>
          <a:xfrm>
            <a:off x="3443121" y="5121351"/>
            <a:ext cx="1385106" cy="823126"/>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특허를 받을 수 있는 출원</a:t>
            </a:r>
          </a:p>
        </p:txBody>
      </p:sp>
      <p:sp>
        <p:nvSpPr>
          <p:cNvPr id="74" name="직사각형 73"/>
          <p:cNvSpPr/>
          <p:nvPr/>
        </p:nvSpPr>
        <p:spPr>
          <a:xfrm>
            <a:off x="7023274" y="4628808"/>
            <a:ext cx="3888432" cy="379904"/>
          </a:xfrm>
          <a:prstGeom prst="rect">
            <a:avLst/>
          </a:prstGeom>
          <a:solidFill>
            <a:schemeClr val="tx2">
              <a:lumMod val="20000"/>
              <a:lumOff val="80000"/>
            </a:schemeClr>
          </a:solidFill>
          <a:ln>
            <a:solidFill>
              <a:schemeClr val="tx2">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직무발명</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발진법</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 10~19, 58)</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5" name="직사각형 74"/>
          <p:cNvSpPr/>
          <p:nvPr/>
        </p:nvSpPr>
        <p:spPr>
          <a:xfrm>
            <a:off x="7023274" y="5342714"/>
            <a:ext cx="3888432" cy="379904"/>
          </a:xfrm>
          <a:prstGeom prst="rect">
            <a:avLst/>
          </a:prstGeom>
          <a:solidFill>
            <a:schemeClr val="accent3">
              <a:lumMod val="20000"/>
              <a:lumOff val="80000"/>
            </a:schemeClr>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42~42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3, 43)</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6" name="직사각형 75"/>
          <p:cNvSpPr/>
          <p:nvPr/>
        </p:nvSpPr>
        <p:spPr>
          <a:xfrm>
            <a:off x="7023274" y="5867647"/>
            <a:ext cx="3888432" cy="379904"/>
          </a:xfrm>
          <a:prstGeom prst="rect">
            <a:avLst/>
          </a:prstGeom>
          <a:solidFill>
            <a:schemeClr val="accent3">
              <a:lumMod val="20000"/>
              <a:lumOff val="80000"/>
            </a:schemeClr>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하나의 특허출원의 범위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45)</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8" name="꺾인 연결선 77"/>
          <p:cNvCxnSpPr>
            <a:stCxn id="5" idx="3"/>
            <a:endCxn id="50" idx="1"/>
          </p:cNvCxnSpPr>
          <p:nvPr/>
        </p:nvCxnSpPr>
        <p:spPr>
          <a:xfrm flipV="1">
            <a:off x="1924483" y="2013673"/>
            <a:ext cx="1518638" cy="172320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꺾인 연결선 79"/>
          <p:cNvCxnSpPr>
            <a:stCxn id="5" idx="3"/>
            <a:endCxn id="63" idx="1"/>
          </p:cNvCxnSpPr>
          <p:nvPr/>
        </p:nvCxnSpPr>
        <p:spPr>
          <a:xfrm>
            <a:off x="1924483" y="3736882"/>
            <a:ext cx="1518638" cy="179603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꺾인 연결선 81"/>
          <p:cNvCxnSpPr>
            <a:stCxn id="5" idx="3"/>
            <a:endCxn id="13" idx="1"/>
          </p:cNvCxnSpPr>
          <p:nvPr/>
        </p:nvCxnSpPr>
        <p:spPr>
          <a:xfrm flipV="1">
            <a:off x="1924483" y="3174739"/>
            <a:ext cx="1518638" cy="56214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꺾인 연결선 84"/>
          <p:cNvCxnSpPr>
            <a:stCxn id="5" idx="3"/>
            <a:endCxn id="14" idx="1"/>
          </p:cNvCxnSpPr>
          <p:nvPr/>
        </p:nvCxnSpPr>
        <p:spPr>
          <a:xfrm>
            <a:off x="1924483" y="3736882"/>
            <a:ext cx="1518638" cy="64456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꺾인 연결선 86"/>
          <p:cNvCxnSpPr>
            <a:stCxn id="50" idx="3"/>
            <a:endCxn id="7" idx="1"/>
          </p:cNvCxnSpPr>
          <p:nvPr/>
        </p:nvCxnSpPr>
        <p:spPr>
          <a:xfrm flipV="1">
            <a:off x="4828227" y="1382696"/>
            <a:ext cx="2195047" cy="63097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꺾인 연결선 88"/>
          <p:cNvCxnSpPr>
            <a:stCxn id="50" idx="3"/>
            <a:endCxn id="8" idx="1"/>
          </p:cNvCxnSpPr>
          <p:nvPr/>
        </p:nvCxnSpPr>
        <p:spPr>
          <a:xfrm flipV="1">
            <a:off x="4828227" y="1889235"/>
            <a:ext cx="2195047" cy="12443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꺾인 연결선 90"/>
          <p:cNvCxnSpPr>
            <a:stCxn id="13" idx="3"/>
            <a:endCxn id="9" idx="1"/>
          </p:cNvCxnSpPr>
          <p:nvPr/>
        </p:nvCxnSpPr>
        <p:spPr>
          <a:xfrm flipV="1">
            <a:off x="4828227" y="2556647"/>
            <a:ext cx="2195047" cy="61809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꺾인 연결선 92"/>
          <p:cNvCxnSpPr>
            <a:stCxn id="13" idx="3"/>
            <a:endCxn id="10" idx="1"/>
          </p:cNvCxnSpPr>
          <p:nvPr/>
        </p:nvCxnSpPr>
        <p:spPr>
          <a:xfrm flipV="1">
            <a:off x="4828227" y="3063186"/>
            <a:ext cx="2195047" cy="11155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꺾인 연결선 94"/>
          <p:cNvCxnSpPr>
            <a:stCxn id="14" idx="3"/>
            <a:endCxn id="11" idx="1"/>
          </p:cNvCxnSpPr>
          <p:nvPr/>
        </p:nvCxnSpPr>
        <p:spPr>
          <a:xfrm flipV="1">
            <a:off x="4828227" y="3787288"/>
            <a:ext cx="2195047" cy="59415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꺾인 연결선 96"/>
          <p:cNvCxnSpPr>
            <a:stCxn id="14" idx="3"/>
            <a:endCxn id="12" idx="1"/>
          </p:cNvCxnSpPr>
          <p:nvPr/>
        </p:nvCxnSpPr>
        <p:spPr>
          <a:xfrm flipV="1">
            <a:off x="4828227" y="4293827"/>
            <a:ext cx="2195047" cy="8762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꺾인 연결선 98"/>
          <p:cNvCxnSpPr>
            <a:stCxn id="14" idx="3"/>
            <a:endCxn id="74" idx="1"/>
          </p:cNvCxnSpPr>
          <p:nvPr/>
        </p:nvCxnSpPr>
        <p:spPr>
          <a:xfrm>
            <a:off x="4828227" y="4381447"/>
            <a:ext cx="2195047" cy="43731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꺾인 연결선 100"/>
          <p:cNvCxnSpPr>
            <a:stCxn id="63" idx="3"/>
            <a:endCxn id="75" idx="1"/>
          </p:cNvCxnSpPr>
          <p:nvPr/>
        </p:nvCxnSpPr>
        <p:spPr>
          <a:xfrm flipV="1">
            <a:off x="4828227" y="5532666"/>
            <a:ext cx="2195047" cy="24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꺾인 연결선 102"/>
          <p:cNvCxnSpPr>
            <a:stCxn id="63" idx="3"/>
            <a:endCxn id="76" idx="1"/>
          </p:cNvCxnSpPr>
          <p:nvPr/>
        </p:nvCxnSpPr>
        <p:spPr>
          <a:xfrm>
            <a:off x="4828227" y="5532914"/>
            <a:ext cx="2195047" cy="52468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143</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875350764"/>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특허요건 정리</a:t>
            </a:r>
          </a:p>
        </p:txBody>
      </p:sp>
      <p:graphicFrame>
        <p:nvGraphicFramePr>
          <p:cNvPr id="2" name="표 1"/>
          <p:cNvGraphicFramePr>
            <a:graphicFrameLocks noGrp="1"/>
          </p:cNvGraphicFramePr>
          <p:nvPr/>
        </p:nvGraphicFramePr>
        <p:xfrm>
          <a:off x="211671" y="963144"/>
          <a:ext cx="11650133" cy="5640588"/>
        </p:xfrm>
        <a:graphic>
          <a:graphicData uri="http://schemas.openxmlformats.org/drawingml/2006/table">
            <a:tbl>
              <a:tblPr/>
              <a:tblGrid>
                <a:gridCol w="395026">
                  <a:extLst>
                    <a:ext uri="{9D8B030D-6E8A-4147-A177-3AD203B41FA5}">
                      <a16:colId xmlns:a16="http://schemas.microsoft.com/office/drawing/2014/main" val="20000"/>
                    </a:ext>
                  </a:extLst>
                </a:gridCol>
                <a:gridCol w="539868">
                  <a:extLst>
                    <a:ext uri="{9D8B030D-6E8A-4147-A177-3AD203B41FA5}">
                      <a16:colId xmlns:a16="http://schemas.microsoft.com/office/drawing/2014/main" val="20001"/>
                    </a:ext>
                  </a:extLst>
                </a:gridCol>
                <a:gridCol w="544740">
                  <a:extLst>
                    <a:ext uri="{9D8B030D-6E8A-4147-A177-3AD203B41FA5}">
                      <a16:colId xmlns:a16="http://schemas.microsoft.com/office/drawing/2014/main" val="20002"/>
                    </a:ext>
                  </a:extLst>
                </a:gridCol>
                <a:gridCol w="1666127">
                  <a:extLst>
                    <a:ext uri="{9D8B030D-6E8A-4147-A177-3AD203B41FA5}">
                      <a16:colId xmlns:a16="http://schemas.microsoft.com/office/drawing/2014/main" val="20003"/>
                    </a:ext>
                  </a:extLst>
                </a:gridCol>
                <a:gridCol w="1372957">
                  <a:extLst>
                    <a:ext uri="{9D8B030D-6E8A-4147-A177-3AD203B41FA5}">
                      <a16:colId xmlns:a16="http://schemas.microsoft.com/office/drawing/2014/main" val="20004"/>
                    </a:ext>
                  </a:extLst>
                </a:gridCol>
                <a:gridCol w="1593510">
                  <a:extLst>
                    <a:ext uri="{9D8B030D-6E8A-4147-A177-3AD203B41FA5}">
                      <a16:colId xmlns:a16="http://schemas.microsoft.com/office/drawing/2014/main" val="20005"/>
                    </a:ext>
                  </a:extLst>
                </a:gridCol>
                <a:gridCol w="1920611">
                  <a:extLst>
                    <a:ext uri="{9D8B030D-6E8A-4147-A177-3AD203B41FA5}">
                      <a16:colId xmlns:a16="http://schemas.microsoft.com/office/drawing/2014/main" val="20006"/>
                    </a:ext>
                  </a:extLst>
                </a:gridCol>
                <a:gridCol w="1927373">
                  <a:extLst>
                    <a:ext uri="{9D8B030D-6E8A-4147-A177-3AD203B41FA5}">
                      <a16:colId xmlns:a16="http://schemas.microsoft.com/office/drawing/2014/main" val="20007"/>
                    </a:ext>
                  </a:extLst>
                </a:gridCol>
                <a:gridCol w="1689921">
                  <a:extLst>
                    <a:ext uri="{9D8B030D-6E8A-4147-A177-3AD203B41FA5}">
                      <a16:colId xmlns:a16="http://schemas.microsoft.com/office/drawing/2014/main" val="20008"/>
                    </a:ext>
                  </a:extLst>
                </a:gridCol>
              </a:tblGrid>
              <a:tr h="105232">
                <a:tc gridSpan="3">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　요건</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발명의 </a:t>
                      </a:r>
                      <a:r>
                        <a:rPr lang="ko-KR" altLang="en-US" sz="950" kern="1200" dirty="0" err="1">
                          <a:solidFill>
                            <a:schemeClr val="tx1"/>
                          </a:solidFill>
                          <a:latin typeface="+mn-lt"/>
                          <a:ea typeface="+mn-ea"/>
                          <a:cs typeface="+mn-cs"/>
                        </a:rPr>
                        <a:t>성립성</a:t>
                      </a:r>
                      <a:endParaRPr lang="en-US" altLang="ko-KR" sz="950" kern="1200" dirty="0">
                        <a:solidFill>
                          <a:schemeClr val="tx1"/>
                        </a:solidFill>
                        <a:latin typeface="+mn-lt"/>
                        <a:ea typeface="+mn-ea"/>
                        <a:cs typeface="+mn-cs"/>
                      </a:endParaRPr>
                    </a:p>
                    <a:p>
                      <a:pPr marL="0" marR="0" indent="0" algn="ctr" fontAlgn="base" latinLnBrk="0">
                        <a:lnSpc>
                          <a:spcPct val="100000"/>
                        </a:lnSpc>
                        <a:spcBef>
                          <a:spcPts val="0"/>
                        </a:spcBef>
                        <a:spcAft>
                          <a:spcPts val="0"/>
                        </a:spcAft>
                      </a:pP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29①</a:t>
                      </a:r>
                      <a:r>
                        <a:rPr lang="ko-KR" altLang="en-US" sz="950" kern="1200" dirty="0">
                          <a:solidFill>
                            <a:schemeClr val="tx1"/>
                          </a:solidFill>
                          <a:latin typeface="+mn-lt"/>
                          <a:ea typeface="+mn-ea"/>
                          <a:cs typeface="+mn-cs"/>
                        </a:rPr>
                        <a:t>본문</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산업상 이용가능성</a:t>
                      </a:r>
                      <a:endParaRPr lang="en-US" altLang="ko-KR" sz="950" kern="1200" dirty="0">
                        <a:solidFill>
                          <a:schemeClr val="tx1"/>
                        </a:solidFill>
                        <a:latin typeface="+mn-lt"/>
                        <a:ea typeface="+mn-ea"/>
                        <a:cs typeface="+mn-cs"/>
                      </a:endParaRPr>
                    </a:p>
                    <a:p>
                      <a:pPr marL="0" marR="0" indent="0" algn="ctr" fontAlgn="base" latinLnBrk="0">
                        <a:lnSpc>
                          <a:spcPct val="100000"/>
                        </a:lnSpc>
                        <a:spcBef>
                          <a:spcPts val="0"/>
                        </a:spcBef>
                        <a:spcAft>
                          <a:spcPts val="0"/>
                        </a:spcAft>
                      </a:pP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29①</a:t>
                      </a:r>
                      <a:r>
                        <a:rPr lang="ko-KR" altLang="en-US" sz="950" kern="1200" dirty="0">
                          <a:solidFill>
                            <a:schemeClr val="tx1"/>
                          </a:solidFill>
                          <a:latin typeface="+mn-lt"/>
                          <a:ea typeface="+mn-ea"/>
                          <a:cs typeface="+mn-cs"/>
                        </a:rPr>
                        <a:t>본문</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신규성</a:t>
                      </a:r>
                      <a:endParaRPr lang="en-US" altLang="ko-KR" sz="950" kern="1200" dirty="0">
                        <a:solidFill>
                          <a:schemeClr val="tx1"/>
                        </a:solidFill>
                        <a:latin typeface="+mn-lt"/>
                        <a:ea typeface="+mn-ea"/>
                        <a:cs typeface="+mn-cs"/>
                      </a:endParaRPr>
                    </a:p>
                    <a:p>
                      <a:pPr marL="0" marR="0" indent="0" algn="ctr" fontAlgn="base" latinLnBrk="0">
                        <a:lnSpc>
                          <a:spcPct val="100000"/>
                        </a:lnSpc>
                        <a:spcBef>
                          <a:spcPts val="0"/>
                        </a:spcBef>
                        <a:spcAft>
                          <a:spcPts val="0"/>
                        </a:spcAft>
                      </a:pP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29①</a:t>
                      </a:r>
                      <a:r>
                        <a:rPr lang="ko-KR" altLang="en-US" sz="950" kern="1200" dirty="0">
                          <a:solidFill>
                            <a:schemeClr val="tx1"/>
                          </a:solidFill>
                          <a:latin typeface="+mn-lt"/>
                          <a:ea typeface="+mn-ea"/>
                          <a:cs typeface="+mn-cs"/>
                        </a:rPr>
                        <a:t>각호</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진보성</a:t>
                      </a:r>
                      <a:endParaRPr lang="en-US" altLang="ko-KR" sz="950" kern="1200" dirty="0">
                        <a:solidFill>
                          <a:schemeClr val="tx1"/>
                        </a:solidFill>
                        <a:latin typeface="+mn-lt"/>
                        <a:ea typeface="+mn-ea"/>
                        <a:cs typeface="+mn-cs"/>
                      </a:endParaRPr>
                    </a:p>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29②)</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확대된 </a:t>
                      </a:r>
                      <a:r>
                        <a:rPr lang="ko-KR" altLang="en-US" sz="950" kern="1200" dirty="0" err="1">
                          <a:solidFill>
                            <a:schemeClr val="tx1"/>
                          </a:solidFill>
                          <a:latin typeface="+mn-lt"/>
                          <a:ea typeface="+mn-ea"/>
                          <a:cs typeface="+mn-cs"/>
                        </a:rPr>
                        <a:t>선출원</a:t>
                      </a:r>
                      <a:endParaRPr lang="en-US" altLang="ko-KR" sz="950" kern="1200" dirty="0">
                        <a:solidFill>
                          <a:schemeClr val="tx1"/>
                        </a:solidFill>
                        <a:latin typeface="+mn-lt"/>
                        <a:ea typeface="+mn-ea"/>
                        <a:cs typeface="+mn-cs"/>
                      </a:endParaRPr>
                    </a:p>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29③④)</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선출원주의</a:t>
                      </a:r>
                      <a:endParaRPr lang="en-US" altLang="ko-KR" sz="950" kern="1200" dirty="0">
                        <a:solidFill>
                          <a:schemeClr val="tx1"/>
                        </a:solidFill>
                        <a:latin typeface="+mn-lt"/>
                        <a:ea typeface="+mn-ea"/>
                        <a:cs typeface="+mn-cs"/>
                      </a:endParaRPr>
                    </a:p>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36)</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extLst>
                  <a:ext uri="{0D108BD9-81ED-4DB2-BD59-A6C34878D82A}">
                    <a16:rowId xmlns:a16="http://schemas.microsoft.com/office/drawing/2014/main" val="10000"/>
                  </a:ext>
                </a:extLst>
              </a:tr>
              <a:tr h="591398">
                <a:tc gridSpan="3">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의의</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자연법칙을 이용한 기술적 사상의 </a:t>
                      </a:r>
                      <a:r>
                        <a:rPr lang="ko-KR" altLang="en-US" sz="950" kern="1200" err="1">
                          <a:solidFill>
                            <a:schemeClr val="tx1"/>
                          </a:solidFill>
                          <a:latin typeface="+mn-lt"/>
                          <a:ea typeface="+mn-ea"/>
                          <a:cs typeface="+mn-cs"/>
                        </a:rPr>
                        <a:t>창작으로서</a:t>
                      </a:r>
                      <a:r>
                        <a:rPr lang="ko-KR" altLang="en-US" sz="950" kern="1200">
                          <a:solidFill>
                            <a:schemeClr val="tx1"/>
                          </a:solidFill>
                          <a:latin typeface="+mn-lt"/>
                          <a:ea typeface="+mn-ea"/>
                          <a:cs typeface="+mn-cs"/>
                        </a:rPr>
                        <a:t> 고도한 </a:t>
                      </a:r>
                      <a:r>
                        <a:rPr lang="ko-KR" altLang="en-US" sz="950" kern="1200" dirty="0">
                          <a:solidFill>
                            <a:schemeClr val="tx1"/>
                          </a:solidFill>
                          <a:latin typeface="+mn-lt"/>
                          <a:ea typeface="+mn-ea"/>
                          <a:cs typeface="+mn-cs"/>
                        </a:rPr>
                        <a:t>것</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산업에서 실제 실시될 수 있는 발명</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발명의 내용이 사회일반에 아직 알려지지 않은 것으로서 객관적 창작성이 있는 것</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통상의 기술자가 공지기술로부터 쉽게 발명할 수 없는 것</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특허출원한 발명이 그 특허출원일 전에 특허출원 또는 실용신안등록출원하여 그 특허출원 한 후에 출원공개되거나 등록공고된 다른 출원의 출원서에 최초로 첨부된 명세서 또는 도면에 기재된 발명 또는 고안과 동일성이 있는 경우에는 특허를 받을 수 없도록 선출원의 지위를 부여하는 것</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동일한 발명에 대하여 </a:t>
                      </a: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이상의 특허출원이 있는 경우 가장 먼저 출원한 자에게 발명을 허여하는 주의</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409877">
                <a:tc gridSpan="3">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내용</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자연법칙 이용</a:t>
                      </a: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기술적 사상</a:t>
                      </a: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3.</a:t>
                      </a:r>
                      <a:r>
                        <a:rPr lang="ko-KR" altLang="en-US" sz="950" kern="1200" dirty="0">
                          <a:solidFill>
                            <a:schemeClr val="tx1"/>
                          </a:solidFill>
                          <a:latin typeface="+mn-lt"/>
                          <a:ea typeface="+mn-ea"/>
                          <a:cs typeface="+mn-cs"/>
                        </a:rPr>
                        <a:t>창작</a:t>
                      </a: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4.</a:t>
                      </a:r>
                      <a:r>
                        <a:rPr lang="ko-KR" altLang="en-US" sz="950" kern="1200" dirty="0">
                          <a:solidFill>
                            <a:schemeClr val="tx1"/>
                          </a:solidFill>
                          <a:latin typeface="+mn-lt"/>
                          <a:ea typeface="+mn-ea"/>
                          <a:cs typeface="+mn-cs"/>
                        </a:rPr>
                        <a:t>고도</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산업</a:t>
                      </a: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이용가능성</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공지</a:t>
                      </a: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err="1">
                          <a:solidFill>
                            <a:schemeClr val="tx1"/>
                          </a:solidFill>
                          <a:latin typeface="+mn-lt"/>
                          <a:ea typeface="+mn-ea"/>
                          <a:cs typeface="+mn-cs"/>
                        </a:rPr>
                        <a:t>공연실시</a:t>
                      </a:r>
                      <a:endParaRPr lang="ko-KR" altLang="en-US" sz="950" kern="1200" dirty="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3.</a:t>
                      </a:r>
                      <a:r>
                        <a:rPr lang="ko-KR" altLang="en-US" sz="950" kern="1200" dirty="0">
                          <a:solidFill>
                            <a:schemeClr val="tx1"/>
                          </a:solidFill>
                          <a:latin typeface="+mn-lt"/>
                          <a:ea typeface="+mn-ea"/>
                          <a:cs typeface="+mn-cs"/>
                        </a:rPr>
                        <a:t>반포된 간행물에 게재</a:t>
                      </a:r>
                    </a:p>
                    <a:p>
                      <a:pPr marL="100330" marR="0" indent="-10033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4.</a:t>
                      </a:r>
                      <a:r>
                        <a:rPr lang="ko-KR" altLang="en-US" sz="950" kern="1200" dirty="0">
                          <a:solidFill>
                            <a:schemeClr val="tx1"/>
                          </a:solidFill>
                          <a:latin typeface="+mn-lt"/>
                          <a:ea typeface="+mn-ea"/>
                          <a:cs typeface="+mn-cs"/>
                        </a:rPr>
                        <a:t>전기통신회선을 통하여 공중이 이용 가능</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err="1">
                          <a:solidFill>
                            <a:schemeClr val="tx1"/>
                          </a:solidFill>
                          <a:latin typeface="+mn-lt"/>
                          <a:ea typeface="+mn-ea"/>
                          <a:cs typeface="+mn-cs"/>
                        </a:rPr>
                        <a:t>이일출원</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a:t>
                      </a:r>
                      <a:r>
                        <a:rPr lang="en-US" altLang="ko-KR" sz="950" kern="1200" dirty="0">
                          <a:solidFill>
                            <a:schemeClr val="tx1"/>
                          </a:solidFill>
                          <a:latin typeface="+mn-lt"/>
                          <a:ea typeface="+mn-ea"/>
                          <a:cs typeface="+mn-cs"/>
                        </a:rPr>
                        <a:t>36</a:t>
                      </a:r>
                      <a:r>
                        <a:rPr lang="ko-KR" altLang="en-US" sz="950" kern="1200" dirty="0">
                          <a:solidFill>
                            <a:schemeClr val="tx1"/>
                          </a:solidFill>
                          <a:latin typeface="+mn-lt"/>
                          <a:ea typeface="+mn-ea"/>
                          <a:cs typeface="+mn-cs"/>
                        </a:rPr>
                        <a:t>①③</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동일출원</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a:t>
                      </a:r>
                      <a:r>
                        <a:rPr lang="en-US" altLang="ko-KR" sz="950" kern="1200" dirty="0">
                          <a:solidFill>
                            <a:schemeClr val="tx1"/>
                          </a:solidFill>
                          <a:latin typeface="+mn-lt"/>
                          <a:ea typeface="+mn-ea"/>
                          <a:cs typeface="+mn-cs"/>
                        </a:rPr>
                        <a:t>36</a:t>
                      </a:r>
                      <a:r>
                        <a:rPr lang="ko-KR" altLang="en-US" sz="950" kern="1200" dirty="0">
                          <a:solidFill>
                            <a:schemeClr val="tx1"/>
                          </a:solidFill>
                          <a:latin typeface="+mn-lt"/>
                          <a:ea typeface="+mn-ea"/>
                          <a:cs typeface="+mn-cs"/>
                        </a:rPr>
                        <a:t>②③⑥</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3.</a:t>
                      </a:r>
                      <a:r>
                        <a:rPr lang="ko-KR" altLang="en-US" sz="950" kern="1200" dirty="0" err="1">
                          <a:solidFill>
                            <a:schemeClr val="tx1"/>
                          </a:solidFill>
                          <a:latin typeface="+mn-lt"/>
                          <a:ea typeface="+mn-ea"/>
                          <a:cs typeface="+mn-cs"/>
                        </a:rPr>
                        <a:t>선출원지위의</a:t>
                      </a:r>
                      <a:r>
                        <a:rPr lang="ko-KR" altLang="en-US" sz="950" kern="1200" dirty="0">
                          <a:solidFill>
                            <a:schemeClr val="tx1"/>
                          </a:solidFill>
                          <a:latin typeface="+mn-lt"/>
                          <a:ea typeface="+mn-ea"/>
                          <a:cs typeface="+mn-cs"/>
                        </a:rPr>
                        <a:t> 인정여부</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a:t>
                      </a:r>
                      <a:r>
                        <a:rPr lang="en-US" altLang="ko-KR" sz="950" kern="1200" dirty="0">
                          <a:solidFill>
                            <a:schemeClr val="tx1"/>
                          </a:solidFill>
                          <a:latin typeface="+mn-lt"/>
                          <a:ea typeface="+mn-ea"/>
                          <a:cs typeface="+mn-cs"/>
                        </a:rPr>
                        <a:t>36</a:t>
                      </a:r>
                      <a:r>
                        <a:rPr lang="ko-KR" altLang="en-US" sz="950" kern="1200" dirty="0">
                          <a:solidFill>
                            <a:schemeClr val="tx1"/>
                          </a:solidFill>
                          <a:latin typeface="+mn-lt"/>
                          <a:ea typeface="+mn-ea"/>
                          <a:cs typeface="+mn-cs"/>
                        </a:rPr>
                        <a:t>④⑤</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r h="165420">
                <a:tc rowSpan="7">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판</a:t>
                      </a:r>
                    </a:p>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단</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gridSpan="2">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주체적 기준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gridSpan="3">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심사관</a:t>
                      </a:r>
                      <a:r>
                        <a:rPr lang="en-US" altLang="ko-KR" sz="950" kern="1200" dirty="0">
                          <a:solidFill>
                            <a:schemeClr val="tx1"/>
                          </a:solidFill>
                          <a:latin typeface="+mn-lt"/>
                          <a:ea typeface="+mn-ea"/>
                          <a:cs typeface="+mn-cs"/>
                        </a:rPr>
                        <a:t>, </a:t>
                      </a:r>
                      <a:r>
                        <a:rPr lang="ko-KR" altLang="en-US" sz="950" kern="1200" dirty="0">
                          <a:solidFill>
                            <a:schemeClr val="tx1"/>
                          </a:solidFill>
                          <a:latin typeface="+mn-lt"/>
                          <a:ea typeface="+mn-ea"/>
                          <a:cs typeface="+mn-cs"/>
                        </a:rPr>
                        <a:t>심판관</a:t>
                      </a:r>
                      <a:r>
                        <a:rPr lang="en-US" altLang="ko-KR" sz="950" kern="1200" dirty="0">
                          <a:solidFill>
                            <a:schemeClr val="tx1"/>
                          </a:solidFill>
                          <a:latin typeface="+mn-lt"/>
                          <a:ea typeface="+mn-ea"/>
                          <a:cs typeface="+mn-cs"/>
                        </a:rPr>
                        <a:t>, </a:t>
                      </a:r>
                      <a:r>
                        <a:rPr lang="ko-KR" altLang="en-US" sz="950" kern="1200" dirty="0">
                          <a:solidFill>
                            <a:schemeClr val="tx1"/>
                          </a:solidFill>
                          <a:latin typeface="+mn-lt"/>
                          <a:ea typeface="+mn-ea"/>
                          <a:cs typeface="+mn-cs"/>
                        </a:rPr>
                        <a:t>법관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심사관</a:t>
                      </a:r>
                      <a:r>
                        <a:rPr lang="en-US" altLang="ko-KR" sz="950" kern="1200" dirty="0">
                          <a:solidFill>
                            <a:schemeClr val="tx1"/>
                          </a:solidFill>
                          <a:latin typeface="+mn-lt"/>
                          <a:ea typeface="+mn-ea"/>
                          <a:cs typeface="+mn-cs"/>
                        </a:rPr>
                        <a:t>, </a:t>
                      </a:r>
                      <a:r>
                        <a:rPr lang="ko-KR" altLang="en-US" sz="950" kern="1200" dirty="0">
                          <a:solidFill>
                            <a:schemeClr val="tx1"/>
                          </a:solidFill>
                          <a:latin typeface="+mn-lt"/>
                          <a:ea typeface="+mn-ea"/>
                          <a:cs typeface="+mn-cs"/>
                        </a:rPr>
                        <a:t>심판관</a:t>
                      </a:r>
                      <a:r>
                        <a:rPr lang="en-US" altLang="ko-KR" sz="950" kern="1200" dirty="0">
                          <a:solidFill>
                            <a:schemeClr val="tx1"/>
                          </a:solidFill>
                          <a:latin typeface="+mn-lt"/>
                          <a:ea typeface="+mn-ea"/>
                          <a:cs typeface="+mn-cs"/>
                        </a:rPr>
                        <a:t>, </a:t>
                      </a:r>
                      <a:r>
                        <a:rPr lang="ko-KR" altLang="en-US" sz="950" kern="1200" dirty="0">
                          <a:solidFill>
                            <a:schemeClr val="tx1"/>
                          </a:solidFill>
                          <a:latin typeface="+mn-lt"/>
                          <a:ea typeface="+mn-ea"/>
                          <a:cs typeface="+mn-cs"/>
                        </a:rPr>
                        <a:t>법관</a:t>
                      </a:r>
                    </a:p>
                    <a:p>
                      <a:pPr marL="73660" marR="0" indent="-7366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통상의 기술자 입장에서 판단</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gridSpan="2">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심사관</a:t>
                      </a:r>
                      <a:r>
                        <a:rPr lang="en-US" altLang="ko-KR" sz="950" kern="1200" dirty="0">
                          <a:solidFill>
                            <a:schemeClr val="tx1"/>
                          </a:solidFill>
                          <a:latin typeface="+mn-lt"/>
                          <a:ea typeface="+mn-ea"/>
                          <a:cs typeface="+mn-cs"/>
                        </a:rPr>
                        <a:t>, </a:t>
                      </a:r>
                      <a:r>
                        <a:rPr lang="ko-KR" altLang="en-US" sz="950" kern="1200" dirty="0">
                          <a:solidFill>
                            <a:schemeClr val="tx1"/>
                          </a:solidFill>
                          <a:latin typeface="+mn-lt"/>
                          <a:ea typeface="+mn-ea"/>
                          <a:cs typeface="+mn-cs"/>
                        </a:rPr>
                        <a:t>심판관</a:t>
                      </a:r>
                      <a:r>
                        <a:rPr lang="en-US" altLang="ko-KR" sz="950" kern="1200" dirty="0">
                          <a:solidFill>
                            <a:schemeClr val="tx1"/>
                          </a:solidFill>
                          <a:latin typeface="+mn-lt"/>
                          <a:ea typeface="+mn-ea"/>
                          <a:cs typeface="+mn-cs"/>
                        </a:rPr>
                        <a:t>, </a:t>
                      </a:r>
                      <a:r>
                        <a:rPr lang="ko-KR" altLang="en-US" sz="950" kern="1200" dirty="0">
                          <a:solidFill>
                            <a:schemeClr val="tx1"/>
                          </a:solidFill>
                          <a:latin typeface="+mn-lt"/>
                          <a:ea typeface="+mn-ea"/>
                          <a:cs typeface="+mn-cs"/>
                        </a:rPr>
                        <a:t>법관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10003"/>
                  </a:ext>
                </a:extLst>
              </a:tr>
              <a:tr h="165420">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객체적</a:t>
                      </a:r>
                    </a:p>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기준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대상</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gridSpan="2">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청구범위 중심으로 명세서ㆍ도면을 참작</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공지기술</a:t>
                      </a: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개</a:t>
                      </a:r>
                      <a:r>
                        <a:rPr lang="en-US" altLang="ko-KR" sz="950" kern="1200" dirty="0">
                          <a:solidFill>
                            <a:schemeClr val="tx1"/>
                          </a:solidFill>
                          <a:latin typeface="+mn-lt"/>
                          <a:ea typeface="+mn-ea"/>
                          <a:cs typeface="+mn-cs"/>
                        </a:rPr>
                        <a:t>) vs </a:t>
                      </a:r>
                      <a:endParaRPr lang="ko-KR" altLang="en-US" sz="95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청구범위</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err="1">
                          <a:solidFill>
                            <a:schemeClr val="tx1"/>
                          </a:solidFill>
                          <a:latin typeface="+mn-lt"/>
                          <a:ea typeface="+mn-ea"/>
                          <a:cs typeface="+mn-cs"/>
                        </a:rPr>
                        <a:t>공지기술</a:t>
                      </a:r>
                      <a:r>
                        <a:rPr lang="en-US" altLang="ko-KR" sz="950" kern="1200" dirty="0">
                          <a:solidFill>
                            <a:schemeClr val="tx1"/>
                          </a:solidFill>
                          <a:latin typeface="+mn-lt"/>
                          <a:ea typeface="+mn-ea"/>
                          <a:cs typeface="+mn-cs"/>
                        </a:rPr>
                        <a:t>(1</a:t>
                      </a:r>
                      <a:r>
                        <a:rPr lang="ko-KR" altLang="en-US" sz="950" kern="1200" dirty="0" err="1">
                          <a:solidFill>
                            <a:schemeClr val="tx1"/>
                          </a:solidFill>
                          <a:latin typeface="+mn-lt"/>
                          <a:ea typeface="+mn-ea"/>
                          <a:cs typeface="+mn-cs"/>
                        </a:rPr>
                        <a:t>개이상</a:t>
                      </a:r>
                      <a:r>
                        <a:rPr lang="en-US" altLang="ko-KR" sz="950" kern="1200" dirty="0">
                          <a:solidFill>
                            <a:schemeClr val="tx1"/>
                          </a:solidFill>
                          <a:latin typeface="+mn-lt"/>
                          <a:ea typeface="+mn-ea"/>
                          <a:cs typeface="+mn-cs"/>
                        </a:rPr>
                        <a:t>) vs </a:t>
                      </a:r>
                      <a:endParaRPr lang="ko-KR" altLang="en-US" sz="95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ko-KR" altLang="en-US" sz="950" kern="1200" dirty="0" err="1">
                          <a:solidFill>
                            <a:schemeClr val="tx1"/>
                          </a:solidFill>
                          <a:latin typeface="+mn-lt"/>
                          <a:ea typeface="+mn-ea"/>
                          <a:cs typeface="+mn-cs"/>
                        </a:rPr>
                        <a:t>청구범위</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다른 출원 </a:t>
                      </a:r>
                      <a:r>
                        <a:rPr lang="ko-KR" altLang="en-US" sz="950" kern="1200" dirty="0" err="1">
                          <a:solidFill>
                            <a:schemeClr val="tx1"/>
                          </a:solidFill>
                          <a:latin typeface="+mn-lt"/>
                          <a:ea typeface="+mn-ea"/>
                          <a:cs typeface="+mn-cs"/>
                        </a:rPr>
                        <a:t>최ㆍ명ㆍ도</a:t>
                      </a:r>
                      <a:r>
                        <a:rPr lang="ko-KR" altLang="en-US" sz="950" kern="1200" dirty="0">
                          <a:solidFill>
                            <a:schemeClr val="tx1"/>
                          </a:solidFill>
                          <a:latin typeface="+mn-lt"/>
                          <a:ea typeface="+mn-ea"/>
                          <a:cs typeface="+mn-cs"/>
                        </a:rPr>
                        <a:t> </a:t>
                      </a:r>
                      <a:r>
                        <a:rPr lang="en-US" altLang="ko-KR" sz="950" kern="1200" dirty="0">
                          <a:solidFill>
                            <a:schemeClr val="tx1"/>
                          </a:solidFill>
                          <a:latin typeface="+mn-lt"/>
                          <a:ea typeface="+mn-ea"/>
                          <a:cs typeface="+mn-cs"/>
                        </a:rPr>
                        <a:t>vs </a:t>
                      </a:r>
                      <a:endParaRPr lang="ko-KR" altLang="en-US" sz="95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그 출원의 청구범위</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err="1">
                          <a:solidFill>
                            <a:schemeClr val="tx1"/>
                          </a:solidFill>
                          <a:latin typeface="+mn-lt"/>
                          <a:ea typeface="+mn-ea"/>
                          <a:cs typeface="+mn-cs"/>
                        </a:rPr>
                        <a:t>선출원</a:t>
                      </a:r>
                      <a:r>
                        <a:rPr lang="ko-KR" altLang="en-US" sz="950" kern="1200" dirty="0">
                          <a:solidFill>
                            <a:schemeClr val="tx1"/>
                          </a:solidFill>
                          <a:latin typeface="+mn-lt"/>
                          <a:ea typeface="+mn-ea"/>
                          <a:cs typeface="+mn-cs"/>
                        </a:rPr>
                        <a:t> 청구범위 </a:t>
                      </a:r>
                      <a:r>
                        <a:rPr lang="en-US" altLang="ko-KR" sz="950" kern="1200" dirty="0">
                          <a:solidFill>
                            <a:schemeClr val="tx1"/>
                          </a:solidFill>
                          <a:latin typeface="+mn-lt"/>
                          <a:ea typeface="+mn-ea"/>
                          <a:cs typeface="+mn-cs"/>
                        </a:rPr>
                        <a:t>vs </a:t>
                      </a:r>
                      <a:endParaRPr lang="ko-KR" altLang="en-US" sz="95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ko-KR" altLang="en-US" sz="950" kern="1200" dirty="0" err="1">
                          <a:solidFill>
                            <a:schemeClr val="tx1"/>
                          </a:solidFill>
                          <a:latin typeface="+mn-lt"/>
                          <a:ea typeface="+mn-ea"/>
                          <a:cs typeface="+mn-cs"/>
                        </a:rPr>
                        <a:t>후출원</a:t>
                      </a:r>
                      <a:r>
                        <a:rPr lang="ko-KR" altLang="en-US" sz="950" kern="1200" dirty="0">
                          <a:solidFill>
                            <a:schemeClr val="tx1"/>
                          </a:solidFill>
                          <a:latin typeface="+mn-lt"/>
                          <a:ea typeface="+mn-ea"/>
                          <a:cs typeface="+mn-cs"/>
                        </a:rPr>
                        <a:t> 청구범위</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4"/>
                  </a:ext>
                </a:extLst>
              </a:tr>
              <a:tr h="94423">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범위</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gridSpan="6">
                  <a:txBody>
                    <a:bodyPr/>
                    <a:lstStyle/>
                    <a:p>
                      <a:pPr marL="0" marR="0" indent="0" algn="just" fontAlgn="base" latinLnBrk="1">
                        <a:lnSpc>
                          <a:spcPct val="100000"/>
                        </a:lnSpc>
                        <a:spcBef>
                          <a:spcPts val="0"/>
                        </a:spcBef>
                        <a:spcAft>
                          <a:spcPts val="0"/>
                        </a:spcAft>
                      </a:pPr>
                      <a:r>
                        <a:rPr lang="ko-KR" altLang="en-US" sz="950" kern="1200" dirty="0" err="1">
                          <a:solidFill>
                            <a:schemeClr val="tx1"/>
                          </a:solidFill>
                          <a:latin typeface="+mn-lt"/>
                          <a:ea typeface="+mn-ea"/>
                          <a:cs typeface="+mn-cs"/>
                        </a:rPr>
                        <a:t>청구항마다</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단</a:t>
                      </a:r>
                      <a:r>
                        <a:rPr lang="en-US" altLang="ko-KR" sz="950" kern="1200" dirty="0">
                          <a:solidFill>
                            <a:schemeClr val="tx1"/>
                          </a:solidFill>
                          <a:latin typeface="+mn-lt"/>
                          <a:ea typeface="+mn-ea"/>
                          <a:cs typeface="+mn-cs"/>
                        </a:rPr>
                        <a:t>, </a:t>
                      </a:r>
                      <a:r>
                        <a:rPr lang="ko-KR" altLang="en-US" sz="950" kern="1200" dirty="0">
                          <a:solidFill>
                            <a:schemeClr val="tx1"/>
                          </a:solidFill>
                          <a:latin typeface="+mn-lt"/>
                          <a:ea typeface="+mn-ea"/>
                          <a:cs typeface="+mn-cs"/>
                        </a:rPr>
                        <a:t>특허여부결정은 출원단위</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ap="flat" cmpd="sng" algn="ctr">
                      <a:solidFill>
                        <a:schemeClr val="bg1">
                          <a:lumMod val="50000"/>
                        </a:schemeClr>
                      </a:solidFill>
                      <a:prstDash val="solid"/>
                      <a:round/>
                      <a:headEnd type="none" w="med" len="med"/>
                      <a:tailEnd type="none" w="med" len="med"/>
                    </a:lnL>
                    <a:lnT w="12700" cap="flat" cmpd="sng" algn="ctr">
                      <a:solidFill>
                        <a:schemeClr val="bg1">
                          <a:lumMod val="50000"/>
                        </a:schemeClr>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5"/>
                  </a:ext>
                </a:extLst>
              </a:tr>
              <a:tr h="307412">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시기적</a:t>
                      </a:r>
                    </a:p>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기준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원칙</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gridSpan="2">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법규정</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실무상 </a:t>
                      </a:r>
                      <a:r>
                        <a:rPr lang="ko-KR" altLang="en-US" sz="950" kern="1200" dirty="0" err="1">
                          <a:solidFill>
                            <a:schemeClr val="tx1"/>
                          </a:solidFill>
                          <a:latin typeface="+mn-lt"/>
                          <a:ea typeface="+mn-ea"/>
                          <a:cs typeface="+mn-cs"/>
                        </a:rPr>
                        <a:t>출원시</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gridSpan="2">
                  <a:txBody>
                    <a:bodyPr/>
                    <a:lstStyle/>
                    <a:p>
                      <a:pPr marL="0" marR="0" indent="0" algn="just" fontAlgn="base" latinLnBrk="1">
                        <a:lnSpc>
                          <a:spcPct val="100000"/>
                        </a:lnSpc>
                        <a:spcBef>
                          <a:spcPts val="0"/>
                        </a:spcBef>
                        <a:spcAft>
                          <a:spcPts val="0"/>
                        </a:spcAft>
                      </a:pPr>
                      <a:r>
                        <a:rPr lang="ko-KR" altLang="en-US" sz="950" kern="1200" dirty="0" err="1">
                          <a:solidFill>
                            <a:schemeClr val="tx1"/>
                          </a:solidFill>
                          <a:latin typeface="+mn-lt"/>
                          <a:ea typeface="+mn-ea"/>
                          <a:cs typeface="+mn-cs"/>
                        </a:rPr>
                        <a:t>특허출원전</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marL="0" marR="0" indent="0" algn="just" fontAlgn="base" latinLnBrk="1">
                        <a:lnSpc>
                          <a:spcPct val="100000"/>
                        </a:lnSpc>
                        <a:spcBef>
                          <a:spcPts val="0"/>
                        </a:spcBef>
                        <a:spcAft>
                          <a:spcPts val="0"/>
                        </a:spcAft>
                      </a:pP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B w="12700" cap="flat" cmpd="sng" algn="ctr">
                      <a:solidFill>
                        <a:schemeClr val="bg1">
                          <a:lumMod val="50000"/>
                        </a:schemeClr>
                      </a:solidFill>
                      <a:prstDash val="solid"/>
                      <a:round/>
                      <a:headEnd type="none" w="med" len="med"/>
                      <a:tailEnd type="none" w="med" len="med"/>
                    </a:lnB>
                  </a:tcPr>
                </a:tc>
                <a:tc>
                  <a:txBody>
                    <a:bodyPr/>
                    <a:lstStyle/>
                    <a:p>
                      <a:pPr marL="73660" marR="0" indent="-73660" algn="just" fontAlgn="base" latinLnBrk="1">
                        <a:lnSpc>
                          <a:spcPct val="100000"/>
                        </a:lnSpc>
                        <a:spcBef>
                          <a:spcPts val="0"/>
                        </a:spcBef>
                        <a:spcAft>
                          <a:spcPts val="0"/>
                        </a:spcAft>
                      </a:pPr>
                      <a:r>
                        <a:rPr lang="en-US" altLang="ko-KR" sz="950" kern="1200">
                          <a:solidFill>
                            <a:schemeClr val="tx1"/>
                          </a:solidFill>
                          <a:latin typeface="+mn-lt"/>
                          <a:ea typeface="+mn-ea"/>
                          <a:cs typeface="+mn-cs"/>
                        </a:rPr>
                        <a:t>1.</a:t>
                      </a:r>
                      <a:r>
                        <a:rPr lang="ko-KR" altLang="en-US" sz="950" kern="1200">
                          <a:solidFill>
                            <a:schemeClr val="tx1"/>
                          </a:solidFill>
                          <a:latin typeface="+mn-lt"/>
                          <a:ea typeface="+mn-ea"/>
                          <a:cs typeface="+mn-cs"/>
                        </a:rPr>
                        <a:t>그 특허출원일전 다른 출원</a:t>
                      </a:r>
                      <a:r>
                        <a:rPr lang="en-US" altLang="ko-KR" sz="950" kern="1200">
                          <a:solidFill>
                            <a:schemeClr val="tx1"/>
                          </a:solidFill>
                          <a:latin typeface="+mn-lt"/>
                          <a:ea typeface="+mn-ea"/>
                          <a:cs typeface="+mn-cs"/>
                        </a:rPr>
                        <a:t>-</a:t>
                      </a:r>
                      <a:r>
                        <a:rPr lang="ko-KR" altLang="en-US" sz="950" kern="1200">
                          <a:solidFill>
                            <a:schemeClr val="tx1"/>
                          </a:solidFill>
                          <a:latin typeface="+mn-lt"/>
                          <a:ea typeface="+mn-ea"/>
                          <a:cs typeface="+mn-cs"/>
                        </a:rPr>
                        <a:t>역일주의</a:t>
                      </a:r>
                      <a:r>
                        <a:rPr lang="en-US" altLang="ko-KR" sz="950" kern="1200">
                          <a:solidFill>
                            <a:schemeClr val="tx1"/>
                          </a:solidFill>
                          <a:latin typeface="+mn-lt"/>
                          <a:ea typeface="+mn-ea"/>
                          <a:cs typeface="+mn-cs"/>
                        </a:rPr>
                        <a:t>(</a:t>
                      </a:r>
                      <a:r>
                        <a:rPr lang="ko-KR" altLang="en-US" sz="950" kern="1200">
                          <a:solidFill>
                            <a:schemeClr val="tx1"/>
                          </a:solidFill>
                          <a:latin typeface="+mn-lt"/>
                          <a:ea typeface="+mn-ea"/>
                          <a:cs typeface="+mn-cs"/>
                        </a:rPr>
                        <a:t>단</a:t>
                      </a:r>
                      <a:r>
                        <a:rPr lang="en-US" altLang="ko-KR" sz="950" kern="1200">
                          <a:solidFill>
                            <a:schemeClr val="tx1"/>
                          </a:solidFill>
                          <a:latin typeface="+mn-lt"/>
                          <a:ea typeface="+mn-ea"/>
                          <a:cs typeface="+mn-cs"/>
                        </a:rPr>
                        <a:t>,</a:t>
                      </a:r>
                      <a:r>
                        <a:rPr lang="ko-KR" altLang="en-US" sz="950" kern="1200">
                          <a:solidFill>
                            <a:schemeClr val="tx1"/>
                          </a:solidFill>
                          <a:latin typeface="+mn-lt"/>
                          <a:ea typeface="+mn-ea"/>
                          <a:cs typeface="+mn-cs"/>
                        </a:rPr>
                        <a:t>동일자 적용</a:t>
                      </a:r>
                      <a:r>
                        <a:rPr lang="en-US" altLang="ko-KR" sz="950" kern="1200">
                          <a:solidFill>
                            <a:schemeClr val="tx1"/>
                          </a:solidFill>
                          <a:latin typeface="+mn-lt"/>
                          <a:ea typeface="+mn-ea"/>
                          <a:cs typeface="+mn-cs"/>
                        </a:rPr>
                        <a:t>×)</a:t>
                      </a:r>
                      <a:endParaRPr lang="ko-KR" altLang="en-US" sz="950" kern="120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50" kern="1200">
                          <a:solidFill>
                            <a:schemeClr val="tx1"/>
                          </a:solidFill>
                          <a:latin typeface="+mn-lt"/>
                          <a:ea typeface="+mn-ea"/>
                          <a:cs typeface="+mn-cs"/>
                        </a:rPr>
                        <a:t>2.</a:t>
                      </a:r>
                      <a:r>
                        <a:rPr lang="ko-KR" altLang="en-US" sz="950" kern="1200">
                          <a:solidFill>
                            <a:schemeClr val="tx1"/>
                          </a:solidFill>
                          <a:latin typeface="+mn-lt"/>
                          <a:ea typeface="+mn-ea"/>
                          <a:cs typeface="+mn-cs"/>
                        </a:rPr>
                        <a:t>그 특허출원후 다른 출원의 공개</a:t>
                      </a:r>
                      <a:r>
                        <a:rPr lang="en-US" altLang="ko-KR" sz="950" kern="1200">
                          <a:solidFill>
                            <a:schemeClr val="tx1"/>
                          </a:solidFill>
                          <a:latin typeface="+mn-lt"/>
                          <a:ea typeface="+mn-ea"/>
                          <a:cs typeface="+mn-cs"/>
                        </a:rPr>
                        <a:t>-(</a:t>
                      </a:r>
                      <a:r>
                        <a:rPr lang="ko-KR" altLang="en-US" sz="950" kern="1200">
                          <a:solidFill>
                            <a:schemeClr val="tx1"/>
                          </a:solidFill>
                          <a:latin typeface="+mn-lt"/>
                          <a:ea typeface="+mn-ea"/>
                          <a:cs typeface="+mn-cs"/>
                        </a:rPr>
                        <a:t>시각주의</a:t>
                      </a:r>
                      <a:r>
                        <a:rPr lang="en-US" altLang="ko-KR" sz="950" kern="1200">
                          <a:solidFill>
                            <a:schemeClr val="tx1"/>
                          </a:solidFill>
                          <a:latin typeface="+mn-lt"/>
                          <a:ea typeface="+mn-ea"/>
                          <a:cs typeface="+mn-cs"/>
                        </a:rPr>
                        <a:t>)</a:t>
                      </a:r>
                      <a:endParaRPr lang="ko-KR" altLang="en-US" sz="950" kern="120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출원일</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6"/>
                  </a:ext>
                </a:extLst>
              </a:tr>
              <a:tr h="165420">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예외</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gridSpan="6">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소급</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정당한 </a:t>
                      </a:r>
                      <a:r>
                        <a:rPr lang="ko-KR" altLang="en-US" sz="950" kern="1200" dirty="0" err="1">
                          <a:solidFill>
                            <a:schemeClr val="tx1"/>
                          </a:solidFill>
                          <a:latin typeface="+mn-lt"/>
                          <a:ea typeface="+mn-ea"/>
                          <a:cs typeface="+mn-cs"/>
                        </a:rPr>
                        <a:t>권리자출원</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a:t>
                      </a:r>
                      <a:r>
                        <a:rPr lang="en-US" altLang="ko-KR" sz="950" kern="1200" dirty="0">
                          <a:solidFill>
                            <a:schemeClr val="tx1"/>
                          </a:solidFill>
                          <a:latin typeface="+mn-lt"/>
                          <a:ea typeface="+mn-ea"/>
                          <a:cs typeface="+mn-cs"/>
                        </a:rPr>
                        <a:t>34․35), </a:t>
                      </a:r>
                      <a:r>
                        <a:rPr lang="ko-KR" altLang="en-US" sz="950" kern="1200" dirty="0">
                          <a:solidFill>
                            <a:schemeClr val="tx1"/>
                          </a:solidFill>
                          <a:latin typeface="+mn-lt"/>
                          <a:ea typeface="+mn-ea"/>
                          <a:cs typeface="+mn-cs"/>
                        </a:rPr>
                        <a:t>분할출원</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a:t>
                      </a:r>
                      <a:r>
                        <a:rPr lang="en-US" altLang="ko-KR" sz="950" kern="1200" dirty="0">
                          <a:solidFill>
                            <a:schemeClr val="tx1"/>
                          </a:solidFill>
                          <a:latin typeface="+mn-lt"/>
                          <a:ea typeface="+mn-ea"/>
                          <a:cs typeface="+mn-cs"/>
                        </a:rPr>
                        <a:t>52</a:t>
                      </a:r>
                      <a:r>
                        <a:rPr lang="ko-KR" altLang="en-US" sz="950" kern="1200" dirty="0">
                          <a:solidFill>
                            <a:schemeClr val="tx1"/>
                          </a:solidFill>
                          <a:latin typeface="+mn-lt"/>
                          <a:ea typeface="+mn-ea"/>
                          <a:cs typeface="+mn-cs"/>
                        </a:rPr>
                        <a:t>②</a:t>
                      </a:r>
                      <a:r>
                        <a:rPr lang="en-US" altLang="ko-KR" sz="950" kern="1200" dirty="0">
                          <a:solidFill>
                            <a:schemeClr val="tx1"/>
                          </a:solidFill>
                          <a:latin typeface="+mn-lt"/>
                          <a:ea typeface="+mn-ea"/>
                          <a:cs typeface="+mn-cs"/>
                        </a:rPr>
                        <a:t>), </a:t>
                      </a:r>
                      <a:r>
                        <a:rPr lang="ko-KR" altLang="en-US" sz="950" kern="1200" dirty="0">
                          <a:solidFill>
                            <a:schemeClr val="tx1"/>
                          </a:solidFill>
                          <a:latin typeface="+mn-lt"/>
                          <a:ea typeface="+mn-ea"/>
                          <a:cs typeface="+mn-cs"/>
                        </a:rPr>
                        <a:t>분리출원</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52</a:t>
                      </a:r>
                      <a:r>
                        <a:rPr lang="ko-KR" altLang="en-US" sz="950" kern="1200" dirty="0">
                          <a:solidFill>
                            <a:schemeClr val="tx1"/>
                          </a:solidFill>
                          <a:latin typeface="+mn-lt"/>
                          <a:ea typeface="+mn-ea"/>
                          <a:cs typeface="+mn-cs"/>
                        </a:rPr>
                        <a:t>의</a:t>
                      </a:r>
                      <a:r>
                        <a:rPr lang="en-US" altLang="ko-KR" sz="950" kern="1200" dirty="0">
                          <a:solidFill>
                            <a:schemeClr val="tx1"/>
                          </a:solidFill>
                          <a:latin typeface="+mn-lt"/>
                          <a:ea typeface="+mn-ea"/>
                          <a:cs typeface="+mn-cs"/>
                        </a:rPr>
                        <a:t>2②), </a:t>
                      </a:r>
                      <a:r>
                        <a:rPr lang="ko-KR" altLang="en-US" sz="950" kern="1200" dirty="0">
                          <a:solidFill>
                            <a:schemeClr val="tx1"/>
                          </a:solidFill>
                          <a:latin typeface="+mn-lt"/>
                          <a:ea typeface="+mn-ea"/>
                          <a:cs typeface="+mn-cs"/>
                        </a:rPr>
                        <a:t>변경출원</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a:t>
                      </a:r>
                      <a:r>
                        <a:rPr lang="en-US" altLang="ko-KR" sz="950" kern="1200" dirty="0">
                          <a:solidFill>
                            <a:schemeClr val="tx1"/>
                          </a:solidFill>
                          <a:latin typeface="+mn-lt"/>
                          <a:ea typeface="+mn-ea"/>
                          <a:cs typeface="+mn-cs"/>
                        </a:rPr>
                        <a:t>53</a:t>
                      </a:r>
                      <a:r>
                        <a:rPr lang="ko-KR" altLang="en-US" sz="950" kern="1200" dirty="0">
                          <a:solidFill>
                            <a:schemeClr val="tx1"/>
                          </a:solidFill>
                          <a:latin typeface="+mn-lt"/>
                          <a:ea typeface="+mn-ea"/>
                          <a:cs typeface="+mn-cs"/>
                        </a:rPr>
                        <a:t>③</a:t>
                      </a:r>
                      <a:r>
                        <a:rPr lang="en-US" altLang="ko-KR" sz="950" kern="1200" dirty="0">
                          <a:solidFill>
                            <a:schemeClr val="tx1"/>
                          </a:solidFill>
                          <a:latin typeface="+mn-lt"/>
                          <a:ea typeface="+mn-ea"/>
                          <a:cs typeface="+mn-cs"/>
                        </a:rPr>
                        <a:t>), </a:t>
                      </a:r>
                      <a:r>
                        <a:rPr lang="ko-KR" altLang="en-US" sz="950" kern="1200" dirty="0" err="1">
                          <a:solidFill>
                            <a:schemeClr val="tx1"/>
                          </a:solidFill>
                          <a:latin typeface="+mn-lt"/>
                          <a:ea typeface="+mn-ea"/>
                          <a:cs typeface="+mn-cs"/>
                        </a:rPr>
                        <a:t>조약우선권주장출원</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a:t>
                      </a:r>
                      <a:r>
                        <a:rPr lang="en-US" altLang="ko-KR" sz="950" kern="1200" dirty="0">
                          <a:solidFill>
                            <a:schemeClr val="tx1"/>
                          </a:solidFill>
                          <a:latin typeface="+mn-lt"/>
                          <a:ea typeface="+mn-ea"/>
                          <a:cs typeface="+mn-cs"/>
                        </a:rPr>
                        <a:t>54</a:t>
                      </a:r>
                      <a:r>
                        <a:rPr lang="ko-KR" altLang="en-US" sz="950" kern="1200" dirty="0">
                          <a:solidFill>
                            <a:schemeClr val="tx1"/>
                          </a:solidFill>
                          <a:latin typeface="+mn-lt"/>
                          <a:ea typeface="+mn-ea"/>
                          <a:cs typeface="+mn-cs"/>
                        </a:rPr>
                        <a:t>①</a:t>
                      </a:r>
                      <a:r>
                        <a:rPr lang="en-US" altLang="ko-KR" sz="950" kern="1200" dirty="0">
                          <a:solidFill>
                            <a:schemeClr val="tx1"/>
                          </a:solidFill>
                          <a:latin typeface="+mn-lt"/>
                          <a:ea typeface="+mn-ea"/>
                          <a:cs typeface="+mn-cs"/>
                        </a:rPr>
                        <a:t>), </a:t>
                      </a:r>
                      <a:r>
                        <a:rPr lang="ko-KR" altLang="en-US" sz="950" kern="1200" dirty="0" err="1">
                          <a:solidFill>
                            <a:schemeClr val="tx1"/>
                          </a:solidFill>
                          <a:latin typeface="+mn-lt"/>
                          <a:ea typeface="+mn-ea"/>
                          <a:cs typeface="+mn-cs"/>
                        </a:rPr>
                        <a:t>국내우선권주장출원</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a:t>
                      </a:r>
                      <a:r>
                        <a:rPr lang="en-US" altLang="ko-KR" sz="950" kern="1200" dirty="0">
                          <a:solidFill>
                            <a:schemeClr val="tx1"/>
                          </a:solidFill>
                          <a:latin typeface="+mn-lt"/>
                          <a:ea typeface="+mn-ea"/>
                          <a:cs typeface="+mn-cs"/>
                        </a:rPr>
                        <a:t>55</a:t>
                      </a:r>
                      <a:r>
                        <a:rPr lang="ko-KR" altLang="en-US" sz="950" kern="1200" dirty="0">
                          <a:solidFill>
                            <a:schemeClr val="tx1"/>
                          </a:solidFill>
                          <a:latin typeface="+mn-lt"/>
                          <a:ea typeface="+mn-ea"/>
                          <a:cs typeface="+mn-cs"/>
                        </a:rPr>
                        <a:t>③</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국제특허출원</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우선일</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ap="flat" cmpd="sng" algn="ctr">
                      <a:solidFill>
                        <a:schemeClr val="bg1">
                          <a:lumMod val="50000"/>
                        </a:schemeClr>
                      </a:solidFill>
                      <a:prstDash val="solid"/>
                      <a:round/>
                      <a:headEnd type="none" w="med" len="med"/>
                      <a:tailEnd type="none" w="med" len="med"/>
                    </a:lnL>
                    <a:lnT w="12700" cap="flat" cmpd="sng" algn="ctr">
                      <a:solidFill>
                        <a:schemeClr val="bg1">
                          <a:lumMod val="50000"/>
                        </a:schemeClr>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7"/>
                  </a:ext>
                </a:extLst>
              </a:tr>
              <a:tr h="165420">
                <a:tc v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지역적 기준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gridSpan="2">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국제주의</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marL="0" marR="0" indent="0" algn="just" fontAlgn="base" latinLnBrk="1">
                        <a:lnSpc>
                          <a:spcPct val="100000"/>
                        </a:lnSpc>
                        <a:spcBef>
                          <a:spcPts val="0"/>
                        </a:spcBef>
                        <a:spcAft>
                          <a:spcPts val="0"/>
                        </a:spcAft>
                      </a:pP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B w="12700" cap="flat" cmpd="sng" algn="ctr">
                      <a:solidFill>
                        <a:schemeClr val="bg1">
                          <a:lumMod val="50000"/>
                        </a:schemeClr>
                      </a:solidFill>
                      <a:prstDash val="solid"/>
                      <a:round/>
                      <a:headEnd type="none" w="med" len="med"/>
                      <a:tailEnd type="none" w="med" len="med"/>
                    </a:lnB>
                  </a:tcPr>
                </a:tc>
                <a:tc gridSpan="2">
                  <a:txBody>
                    <a:bodyPr/>
                    <a:lstStyle/>
                    <a:p>
                      <a:pPr marL="0" marR="0" indent="0" algn="just" fontAlgn="base" latinLnBrk="1">
                        <a:lnSpc>
                          <a:spcPct val="100000"/>
                        </a:lnSpc>
                        <a:spcBef>
                          <a:spcPts val="0"/>
                        </a:spcBef>
                        <a:spcAft>
                          <a:spcPts val="0"/>
                        </a:spcAft>
                      </a:pPr>
                      <a:r>
                        <a:rPr lang="ko-KR" altLang="en-US" sz="950" kern="1200" dirty="0" err="1">
                          <a:solidFill>
                            <a:schemeClr val="tx1"/>
                          </a:solidFill>
                          <a:latin typeface="+mn-lt"/>
                          <a:ea typeface="+mn-ea"/>
                          <a:cs typeface="+mn-cs"/>
                        </a:rPr>
                        <a:t>국내주의</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속지주의 원칙</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10008"/>
                  </a:ext>
                </a:extLst>
              </a:tr>
              <a:tr h="378409">
                <a:tc v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판단방법</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err="1">
                          <a:solidFill>
                            <a:schemeClr val="tx1"/>
                          </a:solidFill>
                          <a:latin typeface="+mn-lt"/>
                          <a:ea typeface="+mn-ea"/>
                          <a:cs typeface="+mn-cs"/>
                        </a:rPr>
                        <a:t>비발명</a:t>
                      </a:r>
                      <a:endParaRPr lang="ko-KR" altLang="en-US" sz="95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err="1">
                          <a:solidFill>
                            <a:schemeClr val="tx1"/>
                          </a:solidFill>
                          <a:latin typeface="+mn-lt"/>
                          <a:ea typeface="+mn-ea"/>
                          <a:cs typeface="+mn-cs"/>
                        </a:rPr>
                        <a:t>미완성발명</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en-US" altLang="ko-KR" sz="950" kern="1200">
                          <a:solidFill>
                            <a:schemeClr val="tx1"/>
                          </a:solidFill>
                          <a:latin typeface="+mn-lt"/>
                          <a:ea typeface="+mn-ea"/>
                          <a:cs typeface="+mn-cs"/>
                        </a:rPr>
                        <a:t>1.</a:t>
                      </a:r>
                      <a:r>
                        <a:rPr lang="ko-KR" altLang="en-US" sz="950" kern="1200">
                          <a:solidFill>
                            <a:schemeClr val="tx1"/>
                          </a:solidFill>
                          <a:latin typeface="+mn-lt"/>
                          <a:ea typeface="+mn-ea"/>
                          <a:cs typeface="+mn-cs"/>
                        </a:rPr>
                        <a:t>의료업</a:t>
                      </a:r>
                    </a:p>
                    <a:p>
                      <a:pPr marL="0" marR="0" indent="0" algn="just" fontAlgn="base" latinLnBrk="1">
                        <a:lnSpc>
                          <a:spcPct val="100000"/>
                        </a:lnSpc>
                        <a:spcBef>
                          <a:spcPts val="0"/>
                        </a:spcBef>
                        <a:spcAft>
                          <a:spcPts val="0"/>
                        </a:spcAft>
                      </a:pPr>
                      <a:r>
                        <a:rPr lang="en-US" altLang="ko-KR" sz="950" kern="1200">
                          <a:solidFill>
                            <a:schemeClr val="tx1"/>
                          </a:solidFill>
                          <a:latin typeface="+mn-lt"/>
                          <a:ea typeface="+mn-ea"/>
                          <a:cs typeface="+mn-cs"/>
                        </a:rPr>
                        <a:t>2.</a:t>
                      </a:r>
                      <a:r>
                        <a:rPr lang="ko-KR" altLang="en-US" sz="950" kern="1200">
                          <a:solidFill>
                            <a:schemeClr val="tx1"/>
                          </a:solidFill>
                          <a:latin typeface="+mn-lt"/>
                          <a:ea typeface="+mn-ea"/>
                          <a:cs typeface="+mn-cs"/>
                        </a:rPr>
                        <a:t>경제성</a:t>
                      </a:r>
                    </a:p>
                    <a:p>
                      <a:pPr marL="0" marR="0" indent="0" algn="just" fontAlgn="base" latinLnBrk="1">
                        <a:lnSpc>
                          <a:spcPct val="100000"/>
                        </a:lnSpc>
                        <a:spcBef>
                          <a:spcPts val="0"/>
                        </a:spcBef>
                        <a:spcAft>
                          <a:spcPts val="0"/>
                        </a:spcAft>
                      </a:pPr>
                      <a:r>
                        <a:rPr lang="en-US" altLang="ko-KR" sz="950" kern="1200">
                          <a:solidFill>
                            <a:schemeClr val="tx1"/>
                          </a:solidFill>
                          <a:latin typeface="+mn-lt"/>
                          <a:ea typeface="+mn-ea"/>
                          <a:cs typeface="+mn-cs"/>
                        </a:rPr>
                        <a:t>3.</a:t>
                      </a:r>
                      <a:r>
                        <a:rPr lang="ko-KR" altLang="en-US" sz="950" kern="1200">
                          <a:solidFill>
                            <a:schemeClr val="tx1"/>
                          </a:solidFill>
                          <a:latin typeface="+mn-lt"/>
                          <a:ea typeface="+mn-ea"/>
                          <a:cs typeface="+mn-cs"/>
                        </a:rPr>
                        <a:t>불성립발명</a:t>
                      </a:r>
                    </a:p>
                    <a:p>
                      <a:pPr marL="0" marR="0" indent="0" algn="just" fontAlgn="base" latinLnBrk="1">
                        <a:lnSpc>
                          <a:spcPct val="100000"/>
                        </a:lnSpc>
                        <a:spcBef>
                          <a:spcPts val="0"/>
                        </a:spcBef>
                        <a:spcAft>
                          <a:spcPts val="0"/>
                        </a:spcAft>
                      </a:pPr>
                      <a:r>
                        <a:rPr lang="en-US" altLang="ko-KR" sz="950" kern="1200">
                          <a:solidFill>
                            <a:schemeClr val="tx1"/>
                          </a:solidFill>
                          <a:latin typeface="+mn-lt"/>
                          <a:ea typeface="+mn-ea"/>
                          <a:cs typeface="+mn-cs"/>
                        </a:rPr>
                        <a:t>4.</a:t>
                      </a:r>
                      <a:r>
                        <a:rPr lang="ko-KR" altLang="en-US" sz="950" kern="1200">
                          <a:solidFill>
                            <a:schemeClr val="tx1"/>
                          </a:solidFill>
                          <a:latin typeface="+mn-lt"/>
                          <a:ea typeface="+mn-ea"/>
                          <a:cs typeface="+mn-cs"/>
                        </a:rPr>
                        <a:t>타법과 관계</a:t>
                      </a:r>
                    </a:p>
                    <a:p>
                      <a:pPr marL="73660" marR="0" indent="-73660" algn="just" fontAlgn="base" latinLnBrk="1">
                        <a:lnSpc>
                          <a:spcPct val="100000"/>
                        </a:lnSpc>
                        <a:spcBef>
                          <a:spcPts val="0"/>
                        </a:spcBef>
                        <a:spcAft>
                          <a:spcPts val="0"/>
                        </a:spcAft>
                      </a:pPr>
                      <a:r>
                        <a:rPr lang="en-US" altLang="ko-KR" sz="950" kern="1200">
                          <a:solidFill>
                            <a:schemeClr val="tx1"/>
                          </a:solidFill>
                          <a:latin typeface="+mn-lt"/>
                          <a:ea typeface="+mn-ea"/>
                          <a:cs typeface="+mn-cs"/>
                        </a:rPr>
                        <a:t>5.</a:t>
                      </a:r>
                      <a:r>
                        <a:rPr lang="ko-KR" altLang="en-US" sz="950" kern="1200">
                          <a:solidFill>
                            <a:schemeClr val="tx1"/>
                          </a:solidFill>
                          <a:latin typeface="+mn-lt"/>
                          <a:ea typeface="+mn-ea"/>
                          <a:cs typeface="+mn-cs"/>
                        </a:rPr>
                        <a:t>결과물과 관계</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동일성</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용이성</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gridSpan="2">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동일성</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10009"/>
                  </a:ext>
                </a:extLst>
              </a:tr>
              <a:tr h="192273">
                <a:tc gridSpan="3">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위반의 효과</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hMerge="1">
                  <a:txBody>
                    <a:bodyPr/>
                    <a:lstStyle/>
                    <a:p>
                      <a:pPr latinLnBrk="1"/>
                      <a:endParaRPr lang="ko-KR" altLang="en-US"/>
                    </a:p>
                  </a:txBody>
                  <a:tcPr/>
                </a:tc>
                <a:tc gridSpan="6">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실체적 요건 위반</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ap="flat" cmpd="sng" algn="ctr">
                      <a:solidFill>
                        <a:schemeClr val="bg1">
                          <a:lumMod val="50000"/>
                        </a:schemeClr>
                      </a:solidFill>
                      <a:prstDash val="solid"/>
                      <a:round/>
                      <a:headEnd type="none" w="med" len="med"/>
                      <a:tailEnd type="none" w="med" len="med"/>
                    </a:lnL>
                    <a:lnT w="12700" cap="flat" cmpd="sng" algn="ctr">
                      <a:solidFill>
                        <a:schemeClr val="bg1">
                          <a:lumMod val="50000"/>
                        </a:schemeClr>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10"/>
                  </a:ext>
                </a:extLst>
              </a:tr>
              <a:tr h="165420">
                <a:tc gridSpan="3">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기타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발명의 성립성이 문제되는 경우</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err="1">
                          <a:solidFill>
                            <a:schemeClr val="tx1"/>
                          </a:solidFill>
                          <a:latin typeface="+mn-lt"/>
                          <a:ea typeface="+mn-ea"/>
                          <a:cs typeface="+mn-cs"/>
                        </a:rPr>
                        <a:t>신규성</a:t>
                      </a:r>
                      <a:r>
                        <a:rPr lang="ko-KR" altLang="en-US" sz="950" kern="1200" dirty="0">
                          <a:solidFill>
                            <a:schemeClr val="tx1"/>
                          </a:solidFill>
                          <a:latin typeface="+mn-lt"/>
                          <a:ea typeface="+mn-ea"/>
                          <a:cs typeface="+mn-cs"/>
                        </a:rPr>
                        <a:t> 상실의 예외</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진보성 상실의 예외</a:t>
                      </a: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고안의 진보성과 관계</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적용의 예외</a:t>
                      </a:r>
                    </a:p>
                    <a:p>
                      <a:pPr marL="73660" marR="0" indent="-7366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다른 출원이 국제특허출원인 경우</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선출원주의의 보완</a:t>
                      </a: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선출원주의의 예외</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11"/>
                  </a:ext>
                </a:extLst>
              </a:tr>
            </a:tbl>
          </a:graphicData>
        </a:graphic>
      </p:graphicFrame>
      <p:sp>
        <p:nvSpPr>
          <p:cNvPr id="5" name="슬라이드 번호 개체 틀 4"/>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144</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61217144"/>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특허요건 정리</a:t>
            </a:r>
          </a:p>
        </p:txBody>
      </p:sp>
      <p:graphicFrame>
        <p:nvGraphicFramePr>
          <p:cNvPr id="2" name="표 1"/>
          <p:cNvGraphicFramePr>
            <a:graphicFrameLocks noGrp="1"/>
          </p:cNvGraphicFramePr>
          <p:nvPr/>
        </p:nvGraphicFramePr>
        <p:xfrm>
          <a:off x="213645" y="997010"/>
          <a:ext cx="11622754" cy="5693263"/>
        </p:xfrm>
        <a:graphic>
          <a:graphicData uri="http://schemas.openxmlformats.org/drawingml/2006/table">
            <a:tbl>
              <a:tblPr/>
              <a:tblGrid>
                <a:gridCol w="374927">
                  <a:extLst>
                    <a:ext uri="{9D8B030D-6E8A-4147-A177-3AD203B41FA5}">
                      <a16:colId xmlns:a16="http://schemas.microsoft.com/office/drawing/2014/main" val="20000"/>
                    </a:ext>
                  </a:extLst>
                </a:gridCol>
                <a:gridCol w="506152">
                  <a:extLst>
                    <a:ext uri="{9D8B030D-6E8A-4147-A177-3AD203B41FA5}">
                      <a16:colId xmlns:a16="http://schemas.microsoft.com/office/drawing/2014/main" val="20001"/>
                    </a:ext>
                  </a:extLst>
                </a:gridCol>
                <a:gridCol w="471141">
                  <a:extLst>
                    <a:ext uri="{9D8B030D-6E8A-4147-A177-3AD203B41FA5}">
                      <a16:colId xmlns:a16="http://schemas.microsoft.com/office/drawing/2014/main" val="20002"/>
                    </a:ext>
                  </a:extLst>
                </a:gridCol>
                <a:gridCol w="2426311">
                  <a:extLst>
                    <a:ext uri="{9D8B030D-6E8A-4147-A177-3AD203B41FA5}">
                      <a16:colId xmlns:a16="http://schemas.microsoft.com/office/drawing/2014/main" val="20009"/>
                    </a:ext>
                  </a:extLst>
                </a:gridCol>
                <a:gridCol w="2725878">
                  <a:extLst>
                    <a:ext uri="{9D8B030D-6E8A-4147-A177-3AD203B41FA5}">
                      <a16:colId xmlns:a16="http://schemas.microsoft.com/office/drawing/2014/main" val="20010"/>
                    </a:ext>
                  </a:extLst>
                </a:gridCol>
                <a:gridCol w="2725878">
                  <a:extLst>
                    <a:ext uri="{9D8B030D-6E8A-4147-A177-3AD203B41FA5}">
                      <a16:colId xmlns:a16="http://schemas.microsoft.com/office/drawing/2014/main" val="20011"/>
                    </a:ext>
                  </a:extLst>
                </a:gridCol>
                <a:gridCol w="2392467">
                  <a:extLst>
                    <a:ext uri="{9D8B030D-6E8A-4147-A177-3AD203B41FA5}">
                      <a16:colId xmlns:a16="http://schemas.microsoft.com/office/drawing/2014/main" val="20012"/>
                    </a:ext>
                  </a:extLst>
                </a:gridCol>
              </a:tblGrid>
              <a:tr h="218779">
                <a:tc gridSpan="3">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요건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kern="1200" dirty="0" err="1">
                          <a:solidFill>
                            <a:schemeClr val="tx1"/>
                          </a:solidFill>
                          <a:latin typeface="+mn-lt"/>
                          <a:ea typeface="+mn-ea"/>
                          <a:cs typeface="+mn-cs"/>
                        </a:rPr>
                        <a:t>불특허발명</a:t>
                      </a:r>
                      <a:endParaRPr lang="en-US" altLang="ko-KR" sz="950" kern="1200" dirty="0">
                        <a:solidFill>
                          <a:schemeClr val="tx1"/>
                        </a:solidFill>
                        <a:latin typeface="+mn-lt"/>
                        <a:ea typeface="+mn-ea"/>
                        <a:cs typeface="+mn-cs"/>
                      </a:endParaRPr>
                    </a:p>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32)</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출원인</a:t>
                      </a:r>
                      <a:endParaRPr lang="en-US" altLang="ko-KR" sz="950" kern="1200" dirty="0">
                        <a:solidFill>
                          <a:schemeClr val="tx1"/>
                        </a:solidFill>
                        <a:latin typeface="+mn-lt"/>
                        <a:ea typeface="+mn-ea"/>
                        <a:cs typeface="+mn-cs"/>
                      </a:endParaRPr>
                    </a:p>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25, 33, 44)</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특허출원에 필요한 서류</a:t>
                      </a:r>
                      <a:endParaRPr lang="en-US" altLang="ko-KR" sz="950" kern="1200" dirty="0">
                        <a:solidFill>
                          <a:schemeClr val="tx1"/>
                        </a:solidFill>
                        <a:latin typeface="+mn-lt"/>
                        <a:ea typeface="+mn-ea"/>
                        <a:cs typeface="+mn-cs"/>
                      </a:endParaRPr>
                    </a:p>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42-42</a:t>
                      </a:r>
                      <a:r>
                        <a:rPr lang="ko-KR" altLang="en-US" sz="950" kern="1200" dirty="0">
                          <a:solidFill>
                            <a:schemeClr val="tx1"/>
                          </a:solidFill>
                          <a:latin typeface="+mn-lt"/>
                          <a:ea typeface="+mn-ea"/>
                          <a:cs typeface="+mn-cs"/>
                        </a:rPr>
                        <a:t>의</a:t>
                      </a:r>
                      <a:r>
                        <a:rPr lang="en-US" altLang="ko-KR" sz="950" kern="1200" dirty="0">
                          <a:solidFill>
                            <a:schemeClr val="tx1"/>
                          </a:solidFill>
                          <a:latin typeface="+mn-lt"/>
                          <a:ea typeface="+mn-ea"/>
                          <a:cs typeface="+mn-cs"/>
                        </a:rPr>
                        <a:t>3)</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하나의 특허출원의 범위</a:t>
                      </a:r>
                      <a:endParaRPr lang="en-US" altLang="ko-KR" sz="950" kern="1200" dirty="0">
                        <a:solidFill>
                          <a:schemeClr val="tx1"/>
                        </a:solidFill>
                        <a:latin typeface="+mn-lt"/>
                        <a:ea typeface="+mn-ea"/>
                        <a:cs typeface="+mn-cs"/>
                      </a:endParaRPr>
                    </a:p>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45)</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extLst>
                  <a:ext uri="{0D108BD9-81ED-4DB2-BD59-A6C34878D82A}">
                    <a16:rowId xmlns:a16="http://schemas.microsoft.com/office/drawing/2014/main" val="10000"/>
                  </a:ext>
                </a:extLst>
              </a:tr>
              <a:tr h="942620">
                <a:tc gridSpan="3">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의의</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공공의 질서 또는 선량한 풍속에 어긋나거나 공중의 위생을 해칠 우려가 있는 발명은 특허를 받을 수 없도록 규정</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출원인이 되기 위해서는</a:t>
                      </a:r>
                      <a:r>
                        <a:rPr lang="en-US" altLang="ko-KR" sz="950" kern="1200" dirty="0">
                          <a:solidFill>
                            <a:schemeClr val="tx1"/>
                          </a:solidFill>
                          <a:latin typeface="+mn-lt"/>
                          <a:ea typeface="+mn-ea"/>
                          <a:cs typeface="+mn-cs"/>
                        </a:rPr>
                        <a:t>ⅰ)</a:t>
                      </a:r>
                      <a:r>
                        <a:rPr lang="ko-KR" altLang="en-US" sz="950" kern="1200" dirty="0">
                          <a:solidFill>
                            <a:schemeClr val="tx1"/>
                          </a:solidFill>
                          <a:latin typeface="+mn-lt"/>
                          <a:ea typeface="+mn-ea"/>
                          <a:cs typeface="+mn-cs"/>
                        </a:rPr>
                        <a:t>일반적인 권리의 주체가 될 수 있는 능력인 권리능력이 있어야 하며</a:t>
                      </a:r>
                      <a:r>
                        <a:rPr lang="en-US" altLang="ko-KR" sz="950" kern="1200" dirty="0">
                          <a:solidFill>
                            <a:schemeClr val="tx1"/>
                          </a:solidFill>
                          <a:latin typeface="+mn-lt"/>
                          <a:ea typeface="+mn-ea"/>
                          <a:cs typeface="+mn-cs"/>
                        </a:rPr>
                        <a:t>, ⅱ)</a:t>
                      </a:r>
                      <a:r>
                        <a:rPr lang="ko-KR" altLang="en-US" sz="950" kern="1200" dirty="0">
                          <a:solidFill>
                            <a:schemeClr val="tx1"/>
                          </a:solidFill>
                          <a:latin typeface="+mn-lt"/>
                          <a:ea typeface="+mn-ea"/>
                          <a:cs typeface="+mn-cs"/>
                        </a:rPr>
                        <a:t>권리능력이 있는 자라 하더라도 당해발명에 대한 권리의 주체가 될 수 있는 권리적격이 있어야 함</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특허를 받을 수 있는 권리를 가진 자가 그 발명의 공개를 전제로 하여 지식재산처에 대하여 특허를 받고자 하는 의사를 객관적으로 표시하는 행위를 말하며</a:t>
                      </a:r>
                      <a:r>
                        <a:rPr lang="en-US" altLang="ko-KR" sz="950" kern="1200" dirty="0">
                          <a:solidFill>
                            <a:schemeClr val="tx1"/>
                          </a:solidFill>
                          <a:latin typeface="+mn-lt"/>
                          <a:ea typeface="+mn-ea"/>
                          <a:cs typeface="+mn-cs"/>
                        </a:rPr>
                        <a:t>, </a:t>
                      </a:r>
                      <a:r>
                        <a:rPr lang="ko-KR" altLang="en-US" sz="950" kern="1200" dirty="0">
                          <a:solidFill>
                            <a:schemeClr val="tx1"/>
                          </a:solidFill>
                          <a:latin typeface="+mn-lt"/>
                          <a:ea typeface="+mn-ea"/>
                          <a:cs typeface="+mn-cs"/>
                        </a:rPr>
                        <a:t>특허절차는 출원으로부터 시작된다</a:t>
                      </a:r>
                      <a:r>
                        <a:rPr lang="en-US" altLang="ko-KR" sz="950" kern="1200" dirty="0">
                          <a:solidFill>
                            <a:schemeClr val="tx1"/>
                          </a:solidFill>
                          <a:latin typeface="+mn-lt"/>
                          <a:ea typeface="+mn-ea"/>
                          <a:cs typeface="+mn-cs"/>
                        </a:rPr>
                        <a:t>. </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하나의 특허출원으로 할 수 있는 발명의 범위를 말하는 것으로서</a:t>
                      </a:r>
                      <a:r>
                        <a:rPr lang="en-US" altLang="ko-KR" sz="950" kern="1200">
                          <a:solidFill>
                            <a:schemeClr val="tx1"/>
                          </a:solidFill>
                          <a:latin typeface="+mn-lt"/>
                          <a:ea typeface="+mn-ea"/>
                          <a:cs typeface="+mn-cs"/>
                        </a:rPr>
                        <a:t>, </a:t>
                      </a:r>
                      <a:r>
                        <a:rPr lang="ko-KR" altLang="en-US" sz="950" kern="1200">
                          <a:solidFill>
                            <a:schemeClr val="tx1"/>
                          </a:solidFill>
                          <a:latin typeface="+mn-lt"/>
                          <a:ea typeface="+mn-ea"/>
                          <a:cs typeface="+mn-cs"/>
                        </a:rPr>
                        <a:t>하나의 발명마다 하나의 특허출원을 원칙으로 하나</a:t>
                      </a:r>
                      <a:r>
                        <a:rPr lang="en-US" altLang="ko-KR" sz="950" kern="1200">
                          <a:solidFill>
                            <a:schemeClr val="tx1"/>
                          </a:solidFill>
                          <a:latin typeface="+mn-lt"/>
                          <a:ea typeface="+mn-ea"/>
                          <a:cs typeface="+mn-cs"/>
                        </a:rPr>
                        <a:t>, </a:t>
                      </a:r>
                      <a:r>
                        <a:rPr lang="ko-KR" altLang="en-US" sz="950" kern="1200">
                          <a:solidFill>
                            <a:schemeClr val="tx1"/>
                          </a:solidFill>
                          <a:latin typeface="+mn-lt"/>
                          <a:ea typeface="+mn-ea"/>
                          <a:cs typeface="+mn-cs"/>
                        </a:rPr>
                        <a:t>하나의 총괄적 발명의 개념을 형성하는 일 군의 발명에 대하여 하나의 특허출원으로 할 수 있다</a:t>
                      </a:r>
                      <a:r>
                        <a:rPr lang="en-US" altLang="ko-KR" sz="950" kern="1200">
                          <a:solidFill>
                            <a:schemeClr val="tx1"/>
                          </a:solidFill>
                          <a:latin typeface="+mn-lt"/>
                          <a:ea typeface="+mn-ea"/>
                          <a:cs typeface="+mn-cs"/>
                        </a:rPr>
                        <a:t>. </a:t>
                      </a:r>
                      <a:endParaRPr lang="ko-KR" altLang="en-US" sz="950" kern="120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1377128">
                <a:tc gridSpan="3">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내용</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101600" marR="0" indent="-10160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err="1">
                          <a:solidFill>
                            <a:schemeClr val="tx1"/>
                          </a:solidFill>
                          <a:latin typeface="+mn-lt"/>
                          <a:ea typeface="+mn-ea"/>
                          <a:cs typeface="+mn-cs"/>
                        </a:rPr>
                        <a:t>공서양속에</a:t>
                      </a:r>
                      <a:r>
                        <a:rPr lang="ko-KR" altLang="en-US" sz="950" kern="1200" dirty="0">
                          <a:solidFill>
                            <a:schemeClr val="tx1"/>
                          </a:solidFill>
                          <a:latin typeface="+mn-lt"/>
                          <a:ea typeface="+mn-ea"/>
                          <a:cs typeface="+mn-cs"/>
                        </a:rPr>
                        <a:t> 위반된 발명</a:t>
                      </a:r>
                    </a:p>
                    <a:p>
                      <a:pPr marL="73660" marR="0" indent="-7366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공중의 위생을 해칠 우려가 있는 발명</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권리능력자</a:t>
                      </a:r>
                    </a:p>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①내국인</a:t>
                      </a:r>
                    </a:p>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②외국인</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a:t>
                      </a:r>
                      <a:r>
                        <a:rPr lang="en-US" altLang="ko-KR" sz="950" kern="1200" dirty="0">
                          <a:solidFill>
                            <a:schemeClr val="tx1"/>
                          </a:solidFill>
                          <a:latin typeface="+mn-lt"/>
                          <a:ea typeface="+mn-ea"/>
                          <a:cs typeface="+mn-cs"/>
                        </a:rPr>
                        <a:t>25)</a:t>
                      </a:r>
                      <a:endParaRPr lang="ko-KR" altLang="en-US" sz="95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권리적격자</a:t>
                      </a:r>
                    </a:p>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①발명자</a:t>
                      </a:r>
                    </a:p>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②승계인</a:t>
                      </a:r>
                    </a:p>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③</a:t>
                      </a:r>
                      <a:r>
                        <a:rPr lang="ko-KR" altLang="en-US" sz="950" kern="1200" dirty="0" err="1">
                          <a:solidFill>
                            <a:schemeClr val="tx1"/>
                          </a:solidFill>
                          <a:latin typeface="+mn-lt"/>
                          <a:ea typeface="+mn-ea"/>
                          <a:cs typeface="+mn-cs"/>
                        </a:rPr>
                        <a:t>지식재산처직원</a:t>
                      </a:r>
                      <a:endParaRPr lang="ko-KR" altLang="en-US" sz="95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④특허를 받을 수 있는 권리의 공유</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종류</a:t>
                      </a: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역할</a:t>
                      </a: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3.</a:t>
                      </a:r>
                      <a:r>
                        <a:rPr lang="ko-KR" altLang="en-US" sz="950" kern="1200" dirty="0">
                          <a:solidFill>
                            <a:schemeClr val="tx1"/>
                          </a:solidFill>
                          <a:latin typeface="+mn-lt"/>
                          <a:ea typeface="+mn-ea"/>
                          <a:cs typeface="+mn-cs"/>
                        </a:rPr>
                        <a:t>기재방법</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73660" marR="0" indent="-7366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하나의 발명 하나의 출원 원칙</a:t>
                      </a:r>
                    </a:p>
                    <a:p>
                      <a:pPr marL="67310" marR="0" indent="-6731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일 군의 발명 하나의 출원 보완</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r h="309259">
                <a:tc rowSpan="7">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판</a:t>
                      </a:r>
                    </a:p>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단</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gridSpan="2">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주체적 기준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gridSpan="4">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ko-KR" altLang="en-US" sz="950" kern="1200" dirty="0">
                          <a:solidFill>
                            <a:schemeClr val="tx1"/>
                          </a:solidFill>
                          <a:latin typeface="+mn-lt"/>
                          <a:ea typeface="+mn-ea"/>
                          <a:cs typeface="+mn-cs"/>
                        </a:rPr>
                        <a:t>심사관</a:t>
                      </a:r>
                      <a:r>
                        <a:rPr lang="en-US" altLang="ko-KR" sz="950" kern="1200" dirty="0">
                          <a:solidFill>
                            <a:schemeClr val="tx1"/>
                          </a:solidFill>
                          <a:latin typeface="+mn-lt"/>
                          <a:ea typeface="+mn-ea"/>
                          <a:cs typeface="+mn-cs"/>
                        </a:rPr>
                        <a:t>, </a:t>
                      </a:r>
                      <a:r>
                        <a:rPr lang="ko-KR" altLang="en-US" sz="950" kern="1200" dirty="0">
                          <a:solidFill>
                            <a:schemeClr val="tx1"/>
                          </a:solidFill>
                          <a:latin typeface="+mn-lt"/>
                          <a:ea typeface="+mn-ea"/>
                          <a:cs typeface="+mn-cs"/>
                        </a:rPr>
                        <a:t>심판관</a:t>
                      </a:r>
                      <a:r>
                        <a:rPr lang="en-US" altLang="ko-KR" sz="950" kern="1200" dirty="0">
                          <a:solidFill>
                            <a:schemeClr val="tx1"/>
                          </a:solidFill>
                          <a:latin typeface="+mn-lt"/>
                          <a:ea typeface="+mn-ea"/>
                          <a:cs typeface="+mn-cs"/>
                        </a:rPr>
                        <a:t>, </a:t>
                      </a:r>
                      <a:r>
                        <a:rPr lang="ko-KR" altLang="en-US" sz="950" kern="1200" dirty="0">
                          <a:solidFill>
                            <a:schemeClr val="tx1"/>
                          </a:solidFill>
                          <a:latin typeface="+mn-lt"/>
                          <a:ea typeface="+mn-ea"/>
                          <a:cs typeface="+mn-cs"/>
                        </a:rPr>
                        <a:t>법관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3"/>
                  </a:ext>
                </a:extLst>
              </a:tr>
              <a:tr h="218779">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객체적</a:t>
                      </a:r>
                    </a:p>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기준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대상</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청구범위</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err="1">
                          <a:solidFill>
                            <a:schemeClr val="tx1"/>
                          </a:solidFill>
                          <a:latin typeface="+mn-lt"/>
                          <a:ea typeface="+mn-ea"/>
                          <a:cs typeface="+mn-cs"/>
                        </a:rPr>
                        <a:t>청구범위</a:t>
                      </a:r>
                      <a:r>
                        <a:rPr lang="ko-KR" altLang="en-US" sz="950" kern="1200" dirty="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독립항을 기준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4"/>
                  </a:ext>
                </a:extLst>
              </a:tr>
              <a:tr h="196308">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범위</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gridSpan="4">
                  <a:txBody>
                    <a:bodyPr/>
                    <a:lstStyle/>
                    <a:p>
                      <a:pPr marL="0" marR="0" indent="0" algn="just" defTabSz="914400" rtl="0" eaLnBrk="1" fontAlgn="base" latinLnBrk="1" hangingPunct="1">
                        <a:lnSpc>
                          <a:spcPct val="100000"/>
                        </a:lnSpc>
                        <a:spcBef>
                          <a:spcPts val="0"/>
                        </a:spcBef>
                        <a:spcAft>
                          <a:spcPts val="0"/>
                        </a:spcAft>
                        <a:buClrTx/>
                        <a:buSzTx/>
                        <a:buFontTx/>
                        <a:buNone/>
                        <a:tabLst/>
                        <a:defRPr/>
                      </a:pPr>
                      <a:r>
                        <a:rPr lang="ko-KR" altLang="en-US" sz="950" kern="1200" dirty="0" err="1">
                          <a:solidFill>
                            <a:schemeClr val="tx1"/>
                          </a:solidFill>
                          <a:latin typeface="+mn-lt"/>
                          <a:ea typeface="+mn-ea"/>
                          <a:cs typeface="+mn-cs"/>
                        </a:rPr>
                        <a:t>청구항마다</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단</a:t>
                      </a:r>
                      <a:r>
                        <a:rPr lang="en-US" altLang="ko-KR" sz="950" kern="1200" dirty="0">
                          <a:solidFill>
                            <a:schemeClr val="tx1"/>
                          </a:solidFill>
                          <a:latin typeface="+mn-lt"/>
                          <a:ea typeface="+mn-ea"/>
                          <a:cs typeface="+mn-cs"/>
                        </a:rPr>
                        <a:t>, </a:t>
                      </a:r>
                      <a:r>
                        <a:rPr lang="ko-KR" altLang="en-US" sz="950" kern="1200" dirty="0">
                          <a:solidFill>
                            <a:schemeClr val="tx1"/>
                          </a:solidFill>
                          <a:latin typeface="+mn-lt"/>
                          <a:ea typeface="+mn-ea"/>
                          <a:cs typeface="+mn-cs"/>
                        </a:rPr>
                        <a:t>특허여부결정은 출원단위</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marL="0" marR="0" indent="0" algn="just" fontAlgn="base" latinLnBrk="1">
                        <a:lnSpc>
                          <a:spcPct val="100000"/>
                        </a:lnSpc>
                        <a:spcBef>
                          <a:spcPts val="0"/>
                        </a:spcBef>
                        <a:spcAft>
                          <a:spcPts val="0"/>
                        </a:spcAft>
                      </a:pPr>
                      <a:endParaRPr lang="ko-KR" altLang="en-US" sz="950" kern="0" spc="0">
                        <a:solidFill>
                          <a:srgbClr val="000000"/>
                        </a:solidFill>
                        <a:effectLst/>
                        <a:latin typeface="+mn-ea"/>
                        <a:ea typeface="+mn-ea"/>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marL="0" marR="0" indent="0" algn="just" fontAlgn="base" latinLnBrk="1">
                        <a:lnSpc>
                          <a:spcPct val="100000"/>
                        </a:lnSpc>
                        <a:spcBef>
                          <a:spcPts val="0"/>
                        </a:spcBef>
                        <a:spcAft>
                          <a:spcPts val="0"/>
                        </a:spcAft>
                      </a:pPr>
                      <a:endParaRPr lang="ko-KR" altLang="en-US" sz="950" kern="0" spc="0" dirty="0">
                        <a:solidFill>
                          <a:srgbClr val="000000"/>
                        </a:solidFill>
                        <a:effectLst/>
                        <a:latin typeface="+mn-ea"/>
                        <a:ea typeface="+mn-ea"/>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5"/>
                  </a:ext>
                </a:extLst>
              </a:tr>
              <a:tr h="399739">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시기적</a:t>
                      </a:r>
                    </a:p>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기준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원칙</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just" fontAlgn="base" latinLnBrk="1">
                        <a:lnSpc>
                          <a:spcPct val="100000"/>
                        </a:lnSpc>
                        <a:spcBef>
                          <a:spcPts val="0"/>
                        </a:spcBef>
                        <a:spcAft>
                          <a:spcPts val="0"/>
                        </a:spcAft>
                      </a:pPr>
                      <a:r>
                        <a:rPr lang="ko-KR" altLang="en-US" sz="950" kern="1200" dirty="0" err="1">
                          <a:solidFill>
                            <a:schemeClr val="tx1"/>
                          </a:solidFill>
                          <a:latin typeface="+mn-lt"/>
                          <a:ea typeface="+mn-ea"/>
                          <a:cs typeface="+mn-cs"/>
                        </a:rPr>
                        <a:t>특허여부</a:t>
                      </a:r>
                      <a:endParaRPr lang="ko-KR" altLang="en-US" sz="95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결정시</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6"/>
                  </a:ext>
                </a:extLst>
              </a:tr>
              <a:tr h="218779">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예외</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7"/>
                  </a:ext>
                </a:extLst>
              </a:tr>
              <a:tr h="218779">
                <a:tc v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950" kern="1200" dirty="0">
                          <a:solidFill>
                            <a:schemeClr val="tx1"/>
                          </a:solidFill>
                          <a:latin typeface="+mn-lt"/>
                          <a:ea typeface="+mn-ea"/>
                          <a:cs typeface="+mn-cs"/>
                        </a:rPr>
                        <a:t>지역적 기준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8"/>
                  </a:ext>
                </a:extLst>
              </a:tr>
              <a:tr h="491513">
                <a:tc v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950" kern="1200" dirty="0" err="1">
                          <a:solidFill>
                            <a:schemeClr val="tx1"/>
                          </a:solidFill>
                          <a:latin typeface="+mn-lt"/>
                          <a:ea typeface="+mn-ea"/>
                          <a:cs typeface="+mn-cs"/>
                        </a:rPr>
                        <a:t>판단방법</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심사절차내에서 판단</a:t>
                      </a:r>
                      <a:endParaRPr lang="en-US" altLang="ko-KR" sz="95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합리적 의심이 드는 경우의 판단</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시행령 제</a:t>
                      </a:r>
                      <a:r>
                        <a:rPr lang="en-US" altLang="ko-KR" sz="950" kern="1200" dirty="0">
                          <a:solidFill>
                            <a:schemeClr val="tx1"/>
                          </a:solidFill>
                          <a:latin typeface="+mn-lt"/>
                          <a:ea typeface="+mn-ea"/>
                          <a:cs typeface="+mn-cs"/>
                        </a:rPr>
                        <a:t>6</a:t>
                      </a:r>
                      <a:r>
                        <a:rPr lang="ko-KR" altLang="en-US" sz="950" kern="1200" dirty="0">
                          <a:solidFill>
                            <a:schemeClr val="tx1"/>
                          </a:solidFill>
                          <a:latin typeface="+mn-lt"/>
                          <a:ea typeface="+mn-ea"/>
                          <a:cs typeface="+mn-cs"/>
                        </a:rPr>
                        <a:t>조에 의하여 판단</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9"/>
                  </a:ext>
                </a:extLst>
              </a:tr>
              <a:tr h="639115">
                <a:tc gridSpan="3">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위반의 효과</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95250" marR="0" indent="-95250" algn="just" fontAlgn="base" latinLnBrk="1">
                        <a:lnSpc>
                          <a:spcPct val="100000"/>
                        </a:lnSpc>
                        <a:spcBef>
                          <a:spcPts val="0"/>
                        </a:spcBef>
                        <a:spcAft>
                          <a:spcPts val="0"/>
                        </a:spcAft>
                      </a:pPr>
                      <a:r>
                        <a:rPr lang="en-US" altLang="ko-KR" sz="950" kern="1200">
                          <a:solidFill>
                            <a:schemeClr val="tx1"/>
                          </a:solidFill>
                          <a:latin typeface="+mn-lt"/>
                          <a:ea typeface="+mn-ea"/>
                          <a:cs typeface="+mn-cs"/>
                        </a:rPr>
                        <a:t>1.</a:t>
                      </a:r>
                      <a:r>
                        <a:rPr lang="ko-KR" altLang="en-US" sz="950" kern="1200">
                          <a:solidFill>
                            <a:schemeClr val="tx1"/>
                          </a:solidFill>
                          <a:latin typeface="+mn-lt"/>
                          <a:ea typeface="+mn-ea"/>
                          <a:cs typeface="+mn-cs"/>
                        </a:rPr>
                        <a:t>출원공개의 예외</a:t>
                      </a:r>
                    </a:p>
                    <a:p>
                      <a:pPr marL="73660" marR="0" indent="-73660" algn="just" fontAlgn="base" latinLnBrk="1">
                        <a:lnSpc>
                          <a:spcPct val="100000"/>
                        </a:lnSpc>
                        <a:spcBef>
                          <a:spcPts val="0"/>
                        </a:spcBef>
                        <a:spcAft>
                          <a:spcPts val="0"/>
                        </a:spcAft>
                      </a:pPr>
                      <a:r>
                        <a:rPr lang="en-US" altLang="ko-KR" sz="950" kern="1200">
                          <a:solidFill>
                            <a:schemeClr val="tx1"/>
                          </a:solidFill>
                          <a:latin typeface="+mn-lt"/>
                          <a:ea typeface="+mn-ea"/>
                          <a:cs typeface="+mn-cs"/>
                        </a:rPr>
                        <a:t>2.</a:t>
                      </a:r>
                      <a:r>
                        <a:rPr lang="ko-KR" altLang="en-US" sz="950" kern="1200">
                          <a:solidFill>
                            <a:schemeClr val="tx1"/>
                          </a:solidFill>
                          <a:latin typeface="+mn-lt"/>
                          <a:ea typeface="+mn-ea"/>
                          <a:cs typeface="+mn-cs"/>
                        </a:rPr>
                        <a:t>실체적 요건 위반</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주체적 요건 위반</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73660" marR="0" indent="-7366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실체적 요건 위반</a:t>
                      </a: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42</a:t>
                      </a:r>
                      <a:r>
                        <a:rPr lang="ko-KR" altLang="en-US" sz="950" kern="1200" dirty="0">
                          <a:solidFill>
                            <a:schemeClr val="tx1"/>
                          </a:solidFill>
                          <a:latin typeface="+mn-lt"/>
                          <a:ea typeface="+mn-ea"/>
                          <a:cs typeface="+mn-cs"/>
                        </a:rPr>
                        <a:t>③</a:t>
                      </a:r>
                      <a:r>
                        <a:rPr lang="en-US" altLang="ko-KR" sz="950" kern="1200" dirty="0">
                          <a:solidFill>
                            <a:schemeClr val="tx1"/>
                          </a:solidFill>
                          <a:latin typeface="+mn-lt"/>
                          <a:ea typeface="+mn-ea"/>
                          <a:cs typeface="+mn-cs"/>
                        </a:rPr>
                        <a:t>Ⅰ,</a:t>
                      </a:r>
                      <a:r>
                        <a:rPr lang="ko-KR" altLang="en-US" sz="950" kern="1200" dirty="0">
                          <a:solidFill>
                            <a:schemeClr val="tx1"/>
                          </a:solidFill>
                          <a:latin typeface="+mn-lt"/>
                          <a:ea typeface="+mn-ea"/>
                          <a:cs typeface="+mn-cs"/>
                        </a:rPr>
                        <a:t>④</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절차적 요건 위반</a:t>
                      </a:r>
                    </a:p>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42</a:t>
                      </a:r>
                      <a:r>
                        <a:rPr lang="ko-KR" altLang="en-US" sz="950" kern="1200" dirty="0">
                          <a:solidFill>
                            <a:schemeClr val="tx1"/>
                          </a:solidFill>
                          <a:latin typeface="+mn-lt"/>
                          <a:ea typeface="+mn-ea"/>
                          <a:cs typeface="+mn-cs"/>
                        </a:rPr>
                        <a:t>③</a:t>
                      </a:r>
                      <a:r>
                        <a:rPr lang="en-US" altLang="ko-KR" sz="950" kern="1200" dirty="0">
                          <a:solidFill>
                            <a:schemeClr val="tx1"/>
                          </a:solidFill>
                          <a:latin typeface="+mn-lt"/>
                          <a:ea typeface="+mn-ea"/>
                          <a:cs typeface="+mn-cs"/>
                        </a:rPr>
                        <a:t>Ⅱ,</a:t>
                      </a:r>
                      <a:r>
                        <a:rPr lang="ko-KR" altLang="en-US" sz="950" kern="1200" dirty="0">
                          <a:solidFill>
                            <a:schemeClr val="tx1"/>
                          </a:solidFill>
                          <a:latin typeface="+mn-lt"/>
                          <a:ea typeface="+mn-ea"/>
                          <a:cs typeface="+mn-cs"/>
                        </a:rPr>
                        <a:t>⑧</a:t>
                      </a:r>
                      <a:r>
                        <a:rPr lang="en-US" altLang="ko-KR" sz="950" kern="1200" dirty="0">
                          <a:solidFill>
                            <a:schemeClr val="tx1"/>
                          </a:solidFill>
                          <a:latin typeface="+mn-lt"/>
                          <a:ea typeface="+mn-ea"/>
                          <a:cs typeface="+mn-cs"/>
                        </a:rPr>
                        <a:t>)</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절차적 요건 위반</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10"/>
                  </a:ext>
                </a:extLst>
              </a:tr>
              <a:tr h="343910">
                <a:tc gridSpan="3">
                  <a:txBody>
                    <a:bodyPr/>
                    <a:lstStyle/>
                    <a:p>
                      <a:pPr marL="0" marR="0" indent="0" algn="ctr" fontAlgn="base" latinLnBrk="0">
                        <a:lnSpc>
                          <a:spcPct val="100000"/>
                        </a:lnSpc>
                        <a:spcBef>
                          <a:spcPts val="0"/>
                        </a:spcBef>
                        <a:spcAft>
                          <a:spcPts val="0"/>
                        </a:spcAft>
                      </a:pPr>
                      <a:r>
                        <a:rPr lang="ko-KR" altLang="en-US" sz="950" kern="1200">
                          <a:solidFill>
                            <a:schemeClr val="tx1"/>
                          </a:solidFill>
                          <a:latin typeface="+mn-lt"/>
                          <a:ea typeface="+mn-ea"/>
                          <a:cs typeface="+mn-cs"/>
                        </a:rPr>
                        <a:t>기타</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CE6F1"/>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50" kern="120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ko-KR" altLang="en-US" sz="950" kern="1200" dirty="0">
                          <a:solidFill>
                            <a:schemeClr val="tx1"/>
                          </a:solidFill>
                          <a:latin typeface="+mn-lt"/>
                          <a:ea typeface="+mn-ea"/>
                          <a:cs typeface="+mn-cs"/>
                        </a:rPr>
                        <a:t>　</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73660" marR="0" indent="-7366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청구범위제출 유예</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42</a:t>
                      </a:r>
                      <a:r>
                        <a:rPr lang="ko-KR" altLang="en-US" sz="950" kern="1200" dirty="0">
                          <a:solidFill>
                            <a:schemeClr val="tx1"/>
                          </a:solidFill>
                          <a:latin typeface="+mn-lt"/>
                          <a:ea typeface="+mn-ea"/>
                          <a:cs typeface="+mn-cs"/>
                        </a:rPr>
                        <a:t>의</a:t>
                      </a:r>
                      <a:r>
                        <a:rPr lang="en-US" altLang="ko-KR" sz="950" kern="1200" dirty="0">
                          <a:solidFill>
                            <a:schemeClr val="tx1"/>
                          </a:solidFill>
                          <a:latin typeface="+mn-lt"/>
                          <a:ea typeface="+mn-ea"/>
                          <a:cs typeface="+mn-cs"/>
                        </a:rPr>
                        <a:t>2)</a:t>
                      </a:r>
                      <a:endParaRPr lang="ko-KR" altLang="en-US" sz="950" kern="1200" dirty="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err="1">
                          <a:solidFill>
                            <a:schemeClr val="tx1"/>
                          </a:solidFill>
                          <a:latin typeface="+mn-lt"/>
                          <a:ea typeface="+mn-ea"/>
                          <a:cs typeface="+mn-cs"/>
                        </a:rPr>
                        <a:t>외국어특허출원</a:t>
                      </a:r>
                      <a:r>
                        <a:rPr lang="en-US" altLang="ko-KR" sz="950" kern="1200" dirty="0">
                          <a:solidFill>
                            <a:schemeClr val="tx1"/>
                          </a:solidFill>
                          <a:latin typeface="+mn-lt"/>
                          <a:ea typeface="+mn-ea"/>
                          <a:cs typeface="+mn-cs"/>
                        </a:rPr>
                        <a:t>(</a:t>
                      </a:r>
                      <a:r>
                        <a:rPr lang="ko-KR" altLang="en-US" sz="950" kern="1200" dirty="0">
                          <a:solidFill>
                            <a:schemeClr val="tx1"/>
                          </a:solidFill>
                          <a:latin typeface="+mn-lt"/>
                          <a:ea typeface="+mn-ea"/>
                          <a:cs typeface="+mn-cs"/>
                        </a:rPr>
                        <a:t>法 </a:t>
                      </a:r>
                      <a:r>
                        <a:rPr lang="en-US" altLang="ko-KR" sz="950" kern="1200" dirty="0">
                          <a:solidFill>
                            <a:schemeClr val="tx1"/>
                          </a:solidFill>
                          <a:latin typeface="+mn-lt"/>
                          <a:ea typeface="+mn-ea"/>
                          <a:cs typeface="+mn-cs"/>
                        </a:rPr>
                        <a:t>42</a:t>
                      </a:r>
                      <a:r>
                        <a:rPr lang="ko-KR" altLang="en-US" sz="950" kern="1200" dirty="0">
                          <a:solidFill>
                            <a:schemeClr val="tx1"/>
                          </a:solidFill>
                          <a:latin typeface="+mn-lt"/>
                          <a:ea typeface="+mn-ea"/>
                          <a:cs typeface="+mn-cs"/>
                        </a:rPr>
                        <a:t>의</a:t>
                      </a:r>
                      <a:r>
                        <a:rPr lang="en-US" altLang="ko-KR" sz="950" kern="1200" dirty="0">
                          <a:solidFill>
                            <a:schemeClr val="tx1"/>
                          </a:solidFill>
                          <a:latin typeface="+mn-lt"/>
                          <a:ea typeface="+mn-ea"/>
                          <a:cs typeface="+mn-cs"/>
                        </a:rPr>
                        <a:t>3)</a:t>
                      </a:r>
                      <a:endParaRPr lang="ko-KR" altLang="en-US" sz="950" kern="1200" dirty="0">
                        <a:solidFill>
                          <a:schemeClr val="tx1"/>
                        </a:solidFill>
                        <a:latin typeface="+mn-lt"/>
                        <a:ea typeface="+mn-ea"/>
                        <a:cs typeface="+mn-cs"/>
                      </a:endParaRP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indent="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1.</a:t>
                      </a:r>
                      <a:r>
                        <a:rPr lang="ko-KR" altLang="en-US" sz="950" kern="1200" dirty="0">
                          <a:solidFill>
                            <a:schemeClr val="tx1"/>
                          </a:solidFill>
                          <a:latin typeface="+mn-lt"/>
                          <a:ea typeface="+mn-ea"/>
                          <a:cs typeface="+mn-cs"/>
                        </a:rPr>
                        <a:t>최소한의 판단</a:t>
                      </a:r>
                    </a:p>
                    <a:p>
                      <a:pPr marL="73660" marR="0" indent="-73660" algn="just" fontAlgn="base" latinLnBrk="1">
                        <a:lnSpc>
                          <a:spcPct val="100000"/>
                        </a:lnSpc>
                        <a:spcBef>
                          <a:spcPts val="0"/>
                        </a:spcBef>
                        <a:spcAft>
                          <a:spcPts val="0"/>
                        </a:spcAft>
                      </a:pPr>
                      <a:r>
                        <a:rPr lang="en-US" altLang="ko-KR" sz="950" kern="1200" dirty="0">
                          <a:solidFill>
                            <a:schemeClr val="tx1"/>
                          </a:solidFill>
                          <a:latin typeface="+mn-lt"/>
                          <a:ea typeface="+mn-ea"/>
                          <a:cs typeface="+mn-cs"/>
                        </a:rPr>
                        <a:t>2.</a:t>
                      </a:r>
                      <a:r>
                        <a:rPr lang="ko-KR" altLang="en-US" sz="950" kern="1200" dirty="0">
                          <a:solidFill>
                            <a:schemeClr val="tx1"/>
                          </a:solidFill>
                          <a:latin typeface="+mn-lt"/>
                          <a:ea typeface="+mn-ea"/>
                          <a:cs typeface="+mn-cs"/>
                        </a:rPr>
                        <a:t>보정에 의한 </a:t>
                      </a:r>
                      <a:r>
                        <a:rPr lang="ko-KR" altLang="en-US" sz="950" kern="1200" dirty="0" err="1">
                          <a:solidFill>
                            <a:schemeClr val="tx1"/>
                          </a:solidFill>
                          <a:latin typeface="+mn-lt"/>
                          <a:ea typeface="+mn-ea"/>
                          <a:cs typeface="+mn-cs"/>
                        </a:rPr>
                        <a:t>청구항</a:t>
                      </a:r>
                      <a:r>
                        <a:rPr lang="ko-KR" altLang="en-US" sz="950" kern="1200" dirty="0">
                          <a:solidFill>
                            <a:schemeClr val="tx1"/>
                          </a:solidFill>
                          <a:latin typeface="+mn-lt"/>
                          <a:ea typeface="+mn-ea"/>
                          <a:cs typeface="+mn-cs"/>
                        </a:rPr>
                        <a:t> 변경의 경우</a:t>
                      </a:r>
                    </a:p>
                  </a:txBody>
                  <a:tcPr marL="47773" marR="47773" marT="23887" marB="2388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11"/>
                  </a:ext>
                </a:extLst>
              </a:tr>
            </a:tbl>
          </a:graphicData>
        </a:graphic>
      </p:graphicFrame>
      <p:sp>
        <p:nvSpPr>
          <p:cNvPr id="5" name="슬라이드 번호 개체 틀 4"/>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145</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833952828"/>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81EDFC16-7E81-3287-5EB6-9DD7ACBD266F}"/>
            </a:ext>
          </a:extLst>
        </p:cNvPr>
        <p:cNvGrpSpPr/>
        <p:nvPr/>
      </p:nvGrpSpPr>
      <p:grpSpPr>
        <a:xfrm>
          <a:off x="0" y="0"/>
          <a:ext cx="0" cy="0"/>
          <a:chOff x="0" y="0"/>
          <a:chExt cx="0" cy="0"/>
        </a:xfrm>
      </p:grpSpPr>
    </p:spTree>
    <p:extLst>
      <p:ext uri="{BB962C8B-B14F-4D97-AF65-F5344CB8AC3E}">
        <p14:creationId xmlns:p14="http://schemas.microsoft.com/office/powerpoint/2010/main" val="58054939"/>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 name="직사각형 11"/>
          <p:cNvSpPr/>
          <p:nvPr/>
        </p:nvSpPr>
        <p:spPr>
          <a:xfrm>
            <a:off x="11153595" y="44623"/>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bg1"/>
                </a:solidFill>
              </a:rPr>
              <a:t>총칙</a:t>
            </a:r>
            <a:r>
              <a:rPr lang="en-US" altLang="ko-KR" sz="2000" b="1" dirty="0">
                <a:solidFill>
                  <a:schemeClr val="bg1"/>
                </a:solidFill>
              </a:rPr>
              <a:t>/</a:t>
            </a:r>
          </a:p>
          <a:p>
            <a:pPr algn="ctr"/>
            <a:r>
              <a:rPr lang="ko-KR" altLang="en-US" sz="2000" b="1" dirty="0" err="1">
                <a:solidFill>
                  <a:schemeClr val="bg1"/>
                </a:solidFill>
              </a:rPr>
              <a:t>보칙</a:t>
            </a:r>
            <a:endParaRPr lang="ko-KR" altLang="en-US" sz="2000" b="1" dirty="0">
              <a:solidFill>
                <a:schemeClr val="bg1"/>
              </a:solidFill>
            </a:endParaRPr>
          </a:p>
        </p:txBody>
      </p:sp>
      <p:sp>
        <p:nvSpPr>
          <p:cNvPr id="13" name="직사각형 12"/>
          <p:cNvSpPr/>
          <p:nvPr/>
        </p:nvSpPr>
        <p:spPr>
          <a:xfrm>
            <a:off x="11153595" y="1011588"/>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bg1"/>
                </a:solidFill>
              </a:rPr>
              <a:t>특허</a:t>
            </a:r>
            <a:endParaRPr lang="en-US" altLang="ko-KR" sz="2000" b="1" dirty="0">
              <a:solidFill>
                <a:schemeClr val="bg1"/>
              </a:solidFill>
            </a:endParaRPr>
          </a:p>
          <a:p>
            <a:pPr algn="ctr"/>
            <a:r>
              <a:rPr lang="ko-KR" altLang="en-US" sz="2000" b="1" dirty="0">
                <a:solidFill>
                  <a:schemeClr val="bg1"/>
                </a:solidFill>
              </a:rPr>
              <a:t>요건</a:t>
            </a:r>
          </a:p>
        </p:txBody>
      </p:sp>
      <p:sp>
        <p:nvSpPr>
          <p:cNvPr id="14" name="직사각형 13"/>
          <p:cNvSpPr/>
          <p:nvPr/>
        </p:nvSpPr>
        <p:spPr>
          <a:xfrm>
            <a:off x="11153595" y="1978552"/>
            <a:ext cx="1062789" cy="966965"/>
          </a:xfrm>
          <a:prstGeom prst="rect">
            <a:avLst/>
          </a:prstGeom>
          <a:solidFill>
            <a:schemeClr val="tx1">
              <a:lumMod val="65000"/>
              <a:lumOff val="3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accent4"/>
                </a:solidFill>
              </a:rPr>
              <a:t>이익</a:t>
            </a:r>
            <a:endParaRPr lang="en-US" altLang="ko-KR" sz="2000" b="1" dirty="0">
              <a:solidFill>
                <a:schemeClr val="accent4"/>
              </a:solidFill>
            </a:endParaRPr>
          </a:p>
          <a:p>
            <a:pPr algn="ctr"/>
            <a:r>
              <a:rPr lang="ko-KR" altLang="en-US" sz="2000" b="1" dirty="0">
                <a:solidFill>
                  <a:schemeClr val="accent4"/>
                </a:solidFill>
              </a:rPr>
              <a:t>제도</a:t>
            </a:r>
          </a:p>
        </p:txBody>
      </p:sp>
      <p:sp>
        <p:nvSpPr>
          <p:cNvPr id="15" name="직사각형 14"/>
          <p:cNvSpPr/>
          <p:nvPr/>
        </p:nvSpPr>
        <p:spPr>
          <a:xfrm>
            <a:off x="11153595" y="2945517"/>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심사</a:t>
            </a:r>
            <a:endParaRPr lang="en-US" altLang="ko-KR" sz="2000" b="1" dirty="0"/>
          </a:p>
          <a:p>
            <a:pPr algn="ctr"/>
            <a:r>
              <a:rPr lang="en-US" altLang="ko-KR" sz="2000" b="1" dirty="0"/>
              <a:t>(</a:t>
            </a:r>
            <a:r>
              <a:rPr lang="ko-KR" altLang="en-US" sz="2000" b="1" dirty="0"/>
              <a:t>제도</a:t>
            </a:r>
            <a:r>
              <a:rPr lang="en-US" altLang="ko-KR" sz="2000" b="1" dirty="0"/>
              <a:t>)</a:t>
            </a:r>
            <a:endParaRPr lang="ko-KR" altLang="en-US" sz="2000" b="1" dirty="0"/>
          </a:p>
        </p:txBody>
      </p:sp>
      <p:sp>
        <p:nvSpPr>
          <p:cNvPr id="16" name="직사각형 15"/>
          <p:cNvSpPr/>
          <p:nvPr/>
        </p:nvSpPr>
        <p:spPr>
          <a:xfrm>
            <a:off x="11153595" y="3912483"/>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특허권</a:t>
            </a:r>
          </a:p>
        </p:txBody>
      </p:sp>
      <p:sp>
        <p:nvSpPr>
          <p:cNvPr id="17" name="직사각형 16"/>
          <p:cNvSpPr/>
          <p:nvPr/>
        </p:nvSpPr>
        <p:spPr>
          <a:xfrm>
            <a:off x="11153595" y="4879448"/>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심판</a:t>
            </a:r>
            <a:r>
              <a:rPr lang="en-US" altLang="ko-KR" sz="2000" b="1" dirty="0"/>
              <a:t>/</a:t>
            </a:r>
          </a:p>
          <a:p>
            <a:pPr algn="ctr"/>
            <a:r>
              <a:rPr lang="ko-KR" altLang="en-US" sz="2000" b="1" dirty="0"/>
              <a:t>소송</a:t>
            </a:r>
          </a:p>
        </p:txBody>
      </p:sp>
      <p:sp>
        <p:nvSpPr>
          <p:cNvPr id="18" name="직사각형 17"/>
          <p:cNvSpPr/>
          <p:nvPr/>
        </p:nvSpPr>
        <p:spPr>
          <a:xfrm>
            <a:off x="11153595" y="5846412"/>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2000" b="1" dirty="0"/>
              <a:t>PCT</a:t>
            </a:r>
            <a:endParaRPr lang="ko-KR" altLang="en-US" sz="2000" b="1" dirty="0"/>
          </a:p>
        </p:txBody>
      </p:sp>
      <p:sp>
        <p:nvSpPr>
          <p:cNvPr id="2" name="제목 1">
            <a:extLst>
              <a:ext uri="{FF2B5EF4-FFF2-40B4-BE49-F238E27FC236}">
                <a16:creationId xmlns:a16="http://schemas.microsoft.com/office/drawing/2014/main" id="{692FE7C0-F00A-5846-D75F-F4B40E913D0C}"/>
              </a:ext>
            </a:extLst>
          </p:cNvPr>
          <p:cNvSpPr txBox="1">
            <a:spLocks/>
          </p:cNvSpPr>
          <p:nvPr/>
        </p:nvSpPr>
        <p:spPr>
          <a:xfrm>
            <a:off x="1961128" y="1991045"/>
            <a:ext cx="7162800" cy="1193800"/>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2400" kern="1200">
                <a:solidFill>
                  <a:schemeClr val="accent4"/>
                </a:solidFill>
                <a:latin typeface="Rix모던명조 B" panose="02020603020101020101" pitchFamily="18" charset="-127"/>
                <a:ea typeface="Rix모던명조 B" panose="02020603020101020101" pitchFamily="18" charset="-127"/>
                <a:cs typeface="+mj-cs"/>
              </a:defRPr>
            </a:lvl1pPr>
          </a:lstStyle>
          <a:p>
            <a:r>
              <a:rPr lang="ko-KR" altLang="en-US" sz="8000" dirty="0">
                <a:solidFill>
                  <a:schemeClr val="tx1">
                    <a:lumMod val="50000"/>
                    <a:lumOff val="50000"/>
                  </a:schemeClr>
                </a:solidFill>
                <a:latin typeface="Rix모던고딕 EB" panose="02020603020101020101" pitchFamily="18" charset="-127"/>
                <a:ea typeface="Rix모던고딕 EB" panose="02020603020101020101" pitchFamily="18" charset="-127"/>
              </a:rPr>
              <a:t>특허법 강의노트</a:t>
            </a:r>
          </a:p>
        </p:txBody>
      </p:sp>
      <p:sp>
        <p:nvSpPr>
          <p:cNvPr id="3" name="제목 1">
            <a:extLst>
              <a:ext uri="{FF2B5EF4-FFF2-40B4-BE49-F238E27FC236}">
                <a16:creationId xmlns:a16="http://schemas.microsoft.com/office/drawing/2014/main" id="{879FAF4A-C48F-44A0-BB18-9580294503A6}"/>
              </a:ext>
            </a:extLst>
          </p:cNvPr>
          <p:cNvSpPr txBox="1">
            <a:spLocks/>
          </p:cNvSpPr>
          <p:nvPr/>
        </p:nvSpPr>
        <p:spPr>
          <a:xfrm>
            <a:off x="2185246" y="3197545"/>
            <a:ext cx="6684682" cy="104455"/>
          </a:xfrm>
          <a:prstGeom prst="rect">
            <a:avLst/>
          </a:prstGeom>
          <a:solidFill>
            <a:schemeClr val="bg2">
              <a:lumMod val="90000"/>
            </a:schemeClr>
          </a:solidFill>
        </p:spPr>
        <p:txBody>
          <a:bodyPr vert="horz" lIns="540000" tIns="0" rIns="54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pPr algn="dist"/>
            <a:endParaRPr lang="ko-KR" altLang="en-US" sz="4000" dirty="0">
              <a:solidFill>
                <a:schemeClr val="accent4"/>
              </a:solidFill>
              <a:latin typeface="+mn-ea"/>
              <a:ea typeface="+mn-ea"/>
              <a:cs typeface="Tahoma" panose="020B0604030504040204" pitchFamily="34" charset="0"/>
            </a:endParaRPr>
          </a:p>
        </p:txBody>
      </p:sp>
      <p:sp>
        <p:nvSpPr>
          <p:cNvPr id="4" name="제목 1">
            <a:extLst>
              <a:ext uri="{FF2B5EF4-FFF2-40B4-BE49-F238E27FC236}">
                <a16:creationId xmlns:a16="http://schemas.microsoft.com/office/drawing/2014/main" id="{9D1FEE32-364E-B369-E56D-7BD3F2E74510}"/>
              </a:ext>
            </a:extLst>
          </p:cNvPr>
          <p:cNvSpPr txBox="1">
            <a:spLocks/>
          </p:cNvSpPr>
          <p:nvPr/>
        </p:nvSpPr>
        <p:spPr>
          <a:xfrm>
            <a:off x="4565375" y="4873198"/>
            <a:ext cx="1954306" cy="649061"/>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r>
              <a:rPr lang="en-US" altLang="ko-KR" sz="3600">
                <a:solidFill>
                  <a:schemeClr val="tx1">
                    <a:lumMod val="50000"/>
                    <a:lumOff val="50000"/>
                  </a:schemeClr>
                </a:solidFill>
                <a:latin typeface="Rix모던고딕 EB" panose="02020603020101020101" pitchFamily="18" charset="-127"/>
                <a:ea typeface="Rix모던고딕 EB" panose="02020603020101020101" pitchFamily="18" charset="-127"/>
              </a:rPr>
              <a:t>2026</a:t>
            </a:r>
            <a:endParaRPr lang="ko-KR" altLang="en-US" sz="3600" dirty="0">
              <a:solidFill>
                <a:schemeClr val="tx1">
                  <a:lumMod val="50000"/>
                  <a:lumOff val="50000"/>
                </a:schemeClr>
              </a:solidFill>
              <a:latin typeface="Rix모던고딕 EB" panose="02020603020101020101" pitchFamily="18" charset="-127"/>
              <a:ea typeface="Rix모던고딕 EB" panose="02020603020101020101" pitchFamily="18" charset="-127"/>
            </a:endParaRPr>
          </a:p>
        </p:txBody>
      </p:sp>
      <p:sp>
        <p:nvSpPr>
          <p:cNvPr id="5" name="제목 1">
            <a:extLst>
              <a:ext uri="{FF2B5EF4-FFF2-40B4-BE49-F238E27FC236}">
                <a16:creationId xmlns:a16="http://schemas.microsoft.com/office/drawing/2014/main" id="{85DCCF88-70F8-63A9-DA28-3E908CE6DECB}"/>
              </a:ext>
            </a:extLst>
          </p:cNvPr>
          <p:cNvSpPr txBox="1">
            <a:spLocks/>
          </p:cNvSpPr>
          <p:nvPr/>
        </p:nvSpPr>
        <p:spPr>
          <a:xfrm>
            <a:off x="2185246" y="3467433"/>
            <a:ext cx="6684682" cy="545768"/>
          </a:xfrm>
          <a:prstGeom prst="roundRect">
            <a:avLst>
              <a:gd name="adj" fmla="val 50000"/>
            </a:avLst>
          </a:prstGeom>
          <a:solidFill>
            <a:schemeClr val="accent4"/>
          </a:solidFill>
        </p:spPr>
        <p:txBody>
          <a:bodyPr vert="horz" lIns="0" tIns="0" rIns="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r>
              <a:rPr lang="en-US" altLang="ko-KR" sz="2800" dirty="0" err="1">
                <a:solidFill>
                  <a:schemeClr val="bg1"/>
                </a:solidFill>
                <a:latin typeface="Rix모던고딕 EB" panose="02020603020101020101" pitchFamily="18" charset="-127"/>
                <a:ea typeface="Rix모던고딕 EB" panose="02020603020101020101" pitchFamily="18" charset="-127"/>
              </a:rPr>
              <a:t>Yim</a:t>
            </a:r>
            <a:r>
              <a:rPr lang="en-US" altLang="ko-KR" sz="2800" dirty="0">
                <a:solidFill>
                  <a:schemeClr val="bg1"/>
                </a:solidFill>
                <a:latin typeface="Rix모던고딕 EB" panose="02020603020101020101" pitchFamily="18" charset="-127"/>
                <a:ea typeface="Rix모던고딕 EB" panose="02020603020101020101" pitchFamily="18" charset="-127"/>
              </a:rPr>
              <a:t>, </a:t>
            </a:r>
            <a:r>
              <a:rPr lang="en-US" altLang="ko-KR" sz="2800" dirty="0" err="1">
                <a:solidFill>
                  <a:schemeClr val="bg1"/>
                </a:solidFill>
                <a:latin typeface="Rix모던고딕 EB" panose="02020603020101020101" pitchFamily="18" charset="-127"/>
                <a:ea typeface="Rix모던고딕 EB" panose="02020603020101020101" pitchFamily="18" charset="-127"/>
              </a:rPr>
              <a:t>Byung-Woong</a:t>
            </a:r>
            <a:r>
              <a:rPr lang="en-US" altLang="ko-KR" sz="2800" dirty="0">
                <a:solidFill>
                  <a:schemeClr val="bg1"/>
                </a:solidFill>
                <a:latin typeface="Rix모던고딕 EB" panose="02020603020101020101" pitchFamily="18" charset="-127"/>
                <a:ea typeface="Rix모던고딕 EB" panose="02020603020101020101" pitchFamily="18" charset="-127"/>
              </a:rPr>
              <a:t> All Rights Reserved.</a:t>
            </a:r>
            <a:endParaRPr lang="ko-KR" altLang="en-US" sz="2800" dirty="0">
              <a:solidFill>
                <a:schemeClr val="bg1"/>
              </a:solidFill>
              <a:latin typeface="Rix모던고딕 EB" panose="02020603020101020101" pitchFamily="18" charset="-127"/>
              <a:ea typeface="Rix모던고딕 EB" panose="02020603020101020101" pitchFamily="18" charset="-127"/>
            </a:endParaRPr>
          </a:p>
        </p:txBody>
      </p:sp>
    </p:spTree>
    <p:extLst>
      <p:ext uri="{BB962C8B-B14F-4D97-AF65-F5344CB8AC3E}">
        <p14:creationId xmlns:p14="http://schemas.microsoft.com/office/powerpoint/2010/main" val="2397527227"/>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48AED0C2-28C0-7778-7B93-DB1B824E4F0B}"/>
            </a:ext>
          </a:extLst>
        </p:cNvPr>
        <p:cNvGrpSpPr/>
        <p:nvPr/>
      </p:nvGrpSpPr>
      <p:grpSpPr>
        <a:xfrm>
          <a:off x="0" y="0"/>
          <a:ext cx="0" cy="0"/>
          <a:chOff x="0" y="0"/>
          <a:chExt cx="0" cy="0"/>
        </a:xfrm>
      </p:grpSpPr>
    </p:spTree>
    <p:extLst>
      <p:ext uri="{BB962C8B-B14F-4D97-AF65-F5344CB8AC3E}">
        <p14:creationId xmlns:p14="http://schemas.microsoft.com/office/powerpoint/2010/main" val="2815708328"/>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r>
              <a:rPr lang="en-US" altLang="ko-KR"/>
              <a:t>147</a:t>
            </a:r>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6" name="직사각형 5"/>
          <p:cNvSpPr/>
          <p:nvPr/>
        </p:nvSpPr>
        <p:spPr>
          <a:xfrm>
            <a:off x="1244284" y="2152137"/>
            <a:ext cx="552862" cy="498328"/>
          </a:xfrm>
          <a:prstGeom prst="rect">
            <a:avLst/>
          </a:prstGeom>
          <a:ln w="6350"/>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t>총칙</a:t>
            </a:r>
            <a:r>
              <a:rPr lang="en-US" altLang="ko-KR" sz="1200" dirty="0"/>
              <a:t>/</a:t>
            </a:r>
          </a:p>
          <a:p>
            <a:pPr algn="ctr"/>
            <a:r>
              <a:rPr lang="ko-KR" altLang="en-US" sz="1200" dirty="0" err="1"/>
              <a:t>보칙</a:t>
            </a:r>
            <a:endParaRPr lang="ko-KR" altLang="en-US" sz="1200" dirty="0"/>
          </a:p>
        </p:txBody>
      </p:sp>
      <p:sp>
        <p:nvSpPr>
          <p:cNvPr id="7" name="직사각형 6"/>
          <p:cNvSpPr/>
          <p:nvPr/>
        </p:nvSpPr>
        <p:spPr>
          <a:xfrm>
            <a:off x="2118397" y="99429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목적</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a:t>
            </a:r>
            <a:endParaRPr lang="ko-KR" altLang="en-US" sz="1000" dirty="0">
              <a:solidFill>
                <a:schemeClr val="tx1"/>
              </a:solidFill>
            </a:endParaRPr>
          </a:p>
        </p:txBody>
      </p:sp>
      <p:sp>
        <p:nvSpPr>
          <p:cNvPr id="8" name="직사각형 7"/>
          <p:cNvSpPr/>
          <p:nvPr/>
        </p:nvSpPr>
        <p:spPr>
          <a:xfrm>
            <a:off x="2118397" y="12362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a:t>
            </a:r>
            <a:endParaRPr lang="ko-KR" altLang="en-US" sz="1000" dirty="0">
              <a:solidFill>
                <a:schemeClr val="tx1"/>
              </a:solidFill>
            </a:endParaRPr>
          </a:p>
        </p:txBody>
      </p:sp>
      <p:sp>
        <p:nvSpPr>
          <p:cNvPr id="9" name="직사각형 8"/>
          <p:cNvSpPr/>
          <p:nvPr/>
        </p:nvSpPr>
        <p:spPr>
          <a:xfrm>
            <a:off x="2118397" y="1471128"/>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행위능력</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3~5①)</a:t>
            </a:r>
            <a:endParaRPr lang="ko-KR" altLang="en-US" sz="1000" dirty="0">
              <a:solidFill>
                <a:schemeClr val="tx1"/>
              </a:solidFill>
            </a:endParaRPr>
          </a:p>
        </p:txBody>
      </p:sp>
      <p:sp>
        <p:nvSpPr>
          <p:cNvPr id="10" name="직사각형 9"/>
          <p:cNvSpPr/>
          <p:nvPr/>
        </p:nvSpPr>
        <p:spPr>
          <a:xfrm>
            <a:off x="2118397" y="1713120"/>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대리인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3②, 5②~10, 12)</a:t>
            </a:r>
            <a:endParaRPr lang="ko-KR" altLang="en-US" sz="1000" dirty="0">
              <a:solidFill>
                <a:schemeClr val="tx1"/>
              </a:solidFill>
            </a:endParaRPr>
          </a:p>
        </p:txBody>
      </p:sp>
      <p:sp>
        <p:nvSpPr>
          <p:cNvPr id="11" name="직사각형 10"/>
          <p:cNvSpPr/>
          <p:nvPr/>
        </p:nvSpPr>
        <p:spPr>
          <a:xfrm>
            <a:off x="2118397" y="1945643"/>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복수당사자 대표</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11)</a:t>
            </a:r>
            <a:endParaRPr lang="ko-KR" altLang="en-US" sz="1000" dirty="0">
              <a:solidFill>
                <a:schemeClr val="tx1"/>
              </a:solidFill>
            </a:endParaRPr>
          </a:p>
        </p:txBody>
      </p:sp>
      <p:sp>
        <p:nvSpPr>
          <p:cNvPr id="12" name="직사각형 11"/>
          <p:cNvSpPr/>
          <p:nvPr/>
        </p:nvSpPr>
        <p:spPr>
          <a:xfrm>
            <a:off x="2118397" y="218763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err="1">
                <a:solidFill>
                  <a:schemeClr val="tx1"/>
                </a:solidFill>
              </a:rPr>
              <a:t>재외자의</a:t>
            </a:r>
            <a:r>
              <a:rPr lang="ko-KR" altLang="en-US" sz="1000" dirty="0">
                <a:solidFill>
                  <a:schemeClr val="tx1"/>
                </a:solidFill>
              </a:rPr>
              <a:t> 재판관할</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13)</a:t>
            </a:r>
            <a:endParaRPr lang="ko-KR" altLang="en-US" sz="1000" dirty="0">
              <a:solidFill>
                <a:schemeClr val="tx1"/>
              </a:solidFill>
            </a:endParaRPr>
          </a:p>
        </p:txBody>
      </p:sp>
      <p:sp>
        <p:nvSpPr>
          <p:cNvPr id="13" name="직사각형 12"/>
          <p:cNvSpPr/>
          <p:nvPr/>
        </p:nvSpPr>
        <p:spPr>
          <a:xfrm>
            <a:off x="2118397" y="243841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기일과 기간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14, 15)</a:t>
            </a:r>
            <a:endParaRPr lang="ko-KR" altLang="en-US" sz="1000" dirty="0">
              <a:solidFill>
                <a:schemeClr val="tx1"/>
              </a:solidFill>
            </a:endParaRPr>
          </a:p>
        </p:txBody>
      </p:sp>
      <p:sp>
        <p:nvSpPr>
          <p:cNvPr id="14" name="직사각형 13"/>
          <p:cNvSpPr/>
          <p:nvPr/>
        </p:nvSpPr>
        <p:spPr>
          <a:xfrm>
            <a:off x="2118397" y="2670267"/>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특허에 관한 절차 일반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16, 28~28</a:t>
            </a:r>
            <a:r>
              <a:rPr lang="ko-KR" altLang="en-US" sz="1000" dirty="0">
                <a:solidFill>
                  <a:schemeClr val="tx1"/>
                </a:solidFill>
              </a:rPr>
              <a:t>의</a:t>
            </a:r>
            <a:r>
              <a:rPr lang="en-US" altLang="ko-KR" sz="1000" dirty="0">
                <a:solidFill>
                  <a:schemeClr val="tx1"/>
                </a:solidFill>
              </a:rPr>
              <a:t>5)</a:t>
            </a:r>
            <a:endParaRPr lang="ko-KR" altLang="en-US" sz="1000" dirty="0">
              <a:solidFill>
                <a:schemeClr val="tx1"/>
              </a:solidFill>
            </a:endParaRPr>
          </a:p>
        </p:txBody>
      </p:sp>
      <p:sp>
        <p:nvSpPr>
          <p:cNvPr id="15" name="직사각형 14"/>
          <p:cNvSpPr/>
          <p:nvPr/>
        </p:nvSpPr>
        <p:spPr>
          <a:xfrm>
            <a:off x="2118397" y="290844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추후보완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17, 67</a:t>
            </a:r>
            <a:r>
              <a:rPr lang="ko-KR" altLang="en-US" sz="1000" dirty="0">
                <a:solidFill>
                  <a:schemeClr val="tx1"/>
                </a:solidFill>
              </a:rPr>
              <a:t>의</a:t>
            </a:r>
            <a:r>
              <a:rPr lang="en-US" altLang="ko-KR" sz="1000">
                <a:solidFill>
                  <a:schemeClr val="tx1"/>
                </a:solidFill>
              </a:rPr>
              <a:t>3)</a:t>
            </a:r>
            <a:endParaRPr lang="ko-KR" altLang="en-US" sz="1000" dirty="0">
              <a:solidFill>
                <a:schemeClr val="tx1"/>
              </a:solidFill>
            </a:endParaRPr>
          </a:p>
        </p:txBody>
      </p:sp>
      <p:sp>
        <p:nvSpPr>
          <p:cNvPr id="16" name="직사각형 15"/>
          <p:cNvSpPr/>
          <p:nvPr/>
        </p:nvSpPr>
        <p:spPr>
          <a:xfrm>
            <a:off x="2118397" y="313988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절차의 효력의 승계 및 절차의 속행</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18, 19)</a:t>
            </a:r>
            <a:endParaRPr lang="ko-KR" altLang="en-US" sz="1000" dirty="0">
              <a:solidFill>
                <a:schemeClr val="tx1"/>
              </a:solidFill>
            </a:endParaRPr>
          </a:p>
        </p:txBody>
      </p:sp>
      <p:sp>
        <p:nvSpPr>
          <p:cNvPr id="17" name="직사각형 16"/>
          <p:cNvSpPr/>
          <p:nvPr/>
        </p:nvSpPr>
        <p:spPr>
          <a:xfrm>
            <a:off x="2118397" y="337173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절차의 정지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20~24, 78, 164)</a:t>
            </a:r>
            <a:endParaRPr lang="ko-KR" altLang="en-US" sz="1000" dirty="0">
              <a:solidFill>
                <a:schemeClr val="tx1"/>
              </a:solidFill>
            </a:endParaRPr>
          </a:p>
        </p:txBody>
      </p:sp>
      <p:cxnSp>
        <p:nvCxnSpPr>
          <p:cNvPr id="18" name="꺾인 연결선 17"/>
          <p:cNvCxnSpPr>
            <a:cxnSpLocks/>
            <a:stCxn id="6" idx="3"/>
            <a:endCxn id="7" idx="1"/>
          </p:cNvCxnSpPr>
          <p:nvPr/>
        </p:nvCxnSpPr>
        <p:spPr>
          <a:xfrm flipV="1">
            <a:off x="1797146" y="1085041"/>
            <a:ext cx="321251" cy="131626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cxnSpLocks/>
            <a:stCxn id="6" idx="3"/>
            <a:endCxn id="17" idx="1"/>
          </p:cNvCxnSpPr>
          <p:nvPr/>
        </p:nvCxnSpPr>
        <p:spPr>
          <a:xfrm>
            <a:off x="1797146" y="2401301"/>
            <a:ext cx="321251" cy="106118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cxnSpLocks/>
            <a:stCxn id="6" idx="3"/>
            <a:endCxn id="8" idx="1"/>
          </p:cNvCxnSpPr>
          <p:nvPr/>
        </p:nvCxnSpPr>
        <p:spPr>
          <a:xfrm flipV="1">
            <a:off x="1797146" y="1327033"/>
            <a:ext cx="321251" cy="107426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cxnSpLocks/>
            <a:stCxn id="6" idx="3"/>
            <a:endCxn id="9" idx="1"/>
          </p:cNvCxnSpPr>
          <p:nvPr/>
        </p:nvCxnSpPr>
        <p:spPr>
          <a:xfrm flipV="1">
            <a:off x="1797146" y="1561875"/>
            <a:ext cx="321251" cy="8394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꺾인 연결선 21"/>
          <p:cNvCxnSpPr>
            <a:cxnSpLocks/>
            <a:stCxn id="6" idx="3"/>
            <a:endCxn id="13" idx="1"/>
          </p:cNvCxnSpPr>
          <p:nvPr/>
        </p:nvCxnSpPr>
        <p:spPr>
          <a:xfrm>
            <a:off x="1797146" y="2401301"/>
            <a:ext cx="321251" cy="12786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cxnSpLocks/>
            <a:stCxn id="6" idx="3"/>
            <a:endCxn id="14" idx="1"/>
          </p:cNvCxnSpPr>
          <p:nvPr/>
        </p:nvCxnSpPr>
        <p:spPr>
          <a:xfrm>
            <a:off x="1797146" y="2401301"/>
            <a:ext cx="321251" cy="35971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cxnSpLocks/>
            <a:stCxn id="6" idx="3"/>
            <a:endCxn id="15" idx="1"/>
          </p:cNvCxnSpPr>
          <p:nvPr/>
        </p:nvCxnSpPr>
        <p:spPr>
          <a:xfrm>
            <a:off x="1797146" y="2401301"/>
            <a:ext cx="321251" cy="5978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cxnSpLocks/>
            <a:stCxn id="6" idx="3"/>
            <a:endCxn id="16" idx="1"/>
          </p:cNvCxnSpPr>
          <p:nvPr/>
        </p:nvCxnSpPr>
        <p:spPr>
          <a:xfrm>
            <a:off x="1797146" y="2401301"/>
            <a:ext cx="321251" cy="82933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cxnSpLocks/>
            <a:stCxn id="6" idx="3"/>
            <a:endCxn id="10" idx="1"/>
          </p:cNvCxnSpPr>
          <p:nvPr/>
        </p:nvCxnSpPr>
        <p:spPr>
          <a:xfrm flipV="1">
            <a:off x="1797146" y="1803867"/>
            <a:ext cx="321251" cy="59743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cxnSpLocks/>
            <a:stCxn id="6" idx="3"/>
            <a:endCxn id="11" idx="1"/>
          </p:cNvCxnSpPr>
          <p:nvPr/>
        </p:nvCxnSpPr>
        <p:spPr>
          <a:xfrm flipV="1">
            <a:off x="1797146" y="2036390"/>
            <a:ext cx="321251" cy="36491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cxnSpLocks/>
            <a:stCxn id="6" idx="3"/>
            <a:endCxn id="12" idx="1"/>
          </p:cNvCxnSpPr>
          <p:nvPr/>
        </p:nvCxnSpPr>
        <p:spPr>
          <a:xfrm flipV="1">
            <a:off x="1797146" y="2278382"/>
            <a:ext cx="321251" cy="122919"/>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 name="그룹 28"/>
          <p:cNvGrpSpPr/>
          <p:nvPr/>
        </p:nvGrpSpPr>
        <p:grpSpPr>
          <a:xfrm>
            <a:off x="6536267" y="1171792"/>
            <a:ext cx="4444979" cy="2279356"/>
            <a:chOff x="3987793" y="1037128"/>
            <a:chExt cx="3733785" cy="1752532"/>
          </a:xfrm>
        </p:grpSpPr>
        <p:sp>
          <p:nvSpPr>
            <p:cNvPr id="30" name="직사각형 29"/>
            <p:cNvSpPr/>
            <p:nvPr/>
          </p:nvSpPr>
          <p:spPr>
            <a:xfrm>
              <a:off x="3987793" y="1888138"/>
              <a:ext cx="398311" cy="385993"/>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특허</a:t>
              </a:r>
              <a:endParaRPr lang="en-US" altLang="ko-KR" sz="1200" dirty="0"/>
            </a:p>
            <a:p>
              <a:pPr algn="ctr"/>
              <a:r>
                <a:rPr lang="ko-KR" altLang="en-US" sz="1200" dirty="0"/>
                <a:t>요건</a:t>
              </a:r>
            </a:p>
          </p:txBody>
        </p:sp>
        <p:sp>
          <p:nvSpPr>
            <p:cNvPr id="31" name="직사각형 30"/>
            <p:cNvSpPr/>
            <p:nvPr/>
          </p:nvSpPr>
          <p:spPr>
            <a:xfrm>
              <a:off x="4546567" y="160536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없는 발명</a:t>
              </a:r>
            </a:p>
          </p:txBody>
        </p:sp>
        <p:sp>
          <p:nvSpPr>
            <p:cNvPr id="32" name="직사각형 31"/>
            <p:cNvSpPr/>
            <p:nvPr/>
          </p:nvSpPr>
          <p:spPr>
            <a:xfrm>
              <a:off x="4546568" y="1990474"/>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자</a:t>
              </a:r>
            </a:p>
          </p:txBody>
        </p:sp>
        <p:sp>
          <p:nvSpPr>
            <p:cNvPr id="33" name="직사각형 32"/>
            <p:cNvSpPr/>
            <p:nvPr/>
          </p:nvSpPr>
          <p:spPr>
            <a:xfrm>
              <a:off x="4546567" y="120511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발명</a:t>
              </a:r>
            </a:p>
          </p:txBody>
        </p:sp>
        <p:sp>
          <p:nvSpPr>
            <p:cNvPr id="34" name="직사각형 33"/>
            <p:cNvSpPr/>
            <p:nvPr/>
          </p:nvSpPr>
          <p:spPr>
            <a:xfrm>
              <a:off x="4546568" y="2378317"/>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출원</a:t>
              </a:r>
            </a:p>
          </p:txBody>
        </p:sp>
        <p:grpSp>
          <p:nvGrpSpPr>
            <p:cNvPr id="35" name="그룹 34"/>
            <p:cNvGrpSpPr/>
            <p:nvPr/>
          </p:nvGrpSpPr>
          <p:grpSpPr>
            <a:xfrm>
              <a:off x="5713090" y="1037128"/>
              <a:ext cx="2008488" cy="1752532"/>
              <a:chOff x="9836379" y="3177270"/>
              <a:chExt cx="2251744" cy="1752532"/>
            </a:xfrm>
            <a:solidFill>
              <a:schemeClr val="accent1">
                <a:lumMod val="20000"/>
                <a:lumOff val="80000"/>
              </a:schemeClr>
            </a:solidFill>
          </p:grpSpPr>
          <p:sp>
            <p:nvSpPr>
              <p:cNvPr id="49" name="직사각형 48"/>
              <p:cNvSpPr/>
              <p:nvPr/>
            </p:nvSpPr>
            <p:spPr>
              <a:xfrm>
                <a:off x="9836379" y="317727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협의의 특허요건</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29)</a:t>
                </a:r>
                <a:endParaRPr lang="ko-KR" altLang="en-US" sz="1000" dirty="0">
                  <a:solidFill>
                    <a:schemeClr val="tx1"/>
                  </a:solidFill>
                </a:endParaRPr>
              </a:p>
            </p:txBody>
          </p:sp>
          <p:sp>
            <p:nvSpPr>
              <p:cNvPr id="50" name="직사각형 49"/>
              <p:cNvSpPr/>
              <p:nvPr/>
            </p:nvSpPr>
            <p:spPr>
              <a:xfrm>
                <a:off x="9836379" y="338513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선출원주의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36)</a:t>
                </a:r>
                <a:endParaRPr lang="ko-KR" altLang="en-US" sz="1000" dirty="0">
                  <a:solidFill>
                    <a:schemeClr val="tx1"/>
                  </a:solidFill>
                </a:endParaRPr>
              </a:p>
            </p:txBody>
          </p:sp>
          <p:sp>
            <p:nvSpPr>
              <p:cNvPr id="51" name="직사각형 50"/>
              <p:cNvSpPr/>
              <p:nvPr/>
            </p:nvSpPr>
            <p:spPr>
              <a:xfrm>
                <a:off x="9836379" y="357434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불특허발명</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32)</a:t>
                </a:r>
                <a:endParaRPr lang="ko-KR" altLang="en-US" sz="1000" dirty="0">
                  <a:solidFill>
                    <a:schemeClr val="tx1"/>
                  </a:solidFill>
                </a:endParaRPr>
              </a:p>
            </p:txBody>
          </p:sp>
          <p:sp>
            <p:nvSpPr>
              <p:cNvPr id="52" name="직사각형 51"/>
              <p:cNvSpPr/>
              <p:nvPr/>
            </p:nvSpPr>
            <p:spPr>
              <a:xfrm>
                <a:off x="9836379" y="378220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국방상 필요한 발명</a:t>
                </a:r>
                <a:r>
                  <a:rPr lang="en-US" altLang="ko-KR" sz="1000" dirty="0">
                    <a:solidFill>
                      <a:schemeClr val="tx1"/>
                    </a:solidFill>
                  </a:rPr>
                  <a:t>(</a:t>
                </a:r>
                <a:r>
                  <a:rPr lang="ko-KR" altLang="en-US" sz="1000" dirty="0">
                    <a:solidFill>
                      <a:schemeClr val="tx1"/>
                    </a:solidFill>
                  </a:rPr>
                  <a:t>法</a:t>
                </a:r>
                <a:r>
                  <a:rPr lang="en-US" altLang="ko-KR" sz="1000" dirty="0">
                    <a:solidFill>
                      <a:schemeClr val="tx1"/>
                    </a:solidFill>
                  </a:rPr>
                  <a:t> 41, 106)</a:t>
                </a:r>
                <a:endParaRPr lang="ko-KR" altLang="en-US" sz="1000" dirty="0">
                  <a:solidFill>
                    <a:schemeClr val="tx1"/>
                  </a:solidFill>
                </a:endParaRPr>
              </a:p>
            </p:txBody>
          </p:sp>
          <p:sp>
            <p:nvSpPr>
              <p:cNvPr id="53" name="직사각형 52"/>
              <p:cNvSpPr/>
              <p:nvPr/>
            </p:nvSpPr>
            <p:spPr>
              <a:xfrm>
                <a:off x="9836379" y="3969271"/>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출원인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25, 33, 44)</a:t>
                </a:r>
                <a:endParaRPr lang="ko-KR" altLang="en-US" sz="1000" dirty="0">
                  <a:solidFill>
                    <a:schemeClr val="tx1"/>
                  </a:solidFill>
                </a:endParaRPr>
              </a:p>
            </p:txBody>
          </p:sp>
          <p:sp>
            <p:nvSpPr>
              <p:cNvPr id="54" name="직사각형 53"/>
              <p:cNvSpPr/>
              <p:nvPr/>
            </p:nvSpPr>
            <p:spPr>
              <a:xfrm>
                <a:off x="9836379" y="4160199"/>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있는 권리</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37, 38)</a:t>
                </a:r>
                <a:endParaRPr lang="ko-KR" altLang="en-US" sz="1000" dirty="0">
                  <a:solidFill>
                    <a:schemeClr val="tx1"/>
                  </a:solidFill>
                </a:endParaRPr>
              </a:p>
            </p:txBody>
          </p:sp>
          <p:sp>
            <p:nvSpPr>
              <p:cNvPr id="55" name="직사각형 54"/>
              <p:cNvSpPr/>
              <p:nvPr/>
            </p:nvSpPr>
            <p:spPr>
              <a:xfrm>
                <a:off x="9836379" y="435867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직무발명</a:t>
                </a:r>
                <a:r>
                  <a:rPr lang="en-US" altLang="ko-KR" sz="1000" dirty="0">
                    <a:solidFill>
                      <a:schemeClr val="tx1"/>
                    </a:solidFill>
                  </a:rPr>
                  <a:t>(</a:t>
                </a:r>
                <a:r>
                  <a:rPr lang="ko-KR" altLang="en-US" sz="1000" dirty="0" err="1">
                    <a:solidFill>
                      <a:schemeClr val="tx1"/>
                    </a:solidFill>
                  </a:rPr>
                  <a:t>발진법</a:t>
                </a:r>
                <a:r>
                  <a:rPr lang="ko-KR" altLang="en-US" sz="1000" dirty="0">
                    <a:solidFill>
                      <a:schemeClr val="tx1"/>
                    </a:solidFill>
                  </a:rPr>
                  <a:t> </a:t>
                </a:r>
                <a:r>
                  <a:rPr lang="en-US" altLang="ko-KR" sz="1000" dirty="0">
                    <a:solidFill>
                      <a:schemeClr val="tx1"/>
                    </a:solidFill>
                  </a:rPr>
                  <a:t>2, 10~19, 58)</a:t>
                </a:r>
                <a:endParaRPr lang="ko-KR" altLang="en-US" sz="1000" dirty="0">
                  <a:solidFill>
                    <a:schemeClr val="tx1"/>
                  </a:solidFill>
                </a:endParaRPr>
              </a:p>
            </p:txBody>
          </p:sp>
          <p:sp>
            <p:nvSpPr>
              <p:cNvPr id="56" name="직사각형 55"/>
              <p:cNvSpPr/>
              <p:nvPr/>
            </p:nvSpPr>
            <p:spPr>
              <a:xfrm>
                <a:off x="9836379" y="4558495"/>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42~42</a:t>
                </a:r>
                <a:r>
                  <a:rPr lang="ko-KR" altLang="en-US" sz="1000" dirty="0">
                    <a:solidFill>
                      <a:schemeClr val="tx1"/>
                    </a:solidFill>
                  </a:rPr>
                  <a:t>의</a:t>
                </a:r>
                <a:r>
                  <a:rPr lang="en-US" altLang="ko-KR" sz="1000" dirty="0">
                    <a:solidFill>
                      <a:schemeClr val="tx1"/>
                    </a:solidFill>
                  </a:rPr>
                  <a:t>3, 43)</a:t>
                </a:r>
                <a:endParaRPr lang="ko-KR" altLang="en-US" sz="1000" dirty="0">
                  <a:solidFill>
                    <a:schemeClr val="tx1"/>
                  </a:solidFill>
                </a:endParaRPr>
              </a:p>
            </p:txBody>
          </p:sp>
          <p:sp>
            <p:nvSpPr>
              <p:cNvPr id="57" name="직사각형 56"/>
              <p:cNvSpPr/>
              <p:nvPr/>
            </p:nvSpPr>
            <p:spPr>
              <a:xfrm>
                <a:off x="9836379" y="477390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하나의 특허출원의 범위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45)</a:t>
                </a:r>
                <a:endParaRPr lang="ko-KR" altLang="en-US" sz="1000" dirty="0">
                  <a:solidFill>
                    <a:schemeClr val="tx1"/>
                  </a:solidFill>
                </a:endParaRPr>
              </a:p>
            </p:txBody>
          </p:sp>
        </p:grpSp>
        <p:cxnSp>
          <p:nvCxnSpPr>
            <p:cNvPr id="36" name="꺾인 연결선 35"/>
            <p:cNvCxnSpPr>
              <a:stCxn id="30" idx="3"/>
              <a:endCxn id="33" idx="1"/>
            </p:cNvCxnSpPr>
            <p:nvPr/>
          </p:nvCxnSpPr>
          <p:spPr>
            <a:xfrm flipV="1">
              <a:off x="4386104" y="1374002"/>
              <a:ext cx="160463" cy="70713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30" idx="3"/>
              <a:endCxn id="34" idx="1"/>
            </p:cNvCxnSpPr>
            <p:nvPr/>
          </p:nvCxnSpPr>
          <p:spPr>
            <a:xfrm>
              <a:off x="4386104" y="2081135"/>
              <a:ext cx="160464" cy="46607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30" idx="3"/>
              <a:endCxn id="31" idx="1"/>
            </p:cNvCxnSpPr>
            <p:nvPr/>
          </p:nvCxnSpPr>
          <p:spPr>
            <a:xfrm flipV="1">
              <a:off x="4386104" y="1774252"/>
              <a:ext cx="160463" cy="30688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30" idx="3"/>
              <a:endCxn id="32" idx="1"/>
            </p:cNvCxnSpPr>
            <p:nvPr/>
          </p:nvCxnSpPr>
          <p:spPr>
            <a:xfrm>
              <a:off x="4386104" y="2081135"/>
              <a:ext cx="160464" cy="7822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33" idx="3"/>
              <a:endCxn id="49" idx="1"/>
            </p:cNvCxnSpPr>
            <p:nvPr/>
          </p:nvCxnSpPr>
          <p:spPr>
            <a:xfrm flipV="1">
              <a:off x="5496870" y="1115076"/>
              <a:ext cx="216220" cy="2589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33" idx="3"/>
              <a:endCxn id="50" idx="1"/>
            </p:cNvCxnSpPr>
            <p:nvPr/>
          </p:nvCxnSpPr>
          <p:spPr>
            <a:xfrm flipV="1">
              <a:off x="5496870" y="1322938"/>
              <a:ext cx="216220" cy="5106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31" idx="3"/>
              <a:endCxn id="51" idx="1"/>
            </p:cNvCxnSpPr>
            <p:nvPr/>
          </p:nvCxnSpPr>
          <p:spPr>
            <a:xfrm flipV="1">
              <a:off x="5496870" y="1512146"/>
              <a:ext cx="216220" cy="26210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31" idx="3"/>
              <a:endCxn id="52" idx="1"/>
            </p:cNvCxnSpPr>
            <p:nvPr/>
          </p:nvCxnSpPr>
          <p:spPr>
            <a:xfrm flipV="1">
              <a:off x="5496870" y="1720008"/>
              <a:ext cx="216220" cy="5424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32" idx="3"/>
              <a:endCxn id="53" idx="1"/>
            </p:cNvCxnSpPr>
            <p:nvPr/>
          </p:nvCxnSpPr>
          <p:spPr>
            <a:xfrm flipV="1">
              <a:off x="5496870" y="1907077"/>
              <a:ext cx="216220" cy="25228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32" idx="3"/>
              <a:endCxn id="54" idx="1"/>
            </p:cNvCxnSpPr>
            <p:nvPr/>
          </p:nvCxnSpPr>
          <p:spPr>
            <a:xfrm flipV="1">
              <a:off x="5496870" y="2098005"/>
              <a:ext cx="216220" cy="613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32" idx="3"/>
              <a:endCxn id="55" idx="1"/>
            </p:cNvCxnSpPr>
            <p:nvPr/>
          </p:nvCxnSpPr>
          <p:spPr>
            <a:xfrm>
              <a:off x="5496870" y="2159362"/>
              <a:ext cx="216220" cy="13712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34" idx="3"/>
              <a:endCxn id="56" idx="1"/>
            </p:cNvCxnSpPr>
            <p:nvPr/>
          </p:nvCxnSpPr>
          <p:spPr>
            <a:xfrm flipV="1">
              <a:off x="5496870" y="2496301"/>
              <a:ext cx="216220" cy="5090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34" idx="3"/>
              <a:endCxn id="57" idx="1"/>
            </p:cNvCxnSpPr>
            <p:nvPr/>
          </p:nvCxnSpPr>
          <p:spPr>
            <a:xfrm>
              <a:off x="5496870" y="2547205"/>
              <a:ext cx="216220" cy="16450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9" name="직사각형 58"/>
          <p:cNvSpPr/>
          <p:nvPr/>
        </p:nvSpPr>
        <p:spPr>
          <a:xfrm>
            <a:off x="906097" y="4898289"/>
            <a:ext cx="472526" cy="503727"/>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이익</a:t>
            </a:r>
            <a:endParaRPr lang="en-US" altLang="ko-KR" sz="1200" dirty="0"/>
          </a:p>
          <a:p>
            <a:pPr algn="ctr"/>
            <a:r>
              <a:rPr lang="ko-KR" altLang="en-US" sz="1200" dirty="0"/>
              <a:t>제도</a:t>
            </a:r>
          </a:p>
        </p:txBody>
      </p:sp>
      <p:sp>
        <p:nvSpPr>
          <p:cNvPr id="72" name="직사각형 71"/>
          <p:cNvSpPr/>
          <p:nvPr/>
        </p:nvSpPr>
        <p:spPr>
          <a:xfrm>
            <a:off x="2487992" y="422619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공지예외적용주장출원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30)</a:t>
            </a:r>
            <a:endParaRPr lang="ko-KR" altLang="en-US" sz="1000" dirty="0">
              <a:solidFill>
                <a:schemeClr val="tx1"/>
              </a:solidFill>
            </a:endParaRPr>
          </a:p>
        </p:txBody>
      </p:sp>
      <p:sp>
        <p:nvSpPr>
          <p:cNvPr id="73" name="직사각형 72"/>
          <p:cNvSpPr/>
          <p:nvPr/>
        </p:nvSpPr>
        <p:spPr>
          <a:xfrm>
            <a:off x="2487992" y="4599179"/>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정당한 권리자의 보호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34, 35, 99</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74" name="직사각형 73"/>
          <p:cNvSpPr/>
          <p:nvPr/>
        </p:nvSpPr>
        <p:spPr>
          <a:xfrm>
            <a:off x="2487992" y="48704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보정</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46, 47, 51)</a:t>
            </a:r>
            <a:endParaRPr lang="ko-KR" altLang="en-US" sz="1000" dirty="0">
              <a:solidFill>
                <a:schemeClr val="tx1"/>
              </a:solidFill>
            </a:endParaRPr>
          </a:p>
        </p:txBody>
      </p:sp>
      <p:sp>
        <p:nvSpPr>
          <p:cNvPr id="75" name="직사각형 74"/>
          <p:cNvSpPr/>
          <p:nvPr/>
        </p:nvSpPr>
        <p:spPr>
          <a:xfrm>
            <a:off x="2487992" y="5446506"/>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분리출원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52</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76" name="직사각형 75"/>
          <p:cNvSpPr/>
          <p:nvPr/>
        </p:nvSpPr>
        <p:spPr>
          <a:xfrm>
            <a:off x="2487992" y="571777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변경출원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53)</a:t>
            </a:r>
            <a:endParaRPr lang="ko-KR" altLang="en-US" sz="1000" dirty="0">
              <a:solidFill>
                <a:schemeClr val="tx1"/>
              </a:solidFill>
            </a:endParaRPr>
          </a:p>
        </p:txBody>
      </p:sp>
      <p:sp>
        <p:nvSpPr>
          <p:cNvPr id="77" name="직사각형 76"/>
          <p:cNvSpPr/>
          <p:nvPr/>
        </p:nvSpPr>
        <p:spPr>
          <a:xfrm>
            <a:off x="2487992" y="60229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조약우선권주장출원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54)</a:t>
            </a:r>
            <a:endParaRPr lang="ko-KR" altLang="en-US" sz="1000" dirty="0">
              <a:solidFill>
                <a:schemeClr val="tx1"/>
              </a:solidFill>
            </a:endParaRPr>
          </a:p>
        </p:txBody>
      </p:sp>
      <p:sp>
        <p:nvSpPr>
          <p:cNvPr id="78" name="직사각형 77"/>
          <p:cNvSpPr/>
          <p:nvPr/>
        </p:nvSpPr>
        <p:spPr>
          <a:xfrm>
            <a:off x="2487992" y="6294208"/>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국내우선권주장출원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55, 56)</a:t>
            </a:r>
            <a:endParaRPr lang="ko-KR" altLang="en-US" sz="1000" dirty="0">
              <a:solidFill>
                <a:schemeClr val="tx1"/>
              </a:solidFill>
            </a:endParaRPr>
          </a:p>
        </p:txBody>
      </p:sp>
      <p:sp>
        <p:nvSpPr>
          <p:cNvPr id="61" name="직사각형 60"/>
          <p:cNvSpPr/>
          <p:nvPr/>
        </p:nvSpPr>
        <p:spPr>
          <a:xfrm>
            <a:off x="1519197" y="5145136"/>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출원일</a:t>
            </a:r>
            <a:endParaRPr lang="en-US" altLang="ko-KR" sz="1000" dirty="0">
              <a:solidFill>
                <a:schemeClr val="tx1"/>
              </a:solidFill>
            </a:endParaRPr>
          </a:p>
          <a:p>
            <a:pPr algn="ctr"/>
            <a:r>
              <a:rPr lang="ko-KR" altLang="en-US" sz="1000" dirty="0">
                <a:solidFill>
                  <a:schemeClr val="tx1"/>
                </a:solidFill>
              </a:rPr>
              <a:t>소급제도</a:t>
            </a:r>
          </a:p>
        </p:txBody>
      </p:sp>
      <p:sp>
        <p:nvSpPr>
          <p:cNvPr id="62" name="직사각형 61"/>
          <p:cNvSpPr/>
          <p:nvPr/>
        </p:nvSpPr>
        <p:spPr>
          <a:xfrm>
            <a:off x="1519197" y="6056851"/>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판단시점</a:t>
            </a:r>
            <a:endParaRPr lang="en-US" altLang="ko-KR" sz="1000" dirty="0">
              <a:solidFill>
                <a:schemeClr val="tx1"/>
              </a:solidFill>
            </a:endParaRPr>
          </a:p>
          <a:p>
            <a:pPr algn="ctr"/>
            <a:r>
              <a:rPr lang="ko-KR" altLang="en-US" sz="1000">
                <a:solidFill>
                  <a:schemeClr val="tx1"/>
                </a:solidFill>
              </a:rPr>
              <a:t>소급제도</a:t>
            </a:r>
            <a:endParaRPr lang="ko-KR" altLang="en-US" sz="1000" dirty="0">
              <a:solidFill>
                <a:schemeClr val="tx1"/>
              </a:solidFill>
            </a:endParaRPr>
          </a:p>
        </p:txBody>
      </p:sp>
      <p:cxnSp>
        <p:nvCxnSpPr>
          <p:cNvPr id="63" name="꺾인 연결선 62"/>
          <p:cNvCxnSpPr>
            <a:stCxn id="59" idx="3"/>
            <a:endCxn id="72" idx="1"/>
          </p:cNvCxnSpPr>
          <p:nvPr/>
        </p:nvCxnSpPr>
        <p:spPr>
          <a:xfrm flipV="1">
            <a:off x="1378623" y="4327915"/>
            <a:ext cx="1109369" cy="822238"/>
          </a:xfrm>
          <a:prstGeom prst="bentConnector3">
            <a:avLst>
              <a:gd name="adj1" fmla="val 6212"/>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꺾인 연결선 63"/>
          <p:cNvCxnSpPr>
            <a:stCxn id="59" idx="3"/>
            <a:endCxn id="62" idx="1"/>
          </p:cNvCxnSpPr>
          <p:nvPr/>
        </p:nvCxnSpPr>
        <p:spPr>
          <a:xfrm>
            <a:off x="1378623" y="5150153"/>
            <a:ext cx="140574" cy="1127101"/>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꺾인 연결선 64"/>
          <p:cNvCxnSpPr>
            <a:stCxn id="59" idx="3"/>
            <a:endCxn id="61" idx="1"/>
          </p:cNvCxnSpPr>
          <p:nvPr/>
        </p:nvCxnSpPr>
        <p:spPr>
          <a:xfrm>
            <a:off x="1378623" y="5150153"/>
            <a:ext cx="140574" cy="215386"/>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61" idx="3"/>
            <a:endCxn id="73" idx="1"/>
          </p:cNvCxnSpPr>
          <p:nvPr/>
        </p:nvCxnSpPr>
        <p:spPr>
          <a:xfrm flipV="1">
            <a:off x="2241819" y="4700903"/>
            <a:ext cx="246173" cy="66463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꺾인 연결선 66"/>
          <p:cNvCxnSpPr>
            <a:stCxn id="61" idx="3"/>
            <a:endCxn id="76" idx="1"/>
          </p:cNvCxnSpPr>
          <p:nvPr/>
        </p:nvCxnSpPr>
        <p:spPr>
          <a:xfrm>
            <a:off x="2241819" y="5365539"/>
            <a:ext cx="246173" cy="4539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꺾인 연결선 67"/>
          <p:cNvCxnSpPr>
            <a:stCxn id="61" idx="3"/>
            <a:endCxn id="74" idx="1"/>
          </p:cNvCxnSpPr>
          <p:nvPr/>
        </p:nvCxnSpPr>
        <p:spPr>
          <a:xfrm flipV="1">
            <a:off x="2241819" y="4972167"/>
            <a:ext cx="246173" cy="393371"/>
          </a:xfrm>
          <a:prstGeom prst="bentConnector3">
            <a:avLst>
              <a:gd name="adj1" fmla="val 50001"/>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꺾인 연결선 68"/>
          <p:cNvCxnSpPr>
            <a:stCxn id="61" idx="3"/>
            <a:endCxn id="75" idx="1"/>
          </p:cNvCxnSpPr>
          <p:nvPr/>
        </p:nvCxnSpPr>
        <p:spPr>
          <a:xfrm>
            <a:off x="2241819" y="5365539"/>
            <a:ext cx="246173" cy="1826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69"/>
          <p:cNvCxnSpPr>
            <a:cxnSpLocks/>
            <a:stCxn id="62" idx="3"/>
            <a:endCxn id="77" idx="1"/>
          </p:cNvCxnSpPr>
          <p:nvPr/>
        </p:nvCxnSpPr>
        <p:spPr>
          <a:xfrm flipV="1">
            <a:off x="2241819" y="6124667"/>
            <a:ext cx="246173" cy="15258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cxnSpLocks/>
            <a:stCxn id="62" idx="3"/>
            <a:endCxn id="78" idx="1"/>
          </p:cNvCxnSpPr>
          <p:nvPr/>
        </p:nvCxnSpPr>
        <p:spPr>
          <a:xfrm>
            <a:off x="2241819" y="6277254"/>
            <a:ext cx="246173" cy="11867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9" name="그룹 78"/>
          <p:cNvGrpSpPr/>
          <p:nvPr/>
        </p:nvGrpSpPr>
        <p:grpSpPr>
          <a:xfrm>
            <a:off x="7001934" y="4076201"/>
            <a:ext cx="3979312" cy="2368895"/>
            <a:chOff x="7340600" y="4076201"/>
            <a:chExt cx="3640645" cy="2368895"/>
          </a:xfrm>
        </p:grpSpPr>
        <p:sp>
          <p:nvSpPr>
            <p:cNvPr id="80" name="직사각형 79"/>
            <p:cNvSpPr/>
            <p:nvPr/>
          </p:nvSpPr>
          <p:spPr>
            <a:xfrm>
              <a:off x="7340600" y="5011587"/>
              <a:ext cx="448769" cy="399529"/>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심사</a:t>
              </a:r>
              <a:endParaRPr lang="en-US" altLang="ko-KR" sz="1200" dirty="0"/>
            </a:p>
            <a:p>
              <a:pPr algn="ctr"/>
              <a:r>
                <a:rPr lang="en-US" altLang="ko-KR" sz="1200" dirty="0"/>
                <a:t>(</a:t>
              </a:r>
              <a:r>
                <a:rPr lang="ko-KR" altLang="en-US" sz="1200" dirty="0"/>
                <a:t>제도</a:t>
              </a:r>
              <a:r>
                <a:rPr lang="en-US" altLang="ko-KR" sz="1200" dirty="0"/>
                <a:t>)</a:t>
              </a:r>
              <a:endParaRPr lang="ko-KR" altLang="en-US" sz="1200" dirty="0"/>
            </a:p>
          </p:txBody>
        </p:sp>
        <p:grpSp>
          <p:nvGrpSpPr>
            <p:cNvPr id="81" name="그룹 80"/>
            <p:cNvGrpSpPr/>
            <p:nvPr/>
          </p:nvGrpSpPr>
          <p:grpSpPr>
            <a:xfrm>
              <a:off x="7967112" y="4305504"/>
              <a:ext cx="471444" cy="1770110"/>
              <a:chOff x="2707314" y="4441447"/>
              <a:chExt cx="786730" cy="1770110"/>
            </a:xfrm>
          </p:grpSpPr>
          <p:sp>
            <p:nvSpPr>
              <p:cNvPr id="108" name="직사각형 107"/>
              <p:cNvSpPr/>
              <p:nvPr/>
            </p:nvSpPr>
            <p:spPr>
              <a:xfrm>
                <a:off x="2707314" y="4441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주체</a:t>
                </a:r>
              </a:p>
            </p:txBody>
          </p:sp>
          <p:sp>
            <p:nvSpPr>
              <p:cNvPr id="109" name="직사각형 108"/>
              <p:cNvSpPr/>
              <p:nvPr/>
            </p:nvSpPr>
            <p:spPr>
              <a:xfrm>
                <a:off x="2707314" y="4839210"/>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청구</a:t>
                </a:r>
              </a:p>
            </p:txBody>
          </p:sp>
          <p:sp>
            <p:nvSpPr>
              <p:cNvPr id="110" name="직사각형 109"/>
              <p:cNvSpPr/>
              <p:nvPr/>
            </p:nvSpPr>
            <p:spPr>
              <a:xfrm>
                <a:off x="2707314" y="5258685"/>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진행</a:t>
                </a:r>
              </a:p>
            </p:txBody>
          </p:sp>
          <p:sp>
            <p:nvSpPr>
              <p:cNvPr id="111" name="직사각형 110"/>
              <p:cNvSpPr/>
              <p:nvPr/>
            </p:nvSpPr>
            <p:spPr>
              <a:xfrm>
                <a:off x="2707314" y="5656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종료</a:t>
                </a:r>
              </a:p>
            </p:txBody>
          </p:sp>
          <p:sp>
            <p:nvSpPr>
              <p:cNvPr id="112" name="직사각형 111"/>
              <p:cNvSpPr/>
              <p:nvPr/>
            </p:nvSpPr>
            <p:spPr>
              <a:xfrm>
                <a:off x="2707314" y="6036746"/>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관련</a:t>
                </a:r>
              </a:p>
            </p:txBody>
          </p:sp>
        </p:grpSp>
        <p:cxnSp>
          <p:nvCxnSpPr>
            <p:cNvPr id="82" name="꺾인 연결선 81"/>
            <p:cNvCxnSpPr>
              <a:stCxn id="80" idx="3"/>
              <a:endCxn id="108" idx="1"/>
            </p:cNvCxnSpPr>
            <p:nvPr/>
          </p:nvCxnSpPr>
          <p:spPr>
            <a:xfrm flipV="1">
              <a:off x="7789369" y="4392910"/>
              <a:ext cx="177743" cy="81844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꺾인 연결선 82"/>
            <p:cNvCxnSpPr>
              <a:stCxn id="80" idx="3"/>
              <a:endCxn id="112" idx="1"/>
            </p:cNvCxnSpPr>
            <p:nvPr/>
          </p:nvCxnSpPr>
          <p:spPr>
            <a:xfrm>
              <a:off x="7789369" y="5211352"/>
              <a:ext cx="177743" cy="77685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꺾인 연결선 83"/>
            <p:cNvCxnSpPr>
              <a:stCxn id="80" idx="3"/>
              <a:endCxn id="109" idx="1"/>
            </p:cNvCxnSpPr>
            <p:nvPr/>
          </p:nvCxnSpPr>
          <p:spPr>
            <a:xfrm flipV="1">
              <a:off x="7789369" y="4790673"/>
              <a:ext cx="177743" cy="42067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꺾인 연결선 84"/>
            <p:cNvCxnSpPr>
              <a:stCxn id="80" idx="3"/>
              <a:endCxn id="111" idx="1"/>
            </p:cNvCxnSpPr>
            <p:nvPr/>
          </p:nvCxnSpPr>
          <p:spPr>
            <a:xfrm>
              <a:off x="7789369" y="5211352"/>
              <a:ext cx="177743" cy="3965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80" idx="3"/>
              <a:endCxn id="110" idx="1"/>
            </p:cNvCxnSpPr>
            <p:nvPr/>
          </p:nvCxnSpPr>
          <p:spPr>
            <a:xfrm flipV="1">
              <a:off x="7789369" y="5210148"/>
              <a:ext cx="177743" cy="120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 name="그룹 86"/>
            <p:cNvGrpSpPr/>
            <p:nvPr/>
          </p:nvGrpSpPr>
          <p:grpSpPr>
            <a:xfrm>
              <a:off x="8563424" y="4076201"/>
              <a:ext cx="2417821" cy="2368895"/>
              <a:chOff x="3618912" y="4212144"/>
              <a:chExt cx="3438525" cy="2368895"/>
            </a:xfrm>
          </p:grpSpPr>
          <p:sp>
            <p:nvSpPr>
              <p:cNvPr id="98" name="직사각형 97"/>
              <p:cNvSpPr/>
              <p:nvPr/>
            </p:nvSpPr>
            <p:spPr>
              <a:xfrm>
                <a:off x="3618912" y="4212144"/>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57</a:t>
                </a:r>
                <a:r>
                  <a:rPr lang="en-US" altLang="ko-KR" sz="1000">
                    <a:solidFill>
                      <a:schemeClr val="tx1"/>
                    </a:solidFill>
                  </a:rPr>
                  <a:t>, 68)</a:t>
                </a:r>
                <a:endParaRPr lang="ko-KR" altLang="en-US" sz="1000" dirty="0">
                  <a:solidFill>
                    <a:schemeClr val="tx1"/>
                  </a:solidFill>
                </a:endParaRPr>
              </a:p>
            </p:txBody>
          </p:sp>
          <p:sp>
            <p:nvSpPr>
              <p:cNvPr id="99" name="직사각형 98"/>
              <p:cNvSpPr/>
              <p:nvPr/>
            </p:nvSpPr>
            <p:spPr>
              <a:xfrm>
                <a:off x="3618912" y="4435206"/>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전문기관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58, 58</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100" name="직사각형 99"/>
              <p:cNvSpPr/>
              <p:nvPr/>
            </p:nvSpPr>
            <p:spPr>
              <a:xfrm>
                <a:off x="3618912" y="547999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출원의 무효</a:t>
                </a:r>
                <a:r>
                  <a:rPr lang="en-US" altLang="ko-KR" sz="1000" dirty="0">
                    <a:solidFill>
                      <a:schemeClr val="tx1"/>
                    </a:solidFill>
                  </a:rPr>
                  <a:t>, </a:t>
                </a:r>
                <a:r>
                  <a:rPr lang="ko-KR" altLang="en-US" sz="1000" dirty="0">
                    <a:solidFill>
                      <a:schemeClr val="tx1"/>
                    </a:solidFill>
                  </a:rPr>
                  <a:t>취하</a:t>
                </a:r>
                <a:r>
                  <a:rPr lang="en-US" altLang="ko-KR" sz="1000" dirty="0">
                    <a:solidFill>
                      <a:schemeClr val="tx1"/>
                    </a:solidFill>
                  </a:rPr>
                  <a:t>, </a:t>
                </a:r>
                <a:r>
                  <a:rPr lang="ko-KR" altLang="en-US" sz="1000" dirty="0">
                    <a:solidFill>
                      <a:schemeClr val="tx1"/>
                    </a:solidFill>
                  </a:rPr>
                  <a:t>포기</a:t>
                </a:r>
                <a:r>
                  <a:rPr lang="en-US" altLang="ko-KR" sz="1000" dirty="0">
                    <a:solidFill>
                      <a:schemeClr val="tx1"/>
                    </a:solidFill>
                  </a:rPr>
                  <a:t>(</a:t>
                </a:r>
                <a:r>
                  <a:rPr lang="ko-KR" altLang="en-US" sz="1000" dirty="0">
                    <a:solidFill>
                      <a:schemeClr val="tx1"/>
                    </a:solidFill>
                  </a:rPr>
                  <a:t>제도</a:t>
                </a:r>
                <a:r>
                  <a:rPr lang="en-US" altLang="ko-KR" sz="1000" dirty="0">
                    <a:solidFill>
                      <a:schemeClr val="tx1"/>
                    </a:solidFill>
                  </a:rPr>
                  <a:t>)</a:t>
                </a:r>
                <a:endParaRPr lang="ko-KR" altLang="en-US" sz="1000" dirty="0">
                  <a:solidFill>
                    <a:schemeClr val="tx1"/>
                  </a:solidFill>
                </a:endParaRPr>
              </a:p>
            </p:txBody>
          </p:sp>
          <p:sp>
            <p:nvSpPr>
              <p:cNvPr id="101" name="직사각형 100"/>
              <p:cNvSpPr/>
              <p:nvPr/>
            </p:nvSpPr>
            <p:spPr>
              <a:xfrm>
                <a:off x="3618912" y="5703059"/>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특허여부결정</a:t>
                </a:r>
                <a:r>
                  <a:rPr lang="en-US" altLang="ko-KR" sz="1000" dirty="0">
                    <a:solidFill>
                      <a:schemeClr val="tx1"/>
                    </a:solidFill>
                  </a:rPr>
                  <a:t>(</a:t>
                </a:r>
                <a:r>
                  <a:rPr lang="ko-KR" altLang="en-US" sz="1000" dirty="0">
                    <a:solidFill>
                      <a:schemeClr val="tx1"/>
                    </a:solidFill>
                  </a:rPr>
                  <a:t>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62, 63, 66~67</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102" name="직사각형 101"/>
              <p:cNvSpPr/>
              <p:nvPr/>
            </p:nvSpPr>
            <p:spPr>
              <a:xfrm>
                <a:off x="3618912" y="466874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심사청구제도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59, 60)</a:t>
                </a:r>
                <a:endParaRPr lang="ko-KR" altLang="en-US" sz="1000" dirty="0">
                  <a:solidFill>
                    <a:schemeClr val="tx1"/>
                  </a:solidFill>
                </a:endParaRPr>
              </a:p>
            </p:txBody>
          </p:sp>
          <p:sp>
            <p:nvSpPr>
              <p:cNvPr id="103" name="직사각형 102"/>
              <p:cNvSpPr/>
              <p:nvPr/>
            </p:nvSpPr>
            <p:spPr>
              <a:xfrm>
                <a:off x="3618912" y="489180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우선심사제도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61)</a:t>
                </a:r>
                <a:endParaRPr lang="ko-KR" altLang="en-US" sz="1000" dirty="0">
                  <a:solidFill>
                    <a:schemeClr val="tx1"/>
                  </a:solidFill>
                </a:endParaRPr>
              </a:p>
            </p:txBody>
          </p:sp>
          <p:sp>
            <p:nvSpPr>
              <p:cNvPr id="104" name="직사각형 103"/>
              <p:cNvSpPr/>
              <p:nvPr/>
            </p:nvSpPr>
            <p:spPr>
              <a:xfrm>
                <a:off x="3618912" y="517897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심사의 진행</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62, 63, 63</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105" name="직사각형 104"/>
              <p:cNvSpPr/>
              <p:nvPr/>
            </p:nvSpPr>
            <p:spPr>
              <a:xfrm>
                <a:off x="3618912" y="5955831"/>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정보제공제도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63</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106" name="직사각형 105"/>
              <p:cNvSpPr/>
              <p:nvPr/>
            </p:nvSpPr>
            <p:spPr>
              <a:xfrm>
                <a:off x="3618912" y="617889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출원공개제도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64, 65)</a:t>
                </a:r>
                <a:endParaRPr lang="ko-KR" altLang="en-US" sz="1000" dirty="0">
                  <a:solidFill>
                    <a:schemeClr val="tx1"/>
                  </a:solidFill>
                </a:endParaRPr>
              </a:p>
            </p:txBody>
          </p:sp>
          <p:sp>
            <p:nvSpPr>
              <p:cNvPr id="107" name="직사각형 106"/>
              <p:cNvSpPr/>
              <p:nvPr/>
            </p:nvSpPr>
            <p:spPr>
              <a:xfrm>
                <a:off x="3618912" y="640622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타절차와의</a:t>
                </a:r>
                <a:r>
                  <a:rPr lang="ko-KR" altLang="en-US" sz="1000" dirty="0">
                    <a:solidFill>
                      <a:schemeClr val="tx1"/>
                    </a:solidFill>
                  </a:rPr>
                  <a:t> 관계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78)</a:t>
                </a:r>
                <a:endParaRPr lang="ko-KR" altLang="en-US" sz="1000" dirty="0">
                  <a:solidFill>
                    <a:schemeClr val="tx1"/>
                  </a:solidFill>
                </a:endParaRPr>
              </a:p>
            </p:txBody>
          </p:sp>
        </p:grpSp>
        <p:cxnSp>
          <p:nvCxnSpPr>
            <p:cNvPr id="88" name="꺾인 연결선 87"/>
            <p:cNvCxnSpPr>
              <a:stCxn id="108" idx="3"/>
              <a:endCxn id="98" idx="1"/>
            </p:cNvCxnSpPr>
            <p:nvPr/>
          </p:nvCxnSpPr>
          <p:spPr>
            <a:xfrm flipV="1">
              <a:off x="8438556" y="4163607"/>
              <a:ext cx="124868" cy="22930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꺾인 연결선 88"/>
            <p:cNvCxnSpPr>
              <a:stCxn id="108" idx="3"/>
              <a:endCxn id="99" idx="1"/>
            </p:cNvCxnSpPr>
            <p:nvPr/>
          </p:nvCxnSpPr>
          <p:spPr>
            <a:xfrm flipV="1">
              <a:off x="8438556" y="4386669"/>
              <a:ext cx="124868" cy="62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꺾인 연결선 89"/>
            <p:cNvCxnSpPr>
              <a:stCxn id="109" idx="3"/>
              <a:endCxn id="102" idx="1"/>
            </p:cNvCxnSpPr>
            <p:nvPr/>
          </p:nvCxnSpPr>
          <p:spPr>
            <a:xfrm flipV="1">
              <a:off x="8438556" y="4620206"/>
              <a:ext cx="124868" cy="1704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꺾인 연결선 90"/>
            <p:cNvCxnSpPr>
              <a:stCxn id="109" idx="3"/>
              <a:endCxn id="103" idx="1"/>
            </p:cNvCxnSpPr>
            <p:nvPr/>
          </p:nvCxnSpPr>
          <p:spPr>
            <a:xfrm>
              <a:off x="8438556" y="4790673"/>
              <a:ext cx="124868" cy="525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꺾인 연결선 91"/>
            <p:cNvCxnSpPr>
              <a:stCxn id="110" idx="3"/>
              <a:endCxn id="104" idx="1"/>
            </p:cNvCxnSpPr>
            <p:nvPr/>
          </p:nvCxnSpPr>
          <p:spPr>
            <a:xfrm flipV="1">
              <a:off x="8438556" y="5130438"/>
              <a:ext cx="124868" cy="797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꺾인 연결선 92"/>
            <p:cNvCxnSpPr>
              <a:stCxn id="111" idx="3"/>
              <a:endCxn id="100" idx="1"/>
            </p:cNvCxnSpPr>
            <p:nvPr/>
          </p:nvCxnSpPr>
          <p:spPr>
            <a:xfrm flipV="1">
              <a:off x="8438556" y="5431461"/>
              <a:ext cx="124868" cy="17644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꺾인 연결선 93"/>
            <p:cNvCxnSpPr>
              <a:stCxn id="111" idx="3"/>
              <a:endCxn id="101" idx="1"/>
            </p:cNvCxnSpPr>
            <p:nvPr/>
          </p:nvCxnSpPr>
          <p:spPr>
            <a:xfrm>
              <a:off x="8438556" y="5607910"/>
              <a:ext cx="124868" cy="466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꺾인 연결선 94"/>
            <p:cNvCxnSpPr>
              <a:stCxn id="112" idx="3"/>
              <a:endCxn id="105" idx="1"/>
            </p:cNvCxnSpPr>
            <p:nvPr/>
          </p:nvCxnSpPr>
          <p:spPr>
            <a:xfrm flipV="1">
              <a:off x="8438556" y="5907294"/>
              <a:ext cx="124868" cy="809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꺾인 연결선 95"/>
            <p:cNvCxnSpPr>
              <a:stCxn id="112" idx="3"/>
              <a:endCxn id="106" idx="1"/>
            </p:cNvCxnSpPr>
            <p:nvPr/>
          </p:nvCxnSpPr>
          <p:spPr>
            <a:xfrm>
              <a:off x="8438556" y="5988209"/>
              <a:ext cx="124868" cy="14214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꺾인 연결선 96"/>
            <p:cNvCxnSpPr>
              <a:stCxn id="112" idx="3"/>
              <a:endCxn id="107" idx="1"/>
            </p:cNvCxnSpPr>
            <p:nvPr/>
          </p:nvCxnSpPr>
          <p:spPr>
            <a:xfrm>
              <a:off x="8438556" y="5988209"/>
              <a:ext cx="124868" cy="36948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13" name="직사각형 112"/>
          <p:cNvSpPr/>
          <p:nvPr/>
        </p:nvSpPr>
        <p:spPr>
          <a:xfrm>
            <a:off x="5960556" y="3393490"/>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특허법</a:t>
            </a:r>
            <a:endParaRPr lang="en-US" altLang="ko-KR" dirty="0"/>
          </a:p>
          <a:p>
            <a:pPr algn="ctr"/>
            <a:r>
              <a:rPr lang="ko-KR" altLang="en-US" dirty="0"/>
              <a:t>체계도</a:t>
            </a:r>
          </a:p>
        </p:txBody>
      </p:sp>
      <p:sp>
        <p:nvSpPr>
          <p:cNvPr id="114" name="타원 113"/>
          <p:cNvSpPr/>
          <p:nvPr/>
        </p:nvSpPr>
        <p:spPr>
          <a:xfrm>
            <a:off x="880857" y="2219587"/>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115" name="타원 114"/>
          <p:cNvSpPr/>
          <p:nvPr/>
        </p:nvSpPr>
        <p:spPr>
          <a:xfrm>
            <a:off x="6163733" y="2366819"/>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116" name="타원 115"/>
          <p:cNvSpPr/>
          <p:nvPr/>
        </p:nvSpPr>
        <p:spPr>
          <a:xfrm>
            <a:off x="542670" y="5005703"/>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117" name="타원 116"/>
          <p:cNvSpPr/>
          <p:nvPr/>
        </p:nvSpPr>
        <p:spPr>
          <a:xfrm>
            <a:off x="6647019" y="5043860"/>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4</a:t>
            </a:r>
            <a:endParaRPr lang="ko-KR" altLang="en-US" dirty="0"/>
          </a:p>
        </p:txBody>
      </p:sp>
      <p:sp>
        <p:nvSpPr>
          <p:cNvPr id="118" name="자유형 117"/>
          <p:cNvSpPr/>
          <p:nvPr/>
        </p:nvSpPr>
        <p:spPr>
          <a:xfrm>
            <a:off x="1049867" y="2582332"/>
            <a:ext cx="4893733" cy="1423457"/>
          </a:xfrm>
          <a:custGeom>
            <a:avLst/>
            <a:gdLst>
              <a:gd name="connsiteX0" fmla="*/ 4893733 w 4893733"/>
              <a:gd name="connsiteY0" fmla="*/ 1295400 h 1295400"/>
              <a:gd name="connsiteX1" fmla="*/ 4893733 w 4893733"/>
              <a:gd name="connsiteY1" fmla="*/ 1295400 h 1295400"/>
              <a:gd name="connsiteX2" fmla="*/ 0 w 4893733"/>
              <a:gd name="connsiteY2" fmla="*/ 1295400 h 1295400"/>
              <a:gd name="connsiteX3" fmla="*/ 0 w 4893733"/>
              <a:gd name="connsiteY3" fmla="*/ 0 h 1295400"/>
            </a:gdLst>
            <a:ahLst/>
            <a:cxnLst>
              <a:cxn ang="0">
                <a:pos x="connsiteX0" y="connsiteY0"/>
              </a:cxn>
              <a:cxn ang="0">
                <a:pos x="connsiteX1" y="connsiteY1"/>
              </a:cxn>
              <a:cxn ang="0">
                <a:pos x="connsiteX2" y="connsiteY2"/>
              </a:cxn>
              <a:cxn ang="0">
                <a:pos x="connsiteX3" y="connsiteY3"/>
              </a:cxn>
            </a:cxnLst>
            <a:rect l="l" t="t" r="r" b="b"/>
            <a:pathLst>
              <a:path w="4893733" h="1295400">
                <a:moveTo>
                  <a:pt x="4893733" y="1295400"/>
                </a:moveTo>
                <a:lnTo>
                  <a:pt x="4893733" y="1295400"/>
                </a:lnTo>
                <a:lnTo>
                  <a:pt x="0" y="1295400"/>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19" name="자유형 118"/>
          <p:cNvSpPr/>
          <p:nvPr/>
        </p:nvSpPr>
        <p:spPr>
          <a:xfrm>
            <a:off x="718458" y="3993619"/>
            <a:ext cx="5233610" cy="997811"/>
          </a:xfrm>
          <a:custGeom>
            <a:avLst/>
            <a:gdLst>
              <a:gd name="connsiteX0" fmla="*/ 5215467 w 5215467"/>
              <a:gd name="connsiteY0" fmla="*/ 0 h 965200"/>
              <a:gd name="connsiteX1" fmla="*/ 0 w 5215467"/>
              <a:gd name="connsiteY1" fmla="*/ 0 h 965200"/>
              <a:gd name="connsiteX2" fmla="*/ 0 w 5215467"/>
              <a:gd name="connsiteY2" fmla="*/ 965200 h 965200"/>
            </a:gdLst>
            <a:ahLst/>
            <a:cxnLst>
              <a:cxn ang="0">
                <a:pos x="connsiteX0" y="connsiteY0"/>
              </a:cxn>
              <a:cxn ang="0">
                <a:pos x="connsiteX1" y="connsiteY1"/>
              </a:cxn>
              <a:cxn ang="0">
                <a:pos x="connsiteX2" y="connsiteY2"/>
              </a:cxn>
            </a:cxnLst>
            <a:rect l="l" t="t" r="r" b="b"/>
            <a:pathLst>
              <a:path w="5215467" h="965200">
                <a:moveTo>
                  <a:pt x="5215467" y="0"/>
                </a:moveTo>
                <a:lnTo>
                  <a:pt x="0" y="0"/>
                </a:lnTo>
                <a:lnTo>
                  <a:pt x="0" y="9652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0" name="자유형 119"/>
          <p:cNvSpPr/>
          <p:nvPr/>
        </p:nvSpPr>
        <p:spPr>
          <a:xfrm>
            <a:off x="6383867" y="2726267"/>
            <a:ext cx="0" cy="668866"/>
          </a:xfrm>
          <a:custGeom>
            <a:avLst/>
            <a:gdLst>
              <a:gd name="connsiteX0" fmla="*/ 0 w 0"/>
              <a:gd name="connsiteY0" fmla="*/ 668866 h 668866"/>
              <a:gd name="connsiteX1" fmla="*/ 0 w 0"/>
              <a:gd name="connsiteY1" fmla="*/ 0 h 668866"/>
            </a:gdLst>
            <a:ahLst/>
            <a:cxnLst>
              <a:cxn ang="0">
                <a:pos x="connsiteX0" y="connsiteY0"/>
              </a:cxn>
              <a:cxn ang="0">
                <a:pos x="connsiteX1" y="connsiteY1"/>
              </a:cxn>
            </a:cxnLst>
            <a:rect l="l" t="t" r="r" b="b"/>
            <a:pathLst>
              <a:path h="668866">
                <a:moveTo>
                  <a:pt x="0" y="668866"/>
                </a:move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cxnSp>
        <p:nvCxnSpPr>
          <p:cNvPr id="121" name="직선 연결선 120"/>
          <p:cNvCxnSpPr>
            <a:stCxn id="113" idx="2"/>
            <a:endCxn id="113" idx="2"/>
          </p:cNvCxnSpPr>
          <p:nvPr/>
        </p:nvCxnSpPr>
        <p:spPr>
          <a:xfrm>
            <a:off x="6417756" y="4307890"/>
            <a:ext cx="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2" name="자유형 121"/>
          <p:cNvSpPr/>
          <p:nvPr/>
        </p:nvSpPr>
        <p:spPr>
          <a:xfrm>
            <a:off x="6400800" y="4318000"/>
            <a:ext cx="262467" cy="897467"/>
          </a:xfrm>
          <a:custGeom>
            <a:avLst/>
            <a:gdLst>
              <a:gd name="connsiteX0" fmla="*/ 0 w 262467"/>
              <a:gd name="connsiteY0" fmla="*/ 0 h 897467"/>
              <a:gd name="connsiteX1" fmla="*/ 0 w 262467"/>
              <a:gd name="connsiteY1" fmla="*/ 0 h 897467"/>
              <a:gd name="connsiteX2" fmla="*/ 0 w 262467"/>
              <a:gd name="connsiteY2" fmla="*/ 897467 h 897467"/>
              <a:gd name="connsiteX3" fmla="*/ 262467 w 262467"/>
              <a:gd name="connsiteY3" fmla="*/ 897467 h 897467"/>
            </a:gdLst>
            <a:ahLst/>
            <a:cxnLst>
              <a:cxn ang="0">
                <a:pos x="connsiteX0" y="connsiteY0"/>
              </a:cxn>
              <a:cxn ang="0">
                <a:pos x="connsiteX1" y="connsiteY1"/>
              </a:cxn>
              <a:cxn ang="0">
                <a:pos x="connsiteX2" y="connsiteY2"/>
              </a:cxn>
              <a:cxn ang="0">
                <a:pos x="connsiteX3" y="connsiteY3"/>
              </a:cxn>
            </a:cxnLst>
            <a:rect l="l" t="t" r="r" b="b"/>
            <a:pathLst>
              <a:path w="262467" h="897467">
                <a:moveTo>
                  <a:pt x="0" y="0"/>
                </a:moveTo>
                <a:lnTo>
                  <a:pt x="0" y="0"/>
                </a:lnTo>
                <a:lnTo>
                  <a:pt x="0" y="897467"/>
                </a:lnTo>
                <a:lnTo>
                  <a:pt x="262467" y="897467"/>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5" name="직사각형 124">
            <a:extLst>
              <a:ext uri="{FF2B5EF4-FFF2-40B4-BE49-F238E27FC236}">
                <a16:creationId xmlns:a16="http://schemas.microsoft.com/office/drawing/2014/main" id="{9012F393-65ED-4311-A56D-1073EA0A0D99}"/>
              </a:ext>
            </a:extLst>
          </p:cNvPr>
          <p:cNvSpPr/>
          <p:nvPr/>
        </p:nvSpPr>
        <p:spPr>
          <a:xfrm>
            <a:off x="2487992" y="5160972"/>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분할출원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52)</a:t>
            </a:r>
            <a:endParaRPr lang="ko-KR" altLang="en-US" sz="1000" dirty="0">
              <a:solidFill>
                <a:schemeClr val="tx1"/>
              </a:solidFill>
            </a:endParaRPr>
          </a:p>
        </p:txBody>
      </p:sp>
      <p:cxnSp>
        <p:nvCxnSpPr>
          <p:cNvPr id="127" name="꺾인 연결선 67">
            <a:extLst>
              <a:ext uri="{FF2B5EF4-FFF2-40B4-BE49-F238E27FC236}">
                <a16:creationId xmlns:a16="http://schemas.microsoft.com/office/drawing/2014/main" id="{E6B18D36-32CC-497B-A148-E8CED33A916F}"/>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꺾인 연결선 68">
            <a:extLst>
              <a:ext uri="{FF2B5EF4-FFF2-40B4-BE49-F238E27FC236}">
                <a16:creationId xmlns:a16="http://schemas.microsoft.com/office/drawing/2014/main" id="{15731FFB-002A-4D1A-B931-E4E3AE5EC565}"/>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6" name="직사각형 135">
            <a:extLst>
              <a:ext uri="{FF2B5EF4-FFF2-40B4-BE49-F238E27FC236}">
                <a16:creationId xmlns:a16="http://schemas.microsoft.com/office/drawing/2014/main" id="{88952097-4047-B4C7-1974-88AE224120C6}"/>
              </a:ext>
            </a:extLst>
          </p:cNvPr>
          <p:cNvSpPr/>
          <p:nvPr/>
        </p:nvSpPr>
        <p:spPr>
          <a:xfrm>
            <a:off x="2118397" y="36224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err="1">
                <a:solidFill>
                  <a:schemeClr val="tx1"/>
                </a:solidFill>
              </a:rPr>
              <a:t>보칙</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215-224</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Tree>
    <p:extLst>
      <p:ext uri="{BB962C8B-B14F-4D97-AF65-F5344CB8AC3E}">
        <p14:creationId xmlns:p14="http://schemas.microsoft.com/office/powerpoint/2010/main" val="3604540753"/>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r>
              <a:rPr lang="en-US" altLang="ko-KR"/>
              <a:t>148</a:t>
            </a:r>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124" name="직사각형 123"/>
          <p:cNvSpPr/>
          <p:nvPr/>
        </p:nvSpPr>
        <p:spPr>
          <a:xfrm>
            <a:off x="680604" y="2547021"/>
            <a:ext cx="545064" cy="552230"/>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a:t>특허권</a:t>
            </a:r>
            <a:endParaRPr lang="ko-KR" altLang="en-US" sz="1200" dirty="0"/>
          </a:p>
        </p:txBody>
      </p:sp>
      <p:sp>
        <p:nvSpPr>
          <p:cNvPr id="125" name="직사각형 124"/>
          <p:cNvSpPr/>
          <p:nvPr/>
        </p:nvSpPr>
        <p:spPr>
          <a:xfrm>
            <a:off x="1383335" y="123999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발생</a:t>
            </a:r>
          </a:p>
        </p:txBody>
      </p:sp>
      <p:sp>
        <p:nvSpPr>
          <p:cNvPr id="126" name="직사각형 125"/>
          <p:cNvSpPr/>
          <p:nvPr/>
        </p:nvSpPr>
        <p:spPr>
          <a:xfrm>
            <a:off x="1383335" y="1789781"/>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효력</a:t>
            </a:r>
          </a:p>
        </p:txBody>
      </p:sp>
      <p:sp>
        <p:nvSpPr>
          <p:cNvPr id="127" name="직사각형 126"/>
          <p:cNvSpPr/>
          <p:nvPr/>
        </p:nvSpPr>
        <p:spPr>
          <a:xfrm>
            <a:off x="1383335" y="2944739"/>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변동</a:t>
            </a:r>
          </a:p>
        </p:txBody>
      </p:sp>
      <p:sp>
        <p:nvSpPr>
          <p:cNvPr id="128" name="직사각형 127"/>
          <p:cNvSpPr/>
          <p:nvPr/>
        </p:nvSpPr>
        <p:spPr>
          <a:xfrm>
            <a:off x="1383335" y="366808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소멸</a:t>
            </a:r>
          </a:p>
        </p:txBody>
      </p:sp>
      <p:sp>
        <p:nvSpPr>
          <p:cNvPr id="129" name="직사각형 128"/>
          <p:cNvSpPr/>
          <p:nvPr/>
        </p:nvSpPr>
        <p:spPr>
          <a:xfrm>
            <a:off x="1383335" y="4175764"/>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관련</a:t>
            </a:r>
          </a:p>
        </p:txBody>
      </p:sp>
      <p:cxnSp>
        <p:nvCxnSpPr>
          <p:cNvPr id="130" name="꺾인 연결선 129"/>
          <p:cNvCxnSpPr>
            <a:stCxn id="124" idx="3"/>
            <a:endCxn id="125" idx="1"/>
          </p:cNvCxnSpPr>
          <p:nvPr/>
        </p:nvCxnSpPr>
        <p:spPr>
          <a:xfrm flipV="1">
            <a:off x="1225668" y="1360804"/>
            <a:ext cx="157667" cy="146233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꺾인 연결선 130"/>
          <p:cNvCxnSpPr>
            <a:stCxn id="124" idx="3"/>
            <a:endCxn id="129" idx="1"/>
          </p:cNvCxnSpPr>
          <p:nvPr/>
        </p:nvCxnSpPr>
        <p:spPr>
          <a:xfrm>
            <a:off x="1225668" y="2823136"/>
            <a:ext cx="157667" cy="147344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124" idx="3"/>
            <a:endCxn id="126" idx="1"/>
          </p:cNvCxnSpPr>
          <p:nvPr/>
        </p:nvCxnSpPr>
        <p:spPr>
          <a:xfrm flipV="1">
            <a:off x="1225668" y="1910593"/>
            <a:ext cx="157667" cy="9125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꺾인 연결선 132"/>
          <p:cNvCxnSpPr>
            <a:stCxn id="124" idx="3"/>
            <a:endCxn id="128" idx="1"/>
          </p:cNvCxnSpPr>
          <p:nvPr/>
        </p:nvCxnSpPr>
        <p:spPr>
          <a:xfrm>
            <a:off x="1225668" y="2823136"/>
            <a:ext cx="157667" cy="96575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stCxn id="124" idx="3"/>
            <a:endCxn id="127" idx="1"/>
          </p:cNvCxnSpPr>
          <p:nvPr/>
        </p:nvCxnSpPr>
        <p:spPr>
          <a:xfrm>
            <a:off x="1225668" y="2823136"/>
            <a:ext cx="157667" cy="2424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5" name="직사각형 134"/>
          <p:cNvSpPr/>
          <p:nvPr/>
        </p:nvSpPr>
        <p:spPr>
          <a:xfrm>
            <a:off x="1927293" y="1027643"/>
            <a:ext cx="1744315" cy="12863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특허료의 납부 등</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79~86)</a:t>
            </a:r>
            <a:endParaRPr lang="ko-KR" altLang="en-US" sz="1000" dirty="0">
              <a:solidFill>
                <a:schemeClr val="tx2"/>
              </a:solidFill>
            </a:endParaRPr>
          </a:p>
        </p:txBody>
      </p:sp>
      <p:sp>
        <p:nvSpPr>
          <p:cNvPr id="136" name="직사각형 135"/>
          <p:cNvSpPr/>
          <p:nvPr/>
        </p:nvSpPr>
        <p:spPr>
          <a:xfrm>
            <a:off x="1927294" y="1199840"/>
            <a:ext cx="1744314" cy="14679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설정등록 및 등록공고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87)</a:t>
            </a:r>
            <a:endParaRPr lang="ko-KR" altLang="en-US" sz="1000" dirty="0">
              <a:solidFill>
                <a:schemeClr val="tx2"/>
              </a:solidFill>
            </a:endParaRPr>
          </a:p>
        </p:txBody>
      </p:sp>
      <p:sp>
        <p:nvSpPr>
          <p:cNvPr id="137" name="직사각형 136"/>
          <p:cNvSpPr/>
          <p:nvPr/>
        </p:nvSpPr>
        <p:spPr>
          <a:xfrm>
            <a:off x="1927295" y="3385001"/>
            <a:ext cx="991185" cy="18765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질권</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121~123)</a:t>
            </a:r>
            <a:endParaRPr lang="ko-KR" altLang="en-US" sz="1000" dirty="0">
              <a:solidFill>
                <a:schemeClr val="tx2"/>
              </a:solidFill>
            </a:endParaRPr>
          </a:p>
        </p:txBody>
      </p:sp>
      <p:sp>
        <p:nvSpPr>
          <p:cNvPr id="138" name="직사각형 137"/>
          <p:cNvSpPr/>
          <p:nvPr/>
        </p:nvSpPr>
        <p:spPr>
          <a:xfrm>
            <a:off x="1931244" y="3908454"/>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효과</a:t>
            </a:r>
          </a:p>
        </p:txBody>
      </p:sp>
      <p:sp>
        <p:nvSpPr>
          <p:cNvPr id="139" name="직사각형 138"/>
          <p:cNvSpPr/>
          <p:nvPr/>
        </p:nvSpPr>
        <p:spPr>
          <a:xfrm>
            <a:off x="1927295" y="1600786"/>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범위</a:t>
            </a:r>
          </a:p>
        </p:txBody>
      </p:sp>
      <p:sp>
        <p:nvSpPr>
          <p:cNvPr id="140" name="직사각형 139"/>
          <p:cNvSpPr/>
          <p:nvPr/>
        </p:nvSpPr>
        <p:spPr>
          <a:xfrm>
            <a:off x="1927295" y="2235641"/>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내용</a:t>
            </a:r>
          </a:p>
        </p:txBody>
      </p:sp>
      <p:sp>
        <p:nvSpPr>
          <p:cNvPr id="141" name="직사각형 140"/>
          <p:cNvSpPr/>
          <p:nvPr/>
        </p:nvSpPr>
        <p:spPr>
          <a:xfrm>
            <a:off x="1927295" y="3187241"/>
            <a:ext cx="99118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000" dirty="0" err="1">
                <a:solidFill>
                  <a:schemeClr val="tx2"/>
                </a:solidFill>
              </a:rPr>
              <a:t>실시권</a:t>
            </a:r>
            <a:endParaRPr lang="ko-KR" altLang="en-US" sz="1000" dirty="0">
              <a:solidFill>
                <a:schemeClr val="tx2"/>
              </a:solidFill>
            </a:endParaRPr>
          </a:p>
        </p:txBody>
      </p:sp>
      <p:sp>
        <p:nvSpPr>
          <p:cNvPr id="142" name="직사각형 141"/>
          <p:cNvSpPr/>
          <p:nvPr/>
        </p:nvSpPr>
        <p:spPr>
          <a:xfrm>
            <a:off x="1926619" y="4143059"/>
            <a:ext cx="1355344" cy="15351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실시보고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125)</a:t>
            </a:r>
            <a:endParaRPr lang="ko-KR" altLang="en-US" sz="1000" dirty="0">
              <a:solidFill>
                <a:schemeClr val="tx2"/>
              </a:solidFill>
            </a:endParaRPr>
          </a:p>
        </p:txBody>
      </p:sp>
      <p:sp>
        <p:nvSpPr>
          <p:cNvPr id="143" name="직사각형 142"/>
          <p:cNvSpPr/>
          <p:nvPr/>
        </p:nvSpPr>
        <p:spPr>
          <a:xfrm>
            <a:off x="1926619" y="4320845"/>
            <a:ext cx="1355344" cy="13417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집행권원</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125</a:t>
            </a:r>
            <a:r>
              <a:rPr lang="ko-KR" altLang="en-US" sz="1000" dirty="0">
                <a:solidFill>
                  <a:schemeClr val="tx2"/>
                </a:solidFill>
              </a:rPr>
              <a:t>의</a:t>
            </a:r>
            <a:r>
              <a:rPr lang="en-US" altLang="ko-KR" sz="1000" dirty="0">
                <a:solidFill>
                  <a:schemeClr val="tx2"/>
                </a:solidFill>
              </a:rPr>
              <a:t>2)</a:t>
            </a:r>
            <a:endParaRPr lang="ko-KR" altLang="en-US" sz="1000" dirty="0">
              <a:solidFill>
                <a:schemeClr val="tx2"/>
              </a:solidFill>
            </a:endParaRPr>
          </a:p>
        </p:txBody>
      </p:sp>
      <p:cxnSp>
        <p:nvCxnSpPr>
          <p:cNvPr id="144" name="꺾인 연결선 143"/>
          <p:cNvCxnSpPr>
            <a:stCxn id="125" idx="3"/>
            <a:endCxn id="135" idx="1"/>
          </p:cNvCxnSpPr>
          <p:nvPr/>
        </p:nvCxnSpPr>
        <p:spPr>
          <a:xfrm flipV="1">
            <a:off x="1774346" y="1091961"/>
            <a:ext cx="152947" cy="26884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꺾인 연결선 144"/>
          <p:cNvCxnSpPr>
            <a:stCxn id="125" idx="3"/>
            <a:endCxn id="136" idx="1"/>
          </p:cNvCxnSpPr>
          <p:nvPr/>
        </p:nvCxnSpPr>
        <p:spPr>
          <a:xfrm flipV="1">
            <a:off x="1774346" y="1273240"/>
            <a:ext cx="152948" cy="875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꺾인 연결선 145"/>
          <p:cNvCxnSpPr>
            <a:stCxn id="126" idx="3"/>
            <a:endCxn id="139" idx="1"/>
          </p:cNvCxnSpPr>
          <p:nvPr/>
        </p:nvCxnSpPr>
        <p:spPr>
          <a:xfrm flipV="1">
            <a:off x="1774346" y="1680091"/>
            <a:ext cx="152949" cy="2305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꺾인 연결선 146"/>
          <p:cNvCxnSpPr>
            <a:stCxn id="126" idx="3"/>
            <a:endCxn id="140" idx="1"/>
          </p:cNvCxnSpPr>
          <p:nvPr/>
        </p:nvCxnSpPr>
        <p:spPr>
          <a:xfrm>
            <a:off x="1774346" y="1910593"/>
            <a:ext cx="152949" cy="4043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꺾인 연결선 147"/>
          <p:cNvCxnSpPr>
            <a:stCxn id="127" idx="3"/>
            <a:endCxn id="141" idx="1"/>
          </p:cNvCxnSpPr>
          <p:nvPr/>
        </p:nvCxnSpPr>
        <p:spPr>
          <a:xfrm>
            <a:off x="1774346" y="3065551"/>
            <a:ext cx="152949" cy="2009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꺾인 연결선 148"/>
          <p:cNvCxnSpPr>
            <a:stCxn id="128" idx="3"/>
            <a:endCxn id="138" idx="1"/>
          </p:cNvCxnSpPr>
          <p:nvPr/>
        </p:nvCxnSpPr>
        <p:spPr>
          <a:xfrm>
            <a:off x="1774346" y="3788895"/>
            <a:ext cx="156898" cy="1988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꺾인 연결선 149"/>
          <p:cNvCxnSpPr>
            <a:stCxn id="129" idx="3"/>
            <a:endCxn id="142" idx="1"/>
          </p:cNvCxnSpPr>
          <p:nvPr/>
        </p:nvCxnSpPr>
        <p:spPr>
          <a:xfrm flipV="1">
            <a:off x="1774346" y="4219817"/>
            <a:ext cx="152273" cy="767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1" name="꺾인 연결선 150"/>
          <p:cNvCxnSpPr>
            <a:stCxn id="129" idx="3"/>
            <a:endCxn id="143" idx="1"/>
          </p:cNvCxnSpPr>
          <p:nvPr/>
        </p:nvCxnSpPr>
        <p:spPr>
          <a:xfrm>
            <a:off x="1774346" y="4296575"/>
            <a:ext cx="152273" cy="913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2" name="직사각형 151"/>
          <p:cNvSpPr/>
          <p:nvPr/>
        </p:nvSpPr>
        <p:spPr>
          <a:xfrm>
            <a:off x="2490834" y="1502332"/>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시간적</a:t>
            </a:r>
          </a:p>
        </p:txBody>
      </p:sp>
      <p:sp>
        <p:nvSpPr>
          <p:cNvPr id="153" name="직사각형 152"/>
          <p:cNvSpPr/>
          <p:nvPr/>
        </p:nvSpPr>
        <p:spPr>
          <a:xfrm>
            <a:off x="2490834" y="1753955"/>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내용적</a:t>
            </a:r>
          </a:p>
        </p:txBody>
      </p:sp>
      <p:sp>
        <p:nvSpPr>
          <p:cNvPr id="154" name="직사각형 153"/>
          <p:cNvSpPr/>
          <p:nvPr/>
        </p:nvSpPr>
        <p:spPr>
          <a:xfrm>
            <a:off x="2490834" y="1966576"/>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지역적</a:t>
            </a:r>
          </a:p>
        </p:txBody>
      </p:sp>
      <p:sp>
        <p:nvSpPr>
          <p:cNvPr id="155" name="직사각형 154"/>
          <p:cNvSpPr/>
          <p:nvPr/>
        </p:nvSpPr>
        <p:spPr>
          <a:xfrm>
            <a:off x="3028012" y="1406769"/>
            <a:ext cx="1665788"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존속기간</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88)</a:t>
            </a:r>
            <a:endParaRPr lang="ko-KR" altLang="en-US" sz="1000" dirty="0">
              <a:solidFill>
                <a:schemeClr val="tx2"/>
              </a:solidFill>
            </a:endParaRPr>
          </a:p>
        </p:txBody>
      </p:sp>
      <p:sp>
        <p:nvSpPr>
          <p:cNvPr id="156" name="직사각형 155"/>
          <p:cNvSpPr/>
          <p:nvPr/>
        </p:nvSpPr>
        <p:spPr>
          <a:xfrm>
            <a:off x="3028012" y="1577847"/>
            <a:ext cx="1665790" cy="149257"/>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존속기간의 연장</a:t>
            </a:r>
            <a:r>
              <a:rPr lang="en-US" altLang="ko-KR" sz="800" dirty="0">
                <a:solidFill>
                  <a:schemeClr val="tx2"/>
                </a:solidFill>
              </a:rPr>
              <a:t>(</a:t>
            </a:r>
            <a:r>
              <a:rPr lang="ko-KR" altLang="en-US" sz="800" dirty="0">
                <a:solidFill>
                  <a:schemeClr val="tx2"/>
                </a:solidFill>
              </a:rPr>
              <a:t>法 </a:t>
            </a:r>
            <a:r>
              <a:rPr lang="en-US" altLang="ko-KR" sz="800" dirty="0">
                <a:solidFill>
                  <a:schemeClr val="tx2"/>
                </a:solidFill>
              </a:rPr>
              <a:t>89~93, 95)</a:t>
            </a:r>
            <a:endParaRPr lang="ko-KR" altLang="en-US" sz="800" dirty="0">
              <a:solidFill>
                <a:schemeClr val="tx2"/>
              </a:solidFill>
            </a:endParaRPr>
          </a:p>
        </p:txBody>
      </p:sp>
      <p:sp>
        <p:nvSpPr>
          <p:cNvPr id="157" name="직사각형 156"/>
          <p:cNvSpPr/>
          <p:nvPr/>
        </p:nvSpPr>
        <p:spPr>
          <a:xfrm>
            <a:off x="3028012" y="1745004"/>
            <a:ext cx="1665788" cy="18577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청구범위</a:t>
            </a:r>
          </a:p>
        </p:txBody>
      </p:sp>
      <p:sp>
        <p:nvSpPr>
          <p:cNvPr id="158" name="직사각형 157"/>
          <p:cNvSpPr/>
          <p:nvPr/>
        </p:nvSpPr>
        <p:spPr>
          <a:xfrm>
            <a:off x="3028011" y="1966575"/>
            <a:ext cx="1665789" cy="15861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속지주의</a:t>
            </a:r>
          </a:p>
        </p:txBody>
      </p:sp>
      <p:sp>
        <p:nvSpPr>
          <p:cNvPr id="159" name="직사각형 158"/>
          <p:cNvSpPr/>
          <p:nvPr/>
        </p:nvSpPr>
        <p:spPr>
          <a:xfrm>
            <a:off x="2500115" y="2247804"/>
            <a:ext cx="41836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의의</a:t>
            </a:r>
          </a:p>
        </p:txBody>
      </p:sp>
      <p:sp>
        <p:nvSpPr>
          <p:cNvPr id="160" name="직사각형 159"/>
          <p:cNvSpPr/>
          <p:nvPr/>
        </p:nvSpPr>
        <p:spPr>
          <a:xfrm>
            <a:off x="2500114" y="2523982"/>
            <a:ext cx="2193687" cy="16340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제한</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81</a:t>
            </a:r>
            <a:r>
              <a:rPr lang="ko-KR" altLang="en-US" sz="1000" dirty="0">
                <a:solidFill>
                  <a:schemeClr val="tx2"/>
                </a:solidFill>
              </a:rPr>
              <a:t>의</a:t>
            </a:r>
            <a:r>
              <a:rPr lang="en-US" altLang="ko-KR" sz="1000" dirty="0">
                <a:solidFill>
                  <a:schemeClr val="tx2"/>
                </a:solidFill>
              </a:rPr>
              <a:t>3④, 96, 181/98)</a:t>
            </a:r>
            <a:endParaRPr lang="ko-KR" altLang="en-US" sz="1000" dirty="0">
              <a:solidFill>
                <a:schemeClr val="tx2"/>
              </a:solidFill>
            </a:endParaRPr>
          </a:p>
        </p:txBody>
      </p:sp>
      <p:sp>
        <p:nvSpPr>
          <p:cNvPr id="161" name="직사각형 160"/>
          <p:cNvSpPr/>
          <p:nvPr/>
        </p:nvSpPr>
        <p:spPr>
          <a:xfrm>
            <a:off x="2500114" y="2714241"/>
            <a:ext cx="2193687"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확장</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127)</a:t>
            </a:r>
            <a:endParaRPr lang="ko-KR" altLang="en-US" sz="1000" dirty="0">
              <a:solidFill>
                <a:schemeClr val="tx2"/>
              </a:solidFill>
            </a:endParaRPr>
          </a:p>
        </p:txBody>
      </p:sp>
      <p:sp>
        <p:nvSpPr>
          <p:cNvPr id="162" name="직사각형 161"/>
          <p:cNvSpPr/>
          <p:nvPr/>
        </p:nvSpPr>
        <p:spPr>
          <a:xfrm>
            <a:off x="1927295" y="2927413"/>
            <a:ext cx="1564240" cy="19388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이전 및 공유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99, 99</a:t>
            </a:r>
            <a:r>
              <a:rPr lang="ko-KR" altLang="en-US" sz="1000" dirty="0">
                <a:solidFill>
                  <a:schemeClr val="tx2"/>
                </a:solidFill>
              </a:rPr>
              <a:t>의</a:t>
            </a:r>
            <a:r>
              <a:rPr lang="en-US" altLang="ko-KR" sz="1000" dirty="0">
                <a:solidFill>
                  <a:schemeClr val="tx2"/>
                </a:solidFill>
              </a:rPr>
              <a:t>2)</a:t>
            </a:r>
            <a:endParaRPr lang="ko-KR" altLang="en-US" sz="1000" dirty="0">
              <a:solidFill>
                <a:schemeClr val="tx2"/>
              </a:solidFill>
            </a:endParaRPr>
          </a:p>
        </p:txBody>
      </p:sp>
      <p:sp>
        <p:nvSpPr>
          <p:cNvPr id="163" name="직사각형 162"/>
          <p:cNvSpPr/>
          <p:nvPr/>
        </p:nvSpPr>
        <p:spPr>
          <a:xfrm>
            <a:off x="3109057" y="3518950"/>
            <a:ext cx="2829345" cy="133282"/>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강제실시권</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106</a:t>
            </a:r>
            <a:r>
              <a:rPr lang="ko-KR" altLang="en-US" sz="1000" dirty="0">
                <a:solidFill>
                  <a:schemeClr val="tx2"/>
                </a:solidFill>
              </a:rPr>
              <a:t>의</a:t>
            </a:r>
            <a:r>
              <a:rPr lang="en-US" altLang="ko-KR" sz="1000" dirty="0">
                <a:solidFill>
                  <a:schemeClr val="tx2"/>
                </a:solidFill>
              </a:rPr>
              <a:t>2, 107~115, 138)</a:t>
            </a:r>
            <a:endParaRPr lang="ko-KR" altLang="en-US" sz="1000" dirty="0">
              <a:solidFill>
                <a:schemeClr val="tx2"/>
              </a:solidFill>
            </a:endParaRPr>
          </a:p>
        </p:txBody>
      </p:sp>
      <p:sp>
        <p:nvSpPr>
          <p:cNvPr id="164" name="직사각형 163"/>
          <p:cNvSpPr/>
          <p:nvPr/>
        </p:nvSpPr>
        <p:spPr>
          <a:xfrm>
            <a:off x="3109057" y="3339094"/>
            <a:ext cx="2829345" cy="13973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법정실시권</a:t>
            </a:r>
            <a:r>
              <a:rPr lang="en-US" altLang="ko-KR" sz="800" dirty="0">
                <a:solidFill>
                  <a:schemeClr val="tx2"/>
                </a:solidFill>
              </a:rPr>
              <a:t>(</a:t>
            </a:r>
            <a:r>
              <a:rPr lang="ko-KR" altLang="en-US" sz="800" dirty="0">
                <a:solidFill>
                  <a:schemeClr val="tx2"/>
                </a:solidFill>
              </a:rPr>
              <a:t>法 </a:t>
            </a:r>
            <a:r>
              <a:rPr lang="en-US" altLang="ko-KR" sz="800" dirty="0">
                <a:solidFill>
                  <a:schemeClr val="tx2"/>
                </a:solidFill>
              </a:rPr>
              <a:t>81</a:t>
            </a:r>
            <a:r>
              <a:rPr lang="ko-KR" altLang="en-US" sz="800" dirty="0">
                <a:solidFill>
                  <a:schemeClr val="tx2"/>
                </a:solidFill>
              </a:rPr>
              <a:t>의</a:t>
            </a:r>
            <a:r>
              <a:rPr lang="en-US" altLang="ko-KR" sz="800" dirty="0">
                <a:solidFill>
                  <a:schemeClr val="tx2"/>
                </a:solidFill>
              </a:rPr>
              <a:t>3, 103~105, 122, 182,183, </a:t>
            </a:r>
            <a:r>
              <a:rPr lang="ko-KR" altLang="en-US" sz="800" dirty="0" err="1">
                <a:solidFill>
                  <a:schemeClr val="tx2"/>
                </a:solidFill>
              </a:rPr>
              <a:t>발진법</a:t>
            </a:r>
            <a:r>
              <a:rPr lang="en-US" altLang="ko-KR" sz="800" dirty="0">
                <a:solidFill>
                  <a:schemeClr val="tx2"/>
                </a:solidFill>
              </a:rPr>
              <a:t>10</a:t>
            </a:r>
            <a:r>
              <a:rPr lang="ko-KR" altLang="en-US" sz="800" dirty="0">
                <a:solidFill>
                  <a:schemeClr val="tx2"/>
                </a:solidFill>
              </a:rPr>
              <a:t>①</a:t>
            </a:r>
            <a:r>
              <a:rPr lang="en-US" altLang="ko-KR" sz="800" dirty="0">
                <a:solidFill>
                  <a:schemeClr val="tx2"/>
                </a:solidFill>
              </a:rPr>
              <a:t>)</a:t>
            </a:r>
            <a:endParaRPr lang="ko-KR" altLang="en-US" sz="800" dirty="0">
              <a:solidFill>
                <a:schemeClr val="tx2"/>
              </a:solidFill>
            </a:endParaRPr>
          </a:p>
        </p:txBody>
      </p:sp>
      <p:sp>
        <p:nvSpPr>
          <p:cNvPr id="165" name="직사각형 164"/>
          <p:cNvSpPr/>
          <p:nvPr/>
        </p:nvSpPr>
        <p:spPr>
          <a:xfrm>
            <a:off x="3109057" y="3151440"/>
            <a:ext cx="2829345"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일반론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100~102, 118)</a:t>
            </a:r>
            <a:endParaRPr lang="ko-KR" altLang="en-US" sz="1000" dirty="0">
              <a:solidFill>
                <a:schemeClr val="tx2"/>
              </a:solidFill>
            </a:endParaRPr>
          </a:p>
        </p:txBody>
      </p:sp>
      <p:sp>
        <p:nvSpPr>
          <p:cNvPr id="166" name="직사각형 165"/>
          <p:cNvSpPr/>
          <p:nvPr/>
        </p:nvSpPr>
        <p:spPr>
          <a:xfrm>
            <a:off x="1931244" y="3709590"/>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원인</a:t>
            </a:r>
          </a:p>
        </p:txBody>
      </p:sp>
      <p:sp>
        <p:nvSpPr>
          <p:cNvPr id="167" name="직사각형 166"/>
          <p:cNvSpPr/>
          <p:nvPr/>
        </p:nvSpPr>
        <p:spPr>
          <a:xfrm>
            <a:off x="2426794" y="3883877"/>
            <a:ext cx="1721991" cy="20938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장래소멸</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119, 120, 124)</a:t>
            </a:r>
            <a:endParaRPr lang="ko-KR" altLang="en-US" sz="1000" dirty="0">
              <a:solidFill>
                <a:schemeClr val="tx2"/>
              </a:solidFill>
            </a:endParaRPr>
          </a:p>
        </p:txBody>
      </p:sp>
      <p:sp>
        <p:nvSpPr>
          <p:cNvPr id="168" name="직사각형 167"/>
          <p:cNvSpPr/>
          <p:nvPr/>
        </p:nvSpPr>
        <p:spPr>
          <a:xfrm>
            <a:off x="2426794" y="3698412"/>
            <a:ext cx="1721991"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소급소멸</a:t>
            </a:r>
          </a:p>
        </p:txBody>
      </p:sp>
      <p:cxnSp>
        <p:nvCxnSpPr>
          <p:cNvPr id="169" name="꺾인 연결선 168"/>
          <p:cNvCxnSpPr>
            <a:stCxn id="139" idx="3"/>
            <a:endCxn id="152" idx="1"/>
          </p:cNvCxnSpPr>
          <p:nvPr/>
        </p:nvCxnSpPr>
        <p:spPr>
          <a:xfrm flipV="1">
            <a:off x="2314769" y="1581638"/>
            <a:ext cx="176065" cy="984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꺾인 연결선 169"/>
          <p:cNvCxnSpPr>
            <a:stCxn id="139" idx="3"/>
            <a:endCxn id="153" idx="1"/>
          </p:cNvCxnSpPr>
          <p:nvPr/>
        </p:nvCxnSpPr>
        <p:spPr>
          <a:xfrm>
            <a:off x="2314769" y="1680091"/>
            <a:ext cx="176065" cy="15316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꺾인 연결선 170"/>
          <p:cNvCxnSpPr>
            <a:stCxn id="139" idx="3"/>
            <a:endCxn id="154" idx="1"/>
          </p:cNvCxnSpPr>
          <p:nvPr/>
        </p:nvCxnSpPr>
        <p:spPr>
          <a:xfrm>
            <a:off x="2314769" y="1680091"/>
            <a:ext cx="176065" cy="36579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꺾인 연결선 171"/>
          <p:cNvCxnSpPr>
            <a:stCxn id="152" idx="3"/>
            <a:endCxn id="155" idx="1"/>
          </p:cNvCxnSpPr>
          <p:nvPr/>
        </p:nvCxnSpPr>
        <p:spPr>
          <a:xfrm flipV="1">
            <a:off x="2918481" y="1486075"/>
            <a:ext cx="109531" cy="9556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꺾인 연결선 172"/>
          <p:cNvCxnSpPr>
            <a:stCxn id="152" idx="3"/>
            <a:endCxn id="156" idx="1"/>
          </p:cNvCxnSpPr>
          <p:nvPr/>
        </p:nvCxnSpPr>
        <p:spPr>
          <a:xfrm>
            <a:off x="2918481" y="1581638"/>
            <a:ext cx="109531" cy="7083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직선 연결선 173"/>
          <p:cNvCxnSpPr>
            <a:stCxn id="153" idx="3"/>
            <a:endCxn id="157" idx="1"/>
          </p:cNvCxnSpPr>
          <p:nvPr/>
        </p:nvCxnSpPr>
        <p:spPr>
          <a:xfrm>
            <a:off x="2918481" y="1833260"/>
            <a:ext cx="109531" cy="4630"/>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직선 연결선 174"/>
          <p:cNvCxnSpPr>
            <a:stCxn id="154" idx="3"/>
            <a:endCxn id="158" idx="1"/>
          </p:cNvCxnSpPr>
          <p:nvPr/>
        </p:nvCxnSpPr>
        <p:spPr>
          <a:xfrm flipV="1">
            <a:off x="2918481" y="2045880"/>
            <a:ext cx="109530" cy="1"/>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꺾인 연결선 175"/>
          <p:cNvCxnSpPr>
            <a:stCxn id="140" idx="3"/>
            <a:endCxn id="161" idx="1"/>
          </p:cNvCxnSpPr>
          <p:nvPr/>
        </p:nvCxnSpPr>
        <p:spPr>
          <a:xfrm>
            <a:off x="2314769" y="2314946"/>
            <a:ext cx="185345" cy="4786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꺾인 연결선 176"/>
          <p:cNvCxnSpPr>
            <a:stCxn id="140" idx="3"/>
            <a:endCxn id="159" idx="1"/>
          </p:cNvCxnSpPr>
          <p:nvPr/>
        </p:nvCxnSpPr>
        <p:spPr>
          <a:xfrm>
            <a:off x="2314769" y="2314946"/>
            <a:ext cx="185346" cy="1216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꺾인 연결선 177"/>
          <p:cNvCxnSpPr>
            <a:stCxn id="140" idx="3"/>
            <a:endCxn id="160" idx="1"/>
          </p:cNvCxnSpPr>
          <p:nvPr/>
        </p:nvCxnSpPr>
        <p:spPr>
          <a:xfrm>
            <a:off x="2314769" y="2314946"/>
            <a:ext cx="185345" cy="2907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9" name="꺾인 연결선 178"/>
          <p:cNvCxnSpPr>
            <a:stCxn id="127" idx="3"/>
            <a:endCxn id="162" idx="1"/>
          </p:cNvCxnSpPr>
          <p:nvPr/>
        </p:nvCxnSpPr>
        <p:spPr>
          <a:xfrm flipV="1">
            <a:off x="1774346" y="3024355"/>
            <a:ext cx="152949" cy="411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꺾인 연결선 179"/>
          <p:cNvCxnSpPr>
            <a:stCxn id="127" idx="3"/>
            <a:endCxn id="137" idx="1"/>
          </p:cNvCxnSpPr>
          <p:nvPr/>
        </p:nvCxnSpPr>
        <p:spPr>
          <a:xfrm>
            <a:off x="1774346" y="3065551"/>
            <a:ext cx="152949" cy="4132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꺾인 연결선 180"/>
          <p:cNvCxnSpPr>
            <a:stCxn id="141" idx="3"/>
            <a:endCxn id="163" idx="1"/>
          </p:cNvCxnSpPr>
          <p:nvPr/>
        </p:nvCxnSpPr>
        <p:spPr>
          <a:xfrm>
            <a:off x="2918481" y="3266547"/>
            <a:ext cx="190576" cy="31904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꺾인 연결선 181"/>
          <p:cNvCxnSpPr>
            <a:stCxn id="141" idx="3"/>
            <a:endCxn id="165" idx="1"/>
          </p:cNvCxnSpPr>
          <p:nvPr/>
        </p:nvCxnSpPr>
        <p:spPr>
          <a:xfrm flipV="1">
            <a:off x="2918481" y="3230745"/>
            <a:ext cx="190576" cy="3580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3" name="꺾인 연결선 182"/>
          <p:cNvCxnSpPr>
            <a:stCxn id="141" idx="3"/>
            <a:endCxn id="164" idx="1"/>
          </p:cNvCxnSpPr>
          <p:nvPr/>
        </p:nvCxnSpPr>
        <p:spPr>
          <a:xfrm>
            <a:off x="2918481" y="3266547"/>
            <a:ext cx="190576" cy="14241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4" name="꺾인 연결선 183"/>
          <p:cNvCxnSpPr>
            <a:stCxn id="128" idx="3"/>
            <a:endCxn id="166" idx="1"/>
          </p:cNvCxnSpPr>
          <p:nvPr/>
        </p:nvCxnSpPr>
        <p:spPr>
          <a:xfrm>
            <a:off x="1774346" y="3788895"/>
            <a:ext cx="156898" cy="127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5" name="꺾인 연결선 184"/>
          <p:cNvCxnSpPr>
            <a:stCxn id="166" idx="3"/>
            <a:endCxn id="167" idx="1"/>
          </p:cNvCxnSpPr>
          <p:nvPr/>
        </p:nvCxnSpPr>
        <p:spPr>
          <a:xfrm>
            <a:off x="2314770" y="3788895"/>
            <a:ext cx="112024" cy="1996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6" name="꺾인 연결선 185"/>
          <p:cNvCxnSpPr>
            <a:stCxn id="166" idx="3"/>
            <a:endCxn id="168" idx="1"/>
          </p:cNvCxnSpPr>
          <p:nvPr/>
        </p:nvCxnSpPr>
        <p:spPr>
          <a:xfrm flipV="1">
            <a:off x="2314770" y="3777717"/>
            <a:ext cx="112024" cy="1117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7" name="직사각형 186"/>
          <p:cNvSpPr/>
          <p:nvPr/>
        </p:nvSpPr>
        <p:spPr>
          <a:xfrm>
            <a:off x="3281962" y="2158301"/>
            <a:ext cx="1411839" cy="16756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적극적 효력</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94)</a:t>
            </a:r>
            <a:endParaRPr lang="ko-KR" altLang="en-US" sz="1000" dirty="0">
              <a:solidFill>
                <a:schemeClr val="tx2"/>
              </a:solidFill>
            </a:endParaRPr>
          </a:p>
        </p:txBody>
      </p:sp>
      <p:sp>
        <p:nvSpPr>
          <p:cNvPr id="188" name="직사각형 187"/>
          <p:cNvSpPr/>
          <p:nvPr/>
        </p:nvSpPr>
        <p:spPr>
          <a:xfrm>
            <a:off x="3281962" y="2341797"/>
            <a:ext cx="1411839" cy="15393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소극적 효력</a:t>
            </a:r>
            <a:r>
              <a:rPr lang="en-US" altLang="ko-KR" sz="1000" dirty="0">
                <a:solidFill>
                  <a:schemeClr val="tx2"/>
                </a:solidFill>
              </a:rPr>
              <a:t>(</a:t>
            </a:r>
            <a:r>
              <a:rPr lang="ko-KR" altLang="en-US" sz="1000" dirty="0">
                <a:solidFill>
                  <a:schemeClr val="tx2"/>
                </a:solidFill>
              </a:rPr>
              <a:t>침해</a:t>
            </a:r>
            <a:r>
              <a:rPr lang="en-US" altLang="ko-KR" sz="1000" dirty="0">
                <a:solidFill>
                  <a:schemeClr val="tx2"/>
                </a:solidFill>
              </a:rPr>
              <a:t>)</a:t>
            </a:r>
            <a:endParaRPr lang="ko-KR" altLang="en-US" sz="1000" dirty="0">
              <a:solidFill>
                <a:schemeClr val="tx2"/>
              </a:solidFill>
            </a:endParaRPr>
          </a:p>
        </p:txBody>
      </p:sp>
      <p:cxnSp>
        <p:nvCxnSpPr>
          <p:cNvPr id="189" name="꺾인 연결선 188"/>
          <p:cNvCxnSpPr>
            <a:stCxn id="159" idx="3"/>
            <a:endCxn id="188" idx="1"/>
          </p:cNvCxnSpPr>
          <p:nvPr/>
        </p:nvCxnSpPr>
        <p:spPr>
          <a:xfrm>
            <a:off x="2918481" y="2327109"/>
            <a:ext cx="363481" cy="9165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0" name="꺾인 연결선 189"/>
          <p:cNvCxnSpPr>
            <a:stCxn id="159" idx="3"/>
            <a:endCxn id="187" idx="1"/>
          </p:cNvCxnSpPr>
          <p:nvPr/>
        </p:nvCxnSpPr>
        <p:spPr>
          <a:xfrm flipV="1">
            <a:off x="2918481" y="2242081"/>
            <a:ext cx="363481" cy="850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1" name="직사각형 190"/>
          <p:cNvSpPr/>
          <p:nvPr/>
        </p:nvSpPr>
        <p:spPr>
          <a:xfrm>
            <a:off x="4891070" y="1400340"/>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성립요건</a:t>
            </a:r>
          </a:p>
        </p:txBody>
      </p:sp>
      <p:sp>
        <p:nvSpPr>
          <p:cNvPr id="192" name="직사각형 191"/>
          <p:cNvSpPr/>
          <p:nvPr/>
        </p:nvSpPr>
        <p:spPr>
          <a:xfrm>
            <a:off x="4891070" y="1771241"/>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종류</a:t>
            </a:r>
          </a:p>
        </p:txBody>
      </p:sp>
      <p:sp>
        <p:nvSpPr>
          <p:cNvPr id="193" name="직사각형 192"/>
          <p:cNvSpPr/>
          <p:nvPr/>
        </p:nvSpPr>
        <p:spPr>
          <a:xfrm>
            <a:off x="4891070" y="2381537"/>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조치</a:t>
            </a:r>
          </a:p>
        </p:txBody>
      </p:sp>
      <p:cxnSp>
        <p:nvCxnSpPr>
          <p:cNvPr id="194" name="꺾인 연결선 193"/>
          <p:cNvCxnSpPr>
            <a:stCxn id="188" idx="3"/>
            <a:endCxn id="191" idx="1"/>
          </p:cNvCxnSpPr>
          <p:nvPr/>
        </p:nvCxnSpPr>
        <p:spPr>
          <a:xfrm flipV="1">
            <a:off x="4693801" y="1479645"/>
            <a:ext cx="197269" cy="939118"/>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꺾인 연결선 194"/>
          <p:cNvCxnSpPr>
            <a:stCxn id="188" idx="3"/>
            <a:endCxn id="193" idx="1"/>
          </p:cNvCxnSpPr>
          <p:nvPr/>
        </p:nvCxnSpPr>
        <p:spPr>
          <a:xfrm>
            <a:off x="4693801" y="2418763"/>
            <a:ext cx="197269" cy="42079"/>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꺾인 연결선 195"/>
          <p:cNvCxnSpPr>
            <a:stCxn id="188" idx="3"/>
            <a:endCxn id="192" idx="1"/>
          </p:cNvCxnSpPr>
          <p:nvPr/>
        </p:nvCxnSpPr>
        <p:spPr>
          <a:xfrm flipV="1">
            <a:off x="4693801" y="1850546"/>
            <a:ext cx="197269" cy="568217"/>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7" name="직사각형 196"/>
          <p:cNvSpPr/>
          <p:nvPr/>
        </p:nvSpPr>
        <p:spPr>
          <a:xfrm>
            <a:off x="5586610" y="1528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직접침해</a:t>
            </a:r>
            <a:endParaRPr lang="en-US" altLang="ko-KR" sz="1000" dirty="0">
              <a:solidFill>
                <a:schemeClr val="tx2"/>
              </a:solidFill>
            </a:endParaRPr>
          </a:p>
          <a:p>
            <a:pPr algn="ctr" fontAlgn="base"/>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97, 98)</a:t>
            </a:r>
            <a:endParaRPr lang="ko-KR" altLang="en-US" sz="1000" dirty="0">
              <a:solidFill>
                <a:schemeClr val="tx2"/>
              </a:solidFill>
            </a:endParaRPr>
          </a:p>
        </p:txBody>
      </p:sp>
      <p:sp>
        <p:nvSpPr>
          <p:cNvPr id="198" name="직사각형 197"/>
          <p:cNvSpPr/>
          <p:nvPr/>
        </p:nvSpPr>
        <p:spPr>
          <a:xfrm>
            <a:off x="5586610" y="1904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간접침해</a:t>
            </a:r>
            <a:endParaRPr lang="en-US" altLang="ko-KR" sz="1000" dirty="0">
              <a:solidFill>
                <a:schemeClr val="tx2"/>
              </a:solidFill>
            </a:endParaRPr>
          </a:p>
          <a:p>
            <a:pPr algn="ctr" fontAlgn="base"/>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127)</a:t>
            </a:r>
            <a:endParaRPr lang="ko-KR" altLang="en-US" sz="1000" dirty="0">
              <a:solidFill>
                <a:schemeClr val="tx2"/>
              </a:solidFill>
            </a:endParaRPr>
          </a:p>
        </p:txBody>
      </p:sp>
      <p:cxnSp>
        <p:nvCxnSpPr>
          <p:cNvPr id="199" name="꺾인 연결선 198"/>
          <p:cNvCxnSpPr>
            <a:stCxn id="192" idx="3"/>
            <a:endCxn id="197" idx="1"/>
          </p:cNvCxnSpPr>
          <p:nvPr/>
        </p:nvCxnSpPr>
        <p:spPr>
          <a:xfrm flipV="1">
            <a:off x="5452482" y="1689718"/>
            <a:ext cx="134128" cy="1608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0" name="꺾인 연결선 199"/>
          <p:cNvCxnSpPr>
            <a:stCxn id="192" idx="3"/>
            <a:endCxn id="198" idx="1"/>
          </p:cNvCxnSpPr>
          <p:nvPr/>
        </p:nvCxnSpPr>
        <p:spPr>
          <a:xfrm>
            <a:off x="5452482" y="1850546"/>
            <a:ext cx="134128" cy="21517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1" name="모서리가 둥근 직사각형 200"/>
          <p:cNvSpPr/>
          <p:nvPr/>
        </p:nvSpPr>
        <p:spPr>
          <a:xfrm>
            <a:off x="5586610" y="2318465"/>
            <a:ext cx="833380" cy="300825"/>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algn="ctr"/>
            <a:r>
              <a:rPr lang="ko-KR" altLang="en-US" sz="1000" dirty="0">
                <a:solidFill>
                  <a:schemeClr val="tx2"/>
                </a:solidFill>
              </a:rPr>
              <a:t>민사적 조치</a:t>
            </a:r>
            <a:endParaRPr lang="en-US" altLang="ko-KR" sz="1000" dirty="0">
              <a:solidFill>
                <a:schemeClr val="tx2"/>
              </a:solidFill>
            </a:endParaRPr>
          </a:p>
          <a:p>
            <a:pPr algn="ct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126-132)</a:t>
            </a:r>
            <a:endParaRPr lang="ko-KR" altLang="en-US" sz="1000" dirty="0">
              <a:solidFill>
                <a:schemeClr val="tx2"/>
              </a:solidFill>
            </a:endParaRPr>
          </a:p>
        </p:txBody>
      </p:sp>
      <p:sp>
        <p:nvSpPr>
          <p:cNvPr id="202" name="모서리가 둥근 직사각형 201"/>
          <p:cNvSpPr/>
          <p:nvPr/>
        </p:nvSpPr>
        <p:spPr>
          <a:xfrm>
            <a:off x="5586609" y="2663316"/>
            <a:ext cx="833381" cy="341821"/>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algn="ctr"/>
            <a:r>
              <a:rPr lang="ko-KR" altLang="en-US" sz="1000" dirty="0">
                <a:solidFill>
                  <a:schemeClr val="tx2"/>
                </a:solidFill>
              </a:rPr>
              <a:t>형사적 조치</a:t>
            </a:r>
            <a:endParaRPr lang="en-US" altLang="ko-KR" sz="1000" dirty="0">
              <a:solidFill>
                <a:schemeClr val="tx2"/>
              </a:solidFill>
            </a:endParaRPr>
          </a:p>
          <a:p>
            <a:pPr algn="ct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225-232)</a:t>
            </a:r>
            <a:endParaRPr lang="ko-KR" altLang="en-US" sz="1000" dirty="0">
              <a:solidFill>
                <a:schemeClr val="tx2"/>
              </a:solidFill>
            </a:endParaRPr>
          </a:p>
        </p:txBody>
      </p:sp>
      <p:cxnSp>
        <p:nvCxnSpPr>
          <p:cNvPr id="203" name="꺾인 연결선 202"/>
          <p:cNvCxnSpPr>
            <a:stCxn id="193" idx="3"/>
            <a:endCxn id="201" idx="1"/>
          </p:cNvCxnSpPr>
          <p:nvPr/>
        </p:nvCxnSpPr>
        <p:spPr>
          <a:xfrm>
            <a:off x="5452482" y="2460843"/>
            <a:ext cx="134128" cy="803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4" name="꺾인 연결선 203"/>
          <p:cNvCxnSpPr>
            <a:stCxn id="193" idx="3"/>
            <a:endCxn id="202" idx="1"/>
          </p:cNvCxnSpPr>
          <p:nvPr/>
        </p:nvCxnSpPr>
        <p:spPr>
          <a:xfrm>
            <a:off x="5452482" y="2460843"/>
            <a:ext cx="134127" cy="37338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5" name="직사각형 204"/>
          <p:cNvSpPr/>
          <p:nvPr/>
        </p:nvSpPr>
        <p:spPr>
          <a:xfrm>
            <a:off x="7780806" y="2184608"/>
            <a:ext cx="555844" cy="610645"/>
          </a:xfrm>
          <a:prstGeom prst="rect">
            <a:avLst/>
          </a:prstGeom>
          <a:solidFill>
            <a:schemeClr val="accent6">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solidFill>
                  <a:schemeClr val="bg1"/>
                </a:solidFill>
              </a:rPr>
              <a:t>심판절차 </a:t>
            </a:r>
            <a:endParaRPr lang="en-US" altLang="ko-KR" sz="1000" dirty="0">
              <a:solidFill>
                <a:schemeClr val="bg1"/>
              </a:solidFill>
            </a:endParaRPr>
          </a:p>
          <a:p>
            <a:pPr algn="ctr"/>
            <a:r>
              <a:rPr lang="ko-KR" altLang="en-US" sz="1000" dirty="0">
                <a:solidFill>
                  <a:schemeClr val="bg1"/>
                </a:solidFill>
              </a:rPr>
              <a:t>일반</a:t>
            </a:r>
            <a:endParaRPr lang="en-US" altLang="ko-KR" sz="1000" dirty="0">
              <a:solidFill>
                <a:schemeClr val="bg1"/>
              </a:solidFill>
            </a:endParaRPr>
          </a:p>
          <a:p>
            <a:pPr algn="ctr"/>
            <a:r>
              <a:rPr lang="en-US" altLang="ko-KR" sz="1000" dirty="0">
                <a:solidFill>
                  <a:schemeClr val="bg1"/>
                </a:solidFill>
              </a:rPr>
              <a:t>(</a:t>
            </a:r>
            <a:r>
              <a:rPr lang="ko-KR" altLang="en-US" sz="1000" dirty="0">
                <a:solidFill>
                  <a:schemeClr val="bg1"/>
                </a:solidFill>
              </a:rPr>
              <a:t>총론</a:t>
            </a:r>
            <a:r>
              <a:rPr lang="en-US" altLang="ko-KR" sz="1000" dirty="0">
                <a:solidFill>
                  <a:schemeClr val="bg1"/>
                </a:solidFill>
              </a:rPr>
              <a:t>)</a:t>
            </a:r>
            <a:endParaRPr lang="ko-KR" altLang="en-US" sz="1000" dirty="0">
              <a:solidFill>
                <a:schemeClr val="bg1"/>
              </a:solidFill>
            </a:endParaRPr>
          </a:p>
        </p:txBody>
      </p:sp>
      <p:sp>
        <p:nvSpPr>
          <p:cNvPr id="206" name="직사각형 205"/>
          <p:cNvSpPr/>
          <p:nvPr/>
        </p:nvSpPr>
        <p:spPr>
          <a:xfrm>
            <a:off x="7780806" y="4163272"/>
            <a:ext cx="555844" cy="610645"/>
          </a:xfrm>
          <a:prstGeom prst="rect">
            <a:avLst/>
          </a:prstGeom>
          <a:solidFill>
            <a:schemeClr val="accent5">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solidFill>
                  <a:schemeClr val="bg1"/>
                </a:solidFill>
              </a:rPr>
              <a:t>심판의</a:t>
            </a:r>
            <a:endParaRPr lang="en-US" altLang="ko-KR" sz="1000" dirty="0">
              <a:solidFill>
                <a:schemeClr val="bg1"/>
              </a:solidFill>
            </a:endParaRPr>
          </a:p>
          <a:p>
            <a:pPr algn="ctr"/>
            <a:r>
              <a:rPr lang="ko-KR" altLang="en-US" sz="1000" dirty="0">
                <a:solidFill>
                  <a:schemeClr val="bg1"/>
                </a:solidFill>
              </a:rPr>
              <a:t>종류</a:t>
            </a:r>
            <a:endParaRPr lang="en-US" altLang="ko-KR" sz="1000" dirty="0">
              <a:solidFill>
                <a:schemeClr val="bg1"/>
              </a:solidFill>
            </a:endParaRPr>
          </a:p>
          <a:p>
            <a:pPr algn="ctr"/>
            <a:r>
              <a:rPr lang="en-US" altLang="ko-KR" sz="1000" dirty="0">
                <a:solidFill>
                  <a:schemeClr val="bg1"/>
                </a:solidFill>
              </a:rPr>
              <a:t>(</a:t>
            </a:r>
            <a:r>
              <a:rPr lang="ko-KR" altLang="en-US" sz="1000" dirty="0">
                <a:solidFill>
                  <a:schemeClr val="bg1"/>
                </a:solidFill>
              </a:rPr>
              <a:t>각론</a:t>
            </a:r>
            <a:r>
              <a:rPr lang="en-US" altLang="ko-KR" sz="1000" dirty="0">
                <a:solidFill>
                  <a:schemeClr val="bg1"/>
                </a:solidFill>
              </a:rPr>
              <a:t>)</a:t>
            </a:r>
            <a:endParaRPr lang="ko-KR" altLang="en-US" sz="1000" dirty="0">
              <a:solidFill>
                <a:schemeClr val="bg1"/>
              </a:solidFill>
            </a:endParaRPr>
          </a:p>
        </p:txBody>
      </p:sp>
      <p:sp>
        <p:nvSpPr>
          <p:cNvPr id="207" name="직사각형 206"/>
          <p:cNvSpPr/>
          <p:nvPr/>
        </p:nvSpPr>
        <p:spPr>
          <a:xfrm>
            <a:off x="8500191" y="131308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a:t>주체</a:t>
            </a:r>
            <a:endParaRPr lang="ko-KR" altLang="en-US" sz="1000" dirty="0"/>
          </a:p>
        </p:txBody>
      </p:sp>
      <p:sp>
        <p:nvSpPr>
          <p:cNvPr id="208" name="직사각형 207"/>
          <p:cNvSpPr/>
          <p:nvPr/>
        </p:nvSpPr>
        <p:spPr>
          <a:xfrm>
            <a:off x="8500191" y="180459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청구</a:t>
            </a:r>
          </a:p>
        </p:txBody>
      </p:sp>
      <p:sp>
        <p:nvSpPr>
          <p:cNvPr id="209" name="직사각형 208"/>
          <p:cNvSpPr/>
          <p:nvPr/>
        </p:nvSpPr>
        <p:spPr>
          <a:xfrm>
            <a:off x="8500191" y="2449052"/>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진행</a:t>
            </a:r>
          </a:p>
        </p:txBody>
      </p:sp>
      <p:sp>
        <p:nvSpPr>
          <p:cNvPr id="210" name="직사각형 209"/>
          <p:cNvSpPr/>
          <p:nvPr/>
        </p:nvSpPr>
        <p:spPr>
          <a:xfrm>
            <a:off x="8500191" y="2977875"/>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종료</a:t>
            </a:r>
          </a:p>
        </p:txBody>
      </p:sp>
      <p:sp>
        <p:nvSpPr>
          <p:cNvPr id="211" name="직사각형 210"/>
          <p:cNvSpPr/>
          <p:nvPr/>
        </p:nvSpPr>
        <p:spPr>
          <a:xfrm>
            <a:off x="9363869" y="8056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심판원</a:t>
            </a:r>
            <a:r>
              <a:rPr lang="en-US" altLang="ko-KR" sz="1000" dirty="0"/>
              <a:t>(</a:t>
            </a:r>
            <a:r>
              <a:rPr lang="ko-KR" altLang="en-US" sz="1000" dirty="0"/>
              <a:t>法 </a:t>
            </a:r>
            <a:r>
              <a:rPr lang="en-US" altLang="ko-KR" sz="1000" dirty="0"/>
              <a:t>132</a:t>
            </a:r>
            <a:r>
              <a:rPr lang="ko-KR" altLang="en-US" sz="1000" dirty="0"/>
              <a:t>의</a:t>
            </a:r>
            <a:r>
              <a:rPr lang="en-US" altLang="ko-KR" sz="1000" dirty="0"/>
              <a:t>16, 143~153</a:t>
            </a:r>
            <a:r>
              <a:rPr lang="ko-KR" altLang="en-US" sz="1000" dirty="0"/>
              <a:t>의</a:t>
            </a:r>
            <a:r>
              <a:rPr lang="en-US" altLang="ko-KR" sz="1000" dirty="0"/>
              <a:t>2)</a:t>
            </a:r>
            <a:endParaRPr lang="ko-KR" altLang="en-US" sz="1000" dirty="0"/>
          </a:p>
        </p:txBody>
      </p:sp>
      <p:sp>
        <p:nvSpPr>
          <p:cNvPr id="212" name="직사각형 211"/>
          <p:cNvSpPr/>
          <p:nvPr/>
        </p:nvSpPr>
        <p:spPr>
          <a:xfrm>
            <a:off x="9363869" y="9962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당사자</a:t>
            </a:r>
            <a:r>
              <a:rPr lang="en-US" altLang="ko-KR" sz="1000" dirty="0"/>
              <a:t>(</a:t>
            </a:r>
            <a:r>
              <a:rPr lang="ko-KR" altLang="en-US" sz="1000" dirty="0"/>
              <a:t>法 </a:t>
            </a:r>
            <a:r>
              <a:rPr lang="en-US" altLang="ko-KR" sz="1000" dirty="0"/>
              <a:t>139)</a:t>
            </a:r>
            <a:endParaRPr lang="ko-KR" altLang="en-US" sz="1000" dirty="0"/>
          </a:p>
        </p:txBody>
      </p:sp>
      <p:sp>
        <p:nvSpPr>
          <p:cNvPr id="213" name="직사각형 212"/>
          <p:cNvSpPr/>
          <p:nvPr/>
        </p:nvSpPr>
        <p:spPr>
          <a:xfrm>
            <a:off x="9363869" y="118351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참가인</a:t>
            </a:r>
            <a:r>
              <a:rPr lang="en-US" altLang="ko-KR" sz="1000" dirty="0"/>
              <a:t>(</a:t>
            </a:r>
            <a:r>
              <a:rPr lang="ko-KR" altLang="en-US" sz="1000" dirty="0"/>
              <a:t>法 </a:t>
            </a:r>
            <a:r>
              <a:rPr lang="en-US" altLang="ko-KR" sz="1000" dirty="0"/>
              <a:t>155, 156)</a:t>
            </a:r>
            <a:endParaRPr lang="ko-KR" altLang="en-US" sz="1000" dirty="0"/>
          </a:p>
        </p:txBody>
      </p:sp>
      <p:sp>
        <p:nvSpPr>
          <p:cNvPr id="214" name="직사각형 213"/>
          <p:cNvSpPr/>
          <p:nvPr/>
        </p:nvSpPr>
        <p:spPr>
          <a:xfrm>
            <a:off x="9363869" y="1703773"/>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청구</a:t>
            </a:r>
            <a:r>
              <a:rPr lang="en-US" altLang="ko-KR" sz="1000" dirty="0"/>
              <a:t>(</a:t>
            </a:r>
            <a:r>
              <a:rPr lang="ko-KR" altLang="en-US" sz="1000" dirty="0"/>
              <a:t>法 </a:t>
            </a:r>
            <a:r>
              <a:rPr lang="en-US" altLang="ko-KR" sz="1000" dirty="0"/>
              <a:t>140, 140</a:t>
            </a:r>
            <a:r>
              <a:rPr lang="ko-KR" altLang="en-US" sz="1000" dirty="0"/>
              <a:t>의</a:t>
            </a:r>
            <a:r>
              <a:rPr lang="en-US" altLang="ko-KR" sz="1000" dirty="0"/>
              <a:t>2)</a:t>
            </a:r>
            <a:endParaRPr lang="ko-KR" altLang="en-US" sz="1000" dirty="0"/>
          </a:p>
        </p:txBody>
      </p:sp>
      <p:sp>
        <p:nvSpPr>
          <p:cNvPr id="215" name="직사각형 214"/>
          <p:cNvSpPr/>
          <p:nvPr/>
        </p:nvSpPr>
        <p:spPr>
          <a:xfrm>
            <a:off x="9363869" y="18943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심판청구서의 보정</a:t>
            </a:r>
            <a:r>
              <a:rPr lang="en-US" altLang="ko-KR" sz="1000" dirty="0"/>
              <a:t>(</a:t>
            </a:r>
            <a:r>
              <a:rPr lang="ko-KR" altLang="en-US" sz="1000" dirty="0"/>
              <a:t>法 </a:t>
            </a:r>
            <a:r>
              <a:rPr lang="en-US" altLang="ko-KR" sz="1000" dirty="0"/>
              <a:t>140②, 140</a:t>
            </a:r>
            <a:r>
              <a:rPr lang="ko-KR" altLang="en-US" sz="1000" dirty="0"/>
              <a:t>의</a:t>
            </a:r>
            <a:r>
              <a:rPr lang="en-US" altLang="ko-KR" sz="1000" dirty="0"/>
              <a:t>2②)</a:t>
            </a:r>
          </a:p>
        </p:txBody>
      </p:sp>
      <p:sp>
        <p:nvSpPr>
          <p:cNvPr id="216" name="직사각형 215"/>
          <p:cNvSpPr/>
          <p:nvPr/>
        </p:nvSpPr>
        <p:spPr>
          <a:xfrm>
            <a:off x="9363869" y="22698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방식심리</a:t>
            </a:r>
            <a:r>
              <a:rPr lang="en-US" altLang="ko-KR" sz="1000" dirty="0"/>
              <a:t>(</a:t>
            </a:r>
            <a:r>
              <a:rPr lang="ko-KR" altLang="en-US" sz="1000" dirty="0"/>
              <a:t>法 </a:t>
            </a:r>
            <a:r>
              <a:rPr lang="en-US" altLang="ko-KR" sz="1000" dirty="0"/>
              <a:t>141)</a:t>
            </a:r>
            <a:endParaRPr lang="ko-KR" altLang="en-US" sz="1000" dirty="0"/>
          </a:p>
        </p:txBody>
      </p:sp>
      <p:sp>
        <p:nvSpPr>
          <p:cNvPr id="217" name="직사각형 216"/>
          <p:cNvSpPr/>
          <p:nvPr/>
        </p:nvSpPr>
        <p:spPr>
          <a:xfrm>
            <a:off x="9363869" y="245801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적법성 심리</a:t>
            </a:r>
            <a:r>
              <a:rPr lang="en-US" altLang="ko-KR" sz="1000" dirty="0"/>
              <a:t>(</a:t>
            </a:r>
            <a:r>
              <a:rPr lang="ko-KR" altLang="en-US" sz="1000" dirty="0"/>
              <a:t>法 </a:t>
            </a:r>
            <a:r>
              <a:rPr lang="en-US" altLang="ko-KR" sz="1000" dirty="0"/>
              <a:t>142)</a:t>
            </a:r>
            <a:endParaRPr lang="ko-KR" altLang="en-US" sz="1000" dirty="0"/>
          </a:p>
        </p:txBody>
      </p:sp>
      <p:sp>
        <p:nvSpPr>
          <p:cNvPr id="218" name="직사각형 217"/>
          <p:cNvSpPr/>
          <p:nvPr/>
        </p:nvSpPr>
        <p:spPr>
          <a:xfrm>
            <a:off x="9363869" y="264666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본안심리</a:t>
            </a:r>
            <a:r>
              <a:rPr lang="en-US" altLang="ko-KR" sz="1000" dirty="0"/>
              <a:t>(</a:t>
            </a:r>
            <a:r>
              <a:rPr lang="ko-KR" altLang="en-US" sz="1000" dirty="0"/>
              <a:t>法 </a:t>
            </a:r>
            <a:r>
              <a:rPr lang="en-US" altLang="ko-KR" sz="1000" dirty="0"/>
              <a:t>154, 157-160)</a:t>
            </a:r>
            <a:endParaRPr lang="ko-KR" altLang="en-US" sz="1000" dirty="0"/>
          </a:p>
        </p:txBody>
      </p:sp>
      <p:sp>
        <p:nvSpPr>
          <p:cNvPr id="219" name="직사각형 218"/>
          <p:cNvSpPr/>
          <p:nvPr/>
        </p:nvSpPr>
        <p:spPr>
          <a:xfrm>
            <a:off x="9363869" y="288449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심판청구의 취하</a:t>
            </a:r>
            <a:r>
              <a:rPr lang="en-US" altLang="ko-KR" sz="1000" dirty="0"/>
              <a:t>(</a:t>
            </a:r>
            <a:r>
              <a:rPr lang="ko-KR" altLang="en-US" sz="1000" dirty="0"/>
              <a:t>法 </a:t>
            </a:r>
            <a:r>
              <a:rPr lang="en-US" altLang="ko-KR" sz="1000" dirty="0"/>
              <a:t>161)</a:t>
            </a:r>
            <a:endParaRPr lang="ko-KR" altLang="en-US" sz="1000" dirty="0"/>
          </a:p>
        </p:txBody>
      </p:sp>
      <p:sp>
        <p:nvSpPr>
          <p:cNvPr id="220" name="직사각형 219"/>
          <p:cNvSpPr/>
          <p:nvPr/>
        </p:nvSpPr>
        <p:spPr>
          <a:xfrm>
            <a:off x="9363869" y="307268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심결</a:t>
            </a:r>
            <a:r>
              <a:rPr lang="en-US" altLang="ko-KR" sz="1000" dirty="0"/>
              <a:t>(</a:t>
            </a:r>
            <a:r>
              <a:rPr lang="ko-KR" altLang="en-US" sz="1000" dirty="0"/>
              <a:t>法 </a:t>
            </a:r>
            <a:r>
              <a:rPr lang="en-US" altLang="ko-KR" sz="1000" dirty="0"/>
              <a:t>162, 163)</a:t>
            </a:r>
            <a:endParaRPr lang="ko-KR" altLang="en-US" sz="1000" dirty="0"/>
          </a:p>
        </p:txBody>
      </p:sp>
      <p:sp>
        <p:nvSpPr>
          <p:cNvPr id="221" name="직사각형 220"/>
          <p:cNvSpPr/>
          <p:nvPr/>
        </p:nvSpPr>
        <p:spPr>
          <a:xfrm>
            <a:off x="8500191" y="4104276"/>
            <a:ext cx="710030" cy="171015"/>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결정계</a:t>
            </a:r>
            <a:r>
              <a:rPr lang="ko-KR" altLang="en-US" sz="1000" dirty="0"/>
              <a:t> 심판</a:t>
            </a:r>
          </a:p>
        </p:txBody>
      </p:sp>
      <p:sp>
        <p:nvSpPr>
          <p:cNvPr id="222" name="직사각형 221"/>
          <p:cNvSpPr/>
          <p:nvPr/>
        </p:nvSpPr>
        <p:spPr>
          <a:xfrm>
            <a:off x="8500191" y="4475324"/>
            <a:ext cx="710030" cy="364286"/>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당사자계 </a:t>
            </a:r>
            <a:endParaRPr lang="en-US" altLang="ko-KR" sz="1000" dirty="0"/>
          </a:p>
          <a:p>
            <a:pPr algn="ctr"/>
            <a:r>
              <a:rPr lang="ko-KR" altLang="en-US" sz="1000" dirty="0"/>
              <a:t>심판</a:t>
            </a:r>
          </a:p>
        </p:txBody>
      </p:sp>
      <p:sp>
        <p:nvSpPr>
          <p:cNvPr id="223" name="직사각형 222"/>
          <p:cNvSpPr/>
          <p:nvPr/>
        </p:nvSpPr>
        <p:spPr>
          <a:xfrm>
            <a:off x="8500189" y="5251229"/>
            <a:ext cx="1308145"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재심</a:t>
            </a:r>
            <a:r>
              <a:rPr lang="en-US" altLang="ko-KR" sz="1000" dirty="0"/>
              <a:t>(</a:t>
            </a:r>
            <a:r>
              <a:rPr lang="ko-KR" altLang="en-US" sz="1000" dirty="0"/>
              <a:t>法 </a:t>
            </a:r>
            <a:r>
              <a:rPr lang="en-US" altLang="ko-KR" sz="1000" dirty="0"/>
              <a:t>178~185)</a:t>
            </a:r>
            <a:endParaRPr lang="ko-KR" altLang="en-US" sz="1000" dirty="0"/>
          </a:p>
        </p:txBody>
      </p:sp>
      <p:sp>
        <p:nvSpPr>
          <p:cNvPr id="224" name="직사각형 223"/>
          <p:cNvSpPr/>
          <p:nvPr/>
        </p:nvSpPr>
        <p:spPr>
          <a:xfrm>
            <a:off x="9363869" y="401219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거절결정불복심판</a:t>
            </a:r>
            <a:r>
              <a:rPr lang="en-US" altLang="ko-KR" sz="900" dirty="0"/>
              <a:t>(</a:t>
            </a:r>
            <a:r>
              <a:rPr lang="ko-KR" altLang="en-US" sz="900" dirty="0"/>
              <a:t>法 </a:t>
            </a:r>
            <a:r>
              <a:rPr lang="en-US" altLang="ko-KR" sz="900" dirty="0"/>
              <a:t>132</a:t>
            </a:r>
            <a:r>
              <a:rPr lang="ko-KR" altLang="en-US" sz="900" dirty="0"/>
              <a:t>의</a:t>
            </a:r>
            <a:r>
              <a:rPr lang="en-US" altLang="ko-KR" sz="900" dirty="0"/>
              <a:t>17, 170~172, 176)</a:t>
            </a:r>
            <a:endParaRPr lang="ko-KR" altLang="en-US" sz="900" dirty="0"/>
          </a:p>
        </p:txBody>
      </p:sp>
      <p:sp>
        <p:nvSpPr>
          <p:cNvPr id="225" name="직사각형 224"/>
          <p:cNvSpPr/>
          <p:nvPr/>
        </p:nvSpPr>
        <p:spPr>
          <a:xfrm>
            <a:off x="9363869" y="420277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정정심판</a:t>
            </a:r>
            <a:r>
              <a:rPr lang="en-US" altLang="ko-KR" sz="1000" dirty="0"/>
              <a:t>(</a:t>
            </a:r>
            <a:r>
              <a:rPr lang="ko-KR" altLang="en-US" sz="1000" dirty="0"/>
              <a:t>法 </a:t>
            </a:r>
            <a:r>
              <a:rPr lang="en-US" altLang="ko-KR" sz="1000" dirty="0"/>
              <a:t>136)</a:t>
            </a:r>
            <a:endParaRPr lang="ko-KR" altLang="en-US" sz="1000" dirty="0"/>
          </a:p>
        </p:txBody>
      </p:sp>
      <p:sp>
        <p:nvSpPr>
          <p:cNvPr id="226" name="직사각형 225"/>
          <p:cNvSpPr/>
          <p:nvPr/>
        </p:nvSpPr>
        <p:spPr>
          <a:xfrm>
            <a:off x="9363869" y="438375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무효심판</a:t>
            </a:r>
            <a:r>
              <a:rPr lang="en-US" altLang="ko-KR" sz="1000" dirty="0"/>
              <a:t>(</a:t>
            </a:r>
            <a:r>
              <a:rPr lang="ko-KR" altLang="en-US" sz="1000" dirty="0"/>
              <a:t>法 </a:t>
            </a:r>
            <a:r>
              <a:rPr lang="en-US" altLang="ko-KR" sz="1000" dirty="0"/>
              <a:t>133, 134, 137)</a:t>
            </a:r>
            <a:endParaRPr lang="ko-KR" altLang="en-US" sz="1000" dirty="0"/>
          </a:p>
        </p:txBody>
      </p:sp>
      <p:sp>
        <p:nvSpPr>
          <p:cNvPr id="227" name="직사각형 226"/>
          <p:cNvSpPr/>
          <p:nvPr/>
        </p:nvSpPr>
        <p:spPr>
          <a:xfrm>
            <a:off x="9363869" y="457975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권리범위확인심판</a:t>
            </a:r>
            <a:r>
              <a:rPr lang="en-US" altLang="ko-KR" sz="1000" dirty="0"/>
              <a:t>(</a:t>
            </a:r>
            <a:r>
              <a:rPr lang="ko-KR" altLang="en-US" sz="1000" dirty="0"/>
              <a:t>法 </a:t>
            </a:r>
            <a:r>
              <a:rPr lang="en-US" altLang="ko-KR" sz="1000" dirty="0"/>
              <a:t>135)</a:t>
            </a:r>
            <a:endParaRPr lang="ko-KR" altLang="en-US" sz="1000" dirty="0"/>
          </a:p>
        </p:txBody>
      </p:sp>
      <p:sp>
        <p:nvSpPr>
          <p:cNvPr id="228" name="직사각형 227"/>
          <p:cNvSpPr/>
          <p:nvPr/>
        </p:nvSpPr>
        <p:spPr>
          <a:xfrm>
            <a:off x="9363869" y="477033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통상실시권허락심판</a:t>
            </a:r>
            <a:r>
              <a:rPr lang="en-US" altLang="ko-KR" sz="1000" dirty="0"/>
              <a:t>(</a:t>
            </a:r>
            <a:r>
              <a:rPr lang="ko-KR" altLang="en-US" sz="1000" dirty="0"/>
              <a:t>法 </a:t>
            </a:r>
            <a:r>
              <a:rPr lang="en-US" altLang="ko-KR" sz="1000" dirty="0"/>
              <a:t>138)</a:t>
            </a:r>
            <a:endParaRPr lang="ko-KR" altLang="en-US" sz="1000" dirty="0"/>
          </a:p>
        </p:txBody>
      </p:sp>
      <p:cxnSp>
        <p:nvCxnSpPr>
          <p:cNvPr id="229" name="꺾인 연결선 228"/>
          <p:cNvCxnSpPr>
            <a:stCxn id="205" idx="1"/>
            <a:endCxn id="252" idx="3"/>
          </p:cNvCxnSpPr>
          <p:nvPr/>
        </p:nvCxnSpPr>
        <p:spPr>
          <a:xfrm rot="10800000" flipV="1">
            <a:off x="7557110" y="2489931"/>
            <a:ext cx="223697" cy="347276"/>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꺾인 연결선 229"/>
          <p:cNvCxnSpPr>
            <a:stCxn id="205" idx="3"/>
            <a:endCxn id="207" idx="1"/>
          </p:cNvCxnSpPr>
          <p:nvPr/>
        </p:nvCxnSpPr>
        <p:spPr>
          <a:xfrm flipV="1">
            <a:off x="8336650" y="1398592"/>
            <a:ext cx="163541" cy="10913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꺾인 연결선 230"/>
          <p:cNvCxnSpPr>
            <a:stCxn id="205" idx="3"/>
            <a:endCxn id="210" idx="1"/>
          </p:cNvCxnSpPr>
          <p:nvPr/>
        </p:nvCxnSpPr>
        <p:spPr>
          <a:xfrm>
            <a:off x="8336650" y="2489931"/>
            <a:ext cx="163541" cy="573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꺾인 연결선 231"/>
          <p:cNvCxnSpPr>
            <a:stCxn id="205" idx="3"/>
            <a:endCxn id="208" idx="1"/>
          </p:cNvCxnSpPr>
          <p:nvPr/>
        </p:nvCxnSpPr>
        <p:spPr>
          <a:xfrm flipV="1">
            <a:off x="8336650" y="1890102"/>
            <a:ext cx="163541" cy="5998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3" name="꺾인 연결선 232"/>
          <p:cNvCxnSpPr>
            <a:stCxn id="205" idx="3"/>
            <a:endCxn id="209" idx="1"/>
          </p:cNvCxnSpPr>
          <p:nvPr/>
        </p:nvCxnSpPr>
        <p:spPr>
          <a:xfrm>
            <a:off x="8336650" y="2489931"/>
            <a:ext cx="163541" cy="446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꺾인 연결선 233"/>
          <p:cNvCxnSpPr>
            <a:stCxn id="207" idx="3"/>
            <a:endCxn id="211" idx="1"/>
          </p:cNvCxnSpPr>
          <p:nvPr/>
        </p:nvCxnSpPr>
        <p:spPr>
          <a:xfrm flipV="1">
            <a:off x="9210221" y="874930"/>
            <a:ext cx="153648" cy="52366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5" name="꺾인 연결선 234"/>
          <p:cNvCxnSpPr>
            <a:stCxn id="207" idx="3"/>
            <a:endCxn id="213" idx="1"/>
          </p:cNvCxnSpPr>
          <p:nvPr/>
        </p:nvCxnSpPr>
        <p:spPr>
          <a:xfrm flipV="1">
            <a:off x="9210221" y="1252790"/>
            <a:ext cx="153648" cy="1458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6" name="꺾인 연결선 235"/>
          <p:cNvCxnSpPr>
            <a:cxnSpLocks/>
            <a:stCxn id="207" idx="3"/>
            <a:endCxn id="288" idx="1"/>
          </p:cNvCxnSpPr>
          <p:nvPr/>
        </p:nvCxnSpPr>
        <p:spPr>
          <a:xfrm>
            <a:off x="9210221" y="1398592"/>
            <a:ext cx="148622" cy="1108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7" name="꺾인 연결선 236"/>
          <p:cNvCxnSpPr>
            <a:stCxn id="208" idx="3"/>
            <a:endCxn id="214" idx="1"/>
          </p:cNvCxnSpPr>
          <p:nvPr/>
        </p:nvCxnSpPr>
        <p:spPr>
          <a:xfrm flipV="1">
            <a:off x="9210221" y="1773052"/>
            <a:ext cx="153648" cy="1170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8" name="꺾인 연결선 237"/>
          <p:cNvCxnSpPr>
            <a:stCxn id="208" idx="3"/>
            <a:endCxn id="215" idx="1"/>
          </p:cNvCxnSpPr>
          <p:nvPr/>
        </p:nvCxnSpPr>
        <p:spPr>
          <a:xfrm>
            <a:off x="9210221" y="1890102"/>
            <a:ext cx="153648" cy="735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9" name="꺾인 연결선 238"/>
          <p:cNvCxnSpPr>
            <a:stCxn id="209" idx="3"/>
            <a:endCxn id="216" idx="1"/>
          </p:cNvCxnSpPr>
          <p:nvPr/>
        </p:nvCxnSpPr>
        <p:spPr>
          <a:xfrm flipV="1">
            <a:off x="9210221" y="2339108"/>
            <a:ext cx="153648" cy="195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0" name="꺾인 연결선 239"/>
          <p:cNvCxnSpPr>
            <a:stCxn id="209" idx="3"/>
            <a:endCxn id="218" idx="1"/>
          </p:cNvCxnSpPr>
          <p:nvPr/>
        </p:nvCxnSpPr>
        <p:spPr>
          <a:xfrm>
            <a:off x="9210221" y="2534560"/>
            <a:ext cx="153648" cy="18138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1" name="꺾인 연결선 240"/>
          <p:cNvCxnSpPr>
            <a:stCxn id="209" idx="3"/>
            <a:endCxn id="217" idx="1"/>
          </p:cNvCxnSpPr>
          <p:nvPr/>
        </p:nvCxnSpPr>
        <p:spPr>
          <a:xfrm flipV="1">
            <a:off x="9210221" y="2527293"/>
            <a:ext cx="153648" cy="72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꺾인 연결선 241"/>
          <p:cNvCxnSpPr>
            <a:stCxn id="221" idx="1"/>
            <a:endCxn id="206" idx="3"/>
          </p:cNvCxnSpPr>
          <p:nvPr/>
        </p:nvCxnSpPr>
        <p:spPr>
          <a:xfrm rot="10800000" flipV="1">
            <a:off x="8336651" y="4189783"/>
            <a:ext cx="163541" cy="2788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3" name="꺾인 연결선 242"/>
          <p:cNvCxnSpPr>
            <a:stCxn id="206" idx="3"/>
            <a:endCxn id="223" idx="1"/>
          </p:cNvCxnSpPr>
          <p:nvPr/>
        </p:nvCxnSpPr>
        <p:spPr>
          <a:xfrm>
            <a:off x="8336650" y="4468595"/>
            <a:ext cx="163539" cy="86197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4" name="꺾인 연결선 243"/>
          <p:cNvCxnSpPr>
            <a:stCxn id="206" idx="3"/>
            <a:endCxn id="222" idx="1"/>
          </p:cNvCxnSpPr>
          <p:nvPr/>
        </p:nvCxnSpPr>
        <p:spPr>
          <a:xfrm>
            <a:off x="8336650" y="4468595"/>
            <a:ext cx="163541" cy="1888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꺾인 연결선 244"/>
          <p:cNvCxnSpPr>
            <a:stCxn id="210" idx="3"/>
            <a:endCxn id="219" idx="1"/>
          </p:cNvCxnSpPr>
          <p:nvPr/>
        </p:nvCxnSpPr>
        <p:spPr>
          <a:xfrm flipV="1">
            <a:off x="9210221" y="2953778"/>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꺾인 연결선 245"/>
          <p:cNvCxnSpPr>
            <a:stCxn id="210" idx="3"/>
            <a:endCxn id="220" idx="1"/>
          </p:cNvCxnSpPr>
          <p:nvPr/>
        </p:nvCxnSpPr>
        <p:spPr>
          <a:xfrm>
            <a:off x="9210221" y="3063383"/>
            <a:ext cx="153648" cy="7858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7" name="꺾인 연결선 246"/>
          <p:cNvCxnSpPr>
            <a:stCxn id="221" idx="3"/>
            <a:endCxn id="224" idx="1"/>
          </p:cNvCxnSpPr>
          <p:nvPr/>
        </p:nvCxnSpPr>
        <p:spPr>
          <a:xfrm flipV="1">
            <a:off x="9210221" y="4081472"/>
            <a:ext cx="153648" cy="1083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8" name="꺾인 연결선 247"/>
          <p:cNvCxnSpPr>
            <a:stCxn id="221" idx="3"/>
            <a:endCxn id="225" idx="1"/>
          </p:cNvCxnSpPr>
          <p:nvPr/>
        </p:nvCxnSpPr>
        <p:spPr>
          <a:xfrm>
            <a:off x="9210221" y="4189784"/>
            <a:ext cx="153648" cy="8226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9" name="꺾인 연결선 248"/>
          <p:cNvCxnSpPr>
            <a:stCxn id="222" idx="3"/>
            <a:endCxn id="226" idx="1"/>
          </p:cNvCxnSpPr>
          <p:nvPr/>
        </p:nvCxnSpPr>
        <p:spPr>
          <a:xfrm flipV="1">
            <a:off x="9210221" y="4453030"/>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0" name="꺾인 연결선 249"/>
          <p:cNvCxnSpPr>
            <a:stCxn id="222" idx="3"/>
            <a:endCxn id="227" idx="1"/>
          </p:cNvCxnSpPr>
          <p:nvPr/>
        </p:nvCxnSpPr>
        <p:spPr>
          <a:xfrm flipV="1">
            <a:off x="9210221" y="4649032"/>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1" name="꺾인 연결선 250"/>
          <p:cNvCxnSpPr>
            <a:stCxn id="222" idx="3"/>
            <a:endCxn id="228" idx="1"/>
          </p:cNvCxnSpPr>
          <p:nvPr/>
        </p:nvCxnSpPr>
        <p:spPr>
          <a:xfrm>
            <a:off x="9210221" y="4657467"/>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2" name="직사각형 251"/>
          <p:cNvSpPr/>
          <p:nvPr/>
        </p:nvSpPr>
        <p:spPr>
          <a:xfrm>
            <a:off x="7136327" y="2620124"/>
            <a:ext cx="420782" cy="434166"/>
          </a:xfrm>
          <a:prstGeom prst="rect">
            <a:avLst/>
          </a:prstGeom>
          <a:solidFill>
            <a:schemeClr val="accent5"/>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200" dirty="0">
                <a:solidFill>
                  <a:schemeClr val="bg1"/>
                </a:solidFill>
              </a:rPr>
              <a:t>심판</a:t>
            </a:r>
            <a:endParaRPr lang="en-US" altLang="ko-KR" sz="1200" dirty="0">
              <a:solidFill>
                <a:schemeClr val="bg1"/>
              </a:solidFill>
            </a:endParaRPr>
          </a:p>
          <a:p>
            <a:pPr algn="ctr"/>
            <a:r>
              <a:rPr lang="ko-KR" altLang="en-US" sz="1200" dirty="0">
                <a:solidFill>
                  <a:schemeClr val="bg1"/>
                </a:solidFill>
              </a:rPr>
              <a:t>제도</a:t>
            </a:r>
          </a:p>
        </p:txBody>
      </p:sp>
      <p:cxnSp>
        <p:nvCxnSpPr>
          <p:cNvPr id="253" name="꺾인 연결선 252"/>
          <p:cNvCxnSpPr>
            <a:stCxn id="252" idx="3"/>
            <a:endCxn id="206" idx="1"/>
          </p:cNvCxnSpPr>
          <p:nvPr/>
        </p:nvCxnSpPr>
        <p:spPr>
          <a:xfrm>
            <a:off x="7557109" y="2837207"/>
            <a:ext cx="223697" cy="163138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4" name="직사각형 253"/>
          <p:cNvSpPr/>
          <p:nvPr/>
        </p:nvSpPr>
        <p:spPr>
          <a:xfrm>
            <a:off x="8500189" y="5000342"/>
            <a:ext cx="2075729"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특허취소신청</a:t>
            </a:r>
            <a:r>
              <a:rPr lang="en-US" altLang="ko-KR" sz="1000" dirty="0"/>
              <a:t>(</a:t>
            </a:r>
            <a:r>
              <a:rPr lang="ko-KR" altLang="en-US" sz="1000" dirty="0"/>
              <a:t>法 </a:t>
            </a:r>
            <a:r>
              <a:rPr lang="en-US" altLang="ko-KR" sz="1000" dirty="0"/>
              <a:t>132</a:t>
            </a:r>
            <a:r>
              <a:rPr lang="ko-KR" altLang="en-US" sz="1000" dirty="0"/>
              <a:t>의</a:t>
            </a:r>
            <a:r>
              <a:rPr lang="en-US" altLang="ko-KR" sz="1000" dirty="0"/>
              <a:t>2~132</a:t>
            </a:r>
            <a:r>
              <a:rPr lang="ko-KR" altLang="en-US" sz="1000" dirty="0"/>
              <a:t>의</a:t>
            </a:r>
            <a:r>
              <a:rPr lang="en-US" altLang="ko-KR" sz="1000" dirty="0"/>
              <a:t>15)</a:t>
            </a:r>
            <a:endParaRPr lang="ko-KR" altLang="en-US" sz="1000" dirty="0"/>
          </a:p>
        </p:txBody>
      </p:sp>
      <p:cxnSp>
        <p:nvCxnSpPr>
          <p:cNvPr id="255" name="꺾인 연결선 254"/>
          <p:cNvCxnSpPr>
            <a:stCxn id="206" idx="3"/>
            <a:endCxn id="254" idx="1"/>
          </p:cNvCxnSpPr>
          <p:nvPr/>
        </p:nvCxnSpPr>
        <p:spPr>
          <a:xfrm>
            <a:off x="8336650" y="4468595"/>
            <a:ext cx="163539" cy="6110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6" name="직사각형 255"/>
          <p:cNvSpPr/>
          <p:nvPr/>
        </p:nvSpPr>
        <p:spPr>
          <a:xfrm>
            <a:off x="9363869" y="2079620"/>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중복심판청구금지</a:t>
            </a:r>
            <a:r>
              <a:rPr lang="en-US" altLang="ko-KR" sz="1000" dirty="0"/>
              <a:t>(</a:t>
            </a:r>
            <a:r>
              <a:rPr lang="ko-KR" altLang="en-US" sz="1000" dirty="0"/>
              <a:t>法 </a:t>
            </a:r>
            <a:r>
              <a:rPr lang="en-US" altLang="ko-KR" sz="1000" dirty="0"/>
              <a:t>154⑧ </a:t>
            </a:r>
            <a:r>
              <a:rPr lang="ko-KR" altLang="en-US" sz="1000" dirty="0"/>
              <a:t>준용</a:t>
            </a:r>
            <a:r>
              <a:rPr lang="en-US" altLang="ko-KR" sz="1000" dirty="0"/>
              <a:t> </a:t>
            </a:r>
            <a:r>
              <a:rPr lang="ko-KR" altLang="en-US" sz="1000" dirty="0"/>
              <a:t>민소</a:t>
            </a:r>
            <a:r>
              <a:rPr lang="en-US" altLang="ko-KR" sz="1000" dirty="0"/>
              <a:t>259)</a:t>
            </a:r>
          </a:p>
        </p:txBody>
      </p:sp>
      <p:sp>
        <p:nvSpPr>
          <p:cNvPr id="257" name="직사각형 256"/>
          <p:cNvSpPr/>
          <p:nvPr/>
        </p:nvSpPr>
        <p:spPr>
          <a:xfrm>
            <a:off x="8237008" y="5752000"/>
            <a:ext cx="420212"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en-US" altLang="ko-KR" sz="1200" dirty="0">
                <a:solidFill>
                  <a:schemeClr val="bg1"/>
                </a:solidFill>
              </a:rPr>
              <a:t>PCT</a:t>
            </a:r>
            <a:endParaRPr lang="ko-KR" altLang="en-US" sz="1200" dirty="0">
              <a:solidFill>
                <a:schemeClr val="bg1"/>
              </a:solidFill>
            </a:endParaRPr>
          </a:p>
        </p:txBody>
      </p:sp>
      <p:sp>
        <p:nvSpPr>
          <p:cNvPr id="258" name="직사각형 257"/>
          <p:cNvSpPr/>
          <p:nvPr/>
        </p:nvSpPr>
        <p:spPr>
          <a:xfrm>
            <a:off x="8810868" y="566042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특허출원절차</a:t>
            </a:r>
            <a:r>
              <a:rPr lang="en-US" altLang="ko-KR" sz="1000" dirty="0"/>
              <a:t>(</a:t>
            </a:r>
            <a:r>
              <a:rPr lang="ko-KR" altLang="en-US" sz="1000" dirty="0"/>
              <a:t>法 </a:t>
            </a:r>
            <a:r>
              <a:rPr lang="en-US" altLang="ko-KR" sz="1000" dirty="0"/>
              <a:t>192~198)</a:t>
            </a:r>
            <a:endParaRPr lang="ko-KR" altLang="en-US" sz="1000" dirty="0"/>
          </a:p>
        </p:txBody>
      </p:sp>
      <p:sp>
        <p:nvSpPr>
          <p:cNvPr id="259" name="직사각형 258"/>
          <p:cNvSpPr/>
          <p:nvPr/>
        </p:nvSpPr>
        <p:spPr>
          <a:xfrm>
            <a:off x="8810868" y="5856429"/>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국제조사 및 국제예비심사</a:t>
            </a:r>
            <a:r>
              <a:rPr lang="en-US" altLang="ko-KR" sz="1000" dirty="0"/>
              <a:t>(</a:t>
            </a:r>
            <a:r>
              <a:rPr lang="ko-KR" altLang="en-US" sz="1000" dirty="0"/>
              <a:t>法 </a:t>
            </a:r>
            <a:r>
              <a:rPr lang="en-US" altLang="ko-KR" sz="1000" dirty="0"/>
              <a:t>198</a:t>
            </a:r>
            <a:r>
              <a:rPr lang="ko-KR" altLang="en-US" sz="1000" dirty="0"/>
              <a:t>의</a:t>
            </a:r>
            <a:r>
              <a:rPr lang="en-US" altLang="ko-KR" sz="1000" dirty="0"/>
              <a:t>2)</a:t>
            </a:r>
            <a:endParaRPr lang="ko-KR" altLang="en-US" sz="1000" dirty="0"/>
          </a:p>
        </p:txBody>
      </p:sp>
      <p:sp>
        <p:nvSpPr>
          <p:cNvPr id="260" name="직사각형 259"/>
          <p:cNvSpPr/>
          <p:nvPr/>
        </p:nvSpPr>
        <p:spPr>
          <a:xfrm>
            <a:off x="8810868" y="604700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국제특허출원에 관한 특례</a:t>
            </a:r>
            <a:r>
              <a:rPr lang="en-US" altLang="ko-KR" sz="1000" dirty="0"/>
              <a:t>(</a:t>
            </a:r>
            <a:r>
              <a:rPr lang="ko-KR" altLang="en-US" sz="1000" dirty="0"/>
              <a:t>法 </a:t>
            </a:r>
            <a:r>
              <a:rPr lang="en-US" altLang="ko-KR" sz="1000" dirty="0"/>
              <a:t>199~214)</a:t>
            </a:r>
            <a:endParaRPr lang="ko-KR" altLang="en-US" sz="1000" dirty="0"/>
          </a:p>
        </p:txBody>
      </p:sp>
      <p:cxnSp>
        <p:nvCxnSpPr>
          <p:cNvPr id="261" name="꺾인 연결선 260"/>
          <p:cNvCxnSpPr>
            <a:stCxn id="257" idx="3"/>
            <a:endCxn id="258" idx="1"/>
          </p:cNvCxnSpPr>
          <p:nvPr/>
        </p:nvCxnSpPr>
        <p:spPr>
          <a:xfrm flipV="1">
            <a:off x="8657220" y="5729706"/>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꺾인 연결선 261"/>
          <p:cNvCxnSpPr>
            <a:stCxn id="257" idx="3"/>
            <a:endCxn id="259" idx="1"/>
          </p:cNvCxnSpPr>
          <p:nvPr/>
        </p:nvCxnSpPr>
        <p:spPr>
          <a:xfrm flipV="1">
            <a:off x="8657220" y="5925708"/>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꺾인 연결선 262"/>
          <p:cNvCxnSpPr>
            <a:stCxn id="257" idx="3"/>
            <a:endCxn id="260" idx="1"/>
          </p:cNvCxnSpPr>
          <p:nvPr/>
        </p:nvCxnSpPr>
        <p:spPr>
          <a:xfrm>
            <a:off x="8657220" y="5934143"/>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꺾인 연결선 263"/>
          <p:cNvCxnSpPr>
            <a:stCxn id="273" idx="3"/>
            <a:endCxn id="295" idx="1"/>
          </p:cNvCxnSpPr>
          <p:nvPr/>
        </p:nvCxnSpPr>
        <p:spPr>
          <a:xfrm flipV="1">
            <a:off x="4278775" y="4164703"/>
            <a:ext cx="168733" cy="44072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5" name="꺾인 연결선 264"/>
          <p:cNvCxnSpPr>
            <a:stCxn id="273" idx="3"/>
            <a:endCxn id="296" idx="1"/>
          </p:cNvCxnSpPr>
          <p:nvPr/>
        </p:nvCxnSpPr>
        <p:spPr>
          <a:xfrm flipV="1">
            <a:off x="4278775" y="4328505"/>
            <a:ext cx="168733" cy="27692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6" name="직사각형 265"/>
          <p:cNvSpPr/>
          <p:nvPr/>
        </p:nvSpPr>
        <p:spPr>
          <a:xfrm>
            <a:off x="612833" y="5324052"/>
            <a:ext cx="355015"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200" dirty="0">
                <a:solidFill>
                  <a:schemeClr val="bg1"/>
                </a:solidFill>
              </a:rPr>
              <a:t>소송</a:t>
            </a:r>
          </a:p>
        </p:txBody>
      </p:sp>
      <p:sp>
        <p:nvSpPr>
          <p:cNvPr id="267" name="직사각형 266"/>
          <p:cNvSpPr/>
          <p:nvPr/>
        </p:nvSpPr>
        <p:spPr>
          <a:xfrm>
            <a:off x="1121497" y="523247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err="1"/>
              <a:t>심결취소소송</a:t>
            </a:r>
            <a:r>
              <a:rPr lang="en-US" altLang="ko-KR" sz="1000" dirty="0"/>
              <a:t>(</a:t>
            </a:r>
            <a:r>
              <a:rPr lang="ko-KR" altLang="en-US" sz="1000" dirty="0"/>
              <a:t>法 </a:t>
            </a:r>
            <a:r>
              <a:rPr lang="en-US" altLang="ko-KR" sz="1000" dirty="0"/>
              <a:t>186~189)</a:t>
            </a:r>
            <a:endParaRPr lang="ko-KR" altLang="en-US" sz="1000" dirty="0"/>
          </a:p>
        </p:txBody>
      </p:sp>
      <p:sp>
        <p:nvSpPr>
          <p:cNvPr id="268" name="직사각형 267"/>
          <p:cNvSpPr/>
          <p:nvPr/>
        </p:nvSpPr>
        <p:spPr>
          <a:xfrm>
            <a:off x="1121497" y="5428481"/>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보상금</a:t>
            </a:r>
            <a:r>
              <a:rPr lang="en-US" altLang="ko-KR" sz="1000" dirty="0"/>
              <a:t>/</a:t>
            </a:r>
            <a:r>
              <a:rPr lang="ko-KR" altLang="en-US" sz="1000" dirty="0"/>
              <a:t>대가에 대한 소송</a:t>
            </a:r>
            <a:r>
              <a:rPr lang="en-US" altLang="ko-KR" sz="1000" dirty="0"/>
              <a:t>(</a:t>
            </a:r>
            <a:r>
              <a:rPr lang="ko-KR" altLang="en-US" sz="1000" dirty="0"/>
              <a:t>法 </a:t>
            </a:r>
            <a:r>
              <a:rPr lang="en-US" altLang="ko-KR" sz="1000" dirty="0"/>
              <a:t>190, 191)</a:t>
            </a:r>
            <a:endParaRPr lang="ko-KR" altLang="en-US" sz="1000" dirty="0"/>
          </a:p>
        </p:txBody>
      </p:sp>
      <p:sp>
        <p:nvSpPr>
          <p:cNvPr id="269" name="직사각형 268"/>
          <p:cNvSpPr/>
          <p:nvPr/>
        </p:nvSpPr>
        <p:spPr>
          <a:xfrm>
            <a:off x="1121497" y="561905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변리사 보수</a:t>
            </a:r>
            <a:r>
              <a:rPr lang="en-US" altLang="ko-KR" sz="1000" dirty="0"/>
              <a:t>(</a:t>
            </a:r>
            <a:r>
              <a:rPr lang="ko-KR" altLang="en-US" sz="1000" dirty="0"/>
              <a:t>法 </a:t>
            </a:r>
            <a:r>
              <a:rPr lang="en-US" altLang="ko-KR" sz="1000" dirty="0"/>
              <a:t>191</a:t>
            </a:r>
            <a:r>
              <a:rPr lang="ko-KR" altLang="en-US" sz="1000" dirty="0"/>
              <a:t>의</a:t>
            </a:r>
            <a:r>
              <a:rPr lang="en-US" altLang="ko-KR" sz="1000" dirty="0"/>
              <a:t>2)</a:t>
            </a:r>
            <a:endParaRPr lang="ko-KR" altLang="en-US" sz="1000" dirty="0"/>
          </a:p>
        </p:txBody>
      </p:sp>
      <p:cxnSp>
        <p:nvCxnSpPr>
          <p:cNvPr id="270" name="꺾인 연결선 269"/>
          <p:cNvCxnSpPr>
            <a:stCxn id="266" idx="3"/>
            <a:endCxn id="267" idx="1"/>
          </p:cNvCxnSpPr>
          <p:nvPr/>
        </p:nvCxnSpPr>
        <p:spPr>
          <a:xfrm flipV="1">
            <a:off x="967848" y="5301758"/>
            <a:ext cx="153649"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1" name="꺾인 연결선 270"/>
          <p:cNvCxnSpPr>
            <a:stCxn id="266" idx="3"/>
            <a:endCxn id="268" idx="1"/>
          </p:cNvCxnSpPr>
          <p:nvPr/>
        </p:nvCxnSpPr>
        <p:spPr>
          <a:xfrm flipV="1">
            <a:off x="967848" y="5497760"/>
            <a:ext cx="153649"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2" name="꺾인 연결선 271"/>
          <p:cNvCxnSpPr>
            <a:stCxn id="266" idx="3"/>
            <a:endCxn id="269" idx="1"/>
          </p:cNvCxnSpPr>
          <p:nvPr/>
        </p:nvCxnSpPr>
        <p:spPr>
          <a:xfrm>
            <a:off x="967848" y="5506195"/>
            <a:ext cx="153649"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3" name="직사각형 272"/>
          <p:cNvSpPr/>
          <p:nvPr/>
        </p:nvSpPr>
        <p:spPr>
          <a:xfrm>
            <a:off x="3609544" y="4480740"/>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accent3">
                    <a:lumMod val="50000"/>
                  </a:schemeClr>
                </a:solidFill>
              </a:rPr>
              <a:t>소송요건</a:t>
            </a:r>
            <a:endParaRPr lang="en-US" altLang="ko-KR" sz="1000" dirty="0">
              <a:solidFill>
                <a:schemeClr val="accent3">
                  <a:lumMod val="50000"/>
                </a:schemeClr>
              </a:solidFill>
            </a:endParaRPr>
          </a:p>
          <a:p>
            <a:pPr algn="ctr"/>
            <a:r>
              <a:rPr lang="en-US" altLang="ko-KR" sz="700" dirty="0">
                <a:solidFill>
                  <a:schemeClr val="accent3">
                    <a:lumMod val="50000"/>
                  </a:schemeClr>
                </a:solidFill>
              </a:rPr>
              <a:t>(</a:t>
            </a:r>
            <a:r>
              <a:rPr lang="ko-KR" altLang="en-US" sz="700" dirty="0">
                <a:solidFill>
                  <a:schemeClr val="accent3">
                    <a:lumMod val="50000"/>
                  </a:schemeClr>
                </a:solidFill>
              </a:rPr>
              <a:t>法 </a:t>
            </a:r>
            <a:r>
              <a:rPr lang="en-US" altLang="ko-KR" sz="700" dirty="0">
                <a:solidFill>
                  <a:schemeClr val="accent3">
                    <a:lumMod val="50000"/>
                  </a:schemeClr>
                </a:solidFill>
              </a:rPr>
              <a:t>186, 187)</a:t>
            </a:r>
            <a:endParaRPr lang="ko-KR" altLang="en-US" sz="700" dirty="0">
              <a:solidFill>
                <a:schemeClr val="accent3">
                  <a:lumMod val="50000"/>
                </a:schemeClr>
              </a:solidFill>
            </a:endParaRPr>
          </a:p>
        </p:txBody>
      </p:sp>
      <p:sp>
        <p:nvSpPr>
          <p:cNvPr id="274" name="직사각형 273"/>
          <p:cNvSpPr/>
          <p:nvPr/>
        </p:nvSpPr>
        <p:spPr>
          <a:xfrm>
            <a:off x="3609544" y="5109654"/>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소송제기</a:t>
            </a:r>
          </a:p>
        </p:txBody>
      </p:sp>
      <p:sp>
        <p:nvSpPr>
          <p:cNvPr id="275" name="직사각형 274"/>
          <p:cNvSpPr/>
          <p:nvPr/>
        </p:nvSpPr>
        <p:spPr>
          <a:xfrm>
            <a:off x="3609544" y="5640678"/>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소송심리</a:t>
            </a:r>
          </a:p>
        </p:txBody>
      </p:sp>
      <p:sp>
        <p:nvSpPr>
          <p:cNvPr id="276" name="직사각형 275"/>
          <p:cNvSpPr/>
          <p:nvPr/>
        </p:nvSpPr>
        <p:spPr>
          <a:xfrm>
            <a:off x="3609544" y="6249551"/>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소송종료</a:t>
            </a:r>
          </a:p>
        </p:txBody>
      </p:sp>
      <p:cxnSp>
        <p:nvCxnSpPr>
          <p:cNvPr id="277" name="꺾인 연결선 276"/>
          <p:cNvCxnSpPr>
            <a:stCxn id="267" idx="3"/>
            <a:endCxn id="273" idx="1"/>
          </p:cNvCxnSpPr>
          <p:nvPr/>
        </p:nvCxnSpPr>
        <p:spPr>
          <a:xfrm flipV="1">
            <a:off x="3454709" y="4605428"/>
            <a:ext cx="154835" cy="696330"/>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꺾인 연결선 277"/>
          <p:cNvCxnSpPr>
            <a:stCxn id="267" idx="3"/>
            <a:endCxn id="276" idx="1"/>
          </p:cNvCxnSpPr>
          <p:nvPr/>
        </p:nvCxnSpPr>
        <p:spPr>
          <a:xfrm>
            <a:off x="3454709" y="5301758"/>
            <a:ext cx="154835" cy="1072481"/>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꺾인 연결선 278"/>
          <p:cNvCxnSpPr>
            <a:stCxn id="267" idx="3"/>
            <a:endCxn id="274" idx="1"/>
          </p:cNvCxnSpPr>
          <p:nvPr/>
        </p:nvCxnSpPr>
        <p:spPr>
          <a:xfrm flipV="1">
            <a:off x="3454709" y="5234342"/>
            <a:ext cx="154835" cy="6741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꺾인 연결선 279"/>
          <p:cNvCxnSpPr>
            <a:stCxn id="267" idx="3"/>
            <a:endCxn id="275" idx="1"/>
          </p:cNvCxnSpPr>
          <p:nvPr/>
        </p:nvCxnSpPr>
        <p:spPr>
          <a:xfrm>
            <a:off x="3454709" y="5301758"/>
            <a:ext cx="154835" cy="46360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꺾인 연결선 280"/>
          <p:cNvCxnSpPr>
            <a:stCxn id="273" idx="3"/>
            <a:endCxn id="297" idx="1"/>
          </p:cNvCxnSpPr>
          <p:nvPr/>
        </p:nvCxnSpPr>
        <p:spPr>
          <a:xfrm flipV="1">
            <a:off x="4278775" y="4489475"/>
            <a:ext cx="168733" cy="1159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꺾인 연결선 281"/>
          <p:cNvCxnSpPr>
            <a:stCxn id="274" idx="3"/>
            <a:endCxn id="298" idx="1"/>
          </p:cNvCxnSpPr>
          <p:nvPr/>
        </p:nvCxnSpPr>
        <p:spPr>
          <a:xfrm flipV="1">
            <a:off x="4278775" y="5070329"/>
            <a:ext cx="168733" cy="16401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꺾인 연결선 282"/>
          <p:cNvCxnSpPr>
            <a:stCxn id="274" idx="3"/>
            <a:endCxn id="299" idx="1"/>
          </p:cNvCxnSpPr>
          <p:nvPr/>
        </p:nvCxnSpPr>
        <p:spPr>
          <a:xfrm flipV="1">
            <a:off x="4278775" y="5234131"/>
            <a:ext cx="168733" cy="2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4" name="꺾인 연결선 283"/>
          <p:cNvCxnSpPr>
            <a:stCxn id="275" idx="3"/>
            <a:endCxn id="300" idx="1"/>
          </p:cNvCxnSpPr>
          <p:nvPr/>
        </p:nvCxnSpPr>
        <p:spPr>
          <a:xfrm flipV="1">
            <a:off x="4278775" y="5762383"/>
            <a:ext cx="168733" cy="298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5" name="꺾인 연결선 284"/>
          <p:cNvCxnSpPr>
            <a:cxnSpLocks/>
            <a:stCxn id="275" idx="3"/>
            <a:endCxn id="301" idx="1"/>
          </p:cNvCxnSpPr>
          <p:nvPr/>
        </p:nvCxnSpPr>
        <p:spPr>
          <a:xfrm>
            <a:off x="4278775" y="5765366"/>
            <a:ext cx="168733" cy="2485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6" name="꺾인 연결선 285"/>
          <p:cNvCxnSpPr>
            <a:stCxn id="276" idx="3"/>
            <a:endCxn id="302" idx="1"/>
          </p:cNvCxnSpPr>
          <p:nvPr/>
        </p:nvCxnSpPr>
        <p:spPr>
          <a:xfrm flipV="1">
            <a:off x="4278775" y="6284664"/>
            <a:ext cx="168733" cy="895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7" name="꺾인 연결선 286"/>
          <p:cNvCxnSpPr>
            <a:cxnSpLocks/>
            <a:stCxn id="276" idx="3"/>
            <a:endCxn id="303" idx="1"/>
          </p:cNvCxnSpPr>
          <p:nvPr/>
        </p:nvCxnSpPr>
        <p:spPr>
          <a:xfrm>
            <a:off x="4278775" y="6374239"/>
            <a:ext cx="168733" cy="1744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9" name="직사각형 288"/>
          <p:cNvSpPr/>
          <p:nvPr/>
        </p:nvSpPr>
        <p:spPr>
          <a:xfrm>
            <a:off x="5954614" y="5228714"/>
            <a:ext cx="1396961" cy="32899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변론주의 원칙</a:t>
            </a:r>
            <a:endParaRPr lang="en-US" altLang="ko-KR" sz="1000" dirty="0"/>
          </a:p>
          <a:p>
            <a:pPr algn="ctr"/>
            <a:r>
              <a:rPr lang="en-US" altLang="ko-KR" sz="1000" dirty="0"/>
              <a:t>(</a:t>
            </a:r>
            <a:r>
              <a:rPr lang="ko-KR" altLang="en-US" sz="1000" dirty="0"/>
              <a:t>직권주의 가미</a:t>
            </a:r>
            <a:r>
              <a:rPr lang="en-US" altLang="ko-KR" sz="1000" dirty="0"/>
              <a:t>)</a:t>
            </a:r>
            <a:endParaRPr lang="ko-KR" altLang="en-US" sz="1000" dirty="0"/>
          </a:p>
        </p:txBody>
      </p:sp>
      <p:sp>
        <p:nvSpPr>
          <p:cNvPr id="290" name="직사각형 289"/>
          <p:cNvSpPr/>
          <p:nvPr/>
        </p:nvSpPr>
        <p:spPr>
          <a:xfrm>
            <a:off x="5954614" y="5591097"/>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위법판단의 기준시점</a:t>
            </a:r>
          </a:p>
        </p:txBody>
      </p:sp>
      <p:sp>
        <p:nvSpPr>
          <p:cNvPr id="291" name="직사각형 290"/>
          <p:cNvSpPr/>
          <p:nvPr/>
        </p:nvSpPr>
        <p:spPr>
          <a:xfrm>
            <a:off x="5954614" y="575324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심리범위</a:t>
            </a:r>
          </a:p>
        </p:txBody>
      </p:sp>
      <p:sp>
        <p:nvSpPr>
          <p:cNvPr id="292" name="직사각형 291"/>
          <p:cNvSpPr/>
          <p:nvPr/>
        </p:nvSpPr>
        <p:spPr>
          <a:xfrm>
            <a:off x="5954614" y="591100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주장증명책임</a:t>
            </a:r>
          </a:p>
        </p:txBody>
      </p:sp>
      <p:sp>
        <p:nvSpPr>
          <p:cNvPr id="293" name="직사각형 292"/>
          <p:cNvSpPr/>
          <p:nvPr/>
        </p:nvSpPr>
        <p:spPr>
          <a:xfrm>
            <a:off x="5954614" y="6071372"/>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자백</a:t>
            </a:r>
          </a:p>
        </p:txBody>
      </p:sp>
      <p:sp>
        <p:nvSpPr>
          <p:cNvPr id="295" name="직사각형 294"/>
          <p:cNvSpPr/>
          <p:nvPr/>
        </p:nvSpPr>
        <p:spPr>
          <a:xfrm>
            <a:off x="4447508" y="410052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err="1"/>
              <a:t>소송물</a:t>
            </a:r>
            <a:endParaRPr lang="ko-KR" altLang="en-US" sz="1000" dirty="0"/>
          </a:p>
        </p:txBody>
      </p:sp>
      <p:sp>
        <p:nvSpPr>
          <p:cNvPr id="296" name="직사각형 295"/>
          <p:cNvSpPr/>
          <p:nvPr/>
        </p:nvSpPr>
        <p:spPr>
          <a:xfrm>
            <a:off x="4447508" y="426432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소의 이익</a:t>
            </a:r>
          </a:p>
        </p:txBody>
      </p:sp>
      <p:sp>
        <p:nvSpPr>
          <p:cNvPr id="297" name="직사각형 296"/>
          <p:cNvSpPr/>
          <p:nvPr/>
        </p:nvSpPr>
        <p:spPr>
          <a:xfrm>
            <a:off x="4447508" y="442529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관할</a:t>
            </a:r>
          </a:p>
        </p:txBody>
      </p:sp>
      <p:sp>
        <p:nvSpPr>
          <p:cNvPr id="298" name="직사각형 297"/>
          <p:cNvSpPr/>
          <p:nvPr/>
        </p:nvSpPr>
        <p:spPr>
          <a:xfrm>
            <a:off x="4447508" y="5006153"/>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소장의 제출</a:t>
            </a:r>
          </a:p>
        </p:txBody>
      </p:sp>
      <p:sp>
        <p:nvSpPr>
          <p:cNvPr id="299" name="직사각형 298"/>
          <p:cNvSpPr/>
          <p:nvPr/>
        </p:nvSpPr>
        <p:spPr>
          <a:xfrm>
            <a:off x="4447508" y="516995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심판원장에게 통지</a:t>
            </a:r>
            <a:r>
              <a:rPr lang="en-US" altLang="ko-KR" sz="600" dirty="0">
                <a:solidFill>
                  <a:schemeClr val="tx1"/>
                </a:solidFill>
              </a:rPr>
              <a:t>(</a:t>
            </a:r>
            <a:r>
              <a:rPr lang="ko-KR" altLang="en-US" sz="600" dirty="0">
                <a:solidFill>
                  <a:schemeClr val="tx1"/>
                </a:solidFill>
              </a:rPr>
              <a:t>法 </a:t>
            </a:r>
            <a:r>
              <a:rPr lang="en-US" altLang="ko-KR" sz="600" dirty="0">
                <a:solidFill>
                  <a:schemeClr val="tx1"/>
                </a:solidFill>
              </a:rPr>
              <a:t>188)</a:t>
            </a:r>
            <a:endParaRPr lang="en-US" altLang="ko-KR" sz="1000" dirty="0">
              <a:solidFill>
                <a:schemeClr val="tx1"/>
              </a:solidFill>
            </a:endParaRPr>
          </a:p>
        </p:txBody>
      </p:sp>
      <p:sp>
        <p:nvSpPr>
          <p:cNvPr id="300" name="직사각형 299"/>
          <p:cNvSpPr/>
          <p:nvPr/>
        </p:nvSpPr>
        <p:spPr>
          <a:xfrm>
            <a:off x="4447508" y="569820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err="1"/>
              <a:t>본안심리</a:t>
            </a:r>
            <a:endParaRPr lang="ko-KR" altLang="en-US" sz="1000" dirty="0"/>
          </a:p>
        </p:txBody>
      </p:sp>
      <p:sp>
        <p:nvSpPr>
          <p:cNvPr id="301" name="직사각형 300"/>
          <p:cNvSpPr/>
          <p:nvPr/>
        </p:nvSpPr>
        <p:spPr>
          <a:xfrm>
            <a:off x="4447508" y="5859952"/>
            <a:ext cx="1380067" cy="30802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기술심리관의 관여</a:t>
            </a:r>
            <a:endParaRPr lang="en-US" altLang="ko-KR" sz="1000" dirty="0">
              <a:solidFill>
                <a:schemeClr val="tx1"/>
              </a:solidFill>
            </a:endParaRPr>
          </a:p>
          <a:p>
            <a:pPr algn="ctr"/>
            <a:r>
              <a:rPr lang="en-US" altLang="ko-KR" sz="800" dirty="0">
                <a:solidFill>
                  <a:schemeClr val="tx1"/>
                </a:solidFill>
              </a:rPr>
              <a:t>(</a:t>
            </a:r>
            <a:r>
              <a:rPr lang="ko-KR" altLang="en-US" sz="800" dirty="0">
                <a:solidFill>
                  <a:schemeClr val="tx1"/>
                </a:solidFill>
              </a:rPr>
              <a:t>法 </a:t>
            </a:r>
            <a:r>
              <a:rPr lang="en-US" altLang="ko-KR" sz="800" dirty="0">
                <a:solidFill>
                  <a:schemeClr val="tx1"/>
                </a:solidFill>
              </a:rPr>
              <a:t>188</a:t>
            </a:r>
            <a:r>
              <a:rPr lang="ko-KR" altLang="en-US" sz="800" dirty="0">
                <a:solidFill>
                  <a:schemeClr val="tx1"/>
                </a:solidFill>
              </a:rPr>
              <a:t>의</a:t>
            </a:r>
            <a:r>
              <a:rPr lang="en-US" altLang="ko-KR" sz="800" dirty="0">
                <a:solidFill>
                  <a:schemeClr val="tx1"/>
                </a:solidFill>
              </a:rPr>
              <a:t>2)</a:t>
            </a:r>
            <a:endParaRPr lang="ko-KR" altLang="en-US" sz="1000" dirty="0">
              <a:solidFill>
                <a:schemeClr val="tx1"/>
              </a:solidFill>
            </a:endParaRPr>
          </a:p>
        </p:txBody>
      </p:sp>
      <p:sp>
        <p:nvSpPr>
          <p:cNvPr id="302" name="직사각형 301"/>
          <p:cNvSpPr/>
          <p:nvPr/>
        </p:nvSpPr>
        <p:spPr>
          <a:xfrm>
            <a:off x="4447508" y="622048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당사자에 의한 종결</a:t>
            </a:r>
          </a:p>
        </p:txBody>
      </p:sp>
      <p:sp>
        <p:nvSpPr>
          <p:cNvPr id="303" name="직사각형 302"/>
          <p:cNvSpPr/>
          <p:nvPr/>
        </p:nvSpPr>
        <p:spPr>
          <a:xfrm>
            <a:off x="4447508" y="6382234"/>
            <a:ext cx="1380067" cy="33289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종국판결에 의한 종결</a:t>
            </a:r>
            <a:endParaRPr lang="en-US" altLang="ko-KR" sz="1000" dirty="0">
              <a:solidFill>
                <a:schemeClr val="tx1"/>
              </a:solidFill>
            </a:endParaRPr>
          </a:p>
          <a:p>
            <a:pPr algn="ctr"/>
            <a:r>
              <a:rPr lang="en-US" altLang="ko-KR" sz="800" dirty="0">
                <a:solidFill>
                  <a:schemeClr val="tx1"/>
                </a:solidFill>
              </a:rPr>
              <a:t>(</a:t>
            </a:r>
            <a:r>
              <a:rPr lang="ko-KR" altLang="en-US" sz="800" dirty="0">
                <a:solidFill>
                  <a:schemeClr val="tx1"/>
                </a:solidFill>
              </a:rPr>
              <a:t>法 </a:t>
            </a:r>
            <a:r>
              <a:rPr lang="en-US" altLang="ko-KR" sz="800" dirty="0">
                <a:solidFill>
                  <a:schemeClr val="tx1"/>
                </a:solidFill>
              </a:rPr>
              <a:t>189)</a:t>
            </a:r>
            <a:endParaRPr lang="ko-KR" altLang="en-US" sz="1000" dirty="0">
              <a:solidFill>
                <a:schemeClr val="tx1"/>
              </a:solidFill>
            </a:endParaRPr>
          </a:p>
        </p:txBody>
      </p:sp>
      <p:sp>
        <p:nvSpPr>
          <p:cNvPr id="304" name="직사각형 303"/>
          <p:cNvSpPr/>
          <p:nvPr/>
        </p:nvSpPr>
        <p:spPr>
          <a:xfrm>
            <a:off x="4447508" y="459403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당사자</a:t>
            </a:r>
          </a:p>
        </p:txBody>
      </p:sp>
      <p:sp>
        <p:nvSpPr>
          <p:cNvPr id="305" name="직사각형 304"/>
          <p:cNvSpPr/>
          <p:nvPr/>
        </p:nvSpPr>
        <p:spPr>
          <a:xfrm>
            <a:off x="4447508" y="554183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소송요건의 심리</a:t>
            </a:r>
            <a:endParaRPr lang="en-US" altLang="ko-KR" sz="1000" dirty="0"/>
          </a:p>
        </p:txBody>
      </p:sp>
      <p:sp>
        <p:nvSpPr>
          <p:cNvPr id="306" name="직사각형 305"/>
          <p:cNvSpPr/>
          <p:nvPr/>
        </p:nvSpPr>
        <p:spPr>
          <a:xfrm>
            <a:off x="4447508" y="5338441"/>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소장의 심사</a:t>
            </a:r>
            <a:endParaRPr lang="en-US" altLang="ko-KR" sz="1000" dirty="0"/>
          </a:p>
        </p:txBody>
      </p:sp>
      <p:sp>
        <p:nvSpPr>
          <p:cNvPr id="307" name="직사각형 306"/>
          <p:cNvSpPr/>
          <p:nvPr/>
        </p:nvSpPr>
        <p:spPr>
          <a:xfrm>
            <a:off x="4447508" y="476412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제소기간</a:t>
            </a:r>
          </a:p>
        </p:txBody>
      </p:sp>
      <p:cxnSp>
        <p:nvCxnSpPr>
          <p:cNvPr id="309" name="꺾인 연결선 308"/>
          <p:cNvCxnSpPr>
            <a:stCxn id="273" idx="3"/>
            <a:endCxn id="304" idx="1"/>
          </p:cNvCxnSpPr>
          <p:nvPr/>
        </p:nvCxnSpPr>
        <p:spPr>
          <a:xfrm>
            <a:off x="4278775" y="4605428"/>
            <a:ext cx="168733" cy="527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0" name="꺾인 연결선 309"/>
          <p:cNvCxnSpPr>
            <a:stCxn id="273" idx="3"/>
            <a:endCxn id="307" idx="1"/>
          </p:cNvCxnSpPr>
          <p:nvPr/>
        </p:nvCxnSpPr>
        <p:spPr>
          <a:xfrm>
            <a:off x="4278775" y="4605428"/>
            <a:ext cx="168733" cy="2228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꺾인 연결선 310"/>
          <p:cNvCxnSpPr>
            <a:stCxn id="274" idx="3"/>
            <a:endCxn id="306" idx="1"/>
          </p:cNvCxnSpPr>
          <p:nvPr/>
        </p:nvCxnSpPr>
        <p:spPr>
          <a:xfrm>
            <a:off x="4278775" y="5234342"/>
            <a:ext cx="168733" cy="1682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꺾인 연결선 311"/>
          <p:cNvCxnSpPr>
            <a:stCxn id="275" idx="3"/>
            <a:endCxn id="305" idx="1"/>
          </p:cNvCxnSpPr>
          <p:nvPr/>
        </p:nvCxnSpPr>
        <p:spPr>
          <a:xfrm flipV="1">
            <a:off x="4278775" y="5606011"/>
            <a:ext cx="168733" cy="15935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꺾인 연결선 312"/>
          <p:cNvCxnSpPr>
            <a:stCxn id="300" idx="3"/>
            <a:endCxn id="289" idx="1"/>
          </p:cNvCxnSpPr>
          <p:nvPr/>
        </p:nvCxnSpPr>
        <p:spPr>
          <a:xfrm flipV="1">
            <a:off x="5827575" y="5393209"/>
            <a:ext cx="127039" cy="36917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꺾인 연결선 313"/>
          <p:cNvCxnSpPr>
            <a:stCxn id="300" idx="3"/>
            <a:endCxn id="290" idx="1"/>
          </p:cNvCxnSpPr>
          <p:nvPr/>
        </p:nvCxnSpPr>
        <p:spPr>
          <a:xfrm flipV="1">
            <a:off x="5827575" y="5655273"/>
            <a:ext cx="127039" cy="1071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꺾인 연결선 314"/>
          <p:cNvCxnSpPr>
            <a:stCxn id="300" idx="3"/>
            <a:endCxn id="291" idx="1"/>
          </p:cNvCxnSpPr>
          <p:nvPr/>
        </p:nvCxnSpPr>
        <p:spPr>
          <a:xfrm>
            <a:off x="5827575" y="5762383"/>
            <a:ext cx="127039" cy="5503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6" name="꺾인 연결선 315"/>
          <p:cNvCxnSpPr>
            <a:stCxn id="300" idx="3"/>
            <a:endCxn id="292" idx="1"/>
          </p:cNvCxnSpPr>
          <p:nvPr/>
        </p:nvCxnSpPr>
        <p:spPr>
          <a:xfrm>
            <a:off x="5827575" y="5762383"/>
            <a:ext cx="127039" cy="21279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꺾인 연결선 316"/>
          <p:cNvCxnSpPr>
            <a:endCxn id="293" idx="1"/>
          </p:cNvCxnSpPr>
          <p:nvPr/>
        </p:nvCxnSpPr>
        <p:spPr>
          <a:xfrm rot="16200000" flipH="1">
            <a:off x="5802218" y="5983152"/>
            <a:ext cx="293982" cy="10810"/>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8" name="직사각형 317"/>
          <p:cNvSpPr/>
          <p:nvPr/>
        </p:nvSpPr>
        <p:spPr>
          <a:xfrm>
            <a:off x="6103431" y="3574465"/>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특허법</a:t>
            </a:r>
            <a:endParaRPr lang="en-US" altLang="ko-KR" dirty="0"/>
          </a:p>
          <a:p>
            <a:pPr algn="ctr"/>
            <a:r>
              <a:rPr lang="ko-KR" altLang="en-US" dirty="0"/>
              <a:t>체계도</a:t>
            </a:r>
          </a:p>
        </p:txBody>
      </p:sp>
      <p:sp>
        <p:nvSpPr>
          <p:cNvPr id="319" name="타원 318"/>
          <p:cNvSpPr/>
          <p:nvPr/>
        </p:nvSpPr>
        <p:spPr>
          <a:xfrm>
            <a:off x="322118" y="268689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5</a:t>
            </a:r>
            <a:endParaRPr lang="ko-KR" altLang="en-US" dirty="0"/>
          </a:p>
        </p:txBody>
      </p:sp>
      <p:sp>
        <p:nvSpPr>
          <p:cNvPr id="320" name="타원 319"/>
          <p:cNvSpPr/>
          <p:nvPr/>
        </p:nvSpPr>
        <p:spPr>
          <a:xfrm>
            <a:off x="262164" y="5316045"/>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7</a:t>
            </a:r>
            <a:endParaRPr lang="ko-KR" altLang="en-US" dirty="0"/>
          </a:p>
        </p:txBody>
      </p:sp>
      <p:sp>
        <p:nvSpPr>
          <p:cNvPr id="321" name="타원 320"/>
          <p:cNvSpPr/>
          <p:nvPr/>
        </p:nvSpPr>
        <p:spPr>
          <a:xfrm>
            <a:off x="7873581" y="5757616"/>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8</a:t>
            </a:r>
            <a:endParaRPr lang="ko-KR" altLang="en-US" dirty="0"/>
          </a:p>
        </p:txBody>
      </p:sp>
      <p:sp>
        <p:nvSpPr>
          <p:cNvPr id="322" name="타원 321"/>
          <p:cNvSpPr/>
          <p:nvPr/>
        </p:nvSpPr>
        <p:spPr>
          <a:xfrm>
            <a:off x="6772900" y="266696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6</a:t>
            </a:r>
            <a:endParaRPr lang="ko-KR" altLang="en-US" dirty="0"/>
          </a:p>
        </p:txBody>
      </p:sp>
      <p:sp>
        <p:nvSpPr>
          <p:cNvPr id="323" name="자유형 322"/>
          <p:cNvSpPr/>
          <p:nvPr/>
        </p:nvSpPr>
        <p:spPr>
          <a:xfrm>
            <a:off x="523875" y="3059642"/>
            <a:ext cx="5571067" cy="1845733"/>
          </a:xfrm>
          <a:custGeom>
            <a:avLst/>
            <a:gdLst>
              <a:gd name="connsiteX0" fmla="*/ 5571067 w 5571067"/>
              <a:gd name="connsiteY0" fmla="*/ 872066 h 1845733"/>
              <a:gd name="connsiteX1" fmla="*/ 3708400 w 5571067"/>
              <a:gd name="connsiteY1" fmla="*/ 872066 h 1845733"/>
              <a:gd name="connsiteX2" fmla="*/ 3708400 w 5571067"/>
              <a:gd name="connsiteY2" fmla="*/ 1244600 h 1845733"/>
              <a:gd name="connsiteX3" fmla="*/ 2853267 w 5571067"/>
              <a:gd name="connsiteY3" fmla="*/ 1244600 h 1845733"/>
              <a:gd name="connsiteX4" fmla="*/ 2853267 w 5571067"/>
              <a:gd name="connsiteY4" fmla="*/ 1845733 h 1845733"/>
              <a:gd name="connsiteX5" fmla="*/ 0 w 5571067"/>
              <a:gd name="connsiteY5" fmla="*/ 1845733 h 1845733"/>
              <a:gd name="connsiteX6" fmla="*/ 0 w 5571067"/>
              <a:gd name="connsiteY6" fmla="*/ 0 h 184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1067" h="1845733">
                <a:moveTo>
                  <a:pt x="5571067" y="872066"/>
                </a:moveTo>
                <a:lnTo>
                  <a:pt x="3708400" y="872066"/>
                </a:lnTo>
                <a:lnTo>
                  <a:pt x="3708400" y="1244600"/>
                </a:lnTo>
                <a:lnTo>
                  <a:pt x="2853267" y="1244600"/>
                </a:lnTo>
                <a:lnTo>
                  <a:pt x="2853267" y="1845733"/>
                </a:lnTo>
                <a:lnTo>
                  <a:pt x="0" y="1845733"/>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4" name="자유형 323"/>
          <p:cNvSpPr/>
          <p:nvPr/>
        </p:nvSpPr>
        <p:spPr>
          <a:xfrm>
            <a:off x="422275" y="4905375"/>
            <a:ext cx="84667" cy="397933"/>
          </a:xfrm>
          <a:custGeom>
            <a:avLst/>
            <a:gdLst>
              <a:gd name="connsiteX0" fmla="*/ 84667 w 84667"/>
              <a:gd name="connsiteY0" fmla="*/ 0 h 397933"/>
              <a:gd name="connsiteX1" fmla="*/ 0 w 84667"/>
              <a:gd name="connsiteY1" fmla="*/ 0 h 397933"/>
              <a:gd name="connsiteX2" fmla="*/ 0 w 84667"/>
              <a:gd name="connsiteY2" fmla="*/ 397933 h 397933"/>
            </a:gdLst>
            <a:ahLst/>
            <a:cxnLst>
              <a:cxn ang="0">
                <a:pos x="connsiteX0" y="connsiteY0"/>
              </a:cxn>
              <a:cxn ang="0">
                <a:pos x="connsiteX1" y="connsiteY1"/>
              </a:cxn>
              <a:cxn ang="0">
                <a:pos x="connsiteX2" y="connsiteY2"/>
              </a:cxn>
            </a:cxnLst>
            <a:rect l="l" t="t" r="r" b="b"/>
            <a:pathLst>
              <a:path w="84667" h="397933">
                <a:moveTo>
                  <a:pt x="84667" y="0"/>
                </a:moveTo>
                <a:lnTo>
                  <a:pt x="0" y="0"/>
                </a:lnTo>
                <a:lnTo>
                  <a:pt x="0" y="397933"/>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5" name="자유형 324"/>
          <p:cNvSpPr/>
          <p:nvPr/>
        </p:nvSpPr>
        <p:spPr>
          <a:xfrm>
            <a:off x="6569075" y="2839508"/>
            <a:ext cx="186267" cy="745067"/>
          </a:xfrm>
          <a:custGeom>
            <a:avLst/>
            <a:gdLst>
              <a:gd name="connsiteX0" fmla="*/ 0 w 186267"/>
              <a:gd name="connsiteY0" fmla="*/ 745067 h 745067"/>
              <a:gd name="connsiteX1" fmla="*/ 0 w 186267"/>
              <a:gd name="connsiteY1" fmla="*/ 745067 h 745067"/>
              <a:gd name="connsiteX2" fmla="*/ 0 w 186267"/>
              <a:gd name="connsiteY2" fmla="*/ 0 h 745067"/>
              <a:gd name="connsiteX3" fmla="*/ 186267 w 186267"/>
              <a:gd name="connsiteY3" fmla="*/ 0 h 745067"/>
            </a:gdLst>
            <a:ahLst/>
            <a:cxnLst>
              <a:cxn ang="0">
                <a:pos x="connsiteX0" y="connsiteY0"/>
              </a:cxn>
              <a:cxn ang="0">
                <a:pos x="connsiteX1" y="connsiteY1"/>
              </a:cxn>
              <a:cxn ang="0">
                <a:pos x="connsiteX2" y="connsiteY2"/>
              </a:cxn>
              <a:cxn ang="0">
                <a:pos x="connsiteX3" y="connsiteY3"/>
              </a:cxn>
            </a:cxnLst>
            <a:rect l="l" t="t" r="r" b="b"/>
            <a:pathLst>
              <a:path w="186267" h="745067">
                <a:moveTo>
                  <a:pt x="0" y="745067"/>
                </a:moveTo>
                <a:lnTo>
                  <a:pt x="0" y="745067"/>
                </a:lnTo>
                <a:lnTo>
                  <a:pt x="0" y="0"/>
                </a:lnTo>
                <a:lnTo>
                  <a:pt x="186267"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6" name="자유형 325"/>
          <p:cNvSpPr/>
          <p:nvPr/>
        </p:nvSpPr>
        <p:spPr>
          <a:xfrm>
            <a:off x="6577542" y="4498975"/>
            <a:ext cx="1498600" cy="1244600"/>
          </a:xfrm>
          <a:custGeom>
            <a:avLst/>
            <a:gdLst>
              <a:gd name="connsiteX0" fmla="*/ 0 w 1498600"/>
              <a:gd name="connsiteY0" fmla="*/ 0 h 1244600"/>
              <a:gd name="connsiteX1" fmla="*/ 0 w 1498600"/>
              <a:gd name="connsiteY1" fmla="*/ 423333 h 1244600"/>
              <a:gd name="connsiteX2" fmla="*/ 1498600 w 1498600"/>
              <a:gd name="connsiteY2" fmla="*/ 423333 h 1244600"/>
              <a:gd name="connsiteX3" fmla="*/ 1498600 w 1498600"/>
              <a:gd name="connsiteY3" fmla="*/ 1244600 h 1244600"/>
            </a:gdLst>
            <a:ahLst/>
            <a:cxnLst>
              <a:cxn ang="0">
                <a:pos x="connsiteX0" y="connsiteY0"/>
              </a:cxn>
              <a:cxn ang="0">
                <a:pos x="connsiteX1" y="connsiteY1"/>
              </a:cxn>
              <a:cxn ang="0">
                <a:pos x="connsiteX2" y="connsiteY2"/>
              </a:cxn>
              <a:cxn ang="0">
                <a:pos x="connsiteX3" y="connsiteY3"/>
              </a:cxn>
            </a:cxnLst>
            <a:rect l="l" t="t" r="r" b="b"/>
            <a:pathLst>
              <a:path w="1498600" h="1244600">
                <a:moveTo>
                  <a:pt x="0" y="0"/>
                </a:moveTo>
                <a:lnTo>
                  <a:pt x="0" y="423333"/>
                </a:lnTo>
                <a:lnTo>
                  <a:pt x="1498600" y="423333"/>
                </a:lnTo>
                <a:lnTo>
                  <a:pt x="1498600" y="12446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94" name="직사각형 293">
            <a:extLst>
              <a:ext uri="{FF2B5EF4-FFF2-40B4-BE49-F238E27FC236}">
                <a16:creationId xmlns:a16="http://schemas.microsoft.com/office/drawing/2014/main" id="{9B6DE0DF-BFFF-497F-9FD1-C58A8CA97621}"/>
              </a:ext>
            </a:extLst>
          </p:cNvPr>
          <p:cNvSpPr/>
          <p:nvPr/>
        </p:nvSpPr>
        <p:spPr>
          <a:xfrm>
            <a:off x="8500191" y="3384273"/>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관련</a:t>
            </a:r>
          </a:p>
        </p:txBody>
      </p:sp>
      <p:sp>
        <p:nvSpPr>
          <p:cNvPr id="327" name="직사각형 326">
            <a:extLst>
              <a:ext uri="{FF2B5EF4-FFF2-40B4-BE49-F238E27FC236}">
                <a16:creationId xmlns:a16="http://schemas.microsoft.com/office/drawing/2014/main" id="{A6BC253F-D9C4-4A98-984C-D8D62D28E8E9}"/>
              </a:ext>
            </a:extLst>
          </p:cNvPr>
          <p:cNvSpPr/>
          <p:nvPr/>
        </p:nvSpPr>
        <p:spPr>
          <a:xfrm>
            <a:off x="9363869" y="3290897"/>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타절차와의 관계</a:t>
            </a:r>
            <a:r>
              <a:rPr lang="en-US" altLang="ko-KR" sz="1000" dirty="0"/>
              <a:t>(</a:t>
            </a:r>
            <a:r>
              <a:rPr lang="ko-KR" altLang="en-US" sz="1000" dirty="0"/>
              <a:t>法 </a:t>
            </a:r>
            <a:r>
              <a:rPr lang="en-US" altLang="ko-KR" sz="1000" dirty="0"/>
              <a:t>164)</a:t>
            </a:r>
            <a:endParaRPr lang="ko-KR" altLang="en-US" sz="1000" dirty="0"/>
          </a:p>
        </p:txBody>
      </p:sp>
      <p:sp>
        <p:nvSpPr>
          <p:cNvPr id="328" name="직사각형 327">
            <a:extLst>
              <a:ext uri="{FF2B5EF4-FFF2-40B4-BE49-F238E27FC236}">
                <a16:creationId xmlns:a16="http://schemas.microsoft.com/office/drawing/2014/main" id="{855EA2A3-2862-42AE-AC8B-FB8E8761530B}"/>
              </a:ext>
            </a:extLst>
          </p:cNvPr>
          <p:cNvSpPr/>
          <p:nvPr/>
        </p:nvSpPr>
        <p:spPr>
          <a:xfrm>
            <a:off x="9363869" y="372062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심판비용</a:t>
            </a:r>
            <a:r>
              <a:rPr lang="en-US" altLang="ko-KR" sz="1000" dirty="0"/>
              <a:t>(</a:t>
            </a:r>
            <a:r>
              <a:rPr lang="ko-KR" altLang="en-US" sz="1000" dirty="0"/>
              <a:t>法 </a:t>
            </a:r>
            <a:r>
              <a:rPr lang="en-US" altLang="ko-KR" sz="1000" dirty="0"/>
              <a:t>165, 166)</a:t>
            </a:r>
            <a:endParaRPr lang="ko-KR" altLang="en-US" sz="1000" dirty="0"/>
          </a:p>
        </p:txBody>
      </p:sp>
      <p:cxnSp>
        <p:nvCxnSpPr>
          <p:cNvPr id="329" name="꺾인 연결선 244">
            <a:extLst>
              <a:ext uri="{FF2B5EF4-FFF2-40B4-BE49-F238E27FC236}">
                <a16:creationId xmlns:a16="http://schemas.microsoft.com/office/drawing/2014/main" id="{A54F89B3-B4E9-4E0A-BB23-C1DB0F7A25D8}"/>
              </a:ext>
            </a:extLst>
          </p:cNvPr>
          <p:cNvCxnSpPr>
            <a:cxnSpLocks/>
            <a:stCxn id="294" idx="3"/>
            <a:endCxn id="308" idx="1"/>
          </p:cNvCxnSpPr>
          <p:nvPr/>
        </p:nvCxnSpPr>
        <p:spPr>
          <a:xfrm>
            <a:off x="9210221" y="3469781"/>
            <a:ext cx="151225" cy="1077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0" name="꺾인 연결선 245">
            <a:extLst>
              <a:ext uri="{FF2B5EF4-FFF2-40B4-BE49-F238E27FC236}">
                <a16:creationId xmlns:a16="http://schemas.microsoft.com/office/drawing/2014/main" id="{48543D6B-7C92-4D3D-B213-6D84DC780C17}"/>
              </a:ext>
            </a:extLst>
          </p:cNvPr>
          <p:cNvCxnSpPr>
            <a:cxnSpLocks/>
            <a:stCxn id="294" idx="3"/>
            <a:endCxn id="328" idx="1"/>
          </p:cNvCxnSpPr>
          <p:nvPr/>
        </p:nvCxnSpPr>
        <p:spPr>
          <a:xfrm>
            <a:off x="9210221" y="3469781"/>
            <a:ext cx="153648" cy="32012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연결선: 꺾임 6">
            <a:extLst>
              <a:ext uri="{FF2B5EF4-FFF2-40B4-BE49-F238E27FC236}">
                <a16:creationId xmlns:a16="http://schemas.microsoft.com/office/drawing/2014/main" id="{B370871F-6F80-4244-8543-0634A44D09BD}"/>
              </a:ext>
            </a:extLst>
          </p:cNvPr>
          <p:cNvCxnSpPr>
            <a:stCxn id="205" idx="3"/>
            <a:endCxn id="294" idx="1"/>
          </p:cNvCxnSpPr>
          <p:nvPr/>
        </p:nvCxnSpPr>
        <p:spPr>
          <a:xfrm>
            <a:off x="8336650" y="2489931"/>
            <a:ext cx="163541" cy="9798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8" name="직사각형 287">
            <a:extLst>
              <a:ext uri="{FF2B5EF4-FFF2-40B4-BE49-F238E27FC236}">
                <a16:creationId xmlns:a16="http://schemas.microsoft.com/office/drawing/2014/main" id="{CCF75EB5-ACDA-45AD-A3D7-EAD9647556E3}"/>
              </a:ext>
            </a:extLst>
          </p:cNvPr>
          <p:cNvSpPr/>
          <p:nvPr/>
        </p:nvSpPr>
        <p:spPr>
          <a:xfrm>
            <a:off x="9358843" y="1365202"/>
            <a:ext cx="2333212" cy="288480"/>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국선대리인</a:t>
            </a:r>
            <a:r>
              <a:rPr lang="en-US" altLang="ko-KR" sz="1000" dirty="0">
                <a:solidFill>
                  <a:schemeClr val="tx1"/>
                </a:solidFill>
              </a:rPr>
              <a:t>, </a:t>
            </a:r>
            <a:r>
              <a:rPr lang="ko-KR" altLang="en-US" sz="1000" dirty="0">
                <a:solidFill>
                  <a:schemeClr val="tx1"/>
                </a:solidFill>
              </a:rPr>
              <a:t>전문심리위원 및 참고인</a:t>
            </a:r>
            <a:endParaRPr lang="en-US" altLang="ko-KR" sz="1000" dirty="0">
              <a:solidFill>
                <a:schemeClr val="tx1"/>
              </a:solidFill>
            </a:endParaRPr>
          </a:p>
          <a:p>
            <a:pPr algn="ctr"/>
            <a:r>
              <a:rPr lang="en-US" altLang="ko-KR" sz="900" dirty="0">
                <a:solidFill>
                  <a:schemeClr val="tx1"/>
                </a:solidFill>
              </a:rPr>
              <a:t>(</a:t>
            </a:r>
            <a:r>
              <a:rPr lang="ko-KR" altLang="en-US" sz="900" dirty="0">
                <a:solidFill>
                  <a:schemeClr val="tx1"/>
                </a:solidFill>
              </a:rPr>
              <a:t>法 </a:t>
            </a:r>
            <a:r>
              <a:rPr lang="en-US" altLang="ko-KR" sz="900" dirty="0">
                <a:solidFill>
                  <a:schemeClr val="tx1"/>
                </a:solidFill>
              </a:rPr>
              <a:t>139</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3)</a:t>
            </a:r>
            <a:endParaRPr lang="ko-KR" altLang="en-US" sz="1100" dirty="0">
              <a:solidFill>
                <a:schemeClr val="tx1"/>
              </a:solidFill>
            </a:endParaRPr>
          </a:p>
        </p:txBody>
      </p:sp>
      <p:sp>
        <p:nvSpPr>
          <p:cNvPr id="308" name="직사각형 307">
            <a:extLst>
              <a:ext uri="{FF2B5EF4-FFF2-40B4-BE49-F238E27FC236}">
                <a16:creationId xmlns:a16="http://schemas.microsoft.com/office/drawing/2014/main" id="{FBCE5317-4D8A-4C1C-92B6-ECD14431C289}"/>
              </a:ext>
            </a:extLst>
          </p:cNvPr>
          <p:cNvSpPr/>
          <p:nvPr/>
        </p:nvSpPr>
        <p:spPr>
          <a:xfrm>
            <a:off x="9361446" y="3486404"/>
            <a:ext cx="2330609" cy="182239"/>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조정위원회 회부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164</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cxnSp>
        <p:nvCxnSpPr>
          <p:cNvPr id="331" name="꺾인 연결선 245">
            <a:extLst>
              <a:ext uri="{FF2B5EF4-FFF2-40B4-BE49-F238E27FC236}">
                <a16:creationId xmlns:a16="http://schemas.microsoft.com/office/drawing/2014/main" id="{8272E89B-C399-461C-82CA-028F1E621707}"/>
              </a:ext>
            </a:extLst>
          </p:cNvPr>
          <p:cNvCxnSpPr>
            <a:cxnSpLocks/>
            <a:stCxn id="294" idx="3"/>
            <a:endCxn id="327" idx="1"/>
          </p:cNvCxnSpPr>
          <p:nvPr/>
        </p:nvCxnSpPr>
        <p:spPr>
          <a:xfrm flipV="1">
            <a:off x="9210221" y="3360176"/>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5731252"/>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30</a:t>
            </a:r>
            <a:r>
              <a:rPr lang="ko-KR" altLang="en-US" dirty="0"/>
              <a:t>조</a:t>
            </a:r>
          </a:p>
        </p:txBody>
      </p:sp>
      <p:sp>
        <p:nvSpPr>
          <p:cNvPr id="4" name="텍스트 개체 틀 3"/>
          <p:cNvSpPr>
            <a:spLocks noGrp="1"/>
          </p:cNvSpPr>
          <p:nvPr>
            <p:ph type="body" sz="quarter" idx="13"/>
          </p:nvPr>
        </p:nvSpPr>
        <p:spPr/>
        <p:txBody>
          <a:bodyPr/>
          <a:lstStyle/>
          <a:p>
            <a:r>
              <a:rPr lang="ko-KR" altLang="en-US" dirty="0" err="1"/>
              <a:t>공지예외적용주장출원</a:t>
            </a:r>
            <a:r>
              <a:rPr lang="en-US" altLang="ko-KR" dirty="0"/>
              <a:t>(</a:t>
            </a:r>
            <a:r>
              <a:rPr lang="ko-KR" altLang="en-US" dirty="0"/>
              <a:t>제</a:t>
            </a:r>
            <a:r>
              <a:rPr lang="en-US" altLang="ko-KR" dirty="0"/>
              <a:t>30</a:t>
            </a:r>
            <a:r>
              <a:rPr lang="ko-KR" altLang="en-US" dirty="0"/>
              <a:t>조</a:t>
            </a:r>
            <a:r>
              <a:rPr lang="en-US" altLang="ko-KR" dirty="0"/>
              <a:t>)</a:t>
            </a:r>
            <a:r>
              <a:rPr lang="ko-KR" altLang="en-US" dirty="0"/>
              <a:t>의 법조문</a:t>
            </a:r>
          </a:p>
        </p:txBody>
      </p:sp>
      <p:sp>
        <p:nvSpPr>
          <p:cNvPr id="90" name="TextBox 89"/>
          <p:cNvSpPr txBox="1"/>
          <p:nvPr/>
        </p:nvSpPr>
        <p:spPr>
          <a:xfrm>
            <a:off x="77875" y="986046"/>
            <a:ext cx="11936323" cy="2893100"/>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30</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공지 등이 되지 아니한 발명으로 보는 경우</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특허를 받을 수 있는 권리를 가진 자의 발명이 다음 각 호의 어느 하나에 해당하게 된 경우 그 날부터 </a:t>
            </a:r>
            <a:r>
              <a:rPr lang="en-US" altLang="ko-KR" sz="1400" dirty="0">
                <a:solidFill>
                  <a:schemeClr val="tx2"/>
                </a:solidFill>
              </a:rPr>
              <a:t>12</a:t>
            </a:r>
            <a:r>
              <a:rPr lang="ko-KR" altLang="en-US" sz="1400" dirty="0">
                <a:solidFill>
                  <a:schemeClr val="tx2"/>
                </a:solidFill>
              </a:rPr>
              <a:t>개월 이내에 특허출원을 하면 그 </a:t>
            </a:r>
            <a:r>
              <a:rPr lang="ko-KR" altLang="en-US" sz="1400" dirty="0" err="1">
                <a:solidFill>
                  <a:schemeClr val="tx2"/>
                </a:solidFill>
              </a:rPr>
              <a:t>특허출원된</a:t>
            </a:r>
            <a:r>
              <a:rPr lang="ko-KR" altLang="en-US" sz="1400" dirty="0">
                <a:solidFill>
                  <a:schemeClr val="tx2"/>
                </a:solidFill>
              </a:rPr>
              <a:t> 발명에 대하여 제</a:t>
            </a:r>
            <a:r>
              <a:rPr lang="en-US" altLang="ko-KR" sz="1400" dirty="0">
                <a:solidFill>
                  <a:schemeClr val="tx2"/>
                </a:solidFill>
              </a:rPr>
              <a:t>29</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또는 제</a:t>
            </a:r>
            <a:r>
              <a:rPr lang="en-US" altLang="ko-KR" sz="1400" dirty="0">
                <a:solidFill>
                  <a:schemeClr val="tx2"/>
                </a:solidFill>
              </a:rPr>
              <a:t>2</a:t>
            </a:r>
            <a:r>
              <a:rPr lang="ko-KR" altLang="en-US" sz="1400" dirty="0">
                <a:solidFill>
                  <a:schemeClr val="tx2"/>
                </a:solidFill>
              </a:rPr>
              <a:t>항을 적용할 때에는 그 발명은 같은 조 제</a:t>
            </a:r>
            <a:r>
              <a:rPr lang="en-US" altLang="ko-KR" sz="1400" dirty="0">
                <a:solidFill>
                  <a:schemeClr val="tx2"/>
                </a:solidFill>
              </a:rPr>
              <a:t>1</a:t>
            </a:r>
            <a:r>
              <a:rPr lang="ko-KR" altLang="en-US" sz="1400" dirty="0">
                <a:solidFill>
                  <a:schemeClr val="tx2"/>
                </a:solidFill>
              </a:rPr>
              <a:t>항 각 호의 어느 하나에 해당하지 아니한 것으로 본다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특허를 받을 수 있는 권리를 가진 자에 의하여 그 발명이 제</a:t>
            </a:r>
            <a:r>
              <a:rPr lang="en-US" altLang="ko-KR" sz="1400" dirty="0">
                <a:solidFill>
                  <a:schemeClr val="tx2"/>
                </a:solidFill>
              </a:rPr>
              <a:t>29</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각 호의 어느 하나에 해당하게 된 경우</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조약 또는 법률에 따라 국내 또는 국외에서 </a:t>
            </a:r>
            <a:r>
              <a:rPr lang="ko-KR" altLang="en-US" sz="1400" dirty="0" err="1">
                <a:solidFill>
                  <a:schemeClr val="tx2"/>
                </a:solidFill>
              </a:rPr>
              <a:t>출원공개되거나</a:t>
            </a:r>
            <a:r>
              <a:rPr lang="ko-KR" altLang="en-US" sz="1400" dirty="0">
                <a:solidFill>
                  <a:schemeClr val="tx2"/>
                </a:solidFill>
              </a:rPr>
              <a:t> </a:t>
            </a:r>
            <a:r>
              <a:rPr lang="ko-KR" altLang="en-US" sz="1400" dirty="0" err="1">
                <a:solidFill>
                  <a:schemeClr val="tx2"/>
                </a:solidFill>
              </a:rPr>
              <a:t>등록공고된</a:t>
            </a:r>
            <a:r>
              <a:rPr lang="ko-KR" altLang="en-US" sz="1400" dirty="0">
                <a:solidFill>
                  <a:schemeClr val="tx2"/>
                </a:solidFill>
              </a:rPr>
              <a:t> 경우는 제외한다</a:t>
            </a:r>
            <a:r>
              <a:rPr lang="en-US" altLang="ko-KR" sz="1400" dirty="0">
                <a:solidFill>
                  <a:schemeClr val="tx2"/>
                </a:solidFill>
              </a:rPr>
              <a:t>.</a:t>
            </a:r>
          </a:p>
          <a:p>
            <a:pPr fontAlgn="base"/>
            <a:r>
              <a:rPr lang="en-US" altLang="ko-KR" sz="1400" dirty="0">
                <a:solidFill>
                  <a:schemeClr val="tx2"/>
                </a:solidFill>
              </a:rPr>
              <a:t>2. </a:t>
            </a:r>
            <a:r>
              <a:rPr lang="ko-KR" altLang="en-US" sz="1400" dirty="0">
                <a:solidFill>
                  <a:schemeClr val="tx2"/>
                </a:solidFill>
              </a:rPr>
              <a:t>특허를 받을 수 있는 권리를 가진 자의 의사에 반하여 그 발명이 제</a:t>
            </a:r>
            <a:r>
              <a:rPr lang="en-US" altLang="ko-KR" sz="1400" dirty="0">
                <a:solidFill>
                  <a:schemeClr val="tx2"/>
                </a:solidFill>
              </a:rPr>
              <a:t>29</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각 호의 어느 하나에 해당하게 된 경우</a:t>
            </a:r>
          </a:p>
          <a:p>
            <a:pPr fontAlgn="base"/>
            <a:r>
              <a:rPr lang="ko-KR" altLang="en-US" sz="1400" dirty="0">
                <a:solidFill>
                  <a:schemeClr val="tx2"/>
                </a:solidFill>
              </a:rPr>
              <a:t>② 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1</a:t>
            </a:r>
            <a:r>
              <a:rPr lang="ko-KR" altLang="en-US" sz="1400" dirty="0">
                <a:solidFill>
                  <a:schemeClr val="tx2"/>
                </a:solidFill>
              </a:rPr>
              <a:t>호를 </a:t>
            </a:r>
            <a:r>
              <a:rPr lang="ko-KR" altLang="en-US" sz="1400" dirty="0" err="1">
                <a:solidFill>
                  <a:schemeClr val="tx2"/>
                </a:solidFill>
              </a:rPr>
              <a:t>적용받으려는</a:t>
            </a:r>
            <a:r>
              <a:rPr lang="ko-KR" altLang="en-US" sz="1400" dirty="0">
                <a:solidFill>
                  <a:schemeClr val="tx2"/>
                </a:solidFill>
              </a:rPr>
              <a:t> 자는 </a:t>
            </a:r>
            <a:r>
              <a:rPr lang="ko-KR" altLang="en-US" sz="1400" dirty="0" err="1">
                <a:solidFill>
                  <a:schemeClr val="tx2"/>
                </a:solidFill>
              </a:rPr>
              <a:t>특허출원서에</a:t>
            </a:r>
            <a:r>
              <a:rPr lang="ko-KR" altLang="en-US" sz="1400" dirty="0">
                <a:solidFill>
                  <a:schemeClr val="tx2"/>
                </a:solidFill>
              </a:rPr>
              <a:t> 그 취지를 적어 출원하여야 하고</a:t>
            </a:r>
            <a:r>
              <a:rPr lang="en-US" altLang="ko-KR" sz="1400" dirty="0">
                <a:solidFill>
                  <a:schemeClr val="tx2"/>
                </a:solidFill>
              </a:rPr>
              <a:t>, </a:t>
            </a:r>
            <a:r>
              <a:rPr lang="ko-KR" altLang="en-US" sz="1400" dirty="0">
                <a:solidFill>
                  <a:schemeClr val="tx2"/>
                </a:solidFill>
              </a:rPr>
              <a:t>이를 증명할 수 있는 서류를 총리령으로 정하는 방법에 따라 </a:t>
            </a:r>
            <a:r>
              <a:rPr lang="ko-KR" altLang="en-US" sz="1400" dirty="0" err="1">
                <a:solidFill>
                  <a:schemeClr val="tx2"/>
                </a:solidFill>
              </a:rPr>
              <a:t>특허출원일부터</a:t>
            </a:r>
            <a:r>
              <a:rPr lang="ko-KR" altLang="en-US" sz="1400" dirty="0">
                <a:solidFill>
                  <a:schemeClr val="tx2"/>
                </a:solidFill>
              </a:rPr>
              <a:t> </a:t>
            </a:r>
            <a:r>
              <a:rPr lang="en-US" altLang="ko-KR" sz="1400" dirty="0">
                <a:solidFill>
                  <a:schemeClr val="tx2"/>
                </a:solidFill>
              </a:rPr>
              <a:t>30</a:t>
            </a:r>
            <a:r>
              <a:rPr lang="ko-KR" altLang="en-US" sz="1400" dirty="0">
                <a:solidFill>
                  <a:schemeClr val="tx2"/>
                </a:solidFill>
              </a:rPr>
              <a:t>일 이내에 지식재산처장에게 제출하여야 한다</a:t>
            </a:r>
            <a:r>
              <a:rPr lang="en-US" altLang="ko-KR" sz="1400" dirty="0">
                <a:solidFill>
                  <a:schemeClr val="tx2"/>
                </a:solidFill>
              </a:rPr>
              <a:t>.</a:t>
            </a:r>
          </a:p>
          <a:p>
            <a:pPr fontAlgn="base"/>
            <a:r>
              <a:rPr lang="en-US" altLang="ko-KR" sz="1400" dirty="0">
                <a:solidFill>
                  <a:schemeClr val="tx2"/>
                </a:solidFill>
              </a:rPr>
              <a:t>③ </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항에도 불구하고 총리령으로 정하는 보완수수료를 납부한 경우에는 다음 각 호의 어느 하나에 해당하는 기간에 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1</a:t>
            </a:r>
            <a:r>
              <a:rPr lang="ko-KR" altLang="en-US" sz="1400" dirty="0">
                <a:solidFill>
                  <a:schemeClr val="tx2"/>
                </a:solidFill>
              </a:rPr>
              <a:t>호를 </a:t>
            </a:r>
            <a:r>
              <a:rPr lang="ko-KR" altLang="en-US" sz="1400" dirty="0" err="1">
                <a:solidFill>
                  <a:schemeClr val="tx2"/>
                </a:solidFill>
              </a:rPr>
              <a:t>적용받으려는</a:t>
            </a:r>
            <a:r>
              <a:rPr lang="ko-KR" altLang="en-US" sz="1400" dirty="0">
                <a:solidFill>
                  <a:schemeClr val="tx2"/>
                </a:solidFill>
              </a:rPr>
              <a:t> 취지를 적은 서류 또는 이를 증명할 수 있는 서류를 제출할 수 있다</a:t>
            </a:r>
            <a:endParaRPr lang="en-US" altLang="ko-KR" sz="1400" dirty="0">
              <a:solidFill>
                <a:schemeClr val="tx2"/>
              </a:solidFill>
            </a:endParaRPr>
          </a:p>
          <a:p>
            <a:pPr fontAlgn="base"/>
            <a:r>
              <a:rPr lang="en-US" altLang="ko-KR" sz="1400" dirty="0">
                <a:solidFill>
                  <a:schemeClr val="tx2"/>
                </a:solidFill>
              </a:rPr>
              <a:t>1. </a:t>
            </a:r>
            <a:r>
              <a:rPr lang="ko-KR" altLang="en-US" sz="1400" dirty="0">
                <a:solidFill>
                  <a:schemeClr val="tx2"/>
                </a:solidFill>
              </a:rPr>
              <a:t>제</a:t>
            </a:r>
            <a:r>
              <a:rPr lang="en-US" altLang="ko-KR" sz="1400" dirty="0">
                <a:solidFill>
                  <a:schemeClr val="tx2"/>
                </a:solidFill>
              </a:rPr>
              <a:t>47</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따라 보정할 수 있는 기간</a:t>
            </a:r>
          </a:p>
          <a:p>
            <a:pPr fontAlgn="base"/>
            <a:r>
              <a:rPr lang="en-US" altLang="ko-KR" sz="1400" dirty="0">
                <a:solidFill>
                  <a:schemeClr val="tx2"/>
                </a:solidFill>
              </a:rPr>
              <a:t>2. </a:t>
            </a:r>
            <a:r>
              <a:rPr lang="ko-KR" altLang="en-US" sz="1400" dirty="0">
                <a:solidFill>
                  <a:schemeClr val="tx2"/>
                </a:solidFill>
              </a:rPr>
              <a:t>제</a:t>
            </a:r>
            <a:r>
              <a:rPr lang="en-US" altLang="ko-KR" sz="1400" dirty="0">
                <a:solidFill>
                  <a:schemeClr val="tx2"/>
                </a:solidFill>
              </a:rPr>
              <a:t>66</a:t>
            </a:r>
            <a:r>
              <a:rPr lang="ko-KR" altLang="en-US" sz="1400" dirty="0">
                <a:solidFill>
                  <a:schemeClr val="tx2"/>
                </a:solidFill>
              </a:rPr>
              <a:t>조에 따른 특허결정 또는 제</a:t>
            </a:r>
            <a:r>
              <a:rPr lang="en-US" altLang="ko-KR" sz="1400" dirty="0">
                <a:solidFill>
                  <a:schemeClr val="tx2"/>
                </a:solidFill>
              </a:rPr>
              <a:t>176</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특허거절결정 </a:t>
            </a:r>
            <a:r>
              <a:rPr lang="ko-KR" altLang="en-US" sz="1400" dirty="0" err="1">
                <a:solidFill>
                  <a:schemeClr val="tx2"/>
                </a:solidFill>
              </a:rPr>
              <a:t>취소심결</a:t>
            </a:r>
            <a:r>
              <a:rPr lang="en-US" altLang="ko-KR" sz="1400" dirty="0">
                <a:solidFill>
                  <a:schemeClr val="tx2"/>
                </a:solidFill>
              </a:rPr>
              <a:t>(</a:t>
            </a:r>
            <a:r>
              <a:rPr lang="ko-KR" altLang="en-US" sz="1400" dirty="0">
                <a:solidFill>
                  <a:schemeClr val="tx2"/>
                </a:solidFill>
              </a:rPr>
              <a:t>특허등록을 결정한 </a:t>
            </a:r>
            <a:r>
              <a:rPr lang="ko-KR" altLang="en-US" sz="1400" dirty="0" err="1">
                <a:solidFill>
                  <a:schemeClr val="tx2"/>
                </a:solidFill>
              </a:rPr>
              <a:t>심결에</a:t>
            </a:r>
            <a:r>
              <a:rPr lang="ko-KR" altLang="en-US" sz="1400" dirty="0">
                <a:solidFill>
                  <a:schemeClr val="tx2"/>
                </a:solidFill>
              </a:rPr>
              <a:t> 한정하되</a:t>
            </a:r>
            <a:r>
              <a:rPr lang="en-US" altLang="ko-KR" sz="1400" dirty="0">
                <a:solidFill>
                  <a:schemeClr val="tx2"/>
                </a:solidFill>
              </a:rPr>
              <a:t>, </a:t>
            </a:r>
            <a:r>
              <a:rPr lang="ko-KR" altLang="en-US" sz="1400" dirty="0" err="1">
                <a:solidFill>
                  <a:schemeClr val="tx2"/>
                </a:solidFill>
              </a:rPr>
              <a:t>재심심결을</a:t>
            </a:r>
            <a:r>
              <a:rPr lang="ko-KR" altLang="en-US" sz="1400" dirty="0">
                <a:solidFill>
                  <a:schemeClr val="tx2"/>
                </a:solidFill>
              </a:rPr>
              <a:t> 포함한다</a:t>
            </a:r>
            <a:r>
              <a:rPr lang="en-US" altLang="ko-KR" sz="1400" dirty="0">
                <a:solidFill>
                  <a:schemeClr val="tx2"/>
                </a:solidFill>
              </a:rPr>
              <a:t>)</a:t>
            </a:r>
            <a:r>
              <a:rPr lang="ko-KR" altLang="en-US" sz="1400" dirty="0">
                <a:solidFill>
                  <a:schemeClr val="tx2"/>
                </a:solidFill>
              </a:rPr>
              <a:t>의 등본을 </a:t>
            </a:r>
            <a:r>
              <a:rPr lang="ko-KR" altLang="en-US" sz="1400" dirty="0" err="1">
                <a:solidFill>
                  <a:schemeClr val="tx2"/>
                </a:solidFill>
              </a:rPr>
              <a:t>송달받은</a:t>
            </a:r>
            <a:r>
              <a:rPr lang="ko-KR" altLang="en-US" sz="1400" dirty="0">
                <a:solidFill>
                  <a:schemeClr val="tx2"/>
                </a:solidFill>
              </a:rPr>
              <a:t> 날부터 </a:t>
            </a:r>
            <a:r>
              <a:rPr lang="en-US" altLang="ko-KR" sz="1400" dirty="0">
                <a:solidFill>
                  <a:schemeClr val="tx2"/>
                </a:solidFill>
              </a:rPr>
              <a:t>3</a:t>
            </a:r>
            <a:r>
              <a:rPr lang="ko-KR" altLang="en-US" sz="1400" dirty="0">
                <a:solidFill>
                  <a:schemeClr val="tx2"/>
                </a:solidFill>
              </a:rPr>
              <a:t>개월 이내의 기간</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79</a:t>
            </a:r>
            <a:r>
              <a:rPr lang="ko-KR" altLang="en-US" sz="1400" dirty="0">
                <a:solidFill>
                  <a:schemeClr val="tx2"/>
                </a:solidFill>
              </a:rPr>
              <a:t>조에 따른 설정등록을 받으려는 날이 </a:t>
            </a:r>
            <a:r>
              <a:rPr lang="en-US" altLang="ko-KR" sz="1400" dirty="0">
                <a:solidFill>
                  <a:schemeClr val="tx2"/>
                </a:solidFill>
              </a:rPr>
              <a:t>3</a:t>
            </a:r>
            <a:r>
              <a:rPr lang="ko-KR" altLang="en-US" sz="1400" dirty="0">
                <a:solidFill>
                  <a:schemeClr val="tx2"/>
                </a:solidFill>
              </a:rPr>
              <a:t>개월보다 짧은 경우에는 그 날까지의 기간</a:t>
            </a:r>
          </a:p>
        </p:txBody>
      </p:sp>
      <p:cxnSp>
        <p:nvCxnSpPr>
          <p:cNvPr id="91" name="직선 연결선 90"/>
          <p:cNvCxnSpPr/>
          <p:nvPr/>
        </p:nvCxnSpPr>
        <p:spPr>
          <a:xfrm>
            <a:off x="0" y="389548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곱셈 기호 58"/>
          <p:cNvSpPr/>
          <p:nvPr/>
        </p:nvSpPr>
        <p:spPr>
          <a:xfrm>
            <a:off x="1032933" y="3860766"/>
            <a:ext cx="1879600" cy="1809001"/>
          </a:xfrm>
          <a:prstGeom prst="mathMultiply">
            <a:avLst>
              <a:gd name="adj1" fmla="val 13691"/>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0" name="직선 연결선 59"/>
          <p:cNvCxnSpPr/>
          <p:nvPr/>
        </p:nvCxnSpPr>
        <p:spPr>
          <a:xfrm>
            <a:off x="533400" y="4795887"/>
            <a:ext cx="1104053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1207777" y="4595990"/>
            <a:ext cx="1532792" cy="338554"/>
          </a:xfrm>
          <a:prstGeom prst="rect">
            <a:avLst/>
          </a:prstGeom>
          <a:solidFill>
            <a:schemeClr val="accent4">
              <a:lumMod val="40000"/>
              <a:lumOff val="60000"/>
            </a:schemeClr>
          </a:solidFill>
          <a:ln>
            <a:solidFill>
              <a:schemeClr val="bg1">
                <a:lumMod val="50000"/>
              </a:schemeClr>
            </a:solidFill>
          </a:ln>
        </p:spPr>
        <p:txBody>
          <a:bodyPr wrap="none" rtlCol="0">
            <a:spAutoFit/>
          </a:bodyPr>
          <a:lstStyle/>
          <a:p>
            <a:r>
              <a:rPr lang="ko-KR" altLang="en-US" sz="1600" dirty="0"/>
              <a:t>국내외 </a:t>
            </a:r>
            <a:r>
              <a:rPr lang="ko-KR" altLang="en-US" sz="1600" dirty="0" err="1"/>
              <a:t>공지기술</a:t>
            </a:r>
            <a:endParaRPr lang="ko-KR" altLang="en-US" sz="1600" dirty="0"/>
          </a:p>
        </p:txBody>
      </p:sp>
      <p:sp>
        <p:nvSpPr>
          <p:cNvPr id="62" name="TextBox 61"/>
          <p:cNvSpPr txBox="1"/>
          <p:nvPr/>
        </p:nvSpPr>
        <p:spPr>
          <a:xfrm>
            <a:off x="839086" y="5381986"/>
            <a:ext cx="2270173" cy="338554"/>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1600"/>
              <a:t>공지예외적용사유에 해당</a:t>
            </a:r>
            <a:endParaRPr lang="ko-KR" altLang="en-US" sz="1600" dirty="0"/>
          </a:p>
        </p:txBody>
      </p:sp>
      <p:cxnSp>
        <p:nvCxnSpPr>
          <p:cNvPr id="63" name="직선 화살표 연결선 62"/>
          <p:cNvCxnSpPr>
            <a:stCxn id="62" idx="0"/>
            <a:endCxn id="61" idx="2"/>
          </p:cNvCxnSpPr>
          <p:nvPr/>
        </p:nvCxnSpPr>
        <p:spPr>
          <a:xfrm flipV="1">
            <a:off x="1974173" y="4934544"/>
            <a:ext cx="0" cy="44744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원호 63"/>
          <p:cNvSpPr/>
          <p:nvPr/>
        </p:nvSpPr>
        <p:spPr>
          <a:xfrm>
            <a:off x="1974173" y="4207927"/>
            <a:ext cx="3757760" cy="726617"/>
          </a:xfrm>
          <a:prstGeom prst="arc">
            <a:avLst>
              <a:gd name="adj1" fmla="val 10770506"/>
              <a:gd name="adj2" fmla="val 0"/>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66" name="원호 65"/>
          <p:cNvSpPr/>
          <p:nvPr/>
        </p:nvSpPr>
        <p:spPr>
          <a:xfrm>
            <a:off x="5840048" y="4216395"/>
            <a:ext cx="3757760" cy="1056830"/>
          </a:xfrm>
          <a:prstGeom prst="arc">
            <a:avLst>
              <a:gd name="adj1" fmla="val 10770506"/>
              <a:gd name="adj2" fmla="val 31122"/>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78" name="TextBox 77"/>
          <p:cNvSpPr txBox="1"/>
          <p:nvPr/>
        </p:nvSpPr>
        <p:spPr>
          <a:xfrm>
            <a:off x="5379025" y="4595990"/>
            <a:ext cx="922047" cy="338554"/>
          </a:xfrm>
          <a:prstGeom prst="rect">
            <a:avLst/>
          </a:prstGeom>
          <a:solidFill>
            <a:schemeClr val="accent4">
              <a:lumMod val="40000"/>
              <a:lumOff val="60000"/>
            </a:schemeClr>
          </a:solidFill>
          <a:ln>
            <a:solidFill>
              <a:schemeClr val="bg1">
                <a:lumMod val="50000"/>
              </a:schemeClr>
            </a:solidFill>
          </a:ln>
        </p:spPr>
        <p:txBody>
          <a:bodyPr wrap="none" rtlCol="0">
            <a:spAutoFit/>
          </a:bodyPr>
          <a:lstStyle/>
          <a:p>
            <a:r>
              <a:rPr lang="ko-KR" altLang="en-US" sz="1600" dirty="0"/>
              <a:t>특허출원</a:t>
            </a:r>
          </a:p>
        </p:txBody>
      </p:sp>
      <p:sp>
        <p:nvSpPr>
          <p:cNvPr id="80" name="TextBox 79"/>
          <p:cNvSpPr txBox="1"/>
          <p:nvPr/>
        </p:nvSpPr>
        <p:spPr>
          <a:xfrm>
            <a:off x="5009773" y="5381986"/>
            <a:ext cx="1659429" cy="338554"/>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sz="1600" dirty="0"/>
              <a:t>공지예외적용주장</a:t>
            </a:r>
          </a:p>
        </p:txBody>
      </p:sp>
      <p:sp>
        <p:nvSpPr>
          <p:cNvPr id="83" name="TextBox 82"/>
          <p:cNvSpPr txBox="1"/>
          <p:nvPr/>
        </p:nvSpPr>
        <p:spPr>
          <a:xfrm>
            <a:off x="8669868" y="5381986"/>
            <a:ext cx="1159934" cy="338554"/>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sz="1600" dirty="0"/>
              <a:t>증명서류</a:t>
            </a:r>
            <a:r>
              <a:rPr lang="en-US" altLang="ko-KR" sz="1600" dirty="0"/>
              <a:t>*</a:t>
            </a:r>
            <a:endParaRPr lang="ko-KR" altLang="en-US" sz="1600" dirty="0"/>
          </a:p>
        </p:txBody>
      </p:sp>
      <p:cxnSp>
        <p:nvCxnSpPr>
          <p:cNvPr id="84" name="직선 화살표 연결선 83"/>
          <p:cNvCxnSpPr>
            <a:stCxn id="80" idx="0"/>
            <a:endCxn id="78" idx="2"/>
          </p:cNvCxnSpPr>
          <p:nvPr/>
        </p:nvCxnSpPr>
        <p:spPr>
          <a:xfrm flipV="1">
            <a:off x="5839488" y="4934544"/>
            <a:ext cx="561" cy="44744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직선 화살표 연결선 84"/>
          <p:cNvCxnSpPr/>
          <p:nvPr/>
        </p:nvCxnSpPr>
        <p:spPr>
          <a:xfrm flipV="1">
            <a:off x="9251554" y="4795887"/>
            <a:ext cx="0" cy="58609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6" name="TextBox 85"/>
          <p:cNvSpPr txBox="1"/>
          <p:nvPr/>
        </p:nvSpPr>
        <p:spPr>
          <a:xfrm>
            <a:off x="3513667" y="3964796"/>
            <a:ext cx="949299" cy="276999"/>
          </a:xfrm>
          <a:prstGeom prst="rect">
            <a:avLst/>
          </a:prstGeom>
          <a:noFill/>
        </p:spPr>
        <p:txBody>
          <a:bodyPr wrap="none" rtlCol="0">
            <a:spAutoFit/>
          </a:bodyPr>
          <a:lstStyle/>
          <a:p>
            <a:r>
              <a:rPr lang="en-US" altLang="ko-KR" sz="1200" dirty="0">
                <a:solidFill>
                  <a:schemeClr val="tx2"/>
                </a:solidFill>
              </a:rPr>
              <a:t>12</a:t>
            </a:r>
            <a:r>
              <a:rPr lang="ko-KR" altLang="en-US" sz="1200" dirty="0">
                <a:solidFill>
                  <a:schemeClr val="tx2"/>
                </a:solidFill>
              </a:rPr>
              <a:t>개월 이내</a:t>
            </a:r>
          </a:p>
        </p:txBody>
      </p:sp>
      <p:sp>
        <p:nvSpPr>
          <p:cNvPr id="87" name="TextBox 86"/>
          <p:cNvSpPr txBox="1"/>
          <p:nvPr/>
        </p:nvSpPr>
        <p:spPr>
          <a:xfrm>
            <a:off x="7349067" y="3964796"/>
            <a:ext cx="811441" cy="276999"/>
          </a:xfrm>
          <a:prstGeom prst="rect">
            <a:avLst/>
          </a:prstGeom>
          <a:noFill/>
        </p:spPr>
        <p:txBody>
          <a:bodyPr wrap="none" rtlCol="0">
            <a:spAutoFit/>
          </a:bodyPr>
          <a:lstStyle/>
          <a:p>
            <a:r>
              <a:rPr lang="en-US" altLang="ko-KR" sz="1200" dirty="0">
                <a:solidFill>
                  <a:schemeClr val="tx2"/>
                </a:solidFill>
              </a:rPr>
              <a:t>30</a:t>
            </a:r>
            <a:r>
              <a:rPr lang="ko-KR" altLang="en-US" sz="1200" dirty="0">
                <a:solidFill>
                  <a:schemeClr val="tx2"/>
                </a:solidFill>
              </a:rPr>
              <a:t>일 이내</a:t>
            </a:r>
          </a:p>
        </p:txBody>
      </p:sp>
      <p:sp>
        <p:nvSpPr>
          <p:cNvPr id="88" name="TextBox 87"/>
          <p:cNvSpPr txBox="1"/>
          <p:nvPr/>
        </p:nvSpPr>
        <p:spPr>
          <a:xfrm>
            <a:off x="1974173" y="5881519"/>
            <a:ext cx="2587568" cy="338554"/>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1600" dirty="0"/>
              <a:t>의사에 의한 공지</a:t>
            </a:r>
            <a:r>
              <a:rPr lang="en-US" altLang="ko-KR" sz="1600" dirty="0"/>
              <a:t>(</a:t>
            </a:r>
            <a:r>
              <a:rPr lang="ko-KR" altLang="en-US" sz="1600" dirty="0"/>
              <a:t>法 </a:t>
            </a:r>
            <a:r>
              <a:rPr lang="en-US" altLang="ko-KR" sz="1600" dirty="0"/>
              <a:t>30①Ⅰ)</a:t>
            </a:r>
            <a:endParaRPr lang="ko-KR" altLang="en-US" sz="1600" dirty="0"/>
          </a:p>
        </p:txBody>
      </p:sp>
      <p:sp>
        <p:nvSpPr>
          <p:cNvPr id="89" name="TextBox 88"/>
          <p:cNvSpPr txBox="1"/>
          <p:nvPr/>
        </p:nvSpPr>
        <p:spPr>
          <a:xfrm>
            <a:off x="1974173" y="6321785"/>
            <a:ext cx="2587568" cy="338554"/>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1600" dirty="0"/>
              <a:t>의사에 반한 공지</a:t>
            </a:r>
            <a:r>
              <a:rPr lang="en-US" altLang="ko-KR" sz="1600" dirty="0"/>
              <a:t>(</a:t>
            </a:r>
            <a:r>
              <a:rPr lang="ko-KR" altLang="en-US" sz="1600" dirty="0"/>
              <a:t>法 </a:t>
            </a:r>
            <a:r>
              <a:rPr lang="en-US" altLang="ko-KR" sz="1600" dirty="0"/>
              <a:t>30①Ⅱ)</a:t>
            </a:r>
            <a:endParaRPr lang="ko-KR" altLang="en-US" sz="1600" dirty="0"/>
          </a:p>
        </p:txBody>
      </p:sp>
      <p:sp>
        <p:nvSpPr>
          <p:cNvPr id="92" name="자유형 91"/>
          <p:cNvSpPr/>
          <p:nvPr/>
        </p:nvSpPr>
        <p:spPr>
          <a:xfrm>
            <a:off x="1447800" y="5731933"/>
            <a:ext cx="524933" cy="318863"/>
          </a:xfrm>
          <a:custGeom>
            <a:avLst/>
            <a:gdLst>
              <a:gd name="connsiteX0" fmla="*/ 0 w 524933"/>
              <a:gd name="connsiteY0" fmla="*/ 0 h 364067"/>
              <a:gd name="connsiteX1" fmla="*/ 0 w 524933"/>
              <a:gd name="connsiteY1" fmla="*/ 364067 h 364067"/>
              <a:gd name="connsiteX2" fmla="*/ 524933 w 524933"/>
              <a:gd name="connsiteY2" fmla="*/ 364067 h 364067"/>
            </a:gdLst>
            <a:ahLst/>
            <a:cxnLst>
              <a:cxn ang="0">
                <a:pos x="connsiteX0" y="connsiteY0"/>
              </a:cxn>
              <a:cxn ang="0">
                <a:pos x="connsiteX1" y="connsiteY1"/>
              </a:cxn>
              <a:cxn ang="0">
                <a:pos x="connsiteX2" y="connsiteY2"/>
              </a:cxn>
            </a:cxnLst>
            <a:rect l="l" t="t" r="r" b="b"/>
            <a:pathLst>
              <a:path w="524933" h="364067">
                <a:moveTo>
                  <a:pt x="0" y="0"/>
                </a:moveTo>
                <a:lnTo>
                  <a:pt x="0" y="364067"/>
                </a:lnTo>
                <a:lnTo>
                  <a:pt x="524933" y="364067"/>
                </a:lnTo>
              </a:path>
            </a:pathLst>
          </a:cu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93" name="자유형 92"/>
          <p:cNvSpPr/>
          <p:nvPr/>
        </p:nvSpPr>
        <p:spPr>
          <a:xfrm>
            <a:off x="1447800" y="5723467"/>
            <a:ext cx="524933" cy="770466"/>
          </a:xfrm>
          <a:custGeom>
            <a:avLst/>
            <a:gdLst>
              <a:gd name="connsiteX0" fmla="*/ 0 w 524933"/>
              <a:gd name="connsiteY0" fmla="*/ 0 h 770466"/>
              <a:gd name="connsiteX1" fmla="*/ 0 w 524933"/>
              <a:gd name="connsiteY1" fmla="*/ 770466 h 770466"/>
              <a:gd name="connsiteX2" fmla="*/ 524933 w 524933"/>
              <a:gd name="connsiteY2" fmla="*/ 770466 h 770466"/>
            </a:gdLst>
            <a:ahLst/>
            <a:cxnLst>
              <a:cxn ang="0">
                <a:pos x="connsiteX0" y="connsiteY0"/>
              </a:cxn>
              <a:cxn ang="0">
                <a:pos x="connsiteX1" y="connsiteY1"/>
              </a:cxn>
              <a:cxn ang="0">
                <a:pos x="connsiteX2" y="connsiteY2"/>
              </a:cxn>
            </a:cxnLst>
            <a:rect l="l" t="t" r="r" b="b"/>
            <a:pathLst>
              <a:path w="524933" h="770466">
                <a:moveTo>
                  <a:pt x="0" y="0"/>
                </a:moveTo>
                <a:lnTo>
                  <a:pt x="0" y="770466"/>
                </a:lnTo>
                <a:lnTo>
                  <a:pt x="524933" y="770466"/>
                </a:lnTo>
              </a:path>
            </a:pathLst>
          </a:cu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94" name="직사각형 93"/>
          <p:cNvSpPr/>
          <p:nvPr/>
        </p:nvSpPr>
        <p:spPr>
          <a:xfrm>
            <a:off x="4893733" y="5273225"/>
            <a:ext cx="6773334" cy="946848"/>
          </a:xfrm>
          <a:prstGeom prst="rect">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r"/>
            <a:r>
              <a:rPr lang="ko-KR" altLang="en-US" dirty="0">
                <a:solidFill>
                  <a:srgbClr val="FF0000"/>
                </a:solidFill>
              </a:rPr>
              <a:t>의사에 의한 공지</a:t>
            </a:r>
            <a:r>
              <a:rPr lang="en-US" altLang="ko-KR" dirty="0">
                <a:solidFill>
                  <a:srgbClr val="FF0000"/>
                </a:solidFill>
              </a:rPr>
              <a:t>(</a:t>
            </a:r>
            <a:r>
              <a:rPr lang="ko-KR" altLang="en-US" dirty="0">
                <a:solidFill>
                  <a:srgbClr val="FF0000"/>
                </a:solidFill>
              </a:rPr>
              <a:t>法 </a:t>
            </a:r>
            <a:r>
              <a:rPr lang="en-US" altLang="ko-KR" dirty="0">
                <a:solidFill>
                  <a:srgbClr val="FF0000"/>
                </a:solidFill>
              </a:rPr>
              <a:t>30①Ⅰ)</a:t>
            </a:r>
            <a:r>
              <a:rPr lang="ko-KR" altLang="en-US" dirty="0">
                <a:solidFill>
                  <a:srgbClr val="FF0000"/>
                </a:solidFill>
              </a:rPr>
              <a:t>만 해당</a:t>
            </a:r>
            <a:endParaRPr lang="en-US" altLang="ko-KR" dirty="0">
              <a:solidFill>
                <a:srgbClr val="FF0000"/>
              </a:solidFill>
            </a:endParaRPr>
          </a:p>
        </p:txBody>
      </p:sp>
      <p:sp>
        <p:nvSpPr>
          <p:cNvPr id="95" name="TextBox 94"/>
          <p:cNvSpPr txBox="1"/>
          <p:nvPr/>
        </p:nvSpPr>
        <p:spPr>
          <a:xfrm>
            <a:off x="4893733" y="6321785"/>
            <a:ext cx="6773334" cy="338554"/>
          </a:xfrm>
          <a:prstGeom prst="rect">
            <a:avLst/>
          </a:prstGeom>
          <a:noFill/>
          <a:ln>
            <a:noFill/>
          </a:ln>
        </p:spPr>
        <p:txBody>
          <a:bodyPr wrap="square" rtlCol="0">
            <a:noAutofit/>
          </a:bodyPr>
          <a:lstStyle/>
          <a:p>
            <a:r>
              <a:rPr lang="en-US" altLang="ko-KR" sz="1200" dirty="0"/>
              <a:t>*ⅰ) </a:t>
            </a:r>
            <a:r>
              <a:rPr lang="ko-KR" altLang="en-US" sz="1200" dirty="0"/>
              <a:t>공개일</a:t>
            </a:r>
            <a:r>
              <a:rPr lang="en-US" altLang="ko-KR" sz="1200" dirty="0"/>
              <a:t>, ⅱ) </a:t>
            </a:r>
            <a:r>
              <a:rPr lang="ko-KR" altLang="en-US" sz="1200" dirty="0"/>
              <a:t>공개자</a:t>
            </a:r>
            <a:r>
              <a:rPr lang="en-US" altLang="ko-KR" sz="1200" dirty="0"/>
              <a:t>, ⅲ) </a:t>
            </a:r>
            <a:r>
              <a:rPr lang="ko-KR" altLang="en-US" sz="1200" dirty="0"/>
              <a:t>공개형태</a:t>
            </a:r>
            <a:r>
              <a:rPr lang="en-US" altLang="ko-KR" sz="1200" dirty="0"/>
              <a:t>, ⅳ) </a:t>
            </a:r>
            <a:r>
              <a:rPr lang="ko-KR" altLang="en-US" sz="1200" dirty="0"/>
              <a:t>공개된 발명의 내용 등이 포함되어야 한다</a:t>
            </a:r>
          </a:p>
          <a:p>
            <a:endParaRPr lang="ko-KR" altLang="en-US" sz="1200" dirty="0"/>
          </a:p>
        </p:txBody>
      </p:sp>
      <p:sp>
        <p:nvSpPr>
          <p:cNvPr id="96" name="직사각형 95"/>
          <p:cNvSpPr/>
          <p:nvPr/>
        </p:nvSpPr>
        <p:spPr>
          <a:xfrm>
            <a:off x="8419784" y="5273225"/>
            <a:ext cx="415498" cy="369332"/>
          </a:xfrm>
          <a:prstGeom prst="rect">
            <a:avLst/>
          </a:prstGeom>
        </p:spPr>
        <p:txBody>
          <a:bodyPr wrap="none">
            <a:spAutoFit/>
          </a:bodyPr>
          <a:lstStyle/>
          <a:p>
            <a:pPr fontAlgn="base"/>
            <a:r>
              <a:rPr lang="ko-KR" altLang="en-US" dirty="0">
                <a:solidFill>
                  <a:schemeClr val="accent4"/>
                </a:solidFill>
              </a:rPr>
              <a:t>❹</a:t>
            </a:r>
          </a:p>
        </p:txBody>
      </p:sp>
      <p:sp>
        <p:nvSpPr>
          <p:cNvPr id="97" name="직사각형 96"/>
          <p:cNvSpPr/>
          <p:nvPr/>
        </p:nvSpPr>
        <p:spPr>
          <a:xfrm>
            <a:off x="646751" y="5159116"/>
            <a:ext cx="415498" cy="369332"/>
          </a:xfrm>
          <a:prstGeom prst="rect">
            <a:avLst/>
          </a:prstGeom>
        </p:spPr>
        <p:txBody>
          <a:bodyPr wrap="none">
            <a:spAutoFit/>
          </a:bodyPr>
          <a:lstStyle/>
          <a:p>
            <a:pPr fontAlgn="base"/>
            <a:r>
              <a:rPr lang="ko-KR" altLang="en-US" dirty="0">
                <a:solidFill>
                  <a:schemeClr val="accent4"/>
                </a:solidFill>
              </a:rPr>
              <a:t>❶</a:t>
            </a:r>
          </a:p>
        </p:txBody>
      </p:sp>
      <p:sp>
        <p:nvSpPr>
          <p:cNvPr id="98" name="직사각형 97"/>
          <p:cNvSpPr/>
          <p:nvPr/>
        </p:nvSpPr>
        <p:spPr>
          <a:xfrm>
            <a:off x="3208688" y="3872463"/>
            <a:ext cx="415498" cy="369332"/>
          </a:xfrm>
          <a:prstGeom prst="rect">
            <a:avLst/>
          </a:prstGeom>
        </p:spPr>
        <p:txBody>
          <a:bodyPr wrap="none">
            <a:spAutoFit/>
          </a:bodyPr>
          <a:lstStyle/>
          <a:p>
            <a:pPr fontAlgn="base"/>
            <a:r>
              <a:rPr lang="ko-KR" altLang="en-US" dirty="0">
                <a:solidFill>
                  <a:schemeClr val="accent4"/>
                </a:solidFill>
              </a:rPr>
              <a:t>❷</a:t>
            </a:r>
          </a:p>
        </p:txBody>
      </p:sp>
      <p:sp>
        <p:nvSpPr>
          <p:cNvPr id="99" name="직사각형 98"/>
          <p:cNvSpPr/>
          <p:nvPr/>
        </p:nvSpPr>
        <p:spPr>
          <a:xfrm>
            <a:off x="4825027" y="5561983"/>
            <a:ext cx="415498" cy="369332"/>
          </a:xfrm>
          <a:prstGeom prst="rect">
            <a:avLst/>
          </a:prstGeom>
        </p:spPr>
        <p:txBody>
          <a:bodyPr wrap="none">
            <a:spAutoFit/>
          </a:bodyPr>
          <a:lstStyle/>
          <a:p>
            <a:pPr fontAlgn="base"/>
            <a:r>
              <a:rPr lang="ko-KR" altLang="en-US" dirty="0">
                <a:solidFill>
                  <a:schemeClr val="accent4"/>
                </a:solidFill>
              </a:rPr>
              <a:t>❸</a:t>
            </a:r>
          </a:p>
        </p:txBody>
      </p:sp>
      <p:sp>
        <p:nvSpPr>
          <p:cNvPr id="2" name="슬라이드 번호 개체 틀 1"/>
          <p:cNvSpPr>
            <a:spLocks noGrp="1"/>
          </p:cNvSpPr>
          <p:nvPr>
            <p:ph type="sldNum" sz="quarter" idx="12"/>
          </p:nvPr>
        </p:nvSpPr>
        <p:spPr/>
        <p:txBody>
          <a:bodyPr/>
          <a:lstStyle/>
          <a:p>
            <a:r>
              <a:rPr lang="en-US" altLang="ko-KR"/>
              <a:t>149</a:t>
            </a:r>
            <a:endParaRPr lang="ko-KR" altLang="en-US"/>
          </a:p>
        </p:txBody>
      </p:sp>
    </p:spTree>
    <p:extLst>
      <p:ext uri="{BB962C8B-B14F-4D97-AF65-F5344CB8AC3E}">
        <p14:creationId xmlns:p14="http://schemas.microsoft.com/office/powerpoint/2010/main" val="61302864"/>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양쪽 모서리가 둥근 사각형 192">
            <a:extLst>
              <a:ext uri="{FF2B5EF4-FFF2-40B4-BE49-F238E27FC236}">
                <a16:creationId xmlns:a16="http://schemas.microsoft.com/office/drawing/2014/main" id="{D4DA92F5-D506-4F1B-A72D-78003E474683}"/>
              </a:ext>
            </a:extLst>
          </p:cNvPr>
          <p:cNvSpPr/>
          <p:nvPr/>
        </p:nvSpPr>
        <p:spPr>
          <a:xfrm rot="10800000">
            <a:off x="3898439" y="4005071"/>
            <a:ext cx="4872707" cy="595001"/>
          </a:xfrm>
          <a:prstGeom prst="round2SameRect">
            <a:avLst>
              <a:gd name="adj1" fmla="val 50000"/>
              <a:gd name="adj2" fmla="val 0"/>
            </a:avLst>
          </a:prstGeom>
          <a:pattFill prst="wdDnDiag">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dirty="0"/>
          </a:p>
        </p:txBody>
      </p:sp>
      <p:sp>
        <p:nvSpPr>
          <p:cNvPr id="30" name="양쪽 모서리가 둥근 사각형 193">
            <a:extLst>
              <a:ext uri="{FF2B5EF4-FFF2-40B4-BE49-F238E27FC236}">
                <a16:creationId xmlns:a16="http://schemas.microsoft.com/office/drawing/2014/main" id="{95A471A4-6C9A-4D83-9A8B-75EA8512D3B4}"/>
              </a:ext>
            </a:extLst>
          </p:cNvPr>
          <p:cNvSpPr/>
          <p:nvPr/>
        </p:nvSpPr>
        <p:spPr>
          <a:xfrm rot="10800000">
            <a:off x="8848784" y="4016154"/>
            <a:ext cx="2575108" cy="594993"/>
          </a:xfrm>
          <a:prstGeom prst="round2SameRect">
            <a:avLst>
              <a:gd name="adj1" fmla="val 50000"/>
              <a:gd name="adj2" fmla="val 0"/>
            </a:avLst>
          </a:prstGeom>
          <a:pattFill prst="dotGrid">
            <a:fgClr>
              <a:schemeClr val="accent2">
                <a:lumMod val="50000"/>
              </a:schemeClr>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3" name="제목 2"/>
          <p:cNvSpPr>
            <a:spLocks noGrp="1"/>
          </p:cNvSpPr>
          <p:nvPr>
            <p:ph type="title"/>
          </p:nvPr>
        </p:nvSpPr>
        <p:spPr/>
        <p:txBody>
          <a:bodyPr/>
          <a:lstStyle/>
          <a:p>
            <a:r>
              <a:rPr lang="ko-KR" altLang="en-US" dirty="0"/>
              <a:t>제</a:t>
            </a:r>
            <a:r>
              <a:rPr lang="en-US" altLang="ko-KR" dirty="0"/>
              <a:t>30</a:t>
            </a:r>
            <a:r>
              <a:rPr lang="ko-KR" altLang="en-US" dirty="0"/>
              <a:t>조</a:t>
            </a:r>
          </a:p>
        </p:txBody>
      </p:sp>
      <p:sp>
        <p:nvSpPr>
          <p:cNvPr id="4" name="텍스트 개체 틀 3"/>
          <p:cNvSpPr>
            <a:spLocks noGrp="1"/>
          </p:cNvSpPr>
          <p:nvPr>
            <p:ph type="body" sz="quarter" idx="13"/>
          </p:nvPr>
        </p:nvSpPr>
        <p:spPr/>
        <p:txBody>
          <a:bodyPr/>
          <a:lstStyle/>
          <a:p>
            <a:r>
              <a:rPr lang="ko-KR" altLang="en-US" dirty="0"/>
              <a:t>다른 특허요건과의 관계</a:t>
            </a:r>
          </a:p>
        </p:txBody>
      </p:sp>
      <p:cxnSp>
        <p:nvCxnSpPr>
          <p:cNvPr id="52" name="직선 연결선 51"/>
          <p:cNvCxnSpPr/>
          <p:nvPr/>
        </p:nvCxnSpPr>
        <p:spPr>
          <a:xfrm>
            <a:off x="514350" y="3978820"/>
            <a:ext cx="1104053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1298793" y="3238507"/>
            <a:ext cx="1484624" cy="328639"/>
          </a:xfrm>
          <a:prstGeom prst="rect">
            <a:avLst/>
          </a:prstGeom>
          <a:solidFill>
            <a:schemeClr val="accent4">
              <a:lumMod val="40000"/>
              <a:lumOff val="60000"/>
            </a:schemeClr>
          </a:solidFill>
          <a:ln>
            <a:solidFill>
              <a:schemeClr val="bg1">
                <a:lumMod val="50000"/>
              </a:schemeClr>
            </a:solidFill>
          </a:ln>
        </p:spPr>
        <p:txBody>
          <a:bodyPr wrap="square" rtlCol="0">
            <a:noAutofit/>
          </a:bodyPr>
          <a:lstStyle/>
          <a:p>
            <a:pPr algn="ctr"/>
            <a:r>
              <a:rPr lang="ko-KR" altLang="en-US" sz="1400" dirty="0"/>
              <a:t>甲 </a:t>
            </a:r>
            <a:r>
              <a:rPr lang="en-US" altLang="ko-KR" sz="1400" dirty="0"/>
              <a:t>A</a:t>
            </a:r>
            <a:r>
              <a:rPr lang="ko-KR" altLang="en-US" sz="1400" dirty="0"/>
              <a:t> 간행물 발표 </a:t>
            </a:r>
          </a:p>
        </p:txBody>
      </p:sp>
      <p:cxnSp>
        <p:nvCxnSpPr>
          <p:cNvPr id="10" name="직선 화살표 연결선 9"/>
          <p:cNvCxnSpPr>
            <a:stCxn id="72" idx="2"/>
          </p:cNvCxnSpPr>
          <p:nvPr/>
        </p:nvCxnSpPr>
        <p:spPr>
          <a:xfrm>
            <a:off x="2041105" y="3567146"/>
            <a:ext cx="0" cy="355653"/>
          </a:xfrm>
          <a:prstGeom prst="straightConnector1">
            <a:avLst/>
          </a:prstGeom>
          <a:ln w="381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4" name="직선 화살표 연결선 43"/>
          <p:cNvCxnSpPr>
            <a:cxnSpLocks/>
            <a:stCxn id="46" idx="0"/>
          </p:cNvCxnSpPr>
          <p:nvPr/>
        </p:nvCxnSpPr>
        <p:spPr>
          <a:xfrm flipV="1">
            <a:off x="3878374" y="3978820"/>
            <a:ext cx="0" cy="724614"/>
          </a:xfrm>
          <a:prstGeom prst="straightConnector1">
            <a:avLst/>
          </a:prstGeom>
          <a:ln w="381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77875" y="986046"/>
            <a:ext cx="11936323" cy="954107"/>
          </a:xfrm>
          <a:prstGeom prst="rect">
            <a:avLst/>
          </a:prstGeom>
          <a:noFill/>
        </p:spPr>
        <p:txBody>
          <a:bodyPr wrap="square" rtlCol="0">
            <a:spAutoFit/>
          </a:bodyPr>
          <a:lstStyle/>
          <a:p>
            <a:pPr fontAlgn="base"/>
            <a:r>
              <a:rPr lang="ko-KR" altLang="en-US" sz="1400" dirty="0" err="1">
                <a:highlight>
                  <a:srgbClr val="FFFF00"/>
                </a:highlight>
              </a:rPr>
              <a:t>공지예외적용주장출원의</a:t>
            </a:r>
            <a:r>
              <a:rPr lang="ko-KR" altLang="en-US" sz="1400" dirty="0">
                <a:highlight>
                  <a:srgbClr val="FFFF00"/>
                </a:highlight>
              </a:rPr>
              <a:t> 경우 출원일이 소급되는 것은 아니므로 </a:t>
            </a:r>
            <a:r>
              <a:rPr lang="en-US" altLang="ko-KR" sz="1400" dirty="0">
                <a:highlight>
                  <a:srgbClr val="FFFF00"/>
                </a:highlight>
              </a:rPr>
              <a:t>12</a:t>
            </a:r>
            <a:r>
              <a:rPr lang="ko-KR" altLang="en-US" sz="1400" dirty="0">
                <a:highlight>
                  <a:srgbClr val="FFFF00"/>
                </a:highlight>
              </a:rPr>
              <a:t>개월의 유예기간이 있더라도 될 수 있으면 빨리 출원해야 한다</a:t>
            </a:r>
            <a:r>
              <a:rPr lang="en-US" altLang="ko-KR" sz="1400" dirty="0">
                <a:highlight>
                  <a:srgbClr val="FFFF00"/>
                </a:highlight>
              </a:rPr>
              <a:t>. </a:t>
            </a:r>
            <a:r>
              <a:rPr lang="ko-KR" altLang="en-US" sz="1400" dirty="0">
                <a:solidFill>
                  <a:schemeClr val="tx2"/>
                </a:solidFill>
              </a:rPr>
              <a:t>예를 들어</a:t>
            </a:r>
            <a:r>
              <a:rPr lang="en-US" altLang="ko-KR" sz="1400" dirty="0">
                <a:solidFill>
                  <a:schemeClr val="tx2"/>
                </a:solidFill>
              </a:rPr>
              <a:t>, </a:t>
            </a:r>
            <a:r>
              <a:rPr lang="ko-KR" altLang="en-US" sz="1400" dirty="0">
                <a:solidFill>
                  <a:schemeClr val="tx2"/>
                </a:solidFill>
              </a:rPr>
              <a:t>공지일과 공지예외적용을 주장한 특허출원</a:t>
            </a:r>
            <a:r>
              <a:rPr lang="en-US" altLang="ko-KR" sz="1400" dirty="0">
                <a:solidFill>
                  <a:schemeClr val="tx2"/>
                </a:solidFill>
              </a:rPr>
              <a:t>(</a:t>
            </a:r>
            <a:r>
              <a:rPr lang="ko-KR" altLang="en-US" sz="1400" dirty="0">
                <a:solidFill>
                  <a:schemeClr val="tx2"/>
                </a:solidFill>
              </a:rPr>
              <a:t>이하 “甲 출원”라 함</a:t>
            </a:r>
            <a:r>
              <a:rPr lang="en-US" altLang="ko-KR" sz="1400" dirty="0">
                <a:solidFill>
                  <a:schemeClr val="tx2"/>
                </a:solidFill>
              </a:rPr>
              <a:t>)</a:t>
            </a:r>
            <a:r>
              <a:rPr lang="ko-KR" altLang="en-US" sz="1400" dirty="0">
                <a:solidFill>
                  <a:schemeClr val="tx2"/>
                </a:solidFill>
              </a:rPr>
              <a:t>일 사이에 타인의 특허출원</a:t>
            </a:r>
            <a:r>
              <a:rPr lang="en-US" altLang="ko-KR" sz="1400" dirty="0">
                <a:solidFill>
                  <a:schemeClr val="tx2"/>
                </a:solidFill>
              </a:rPr>
              <a:t>(</a:t>
            </a:r>
            <a:r>
              <a:rPr lang="ko-KR" altLang="en-US" sz="1400" dirty="0">
                <a:solidFill>
                  <a:schemeClr val="tx2"/>
                </a:solidFill>
              </a:rPr>
              <a:t>이하 “乙 </a:t>
            </a:r>
            <a:r>
              <a:rPr lang="ko-KR" altLang="en-US" sz="1400" dirty="0" err="1">
                <a:solidFill>
                  <a:schemeClr val="tx2"/>
                </a:solidFill>
              </a:rPr>
              <a:t>출원”이라</a:t>
            </a:r>
            <a:r>
              <a:rPr lang="ko-KR" altLang="en-US" sz="1400" dirty="0">
                <a:solidFill>
                  <a:schemeClr val="tx2"/>
                </a:solidFill>
              </a:rPr>
              <a:t> 함</a:t>
            </a:r>
            <a:r>
              <a:rPr lang="en-US" altLang="ko-KR" sz="1400" dirty="0">
                <a:solidFill>
                  <a:schemeClr val="tx2"/>
                </a:solidFill>
              </a:rPr>
              <a:t>)</a:t>
            </a:r>
            <a:r>
              <a:rPr lang="ko-KR" altLang="en-US" sz="1400" dirty="0">
                <a:solidFill>
                  <a:schemeClr val="tx2"/>
                </a:solidFill>
              </a:rPr>
              <a:t>이 있으면</a:t>
            </a:r>
            <a:r>
              <a:rPr lang="en-US" altLang="ko-KR" sz="1400" dirty="0">
                <a:solidFill>
                  <a:schemeClr val="tx2"/>
                </a:solidFill>
              </a:rPr>
              <a:t>, </a:t>
            </a:r>
            <a:r>
              <a:rPr lang="ko-KR" altLang="en-US" sz="1400" dirty="0">
                <a:solidFill>
                  <a:schemeClr val="tx2"/>
                </a:solidFill>
              </a:rPr>
              <a:t>甲 출원은 乙 출원이 공개된다면 확대된 </a:t>
            </a:r>
            <a:r>
              <a:rPr lang="ko-KR" altLang="en-US" sz="1400" dirty="0" err="1">
                <a:solidFill>
                  <a:schemeClr val="tx2"/>
                </a:solidFill>
              </a:rPr>
              <a:t>선출원</a:t>
            </a:r>
            <a:r>
              <a:rPr lang="ko-KR" altLang="en-US" sz="1400" dirty="0">
                <a:solidFill>
                  <a:schemeClr val="tx2"/>
                </a:solidFill>
              </a:rPr>
              <a:t> 위반으로 특허를 받을 수 없게 될 수도 있다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乙 출원이 공개 전에 무효</a:t>
            </a:r>
            <a:r>
              <a:rPr lang="en-US" altLang="ko-KR" sz="1400" dirty="0">
                <a:solidFill>
                  <a:schemeClr val="tx2"/>
                </a:solidFill>
              </a:rPr>
              <a:t>, </a:t>
            </a:r>
            <a:r>
              <a:rPr lang="ko-KR" altLang="en-US" sz="1400" dirty="0">
                <a:solidFill>
                  <a:schemeClr val="tx2"/>
                </a:solidFill>
              </a:rPr>
              <a:t>취하</a:t>
            </a:r>
            <a:r>
              <a:rPr lang="en-US" altLang="ko-KR" sz="1400" dirty="0">
                <a:solidFill>
                  <a:schemeClr val="tx2"/>
                </a:solidFill>
              </a:rPr>
              <a:t>, </a:t>
            </a:r>
            <a:r>
              <a:rPr lang="ko-KR" altLang="en-US" sz="1400" dirty="0">
                <a:solidFill>
                  <a:schemeClr val="tx2"/>
                </a:solidFill>
              </a:rPr>
              <a:t>포기 또는 거절결정이 확정된다면 甲 출원은 특허를 받을 수 있을 것이다</a:t>
            </a:r>
            <a:r>
              <a:rPr lang="en-US" altLang="ko-KR" sz="1400" dirty="0">
                <a:solidFill>
                  <a:schemeClr val="tx2"/>
                </a:solidFill>
              </a:rPr>
              <a:t>. </a:t>
            </a:r>
            <a:r>
              <a:rPr lang="ko-KR" altLang="en-US" sz="1400" dirty="0">
                <a:solidFill>
                  <a:schemeClr val="tx2"/>
                </a:solidFill>
              </a:rPr>
              <a:t>한편 乙 출원은 </a:t>
            </a:r>
            <a:r>
              <a:rPr lang="ko-KR" altLang="en-US" sz="1400" dirty="0" err="1">
                <a:solidFill>
                  <a:schemeClr val="tx2"/>
                </a:solidFill>
              </a:rPr>
              <a:t>신규성</a:t>
            </a:r>
            <a:r>
              <a:rPr lang="ko-KR" altLang="en-US" sz="1400" dirty="0">
                <a:solidFill>
                  <a:schemeClr val="tx2"/>
                </a:solidFill>
              </a:rPr>
              <a:t> 위반으로 특허를 받을 수 없다</a:t>
            </a:r>
            <a:r>
              <a:rPr lang="en-US" altLang="ko-KR" sz="1400" dirty="0">
                <a:solidFill>
                  <a:schemeClr val="tx2"/>
                </a:solidFill>
              </a:rPr>
              <a:t>. </a:t>
            </a:r>
          </a:p>
        </p:txBody>
      </p:sp>
      <p:cxnSp>
        <p:nvCxnSpPr>
          <p:cNvPr id="27" name="직선 연결선 26"/>
          <p:cNvCxnSpPr/>
          <p:nvPr/>
        </p:nvCxnSpPr>
        <p:spPr>
          <a:xfrm>
            <a:off x="0" y="194248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4414323" y="3238507"/>
            <a:ext cx="2585494" cy="328639"/>
          </a:xfrm>
          <a:prstGeom prst="rect">
            <a:avLst/>
          </a:prstGeom>
          <a:solidFill>
            <a:schemeClr val="accent4">
              <a:lumMod val="40000"/>
              <a:lumOff val="60000"/>
            </a:schemeClr>
          </a:solidFill>
          <a:ln>
            <a:solidFill>
              <a:schemeClr val="bg1">
                <a:lumMod val="50000"/>
              </a:schemeClr>
            </a:solidFill>
          </a:ln>
        </p:spPr>
        <p:txBody>
          <a:bodyPr wrap="square" rtlCol="0">
            <a:noAutofit/>
          </a:bodyPr>
          <a:lstStyle/>
          <a:p>
            <a:pPr algn="ctr"/>
            <a:r>
              <a:rPr lang="ko-KR" altLang="en-US" sz="1400" dirty="0"/>
              <a:t>甲 </a:t>
            </a:r>
            <a:r>
              <a:rPr lang="en-US" altLang="ko-KR" sz="1400" dirty="0"/>
              <a:t>A</a:t>
            </a:r>
            <a:r>
              <a:rPr lang="ko-KR" altLang="en-US" sz="1400" dirty="0"/>
              <a:t> 공지예외적용주장출원</a:t>
            </a:r>
            <a:r>
              <a:rPr lang="en-US" altLang="ko-KR" sz="1400" dirty="0"/>
              <a:t>(X)</a:t>
            </a:r>
            <a:endParaRPr lang="ko-KR" altLang="en-US" sz="1400" dirty="0"/>
          </a:p>
        </p:txBody>
      </p:sp>
      <p:cxnSp>
        <p:nvCxnSpPr>
          <p:cNvPr id="45" name="직선 화살표 연결선 44"/>
          <p:cNvCxnSpPr>
            <a:stCxn id="41" idx="2"/>
          </p:cNvCxnSpPr>
          <p:nvPr/>
        </p:nvCxnSpPr>
        <p:spPr>
          <a:xfrm>
            <a:off x="5707070" y="3567146"/>
            <a:ext cx="0" cy="355653"/>
          </a:xfrm>
          <a:prstGeom prst="straightConnector1">
            <a:avLst/>
          </a:prstGeom>
          <a:ln w="381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3203798" y="4703434"/>
            <a:ext cx="1349152" cy="328639"/>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sz="1400" dirty="0"/>
              <a:t>乙 </a:t>
            </a:r>
            <a:r>
              <a:rPr lang="en-US" altLang="ko-KR" sz="1400" dirty="0"/>
              <a:t>A</a:t>
            </a:r>
            <a:r>
              <a:rPr lang="ko-KR" altLang="en-US" sz="1400" dirty="0"/>
              <a:t> 출원</a:t>
            </a:r>
            <a:r>
              <a:rPr lang="en-US" altLang="ko-KR" sz="1400" dirty="0"/>
              <a:t>(Y)</a:t>
            </a:r>
            <a:endParaRPr lang="ko-KR" altLang="en-US" sz="1400" dirty="0"/>
          </a:p>
        </p:txBody>
      </p:sp>
      <p:cxnSp>
        <p:nvCxnSpPr>
          <p:cNvPr id="55" name="직선 화살표 연결선 54"/>
          <p:cNvCxnSpPr>
            <a:cxnSpLocks/>
            <a:stCxn id="56" idx="0"/>
          </p:cNvCxnSpPr>
          <p:nvPr/>
        </p:nvCxnSpPr>
        <p:spPr>
          <a:xfrm flipV="1">
            <a:off x="8786331" y="3978820"/>
            <a:ext cx="25877" cy="712422"/>
          </a:xfrm>
          <a:prstGeom prst="straightConnector1">
            <a:avLst/>
          </a:prstGeom>
          <a:ln w="38100">
            <a:solidFill>
              <a:schemeClr val="bg1">
                <a:lumMod val="50000"/>
              </a:schemeClr>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8111755" y="4691242"/>
            <a:ext cx="1349152" cy="328639"/>
          </a:xfrm>
          <a:prstGeom prst="rect">
            <a:avLst/>
          </a:prstGeom>
          <a:solidFill>
            <a:schemeClr val="accent1">
              <a:lumMod val="20000"/>
              <a:lumOff val="80000"/>
            </a:schemeClr>
          </a:solidFill>
          <a:ln>
            <a:solidFill>
              <a:schemeClr val="bg1">
                <a:lumMod val="50000"/>
              </a:schemeClr>
            </a:solidFill>
            <a:prstDash val="sysDot"/>
          </a:ln>
        </p:spPr>
        <p:txBody>
          <a:bodyPr wrap="square" rtlCol="0">
            <a:noAutofit/>
          </a:bodyPr>
          <a:lstStyle/>
          <a:p>
            <a:pPr algn="ctr"/>
            <a:r>
              <a:rPr lang="ko-KR" altLang="en-US" sz="1400" dirty="0"/>
              <a:t>乙 </a:t>
            </a:r>
            <a:r>
              <a:rPr lang="en-US" altLang="ko-KR" sz="1400" dirty="0"/>
              <a:t>A</a:t>
            </a:r>
            <a:r>
              <a:rPr lang="ko-KR" altLang="en-US" sz="1400" dirty="0"/>
              <a:t> 공개</a:t>
            </a:r>
            <a:r>
              <a:rPr lang="en-US" altLang="ko-KR" sz="1400" dirty="0"/>
              <a:t>(Y)</a:t>
            </a:r>
            <a:endParaRPr lang="ko-KR" altLang="en-US" sz="1400" dirty="0"/>
          </a:p>
        </p:txBody>
      </p:sp>
      <p:cxnSp>
        <p:nvCxnSpPr>
          <p:cNvPr id="65" name="직선 화살표 연결선 64"/>
          <p:cNvCxnSpPr>
            <a:stCxn id="66" idx="0"/>
          </p:cNvCxnSpPr>
          <p:nvPr/>
        </p:nvCxnSpPr>
        <p:spPr>
          <a:xfrm flipV="1">
            <a:off x="7815374" y="4046556"/>
            <a:ext cx="0" cy="1585166"/>
          </a:xfrm>
          <a:prstGeom prst="straightConnector1">
            <a:avLst/>
          </a:prstGeom>
          <a:ln w="38100">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6781963" y="5631722"/>
            <a:ext cx="2066822" cy="510851"/>
          </a:xfrm>
          <a:prstGeom prst="rect">
            <a:avLst/>
          </a:prstGeom>
          <a:solidFill>
            <a:schemeClr val="accent1">
              <a:lumMod val="20000"/>
              <a:lumOff val="80000"/>
            </a:schemeClr>
          </a:solidFill>
          <a:ln>
            <a:solidFill>
              <a:schemeClr val="bg1">
                <a:lumMod val="50000"/>
              </a:schemeClr>
            </a:solidFill>
            <a:prstDash val="sysDot"/>
          </a:ln>
        </p:spPr>
        <p:txBody>
          <a:bodyPr wrap="square" rtlCol="0">
            <a:noAutofit/>
          </a:bodyPr>
          <a:lstStyle/>
          <a:p>
            <a:pPr algn="ctr"/>
            <a:r>
              <a:rPr lang="ko-KR" altLang="en-US" sz="1400" dirty="0"/>
              <a:t>乙 제</a:t>
            </a:r>
            <a:r>
              <a:rPr lang="en-US" altLang="ko-KR" sz="1400" dirty="0"/>
              <a:t>29</a:t>
            </a:r>
            <a:r>
              <a:rPr lang="ko-KR" altLang="en-US" sz="1400" dirty="0"/>
              <a:t>조제</a:t>
            </a:r>
            <a:r>
              <a:rPr lang="en-US" altLang="ko-KR" sz="1400" dirty="0"/>
              <a:t>1</a:t>
            </a:r>
            <a:r>
              <a:rPr lang="ko-KR" altLang="en-US" sz="1400" dirty="0"/>
              <a:t>항 위반으로 거절결정 확정</a:t>
            </a:r>
          </a:p>
        </p:txBody>
      </p:sp>
      <p:cxnSp>
        <p:nvCxnSpPr>
          <p:cNvPr id="71" name="직선 화살표 연결선 70"/>
          <p:cNvCxnSpPr>
            <a:stCxn id="73" idx="0"/>
          </p:cNvCxnSpPr>
          <p:nvPr/>
        </p:nvCxnSpPr>
        <p:spPr>
          <a:xfrm flipV="1">
            <a:off x="10158361" y="4046556"/>
            <a:ext cx="0" cy="1585166"/>
          </a:xfrm>
          <a:prstGeom prst="straightConnector1">
            <a:avLst/>
          </a:prstGeom>
          <a:ln w="38100">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TextBox 72"/>
          <p:cNvSpPr txBox="1"/>
          <p:nvPr/>
        </p:nvSpPr>
        <p:spPr>
          <a:xfrm>
            <a:off x="9124950" y="5631722"/>
            <a:ext cx="2066822" cy="510851"/>
          </a:xfrm>
          <a:prstGeom prst="rect">
            <a:avLst/>
          </a:prstGeom>
          <a:solidFill>
            <a:schemeClr val="accent1">
              <a:lumMod val="20000"/>
              <a:lumOff val="80000"/>
            </a:schemeClr>
          </a:solidFill>
          <a:ln>
            <a:solidFill>
              <a:schemeClr val="bg1">
                <a:lumMod val="50000"/>
              </a:schemeClr>
            </a:solidFill>
            <a:prstDash val="sysDot"/>
          </a:ln>
        </p:spPr>
        <p:txBody>
          <a:bodyPr wrap="square" rtlCol="0">
            <a:noAutofit/>
          </a:bodyPr>
          <a:lstStyle/>
          <a:p>
            <a:pPr algn="ctr"/>
            <a:r>
              <a:rPr lang="ko-KR" altLang="en-US" sz="1400" dirty="0"/>
              <a:t>乙 제</a:t>
            </a:r>
            <a:r>
              <a:rPr lang="en-US" altLang="ko-KR" sz="1400" dirty="0"/>
              <a:t>29</a:t>
            </a:r>
            <a:r>
              <a:rPr lang="ko-KR" altLang="en-US" sz="1400" dirty="0"/>
              <a:t>조제</a:t>
            </a:r>
            <a:r>
              <a:rPr lang="en-US" altLang="ko-KR" sz="1400" dirty="0"/>
              <a:t>1</a:t>
            </a:r>
            <a:r>
              <a:rPr lang="ko-KR" altLang="en-US" sz="1400" dirty="0"/>
              <a:t>항 위반으로 거절결정 확정</a:t>
            </a:r>
          </a:p>
        </p:txBody>
      </p:sp>
      <p:sp>
        <p:nvSpPr>
          <p:cNvPr id="68" name="모서리가 둥근 사각형 설명선 67"/>
          <p:cNvSpPr/>
          <p:nvPr/>
        </p:nvSpPr>
        <p:spPr>
          <a:xfrm>
            <a:off x="6162454" y="2466975"/>
            <a:ext cx="4695558" cy="466725"/>
          </a:xfrm>
          <a:prstGeom prst="wedgeRoundRectCallout">
            <a:avLst>
              <a:gd name="adj1" fmla="val -33207"/>
              <a:gd name="adj2" fmla="val 109646"/>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solidFill>
              </a:rPr>
              <a:t>甲 출원은 乙 출원이 공개된다면 확대된 </a:t>
            </a:r>
            <a:r>
              <a:rPr lang="ko-KR" altLang="en-US" sz="1200" dirty="0" err="1">
                <a:solidFill>
                  <a:schemeClr val="tx1"/>
                </a:solidFill>
              </a:rPr>
              <a:t>선출원</a:t>
            </a:r>
            <a:r>
              <a:rPr lang="ko-KR" altLang="en-US" sz="1200" dirty="0">
                <a:solidFill>
                  <a:schemeClr val="tx1"/>
                </a:solidFill>
              </a:rPr>
              <a:t> 위반으로 특허를 받을 수 없게 될 수도 있다</a:t>
            </a:r>
            <a:r>
              <a:rPr lang="en-US" altLang="ko-KR" sz="1200" dirty="0">
                <a:solidFill>
                  <a:schemeClr val="tx1"/>
                </a:solidFill>
              </a:rPr>
              <a:t>.</a:t>
            </a:r>
            <a:endParaRPr lang="ko-KR" altLang="en-US" sz="1200" dirty="0">
              <a:solidFill>
                <a:schemeClr val="tx1"/>
              </a:solidFill>
            </a:endParaRPr>
          </a:p>
        </p:txBody>
      </p:sp>
      <p:sp>
        <p:nvSpPr>
          <p:cNvPr id="2" name="슬라이드 번호 개체 틀 1"/>
          <p:cNvSpPr>
            <a:spLocks noGrp="1"/>
          </p:cNvSpPr>
          <p:nvPr>
            <p:ph type="sldNum" sz="quarter" idx="12"/>
          </p:nvPr>
        </p:nvSpPr>
        <p:spPr/>
        <p:txBody>
          <a:bodyPr/>
          <a:lstStyle/>
          <a:p>
            <a:r>
              <a:rPr lang="en-US" altLang="ko-KR"/>
              <a:t>150</a:t>
            </a:r>
            <a:endParaRPr lang="ko-KR" altLang="en-US"/>
          </a:p>
        </p:txBody>
      </p:sp>
      <p:sp>
        <p:nvSpPr>
          <p:cNvPr id="7" name="TextBox 6">
            <a:extLst>
              <a:ext uri="{FF2B5EF4-FFF2-40B4-BE49-F238E27FC236}">
                <a16:creationId xmlns:a16="http://schemas.microsoft.com/office/drawing/2014/main" id="{87FFEFA8-BCE6-480F-8D93-8317F43247F4}"/>
              </a:ext>
            </a:extLst>
          </p:cNvPr>
          <p:cNvSpPr txBox="1"/>
          <p:nvPr/>
        </p:nvSpPr>
        <p:spPr>
          <a:xfrm>
            <a:off x="5351571" y="4117906"/>
            <a:ext cx="1739579" cy="369332"/>
          </a:xfrm>
          <a:prstGeom prst="rect">
            <a:avLst/>
          </a:prstGeom>
          <a:noFill/>
        </p:spPr>
        <p:txBody>
          <a:bodyPr wrap="none" rtlCol="0">
            <a:spAutoFit/>
          </a:bodyPr>
          <a:lstStyle/>
          <a:p>
            <a:r>
              <a:rPr lang="en-US" altLang="ko-KR" dirty="0"/>
              <a:t>Y</a:t>
            </a:r>
            <a:r>
              <a:rPr lang="ko-KR" altLang="en-US" dirty="0"/>
              <a:t>의 </a:t>
            </a:r>
            <a:r>
              <a:rPr lang="en-US" altLang="ko-KR" dirty="0"/>
              <a:t>A-</a:t>
            </a:r>
            <a:r>
              <a:rPr lang="ko-KR" altLang="en-US" dirty="0" err="1"/>
              <a:t>확선</a:t>
            </a:r>
            <a:r>
              <a:rPr lang="ko-KR" altLang="en-US" dirty="0"/>
              <a:t> 지위</a:t>
            </a:r>
          </a:p>
        </p:txBody>
      </p:sp>
      <p:sp>
        <p:nvSpPr>
          <p:cNvPr id="34" name="TextBox 33">
            <a:extLst>
              <a:ext uri="{FF2B5EF4-FFF2-40B4-BE49-F238E27FC236}">
                <a16:creationId xmlns:a16="http://schemas.microsoft.com/office/drawing/2014/main" id="{E07E215D-DEFB-4319-B5FA-40F53CBAAD04}"/>
              </a:ext>
            </a:extLst>
          </p:cNvPr>
          <p:cNvSpPr txBox="1"/>
          <p:nvPr/>
        </p:nvSpPr>
        <p:spPr>
          <a:xfrm>
            <a:off x="9072849" y="4117906"/>
            <a:ext cx="2169184" cy="369332"/>
          </a:xfrm>
          <a:prstGeom prst="rect">
            <a:avLst/>
          </a:prstGeom>
          <a:noFill/>
        </p:spPr>
        <p:txBody>
          <a:bodyPr wrap="none" rtlCol="0">
            <a:spAutoFit/>
          </a:bodyPr>
          <a:lstStyle/>
          <a:p>
            <a:r>
              <a:rPr lang="en-US" altLang="ko-KR" dirty="0"/>
              <a:t>Y</a:t>
            </a:r>
            <a:r>
              <a:rPr lang="ko-KR" altLang="en-US" dirty="0"/>
              <a:t>의 </a:t>
            </a:r>
            <a:r>
              <a:rPr lang="en-US" altLang="ko-KR" dirty="0"/>
              <a:t>A-</a:t>
            </a:r>
            <a:r>
              <a:rPr lang="ko-KR" altLang="en-US" dirty="0"/>
              <a:t>공지기술 지위</a:t>
            </a:r>
          </a:p>
        </p:txBody>
      </p:sp>
      <p:cxnSp>
        <p:nvCxnSpPr>
          <p:cNvPr id="9" name="직선 화살표 연결선 8">
            <a:extLst>
              <a:ext uri="{FF2B5EF4-FFF2-40B4-BE49-F238E27FC236}">
                <a16:creationId xmlns:a16="http://schemas.microsoft.com/office/drawing/2014/main" id="{6B23906D-6989-495A-A4DD-95A0DF7F294E}"/>
              </a:ext>
            </a:extLst>
          </p:cNvPr>
          <p:cNvCxnSpPr>
            <a:stCxn id="66" idx="0"/>
          </p:cNvCxnSpPr>
          <p:nvPr/>
        </p:nvCxnSpPr>
        <p:spPr>
          <a:xfrm flipH="1" flipV="1">
            <a:off x="5571744" y="4600073"/>
            <a:ext cx="2243630" cy="1031649"/>
          </a:xfrm>
          <a:prstGeom prst="straightConnector1">
            <a:avLst/>
          </a:prstGeom>
          <a:ln>
            <a:solidFill>
              <a:schemeClr val="accent2">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9" name="도넛 6">
            <a:extLst>
              <a:ext uri="{FF2B5EF4-FFF2-40B4-BE49-F238E27FC236}">
                <a16:creationId xmlns:a16="http://schemas.microsoft.com/office/drawing/2014/main" id="{F8DD4BD2-68E0-4AF0-899C-F817C61F53B9}"/>
              </a:ext>
            </a:extLst>
          </p:cNvPr>
          <p:cNvSpPr/>
          <p:nvPr/>
        </p:nvSpPr>
        <p:spPr>
          <a:xfrm>
            <a:off x="9039189" y="5222989"/>
            <a:ext cx="244676" cy="244676"/>
          </a:xfrm>
          <a:prstGeom prst="donut">
            <a:avLst>
              <a:gd name="adj" fmla="val 13323"/>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cxnSp>
        <p:nvCxnSpPr>
          <p:cNvPr id="40" name="직선 화살표 연결선 39">
            <a:extLst>
              <a:ext uri="{FF2B5EF4-FFF2-40B4-BE49-F238E27FC236}">
                <a16:creationId xmlns:a16="http://schemas.microsoft.com/office/drawing/2014/main" id="{B66FB4FA-A191-4000-9BCE-579A5359ACE5}"/>
              </a:ext>
            </a:extLst>
          </p:cNvPr>
          <p:cNvCxnSpPr>
            <a:cxnSpLocks/>
            <a:stCxn id="66" idx="0"/>
          </p:cNvCxnSpPr>
          <p:nvPr/>
        </p:nvCxnSpPr>
        <p:spPr>
          <a:xfrm flipV="1">
            <a:off x="7815374" y="4626323"/>
            <a:ext cx="2118923" cy="1005399"/>
          </a:xfrm>
          <a:prstGeom prst="straightConnector1">
            <a:avLst/>
          </a:prstGeom>
          <a:ln>
            <a:solidFill>
              <a:schemeClr val="accent2">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도넛 6">
            <a:extLst>
              <a:ext uri="{FF2B5EF4-FFF2-40B4-BE49-F238E27FC236}">
                <a16:creationId xmlns:a16="http://schemas.microsoft.com/office/drawing/2014/main" id="{505C3EB3-0E6F-4ACF-BD91-95B895A36E79}"/>
              </a:ext>
            </a:extLst>
          </p:cNvPr>
          <p:cNvSpPr/>
          <p:nvPr/>
        </p:nvSpPr>
        <p:spPr>
          <a:xfrm>
            <a:off x="10353794" y="4934798"/>
            <a:ext cx="244676" cy="244676"/>
          </a:xfrm>
          <a:prstGeom prst="donut">
            <a:avLst>
              <a:gd name="adj" fmla="val 13323"/>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cxnSp>
        <p:nvCxnSpPr>
          <p:cNvPr id="43" name="직선 화살표 연결선 42">
            <a:extLst>
              <a:ext uri="{FF2B5EF4-FFF2-40B4-BE49-F238E27FC236}">
                <a16:creationId xmlns:a16="http://schemas.microsoft.com/office/drawing/2014/main" id="{8ECDF4F4-BB9F-453E-8193-A5A2735C9A85}"/>
              </a:ext>
            </a:extLst>
          </p:cNvPr>
          <p:cNvCxnSpPr>
            <a:cxnSpLocks/>
            <a:stCxn id="73" idx="0"/>
          </p:cNvCxnSpPr>
          <p:nvPr/>
        </p:nvCxnSpPr>
        <p:spPr>
          <a:xfrm flipH="1" flipV="1">
            <a:off x="6693561" y="4619140"/>
            <a:ext cx="3464800" cy="1012582"/>
          </a:xfrm>
          <a:prstGeom prst="straightConnector1">
            <a:avLst/>
          </a:prstGeom>
          <a:ln>
            <a:solidFill>
              <a:schemeClr val="accent6">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7" name="직선 화살표 연결선 46">
            <a:extLst>
              <a:ext uri="{FF2B5EF4-FFF2-40B4-BE49-F238E27FC236}">
                <a16:creationId xmlns:a16="http://schemas.microsoft.com/office/drawing/2014/main" id="{CA5A1B32-6936-4122-BAC4-9D2884A0F8B5}"/>
              </a:ext>
            </a:extLst>
          </p:cNvPr>
          <p:cNvCxnSpPr>
            <a:cxnSpLocks/>
            <a:stCxn id="73" idx="0"/>
          </p:cNvCxnSpPr>
          <p:nvPr/>
        </p:nvCxnSpPr>
        <p:spPr>
          <a:xfrm flipV="1">
            <a:off x="10158361" y="4619140"/>
            <a:ext cx="558486" cy="1012582"/>
          </a:xfrm>
          <a:prstGeom prst="straightConnector1">
            <a:avLst/>
          </a:prstGeom>
          <a:ln>
            <a:solidFill>
              <a:schemeClr val="accent6">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 name="곱셈 기호 58">
            <a:extLst>
              <a:ext uri="{FF2B5EF4-FFF2-40B4-BE49-F238E27FC236}">
                <a16:creationId xmlns:a16="http://schemas.microsoft.com/office/drawing/2014/main" id="{F794D9C6-AB39-4DC2-8D65-E6DEC94DFA7D}"/>
              </a:ext>
            </a:extLst>
          </p:cNvPr>
          <p:cNvSpPr/>
          <p:nvPr/>
        </p:nvSpPr>
        <p:spPr>
          <a:xfrm>
            <a:off x="6474884" y="4946416"/>
            <a:ext cx="369534" cy="355654"/>
          </a:xfrm>
          <a:prstGeom prst="mathMultiply">
            <a:avLst>
              <a:gd name="adj1" fmla="val 13691"/>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곱셈 기호 58">
            <a:extLst>
              <a:ext uri="{FF2B5EF4-FFF2-40B4-BE49-F238E27FC236}">
                <a16:creationId xmlns:a16="http://schemas.microsoft.com/office/drawing/2014/main" id="{5E77CE06-0DD3-47AB-AA47-CE85855E1B45}"/>
              </a:ext>
            </a:extLst>
          </p:cNvPr>
          <p:cNvSpPr/>
          <p:nvPr/>
        </p:nvSpPr>
        <p:spPr>
          <a:xfrm>
            <a:off x="8153995" y="5179474"/>
            <a:ext cx="369534" cy="355654"/>
          </a:xfrm>
          <a:prstGeom prst="mathMultiply">
            <a:avLst>
              <a:gd name="adj1" fmla="val 13691"/>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TextBox 4">
            <a:extLst>
              <a:ext uri="{FF2B5EF4-FFF2-40B4-BE49-F238E27FC236}">
                <a16:creationId xmlns:a16="http://schemas.microsoft.com/office/drawing/2014/main" id="{4A43D5EE-6544-4823-AC81-20F67DD7A7D4}"/>
              </a:ext>
            </a:extLst>
          </p:cNvPr>
          <p:cNvSpPr txBox="1"/>
          <p:nvPr/>
        </p:nvSpPr>
        <p:spPr>
          <a:xfrm>
            <a:off x="6162454" y="6272041"/>
            <a:ext cx="5862502" cy="307777"/>
          </a:xfrm>
          <a:prstGeom prst="rect">
            <a:avLst/>
          </a:prstGeom>
          <a:noFill/>
        </p:spPr>
        <p:txBody>
          <a:bodyPr wrap="none" rtlCol="0">
            <a:spAutoFit/>
          </a:bodyPr>
          <a:lstStyle/>
          <a:p>
            <a:r>
              <a:rPr lang="en-US" altLang="ko-KR" sz="1400" dirty="0">
                <a:solidFill>
                  <a:srgbClr val="FF0000"/>
                </a:solidFill>
              </a:rPr>
              <a:t>* </a:t>
            </a:r>
            <a:r>
              <a:rPr lang="ko-KR" altLang="en-US" sz="1400" dirty="0">
                <a:solidFill>
                  <a:srgbClr val="FF0000"/>
                </a:solidFill>
              </a:rPr>
              <a:t>乙 출원의 심사청구시기</a:t>
            </a:r>
            <a:r>
              <a:rPr lang="en-US" altLang="ko-KR" sz="1400" dirty="0">
                <a:solidFill>
                  <a:srgbClr val="FF0000"/>
                </a:solidFill>
              </a:rPr>
              <a:t>, </a:t>
            </a:r>
            <a:r>
              <a:rPr lang="ko-KR" altLang="en-US" sz="1400" dirty="0">
                <a:solidFill>
                  <a:srgbClr val="FF0000"/>
                </a:solidFill>
              </a:rPr>
              <a:t>심사청구순서에 따라 공개 전후에 거절결정확정가능</a:t>
            </a:r>
          </a:p>
        </p:txBody>
      </p:sp>
    </p:spTree>
    <p:extLst>
      <p:ext uri="{BB962C8B-B14F-4D97-AF65-F5344CB8AC3E}">
        <p14:creationId xmlns:p14="http://schemas.microsoft.com/office/powerpoint/2010/main" val="3678071544"/>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30</a:t>
            </a:r>
            <a:r>
              <a:rPr lang="ko-KR" altLang="en-US" dirty="0"/>
              <a:t>조</a:t>
            </a:r>
          </a:p>
        </p:txBody>
      </p:sp>
      <p:sp>
        <p:nvSpPr>
          <p:cNvPr id="4" name="텍스트 개체 틀 3"/>
          <p:cNvSpPr>
            <a:spLocks noGrp="1"/>
          </p:cNvSpPr>
          <p:nvPr>
            <p:ph type="body" sz="quarter" idx="13"/>
          </p:nvPr>
        </p:nvSpPr>
        <p:spPr/>
        <p:txBody>
          <a:bodyPr/>
          <a:lstStyle/>
          <a:p>
            <a:r>
              <a:rPr lang="ko-KR" altLang="en-US" dirty="0"/>
              <a:t>공지예외적용주장이 </a:t>
            </a:r>
            <a:r>
              <a:rPr lang="ko-KR" altLang="en-US" dirty="0" err="1"/>
              <a:t>부적법한</a:t>
            </a:r>
            <a:r>
              <a:rPr lang="ko-KR" altLang="en-US" dirty="0"/>
              <a:t> 경우의 취급</a:t>
            </a:r>
          </a:p>
        </p:txBody>
      </p:sp>
      <p:sp>
        <p:nvSpPr>
          <p:cNvPr id="26" name="TextBox 25"/>
          <p:cNvSpPr txBox="1"/>
          <p:nvPr/>
        </p:nvSpPr>
        <p:spPr>
          <a:xfrm>
            <a:off x="77875" y="986046"/>
            <a:ext cx="11936323" cy="738664"/>
          </a:xfrm>
          <a:prstGeom prst="rect">
            <a:avLst/>
          </a:prstGeom>
          <a:noFill/>
        </p:spPr>
        <p:txBody>
          <a:bodyPr wrap="square" rtlCol="0">
            <a:spAutoFit/>
          </a:bodyPr>
          <a:lstStyle/>
          <a:p>
            <a:pPr fontAlgn="base"/>
            <a:r>
              <a:rPr lang="ko-KR" altLang="en-US" sz="1400" dirty="0" err="1"/>
              <a:t>출원인이</a:t>
            </a:r>
            <a:r>
              <a:rPr lang="ko-KR" altLang="en-US" sz="1400" dirty="0"/>
              <a:t> 공지예외적용주장출원을 하였으나</a:t>
            </a:r>
            <a:r>
              <a:rPr lang="en-US" altLang="ko-KR" sz="1400" dirty="0"/>
              <a:t>, </a:t>
            </a:r>
            <a:r>
              <a:rPr lang="ko-KR" altLang="en-US" sz="1400" dirty="0"/>
              <a:t>공지예외적용주장이 방식에 위반된 경우 지식재산처장은 그 흠결을 지적하여 보정명령을 하고 보정명령에도 불구하고 보정하지 않거나 보정에 의하여 흠결이 치유되지 아니한 경우 그 보정명령을 한 절차인 </a:t>
            </a:r>
            <a:r>
              <a:rPr lang="ko-KR" altLang="en-US" sz="1400" dirty="0" err="1">
                <a:highlight>
                  <a:srgbClr val="FFFF00"/>
                </a:highlight>
              </a:rPr>
              <a:t>공지예외적용주장</a:t>
            </a:r>
            <a:r>
              <a:rPr lang="ko-KR" altLang="en-US" sz="1400" dirty="0" err="1"/>
              <a:t>을</a:t>
            </a:r>
            <a:r>
              <a:rPr lang="ko-KR" altLang="en-US" sz="1400" dirty="0"/>
              <a:t> 무효로 할 수 있다</a:t>
            </a:r>
            <a:r>
              <a:rPr lang="en-US" altLang="ko-KR" sz="1400" dirty="0"/>
              <a:t>. </a:t>
            </a:r>
            <a:r>
              <a:rPr lang="ko-KR" altLang="en-US" sz="1400" dirty="0">
                <a:highlight>
                  <a:srgbClr val="FFFF00"/>
                </a:highlight>
              </a:rPr>
              <a:t>출원</a:t>
            </a:r>
            <a:r>
              <a:rPr lang="ko-KR" altLang="en-US" sz="1400" dirty="0"/>
              <a:t>은 공지예외적용주장을 하지 아니한 출원이 되기 때문에 심사관은 공지예외적용을 주장한 공지기술에 의하여 출원된 발명의 </a:t>
            </a:r>
            <a:r>
              <a:rPr lang="ko-KR" altLang="en-US" sz="1400" dirty="0" err="1"/>
              <a:t>신규성</a:t>
            </a:r>
            <a:r>
              <a:rPr lang="ko-KR" altLang="en-US" sz="1400" dirty="0"/>
              <a:t> 또는 진보성을 판단하여야 한다</a:t>
            </a:r>
            <a:r>
              <a:rPr lang="en-US" altLang="ko-KR" sz="1400" dirty="0"/>
              <a:t>.</a:t>
            </a:r>
            <a:endParaRPr lang="ko-KR" altLang="en-US" sz="1400" dirty="0"/>
          </a:p>
        </p:txBody>
      </p:sp>
      <p:cxnSp>
        <p:nvCxnSpPr>
          <p:cNvPr id="27" name="직선 연결선 26"/>
          <p:cNvCxnSpPr/>
          <p:nvPr/>
        </p:nvCxnSpPr>
        <p:spPr>
          <a:xfrm>
            <a:off x="0" y="172341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Rectangle 14"/>
          <p:cNvSpPr>
            <a:spLocks noChangeArrowheads="1"/>
          </p:cNvSpPr>
          <p:nvPr/>
        </p:nvSpPr>
        <p:spPr bwMode="auto">
          <a:xfrm>
            <a:off x="2401540" y="5665365"/>
            <a:ext cx="5448867" cy="325438"/>
          </a:xfrm>
          <a:prstGeom prst="rect">
            <a:avLst/>
          </a:prstGeom>
          <a:noFill/>
          <a:ln w="9525" algn="ctr">
            <a:noFill/>
            <a:miter lim="800000"/>
            <a:headEnd/>
            <a:tailEnd/>
          </a:ln>
        </p:spPr>
        <p:txBody>
          <a:bodyPr wrap="none" anchor="ctr"/>
          <a:lstStyle/>
          <a:p>
            <a:r>
              <a:rPr lang="en-US" altLang="ko-KR" sz="2000" b="0" dirty="0">
                <a:solidFill>
                  <a:srgbClr val="FF0000"/>
                </a:solidFill>
                <a:latin typeface="+mj-ea"/>
                <a:ea typeface="+mj-ea"/>
              </a:rPr>
              <a:t>- </a:t>
            </a:r>
            <a:r>
              <a:rPr lang="ko-KR" altLang="en-US" sz="2000" b="0" dirty="0" err="1">
                <a:solidFill>
                  <a:srgbClr val="FF0000"/>
                </a:solidFill>
                <a:latin typeface="+mj-ea"/>
                <a:ea typeface="+mj-ea"/>
              </a:rPr>
              <a:t>부적법한</a:t>
            </a:r>
            <a:r>
              <a:rPr lang="ko-KR" altLang="en-US" sz="2000" b="0" dirty="0">
                <a:solidFill>
                  <a:srgbClr val="FF0000"/>
                </a:solidFill>
                <a:latin typeface="+mj-ea"/>
                <a:ea typeface="+mj-ea"/>
              </a:rPr>
              <a:t> 경우 방식위반으로 처리하여 </a:t>
            </a:r>
            <a:r>
              <a:rPr lang="ko-KR" altLang="en-US" sz="2000" b="0" dirty="0" err="1">
                <a:solidFill>
                  <a:srgbClr val="FF0000"/>
                </a:solidFill>
                <a:latin typeface="+mj-ea"/>
                <a:ea typeface="+mj-ea"/>
              </a:rPr>
              <a:t>보정명령후</a:t>
            </a:r>
            <a:r>
              <a:rPr lang="ko-KR" altLang="en-US" sz="2000" b="0" dirty="0">
                <a:solidFill>
                  <a:srgbClr val="FF0000"/>
                </a:solidFill>
                <a:latin typeface="+mj-ea"/>
                <a:ea typeface="+mj-ea"/>
              </a:rPr>
              <a:t> </a:t>
            </a:r>
            <a:r>
              <a:rPr lang="ko-KR" altLang="en-US" sz="2000" b="0" dirty="0">
                <a:solidFill>
                  <a:srgbClr val="FF0000"/>
                </a:solidFill>
                <a:highlight>
                  <a:srgbClr val="FFFF00"/>
                </a:highlight>
                <a:latin typeface="+mj-ea"/>
                <a:ea typeface="+mj-ea"/>
              </a:rPr>
              <a:t>공지예외적용주장</a:t>
            </a:r>
            <a:r>
              <a:rPr lang="ko-KR" altLang="en-US" sz="2000" b="0" dirty="0">
                <a:solidFill>
                  <a:srgbClr val="FF0000"/>
                </a:solidFill>
                <a:latin typeface="+mj-ea"/>
                <a:ea typeface="+mj-ea"/>
              </a:rPr>
              <a:t>을 무효 처분</a:t>
            </a:r>
            <a:endParaRPr lang="en-US" altLang="ko-KR" sz="2000" b="0" dirty="0">
              <a:solidFill>
                <a:srgbClr val="FF0000"/>
              </a:solidFill>
              <a:latin typeface="+mj-ea"/>
              <a:ea typeface="+mj-ea"/>
            </a:endParaRPr>
          </a:p>
          <a:p>
            <a:r>
              <a:rPr lang="en-US" altLang="ko-KR" sz="2000" dirty="0">
                <a:solidFill>
                  <a:srgbClr val="FF0000"/>
                </a:solidFill>
                <a:latin typeface="+mj-ea"/>
                <a:ea typeface="+mj-ea"/>
              </a:rPr>
              <a:t>- </a:t>
            </a:r>
            <a:r>
              <a:rPr lang="ko-KR" altLang="en-US" sz="2000" dirty="0">
                <a:solidFill>
                  <a:srgbClr val="FF0000"/>
                </a:solidFill>
                <a:latin typeface="+mj-ea"/>
                <a:ea typeface="+mj-ea"/>
              </a:rPr>
              <a:t>무효가 된 경우 공지예외적용주장은 처음부터 없었던 것으로 간주</a:t>
            </a:r>
            <a:endParaRPr lang="ko-KR" altLang="en-US" sz="2000" b="0" dirty="0">
              <a:solidFill>
                <a:srgbClr val="FF0000"/>
              </a:solidFill>
              <a:latin typeface="+mj-ea"/>
              <a:ea typeface="+mj-ea"/>
            </a:endParaRPr>
          </a:p>
        </p:txBody>
      </p:sp>
      <p:sp>
        <p:nvSpPr>
          <p:cNvPr id="28" name="직사각형 27"/>
          <p:cNvSpPr/>
          <p:nvPr/>
        </p:nvSpPr>
        <p:spPr>
          <a:xfrm>
            <a:off x="6875456" y="2488307"/>
            <a:ext cx="4306894" cy="25015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29" name="직사각형 28"/>
          <p:cNvSpPr/>
          <p:nvPr/>
        </p:nvSpPr>
        <p:spPr>
          <a:xfrm>
            <a:off x="542925" y="2488307"/>
            <a:ext cx="4306894" cy="25015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cxnSp>
        <p:nvCxnSpPr>
          <p:cNvPr id="30" name="직선 화살표 연결선 29"/>
          <p:cNvCxnSpPr/>
          <p:nvPr/>
        </p:nvCxnSpPr>
        <p:spPr>
          <a:xfrm>
            <a:off x="1351194" y="3321991"/>
            <a:ext cx="2569021" cy="0"/>
          </a:xfrm>
          <a:prstGeom prst="straightConnector1">
            <a:avLst/>
          </a:prstGeom>
          <a:ln w="2857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 name="Rectangle 14"/>
          <p:cNvSpPr>
            <a:spLocks noChangeArrowheads="1"/>
          </p:cNvSpPr>
          <p:nvPr/>
        </p:nvSpPr>
        <p:spPr bwMode="auto">
          <a:xfrm>
            <a:off x="2405944" y="3155394"/>
            <a:ext cx="351583" cy="333193"/>
          </a:xfrm>
          <a:prstGeom prst="ellipse">
            <a:avLst/>
          </a:prstGeom>
          <a:solidFill>
            <a:schemeClr val="accent4"/>
          </a:solidFill>
          <a:ln w="28575" algn="ctr">
            <a:solidFill>
              <a:schemeClr val="bg1">
                <a:lumMod val="50000"/>
              </a:schemeClr>
            </a:solidFill>
            <a:miter lim="800000"/>
            <a:headEnd/>
            <a:tailEnd/>
          </a:ln>
        </p:spPr>
        <p:txBody>
          <a:bodyPr wrap="none" anchor="ctr"/>
          <a:lstStyle/>
          <a:p>
            <a:pPr algn="ctr"/>
            <a:endParaRPr lang="ko-KR" altLang="en-US" sz="1100" b="0" dirty="0">
              <a:latin typeface="+mj-ea"/>
              <a:ea typeface="+mj-ea"/>
            </a:endParaRPr>
          </a:p>
        </p:txBody>
      </p:sp>
      <p:sp>
        <p:nvSpPr>
          <p:cNvPr id="32" name="Rectangle 14"/>
          <p:cNvSpPr>
            <a:spLocks noChangeArrowheads="1"/>
          </p:cNvSpPr>
          <p:nvPr/>
        </p:nvSpPr>
        <p:spPr bwMode="auto">
          <a:xfrm>
            <a:off x="843863" y="4279480"/>
            <a:ext cx="1406333" cy="376860"/>
          </a:xfrm>
          <a:prstGeom prst="rect">
            <a:avLst/>
          </a:prstGeom>
          <a:solidFill>
            <a:schemeClr val="accent1">
              <a:lumMod val="50000"/>
            </a:schemeClr>
          </a:solidFill>
          <a:ln w="19050" algn="ctr">
            <a:solidFill>
              <a:schemeClr val="bg1">
                <a:lumMod val="50000"/>
              </a:schemeClr>
            </a:solidFill>
            <a:miter lim="800000"/>
            <a:headEnd/>
            <a:tailEnd/>
          </a:ln>
        </p:spPr>
        <p:txBody>
          <a:bodyPr wrap="none" anchor="ctr"/>
          <a:lstStyle/>
          <a:p>
            <a:pPr algn="ctr"/>
            <a:r>
              <a:rPr lang="ko-KR" altLang="en-US" sz="1400" b="0" dirty="0">
                <a:solidFill>
                  <a:schemeClr val="bg1"/>
                </a:solidFill>
                <a:latin typeface="+mj-ea"/>
                <a:ea typeface="+mj-ea"/>
              </a:rPr>
              <a:t>공지예외적용주장</a:t>
            </a:r>
          </a:p>
        </p:txBody>
      </p:sp>
      <p:sp>
        <p:nvSpPr>
          <p:cNvPr id="33" name="Rectangle 14"/>
          <p:cNvSpPr>
            <a:spLocks noChangeArrowheads="1"/>
          </p:cNvSpPr>
          <p:nvPr/>
        </p:nvSpPr>
        <p:spPr bwMode="auto">
          <a:xfrm>
            <a:off x="2401540" y="4279480"/>
            <a:ext cx="376030" cy="376860"/>
          </a:xfrm>
          <a:prstGeom prst="rect">
            <a:avLst/>
          </a:prstGeom>
          <a:noFill/>
          <a:ln w="9525" algn="ctr">
            <a:noFill/>
            <a:miter lim="800000"/>
            <a:headEnd/>
            <a:tailEnd/>
          </a:ln>
        </p:spPr>
        <p:txBody>
          <a:bodyPr wrap="none" anchor="ctr"/>
          <a:lstStyle/>
          <a:p>
            <a:pPr algn="ctr"/>
            <a:r>
              <a:rPr lang="en-US" altLang="ko-KR" sz="4400" b="0" dirty="0">
                <a:latin typeface="+mj-ea"/>
                <a:ea typeface="+mj-ea"/>
              </a:rPr>
              <a:t>+</a:t>
            </a:r>
            <a:endParaRPr lang="ko-KR" altLang="en-US" sz="1400" b="0" dirty="0">
              <a:latin typeface="+mj-ea"/>
              <a:ea typeface="+mj-ea"/>
            </a:endParaRPr>
          </a:p>
        </p:txBody>
      </p:sp>
      <p:sp>
        <p:nvSpPr>
          <p:cNvPr id="34" name="Rectangle 14"/>
          <p:cNvSpPr>
            <a:spLocks noChangeArrowheads="1"/>
          </p:cNvSpPr>
          <p:nvPr/>
        </p:nvSpPr>
        <p:spPr bwMode="auto">
          <a:xfrm>
            <a:off x="2896068" y="4279480"/>
            <a:ext cx="1406333" cy="376860"/>
          </a:xfrm>
          <a:prstGeom prst="rect">
            <a:avLst/>
          </a:prstGeom>
          <a:solidFill>
            <a:schemeClr val="accent2">
              <a:lumMod val="50000"/>
            </a:schemeClr>
          </a:solidFill>
          <a:ln w="19050" algn="ctr">
            <a:solidFill>
              <a:schemeClr val="bg1">
                <a:lumMod val="50000"/>
              </a:schemeClr>
            </a:solidFill>
            <a:miter lim="800000"/>
            <a:headEnd/>
            <a:tailEnd/>
          </a:ln>
        </p:spPr>
        <p:txBody>
          <a:bodyPr wrap="none" anchor="ctr"/>
          <a:lstStyle/>
          <a:p>
            <a:pPr algn="ctr"/>
            <a:r>
              <a:rPr lang="ko-KR" altLang="en-US" sz="1400" b="0" dirty="0">
                <a:solidFill>
                  <a:schemeClr val="bg1"/>
                </a:solidFill>
                <a:latin typeface="+mj-ea"/>
                <a:ea typeface="+mj-ea"/>
              </a:rPr>
              <a:t>특허출원</a:t>
            </a:r>
          </a:p>
        </p:txBody>
      </p:sp>
      <p:cxnSp>
        <p:nvCxnSpPr>
          <p:cNvPr id="35" name="직선 화살표 연결선 34"/>
          <p:cNvCxnSpPr>
            <a:stCxn id="32" idx="0"/>
            <a:endCxn id="31" idx="3"/>
          </p:cNvCxnSpPr>
          <p:nvPr/>
        </p:nvCxnSpPr>
        <p:spPr>
          <a:xfrm flipV="1">
            <a:off x="1547029" y="3439792"/>
            <a:ext cx="910403" cy="839688"/>
          </a:xfrm>
          <a:prstGeom prst="straightConnector1">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6" name="직선 화살표 연결선 35"/>
          <p:cNvCxnSpPr>
            <a:stCxn id="34" idx="0"/>
            <a:endCxn id="31" idx="5"/>
          </p:cNvCxnSpPr>
          <p:nvPr/>
        </p:nvCxnSpPr>
        <p:spPr>
          <a:xfrm flipH="1" flipV="1">
            <a:off x="2706039" y="3439792"/>
            <a:ext cx="893195" cy="839688"/>
          </a:xfrm>
          <a:prstGeom prst="straightConnector1">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9" name="직선 화살표 연결선 38"/>
          <p:cNvCxnSpPr/>
          <p:nvPr/>
        </p:nvCxnSpPr>
        <p:spPr>
          <a:xfrm>
            <a:off x="7348151" y="3321991"/>
            <a:ext cx="2569021" cy="0"/>
          </a:xfrm>
          <a:prstGeom prst="straightConnector1">
            <a:avLst/>
          </a:prstGeom>
          <a:ln w="2857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0" name="Rectangle 14"/>
          <p:cNvSpPr>
            <a:spLocks noChangeArrowheads="1"/>
          </p:cNvSpPr>
          <p:nvPr/>
        </p:nvSpPr>
        <p:spPr bwMode="auto">
          <a:xfrm>
            <a:off x="8402901" y="3155394"/>
            <a:ext cx="351583" cy="333193"/>
          </a:xfrm>
          <a:prstGeom prst="ellipse">
            <a:avLst/>
          </a:prstGeom>
          <a:solidFill>
            <a:schemeClr val="accent4"/>
          </a:solidFill>
          <a:ln w="28575" algn="ctr">
            <a:solidFill>
              <a:schemeClr val="bg1">
                <a:lumMod val="50000"/>
              </a:schemeClr>
            </a:solidFill>
            <a:miter lim="800000"/>
            <a:headEnd/>
            <a:tailEnd/>
          </a:ln>
        </p:spPr>
        <p:txBody>
          <a:bodyPr wrap="none" anchor="ctr"/>
          <a:lstStyle/>
          <a:p>
            <a:pPr algn="ctr"/>
            <a:endParaRPr lang="ko-KR" altLang="en-US" sz="1100" b="0" dirty="0">
              <a:latin typeface="+mj-ea"/>
              <a:ea typeface="+mj-ea"/>
            </a:endParaRPr>
          </a:p>
        </p:txBody>
      </p:sp>
      <p:sp>
        <p:nvSpPr>
          <p:cNvPr id="43" name="Rectangle 14"/>
          <p:cNvSpPr>
            <a:spLocks noChangeArrowheads="1"/>
          </p:cNvSpPr>
          <p:nvPr/>
        </p:nvSpPr>
        <p:spPr bwMode="auto">
          <a:xfrm>
            <a:off x="8398497" y="4279480"/>
            <a:ext cx="376030" cy="376860"/>
          </a:xfrm>
          <a:prstGeom prst="rect">
            <a:avLst/>
          </a:prstGeom>
          <a:noFill/>
          <a:ln w="9525" algn="ctr">
            <a:noFill/>
            <a:miter lim="800000"/>
            <a:headEnd/>
            <a:tailEnd/>
          </a:ln>
        </p:spPr>
        <p:txBody>
          <a:bodyPr wrap="none" anchor="ctr"/>
          <a:lstStyle/>
          <a:p>
            <a:pPr algn="ctr"/>
            <a:endParaRPr lang="ko-KR" altLang="en-US" sz="1400" b="0" dirty="0">
              <a:latin typeface="+mj-ea"/>
              <a:ea typeface="+mj-ea"/>
            </a:endParaRPr>
          </a:p>
        </p:txBody>
      </p:sp>
      <p:sp>
        <p:nvSpPr>
          <p:cNvPr id="47" name="Rectangle 14"/>
          <p:cNvSpPr>
            <a:spLocks noChangeArrowheads="1"/>
          </p:cNvSpPr>
          <p:nvPr/>
        </p:nvSpPr>
        <p:spPr bwMode="auto">
          <a:xfrm>
            <a:off x="8893025" y="4279480"/>
            <a:ext cx="1406333" cy="376860"/>
          </a:xfrm>
          <a:prstGeom prst="rect">
            <a:avLst/>
          </a:prstGeom>
          <a:solidFill>
            <a:schemeClr val="accent2">
              <a:lumMod val="50000"/>
            </a:schemeClr>
          </a:solidFill>
          <a:ln w="19050" algn="ctr">
            <a:solidFill>
              <a:schemeClr val="bg1">
                <a:lumMod val="50000"/>
              </a:schemeClr>
            </a:solidFill>
            <a:miter lim="800000"/>
            <a:headEnd/>
            <a:tailEnd/>
          </a:ln>
        </p:spPr>
        <p:txBody>
          <a:bodyPr wrap="none" anchor="ctr"/>
          <a:lstStyle/>
          <a:p>
            <a:pPr algn="ctr"/>
            <a:r>
              <a:rPr lang="ko-KR" altLang="en-US" sz="1400" b="0" dirty="0">
                <a:solidFill>
                  <a:schemeClr val="bg1"/>
                </a:solidFill>
                <a:latin typeface="+mj-ea"/>
                <a:ea typeface="+mj-ea"/>
              </a:rPr>
              <a:t>특허출원</a:t>
            </a:r>
          </a:p>
        </p:txBody>
      </p:sp>
      <p:cxnSp>
        <p:nvCxnSpPr>
          <p:cNvPr id="49" name="직선 화살표 연결선 48"/>
          <p:cNvCxnSpPr>
            <a:stCxn id="47" idx="0"/>
            <a:endCxn id="40" idx="5"/>
          </p:cNvCxnSpPr>
          <p:nvPr/>
        </p:nvCxnSpPr>
        <p:spPr>
          <a:xfrm flipH="1" flipV="1">
            <a:off x="8702996" y="3439792"/>
            <a:ext cx="893195" cy="839688"/>
          </a:xfrm>
          <a:prstGeom prst="straightConnector1">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1" name="오른쪽 화살표 50"/>
          <p:cNvSpPr/>
          <p:nvPr/>
        </p:nvSpPr>
        <p:spPr>
          <a:xfrm>
            <a:off x="5238652" y="3086211"/>
            <a:ext cx="1318437" cy="1250788"/>
          </a:xfrm>
          <a:prstGeom prst="rightArrow">
            <a:avLst/>
          </a:prstGeom>
          <a:solidFill>
            <a:schemeClr val="accent3">
              <a:lumMod val="20000"/>
              <a:lumOff val="8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400" dirty="0">
                <a:solidFill>
                  <a:schemeClr val="accent5">
                    <a:lumMod val="75000"/>
                  </a:schemeClr>
                </a:solidFill>
              </a:rPr>
              <a:t>효과</a:t>
            </a:r>
          </a:p>
        </p:txBody>
      </p:sp>
      <p:cxnSp>
        <p:nvCxnSpPr>
          <p:cNvPr id="50" name="꺾인 연결선 49"/>
          <p:cNvCxnSpPr>
            <a:stCxn id="32" idx="2"/>
            <a:endCxn id="42" idx="1"/>
          </p:cNvCxnSpPr>
          <p:nvPr/>
        </p:nvCxnSpPr>
        <p:spPr>
          <a:xfrm rot="16200000" flipH="1">
            <a:off x="1388413" y="4814957"/>
            <a:ext cx="1171744" cy="854510"/>
          </a:xfrm>
          <a:prstGeom prst="bentConnector2">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 name="모서리가 둥근 사각형 설명선 1"/>
          <p:cNvSpPr/>
          <p:nvPr/>
        </p:nvSpPr>
        <p:spPr>
          <a:xfrm>
            <a:off x="3724275" y="3711605"/>
            <a:ext cx="1401698" cy="469870"/>
          </a:xfrm>
          <a:prstGeom prst="wedgeRoundRectCallout">
            <a:avLst>
              <a:gd name="adj1" fmla="val -33065"/>
              <a:gd name="adj2" fmla="val 64527"/>
              <a:gd name="adj3" fmla="val 16667"/>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bg1">
                    <a:lumMod val="50000"/>
                  </a:schemeClr>
                </a:solidFill>
              </a:rPr>
              <a:t>특허결정해</a:t>
            </a:r>
            <a:r>
              <a:rPr lang="ko-KR" altLang="en-US" sz="1400" dirty="0">
                <a:solidFill>
                  <a:schemeClr val="bg1">
                    <a:lumMod val="50000"/>
                  </a:schemeClr>
                </a:solidFill>
              </a:rPr>
              <a:t> 달라</a:t>
            </a:r>
          </a:p>
        </p:txBody>
      </p:sp>
      <p:sp>
        <p:nvSpPr>
          <p:cNvPr id="24" name="모서리가 둥근 사각형 설명선 23"/>
          <p:cNvSpPr/>
          <p:nvPr/>
        </p:nvSpPr>
        <p:spPr>
          <a:xfrm>
            <a:off x="145331" y="3440962"/>
            <a:ext cx="1483444" cy="692888"/>
          </a:xfrm>
          <a:prstGeom prst="wedgeRoundRectCallout">
            <a:avLst>
              <a:gd name="adj1" fmla="val 25374"/>
              <a:gd name="adj2" fmla="val 65901"/>
              <a:gd name="adj3" fmla="val 16667"/>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lumMod val="50000"/>
                  </a:schemeClr>
                </a:solidFill>
              </a:rPr>
              <a:t>공지가 안 된 것으로 간주해 달라</a:t>
            </a:r>
          </a:p>
        </p:txBody>
      </p:sp>
      <p:sp>
        <p:nvSpPr>
          <p:cNvPr id="5" name="슬라이드 번호 개체 틀 4"/>
          <p:cNvSpPr>
            <a:spLocks noGrp="1"/>
          </p:cNvSpPr>
          <p:nvPr>
            <p:ph type="sldNum" sz="quarter" idx="12"/>
          </p:nvPr>
        </p:nvSpPr>
        <p:spPr/>
        <p:txBody>
          <a:bodyPr/>
          <a:lstStyle/>
          <a:p>
            <a:r>
              <a:rPr lang="en-US" altLang="ko-KR"/>
              <a:t>151</a:t>
            </a:r>
            <a:endParaRPr lang="ko-KR" altLang="en-US"/>
          </a:p>
        </p:txBody>
      </p:sp>
    </p:spTree>
    <p:extLst>
      <p:ext uri="{BB962C8B-B14F-4D97-AF65-F5344CB8AC3E}">
        <p14:creationId xmlns:p14="http://schemas.microsoft.com/office/powerpoint/2010/main" val="3290800326"/>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도넛 6"/>
          <p:cNvSpPr/>
          <p:nvPr/>
        </p:nvSpPr>
        <p:spPr>
          <a:xfrm>
            <a:off x="6844724" y="3985043"/>
            <a:ext cx="982766" cy="982766"/>
          </a:xfrm>
          <a:prstGeom prst="donut">
            <a:avLst>
              <a:gd name="adj" fmla="val 13323"/>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102" name="곱셈 기호 101"/>
          <p:cNvSpPr/>
          <p:nvPr/>
        </p:nvSpPr>
        <p:spPr>
          <a:xfrm>
            <a:off x="4944974" y="2387649"/>
            <a:ext cx="1524192" cy="1551962"/>
          </a:xfrm>
          <a:prstGeom prst="mathMultiply">
            <a:avLst>
              <a:gd name="adj1" fmla="val 8495"/>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30</a:t>
            </a:r>
            <a:r>
              <a:rPr lang="ko-KR" altLang="en-US" dirty="0"/>
              <a:t>조</a:t>
            </a:r>
          </a:p>
        </p:txBody>
      </p:sp>
      <p:sp>
        <p:nvSpPr>
          <p:cNvPr id="4" name="텍스트 개체 틀 3"/>
          <p:cNvSpPr>
            <a:spLocks noGrp="1"/>
          </p:cNvSpPr>
          <p:nvPr>
            <p:ph type="body" sz="quarter" idx="13"/>
          </p:nvPr>
        </p:nvSpPr>
        <p:spPr/>
        <p:txBody>
          <a:bodyPr/>
          <a:lstStyle/>
          <a:p>
            <a:r>
              <a:rPr lang="ko-KR" altLang="en-US" dirty="0"/>
              <a:t>공지예외적용사유가 아닌 공지가 있는 경우</a:t>
            </a:r>
          </a:p>
        </p:txBody>
      </p:sp>
      <p:sp>
        <p:nvSpPr>
          <p:cNvPr id="26" name="TextBox 25"/>
          <p:cNvSpPr txBox="1"/>
          <p:nvPr/>
        </p:nvSpPr>
        <p:spPr>
          <a:xfrm>
            <a:off x="77875" y="986046"/>
            <a:ext cx="11936323" cy="738664"/>
          </a:xfrm>
          <a:prstGeom prst="rect">
            <a:avLst/>
          </a:prstGeom>
          <a:noFill/>
        </p:spPr>
        <p:txBody>
          <a:bodyPr wrap="square" rtlCol="0">
            <a:spAutoFit/>
          </a:bodyPr>
          <a:lstStyle/>
          <a:p>
            <a:pPr fontAlgn="base"/>
            <a:r>
              <a:rPr lang="ko-KR" altLang="en-US" sz="1400" dirty="0">
                <a:highlight>
                  <a:srgbClr val="FFFF00"/>
                </a:highlight>
              </a:rPr>
              <a:t>공지예외적용사유</a:t>
            </a:r>
            <a:r>
              <a:rPr lang="en-US" altLang="ko-KR" sz="1400" dirty="0">
                <a:highlight>
                  <a:srgbClr val="FFFF00"/>
                </a:highlight>
              </a:rPr>
              <a:t>(</a:t>
            </a:r>
            <a:r>
              <a:rPr lang="ko-KR" altLang="en-US" sz="1400" dirty="0">
                <a:highlight>
                  <a:srgbClr val="FFFF00"/>
                </a:highlight>
              </a:rPr>
              <a:t>法 </a:t>
            </a:r>
            <a:r>
              <a:rPr lang="en-US" altLang="ko-KR" sz="1400" dirty="0">
                <a:highlight>
                  <a:srgbClr val="FFFF00"/>
                </a:highlight>
              </a:rPr>
              <a:t>30①</a:t>
            </a:r>
            <a:r>
              <a:rPr lang="ko-KR" altLang="en-US" sz="1400" dirty="0">
                <a:highlight>
                  <a:srgbClr val="FFFF00"/>
                </a:highlight>
              </a:rPr>
              <a:t>각호</a:t>
            </a:r>
            <a:r>
              <a:rPr lang="en-US" altLang="ko-KR" sz="1400" dirty="0">
                <a:highlight>
                  <a:srgbClr val="FFFF00"/>
                </a:highlight>
              </a:rPr>
              <a:t>)</a:t>
            </a:r>
            <a:r>
              <a:rPr lang="ko-KR" altLang="en-US" sz="1400" dirty="0">
                <a:highlight>
                  <a:srgbClr val="FFFF00"/>
                </a:highlight>
              </a:rPr>
              <a:t>가 아닌 다른 사유로 공지된 경우</a:t>
            </a:r>
            <a:r>
              <a:rPr lang="ko-KR" altLang="en-US" sz="1400" dirty="0">
                <a:solidFill>
                  <a:schemeClr val="tx2"/>
                </a:solidFill>
              </a:rPr>
              <a:t>에는 다른 공지에 의하여 </a:t>
            </a:r>
            <a:r>
              <a:rPr lang="ko-KR" altLang="en-US" sz="1400" dirty="0" err="1">
                <a:solidFill>
                  <a:schemeClr val="tx2"/>
                </a:solidFill>
              </a:rPr>
              <a:t>특허출원된</a:t>
            </a:r>
            <a:r>
              <a:rPr lang="ko-KR" altLang="en-US" sz="1400" dirty="0">
                <a:solidFill>
                  <a:schemeClr val="tx2"/>
                </a:solidFill>
              </a:rPr>
              <a:t> 발명의 신규성 또는 진보성을 판단하여야 한다</a:t>
            </a:r>
            <a:r>
              <a:rPr lang="en-US" altLang="ko-KR" sz="1400" dirty="0">
                <a:solidFill>
                  <a:schemeClr val="tx2"/>
                </a:solidFill>
              </a:rPr>
              <a:t>. </a:t>
            </a:r>
            <a:r>
              <a:rPr lang="ko-KR" altLang="en-US" sz="1400" dirty="0">
                <a:solidFill>
                  <a:schemeClr val="tx2"/>
                </a:solidFill>
              </a:rPr>
              <a:t>예를 들어</a:t>
            </a:r>
            <a:r>
              <a:rPr lang="en-US" altLang="ko-KR" sz="1400" dirty="0">
                <a:solidFill>
                  <a:schemeClr val="tx2"/>
                </a:solidFill>
              </a:rPr>
              <a:t>, </a:t>
            </a:r>
            <a:r>
              <a:rPr lang="ko-KR" altLang="en-US" sz="1400" dirty="0">
                <a:solidFill>
                  <a:schemeClr val="tx2"/>
                </a:solidFill>
              </a:rPr>
              <a:t>공지예외적용사유에 해당하는 공지가 있는 날과 특허출원일 사이에 </a:t>
            </a:r>
            <a:r>
              <a:rPr lang="ko-KR" altLang="en-US" sz="1400" dirty="0" err="1">
                <a:solidFill>
                  <a:schemeClr val="tx2"/>
                </a:solidFill>
              </a:rPr>
              <a:t>출원발명과</a:t>
            </a:r>
            <a:r>
              <a:rPr lang="ko-KR" altLang="en-US" sz="1400" dirty="0">
                <a:solidFill>
                  <a:schemeClr val="tx2"/>
                </a:solidFill>
              </a:rPr>
              <a:t> 동일한 발명에 대하여 공지예외적용사유가 아닌 공지가 있는 경우 그 </a:t>
            </a:r>
            <a:r>
              <a:rPr lang="ko-KR" altLang="en-US" sz="1400" dirty="0" err="1">
                <a:solidFill>
                  <a:schemeClr val="tx2"/>
                </a:solidFill>
              </a:rPr>
              <a:t>특허출원된</a:t>
            </a:r>
            <a:r>
              <a:rPr lang="ko-KR" altLang="en-US" sz="1400" dirty="0">
                <a:solidFill>
                  <a:schemeClr val="tx2"/>
                </a:solidFill>
              </a:rPr>
              <a:t> 발명은 신규성이 없는 것으로 하여 </a:t>
            </a:r>
            <a:r>
              <a:rPr lang="ko-KR" altLang="en-US" sz="1400" dirty="0" err="1">
                <a:solidFill>
                  <a:schemeClr val="tx2"/>
                </a:solidFill>
              </a:rPr>
              <a:t>특허거절결정된다</a:t>
            </a:r>
            <a:r>
              <a:rPr lang="en-US" altLang="ko-KR" sz="1400" dirty="0">
                <a:solidFill>
                  <a:schemeClr val="tx2"/>
                </a:solidFill>
              </a:rPr>
              <a:t>. </a:t>
            </a:r>
            <a:endParaRPr lang="ko-KR" altLang="en-US" sz="1400" dirty="0">
              <a:solidFill>
                <a:schemeClr val="tx2"/>
              </a:solidFill>
            </a:endParaRPr>
          </a:p>
        </p:txBody>
      </p:sp>
      <p:cxnSp>
        <p:nvCxnSpPr>
          <p:cNvPr id="27" name="직선 연결선 26"/>
          <p:cNvCxnSpPr/>
          <p:nvPr/>
        </p:nvCxnSpPr>
        <p:spPr>
          <a:xfrm>
            <a:off x="0" y="172471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직선 연결선 77"/>
          <p:cNvCxnSpPr/>
          <p:nvPr/>
        </p:nvCxnSpPr>
        <p:spPr>
          <a:xfrm>
            <a:off x="514350" y="3748083"/>
            <a:ext cx="1104053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TextBox 78"/>
          <p:cNvSpPr txBox="1"/>
          <p:nvPr/>
        </p:nvSpPr>
        <p:spPr>
          <a:xfrm>
            <a:off x="1298793" y="3007770"/>
            <a:ext cx="1484624" cy="328639"/>
          </a:xfrm>
          <a:prstGeom prst="rect">
            <a:avLst/>
          </a:prstGeom>
          <a:solidFill>
            <a:schemeClr val="accent4">
              <a:lumMod val="40000"/>
              <a:lumOff val="60000"/>
            </a:schemeClr>
          </a:solidFill>
          <a:ln>
            <a:solidFill>
              <a:schemeClr val="bg1">
                <a:lumMod val="50000"/>
              </a:schemeClr>
            </a:solidFill>
          </a:ln>
        </p:spPr>
        <p:txBody>
          <a:bodyPr wrap="square" rtlCol="0">
            <a:noAutofit/>
          </a:bodyPr>
          <a:lstStyle/>
          <a:p>
            <a:pPr algn="ctr"/>
            <a:r>
              <a:rPr lang="ko-KR" altLang="en-US" sz="1400" dirty="0"/>
              <a:t>甲 </a:t>
            </a:r>
            <a:r>
              <a:rPr lang="en-US" altLang="ko-KR" sz="1400" dirty="0"/>
              <a:t>A</a:t>
            </a:r>
            <a:r>
              <a:rPr lang="ko-KR" altLang="en-US" sz="1400" dirty="0"/>
              <a:t> 발명</a:t>
            </a:r>
          </a:p>
        </p:txBody>
      </p:sp>
      <p:cxnSp>
        <p:nvCxnSpPr>
          <p:cNvPr id="80" name="직선 화살표 연결선 79"/>
          <p:cNvCxnSpPr>
            <a:stCxn id="79" idx="2"/>
          </p:cNvCxnSpPr>
          <p:nvPr/>
        </p:nvCxnSpPr>
        <p:spPr>
          <a:xfrm>
            <a:off x="2041105" y="3336409"/>
            <a:ext cx="0" cy="355653"/>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1" name="직선 화살표 연결선 80"/>
          <p:cNvCxnSpPr>
            <a:stCxn id="84" idx="0"/>
          </p:cNvCxnSpPr>
          <p:nvPr/>
        </p:nvCxnSpPr>
        <p:spPr>
          <a:xfrm flipV="1">
            <a:off x="3143436" y="3810537"/>
            <a:ext cx="0" cy="507426"/>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TextBox 81"/>
          <p:cNvSpPr txBox="1"/>
          <p:nvPr/>
        </p:nvSpPr>
        <p:spPr>
          <a:xfrm>
            <a:off x="4944974" y="3007770"/>
            <a:ext cx="1524192" cy="328639"/>
          </a:xfrm>
          <a:prstGeom prst="rect">
            <a:avLst/>
          </a:prstGeom>
          <a:solidFill>
            <a:schemeClr val="accent4">
              <a:lumMod val="40000"/>
              <a:lumOff val="60000"/>
            </a:schemeClr>
          </a:solidFill>
          <a:ln>
            <a:solidFill>
              <a:schemeClr val="bg1">
                <a:lumMod val="50000"/>
              </a:schemeClr>
            </a:solidFill>
          </a:ln>
        </p:spPr>
        <p:txBody>
          <a:bodyPr wrap="square" rtlCol="0">
            <a:noAutofit/>
          </a:bodyPr>
          <a:lstStyle/>
          <a:p>
            <a:pPr algn="ctr"/>
            <a:r>
              <a:rPr lang="ko-KR" altLang="en-US" sz="1400" dirty="0"/>
              <a:t>甲 </a:t>
            </a:r>
            <a:r>
              <a:rPr lang="en-US" altLang="ko-KR" sz="1400" dirty="0"/>
              <a:t>A</a:t>
            </a:r>
            <a:r>
              <a:rPr lang="ko-KR" altLang="en-US" sz="1400" dirty="0"/>
              <a:t> 간행물 발표</a:t>
            </a:r>
          </a:p>
        </p:txBody>
      </p:sp>
      <p:cxnSp>
        <p:nvCxnSpPr>
          <p:cNvPr id="83" name="직선 화살표 연결선 82"/>
          <p:cNvCxnSpPr>
            <a:stCxn id="82" idx="2"/>
          </p:cNvCxnSpPr>
          <p:nvPr/>
        </p:nvCxnSpPr>
        <p:spPr>
          <a:xfrm>
            <a:off x="5707070" y="3336409"/>
            <a:ext cx="0" cy="355653"/>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4" name="TextBox 83"/>
          <p:cNvSpPr txBox="1"/>
          <p:nvPr/>
        </p:nvSpPr>
        <p:spPr>
          <a:xfrm>
            <a:off x="2468860" y="4317963"/>
            <a:ext cx="1349152" cy="328639"/>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sz="1400" dirty="0"/>
              <a:t>乙 </a:t>
            </a:r>
            <a:r>
              <a:rPr lang="en-US" altLang="ko-KR" sz="1400" dirty="0"/>
              <a:t>A</a:t>
            </a:r>
            <a:r>
              <a:rPr lang="ko-KR" altLang="en-US" sz="1400" dirty="0"/>
              <a:t> 발명</a:t>
            </a:r>
          </a:p>
        </p:txBody>
      </p:sp>
      <p:sp>
        <p:nvSpPr>
          <p:cNvPr id="97" name="모서리가 둥근 사각형 설명선 96"/>
          <p:cNvSpPr/>
          <p:nvPr/>
        </p:nvSpPr>
        <p:spPr>
          <a:xfrm>
            <a:off x="3517826" y="5535468"/>
            <a:ext cx="8536060" cy="466725"/>
          </a:xfrm>
          <a:prstGeom prst="wedgeRoundRectCallout">
            <a:avLst>
              <a:gd name="adj1" fmla="val -36119"/>
              <a:gd name="adj2" fmla="val -214443"/>
              <a:gd name="adj3" fmla="val 16667"/>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dirty="0">
                <a:solidFill>
                  <a:srgbClr val="FF0000"/>
                </a:solidFill>
              </a:rPr>
              <a:t>특허를 받을 수 있는 권리를 가진 자</a:t>
            </a:r>
            <a:r>
              <a:rPr lang="en-US" altLang="ko-KR" dirty="0">
                <a:solidFill>
                  <a:srgbClr val="FF0000"/>
                </a:solidFill>
              </a:rPr>
              <a:t>(</a:t>
            </a:r>
            <a:r>
              <a:rPr lang="ko-KR" altLang="en-US" dirty="0">
                <a:solidFill>
                  <a:srgbClr val="FF0000"/>
                </a:solidFill>
              </a:rPr>
              <a:t>甲</a:t>
            </a:r>
            <a:r>
              <a:rPr lang="en-US" altLang="ko-KR" dirty="0">
                <a:solidFill>
                  <a:srgbClr val="FF0000"/>
                </a:solidFill>
              </a:rPr>
              <a:t>)</a:t>
            </a:r>
            <a:r>
              <a:rPr lang="ko-KR" altLang="en-US" dirty="0">
                <a:solidFill>
                  <a:srgbClr val="FF0000"/>
                </a:solidFill>
              </a:rPr>
              <a:t>의 발명이 아니기 때문에 공지예외적용주장 不可</a:t>
            </a:r>
          </a:p>
        </p:txBody>
      </p:sp>
      <p:sp>
        <p:nvSpPr>
          <p:cNvPr id="98" name="TextBox 97"/>
          <p:cNvSpPr txBox="1"/>
          <p:nvPr/>
        </p:nvSpPr>
        <p:spPr>
          <a:xfrm>
            <a:off x="6661531" y="4317963"/>
            <a:ext cx="1349152" cy="328639"/>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sz="1400" dirty="0"/>
              <a:t>乙 </a:t>
            </a:r>
            <a:r>
              <a:rPr lang="en-US" altLang="ko-KR" sz="1400" dirty="0"/>
              <a:t>A</a:t>
            </a:r>
            <a:r>
              <a:rPr lang="ko-KR" altLang="en-US" sz="1400" dirty="0"/>
              <a:t> </a:t>
            </a:r>
            <a:r>
              <a:rPr lang="ko-KR" altLang="en-US" sz="1400" dirty="0" err="1"/>
              <a:t>공연실시</a:t>
            </a:r>
            <a:endParaRPr lang="ko-KR" altLang="en-US" sz="1400" dirty="0"/>
          </a:p>
        </p:txBody>
      </p:sp>
      <p:sp>
        <p:nvSpPr>
          <p:cNvPr id="99" name="TextBox 98"/>
          <p:cNvSpPr txBox="1"/>
          <p:nvPr/>
        </p:nvSpPr>
        <p:spPr>
          <a:xfrm>
            <a:off x="7978731" y="3007770"/>
            <a:ext cx="2179630" cy="328639"/>
          </a:xfrm>
          <a:prstGeom prst="rect">
            <a:avLst/>
          </a:prstGeom>
          <a:solidFill>
            <a:schemeClr val="accent4">
              <a:lumMod val="40000"/>
              <a:lumOff val="60000"/>
            </a:schemeClr>
          </a:solidFill>
          <a:ln>
            <a:solidFill>
              <a:schemeClr val="bg1">
                <a:lumMod val="50000"/>
              </a:schemeClr>
            </a:solidFill>
          </a:ln>
        </p:spPr>
        <p:txBody>
          <a:bodyPr wrap="square" rtlCol="0">
            <a:noAutofit/>
          </a:bodyPr>
          <a:lstStyle/>
          <a:p>
            <a:pPr algn="ctr"/>
            <a:r>
              <a:rPr lang="ko-KR" altLang="en-US" sz="1400" dirty="0"/>
              <a:t>甲 </a:t>
            </a:r>
            <a:r>
              <a:rPr lang="en-US" altLang="ko-KR" sz="1400" dirty="0"/>
              <a:t>A</a:t>
            </a:r>
            <a:r>
              <a:rPr lang="ko-KR" altLang="en-US" sz="1400" dirty="0"/>
              <a:t> </a:t>
            </a:r>
            <a:r>
              <a:rPr lang="ko-KR" altLang="en-US" sz="1400" dirty="0" err="1"/>
              <a:t>공지예외적용주장출원</a:t>
            </a:r>
            <a:endParaRPr lang="ko-KR" altLang="en-US" sz="1400" dirty="0"/>
          </a:p>
        </p:txBody>
      </p:sp>
      <p:cxnSp>
        <p:nvCxnSpPr>
          <p:cNvPr id="100" name="직선 화살표 연결선 99"/>
          <p:cNvCxnSpPr>
            <a:stCxn id="99" idx="2"/>
          </p:cNvCxnSpPr>
          <p:nvPr/>
        </p:nvCxnSpPr>
        <p:spPr>
          <a:xfrm flipH="1">
            <a:off x="9067088" y="3336409"/>
            <a:ext cx="1458" cy="355653"/>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1" name="직선 화살표 연결선 100"/>
          <p:cNvCxnSpPr/>
          <p:nvPr/>
        </p:nvCxnSpPr>
        <p:spPr>
          <a:xfrm flipV="1">
            <a:off x="7351218" y="3810537"/>
            <a:ext cx="0" cy="43051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 name="직선 화살표 연결선 9"/>
          <p:cNvCxnSpPr/>
          <p:nvPr/>
        </p:nvCxnSpPr>
        <p:spPr>
          <a:xfrm flipH="1" flipV="1">
            <a:off x="7827490" y="4836920"/>
            <a:ext cx="507910" cy="698548"/>
          </a:xfrm>
          <a:prstGeom prst="straightConnector1">
            <a:avLst/>
          </a:prstGeom>
          <a:ln w="57150">
            <a:solidFill>
              <a:schemeClr val="accent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152</a:t>
            </a:r>
            <a:endParaRPr lang="ko-KR" altLang="en-US"/>
          </a:p>
        </p:txBody>
      </p:sp>
    </p:spTree>
    <p:extLst>
      <p:ext uri="{BB962C8B-B14F-4D97-AF65-F5344CB8AC3E}">
        <p14:creationId xmlns:p14="http://schemas.microsoft.com/office/powerpoint/2010/main" val="2451909281"/>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사각형: 둥근 모서리 12">
            <a:extLst>
              <a:ext uri="{FF2B5EF4-FFF2-40B4-BE49-F238E27FC236}">
                <a16:creationId xmlns:a16="http://schemas.microsoft.com/office/drawing/2014/main" id="{56A51315-0237-9D7C-9BAB-F206940FC535}"/>
              </a:ext>
            </a:extLst>
          </p:cNvPr>
          <p:cNvSpPr/>
          <p:nvPr/>
        </p:nvSpPr>
        <p:spPr>
          <a:xfrm>
            <a:off x="6108568" y="2340330"/>
            <a:ext cx="3559307" cy="361024"/>
          </a:xfrm>
          <a:prstGeom prst="roundRect">
            <a:avLst>
              <a:gd name="adj" fmla="val 50000"/>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사각형: 둥근 모서리 11">
            <a:extLst>
              <a:ext uri="{FF2B5EF4-FFF2-40B4-BE49-F238E27FC236}">
                <a16:creationId xmlns:a16="http://schemas.microsoft.com/office/drawing/2014/main" id="{3C2F508E-3664-C61F-075F-16B85B8ABE45}"/>
              </a:ext>
            </a:extLst>
          </p:cNvPr>
          <p:cNvSpPr/>
          <p:nvPr/>
        </p:nvSpPr>
        <p:spPr>
          <a:xfrm>
            <a:off x="1590676" y="2340330"/>
            <a:ext cx="4519566" cy="361024"/>
          </a:xfrm>
          <a:prstGeom prst="roundRect">
            <a:avLst>
              <a:gd name="adj" fmla="val 50000"/>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30</a:t>
            </a:r>
            <a:r>
              <a:rPr lang="ko-KR" altLang="en-US" dirty="0"/>
              <a:t>조</a:t>
            </a:r>
          </a:p>
        </p:txBody>
      </p:sp>
      <p:sp>
        <p:nvSpPr>
          <p:cNvPr id="4" name="텍스트 개체 틀 3"/>
          <p:cNvSpPr>
            <a:spLocks noGrp="1"/>
          </p:cNvSpPr>
          <p:nvPr>
            <p:ph type="body" sz="quarter" idx="13"/>
          </p:nvPr>
        </p:nvSpPr>
        <p:spPr/>
        <p:txBody>
          <a:bodyPr/>
          <a:lstStyle/>
          <a:p>
            <a:r>
              <a:rPr lang="ko-KR" altLang="en-US" dirty="0" err="1"/>
              <a:t>복수회에</a:t>
            </a:r>
            <a:r>
              <a:rPr lang="ko-KR" altLang="en-US" dirty="0"/>
              <a:t> 걸친 공지가 있는 경우</a:t>
            </a:r>
          </a:p>
        </p:txBody>
      </p:sp>
      <p:sp>
        <p:nvSpPr>
          <p:cNvPr id="2" name="슬라이드 번호 개체 틀 1"/>
          <p:cNvSpPr>
            <a:spLocks noGrp="1"/>
          </p:cNvSpPr>
          <p:nvPr>
            <p:ph type="sldNum" sz="quarter" idx="4294967295"/>
          </p:nvPr>
        </p:nvSpPr>
        <p:spPr>
          <a:xfrm>
            <a:off x="11144250" y="3175"/>
            <a:ext cx="1047750" cy="714375"/>
          </a:xfrm>
        </p:spPr>
        <p:txBody>
          <a:bodyPr/>
          <a:lstStyle/>
          <a:p>
            <a:r>
              <a:rPr lang="en-US" altLang="ko-KR"/>
              <a:t>153</a:t>
            </a:r>
            <a:endParaRPr lang="ko-KR" altLang="en-US"/>
          </a:p>
        </p:txBody>
      </p:sp>
      <p:sp>
        <p:nvSpPr>
          <p:cNvPr id="26" name="TextBox 25"/>
          <p:cNvSpPr txBox="1"/>
          <p:nvPr/>
        </p:nvSpPr>
        <p:spPr>
          <a:xfrm>
            <a:off x="77875" y="986046"/>
            <a:ext cx="11936323" cy="954107"/>
          </a:xfrm>
          <a:prstGeom prst="rect">
            <a:avLst/>
          </a:prstGeom>
          <a:noFill/>
        </p:spPr>
        <p:txBody>
          <a:bodyPr wrap="square" rtlCol="0">
            <a:spAutoFit/>
          </a:bodyPr>
          <a:lstStyle/>
          <a:p>
            <a:pPr fontAlgn="base"/>
            <a:r>
              <a:rPr lang="ko-KR" altLang="en-US" sz="1400" dirty="0">
                <a:solidFill>
                  <a:schemeClr val="tx2"/>
                </a:solidFill>
              </a:rPr>
              <a:t>복수의 </a:t>
            </a:r>
            <a:r>
              <a:rPr lang="ko-KR" altLang="en-US" sz="1400" dirty="0" err="1">
                <a:solidFill>
                  <a:schemeClr val="tx2"/>
                </a:solidFill>
              </a:rPr>
              <a:t>공지행위가</a:t>
            </a:r>
            <a:r>
              <a:rPr lang="ko-KR" altLang="en-US" sz="1400" dirty="0">
                <a:solidFill>
                  <a:schemeClr val="tx2"/>
                </a:solidFill>
              </a:rPr>
              <a:t> 모두 공지예외적용사유</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30①</a:t>
            </a:r>
            <a:r>
              <a:rPr lang="ko-KR" altLang="en-US" sz="1400" dirty="0">
                <a:solidFill>
                  <a:schemeClr val="tx2"/>
                </a:solidFill>
              </a:rPr>
              <a:t>각호</a:t>
            </a:r>
            <a:r>
              <a:rPr lang="en-US" altLang="ko-KR" sz="1400" dirty="0">
                <a:solidFill>
                  <a:schemeClr val="tx2"/>
                </a:solidFill>
              </a:rPr>
              <a:t>)</a:t>
            </a:r>
            <a:r>
              <a:rPr lang="ko-KR" altLang="en-US" sz="1400" dirty="0">
                <a:solidFill>
                  <a:schemeClr val="tx2"/>
                </a:solidFill>
              </a:rPr>
              <a:t>에 해당하는 경우에는 모든 </a:t>
            </a:r>
            <a:r>
              <a:rPr lang="ko-KR" altLang="en-US" sz="1400" dirty="0" err="1">
                <a:solidFill>
                  <a:schemeClr val="tx2"/>
                </a:solidFill>
              </a:rPr>
              <a:t>공지행위에</a:t>
            </a:r>
            <a:r>
              <a:rPr lang="ko-KR" altLang="en-US" sz="1400" dirty="0">
                <a:solidFill>
                  <a:schemeClr val="tx2"/>
                </a:solidFill>
              </a:rPr>
              <a:t> 대하여 각각 공지예외적용주장을 할 수 있다</a:t>
            </a:r>
            <a:r>
              <a:rPr lang="en-US" altLang="ko-KR" sz="1400" dirty="0">
                <a:solidFill>
                  <a:schemeClr val="tx2"/>
                </a:solidFill>
              </a:rPr>
              <a:t>. </a:t>
            </a:r>
            <a:r>
              <a:rPr lang="ko-KR" altLang="en-US" sz="1400" dirty="0">
                <a:solidFill>
                  <a:schemeClr val="tx2"/>
                </a:solidFill>
              </a:rPr>
              <a:t>이 경우 </a:t>
            </a:r>
            <a:r>
              <a:rPr lang="ko-KR" altLang="en-US" sz="1400" dirty="0" err="1">
                <a:solidFill>
                  <a:schemeClr val="tx2"/>
                </a:solidFill>
              </a:rPr>
              <a:t>출원인은</a:t>
            </a:r>
            <a:r>
              <a:rPr lang="ko-KR" altLang="en-US" sz="1400" dirty="0">
                <a:solidFill>
                  <a:schemeClr val="tx2"/>
                </a:solidFill>
              </a:rPr>
              <a:t> </a:t>
            </a:r>
            <a:r>
              <a:rPr lang="ko-KR" altLang="en-US" sz="1400" dirty="0">
                <a:highlight>
                  <a:srgbClr val="FFFF00"/>
                </a:highlight>
              </a:rPr>
              <a:t>최선의 공지일로부터 </a:t>
            </a:r>
            <a:r>
              <a:rPr lang="en-US" altLang="ko-KR" sz="1400" dirty="0">
                <a:highlight>
                  <a:srgbClr val="FFFF00"/>
                </a:highlight>
              </a:rPr>
              <a:t>12</a:t>
            </a:r>
            <a:r>
              <a:rPr lang="ko-KR" altLang="en-US" sz="1400" dirty="0">
                <a:highlight>
                  <a:srgbClr val="FFFF00"/>
                </a:highlight>
              </a:rPr>
              <a:t>개월 이내</a:t>
            </a:r>
            <a:r>
              <a:rPr lang="ko-KR" altLang="en-US" sz="1400" dirty="0">
                <a:solidFill>
                  <a:srgbClr val="FF0000"/>
                </a:solidFill>
              </a:rPr>
              <a:t> </a:t>
            </a:r>
            <a:r>
              <a:rPr lang="ko-KR" altLang="en-US" sz="1400" dirty="0">
                <a:solidFill>
                  <a:schemeClr val="tx2"/>
                </a:solidFill>
              </a:rPr>
              <a:t>특허출원서에 그 취지를 적어 출원하고</a:t>
            </a:r>
            <a:r>
              <a:rPr lang="en-US" altLang="ko-KR" sz="1400" dirty="0">
                <a:solidFill>
                  <a:schemeClr val="tx2"/>
                </a:solidFill>
              </a:rPr>
              <a:t>, </a:t>
            </a:r>
            <a:r>
              <a:rPr lang="ko-KR" altLang="en-US" sz="1400" dirty="0">
                <a:solidFill>
                  <a:schemeClr val="tx2"/>
                </a:solidFill>
              </a:rPr>
              <a:t>이를 증명할 수 있는 서류를 총리령으로 정하는 방법에 따라 출원일로부터 </a:t>
            </a:r>
            <a:r>
              <a:rPr lang="en-US" altLang="ko-KR" sz="1400" dirty="0">
                <a:solidFill>
                  <a:schemeClr val="tx2"/>
                </a:solidFill>
              </a:rPr>
              <a:t>30</a:t>
            </a:r>
            <a:r>
              <a:rPr lang="ko-KR" altLang="en-US" sz="1400" dirty="0">
                <a:solidFill>
                  <a:schemeClr val="tx2"/>
                </a:solidFill>
              </a:rPr>
              <a:t>일 이내 각각 제출하여야 한다</a:t>
            </a:r>
            <a:r>
              <a:rPr lang="en-US" altLang="ko-KR" sz="1400" dirty="0">
                <a:solidFill>
                  <a:schemeClr val="tx2"/>
                </a:solidFill>
              </a:rPr>
              <a:t>. </a:t>
            </a:r>
            <a:r>
              <a:rPr lang="ko-KR" altLang="en-US" sz="1400" dirty="0">
                <a:solidFill>
                  <a:schemeClr val="tx2"/>
                </a:solidFill>
              </a:rPr>
              <a:t>다만 특정한 어느 하나의 공지와 </a:t>
            </a:r>
            <a:r>
              <a:rPr lang="ko-KR" altLang="en-US" sz="1400" dirty="0">
                <a:highlight>
                  <a:srgbClr val="FFFF00"/>
                </a:highlight>
              </a:rPr>
              <a:t>밀접불가분의 관계에 있는 </a:t>
            </a:r>
            <a:r>
              <a:rPr lang="ko-KR" altLang="en-US" sz="1400" dirty="0" err="1">
                <a:highlight>
                  <a:srgbClr val="FFFF00"/>
                </a:highlight>
              </a:rPr>
              <a:t>복수회에</a:t>
            </a:r>
            <a:r>
              <a:rPr lang="ko-KR" altLang="en-US" sz="1400" dirty="0">
                <a:highlight>
                  <a:srgbClr val="FFFF00"/>
                </a:highlight>
              </a:rPr>
              <a:t> 걸친 공지일 경우에는 출원인의 편의를 위해 </a:t>
            </a:r>
            <a:r>
              <a:rPr lang="en-US" altLang="ko-KR" sz="1400" dirty="0">
                <a:highlight>
                  <a:srgbClr val="FFFF00"/>
                </a:highlight>
              </a:rPr>
              <a:t>2</a:t>
            </a:r>
            <a:r>
              <a:rPr lang="ko-KR" altLang="en-US" sz="1400" dirty="0">
                <a:highlight>
                  <a:srgbClr val="FFFF00"/>
                </a:highlight>
              </a:rPr>
              <a:t>번째 이후의 공지에 대해서는 </a:t>
            </a:r>
            <a:r>
              <a:rPr lang="ko-KR" altLang="en-US" sz="1400" dirty="0">
                <a:solidFill>
                  <a:srgbClr val="FF0000"/>
                </a:solidFill>
                <a:highlight>
                  <a:srgbClr val="FFFF00"/>
                </a:highlight>
              </a:rPr>
              <a:t>취지기재 및 </a:t>
            </a:r>
            <a:r>
              <a:rPr lang="ko-KR" altLang="en-US" sz="1400" dirty="0">
                <a:highlight>
                  <a:srgbClr val="FFFF00"/>
                </a:highlight>
              </a:rPr>
              <a:t>증명서류의 제출을 생략</a:t>
            </a:r>
            <a:r>
              <a:rPr lang="ko-KR" altLang="en-US" sz="1400" dirty="0">
                <a:solidFill>
                  <a:schemeClr val="tx2"/>
                </a:solidFill>
              </a:rPr>
              <a:t>할 수 있다</a:t>
            </a:r>
            <a:r>
              <a:rPr lang="en-US" altLang="ko-KR" sz="1400" dirty="0">
                <a:solidFill>
                  <a:schemeClr val="tx2"/>
                </a:solidFill>
              </a:rPr>
              <a:t>.</a:t>
            </a:r>
            <a:endParaRPr lang="ko-KR" altLang="en-US" sz="1400" dirty="0">
              <a:solidFill>
                <a:schemeClr val="tx2"/>
              </a:solidFill>
            </a:endParaRPr>
          </a:p>
        </p:txBody>
      </p:sp>
      <p:cxnSp>
        <p:nvCxnSpPr>
          <p:cNvPr id="27" name="직선 연결선 26"/>
          <p:cNvCxnSpPr/>
          <p:nvPr/>
        </p:nvCxnSpPr>
        <p:spPr>
          <a:xfrm>
            <a:off x="0" y="193835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직선 연결선 77"/>
          <p:cNvCxnSpPr/>
          <p:nvPr/>
        </p:nvCxnSpPr>
        <p:spPr>
          <a:xfrm>
            <a:off x="514350" y="2680436"/>
            <a:ext cx="1104053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TextBox 78"/>
          <p:cNvSpPr txBox="1"/>
          <p:nvPr/>
        </p:nvSpPr>
        <p:spPr>
          <a:xfrm>
            <a:off x="760408" y="2534219"/>
            <a:ext cx="1709327" cy="325677"/>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en-US" altLang="ko-KR" sz="1200" dirty="0"/>
              <a:t>A </a:t>
            </a:r>
            <a:r>
              <a:rPr lang="ko-KR" altLang="en-US" sz="1200" dirty="0"/>
              <a:t>박람회 출품</a:t>
            </a:r>
            <a:r>
              <a:rPr lang="en-US" altLang="ko-KR" sz="1200" dirty="0"/>
              <a:t>(X)</a:t>
            </a:r>
            <a:endParaRPr lang="ko-KR" altLang="en-US" sz="1200" dirty="0"/>
          </a:p>
        </p:txBody>
      </p:sp>
      <p:sp>
        <p:nvSpPr>
          <p:cNvPr id="99" name="TextBox 98"/>
          <p:cNvSpPr txBox="1"/>
          <p:nvPr/>
        </p:nvSpPr>
        <p:spPr>
          <a:xfrm>
            <a:off x="5305893" y="2541625"/>
            <a:ext cx="1608698" cy="309914"/>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en-US" altLang="ko-KR" sz="1200" dirty="0"/>
              <a:t>A</a:t>
            </a:r>
            <a:r>
              <a:rPr lang="ko-KR" altLang="en-US" sz="1200" dirty="0"/>
              <a:t> 특허출원</a:t>
            </a:r>
          </a:p>
        </p:txBody>
      </p:sp>
      <p:sp>
        <p:nvSpPr>
          <p:cNvPr id="21" name="TextBox 20"/>
          <p:cNvSpPr txBox="1"/>
          <p:nvPr/>
        </p:nvSpPr>
        <p:spPr>
          <a:xfrm>
            <a:off x="2862673" y="2534219"/>
            <a:ext cx="1709327" cy="325677"/>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en-US" altLang="ko-KR" sz="1200" dirty="0"/>
              <a:t>A </a:t>
            </a:r>
            <a:r>
              <a:rPr lang="ko-KR" altLang="en-US" sz="1200" dirty="0"/>
              <a:t>논문발표</a:t>
            </a:r>
            <a:r>
              <a:rPr lang="en-US" altLang="ko-KR" sz="1200" dirty="0"/>
              <a:t>(Y)</a:t>
            </a:r>
            <a:endParaRPr lang="ko-KR" altLang="en-US" sz="1200" dirty="0"/>
          </a:p>
        </p:txBody>
      </p:sp>
      <p:sp>
        <p:nvSpPr>
          <p:cNvPr id="23" name="Rectangle 14"/>
          <p:cNvSpPr>
            <a:spLocks noChangeArrowheads="1"/>
          </p:cNvSpPr>
          <p:nvPr/>
        </p:nvSpPr>
        <p:spPr bwMode="auto">
          <a:xfrm>
            <a:off x="3274395" y="2015813"/>
            <a:ext cx="1152128" cy="325438"/>
          </a:xfrm>
          <a:prstGeom prst="rect">
            <a:avLst/>
          </a:prstGeom>
          <a:noFill/>
          <a:ln w="9525" algn="ctr">
            <a:noFill/>
            <a:miter lim="800000"/>
            <a:headEnd/>
            <a:tailEnd/>
          </a:ln>
        </p:spPr>
        <p:txBody>
          <a:bodyPr wrap="none" anchor="ctr"/>
          <a:lstStyle/>
          <a:p>
            <a:pPr algn="ctr"/>
            <a:r>
              <a:rPr lang="ko-KR" altLang="en-US" sz="1200" dirty="0">
                <a:latin typeface="+mj-ea"/>
                <a:ea typeface="+mj-ea"/>
              </a:rPr>
              <a:t>최선공지일로부터 </a:t>
            </a:r>
            <a:r>
              <a:rPr lang="en-US" altLang="ko-KR" sz="1200" dirty="0">
                <a:latin typeface="+mj-ea"/>
                <a:ea typeface="+mj-ea"/>
              </a:rPr>
              <a:t>12</a:t>
            </a:r>
            <a:r>
              <a:rPr lang="ko-KR" altLang="en-US" sz="1200" dirty="0">
                <a:latin typeface="+mj-ea"/>
                <a:ea typeface="+mj-ea"/>
              </a:rPr>
              <a:t>월 이내</a:t>
            </a:r>
          </a:p>
        </p:txBody>
      </p:sp>
      <p:sp>
        <p:nvSpPr>
          <p:cNvPr id="25" name="Rectangle 14"/>
          <p:cNvSpPr>
            <a:spLocks noChangeArrowheads="1"/>
          </p:cNvSpPr>
          <p:nvPr/>
        </p:nvSpPr>
        <p:spPr bwMode="auto">
          <a:xfrm>
            <a:off x="7312994" y="2015813"/>
            <a:ext cx="1152128" cy="325438"/>
          </a:xfrm>
          <a:prstGeom prst="rect">
            <a:avLst/>
          </a:prstGeom>
          <a:noFill/>
          <a:ln w="9525" algn="ctr">
            <a:noFill/>
            <a:miter lim="800000"/>
            <a:headEnd/>
            <a:tailEnd/>
          </a:ln>
        </p:spPr>
        <p:txBody>
          <a:bodyPr wrap="none" anchor="ctr"/>
          <a:lstStyle/>
          <a:p>
            <a:pPr algn="ctr"/>
            <a:r>
              <a:rPr lang="en-US" altLang="ko-KR" sz="1200" b="0" dirty="0">
                <a:latin typeface="+mj-ea"/>
                <a:ea typeface="+mj-ea"/>
              </a:rPr>
              <a:t>30</a:t>
            </a:r>
            <a:r>
              <a:rPr lang="ko-KR" altLang="en-US" sz="1200" b="0" dirty="0">
                <a:latin typeface="+mj-ea"/>
                <a:ea typeface="+mj-ea"/>
              </a:rPr>
              <a:t>일 이내</a:t>
            </a:r>
          </a:p>
        </p:txBody>
      </p:sp>
      <p:sp>
        <p:nvSpPr>
          <p:cNvPr id="28" name="TextBox 27"/>
          <p:cNvSpPr txBox="1"/>
          <p:nvPr/>
        </p:nvSpPr>
        <p:spPr>
          <a:xfrm>
            <a:off x="9163050" y="2541625"/>
            <a:ext cx="1009650" cy="309914"/>
          </a:xfrm>
          <a:prstGeom prst="rect">
            <a:avLst/>
          </a:prstGeom>
          <a:solidFill>
            <a:schemeClr val="accent4">
              <a:lumMod val="40000"/>
              <a:lumOff val="60000"/>
            </a:schemeClr>
          </a:solidFill>
          <a:ln>
            <a:solidFill>
              <a:schemeClr val="bg1">
                <a:lumMod val="50000"/>
              </a:schemeClr>
            </a:solidFill>
          </a:ln>
        </p:spPr>
        <p:txBody>
          <a:bodyPr wrap="square" rtlCol="0" anchor="ctr">
            <a:noAutofit/>
          </a:bodyPr>
          <a:lstStyle/>
          <a:p>
            <a:pPr algn="ctr"/>
            <a:r>
              <a:rPr lang="ko-KR" altLang="en-US" sz="1200" dirty="0"/>
              <a:t>증명서류</a:t>
            </a:r>
          </a:p>
        </p:txBody>
      </p:sp>
      <p:sp>
        <p:nvSpPr>
          <p:cNvPr id="30" name="직사각형 29"/>
          <p:cNvSpPr/>
          <p:nvPr/>
        </p:nvSpPr>
        <p:spPr>
          <a:xfrm>
            <a:off x="2656725" y="2047163"/>
            <a:ext cx="369012" cy="276999"/>
          </a:xfrm>
          <a:prstGeom prst="rect">
            <a:avLst/>
          </a:prstGeom>
        </p:spPr>
        <p:txBody>
          <a:bodyPr wrap="none">
            <a:spAutoFit/>
          </a:bodyPr>
          <a:lstStyle/>
          <a:p>
            <a:pPr fontAlgn="base"/>
            <a:r>
              <a:rPr lang="ko-KR" altLang="en-US" sz="1200" dirty="0">
                <a:solidFill>
                  <a:srgbClr val="FF0000"/>
                </a:solidFill>
              </a:rPr>
              <a:t>❶</a:t>
            </a:r>
          </a:p>
        </p:txBody>
      </p:sp>
      <p:sp>
        <p:nvSpPr>
          <p:cNvPr id="32" name="TextBox 31"/>
          <p:cNvSpPr txBox="1"/>
          <p:nvPr/>
        </p:nvSpPr>
        <p:spPr>
          <a:xfrm>
            <a:off x="7599928" y="3063926"/>
            <a:ext cx="2687072" cy="509902"/>
          </a:xfrm>
          <a:prstGeom prst="rect">
            <a:avLst/>
          </a:prstGeom>
          <a:solidFill>
            <a:schemeClr val="accent1">
              <a:lumMod val="20000"/>
              <a:lumOff val="80000"/>
            </a:schemeClr>
          </a:solidFill>
          <a:ln>
            <a:solidFill>
              <a:schemeClr val="bg1">
                <a:lumMod val="50000"/>
              </a:schemeClr>
            </a:solidFill>
            <a:prstDash val="sysDot"/>
          </a:ln>
        </p:spPr>
        <p:txBody>
          <a:bodyPr wrap="square" rtlCol="0">
            <a:noAutofit/>
          </a:bodyPr>
          <a:lstStyle/>
          <a:p>
            <a:r>
              <a:rPr lang="ko-KR" altLang="en-US" sz="1200" dirty="0"/>
              <a:t>원칙</a:t>
            </a:r>
            <a:r>
              <a:rPr lang="en-US" altLang="ko-KR" sz="1200" dirty="0"/>
              <a:t>: X, Y </a:t>
            </a:r>
            <a:r>
              <a:rPr lang="ko-KR" altLang="en-US" sz="1200" dirty="0"/>
              <a:t>각각</a:t>
            </a:r>
            <a:endParaRPr lang="en-US" altLang="ko-KR" sz="1200" dirty="0"/>
          </a:p>
          <a:p>
            <a:r>
              <a:rPr lang="ko-KR" altLang="en-US" sz="1200" dirty="0"/>
              <a:t>예외</a:t>
            </a:r>
            <a:r>
              <a:rPr lang="en-US" altLang="ko-KR" sz="1200" dirty="0"/>
              <a:t>: </a:t>
            </a:r>
            <a:r>
              <a:rPr lang="ko-KR" altLang="en-US" sz="1200" dirty="0"/>
              <a:t>밀접불가분성이 있는 경우 </a:t>
            </a:r>
            <a:r>
              <a:rPr lang="en-US" altLang="ko-KR" sz="1200" dirty="0"/>
              <a:t>X</a:t>
            </a:r>
            <a:r>
              <a:rPr lang="ko-KR" altLang="en-US" sz="1200" dirty="0"/>
              <a:t>만</a:t>
            </a:r>
          </a:p>
        </p:txBody>
      </p:sp>
      <p:sp>
        <p:nvSpPr>
          <p:cNvPr id="35" name="직사각형 34"/>
          <p:cNvSpPr/>
          <p:nvPr/>
        </p:nvSpPr>
        <p:spPr bwMode="auto">
          <a:xfrm>
            <a:off x="77875" y="4109138"/>
            <a:ext cx="11936323" cy="1014837"/>
          </a:xfrm>
          <a:prstGeom prst="rect">
            <a:avLst/>
          </a:prstGeom>
          <a:ln>
            <a:solidFill>
              <a:schemeClr val="accent3"/>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72000" bIns="72000" rtlCol="0" anchor="ctr"/>
          <a:lstStyle/>
          <a:p>
            <a:pPr fontAlgn="base"/>
            <a:r>
              <a:rPr lang="ko-KR" altLang="en-US" sz="1200" dirty="0"/>
              <a:t>신규성 또는 진보성 요건에 관한 원칙을 너무 엄격하게 적용하면 특허를 받을 수 있는 권리를 가진 자에게 지나치게 가혹하여 형평성을 잃게 되거나 산업의 발전을 도모하는 특허법의 취지에 맞지 않게 되는 경우가 생길 수 있으므로</a:t>
            </a:r>
            <a:r>
              <a:rPr lang="en-US" altLang="ko-KR" sz="1200" dirty="0"/>
              <a:t>, </a:t>
            </a:r>
            <a:r>
              <a:rPr lang="ko-KR" altLang="en-US" sz="1200" dirty="0"/>
              <a:t>예외적으로 일정한 요건과 절차를 갖춘 경우에는 특허를 받을 수 있는 권리를 가진 자의 발명이 특허출원 전에 공개되었다고 하더라도 그 발명은 공지 등이 되지 않은 것으로 취급하기 위하여 </a:t>
            </a:r>
            <a:r>
              <a:rPr lang="ko-KR" altLang="en-US" sz="1200" dirty="0" err="1"/>
              <a:t>공지예외</a:t>
            </a:r>
            <a:r>
              <a:rPr lang="ko-KR" altLang="en-US" sz="1200" dirty="0"/>
              <a:t> 규정을 둔 것이다</a:t>
            </a:r>
            <a:r>
              <a:rPr lang="en-US" altLang="ko-KR" sz="1200" dirty="0"/>
              <a:t>. </a:t>
            </a:r>
            <a:r>
              <a:rPr lang="ko-KR" altLang="en-US" sz="1200" dirty="0"/>
              <a:t>이러한 </a:t>
            </a:r>
            <a:r>
              <a:rPr lang="ko-KR" altLang="en-US" sz="1200" dirty="0" err="1"/>
              <a:t>공지예외</a:t>
            </a:r>
            <a:r>
              <a:rPr lang="ko-KR" altLang="en-US" sz="1200" dirty="0"/>
              <a:t> 규정의 문언과 취지에 비추어 보면</a:t>
            </a:r>
            <a:r>
              <a:rPr lang="en-US" altLang="ko-KR" sz="1200" dirty="0"/>
              <a:t>, </a:t>
            </a:r>
            <a:r>
              <a:rPr lang="ko-KR" altLang="en-US" sz="1200" dirty="0">
                <a:solidFill>
                  <a:srgbClr val="FF0000"/>
                </a:solidFill>
              </a:rPr>
              <a:t>특허를 받을 수 있는 권리를 가진 자가 특허법 제</a:t>
            </a:r>
            <a:r>
              <a:rPr lang="en-US" altLang="ko-KR" sz="1200" dirty="0">
                <a:solidFill>
                  <a:srgbClr val="FF0000"/>
                </a:solidFill>
              </a:rPr>
              <a:t>30</a:t>
            </a:r>
            <a:r>
              <a:rPr lang="ko-KR" altLang="en-US" sz="1200" dirty="0">
                <a:solidFill>
                  <a:srgbClr val="FF0000"/>
                </a:solidFill>
              </a:rPr>
              <a:t>조 제</a:t>
            </a:r>
            <a:r>
              <a:rPr lang="en-US" altLang="ko-KR" sz="1200" dirty="0">
                <a:solidFill>
                  <a:srgbClr val="FF0000"/>
                </a:solidFill>
              </a:rPr>
              <a:t>1</a:t>
            </a:r>
            <a:r>
              <a:rPr lang="ko-KR" altLang="en-US" sz="1200" dirty="0">
                <a:solidFill>
                  <a:srgbClr val="FF0000"/>
                </a:solidFill>
              </a:rPr>
              <a:t>항에서 정한 </a:t>
            </a:r>
            <a:r>
              <a:rPr lang="en-US" altLang="ko-KR" sz="1200" dirty="0">
                <a:solidFill>
                  <a:srgbClr val="FF0000"/>
                </a:solidFill>
              </a:rPr>
              <a:t>12</a:t>
            </a:r>
            <a:r>
              <a:rPr lang="ko-KR" altLang="en-US" sz="1200" dirty="0">
                <a:solidFill>
                  <a:srgbClr val="FF0000"/>
                </a:solidFill>
              </a:rPr>
              <a:t>개월의 기간 이내에 여러 번의 공개행위를 하고 그중 가장 먼저 공지된 발명에 대해서만 절차에 따라 </a:t>
            </a:r>
            <a:r>
              <a:rPr lang="ko-KR" altLang="en-US" sz="1200" dirty="0" err="1">
                <a:solidFill>
                  <a:srgbClr val="FF0000"/>
                </a:solidFill>
              </a:rPr>
              <a:t>공지예외</a:t>
            </a:r>
            <a:r>
              <a:rPr lang="ko-KR" altLang="en-US" sz="1200" dirty="0">
                <a:solidFill>
                  <a:srgbClr val="FF0000"/>
                </a:solidFill>
              </a:rPr>
              <a:t> 주장을 하였더라도</a:t>
            </a:r>
            <a:r>
              <a:rPr lang="en-US" altLang="ko-KR" sz="1200" dirty="0">
                <a:solidFill>
                  <a:srgbClr val="FF0000"/>
                </a:solidFill>
              </a:rPr>
              <a:t>, </a:t>
            </a:r>
            <a:r>
              <a:rPr lang="ko-KR" altLang="en-US" sz="1200" dirty="0">
                <a:solidFill>
                  <a:srgbClr val="FF0000"/>
                </a:solidFill>
              </a:rPr>
              <a:t>공지된 나머지 발명들이 가장 먼저 공지된 발명과 동일성이 인정되는 범위에 있다면 공지된 나머지 </a:t>
            </a:r>
            <a:r>
              <a:rPr lang="ko-KR" altLang="en-US" sz="1200" dirty="0" err="1">
                <a:solidFill>
                  <a:srgbClr val="FF0000"/>
                </a:solidFill>
              </a:rPr>
              <a:t>발명들에까지</a:t>
            </a:r>
            <a:r>
              <a:rPr lang="ko-KR" altLang="en-US" sz="1200" dirty="0">
                <a:solidFill>
                  <a:srgbClr val="FF0000"/>
                </a:solidFill>
              </a:rPr>
              <a:t> </a:t>
            </a:r>
            <a:r>
              <a:rPr lang="ko-KR" altLang="en-US" sz="1200" dirty="0" err="1">
                <a:solidFill>
                  <a:srgbClr val="FF0000"/>
                </a:solidFill>
              </a:rPr>
              <a:t>공지예외의</a:t>
            </a:r>
            <a:r>
              <a:rPr lang="ko-KR" altLang="en-US" sz="1200" dirty="0">
                <a:solidFill>
                  <a:srgbClr val="FF0000"/>
                </a:solidFill>
              </a:rPr>
              <a:t> 효과가 미친다고 보아야 한다</a:t>
            </a:r>
            <a:r>
              <a:rPr lang="en-US" altLang="ko-KR" sz="1200" dirty="0">
                <a:solidFill>
                  <a:srgbClr val="FF0000"/>
                </a:solidFill>
              </a:rPr>
              <a:t>.</a:t>
            </a:r>
          </a:p>
        </p:txBody>
      </p:sp>
      <p:sp>
        <p:nvSpPr>
          <p:cNvPr id="36" name="모서리가 둥근 직사각형 35"/>
          <p:cNvSpPr/>
          <p:nvPr/>
        </p:nvSpPr>
        <p:spPr bwMode="auto">
          <a:xfrm>
            <a:off x="129716" y="3784875"/>
            <a:ext cx="4242260" cy="288032"/>
          </a:xfrm>
          <a:prstGeom prst="roundRect">
            <a:avLst>
              <a:gd name="adj" fmla="val 50000"/>
            </a:avLst>
          </a:prstGeom>
          <a:solidFill>
            <a:schemeClr val="bg1">
              <a:lumMod val="65000"/>
            </a:schemeClr>
          </a:solidFill>
          <a:ln>
            <a:solidFill>
              <a:schemeClr val="accent3"/>
            </a:solidFill>
            <a:headEnd type="none" w="med" len="med"/>
            <a:tailEnd type="none"/>
          </a:ln>
        </p:spPr>
        <p:style>
          <a:lnRef idx="1">
            <a:schemeClr val="accent2"/>
          </a:lnRef>
          <a:fillRef idx="3">
            <a:schemeClr val="accent2"/>
          </a:fillRef>
          <a:effectRef idx="2">
            <a:schemeClr val="accent2"/>
          </a:effectRef>
          <a:fontRef idx="minor">
            <a:schemeClr val="lt1"/>
          </a:fontRef>
        </p:style>
        <p:txBody>
          <a:bodyPr rtlCol="0" anchor="ctr"/>
          <a:lstStyle/>
          <a:p>
            <a:pPr lvl="0" algn="ctr" fontAlgn="base"/>
            <a:r>
              <a:rPr lang="ko-KR" altLang="en-US" sz="1200" dirty="0"/>
              <a:t>대법원 </a:t>
            </a:r>
            <a:r>
              <a:rPr lang="en-US" altLang="ko-KR" sz="1200" dirty="0"/>
              <a:t>2025. 5. 29. </a:t>
            </a:r>
            <a:r>
              <a:rPr lang="ko-KR" altLang="en-US" sz="1200" dirty="0"/>
              <a:t>선고 </a:t>
            </a:r>
            <a:r>
              <a:rPr lang="en-US" altLang="ko-KR" sz="1200" dirty="0"/>
              <a:t>2023</a:t>
            </a:r>
            <a:r>
              <a:rPr lang="ko-KR" altLang="en-US" sz="1200" dirty="0"/>
              <a:t>후</a:t>
            </a:r>
            <a:r>
              <a:rPr lang="en-US" altLang="ko-KR" sz="1200" dirty="0"/>
              <a:t>10712 </a:t>
            </a:r>
            <a:r>
              <a:rPr lang="ko-KR" altLang="en-US" sz="1200" dirty="0"/>
              <a:t>판결 </a:t>
            </a:r>
            <a:r>
              <a:rPr lang="en-US" altLang="ko-KR" sz="1200" dirty="0"/>
              <a:t>【</a:t>
            </a:r>
            <a:r>
              <a:rPr lang="ko-KR" altLang="en-US" sz="1200" dirty="0"/>
              <a:t>등록무효</a:t>
            </a:r>
            <a:r>
              <a:rPr lang="en-US" altLang="ko-KR" sz="1200" dirty="0"/>
              <a:t>(</a:t>
            </a:r>
            <a:r>
              <a:rPr lang="ko-KR" altLang="en-US" sz="1200" dirty="0"/>
              <a:t>실</a:t>
            </a:r>
            <a:r>
              <a:rPr lang="en-US" altLang="ko-KR" sz="1200" dirty="0"/>
              <a:t>)】</a:t>
            </a:r>
          </a:p>
        </p:txBody>
      </p:sp>
      <p:sp>
        <p:nvSpPr>
          <p:cNvPr id="37" name="직사각형 36"/>
          <p:cNvSpPr/>
          <p:nvPr/>
        </p:nvSpPr>
        <p:spPr>
          <a:xfrm>
            <a:off x="7407725" y="2848009"/>
            <a:ext cx="369012" cy="276999"/>
          </a:xfrm>
          <a:prstGeom prst="rect">
            <a:avLst/>
          </a:prstGeom>
        </p:spPr>
        <p:txBody>
          <a:bodyPr wrap="none">
            <a:spAutoFit/>
          </a:bodyPr>
          <a:lstStyle/>
          <a:p>
            <a:pPr fontAlgn="base"/>
            <a:r>
              <a:rPr lang="ko-KR" altLang="en-US" sz="1200" dirty="0">
                <a:solidFill>
                  <a:srgbClr val="FF0000"/>
                </a:solidFill>
              </a:rPr>
              <a:t>❷</a:t>
            </a:r>
          </a:p>
        </p:txBody>
      </p:sp>
      <p:cxnSp>
        <p:nvCxnSpPr>
          <p:cNvPr id="6" name="연결선: 꺾임 5">
            <a:extLst>
              <a:ext uri="{FF2B5EF4-FFF2-40B4-BE49-F238E27FC236}">
                <a16:creationId xmlns:a16="http://schemas.microsoft.com/office/drawing/2014/main" id="{B6E27161-AEE9-A545-C531-9C2E8805832F}"/>
              </a:ext>
            </a:extLst>
          </p:cNvPr>
          <p:cNvCxnSpPr>
            <a:cxnSpLocks/>
            <a:stCxn id="32" idx="1"/>
            <a:endCxn id="9" idx="2"/>
          </p:cNvCxnSpPr>
          <p:nvPr/>
        </p:nvCxnSpPr>
        <p:spPr>
          <a:xfrm rot="10800000">
            <a:off x="6110242" y="3164953"/>
            <a:ext cx="1489686" cy="153924"/>
          </a:xfrm>
          <a:prstGeom prst="bentConnector2">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8435FE6-0AFB-D267-59D8-3CBD332E5EC8}"/>
              </a:ext>
            </a:extLst>
          </p:cNvPr>
          <p:cNvSpPr txBox="1"/>
          <p:nvPr/>
        </p:nvSpPr>
        <p:spPr>
          <a:xfrm>
            <a:off x="5305893" y="2855039"/>
            <a:ext cx="1608698" cy="309914"/>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err="1"/>
              <a:t>공지예외적용주장</a:t>
            </a:r>
            <a:endParaRPr lang="ko-KR" altLang="en-US" sz="1200" dirty="0"/>
          </a:p>
        </p:txBody>
      </p:sp>
      <p:cxnSp>
        <p:nvCxnSpPr>
          <p:cNvPr id="17" name="연결선: 꺾임 16">
            <a:extLst>
              <a:ext uri="{FF2B5EF4-FFF2-40B4-BE49-F238E27FC236}">
                <a16:creationId xmlns:a16="http://schemas.microsoft.com/office/drawing/2014/main" id="{46D93756-D1F1-977D-F2A0-83F8B39755B5}"/>
              </a:ext>
            </a:extLst>
          </p:cNvPr>
          <p:cNvCxnSpPr>
            <a:stCxn id="32" idx="0"/>
            <a:endCxn id="28" idx="2"/>
          </p:cNvCxnSpPr>
          <p:nvPr/>
        </p:nvCxnSpPr>
        <p:spPr>
          <a:xfrm rot="5400000" flipH="1" flipV="1">
            <a:off x="9199476" y="2595528"/>
            <a:ext cx="212387" cy="724411"/>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직선 연결선 17">
            <a:extLst>
              <a:ext uri="{FF2B5EF4-FFF2-40B4-BE49-F238E27FC236}">
                <a16:creationId xmlns:a16="http://schemas.microsoft.com/office/drawing/2014/main" id="{9DD14043-4C69-B028-1CD7-89EF48C3CC55}"/>
              </a:ext>
            </a:extLst>
          </p:cNvPr>
          <p:cNvCxnSpPr/>
          <p:nvPr/>
        </p:nvCxnSpPr>
        <p:spPr>
          <a:xfrm>
            <a:off x="514350" y="5833211"/>
            <a:ext cx="1104053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4D65EF85-6C54-B72C-2834-4F177FD9552F}"/>
              </a:ext>
            </a:extLst>
          </p:cNvPr>
          <p:cNvSpPr txBox="1"/>
          <p:nvPr/>
        </p:nvSpPr>
        <p:spPr>
          <a:xfrm>
            <a:off x="2777547" y="5665671"/>
            <a:ext cx="1303758" cy="325677"/>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공지 시약모델 </a:t>
            </a:r>
            <a:r>
              <a:rPr lang="en-US" altLang="ko-KR" sz="1200" dirty="0"/>
              <a:t>2</a:t>
            </a:r>
            <a:endParaRPr lang="ko-KR" altLang="en-US" sz="1200" dirty="0"/>
          </a:p>
        </p:txBody>
      </p:sp>
      <p:sp>
        <p:nvSpPr>
          <p:cNvPr id="20" name="직사각형 19">
            <a:extLst>
              <a:ext uri="{FF2B5EF4-FFF2-40B4-BE49-F238E27FC236}">
                <a16:creationId xmlns:a16="http://schemas.microsoft.com/office/drawing/2014/main" id="{D9CC9929-FFE5-FAB6-3F98-E90B66AD0FED}"/>
              </a:ext>
            </a:extLst>
          </p:cNvPr>
          <p:cNvSpPr/>
          <p:nvPr/>
        </p:nvSpPr>
        <p:spPr>
          <a:xfrm>
            <a:off x="2976404" y="6448425"/>
            <a:ext cx="914400" cy="325677"/>
          </a:xfrm>
          <a:prstGeom prst="rect">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케이스</a:t>
            </a:r>
            <a:r>
              <a:rPr lang="en-US" altLang="ko-KR" sz="1200" dirty="0">
                <a:solidFill>
                  <a:schemeClr val="tx1"/>
                </a:solidFill>
              </a:rPr>
              <a:t>(B)</a:t>
            </a:r>
            <a:endParaRPr lang="ko-KR" altLang="en-US" sz="1200" dirty="0">
              <a:solidFill>
                <a:schemeClr val="tx1"/>
              </a:solidFill>
            </a:endParaRPr>
          </a:p>
        </p:txBody>
      </p:sp>
      <p:cxnSp>
        <p:nvCxnSpPr>
          <p:cNvPr id="33" name="연결선: 꺾임 32">
            <a:extLst>
              <a:ext uri="{FF2B5EF4-FFF2-40B4-BE49-F238E27FC236}">
                <a16:creationId xmlns:a16="http://schemas.microsoft.com/office/drawing/2014/main" id="{AB57B89B-F8CC-6229-AC08-F157FF09A0D4}"/>
              </a:ext>
            </a:extLst>
          </p:cNvPr>
          <p:cNvCxnSpPr>
            <a:cxnSpLocks/>
            <a:stCxn id="20" idx="0"/>
            <a:endCxn id="19" idx="2"/>
          </p:cNvCxnSpPr>
          <p:nvPr/>
        </p:nvCxnSpPr>
        <p:spPr>
          <a:xfrm rot="16200000" flipV="1">
            <a:off x="3202977" y="6217798"/>
            <a:ext cx="457077" cy="4178"/>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611F182C-6621-9F25-AF15-FCC93D75DC5B}"/>
              </a:ext>
            </a:extLst>
          </p:cNvPr>
          <p:cNvSpPr txBox="1"/>
          <p:nvPr/>
        </p:nvSpPr>
        <p:spPr>
          <a:xfrm>
            <a:off x="4552209" y="5665671"/>
            <a:ext cx="1303758" cy="325677"/>
          </a:xfrm>
          <a:prstGeom prst="rect">
            <a:avLst/>
          </a:prstGeom>
          <a:solidFill>
            <a:schemeClr val="accent5">
              <a:lumMod val="20000"/>
              <a:lumOff val="80000"/>
            </a:schemeClr>
          </a:solidFill>
          <a:ln>
            <a:solidFill>
              <a:schemeClr val="bg1">
                <a:lumMod val="50000"/>
              </a:schemeClr>
            </a:solidFill>
          </a:ln>
        </p:spPr>
        <p:txBody>
          <a:bodyPr wrap="square" rtlCol="0" anchor="ctr">
            <a:noAutofit/>
          </a:bodyPr>
          <a:lstStyle/>
          <a:p>
            <a:pPr algn="ctr"/>
            <a:r>
              <a:rPr lang="ko-KR" altLang="en-US" sz="1200" dirty="0"/>
              <a:t>선행고안 </a:t>
            </a:r>
            <a:r>
              <a:rPr lang="en-US" altLang="ko-KR" sz="1200" dirty="0"/>
              <a:t>2</a:t>
            </a:r>
            <a:endParaRPr lang="ko-KR" altLang="en-US" sz="1200" dirty="0"/>
          </a:p>
        </p:txBody>
      </p:sp>
      <p:sp>
        <p:nvSpPr>
          <p:cNvPr id="40" name="직사각형 39">
            <a:extLst>
              <a:ext uri="{FF2B5EF4-FFF2-40B4-BE49-F238E27FC236}">
                <a16:creationId xmlns:a16="http://schemas.microsoft.com/office/drawing/2014/main" id="{FDD5E83B-48E1-17B9-E172-336EAED0A28E}"/>
              </a:ext>
            </a:extLst>
          </p:cNvPr>
          <p:cNvSpPr/>
          <p:nvPr/>
        </p:nvSpPr>
        <p:spPr>
          <a:xfrm>
            <a:off x="4751066" y="6448425"/>
            <a:ext cx="914400" cy="325677"/>
          </a:xfrm>
          <a:prstGeom prst="rect">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케이스</a:t>
            </a:r>
            <a:r>
              <a:rPr lang="en-US" altLang="ko-KR" sz="1200" dirty="0">
                <a:solidFill>
                  <a:schemeClr val="tx1"/>
                </a:solidFill>
              </a:rPr>
              <a:t>(B)</a:t>
            </a:r>
            <a:endParaRPr lang="ko-KR" altLang="en-US" sz="1200" dirty="0">
              <a:solidFill>
                <a:schemeClr val="tx1"/>
              </a:solidFill>
            </a:endParaRPr>
          </a:p>
        </p:txBody>
      </p:sp>
      <p:cxnSp>
        <p:nvCxnSpPr>
          <p:cNvPr id="41" name="연결선: 꺾임 40">
            <a:extLst>
              <a:ext uri="{FF2B5EF4-FFF2-40B4-BE49-F238E27FC236}">
                <a16:creationId xmlns:a16="http://schemas.microsoft.com/office/drawing/2014/main" id="{98EAA1E5-1A21-3CA7-4EEA-B43845930C78}"/>
              </a:ext>
            </a:extLst>
          </p:cNvPr>
          <p:cNvCxnSpPr>
            <a:cxnSpLocks/>
            <a:stCxn id="40" idx="0"/>
            <a:endCxn id="39" idx="2"/>
          </p:cNvCxnSpPr>
          <p:nvPr/>
        </p:nvCxnSpPr>
        <p:spPr>
          <a:xfrm rot="16200000" flipV="1">
            <a:off x="4977639" y="6217798"/>
            <a:ext cx="457077" cy="4178"/>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4545629F-99C2-04B1-B4A0-47D63FB46A7C}"/>
              </a:ext>
            </a:extLst>
          </p:cNvPr>
          <p:cNvSpPr txBox="1"/>
          <p:nvPr/>
        </p:nvSpPr>
        <p:spPr>
          <a:xfrm>
            <a:off x="754067" y="5665671"/>
            <a:ext cx="1303758" cy="325677"/>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공지 시약모델 </a:t>
            </a:r>
            <a:r>
              <a:rPr lang="en-US" altLang="ko-KR" sz="1200" dirty="0"/>
              <a:t>1</a:t>
            </a:r>
            <a:endParaRPr lang="ko-KR" altLang="en-US" sz="1200" dirty="0"/>
          </a:p>
        </p:txBody>
      </p:sp>
      <p:sp>
        <p:nvSpPr>
          <p:cNvPr id="43" name="직사각형 42">
            <a:extLst>
              <a:ext uri="{FF2B5EF4-FFF2-40B4-BE49-F238E27FC236}">
                <a16:creationId xmlns:a16="http://schemas.microsoft.com/office/drawing/2014/main" id="{46F636F7-4F4B-6321-723C-9025EE2ADBD4}"/>
              </a:ext>
            </a:extLst>
          </p:cNvPr>
          <p:cNvSpPr/>
          <p:nvPr/>
        </p:nvSpPr>
        <p:spPr>
          <a:xfrm>
            <a:off x="758244" y="6448425"/>
            <a:ext cx="1303760" cy="325677"/>
          </a:xfrm>
          <a:prstGeom prst="rect">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케이스 </a:t>
            </a:r>
            <a:r>
              <a:rPr lang="ko-KR" altLang="en-US" sz="1200" dirty="0" err="1">
                <a:solidFill>
                  <a:schemeClr val="tx1"/>
                </a:solidFill>
              </a:rPr>
              <a:t>덮개부</a:t>
            </a:r>
            <a:r>
              <a:rPr lang="en-US" altLang="ko-KR" sz="1200" dirty="0">
                <a:solidFill>
                  <a:schemeClr val="tx1"/>
                </a:solidFill>
              </a:rPr>
              <a:t>(A)</a:t>
            </a:r>
            <a:endParaRPr lang="ko-KR" altLang="en-US" sz="1200" dirty="0">
              <a:solidFill>
                <a:schemeClr val="tx1"/>
              </a:solidFill>
            </a:endParaRPr>
          </a:p>
        </p:txBody>
      </p:sp>
      <p:cxnSp>
        <p:nvCxnSpPr>
          <p:cNvPr id="44" name="연결선: 꺾임 43">
            <a:extLst>
              <a:ext uri="{FF2B5EF4-FFF2-40B4-BE49-F238E27FC236}">
                <a16:creationId xmlns:a16="http://schemas.microsoft.com/office/drawing/2014/main" id="{7B160E6D-F8E9-F3D8-E56B-1880BB57E4B6}"/>
              </a:ext>
            </a:extLst>
          </p:cNvPr>
          <p:cNvCxnSpPr>
            <a:cxnSpLocks/>
            <a:stCxn id="43" idx="0"/>
            <a:endCxn id="42" idx="2"/>
          </p:cNvCxnSpPr>
          <p:nvPr/>
        </p:nvCxnSpPr>
        <p:spPr>
          <a:xfrm rot="16200000" flipV="1">
            <a:off x="1179497" y="6217798"/>
            <a:ext cx="457077" cy="4178"/>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847EA227-C4AD-987A-6332-B9F9AC21E709}"/>
              </a:ext>
            </a:extLst>
          </p:cNvPr>
          <p:cNvSpPr txBox="1"/>
          <p:nvPr/>
        </p:nvSpPr>
        <p:spPr>
          <a:xfrm>
            <a:off x="7488985" y="5665671"/>
            <a:ext cx="1652412" cy="325677"/>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특허출원</a:t>
            </a:r>
          </a:p>
        </p:txBody>
      </p:sp>
      <p:sp>
        <p:nvSpPr>
          <p:cNvPr id="49" name="TextBox 48">
            <a:extLst>
              <a:ext uri="{FF2B5EF4-FFF2-40B4-BE49-F238E27FC236}">
                <a16:creationId xmlns:a16="http://schemas.microsoft.com/office/drawing/2014/main" id="{93B10225-2C0F-F19E-2F04-5BC4A28AE92F}"/>
              </a:ext>
            </a:extLst>
          </p:cNvPr>
          <p:cNvSpPr txBox="1"/>
          <p:nvPr/>
        </p:nvSpPr>
        <p:spPr>
          <a:xfrm>
            <a:off x="7488985" y="5960465"/>
            <a:ext cx="1652412" cy="309914"/>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err="1"/>
              <a:t>공지예외적용주장</a:t>
            </a:r>
            <a:endParaRPr lang="en-US" altLang="ko-KR" sz="1200" dirty="0"/>
          </a:p>
        </p:txBody>
      </p:sp>
      <p:sp>
        <p:nvSpPr>
          <p:cNvPr id="50" name="직사각형 49">
            <a:extLst>
              <a:ext uri="{FF2B5EF4-FFF2-40B4-BE49-F238E27FC236}">
                <a16:creationId xmlns:a16="http://schemas.microsoft.com/office/drawing/2014/main" id="{05486F33-C68D-2440-469B-40BCC3745F68}"/>
              </a:ext>
            </a:extLst>
          </p:cNvPr>
          <p:cNvSpPr/>
          <p:nvPr/>
        </p:nvSpPr>
        <p:spPr>
          <a:xfrm>
            <a:off x="7800709" y="6448425"/>
            <a:ext cx="1027188" cy="325677"/>
          </a:xfrm>
          <a:prstGeom prst="rect">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시약모델 </a:t>
            </a:r>
            <a:r>
              <a:rPr lang="en-US" altLang="ko-KR" sz="1200" dirty="0">
                <a:solidFill>
                  <a:schemeClr val="tx1"/>
                </a:solidFill>
              </a:rPr>
              <a:t>1, 2</a:t>
            </a:r>
            <a:endParaRPr lang="ko-KR" altLang="en-US" sz="1200" dirty="0">
              <a:solidFill>
                <a:schemeClr val="tx1"/>
              </a:solidFill>
            </a:endParaRPr>
          </a:p>
        </p:txBody>
      </p:sp>
      <p:cxnSp>
        <p:nvCxnSpPr>
          <p:cNvPr id="51" name="연결선: 꺾임 50">
            <a:extLst>
              <a:ext uri="{FF2B5EF4-FFF2-40B4-BE49-F238E27FC236}">
                <a16:creationId xmlns:a16="http://schemas.microsoft.com/office/drawing/2014/main" id="{E17AA92E-DF77-66FD-6691-2F9CBA41FFC6}"/>
              </a:ext>
            </a:extLst>
          </p:cNvPr>
          <p:cNvCxnSpPr>
            <a:cxnSpLocks/>
            <a:stCxn id="50" idx="0"/>
            <a:endCxn id="49" idx="2"/>
          </p:cNvCxnSpPr>
          <p:nvPr/>
        </p:nvCxnSpPr>
        <p:spPr>
          <a:xfrm rot="5400000" flipH="1" flipV="1">
            <a:off x="8225724" y="6358958"/>
            <a:ext cx="178046" cy="888"/>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9F38A214-1674-5E50-EFEC-4B34D69CFFE9}"/>
              </a:ext>
            </a:extLst>
          </p:cNvPr>
          <p:cNvSpPr/>
          <p:nvPr/>
        </p:nvSpPr>
        <p:spPr>
          <a:xfrm>
            <a:off x="5083054" y="5209811"/>
            <a:ext cx="2516874" cy="325677"/>
          </a:xfrm>
          <a:prstGeom prst="rect">
            <a:avLst/>
          </a:prstGeom>
          <a:solidFill>
            <a:schemeClr val="bg1">
              <a:lumMod val="95000"/>
            </a:schemeClr>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덮개부</a:t>
            </a:r>
            <a:r>
              <a:rPr lang="en-US" altLang="ko-KR" sz="1200" dirty="0">
                <a:solidFill>
                  <a:schemeClr val="tx1"/>
                </a:solidFill>
              </a:rPr>
              <a:t>(A)</a:t>
            </a:r>
            <a:r>
              <a:rPr lang="ko-KR" altLang="en-US" sz="1200" dirty="0">
                <a:solidFill>
                  <a:schemeClr val="tx1"/>
                </a:solidFill>
              </a:rPr>
              <a:t>를 포함하는 케이스</a:t>
            </a:r>
            <a:r>
              <a:rPr lang="en-US" altLang="ko-KR" sz="1200" dirty="0">
                <a:solidFill>
                  <a:schemeClr val="tx1"/>
                </a:solidFill>
              </a:rPr>
              <a:t>(B)</a:t>
            </a:r>
            <a:endParaRPr lang="ko-KR" altLang="en-US" sz="1200" dirty="0">
              <a:solidFill>
                <a:schemeClr val="tx1"/>
              </a:solidFill>
            </a:endParaRPr>
          </a:p>
        </p:txBody>
      </p:sp>
      <p:cxnSp>
        <p:nvCxnSpPr>
          <p:cNvPr id="58" name="연결선: 꺾임 57">
            <a:extLst>
              <a:ext uri="{FF2B5EF4-FFF2-40B4-BE49-F238E27FC236}">
                <a16:creationId xmlns:a16="http://schemas.microsoft.com/office/drawing/2014/main" id="{D2096ED1-0FB3-CE96-4A2A-4534FB3BD35E}"/>
              </a:ext>
            </a:extLst>
          </p:cNvPr>
          <p:cNvCxnSpPr>
            <a:stCxn id="56" idx="3"/>
            <a:endCxn id="47" idx="0"/>
          </p:cNvCxnSpPr>
          <p:nvPr/>
        </p:nvCxnSpPr>
        <p:spPr>
          <a:xfrm>
            <a:off x="7599928" y="5372650"/>
            <a:ext cx="715263" cy="293021"/>
          </a:xfrm>
          <a:prstGeom prst="bentConnector2">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ED67F1AA-BE4F-24D0-9DFD-CF46FEFB81A3}"/>
              </a:ext>
            </a:extLst>
          </p:cNvPr>
          <p:cNvSpPr txBox="1"/>
          <p:nvPr/>
        </p:nvSpPr>
        <p:spPr>
          <a:xfrm>
            <a:off x="9817209" y="5665671"/>
            <a:ext cx="946041" cy="309914"/>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a:t>증명서류</a:t>
            </a:r>
            <a:endParaRPr lang="en-US" altLang="ko-KR" sz="1200" dirty="0"/>
          </a:p>
        </p:txBody>
      </p:sp>
      <p:sp>
        <p:nvSpPr>
          <p:cNvPr id="61" name="직사각형 60">
            <a:extLst>
              <a:ext uri="{FF2B5EF4-FFF2-40B4-BE49-F238E27FC236}">
                <a16:creationId xmlns:a16="http://schemas.microsoft.com/office/drawing/2014/main" id="{6819E219-8D90-326B-F2BB-A998E495C80C}"/>
              </a:ext>
            </a:extLst>
          </p:cNvPr>
          <p:cNvSpPr/>
          <p:nvPr/>
        </p:nvSpPr>
        <p:spPr>
          <a:xfrm>
            <a:off x="9773406" y="6448425"/>
            <a:ext cx="1027188" cy="325677"/>
          </a:xfrm>
          <a:prstGeom prst="rect">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시약모델 </a:t>
            </a:r>
            <a:r>
              <a:rPr lang="en-US" altLang="ko-KR" sz="1200" dirty="0">
                <a:solidFill>
                  <a:schemeClr val="tx1"/>
                </a:solidFill>
              </a:rPr>
              <a:t>1, 2</a:t>
            </a:r>
            <a:endParaRPr lang="ko-KR" altLang="en-US" sz="1200" dirty="0">
              <a:solidFill>
                <a:schemeClr val="tx1"/>
              </a:solidFill>
            </a:endParaRPr>
          </a:p>
        </p:txBody>
      </p:sp>
      <p:cxnSp>
        <p:nvCxnSpPr>
          <p:cNvPr id="62" name="연결선: 꺾임 61">
            <a:extLst>
              <a:ext uri="{FF2B5EF4-FFF2-40B4-BE49-F238E27FC236}">
                <a16:creationId xmlns:a16="http://schemas.microsoft.com/office/drawing/2014/main" id="{06264BDB-9E82-CA0E-4914-D15F286CD606}"/>
              </a:ext>
            </a:extLst>
          </p:cNvPr>
          <p:cNvCxnSpPr>
            <a:cxnSpLocks/>
            <a:stCxn id="61" idx="0"/>
            <a:endCxn id="60" idx="2"/>
          </p:cNvCxnSpPr>
          <p:nvPr/>
        </p:nvCxnSpPr>
        <p:spPr>
          <a:xfrm rot="5400000" flipH="1" flipV="1">
            <a:off x="10052195" y="6210390"/>
            <a:ext cx="472840" cy="3230"/>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BCBEB52D-0CF8-0114-E69F-1D46E18B29D6}"/>
              </a:ext>
            </a:extLst>
          </p:cNvPr>
          <p:cNvCxnSpPr>
            <a:cxnSpLocks/>
          </p:cNvCxnSpPr>
          <p:nvPr/>
        </p:nvCxnSpPr>
        <p:spPr>
          <a:xfrm>
            <a:off x="0" y="3704984"/>
            <a:ext cx="12191999" cy="0"/>
          </a:xfrm>
          <a:prstGeom prst="line">
            <a:avLst/>
          </a:prstGeom>
          <a:ln w="28575">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08132505"/>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표 4"/>
          <p:cNvGraphicFramePr>
            <a:graphicFrameLocks noGrp="1"/>
          </p:cNvGraphicFramePr>
          <p:nvPr/>
        </p:nvGraphicFramePr>
        <p:xfrm>
          <a:off x="269776" y="2162329"/>
          <a:ext cx="11608878" cy="1446285"/>
        </p:xfrm>
        <a:graphic>
          <a:graphicData uri="http://schemas.openxmlformats.org/drawingml/2006/table">
            <a:tbl>
              <a:tblPr>
                <a:tableStyleId>{BC89EF96-8CEA-46FF-86C4-4CE0E7609802}</a:tableStyleId>
              </a:tblPr>
              <a:tblGrid>
                <a:gridCol w="1699460">
                  <a:extLst>
                    <a:ext uri="{9D8B030D-6E8A-4147-A177-3AD203B41FA5}">
                      <a16:colId xmlns:a16="http://schemas.microsoft.com/office/drawing/2014/main" val="20000"/>
                    </a:ext>
                  </a:extLst>
                </a:gridCol>
                <a:gridCol w="9909418">
                  <a:extLst>
                    <a:ext uri="{9D8B030D-6E8A-4147-A177-3AD203B41FA5}">
                      <a16:colId xmlns:a16="http://schemas.microsoft.com/office/drawing/2014/main" val="20001"/>
                    </a:ext>
                  </a:extLst>
                </a:gridCol>
              </a:tblGrid>
              <a:tr h="267840">
                <a:tc>
                  <a:txBody>
                    <a:bodyPr/>
                    <a:lstStyle>
                      <a:lvl1pPr marL="0" algn="l" defTabSz="914400" rtl="0" eaLnBrk="1" latinLnBrk="1" hangingPunct="1">
                        <a:defRPr sz="1800" kern="1200">
                          <a:solidFill>
                            <a:schemeClr val="dk1"/>
                          </a:solidFill>
                          <a:latin typeface="옥션고딕 M"/>
                          <a:ea typeface="옥션고딕 M"/>
                        </a:defRPr>
                      </a:lvl1pPr>
                      <a:lvl2pPr marL="457200" algn="l" defTabSz="914400" rtl="0" eaLnBrk="1" latinLnBrk="1" hangingPunct="1">
                        <a:defRPr sz="1800" kern="1200">
                          <a:solidFill>
                            <a:schemeClr val="dk1"/>
                          </a:solidFill>
                          <a:latin typeface="옥션고딕 M"/>
                          <a:ea typeface="옥션고딕 M"/>
                        </a:defRPr>
                      </a:lvl2pPr>
                      <a:lvl3pPr marL="914400" algn="l" defTabSz="914400" rtl="0" eaLnBrk="1" latinLnBrk="1" hangingPunct="1">
                        <a:defRPr sz="1800" kern="1200">
                          <a:solidFill>
                            <a:schemeClr val="dk1"/>
                          </a:solidFill>
                          <a:latin typeface="옥션고딕 M"/>
                          <a:ea typeface="옥션고딕 M"/>
                        </a:defRPr>
                      </a:lvl3pPr>
                      <a:lvl4pPr marL="1371600" algn="l" defTabSz="914400" rtl="0" eaLnBrk="1" latinLnBrk="1" hangingPunct="1">
                        <a:defRPr sz="1800" kern="1200">
                          <a:solidFill>
                            <a:schemeClr val="dk1"/>
                          </a:solidFill>
                          <a:latin typeface="옥션고딕 M"/>
                          <a:ea typeface="옥션고딕 M"/>
                        </a:defRPr>
                      </a:lvl4pPr>
                      <a:lvl5pPr marL="1828800" algn="l" defTabSz="914400" rtl="0" eaLnBrk="1" latinLnBrk="1" hangingPunct="1">
                        <a:defRPr sz="1800" kern="1200">
                          <a:solidFill>
                            <a:schemeClr val="dk1"/>
                          </a:solidFill>
                          <a:latin typeface="옥션고딕 M"/>
                          <a:ea typeface="옥션고딕 M"/>
                        </a:defRPr>
                      </a:lvl5pPr>
                      <a:lvl6pPr marL="2286000" algn="l" defTabSz="914400" rtl="0" eaLnBrk="1" latinLnBrk="1" hangingPunct="1">
                        <a:defRPr sz="1800" kern="1200">
                          <a:solidFill>
                            <a:schemeClr val="dk1"/>
                          </a:solidFill>
                          <a:latin typeface="옥션고딕 M"/>
                          <a:ea typeface="옥션고딕 M"/>
                        </a:defRPr>
                      </a:lvl6pPr>
                      <a:lvl7pPr marL="2743200" algn="l" defTabSz="914400" rtl="0" eaLnBrk="1" latinLnBrk="1" hangingPunct="1">
                        <a:defRPr sz="1800" kern="1200">
                          <a:solidFill>
                            <a:schemeClr val="dk1"/>
                          </a:solidFill>
                          <a:latin typeface="옥션고딕 M"/>
                          <a:ea typeface="옥션고딕 M"/>
                        </a:defRPr>
                      </a:lvl7pPr>
                      <a:lvl8pPr marL="3200400" algn="l" defTabSz="914400" rtl="0" eaLnBrk="1" latinLnBrk="1" hangingPunct="1">
                        <a:defRPr sz="1800" kern="1200">
                          <a:solidFill>
                            <a:schemeClr val="dk1"/>
                          </a:solidFill>
                          <a:latin typeface="옥션고딕 M"/>
                          <a:ea typeface="옥션고딕 M"/>
                        </a:defRPr>
                      </a:lvl8pPr>
                      <a:lvl9pPr marL="3657600" algn="l" defTabSz="914400" rtl="0" eaLnBrk="1" latinLnBrk="1" hangingPunct="1">
                        <a:defRPr sz="1800" kern="1200">
                          <a:solidFill>
                            <a:schemeClr val="dk1"/>
                          </a:solidFill>
                          <a:latin typeface="옥션고딕 M"/>
                          <a:ea typeface="옥션고딕 M"/>
                        </a:defRPr>
                      </a:lvl9p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ko-KR" altLang="en-US" sz="1200" b="1" u="none" strike="noStrike" cap="none" normalizeH="0" baseline="0" dirty="0">
                          <a:ln>
                            <a:noFill/>
                          </a:ln>
                          <a:effectLst/>
                          <a:latin typeface="+mn-ea"/>
                          <a:ea typeface="+mn-ea"/>
                        </a:rPr>
                        <a:t>구 분</a:t>
                      </a:r>
                      <a:endParaRPr kumimoji="1" lang="ko-KR" altLang="en-US" sz="2800" b="1" i="0" u="none" strike="noStrike" cap="none" normalizeH="0" baseline="0" dirty="0">
                        <a:ln>
                          <a:noFill/>
                        </a:ln>
                        <a:solidFill>
                          <a:schemeClr val="bg1"/>
                        </a:solidFill>
                        <a:effectLst/>
                        <a:latin typeface="+mn-ea"/>
                        <a:ea typeface="+mn-ea"/>
                      </a:endParaRPr>
                    </a:p>
                  </a:txBody>
                  <a:tcPr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lvl1pPr marL="0" algn="l" defTabSz="914400" rtl="0" eaLnBrk="1" latinLnBrk="1" hangingPunct="1">
                        <a:defRPr sz="1800" kern="1200">
                          <a:solidFill>
                            <a:schemeClr val="dk1"/>
                          </a:solidFill>
                          <a:latin typeface="옥션고딕 M"/>
                          <a:ea typeface="옥션고딕 M"/>
                        </a:defRPr>
                      </a:lvl1pPr>
                      <a:lvl2pPr marL="457200" algn="l" defTabSz="914400" rtl="0" eaLnBrk="1" latinLnBrk="1" hangingPunct="1">
                        <a:defRPr sz="1800" kern="1200">
                          <a:solidFill>
                            <a:schemeClr val="dk1"/>
                          </a:solidFill>
                          <a:latin typeface="옥션고딕 M"/>
                          <a:ea typeface="옥션고딕 M"/>
                        </a:defRPr>
                      </a:lvl2pPr>
                      <a:lvl3pPr marL="914400" algn="l" defTabSz="914400" rtl="0" eaLnBrk="1" latinLnBrk="1" hangingPunct="1">
                        <a:defRPr sz="1800" kern="1200">
                          <a:solidFill>
                            <a:schemeClr val="dk1"/>
                          </a:solidFill>
                          <a:latin typeface="옥션고딕 M"/>
                          <a:ea typeface="옥션고딕 M"/>
                        </a:defRPr>
                      </a:lvl3pPr>
                      <a:lvl4pPr marL="1371600" algn="l" defTabSz="914400" rtl="0" eaLnBrk="1" latinLnBrk="1" hangingPunct="1">
                        <a:defRPr sz="1800" kern="1200">
                          <a:solidFill>
                            <a:schemeClr val="dk1"/>
                          </a:solidFill>
                          <a:latin typeface="옥션고딕 M"/>
                          <a:ea typeface="옥션고딕 M"/>
                        </a:defRPr>
                      </a:lvl4pPr>
                      <a:lvl5pPr marL="1828800" algn="l" defTabSz="914400" rtl="0" eaLnBrk="1" latinLnBrk="1" hangingPunct="1">
                        <a:defRPr sz="1800" kern="1200">
                          <a:solidFill>
                            <a:schemeClr val="dk1"/>
                          </a:solidFill>
                          <a:latin typeface="옥션고딕 M"/>
                          <a:ea typeface="옥션고딕 M"/>
                        </a:defRPr>
                      </a:lvl5pPr>
                      <a:lvl6pPr marL="2286000" algn="l" defTabSz="914400" rtl="0" eaLnBrk="1" latinLnBrk="1" hangingPunct="1">
                        <a:defRPr sz="1800" kern="1200">
                          <a:solidFill>
                            <a:schemeClr val="dk1"/>
                          </a:solidFill>
                          <a:latin typeface="옥션고딕 M"/>
                          <a:ea typeface="옥션고딕 M"/>
                        </a:defRPr>
                      </a:lvl6pPr>
                      <a:lvl7pPr marL="2743200" algn="l" defTabSz="914400" rtl="0" eaLnBrk="1" latinLnBrk="1" hangingPunct="1">
                        <a:defRPr sz="1800" kern="1200">
                          <a:solidFill>
                            <a:schemeClr val="dk1"/>
                          </a:solidFill>
                          <a:latin typeface="옥션고딕 M"/>
                          <a:ea typeface="옥션고딕 M"/>
                        </a:defRPr>
                      </a:lvl7pPr>
                      <a:lvl8pPr marL="3200400" algn="l" defTabSz="914400" rtl="0" eaLnBrk="1" latinLnBrk="1" hangingPunct="1">
                        <a:defRPr sz="1800" kern="1200">
                          <a:solidFill>
                            <a:schemeClr val="dk1"/>
                          </a:solidFill>
                          <a:latin typeface="옥션고딕 M"/>
                          <a:ea typeface="옥션고딕 M"/>
                        </a:defRPr>
                      </a:lvl8pPr>
                      <a:lvl9pPr marL="3657600" algn="l" defTabSz="914400" rtl="0" eaLnBrk="1" latinLnBrk="1" hangingPunct="1">
                        <a:defRPr sz="1800" kern="1200">
                          <a:solidFill>
                            <a:schemeClr val="dk1"/>
                          </a:solidFill>
                          <a:latin typeface="옥션고딕 M"/>
                          <a:ea typeface="옥션고딕 M"/>
                        </a:defRPr>
                      </a:lvl9p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ko-KR" altLang="en-US" sz="1200" b="1" u="none" strike="noStrike" cap="none" normalizeH="0" baseline="0" dirty="0">
                          <a:ln>
                            <a:noFill/>
                          </a:ln>
                          <a:effectLst/>
                          <a:latin typeface="+mn-ea"/>
                          <a:ea typeface="+mn-ea"/>
                        </a:rPr>
                        <a:t>국 가 명</a:t>
                      </a:r>
                      <a:endParaRPr kumimoji="1" lang="ko-KR" altLang="en-US" sz="2800" b="1" i="0" u="none" strike="noStrike" cap="none" normalizeH="0" baseline="0" dirty="0">
                        <a:ln>
                          <a:noFill/>
                        </a:ln>
                        <a:solidFill>
                          <a:schemeClr val="bg1"/>
                        </a:solidFill>
                        <a:effectLst/>
                        <a:latin typeface="+mn-ea"/>
                        <a:ea typeface="+mn-ea"/>
                      </a:endParaRPr>
                    </a:p>
                  </a:txBody>
                  <a:tcPr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267840">
                <a:tc>
                  <a:txBody>
                    <a:bodyPr/>
                    <a:lstStyle>
                      <a:lvl1pPr marL="0" algn="l" defTabSz="914400" rtl="0" eaLnBrk="1" latinLnBrk="1" hangingPunct="1">
                        <a:defRPr sz="1800" kern="1200">
                          <a:solidFill>
                            <a:schemeClr val="dk1"/>
                          </a:solidFill>
                          <a:latin typeface="옥션고딕 M"/>
                          <a:ea typeface="옥션고딕 M"/>
                        </a:defRPr>
                      </a:lvl1pPr>
                      <a:lvl2pPr marL="457200" algn="l" defTabSz="914400" rtl="0" eaLnBrk="1" latinLnBrk="1" hangingPunct="1">
                        <a:defRPr sz="1800" kern="1200">
                          <a:solidFill>
                            <a:schemeClr val="dk1"/>
                          </a:solidFill>
                          <a:latin typeface="옥션고딕 M"/>
                          <a:ea typeface="옥션고딕 M"/>
                        </a:defRPr>
                      </a:lvl2pPr>
                      <a:lvl3pPr marL="914400" algn="l" defTabSz="914400" rtl="0" eaLnBrk="1" latinLnBrk="1" hangingPunct="1">
                        <a:defRPr sz="1800" kern="1200">
                          <a:solidFill>
                            <a:schemeClr val="dk1"/>
                          </a:solidFill>
                          <a:latin typeface="옥션고딕 M"/>
                          <a:ea typeface="옥션고딕 M"/>
                        </a:defRPr>
                      </a:lvl3pPr>
                      <a:lvl4pPr marL="1371600" algn="l" defTabSz="914400" rtl="0" eaLnBrk="1" latinLnBrk="1" hangingPunct="1">
                        <a:defRPr sz="1800" kern="1200">
                          <a:solidFill>
                            <a:schemeClr val="dk1"/>
                          </a:solidFill>
                          <a:latin typeface="옥션고딕 M"/>
                          <a:ea typeface="옥션고딕 M"/>
                        </a:defRPr>
                      </a:lvl4pPr>
                      <a:lvl5pPr marL="1828800" algn="l" defTabSz="914400" rtl="0" eaLnBrk="1" latinLnBrk="1" hangingPunct="1">
                        <a:defRPr sz="1800" kern="1200">
                          <a:solidFill>
                            <a:schemeClr val="dk1"/>
                          </a:solidFill>
                          <a:latin typeface="옥션고딕 M"/>
                          <a:ea typeface="옥션고딕 M"/>
                        </a:defRPr>
                      </a:lvl5pPr>
                      <a:lvl6pPr marL="2286000" algn="l" defTabSz="914400" rtl="0" eaLnBrk="1" latinLnBrk="1" hangingPunct="1">
                        <a:defRPr sz="1800" kern="1200">
                          <a:solidFill>
                            <a:schemeClr val="dk1"/>
                          </a:solidFill>
                          <a:latin typeface="옥션고딕 M"/>
                          <a:ea typeface="옥션고딕 M"/>
                        </a:defRPr>
                      </a:lvl6pPr>
                      <a:lvl7pPr marL="2743200" algn="l" defTabSz="914400" rtl="0" eaLnBrk="1" latinLnBrk="1" hangingPunct="1">
                        <a:defRPr sz="1800" kern="1200">
                          <a:solidFill>
                            <a:schemeClr val="dk1"/>
                          </a:solidFill>
                          <a:latin typeface="옥션고딕 M"/>
                          <a:ea typeface="옥션고딕 M"/>
                        </a:defRPr>
                      </a:lvl7pPr>
                      <a:lvl8pPr marL="3200400" algn="l" defTabSz="914400" rtl="0" eaLnBrk="1" latinLnBrk="1" hangingPunct="1">
                        <a:defRPr sz="1800" kern="1200">
                          <a:solidFill>
                            <a:schemeClr val="dk1"/>
                          </a:solidFill>
                          <a:latin typeface="옥션고딕 M"/>
                          <a:ea typeface="옥션고딕 M"/>
                        </a:defRPr>
                      </a:lvl8pPr>
                      <a:lvl9pPr marL="3657600" algn="l" defTabSz="914400" rtl="0" eaLnBrk="1" latinLnBrk="1" hangingPunct="1">
                        <a:defRPr sz="1800" kern="1200">
                          <a:solidFill>
                            <a:schemeClr val="dk1"/>
                          </a:solidFill>
                          <a:latin typeface="옥션고딕 M"/>
                          <a:ea typeface="옥션고딕 M"/>
                        </a:defRPr>
                      </a:lvl9p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6</a:t>
                      </a:r>
                      <a:r>
                        <a:rPr kumimoji="1" lang="ko-KR" altLang="en-US" sz="1200" u="none" strike="noStrike" cap="none" normalizeH="0" baseline="0" dirty="0">
                          <a:ln>
                            <a:noFill/>
                          </a:ln>
                          <a:effectLst/>
                          <a:latin typeface="+mn-ea"/>
                          <a:ea typeface="+mn-ea"/>
                        </a:rPr>
                        <a:t>개월</a:t>
                      </a:r>
                      <a:endParaRPr kumimoji="1" lang="ko-KR" altLang="en-US" sz="2800" b="1" i="0" u="none" strike="noStrike" cap="none" normalizeH="0" baseline="0" dirty="0">
                        <a:ln>
                          <a:noFill/>
                        </a:ln>
                        <a:solidFill>
                          <a:schemeClr val="bg1"/>
                        </a:solidFill>
                        <a:effectLst/>
                        <a:latin typeface="+mn-ea"/>
                        <a:ea typeface="+mn-ea"/>
                      </a:endParaRPr>
                    </a:p>
                  </a:txBody>
                  <a:tcPr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lvl1pPr marL="0" algn="l" defTabSz="914400" rtl="0" eaLnBrk="1" latinLnBrk="1" hangingPunct="1">
                        <a:defRPr sz="1800" kern="1200">
                          <a:solidFill>
                            <a:schemeClr val="dk1"/>
                          </a:solidFill>
                          <a:latin typeface="옥션고딕 M"/>
                          <a:ea typeface="옥션고딕 M"/>
                        </a:defRPr>
                      </a:lvl1pPr>
                      <a:lvl2pPr marL="457200" algn="l" defTabSz="914400" rtl="0" eaLnBrk="1" latinLnBrk="1" hangingPunct="1">
                        <a:defRPr sz="1800" kern="1200">
                          <a:solidFill>
                            <a:schemeClr val="dk1"/>
                          </a:solidFill>
                          <a:latin typeface="옥션고딕 M"/>
                          <a:ea typeface="옥션고딕 M"/>
                        </a:defRPr>
                      </a:lvl2pPr>
                      <a:lvl3pPr marL="914400" algn="l" defTabSz="914400" rtl="0" eaLnBrk="1" latinLnBrk="1" hangingPunct="1">
                        <a:defRPr sz="1800" kern="1200">
                          <a:solidFill>
                            <a:schemeClr val="dk1"/>
                          </a:solidFill>
                          <a:latin typeface="옥션고딕 M"/>
                          <a:ea typeface="옥션고딕 M"/>
                        </a:defRPr>
                      </a:lvl3pPr>
                      <a:lvl4pPr marL="1371600" algn="l" defTabSz="914400" rtl="0" eaLnBrk="1" latinLnBrk="1" hangingPunct="1">
                        <a:defRPr sz="1800" kern="1200">
                          <a:solidFill>
                            <a:schemeClr val="dk1"/>
                          </a:solidFill>
                          <a:latin typeface="옥션고딕 M"/>
                          <a:ea typeface="옥션고딕 M"/>
                        </a:defRPr>
                      </a:lvl4pPr>
                      <a:lvl5pPr marL="1828800" algn="l" defTabSz="914400" rtl="0" eaLnBrk="1" latinLnBrk="1" hangingPunct="1">
                        <a:defRPr sz="1800" kern="1200">
                          <a:solidFill>
                            <a:schemeClr val="dk1"/>
                          </a:solidFill>
                          <a:latin typeface="옥션고딕 M"/>
                          <a:ea typeface="옥션고딕 M"/>
                        </a:defRPr>
                      </a:lvl5pPr>
                      <a:lvl6pPr marL="2286000" algn="l" defTabSz="914400" rtl="0" eaLnBrk="1" latinLnBrk="1" hangingPunct="1">
                        <a:defRPr sz="1800" kern="1200">
                          <a:solidFill>
                            <a:schemeClr val="dk1"/>
                          </a:solidFill>
                          <a:latin typeface="옥션고딕 M"/>
                          <a:ea typeface="옥션고딕 M"/>
                        </a:defRPr>
                      </a:lvl6pPr>
                      <a:lvl7pPr marL="2743200" algn="l" defTabSz="914400" rtl="0" eaLnBrk="1" latinLnBrk="1" hangingPunct="1">
                        <a:defRPr sz="1800" kern="1200">
                          <a:solidFill>
                            <a:schemeClr val="dk1"/>
                          </a:solidFill>
                          <a:latin typeface="옥션고딕 M"/>
                          <a:ea typeface="옥션고딕 M"/>
                        </a:defRPr>
                      </a:lvl7pPr>
                      <a:lvl8pPr marL="3200400" algn="l" defTabSz="914400" rtl="0" eaLnBrk="1" latinLnBrk="1" hangingPunct="1">
                        <a:defRPr sz="1800" kern="1200">
                          <a:solidFill>
                            <a:schemeClr val="dk1"/>
                          </a:solidFill>
                          <a:latin typeface="옥션고딕 M"/>
                          <a:ea typeface="옥션고딕 M"/>
                        </a:defRPr>
                      </a:lvl8pPr>
                      <a:lvl9pPr marL="3657600" algn="l" defTabSz="914400" rtl="0" eaLnBrk="1" latinLnBrk="1" hangingPunct="1">
                        <a:defRPr sz="1800" kern="1200">
                          <a:solidFill>
                            <a:schemeClr val="dk1"/>
                          </a:solidFill>
                          <a:latin typeface="옥션고딕 M"/>
                          <a:ea typeface="옥션고딕 M"/>
                        </a:defRPr>
                      </a:lvl9p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altLang="en-US" sz="1200" u="none" strike="noStrike" cap="none" normalizeH="0" baseline="0" dirty="0">
                          <a:ln>
                            <a:noFill/>
                          </a:ln>
                          <a:effectLst/>
                          <a:latin typeface="+mn-ea"/>
                          <a:ea typeface="+mn-ea"/>
                        </a:rPr>
                        <a:t>유럽</a:t>
                      </a:r>
                      <a:r>
                        <a:rPr kumimoji="1" lang="en-US" altLang="ko-KR" sz="1200" u="none" strike="noStrike" cap="none" normalizeH="0" baseline="0" dirty="0">
                          <a:ln>
                            <a:noFill/>
                          </a:ln>
                          <a:effectLst/>
                          <a:latin typeface="+mn-ea"/>
                          <a:ea typeface="+mn-ea"/>
                        </a:rPr>
                        <a:t>(EPO), </a:t>
                      </a:r>
                      <a:r>
                        <a:rPr kumimoji="1" lang="ko-KR" altLang="en-US" sz="1200" u="none" strike="noStrike" cap="none" normalizeH="0" baseline="0" dirty="0">
                          <a:ln>
                            <a:noFill/>
                          </a:ln>
                          <a:effectLst/>
                          <a:latin typeface="+mn-ea"/>
                          <a:ea typeface="+mn-ea"/>
                        </a:rPr>
                        <a:t>중국</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러시아</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대만</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리투아니아</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북한</a:t>
                      </a:r>
                      <a:endParaRPr kumimoji="1" lang="ko-KR" altLang="en-US" sz="2800" b="0" i="0" u="none" strike="noStrike" cap="none" normalizeH="0" baseline="0" dirty="0">
                        <a:ln>
                          <a:noFill/>
                        </a:ln>
                        <a:solidFill>
                          <a:schemeClr val="tx1"/>
                        </a:solidFill>
                        <a:effectLst/>
                        <a:latin typeface="+mn-ea"/>
                        <a:ea typeface="+mn-ea"/>
                      </a:endParaRPr>
                    </a:p>
                  </a:txBody>
                  <a:tcPr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642765">
                <a:tc>
                  <a:txBody>
                    <a:bodyPr/>
                    <a:lstStyle>
                      <a:lvl1pPr marL="0" algn="l" defTabSz="914400" rtl="0" eaLnBrk="1" latinLnBrk="1" hangingPunct="1">
                        <a:defRPr sz="1800" kern="1200">
                          <a:solidFill>
                            <a:schemeClr val="dk1"/>
                          </a:solidFill>
                          <a:latin typeface="옥션고딕 M"/>
                          <a:ea typeface="옥션고딕 M"/>
                        </a:defRPr>
                      </a:lvl1pPr>
                      <a:lvl2pPr marL="457200" algn="l" defTabSz="914400" rtl="0" eaLnBrk="1" latinLnBrk="1" hangingPunct="1">
                        <a:defRPr sz="1800" kern="1200">
                          <a:solidFill>
                            <a:schemeClr val="dk1"/>
                          </a:solidFill>
                          <a:latin typeface="옥션고딕 M"/>
                          <a:ea typeface="옥션고딕 M"/>
                        </a:defRPr>
                      </a:lvl2pPr>
                      <a:lvl3pPr marL="914400" algn="l" defTabSz="914400" rtl="0" eaLnBrk="1" latinLnBrk="1" hangingPunct="1">
                        <a:defRPr sz="1800" kern="1200">
                          <a:solidFill>
                            <a:schemeClr val="dk1"/>
                          </a:solidFill>
                          <a:latin typeface="옥션고딕 M"/>
                          <a:ea typeface="옥션고딕 M"/>
                        </a:defRPr>
                      </a:lvl3pPr>
                      <a:lvl4pPr marL="1371600" algn="l" defTabSz="914400" rtl="0" eaLnBrk="1" latinLnBrk="1" hangingPunct="1">
                        <a:defRPr sz="1800" kern="1200">
                          <a:solidFill>
                            <a:schemeClr val="dk1"/>
                          </a:solidFill>
                          <a:latin typeface="옥션고딕 M"/>
                          <a:ea typeface="옥션고딕 M"/>
                        </a:defRPr>
                      </a:lvl4pPr>
                      <a:lvl5pPr marL="1828800" algn="l" defTabSz="914400" rtl="0" eaLnBrk="1" latinLnBrk="1" hangingPunct="1">
                        <a:defRPr sz="1800" kern="1200">
                          <a:solidFill>
                            <a:schemeClr val="dk1"/>
                          </a:solidFill>
                          <a:latin typeface="옥션고딕 M"/>
                          <a:ea typeface="옥션고딕 M"/>
                        </a:defRPr>
                      </a:lvl5pPr>
                      <a:lvl6pPr marL="2286000" algn="l" defTabSz="914400" rtl="0" eaLnBrk="1" latinLnBrk="1" hangingPunct="1">
                        <a:defRPr sz="1800" kern="1200">
                          <a:solidFill>
                            <a:schemeClr val="dk1"/>
                          </a:solidFill>
                          <a:latin typeface="옥션고딕 M"/>
                          <a:ea typeface="옥션고딕 M"/>
                        </a:defRPr>
                      </a:lvl6pPr>
                      <a:lvl7pPr marL="2743200" algn="l" defTabSz="914400" rtl="0" eaLnBrk="1" latinLnBrk="1" hangingPunct="1">
                        <a:defRPr sz="1800" kern="1200">
                          <a:solidFill>
                            <a:schemeClr val="dk1"/>
                          </a:solidFill>
                          <a:latin typeface="옥션고딕 M"/>
                          <a:ea typeface="옥션고딕 M"/>
                        </a:defRPr>
                      </a:lvl7pPr>
                      <a:lvl8pPr marL="3200400" algn="l" defTabSz="914400" rtl="0" eaLnBrk="1" latinLnBrk="1" hangingPunct="1">
                        <a:defRPr sz="1800" kern="1200">
                          <a:solidFill>
                            <a:schemeClr val="dk1"/>
                          </a:solidFill>
                          <a:latin typeface="옥션고딕 M"/>
                          <a:ea typeface="옥션고딕 M"/>
                        </a:defRPr>
                      </a:lvl8pPr>
                      <a:lvl9pPr marL="3657600" algn="l" defTabSz="914400" rtl="0" eaLnBrk="1" latinLnBrk="1" hangingPunct="1">
                        <a:defRPr sz="1800" kern="1200">
                          <a:solidFill>
                            <a:schemeClr val="dk1"/>
                          </a:solidFill>
                          <a:latin typeface="옥션고딕 M"/>
                          <a:ea typeface="옥션고딕 M"/>
                        </a:defRPr>
                      </a:lvl9p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12</a:t>
                      </a:r>
                      <a:r>
                        <a:rPr kumimoji="1" lang="ko-KR" altLang="en-US" sz="1200" u="none" strike="noStrike" cap="none" normalizeH="0" baseline="0" dirty="0">
                          <a:ln>
                            <a:noFill/>
                          </a:ln>
                          <a:effectLst/>
                          <a:latin typeface="+mn-ea"/>
                          <a:ea typeface="+mn-ea"/>
                        </a:rPr>
                        <a:t>개월</a:t>
                      </a:r>
                      <a:endParaRPr kumimoji="1" lang="ko-KR" altLang="en-US" sz="2800" b="1" i="0" u="none" strike="noStrike" cap="none" normalizeH="0" baseline="0" dirty="0">
                        <a:ln>
                          <a:noFill/>
                        </a:ln>
                        <a:solidFill>
                          <a:schemeClr val="bg1"/>
                        </a:solidFill>
                        <a:effectLst/>
                        <a:latin typeface="+mn-ea"/>
                        <a:ea typeface="+mn-ea"/>
                      </a:endParaRPr>
                    </a:p>
                  </a:txBody>
                  <a:tcPr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lvl1pPr marL="0" algn="l" defTabSz="914400" rtl="0" eaLnBrk="1" latinLnBrk="1" hangingPunct="1">
                        <a:defRPr sz="1800" kern="1200">
                          <a:solidFill>
                            <a:schemeClr val="dk1"/>
                          </a:solidFill>
                          <a:latin typeface="옥션고딕 M"/>
                          <a:ea typeface="옥션고딕 M"/>
                        </a:defRPr>
                      </a:lvl1pPr>
                      <a:lvl2pPr marL="457200" algn="l" defTabSz="914400" rtl="0" eaLnBrk="1" latinLnBrk="1" hangingPunct="1">
                        <a:defRPr sz="1800" kern="1200">
                          <a:solidFill>
                            <a:schemeClr val="dk1"/>
                          </a:solidFill>
                          <a:latin typeface="옥션고딕 M"/>
                          <a:ea typeface="옥션고딕 M"/>
                        </a:defRPr>
                      </a:lvl2pPr>
                      <a:lvl3pPr marL="914400" algn="l" defTabSz="914400" rtl="0" eaLnBrk="1" latinLnBrk="1" hangingPunct="1">
                        <a:defRPr sz="1800" kern="1200">
                          <a:solidFill>
                            <a:schemeClr val="dk1"/>
                          </a:solidFill>
                          <a:latin typeface="옥션고딕 M"/>
                          <a:ea typeface="옥션고딕 M"/>
                        </a:defRPr>
                      </a:lvl3pPr>
                      <a:lvl4pPr marL="1371600" algn="l" defTabSz="914400" rtl="0" eaLnBrk="1" latinLnBrk="1" hangingPunct="1">
                        <a:defRPr sz="1800" kern="1200">
                          <a:solidFill>
                            <a:schemeClr val="dk1"/>
                          </a:solidFill>
                          <a:latin typeface="옥션고딕 M"/>
                          <a:ea typeface="옥션고딕 M"/>
                        </a:defRPr>
                      </a:lvl4pPr>
                      <a:lvl5pPr marL="1828800" algn="l" defTabSz="914400" rtl="0" eaLnBrk="1" latinLnBrk="1" hangingPunct="1">
                        <a:defRPr sz="1800" kern="1200">
                          <a:solidFill>
                            <a:schemeClr val="dk1"/>
                          </a:solidFill>
                          <a:latin typeface="옥션고딕 M"/>
                          <a:ea typeface="옥션고딕 M"/>
                        </a:defRPr>
                      </a:lvl5pPr>
                      <a:lvl6pPr marL="2286000" algn="l" defTabSz="914400" rtl="0" eaLnBrk="1" latinLnBrk="1" hangingPunct="1">
                        <a:defRPr sz="1800" kern="1200">
                          <a:solidFill>
                            <a:schemeClr val="dk1"/>
                          </a:solidFill>
                          <a:latin typeface="옥션고딕 M"/>
                          <a:ea typeface="옥션고딕 M"/>
                        </a:defRPr>
                      </a:lvl6pPr>
                      <a:lvl7pPr marL="2743200" algn="l" defTabSz="914400" rtl="0" eaLnBrk="1" latinLnBrk="1" hangingPunct="1">
                        <a:defRPr sz="1800" kern="1200">
                          <a:solidFill>
                            <a:schemeClr val="dk1"/>
                          </a:solidFill>
                          <a:latin typeface="옥션고딕 M"/>
                          <a:ea typeface="옥션고딕 M"/>
                        </a:defRPr>
                      </a:lvl7pPr>
                      <a:lvl8pPr marL="3200400" algn="l" defTabSz="914400" rtl="0" eaLnBrk="1" latinLnBrk="1" hangingPunct="1">
                        <a:defRPr sz="1800" kern="1200">
                          <a:solidFill>
                            <a:schemeClr val="dk1"/>
                          </a:solidFill>
                          <a:latin typeface="옥션고딕 M"/>
                          <a:ea typeface="옥션고딕 M"/>
                        </a:defRPr>
                      </a:lvl8pPr>
                      <a:lvl9pPr marL="3657600" algn="l" defTabSz="914400" rtl="0" eaLnBrk="1" latinLnBrk="1" hangingPunct="1">
                        <a:defRPr sz="1800" kern="1200">
                          <a:solidFill>
                            <a:schemeClr val="dk1"/>
                          </a:solidFill>
                          <a:latin typeface="옥션고딕 M"/>
                          <a:ea typeface="옥션고딕 M"/>
                        </a:defRPr>
                      </a:lvl9p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altLang="en-US" sz="1200" u="none" strike="noStrike" cap="none" normalizeH="0" baseline="0" dirty="0">
                          <a:ln>
                            <a:noFill/>
                          </a:ln>
                          <a:effectLst/>
                          <a:latin typeface="+mn-ea"/>
                          <a:ea typeface="+mn-ea"/>
                        </a:rPr>
                        <a:t>미국</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호주</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캐나다</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멕시코</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브라질</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불가리아</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err="1">
                          <a:ln>
                            <a:noFill/>
                          </a:ln>
                          <a:effectLst/>
                          <a:latin typeface="+mn-ea"/>
                          <a:ea typeface="+mn-ea"/>
                        </a:rPr>
                        <a:t>포루투칼</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루마니아</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터키</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err="1">
                          <a:ln>
                            <a:noFill/>
                          </a:ln>
                          <a:effectLst/>
                          <a:latin typeface="+mn-ea"/>
                          <a:ea typeface="+mn-ea"/>
                        </a:rPr>
                        <a:t>벨라루스</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슬로베니아</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아르헨티나</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아르메니아</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엘살바도르</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err="1">
                          <a:ln>
                            <a:noFill/>
                          </a:ln>
                          <a:effectLst/>
                          <a:latin typeface="+mn-ea"/>
                          <a:ea typeface="+mn-ea"/>
                        </a:rPr>
                        <a:t>에스토니아</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카자흐스탄</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말레이시아</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페루</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사우디아라비아</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err="1">
                          <a:ln>
                            <a:noFill/>
                          </a:ln>
                          <a:effectLst/>
                          <a:latin typeface="+mn-ea"/>
                          <a:ea typeface="+mn-ea"/>
                        </a:rPr>
                        <a:t>싱가폴</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스리랑카</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트리니다드토바고</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몰도바</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err="1">
                          <a:ln>
                            <a:noFill/>
                          </a:ln>
                          <a:effectLst/>
                          <a:latin typeface="+mn-ea"/>
                          <a:ea typeface="+mn-ea"/>
                        </a:rPr>
                        <a:t>바르바도스</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한국</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일본</a:t>
                      </a:r>
                      <a:endParaRPr kumimoji="1" lang="ko-KR" altLang="en-US" sz="2800" b="0" i="0" u="none" strike="noStrike" cap="none" normalizeH="0" baseline="0" dirty="0">
                        <a:ln>
                          <a:noFill/>
                        </a:ln>
                        <a:solidFill>
                          <a:schemeClr val="tx1"/>
                        </a:solidFill>
                        <a:effectLst/>
                        <a:latin typeface="+mn-ea"/>
                        <a:ea typeface="+mn-ea"/>
                      </a:endParaRPr>
                    </a:p>
                  </a:txBody>
                  <a:tcPr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r h="267840">
                <a:tc>
                  <a:txBody>
                    <a:bodyPr/>
                    <a:lstStyle>
                      <a:lvl1pPr marL="0" algn="l" defTabSz="914400" rtl="0" eaLnBrk="1" latinLnBrk="1" hangingPunct="1">
                        <a:defRPr sz="1800" kern="1200">
                          <a:solidFill>
                            <a:schemeClr val="dk1"/>
                          </a:solidFill>
                          <a:latin typeface="옥션고딕 M"/>
                          <a:ea typeface="옥션고딕 M"/>
                        </a:defRPr>
                      </a:lvl1pPr>
                      <a:lvl2pPr marL="457200" algn="l" defTabSz="914400" rtl="0" eaLnBrk="1" latinLnBrk="1" hangingPunct="1">
                        <a:defRPr sz="1800" kern="1200">
                          <a:solidFill>
                            <a:schemeClr val="dk1"/>
                          </a:solidFill>
                          <a:latin typeface="옥션고딕 M"/>
                          <a:ea typeface="옥션고딕 M"/>
                        </a:defRPr>
                      </a:lvl2pPr>
                      <a:lvl3pPr marL="914400" algn="l" defTabSz="914400" rtl="0" eaLnBrk="1" latinLnBrk="1" hangingPunct="1">
                        <a:defRPr sz="1800" kern="1200">
                          <a:solidFill>
                            <a:schemeClr val="dk1"/>
                          </a:solidFill>
                          <a:latin typeface="옥션고딕 M"/>
                          <a:ea typeface="옥션고딕 M"/>
                        </a:defRPr>
                      </a:lvl3pPr>
                      <a:lvl4pPr marL="1371600" algn="l" defTabSz="914400" rtl="0" eaLnBrk="1" latinLnBrk="1" hangingPunct="1">
                        <a:defRPr sz="1800" kern="1200">
                          <a:solidFill>
                            <a:schemeClr val="dk1"/>
                          </a:solidFill>
                          <a:latin typeface="옥션고딕 M"/>
                          <a:ea typeface="옥션고딕 M"/>
                        </a:defRPr>
                      </a:lvl4pPr>
                      <a:lvl5pPr marL="1828800" algn="l" defTabSz="914400" rtl="0" eaLnBrk="1" latinLnBrk="1" hangingPunct="1">
                        <a:defRPr sz="1800" kern="1200">
                          <a:solidFill>
                            <a:schemeClr val="dk1"/>
                          </a:solidFill>
                          <a:latin typeface="옥션고딕 M"/>
                          <a:ea typeface="옥션고딕 M"/>
                        </a:defRPr>
                      </a:lvl5pPr>
                      <a:lvl6pPr marL="2286000" algn="l" defTabSz="914400" rtl="0" eaLnBrk="1" latinLnBrk="1" hangingPunct="1">
                        <a:defRPr sz="1800" kern="1200">
                          <a:solidFill>
                            <a:schemeClr val="dk1"/>
                          </a:solidFill>
                          <a:latin typeface="옥션고딕 M"/>
                          <a:ea typeface="옥션고딕 M"/>
                        </a:defRPr>
                      </a:lvl6pPr>
                      <a:lvl7pPr marL="2743200" algn="l" defTabSz="914400" rtl="0" eaLnBrk="1" latinLnBrk="1" hangingPunct="1">
                        <a:defRPr sz="1800" kern="1200">
                          <a:solidFill>
                            <a:schemeClr val="dk1"/>
                          </a:solidFill>
                          <a:latin typeface="옥션고딕 M"/>
                          <a:ea typeface="옥션고딕 M"/>
                        </a:defRPr>
                      </a:lvl7pPr>
                      <a:lvl8pPr marL="3200400" algn="l" defTabSz="914400" rtl="0" eaLnBrk="1" latinLnBrk="1" hangingPunct="1">
                        <a:defRPr sz="1800" kern="1200">
                          <a:solidFill>
                            <a:schemeClr val="dk1"/>
                          </a:solidFill>
                          <a:latin typeface="옥션고딕 M"/>
                          <a:ea typeface="옥션고딕 M"/>
                        </a:defRPr>
                      </a:lvl8pPr>
                      <a:lvl9pPr marL="3657600" algn="l" defTabSz="914400" rtl="0" eaLnBrk="1" latinLnBrk="1" hangingPunct="1">
                        <a:defRPr sz="1800" kern="1200">
                          <a:solidFill>
                            <a:schemeClr val="dk1"/>
                          </a:solidFill>
                          <a:latin typeface="옥션고딕 M"/>
                          <a:ea typeface="옥션고딕 M"/>
                        </a:defRPr>
                      </a:lvl9pPr>
                    </a:lstStyle>
                    <a:p>
                      <a:pPr marL="0" marR="0" lvl="0" indent="0" algn="ctr" defTabSz="914400" rtl="0" eaLnBrk="1" fontAlgn="base" latinLnBrk="1" hangingPunct="1">
                        <a:lnSpc>
                          <a:spcPct val="100000"/>
                        </a:lnSpc>
                        <a:spcBef>
                          <a:spcPct val="0"/>
                        </a:spcBef>
                        <a:spcAft>
                          <a:spcPct val="0"/>
                        </a:spcAft>
                        <a:buClrTx/>
                        <a:buSzTx/>
                        <a:buFontTx/>
                        <a:buNone/>
                        <a:tabLst/>
                      </a:pPr>
                      <a:r>
                        <a:rPr kumimoji="1" lang="ko-KR" altLang="en-US" sz="1200" u="none" strike="noStrike" cap="none" normalizeH="0" baseline="0" dirty="0">
                          <a:ln>
                            <a:noFill/>
                          </a:ln>
                          <a:effectLst/>
                          <a:latin typeface="+mn-ea"/>
                          <a:ea typeface="+mn-ea"/>
                        </a:rPr>
                        <a:t>무제한</a:t>
                      </a:r>
                      <a:endParaRPr kumimoji="1" lang="ko-KR" altLang="en-US" sz="2800" b="1" i="0" u="none" strike="noStrike" cap="none" normalizeH="0" baseline="0" dirty="0">
                        <a:ln>
                          <a:noFill/>
                        </a:ln>
                        <a:solidFill>
                          <a:schemeClr val="bg1"/>
                        </a:solidFill>
                        <a:effectLst/>
                        <a:latin typeface="+mn-ea"/>
                        <a:ea typeface="+mn-ea"/>
                      </a:endParaRPr>
                    </a:p>
                  </a:txBody>
                  <a:tcPr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lvl1pPr marL="0" algn="l" defTabSz="914400" rtl="0" eaLnBrk="1" latinLnBrk="1" hangingPunct="1">
                        <a:defRPr sz="1800" kern="1200">
                          <a:solidFill>
                            <a:schemeClr val="dk1"/>
                          </a:solidFill>
                          <a:latin typeface="옥션고딕 M"/>
                          <a:ea typeface="옥션고딕 M"/>
                        </a:defRPr>
                      </a:lvl1pPr>
                      <a:lvl2pPr marL="457200" algn="l" defTabSz="914400" rtl="0" eaLnBrk="1" latinLnBrk="1" hangingPunct="1">
                        <a:defRPr sz="1800" kern="1200">
                          <a:solidFill>
                            <a:schemeClr val="dk1"/>
                          </a:solidFill>
                          <a:latin typeface="옥션고딕 M"/>
                          <a:ea typeface="옥션고딕 M"/>
                        </a:defRPr>
                      </a:lvl2pPr>
                      <a:lvl3pPr marL="914400" algn="l" defTabSz="914400" rtl="0" eaLnBrk="1" latinLnBrk="1" hangingPunct="1">
                        <a:defRPr sz="1800" kern="1200">
                          <a:solidFill>
                            <a:schemeClr val="dk1"/>
                          </a:solidFill>
                          <a:latin typeface="옥션고딕 M"/>
                          <a:ea typeface="옥션고딕 M"/>
                        </a:defRPr>
                      </a:lvl3pPr>
                      <a:lvl4pPr marL="1371600" algn="l" defTabSz="914400" rtl="0" eaLnBrk="1" latinLnBrk="1" hangingPunct="1">
                        <a:defRPr sz="1800" kern="1200">
                          <a:solidFill>
                            <a:schemeClr val="dk1"/>
                          </a:solidFill>
                          <a:latin typeface="옥션고딕 M"/>
                          <a:ea typeface="옥션고딕 M"/>
                        </a:defRPr>
                      </a:lvl4pPr>
                      <a:lvl5pPr marL="1828800" algn="l" defTabSz="914400" rtl="0" eaLnBrk="1" latinLnBrk="1" hangingPunct="1">
                        <a:defRPr sz="1800" kern="1200">
                          <a:solidFill>
                            <a:schemeClr val="dk1"/>
                          </a:solidFill>
                          <a:latin typeface="옥션고딕 M"/>
                          <a:ea typeface="옥션고딕 M"/>
                        </a:defRPr>
                      </a:lvl5pPr>
                      <a:lvl6pPr marL="2286000" algn="l" defTabSz="914400" rtl="0" eaLnBrk="1" latinLnBrk="1" hangingPunct="1">
                        <a:defRPr sz="1800" kern="1200">
                          <a:solidFill>
                            <a:schemeClr val="dk1"/>
                          </a:solidFill>
                          <a:latin typeface="옥션고딕 M"/>
                          <a:ea typeface="옥션고딕 M"/>
                        </a:defRPr>
                      </a:lvl6pPr>
                      <a:lvl7pPr marL="2743200" algn="l" defTabSz="914400" rtl="0" eaLnBrk="1" latinLnBrk="1" hangingPunct="1">
                        <a:defRPr sz="1800" kern="1200">
                          <a:solidFill>
                            <a:schemeClr val="dk1"/>
                          </a:solidFill>
                          <a:latin typeface="옥션고딕 M"/>
                          <a:ea typeface="옥션고딕 M"/>
                        </a:defRPr>
                      </a:lvl7pPr>
                      <a:lvl8pPr marL="3200400" algn="l" defTabSz="914400" rtl="0" eaLnBrk="1" latinLnBrk="1" hangingPunct="1">
                        <a:defRPr sz="1800" kern="1200">
                          <a:solidFill>
                            <a:schemeClr val="dk1"/>
                          </a:solidFill>
                          <a:latin typeface="옥션고딕 M"/>
                          <a:ea typeface="옥션고딕 M"/>
                        </a:defRPr>
                      </a:lvl8pPr>
                      <a:lvl9pPr marL="3657600" algn="l" defTabSz="914400" rtl="0" eaLnBrk="1" latinLnBrk="1" hangingPunct="1">
                        <a:defRPr sz="1800" kern="1200">
                          <a:solidFill>
                            <a:schemeClr val="dk1"/>
                          </a:solidFill>
                          <a:latin typeface="옥션고딕 M"/>
                          <a:ea typeface="옥션고딕 M"/>
                        </a:defRPr>
                      </a:lvl9p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altLang="en-US" sz="1200" u="none" strike="noStrike" cap="none" normalizeH="0" baseline="0" dirty="0">
                          <a:ln>
                            <a:noFill/>
                          </a:ln>
                          <a:effectLst/>
                          <a:latin typeface="+mn-ea"/>
                          <a:ea typeface="+mn-ea"/>
                        </a:rPr>
                        <a:t>남아공</a:t>
                      </a:r>
                      <a:endParaRPr kumimoji="1" lang="ko-KR" altLang="en-US" sz="2800" b="0" i="0" u="none" strike="noStrike" cap="none" normalizeH="0" baseline="0" dirty="0">
                        <a:ln>
                          <a:noFill/>
                        </a:ln>
                        <a:solidFill>
                          <a:schemeClr val="tx1"/>
                        </a:solidFill>
                        <a:effectLst/>
                        <a:latin typeface="+mn-ea"/>
                        <a:ea typeface="+mn-ea"/>
                      </a:endParaRPr>
                    </a:p>
                  </a:txBody>
                  <a:tcPr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2" name="제목 1"/>
          <p:cNvSpPr>
            <a:spLocks noGrp="1"/>
          </p:cNvSpPr>
          <p:nvPr>
            <p:ph type="title"/>
          </p:nvPr>
        </p:nvSpPr>
        <p:spPr/>
        <p:txBody>
          <a:bodyPr/>
          <a:lstStyle/>
          <a:p>
            <a:r>
              <a:rPr lang="ko-KR" altLang="en-US" dirty="0" err="1"/>
              <a:t>참고노트</a:t>
            </a:r>
            <a:endParaRPr lang="ko-KR" altLang="en-US" dirty="0"/>
          </a:p>
        </p:txBody>
      </p:sp>
      <p:graphicFrame>
        <p:nvGraphicFramePr>
          <p:cNvPr id="6" name="Group 64"/>
          <p:cNvGraphicFramePr>
            <a:graphicFrameLocks noGrp="1"/>
          </p:cNvGraphicFramePr>
          <p:nvPr>
            <p:ph idx="4294967295"/>
          </p:nvPr>
        </p:nvGraphicFramePr>
        <p:xfrm>
          <a:off x="269776" y="4286175"/>
          <a:ext cx="11608878" cy="2441810"/>
        </p:xfrm>
        <a:graphic>
          <a:graphicData uri="http://schemas.openxmlformats.org/drawingml/2006/table">
            <a:tbl>
              <a:tblPr>
                <a:tableStyleId>{BC89EF96-8CEA-46FF-86C4-4CE0E7609802}</a:tableStyleId>
              </a:tblPr>
              <a:tblGrid>
                <a:gridCol w="997205">
                  <a:extLst>
                    <a:ext uri="{9D8B030D-6E8A-4147-A177-3AD203B41FA5}">
                      <a16:colId xmlns:a16="http://schemas.microsoft.com/office/drawing/2014/main" val="20000"/>
                    </a:ext>
                  </a:extLst>
                </a:gridCol>
                <a:gridCol w="875099">
                  <a:extLst>
                    <a:ext uri="{9D8B030D-6E8A-4147-A177-3AD203B41FA5}">
                      <a16:colId xmlns:a16="http://schemas.microsoft.com/office/drawing/2014/main" val="20001"/>
                    </a:ext>
                  </a:extLst>
                </a:gridCol>
                <a:gridCol w="1581578">
                  <a:extLst>
                    <a:ext uri="{9D8B030D-6E8A-4147-A177-3AD203B41FA5}">
                      <a16:colId xmlns:a16="http://schemas.microsoft.com/office/drawing/2014/main" val="20002"/>
                    </a:ext>
                  </a:extLst>
                </a:gridCol>
                <a:gridCol w="2017671">
                  <a:extLst>
                    <a:ext uri="{9D8B030D-6E8A-4147-A177-3AD203B41FA5}">
                      <a16:colId xmlns:a16="http://schemas.microsoft.com/office/drawing/2014/main" val="20003"/>
                    </a:ext>
                  </a:extLst>
                </a:gridCol>
                <a:gridCol w="2570060">
                  <a:extLst>
                    <a:ext uri="{9D8B030D-6E8A-4147-A177-3AD203B41FA5}">
                      <a16:colId xmlns:a16="http://schemas.microsoft.com/office/drawing/2014/main" val="20004"/>
                    </a:ext>
                  </a:extLst>
                </a:gridCol>
                <a:gridCol w="1677516">
                  <a:extLst>
                    <a:ext uri="{9D8B030D-6E8A-4147-A177-3AD203B41FA5}">
                      <a16:colId xmlns:a16="http://schemas.microsoft.com/office/drawing/2014/main" val="20005"/>
                    </a:ext>
                  </a:extLst>
                </a:gridCol>
                <a:gridCol w="1889749">
                  <a:extLst>
                    <a:ext uri="{9D8B030D-6E8A-4147-A177-3AD203B41FA5}">
                      <a16:colId xmlns:a16="http://schemas.microsoft.com/office/drawing/2014/main" val="20006"/>
                    </a:ext>
                  </a:extLst>
                </a:gridCol>
              </a:tblGrid>
              <a:tr h="312251">
                <a:tc rowSpan="2">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ko-KR" altLang="en-US" sz="1200" b="1" u="none" strike="noStrike" cap="none" normalizeH="0" baseline="0" dirty="0">
                          <a:ln>
                            <a:noFill/>
                          </a:ln>
                          <a:effectLst/>
                          <a:latin typeface="+mn-ea"/>
                          <a:ea typeface="+mn-ea"/>
                        </a:rPr>
                        <a:t>국가</a:t>
                      </a:r>
                      <a:endParaRPr kumimoji="1" lang="ko-KR" altLang="en-US" sz="1200" b="1" i="0" u="none" strike="noStrike" cap="none" normalizeH="0" baseline="0" dirty="0">
                        <a:ln>
                          <a:noFill/>
                        </a:ln>
                        <a:solidFill>
                          <a:schemeClr val="bg1"/>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gridSpan="4">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ko-KR" altLang="en-US" sz="1200" b="1" u="none" strike="noStrike" cap="none" normalizeH="0" baseline="0" dirty="0">
                          <a:ln>
                            <a:noFill/>
                          </a:ln>
                          <a:effectLst/>
                          <a:latin typeface="+mn-ea"/>
                          <a:ea typeface="+mn-ea"/>
                        </a:rPr>
                        <a:t>의사에 의한 공지</a:t>
                      </a:r>
                      <a:endParaRPr kumimoji="1" lang="ko-KR" altLang="en-US" sz="1200" b="1" i="0" u="none" strike="noStrike" cap="none" normalizeH="0" baseline="0" dirty="0">
                        <a:ln>
                          <a:noFill/>
                        </a:ln>
                        <a:solidFill>
                          <a:schemeClr val="bg1"/>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rowSpan="2">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200" b="1" u="none" strike="noStrike" cap="none" normalizeH="0" baseline="0" dirty="0">
                          <a:ln>
                            <a:noFill/>
                          </a:ln>
                          <a:effectLst/>
                          <a:latin typeface="+mn-ea"/>
                          <a:ea typeface="+mn-ea"/>
                        </a:rPr>
                        <a:t>의사에 반한 </a:t>
                      </a:r>
                      <a:endParaRPr kumimoji="1" lang="en-US" altLang="ko-KR" sz="1200" b="1" u="none" strike="noStrike" cap="none" normalizeH="0" baseline="0" dirty="0">
                        <a:ln>
                          <a:noFill/>
                        </a:ln>
                        <a:effectLst/>
                        <a:latin typeface="+mn-ea"/>
                        <a:ea typeface="+mn-ea"/>
                      </a:endParaRPr>
                    </a:p>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200" b="1" u="none" strike="noStrike" cap="none" normalizeH="0" baseline="0" dirty="0">
                          <a:ln>
                            <a:noFill/>
                          </a:ln>
                          <a:effectLst/>
                          <a:latin typeface="+mn-ea"/>
                          <a:ea typeface="+mn-ea"/>
                        </a:rPr>
                        <a:t>공지</a:t>
                      </a:r>
                      <a:endParaRPr kumimoji="1" lang="ko-KR" altLang="en-US" sz="1200" b="1" i="0" u="none" strike="noStrike" cap="none" normalizeH="0" baseline="0" dirty="0">
                        <a:ln>
                          <a:noFill/>
                        </a:ln>
                        <a:solidFill>
                          <a:schemeClr val="bg1"/>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rowSpan="2">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200" b="1" u="none" strike="noStrike" cap="none" normalizeH="0" baseline="0" dirty="0">
                          <a:ln>
                            <a:noFill/>
                          </a:ln>
                          <a:effectLst/>
                          <a:latin typeface="+mn-ea"/>
                          <a:ea typeface="+mn-ea"/>
                        </a:rPr>
                        <a:t>박람회</a:t>
                      </a:r>
                    </a:p>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200" b="1" u="none" strike="noStrike" cap="none" normalizeH="0" baseline="0" dirty="0">
                          <a:ln>
                            <a:noFill/>
                          </a:ln>
                          <a:effectLst/>
                          <a:latin typeface="+mn-ea"/>
                          <a:ea typeface="+mn-ea"/>
                        </a:rPr>
                        <a:t>출품</a:t>
                      </a:r>
                      <a:endParaRPr kumimoji="1" lang="ko-KR" altLang="en-US" sz="1200" b="1" i="0" u="none" strike="noStrike" cap="none" normalizeH="0" baseline="0" dirty="0">
                        <a:ln>
                          <a:noFill/>
                        </a:ln>
                        <a:solidFill>
                          <a:schemeClr val="bg1"/>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399585">
                <a:tc vMerge="1">
                  <a:txBody>
                    <a:bodyPr/>
                    <a:lstStyle/>
                    <a:p>
                      <a:pPr latinLnBrk="1"/>
                      <a:endParaRPr lang="ko-KR" altLang="en-US"/>
                    </a:p>
                  </a:txBody>
                  <a:tcPr/>
                </a:tc>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ko-KR" altLang="en-US" sz="1200" b="1" u="none" strike="noStrike" cap="none" normalizeH="0" baseline="0" dirty="0">
                          <a:ln>
                            <a:noFill/>
                          </a:ln>
                          <a:effectLst/>
                          <a:latin typeface="+mn-ea"/>
                          <a:ea typeface="+mn-ea"/>
                        </a:rPr>
                        <a:t>시험</a:t>
                      </a:r>
                      <a:endParaRPr kumimoji="1" lang="ko-KR" altLang="en-US" sz="1200" b="1" i="0" u="none" strike="noStrike" cap="none" normalizeH="0" baseline="0" dirty="0">
                        <a:ln>
                          <a:noFill/>
                        </a:ln>
                        <a:solidFill>
                          <a:schemeClr val="bg1"/>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200" b="1" u="none" strike="noStrike" cap="none" normalizeH="0" baseline="0" dirty="0">
                          <a:ln>
                            <a:noFill/>
                          </a:ln>
                          <a:effectLst/>
                          <a:latin typeface="+mn-ea"/>
                          <a:ea typeface="+mn-ea"/>
                        </a:rPr>
                        <a:t>간행물 게재</a:t>
                      </a:r>
                      <a:endParaRPr kumimoji="1" lang="ko-KR" altLang="en-US" sz="1200" b="1" i="0" u="none" strike="noStrike" cap="none" normalizeH="0" baseline="0" dirty="0">
                        <a:ln>
                          <a:noFill/>
                        </a:ln>
                        <a:solidFill>
                          <a:schemeClr val="bg1"/>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200" b="1" u="none" strike="noStrike" cap="none" normalizeH="0" baseline="0" dirty="0">
                          <a:ln>
                            <a:noFill/>
                          </a:ln>
                          <a:effectLst/>
                          <a:latin typeface="+mn-ea"/>
                          <a:ea typeface="+mn-ea"/>
                        </a:rPr>
                        <a:t>전기통신회선을 </a:t>
                      </a:r>
                      <a:endParaRPr kumimoji="1" lang="en-US" altLang="ko-KR" sz="1200" b="1" u="none" strike="noStrike" cap="none" normalizeH="0" baseline="0" dirty="0">
                        <a:ln>
                          <a:noFill/>
                        </a:ln>
                        <a:effectLst/>
                        <a:latin typeface="+mn-ea"/>
                        <a:ea typeface="+mn-ea"/>
                      </a:endParaRPr>
                    </a:p>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200" b="1" u="none" strike="noStrike" cap="none" normalizeH="0" baseline="0" dirty="0">
                          <a:ln>
                            <a:noFill/>
                          </a:ln>
                          <a:effectLst/>
                          <a:latin typeface="+mn-ea"/>
                          <a:ea typeface="+mn-ea"/>
                        </a:rPr>
                        <a:t>통해 공지</a:t>
                      </a:r>
                      <a:endParaRPr kumimoji="1" lang="ko-KR" altLang="en-US" sz="1200" b="1" i="0" u="none" strike="noStrike" cap="none" normalizeH="0" baseline="0" dirty="0">
                        <a:ln>
                          <a:noFill/>
                        </a:ln>
                        <a:solidFill>
                          <a:schemeClr val="bg1"/>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200" b="1" u="none" strike="noStrike" cap="none" normalizeH="0" baseline="0" dirty="0">
                          <a:ln>
                            <a:noFill/>
                          </a:ln>
                          <a:effectLst/>
                          <a:latin typeface="+mn-ea"/>
                          <a:ea typeface="+mn-ea"/>
                        </a:rPr>
                        <a:t>학술단체가 개최하는 연구집회에서 </a:t>
                      </a:r>
                      <a:endParaRPr kumimoji="1" lang="en-US" altLang="ko-KR" sz="1200" b="1" u="none" strike="noStrike" cap="none" normalizeH="0" baseline="0" dirty="0">
                        <a:ln>
                          <a:noFill/>
                        </a:ln>
                        <a:effectLst/>
                        <a:latin typeface="+mn-ea"/>
                        <a:ea typeface="+mn-ea"/>
                      </a:endParaRPr>
                    </a:p>
                    <a:p>
                      <a:pPr marL="0" marR="0" lvl="0" indent="0" algn="ctr" defTabSz="914400" rtl="0" eaLnBrk="1" fontAlgn="ctr" latinLnBrk="1" hangingPunct="1">
                        <a:lnSpc>
                          <a:spcPct val="100000"/>
                        </a:lnSpc>
                        <a:spcBef>
                          <a:spcPct val="0"/>
                        </a:spcBef>
                        <a:spcAft>
                          <a:spcPts val="0"/>
                        </a:spcAft>
                        <a:buClrTx/>
                        <a:buSzTx/>
                        <a:buFontTx/>
                        <a:buNone/>
                        <a:tabLst/>
                      </a:pPr>
                      <a:r>
                        <a:rPr kumimoji="1" lang="ko-KR" altLang="en-US" sz="1200" b="1" u="none" strike="noStrike" cap="none" normalizeH="0" baseline="0" dirty="0" err="1">
                          <a:ln>
                            <a:noFill/>
                          </a:ln>
                          <a:effectLst/>
                          <a:latin typeface="+mn-ea"/>
                          <a:ea typeface="+mn-ea"/>
                        </a:rPr>
                        <a:t>서면발표</a:t>
                      </a:r>
                      <a:endParaRPr kumimoji="1" lang="ko-KR" altLang="en-US" sz="1200" b="1" i="0" u="none" strike="noStrike" cap="none" normalizeH="0" baseline="0" dirty="0">
                        <a:ln>
                          <a:noFill/>
                        </a:ln>
                        <a:solidFill>
                          <a:schemeClr val="bg1"/>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1"/>
                  </a:ext>
                </a:extLst>
              </a:tr>
              <a:tr h="399585">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ko-KR" altLang="en-US" sz="1200" u="none" strike="noStrike" cap="none" normalizeH="0" baseline="0">
                          <a:ln>
                            <a:noFill/>
                          </a:ln>
                          <a:effectLst/>
                          <a:latin typeface="+mn-ea"/>
                          <a:ea typeface="+mn-ea"/>
                        </a:rPr>
                        <a:t>일본</a:t>
                      </a:r>
                      <a:endParaRPr kumimoji="1" lang="ko-KR" altLang="en-US" sz="1200" b="1" i="0" u="none" strike="noStrike" cap="none" normalizeH="0" baseline="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en-US" altLang="ko-KR" sz="1200" u="none" strike="noStrike" cap="none" normalizeH="0" baseline="0">
                          <a:ln>
                            <a:noFill/>
                          </a:ln>
                          <a:effectLst/>
                          <a:latin typeface="+mn-ea"/>
                          <a:ea typeface="+mn-ea"/>
                        </a:rPr>
                        <a:t>○</a:t>
                      </a:r>
                      <a:endParaRPr kumimoji="1" lang="en-US" altLang="ko-KR" sz="1200" b="0" i="0" u="none" strike="noStrike" cap="none" normalizeH="0" baseline="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latin typeface="+mn-ea"/>
                          <a:ea typeface="+mn-ea"/>
                        </a:rPr>
                        <a:t>○</a:t>
                      </a:r>
                      <a:endParaRPr kumimoji="1" lang="en-US" altLang="ko-KR" sz="1200" b="0" i="0" u="none" strike="noStrike" cap="none" normalizeH="0" baseline="0" dirty="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latin typeface="+mn-ea"/>
                          <a:ea typeface="+mn-ea"/>
                        </a:rPr>
                        <a:t>○</a:t>
                      </a:r>
                      <a:endParaRPr kumimoji="1" lang="en-US" altLang="ko-KR" sz="1200" b="0" i="0" u="none" strike="noStrike" cap="none" normalizeH="0" baseline="0" dirty="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a:t>
                      </a: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a:ln>
                            <a:noFill/>
                          </a:ln>
                          <a:effectLst/>
                          <a:latin typeface="+mn-ea"/>
                          <a:ea typeface="+mn-ea"/>
                        </a:rPr>
                        <a:t>○</a:t>
                      </a:r>
                      <a:endParaRPr kumimoji="1" lang="en-US" altLang="ko-KR" sz="1200" b="0" i="0" u="none" strike="noStrike" cap="none" normalizeH="0" baseline="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a:t>
                      </a:r>
                    </a:p>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a:t>
                      </a:r>
                      <a:r>
                        <a:rPr kumimoji="1" lang="ko-KR" altLang="en-US" sz="1200" u="none" strike="noStrike" cap="none" normalizeH="0" baseline="0" dirty="0">
                          <a:ln>
                            <a:noFill/>
                          </a:ln>
                          <a:effectLst/>
                          <a:latin typeface="+mn-ea"/>
                          <a:ea typeface="+mn-ea"/>
                        </a:rPr>
                        <a:t>박람회종류 제한</a:t>
                      </a:r>
                      <a:r>
                        <a:rPr kumimoji="1" lang="en-US" altLang="ko-KR" sz="1200" u="none" strike="noStrike" cap="none" normalizeH="0" baseline="0" dirty="0">
                          <a:ln>
                            <a:noFill/>
                          </a:ln>
                          <a:effectLst/>
                          <a:latin typeface="+mn-ea"/>
                          <a:ea typeface="+mn-ea"/>
                        </a:rPr>
                        <a:t>)</a:t>
                      </a:r>
                      <a:endParaRPr kumimoji="1" lang="en-US" altLang="ko-KR" sz="1200" b="0" i="0" u="none" strike="noStrike" cap="none" normalizeH="0" baseline="0" dirty="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r h="558482">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ko-KR" altLang="en-US" sz="1200" u="none" strike="noStrike" cap="none" normalizeH="0" baseline="0">
                          <a:ln>
                            <a:noFill/>
                          </a:ln>
                          <a:effectLst/>
                          <a:latin typeface="+mn-ea"/>
                          <a:ea typeface="+mn-ea"/>
                        </a:rPr>
                        <a:t>중국</a:t>
                      </a:r>
                      <a:endParaRPr kumimoji="1" lang="ko-KR" altLang="en-US" sz="1200" b="1" i="0" u="none" strike="noStrike" cap="none" normalizeH="0" baseline="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en-US" altLang="ko-KR" sz="1200" u="none" strike="noStrike" cap="none" normalizeH="0" baseline="0">
                          <a:ln>
                            <a:noFill/>
                          </a:ln>
                          <a:effectLst/>
                          <a:latin typeface="+mn-ea"/>
                          <a:ea typeface="+mn-ea"/>
                        </a:rPr>
                        <a:t>X</a:t>
                      </a:r>
                      <a:endParaRPr kumimoji="1" lang="en-US" altLang="ko-KR" sz="1200" b="0" i="0" u="none" strike="noStrike" cap="none" normalizeH="0" baseline="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en-US" altLang="ko-KR" sz="1200" u="none" strike="noStrike" cap="none" normalizeH="0" baseline="0">
                          <a:ln>
                            <a:noFill/>
                          </a:ln>
                          <a:effectLst/>
                          <a:latin typeface="+mn-ea"/>
                          <a:ea typeface="+mn-ea"/>
                        </a:rPr>
                        <a:t>X</a:t>
                      </a:r>
                      <a:endParaRPr kumimoji="1" lang="en-US" altLang="ko-KR" sz="1200" b="0" i="0" u="none" strike="noStrike" cap="none" normalizeH="0" baseline="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en-US" altLang="ko-KR" sz="1200" u="none" strike="noStrike" cap="none" normalizeH="0" baseline="0">
                          <a:ln>
                            <a:noFill/>
                          </a:ln>
                          <a:effectLst/>
                          <a:latin typeface="+mn-ea"/>
                          <a:ea typeface="+mn-ea"/>
                        </a:rPr>
                        <a:t>X</a:t>
                      </a:r>
                      <a:endParaRPr kumimoji="1" lang="en-US" altLang="ko-KR" sz="1200" b="0" i="0" u="none" strike="noStrike" cap="none" normalizeH="0" baseline="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0"/>
                        </a:spcAft>
                        <a:buClrTx/>
                        <a:buSzTx/>
                        <a:buFontTx/>
                        <a:buNone/>
                        <a:tabLst/>
                      </a:pPr>
                      <a:r>
                        <a:rPr kumimoji="1" lang="ko-KR" altLang="en-US" sz="1200" u="none" strike="noStrike" cap="none" normalizeH="0" baseline="0" dirty="0">
                          <a:ln>
                            <a:noFill/>
                          </a:ln>
                          <a:effectLst/>
                          <a:latin typeface="+mn-ea"/>
                          <a:ea typeface="+mn-ea"/>
                        </a:rPr>
                        <a:t>○</a:t>
                      </a: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a:t>
                      </a:r>
                      <a:endParaRPr kumimoji="1" lang="en-US" altLang="ko-KR" sz="1200" b="0" i="0" u="none" strike="noStrike" cap="none" normalizeH="0" baseline="0" dirty="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a:t>
                      </a:r>
                    </a:p>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a:t>
                      </a:r>
                      <a:r>
                        <a:rPr kumimoji="1" lang="ko-KR" altLang="en-US" sz="1200" u="none" strike="noStrike" cap="none" normalizeH="0" baseline="0" dirty="0">
                          <a:ln>
                            <a:noFill/>
                          </a:ln>
                          <a:effectLst/>
                          <a:latin typeface="+mn-ea"/>
                          <a:ea typeface="+mn-ea"/>
                        </a:rPr>
                        <a:t>박람회종류 제한</a:t>
                      </a:r>
                      <a:r>
                        <a:rPr kumimoji="1" lang="en-US" altLang="ko-KR" sz="1200" u="none" strike="noStrike" cap="none" normalizeH="0" baseline="0" dirty="0">
                          <a:ln>
                            <a:noFill/>
                          </a:ln>
                          <a:effectLst/>
                          <a:latin typeface="+mn-ea"/>
                          <a:ea typeface="+mn-ea"/>
                        </a:rPr>
                        <a:t>)</a:t>
                      </a: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3"/>
                  </a:ext>
                </a:extLst>
              </a:tr>
              <a:tr h="399585">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en-US" altLang="ko-KR" sz="1200" u="none" strike="noStrike" cap="none" normalizeH="0" baseline="0">
                          <a:ln>
                            <a:noFill/>
                          </a:ln>
                          <a:effectLst/>
                          <a:latin typeface="+mn-ea"/>
                          <a:ea typeface="+mn-ea"/>
                        </a:rPr>
                        <a:t>EPO</a:t>
                      </a:r>
                      <a:endParaRPr kumimoji="1" lang="ko-KR" altLang="en-US" sz="1200" b="1" i="0" u="none" strike="noStrike" cap="none" normalizeH="0" baseline="0" dirty="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en-US" altLang="ko-KR" sz="1200" u="none" strike="noStrike" cap="none" normalizeH="0" baseline="0">
                          <a:ln>
                            <a:noFill/>
                          </a:ln>
                          <a:effectLst/>
                          <a:latin typeface="+mn-ea"/>
                          <a:ea typeface="+mn-ea"/>
                        </a:rPr>
                        <a:t>X</a:t>
                      </a:r>
                      <a:endParaRPr kumimoji="1" lang="en-US" altLang="ko-KR" sz="1200" b="0" i="0" u="none" strike="noStrike" cap="none" normalizeH="0" baseline="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en-US" altLang="ko-KR" sz="1200" u="none" strike="noStrike" cap="none" normalizeH="0" baseline="0">
                          <a:ln>
                            <a:noFill/>
                          </a:ln>
                          <a:effectLst/>
                          <a:latin typeface="+mn-ea"/>
                          <a:ea typeface="+mn-ea"/>
                        </a:rPr>
                        <a:t>X</a:t>
                      </a:r>
                      <a:endParaRPr kumimoji="1" lang="en-US" altLang="ko-KR" sz="1200" b="0" i="0" u="none" strike="noStrike" cap="none" normalizeH="0" baseline="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en-US" altLang="ko-KR" sz="1200" u="none" strike="noStrike" cap="none" normalizeH="0" baseline="0">
                          <a:ln>
                            <a:noFill/>
                          </a:ln>
                          <a:effectLst/>
                          <a:latin typeface="+mn-ea"/>
                          <a:ea typeface="+mn-ea"/>
                        </a:rPr>
                        <a:t>X</a:t>
                      </a:r>
                      <a:endParaRPr kumimoji="1" lang="en-US" altLang="ko-KR" sz="1200" b="0" i="0" u="none" strike="noStrike" cap="none" normalizeH="0" baseline="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a:ln>
                            <a:noFill/>
                          </a:ln>
                          <a:effectLst/>
                          <a:latin typeface="+mn-ea"/>
                          <a:ea typeface="+mn-ea"/>
                        </a:rPr>
                        <a:t>X</a:t>
                      </a:r>
                      <a:endParaRPr kumimoji="1" lang="en-US" altLang="ko-KR" sz="1200" b="0" i="0" u="none" strike="noStrike" cap="none" normalizeH="0" baseline="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a:t>
                      </a:r>
                    </a:p>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a:t>
                      </a:r>
                      <a:r>
                        <a:rPr kumimoji="1" lang="ko-KR" altLang="en-US" sz="1200" u="none" strike="noStrike" cap="none" normalizeH="0" baseline="0" dirty="0">
                          <a:ln>
                            <a:noFill/>
                          </a:ln>
                          <a:effectLst/>
                          <a:latin typeface="+mn-ea"/>
                          <a:ea typeface="+mn-ea"/>
                        </a:rPr>
                        <a:t>요건 엄격</a:t>
                      </a:r>
                      <a:r>
                        <a:rPr kumimoji="1" lang="en-US" altLang="ko-KR" sz="1200" u="none" strike="noStrike" cap="none" normalizeH="0" baseline="0" dirty="0">
                          <a:ln>
                            <a:noFill/>
                          </a:ln>
                          <a:effectLst/>
                          <a:latin typeface="+mn-ea"/>
                          <a:ea typeface="+mn-ea"/>
                        </a:rPr>
                        <a:t>)</a:t>
                      </a:r>
                      <a:endParaRPr kumimoji="1" lang="en-US" altLang="ko-KR" sz="1200" b="0" i="0" u="none" strike="noStrike" cap="none" normalizeH="0" baseline="0" dirty="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a:t>
                      </a:r>
                    </a:p>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a:t>
                      </a:r>
                      <a:r>
                        <a:rPr kumimoji="1" lang="ko-KR" altLang="en-US" sz="1200" u="none" strike="noStrike" cap="none" normalizeH="0" baseline="0" dirty="0">
                          <a:ln>
                            <a:noFill/>
                          </a:ln>
                          <a:effectLst/>
                          <a:latin typeface="+mn-ea"/>
                          <a:ea typeface="+mn-ea"/>
                        </a:rPr>
                        <a:t>박람회종류 제한</a:t>
                      </a:r>
                      <a:r>
                        <a:rPr kumimoji="1" lang="en-US" altLang="ko-KR" sz="1200" u="none" strike="noStrike" cap="none" normalizeH="0" baseline="0" dirty="0">
                          <a:ln>
                            <a:noFill/>
                          </a:ln>
                          <a:effectLst/>
                          <a:latin typeface="+mn-ea"/>
                          <a:ea typeface="+mn-ea"/>
                        </a:rPr>
                        <a:t>)</a:t>
                      </a: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4"/>
                  </a:ext>
                </a:extLst>
              </a:tr>
              <a:tr h="372322">
                <a:tc>
                  <a:txBody>
                    <a:bodyPr/>
                    <a:lstStyle/>
                    <a:p>
                      <a:pPr marL="0" marR="0" lvl="0" indent="0" algn="ctr" defTabSz="914400" rtl="0" eaLnBrk="1" fontAlgn="ctr" latinLnBrk="1" hangingPunct="1">
                        <a:lnSpc>
                          <a:spcPct val="100000"/>
                        </a:lnSpc>
                        <a:spcBef>
                          <a:spcPct val="0"/>
                        </a:spcBef>
                        <a:spcAft>
                          <a:spcPct val="30000"/>
                        </a:spcAft>
                        <a:buClrTx/>
                        <a:buSzTx/>
                        <a:buFontTx/>
                        <a:buNone/>
                        <a:tabLst/>
                      </a:pPr>
                      <a:r>
                        <a:rPr kumimoji="1" lang="ko-KR" altLang="en-US" sz="1200" u="none" strike="noStrike" cap="none" normalizeH="0" baseline="0">
                          <a:ln>
                            <a:noFill/>
                          </a:ln>
                          <a:effectLst/>
                          <a:latin typeface="+mn-ea"/>
                          <a:ea typeface="+mn-ea"/>
                        </a:rPr>
                        <a:t>미국</a:t>
                      </a:r>
                      <a:endParaRPr kumimoji="1" lang="ko-KR" altLang="en-US" sz="1200" b="1" i="0" u="none" strike="noStrike" cap="none" normalizeH="0" baseline="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gridSpan="6">
                  <a:txBody>
                    <a:bodyPr/>
                    <a:lstStyle/>
                    <a:p>
                      <a:pPr marL="0" marR="0" lvl="0" indent="0" algn="ctr" defTabSz="914400" rtl="0" eaLnBrk="1" fontAlgn="ctr" latinLnBrk="1" hangingPunct="1">
                        <a:lnSpc>
                          <a:spcPct val="100000"/>
                        </a:lnSpc>
                        <a:spcBef>
                          <a:spcPct val="0"/>
                        </a:spcBef>
                        <a:spcAft>
                          <a:spcPct val="0"/>
                        </a:spcAft>
                        <a:buClrTx/>
                        <a:buSzTx/>
                        <a:buFontTx/>
                        <a:buNone/>
                        <a:tabLst/>
                      </a:pP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적용대상을 열거하지 않고 넓게 허용</a:t>
                      </a:r>
                      <a:r>
                        <a:rPr kumimoji="1" lang="en-US" altLang="ko-KR" sz="1200" u="none" strike="noStrike" cap="none" normalizeH="0" baseline="0" dirty="0">
                          <a:ln>
                            <a:noFill/>
                          </a:ln>
                          <a:effectLst/>
                          <a:latin typeface="+mn-ea"/>
                          <a:ea typeface="+mn-ea"/>
                        </a:rPr>
                        <a:t>)</a:t>
                      </a:r>
                      <a:endParaRPr kumimoji="1" lang="en-US" altLang="ko-KR" sz="1200" b="0" i="0" u="none" strike="noStrike" cap="none" normalizeH="0" baseline="0" dirty="0">
                        <a:ln>
                          <a:noFill/>
                        </a:ln>
                        <a:solidFill>
                          <a:srgbClr val="333333"/>
                        </a:solidFill>
                        <a:effectLst/>
                        <a:latin typeface="+mn-ea"/>
                        <a:ea typeface="+mn-ea"/>
                      </a:endParaRPr>
                    </a:p>
                  </a:txBody>
                  <a:tcPr marL="87815" marR="87815" marT="0" marB="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5"/>
                  </a:ext>
                </a:extLst>
              </a:tr>
            </a:tbl>
          </a:graphicData>
        </a:graphic>
      </p:graphicFrame>
      <p:sp>
        <p:nvSpPr>
          <p:cNvPr id="10" name="텍스트 개체 틀 2"/>
          <p:cNvSpPr>
            <a:spLocks noGrp="1"/>
          </p:cNvSpPr>
          <p:nvPr>
            <p:ph type="body" sz="quarter" idx="13"/>
          </p:nvPr>
        </p:nvSpPr>
        <p:spPr>
          <a:xfrm>
            <a:off x="2959100" y="69055"/>
            <a:ext cx="9232899" cy="603791"/>
          </a:xfrm>
        </p:spPr>
        <p:txBody>
          <a:bodyPr/>
          <a:lstStyle/>
          <a:p>
            <a:r>
              <a:rPr lang="ko-KR" altLang="en-US" dirty="0" err="1">
                <a:solidFill>
                  <a:srgbClr val="525252"/>
                </a:solidFill>
              </a:rPr>
              <a:t>해외출원과</a:t>
            </a:r>
            <a:r>
              <a:rPr lang="ko-KR" altLang="en-US" dirty="0">
                <a:solidFill>
                  <a:srgbClr val="525252"/>
                </a:solidFill>
              </a:rPr>
              <a:t> 공지예외적용주장</a:t>
            </a:r>
          </a:p>
        </p:txBody>
      </p:sp>
      <p:sp>
        <p:nvSpPr>
          <p:cNvPr id="12" name="TextBox 11"/>
          <p:cNvSpPr txBox="1"/>
          <p:nvPr/>
        </p:nvSpPr>
        <p:spPr>
          <a:xfrm>
            <a:off x="77875" y="986046"/>
            <a:ext cx="11936323" cy="523220"/>
          </a:xfrm>
          <a:prstGeom prst="rect">
            <a:avLst/>
          </a:prstGeom>
          <a:noFill/>
        </p:spPr>
        <p:txBody>
          <a:bodyPr wrap="square" rtlCol="0">
            <a:spAutoFit/>
          </a:bodyPr>
          <a:lstStyle/>
          <a:p>
            <a:pPr fontAlgn="base"/>
            <a:r>
              <a:rPr lang="ko-KR" altLang="en-US" sz="1400" dirty="0">
                <a:highlight>
                  <a:srgbClr val="FFFF00"/>
                </a:highlight>
              </a:rPr>
              <a:t>공지예외적용사유나 시기가 국가별로 차이</a:t>
            </a:r>
            <a:r>
              <a:rPr lang="ko-KR" altLang="en-US" sz="1400" dirty="0">
                <a:solidFill>
                  <a:schemeClr val="tx2"/>
                </a:solidFill>
              </a:rPr>
              <a:t>가 있기 때문에</a:t>
            </a:r>
            <a:r>
              <a:rPr lang="en-US" altLang="ko-KR" sz="1400" dirty="0">
                <a:solidFill>
                  <a:schemeClr val="tx2"/>
                </a:solidFill>
              </a:rPr>
              <a:t>, </a:t>
            </a:r>
            <a:r>
              <a:rPr lang="ko-KR" altLang="en-US" sz="1400" dirty="0">
                <a:solidFill>
                  <a:schemeClr val="tx2"/>
                </a:solidFill>
              </a:rPr>
              <a:t>특허출원이 공지보다 선행되어야 한다</a:t>
            </a:r>
            <a:r>
              <a:rPr lang="en-US" altLang="ko-KR" sz="1400" dirty="0">
                <a:solidFill>
                  <a:schemeClr val="tx2"/>
                </a:solidFill>
              </a:rPr>
              <a:t>. </a:t>
            </a:r>
            <a:r>
              <a:rPr lang="ko-KR" altLang="en-US" sz="1400" dirty="0">
                <a:solidFill>
                  <a:schemeClr val="tx2"/>
                </a:solidFill>
              </a:rPr>
              <a:t>특히 </a:t>
            </a:r>
            <a:r>
              <a:rPr lang="ko-KR" altLang="en-US" sz="1400" dirty="0" err="1">
                <a:highlight>
                  <a:srgbClr val="FFFF00"/>
                </a:highlight>
              </a:rPr>
              <a:t>논문발표를</a:t>
            </a:r>
            <a:r>
              <a:rPr lang="ko-KR" altLang="en-US" sz="1400" dirty="0">
                <a:highlight>
                  <a:srgbClr val="FFFF00"/>
                </a:highlight>
              </a:rPr>
              <a:t> 한 경우 중국이나 유럽은 특허를 받을 수 없기 때문에</a:t>
            </a:r>
            <a:r>
              <a:rPr lang="ko-KR" altLang="en-US" sz="1400" dirty="0">
                <a:solidFill>
                  <a:schemeClr val="tx2"/>
                </a:solidFill>
              </a:rPr>
              <a:t> 유의해야 한다</a:t>
            </a:r>
            <a:r>
              <a:rPr lang="en-US" altLang="ko-KR" sz="1400" dirty="0">
                <a:solidFill>
                  <a:schemeClr val="tx2"/>
                </a:solidFill>
              </a:rPr>
              <a:t>.</a:t>
            </a:r>
            <a:endParaRPr lang="ko-KR" altLang="en-US" sz="1400" dirty="0">
              <a:solidFill>
                <a:schemeClr val="tx2"/>
              </a:solidFill>
            </a:endParaRPr>
          </a:p>
        </p:txBody>
      </p:sp>
      <p:cxnSp>
        <p:nvCxnSpPr>
          <p:cNvPr id="13" name="직선 연결선 12"/>
          <p:cNvCxnSpPr/>
          <p:nvPr/>
        </p:nvCxnSpPr>
        <p:spPr>
          <a:xfrm>
            <a:off x="0" y="151106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Rectangle 5"/>
          <p:cNvSpPr>
            <a:spLocks noChangeArrowheads="1"/>
          </p:cNvSpPr>
          <p:nvPr/>
        </p:nvSpPr>
        <p:spPr bwMode="auto">
          <a:xfrm>
            <a:off x="195260" y="1724939"/>
            <a:ext cx="2153886"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err="1">
                <a:solidFill>
                  <a:schemeClr val="bg1"/>
                </a:solidFill>
                <a:latin typeface="+mj-ea"/>
                <a:ea typeface="+mj-ea"/>
              </a:rPr>
              <a:t>공지예외적용시기</a:t>
            </a:r>
            <a:endParaRPr lang="ko-KR" altLang="en-US" sz="1600" b="0" dirty="0">
              <a:solidFill>
                <a:schemeClr val="bg1"/>
              </a:solidFill>
              <a:latin typeface="+mj-ea"/>
              <a:ea typeface="+mj-ea"/>
            </a:endParaRPr>
          </a:p>
        </p:txBody>
      </p:sp>
      <p:sp>
        <p:nvSpPr>
          <p:cNvPr id="15" name="Rectangle 5"/>
          <p:cNvSpPr>
            <a:spLocks noChangeArrowheads="1"/>
          </p:cNvSpPr>
          <p:nvPr/>
        </p:nvSpPr>
        <p:spPr bwMode="auto">
          <a:xfrm>
            <a:off x="195260" y="3848786"/>
            <a:ext cx="2153886"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공지예외적용사유</a:t>
            </a:r>
          </a:p>
        </p:txBody>
      </p:sp>
      <p:sp>
        <p:nvSpPr>
          <p:cNvPr id="3" name="슬라이드 번호 개체 틀 2"/>
          <p:cNvSpPr>
            <a:spLocks noGrp="1"/>
          </p:cNvSpPr>
          <p:nvPr>
            <p:ph type="sldNum" sz="quarter" idx="12"/>
          </p:nvPr>
        </p:nvSpPr>
        <p:spPr/>
        <p:txBody>
          <a:bodyPr/>
          <a:lstStyle/>
          <a:p>
            <a:r>
              <a:rPr lang="en-US" altLang="ko-KR"/>
              <a:t>154</a:t>
            </a:r>
            <a:endParaRPr lang="ko-KR" altLang="en-US"/>
          </a:p>
        </p:txBody>
      </p:sp>
    </p:spTree>
    <p:extLst>
      <p:ext uri="{BB962C8B-B14F-4D97-AF65-F5344CB8AC3E}">
        <p14:creationId xmlns:p14="http://schemas.microsoft.com/office/powerpoint/2010/main" val="615963743"/>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34</a:t>
            </a:r>
            <a:r>
              <a:rPr lang="ko-KR" altLang="en-US" dirty="0"/>
              <a:t>조</a:t>
            </a:r>
            <a:r>
              <a:rPr lang="en-US" altLang="ko-KR" dirty="0"/>
              <a:t>, </a:t>
            </a:r>
            <a:r>
              <a:rPr lang="ko-KR" altLang="en-US" dirty="0"/>
              <a:t>제</a:t>
            </a:r>
            <a:r>
              <a:rPr lang="en-US" altLang="ko-KR" dirty="0"/>
              <a:t>35</a:t>
            </a:r>
            <a:r>
              <a:rPr lang="ko-KR" altLang="en-US" dirty="0"/>
              <a:t>조</a:t>
            </a:r>
          </a:p>
        </p:txBody>
      </p:sp>
      <p:sp>
        <p:nvSpPr>
          <p:cNvPr id="4" name="텍스트 개체 틀 3"/>
          <p:cNvSpPr>
            <a:spLocks noGrp="1"/>
          </p:cNvSpPr>
          <p:nvPr>
            <p:ph type="body" sz="quarter" idx="13"/>
          </p:nvPr>
        </p:nvSpPr>
        <p:spPr/>
        <p:txBody>
          <a:bodyPr/>
          <a:lstStyle/>
          <a:p>
            <a:r>
              <a:rPr lang="ko-KR" altLang="en-US" dirty="0"/>
              <a:t>정당한 권리자의 보호</a:t>
            </a:r>
          </a:p>
        </p:txBody>
      </p:sp>
      <p:sp>
        <p:nvSpPr>
          <p:cNvPr id="2" name="슬라이드 번호 개체 틀 1"/>
          <p:cNvSpPr>
            <a:spLocks noGrp="1"/>
          </p:cNvSpPr>
          <p:nvPr>
            <p:ph type="sldNum" sz="quarter" idx="12"/>
          </p:nvPr>
        </p:nvSpPr>
        <p:spPr/>
        <p:txBody>
          <a:bodyPr/>
          <a:lstStyle/>
          <a:p>
            <a:r>
              <a:rPr lang="en-US" altLang="ko-KR"/>
              <a:t>155</a:t>
            </a:r>
            <a:endParaRPr lang="ko-KR" altLang="en-US"/>
          </a:p>
        </p:txBody>
      </p:sp>
      <p:graphicFrame>
        <p:nvGraphicFramePr>
          <p:cNvPr id="5" name="표 4">
            <a:extLst>
              <a:ext uri="{FF2B5EF4-FFF2-40B4-BE49-F238E27FC236}">
                <a16:creationId xmlns:a16="http://schemas.microsoft.com/office/drawing/2014/main" id="{9E5977A3-A204-48DC-84F9-A404477AA12C}"/>
              </a:ext>
            </a:extLst>
          </p:cNvPr>
          <p:cNvGraphicFramePr>
            <a:graphicFrameLocks noGrp="1"/>
          </p:cNvGraphicFramePr>
          <p:nvPr/>
        </p:nvGraphicFramePr>
        <p:xfrm>
          <a:off x="475602" y="2157983"/>
          <a:ext cx="11192256" cy="3634984"/>
        </p:xfrm>
        <a:graphic>
          <a:graphicData uri="http://schemas.openxmlformats.org/drawingml/2006/table">
            <a:tbl>
              <a:tblPr/>
              <a:tblGrid>
                <a:gridCol w="731406">
                  <a:extLst>
                    <a:ext uri="{9D8B030D-6E8A-4147-A177-3AD203B41FA5}">
                      <a16:colId xmlns:a16="http://schemas.microsoft.com/office/drawing/2014/main" val="3388704944"/>
                    </a:ext>
                  </a:extLst>
                </a:gridCol>
                <a:gridCol w="3023616">
                  <a:extLst>
                    <a:ext uri="{9D8B030D-6E8A-4147-A177-3AD203B41FA5}">
                      <a16:colId xmlns:a16="http://schemas.microsoft.com/office/drawing/2014/main" val="537560535"/>
                    </a:ext>
                  </a:extLst>
                </a:gridCol>
                <a:gridCol w="3377184">
                  <a:extLst>
                    <a:ext uri="{9D8B030D-6E8A-4147-A177-3AD203B41FA5}">
                      <a16:colId xmlns:a16="http://schemas.microsoft.com/office/drawing/2014/main" val="2162419747"/>
                    </a:ext>
                  </a:extLst>
                </a:gridCol>
                <a:gridCol w="4060050">
                  <a:extLst>
                    <a:ext uri="{9D8B030D-6E8A-4147-A177-3AD203B41FA5}">
                      <a16:colId xmlns:a16="http://schemas.microsoft.com/office/drawing/2014/main" val="1647611734"/>
                    </a:ext>
                  </a:extLst>
                </a:gridCol>
              </a:tblGrid>
              <a:tr h="324936">
                <a:tc rowSpan="2">
                  <a:txBody>
                    <a:bodyPr/>
                    <a:lstStyle/>
                    <a:p>
                      <a:pPr marL="0" marR="0" indent="0" algn="ctr" fontAlgn="base" latinLnBrk="0">
                        <a:lnSpc>
                          <a:spcPct val="100000"/>
                        </a:lnSpc>
                        <a:spcBef>
                          <a:spcPts val="0"/>
                        </a:spcBef>
                        <a:spcAft>
                          <a:spcPts val="0"/>
                        </a:spcAft>
                      </a:pPr>
                      <a:r>
                        <a:rPr lang="ko-KR" altLang="en-US" sz="1400" kern="0" spc="-100" dirty="0">
                          <a:solidFill>
                            <a:srgbClr val="000000"/>
                          </a:solidFill>
                          <a:effectLst/>
                          <a:latin typeface="+mn-ea"/>
                          <a:ea typeface="+mn-ea"/>
                        </a:rPr>
                        <a:t>구분</a:t>
                      </a:r>
                      <a:endParaRPr lang="en-US" altLang="ko-KR" sz="1400" kern="0" spc="-10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gridSpan="2">
                  <a:txBody>
                    <a:bodyPr/>
                    <a:lstStyle/>
                    <a:p>
                      <a:pPr marL="0" marR="0" indent="0" algn="ctr" fontAlgn="base" latinLnBrk="0">
                        <a:lnSpc>
                          <a:spcPct val="100000"/>
                        </a:lnSpc>
                        <a:spcBef>
                          <a:spcPts val="0"/>
                        </a:spcBef>
                        <a:spcAft>
                          <a:spcPts val="0"/>
                        </a:spcAft>
                      </a:pPr>
                      <a:r>
                        <a:rPr lang="ko-KR" altLang="en-US" sz="1400" kern="0" spc="-100" dirty="0">
                          <a:solidFill>
                            <a:srgbClr val="000000"/>
                          </a:solidFill>
                          <a:effectLst/>
                          <a:latin typeface="+mn-ea"/>
                          <a:ea typeface="+mn-ea"/>
                        </a:rPr>
                        <a:t>출원일의 소급효</a:t>
                      </a:r>
                      <a:endParaRPr lang="en-US" altLang="ko-KR" sz="1400" kern="0" spc="-10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hMerge="1">
                  <a:txBody>
                    <a:bodyPr/>
                    <a:lstStyle/>
                    <a:p>
                      <a:pPr marL="0" marR="0" indent="0" algn="ctr" fontAlgn="base" latinLnBrk="0">
                        <a:lnSpc>
                          <a:spcPct val="130000"/>
                        </a:lnSpc>
                        <a:spcBef>
                          <a:spcPts val="0"/>
                        </a:spcBef>
                        <a:spcAft>
                          <a:spcPts val="0"/>
                        </a:spcAft>
                      </a:pPr>
                      <a:endParaRPr lang="ko-KR" altLang="en-US" sz="1400" kern="0" spc="-10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rowSpan="2">
                  <a:txBody>
                    <a:bodyPr/>
                    <a:lstStyle/>
                    <a:p>
                      <a:pPr marL="0" marR="0" indent="0" algn="ctr" fontAlgn="base" latinLnBrk="0">
                        <a:lnSpc>
                          <a:spcPct val="100000"/>
                        </a:lnSpc>
                        <a:spcBef>
                          <a:spcPts val="0"/>
                        </a:spcBef>
                        <a:spcAft>
                          <a:spcPts val="0"/>
                        </a:spcAft>
                      </a:pPr>
                      <a:r>
                        <a:rPr lang="ko-KR" altLang="en-US" sz="1400" kern="0" spc="-100" dirty="0">
                          <a:solidFill>
                            <a:srgbClr val="000000"/>
                          </a:solidFill>
                          <a:effectLst/>
                          <a:latin typeface="+mn-ea"/>
                          <a:ea typeface="+mn-ea"/>
                        </a:rPr>
                        <a:t>특허권</a:t>
                      </a:r>
                      <a:r>
                        <a:rPr lang="en-US" altLang="ko-KR" sz="1400" kern="0" spc="-100" dirty="0">
                          <a:solidFill>
                            <a:srgbClr val="000000"/>
                          </a:solidFill>
                          <a:effectLst/>
                          <a:latin typeface="+mn-ea"/>
                          <a:ea typeface="+mn-ea"/>
                        </a:rPr>
                        <a:t>(</a:t>
                      </a:r>
                      <a:r>
                        <a:rPr lang="ko-KR" altLang="en-US" sz="1400" kern="0" spc="-100" dirty="0">
                          <a:solidFill>
                            <a:srgbClr val="000000"/>
                          </a:solidFill>
                          <a:effectLst/>
                          <a:latin typeface="+mn-ea"/>
                          <a:ea typeface="+mn-ea"/>
                        </a:rPr>
                        <a:t>특허출원</a:t>
                      </a:r>
                      <a:r>
                        <a:rPr lang="en-US" altLang="ko-KR" sz="1400" kern="0" spc="-100" dirty="0">
                          <a:solidFill>
                            <a:srgbClr val="000000"/>
                          </a:solidFill>
                          <a:effectLst/>
                          <a:latin typeface="+mn-ea"/>
                          <a:ea typeface="+mn-ea"/>
                        </a:rPr>
                        <a:t>)</a:t>
                      </a:r>
                      <a:r>
                        <a:rPr lang="ko-KR" altLang="en-US" sz="1400" kern="0" spc="-100" dirty="0">
                          <a:solidFill>
                            <a:srgbClr val="000000"/>
                          </a:solidFill>
                          <a:effectLst/>
                          <a:latin typeface="+mn-ea"/>
                          <a:ea typeface="+mn-ea"/>
                        </a:rPr>
                        <a:t>의 이전청구</a:t>
                      </a:r>
                      <a:endParaRPr lang="en-US" altLang="ko-KR" sz="1400" kern="0" spc="-100" dirty="0">
                        <a:solidFill>
                          <a:srgbClr val="000000"/>
                        </a:solidFill>
                        <a:effectLst/>
                        <a:latin typeface="+mn-ea"/>
                        <a:ea typeface="+mn-ea"/>
                      </a:endParaRPr>
                    </a:p>
                    <a:p>
                      <a:pPr marL="0" marR="0" indent="0" algn="ctr" fontAlgn="base" latinLnBrk="0">
                        <a:lnSpc>
                          <a:spcPct val="100000"/>
                        </a:lnSpc>
                        <a:spcBef>
                          <a:spcPts val="0"/>
                        </a:spcBef>
                        <a:spcAft>
                          <a:spcPts val="0"/>
                        </a:spcAft>
                      </a:pPr>
                      <a:r>
                        <a:rPr lang="en-US" altLang="ko-KR" sz="1400" kern="0" spc="-100" dirty="0">
                          <a:solidFill>
                            <a:srgbClr val="000000"/>
                          </a:solidFill>
                          <a:effectLst/>
                          <a:latin typeface="+mn-ea"/>
                          <a:ea typeface="+mn-ea"/>
                        </a:rPr>
                        <a:t>(</a:t>
                      </a:r>
                      <a:r>
                        <a:rPr lang="ko-KR" altLang="en-US" sz="1400" kern="0" spc="-100" dirty="0">
                          <a:solidFill>
                            <a:srgbClr val="000000"/>
                          </a:solidFill>
                          <a:effectLst/>
                          <a:latin typeface="+mn-ea"/>
                          <a:ea typeface="+mn-ea"/>
                        </a:rPr>
                        <a:t>제</a:t>
                      </a:r>
                      <a:r>
                        <a:rPr lang="en-US" altLang="ko-KR" sz="1400" kern="0" spc="-100" dirty="0">
                          <a:solidFill>
                            <a:srgbClr val="000000"/>
                          </a:solidFill>
                          <a:effectLst/>
                          <a:latin typeface="+mn-ea"/>
                          <a:ea typeface="+mn-ea"/>
                        </a:rPr>
                        <a:t>33</a:t>
                      </a:r>
                      <a:r>
                        <a:rPr lang="ko-KR" altLang="en-US" sz="1400" kern="0" spc="-100" dirty="0">
                          <a:solidFill>
                            <a:srgbClr val="000000"/>
                          </a:solidFill>
                          <a:effectLst/>
                          <a:latin typeface="+mn-ea"/>
                          <a:ea typeface="+mn-ea"/>
                        </a:rPr>
                        <a:t>조제</a:t>
                      </a:r>
                      <a:r>
                        <a:rPr lang="en-US" altLang="ko-KR" sz="1400" kern="0" spc="-100" dirty="0">
                          <a:solidFill>
                            <a:srgbClr val="000000"/>
                          </a:solidFill>
                          <a:effectLst/>
                          <a:latin typeface="+mn-ea"/>
                          <a:ea typeface="+mn-ea"/>
                        </a:rPr>
                        <a:t>1</a:t>
                      </a:r>
                      <a:r>
                        <a:rPr lang="ko-KR" altLang="en-US" sz="1400" kern="0" spc="-100" dirty="0" err="1">
                          <a:solidFill>
                            <a:srgbClr val="000000"/>
                          </a:solidFill>
                          <a:effectLst/>
                          <a:latin typeface="+mn-ea"/>
                          <a:ea typeface="+mn-ea"/>
                        </a:rPr>
                        <a:t>항본문</a:t>
                      </a:r>
                      <a:r>
                        <a:rPr lang="en-US" altLang="ko-KR" sz="1400" kern="0" spc="-100" dirty="0">
                          <a:solidFill>
                            <a:srgbClr val="000000"/>
                          </a:solidFill>
                          <a:effectLst/>
                          <a:latin typeface="+mn-ea"/>
                          <a:ea typeface="+mn-ea"/>
                        </a:rPr>
                        <a:t>, </a:t>
                      </a:r>
                      <a:r>
                        <a:rPr lang="ko-KR" altLang="en-US" sz="1400" kern="0" spc="-100" dirty="0">
                          <a:solidFill>
                            <a:srgbClr val="000000"/>
                          </a:solidFill>
                          <a:effectLst/>
                          <a:latin typeface="+mn-ea"/>
                          <a:ea typeface="+mn-ea"/>
                        </a:rPr>
                        <a:t>제</a:t>
                      </a:r>
                      <a:r>
                        <a:rPr lang="en-US" altLang="ko-KR" sz="1400" kern="0" spc="-100" dirty="0">
                          <a:solidFill>
                            <a:srgbClr val="000000"/>
                          </a:solidFill>
                          <a:effectLst/>
                          <a:latin typeface="+mn-ea"/>
                          <a:ea typeface="+mn-ea"/>
                        </a:rPr>
                        <a:t>44</a:t>
                      </a:r>
                      <a:r>
                        <a:rPr lang="ko-KR" altLang="en-US" sz="1400" kern="0" spc="-100" dirty="0">
                          <a:solidFill>
                            <a:srgbClr val="000000"/>
                          </a:solidFill>
                          <a:effectLst/>
                          <a:latin typeface="+mn-ea"/>
                          <a:ea typeface="+mn-ea"/>
                        </a:rPr>
                        <a:t>조 위반</a:t>
                      </a:r>
                      <a:r>
                        <a:rPr lang="en-US" altLang="ko-KR" sz="1400" kern="0" spc="-100" dirty="0">
                          <a:solidFill>
                            <a:srgbClr val="000000"/>
                          </a:solidFill>
                          <a:effectLst/>
                          <a:latin typeface="+mn-ea"/>
                          <a:ea typeface="+mn-ea"/>
                        </a:rPr>
                        <a:t>)</a:t>
                      </a:r>
                      <a:endParaRPr lang="ko-KR" altLang="en-US" sz="1400" kern="0" spc="-10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826539625"/>
                  </a:ext>
                </a:extLst>
              </a:tr>
              <a:tr h="324936">
                <a:tc vMerge="1">
                  <a:txBody>
                    <a:bodyPr/>
                    <a:lstStyle/>
                    <a:p>
                      <a:pPr latinLnBrk="1"/>
                      <a:endParaRPr lang="ko-KR" altLang="en-US"/>
                    </a:p>
                  </a:txBody>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1400" kern="0" spc="-100" dirty="0">
                          <a:solidFill>
                            <a:srgbClr val="000000"/>
                          </a:solidFill>
                          <a:effectLst/>
                          <a:latin typeface="+mn-ea"/>
                          <a:ea typeface="+mn-ea"/>
                        </a:rPr>
                        <a:t>제</a:t>
                      </a:r>
                      <a:r>
                        <a:rPr lang="en-US" altLang="ko-KR" sz="1400" kern="0" spc="-100" dirty="0">
                          <a:solidFill>
                            <a:srgbClr val="000000"/>
                          </a:solidFill>
                          <a:effectLst/>
                          <a:latin typeface="+mn-ea"/>
                          <a:ea typeface="+mn-ea"/>
                        </a:rPr>
                        <a:t>33</a:t>
                      </a:r>
                      <a:r>
                        <a:rPr lang="ko-KR" altLang="en-US" sz="1400" kern="0" spc="-100" dirty="0">
                          <a:solidFill>
                            <a:srgbClr val="000000"/>
                          </a:solidFill>
                          <a:effectLst/>
                          <a:latin typeface="+mn-ea"/>
                          <a:ea typeface="+mn-ea"/>
                        </a:rPr>
                        <a:t>조제</a:t>
                      </a:r>
                      <a:r>
                        <a:rPr lang="en-US" altLang="ko-KR" sz="1400" kern="0" spc="-100" dirty="0">
                          <a:solidFill>
                            <a:srgbClr val="000000"/>
                          </a:solidFill>
                          <a:effectLst/>
                          <a:latin typeface="+mn-ea"/>
                          <a:ea typeface="+mn-ea"/>
                        </a:rPr>
                        <a:t>1</a:t>
                      </a:r>
                      <a:r>
                        <a:rPr lang="ko-KR" altLang="en-US" sz="1400" kern="0" spc="-100" dirty="0" err="1">
                          <a:solidFill>
                            <a:srgbClr val="000000"/>
                          </a:solidFill>
                          <a:effectLst/>
                          <a:latin typeface="+mn-ea"/>
                          <a:ea typeface="+mn-ea"/>
                        </a:rPr>
                        <a:t>항본문</a:t>
                      </a:r>
                      <a:r>
                        <a:rPr lang="ko-KR" altLang="en-US" sz="1400" kern="0" spc="-100" dirty="0">
                          <a:solidFill>
                            <a:srgbClr val="000000"/>
                          </a:solidFill>
                          <a:effectLst/>
                          <a:latin typeface="+mn-ea"/>
                          <a:ea typeface="+mn-ea"/>
                        </a:rPr>
                        <a:t> 위반</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400" kern="0" spc="-100" dirty="0">
                          <a:solidFill>
                            <a:srgbClr val="000000"/>
                          </a:solidFill>
                          <a:effectLst/>
                          <a:latin typeface="+mn-ea"/>
                          <a:ea typeface="+mn-ea"/>
                        </a:rPr>
                        <a:t>제</a:t>
                      </a:r>
                      <a:r>
                        <a:rPr lang="en-US" altLang="ko-KR" sz="1400" kern="0" spc="-100" dirty="0">
                          <a:solidFill>
                            <a:srgbClr val="000000"/>
                          </a:solidFill>
                          <a:effectLst/>
                          <a:latin typeface="+mn-ea"/>
                          <a:ea typeface="+mn-ea"/>
                        </a:rPr>
                        <a:t>44</a:t>
                      </a:r>
                      <a:r>
                        <a:rPr lang="ko-KR" altLang="en-US" sz="1400" kern="0" spc="-100" dirty="0">
                          <a:solidFill>
                            <a:srgbClr val="000000"/>
                          </a:solidFill>
                          <a:effectLst/>
                          <a:latin typeface="+mn-ea"/>
                          <a:ea typeface="+mn-ea"/>
                        </a:rPr>
                        <a:t>조 위반</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vMerge="1">
                  <a:txBody>
                    <a:bodyPr/>
                    <a:lstStyle/>
                    <a:p>
                      <a:pPr latinLnBrk="1"/>
                      <a:endParaRPr lang="ko-KR" altLang="en-US"/>
                    </a:p>
                  </a:txBody>
                  <a:tcPr/>
                </a:tc>
                <a:extLst>
                  <a:ext uri="{0D108BD9-81ED-4DB2-BD59-A6C34878D82A}">
                    <a16:rowId xmlns:a16="http://schemas.microsoft.com/office/drawing/2014/main" val="2166865937"/>
                  </a:ext>
                </a:extLst>
              </a:tr>
              <a:tr h="324936">
                <a:tc rowSpan="2">
                  <a:txBody>
                    <a:bodyPr/>
                    <a:lstStyle/>
                    <a:p>
                      <a:pPr marL="17780" marR="17780" indent="0" algn="ctr" fontAlgn="base" latinLnBrk="0">
                        <a:lnSpc>
                          <a:spcPct val="100000"/>
                        </a:lnSpc>
                        <a:spcBef>
                          <a:spcPts val="0"/>
                        </a:spcBef>
                        <a:spcAft>
                          <a:spcPts val="0"/>
                        </a:spcAft>
                      </a:pPr>
                      <a:r>
                        <a:rPr lang="ko-KR" altLang="en-US" sz="1400" kern="0" spc="-50" dirty="0">
                          <a:solidFill>
                            <a:srgbClr val="000000"/>
                          </a:solidFill>
                          <a:effectLst/>
                          <a:latin typeface="+mn-ea"/>
                          <a:ea typeface="+mn-ea"/>
                        </a:rPr>
                        <a:t>출원</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400" kern="0" spc="-50" dirty="0">
                          <a:solidFill>
                            <a:srgbClr val="000000"/>
                          </a:solidFill>
                          <a:effectLst/>
                          <a:latin typeface="+mn-ea"/>
                          <a:ea typeface="+mn-ea"/>
                        </a:rPr>
                        <a:t>○</a:t>
                      </a: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法 </a:t>
                      </a:r>
                      <a:r>
                        <a:rPr lang="en-US" altLang="ko-KR" sz="1400" kern="0" spc="-50" dirty="0">
                          <a:solidFill>
                            <a:srgbClr val="000000"/>
                          </a:solidFill>
                          <a:effectLst/>
                          <a:latin typeface="+mn-ea"/>
                          <a:ea typeface="+mn-ea"/>
                        </a:rPr>
                        <a:t>34)</a:t>
                      </a:r>
                      <a:endParaRPr lang="ko-KR" altLang="en-US" sz="14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400" kern="0" spc="-50" dirty="0">
                          <a:solidFill>
                            <a:srgbClr val="000000"/>
                          </a:solidFill>
                          <a:effectLst/>
                          <a:latin typeface="+mn-ea"/>
                          <a:ea typeface="+mn-ea"/>
                        </a:rPr>
                        <a:t>×</a:t>
                      </a:r>
                      <a:endParaRPr lang="ko-KR" altLang="en-US" sz="14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400" kern="0" spc="-50" dirty="0">
                          <a:solidFill>
                            <a:srgbClr val="000000"/>
                          </a:solidFill>
                          <a:effectLst/>
                          <a:latin typeface="+mn-ea"/>
                          <a:ea typeface="+mn-ea"/>
                        </a:rPr>
                        <a:t>○</a:t>
                      </a: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해석상</a:t>
                      </a:r>
                      <a:r>
                        <a:rPr lang="en-US" altLang="ko-KR" sz="1400" kern="0" spc="-50" dirty="0">
                          <a:solidFill>
                            <a:srgbClr val="000000"/>
                          </a:solidFill>
                          <a:effectLst/>
                          <a:latin typeface="+mn-ea"/>
                          <a:ea typeface="+mn-ea"/>
                        </a:rPr>
                        <a:t>)</a:t>
                      </a:r>
                      <a:endParaRPr lang="ko-KR" altLang="en-US" sz="14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4066344619"/>
                  </a:ext>
                </a:extLst>
              </a:tr>
              <a:tr h="645546">
                <a:tc vMerge="1">
                  <a:txBody>
                    <a:bodyPr/>
                    <a:lstStyle/>
                    <a:p>
                      <a:pPr latinLnBrk="1"/>
                      <a:endParaRPr lang="ko-KR" altLang="en-US"/>
                    </a:p>
                  </a:txBody>
                  <a:tcPr/>
                </a:tc>
                <a:tc>
                  <a:txBody>
                    <a:bodyPr/>
                    <a:lstStyle/>
                    <a:p>
                      <a:pPr marL="17780" marR="17780" lvl="0" indent="0" algn="l" defTabSz="914400" rtl="0" eaLnBrk="1" fontAlgn="base" latinLnBrk="0" hangingPunct="1">
                        <a:lnSpc>
                          <a:spcPct val="100000"/>
                        </a:lnSpc>
                        <a:spcBef>
                          <a:spcPts val="0"/>
                        </a:spcBef>
                        <a:spcAft>
                          <a:spcPts val="0"/>
                        </a:spcAft>
                        <a:buClrTx/>
                        <a:buSzTx/>
                        <a:buFontTx/>
                        <a:buNone/>
                        <a:tabLst/>
                        <a:defRPr/>
                      </a:pPr>
                      <a:r>
                        <a:rPr lang="en-US" altLang="ko-KR" sz="1400" kern="0" spc="-50" dirty="0">
                          <a:solidFill>
                            <a:srgbClr val="000000"/>
                          </a:solidFill>
                          <a:effectLst/>
                          <a:latin typeface="+mn-ea"/>
                          <a:ea typeface="+mn-ea"/>
                        </a:rPr>
                        <a:t>- </a:t>
                      </a:r>
                      <a:r>
                        <a:rPr lang="ko-KR" altLang="en-US" sz="1400" kern="0" spc="-50" dirty="0">
                          <a:solidFill>
                            <a:srgbClr val="000000"/>
                          </a:solidFill>
                          <a:effectLst/>
                          <a:latin typeface="+mn-ea"/>
                          <a:ea typeface="+mn-ea"/>
                        </a:rPr>
                        <a:t>거절이유</a:t>
                      </a:r>
                      <a:r>
                        <a:rPr lang="en-US" altLang="ko-KR" sz="1400" kern="0" spc="-80" dirty="0">
                          <a:solidFill>
                            <a:srgbClr val="000000"/>
                          </a:solidFill>
                          <a:effectLst/>
                          <a:latin typeface="+mn-ea"/>
                          <a:ea typeface="+mn-ea"/>
                        </a:rPr>
                        <a:t>(</a:t>
                      </a:r>
                      <a:r>
                        <a:rPr lang="ko-KR" altLang="en-US" sz="1400" kern="0" spc="-50" dirty="0">
                          <a:solidFill>
                            <a:srgbClr val="000000"/>
                          </a:solidFill>
                          <a:effectLst/>
                          <a:latin typeface="+mn-ea"/>
                          <a:ea typeface="+mn-ea"/>
                        </a:rPr>
                        <a:t>法 </a:t>
                      </a:r>
                      <a:r>
                        <a:rPr lang="en-US" altLang="ko-KR" sz="1400" kern="0" spc="-50" dirty="0">
                          <a:solidFill>
                            <a:srgbClr val="000000"/>
                          </a:solidFill>
                          <a:effectLst/>
                          <a:latin typeface="+mn-ea"/>
                          <a:ea typeface="+mn-ea"/>
                        </a:rPr>
                        <a:t>62</a:t>
                      </a:r>
                      <a:r>
                        <a:rPr lang="en-US" altLang="ko-KR" sz="1400" kern="1200" dirty="0">
                          <a:solidFill>
                            <a:schemeClr val="tx1"/>
                          </a:solidFill>
                          <a:effectLst/>
                          <a:latin typeface="+mn-lt"/>
                          <a:ea typeface="+mn-ea"/>
                          <a:cs typeface="+mn-cs"/>
                        </a:rPr>
                        <a:t>①Ⅱ)</a:t>
                      </a:r>
                      <a:endParaRPr lang="en-US" altLang="ko-KR" sz="1400" kern="0" spc="-50" dirty="0">
                        <a:solidFill>
                          <a:srgbClr val="000000"/>
                        </a:solidFill>
                        <a:effectLst/>
                        <a:latin typeface="+mn-ea"/>
                        <a:ea typeface="+mn-ea"/>
                      </a:endParaRPr>
                    </a:p>
                    <a:p>
                      <a:pPr marL="17780" marR="17780" indent="0" algn="l" fontAlgn="base" latinLnBrk="0">
                        <a:lnSpc>
                          <a:spcPct val="100000"/>
                        </a:lnSpc>
                        <a:spcBef>
                          <a:spcPts val="0"/>
                        </a:spcBef>
                        <a:spcAft>
                          <a:spcPts val="0"/>
                        </a:spcAft>
                      </a:pPr>
                      <a:r>
                        <a:rPr lang="en-US" altLang="ko-KR" sz="1400" kern="0" spc="-50" dirty="0">
                          <a:solidFill>
                            <a:srgbClr val="000000"/>
                          </a:solidFill>
                          <a:effectLst/>
                          <a:latin typeface="+mn-ea"/>
                          <a:ea typeface="+mn-ea"/>
                        </a:rPr>
                        <a:t>- </a:t>
                      </a:r>
                      <a:r>
                        <a:rPr lang="ko-KR" altLang="en-US" sz="1400" kern="0" spc="-50" dirty="0" err="1">
                          <a:solidFill>
                            <a:srgbClr val="000000"/>
                          </a:solidFill>
                          <a:effectLst/>
                          <a:latin typeface="+mn-ea"/>
                          <a:ea typeface="+mn-ea"/>
                        </a:rPr>
                        <a:t>거절결정확정된</a:t>
                      </a:r>
                      <a:r>
                        <a:rPr lang="ko-KR" altLang="en-US" sz="1400" kern="0" spc="-50" dirty="0">
                          <a:solidFill>
                            <a:srgbClr val="000000"/>
                          </a:solidFill>
                          <a:effectLst/>
                          <a:latin typeface="+mn-ea"/>
                          <a:ea typeface="+mn-ea"/>
                        </a:rPr>
                        <a:t> 날로부터 </a:t>
                      </a:r>
                      <a:r>
                        <a:rPr lang="en-US" altLang="ko-KR" sz="1400" kern="0" spc="-50" dirty="0">
                          <a:solidFill>
                            <a:srgbClr val="000000"/>
                          </a:solidFill>
                          <a:effectLst/>
                          <a:latin typeface="+mn-ea"/>
                          <a:ea typeface="+mn-ea"/>
                        </a:rPr>
                        <a:t>30</a:t>
                      </a:r>
                      <a:r>
                        <a:rPr lang="ko-KR" altLang="en-US" sz="1400" kern="0" spc="-50" dirty="0">
                          <a:solidFill>
                            <a:srgbClr val="000000"/>
                          </a:solidFill>
                          <a:effectLst/>
                          <a:latin typeface="+mn-ea"/>
                          <a:ea typeface="+mn-ea"/>
                        </a:rPr>
                        <a:t>일까지</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l" fontAlgn="base" latinLnBrk="0">
                        <a:lnSpc>
                          <a:spcPct val="100000"/>
                        </a:lnSpc>
                        <a:spcBef>
                          <a:spcPts val="0"/>
                        </a:spcBef>
                        <a:spcAft>
                          <a:spcPts val="0"/>
                        </a:spcAft>
                        <a:buFontTx/>
                        <a:buNone/>
                      </a:pPr>
                      <a:r>
                        <a:rPr lang="en-US" altLang="ko-KR" sz="1400" kern="0" spc="-50" dirty="0">
                          <a:solidFill>
                            <a:srgbClr val="000000"/>
                          </a:solidFill>
                          <a:effectLst/>
                          <a:latin typeface="+mn-ea"/>
                          <a:ea typeface="+mn-ea"/>
                        </a:rPr>
                        <a:t>- </a:t>
                      </a:r>
                      <a:r>
                        <a:rPr lang="ko-KR" altLang="en-US" sz="1400" kern="0" spc="-50" dirty="0">
                          <a:solidFill>
                            <a:srgbClr val="000000"/>
                          </a:solidFill>
                          <a:effectLst/>
                          <a:latin typeface="+mn-ea"/>
                          <a:ea typeface="+mn-ea"/>
                        </a:rPr>
                        <a:t>거절이유</a:t>
                      </a: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法 </a:t>
                      </a:r>
                      <a:r>
                        <a:rPr lang="en-US" altLang="ko-KR" sz="1400" kern="0" spc="-50" dirty="0">
                          <a:solidFill>
                            <a:srgbClr val="000000"/>
                          </a:solidFill>
                          <a:effectLst/>
                          <a:latin typeface="+mn-ea"/>
                          <a:ea typeface="+mn-ea"/>
                        </a:rPr>
                        <a:t>62Ⅰ)</a:t>
                      </a:r>
                      <a:endParaRPr lang="ko-KR" altLang="en-US" sz="14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lvl="0" indent="0" algn="l" defTabSz="914400" rtl="0" eaLnBrk="1" fontAlgn="base" latinLnBrk="0" hangingPunct="1">
                        <a:lnSpc>
                          <a:spcPct val="100000"/>
                        </a:lnSpc>
                        <a:spcBef>
                          <a:spcPts val="0"/>
                        </a:spcBef>
                        <a:spcAft>
                          <a:spcPts val="0"/>
                        </a:spcAft>
                        <a:buClrTx/>
                        <a:buSzTx/>
                        <a:buFontTx/>
                        <a:buNone/>
                        <a:tabLst/>
                        <a:defRPr/>
                      </a:pPr>
                      <a:r>
                        <a:rPr lang="en-US" altLang="ko-KR" sz="1400" kern="0" spc="-50" dirty="0">
                          <a:solidFill>
                            <a:srgbClr val="000000"/>
                          </a:solidFill>
                          <a:effectLst/>
                          <a:latin typeface="+mn-ea"/>
                          <a:ea typeface="+mn-ea"/>
                        </a:rPr>
                        <a:t>- </a:t>
                      </a:r>
                      <a:r>
                        <a:rPr lang="ko-KR" altLang="en-US" sz="1400" kern="0" spc="-50" dirty="0" err="1">
                          <a:solidFill>
                            <a:srgbClr val="000000"/>
                          </a:solidFill>
                          <a:effectLst/>
                          <a:latin typeface="+mn-ea"/>
                          <a:ea typeface="+mn-ea"/>
                        </a:rPr>
                        <a:t>출원계속중</a:t>
                      </a:r>
                      <a:endParaRPr lang="en-US" altLang="ko-KR" sz="1400" kern="0" spc="-50" dirty="0">
                        <a:solidFill>
                          <a:srgbClr val="000000"/>
                        </a:solidFill>
                        <a:effectLst/>
                        <a:latin typeface="+mn-ea"/>
                        <a:ea typeface="+mn-ea"/>
                      </a:endParaRPr>
                    </a:p>
                    <a:p>
                      <a:pPr marL="17780" marR="17780" lvl="0" indent="0" algn="l" defTabSz="914400" rtl="0" eaLnBrk="1" fontAlgn="base" latinLnBrk="0" hangingPunct="1">
                        <a:lnSpc>
                          <a:spcPct val="100000"/>
                        </a:lnSpc>
                        <a:spcBef>
                          <a:spcPts val="0"/>
                        </a:spcBef>
                        <a:spcAft>
                          <a:spcPts val="0"/>
                        </a:spcAft>
                        <a:buClrTx/>
                        <a:buSzTx/>
                        <a:buFontTx/>
                        <a:buNone/>
                        <a:tabLst/>
                        <a:defRPr/>
                      </a:pPr>
                      <a:r>
                        <a:rPr lang="en-US" altLang="ko-KR" sz="1400" kern="0" spc="-50" dirty="0">
                          <a:solidFill>
                            <a:srgbClr val="000000"/>
                          </a:solidFill>
                          <a:effectLst/>
                          <a:latin typeface="+mn-ea"/>
                          <a:ea typeface="+mn-ea"/>
                        </a:rPr>
                        <a:t>- </a:t>
                      </a:r>
                      <a:r>
                        <a:rPr lang="ko-KR" altLang="en-US" sz="1400" kern="0" spc="-50" dirty="0">
                          <a:solidFill>
                            <a:srgbClr val="000000"/>
                          </a:solidFill>
                          <a:effectLst/>
                          <a:latin typeface="+mn-ea"/>
                          <a:ea typeface="+mn-ea"/>
                        </a:rPr>
                        <a:t>거절이유에서 제외</a:t>
                      </a: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해석상</a:t>
                      </a:r>
                      <a:r>
                        <a:rPr lang="en-US" altLang="ko-KR" sz="1400" kern="0" spc="-50" dirty="0">
                          <a:solidFill>
                            <a:srgbClr val="000000"/>
                          </a:solidFill>
                          <a:effectLst/>
                          <a:latin typeface="+mn-ea"/>
                          <a:ea typeface="+mn-ea"/>
                        </a:rPr>
                        <a:t>)</a:t>
                      </a:r>
                      <a:endParaRPr lang="ko-KR" altLang="en-US" sz="14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596132097"/>
                  </a:ext>
                </a:extLst>
              </a:tr>
              <a:tr h="407253">
                <a:tc rowSpan="2">
                  <a:txBody>
                    <a:bodyPr/>
                    <a:lstStyle/>
                    <a:p>
                      <a:pPr marL="17780" marR="17780" indent="0" algn="ctr" fontAlgn="base" latinLnBrk="0">
                        <a:lnSpc>
                          <a:spcPct val="100000"/>
                        </a:lnSpc>
                        <a:spcBef>
                          <a:spcPts val="0"/>
                        </a:spcBef>
                        <a:spcAft>
                          <a:spcPts val="0"/>
                        </a:spcAft>
                      </a:pPr>
                      <a:r>
                        <a:rPr lang="ko-KR" altLang="en-US" sz="1400" kern="0" spc="-50" dirty="0">
                          <a:solidFill>
                            <a:srgbClr val="000000"/>
                          </a:solidFill>
                          <a:effectLst/>
                          <a:latin typeface="+mn-ea"/>
                          <a:ea typeface="+mn-ea"/>
                        </a:rPr>
                        <a:t>특허</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400" kern="0" spc="-50" dirty="0">
                          <a:solidFill>
                            <a:srgbClr val="000000"/>
                          </a:solidFill>
                          <a:effectLst/>
                          <a:latin typeface="+mn-ea"/>
                          <a:ea typeface="+mn-ea"/>
                        </a:rPr>
                        <a:t>○</a:t>
                      </a: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法 </a:t>
                      </a:r>
                      <a:r>
                        <a:rPr lang="en-US" altLang="ko-KR" sz="1400" kern="0" spc="-50" dirty="0">
                          <a:solidFill>
                            <a:srgbClr val="000000"/>
                          </a:solidFill>
                          <a:effectLst/>
                          <a:latin typeface="+mn-ea"/>
                          <a:ea typeface="+mn-ea"/>
                        </a:rPr>
                        <a:t>35)</a:t>
                      </a:r>
                      <a:endParaRPr lang="ko-KR" altLang="en-US" sz="14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en-US" altLang="ko-KR" sz="1400" kern="0" spc="-50" dirty="0">
                          <a:solidFill>
                            <a:srgbClr val="000000"/>
                          </a:solidFill>
                          <a:effectLst/>
                          <a:latin typeface="+mn-ea"/>
                          <a:ea typeface="+mn-ea"/>
                        </a:rPr>
                        <a:t>×</a:t>
                      </a:r>
                      <a:endParaRPr lang="ko-KR" altLang="en-US" sz="14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400" kern="0" spc="-50" dirty="0">
                          <a:solidFill>
                            <a:srgbClr val="000000"/>
                          </a:solidFill>
                          <a:effectLst/>
                          <a:latin typeface="+mn-ea"/>
                          <a:ea typeface="+mn-ea"/>
                        </a:rPr>
                        <a:t>○</a:t>
                      </a: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法 </a:t>
                      </a:r>
                      <a:r>
                        <a:rPr lang="en-US" altLang="ko-KR" sz="1400" kern="0" spc="-50" dirty="0">
                          <a:solidFill>
                            <a:srgbClr val="000000"/>
                          </a:solidFill>
                          <a:effectLst/>
                          <a:latin typeface="+mn-ea"/>
                          <a:ea typeface="+mn-ea"/>
                        </a:rPr>
                        <a:t>99</a:t>
                      </a:r>
                      <a:r>
                        <a:rPr lang="ko-KR" altLang="en-US" sz="1400" kern="0" spc="-50" dirty="0">
                          <a:solidFill>
                            <a:srgbClr val="000000"/>
                          </a:solidFill>
                          <a:effectLst/>
                          <a:latin typeface="+mn-ea"/>
                          <a:ea typeface="+mn-ea"/>
                        </a:rPr>
                        <a:t>의</a:t>
                      </a:r>
                      <a:r>
                        <a:rPr lang="en-US" altLang="ko-KR" sz="1400" kern="0" spc="-50" dirty="0">
                          <a:solidFill>
                            <a:srgbClr val="000000"/>
                          </a:solidFill>
                          <a:effectLst/>
                          <a:latin typeface="+mn-ea"/>
                          <a:ea typeface="+mn-ea"/>
                        </a:rPr>
                        <a:t>2)</a:t>
                      </a:r>
                      <a:endParaRPr lang="ko-KR" altLang="en-US" sz="14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935683434"/>
                  </a:ext>
                </a:extLst>
              </a:tr>
              <a:tr h="1607377">
                <a:tc vMerge="1">
                  <a:txBody>
                    <a:bodyPr/>
                    <a:lstStyle/>
                    <a:p>
                      <a:pPr latinLnBrk="1"/>
                      <a:endParaRPr lang="ko-KR" altLang="en-US"/>
                    </a:p>
                  </a:txBody>
                  <a:tcPr/>
                </a:tc>
                <a:tc>
                  <a:txBody>
                    <a:bodyPr/>
                    <a:lstStyle/>
                    <a:p>
                      <a:pPr marL="17780" marR="17780" lvl="0" indent="0" algn="l" defTabSz="914400" rtl="0" eaLnBrk="1" fontAlgn="base" latinLnBrk="0" hangingPunct="1">
                        <a:lnSpc>
                          <a:spcPct val="100000"/>
                        </a:lnSpc>
                        <a:spcBef>
                          <a:spcPts val="0"/>
                        </a:spcBef>
                        <a:spcAft>
                          <a:spcPts val="0"/>
                        </a:spcAft>
                        <a:buClrTx/>
                        <a:buSzTx/>
                        <a:buFontTx/>
                        <a:buNone/>
                        <a:tabLst/>
                        <a:defRPr/>
                      </a:pPr>
                      <a:r>
                        <a:rPr lang="en-US" altLang="ko-KR" sz="1400" kern="0" spc="-50" dirty="0">
                          <a:solidFill>
                            <a:srgbClr val="000000"/>
                          </a:solidFill>
                          <a:effectLst/>
                          <a:latin typeface="+mn-ea"/>
                          <a:ea typeface="+mn-ea"/>
                        </a:rPr>
                        <a:t>- </a:t>
                      </a:r>
                      <a:r>
                        <a:rPr lang="ko-KR" altLang="en-US" sz="1400" kern="0" spc="-80" dirty="0">
                          <a:solidFill>
                            <a:srgbClr val="000000"/>
                          </a:solidFill>
                          <a:effectLst/>
                          <a:latin typeface="+mn-ea"/>
                          <a:ea typeface="+mn-ea"/>
                        </a:rPr>
                        <a:t>무효사유</a:t>
                      </a:r>
                      <a:r>
                        <a:rPr lang="en-US" altLang="ko-KR" sz="1400" kern="0" spc="-80" dirty="0">
                          <a:solidFill>
                            <a:srgbClr val="000000"/>
                          </a:solidFill>
                          <a:effectLst/>
                          <a:latin typeface="+mn-ea"/>
                          <a:ea typeface="+mn-ea"/>
                        </a:rPr>
                        <a:t>(</a:t>
                      </a:r>
                      <a:r>
                        <a:rPr lang="ko-KR" altLang="en-US" sz="1400" kern="0" spc="-50" dirty="0">
                          <a:solidFill>
                            <a:srgbClr val="000000"/>
                          </a:solidFill>
                          <a:effectLst/>
                          <a:latin typeface="+mn-ea"/>
                          <a:ea typeface="+mn-ea"/>
                        </a:rPr>
                        <a:t>法 </a:t>
                      </a:r>
                      <a:r>
                        <a:rPr lang="en-US" altLang="ko-KR" sz="1400" kern="1200" dirty="0">
                          <a:solidFill>
                            <a:schemeClr val="tx1"/>
                          </a:solidFill>
                          <a:effectLst/>
                          <a:latin typeface="+mn-lt"/>
                          <a:ea typeface="+mn-ea"/>
                          <a:cs typeface="+mn-cs"/>
                        </a:rPr>
                        <a:t>133①Ⅱ</a:t>
                      </a:r>
                      <a:r>
                        <a:rPr lang="ko-KR" altLang="en-US" sz="1400" kern="1200" dirty="0">
                          <a:solidFill>
                            <a:schemeClr val="tx1"/>
                          </a:solidFill>
                          <a:effectLst/>
                          <a:latin typeface="+mn-lt"/>
                          <a:ea typeface="+mn-ea"/>
                          <a:cs typeface="+mn-cs"/>
                        </a:rPr>
                        <a:t>본문</a:t>
                      </a:r>
                      <a:r>
                        <a:rPr lang="en-US" altLang="ko-KR" sz="1400" kern="1200" dirty="0">
                          <a:solidFill>
                            <a:schemeClr val="tx1"/>
                          </a:solidFill>
                          <a:effectLst/>
                          <a:latin typeface="+mn-lt"/>
                          <a:ea typeface="+mn-ea"/>
                          <a:cs typeface="+mn-cs"/>
                        </a:rPr>
                        <a:t>)</a:t>
                      </a:r>
                    </a:p>
                    <a:p>
                      <a:pPr marL="17780" marR="17780" indent="0" algn="l" fontAlgn="base" latinLnBrk="0">
                        <a:lnSpc>
                          <a:spcPct val="100000"/>
                        </a:lnSpc>
                        <a:spcBef>
                          <a:spcPts val="0"/>
                        </a:spcBef>
                        <a:spcAft>
                          <a:spcPts val="0"/>
                        </a:spcAft>
                      </a:pPr>
                      <a:r>
                        <a:rPr lang="en-US" altLang="ko-KR" sz="1400" kern="0" spc="-50" dirty="0">
                          <a:solidFill>
                            <a:srgbClr val="000000"/>
                          </a:solidFill>
                          <a:effectLst/>
                          <a:latin typeface="+mn-ea"/>
                          <a:ea typeface="+mn-ea"/>
                        </a:rPr>
                        <a:t>- </a:t>
                      </a:r>
                      <a:r>
                        <a:rPr lang="ko-KR" altLang="en-US" sz="1400" kern="0" spc="-50" dirty="0" err="1">
                          <a:solidFill>
                            <a:srgbClr val="000000"/>
                          </a:solidFill>
                          <a:effectLst/>
                          <a:latin typeface="+mn-ea"/>
                          <a:ea typeface="+mn-ea"/>
                        </a:rPr>
                        <a:t>무효심결확정된</a:t>
                      </a:r>
                      <a:r>
                        <a:rPr lang="ko-KR" altLang="en-US" sz="1400" kern="0" spc="-50" dirty="0">
                          <a:solidFill>
                            <a:srgbClr val="000000"/>
                          </a:solidFill>
                          <a:effectLst/>
                          <a:latin typeface="+mn-ea"/>
                          <a:ea typeface="+mn-ea"/>
                        </a:rPr>
                        <a:t> 날로부터 </a:t>
                      </a:r>
                      <a:r>
                        <a:rPr lang="en-US" altLang="ko-KR" sz="1400" kern="0" spc="-50" dirty="0">
                          <a:solidFill>
                            <a:srgbClr val="000000"/>
                          </a:solidFill>
                          <a:effectLst/>
                          <a:latin typeface="+mn-ea"/>
                          <a:ea typeface="+mn-ea"/>
                        </a:rPr>
                        <a:t>30</a:t>
                      </a:r>
                      <a:r>
                        <a:rPr lang="ko-KR" altLang="en-US" sz="1400" kern="0" spc="-50" dirty="0">
                          <a:solidFill>
                            <a:srgbClr val="000000"/>
                          </a:solidFill>
                          <a:effectLst/>
                          <a:latin typeface="+mn-ea"/>
                          <a:ea typeface="+mn-ea"/>
                        </a:rPr>
                        <a:t>일까지</a:t>
                      </a:r>
                      <a:endParaRPr lang="en-US" altLang="ko-KR" sz="1400" kern="0" spc="-50" dirty="0">
                        <a:solidFill>
                          <a:srgbClr val="000000"/>
                        </a:solidFill>
                        <a:effectLst/>
                        <a:latin typeface="+mn-ea"/>
                        <a:ea typeface="+mn-ea"/>
                      </a:endParaRPr>
                    </a:p>
                    <a:p>
                      <a:pPr marL="182563" marR="17780" lvl="0" indent="-165100" algn="l" defTabSz="914400" rtl="0" eaLnBrk="1" fontAlgn="base" latinLnBrk="0" hangingPunct="1">
                        <a:lnSpc>
                          <a:spcPct val="100000"/>
                        </a:lnSpc>
                        <a:spcBef>
                          <a:spcPts val="0"/>
                        </a:spcBef>
                        <a:spcAft>
                          <a:spcPts val="0"/>
                        </a:spcAft>
                        <a:buClrTx/>
                        <a:buSzTx/>
                        <a:buFontTx/>
                        <a:buNone/>
                        <a:tabLst/>
                        <a:defRPr/>
                      </a:pPr>
                      <a:r>
                        <a:rPr lang="en-US" altLang="ko-KR" sz="1400" kern="0" spc="-50" dirty="0">
                          <a:solidFill>
                            <a:srgbClr val="000000"/>
                          </a:solidFill>
                          <a:effectLst/>
                          <a:latin typeface="+mn-ea"/>
                          <a:ea typeface="+mn-ea"/>
                        </a:rPr>
                        <a:t>- </a:t>
                      </a:r>
                      <a:r>
                        <a:rPr lang="ko-KR" altLang="en-US" sz="1400" kern="0" spc="-50" dirty="0">
                          <a:solidFill>
                            <a:srgbClr val="000000"/>
                          </a:solidFill>
                          <a:effectLst/>
                          <a:latin typeface="+mn-ea"/>
                          <a:ea typeface="+mn-ea"/>
                        </a:rPr>
                        <a:t>선의의 무권리자에게 </a:t>
                      </a:r>
                      <a:r>
                        <a:rPr lang="ko-KR" altLang="en-US" sz="1400" kern="0" spc="-50" dirty="0" err="1">
                          <a:solidFill>
                            <a:srgbClr val="000000"/>
                          </a:solidFill>
                          <a:effectLst/>
                          <a:latin typeface="+mn-ea"/>
                          <a:ea typeface="+mn-ea"/>
                        </a:rPr>
                        <a:t>중용권</a:t>
                      </a: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法 </a:t>
                      </a:r>
                      <a:r>
                        <a:rPr lang="en-US" altLang="ko-KR" sz="1400" kern="0" spc="-50" dirty="0">
                          <a:solidFill>
                            <a:srgbClr val="000000"/>
                          </a:solidFill>
                          <a:effectLst/>
                          <a:latin typeface="+mn-ea"/>
                          <a:ea typeface="+mn-ea"/>
                        </a:rPr>
                        <a:t>104) </a:t>
                      </a:r>
                      <a:r>
                        <a:rPr lang="ko-KR" altLang="en-US" sz="1400" kern="0" spc="-50" dirty="0">
                          <a:solidFill>
                            <a:srgbClr val="000000"/>
                          </a:solidFill>
                          <a:effectLst/>
                          <a:latin typeface="+mn-ea"/>
                          <a:ea typeface="+mn-ea"/>
                        </a:rPr>
                        <a:t>인정가능</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lvl="0" indent="0" algn="l" defTabSz="914400" rtl="0" eaLnBrk="1" fontAlgn="base" latinLnBrk="0" hangingPunct="1">
                        <a:lnSpc>
                          <a:spcPct val="100000"/>
                        </a:lnSpc>
                        <a:spcBef>
                          <a:spcPts val="0"/>
                        </a:spcBef>
                        <a:spcAft>
                          <a:spcPts val="0"/>
                        </a:spcAft>
                        <a:buClrTx/>
                        <a:buSzTx/>
                        <a:buFontTx/>
                        <a:buNone/>
                        <a:tabLst/>
                        <a:defRPr/>
                      </a:pPr>
                      <a:r>
                        <a:rPr lang="en-US" altLang="ko-KR" sz="1400" kern="0" spc="-50" dirty="0">
                          <a:solidFill>
                            <a:srgbClr val="000000"/>
                          </a:solidFill>
                          <a:effectLst/>
                          <a:latin typeface="+mn-ea"/>
                          <a:ea typeface="+mn-ea"/>
                        </a:rPr>
                        <a:t>- </a:t>
                      </a:r>
                      <a:r>
                        <a:rPr lang="ko-KR" altLang="en-US" sz="1400" kern="0" spc="-80" dirty="0">
                          <a:solidFill>
                            <a:srgbClr val="000000"/>
                          </a:solidFill>
                          <a:effectLst/>
                          <a:latin typeface="+mn-ea"/>
                          <a:ea typeface="+mn-ea"/>
                        </a:rPr>
                        <a:t>무효사유</a:t>
                      </a:r>
                      <a:r>
                        <a:rPr lang="en-US" altLang="ko-KR" sz="1400" kern="0" spc="-80" dirty="0">
                          <a:solidFill>
                            <a:srgbClr val="000000"/>
                          </a:solidFill>
                          <a:effectLst/>
                          <a:latin typeface="+mn-ea"/>
                          <a:ea typeface="+mn-ea"/>
                        </a:rPr>
                        <a:t>(</a:t>
                      </a:r>
                      <a:r>
                        <a:rPr lang="ko-KR" altLang="en-US" sz="1400" kern="0" spc="-50" dirty="0">
                          <a:solidFill>
                            <a:srgbClr val="000000"/>
                          </a:solidFill>
                          <a:effectLst/>
                          <a:latin typeface="+mn-ea"/>
                          <a:ea typeface="+mn-ea"/>
                        </a:rPr>
                        <a:t>法 </a:t>
                      </a:r>
                      <a:r>
                        <a:rPr lang="en-US" altLang="ko-KR" sz="1400" kern="1200" dirty="0">
                          <a:solidFill>
                            <a:schemeClr val="tx1"/>
                          </a:solidFill>
                          <a:effectLst/>
                          <a:latin typeface="+mn-lt"/>
                          <a:ea typeface="+mn-ea"/>
                          <a:cs typeface="+mn-cs"/>
                        </a:rPr>
                        <a:t>133①Ⅱ</a:t>
                      </a:r>
                      <a:r>
                        <a:rPr lang="ko-KR" altLang="en-US" sz="1400" kern="1200" dirty="0">
                          <a:solidFill>
                            <a:schemeClr val="tx1"/>
                          </a:solidFill>
                          <a:effectLst/>
                          <a:latin typeface="+mn-lt"/>
                          <a:ea typeface="+mn-ea"/>
                          <a:cs typeface="+mn-cs"/>
                        </a:rPr>
                        <a:t>본문</a:t>
                      </a:r>
                      <a:r>
                        <a:rPr lang="en-US" altLang="ko-KR" sz="1400" kern="1200" dirty="0">
                          <a:solidFill>
                            <a:schemeClr val="tx1"/>
                          </a:solidFill>
                          <a:effectLst/>
                          <a:latin typeface="+mn-lt"/>
                          <a:ea typeface="+mn-ea"/>
                          <a:cs typeface="+mn-cs"/>
                        </a:rPr>
                        <a:t>)</a:t>
                      </a:r>
                      <a:endParaRPr lang="en-US" altLang="ko-KR" sz="1400" kern="0" spc="-50" dirty="0">
                        <a:solidFill>
                          <a:srgbClr val="000000"/>
                        </a:solidFill>
                        <a:effectLst/>
                        <a:latin typeface="+mn-ea"/>
                        <a:ea typeface="+mn-ea"/>
                      </a:endParaRPr>
                    </a:p>
                    <a:p>
                      <a:pPr marL="17780" marR="17780" lvl="0" indent="0" algn="l" defTabSz="914400" rtl="0" eaLnBrk="1" fontAlgn="base" latinLnBrk="0" hangingPunct="1">
                        <a:lnSpc>
                          <a:spcPct val="100000"/>
                        </a:lnSpc>
                        <a:spcBef>
                          <a:spcPts val="0"/>
                        </a:spcBef>
                        <a:spcAft>
                          <a:spcPts val="0"/>
                        </a:spcAft>
                        <a:buClrTx/>
                        <a:buSzTx/>
                        <a:buFontTx/>
                        <a:buNone/>
                        <a:tabLst/>
                        <a:defRPr/>
                      </a:pPr>
                      <a:r>
                        <a:rPr lang="en-US" altLang="ko-KR" sz="1400" kern="0" spc="-50" dirty="0">
                          <a:solidFill>
                            <a:srgbClr val="000000"/>
                          </a:solidFill>
                          <a:effectLst/>
                          <a:latin typeface="+mn-ea"/>
                          <a:ea typeface="+mn-ea"/>
                        </a:rPr>
                        <a:t>- </a:t>
                      </a:r>
                      <a:r>
                        <a:rPr lang="ko-KR" altLang="en-US" sz="1400" kern="0" spc="-50" dirty="0">
                          <a:solidFill>
                            <a:srgbClr val="000000"/>
                          </a:solidFill>
                          <a:effectLst/>
                          <a:latin typeface="+mn-ea"/>
                          <a:ea typeface="+mn-ea"/>
                        </a:rPr>
                        <a:t>지분에 대한 무효심판청구불가</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l" fontAlgn="base" latinLnBrk="0">
                        <a:lnSpc>
                          <a:spcPct val="100000"/>
                        </a:lnSpc>
                        <a:spcBef>
                          <a:spcPts val="0"/>
                        </a:spcBef>
                        <a:spcAft>
                          <a:spcPts val="0"/>
                        </a:spcAft>
                      </a:pPr>
                      <a:r>
                        <a:rPr lang="en-US" altLang="ko-KR" sz="1400" kern="0" spc="-50" dirty="0">
                          <a:solidFill>
                            <a:srgbClr val="000000"/>
                          </a:solidFill>
                          <a:effectLst/>
                          <a:latin typeface="+mn-ea"/>
                          <a:ea typeface="+mn-ea"/>
                        </a:rPr>
                        <a:t>- </a:t>
                      </a:r>
                      <a:r>
                        <a:rPr lang="ko-KR" altLang="en-US" sz="1400" kern="0" spc="-50" dirty="0" err="1">
                          <a:solidFill>
                            <a:srgbClr val="000000"/>
                          </a:solidFill>
                          <a:effectLst/>
                          <a:latin typeface="+mn-ea"/>
                          <a:ea typeface="+mn-ea"/>
                        </a:rPr>
                        <a:t>무효심결확정전</a:t>
                      </a:r>
                      <a:endParaRPr lang="en-US" altLang="ko-KR" sz="1400" kern="0" spc="-50" dirty="0">
                        <a:solidFill>
                          <a:srgbClr val="000000"/>
                        </a:solidFill>
                        <a:effectLst/>
                        <a:latin typeface="+mn-ea"/>
                        <a:ea typeface="+mn-ea"/>
                      </a:endParaRPr>
                    </a:p>
                    <a:p>
                      <a:pPr fontAlgn="base" latinLnBrk="1">
                        <a:lnSpc>
                          <a:spcPct val="100000"/>
                        </a:lnSpc>
                      </a:pPr>
                      <a:r>
                        <a:rPr lang="en-US" altLang="ko-KR" sz="1400" kern="0" spc="-80" dirty="0">
                          <a:solidFill>
                            <a:srgbClr val="000000"/>
                          </a:solidFill>
                          <a:effectLst/>
                          <a:latin typeface="+mn-ea"/>
                          <a:ea typeface="+mn-ea"/>
                        </a:rPr>
                        <a:t>- </a:t>
                      </a:r>
                      <a:r>
                        <a:rPr lang="ko-KR" altLang="en-US" sz="1400" kern="0" spc="-80" dirty="0">
                          <a:solidFill>
                            <a:srgbClr val="000000"/>
                          </a:solidFill>
                          <a:effectLst/>
                          <a:latin typeface="+mn-ea"/>
                          <a:ea typeface="+mn-ea"/>
                        </a:rPr>
                        <a:t>무효사유에서 제외</a:t>
                      </a:r>
                      <a:r>
                        <a:rPr lang="en-US" altLang="ko-KR" sz="1400" kern="0" spc="-80" dirty="0">
                          <a:solidFill>
                            <a:srgbClr val="000000"/>
                          </a:solidFill>
                          <a:effectLst/>
                          <a:latin typeface="+mn-ea"/>
                          <a:ea typeface="+mn-ea"/>
                        </a:rPr>
                        <a:t>(</a:t>
                      </a:r>
                      <a:r>
                        <a:rPr lang="ko-KR" altLang="en-US" sz="1400" kern="0" spc="-50" dirty="0">
                          <a:solidFill>
                            <a:srgbClr val="000000"/>
                          </a:solidFill>
                          <a:effectLst/>
                          <a:latin typeface="+mn-ea"/>
                          <a:ea typeface="+mn-ea"/>
                        </a:rPr>
                        <a:t>法 </a:t>
                      </a:r>
                      <a:r>
                        <a:rPr lang="en-US" altLang="ko-KR" sz="1400" kern="1200" dirty="0">
                          <a:solidFill>
                            <a:schemeClr val="tx1"/>
                          </a:solidFill>
                          <a:effectLst/>
                          <a:latin typeface="+mn-lt"/>
                          <a:ea typeface="+mn-ea"/>
                          <a:cs typeface="+mn-cs"/>
                        </a:rPr>
                        <a:t>133①Ⅱ</a:t>
                      </a:r>
                      <a:r>
                        <a:rPr lang="ko-KR" altLang="en-US" sz="1400" kern="1200" dirty="0">
                          <a:solidFill>
                            <a:schemeClr val="tx1"/>
                          </a:solidFill>
                          <a:effectLst/>
                          <a:latin typeface="+mn-lt"/>
                          <a:ea typeface="+mn-ea"/>
                          <a:cs typeface="+mn-cs"/>
                        </a:rPr>
                        <a:t>단서</a:t>
                      </a:r>
                      <a:r>
                        <a:rPr lang="en-US" altLang="ko-KR" sz="1400" kern="1200" dirty="0">
                          <a:solidFill>
                            <a:schemeClr val="tx1"/>
                          </a:solidFill>
                          <a:effectLst/>
                          <a:latin typeface="+mn-lt"/>
                          <a:ea typeface="+mn-ea"/>
                          <a:cs typeface="+mn-cs"/>
                        </a:rPr>
                        <a:t>)</a:t>
                      </a:r>
                    </a:p>
                    <a:p>
                      <a:pPr marL="182563" marR="17780" lvl="0" indent="-165100" algn="l" defTabSz="914400" rtl="0" eaLnBrk="1" fontAlgn="base" latinLnBrk="0" hangingPunct="1">
                        <a:lnSpc>
                          <a:spcPct val="100000"/>
                        </a:lnSpc>
                        <a:spcBef>
                          <a:spcPts val="0"/>
                        </a:spcBef>
                        <a:spcAft>
                          <a:spcPts val="0"/>
                        </a:spcAft>
                        <a:buClrTx/>
                        <a:buSzTx/>
                        <a:buFontTx/>
                        <a:buNone/>
                        <a:tabLst/>
                        <a:defRPr/>
                      </a:pPr>
                      <a:r>
                        <a:rPr lang="en-US" altLang="ko-KR" sz="1400" kern="0" spc="-80" dirty="0">
                          <a:solidFill>
                            <a:srgbClr val="000000"/>
                          </a:solidFill>
                          <a:effectLst/>
                          <a:latin typeface="+mn-ea"/>
                          <a:ea typeface="+mn-ea"/>
                        </a:rPr>
                        <a:t>- </a:t>
                      </a:r>
                      <a:r>
                        <a:rPr lang="ko-KR" altLang="en-US" sz="1400" kern="0" spc="-80" dirty="0">
                          <a:solidFill>
                            <a:srgbClr val="000000"/>
                          </a:solidFill>
                          <a:effectLst/>
                          <a:latin typeface="+mn-ea"/>
                          <a:ea typeface="+mn-ea"/>
                        </a:rPr>
                        <a:t>선의의 무권리자에게 특허권의 이전청구에 따른 이전등록 전의 실시에 의한 통상실시권</a:t>
                      </a:r>
                      <a:r>
                        <a:rPr lang="en-US" altLang="ko-KR" sz="1400" kern="0" spc="-80" dirty="0">
                          <a:solidFill>
                            <a:srgbClr val="000000"/>
                          </a:solidFill>
                          <a:effectLst/>
                          <a:latin typeface="+mn-ea"/>
                          <a:ea typeface="+mn-ea"/>
                        </a:rPr>
                        <a:t>(</a:t>
                      </a:r>
                      <a:r>
                        <a:rPr lang="ko-KR" altLang="en-US" sz="1400" kern="0" spc="-80" dirty="0">
                          <a:solidFill>
                            <a:srgbClr val="000000"/>
                          </a:solidFill>
                          <a:effectLst/>
                          <a:latin typeface="+mn-ea"/>
                          <a:ea typeface="+mn-ea"/>
                        </a:rPr>
                        <a:t>法 </a:t>
                      </a:r>
                      <a:r>
                        <a:rPr lang="en-US" altLang="ko-KR" sz="1400" kern="0" spc="-80" dirty="0">
                          <a:solidFill>
                            <a:srgbClr val="000000"/>
                          </a:solidFill>
                          <a:effectLst/>
                          <a:latin typeface="+mn-ea"/>
                          <a:ea typeface="+mn-ea"/>
                        </a:rPr>
                        <a:t>103</a:t>
                      </a:r>
                      <a:r>
                        <a:rPr lang="ko-KR" altLang="en-US" sz="1400" kern="0" spc="-80" dirty="0">
                          <a:solidFill>
                            <a:srgbClr val="000000"/>
                          </a:solidFill>
                          <a:effectLst/>
                          <a:latin typeface="+mn-ea"/>
                          <a:ea typeface="+mn-ea"/>
                        </a:rPr>
                        <a:t>의</a:t>
                      </a:r>
                      <a:r>
                        <a:rPr lang="en-US" altLang="ko-KR" sz="1400" kern="0" spc="-80" dirty="0">
                          <a:solidFill>
                            <a:srgbClr val="000000"/>
                          </a:solidFill>
                          <a:effectLst/>
                          <a:latin typeface="+mn-ea"/>
                          <a:ea typeface="+mn-ea"/>
                        </a:rPr>
                        <a:t>2) </a:t>
                      </a:r>
                      <a:r>
                        <a:rPr lang="ko-KR" altLang="en-US" sz="1400" kern="0" spc="-80" dirty="0">
                          <a:solidFill>
                            <a:srgbClr val="000000"/>
                          </a:solidFill>
                          <a:effectLst/>
                          <a:latin typeface="+mn-ea"/>
                          <a:ea typeface="+mn-ea"/>
                        </a:rPr>
                        <a:t>인정가능</a:t>
                      </a:r>
                      <a:endParaRPr lang="en-US" altLang="ko-KR" sz="14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917325709"/>
                  </a:ext>
                </a:extLst>
              </a:tr>
            </a:tbl>
          </a:graphicData>
        </a:graphic>
      </p:graphicFrame>
      <p:sp>
        <p:nvSpPr>
          <p:cNvPr id="25" name="TextBox 24">
            <a:extLst>
              <a:ext uri="{FF2B5EF4-FFF2-40B4-BE49-F238E27FC236}">
                <a16:creationId xmlns:a16="http://schemas.microsoft.com/office/drawing/2014/main" id="{34F26289-E0B6-4F28-98BD-930950384567}"/>
              </a:ext>
            </a:extLst>
          </p:cNvPr>
          <p:cNvSpPr txBox="1"/>
          <p:nvPr/>
        </p:nvSpPr>
        <p:spPr>
          <a:xfrm>
            <a:off x="1538209" y="5798780"/>
            <a:ext cx="9430787" cy="584775"/>
          </a:xfrm>
          <a:prstGeom prst="rect">
            <a:avLst/>
          </a:prstGeom>
          <a:noFill/>
          <a:ln>
            <a:noFill/>
          </a:ln>
        </p:spPr>
        <p:txBody>
          <a:bodyPr wrap="none" rtlCol="0">
            <a:spAutoFit/>
          </a:bodyPr>
          <a:lstStyle/>
          <a:p>
            <a:r>
              <a:rPr lang="ko-KR" altLang="en-US" sz="3200" dirty="0">
                <a:solidFill>
                  <a:srgbClr val="FF0000"/>
                </a:solidFill>
              </a:rPr>
              <a:t>권리범위 재설계 기회의 확보 </a:t>
            </a:r>
            <a:r>
              <a:rPr lang="en-US" altLang="ko-KR" sz="3200" dirty="0">
                <a:solidFill>
                  <a:srgbClr val="FF0000"/>
                </a:solidFill>
              </a:rPr>
              <a:t>vs </a:t>
            </a:r>
            <a:r>
              <a:rPr lang="ko-KR" altLang="en-US" sz="3200" dirty="0">
                <a:solidFill>
                  <a:srgbClr val="FF0000"/>
                </a:solidFill>
              </a:rPr>
              <a:t>절차의 신속성</a:t>
            </a:r>
            <a:r>
              <a:rPr lang="en-US" altLang="ko-KR" sz="3200" dirty="0">
                <a:solidFill>
                  <a:srgbClr val="FF0000"/>
                </a:solidFill>
              </a:rPr>
              <a:t>, </a:t>
            </a:r>
            <a:r>
              <a:rPr lang="ko-KR" altLang="en-US" sz="3200" dirty="0">
                <a:solidFill>
                  <a:srgbClr val="FF0000"/>
                </a:solidFill>
              </a:rPr>
              <a:t>경제성</a:t>
            </a:r>
          </a:p>
        </p:txBody>
      </p:sp>
      <p:sp>
        <p:nvSpPr>
          <p:cNvPr id="7" name="TextBox 6">
            <a:extLst>
              <a:ext uri="{FF2B5EF4-FFF2-40B4-BE49-F238E27FC236}">
                <a16:creationId xmlns:a16="http://schemas.microsoft.com/office/drawing/2014/main" id="{1FE0BB7B-0254-4C4E-AC9F-93F058BC5DA2}"/>
              </a:ext>
            </a:extLst>
          </p:cNvPr>
          <p:cNvSpPr txBox="1"/>
          <p:nvPr/>
        </p:nvSpPr>
        <p:spPr>
          <a:xfrm>
            <a:off x="77875" y="986046"/>
            <a:ext cx="11936323" cy="738664"/>
          </a:xfrm>
          <a:prstGeom prst="rect">
            <a:avLst/>
          </a:prstGeom>
          <a:noFill/>
        </p:spPr>
        <p:txBody>
          <a:bodyPr wrap="square" rtlCol="0">
            <a:spAutoFit/>
          </a:bodyPr>
          <a:lstStyle/>
          <a:p>
            <a:pPr fontAlgn="base"/>
            <a:r>
              <a:rPr lang="ko-KR" altLang="en-US" sz="1400" dirty="0">
                <a:solidFill>
                  <a:schemeClr val="tx2"/>
                </a:solidFill>
              </a:rPr>
              <a:t>특허법은 </a:t>
            </a:r>
            <a:r>
              <a:rPr lang="en-US" altLang="ko-KR" sz="1400" dirty="0">
                <a:solidFill>
                  <a:schemeClr val="tx2"/>
                </a:solidFill>
                <a:highlight>
                  <a:srgbClr val="FFFF00"/>
                </a:highlight>
              </a:rPr>
              <a:t>ⅰ) </a:t>
            </a:r>
            <a:r>
              <a:rPr lang="ko-KR" altLang="en-US" sz="1400" dirty="0">
                <a:solidFill>
                  <a:schemeClr val="tx2"/>
                </a:solidFill>
                <a:highlight>
                  <a:srgbClr val="FFFF00"/>
                </a:highlight>
              </a:rPr>
              <a:t>무권리자의 출원이나 특허를 배척하는 한편</a:t>
            </a:r>
            <a:r>
              <a:rPr lang="en-US" altLang="ko-KR" sz="1400" dirty="0">
                <a:solidFill>
                  <a:schemeClr val="tx2"/>
                </a:solidFill>
                <a:highlight>
                  <a:srgbClr val="FFFF00"/>
                </a:highlight>
              </a:rPr>
              <a:t>(</a:t>
            </a:r>
            <a:r>
              <a:rPr lang="ko-KR" altLang="en-US" sz="1400" dirty="0">
                <a:solidFill>
                  <a:schemeClr val="tx2"/>
                </a:solidFill>
                <a:highlight>
                  <a:srgbClr val="FFFF00"/>
                </a:highlight>
              </a:rPr>
              <a:t>法 </a:t>
            </a:r>
            <a:r>
              <a:rPr lang="en-US" altLang="ko-KR" sz="1400" dirty="0">
                <a:solidFill>
                  <a:schemeClr val="tx2"/>
                </a:solidFill>
                <a:highlight>
                  <a:srgbClr val="FFFF00"/>
                </a:highlight>
              </a:rPr>
              <a:t>33①</a:t>
            </a:r>
            <a:r>
              <a:rPr lang="ko-KR" altLang="en-US" sz="1400" dirty="0">
                <a:solidFill>
                  <a:schemeClr val="tx2"/>
                </a:solidFill>
                <a:highlight>
                  <a:srgbClr val="FFFF00"/>
                </a:highlight>
              </a:rPr>
              <a:t>본문 위반</a:t>
            </a:r>
            <a:r>
              <a:rPr lang="en-US" altLang="ko-KR" sz="1400" dirty="0">
                <a:solidFill>
                  <a:schemeClr val="tx2"/>
                </a:solidFill>
                <a:highlight>
                  <a:srgbClr val="FFFF00"/>
                </a:highlight>
              </a:rPr>
              <a:t>) </a:t>
            </a:r>
            <a:r>
              <a:rPr lang="ko-KR" altLang="en-US" sz="1400" dirty="0">
                <a:solidFill>
                  <a:schemeClr val="tx2"/>
                </a:solidFill>
                <a:highlight>
                  <a:srgbClr val="FFFF00"/>
                </a:highlight>
              </a:rPr>
              <a:t>일정요건 하에 정당한 권리자의 출원을 무권리자의 출원일로 </a:t>
            </a:r>
            <a:r>
              <a:rPr lang="ko-KR" altLang="en-US" sz="1400" dirty="0" err="1">
                <a:solidFill>
                  <a:schemeClr val="tx2"/>
                </a:solidFill>
                <a:highlight>
                  <a:srgbClr val="FFFF00"/>
                </a:highlight>
              </a:rPr>
              <a:t>소급시키거나</a:t>
            </a:r>
            <a:r>
              <a:rPr lang="en-US" altLang="ko-KR" sz="1400" dirty="0">
                <a:solidFill>
                  <a:schemeClr val="tx2"/>
                </a:solidFill>
                <a:highlight>
                  <a:srgbClr val="FFFF00"/>
                </a:highlight>
              </a:rPr>
              <a:t>(</a:t>
            </a:r>
            <a:r>
              <a:rPr lang="ko-KR" altLang="en-US" sz="1400" dirty="0">
                <a:solidFill>
                  <a:schemeClr val="tx2"/>
                </a:solidFill>
                <a:highlight>
                  <a:srgbClr val="FFFF00"/>
                </a:highlight>
              </a:rPr>
              <a:t>法 </a:t>
            </a:r>
            <a:r>
              <a:rPr lang="en-US" altLang="ko-KR" sz="1400" dirty="0">
                <a:solidFill>
                  <a:schemeClr val="tx2"/>
                </a:solidFill>
                <a:highlight>
                  <a:srgbClr val="FFFF00"/>
                </a:highlight>
              </a:rPr>
              <a:t>34, 35), ⅱ) </a:t>
            </a:r>
            <a:r>
              <a:rPr lang="ko-KR" altLang="en-US" sz="1400" dirty="0">
                <a:solidFill>
                  <a:schemeClr val="tx2"/>
                </a:solidFill>
                <a:highlight>
                  <a:srgbClr val="FFFF00"/>
                </a:highlight>
              </a:rPr>
              <a:t>특허권의 이전청구</a:t>
            </a:r>
            <a:r>
              <a:rPr lang="en-US" altLang="ko-KR" sz="1400" dirty="0">
                <a:solidFill>
                  <a:schemeClr val="tx2"/>
                </a:solidFill>
                <a:highlight>
                  <a:srgbClr val="FFFF00"/>
                </a:highlight>
              </a:rPr>
              <a:t>(</a:t>
            </a:r>
            <a:r>
              <a:rPr lang="ko-KR" altLang="en-US" sz="1400" dirty="0">
                <a:solidFill>
                  <a:schemeClr val="tx2"/>
                </a:solidFill>
                <a:highlight>
                  <a:srgbClr val="FFFF00"/>
                </a:highlight>
              </a:rPr>
              <a:t>法 </a:t>
            </a:r>
            <a:r>
              <a:rPr lang="en-US" altLang="ko-KR" sz="1400" dirty="0">
                <a:solidFill>
                  <a:schemeClr val="tx2"/>
                </a:solidFill>
                <a:highlight>
                  <a:srgbClr val="FFFF00"/>
                </a:highlight>
              </a:rPr>
              <a:t>99</a:t>
            </a:r>
            <a:r>
              <a:rPr lang="ko-KR" altLang="en-US" sz="1400" dirty="0">
                <a:solidFill>
                  <a:schemeClr val="tx2"/>
                </a:solidFill>
                <a:highlight>
                  <a:srgbClr val="FFFF00"/>
                </a:highlight>
              </a:rPr>
              <a:t>의</a:t>
            </a:r>
            <a:r>
              <a:rPr lang="en-US" altLang="ko-KR" sz="1400" dirty="0">
                <a:solidFill>
                  <a:schemeClr val="tx2"/>
                </a:solidFill>
                <a:highlight>
                  <a:srgbClr val="FFFF00"/>
                </a:highlight>
              </a:rPr>
              <a:t>2)</a:t>
            </a:r>
            <a:r>
              <a:rPr lang="ko-KR" altLang="en-US" sz="1400" dirty="0">
                <a:solidFill>
                  <a:schemeClr val="tx2"/>
                </a:solidFill>
              </a:rPr>
              <a:t>를 통해</a:t>
            </a:r>
            <a:r>
              <a:rPr lang="en-US" altLang="ko-KR" sz="1400" dirty="0">
                <a:solidFill>
                  <a:schemeClr val="tx2"/>
                </a:solidFill>
              </a:rPr>
              <a:t> </a:t>
            </a:r>
            <a:r>
              <a:rPr lang="ko-KR" altLang="en-US" sz="1400" dirty="0">
                <a:solidFill>
                  <a:schemeClr val="tx2"/>
                </a:solidFill>
              </a:rPr>
              <a:t>정당한 권리자를 보호해 주고 있다</a:t>
            </a:r>
            <a:r>
              <a:rPr lang="en-US" altLang="ko-KR" sz="1400" dirty="0">
                <a:solidFill>
                  <a:schemeClr val="tx2"/>
                </a:solidFill>
              </a:rPr>
              <a:t>. </a:t>
            </a:r>
            <a:r>
              <a:rPr lang="ko-KR" altLang="en-US" sz="1400" dirty="0">
                <a:solidFill>
                  <a:schemeClr val="tx2"/>
                </a:solidFill>
              </a:rPr>
              <a:t>즉</a:t>
            </a:r>
            <a:r>
              <a:rPr lang="en-US" altLang="ko-KR" sz="1400" dirty="0">
                <a:solidFill>
                  <a:schemeClr val="tx2"/>
                </a:solidFill>
              </a:rPr>
              <a:t>, </a:t>
            </a:r>
            <a:r>
              <a:rPr lang="ko-KR" altLang="en-US" sz="1400" dirty="0">
                <a:solidFill>
                  <a:schemeClr val="tx2"/>
                </a:solidFill>
              </a:rPr>
              <a:t>정당한 권리자가 </a:t>
            </a:r>
            <a:r>
              <a:rPr lang="en-US" altLang="ko-KR" sz="1400" dirty="0">
                <a:solidFill>
                  <a:schemeClr val="tx2"/>
                </a:solidFill>
              </a:rPr>
              <a:t>ⅰ)</a:t>
            </a:r>
            <a:r>
              <a:rPr lang="ko-KR" altLang="en-US" sz="1400" dirty="0">
                <a:solidFill>
                  <a:schemeClr val="tx2"/>
                </a:solidFill>
              </a:rPr>
              <a:t>과 </a:t>
            </a:r>
            <a:r>
              <a:rPr lang="en-US" altLang="ko-KR" sz="1400" dirty="0">
                <a:solidFill>
                  <a:schemeClr val="tx2"/>
                </a:solidFill>
              </a:rPr>
              <a:t>ⅱ)</a:t>
            </a:r>
            <a:r>
              <a:rPr lang="ko-KR" altLang="en-US" sz="1400" dirty="0">
                <a:solidFill>
                  <a:schemeClr val="tx2"/>
                </a:solidFill>
              </a:rPr>
              <a:t>의 방법 중에서 각각 소요되는 비용과 시간 등을 상호 비교하여 선택할 수 있도록 함으로써 편의를 제고하고 있다</a:t>
            </a:r>
            <a:r>
              <a:rPr lang="en-US" altLang="ko-KR" sz="1400" dirty="0">
                <a:solidFill>
                  <a:schemeClr val="tx2"/>
                </a:solidFill>
              </a:rPr>
              <a:t>. </a:t>
            </a:r>
            <a:r>
              <a:rPr lang="ko-KR" altLang="en-US" sz="1400" dirty="0">
                <a:solidFill>
                  <a:schemeClr val="tx2"/>
                </a:solidFill>
              </a:rPr>
              <a:t>이는 </a:t>
            </a:r>
            <a:r>
              <a:rPr lang="ko-KR" altLang="en-US" sz="1400" dirty="0" err="1">
                <a:solidFill>
                  <a:schemeClr val="tx2"/>
                </a:solidFill>
              </a:rPr>
              <a:t>선출원주의하에서</a:t>
            </a:r>
            <a:r>
              <a:rPr lang="ko-KR" altLang="en-US" sz="1400" dirty="0">
                <a:solidFill>
                  <a:schemeClr val="tx2"/>
                </a:solidFill>
              </a:rPr>
              <a:t> 선발명주의적 요소의 가미라고 할 수 있다</a:t>
            </a:r>
            <a:r>
              <a:rPr lang="en-US" altLang="ko-KR" sz="1400" dirty="0">
                <a:solidFill>
                  <a:schemeClr val="tx2"/>
                </a:solidFill>
              </a:rPr>
              <a:t>.</a:t>
            </a:r>
            <a:endParaRPr lang="ko-KR" altLang="en-US" sz="1400" dirty="0">
              <a:solidFill>
                <a:schemeClr val="tx2"/>
              </a:solidFill>
            </a:endParaRPr>
          </a:p>
        </p:txBody>
      </p:sp>
      <p:cxnSp>
        <p:nvCxnSpPr>
          <p:cNvPr id="8" name="직선 연결선 7">
            <a:extLst>
              <a:ext uri="{FF2B5EF4-FFF2-40B4-BE49-F238E27FC236}">
                <a16:creationId xmlns:a16="http://schemas.microsoft.com/office/drawing/2014/main" id="{51704293-30D7-496B-9F79-97B33D3DC457}"/>
              </a:ext>
            </a:extLst>
          </p:cNvPr>
          <p:cNvCxnSpPr/>
          <p:nvPr/>
        </p:nvCxnSpPr>
        <p:spPr>
          <a:xfrm>
            <a:off x="0" y="173051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1058967"/>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34</a:t>
            </a:r>
            <a:r>
              <a:rPr lang="ko-KR" altLang="en-US" dirty="0"/>
              <a:t>조</a:t>
            </a:r>
            <a:r>
              <a:rPr lang="en-US" altLang="ko-KR" dirty="0"/>
              <a:t>, </a:t>
            </a:r>
            <a:r>
              <a:rPr lang="ko-KR" altLang="en-US" dirty="0"/>
              <a:t>제</a:t>
            </a:r>
            <a:r>
              <a:rPr lang="en-US" altLang="ko-KR" dirty="0"/>
              <a:t>35</a:t>
            </a:r>
            <a:r>
              <a:rPr lang="ko-KR" altLang="en-US" dirty="0"/>
              <a:t>조</a:t>
            </a:r>
          </a:p>
        </p:txBody>
      </p:sp>
      <p:sp>
        <p:nvSpPr>
          <p:cNvPr id="4" name="텍스트 개체 틀 3"/>
          <p:cNvSpPr>
            <a:spLocks noGrp="1"/>
          </p:cNvSpPr>
          <p:nvPr>
            <p:ph type="body" sz="quarter" idx="13"/>
          </p:nvPr>
        </p:nvSpPr>
        <p:spPr/>
        <p:txBody>
          <a:bodyPr/>
          <a:lstStyle/>
          <a:p>
            <a:r>
              <a:rPr lang="ko-KR" altLang="en-US" dirty="0"/>
              <a:t>시기적 요건</a:t>
            </a:r>
          </a:p>
        </p:txBody>
      </p:sp>
      <p:sp>
        <p:nvSpPr>
          <p:cNvPr id="26" name="TextBox 25"/>
          <p:cNvSpPr txBox="1"/>
          <p:nvPr/>
        </p:nvSpPr>
        <p:spPr>
          <a:xfrm>
            <a:off x="77875" y="986046"/>
            <a:ext cx="11936323" cy="1600438"/>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34</a:t>
            </a:r>
            <a:r>
              <a:rPr lang="ko-KR" altLang="en-US" sz="1400" b="1" dirty="0">
                <a:solidFill>
                  <a:schemeClr val="accent1"/>
                </a:solidFill>
              </a:rPr>
              <a:t>조</a:t>
            </a:r>
            <a:r>
              <a:rPr lang="en-US" altLang="ko-KR" sz="1400" b="1" dirty="0">
                <a:solidFill>
                  <a:schemeClr val="accent1"/>
                </a:solidFill>
              </a:rPr>
              <a:t>(</a:t>
            </a:r>
            <a:r>
              <a:rPr lang="ko-KR" altLang="en-US" sz="1400" b="1" dirty="0" err="1">
                <a:solidFill>
                  <a:schemeClr val="accent1"/>
                </a:solidFill>
              </a:rPr>
              <a:t>무권리자의</a:t>
            </a:r>
            <a:r>
              <a:rPr lang="ko-KR" altLang="en-US" sz="1400" b="1" dirty="0">
                <a:solidFill>
                  <a:schemeClr val="accent1"/>
                </a:solidFill>
              </a:rPr>
              <a:t> 특허출원과 정당한 권리자의 보호</a:t>
            </a:r>
            <a:r>
              <a:rPr lang="en-US" altLang="ko-KR" sz="1400" b="1" dirty="0">
                <a:solidFill>
                  <a:schemeClr val="accent1"/>
                </a:solidFill>
              </a:rPr>
              <a:t>)</a:t>
            </a:r>
            <a:r>
              <a:rPr lang="en-US" altLang="ko-KR" sz="1400" dirty="0">
                <a:solidFill>
                  <a:schemeClr val="accent1"/>
                </a:solidFill>
              </a:rPr>
              <a:t> </a:t>
            </a:r>
            <a:r>
              <a:rPr lang="ko-KR" altLang="en-US" sz="1400" dirty="0">
                <a:solidFill>
                  <a:schemeClr val="tx2"/>
                </a:solidFill>
              </a:rPr>
              <a:t>발명자가 아닌 자로서 특허를 받을 수 있는 권리의 승계인이 아닌 자</a:t>
            </a:r>
            <a:r>
              <a:rPr lang="en-US" altLang="ko-KR" sz="1400" dirty="0">
                <a:solidFill>
                  <a:schemeClr val="tx2"/>
                </a:solidFill>
              </a:rPr>
              <a:t>(</a:t>
            </a:r>
            <a:r>
              <a:rPr lang="ko-KR" altLang="en-US" sz="1400" dirty="0">
                <a:solidFill>
                  <a:schemeClr val="tx2"/>
                </a:solidFill>
              </a:rPr>
              <a:t>이하 </a:t>
            </a:r>
            <a:r>
              <a:rPr lang="en-US" altLang="ko-KR" sz="1400" dirty="0">
                <a:solidFill>
                  <a:schemeClr val="tx2"/>
                </a:solidFill>
              </a:rPr>
              <a:t>"</a:t>
            </a:r>
            <a:r>
              <a:rPr lang="ko-KR" altLang="en-US" sz="1400" dirty="0" err="1">
                <a:solidFill>
                  <a:schemeClr val="tx2"/>
                </a:solidFill>
              </a:rPr>
              <a:t>무권리자</a:t>
            </a:r>
            <a:r>
              <a:rPr lang="en-US" altLang="ko-KR" sz="1400" dirty="0">
                <a:solidFill>
                  <a:schemeClr val="tx2"/>
                </a:solidFill>
              </a:rPr>
              <a:t>"</a:t>
            </a:r>
            <a:r>
              <a:rPr lang="ko-KR" altLang="en-US" sz="1400" dirty="0">
                <a:solidFill>
                  <a:schemeClr val="tx2"/>
                </a:solidFill>
              </a:rPr>
              <a:t>라 한다</a:t>
            </a:r>
            <a:r>
              <a:rPr lang="en-US" altLang="ko-KR" sz="1400" dirty="0">
                <a:solidFill>
                  <a:schemeClr val="tx2"/>
                </a:solidFill>
              </a:rPr>
              <a:t>)</a:t>
            </a:r>
            <a:r>
              <a:rPr lang="ko-KR" altLang="en-US" sz="1400" dirty="0">
                <a:solidFill>
                  <a:schemeClr val="tx2"/>
                </a:solidFill>
              </a:rPr>
              <a:t>가 한 특허출원이 제</a:t>
            </a:r>
            <a:r>
              <a:rPr lang="en-US" altLang="ko-KR" sz="1400" dirty="0">
                <a:solidFill>
                  <a:schemeClr val="tx2"/>
                </a:solidFill>
              </a:rPr>
              <a:t>33</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본문에 따른 특허를 받을 수 있는 권리를 가지지 아니한 사유로 제</a:t>
            </a:r>
            <a:r>
              <a:rPr lang="en-US" altLang="ko-KR" sz="1400" dirty="0">
                <a:solidFill>
                  <a:schemeClr val="tx2"/>
                </a:solidFill>
              </a:rPr>
              <a:t>62</a:t>
            </a:r>
            <a:r>
              <a:rPr lang="ko-KR" altLang="en-US" sz="1400" dirty="0">
                <a:solidFill>
                  <a:schemeClr val="tx2"/>
                </a:solidFill>
              </a:rPr>
              <a:t>조제</a:t>
            </a:r>
            <a:r>
              <a:rPr lang="en-US" altLang="ko-KR" sz="1400" dirty="0">
                <a:solidFill>
                  <a:schemeClr val="tx2"/>
                </a:solidFill>
              </a:rPr>
              <a:t>2</a:t>
            </a:r>
            <a:r>
              <a:rPr lang="ko-KR" altLang="en-US" sz="1400" dirty="0">
                <a:solidFill>
                  <a:schemeClr val="tx2"/>
                </a:solidFill>
              </a:rPr>
              <a:t>호에 해당하여 특허를 받지 못하게 된 경우에는 </a:t>
            </a:r>
            <a:r>
              <a:rPr lang="ko-KR" altLang="en-US" sz="1400" dirty="0">
                <a:solidFill>
                  <a:srgbClr val="FF0000"/>
                </a:solidFill>
              </a:rPr>
              <a:t>그 </a:t>
            </a:r>
            <a:r>
              <a:rPr lang="ko-KR" altLang="en-US" sz="1400" dirty="0" err="1">
                <a:solidFill>
                  <a:srgbClr val="FF0000"/>
                </a:solidFill>
              </a:rPr>
              <a:t>무권리자의</a:t>
            </a:r>
            <a:r>
              <a:rPr lang="ko-KR" altLang="en-US" sz="1400" dirty="0">
                <a:solidFill>
                  <a:srgbClr val="FF0000"/>
                </a:solidFill>
              </a:rPr>
              <a:t> 특허출원 후에 한 정당한 권리자의 특허출원</a:t>
            </a:r>
            <a:r>
              <a:rPr lang="ko-KR" altLang="en-US" sz="1400" dirty="0">
                <a:solidFill>
                  <a:schemeClr val="tx2"/>
                </a:solidFill>
              </a:rPr>
              <a:t>은 </a:t>
            </a:r>
            <a:r>
              <a:rPr lang="ko-KR" altLang="en-US" sz="1400" dirty="0" err="1">
                <a:solidFill>
                  <a:schemeClr val="tx2"/>
                </a:solidFill>
              </a:rPr>
              <a:t>무권리자가</a:t>
            </a:r>
            <a:r>
              <a:rPr lang="ko-KR" altLang="en-US" sz="1400" dirty="0">
                <a:solidFill>
                  <a:schemeClr val="tx2"/>
                </a:solidFill>
              </a:rPr>
              <a:t> </a:t>
            </a:r>
            <a:r>
              <a:rPr lang="ko-KR" altLang="en-US" sz="1400" dirty="0" err="1">
                <a:solidFill>
                  <a:schemeClr val="tx2"/>
                </a:solidFill>
              </a:rPr>
              <a:t>특허출원한</a:t>
            </a:r>
            <a:r>
              <a:rPr lang="ko-KR" altLang="en-US" sz="1400" dirty="0">
                <a:solidFill>
                  <a:schemeClr val="tx2"/>
                </a:solidFill>
              </a:rPr>
              <a:t> 때에 </a:t>
            </a:r>
            <a:r>
              <a:rPr lang="ko-KR" altLang="en-US" sz="1400" dirty="0" err="1">
                <a:solidFill>
                  <a:schemeClr val="tx2"/>
                </a:solidFill>
              </a:rPr>
              <a:t>특허출원한</a:t>
            </a:r>
            <a:r>
              <a:rPr lang="ko-KR" altLang="en-US" sz="1400" dirty="0">
                <a:solidFill>
                  <a:schemeClr val="tx2"/>
                </a:solidFill>
              </a:rPr>
              <a:t> 것으로 본다</a:t>
            </a:r>
            <a:r>
              <a:rPr lang="en-US" altLang="ko-KR" sz="1400" dirty="0">
                <a:solidFill>
                  <a:schemeClr val="tx2"/>
                </a:solidFill>
              </a:rPr>
              <a:t>. </a:t>
            </a:r>
            <a:r>
              <a:rPr lang="ko-KR" altLang="en-US" sz="1400" dirty="0">
                <a:solidFill>
                  <a:srgbClr val="FF0000"/>
                </a:solidFill>
              </a:rPr>
              <a:t>다만</a:t>
            </a:r>
            <a:r>
              <a:rPr lang="en-US" altLang="ko-KR" sz="1400" dirty="0">
                <a:solidFill>
                  <a:srgbClr val="FF0000"/>
                </a:solidFill>
              </a:rPr>
              <a:t>, </a:t>
            </a:r>
            <a:r>
              <a:rPr lang="ko-KR" altLang="en-US" sz="1400" dirty="0" err="1">
                <a:solidFill>
                  <a:srgbClr val="FF0000"/>
                </a:solidFill>
              </a:rPr>
              <a:t>무권리자가</a:t>
            </a:r>
            <a:r>
              <a:rPr lang="ko-KR" altLang="en-US" sz="1400" dirty="0">
                <a:solidFill>
                  <a:srgbClr val="FF0000"/>
                </a:solidFill>
              </a:rPr>
              <a:t> 특허를 받지 못하게 된 날부터 </a:t>
            </a:r>
            <a:r>
              <a:rPr lang="en-US" altLang="ko-KR" sz="1400" dirty="0">
                <a:solidFill>
                  <a:srgbClr val="FF0000"/>
                </a:solidFill>
              </a:rPr>
              <a:t>30</a:t>
            </a:r>
            <a:r>
              <a:rPr lang="ko-KR" altLang="en-US" sz="1400" dirty="0">
                <a:solidFill>
                  <a:srgbClr val="FF0000"/>
                </a:solidFill>
              </a:rPr>
              <a:t>일이 지난 후에 정당한 권리자가 특허출원을 한 경우에는 그러하지 아니하다</a:t>
            </a:r>
            <a:r>
              <a:rPr lang="en-US" altLang="ko-KR" sz="1400" dirty="0">
                <a:solidFill>
                  <a:srgbClr val="FF0000"/>
                </a:solidFill>
              </a:rPr>
              <a:t>.</a:t>
            </a:r>
          </a:p>
          <a:p>
            <a:pPr fontAlgn="base"/>
            <a:r>
              <a:rPr lang="ko-KR" altLang="en-US" sz="1400" b="1" dirty="0">
                <a:solidFill>
                  <a:schemeClr val="accent1"/>
                </a:solidFill>
              </a:rPr>
              <a:t>제</a:t>
            </a:r>
            <a:r>
              <a:rPr lang="en-US" altLang="ko-KR" sz="1400" b="1" dirty="0">
                <a:solidFill>
                  <a:schemeClr val="accent1"/>
                </a:solidFill>
              </a:rPr>
              <a:t>35</a:t>
            </a:r>
            <a:r>
              <a:rPr lang="ko-KR" altLang="en-US" sz="1400" b="1" dirty="0">
                <a:solidFill>
                  <a:schemeClr val="accent1"/>
                </a:solidFill>
              </a:rPr>
              <a:t>조</a:t>
            </a:r>
            <a:r>
              <a:rPr lang="en-US" altLang="ko-KR" sz="1400" b="1" dirty="0">
                <a:solidFill>
                  <a:schemeClr val="accent1"/>
                </a:solidFill>
              </a:rPr>
              <a:t>(</a:t>
            </a:r>
            <a:r>
              <a:rPr lang="ko-KR" altLang="en-US" sz="1400" b="1" dirty="0" err="1">
                <a:solidFill>
                  <a:schemeClr val="accent1"/>
                </a:solidFill>
              </a:rPr>
              <a:t>무권리자의</a:t>
            </a:r>
            <a:r>
              <a:rPr lang="ko-KR" altLang="en-US" sz="1400" b="1" dirty="0">
                <a:solidFill>
                  <a:schemeClr val="accent1"/>
                </a:solidFill>
              </a:rPr>
              <a:t> 특허와 정당한 권리자의 보호</a:t>
            </a:r>
            <a:r>
              <a:rPr lang="en-US" altLang="ko-KR" sz="1400" b="1" dirty="0">
                <a:solidFill>
                  <a:schemeClr val="accent1"/>
                </a:solidFill>
              </a:rPr>
              <a:t>)</a:t>
            </a:r>
            <a:r>
              <a:rPr lang="en-US" altLang="ko-KR" sz="1400" dirty="0">
                <a:solidFill>
                  <a:schemeClr val="accent1"/>
                </a:solidFill>
              </a:rPr>
              <a:t> </a:t>
            </a:r>
            <a:r>
              <a:rPr lang="ko-KR" altLang="en-US" sz="1400" dirty="0">
                <a:solidFill>
                  <a:schemeClr val="tx2"/>
                </a:solidFill>
              </a:rPr>
              <a:t>제</a:t>
            </a:r>
            <a:r>
              <a:rPr lang="en-US" altLang="ko-KR" sz="1400" dirty="0">
                <a:solidFill>
                  <a:schemeClr val="tx2"/>
                </a:solidFill>
              </a:rPr>
              <a:t>33</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본문에 따른 특허를 받을 수 있는 권리를 가지지 아니한 사유로 제</a:t>
            </a:r>
            <a:r>
              <a:rPr lang="en-US" altLang="ko-KR" sz="1400" dirty="0">
                <a:solidFill>
                  <a:schemeClr val="tx2"/>
                </a:solidFill>
              </a:rPr>
              <a:t>133</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2</a:t>
            </a:r>
            <a:r>
              <a:rPr lang="ko-KR" altLang="en-US" sz="1400" dirty="0">
                <a:solidFill>
                  <a:schemeClr val="tx2"/>
                </a:solidFill>
              </a:rPr>
              <a:t>호에 해당하여 특허를 무효로 한다는 </a:t>
            </a:r>
            <a:r>
              <a:rPr lang="ko-KR" altLang="en-US" sz="1400" dirty="0" err="1">
                <a:solidFill>
                  <a:schemeClr val="tx2"/>
                </a:solidFill>
              </a:rPr>
              <a:t>심결이</a:t>
            </a:r>
            <a:r>
              <a:rPr lang="ko-KR" altLang="en-US" sz="1400" dirty="0">
                <a:solidFill>
                  <a:schemeClr val="tx2"/>
                </a:solidFill>
              </a:rPr>
              <a:t> 확정된 경우에는 </a:t>
            </a:r>
            <a:r>
              <a:rPr lang="ko-KR" altLang="en-US" sz="1400" dirty="0">
                <a:solidFill>
                  <a:srgbClr val="FF0000"/>
                </a:solidFill>
              </a:rPr>
              <a:t>그 </a:t>
            </a:r>
            <a:r>
              <a:rPr lang="ko-KR" altLang="en-US" sz="1400" dirty="0" err="1">
                <a:solidFill>
                  <a:srgbClr val="FF0000"/>
                </a:solidFill>
              </a:rPr>
              <a:t>무권리자의</a:t>
            </a:r>
            <a:r>
              <a:rPr lang="ko-KR" altLang="en-US" sz="1400" dirty="0">
                <a:solidFill>
                  <a:srgbClr val="FF0000"/>
                </a:solidFill>
              </a:rPr>
              <a:t> 특허출원 후에 한 정당한 권리자의 특허출원은</a:t>
            </a:r>
            <a:r>
              <a:rPr lang="ko-KR" altLang="en-US" sz="1400" dirty="0">
                <a:solidFill>
                  <a:schemeClr val="tx2"/>
                </a:solidFill>
              </a:rPr>
              <a:t> 무효로 된 그 특허의 출원 시에 </a:t>
            </a:r>
            <a:r>
              <a:rPr lang="ko-KR" altLang="en-US" sz="1400" dirty="0" err="1">
                <a:solidFill>
                  <a:schemeClr val="tx2"/>
                </a:solidFill>
              </a:rPr>
              <a:t>특허출원한</a:t>
            </a:r>
            <a:r>
              <a:rPr lang="ko-KR" altLang="en-US" sz="1400" dirty="0">
                <a:solidFill>
                  <a:schemeClr val="tx2"/>
                </a:solidFill>
              </a:rPr>
              <a:t> 것으로 본다</a:t>
            </a:r>
            <a:r>
              <a:rPr lang="en-US" altLang="ko-KR" sz="1400" dirty="0">
                <a:solidFill>
                  <a:schemeClr val="tx2"/>
                </a:solidFill>
              </a:rPr>
              <a:t>. </a:t>
            </a:r>
            <a:r>
              <a:rPr lang="ko-KR" altLang="en-US" sz="1400" dirty="0">
                <a:solidFill>
                  <a:srgbClr val="FF0000"/>
                </a:solidFill>
              </a:rPr>
              <a:t>다만</a:t>
            </a:r>
            <a:r>
              <a:rPr lang="en-US" altLang="ko-KR" sz="1400" dirty="0">
                <a:solidFill>
                  <a:srgbClr val="FF0000"/>
                </a:solidFill>
              </a:rPr>
              <a:t>, </a:t>
            </a:r>
            <a:r>
              <a:rPr lang="ko-KR" altLang="en-US" sz="1400" dirty="0" err="1">
                <a:solidFill>
                  <a:srgbClr val="FF0000"/>
                </a:solidFill>
              </a:rPr>
              <a:t>심결이</a:t>
            </a:r>
            <a:r>
              <a:rPr lang="ko-KR" altLang="en-US" sz="1400" dirty="0">
                <a:solidFill>
                  <a:srgbClr val="FF0000"/>
                </a:solidFill>
              </a:rPr>
              <a:t> 확정된 날부터 </a:t>
            </a:r>
            <a:r>
              <a:rPr lang="en-US" altLang="ko-KR" sz="1400" dirty="0">
                <a:solidFill>
                  <a:srgbClr val="FF0000"/>
                </a:solidFill>
              </a:rPr>
              <a:t>30</a:t>
            </a:r>
            <a:r>
              <a:rPr lang="ko-KR" altLang="en-US" sz="1400" dirty="0">
                <a:solidFill>
                  <a:srgbClr val="FF0000"/>
                </a:solidFill>
              </a:rPr>
              <a:t>일이 지난 후에 정당한 권리자가 특허출원을 한 경우에는 그러하지 아니하다</a:t>
            </a:r>
            <a:r>
              <a:rPr lang="en-US" altLang="ko-KR" sz="1400" dirty="0">
                <a:solidFill>
                  <a:srgbClr val="FF0000"/>
                </a:solidFill>
              </a:rPr>
              <a:t>.  </a:t>
            </a:r>
          </a:p>
        </p:txBody>
      </p:sp>
      <p:cxnSp>
        <p:nvCxnSpPr>
          <p:cNvPr id="27" name="직선 연결선 26"/>
          <p:cNvCxnSpPr/>
          <p:nvPr/>
        </p:nvCxnSpPr>
        <p:spPr>
          <a:xfrm>
            <a:off x="0" y="259637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직사각형 23"/>
          <p:cNvSpPr/>
          <p:nvPr/>
        </p:nvSpPr>
        <p:spPr>
          <a:xfrm>
            <a:off x="895349" y="2839348"/>
            <a:ext cx="10649839" cy="1637435"/>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n-ea"/>
            </a:endParaRPr>
          </a:p>
        </p:txBody>
      </p:sp>
      <p:sp>
        <p:nvSpPr>
          <p:cNvPr id="33" name="사각형: 둥근 위쪽 모서리 32"/>
          <p:cNvSpPr/>
          <p:nvPr/>
        </p:nvSpPr>
        <p:spPr>
          <a:xfrm>
            <a:off x="3216654" y="3719229"/>
            <a:ext cx="7289949" cy="619295"/>
          </a:xfrm>
          <a:prstGeom prst="round2SameRect">
            <a:avLst>
              <a:gd name="adj1" fmla="val 0"/>
              <a:gd name="adj2" fmla="val 50000"/>
            </a:avLst>
          </a:prstGeom>
          <a:pattFill prst="wdUpDiag">
            <a:fgClr>
              <a:schemeClr val="accent4"/>
            </a:fgClr>
            <a:bgClr>
              <a:schemeClr val="bg1"/>
            </a:bgClr>
          </a:patt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ko-KR" altLang="en-US" sz="1400" dirty="0">
                <a:solidFill>
                  <a:schemeClr val="accent2">
                    <a:lumMod val="50000"/>
                  </a:schemeClr>
                </a:solidFill>
                <a:latin typeface="+mn-ea"/>
              </a:rPr>
              <a:t>정당한 권리자 출원가능시기</a:t>
            </a:r>
          </a:p>
        </p:txBody>
      </p:sp>
      <p:sp>
        <p:nvSpPr>
          <p:cNvPr id="34" name="Rectangle 29"/>
          <p:cNvSpPr>
            <a:spLocks noChangeArrowheads="1"/>
          </p:cNvSpPr>
          <p:nvPr/>
        </p:nvSpPr>
        <p:spPr bwMode="auto">
          <a:xfrm>
            <a:off x="8179606" y="2792735"/>
            <a:ext cx="1094874" cy="476337"/>
          </a:xfrm>
          <a:prstGeom prst="rect">
            <a:avLst/>
          </a:prstGeom>
          <a:noFill/>
          <a:ln w="9525">
            <a:noFill/>
            <a:miter lim="800000"/>
            <a:headEnd/>
            <a:tailEnd/>
          </a:ln>
        </p:spPr>
        <p:txBody>
          <a:bodyPr wrap="none" anchor="ctr"/>
          <a:lstStyle/>
          <a:p>
            <a:pPr algn="ctr">
              <a:defRPr/>
            </a:pPr>
            <a:r>
              <a:rPr lang="en-US" altLang="ko-KR" sz="1200" b="0" dirty="0">
                <a:solidFill>
                  <a:srgbClr val="000000"/>
                </a:solidFill>
                <a:latin typeface="+mn-ea"/>
              </a:rPr>
              <a:t>30</a:t>
            </a:r>
            <a:r>
              <a:rPr lang="ko-KR" altLang="en-US" sz="1200" b="0" dirty="0">
                <a:solidFill>
                  <a:srgbClr val="000000"/>
                </a:solidFill>
                <a:latin typeface="+mn-ea"/>
              </a:rPr>
              <a:t>일 이내</a:t>
            </a:r>
          </a:p>
        </p:txBody>
      </p:sp>
      <p:cxnSp>
        <p:nvCxnSpPr>
          <p:cNvPr id="38" name="직선 화살표 연결선 37"/>
          <p:cNvCxnSpPr/>
          <p:nvPr/>
        </p:nvCxnSpPr>
        <p:spPr>
          <a:xfrm>
            <a:off x="1849789" y="3719229"/>
            <a:ext cx="9446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9" name="Rectangle 14"/>
          <p:cNvSpPr>
            <a:spLocks noChangeArrowheads="1"/>
          </p:cNvSpPr>
          <p:nvPr/>
        </p:nvSpPr>
        <p:spPr bwMode="auto">
          <a:xfrm>
            <a:off x="2578784" y="3522188"/>
            <a:ext cx="12757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err="1">
                <a:latin typeface="+mn-ea"/>
              </a:rPr>
              <a:t>무권리자</a:t>
            </a:r>
            <a:r>
              <a:rPr lang="ko-KR" altLang="en-US" sz="1400" dirty="0" err="1">
                <a:latin typeface="+mn-ea"/>
              </a:rPr>
              <a:t>출원</a:t>
            </a:r>
            <a:endParaRPr lang="ko-KR" altLang="en-US" sz="1400" b="0" dirty="0">
              <a:latin typeface="+mn-ea"/>
            </a:endParaRPr>
          </a:p>
        </p:txBody>
      </p:sp>
      <p:sp>
        <p:nvSpPr>
          <p:cNvPr id="40" name="원호 39"/>
          <p:cNvSpPr/>
          <p:nvPr/>
        </p:nvSpPr>
        <p:spPr>
          <a:xfrm>
            <a:off x="6691797" y="3149314"/>
            <a:ext cx="3814806" cy="1082693"/>
          </a:xfrm>
          <a:prstGeom prst="arc">
            <a:avLst>
              <a:gd name="adj1" fmla="val 11014843"/>
              <a:gd name="adj2" fmla="val 2158311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latin typeface="+mn-ea"/>
            </a:endParaRPr>
          </a:p>
        </p:txBody>
      </p:sp>
      <p:sp>
        <p:nvSpPr>
          <p:cNvPr id="42" name="Rectangle 14"/>
          <p:cNvSpPr>
            <a:spLocks noChangeArrowheads="1"/>
          </p:cNvSpPr>
          <p:nvPr/>
        </p:nvSpPr>
        <p:spPr bwMode="auto">
          <a:xfrm>
            <a:off x="6132634" y="3522188"/>
            <a:ext cx="1275741" cy="359005"/>
          </a:xfrm>
          <a:prstGeom prst="rect">
            <a:avLst/>
          </a:prstGeom>
          <a:solidFill>
            <a:schemeClr val="accent1">
              <a:lumMod val="50000"/>
            </a:schemeClr>
          </a:solidFill>
          <a:ln w="9525" algn="ctr">
            <a:solidFill>
              <a:schemeClr val="bg1">
                <a:lumMod val="50000"/>
              </a:schemeClr>
            </a:solidFill>
            <a:miter lim="800000"/>
            <a:headEnd/>
            <a:tailEnd/>
          </a:ln>
        </p:spPr>
        <p:txBody>
          <a:bodyPr wrap="none" anchor="ctr"/>
          <a:lstStyle/>
          <a:p>
            <a:pPr algn="ctr"/>
            <a:r>
              <a:rPr lang="ko-KR" altLang="en-US" sz="1400" b="0" dirty="0">
                <a:solidFill>
                  <a:schemeClr val="bg1"/>
                </a:solidFill>
                <a:latin typeface="+mn-ea"/>
              </a:rPr>
              <a:t>거절결정확정</a:t>
            </a:r>
          </a:p>
        </p:txBody>
      </p:sp>
      <p:sp>
        <p:nvSpPr>
          <p:cNvPr id="43" name="직사각형 42"/>
          <p:cNvSpPr/>
          <p:nvPr/>
        </p:nvSpPr>
        <p:spPr>
          <a:xfrm>
            <a:off x="895349" y="4724411"/>
            <a:ext cx="10649839" cy="1827007"/>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n-ea"/>
            </a:endParaRPr>
          </a:p>
        </p:txBody>
      </p:sp>
      <p:sp>
        <p:nvSpPr>
          <p:cNvPr id="44" name="사각형: 둥근 위쪽 모서리 43"/>
          <p:cNvSpPr/>
          <p:nvPr/>
        </p:nvSpPr>
        <p:spPr>
          <a:xfrm>
            <a:off x="3216654" y="5793864"/>
            <a:ext cx="7289949" cy="581551"/>
          </a:xfrm>
          <a:prstGeom prst="round2SameRect">
            <a:avLst>
              <a:gd name="adj1" fmla="val 0"/>
              <a:gd name="adj2" fmla="val 50000"/>
            </a:avLst>
          </a:prstGeom>
          <a:pattFill prst="wdUpDiag">
            <a:fgClr>
              <a:schemeClr val="accent4"/>
            </a:fgClr>
            <a:bgClr>
              <a:schemeClr val="bg1"/>
            </a:bgClr>
          </a:patt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ko-KR" altLang="en-US" sz="1400" dirty="0">
                <a:solidFill>
                  <a:schemeClr val="accent2">
                    <a:lumMod val="50000"/>
                  </a:schemeClr>
                </a:solidFill>
                <a:latin typeface="+mn-ea"/>
              </a:rPr>
              <a:t>정당한 권리자 출원가능시기</a:t>
            </a:r>
          </a:p>
        </p:txBody>
      </p:sp>
      <p:sp>
        <p:nvSpPr>
          <p:cNvPr id="45" name="Rectangle 29"/>
          <p:cNvSpPr>
            <a:spLocks noChangeArrowheads="1"/>
          </p:cNvSpPr>
          <p:nvPr/>
        </p:nvSpPr>
        <p:spPr bwMode="auto">
          <a:xfrm>
            <a:off x="8841886" y="4897939"/>
            <a:ext cx="1094874" cy="476337"/>
          </a:xfrm>
          <a:prstGeom prst="rect">
            <a:avLst/>
          </a:prstGeom>
          <a:noFill/>
          <a:ln w="9525">
            <a:noFill/>
            <a:miter lim="800000"/>
            <a:headEnd/>
            <a:tailEnd/>
          </a:ln>
        </p:spPr>
        <p:txBody>
          <a:bodyPr wrap="none" anchor="ctr"/>
          <a:lstStyle/>
          <a:p>
            <a:pPr algn="ctr">
              <a:defRPr/>
            </a:pPr>
            <a:r>
              <a:rPr lang="en-US" altLang="ko-KR" sz="1200" b="0" dirty="0">
                <a:solidFill>
                  <a:srgbClr val="000000"/>
                </a:solidFill>
                <a:latin typeface="+mn-ea"/>
              </a:rPr>
              <a:t>30</a:t>
            </a:r>
            <a:r>
              <a:rPr lang="ko-KR" altLang="en-US" sz="1200" b="0" dirty="0">
                <a:solidFill>
                  <a:srgbClr val="000000"/>
                </a:solidFill>
                <a:latin typeface="+mn-ea"/>
              </a:rPr>
              <a:t>일 이내</a:t>
            </a:r>
          </a:p>
        </p:txBody>
      </p:sp>
      <p:cxnSp>
        <p:nvCxnSpPr>
          <p:cNvPr id="46" name="직선 화살표 연결선 45"/>
          <p:cNvCxnSpPr/>
          <p:nvPr/>
        </p:nvCxnSpPr>
        <p:spPr>
          <a:xfrm>
            <a:off x="1849789" y="5793864"/>
            <a:ext cx="9456386"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7" name="Rectangle 14"/>
          <p:cNvSpPr>
            <a:spLocks noChangeArrowheads="1"/>
          </p:cNvSpPr>
          <p:nvPr/>
        </p:nvSpPr>
        <p:spPr bwMode="auto">
          <a:xfrm>
            <a:off x="2578784" y="5596823"/>
            <a:ext cx="12757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err="1">
                <a:latin typeface="+mn-ea"/>
              </a:rPr>
              <a:t>무권리자</a:t>
            </a:r>
            <a:r>
              <a:rPr lang="ko-KR" altLang="en-US" sz="1400" dirty="0" err="1">
                <a:latin typeface="+mn-ea"/>
              </a:rPr>
              <a:t>출원</a:t>
            </a:r>
            <a:endParaRPr lang="ko-KR" altLang="en-US" sz="1400" b="0" dirty="0">
              <a:latin typeface="+mn-ea"/>
            </a:endParaRPr>
          </a:p>
        </p:txBody>
      </p:sp>
      <p:sp>
        <p:nvSpPr>
          <p:cNvPr id="48" name="원호 47"/>
          <p:cNvSpPr/>
          <p:nvPr/>
        </p:nvSpPr>
        <p:spPr>
          <a:xfrm>
            <a:off x="8267700" y="5279356"/>
            <a:ext cx="2238904" cy="957759"/>
          </a:xfrm>
          <a:prstGeom prst="arc">
            <a:avLst>
              <a:gd name="adj1" fmla="val 11237032"/>
              <a:gd name="adj2" fmla="val 78203"/>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latin typeface="+mn-ea"/>
            </a:endParaRPr>
          </a:p>
        </p:txBody>
      </p:sp>
      <p:sp>
        <p:nvSpPr>
          <p:cNvPr id="50" name="Rectangle 14"/>
          <p:cNvSpPr>
            <a:spLocks noChangeArrowheads="1"/>
          </p:cNvSpPr>
          <p:nvPr/>
        </p:nvSpPr>
        <p:spPr bwMode="auto">
          <a:xfrm>
            <a:off x="5161139" y="5596823"/>
            <a:ext cx="12757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a:latin typeface="+mn-ea"/>
              </a:rPr>
              <a:t>설정등록</a:t>
            </a:r>
            <a:endParaRPr lang="ko-KR" altLang="en-US" sz="1400" b="0" dirty="0">
              <a:latin typeface="+mn-ea"/>
            </a:endParaRPr>
          </a:p>
        </p:txBody>
      </p:sp>
      <p:sp>
        <p:nvSpPr>
          <p:cNvPr id="52" name="Rectangle 14"/>
          <p:cNvSpPr>
            <a:spLocks noChangeArrowheads="1"/>
          </p:cNvSpPr>
          <p:nvPr/>
        </p:nvSpPr>
        <p:spPr bwMode="auto">
          <a:xfrm>
            <a:off x="7720568" y="5596823"/>
            <a:ext cx="1275741" cy="359005"/>
          </a:xfrm>
          <a:prstGeom prst="rect">
            <a:avLst/>
          </a:prstGeom>
          <a:solidFill>
            <a:schemeClr val="accent1">
              <a:lumMod val="50000"/>
            </a:schemeClr>
          </a:solidFill>
          <a:ln w="9525" algn="ctr">
            <a:solidFill>
              <a:schemeClr val="bg1">
                <a:lumMod val="50000"/>
              </a:schemeClr>
            </a:solidFill>
            <a:miter lim="800000"/>
            <a:headEnd/>
            <a:tailEnd/>
          </a:ln>
        </p:spPr>
        <p:txBody>
          <a:bodyPr wrap="none" anchor="ctr"/>
          <a:lstStyle/>
          <a:p>
            <a:pPr algn="ctr"/>
            <a:r>
              <a:rPr lang="ko-KR" altLang="en-US" sz="1400" b="0" dirty="0" err="1">
                <a:solidFill>
                  <a:schemeClr val="bg1"/>
                </a:solidFill>
                <a:latin typeface="+mn-ea"/>
              </a:rPr>
              <a:t>무효심결확정</a:t>
            </a:r>
            <a:endParaRPr lang="ko-KR" altLang="en-US" sz="1400" b="0" dirty="0">
              <a:solidFill>
                <a:schemeClr val="bg1"/>
              </a:solidFill>
              <a:latin typeface="+mn-ea"/>
            </a:endParaRPr>
          </a:p>
        </p:txBody>
      </p:sp>
      <p:sp>
        <p:nvSpPr>
          <p:cNvPr id="55" name="Rectangle 5"/>
          <p:cNvSpPr>
            <a:spLocks noChangeArrowheads="1"/>
          </p:cNvSpPr>
          <p:nvPr/>
        </p:nvSpPr>
        <p:spPr bwMode="auto">
          <a:xfrm>
            <a:off x="416602" y="3201850"/>
            <a:ext cx="969875" cy="944360"/>
          </a:xfrm>
          <a:prstGeom prst="roundRect">
            <a:avLst>
              <a:gd name="adj" fmla="val 50000"/>
            </a:avLst>
          </a:prstGeom>
          <a:solidFill>
            <a:schemeClr val="accent2">
              <a:lumMod val="75000"/>
            </a:schemeClr>
          </a:solidFill>
          <a:ln w="9525" algn="ctr">
            <a:solidFill>
              <a:schemeClr val="bg1">
                <a:lumMod val="50000"/>
              </a:schemeClr>
            </a:solidFill>
            <a:miter lim="800000"/>
            <a:headEnd/>
            <a:tailEnd/>
          </a:ln>
        </p:spPr>
        <p:txBody>
          <a:bodyPr wrap="none" anchor="ctr"/>
          <a:lstStyle/>
          <a:p>
            <a:pPr algn="ctr"/>
            <a:r>
              <a:rPr lang="ko-KR" altLang="en-US" sz="1600" b="0">
                <a:solidFill>
                  <a:schemeClr val="bg2"/>
                </a:solidFill>
                <a:latin typeface="+mj-ea"/>
                <a:ea typeface="+mj-ea"/>
              </a:rPr>
              <a:t>제</a:t>
            </a:r>
            <a:r>
              <a:rPr lang="en-US" altLang="ko-KR" sz="1600" b="0" dirty="0">
                <a:solidFill>
                  <a:schemeClr val="bg2"/>
                </a:solidFill>
                <a:latin typeface="+mj-ea"/>
                <a:ea typeface="+mj-ea"/>
              </a:rPr>
              <a:t>34</a:t>
            </a:r>
            <a:r>
              <a:rPr lang="ko-KR" altLang="en-US" sz="1600" b="0" dirty="0">
                <a:solidFill>
                  <a:schemeClr val="bg2"/>
                </a:solidFill>
                <a:latin typeface="+mj-ea"/>
                <a:ea typeface="+mj-ea"/>
              </a:rPr>
              <a:t>조</a:t>
            </a:r>
          </a:p>
        </p:txBody>
      </p:sp>
      <p:sp>
        <p:nvSpPr>
          <p:cNvPr id="56" name="Rectangle 5"/>
          <p:cNvSpPr>
            <a:spLocks noChangeArrowheads="1"/>
          </p:cNvSpPr>
          <p:nvPr/>
        </p:nvSpPr>
        <p:spPr bwMode="auto">
          <a:xfrm>
            <a:off x="416602" y="5165734"/>
            <a:ext cx="969875" cy="944360"/>
          </a:xfrm>
          <a:prstGeom prst="roundRect">
            <a:avLst>
              <a:gd name="adj" fmla="val 50000"/>
            </a:avLst>
          </a:prstGeom>
          <a:solidFill>
            <a:schemeClr val="accent2">
              <a:lumMod val="75000"/>
            </a:schemeClr>
          </a:solidFill>
          <a:ln w="9525" algn="ctr">
            <a:solidFill>
              <a:schemeClr val="bg1">
                <a:lumMod val="50000"/>
              </a:schemeClr>
            </a:solidFill>
            <a:miter lim="800000"/>
            <a:headEnd/>
            <a:tailEnd/>
          </a:ln>
        </p:spPr>
        <p:txBody>
          <a:bodyPr wrap="none" anchor="ctr"/>
          <a:lstStyle/>
          <a:p>
            <a:pPr algn="ctr"/>
            <a:r>
              <a:rPr lang="ko-KR" altLang="en-US" sz="1600" b="0" dirty="0">
                <a:solidFill>
                  <a:schemeClr val="bg2"/>
                </a:solidFill>
                <a:latin typeface="+mj-ea"/>
                <a:ea typeface="+mj-ea"/>
              </a:rPr>
              <a:t>제</a:t>
            </a:r>
            <a:r>
              <a:rPr lang="en-US" altLang="ko-KR" sz="1600" b="0" dirty="0">
                <a:solidFill>
                  <a:schemeClr val="bg2"/>
                </a:solidFill>
                <a:latin typeface="+mj-ea"/>
                <a:ea typeface="+mj-ea"/>
              </a:rPr>
              <a:t>35</a:t>
            </a:r>
            <a:r>
              <a:rPr lang="ko-KR" altLang="en-US" sz="1600" b="0" dirty="0">
                <a:solidFill>
                  <a:schemeClr val="bg2"/>
                </a:solidFill>
                <a:latin typeface="+mj-ea"/>
                <a:ea typeface="+mj-ea"/>
              </a:rPr>
              <a:t>조</a:t>
            </a:r>
          </a:p>
        </p:txBody>
      </p:sp>
      <p:sp>
        <p:nvSpPr>
          <p:cNvPr id="2" name="슬라이드 번호 개체 틀 1"/>
          <p:cNvSpPr>
            <a:spLocks noGrp="1"/>
          </p:cNvSpPr>
          <p:nvPr>
            <p:ph type="sldNum" sz="quarter" idx="12"/>
          </p:nvPr>
        </p:nvSpPr>
        <p:spPr/>
        <p:txBody>
          <a:bodyPr/>
          <a:lstStyle/>
          <a:p>
            <a:r>
              <a:rPr lang="en-US" altLang="ko-KR"/>
              <a:t>156</a:t>
            </a:r>
            <a:endParaRPr lang="ko-KR" altLang="en-US"/>
          </a:p>
        </p:txBody>
      </p:sp>
    </p:spTree>
    <p:extLst>
      <p:ext uri="{BB962C8B-B14F-4D97-AF65-F5344CB8AC3E}">
        <p14:creationId xmlns:p14="http://schemas.microsoft.com/office/powerpoint/2010/main" val="573531360"/>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34</a:t>
            </a:r>
            <a:r>
              <a:rPr lang="ko-KR" altLang="en-US" dirty="0"/>
              <a:t>조</a:t>
            </a:r>
            <a:r>
              <a:rPr lang="en-US" altLang="ko-KR" dirty="0"/>
              <a:t>, </a:t>
            </a:r>
            <a:r>
              <a:rPr lang="ko-KR" altLang="en-US" dirty="0"/>
              <a:t>제</a:t>
            </a:r>
            <a:r>
              <a:rPr lang="en-US" altLang="ko-KR" dirty="0"/>
              <a:t>35</a:t>
            </a:r>
            <a:r>
              <a:rPr lang="ko-KR" altLang="en-US" dirty="0"/>
              <a:t>조</a:t>
            </a:r>
          </a:p>
        </p:txBody>
      </p:sp>
      <p:sp>
        <p:nvSpPr>
          <p:cNvPr id="4" name="텍스트 개체 틀 3"/>
          <p:cNvSpPr>
            <a:spLocks noGrp="1"/>
          </p:cNvSpPr>
          <p:nvPr>
            <p:ph type="body" sz="quarter" idx="13"/>
          </p:nvPr>
        </p:nvSpPr>
        <p:spPr/>
        <p:txBody>
          <a:bodyPr/>
          <a:lstStyle/>
          <a:p>
            <a:r>
              <a:rPr lang="ko-KR" altLang="en-US" dirty="0"/>
              <a:t>객체적 요건</a:t>
            </a:r>
          </a:p>
        </p:txBody>
      </p:sp>
      <p:sp>
        <p:nvSpPr>
          <p:cNvPr id="26" name="TextBox 25"/>
          <p:cNvSpPr txBox="1"/>
          <p:nvPr/>
        </p:nvSpPr>
        <p:spPr>
          <a:xfrm>
            <a:off x="77875" y="986046"/>
            <a:ext cx="11936323" cy="954107"/>
          </a:xfrm>
          <a:prstGeom prst="rect">
            <a:avLst/>
          </a:prstGeom>
          <a:noFill/>
        </p:spPr>
        <p:txBody>
          <a:bodyPr wrap="square" rtlCol="0">
            <a:spAutoFit/>
          </a:bodyPr>
          <a:lstStyle/>
          <a:p>
            <a:pPr fontAlgn="base"/>
            <a:r>
              <a:rPr lang="ko-KR" altLang="en-US" sz="1400" dirty="0">
                <a:highlight>
                  <a:srgbClr val="FFFF00"/>
                </a:highlight>
              </a:rPr>
              <a:t>정당한 권리자 출원의 명세서 또는 도면에 기재된 발명</a:t>
            </a:r>
            <a:r>
              <a:rPr lang="ko-KR" altLang="en-US" sz="1400" dirty="0">
                <a:solidFill>
                  <a:schemeClr val="tx2"/>
                </a:solidFill>
              </a:rPr>
              <a:t>이 </a:t>
            </a:r>
            <a:r>
              <a:rPr lang="ko-KR" altLang="en-US" sz="1400" dirty="0" err="1">
                <a:solidFill>
                  <a:schemeClr val="tx2"/>
                </a:solidFill>
              </a:rPr>
              <a:t>무권리자</a:t>
            </a:r>
            <a:r>
              <a:rPr lang="ko-KR" altLang="en-US" sz="1400" dirty="0">
                <a:solidFill>
                  <a:schemeClr val="tx2"/>
                </a:solidFill>
              </a:rPr>
              <a:t> 출원의 발명 범위에 포함되어 있어야 한다</a:t>
            </a:r>
            <a:r>
              <a:rPr lang="en-US" altLang="ko-KR" sz="1400" dirty="0">
                <a:solidFill>
                  <a:schemeClr val="tx2"/>
                </a:solidFill>
              </a:rPr>
              <a:t>. </a:t>
            </a:r>
            <a:r>
              <a:rPr lang="ko-KR" altLang="en-US" sz="1400" dirty="0">
                <a:solidFill>
                  <a:schemeClr val="tx2"/>
                </a:solidFill>
              </a:rPr>
              <a:t>「</a:t>
            </a:r>
            <a:r>
              <a:rPr lang="ko-KR" altLang="en-US" sz="1400" dirty="0" err="1">
                <a:solidFill>
                  <a:schemeClr val="tx2"/>
                </a:solidFill>
              </a:rPr>
              <a:t>무권리자</a:t>
            </a:r>
            <a:r>
              <a:rPr lang="ko-KR" altLang="en-US" sz="1400" dirty="0">
                <a:solidFill>
                  <a:schemeClr val="tx2"/>
                </a:solidFill>
              </a:rPr>
              <a:t> 출원의 발명 </a:t>
            </a:r>
            <a:r>
              <a:rPr lang="ko-KR" altLang="en-US" sz="1400" dirty="0" err="1">
                <a:solidFill>
                  <a:schemeClr val="tx2"/>
                </a:solidFill>
              </a:rPr>
              <a:t>범위」란</a:t>
            </a:r>
            <a:r>
              <a:rPr lang="ko-KR" altLang="en-US" sz="1400" dirty="0">
                <a:solidFill>
                  <a:schemeClr val="tx2"/>
                </a:solidFill>
              </a:rPr>
              <a:t> </a:t>
            </a:r>
            <a:r>
              <a:rPr lang="ko-KR" altLang="en-US" sz="1400" dirty="0" err="1">
                <a:solidFill>
                  <a:schemeClr val="tx2"/>
                </a:solidFill>
              </a:rPr>
              <a:t>무권리자의</a:t>
            </a:r>
            <a:r>
              <a:rPr lang="ko-KR" altLang="en-US" sz="1400" dirty="0">
                <a:solidFill>
                  <a:schemeClr val="tx2"/>
                </a:solidFill>
              </a:rPr>
              <a:t> 보정 여부에 따라 발명 범위가 달라지는 것은 타당하지 않기 </a:t>
            </a:r>
            <a:r>
              <a:rPr lang="ko-KR" altLang="en-US" sz="1400" dirty="0"/>
              <a:t>때문에</a:t>
            </a:r>
            <a:r>
              <a:rPr lang="ko-KR" altLang="en-US" sz="1400" dirty="0">
                <a:solidFill>
                  <a:srgbClr val="FF0000"/>
                </a:solidFill>
              </a:rPr>
              <a:t> </a:t>
            </a:r>
            <a:r>
              <a:rPr lang="ko-KR" altLang="en-US" sz="1400" dirty="0" err="1">
                <a:highlight>
                  <a:srgbClr val="FFFF00"/>
                </a:highlight>
              </a:rPr>
              <a:t>무권리자가</a:t>
            </a:r>
            <a:r>
              <a:rPr lang="ko-KR" altLang="en-US" sz="1400" dirty="0">
                <a:highlight>
                  <a:srgbClr val="FFFF00"/>
                </a:highlight>
              </a:rPr>
              <a:t> 출원할 때 최초로 첨부한 명세서 또는 도면에 기재된 사항의 범위</a:t>
            </a:r>
            <a:r>
              <a:rPr lang="ko-KR" altLang="en-US" sz="1400" dirty="0">
                <a:solidFill>
                  <a:schemeClr val="tx2"/>
                </a:solidFill>
              </a:rPr>
              <a:t>로 해석함이 타당하다</a:t>
            </a:r>
            <a:r>
              <a:rPr lang="en-US" altLang="ko-KR" sz="1400" dirty="0">
                <a:solidFill>
                  <a:schemeClr val="tx2"/>
                </a:solidFill>
              </a:rPr>
              <a:t>. </a:t>
            </a:r>
            <a:r>
              <a:rPr lang="ko-KR" altLang="en-US" sz="1400" dirty="0">
                <a:solidFill>
                  <a:schemeClr val="tx2"/>
                </a:solidFill>
              </a:rPr>
              <a:t>「최초로 첨부한 명세서 또는 도면에 기재된 </a:t>
            </a:r>
            <a:r>
              <a:rPr lang="ko-KR" altLang="en-US" sz="1400" dirty="0" err="1">
                <a:solidFill>
                  <a:schemeClr val="tx2"/>
                </a:solidFill>
              </a:rPr>
              <a:t>사항」은</a:t>
            </a:r>
            <a:r>
              <a:rPr lang="ko-KR" altLang="en-US" sz="1400" dirty="0">
                <a:solidFill>
                  <a:schemeClr val="tx2"/>
                </a:solidFill>
              </a:rPr>
              <a:t> 최초 명세서 또는 도면에 명시적으로 기재되어 있는 사항이거나 또는 명시적인 기재가 없더라도 통상의 기술자가 출원시의 </a:t>
            </a:r>
            <a:r>
              <a:rPr lang="ko-KR" altLang="en-US" sz="1400" dirty="0" err="1">
                <a:solidFill>
                  <a:schemeClr val="tx2"/>
                </a:solidFill>
              </a:rPr>
              <a:t>기술상식에</a:t>
            </a:r>
            <a:r>
              <a:rPr lang="ko-KR" altLang="en-US" sz="1400" dirty="0">
                <a:solidFill>
                  <a:schemeClr val="tx2"/>
                </a:solidFill>
              </a:rPr>
              <a:t> 비추어 최초 명세서 등에 기재되어 있는 것과 마찬가지라고 이해할 수 있는 사항을 말한다</a:t>
            </a:r>
            <a:r>
              <a:rPr lang="en-US" altLang="ko-KR" sz="1400" dirty="0">
                <a:solidFill>
                  <a:schemeClr val="tx2"/>
                </a:solidFill>
              </a:rPr>
              <a:t>. </a:t>
            </a:r>
            <a:endParaRPr lang="en-US" altLang="ko-KR" sz="1400" dirty="0">
              <a:solidFill>
                <a:srgbClr val="FF0000"/>
              </a:solidFill>
            </a:endParaRPr>
          </a:p>
        </p:txBody>
      </p:sp>
      <p:cxnSp>
        <p:nvCxnSpPr>
          <p:cNvPr id="27" name="직선 연결선 26"/>
          <p:cNvCxnSpPr/>
          <p:nvPr/>
        </p:nvCxnSpPr>
        <p:spPr>
          <a:xfrm>
            <a:off x="0" y="194015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직사각형 1"/>
          <p:cNvSpPr/>
          <p:nvPr/>
        </p:nvSpPr>
        <p:spPr>
          <a:xfrm>
            <a:off x="485775" y="2113210"/>
            <a:ext cx="3511550" cy="9144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dirty="0">
                <a:solidFill>
                  <a:schemeClr val="tx1"/>
                </a:solidFill>
              </a:rPr>
              <a:t>무권리자출원의 </a:t>
            </a:r>
            <a:endParaRPr lang="en-US" altLang="ko-KR" sz="2000" dirty="0">
              <a:solidFill>
                <a:schemeClr val="tx1"/>
              </a:solidFill>
            </a:endParaRPr>
          </a:p>
          <a:p>
            <a:pPr algn="ctr"/>
            <a:r>
              <a:rPr lang="ko-KR" altLang="en-US" sz="2000" dirty="0">
                <a:solidFill>
                  <a:schemeClr val="tx1"/>
                </a:solidFill>
              </a:rPr>
              <a:t>최초 명세서</a:t>
            </a:r>
            <a:r>
              <a:rPr lang="en-US" altLang="ko-KR" sz="2000" dirty="0">
                <a:solidFill>
                  <a:schemeClr val="tx1"/>
                </a:solidFill>
              </a:rPr>
              <a:t>,</a:t>
            </a:r>
            <a:r>
              <a:rPr lang="ko-KR" altLang="en-US" sz="2000" dirty="0">
                <a:solidFill>
                  <a:schemeClr val="tx1"/>
                </a:solidFill>
              </a:rPr>
              <a:t> 도면</a:t>
            </a:r>
            <a:endParaRPr lang="en-US" altLang="ko-KR" sz="2000" dirty="0">
              <a:solidFill>
                <a:schemeClr val="tx1"/>
              </a:solidFill>
            </a:endParaRPr>
          </a:p>
          <a:p>
            <a:pPr algn="ctr"/>
            <a:r>
              <a:rPr lang="en-US" altLang="ko-KR" sz="1600" dirty="0">
                <a:solidFill>
                  <a:schemeClr val="tx1"/>
                </a:solidFill>
              </a:rPr>
              <a:t>(</a:t>
            </a:r>
            <a:r>
              <a:rPr lang="ko-KR" altLang="en-US" sz="1600" dirty="0">
                <a:solidFill>
                  <a:schemeClr val="tx1"/>
                </a:solidFill>
              </a:rPr>
              <a:t>보정과 상관없이 </a:t>
            </a:r>
            <a:r>
              <a:rPr lang="ko-KR" altLang="en-US" sz="1600" dirty="0" err="1">
                <a:solidFill>
                  <a:schemeClr val="tx1"/>
                </a:solidFill>
              </a:rPr>
              <a:t>판단대상</a:t>
            </a:r>
            <a:r>
              <a:rPr lang="ko-KR" altLang="en-US" sz="1600" dirty="0">
                <a:solidFill>
                  <a:schemeClr val="tx1"/>
                </a:solidFill>
              </a:rPr>
              <a:t> 고정</a:t>
            </a:r>
            <a:r>
              <a:rPr lang="en-US" altLang="ko-KR" sz="1600" dirty="0">
                <a:solidFill>
                  <a:schemeClr val="tx1"/>
                </a:solidFill>
              </a:rPr>
              <a:t>)</a:t>
            </a:r>
            <a:endParaRPr lang="ko-KR" altLang="en-US" sz="1600" dirty="0">
              <a:solidFill>
                <a:schemeClr val="tx1"/>
              </a:solidFill>
            </a:endParaRPr>
          </a:p>
        </p:txBody>
      </p:sp>
      <p:sp>
        <p:nvSpPr>
          <p:cNvPr id="25" name="직사각형 24"/>
          <p:cNvSpPr/>
          <p:nvPr/>
        </p:nvSpPr>
        <p:spPr>
          <a:xfrm>
            <a:off x="8096250" y="2113210"/>
            <a:ext cx="3619499" cy="9144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dirty="0">
                <a:solidFill>
                  <a:schemeClr val="tx1"/>
                </a:solidFill>
              </a:rPr>
              <a:t>정당한 권리자출원의 </a:t>
            </a:r>
            <a:endParaRPr lang="en-US" altLang="ko-KR" sz="2000" dirty="0">
              <a:solidFill>
                <a:schemeClr val="tx1"/>
              </a:solidFill>
            </a:endParaRPr>
          </a:p>
          <a:p>
            <a:pPr algn="ctr"/>
            <a:r>
              <a:rPr lang="ko-KR" altLang="en-US" sz="2000" dirty="0">
                <a:solidFill>
                  <a:schemeClr val="tx1"/>
                </a:solidFill>
              </a:rPr>
              <a:t>명세서</a:t>
            </a:r>
            <a:r>
              <a:rPr lang="en-US" altLang="ko-KR" sz="2000" dirty="0">
                <a:solidFill>
                  <a:schemeClr val="tx1"/>
                </a:solidFill>
              </a:rPr>
              <a:t>, </a:t>
            </a:r>
            <a:r>
              <a:rPr lang="ko-KR" altLang="en-US" sz="2000" dirty="0">
                <a:solidFill>
                  <a:schemeClr val="tx1"/>
                </a:solidFill>
              </a:rPr>
              <a:t>도면</a:t>
            </a:r>
            <a:endParaRPr lang="en-US" altLang="ko-KR" sz="2000" dirty="0">
              <a:solidFill>
                <a:schemeClr val="tx1"/>
              </a:solidFill>
            </a:endParaRPr>
          </a:p>
          <a:p>
            <a:pPr algn="ctr"/>
            <a:r>
              <a:rPr lang="en-US" altLang="ko-KR" sz="1600" dirty="0">
                <a:solidFill>
                  <a:schemeClr val="tx1"/>
                </a:solidFill>
              </a:rPr>
              <a:t>(</a:t>
            </a:r>
            <a:r>
              <a:rPr lang="ko-KR" altLang="en-US" sz="1600" dirty="0" err="1">
                <a:solidFill>
                  <a:schemeClr val="tx1"/>
                </a:solidFill>
              </a:rPr>
              <a:t>보정시</a:t>
            </a:r>
            <a:r>
              <a:rPr lang="ko-KR" altLang="en-US" sz="1600" dirty="0">
                <a:solidFill>
                  <a:schemeClr val="tx1"/>
                </a:solidFill>
              </a:rPr>
              <a:t> 보정 후 명세서</a:t>
            </a:r>
            <a:r>
              <a:rPr lang="en-US" altLang="ko-KR" sz="1600" dirty="0">
                <a:solidFill>
                  <a:schemeClr val="tx1"/>
                </a:solidFill>
              </a:rPr>
              <a:t>, </a:t>
            </a:r>
            <a:r>
              <a:rPr lang="ko-KR" altLang="en-US" sz="1600" dirty="0">
                <a:solidFill>
                  <a:schemeClr val="tx1"/>
                </a:solidFill>
              </a:rPr>
              <a:t>도면</a:t>
            </a:r>
            <a:r>
              <a:rPr lang="en-US" altLang="ko-KR" sz="1600" dirty="0">
                <a:solidFill>
                  <a:schemeClr val="tx1"/>
                </a:solidFill>
              </a:rPr>
              <a:t>)</a:t>
            </a:r>
            <a:endParaRPr lang="ko-KR" altLang="en-US" sz="1600" dirty="0">
              <a:solidFill>
                <a:schemeClr val="tx1"/>
              </a:solidFill>
            </a:endParaRPr>
          </a:p>
        </p:txBody>
      </p:sp>
      <p:cxnSp>
        <p:nvCxnSpPr>
          <p:cNvPr id="6" name="직선 화살표 연결선 5"/>
          <p:cNvCxnSpPr>
            <a:stCxn id="2" idx="3"/>
            <a:endCxn id="25" idx="1"/>
          </p:cNvCxnSpPr>
          <p:nvPr/>
        </p:nvCxnSpPr>
        <p:spPr>
          <a:xfrm>
            <a:off x="3997325" y="2570410"/>
            <a:ext cx="4098925" cy="0"/>
          </a:xfrm>
          <a:prstGeom prst="straightConnector1">
            <a:avLst/>
          </a:prstGeom>
          <a:ln w="381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4939568" y="2337257"/>
            <a:ext cx="2252540" cy="369332"/>
          </a:xfrm>
          <a:prstGeom prst="rect">
            <a:avLst/>
          </a:prstGeom>
          <a:solidFill>
            <a:schemeClr val="accent4"/>
          </a:solidFill>
        </p:spPr>
        <p:txBody>
          <a:bodyPr wrap="none" rtlCol="0">
            <a:spAutoFit/>
          </a:bodyPr>
          <a:lstStyle/>
          <a:p>
            <a:r>
              <a:rPr lang="ko-KR" altLang="en-US" dirty="0"/>
              <a:t>기재된 사항의 범위 내</a:t>
            </a:r>
          </a:p>
        </p:txBody>
      </p:sp>
      <p:sp>
        <p:nvSpPr>
          <p:cNvPr id="31" name="TextBox 30"/>
          <p:cNvSpPr txBox="1"/>
          <p:nvPr/>
        </p:nvSpPr>
        <p:spPr>
          <a:xfrm>
            <a:off x="4392851" y="2949267"/>
            <a:ext cx="3365024" cy="1077218"/>
          </a:xfrm>
          <a:prstGeom prst="rect">
            <a:avLst/>
          </a:prstGeom>
          <a:noFill/>
          <a:ln>
            <a:solidFill>
              <a:schemeClr val="bg1">
                <a:lumMod val="50000"/>
              </a:schemeClr>
            </a:solidFill>
          </a:ln>
        </p:spPr>
        <p:txBody>
          <a:bodyPr wrap="none" rtlCol="0">
            <a:spAutoFit/>
          </a:bodyPr>
          <a:lstStyle/>
          <a:p>
            <a:r>
              <a:rPr lang="ko-KR" altLang="en-US" sz="1600" dirty="0"/>
              <a:t>명시적 기재 또는  </a:t>
            </a:r>
            <a:endParaRPr lang="en-US" altLang="ko-KR" sz="1600" dirty="0"/>
          </a:p>
          <a:p>
            <a:r>
              <a:rPr lang="ko-KR" altLang="en-US" sz="1600" dirty="0"/>
              <a:t>통상의 기술자가 출원시의 </a:t>
            </a:r>
            <a:r>
              <a:rPr lang="ko-KR" altLang="en-US" sz="1600" dirty="0" err="1"/>
              <a:t>기술상식에</a:t>
            </a:r>
            <a:r>
              <a:rPr lang="ko-KR" altLang="en-US" sz="1600" dirty="0"/>
              <a:t> </a:t>
            </a:r>
            <a:endParaRPr lang="en-US" altLang="ko-KR" sz="1600" dirty="0"/>
          </a:p>
          <a:p>
            <a:r>
              <a:rPr lang="ko-KR" altLang="en-US" sz="1600" dirty="0"/>
              <a:t>비추어 기재되어 있는 것과 </a:t>
            </a:r>
            <a:endParaRPr lang="en-US" altLang="ko-KR" sz="1600" dirty="0"/>
          </a:p>
          <a:p>
            <a:r>
              <a:rPr lang="ko-KR" altLang="en-US" sz="1600" dirty="0"/>
              <a:t>마찬가지라고 이해</a:t>
            </a:r>
          </a:p>
        </p:txBody>
      </p:sp>
      <p:cxnSp>
        <p:nvCxnSpPr>
          <p:cNvPr id="12" name="직선 화살표 연결선 11"/>
          <p:cNvCxnSpPr>
            <a:stCxn id="31" idx="0"/>
            <a:endCxn id="7" idx="2"/>
          </p:cNvCxnSpPr>
          <p:nvPr/>
        </p:nvCxnSpPr>
        <p:spPr>
          <a:xfrm flipH="1" flipV="1">
            <a:off x="6065838" y="2706589"/>
            <a:ext cx="9525" cy="24267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9" name="직선 화살표 연결선 48"/>
          <p:cNvCxnSpPr/>
          <p:nvPr/>
        </p:nvCxnSpPr>
        <p:spPr>
          <a:xfrm>
            <a:off x="811564" y="5348004"/>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1" name="Rectangle 14"/>
          <p:cNvSpPr>
            <a:spLocks noChangeArrowheads="1"/>
          </p:cNvSpPr>
          <p:nvPr/>
        </p:nvSpPr>
        <p:spPr bwMode="auto">
          <a:xfrm>
            <a:off x="1540559" y="5160488"/>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무권리자</a:t>
            </a:r>
            <a:r>
              <a:rPr lang="ko-KR" altLang="en-US" sz="1400" dirty="0">
                <a:latin typeface="+mn-ea"/>
              </a:rPr>
              <a:t>출원</a:t>
            </a:r>
            <a:r>
              <a:rPr lang="en-US" altLang="ko-KR" sz="1400" dirty="0">
                <a:latin typeface="+mn-ea"/>
              </a:rPr>
              <a:t>(X)</a:t>
            </a:r>
            <a:endParaRPr lang="ko-KR" altLang="en-US" sz="1400" b="0" dirty="0">
              <a:latin typeface="+mn-ea"/>
            </a:endParaRPr>
          </a:p>
        </p:txBody>
      </p:sp>
      <p:sp>
        <p:nvSpPr>
          <p:cNvPr id="57" name="직사각형 56"/>
          <p:cNvSpPr/>
          <p:nvPr/>
        </p:nvSpPr>
        <p:spPr>
          <a:xfrm>
            <a:off x="1886402" y="4389352"/>
            <a:ext cx="932256" cy="306001"/>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200" dirty="0">
              <a:solidFill>
                <a:schemeClr val="tx1"/>
              </a:solidFill>
            </a:endParaRPr>
          </a:p>
        </p:txBody>
      </p:sp>
      <p:sp>
        <p:nvSpPr>
          <p:cNvPr id="58" name="직사각형 57"/>
          <p:cNvSpPr/>
          <p:nvPr/>
        </p:nvSpPr>
        <p:spPr>
          <a:xfrm>
            <a:off x="1886402" y="4695353"/>
            <a:ext cx="932256" cy="306001"/>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200" dirty="0">
              <a:solidFill>
                <a:schemeClr val="tx1"/>
              </a:solidFill>
            </a:endParaRPr>
          </a:p>
        </p:txBody>
      </p:sp>
      <p:sp>
        <p:nvSpPr>
          <p:cNvPr id="60" name="직사각형 59"/>
          <p:cNvSpPr/>
          <p:nvPr/>
        </p:nvSpPr>
        <p:spPr>
          <a:xfrm>
            <a:off x="3926723" y="4389352"/>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61" name="직사각형 60"/>
          <p:cNvSpPr/>
          <p:nvPr/>
        </p:nvSpPr>
        <p:spPr>
          <a:xfrm>
            <a:off x="3926723" y="4695354"/>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200" dirty="0">
              <a:solidFill>
                <a:schemeClr val="tx1"/>
              </a:solidFill>
            </a:endParaRPr>
          </a:p>
        </p:txBody>
      </p:sp>
      <p:sp>
        <p:nvSpPr>
          <p:cNvPr id="59" name="Rectangle 14"/>
          <p:cNvSpPr>
            <a:spLocks noChangeArrowheads="1"/>
          </p:cNvSpPr>
          <p:nvPr/>
        </p:nvSpPr>
        <p:spPr bwMode="auto">
          <a:xfrm>
            <a:off x="3624459" y="5160488"/>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보정</a:t>
            </a:r>
            <a:r>
              <a:rPr lang="en-US" altLang="ko-KR" sz="1400" dirty="0">
                <a:latin typeface="+mn-ea"/>
              </a:rPr>
              <a:t>(X)</a:t>
            </a:r>
            <a:endParaRPr lang="ko-KR" altLang="en-US" sz="1400" b="0" dirty="0">
              <a:latin typeface="+mn-ea"/>
            </a:endParaRPr>
          </a:p>
        </p:txBody>
      </p:sp>
      <p:sp>
        <p:nvSpPr>
          <p:cNvPr id="65" name="직사각형 64"/>
          <p:cNvSpPr/>
          <p:nvPr/>
        </p:nvSpPr>
        <p:spPr>
          <a:xfrm>
            <a:off x="6641598" y="5707009"/>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C</a:t>
            </a:r>
            <a:endParaRPr lang="ko-KR" altLang="en-US" sz="1200" dirty="0">
              <a:solidFill>
                <a:schemeClr val="tx1"/>
              </a:solidFill>
            </a:endParaRPr>
          </a:p>
        </p:txBody>
      </p:sp>
      <p:sp>
        <p:nvSpPr>
          <p:cNvPr id="66" name="직사각형 65"/>
          <p:cNvSpPr/>
          <p:nvPr/>
        </p:nvSpPr>
        <p:spPr>
          <a:xfrm>
            <a:off x="6641598" y="6013011"/>
            <a:ext cx="932256" cy="306002"/>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C</a:t>
            </a:r>
            <a:endParaRPr lang="ko-KR" altLang="en-US" sz="1200" dirty="0">
              <a:solidFill>
                <a:schemeClr val="tx1"/>
              </a:solidFill>
            </a:endParaRPr>
          </a:p>
        </p:txBody>
      </p:sp>
      <p:sp>
        <p:nvSpPr>
          <p:cNvPr id="67" name="Rectangle 14"/>
          <p:cNvSpPr>
            <a:spLocks noChangeArrowheads="1"/>
          </p:cNvSpPr>
          <p:nvPr/>
        </p:nvSpPr>
        <p:spPr bwMode="auto">
          <a:xfrm>
            <a:off x="6162884" y="5160488"/>
            <a:ext cx="1771442" cy="359005"/>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정당한 </a:t>
            </a:r>
            <a:r>
              <a:rPr lang="ko-KR" altLang="en-US" sz="1400" dirty="0" err="1">
                <a:latin typeface="+mn-ea"/>
              </a:rPr>
              <a:t>권리자출원</a:t>
            </a:r>
            <a:r>
              <a:rPr lang="en-US" altLang="ko-KR" sz="1400" dirty="0">
                <a:latin typeface="+mn-ea"/>
              </a:rPr>
              <a:t>(Y)</a:t>
            </a:r>
            <a:endParaRPr lang="ko-KR" altLang="en-US" sz="1400" b="0" dirty="0">
              <a:latin typeface="+mn-ea"/>
            </a:endParaRPr>
          </a:p>
        </p:txBody>
      </p:sp>
      <p:sp>
        <p:nvSpPr>
          <p:cNvPr id="77" name="직사각형 76"/>
          <p:cNvSpPr/>
          <p:nvPr/>
        </p:nvSpPr>
        <p:spPr>
          <a:xfrm>
            <a:off x="9250817" y="5707009"/>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a:t>
            </a:r>
            <a:endParaRPr lang="ko-KR" altLang="en-US" sz="1200" dirty="0">
              <a:solidFill>
                <a:schemeClr val="tx1"/>
              </a:solidFill>
            </a:endParaRPr>
          </a:p>
        </p:txBody>
      </p:sp>
      <p:sp>
        <p:nvSpPr>
          <p:cNvPr id="78" name="직사각형 77"/>
          <p:cNvSpPr/>
          <p:nvPr/>
        </p:nvSpPr>
        <p:spPr>
          <a:xfrm>
            <a:off x="9250817" y="6013011"/>
            <a:ext cx="932256" cy="306002"/>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200" dirty="0">
              <a:solidFill>
                <a:schemeClr val="tx1"/>
              </a:solidFill>
            </a:endParaRPr>
          </a:p>
        </p:txBody>
      </p:sp>
      <p:sp>
        <p:nvSpPr>
          <p:cNvPr id="79" name="Rectangle 14"/>
          <p:cNvSpPr>
            <a:spLocks noChangeArrowheads="1"/>
          </p:cNvSpPr>
          <p:nvPr/>
        </p:nvSpPr>
        <p:spPr bwMode="auto">
          <a:xfrm>
            <a:off x="8948553" y="5160488"/>
            <a:ext cx="1418541" cy="359005"/>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보정</a:t>
            </a:r>
            <a:r>
              <a:rPr lang="en-US" altLang="ko-KR" sz="1400" dirty="0">
                <a:latin typeface="+mn-ea"/>
              </a:rPr>
              <a:t>(Y)</a:t>
            </a:r>
            <a:endParaRPr lang="ko-KR" altLang="en-US" sz="1400" b="0" dirty="0">
              <a:latin typeface="+mn-ea"/>
            </a:endParaRPr>
          </a:p>
        </p:txBody>
      </p:sp>
      <p:cxnSp>
        <p:nvCxnSpPr>
          <p:cNvPr id="80" name="직선 연결선 79"/>
          <p:cNvCxnSpPr/>
          <p:nvPr/>
        </p:nvCxnSpPr>
        <p:spPr>
          <a:xfrm flipH="1" flipV="1">
            <a:off x="280574" y="4181475"/>
            <a:ext cx="11539951" cy="952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직선 화살표 연결선 21"/>
          <p:cNvCxnSpPr>
            <a:stCxn id="58" idx="3"/>
            <a:endCxn id="66" idx="1"/>
          </p:cNvCxnSpPr>
          <p:nvPr/>
        </p:nvCxnSpPr>
        <p:spPr>
          <a:xfrm>
            <a:off x="2818658" y="4848354"/>
            <a:ext cx="3822940" cy="1317658"/>
          </a:xfrm>
          <a:prstGeom prst="straightConnector1">
            <a:avLst/>
          </a:prstGeom>
          <a:ln w="28575">
            <a:solidFill>
              <a:srgbClr val="FF0000"/>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1" name="직선 화살표 연결선 80"/>
          <p:cNvCxnSpPr>
            <a:stCxn id="58" idx="3"/>
            <a:endCxn id="78" idx="1"/>
          </p:cNvCxnSpPr>
          <p:nvPr/>
        </p:nvCxnSpPr>
        <p:spPr>
          <a:xfrm>
            <a:off x="2818658" y="4848354"/>
            <a:ext cx="6432159" cy="1317658"/>
          </a:xfrm>
          <a:prstGeom prst="straightConnector1">
            <a:avLst/>
          </a:prstGeom>
          <a:ln w="28575">
            <a:solidFill>
              <a:srgbClr val="FF0000"/>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sp>
        <p:nvSpPr>
          <p:cNvPr id="82" name="직사각형 81"/>
          <p:cNvSpPr/>
          <p:nvPr/>
        </p:nvSpPr>
        <p:spPr>
          <a:xfrm>
            <a:off x="5471707" y="5662989"/>
            <a:ext cx="543739" cy="523220"/>
          </a:xfrm>
          <a:prstGeom prst="rect">
            <a:avLst/>
          </a:prstGeom>
        </p:spPr>
        <p:txBody>
          <a:bodyPr wrap="none">
            <a:spAutoFit/>
          </a:bodyPr>
          <a:lstStyle/>
          <a:p>
            <a:pPr fontAlgn="base"/>
            <a:r>
              <a:rPr lang="ko-KR" altLang="en-US" sz="2800" dirty="0">
                <a:solidFill>
                  <a:srgbClr val="FF0000"/>
                </a:solidFill>
              </a:rPr>
              <a:t>❶</a:t>
            </a:r>
          </a:p>
        </p:txBody>
      </p:sp>
      <p:sp>
        <p:nvSpPr>
          <p:cNvPr id="83" name="직사각형 82"/>
          <p:cNvSpPr/>
          <p:nvPr/>
        </p:nvSpPr>
        <p:spPr>
          <a:xfrm>
            <a:off x="8053991" y="5739933"/>
            <a:ext cx="543739" cy="523220"/>
          </a:xfrm>
          <a:prstGeom prst="rect">
            <a:avLst/>
          </a:prstGeom>
        </p:spPr>
        <p:txBody>
          <a:bodyPr wrap="none">
            <a:spAutoFit/>
          </a:bodyPr>
          <a:lstStyle/>
          <a:p>
            <a:pPr fontAlgn="base"/>
            <a:r>
              <a:rPr lang="ko-KR" altLang="en-US" sz="2800" dirty="0">
                <a:solidFill>
                  <a:srgbClr val="FF0000"/>
                </a:solidFill>
              </a:rPr>
              <a:t>❷</a:t>
            </a:r>
          </a:p>
        </p:txBody>
      </p:sp>
      <p:sp>
        <p:nvSpPr>
          <p:cNvPr id="5" name="슬라이드 번호 개체 틀 4"/>
          <p:cNvSpPr>
            <a:spLocks noGrp="1"/>
          </p:cNvSpPr>
          <p:nvPr>
            <p:ph type="sldNum" sz="quarter" idx="12"/>
          </p:nvPr>
        </p:nvSpPr>
        <p:spPr/>
        <p:txBody>
          <a:bodyPr/>
          <a:lstStyle/>
          <a:p>
            <a:r>
              <a:rPr lang="en-US" altLang="ko-KR"/>
              <a:t>157</a:t>
            </a:r>
            <a:endParaRPr lang="ko-KR" altLang="en-US"/>
          </a:p>
        </p:txBody>
      </p:sp>
    </p:spTree>
    <p:extLst>
      <p:ext uri="{BB962C8B-B14F-4D97-AF65-F5344CB8AC3E}">
        <p14:creationId xmlns:p14="http://schemas.microsoft.com/office/powerpoint/2010/main" val="2438689401"/>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2" name="직선 화살표 연결선 31"/>
          <p:cNvCxnSpPr>
            <a:cxnSpLocks/>
            <a:stCxn id="31" idx="0"/>
          </p:cNvCxnSpPr>
          <p:nvPr/>
        </p:nvCxnSpPr>
        <p:spPr>
          <a:xfrm flipV="1">
            <a:off x="4997747" y="5074551"/>
            <a:ext cx="0" cy="744878"/>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34</a:t>
            </a:r>
            <a:r>
              <a:rPr lang="ko-KR" altLang="en-US" dirty="0"/>
              <a:t>조</a:t>
            </a:r>
            <a:r>
              <a:rPr lang="en-US" altLang="ko-KR" dirty="0"/>
              <a:t>, </a:t>
            </a:r>
            <a:r>
              <a:rPr lang="ko-KR" altLang="en-US" dirty="0"/>
              <a:t>제</a:t>
            </a:r>
            <a:r>
              <a:rPr lang="en-US" altLang="ko-KR" dirty="0"/>
              <a:t>35</a:t>
            </a:r>
            <a:r>
              <a:rPr lang="ko-KR" altLang="en-US" dirty="0"/>
              <a:t>조</a:t>
            </a:r>
          </a:p>
        </p:txBody>
      </p:sp>
      <p:sp>
        <p:nvSpPr>
          <p:cNvPr id="4" name="텍스트 개체 틀 3"/>
          <p:cNvSpPr>
            <a:spLocks noGrp="1"/>
          </p:cNvSpPr>
          <p:nvPr>
            <p:ph type="body" sz="quarter" idx="13"/>
          </p:nvPr>
        </p:nvSpPr>
        <p:spPr/>
        <p:txBody>
          <a:bodyPr/>
          <a:lstStyle/>
          <a:p>
            <a:r>
              <a:rPr lang="ko-KR" altLang="en-US" dirty="0"/>
              <a:t>소급효 인정에 따른 </a:t>
            </a:r>
            <a:r>
              <a:rPr lang="ko-KR" altLang="en-US" dirty="0" err="1"/>
              <a:t>존속기간과</a:t>
            </a:r>
            <a:r>
              <a:rPr lang="ko-KR" altLang="en-US" dirty="0"/>
              <a:t> 심사청구기간</a:t>
            </a:r>
          </a:p>
        </p:txBody>
      </p:sp>
      <p:sp>
        <p:nvSpPr>
          <p:cNvPr id="26" name="TextBox 25"/>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정당한 권리자의 특허출원에 대하여 법 제</a:t>
            </a:r>
            <a:r>
              <a:rPr lang="en-US" altLang="ko-KR" sz="1400" dirty="0">
                <a:solidFill>
                  <a:schemeClr val="tx2"/>
                </a:solidFill>
              </a:rPr>
              <a:t>34</a:t>
            </a:r>
            <a:r>
              <a:rPr lang="ko-KR" altLang="en-US" sz="1400" dirty="0">
                <a:solidFill>
                  <a:schemeClr val="tx2"/>
                </a:solidFill>
              </a:rPr>
              <a:t>조 및 제</a:t>
            </a:r>
            <a:r>
              <a:rPr lang="en-US" altLang="ko-KR" sz="1400" dirty="0">
                <a:solidFill>
                  <a:schemeClr val="tx2"/>
                </a:solidFill>
              </a:rPr>
              <a:t>35</a:t>
            </a:r>
            <a:r>
              <a:rPr lang="ko-KR" altLang="en-US" sz="1400" dirty="0">
                <a:solidFill>
                  <a:schemeClr val="tx2"/>
                </a:solidFill>
              </a:rPr>
              <a:t>조에 따라 </a:t>
            </a:r>
            <a:r>
              <a:rPr lang="ko-KR" altLang="en-US" sz="1400" dirty="0" err="1">
                <a:solidFill>
                  <a:schemeClr val="tx2"/>
                </a:solidFill>
              </a:rPr>
              <a:t>특허된</a:t>
            </a:r>
            <a:r>
              <a:rPr lang="ko-KR" altLang="en-US" sz="1400" dirty="0">
                <a:solidFill>
                  <a:schemeClr val="tx2"/>
                </a:solidFill>
              </a:rPr>
              <a:t> 경우에는 특허권의 존속기간은 </a:t>
            </a:r>
            <a:r>
              <a:rPr lang="ko-KR" altLang="en-US" sz="1400" dirty="0" err="1">
                <a:solidFill>
                  <a:schemeClr val="tx2"/>
                </a:solidFill>
              </a:rPr>
              <a:t>무권리자의</a:t>
            </a:r>
            <a:r>
              <a:rPr lang="ko-KR" altLang="en-US" sz="1400" dirty="0">
                <a:solidFill>
                  <a:schemeClr val="tx2"/>
                </a:solidFill>
              </a:rPr>
              <a:t> 특허출원일의 다음날부터 기산한다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88②). </a:t>
            </a:r>
            <a:r>
              <a:rPr lang="ko-KR" altLang="en-US" sz="1400" dirty="0">
                <a:solidFill>
                  <a:schemeClr val="tx2"/>
                </a:solidFill>
              </a:rPr>
              <a:t>즉</a:t>
            </a:r>
            <a:r>
              <a:rPr lang="en-US" altLang="ko-KR" sz="1400" dirty="0">
                <a:solidFill>
                  <a:schemeClr val="tx2"/>
                </a:solidFill>
              </a:rPr>
              <a:t>, </a:t>
            </a:r>
            <a:r>
              <a:rPr lang="ko-KR" altLang="en-US" sz="1400" dirty="0">
                <a:highlight>
                  <a:srgbClr val="FFFF00"/>
                </a:highlight>
              </a:rPr>
              <a:t>존속기간은 정당한 권리자 출원의 특허권을 </a:t>
            </a:r>
            <a:r>
              <a:rPr lang="ko-KR" altLang="en-US" sz="1400" dirty="0" err="1">
                <a:highlight>
                  <a:srgbClr val="FFFF00"/>
                </a:highlight>
              </a:rPr>
              <a:t>설정등록한</a:t>
            </a:r>
            <a:r>
              <a:rPr lang="ko-KR" altLang="en-US" sz="1400" dirty="0">
                <a:highlight>
                  <a:srgbClr val="FFFF00"/>
                </a:highlight>
              </a:rPr>
              <a:t> 날로부터 </a:t>
            </a:r>
            <a:r>
              <a:rPr lang="ko-KR" altLang="en-US" sz="1400" dirty="0" err="1">
                <a:highlight>
                  <a:srgbClr val="FFFF00"/>
                </a:highlight>
              </a:rPr>
              <a:t>무권리자의</a:t>
            </a:r>
            <a:r>
              <a:rPr lang="ko-KR" altLang="en-US" sz="1400" dirty="0">
                <a:highlight>
                  <a:srgbClr val="FFFF00"/>
                </a:highlight>
              </a:rPr>
              <a:t> 출원일 후 </a:t>
            </a:r>
            <a:r>
              <a:rPr lang="en-US" altLang="ko-KR" sz="1400" dirty="0">
                <a:highlight>
                  <a:srgbClr val="FFFF00"/>
                </a:highlight>
              </a:rPr>
              <a:t>20</a:t>
            </a:r>
            <a:r>
              <a:rPr lang="ko-KR" altLang="en-US" sz="1400" dirty="0">
                <a:highlight>
                  <a:srgbClr val="FFFF00"/>
                </a:highlight>
              </a:rPr>
              <a:t>년이 되는 </a:t>
            </a:r>
            <a:r>
              <a:rPr lang="ko-KR" altLang="en-US" sz="1400" dirty="0" err="1">
                <a:highlight>
                  <a:srgbClr val="FFFF00"/>
                </a:highlight>
              </a:rPr>
              <a:t>날까지이다</a:t>
            </a:r>
            <a:r>
              <a:rPr lang="en-US" altLang="ko-KR" sz="1400" dirty="0">
                <a:highlight>
                  <a:srgbClr val="FFFF00"/>
                </a:highlight>
              </a:rPr>
              <a:t>.</a:t>
            </a:r>
            <a:r>
              <a:rPr lang="en-US" altLang="ko-KR" sz="1400" dirty="0">
                <a:solidFill>
                  <a:srgbClr val="FF0000"/>
                </a:solidFill>
              </a:rPr>
              <a:t> </a:t>
            </a:r>
            <a:r>
              <a:rPr lang="ko-KR" altLang="en-US" sz="1400" dirty="0" err="1">
                <a:solidFill>
                  <a:schemeClr val="tx2"/>
                </a:solidFill>
              </a:rPr>
              <a:t>무권리자의</a:t>
            </a:r>
            <a:r>
              <a:rPr lang="ko-KR" altLang="en-US" sz="1400" dirty="0">
                <a:solidFill>
                  <a:schemeClr val="tx2"/>
                </a:solidFill>
              </a:rPr>
              <a:t> </a:t>
            </a:r>
            <a:r>
              <a:rPr lang="ko-KR" altLang="en-US" sz="1400" dirty="0" err="1">
                <a:solidFill>
                  <a:schemeClr val="tx2"/>
                </a:solidFill>
              </a:rPr>
              <a:t>특허출원ㆍ특허에</a:t>
            </a:r>
            <a:r>
              <a:rPr lang="ko-KR" altLang="en-US" sz="1400" dirty="0">
                <a:solidFill>
                  <a:schemeClr val="tx2"/>
                </a:solidFill>
              </a:rPr>
              <a:t> 대한 정당한 권리자의 특허출원의 경우 심사청구기간은 </a:t>
            </a:r>
            <a:r>
              <a:rPr lang="ko-KR" altLang="en-US" sz="1400" dirty="0" err="1">
                <a:solidFill>
                  <a:schemeClr val="tx2"/>
                </a:solidFill>
              </a:rPr>
              <a:t>무권리자의</a:t>
            </a:r>
            <a:r>
              <a:rPr lang="ko-KR" altLang="en-US" sz="1400" dirty="0">
                <a:solidFill>
                  <a:schemeClr val="tx2"/>
                </a:solidFill>
              </a:rPr>
              <a:t> </a:t>
            </a:r>
            <a:r>
              <a:rPr lang="ko-KR" altLang="en-US" sz="1400" dirty="0" err="1">
                <a:solidFill>
                  <a:schemeClr val="tx2"/>
                </a:solidFill>
              </a:rPr>
              <a:t>출원일의</a:t>
            </a:r>
            <a:r>
              <a:rPr lang="ko-KR" altLang="en-US" sz="1400" dirty="0">
                <a:solidFill>
                  <a:schemeClr val="tx2"/>
                </a:solidFill>
              </a:rPr>
              <a:t> 다음날부터 기산한다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34, 35).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정당한 권리자의 특허출원이 </a:t>
            </a:r>
            <a:r>
              <a:rPr lang="ko-KR" altLang="en-US" sz="1400" dirty="0" err="1">
                <a:solidFill>
                  <a:schemeClr val="tx2"/>
                </a:solidFill>
              </a:rPr>
              <a:t>무권리자의</a:t>
            </a:r>
            <a:r>
              <a:rPr lang="ko-KR" altLang="en-US" sz="1400" dirty="0">
                <a:solidFill>
                  <a:schemeClr val="tx2"/>
                </a:solidFill>
              </a:rPr>
              <a:t> 출원일로부터 </a:t>
            </a:r>
            <a:r>
              <a:rPr lang="en-US" altLang="ko-KR" sz="1400" dirty="0">
                <a:solidFill>
                  <a:schemeClr val="tx2"/>
                </a:solidFill>
              </a:rPr>
              <a:t>3</a:t>
            </a:r>
            <a:r>
              <a:rPr lang="ko-KR" altLang="en-US" sz="1400" dirty="0">
                <a:solidFill>
                  <a:schemeClr val="tx2"/>
                </a:solidFill>
              </a:rPr>
              <a:t>년의 기간이 지난 후라도 정당한 권리자가 특허출원을 한 날부터 </a:t>
            </a:r>
            <a:r>
              <a:rPr lang="en-US" altLang="ko-KR" sz="1400" dirty="0">
                <a:solidFill>
                  <a:schemeClr val="tx2"/>
                </a:solidFill>
              </a:rPr>
              <a:t>30</a:t>
            </a:r>
            <a:r>
              <a:rPr lang="ko-KR" altLang="en-US" sz="1400" dirty="0">
                <a:solidFill>
                  <a:schemeClr val="tx2"/>
                </a:solidFill>
              </a:rPr>
              <a:t>일 이내에 </a:t>
            </a:r>
            <a:r>
              <a:rPr lang="ko-KR" altLang="en-US" sz="1400" dirty="0" err="1">
                <a:solidFill>
                  <a:schemeClr val="tx2"/>
                </a:solidFill>
              </a:rPr>
              <a:t>출원심사의</a:t>
            </a:r>
            <a:r>
              <a:rPr lang="ko-KR" altLang="en-US" sz="1400" dirty="0">
                <a:solidFill>
                  <a:schemeClr val="tx2"/>
                </a:solidFill>
              </a:rPr>
              <a:t> 청구를 할 수 있다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59③). </a:t>
            </a:r>
            <a:r>
              <a:rPr lang="ko-KR" altLang="en-US" sz="1400" dirty="0">
                <a:solidFill>
                  <a:schemeClr val="tx2"/>
                </a:solidFill>
              </a:rPr>
              <a:t>즉</a:t>
            </a:r>
            <a:r>
              <a:rPr lang="en-US" altLang="ko-KR" sz="1400" dirty="0">
                <a:solidFill>
                  <a:schemeClr val="tx2"/>
                </a:solidFill>
              </a:rPr>
              <a:t>, </a:t>
            </a:r>
            <a:r>
              <a:rPr lang="ko-KR" altLang="en-US" sz="1400" dirty="0">
                <a:highlight>
                  <a:srgbClr val="FFFF00"/>
                </a:highlight>
              </a:rPr>
              <a:t>정당한 권리자 특허출원의 심사청구기간은 </a:t>
            </a:r>
            <a:r>
              <a:rPr lang="ko-KR" altLang="en-US" sz="1400" dirty="0" err="1">
                <a:highlight>
                  <a:srgbClr val="FFFF00"/>
                </a:highlight>
              </a:rPr>
              <a:t>무권리자</a:t>
            </a:r>
            <a:r>
              <a:rPr lang="ko-KR" altLang="en-US" sz="1400" dirty="0">
                <a:highlight>
                  <a:srgbClr val="FFFF00"/>
                </a:highlight>
              </a:rPr>
              <a:t> 출원일로부터 </a:t>
            </a:r>
            <a:r>
              <a:rPr lang="en-US" altLang="ko-KR" sz="1400" dirty="0">
                <a:highlight>
                  <a:srgbClr val="FFFF00"/>
                </a:highlight>
              </a:rPr>
              <a:t>3</a:t>
            </a:r>
            <a:r>
              <a:rPr lang="ko-KR" altLang="en-US" sz="1400" dirty="0">
                <a:highlight>
                  <a:srgbClr val="FFFF00"/>
                </a:highlight>
              </a:rPr>
              <a:t>년과 정당한 권리자 출원일로부터 </a:t>
            </a:r>
            <a:r>
              <a:rPr lang="en-US" altLang="ko-KR" sz="1400" dirty="0">
                <a:highlight>
                  <a:srgbClr val="FFFF00"/>
                </a:highlight>
              </a:rPr>
              <a:t>30</a:t>
            </a:r>
            <a:r>
              <a:rPr lang="ko-KR" altLang="en-US" sz="1400" dirty="0">
                <a:highlight>
                  <a:srgbClr val="FFFF00"/>
                </a:highlight>
              </a:rPr>
              <a:t>일 중 늦은 </a:t>
            </a:r>
            <a:r>
              <a:rPr lang="ko-KR" altLang="en-US" sz="1400" dirty="0" err="1">
                <a:highlight>
                  <a:srgbClr val="FFFF00"/>
                </a:highlight>
              </a:rPr>
              <a:t>날까지이다</a:t>
            </a:r>
            <a:r>
              <a:rPr lang="en-US" altLang="ko-KR" sz="1400" dirty="0">
                <a:highlight>
                  <a:srgbClr val="FFFF00"/>
                </a:highlight>
              </a:rPr>
              <a:t>.</a:t>
            </a:r>
          </a:p>
        </p:txBody>
      </p:sp>
      <p:cxnSp>
        <p:nvCxnSpPr>
          <p:cNvPr id="27" name="직선 연결선 26"/>
          <p:cNvCxnSpPr/>
          <p:nvPr/>
        </p:nvCxnSpPr>
        <p:spPr>
          <a:xfrm>
            <a:off x="0" y="215822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자유형 21"/>
          <p:cNvSpPr/>
          <p:nvPr/>
        </p:nvSpPr>
        <p:spPr>
          <a:xfrm>
            <a:off x="5034468" y="5096616"/>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ltHorz">
            <a:fgClr>
              <a:schemeClr val="accent4"/>
            </a:fgClr>
            <a:bgClr>
              <a:schemeClr val="bg1"/>
            </a:bgClr>
          </a:pattFill>
          <a:ln>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altLang="ko-KR" dirty="0">
                <a:solidFill>
                  <a:schemeClr val="accent2">
                    <a:lumMod val="50000"/>
                  </a:schemeClr>
                </a:solidFill>
              </a:rPr>
              <a:t>30</a:t>
            </a:r>
            <a:r>
              <a:rPr lang="ko-KR" altLang="en-US" dirty="0">
                <a:solidFill>
                  <a:schemeClr val="accent2">
                    <a:lumMod val="50000"/>
                  </a:schemeClr>
                </a:solidFill>
              </a:rPr>
              <a:t>일</a:t>
            </a:r>
          </a:p>
        </p:txBody>
      </p:sp>
      <p:cxnSp>
        <p:nvCxnSpPr>
          <p:cNvPr id="23" name="직선 연결선 22"/>
          <p:cNvCxnSpPr/>
          <p:nvPr/>
        </p:nvCxnSpPr>
        <p:spPr>
          <a:xfrm>
            <a:off x="2200275" y="5076192"/>
            <a:ext cx="906885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직사각형 24"/>
          <p:cNvSpPr/>
          <p:nvPr/>
        </p:nvSpPr>
        <p:spPr>
          <a:xfrm>
            <a:off x="3038187" y="5359039"/>
            <a:ext cx="813575" cy="460735"/>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무권리자</a:t>
            </a:r>
            <a:endParaRPr lang="en-US" altLang="ko-KR" sz="1200" dirty="0">
              <a:solidFill>
                <a:schemeClr val="tx1"/>
              </a:solidFill>
            </a:endParaRPr>
          </a:p>
          <a:p>
            <a:pPr algn="ctr"/>
            <a:r>
              <a:rPr lang="ko-KR" altLang="en-US" sz="1200" dirty="0">
                <a:solidFill>
                  <a:schemeClr val="tx1"/>
                </a:solidFill>
              </a:rPr>
              <a:t>특허출원</a:t>
            </a:r>
          </a:p>
        </p:txBody>
      </p:sp>
      <p:cxnSp>
        <p:nvCxnSpPr>
          <p:cNvPr id="28" name="직선 화살표 연결선 27"/>
          <p:cNvCxnSpPr>
            <a:stCxn id="25" idx="0"/>
          </p:cNvCxnSpPr>
          <p:nvPr/>
        </p:nvCxnSpPr>
        <p:spPr>
          <a:xfrm flipV="1">
            <a:off x="3444975" y="5076195"/>
            <a:ext cx="0" cy="282844"/>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9" name="자유형 28"/>
          <p:cNvSpPr/>
          <p:nvPr/>
        </p:nvSpPr>
        <p:spPr>
          <a:xfrm>
            <a:off x="3437470" y="4668665"/>
            <a:ext cx="4007714" cy="379076"/>
          </a:xfrm>
          <a:custGeom>
            <a:avLst/>
            <a:gdLst>
              <a:gd name="connsiteX0" fmla="*/ 0 w 4944533"/>
              <a:gd name="connsiteY0" fmla="*/ 524934 h 524934"/>
              <a:gd name="connsiteX1" fmla="*/ 0 w 4944533"/>
              <a:gd name="connsiteY1" fmla="*/ 0 h 524934"/>
              <a:gd name="connsiteX2" fmla="*/ 4944533 w 4944533"/>
              <a:gd name="connsiteY2" fmla="*/ 0 h 524934"/>
              <a:gd name="connsiteX3" fmla="*/ 4944533 w 4944533"/>
              <a:gd name="connsiteY3" fmla="*/ 524934 h 524934"/>
            </a:gdLst>
            <a:ahLst/>
            <a:cxnLst>
              <a:cxn ang="0">
                <a:pos x="connsiteX0" y="connsiteY0"/>
              </a:cxn>
              <a:cxn ang="0">
                <a:pos x="connsiteX1" y="connsiteY1"/>
              </a:cxn>
              <a:cxn ang="0">
                <a:pos x="connsiteX2" y="connsiteY2"/>
              </a:cxn>
              <a:cxn ang="0">
                <a:pos x="connsiteX3" y="connsiteY3"/>
              </a:cxn>
            </a:cxnLst>
            <a:rect l="l" t="t" r="r" b="b"/>
            <a:pathLst>
              <a:path w="4944533" h="524934">
                <a:moveTo>
                  <a:pt x="0" y="524934"/>
                </a:moveTo>
                <a:lnTo>
                  <a:pt x="0" y="0"/>
                </a:lnTo>
                <a:lnTo>
                  <a:pt x="4944533" y="0"/>
                </a:lnTo>
                <a:lnTo>
                  <a:pt x="4944533" y="524934"/>
                </a:lnTo>
              </a:path>
            </a:pathLst>
          </a:custGeom>
          <a:pattFill prst="dotGrid">
            <a:fgClr>
              <a:schemeClr val="accent1"/>
            </a:fgClr>
            <a:bgClr>
              <a:schemeClr val="bg1"/>
            </a:bgClr>
          </a:pattFill>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0" name="TextBox 29"/>
          <p:cNvSpPr txBox="1"/>
          <p:nvPr/>
        </p:nvSpPr>
        <p:spPr>
          <a:xfrm>
            <a:off x="4479979" y="4530165"/>
            <a:ext cx="1931939" cy="276999"/>
          </a:xfrm>
          <a:prstGeom prst="rect">
            <a:avLst/>
          </a:prstGeom>
          <a:solidFill>
            <a:schemeClr val="bg1"/>
          </a:solidFill>
        </p:spPr>
        <p:txBody>
          <a:bodyPr wrap="none" rtlCol="0">
            <a:spAutoFit/>
          </a:bodyPr>
          <a:lstStyle/>
          <a:p>
            <a:pPr algn="ctr"/>
            <a:r>
              <a:rPr lang="ko-KR" altLang="en-US" sz="1200" dirty="0"/>
              <a:t>일반적인 심사청구기간</a:t>
            </a:r>
            <a:r>
              <a:rPr lang="en-US" altLang="ko-KR" sz="1200" dirty="0"/>
              <a:t>(3</a:t>
            </a:r>
            <a:r>
              <a:rPr lang="ko-KR" altLang="en-US" sz="1200" dirty="0"/>
              <a:t>년</a:t>
            </a:r>
            <a:r>
              <a:rPr lang="en-US" altLang="ko-KR" sz="1200" dirty="0"/>
              <a:t>)</a:t>
            </a:r>
            <a:endParaRPr lang="ko-KR" altLang="en-US" sz="1200" dirty="0"/>
          </a:p>
        </p:txBody>
      </p:sp>
      <p:sp>
        <p:nvSpPr>
          <p:cNvPr id="31" name="직사각형 30"/>
          <p:cNvSpPr/>
          <p:nvPr/>
        </p:nvSpPr>
        <p:spPr>
          <a:xfrm>
            <a:off x="4353522" y="5819429"/>
            <a:ext cx="1288450"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정당한 권리자</a:t>
            </a:r>
            <a:endParaRPr lang="en-US" altLang="ko-KR" sz="1200" dirty="0">
              <a:solidFill>
                <a:schemeClr val="tx1"/>
              </a:solidFill>
            </a:endParaRPr>
          </a:p>
          <a:p>
            <a:pPr algn="ctr"/>
            <a:r>
              <a:rPr lang="ko-KR" altLang="en-US" sz="1200" dirty="0">
                <a:solidFill>
                  <a:schemeClr val="tx1"/>
                </a:solidFill>
              </a:rPr>
              <a:t>특허출원</a:t>
            </a:r>
          </a:p>
        </p:txBody>
      </p:sp>
      <p:cxnSp>
        <p:nvCxnSpPr>
          <p:cNvPr id="36" name="직선 화살표 연결선 35"/>
          <p:cNvCxnSpPr/>
          <p:nvPr/>
        </p:nvCxnSpPr>
        <p:spPr>
          <a:xfrm flipV="1">
            <a:off x="7151933" y="5076195"/>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 name="자유형 36"/>
          <p:cNvSpPr/>
          <p:nvPr/>
        </p:nvSpPr>
        <p:spPr>
          <a:xfrm>
            <a:off x="7151933" y="5096616"/>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ltHorz">
            <a:fgClr>
              <a:schemeClr val="accent4"/>
            </a:fgClr>
            <a:bgClr>
              <a:schemeClr val="bg1"/>
            </a:bgClr>
          </a:pattFill>
          <a:ln>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altLang="ko-KR" dirty="0">
                <a:solidFill>
                  <a:schemeClr val="accent2">
                    <a:lumMod val="50000"/>
                  </a:schemeClr>
                </a:solidFill>
              </a:rPr>
              <a:t>30</a:t>
            </a:r>
            <a:r>
              <a:rPr lang="ko-KR" altLang="en-US" dirty="0">
                <a:solidFill>
                  <a:schemeClr val="accent2">
                    <a:lumMod val="50000"/>
                  </a:schemeClr>
                </a:solidFill>
              </a:rPr>
              <a:t>일</a:t>
            </a:r>
          </a:p>
        </p:txBody>
      </p:sp>
      <p:sp>
        <p:nvSpPr>
          <p:cNvPr id="41" name="TextBox 40"/>
          <p:cNvSpPr txBox="1"/>
          <p:nvPr/>
        </p:nvSpPr>
        <p:spPr>
          <a:xfrm>
            <a:off x="6966498" y="5482922"/>
            <a:ext cx="370870" cy="369332"/>
          </a:xfrm>
          <a:prstGeom prst="rect">
            <a:avLst/>
          </a:prstGeom>
          <a:noFill/>
        </p:spPr>
        <p:txBody>
          <a:bodyPr wrap="square" rtlCol="0">
            <a:spAutoFit/>
          </a:bodyPr>
          <a:lstStyle/>
          <a:p>
            <a:pPr fontAlgn="base"/>
            <a:r>
              <a:rPr lang="ko-KR" altLang="en-US" dirty="0">
                <a:solidFill>
                  <a:srgbClr val="FF0000"/>
                </a:solidFill>
              </a:rPr>
              <a:t>❷</a:t>
            </a:r>
          </a:p>
        </p:txBody>
      </p:sp>
      <p:sp>
        <p:nvSpPr>
          <p:cNvPr id="49" name="TextBox 48"/>
          <p:cNvSpPr txBox="1"/>
          <p:nvPr/>
        </p:nvSpPr>
        <p:spPr>
          <a:xfrm>
            <a:off x="4803515" y="5450097"/>
            <a:ext cx="370870" cy="369332"/>
          </a:xfrm>
          <a:prstGeom prst="rect">
            <a:avLst/>
          </a:prstGeom>
          <a:noFill/>
        </p:spPr>
        <p:txBody>
          <a:bodyPr wrap="square" rtlCol="0">
            <a:spAutoFit/>
          </a:bodyPr>
          <a:lstStyle/>
          <a:p>
            <a:pPr fontAlgn="base"/>
            <a:r>
              <a:rPr lang="ko-KR" altLang="en-US" dirty="0">
                <a:solidFill>
                  <a:srgbClr val="FF0000"/>
                </a:solidFill>
              </a:rPr>
              <a:t>❶</a:t>
            </a:r>
          </a:p>
        </p:txBody>
      </p:sp>
      <p:sp>
        <p:nvSpPr>
          <p:cNvPr id="51" name="TextBox 50"/>
          <p:cNvSpPr txBox="1"/>
          <p:nvPr/>
        </p:nvSpPr>
        <p:spPr>
          <a:xfrm>
            <a:off x="7251931" y="4886549"/>
            <a:ext cx="370870" cy="369332"/>
          </a:xfrm>
          <a:prstGeom prst="rect">
            <a:avLst/>
          </a:prstGeom>
          <a:noFill/>
        </p:spPr>
        <p:txBody>
          <a:bodyPr wrap="square" rtlCol="0">
            <a:spAutoFit/>
          </a:bodyPr>
          <a:lstStyle/>
          <a:p>
            <a:pPr fontAlgn="base"/>
            <a:r>
              <a:rPr lang="ko-KR" altLang="en-US" dirty="0">
                <a:solidFill>
                  <a:srgbClr val="FF0000"/>
                </a:solidFill>
              </a:rPr>
              <a:t>❶</a:t>
            </a:r>
          </a:p>
        </p:txBody>
      </p:sp>
      <p:sp>
        <p:nvSpPr>
          <p:cNvPr id="53" name="TextBox 52"/>
          <p:cNvSpPr txBox="1"/>
          <p:nvPr/>
        </p:nvSpPr>
        <p:spPr>
          <a:xfrm>
            <a:off x="7834607" y="4895259"/>
            <a:ext cx="370870" cy="369332"/>
          </a:xfrm>
          <a:prstGeom prst="rect">
            <a:avLst/>
          </a:prstGeom>
          <a:noFill/>
        </p:spPr>
        <p:txBody>
          <a:bodyPr wrap="square" rtlCol="0">
            <a:spAutoFit/>
          </a:bodyPr>
          <a:lstStyle/>
          <a:p>
            <a:pPr fontAlgn="base"/>
            <a:r>
              <a:rPr lang="ko-KR" altLang="en-US" dirty="0">
                <a:solidFill>
                  <a:srgbClr val="FF0000"/>
                </a:solidFill>
              </a:rPr>
              <a:t>❷</a:t>
            </a:r>
          </a:p>
        </p:txBody>
      </p:sp>
      <p:cxnSp>
        <p:nvCxnSpPr>
          <p:cNvPr id="55" name="직선 화살표 연결선 54"/>
          <p:cNvCxnSpPr/>
          <p:nvPr/>
        </p:nvCxnSpPr>
        <p:spPr>
          <a:xfrm flipV="1">
            <a:off x="9442818" y="5076195"/>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 name="자유형 55"/>
          <p:cNvSpPr/>
          <p:nvPr/>
        </p:nvSpPr>
        <p:spPr>
          <a:xfrm>
            <a:off x="9442818" y="5096616"/>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ltHorz">
            <a:fgClr>
              <a:schemeClr val="accent4"/>
            </a:fgClr>
            <a:bgClr>
              <a:schemeClr val="bg1"/>
            </a:bgClr>
          </a:pattFill>
          <a:ln>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altLang="ko-KR" dirty="0">
                <a:solidFill>
                  <a:schemeClr val="accent2">
                    <a:lumMod val="50000"/>
                  </a:schemeClr>
                </a:solidFill>
              </a:rPr>
              <a:t>30</a:t>
            </a:r>
            <a:r>
              <a:rPr lang="ko-KR" altLang="en-US" dirty="0">
                <a:solidFill>
                  <a:schemeClr val="accent2">
                    <a:lumMod val="50000"/>
                  </a:schemeClr>
                </a:solidFill>
              </a:rPr>
              <a:t>일</a:t>
            </a:r>
          </a:p>
        </p:txBody>
      </p:sp>
      <p:sp>
        <p:nvSpPr>
          <p:cNvPr id="57" name="TextBox 56"/>
          <p:cNvSpPr txBox="1"/>
          <p:nvPr/>
        </p:nvSpPr>
        <p:spPr>
          <a:xfrm>
            <a:off x="9257383" y="5482922"/>
            <a:ext cx="370870" cy="369332"/>
          </a:xfrm>
          <a:prstGeom prst="rect">
            <a:avLst/>
          </a:prstGeom>
          <a:noFill/>
        </p:spPr>
        <p:txBody>
          <a:bodyPr wrap="square" rtlCol="0">
            <a:spAutoFit/>
          </a:bodyPr>
          <a:lstStyle/>
          <a:p>
            <a:pPr fontAlgn="base"/>
            <a:r>
              <a:rPr lang="ko-KR" altLang="en-US" dirty="0">
                <a:solidFill>
                  <a:srgbClr val="FF0000"/>
                </a:solidFill>
              </a:rPr>
              <a:t>❸</a:t>
            </a:r>
          </a:p>
        </p:txBody>
      </p:sp>
      <p:sp>
        <p:nvSpPr>
          <p:cNvPr id="58" name="TextBox 57"/>
          <p:cNvSpPr txBox="1"/>
          <p:nvPr/>
        </p:nvSpPr>
        <p:spPr>
          <a:xfrm>
            <a:off x="10122045" y="4886489"/>
            <a:ext cx="370870" cy="369332"/>
          </a:xfrm>
          <a:prstGeom prst="rect">
            <a:avLst/>
          </a:prstGeom>
          <a:noFill/>
        </p:spPr>
        <p:txBody>
          <a:bodyPr wrap="square" rtlCol="0">
            <a:spAutoFit/>
          </a:bodyPr>
          <a:lstStyle/>
          <a:p>
            <a:pPr fontAlgn="base"/>
            <a:r>
              <a:rPr lang="ko-KR" altLang="en-US" dirty="0">
                <a:solidFill>
                  <a:srgbClr val="FF0000"/>
                </a:solidFill>
              </a:rPr>
              <a:t>❸</a:t>
            </a:r>
          </a:p>
        </p:txBody>
      </p:sp>
      <p:sp>
        <p:nvSpPr>
          <p:cNvPr id="59" name="직사각형 58"/>
          <p:cNvSpPr/>
          <p:nvPr/>
        </p:nvSpPr>
        <p:spPr>
          <a:xfrm>
            <a:off x="6506769" y="5819429"/>
            <a:ext cx="1288450"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정당한 권리자</a:t>
            </a:r>
            <a:endParaRPr lang="en-US" altLang="ko-KR" sz="1200" dirty="0">
              <a:solidFill>
                <a:schemeClr val="tx1"/>
              </a:solidFill>
            </a:endParaRPr>
          </a:p>
          <a:p>
            <a:pPr algn="ctr"/>
            <a:r>
              <a:rPr lang="ko-KR" altLang="en-US" sz="1200" dirty="0">
                <a:solidFill>
                  <a:schemeClr val="tx1"/>
                </a:solidFill>
              </a:rPr>
              <a:t>특허출원</a:t>
            </a:r>
          </a:p>
        </p:txBody>
      </p:sp>
      <p:sp>
        <p:nvSpPr>
          <p:cNvPr id="60" name="직사각형 59"/>
          <p:cNvSpPr/>
          <p:nvPr/>
        </p:nvSpPr>
        <p:spPr>
          <a:xfrm>
            <a:off x="8798593" y="5819429"/>
            <a:ext cx="1288450"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정당한 권리자</a:t>
            </a:r>
            <a:endParaRPr lang="en-US" altLang="ko-KR" sz="1200" dirty="0">
              <a:solidFill>
                <a:schemeClr val="tx1"/>
              </a:solidFill>
            </a:endParaRPr>
          </a:p>
          <a:p>
            <a:pPr algn="ctr"/>
            <a:r>
              <a:rPr lang="ko-KR" altLang="en-US" sz="1200" dirty="0">
                <a:solidFill>
                  <a:schemeClr val="tx1"/>
                </a:solidFill>
              </a:rPr>
              <a:t>특허출원</a:t>
            </a:r>
          </a:p>
        </p:txBody>
      </p:sp>
      <p:sp>
        <p:nvSpPr>
          <p:cNvPr id="61" name="직사각형 60"/>
          <p:cNvSpPr/>
          <p:nvPr/>
        </p:nvSpPr>
        <p:spPr>
          <a:xfrm>
            <a:off x="1009649" y="4362450"/>
            <a:ext cx="10649839" cy="208419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n-ea"/>
            </a:endParaRPr>
          </a:p>
        </p:txBody>
      </p:sp>
      <p:cxnSp>
        <p:nvCxnSpPr>
          <p:cNvPr id="85" name="직선 화살표 연결선 84"/>
          <p:cNvCxnSpPr>
            <a:cxnSpLocks/>
            <a:stCxn id="92" idx="0"/>
          </p:cNvCxnSpPr>
          <p:nvPr/>
        </p:nvCxnSpPr>
        <p:spPr>
          <a:xfrm flipV="1">
            <a:off x="4997747" y="3026279"/>
            <a:ext cx="0" cy="425728"/>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7" name="직선 연결선 86"/>
          <p:cNvCxnSpPr/>
          <p:nvPr/>
        </p:nvCxnSpPr>
        <p:spPr>
          <a:xfrm>
            <a:off x="2200275" y="3026278"/>
            <a:ext cx="906885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8" name="직사각형 87"/>
          <p:cNvSpPr/>
          <p:nvPr/>
        </p:nvSpPr>
        <p:spPr>
          <a:xfrm>
            <a:off x="3038187" y="3309125"/>
            <a:ext cx="813575" cy="460735"/>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무권리자</a:t>
            </a:r>
            <a:endParaRPr lang="en-US" altLang="ko-KR" sz="1200" dirty="0">
              <a:solidFill>
                <a:schemeClr val="tx1"/>
              </a:solidFill>
            </a:endParaRPr>
          </a:p>
          <a:p>
            <a:pPr algn="ctr"/>
            <a:r>
              <a:rPr lang="ko-KR" altLang="en-US" sz="1200" dirty="0">
                <a:solidFill>
                  <a:schemeClr val="tx1"/>
                </a:solidFill>
              </a:rPr>
              <a:t>특허출원</a:t>
            </a:r>
          </a:p>
        </p:txBody>
      </p:sp>
      <p:cxnSp>
        <p:nvCxnSpPr>
          <p:cNvPr id="89" name="직선 화살표 연결선 88"/>
          <p:cNvCxnSpPr>
            <a:stCxn id="88" idx="0"/>
          </p:cNvCxnSpPr>
          <p:nvPr/>
        </p:nvCxnSpPr>
        <p:spPr>
          <a:xfrm flipV="1">
            <a:off x="3444975" y="3026281"/>
            <a:ext cx="0" cy="282844"/>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자유형 89"/>
          <p:cNvSpPr/>
          <p:nvPr/>
        </p:nvSpPr>
        <p:spPr>
          <a:xfrm>
            <a:off x="3437469" y="2618751"/>
            <a:ext cx="6190783" cy="379076"/>
          </a:xfrm>
          <a:custGeom>
            <a:avLst/>
            <a:gdLst>
              <a:gd name="connsiteX0" fmla="*/ 0 w 4944533"/>
              <a:gd name="connsiteY0" fmla="*/ 524934 h 524934"/>
              <a:gd name="connsiteX1" fmla="*/ 0 w 4944533"/>
              <a:gd name="connsiteY1" fmla="*/ 0 h 524934"/>
              <a:gd name="connsiteX2" fmla="*/ 4944533 w 4944533"/>
              <a:gd name="connsiteY2" fmla="*/ 0 h 524934"/>
              <a:gd name="connsiteX3" fmla="*/ 4944533 w 4944533"/>
              <a:gd name="connsiteY3" fmla="*/ 524934 h 524934"/>
            </a:gdLst>
            <a:ahLst/>
            <a:cxnLst>
              <a:cxn ang="0">
                <a:pos x="connsiteX0" y="connsiteY0"/>
              </a:cxn>
              <a:cxn ang="0">
                <a:pos x="connsiteX1" y="connsiteY1"/>
              </a:cxn>
              <a:cxn ang="0">
                <a:pos x="connsiteX2" y="connsiteY2"/>
              </a:cxn>
              <a:cxn ang="0">
                <a:pos x="connsiteX3" y="connsiteY3"/>
              </a:cxn>
            </a:cxnLst>
            <a:rect l="l" t="t" r="r" b="b"/>
            <a:pathLst>
              <a:path w="4944533" h="524934">
                <a:moveTo>
                  <a:pt x="0" y="524934"/>
                </a:moveTo>
                <a:lnTo>
                  <a:pt x="0" y="0"/>
                </a:lnTo>
                <a:lnTo>
                  <a:pt x="4944533" y="0"/>
                </a:lnTo>
                <a:lnTo>
                  <a:pt x="4944533" y="524934"/>
                </a:lnTo>
              </a:path>
            </a:pathLst>
          </a:custGeom>
          <a:pattFill prst="dotGrid">
            <a:fgClr>
              <a:schemeClr val="accent1"/>
            </a:fgClr>
            <a:bgClr>
              <a:schemeClr val="bg1"/>
            </a:bgClr>
          </a:pattFill>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91" name="TextBox 90"/>
          <p:cNvSpPr txBox="1"/>
          <p:nvPr/>
        </p:nvSpPr>
        <p:spPr>
          <a:xfrm>
            <a:off x="4880732" y="2480251"/>
            <a:ext cx="1130438" cy="276999"/>
          </a:xfrm>
          <a:prstGeom prst="rect">
            <a:avLst/>
          </a:prstGeom>
          <a:solidFill>
            <a:schemeClr val="bg1"/>
          </a:solidFill>
        </p:spPr>
        <p:txBody>
          <a:bodyPr wrap="none" rtlCol="0">
            <a:spAutoFit/>
          </a:bodyPr>
          <a:lstStyle/>
          <a:p>
            <a:pPr algn="ctr"/>
            <a:r>
              <a:rPr lang="ko-KR" altLang="en-US" sz="1200" dirty="0"/>
              <a:t>출원일 후 </a:t>
            </a:r>
            <a:r>
              <a:rPr lang="en-US" altLang="ko-KR" sz="1200" dirty="0"/>
              <a:t>20</a:t>
            </a:r>
            <a:r>
              <a:rPr lang="ko-KR" altLang="en-US" sz="1200" dirty="0"/>
              <a:t>년</a:t>
            </a:r>
          </a:p>
        </p:txBody>
      </p:sp>
      <p:sp>
        <p:nvSpPr>
          <p:cNvPr id="92" name="직사각형 91"/>
          <p:cNvSpPr/>
          <p:nvPr/>
        </p:nvSpPr>
        <p:spPr>
          <a:xfrm>
            <a:off x="4353522" y="3452007"/>
            <a:ext cx="1288450"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정당한 권리자</a:t>
            </a:r>
            <a:endParaRPr lang="en-US" altLang="ko-KR" sz="1200" dirty="0">
              <a:solidFill>
                <a:schemeClr val="tx1"/>
              </a:solidFill>
            </a:endParaRPr>
          </a:p>
          <a:p>
            <a:pPr algn="ctr"/>
            <a:r>
              <a:rPr lang="ko-KR" altLang="en-US" sz="1200" dirty="0">
                <a:solidFill>
                  <a:schemeClr val="tx1"/>
                </a:solidFill>
              </a:rPr>
              <a:t>특허출원</a:t>
            </a:r>
          </a:p>
        </p:txBody>
      </p:sp>
      <p:cxnSp>
        <p:nvCxnSpPr>
          <p:cNvPr id="93" name="직선 화살표 연결선 92"/>
          <p:cNvCxnSpPr/>
          <p:nvPr/>
        </p:nvCxnSpPr>
        <p:spPr>
          <a:xfrm flipV="1">
            <a:off x="7151933" y="3026281"/>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직사각형 102"/>
          <p:cNvSpPr/>
          <p:nvPr/>
        </p:nvSpPr>
        <p:spPr>
          <a:xfrm>
            <a:off x="6506769" y="3452007"/>
            <a:ext cx="1288450"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정당한 권리자</a:t>
            </a:r>
            <a:endParaRPr lang="en-US" altLang="ko-KR" sz="1200" dirty="0">
              <a:solidFill>
                <a:schemeClr val="tx1"/>
              </a:solidFill>
            </a:endParaRPr>
          </a:p>
          <a:p>
            <a:pPr algn="ctr"/>
            <a:r>
              <a:rPr lang="ko-KR" altLang="en-US" sz="1200" dirty="0">
                <a:solidFill>
                  <a:schemeClr val="tx1"/>
                </a:solidFill>
              </a:rPr>
              <a:t>등록</a:t>
            </a:r>
          </a:p>
        </p:txBody>
      </p:sp>
      <p:sp>
        <p:nvSpPr>
          <p:cNvPr id="105" name="직사각형 104"/>
          <p:cNvSpPr/>
          <p:nvPr/>
        </p:nvSpPr>
        <p:spPr>
          <a:xfrm>
            <a:off x="1009649" y="2294097"/>
            <a:ext cx="10649839" cy="1920751"/>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n-ea"/>
            </a:endParaRPr>
          </a:p>
        </p:txBody>
      </p:sp>
      <p:sp>
        <p:nvSpPr>
          <p:cNvPr id="2" name="슬라이드 번호 개체 틀 1"/>
          <p:cNvSpPr>
            <a:spLocks noGrp="1"/>
          </p:cNvSpPr>
          <p:nvPr>
            <p:ph type="sldNum" sz="quarter" idx="12"/>
          </p:nvPr>
        </p:nvSpPr>
        <p:spPr/>
        <p:txBody>
          <a:bodyPr/>
          <a:lstStyle/>
          <a:p>
            <a:r>
              <a:rPr lang="en-US" altLang="ko-KR"/>
              <a:t>158</a:t>
            </a:r>
            <a:endParaRPr lang="ko-KR" altLang="en-US"/>
          </a:p>
        </p:txBody>
      </p:sp>
      <p:sp>
        <p:nvSpPr>
          <p:cNvPr id="9" name="모서리가 둥근 직사각형 8"/>
          <p:cNvSpPr/>
          <p:nvPr/>
        </p:nvSpPr>
        <p:spPr>
          <a:xfrm>
            <a:off x="501990" y="5055529"/>
            <a:ext cx="1022970" cy="697254"/>
          </a:xfrm>
          <a:prstGeom prst="roundRect">
            <a:avLst/>
          </a:prstGeom>
          <a:solidFill>
            <a:schemeClr val="tx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심사청구</a:t>
            </a:r>
            <a:endParaRPr lang="en-US" altLang="ko-KR" sz="1600" dirty="0"/>
          </a:p>
          <a:p>
            <a:pPr algn="ctr"/>
            <a:r>
              <a:rPr lang="ko-KR" altLang="en-US" sz="1600" dirty="0"/>
              <a:t>기간</a:t>
            </a:r>
          </a:p>
        </p:txBody>
      </p:sp>
      <p:sp>
        <p:nvSpPr>
          <p:cNvPr id="106" name="모서리가 둥근 직사각형 105"/>
          <p:cNvSpPr/>
          <p:nvPr/>
        </p:nvSpPr>
        <p:spPr>
          <a:xfrm>
            <a:off x="501990" y="2872895"/>
            <a:ext cx="1022970" cy="697254"/>
          </a:xfrm>
          <a:prstGeom prst="roundRect">
            <a:avLst/>
          </a:prstGeom>
          <a:solidFill>
            <a:schemeClr val="tx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존속기간</a:t>
            </a:r>
          </a:p>
        </p:txBody>
      </p:sp>
    </p:spTree>
    <p:extLst>
      <p:ext uri="{BB962C8B-B14F-4D97-AF65-F5344CB8AC3E}">
        <p14:creationId xmlns:p14="http://schemas.microsoft.com/office/powerpoint/2010/main" val="92986515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104</a:t>
            </a:r>
            <a:r>
              <a:rPr lang="ko-KR" altLang="en-US" dirty="0"/>
              <a:t>조</a:t>
            </a:r>
          </a:p>
        </p:txBody>
      </p:sp>
      <p:sp>
        <p:nvSpPr>
          <p:cNvPr id="4" name="텍스트 개체 틀 3"/>
          <p:cNvSpPr>
            <a:spLocks noGrp="1"/>
          </p:cNvSpPr>
          <p:nvPr>
            <p:ph type="body" sz="quarter" idx="13"/>
          </p:nvPr>
        </p:nvSpPr>
        <p:spPr/>
        <p:txBody>
          <a:bodyPr/>
          <a:lstStyle/>
          <a:p>
            <a:r>
              <a:rPr lang="ko-KR" altLang="en-US" dirty="0"/>
              <a:t>무효심판청구 등록 전의 실시에 의한 </a:t>
            </a:r>
            <a:r>
              <a:rPr lang="ko-KR" altLang="en-US" dirty="0" err="1"/>
              <a:t>통상실시권</a:t>
            </a:r>
            <a:endParaRPr lang="ko-KR" altLang="en-US" dirty="0"/>
          </a:p>
        </p:txBody>
      </p:sp>
      <p:sp>
        <p:nvSpPr>
          <p:cNvPr id="26" name="TextBox 25"/>
          <p:cNvSpPr txBox="1"/>
          <p:nvPr/>
        </p:nvSpPr>
        <p:spPr>
          <a:xfrm>
            <a:off x="77875" y="986046"/>
            <a:ext cx="11936323" cy="2462213"/>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104</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무효심판청구 등록 전의 실시에 의한 </a:t>
            </a:r>
            <a:r>
              <a:rPr lang="ko-KR" altLang="en-US" sz="1400" b="1" dirty="0" err="1">
                <a:solidFill>
                  <a:schemeClr val="accent1"/>
                </a:solidFill>
              </a:rPr>
              <a:t>통상실시권</a:t>
            </a:r>
            <a:r>
              <a:rPr lang="en-US" altLang="ko-KR" sz="1400" b="1" dirty="0">
                <a:solidFill>
                  <a:schemeClr val="accent1"/>
                </a:solidFill>
              </a:rPr>
              <a:t>)</a:t>
            </a:r>
            <a:r>
              <a:rPr lang="en-US" altLang="ko-KR" sz="1400" dirty="0">
                <a:solidFill>
                  <a:schemeClr val="accent1"/>
                </a:solidFill>
              </a:rPr>
              <a:t> </a:t>
            </a:r>
            <a:r>
              <a:rPr lang="en-US" altLang="ko-KR" sz="1400" dirty="0">
                <a:solidFill>
                  <a:schemeClr val="tx2"/>
                </a:solidFill>
              </a:rPr>
              <a:t>① </a:t>
            </a:r>
            <a:r>
              <a:rPr lang="ko-KR" altLang="en-US" sz="1400" dirty="0">
                <a:solidFill>
                  <a:schemeClr val="tx2"/>
                </a:solidFill>
              </a:rPr>
              <a:t>다음 각 호의 어느 하나에 해당하는 자가 특허 또는 실용신안등록에 대한 무효심판청구의 등록 전에 자기의 </a:t>
            </a:r>
            <a:r>
              <a:rPr lang="ko-KR" altLang="en-US" sz="1400" dirty="0" err="1">
                <a:solidFill>
                  <a:schemeClr val="tx2"/>
                </a:solidFill>
              </a:rPr>
              <a:t>특허발명</a:t>
            </a:r>
            <a:r>
              <a:rPr lang="ko-KR" altLang="en-US" sz="1400" dirty="0">
                <a:solidFill>
                  <a:schemeClr val="tx2"/>
                </a:solidFill>
              </a:rPr>
              <a:t> 또는 등록실용신안이 </a:t>
            </a:r>
            <a:r>
              <a:rPr lang="ko-KR" altLang="en-US" sz="1400" dirty="0" err="1">
                <a:solidFill>
                  <a:schemeClr val="tx2"/>
                </a:solidFill>
              </a:rPr>
              <a:t>무효사유에</a:t>
            </a:r>
            <a:r>
              <a:rPr lang="ko-KR" altLang="en-US" sz="1400" dirty="0">
                <a:solidFill>
                  <a:schemeClr val="tx2"/>
                </a:solidFill>
              </a:rPr>
              <a:t> 해당하는 것을 알지 못하고 국내에서 그 발명 또는 고안의 </a:t>
            </a:r>
            <a:r>
              <a:rPr lang="ko-KR" altLang="en-US" sz="1400" dirty="0" err="1">
                <a:solidFill>
                  <a:schemeClr val="tx2"/>
                </a:solidFill>
              </a:rPr>
              <a:t>실시사업을</a:t>
            </a:r>
            <a:r>
              <a:rPr lang="ko-KR" altLang="en-US" sz="1400" dirty="0">
                <a:solidFill>
                  <a:schemeClr val="tx2"/>
                </a:solidFill>
              </a:rPr>
              <a:t> 하거나 이를 준비하고 있는 경우에는 그 실시하거나 준비하고 있는 발명 또는 고안 및 </a:t>
            </a:r>
            <a:r>
              <a:rPr lang="ko-KR" altLang="en-US" sz="1400" dirty="0" err="1">
                <a:solidFill>
                  <a:schemeClr val="tx2"/>
                </a:solidFill>
              </a:rPr>
              <a:t>사업목적의</a:t>
            </a:r>
            <a:r>
              <a:rPr lang="ko-KR" altLang="en-US" sz="1400" dirty="0">
                <a:solidFill>
                  <a:schemeClr val="tx2"/>
                </a:solidFill>
              </a:rPr>
              <a:t> 범위에서 그 특허권에 대하여 통상실시권을 가지거나 특허나 실용신안등록이 무효로 된 당시에 존재하는 특허권의 전용실시권에 대하여 통상실시권을 가진다</a:t>
            </a:r>
            <a:r>
              <a:rPr lang="en-US" altLang="ko-KR" sz="1400" dirty="0">
                <a:solidFill>
                  <a:schemeClr val="tx2"/>
                </a:solidFill>
              </a:rPr>
              <a:t>.  </a:t>
            </a:r>
          </a:p>
          <a:p>
            <a:pPr fontAlgn="base"/>
            <a:r>
              <a:rPr lang="en-US" altLang="ko-KR" sz="1400" dirty="0">
                <a:solidFill>
                  <a:schemeClr val="tx2"/>
                </a:solidFill>
              </a:rPr>
              <a:t>1. </a:t>
            </a:r>
            <a:r>
              <a:rPr lang="ko-KR" altLang="en-US" sz="1400" dirty="0">
                <a:solidFill>
                  <a:schemeClr val="tx2"/>
                </a:solidFill>
              </a:rPr>
              <a:t>동일한 발명에 대한 둘 이상의 특허 중 그 하나의 특허를 무효로 한 경우 그 무효로 된 특허의 </a:t>
            </a:r>
            <a:r>
              <a:rPr lang="ko-KR" altLang="en-US" sz="1400" dirty="0" err="1">
                <a:solidFill>
                  <a:schemeClr val="tx2"/>
                </a:solidFill>
              </a:rPr>
              <a:t>원특허권자</a:t>
            </a:r>
            <a:endParaRPr lang="ko-KR" altLang="en-US" sz="1400" dirty="0">
              <a:solidFill>
                <a:schemeClr val="tx2"/>
              </a:solidFill>
            </a:endParaRPr>
          </a:p>
          <a:p>
            <a:pPr fontAlgn="base"/>
            <a:r>
              <a:rPr lang="en-US" altLang="ko-KR" sz="1400" dirty="0">
                <a:solidFill>
                  <a:schemeClr val="tx2"/>
                </a:solidFill>
              </a:rPr>
              <a:t>2. </a:t>
            </a:r>
            <a:r>
              <a:rPr lang="ko-KR" altLang="en-US" sz="1400" dirty="0">
                <a:solidFill>
                  <a:schemeClr val="tx2"/>
                </a:solidFill>
              </a:rPr>
              <a:t>특허발명과 등록실용신안이 동일하여 그 실용신안등록을 무효로 한 경우 그 무효로 된 실용신안등록의 원</a:t>
            </a:r>
            <a:r>
              <a:rPr lang="en-US" altLang="ko-KR" sz="1400" dirty="0">
                <a:solidFill>
                  <a:schemeClr val="tx2"/>
                </a:solidFill>
              </a:rPr>
              <a:t>(</a:t>
            </a:r>
            <a:r>
              <a:rPr lang="ko-KR" altLang="en-US" sz="1400" dirty="0">
                <a:solidFill>
                  <a:schemeClr val="tx2"/>
                </a:solidFill>
              </a:rPr>
              <a:t>原</a:t>
            </a:r>
            <a:r>
              <a:rPr lang="en-US" altLang="ko-KR" sz="1400" dirty="0">
                <a:solidFill>
                  <a:schemeClr val="tx2"/>
                </a:solidFill>
              </a:rPr>
              <a:t>)</a:t>
            </a:r>
            <a:r>
              <a:rPr lang="ko-KR" altLang="en-US" sz="1400" dirty="0">
                <a:solidFill>
                  <a:schemeClr val="tx2"/>
                </a:solidFill>
              </a:rPr>
              <a:t>실용신안권자</a:t>
            </a:r>
          </a:p>
          <a:p>
            <a:pPr fontAlgn="base"/>
            <a:r>
              <a:rPr lang="en-US" altLang="ko-KR" sz="1400" dirty="0">
                <a:solidFill>
                  <a:srgbClr val="FF0000"/>
                </a:solidFill>
              </a:rPr>
              <a:t>3. </a:t>
            </a:r>
            <a:r>
              <a:rPr lang="ko-KR" altLang="en-US" sz="1400" dirty="0">
                <a:solidFill>
                  <a:srgbClr val="FF0000"/>
                </a:solidFill>
              </a:rPr>
              <a:t>특허를 무효로 하고 동일한 발명에 관하여 정당한 </a:t>
            </a:r>
            <a:r>
              <a:rPr lang="ko-KR" altLang="en-US" sz="1400" dirty="0" err="1">
                <a:solidFill>
                  <a:srgbClr val="FF0000"/>
                </a:solidFill>
              </a:rPr>
              <a:t>권리자에게</a:t>
            </a:r>
            <a:r>
              <a:rPr lang="ko-KR" altLang="en-US" sz="1400" dirty="0">
                <a:solidFill>
                  <a:srgbClr val="FF0000"/>
                </a:solidFill>
              </a:rPr>
              <a:t> 특허를 한 경우 그 무효로 된 특허의 </a:t>
            </a:r>
            <a:r>
              <a:rPr lang="ko-KR" altLang="en-US" sz="1400" dirty="0" err="1">
                <a:solidFill>
                  <a:srgbClr val="FF0000"/>
                </a:solidFill>
              </a:rPr>
              <a:t>원특허권자</a:t>
            </a:r>
            <a:endParaRPr lang="ko-KR" altLang="en-US" sz="1400" dirty="0">
              <a:solidFill>
                <a:srgbClr val="FF0000"/>
              </a:solidFill>
            </a:endParaRPr>
          </a:p>
          <a:p>
            <a:pPr fontAlgn="base"/>
            <a:r>
              <a:rPr lang="en-US" altLang="ko-KR" sz="1400" dirty="0">
                <a:solidFill>
                  <a:srgbClr val="FF0000"/>
                </a:solidFill>
              </a:rPr>
              <a:t>4. </a:t>
            </a:r>
            <a:r>
              <a:rPr lang="ko-KR" altLang="en-US" sz="1400" dirty="0">
                <a:solidFill>
                  <a:srgbClr val="FF0000"/>
                </a:solidFill>
              </a:rPr>
              <a:t>실용신안등록을 무효로 하고 그 고안과 동일한 발명에 관하여 정당한 </a:t>
            </a:r>
            <a:r>
              <a:rPr lang="ko-KR" altLang="en-US" sz="1400" dirty="0" err="1">
                <a:solidFill>
                  <a:srgbClr val="FF0000"/>
                </a:solidFill>
              </a:rPr>
              <a:t>권리자에게</a:t>
            </a:r>
            <a:r>
              <a:rPr lang="ko-KR" altLang="en-US" sz="1400" dirty="0">
                <a:solidFill>
                  <a:srgbClr val="FF0000"/>
                </a:solidFill>
              </a:rPr>
              <a:t> 특허를 한 경우 그 무효로 된 실용신안의 원실용신안권자</a:t>
            </a:r>
          </a:p>
          <a:p>
            <a:pPr fontAlgn="base"/>
            <a:r>
              <a:rPr lang="en-US" altLang="ko-KR" sz="1400" dirty="0">
                <a:solidFill>
                  <a:srgbClr val="FF0000"/>
                </a:solidFill>
              </a:rPr>
              <a:t>5. </a:t>
            </a:r>
            <a:r>
              <a:rPr lang="ko-KR" altLang="en-US" sz="1400" dirty="0">
                <a:solidFill>
                  <a:srgbClr val="FF0000"/>
                </a:solidFill>
              </a:rPr>
              <a:t>제</a:t>
            </a:r>
            <a:r>
              <a:rPr lang="en-US" altLang="ko-KR" sz="1400" dirty="0">
                <a:solidFill>
                  <a:srgbClr val="FF0000"/>
                </a:solidFill>
              </a:rPr>
              <a:t>1</a:t>
            </a:r>
            <a:r>
              <a:rPr lang="ko-KR" altLang="en-US" sz="1400" dirty="0">
                <a:solidFill>
                  <a:srgbClr val="FF0000"/>
                </a:solidFill>
              </a:rPr>
              <a:t>호부터 제</a:t>
            </a:r>
            <a:r>
              <a:rPr lang="en-US" altLang="ko-KR" sz="1400" dirty="0">
                <a:solidFill>
                  <a:srgbClr val="FF0000"/>
                </a:solidFill>
              </a:rPr>
              <a:t>4</a:t>
            </a:r>
            <a:r>
              <a:rPr lang="ko-KR" altLang="en-US" sz="1400" dirty="0">
                <a:solidFill>
                  <a:srgbClr val="FF0000"/>
                </a:solidFill>
              </a:rPr>
              <a:t>호까지의 경우에 있어서 그 무효로 된 특허권 또는 실용신안권에 대하여 무효심판청구 등록 당시에 이미 전용실시권이나 </a:t>
            </a:r>
            <a:r>
              <a:rPr lang="ko-KR" altLang="en-US" sz="1400" dirty="0" err="1">
                <a:solidFill>
                  <a:srgbClr val="FF0000"/>
                </a:solidFill>
              </a:rPr>
              <a:t>통상실시권</a:t>
            </a:r>
            <a:r>
              <a:rPr lang="ko-KR" altLang="en-US" sz="1400" dirty="0">
                <a:solidFill>
                  <a:srgbClr val="FF0000"/>
                </a:solidFill>
              </a:rPr>
              <a:t> 또는 그 전용실시권에 대한 통상실시권을 취득하고 등록을 받은 자</a:t>
            </a:r>
            <a:r>
              <a:rPr lang="en-US" altLang="ko-KR" sz="1400" dirty="0">
                <a:solidFill>
                  <a:srgbClr val="FF0000"/>
                </a:solidFill>
              </a:rPr>
              <a:t>. </a:t>
            </a:r>
            <a:r>
              <a:rPr lang="ko-KR" altLang="en-US" sz="1400" dirty="0">
                <a:solidFill>
                  <a:srgbClr val="FF0000"/>
                </a:solidFill>
              </a:rPr>
              <a:t>다만</a:t>
            </a:r>
            <a:r>
              <a:rPr lang="en-US" altLang="ko-KR" sz="1400" dirty="0">
                <a:solidFill>
                  <a:srgbClr val="FF0000"/>
                </a:solidFill>
              </a:rPr>
              <a:t>, </a:t>
            </a:r>
            <a:r>
              <a:rPr lang="ko-KR" altLang="en-US" sz="1400" dirty="0">
                <a:solidFill>
                  <a:srgbClr val="FF0000"/>
                </a:solidFill>
              </a:rPr>
              <a:t>제</a:t>
            </a:r>
            <a:r>
              <a:rPr lang="en-US" altLang="ko-KR" sz="1400" dirty="0">
                <a:solidFill>
                  <a:srgbClr val="FF0000"/>
                </a:solidFill>
              </a:rPr>
              <a:t>118</a:t>
            </a:r>
            <a:r>
              <a:rPr lang="ko-KR" altLang="en-US" sz="1400" dirty="0">
                <a:solidFill>
                  <a:srgbClr val="FF0000"/>
                </a:solidFill>
              </a:rPr>
              <a:t>조제</a:t>
            </a:r>
            <a:r>
              <a:rPr lang="en-US" altLang="ko-KR" sz="1400" dirty="0">
                <a:solidFill>
                  <a:srgbClr val="FF0000"/>
                </a:solidFill>
              </a:rPr>
              <a:t>2</a:t>
            </a:r>
            <a:r>
              <a:rPr lang="ko-KR" altLang="en-US" sz="1400" dirty="0">
                <a:solidFill>
                  <a:srgbClr val="FF0000"/>
                </a:solidFill>
              </a:rPr>
              <a:t>항에 따른 통상실시권을 취득한 자는 등록을 필요로 하지 아니한다</a:t>
            </a:r>
            <a:r>
              <a:rPr lang="en-US" altLang="ko-KR" sz="1400" dirty="0">
                <a:solidFill>
                  <a:srgbClr val="FF0000"/>
                </a:solidFill>
              </a:rPr>
              <a:t>.</a:t>
            </a:r>
          </a:p>
          <a:p>
            <a:pPr fontAlgn="base"/>
            <a:r>
              <a:rPr lang="en-US" altLang="ko-KR" sz="1400" dirty="0">
                <a:solidFill>
                  <a:schemeClr val="tx2"/>
                </a:solidFill>
              </a:rPr>
              <a:t>②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따라 통상실시권을 가진 자는 </a:t>
            </a:r>
            <a:r>
              <a:rPr lang="ko-KR" altLang="en-US" sz="1400" dirty="0" err="1">
                <a:solidFill>
                  <a:schemeClr val="tx2"/>
                </a:solidFill>
              </a:rPr>
              <a:t>특허권자</a:t>
            </a:r>
            <a:r>
              <a:rPr lang="ko-KR" altLang="en-US" sz="1400" dirty="0">
                <a:solidFill>
                  <a:schemeClr val="tx2"/>
                </a:solidFill>
              </a:rPr>
              <a:t> 또는 전용실시권자에게 상당한 대가를 지급하여야 한다</a:t>
            </a:r>
            <a:r>
              <a:rPr lang="en-US" altLang="ko-KR" sz="1400" dirty="0">
                <a:solidFill>
                  <a:schemeClr val="tx2"/>
                </a:solidFill>
              </a:rPr>
              <a:t>.</a:t>
            </a:r>
          </a:p>
        </p:txBody>
      </p:sp>
      <p:cxnSp>
        <p:nvCxnSpPr>
          <p:cNvPr id="27" name="직선 연결선 26"/>
          <p:cNvCxnSpPr/>
          <p:nvPr/>
        </p:nvCxnSpPr>
        <p:spPr>
          <a:xfrm>
            <a:off x="0" y="345308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슬라이드 번호 개체 틀 4"/>
          <p:cNvSpPr>
            <a:spLocks noGrp="1"/>
          </p:cNvSpPr>
          <p:nvPr>
            <p:ph type="sldNum" sz="quarter" idx="12"/>
          </p:nvPr>
        </p:nvSpPr>
        <p:spPr/>
        <p:txBody>
          <a:bodyPr/>
          <a:lstStyle/>
          <a:p>
            <a:r>
              <a:rPr lang="en-US" altLang="ko-KR"/>
              <a:t>159</a:t>
            </a:r>
            <a:endParaRPr lang="ko-KR" altLang="en-US"/>
          </a:p>
        </p:txBody>
      </p:sp>
      <p:sp>
        <p:nvSpPr>
          <p:cNvPr id="32" name="Rectangle 14"/>
          <p:cNvSpPr>
            <a:spLocks noChangeArrowheads="1"/>
          </p:cNvSpPr>
          <p:nvPr/>
        </p:nvSpPr>
        <p:spPr bwMode="auto">
          <a:xfrm>
            <a:off x="6711268" y="5481302"/>
            <a:ext cx="746662"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err="1">
                <a:latin typeface="+mn-ea"/>
              </a:rPr>
              <a:t>모인</a:t>
            </a:r>
            <a:r>
              <a:rPr lang="ko-KR" altLang="en-US" sz="1400" dirty="0" err="1">
                <a:latin typeface="+mn-ea"/>
              </a:rPr>
              <a:t>출원</a:t>
            </a:r>
            <a:endParaRPr lang="en-US" altLang="ko-KR" sz="1400" dirty="0">
              <a:latin typeface="+mn-ea"/>
            </a:endParaRPr>
          </a:p>
          <a:p>
            <a:pPr algn="ctr"/>
            <a:r>
              <a:rPr lang="en-US" altLang="ko-KR" sz="1400" b="0" dirty="0">
                <a:latin typeface="+mn-ea"/>
              </a:rPr>
              <a:t>(</a:t>
            </a:r>
            <a:r>
              <a:rPr lang="ko-KR" altLang="en-US" sz="1400" dirty="0">
                <a:latin typeface="+mn-ea"/>
              </a:rPr>
              <a:t>乙</a:t>
            </a:r>
            <a:r>
              <a:rPr lang="en-US" altLang="ko-KR" sz="1400" b="0" dirty="0">
                <a:latin typeface="+mn-ea"/>
              </a:rPr>
              <a:t>)</a:t>
            </a:r>
            <a:endParaRPr lang="ko-KR" altLang="en-US" sz="1400" b="0" dirty="0">
              <a:latin typeface="+mn-ea"/>
            </a:endParaRPr>
          </a:p>
        </p:txBody>
      </p:sp>
      <p:cxnSp>
        <p:nvCxnSpPr>
          <p:cNvPr id="35" name="직선 화살표 연결선 34"/>
          <p:cNvCxnSpPr>
            <a:cxnSpLocks/>
            <a:stCxn id="32" idx="0"/>
          </p:cNvCxnSpPr>
          <p:nvPr/>
        </p:nvCxnSpPr>
        <p:spPr>
          <a:xfrm flipV="1">
            <a:off x="7084599" y="5270184"/>
            <a:ext cx="0" cy="21111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6" name="Rectangle 14"/>
          <p:cNvSpPr>
            <a:spLocks noChangeArrowheads="1"/>
          </p:cNvSpPr>
          <p:nvPr/>
        </p:nvSpPr>
        <p:spPr bwMode="auto">
          <a:xfrm>
            <a:off x="7559070" y="5481302"/>
            <a:ext cx="746662"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설정등록</a:t>
            </a:r>
            <a:endParaRPr lang="en-US" altLang="ko-KR" sz="1400" dirty="0">
              <a:latin typeface="+mn-ea"/>
            </a:endParaRPr>
          </a:p>
          <a:p>
            <a:pPr algn="ctr"/>
            <a:r>
              <a:rPr lang="en-US" altLang="ko-KR" sz="1400" dirty="0">
                <a:latin typeface="+mn-ea"/>
              </a:rPr>
              <a:t>(</a:t>
            </a:r>
            <a:r>
              <a:rPr lang="ko-KR" altLang="en-US" sz="1400" dirty="0">
                <a:latin typeface="+mn-ea"/>
              </a:rPr>
              <a:t>乙</a:t>
            </a:r>
            <a:r>
              <a:rPr lang="en-US" altLang="ko-KR" sz="1400" dirty="0">
                <a:latin typeface="+mn-ea"/>
              </a:rPr>
              <a:t>)</a:t>
            </a:r>
            <a:endParaRPr lang="ko-KR" altLang="en-US" sz="1400" dirty="0">
              <a:latin typeface="+mn-ea"/>
            </a:endParaRPr>
          </a:p>
        </p:txBody>
      </p:sp>
      <p:cxnSp>
        <p:nvCxnSpPr>
          <p:cNvPr id="37" name="직선 화살표 연결선 36"/>
          <p:cNvCxnSpPr>
            <a:cxnSpLocks/>
            <a:stCxn id="36" idx="0"/>
          </p:cNvCxnSpPr>
          <p:nvPr/>
        </p:nvCxnSpPr>
        <p:spPr>
          <a:xfrm flipV="1">
            <a:off x="7932401" y="5243638"/>
            <a:ext cx="1" cy="23766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8" name="자유형 37"/>
          <p:cNvSpPr/>
          <p:nvPr/>
        </p:nvSpPr>
        <p:spPr>
          <a:xfrm>
            <a:off x="9127313" y="5213389"/>
            <a:ext cx="2853920" cy="1218923"/>
          </a:xfrm>
          <a:custGeom>
            <a:avLst/>
            <a:gdLst>
              <a:gd name="connsiteX0" fmla="*/ 0 w 7879222"/>
              <a:gd name="connsiteY0" fmla="*/ 0 h 743484"/>
              <a:gd name="connsiteX1" fmla="*/ 0 w 7879222"/>
              <a:gd name="connsiteY1" fmla="*/ 743484 h 743484"/>
              <a:gd name="connsiteX2" fmla="*/ 7879222 w 7879222"/>
              <a:gd name="connsiteY2" fmla="*/ 743484 h 743484"/>
            </a:gdLst>
            <a:ahLst/>
            <a:cxnLst>
              <a:cxn ang="0">
                <a:pos x="connsiteX0" y="connsiteY0"/>
              </a:cxn>
              <a:cxn ang="0">
                <a:pos x="connsiteX1" y="connsiteY1"/>
              </a:cxn>
              <a:cxn ang="0">
                <a:pos x="connsiteX2" y="connsiteY2"/>
              </a:cxn>
            </a:cxnLst>
            <a:rect l="l" t="t" r="r" b="b"/>
            <a:pathLst>
              <a:path w="7879222" h="743484">
                <a:moveTo>
                  <a:pt x="0" y="0"/>
                </a:moveTo>
                <a:lnTo>
                  <a:pt x="0" y="743484"/>
                </a:lnTo>
                <a:lnTo>
                  <a:pt x="7879222" y="743484"/>
                </a:lnTo>
              </a:path>
            </a:pathLst>
          </a:custGeom>
          <a:noFill/>
          <a:ln w="571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p:cNvSpPr txBox="1"/>
          <p:nvPr/>
        </p:nvSpPr>
        <p:spPr>
          <a:xfrm>
            <a:off x="9557778" y="6205188"/>
            <a:ext cx="1992989" cy="523220"/>
          </a:xfrm>
          <a:prstGeom prst="rect">
            <a:avLst/>
          </a:prstGeom>
          <a:solidFill>
            <a:schemeClr val="bg1"/>
          </a:solidFill>
        </p:spPr>
        <p:txBody>
          <a:bodyPr wrap="square" rtlCol="0">
            <a:spAutoFit/>
          </a:bodyPr>
          <a:lstStyle/>
          <a:p>
            <a:pPr algn="ctr"/>
            <a:r>
              <a:rPr lang="ko-KR" altLang="en-US" sz="1400" dirty="0"/>
              <a:t>선의의 丙이 국내에서 </a:t>
            </a:r>
            <a:endParaRPr lang="en-US" altLang="ko-KR" sz="1400" dirty="0"/>
          </a:p>
          <a:p>
            <a:pPr algn="ctr"/>
            <a:r>
              <a:rPr lang="ko-KR" altLang="en-US" sz="1400" dirty="0"/>
              <a:t>실시사업 또는 사업준비</a:t>
            </a:r>
          </a:p>
        </p:txBody>
      </p:sp>
      <p:sp>
        <p:nvSpPr>
          <p:cNvPr id="47" name="Rectangle 14"/>
          <p:cNvSpPr>
            <a:spLocks noChangeArrowheads="1"/>
          </p:cNvSpPr>
          <p:nvPr/>
        </p:nvSpPr>
        <p:spPr bwMode="auto">
          <a:xfrm>
            <a:off x="8057146" y="6170958"/>
            <a:ext cx="968799"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이전등록</a:t>
            </a:r>
            <a:endParaRPr lang="en-US" altLang="ko-KR" sz="1400" dirty="0">
              <a:latin typeface="+mn-ea"/>
            </a:endParaRPr>
          </a:p>
          <a:p>
            <a:pPr algn="ctr"/>
            <a:r>
              <a:rPr lang="en-US" altLang="ko-KR" sz="1400" dirty="0">
                <a:latin typeface="+mn-ea"/>
              </a:rPr>
              <a:t>(</a:t>
            </a:r>
            <a:r>
              <a:rPr lang="ko-KR" altLang="en-US" sz="1400" dirty="0">
                <a:latin typeface="+mn-ea"/>
              </a:rPr>
              <a:t>乙 </a:t>
            </a:r>
            <a:r>
              <a:rPr lang="en-US" altLang="ko-KR" sz="1400" dirty="0">
                <a:latin typeface="+mn-ea"/>
                <a:sym typeface="Wingdings" panose="05000000000000000000" pitchFamily="2" charset="2"/>
              </a:rPr>
              <a:t> </a:t>
            </a:r>
            <a:r>
              <a:rPr lang="ko-KR" altLang="en-US" sz="1400" dirty="0">
                <a:latin typeface="+mn-ea"/>
                <a:sym typeface="Wingdings" panose="05000000000000000000" pitchFamily="2" charset="2"/>
              </a:rPr>
              <a:t>丙</a:t>
            </a:r>
            <a:r>
              <a:rPr lang="en-US" altLang="ko-KR" sz="1400" dirty="0">
                <a:latin typeface="+mn-ea"/>
                <a:sym typeface="Wingdings" panose="05000000000000000000" pitchFamily="2" charset="2"/>
              </a:rPr>
              <a:t>)</a:t>
            </a:r>
            <a:endParaRPr lang="en-US" altLang="ko-KR" sz="1400" dirty="0">
              <a:latin typeface="+mn-ea"/>
            </a:endParaRPr>
          </a:p>
        </p:txBody>
      </p:sp>
      <p:cxnSp>
        <p:nvCxnSpPr>
          <p:cNvPr id="48" name="직선 화살표 연결선 47"/>
          <p:cNvCxnSpPr>
            <a:stCxn id="47" idx="0"/>
          </p:cNvCxnSpPr>
          <p:nvPr/>
        </p:nvCxnSpPr>
        <p:spPr>
          <a:xfrm flipV="1">
            <a:off x="8541545" y="5218994"/>
            <a:ext cx="0" cy="95196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4" name="Rectangle 14"/>
          <p:cNvSpPr>
            <a:spLocks noChangeArrowheads="1"/>
          </p:cNvSpPr>
          <p:nvPr/>
        </p:nvSpPr>
        <p:spPr bwMode="auto">
          <a:xfrm>
            <a:off x="6326914" y="4518380"/>
            <a:ext cx="569803"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accent2">
                    <a:lumMod val="50000"/>
                  </a:schemeClr>
                </a:solidFill>
                <a:latin typeface="+mn-ea"/>
              </a:rPr>
              <a:t>발명</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b="0" dirty="0">
                <a:solidFill>
                  <a:schemeClr val="accent2">
                    <a:lumMod val="50000"/>
                  </a:schemeClr>
                </a:solidFill>
                <a:latin typeface="+mn-ea"/>
              </a:rPr>
              <a:t>甲</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sp>
        <p:nvSpPr>
          <p:cNvPr id="56" name="Rectangle 14"/>
          <p:cNvSpPr>
            <a:spLocks noChangeArrowheads="1"/>
          </p:cNvSpPr>
          <p:nvPr/>
        </p:nvSpPr>
        <p:spPr bwMode="auto">
          <a:xfrm>
            <a:off x="10723599" y="4481013"/>
            <a:ext cx="490867"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accent2">
                    <a:lumMod val="50000"/>
                  </a:schemeClr>
                </a:solidFill>
                <a:latin typeface="+mn-ea"/>
              </a:rPr>
              <a:t>출원</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b="0" dirty="0">
                <a:solidFill>
                  <a:schemeClr val="accent2">
                    <a:lumMod val="50000"/>
                  </a:schemeClr>
                </a:solidFill>
                <a:latin typeface="+mn-ea"/>
              </a:rPr>
              <a:t>甲</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sp>
        <p:nvSpPr>
          <p:cNvPr id="58" name="Rectangle 14"/>
          <p:cNvSpPr>
            <a:spLocks noChangeArrowheads="1"/>
          </p:cNvSpPr>
          <p:nvPr/>
        </p:nvSpPr>
        <p:spPr bwMode="auto">
          <a:xfrm>
            <a:off x="11263159" y="4481013"/>
            <a:ext cx="742592"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400" dirty="0" err="1">
                <a:solidFill>
                  <a:schemeClr val="accent2">
                    <a:lumMod val="50000"/>
                  </a:schemeClr>
                </a:solidFill>
                <a:latin typeface="+mn-ea"/>
              </a:rPr>
              <a:t>설정등록</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b="0" dirty="0">
                <a:solidFill>
                  <a:schemeClr val="accent2">
                    <a:lumMod val="50000"/>
                  </a:schemeClr>
                </a:solidFill>
                <a:latin typeface="+mn-ea"/>
              </a:rPr>
              <a:t>甲</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cxnSp>
        <p:nvCxnSpPr>
          <p:cNvPr id="55" name="직선 화살표 연결선 54"/>
          <p:cNvCxnSpPr>
            <a:stCxn id="54" idx="2"/>
          </p:cNvCxnSpPr>
          <p:nvPr/>
        </p:nvCxnSpPr>
        <p:spPr>
          <a:xfrm flipH="1">
            <a:off x="6608833" y="4980368"/>
            <a:ext cx="2982" cy="21111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p:cNvCxnSpPr>
            <a:cxnSpLocks/>
            <a:stCxn id="56" idx="2"/>
          </p:cNvCxnSpPr>
          <p:nvPr/>
        </p:nvCxnSpPr>
        <p:spPr>
          <a:xfrm flipH="1">
            <a:off x="10967517" y="4943001"/>
            <a:ext cx="1516" cy="27036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9" name="직선 화살표 연결선 58"/>
          <p:cNvCxnSpPr>
            <a:cxnSpLocks/>
            <a:stCxn id="58" idx="2"/>
          </p:cNvCxnSpPr>
          <p:nvPr/>
        </p:nvCxnSpPr>
        <p:spPr>
          <a:xfrm>
            <a:off x="11634455" y="4943001"/>
            <a:ext cx="56" cy="27599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 name="꺾인 연결선 18"/>
          <p:cNvCxnSpPr>
            <a:cxnSpLocks/>
            <a:stCxn id="56" idx="0"/>
            <a:endCxn id="7" idx="0"/>
          </p:cNvCxnSpPr>
          <p:nvPr/>
        </p:nvCxnSpPr>
        <p:spPr>
          <a:xfrm rot="16200000" flipH="1" flipV="1">
            <a:off x="8690175" y="2893577"/>
            <a:ext cx="691422" cy="3866294"/>
          </a:xfrm>
          <a:prstGeom prst="bentConnector3">
            <a:avLst>
              <a:gd name="adj1" fmla="val -33062"/>
            </a:avLst>
          </a:prstGeom>
          <a:ln w="127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0" name="TextBox 59"/>
          <p:cNvSpPr txBox="1"/>
          <p:nvPr/>
        </p:nvSpPr>
        <p:spPr>
          <a:xfrm>
            <a:off x="8057146" y="4103116"/>
            <a:ext cx="1676264" cy="307777"/>
          </a:xfrm>
          <a:prstGeom prst="rect">
            <a:avLst/>
          </a:prstGeom>
          <a:solidFill>
            <a:schemeClr val="bg1"/>
          </a:solidFill>
        </p:spPr>
        <p:txBody>
          <a:bodyPr wrap="square" rtlCol="0">
            <a:spAutoFit/>
          </a:bodyPr>
          <a:lstStyle/>
          <a:p>
            <a:pPr algn="ctr"/>
            <a:r>
              <a:rPr lang="ko-KR" altLang="en-US" sz="1400" dirty="0"/>
              <a:t>출원일 소급</a:t>
            </a:r>
            <a:r>
              <a:rPr lang="en-US" altLang="ko-KR" sz="1400" dirty="0"/>
              <a:t>(</a:t>
            </a:r>
            <a:r>
              <a:rPr lang="ko-KR" altLang="en-US" sz="1400" dirty="0"/>
              <a:t>法 </a:t>
            </a:r>
            <a:r>
              <a:rPr lang="en-US" altLang="ko-KR" sz="1400" dirty="0"/>
              <a:t>35)</a:t>
            </a:r>
            <a:endParaRPr lang="ko-KR" altLang="en-US" sz="1400" dirty="0"/>
          </a:p>
        </p:txBody>
      </p:sp>
      <p:sp>
        <p:nvSpPr>
          <p:cNvPr id="22" name="TextBox 21"/>
          <p:cNvSpPr txBox="1"/>
          <p:nvPr/>
        </p:nvSpPr>
        <p:spPr>
          <a:xfrm>
            <a:off x="8644053" y="4756495"/>
            <a:ext cx="1480302" cy="280928"/>
          </a:xfrm>
          <a:prstGeom prst="wedgeRoundRectCallout">
            <a:avLst>
              <a:gd name="adj1" fmla="val 1791"/>
              <a:gd name="adj2" fmla="val 186011"/>
              <a:gd name="adj3" fmla="val 16667"/>
            </a:avLst>
          </a:prstGeom>
          <a:noFill/>
          <a:ln>
            <a:solidFill>
              <a:schemeClr val="bg1">
                <a:lumMod val="50000"/>
              </a:schemeClr>
            </a:solidFill>
          </a:ln>
        </p:spPr>
        <p:txBody>
          <a:bodyPr wrap="square" rtlCol="0">
            <a:spAutoFit/>
          </a:bodyPr>
          <a:lstStyle/>
          <a:p>
            <a:r>
              <a:rPr lang="ko-KR" altLang="en-US" sz="1050" dirty="0"/>
              <a:t>제</a:t>
            </a:r>
            <a:r>
              <a:rPr lang="en-US" altLang="ko-KR" sz="1050" dirty="0"/>
              <a:t>33</a:t>
            </a:r>
            <a:r>
              <a:rPr lang="ko-KR" altLang="en-US" sz="1050" dirty="0"/>
              <a:t>조제</a:t>
            </a:r>
            <a:r>
              <a:rPr lang="en-US" altLang="ko-KR" sz="1050" dirty="0"/>
              <a:t>1</a:t>
            </a:r>
            <a:r>
              <a:rPr lang="ko-KR" altLang="en-US" sz="1050" dirty="0" err="1"/>
              <a:t>항본문</a:t>
            </a:r>
            <a:r>
              <a:rPr lang="ko-KR" altLang="en-US" sz="1050" dirty="0"/>
              <a:t> 위반</a:t>
            </a:r>
          </a:p>
        </p:txBody>
      </p:sp>
      <p:sp>
        <p:nvSpPr>
          <p:cNvPr id="7" name="타원 6"/>
          <p:cNvSpPr/>
          <p:nvPr/>
        </p:nvSpPr>
        <p:spPr>
          <a:xfrm>
            <a:off x="7079879" y="5172435"/>
            <a:ext cx="45719" cy="7120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모서리가 둥근 직사각형 105">
            <a:extLst>
              <a:ext uri="{FF2B5EF4-FFF2-40B4-BE49-F238E27FC236}">
                <a16:creationId xmlns:a16="http://schemas.microsoft.com/office/drawing/2014/main" id="{0384045E-1D56-4DDD-9A01-20FE53763E80}"/>
              </a:ext>
            </a:extLst>
          </p:cNvPr>
          <p:cNvSpPr/>
          <p:nvPr/>
        </p:nvSpPr>
        <p:spPr>
          <a:xfrm>
            <a:off x="6468986" y="3556949"/>
            <a:ext cx="2403541" cy="429338"/>
          </a:xfrm>
          <a:prstGeom prst="roundRect">
            <a:avLst/>
          </a:prstGeom>
          <a:solidFill>
            <a:schemeClr val="tx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제</a:t>
            </a:r>
            <a:r>
              <a:rPr lang="en-US" altLang="ko-KR" sz="1600" dirty="0"/>
              <a:t>33</a:t>
            </a:r>
            <a:r>
              <a:rPr lang="ko-KR" altLang="en-US" sz="1600" dirty="0"/>
              <a:t>조제</a:t>
            </a:r>
            <a:r>
              <a:rPr lang="en-US" altLang="ko-KR" sz="1600" dirty="0"/>
              <a:t>1</a:t>
            </a:r>
            <a:r>
              <a:rPr lang="ko-KR" altLang="en-US" sz="1600" dirty="0" err="1"/>
              <a:t>항본문</a:t>
            </a:r>
            <a:r>
              <a:rPr lang="ko-KR" altLang="en-US" sz="1600" dirty="0"/>
              <a:t> 위반</a:t>
            </a:r>
          </a:p>
        </p:txBody>
      </p:sp>
      <p:cxnSp>
        <p:nvCxnSpPr>
          <p:cNvPr id="31" name="직선 화살표 연결선 30"/>
          <p:cNvCxnSpPr/>
          <p:nvPr/>
        </p:nvCxnSpPr>
        <p:spPr>
          <a:xfrm>
            <a:off x="6430357" y="5205240"/>
            <a:ext cx="5574070" cy="0"/>
          </a:xfrm>
          <a:prstGeom prst="straightConnector1">
            <a:avLst/>
          </a:prstGeom>
          <a:ln w="5715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6" name="모서리가 둥근 직사각형 105">
            <a:extLst>
              <a:ext uri="{FF2B5EF4-FFF2-40B4-BE49-F238E27FC236}">
                <a16:creationId xmlns:a16="http://schemas.microsoft.com/office/drawing/2014/main" id="{4BC13741-05E1-48D7-A14D-96C5B2E08485}"/>
              </a:ext>
            </a:extLst>
          </p:cNvPr>
          <p:cNvSpPr/>
          <p:nvPr/>
        </p:nvSpPr>
        <p:spPr>
          <a:xfrm>
            <a:off x="261028" y="3556949"/>
            <a:ext cx="4225628" cy="429338"/>
          </a:xfrm>
          <a:prstGeom prst="roundRect">
            <a:avLst/>
          </a:prstGeom>
          <a:solidFill>
            <a:schemeClr val="tx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제</a:t>
            </a:r>
            <a:r>
              <a:rPr lang="en-US" altLang="ko-KR" sz="1600" dirty="0"/>
              <a:t>29</a:t>
            </a:r>
            <a:r>
              <a:rPr lang="ko-KR" altLang="en-US" sz="1600" dirty="0"/>
              <a:t>조제</a:t>
            </a:r>
            <a:r>
              <a:rPr lang="en-US" altLang="ko-KR" sz="1600" dirty="0"/>
              <a:t>1</a:t>
            </a:r>
            <a:r>
              <a:rPr lang="ko-KR" altLang="en-US" sz="1600" dirty="0" err="1"/>
              <a:t>항각호</a:t>
            </a:r>
            <a:r>
              <a:rPr lang="en-US" altLang="ko-KR" sz="1600" dirty="0"/>
              <a:t>, </a:t>
            </a:r>
            <a:r>
              <a:rPr lang="ko-KR" altLang="en-US" sz="1600" dirty="0"/>
              <a:t>제</a:t>
            </a:r>
            <a:r>
              <a:rPr lang="en-US" altLang="ko-KR" sz="1600" dirty="0"/>
              <a:t>29</a:t>
            </a:r>
            <a:r>
              <a:rPr lang="ko-KR" altLang="en-US" sz="1600" dirty="0"/>
              <a:t>조제</a:t>
            </a:r>
            <a:r>
              <a:rPr lang="en-US" altLang="ko-KR" sz="1600" dirty="0"/>
              <a:t>3</a:t>
            </a:r>
            <a:r>
              <a:rPr lang="ko-KR" altLang="en-US" sz="1600" dirty="0"/>
              <a:t>항</a:t>
            </a:r>
            <a:r>
              <a:rPr lang="en-US" altLang="ko-KR" sz="1600" dirty="0"/>
              <a:t>, </a:t>
            </a:r>
            <a:r>
              <a:rPr lang="ko-KR" altLang="en-US" sz="1600" dirty="0"/>
              <a:t>제</a:t>
            </a:r>
            <a:r>
              <a:rPr lang="en-US" altLang="ko-KR" sz="1600" dirty="0"/>
              <a:t>36</a:t>
            </a:r>
            <a:r>
              <a:rPr lang="ko-KR" altLang="en-US" sz="1600" dirty="0"/>
              <a:t>조 위반</a:t>
            </a:r>
          </a:p>
        </p:txBody>
      </p:sp>
      <p:sp>
        <p:nvSpPr>
          <p:cNvPr id="78" name="Rectangle 14">
            <a:extLst>
              <a:ext uri="{FF2B5EF4-FFF2-40B4-BE49-F238E27FC236}">
                <a16:creationId xmlns:a16="http://schemas.microsoft.com/office/drawing/2014/main" id="{D662EF22-0508-478E-8629-9AB5D26171F6}"/>
              </a:ext>
            </a:extLst>
          </p:cNvPr>
          <p:cNvSpPr>
            <a:spLocks noChangeArrowheads="1"/>
          </p:cNvSpPr>
          <p:nvPr/>
        </p:nvSpPr>
        <p:spPr bwMode="auto">
          <a:xfrm>
            <a:off x="9313861" y="5481302"/>
            <a:ext cx="1039360"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무효심판청구</a:t>
            </a:r>
            <a:endParaRPr lang="en-US" altLang="ko-KR" sz="1400" dirty="0">
              <a:latin typeface="+mn-ea"/>
            </a:endParaRPr>
          </a:p>
          <a:p>
            <a:pPr algn="ctr"/>
            <a:r>
              <a:rPr lang="en-US" altLang="ko-KR" sz="1200" b="0" dirty="0">
                <a:latin typeface="+mn-ea"/>
              </a:rPr>
              <a:t>(</a:t>
            </a:r>
            <a:r>
              <a:rPr lang="ko-KR" altLang="en-US" sz="1200" b="0" dirty="0">
                <a:latin typeface="+mn-ea"/>
              </a:rPr>
              <a:t>甲</a:t>
            </a:r>
            <a:r>
              <a:rPr lang="en-US" altLang="ko-KR" sz="1200" b="0" dirty="0">
                <a:latin typeface="+mn-ea"/>
              </a:rPr>
              <a:t>/</a:t>
            </a:r>
            <a:r>
              <a:rPr lang="ko-KR" altLang="en-US" sz="1200" b="0" dirty="0">
                <a:latin typeface="+mn-ea"/>
              </a:rPr>
              <a:t>심사관</a:t>
            </a:r>
            <a:r>
              <a:rPr lang="en-US" altLang="ko-KR" sz="1200" b="0" dirty="0">
                <a:latin typeface="+mn-ea"/>
              </a:rPr>
              <a:t>)</a:t>
            </a:r>
            <a:endParaRPr lang="ko-KR" altLang="en-US" sz="1200" b="0" dirty="0">
              <a:latin typeface="+mn-ea"/>
            </a:endParaRPr>
          </a:p>
        </p:txBody>
      </p:sp>
      <p:cxnSp>
        <p:nvCxnSpPr>
          <p:cNvPr id="79" name="직선 화살표 연결선 78">
            <a:extLst>
              <a:ext uri="{FF2B5EF4-FFF2-40B4-BE49-F238E27FC236}">
                <a16:creationId xmlns:a16="http://schemas.microsoft.com/office/drawing/2014/main" id="{4E8E2646-C7E9-49B0-BAD6-6ADDCFB61BF9}"/>
              </a:ext>
            </a:extLst>
          </p:cNvPr>
          <p:cNvCxnSpPr>
            <a:cxnSpLocks/>
            <a:stCxn id="78" idx="0"/>
          </p:cNvCxnSpPr>
          <p:nvPr/>
        </p:nvCxnSpPr>
        <p:spPr>
          <a:xfrm flipH="1" flipV="1">
            <a:off x="9833540" y="5243638"/>
            <a:ext cx="1" cy="23766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0" name="Rectangle 14">
            <a:extLst>
              <a:ext uri="{FF2B5EF4-FFF2-40B4-BE49-F238E27FC236}">
                <a16:creationId xmlns:a16="http://schemas.microsoft.com/office/drawing/2014/main" id="{1D3131B4-80C8-4614-B4E8-09A993B544D9}"/>
              </a:ext>
            </a:extLst>
          </p:cNvPr>
          <p:cNvSpPr>
            <a:spLocks noChangeArrowheads="1"/>
          </p:cNvSpPr>
          <p:nvPr/>
        </p:nvSpPr>
        <p:spPr bwMode="auto">
          <a:xfrm>
            <a:off x="10478655" y="5481302"/>
            <a:ext cx="746662"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무효심결</a:t>
            </a:r>
            <a:endParaRPr lang="en-US" altLang="ko-KR" sz="1400" dirty="0">
              <a:latin typeface="+mn-ea"/>
            </a:endParaRPr>
          </a:p>
          <a:p>
            <a:pPr algn="ctr"/>
            <a:r>
              <a:rPr lang="ko-KR" altLang="en-US" sz="1400" dirty="0">
                <a:latin typeface="+mn-ea"/>
              </a:rPr>
              <a:t>확정</a:t>
            </a:r>
          </a:p>
        </p:txBody>
      </p:sp>
      <p:cxnSp>
        <p:nvCxnSpPr>
          <p:cNvPr id="81" name="직선 화살표 연결선 80">
            <a:extLst>
              <a:ext uri="{FF2B5EF4-FFF2-40B4-BE49-F238E27FC236}">
                <a16:creationId xmlns:a16="http://schemas.microsoft.com/office/drawing/2014/main" id="{C7D09040-6BD9-4815-AD7A-CC4AA4722190}"/>
              </a:ext>
            </a:extLst>
          </p:cNvPr>
          <p:cNvCxnSpPr>
            <a:cxnSpLocks/>
            <a:stCxn id="80" idx="0"/>
          </p:cNvCxnSpPr>
          <p:nvPr/>
        </p:nvCxnSpPr>
        <p:spPr>
          <a:xfrm flipV="1">
            <a:off x="10851986" y="5243638"/>
            <a:ext cx="1" cy="23766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3" name="Rectangle 14">
            <a:extLst>
              <a:ext uri="{FF2B5EF4-FFF2-40B4-BE49-F238E27FC236}">
                <a16:creationId xmlns:a16="http://schemas.microsoft.com/office/drawing/2014/main" id="{3C795499-6D30-4D8A-9B3A-05363C99C0FF}"/>
              </a:ext>
            </a:extLst>
          </p:cNvPr>
          <p:cNvSpPr>
            <a:spLocks noChangeArrowheads="1"/>
          </p:cNvSpPr>
          <p:nvPr/>
        </p:nvSpPr>
        <p:spPr bwMode="auto">
          <a:xfrm>
            <a:off x="645372" y="5481302"/>
            <a:ext cx="739670"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400" dirty="0">
                <a:latin typeface="+mn-ea"/>
              </a:rPr>
              <a:t>A</a:t>
            </a:r>
            <a:r>
              <a:rPr lang="ko-KR" altLang="en-US" sz="1400" dirty="0">
                <a:latin typeface="+mn-ea"/>
              </a:rPr>
              <a:t> 출원</a:t>
            </a:r>
            <a:endParaRPr lang="en-US" altLang="ko-KR" sz="1400" dirty="0">
              <a:latin typeface="+mn-ea"/>
            </a:endParaRPr>
          </a:p>
          <a:p>
            <a:pPr algn="ctr"/>
            <a:r>
              <a:rPr lang="en-US" altLang="ko-KR" sz="1400" b="0" dirty="0">
                <a:latin typeface="+mn-ea"/>
              </a:rPr>
              <a:t>(</a:t>
            </a:r>
            <a:r>
              <a:rPr lang="ko-KR" altLang="en-US" sz="1400" dirty="0">
                <a:latin typeface="+mn-ea"/>
              </a:rPr>
              <a:t>乙</a:t>
            </a:r>
            <a:r>
              <a:rPr lang="en-US" altLang="ko-KR" sz="1400" b="0" dirty="0">
                <a:latin typeface="+mn-ea"/>
              </a:rPr>
              <a:t>)</a:t>
            </a:r>
            <a:endParaRPr lang="ko-KR" altLang="en-US" sz="1400" b="0" dirty="0">
              <a:latin typeface="+mn-ea"/>
            </a:endParaRPr>
          </a:p>
        </p:txBody>
      </p:sp>
      <p:cxnSp>
        <p:nvCxnSpPr>
          <p:cNvPr id="84" name="직선 화살표 연결선 83">
            <a:extLst>
              <a:ext uri="{FF2B5EF4-FFF2-40B4-BE49-F238E27FC236}">
                <a16:creationId xmlns:a16="http://schemas.microsoft.com/office/drawing/2014/main" id="{B98EB4E3-E911-4011-94D8-5293B35FD5A4}"/>
              </a:ext>
            </a:extLst>
          </p:cNvPr>
          <p:cNvCxnSpPr>
            <a:cxnSpLocks/>
            <a:stCxn id="83" idx="0"/>
          </p:cNvCxnSpPr>
          <p:nvPr/>
        </p:nvCxnSpPr>
        <p:spPr>
          <a:xfrm flipV="1">
            <a:off x="1015207" y="5270184"/>
            <a:ext cx="0" cy="21111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7" name="자유형 37">
            <a:extLst>
              <a:ext uri="{FF2B5EF4-FFF2-40B4-BE49-F238E27FC236}">
                <a16:creationId xmlns:a16="http://schemas.microsoft.com/office/drawing/2014/main" id="{ECD02C1A-5349-462B-A7A6-2B8755A3D67C}"/>
              </a:ext>
            </a:extLst>
          </p:cNvPr>
          <p:cNvSpPr/>
          <p:nvPr/>
        </p:nvSpPr>
        <p:spPr>
          <a:xfrm>
            <a:off x="2887233" y="5213389"/>
            <a:ext cx="2853920" cy="1218923"/>
          </a:xfrm>
          <a:custGeom>
            <a:avLst/>
            <a:gdLst>
              <a:gd name="connsiteX0" fmla="*/ 0 w 7879222"/>
              <a:gd name="connsiteY0" fmla="*/ 0 h 743484"/>
              <a:gd name="connsiteX1" fmla="*/ 0 w 7879222"/>
              <a:gd name="connsiteY1" fmla="*/ 743484 h 743484"/>
              <a:gd name="connsiteX2" fmla="*/ 7879222 w 7879222"/>
              <a:gd name="connsiteY2" fmla="*/ 743484 h 743484"/>
            </a:gdLst>
            <a:ahLst/>
            <a:cxnLst>
              <a:cxn ang="0">
                <a:pos x="connsiteX0" y="connsiteY0"/>
              </a:cxn>
              <a:cxn ang="0">
                <a:pos x="connsiteX1" y="connsiteY1"/>
              </a:cxn>
              <a:cxn ang="0">
                <a:pos x="connsiteX2" y="connsiteY2"/>
              </a:cxn>
            </a:cxnLst>
            <a:rect l="l" t="t" r="r" b="b"/>
            <a:pathLst>
              <a:path w="7879222" h="743484">
                <a:moveTo>
                  <a:pt x="0" y="0"/>
                </a:moveTo>
                <a:lnTo>
                  <a:pt x="0" y="743484"/>
                </a:lnTo>
                <a:lnTo>
                  <a:pt x="7879222" y="743484"/>
                </a:lnTo>
              </a:path>
            </a:pathLst>
          </a:custGeom>
          <a:noFill/>
          <a:ln w="571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8" name="TextBox 87">
            <a:extLst>
              <a:ext uri="{FF2B5EF4-FFF2-40B4-BE49-F238E27FC236}">
                <a16:creationId xmlns:a16="http://schemas.microsoft.com/office/drawing/2014/main" id="{9A81AC5D-0AE6-4F83-94E5-0E3845AA504A}"/>
              </a:ext>
            </a:extLst>
          </p:cNvPr>
          <p:cNvSpPr txBox="1"/>
          <p:nvPr/>
        </p:nvSpPr>
        <p:spPr>
          <a:xfrm>
            <a:off x="3317698" y="6205188"/>
            <a:ext cx="1992989" cy="523220"/>
          </a:xfrm>
          <a:prstGeom prst="rect">
            <a:avLst/>
          </a:prstGeom>
          <a:solidFill>
            <a:schemeClr val="bg1"/>
          </a:solidFill>
        </p:spPr>
        <p:txBody>
          <a:bodyPr wrap="square" rtlCol="0">
            <a:spAutoFit/>
          </a:bodyPr>
          <a:lstStyle/>
          <a:p>
            <a:pPr algn="ctr"/>
            <a:r>
              <a:rPr lang="ko-KR" altLang="en-US" sz="1400" dirty="0"/>
              <a:t>선의의 乙이 국내에서 </a:t>
            </a:r>
            <a:endParaRPr lang="en-US" altLang="ko-KR" sz="1400" dirty="0"/>
          </a:p>
          <a:p>
            <a:pPr algn="ctr"/>
            <a:r>
              <a:rPr lang="ko-KR" altLang="en-US" sz="1400" dirty="0"/>
              <a:t>실시사업 또는 사업준비</a:t>
            </a:r>
          </a:p>
        </p:txBody>
      </p:sp>
      <p:sp>
        <p:nvSpPr>
          <p:cNvPr id="91" name="Rectangle 14">
            <a:extLst>
              <a:ext uri="{FF2B5EF4-FFF2-40B4-BE49-F238E27FC236}">
                <a16:creationId xmlns:a16="http://schemas.microsoft.com/office/drawing/2014/main" id="{35A671F0-21A1-419D-8A4E-88A437A6D05E}"/>
              </a:ext>
            </a:extLst>
          </p:cNvPr>
          <p:cNvSpPr>
            <a:spLocks noChangeArrowheads="1"/>
          </p:cNvSpPr>
          <p:nvPr/>
        </p:nvSpPr>
        <p:spPr bwMode="auto">
          <a:xfrm>
            <a:off x="318482" y="4518380"/>
            <a:ext cx="569803"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en-US" altLang="ko-KR" sz="1400" dirty="0">
                <a:solidFill>
                  <a:schemeClr val="accent2">
                    <a:lumMod val="50000"/>
                  </a:schemeClr>
                </a:solidFill>
                <a:latin typeface="+mn-ea"/>
              </a:rPr>
              <a:t>A </a:t>
            </a:r>
            <a:r>
              <a:rPr lang="ko-KR" altLang="en-US" sz="1400" dirty="0">
                <a:solidFill>
                  <a:schemeClr val="accent2">
                    <a:lumMod val="50000"/>
                  </a:schemeClr>
                </a:solidFill>
                <a:latin typeface="+mn-ea"/>
              </a:rPr>
              <a:t>출원</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b="0" dirty="0">
                <a:solidFill>
                  <a:schemeClr val="accent2">
                    <a:lumMod val="50000"/>
                  </a:schemeClr>
                </a:solidFill>
                <a:latin typeface="+mn-ea"/>
              </a:rPr>
              <a:t>甲</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cxnSp>
        <p:nvCxnSpPr>
          <p:cNvPr id="94" name="직선 화살표 연결선 93">
            <a:extLst>
              <a:ext uri="{FF2B5EF4-FFF2-40B4-BE49-F238E27FC236}">
                <a16:creationId xmlns:a16="http://schemas.microsoft.com/office/drawing/2014/main" id="{24BBFA2C-FEEA-49F6-99F6-A1BB7B6D66B7}"/>
              </a:ext>
            </a:extLst>
          </p:cNvPr>
          <p:cNvCxnSpPr>
            <a:stCxn id="91" idx="2"/>
          </p:cNvCxnSpPr>
          <p:nvPr/>
        </p:nvCxnSpPr>
        <p:spPr>
          <a:xfrm flipH="1">
            <a:off x="600401" y="4980368"/>
            <a:ext cx="2982" cy="21111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9" name="TextBox 98">
            <a:extLst>
              <a:ext uri="{FF2B5EF4-FFF2-40B4-BE49-F238E27FC236}">
                <a16:creationId xmlns:a16="http://schemas.microsoft.com/office/drawing/2014/main" id="{8F8C6CE0-A828-403F-A105-07767F6CECAD}"/>
              </a:ext>
            </a:extLst>
          </p:cNvPr>
          <p:cNvSpPr txBox="1"/>
          <p:nvPr/>
        </p:nvSpPr>
        <p:spPr>
          <a:xfrm>
            <a:off x="2403972" y="4756495"/>
            <a:ext cx="2853919" cy="280928"/>
          </a:xfrm>
          <a:prstGeom prst="wedgeRoundRectCallout">
            <a:avLst>
              <a:gd name="adj1" fmla="val -15297"/>
              <a:gd name="adj2" fmla="val 181671"/>
              <a:gd name="adj3" fmla="val 16667"/>
            </a:avLst>
          </a:prstGeom>
          <a:noFill/>
          <a:ln>
            <a:solidFill>
              <a:schemeClr val="bg1">
                <a:lumMod val="50000"/>
              </a:schemeClr>
            </a:solidFill>
          </a:ln>
        </p:spPr>
        <p:txBody>
          <a:bodyPr wrap="square" rtlCol="0">
            <a:spAutoFit/>
          </a:bodyPr>
          <a:lstStyle/>
          <a:p>
            <a:r>
              <a:rPr lang="ko-KR" altLang="en-US" sz="1050" dirty="0"/>
              <a:t>제</a:t>
            </a:r>
            <a:r>
              <a:rPr lang="en-US" altLang="ko-KR" sz="1050" dirty="0"/>
              <a:t>29</a:t>
            </a:r>
            <a:r>
              <a:rPr lang="ko-KR" altLang="en-US" sz="1050" dirty="0"/>
              <a:t>조제</a:t>
            </a:r>
            <a:r>
              <a:rPr lang="en-US" altLang="ko-KR" sz="1050" dirty="0"/>
              <a:t>1</a:t>
            </a:r>
            <a:r>
              <a:rPr lang="ko-KR" altLang="en-US" sz="1050" dirty="0" err="1"/>
              <a:t>항각호</a:t>
            </a:r>
            <a:r>
              <a:rPr lang="en-US" altLang="ko-KR" sz="1050" dirty="0"/>
              <a:t>, </a:t>
            </a:r>
            <a:r>
              <a:rPr lang="ko-KR" altLang="en-US" sz="1050" dirty="0"/>
              <a:t>제</a:t>
            </a:r>
            <a:r>
              <a:rPr lang="en-US" altLang="ko-KR" sz="1050" dirty="0"/>
              <a:t>29</a:t>
            </a:r>
            <a:r>
              <a:rPr lang="ko-KR" altLang="en-US" sz="1050" dirty="0"/>
              <a:t>조제</a:t>
            </a:r>
            <a:r>
              <a:rPr lang="en-US" altLang="ko-KR" sz="1050" dirty="0"/>
              <a:t>3</a:t>
            </a:r>
            <a:r>
              <a:rPr lang="ko-KR" altLang="en-US" sz="1050" dirty="0"/>
              <a:t>항</a:t>
            </a:r>
            <a:r>
              <a:rPr lang="en-US" altLang="ko-KR" sz="1050" dirty="0"/>
              <a:t>, </a:t>
            </a:r>
            <a:r>
              <a:rPr lang="ko-KR" altLang="en-US" sz="1050" dirty="0"/>
              <a:t>제</a:t>
            </a:r>
            <a:r>
              <a:rPr lang="en-US" altLang="ko-KR" sz="1050" dirty="0"/>
              <a:t>36</a:t>
            </a:r>
            <a:r>
              <a:rPr lang="ko-KR" altLang="en-US" sz="1050" dirty="0"/>
              <a:t>조 위반</a:t>
            </a:r>
          </a:p>
        </p:txBody>
      </p:sp>
      <p:cxnSp>
        <p:nvCxnSpPr>
          <p:cNvPr id="101" name="직선 화살표 연결선 100">
            <a:extLst>
              <a:ext uri="{FF2B5EF4-FFF2-40B4-BE49-F238E27FC236}">
                <a16:creationId xmlns:a16="http://schemas.microsoft.com/office/drawing/2014/main" id="{F3240072-1714-4DF1-B4FC-3326A35D6102}"/>
              </a:ext>
            </a:extLst>
          </p:cNvPr>
          <p:cNvCxnSpPr/>
          <p:nvPr/>
        </p:nvCxnSpPr>
        <p:spPr>
          <a:xfrm>
            <a:off x="190277" y="5205240"/>
            <a:ext cx="5574070" cy="0"/>
          </a:xfrm>
          <a:prstGeom prst="straightConnector1">
            <a:avLst/>
          </a:prstGeom>
          <a:ln w="5715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2" name="Rectangle 14">
            <a:extLst>
              <a:ext uri="{FF2B5EF4-FFF2-40B4-BE49-F238E27FC236}">
                <a16:creationId xmlns:a16="http://schemas.microsoft.com/office/drawing/2014/main" id="{07FBAE62-D4EB-4503-A55C-D4CE3E636860}"/>
              </a:ext>
            </a:extLst>
          </p:cNvPr>
          <p:cNvSpPr>
            <a:spLocks noChangeArrowheads="1"/>
          </p:cNvSpPr>
          <p:nvPr/>
        </p:nvSpPr>
        <p:spPr bwMode="auto">
          <a:xfrm>
            <a:off x="2959654" y="5481302"/>
            <a:ext cx="1440208"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무효심판청구</a:t>
            </a:r>
            <a:endParaRPr lang="en-US" altLang="ko-KR" sz="1400" dirty="0">
              <a:latin typeface="+mn-ea"/>
            </a:endParaRPr>
          </a:p>
          <a:p>
            <a:pPr algn="ctr"/>
            <a:r>
              <a:rPr lang="en-US" altLang="ko-KR" sz="1200" b="0" dirty="0">
                <a:latin typeface="+mn-ea"/>
              </a:rPr>
              <a:t>(</a:t>
            </a:r>
            <a:r>
              <a:rPr lang="ko-KR" altLang="en-US" sz="1200" dirty="0">
                <a:latin typeface="+mn-ea"/>
              </a:rPr>
              <a:t>이해관계인</a:t>
            </a:r>
            <a:r>
              <a:rPr lang="en-US" altLang="ko-KR" sz="1200" dirty="0">
                <a:latin typeface="+mn-ea"/>
              </a:rPr>
              <a:t>/</a:t>
            </a:r>
            <a:r>
              <a:rPr lang="ko-KR" altLang="en-US" sz="1200" dirty="0">
                <a:latin typeface="+mn-ea"/>
              </a:rPr>
              <a:t>심사관</a:t>
            </a:r>
            <a:r>
              <a:rPr lang="en-US" altLang="ko-KR" sz="1200" b="0" dirty="0">
                <a:latin typeface="+mn-ea"/>
              </a:rPr>
              <a:t>)</a:t>
            </a:r>
            <a:endParaRPr lang="ko-KR" altLang="en-US" sz="1200" b="0" dirty="0">
              <a:latin typeface="+mn-ea"/>
            </a:endParaRPr>
          </a:p>
        </p:txBody>
      </p:sp>
      <p:cxnSp>
        <p:nvCxnSpPr>
          <p:cNvPr id="103" name="직선 화살표 연결선 102">
            <a:extLst>
              <a:ext uri="{FF2B5EF4-FFF2-40B4-BE49-F238E27FC236}">
                <a16:creationId xmlns:a16="http://schemas.microsoft.com/office/drawing/2014/main" id="{E8308868-A1F2-4D40-BA1F-77D34181FCAD}"/>
              </a:ext>
            </a:extLst>
          </p:cNvPr>
          <p:cNvCxnSpPr>
            <a:cxnSpLocks/>
            <a:stCxn id="102" idx="0"/>
          </p:cNvCxnSpPr>
          <p:nvPr/>
        </p:nvCxnSpPr>
        <p:spPr>
          <a:xfrm flipV="1">
            <a:off x="3679758" y="5270184"/>
            <a:ext cx="0" cy="21111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4" name="Rectangle 14">
            <a:extLst>
              <a:ext uri="{FF2B5EF4-FFF2-40B4-BE49-F238E27FC236}">
                <a16:creationId xmlns:a16="http://schemas.microsoft.com/office/drawing/2014/main" id="{60FF79CF-E8F5-4B7D-84C8-A2696BFE0F09}"/>
              </a:ext>
            </a:extLst>
          </p:cNvPr>
          <p:cNvSpPr>
            <a:spLocks noChangeArrowheads="1"/>
          </p:cNvSpPr>
          <p:nvPr/>
        </p:nvSpPr>
        <p:spPr bwMode="auto">
          <a:xfrm>
            <a:off x="4835573" y="5481302"/>
            <a:ext cx="746662"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무효심결</a:t>
            </a:r>
            <a:endParaRPr lang="en-US" altLang="ko-KR" sz="1400" dirty="0">
              <a:latin typeface="+mn-ea"/>
            </a:endParaRPr>
          </a:p>
          <a:p>
            <a:pPr algn="ctr"/>
            <a:r>
              <a:rPr lang="ko-KR" altLang="en-US" sz="1400" dirty="0">
                <a:latin typeface="+mn-ea"/>
              </a:rPr>
              <a:t>확정</a:t>
            </a:r>
          </a:p>
        </p:txBody>
      </p:sp>
      <p:cxnSp>
        <p:nvCxnSpPr>
          <p:cNvPr id="105" name="직선 화살표 연결선 104">
            <a:extLst>
              <a:ext uri="{FF2B5EF4-FFF2-40B4-BE49-F238E27FC236}">
                <a16:creationId xmlns:a16="http://schemas.microsoft.com/office/drawing/2014/main" id="{12733309-DE36-4F22-9E40-8C3DD011CA86}"/>
              </a:ext>
            </a:extLst>
          </p:cNvPr>
          <p:cNvCxnSpPr>
            <a:cxnSpLocks/>
            <a:stCxn id="104" idx="0"/>
          </p:cNvCxnSpPr>
          <p:nvPr/>
        </p:nvCxnSpPr>
        <p:spPr>
          <a:xfrm flipV="1">
            <a:off x="5208904" y="5243638"/>
            <a:ext cx="1" cy="23766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6" name="Rectangle 14">
            <a:extLst>
              <a:ext uri="{FF2B5EF4-FFF2-40B4-BE49-F238E27FC236}">
                <a16:creationId xmlns:a16="http://schemas.microsoft.com/office/drawing/2014/main" id="{42EEF393-4985-45AA-990D-1B5575550826}"/>
              </a:ext>
            </a:extLst>
          </p:cNvPr>
          <p:cNvSpPr>
            <a:spLocks noChangeArrowheads="1"/>
          </p:cNvSpPr>
          <p:nvPr/>
        </p:nvSpPr>
        <p:spPr bwMode="auto">
          <a:xfrm>
            <a:off x="1268805" y="4518380"/>
            <a:ext cx="569803"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en-US" altLang="ko-KR" sz="1400" dirty="0">
                <a:solidFill>
                  <a:schemeClr val="accent2">
                    <a:lumMod val="50000"/>
                  </a:schemeClr>
                </a:solidFill>
                <a:latin typeface="+mn-ea"/>
              </a:rPr>
              <a:t>A </a:t>
            </a:r>
            <a:r>
              <a:rPr lang="ko-KR" altLang="en-US" sz="1400" dirty="0">
                <a:solidFill>
                  <a:schemeClr val="accent2">
                    <a:lumMod val="50000"/>
                  </a:schemeClr>
                </a:solidFill>
                <a:latin typeface="+mn-ea"/>
              </a:rPr>
              <a:t>등록</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b="0" dirty="0">
                <a:solidFill>
                  <a:schemeClr val="accent2">
                    <a:lumMod val="50000"/>
                  </a:schemeClr>
                </a:solidFill>
                <a:latin typeface="+mn-ea"/>
              </a:rPr>
              <a:t>甲</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cxnSp>
        <p:nvCxnSpPr>
          <p:cNvPr id="107" name="직선 화살표 연결선 106">
            <a:extLst>
              <a:ext uri="{FF2B5EF4-FFF2-40B4-BE49-F238E27FC236}">
                <a16:creationId xmlns:a16="http://schemas.microsoft.com/office/drawing/2014/main" id="{F38BF049-AB07-429D-A992-0129F93B1E5C}"/>
              </a:ext>
            </a:extLst>
          </p:cNvPr>
          <p:cNvCxnSpPr>
            <a:stCxn id="106" idx="2"/>
          </p:cNvCxnSpPr>
          <p:nvPr/>
        </p:nvCxnSpPr>
        <p:spPr>
          <a:xfrm flipH="1">
            <a:off x="1550724" y="4980368"/>
            <a:ext cx="2982" cy="21111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0" name="Rectangle 14">
            <a:extLst>
              <a:ext uri="{FF2B5EF4-FFF2-40B4-BE49-F238E27FC236}">
                <a16:creationId xmlns:a16="http://schemas.microsoft.com/office/drawing/2014/main" id="{C728A633-F617-46FB-BA93-B7FA91862769}"/>
              </a:ext>
            </a:extLst>
          </p:cNvPr>
          <p:cNvSpPr>
            <a:spLocks noChangeArrowheads="1"/>
          </p:cNvSpPr>
          <p:nvPr/>
        </p:nvSpPr>
        <p:spPr bwMode="auto">
          <a:xfrm>
            <a:off x="1838779" y="5481302"/>
            <a:ext cx="739670"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400" dirty="0">
                <a:latin typeface="+mn-ea"/>
              </a:rPr>
              <a:t>A</a:t>
            </a:r>
            <a:r>
              <a:rPr lang="ko-KR" altLang="en-US" sz="1400" dirty="0">
                <a:latin typeface="+mn-ea"/>
              </a:rPr>
              <a:t> 등록</a:t>
            </a:r>
            <a:endParaRPr lang="en-US" altLang="ko-KR" sz="1400" dirty="0">
              <a:latin typeface="+mn-ea"/>
            </a:endParaRPr>
          </a:p>
          <a:p>
            <a:pPr algn="ctr"/>
            <a:r>
              <a:rPr lang="en-US" altLang="ko-KR" sz="1400" b="0" dirty="0">
                <a:latin typeface="+mn-ea"/>
              </a:rPr>
              <a:t>(</a:t>
            </a:r>
            <a:r>
              <a:rPr lang="ko-KR" altLang="en-US" sz="1400" dirty="0">
                <a:latin typeface="+mn-ea"/>
              </a:rPr>
              <a:t>乙</a:t>
            </a:r>
            <a:r>
              <a:rPr lang="en-US" altLang="ko-KR" sz="1400" b="0" dirty="0">
                <a:latin typeface="+mn-ea"/>
              </a:rPr>
              <a:t>)</a:t>
            </a:r>
            <a:endParaRPr lang="ko-KR" altLang="en-US" sz="1400" b="0" dirty="0">
              <a:latin typeface="+mn-ea"/>
            </a:endParaRPr>
          </a:p>
        </p:txBody>
      </p:sp>
      <p:cxnSp>
        <p:nvCxnSpPr>
          <p:cNvPr id="111" name="직선 화살표 연결선 110">
            <a:extLst>
              <a:ext uri="{FF2B5EF4-FFF2-40B4-BE49-F238E27FC236}">
                <a16:creationId xmlns:a16="http://schemas.microsoft.com/office/drawing/2014/main" id="{A18E52D2-046A-478A-910A-46858F8AF309}"/>
              </a:ext>
            </a:extLst>
          </p:cNvPr>
          <p:cNvCxnSpPr>
            <a:cxnSpLocks/>
            <a:stCxn id="110" idx="0"/>
          </p:cNvCxnSpPr>
          <p:nvPr/>
        </p:nvCxnSpPr>
        <p:spPr>
          <a:xfrm flipV="1">
            <a:off x="2208614" y="5270184"/>
            <a:ext cx="0" cy="21111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5" name="직선 연결선 114">
            <a:extLst>
              <a:ext uri="{FF2B5EF4-FFF2-40B4-BE49-F238E27FC236}">
                <a16:creationId xmlns:a16="http://schemas.microsoft.com/office/drawing/2014/main" id="{91512DF3-9FAB-4B40-A5AC-2CB80298E6EA}"/>
              </a:ext>
            </a:extLst>
          </p:cNvPr>
          <p:cNvCxnSpPr/>
          <p:nvPr/>
        </p:nvCxnSpPr>
        <p:spPr>
          <a:xfrm>
            <a:off x="6096000" y="3681984"/>
            <a:ext cx="0" cy="3046424"/>
          </a:xfrm>
          <a:prstGeom prst="line">
            <a:avLst/>
          </a:prstGeom>
          <a:ln w="381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8714566"/>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5562945" y="6010420"/>
            <a:ext cx="624573" cy="646331"/>
          </a:xfrm>
          <a:prstGeom prst="rect">
            <a:avLst/>
          </a:prstGeom>
          <a:solidFill>
            <a:schemeClr val="bg1"/>
          </a:solidFill>
        </p:spPr>
        <p:txBody>
          <a:bodyPr wrap="square" rtlCol="0">
            <a:spAutoFit/>
          </a:bodyPr>
          <a:lstStyle/>
          <a:p>
            <a:pPr fontAlgn="base"/>
            <a:r>
              <a:rPr lang="ko-KR" altLang="en-US" sz="3600" dirty="0">
                <a:solidFill>
                  <a:srgbClr val="FF0000"/>
                </a:solidFill>
              </a:rPr>
              <a:t>❷</a:t>
            </a:r>
          </a:p>
        </p:txBody>
      </p:sp>
      <p:sp>
        <p:nvSpPr>
          <p:cNvPr id="52" name="곱셈 기호 51"/>
          <p:cNvSpPr/>
          <p:nvPr/>
        </p:nvSpPr>
        <p:spPr>
          <a:xfrm>
            <a:off x="4698619" y="5136144"/>
            <a:ext cx="1331799" cy="1331799"/>
          </a:xfrm>
          <a:prstGeom prst="mathMultiply">
            <a:avLst>
              <a:gd name="adj1" fmla="val 12199"/>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9" name="곱셈 기호 38"/>
          <p:cNvSpPr/>
          <p:nvPr/>
        </p:nvSpPr>
        <p:spPr>
          <a:xfrm>
            <a:off x="6498726" y="2595461"/>
            <a:ext cx="1331799" cy="1331799"/>
          </a:xfrm>
          <a:prstGeom prst="mathMultiply">
            <a:avLst>
              <a:gd name="adj1" fmla="val 12199"/>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직사각형 4"/>
          <p:cNvSpPr/>
          <p:nvPr/>
        </p:nvSpPr>
        <p:spPr>
          <a:xfrm>
            <a:off x="304800" y="1981200"/>
            <a:ext cx="5743575" cy="173355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ko-KR" altLang="en-US" dirty="0">
                <a:solidFill>
                  <a:schemeClr val="accent2"/>
                </a:solidFill>
              </a:rPr>
              <a:t>제</a:t>
            </a:r>
            <a:r>
              <a:rPr lang="en-US" altLang="ko-KR" dirty="0">
                <a:solidFill>
                  <a:schemeClr val="accent2"/>
                </a:solidFill>
              </a:rPr>
              <a:t>34</a:t>
            </a:r>
            <a:r>
              <a:rPr lang="ko-KR" altLang="en-US" dirty="0">
                <a:solidFill>
                  <a:schemeClr val="accent2"/>
                </a:solidFill>
              </a:rPr>
              <a:t>조</a:t>
            </a:r>
            <a:r>
              <a:rPr lang="en-US" altLang="ko-KR" dirty="0">
                <a:solidFill>
                  <a:schemeClr val="accent2"/>
                </a:solidFill>
              </a:rPr>
              <a:t>, </a:t>
            </a:r>
            <a:r>
              <a:rPr lang="ko-KR" altLang="en-US" dirty="0">
                <a:solidFill>
                  <a:schemeClr val="accent2"/>
                </a:solidFill>
              </a:rPr>
              <a:t>제</a:t>
            </a:r>
            <a:r>
              <a:rPr lang="en-US" altLang="ko-KR" dirty="0">
                <a:solidFill>
                  <a:schemeClr val="accent2"/>
                </a:solidFill>
              </a:rPr>
              <a:t>35</a:t>
            </a:r>
            <a:r>
              <a:rPr lang="ko-KR" altLang="en-US" dirty="0">
                <a:solidFill>
                  <a:schemeClr val="accent2"/>
                </a:solidFill>
              </a:rPr>
              <a:t>조에 의한 출원일 소급효 인정여부 판단</a:t>
            </a:r>
          </a:p>
        </p:txBody>
      </p:sp>
      <p:sp>
        <p:nvSpPr>
          <p:cNvPr id="3" name="제목 2"/>
          <p:cNvSpPr>
            <a:spLocks noGrp="1"/>
          </p:cNvSpPr>
          <p:nvPr>
            <p:ph type="title"/>
          </p:nvPr>
        </p:nvSpPr>
        <p:spPr/>
        <p:txBody>
          <a:bodyPr/>
          <a:lstStyle/>
          <a:p>
            <a:r>
              <a:rPr lang="ko-KR" altLang="en-US" dirty="0"/>
              <a:t>제</a:t>
            </a:r>
            <a:r>
              <a:rPr lang="en-US" altLang="ko-KR" dirty="0"/>
              <a:t>34</a:t>
            </a:r>
            <a:r>
              <a:rPr lang="ko-KR" altLang="en-US" dirty="0"/>
              <a:t>조</a:t>
            </a:r>
            <a:r>
              <a:rPr lang="en-US" altLang="ko-KR" dirty="0"/>
              <a:t>, </a:t>
            </a:r>
            <a:r>
              <a:rPr lang="ko-KR" altLang="en-US" dirty="0"/>
              <a:t>제</a:t>
            </a:r>
            <a:r>
              <a:rPr lang="en-US" altLang="ko-KR" dirty="0"/>
              <a:t>35</a:t>
            </a:r>
            <a:r>
              <a:rPr lang="ko-KR" altLang="en-US" dirty="0"/>
              <a:t>조</a:t>
            </a:r>
          </a:p>
        </p:txBody>
      </p:sp>
      <p:sp>
        <p:nvSpPr>
          <p:cNvPr id="4" name="텍스트 개체 틀 3"/>
          <p:cNvSpPr>
            <a:spLocks noGrp="1"/>
          </p:cNvSpPr>
          <p:nvPr>
            <p:ph type="body" sz="quarter" idx="13"/>
          </p:nvPr>
        </p:nvSpPr>
        <p:spPr/>
        <p:txBody>
          <a:bodyPr/>
          <a:lstStyle/>
          <a:p>
            <a:r>
              <a:rPr lang="ko-KR" altLang="en-US" dirty="0"/>
              <a:t>무권리자의 공지 </a:t>
            </a:r>
            <a:r>
              <a:rPr lang="en-US" altLang="ko-KR" dirty="0"/>
              <a:t>vs </a:t>
            </a:r>
            <a:r>
              <a:rPr lang="ko-KR" altLang="en-US" dirty="0" err="1"/>
              <a:t>무권리자의</a:t>
            </a:r>
            <a:r>
              <a:rPr lang="ko-KR" altLang="en-US" dirty="0"/>
              <a:t> 출원</a:t>
            </a:r>
          </a:p>
        </p:txBody>
      </p:sp>
      <p:sp>
        <p:nvSpPr>
          <p:cNvPr id="26" name="TextBox 25"/>
          <p:cNvSpPr txBox="1"/>
          <p:nvPr/>
        </p:nvSpPr>
        <p:spPr>
          <a:xfrm>
            <a:off x="77875" y="986046"/>
            <a:ext cx="11936323" cy="738664"/>
          </a:xfrm>
          <a:prstGeom prst="rect">
            <a:avLst/>
          </a:prstGeom>
          <a:noFill/>
        </p:spPr>
        <p:txBody>
          <a:bodyPr wrap="square" rtlCol="0">
            <a:spAutoFit/>
          </a:bodyPr>
          <a:lstStyle/>
          <a:p>
            <a:pPr fontAlgn="base"/>
            <a:r>
              <a:rPr lang="ko-KR" altLang="en-US" sz="1400" dirty="0" err="1">
                <a:solidFill>
                  <a:schemeClr val="tx2"/>
                </a:solidFill>
              </a:rPr>
              <a:t>무권리자의</a:t>
            </a:r>
            <a:r>
              <a:rPr lang="ko-KR" altLang="en-US" sz="1400" dirty="0">
                <a:solidFill>
                  <a:schemeClr val="tx2"/>
                </a:solidFill>
              </a:rPr>
              <a:t> 출원의 공개가 있는 후에 소급효가 인정되지 아니한 정당한 권리자의 출원이 있는 경우</a:t>
            </a:r>
            <a:r>
              <a:rPr lang="en-US" altLang="ko-KR" sz="1400" dirty="0">
                <a:solidFill>
                  <a:schemeClr val="tx2"/>
                </a:solidFill>
              </a:rPr>
              <a:t>, </a:t>
            </a:r>
            <a:r>
              <a:rPr lang="ko-KR" altLang="en-US" sz="1400" dirty="0" err="1">
                <a:solidFill>
                  <a:schemeClr val="tx2"/>
                </a:solidFill>
              </a:rPr>
              <a:t>무권리자의</a:t>
            </a:r>
            <a:r>
              <a:rPr lang="ko-KR" altLang="en-US" sz="1400" dirty="0">
                <a:solidFill>
                  <a:schemeClr val="tx2"/>
                </a:solidFill>
              </a:rPr>
              <a:t> 공개는 법 제</a:t>
            </a:r>
            <a:r>
              <a:rPr lang="en-US" altLang="ko-KR" sz="1400" dirty="0">
                <a:solidFill>
                  <a:schemeClr val="tx2"/>
                </a:solidFill>
              </a:rPr>
              <a:t>30</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2</a:t>
            </a:r>
            <a:r>
              <a:rPr lang="ko-KR" altLang="en-US" sz="1400" dirty="0">
                <a:solidFill>
                  <a:schemeClr val="tx2"/>
                </a:solidFill>
              </a:rPr>
              <a:t>호의 의사에 반한 공지에 해당하기 때문에 </a:t>
            </a:r>
            <a:r>
              <a:rPr lang="ko-KR" altLang="en-US" sz="1400" dirty="0">
                <a:highlight>
                  <a:srgbClr val="FFFF00"/>
                </a:highlight>
              </a:rPr>
              <a:t>공개된 날로부터 </a:t>
            </a:r>
            <a:r>
              <a:rPr lang="en-US" altLang="ko-KR" sz="1400" dirty="0">
                <a:highlight>
                  <a:srgbClr val="FFFF00"/>
                </a:highlight>
              </a:rPr>
              <a:t>1</a:t>
            </a:r>
            <a:r>
              <a:rPr lang="ko-KR" altLang="en-US" sz="1400" dirty="0">
                <a:highlight>
                  <a:srgbClr val="FFFF00"/>
                </a:highlight>
              </a:rPr>
              <a:t>년 이내 정당한 권리자가 출원</a:t>
            </a:r>
            <a:r>
              <a:rPr lang="ko-KR" altLang="en-US" sz="1400" dirty="0">
                <a:solidFill>
                  <a:schemeClr val="tx2"/>
                </a:solidFill>
              </a:rPr>
              <a:t>했다면 공지가 되지 아니한 것으로 보아서 신규성</a:t>
            </a:r>
            <a:r>
              <a:rPr lang="en-US" altLang="ko-KR" sz="1400" dirty="0">
                <a:solidFill>
                  <a:schemeClr val="tx2"/>
                </a:solidFill>
              </a:rPr>
              <a:t>, </a:t>
            </a:r>
            <a:r>
              <a:rPr lang="ko-KR" altLang="en-US" sz="1400" dirty="0">
                <a:solidFill>
                  <a:schemeClr val="tx2"/>
                </a:solidFill>
              </a:rPr>
              <a:t>진보성 위반을 판단하지 않게 된다</a:t>
            </a:r>
            <a:r>
              <a:rPr lang="en-US" altLang="ko-KR" sz="1400" dirty="0">
                <a:solidFill>
                  <a:schemeClr val="tx2"/>
                </a:solidFill>
              </a:rPr>
              <a:t>. </a:t>
            </a:r>
            <a:r>
              <a:rPr lang="ko-KR" altLang="en-US" sz="1400" dirty="0">
                <a:solidFill>
                  <a:schemeClr val="tx2"/>
                </a:solidFill>
              </a:rPr>
              <a:t>그러나 </a:t>
            </a:r>
            <a:r>
              <a:rPr lang="ko-KR" altLang="en-US" sz="1400" dirty="0">
                <a:highlight>
                  <a:srgbClr val="FFFF00"/>
                </a:highlight>
              </a:rPr>
              <a:t>공개된 날로부터 </a:t>
            </a:r>
            <a:r>
              <a:rPr lang="en-US" altLang="ko-KR" sz="1400" dirty="0">
                <a:highlight>
                  <a:srgbClr val="FFFF00"/>
                </a:highlight>
              </a:rPr>
              <a:t>1</a:t>
            </a:r>
            <a:r>
              <a:rPr lang="ko-KR" altLang="en-US" sz="1400" dirty="0">
                <a:highlight>
                  <a:srgbClr val="FFFF00"/>
                </a:highlight>
              </a:rPr>
              <a:t>년을 지나서 정당한 권리자가 출원</a:t>
            </a:r>
            <a:r>
              <a:rPr lang="ko-KR" altLang="en-US" sz="1400" dirty="0">
                <a:solidFill>
                  <a:schemeClr val="tx2"/>
                </a:solidFill>
              </a:rPr>
              <a:t>했다면 정당한 권리자의 출원이 그 공개에 의하여 신규성</a:t>
            </a:r>
            <a:r>
              <a:rPr lang="en-US" altLang="ko-KR" sz="1400" dirty="0">
                <a:solidFill>
                  <a:schemeClr val="tx2"/>
                </a:solidFill>
              </a:rPr>
              <a:t>, </a:t>
            </a:r>
            <a:r>
              <a:rPr lang="ko-KR" altLang="en-US" sz="1400" dirty="0">
                <a:solidFill>
                  <a:schemeClr val="tx2"/>
                </a:solidFill>
              </a:rPr>
              <a:t>진보성에 위반되었는지 여부를 판단해야 한다</a:t>
            </a:r>
            <a:r>
              <a:rPr lang="en-US" altLang="ko-KR" sz="1400" dirty="0">
                <a:solidFill>
                  <a:schemeClr val="tx2"/>
                </a:solidFill>
              </a:rPr>
              <a:t>. </a:t>
            </a:r>
            <a:endParaRPr lang="en-US" altLang="ko-KR" sz="1400" dirty="0">
              <a:solidFill>
                <a:srgbClr val="FF0000"/>
              </a:solidFill>
            </a:endParaRPr>
          </a:p>
        </p:txBody>
      </p:sp>
      <p:cxnSp>
        <p:nvCxnSpPr>
          <p:cNvPr id="27" name="직선 연결선 26"/>
          <p:cNvCxnSpPr/>
          <p:nvPr/>
        </p:nvCxnSpPr>
        <p:spPr>
          <a:xfrm>
            <a:off x="0" y="172007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 name="직선 화살표 연결선 5"/>
          <p:cNvCxnSpPr/>
          <p:nvPr/>
        </p:nvCxnSpPr>
        <p:spPr>
          <a:xfrm>
            <a:off x="659164" y="3281079"/>
            <a:ext cx="4846286"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 name="Rectangle 14"/>
          <p:cNvSpPr>
            <a:spLocks noChangeArrowheads="1"/>
          </p:cNvSpPr>
          <p:nvPr/>
        </p:nvSpPr>
        <p:spPr bwMode="auto">
          <a:xfrm>
            <a:off x="659164" y="3081859"/>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err="1">
                <a:latin typeface="+mn-ea"/>
              </a:rPr>
              <a:t>무권리자</a:t>
            </a:r>
            <a:r>
              <a:rPr lang="ko-KR" altLang="en-US" sz="1400" b="0" dirty="0">
                <a:latin typeface="+mn-ea"/>
              </a:rPr>
              <a:t> </a:t>
            </a:r>
            <a:r>
              <a:rPr lang="ko-KR" altLang="en-US" sz="1400" dirty="0">
                <a:latin typeface="+mn-ea"/>
              </a:rPr>
              <a:t>출원</a:t>
            </a:r>
            <a:r>
              <a:rPr lang="en-US" altLang="ko-KR" sz="1400" dirty="0">
                <a:latin typeface="+mn-ea"/>
              </a:rPr>
              <a:t>(X)</a:t>
            </a:r>
            <a:endParaRPr lang="ko-KR" altLang="en-US" sz="1400" b="0" dirty="0">
              <a:latin typeface="+mn-ea"/>
            </a:endParaRPr>
          </a:p>
        </p:txBody>
      </p:sp>
      <p:sp>
        <p:nvSpPr>
          <p:cNvPr id="29" name="Rectangle 14"/>
          <p:cNvSpPr>
            <a:spLocks noChangeArrowheads="1"/>
          </p:cNvSpPr>
          <p:nvPr/>
        </p:nvSpPr>
        <p:spPr bwMode="auto">
          <a:xfrm>
            <a:off x="3098819" y="3081859"/>
            <a:ext cx="2025632"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정당한 권리자의 </a:t>
            </a:r>
            <a:r>
              <a:rPr lang="ko-KR" altLang="en-US" sz="1400" dirty="0">
                <a:latin typeface="+mn-ea"/>
              </a:rPr>
              <a:t>출원</a:t>
            </a:r>
            <a:r>
              <a:rPr lang="en-US" altLang="ko-KR" sz="1400" dirty="0">
                <a:latin typeface="+mn-ea"/>
              </a:rPr>
              <a:t>(Y)</a:t>
            </a:r>
            <a:endParaRPr lang="ko-KR" altLang="en-US" sz="1400" b="0" dirty="0">
              <a:latin typeface="+mn-ea"/>
            </a:endParaRPr>
          </a:p>
        </p:txBody>
      </p:sp>
      <p:sp>
        <p:nvSpPr>
          <p:cNvPr id="30" name="직사각형 29"/>
          <p:cNvSpPr/>
          <p:nvPr/>
        </p:nvSpPr>
        <p:spPr>
          <a:xfrm>
            <a:off x="6145565" y="1981200"/>
            <a:ext cx="5743575" cy="173355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ko-KR" altLang="en-US" dirty="0">
                <a:solidFill>
                  <a:schemeClr val="accent2"/>
                </a:solidFill>
              </a:rPr>
              <a:t>제</a:t>
            </a:r>
            <a:r>
              <a:rPr lang="en-US" altLang="ko-KR" dirty="0">
                <a:solidFill>
                  <a:schemeClr val="accent2"/>
                </a:solidFill>
              </a:rPr>
              <a:t>30</a:t>
            </a:r>
            <a:r>
              <a:rPr lang="ko-KR" altLang="en-US" dirty="0">
                <a:solidFill>
                  <a:schemeClr val="accent2"/>
                </a:solidFill>
              </a:rPr>
              <a:t>조제</a:t>
            </a:r>
            <a:r>
              <a:rPr lang="en-US" altLang="ko-KR" dirty="0">
                <a:solidFill>
                  <a:schemeClr val="accent2"/>
                </a:solidFill>
              </a:rPr>
              <a:t>1</a:t>
            </a:r>
            <a:r>
              <a:rPr lang="ko-KR" altLang="en-US" dirty="0" err="1">
                <a:solidFill>
                  <a:schemeClr val="accent2"/>
                </a:solidFill>
              </a:rPr>
              <a:t>항제</a:t>
            </a:r>
            <a:r>
              <a:rPr lang="en-US" altLang="ko-KR" dirty="0">
                <a:solidFill>
                  <a:schemeClr val="accent2"/>
                </a:solidFill>
              </a:rPr>
              <a:t>2</a:t>
            </a:r>
            <a:r>
              <a:rPr lang="ko-KR" altLang="en-US" dirty="0">
                <a:solidFill>
                  <a:schemeClr val="accent2"/>
                </a:solidFill>
              </a:rPr>
              <a:t>호의 의사에 반한 공지 주장 여부 판단</a:t>
            </a:r>
          </a:p>
        </p:txBody>
      </p:sp>
      <p:cxnSp>
        <p:nvCxnSpPr>
          <p:cNvPr id="31" name="직선 화살표 연결선 30"/>
          <p:cNvCxnSpPr/>
          <p:nvPr/>
        </p:nvCxnSpPr>
        <p:spPr>
          <a:xfrm>
            <a:off x="6499929" y="3281079"/>
            <a:ext cx="4846286"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2" name="Rectangle 14"/>
          <p:cNvSpPr>
            <a:spLocks noChangeArrowheads="1"/>
          </p:cNvSpPr>
          <p:nvPr/>
        </p:nvSpPr>
        <p:spPr bwMode="auto">
          <a:xfrm>
            <a:off x="6499929" y="3081859"/>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무권리자</a:t>
            </a:r>
            <a:r>
              <a:rPr lang="ko-KR" altLang="en-US" sz="1400" dirty="0">
                <a:latin typeface="+mn-ea"/>
              </a:rPr>
              <a:t> 공지</a:t>
            </a:r>
            <a:r>
              <a:rPr lang="en-US" altLang="ko-KR" sz="1400" dirty="0">
                <a:latin typeface="+mn-ea"/>
              </a:rPr>
              <a:t>(X)</a:t>
            </a:r>
            <a:endParaRPr lang="ko-KR" altLang="en-US" sz="1400" b="0" dirty="0">
              <a:latin typeface="+mn-ea"/>
            </a:endParaRPr>
          </a:p>
        </p:txBody>
      </p:sp>
      <p:sp>
        <p:nvSpPr>
          <p:cNvPr id="33" name="Rectangle 14"/>
          <p:cNvSpPr>
            <a:spLocks noChangeArrowheads="1"/>
          </p:cNvSpPr>
          <p:nvPr/>
        </p:nvSpPr>
        <p:spPr bwMode="auto">
          <a:xfrm>
            <a:off x="8939584" y="3081859"/>
            <a:ext cx="2025632"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a:latin typeface="+mn-ea"/>
              </a:rPr>
              <a:t>정당한 권리자의 </a:t>
            </a:r>
            <a:r>
              <a:rPr lang="ko-KR" altLang="en-US" sz="1400" dirty="0">
                <a:latin typeface="+mn-ea"/>
              </a:rPr>
              <a:t>출원</a:t>
            </a:r>
            <a:r>
              <a:rPr lang="en-US" altLang="ko-KR" sz="1400" dirty="0">
                <a:latin typeface="+mn-ea"/>
              </a:rPr>
              <a:t>(X)</a:t>
            </a:r>
            <a:endParaRPr lang="ko-KR" altLang="en-US" sz="1400" b="0" dirty="0">
              <a:latin typeface="+mn-ea"/>
            </a:endParaRPr>
          </a:p>
        </p:txBody>
      </p:sp>
      <p:cxnSp>
        <p:nvCxnSpPr>
          <p:cNvPr id="35" name="꺾인 연결선 34"/>
          <p:cNvCxnSpPr>
            <a:stCxn id="29" idx="0"/>
            <a:endCxn id="7" idx="0"/>
          </p:cNvCxnSpPr>
          <p:nvPr/>
        </p:nvCxnSpPr>
        <p:spPr>
          <a:xfrm rot="16200000" flipV="1">
            <a:off x="2740035" y="1710259"/>
            <a:ext cx="12700" cy="2743200"/>
          </a:xfrm>
          <a:prstGeom prst="bentConnector3">
            <a:avLst>
              <a:gd name="adj1" fmla="val 3075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8" name="Rectangle 14"/>
          <p:cNvSpPr>
            <a:spLocks noChangeArrowheads="1"/>
          </p:cNvSpPr>
          <p:nvPr/>
        </p:nvSpPr>
        <p:spPr bwMode="auto">
          <a:xfrm>
            <a:off x="1963976" y="2523633"/>
            <a:ext cx="1646000" cy="359005"/>
          </a:xfrm>
          <a:prstGeom prst="rect">
            <a:avLst/>
          </a:prstGeom>
          <a:solidFill>
            <a:schemeClr val="bg1"/>
          </a:solidFill>
          <a:ln w="9525" algn="ctr">
            <a:noFill/>
            <a:miter lim="800000"/>
            <a:headEnd/>
            <a:tailEnd/>
          </a:ln>
        </p:spPr>
        <p:txBody>
          <a:bodyPr wrap="none" anchor="ctr"/>
          <a:lstStyle/>
          <a:p>
            <a:pPr algn="ctr"/>
            <a:r>
              <a:rPr lang="ko-KR" altLang="en-US" sz="1400" b="0" dirty="0">
                <a:solidFill>
                  <a:srgbClr val="FF0000"/>
                </a:solidFill>
                <a:latin typeface="+mn-ea"/>
              </a:rPr>
              <a:t>출원일 소급효 인정</a:t>
            </a:r>
            <a:r>
              <a:rPr lang="en-US" altLang="ko-KR" sz="1400" b="0" dirty="0">
                <a:solidFill>
                  <a:srgbClr val="FF0000"/>
                </a:solidFill>
                <a:latin typeface="+mn-ea"/>
              </a:rPr>
              <a:t>?</a:t>
            </a:r>
            <a:endParaRPr lang="ko-KR" altLang="en-US" sz="1400" b="0" dirty="0">
              <a:solidFill>
                <a:srgbClr val="FF0000"/>
              </a:solidFill>
              <a:latin typeface="+mn-ea"/>
            </a:endParaRPr>
          </a:p>
        </p:txBody>
      </p:sp>
      <p:sp>
        <p:nvSpPr>
          <p:cNvPr id="40" name="직사각형 39"/>
          <p:cNvSpPr/>
          <p:nvPr/>
        </p:nvSpPr>
        <p:spPr>
          <a:xfrm>
            <a:off x="304800" y="3907620"/>
            <a:ext cx="11584340" cy="236745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US" altLang="ko-KR" dirty="0">
                <a:solidFill>
                  <a:schemeClr val="accent2"/>
                </a:solidFill>
              </a:rPr>
              <a:t>1</a:t>
            </a:r>
            <a:r>
              <a:rPr lang="ko-KR" altLang="en-US" dirty="0">
                <a:solidFill>
                  <a:schemeClr val="accent2"/>
                </a:solidFill>
              </a:rPr>
              <a:t>차적으로 제</a:t>
            </a:r>
            <a:r>
              <a:rPr lang="en-US" altLang="ko-KR" dirty="0">
                <a:solidFill>
                  <a:schemeClr val="accent2"/>
                </a:solidFill>
              </a:rPr>
              <a:t>34</a:t>
            </a:r>
            <a:r>
              <a:rPr lang="ko-KR" altLang="en-US" dirty="0">
                <a:solidFill>
                  <a:schemeClr val="accent2"/>
                </a:solidFill>
              </a:rPr>
              <a:t>조</a:t>
            </a:r>
            <a:r>
              <a:rPr lang="en-US" altLang="ko-KR" dirty="0">
                <a:solidFill>
                  <a:schemeClr val="accent2"/>
                </a:solidFill>
              </a:rPr>
              <a:t>, </a:t>
            </a:r>
            <a:r>
              <a:rPr lang="ko-KR" altLang="en-US" dirty="0">
                <a:solidFill>
                  <a:schemeClr val="accent2"/>
                </a:solidFill>
              </a:rPr>
              <a:t>제</a:t>
            </a:r>
            <a:r>
              <a:rPr lang="en-US" altLang="ko-KR" dirty="0">
                <a:solidFill>
                  <a:schemeClr val="accent2"/>
                </a:solidFill>
              </a:rPr>
              <a:t>35</a:t>
            </a:r>
            <a:r>
              <a:rPr lang="ko-KR" altLang="en-US" dirty="0">
                <a:solidFill>
                  <a:schemeClr val="accent2"/>
                </a:solidFill>
              </a:rPr>
              <a:t>조에 의한 출원일 소급효 인정여부 판단한 후</a:t>
            </a:r>
            <a:r>
              <a:rPr lang="en-US" altLang="ko-KR" dirty="0">
                <a:solidFill>
                  <a:schemeClr val="accent2"/>
                </a:solidFill>
              </a:rPr>
              <a:t>, </a:t>
            </a:r>
          </a:p>
          <a:p>
            <a:r>
              <a:rPr lang="en-US" altLang="ko-KR" dirty="0">
                <a:solidFill>
                  <a:schemeClr val="accent2"/>
                </a:solidFill>
              </a:rPr>
              <a:t>2</a:t>
            </a:r>
            <a:r>
              <a:rPr lang="ko-KR" altLang="en-US" dirty="0">
                <a:solidFill>
                  <a:schemeClr val="accent2"/>
                </a:solidFill>
              </a:rPr>
              <a:t>차적으로 제</a:t>
            </a:r>
            <a:r>
              <a:rPr lang="en-US" altLang="ko-KR" dirty="0">
                <a:solidFill>
                  <a:schemeClr val="accent2"/>
                </a:solidFill>
              </a:rPr>
              <a:t>30</a:t>
            </a:r>
            <a:r>
              <a:rPr lang="ko-KR" altLang="en-US" dirty="0">
                <a:solidFill>
                  <a:schemeClr val="accent2"/>
                </a:solidFill>
              </a:rPr>
              <a:t>조제</a:t>
            </a:r>
            <a:r>
              <a:rPr lang="en-US" altLang="ko-KR" dirty="0">
                <a:solidFill>
                  <a:schemeClr val="accent2"/>
                </a:solidFill>
              </a:rPr>
              <a:t>1</a:t>
            </a:r>
            <a:r>
              <a:rPr lang="ko-KR" altLang="en-US" dirty="0" err="1">
                <a:solidFill>
                  <a:schemeClr val="accent2"/>
                </a:solidFill>
              </a:rPr>
              <a:t>항제</a:t>
            </a:r>
            <a:r>
              <a:rPr lang="en-US" altLang="ko-KR" dirty="0">
                <a:solidFill>
                  <a:schemeClr val="accent2"/>
                </a:solidFill>
              </a:rPr>
              <a:t>2</a:t>
            </a:r>
            <a:r>
              <a:rPr lang="ko-KR" altLang="en-US" dirty="0">
                <a:solidFill>
                  <a:schemeClr val="accent2"/>
                </a:solidFill>
              </a:rPr>
              <a:t>호의 의사에 반한 공지 주장 여부 판단</a:t>
            </a:r>
          </a:p>
        </p:txBody>
      </p:sp>
      <p:cxnSp>
        <p:nvCxnSpPr>
          <p:cNvPr id="41" name="직선 화살표 연결선 40"/>
          <p:cNvCxnSpPr/>
          <p:nvPr/>
        </p:nvCxnSpPr>
        <p:spPr>
          <a:xfrm>
            <a:off x="1249714" y="5869977"/>
            <a:ext cx="1018981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Rectangle 14"/>
          <p:cNvSpPr>
            <a:spLocks noChangeArrowheads="1"/>
          </p:cNvSpPr>
          <p:nvPr/>
        </p:nvSpPr>
        <p:spPr bwMode="auto">
          <a:xfrm>
            <a:off x="1249714" y="5670757"/>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err="1">
                <a:latin typeface="+mn-ea"/>
              </a:rPr>
              <a:t>무권리자</a:t>
            </a:r>
            <a:r>
              <a:rPr lang="ko-KR" altLang="en-US" sz="1400" b="0" dirty="0">
                <a:latin typeface="+mn-ea"/>
              </a:rPr>
              <a:t> </a:t>
            </a:r>
            <a:r>
              <a:rPr lang="ko-KR" altLang="en-US" sz="1400" dirty="0">
                <a:latin typeface="+mn-ea"/>
              </a:rPr>
              <a:t>출원</a:t>
            </a:r>
            <a:r>
              <a:rPr lang="en-US" altLang="ko-KR" sz="1400" dirty="0">
                <a:latin typeface="+mn-ea"/>
              </a:rPr>
              <a:t>(X)</a:t>
            </a:r>
            <a:endParaRPr lang="ko-KR" altLang="en-US" sz="1400" b="0" dirty="0">
              <a:latin typeface="+mn-ea"/>
            </a:endParaRPr>
          </a:p>
        </p:txBody>
      </p:sp>
      <p:sp>
        <p:nvSpPr>
          <p:cNvPr id="43" name="Rectangle 14"/>
          <p:cNvSpPr>
            <a:spLocks noChangeArrowheads="1"/>
          </p:cNvSpPr>
          <p:nvPr/>
        </p:nvSpPr>
        <p:spPr bwMode="auto">
          <a:xfrm>
            <a:off x="7582270" y="5670757"/>
            <a:ext cx="2025632"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정당한 권리자의 </a:t>
            </a:r>
            <a:r>
              <a:rPr lang="ko-KR" altLang="en-US" sz="1400" dirty="0">
                <a:latin typeface="+mn-ea"/>
              </a:rPr>
              <a:t>출원</a:t>
            </a:r>
            <a:r>
              <a:rPr lang="en-US" altLang="ko-KR" sz="1400" dirty="0">
                <a:latin typeface="+mn-ea"/>
              </a:rPr>
              <a:t>(Y)</a:t>
            </a:r>
            <a:endParaRPr lang="ko-KR" altLang="en-US" sz="1400" b="0" dirty="0">
              <a:latin typeface="+mn-ea"/>
            </a:endParaRPr>
          </a:p>
        </p:txBody>
      </p:sp>
      <p:cxnSp>
        <p:nvCxnSpPr>
          <p:cNvPr id="44" name="꺾인 연결선 43"/>
          <p:cNvCxnSpPr>
            <a:stCxn id="43" idx="0"/>
            <a:endCxn id="42" idx="0"/>
          </p:cNvCxnSpPr>
          <p:nvPr/>
        </p:nvCxnSpPr>
        <p:spPr>
          <a:xfrm rot="16200000" flipV="1">
            <a:off x="5277036" y="2352706"/>
            <a:ext cx="12700" cy="6636101"/>
          </a:xfrm>
          <a:prstGeom prst="bentConnector3">
            <a:avLst>
              <a:gd name="adj1" fmla="val 5324984"/>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5" name="Rectangle 14"/>
          <p:cNvSpPr>
            <a:spLocks noChangeArrowheads="1"/>
          </p:cNvSpPr>
          <p:nvPr/>
        </p:nvSpPr>
        <p:spPr bwMode="auto">
          <a:xfrm>
            <a:off x="4698619" y="4819888"/>
            <a:ext cx="1646000" cy="359005"/>
          </a:xfrm>
          <a:prstGeom prst="rect">
            <a:avLst/>
          </a:prstGeom>
          <a:solidFill>
            <a:schemeClr val="bg1"/>
          </a:solidFill>
          <a:ln w="9525" algn="ctr">
            <a:noFill/>
            <a:miter lim="800000"/>
            <a:headEnd/>
            <a:tailEnd/>
          </a:ln>
        </p:spPr>
        <p:txBody>
          <a:bodyPr wrap="none" anchor="ctr"/>
          <a:lstStyle/>
          <a:p>
            <a:pPr algn="ctr"/>
            <a:r>
              <a:rPr lang="ko-KR" altLang="en-US" sz="1400" b="0" dirty="0">
                <a:solidFill>
                  <a:srgbClr val="FF0000"/>
                </a:solidFill>
                <a:latin typeface="+mn-ea"/>
              </a:rPr>
              <a:t>출원일 소급효 인정</a:t>
            </a:r>
            <a:r>
              <a:rPr lang="en-US" altLang="ko-KR" sz="1400" b="0" dirty="0">
                <a:solidFill>
                  <a:srgbClr val="FF0000"/>
                </a:solidFill>
                <a:latin typeface="+mn-ea"/>
              </a:rPr>
              <a:t>?</a:t>
            </a:r>
            <a:endParaRPr lang="ko-KR" altLang="en-US" sz="1400" b="0" dirty="0">
              <a:solidFill>
                <a:srgbClr val="FF0000"/>
              </a:solidFill>
              <a:latin typeface="+mn-ea"/>
            </a:endParaRPr>
          </a:p>
        </p:txBody>
      </p:sp>
      <p:sp>
        <p:nvSpPr>
          <p:cNvPr id="50" name="Rectangle 14"/>
          <p:cNvSpPr>
            <a:spLocks noChangeArrowheads="1"/>
          </p:cNvSpPr>
          <p:nvPr/>
        </p:nvSpPr>
        <p:spPr bwMode="auto">
          <a:xfrm>
            <a:off x="4669760" y="5670757"/>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err="1">
                <a:latin typeface="+mn-ea"/>
              </a:rPr>
              <a:t>무권리자</a:t>
            </a:r>
            <a:r>
              <a:rPr lang="ko-KR" altLang="en-US" sz="1400" b="0" dirty="0">
                <a:latin typeface="+mn-ea"/>
              </a:rPr>
              <a:t> </a:t>
            </a:r>
            <a:r>
              <a:rPr lang="ko-KR" altLang="en-US" sz="1400" dirty="0">
                <a:latin typeface="+mn-ea"/>
              </a:rPr>
              <a:t>공개</a:t>
            </a:r>
            <a:r>
              <a:rPr lang="en-US" altLang="ko-KR" sz="1400" dirty="0">
                <a:latin typeface="+mn-ea"/>
              </a:rPr>
              <a:t>(X)</a:t>
            </a:r>
            <a:endParaRPr lang="ko-KR" altLang="en-US" sz="1400" b="0" dirty="0">
              <a:latin typeface="+mn-ea"/>
            </a:endParaRPr>
          </a:p>
        </p:txBody>
      </p:sp>
      <p:sp>
        <p:nvSpPr>
          <p:cNvPr id="53" name="TextBox 52"/>
          <p:cNvSpPr txBox="1"/>
          <p:nvPr/>
        </p:nvSpPr>
        <p:spPr>
          <a:xfrm>
            <a:off x="4117985" y="4676224"/>
            <a:ext cx="608134" cy="646331"/>
          </a:xfrm>
          <a:prstGeom prst="rect">
            <a:avLst/>
          </a:prstGeom>
          <a:solidFill>
            <a:schemeClr val="bg1"/>
          </a:solidFill>
        </p:spPr>
        <p:txBody>
          <a:bodyPr wrap="square" rtlCol="0">
            <a:spAutoFit/>
          </a:bodyPr>
          <a:lstStyle/>
          <a:p>
            <a:pPr fontAlgn="base"/>
            <a:r>
              <a:rPr lang="ko-KR" altLang="en-US" sz="3600" dirty="0">
                <a:solidFill>
                  <a:srgbClr val="FF0000"/>
                </a:solidFill>
              </a:rPr>
              <a:t>❶</a:t>
            </a:r>
          </a:p>
        </p:txBody>
      </p:sp>
      <p:sp>
        <p:nvSpPr>
          <p:cNvPr id="2" name="슬라이드 번호 개체 틀 1"/>
          <p:cNvSpPr>
            <a:spLocks noGrp="1"/>
          </p:cNvSpPr>
          <p:nvPr>
            <p:ph type="sldNum" sz="quarter" idx="12"/>
          </p:nvPr>
        </p:nvSpPr>
        <p:spPr/>
        <p:txBody>
          <a:bodyPr/>
          <a:lstStyle/>
          <a:p>
            <a:r>
              <a:rPr lang="en-US" altLang="ko-KR"/>
              <a:t>160</a:t>
            </a:r>
            <a:endParaRPr lang="ko-KR" altLang="en-US"/>
          </a:p>
        </p:txBody>
      </p:sp>
    </p:spTree>
    <p:extLst>
      <p:ext uri="{BB962C8B-B14F-4D97-AF65-F5344CB8AC3E}">
        <p14:creationId xmlns:p14="http://schemas.microsoft.com/office/powerpoint/2010/main" val="2546146059"/>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34</a:t>
            </a:r>
            <a:r>
              <a:rPr lang="ko-KR" altLang="en-US" dirty="0"/>
              <a:t>조</a:t>
            </a:r>
            <a:r>
              <a:rPr lang="en-US" altLang="ko-KR" dirty="0"/>
              <a:t>, </a:t>
            </a:r>
            <a:r>
              <a:rPr lang="ko-KR" altLang="en-US" dirty="0"/>
              <a:t>제</a:t>
            </a:r>
            <a:r>
              <a:rPr lang="en-US" altLang="ko-KR" dirty="0"/>
              <a:t>35</a:t>
            </a:r>
            <a:r>
              <a:rPr lang="ko-KR" altLang="en-US" dirty="0"/>
              <a:t>조</a:t>
            </a:r>
          </a:p>
        </p:txBody>
      </p:sp>
      <p:sp>
        <p:nvSpPr>
          <p:cNvPr id="4" name="텍스트 개체 틀 3"/>
          <p:cNvSpPr>
            <a:spLocks noGrp="1"/>
          </p:cNvSpPr>
          <p:nvPr>
            <p:ph type="body" sz="quarter" idx="13"/>
          </p:nvPr>
        </p:nvSpPr>
        <p:spPr/>
        <p:txBody>
          <a:bodyPr/>
          <a:lstStyle/>
          <a:p>
            <a:r>
              <a:rPr lang="ko-KR" altLang="en-US" dirty="0"/>
              <a:t>소급효가 인정되지 아니한 정당한 권리자의 출원</a:t>
            </a:r>
          </a:p>
        </p:txBody>
      </p:sp>
      <p:sp>
        <p:nvSpPr>
          <p:cNvPr id="26" name="TextBox 25"/>
          <p:cNvSpPr txBox="1"/>
          <p:nvPr/>
        </p:nvSpPr>
        <p:spPr>
          <a:xfrm>
            <a:off x="77875" y="986046"/>
            <a:ext cx="11936323" cy="1384995"/>
          </a:xfrm>
          <a:prstGeom prst="rect">
            <a:avLst/>
          </a:prstGeom>
          <a:noFill/>
        </p:spPr>
        <p:txBody>
          <a:bodyPr wrap="square" rtlCol="0">
            <a:spAutoFit/>
          </a:bodyPr>
          <a:lstStyle/>
          <a:p>
            <a:pPr fontAlgn="base"/>
            <a:r>
              <a:rPr lang="ko-KR" altLang="en-US" sz="1400" dirty="0">
                <a:solidFill>
                  <a:schemeClr val="tx2"/>
                </a:solidFill>
              </a:rPr>
              <a:t>정당한 권리자 출원의 명세서 또는 도면에 기재된 발명에 </a:t>
            </a:r>
            <a:r>
              <a:rPr lang="ko-KR" altLang="en-US" sz="1400" dirty="0" err="1">
                <a:solidFill>
                  <a:schemeClr val="tx2"/>
                </a:solidFill>
              </a:rPr>
              <a:t>무권리자</a:t>
            </a:r>
            <a:r>
              <a:rPr lang="ko-KR" altLang="en-US" sz="1400" dirty="0">
                <a:solidFill>
                  <a:schemeClr val="tx2"/>
                </a:solidFill>
              </a:rPr>
              <a:t> 출원에 기재된 발명과 다른 발명이 있는 경우</a:t>
            </a:r>
            <a:r>
              <a:rPr lang="en-US" altLang="ko-KR" sz="1400" dirty="0">
                <a:solidFill>
                  <a:schemeClr val="tx2"/>
                </a:solidFill>
              </a:rPr>
              <a:t>(</a:t>
            </a:r>
            <a:r>
              <a:rPr lang="ko-KR" altLang="en-US" sz="1400" dirty="0">
                <a:solidFill>
                  <a:schemeClr val="tx2"/>
                </a:solidFill>
              </a:rPr>
              <a:t>정당한 권리자 출원에 다수의 발명이 포함되어 있고 그 발명 중 일부의 발명만이 </a:t>
            </a:r>
            <a:r>
              <a:rPr lang="ko-KR" altLang="en-US" sz="1400" dirty="0" err="1">
                <a:solidFill>
                  <a:schemeClr val="tx2"/>
                </a:solidFill>
              </a:rPr>
              <a:t>무권리자에</a:t>
            </a:r>
            <a:r>
              <a:rPr lang="ko-KR" altLang="en-US" sz="1400" dirty="0">
                <a:solidFill>
                  <a:schemeClr val="tx2"/>
                </a:solidFill>
              </a:rPr>
              <a:t> 의하여 출원된 발명에 해당하는 경우</a:t>
            </a:r>
            <a:r>
              <a:rPr lang="en-US" altLang="ko-KR" sz="1400" dirty="0">
                <a:solidFill>
                  <a:schemeClr val="tx2"/>
                </a:solidFill>
              </a:rPr>
              <a:t>) </a:t>
            </a:r>
            <a:r>
              <a:rPr lang="ko-KR" altLang="en-US" sz="1400" dirty="0">
                <a:solidFill>
                  <a:schemeClr val="tx2"/>
                </a:solidFill>
              </a:rPr>
              <a:t>정당한 권리자 출원의 </a:t>
            </a:r>
            <a:r>
              <a:rPr lang="ko-KR" altLang="en-US" sz="1400" dirty="0" err="1">
                <a:solidFill>
                  <a:schemeClr val="tx2"/>
                </a:solidFill>
              </a:rPr>
              <a:t>출원일은</a:t>
            </a:r>
            <a:r>
              <a:rPr lang="ko-KR" altLang="en-US" sz="1400" dirty="0">
                <a:solidFill>
                  <a:schemeClr val="tx2"/>
                </a:solidFill>
              </a:rPr>
              <a:t> 소급되지 아니한다</a:t>
            </a:r>
            <a:r>
              <a:rPr lang="en-US" altLang="ko-KR" sz="1400" dirty="0">
                <a:solidFill>
                  <a:schemeClr val="tx2"/>
                </a:solidFill>
              </a:rPr>
              <a:t>. </a:t>
            </a:r>
            <a:r>
              <a:rPr lang="ko-KR" altLang="en-US" sz="1400" dirty="0">
                <a:solidFill>
                  <a:schemeClr val="tx2"/>
                </a:solidFill>
              </a:rPr>
              <a:t>심사관은 출원일 소급을 인정할 수 없을 때 </a:t>
            </a:r>
            <a:r>
              <a:rPr lang="en-US" altLang="ko-KR" sz="1400" dirty="0">
                <a:solidFill>
                  <a:schemeClr val="tx2"/>
                </a:solidFill>
              </a:rPr>
              <a:t>ⅰ) </a:t>
            </a:r>
            <a:r>
              <a:rPr lang="ko-KR" altLang="en-US" sz="1400" dirty="0">
                <a:solidFill>
                  <a:schemeClr val="tx2"/>
                </a:solidFill>
              </a:rPr>
              <a:t>다른 거절이유가 있는 경우에는 거절이유통지서에 </a:t>
            </a:r>
            <a:r>
              <a:rPr lang="ko-KR" altLang="en-US" sz="1400" dirty="0" err="1">
                <a:solidFill>
                  <a:schemeClr val="tx2"/>
                </a:solidFill>
              </a:rPr>
              <a:t>출원일을</a:t>
            </a:r>
            <a:r>
              <a:rPr lang="ko-KR" altLang="en-US" sz="1400" dirty="0">
                <a:solidFill>
                  <a:schemeClr val="tx2"/>
                </a:solidFill>
              </a:rPr>
              <a:t> 소급할 수 없다는 취지를 적어 함께 통지함으로써</a:t>
            </a:r>
            <a:r>
              <a:rPr lang="en-US" altLang="ko-KR" sz="1400" dirty="0">
                <a:solidFill>
                  <a:schemeClr val="tx2"/>
                </a:solidFill>
              </a:rPr>
              <a:t>, </a:t>
            </a:r>
            <a:r>
              <a:rPr lang="ko-KR" altLang="en-US" sz="1400" dirty="0">
                <a:solidFill>
                  <a:schemeClr val="tx2"/>
                </a:solidFill>
              </a:rPr>
              <a:t>출원을 분할하거나 보정할 수 있도록 기회를 부여하고</a:t>
            </a:r>
            <a:r>
              <a:rPr lang="en-US" altLang="ko-KR" sz="1400" dirty="0">
                <a:solidFill>
                  <a:schemeClr val="tx2"/>
                </a:solidFill>
              </a:rPr>
              <a:t>, ⅱ) </a:t>
            </a:r>
            <a:r>
              <a:rPr lang="ko-KR" altLang="en-US" sz="1400" dirty="0">
                <a:solidFill>
                  <a:schemeClr val="tx2"/>
                </a:solidFill>
              </a:rPr>
              <a:t>다른 거절이유가 없는 경우에는 </a:t>
            </a:r>
            <a:r>
              <a:rPr lang="ko-KR" altLang="en-US" sz="1400" dirty="0" err="1">
                <a:solidFill>
                  <a:schemeClr val="tx2"/>
                </a:solidFill>
              </a:rPr>
              <a:t>출원일을</a:t>
            </a:r>
            <a:r>
              <a:rPr lang="ko-KR" altLang="en-US" sz="1400" dirty="0">
                <a:solidFill>
                  <a:schemeClr val="tx2"/>
                </a:solidFill>
              </a:rPr>
              <a:t> 소급할 수 없는 </a:t>
            </a:r>
            <a:r>
              <a:rPr lang="ko-KR" altLang="en-US" sz="1400" dirty="0" err="1">
                <a:solidFill>
                  <a:schemeClr val="tx2"/>
                </a:solidFill>
              </a:rPr>
              <a:t>취지만을</a:t>
            </a:r>
            <a:r>
              <a:rPr lang="ko-KR" altLang="en-US" sz="1400" dirty="0">
                <a:solidFill>
                  <a:schemeClr val="tx2"/>
                </a:solidFill>
              </a:rPr>
              <a:t> 통지한 후 특허결정한다</a:t>
            </a:r>
            <a:r>
              <a:rPr lang="en-US" altLang="ko-KR" sz="1400" dirty="0">
                <a:solidFill>
                  <a:schemeClr val="tx2"/>
                </a:solidFill>
              </a:rPr>
              <a:t>. </a:t>
            </a:r>
            <a:r>
              <a:rPr lang="ko-KR" altLang="en-US" sz="1400" dirty="0">
                <a:solidFill>
                  <a:schemeClr val="tx2"/>
                </a:solidFill>
              </a:rPr>
              <a:t>즉</a:t>
            </a:r>
            <a:r>
              <a:rPr lang="en-US" altLang="ko-KR" sz="1400" dirty="0">
                <a:solidFill>
                  <a:schemeClr val="tx2"/>
                </a:solidFill>
              </a:rPr>
              <a:t>, </a:t>
            </a:r>
            <a:r>
              <a:rPr lang="ko-KR" altLang="en-US" sz="1400" dirty="0">
                <a:highlight>
                  <a:srgbClr val="FFFF00"/>
                </a:highlight>
              </a:rPr>
              <a:t>정당한 권리자의 특허출원은 </a:t>
            </a:r>
            <a:r>
              <a:rPr lang="ko-KR" altLang="en-US" sz="1400" dirty="0" err="1">
                <a:highlight>
                  <a:srgbClr val="FFFF00"/>
                </a:highlight>
              </a:rPr>
              <a:t>출원일이</a:t>
            </a:r>
            <a:r>
              <a:rPr lang="ko-KR" altLang="en-US" sz="1400" dirty="0">
                <a:highlight>
                  <a:srgbClr val="FFFF00"/>
                </a:highlight>
              </a:rPr>
              <a:t> 소급되지 않더라도 </a:t>
            </a:r>
            <a:r>
              <a:rPr lang="ko-KR" altLang="en-US" sz="1400" dirty="0" err="1">
                <a:highlight>
                  <a:srgbClr val="FFFF00"/>
                </a:highlight>
              </a:rPr>
              <a:t>무권리자의</a:t>
            </a:r>
            <a:r>
              <a:rPr lang="ko-KR" altLang="en-US" sz="1400" dirty="0">
                <a:highlight>
                  <a:srgbClr val="FFFF00"/>
                </a:highlight>
              </a:rPr>
              <a:t> </a:t>
            </a:r>
            <a:r>
              <a:rPr lang="ko-KR" altLang="en-US" sz="1400" dirty="0" err="1">
                <a:highlight>
                  <a:srgbClr val="FFFF00"/>
                </a:highlight>
              </a:rPr>
              <a:t>선출원에</a:t>
            </a:r>
            <a:r>
              <a:rPr lang="ko-KR" altLang="en-US" sz="1400" dirty="0">
                <a:highlight>
                  <a:srgbClr val="FFFF00"/>
                </a:highlight>
              </a:rPr>
              <a:t> 의하여 특허거절결정되지 아니한다</a:t>
            </a:r>
            <a:r>
              <a:rPr lang="en-US" altLang="ko-KR" sz="1400" dirty="0">
                <a:highlight>
                  <a:srgbClr val="FFFF00"/>
                </a:highlight>
              </a:rPr>
              <a:t>.</a:t>
            </a:r>
            <a:r>
              <a:rPr lang="en-US" altLang="ko-KR" sz="1400" dirty="0">
                <a:solidFill>
                  <a:schemeClr val="tx2"/>
                </a:solidFill>
              </a:rPr>
              <a:t> </a:t>
            </a:r>
            <a:r>
              <a:rPr lang="ko-KR" altLang="en-US" sz="1400" dirty="0" err="1">
                <a:solidFill>
                  <a:schemeClr val="tx2"/>
                </a:solidFill>
              </a:rPr>
              <a:t>무권리자의</a:t>
            </a:r>
            <a:r>
              <a:rPr lang="ko-KR" altLang="en-US" sz="1400" dirty="0">
                <a:solidFill>
                  <a:schemeClr val="tx2"/>
                </a:solidFill>
              </a:rPr>
              <a:t> </a:t>
            </a:r>
            <a:r>
              <a:rPr lang="ko-KR" altLang="en-US" sz="1400" dirty="0" err="1">
                <a:solidFill>
                  <a:schemeClr val="tx2"/>
                </a:solidFill>
              </a:rPr>
              <a:t>선출원은</a:t>
            </a:r>
            <a:r>
              <a:rPr lang="ko-KR" altLang="en-US" sz="1400" dirty="0">
                <a:solidFill>
                  <a:schemeClr val="tx2"/>
                </a:solidFill>
              </a:rPr>
              <a:t> </a:t>
            </a:r>
            <a:r>
              <a:rPr lang="ko-KR" altLang="en-US" sz="1400" dirty="0" err="1">
                <a:solidFill>
                  <a:schemeClr val="tx2"/>
                </a:solidFill>
              </a:rPr>
              <a:t>선출원의</a:t>
            </a:r>
            <a:r>
              <a:rPr lang="ko-KR" altLang="en-US" sz="1400" dirty="0">
                <a:solidFill>
                  <a:schemeClr val="tx2"/>
                </a:solidFill>
              </a:rPr>
              <a:t> 지위가 없으며</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36⑤), </a:t>
            </a:r>
            <a:r>
              <a:rPr lang="ko-KR" altLang="en-US" sz="1400" dirty="0">
                <a:solidFill>
                  <a:schemeClr val="tx2"/>
                </a:solidFill>
              </a:rPr>
              <a:t>발명자가 동일하여 정당한 권리자의 출원에 대하여 확대된 선출원의 지위도 인정되지 않기 때문이다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29③④</a:t>
            </a:r>
            <a:r>
              <a:rPr lang="ko-KR" altLang="en-US" sz="1400" dirty="0">
                <a:solidFill>
                  <a:schemeClr val="tx2"/>
                </a:solidFill>
              </a:rPr>
              <a:t>단서</a:t>
            </a:r>
            <a:r>
              <a:rPr lang="en-US" altLang="ko-KR" sz="1400" dirty="0">
                <a:solidFill>
                  <a:schemeClr val="tx2"/>
                </a:solidFill>
              </a:rPr>
              <a:t>).</a:t>
            </a:r>
            <a:endParaRPr lang="en-US" altLang="ko-KR" sz="1400" dirty="0">
              <a:solidFill>
                <a:srgbClr val="FF0000"/>
              </a:solidFill>
            </a:endParaRPr>
          </a:p>
        </p:txBody>
      </p:sp>
      <p:cxnSp>
        <p:nvCxnSpPr>
          <p:cNvPr id="27" name="직선 연결선 26"/>
          <p:cNvCxnSpPr/>
          <p:nvPr/>
        </p:nvCxnSpPr>
        <p:spPr>
          <a:xfrm>
            <a:off x="0" y="236777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직선 화살표 연결선 38"/>
          <p:cNvCxnSpPr/>
          <p:nvPr/>
        </p:nvCxnSpPr>
        <p:spPr>
          <a:xfrm>
            <a:off x="273682" y="4102924"/>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0" name="Rectangle 14"/>
          <p:cNvSpPr>
            <a:spLocks noChangeArrowheads="1"/>
          </p:cNvSpPr>
          <p:nvPr/>
        </p:nvSpPr>
        <p:spPr bwMode="auto">
          <a:xfrm>
            <a:off x="626436" y="3135588"/>
            <a:ext cx="1214040"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err="1">
                <a:latin typeface="+mn-ea"/>
              </a:rPr>
              <a:t>무권리자</a:t>
            </a:r>
            <a:r>
              <a:rPr lang="ko-KR" altLang="en-US" sz="1200" b="0" dirty="0">
                <a:latin typeface="+mn-ea"/>
              </a:rPr>
              <a:t> </a:t>
            </a:r>
            <a:r>
              <a:rPr lang="ko-KR" altLang="en-US" sz="1200" dirty="0">
                <a:latin typeface="+mn-ea"/>
              </a:rPr>
              <a:t>출원</a:t>
            </a:r>
            <a:r>
              <a:rPr lang="en-US" altLang="ko-KR" sz="1200" dirty="0">
                <a:latin typeface="+mn-ea"/>
              </a:rPr>
              <a:t>(X)</a:t>
            </a:r>
            <a:endParaRPr lang="ko-KR" altLang="en-US" sz="1200" b="0" dirty="0">
              <a:latin typeface="+mn-ea"/>
            </a:endParaRPr>
          </a:p>
        </p:txBody>
      </p:sp>
      <p:sp>
        <p:nvSpPr>
          <p:cNvPr id="42" name="직사각형 41"/>
          <p:cNvSpPr/>
          <p:nvPr/>
        </p:nvSpPr>
        <p:spPr>
          <a:xfrm>
            <a:off x="774778" y="2450177"/>
            <a:ext cx="932256" cy="306001"/>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200" dirty="0">
              <a:solidFill>
                <a:schemeClr val="tx1"/>
              </a:solidFill>
            </a:endParaRPr>
          </a:p>
        </p:txBody>
      </p:sp>
      <p:sp>
        <p:nvSpPr>
          <p:cNvPr id="43" name="직사각형 42"/>
          <p:cNvSpPr/>
          <p:nvPr/>
        </p:nvSpPr>
        <p:spPr>
          <a:xfrm>
            <a:off x="774778" y="2756178"/>
            <a:ext cx="932256" cy="306001"/>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200" dirty="0">
              <a:solidFill>
                <a:schemeClr val="tx1"/>
              </a:solidFill>
            </a:endParaRPr>
          </a:p>
        </p:txBody>
      </p:sp>
      <p:sp>
        <p:nvSpPr>
          <p:cNvPr id="47" name="직사각형 46"/>
          <p:cNvSpPr/>
          <p:nvPr/>
        </p:nvSpPr>
        <p:spPr>
          <a:xfrm>
            <a:off x="4320858" y="5619374"/>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C</a:t>
            </a:r>
            <a:endParaRPr lang="ko-KR" altLang="en-US" sz="1200" dirty="0">
              <a:solidFill>
                <a:schemeClr val="tx1"/>
              </a:solidFill>
            </a:endParaRPr>
          </a:p>
        </p:txBody>
      </p:sp>
      <p:sp>
        <p:nvSpPr>
          <p:cNvPr id="48" name="직사각형 47"/>
          <p:cNvSpPr/>
          <p:nvPr/>
        </p:nvSpPr>
        <p:spPr>
          <a:xfrm>
            <a:off x="4320858" y="5925376"/>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C</a:t>
            </a:r>
            <a:endParaRPr lang="ko-KR" altLang="en-US" sz="1200" dirty="0">
              <a:solidFill>
                <a:schemeClr val="tx1"/>
              </a:solidFill>
            </a:endParaRPr>
          </a:p>
        </p:txBody>
      </p:sp>
      <p:sp>
        <p:nvSpPr>
          <p:cNvPr id="50" name="Rectangle 14"/>
          <p:cNvSpPr>
            <a:spLocks noChangeArrowheads="1"/>
          </p:cNvSpPr>
          <p:nvPr/>
        </p:nvSpPr>
        <p:spPr bwMode="auto">
          <a:xfrm>
            <a:off x="4007933" y="5187153"/>
            <a:ext cx="1516064" cy="359005"/>
          </a:xfrm>
          <a:prstGeom prst="rect">
            <a:avLst/>
          </a:prstGeom>
          <a:solidFill>
            <a:schemeClr val="accent2"/>
          </a:solidFill>
          <a:ln w="9525" algn="ctr">
            <a:solidFill>
              <a:schemeClr val="bg1">
                <a:lumMod val="50000"/>
              </a:schemeClr>
            </a:solidFill>
            <a:miter lim="800000"/>
            <a:headEnd/>
            <a:tailEnd/>
          </a:ln>
        </p:spPr>
        <p:txBody>
          <a:bodyPr wrap="none" anchor="ctr"/>
          <a:lstStyle/>
          <a:p>
            <a:pPr algn="ctr"/>
            <a:r>
              <a:rPr lang="ko-KR" altLang="en-US" sz="1200" dirty="0">
                <a:latin typeface="+mn-ea"/>
              </a:rPr>
              <a:t>정당한 권리자 출원</a:t>
            </a:r>
            <a:r>
              <a:rPr lang="en-US" altLang="ko-KR" sz="1200" dirty="0">
                <a:latin typeface="+mn-ea"/>
              </a:rPr>
              <a:t>(Z)</a:t>
            </a:r>
            <a:endParaRPr lang="ko-KR" altLang="en-US" sz="1200" b="0" dirty="0">
              <a:latin typeface="+mn-ea"/>
            </a:endParaRPr>
          </a:p>
        </p:txBody>
      </p:sp>
      <p:cxnSp>
        <p:nvCxnSpPr>
          <p:cNvPr id="5" name="직선 화살표 연결선 4"/>
          <p:cNvCxnSpPr>
            <a:cxnSpLocks/>
            <a:stCxn id="40" idx="2"/>
          </p:cNvCxnSpPr>
          <p:nvPr/>
        </p:nvCxnSpPr>
        <p:spPr>
          <a:xfrm>
            <a:off x="1233456" y="3494593"/>
            <a:ext cx="0" cy="60833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7" name="Rectangle 14"/>
          <p:cNvSpPr>
            <a:spLocks noChangeArrowheads="1"/>
          </p:cNvSpPr>
          <p:nvPr/>
        </p:nvSpPr>
        <p:spPr bwMode="auto">
          <a:xfrm>
            <a:off x="6285517" y="3135588"/>
            <a:ext cx="1214040"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공개</a:t>
            </a:r>
            <a:r>
              <a:rPr lang="en-US" altLang="ko-KR" sz="1200" dirty="0">
                <a:latin typeface="+mn-ea"/>
              </a:rPr>
              <a:t>(X)</a:t>
            </a:r>
            <a:endParaRPr lang="ko-KR" altLang="en-US" sz="1200" b="0" dirty="0">
              <a:latin typeface="+mn-ea"/>
            </a:endParaRPr>
          </a:p>
        </p:txBody>
      </p:sp>
      <p:cxnSp>
        <p:nvCxnSpPr>
          <p:cNvPr id="70" name="직선 화살표 연결선 69"/>
          <p:cNvCxnSpPr>
            <a:cxnSpLocks/>
            <a:stCxn id="67" idx="2"/>
          </p:cNvCxnSpPr>
          <p:nvPr/>
        </p:nvCxnSpPr>
        <p:spPr>
          <a:xfrm>
            <a:off x="6892537" y="3494593"/>
            <a:ext cx="0" cy="60833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1" name="Rectangle 14"/>
          <p:cNvSpPr>
            <a:spLocks noChangeArrowheads="1"/>
          </p:cNvSpPr>
          <p:nvPr/>
        </p:nvSpPr>
        <p:spPr bwMode="auto">
          <a:xfrm>
            <a:off x="9078757" y="3135588"/>
            <a:ext cx="1214040"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거절결정확정</a:t>
            </a:r>
            <a:r>
              <a:rPr lang="en-US" altLang="ko-KR" sz="1200" dirty="0">
                <a:latin typeface="+mn-ea"/>
              </a:rPr>
              <a:t>(X)</a:t>
            </a:r>
            <a:endParaRPr lang="ko-KR" altLang="en-US" sz="1200" b="0" dirty="0">
              <a:latin typeface="+mn-ea"/>
            </a:endParaRPr>
          </a:p>
        </p:txBody>
      </p:sp>
      <p:cxnSp>
        <p:nvCxnSpPr>
          <p:cNvPr id="72" name="직선 화살표 연결선 71"/>
          <p:cNvCxnSpPr>
            <a:cxnSpLocks/>
            <a:stCxn id="71" idx="2"/>
          </p:cNvCxnSpPr>
          <p:nvPr/>
        </p:nvCxnSpPr>
        <p:spPr>
          <a:xfrm>
            <a:off x="9685777" y="3494593"/>
            <a:ext cx="0" cy="60833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4" name="직사각형 73"/>
          <p:cNvSpPr/>
          <p:nvPr/>
        </p:nvSpPr>
        <p:spPr>
          <a:xfrm>
            <a:off x="1910473" y="5152649"/>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D</a:t>
            </a:r>
            <a:endParaRPr lang="ko-KR" altLang="en-US" sz="1200" dirty="0">
              <a:solidFill>
                <a:schemeClr val="tx1"/>
              </a:solidFill>
            </a:endParaRPr>
          </a:p>
        </p:txBody>
      </p:sp>
      <p:sp>
        <p:nvSpPr>
          <p:cNvPr id="75" name="직사각형 74"/>
          <p:cNvSpPr/>
          <p:nvPr/>
        </p:nvSpPr>
        <p:spPr>
          <a:xfrm>
            <a:off x="1910473" y="5458651"/>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C, D</a:t>
            </a:r>
            <a:endParaRPr lang="ko-KR" altLang="en-US" sz="1200" dirty="0">
              <a:solidFill>
                <a:schemeClr val="tx1"/>
              </a:solidFill>
            </a:endParaRPr>
          </a:p>
        </p:txBody>
      </p:sp>
      <p:sp>
        <p:nvSpPr>
          <p:cNvPr id="76" name="Rectangle 14"/>
          <p:cNvSpPr>
            <a:spLocks noChangeArrowheads="1"/>
          </p:cNvSpPr>
          <p:nvPr/>
        </p:nvSpPr>
        <p:spPr bwMode="auto">
          <a:xfrm>
            <a:off x="1597548" y="4710903"/>
            <a:ext cx="1516064" cy="359005"/>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제</a:t>
            </a:r>
            <a:r>
              <a:rPr lang="en-US" altLang="ko-KR" sz="1200" dirty="0">
                <a:latin typeface="+mn-ea"/>
              </a:rPr>
              <a:t>3</a:t>
            </a:r>
            <a:r>
              <a:rPr lang="ko-KR" altLang="en-US" sz="1200" dirty="0">
                <a:latin typeface="+mn-ea"/>
              </a:rPr>
              <a:t>자 출원</a:t>
            </a:r>
            <a:r>
              <a:rPr lang="en-US" altLang="ko-KR" sz="1200" dirty="0">
                <a:latin typeface="+mn-ea"/>
              </a:rPr>
              <a:t>(Y)</a:t>
            </a:r>
            <a:endParaRPr lang="ko-KR" altLang="en-US" sz="1200" b="0" dirty="0">
              <a:latin typeface="+mn-ea"/>
            </a:endParaRPr>
          </a:p>
        </p:txBody>
      </p:sp>
      <p:cxnSp>
        <p:nvCxnSpPr>
          <p:cNvPr id="14" name="직선 화살표 연결선 13"/>
          <p:cNvCxnSpPr>
            <a:cxnSpLocks/>
            <a:stCxn id="50" idx="0"/>
            <a:endCxn id="78" idx="2"/>
          </p:cNvCxnSpPr>
          <p:nvPr/>
        </p:nvCxnSpPr>
        <p:spPr>
          <a:xfrm flipH="1" flipV="1">
            <a:off x="3897481" y="4441722"/>
            <a:ext cx="868484" cy="74543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6" name="직선 화살표 연결선 15"/>
          <p:cNvCxnSpPr>
            <a:cxnSpLocks/>
            <a:stCxn id="50" idx="0"/>
          </p:cNvCxnSpPr>
          <p:nvPr/>
        </p:nvCxnSpPr>
        <p:spPr>
          <a:xfrm flipV="1">
            <a:off x="4765965" y="4102924"/>
            <a:ext cx="3499494" cy="108422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8" name="TextBox 77"/>
          <p:cNvSpPr txBox="1"/>
          <p:nvPr/>
        </p:nvSpPr>
        <p:spPr>
          <a:xfrm>
            <a:off x="3593414" y="3795391"/>
            <a:ext cx="608134" cy="646331"/>
          </a:xfrm>
          <a:prstGeom prst="rect">
            <a:avLst/>
          </a:prstGeom>
          <a:solidFill>
            <a:schemeClr val="bg1"/>
          </a:solidFill>
        </p:spPr>
        <p:txBody>
          <a:bodyPr wrap="square" rtlCol="0">
            <a:spAutoFit/>
          </a:bodyPr>
          <a:lstStyle/>
          <a:p>
            <a:pPr fontAlgn="base"/>
            <a:r>
              <a:rPr lang="ko-KR" altLang="en-US" sz="3600" dirty="0">
                <a:solidFill>
                  <a:schemeClr val="tx2"/>
                </a:solidFill>
              </a:rPr>
              <a:t>❶</a:t>
            </a:r>
          </a:p>
        </p:txBody>
      </p:sp>
      <p:sp>
        <p:nvSpPr>
          <p:cNvPr id="79" name="TextBox 78"/>
          <p:cNvSpPr txBox="1"/>
          <p:nvPr/>
        </p:nvSpPr>
        <p:spPr>
          <a:xfrm>
            <a:off x="8150396" y="3795390"/>
            <a:ext cx="624573" cy="646331"/>
          </a:xfrm>
          <a:prstGeom prst="rect">
            <a:avLst/>
          </a:prstGeom>
          <a:solidFill>
            <a:schemeClr val="bg1"/>
          </a:solidFill>
        </p:spPr>
        <p:txBody>
          <a:bodyPr wrap="square" rtlCol="0">
            <a:spAutoFit/>
          </a:bodyPr>
          <a:lstStyle/>
          <a:p>
            <a:pPr fontAlgn="base"/>
            <a:r>
              <a:rPr lang="ko-KR" altLang="en-US" sz="3600" dirty="0">
                <a:solidFill>
                  <a:schemeClr val="accent1"/>
                </a:solidFill>
              </a:rPr>
              <a:t>❷</a:t>
            </a:r>
          </a:p>
        </p:txBody>
      </p:sp>
      <p:cxnSp>
        <p:nvCxnSpPr>
          <p:cNvPr id="83" name="직선 화살표 연결선 82"/>
          <p:cNvCxnSpPr>
            <a:cxnSpLocks/>
            <a:stCxn id="76" idx="0"/>
          </p:cNvCxnSpPr>
          <p:nvPr/>
        </p:nvCxnSpPr>
        <p:spPr>
          <a:xfrm flipV="1">
            <a:off x="2355580" y="4102924"/>
            <a:ext cx="0" cy="60797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161</a:t>
            </a:r>
            <a:endParaRPr lang="ko-KR" altLang="en-US"/>
          </a:p>
        </p:txBody>
      </p:sp>
      <p:sp>
        <p:nvSpPr>
          <p:cNvPr id="6" name="TextBox 5">
            <a:extLst>
              <a:ext uri="{FF2B5EF4-FFF2-40B4-BE49-F238E27FC236}">
                <a16:creationId xmlns:a16="http://schemas.microsoft.com/office/drawing/2014/main" id="{14B17027-2074-6641-7AC1-E671F28FE776}"/>
              </a:ext>
            </a:extLst>
          </p:cNvPr>
          <p:cNvSpPr txBox="1"/>
          <p:nvPr/>
        </p:nvSpPr>
        <p:spPr>
          <a:xfrm>
            <a:off x="2128602" y="2575793"/>
            <a:ext cx="3922574" cy="1200329"/>
          </a:xfrm>
          <a:prstGeom prst="rect">
            <a:avLst/>
          </a:prstGeom>
          <a:noFill/>
          <a:ln w="19050">
            <a:solidFill>
              <a:srgbClr val="FF0000"/>
            </a:solidFill>
          </a:ln>
        </p:spPr>
        <p:txBody>
          <a:bodyPr wrap="square" rtlCol="0">
            <a:spAutoFit/>
          </a:bodyPr>
          <a:lstStyle/>
          <a:p>
            <a:pPr marL="171450" indent="-171450">
              <a:buFontTx/>
              <a:buChar char="-"/>
            </a:pPr>
            <a:r>
              <a:rPr lang="en-US" altLang="ko-KR" sz="1200" dirty="0"/>
              <a:t>Z</a:t>
            </a:r>
            <a:r>
              <a:rPr lang="ko-KR" altLang="en-US" sz="1200" dirty="0"/>
              <a:t>출원일을 기준으로 특허요건 판단</a:t>
            </a:r>
            <a:endParaRPr lang="en-US" altLang="ko-KR" sz="1200" dirty="0"/>
          </a:p>
          <a:p>
            <a:pPr marL="171450" indent="-171450">
              <a:buFontTx/>
              <a:buChar char="-"/>
            </a:pPr>
            <a:r>
              <a:rPr lang="ko-KR" altLang="en-US" sz="1200" dirty="0"/>
              <a:t>출원</a:t>
            </a:r>
            <a:r>
              <a:rPr lang="en-US" altLang="ko-KR" sz="1200" dirty="0"/>
              <a:t>(Y)</a:t>
            </a:r>
            <a:r>
              <a:rPr lang="ko-KR" altLang="en-US" sz="1200" dirty="0"/>
              <a:t>이 공개된다면</a:t>
            </a:r>
            <a:r>
              <a:rPr lang="en-US" altLang="ko-KR" sz="1200" dirty="0"/>
              <a:t>, C</a:t>
            </a:r>
            <a:r>
              <a:rPr lang="ko-KR" altLang="en-US" sz="1200" dirty="0"/>
              <a:t>가 제</a:t>
            </a:r>
            <a:r>
              <a:rPr lang="en-US" altLang="ko-KR" sz="1200" dirty="0"/>
              <a:t>29</a:t>
            </a:r>
            <a:r>
              <a:rPr lang="ko-KR" altLang="en-US" sz="1200" dirty="0"/>
              <a:t>조제</a:t>
            </a:r>
            <a:r>
              <a:rPr lang="en-US" altLang="ko-KR" sz="1200" dirty="0"/>
              <a:t>3</a:t>
            </a:r>
            <a:r>
              <a:rPr lang="ko-KR" altLang="en-US" sz="1200" dirty="0"/>
              <a:t>항 위반</a:t>
            </a:r>
            <a:endParaRPr lang="en-US" altLang="ko-KR" sz="1200" dirty="0"/>
          </a:p>
          <a:p>
            <a:pPr marL="171450" indent="-171450">
              <a:buFontTx/>
              <a:buChar char="-"/>
            </a:pPr>
            <a:r>
              <a:rPr lang="ko-KR" altLang="en-US" sz="1200" dirty="0"/>
              <a:t>제</a:t>
            </a:r>
            <a:r>
              <a:rPr lang="en-US" altLang="ko-KR" sz="1200" dirty="0"/>
              <a:t>29</a:t>
            </a:r>
            <a:r>
              <a:rPr lang="ko-KR" altLang="en-US" sz="1200" dirty="0"/>
              <a:t>조제</a:t>
            </a:r>
            <a:r>
              <a:rPr lang="en-US" altLang="ko-KR" sz="1200" dirty="0"/>
              <a:t>3</a:t>
            </a:r>
            <a:r>
              <a:rPr lang="ko-KR" altLang="en-US" sz="1200" dirty="0"/>
              <a:t>항 위반일지라도</a:t>
            </a:r>
            <a:r>
              <a:rPr lang="en-US" altLang="ko-KR" sz="1200" dirty="0"/>
              <a:t>,</a:t>
            </a:r>
            <a:r>
              <a:rPr lang="ko-KR" altLang="en-US" sz="1200" dirty="0"/>
              <a:t> </a:t>
            </a:r>
            <a:r>
              <a:rPr lang="en-US" altLang="ko-KR" sz="1200" dirty="0"/>
              <a:t>C</a:t>
            </a:r>
            <a:r>
              <a:rPr lang="ko-KR" altLang="en-US" sz="1200" dirty="0"/>
              <a:t>를 </a:t>
            </a:r>
            <a:r>
              <a:rPr lang="ko-KR" altLang="en-US" sz="1200" dirty="0" err="1"/>
              <a:t>삭제보정하는</a:t>
            </a:r>
            <a:r>
              <a:rPr lang="ko-KR" altLang="en-US" sz="1200" dirty="0"/>
              <a:t> 경우 </a:t>
            </a:r>
            <a:r>
              <a:rPr lang="en-US" altLang="ko-KR" sz="1200" dirty="0"/>
              <a:t>A</a:t>
            </a:r>
            <a:r>
              <a:rPr lang="ko-KR" altLang="en-US" sz="1200" dirty="0"/>
              <a:t>는 등록가능</a:t>
            </a:r>
            <a:endParaRPr lang="en-US" altLang="ko-KR" sz="1200" dirty="0"/>
          </a:p>
          <a:p>
            <a:pPr marL="171450" indent="-171450">
              <a:buFontTx/>
              <a:buChar char="-"/>
            </a:pPr>
            <a:r>
              <a:rPr lang="en-US" altLang="ko-KR" sz="1200" dirty="0"/>
              <a:t>A/A,C</a:t>
            </a:r>
            <a:r>
              <a:rPr lang="ko-KR" altLang="en-US" sz="1200" dirty="0"/>
              <a:t>로 보정하는 경우 소급효가 인정되지 않고 등록가능</a:t>
            </a:r>
            <a:endParaRPr lang="en-US" altLang="ko-KR" sz="1200" dirty="0"/>
          </a:p>
          <a:p>
            <a:pPr marL="171450" indent="-171450">
              <a:buFontTx/>
              <a:buChar char="-"/>
            </a:pPr>
            <a:r>
              <a:rPr lang="en-US" altLang="ko-KR" sz="1200" dirty="0"/>
              <a:t>A/A</a:t>
            </a:r>
            <a:r>
              <a:rPr lang="ko-KR" altLang="en-US" sz="1200" dirty="0"/>
              <a:t>로 보정하는 경우 소급효가 인정되면서 등록가능</a:t>
            </a:r>
          </a:p>
        </p:txBody>
      </p:sp>
      <p:sp>
        <p:nvSpPr>
          <p:cNvPr id="9" name="TextBox 8">
            <a:extLst>
              <a:ext uri="{FF2B5EF4-FFF2-40B4-BE49-F238E27FC236}">
                <a16:creationId xmlns:a16="http://schemas.microsoft.com/office/drawing/2014/main" id="{D1ABE25F-5714-64D5-9FA1-E3DF1469BB7B}"/>
              </a:ext>
            </a:extLst>
          </p:cNvPr>
          <p:cNvSpPr txBox="1"/>
          <p:nvPr/>
        </p:nvSpPr>
        <p:spPr>
          <a:xfrm>
            <a:off x="6750425" y="4403722"/>
            <a:ext cx="5263774" cy="646331"/>
          </a:xfrm>
          <a:prstGeom prst="rect">
            <a:avLst/>
          </a:prstGeom>
          <a:noFill/>
          <a:ln w="19050">
            <a:solidFill>
              <a:srgbClr val="FF0000"/>
            </a:solidFill>
          </a:ln>
        </p:spPr>
        <p:txBody>
          <a:bodyPr wrap="square" rtlCol="0">
            <a:spAutoFit/>
          </a:bodyPr>
          <a:lstStyle/>
          <a:p>
            <a:pPr marL="171450" indent="-171450">
              <a:buFontTx/>
              <a:buChar char="-"/>
            </a:pPr>
            <a:r>
              <a:rPr lang="en-US" altLang="ko-KR" sz="1200" dirty="0"/>
              <a:t>Z</a:t>
            </a:r>
            <a:r>
              <a:rPr lang="ko-KR" altLang="en-US" sz="1200" dirty="0"/>
              <a:t>출원일을 기준으로 특허요건 판단</a:t>
            </a:r>
            <a:endParaRPr lang="en-US" altLang="ko-KR" sz="1200" dirty="0"/>
          </a:p>
          <a:p>
            <a:pPr marL="171450" indent="-171450">
              <a:buFontTx/>
              <a:buChar char="-"/>
            </a:pPr>
            <a:r>
              <a:rPr lang="ko-KR" altLang="en-US" sz="1200" dirty="0"/>
              <a:t>공개일</a:t>
            </a:r>
            <a:r>
              <a:rPr lang="en-US" altLang="ko-KR" sz="1200" dirty="0"/>
              <a:t>(X)</a:t>
            </a:r>
            <a:r>
              <a:rPr lang="ko-KR" altLang="en-US" sz="1200" dirty="0"/>
              <a:t>로부터 </a:t>
            </a:r>
            <a:r>
              <a:rPr lang="en-US" altLang="ko-KR" sz="1200" dirty="0"/>
              <a:t>1</a:t>
            </a:r>
            <a:r>
              <a:rPr lang="ko-KR" altLang="en-US" sz="1200" dirty="0"/>
              <a:t>년이 지났다면 </a:t>
            </a:r>
            <a:r>
              <a:rPr lang="en-US" altLang="ko-KR" sz="1200" dirty="0"/>
              <a:t>A</a:t>
            </a:r>
            <a:r>
              <a:rPr lang="ko-KR" altLang="en-US" sz="1200" dirty="0"/>
              <a:t>가 제</a:t>
            </a:r>
            <a:r>
              <a:rPr lang="en-US" altLang="ko-KR" sz="1200" dirty="0"/>
              <a:t>29</a:t>
            </a:r>
            <a:r>
              <a:rPr lang="ko-KR" altLang="en-US" sz="1200" dirty="0"/>
              <a:t>조제</a:t>
            </a:r>
            <a:r>
              <a:rPr lang="en-US" altLang="ko-KR" sz="1200" dirty="0"/>
              <a:t>1</a:t>
            </a:r>
            <a:r>
              <a:rPr lang="ko-KR" altLang="en-US" sz="1200" dirty="0"/>
              <a:t>항 위반</a:t>
            </a:r>
            <a:endParaRPr lang="en-US" altLang="ko-KR" sz="1200" dirty="0"/>
          </a:p>
          <a:p>
            <a:pPr marL="171450" indent="-171450">
              <a:buFontTx/>
              <a:buChar char="-"/>
            </a:pPr>
            <a:r>
              <a:rPr lang="ko-KR" altLang="en-US" sz="1200" dirty="0"/>
              <a:t>출원</a:t>
            </a:r>
            <a:r>
              <a:rPr lang="en-US" altLang="ko-KR" sz="1200" dirty="0"/>
              <a:t>(Y)</a:t>
            </a:r>
            <a:r>
              <a:rPr lang="ko-KR" altLang="en-US" sz="1200" dirty="0"/>
              <a:t>이 공개된다면</a:t>
            </a:r>
            <a:r>
              <a:rPr lang="en-US" altLang="ko-KR" sz="1200" dirty="0"/>
              <a:t>, C</a:t>
            </a:r>
            <a:r>
              <a:rPr lang="ko-KR" altLang="en-US" sz="1200" dirty="0"/>
              <a:t>가 제</a:t>
            </a:r>
            <a:r>
              <a:rPr lang="en-US" altLang="ko-KR" sz="1200" dirty="0"/>
              <a:t>29</a:t>
            </a:r>
            <a:r>
              <a:rPr lang="ko-KR" altLang="en-US" sz="1200" dirty="0"/>
              <a:t>조제</a:t>
            </a:r>
            <a:r>
              <a:rPr lang="en-US" altLang="ko-KR" sz="1200" dirty="0"/>
              <a:t>3</a:t>
            </a:r>
            <a:r>
              <a:rPr lang="ko-KR" altLang="en-US" sz="1200" dirty="0"/>
              <a:t>항 위반</a:t>
            </a:r>
            <a:endParaRPr lang="en-US" altLang="ko-KR" sz="1200" dirty="0"/>
          </a:p>
        </p:txBody>
      </p:sp>
      <p:graphicFrame>
        <p:nvGraphicFramePr>
          <p:cNvPr id="10" name="표 10">
            <a:extLst>
              <a:ext uri="{FF2B5EF4-FFF2-40B4-BE49-F238E27FC236}">
                <a16:creationId xmlns:a16="http://schemas.microsoft.com/office/drawing/2014/main" id="{7F9D0EA7-027B-0917-C0F3-9BC83D8017C1}"/>
              </a:ext>
            </a:extLst>
          </p:cNvPr>
          <p:cNvGraphicFramePr>
            <a:graphicFrameLocks noGrp="1"/>
          </p:cNvGraphicFramePr>
          <p:nvPr/>
        </p:nvGraphicFramePr>
        <p:xfrm>
          <a:off x="6750424" y="5094714"/>
          <a:ext cx="5263773" cy="1554480"/>
        </p:xfrm>
        <a:graphic>
          <a:graphicData uri="http://schemas.openxmlformats.org/drawingml/2006/table">
            <a:tbl>
              <a:tblPr>
                <a:tableStyleId>{8799B23B-EC83-4686-B30A-512413B5E67A}</a:tableStyleId>
              </a:tblPr>
              <a:tblGrid>
                <a:gridCol w="1281952">
                  <a:extLst>
                    <a:ext uri="{9D8B030D-6E8A-4147-A177-3AD203B41FA5}">
                      <a16:colId xmlns:a16="http://schemas.microsoft.com/office/drawing/2014/main" val="4186220556"/>
                    </a:ext>
                  </a:extLst>
                </a:gridCol>
                <a:gridCol w="2070848">
                  <a:extLst>
                    <a:ext uri="{9D8B030D-6E8A-4147-A177-3AD203B41FA5}">
                      <a16:colId xmlns:a16="http://schemas.microsoft.com/office/drawing/2014/main" val="2692393343"/>
                    </a:ext>
                  </a:extLst>
                </a:gridCol>
                <a:gridCol w="1910973">
                  <a:extLst>
                    <a:ext uri="{9D8B030D-6E8A-4147-A177-3AD203B41FA5}">
                      <a16:colId xmlns:a16="http://schemas.microsoft.com/office/drawing/2014/main" val="1277262684"/>
                    </a:ext>
                  </a:extLst>
                </a:gridCol>
              </a:tblGrid>
              <a:tr h="370840">
                <a:tc>
                  <a:txBody>
                    <a:bodyPr/>
                    <a:lstStyle/>
                    <a:p>
                      <a:pPr latinLnBrk="1"/>
                      <a:endParaRPr lang="ko-KR" altLang="en-US" sz="1200" dirty="0"/>
                    </a:p>
                  </a:txBody>
                  <a:tcPr>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tcPr>
                </a:tc>
                <a:tc>
                  <a:txBody>
                    <a:bodyPr/>
                    <a:lstStyle/>
                    <a:p>
                      <a:pPr latinLnBrk="1"/>
                      <a:r>
                        <a:rPr lang="ko-KR" altLang="en-US" sz="1200" dirty="0"/>
                        <a:t>공개</a:t>
                      </a:r>
                      <a:r>
                        <a:rPr lang="en-US" altLang="ko-KR" sz="1200" dirty="0"/>
                        <a:t>(X)</a:t>
                      </a:r>
                      <a:r>
                        <a:rPr lang="ko-KR" altLang="en-US" sz="1200" dirty="0"/>
                        <a:t>일로부터 </a:t>
                      </a:r>
                      <a:endParaRPr lang="en-US" altLang="ko-KR" sz="1200" dirty="0"/>
                    </a:p>
                    <a:p>
                      <a:pPr latinLnBrk="1"/>
                      <a:r>
                        <a:rPr lang="en-US" altLang="ko-KR" sz="1200" dirty="0"/>
                        <a:t>1</a:t>
                      </a:r>
                      <a:r>
                        <a:rPr lang="ko-KR" altLang="en-US" sz="1200" dirty="0"/>
                        <a:t>년 이내인 경우</a:t>
                      </a:r>
                    </a:p>
                  </a:txBody>
                  <a:tcPr>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tcPr>
                </a:tc>
                <a:tc>
                  <a:txBody>
                    <a:bodyPr/>
                    <a:lstStyle/>
                    <a:p>
                      <a:pPr latinLnBrk="1"/>
                      <a:r>
                        <a:rPr lang="ko-KR" altLang="en-US" sz="1200" dirty="0"/>
                        <a:t>공개일로</a:t>
                      </a:r>
                      <a:r>
                        <a:rPr lang="en-US" altLang="ko-KR" sz="1200" dirty="0"/>
                        <a:t>(X)</a:t>
                      </a:r>
                      <a:r>
                        <a:rPr lang="ko-KR" altLang="en-US" sz="1200" dirty="0"/>
                        <a:t>부터 </a:t>
                      </a:r>
                      <a:endParaRPr lang="en-US" altLang="ko-KR" sz="1200" dirty="0"/>
                    </a:p>
                    <a:p>
                      <a:pPr latinLnBrk="1"/>
                      <a:r>
                        <a:rPr lang="en-US" altLang="ko-KR" sz="1200" dirty="0"/>
                        <a:t>1</a:t>
                      </a:r>
                      <a:r>
                        <a:rPr lang="ko-KR" altLang="en-US" sz="1200" dirty="0"/>
                        <a:t>년 지난 경우    </a:t>
                      </a:r>
                    </a:p>
                  </a:txBody>
                  <a:tcPr>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3766449168"/>
                  </a:ext>
                </a:extLst>
              </a:tr>
              <a:tr h="370840">
                <a:tc>
                  <a:txBody>
                    <a:bodyPr/>
                    <a:lstStyle/>
                    <a:p>
                      <a:pPr latinLnBrk="1"/>
                      <a:r>
                        <a:rPr lang="ko-KR" altLang="en-US" sz="1200" dirty="0"/>
                        <a:t>출원</a:t>
                      </a:r>
                      <a:r>
                        <a:rPr lang="en-US" altLang="ko-KR" sz="1200" dirty="0"/>
                        <a:t>(Y)</a:t>
                      </a:r>
                      <a:r>
                        <a:rPr lang="ko-KR" altLang="en-US" sz="1200" dirty="0"/>
                        <a:t>이 공개된 경우</a:t>
                      </a:r>
                    </a:p>
                  </a:txBody>
                  <a:tcPr>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tcPr>
                </a:tc>
                <a:tc>
                  <a:txBody>
                    <a:bodyPr/>
                    <a:lstStyle/>
                    <a:p>
                      <a:pPr latinLnBrk="1"/>
                      <a:r>
                        <a:rPr lang="en-US" altLang="ko-KR" sz="1200" dirty="0"/>
                        <a:t>A/A,C </a:t>
                      </a:r>
                      <a:r>
                        <a:rPr lang="ko-KR" altLang="en-US" sz="1200" dirty="0"/>
                        <a:t>또는</a:t>
                      </a:r>
                      <a:r>
                        <a:rPr lang="en-US" altLang="ko-KR" sz="1200" dirty="0"/>
                        <a:t> A/A</a:t>
                      </a:r>
                      <a:r>
                        <a:rPr lang="ko-KR" altLang="en-US" sz="1200" dirty="0"/>
                        <a:t>로 </a:t>
                      </a:r>
                      <a:r>
                        <a:rPr lang="ko-KR" altLang="en-US" sz="1200" dirty="0" err="1"/>
                        <a:t>삭제보정하는</a:t>
                      </a:r>
                      <a:r>
                        <a:rPr lang="ko-KR" altLang="en-US" sz="1200" dirty="0"/>
                        <a:t> 경우 </a:t>
                      </a:r>
                      <a:r>
                        <a:rPr lang="en-US" altLang="ko-KR" sz="1200" dirty="0"/>
                        <a:t>A</a:t>
                      </a:r>
                      <a:r>
                        <a:rPr lang="ko-KR" altLang="en-US" sz="1200" dirty="0"/>
                        <a:t>는 등록가능</a:t>
                      </a:r>
                    </a:p>
                  </a:txBody>
                  <a:tcPr>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tcPr>
                </a:tc>
                <a:tc>
                  <a:txBody>
                    <a:bodyPr/>
                    <a:lstStyle/>
                    <a:p>
                      <a:pPr latinLnBrk="1"/>
                      <a:r>
                        <a:rPr lang="en-US" altLang="ko-KR" sz="1200" dirty="0"/>
                        <a:t>A/A</a:t>
                      </a:r>
                      <a:r>
                        <a:rPr lang="ko-KR" altLang="en-US" sz="1200" dirty="0"/>
                        <a:t>로 </a:t>
                      </a:r>
                      <a:r>
                        <a:rPr lang="ko-KR" altLang="en-US" sz="1200" dirty="0" err="1"/>
                        <a:t>삭제보정하는</a:t>
                      </a:r>
                      <a:r>
                        <a:rPr lang="ko-KR" altLang="en-US" sz="1200" dirty="0"/>
                        <a:t> 경우 </a:t>
                      </a:r>
                      <a:r>
                        <a:rPr lang="en-US" altLang="ko-KR" sz="1200" dirty="0"/>
                        <a:t>A</a:t>
                      </a:r>
                      <a:r>
                        <a:rPr lang="ko-KR" altLang="en-US" sz="1200" dirty="0"/>
                        <a:t>는 등록가능</a:t>
                      </a:r>
                    </a:p>
                  </a:txBody>
                  <a:tcPr>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3375242844"/>
                  </a:ext>
                </a:extLst>
              </a:tr>
              <a:tr h="370840">
                <a:tc>
                  <a:txBody>
                    <a:bodyPr/>
                    <a:lstStyle/>
                    <a:p>
                      <a:pPr latinLnBrk="1"/>
                      <a:r>
                        <a:rPr lang="ko-KR" altLang="en-US" sz="1200" dirty="0"/>
                        <a:t>출원</a:t>
                      </a:r>
                      <a:r>
                        <a:rPr lang="en-US" altLang="ko-KR" sz="1200" dirty="0"/>
                        <a:t>(Y)</a:t>
                      </a:r>
                      <a:r>
                        <a:rPr lang="ko-KR" altLang="en-US" sz="1200" dirty="0"/>
                        <a:t>이 공개되지 않은 경우</a:t>
                      </a:r>
                    </a:p>
                  </a:txBody>
                  <a:tcPr>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tcPr>
                </a:tc>
                <a:tc>
                  <a:txBody>
                    <a:bodyPr/>
                    <a:lstStyle/>
                    <a:p>
                      <a:pPr latinLnBrk="1"/>
                      <a:r>
                        <a:rPr lang="ko-KR" altLang="en-US" sz="1200" dirty="0"/>
                        <a:t>등록가능</a:t>
                      </a:r>
                    </a:p>
                  </a:txBody>
                  <a:tcPr>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dirty="0"/>
                        <a:t>A/A</a:t>
                      </a:r>
                      <a:r>
                        <a:rPr lang="ko-KR" altLang="en-US" sz="1200" dirty="0"/>
                        <a:t>로 </a:t>
                      </a:r>
                      <a:r>
                        <a:rPr lang="ko-KR" altLang="en-US" sz="1200" dirty="0" err="1"/>
                        <a:t>삭제보정하는</a:t>
                      </a:r>
                      <a:r>
                        <a:rPr lang="ko-KR" altLang="en-US" sz="1200" dirty="0"/>
                        <a:t> 경우 </a:t>
                      </a:r>
                      <a:r>
                        <a:rPr lang="en-US" altLang="ko-KR" sz="1200" dirty="0"/>
                        <a:t>A</a:t>
                      </a:r>
                      <a:r>
                        <a:rPr lang="ko-KR" altLang="en-US" sz="1200" dirty="0"/>
                        <a:t>는 등록가능</a:t>
                      </a:r>
                      <a:endParaRPr lang="en-US" altLang="ko-KR" sz="120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dirty="0"/>
                        <a:t>C</a:t>
                      </a:r>
                      <a:r>
                        <a:rPr lang="ko-KR" altLang="en-US" sz="1200" dirty="0"/>
                        <a:t>는 </a:t>
                      </a:r>
                      <a:r>
                        <a:rPr lang="ko-KR" altLang="en-US" sz="1200" dirty="0" err="1"/>
                        <a:t>분할출원하면</a:t>
                      </a:r>
                      <a:r>
                        <a:rPr lang="ko-KR" altLang="en-US" sz="1200" dirty="0"/>
                        <a:t> 등록가능</a:t>
                      </a:r>
                    </a:p>
                  </a:txBody>
                  <a:tcPr>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4089696445"/>
                  </a:ext>
                </a:extLst>
              </a:tr>
            </a:tbl>
          </a:graphicData>
        </a:graphic>
      </p:graphicFrame>
    </p:spTree>
    <p:extLst>
      <p:ext uri="{BB962C8B-B14F-4D97-AF65-F5344CB8AC3E}">
        <p14:creationId xmlns:p14="http://schemas.microsoft.com/office/powerpoint/2010/main" val="602478349"/>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99</a:t>
            </a:r>
            <a:r>
              <a:rPr lang="ko-KR" altLang="en-US" dirty="0"/>
              <a:t>조의</a:t>
            </a:r>
            <a:r>
              <a:rPr lang="en-US" altLang="ko-KR" dirty="0"/>
              <a:t>2</a:t>
            </a:r>
            <a:endParaRPr lang="ko-KR" altLang="en-US" dirty="0"/>
          </a:p>
        </p:txBody>
      </p:sp>
      <p:sp>
        <p:nvSpPr>
          <p:cNvPr id="4" name="텍스트 개체 틀 3"/>
          <p:cNvSpPr>
            <a:spLocks noGrp="1"/>
          </p:cNvSpPr>
          <p:nvPr>
            <p:ph type="body" sz="quarter" idx="13"/>
          </p:nvPr>
        </p:nvSpPr>
        <p:spPr/>
        <p:txBody>
          <a:bodyPr/>
          <a:lstStyle/>
          <a:p>
            <a:r>
              <a:rPr lang="ko-KR" altLang="en-US" dirty="0"/>
              <a:t>특허권 </a:t>
            </a:r>
            <a:r>
              <a:rPr lang="ko-KR" altLang="en-US" dirty="0" err="1"/>
              <a:t>이전청구의</a:t>
            </a:r>
            <a:r>
              <a:rPr lang="ko-KR" altLang="en-US" dirty="0"/>
              <a:t> 개념</a:t>
            </a:r>
          </a:p>
        </p:txBody>
      </p:sp>
      <p:sp>
        <p:nvSpPr>
          <p:cNvPr id="26" name="TextBox 25"/>
          <p:cNvSpPr txBox="1"/>
          <p:nvPr/>
        </p:nvSpPr>
        <p:spPr>
          <a:xfrm>
            <a:off x="77875" y="986046"/>
            <a:ext cx="11936323" cy="1600438"/>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99</a:t>
            </a:r>
            <a:r>
              <a:rPr lang="ko-KR" altLang="en-US" sz="1400" b="1" dirty="0">
                <a:solidFill>
                  <a:schemeClr val="accent1"/>
                </a:solidFill>
              </a:rPr>
              <a:t>조의</a:t>
            </a:r>
            <a:r>
              <a:rPr lang="en-US" altLang="ko-KR" sz="1400" b="1" dirty="0">
                <a:solidFill>
                  <a:schemeClr val="accent1"/>
                </a:solidFill>
              </a:rPr>
              <a:t>2(</a:t>
            </a:r>
            <a:r>
              <a:rPr lang="ko-KR" altLang="en-US" sz="1400" b="1" dirty="0">
                <a:solidFill>
                  <a:schemeClr val="accent1"/>
                </a:solidFill>
              </a:rPr>
              <a:t>특허권의 </a:t>
            </a:r>
            <a:r>
              <a:rPr lang="ko-KR" altLang="en-US" sz="1400" b="1" dirty="0" err="1">
                <a:solidFill>
                  <a:schemeClr val="accent1"/>
                </a:solidFill>
              </a:rPr>
              <a:t>이전청구</a:t>
            </a:r>
            <a:r>
              <a:rPr lang="en-US" altLang="ko-KR" sz="1400" b="1" dirty="0">
                <a:solidFill>
                  <a:schemeClr val="accent1"/>
                </a:solidFill>
              </a:rPr>
              <a:t>)</a:t>
            </a:r>
            <a:r>
              <a:rPr lang="en-US" altLang="ko-KR" sz="1400" dirty="0">
                <a:solidFill>
                  <a:schemeClr val="tx2"/>
                </a:solidFill>
              </a:rPr>
              <a:t> ① </a:t>
            </a:r>
            <a:r>
              <a:rPr lang="ko-KR" altLang="en-US" sz="1400" dirty="0">
                <a:solidFill>
                  <a:schemeClr val="tx2"/>
                </a:solidFill>
              </a:rPr>
              <a:t>특허가 제</a:t>
            </a:r>
            <a:r>
              <a:rPr lang="en-US" altLang="ko-KR" sz="1400" dirty="0">
                <a:solidFill>
                  <a:schemeClr val="tx2"/>
                </a:solidFill>
              </a:rPr>
              <a:t>133</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2</a:t>
            </a:r>
            <a:r>
              <a:rPr lang="ko-KR" altLang="en-US" sz="1400" dirty="0">
                <a:solidFill>
                  <a:schemeClr val="tx2"/>
                </a:solidFill>
              </a:rPr>
              <a:t>호 본문에 해당하는 경우에 특허를 받을 수 있는 권리를 가진 자는 법원에 해당 특허권의 이전</a:t>
            </a:r>
            <a:r>
              <a:rPr lang="en-US" altLang="ko-KR" sz="1400" dirty="0">
                <a:solidFill>
                  <a:schemeClr val="tx2"/>
                </a:solidFill>
              </a:rPr>
              <a:t>(</a:t>
            </a:r>
            <a:r>
              <a:rPr lang="ko-KR" altLang="en-US" sz="1400" dirty="0">
                <a:solidFill>
                  <a:schemeClr val="tx2"/>
                </a:solidFill>
              </a:rPr>
              <a:t>특허를 받을 수 있는 권리가 공유인 경우에는 그 지분의 이전을 말한다</a:t>
            </a:r>
            <a:r>
              <a:rPr lang="en-US" altLang="ko-KR" sz="1400" dirty="0">
                <a:solidFill>
                  <a:schemeClr val="tx2"/>
                </a:solidFill>
              </a:rPr>
              <a:t>)</a:t>
            </a:r>
            <a:r>
              <a:rPr lang="ko-KR" altLang="en-US" sz="1400" dirty="0">
                <a:solidFill>
                  <a:schemeClr val="tx2"/>
                </a:solidFill>
              </a:rPr>
              <a:t>을 청구할 수 있다</a:t>
            </a:r>
            <a:r>
              <a:rPr lang="en-US" altLang="ko-KR" sz="1400" dirty="0">
                <a:solidFill>
                  <a:schemeClr val="tx2"/>
                </a:solidFill>
              </a:rPr>
              <a:t>.</a:t>
            </a:r>
          </a:p>
          <a:p>
            <a:pPr fontAlgn="base"/>
            <a:r>
              <a:rPr lang="en-US" altLang="ko-KR" sz="1400" dirty="0">
                <a:solidFill>
                  <a:schemeClr val="tx2"/>
                </a:solidFill>
              </a:rPr>
              <a:t>②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항의 청구에 기초하여 특허권이 </a:t>
            </a:r>
            <a:r>
              <a:rPr lang="ko-KR" altLang="en-US" sz="1400" dirty="0" err="1">
                <a:solidFill>
                  <a:schemeClr val="tx2"/>
                </a:solidFill>
              </a:rPr>
              <a:t>이전등록된</a:t>
            </a:r>
            <a:r>
              <a:rPr lang="ko-KR" altLang="en-US" sz="1400" dirty="0">
                <a:solidFill>
                  <a:schemeClr val="tx2"/>
                </a:solidFill>
              </a:rPr>
              <a:t> 경우에는 다음 각 호의 권리는 그 특허권이 </a:t>
            </a:r>
            <a:r>
              <a:rPr lang="ko-KR" altLang="en-US" sz="1400" dirty="0" err="1">
                <a:solidFill>
                  <a:schemeClr val="tx2"/>
                </a:solidFill>
              </a:rPr>
              <a:t>설정등록된</a:t>
            </a:r>
            <a:r>
              <a:rPr lang="ko-KR" altLang="en-US" sz="1400" dirty="0">
                <a:solidFill>
                  <a:schemeClr val="tx2"/>
                </a:solidFill>
              </a:rPr>
              <a:t> 날부터 이전등록을 받은 자에게 있는 것으로 본다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해당 특허권</a:t>
            </a:r>
          </a:p>
          <a:p>
            <a:pPr fontAlgn="base"/>
            <a:r>
              <a:rPr lang="en-US" altLang="ko-KR" sz="1400" dirty="0">
                <a:solidFill>
                  <a:schemeClr val="tx2"/>
                </a:solidFill>
              </a:rPr>
              <a:t>2. </a:t>
            </a:r>
            <a:r>
              <a:rPr lang="ko-KR" altLang="en-US" sz="1400" dirty="0">
                <a:solidFill>
                  <a:schemeClr val="tx2"/>
                </a:solidFill>
              </a:rPr>
              <a:t>제</a:t>
            </a:r>
            <a:r>
              <a:rPr lang="en-US" altLang="ko-KR" sz="1400" dirty="0">
                <a:solidFill>
                  <a:schemeClr val="tx2"/>
                </a:solidFill>
              </a:rPr>
              <a:t>65</a:t>
            </a:r>
            <a:r>
              <a:rPr lang="ko-KR" altLang="en-US" sz="1400" dirty="0">
                <a:solidFill>
                  <a:schemeClr val="tx2"/>
                </a:solidFill>
              </a:rPr>
              <a:t>조제</a:t>
            </a:r>
            <a:r>
              <a:rPr lang="en-US" altLang="ko-KR" sz="1400" dirty="0">
                <a:solidFill>
                  <a:schemeClr val="tx2"/>
                </a:solidFill>
              </a:rPr>
              <a:t>2</a:t>
            </a:r>
            <a:r>
              <a:rPr lang="ko-KR" altLang="en-US" sz="1400" dirty="0">
                <a:solidFill>
                  <a:schemeClr val="tx2"/>
                </a:solidFill>
              </a:rPr>
              <a:t>항에 따른 보상금 지급 청구권</a:t>
            </a:r>
          </a:p>
          <a:p>
            <a:pPr fontAlgn="base"/>
            <a:r>
              <a:rPr lang="en-US" altLang="ko-KR" sz="1400" dirty="0">
                <a:solidFill>
                  <a:schemeClr val="tx2"/>
                </a:solidFill>
              </a:rPr>
              <a:t>3. </a:t>
            </a:r>
            <a:r>
              <a:rPr lang="ko-KR" altLang="en-US" sz="1400" dirty="0">
                <a:solidFill>
                  <a:schemeClr val="tx2"/>
                </a:solidFill>
              </a:rPr>
              <a:t>제</a:t>
            </a:r>
            <a:r>
              <a:rPr lang="en-US" altLang="ko-KR" sz="1400" dirty="0">
                <a:solidFill>
                  <a:schemeClr val="tx2"/>
                </a:solidFill>
              </a:rPr>
              <a:t>207</a:t>
            </a:r>
            <a:r>
              <a:rPr lang="ko-KR" altLang="en-US" sz="1400" dirty="0">
                <a:solidFill>
                  <a:schemeClr val="tx2"/>
                </a:solidFill>
              </a:rPr>
              <a:t>조제</a:t>
            </a:r>
            <a:r>
              <a:rPr lang="en-US" altLang="ko-KR" sz="1400" dirty="0">
                <a:solidFill>
                  <a:schemeClr val="tx2"/>
                </a:solidFill>
              </a:rPr>
              <a:t>4</a:t>
            </a:r>
            <a:r>
              <a:rPr lang="ko-KR" altLang="en-US" sz="1400" dirty="0">
                <a:solidFill>
                  <a:schemeClr val="tx2"/>
                </a:solidFill>
              </a:rPr>
              <a:t>항에 따른 보상금 지급 청구권</a:t>
            </a:r>
          </a:p>
          <a:p>
            <a:pPr fontAlgn="base"/>
            <a:r>
              <a:rPr lang="ko-KR" altLang="en-US" sz="1400" dirty="0">
                <a:solidFill>
                  <a:schemeClr val="tx2"/>
                </a:solidFill>
              </a:rPr>
              <a:t>③ 제</a:t>
            </a:r>
            <a:r>
              <a:rPr lang="en-US" altLang="ko-KR" sz="1400" dirty="0">
                <a:solidFill>
                  <a:schemeClr val="tx2"/>
                </a:solidFill>
              </a:rPr>
              <a:t>1</a:t>
            </a:r>
            <a:r>
              <a:rPr lang="ko-KR" altLang="en-US" sz="1400" dirty="0">
                <a:solidFill>
                  <a:schemeClr val="tx2"/>
                </a:solidFill>
              </a:rPr>
              <a:t>항의 청구에 따라 공유인 특허권의 지분을 이전하는 경우에는 제</a:t>
            </a:r>
            <a:r>
              <a:rPr lang="en-US" altLang="ko-KR" sz="1400" dirty="0">
                <a:solidFill>
                  <a:schemeClr val="tx2"/>
                </a:solidFill>
              </a:rPr>
              <a:t>99</a:t>
            </a:r>
            <a:r>
              <a:rPr lang="ko-KR" altLang="en-US" sz="1400" dirty="0">
                <a:solidFill>
                  <a:schemeClr val="tx2"/>
                </a:solidFill>
              </a:rPr>
              <a:t>조제</a:t>
            </a:r>
            <a:r>
              <a:rPr lang="en-US" altLang="ko-KR" sz="1400" dirty="0">
                <a:solidFill>
                  <a:schemeClr val="tx2"/>
                </a:solidFill>
              </a:rPr>
              <a:t>2</a:t>
            </a:r>
            <a:r>
              <a:rPr lang="ko-KR" altLang="en-US" sz="1400" dirty="0">
                <a:solidFill>
                  <a:schemeClr val="tx2"/>
                </a:solidFill>
              </a:rPr>
              <a:t>항에도 불구하고 다른 공유자의 동의를 받지 아니하더라도 그 지분을 이전할 수 있다</a:t>
            </a:r>
            <a:r>
              <a:rPr lang="en-US" altLang="ko-KR" sz="1400" dirty="0">
                <a:solidFill>
                  <a:schemeClr val="tx2"/>
                </a:solidFill>
              </a:rPr>
              <a:t>.</a:t>
            </a:r>
          </a:p>
        </p:txBody>
      </p:sp>
      <p:cxnSp>
        <p:nvCxnSpPr>
          <p:cNvPr id="27" name="직선 연결선 26"/>
          <p:cNvCxnSpPr/>
          <p:nvPr/>
        </p:nvCxnSpPr>
        <p:spPr>
          <a:xfrm>
            <a:off x="0" y="256433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직선 화살표 연결선 38"/>
          <p:cNvCxnSpPr/>
          <p:nvPr/>
        </p:nvCxnSpPr>
        <p:spPr>
          <a:xfrm>
            <a:off x="546644" y="4750690"/>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0" name="Rectangle 14"/>
          <p:cNvSpPr>
            <a:spLocks noChangeArrowheads="1"/>
          </p:cNvSpPr>
          <p:nvPr/>
        </p:nvSpPr>
        <p:spPr bwMode="auto">
          <a:xfrm>
            <a:off x="576128" y="3991674"/>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err="1">
                <a:latin typeface="+mn-ea"/>
              </a:rPr>
              <a:t>무권리자</a:t>
            </a:r>
            <a:r>
              <a:rPr lang="ko-KR" altLang="en-US" sz="1400" b="0" dirty="0">
                <a:latin typeface="+mn-ea"/>
              </a:rPr>
              <a:t> </a:t>
            </a:r>
            <a:r>
              <a:rPr lang="ko-KR" altLang="en-US" sz="1400" dirty="0">
                <a:latin typeface="+mn-ea"/>
              </a:rPr>
              <a:t>출원</a:t>
            </a:r>
            <a:endParaRPr lang="ko-KR" altLang="en-US" sz="1400" b="0" dirty="0">
              <a:latin typeface="+mn-ea"/>
            </a:endParaRPr>
          </a:p>
        </p:txBody>
      </p:sp>
      <p:sp>
        <p:nvSpPr>
          <p:cNvPr id="50" name="Rectangle 14"/>
          <p:cNvSpPr>
            <a:spLocks noChangeArrowheads="1"/>
          </p:cNvSpPr>
          <p:nvPr/>
        </p:nvSpPr>
        <p:spPr bwMode="auto">
          <a:xfrm>
            <a:off x="7145293" y="3467967"/>
            <a:ext cx="1879066" cy="359005"/>
          </a:xfrm>
          <a:prstGeom prst="rect">
            <a:avLst/>
          </a:prstGeom>
          <a:solidFill>
            <a:schemeClr val="accent2"/>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bg1"/>
                </a:solidFill>
                <a:latin typeface="+mn-ea"/>
              </a:rPr>
              <a:t>정당한 권리자 </a:t>
            </a:r>
            <a:r>
              <a:rPr lang="ko-KR" altLang="en-US" sz="1400" dirty="0" err="1">
                <a:solidFill>
                  <a:schemeClr val="bg1"/>
                </a:solidFill>
                <a:latin typeface="+mn-ea"/>
              </a:rPr>
              <a:t>이전청구</a:t>
            </a:r>
            <a:endParaRPr lang="ko-KR" altLang="en-US" sz="1400" b="0" dirty="0">
              <a:solidFill>
                <a:schemeClr val="bg1"/>
              </a:solidFill>
              <a:latin typeface="+mn-ea"/>
            </a:endParaRPr>
          </a:p>
        </p:txBody>
      </p:sp>
      <p:cxnSp>
        <p:nvCxnSpPr>
          <p:cNvPr id="5" name="직선 화살표 연결선 4"/>
          <p:cNvCxnSpPr>
            <a:stCxn id="40" idx="2"/>
          </p:cNvCxnSpPr>
          <p:nvPr/>
        </p:nvCxnSpPr>
        <p:spPr>
          <a:xfrm>
            <a:off x="1285399" y="4350679"/>
            <a:ext cx="0" cy="40001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7" name="Rectangle 14"/>
          <p:cNvSpPr>
            <a:spLocks noChangeArrowheads="1"/>
          </p:cNvSpPr>
          <p:nvPr/>
        </p:nvSpPr>
        <p:spPr bwMode="auto">
          <a:xfrm>
            <a:off x="2161992" y="3991674"/>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공개</a:t>
            </a:r>
            <a:endParaRPr lang="ko-KR" altLang="en-US" sz="1400" b="0" dirty="0">
              <a:latin typeface="+mn-ea"/>
            </a:endParaRPr>
          </a:p>
        </p:txBody>
      </p:sp>
      <p:sp>
        <p:nvSpPr>
          <p:cNvPr id="71" name="Rectangle 14"/>
          <p:cNvSpPr>
            <a:spLocks noChangeArrowheads="1"/>
          </p:cNvSpPr>
          <p:nvPr/>
        </p:nvSpPr>
        <p:spPr bwMode="auto">
          <a:xfrm>
            <a:off x="3752675" y="3991674"/>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경고</a:t>
            </a:r>
            <a:endParaRPr lang="ko-KR" altLang="en-US" sz="1400" b="0" dirty="0">
              <a:latin typeface="+mn-ea"/>
            </a:endParaRPr>
          </a:p>
        </p:txBody>
      </p:sp>
      <p:cxnSp>
        <p:nvCxnSpPr>
          <p:cNvPr id="72" name="직선 화살표 연결선 71"/>
          <p:cNvCxnSpPr>
            <a:stCxn id="71" idx="2"/>
          </p:cNvCxnSpPr>
          <p:nvPr/>
        </p:nvCxnSpPr>
        <p:spPr>
          <a:xfrm>
            <a:off x="4461946" y="4350679"/>
            <a:ext cx="0" cy="40001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8" name="직선 화살표 연결선 27"/>
          <p:cNvCxnSpPr/>
          <p:nvPr/>
        </p:nvCxnSpPr>
        <p:spPr>
          <a:xfrm>
            <a:off x="2882088" y="4350679"/>
            <a:ext cx="0" cy="40001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9" name="Rectangle 14"/>
          <p:cNvSpPr>
            <a:spLocks noChangeArrowheads="1"/>
          </p:cNvSpPr>
          <p:nvPr/>
        </p:nvSpPr>
        <p:spPr bwMode="auto">
          <a:xfrm>
            <a:off x="5323132" y="3991674"/>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설정등록</a:t>
            </a:r>
            <a:endParaRPr lang="ko-KR" altLang="en-US" sz="1400" b="0" dirty="0">
              <a:latin typeface="+mn-ea"/>
            </a:endParaRPr>
          </a:p>
        </p:txBody>
      </p:sp>
      <p:cxnSp>
        <p:nvCxnSpPr>
          <p:cNvPr id="30" name="직선 화살표 연결선 29"/>
          <p:cNvCxnSpPr>
            <a:stCxn id="29" idx="2"/>
          </p:cNvCxnSpPr>
          <p:nvPr/>
        </p:nvCxnSpPr>
        <p:spPr>
          <a:xfrm>
            <a:off x="6032403" y="4350679"/>
            <a:ext cx="0" cy="40001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 name="자유형 5"/>
          <p:cNvSpPr/>
          <p:nvPr/>
        </p:nvSpPr>
        <p:spPr>
          <a:xfrm>
            <a:off x="3213219" y="4760009"/>
            <a:ext cx="7879222" cy="743484"/>
          </a:xfrm>
          <a:custGeom>
            <a:avLst/>
            <a:gdLst>
              <a:gd name="connsiteX0" fmla="*/ 0 w 7879222"/>
              <a:gd name="connsiteY0" fmla="*/ 0 h 743484"/>
              <a:gd name="connsiteX1" fmla="*/ 0 w 7879222"/>
              <a:gd name="connsiteY1" fmla="*/ 743484 h 743484"/>
              <a:gd name="connsiteX2" fmla="*/ 7879222 w 7879222"/>
              <a:gd name="connsiteY2" fmla="*/ 743484 h 743484"/>
            </a:gdLst>
            <a:ahLst/>
            <a:cxnLst>
              <a:cxn ang="0">
                <a:pos x="connsiteX0" y="connsiteY0"/>
              </a:cxn>
              <a:cxn ang="0">
                <a:pos x="connsiteX1" y="connsiteY1"/>
              </a:cxn>
              <a:cxn ang="0">
                <a:pos x="connsiteX2" y="connsiteY2"/>
              </a:cxn>
            </a:cxnLst>
            <a:rect l="l" t="t" r="r" b="b"/>
            <a:pathLst>
              <a:path w="7879222" h="743484">
                <a:moveTo>
                  <a:pt x="0" y="0"/>
                </a:moveTo>
                <a:lnTo>
                  <a:pt x="0" y="743484"/>
                </a:lnTo>
                <a:lnTo>
                  <a:pt x="7879222" y="743484"/>
                </a:ln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 name="직선 연결선 7"/>
          <p:cNvCxnSpPr/>
          <p:nvPr/>
        </p:nvCxnSpPr>
        <p:spPr>
          <a:xfrm>
            <a:off x="6032403" y="4750690"/>
            <a:ext cx="0" cy="141937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직선 연결선 33"/>
          <p:cNvCxnSpPr/>
          <p:nvPr/>
        </p:nvCxnSpPr>
        <p:spPr>
          <a:xfrm>
            <a:off x="4461946" y="4750690"/>
            <a:ext cx="0" cy="141937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직선 화살표 연결선 16"/>
          <p:cNvCxnSpPr/>
          <p:nvPr/>
        </p:nvCxnSpPr>
        <p:spPr>
          <a:xfrm>
            <a:off x="4461946" y="5964967"/>
            <a:ext cx="1570457" cy="0"/>
          </a:xfrm>
          <a:prstGeom prst="straightConnector1">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4685488" y="5856730"/>
            <a:ext cx="1156086" cy="307777"/>
          </a:xfrm>
          <a:prstGeom prst="rect">
            <a:avLst/>
          </a:prstGeom>
          <a:solidFill>
            <a:schemeClr val="bg1"/>
          </a:solidFill>
        </p:spPr>
        <p:txBody>
          <a:bodyPr wrap="none" rtlCol="0">
            <a:spAutoFit/>
          </a:bodyPr>
          <a:lstStyle/>
          <a:p>
            <a:r>
              <a:rPr lang="ko-KR" altLang="en-US" sz="1400" dirty="0"/>
              <a:t>보상금청구권</a:t>
            </a:r>
          </a:p>
        </p:txBody>
      </p:sp>
      <p:cxnSp>
        <p:nvCxnSpPr>
          <p:cNvPr id="44" name="직선 화살표 연결선 43"/>
          <p:cNvCxnSpPr/>
          <p:nvPr/>
        </p:nvCxnSpPr>
        <p:spPr>
          <a:xfrm>
            <a:off x="6041804" y="5964967"/>
            <a:ext cx="5094701" cy="0"/>
          </a:xfrm>
          <a:prstGeom prst="straightConnector1">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7433068" y="5856730"/>
            <a:ext cx="1205779" cy="307777"/>
          </a:xfrm>
          <a:prstGeom prst="rect">
            <a:avLst/>
          </a:prstGeom>
          <a:solidFill>
            <a:schemeClr val="bg1"/>
          </a:solidFill>
        </p:spPr>
        <p:txBody>
          <a:bodyPr wrap="none" rtlCol="0">
            <a:spAutoFit/>
          </a:bodyPr>
          <a:lstStyle/>
          <a:p>
            <a:r>
              <a:rPr lang="ko-KR" altLang="en-US" sz="1400" dirty="0"/>
              <a:t>특허권의 침해</a:t>
            </a:r>
          </a:p>
        </p:txBody>
      </p:sp>
      <p:sp>
        <p:nvSpPr>
          <p:cNvPr id="49" name="TextBox 48"/>
          <p:cNvSpPr txBox="1"/>
          <p:nvPr/>
        </p:nvSpPr>
        <p:spPr>
          <a:xfrm>
            <a:off x="6032402" y="5340672"/>
            <a:ext cx="1354858" cy="307777"/>
          </a:xfrm>
          <a:prstGeom prst="rect">
            <a:avLst/>
          </a:prstGeom>
          <a:solidFill>
            <a:schemeClr val="bg1"/>
          </a:solidFill>
        </p:spPr>
        <p:txBody>
          <a:bodyPr wrap="none" rtlCol="0">
            <a:spAutoFit/>
          </a:bodyPr>
          <a:lstStyle/>
          <a:p>
            <a:r>
              <a:rPr lang="ko-KR" altLang="en-US" sz="1400" dirty="0"/>
              <a:t>제</a:t>
            </a:r>
            <a:r>
              <a:rPr lang="en-US" altLang="ko-KR" sz="1400" dirty="0"/>
              <a:t>3</a:t>
            </a:r>
            <a:r>
              <a:rPr lang="ko-KR" altLang="en-US" sz="1400" dirty="0"/>
              <a:t>자 무단 실시</a:t>
            </a:r>
          </a:p>
        </p:txBody>
      </p:sp>
      <p:cxnSp>
        <p:nvCxnSpPr>
          <p:cNvPr id="51" name="직선 화살표 연결선 50"/>
          <p:cNvCxnSpPr/>
          <p:nvPr/>
        </p:nvCxnSpPr>
        <p:spPr>
          <a:xfrm>
            <a:off x="8103444" y="3826972"/>
            <a:ext cx="0" cy="92371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2" name="Rectangle 14"/>
          <p:cNvSpPr>
            <a:spLocks noChangeArrowheads="1"/>
          </p:cNvSpPr>
          <p:nvPr/>
        </p:nvSpPr>
        <p:spPr bwMode="auto">
          <a:xfrm>
            <a:off x="9864630" y="3467967"/>
            <a:ext cx="894526" cy="359005"/>
          </a:xfrm>
          <a:prstGeom prst="rect">
            <a:avLst/>
          </a:prstGeom>
          <a:solidFill>
            <a:schemeClr val="accent2"/>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bg1"/>
                </a:solidFill>
                <a:latin typeface="+mn-ea"/>
              </a:rPr>
              <a:t>이전등록</a:t>
            </a:r>
            <a:endParaRPr lang="ko-KR" altLang="en-US" sz="1400" b="0" dirty="0">
              <a:solidFill>
                <a:schemeClr val="bg1"/>
              </a:solidFill>
              <a:latin typeface="+mn-ea"/>
            </a:endParaRPr>
          </a:p>
        </p:txBody>
      </p:sp>
      <p:cxnSp>
        <p:nvCxnSpPr>
          <p:cNvPr id="53" name="직선 화살표 연결선 52"/>
          <p:cNvCxnSpPr/>
          <p:nvPr/>
        </p:nvCxnSpPr>
        <p:spPr>
          <a:xfrm>
            <a:off x="10304873" y="3826972"/>
            <a:ext cx="0" cy="92371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162</a:t>
            </a:r>
            <a:endParaRPr lang="ko-KR" altLang="en-US"/>
          </a:p>
        </p:txBody>
      </p:sp>
    </p:spTree>
    <p:extLst>
      <p:ext uri="{BB962C8B-B14F-4D97-AF65-F5344CB8AC3E}">
        <p14:creationId xmlns:p14="http://schemas.microsoft.com/office/powerpoint/2010/main" val="181214570"/>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103</a:t>
            </a:r>
            <a:r>
              <a:rPr lang="ko-KR" altLang="en-US" dirty="0"/>
              <a:t>조의</a:t>
            </a:r>
            <a:r>
              <a:rPr lang="en-US" altLang="ko-KR" dirty="0"/>
              <a:t>2</a:t>
            </a:r>
            <a:endParaRPr lang="ko-KR" altLang="en-US" dirty="0"/>
          </a:p>
        </p:txBody>
      </p:sp>
      <p:sp>
        <p:nvSpPr>
          <p:cNvPr id="4" name="텍스트 개체 틀 3"/>
          <p:cNvSpPr>
            <a:spLocks noGrp="1"/>
          </p:cNvSpPr>
          <p:nvPr>
            <p:ph type="body" sz="quarter" idx="13"/>
          </p:nvPr>
        </p:nvSpPr>
        <p:spPr/>
        <p:txBody>
          <a:bodyPr>
            <a:normAutofit/>
          </a:bodyPr>
          <a:lstStyle/>
          <a:p>
            <a:r>
              <a:rPr lang="ko-KR" altLang="en-US" sz="2400" dirty="0">
                <a:solidFill>
                  <a:schemeClr val="tx2"/>
                </a:solidFill>
              </a:rPr>
              <a:t>특허권의 </a:t>
            </a:r>
            <a:r>
              <a:rPr lang="ko-KR" altLang="en-US" sz="2400" dirty="0" err="1">
                <a:solidFill>
                  <a:schemeClr val="tx2"/>
                </a:solidFill>
              </a:rPr>
              <a:t>이전청구에</a:t>
            </a:r>
            <a:r>
              <a:rPr lang="ko-KR" altLang="en-US" sz="2400" dirty="0">
                <a:solidFill>
                  <a:schemeClr val="tx2"/>
                </a:solidFill>
              </a:rPr>
              <a:t> 따른 이전등록 전의 실시에 의한 </a:t>
            </a:r>
            <a:r>
              <a:rPr lang="ko-KR" altLang="en-US" sz="2400" dirty="0" err="1">
                <a:solidFill>
                  <a:schemeClr val="tx2"/>
                </a:solidFill>
              </a:rPr>
              <a:t>통상실시권</a:t>
            </a:r>
            <a:endParaRPr lang="ko-KR" altLang="en-US" sz="2400" dirty="0"/>
          </a:p>
        </p:txBody>
      </p:sp>
      <p:sp>
        <p:nvSpPr>
          <p:cNvPr id="26" name="TextBox 25"/>
          <p:cNvSpPr txBox="1"/>
          <p:nvPr/>
        </p:nvSpPr>
        <p:spPr>
          <a:xfrm>
            <a:off x="77875" y="986046"/>
            <a:ext cx="11936323" cy="1600438"/>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103</a:t>
            </a:r>
            <a:r>
              <a:rPr lang="ko-KR" altLang="en-US" sz="1400" b="1" dirty="0">
                <a:solidFill>
                  <a:schemeClr val="accent1"/>
                </a:solidFill>
              </a:rPr>
              <a:t>조의</a:t>
            </a:r>
            <a:r>
              <a:rPr lang="en-US" altLang="ko-KR" sz="1400" b="1" dirty="0">
                <a:solidFill>
                  <a:schemeClr val="accent1"/>
                </a:solidFill>
              </a:rPr>
              <a:t>2(</a:t>
            </a:r>
            <a:r>
              <a:rPr lang="ko-KR" altLang="en-US" sz="1400" b="1" dirty="0">
                <a:solidFill>
                  <a:schemeClr val="accent1"/>
                </a:solidFill>
              </a:rPr>
              <a:t>특허권의 </a:t>
            </a:r>
            <a:r>
              <a:rPr lang="ko-KR" altLang="en-US" sz="1400" b="1" dirty="0" err="1">
                <a:solidFill>
                  <a:schemeClr val="accent1"/>
                </a:solidFill>
              </a:rPr>
              <a:t>이전청구에</a:t>
            </a:r>
            <a:r>
              <a:rPr lang="ko-KR" altLang="en-US" sz="1400" b="1" dirty="0">
                <a:solidFill>
                  <a:schemeClr val="accent1"/>
                </a:solidFill>
              </a:rPr>
              <a:t> 따른 이전등록 전의 실시에 의한 </a:t>
            </a:r>
            <a:r>
              <a:rPr lang="ko-KR" altLang="en-US" sz="1400" b="1" dirty="0" err="1">
                <a:solidFill>
                  <a:schemeClr val="accent1"/>
                </a:solidFill>
              </a:rPr>
              <a:t>통상실시권</a:t>
            </a:r>
            <a:r>
              <a:rPr lang="en-US" altLang="ko-KR" sz="1400" b="1" dirty="0">
                <a:solidFill>
                  <a:schemeClr val="accent1"/>
                </a:solidFill>
              </a:rPr>
              <a:t>)</a:t>
            </a:r>
            <a:r>
              <a:rPr lang="en-US" altLang="ko-KR" sz="1400" dirty="0">
                <a:solidFill>
                  <a:schemeClr val="tx2"/>
                </a:solidFill>
              </a:rPr>
              <a:t> ① </a:t>
            </a:r>
            <a:r>
              <a:rPr lang="ko-KR" altLang="en-US" sz="1400" dirty="0">
                <a:solidFill>
                  <a:schemeClr val="tx2"/>
                </a:solidFill>
              </a:rPr>
              <a:t>다음 각 호의 어느 하나에 해당하는 자가 제</a:t>
            </a:r>
            <a:r>
              <a:rPr lang="en-US" altLang="ko-KR" sz="1400" dirty="0">
                <a:solidFill>
                  <a:schemeClr val="tx2"/>
                </a:solidFill>
              </a:rPr>
              <a:t>99</a:t>
            </a:r>
            <a:r>
              <a:rPr lang="ko-KR" altLang="en-US" sz="1400" dirty="0">
                <a:solidFill>
                  <a:schemeClr val="tx2"/>
                </a:solidFill>
              </a:rPr>
              <a:t>조의</a:t>
            </a:r>
            <a:r>
              <a:rPr lang="en-US" altLang="ko-KR" sz="1400" dirty="0">
                <a:solidFill>
                  <a:schemeClr val="tx2"/>
                </a:solidFill>
              </a:rPr>
              <a:t>2</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항에 따른 특허권의 </a:t>
            </a:r>
            <a:r>
              <a:rPr lang="ko-KR" altLang="en-US" sz="1400" dirty="0" err="1">
                <a:solidFill>
                  <a:schemeClr val="tx2"/>
                </a:solidFill>
              </a:rPr>
              <a:t>이전등록이</a:t>
            </a:r>
            <a:r>
              <a:rPr lang="ko-KR" altLang="en-US" sz="1400" dirty="0">
                <a:solidFill>
                  <a:schemeClr val="tx2"/>
                </a:solidFill>
              </a:rPr>
              <a:t> 있기 전에 해당 특허가 제</a:t>
            </a:r>
            <a:r>
              <a:rPr lang="en-US" altLang="ko-KR" sz="1400" dirty="0">
                <a:solidFill>
                  <a:schemeClr val="tx2"/>
                </a:solidFill>
              </a:rPr>
              <a:t>133</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2</a:t>
            </a:r>
            <a:r>
              <a:rPr lang="ko-KR" altLang="en-US" sz="1400" dirty="0">
                <a:solidFill>
                  <a:schemeClr val="tx2"/>
                </a:solidFill>
              </a:rPr>
              <a:t>호 본문에 해당하는 것을 알지 못하고 국내에서 해당 발명의 </a:t>
            </a:r>
            <a:r>
              <a:rPr lang="ko-KR" altLang="en-US" sz="1400" dirty="0" err="1">
                <a:solidFill>
                  <a:schemeClr val="tx2"/>
                </a:solidFill>
              </a:rPr>
              <a:t>실시사업을</a:t>
            </a:r>
            <a:r>
              <a:rPr lang="ko-KR" altLang="en-US" sz="1400" dirty="0">
                <a:solidFill>
                  <a:schemeClr val="tx2"/>
                </a:solidFill>
              </a:rPr>
              <a:t> 하거나 이를 준비하고 있는 경우에는 그 실시하거나 준비를 하고 있는 발명 및 </a:t>
            </a:r>
            <a:r>
              <a:rPr lang="ko-KR" altLang="en-US" sz="1400" dirty="0" err="1">
                <a:solidFill>
                  <a:schemeClr val="tx2"/>
                </a:solidFill>
              </a:rPr>
              <a:t>사업목적의</a:t>
            </a:r>
            <a:r>
              <a:rPr lang="ko-KR" altLang="en-US" sz="1400" dirty="0">
                <a:solidFill>
                  <a:schemeClr val="tx2"/>
                </a:solidFill>
              </a:rPr>
              <a:t> 범위에서 그 특허권에 대하여 통상실시권을 가진다</a:t>
            </a:r>
            <a:r>
              <a:rPr lang="en-US" altLang="ko-KR" sz="1400" dirty="0">
                <a:solidFill>
                  <a:schemeClr val="tx2"/>
                </a:solidFill>
              </a:rPr>
              <a:t>.</a:t>
            </a:r>
          </a:p>
          <a:p>
            <a:pPr fontAlgn="base"/>
            <a:r>
              <a:rPr lang="en-US" altLang="ko-KR" sz="1400" dirty="0">
                <a:solidFill>
                  <a:srgbClr val="FF0000"/>
                </a:solidFill>
              </a:rPr>
              <a:t>1. </a:t>
            </a:r>
            <a:r>
              <a:rPr lang="ko-KR" altLang="en-US" sz="1400" dirty="0" err="1">
                <a:solidFill>
                  <a:srgbClr val="FF0000"/>
                </a:solidFill>
              </a:rPr>
              <a:t>이전등록된</a:t>
            </a:r>
            <a:r>
              <a:rPr lang="ko-KR" altLang="en-US" sz="1400" dirty="0">
                <a:solidFill>
                  <a:srgbClr val="FF0000"/>
                </a:solidFill>
              </a:rPr>
              <a:t> 특허의 원</a:t>
            </a:r>
            <a:r>
              <a:rPr lang="en-US" altLang="ko-KR" sz="1400" dirty="0">
                <a:solidFill>
                  <a:srgbClr val="FF0000"/>
                </a:solidFill>
              </a:rPr>
              <a:t>(</a:t>
            </a:r>
            <a:r>
              <a:rPr lang="ko-KR" altLang="en-US" sz="1400" dirty="0">
                <a:solidFill>
                  <a:srgbClr val="FF0000"/>
                </a:solidFill>
              </a:rPr>
              <a:t>原</a:t>
            </a:r>
            <a:r>
              <a:rPr lang="en-US" altLang="ko-KR" sz="1400" dirty="0">
                <a:solidFill>
                  <a:srgbClr val="FF0000"/>
                </a:solidFill>
              </a:rPr>
              <a:t>)</a:t>
            </a:r>
            <a:r>
              <a:rPr lang="ko-KR" altLang="en-US" sz="1400" dirty="0" err="1">
                <a:solidFill>
                  <a:srgbClr val="FF0000"/>
                </a:solidFill>
              </a:rPr>
              <a:t>특허권자</a:t>
            </a:r>
            <a:endParaRPr lang="ko-KR" altLang="en-US" sz="1400" dirty="0">
              <a:solidFill>
                <a:srgbClr val="FF0000"/>
              </a:solidFill>
            </a:endParaRPr>
          </a:p>
          <a:p>
            <a:pPr fontAlgn="base"/>
            <a:r>
              <a:rPr lang="en-US" altLang="ko-KR" sz="1400" dirty="0">
                <a:solidFill>
                  <a:srgbClr val="FF0000"/>
                </a:solidFill>
              </a:rPr>
              <a:t>2. </a:t>
            </a:r>
            <a:r>
              <a:rPr lang="ko-KR" altLang="en-US" sz="1400" dirty="0" err="1">
                <a:solidFill>
                  <a:srgbClr val="FF0000"/>
                </a:solidFill>
              </a:rPr>
              <a:t>이전등록된</a:t>
            </a:r>
            <a:r>
              <a:rPr lang="ko-KR" altLang="en-US" sz="1400" dirty="0">
                <a:solidFill>
                  <a:srgbClr val="FF0000"/>
                </a:solidFill>
              </a:rPr>
              <a:t> 특허권에 대하여 이전등록 당시에 이미 전용실시권이나 </a:t>
            </a:r>
            <a:r>
              <a:rPr lang="ko-KR" altLang="en-US" sz="1400" dirty="0" err="1">
                <a:solidFill>
                  <a:srgbClr val="FF0000"/>
                </a:solidFill>
              </a:rPr>
              <a:t>통상실시권</a:t>
            </a:r>
            <a:r>
              <a:rPr lang="ko-KR" altLang="en-US" sz="1400" dirty="0">
                <a:solidFill>
                  <a:srgbClr val="FF0000"/>
                </a:solidFill>
              </a:rPr>
              <a:t> 또는 그 전용실시권에 대한 통상실시권을 취득하고 등록을 받은 자</a:t>
            </a:r>
            <a:r>
              <a:rPr lang="en-US" altLang="ko-KR" sz="1400" dirty="0">
                <a:solidFill>
                  <a:srgbClr val="FF0000"/>
                </a:solidFill>
              </a:rPr>
              <a:t>. </a:t>
            </a:r>
            <a:r>
              <a:rPr lang="ko-KR" altLang="en-US" sz="1400" dirty="0">
                <a:solidFill>
                  <a:srgbClr val="FF0000"/>
                </a:solidFill>
              </a:rPr>
              <a:t>다만</a:t>
            </a:r>
            <a:r>
              <a:rPr lang="en-US" altLang="ko-KR" sz="1400" dirty="0">
                <a:solidFill>
                  <a:srgbClr val="FF0000"/>
                </a:solidFill>
              </a:rPr>
              <a:t>, </a:t>
            </a:r>
            <a:r>
              <a:rPr lang="ko-KR" altLang="en-US" sz="1400" dirty="0">
                <a:solidFill>
                  <a:srgbClr val="FF0000"/>
                </a:solidFill>
              </a:rPr>
              <a:t>제</a:t>
            </a:r>
            <a:r>
              <a:rPr lang="en-US" altLang="ko-KR" sz="1400" dirty="0">
                <a:solidFill>
                  <a:srgbClr val="FF0000"/>
                </a:solidFill>
              </a:rPr>
              <a:t>118</a:t>
            </a:r>
            <a:r>
              <a:rPr lang="ko-KR" altLang="en-US" sz="1400" dirty="0">
                <a:solidFill>
                  <a:srgbClr val="FF0000"/>
                </a:solidFill>
              </a:rPr>
              <a:t>조제</a:t>
            </a:r>
            <a:r>
              <a:rPr lang="en-US" altLang="ko-KR" sz="1400" dirty="0">
                <a:solidFill>
                  <a:srgbClr val="FF0000"/>
                </a:solidFill>
              </a:rPr>
              <a:t>2</a:t>
            </a:r>
            <a:r>
              <a:rPr lang="ko-KR" altLang="en-US" sz="1400" dirty="0">
                <a:solidFill>
                  <a:srgbClr val="FF0000"/>
                </a:solidFill>
              </a:rPr>
              <a:t>항에 따른 통상실시권을 취득한 자는 등록을 필요로 하지 아니한다</a:t>
            </a:r>
            <a:r>
              <a:rPr lang="en-US" altLang="ko-KR" sz="1400" dirty="0">
                <a:solidFill>
                  <a:srgbClr val="FF0000"/>
                </a:solidFill>
              </a:rPr>
              <a:t>.</a:t>
            </a:r>
          </a:p>
          <a:p>
            <a:pPr fontAlgn="base"/>
            <a:r>
              <a:rPr lang="en-US" altLang="ko-KR" sz="1400" dirty="0">
                <a:solidFill>
                  <a:schemeClr val="tx2"/>
                </a:solidFill>
              </a:rPr>
              <a:t>②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따라 통상실시권을 가진 자는 </a:t>
            </a:r>
            <a:r>
              <a:rPr lang="ko-KR" altLang="en-US" sz="1400" dirty="0" err="1">
                <a:solidFill>
                  <a:schemeClr val="tx2"/>
                </a:solidFill>
              </a:rPr>
              <a:t>이전등록된</a:t>
            </a:r>
            <a:r>
              <a:rPr lang="ko-KR" altLang="en-US" sz="1400" dirty="0">
                <a:solidFill>
                  <a:schemeClr val="tx2"/>
                </a:solidFill>
              </a:rPr>
              <a:t> 특허권자에게 상당한 대가를 지급하여야 한다</a:t>
            </a:r>
            <a:r>
              <a:rPr lang="en-US" altLang="ko-KR" sz="1400" dirty="0">
                <a:solidFill>
                  <a:schemeClr val="tx2"/>
                </a:solidFill>
              </a:rPr>
              <a:t>.</a:t>
            </a:r>
          </a:p>
        </p:txBody>
      </p:sp>
      <p:cxnSp>
        <p:nvCxnSpPr>
          <p:cNvPr id="27" name="직선 연결선 26"/>
          <p:cNvCxnSpPr/>
          <p:nvPr/>
        </p:nvCxnSpPr>
        <p:spPr>
          <a:xfrm>
            <a:off x="0" y="258996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7" name="슬라이드 번호 개체 틀 6"/>
          <p:cNvSpPr>
            <a:spLocks noGrp="1"/>
          </p:cNvSpPr>
          <p:nvPr>
            <p:ph type="sldNum" sz="quarter" idx="12"/>
          </p:nvPr>
        </p:nvSpPr>
        <p:spPr/>
        <p:txBody>
          <a:bodyPr/>
          <a:lstStyle/>
          <a:p>
            <a:r>
              <a:rPr lang="en-US" altLang="ko-KR"/>
              <a:t>163</a:t>
            </a:r>
            <a:endParaRPr lang="ko-KR" altLang="en-US"/>
          </a:p>
        </p:txBody>
      </p:sp>
      <p:sp>
        <p:nvSpPr>
          <p:cNvPr id="23" name="Rectangle 14">
            <a:extLst>
              <a:ext uri="{FF2B5EF4-FFF2-40B4-BE49-F238E27FC236}">
                <a16:creationId xmlns:a16="http://schemas.microsoft.com/office/drawing/2014/main" id="{006477C6-F745-4F15-B6D2-C9F50711C0F8}"/>
              </a:ext>
            </a:extLst>
          </p:cNvPr>
          <p:cNvSpPr>
            <a:spLocks noChangeArrowheads="1"/>
          </p:cNvSpPr>
          <p:nvPr/>
        </p:nvSpPr>
        <p:spPr bwMode="auto">
          <a:xfrm>
            <a:off x="6711268" y="5200886"/>
            <a:ext cx="746662"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err="1">
                <a:latin typeface="+mn-ea"/>
              </a:rPr>
              <a:t>모인</a:t>
            </a:r>
            <a:r>
              <a:rPr lang="ko-KR" altLang="en-US" sz="1400" dirty="0" err="1">
                <a:latin typeface="+mn-ea"/>
              </a:rPr>
              <a:t>출원</a:t>
            </a:r>
            <a:endParaRPr lang="en-US" altLang="ko-KR" sz="1400" dirty="0">
              <a:latin typeface="+mn-ea"/>
            </a:endParaRPr>
          </a:p>
          <a:p>
            <a:pPr algn="ctr"/>
            <a:r>
              <a:rPr lang="en-US" altLang="ko-KR" sz="1400" b="0" dirty="0">
                <a:latin typeface="+mn-ea"/>
              </a:rPr>
              <a:t>(</a:t>
            </a:r>
            <a:r>
              <a:rPr lang="ko-KR" altLang="en-US" sz="1400" dirty="0">
                <a:latin typeface="+mn-ea"/>
              </a:rPr>
              <a:t>乙</a:t>
            </a:r>
            <a:r>
              <a:rPr lang="en-US" altLang="ko-KR" sz="1400" b="0" dirty="0">
                <a:latin typeface="+mn-ea"/>
              </a:rPr>
              <a:t>)</a:t>
            </a:r>
            <a:endParaRPr lang="ko-KR" altLang="en-US" sz="1400" b="0" dirty="0">
              <a:latin typeface="+mn-ea"/>
            </a:endParaRPr>
          </a:p>
        </p:txBody>
      </p:sp>
      <p:cxnSp>
        <p:nvCxnSpPr>
          <p:cNvPr id="24" name="직선 화살표 연결선 23">
            <a:extLst>
              <a:ext uri="{FF2B5EF4-FFF2-40B4-BE49-F238E27FC236}">
                <a16:creationId xmlns:a16="http://schemas.microsoft.com/office/drawing/2014/main" id="{9C2647F4-1EE5-41C0-9CF6-8A4FF68E5AC5}"/>
              </a:ext>
            </a:extLst>
          </p:cNvPr>
          <p:cNvCxnSpPr>
            <a:cxnSpLocks/>
            <a:stCxn id="23" idx="0"/>
          </p:cNvCxnSpPr>
          <p:nvPr/>
        </p:nvCxnSpPr>
        <p:spPr>
          <a:xfrm flipV="1">
            <a:off x="7084599" y="4989768"/>
            <a:ext cx="0" cy="21111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5" name="Rectangle 14">
            <a:extLst>
              <a:ext uri="{FF2B5EF4-FFF2-40B4-BE49-F238E27FC236}">
                <a16:creationId xmlns:a16="http://schemas.microsoft.com/office/drawing/2014/main" id="{D0AC0715-F485-47B1-9B28-9B115F229394}"/>
              </a:ext>
            </a:extLst>
          </p:cNvPr>
          <p:cNvSpPr>
            <a:spLocks noChangeArrowheads="1"/>
          </p:cNvSpPr>
          <p:nvPr/>
        </p:nvSpPr>
        <p:spPr bwMode="auto">
          <a:xfrm>
            <a:off x="7559070" y="5200886"/>
            <a:ext cx="746662"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설정등록</a:t>
            </a:r>
            <a:endParaRPr lang="en-US" altLang="ko-KR" sz="1400" dirty="0">
              <a:latin typeface="+mn-ea"/>
            </a:endParaRPr>
          </a:p>
          <a:p>
            <a:pPr algn="ctr"/>
            <a:r>
              <a:rPr lang="en-US" altLang="ko-KR" sz="1400" dirty="0">
                <a:latin typeface="+mn-ea"/>
              </a:rPr>
              <a:t>(</a:t>
            </a:r>
            <a:r>
              <a:rPr lang="ko-KR" altLang="en-US" sz="1400" dirty="0">
                <a:latin typeface="+mn-ea"/>
              </a:rPr>
              <a:t>乙</a:t>
            </a:r>
            <a:r>
              <a:rPr lang="en-US" altLang="ko-KR" sz="1400" dirty="0">
                <a:latin typeface="+mn-ea"/>
              </a:rPr>
              <a:t>)</a:t>
            </a:r>
            <a:endParaRPr lang="ko-KR" altLang="en-US" sz="1400" dirty="0">
              <a:latin typeface="+mn-ea"/>
            </a:endParaRPr>
          </a:p>
        </p:txBody>
      </p:sp>
      <p:cxnSp>
        <p:nvCxnSpPr>
          <p:cNvPr id="28" name="직선 화살표 연결선 27">
            <a:extLst>
              <a:ext uri="{FF2B5EF4-FFF2-40B4-BE49-F238E27FC236}">
                <a16:creationId xmlns:a16="http://schemas.microsoft.com/office/drawing/2014/main" id="{BB35B4CF-8810-4AF9-B8F5-09213C1C1493}"/>
              </a:ext>
            </a:extLst>
          </p:cNvPr>
          <p:cNvCxnSpPr>
            <a:cxnSpLocks/>
            <a:stCxn id="25" idx="0"/>
          </p:cNvCxnSpPr>
          <p:nvPr/>
        </p:nvCxnSpPr>
        <p:spPr>
          <a:xfrm flipV="1">
            <a:off x="7932401" y="4963222"/>
            <a:ext cx="1" cy="23766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 name="자유형 37">
            <a:extLst>
              <a:ext uri="{FF2B5EF4-FFF2-40B4-BE49-F238E27FC236}">
                <a16:creationId xmlns:a16="http://schemas.microsoft.com/office/drawing/2014/main" id="{4A2D9619-60AA-42F8-8994-423EFB7C85D7}"/>
              </a:ext>
            </a:extLst>
          </p:cNvPr>
          <p:cNvSpPr/>
          <p:nvPr/>
        </p:nvSpPr>
        <p:spPr>
          <a:xfrm>
            <a:off x="9127313" y="4932973"/>
            <a:ext cx="2853920" cy="1218923"/>
          </a:xfrm>
          <a:custGeom>
            <a:avLst/>
            <a:gdLst>
              <a:gd name="connsiteX0" fmla="*/ 0 w 7879222"/>
              <a:gd name="connsiteY0" fmla="*/ 0 h 743484"/>
              <a:gd name="connsiteX1" fmla="*/ 0 w 7879222"/>
              <a:gd name="connsiteY1" fmla="*/ 743484 h 743484"/>
              <a:gd name="connsiteX2" fmla="*/ 7879222 w 7879222"/>
              <a:gd name="connsiteY2" fmla="*/ 743484 h 743484"/>
            </a:gdLst>
            <a:ahLst/>
            <a:cxnLst>
              <a:cxn ang="0">
                <a:pos x="connsiteX0" y="connsiteY0"/>
              </a:cxn>
              <a:cxn ang="0">
                <a:pos x="connsiteX1" y="connsiteY1"/>
              </a:cxn>
              <a:cxn ang="0">
                <a:pos x="connsiteX2" y="connsiteY2"/>
              </a:cxn>
            </a:cxnLst>
            <a:rect l="l" t="t" r="r" b="b"/>
            <a:pathLst>
              <a:path w="7879222" h="743484">
                <a:moveTo>
                  <a:pt x="0" y="0"/>
                </a:moveTo>
                <a:lnTo>
                  <a:pt x="0" y="743484"/>
                </a:lnTo>
                <a:lnTo>
                  <a:pt x="7879222" y="743484"/>
                </a:lnTo>
              </a:path>
            </a:pathLst>
          </a:custGeom>
          <a:noFill/>
          <a:ln w="571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50089680-6E96-407F-83FC-8B673D0EE613}"/>
              </a:ext>
            </a:extLst>
          </p:cNvPr>
          <p:cNvSpPr txBox="1"/>
          <p:nvPr/>
        </p:nvSpPr>
        <p:spPr>
          <a:xfrm>
            <a:off x="9557778" y="5924772"/>
            <a:ext cx="1992989" cy="523220"/>
          </a:xfrm>
          <a:prstGeom prst="rect">
            <a:avLst/>
          </a:prstGeom>
          <a:solidFill>
            <a:schemeClr val="bg1"/>
          </a:solidFill>
        </p:spPr>
        <p:txBody>
          <a:bodyPr wrap="square" rtlCol="0">
            <a:spAutoFit/>
          </a:bodyPr>
          <a:lstStyle/>
          <a:p>
            <a:pPr algn="ctr"/>
            <a:r>
              <a:rPr lang="ko-KR" altLang="en-US" sz="1400" dirty="0"/>
              <a:t>선의의 丙이 국내에서 </a:t>
            </a:r>
            <a:endParaRPr lang="en-US" altLang="ko-KR" sz="1400" dirty="0"/>
          </a:p>
          <a:p>
            <a:pPr algn="ctr"/>
            <a:r>
              <a:rPr lang="ko-KR" altLang="en-US" sz="1400" dirty="0"/>
              <a:t>실시사업 또는 사업준비</a:t>
            </a:r>
          </a:p>
        </p:txBody>
      </p:sp>
      <p:sp>
        <p:nvSpPr>
          <p:cNvPr id="33" name="Rectangle 14">
            <a:extLst>
              <a:ext uri="{FF2B5EF4-FFF2-40B4-BE49-F238E27FC236}">
                <a16:creationId xmlns:a16="http://schemas.microsoft.com/office/drawing/2014/main" id="{3E6D5E3D-145D-428C-9DD5-7718CE51BEC0}"/>
              </a:ext>
            </a:extLst>
          </p:cNvPr>
          <p:cNvSpPr>
            <a:spLocks noChangeArrowheads="1"/>
          </p:cNvSpPr>
          <p:nvPr/>
        </p:nvSpPr>
        <p:spPr bwMode="auto">
          <a:xfrm>
            <a:off x="8057146" y="5890542"/>
            <a:ext cx="968799"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이전등록</a:t>
            </a:r>
            <a:endParaRPr lang="en-US" altLang="ko-KR" sz="1400" dirty="0">
              <a:latin typeface="+mn-ea"/>
            </a:endParaRPr>
          </a:p>
          <a:p>
            <a:pPr algn="ctr"/>
            <a:r>
              <a:rPr lang="en-US" altLang="ko-KR" sz="1400" dirty="0">
                <a:latin typeface="+mn-ea"/>
              </a:rPr>
              <a:t>(</a:t>
            </a:r>
            <a:r>
              <a:rPr lang="ko-KR" altLang="en-US" sz="1400" dirty="0">
                <a:latin typeface="+mn-ea"/>
              </a:rPr>
              <a:t>乙 </a:t>
            </a:r>
            <a:r>
              <a:rPr lang="en-US" altLang="ko-KR" sz="1400" dirty="0">
                <a:latin typeface="+mn-ea"/>
                <a:sym typeface="Wingdings" panose="05000000000000000000" pitchFamily="2" charset="2"/>
              </a:rPr>
              <a:t> </a:t>
            </a:r>
            <a:r>
              <a:rPr lang="ko-KR" altLang="en-US" sz="1400" dirty="0">
                <a:latin typeface="+mn-ea"/>
                <a:sym typeface="Wingdings" panose="05000000000000000000" pitchFamily="2" charset="2"/>
              </a:rPr>
              <a:t>丙</a:t>
            </a:r>
            <a:r>
              <a:rPr lang="en-US" altLang="ko-KR" sz="1400" dirty="0">
                <a:latin typeface="+mn-ea"/>
                <a:sym typeface="Wingdings" panose="05000000000000000000" pitchFamily="2" charset="2"/>
              </a:rPr>
              <a:t>)</a:t>
            </a:r>
            <a:endParaRPr lang="en-US" altLang="ko-KR" sz="1400" dirty="0">
              <a:latin typeface="+mn-ea"/>
            </a:endParaRPr>
          </a:p>
        </p:txBody>
      </p:sp>
      <p:cxnSp>
        <p:nvCxnSpPr>
          <p:cNvPr id="34" name="직선 화살표 연결선 33">
            <a:extLst>
              <a:ext uri="{FF2B5EF4-FFF2-40B4-BE49-F238E27FC236}">
                <a16:creationId xmlns:a16="http://schemas.microsoft.com/office/drawing/2014/main" id="{9DE13C80-D349-4010-9423-F3ED46818617}"/>
              </a:ext>
            </a:extLst>
          </p:cNvPr>
          <p:cNvCxnSpPr>
            <a:stCxn id="33" idx="0"/>
          </p:cNvCxnSpPr>
          <p:nvPr/>
        </p:nvCxnSpPr>
        <p:spPr>
          <a:xfrm flipV="1">
            <a:off x="8541545" y="4938578"/>
            <a:ext cx="0" cy="95196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6" name="Rectangle 14">
            <a:extLst>
              <a:ext uri="{FF2B5EF4-FFF2-40B4-BE49-F238E27FC236}">
                <a16:creationId xmlns:a16="http://schemas.microsoft.com/office/drawing/2014/main" id="{C4327755-BED2-4C23-994D-1FB45FD3004E}"/>
              </a:ext>
            </a:extLst>
          </p:cNvPr>
          <p:cNvSpPr>
            <a:spLocks noChangeArrowheads="1"/>
          </p:cNvSpPr>
          <p:nvPr/>
        </p:nvSpPr>
        <p:spPr bwMode="auto">
          <a:xfrm>
            <a:off x="9388197" y="4200597"/>
            <a:ext cx="908740"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accent2">
                    <a:lumMod val="50000"/>
                  </a:schemeClr>
                </a:solidFill>
                <a:latin typeface="+mn-ea"/>
              </a:rPr>
              <a:t>이전청구</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b="0" dirty="0">
                <a:solidFill>
                  <a:schemeClr val="accent2">
                    <a:lumMod val="50000"/>
                  </a:schemeClr>
                </a:solidFill>
                <a:latin typeface="+mn-ea"/>
              </a:rPr>
              <a:t>甲</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sp>
        <p:nvSpPr>
          <p:cNvPr id="37" name="Rectangle 14">
            <a:extLst>
              <a:ext uri="{FF2B5EF4-FFF2-40B4-BE49-F238E27FC236}">
                <a16:creationId xmlns:a16="http://schemas.microsoft.com/office/drawing/2014/main" id="{4E517436-31B6-4403-AF9F-2B80FB94EF27}"/>
              </a:ext>
            </a:extLst>
          </p:cNvPr>
          <p:cNvSpPr>
            <a:spLocks noChangeArrowheads="1"/>
          </p:cNvSpPr>
          <p:nvPr/>
        </p:nvSpPr>
        <p:spPr bwMode="auto">
          <a:xfrm>
            <a:off x="10540151" y="4200597"/>
            <a:ext cx="863822"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accent2">
                    <a:lumMod val="50000"/>
                  </a:schemeClr>
                </a:solidFill>
                <a:latin typeface="+mn-ea"/>
              </a:rPr>
              <a:t>이전등록</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b="0" dirty="0">
                <a:solidFill>
                  <a:schemeClr val="accent2">
                    <a:lumMod val="50000"/>
                  </a:schemeClr>
                </a:solidFill>
                <a:latin typeface="+mn-ea"/>
              </a:rPr>
              <a:t>丙 </a:t>
            </a:r>
            <a:r>
              <a:rPr lang="en-US" altLang="ko-KR" sz="1400" b="0" dirty="0">
                <a:solidFill>
                  <a:schemeClr val="accent2">
                    <a:lumMod val="50000"/>
                  </a:schemeClr>
                </a:solidFill>
                <a:latin typeface="+mn-ea"/>
                <a:sym typeface="Wingdings" panose="05000000000000000000" pitchFamily="2" charset="2"/>
              </a:rPr>
              <a:t> </a:t>
            </a:r>
            <a:r>
              <a:rPr lang="ko-KR" altLang="en-US" sz="1400" b="0" dirty="0">
                <a:solidFill>
                  <a:schemeClr val="accent2">
                    <a:lumMod val="50000"/>
                  </a:schemeClr>
                </a:solidFill>
                <a:latin typeface="+mn-ea"/>
              </a:rPr>
              <a:t>甲</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cxnSp>
        <p:nvCxnSpPr>
          <p:cNvPr id="38" name="직선 화살표 연결선 37">
            <a:extLst>
              <a:ext uri="{FF2B5EF4-FFF2-40B4-BE49-F238E27FC236}">
                <a16:creationId xmlns:a16="http://schemas.microsoft.com/office/drawing/2014/main" id="{A36B42D2-8F11-498D-A44A-EFF1ADDA227C}"/>
              </a:ext>
            </a:extLst>
          </p:cNvPr>
          <p:cNvCxnSpPr>
            <a:cxnSpLocks/>
          </p:cNvCxnSpPr>
          <p:nvPr/>
        </p:nvCxnSpPr>
        <p:spPr>
          <a:xfrm>
            <a:off x="6855656" y="4590224"/>
            <a:ext cx="6948" cy="31177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1" name="직선 화살표 연결선 40">
            <a:extLst>
              <a:ext uri="{FF2B5EF4-FFF2-40B4-BE49-F238E27FC236}">
                <a16:creationId xmlns:a16="http://schemas.microsoft.com/office/drawing/2014/main" id="{44068286-4580-49EC-9475-73D02C3B6AEC}"/>
              </a:ext>
            </a:extLst>
          </p:cNvPr>
          <p:cNvCxnSpPr>
            <a:cxnSpLocks/>
            <a:stCxn id="36" idx="2"/>
          </p:cNvCxnSpPr>
          <p:nvPr/>
        </p:nvCxnSpPr>
        <p:spPr>
          <a:xfrm flipH="1">
            <a:off x="9841051" y="4662585"/>
            <a:ext cx="1516" cy="27036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 name="직선 화살표 연결선 41">
            <a:extLst>
              <a:ext uri="{FF2B5EF4-FFF2-40B4-BE49-F238E27FC236}">
                <a16:creationId xmlns:a16="http://schemas.microsoft.com/office/drawing/2014/main" id="{342E9C7E-DB69-4267-8C5E-6B0471B135E3}"/>
              </a:ext>
            </a:extLst>
          </p:cNvPr>
          <p:cNvCxnSpPr>
            <a:cxnSpLocks/>
            <a:stCxn id="37" idx="2"/>
          </p:cNvCxnSpPr>
          <p:nvPr/>
        </p:nvCxnSpPr>
        <p:spPr>
          <a:xfrm>
            <a:off x="10972062" y="4662585"/>
            <a:ext cx="56" cy="27599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8" name="타원 47">
            <a:extLst>
              <a:ext uri="{FF2B5EF4-FFF2-40B4-BE49-F238E27FC236}">
                <a16:creationId xmlns:a16="http://schemas.microsoft.com/office/drawing/2014/main" id="{B371C009-A7A1-4DD5-97B3-69CCFA88465B}"/>
              </a:ext>
            </a:extLst>
          </p:cNvPr>
          <p:cNvSpPr/>
          <p:nvPr/>
        </p:nvSpPr>
        <p:spPr>
          <a:xfrm>
            <a:off x="7079879" y="4892019"/>
            <a:ext cx="45719" cy="7120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모서리가 둥근 직사각형 105">
            <a:extLst>
              <a:ext uri="{FF2B5EF4-FFF2-40B4-BE49-F238E27FC236}">
                <a16:creationId xmlns:a16="http://schemas.microsoft.com/office/drawing/2014/main" id="{C2ECAAD4-C7B6-49ED-908C-4B3135FE9E34}"/>
              </a:ext>
            </a:extLst>
          </p:cNvPr>
          <p:cNvSpPr/>
          <p:nvPr/>
        </p:nvSpPr>
        <p:spPr>
          <a:xfrm>
            <a:off x="6468987" y="2717590"/>
            <a:ext cx="1931302" cy="638251"/>
          </a:xfrm>
          <a:prstGeom prst="roundRect">
            <a:avLst/>
          </a:prstGeom>
          <a:solidFill>
            <a:schemeClr val="tx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제</a:t>
            </a:r>
            <a:r>
              <a:rPr lang="en-US" altLang="ko-KR" sz="1600" dirty="0"/>
              <a:t>33</a:t>
            </a:r>
            <a:r>
              <a:rPr lang="ko-KR" altLang="en-US" sz="1600" dirty="0"/>
              <a:t>조제</a:t>
            </a:r>
            <a:r>
              <a:rPr lang="en-US" altLang="ko-KR" sz="1600" dirty="0"/>
              <a:t>1</a:t>
            </a:r>
            <a:r>
              <a:rPr lang="ko-KR" altLang="en-US" sz="1600" dirty="0" err="1"/>
              <a:t>항본문</a:t>
            </a:r>
            <a:r>
              <a:rPr lang="ko-KR" altLang="en-US" sz="1600" dirty="0"/>
              <a:t> </a:t>
            </a:r>
            <a:endParaRPr lang="en-US" altLang="ko-KR" sz="1600" dirty="0"/>
          </a:p>
          <a:p>
            <a:pPr algn="ctr"/>
            <a:r>
              <a:rPr lang="ko-KR" altLang="en-US" sz="1600" dirty="0"/>
              <a:t>위반</a:t>
            </a:r>
          </a:p>
        </p:txBody>
      </p:sp>
      <p:cxnSp>
        <p:nvCxnSpPr>
          <p:cNvPr id="57" name="직선 화살표 연결선 56">
            <a:extLst>
              <a:ext uri="{FF2B5EF4-FFF2-40B4-BE49-F238E27FC236}">
                <a16:creationId xmlns:a16="http://schemas.microsoft.com/office/drawing/2014/main" id="{23F1B512-84F1-459E-AD68-E5863BC85ED9}"/>
              </a:ext>
            </a:extLst>
          </p:cNvPr>
          <p:cNvCxnSpPr/>
          <p:nvPr/>
        </p:nvCxnSpPr>
        <p:spPr>
          <a:xfrm>
            <a:off x="6430357" y="4924824"/>
            <a:ext cx="5574070" cy="0"/>
          </a:xfrm>
          <a:prstGeom prst="straightConnector1">
            <a:avLst/>
          </a:prstGeom>
          <a:ln w="5715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8" name="모서리가 둥근 직사각형 105">
            <a:extLst>
              <a:ext uri="{FF2B5EF4-FFF2-40B4-BE49-F238E27FC236}">
                <a16:creationId xmlns:a16="http://schemas.microsoft.com/office/drawing/2014/main" id="{1291BE48-842F-4638-91D6-72D934B5311D}"/>
              </a:ext>
            </a:extLst>
          </p:cNvPr>
          <p:cNvSpPr/>
          <p:nvPr/>
        </p:nvSpPr>
        <p:spPr>
          <a:xfrm>
            <a:off x="261028" y="2728666"/>
            <a:ext cx="1088213" cy="627177"/>
          </a:xfrm>
          <a:prstGeom prst="roundRect">
            <a:avLst/>
          </a:prstGeom>
          <a:solidFill>
            <a:schemeClr val="tx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제</a:t>
            </a:r>
            <a:r>
              <a:rPr lang="en-US" altLang="ko-KR" sz="1600" dirty="0"/>
              <a:t>44</a:t>
            </a:r>
            <a:r>
              <a:rPr lang="ko-KR" altLang="en-US" sz="1600" dirty="0"/>
              <a:t>조 </a:t>
            </a:r>
            <a:endParaRPr lang="en-US" altLang="ko-KR" sz="1600" dirty="0"/>
          </a:p>
          <a:p>
            <a:pPr algn="ctr"/>
            <a:r>
              <a:rPr lang="ko-KR" altLang="en-US" sz="1600" dirty="0"/>
              <a:t>위반</a:t>
            </a:r>
          </a:p>
        </p:txBody>
      </p:sp>
      <p:cxnSp>
        <p:nvCxnSpPr>
          <p:cNvPr id="79" name="직선 연결선 78">
            <a:extLst>
              <a:ext uri="{FF2B5EF4-FFF2-40B4-BE49-F238E27FC236}">
                <a16:creationId xmlns:a16="http://schemas.microsoft.com/office/drawing/2014/main" id="{A6FD114A-2152-48D9-AE18-881B430DE913}"/>
              </a:ext>
            </a:extLst>
          </p:cNvPr>
          <p:cNvCxnSpPr>
            <a:cxnSpLocks/>
          </p:cNvCxnSpPr>
          <p:nvPr/>
        </p:nvCxnSpPr>
        <p:spPr>
          <a:xfrm>
            <a:off x="6096000" y="2804160"/>
            <a:ext cx="0" cy="3643832"/>
          </a:xfrm>
          <a:prstGeom prst="line">
            <a:avLst/>
          </a:prstGeom>
          <a:ln w="381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Rectangle 14">
            <a:extLst>
              <a:ext uri="{FF2B5EF4-FFF2-40B4-BE49-F238E27FC236}">
                <a16:creationId xmlns:a16="http://schemas.microsoft.com/office/drawing/2014/main" id="{587B043D-05AB-48EF-A37B-1A50476221AB}"/>
              </a:ext>
            </a:extLst>
          </p:cNvPr>
          <p:cNvSpPr>
            <a:spLocks noChangeArrowheads="1"/>
          </p:cNvSpPr>
          <p:nvPr/>
        </p:nvSpPr>
        <p:spPr bwMode="auto">
          <a:xfrm>
            <a:off x="602579" y="5200886"/>
            <a:ext cx="746662"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출원</a:t>
            </a:r>
            <a:endParaRPr lang="en-US" altLang="ko-KR" sz="1400" dirty="0">
              <a:latin typeface="+mn-ea"/>
            </a:endParaRPr>
          </a:p>
          <a:p>
            <a:pPr algn="ctr"/>
            <a:r>
              <a:rPr lang="en-US" altLang="ko-KR" sz="1400" b="0" dirty="0">
                <a:latin typeface="+mn-ea"/>
              </a:rPr>
              <a:t>(</a:t>
            </a:r>
            <a:r>
              <a:rPr lang="ko-KR" altLang="en-US" sz="1400" b="0" dirty="0">
                <a:latin typeface="+mn-ea"/>
              </a:rPr>
              <a:t>乙</a:t>
            </a:r>
            <a:r>
              <a:rPr lang="en-US" altLang="ko-KR" sz="1400" dirty="0">
                <a:latin typeface="+mn-ea"/>
              </a:rPr>
              <a:t>, </a:t>
            </a:r>
            <a:r>
              <a:rPr lang="ko-KR" altLang="en-US" sz="1400" dirty="0">
                <a:latin typeface="+mn-ea"/>
              </a:rPr>
              <a:t>丙</a:t>
            </a:r>
            <a:r>
              <a:rPr lang="en-US" altLang="ko-KR" sz="1400" b="0" dirty="0">
                <a:latin typeface="+mn-ea"/>
              </a:rPr>
              <a:t>)</a:t>
            </a:r>
            <a:endParaRPr lang="ko-KR" altLang="en-US" sz="1400" b="0" dirty="0">
              <a:latin typeface="+mn-ea"/>
            </a:endParaRPr>
          </a:p>
        </p:txBody>
      </p:sp>
      <p:cxnSp>
        <p:nvCxnSpPr>
          <p:cNvPr id="81" name="직선 화살표 연결선 80">
            <a:extLst>
              <a:ext uri="{FF2B5EF4-FFF2-40B4-BE49-F238E27FC236}">
                <a16:creationId xmlns:a16="http://schemas.microsoft.com/office/drawing/2014/main" id="{07BA1D2F-24E0-4A75-83AE-1E1EE233BA21}"/>
              </a:ext>
            </a:extLst>
          </p:cNvPr>
          <p:cNvCxnSpPr>
            <a:cxnSpLocks/>
            <a:stCxn id="80" idx="0"/>
          </p:cNvCxnSpPr>
          <p:nvPr/>
        </p:nvCxnSpPr>
        <p:spPr>
          <a:xfrm flipV="1">
            <a:off x="975910" y="4989768"/>
            <a:ext cx="0" cy="21111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2" name="Rectangle 14">
            <a:extLst>
              <a:ext uri="{FF2B5EF4-FFF2-40B4-BE49-F238E27FC236}">
                <a16:creationId xmlns:a16="http://schemas.microsoft.com/office/drawing/2014/main" id="{412DB5C1-42F3-420C-94BC-50D79DE7BA99}"/>
              </a:ext>
            </a:extLst>
          </p:cNvPr>
          <p:cNvSpPr>
            <a:spLocks noChangeArrowheads="1"/>
          </p:cNvSpPr>
          <p:nvPr/>
        </p:nvSpPr>
        <p:spPr bwMode="auto">
          <a:xfrm>
            <a:off x="1450381" y="5200886"/>
            <a:ext cx="746662"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설정등록</a:t>
            </a:r>
            <a:endParaRPr lang="en-US" altLang="ko-KR" sz="1400" dirty="0">
              <a:latin typeface="+mn-ea"/>
            </a:endParaRPr>
          </a:p>
          <a:p>
            <a:pPr algn="ctr"/>
            <a:r>
              <a:rPr lang="en-US" altLang="ko-KR" sz="1400" dirty="0">
                <a:latin typeface="+mn-ea"/>
              </a:rPr>
              <a:t>(</a:t>
            </a:r>
            <a:r>
              <a:rPr lang="ko-KR" altLang="en-US" sz="1400" dirty="0">
                <a:latin typeface="+mn-ea"/>
              </a:rPr>
              <a:t>乙</a:t>
            </a:r>
            <a:r>
              <a:rPr lang="en-US" altLang="ko-KR" sz="1400" dirty="0">
                <a:latin typeface="+mn-ea"/>
              </a:rPr>
              <a:t>, </a:t>
            </a:r>
            <a:r>
              <a:rPr lang="ko-KR" altLang="en-US" sz="1400" dirty="0">
                <a:latin typeface="+mn-ea"/>
              </a:rPr>
              <a:t>丙</a:t>
            </a:r>
            <a:r>
              <a:rPr lang="en-US" altLang="ko-KR" sz="1400" dirty="0">
                <a:latin typeface="+mn-ea"/>
              </a:rPr>
              <a:t>)</a:t>
            </a:r>
            <a:endParaRPr lang="ko-KR" altLang="en-US" sz="1400" dirty="0">
              <a:latin typeface="+mn-ea"/>
            </a:endParaRPr>
          </a:p>
        </p:txBody>
      </p:sp>
      <p:cxnSp>
        <p:nvCxnSpPr>
          <p:cNvPr id="83" name="직선 화살표 연결선 82">
            <a:extLst>
              <a:ext uri="{FF2B5EF4-FFF2-40B4-BE49-F238E27FC236}">
                <a16:creationId xmlns:a16="http://schemas.microsoft.com/office/drawing/2014/main" id="{2811CE0A-78BA-4238-B925-56B47F3592BE}"/>
              </a:ext>
            </a:extLst>
          </p:cNvPr>
          <p:cNvCxnSpPr>
            <a:cxnSpLocks/>
            <a:stCxn id="82" idx="0"/>
          </p:cNvCxnSpPr>
          <p:nvPr/>
        </p:nvCxnSpPr>
        <p:spPr>
          <a:xfrm flipV="1">
            <a:off x="1823712" y="4963222"/>
            <a:ext cx="1" cy="23766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4" name="자유형 37">
            <a:extLst>
              <a:ext uri="{FF2B5EF4-FFF2-40B4-BE49-F238E27FC236}">
                <a16:creationId xmlns:a16="http://schemas.microsoft.com/office/drawing/2014/main" id="{3930CF82-AB83-4E3A-A04E-A8AB27C0A090}"/>
              </a:ext>
            </a:extLst>
          </p:cNvPr>
          <p:cNvSpPr/>
          <p:nvPr/>
        </p:nvSpPr>
        <p:spPr>
          <a:xfrm>
            <a:off x="3018624" y="4932973"/>
            <a:ext cx="2853920" cy="1218923"/>
          </a:xfrm>
          <a:custGeom>
            <a:avLst/>
            <a:gdLst>
              <a:gd name="connsiteX0" fmla="*/ 0 w 7879222"/>
              <a:gd name="connsiteY0" fmla="*/ 0 h 743484"/>
              <a:gd name="connsiteX1" fmla="*/ 0 w 7879222"/>
              <a:gd name="connsiteY1" fmla="*/ 743484 h 743484"/>
              <a:gd name="connsiteX2" fmla="*/ 7879222 w 7879222"/>
              <a:gd name="connsiteY2" fmla="*/ 743484 h 743484"/>
            </a:gdLst>
            <a:ahLst/>
            <a:cxnLst>
              <a:cxn ang="0">
                <a:pos x="connsiteX0" y="connsiteY0"/>
              </a:cxn>
              <a:cxn ang="0">
                <a:pos x="connsiteX1" y="connsiteY1"/>
              </a:cxn>
              <a:cxn ang="0">
                <a:pos x="connsiteX2" y="connsiteY2"/>
              </a:cxn>
            </a:cxnLst>
            <a:rect l="l" t="t" r="r" b="b"/>
            <a:pathLst>
              <a:path w="7879222" h="743484">
                <a:moveTo>
                  <a:pt x="0" y="0"/>
                </a:moveTo>
                <a:lnTo>
                  <a:pt x="0" y="743484"/>
                </a:lnTo>
                <a:lnTo>
                  <a:pt x="7879222" y="743484"/>
                </a:lnTo>
              </a:path>
            </a:pathLst>
          </a:custGeom>
          <a:noFill/>
          <a:ln w="571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a:extLst>
              <a:ext uri="{FF2B5EF4-FFF2-40B4-BE49-F238E27FC236}">
                <a16:creationId xmlns:a16="http://schemas.microsoft.com/office/drawing/2014/main" id="{AF0C25E6-3F23-4C9E-91E2-11EA6BFC8A34}"/>
              </a:ext>
            </a:extLst>
          </p:cNvPr>
          <p:cNvSpPr txBox="1"/>
          <p:nvPr/>
        </p:nvSpPr>
        <p:spPr>
          <a:xfrm>
            <a:off x="3449089" y="5924772"/>
            <a:ext cx="1992989" cy="523220"/>
          </a:xfrm>
          <a:prstGeom prst="rect">
            <a:avLst/>
          </a:prstGeom>
          <a:solidFill>
            <a:schemeClr val="bg1"/>
          </a:solidFill>
        </p:spPr>
        <p:txBody>
          <a:bodyPr wrap="square" rtlCol="0">
            <a:spAutoFit/>
          </a:bodyPr>
          <a:lstStyle/>
          <a:p>
            <a:pPr algn="ctr"/>
            <a:r>
              <a:rPr lang="ko-KR" altLang="en-US" sz="1400" dirty="0"/>
              <a:t>선의의 丁이 국내에서 </a:t>
            </a:r>
            <a:endParaRPr lang="en-US" altLang="ko-KR" sz="1400" dirty="0"/>
          </a:p>
          <a:p>
            <a:pPr algn="ctr"/>
            <a:r>
              <a:rPr lang="ko-KR" altLang="en-US" sz="1400" dirty="0"/>
              <a:t>실시사업 또는 사업준비</a:t>
            </a:r>
          </a:p>
        </p:txBody>
      </p:sp>
      <p:sp>
        <p:nvSpPr>
          <p:cNvPr id="86" name="Rectangle 14">
            <a:extLst>
              <a:ext uri="{FF2B5EF4-FFF2-40B4-BE49-F238E27FC236}">
                <a16:creationId xmlns:a16="http://schemas.microsoft.com/office/drawing/2014/main" id="{BBDBFC66-4542-451B-A51D-E0DB063CC94E}"/>
              </a:ext>
            </a:extLst>
          </p:cNvPr>
          <p:cNvSpPr>
            <a:spLocks noChangeArrowheads="1"/>
          </p:cNvSpPr>
          <p:nvPr/>
        </p:nvSpPr>
        <p:spPr bwMode="auto">
          <a:xfrm>
            <a:off x="1948457" y="5890542"/>
            <a:ext cx="968799"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지분이전등록</a:t>
            </a:r>
            <a:endParaRPr lang="en-US" altLang="ko-KR" sz="1400" dirty="0">
              <a:latin typeface="+mn-ea"/>
            </a:endParaRPr>
          </a:p>
          <a:p>
            <a:pPr algn="ctr"/>
            <a:r>
              <a:rPr lang="en-US" altLang="ko-KR" sz="1400" dirty="0">
                <a:latin typeface="+mn-ea"/>
              </a:rPr>
              <a:t>(</a:t>
            </a:r>
            <a:r>
              <a:rPr lang="ko-KR" altLang="en-US" sz="1400" dirty="0">
                <a:latin typeface="+mn-ea"/>
              </a:rPr>
              <a:t>丙 </a:t>
            </a:r>
            <a:r>
              <a:rPr lang="en-US" altLang="ko-KR" sz="1400" dirty="0">
                <a:latin typeface="+mn-ea"/>
                <a:sym typeface="Wingdings" panose="05000000000000000000" pitchFamily="2" charset="2"/>
              </a:rPr>
              <a:t> </a:t>
            </a:r>
            <a:r>
              <a:rPr lang="ko-KR" altLang="en-US" sz="1400" dirty="0">
                <a:latin typeface="+mn-ea"/>
                <a:sym typeface="Wingdings" panose="05000000000000000000" pitchFamily="2" charset="2"/>
              </a:rPr>
              <a:t>丁</a:t>
            </a:r>
            <a:r>
              <a:rPr lang="en-US" altLang="ko-KR" sz="1400" dirty="0">
                <a:latin typeface="+mn-ea"/>
                <a:sym typeface="Wingdings" panose="05000000000000000000" pitchFamily="2" charset="2"/>
              </a:rPr>
              <a:t>)</a:t>
            </a:r>
            <a:endParaRPr lang="en-US" altLang="ko-KR" sz="1400" dirty="0">
              <a:latin typeface="+mn-ea"/>
            </a:endParaRPr>
          </a:p>
        </p:txBody>
      </p:sp>
      <p:cxnSp>
        <p:nvCxnSpPr>
          <p:cNvPr id="87" name="직선 화살표 연결선 86">
            <a:extLst>
              <a:ext uri="{FF2B5EF4-FFF2-40B4-BE49-F238E27FC236}">
                <a16:creationId xmlns:a16="http://schemas.microsoft.com/office/drawing/2014/main" id="{96E335C0-420C-428D-A938-CB369B542044}"/>
              </a:ext>
            </a:extLst>
          </p:cNvPr>
          <p:cNvCxnSpPr>
            <a:stCxn id="86" idx="0"/>
          </p:cNvCxnSpPr>
          <p:nvPr/>
        </p:nvCxnSpPr>
        <p:spPr>
          <a:xfrm flipV="1">
            <a:off x="2432856" y="4938578"/>
            <a:ext cx="0" cy="95196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8" name="Rectangle 14">
            <a:extLst>
              <a:ext uri="{FF2B5EF4-FFF2-40B4-BE49-F238E27FC236}">
                <a16:creationId xmlns:a16="http://schemas.microsoft.com/office/drawing/2014/main" id="{B65891A3-91BE-4C4F-B749-8051CBC15D55}"/>
              </a:ext>
            </a:extLst>
          </p:cNvPr>
          <p:cNvSpPr>
            <a:spLocks noChangeArrowheads="1"/>
          </p:cNvSpPr>
          <p:nvPr/>
        </p:nvSpPr>
        <p:spPr bwMode="auto">
          <a:xfrm>
            <a:off x="345408" y="4189196"/>
            <a:ext cx="876270"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accent2">
                    <a:lumMod val="50000"/>
                  </a:schemeClr>
                </a:solidFill>
                <a:latin typeface="+mn-ea"/>
              </a:rPr>
              <a:t>발명</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b="0" dirty="0">
                <a:solidFill>
                  <a:schemeClr val="accent2">
                    <a:lumMod val="50000"/>
                  </a:schemeClr>
                </a:solidFill>
                <a:latin typeface="+mn-ea"/>
              </a:rPr>
              <a:t>甲</a:t>
            </a:r>
            <a:r>
              <a:rPr lang="en-US" altLang="ko-KR" sz="1400" b="0" dirty="0">
                <a:solidFill>
                  <a:schemeClr val="accent2">
                    <a:lumMod val="50000"/>
                  </a:schemeClr>
                </a:solidFill>
                <a:latin typeface="+mn-ea"/>
              </a:rPr>
              <a:t>, </a:t>
            </a:r>
            <a:r>
              <a:rPr lang="ko-KR" altLang="en-US" sz="1400" b="0" dirty="0">
                <a:solidFill>
                  <a:schemeClr val="accent2">
                    <a:lumMod val="50000"/>
                  </a:schemeClr>
                </a:solidFill>
                <a:latin typeface="+mn-ea"/>
              </a:rPr>
              <a:t>乙</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sp>
        <p:nvSpPr>
          <p:cNvPr id="89" name="Rectangle 14">
            <a:extLst>
              <a:ext uri="{FF2B5EF4-FFF2-40B4-BE49-F238E27FC236}">
                <a16:creationId xmlns:a16="http://schemas.microsoft.com/office/drawing/2014/main" id="{2F165E66-7EDD-48B1-A3C3-90066A322E83}"/>
              </a:ext>
            </a:extLst>
          </p:cNvPr>
          <p:cNvSpPr>
            <a:spLocks noChangeArrowheads="1"/>
          </p:cNvSpPr>
          <p:nvPr/>
        </p:nvSpPr>
        <p:spPr bwMode="auto">
          <a:xfrm>
            <a:off x="3215441" y="4200597"/>
            <a:ext cx="1036874"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accent2">
                    <a:lumMod val="50000"/>
                  </a:schemeClr>
                </a:solidFill>
                <a:latin typeface="+mn-ea"/>
              </a:rPr>
              <a:t>지분이전청구</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dirty="0">
                <a:solidFill>
                  <a:schemeClr val="accent2">
                    <a:lumMod val="50000"/>
                  </a:schemeClr>
                </a:solidFill>
                <a:latin typeface="+mn-ea"/>
              </a:rPr>
              <a:t>甲</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sp>
        <p:nvSpPr>
          <p:cNvPr id="90" name="Rectangle 14">
            <a:extLst>
              <a:ext uri="{FF2B5EF4-FFF2-40B4-BE49-F238E27FC236}">
                <a16:creationId xmlns:a16="http://schemas.microsoft.com/office/drawing/2014/main" id="{DD6FF1F0-6C3A-401B-8A93-AD72ADA6C183}"/>
              </a:ext>
            </a:extLst>
          </p:cNvPr>
          <p:cNvSpPr>
            <a:spLocks noChangeArrowheads="1"/>
          </p:cNvSpPr>
          <p:nvPr/>
        </p:nvSpPr>
        <p:spPr bwMode="auto">
          <a:xfrm>
            <a:off x="4344936" y="4200597"/>
            <a:ext cx="1036874"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accent2">
                    <a:lumMod val="50000"/>
                  </a:schemeClr>
                </a:solidFill>
                <a:latin typeface="+mn-ea"/>
              </a:rPr>
              <a:t>지분이전등록</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dirty="0">
                <a:solidFill>
                  <a:schemeClr val="accent2">
                    <a:lumMod val="50000"/>
                  </a:schemeClr>
                </a:solidFill>
                <a:latin typeface="+mn-ea"/>
              </a:rPr>
              <a:t>丁</a:t>
            </a:r>
            <a:r>
              <a:rPr lang="ko-KR" altLang="en-US" sz="1400" b="0" dirty="0">
                <a:solidFill>
                  <a:schemeClr val="accent2">
                    <a:lumMod val="50000"/>
                  </a:schemeClr>
                </a:solidFill>
                <a:latin typeface="+mn-ea"/>
              </a:rPr>
              <a:t> </a:t>
            </a:r>
            <a:r>
              <a:rPr lang="en-US" altLang="ko-KR" sz="1400" b="0" dirty="0">
                <a:solidFill>
                  <a:schemeClr val="accent2">
                    <a:lumMod val="50000"/>
                  </a:schemeClr>
                </a:solidFill>
                <a:latin typeface="+mn-ea"/>
                <a:sym typeface="Wingdings" panose="05000000000000000000" pitchFamily="2" charset="2"/>
              </a:rPr>
              <a:t> </a:t>
            </a:r>
            <a:r>
              <a:rPr lang="ko-KR" altLang="en-US" sz="1400" b="0" dirty="0">
                <a:solidFill>
                  <a:schemeClr val="accent2">
                    <a:lumMod val="50000"/>
                  </a:schemeClr>
                </a:solidFill>
                <a:latin typeface="+mn-ea"/>
              </a:rPr>
              <a:t>甲</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cxnSp>
        <p:nvCxnSpPr>
          <p:cNvPr id="91" name="직선 화살표 연결선 90">
            <a:extLst>
              <a:ext uri="{FF2B5EF4-FFF2-40B4-BE49-F238E27FC236}">
                <a16:creationId xmlns:a16="http://schemas.microsoft.com/office/drawing/2014/main" id="{15387C2E-9F48-47B1-A3FC-7567D5A23072}"/>
              </a:ext>
            </a:extLst>
          </p:cNvPr>
          <p:cNvCxnSpPr>
            <a:cxnSpLocks/>
            <a:stCxn id="88" idx="2"/>
          </p:cNvCxnSpPr>
          <p:nvPr/>
        </p:nvCxnSpPr>
        <p:spPr>
          <a:xfrm flipH="1">
            <a:off x="780561" y="4651184"/>
            <a:ext cx="2982" cy="2701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2" name="직선 화살표 연결선 91">
            <a:extLst>
              <a:ext uri="{FF2B5EF4-FFF2-40B4-BE49-F238E27FC236}">
                <a16:creationId xmlns:a16="http://schemas.microsoft.com/office/drawing/2014/main" id="{39C1DDA1-54B8-4D7B-84E2-91D2CFD9689C}"/>
              </a:ext>
            </a:extLst>
          </p:cNvPr>
          <p:cNvCxnSpPr>
            <a:cxnSpLocks/>
            <a:stCxn id="89" idx="2"/>
          </p:cNvCxnSpPr>
          <p:nvPr/>
        </p:nvCxnSpPr>
        <p:spPr>
          <a:xfrm flipH="1">
            <a:off x="3732362" y="4662585"/>
            <a:ext cx="1516" cy="27036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3" name="직선 화살표 연결선 92">
            <a:extLst>
              <a:ext uri="{FF2B5EF4-FFF2-40B4-BE49-F238E27FC236}">
                <a16:creationId xmlns:a16="http://schemas.microsoft.com/office/drawing/2014/main" id="{FEFDE5C3-0B04-4DE1-B09B-CC3BA117FAAB}"/>
              </a:ext>
            </a:extLst>
          </p:cNvPr>
          <p:cNvCxnSpPr>
            <a:cxnSpLocks/>
            <a:stCxn id="90" idx="2"/>
          </p:cNvCxnSpPr>
          <p:nvPr/>
        </p:nvCxnSpPr>
        <p:spPr>
          <a:xfrm>
            <a:off x="4863373" y="4662585"/>
            <a:ext cx="56" cy="27599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5" name="직선 화살표 연결선 94">
            <a:extLst>
              <a:ext uri="{FF2B5EF4-FFF2-40B4-BE49-F238E27FC236}">
                <a16:creationId xmlns:a16="http://schemas.microsoft.com/office/drawing/2014/main" id="{E341A485-553F-4CC8-8BD4-797BEF16A4D8}"/>
              </a:ext>
            </a:extLst>
          </p:cNvPr>
          <p:cNvCxnSpPr/>
          <p:nvPr/>
        </p:nvCxnSpPr>
        <p:spPr>
          <a:xfrm>
            <a:off x="321668" y="4924824"/>
            <a:ext cx="5574070" cy="0"/>
          </a:xfrm>
          <a:prstGeom prst="straightConnector1">
            <a:avLst/>
          </a:prstGeom>
          <a:ln w="5715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5" name="Rectangle 14">
            <a:extLst>
              <a:ext uri="{FF2B5EF4-FFF2-40B4-BE49-F238E27FC236}">
                <a16:creationId xmlns:a16="http://schemas.microsoft.com/office/drawing/2014/main" id="{8BE6EB3A-CCAE-4E9D-A9D5-3646FF754C56}"/>
              </a:ext>
            </a:extLst>
          </p:cNvPr>
          <p:cNvSpPr>
            <a:spLocks noChangeArrowheads="1"/>
          </p:cNvSpPr>
          <p:nvPr/>
        </p:nvSpPr>
        <p:spPr bwMode="auto">
          <a:xfrm>
            <a:off x="6511306" y="4201388"/>
            <a:ext cx="688700"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accent2">
                    <a:lumMod val="50000"/>
                  </a:schemeClr>
                </a:solidFill>
                <a:latin typeface="+mn-ea"/>
              </a:rPr>
              <a:t>발명</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b="0" dirty="0">
                <a:solidFill>
                  <a:schemeClr val="accent2">
                    <a:lumMod val="50000"/>
                  </a:schemeClr>
                </a:solidFill>
                <a:latin typeface="+mn-ea"/>
              </a:rPr>
              <a:t>甲</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graphicFrame>
        <p:nvGraphicFramePr>
          <p:cNvPr id="96" name="표 95">
            <a:extLst>
              <a:ext uri="{FF2B5EF4-FFF2-40B4-BE49-F238E27FC236}">
                <a16:creationId xmlns:a16="http://schemas.microsoft.com/office/drawing/2014/main" id="{42E97A60-A04D-46F5-BEE5-C3297D21BCAD}"/>
              </a:ext>
            </a:extLst>
          </p:cNvPr>
          <p:cNvGraphicFramePr>
            <a:graphicFrameLocks noGrp="1"/>
          </p:cNvGraphicFramePr>
          <p:nvPr/>
        </p:nvGraphicFramePr>
        <p:xfrm>
          <a:off x="1426651" y="2721833"/>
          <a:ext cx="4620581" cy="1149096"/>
        </p:xfrm>
        <a:graphic>
          <a:graphicData uri="http://schemas.openxmlformats.org/drawingml/2006/table">
            <a:tbl>
              <a:tblPr/>
              <a:tblGrid>
                <a:gridCol w="808749">
                  <a:extLst>
                    <a:ext uri="{9D8B030D-6E8A-4147-A177-3AD203B41FA5}">
                      <a16:colId xmlns:a16="http://schemas.microsoft.com/office/drawing/2014/main" val="3388704944"/>
                    </a:ext>
                  </a:extLst>
                </a:gridCol>
                <a:gridCol w="1154163">
                  <a:extLst>
                    <a:ext uri="{9D8B030D-6E8A-4147-A177-3AD203B41FA5}">
                      <a16:colId xmlns:a16="http://schemas.microsoft.com/office/drawing/2014/main" val="537560535"/>
                    </a:ext>
                  </a:extLst>
                </a:gridCol>
                <a:gridCol w="2657669">
                  <a:extLst>
                    <a:ext uri="{9D8B030D-6E8A-4147-A177-3AD203B41FA5}">
                      <a16:colId xmlns:a16="http://schemas.microsoft.com/office/drawing/2014/main" val="1647611734"/>
                    </a:ext>
                  </a:extLst>
                </a:gridCol>
              </a:tblGrid>
              <a:tr h="0">
                <a:tc>
                  <a:txBody>
                    <a:bodyPr/>
                    <a:lstStyle/>
                    <a:p>
                      <a:pPr marL="0" marR="0" indent="0" algn="ctr" fontAlgn="base" latinLnBrk="0">
                        <a:lnSpc>
                          <a:spcPct val="100000"/>
                        </a:lnSpc>
                        <a:spcBef>
                          <a:spcPts val="0"/>
                        </a:spcBef>
                        <a:spcAft>
                          <a:spcPts val="0"/>
                        </a:spcAft>
                      </a:pPr>
                      <a:r>
                        <a:rPr lang="ko-KR" altLang="en-US" sz="1100" kern="0" spc="-100" dirty="0">
                          <a:solidFill>
                            <a:srgbClr val="000000"/>
                          </a:solidFill>
                          <a:effectLst/>
                          <a:latin typeface="+mn-ea"/>
                          <a:ea typeface="+mn-ea"/>
                        </a:rPr>
                        <a:t>제</a:t>
                      </a:r>
                      <a:r>
                        <a:rPr lang="en-US" altLang="ko-KR" sz="1100" kern="0" spc="-100" dirty="0">
                          <a:solidFill>
                            <a:srgbClr val="000000"/>
                          </a:solidFill>
                          <a:effectLst/>
                          <a:latin typeface="+mn-ea"/>
                          <a:ea typeface="+mn-ea"/>
                        </a:rPr>
                        <a:t>44</a:t>
                      </a:r>
                      <a:r>
                        <a:rPr lang="ko-KR" altLang="en-US" sz="1100" kern="0" spc="-100" dirty="0">
                          <a:solidFill>
                            <a:srgbClr val="000000"/>
                          </a:solidFill>
                          <a:effectLst/>
                          <a:latin typeface="+mn-ea"/>
                          <a:ea typeface="+mn-ea"/>
                        </a:rPr>
                        <a:t>조 위반</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100" kern="0" spc="-100" dirty="0">
                          <a:solidFill>
                            <a:srgbClr val="000000"/>
                          </a:solidFill>
                          <a:effectLst/>
                          <a:latin typeface="+mn-ea"/>
                          <a:ea typeface="+mn-ea"/>
                        </a:rPr>
                        <a:t>출원일의 소급효</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100" kern="0" spc="-100" dirty="0">
                          <a:solidFill>
                            <a:srgbClr val="000000"/>
                          </a:solidFill>
                          <a:effectLst/>
                          <a:latin typeface="+mn-ea"/>
                          <a:ea typeface="+mn-ea"/>
                        </a:rPr>
                        <a:t>특허권</a:t>
                      </a:r>
                      <a:r>
                        <a:rPr lang="en-US" altLang="ko-KR" sz="1100" kern="0" spc="-100" dirty="0">
                          <a:solidFill>
                            <a:srgbClr val="000000"/>
                          </a:solidFill>
                          <a:effectLst/>
                          <a:latin typeface="+mn-ea"/>
                          <a:ea typeface="+mn-ea"/>
                        </a:rPr>
                        <a:t>(</a:t>
                      </a:r>
                      <a:r>
                        <a:rPr lang="ko-KR" altLang="en-US" sz="1100" kern="0" spc="-100" dirty="0">
                          <a:solidFill>
                            <a:srgbClr val="000000"/>
                          </a:solidFill>
                          <a:effectLst/>
                          <a:latin typeface="+mn-ea"/>
                          <a:ea typeface="+mn-ea"/>
                        </a:rPr>
                        <a:t>특허출원</a:t>
                      </a:r>
                      <a:r>
                        <a:rPr lang="en-US" altLang="ko-KR" sz="1100" kern="0" spc="-100" dirty="0">
                          <a:solidFill>
                            <a:srgbClr val="000000"/>
                          </a:solidFill>
                          <a:effectLst/>
                          <a:latin typeface="+mn-ea"/>
                          <a:ea typeface="+mn-ea"/>
                        </a:rPr>
                        <a:t>)</a:t>
                      </a:r>
                      <a:r>
                        <a:rPr lang="ko-KR" altLang="en-US" sz="1100" kern="0" spc="-100" dirty="0">
                          <a:solidFill>
                            <a:srgbClr val="000000"/>
                          </a:solidFill>
                          <a:effectLst/>
                          <a:latin typeface="+mn-ea"/>
                          <a:ea typeface="+mn-ea"/>
                        </a:rPr>
                        <a:t>의 이전청구</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826539625"/>
                  </a:ext>
                </a:extLst>
              </a:tr>
              <a:tr h="155392">
                <a:tc>
                  <a:txBody>
                    <a:bodyPr/>
                    <a:lstStyle/>
                    <a:p>
                      <a:pPr marL="17780" marR="17780" indent="0" algn="ctr" fontAlgn="base" latinLnBrk="0">
                        <a:lnSpc>
                          <a:spcPct val="100000"/>
                        </a:lnSpc>
                        <a:spcBef>
                          <a:spcPts val="0"/>
                        </a:spcBef>
                        <a:spcAft>
                          <a:spcPts val="0"/>
                        </a:spcAft>
                      </a:pPr>
                      <a:r>
                        <a:rPr lang="ko-KR" altLang="en-US" sz="1100" kern="0" spc="-50" dirty="0">
                          <a:solidFill>
                            <a:srgbClr val="000000"/>
                          </a:solidFill>
                          <a:effectLst/>
                          <a:latin typeface="+mn-ea"/>
                          <a:ea typeface="+mn-ea"/>
                        </a:rPr>
                        <a:t>출원</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ase" latinLnBrk="1">
                        <a:lnSpc>
                          <a:spcPct val="100000"/>
                        </a:lnSpc>
                      </a:pPr>
                      <a:r>
                        <a:rPr lang="en-US" altLang="ko-KR" sz="1100" kern="1200" dirty="0">
                          <a:solidFill>
                            <a:schemeClr val="tx1"/>
                          </a:solidFill>
                          <a:effectLst/>
                          <a:latin typeface="+mn-lt"/>
                          <a:ea typeface="+mn-ea"/>
                          <a:cs typeface="+mn-cs"/>
                        </a:rPr>
                        <a:t>×</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100" kern="0" spc="-50" dirty="0">
                          <a:solidFill>
                            <a:srgbClr val="000000"/>
                          </a:solidFill>
                          <a:effectLst/>
                          <a:latin typeface="+mn-ea"/>
                          <a:ea typeface="+mn-ea"/>
                        </a:rPr>
                        <a:t>○</a:t>
                      </a:r>
                      <a:r>
                        <a:rPr lang="en-US" altLang="ko-KR" sz="1100" kern="0" spc="-50" dirty="0">
                          <a:solidFill>
                            <a:srgbClr val="000000"/>
                          </a:solidFill>
                          <a:effectLst/>
                          <a:latin typeface="+mn-ea"/>
                          <a:ea typeface="+mn-ea"/>
                        </a:rPr>
                        <a:t>(</a:t>
                      </a:r>
                      <a:r>
                        <a:rPr lang="ko-KR" altLang="en-US" sz="1100" kern="0" spc="-50" dirty="0">
                          <a:solidFill>
                            <a:srgbClr val="000000"/>
                          </a:solidFill>
                          <a:effectLst/>
                          <a:latin typeface="+mn-ea"/>
                          <a:ea typeface="+mn-ea"/>
                        </a:rPr>
                        <a:t>해석상</a:t>
                      </a:r>
                      <a:r>
                        <a:rPr lang="en-US" altLang="ko-KR" sz="1100" kern="0" spc="-50" dirty="0">
                          <a:solidFill>
                            <a:srgbClr val="000000"/>
                          </a:solidFill>
                          <a:effectLst/>
                          <a:latin typeface="+mn-ea"/>
                          <a:ea typeface="+mn-ea"/>
                        </a:rPr>
                        <a:t>)</a:t>
                      </a:r>
                      <a:endParaRPr lang="ko-KR" altLang="en-US" sz="11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4066344619"/>
                  </a:ext>
                </a:extLst>
              </a:tr>
              <a:tr h="98683">
                <a:tc rowSpan="2">
                  <a:txBody>
                    <a:bodyPr/>
                    <a:lstStyle/>
                    <a:p>
                      <a:pPr marL="17780" marR="17780" indent="0" algn="ctr" fontAlgn="base" latinLnBrk="0">
                        <a:lnSpc>
                          <a:spcPct val="100000"/>
                        </a:lnSpc>
                        <a:spcBef>
                          <a:spcPts val="0"/>
                        </a:spcBef>
                        <a:spcAft>
                          <a:spcPts val="0"/>
                        </a:spcAft>
                      </a:pPr>
                      <a:r>
                        <a:rPr lang="ko-KR" altLang="en-US" sz="1100" kern="0" spc="-50" dirty="0">
                          <a:solidFill>
                            <a:srgbClr val="000000"/>
                          </a:solidFill>
                          <a:effectLst/>
                          <a:latin typeface="+mn-ea"/>
                          <a:ea typeface="+mn-ea"/>
                        </a:rPr>
                        <a:t>특허</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ase" latinLnBrk="1">
                        <a:lnSpc>
                          <a:spcPct val="100000"/>
                        </a:lnSpc>
                      </a:pPr>
                      <a:r>
                        <a:rPr lang="en-US" altLang="ko-KR" sz="1100" kern="1200" dirty="0">
                          <a:solidFill>
                            <a:schemeClr val="tx1"/>
                          </a:solidFill>
                          <a:effectLst/>
                          <a:latin typeface="+mn-lt"/>
                          <a:ea typeface="+mn-ea"/>
                          <a:cs typeface="+mn-cs"/>
                        </a:rPr>
                        <a:t>×</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100" kern="0" spc="-50" dirty="0">
                          <a:solidFill>
                            <a:srgbClr val="000000"/>
                          </a:solidFill>
                          <a:effectLst/>
                          <a:latin typeface="+mn-ea"/>
                          <a:ea typeface="+mn-ea"/>
                        </a:rPr>
                        <a:t>○</a:t>
                      </a:r>
                      <a:r>
                        <a:rPr lang="en-US" altLang="ko-KR" sz="1100" kern="0" spc="-50" dirty="0">
                          <a:solidFill>
                            <a:srgbClr val="000000"/>
                          </a:solidFill>
                          <a:effectLst/>
                          <a:latin typeface="+mn-ea"/>
                          <a:ea typeface="+mn-ea"/>
                        </a:rPr>
                        <a:t>(</a:t>
                      </a:r>
                      <a:r>
                        <a:rPr lang="ko-KR" altLang="en-US" sz="1100" kern="0" spc="-50" dirty="0">
                          <a:solidFill>
                            <a:srgbClr val="000000"/>
                          </a:solidFill>
                          <a:effectLst/>
                          <a:latin typeface="+mn-ea"/>
                          <a:ea typeface="+mn-ea"/>
                        </a:rPr>
                        <a:t>法 </a:t>
                      </a:r>
                      <a:r>
                        <a:rPr lang="en-US" altLang="ko-KR" sz="1100" kern="0" spc="-50" dirty="0">
                          <a:solidFill>
                            <a:srgbClr val="000000"/>
                          </a:solidFill>
                          <a:effectLst/>
                          <a:latin typeface="+mn-ea"/>
                          <a:ea typeface="+mn-ea"/>
                        </a:rPr>
                        <a:t>99</a:t>
                      </a:r>
                      <a:r>
                        <a:rPr lang="ko-KR" altLang="en-US" sz="1100" kern="0" spc="-50" dirty="0">
                          <a:solidFill>
                            <a:srgbClr val="000000"/>
                          </a:solidFill>
                          <a:effectLst/>
                          <a:latin typeface="+mn-ea"/>
                          <a:ea typeface="+mn-ea"/>
                        </a:rPr>
                        <a:t>의</a:t>
                      </a:r>
                      <a:r>
                        <a:rPr lang="en-US" altLang="ko-KR" sz="1100" kern="0" spc="-50" dirty="0">
                          <a:solidFill>
                            <a:srgbClr val="000000"/>
                          </a:solidFill>
                          <a:effectLst/>
                          <a:latin typeface="+mn-ea"/>
                          <a:ea typeface="+mn-ea"/>
                        </a:rPr>
                        <a:t>2)</a:t>
                      </a:r>
                      <a:endParaRPr lang="ko-KR" altLang="en-US" sz="11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935683434"/>
                  </a:ext>
                </a:extLst>
              </a:tr>
              <a:tr h="268251">
                <a:tc vMerge="1">
                  <a:txBody>
                    <a:bodyPr/>
                    <a:lstStyle/>
                    <a:p>
                      <a:pPr latinLnBrk="1"/>
                      <a:endParaRPr lang="ko-KR" altLang="en-US"/>
                    </a:p>
                  </a:txBody>
                  <a:tcPr/>
                </a:tc>
                <a:tc>
                  <a:txBody>
                    <a:bodyPr/>
                    <a:lstStyle/>
                    <a:p>
                      <a:pPr marL="17780" marR="17780" indent="0" algn="l" fontAlgn="base" latinLnBrk="0">
                        <a:lnSpc>
                          <a:spcPct val="100000"/>
                        </a:lnSpc>
                        <a:spcBef>
                          <a:spcPts val="0"/>
                        </a:spcBef>
                        <a:spcAft>
                          <a:spcPts val="0"/>
                        </a:spcAft>
                        <a:buFontTx/>
                        <a:buNone/>
                      </a:pPr>
                      <a:r>
                        <a:rPr lang="en-US" altLang="ko-KR" sz="1100" kern="0" spc="-50" dirty="0">
                          <a:solidFill>
                            <a:srgbClr val="000000"/>
                          </a:solidFill>
                          <a:effectLst/>
                          <a:latin typeface="+mn-ea"/>
                          <a:ea typeface="+mn-ea"/>
                        </a:rPr>
                        <a:t>-</a:t>
                      </a:r>
                      <a:r>
                        <a:rPr lang="ko-KR" altLang="en-US" sz="1100" kern="0" spc="-50" dirty="0">
                          <a:solidFill>
                            <a:srgbClr val="000000"/>
                          </a:solidFill>
                          <a:effectLst/>
                          <a:latin typeface="+mn-ea"/>
                          <a:ea typeface="+mn-ea"/>
                        </a:rPr>
                        <a:t>지분에 대한  </a:t>
                      </a:r>
                      <a:endParaRPr lang="en-US" altLang="ko-KR" sz="1100" kern="0" spc="-50" dirty="0">
                        <a:solidFill>
                          <a:srgbClr val="000000"/>
                        </a:solidFill>
                        <a:effectLst/>
                        <a:latin typeface="+mn-ea"/>
                        <a:ea typeface="+mn-ea"/>
                      </a:endParaRPr>
                    </a:p>
                    <a:p>
                      <a:pPr marL="17780" marR="17780" indent="0" algn="l" fontAlgn="base" latinLnBrk="0">
                        <a:lnSpc>
                          <a:spcPct val="100000"/>
                        </a:lnSpc>
                        <a:spcBef>
                          <a:spcPts val="0"/>
                        </a:spcBef>
                        <a:spcAft>
                          <a:spcPts val="0"/>
                        </a:spcAft>
                        <a:buFontTx/>
                        <a:buNone/>
                      </a:pPr>
                      <a:r>
                        <a:rPr lang="en-US" altLang="ko-KR" sz="1100" kern="0" spc="-50" dirty="0">
                          <a:solidFill>
                            <a:srgbClr val="000000"/>
                          </a:solidFill>
                          <a:effectLst/>
                          <a:latin typeface="+mn-ea"/>
                          <a:ea typeface="+mn-ea"/>
                        </a:rPr>
                        <a:t> </a:t>
                      </a:r>
                      <a:r>
                        <a:rPr lang="ko-KR" altLang="en-US" sz="1100" kern="0" spc="-50" dirty="0">
                          <a:solidFill>
                            <a:srgbClr val="000000"/>
                          </a:solidFill>
                          <a:effectLst/>
                          <a:latin typeface="+mn-ea"/>
                          <a:ea typeface="+mn-ea"/>
                        </a:rPr>
                        <a:t>무효심판청구불가</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fontAlgn="base" latinLnBrk="1">
                        <a:lnSpc>
                          <a:spcPct val="100000"/>
                        </a:lnSpc>
                      </a:pPr>
                      <a:r>
                        <a:rPr lang="en-US" altLang="ko-KR" sz="1100" kern="0" spc="-80" dirty="0">
                          <a:solidFill>
                            <a:srgbClr val="000000"/>
                          </a:solidFill>
                          <a:effectLst/>
                          <a:latin typeface="+mn-ea"/>
                          <a:ea typeface="+mn-ea"/>
                        </a:rPr>
                        <a:t>- </a:t>
                      </a:r>
                      <a:r>
                        <a:rPr lang="ko-KR" altLang="en-US" sz="1100" kern="0" spc="-80" dirty="0">
                          <a:solidFill>
                            <a:srgbClr val="000000"/>
                          </a:solidFill>
                          <a:effectLst/>
                          <a:latin typeface="+mn-ea"/>
                          <a:ea typeface="+mn-ea"/>
                        </a:rPr>
                        <a:t>무효사유에서 제외</a:t>
                      </a:r>
                      <a:r>
                        <a:rPr lang="en-US" altLang="ko-KR" sz="1100" kern="0" spc="-80" dirty="0">
                          <a:solidFill>
                            <a:srgbClr val="000000"/>
                          </a:solidFill>
                          <a:effectLst/>
                          <a:latin typeface="+mn-ea"/>
                          <a:ea typeface="+mn-ea"/>
                        </a:rPr>
                        <a:t>(</a:t>
                      </a:r>
                      <a:r>
                        <a:rPr lang="en-US" altLang="ko-KR" sz="1100" kern="1200" dirty="0">
                          <a:solidFill>
                            <a:schemeClr val="tx1"/>
                          </a:solidFill>
                          <a:effectLst/>
                          <a:latin typeface="+mn-lt"/>
                          <a:ea typeface="+mn-ea"/>
                          <a:cs typeface="+mn-cs"/>
                        </a:rPr>
                        <a:t>133①Ⅱ</a:t>
                      </a:r>
                      <a:r>
                        <a:rPr lang="ko-KR" altLang="en-US" sz="1100" kern="1200" dirty="0">
                          <a:solidFill>
                            <a:schemeClr val="tx1"/>
                          </a:solidFill>
                          <a:effectLst/>
                          <a:latin typeface="+mn-lt"/>
                          <a:ea typeface="+mn-ea"/>
                          <a:cs typeface="+mn-cs"/>
                        </a:rPr>
                        <a:t>단서</a:t>
                      </a:r>
                      <a:r>
                        <a:rPr lang="en-US" altLang="ko-KR" sz="1100" kern="1200" dirty="0">
                          <a:solidFill>
                            <a:schemeClr val="tx1"/>
                          </a:solidFill>
                          <a:effectLst/>
                          <a:latin typeface="+mn-lt"/>
                          <a:ea typeface="+mn-ea"/>
                          <a:cs typeface="+mn-cs"/>
                        </a:rPr>
                        <a:t>)</a:t>
                      </a:r>
                    </a:p>
                    <a:p>
                      <a:pPr marL="85725" marR="17780" lvl="0" indent="-68263" algn="l" defTabSz="914400" rtl="0" eaLnBrk="1" fontAlgn="base" latinLnBrk="0" hangingPunct="1">
                        <a:lnSpc>
                          <a:spcPct val="100000"/>
                        </a:lnSpc>
                        <a:spcBef>
                          <a:spcPts val="0"/>
                        </a:spcBef>
                        <a:spcAft>
                          <a:spcPts val="0"/>
                        </a:spcAft>
                        <a:buClrTx/>
                        <a:buSzTx/>
                        <a:buFontTx/>
                        <a:buNone/>
                        <a:tabLst/>
                        <a:defRPr/>
                      </a:pPr>
                      <a:r>
                        <a:rPr lang="en-US" altLang="ko-KR" sz="1100" kern="0" spc="-80" dirty="0">
                          <a:solidFill>
                            <a:srgbClr val="000000"/>
                          </a:solidFill>
                          <a:effectLst/>
                          <a:latin typeface="+mn-ea"/>
                          <a:ea typeface="+mn-ea"/>
                        </a:rPr>
                        <a:t>- </a:t>
                      </a:r>
                      <a:r>
                        <a:rPr lang="ko-KR" altLang="en-US" sz="1100" kern="0" spc="-80" dirty="0">
                          <a:solidFill>
                            <a:srgbClr val="000000"/>
                          </a:solidFill>
                          <a:effectLst/>
                          <a:latin typeface="+mn-ea"/>
                          <a:ea typeface="+mn-ea"/>
                        </a:rPr>
                        <a:t>특허권의 이전청구에 따른 이전등록 전의 실시에 의한 통상실시권</a:t>
                      </a:r>
                      <a:r>
                        <a:rPr lang="en-US" altLang="ko-KR" sz="1100" kern="0" spc="-80" dirty="0">
                          <a:solidFill>
                            <a:srgbClr val="000000"/>
                          </a:solidFill>
                          <a:effectLst/>
                          <a:latin typeface="+mn-ea"/>
                          <a:ea typeface="+mn-ea"/>
                        </a:rPr>
                        <a:t>(</a:t>
                      </a:r>
                      <a:r>
                        <a:rPr lang="ko-KR" altLang="en-US" sz="1100" kern="0" spc="-80" dirty="0">
                          <a:solidFill>
                            <a:srgbClr val="000000"/>
                          </a:solidFill>
                          <a:effectLst/>
                          <a:latin typeface="+mn-ea"/>
                          <a:ea typeface="+mn-ea"/>
                        </a:rPr>
                        <a:t>法 </a:t>
                      </a:r>
                      <a:r>
                        <a:rPr lang="en-US" altLang="ko-KR" sz="1100" kern="0" spc="-80" dirty="0">
                          <a:solidFill>
                            <a:srgbClr val="000000"/>
                          </a:solidFill>
                          <a:effectLst/>
                          <a:latin typeface="+mn-ea"/>
                          <a:ea typeface="+mn-ea"/>
                        </a:rPr>
                        <a:t>103</a:t>
                      </a:r>
                      <a:r>
                        <a:rPr lang="ko-KR" altLang="en-US" sz="1100" kern="0" spc="-80" dirty="0">
                          <a:solidFill>
                            <a:srgbClr val="000000"/>
                          </a:solidFill>
                          <a:effectLst/>
                          <a:latin typeface="+mn-ea"/>
                          <a:ea typeface="+mn-ea"/>
                        </a:rPr>
                        <a:t>의</a:t>
                      </a:r>
                      <a:r>
                        <a:rPr lang="en-US" altLang="ko-KR" sz="1100" kern="0" spc="-80" dirty="0">
                          <a:solidFill>
                            <a:srgbClr val="000000"/>
                          </a:solidFill>
                          <a:effectLst/>
                          <a:latin typeface="+mn-ea"/>
                          <a:ea typeface="+mn-ea"/>
                        </a:rPr>
                        <a:t>2) </a:t>
                      </a:r>
                      <a:r>
                        <a:rPr lang="ko-KR" altLang="en-US" sz="1100" kern="0" spc="-80" dirty="0">
                          <a:solidFill>
                            <a:srgbClr val="000000"/>
                          </a:solidFill>
                          <a:effectLst/>
                          <a:latin typeface="+mn-ea"/>
                          <a:ea typeface="+mn-ea"/>
                        </a:rPr>
                        <a:t>인정가능</a:t>
                      </a:r>
                      <a:endParaRPr lang="en-US" altLang="ko-KR" sz="11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917325709"/>
                  </a:ext>
                </a:extLst>
              </a:tr>
            </a:tbl>
          </a:graphicData>
        </a:graphic>
      </p:graphicFrame>
    </p:spTree>
    <p:extLst>
      <p:ext uri="{BB962C8B-B14F-4D97-AF65-F5344CB8AC3E}">
        <p14:creationId xmlns:p14="http://schemas.microsoft.com/office/powerpoint/2010/main" val="277430836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35</a:t>
            </a:r>
            <a:r>
              <a:rPr lang="ko-KR" altLang="en-US" dirty="0"/>
              <a:t>조</a:t>
            </a:r>
            <a:r>
              <a:rPr lang="en-US" altLang="ko-KR" dirty="0"/>
              <a:t>, </a:t>
            </a:r>
            <a:r>
              <a:rPr lang="ko-KR" altLang="en-US" dirty="0"/>
              <a:t>제</a:t>
            </a:r>
            <a:r>
              <a:rPr lang="en-US" altLang="ko-KR" dirty="0"/>
              <a:t>99</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법조문 비교</a:t>
            </a:r>
          </a:p>
        </p:txBody>
      </p:sp>
      <p:sp>
        <p:nvSpPr>
          <p:cNvPr id="7" name="슬라이드 번호 개체 틀 6"/>
          <p:cNvSpPr>
            <a:spLocks noGrp="1"/>
          </p:cNvSpPr>
          <p:nvPr>
            <p:ph type="sldNum" sz="quarter" idx="12"/>
          </p:nvPr>
        </p:nvSpPr>
        <p:spPr/>
        <p:txBody>
          <a:bodyPr/>
          <a:lstStyle/>
          <a:p>
            <a:r>
              <a:rPr lang="en-US" altLang="ko-KR"/>
              <a:t>164</a:t>
            </a:r>
            <a:endParaRPr lang="ko-KR" altLang="en-US"/>
          </a:p>
        </p:txBody>
      </p:sp>
      <p:sp>
        <p:nvSpPr>
          <p:cNvPr id="47" name="TextBox 46">
            <a:extLst>
              <a:ext uri="{FF2B5EF4-FFF2-40B4-BE49-F238E27FC236}">
                <a16:creationId xmlns:a16="http://schemas.microsoft.com/office/drawing/2014/main" id="{E24F61AB-C79D-4FEC-BDC7-2CD177C553F5}"/>
              </a:ext>
            </a:extLst>
          </p:cNvPr>
          <p:cNvSpPr txBox="1"/>
          <p:nvPr/>
        </p:nvSpPr>
        <p:spPr>
          <a:xfrm>
            <a:off x="77875" y="986046"/>
            <a:ext cx="6018125" cy="5170646"/>
          </a:xfrm>
          <a:prstGeom prst="rect">
            <a:avLst/>
          </a:prstGeom>
          <a:noFill/>
        </p:spPr>
        <p:txBody>
          <a:bodyPr wrap="square" rtlCol="0">
            <a:spAutoFit/>
          </a:bodyPr>
          <a:lstStyle/>
          <a:p>
            <a:pPr fontAlgn="base"/>
            <a:r>
              <a:rPr lang="ko-KR" altLang="en-US" sz="1000" b="1" dirty="0">
                <a:solidFill>
                  <a:srgbClr val="000099"/>
                </a:solidFill>
                <a:latin typeface="+mn-ea"/>
              </a:rPr>
              <a:t>제</a:t>
            </a:r>
            <a:r>
              <a:rPr lang="en-US" altLang="ko-KR" sz="1000" b="1" dirty="0">
                <a:solidFill>
                  <a:srgbClr val="000099"/>
                </a:solidFill>
                <a:latin typeface="+mn-ea"/>
              </a:rPr>
              <a:t>34</a:t>
            </a:r>
            <a:r>
              <a:rPr lang="ko-KR" altLang="en-US" sz="1000" b="1" dirty="0">
                <a:solidFill>
                  <a:srgbClr val="000099"/>
                </a:solidFill>
                <a:latin typeface="+mn-ea"/>
              </a:rPr>
              <a:t>조</a:t>
            </a:r>
            <a:r>
              <a:rPr lang="en-US" altLang="ko-KR" sz="1000" b="1" dirty="0">
                <a:solidFill>
                  <a:srgbClr val="000099"/>
                </a:solidFill>
                <a:latin typeface="+mn-ea"/>
              </a:rPr>
              <a:t>(</a:t>
            </a:r>
            <a:r>
              <a:rPr lang="ko-KR" altLang="en-US" sz="1000" b="1" dirty="0">
                <a:solidFill>
                  <a:srgbClr val="000099"/>
                </a:solidFill>
                <a:latin typeface="+mn-ea"/>
              </a:rPr>
              <a:t>무권리자의 특허출원과 정당한 권리자의 보호</a:t>
            </a:r>
            <a:r>
              <a:rPr lang="en-US" altLang="ko-KR" sz="1000" b="1" dirty="0">
                <a:solidFill>
                  <a:srgbClr val="000099"/>
                </a:solidFill>
                <a:latin typeface="+mn-ea"/>
              </a:rPr>
              <a:t>) </a:t>
            </a:r>
            <a:r>
              <a:rPr lang="ko-KR" altLang="en-US" sz="1000" dirty="0">
                <a:latin typeface="+mn-ea"/>
              </a:rPr>
              <a:t>발명자가 아닌 자로서 특허를 받을 수 있는 권리의 승계인이 아닌 자</a:t>
            </a:r>
            <a:r>
              <a:rPr lang="en-US" altLang="ko-KR" sz="1000" dirty="0">
                <a:latin typeface="+mn-ea"/>
              </a:rPr>
              <a:t>(</a:t>
            </a:r>
            <a:r>
              <a:rPr lang="ko-KR" altLang="en-US" sz="1000" dirty="0">
                <a:latin typeface="+mn-ea"/>
              </a:rPr>
              <a:t>이하 “</a:t>
            </a:r>
            <a:r>
              <a:rPr lang="ko-KR" altLang="en-US" sz="1000" dirty="0" err="1">
                <a:latin typeface="+mn-ea"/>
              </a:rPr>
              <a:t>무권리자”라</a:t>
            </a:r>
            <a:r>
              <a:rPr lang="ko-KR" altLang="en-US" sz="1000" dirty="0">
                <a:latin typeface="+mn-ea"/>
              </a:rPr>
              <a:t> 한다</a:t>
            </a:r>
            <a:r>
              <a:rPr lang="en-US" altLang="ko-KR" sz="1000" dirty="0">
                <a:latin typeface="+mn-ea"/>
              </a:rPr>
              <a:t>)</a:t>
            </a:r>
            <a:r>
              <a:rPr lang="ko-KR" altLang="en-US" sz="1000" dirty="0">
                <a:latin typeface="+mn-ea"/>
              </a:rPr>
              <a:t>가 한 특허출원이 제</a:t>
            </a:r>
            <a:r>
              <a:rPr lang="en-US" altLang="ko-KR" sz="1000" dirty="0">
                <a:latin typeface="+mn-ea"/>
              </a:rPr>
              <a:t>33</a:t>
            </a:r>
            <a:r>
              <a:rPr lang="ko-KR" altLang="en-US" sz="1000" dirty="0">
                <a:latin typeface="+mn-ea"/>
              </a:rPr>
              <a:t>조제</a:t>
            </a:r>
            <a:r>
              <a:rPr lang="en-US" altLang="ko-KR" sz="1000" dirty="0">
                <a:latin typeface="+mn-ea"/>
              </a:rPr>
              <a:t>1</a:t>
            </a:r>
            <a:r>
              <a:rPr lang="ko-KR" altLang="en-US" sz="1000" dirty="0">
                <a:latin typeface="+mn-ea"/>
              </a:rPr>
              <a:t>항 본문에 따른 특허를 받을 수 있는 권리를 가지지 아니한 사유로 제</a:t>
            </a:r>
            <a:r>
              <a:rPr lang="en-US" altLang="ko-KR" sz="1000" dirty="0">
                <a:latin typeface="+mn-ea"/>
              </a:rPr>
              <a:t>62</a:t>
            </a:r>
            <a:r>
              <a:rPr lang="ko-KR" altLang="en-US" sz="1000" dirty="0">
                <a:latin typeface="+mn-ea"/>
              </a:rPr>
              <a:t>조제</a:t>
            </a:r>
            <a:r>
              <a:rPr lang="en-US" altLang="ko-KR" sz="1000" dirty="0">
                <a:latin typeface="+mn-ea"/>
              </a:rPr>
              <a:t>2</a:t>
            </a:r>
            <a:r>
              <a:rPr lang="ko-KR" altLang="en-US" sz="1000" dirty="0">
                <a:latin typeface="+mn-ea"/>
              </a:rPr>
              <a:t>호에 해당하여 특허를 받지 못하게 된 경우에는 그 무권리자의 특허출원 후에 한 정당한 권리자의 특허출원은 무권리자가 </a:t>
            </a:r>
            <a:r>
              <a:rPr lang="ko-KR" altLang="en-US" sz="1000" dirty="0" err="1">
                <a:latin typeface="+mn-ea"/>
              </a:rPr>
              <a:t>특허출원한</a:t>
            </a:r>
            <a:r>
              <a:rPr lang="ko-KR" altLang="en-US" sz="1000" dirty="0">
                <a:latin typeface="+mn-ea"/>
              </a:rPr>
              <a:t> 때에 </a:t>
            </a:r>
            <a:r>
              <a:rPr lang="ko-KR" altLang="en-US" sz="1000" dirty="0" err="1">
                <a:latin typeface="+mn-ea"/>
              </a:rPr>
              <a:t>특허출원한</a:t>
            </a:r>
            <a:r>
              <a:rPr lang="ko-KR" altLang="en-US" sz="1000" dirty="0">
                <a:latin typeface="+mn-ea"/>
              </a:rPr>
              <a:t> 것으로 본다</a:t>
            </a:r>
            <a:r>
              <a:rPr lang="en-US" altLang="ko-KR" sz="1000" dirty="0">
                <a:latin typeface="+mn-ea"/>
              </a:rPr>
              <a:t>. </a:t>
            </a:r>
            <a:r>
              <a:rPr lang="ko-KR" altLang="en-US" sz="1000" dirty="0">
                <a:latin typeface="+mn-ea"/>
              </a:rPr>
              <a:t>다만</a:t>
            </a:r>
            <a:r>
              <a:rPr lang="en-US" altLang="ko-KR" sz="1000" dirty="0">
                <a:latin typeface="+mn-ea"/>
              </a:rPr>
              <a:t>, </a:t>
            </a:r>
            <a:r>
              <a:rPr lang="ko-KR" altLang="en-US" sz="1000" dirty="0">
                <a:latin typeface="+mn-ea"/>
              </a:rPr>
              <a:t>무권리자가 특허를 받지 못하게 된 날부터 </a:t>
            </a:r>
            <a:r>
              <a:rPr lang="en-US" altLang="ko-KR" sz="1000" dirty="0">
                <a:latin typeface="+mn-ea"/>
              </a:rPr>
              <a:t>30</a:t>
            </a:r>
            <a:r>
              <a:rPr lang="ko-KR" altLang="en-US" sz="1000" dirty="0">
                <a:latin typeface="+mn-ea"/>
              </a:rPr>
              <a:t>일이 지난 후에 정당한 권리자가 특허출원을 한 경우에는 그러하지 아니하다</a:t>
            </a:r>
            <a:r>
              <a:rPr lang="en-US" altLang="ko-KR" sz="1000" dirty="0">
                <a:latin typeface="+mn-ea"/>
              </a:rPr>
              <a:t>. </a:t>
            </a:r>
          </a:p>
          <a:p>
            <a:pPr fontAlgn="base"/>
            <a:r>
              <a:rPr kumimoji="0" lang="ko-KR" altLang="ko-KR" sz="1000" b="1" i="0" u="none" strike="noStrike" cap="none" normalizeH="0" baseline="0" dirty="0">
                <a:ln>
                  <a:noFill/>
                </a:ln>
                <a:solidFill>
                  <a:srgbClr val="151594"/>
                </a:solidFill>
                <a:effectLst/>
                <a:latin typeface="+mn-ea"/>
              </a:rPr>
              <a:t>제35조(무권리자의 특허와 정당한 권리자의 보호)</a:t>
            </a:r>
            <a:r>
              <a:rPr kumimoji="0" lang="ko-KR" altLang="ko-KR" sz="1000" b="0" i="0" u="none" strike="noStrike" cap="none" normalizeH="0" baseline="0" dirty="0">
                <a:ln>
                  <a:noFill/>
                </a:ln>
                <a:solidFill>
                  <a:srgbClr val="444444"/>
                </a:solidFill>
                <a:effectLst/>
                <a:latin typeface="+mn-ea"/>
              </a:rPr>
              <a:t> 제33조제1항 본문에 따른 특허를 받을 수 있는 권리를 가지지 아니한 사유로 제133조제1항제2호에 해당하여 특허를 무효로 한다는 </a:t>
            </a:r>
            <a:r>
              <a:rPr kumimoji="0" lang="ko-KR" altLang="ko-KR" sz="1000" b="0" i="0" u="none" strike="noStrike" cap="none" normalizeH="0" baseline="0" dirty="0" err="1">
                <a:ln>
                  <a:noFill/>
                </a:ln>
                <a:solidFill>
                  <a:srgbClr val="444444"/>
                </a:solidFill>
                <a:effectLst/>
                <a:latin typeface="+mn-ea"/>
              </a:rPr>
              <a:t>심결이</a:t>
            </a:r>
            <a:r>
              <a:rPr kumimoji="0" lang="ko-KR" altLang="ko-KR" sz="1000" b="0" i="0" u="none" strike="noStrike" cap="none" normalizeH="0" baseline="0" dirty="0">
                <a:ln>
                  <a:noFill/>
                </a:ln>
                <a:solidFill>
                  <a:srgbClr val="444444"/>
                </a:solidFill>
                <a:effectLst/>
                <a:latin typeface="+mn-ea"/>
              </a:rPr>
              <a:t> 확정된 경우에는 그 무권리자의 특허출원 후에 한 정당한 권리자의 특허출원은 무효로 된 그 특허의 출원 시에 </a:t>
            </a:r>
            <a:r>
              <a:rPr kumimoji="0" lang="ko-KR" altLang="ko-KR" sz="1000" b="0" i="0" u="none" strike="noStrike" cap="none" normalizeH="0" baseline="0" dirty="0" err="1">
                <a:ln>
                  <a:noFill/>
                </a:ln>
                <a:solidFill>
                  <a:srgbClr val="444444"/>
                </a:solidFill>
                <a:effectLst/>
                <a:latin typeface="+mn-ea"/>
              </a:rPr>
              <a:t>특허출원한</a:t>
            </a:r>
            <a:r>
              <a:rPr kumimoji="0" lang="ko-KR" altLang="ko-KR" sz="1000" b="0" i="0" u="none" strike="noStrike" cap="none" normalizeH="0" baseline="0" dirty="0">
                <a:ln>
                  <a:noFill/>
                </a:ln>
                <a:solidFill>
                  <a:srgbClr val="444444"/>
                </a:solidFill>
                <a:effectLst/>
                <a:latin typeface="+mn-ea"/>
              </a:rPr>
              <a:t> 것으로 본다. 다만, </a:t>
            </a:r>
            <a:r>
              <a:rPr kumimoji="0" lang="ko-KR" altLang="ko-KR" sz="1000" b="0" i="0" u="none" strike="noStrike" cap="none" normalizeH="0" baseline="0" dirty="0" err="1">
                <a:ln>
                  <a:noFill/>
                </a:ln>
                <a:solidFill>
                  <a:srgbClr val="444444"/>
                </a:solidFill>
                <a:effectLst/>
                <a:latin typeface="+mn-ea"/>
              </a:rPr>
              <a:t>심결이</a:t>
            </a:r>
            <a:r>
              <a:rPr kumimoji="0" lang="ko-KR" altLang="ko-KR" sz="1000" b="0" i="0" u="none" strike="noStrike" cap="none" normalizeH="0" baseline="0" dirty="0">
                <a:ln>
                  <a:noFill/>
                </a:ln>
                <a:solidFill>
                  <a:srgbClr val="444444"/>
                </a:solidFill>
                <a:effectLst/>
                <a:latin typeface="+mn-ea"/>
              </a:rPr>
              <a:t> 확정된 날부터 30일이 지난 후에 정당한 권리자가 특허출원을 한 경우에는 그러하지 아니하다. </a:t>
            </a:r>
            <a:r>
              <a:rPr kumimoji="0" lang="ko-KR" altLang="ko-KR" sz="1000" b="0" i="0" u="none" strike="noStrike" cap="none" normalizeH="0" baseline="0" dirty="0">
                <a:ln>
                  <a:noFill/>
                </a:ln>
                <a:solidFill>
                  <a:schemeClr val="tx1"/>
                </a:solidFill>
                <a:effectLst/>
                <a:latin typeface="+mn-ea"/>
              </a:rPr>
              <a:t> </a:t>
            </a:r>
          </a:p>
          <a:p>
            <a:pPr marL="0" marR="0" lvl="0" indent="0" algn="l" defTabSz="914400" rtl="0" eaLnBrk="0" fontAlgn="base" latinLnBrk="0" hangingPunct="0">
              <a:lnSpc>
                <a:spcPct val="100000"/>
              </a:lnSpc>
              <a:spcBef>
                <a:spcPct val="0"/>
              </a:spcBef>
              <a:spcAft>
                <a:spcPct val="0"/>
              </a:spcAft>
              <a:buClrTx/>
              <a:buSzTx/>
              <a:buFontTx/>
              <a:buNone/>
              <a:tabLst/>
            </a:pPr>
            <a:endParaRPr lang="en-US" altLang="ko-KR" sz="1000" b="1" dirty="0">
              <a:solidFill>
                <a:srgbClr val="151594"/>
              </a:solidFill>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ko-KR" sz="1000" b="1" i="0" u="none" strike="noStrike" cap="none" normalizeH="0" baseline="0" dirty="0">
              <a:ln>
                <a:noFill/>
              </a:ln>
              <a:solidFill>
                <a:srgbClr val="151594"/>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1" i="0" u="none" strike="noStrike" cap="none" normalizeH="0" baseline="0" dirty="0">
                <a:ln>
                  <a:noFill/>
                </a:ln>
                <a:solidFill>
                  <a:srgbClr val="151594"/>
                </a:solidFill>
                <a:effectLst/>
                <a:latin typeface="+mn-ea"/>
              </a:rPr>
              <a:t>제133조(특허의 무효심판)</a:t>
            </a:r>
            <a:r>
              <a:rPr kumimoji="0" lang="ko-KR" altLang="ko-KR" sz="1000" b="0" i="0" u="none" strike="noStrike" cap="none" normalizeH="0" baseline="0" dirty="0">
                <a:ln>
                  <a:noFill/>
                </a:ln>
                <a:solidFill>
                  <a:srgbClr val="444444"/>
                </a:solidFill>
                <a:effectLst/>
                <a:latin typeface="+mn-ea"/>
              </a:rPr>
              <a:t> ① 이해관계인(제2호 본문의 경우에는 특허를 받을 수 있는 권리를 가진 자만 해당한다) 또는 심사관은 특허가 다음 각 호의 어느 하나에 해당하는 경우에는 무효심판을 청구할 수 있다. 이 경우 청구범위의 청구항이 둘 이상인 경우에는 청구항마다 청구할 수 있다.  </a:t>
            </a:r>
            <a:endParaRPr kumimoji="0" lang="ko-KR" altLang="ko-KR" sz="10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1. 제25조, 제29조, 제32조, 제36조제1항부터 제3항까지, 제42조제3항제1호 또는 같은 조 제4항을 위반한 경우</a:t>
            </a:r>
            <a:endParaRPr kumimoji="0" lang="ko-KR" altLang="ko-KR" sz="10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2. 제33조제1항 본문에 따른 특허를 받을 수 있는 권리를 가지지 아니하거나 제44조를 위반한 경우. 다만, 제99조의2제2항에 따라 </a:t>
            </a:r>
            <a:r>
              <a:rPr kumimoji="0" lang="ko-KR" altLang="ko-KR" sz="1000" b="0" i="0" u="none" strike="noStrike" cap="none" normalizeH="0" baseline="0" dirty="0" err="1">
                <a:ln>
                  <a:noFill/>
                </a:ln>
                <a:solidFill>
                  <a:srgbClr val="444444"/>
                </a:solidFill>
                <a:effectLst/>
                <a:latin typeface="+mn-ea"/>
              </a:rPr>
              <a:t>이전등록된</a:t>
            </a:r>
            <a:r>
              <a:rPr kumimoji="0" lang="ko-KR" altLang="ko-KR" sz="1000" b="0" i="0" u="none" strike="noStrike" cap="none" normalizeH="0" baseline="0" dirty="0">
                <a:ln>
                  <a:noFill/>
                </a:ln>
                <a:solidFill>
                  <a:srgbClr val="444444"/>
                </a:solidFill>
                <a:effectLst/>
                <a:latin typeface="+mn-ea"/>
              </a:rPr>
              <a:t> 경우에는 제외한다.</a:t>
            </a:r>
            <a:r>
              <a:rPr kumimoji="0" lang="ko-KR" altLang="ko-KR" sz="1000" b="1" i="0" u="none" strike="noStrike" cap="none" normalizeH="0" baseline="0" dirty="0">
                <a:ln>
                  <a:noFill/>
                </a:ln>
                <a:solidFill>
                  <a:srgbClr val="151594"/>
                </a:solidFill>
                <a:effectLst/>
                <a:latin typeface="+mn-ea"/>
              </a:rPr>
              <a:t> </a:t>
            </a:r>
            <a:endParaRPr kumimoji="0" lang="en-US" altLang="ko-KR" sz="1000" b="1" i="0" u="none" strike="noStrike" cap="none" normalizeH="0" baseline="0" dirty="0">
              <a:ln>
                <a:noFill/>
              </a:ln>
              <a:solidFill>
                <a:srgbClr val="151594"/>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ko-KR" sz="1000" b="1" i="0" u="none" strike="noStrike" cap="none" normalizeH="0" baseline="0" dirty="0">
              <a:ln>
                <a:noFill/>
              </a:ln>
              <a:solidFill>
                <a:srgbClr val="151594"/>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1" i="0" u="none" strike="noStrike" cap="none" normalizeH="0" baseline="0" dirty="0">
                <a:ln>
                  <a:noFill/>
                </a:ln>
                <a:solidFill>
                  <a:srgbClr val="151594"/>
                </a:solidFill>
                <a:effectLst/>
                <a:latin typeface="+mn-ea"/>
              </a:rPr>
              <a:t>제104조(무효심판청구 등록 전의 실시에 의한 통상실시권)</a:t>
            </a:r>
            <a:r>
              <a:rPr kumimoji="0" lang="ko-KR" altLang="ko-KR" sz="1000" b="0" i="0" u="none" strike="noStrike" cap="none" normalizeH="0" baseline="0" dirty="0">
                <a:ln>
                  <a:noFill/>
                </a:ln>
                <a:solidFill>
                  <a:srgbClr val="444444"/>
                </a:solidFill>
                <a:effectLst/>
                <a:latin typeface="+mn-ea"/>
              </a:rPr>
              <a:t> ① 다음 각 호의 어느 하나에 해당하는 자가 특허 또는 실용신안등록에 대한 무효심판청구의 등록 전에 자기의 특허발명 또는 </a:t>
            </a:r>
            <a:r>
              <a:rPr kumimoji="0" lang="ko-KR" altLang="ko-KR" sz="1000" b="0" i="0" u="none" strike="noStrike" cap="none" normalizeH="0" baseline="0" dirty="0" err="1">
                <a:ln>
                  <a:noFill/>
                </a:ln>
                <a:solidFill>
                  <a:srgbClr val="444444"/>
                </a:solidFill>
                <a:effectLst/>
                <a:latin typeface="+mn-ea"/>
              </a:rPr>
              <a:t>등록실용신안이</a:t>
            </a:r>
            <a:r>
              <a:rPr kumimoji="0" lang="ko-KR" altLang="ko-KR" sz="1000" b="0" i="0" u="none" strike="noStrike" cap="none" normalizeH="0" baseline="0" dirty="0">
                <a:ln>
                  <a:noFill/>
                </a:ln>
                <a:solidFill>
                  <a:srgbClr val="444444"/>
                </a:solidFill>
                <a:effectLst/>
                <a:latin typeface="+mn-ea"/>
              </a:rPr>
              <a:t> 무효사유에 해당하는 것을 알지 못하고 국내에서 그 발명 또는 고안의 실시사업을 하거나 이를 준비하고 있는 경우에는 그 실시하거나 준비하고 있는 발명 또는 고안 및 사업목적의 범위에서 그 특허권에 대하여 통상실시권을 가지거나 특허나 실용신안등록이 무효로 된 당시에 존재하는 특허권의 전용실시권에 대하여 통상실시권을 가진다.  </a:t>
            </a:r>
            <a:endParaRPr kumimoji="0" lang="ko-KR" altLang="ko-KR" sz="10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1. 동일한 발명에 대한 둘 이상의 특허 중 그 하나의 특허를 무효로 한 경우 그 무효로 된 특허의 </a:t>
            </a:r>
            <a:r>
              <a:rPr kumimoji="0" lang="ko-KR" altLang="ko-KR" sz="1000" b="0" i="0" u="none" strike="noStrike" cap="none" normalizeH="0" baseline="0" dirty="0" err="1">
                <a:ln>
                  <a:noFill/>
                </a:ln>
                <a:solidFill>
                  <a:srgbClr val="444444"/>
                </a:solidFill>
                <a:effectLst/>
                <a:latin typeface="+mn-ea"/>
              </a:rPr>
              <a:t>원특허권자</a:t>
            </a:r>
            <a:endParaRPr kumimoji="0" lang="ko-KR" altLang="ko-KR" sz="10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2. 특허발명과 </a:t>
            </a:r>
            <a:r>
              <a:rPr kumimoji="0" lang="ko-KR" altLang="ko-KR" sz="1000" b="0" i="0" u="none" strike="noStrike" cap="none" normalizeH="0" baseline="0" dirty="0" err="1">
                <a:ln>
                  <a:noFill/>
                </a:ln>
                <a:solidFill>
                  <a:srgbClr val="444444"/>
                </a:solidFill>
                <a:effectLst/>
                <a:latin typeface="+mn-ea"/>
              </a:rPr>
              <a:t>등록실용신안이</a:t>
            </a:r>
            <a:r>
              <a:rPr kumimoji="0" lang="ko-KR" altLang="ko-KR" sz="1000" b="0" i="0" u="none" strike="noStrike" cap="none" normalizeH="0" baseline="0" dirty="0">
                <a:ln>
                  <a:noFill/>
                </a:ln>
                <a:solidFill>
                  <a:srgbClr val="444444"/>
                </a:solidFill>
                <a:effectLst/>
                <a:latin typeface="+mn-ea"/>
              </a:rPr>
              <a:t> 동일하여 그 실용신안등록을 무효로 한 경우 그 무효로 된 실용신안등록의 원(原)</a:t>
            </a:r>
            <a:r>
              <a:rPr kumimoji="0" lang="ko-KR" altLang="ko-KR" sz="1000" b="0" i="0" u="none" strike="noStrike" cap="none" normalizeH="0" baseline="0" dirty="0" err="1">
                <a:ln>
                  <a:noFill/>
                </a:ln>
                <a:solidFill>
                  <a:srgbClr val="444444"/>
                </a:solidFill>
                <a:effectLst/>
                <a:latin typeface="+mn-ea"/>
              </a:rPr>
              <a:t>실용신안권자</a:t>
            </a:r>
            <a:endParaRPr kumimoji="0" lang="ko-KR" altLang="ko-KR" sz="10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3. 특허를 무효로 하고 동일한 발명에 관하여 정당한 권리자에게 특허를 한 경우 그 무효로 된 특허의 </a:t>
            </a:r>
            <a:r>
              <a:rPr kumimoji="0" lang="ko-KR" altLang="ko-KR" sz="1000" b="0" i="0" u="none" strike="noStrike" cap="none" normalizeH="0" baseline="0" dirty="0" err="1">
                <a:ln>
                  <a:noFill/>
                </a:ln>
                <a:solidFill>
                  <a:srgbClr val="444444"/>
                </a:solidFill>
                <a:effectLst/>
                <a:latin typeface="+mn-ea"/>
              </a:rPr>
              <a:t>원특허권자</a:t>
            </a:r>
            <a:endParaRPr kumimoji="0" lang="ko-KR" altLang="ko-KR" sz="10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4. 실용신안등록을 무효로 하고 그 고안과 동일한 발명에 관하여 정당한 권리자에게 특허를 한 경우 그 무효로 된 실용신안의 </a:t>
            </a:r>
            <a:r>
              <a:rPr kumimoji="0" lang="ko-KR" altLang="ko-KR" sz="1000" b="0" i="0" u="none" strike="noStrike" cap="none" normalizeH="0" baseline="0" dirty="0" err="1">
                <a:ln>
                  <a:noFill/>
                </a:ln>
                <a:solidFill>
                  <a:srgbClr val="444444"/>
                </a:solidFill>
                <a:effectLst/>
                <a:latin typeface="+mn-ea"/>
              </a:rPr>
              <a:t>원실용신안권자</a:t>
            </a:r>
            <a:endParaRPr kumimoji="0" lang="ko-KR" altLang="ko-KR" sz="10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5. 제1호부터 제4호까지의 경우에 있어서 그 무효로 된 특허권 또는 실용신안권에 대하여 무효심판청구 등록 당시에 이미 전용실시권이나 통상실시권 또는 그 전용실시권에 대한 통상실시권을 취득하고 등록을 받은 자. 다만, 제118조제2항에 따른 통상실시권을 취득한 자는 등록을 필요로 하지 아니한다.</a:t>
            </a:r>
            <a:endParaRPr kumimoji="0" lang="ko-KR" altLang="ko-KR" sz="10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② 제1항에 따라 통상실시권을 가진 자는 특허권자 또는 </a:t>
            </a:r>
            <a:r>
              <a:rPr kumimoji="0" lang="ko-KR" altLang="ko-KR" sz="1000" b="0" i="0" u="none" strike="noStrike" cap="none" normalizeH="0" baseline="0" dirty="0" err="1">
                <a:ln>
                  <a:noFill/>
                </a:ln>
                <a:solidFill>
                  <a:srgbClr val="444444"/>
                </a:solidFill>
                <a:effectLst/>
                <a:latin typeface="+mn-ea"/>
              </a:rPr>
              <a:t>전용실시권자에게</a:t>
            </a:r>
            <a:r>
              <a:rPr kumimoji="0" lang="ko-KR" altLang="ko-KR" sz="1000" b="0" i="0" u="none" strike="noStrike" cap="none" normalizeH="0" baseline="0" dirty="0">
                <a:ln>
                  <a:noFill/>
                </a:ln>
                <a:solidFill>
                  <a:srgbClr val="444444"/>
                </a:solidFill>
                <a:effectLst/>
                <a:latin typeface="+mn-ea"/>
              </a:rPr>
              <a:t> 상당한 대가를 지급하여야 한다.</a:t>
            </a:r>
            <a:endParaRPr lang="en-US" altLang="ko-KR" sz="1000" b="1" dirty="0">
              <a:solidFill>
                <a:schemeClr val="accent1"/>
              </a:solidFill>
              <a:latin typeface="+mn-ea"/>
            </a:endParaRPr>
          </a:p>
        </p:txBody>
      </p:sp>
      <p:sp>
        <p:nvSpPr>
          <p:cNvPr id="52" name="TextBox 51">
            <a:extLst>
              <a:ext uri="{FF2B5EF4-FFF2-40B4-BE49-F238E27FC236}">
                <a16:creationId xmlns:a16="http://schemas.microsoft.com/office/drawing/2014/main" id="{4C37336B-C00A-4F1F-9084-2AA018AAD755}"/>
              </a:ext>
            </a:extLst>
          </p:cNvPr>
          <p:cNvSpPr txBox="1"/>
          <p:nvPr/>
        </p:nvSpPr>
        <p:spPr>
          <a:xfrm>
            <a:off x="6118860" y="986046"/>
            <a:ext cx="6018125" cy="4247317"/>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1" i="0" u="none" strike="noStrike" cap="none" normalizeH="0" baseline="0" dirty="0">
                <a:ln>
                  <a:noFill/>
                </a:ln>
                <a:solidFill>
                  <a:srgbClr val="151594"/>
                </a:solidFill>
                <a:effectLst/>
                <a:latin typeface="+mn-ea"/>
              </a:rPr>
              <a:t>제99조의2(특허권의 이전청구)</a:t>
            </a:r>
            <a:r>
              <a:rPr kumimoji="0" lang="ko-KR" altLang="ko-KR" sz="1000" b="0" i="0" u="none" strike="noStrike" cap="none" normalizeH="0" baseline="0" dirty="0">
                <a:ln>
                  <a:noFill/>
                </a:ln>
                <a:solidFill>
                  <a:srgbClr val="444444"/>
                </a:solidFill>
                <a:effectLst/>
                <a:latin typeface="+mn-ea"/>
              </a:rPr>
              <a:t> ① 특허가 제133조제1항제2호 본문에 해당하는 경우에 특허를 받을 수 있는 권리를 가진 자는 법원에 해당 특허권의 이전(특허를 받을 수 있는 권리가 공유인 경우에는 그 지분의 이전을 말한다)을 청구할 수 있다.</a:t>
            </a:r>
            <a:endParaRPr kumimoji="0" lang="ko-KR" altLang="ko-KR" sz="9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② 제1항의 청구에 기초하여 특허권이 </a:t>
            </a:r>
            <a:r>
              <a:rPr kumimoji="0" lang="ko-KR" altLang="ko-KR" sz="1000" b="0" i="0" u="none" strike="noStrike" cap="none" normalizeH="0" baseline="0" dirty="0" err="1">
                <a:ln>
                  <a:noFill/>
                </a:ln>
                <a:solidFill>
                  <a:srgbClr val="444444"/>
                </a:solidFill>
                <a:effectLst/>
                <a:latin typeface="+mn-ea"/>
              </a:rPr>
              <a:t>이전등록된</a:t>
            </a:r>
            <a:r>
              <a:rPr kumimoji="0" lang="ko-KR" altLang="ko-KR" sz="1000" b="0" i="0" u="none" strike="noStrike" cap="none" normalizeH="0" baseline="0" dirty="0">
                <a:ln>
                  <a:noFill/>
                </a:ln>
                <a:solidFill>
                  <a:srgbClr val="444444"/>
                </a:solidFill>
                <a:effectLst/>
                <a:latin typeface="+mn-ea"/>
              </a:rPr>
              <a:t> 경우에는 다음 각 호의 권리는 그 특허권이 </a:t>
            </a:r>
            <a:r>
              <a:rPr kumimoji="0" lang="ko-KR" altLang="ko-KR" sz="1000" b="0" i="0" u="none" strike="noStrike" cap="none" normalizeH="0" baseline="0" dirty="0" err="1">
                <a:ln>
                  <a:noFill/>
                </a:ln>
                <a:solidFill>
                  <a:srgbClr val="444444"/>
                </a:solidFill>
                <a:effectLst/>
                <a:latin typeface="+mn-ea"/>
              </a:rPr>
              <a:t>설정등록된</a:t>
            </a:r>
            <a:r>
              <a:rPr kumimoji="0" lang="ko-KR" altLang="ko-KR" sz="1000" b="0" i="0" u="none" strike="noStrike" cap="none" normalizeH="0" baseline="0" dirty="0">
                <a:ln>
                  <a:noFill/>
                </a:ln>
                <a:solidFill>
                  <a:srgbClr val="444444"/>
                </a:solidFill>
                <a:effectLst/>
                <a:latin typeface="+mn-ea"/>
              </a:rPr>
              <a:t> 날부터 이전등록을 받은 자에게 있는 것으로 본다.</a:t>
            </a:r>
            <a:endParaRPr kumimoji="0" lang="ko-KR" altLang="ko-KR" sz="9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1. 해당 특허권</a:t>
            </a:r>
            <a:endParaRPr kumimoji="0" lang="ko-KR" altLang="ko-KR" sz="9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2. 제65조제2항에 따른 보상금 지급 청구권</a:t>
            </a:r>
            <a:endParaRPr kumimoji="0" lang="ko-KR" altLang="ko-KR" sz="9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3. 제207조제4항에 따른 보상금 지급 청구권</a:t>
            </a:r>
            <a:endParaRPr kumimoji="0" lang="ko-KR" altLang="ko-KR" sz="9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③ 제1항의 청구에 따라 공유인 특허권의 지분을 이전하는 경우에는 제99조제2항에도 불구하고 다른 공유자의 동의를 받지 아니하더라도 그 지분을 이전할 수 있다.</a:t>
            </a:r>
            <a:endParaRPr kumimoji="0" lang="ko-KR" altLang="ko-KR" sz="20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ko-KR" sz="1000" b="1" i="0" u="none" strike="noStrike" cap="none" normalizeH="0" baseline="0" dirty="0">
              <a:ln>
                <a:noFill/>
              </a:ln>
              <a:solidFill>
                <a:srgbClr val="151594"/>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1" i="0" u="none" strike="noStrike" cap="none" normalizeH="0" baseline="0" dirty="0">
                <a:ln>
                  <a:noFill/>
                </a:ln>
                <a:solidFill>
                  <a:srgbClr val="151594"/>
                </a:solidFill>
                <a:effectLst/>
                <a:latin typeface="+mn-ea"/>
              </a:rPr>
              <a:t>제133조(특허의 무효심판)</a:t>
            </a:r>
            <a:r>
              <a:rPr kumimoji="0" lang="ko-KR" altLang="ko-KR" sz="1000" b="0" i="0" u="none" strike="noStrike" cap="none" normalizeH="0" baseline="0" dirty="0">
                <a:ln>
                  <a:noFill/>
                </a:ln>
                <a:solidFill>
                  <a:srgbClr val="444444"/>
                </a:solidFill>
                <a:effectLst/>
                <a:latin typeface="+mn-ea"/>
              </a:rPr>
              <a:t> ① 이해관계인(제2호 본문의 경우에는 특허를 받을 수 있는 권리를 가진 자만 해당한다) 또는 심사관은 특허가 다음 각 호의 어느 하나에 해당하는 경우에는 무효심판을 청구할 수 있다. 이 경우 청구범위의 청구항이 둘 이상인 경우에는 청구항마다 청구할 수 있다.  </a:t>
            </a:r>
            <a:endParaRPr kumimoji="0" lang="ko-KR" altLang="ko-KR" sz="10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1. 제25조, 제29조, 제32조, 제36조제1항부터 제3항까지, 제42조제3항제1호 또는 같은 조 제4항을 위반한 경우</a:t>
            </a:r>
            <a:endParaRPr kumimoji="0" lang="ko-KR" altLang="ko-KR" sz="10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2. 제33조제1항 본문에 따른 특허를 받을 수 있는 권리를 가지지 아니하거나 제44조를 위반한 경우. 다만, 제99조의2제2항에 따라 </a:t>
            </a:r>
            <a:r>
              <a:rPr kumimoji="0" lang="ko-KR" altLang="ko-KR" sz="1000" b="0" i="0" u="none" strike="noStrike" cap="none" normalizeH="0" baseline="0" dirty="0" err="1">
                <a:ln>
                  <a:noFill/>
                </a:ln>
                <a:solidFill>
                  <a:srgbClr val="444444"/>
                </a:solidFill>
                <a:effectLst/>
                <a:latin typeface="+mn-ea"/>
              </a:rPr>
              <a:t>이전등록된</a:t>
            </a:r>
            <a:r>
              <a:rPr kumimoji="0" lang="ko-KR" altLang="ko-KR" sz="1000" b="0" i="0" u="none" strike="noStrike" cap="none" normalizeH="0" baseline="0" dirty="0">
                <a:ln>
                  <a:noFill/>
                </a:ln>
                <a:solidFill>
                  <a:srgbClr val="444444"/>
                </a:solidFill>
                <a:effectLst/>
                <a:latin typeface="+mn-ea"/>
              </a:rPr>
              <a:t> 경우에는 제외한다.</a:t>
            </a:r>
            <a:r>
              <a:rPr kumimoji="0" lang="ko-KR" altLang="ko-KR" sz="1000" b="1" i="0" u="none" strike="noStrike" cap="none" normalizeH="0" baseline="0" dirty="0">
                <a:ln>
                  <a:noFill/>
                </a:ln>
                <a:solidFill>
                  <a:srgbClr val="151594"/>
                </a:solidFill>
                <a:effectLst/>
                <a:latin typeface="+mn-ea"/>
              </a:rPr>
              <a:t> </a:t>
            </a:r>
            <a:endParaRPr kumimoji="0" lang="en-US" altLang="ko-KR" sz="1000" b="1" i="0" u="none" strike="noStrike" cap="none" normalizeH="0" baseline="0" dirty="0">
              <a:ln>
                <a:noFill/>
              </a:ln>
              <a:solidFill>
                <a:srgbClr val="151594"/>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ko-KR" sz="1000" b="1" i="0" u="none" strike="noStrike" cap="none" normalizeH="0" baseline="0" dirty="0">
              <a:ln>
                <a:noFill/>
              </a:ln>
              <a:solidFill>
                <a:srgbClr val="151594"/>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1" i="0" u="none" strike="noStrike" cap="none" normalizeH="0" baseline="0" dirty="0">
                <a:ln>
                  <a:noFill/>
                </a:ln>
                <a:solidFill>
                  <a:srgbClr val="151594"/>
                </a:solidFill>
                <a:effectLst/>
                <a:latin typeface="+mn-ea"/>
              </a:rPr>
              <a:t>제103조의2(특허권의 이전청구에 따른 이전등록 전의 실시에 의한 통상실시권)</a:t>
            </a:r>
            <a:r>
              <a:rPr kumimoji="0" lang="ko-KR" altLang="ko-KR" sz="1000" b="0" i="0" u="none" strike="noStrike" cap="none" normalizeH="0" baseline="0" dirty="0">
                <a:ln>
                  <a:noFill/>
                </a:ln>
                <a:solidFill>
                  <a:srgbClr val="444444"/>
                </a:solidFill>
                <a:effectLst/>
                <a:latin typeface="+mn-ea"/>
              </a:rPr>
              <a:t> ① 다음 각 호의 어느 하나에 해당하는 자가 제99조의2제2항에 따른 특허권의 이전등록이 있기 전에 해당 특허가 제133조제1항제2호 본문에 해당하는 것을 알지 못하고 국내에서 해당 발명의 실시사업을 하거나 이를 준비하고 있는 경우에는 그 실시하거나 준비를 하고 있는 발명 및 사업목적의 범위에서 그 특허권에 대하여 통상실시권을 가진다.</a:t>
            </a:r>
            <a:endParaRPr kumimoji="0" lang="ko-KR" altLang="ko-KR" sz="9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1. </a:t>
            </a:r>
            <a:r>
              <a:rPr kumimoji="0" lang="ko-KR" altLang="ko-KR" sz="1000" b="0" i="0" u="none" strike="noStrike" cap="none" normalizeH="0" baseline="0" dirty="0" err="1">
                <a:ln>
                  <a:noFill/>
                </a:ln>
                <a:solidFill>
                  <a:srgbClr val="444444"/>
                </a:solidFill>
                <a:effectLst/>
                <a:latin typeface="+mn-ea"/>
              </a:rPr>
              <a:t>이전등록된</a:t>
            </a:r>
            <a:r>
              <a:rPr kumimoji="0" lang="ko-KR" altLang="ko-KR" sz="1000" b="0" i="0" u="none" strike="noStrike" cap="none" normalizeH="0" baseline="0" dirty="0">
                <a:ln>
                  <a:noFill/>
                </a:ln>
                <a:solidFill>
                  <a:srgbClr val="444444"/>
                </a:solidFill>
                <a:effectLst/>
                <a:latin typeface="+mn-ea"/>
              </a:rPr>
              <a:t> 특허의 원(原)특허권자</a:t>
            </a:r>
            <a:endParaRPr kumimoji="0" lang="ko-KR" altLang="ko-KR" sz="9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2. </a:t>
            </a:r>
            <a:r>
              <a:rPr kumimoji="0" lang="ko-KR" altLang="ko-KR" sz="1000" b="0" i="0" u="none" strike="noStrike" cap="none" normalizeH="0" baseline="0" dirty="0" err="1">
                <a:ln>
                  <a:noFill/>
                </a:ln>
                <a:solidFill>
                  <a:srgbClr val="444444"/>
                </a:solidFill>
                <a:effectLst/>
                <a:latin typeface="+mn-ea"/>
              </a:rPr>
              <a:t>이전등록된</a:t>
            </a:r>
            <a:r>
              <a:rPr kumimoji="0" lang="ko-KR" altLang="ko-KR" sz="1000" b="0" i="0" u="none" strike="noStrike" cap="none" normalizeH="0" baseline="0" dirty="0">
                <a:ln>
                  <a:noFill/>
                </a:ln>
                <a:solidFill>
                  <a:srgbClr val="444444"/>
                </a:solidFill>
                <a:effectLst/>
                <a:latin typeface="+mn-ea"/>
              </a:rPr>
              <a:t> 특허권에 대하여 이전등록 당시에 이미 전용실시권이나 통상실시권 또는 그 전용실시권에 대한 통상실시권을 취득하고 등록을 받은 자. 다만, 제118조제2항에 따른 통상실시권을 취득한 자는 등록을 필요로 하지 아니한다.</a:t>
            </a:r>
            <a:endParaRPr kumimoji="0" lang="ko-KR" altLang="ko-KR" sz="900" b="0" i="0" u="none" strike="noStrike" cap="none" normalizeH="0" baseline="0" dirty="0">
              <a:ln>
                <a:noFill/>
              </a:ln>
              <a:solidFill>
                <a:schemeClr val="tx1"/>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000" b="0" i="0" u="none" strike="noStrike" cap="none" normalizeH="0" baseline="0" dirty="0">
                <a:ln>
                  <a:noFill/>
                </a:ln>
                <a:solidFill>
                  <a:srgbClr val="444444"/>
                </a:solidFill>
                <a:effectLst/>
                <a:latin typeface="+mn-ea"/>
              </a:rPr>
              <a:t>② 제1항에 따라 통상실시권을 가진 자는 </a:t>
            </a:r>
            <a:r>
              <a:rPr kumimoji="0" lang="ko-KR" altLang="ko-KR" sz="1000" b="0" i="0" u="none" strike="noStrike" cap="none" normalizeH="0" baseline="0" dirty="0" err="1">
                <a:ln>
                  <a:noFill/>
                </a:ln>
                <a:solidFill>
                  <a:srgbClr val="444444"/>
                </a:solidFill>
                <a:effectLst/>
                <a:latin typeface="+mn-ea"/>
              </a:rPr>
              <a:t>이전등록된</a:t>
            </a:r>
            <a:r>
              <a:rPr kumimoji="0" lang="ko-KR" altLang="ko-KR" sz="1000" b="0" i="0" u="none" strike="noStrike" cap="none" normalizeH="0" baseline="0" dirty="0">
                <a:ln>
                  <a:noFill/>
                </a:ln>
                <a:solidFill>
                  <a:srgbClr val="444444"/>
                </a:solidFill>
                <a:effectLst/>
                <a:latin typeface="+mn-ea"/>
              </a:rPr>
              <a:t> 특허권자에게 상당한 대가를 지급하여야 한다.</a:t>
            </a:r>
            <a:endParaRPr kumimoji="0" lang="ko-KR" altLang="ko-KR" sz="2000" b="0" i="0" u="none" strike="noStrike" cap="none" normalizeH="0" baseline="0" dirty="0">
              <a:ln>
                <a:noFill/>
              </a:ln>
              <a:solidFill>
                <a:schemeClr val="tx1"/>
              </a:solidFill>
              <a:effectLst/>
              <a:latin typeface="+mn-ea"/>
            </a:endParaRPr>
          </a:p>
        </p:txBody>
      </p:sp>
      <p:cxnSp>
        <p:nvCxnSpPr>
          <p:cNvPr id="16" name="직선 연결선 15">
            <a:extLst>
              <a:ext uri="{FF2B5EF4-FFF2-40B4-BE49-F238E27FC236}">
                <a16:creationId xmlns:a16="http://schemas.microsoft.com/office/drawing/2014/main" id="{E9FB7344-599A-4358-B6DE-E91899154E6A}"/>
              </a:ext>
            </a:extLst>
          </p:cNvPr>
          <p:cNvCxnSpPr>
            <a:cxnSpLocks/>
          </p:cNvCxnSpPr>
          <p:nvPr/>
        </p:nvCxnSpPr>
        <p:spPr>
          <a:xfrm>
            <a:off x="2708636" y="1943100"/>
            <a:ext cx="3311164"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516F1389-A29F-42E8-ACD6-8CBCB49C6262}"/>
              </a:ext>
            </a:extLst>
          </p:cNvPr>
          <p:cNvCxnSpPr>
            <a:cxnSpLocks/>
          </p:cNvCxnSpPr>
          <p:nvPr/>
        </p:nvCxnSpPr>
        <p:spPr>
          <a:xfrm>
            <a:off x="163556" y="2072640"/>
            <a:ext cx="4781824"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직선 연결선 60">
            <a:extLst>
              <a:ext uri="{FF2B5EF4-FFF2-40B4-BE49-F238E27FC236}">
                <a16:creationId xmlns:a16="http://schemas.microsoft.com/office/drawing/2014/main" id="{E444FE9F-8BFF-44BC-A332-170C0B863E44}"/>
              </a:ext>
            </a:extLst>
          </p:cNvPr>
          <p:cNvCxnSpPr>
            <a:cxnSpLocks/>
          </p:cNvCxnSpPr>
          <p:nvPr/>
        </p:nvCxnSpPr>
        <p:spPr>
          <a:xfrm>
            <a:off x="7978140" y="1181100"/>
            <a:ext cx="2598420"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4EEB8EE3-C8E1-47D1-A800-179ED5CD90B6}"/>
              </a:ext>
            </a:extLst>
          </p:cNvPr>
          <p:cNvCxnSpPr>
            <a:cxnSpLocks/>
          </p:cNvCxnSpPr>
          <p:nvPr/>
        </p:nvCxnSpPr>
        <p:spPr>
          <a:xfrm>
            <a:off x="163556" y="3467100"/>
            <a:ext cx="5101864"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6F136491-8292-4A58-89A6-39E4CB3B5DF1}"/>
              </a:ext>
            </a:extLst>
          </p:cNvPr>
          <p:cNvCxnSpPr>
            <a:cxnSpLocks/>
          </p:cNvCxnSpPr>
          <p:nvPr/>
        </p:nvCxnSpPr>
        <p:spPr>
          <a:xfrm>
            <a:off x="11315700" y="3467100"/>
            <a:ext cx="297180"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직선 연결선 68">
            <a:extLst>
              <a:ext uri="{FF2B5EF4-FFF2-40B4-BE49-F238E27FC236}">
                <a16:creationId xmlns:a16="http://schemas.microsoft.com/office/drawing/2014/main" id="{5EDEC14D-2474-4631-9B4F-13542C64009B}"/>
              </a:ext>
            </a:extLst>
          </p:cNvPr>
          <p:cNvCxnSpPr>
            <a:cxnSpLocks/>
          </p:cNvCxnSpPr>
          <p:nvPr/>
        </p:nvCxnSpPr>
        <p:spPr>
          <a:xfrm>
            <a:off x="6210300" y="3627120"/>
            <a:ext cx="2880360"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37B7778C-44C3-4A0E-A402-0FB8254B9A9C}"/>
              </a:ext>
            </a:extLst>
          </p:cNvPr>
          <p:cNvCxnSpPr>
            <a:cxnSpLocks/>
          </p:cNvCxnSpPr>
          <p:nvPr/>
        </p:nvCxnSpPr>
        <p:spPr>
          <a:xfrm>
            <a:off x="157704" y="5128260"/>
            <a:ext cx="5686836"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직선 연결선 71">
            <a:extLst>
              <a:ext uri="{FF2B5EF4-FFF2-40B4-BE49-F238E27FC236}">
                <a16:creationId xmlns:a16="http://schemas.microsoft.com/office/drawing/2014/main" id="{D0EDF1B5-5163-4399-800B-712034A2A90A}"/>
              </a:ext>
            </a:extLst>
          </p:cNvPr>
          <p:cNvCxnSpPr>
            <a:cxnSpLocks/>
          </p:cNvCxnSpPr>
          <p:nvPr/>
        </p:nvCxnSpPr>
        <p:spPr>
          <a:xfrm>
            <a:off x="10157460" y="4061460"/>
            <a:ext cx="1828800"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직선 연결선 73">
            <a:extLst>
              <a:ext uri="{FF2B5EF4-FFF2-40B4-BE49-F238E27FC236}">
                <a16:creationId xmlns:a16="http://schemas.microsoft.com/office/drawing/2014/main" id="{8AED5094-FE21-41DC-A536-E58E3697E445}"/>
              </a:ext>
            </a:extLst>
          </p:cNvPr>
          <p:cNvCxnSpPr>
            <a:cxnSpLocks/>
          </p:cNvCxnSpPr>
          <p:nvPr/>
        </p:nvCxnSpPr>
        <p:spPr>
          <a:xfrm>
            <a:off x="157704" y="5288280"/>
            <a:ext cx="5686836"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직선 연결선 74">
            <a:extLst>
              <a:ext uri="{FF2B5EF4-FFF2-40B4-BE49-F238E27FC236}">
                <a16:creationId xmlns:a16="http://schemas.microsoft.com/office/drawing/2014/main" id="{FFF3D265-9DB5-48E4-BD7B-8F08FCDBD027}"/>
              </a:ext>
            </a:extLst>
          </p:cNvPr>
          <p:cNvCxnSpPr>
            <a:cxnSpLocks/>
          </p:cNvCxnSpPr>
          <p:nvPr/>
        </p:nvCxnSpPr>
        <p:spPr>
          <a:xfrm>
            <a:off x="157704" y="5440680"/>
            <a:ext cx="1450116"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직선 연결선 93">
            <a:extLst>
              <a:ext uri="{FF2B5EF4-FFF2-40B4-BE49-F238E27FC236}">
                <a16:creationId xmlns:a16="http://schemas.microsoft.com/office/drawing/2014/main" id="{48A68499-5DFB-4C15-9CFF-ABA5DD52AE43}"/>
              </a:ext>
            </a:extLst>
          </p:cNvPr>
          <p:cNvCxnSpPr>
            <a:cxnSpLocks/>
          </p:cNvCxnSpPr>
          <p:nvPr/>
        </p:nvCxnSpPr>
        <p:spPr>
          <a:xfrm>
            <a:off x="6210300" y="4229100"/>
            <a:ext cx="251460"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직선 연결선 49">
            <a:extLst>
              <a:ext uri="{FF2B5EF4-FFF2-40B4-BE49-F238E27FC236}">
                <a16:creationId xmlns:a16="http://schemas.microsoft.com/office/drawing/2014/main" id="{1FF0B9C5-379F-4580-BCEF-DA264D6B856B}"/>
              </a:ext>
            </a:extLst>
          </p:cNvPr>
          <p:cNvCxnSpPr/>
          <p:nvPr/>
        </p:nvCxnSpPr>
        <p:spPr>
          <a:xfrm>
            <a:off x="6096000" y="861060"/>
            <a:ext cx="0" cy="529563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8541491D-7FE1-4BD5-9E8C-4F8073063CE9}"/>
              </a:ext>
            </a:extLst>
          </p:cNvPr>
          <p:cNvCxnSpPr>
            <a:cxnSpLocks/>
          </p:cNvCxnSpPr>
          <p:nvPr/>
        </p:nvCxnSpPr>
        <p:spPr>
          <a:xfrm>
            <a:off x="2959100" y="1181100"/>
            <a:ext cx="3060700"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직선 연결선 20">
            <a:extLst>
              <a:ext uri="{FF2B5EF4-FFF2-40B4-BE49-F238E27FC236}">
                <a16:creationId xmlns:a16="http://schemas.microsoft.com/office/drawing/2014/main" id="{D4F62D18-3FD7-4DEE-8C78-DD4A8E882EC8}"/>
              </a:ext>
            </a:extLst>
          </p:cNvPr>
          <p:cNvCxnSpPr>
            <a:cxnSpLocks/>
          </p:cNvCxnSpPr>
          <p:nvPr/>
        </p:nvCxnSpPr>
        <p:spPr>
          <a:xfrm>
            <a:off x="157704" y="1328882"/>
            <a:ext cx="5862096"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직선 연결선 22">
            <a:extLst>
              <a:ext uri="{FF2B5EF4-FFF2-40B4-BE49-F238E27FC236}">
                <a16:creationId xmlns:a16="http://schemas.microsoft.com/office/drawing/2014/main" id="{5B36709F-E137-48E7-9E84-62FF0F813970}"/>
              </a:ext>
            </a:extLst>
          </p:cNvPr>
          <p:cNvCxnSpPr>
            <a:cxnSpLocks/>
          </p:cNvCxnSpPr>
          <p:nvPr/>
        </p:nvCxnSpPr>
        <p:spPr>
          <a:xfrm>
            <a:off x="157704" y="1485900"/>
            <a:ext cx="3712332"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794F88A2-B006-A62E-C90E-35970E7E6541}"/>
              </a:ext>
            </a:extLst>
          </p:cNvPr>
          <p:cNvSpPr txBox="1"/>
          <p:nvPr/>
        </p:nvSpPr>
        <p:spPr>
          <a:xfrm>
            <a:off x="6336030" y="5541192"/>
            <a:ext cx="780983" cy="338554"/>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r>
              <a:rPr lang="ko-KR" altLang="en-US" sz="1600" dirty="0"/>
              <a:t>제</a:t>
            </a:r>
            <a:r>
              <a:rPr lang="en-US" altLang="ko-KR" sz="1600" dirty="0"/>
              <a:t>34</a:t>
            </a:r>
            <a:r>
              <a:rPr lang="ko-KR" altLang="en-US" sz="1600" dirty="0"/>
              <a:t>조</a:t>
            </a:r>
          </a:p>
        </p:txBody>
      </p:sp>
      <p:sp>
        <p:nvSpPr>
          <p:cNvPr id="5" name="TextBox 4">
            <a:extLst>
              <a:ext uri="{FF2B5EF4-FFF2-40B4-BE49-F238E27FC236}">
                <a16:creationId xmlns:a16="http://schemas.microsoft.com/office/drawing/2014/main" id="{AD03B6C3-CA9F-8BBE-EEBD-DCBED9929145}"/>
              </a:ext>
            </a:extLst>
          </p:cNvPr>
          <p:cNvSpPr txBox="1"/>
          <p:nvPr/>
        </p:nvSpPr>
        <p:spPr>
          <a:xfrm>
            <a:off x="7232499" y="5541192"/>
            <a:ext cx="780983" cy="338554"/>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r>
              <a:rPr lang="ko-KR" altLang="en-US" sz="1600" dirty="0"/>
              <a:t>제</a:t>
            </a:r>
            <a:r>
              <a:rPr lang="en-US" altLang="ko-KR" sz="1600" dirty="0"/>
              <a:t>35</a:t>
            </a:r>
            <a:r>
              <a:rPr lang="ko-KR" altLang="en-US" sz="1600" dirty="0"/>
              <a:t>조</a:t>
            </a:r>
          </a:p>
        </p:txBody>
      </p:sp>
      <p:sp>
        <p:nvSpPr>
          <p:cNvPr id="6" name="TextBox 5">
            <a:extLst>
              <a:ext uri="{FF2B5EF4-FFF2-40B4-BE49-F238E27FC236}">
                <a16:creationId xmlns:a16="http://schemas.microsoft.com/office/drawing/2014/main" id="{2C83FD20-05EF-8A85-AF8C-7EE69554BFA0}"/>
              </a:ext>
            </a:extLst>
          </p:cNvPr>
          <p:cNvSpPr txBox="1"/>
          <p:nvPr/>
        </p:nvSpPr>
        <p:spPr>
          <a:xfrm>
            <a:off x="8433772" y="5541192"/>
            <a:ext cx="2228495" cy="338554"/>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r>
              <a:rPr lang="ko-KR" altLang="en-US" sz="1600" dirty="0"/>
              <a:t>제</a:t>
            </a:r>
            <a:r>
              <a:rPr lang="en-US" altLang="ko-KR" sz="1600" dirty="0"/>
              <a:t>133</a:t>
            </a:r>
            <a:r>
              <a:rPr lang="ko-KR" altLang="en-US" sz="1600" dirty="0"/>
              <a:t>조제</a:t>
            </a:r>
            <a:r>
              <a:rPr lang="en-US" altLang="ko-KR" sz="1600" dirty="0"/>
              <a:t>1</a:t>
            </a:r>
            <a:r>
              <a:rPr lang="ko-KR" altLang="en-US" sz="1600" dirty="0" err="1"/>
              <a:t>항제</a:t>
            </a:r>
            <a:r>
              <a:rPr lang="en-US" altLang="ko-KR" sz="1600" dirty="0"/>
              <a:t>2</a:t>
            </a:r>
            <a:r>
              <a:rPr lang="ko-KR" altLang="en-US" sz="1600" dirty="0" err="1"/>
              <a:t>호본문</a:t>
            </a:r>
            <a:endParaRPr lang="ko-KR" altLang="en-US" sz="1600" dirty="0"/>
          </a:p>
        </p:txBody>
      </p:sp>
      <p:sp>
        <p:nvSpPr>
          <p:cNvPr id="8" name="TextBox 7">
            <a:extLst>
              <a:ext uri="{FF2B5EF4-FFF2-40B4-BE49-F238E27FC236}">
                <a16:creationId xmlns:a16="http://schemas.microsoft.com/office/drawing/2014/main" id="{6BFEBABB-EF8A-948F-07FB-89E9C9ECB3DB}"/>
              </a:ext>
            </a:extLst>
          </p:cNvPr>
          <p:cNvSpPr txBox="1"/>
          <p:nvPr/>
        </p:nvSpPr>
        <p:spPr>
          <a:xfrm>
            <a:off x="10838915" y="5541192"/>
            <a:ext cx="894797" cy="338554"/>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r>
              <a:rPr lang="ko-KR" altLang="en-US" sz="1600" dirty="0"/>
              <a:t>제</a:t>
            </a:r>
            <a:r>
              <a:rPr lang="en-US" altLang="ko-KR" sz="1600" dirty="0"/>
              <a:t>104</a:t>
            </a:r>
            <a:r>
              <a:rPr lang="ko-KR" altLang="en-US" sz="1600" dirty="0"/>
              <a:t>조</a:t>
            </a:r>
          </a:p>
        </p:txBody>
      </p:sp>
      <p:sp>
        <p:nvSpPr>
          <p:cNvPr id="9" name="TextBox 8">
            <a:extLst>
              <a:ext uri="{FF2B5EF4-FFF2-40B4-BE49-F238E27FC236}">
                <a16:creationId xmlns:a16="http://schemas.microsoft.com/office/drawing/2014/main" id="{1342F941-5ABB-975E-149E-2145408222D5}"/>
              </a:ext>
            </a:extLst>
          </p:cNvPr>
          <p:cNvSpPr txBox="1"/>
          <p:nvPr/>
        </p:nvSpPr>
        <p:spPr>
          <a:xfrm>
            <a:off x="6336030" y="6133358"/>
            <a:ext cx="553357" cy="338554"/>
          </a:xfrm>
          <a:prstGeom prst="rect">
            <a:avLst/>
          </a:prstGeom>
          <a:solidFill>
            <a:schemeClr val="accent2">
              <a:lumMod val="20000"/>
              <a:lumOff val="80000"/>
            </a:schemeClr>
          </a:solidFill>
          <a:ln>
            <a:solidFill>
              <a:schemeClr val="bg1">
                <a:lumMod val="50000"/>
              </a:schemeClr>
            </a:solidFill>
          </a:ln>
        </p:spPr>
        <p:txBody>
          <a:bodyPr wrap="none" rtlCol="0">
            <a:spAutoFit/>
          </a:bodyPr>
          <a:lstStyle/>
          <a:p>
            <a:r>
              <a:rPr lang="ko-KR" altLang="en-US" sz="1600" dirty="0"/>
              <a:t>해석</a:t>
            </a:r>
          </a:p>
        </p:txBody>
      </p:sp>
      <p:sp>
        <p:nvSpPr>
          <p:cNvPr id="10" name="TextBox 9">
            <a:extLst>
              <a:ext uri="{FF2B5EF4-FFF2-40B4-BE49-F238E27FC236}">
                <a16:creationId xmlns:a16="http://schemas.microsoft.com/office/drawing/2014/main" id="{DA478484-DFB7-E4E0-7B34-451A4BF4E845}"/>
              </a:ext>
            </a:extLst>
          </p:cNvPr>
          <p:cNvSpPr txBox="1"/>
          <p:nvPr/>
        </p:nvSpPr>
        <p:spPr>
          <a:xfrm>
            <a:off x="7232499" y="6133358"/>
            <a:ext cx="1079142" cy="338554"/>
          </a:xfrm>
          <a:prstGeom prst="rect">
            <a:avLst/>
          </a:prstGeom>
          <a:solidFill>
            <a:schemeClr val="accent2">
              <a:lumMod val="20000"/>
              <a:lumOff val="80000"/>
            </a:schemeClr>
          </a:solidFill>
          <a:ln>
            <a:solidFill>
              <a:schemeClr val="bg1">
                <a:lumMod val="50000"/>
              </a:schemeClr>
            </a:solidFill>
          </a:ln>
        </p:spPr>
        <p:txBody>
          <a:bodyPr wrap="none" rtlCol="0">
            <a:spAutoFit/>
          </a:bodyPr>
          <a:lstStyle/>
          <a:p>
            <a:r>
              <a:rPr lang="ko-KR" altLang="en-US" sz="1600" dirty="0"/>
              <a:t>제</a:t>
            </a:r>
            <a:r>
              <a:rPr lang="en-US" altLang="ko-KR" sz="1600" dirty="0"/>
              <a:t>99</a:t>
            </a:r>
            <a:r>
              <a:rPr lang="ko-KR" altLang="en-US" sz="1600" dirty="0"/>
              <a:t>조의</a:t>
            </a:r>
            <a:r>
              <a:rPr lang="en-US" altLang="ko-KR" sz="1600" dirty="0"/>
              <a:t>2</a:t>
            </a:r>
            <a:endParaRPr lang="ko-KR" altLang="en-US" sz="1600" dirty="0"/>
          </a:p>
        </p:txBody>
      </p:sp>
      <p:sp>
        <p:nvSpPr>
          <p:cNvPr id="11" name="TextBox 10">
            <a:extLst>
              <a:ext uri="{FF2B5EF4-FFF2-40B4-BE49-F238E27FC236}">
                <a16:creationId xmlns:a16="http://schemas.microsoft.com/office/drawing/2014/main" id="{BFE4E961-6CC7-1749-CD5D-CA6E68257877}"/>
              </a:ext>
            </a:extLst>
          </p:cNvPr>
          <p:cNvSpPr txBox="1"/>
          <p:nvPr/>
        </p:nvSpPr>
        <p:spPr>
          <a:xfrm>
            <a:off x="8433772" y="6133358"/>
            <a:ext cx="2228495" cy="338554"/>
          </a:xfrm>
          <a:prstGeom prst="rect">
            <a:avLst/>
          </a:prstGeom>
          <a:solidFill>
            <a:schemeClr val="accent2">
              <a:lumMod val="20000"/>
              <a:lumOff val="80000"/>
            </a:schemeClr>
          </a:solidFill>
          <a:ln>
            <a:solidFill>
              <a:schemeClr val="bg1">
                <a:lumMod val="50000"/>
              </a:schemeClr>
            </a:solidFill>
          </a:ln>
        </p:spPr>
        <p:txBody>
          <a:bodyPr wrap="none" rtlCol="0">
            <a:spAutoFit/>
          </a:bodyPr>
          <a:lstStyle/>
          <a:p>
            <a:r>
              <a:rPr lang="ko-KR" altLang="en-US" sz="1600" dirty="0"/>
              <a:t>제</a:t>
            </a:r>
            <a:r>
              <a:rPr lang="en-US" altLang="ko-KR" sz="1600" dirty="0"/>
              <a:t>133</a:t>
            </a:r>
            <a:r>
              <a:rPr lang="ko-KR" altLang="en-US" sz="1600" dirty="0"/>
              <a:t>조제</a:t>
            </a:r>
            <a:r>
              <a:rPr lang="en-US" altLang="ko-KR" sz="1600" dirty="0"/>
              <a:t>1</a:t>
            </a:r>
            <a:r>
              <a:rPr lang="ko-KR" altLang="en-US" sz="1600" dirty="0" err="1"/>
              <a:t>항제</a:t>
            </a:r>
            <a:r>
              <a:rPr lang="en-US" altLang="ko-KR" sz="1600" dirty="0"/>
              <a:t>2</a:t>
            </a:r>
            <a:r>
              <a:rPr lang="ko-KR" altLang="en-US" sz="1600" dirty="0" err="1"/>
              <a:t>호단서</a:t>
            </a:r>
            <a:endParaRPr lang="ko-KR" altLang="en-US" sz="1600" dirty="0"/>
          </a:p>
        </p:txBody>
      </p:sp>
      <p:sp>
        <p:nvSpPr>
          <p:cNvPr id="12" name="TextBox 11">
            <a:extLst>
              <a:ext uri="{FF2B5EF4-FFF2-40B4-BE49-F238E27FC236}">
                <a16:creationId xmlns:a16="http://schemas.microsoft.com/office/drawing/2014/main" id="{1B492A8C-7974-3080-3378-B1EDB55FFF26}"/>
              </a:ext>
            </a:extLst>
          </p:cNvPr>
          <p:cNvSpPr txBox="1"/>
          <p:nvPr/>
        </p:nvSpPr>
        <p:spPr>
          <a:xfrm>
            <a:off x="10838915" y="6133358"/>
            <a:ext cx="1192955" cy="338554"/>
          </a:xfrm>
          <a:prstGeom prst="rect">
            <a:avLst/>
          </a:prstGeom>
          <a:solidFill>
            <a:schemeClr val="accent2">
              <a:lumMod val="20000"/>
              <a:lumOff val="80000"/>
            </a:schemeClr>
          </a:solidFill>
          <a:ln>
            <a:solidFill>
              <a:schemeClr val="bg1">
                <a:lumMod val="50000"/>
              </a:schemeClr>
            </a:solidFill>
          </a:ln>
        </p:spPr>
        <p:txBody>
          <a:bodyPr wrap="none" rtlCol="0">
            <a:spAutoFit/>
          </a:bodyPr>
          <a:lstStyle/>
          <a:p>
            <a:r>
              <a:rPr lang="ko-KR" altLang="en-US" sz="1600" dirty="0"/>
              <a:t>제</a:t>
            </a:r>
            <a:r>
              <a:rPr lang="en-US" altLang="ko-KR" sz="1600" dirty="0"/>
              <a:t>103</a:t>
            </a:r>
            <a:r>
              <a:rPr lang="ko-KR" altLang="en-US" sz="1600" dirty="0"/>
              <a:t>조의</a:t>
            </a:r>
            <a:r>
              <a:rPr lang="en-US" altLang="ko-KR" sz="1600" dirty="0"/>
              <a:t>2</a:t>
            </a:r>
            <a:endParaRPr lang="ko-KR" altLang="en-US" sz="1600" dirty="0"/>
          </a:p>
        </p:txBody>
      </p:sp>
      <p:cxnSp>
        <p:nvCxnSpPr>
          <p:cNvPr id="14" name="직선 화살표 연결선 13">
            <a:extLst>
              <a:ext uri="{FF2B5EF4-FFF2-40B4-BE49-F238E27FC236}">
                <a16:creationId xmlns:a16="http://schemas.microsoft.com/office/drawing/2014/main" id="{CB2FBA96-CD73-A592-3E01-3C80B98119EB}"/>
              </a:ext>
            </a:extLst>
          </p:cNvPr>
          <p:cNvCxnSpPr>
            <a:stCxn id="5" idx="3"/>
            <a:endCxn id="6" idx="1"/>
          </p:cNvCxnSpPr>
          <p:nvPr/>
        </p:nvCxnSpPr>
        <p:spPr>
          <a:xfrm>
            <a:off x="8013482" y="5710469"/>
            <a:ext cx="420290"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 name="직선 화살표 연결선 16">
            <a:extLst>
              <a:ext uri="{FF2B5EF4-FFF2-40B4-BE49-F238E27FC236}">
                <a16:creationId xmlns:a16="http://schemas.microsoft.com/office/drawing/2014/main" id="{54F3C0A6-6CFD-6AA8-2B1F-7968C1304568}"/>
              </a:ext>
            </a:extLst>
          </p:cNvPr>
          <p:cNvCxnSpPr>
            <a:stCxn id="6" idx="3"/>
            <a:endCxn id="8" idx="1"/>
          </p:cNvCxnSpPr>
          <p:nvPr/>
        </p:nvCxnSpPr>
        <p:spPr>
          <a:xfrm>
            <a:off x="10662267" y="5710469"/>
            <a:ext cx="176648"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 name="연결선: 꺾임 19">
            <a:extLst>
              <a:ext uri="{FF2B5EF4-FFF2-40B4-BE49-F238E27FC236}">
                <a16:creationId xmlns:a16="http://schemas.microsoft.com/office/drawing/2014/main" id="{8EFD9444-12FC-6013-8C00-CAED314E453B}"/>
              </a:ext>
            </a:extLst>
          </p:cNvPr>
          <p:cNvCxnSpPr>
            <a:stCxn id="10" idx="3"/>
            <a:endCxn id="11" idx="1"/>
          </p:cNvCxnSpPr>
          <p:nvPr/>
        </p:nvCxnSpPr>
        <p:spPr>
          <a:xfrm>
            <a:off x="8311641" y="6302635"/>
            <a:ext cx="122131" cy="12700"/>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4" name="직선 화살표 연결선 23">
            <a:extLst>
              <a:ext uri="{FF2B5EF4-FFF2-40B4-BE49-F238E27FC236}">
                <a16:creationId xmlns:a16="http://schemas.microsoft.com/office/drawing/2014/main" id="{F8EF83A3-9EFD-3CF0-8E20-48E2E7135E0A}"/>
              </a:ext>
            </a:extLst>
          </p:cNvPr>
          <p:cNvCxnSpPr>
            <a:stCxn id="11" idx="3"/>
            <a:endCxn id="12" idx="1"/>
          </p:cNvCxnSpPr>
          <p:nvPr/>
        </p:nvCxnSpPr>
        <p:spPr>
          <a:xfrm>
            <a:off x="10662267" y="6302635"/>
            <a:ext cx="176648"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8" name="연결선: 꺾임 27">
            <a:extLst>
              <a:ext uri="{FF2B5EF4-FFF2-40B4-BE49-F238E27FC236}">
                <a16:creationId xmlns:a16="http://schemas.microsoft.com/office/drawing/2014/main" id="{2170529B-49ED-AB8D-E740-99B2D51C3723}"/>
              </a:ext>
            </a:extLst>
          </p:cNvPr>
          <p:cNvCxnSpPr>
            <a:stCxn id="2" idx="2"/>
            <a:endCxn id="9" idx="0"/>
          </p:cNvCxnSpPr>
          <p:nvPr/>
        </p:nvCxnSpPr>
        <p:spPr>
          <a:xfrm rot="5400000">
            <a:off x="6542810" y="5949646"/>
            <a:ext cx="253612" cy="113813"/>
          </a:xfrm>
          <a:prstGeom prst="bentConnector3">
            <a:avLst/>
          </a:prstGeom>
          <a:ln>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0" name="연결선: 꺾임 29">
            <a:extLst>
              <a:ext uri="{FF2B5EF4-FFF2-40B4-BE49-F238E27FC236}">
                <a16:creationId xmlns:a16="http://schemas.microsoft.com/office/drawing/2014/main" id="{77010457-889C-E44A-F3AF-9EED04F734AC}"/>
              </a:ext>
            </a:extLst>
          </p:cNvPr>
          <p:cNvCxnSpPr>
            <a:stCxn id="5" idx="2"/>
            <a:endCxn id="10" idx="0"/>
          </p:cNvCxnSpPr>
          <p:nvPr/>
        </p:nvCxnSpPr>
        <p:spPr>
          <a:xfrm rot="16200000" flipH="1">
            <a:off x="7570724" y="5932012"/>
            <a:ext cx="253612" cy="149079"/>
          </a:xfrm>
          <a:prstGeom prst="bentConnector3">
            <a:avLst/>
          </a:prstGeom>
          <a:ln>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2" name="연결선: 꺾임 31">
            <a:extLst>
              <a:ext uri="{FF2B5EF4-FFF2-40B4-BE49-F238E27FC236}">
                <a16:creationId xmlns:a16="http://schemas.microsoft.com/office/drawing/2014/main" id="{F8FBB05E-09C2-11C4-7708-27063CEFCEBA}"/>
              </a:ext>
            </a:extLst>
          </p:cNvPr>
          <p:cNvCxnSpPr>
            <a:stCxn id="6" idx="2"/>
            <a:endCxn id="11" idx="0"/>
          </p:cNvCxnSpPr>
          <p:nvPr/>
        </p:nvCxnSpPr>
        <p:spPr>
          <a:xfrm rot="5400000">
            <a:off x="9421214" y="6006552"/>
            <a:ext cx="253612" cy="12700"/>
          </a:xfrm>
          <a:prstGeom prst="bentConnector3">
            <a:avLst/>
          </a:prstGeom>
          <a:ln>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4" name="연결선: 꺾임 33">
            <a:extLst>
              <a:ext uri="{FF2B5EF4-FFF2-40B4-BE49-F238E27FC236}">
                <a16:creationId xmlns:a16="http://schemas.microsoft.com/office/drawing/2014/main" id="{3A507392-B9F7-B79A-B9FC-9B0F225E3488}"/>
              </a:ext>
            </a:extLst>
          </p:cNvPr>
          <p:cNvCxnSpPr>
            <a:stCxn id="8" idx="2"/>
            <a:endCxn id="12" idx="0"/>
          </p:cNvCxnSpPr>
          <p:nvPr/>
        </p:nvCxnSpPr>
        <p:spPr>
          <a:xfrm rot="16200000" flipH="1">
            <a:off x="11234047" y="5932012"/>
            <a:ext cx="253612" cy="149079"/>
          </a:xfrm>
          <a:prstGeom prst="bentConnector3">
            <a:avLst/>
          </a:prstGeom>
          <a:ln>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0BF86967-5123-5526-3703-18774CB5C90C}"/>
              </a:ext>
            </a:extLst>
          </p:cNvPr>
          <p:cNvSpPr txBox="1"/>
          <p:nvPr/>
        </p:nvSpPr>
        <p:spPr>
          <a:xfrm>
            <a:off x="6150983" y="5317667"/>
            <a:ext cx="1088760"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33</a:t>
            </a:r>
            <a:r>
              <a:rPr lang="ko-KR" altLang="en-US" sz="1000" dirty="0">
                <a:solidFill>
                  <a:srgbClr val="FF0000"/>
                </a:solidFill>
              </a:rPr>
              <a:t>조제</a:t>
            </a:r>
            <a:r>
              <a:rPr lang="en-US" altLang="ko-KR" sz="1000" dirty="0">
                <a:solidFill>
                  <a:srgbClr val="FF0000"/>
                </a:solidFill>
              </a:rPr>
              <a:t>1</a:t>
            </a:r>
            <a:r>
              <a:rPr lang="ko-KR" altLang="en-US" sz="1000" dirty="0" err="1">
                <a:solidFill>
                  <a:srgbClr val="FF0000"/>
                </a:solidFill>
              </a:rPr>
              <a:t>항본문</a:t>
            </a:r>
            <a:endParaRPr lang="ko-KR" altLang="en-US" sz="1000" dirty="0">
              <a:solidFill>
                <a:srgbClr val="FF0000"/>
              </a:solidFill>
            </a:endParaRPr>
          </a:p>
        </p:txBody>
      </p:sp>
      <p:sp>
        <p:nvSpPr>
          <p:cNvPr id="15" name="TextBox 14">
            <a:extLst>
              <a:ext uri="{FF2B5EF4-FFF2-40B4-BE49-F238E27FC236}">
                <a16:creationId xmlns:a16="http://schemas.microsoft.com/office/drawing/2014/main" id="{59167B27-5DFA-1DD5-946F-8761FC23D84A}"/>
              </a:ext>
            </a:extLst>
          </p:cNvPr>
          <p:cNvSpPr txBox="1"/>
          <p:nvPr/>
        </p:nvSpPr>
        <p:spPr>
          <a:xfrm>
            <a:off x="7153150" y="5317667"/>
            <a:ext cx="1088760"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33</a:t>
            </a:r>
            <a:r>
              <a:rPr lang="ko-KR" altLang="en-US" sz="1000" dirty="0">
                <a:solidFill>
                  <a:srgbClr val="FF0000"/>
                </a:solidFill>
              </a:rPr>
              <a:t>조제</a:t>
            </a:r>
            <a:r>
              <a:rPr lang="en-US" altLang="ko-KR" sz="1000" dirty="0">
                <a:solidFill>
                  <a:srgbClr val="FF0000"/>
                </a:solidFill>
              </a:rPr>
              <a:t>1</a:t>
            </a:r>
            <a:r>
              <a:rPr lang="ko-KR" altLang="en-US" sz="1000" dirty="0" err="1">
                <a:solidFill>
                  <a:srgbClr val="FF0000"/>
                </a:solidFill>
              </a:rPr>
              <a:t>항본문</a:t>
            </a:r>
            <a:endParaRPr lang="ko-KR" altLang="en-US" sz="1000" dirty="0">
              <a:solidFill>
                <a:srgbClr val="FF0000"/>
              </a:solidFill>
            </a:endParaRPr>
          </a:p>
        </p:txBody>
      </p:sp>
      <p:sp>
        <p:nvSpPr>
          <p:cNvPr id="18" name="TextBox 17">
            <a:extLst>
              <a:ext uri="{FF2B5EF4-FFF2-40B4-BE49-F238E27FC236}">
                <a16:creationId xmlns:a16="http://schemas.microsoft.com/office/drawing/2014/main" id="{0F805434-B3B4-7E57-C8E6-2D77CCC1EBBC}"/>
              </a:ext>
            </a:extLst>
          </p:cNvPr>
          <p:cNvSpPr txBox="1"/>
          <p:nvPr/>
        </p:nvSpPr>
        <p:spPr>
          <a:xfrm>
            <a:off x="8997290" y="5147338"/>
            <a:ext cx="1088760" cy="400110"/>
          </a:xfrm>
          <a:prstGeom prst="rect">
            <a:avLst/>
          </a:prstGeom>
          <a:noFill/>
        </p:spPr>
        <p:txBody>
          <a:bodyPr wrap="none" rtlCol="0">
            <a:spAutoFit/>
          </a:bodyPr>
          <a:lstStyle/>
          <a:p>
            <a:pPr algn="ctr"/>
            <a:r>
              <a:rPr lang="ko-KR" altLang="en-US" sz="1000" dirty="0">
                <a:solidFill>
                  <a:srgbClr val="FF0000"/>
                </a:solidFill>
              </a:rPr>
              <a:t>제</a:t>
            </a:r>
            <a:r>
              <a:rPr lang="en-US" altLang="ko-KR" sz="1000" dirty="0">
                <a:solidFill>
                  <a:srgbClr val="FF0000"/>
                </a:solidFill>
              </a:rPr>
              <a:t>44</a:t>
            </a:r>
            <a:r>
              <a:rPr lang="ko-KR" altLang="en-US" sz="1000" dirty="0">
                <a:solidFill>
                  <a:srgbClr val="FF0000"/>
                </a:solidFill>
              </a:rPr>
              <a:t>조</a:t>
            </a:r>
            <a:endParaRPr lang="en-US" altLang="ko-KR" sz="1000" dirty="0">
              <a:solidFill>
                <a:srgbClr val="FF0000"/>
              </a:solidFill>
            </a:endParaRPr>
          </a:p>
          <a:p>
            <a:pPr algn="ctr"/>
            <a:r>
              <a:rPr lang="ko-KR" altLang="en-US" sz="1000" dirty="0">
                <a:solidFill>
                  <a:srgbClr val="FF0000"/>
                </a:solidFill>
              </a:rPr>
              <a:t>제</a:t>
            </a:r>
            <a:r>
              <a:rPr lang="en-US" altLang="ko-KR" sz="1000" dirty="0">
                <a:solidFill>
                  <a:srgbClr val="FF0000"/>
                </a:solidFill>
              </a:rPr>
              <a:t>33</a:t>
            </a:r>
            <a:r>
              <a:rPr lang="ko-KR" altLang="en-US" sz="1000" dirty="0">
                <a:solidFill>
                  <a:srgbClr val="FF0000"/>
                </a:solidFill>
              </a:rPr>
              <a:t>조제</a:t>
            </a:r>
            <a:r>
              <a:rPr lang="en-US" altLang="ko-KR" sz="1000" dirty="0">
                <a:solidFill>
                  <a:srgbClr val="FF0000"/>
                </a:solidFill>
              </a:rPr>
              <a:t>1</a:t>
            </a:r>
            <a:r>
              <a:rPr lang="ko-KR" altLang="en-US" sz="1000" dirty="0" err="1">
                <a:solidFill>
                  <a:srgbClr val="FF0000"/>
                </a:solidFill>
              </a:rPr>
              <a:t>항본문</a:t>
            </a:r>
            <a:endParaRPr lang="ko-KR" altLang="en-US" sz="1000" dirty="0">
              <a:solidFill>
                <a:srgbClr val="FF0000"/>
              </a:solidFill>
            </a:endParaRPr>
          </a:p>
        </p:txBody>
      </p:sp>
      <p:sp>
        <p:nvSpPr>
          <p:cNvPr id="25" name="TextBox 24">
            <a:extLst>
              <a:ext uri="{FF2B5EF4-FFF2-40B4-BE49-F238E27FC236}">
                <a16:creationId xmlns:a16="http://schemas.microsoft.com/office/drawing/2014/main" id="{017F256C-2FDB-433B-6118-643AE33765A5}"/>
              </a:ext>
            </a:extLst>
          </p:cNvPr>
          <p:cNvSpPr txBox="1"/>
          <p:nvPr/>
        </p:nvSpPr>
        <p:spPr>
          <a:xfrm>
            <a:off x="10450188" y="5147338"/>
            <a:ext cx="1672254" cy="400110"/>
          </a:xfrm>
          <a:prstGeom prst="rect">
            <a:avLst/>
          </a:prstGeom>
          <a:noFill/>
        </p:spPr>
        <p:txBody>
          <a:bodyPr wrap="none" rtlCol="0">
            <a:spAutoFit/>
          </a:bodyPr>
          <a:lstStyle/>
          <a:p>
            <a:pPr algn="ctr"/>
            <a:r>
              <a:rPr lang="ko-KR" altLang="en-US" sz="1000" dirty="0">
                <a:solidFill>
                  <a:srgbClr val="FF0000"/>
                </a:solidFill>
              </a:rPr>
              <a:t>제</a:t>
            </a:r>
            <a:r>
              <a:rPr lang="en-US" altLang="ko-KR" sz="1000" dirty="0">
                <a:solidFill>
                  <a:srgbClr val="FF0000"/>
                </a:solidFill>
              </a:rPr>
              <a:t>29</a:t>
            </a:r>
            <a:r>
              <a:rPr lang="ko-KR" altLang="en-US" sz="1000" dirty="0">
                <a:solidFill>
                  <a:srgbClr val="FF0000"/>
                </a:solidFill>
              </a:rPr>
              <a:t>조제</a:t>
            </a:r>
            <a:r>
              <a:rPr lang="en-US" altLang="ko-KR" sz="1000" dirty="0">
                <a:solidFill>
                  <a:srgbClr val="FF0000"/>
                </a:solidFill>
              </a:rPr>
              <a:t>1</a:t>
            </a:r>
            <a:r>
              <a:rPr lang="ko-KR" altLang="en-US" sz="1000" dirty="0">
                <a:solidFill>
                  <a:srgbClr val="FF0000"/>
                </a:solidFill>
              </a:rPr>
              <a:t>항</a:t>
            </a:r>
            <a:r>
              <a:rPr lang="en-US" altLang="ko-KR" sz="1000" dirty="0">
                <a:solidFill>
                  <a:srgbClr val="FF0000"/>
                </a:solidFill>
              </a:rPr>
              <a:t>, </a:t>
            </a:r>
            <a:r>
              <a:rPr lang="ko-KR" altLang="en-US" sz="1000" dirty="0">
                <a:solidFill>
                  <a:srgbClr val="FF0000"/>
                </a:solidFill>
              </a:rPr>
              <a:t>제</a:t>
            </a:r>
            <a:r>
              <a:rPr lang="en-US" altLang="ko-KR" sz="1000" dirty="0">
                <a:solidFill>
                  <a:srgbClr val="FF0000"/>
                </a:solidFill>
              </a:rPr>
              <a:t>3</a:t>
            </a:r>
            <a:r>
              <a:rPr lang="ko-KR" altLang="en-US" sz="1000" dirty="0">
                <a:solidFill>
                  <a:srgbClr val="FF0000"/>
                </a:solidFill>
              </a:rPr>
              <a:t>항</a:t>
            </a:r>
            <a:r>
              <a:rPr lang="en-US" altLang="ko-KR" sz="1000" dirty="0">
                <a:solidFill>
                  <a:srgbClr val="FF0000"/>
                </a:solidFill>
              </a:rPr>
              <a:t>, </a:t>
            </a:r>
            <a:r>
              <a:rPr lang="ko-KR" altLang="en-US" sz="1000" dirty="0">
                <a:solidFill>
                  <a:srgbClr val="FF0000"/>
                </a:solidFill>
              </a:rPr>
              <a:t>제</a:t>
            </a:r>
            <a:r>
              <a:rPr lang="en-US" altLang="ko-KR" sz="1000" dirty="0">
                <a:solidFill>
                  <a:srgbClr val="FF0000"/>
                </a:solidFill>
              </a:rPr>
              <a:t>36</a:t>
            </a:r>
            <a:r>
              <a:rPr lang="ko-KR" altLang="en-US" sz="1000" dirty="0">
                <a:solidFill>
                  <a:srgbClr val="FF0000"/>
                </a:solidFill>
              </a:rPr>
              <a:t>조</a:t>
            </a:r>
            <a:endParaRPr lang="en-US" altLang="ko-KR" sz="1000" dirty="0">
              <a:solidFill>
                <a:srgbClr val="FF0000"/>
              </a:solidFill>
            </a:endParaRPr>
          </a:p>
          <a:p>
            <a:pPr algn="ctr"/>
            <a:r>
              <a:rPr lang="ko-KR" altLang="en-US" sz="1000" dirty="0">
                <a:solidFill>
                  <a:srgbClr val="FF0000"/>
                </a:solidFill>
              </a:rPr>
              <a:t>제</a:t>
            </a:r>
            <a:r>
              <a:rPr lang="en-US" altLang="ko-KR" sz="1000" dirty="0">
                <a:solidFill>
                  <a:srgbClr val="FF0000"/>
                </a:solidFill>
              </a:rPr>
              <a:t>33</a:t>
            </a:r>
            <a:r>
              <a:rPr lang="ko-KR" altLang="en-US" sz="1000" dirty="0">
                <a:solidFill>
                  <a:srgbClr val="FF0000"/>
                </a:solidFill>
              </a:rPr>
              <a:t>조제</a:t>
            </a:r>
            <a:r>
              <a:rPr lang="en-US" altLang="ko-KR" sz="1000" dirty="0">
                <a:solidFill>
                  <a:srgbClr val="FF0000"/>
                </a:solidFill>
              </a:rPr>
              <a:t>1</a:t>
            </a:r>
            <a:r>
              <a:rPr lang="ko-KR" altLang="en-US" sz="1000" dirty="0" err="1">
                <a:solidFill>
                  <a:srgbClr val="FF0000"/>
                </a:solidFill>
              </a:rPr>
              <a:t>항본문</a:t>
            </a:r>
            <a:endParaRPr lang="ko-KR" altLang="en-US" sz="1000" dirty="0">
              <a:solidFill>
                <a:srgbClr val="FF0000"/>
              </a:solidFill>
            </a:endParaRPr>
          </a:p>
        </p:txBody>
      </p:sp>
      <p:sp>
        <p:nvSpPr>
          <p:cNvPr id="26" name="TextBox 25">
            <a:extLst>
              <a:ext uri="{FF2B5EF4-FFF2-40B4-BE49-F238E27FC236}">
                <a16:creationId xmlns:a16="http://schemas.microsoft.com/office/drawing/2014/main" id="{6202F19F-AE74-92A8-B5CA-1F32AD681777}"/>
              </a:ext>
            </a:extLst>
          </p:cNvPr>
          <p:cNvSpPr txBox="1"/>
          <p:nvPr/>
        </p:nvSpPr>
        <p:spPr>
          <a:xfrm>
            <a:off x="7222881" y="6459390"/>
            <a:ext cx="1088760" cy="400110"/>
          </a:xfrm>
          <a:prstGeom prst="rect">
            <a:avLst/>
          </a:prstGeom>
          <a:noFill/>
        </p:spPr>
        <p:txBody>
          <a:bodyPr wrap="none" rtlCol="0">
            <a:spAutoFit/>
          </a:bodyPr>
          <a:lstStyle/>
          <a:p>
            <a:pPr algn="ctr"/>
            <a:r>
              <a:rPr lang="ko-KR" altLang="en-US" sz="1000" dirty="0">
                <a:solidFill>
                  <a:srgbClr val="FF0000"/>
                </a:solidFill>
              </a:rPr>
              <a:t>제</a:t>
            </a:r>
            <a:r>
              <a:rPr lang="en-US" altLang="ko-KR" sz="1000" dirty="0">
                <a:solidFill>
                  <a:srgbClr val="FF0000"/>
                </a:solidFill>
              </a:rPr>
              <a:t>44</a:t>
            </a:r>
            <a:r>
              <a:rPr lang="ko-KR" altLang="en-US" sz="1000" dirty="0">
                <a:solidFill>
                  <a:srgbClr val="FF0000"/>
                </a:solidFill>
              </a:rPr>
              <a:t>조</a:t>
            </a:r>
            <a:endParaRPr lang="en-US" altLang="ko-KR" sz="1000" dirty="0">
              <a:solidFill>
                <a:srgbClr val="FF0000"/>
              </a:solidFill>
            </a:endParaRPr>
          </a:p>
          <a:p>
            <a:pPr algn="ctr"/>
            <a:r>
              <a:rPr lang="ko-KR" altLang="en-US" sz="1000" dirty="0">
                <a:solidFill>
                  <a:srgbClr val="FF0000"/>
                </a:solidFill>
              </a:rPr>
              <a:t>제</a:t>
            </a:r>
            <a:r>
              <a:rPr lang="en-US" altLang="ko-KR" sz="1000" dirty="0">
                <a:solidFill>
                  <a:srgbClr val="FF0000"/>
                </a:solidFill>
              </a:rPr>
              <a:t>33</a:t>
            </a:r>
            <a:r>
              <a:rPr lang="ko-KR" altLang="en-US" sz="1000" dirty="0">
                <a:solidFill>
                  <a:srgbClr val="FF0000"/>
                </a:solidFill>
              </a:rPr>
              <a:t>조제</a:t>
            </a:r>
            <a:r>
              <a:rPr lang="en-US" altLang="ko-KR" sz="1000" dirty="0">
                <a:solidFill>
                  <a:srgbClr val="FF0000"/>
                </a:solidFill>
              </a:rPr>
              <a:t>1</a:t>
            </a:r>
            <a:r>
              <a:rPr lang="ko-KR" altLang="en-US" sz="1000" dirty="0" err="1">
                <a:solidFill>
                  <a:srgbClr val="FF0000"/>
                </a:solidFill>
              </a:rPr>
              <a:t>항본문</a:t>
            </a:r>
            <a:endParaRPr lang="ko-KR" altLang="en-US" sz="1000" dirty="0">
              <a:solidFill>
                <a:srgbClr val="FF0000"/>
              </a:solidFill>
            </a:endParaRPr>
          </a:p>
        </p:txBody>
      </p:sp>
      <p:sp>
        <p:nvSpPr>
          <p:cNvPr id="27" name="TextBox 26">
            <a:extLst>
              <a:ext uri="{FF2B5EF4-FFF2-40B4-BE49-F238E27FC236}">
                <a16:creationId xmlns:a16="http://schemas.microsoft.com/office/drawing/2014/main" id="{1A2260B7-EE7E-F5BB-00F8-D2622F821552}"/>
              </a:ext>
            </a:extLst>
          </p:cNvPr>
          <p:cNvSpPr txBox="1"/>
          <p:nvPr/>
        </p:nvSpPr>
        <p:spPr>
          <a:xfrm>
            <a:off x="9009990" y="6459390"/>
            <a:ext cx="1088760" cy="400110"/>
          </a:xfrm>
          <a:prstGeom prst="rect">
            <a:avLst/>
          </a:prstGeom>
          <a:noFill/>
        </p:spPr>
        <p:txBody>
          <a:bodyPr wrap="none" rtlCol="0">
            <a:spAutoFit/>
          </a:bodyPr>
          <a:lstStyle/>
          <a:p>
            <a:pPr algn="ctr"/>
            <a:r>
              <a:rPr lang="ko-KR" altLang="en-US" sz="1000" dirty="0">
                <a:solidFill>
                  <a:srgbClr val="FF0000"/>
                </a:solidFill>
              </a:rPr>
              <a:t>제</a:t>
            </a:r>
            <a:r>
              <a:rPr lang="en-US" altLang="ko-KR" sz="1000" dirty="0">
                <a:solidFill>
                  <a:srgbClr val="FF0000"/>
                </a:solidFill>
              </a:rPr>
              <a:t>44</a:t>
            </a:r>
            <a:r>
              <a:rPr lang="ko-KR" altLang="en-US" sz="1000" dirty="0">
                <a:solidFill>
                  <a:srgbClr val="FF0000"/>
                </a:solidFill>
              </a:rPr>
              <a:t>조</a:t>
            </a:r>
            <a:endParaRPr lang="en-US" altLang="ko-KR" sz="1000" dirty="0">
              <a:solidFill>
                <a:srgbClr val="FF0000"/>
              </a:solidFill>
            </a:endParaRPr>
          </a:p>
          <a:p>
            <a:pPr algn="ctr"/>
            <a:r>
              <a:rPr lang="ko-KR" altLang="en-US" sz="1000" dirty="0">
                <a:solidFill>
                  <a:srgbClr val="FF0000"/>
                </a:solidFill>
              </a:rPr>
              <a:t>제</a:t>
            </a:r>
            <a:r>
              <a:rPr lang="en-US" altLang="ko-KR" sz="1000" dirty="0">
                <a:solidFill>
                  <a:srgbClr val="FF0000"/>
                </a:solidFill>
              </a:rPr>
              <a:t>33</a:t>
            </a:r>
            <a:r>
              <a:rPr lang="ko-KR" altLang="en-US" sz="1000" dirty="0">
                <a:solidFill>
                  <a:srgbClr val="FF0000"/>
                </a:solidFill>
              </a:rPr>
              <a:t>조제</a:t>
            </a:r>
            <a:r>
              <a:rPr lang="en-US" altLang="ko-KR" sz="1000" dirty="0">
                <a:solidFill>
                  <a:srgbClr val="FF0000"/>
                </a:solidFill>
              </a:rPr>
              <a:t>1</a:t>
            </a:r>
            <a:r>
              <a:rPr lang="ko-KR" altLang="en-US" sz="1000" dirty="0" err="1">
                <a:solidFill>
                  <a:srgbClr val="FF0000"/>
                </a:solidFill>
              </a:rPr>
              <a:t>항본문</a:t>
            </a:r>
            <a:endParaRPr lang="ko-KR" altLang="en-US" sz="1000" dirty="0">
              <a:solidFill>
                <a:srgbClr val="FF0000"/>
              </a:solidFill>
            </a:endParaRPr>
          </a:p>
        </p:txBody>
      </p:sp>
      <p:sp>
        <p:nvSpPr>
          <p:cNvPr id="29" name="TextBox 28">
            <a:extLst>
              <a:ext uri="{FF2B5EF4-FFF2-40B4-BE49-F238E27FC236}">
                <a16:creationId xmlns:a16="http://schemas.microsoft.com/office/drawing/2014/main" id="{0E4156B2-5B73-2C5A-8FE4-0672E2738567}"/>
              </a:ext>
            </a:extLst>
          </p:cNvPr>
          <p:cNvSpPr txBox="1"/>
          <p:nvPr/>
        </p:nvSpPr>
        <p:spPr>
          <a:xfrm>
            <a:off x="10891012" y="6459390"/>
            <a:ext cx="1088760" cy="400110"/>
          </a:xfrm>
          <a:prstGeom prst="rect">
            <a:avLst/>
          </a:prstGeom>
          <a:noFill/>
        </p:spPr>
        <p:txBody>
          <a:bodyPr wrap="none" rtlCol="0">
            <a:spAutoFit/>
          </a:bodyPr>
          <a:lstStyle/>
          <a:p>
            <a:pPr algn="ctr"/>
            <a:r>
              <a:rPr lang="ko-KR" altLang="en-US" sz="1000" dirty="0">
                <a:solidFill>
                  <a:srgbClr val="FF0000"/>
                </a:solidFill>
              </a:rPr>
              <a:t>제</a:t>
            </a:r>
            <a:r>
              <a:rPr lang="en-US" altLang="ko-KR" sz="1000" dirty="0">
                <a:solidFill>
                  <a:srgbClr val="FF0000"/>
                </a:solidFill>
              </a:rPr>
              <a:t>44</a:t>
            </a:r>
            <a:r>
              <a:rPr lang="ko-KR" altLang="en-US" sz="1000" dirty="0">
                <a:solidFill>
                  <a:srgbClr val="FF0000"/>
                </a:solidFill>
              </a:rPr>
              <a:t>조</a:t>
            </a:r>
            <a:endParaRPr lang="en-US" altLang="ko-KR" sz="1000" dirty="0">
              <a:solidFill>
                <a:srgbClr val="FF0000"/>
              </a:solidFill>
            </a:endParaRPr>
          </a:p>
          <a:p>
            <a:pPr algn="ctr"/>
            <a:r>
              <a:rPr lang="ko-KR" altLang="en-US" sz="1000" dirty="0">
                <a:solidFill>
                  <a:srgbClr val="FF0000"/>
                </a:solidFill>
              </a:rPr>
              <a:t>제</a:t>
            </a:r>
            <a:r>
              <a:rPr lang="en-US" altLang="ko-KR" sz="1000" dirty="0">
                <a:solidFill>
                  <a:srgbClr val="FF0000"/>
                </a:solidFill>
              </a:rPr>
              <a:t>33</a:t>
            </a:r>
            <a:r>
              <a:rPr lang="ko-KR" altLang="en-US" sz="1000" dirty="0">
                <a:solidFill>
                  <a:srgbClr val="FF0000"/>
                </a:solidFill>
              </a:rPr>
              <a:t>조제</a:t>
            </a:r>
            <a:r>
              <a:rPr lang="en-US" altLang="ko-KR" sz="1000" dirty="0">
                <a:solidFill>
                  <a:srgbClr val="FF0000"/>
                </a:solidFill>
              </a:rPr>
              <a:t>1</a:t>
            </a:r>
            <a:r>
              <a:rPr lang="ko-KR" altLang="en-US" sz="1000" dirty="0" err="1">
                <a:solidFill>
                  <a:srgbClr val="FF0000"/>
                </a:solidFill>
              </a:rPr>
              <a:t>항본문</a:t>
            </a:r>
            <a:endParaRPr lang="ko-KR" altLang="en-US" sz="1000" dirty="0">
              <a:solidFill>
                <a:srgbClr val="FF0000"/>
              </a:solidFill>
            </a:endParaRPr>
          </a:p>
        </p:txBody>
      </p:sp>
    </p:spTree>
    <p:extLst>
      <p:ext uri="{BB962C8B-B14F-4D97-AF65-F5344CB8AC3E}">
        <p14:creationId xmlns:p14="http://schemas.microsoft.com/office/powerpoint/2010/main" val="879614013"/>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보정의 법조문 체계</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슬라이드 번호 개체 틀 4"/>
          <p:cNvSpPr>
            <a:spLocks noGrp="1"/>
          </p:cNvSpPr>
          <p:nvPr>
            <p:ph type="sldNum" sz="quarter" idx="12"/>
          </p:nvPr>
        </p:nvSpPr>
        <p:spPr/>
        <p:txBody>
          <a:bodyPr/>
          <a:lstStyle/>
          <a:p>
            <a:r>
              <a:rPr lang="en-US" altLang="ko-KR"/>
              <a:t>165</a:t>
            </a:r>
            <a:endParaRPr lang="ko-KR" altLang="en-US"/>
          </a:p>
        </p:txBody>
      </p:sp>
      <p:sp>
        <p:nvSpPr>
          <p:cNvPr id="6" name="TextBox 5">
            <a:extLst>
              <a:ext uri="{FF2B5EF4-FFF2-40B4-BE49-F238E27FC236}">
                <a16:creationId xmlns:a16="http://schemas.microsoft.com/office/drawing/2014/main" id="{8F938D39-A969-4876-AD8D-821698112C7F}"/>
              </a:ext>
            </a:extLst>
          </p:cNvPr>
          <p:cNvSpPr txBox="1"/>
          <p:nvPr/>
        </p:nvSpPr>
        <p:spPr>
          <a:xfrm>
            <a:off x="6625070" y="1526876"/>
            <a:ext cx="857927" cy="369332"/>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pPr algn="ctr"/>
            <a:r>
              <a:rPr lang="ko-KR" altLang="en-US" dirty="0"/>
              <a:t>제</a:t>
            </a:r>
            <a:r>
              <a:rPr lang="en-US" altLang="ko-KR" dirty="0"/>
              <a:t>46</a:t>
            </a:r>
            <a:r>
              <a:rPr lang="ko-KR" altLang="en-US" dirty="0"/>
              <a:t>조</a:t>
            </a:r>
          </a:p>
        </p:txBody>
      </p:sp>
      <p:sp>
        <p:nvSpPr>
          <p:cNvPr id="8" name="TextBox 7">
            <a:extLst>
              <a:ext uri="{FF2B5EF4-FFF2-40B4-BE49-F238E27FC236}">
                <a16:creationId xmlns:a16="http://schemas.microsoft.com/office/drawing/2014/main" id="{70DB572E-883F-4FA8-8D38-C00AD4922834}"/>
              </a:ext>
            </a:extLst>
          </p:cNvPr>
          <p:cNvSpPr txBox="1"/>
          <p:nvPr/>
        </p:nvSpPr>
        <p:spPr>
          <a:xfrm>
            <a:off x="9592557" y="1389276"/>
            <a:ext cx="1117614" cy="646331"/>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pPr algn="ctr"/>
            <a:r>
              <a:rPr lang="ko-KR" altLang="en-US" dirty="0"/>
              <a:t>소급효</a:t>
            </a:r>
            <a:endParaRPr lang="en-US" altLang="ko-KR" dirty="0"/>
          </a:p>
          <a:p>
            <a:pPr algn="ctr"/>
            <a:r>
              <a:rPr lang="en-US" altLang="ko-KR" dirty="0"/>
              <a:t>(</a:t>
            </a:r>
            <a:r>
              <a:rPr lang="ko-KR" altLang="en-US" dirty="0"/>
              <a:t>법규정</a:t>
            </a:r>
            <a:r>
              <a:rPr lang="en-US" altLang="ko-KR" dirty="0"/>
              <a:t>X)</a:t>
            </a:r>
            <a:endParaRPr lang="ko-KR" altLang="en-US" dirty="0"/>
          </a:p>
        </p:txBody>
      </p:sp>
      <p:sp>
        <p:nvSpPr>
          <p:cNvPr id="9" name="TextBox 8">
            <a:extLst>
              <a:ext uri="{FF2B5EF4-FFF2-40B4-BE49-F238E27FC236}">
                <a16:creationId xmlns:a16="http://schemas.microsoft.com/office/drawing/2014/main" id="{9EC4DA15-7D1A-4C88-9A75-C27B993CBCA2}"/>
              </a:ext>
            </a:extLst>
          </p:cNvPr>
          <p:cNvSpPr txBox="1"/>
          <p:nvPr/>
        </p:nvSpPr>
        <p:spPr>
          <a:xfrm>
            <a:off x="6624170" y="2847171"/>
            <a:ext cx="857927" cy="369332"/>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pPr algn="ctr"/>
            <a:r>
              <a:rPr lang="ko-KR" altLang="en-US" dirty="0"/>
              <a:t>제</a:t>
            </a:r>
            <a:r>
              <a:rPr lang="en-US" altLang="ko-KR" dirty="0"/>
              <a:t>16</a:t>
            </a:r>
            <a:r>
              <a:rPr lang="ko-KR" altLang="en-US" dirty="0"/>
              <a:t>조</a:t>
            </a:r>
          </a:p>
        </p:txBody>
      </p:sp>
      <p:sp>
        <p:nvSpPr>
          <p:cNvPr id="10" name="TextBox 9">
            <a:extLst>
              <a:ext uri="{FF2B5EF4-FFF2-40B4-BE49-F238E27FC236}">
                <a16:creationId xmlns:a16="http://schemas.microsoft.com/office/drawing/2014/main" id="{B7DF7E2A-3523-4B44-B910-40740CDB73E0}"/>
              </a:ext>
            </a:extLst>
          </p:cNvPr>
          <p:cNvSpPr txBox="1"/>
          <p:nvPr/>
        </p:nvSpPr>
        <p:spPr>
          <a:xfrm>
            <a:off x="6624170" y="4033296"/>
            <a:ext cx="857927" cy="369332"/>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pPr algn="ctr"/>
            <a:r>
              <a:rPr lang="ko-KR" altLang="en-US" dirty="0"/>
              <a:t>제</a:t>
            </a:r>
            <a:r>
              <a:rPr lang="en-US" altLang="ko-KR" dirty="0"/>
              <a:t>47</a:t>
            </a:r>
            <a:r>
              <a:rPr lang="ko-KR" altLang="en-US" dirty="0"/>
              <a:t>조</a:t>
            </a:r>
          </a:p>
        </p:txBody>
      </p:sp>
      <p:sp>
        <p:nvSpPr>
          <p:cNvPr id="11" name="TextBox 10">
            <a:extLst>
              <a:ext uri="{FF2B5EF4-FFF2-40B4-BE49-F238E27FC236}">
                <a16:creationId xmlns:a16="http://schemas.microsoft.com/office/drawing/2014/main" id="{B04FF579-6154-4124-9232-F89872346583}"/>
              </a:ext>
            </a:extLst>
          </p:cNvPr>
          <p:cNvSpPr txBox="1"/>
          <p:nvPr/>
        </p:nvSpPr>
        <p:spPr>
          <a:xfrm>
            <a:off x="5649357" y="5538605"/>
            <a:ext cx="857927" cy="369332"/>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pPr algn="ctr"/>
            <a:r>
              <a:rPr lang="ko-KR" altLang="en-US" dirty="0"/>
              <a:t>제</a:t>
            </a:r>
            <a:r>
              <a:rPr lang="en-US" altLang="ko-KR" dirty="0"/>
              <a:t>62</a:t>
            </a:r>
            <a:r>
              <a:rPr lang="ko-KR" altLang="en-US" dirty="0"/>
              <a:t>조</a:t>
            </a:r>
          </a:p>
        </p:txBody>
      </p:sp>
      <p:sp>
        <p:nvSpPr>
          <p:cNvPr id="12" name="TextBox 11">
            <a:extLst>
              <a:ext uri="{FF2B5EF4-FFF2-40B4-BE49-F238E27FC236}">
                <a16:creationId xmlns:a16="http://schemas.microsoft.com/office/drawing/2014/main" id="{B9F3D7D2-AE42-431D-9F2F-844CD2751C71}"/>
              </a:ext>
            </a:extLst>
          </p:cNvPr>
          <p:cNvSpPr txBox="1"/>
          <p:nvPr/>
        </p:nvSpPr>
        <p:spPr>
          <a:xfrm>
            <a:off x="7482097" y="5538605"/>
            <a:ext cx="857927" cy="369332"/>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pPr algn="ctr"/>
            <a:r>
              <a:rPr lang="ko-KR" altLang="en-US" dirty="0"/>
              <a:t>제</a:t>
            </a:r>
            <a:r>
              <a:rPr lang="en-US" altLang="ko-KR" dirty="0"/>
              <a:t>51</a:t>
            </a:r>
            <a:r>
              <a:rPr lang="ko-KR" altLang="en-US" dirty="0"/>
              <a:t>조</a:t>
            </a:r>
          </a:p>
        </p:txBody>
      </p:sp>
      <p:cxnSp>
        <p:nvCxnSpPr>
          <p:cNvPr id="17" name="연결선: 꺾임 16">
            <a:extLst>
              <a:ext uri="{FF2B5EF4-FFF2-40B4-BE49-F238E27FC236}">
                <a16:creationId xmlns:a16="http://schemas.microsoft.com/office/drawing/2014/main" id="{A62ABAE8-B608-452D-9E58-652BA2E3F9DE}"/>
              </a:ext>
            </a:extLst>
          </p:cNvPr>
          <p:cNvCxnSpPr>
            <a:stCxn id="6" idx="3"/>
            <a:endCxn id="8" idx="1"/>
          </p:cNvCxnSpPr>
          <p:nvPr/>
        </p:nvCxnSpPr>
        <p:spPr>
          <a:xfrm>
            <a:off x="7482997" y="1711542"/>
            <a:ext cx="2109560" cy="900"/>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FC28F5C5-82E1-4411-BA4C-44142DE976DF}"/>
              </a:ext>
            </a:extLst>
          </p:cNvPr>
          <p:cNvCxnSpPr>
            <a:stCxn id="6" idx="2"/>
            <a:endCxn id="9" idx="0"/>
          </p:cNvCxnSpPr>
          <p:nvPr/>
        </p:nvCxnSpPr>
        <p:spPr>
          <a:xfrm flipH="1">
            <a:off x="7053134" y="1896208"/>
            <a:ext cx="900" cy="950963"/>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1" name="연결선: 꺾임 20">
            <a:extLst>
              <a:ext uri="{FF2B5EF4-FFF2-40B4-BE49-F238E27FC236}">
                <a16:creationId xmlns:a16="http://schemas.microsoft.com/office/drawing/2014/main" id="{01B44922-5172-4B21-8A5B-EC50399A07FB}"/>
              </a:ext>
            </a:extLst>
          </p:cNvPr>
          <p:cNvCxnSpPr>
            <a:stCxn id="10" idx="2"/>
            <a:endCxn id="11" idx="0"/>
          </p:cNvCxnSpPr>
          <p:nvPr/>
        </p:nvCxnSpPr>
        <p:spPr>
          <a:xfrm rot="5400000">
            <a:off x="5997740" y="4483210"/>
            <a:ext cx="1135977" cy="974813"/>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5" name="연결선: 꺾임 24">
            <a:extLst>
              <a:ext uri="{FF2B5EF4-FFF2-40B4-BE49-F238E27FC236}">
                <a16:creationId xmlns:a16="http://schemas.microsoft.com/office/drawing/2014/main" id="{11C58FBE-ABCB-4C62-B861-7E6A36112282}"/>
              </a:ext>
            </a:extLst>
          </p:cNvPr>
          <p:cNvCxnSpPr>
            <a:stCxn id="10" idx="3"/>
            <a:endCxn id="8" idx="2"/>
          </p:cNvCxnSpPr>
          <p:nvPr/>
        </p:nvCxnSpPr>
        <p:spPr>
          <a:xfrm flipV="1">
            <a:off x="7482097" y="2035607"/>
            <a:ext cx="2669267" cy="2182355"/>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9CD211BE-1E2B-40F0-A5C6-CEDFF593A81A}"/>
              </a:ext>
            </a:extLst>
          </p:cNvPr>
          <p:cNvSpPr txBox="1"/>
          <p:nvPr/>
        </p:nvSpPr>
        <p:spPr>
          <a:xfrm>
            <a:off x="7645711" y="1389276"/>
            <a:ext cx="838691" cy="276999"/>
          </a:xfrm>
          <a:prstGeom prst="rect">
            <a:avLst/>
          </a:prstGeom>
          <a:noFill/>
        </p:spPr>
        <p:txBody>
          <a:bodyPr wrap="none" rtlCol="0">
            <a:spAutoFit/>
          </a:bodyPr>
          <a:lstStyle/>
          <a:p>
            <a:r>
              <a:rPr lang="ko-KR" altLang="en-US" sz="1200" dirty="0">
                <a:solidFill>
                  <a:schemeClr val="bg1">
                    <a:lumMod val="50000"/>
                  </a:schemeClr>
                </a:solidFill>
              </a:rPr>
              <a:t>효과</a:t>
            </a:r>
            <a:r>
              <a:rPr lang="en-US" altLang="ko-KR" sz="1200" dirty="0">
                <a:solidFill>
                  <a:schemeClr val="bg1">
                    <a:lumMod val="50000"/>
                  </a:schemeClr>
                </a:solidFill>
              </a:rPr>
              <a:t>(</a:t>
            </a:r>
            <a:r>
              <a:rPr lang="ko-KR" altLang="en-US" sz="1200" dirty="0">
                <a:solidFill>
                  <a:schemeClr val="bg1">
                    <a:lumMod val="50000"/>
                  </a:schemeClr>
                </a:solidFill>
              </a:rPr>
              <a:t>적법</a:t>
            </a:r>
            <a:r>
              <a:rPr lang="en-US" altLang="ko-KR" sz="1200" dirty="0">
                <a:solidFill>
                  <a:schemeClr val="bg1">
                    <a:lumMod val="50000"/>
                  </a:schemeClr>
                </a:solidFill>
              </a:rPr>
              <a:t>)</a:t>
            </a:r>
            <a:endParaRPr lang="ko-KR" altLang="en-US" sz="1200" dirty="0">
              <a:solidFill>
                <a:schemeClr val="bg1">
                  <a:lumMod val="50000"/>
                </a:schemeClr>
              </a:solidFill>
            </a:endParaRPr>
          </a:p>
        </p:txBody>
      </p:sp>
      <p:sp>
        <p:nvSpPr>
          <p:cNvPr id="28" name="TextBox 27">
            <a:extLst>
              <a:ext uri="{FF2B5EF4-FFF2-40B4-BE49-F238E27FC236}">
                <a16:creationId xmlns:a16="http://schemas.microsoft.com/office/drawing/2014/main" id="{B3A6679D-F155-4204-B03F-665FD97E324A}"/>
              </a:ext>
            </a:extLst>
          </p:cNvPr>
          <p:cNvSpPr txBox="1"/>
          <p:nvPr/>
        </p:nvSpPr>
        <p:spPr>
          <a:xfrm>
            <a:off x="7103964" y="1956191"/>
            <a:ext cx="976549" cy="276999"/>
          </a:xfrm>
          <a:prstGeom prst="rect">
            <a:avLst/>
          </a:prstGeom>
          <a:noFill/>
        </p:spPr>
        <p:txBody>
          <a:bodyPr wrap="none" rtlCol="0">
            <a:spAutoFit/>
          </a:bodyPr>
          <a:lstStyle/>
          <a:p>
            <a:r>
              <a:rPr lang="ko-KR" altLang="en-US" sz="1200" dirty="0">
                <a:solidFill>
                  <a:schemeClr val="bg1">
                    <a:lumMod val="50000"/>
                  </a:schemeClr>
                </a:solidFill>
              </a:rPr>
              <a:t>효과</a:t>
            </a:r>
            <a:r>
              <a:rPr lang="en-US" altLang="ko-KR" sz="1200" dirty="0">
                <a:solidFill>
                  <a:schemeClr val="bg1">
                    <a:lumMod val="50000"/>
                  </a:schemeClr>
                </a:solidFill>
              </a:rPr>
              <a:t>(</a:t>
            </a:r>
            <a:r>
              <a:rPr lang="ko-KR" altLang="en-US" sz="1200" dirty="0" err="1">
                <a:solidFill>
                  <a:schemeClr val="bg1">
                    <a:lumMod val="50000"/>
                  </a:schemeClr>
                </a:solidFill>
              </a:rPr>
              <a:t>부적법</a:t>
            </a:r>
            <a:r>
              <a:rPr lang="en-US" altLang="ko-KR" sz="1200" dirty="0">
                <a:solidFill>
                  <a:schemeClr val="bg1">
                    <a:lumMod val="50000"/>
                  </a:schemeClr>
                </a:solidFill>
              </a:rPr>
              <a:t>)</a:t>
            </a:r>
            <a:endParaRPr lang="ko-KR" altLang="en-US" sz="1200" dirty="0">
              <a:solidFill>
                <a:schemeClr val="bg1">
                  <a:lumMod val="50000"/>
                </a:schemeClr>
              </a:solidFill>
            </a:endParaRPr>
          </a:p>
        </p:txBody>
      </p:sp>
      <p:sp>
        <p:nvSpPr>
          <p:cNvPr id="29" name="TextBox 28">
            <a:extLst>
              <a:ext uri="{FF2B5EF4-FFF2-40B4-BE49-F238E27FC236}">
                <a16:creationId xmlns:a16="http://schemas.microsoft.com/office/drawing/2014/main" id="{5AED91E9-D691-44F1-A323-A8C60604E4D4}"/>
              </a:ext>
            </a:extLst>
          </p:cNvPr>
          <p:cNvSpPr txBox="1"/>
          <p:nvPr/>
        </p:nvSpPr>
        <p:spPr>
          <a:xfrm>
            <a:off x="7642485" y="3921998"/>
            <a:ext cx="838691" cy="276999"/>
          </a:xfrm>
          <a:prstGeom prst="rect">
            <a:avLst/>
          </a:prstGeom>
          <a:noFill/>
        </p:spPr>
        <p:txBody>
          <a:bodyPr wrap="none" rtlCol="0">
            <a:spAutoFit/>
          </a:bodyPr>
          <a:lstStyle/>
          <a:p>
            <a:r>
              <a:rPr lang="ko-KR" altLang="en-US" sz="1200" dirty="0">
                <a:solidFill>
                  <a:schemeClr val="bg1">
                    <a:lumMod val="50000"/>
                  </a:schemeClr>
                </a:solidFill>
              </a:rPr>
              <a:t>효과</a:t>
            </a:r>
            <a:r>
              <a:rPr lang="en-US" altLang="ko-KR" sz="1200" dirty="0">
                <a:solidFill>
                  <a:schemeClr val="bg1">
                    <a:lumMod val="50000"/>
                  </a:schemeClr>
                </a:solidFill>
              </a:rPr>
              <a:t>(</a:t>
            </a:r>
            <a:r>
              <a:rPr lang="ko-KR" altLang="en-US" sz="1200" dirty="0">
                <a:solidFill>
                  <a:schemeClr val="bg1">
                    <a:lumMod val="50000"/>
                  </a:schemeClr>
                </a:solidFill>
              </a:rPr>
              <a:t>적법</a:t>
            </a:r>
            <a:r>
              <a:rPr lang="en-US" altLang="ko-KR" sz="1200" dirty="0">
                <a:solidFill>
                  <a:schemeClr val="bg1">
                    <a:lumMod val="50000"/>
                  </a:schemeClr>
                </a:solidFill>
              </a:rPr>
              <a:t>)</a:t>
            </a:r>
            <a:endParaRPr lang="ko-KR" altLang="en-US" sz="1200" dirty="0">
              <a:solidFill>
                <a:schemeClr val="bg1">
                  <a:lumMod val="50000"/>
                </a:schemeClr>
              </a:solidFill>
            </a:endParaRPr>
          </a:p>
        </p:txBody>
      </p:sp>
      <p:sp>
        <p:nvSpPr>
          <p:cNvPr id="30" name="TextBox 29">
            <a:extLst>
              <a:ext uri="{FF2B5EF4-FFF2-40B4-BE49-F238E27FC236}">
                <a16:creationId xmlns:a16="http://schemas.microsoft.com/office/drawing/2014/main" id="{6D34EDB1-B2C6-4E36-8E27-9EED42951E81}"/>
              </a:ext>
            </a:extLst>
          </p:cNvPr>
          <p:cNvSpPr txBox="1"/>
          <p:nvPr/>
        </p:nvSpPr>
        <p:spPr>
          <a:xfrm>
            <a:off x="7053133" y="4527049"/>
            <a:ext cx="976549" cy="276999"/>
          </a:xfrm>
          <a:prstGeom prst="rect">
            <a:avLst/>
          </a:prstGeom>
          <a:noFill/>
        </p:spPr>
        <p:txBody>
          <a:bodyPr wrap="none" rtlCol="0">
            <a:spAutoFit/>
          </a:bodyPr>
          <a:lstStyle/>
          <a:p>
            <a:r>
              <a:rPr lang="ko-KR" altLang="en-US" sz="1200" dirty="0">
                <a:solidFill>
                  <a:schemeClr val="bg1">
                    <a:lumMod val="50000"/>
                  </a:schemeClr>
                </a:solidFill>
              </a:rPr>
              <a:t>효과</a:t>
            </a:r>
            <a:r>
              <a:rPr lang="en-US" altLang="ko-KR" sz="1200" dirty="0">
                <a:solidFill>
                  <a:schemeClr val="bg1">
                    <a:lumMod val="50000"/>
                  </a:schemeClr>
                </a:solidFill>
              </a:rPr>
              <a:t>(</a:t>
            </a:r>
            <a:r>
              <a:rPr lang="ko-KR" altLang="en-US" sz="1200" dirty="0" err="1">
                <a:solidFill>
                  <a:schemeClr val="bg1">
                    <a:lumMod val="50000"/>
                  </a:schemeClr>
                </a:solidFill>
              </a:rPr>
              <a:t>부적법</a:t>
            </a:r>
            <a:r>
              <a:rPr lang="en-US" altLang="ko-KR" sz="1200" dirty="0">
                <a:solidFill>
                  <a:schemeClr val="bg1">
                    <a:lumMod val="50000"/>
                  </a:schemeClr>
                </a:solidFill>
              </a:rPr>
              <a:t>)</a:t>
            </a:r>
            <a:endParaRPr lang="ko-KR" altLang="en-US" sz="1200" dirty="0">
              <a:solidFill>
                <a:schemeClr val="bg1">
                  <a:lumMod val="50000"/>
                </a:schemeClr>
              </a:solidFill>
            </a:endParaRPr>
          </a:p>
        </p:txBody>
      </p:sp>
      <p:sp>
        <p:nvSpPr>
          <p:cNvPr id="31" name="TextBox 30">
            <a:extLst>
              <a:ext uri="{FF2B5EF4-FFF2-40B4-BE49-F238E27FC236}">
                <a16:creationId xmlns:a16="http://schemas.microsoft.com/office/drawing/2014/main" id="{8F017F8F-1366-467B-91B1-6224067FBFDF}"/>
              </a:ext>
            </a:extLst>
          </p:cNvPr>
          <p:cNvSpPr txBox="1"/>
          <p:nvPr/>
        </p:nvSpPr>
        <p:spPr>
          <a:xfrm>
            <a:off x="3750712" y="5113645"/>
            <a:ext cx="2032929" cy="276999"/>
          </a:xfrm>
          <a:prstGeom prst="rect">
            <a:avLst/>
          </a:prstGeom>
          <a:noFill/>
        </p:spPr>
        <p:txBody>
          <a:bodyPr wrap="none" rtlCol="0">
            <a:spAutoFit/>
          </a:bodyPr>
          <a:lstStyle/>
          <a:p>
            <a:r>
              <a:rPr lang="ko-KR" altLang="en-US" sz="1200" dirty="0">
                <a:solidFill>
                  <a:schemeClr val="bg1">
                    <a:lumMod val="50000"/>
                  </a:schemeClr>
                </a:solidFill>
              </a:rPr>
              <a:t>제</a:t>
            </a:r>
            <a:r>
              <a:rPr lang="en-US" altLang="ko-KR" sz="1200" dirty="0">
                <a:solidFill>
                  <a:schemeClr val="bg1">
                    <a:lumMod val="50000"/>
                  </a:schemeClr>
                </a:solidFill>
              </a:rPr>
              <a:t>47</a:t>
            </a:r>
            <a:r>
              <a:rPr lang="ko-KR" altLang="en-US" sz="1200" dirty="0">
                <a:solidFill>
                  <a:schemeClr val="bg1">
                    <a:lumMod val="50000"/>
                  </a:schemeClr>
                </a:solidFill>
              </a:rPr>
              <a:t>조제</a:t>
            </a:r>
            <a:r>
              <a:rPr lang="en-US" altLang="ko-KR" sz="1200" dirty="0">
                <a:solidFill>
                  <a:schemeClr val="bg1">
                    <a:lumMod val="50000"/>
                  </a:schemeClr>
                </a:solidFill>
              </a:rPr>
              <a:t>1</a:t>
            </a:r>
            <a:r>
              <a:rPr lang="ko-KR" altLang="en-US" sz="1200" dirty="0" err="1">
                <a:solidFill>
                  <a:schemeClr val="bg1">
                    <a:lumMod val="50000"/>
                  </a:schemeClr>
                </a:solidFill>
              </a:rPr>
              <a:t>항본문</a:t>
            </a:r>
            <a:r>
              <a:rPr lang="en-US" altLang="ko-KR" sz="1200" dirty="0">
                <a:solidFill>
                  <a:schemeClr val="bg1">
                    <a:lumMod val="50000"/>
                  </a:schemeClr>
                </a:solidFill>
              </a:rPr>
              <a:t>, </a:t>
            </a:r>
            <a:r>
              <a:rPr lang="ko-KR" altLang="en-US" sz="1200" dirty="0">
                <a:solidFill>
                  <a:schemeClr val="bg1">
                    <a:lumMod val="50000"/>
                  </a:schemeClr>
                </a:solidFill>
              </a:rPr>
              <a:t>제</a:t>
            </a:r>
            <a:r>
              <a:rPr lang="en-US" altLang="ko-KR" sz="1200" dirty="0">
                <a:solidFill>
                  <a:schemeClr val="bg1">
                    <a:lumMod val="50000"/>
                  </a:schemeClr>
                </a:solidFill>
              </a:rPr>
              <a:t>1</a:t>
            </a:r>
            <a:r>
              <a:rPr lang="ko-KR" altLang="en-US" sz="1200" dirty="0">
                <a:solidFill>
                  <a:schemeClr val="bg1">
                    <a:lumMod val="50000"/>
                  </a:schemeClr>
                </a:solidFill>
              </a:rPr>
              <a:t>호 시기</a:t>
            </a:r>
          </a:p>
        </p:txBody>
      </p:sp>
      <p:sp>
        <p:nvSpPr>
          <p:cNvPr id="32" name="TextBox 31">
            <a:extLst>
              <a:ext uri="{FF2B5EF4-FFF2-40B4-BE49-F238E27FC236}">
                <a16:creationId xmlns:a16="http://schemas.microsoft.com/office/drawing/2014/main" id="{616C8A55-DD5E-46A9-8748-7BE86A453F44}"/>
              </a:ext>
            </a:extLst>
          </p:cNvPr>
          <p:cNvSpPr txBox="1"/>
          <p:nvPr/>
        </p:nvSpPr>
        <p:spPr>
          <a:xfrm>
            <a:off x="8029414" y="5113645"/>
            <a:ext cx="2117887" cy="276999"/>
          </a:xfrm>
          <a:prstGeom prst="rect">
            <a:avLst/>
          </a:prstGeom>
          <a:noFill/>
        </p:spPr>
        <p:txBody>
          <a:bodyPr wrap="none" rtlCol="0">
            <a:spAutoFit/>
          </a:bodyPr>
          <a:lstStyle/>
          <a:p>
            <a:r>
              <a:rPr lang="ko-KR" altLang="en-US" sz="1200" dirty="0">
                <a:solidFill>
                  <a:schemeClr val="bg1">
                    <a:lumMod val="50000"/>
                  </a:schemeClr>
                </a:solidFill>
              </a:rPr>
              <a:t>제</a:t>
            </a:r>
            <a:r>
              <a:rPr lang="en-US" altLang="ko-KR" sz="1200" dirty="0">
                <a:solidFill>
                  <a:schemeClr val="bg1">
                    <a:lumMod val="50000"/>
                  </a:schemeClr>
                </a:solidFill>
              </a:rPr>
              <a:t>47</a:t>
            </a:r>
            <a:r>
              <a:rPr lang="ko-KR" altLang="en-US" sz="1200" dirty="0">
                <a:solidFill>
                  <a:schemeClr val="bg1">
                    <a:lumMod val="50000"/>
                  </a:schemeClr>
                </a:solidFill>
              </a:rPr>
              <a:t>조제</a:t>
            </a:r>
            <a:r>
              <a:rPr lang="en-US" altLang="ko-KR" sz="1200" dirty="0">
                <a:solidFill>
                  <a:schemeClr val="bg1">
                    <a:lumMod val="50000"/>
                  </a:schemeClr>
                </a:solidFill>
              </a:rPr>
              <a:t>1</a:t>
            </a:r>
            <a:r>
              <a:rPr lang="ko-KR" altLang="en-US" sz="1200" dirty="0" err="1">
                <a:solidFill>
                  <a:schemeClr val="bg1">
                    <a:lumMod val="50000"/>
                  </a:schemeClr>
                </a:solidFill>
              </a:rPr>
              <a:t>항제</a:t>
            </a:r>
            <a:r>
              <a:rPr lang="en-US" altLang="ko-KR" sz="1200" dirty="0">
                <a:solidFill>
                  <a:schemeClr val="bg1">
                    <a:lumMod val="50000"/>
                  </a:schemeClr>
                </a:solidFill>
              </a:rPr>
              <a:t>2</a:t>
            </a:r>
            <a:r>
              <a:rPr lang="ko-KR" altLang="en-US" sz="1200" dirty="0">
                <a:solidFill>
                  <a:schemeClr val="bg1">
                    <a:lumMod val="50000"/>
                  </a:schemeClr>
                </a:solidFill>
              </a:rPr>
              <a:t>호</a:t>
            </a:r>
            <a:r>
              <a:rPr lang="en-US" altLang="ko-KR" sz="1200" dirty="0">
                <a:solidFill>
                  <a:schemeClr val="bg1">
                    <a:lumMod val="50000"/>
                  </a:schemeClr>
                </a:solidFill>
              </a:rPr>
              <a:t>, </a:t>
            </a:r>
            <a:r>
              <a:rPr lang="ko-KR" altLang="en-US" sz="1200" dirty="0">
                <a:solidFill>
                  <a:schemeClr val="bg1">
                    <a:lumMod val="50000"/>
                  </a:schemeClr>
                </a:solidFill>
              </a:rPr>
              <a:t>제</a:t>
            </a:r>
            <a:r>
              <a:rPr lang="en-US" altLang="ko-KR" sz="1200" dirty="0">
                <a:solidFill>
                  <a:schemeClr val="bg1">
                    <a:lumMod val="50000"/>
                  </a:schemeClr>
                </a:solidFill>
              </a:rPr>
              <a:t>3</a:t>
            </a:r>
            <a:r>
              <a:rPr lang="ko-KR" altLang="en-US" sz="1200" dirty="0">
                <a:solidFill>
                  <a:schemeClr val="bg1">
                    <a:lumMod val="50000"/>
                  </a:schemeClr>
                </a:solidFill>
              </a:rPr>
              <a:t>호 시기</a:t>
            </a:r>
          </a:p>
        </p:txBody>
      </p:sp>
      <p:sp>
        <p:nvSpPr>
          <p:cNvPr id="33" name="TextBox 32">
            <a:extLst>
              <a:ext uri="{FF2B5EF4-FFF2-40B4-BE49-F238E27FC236}">
                <a16:creationId xmlns:a16="http://schemas.microsoft.com/office/drawing/2014/main" id="{C93D7129-046F-47E0-A4DA-12967E8E17AC}"/>
              </a:ext>
            </a:extLst>
          </p:cNvPr>
          <p:cNvSpPr txBox="1"/>
          <p:nvPr/>
        </p:nvSpPr>
        <p:spPr>
          <a:xfrm>
            <a:off x="5271252" y="1526876"/>
            <a:ext cx="1354858" cy="369332"/>
          </a:xfrm>
          <a:prstGeom prst="rect">
            <a:avLst/>
          </a:prstGeom>
          <a:noFill/>
        </p:spPr>
        <p:txBody>
          <a:bodyPr wrap="none" rtlCol="0">
            <a:spAutoFit/>
          </a:bodyPr>
          <a:lstStyle/>
          <a:p>
            <a:pPr algn="r"/>
            <a:r>
              <a:rPr lang="ko-KR" altLang="en-US" dirty="0"/>
              <a:t>요건 및 절차</a:t>
            </a:r>
          </a:p>
        </p:txBody>
      </p:sp>
      <p:sp>
        <p:nvSpPr>
          <p:cNvPr id="34" name="TextBox 33">
            <a:extLst>
              <a:ext uri="{FF2B5EF4-FFF2-40B4-BE49-F238E27FC236}">
                <a16:creationId xmlns:a16="http://schemas.microsoft.com/office/drawing/2014/main" id="{70BE31FE-DA76-4189-8F68-0DF82E127B97}"/>
              </a:ext>
            </a:extLst>
          </p:cNvPr>
          <p:cNvSpPr txBox="1"/>
          <p:nvPr/>
        </p:nvSpPr>
        <p:spPr>
          <a:xfrm>
            <a:off x="5331634" y="2847171"/>
            <a:ext cx="1290738" cy="369332"/>
          </a:xfrm>
          <a:prstGeom prst="rect">
            <a:avLst/>
          </a:prstGeom>
          <a:noFill/>
        </p:spPr>
        <p:txBody>
          <a:bodyPr wrap="none" rtlCol="0">
            <a:spAutoFit/>
          </a:bodyPr>
          <a:lstStyle/>
          <a:p>
            <a:pPr algn="r"/>
            <a:r>
              <a:rPr lang="ko-KR" altLang="en-US"/>
              <a:t>절차의 무효</a:t>
            </a:r>
            <a:endParaRPr lang="ko-KR" altLang="en-US" dirty="0"/>
          </a:p>
        </p:txBody>
      </p:sp>
      <p:sp>
        <p:nvSpPr>
          <p:cNvPr id="35" name="TextBox 34">
            <a:extLst>
              <a:ext uri="{FF2B5EF4-FFF2-40B4-BE49-F238E27FC236}">
                <a16:creationId xmlns:a16="http://schemas.microsoft.com/office/drawing/2014/main" id="{112D0439-F3EA-436F-B57B-B771240895C5}"/>
              </a:ext>
            </a:extLst>
          </p:cNvPr>
          <p:cNvSpPr txBox="1"/>
          <p:nvPr/>
        </p:nvSpPr>
        <p:spPr>
          <a:xfrm>
            <a:off x="5274028" y="4045890"/>
            <a:ext cx="1354858" cy="369332"/>
          </a:xfrm>
          <a:prstGeom prst="rect">
            <a:avLst/>
          </a:prstGeom>
          <a:noFill/>
        </p:spPr>
        <p:txBody>
          <a:bodyPr wrap="none" rtlCol="0">
            <a:spAutoFit/>
          </a:bodyPr>
          <a:lstStyle/>
          <a:p>
            <a:pPr algn="r"/>
            <a:r>
              <a:rPr lang="ko-KR" altLang="en-US" dirty="0"/>
              <a:t>요건 및 절차</a:t>
            </a:r>
          </a:p>
        </p:txBody>
      </p:sp>
      <p:sp>
        <p:nvSpPr>
          <p:cNvPr id="36" name="TextBox 35">
            <a:extLst>
              <a:ext uri="{FF2B5EF4-FFF2-40B4-BE49-F238E27FC236}">
                <a16:creationId xmlns:a16="http://schemas.microsoft.com/office/drawing/2014/main" id="{3C67E4BA-2056-4BBC-B3BA-CE66FB435242}"/>
              </a:ext>
            </a:extLst>
          </p:cNvPr>
          <p:cNvSpPr txBox="1"/>
          <p:nvPr/>
        </p:nvSpPr>
        <p:spPr>
          <a:xfrm>
            <a:off x="5590879" y="5967675"/>
            <a:ext cx="1018227" cy="369332"/>
          </a:xfrm>
          <a:prstGeom prst="rect">
            <a:avLst/>
          </a:prstGeom>
          <a:noFill/>
        </p:spPr>
        <p:txBody>
          <a:bodyPr wrap="none" rtlCol="0">
            <a:spAutoFit/>
          </a:bodyPr>
          <a:lstStyle/>
          <a:p>
            <a:pPr algn="r"/>
            <a:r>
              <a:rPr lang="ko-KR" altLang="en-US" dirty="0"/>
              <a:t>거절결정</a:t>
            </a:r>
          </a:p>
        </p:txBody>
      </p:sp>
      <p:sp>
        <p:nvSpPr>
          <p:cNvPr id="37" name="TextBox 36">
            <a:extLst>
              <a:ext uri="{FF2B5EF4-FFF2-40B4-BE49-F238E27FC236}">
                <a16:creationId xmlns:a16="http://schemas.microsoft.com/office/drawing/2014/main" id="{53894E70-99DA-456E-8E1D-1B109FA8977F}"/>
              </a:ext>
            </a:extLst>
          </p:cNvPr>
          <p:cNvSpPr txBox="1"/>
          <p:nvPr/>
        </p:nvSpPr>
        <p:spPr>
          <a:xfrm>
            <a:off x="7403084" y="5967675"/>
            <a:ext cx="1018227" cy="369332"/>
          </a:xfrm>
          <a:prstGeom prst="rect">
            <a:avLst/>
          </a:prstGeom>
          <a:noFill/>
        </p:spPr>
        <p:txBody>
          <a:bodyPr wrap="none" rtlCol="0">
            <a:spAutoFit/>
          </a:bodyPr>
          <a:lstStyle/>
          <a:p>
            <a:pPr algn="r"/>
            <a:r>
              <a:rPr lang="ko-KR" altLang="en-US" dirty="0" err="1"/>
              <a:t>보정각하</a:t>
            </a:r>
            <a:endParaRPr lang="ko-KR" altLang="en-US" dirty="0"/>
          </a:p>
        </p:txBody>
      </p:sp>
      <p:cxnSp>
        <p:nvCxnSpPr>
          <p:cNvPr id="39" name="직선 연결선 38">
            <a:extLst>
              <a:ext uri="{FF2B5EF4-FFF2-40B4-BE49-F238E27FC236}">
                <a16:creationId xmlns:a16="http://schemas.microsoft.com/office/drawing/2014/main" id="{FFF341D0-2061-440F-B500-3A3EB4F13D51}"/>
              </a:ext>
            </a:extLst>
          </p:cNvPr>
          <p:cNvCxnSpPr/>
          <p:nvPr/>
        </p:nvCxnSpPr>
        <p:spPr>
          <a:xfrm>
            <a:off x="193357" y="3605843"/>
            <a:ext cx="11857744" cy="0"/>
          </a:xfrm>
          <a:prstGeom prst="line">
            <a:avLst/>
          </a:prstGeom>
          <a:ln w="381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사각형: 둥근 모서리 39">
            <a:extLst>
              <a:ext uri="{FF2B5EF4-FFF2-40B4-BE49-F238E27FC236}">
                <a16:creationId xmlns:a16="http://schemas.microsoft.com/office/drawing/2014/main" id="{0024A28F-0C9C-4391-83AF-C3E2872DB5B6}"/>
              </a:ext>
            </a:extLst>
          </p:cNvPr>
          <p:cNvSpPr/>
          <p:nvPr/>
        </p:nvSpPr>
        <p:spPr>
          <a:xfrm>
            <a:off x="721551" y="1803742"/>
            <a:ext cx="1353958" cy="716206"/>
          </a:xfrm>
          <a:prstGeom prst="round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ko-KR" altLang="en-US"/>
              <a:t>절차보정</a:t>
            </a:r>
          </a:p>
        </p:txBody>
      </p:sp>
      <p:sp>
        <p:nvSpPr>
          <p:cNvPr id="41" name="사각형: 둥근 모서리 40">
            <a:extLst>
              <a:ext uri="{FF2B5EF4-FFF2-40B4-BE49-F238E27FC236}">
                <a16:creationId xmlns:a16="http://schemas.microsoft.com/office/drawing/2014/main" id="{FE4C8CAD-090A-4E62-90AC-35364458E273}"/>
              </a:ext>
            </a:extLst>
          </p:cNvPr>
          <p:cNvSpPr/>
          <p:nvPr/>
        </p:nvSpPr>
        <p:spPr>
          <a:xfrm>
            <a:off x="721551" y="4846605"/>
            <a:ext cx="1353958" cy="716206"/>
          </a:xfrm>
          <a:prstGeom prst="round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ko-KR" altLang="en-US" dirty="0"/>
              <a:t>실체보정</a:t>
            </a:r>
          </a:p>
        </p:txBody>
      </p:sp>
      <p:cxnSp>
        <p:nvCxnSpPr>
          <p:cNvPr id="43" name="연결선: 꺾임 42">
            <a:extLst>
              <a:ext uri="{FF2B5EF4-FFF2-40B4-BE49-F238E27FC236}">
                <a16:creationId xmlns:a16="http://schemas.microsoft.com/office/drawing/2014/main" id="{147762A6-3321-4938-B961-CADAF14CB79F}"/>
              </a:ext>
            </a:extLst>
          </p:cNvPr>
          <p:cNvCxnSpPr>
            <a:stCxn id="10" idx="2"/>
            <a:endCxn id="12" idx="0"/>
          </p:cNvCxnSpPr>
          <p:nvPr/>
        </p:nvCxnSpPr>
        <p:spPr>
          <a:xfrm rot="16200000" flipH="1">
            <a:off x="6914109" y="4541652"/>
            <a:ext cx="1135977" cy="857927"/>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4" name="말풍선: 모서리가 둥근 사각형 43">
            <a:extLst>
              <a:ext uri="{FF2B5EF4-FFF2-40B4-BE49-F238E27FC236}">
                <a16:creationId xmlns:a16="http://schemas.microsoft.com/office/drawing/2014/main" id="{29B258CD-A15D-4552-8714-8446F75190E4}"/>
              </a:ext>
            </a:extLst>
          </p:cNvPr>
          <p:cNvSpPr/>
          <p:nvPr/>
        </p:nvSpPr>
        <p:spPr>
          <a:xfrm>
            <a:off x="3162739" y="4514935"/>
            <a:ext cx="1618785" cy="289113"/>
          </a:xfrm>
          <a:prstGeom prst="wedgeRoundRectCallout">
            <a:avLst>
              <a:gd name="adj1" fmla="val 30858"/>
              <a:gd name="adj2" fmla="val 143062"/>
              <a:gd name="adj3" fmla="val 16667"/>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ctr">
              <a:buFont typeface="Wingdings" panose="05000000000000000000" pitchFamily="2" charset="2"/>
              <a:buChar char="§"/>
            </a:pPr>
            <a:r>
              <a:rPr lang="ko-KR" altLang="en-US" sz="1100" dirty="0">
                <a:solidFill>
                  <a:schemeClr val="tx1">
                    <a:lumMod val="50000"/>
                    <a:lumOff val="50000"/>
                  </a:schemeClr>
                </a:solidFill>
              </a:rPr>
              <a:t>제</a:t>
            </a:r>
            <a:r>
              <a:rPr lang="en-US" altLang="ko-KR" sz="1100" dirty="0">
                <a:solidFill>
                  <a:schemeClr val="tx1">
                    <a:lumMod val="50000"/>
                    <a:lumOff val="50000"/>
                  </a:schemeClr>
                </a:solidFill>
              </a:rPr>
              <a:t>47</a:t>
            </a:r>
            <a:r>
              <a:rPr lang="ko-KR" altLang="en-US" sz="1100" dirty="0">
                <a:solidFill>
                  <a:schemeClr val="tx1">
                    <a:lumMod val="50000"/>
                    <a:lumOff val="50000"/>
                  </a:schemeClr>
                </a:solidFill>
              </a:rPr>
              <a:t>조제</a:t>
            </a:r>
            <a:r>
              <a:rPr lang="en-US" altLang="ko-KR" sz="1100" dirty="0">
                <a:solidFill>
                  <a:schemeClr val="tx1">
                    <a:lumMod val="50000"/>
                    <a:lumOff val="50000"/>
                  </a:schemeClr>
                </a:solidFill>
              </a:rPr>
              <a:t>2</a:t>
            </a:r>
            <a:r>
              <a:rPr lang="ko-KR" altLang="en-US" sz="1100" dirty="0">
                <a:solidFill>
                  <a:schemeClr val="tx1">
                    <a:lumMod val="50000"/>
                    <a:lumOff val="50000"/>
                  </a:schemeClr>
                </a:solidFill>
              </a:rPr>
              <a:t>항 위반</a:t>
            </a:r>
          </a:p>
        </p:txBody>
      </p:sp>
      <p:sp>
        <p:nvSpPr>
          <p:cNvPr id="45" name="말풍선: 모서리가 둥근 사각형 44">
            <a:extLst>
              <a:ext uri="{FF2B5EF4-FFF2-40B4-BE49-F238E27FC236}">
                <a16:creationId xmlns:a16="http://schemas.microsoft.com/office/drawing/2014/main" id="{15B9761A-2997-492B-B3FF-B9EDDB521BC5}"/>
              </a:ext>
            </a:extLst>
          </p:cNvPr>
          <p:cNvSpPr/>
          <p:nvPr/>
        </p:nvSpPr>
        <p:spPr>
          <a:xfrm>
            <a:off x="9057736" y="5863228"/>
            <a:ext cx="2475781" cy="675609"/>
          </a:xfrm>
          <a:prstGeom prst="wedgeRoundRectCallout">
            <a:avLst>
              <a:gd name="adj1" fmla="val -37441"/>
              <a:gd name="adj2" fmla="val -116202"/>
              <a:gd name="adj3" fmla="val 16667"/>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buFont typeface="Wingdings" panose="05000000000000000000" pitchFamily="2" charset="2"/>
              <a:buChar char="§"/>
            </a:pPr>
            <a:r>
              <a:rPr lang="ko-KR" altLang="en-US" sz="1100" dirty="0">
                <a:solidFill>
                  <a:schemeClr val="tx1">
                    <a:lumMod val="50000"/>
                    <a:lumOff val="50000"/>
                  </a:schemeClr>
                </a:solidFill>
              </a:rPr>
              <a:t>제</a:t>
            </a:r>
            <a:r>
              <a:rPr lang="en-US" altLang="ko-KR" sz="1100" dirty="0">
                <a:solidFill>
                  <a:schemeClr val="tx1">
                    <a:lumMod val="50000"/>
                    <a:lumOff val="50000"/>
                  </a:schemeClr>
                </a:solidFill>
              </a:rPr>
              <a:t>47</a:t>
            </a:r>
            <a:r>
              <a:rPr lang="ko-KR" altLang="en-US" sz="1100" dirty="0">
                <a:solidFill>
                  <a:schemeClr val="tx1">
                    <a:lumMod val="50000"/>
                    <a:lumOff val="50000"/>
                  </a:schemeClr>
                </a:solidFill>
              </a:rPr>
              <a:t>조제</a:t>
            </a:r>
            <a:r>
              <a:rPr lang="en-US" altLang="ko-KR" sz="1100" dirty="0">
                <a:solidFill>
                  <a:schemeClr val="tx1">
                    <a:lumMod val="50000"/>
                    <a:lumOff val="50000"/>
                  </a:schemeClr>
                </a:solidFill>
              </a:rPr>
              <a:t>2</a:t>
            </a:r>
            <a:r>
              <a:rPr lang="ko-KR" altLang="en-US" sz="1100" dirty="0">
                <a:solidFill>
                  <a:schemeClr val="tx1">
                    <a:lumMod val="50000"/>
                    <a:lumOff val="50000"/>
                  </a:schemeClr>
                </a:solidFill>
              </a:rPr>
              <a:t>항 위반</a:t>
            </a:r>
            <a:endParaRPr lang="en-US" altLang="ko-KR" sz="1100" dirty="0">
              <a:solidFill>
                <a:schemeClr val="tx1">
                  <a:lumMod val="50000"/>
                  <a:lumOff val="50000"/>
                </a:schemeClr>
              </a:solidFill>
            </a:endParaRPr>
          </a:p>
          <a:p>
            <a:pPr marL="171450" indent="-171450">
              <a:buFont typeface="Wingdings" panose="05000000000000000000" pitchFamily="2" charset="2"/>
              <a:buChar char="§"/>
            </a:pPr>
            <a:r>
              <a:rPr lang="ko-KR" altLang="en-US" sz="1100" dirty="0">
                <a:solidFill>
                  <a:schemeClr val="tx1">
                    <a:lumMod val="50000"/>
                    <a:lumOff val="50000"/>
                  </a:schemeClr>
                </a:solidFill>
              </a:rPr>
              <a:t>제</a:t>
            </a:r>
            <a:r>
              <a:rPr lang="en-US" altLang="ko-KR" sz="1100" dirty="0">
                <a:solidFill>
                  <a:schemeClr val="tx1">
                    <a:lumMod val="50000"/>
                    <a:lumOff val="50000"/>
                  </a:schemeClr>
                </a:solidFill>
              </a:rPr>
              <a:t>47</a:t>
            </a:r>
            <a:r>
              <a:rPr lang="ko-KR" altLang="en-US" sz="1100" dirty="0">
                <a:solidFill>
                  <a:schemeClr val="tx1">
                    <a:lumMod val="50000"/>
                    <a:lumOff val="50000"/>
                  </a:schemeClr>
                </a:solidFill>
              </a:rPr>
              <a:t>조제</a:t>
            </a:r>
            <a:r>
              <a:rPr lang="en-US" altLang="ko-KR" sz="1100" dirty="0">
                <a:solidFill>
                  <a:schemeClr val="tx1">
                    <a:lumMod val="50000"/>
                    <a:lumOff val="50000"/>
                  </a:schemeClr>
                </a:solidFill>
              </a:rPr>
              <a:t>3</a:t>
            </a:r>
            <a:r>
              <a:rPr lang="ko-KR" altLang="en-US" sz="1100" dirty="0">
                <a:solidFill>
                  <a:schemeClr val="tx1">
                    <a:lumMod val="50000"/>
                    <a:lumOff val="50000"/>
                  </a:schemeClr>
                </a:solidFill>
              </a:rPr>
              <a:t>항 위반</a:t>
            </a:r>
            <a:endParaRPr lang="en-US" altLang="ko-KR" sz="1100" dirty="0">
              <a:solidFill>
                <a:schemeClr val="tx1">
                  <a:lumMod val="50000"/>
                  <a:lumOff val="50000"/>
                </a:schemeClr>
              </a:solidFill>
            </a:endParaRPr>
          </a:p>
          <a:p>
            <a:pPr marL="171450" indent="-171450">
              <a:buFont typeface="Wingdings" panose="05000000000000000000" pitchFamily="2" charset="2"/>
              <a:buChar char="§"/>
            </a:pPr>
            <a:r>
              <a:rPr lang="ko-KR" altLang="en-US" sz="1100" dirty="0">
                <a:solidFill>
                  <a:schemeClr val="tx1">
                    <a:lumMod val="50000"/>
                    <a:lumOff val="50000"/>
                  </a:schemeClr>
                </a:solidFill>
              </a:rPr>
              <a:t>보정에 의하여 새로운 거절이유 발생</a:t>
            </a:r>
          </a:p>
        </p:txBody>
      </p:sp>
    </p:spTree>
    <p:extLst>
      <p:ext uri="{BB962C8B-B14F-4D97-AF65-F5344CB8AC3E}">
        <p14:creationId xmlns:p14="http://schemas.microsoft.com/office/powerpoint/2010/main" val="2808150074"/>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실체보정의 법조문</a:t>
            </a:r>
          </a:p>
        </p:txBody>
      </p:sp>
      <p:sp>
        <p:nvSpPr>
          <p:cNvPr id="26" name="TextBox 25"/>
          <p:cNvSpPr txBox="1"/>
          <p:nvPr/>
        </p:nvSpPr>
        <p:spPr>
          <a:xfrm>
            <a:off x="77875" y="986046"/>
            <a:ext cx="11936323" cy="5909310"/>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47</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특허출원의 보정</a:t>
            </a:r>
            <a:r>
              <a:rPr lang="en-US" altLang="ko-KR" sz="1400" b="1" dirty="0">
                <a:solidFill>
                  <a:schemeClr val="accent1"/>
                </a:solidFill>
              </a:rPr>
              <a:t>) </a:t>
            </a:r>
            <a:r>
              <a:rPr lang="en-US" altLang="ko-KR" sz="1400" dirty="0">
                <a:solidFill>
                  <a:schemeClr val="tx2"/>
                </a:solidFill>
              </a:rPr>
              <a:t>① </a:t>
            </a:r>
            <a:r>
              <a:rPr lang="ko-KR" altLang="en-US" sz="1400" dirty="0" err="1">
                <a:solidFill>
                  <a:schemeClr val="tx2"/>
                </a:solidFill>
              </a:rPr>
              <a:t>특허출원인은</a:t>
            </a:r>
            <a:r>
              <a:rPr lang="ko-KR" altLang="en-US" sz="1400" dirty="0">
                <a:solidFill>
                  <a:schemeClr val="tx2"/>
                </a:solidFill>
              </a:rPr>
              <a:t> 제</a:t>
            </a:r>
            <a:r>
              <a:rPr lang="en-US" altLang="ko-KR" sz="1400" dirty="0">
                <a:solidFill>
                  <a:schemeClr val="tx2"/>
                </a:solidFill>
              </a:rPr>
              <a:t>66</a:t>
            </a:r>
            <a:r>
              <a:rPr lang="ko-KR" altLang="en-US" sz="1400" dirty="0">
                <a:solidFill>
                  <a:schemeClr val="tx2"/>
                </a:solidFill>
              </a:rPr>
              <a:t>조에 따른 특허결정의 등본을 송달하기 전까지 </a:t>
            </a:r>
            <a:r>
              <a:rPr lang="ko-KR" altLang="en-US" sz="1400" dirty="0" err="1">
                <a:solidFill>
                  <a:schemeClr val="tx2"/>
                </a:solidFill>
              </a:rPr>
              <a:t>특허출원서에</a:t>
            </a:r>
            <a:r>
              <a:rPr lang="ko-KR" altLang="en-US" sz="1400" dirty="0">
                <a:solidFill>
                  <a:schemeClr val="tx2"/>
                </a:solidFill>
              </a:rPr>
              <a:t> 첨부한 명세서 또는 도면을 보정할 수 있다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63</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거절이유통지</a:t>
            </a:r>
            <a:r>
              <a:rPr lang="en-US" altLang="ko-KR" sz="1400" dirty="0">
                <a:solidFill>
                  <a:schemeClr val="tx2"/>
                </a:solidFill>
              </a:rPr>
              <a:t>(</a:t>
            </a:r>
            <a:r>
              <a:rPr lang="ko-KR" altLang="en-US" sz="1400" dirty="0">
                <a:solidFill>
                  <a:schemeClr val="tx2"/>
                </a:solidFill>
              </a:rPr>
              <a:t>이하 </a:t>
            </a:r>
            <a:r>
              <a:rPr lang="en-US" altLang="ko-KR" sz="1400" dirty="0">
                <a:solidFill>
                  <a:schemeClr val="tx2"/>
                </a:solidFill>
              </a:rPr>
              <a:t>"</a:t>
            </a:r>
            <a:r>
              <a:rPr lang="ko-KR" altLang="en-US" sz="1400" dirty="0">
                <a:solidFill>
                  <a:schemeClr val="tx2"/>
                </a:solidFill>
              </a:rPr>
              <a:t>거절이유통지</a:t>
            </a:r>
            <a:r>
              <a:rPr lang="en-US" altLang="ko-KR" sz="1400" dirty="0">
                <a:solidFill>
                  <a:schemeClr val="tx2"/>
                </a:solidFill>
              </a:rPr>
              <a:t>"</a:t>
            </a:r>
            <a:r>
              <a:rPr lang="ko-KR" altLang="en-US" sz="1400" dirty="0">
                <a:solidFill>
                  <a:schemeClr val="tx2"/>
                </a:solidFill>
              </a:rPr>
              <a:t>라 한다</a:t>
            </a:r>
            <a:r>
              <a:rPr lang="en-US" altLang="ko-KR" sz="1400" dirty="0">
                <a:solidFill>
                  <a:schemeClr val="tx2"/>
                </a:solidFill>
              </a:rPr>
              <a:t>)</a:t>
            </a:r>
            <a:r>
              <a:rPr lang="ko-KR" altLang="en-US" sz="1400" dirty="0">
                <a:solidFill>
                  <a:schemeClr val="tx2"/>
                </a:solidFill>
              </a:rPr>
              <a:t>를 받은 후에는 다음 각 호의 구분에 따른 기간</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3</a:t>
            </a:r>
            <a:r>
              <a:rPr lang="ko-KR" altLang="en-US" sz="1400" dirty="0">
                <a:solidFill>
                  <a:schemeClr val="tx2"/>
                </a:solidFill>
              </a:rPr>
              <a:t>호의 경우에는 그 때</a:t>
            </a:r>
            <a:r>
              <a:rPr lang="en-US" altLang="ko-KR" sz="1400" dirty="0">
                <a:solidFill>
                  <a:schemeClr val="tx2"/>
                </a:solidFill>
              </a:rPr>
              <a:t>)</a:t>
            </a:r>
            <a:r>
              <a:rPr lang="ko-KR" altLang="en-US" sz="1400" dirty="0">
                <a:solidFill>
                  <a:schemeClr val="tx2"/>
                </a:solidFill>
              </a:rPr>
              <a:t>에만 보정할 수 있다</a:t>
            </a:r>
            <a:r>
              <a:rPr lang="en-US" altLang="ko-KR" sz="1400" dirty="0">
                <a:solidFill>
                  <a:schemeClr val="tx2"/>
                </a:solidFill>
              </a:rPr>
              <a:t>. </a:t>
            </a:r>
          </a:p>
          <a:p>
            <a:pPr fontAlgn="base"/>
            <a:r>
              <a:rPr lang="en-US" altLang="ko-KR" sz="1400" dirty="0">
                <a:solidFill>
                  <a:schemeClr val="tx2"/>
                </a:solidFill>
              </a:rPr>
              <a:t>1. </a:t>
            </a:r>
            <a:r>
              <a:rPr lang="ko-KR" altLang="en-US" sz="1400" dirty="0">
                <a:solidFill>
                  <a:schemeClr val="tx2"/>
                </a:solidFill>
              </a:rPr>
              <a:t>거절이유통지</a:t>
            </a:r>
            <a:r>
              <a:rPr lang="en-US" altLang="ko-KR" sz="1400" dirty="0">
                <a:solidFill>
                  <a:schemeClr val="tx2"/>
                </a:solidFill>
              </a:rPr>
              <a:t>(</a:t>
            </a:r>
            <a:r>
              <a:rPr lang="ko-KR" altLang="en-US" sz="1400" dirty="0">
                <a:solidFill>
                  <a:schemeClr val="tx2"/>
                </a:solidFill>
              </a:rPr>
              <a:t>거절이유통지에 대한 보정에 따라 발생한 거절이유에 대한 거절이유통지는 제외한다</a:t>
            </a:r>
            <a:r>
              <a:rPr lang="en-US" altLang="ko-KR" sz="1400" dirty="0">
                <a:solidFill>
                  <a:schemeClr val="tx2"/>
                </a:solidFill>
              </a:rPr>
              <a:t>)</a:t>
            </a:r>
            <a:r>
              <a:rPr lang="ko-KR" altLang="en-US" sz="1400" dirty="0">
                <a:solidFill>
                  <a:schemeClr val="tx2"/>
                </a:solidFill>
              </a:rPr>
              <a:t>를 최초로 받거나 제</a:t>
            </a:r>
            <a:r>
              <a:rPr lang="en-US" altLang="ko-KR" sz="1400" dirty="0">
                <a:solidFill>
                  <a:schemeClr val="tx2"/>
                </a:solidFill>
              </a:rPr>
              <a:t>2</a:t>
            </a:r>
            <a:r>
              <a:rPr lang="ko-KR" altLang="en-US" sz="1400" dirty="0">
                <a:solidFill>
                  <a:schemeClr val="tx2"/>
                </a:solidFill>
              </a:rPr>
              <a:t>호의 거절이유통지가 아닌 거절이유통지를 받은 경우</a:t>
            </a:r>
            <a:r>
              <a:rPr lang="en-US" altLang="ko-KR" sz="1400" dirty="0">
                <a:solidFill>
                  <a:schemeClr val="tx2"/>
                </a:solidFill>
              </a:rPr>
              <a:t>: </a:t>
            </a:r>
            <a:r>
              <a:rPr lang="ko-KR" altLang="en-US" sz="1400" dirty="0">
                <a:solidFill>
                  <a:schemeClr val="tx2"/>
                </a:solidFill>
              </a:rPr>
              <a:t>해당 거절이유통지에 따른 의견서 제출기간</a:t>
            </a:r>
          </a:p>
          <a:p>
            <a:pPr fontAlgn="base"/>
            <a:r>
              <a:rPr lang="en-US" altLang="ko-KR" sz="1400" dirty="0">
                <a:solidFill>
                  <a:schemeClr val="tx2"/>
                </a:solidFill>
              </a:rPr>
              <a:t>2. </a:t>
            </a:r>
            <a:r>
              <a:rPr lang="ko-KR" altLang="en-US" sz="1400" dirty="0">
                <a:solidFill>
                  <a:schemeClr val="tx2"/>
                </a:solidFill>
              </a:rPr>
              <a:t>거절이유통지</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66</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항에 따른 통지를 한 경우에는 그 통지 전의 거절이유통지는 제외한다</a:t>
            </a:r>
            <a:r>
              <a:rPr lang="en-US" altLang="ko-KR" sz="1400" dirty="0">
                <a:solidFill>
                  <a:schemeClr val="tx2"/>
                </a:solidFill>
              </a:rPr>
              <a:t>)</a:t>
            </a:r>
            <a:r>
              <a:rPr lang="ko-KR" altLang="en-US" sz="1400" dirty="0">
                <a:solidFill>
                  <a:schemeClr val="tx2"/>
                </a:solidFill>
              </a:rPr>
              <a:t>에 대한 보정에 따라 발생한 거절이유에 대하여 거절이유통지를 받은 경우</a:t>
            </a:r>
            <a:r>
              <a:rPr lang="en-US" altLang="ko-KR" sz="1400" dirty="0">
                <a:solidFill>
                  <a:schemeClr val="tx2"/>
                </a:solidFill>
              </a:rPr>
              <a:t>: </a:t>
            </a:r>
            <a:r>
              <a:rPr lang="ko-KR" altLang="en-US" sz="1400" dirty="0">
                <a:solidFill>
                  <a:schemeClr val="tx2"/>
                </a:solidFill>
              </a:rPr>
              <a:t>해당 거절이유통지에 따른 의견서 제출기간</a:t>
            </a:r>
          </a:p>
          <a:p>
            <a:pPr fontAlgn="base"/>
            <a:r>
              <a:rPr lang="en-US" altLang="ko-KR" sz="1400" dirty="0">
                <a:solidFill>
                  <a:schemeClr val="tx2"/>
                </a:solidFill>
              </a:rPr>
              <a:t>3. </a:t>
            </a:r>
            <a:r>
              <a:rPr lang="ko-KR" altLang="en-US" sz="1400" dirty="0">
                <a:solidFill>
                  <a:schemeClr val="tx2"/>
                </a:solidFill>
              </a:rPr>
              <a:t>제</a:t>
            </a:r>
            <a:r>
              <a:rPr lang="en-US" altLang="ko-KR" sz="1400" dirty="0">
                <a:solidFill>
                  <a:schemeClr val="tx2"/>
                </a:solidFill>
              </a:rPr>
              <a:t>67</a:t>
            </a:r>
            <a:r>
              <a:rPr lang="ko-KR" altLang="en-US" sz="1400" dirty="0">
                <a:solidFill>
                  <a:schemeClr val="tx2"/>
                </a:solidFill>
              </a:rPr>
              <a:t>조의</a:t>
            </a:r>
            <a:r>
              <a:rPr lang="en-US" altLang="ko-KR" sz="1400" dirty="0">
                <a:solidFill>
                  <a:schemeClr val="tx2"/>
                </a:solidFill>
              </a:rPr>
              <a:t>2</a:t>
            </a:r>
            <a:r>
              <a:rPr lang="ko-KR" altLang="en-US" sz="1400" dirty="0">
                <a:solidFill>
                  <a:schemeClr val="tx2"/>
                </a:solidFill>
              </a:rPr>
              <a:t>에 따른 재심사를 청구하는 경우</a:t>
            </a:r>
            <a:r>
              <a:rPr lang="en-US" altLang="ko-KR" sz="1400" dirty="0">
                <a:solidFill>
                  <a:schemeClr val="tx2"/>
                </a:solidFill>
              </a:rPr>
              <a:t>: </a:t>
            </a:r>
            <a:r>
              <a:rPr lang="ko-KR" altLang="en-US" sz="1400" dirty="0">
                <a:solidFill>
                  <a:schemeClr val="tx2"/>
                </a:solidFill>
              </a:rPr>
              <a:t>청구할 때</a:t>
            </a:r>
          </a:p>
          <a:p>
            <a:pPr fontAlgn="base"/>
            <a:r>
              <a:rPr lang="ko-KR" altLang="en-US" sz="1400" dirty="0">
                <a:solidFill>
                  <a:schemeClr val="tx2"/>
                </a:solidFill>
              </a:rPr>
              <a:t>② 제</a:t>
            </a:r>
            <a:r>
              <a:rPr lang="en-US" altLang="ko-KR" sz="1400" dirty="0">
                <a:solidFill>
                  <a:schemeClr val="tx2"/>
                </a:solidFill>
              </a:rPr>
              <a:t>1</a:t>
            </a:r>
            <a:r>
              <a:rPr lang="ko-KR" altLang="en-US" sz="1400" dirty="0">
                <a:solidFill>
                  <a:schemeClr val="tx2"/>
                </a:solidFill>
              </a:rPr>
              <a:t>항에 따른 명세서 또는 도면의 보정은 </a:t>
            </a:r>
            <a:r>
              <a:rPr lang="ko-KR" altLang="en-US" sz="1400" dirty="0" err="1">
                <a:solidFill>
                  <a:schemeClr val="tx2"/>
                </a:solidFill>
              </a:rPr>
              <a:t>특허출원서에</a:t>
            </a:r>
            <a:r>
              <a:rPr lang="ko-KR" altLang="en-US" sz="1400" dirty="0">
                <a:solidFill>
                  <a:schemeClr val="tx2"/>
                </a:solidFill>
              </a:rPr>
              <a:t> 최초로 첨부한 명세서 또는 도면에 기재된 사항의 범위에서 하여야 한다</a:t>
            </a:r>
            <a:r>
              <a:rPr lang="en-US" altLang="ko-KR" sz="1400" dirty="0">
                <a:solidFill>
                  <a:schemeClr val="tx2"/>
                </a:solidFill>
              </a:rPr>
              <a:t>. </a:t>
            </a:r>
            <a:r>
              <a:rPr lang="ko-KR" altLang="en-US" sz="1400" dirty="0">
                <a:solidFill>
                  <a:schemeClr val="tx2"/>
                </a:solidFill>
              </a:rPr>
              <a:t>이 경우</a:t>
            </a:r>
            <a:r>
              <a:rPr lang="en-US" altLang="ko-KR" sz="1400" dirty="0">
                <a:solidFill>
                  <a:schemeClr val="tx2"/>
                </a:solidFill>
              </a:rPr>
              <a:t>, </a:t>
            </a:r>
            <a:r>
              <a:rPr lang="ko-KR" altLang="en-US" sz="1400" dirty="0">
                <a:solidFill>
                  <a:schemeClr val="tx2"/>
                </a:solidFill>
              </a:rPr>
              <a:t>외국어특허출원에 대한 보정은 최종 국어번역문</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42</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제</a:t>
            </a:r>
            <a:r>
              <a:rPr lang="en-US" altLang="ko-KR" sz="1400" dirty="0">
                <a:solidFill>
                  <a:schemeClr val="tx2"/>
                </a:solidFill>
              </a:rPr>
              <a:t>6</a:t>
            </a:r>
            <a:r>
              <a:rPr lang="ko-KR" altLang="en-US" sz="1400" dirty="0">
                <a:solidFill>
                  <a:schemeClr val="tx2"/>
                </a:solidFill>
              </a:rPr>
              <a:t>항 전단에 따른 정정이 있는 경우에는 정정된 국어번역문을 말한다</a:t>
            </a:r>
            <a:r>
              <a:rPr lang="en-US" altLang="ko-KR" sz="1400" dirty="0">
                <a:solidFill>
                  <a:schemeClr val="tx2"/>
                </a:solidFill>
              </a:rPr>
              <a:t>) </a:t>
            </a:r>
            <a:r>
              <a:rPr lang="ko-KR" altLang="en-US" sz="1400" dirty="0">
                <a:solidFill>
                  <a:schemeClr val="tx2"/>
                </a:solidFill>
              </a:rPr>
              <a:t>또는 </a:t>
            </a:r>
            <a:r>
              <a:rPr lang="ko-KR" altLang="en-US" sz="1400" dirty="0" err="1">
                <a:solidFill>
                  <a:schemeClr val="tx2"/>
                </a:solidFill>
              </a:rPr>
              <a:t>특허출원서에</a:t>
            </a:r>
            <a:r>
              <a:rPr lang="ko-KR" altLang="en-US" sz="1400" dirty="0">
                <a:solidFill>
                  <a:schemeClr val="tx2"/>
                </a:solidFill>
              </a:rPr>
              <a:t> 최초로 첨부한 도면</a:t>
            </a:r>
            <a:r>
              <a:rPr lang="en-US" altLang="ko-KR" sz="1400" dirty="0">
                <a:solidFill>
                  <a:schemeClr val="tx2"/>
                </a:solidFill>
              </a:rPr>
              <a:t>(</a:t>
            </a:r>
            <a:r>
              <a:rPr lang="ko-KR" altLang="en-US" sz="1400" dirty="0">
                <a:solidFill>
                  <a:schemeClr val="tx2"/>
                </a:solidFill>
              </a:rPr>
              <a:t>도면 중 설명부분은 제외한다</a:t>
            </a:r>
            <a:r>
              <a:rPr lang="en-US" altLang="ko-KR" sz="1400" dirty="0">
                <a:solidFill>
                  <a:schemeClr val="tx2"/>
                </a:solidFill>
              </a:rPr>
              <a:t>)</a:t>
            </a:r>
            <a:r>
              <a:rPr lang="ko-KR" altLang="en-US" sz="1400" dirty="0">
                <a:solidFill>
                  <a:schemeClr val="tx2"/>
                </a:solidFill>
              </a:rPr>
              <a:t>에 기재된 사항의 범위에서도 하여야 한다</a:t>
            </a:r>
            <a:r>
              <a:rPr lang="en-US" altLang="ko-KR" sz="1400" dirty="0">
                <a:solidFill>
                  <a:schemeClr val="tx2"/>
                </a:solidFill>
              </a:rPr>
              <a:t>.</a:t>
            </a:r>
          </a:p>
          <a:p>
            <a:pPr fontAlgn="base"/>
            <a:r>
              <a:rPr lang="en-US" altLang="ko-KR" sz="1400" dirty="0">
                <a:solidFill>
                  <a:schemeClr val="tx2"/>
                </a:solidFill>
              </a:rPr>
              <a:t>③ </a:t>
            </a:r>
            <a:r>
              <a:rPr lang="ko-KR" altLang="en-US" sz="1400" dirty="0">
                <a:solidFill>
                  <a:schemeClr val="tx2"/>
                </a:solidFill>
              </a:rPr>
              <a:t>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2</a:t>
            </a:r>
            <a:r>
              <a:rPr lang="ko-KR" altLang="en-US" sz="1400" dirty="0">
                <a:solidFill>
                  <a:schemeClr val="tx2"/>
                </a:solidFill>
              </a:rPr>
              <a:t>호 및 제</a:t>
            </a:r>
            <a:r>
              <a:rPr lang="en-US" altLang="ko-KR" sz="1400" dirty="0">
                <a:solidFill>
                  <a:schemeClr val="tx2"/>
                </a:solidFill>
              </a:rPr>
              <a:t>3</a:t>
            </a:r>
            <a:r>
              <a:rPr lang="ko-KR" altLang="en-US" sz="1400" dirty="0">
                <a:solidFill>
                  <a:schemeClr val="tx2"/>
                </a:solidFill>
              </a:rPr>
              <a:t>호에 따른 보정 중 청구범위에 대한 보정은 다음 각 호의 어느 하나에 해당하는 경우에만 할 수 있다</a:t>
            </a:r>
            <a:r>
              <a:rPr lang="en-US" altLang="ko-KR" sz="1400" dirty="0">
                <a:solidFill>
                  <a:schemeClr val="tx2"/>
                </a:solidFill>
              </a:rPr>
              <a:t>.</a:t>
            </a:r>
          </a:p>
          <a:p>
            <a:pPr fontAlgn="base"/>
            <a:r>
              <a:rPr lang="en-US" altLang="ko-KR" sz="1400" dirty="0">
                <a:solidFill>
                  <a:schemeClr val="tx2"/>
                </a:solidFill>
              </a:rPr>
              <a:t>1. </a:t>
            </a:r>
            <a:r>
              <a:rPr lang="ko-KR" altLang="en-US" sz="1400" dirty="0" err="1">
                <a:solidFill>
                  <a:schemeClr val="tx2"/>
                </a:solidFill>
              </a:rPr>
              <a:t>청구항을</a:t>
            </a:r>
            <a:r>
              <a:rPr lang="ko-KR" altLang="en-US" sz="1400" dirty="0">
                <a:solidFill>
                  <a:schemeClr val="tx2"/>
                </a:solidFill>
              </a:rPr>
              <a:t> 한정 또는 삭제하거나 </a:t>
            </a:r>
            <a:r>
              <a:rPr lang="ko-KR" altLang="en-US" sz="1400" dirty="0" err="1">
                <a:solidFill>
                  <a:schemeClr val="tx2"/>
                </a:solidFill>
              </a:rPr>
              <a:t>청구항에</a:t>
            </a:r>
            <a:r>
              <a:rPr lang="ko-KR" altLang="en-US" sz="1400" dirty="0">
                <a:solidFill>
                  <a:schemeClr val="tx2"/>
                </a:solidFill>
              </a:rPr>
              <a:t> 부가하여 청구범위를 감축하는 경우</a:t>
            </a:r>
          </a:p>
          <a:p>
            <a:pPr fontAlgn="base"/>
            <a:r>
              <a:rPr lang="en-US" altLang="ko-KR" sz="1400" dirty="0">
                <a:solidFill>
                  <a:schemeClr val="tx2"/>
                </a:solidFill>
              </a:rPr>
              <a:t>2. </a:t>
            </a:r>
            <a:r>
              <a:rPr lang="ko-KR" altLang="en-US" sz="1400" dirty="0">
                <a:solidFill>
                  <a:schemeClr val="tx2"/>
                </a:solidFill>
              </a:rPr>
              <a:t>잘못 기재된 사항을 정정하는 경우</a:t>
            </a:r>
          </a:p>
          <a:p>
            <a:pPr fontAlgn="base"/>
            <a:r>
              <a:rPr lang="en-US" altLang="ko-KR" sz="1400" dirty="0">
                <a:solidFill>
                  <a:schemeClr val="tx2"/>
                </a:solidFill>
              </a:rPr>
              <a:t>3. </a:t>
            </a:r>
            <a:r>
              <a:rPr lang="ko-KR" altLang="en-US" sz="1400" dirty="0">
                <a:solidFill>
                  <a:schemeClr val="tx2"/>
                </a:solidFill>
              </a:rPr>
              <a:t>분명하지 아니하게 기재된 사항을 명확하게 하는 경우</a:t>
            </a:r>
          </a:p>
          <a:p>
            <a:pPr fontAlgn="base"/>
            <a:r>
              <a:rPr lang="en-US" altLang="ko-KR" sz="1400" dirty="0">
                <a:solidFill>
                  <a:schemeClr val="tx2"/>
                </a:solidFill>
              </a:rPr>
              <a:t>4. </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항에 따른 범위를 벗어난 보정에 대하여 그 보정 전 청구범위로 되돌아가거나 되돌아가면서 청구범위를 제</a:t>
            </a:r>
            <a:r>
              <a:rPr lang="en-US" altLang="ko-KR" sz="1400" dirty="0">
                <a:solidFill>
                  <a:schemeClr val="tx2"/>
                </a:solidFill>
              </a:rPr>
              <a:t>1</a:t>
            </a:r>
            <a:r>
              <a:rPr lang="ko-KR" altLang="en-US" sz="1400" dirty="0">
                <a:solidFill>
                  <a:schemeClr val="tx2"/>
                </a:solidFill>
              </a:rPr>
              <a:t>호부터 제</a:t>
            </a:r>
            <a:r>
              <a:rPr lang="en-US" altLang="ko-KR" sz="1400" dirty="0">
                <a:solidFill>
                  <a:schemeClr val="tx2"/>
                </a:solidFill>
              </a:rPr>
              <a:t>3</a:t>
            </a:r>
            <a:r>
              <a:rPr lang="ko-KR" altLang="en-US" sz="1400" dirty="0">
                <a:solidFill>
                  <a:schemeClr val="tx2"/>
                </a:solidFill>
              </a:rPr>
              <a:t>호까지의 규정에 따라 보정하는 경우</a:t>
            </a:r>
          </a:p>
          <a:p>
            <a:pPr fontAlgn="base"/>
            <a:r>
              <a:rPr lang="ko-KR" altLang="en-US" sz="1400" dirty="0">
                <a:solidFill>
                  <a:schemeClr val="tx2"/>
                </a:solidFill>
              </a:rPr>
              <a:t>④ 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1</a:t>
            </a:r>
            <a:r>
              <a:rPr lang="ko-KR" altLang="en-US" sz="1400" dirty="0">
                <a:solidFill>
                  <a:schemeClr val="tx2"/>
                </a:solidFill>
              </a:rPr>
              <a:t>호 또는 제</a:t>
            </a:r>
            <a:r>
              <a:rPr lang="en-US" altLang="ko-KR" sz="1400" dirty="0">
                <a:solidFill>
                  <a:schemeClr val="tx2"/>
                </a:solidFill>
              </a:rPr>
              <a:t>2</a:t>
            </a:r>
            <a:r>
              <a:rPr lang="ko-KR" altLang="en-US" sz="1400" dirty="0">
                <a:solidFill>
                  <a:schemeClr val="tx2"/>
                </a:solidFill>
              </a:rPr>
              <a:t>호에 따른 기간에 보정을 하는 경우에는 각각의 보정절차에서 마지막 보정 전에 한 모든 보정은 취하된 것으로 본다</a:t>
            </a:r>
            <a:r>
              <a:rPr lang="en-US" altLang="ko-KR" sz="1400" dirty="0">
                <a:solidFill>
                  <a:schemeClr val="tx2"/>
                </a:solidFill>
              </a:rPr>
              <a:t>.</a:t>
            </a:r>
          </a:p>
          <a:p>
            <a:pPr fontAlgn="base"/>
            <a:r>
              <a:rPr lang="en-US" altLang="ko-KR" sz="1400" dirty="0">
                <a:solidFill>
                  <a:schemeClr val="tx2"/>
                </a:solidFill>
              </a:rPr>
              <a:t>⑤ </a:t>
            </a:r>
            <a:r>
              <a:rPr lang="ko-KR" altLang="en-US" sz="1400" dirty="0">
                <a:solidFill>
                  <a:schemeClr val="tx2"/>
                </a:solidFill>
              </a:rPr>
              <a:t>외국어특허출원인 경우에는 제</a:t>
            </a:r>
            <a:r>
              <a:rPr lang="en-US" altLang="ko-KR" sz="1400" dirty="0">
                <a:solidFill>
                  <a:schemeClr val="tx2"/>
                </a:solidFill>
              </a:rPr>
              <a:t>1</a:t>
            </a:r>
            <a:r>
              <a:rPr lang="ko-KR" altLang="en-US" sz="1400" dirty="0">
                <a:solidFill>
                  <a:schemeClr val="tx2"/>
                </a:solidFill>
              </a:rPr>
              <a:t>항 본문에도 불구하고 제</a:t>
            </a:r>
            <a:r>
              <a:rPr lang="en-US" altLang="ko-KR" sz="1400" dirty="0">
                <a:solidFill>
                  <a:schemeClr val="tx2"/>
                </a:solidFill>
              </a:rPr>
              <a:t>42</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항에 따라 국어번역문을 제출한 경우에만 명세서 또는 도면을 보정할 수 있다</a:t>
            </a:r>
            <a:r>
              <a:rPr lang="en-US" altLang="ko-KR" sz="1400" dirty="0">
                <a:solidFill>
                  <a:schemeClr val="tx2"/>
                </a:solidFill>
              </a:rPr>
              <a:t>.</a:t>
            </a:r>
          </a:p>
          <a:p>
            <a:pPr fontAlgn="base"/>
            <a:r>
              <a:rPr lang="ko-KR" altLang="en-US" sz="1400" b="1" dirty="0">
                <a:solidFill>
                  <a:schemeClr val="accent1"/>
                </a:solidFill>
              </a:rPr>
              <a:t>제</a:t>
            </a:r>
            <a:r>
              <a:rPr lang="en-US" altLang="ko-KR" sz="1400" b="1" dirty="0">
                <a:solidFill>
                  <a:schemeClr val="accent1"/>
                </a:solidFill>
              </a:rPr>
              <a:t>51</a:t>
            </a:r>
            <a:r>
              <a:rPr lang="ko-KR" altLang="en-US" sz="1400" b="1" dirty="0">
                <a:solidFill>
                  <a:schemeClr val="accent1"/>
                </a:solidFill>
              </a:rPr>
              <a:t>조</a:t>
            </a:r>
            <a:r>
              <a:rPr lang="en-US" altLang="ko-KR" sz="1400" b="1" dirty="0">
                <a:solidFill>
                  <a:schemeClr val="accent1"/>
                </a:solidFill>
              </a:rPr>
              <a:t>(</a:t>
            </a:r>
            <a:r>
              <a:rPr lang="ko-KR" altLang="en-US" sz="1400" b="1" dirty="0" err="1">
                <a:solidFill>
                  <a:schemeClr val="accent1"/>
                </a:solidFill>
              </a:rPr>
              <a:t>보정각하</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심사관은 제</a:t>
            </a:r>
            <a:r>
              <a:rPr lang="en-US" altLang="ko-KR" sz="1400" dirty="0">
                <a:solidFill>
                  <a:schemeClr val="tx2"/>
                </a:solidFill>
              </a:rPr>
              <a:t>47</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2</a:t>
            </a:r>
            <a:r>
              <a:rPr lang="ko-KR" altLang="en-US" sz="1400" dirty="0">
                <a:solidFill>
                  <a:schemeClr val="tx2"/>
                </a:solidFill>
              </a:rPr>
              <a:t>호 및 제</a:t>
            </a:r>
            <a:r>
              <a:rPr lang="en-US" altLang="ko-KR" sz="1400" dirty="0">
                <a:solidFill>
                  <a:schemeClr val="tx2"/>
                </a:solidFill>
              </a:rPr>
              <a:t>3</a:t>
            </a:r>
            <a:r>
              <a:rPr lang="ko-KR" altLang="en-US" sz="1400" dirty="0">
                <a:solidFill>
                  <a:schemeClr val="tx2"/>
                </a:solidFill>
              </a:rPr>
              <a:t>호에 따른 보정이 같은 조 제</a:t>
            </a:r>
            <a:r>
              <a:rPr lang="en-US" altLang="ko-KR" sz="1400" dirty="0">
                <a:solidFill>
                  <a:schemeClr val="tx2"/>
                </a:solidFill>
              </a:rPr>
              <a:t>2</a:t>
            </a:r>
            <a:r>
              <a:rPr lang="ko-KR" altLang="en-US" sz="1400" dirty="0">
                <a:solidFill>
                  <a:schemeClr val="tx2"/>
                </a:solidFill>
              </a:rPr>
              <a:t>항 또는 제</a:t>
            </a:r>
            <a:r>
              <a:rPr lang="en-US" altLang="ko-KR" sz="1400" dirty="0">
                <a:solidFill>
                  <a:schemeClr val="tx2"/>
                </a:solidFill>
              </a:rPr>
              <a:t>3</a:t>
            </a:r>
            <a:r>
              <a:rPr lang="ko-KR" altLang="en-US" sz="1400" dirty="0">
                <a:solidFill>
                  <a:schemeClr val="tx2"/>
                </a:solidFill>
              </a:rPr>
              <a:t>항을 위반하거나 그 보정</a:t>
            </a:r>
            <a:r>
              <a:rPr lang="en-US" altLang="ko-KR" sz="1400" dirty="0">
                <a:solidFill>
                  <a:schemeClr val="tx2"/>
                </a:solidFill>
              </a:rPr>
              <a:t>(</a:t>
            </a:r>
            <a:r>
              <a:rPr lang="ko-KR" altLang="en-US" sz="1400" dirty="0">
                <a:solidFill>
                  <a:schemeClr val="tx2"/>
                </a:solidFill>
              </a:rPr>
              <a:t>같은 조 제</a:t>
            </a:r>
            <a:r>
              <a:rPr lang="en-US" altLang="ko-KR" sz="1400" dirty="0">
                <a:solidFill>
                  <a:schemeClr val="tx2"/>
                </a:solidFill>
              </a:rPr>
              <a:t>3</a:t>
            </a:r>
            <a:r>
              <a:rPr lang="ko-KR" altLang="en-US" sz="1400" dirty="0" err="1">
                <a:solidFill>
                  <a:schemeClr val="tx2"/>
                </a:solidFill>
              </a:rPr>
              <a:t>항제</a:t>
            </a:r>
            <a:r>
              <a:rPr lang="en-US" altLang="ko-KR" sz="1400" dirty="0">
                <a:solidFill>
                  <a:schemeClr val="tx2"/>
                </a:solidFill>
              </a:rPr>
              <a:t>1</a:t>
            </a:r>
            <a:r>
              <a:rPr lang="ko-KR" altLang="en-US" sz="1400" dirty="0">
                <a:solidFill>
                  <a:schemeClr val="tx2"/>
                </a:solidFill>
              </a:rPr>
              <a:t>호 및 제</a:t>
            </a:r>
            <a:r>
              <a:rPr lang="en-US" altLang="ko-KR" sz="1400" dirty="0">
                <a:solidFill>
                  <a:schemeClr val="tx2"/>
                </a:solidFill>
              </a:rPr>
              <a:t>4</a:t>
            </a:r>
            <a:r>
              <a:rPr lang="ko-KR" altLang="en-US" sz="1400" dirty="0">
                <a:solidFill>
                  <a:schemeClr val="tx2"/>
                </a:solidFill>
              </a:rPr>
              <a:t>호에 따른 보정 중 </a:t>
            </a:r>
            <a:r>
              <a:rPr lang="ko-KR" altLang="en-US" sz="1400" dirty="0" err="1">
                <a:solidFill>
                  <a:schemeClr val="tx2"/>
                </a:solidFill>
              </a:rPr>
              <a:t>청구항을</a:t>
            </a:r>
            <a:r>
              <a:rPr lang="ko-KR" altLang="en-US" sz="1400" dirty="0">
                <a:solidFill>
                  <a:schemeClr val="tx2"/>
                </a:solidFill>
              </a:rPr>
              <a:t> 삭제하는 보정은 제외한다</a:t>
            </a:r>
            <a:r>
              <a:rPr lang="en-US" altLang="ko-KR" sz="1400" dirty="0">
                <a:solidFill>
                  <a:schemeClr val="tx2"/>
                </a:solidFill>
              </a:rPr>
              <a:t>)</a:t>
            </a:r>
            <a:r>
              <a:rPr lang="ko-KR" altLang="en-US" sz="1400" dirty="0">
                <a:solidFill>
                  <a:schemeClr val="tx2"/>
                </a:solidFill>
              </a:rPr>
              <a:t>에 따라 새로운 거절이유가 발생한 것으로 인정하면 결정으로 그 보정을 각하하여야 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다음 각 호의 어느 하나에 해당하는 보정인 경우에는 그러하지 아니하다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제</a:t>
            </a:r>
            <a:r>
              <a:rPr lang="en-US" altLang="ko-KR" sz="1400" dirty="0">
                <a:solidFill>
                  <a:schemeClr val="tx2"/>
                </a:solidFill>
              </a:rPr>
              <a:t>66</a:t>
            </a:r>
            <a:r>
              <a:rPr lang="ko-KR" altLang="en-US" sz="1400" dirty="0">
                <a:solidFill>
                  <a:schemeClr val="tx2"/>
                </a:solidFill>
              </a:rPr>
              <a:t>조의</a:t>
            </a:r>
            <a:r>
              <a:rPr lang="en-US" altLang="ko-KR" sz="1400" dirty="0">
                <a:solidFill>
                  <a:schemeClr val="tx2"/>
                </a:solidFill>
              </a:rPr>
              <a:t>2</a:t>
            </a:r>
            <a:r>
              <a:rPr lang="ko-KR" altLang="en-US" sz="1400" dirty="0">
                <a:solidFill>
                  <a:schemeClr val="tx2"/>
                </a:solidFill>
              </a:rPr>
              <a:t>에 따른 직권보정을 하는 경우</a:t>
            </a:r>
            <a:r>
              <a:rPr lang="en-US" altLang="ko-KR" sz="1400" dirty="0">
                <a:solidFill>
                  <a:schemeClr val="tx2"/>
                </a:solidFill>
              </a:rPr>
              <a:t>: </a:t>
            </a:r>
            <a:r>
              <a:rPr lang="ko-KR" altLang="en-US" sz="1400" dirty="0">
                <a:solidFill>
                  <a:schemeClr val="tx2"/>
                </a:solidFill>
              </a:rPr>
              <a:t>그 직권보정 전에 한 보정</a:t>
            </a:r>
          </a:p>
          <a:p>
            <a:pPr fontAlgn="base"/>
            <a:r>
              <a:rPr lang="en-US" altLang="ko-KR" sz="1400" dirty="0">
                <a:solidFill>
                  <a:schemeClr val="tx2"/>
                </a:solidFill>
              </a:rPr>
              <a:t>2. </a:t>
            </a:r>
            <a:r>
              <a:rPr lang="ko-KR" altLang="en-US" sz="1400" dirty="0">
                <a:solidFill>
                  <a:schemeClr val="tx2"/>
                </a:solidFill>
              </a:rPr>
              <a:t>제</a:t>
            </a:r>
            <a:r>
              <a:rPr lang="en-US" altLang="ko-KR" sz="1400" dirty="0">
                <a:solidFill>
                  <a:schemeClr val="tx2"/>
                </a:solidFill>
              </a:rPr>
              <a:t>66</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에 따른 직권 재심사를 하는 경우</a:t>
            </a:r>
            <a:r>
              <a:rPr lang="en-US" altLang="ko-KR" sz="1400" dirty="0">
                <a:solidFill>
                  <a:schemeClr val="tx2"/>
                </a:solidFill>
              </a:rPr>
              <a:t>: </a:t>
            </a:r>
            <a:r>
              <a:rPr lang="ko-KR" altLang="en-US" sz="1400" dirty="0">
                <a:solidFill>
                  <a:schemeClr val="tx2"/>
                </a:solidFill>
              </a:rPr>
              <a:t>취소된 특허결정 전에 한 보정</a:t>
            </a:r>
          </a:p>
          <a:p>
            <a:pPr fontAlgn="base"/>
            <a:r>
              <a:rPr lang="en-US" altLang="ko-KR" sz="1400" dirty="0">
                <a:solidFill>
                  <a:schemeClr val="tx2"/>
                </a:solidFill>
              </a:rPr>
              <a:t>3. </a:t>
            </a:r>
            <a:r>
              <a:rPr lang="ko-KR" altLang="en-US" sz="1400" dirty="0">
                <a:solidFill>
                  <a:schemeClr val="tx2"/>
                </a:solidFill>
              </a:rPr>
              <a:t>제</a:t>
            </a:r>
            <a:r>
              <a:rPr lang="en-US" altLang="ko-KR" sz="1400" dirty="0">
                <a:solidFill>
                  <a:schemeClr val="tx2"/>
                </a:solidFill>
              </a:rPr>
              <a:t>67</a:t>
            </a:r>
            <a:r>
              <a:rPr lang="ko-KR" altLang="en-US" sz="1400" dirty="0">
                <a:solidFill>
                  <a:schemeClr val="tx2"/>
                </a:solidFill>
              </a:rPr>
              <a:t>조의</a:t>
            </a:r>
            <a:r>
              <a:rPr lang="en-US" altLang="ko-KR" sz="1400" dirty="0">
                <a:solidFill>
                  <a:schemeClr val="tx2"/>
                </a:solidFill>
              </a:rPr>
              <a:t>2</a:t>
            </a:r>
            <a:r>
              <a:rPr lang="ko-KR" altLang="en-US" sz="1400" dirty="0">
                <a:solidFill>
                  <a:schemeClr val="tx2"/>
                </a:solidFill>
              </a:rPr>
              <a:t>에 따른 재심사의 청구가 있는 경우</a:t>
            </a:r>
            <a:r>
              <a:rPr lang="en-US" altLang="ko-KR" sz="1400" dirty="0">
                <a:solidFill>
                  <a:schemeClr val="tx2"/>
                </a:solidFill>
              </a:rPr>
              <a:t>: </a:t>
            </a:r>
            <a:r>
              <a:rPr lang="ko-KR" altLang="en-US" sz="1400" dirty="0">
                <a:solidFill>
                  <a:schemeClr val="tx2"/>
                </a:solidFill>
              </a:rPr>
              <a:t>그 청구 전에 한 보정</a:t>
            </a:r>
          </a:p>
          <a:p>
            <a:pPr fontAlgn="base"/>
            <a:r>
              <a:rPr lang="ko-KR" altLang="en-US" sz="1400" dirty="0">
                <a:solidFill>
                  <a:schemeClr val="tx2"/>
                </a:solidFill>
              </a:rPr>
              <a:t>② 제</a:t>
            </a:r>
            <a:r>
              <a:rPr lang="en-US" altLang="ko-KR" sz="1400" dirty="0">
                <a:solidFill>
                  <a:schemeClr val="tx2"/>
                </a:solidFill>
              </a:rPr>
              <a:t>1</a:t>
            </a:r>
            <a:r>
              <a:rPr lang="ko-KR" altLang="en-US" sz="1400" dirty="0">
                <a:solidFill>
                  <a:schemeClr val="tx2"/>
                </a:solidFill>
              </a:rPr>
              <a:t>항에 따른 </a:t>
            </a:r>
            <a:r>
              <a:rPr lang="ko-KR" altLang="en-US" sz="1400" dirty="0" err="1">
                <a:solidFill>
                  <a:schemeClr val="tx2"/>
                </a:solidFill>
              </a:rPr>
              <a:t>각하결정은</a:t>
            </a:r>
            <a:r>
              <a:rPr lang="ko-KR" altLang="en-US" sz="1400" dirty="0">
                <a:solidFill>
                  <a:schemeClr val="tx2"/>
                </a:solidFill>
              </a:rPr>
              <a:t> 서면으로 하여야 하며</a:t>
            </a:r>
            <a:r>
              <a:rPr lang="en-US" altLang="ko-KR" sz="1400" dirty="0">
                <a:solidFill>
                  <a:schemeClr val="tx2"/>
                </a:solidFill>
              </a:rPr>
              <a:t>, </a:t>
            </a:r>
            <a:r>
              <a:rPr lang="ko-KR" altLang="en-US" sz="1400" dirty="0">
                <a:solidFill>
                  <a:schemeClr val="tx2"/>
                </a:solidFill>
              </a:rPr>
              <a:t>그 이유를 붙여야 한다</a:t>
            </a:r>
            <a:r>
              <a:rPr lang="en-US" altLang="ko-KR" sz="1400" dirty="0">
                <a:solidFill>
                  <a:schemeClr val="tx2"/>
                </a:solidFill>
              </a:rPr>
              <a:t>.</a:t>
            </a:r>
          </a:p>
          <a:p>
            <a:pPr fontAlgn="base"/>
            <a:r>
              <a:rPr lang="en-US" altLang="ko-KR" sz="1400" dirty="0">
                <a:solidFill>
                  <a:schemeClr val="tx2"/>
                </a:solidFill>
              </a:rPr>
              <a:t>③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따른 </a:t>
            </a:r>
            <a:r>
              <a:rPr lang="ko-KR" altLang="en-US" sz="1400" dirty="0" err="1">
                <a:solidFill>
                  <a:schemeClr val="tx2"/>
                </a:solidFill>
              </a:rPr>
              <a:t>각하결정에</a:t>
            </a:r>
            <a:r>
              <a:rPr lang="ko-KR" altLang="en-US" sz="1400" dirty="0">
                <a:solidFill>
                  <a:schemeClr val="tx2"/>
                </a:solidFill>
              </a:rPr>
              <a:t> 대해서는 불복할 수 없다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132</a:t>
            </a:r>
            <a:r>
              <a:rPr lang="ko-KR" altLang="en-US" sz="1400" dirty="0">
                <a:solidFill>
                  <a:schemeClr val="tx2"/>
                </a:solidFill>
              </a:rPr>
              <a:t>조의</a:t>
            </a:r>
            <a:r>
              <a:rPr lang="en-US" altLang="ko-KR" sz="1400" dirty="0">
                <a:solidFill>
                  <a:schemeClr val="tx2"/>
                </a:solidFill>
              </a:rPr>
              <a:t>17</a:t>
            </a:r>
            <a:r>
              <a:rPr lang="ko-KR" altLang="en-US" sz="1400" dirty="0">
                <a:solidFill>
                  <a:schemeClr val="tx2"/>
                </a:solidFill>
              </a:rPr>
              <a:t>에 따른 특허거절결정에 대한 심판에서 그 </a:t>
            </a:r>
            <a:r>
              <a:rPr lang="ko-KR" altLang="en-US" sz="1400" dirty="0" err="1">
                <a:solidFill>
                  <a:schemeClr val="tx2"/>
                </a:solidFill>
              </a:rPr>
              <a:t>각하결정</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66</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에 따른 직권 재심사를 하는 경우 취소된 특허결정 전에 한 </a:t>
            </a:r>
            <a:r>
              <a:rPr lang="ko-KR" altLang="en-US" sz="1400" dirty="0" err="1">
                <a:solidFill>
                  <a:schemeClr val="tx2"/>
                </a:solidFill>
              </a:rPr>
              <a:t>각하결정과</a:t>
            </a:r>
            <a:r>
              <a:rPr lang="ko-KR" altLang="en-US" sz="1400" dirty="0">
                <a:solidFill>
                  <a:schemeClr val="tx2"/>
                </a:solidFill>
              </a:rPr>
              <a:t> 제</a:t>
            </a:r>
            <a:r>
              <a:rPr lang="en-US" altLang="ko-KR" sz="1400" dirty="0">
                <a:solidFill>
                  <a:schemeClr val="tx2"/>
                </a:solidFill>
              </a:rPr>
              <a:t>67</a:t>
            </a:r>
            <a:r>
              <a:rPr lang="ko-KR" altLang="en-US" sz="1400" dirty="0">
                <a:solidFill>
                  <a:schemeClr val="tx2"/>
                </a:solidFill>
              </a:rPr>
              <a:t>조의</a:t>
            </a:r>
            <a:r>
              <a:rPr lang="en-US" altLang="ko-KR" sz="1400" dirty="0">
                <a:solidFill>
                  <a:schemeClr val="tx2"/>
                </a:solidFill>
              </a:rPr>
              <a:t>2</a:t>
            </a:r>
            <a:r>
              <a:rPr lang="ko-KR" altLang="en-US" sz="1400" dirty="0">
                <a:solidFill>
                  <a:schemeClr val="tx2"/>
                </a:solidFill>
              </a:rPr>
              <a:t>에 따른 재심사의 청구가 있는 경우 그 청구 전에 한 </a:t>
            </a:r>
            <a:r>
              <a:rPr lang="ko-KR" altLang="en-US" sz="1400" dirty="0" err="1">
                <a:solidFill>
                  <a:schemeClr val="tx2"/>
                </a:solidFill>
              </a:rPr>
              <a:t>각하결정은</a:t>
            </a:r>
            <a:r>
              <a:rPr lang="ko-KR" altLang="en-US" sz="1400" dirty="0">
                <a:solidFill>
                  <a:schemeClr val="tx2"/>
                </a:solidFill>
              </a:rPr>
              <a:t> 제외한다</a:t>
            </a:r>
            <a:r>
              <a:rPr lang="en-US" altLang="ko-KR" sz="1400" dirty="0">
                <a:solidFill>
                  <a:schemeClr val="tx2"/>
                </a:solidFill>
              </a:rPr>
              <a:t>)</a:t>
            </a:r>
            <a:r>
              <a:rPr lang="ko-KR" altLang="en-US" sz="1400" dirty="0">
                <a:solidFill>
                  <a:schemeClr val="tx2"/>
                </a:solidFill>
              </a:rPr>
              <a:t>에 대하여 다투는 경우에는 그러하지 아니하다</a:t>
            </a:r>
            <a:r>
              <a:rPr lang="en-US" altLang="ko-KR" sz="1400" dirty="0">
                <a:solidFill>
                  <a:schemeClr val="tx2"/>
                </a:solidFill>
              </a:rPr>
              <a:t>.</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슬라이드 번호 개체 틀 4"/>
          <p:cNvSpPr>
            <a:spLocks noGrp="1"/>
          </p:cNvSpPr>
          <p:nvPr>
            <p:ph type="sldNum" sz="quarter" idx="12"/>
          </p:nvPr>
        </p:nvSpPr>
        <p:spPr/>
        <p:txBody>
          <a:bodyPr/>
          <a:lstStyle/>
          <a:p>
            <a:r>
              <a:rPr lang="en-US" altLang="ko-KR"/>
              <a:t>166</a:t>
            </a:r>
            <a:endParaRPr lang="ko-KR" altLang="en-US"/>
          </a:p>
        </p:txBody>
      </p:sp>
    </p:spTree>
    <p:extLst>
      <p:ext uri="{BB962C8B-B14F-4D97-AF65-F5344CB8AC3E}">
        <p14:creationId xmlns:p14="http://schemas.microsoft.com/office/powerpoint/2010/main" val="1784970551"/>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실체보정의 개념</a:t>
            </a:r>
            <a:r>
              <a:rPr lang="en-US" altLang="ko-KR" dirty="0"/>
              <a:t>(</a:t>
            </a:r>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r>
              <a:rPr lang="en-US" altLang="ko-KR" dirty="0"/>
              <a:t>)</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6" name="직사각형 5"/>
          <p:cNvSpPr/>
          <p:nvPr/>
        </p:nvSpPr>
        <p:spPr>
          <a:xfrm>
            <a:off x="889150" y="1221598"/>
            <a:ext cx="10435186" cy="1191781"/>
          </a:xfrm>
          <a:prstGeom prst="rect">
            <a:avLst/>
          </a:prstGeom>
          <a:solidFill>
            <a:schemeClr val="bg1">
              <a:lumMod val="95000"/>
            </a:schemeClr>
          </a:solidFill>
          <a:ln w="3175">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양쪽 모서리가 둥근 사각형 6"/>
          <p:cNvSpPr/>
          <p:nvPr/>
        </p:nvSpPr>
        <p:spPr>
          <a:xfrm>
            <a:off x="1601748" y="1855240"/>
            <a:ext cx="1797788" cy="308132"/>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양쪽 모서리가 둥근 사각형 7"/>
          <p:cNvSpPr/>
          <p:nvPr/>
        </p:nvSpPr>
        <p:spPr>
          <a:xfrm>
            <a:off x="3454120" y="1855240"/>
            <a:ext cx="1430698" cy="308132"/>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양쪽 모서리가 둥근 사각형 8"/>
          <p:cNvSpPr/>
          <p:nvPr/>
        </p:nvSpPr>
        <p:spPr>
          <a:xfrm>
            <a:off x="5759903" y="1855240"/>
            <a:ext cx="1430698" cy="308132"/>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p:cNvSpPr/>
          <p:nvPr/>
        </p:nvSpPr>
        <p:spPr>
          <a:xfrm>
            <a:off x="889150" y="5309089"/>
            <a:ext cx="10435186" cy="990563"/>
          </a:xfrm>
          <a:prstGeom prst="rect">
            <a:avLst/>
          </a:prstGeom>
          <a:solidFill>
            <a:schemeClr val="bg1">
              <a:lumMod val="95000"/>
            </a:schemeClr>
          </a:solidFill>
          <a:ln w="3175">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직사각형 10"/>
          <p:cNvSpPr/>
          <p:nvPr/>
        </p:nvSpPr>
        <p:spPr>
          <a:xfrm>
            <a:off x="889150" y="4189351"/>
            <a:ext cx="10435186" cy="990563"/>
          </a:xfrm>
          <a:prstGeom prst="rect">
            <a:avLst/>
          </a:prstGeom>
          <a:solidFill>
            <a:schemeClr val="bg1">
              <a:lumMod val="95000"/>
            </a:schemeClr>
          </a:solidFill>
          <a:ln w="3175">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p:cNvSpPr/>
          <p:nvPr/>
        </p:nvSpPr>
        <p:spPr>
          <a:xfrm>
            <a:off x="889150" y="2878669"/>
            <a:ext cx="10435186" cy="788370"/>
          </a:xfrm>
          <a:prstGeom prst="rect">
            <a:avLst/>
          </a:prstGeom>
          <a:solidFill>
            <a:schemeClr val="bg1">
              <a:lumMod val="95000"/>
            </a:schemeClr>
          </a:solidFill>
          <a:ln w="3175">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모서리가 둥근 직사각형 12"/>
          <p:cNvSpPr/>
          <p:nvPr/>
        </p:nvSpPr>
        <p:spPr>
          <a:xfrm>
            <a:off x="9202807" y="1863129"/>
            <a:ext cx="132060" cy="164772"/>
          </a:xfrm>
          <a:prstGeom prst="roundRect">
            <a:avLst>
              <a:gd name="adj" fmla="val 5000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 name="직선 화살표 연결선 13"/>
          <p:cNvCxnSpPr/>
          <p:nvPr/>
        </p:nvCxnSpPr>
        <p:spPr>
          <a:xfrm>
            <a:off x="889150" y="2163372"/>
            <a:ext cx="10308186"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 name="Rectangle 14"/>
          <p:cNvSpPr>
            <a:spLocks noChangeArrowheads="1"/>
          </p:cNvSpPr>
          <p:nvPr/>
        </p:nvSpPr>
        <p:spPr bwMode="auto">
          <a:xfrm>
            <a:off x="1220710" y="1984754"/>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출원</a:t>
            </a:r>
            <a:r>
              <a:rPr lang="en-US" altLang="ko-KR" sz="1200" dirty="0">
                <a:latin typeface="+mj-ea"/>
                <a:ea typeface="+mj-ea"/>
              </a:rPr>
              <a:t>(0)</a:t>
            </a:r>
            <a:endParaRPr lang="ko-KR" altLang="en-US" sz="1200" b="0" dirty="0">
              <a:latin typeface="+mj-ea"/>
              <a:ea typeface="+mj-ea"/>
            </a:endParaRPr>
          </a:p>
        </p:txBody>
      </p:sp>
      <p:sp>
        <p:nvSpPr>
          <p:cNvPr id="16" name="Rectangle 14"/>
          <p:cNvSpPr>
            <a:spLocks noChangeArrowheads="1"/>
          </p:cNvSpPr>
          <p:nvPr/>
        </p:nvSpPr>
        <p:spPr bwMode="auto">
          <a:xfrm>
            <a:off x="2982124" y="1984754"/>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a:latin typeface="+mj-ea"/>
                <a:ea typeface="+mj-ea"/>
              </a:rPr>
              <a:t>최초</a:t>
            </a:r>
            <a:r>
              <a:rPr lang="en-US" altLang="ko-KR" sz="1200" dirty="0">
                <a:latin typeface="+mj-ea"/>
                <a:ea typeface="+mj-ea"/>
              </a:rPr>
              <a:t>OA</a:t>
            </a:r>
            <a:endParaRPr lang="ko-KR" altLang="en-US" sz="1200" b="0" dirty="0">
              <a:latin typeface="+mj-ea"/>
              <a:ea typeface="+mj-ea"/>
            </a:endParaRPr>
          </a:p>
        </p:txBody>
      </p:sp>
      <p:sp>
        <p:nvSpPr>
          <p:cNvPr id="17" name="Rectangle 14"/>
          <p:cNvSpPr>
            <a:spLocks noChangeArrowheads="1"/>
          </p:cNvSpPr>
          <p:nvPr/>
        </p:nvSpPr>
        <p:spPr bwMode="auto">
          <a:xfrm>
            <a:off x="5323768" y="1984754"/>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a:latin typeface="+mj-ea"/>
                <a:ea typeface="+mj-ea"/>
              </a:rPr>
              <a:t>최후</a:t>
            </a:r>
            <a:r>
              <a:rPr lang="en-US" altLang="ko-KR" sz="1200" dirty="0">
                <a:latin typeface="+mj-ea"/>
                <a:ea typeface="+mj-ea"/>
              </a:rPr>
              <a:t>OA</a:t>
            </a:r>
            <a:endParaRPr lang="ko-KR" altLang="en-US" sz="1200" b="0" dirty="0">
              <a:latin typeface="+mj-ea"/>
              <a:ea typeface="+mj-ea"/>
            </a:endParaRPr>
          </a:p>
        </p:txBody>
      </p:sp>
      <p:sp>
        <p:nvSpPr>
          <p:cNvPr id="18" name="Rectangle 14"/>
          <p:cNvSpPr>
            <a:spLocks noChangeArrowheads="1"/>
          </p:cNvSpPr>
          <p:nvPr/>
        </p:nvSpPr>
        <p:spPr bwMode="auto">
          <a:xfrm>
            <a:off x="7520355" y="1984754"/>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거절결정</a:t>
            </a:r>
            <a:endParaRPr lang="ko-KR" altLang="en-US" sz="1200" b="0" dirty="0">
              <a:latin typeface="+mj-ea"/>
              <a:ea typeface="+mj-ea"/>
            </a:endParaRPr>
          </a:p>
        </p:txBody>
      </p:sp>
      <p:sp>
        <p:nvSpPr>
          <p:cNvPr id="19" name="Rectangle 14"/>
          <p:cNvSpPr>
            <a:spLocks noChangeArrowheads="1"/>
          </p:cNvSpPr>
          <p:nvPr/>
        </p:nvSpPr>
        <p:spPr bwMode="auto">
          <a:xfrm>
            <a:off x="8847713" y="1984754"/>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재심사청구</a:t>
            </a:r>
            <a:endParaRPr lang="ko-KR" altLang="en-US" sz="1200" b="0" dirty="0">
              <a:latin typeface="+mj-ea"/>
              <a:ea typeface="+mj-ea"/>
            </a:endParaRPr>
          </a:p>
        </p:txBody>
      </p:sp>
      <p:sp>
        <p:nvSpPr>
          <p:cNvPr id="20" name="TextBox 19"/>
          <p:cNvSpPr txBox="1"/>
          <p:nvPr/>
        </p:nvSpPr>
        <p:spPr>
          <a:xfrm>
            <a:off x="3721118" y="1882398"/>
            <a:ext cx="1263487" cy="230832"/>
          </a:xfrm>
          <a:prstGeom prst="rect">
            <a:avLst/>
          </a:prstGeom>
          <a:noFill/>
        </p:spPr>
        <p:txBody>
          <a:bodyPr wrap="none" rtlCol="0">
            <a:spAutoFit/>
          </a:bodyPr>
          <a:lstStyle/>
          <a:p>
            <a:r>
              <a:rPr lang="ko-KR" altLang="en-US" sz="900" dirty="0">
                <a:solidFill>
                  <a:schemeClr val="bg1">
                    <a:lumMod val="50000"/>
                  </a:schemeClr>
                </a:solidFill>
              </a:rPr>
              <a:t>의견제출기간</a:t>
            </a:r>
            <a:r>
              <a:rPr lang="en-US" altLang="ko-KR" sz="900" dirty="0">
                <a:solidFill>
                  <a:schemeClr val="bg1">
                    <a:lumMod val="50000"/>
                  </a:schemeClr>
                </a:solidFill>
              </a:rPr>
              <a:t>(</a:t>
            </a:r>
            <a:r>
              <a:rPr lang="en-US" altLang="ko-KR" sz="900" dirty="0">
                <a:solidFill>
                  <a:srgbClr val="FF0000"/>
                </a:solidFill>
              </a:rPr>
              <a:t>4</a:t>
            </a:r>
            <a:r>
              <a:rPr lang="ko-KR" altLang="en-US" sz="900" dirty="0">
                <a:solidFill>
                  <a:srgbClr val="FF0000"/>
                </a:solidFill>
              </a:rPr>
              <a:t>개월</a:t>
            </a:r>
            <a:r>
              <a:rPr lang="ko-KR" altLang="en-US" sz="900" dirty="0">
                <a:solidFill>
                  <a:schemeClr val="bg1">
                    <a:lumMod val="50000"/>
                  </a:schemeClr>
                </a:solidFill>
              </a:rPr>
              <a:t>內</a:t>
            </a:r>
            <a:r>
              <a:rPr lang="en-US" altLang="ko-KR" sz="900" dirty="0">
                <a:solidFill>
                  <a:schemeClr val="bg1">
                    <a:lumMod val="50000"/>
                  </a:schemeClr>
                </a:solidFill>
              </a:rPr>
              <a:t>)</a:t>
            </a:r>
            <a:endParaRPr lang="ko-KR" altLang="en-US" sz="900" dirty="0">
              <a:solidFill>
                <a:schemeClr val="bg1">
                  <a:lumMod val="50000"/>
                </a:schemeClr>
              </a:solidFill>
            </a:endParaRPr>
          </a:p>
        </p:txBody>
      </p:sp>
      <p:sp>
        <p:nvSpPr>
          <p:cNvPr id="21" name="TextBox 20"/>
          <p:cNvSpPr txBox="1"/>
          <p:nvPr/>
        </p:nvSpPr>
        <p:spPr>
          <a:xfrm>
            <a:off x="6021546" y="1882398"/>
            <a:ext cx="1263487" cy="230832"/>
          </a:xfrm>
          <a:prstGeom prst="rect">
            <a:avLst/>
          </a:prstGeom>
          <a:noFill/>
        </p:spPr>
        <p:txBody>
          <a:bodyPr wrap="none" rtlCol="0">
            <a:spAutoFit/>
          </a:bodyPr>
          <a:lstStyle/>
          <a:p>
            <a:pPr algn="ctr"/>
            <a:r>
              <a:rPr lang="ko-KR" altLang="en-US" sz="900" dirty="0">
                <a:solidFill>
                  <a:schemeClr val="bg1">
                    <a:lumMod val="50000"/>
                  </a:schemeClr>
                </a:solidFill>
              </a:rPr>
              <a:t>의견제출기간</a:t>
            </a:r>
            <a:r>
              <a:rPr lang="en-US" altLang="ko-KR" sz="900" dirty="0">
                <a:solidFill>
                  <a:schemeClr val="bg1">
                    <a:lumMod val="50000"/>
                  </a:schemeClr>
                </a:solidFill>
              </a:rPr>
              <a:t>(</a:t>
            </a:r>
            <a:r>
              <a:rPr lang="en-US" altLang="ko-KR" sz="900" dirty="0">
                <a:solidFill>
                  <a:srgbClr val="FF0000"/>
                </a:solidFill>
              </a:rPr>
              <a:t>4</a:t>
            </a:r>
            <a:r>
              <a:rPr lang="ko-KR" altLang="en-US" sz="900" dirty="0">
                <a:solidFill>
                  <a:srgbClr val="FF0000"/>
                </a:solidFill>
              </a:rPr>
              <a:t>개월</a:t>
            </a:r>
            <a:r>
              <a:rPr lang="ko-KR" altLang="en-US" sz="900" dirty="0">
                <a:solidFill>
                  <a:schemeClr val="bg1">
                    <a:lumMod val="50000"/>
                  </a:schemeClr>
                </a:solidFill>
              </a:rPr>
              <a:t>內</a:t>
            </a:r>
            <a:r>
              <a:rPr lang="en-US" altLang="ko-KR" sz="900" dirty="0">
                <a:solidFill>
                  <a:schemeClr val="bg1">
                    <a:lumMod val="50000"/>
                  </a:schemeClr>
                </a:solidFill>
              </a:rPr>
              <a:t>)</a:t>
            </a:r>
            <a:endParaRPr lang="ko-KR" altLang="en-US" sz="900" dirty="0">
              <a:solidFill>
                <a:schemeClr val="bg1">
                  <a:lumMod val="50000"/>
                </a:schemeClr>
              </a:solidFill>
            </a:endParaRPr>
          </a:p>
        </p:txBody>
      </p:sp>
      <p:sp>
        <p:nvSpPr>
          <p:cNvPr id="22" name="TextBox 21"/>
          <p:cNvSpPr txBox="1"/>
          <p:nvPr/>
        </p:nvSpPr>
        <p:spPr>
          <a:xfrm>
            <a:off x="1134411" y="6424812"/>
            <a:ext cx="2032929" cy="261610"/>
          </a:xfrm>
          <a:prstGeom prst="rect">
            <a:avLst/>
          </a:prstGeom>
          <a:noFill/>
        </p:spPr>
        <p:txBody>
          <a:bodyPr wrap="none" rtlCol="0">
            <a:spAutoFit/>
          </a:bodyPr>
          <a:lstStyle/>
          <a:p>
            <a:r>
              <a:rPr lang="ko-KR" altLang="en-US" sz="1100" dirty="0"/>
              <a:t>신규사항추가금지</a:t>
            </a:r>
            <a:r>
              <a:rPr lang="en-US" altLang="ko-KR" sz="1100" dirty="0"/>
              <a:t>(</a:t>
            </a:r>
            <a:r>
              <a:rPr lang="ko-KR" altLang="en-US" sz="1100" dirty="0"/>
              <a:t>제</a:t>
            </a:r>
            <a:r>
              <a:rPr lang="en-US" altLang="ko-KR" sz="1100" dirty="0"/>
              <a:t>47</a:t>
            </a:r>
            <a:r>
              <a:rPr lang="ko-KR" altLang="en-US" sz="1100" dirty="0"/>
              <a:t>조제</a:t>
            </a:r>
            <a:r>
              <a:rPr lang="en-US" altLang="ko-KR" sz="1100" dirty="0"/>
              <a:t>2</a:t>
            </a:r>
            <a:r>
              <a:rPr lang="ko-KR" altLang="en-US" sz="1100" dirty="0"/>
              <a:t>항</a:t>
            </a:r>
            <a:r>
              <a:rPr lang="en-US" altLang="ko-KR" sz="1100" dirty="0"/>
              <a:t>)</a:t>
            </a:r>
            <a:endParaRPr lang="ko-KR" altLang="en-US" sz="1100" dirty="0"/>
          </a:p>
        </p:txBody>
      </p:sp>
      <p:sp>
        <p:nvSpPr>
          <p:cNvPr id="23" name="순서도: 처리 22"/>
          <p:cNvSpPr/>
          <p:nvPr/>
        </p:nvSpPr>
        <p:spPr>
          <a:xfrm>
            <a:off x="1773759" y="2502140"/>
            <a:ext cx="830037" cy="251834"/>
          </a:xfrm>
          <a:prstGeom prst="flowChartProcess">
            <a:avLst/>
          </a:prstGeom>
          <a:solidFill>
            <a:schemeClr val="accent3"/>
          </a:solidFill>
          <a:ln w="9525">
            <a:solidFill>
              <a:schemeClr val="bg2">
                <a:lumMod val="2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latin typeface="+mn-ea"/>
              </a:rPr>
              <a:t>보정</a:t>
            </a:r>
            <a:r>
              <a:rPr lang="en-US" altLang="ko-KR" sz="1100" dirty="0">
                <a:latin typeface="+mn-ea"/>
              </a:rPr>
              <a:t>Ⅰ(1)</a:t>
            </a:r>
            <a:endParaRPr lang="ko-KR" altLang="en-US" sz="1100" dirty="0">
              <a:latin typeface="+mn-ea"/>
            </a:endParaRPr>
          </a:p>
        </p:txBody>
      </p:sp>
      <p:cxnSp>
        <p:nvCxnSpPr>
          <p:cNvPr id="24" name="직선 화살표 연결선 23"/>
          <p:cNvCxnSpPr>
            <a:stCxn id="23" idx="0"/>
          </p:cNvCxnSpPr>
          <p:nvPr/>
        </p:nvCxnSpPr>
        <p:spPr>
          <a:xfrm flipV="1">
            <a:off x="2188778" y="2167642"/>
            <a:ext cx="0" cy="334498"/>
          </a:xfrm>
          <a:prstGeom prst="straightConnector1">
            <a:avLst/>
          </a:prstGeom>
          <a:ln w="9525">
            <a:solidFill>
              <a:schemeClr val="bg2">
                <a:lumMod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5" name="순서도: 처리 24"/>
          <p:cNvSpPr/>
          <p:nvPr/>
        </p:nvSpPr>
        <p:spPr>
          <a:xfrm>
            <a:off x="3522977" y="2502140"/>
            <a:ext cx="830037" cy="251834"/>
          </a:xfrm>
          <a:prstGeom prst="flowChartProcess">
            <a:avLst/>
          </a:prstGeom>
          <a:solidFill>
            <a:schemeClr val="accent3"/>
          </a:solidFill>
          <a:ln w="9525">
            <a:solidFill>
              <a:schemeClr val="bg2">
                <a:lumMod val="2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latin typeface="+mn-ea"/>
              </a:rPr>
              <a:t>보정</a:t>
            </a:r>
            <a:r>
              <a:rPr lang="en-US" altLang="ko-KR" sz="1100" dirty="0">
                <a:latin typeface="+mn-ea"/>
              </a:rPr>
              <a:t>Ⅱ(2)</a:t>
            </a:r>
            <a:endParaRPr lang="ko-KR" altLang="en-US" sz="1100" dirty="0">
              <a:latin typeface="+mn-ea"/>
            </a:endParaRPr>
          </a:p>
        </p:txBody>
      </p:sp>
      <p:cxnSp>
        <p:nvCxnSpPr>
          <p:cNvPr id="27" name="직선 화살표 연결선 26"/>
          <p:cNvCxnSpPr>
            <a:stCxn id="25" idx="0"/>
          </p:cNvCxnSpPr>
          <p:nvPr/>
        </p:nvCxnSpPr>
        <p:spPr>
          <a:xfrm flipV="1">
            <a:off x="3937996" y="2167642"/>
            <a:ext cx="0" cy="334498"/>
          </a:xfrm>
          <a:prstGeom prst="straightConnector1">
            <a:avLst/>
          </a:prstGeom>
          <a:ln w="9525">
            <a:solidFill>
              <a:schemeClr val="bg2">
                <a:lumMod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8" name="순서도: 처리 27"/>
          <p:cNvSpPr/>
          <p:nvPr/>
        </p:nvSpPr>
        <p:spPr>
          <a:xfrm>
            <a:off x="5864900" y="2502140"/>
            <a:ext cx="830037" cy="251834"/>
          </a:xfrm>
          <a:prstGeom prst="flowChartProcess">
            <a:avLst/>
          </a:prstGeom>
          <a:ln w="9525">
            <a:solidFill>
              <a:schemeClr val="accent6">
                <a:lumMod val="7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latin typeface="+mn-ea"/>
              </a:rPr>
              <a:t>보정</a:t>
            </a:r>
            <a:r>
              <a:rPr lang="en-US" altLang="ko-KR" sz="1100" dirty="0">
                <a:latin typeface="+mn-ea"/>
              </a:rPr>
              <a:t>Ⅲ(3)</a:t>
            </a:r>
            <a:endParaRPr lang="ko-KR" altLang="en-US" sz="1100" dirty="0">
              <a:latin typeface="+mn-ea"/>
            </a:endParaRPr>
          </a:p>
        </p:txBody>
      </p:sp>
      <p:cxnSp>
        <p:nvCxnSpPr>
          <p:cNvPr id="29" name="직선 화살표 연결선 28"/>
          <p:cNvCxnSpPr>
            <a:stCxn id="28" idx="0"/>
          </p:cNvCxnSpPr>
          <p:nvPr/>
        </p:nvCxnSpPr>
        <p:spPr>
          <a:xfrm flipH="1" flipV="1">
            <a:off x="6279918" y="2167642"/>
            <a:ext cx="1" cy="334498"/>
          </a:xfrm>
          <a:prstGeom prst="straightConnector1">
            <a:avLst/>
          </a:prstGeom>
          <a:ln w="9525">
            <a:solidFill>
              <a:schemeClr val="accent6">
                <a:lumMod val="7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0" name="순서도: 처리 29"/>
          <p:cNvSpPr/>
          <p:nvPr/>
        </p:nvSpPr>
        <p:spPr>
          <a:xfrm>
            <a:off x="8861039" y="2502140"/>
            <a:ext cx="830037" cy="251834"/>
          </a:xfrm>
          <a:prstGeom prst="flowChartProcess">
            <a:avLst/>
          </a:prstGeom>
          <a:ln w="9525">
            <a:solidFill>
              <a:schemeClr val="accent6">
                <a:lumMod val="7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latin typeface="+mn-ea"/>
              </a:rPr>
              <a:t>보정</a:t>
            </a:r>
            <a:r>
              <a:rPr lang="en-US" altLang="ko-KR" sz="1100" dirty="0">
                <a:latin typeface="+mn-ea"/>
              </a:rPr>
              <a:t>Ⅳ(4)</a:t>
            </a:r>
            <a:endParaRPr lang="ko-KR" altLang="en-US" sz="1100" dirty="0">
              <a:latin typeface="+mn-ea"/>
            </a:endParaRPr>
          </a:p>
        </p:txBody>
      </p:sp>
      <p:cxnSp>
        <p:nvCxnSpPr>
          <p:cNvPr id="31" name="직선 화살표 연결선 30"/>
          <p:cNvCxnSpPr>
            <a:stCxn id="30" idx="0"/>
          </p:cNvCxnSpPr>
          <p:nvPr/>
        </p:nvCxnSpPr>
        <p:spPr>
          <a:xfrm flipV="1">
            <a:off x="9276058" y="2324619"/>
            <a:ext cx="0" cy="177521"/>
          </a:xfrm>
          <a:prstGeom prst="straightConnector1">
            <a:avLst/>
          </a:prstGeom>
          <a:ln w="9525">
            <a:solidFill>
              <a:schemeClr val="accent6">
                <a:lumMod val="7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2" name="타원 31"/>
          <p:cNvSpPr/>
          <p:nvPr/>
        </p:nvSpPr>
        <p:spPr>
          <a:xfrm>
            <a:off x="894930" y="6431438"/>
            <a:ext cx="226709" cy="225882"/>
          </a:xfrm>
          <a:prstGeom prst="ellipse">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1</a:t>
            </a:r>
            <a:endParaRPr lang="ko-KR" altLang="en-US" dirty="0"/>
          </a:p>
        </p:txBody>
      </p:sp>
      <p:sp>
        <p:nvSpPr>
          <p:cNvPr id="33" name="타원 32"/>
          <p:cNvSpPr/>
          <p:nvPr/>
        </p:nvSpPr>
        <p:spPr>
          <a:xfrm>
            <a:off x="3419250" y="6422971"/>
            <a:ext cx="226709" cy="225882"/>
          </a:xfrm>
          <a:prstGeom prst="ellipse">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2</a:t>
            </a:r>
            <a:endParaRPr lang="ko-KR" altLang="en-US" dirty="0"/>
          </a:p>
        </p:txBody>
      </p:sp>
      <p:sp>
        <p:nvSpPr>
          <p:cNvPr id="34" name="타원 33"/>
          <p:cNvSpPr/>
          <p:nvPr/>
        </p:nvSpPr>
        <p:spPr>
          <a:xfrm>
            <a:off x="6213469" y="6422971"/>
            <a:ext cx="226709" cy="225882"/>
          </a:xfrm>
          <a:prstGeom prst="ellipse">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3</a:t>
            </a:r>
            <a:endParaRPr lang="ko-KR" altLang="en-US" dirty="0"/>
          </a:p>
        </p:txBody>
      </p:sp>
      <p:sp>
        <p:nvSpPr>
          <p:cNvPr id="35" name="TextBox 34"/>
          <p:cNvSpPr txBox="1"/>
          <p:nvPr/>
        </p:nvSpPr>
        <p:spPr>
          <a:xfrm>
            <a:off x="1900647" y="1592313"/>
            <a:ext cx="1266693"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항본문</a:t>
            </a:r>
            <a:endParaRPr lang="ko-KR" altLang="en-US" sz="1200" dirty="0"/>
          </a:p>
        </p:txBody>
      </p:sp>
      <p:sp>
        <p:nvSpPr>
          <p:cNvPr id="36" name="TextBox 35"/>
          <p:cNvSpPr txBox="1"/>
          <p:nvPr/>
        </p:nvSpPr>
        <p:spPr>
          <a:xfrm>
            <a:off x="3533166" y="1592313"/>
            <a:ext cx="1351652"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항제</a:t>
            </a:r>
            <a:r>
              <a:rPr lang="en-US" altLang="ko-KR" sz="1200" dirty="0"/>
              <a:t>1</a:t>
            </a:r>
            <a:r>
              <a:rPr lang="ko-KR" altLang="en-US" sz="1200" dirty="0"/>
              <a:t>호</a:t>
            </a:r>
          </a:p>
        </p:txBody>
      </p:sp>
      <p:sp>
        <p:nvSpPr>
          <p:cNvPr id="37" name="TextBox 36"/>
          <p:cNvSpPr txBox="1"/>
          <p:nvPr/>
        </p:nvSpPr>
        <p:spPr>
          <a:xfrm>
            <a:off x="5838949" y="1592313"/>
            <a:ext cx="1351652"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항제</a:t>
            </a:r>
            <a:r>
              <a:rPr lang="en-US" altLang="ko-KR" sz="1200" dirty="0"/>
              <a:t>2</a:t>
            </a:r>
            <a:r>
              <a:rPr lang="ko-KR" altLang="en-US" sz="1200" dirty="0"/>
              <a:t>호</a:t>
            </a:r>
          </a:p>
        </p:txBody>
      </p:sp>
      <p:sp>
        <p:nvSpPr>
          <p:cNvPr id="38" name="TextBox 37"/>
          <p:cNvSpPr txBox="1"/>
          <p:nvPr/>
        </p:nvSpPr>
        <p:spPr>
          <a:xfrm>
            <a:off x="8593011" y="1592313"/>
            <a:ext cx="1351652"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항제</a:t>
            </a:r>
            <a:r>
              <a:rPr lang="en-US" altLang="ko-KR" sz="1200" dirty="0"/>
              <a:t>3</a:t>
            </a:r>
            <a:r>
              <a:rPr lang="ko-KR" altLang="en-US" sz="1200" dirty="0"/>
              <a:t>호</a:t>
            </a:r>
          </a:p>
        </p:txBody>
      </p:sp>
      <p:sp>
        <p:nvSpPr>
          <p:cNvPr id="39" name="직사각형 38"/>
          <p:cNvSpPr/>
          <p:nvPr/>
        </p:nvSpPr>
        <p:spPr>
          <a:xfrm>
            <a:off x="317682" y="1221598"/>
            <a:ext cx="567267" cy="1191781"/>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시기</a:t>
            </a:r>
          </a:p>
        </p:txBody>
      </p:sp>
      <p:sp>
        <p:nvSpPr>
          <p:cNvPr id="40" name="직사각형 39"/>
          <p:cNvSpPr/>
          <p:nvPr/>
        </p:nvSpPr>
        <p:spPr>
          <a:xfrm>
            <a:off x="317682" y="2878669"/>
            <a:ext cx="567267" cy="788370"/>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범위</a:t>
            </a:r>
          </a:p>
        </p:txBody>
      </p:sp>
      <p:sp>
        <p:nvSpPr>
          <p:cNvPr id="41" name="순서도: 처리 40"/>
          <p:cNvSpPr/>
          <p:nvPr/>
        </p:nvSpPr>
        <p:spPr>
          <a:xfrm>
            <a:off x="2413370" y="3812416"/>
            <a:ext cx="830037" cy="251834"/>
          </a:xfrm>
          <a:prstGeom prst="flowChartProcess">
            <a:avLst/>
          </a:prstGeom>
          <a:solidFill>
            <a:schemeClr val="accent2">
              <a:lumMod val="20000"/>
              <a:lumOff val="80000"/>
            </a:schemeClr>
          </a:solidFill>
          <a:ln>
            <a:solidFill>
              <a:schemeClr val="bg1">
                <a:lumMod val="6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solidFill>
                  <a:schemeClr val="bg1">
                    <a:lumMod val="50000"/>
                  </a:schemeClr>
                </a:solidFill>
                <a:latin typeface="+mn-ea"/>
              </a:rPr>
              <a:t>심사</a:t>
            </a:r>
            <a:r>
              <a:rPr lang="en-US" altLang="ko-KR" sz="1100" dirty="0">
                <a:solidFill>
                  <a:schemeClr val="bg1">
                    <a:lumMod val="50000"/>
                  </a:schemeClr>
                </a:solidFill>
                <a:latin typeface="+mn-ea"/>
              </a:rPr>
              <a:t>Ⅰ</a:t>
            </a:r>
            <a:endParaRPr lang="ko-KR" altLang="en-US" sz="1100" dirty="0">
              <a:solidFill>
                <a:schemeClr val="bg1">
                  <a:lumMod val="50000"/>
                </a:schemeClr>
              </a:solidFill>
              <a:latin typeface="+mn-ea"/>
            </a:endParaRPr>
          </a:p>
        </p:txBody>
      </p:sp>
      <p:cxnSp>
        <p:nvCxnSpPr>
          <p:cNvPr id="42" name="직선 화살표 연결선 41"/>
          <p:cNvCxnSpPr>
            <a:stCxn id="41" idx="0"/>
          </p:cNvCxnSpPr>
          <p:nvPr/>
        </p:nvCxnSpPr>
        <p:spPr>
          <a:xfrm flipV="1">
            <a:off x="2828389" y="2177289"/>
            <a:ext cx="0" cy="1635127"/>
          </a:xfrm>
          <a:prstGeom prst="straightConnector1">
            <a:avLst/>
          </a:prstGeom>
          <a:ln w="28575">
            <a:solidFill>
              <a:schemeClr val="bg1">
                <a:lumMod val="6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3656286" y="6424812"/>
            <a:ext cx="2363147" cy="261610"/>
          </a:xfrm>
          <a:prstGeom prst="rect">
            <a:avLst/>
          </a:prstGeom>
          <a:noFill/>
        </p:spPr>
        <p:txBody>
          <a:bodyPr wrap="none" rtlCol="0">
            <a:spAutoFit/>
          </a:bodyPr>
          <a:lstStyle/>
          <a:p>
            <a:r>
              <a:rPr lang="ko-KR" altLang="en-US" sz="1100" dirty="0"/>
              <a:t>청구범위 보정범위 제한</a:t>
            </a:r>
            <a:r>
              <a:rPr lang="en-US" altLang="ko-KR" sz="1100" dirty="0"/>
              <a:t>(</a:t>
            </a:r>
            <a:r>
              <a:rPr lang="ko-KR" altLang="en-US" sz="1100" dirty="0"/>
              <a:t>제</a:t>
            </a:r>
            <a:r>
              <a:rPr lang="en-US" altLang="ko-KR" sz="1100" dirty="0"/>
              <a:t>47</a:t>
            </a:r>
            <a:r>
              <a:rPr lang="ko-KR" altLang="en-US" sz="1100" dirty="0"/>
              <a:t>조제</a:t>
            </a:r>
            <a:r>
              <a:rPr lang="en-US" altLang="ko-KR" sz="1100" dirty="0"/>
              <a:t>3</a:t>
            </a:r>
            <a:r>
              <a:rPr lang="ko-KR" altLang="en-US" sz="1100" dirty="0"/>
              <a:t>항</a:t>
            </a:r>
            <a:r>
              <a:rPr lang="en-US" altLang="ko-KR" sz="1100" dirty="0"/>
              <a:t>)</a:t>
            </a:r>
            <a:endParaRPr lang="ko-KR" altLang="en-US" sz="1100" dirty="0"/>
          </a:p>
        </p:txBody>
      </p:sp>
      <p:sp>
        <p:nvSpPr>
          <p:cNvPr id="44" name="TextBox 43"/>
          <p:cNvSpPr txBox="1"/>
          <p:nvPr/>
        </p:nvSpPr>
        <p:spPr>
          <a:xfrm>
            <a:off x="6451091" y="6424812"/>
            <a:ext cx="2270173" cy="261610"/>
          </a:xfrm>
          <a:prstGeom prst="rect">
            <a:avLst/>
          </a:prstGeom>
          <a:noFill/>
        </p:spPr>
        <p:txBody>
          <a:bodyPr wrap="none" rtlCol="0">
            <a:spAutoFit/>
          </a:bodyPr>
          <a:lstStyle/>
          <a:p>
            <a:r>
              <a:rPr lang="ko-KR" altLang="en-US" sz="1100" dirty="0"/>
              <a:t>보정에 따라 새로운 거절이유 발생 </a:t>
            </a:r>
            <a:r>
              <a:rPr lang="en-US" altLang="ko-KR" sz="1100" kern="0" spc="-50" dirty="0"/>
              <a:t>×</a:t>
            </a:r>
            <a:endParaRPr lang="ko-KR" altLang="en-US" sz="1100" kern="0" spc="-50" dirty="0">
              <a:solidFill>
                <a:srgbClr val="000000"/>
              </a:solidFill>
            </a:endParaRPr>
          </a:p>
        </p:txBody>
      </p:sp>
      <p:sp>
        <p:nvSpPr>
          <p:cNvPr id="45" name="타원 44"/>
          <p:cNvSpPr/>
          <p:nvPr/>
        </p:nvSpPr>
        <p:spPr>
          <a:xfrm>
            <a:off x="2071713" y="2930124"/>
            <a:ext cx="226709" cy="225882"/>
          </a:xfrm>
          <a:prstGeom prst="ellipse">
            <a:avLst/>
          </a:prstGeom>
          <a:ln>
            <a:solidFill>
              <a:schemeClr val="bg1">
                <a:lumMod val="65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1</a:t>
            </a:r>
            <a:endParaRPr lang="ko-KR" altLang="en-US" dirty="0"/>
          </a:p>
        </p:txBody>
      </p:sp>
      <p:sp>
        <p:nvSpPr>
          <p:cNvPr id="46" name="타원 45"/>
          <p:cNvSpPr/>
          <p:nvPr/>
        </p:nvSpPr>
        <p:spPr>
          <a:xfrm>
            <a:off x="3857508" y="2930124"/>
            <a:ext cx="226709" cy="225882"/>
          </a:xfrm>
          <a:prstGeom prst="ellipse">
            <a:avLst/>
          </a:prstGeom>
          <a:ln>
            <a:solidFill>
              <a:schemeClr val="bg1">
                <a:lumMod val="65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1</a:t>
            </a:r>
            <a:endParaRPr lang="ko-KR" altLang="en-US" dirty="0"/>
          </a:p>
        </p:txBody>
      </p:sp>
      <p:sp>
        <p:nvSpPr>
          <p:cNvPr id="47" name="타원 46"/>
          <p:cNvSpPr/>
          <p:nvPr/>
        </p:nvSpPr>
        <p:spPr>
          <a:xfrm>
            <a:off x="6173932" y="2930124"/>
            <a:ext cx="226709" cy="225882"/>
          </a:xfrm>
          <a:prstGeom prst="ellipse">
            <a:avLst/>
          </a:prstGeom>
          <a:ln>
            <a:solidFill>
              <a:schemeClr val="bg1">
                <a:lumMod val="65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1</a:t>
            </a:r>
            <a:endParaRPr lang="ko-KR" altLang="en-US" dirty="0"/>
          </a:p>
        </p:txBody>
      </p:sp>
      <p:sp>
        <p:nvSpPr>
          <p:cNvPr id="48" name="타원 47"/>
          <p:cNvSpPr/>
          <p:nvPr/>
        </p:nvSpPr>
        <p:spPr>
          <a:xfrm>
            <a:off x="6173932" y="3156006"/>
            <a:ext cx="226709" cy="225882"/>
          </a:xfrm>
          <a:prstGeom prst="ellipse">
            <a:avLst/>
          </a:prstGeom>
          <a:ln>
            <a:solidFill>
              <a:schemeClr val="bg1">
                <a:lumMod val="65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2</a:t>
            </a:r>
            <a:endParaRPr lang="ko-KR" altLang="en-US" dirty="0"/>
          </a:p>
        </p:txBody>
      </p:sp>
      <p:sp>
        <p:nvSpPr>
          <p:cNvPr id="49" name="타원 48"/>
          <p:cNvSpPr/>
          <p:nvPr/>
        </p:nvSpPr>
        <p:spPr>
          <a:xfrm>
            <a:off x="6173932" y="3381888"/>
            <a:ext cx="226709" cy="225882"/>
          </a:xfrm>
          <a:prstGeom prst="ellipse">
            <a:avLst/>
          </a:prstGeom>
          <a:ln>
            <a:solidFill>
              <a:schemeClr val="bg1">
                <a:lumMod val="65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3</a:t>
            </a:r>
            <a:endParaRPr lang="ko-KR" altLang="en-US" dirty="0"/>
          </a:p>
        </p:txBody>
      </p:sp>
      <p:sp>
        <p:nvSpPr>
          <p:cNvPr id="50" name="타원 49"/>
          <p:cNvSpPr/>
          <p:nvPr/>
        </p:nvSpPr>
        <p:spPr>
          <a:xfrm>
            <a:off x="9162702" y="2930124"/>
            <a:ext cx="226709" cy="225882"/>
          </a:xfrm>
          <a:prstGeom prst="ellipse">
            <a:avLst/>
          </a:prstGeom>
          <a:ln>
            <a:solidFill>
              <a:schemeClr val="bg1">
                <a:lumMod val="65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1</a:t>
            </a:r>
            <a:endParaRPr lang="ko-KR" altLang="en-US" dirty="0"/>
          </a:p>
        </p:txBody>
      </p:sp>
      <p:sp>
        <p:nvSpPr>
          <p:cNvPr id="51" name="타원 50"/>
          <p:cNvSpPr/>
          <p:nvPr/>
        </p:nvSpPr>
        <p:spPr>
          <a:xfrm>
            <a:off x="9162702" y="3156006"/>
            <a:ext cx="226709" cy="225882"/>
          </a:xfrm>
          <a:prstGeom prst="ellipse">
            <a:avLst/>
          </a:prstGeom>
          <a:ln>
            <a:solidFill>
              <a:schemeClr val="bg1">
                <a:lumMod val="65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2</a:t>
            </a:r>
            <a:endParaRPr lang="ko-KR" altLang="en-US" dirty="0"/>
          </a:p>
        </p:txBody>
      </p:sp>
      <p:sp>
        <p:nvSpPr>
          <p:cNvPr id="52" name="타원 51"/>
          <p:cNvSpPr/>
          <p:nvPr/>
        </p:nvSpPr>
        <p:spPr>
          <a:xfrm>
            <a:off x="9162702" y="3381888"/>
            <a:ext cx="226709" cy="225882"/>
          </a:xfrm>
          <a:prstGeom prst="ellipse">
            <a:avLst/>
          </a:prstGeom>
          <a:ln>
            <a:solidFill>
              <a:schemeClr val="bg1">
                <a:lumMod val="65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3</a:t>
            </a:r>
            <a:endParaRPr lang="ko-KR" altLang="en-US" dirty="0"/>
          </a:p>
        </p:txBody>
      </p:sp>
      <p:sp>
        <p:nvSpPr>
          <p:cNvPr id="53" name="직사각형 52"/>
          <p:cNvSpPr/>
          <p:nvPr/>
        </p:nvSpPr>
        <p:spPr>
          <a:xfrm>
            <a:off x="317682" y="4189351"/>
            <a:ext cx="567267" cy="990563"/>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심사대상</a:t>
            </a:r>
          </a:p>
        </p:txBody>
      </p:sp>
      <p:sp>
        <p:nvSpPr>
          <p:cNvPr id="54" name="순서도: 처리 53"/>
          <p:cNvSpPr/>
          <p:nvPr/>
        </p:nvSpPr>
        <p:spPr>
          <a:xfrm>
            <a:off x="4700265" y="3812416"/>
            <a:ext cx="830037" cy="251834"/>
          </a:xfrm>
          <a:prstGeom prst="flowChartProcess">
            <a:avLst/>
          </a:prstGeom>
          <a:solidFill>
            <a:schemeClr val="accent2">
              <a:lumMod val="20000"/>
              <a:lumOff val="80000"/>
            </a:schemeClr>
          </a:solidFill>
          <a:ln>
            <a:solidFill>
              <a:schemeClr val="bg1">
                <a:lumMod val="6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solidFill>
                  <a:schemeClr val="bg1">
                    <a:lumMod val="50000"/>
                  </a:schemeClr>
                </a:solidFill>
                <a:latin typeface="+mn-ea"/>
              </a:rPr>
              <a:t>심사</a:t>
            </a:r>
            <a:r>
              <a:rPr lang="en-US" altLang="ko-KR" sz="1100" dirty="0">
                <a:solidFill>
                  <a:schemeClr val="bg1">
                    <a:lumMod val="50000"/>
                  </a:schemeClr>
                </a:solidFill>
                <a:latin typeface="+mn-ea"/>
              </a:rPr>
              <a:t>Ⅱ</a:t>
            </a:r>
            <a:endParaRPr lang="ko-KR" altLang="en-US" sz="1100" dirty="0">
              <a:solidFill>
                <a:schemeClr val="bg1">
                  <a:lumMod val="50000"/>
                </a:schemeClr>
              </a:solidFill>
              <a:latin typeface="+mn-ea"/>
            </a:endParaRPr>
          </a:p>
        </p:txBody>
      </p:sp>
      <p:cxnSp>
        <p:nvCxnSpPr>
          <p:cNvPr id="55" name="직선 화살표 연결선 54"/>
          <p:cNvCxnSpPr>
            <a:stCxn id="54" idx="0"/>
          </p:cNvCxnSpPr>
          <p:nvPr/>
        </p:nvCxnSpPr>
        <p:spPr>
          <a:xfrm flipV="1">
            <a:off x="5115284" y="2177289"/>
            <a:ext cx="0" cy="1635127"/>
          </a:xfrm>
          <a:prstGeom prst="straightConnector1">
            <a:avLst/>
          </a:prstGeom>
          <a:ln w="28575">
            <a:solidFill>
              <a:schemeClr val="bg1">
                <a:lumMod val="6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6" name="순서도: 처리 55"/>
          <p:cNvSpPr/>
          <p:nvPr/>
        </p:nvSpPr>
        <p:spPr>
          <a:xfrm>
            <a:off x="6975001" y="3812416"/>
            <a:ext cx="830037" cy="251834"/>
          </a:xfrm>
          <a:prstGeom prst="flowChartProcess">
            <a:avLst/>
          </a:prstGeom>
          <a:solidFill>
            <a:schemeClr val="accent2">
              <a:lumMod val="20000"/>
              <a:lumOff val="80000"/>
            </a:schemeClr>
          </a:solidFill>
          <a:ln>
            <a:solidFill>
              <a:schemeClr val="bg1">
                <a:lumMod val="6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solidFill>
                  <a:schemeClr val="bg1">
                    <a:lumMod val="50000"/>
                  </a:schemeClr>
                </a:solidFill>
                <a:latin typeface="+mn-ea"/>
              </a:rPr>
              <a:t>심사</a:t>
            </a:r>
            <a:r>
              <a:rPr lang="en-US" altLang="ko-KR" sz="1100" dirty="0">
                <a:solidFill>
                  <a:schemeClr val="bg1">
                    <a:lumMod val="50000"/>
                  </a:schemeClr>
                </a:solidFill>
                <a:latin typeface="+mn-ea"/>
              </a:rPr>
              <a:t>Ⅲ</a:t>
            </a:r>
            <a:endParaRPr lang="ko-KR" altLang="en-US" sz="1100" dirty="0">
              <a:solidFill>
                <a:schemeClr val="bg1">
                  <a:lumMod val="50000"/>
                </a:schemeClr>
              </a:solidFill>
              <a:latin typeface="+mn-ea"/>
            </a:endParaRPr>
          </a:p>
        </p:txBody>
      </p:sp>
      <p:cxnSp>
        <p:nvCxnSpPr>
          <p:cNvPr id="57" name="직선 화살표 연결선 56"/>
          <p:cNvCxnSpPr>
            <a:stCxn id="56" idx="0"/>
          </p:cNvCxnSpPr>
          <p:nvPr/>
        </p:nvCxnSpPr>
        <p:spPr>
          <a:xfrm flipV="1">
            <a:off x="7390020" y="2177289"/>
            <a:ext cx="0" cy="1635127"/>
          </a:xfrm>
          <a:prstGeom prst="straightConnector1">
            <a:avLst/>
          </a:prstGeom>
          <a:ln w="28575">
            <a:solidFill>
              <a:schemeClr val="bg1">
                <a:lumMod val="6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8" name="순서도: 처리 57"/>
          <p:cNvSpPr/>
          <p:nvPr/>
        </p:nvSpPr>
        <p:spPr>
          <a:xfrm>
            <a:off x="9682050" y="3812416"/>
            <a:ext cx="830037" cy="251834"/>
          </a:xfrm>
          <a:prstGeom prst="flowChartProcess">
            <a:avLst/>
          </a:prstGeom>
          <a:solidFill>
            <a:schemeClr val="accent2">
              <a:lumMod val="20000"/>
              <a:lumOff val="80000"/>
            </a:schemeClr>
          </a:solidFill>
          <a:ln>
            <a:solidFill>
              <a:schemeClr val="bg1">
                <a:lumMod val="6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solidFill>
                  <a:schemeClr val="bg1">
                    <a:lumMod val="50000"/>
                  </a:schemeClr>
                </a:solidFill>
                <a:latin typeface="+mn-ea"/>
              </a:rPr>
              <a:t>심사</a:t>
            </a:r>
            <a:r>
              <a:rPr lang="en-US" altLang="ko-KR" sz="1100" dirty="0">
                <a:solidFill>
                  <a:schemeClr val="bg1">
                    <a:lumMod val="50000"/>
                  </a:schemeClr>
                </a:solidFill>
                <a:latin typeface="+mn-ea"/>
              </a:rPr>
              <a:t>Ⅳ</a:t>
            </a:r>
            <a:endParaRPr lang="ko-KR" altLang="en-US" sz="1100" dirty="0">
              <a:solidFill>
                <a:schemeClr val="bg1">
                  <a:lumMod val="50000"/>
                </a:schemeClr>
              </a:solidFill>
              <a:latin typeface="+mn-ea"/>
            </a:endParaRPr>
          </a:p>
        </p:txBody>
      </p:sp>
      <p:cxnSp>
        <p:nvCxnSpPr>
          <p:cNvPr id="59" name="직선 화살표 연결선 58"/>
          <p:cNvCxnSpPr>
            <a:stCxn id="58" idx="0"/>
          </p:cNvCxnSpPr>
          <p:nvPr/>
        </p:nvCxnSpPr>
        <p:spPr>
          <a:xfrm flipV="1">
            <a:off x="10097069" y="2177289"/>
            <a:ext cx="0" cy="1635127"/>
          </a:xfrm>
          <a:prstGeom prst="straightConnector1">
            <a:avLst/>
          </a:prstGeom>
          <a:ln w="28575">
            <a:solidFill>
              <a:schemeClr val="bg1">
                <a:lumMod val="6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0" name="직사각형 59"/>
          <p:cNvSpPr/>
          <p:nvPr/>
        </p:nvSpPr>
        <p:spPr>
          <a:xfrm>
            <a:off x="317682" y="5309090"/>
            <a:ext cx="567267" cy="990562"/>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심사순서</a:t>
            </a:r>
          </a:p>
        </p:txBody>
      </p:sp>
      <p:cxnSp>
        <p:nvCxnSpPr>
          <p:cNvPr id="61" name="직선 연결선 60"/>
          <p:cNvCxnSpPr>
            <a:stCxn id="41" idx="2"/>
          </p:cNvCxnSpPr>
          <p:nvPr/>
        </p:nvCxnSpPr>
        <p:spPr>
          <a:xfrm flipH="1">
            <a:off x="2828387" y="4064250"/>
            <a:ext cx="2" cy="206199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flipH="1">
            <a:off x="5122086" y="4064250"/>
            <a:ext cx="2" cy="206199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flipH="1">
            <a:off x="7395072" y="4064250"/>
            <a:ext cx="2" cy="206199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flipH="1">
            <a:off x="10092060" y="4064250"/>
            <a:ext cx="2" cy="206199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2564532" y="4285049"/>
            <a:ext cx="527710" cy="261610"/>
          </a:xfrm>
          <a:prstGeom prst="rect">
            <a:avLst/>
          </a:prstGeom>
          <a:solidFill>
            <a:schemeClr val="bg1"/>
          </a:solidFill>
          <a:ln>
            <a:solidFill>
              <a:schemeClr val="bg1">
                <a:lumMod val="50000"/>
              </a:schemeClr>
            </a:solidFill>
          </a:ln>
        </p:spPr>
        <p:txBody>
          <a:bodyPr wrap="none" rtlCol="0">
            <a:spAutoFit/>
          </a:bodyPr>
          <a:lstStyle/>
          <a:p>
            <a:pPr algn="ctr"/>
            <a:r>
              <a:rPr lang="en-US" altLang="ko-KR" sz="1100" dirty="0"/>
              <a:t>(0)(1)</a:t>
            </a:r>
            <a:endParaRPr lang="ko-KR" altLang="en-US" sz="1100" dirty="0"/>
          </a:p>
        </p:txBody>
      </p:sp>
      <p:sp>
        <p:nvSpPr>
          <p:cNvPr id="66" name="TextBox 65"/>
          <p:cNvSpPr txBox="1"/>
          <p:nvPr/>
        </p:nvSpPr>
        <p:spPr>
          <a:xfrm>
            <a:off x="4774135" y="4276582"/>
            <a:ext cx="699230" cy="261610"/>
          </a:xfrm>
          <a:prstGeom prst="rect">
            <a:avLst/>
          </a:prstGeom>
          <a:solidFill>
            <a:schemeClr val="bg1"/>
          </a:solidFill>
          <a:ln>
            <a:solidFill>
              <a:schemeClr val="bg1">
                <a:lumMod val="50000"/>
              </a:schemeClr>
            </a:solidFill>
          </a:ln>
        </p:spPr>
        <p:txBody>
          <a:bodyPr wrap="none" rtlCol="0">
            <a:spAutoFit/>
          </a:bodyPr>
          <a:lstStyle/>
          <a:p>
            <a:pPr algn="ctr"/>
            <a:r>
              <a:rPr lang="en-US" altLang="ko-KR" sz="1100" dirty="0"/>
              <a:t>(0)(1)(2)</a:t>
            </a:r>
            <a:endParaRPr lang="ko-KR" altLang="en-US" sz="1100" dirty="0"/>
          </a:p>
        </p:txBody>
      </p:sp>
      <p:sp>
        <p:nvSpPr>
          <p:cNvPr id="67" name="TextBox 66"/>
          <p:cNvSpPr txBox="1"/>
          <p:nvPr/>
        </p:nvSpPr>
        <p:spPr>
          <a:xfrm>
            <a:off x="6279918" y="4448170"/>
            <a:ext cx="774571" cy="261610"/>
          </a:xfrm>
          <a:prstGeom prst="rect">
            <a:avLst/>
          </a:prstGeom>
          <a:solidFill>
            <a:schemeClr val="accent6">
              <a:lumMod val="40000"/>
              <a:lumOff val="60000"/>
            </a:schemeClr>
          </a:solidFill>
          <a:ln>
            <a:solidFill>
              <a:schemeClr val="bg1">
                <a:lumMod val="50000"/>
              </a:schemeClr>
            </a:solidFill>
          </a:ln>
        </p:spPr>
        <p:txBody>
          <a:bodyPr wrap="none" rtlCol="0">
            <a:spAutoFit/>
          </a:bodyPr>
          <a:lstStyle/>
          <a:p>
            <a:r>
              <a:rPr lang="en-US" altLang="ko-KR" sz="1100" dirty="0"/>
              <a:t>(3)</a:t>
            </a:r>
            <a:r>
              <a:rPr lang="ko-KR" altLang="en-US" sz="1100" dirty="0"/>
              <a:t> 적법성</a:t>
            </a:r>
            <a:endParaRPr lang="en-US" altLang="ko-KR" sz="1100" dirty="0"/>
          </a:p>
        </p:txBody>
      </p:sp>
      <p:sp>
        <p:nvSpPr>
          <p:cNvPr id="68" name="TextBox 67"/>
          <p:cNvSpPr txBox="1"/>
          <p:nvPr/>
        </p:nvSpPr>
        <p:spPr>
          <a:xfrm>
            <a:off x="7194201" y="4839855"/>
            <a:ext cx="1102203" cy="209348"/>
          </a:xfrm>
          <a:prstGeom prst="rect">
            <a:avLst/>
          </a:prstGeom>
          <a:noFill/>
          <a:ln>
            <a:noFill/>
          </a:ln>
        </p:spPr>
        <p:txBody>
          <a:bodyPr wrap="square" rtlCol="0">
            <a:noAutofit/>
          </a:bodyPr>
          <a:lstStyle/>
          <a:p>
            <a:r>
              <a:rPr lang="en-US" altLang="ko-KR" sz="1000" dirty="0">
                <a:solidFill>
                  <a:schemeClr val="accent2"/>
                </a:solidFill>
              </a:rPr>
              <a:t>(3)</a:t>
            </a:r>
            <a:r>
              <a:rPr lang="ko-KR" altLang="en-US" sz="1000" dirty="0">
                <a:solidFill>
                  <a:schemeClr val="accent2"/>
                </a:solidFill>
              </a:rPr>
              <a:t>은 </a:t>
            </a:r>
            <a:r>
              <a:rPr lang="ko-KR" altLang="en-US" sz="1000" dirty="0" err="1">
                <a:solidFill>
                  <a:schemeClr val="accent2"/>
                </a:solidFill>
              </a:rPr>
              <a:t>보정각하</a:t>
            </a:r>
            <a:endParaRPr lang="ko-KR" altLang="en-US" sz="1000" dirty="0">
              <a:solidFill>
                <a:schemeClr val="accent2"/>
              </a:solidFill>
            </a:endParaRPr>
          </a:p>
        </p:txBody>
      </p:sp>
      <p:sp>
        <p:nvSpPr>
          <p:cNvPr id="69" name="TextBox 68"/>
          <p:cNvSpPr txBox="1"/>
          <p:nvPr/>
        </p:nvSpPr>
        <p:spPr>
          <a:xfrm>
            <a:off x="1843618" y="5380898"/>
            <a:ext cx="1967374"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solidFill>
                  <a:schemeClr val="bg1">
                    <a:lumMod val="75000"/>
                  </a:schemeClr>
                </a:solidFill>
              </a:rPr>
              <a:t>1. </a:t>
            </a:r>
            <a:r>
              <a:rPr lang="ko-KR" altLang="en-US" sz="1100" dirty="0" err="1">
                <a:solidFill>
                  <a:schemeClr val="bg1">
                    <a:lumMod val="75000"/>
                  </a:schemeClr>
                </a:solidFill>
              </a:rPr>
              <a:t>원거절이유의</a:t>
            </a:r>
            <a:r>
              <a:rPr lang="ko-KR" altLang="en-US" sz="1100" dirty="0">
                <a:solidFill>
                  <a:schemeClr val="bg1">
                    <a:lumMod val="75000"/>
                  </a:schemeClr>
                </a:solidFill>
              </a:rPr>
              <a:t> 해소여부</a:t>
            </a:r>
          </a:p>
        </p:txBody>
      </p:sp>
      <p:sp>
        <p:nvSpPr>
          <p:cNvPr id="70" name="TextBox 69"/>
          <p:cNvSpPr txBox="1"/>
          <p:nvPr/>
        </p:nvSpPr>
        <p:spPr>
          <a:xfrm>
            <a:off x="1843618" y="5667909"/>
            <a:ext cx="1967372" cy="261610"/>
          </a:xfrm>
          <a:prstGeom prst="rect">
            <a:avLst/>
          </a:prstGeom>
          <a:solidFill>
            <a:schemeClr val="accent3">
              <a:lumMod val="60000"/>
              <a:lumOff val="40000"/>
            </a:schemeClr>
          </a:solidFill>
          <a:ln>
            <a:solidFill>
              <a:schemeClr val="bg1">
                <a:lumMod val="50000"/>
              </a:schemeClr>
            </a:solidFill>
          </a:ln>
        </p:spPr>
        <p:txBody>
          <a:bodyPr wrap="square" rtlCol="0">
            <a:spAutoFit/>
          </a:bodyPr>
          <a:lstStyle/>
          <a:p>
            <a:r>
              <a:rPr lang="en-US" altLang="ko-KR" sz="1100" dirty="0"/>
              <a:t>2. </a:t>
            </a:r>
            <a:r>
              <a:rPr lang="ko-KR" altLang="en-US" sz="1100" dirty="0"/>
              <a:t>새로운 거절이유의 발견여부</a:t>
            </a:r>
          </a:p>
        </p:txBody>
      </p:sp>
      <p:sp>
        <p:nvSpPr>
          <p:cNvPr id="71" name="TextBox 70"/>
          <p:cNvSpPr txBox="1"/>
          <p:nvPr/>
        </p:nvSpPr>
        <p:spPr>
          <a:xfrm>
            <a:off x="1843618" y="5966235"/>
            <a:ext cx="1973695"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3. </a:t>
            </a:r>
            <a:r>
              <a:rPr lang="ko-KR" altLang="en-US" sz="1100" dirty="0"/>
              <a:t>새로운 거절이유의 발생시점</a:t>
            </a:r>
          </a:p>
        </p:txBody>
      </p:sp>
      <p:sp>
        <p:nvSpPr>
          <p:cNvPr id="72" name="TextBox 71"/>
          <p:cNvSpPr txBox="1"/>
          <p:nvPr/>
        </p:nvSpPr>
        <p:spPr>
          <a:xfrm>
            <a:off x="4145784" y="5380898"/>
            <a:ext cx="1967374"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1. </a:t>
            </a:r>
            <a:r>
              <a:rPr lang="ko-KR" altLang="en-US" sz="1100" dirty="0" err="1"/>
              <a:t>원거절이유의</a:t>
            </a:r>
            <a:r>
              <a:rPr lang="ko-KR" altLang="en-US" sz="1100" dirty="0"/>
              <a:t> 해소여부</a:t>
            </a:r>
          </a:p>
        </p:txBody>
      </p:sp>
      <p:sp>
        <p:nvSpPr>
          <p:cNvPr id="73" name="TextBox 72"/>
          <p:cNvSpPr txBox="1"/>
          <p:nvPr/>
        </p:nvSpPr>
        <p:spPr>
          <a:xfrm>
            <a:off x="4145784" y="5667909"/>
            <a:ext cx="1967372" cy="261610"/>
          </a:xfrm>
          <a:prstGeom prst="rect">
            <a:avLst/>
          </a:prstGeom>
          <a:solidFill>
            <a:schemeClr val="accent3">
              <a:lumMod val="60000"/>
              <a:lumOff val="40000"/>
            </a:schemeClr>
          </a:solidFill>
          <a:ln>
            <a:solidFill>
              <a:schemeClr val="bg1">
                <a:lumMod val="50000"/>
              </a:schemeClr>
            </a:solidFill>
          </a:ln>
        </p:spPr>
        <p:txBody>
          <a:bodyPr wrap="square" rtlCol="0">
            <a:spAutoFit/>
          </a:bodyPr>
          <a:lstStyle/>
          <a:p>
            <a:r>
              <a:rPr lang="en-US" altLang="ko-KR" sz="1100" dirty="0"/>
              <a:t>2. </a:t>
            </a:r>
            <a:r>
              <a:rPr lang="ko-KR" altLang="en-US" sz="1100" dirty="0"/>
              <a:t>새로운 거절이유의 발견여부</a:t>
            </a:r>
          </a:p>
        </p:txBody>
      </p:sp>
      <p:sp>
        <p:nvSpPr>
          <p:cNvPr id="74" name="TextBox 73"/>
          <p:cNvSpPr txBox="1"/>
          <p:nvPr/>
        </p:nvSpPr>
        <p:spPr>
          <a:xfrm>
            <a:off x="4145784" y="5966235"/>
            <a:ext cx="1973695"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3. </a:t>
            </a:r>
            <a:r>
              <a:rPr lang="ko-KR" altLang="en-US" sz="1100" dirty="0"/>
              <a:t>새로운 거절이유의 발생시점</a:t>
            </a:r>
          </a:p>
        </p:txBody>
      </p:sp>
      <p:sp>
        <p:nvSpPr>
          <p:cNvPr id="75" name="TextBox 74"/>
          <p:cNvSpPr txBox="1"/>
          <p:nvPr/>
        </p:nvSpPr>
        <p:spPr>
          <a:xfrm>
            <a:off x="6410303" y="5380898"/>
            <a:ext cx="1967374"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1. </a:t>
            </a:r>
            <a:r>
              <a:rPr lang="ko-KR" altLang="en-US" sz="1100" dirty="0" err="1"/>
              <a:t>원거절이유의</a:t>
            </a:r>
            <a:r>
              <a:rPr lang="ko-KR" altLang="en-US" sz="1100" dirty="0"/>
              <a:t> 해소여부</a:t>
            </a:r>
          </a:p>
        </p:txBody>
      </p:sp>
      <p:sp>
        <p:nvSpPr>
          <p:cNvPr id="76" name="TextBox 75"/>
          <p:cNvSpPr txBox="1"/>
          <p:nvPr/>
        </p:nvSpPr>
        <p:spPr>
          <a:xfrm>
            <a:off x="6410303" y="5667909"/>
            <a:ext cx="1967372"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2. </a:t>
            </a:r>
            <a:r>
              <a:rPr lang="ko-KR" altLang="en-US" sz="1100" dirty="0"/>
              <a:t>새로운 거절이유의 발견여부</a:t>
            </a:r>
          </a:p>
        </p:txBody>
      </p:sp>
      <p:sp>
        <p:nvSpPr>
          <p:cNvPr id="77" name="TextBox 76"/>
          <p:cNvSpPr txBox="1"/>
          <p:nvPr/>
        </p:nvSpPr>
        <p:spPr>
          <a:xfrm>
            <a:off x="6410303" y="5966235"/>
            <a:ext cx="1973695"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3. </a:t>
            </a:r>
            <a:r>
              <a:rPr lang="ko-KR" altLang="en-US" sz="1100" dirty="0"/>
              <a:t>새로운 거절이유의 발생시점</a:t>
            </a:r>
          </a:p>
        </p:txBody>
      </p:sp>
      <p:sp>
        <p:nvSpPr>
          <p:cNvPr id="78" name="TextBox 77"/>
          <p:cNvSpPr txBox="1"/>
          <p:nvPr/>
        </p:nvSpPr>
        <p:spPr>
          <a:xfrm>
            <a:off x="9107291" y="5380898"/>
            <a:ext cx="1967374"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1. </a:t>
            </a:r>
            <a:r>
              <a:rPr lang="ko-KR" altLang="en-US" sz="1100" dirty="0" err="1"/>
              <a:t>원거절이유의</a:t>
            </a:r>
            <a:r>
              <a:rPr lang="ko-KR" altLang="en-US" sz="1100" dirty="0"/>
              <a:t> 해소여부</a:t>
            </a:r>
          </a:p>
        </p:txBody>
      </p:sp>
      <p:sp>
        <p:nvSpPr>
          <p:cNvPr id="79" name="TextBox 78"/>
          <p:cNvSpPr txBox="1"/>
          <p:nvPr/>
        </p:nvSpPr>
        <p:spPr>
          <a:xfrm>
            <a:off x="9107291" y="5667909"/>
            <a:ext cx="1967372"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2. </a:t>
            </a:r>
            <a:r>
              <a:rPr lang="ko-KR" altLang="en-US" sz="1100" dirty="0"/>
              <a:t>새로운 거절이유의 발견여부</a:t>
            </a:r>
          </a:p>
        </p:txBody>
      </p:sp>
      <p:sp>
        <p:nvSpPr>
          <p:cNvPr id="80" name="TextBox 79"/>
          <p:cNvSpPr txBox="1"/>
          <p:nvPr/>
        </p:nvSpPr>
        <p:spPr>
          <a:xfrm>
            <a:off x="9107291" y="5966235"/>
            <a:ext cx="1973695"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3. </a:t>
            </a:r>
            <a:r>
              <a:rPr lang="ko-KR" altLang="en-US" sz="1100" dirty="0"/>
              <a:t>새로운 거절이유의 발생시점</a:t>
            </a:r>
          </a:p>
        </p:txBody>
      </p:sp>
      <p:cxnSp>
        <p:nvCxnSpPr>
          <p:cNvPr id="81" name="꺾인 연결선 80"/>
          <p:cNvCxnSpPr>
            <a:stCxn id="23" idx="1"/>
            <a:endCxn id="70" idx="1"/>
          </p:cNvCxnSpPr>
          <p:nvPr/>
        </p:nvCxnSpPr>
        <p:spPr>
          <a:xfrm rot="10800000" flipH="1" flipV="1">
            <a:off x="1773758" y="2628056"/>
            <a:ext cx="69859" cy="3170657"/>
          </a:xfrm>
          <a:prstGeom prst="bentConnector3">
            <a:avLst>
              <a:gd name="adj1" fmla="val -327231"/>
            </a:avLst>
          </a:prstGeom>
          <a:ln w="28575">
            <a:solidFill>
              <a:schemeClr val="tx2">
                <a:lumMod val="7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자유형 81"/>
          <p:cNvSpPr/>
          <p:nvPr/>
        </p:nvSpPr>
        <p:spPr>
          <a:xfrm>
            <a:off x="3399536" y="2624669"/>
            <a:ext cx="745067" cy="3174044"/>
          </a:xfrm>
          <a:custGeom>
            <a:avLst/>
            <a:gdLst>
              <a:gd name="connsiteX0" fmla="*/ 135467 w 745067"/>
              <a:gd name="connsiteY0" fmla="*/ 0 h 3064933"/>
              <a:gd name="connsiteX1" fmla="*/ 0 w 745067"/>
              <a:gd name="connsiteY1" fmla="*/ 0 h 3064933"/>
              <a:gd name="connsiteX2" fmla="*/ 0 w 745067"/>
              <a:gd name="connsiteY2" fmla="*/ 2133600 h 3064933"/>
              <a:gd name="connsiteX3" fmla="*/ 592667 w 745067"/>
              <a:gd name="connsiteY3" fmla="*/ 2133600 h 3064933"/>
              <a:gd name="connsiteX4" fmla="*/ 592667 w 745067"/>
              <a:gd name="connsiteY4" fmla="*/ 3064933 h 3064933"/>
              <a:gd name="connsiteX5" fmla="*/ 745067 w 745067"/>
              <a:gd name="connsiteY5" fmla="*/ 3064933 h 306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5067" h="3064933">
                <a:moveTo>
                  <a:pt x="135467" y="0"/>
                </a:moveTo>
                <a:lnTo>
                  <a:pt x="0" y="0"/>
                </a:lnTo>
                <a:lnTo>
                  <a:pt x="0" y="2133600"/>
                </a:lnTo>
                <a:lnTo>
                  <a:pt x="592667" y="2133600"/>
                </a:lnTo>
                <a:lnTo>
                  <a:pt x="592667" y="3064933"/>
                </a:lnTo>
                <a:lnTo>
                  <a:pt x="745067" y="3064933"/>
                </a:lnTo>
              </a:path>
            </a:pathLst>
          </a:custGeom>
          <a:ln w="28575">
            <a:solidFill>
              <a:schemeClr val="tx2">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83" name="TextBox 82"/>
          <p:cNvSpPr txBox="1"/>
          <p:nvPr/>
        </p:nvSpPr>
        <p:spPr>
          <a:xfrm>
            <a:off x="7237813" y="4276342"/>
            <a:ext cx="870751" cy="261610"/>
          </a:xfrm>
          <a:prstGeom prst="rect">
            <a:avLst/>
          </a:prstGeom>
          <a:solidFill>
            <a:schemeClr val="bg1"/>
          </a:solidFill>
          <a:ln>
            <a:solidFill>
              <a:schemeClr val="bg1">
                <a:lumMod val="50000"/>
              </a:schemeClr>
            </a:solidFill>
          </a:ln>
        </p:spPr>
        <p:txBody>
          <a:bodyPr wrap="none" rtlCol="0">
            <a:spAutoFit/>
          </a:bodyPr>
          <a:lstStyle/>
          <a:p>
            <a:r>
              <a:rPr lang="en-US" altLang="ko-KR" sz="1100" dirty="0"/>
              <a:t>(0)(1)(2)(3)</a:t>
            </a:r>
          </a:p>
        </p:txBody>
      </p:sp>
      <p:sp>
        <p:nvSpPr>
          <p:cNvPr id="84" name="TextBox 83"/>
          <p:cNvSpPr txBox="1"/>
          <p:nvPr/>
        </p:nvSpPr>
        <p:spPr>
          <a:xfrm>
            <a:off x="7237812" y="4588269"/>
            <a:ext cx="870751"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(0)(1)(2)</a:t>
            </a:r>
          </a:p>
        </p:txBody>
      </p:sp>
      <p:cxnSp>
        <p:nvCxnSpPr>
          <p:cNvPr id="85" name="꺾인 연결선 84"/>
          <p:cNvCxnSpPr>
            <a:stCxn id="67" idx="3"/>
            <a:endCxn id="83" idx="1"/>
          </p:cNvCxnSpPr>
          <p:nvPr/>
        </p:nvCxnSpPr>
        <p:spPr>
          <a:xfrm flipV="1">
            <a:off x="7054489" y="4407147"/>
            <a:ext cx="183324" cy="17182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67" idx="3"/>
            <a:endCxn id="84" idx="1"/>
          </p:cNvCxnSpPr>
          <p:nvPr/>
        </p:nvCxnSpPr>
        <p:spPr>
          <a:xfrm>
            <a:off x="7054489" y="4578975"/>
            <a:ext cx="183323" cy="14009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7" name="직사각형 86"/>
          <p:cNvSpPr/>
          <p:nvPr/>
        </p:nvSpPr>
        <p:spPr>
          <a:xfrm>
            <a:off x="6937705" y="4198051"/>
            <a:ext cx="336952" cy="215444"/>
          </a:xfrm>
          <a:prstGeom prst="rect">
            <a:avLst/>
          </a:prstGeom>
        </p:spPr>
        <p:txBody>
          <a:bodyPr wrap="none">
            <a:spAutoFit/>
          </a:bodyPr>
          <a:lstStyle/>
          <a:p>
            <a:r>
              <a:rPr lang="en-US" altLang="ko-KR" sz="800" kern="0" spc="-50" dirty="0"/>
              <a:t>Yes</a:t>
            </a:r>
            <a:endParaRPr lang="ko-KR" altLang="en-US" sz="800" dirty="0"/>
          </a:p>
        </p:txBody>
      </p:sp>
      <p:sp>
        <p:nvSpPr>
          <p:cNvPr id="88" name="직사각형 87"/>
          <p:cNvSpPr/>
          <p:nvPr/>
        </p:nvSpPr>
        <p:spPr>
          <a:xfrm>
            <a:off x="6937705" y="4732133"/>
            <a:ext cx="308098" cy="215444"/>
          </a:xfrm>
          <a:prstGeom prst="rect">
            <a:avLst/>
          </a:prstGeom>
        </p:spPr>
        <p:txBody>
          <a:bodyPr wrap="none">
            <a:spAutoFit/>
          </a:bodyPr>
          <a:lstStyle/>
          <a:p>
            <a:r>
              <a:rPr lang="en-US" altLang="ko-KR" sz="800" kern="0" spc="-50" dirty="0"/>
              <a:t>No</a:t>
            </a:r>
            <a:endParaRPr lang="ko-KR" altLang="en-US" sz="800" dirty="0"/>
          </a:p>
        </p:txBody>
      </p:sp>
      <p:sp>
        <p:nvSpPr>
          <p:cNvPr id="89" name="TextBox 88"/>
          <p:cNvSpPr txBox="1"/>
          <p:nvPr/>
        </p:nvSpPr>
        <p:spPr>
          <a:xfrm>
            <a:off x="9100512" y="4448170"/>
            <a:ext cx="774571" cy="261610"/>
          </a:xfrm>
          <a:prstGeom prst="rect">
            <a:avLst/>
          </a:prstGeom>
          <a:solidFill>
            <a:schemeClr val="accent6">
              <a:lumMod val="40000"/>
              <a:lumOff val="60000"/>
            </a:schemeClr>
          </a:solidFill>
          <a:ln>
            <a:solidFill>
              <a:schemeClr val="bg1">
                <a:lumMod val="50000"/>
              </a:schemeClr>
            </a:solidFill>
          </a:ln>
        </p:spPr>
        <p:txBody>
          <a:bodyPr wrap="none" rtlCol="0">
            <a:spAutoFit/>
          </a:bodyPr>
          <a:lstStyle/>
          <a:p>
            <a:r>
              <a:rPr lang="en-US" altLang="ko-KR" sz="1100" dirty="0"/>
              <a:t>(4)</a:t>
            </a:r>
            <a:r>
              <a:rPr lang="ko-KR" altLang="en-US" sz="1100" dirty="0"/>
              <a:t> 적법성</a:t>
            </a:r>
            <a:endParaRPr lang="en-US" altLang="ko-KR" sz="1100" dirty="0"/>
          </a:p>
        </p:txBody>
      </p:sp>
      <p:sp>
        <p:nvSpPr>
          <p:cNvPr id="90" name="TextBox 89"/>
          <p:cNvSpPr txBox="1"/>
          <p:nvPr/>
        </p:nvSpPr>
        <p:spPr>
          <a:xfrm>
            <a:off x="10014795" y="4839855"/>
            <a:ext cx="1102203" cy="209348"/>
          </a:xfrm>
          <a:prstGeom prst="rect">
            <a:avLst/>
          </a:prstGeom>
          <a:noFill/>
          <a:ln>
            <a:noFill/>
          </a:ln>
        </p:spPr>
        <p:txBody>
          <a:bodyPr wrap="square" rtlCol="0">
            <a:noAutofit/>
          </a:bodyPr>
          <a:lstStyle/>
          <a:p>
            <a:r>
              <a:rPr lang="en-US" altLang="ko-KR" sz="1000" dirty="0">
                <a:solidFill>
                  <a:schemeClr val="accent2"/>
                </a:solidFill>
              </a:rPr>
              <a:t>(4)</a:t>
            </a:r>
            <a:r>
              <a:rPr lang="ko-KR" altLang="en-US" sz="1000" dirty="0">
                <a:solidFill>
                  <a:schemeClr val="accent2"/>
                </a:solidFill>
              </a:rPr>
              <a:t>는 </a:t>
            </a:r>
            <a:r>
              <a:rPr lang="ko-KR" altLang="en-US" sz="1000" dirty="0" err="1">
                <a:solidFill>
                  <a:schemeClr val="accent2"/>
                </a:solidFill>
              </a:rPr>
              <a:t>보정각하</a:t>
            </a:r>
            <a:endParaRPr lang="ko-KR" altLang="en-US" sz="1000" dirty="0">
              <a:solidFill>
                <a:schemeClr val="accent2"/>
              </a:solidFill>
            </a:endParaRPr>
          </a:p>
        </p:txBody>
      </p:sp>
      <p:sp>
        <p:nvSpPr>
          <p:cNvPr id="91" name="TextBox 90"/>
          <p:cNvSpPr txBox="1"/>
          <p:nvPr/>
        </p:nvSpPr>
        <p:spPr>
          <a:xfrm>
            <a:off x="10058407" y="4276342"/>
            <a:ext cx="1042273" cy="261610"/>
          </a:xfrm>
          <a:prstGeom prst="rect">
            <a:avLst/>
          </a:prstGeom>
          <a:solidFill>
            <a:schemeClr val="bg1"/>
          </a:solidFill>
          <a:ln>
            <a:solidFill>
              <a:schemeClr val="bg1">
                <a:lumMod val="50000"/>
              </a:schemeClr>
            </a:solidFill>
          </a:ln>
        </p:spPr>
        <p:txBody>
          <a:bodyPr wrap="none" rtlCol="0">
            <a:spAutoFit/>
          </a:bodyPr>
          <a:lstStyle/>
          <a:p>
            <a:r>
              <a:rPr lang="en-US" altLang="ko-KR" sz="1100" dirty="0"/>
              <a:t>(0)(1)(2)</a:t>
            </a:r>
            <a:r>
              <a:rPr lang="en-US" altLang="ko-KR" sz="1100" dirty="0">
                <a:solidFill>
                  <a:schemeClr val="accent3">
                    <a:lumMod val="60000"/>
                    <a:lumOff val="40000"/>
                  </a:schemeClr>
                </a:solidFill>
              </a:rPr>
              <a:t>(3)</a:t>
            </a:r>
            <a:r>
              <a:rPr lang="en-US" altLang="ko-KR" sz="1100" dirty="0"/>
              <a:t>(4)</a:t>
            </a:r>
          </a:p>
        </p:txBody>
      </p:sp>
      <p:sp>
        <p:nvSpPr>
          <p:cNvPr id="92" name="TextBox 91"/>
          <p:cNvSpPr txBox="1"/>
          <p:nvPr/>
        </p:nvSpPr>
        <p:spPr>
          <a:xfrm>
            <a:off x="10058406" y="4588269"/>
            <a:ext cx="1042274"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(0)(1)(2)</a:t>
            </a:r>
            <a:r>
              <a:rPr lang="en-US" altLang="ko-KR" sz="1100" dirty="0">
                <a:solidFill>
                  <a:schemeClr val="accent3">
                    <a:lumMod val="60000"/>
                    <a:lumOff val="40000"/>
                  </a:schemeClr>
                </a:solidFill>
              </a:rPr>
              <a:t>(3)</a:t>
            </a:r>
          </a:p>
        </p:txBody>
      </p:sp>
      <p:cxnSp>
        <p:nvCxnSpPr>
          <p:cNvPr id="93" name="꺾인 연결선 92"/>
          <p:cNvCxnSpPr>
            <a:stCxn id="89" idx="3"/>
            <a:endCxn id="91" idx="1"/>
          </p:cNvCxnSpPr>
          <p:nvPr/>
        </p:nvCxnSpPr>
        <p:spPr>
          <a:xfrm flipV="1">
            <a:off x="9875083" y="4407147"/>
            <a:ext cx="183324" cy="17182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꺾인 연결선 93"/>
          <p:cNvCxnSpPr>
            <a:stCxn id="89" idx="3"/>
            <a:endCxn id="92" idx="1"/>
          </p:cNvCxnSpPr>
          <p:nvPr/>
        </p:nvCxnSpPr>
        <p:spPr>
          <a:xfrm>
            <a:off x="9875083" y="4578975"/>
            <a:ext cx="183323" cy="14009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5" name="직사각형 94"/>
          <p:cNvSpPr/>
          <p:nvPr/>
        </p:nvSpPr>
        <p:spPr>
          <a:xfrm>
            <a:off x="9758299" y="4198051"/>
            <a:ext cx="336952" cy="215444"/>
          </a:xfrm>
          <a:prstGeom prst="rect">
            <a:avLst/>
          </a:prstGeom>
        </p:spPr>
        <p:txBody>
          <a:bodyPr wrap="none">
            <a:spAutoFit/>
          </a:bodyPr>
          <a:lstStyle/>
          <a:p>
            <a:r>
              <a:rPr lang="en-US" altLang="ko-KR" sz="800" kern="0" spc="-50" dirty="0"/>
              <a:t>Yes</a:t>
            </a:r>
            <a:endParaRPr lang="ko-KR" altLang="en-US" sz="800" dirty="0"/>
          </a:p>
        </p:txBody>
      </p:sp>
      <p:sp>
        <p:nvSpPr>
          <p:cNvPr id="96" name="직사각형 95"/>
          <p:cNvSpPr/>
          <p:nvPr/>
        </p:nvSpPr>
        <p:spPr>
          <a:xfrm>
            <a:off x="9758299" y="4732133"/>
            <a:ext cx="308098" cy="215444"/>
          </a:xfrm>
          <a:prstGeom prst="rect">
            <a:avLst/>
          </a:prstGeom>
        </p:spPr>
        <p:txBody>
          <a:bodyPr wrap="none">
            <a:spAutoFit/>
          </a:bodyPr>
          <a:lstStyle/>
          <a:p>
            <a:r>
              <a:rPr lang="en-US" altLang="ko-KR" sz="800" kern="0" spc="-50" dirty="0"/>
              <a:t>No</a:t>
            </a:r>
            <a:endParaRPr lang="ko-KR" altLang="en-US" sz="800" dirty="0"/>
          </a:p>
        </p:txBody>
      </p:sp>
      <p:cxnSp>
        <p:nvCxnSpPr>
          <p:cNvPr id="97" name="꺾인 연결선 96"/>
          <p:cNvCxnSpPr>
            <a:stCxn id="28" idx="1"/>
            <a:endCxn id="67" idx="1"/>
          </p:cNvCxnSpPr>
          <p:nvPr/>
        </p:nvCxnSpPr>
        <p:spPr>
          <a:xfrm rot="10800000" flipH="1" flipV="1">
            <a:off x="5864900" y="2628057"/>
            <a:ext cx="415018" cy="1950918"/>
          </a:xfrm>
          <a:prstGeom prst="bentConnector3">
            <a:avLst>
              <a:gd name="adj1" fmla="val -55082"/>
            </a:avLst>
          </a:prstGeom>
          <a:ln w="28575">
            <a:solidFill>
              <a:schemeClr val="accent6">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꺾인 연결선 97"/>
          <p:cNvCxnSpPr>
            <a:stCxn id="30" idx="1"/>
            <a:endCxn id="89" idx="1"/>
          </p:cNvCxnSpPr>
          <p:nvPr/>
        </p:nvCxnSpPr>
        <p:spPr>
          <a:xfrm rot="10800000" flipH="1" flipV="1">
            <a:off x="8861038" y="2628057"/>
            <a:ext cx="239473" cy="1950918"/>
          </a:xfrm>
          <a:prstGeom prst="bentConnector3">
            <a:avLst>
              <a:gd name="adj1" fmla="val -95460"/>
            </a:avLst>
          </a:prstGeom>
          <a:ln w="28575">
            <a:solidFill>
              <a:schemeClr val="accent6">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9" name="자유형 98"/>
          <p:cNvSpPr/>
          <p:nvPr/>
        </p:nvSpPr>
        <p:spPr>
          <a:xfrm>
            <a:off x="8530336" y="1498597"/>
            <a:ext cx="2091267" cy="660400"/>
          </a:xfrm>
          <a:custGeom>
            <a:avLst/>
            <a:gdLst>
              <a:gd name="connsiteX0" fmla="*/ 0 w 2091267"/>
              <a:gd name="connsiteY0" fmla="*/ 660400 h 660400"/>
              <a:gd name="connsiteX1" fmla="*/ 0 w 2091267"/>
              <a:gd name="connsiteY1" fmla="*/ 0 h 660400"/>
              <a:gd name="connsiteX2" fmla="*/ 2091267 w 2091267"/>
              <a:gd name="connsiteY2" fmla="*/ 0 h 660400"/>
              <a:gd name="connsiteX3" fmla="*/ 2091267 w 2091267"/>
              <a:gd name="connsiteY3" fmla="*/ 626533 h 660400"/>
            </a:gdLst>
            <a:ahLst/>
            <a:cxnLst>
              <a:cxn ang="0">
                <a:pos x="connsiteX0" y="connsiteY0"/>
              </a:cxn>
              <a:cxn ang="0">
                <a:pos x="connsiteX1" y="connsiteY1"/>
              </a:cxn>
              <a:cxn ang="0">
                <a:pos x="connsiteX2" y="connsiteY2"/>
              </a:cxn>
              <a:cxn ang="0">
                <a:pos x="connsiteX3" y="connsiteY3"/>
              </a:cxn>
            </a:cxnLst>
            <a:rect l="l" t="t" r="r" b="b"/>
            <a:pathLst>
              <a:path w="2091267" h="660400">
                <a:moveTo>
                  <a:pt x="0" y="660400"/>
                </a:moveTo>
                <a:lnTo>
                  <a:pt x="0" y="0"/>
                </a:lnTo>
                <a:lnTo>
                  <a:pt x="2091267" y="0"/>
                </a:lnTo>
                <a:lnTo>
                  <a:pt x="2091267" y="626533"/>
                </a:lnTo>
              </a:path>
            </a:pathLst>
          </a:custGeom>
          <a:ln w="28575">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00" name="TextBox 99"/>
          <p:cNvSpPr txBox="1"/>
          <p:nvPr/>
        </p:nvSpPr>
        <p:spPr>
          <a:xfrm>
            <a:off x="8633892" y="1221598"/>
            <a:ext cx="2053767" cy="276999"/>
          </a:xfrm>
          <a:prstGeom prst="rect">
            <a:avLst/>
          </a:prstGeom>
          <a:noFill/>
        </p:spPr>
        <p:txBody>
          <a:bodyPr wrap="none" rtlCol="0">
            <a:spAutoFit/>
          </a:bodyPr>
          <a:lstStyle/>
          <a:p>
            <a:r>
              <a:rPr lang="ko-KR" altLang="en-US" sz="1200" dirty="0"/>
              <a:t>등본 송달일로부터 </a:t>
            </a:r>
            <a:r>
              <a:rPr lang="en-US" altLang="ko-KR" sz="1200" dirty="0"/>
              <a:t>3</a:t>
            </a:r>
            <a:r>
              <a:rPr lang="ko-KR" altLang="en-US" sz="1200" dirty="0"/>
              <a:t>개월 이내</a:t>
            </a:r>
          </a:p>
        </p:txBody>
      </p:sp>
      <p:sp>
        <p:nvSpPr>
          <p:cNvPr id="5" name="TextBox 4"/>
          <p:cNvSpPr txBox="1"/>
          <p:nvPr/>
        </p:nvSpPr>
        <p:spPr>
          <a:xfrm>
            <a:off x="1070854" y="3707500"/>
            <a:ext cx="960519" cy="461665"/>
          </a:xfrm>
          <a:prstGeom prst="rect">
            <a:avLst/>
          </a:prstGeom>
          <a:solidFill>
            <a:schemeClr val="bg1"/>
          </a:solidFill>
        </p:spPr>
        <p:txBody>
          <a:bodyPr wrap="none" rtlCol="0">
            <a:spAutoFit/>
          </a:bodyPr>
          <a:lstStyle/>
          <a:p>
            <a:pPr algn="ctr"/>
            <a:r>
              <a:rPr lang="ko-KR" altLang="en-US" sz="1200" dirty="0"/>
              <a:t>거절이유 中 </a:t>
            </a:r>
            <a:endParaRPr lang="en-US" altLang="ko-KR" sz="1200" dirty="0"/>
          </a:p>
          <a:p>
            <a:pPr algn="ctr"/>
            <a:r>
              <a:rPr lang="ko-KR" altLang="en-US" sz="1200" dirty="0"/>
              <a:t>하나</a:t>
            </a:r>
          </a:p>
        </p:txBody>
      </p:sp>
      <p:sp>
        <p:nvSpPr>
          <p:cNvPr id="101" name="TextBox 100"/>
          <p:cNvSpPr txBox="1"/>
          <p:nvPr/>
        </p:nvSpPr>
        <p:spPr>
          <a:xfrm>
            <a:off x="3355566" y="4402374"/>
            <a:ext cx="960519" cy="461665"/>
          </a:xfrm>
          <a:prstGeom prst="rect">
            <a:avLst/>
          </a:prstGeom>
          <a:noFill/>
        </p:spPr>
        <p:txBody>
          <a:bodyPr wrap="none" rtlCol="0">
            <a:spAutoFit/>
          </a:bodyPr>
          <a:lstStyle/>
          <a:p>
            <a:pPr algn="ctr"/>
            <a:r>
              <a:rPr lang="ko-KR" altLang="en-US" sz="1200" dirty="0"/>
              <a:t>거절이유 中 </a:t>
            </a:r>
            <a:endParaRPr lang="en-US" altLang="ko-KR" sz="1200" dirty="0"/>
          </a:p>
          <a:p>
            <a:pPr algn="ctr"/>
            <a:r>
              <a:rPr lang="ko-KR" altLang="en-US" sz="1200" dirty="0"/>
              <a:t>하나</a:t>
            </a:r>
          </a:p>
        </p:txBody>
      </p:sp>
      <p:sp>
        <p:nvSpPr>
          <p:cNvPr id="26" name="TextBox 25"/>
          <p:cNvSpPr txBox="1"/>
          <p:nvPr/>
        </p:nvSpPr>
        <p:spPr>
          <a:xfrm flipH="1">
            <a:off x="1932483" y="4675834"/>
            <a:ext cx="902309" cy="289441"/>
          </a:xfrm>
          <a:prstGeom prst="wedgeRoundRectCallout">
            <a:avLst>
              <a:gd name="adj1" fmla="val -25905"/>
              <a:gd name="adj2" fmla="val -102224"/>
              <a:gd name="adj3" fmla="val 16667"/>
            </a:avLst>
          </a:prstGeom>
          <a:noFill/>
          <a:ln>
            <a:solidFill>
              <a:schemeClr val="bg1">
                <a:lumMod val="50000"/>
              </a:schemeClr>
            </a:solidFill>
          </a:ln>
        </p:spPr>
        <p:txBody>
          <a:bodyPr wrap="square" rtlCol="0">
            <a:spAutoFit/>
          </a:bodyPr>
          <a:lstStyle/>
          <a:p>
            <a:r>
              <a:rPr lang="ko-KR" altLang="en-US" sz="1050" dirty="0"/>
              <a:t>보정 후 명도</a:t>
            </a:r>
          </a:p>
        </p:txBody>
      </p:sp>
      <p:sp>
        <p:nvSpPr>
          <p:cNvPr id="102" name="TextBox 101"/>
          <p:cNvSpPr txBox="1"/>
          <p:nvPr/>
        </p:nvSpPr>
        <p:spPr>
          <a:xfrm flipH="1">
            <a:off x="8142658" y="4960379"/>
            <a:ext cx="924466" cy="289441"/>
          </a:xfrm>
          <a:prstGeom prst="wedgeRoundRectCallout">
            <a:avLst>
              <a:gd name="adj1" fmla="val 55655"/>
              <a:gd name="adj2" fmla="val -95642"/>
              <a:gd name="adj3" fmla="val 16667"/>
            </a:avLst>
          </a:prstGeom>
          <a:noFill/>
          <a:ln>
            <a:solidFill>
              <a:schemeClr val="bg1">
                <a:lumMod val="50000"/>
              </a:schemeClr>
            </a:solidFill>
          </a:ln>
        </p:spPr>
        <p:txBody>
          <a:bodyPr wrap="square" rtlCol="0">
            <a:spAutoFit/>
          </a:bodyPr>
          <a:lstStyle/>
          <a:p>
            <a:r>
              <a:rPr lang="ko-KR" altLang="en-US" sz="1050" dirty="0"/>
              <a:t>보정 전 명도</a:t>
            </a:r>
          </a:p>
        </p:txBody>
      </p:sp>
      <p:sp>
        <p:nvSpPr>
          <p:cNvPr id="103" name="TextBox 102"/>
          <p:cNvSpPr txBox="1"/>
          <p:nvPr/>
        </p:nvSpPr>
        <p:spPr>
          <a:xfrm flipH="1">
            <a:off x="10778880" y="3779809"/>
            <a:ext cx="948681" cy="289441"/>
          </a:xfrm>
          <a:prstGeom prst="wedgeRoundRectCallout">
            <a:avLst>
              <a:gd name="adj1" fmla="val 31099"/>
              <a:gd name="adj2" fmla="val 121552"/>
              <a:gd name="adj3" fmla="val 16667"/>
            </a:avLst>
          </a:prstGeom>
          <a:noFill/>
          <a:ln>
            <a:solidFill>
              <a:schemeClr val="bg1">
                <a:lumMod val="50000"/>
              </a:schemeClr>
            </a:solidFill>
          </a:ln>
        </p:spPr>
        <p:txBody>
          <a:bodyPr wrap="square" rtlCol="0">
            <a:spAutoFit/>
          </a:bodyPr>
          <a:lstStyle/>
          <a:p>
            <a:r>
              <a:rPr lang="ko-KR" altLang="en-US" sz="1050" dirty="0"/>
              <a:t>보정 후 명도</a:t>
            </a:r>
          </a:p>
        </p:txBody>
      </p:sp>
      <p:sp>
        <p:nvSpPr>
          <p:cNvPr id="104" name="TextBox 103"/>
          <p:cNvSpPr txBox="1"/>
          <p:nvPr/>
        </p:nvSpPr>
        <p:spPr>
          <a:xfrm flipH="1">
            <a:off x="11001563" y="4960379"/>
            <a:ext cx="893919" cy="289441"/>
          </a:xfrm>
          <a:prstGeom prst="wedgeRoundRectCallout">
            <a:avLst>
              <a:gd name="adj1" fmla="val 50327"/>
              <a:gd name="adj2" fmla="val -85770"/>
              <a:gd name="adj3" fmla="val 16667"/>
            </a:avLst>
          </a:prstGeom>
          <a:noFill/>
          <a:ln>
            <a:solidFill>
              <a:schemeClr val="bg1">
                <a:lumMod val="50000"/>
              </a:schemeClr>
            </a:solidFill>
          </a:ln>
        </p:spPr>
        <p:txBody>
          <a:bodyPr wrap="square" rtlCol="0">
            <a:spAutoFit/>
          </a:bodyPr>
          <a:lstStyle/>
          <a:p>
            <a:r>
              <a:rPr lang="ko-KR" altLang="en-US" sz="1050" dirty="0"/>
              <a:t>보정 전 명도</a:t>
            </a:r>
          </a:p>
        </p:txBody>
      </p:sp>
      <p:sp>
        <p:nvSpPr>
          <p:cNvPr id="105" name="TextBox 104"/>
          <p:cNvSpPr txBox="1"/>
          <p:nvPr/>
        </p:nvSpPr>
        <p:spPr>
          <a:xfrm flipH="1">
            <a:off x="4199492" y="4675834"/>
            <a:ext cx="902309" cy="289441"/>
          </a:xfrm>
          <a:prstGeom prst="wedgeRoundRectCallout">
            <a:avLst>
              <a:gd name="adj1" fmla="val -25905"/>
              <a:gd name="adj2" fmla="val -102224"/>
              <a:gd name="adj3" fmla="val 16667"/>
            </a:avLst>
          </a:prstGeom>
          <a:noFill/>
          <a:ln>
            <a:solidFill>
              <a:schemeClr val="bg1">
                <a:lumMod val="50000"/>
              </a:schemeClr>
            </a:solidFill>
          </a:ln>
        </p:spPr>
        <p:txBody>
          <a:bodyPr wrap="square" rtlCol="0">
            <a:spAutoFit/>
          </a:bodyPr>
          <a:lstStyle/>
          <a:p>
            <a:r>
              <a:rPr lang="ko-KR" altLang="en-US" sz="1050" dirty="0"/>
              <a:t>보정 후 명도</a:t>
            </a:r>
          </a:p>
        </p:txBody>
      </p:sp>
      <p:sp>
        <p:nvSpPr>
          <p:cNvPr id="106" name="TextBox 105"/>
          <p:cNvSpPr txBox="1"/>
          <p:nvPr/>
        </p:nvSpPr>
        <p:spPr>
          <a:xfrm flipH="1">
            <a:off x="7866555" y="3779809"/>
            <a:ext cx="948681" cy="289441"/>
          </a:xfrm>
          <a:prstGeom prst="wedgeRoundRectCallout">
            <a:avLst>
              <a:gd name="adj1" fmla="val 31099"/>
              <a:gd name="adj2" fmla="val 121552"/>
              <a:gd name="adj3" fmla="val 16667"/>
            </a:avLst>
          </a:prstGeom>
          <a:noFill/>
          <a:ln>
            <a:solidFill>
              <a:schemeClr val="bg1">
                <a:lumMod val="50000"/>
              </a:schemeClr>
            </a:solidFill>
          </a:ln>
        </p:spPr>
        <p:txBody>
          <a:bodyPr wrap="square" rtlCol="0">
            <a:spAutoFit/>
          </a:bodyPr>
          <a:lstStyle/>
          <a:p>
            <a:r>
              <a:rPr lang="ko-KR" altLang="en-US" sz="1050" dirty="0"/>
              <a:t>보정 후 명도</a:t>
            </a:r>
          </a:p>
        </p:txBody>
      </p:sp>
      <p:sp>
        <p:nvSpPr>
          <p:cNvPr id="107" name="슬라이드 번호 개체 틀 106"/>
          <p:cNvSpPr>
            <a:spLocks noGrp="1"/>
          </p:cNvSpPr>
          <p:nvPr>
            <p:ph type="sldNum" sz="quarter" idx="12"/>
          </p:nvPr>
        </p:nvSpPr>
        <p:spPr/>
        <p:txBody>
          <a:bodyPr/>
          <a:lstStyle/>
          <a:p>
            <a:r>
              <a:rPr lang="en-US" altLang="ko-KR"/>
              <a:t>167</a:t>
            </a:r>
            <a:endParaRPr lang="ko-KR" altLang="en-US"/>
          </a:p>
        </p:txBody>
      </p:sp>
    </p:spTree>
    <p:extLst>
      <p:ext uri="{BB962C8B-B14F-4D97-AF65-F5344CB8AC3E}">
        <p14:creationId xmlns:p14="http://schemas.microsoft.com/office/powerpoint/2010/main" val="543114335"/>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실체보정에 대한 심사진행</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슬라이드 번호 개체 틀 4"/>
          <p:cNvSpPr>
            <a:spLocks noGrp="1"/>
          </p:cNvSpPr>
          <p:nvPr>
            <p:ph type="sldNum" sz="quarter" idx="12"/>
          </p:nvPr>
        </p:nvSpPr>
        <p:spPr/>
        <p:txBody>
          <a:bodyPr/>
          <a:lstStyle/>
          <a:p>
            <a:r>
              <a:rPr lang="en-US" altLang="ko-KR"/>
              <a:t>168</a:t>
            </a:r>
            <a:endParaRPr lang="ko-KR" altLang="en-US"/>
          </a:p>
        </p:txBody>
      </p:sp>
      <p:sp>
        <p:nvSpPr>
          <p:cNvPr id="6" name="다이아몬드 5">
            <a:extLst>
              <a:ext uri="{FF2B5EF4-FFF2-40B4-BE49-F238E27FC236}">
                <a16:creationId xmlns:a16="http://schemas.microsoft.com/office/drawing/2014/main" id="{D1037DC4-DF02-469C-AFC1-DEFF9579CBA3}"/>
              </a:ext>
            </a:extLst>
          </p:cNvPr>
          <p:cNvSpPr/>
          <p:nvPr/>
        </p:nvSpPr>
        <p:spPr>
          <a:xfrm>
            <a:off x="2944173" y="1436914"/>
            <a:ext cx="2823587" cy="1024932"/>
          </a:xfrm>
          <a:prstGeom prst="diamond">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err="1">
                <a:solidFill>
                  <a:schemeClr val="bg1">
                    <a:lumMod val="50000"/>
                  </a:schemeClr>
                </a:solidFill>
              </a:rPr>
              <a:t>원거절이유</a:t>
            </a:r>
            <a:endParaRPr lang="en-US" altLang="ko-KR" dirty="0">
              <a:solidFill>
                <a:schemeClr val="bg1">
                  <a:lumMod val="50000"/>
                </a:schemeClr>
              </a:solidFill>
            </a:endParaRPr>
          </a:p>
          <a:p>
            <a:pPr algn="ctr"/>
            <a:r>
              <a:rPr lang="ko-KR" altLang="en-US" dirty="0">
                <a:solidFill>
                  <a:schemeClr val="bg1">
                    <a:lumMod val="50000"/>
                  </a:schemeClr>
                </a:solidFill>
              </a:rPr>
              <a:t>해소</a:t>
            </a:r>
          </a:p>
        </p:txBody>
      </p:sp>
      <p:sp>
        <p:nvSpPr>
          <p:cNvPr id="35" name="다이아몬드 34">
            <a:extLst>
              <a:ext uri="{FF2B5EF4-FFF2-40B4-BE49-F238E27FC236}">
                <a16:creationId xmlns:a16="http://schemas.microsoft.com/office/drawing/2014/main" id="{A41A1D3E-7198-4FFA-9ADB-651A240D1F13}"/>
              </a:ext>
            </a:extLst>
          </p:cNvPr>
          <p:cNvSpPr/>
          <p:nvPr/>
        </p:nvSpPr>
        <p:spPr>
          <a:xfrm>
            <a:off x="2944173" y="2834029"/>
            <a:ext cx="2823587" cy="1024932"/>
          </a:xfrm>
          <a:prstGeom prst="diamond">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solidFill>
                  <a:schemeClr val="bg1">
                    <a:lumMod val="50000"/>
                  </a:schemeClr>
                </a:solidFill>
              </a:rPr>
              <a:t>새로운 </a:t>
            </a:r>
            <a:endParaRPr lang="en-US" altLang="ko-KR" dirty="0">
              <a:solidFill>
                <a:schemeClr val="bg1">
                  <a:lumMod val="50000"/>
                </a:schemeClr>
              </a:solidFill>
            </a:endParaRPr>
          </a:p>
          <a:p>
            <a:pPr algn="ctr"/>
            <a:r>
              <a:rPr lang="ko-KR" altLang="en-US" dirty="0">
                <a:solidFill>
                  <a:schemeClr val="bg1">
                    <a:lumMod val="50000"/>
                  </a:schemeClr>
                </a:solidFill>
              </a:rPr>
              <a:t>거절이유 발견</a:t>
            </a:r>
          </a:p>
        </p:txBody>
      </p:sp>
      <p:sp>
        <p:nvSpPr>
          <p:cNvPr id="36" name="다이아몬드 35">
            <a:extLst>
              <a:ext uri="{FF2B5EF4-FFF2-40B4-BE49-F238E27FC236}">
                <a16:creationId xmlns:a16="http://schemas.microsoft.com/office/drawing/2014/main" id="{D68DBB18-85A2-49C5-A0E3-D24F90F94FA7}"/>
              </a:ext>
            </a:extLst>
          </p:cNvPr>
          <p:cNvSpPr/>
          <p:nvPr/>
        </p:nvSpPr>
        <p:spPr>
          <a:xfrm>
            <a:off x="2944173" y="4250848"/>
            <a:ext cx="2823587" cy="1024932"/>
          </a:xfrm>
          <a:prstGeom prst="diamond">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solidFill>
                  <a:schemeClr val="bg1">
                    <a:lumMod val="95000"/>
                  </a:schemeClr>
                </a:solidFill>
              </a:rPr>
              <a:t>거절이유</a:t>
            </a:r>
            <a:endParaRPr lang="en-US" altLang="ko-KR" dirty="0">
              <a:solidFill>
                <a:schemeClr val="bg1">
                  <a:lumMod val="95000"/>
                </a:schemeClr>
              </a:solidFill>
            </a:endParaRPr>
          </a:p>
          <a:p>
            <a:pPr algn="ctr"/>
            <a:r>
              <a:rPr lang="ko-KR" altLang="en-US" dirty="0">
                <a:solidFill>
                  <a:schemeClr val="bg1">
                    <a:lumMod val="95000"/>
                  </a:schemeClr>
                </a:solidFill>
              </a:rPr>
              <a:t>발생시점</a:t>
            </a:r>
          </a:p>
        </p:txBody>
      </p:sp>
      <p:sp>
        <p:nvSpPr>
          <p:cNvPr id="7" name="TextBox 6">
            <a:extLst>
              <a:ext uri="{FF2B5EF4-FFF2-40B4-BE49-F238E27FC236}">
                <a16:creationId xmlns:a16="http://schemas.microsoft.com/office/drawing/2014/main" id="{9FC19DBB-103E-4B33-BE8A-DFC9B1F1B99A}"/>
              </a:ext>
            </a:extLst>
          </p:cNvPr>
          <p:cNvSpPr txBox="1"/>
          <p:nvPr/>
        </p:nvSpPr>
        <p:spPr>
          <a:xfrm>
            <a:off x="6983611" y="1764714"/>
            <a:ext cx="1959428" cy="369332"/>
          </a:xfrm>
          <a:prstGeom prst="rect">
            <a:avLst/>
          </a:prstGeom>
          <a:noFill/>
          <a:ln>
            <a:solidFill>
              <a:schemeClr val="bg1">
                <a:lumMod val="50000"/>
              </a:schemeClr>
            </a:solidFill>
          </a:ln>
        </p:spPr>
        <p:txBody>
          <a:bodyPr wrap="square" rtlCol="0">
            <a:spAutoFit/>
          </a:bodyPr>
          <a:lstStyle/>
          <a:p>
            <a:pPr algn="ctr"/>
            <a:r>
              <a:rPr lang="ko-KR" altLang="en-US"/>
              <a:t>거절결정</a:t>
            </a:r>
          </a:p>
        </p:txBody>
      </p:sp>
      <p:cxnSp>
        <p:nvCxnSpPr>
          <p:cNvPr id="9" name="직선 화살표 연결선 8">
            <a:extLst>
              <a:ext uri="{FF2B5EF4-FFF2-40B4-BE49-F238E27FC236}">
                <a16:creationId xmlns:a16="http://schemas.microsoft.com/office/drawing/2014/main" id="{111540D9-93FB-4622-959D-A5D2998E5FFC}"/>
              </a:ext>
            </a:extLst>
          </p:cNvPr>
          <p:cNvCxnSpPr>
            <a:stCxn id="6" idx="2"/>
            <a:endCxn id="35" idx="0"/>
          </p:cNvCxnSpPr>
          <p:nvPr/>
        </p:nvCxnSpPr>
        <p:spPr>
          <a:xfrm>
            <a:off x="4355967" y="2461846"/>
            <a:ext cx="0" cy="372183"/>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 name="직선 화살표 연결선 10">
            <a:extLst>
              <a:ext uri="{FF2B5EF4-FFF2-40B4-BE49-F238E27FC236}">
                <a16:creationId xmlns:a16="http://schemas.microsoft.com/office/drawing/2014/main" id="{309E6AB9-AD63-40CA-9E7B-E7E64EC1370D}"/>
              </a:ext>
            </a:extLst>
          </p:cNvPr>
          <p:cNvCxnSpPr>
            <a:stCxn id="35" idx="2"/>
            <a:endCxn id="36" idx="0"/>
          </p:cNvCxnSpPr>
          <p:nvPr/>
        </p:nvCxnSpPr>
        <p:spPr>
          <a:xfrm>
            <a:off x="4355967" y="3858961"/>
            <a:ext cx="0" cy="391887"/>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 name="직선 화살표 연결선 12">
            <a:extLst>
              <a:ext uri="{FF2B5EF4-FFF2-40B4-BE49-F238E27FC236}">
                <a16:creationId xmlns:a16="http://schemas.microsoft.com/office/drawing/2014/main" id="{89BD92EB-2973-4785-A026-0B882571C437}"/>
              </a:ext>
            </a:extLst>
          </p:cNvPr>
          <p:cNvCxnSpPr>
            <a:stCxn id="6" idx="3"/>
            <a:endCxn id="7" idx="1"/>
          </p:cNvCxnSpPr>
          <p:nvPr/>
        </p:nvCxnSpPr>
        <p:spPr>
          <a:xfrm>
            <a:off x="5767760" y="1949380"/>
            <a:ext cx="1215851"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964BDC69-FE54-4B9B-A578-77552519923A}"/>
              </a:ext>
            </a:extLst>
          </p:cNvPr>
          <p:cNvSpPr txBox="1"/>
          <p:nvPr/>
        </p:nvSpPr>
        <p:spPr>
          <a:xfrm>
            <a:off x="6983611" y="3161829"/>
            <a:ext cx="1959428" cy="369332"/>
          </a:xfrm>
          <a:prstGeom prst="rect">
            <a:avLst/>
          </a:prstGeom>
          <a:noFill/>
          <a:ln>
            <a:solidFill>
              <a:schemeClr val="bg1">
                <a:lumMod val="50000"/>
              </a:schemeClr>
            </a:solidFill>
          </a:ln>
        </p:spPr>
        <p:txBody>
          <a:bodyPr wrap="square" rtlCol="0">
            <a:spAutoFit/>
          </a:bodyPr>
          <a:lstStyle/>
          <a:p>
            <a:pPr algn="ctr"/>
            <a:r>
              <a:rPr lang="ko-KR" altLang="en-US" dirty="0"/>
              <a:t>특허결정</a:t>
            </a:r>
          </a:p>
        </p:txBody>
      </p:sp>
      <p:cxnSp>
        <p:nvCxnSpPr>
          <p:cNvPr id="16" name="직선 화살표 연결선 15">
            <a:extLst>
              <a:ext uri="{FF2B5EF4-FFF2-40B4-BE49-F238E27FC236}">
                <a16:creationId xmlns:a16="http://schemas.microsoft.com/office/drawing/2014/main" id="{7ADBDDF1-7D89-4DF5-800B-1F61291F7D8F}"/>
              </a:ext>
            </a:extLst>
          </p:cNvPr>
          <p:cNvCxnSpPr>
            <a:stCxn id="35" idx="3"/>
            <a:endCxn id="45" idx="1"/>
          </p:cNvCxnSpPr>
          <p:nvPr/>
        </p:nvCxnSpPr>
        <p:spPr>
          <a:xfrm>
            <a:off x="5767760" y="3346495"/>
            <a:ext cx="1215851"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4B0DA8FB-A976-4072-8FC6-EDFD63E1E27B}"/>
              </a:ext>
            </a:extLst>
          </p:cNvPr>
          <p:cNvSpPr txBox="1"/>
          <p:nvPr/>
        </p:nvSpPr>
        <p:spPr>
          <a:xfrm>
            <a:off x="6983611" y="4578648"/>
            <a:ext cx="1959428" cy="369332"/>
          </a:xfrm>
          <a:prstGeom prst="rect">
            <a:avLst/>
          </a:prstGeom>
          <a:noFill/>
          <a:ln>
            <a:solidFill>
              <a:schemeClr val="bg1">
                <a:lumMod val="50000"/>
              </a:schemeClr>
            </a:solidFill>
          </a:ln>
        </p:spPr>
        <p:txBody>
          <a:bodyPr wrap="square" rtlCol="0">
            <a:spAutoFit/>
          </a:bodyPr>
          <a:lstStyle/>
          <a:p>
            <a:pPr algn="ctr"/>
            <a:r>
              <a:rPr lang="ko-KR" altLang="en-US"/>
              <a:t>최초거절이유통지</a:t>
            </a:r>
            <a:endParaRPr lang="ko-KR" altLang="en-US" dirty="0"/>
          </a:p>
        </p:txBody>
      </p:sp>
      <p:cxnSp>
        <p:nvCxnSpPr>
          <p:cNvPr id="19" name="직선 화살표 연결선 18">
            <a:extLst>
              <a:ext uri="{FF2B5EF4-FFF2-40B4-BE49-F238E27FC236}">
                <a16:creationId xmlns:a16="http://schemas.microsoft.com/office/drawing/2014/main" id="{5C1C86C2-9C5F-4D1E-B721-12E373DB695A}"/>
              </a:ext>
            </a:extLst>
          </p:cNvPr>
          <p:cNvCxnSpPr>
            <a:stCxn id="36" idx="3"/>
            <a:endCxn id="49" idx="1"/>
          </p:cNvCxnSpPr>
          <p:nvPr/>
        </p:nvCxnSpPr>
        <p:spPr>
          <a:xfrm>
            <a:off x="5767760" y="4763314"/>
            <a:ext cx="1215851"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333C313-92D1-48E0-89BD-EA7D872BAB73}"/>
              </a:ext>
            </a:extLst>
          </p:cNvPr>
          <p:cNvSpPr txBox="1"/>
          <p:nvPr/>
        </p:nvSpPr>
        <p:spPr>
          <a:xfrm>
            <a:off x="6983611" y="5611569"/>
            <a:ext cx="1959428" cy="369332"/>
          </a:xfrm>
          <a:prstGeom prst="rect">
            <a:avLst/>
          </a:prstGeom>
          <a:noFill/>
          <a:ln>
            <a:solidFill>
              <a:schemeClr val="bg1">
                <a:lumMod val="50000"/>
              </a:schemeClr>
            </a:solidFill>
          </a:ln>
        </p:spPr>
        <p:txBody>
          <a:bodyPr wrap="square" rtlCol="0">
            <a:spAutoFit/>
          </a:bodyPr>
          <a:lstStyle/>
          <a:p>
            <a:pPr algn="ctr"/>
            <a:r>
              <a:rPr lang="ko-KR" altLang="en-US"/>
              <a:t>최후거절이유통지</a:t>
            </a:r>
            <a:endParaRPr lang="ko-KR" altLang="en-US" dirty="0"/>
          </a:p>
        </p:txBody>
      </p:sp>
      <p:cxnSp>
        <p:nvCxnSpPr>
          <p:cNvPr id="22" name="연결선: 꺾임 21">
            <a:extLst>
              <a:ext uri="{FF2B5EF4-FFF2-40B4-BE49-F238E27FC236}">
                <a16:creationId xmlns:a16="http://schemas.microsoft.com/office/drawing/2014/main" id="{CF8A1DC6-0CE6-4A9E-8ED8-CDB9F0A37972}"/>
              </a:ext>
            </a:extLst>
          </p:cNvPr>
          <p:cNvCxnSpPr>
            <a:cxnSpLocks/>
            <a:stCxn id="36" idx="2"/>
            <a:endCxn id="53" idx="1"/>
          </p:cNvCxnSpPr>
          <p:nvPr/>
        </p:nvCxnSpPr>
        <p:spPr>
          <a:xfrm rot="16200000" flipH="1">
            <a:off x="5409562" y="4222185"/>
            <a:ext cx="520455" cy="2627644"/>
          </a:xfrm>
          <a:prstGeom prst="bentConnector2">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86B41E47-D4C8-4F6F-9F82-8DB522569002}"/>
              </a:ext>
            </a:extLst>
          </p:cNvPr>
          <p:cNvSpPr txBox="1"/>
          <p:nvPr/>
        </p:nvSpPr>
        <p:spPr>
          <a:xfrm>
            <a:off x="5767760" y="1641603"/>
            <a:ext cx="670376" cy="307777"/>
          </a:xfrm>
          <a:prstGeom prst="rect">
            <a:avLst/>
          </a:prstGeom>
          <a:noFill/>
        </p:spPr>
        <p:txBody>
          <a:bodyPr wrap="none" rtlCol="0">
            <a:spAutoFit/>
          </a:bodyPr>
          <a:lstStyle/>
          <a:p>
            <a:r>
              <a:rPr lang="ko-KR" altLang="en-US" sz="1400">
                <a:solidFill>
                  <a:schemeClr val="bg1">
                    <a:lumMod val="50000"/>
                  </a:schemeClr>
                </a:solidFill>
              </a:rPr>
              <a:t>아니오</a:t>
            </a:r>
            <a:endParaRPr lang="ko-KR" altLang="en-US" sz="1400" dirty="0">
              <a:solidFill>
                <a:schemeClr val="bg1">
                  <a:lumMod val="50000"/>
                </a:schemeClr>
              </a:solidFill>
            </a:endParaRPr>
          </a:p>
        </p:txBody>
      </p:sp>
      <p:sp>
        <p:nvSpPr>
          <p:cNvPr id="58" name="TextBox 57">
            <a:extLst>
              <a:ext uri="{FF2B5EF4-FFF2-40B4-BE49-F238E27FC236}">
                <a16:creationId xmlns:a16="http://schemas.microsoft.com/office/drawing/2014/main" id="{1B22E7AB-5E42-48FF-9B54-C635D60E870B}"/>
              </a:ext>
            </a:extLst>
          </p:cNvPr>
          <p:cNvSpPr txBox="1"/>
          <p:nvPr/>
        </p:nvSpPr>
        <p:spPr>
          <a:xfrm>
            <a:off x="5767760" y="3038717"/>
            <a:ext cx="670376" cy="307777"/>
          </a:xfrm>
          <a:prstGeom prst="rect">
            <a:avLst/>
          </a:prstGeom>
          <a:noFill/>
        </p:spPr>
        <p:txBody>
          <a:bodyPr wrap="none" rtlCol="0">
            <a:spAutoFit/>
          </a:bodyPr>
          <a:lstStyle/>
          <a:p>
            <a:r>
              <a:rPr lang="ko-KR" altLang="en-US" sz="1400">
                <a:solidFill>
                  <a:schemeClr val="bg1">
                    <a:lumMod val="50000"/>
                  </a:schemeClr>
                </a:solidFill>
              </a:rPr>
              <a:t>아니오</a:t>
            </a:r>
            <a:endParaRPr lang="ko-KR" altLang="en-US" sz="1400" dirty="0">
              <a:solidFill>
                <a:schemeClr val="bg1">
                  <a:lumMod val="50000"/>
                </a:schemeClr>
              </a:solidFill>
            </a:endParaRPr>
          </a:p>
        </p:txBody>
      </p:sp>
      <p:sp>
        <p:nvSpPr>
          <p:cNvPr id="60" name="TextBox 59">
            <a:extLst>
              <a:ext uri="{FF2B5EF4-FFF2-40B4-BE49-F238E27FC236}">
                <a16:creationId xmlns:a16="http://schemas.microsoft.com/office/drawing/2014/main" id="{3F7459B6-CA02-4784-B202-41E92053A961}"/>
              </a:ext>
            </a:extLst>
          </p:cNvPr>
          <p:cNvSpPr txBox="1"/>
          <p:nvPr/>
        </p:nvSpPr>
        <p:spPr>
          <a:xfrm>
            <a:off x="4363654" y="2461774"/>
            <a:ext cx="346570" cy="307777"/>
          </a:xfrm>
          <a:prstGeom prst="rect">
            <a:avLst/>
          </a:prstGeom>
          <a:noFill/>
        </p:spPr>
        <p:txBody>
          <a:bodyPr wrap="none" rtlCol="0">
            <a:spAutoFit/>
          </a:bodyPr>
          <a:lstStyle/>
          <a:p>
            <a:r>
              <a:rPr lang="ko-KR" altLang="en-US" sz="1400">
                <a:solidFill>
                  <a:schemeClr val="bg1">
                    <a:lumMod val="50000"/>
                  </a:schemeClr>
                </a:solidFill>
              </a:rPr>
              <a:t>예</a:t>
            </a:r>
            <a:endParaRPr lang="ko-KR" altLang="en-US" sz="1400" dirty="0">
              <a:solidFill>
                <a:schemeClr val="bg1">
                  <a:lumMod val="50000"/>
                </a:schemeClr>
              </a:solidFill>
            </a:endParaRPr>
          </a:p>
        </p:txBody>
      </p:sp>
      <p:sp>
        <p:nvSpPr>
          <p:cNvPr id="61" name="TextBox 60">
            <a:extLst>
              <a:ext uri="{FF2B5EF4-FFF2-40B4-BE49-F238E27FC236}">
                <a16:creationId xmlns:a16="http://schemas.microsoft.com/office/drawing/2014/main" id="{B589E269-DE21-4B68-B6E0-A4D7CEA73605}"/>
              </a:ext>
            </a:extLst>
          </p:cNvPr>
          <p:cNvSpPr txBox="1"/>
          <p:nvPr/>
        </p:nvSpPr>
        <p:spPr>
          <a:xfrm>
            <a:off x="4363654" y="3861215"/>
            <a:ext cx="346570" cy="307777"/>
          </a:xfrm>
          <a:prstGeom prst="rect">
            <a:avLst/>
          </a:prstGeom>
          <a:noFill/>
        </p:spPr>
        <p:txBody>
          <a:bodyPr wrap="none" rtlCol="0">
            <a:spAutoFit/>
          </a:bodyPr>
          <a:lstStyle/>
          <a:p>
            <a:r>
              <a:rPr lang="ko-KR" altLang="en-US" sz="1400">
                <a:solidFill>
                  <a:schemeClr val="bg1">
                    <a:lumMod val="50000"/>
                  </a:schemeClr>
                </a:solidFill>
              </a:rPr>
              <a:t>예</a:t>
            </a:r>
            <a:endParaRPr lang="ko-KR" altLang="en-US" sz="1400" dirty="0">
              <a:solidFill>
                <a:schemeClr val="bg1">
                  <a:lumMod val="50000"/>
                </a:schemeClr>
              </a:solidFill>
            </a:endParaRPr>
          </a:p>
        </p:txBody>
      </p:sp>
      <p:sp>
        <p:nvSpPr>
          <p:cNvPr id="62" name="TextBox 61">
            <a:extLst>
              <a:ext uri="{FF2B5EF4-FFF2-40B4-BE49-F238E27FC236}">
                <a16:creationId xmlns:a16="http://schemas.microsoft.com/office/drawing/2014/main" id="{6EBF3219-4571-4243-9085-81182B06727B}"/>
              </a:ext>
            </a:extLst>
          </p:cNvPr>
          <p:cNvSpPr txBox="1"/>
          <p:nvPr/>
        </p:nvSpPr>
        <p:spPr>
          <a:xfrm>
            <a:off x="5569081" y="4174697"/>
            <a:ext cx="1367682" cy="523220"/>
          </a:xfrm>
          <a:prstGeom prst="rect">
            <a:avLst/>
          </a:prstGeom>
          <a:noFill/>
        </p:spPr>
        <p:txBody>
          <a:bodyPr wrap="none" rtlCol="0">
            <a:spAutoFit/>
          </a:bodyPr>
          <a:lstStyle/>
          <a:p>
            <a:r>
              <a:rPr lang="ko-KR" altLang="en-US" sz="1400" dirty="0" err="1">
                <a:solidFill>
                  <a:schemeClr val="bg1">
                    <a:lumMod val="50000"/>
                  </a:schemeClr>
                </a:solidFill>
              </a:rPr>
              <a:t>거절이유통지</a:t>
            </a:r>
            <a:r>
              <a:rPr lang="ko-KR" altLang="en-US" sz="1400" dirty="0">
                <a:solidFill>
                  <a:schemeClr val="bg1">
                    <a:lumMod val="50000"/>
                  </a:schemeClr>
                </a:solidFill>
              </a:rPr>
              <a:t> 전</a:t>
            </a:r>
            <a:endParaRPr lang="en-US" altLang="ko-KR" sz="1400" dirty="0">
              <a:solidFill>
                <a:schemeClr val="bg1">
                  <a:lumMod val="50000"/>
                </a:schemeClr>
              </a:solidFill>
            </a:endParaRPr>
          </a:p>
          <a:p>
            <a:r>
              <a:rPr lang="en-US" altLang="ko-KR" sz="1400" dirty="0">
                <a:solidFill>
                  <a:schemeClr val="bg1">
                    <a:lumMod val="50000"/>
                  </a:schemeClr>
                </a:solidFill>
              </a:rPr>
              <a:t>(</a:t>
            </a:r>
            <a:r>
              <a:rPr lang="ko-KR" altLang="en-US" sz="1400" dirty="0">
                <a:solidFill>
                  <a:schemeClr val="bg1">
                    <a:lumMod val="50000"/>
                  </a:schemeClr>
                </a:solidFill>
              </a:rPr>
              <a:t>원시적</a:t>
            </a:r>
            <a:r>
              <a:rPr lang="en-US" altLang="ko-KR" sz="1400" dirty="0">
                <a:solidFill>
                  <a:schemeClr val="bg1">
                    <a:lumMod val="50000"/>
                  </a:schemeClr>
                </a:solidFill>
              </a:rPr>
              <a:t>)</a:t>
            </a:r>
            <a:r>
              <a:rPr lang="ko-KR" altLang="en-US" sz="1400" dirty="0">
                <a:solidFill>
                  <a:schemeClr val="bg1">
                    <a:lumMod val="50000"/>
                  </a:schemeClr>
                </a:solidFill>
              </a:rPr>
              <a:t> 발생</a:t>
            </a:r>
          </a:p>
        </p:txBody>
      </p:sp>
      <p:sp>
        <p:nvSpPr>
          <p:cNvPr id="63" name="TextBox 62">
            <a:extLst>
              <a:ext uri="{FF2B5EF4-FFF2-40B4-BE49-F238E27FC236}">
                <a16:creationId xmlns:a16="http://schemas.microsoft.com/office/drawing/2014/main" id="{04C0B4FE-4228-471A-9A21-78939B33CD26}"/>
              </a:ext>
            </a:extLst>
          </p:cNvPr>
          <p:cNvSpPr txBox="1"/>
          <p:nvPr/>
        </p:nvSpPr>
        <p:spPr>
          <a:xfrm>
            <a:off x="4361927" y="5812533"/>
            <a:ext cx="2226892" cy="523220"/>
          </a:xfrm>
          <a:prstGeom prst="rect">
            <a:avLst/>
          </a:prstGeom>
          <a:noFill/>
        </p:spPr>
        <p:txBody>
          <a:bodyPr wrap="none" rtlCol="0">
            <a:spAutoFit/>
          </a:bodyPr>
          <a:lstStyle/>
          <a:p>
            <a:pPr algn="ctr"/>
            <a:r>
              <a:rPr lang="ko-KR" altLang="en-US" sz="1400" dirty="0" err="1">
                <a:solidFill>
                  <a:schemeClr val="accent3">
                    <a:lumMod val="50000"/>
                  </a:schemeClr>
                </a:solidFill>
              </a:rPr>
              <a:t>최초거절이유통지에</a:t>
            </a:r>
            <a:r>
              <a:rPr lang="ko-KR" altLang="en-US" sz="1400" dirty="0">
                <a:solidFill>
                  <a:schemeClr val="accent3">
                    <a:lumMod val="50000"/>
                  </a:schemeClr>
                </a:solidFill>
              </a:rPr>
              <a:t> 대응한 </a:t>
            </a:r>
            <a:endParaRPr lang="en-US" altLang="ko-KR" sz="1400" dirty="0">
              <a:solidFill>
                <a:schemeClr val="accent3">
                  <a:lumMod val="50000"/>
                </a:schemeClr>
              </a:solidFill>
            </a:endParaRPr>
          </a:p>
          <a:p>
            <a:pPr algn="ctr"/>
            <a:r>
              <a:rPr lang="ko-KR" altLang="en-US" sz="1400" dirty="0">
                <a:solidFill>
                  <a:schemeClr val="accent3">
                    <a:lumMod val="50000"/>
                  </a:schemeClr>
                </a:solidFill>
              </a:rPr>
              <a:t>보정 의하여 발생</a:t>
            </a:r>
          </a:p>
        </p:txBody>
      </p:sp>
      <p:sp>
        <p:nvSpPr>
          <p:cNvPr id="25" name="사각형: 둥근 모서리 24">
            <a:extLst>
              <a:ext uri="{FF2B5EF4-FFF2-40B4-BE49-F238E27FC236}">
                <a16:creationId xmlns:a16="http://schemas.microsoft.com/office/drawing/2014/main" id="{F269F895-75AE-4B63-B70F-A4E8A04D683B}"/>
              </a:ext>
            </a:extLst>
          </p:cNvPr>
          <p:cNvSpPr/>
          <p:nvPr/>
        </p:nvSpPr>
        <p:spPr>
          <a:xfrm>
            <a:off x="2803495" y="1366576"/>
            <a:ext cx="3054699" cy="2566486"/>
          </a:xfrm>
          <a:custGeom>
            <a:avLst/>
            <a:gdLst>
              <a:gd name="csX0" fmla="*/ 0 w 3054699"/>
              <a:gd name="csY0" fmla="*/ 427756 h 2566486"/>
              <a:gd name="csX1" fmla="*/ 427756 w 3054699"/>
              <a:gd name="csY1" fmla="*/ 0 h 2566486"/>
              <a:gd name="csX2" fmla="*/ 933569 w 3054699"/>
              <a:gd name="csY2" fmla="*/ 0 h 2566486"/>
              <a:gd name="csX3" fmla="*/ 1527350 w 3054699"/>
              <a:gd name="csY3" fmla="*/ 0 h 2566486"/>
              <a:gd name="csX4" fmla="*/ 2077146 w 3054699"/>
              <a:gd name="csY4" fmla="*/ 0 h 2566486"/>
              <a:gd name="csX5" fmla="*/ 2626943 w 3054699"/>
              <a:gd name="csY5" fmla="*/ 0 h 2566486"/>
              <a:gd name="csX6" fmla="*/ 3054699 w 3054699"/>
              <a:gd name="csY6" fmla="*/ 427756 h 2566486"/>
              <a:gd name="csX7" fmla="*/ 3054699 w 3054699"/>
              <a:gd name="csY7" fmla="*/ 980971 h 2566486"/>
              <a:gd name="csX8" fmla="*/ 3054699 w 3054699"/>
              <a:gd name="csY8" fmla="*/ 1534186 h 2566486"/>
              <a:gd name="csX9" fmla="*/ 3054699 w 3054699"/>
              <a:gd name="csY9" fmla="*/ 2138730 h 2566486"/>
              <a:gd name="csX10" fmla="*/ 2626943 w 3054699"/>
              <a:gd name="csY10" fmla="*/ 2566486 h 2566486"/>
              <a:gd name="csX11" fmla="*/ 2055154 w 3054699"/>
              <a:gd name="csY11" fmla="*/ 2566486 h 2566486"/>
              <a:gd name="csX12" fmla="*/ 1571333 w 3054699"/>
              <a:gd name="csY12" fmla="*/ 2566486 h 2566486"/>
              <a:gd name="csX13" fmla="*/ 1065520 w 3054699"/>
              <a:gd name="csY13" fmla="*/ 2566486 h 2566486"/>
              <a:gd name="csX14" fmla="*/ 427756 w 3054699"/>
              <a:gd name="csY14" fmla="*/ 2566486 h 2566486"/>
              <a:gd name="csX15" fmla="*/ 0 w 3054699"/>
              <a:gd name="csY15" fmla="*/ 2138730 h 2566486"/>
              <a:gd name="csX16" fmla="*/ 0 w 3054699"/>
              <a:gd name="csY16" fmla="*/ 1602625 h 2566486"/>
              <a:gd name="csX17" fmla="*/ 0 w 3054699"/>
              <a:gd name="csY17" fmla="*/ 1049410 h 2566486"/>
              <a:gd name="csX18" fmla="*/ 0 w 3054699"/>
              <a:gd name="csY18" fmla="*/ 427756 h 256648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3054699" h="2566486" extrusionOk="0">
                <a:moveTo>
                  <a:pt x="0" y="427756"/>
                </a:moveTo>
                <a:cubicBezTo>
                  <a:pt x="-37137" y="218958"/>
                  <a:pt x="173334" y="-27061"/>
                  <a:pt x="427756" y="0"/>
                </a:cubicBezTo>
                <a:cubicBezTo>
                  <a:pt x="599764" y="-19710"/>
                  <a:pt x="812048" y="9387"/>
                  <a:pt x="933569" y="0"/>
                </a:cubicBezTo>
                <a:cubicBezTo>
                  <a:pt x="1055090" y="-9387"/>
                  <a:pt x="1248246" y="41758"/>
                  <a:pt x="1527350" y="0"/>
                </a:cubicBezTo>
                <a:cubicBezTo>
                  <a:pt x="1806454" y="-41758"/>
                  <a:pt x="1819944" y="19603"/>
                  <a:pt x="2077146" y="0"/>
                </a:cubicBezTo>
                <a:cubicBezTo>
                  <a:pt x="2334348" y="-19603"/>
                  <a:pt x="2421055" y="38813"/>
                  <a:pt x="2626943" y="0"/>
                </a:cubicBezTo>
                <a:cubicBezTo>
                  <a:pt x="2895124" y="36088"/>
                  <a:pt x="3050275" y="169270"/>
                  <a:pt x="3054699" y="427756"/>
                </a:cubicBezTo>
                <a:cubicBezTo>
                  <a:pt x="3068484" y="652927"/>
                  <a:pt x="3045711" y="705062"/>
                  <a:pt x="3054699" y="980971"/>
                </a:cubicBezTo>
                <a:cubicBezTo>
                  <a:pt x="3063687" y="1256881"/>
                  <a:pt x="3010144" y="1421064"/>
                  <a:pt x="3054699" y="1534186"/>
                </a:cubicBezTo>
                <a:cubicBezTo>
                  <a:pt x="3099254" y="1647309"/>
                  <a:pt x="3018934" y="1922372"/>
                  <a:pt x="3054699" y="2138730"/>
                </a:cubicBezTo>
                <a:cubicBezTo>
                  <a:pt x="3105559" y="2342565"/>
                  <a:pt x="2908767" y="2546305"/>
                  <a:pt x="2626943" y="2566486"/>
                </a:cubicBezTo>
                <a:cubicBezTo>
                  <a:pt x="2483705" y="2589043"/>
                  <a:pt x="2211501" y="2512527"/>
                  <a:pt x="2055154" y="2566486"/>
                </a:cubicBezTo>
                <a:cubicBezTo>
                  <a:pt x="1898807" y="2620445"/>
                  <a:pt x="1733231" y="2531537"/>
                  <a:pt x="1571333" y="2566486"/>
                </a:cubicBezTo>
                <a:cubicBezTo>
                  <a:pt x="1409435" y="2601435"/>
                  <a:pt x="1179577" y="2521276"/>
                  <a:pt x="1065520" y="2566486"/>
                </a:cubicBezTo>
                <a:cubicBezTo>
                  <a:pt x="951463" y="2611696"/>
                  <a:pt x="595166" y="2551698"/>
                  <a:pt x="427756" y="2566486"/>
                </a:cubicBezTo>
                <a:cubicBezTo>
                  <a:pt x="226181" y="2522402"/>
                  <a:pt x="3490" y="2322430"/>
                  <a:pt x="0" y="2138730"/>
                </a:cubicBezTo>
                <a:cubicBezTo>
                  <a:pt x="-28441" y="1969187"/>
                  <a:pt x="19102" y="1811439"/>
                  <a:pt x="0" y="1602625"/>
                </a:cubicBezTo>
                <a:cubicBezTo>
                  <a:pt x="-19102" y="1393811"/>
                  <a:pt x="41535" y="1241233"/>
                  <a:pt x="0" y="1049410"/>
                </a:cubicBezTo>
                <a:cubicBezTo>
                  <a:pt x="-41535" y="857587"/>
                  <a:pt x="7874" y="716732"/>
                  <a:pt x="0" y="427756"/>
                </a:cubicBezTo>
                <a:close/>
              </a:path>
            </a:pathLst>
          </a:custGeom>
          <a:noFill/>
          <a:ln w="28575">
            <a:solidFill>
              <a:srgbClr val="FF0000"/>
            </a:solidFill>
            <a:prstDash val="sysDot"/>
            <a:extLst>
              <a:ext uri="{C807C97D-BFC1-408E-A445-0C87EB9F89A2}">
                <ask:lineSketchStyleProps xmlns:ask="http://schemas.microsoft.com/office/drawing/2018/sketchyshapes" sd="1019188760">
                  <a:prstGeom prst="round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rgbClr val="FF0000"/>
              </a:solidFill>
            </a:endParaRPr>
          </a:p>
        </p:txBody>
      </p:sp>
      <p:sp>
        <p:nvSpPr>
          <p:cNvPr id="64" name="TextBox 63">
            <a:extLst>
              <a:ext uri="{FF2B5EF4-FFF2-40B4-BE49-F238E27FC236}">
                <a16:creationId xmlns:a16="http://schemas.microsoft.com/office/drawing/2014/main" id="{E7E5BFBE-73DD-4A62-9505-7ABC57A578D9}"/>
              </a:ext>
            </a:extLst>
          </p:cNvPr>
          <p:cNvSpPr txBox="1"/>
          <p:nvPr/>
        </p:nvSpPr>
        <p:spPr>
          <a:xfrm>
            <a:off x="314403" y="1869166"/>
            <a:ext cx="1952779" cy="1169551"/>
          </a:xfrm>
          <a:prstGeom prst="rect">
            <a:avLst/>
          </a:prstGeom>
          <a:noFill/>
          <a:ln>
            <a:solidFill>
              <a:schemeClr val="bg1">
                <a:lumMod val="65000"/>
              </a:schemeClr>
            </a:solidFill>
          </a:ln>
        </p:spPr>
        <p:txBody>
          <a:bodyPr wrap="none" rtlCol="0">
            <a:spAutoFit/>
          </a:bodyPr>
          <a:lstStyle/>
          <a:p>
            <a:r>
              <a:rPr lang="ko-KR" altLang="en-US" sz="1400" dirty="0">
                <a:solidFill>
                  <a:schemeClr val="accent2">
                    <a:lumMod val="50000"/>
                  </a:schemeClr>
                </a:solidFill>
              </a:rPr>
              <a:t>심사관이 </a:t>
            </a:r>
            <a:endParaRPr lang="en-US" altLang="ko-KR" sz="1400" dirty="0">
              <a:solidFill>
                <a:schemeClr val="accent2">
                  <a:lumMod val="50000"/>
                </a:schemeClr>
              </a:solidFill>
            </a:endParaRPr>
          </a:p>
          <a:p>
            <a:r>
              <a:rPr lang="ko-KR" altLang="en-US" sz="1400" dirty="0">
                <a:solidFill>
                  <a:schemeClr val="accent2">
                    <a:lumMod val="50000"/>
                  </a:schemeClr>
                </a:solidFill>
              </a:rPr>
              <a:t>모든 거절이유에 대하여 </a:t>
            </a:r>
            <a:endParaRPr lang="en-US" altLang="ko-KR" sz="1400" dirty="0">
              <a:solidFill>
                <a:schemeClr val="accent2">
                  <a:lumMod val="50000"/>
                </a:schemeClr>
              </a:solidFill>
            </a:endParaRPr>
          </a:p>
          <a:p>
            <a:r>
              <a:rPr lang="ko-KR" altLang="en-US" sz="1400" dirty="0" err="1">
                <a:solidFill>
                  <a:schemeClr val="accent2">
                    <a:lumMod val="50000"/>
                  </a:schemeClr>
                </a:solidFill>
              </a:rPr>
              <a:t>거절이유통지한</a:t>
            </a:r>
            <a:r>
              <a:rPr lang="ko-KR" altLang="en-US" sz="1400" dirty="0">
                <a:solidFill>
                  <a:schemeClr val="accent2">
                    <a:lumMod val="50000"/>
                  </a:schemeClr>
                </a:solidFill>
              </a:rPr>
              <a:t> 후 </a:t>
            </a:r>
            <a:endParaRPr lang="en-US" altLang="ko-KR" sz="1400" dirty="0">
              <a:solidFill>
                <a:schemeClr val="accent2">
                  <a:lumMod val="50000"/>
                </a:schemeClr>
              </a:solidFill>
            </a:endParaRPr>
          </a:p>
          <a:p>
            <a:r>
              <a:rPr lang="ko-KR" altLang="en-US" sz="1400" dirty="0">
                <a:solidFill>
                  <a:schemeClr val="accent2">
                    <a:lumMod val="50000"/>
                  </a:schemeClr>
                </a:solidFill>
              </a:rPr>
              <a:t>거절결정해야 하는 것은 </a:t>
            </a:r>
            <a:endParaRPr lang="en-US" altLang="ko-KR" sz="1400" dirty="0">
              <a:solidFill>
                <a:schemeClr val="accent2">
                  <a:lumMod val="50000"/>
                </a:schemeClr>
              </a:solidFill>
            </a:endParaRPr>
          </a:p>
          <a:p>
            <a:r>
              <a:rPr lang="ko-KR" altLang="en-US" sz="1400" dirty="0">
                <a:solidFill>
                  <a:schemeClr val="accent2">
                    <a:lumMod val="50000"/>
                  </a:schemeClr>
                </a:solidFill>
              </a:rPr>
              <a:t>아니다</a:t>
            </a:r>
            <a:r>
              <a:rPr lang="en-US" altLang="ko-KR" sz="1400" dirty="0">
                <a:solidFill>
                  <a:schemeClr val="accent2">
                    <a:lumMod val="50000"/>
                  </a:schemeClr>
                </a:solidFill>
              </a:rPr>
              <a:t>.</a:t>
            </a:r>
            <a:endParaRPr lang="ko-KR" altLang="en-US" sz="1400" dirty="0">
              <a:solidFill>
                <a:schemeClr val="accent2">
                  <a:lumMod val="50000"/>
                </a:schemeClr>
              </a:solidFill>
            </a:endParaRPr>
          </a:p>
        </p:txBody>
      </p:sp>
      <p:cxnSp>
        <p:nvCxnSpPr>
          <p:cNvPr id="27" name="직선 화살표 연결선 26">
            <a:extLst>
              <a:ext uri="{FF2B5EF4-FFF2-40B4-BE49-F238E27FC236}">
                <a16:creationId xmlns:a16="http://schemas.microsoft.com/office/drawing/2014/main" id="{100B0B66-DF4D-46EB-8B7A-67ABB6723959}"/>
              </a:ext>
            </a:extLst>
          </p:cNvPr>
          <p:cNvCxnSpPr>
            <a:cxnSpLocks/>
            <a:stCxn id="64" idx="3"/>
            <a:endCxn id="25" idx="1"/>
          </p:cNvCxnSpPr>
          <p:nvPr/>
        </p:nvCxnSpPr>
        <p:spPr>
          <a:xfrm>
            <a:off x="2267182" y="2453942"/>
            <a:ext cx="536313" cy="195877"/>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9" name="사각형: 둥근 모서리 68">
            <a:extLst>
              <a:ext uri="{FF2B5EF4-FFF2-40B4-BE49-F238E27FC236}">
                <a16:creationId xmlns:a16="http://schemas.microsoft.com/office/drawing/2014/main" id="{F99B7BC8-B6B9-44C1-A924-DC1E349A32BF}"/>
              </a:ext>
            </a:extLst>
          </p:cNvPr>
          <p:cNvSpPr/>
          <p:nvPr/>
        </p:nvSpPr>
        <p:spPr>
          <a:xfrm>
            <a:off x="6860078" y="4371032"/>
            <a:ext cx="2351310" cy="1798653"/>
          </a:xfrm>
          <a:custGeom>
            <a:avLst/>
            <a:gdLst>
              <a:gd name="csX0" fmla="*/ 0 w 2351310"/>
              <a:gd name="csY0" fmla="*/ 299781 h 1798653"/>
              <a:gd name="csX1" fmla="*/ 299781 w 2351310"/>
              <a:gd name="csY1" fmla="*/ 0 h 1798653"/>
              <a:gd name="csX2" fmla="*/ 848662 w 2351310"/>
              <a:gd name="csY2" fmla="*/ 0 h 1798653"/>
              <a:gd name="csX3" fmla="*/ 1467613 w 2351310"/>
              <a:gd name="csY3" fmla="*/ 0 h 1798653"/>
              <a:gd name="csX4" fmla="*/ 2051529 w 2351310"/>
              <a:gd name="csY4" fmla="*/ 0 h 1798653"/>
              <a:gd name="csX5" fmla="*/ 2351310 w 2351310"/>
              <a:gd name="csY5" fmla="*/ 299781 h 1798653"/>
              <a:gd name="csX6" fmla="*/ 2351310 w 2351310"/>
              <a:gd name="csY6" fmla="*/ 863354 h 1798653"/>
              <a:gd name="csX7" fmla="*/ 2351310 w 2351310"/>
              <a:gd name="csY7" fmla="*/ 1498872 h 1798653"/>
              <a:gd name="csX8" fmla="*/ 2051529 w 2351310"/>
              <a:gd name="csY8" fmla="*/ 1798653 h 1798653"/>
              <a:gd name="csX9" fmla="*/ 1432578 w 2351310"/>
              <a:gd name="csY9" fmla="*/ 1798653 h 1798653"/>
              <a:gd name="csX10" fmla="*/ 866180 w 2351310"/>
              <a:gd name="csY10" fmla="*/ 1798653 h 1798653"/>
              <a:gd name="csX11" fmla="*/ 299781 w 2351310"/>
              <a:gd name="csY11" fmla="*/ 1798653 h 1798653"/>
              <a:gd name="csX12" fmla="*/ 0 w 2351310"/>
              <a:gd name="csY12" fmla="*/ 1498872 h 1798653"/>
              <a:gd name="csX13" fmla="*/ 0 w 2351310"/>
              <a:gd name="csY13" fmla="*/ 887336 h 1798653"/>
              <a:gd name="csX14" fmla="*/ 0 w 2351310"/>
              <a:gd name="csY14" fmla="*/ 299781 h 17986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2351310" h="1798653" extrusionOk="0">
                <a:moveTo>
                  <a:pt x="0" y="299781"/>
                </a:moveTo>
                <a:cubicBezTo>
                  <a:pt x="-24959" y="152662"/>
                  <a:pt x="111850" y="-33295"/>
                  <a:pt x="299781" y="0"/>
                </a:cubicBezTo>
                <a:cubicBezTo>
                  <a:pt x="570647" y="-52456"/>
                  <a:pt x="704856" y="54303"/>
                  <a:pt x="848662" y="0"/>
                </a:cubicBezTo>
                <a:cubicBezTo>
                  <a:pt x="992468" y="-54303"/>
                  <a:pt x="1194039" y="34118"/>
                  <a:pt x="1467613" y="0"/>
                </a:cubicBezTo>
                <a:cubicBezTo>
                  <a:pt x="1741187" y="-34118"/>
                  <a:pt x="1822566" y="12432"/>
                  <a:pt x="2051529" y="0"/>
                </a:cubicBezTo>
                <a:cubicBezTo>
                  <a:pt x="2210482" y="33143"/>
                  <a:pt x="2344753" y="132977"/>
                  <a:pt x="2351310" y="299781"/>
                </a:cubicBezTo>
                <a:cubicBezTo>
                  <a:pt x="2401164" y="499461"/>
                  <a:pt x="2330034" y="713885"/>
                  <a:pt x="2351310" y="863354"/>
                </a:cubicBezTo>
                <a:cubicBezTo>
                  <a:pt x="2372586" y="1012823"/>
                  <a:pt x="2329097" y="1241449"/>
                  <a:pt x="2351310" y="1498872"/>
                </a:cubicBezTo>
                <a:cubicBezTo>
                  <a:pt x="2338230" y="1679799"/>
                  <a:pt x="2235661" y="1819781"/>
                  <a:pt x="2051529" y="1798653"/>
                </a:cubicBezTo>
                <a:cubicBezTo>
                  <a:pt x="1878837" y="1845876"/>
                  <a:pt x="1729808" y="1757918"/>
                  <a:pt x="1432578" y="1798653"/>
                </a:cubicBezTo>
                <a:cubicBezTo>
                  <a:pt x="1135348" y="1839388"/>
                  <a:pt x="1064560" y="1769668"/>
                  <a:pt x="866180" y="1798653"/>
                </a:cubicBezTo>
                <a:cubicBezTo>
                  <a:pt x="667800" y="1827638"/>
                  <a:pt x="554220" y="1787488"/>
                  <a:pt x="299781" y="1798653"/>
                </a:cubicBezTo>
                <a:cubicBezTo>
                  <a:pt x="147159" y="1844691"/>
                  <a:pt x="37487" y="1635372"/>
                  <a:pt x="0" y="1498872"/>
                </a:cubicBezTo>
                <a:cubicBezTo>
                  <a:pt x="-52676" y="1344609"/>
                  <a:pt x="42390" y="1034527"/>
                  <a:pt x="0" y="887336"/>
                </a:cubicBezTo>
                <a:cubicBezTo>
                  <a:pt x="-42390" y="740145"/>
                  <a:pt x="46522" y="467827"/>
                  <a:pt x="0" y="299781"/>
                </a:cubicBezTo>
                <a:close/>
              </a:path>
            </a:pathLst>
          </a:custGeom>
          <a:noFill/>
          <a:ln w="28575">
            <a:solidFill>
              <a:srgbClr val="FF0000"/>
            </a:solidFill>
            <a:prstDash val="sysDot"/>
            <a:extLst>
              <a:ext uri="{C807C97D-BFC1-408E-A445-0C87EB9F89A2}">
                <ask:lineSketchStyleProps xmlns:ask="http://schemas.microsoft.com/office/drawing/2018/sketchyshapes" sd="1019188760">
                  <a:prstGeom prst="round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rgbClr val="FF0000"/>
              </a:solidFill>
            </a:endParaRPr>
          </a:p>
        </p:txBody>
      </p:sp>
      <p:sp>
        <p:nvSpPr>
          <p:cNvPr id="70" name="TextBox 69">
            <a:extLst>
              <a:ext uri="{FF2B5EF4-FFF2-40B4-BE49-F238E27FC236}">
                <a16:creationId xmlns:a16="http://schemas.microsoft.com/office/drawing/2014/main" id="{019458B9-CEC5-489F-B77D-CAFE3A3BA362}"/>
              </a:ext>
            </a:extLst>
          </p:cNvPr>
          <p:cNvSpPr txBox="1"/>
          <p:nvPr/>
        </p:nvSpPr>
        <p:spPr>
          <a:xfrm>
            <a:off x="9418174" y="4194747"/>
            <a:ext cx="2247731" cy="954107"/>
          </a:xfrm>
          <a:prstGeom prst="rect">
            <a:avLst/>
          </a:prstGeom>
          <a:noFill/>
          <a:ln>
            <a:solidFill>
              <a:schemeClr val="bg1">
                <a:lumMod val="65000"/>
              </a:schemeClr>
            </a:solidFill>
          </a:ln>
        </p:spPr>
        <p:txBody>
          <a:bodyPr wrap="none" rtlCol="0">
            <a:spAutoFit/>
          </a:bodyPr>
          <a:lstStyle/>
          <a:p>
            <a:r>
              <a:rPr lang="ko-KR" altLang="en-US" sz="1400" dirty="0">
                <a:solidFill>
                  <a:schemeClr val="accent2">
                    <a:lumMod val="50000"/>
                  </a:schemeClr>
                </a:solidFill>
              </a:rPr>
              <a:t>둘 다 발견된 경우에는</a:t>
            </a:r>
            <a:endParaRPr lang="en-US" altLang="ko-KR" sz="1400" dirty="0">
              <a:solidFill>
                <a:schemeClr val="accent2">
                  <a:lumMod val="50000"/>
                </a:schemeClr>
              </a:solidFill>
            </a:endParaRPr>
          </a:p>
          <a:p>
            <a:r>
              <a:rPr lang="ko-KR" altLang="en-US" sz="1400" dirty="0">
                <a:solidFill>
                  <a:schemeClr val="accent2">
                    <a:lumMod val="50000"/>
                  </a:schemeClr>
                </a:solidFill>
              </a:rPr>
              <a:t>출원인의 절차적 이익을 위해</a:t>
            </a:r>
            <a:endParaRPr lang="en-US" altLang="ko-KR" sz="1400" dirty="0">
              <a:solidFill>
                <a:schemeClr val="accent2">
                  <a:lumMod val="50000"/>
                </a:schemeClr>
              </a:solidFill>
            </a:endParaRPr>
          </a:p>
          <a:p>
            <a:r>
              <a:rPr lang="ko-KR" altLang="en-US" sz="1400" dirty="0" err="1">
                <a:solidFill>
                  <a:schemeClr val="accent2">
                    <a:lumMod val="50000"/>
                  </a:schemeClr>
                </a:solidFill>
              </a:rPr>
              <a:t>최초거절이유통지를</a:t>
            </a:r>
            <a:endParaRPr lang="en-US" altLang="ko-KR" sz="1400" dirty="0">
              <a:solidFill>
                <a:schemeClr val="accent2">
                  <a:lumMod val="50000"/>
                </a:schemeClr>
              </a:solidFill>
            </a:endParaRPr>
          </a:p>
          <a:p>
            <a:r>
              <a:rPr lang="ko-KR" altLang="en-US" sz="1400" dirty="0">
                <a:solidFill>
                  <a:schemeClr val="accent2">
                    <a:lumMod val="50000"/>
                  </a:schemeClr>
                </a:solidFill>
              </a:rPr>
              <a:t>한다</a:t>
            </a:r>
            <a:r>
              <a:rPr lang="en-US" altLang="ko-KR" sz="1400" dirty="0">
                <a:solidFill>
                  <a:schemeClr val="accent2">
                    <a:lumMod val="50000"/>
                  </a:schemeClr>
                </a:solidFill>
              </a:rPr>
              <a:t>.</a:t>
            </a:r>
            <a:endParaRPr lang="ko-KR" altLang="en-US" sz="1400" dirty="0">
              <a:solidFill>
                <a:schemeClr val="accent2">
                  <a:lumMod val="50000"/>
                </a:schemeClr>
              </a:solidFill>
            </a:endParaRPr>
          </a:p>
        </p:txBody>
      </p:sp>
      <p:cxnSp>
        <p:nvCxnSpPr>
          <p:cNvPr id="31" name="직선 화살표 연결선 30">
            <a:extLst>
              <a:ext uri="{FF2B5EF4-FFF2-40B4-BE49-F238E27FC236}">
                <a16:creationId xmlns:a16="http://schemas.microsoft.com/office/drawing/2014/main" id="{4CC7FE59-A9CC-4FA6-82BE-4BBB5B521CFF}"/>
              </a:ext>
            </a:extLst>
          </p:cNvPr>
          <p:cNvCxnSpPr>
            <a:stCxn id="70" idx="1"/>
            <a:endCxn id="69" idx="3"/>
          </p:cNvCxnSpPr>
          <p:nvPr/>
        </p:nvCxnSpPr>
        <p:spPr>
          <a:xfrm flipH="1">
            <a:off x="9211388" y="4671801"/>
            <a:ext cx="206786" cy="598558"/>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00697706"/>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실체보정에</a:t>
            </a:r>
            <a:r>
              <a:rPr lang="en-US" altLang="ko-KR" dirty="0"/>
              <a:t> </a:t>
            </a:r>
            <a:r>
              <a:rPr lang="ko-KR" altLang="en-US" dirty="0"/>
              <a:t>대한 심사의 진행</a:t>
            </a:r>
            <a:r>
              <a:rPr lang="en-US" altLang="ko-KR" dirty="0"/>
              <a:t> CASE</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101" name="직선 화살표 연결선 100"/>
          <p:cNvCxnSpPr>
            <a:cxnSpLocks/>
            <a:stCxn id="102" idx="3"/>
          </p:cNvCxnSpPr>
          <p:nvPr/>
        </p:nvCxnSpPr>
        <p:spPr>
          <a:xfrm>
            <a:off x="1733549" y="1945247"/>
            <a:ext cx="10135163"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2" name="직사각형 101"/>
          <p:cNvSpPr/>
          <p:nvPr/>
        </p:nvSpPr>
        <p:spPr>
          <a:xfrm>
            <a:off x="966086" y="1692834"/>
            <a:ext cx="767463" cy="504825"/>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출원</a:t>
            </a:r>
          </a:p>
        </p:txBody>
      </p:sp>
      <p:sp>
        <p:nvSpPr>
          <p:cNvPr id="105" name="직사각형 104"/>
          <p:cNvSpPr/>
          <p:nvPr/>
        </p:nvSpPr>
        <p:spPr>
          <a:xfrm>
            <a:off x="2622864" y="1364611"/>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p>
        </p:txBody>
      </p:sp>
      <p:cxnSp>
        <p:nvCxnSpPr>
          <p:cNvPr id="107" name="직선 화살표 연결선 106"/>
          <p:cNvCxnSpPr>
            <a:stCxn id="105" idx="2"/>
          </p:cNvCxnSpPr>
          <p:nvPr/>
        </p:nvCxnSpPr>
        <p:spPr>
          <a:xfrm>
            <a:off x="2945884" y="1617024"/>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0" name="직사각형 109"/>
          <p:cNvSpPr/>
          <p:nvPr/>
        </p:nvSpPr>
        <p:spPr>
          <a:xfrm>
            <a:off x="3258798" y="1815474"/>
            <a:ext cx="646040" cy="252413"/>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최초</a:t>
            </a:r>
          </a:p>
        </p:txBody>
      </p:sp>
      <p:sp>
        <p:nvSpPr>
          <p:cNvPr id="112" name="직사각형 111"/>
          <p:cNvSpPr/>
          <p:nvPr/>
        </p:nvSpPr>
        <p:spPr>
          <a:xfrm>
            <a:off x="10327254" y="1510674"/>
            <a:ext cx="1065208" cy="42455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보정각하</a:t>
            </a:r>
            <a:endParaRPr lang="ko-KR" altLang="en-US" sz="1200" dirty="0">
              <a:solidFill>
                <a:schemeClr val="tx1"/>
              </a:solidFill>
            </a:endParaRPr>
          </a:p>
        </p:txBody>
      </p:sp>
      <p:sp>
        <p:nvSpPr>
          <p:cNvPr id="127" name="직사각형 126"/>
          <p:cNvSpPr/>
          <p:nvPr/>
        </p:nvSpPr>
        <p:spPr>
          <a:xfrm>
            <a:off x="3791253" y="2364346"/>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p>
        </p:txBody>
      </p:sp>
      <p:cxnSp>
        <p:nvCxnSpPr>
          <p:cNvPr id="128" name="직선 화살표 연결선 127"/>
          <p:cNvCxnSpPr>
            <a:stCxn id="127" idx="0"/>
          </p:cNvCxnSpPr>
          <p:nvPr/>
        </p:nvCxnSpPr>
        <p:spPr>
          <a:xfrm flipH="1" flipV="1">
            <a:off x="4162987" y="1941681"/>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3" name="직사각형 162"/>
          <p:cNvSpPr/>
          <p:nvPr/>
        </p:nvSpPr>
        <p:spPr>
          <a:xfrm>
            <a:off x="1800242" y="3143660"/>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42③Ⅰ</a:t>
            </a:r>
            <a:endParaRPr lang="ko-KR" altLang="en-US" sz="1050" dirty="0">
              <a:solidFill>
                <a:schemeClr val="tx1"/>
              </a:solidFill>
            </a:endParaRPr>
          </a:p>
        </p:txBody>
      </p:sp>
      <p:sp>
        <p:nvSpPr>
          <p:cNvPr id="25" name="직사각형 24"/>
          <p:cNvSpPr/>
          <p:nvPr/>
        </p:nvSpPr>
        <p:spPr>
          <a:xfrm>
            <a:off x="966086" y="2828151"/>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29①</a:t>
            </a:r>
            <a:endParaRPr lang="ko-KR" altLang="en-US" sz="1050" dirty="0">
              <a:solidFill>
                <a:schemeClr val="tx1"/>
              </a:solidFill>
            </a:endParaRPr>
          </a:p>
        </p:txBody>
      </p:sp>
      <p:cxnSp>
        <p:nvCxnSpPr>
          <p:cNvPr id="9" name="꺾인 연결선 8"/>
          <p:cNvCxnSpPr>
            <a:cxnSpLocks/>
            <a:stCxn id="25" idx="3"/>
            <a:endCxn id="110" idx="2"/>
          </p:cNvCxnSpPr>
          <p:nvPr/>
        </p:nvCxnSpPr>
        <p:spPr>
          <a:xfrm flipV="1">
            <a:off x="1733550" y="2067887"/>
            <a:ext cx="1848268" cy="886471"/>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직사각형 29"/>
          <p:cNvSpPr/>
          <p:nvPr/>
        </p:nvSpPr>
        <p:spPr>
          <a:xfrm>
            <a:off x="3791253" y="2828151"/>
            <a:ext cx="746998" cy="252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r>
              <a:rPr lang="en-US" altLang="ko-KR" sz="1200" dirty="0">
                <a:solidFill>
                  <a:schemeClr val="tx1"/>
                </a:solidFill>
              </a:rPr>
              <a:t>*</a:t>
            </a:r>
            <a:endParaRPr lang="ko-KR" altLang="en-US" sz="1200" dirty="0">
              <a:solidFill>
                <a:schemeClr val="tx1"/>
              </a:solidFill>
            </a:endParaRPr>
          </a:p>
        </p:txBody>
      </p:sp>
      <p:sp>
        <p:nvSpPr>
          <p:cNvPr id="32" name="직사각형 31"/>
          <p:cNvSpPr/>
          <p:nvPr/>
        </p:nvSpPr>
        <p:spPr>
          <a:xfrm>
            <a:off x="3770787" y="3450693"/>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29②</a:t>
            </a:r>
            <a:endParaRPr lang="ko-KR" altLang="en-US" sz="1050" dirty="0">
              <a:solidFill>
                <a:schemeClr val="tx1"/>
              </a:solidFill>
            </a:endParaRPr>
          </a:p>
        </p:txBody>
      </p:sp>
      <p:sp>
        <p:nvSpPr>
          <p:cNvPr id="47" name="직사각형 46"/>
          <p:cNvSpPr/>
          <p:nvPr/>
        </p:nvSpPr>
        <p:spPr>
          <a:xfrm>
            <a:off x="4037789" y="1364611"/>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p>
        </p:txBody>
      </p:sp>
      <p:cxnSp>
        <p:nvCxnSpPr>
          <p:cNvPr id="48" name="직선 화살표 연결선 47"/>
          <p:cNvCxnSpPr>
            <a:stCxn id="47" idx="2"/>
          </p:cNvCxnSpPr>
          <p:nvPr/>
        </p:nvCxnSpPr>
        <p:spPr>
          <a:xfrm>
            <a:off x="4360809" y="1617024"/>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 name="직사각형 48"/>
          <p:cNvSpPr/>
          <p:nvPr/>
        </p:nvSpPr>
        <p:spPr>
          <a:xfrm>
            <a:off x="4549898" y="1815474"/>
            <a:ext cx="646040" cy="252413"/>
          </a:xfrm>
          <a:prstGeom prst="rect">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최후</a:t>
            </a:r>
          </a:p>
        </p:txBody>
      </p:sp>
      <p:sp>
        <p:nvSpPr>
          <p:cNvPr id="51" name="직사각형 50"/>
          <p:cNvSpPr/>
          <p:nvPr/>
        </p:nvSpPr>
        <p:spPr>
          <a:xfrm>
            <a:off x="3770787" y="3769241"/>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36</a:t>
            </a:r>
            <a:endParaRPr lang="ko-KR" altLang="en-US" sz="1050" dirty="0">
              <a:solidFill>
                <a:schemeClr val="tx1"/>
              </a:solidFill>
            </a:endParaRPr>
          </a:p>
        </p:txBody>
      </p:sp>
      <p:cxnSp>
        <p:nvCxnSpPr>
          <p:cNvPr id="23" name="꺾인 연결선 22"/>
          <p:cNvCxnSpPr>
            <a:stCxn id="32" idx="3"/>
            <a:endCxn id="49" idx="2"/>
          </p:cNvCxnSpPr>
          <p:nvPr/>
        </p:nvCxnSpPr>
        <p:spPr>
          <a:xfrm flipV="1">
            <a:off x="4538251" y="2067887"/>
            <a:ext cx="334667" cy="1509013"/>
          </a:xfrm>
          <a:prstGeom prst="bentConnector2">
            <a:avLst/>
          </a:prstGeom>
          <a:ln w="12700">
            <a:solidFill>
              <a:schemeClr val="accent4">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4" name="직사각형 53"/>
          <p:cNvSpPr/>
          <p:nvPr/>
        </p:nvSpPr>
        <p:spPr>
          <a:xfrm>
            <a:off x="5009915" y="2364346"/>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보정</a:t>
            </a:r>
            <a:endParaRPr lang="ko-KR" altLang="en-US" sz="1200" dirty="0">
              <a:solidFill>
                <a:schemeClr val="tx1"/>
              </a:solidFill>
            </a:endParaRPr>
          </a:p>
        </p:txBody>
      </p:sp>
      <p:cxnSp>
        <p:nvCxnSpPr>
          <p:cNvPr id="55" name="직선 화살표 연결선 54"/>
          <p:cNvCxnSpPr>
            <a:stCxn id="54" idx="0"/>
          </p:cNvCxnSpPr>
          <p:nvPr/>
        </p:nvCxnSpPr>
        <p:spPr>
          <a:xfrm flipH="1" flipV="1">
            <a:off x="5381649" y="1941681"/>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6" name="직사각형 55"/>
          <p:cNvSpPr/>
          <p:nvPr/>
        </p:nvSpPr>
        <p:spPr>
          <a:xfrm>
            <a:off x="5256451" y="1364611"/>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p>
        </p:txBody>
      </p:sp>
      <p:cxnSp>
        <p:nvCxnSpPr>
          <p:cNvPr id="57" name="직선 화살표 연결선 56"/>
          <p:cNvCxnSpPr>
            <a:stCxn id="56" idx="2"/>
          </p:cNvCxnSpPr>
          <p:nvPr/>
        </p:nvCxnSpPr>
        <p:spPr>
          <a:xfrm>
            <a:off x="5579471" y="1617024"/>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8" name="직사각형 57"/>
          <p:cNvSpPr/>
          <p:nvPr/>
        </p:nvSpPr>
        <p:spPr>
          <a:xfrm>
            <a:off x="5091878" y="3446977"/>
            <a:ext cx="675069" cy="252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r>
              <a:rPr lang="en-US" altLang="ko-KR" sz="1200" dirty="0">
                <a:solidFill>
                  <a:schemeClr val="tx1"/>
                </a:solidFill>
              </a:rPr>
              <a:t>*</a:t>
            </a:r>
            <a:endParaRPr lang="ko-KR" altLang="en-US" sz="1200" dirty="0">
              <a:solidFill>
                <a:schemeClr val="tx1"/>
              </a:solidFill>
            </a:endParaRPr>
          </a:p>
        </p:txBody>
      </p:sp>
      <p:sp>
        <p:nvSpPr>
          <p:cNvPr id="60" name="직사각형 59"/>
          <p:cNvSpPr/>
          <p:nvPr/>
        </p:nvSpPr>
        <p:spPr>
          <a:xfrm>
            <a:off x="5766947" y="1815474"/>
            <a:ext cx="646040" cy="252413"/>
          </a:xfrm>
          <a:prstGeom prst="rect">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최후</a:t>
            </a:r>
          </a:p>
        </p:txBody>
      </p:sp>
      <p:sp>
        <p:nvSpPr>
          <p:cNvPr id="61" name="직사각형 60"/>
          <p:cNvSpPr/>
          <p:nvPr/>
        </p:nvSpPr>
        <p:spPr>
          <a:xfrm>
            <a:off x="6226964" y="2364346"/>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보정</a:t>
            </a:r>
            <a:endParaRPr lang="ko-KR" altLang="en-US" sz="1200" dirty="0">
              <a:solidFill>
                <a:schemeClr val="tx1"/>
              </a:solidFill>
            </a:endParaRPr>
          </a:p>
        </p:txBody>
      </p:sp>
      <p:cxnSp>
        <p:nvCxnSpPr>
          <p:cNvPr id="62" name="직선 화살표 연결선 61"/>
          <p:cNvCxnSpPr>
            <a:stCxn id="61" idx="0"/>
          </p:cNvCxnSpPr>
          <p:nvPr/>
        </p:nvCxnSpPr>
        <p:spPr>
          <a:xfrm flipH="1" flipV="1">
            <a:off x="6598698" y="1941681"/>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3" name="직사각형 62"/>
          <p:cNvSpPr/>
          <p:nvPr/>
        </p:nvSpPr>
        <p:spPr>
          <a:xfrm>
            <a:off x="6473500" y="1364611"/>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p>
        </p:txBody>
      </p:sp>
      <p:cxnSp>
        <p:nvCxnSpPr>
          <p:cNvPr id="64" name="직선 화살표 연결선 63"/>
          <p:cNvCxnSpPr>
            <a:stCxn id="63" idx="2"/>
          </p:cNvCxnSpPr>
          <p:nvPr/>
        </p:nvCxnSpPr>
        <p:spPr>
          <a:xfrm>
            <a:off x="6796520" y="1617024"/>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 name="꺾인 연결선 26"/>
          <p:cNvCxnSpPr>
            <a:stCxn id="51" idx="3"/>
            <a:endCxn id="60" idx="2"/>
          </p:cNvCxnSpPr>
          <p:nvPr/>
        </p:nvCxnSpPr>
        <p:spPr>
          <a:xfrm flipV="1">
            <a:off x="4538251" y="2067887"/>
            <a:ext cx="1551716" cy="1827561"/>
          </a:xfrm>
          <a:prstGeom prst="bentConnector2">
            <a:avLst/>
          </a:prstGeom>
          <a:ln w="12700">
            <a:solidFill>
              <a:schemeClr val="accent4">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7" name="직사각형 66"/>
          <p:cNvSpPr/>
          <p:nvPr/>
        </p:nvSpPr>
        <p:spPr>
          <a:xfrm>
            <a:off x="6226965" y="3772372"/>
            <a:ext cx="746997" cy="252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r>
              <a:rPr lang="en-US" altLang="ko-KR" sz="1200" dirty="0">
                <a:solidFill>
                  <a:schemeClr val="tx1"/>
                </a:solidFill>
              </a:rPr>
              <a:t>*</a:t>
            </a:r>
            <a:endParaRPr lang="ko-KR" altLang="en-US" sz="1200" dirty="0">
              <a:solidFill>
                <a:schemeClr val="tx1"/>
              </a:solidFill>
            </a:endParaRPr>
          </a:p>
        </p:txBody>
      </p:sp>
      <p:sp>
        <p:nvSpPr>
          <p:cNvPr id="69" name="직사각형 68"/>
          <p:cNvSpPr/>
          <p:nvPr/>
        </p:nvSpPr>
        <p:spPr>
          <a:xfrm>
            <a:off x="6983996" y="1815474"/>
            <a:ext cx="646040" cy="252413"/>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최초</a:t>
            </a:r>
          </a:p>
        </p:txBody>
      </p:sp>
      <p:sp>
        <p:nvSpPr>
          <p:cNvPr id="70" name="직사각형 69"/>
          <p:cNvSpPr/>
          <p:nvPr/>
        </p:nvSpPr>
        <p:spPr>
          <a:xfrm>
            <a:off x="7444013" y="2364346"/>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보정</a:t>
            </a:r>
            <a:endParaRPr lang="ko-KR" altLang="en-US" sz="1200" dirty="0">
              <a:solidFill>
                <a:schemeClr val="tx1"/>
              </a:solidFill>
            </a:endParaRPr>
          </a:p>
        </p:txBody>
      </p:sp>
      <p:cxnSp>
        <p:nvCxnSpPr>
          <p:cNvPr id="71" name="직선 화살표 연결선 70"/>
          <p:cNvCxnSpPr>
            <a:stCxn id="70" idx="0"/>
          </p:cNvCxnSpPr>
          <p:nvPr/>
        </p:nvCxnSpPr>
        <p:spPr>
          <a:xfrm flipH="1" flipV="1">
            <a:off x="7815747" y="1941681"/>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2" name="직사각형 71"/>
          <p:cNvSpPr/>
          <p:nvPr/>
        </p:nvSpPr>
        <p:spPr>
          <a:xfrm>
            <a:off x="7690549" y="1364611"/>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p>
        </p:txBody>
      </p:sp>
      <p:cxnSp>
        <p:nvCxnSpPr>
          <p:cNvPr id="73" name="직선 화살표 연결선 72"/>
          <p:cNvCxnSpPr>
            <a:stCxn id="72" idx="2"/>
          </p:cNvCxnSpPr>
          <p:nvPr/>
        </p:nvCxnSpPr>
        <p:spPr>
          <a:xfrm>
            <a:off x="8013569" y="1617024"/>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1" name="꺾인 연결선 30"/>
          <p:cNvCxnSpPr>
            <a:cxnSpLocks/>
            <a:stCxn id="163" idx="3"/>
            <a:endCxn id="69" idx="2"/>
          </p:cNvCxnSpPr>
          <p:nvPr/>
        </p:nvCxnSpPr>
        <p:spPr>
          <a:xfrm flipV="1">
            <a:off x="2567706" y="2067887"/>
            <a:ext cx="4739310" cy="1201980"/>
          </a:xfrm>
          <a:prstGeom prst="bentConnector2">
            <a:avLst/>
          </a:prstGeom>
          <a:ln w="12700">
            <a:solidFill>
              <a:schemeClr val="accent4">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6" name="직사각형 75"/>
          <p:cNvSpPr/>
          <p:nvPr/>
        </p:nvSpPr>
        <p:spPr>
          <a:xfrm>
            <a:off x="7409797" y="3143659"/>
            <a:ext cx="781214" cy="252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r>
              <a:rPr lang="en-US" altLang="ko-KR" sz="1200" dirty="0">
                <a:solidFill>
                  <a:schemeClr val="tx1"/>
                </a:solidFill>
              </a:rPr>
              <a:t>*</a:t>
            </a:r>
            <a:endParaRPr lang="ko-KR" altLang="en-US" sz="1200" dirty="0">
              <a:solidFill>
                <a:schemeClr val="tx1"/>
              </a:solidFill>
            </a:endParaRPr>
          </a:p>
        </p:txBody>
      </p:sp>
      <p:sp>
        <p:nvSpPr>
          <p:cNvPr id="78" name="직사각형 77"/>
          <p:cNvSpPr/>
          <p:nvPr/>
        </p:nvSpPr>
        <p:spPr>
          <a:xfrm>
            <a:off x="7444013" y="4159766"/>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42④Ⅰ</a:t>
            </a:r>
            <a:endParaRPr lang="ko-KR" altLang="en-US" sz="1050" dirty="0">
              <a:solidFill>
                <a:schemeClr val="tx1"/>
              </a:solidFill>
            </a:endParaRPr>
          </a:p>
        </p:txBody>
      </p:sp>
      <p:sp>
        <p:nvSpPr>
          <p:cNvPr id="79" name="직사각형 78"/>
          <p:cNvSpPr/>
          <p:nvPr/>
        </p:nvSpPr>
        <p:spPr>
          <a:xfrm>
            <a:off x="10327254" y="1930266"/>
            <a:ext cx="1065208" cy="42455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거절결정</a:t>
            </a:r>
            <a:endParaRPr lang="en-US" altLang="ko-KR" sz="1200" dirty="0">
              <a:solidFill>
                <a:schemeClr val="tx1"/>
              </a:solidFill>
            </a:endParaRPr>
          </a:p>
          <a:p>
            <a:pPr algn="ctr"/>
            <a:r>
              <a:rPr lang="en-US" altLang="ko-KR" sz="1050" dirty="0">
                <a:solidFill>
                  <a:schemeClr val="tx1"/>
                </a:solidFill>
              </a:rPr>
              <a:t>(</a:t>
            </a:r>
            <a:r>
              <a:rPr lang="ko-KR" altLang="en-US" sz="1050" dirty="0">
                <a:solidFill>
                  <a:schemeClr val="tx1"/>
                </a:solidFill>
              </a:rPr>
              <a:t>法 </a:t>
            </a:r>
            <a:r>
              <a:rPr lang="en-US" altLang="ko-KR" sz="1050" dirty="0">
                <a:solidFill>
                  <a:schemeClr val="tx1"/>
                </a:solidFill>
              </a:rPr>
              <a:t>42④Ⅰ)</a:t>
            </a:r>
            <a:endParaRPr lang="ko-KR" altLang="en-US" sz="1050" dirty="0">
              <a:solidFill>
                <a:schemeClr val="tx1"/>
              </a:solidFill>
            </a:endParaRPr>
          </a:p>
        </p:txBody>
      </p:sp>
      <p:cxnSp>
        <p:nvCxnSpPr>
          <p:cNvPr id="35" name="꺾인 연결선 34"/>
          <p:cNvCxnSpPr>
            <a:stCxn id="78" idx="3"/>
            <a:endCxn id="84" idx="2"/>
          </p:cNvCxnSpPr>
          <p:nvPr/>
        </p:nvCxnSpPr>
        <p:spPr>
          <a:xfrm flipV="1">
            <a:off x="8211477" y="2067887"/>
            <a:ext cx="305160" cy="2218086"/>
          </a:xfrm>
          <a:prstGeom prst="bentConnector2">
            <a:avLst/>
          </a:prstGeom>
          <a:ln w="12700">
            <a:solidFill>
              <a:schemeClr val="accent4">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4" name="직사각형 83"/>
          <p:cNvSpPr/>
          <p:nvPr/>
        </p:nvSpPr>
        <p:spPr>
          <a:xfrm>
            <a:off x="8193617" y="1815474"/>
            <a:ext cx="646040" cy="252413"/>
          </a:xfrm>
          <a:prstGeom prst="rect">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최후</a:t>
            </a:r>
          </a:p>
        </p:txBody>
      </p:sp>
      <p:sp>
        <p:nvSpPr>
          <p:cNvPr id="85" name="직사각형 84"/>
          <p:cNvSpPr/>
          <p:nvPr/>
        </p:nvSpPr>
        <p:spPr>
          <a:xfrm>
            <a:off x="8653634" y="2364346"/>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보정</a:t>
            </a:r>
            <a:endParaRPr lang="ko-KR" altLang="en-US" sz="1200" dirty="0">
              <a:solidFill>
                <a:schemeClr val="tx1"/>
              </a:solidFill>
            </a:endParaRPr>
          </a:p>
        </p:txBody>
      </p:sp>
      <p:cxnSp>
        <p:nvCxnSpPr>
          <p:cNvPr id="86" name="직선 화살표 연결선 85"/>
          <p:cNvCxnSpPr>
            <a:stCxn id="85" idx="0"/>
          </p:cNvCxnSpPr>
          <p:nvPr/>
        </p:nvCxnSpPr>
        <p:spPr>
          <a:xfrm flipH="1" flipV="1">
            <a:off x="9025368" y="1941681"/>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8" name="직사각형 87"/>
          <p:cNvSpPr/>
          <p:nvPr/>
        </p:nvSpPr>
        <p:spPr>
          <a:xfrm>
            <a:off x="8900170" y="1364611"/>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p>
        </p:txBody>
      </p:sp>
      <p:cxnSp>
        <p:nvCxnSpPr>
          <p:cNvPr id="89" name="직선 화살표 연결선 88"/>
          <p:cNvCxnSpPr>
            <a:stCxn id="88" idx="2"/>
          </p:cNvCxnSpPr>
          <p:nvPr/>
        </p:nvCxnSpPr>
        <p:spPr>
          <a:xfrm>
            <a:off x="9223190" y="1617024"/>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2" name="직사각형 91"/>
          <p:cNvSpPr/>
          <p:nvPr/>
        </p:nvSpPr>
        <p:spPr>
          <a:xfrm>
            <a:off x="8653634" y="4674116"/>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42⑧</a:t>
            </a:r>
            <a:endParaRPr lang="ko-KR" altLang="en-US" sz="1050" dirty="0">
              <a:solidFill>
                <a:schemeClr val="tx1"/>
              </a:solidFill>
            </a:endParaRPr>
          </a:p>
        </p:txBody>
      </p:sp>
      <p:cxnSp>
        <p:nvCxnSpPr>
          <p:cNvPr id="50" name="꺾인 연결선 49"/>
          <p:cNvCxnSpPr>
            <a:stCxn id="92" idx="3"/>
            <a:endCxn id="79" idx="2"/>
          </p:cNvCxnSpPr>
          <p:nvPr/>
        </p:nvCxnSpPr>
        <p:spPr>
          <a:xfrm flipV="1">
            <a:off x="9421098" y="2354821"/>
            <a:ext cx="1438760" cy="2445502"/>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직사각형 95"/>
          <p:cNvSpPr/>
          <p:nvPr/>
        </p:nvSpPr>
        <p:spPr>
          <a:xfrm>
            <a:off x="8667778" y="4140566"/>
            <a:ext cx="781214" cy="252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해소여부</a:t>
            </a:r>
            <a:endParaRPr lang="en-US" altLang="ko-KR" sz="1200" dirty="0">
              <a:solidFill>
                <a:schemeClr val="tx1"/>
              </a:solidFill>
            </a:endParaRPr>
          </a:p>
          <a:p>
            <a:pPr algn="ctr"/>
            <a:r>
              <a:rPr lang="ko-KR" altLang="en-US" sz="1200" dirty="0">
                <a:solidFill>
                  <a:schemeClr val="tx1"/>
                </a:solidFill>
              </a:rPr>
              <a:t>무관</a:t>
            </a:r>
            <a:r>
              <a:rPr lang="en-US" altLang="ko-KR" sz="1200" dirty="0">
                <a:solidFill>
                  <a:schemeClr val="tx1"/>
                </a:solidFill>
              </a:rPr>
              <a:t>**</a:t>
            </a:r>
            <a:endParaRPr lang="ko-KR" altLang="en-US" sz="1200" dirty="0">
              <a:solidFill>
                <a:schemeClr val="tx1"/>
              </a:solidFill>
            </a:endParaRPr>
          </a:p>
        </p:txBody>
      </p:sp>
      <p:sp>
        <p:nvSpPr>
          <p:cNvPr id="53" name="TextBox 52"/>
          <p:cNvSpPr txBox="1"/>
          <p:nvPr/>
        </p:nvSpPr>
        <p:spPr>
          <a:xfrm>
            <a:off x="755040" y="5816365"/>
            <a:ext cx="10187404" cy="646331"/>
          </a:xfrm>
          <a:prstGeom prst="rect">
            <a:avLst/>
          </a:prstGeom>
          <a:noFill/>
        </p:spPr>
        <p:txBody>
          <a:bodyPr wrap="none" rtlCol="0">
            <a:spAutoFit/>
          </a:bodyPr>
          <a:lstStyle/>
          <a:p>
            <a:r>
              <a:rPr lang="en-US" altLang="ko-KR" sz="1200" dirty="0"/>
              <a:t>* </a:t>
            </a:r>
            <a:r>
              <a:rPr lang="ko-KR" altLang="en-US" sz="1200" dirty="0"/>
              <a:t>원거절이유가 해소되지 않은 경우 바로 </a:t>
            </a:r>
            <a:r>
              <a:rPr lang="ko-KR" altLang="en-US" sz="1200" dirty="0" err="1"/>
              <a:t>거절결정됨</a:t>
            </a:r>
            <a:endParaRPr lang="en-US" altLang="ko-KR" sz="1200" dirty="0"/>
          </a:p>
          <a:p>
            <a:r>
              <a:rPr lang="en-US" altLang="ko-KR" sz="1200" dirty="0"/>
              <a:t>** </a:t>
            </a:r>
            <a:r>
              <a:rPr lang="ko-KR" altLang="en-US" sz="1200" dirty="0"/>
              <a:t>보정이 </a:t>
            </a:r>
            <a:r>
              <a:rPr lang="ko-KR" altLang="en-US" sz="1200" dirty="0" err="1"/>
              <a:t>부적법하여</a:t>
            </a:r>
            <a:r>
              <a:rPr lang="ko-KR" altLang="en-US" sz="1200" dirty="0"/>
              <a:t> 보정각하되기 때문에 보정된 명세서 또는 도면에 의하여 </a:t>
            </a:r>
            <a:r>
              <a:rPr lang="ko-KR" altLang="en-US" sz="1200" dirty="0" err="1"/>
              <a:t>원거절이유가</a:t>
            </a:r>
            <a:r>
              <a:rPr lang="ko-KR" altLang="en-US" sz="1200" dirty="0"/>
              <a:t> 해소되었는지 여부는 무관함</a:t>
            </a:r>
            <a:endParaRPr lang="en-US" altLang="ko-KR" sz="1200" dirty="0"/>
          </a:p>
          <a:p>
            <a:r>
              <a:rPr lang="en-US" altLang="ko-KR" sz="1200" dirty="0"/>
              <a:t>*** </a:t>
            </a:r>
            <a:r>
              <a:rPr lang="ko-KR" altLang="en-US" sz="1200" dirty="0"/>
              <a:t>거절이유통지전 발생한 거절이유와 </a:t>
            </a:r>
            <a:r>
              <a:rPr lang="ko-KR" altLang="en-US" sz="1200" dirty="0" err="1">
                <a:solidFill>
                  <a:srgbClr val="0000CC"/>
                </a:solidFill>
              </a:rPr>
              <a:t>거절이유통지에</a:t>
            </a:r>
            <a:r>
              <a:rPr lang="ko-KR" altLang="en-US" sz="1200" dirty="0">
                <a:solidFill>
                  <a:srgbClr val="0000CC"/>
                </a:solidFill>
              </a:rPr>
              <a:t> 대응한 </a:t>
            </a:r>
            <a:r>
              <a:rPr lang="ko-KR" altLang="en-US" sz="1200" dirty="0"/>
              <a:t>의견제출기간 내 보정에 의하여 발생한 거절이유를 동시에 발견한 경우에는 최초거절이유통지</a:t>
            </a:r>
          </a:p>
        </p:txBody>
      </p:sp>
      <p:sp>
        <p:nvSpPr>
          <p:cNvPr id="5" name="슬라이드 번호 개체 틀 4"/>
          <p:cNvSpPr>
            <a:spLocks noGrp="1"/>
          </p:cNvSpPr>
          <p:nvPr>
            <p:ph type="sldNum" sz="quarter" idx="12"/>
          </p:nvPr>
        </p:nvSpPr>
        <p:spPr/>
        <p:txBody>
          <a:bodyPr/>
          <a:lstStyle/>
          <a:p>
            <a:r>
              <a:rPr lang="en-US" altLang="ko-KR"/>
              <a:t>169</a:t>
            </a:r>
            <a:endParaRPr lang="ko-KR" altLang="en-US"/>
          </a:p>
        </p:txBody>
      </p:sp>
      <p:sp>
        <p:nvSpPr>
          <p:cNvPr id="6" name="TextBox 5">
            <a:extLst>
              <a:ext uri="{FF2B5EF4-FFF2-40B4-BE49-F238E27FC236}">
                <a16:creationId xmlns:a16="http://schemas.microsoft.com/office/drawing/2014/main" id="{3BA50B08-4ADA-64F7-C22F-0CF1C362F770}"/>
              </a:ext>
            </a:extLst>
          </p:cNvPr>
          <p:cNvSpPr txBox="1"/>
          <p:nvPr/>
        </p:nvSpPr>
        <p:spPr>
          <a:xfrm>
            <a:off x="247751" y="4410207"/>
            <a:ext cx="2569934" cy="338554"/>
          </a:xfrm>
          <a:prstGeom prst="rect">
            <a:avLst/>
          </a:prstGeom>
          <a:noFill/>
          <a:ln w="28575">
            <a:solidFill>
              <a:srgbClr val="FF0000"/>
            </a:solidFill>
          </a:ln>
        </p:spPr>
        <p:txBody>
          <a:bodyPr wrap="none" rtlCol="0">
            <a:spAutoFit/>
          </a:bodyPr>
          <a:lstStyle/>
          <a:p>
            <a:r>
              <a:rPr lang="ko-KR" altLang="en-US" sz="1600" dirty="0" err="1"/>
              <a:t>거절이유통지</a:t>
            </a:r>
            <a:r>
              <a:rPr lang="ko-KR" altLang="en-US" sz="1600" dirty="0"/>
              <a:t> 전 원시적 발생</a:t>
            </a:r>
          </a:p>
        </p:txBody>
      </p:sp>
      <p:cxnSp>
        <p:nvCxnSpPr>
          <p:cNvPr id="8" name="직선 화살표 연결선 7">
            <a:extLst>
              <a:ext uri="{FF2B5EF4-FFF2-40B4-BE49-F238E27FC236}">
                <a16:creationId xmlns:a16="http://schemas.microsoft.com/office/drawing/2014/main" id="{0E2E937C-0F59-3DF4-5231-E795B32FB047}"/>
              </a:ext>
            </a:extLst>
          </p:cNvPr>
          <p:cNvCxnSpPr>
            <a:cxnSpLocks/>
            <a:stCxn id="6" idx="0"/>
            <a:endCxn id="25" idx="2"/>
          </p:cNvCxnSpPr>
          <p:nvPr/>
        </p:nvCxnSpPr>
        <p:spPr>
          <a:xfrm flipH="1" flipV="1">
            <a:off x="1349818" y="3080564"/>
            <a:ext cx="182900" cy="1329643"/>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 name="직사각형 10">
            <a:extLst>
              <a:ext uri="{FF2B5EF4-FFF2-40B4-BE49-F238E27FC236}">
                <a16:creationId xmlns:a16="http://schemas.microsoft.com/office/drawing/2014/main" id="{4A6F2D3E-A333-2395-E472-63A44F18C64A}"/>
              </a:ext>
            </a:extLst>
          </p:cNvPr>
          <p:cNvSpPr/>
          <p:nvPr/>
        </p:nvSpPr>
        <p:spPr>
          <a:xfrm>
            <a:off x="1820708" y="2364346"/>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p>
        </p:txBody>
      </p:sp>
      <p:cxnSp>
        <p:nvCxnSpPr>
          <p:cNvPr id="12" name="직선 화살표 연결선 11">
            <a:extLst>
              <a:ext uri="{FF2B5EF4-FFF2-40B4-BE49-F238E27FC236}">
                <a16:creationId xmlns:a16="http://schemas.microsoft.com/office/drawing/2014/main" id="{8B0C5192-A1D5-A558-45D8-D7934D826CD2}"/>
              </a:ext>
            </a:extLst>
          </p:cNvPr>
          <p:cNvCxnSpPr>
            <a:stCxn id="11" idx="0"/>
          </p:cNvCxnSpPr>
          <p:nvPr/>
        </p:nvCxnSpPr>
        <p:spPr>
          <a:xfrm flipH="1" flipV="1">
            <a:off x="2192442" y="1941681"/>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6" name="직선 화살표 연결선 15">
            <a:extLst>
              <a:ext uri="{FF2B5EF4-FFF2-40B4-BE49-F238E27FC236}">
                <a16:creationId xmlns:a16="http://schemas.microsoft.com/office/drawing/2014/main" id="{FBB5AFD7-D3A3-A41F-B520-113736DF6EB6}"/>
              </a:ext>
            </a:extLst>
          </p:cNvPr>
          <p:cNvCxnSpPr>
            <a:cxnSpLocks/>
            <a:stCxn id="6" idx="0"/>
            <a:endCxn id="163" idx="2"/>
          </p:cNvCxnSpPr>
          <p:nvPr/>
        </p:nvCxnSpPr>
        <p:spPr>
          <a:xfrm flipV="1">
            <a:off x="1532718" y="3396073"/>
            <a:ext cx="651256" cy="1014134"/>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DE1BEB2E-07F5-E464-6B7B-14FD02B5BEC9}"/>
              </a:ext>
            </a:extLst>
          </p:cNvPr>
          <p:cNvSpPr txBox="1"/>
          <p:nvPr/>
        </p:nvSpPr>
        <p:spPr>
          <a:xfrm>
            <a:off x="4462033" y="4946176"/>
            <a:ext cx="3065263" cy="584775"/>
          </a:xfrm>
          <a:prstGeom prst="rect">
            <a:avLst/>
          </a:prstGeom>
          <a:noFill/>
          <a:ln w="28575">
            <a:solidFill>
              <a:srgbClr val="FF0000"/>
            </a:solidFill>
          </a:ln>
        </p:spPr>
        <p:txBody>
          <a:bodyPr wrap="none" rtlCol="0">
            <a:spAutoFit/>
          </a:bodyPr>
          <a:lstStyle/>
          <a:p>
            <a:pPr algn="ctr"/>
            <a:r>
              <a:rPr lang="ko-KR" altLang="en-US" sz="1600" dirty="0" err="1"/>
              <a:t>최초거절이유통지에</a:t>
            </a:r>
            <a:r>
              <a:rPr lang="ko-KR" altLang="en-US" sz="1600" dirty="0"/>
              <a:t> 대응한 보정에</a:t>
            </a:r>
            <a:endParaRPr lang="en-US" altLang="ko-KR" sz="1600" dirty="0"/>
          </a:p>
          <a:p>
            <a:pPr algn="ctr"/>
            <a:r>
              <a:rPr lang="ko-KR" altLang="en-US" sz="1600" dirty="0"/>
              <a:t>의해 발생</a:t>
            </a:r>
          </a:p>
        </p:txBody>
      </p:sp>
      <p:cxnSp>
        <p:nvCxnSpPr>
          <p:cNvPr id="22" name="직선 화살표 연결선 21">
            <a:extLst>
              <a:ext uri="{FF2B5EF4-FFF2-40B4-BE49-F238E27FC236}">
                <a16:creationId xmlns:a16="http://schemas.microsoft.com/office/drawing/2014/main" id="{B07A1763-4D84-890A-0F0B-049F0843C018}"/>
              </a:ext>
            </a:extLst>
          </p:cNvPr>
          <p:cNvCxnSpPr>
            <a:cxnSpLocks/>
            <a:stCxn id="21" idx="0"/>
            <a:endCxn id="78" idx="2"/>
          </p:cNvCxnSpPr>
          <p:nvPr/>
        </p:nvCxnSpPr>
        <p:spPr>
          <a:xfrm flipV="1">
            <a:off x="5994665" y="4412179"/>
            <a:ext cx="1833080" cy="533997"/>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8" name="직선 화살표 연결선 27">
            <a:extLst>
              <a:ext uri="{FF2B5EF4-FFF2-40B4-BE49-F238E27FC236}">
                <a16:creationId xmlns:a16="http://schemas.microsoft.com/office/drawing/2014/main" id="{F011C438-1ADF-3ECE-1F28-7F1C9DF4DA14}"/>
              </a:ext>
            </a:extLst>
          </p:cNvPr>
          <p:cNvCxnSpPr>
            <a:cxnSpLocks/>
            <a:stCxn id="21" idx="0"/>
            <a:endCxn id="51" idx="2"/>
          </p:cNvCxnSpPr>
          <p:nvPr/>
        </p:nvCxnSpPr>
        <p:spPr>
          <a:xfrm flipH="1" flipV="1">
            <a:off x="4154519" y="4021654"/>
            <a:ext cx="1840146" cy="924522"/>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83571592"/>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양쪽 모서리가 둥근 사각형 65"/>
          <p:cNvSpPr/>
          <p:nvPr/>
        </p:nvSpPr>
        <p:spPr>
          <a:xfrm>
            <a:off x="1551837" y="5571051"/>
            <a:ext cx="1797788" cy="468996"/>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양쪽 모서리가 둥근 사각형 67"/>
          <p:cNvSpPr/>
          <p:nvPr/>
        </p:nvSpPr>
        <p:spPr>
          <a:xfrm>
            <a:off x="3404209" y="5571051"/>
            <a:ext cx="1430698" cy="468996"/>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양쪽 모서리가 둥근 사각형 73"/>
          <p:cNvSpPr/>
          <p:nvPr/>
        </p:nvSpPr>
        <p:spPr>
          <a:xfrm>
            <a:off x="5709992" y="5571051"/>
            <a:ext cx="1430698" cy="468996"/>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모서리가 둥근 직사각형 74"/>
          <p:cNvSpPr/>
          <p:nvPr/>
        </p:nvSpPr>
        <p:spPr>
          <a:xfrm>
            <a:off x="9829171" y="5739804"/>
            <a:ext cx="132060" cy="164772"/>
          </a:xfrm>
          <a:prstGeom prst="roundRect">
            <a:avLst>
              <a:gd name="adj" fmla="val 5000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9" name="직선 화살표 연결선 98"/>
          <p:cNvCxnSpPr/>
          <p:nvPr/>
        </p:nvCxnSpPr>
        <p:spPr>
          <a:xfrm>
            <a:off x="963064" y="6035672"/>
            <a:ext cx="10308186"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시기적 요건</a:t>
            </a:r>
            <a:r>
              <a:rPr lang="en-US" altLang="ko-KR" dirty="0"/>
              <a:t>(</a:t>
            </a:r>
            <a:r>
              <a:rPr lang="ko-KR" altLang="en-US" dirty="0"/>
              <a:t>제</a:t>
            </a:r>
            <a:r>
              <a:rPr lang="en-US" altLang="ko-KR" dirty="0"/>
              <a:t>47</a:t>
            </a:r>
            <a:r>
              <a:rPr lang="ko-KR" altLang="en-US" dirty="0"/>
              <a:t>조제</a:t>
            </a:r>
            <a:r>
              <a:rPr lang="en-US" altLang="ko-KR" dirty="0"/>
              <a:t>1</a:t>
            </a:r>
            <a:r>
              <a:rPr lang="ko-KR" altLang="en-US" dirty="0"/>
              <a:t>항</a:t>
            </a:r>
            <a:r>
              <a:rPr lang="en-US" altLang="ko-KR" dirty="0"/>
              <a:t>)</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59" name="직선 연결선 58"/>
          <p:cNvCxnSpPr/>
          <p:nvPr/>
        </p:nvCxnSpPr>
        <p:spPr>
          <a:xfrm>
            <a:off x="0" y="259204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77875" y="996556"/>
            <a:ext cx="11936323" cy="1600438"/>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47</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특허출원의 보정</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특허출원인은 제</a:t>
            </a:r>
            <a:r>
              <a:rPr lang="en-US" altLang="ko-KR" sz="1400" dirty="0">
                <a:solidFill>
                  <a:schemeClr val="tx2"/>
                </a:solidFill>
              </a:rPr>
              <a:t>66</a:t>
            </a:r>
            <a:r>
              <a:rPr lang="ko-KR" altLang="en-US" sz="1400" dirty="0">
                <a:solidFill>
                  <a:schemeClr val="tx2"/>
                </a:solidFill>
              </a:rPr>
              <a:t>조에 따른 </a:t>
            </a:r>
            <a:r>
              <a:rPr lang="ko-KR" altLang="en-US" sz="1400" dirty="0" err="1">
                <a:solidFill>
                  <a:schemeClr val="tx2"/>
                </a:solidFill>
              </a:rPr>
              <a:t>특허결정의</a:t>
            </a:r>
            <a:r>
              <a:rPr lang="ko-KR" altLang="en-US" sz="1400" dirty="0">
                <a:solidFill>
                  <a:schemeClr val="tx2"/>
                </a:solidFill>
              </a:rPr>
              <a:t> 등본을 송달하기 전까지 특허출원서에 첨부한 명세서 또는 도면을 보정할 수 있다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63</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거절이유통지</a:t>
            </a:r>
            <a:r>
              <a:rPr lang="en-US" altLang="ko-KR" sz="1400" dirty="0">
                <a:solidFill>
                  <a:schemeClr val="tx2"/>
                </a:solidFill>
              </a:rPr>
              <a:t>(</a:t>
            </a:r>
            <a:r>
              <a:rPr lang="ko-KR" altLang="en-US" sz="1400" dirty="0">
                <a:solidFill>
                  <a:schemeClr val="tx2"/>
                </a:solidFill>
              </a:rPr>
              <a:t>이하 </a:t>
            </a:r>
            <a:r>
              <a:rPr lang="en-US" altLang="ko-KR" sz="1400" dirty="0">
                <a:solidFill>
                  <a:schemeClr val="tx2"/>
                </a:solidFill>
              </a:rPr>
              <a:t>"</a:t>
            </a:r>
            <a:r>
              <a:rPr lang="ko-KR" altLang="en-US" sz="1400" dirty="0">
                <a:solidFill>
                  <a:schemeClr val="tx2"/>
                </a:solidFill>
              </a:rPr>
              <a:t>거절이유통지</a:t>
            </a:r>
            <a:r>
              <a:rPr lang="en-US" altLang="ko-KR" sz="1400" dirty="0">
                <a:solidFill>
                  <a:schemeClr val="tx2"/>
                </a:solidFill>
              </a:rPr>
              <a:t>"</a:t>
            </a:r>
            <a:r>
              <a:rPr lang="ko-KR" altLang="en-US" sz="1400" dirty="0">
                <a:solidFill>
                  <a:schemeClr val="tx2"/>
                </a:solidFill>
              </a:rPr>
              <a:t>라 한다</a:t>
            </a:r>
            <a:r>
              <a:rPr lang="en-US" altLang="ko-KR" sz="1400" dirty="0">
                <a:solidFill>
                  <a:schemeClr val="tx2"/>
                </a:solidFill>
              </a:rPr>
              <a:t>)</a:t>
            </a:r>
            <a:r>
              <a:rPr lang="ko-KR" altLang="en-US" sz="1400" dirty="0">
                <a:solidFill>
                  <a:schemeClr val="tx2"/>
                </a:solidFill>
              </a:rPr>
              <a:t>를 받은 후에는 다음 각 호의 구분에 따른 기간</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3</a:t>
            </a:r>
            <a:r>
              <a:rPr lang="ko-KR" altLang="en-US" sz="1400" dirty="0">
                <a:solidFill>
                  <a:schemeClr val="tx2"/>
                </a:solidFill>
              </a:rPr>
              <a:t>호의 경우에는 그 때</a:t>
            </a:r>
            <a:r>
              <a:rPr lang="en-US" altLang="ko-KR" sz="1400" dirty="0">
                <a:solidFill>
                  <a:schemeClr val="tx2"/>
                </a:solidFill>
              </a:rPr>
              <a:t>)</a:t>
            </a:r>
            <a:r>
              <a:rPr lang="ko-KR" altLang="en-US" sz="1400" dirty="0">
                <a:solidFill>
                  <a:schemeClr val="tx2"/>
                </a:solidFill>
              </a:rPr>
              <a:t>에만 보정할 수 있다</a:t>
            </a:r>
            <a:r>
              <a:rPr lang="en-US" altLang="ko-KR" sz="1400" dirty="0">
                <a:solidFill>
                  <a:schemeClr val="tx2"/>
                </a:solidFill>
              </a:rPr>
              <a:t>. </a:t>
            </a:r>
          </a:p>
          <a:p>
            <a:pPr fontAlgn="base"/>
            <a:r>
              <a:rPr lang="en-US" altLang="ko-KR" sz="1400" dirty="0">
                <a:solidFill>
                  <a:schemeClr val="tx2"/>
                </a:solidFill>
              </a:rPr>
              <a:t>1. </a:t>
            </a:r>
            <a:r>
              <a:rPr lang="ko-KR" altLang="en-US" sz="1400" dirty="0">
                <a:solidFill>
                  <a:schemeClr val="tx2"/>
                </a:solidFill>
              </a:rPr>
              <a:t>거절이유통지</a:t>
            </a:r>
            <a:r>
              <a:rPr lang="en-US" altLang="ko-KR" sz="1400" dirty="0">
                <a:solidFill>
                  <a:schemeClr val="tx2"/>
                </a:solidFill>
              </a:rPr>
              <a:t>(</a:t>
            </a:r>
            <a:r>
              <a:rPr lang="ko-KR" altLang="en-US" sz="1400" dirty="0">
                <a:solidFill>
                  <a:schemeClr val="tx2"/>
                </a:solidFill>
              </a:rPr>
              <a:t>거절이유통지에 대한 보정에 따라 발생한 </a:t>
            </a:r>
            <a:r>
              <a:rPr lang="ko-KR" altLang="en-US" sz="1400" dirty="0" err="1">
                <a:solidFill>
                  <a:schemeClr val="tx2"/>
                </a:solidFill>
              </a:rPr>
              <a:t>거절이유에</a:t>
            </a:r>
            <a:r>
              <a:rPr lang="ko-KR" altLang="en-US" sz="1400" dirty="0">
                <a:solidFill>
                  <a:schemeClr val="tx2"/>
                </a:solidFill>
              </a:rPr>
              <a:t> 대한 거절이유통지는 제외한다</a:t>
            </a:r>
            <a:r>
              <a:rPr lang="en-US" altLang="ko-KR" sz="1400" dirty="0">
                <a:solidFill>
                  <a:schemeClr val="tx2"/>
                </a:solidFill>
              </a:rPr>
              <a:t>)</a:t>
            </a:r>
            <a:r>
              <a:rPr lang="ko-KR" altLang="en-US" sz="1400" dirty="0">
                <a:solidFill>
                  <a:schemeClr val="tx2"/>
                </a:solidFill>
              </a:rPr>
              <a:t>를 최초로 받거나 제</a:t>
            </a:r>
            <a:r>
              <a:rPr lang="en-US" altLang="ko-KR" sz="1400" dirty="0">
                <a:solidFill>
                  <a:schemeClr val="tx2"/>
                </a:solidFill>
              </a:rPr>
              <a:t>2</a:t>
            </a:r>
            <a:r>
              <a:rPr lang="ko-KR" altLang="en-US" sz="1400" dirty="0">
                <a:solidFill>
                  <a:schemeClr val="tx2"/>
                </a:solidFill>
              </a:rPr>
              <a:t>호의 거절이유통지가 아닌 거절이유통지를 받은 경우</a:t>
            </a:r>
            <a:r>
              <a:rPr lang="en-US" altLang="ko-KR" sz="1400" dirty="0">
                <a:solidFill>
                  <a:schemeClr val="tx2"/>
                </a:solidFill>
              </a:rPr>
              <a:t>: </a:t>
            </a:r>
            <a:r>
              <a:rPr lang="ko-KR" altLang="en-US" sz="1400" dirty="0">
                <a:solidFill>
                  <a:schemeClr val="tx2"/>
                </a:solidFill>
              </a:rPr>
              <a:t>해당 거절이유통지에 따른 의견서 제출기간</a:t>
            </a:r>
          </a:p>
          <a:p>
            <a:pPr fontAlgn="base"/>
            <a:r>
              <a:rPr lang="en-US" altLang="ko-KR" sz="1400" dirty="0">
                <a:solidFill>
                  <a:schemeClr val="tx2"/>
                </a:solidFill>
              </a:rPr>
              <a:t>2. </a:t>
            </a:r>
            <a:r>
              <a:rPr lang="ko-KR" altLang="en-US" sz="1400" dirty="0">
                <a:solidFill>
                  <a:schemeClr val="tx2"/>
                </a:solidFill>
              </a:rPr>
              <a:t>거절이유통지</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66</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항에 따른 통지를 한 경우에는 그 통지 전의 거절이유통지는 제외한다</a:t>
            </a:r>
            <a:r>
              <a:rPr lang="en-US" altLang="ko-KR" sz="1400" dirty="0">
                <a:solidFill>
                  <a:schemeClr val="tx2"/>
                </a:solidFill>
              </a:rPr>
              <a:t>)</a:t>
            </a:r>
            <a:r>
              <a:rPr lang="ko-KR" altLang="en-US" sz="1400" dirty="0">
                <a:solidFill>
                  <a:schemeClr val="tx2"/>
                </a:solidFill>
              </a:rPr>
              <a:t>에 대한 보정에 따라 발생한 </a:t>
            </a:r>
            <a:r>
              <a:rPr lang="ko-KR" altLang="en-US" sz="1400" dirty="0" err="1">
                <a:solidFill>
                  <a:schemeClr val="tx2"/>
                </a:solidFill>
              </a:rPr>
              <a:t>거절이유에</a:t>
            </a:r>
            <a:r>
              <a:rPr lang="ko-KR" altLang="en-US" sz="1400" dirty="0">
                <a:solidFill>
                  <a:schemeClr val="tx2"/>
                </a:solidFill>
              </a:rPr>
              <a:t> 대하여 거절이유통지를 받은 경우</a:t>
            </a:r>
            <a:r>
              <a:rPr lang="en-US" altLang="ko-KR" sz="1400" dirty="0">
                <a:solidFill>
                  <a:schemeClr val="tx2"/>
                </a:solidFill>
              </a:rPr>
              <a:t>: </a:t>
            </a:r>
            <a:r>
              <a:rPr lang="ko-KR" altLang="en-US" sz="1400" dirty="0">
                <a:solidFill>
                  <a:schemeClr val="tx2"/>
                </a:solidFill>
              </a:rPr>
              <a:t>해당 거절이유통지에 따른 의견서 제출기간</a:t>
            </a:r>
          </a:p>
          <a:p>
            <a:pPr fontAlgn="base"/>
            <a:r>
              <a:rPr lang="en-US" altLang="ko-KR" sz="1400" dirty="0">
                <a:solidFill>
                  <a:schemeClr val="tx2"/>
                </a:solidFill>
              </a:rPr>
              <a:t>3. </a:t>
            </a:r>
            <a:r>
              <a:rPr lang="ko-KR" altLang="en-US" sz="1400" dirty="0">
                <a:solidFill>
                  <a:schemeClr val="tx2"/>
                </a:solidFill>
              </a:rPr>
              <a:t>제</a:t>
            </a:r>
            <a:r>
              <a:rPr lang="en-US" altLang="ko-KR" sz="1400" dirty="0">
                <a:solidFill>
                  <a:schemeClr val="tx2"/>
                </a:solidFill>
              </a:rPr>
              <a:t>67</a:t>
            </a:r>
            <a:r>
              <a:rPr lang="ko-KR" altLang="en-US" sz="1400" dirty="0">
                <a:solidFill>
                  <a:schemeClr val="tx2"/>
                </a:solidFill>
              </a:rPr>
              <a:t>조의</a:t>
            </a:r>
            <a:r>
              <a:rPr lang="en-US" altLang="ko-KR" sz="1400" dirty="0">
                <a:solidFill>
                  <a:schemeClr val="tx2"/>
                </a:solidFill>
              </a:rPr>
              <a:t>2</a:t>
            </a:r>
            <a:r>
              <a:rPr lang="ko-KR" altLang="en-US" sz="1400" dirty="0">
                <a:solidFill>
                  <a:schemeClr val="tx2"/>
                </a:solidFill>
              </a:rPr>
              <a:t>에 따른 재심사를 청구하는 경우</a:t>
            </a:r>
            <a:r>
              <a:rPr lang="en-US" altLang="ko-KR" sz="1400" dirty="0">
                <a:solidFill>
                  <a:schemeClr val="tx2"/>
                </a:solidFill>
              </a:rPr>
              <a:t>: </a:t>
            </a:r>
            <a:r>
              <a:rPr lang="ko-KR" altLang="en-US" sz="1400" dirty="0">
                <a:solidFill>
                  <a:schemeClr val="tx2"/>
                </a:solidFill>
              </a:rPr>
              <a:t>청구할 때</a:t>
            </a:r>
          </a:p>
        </p:txBody>
      </p:sp>
      <p:sp>
        <p:nvSpPr>
          <p:cNvPr id="77" name="Rectangle 14"/>
          <p:cNvSpPr>
            <a:spLocks noChangeArrowheads="1"/>
          </p:cNvSpPr>
          <p:nvPr/>
        </p:nvSpPr>
        <p:spPr bwMode="auto">
          <a:xfrm>
            <a:off x="1170799" y="5861429"/>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출원</a:t>
            </a:r>
            <a:endParaRPr lang="ko-KR" altLang="en-US" sz="1200" b="0" dirty="0">
              <a:latin typeface="+mj-ea"/>
              <a:ea typeface="+mj-ea"/>
            </a:endParaRPr>
          </a:p>
        </p:txBody>
      </p:sp>
      <p:sp>
        <p:nvSpPr>
          <p:cNvPr id="80" name="Rectangle 14"/>
          <p:cNvSpPr>
            <a:spLocks noChangeArrowheads="1"/>
          </p:cNvSpPr>
          <p:nvPr/>
        </p:nvSpPr>
        <p:spPr bwMode="auto">
          <a:xfrm>
            <a:off x="2932213" y="5861429"/>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a:latin typeface="+mj-ea"/>
                <a:ea typeface="+mj-ea"/>
              </a:rPr>
              <a:t>최초</a:t>
            </a:r>
            <a:r>
              <a:rPr lang="en-US" altLang="ko-KR" sz="1200" dirty="0">
                <a:latin typeface="+mj-ea"/>
                <a:ea typeface="+mj-ea"/>
              </a:rPr>
              <a:t>OA</a:t>
            </a:r>
            <a:endParaRPr lang="ko-KR" altLang="en-US" sz="1200" b="0" dirty="0">
              <a:latin typeface="+mj-ea"/>
              <a:ea typeface="+mj-ea"/>
            </a:endParaRPr>
          </a:p>
        </p:txBody>
      </p:sp>
      <p:sp>
        <p:nvSpPr>
          <p:cNvPr id="81" name="Rectangle 14"/>
          <p:cNvSpPr>
            <a:spLocks noChangeArrowheads="1"/>
          </p:cNvSpPr>
          <p:nvPr/>
        </p:nvSpPr>
        <p:spPr bwMode="auto">
          <a:xfrm>
            <a:off x="5273857" y="5861429"/>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a:latin typeface="+mj-ea"/>
                <a:ea typeface="+mj-ea"/>
              </a:rPr>
              <a:t>최후</a:t>
            </a:r>
            <a:r>
              <a:rPr lang="en-US" altLang="ko-KR" sz="1200" dirty="0">
                <a:latin typeface="+mj-ea"/>
                <a:ea typeface="+mj-ea"/>
              </a:rPr>
              <a:t>OA</a:t>
            </a:r>
            <a:endParaRPr lang="ko-KR" altLang="en-US" sz="1200" b="0" dirty="0">
              <a:latin typeface="+mj-ea"/>
              <a:ea typeface="+mj-ea"/>
            </a:endParaRPr>
          </a:p>
        </p:txBody>
      </p:sp>
      <p:sp>
        <p:nvSpPr>
          <p:cNvPr id="82" name="Rectangle 14"/>
          <p:cNvSpPr>
            <a:spLocks noChangeArrowheads="1"/>
          </p:cNvSpPr>
          <p:nvPr/>
        </p:nvSpPr>
        <p:spPr bwMode="auto">
          <a:xfrm>
            <a:off x="7337094" y="5861429"/>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거절결정</a:t>
            </a:r>
            <a:endParaRPr lang="ko-KR" altLang="en-US" sz="1200" b="0" dirty="0">
              <a:latin typeface="+mj-ea"/>
              <a:ea typeface="+mj-ea"/>
            </a:endParaRPr>
          </a:p>
        </p:txBody>
      </p:sp>
      <p:sp>
        <p:nvSpPr>
          <p:cNvPr id="83" name="Rectangle 14"/>
          <p:cNvSpPr>
            <a:spLocks noChangeArrowheads="1"/>
          </p:cNvSpPr>
          <p:nvPr/>
        </p:nvSpPr>
        <p:spPr bwMode="auto">
          <a:xfrm>
            <a:off x="9474077" y="5861429"/>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재심사청구</a:t>
            </a:r>
            <a:endParaRPr lang="ko-KR" altLang="en-US" sz="1200" b="0" dirty="0">
              <a:latin typeface="+mj-ea"/>
              <a:ea typeface="+mj-ea"/>
            </a:endParaRPr>
          </a:p>
        </p:txBody>
      </p:sp>
      <p:sp>
        <p:nvSpPr>
          <p:cNvPr id="87" name="TextBox 86"/>
          <p:cNvSpPr txBox="1"/>
          <p:nvPr/>
        </p:nvSpPr>
        <p:spPr>
          <a:xfrm>
            <a:off x="3819470" y="5600577"/>
            <a:ext cx="915636" cy="415498"/>
          </a:xfrm>
          <a:prstGeom prst="rect">
            <a:avLst/>
          </a:prstGeom>
          <a:noFill/>
        </p:spPr>
        <p:txBody>
          <a:bodyPr wrap="none" rtlCol="0">
            <a:spAutoFit/>
          </a:bodyPr>
          <a:lstStyle/>
          <a:p>
            <a:pPr algn="ctr"/>
            <a:r>
              <a:rPr lang="ko-KR" altLang="en-US" sz="1050" dirty="0">
                <a:solidFill>
                  <a:schemeClr val="bg1">
                    <a:lumMod val="50000"/>
                  </a:schemeClr>
                </a:solidFill>
              </a:rPr>
              <a:t>의견제출기간</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en-US" altLang="ko-KR" sz="1050" dirty="0">
                <a:solidFill>
                  <a:srgbClr val="FF0000"/>
                </a:solidFill>
              </a:rPr>
              <a:t>4</a:t>
            </a:r>
            <a:r>
              <a:rPr lang="ko-KR" altLang="en-US" sz="1050" dirty="0">
                <a:solidFill>
                  <a:srgbClr val="FF0000"/>
                </a:solidFill>
              </a:rPr>
              <a:t>개월</a:t>
            </a:r>
            <a:r>
              <a:rPr lang="ko-KR" altLang="en-US" sz="1050" dirty="0">
                <a:solidFill>
                  <a:schemeClr val="bg1">
                    <a:lumMod val="50000"/>
                  </a:schemeClr>
                </a:solidFill>
              </a:rPr>
              <a:t> 이내</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90" name="TextBox 89"/>
          <p:cNvSpPr txBox="1"/>
          <p:nvPr/>
        </p:nvSpPr>
        <p:spPr>
          <a:xfrm>
            <a:off x="6145561" y="5612769"/>
            <a:ext cx="915636" cy="415498"/>
          </a:xfrm>
          <a:prstGeom prst="rect">
            <a:avLst/>
          </a:prstGeom>
          <a:noFill/>
        </p:spPr>
        <p:txBody>
          <a:bodyPr wrap="none" rtlCol="0">
            <a:spAutoFit/>
          </a:bodyPr>
          <a:lstStyle/>
          <a:p>
            <a:pPr algn="ctr"/>
            <a:r>
              <a:rPr lang="ko-KR" altLang="en-US" sz="1050" dirty="0">
                <a:solidFill>
                  <a:schemeClr val="bg1">
                    <a:lumMod val="50000"/>
                  </a:schemeClr>
                </a:solidFill>
              </a:rPr>
              <a:t>의견제출기간</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en-US" altLang="ko-KR" sz="1050" dirty="0">
                <a:solidFill>
                  <a:srgbClr val="FF0000"/>
                </a:solidFill>
              </a:rPr>
              <a:t>4</a:t>
            </a:r>
            <a:r>
              <a:rPr lang="ko-KR" altLang="en-US" sz="1050" dirty="0">
                <a:solidFill>
                  <a:srgbClr val="FF0000"/>
                </a:solidFill>
              </a:rPr>
              <a:t>개월</a:t>
            </a:r>
            <a:r>
              <a:rPr lang="ko-KR" altLang="en-US" sz="1050" dirty="0">
                <a:solidFill>
                  <a:schemeClr val="bg1">
                    <a:lumMod val="50000"/>
                  </a:schemeClr>
                </a:solidFill>
              </a:rPr>
              <a:t> 이내</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91" name="TextBox 90"/>
          <p:cNvSpPr txBox="1"/>
          <p:nvPr/>
        </p:nvSpPr>
        <p:spPr>
          <a:xfrm>
            <a:off x="1850736" y="5191696"/>
            <a:ext cx="1266693"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항본문</a:t>
            </a:r>
            <a:endParaRPr lang="ko-KR" altLang="en-US" sz="1200" dirty="0"/>
          </a:p>
        </p:txBody>
      </p:sp>
      <p:sp>
        <p:nvSpPr>
          <p:cNvPr id="93" name="TextBox 92"/>
          <p:cNvSpPr txBox="1"/>
          <p:nvPr/>
        </p:nvSpPr>
        <p:spPr>
          <a:xfrm>
            <a:off x="3483255" y="5191696"/>
            <a:ext cx="1351652"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항제</a:t>
            </a:r>
            <a:r>
              <a:rPr lang="en-US" altLang="ko-KR" sz="1200" dirty="0"/>
              <a:t>1</a:t>
            </a:r>
            <a:r>
              <a:rPr lang="ko-KR" altLang="en-US" sz="1200" dirty="0"/>
              <a:t>호</a:t>
            </a:r>
          </a:p>
        </p:txBody>
      </p:sp>
      <p:sp>
        <p:nvSpPr>
          <p:cNvPr id="94" name="TextBox 93"/>
          <p:cNvSpPr txBox="1"/>
          <p:nvPr/>
        </p:nvSpPr>
        <p:spPr>
          <a:xfrm>
            <a:off x="5789038" y="5191696"/>
            <a:ext cx="1351652"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항제</a:t>
            </a:r>
            <a:r>
              <a:rPr lang="en-US" altLang="ko-KR" sz="1200" dirty="0"/>
              <a:t>2</a:t>
            </a:r>
            <a:r>
              <a:rPr lang="ko-KR" altLang="en-US" sz="1200" dirty="0"/>
              <a:t>호</a:t>
            </a:r>
          </a:p>
        </p:txBody>
      </p:sp>
      <p:sp>
        <p:nvSpPr>
          <p:cNvPr id="95" name="TextBox 94"/>
          <p:cNvSpPr txBox="1"/>
          <p:nvPr/>
        </p:nvSpPr>
        <p:spPr>
          <a:xfrm>
            <a:off x="9219375" y="5468988"/>
            <a:ext cx="1351652"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항제</a:t>
            </a:r>
            <a:r>
              <a:rPr lang="en-US" altLang="ko-KR" sz="1200" dirty="0"/>
              <a:t>3</a:t>
            </a:r>
            <a:r>
              <a:rPr lang="ko-KR" altLang="en-US" sz="1200" dirty="0"/>
              <a:t>호</a:t>
            </a:r>
          </a:p>
        </p:txBody>
      </p:sp>
      <p:sp>
        <p:nvSpPr>
          <p:cNvPr id="97" name="자유형 96"/>
          <p:cNvSpPr/>
          <p:nvPr/>
        </p:nvSpPr>
        <p:spPr>
          <a:xfrm>
            <a:off x="8686800" y="5375272"/>
            <a:ext cx="2209800" cy="660400"/>
          </a:xfrm>
          <a:custGeom>
            <a:avLst/>
            <a:gdLst>
              <a:gd name="connsiteX0" fmla="*/ 0 w 2091267"/>
              <a:gd name="connsiteY0" fmla="*/ 660400 h 660400"/>
              <a:gd name="connsiteX1" fmla="*/ 0 w 2091267"/>
              <a:gd name="connsiteY1" fmla="*/ 0 h 660400"/>
              <a:gd name="connsiteX2" fmla="*/ 2091267 w 2091267"/>
              <a:gd name="connsiteY2" fmla="*/ 0 h 660400"/>
              <a:gd name="connsiteX3" fmla="*/ 2091267 w 2091267"/>
              <a:gd name="connsiteY3" fmla="*/ 626533 h 660400"/>
            </a:gdLst>
            <a:ahLst/>
            <a:cxnLst>
              <a:cxn ang="0">
                <a:pos x="connsiteX0" y="connsiteY0"/>
              </a:cxn>
              <a:cxn ang="0">
                <a:pos x="connsiteX1" y="connsiteY1"/>
              </a:cxn>
              <a:cxn ang="0">
                <a:pos x="connsiteX2" y="connsiteY2"/>
              </a:cxn>
              <a:cxn ang="0">
                <a:pos x="connsiteX3" y="connsiteY3"/>
              </a:cxn>
            </a:cxnLst>
            <a:rect l="l" t="t" r="r" b="b"/>
            <a:pathLst>
              <a:path w="2091267" h="660400">
                <a:moveTo>
                  <a:pt x="0" y="660400"/>
                </a:moveTo>
                <a:lnTo>
                  <a:pt x="0" y="0"/>
                </a:lnTo>
                <a:lnTo>
                  <a:pt x="2091267" y="0"/>
                </a:lnTo>
                <a:lnTo>
                  <a:pt x="2091267" y="626533"/>
                </a:lnTo>
              </a:path>
            </a:pathLst>
          </a:custGeom>
          <a:ln w="28575">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98" name="TextBox 97"/>
          <p:cNvSpPr txBox="1"/>
          <p:nvPr/>
        </p:nvSpPr>
        <p:spPr>
          <a:xfrm>
            <a:off x="9345981" y="5098273"/>
            <a:ext cx="864339" cy="276999"/>
          </a:xfrm>
          <a:prstGeom prst="rect">
            <a:avLst/>
          </a:prstGeom>
          <a:noFill/>
        </p:spPr>
        <p:txBody>
          <a:bodyPr wrap="none" rtlCol="0">
            <a:spAutoFit/>
          </a:bodyPr>
          <a:lstStyle/>
          <a:p>
            <a:r>
              <a:rPr lang="en-US" altLang="ko-KR" sz="1200" dirty="0">
                <a:solidFill>
                  <a:srgbClr val="FF0000"/>
                </a:solidFill>
              </a:rPr>
              <a:t>3</a:t>
            </a:r>
            <a:r>
              <a:rPr lang="ko-KR" altLang="en-US" sz="1200" dirty="0">
                <a:solidFill>
                  <a:srgbClr val="FF0000"/>
                </a:solidFill>
              </a:rPr>
              <a:t>개월 </a:t>
            </a:r>
            <a:r>
              <a:rPr lang="ko-KR" altLang="en-US" sz="1200" dirty="0"/>
              <a:t>이내</a:t>
            </a:r>
          </a:p>
        </p:txBody>
      </p:sp>
      <p:sp>
        <p:nvSpPr>
          <p:cNvPr id="100" name="Rectangle 14"/>
          <p:cNvSpPr>
            <a:spLocks noChangeArrowheads="1"/>
          </p:cNvSpPr>
          <p:nvPr/>
        </p:nvSpPr>
        <p:spPr bwMode="auto">
          <a:xfrm>
            <a:off x="8278619" y="5861429"/>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err="1">
                <a:latin typeface="+mj-ea"/>
                <a:ea typeface="+mj-ea"/>
              </a:rPr>
              <a:t>등본송달</a:t>
            </a:r>
            <a:endParaRPr lang="ko-KR" altLang="en-US" sz="1200" b="0" dirty="0">
              <a:latin typeface="+mj-ea"/>
              <a:ea typeface="+mj-ea"/>
            </a:endParaRPr>
          </a:p>
        </p:txBody>
      </p:sp>
      <p:cxnSp>
        <p:nvCxnSpPr>
          <p:cNvPr id="103" name="직선 연결선 102"/>
          <p:cNvCxnSpPr/>
          <p:nvPr/>
        </p:nvCxnSpPr>
        <p:spPr>
          <a:xfrm flipH="1" flipV="1">
            <a:off x="280574" y="4753786"/>
            <a:ext cx="11539951" cy="952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 name="양쪽 모서리가 둥근 사각형 103"/>
          <p:cNvSpPr/>
          <p:nvPr/>
        </p:nvSpPr>
        <p:spPr>
          <a:xfrm>
            <a:off x="1551836" y="3279601"/>
            <a:ext cx="7134963" cy="496762"/>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1" name="직선 화살표 연결선 110"/>
          <p:cNvCxnSpPr/>
          <p:nvPr/>
        </p:nvCxnSpPr>
        <p:spPr>
          <a:xfrm>
            <a:off x="963064" y="3771988"/>
            <a:ext cx="10308186"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3" name="Rectangle 14"/>
          <p:cNvSpPr>
            <a:spLocks noChangeArrowheads="1"/>
          </p:cNvSpPr>
          <p:nvPr/>
        </p:nvSpPr>
        <p:spPr bwMode="auto">
          <a:xfrm>
            <a:off x="1170799" y="3597745"/>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출원</a:t>
            </a:r>
            <a:endParaRPr lang="ko-KR" altLang="en-US" sz="1200" b="0" dirty="0">
              <a:latin typeface="+mj-ea"/>
              <a:ea typeface="+mj-ea"/>
            </a:endParaRPr>
          </a:p>
        </p:txBody>
      </p:sp>
      <p:sp>
        <p:nvSpPr>
          <p:cNvPr id="116" name="Rectangle 14"/>
          <p:cNvSpPr>
            <a:spLocks noChangeArrowheads="1"/>
          </p:cNvSpPr>
          <p:nvPr/>
        </p:nvSpPr>
        <p:spPr bwMode="auto">
          <a:xfrm>
            <a:off x="7337094" y="3597745"/>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err="1">
                <a:latin typeface="+mj-ea"/>
                <a:ea typeface="+mj-ea"/>
              </a:rPr>
              <a:t>특허결정</a:t>
            </a:r>
            <a:endParaRPr lang="ko-KR" altLang="en-US" sz="1200" b="0" dirty="0">
              <a:latin typeface="+mj-ea"/>
              <a:ea typeface="+mj-ea"/>
            </a:endParaRPr>
          </a:p>
        </p:txBody>
      </p:sp>
      <p:sp>
        <p:nvSpPr>
          <p:cNvPr id="120" name="TextBox 119"/>
          <p:cNvSpPr txBox="1"/>
          <p:nvPr/>
        </p:nvSpPr>
        <p:spPr>
          <a:xfrm>
            <a:off x="3938653" y="2975444"/>
            <a:ext cx="1266693"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항본문</a:t>
            </a:r>
            <a:endParaRPr lang="ko-KR" altLang="en-US" sz="1200" dirty="0"/>
          </a:p>
        </p:txBody>
      </p:sp>
      <p:sp>
        <p:nvSpPr>
          <p:cNvPr id="126" name="Rectangle 14"/>
          <p:cNvSpPr>
            <a:spLocks noChangeArrowheads="1"/>
          </p:cNvSpPr>
          <p:nvPr/>
        </p:nvSpPr>
        <p:spPr bwMode="auto">
          <a:xfrm>
            <a:off x="8278619" y="3597745"/>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err="1">
                <a:latin typeface="+mj-ea"/>
                <a:ea typeface="+mj-ea"/>
              </a:rPr>
              <a:t>등본송달</a:t>
            </a:r>
            <a:endParaRPr lang="ko-KR" altLang="en-US" sz="1200" b="0" dirty="0">
              <a:latin typeface="+mj-ea"/>
              <a:ea typeface="+mj-ea"/>
            </a:endParaRPr>
          </a:p>
        </p:txBody>
      </p:sp>
      <p:sp>
        <p:nvSpPr>
          <p:cNvPr id="5" name="슬라이드 번호 개체 틀 4"/>
          <p:cNvSpPr>
            <a:spLocks noGrp="1"/>
          </p:cNvSpPr>
          <p:nvPr>
            <p:ph type="sldNum" sz="quarter" idx="12"/>
          </p:nvPr>
        </p:nvSpPr>
        <p:spPr/>
        <p:txBody>
          <a:bodyPr/>
          <a:lstStyle/>
          <a:p>
            <a:r>
              <a:rPr lang="en-US" altLang="ko-KR"/>
              <a:t>170</a:t>
            </a:r>
            <a:endParaRPr lang="ko-KR" altLang="en-US"/>
          </a:p>
        </p:txBody>
      </p:sp>
    </p:spTree>
    <p:extLst>
      <p:ext uri="{BB962C8B-B14F-4D97-AF65-F5344CB8AC3E}">
        <p14:creationId xmlns:p14="http://schemas.microsoft.com/office/powerpoint/2010/main" val="1285436252"/>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lstStyle/>
          <a:p>
            <a:r>
              <a:rPr lang="ko-KR" altLang="en-US" dirty="0"/>
              <a:t>신규사항추가의 구체적인 </a:t>
            </a:r>
            <a:r>
              <a:rPr lang="en-US" altLang="ko-KR" dirty="0"/>
              <a:t>CASE(</a:t>
            </a:r>
            <a:r>
              <a:rPr lang="ko-KR" altLang="en-US" dirty="0"/>
              <a:t>제</a:t>
            </a:r>
            <a:r>
              <a:rPr lang="en-US" altLang="ko-KR" dirty="0"/>
              <a:t>47</a:t>
            </a:r>
            <a:r>
              <a:rPr lang="ko-KR" altLang="en-US" dirty="0"/>
              <a:t>조제</a:t>
            </a:r>
            <a:r>
              <a:rPr lang="en-US" altLang="ko-KR" dirty="0"/>
              <a:t>2</a:t>
            </a:r>
            <a:r>
              <a:rPr lang="ko-KR" altLang="en-US" dirty="0"/>
              <a:t>항</a:t>
            </a:r>
            <a:r>
              <a:rPr lang="en-US" altLang="ko-KR" dirty="0"/>
              <a:t>)</a:t>
            </a:r>
            <a:endParaRPr lang="ko-KR" altLang="en-US" dirty="0"/>
          </a:p>
        </p:txBody>
      </p:sp>
      <p:sp>
        <p:nvSpPr>
          <p:cNvPr id="6" name="슬라이드 번호 개체 틀 5"/>
          <p:cNvSpPr>
            <a:spLocks noGrp="1"/>
          </p:cNvSpPr>
          <p:nvPr>
            <p:ph type="sldNum" sz="quarter" idx="4294967295"/>
          </p:nvPr>
        </p:nvSpPr>
        <p:spPr>
          <a:xfrm>
            <a:off x="11144250" y="3175"/>
            <a:ext cx="1047750" cy="714375"/>
          </a:xfrm>
        </p:spPr>
        <p:txBody>
          <a:bodyPr/>
          <a:lstStyle/>
          <a:p>
            <a:r>
              <a:rPr lang="en-US" altLang="ko-KR"/>
              <a:t>171</a:t>
            </a:r>
            <a:endParaRPr lang="ko-KR" altLang="en-US"/>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11" name="자유형: 도형 10">
            <a:extLst>
              <a:ext uri="{FF2B5EF4-FFF2-40B4-BE49-F238E27FC236}">
                <a16:creationId xmlns:a16="http://schemas.microsoft.com/office/drawing/2014/main" id="{DDC8074D-BBF3-41FB-9224-0E23C4ED74F0}"/>
              </a:ext>
            </a:extLst>
          </p:cNvPr>
          <p:cNvSpPr/>
          <p:nvPr/>
        </p:nvSpPr>
        <p:spPr>
          <a:xfrm>
            <a:off x="404349" y="945953"/>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lnSpc>
                <a:spcPct val="150000"/>
              </a:lnSpc>
              <a:spcBef>
                <a:spcPct val="0"/>
              </a:spcBef>
              <a:spcAft>
                <a:spcPct val="35000"/>
              </a:spcAft>
              <a:buNone/>
            </a:pPr>
            <a:r>
              <a:rPr lang="ko-KR" altLang="en-US" sz="1250" kern="1200" dirty="0">
                <a:solidFill>
                  <a:schemeClr val="tx2"/>
                </a:solidFill>
                <a:latin typeface="+mn-ea"/>
              </a:rPr>
              <a:t>①</a:t>
            </a:r>
            <a:r>
              <a:rPr lang="ko-KR" altLang="en-US" sz="1250" kern="1200" dirty="0">
                <a:solidFill>
                  <a:srgbClr val="FF0000"/>
                </a:solidFill>
                <a:latin typeface="+mn-ea"/>
              </a:rPr>
              <a:t> 우선권주장의 기초가 된 제</a:t>
            </a:r>
            <a:r>
              <a:rPr lang="en-US" altLang="ko-KR" sz="1250" kern="1200" dirty="0">
                <a:solidFill>
                  <a:srgbClr val="FF0000"/>
                </a:solidFill>
                <a:latin typeface="+mn-ea"/>
              </a:rPr>
              <a:t>1</a:t>
            </a:r>
            <a:r>
              <a:rPr lang="ko-KR" altLang="en-US" sz="1250" kern="1200" dirty="0">
                <a:solidFill>
                  <a:srgbClr val="FF0000"/>
                </a:solidFill>
                <a:latin typeface="+mn-ea"/>
              </a:rPr>
              <a:t>국 출원 또는 선출원</a:t>
            </a:r>
            <a:r>
              <a:rPr lang="ko-KR" altLang="en-US" sz="1250" kern="1200" dirty="0">
                <a:solidFill>
                  <a:schemeClr val="tx2"/>
                </a:solidFill>
                <a:latin typeface="+mn-ea"/>
              </a:rPr>
              <a:t>은 </a:t>
            </a:r>
            <a:r>
              <a:rPr lang="ko-KR" altLang="en-US" sz="1250" kern="1200" dirty="0" err="1">
                <a:solidFill>
                  <a:schemeClr val="tx2"/>
                </a:solidFill>
                <a:latin typeface="+mn-ea"/>
              </a:rPr>
              <a:t>특허출원서에</a:t>
            </a:r>
            <a:r>
              <a:rPr lang="ko-KR" altLang="en-US" sz="1250" kern="1200" dirty="0">
                <a:solidFill>
                  <a:schemeClr val="tx2"/>
                </a:solidFill>
                <a:latin typeface="+mn-ea"/>
              </a:rPr>
              <a:t> 최초로 첨부한 명세서 또는 도면에 해당되지 않으므로 신규사항의 추가 여부 판단의 기초로 사용할 수 없다</a:t>
            </a:r>
            <a:r>
              <a:rPr lang="en-US" altLang="ko-KR" sz="1250" kern="1200" dirty="0">
                <a:solidFill>
                  <a:schemeClr val="tx2"/>
                </a:solidFill>
                <a:latin typeface="+mn-ea"/>
              </a:rPr>
              <a:t>.</a:t>
            </a:r>
            <a:endParaRPr lang="ko-KR" altLang="en-US" sz="1250" kern="1200" dirty="0"/>
          </a:p>
        </p:txBody>
      </p:sp>
      <p:sp>
        <p:nvSpPr>
          <p:cNvPr id="12" name="직선 연결선 11">
            <a:extLst>
              <a:ext uri="{FF2B5EF4-FFF2-40B4-BE49-F238E27FC236}">
                <a16:creationId xmlns:a16="http://schemas.microsoft.com/office/drawing/2014/main" id="{01D68D92-877A-4F6F-A1FD-727BA033CDFA}"/>
              </a:ext>
            </a:extLst>
          </p:cNvPr>
          <p:cNvSpPr/>
          <p:nvPr/>
        </p:nvSpPr>
        <p:spPr>
          <a:xfrm>
            <a:off x="184731" y="1266620"/>
            <a:ext cx="11712977" cy="0"/>
          </a:xfrm>
          <a:prstGeom prst="line">
            <a:avLst/>
          </a:prstGeom>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13" name="자유형: 도형 12">
            <a:extLst>
              <a:ext uri="{FF2B5EF4-FFF2-40B4-BE49-F238E27FC236}">
                <a16:creationId xmlns:a16="http://schemas.microsoft.com/office/drawing/2014/main" id="{CFBA4F2A-B0F0-4EAC-9FF1-1B1E9B033DC8}"/>
              </a:ext>
            </a:extLst>
          </p:cNvPr>
          <p:cNvSpPr/>
          <p:nvPr/>
        </p:nvSpPr>
        <p:spPr>
          <a:xfrm>
            <a:off x="404349" y="1256379"/>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lnSpc>
                <a:spcPct val="150000"/>
              </a:lnSpc>
              <a:spcBef>
                <a:spcPct val="0"/>
              </a:spcBef>
              <a:spcAft>
                <a:spcPct val="35000"/>
              </a:spcAft>
              <a:buNone/>
            </a:pPr>
            <a:r>
              <a:rPr lang="en-US" altLang="ko-KR" sz="1250" kern="1200" dirty="0">
                <a:solidFill>
                  <a:schemeClr val="tx2"/>
                </a:solidFill>
                <a:latin typeface="+mn-ea"/>
              </a:rPr>
              <a:t>② </a:t>
            </a:r>
            <a:r>
              <a:rPr lang="ko-KR" altLang="en-US" sz="1250" kern="1200" dirty="0">
                <a:solidFill>
                  <a:srgbClr val="FF0000"/>
                </a:solidFill>
                <a:latin typeface="+mn-ea"/>
              </a:rPr>
              <a:t>요약서</a:t>
            </a:r>
            <a:r>
              <a:rPr lang="ko-KR" altLang="en-US" sz="1250" kern="1200" dirty="0">
                <a:solidFill>
                  <a:schemeClr val="tx2"/>
                </a:solidFill>
                <a:latin typeface="+mn-ea"/>
              </a:rPr>
              <a:t>는 명세서 또는 도면에 해당하지 않으므로 신규사항 추가 여부를 판단하는 기준이 되는 최초 명세서 등에 포함되지 아니한다</a:t>
            </a:r>
            <a:r>
              <a:rPr lang="en-US" altLang="ko-KR" sz="1250" kern="1200" dirty="0">
                <a:solidFill>
                  <a:schemeClr val="tx2"/>
                </a:solidFill>
                <a:latin typeface="+mn-ea"/>
              </a:rPr>
              <a:t>.</a:t>
            </a:r>
          </a:p>
        </p:txBody>
      </p:sp>
      <p:sp>
        <p:nvSpPr>
          <p:cNvPr id="14" name="직선 연결선 13">
            <a:extLst>
              <a:ext uri="{FF2B5EF4-FFF2-40B4-BE49-F238E27FC236}">
                <a16:creationId xmlns:a16="http://schemas.microsoft.com/office/drawing/2014/main" id="{1C0F945F-48EF-4C68-B3CF-D4F1DA7BFC79}"/>
              </a:ext>
            </a:extLst>
          </p:cNvPr>
          <p:cNvSpPr/>
          <p:nvPr/>
        </p:nvSpPr>
        <p:spPr>
          <a:xfrm>
            <a:off x="184731" y="1587557"/>
            <a:ext cx="11712977" cy="0"/>
          </a:xfrm>
          <a:prstGeom prst="line">
            <a:avLst/>
          </a:prstGeom>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15" name="자유형: 도형 14">
            <a:extLst>
              <a:ext uri="{FF2B5EF4-FFF2-40B4-BE49-F238E27FC236}">
                <a16:creationId xmlns:a16="http://schemas.microsoft.com/office/drawing/2014/main" id="{71B61FE3-2DF9-4B55-AA75-0B08588D120C}"/>
              </a:ext>
            </a:extLst>
          </p:cNvPr>
          <p:cNvSpPr/>
          <p:nvPr/>
        </p:nvSpPr>
        <p:spPr>
          <a:xfrm>
            <a:off x="404349" y="1566796"/>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lnSpc>
                <a:spcPct val="150000"/>
              </a:lnSpc>
              <a:spcBef>
                <a:spcPct val="0"/>
              </a:spcBef>
              <a:spcAft>
                <a:spcPct val="35000"/>
              </a:spcAft>
              <a:buNone/>
            </a:pPr>
            <a:r>
              <a:rPr lang="en-US" altLang="ko-KR" sz="1250" kern="1200" dirty="0">
                <a:solidFill>
                  <a:schemeClr val="tx2"/>
                </a:solidFill>
                <a:latin typeface="+mn-ea"/>
              </a:rPr>
              <a:t>③ </a:t>
            </a:r>
            <a:r>
              <a:rPr lang="ko-KR" altLang="en-US" sz="1250" kern="1200" dirty="0">
                <a:solidFill>
                  <a:srgbClr val="FF0000"/>
                </a:solidFill>
                <a:latin typeface="+mn-ea"/>
              </a:rPr>
              <a:t>미완성발명을 완성시키는 보정</a:t>
            </a:r>
            <a:r>
              <a:rPr lang="ko-KR" altLang="en-US" sz="1250" kern="1200" dirty="0">
                <a:solidFill>
                  <a:schemeClr val="tx2"/>
                </a:solidFill>
                <a:latin typeface="+mn-ea"/>
              </a:rPr>
              <a:t>을 한 경우 그 보정은 신규사항을 추가한 것으로 된다</a:t>
            </a:r>
            <a:r>
              <a:rPr lang="en-US" altLang="ko-KR" sz="1250" kern="1200" dirty="0">
                <a:solidFill>
                  <a:schemeClr val="tx2"/>
                </a:solidFill>
                <a:latin typeface="+mn-ea"/>
              </a:rPr>
              <a:t>.</a:t>
            </a:r>
          </a:p>
        </p:txBody>
      </p:sp>
      <p:sp>
        <p:nvSpPr>
          <p:cNvPr id="16" name="직선 연결선 15">
            <a:extLst>
              <a:ext uri="{FF2B5EF4-FFF2-40B4-BE49-F238E27FC236}">
                <a16:creationId xmlns:a16="http://schemas.microsoft.com/office/drawing/2014/main" id="{DA8E1DB0-F24F-4F1E-9D56-074CBA208705}"/>
              </a:ext>
            </a:extLst>
          </p:cNvPr>
          <p:cNvSpPr/>
          <p:nvPr/>
        </p:nvSpPr>
        <p:spPr>
          <a:xfrm>
            <a:off x="184731" y="1897977"/>
            <a:ext cx="11712977" cy="0"/>
          </a:xfrm>
          <a:prstGeom prst="line">
            <a:avLst/>
          </a:prstGeom>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17" name="자유형: 도형 16">
            <a:extLst>
              <a:ext uri="{FF2B5EF4-FFF2-40B4-BE49-F238E27FC236}">
                <a16:creationId xmlns:a16="http://schemas.microsoft.com/office/drawing/2014/main" id="{239BEDD9-1F1F-4AE1-A31D-206E33729663}"/>
              </a:ext>
            </a:extLst>
          </p:cNvPr>
          <p:cNvSpPr/>
          <p:nvPr/>
        </p:nvSpPr>
        <p:spPr>
          <a:xfrm>
            <a:off x="404349" y="1898241"/>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spcBef>
                <a:spcPct val="0"/>
              </a:spcBef>
              <a:spcAft>
                <a:spcPct val="35000"/>
              </a:spcAft>
              <a:buNone/>
            </a:pPr>
            <a:r>
              <a:rPr lang="en-US" altLang="ko-KR" sz="1250" kern="1200" dirty="0">
                <a:solidFill>
                  <a:schemeClr val="tx2"/>
                </a:solidFill>
                <a:latin typeface="+mn-ea"/>
              </a:rPr>
              <a:t>④ </a:t>
            </a:r>
            <a:r>
              <a:rPr lang="ko-KR" altLang="en-US" sz="1250" kern="1200" dirty="0">
                <a:solidFill>
                  <a:srgbClr val="FF0000"/>
                </a:solidFill>
                <a:latin typeface="+mn-ea"/>
              </a:rPr>
              <a:t>상위개념을 하위개념으로 보정</a:t>
            </a:r>
            <a:r>
              <a:rPr lang="ko-KR" altLang="en-US" sz="1250" kern="1200" dirty="0">
                <a:solidFill>
                  <a:schemeClr val="tx2"/>
                </a:solidFill>
                <a:latin typeface="+mn-ea"/>
              </a:rPr>
              <a:t>하여 범위를 축소하였더라도</a:t>
            </a:r>
            <a:r>
              <a:rPr lang="en-US" altLang="ko-KR" sz="1250" kern="1200" dirty="0">
                <a:solidFill>
                  <a:schemeClr val="tx2"/>
                </a:solidFill>
                <a:latin typeface="+mn-ea"/>
              </a:rPr>
              <a:t>(</a:t>
            </a:r>
            <a:r>
              <a:rPr lang="ko-KR" altLang="en-US" sz="1250" kern="1200" dirty="0">
                <a:solidFill>
                  <a:schemeClr val="tx2"/>
                </a:solidFill>
                <a:latin typeface="+mn-ea"/>
              </a:rPr>
              <a:t>재질이나 용도한정의 경우 포함</a:t>
            </a:r>
            <a:r>
              <a:rPr lang="en-US" altLang="ko-KR" sz="1250" kern="1200" dirty="0">
                <a:solidFill>
                  <a:schemeClr val="tx2"/>
                </a:solidFill>
                <a:latin typeface="+mn-ea"/>
              </a:rPr>
              <a:t>), </a:t>
            </a:r>
            <a:r>
              <a:rPr lang="ko-KR" altLang="en-US" sz="1250" kern="1200" dirty="0">
                <a:solidFill>
                  <a:schemeClr val="tx2"/>
                </a:solidFill>
                <a:latin typeface="+mn-ea"/>
              </a:rPr>
              <a:t>최초 명세서 등에 그 하위개념이 개시되어 있거나</a:t>
            </a:r>
            <a:r>
              <a:rPr lang="en-US" altLang="ko-KR" sz="1250" kern="1200" dirty="0">
                <a:solidFill>
                  <a:schemeClr val="tx2"/>
                </a:solidFill>
                <a:latin typeface="+mn-ea"/>
              </a:rPr>
              <a:t>, </a:t>
            </a:r>
            <a:r>
              <a:rPr lang="ko-KR" altLang="en-US" sz="1250" kern="1200" dirty="0">
                <a:solidFill>
                  <a:schemeClr val="tx2"/>
                </a:solidFill>
                <a:latin typeface="+mn-ea"/>
              </a:rPr>
              <a:t>출원 시의 기술상식을 참작하여 통상의 기술자에게 그러한 상위개념이라고 하면 보정된 하위개념으로 바로 인식될 정도가 아니면 신규사항 추가에 해당한다</a:t>
            </a:r>
            <a:r>
              <a:rPr lang="en-US" altLang="ko-KR" sz="1250" kern="1200" dirty="0">
                <a:solidFill>
                  <a:schemeClr val="tx2"/>
                </a:solidFill>
                <a:latin typeface="+mn-ea"/>
              </a:rPr>
              <a:t>.</a:t>
            </a:r>
          </a:p>
        </p:txBody>
      </p:sp>
      <p:sp>
        <p:nvSpPr>
          <p:cNvPr id="18" name="직선 연결선 17">
            <a:extLst>
              <a:ext uri="{FF2B5EF4-FFF2-40B4-BE49-F238E27FC236}">
                <a16:creationId xmlns:a16="http://schemas.microsoft.com/office/drawing/2014/main" id="{7D75678B-ED16-4FDF-AF80-4CA07ADC13DD}"/>
              </a:ext>
            </a:extLst>
          </p:cNvPr>
          <p:cNvSpPr/>
          <p:nvPr/>
        </p:nvSpPr>
        <p:spPr>
          <a:xfrm>
            <a:off x="184731" y="2355545"/>
            <a:ext cx="11712977" cy="0"/>
          </a:xfrm>
          <a:prstGeom prst="line">
            <a:avLst/>
          </a:prstGeom>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19" name="자유형: 도형 18">
            <a:extLst>
              <a:ext uri="{FF2B5EF4-FFF2-40B4-BE49-F238E27FC236}">
                <a16:creationId xmlns:a16="http://schemas.microsoft.com/office/drawing/2014/main" id="{E56A78D8-753F-41F1-8870-CF8A8907192A}"/>
              </a:ext>
            </a:extLst>
          </p:cNvPr>
          <p:cNvSpPr/>
          <p:nvPr/>
        </p:nvSpPr>
        <p:spPr>
          <a:xfrm>
            <a:off x="404349" y="2355810"/>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spcBef>
                <a:spcPct val="0"/>
              </a:spcBef>
              <a:spcAft>
                <a:spcPct val="35000"/>
              </a:spcAft>
              <a:buNone/>
            </a:pPr>
            <a:r>
              <a:rPr lang="en-US" altLang="ko-KR" sz="1250" kern="1200" dirty="0">
                <a:solidFill>
                  <a:schemeClr val="tx2"/>
                </a:solidFill>
                <a:latin typeface="+mn-ea"/>
              </a:rPr>
              <a:t>⑤ </a:t>
            </a:r>
            <a:r>
              <a:rPr lang="ko-KR" altLang="en-US" sz="1250" kern="1200" dirty="0">
                <a:solidFill>
                  <a:srgbClr val="FF0000"/>
                </a:solidFill>
                <a:latin typeface="+mn-ea"/>
              </a:rPr>
              <a:t>하위개념을 상위개념으로 보정</a:t>
            </a:r>
            <a:r>
              <a:rPr lang="ko-KR" altLang="en-US" sz="1250" kern="1200" dirty="0">
                <a:solidFill>
                  <a:schemeClr val="tx2"/>
                </a:solidFill>
                <a:latin typeface="+mn-ea"/>
              </a:rPr>
              <a:t>하는 경우</a:t>
            </a:r>
            <a:r>
              <a:rPr lang="en-US" altLang="ko-KR" sz="1250" kern="1200" dirty="0">
                <a:solidFill>
                  <a:schemeClr val="tx2"/>
                </a:solidFill>
                <a:latin typeface="+mn-ea"/>
              </a:rPr>
              <a:t>, </a:t>
            </a:r>
            <a:r>
              <a:rPr lang="ko-KR" altLang="en-US" sz="1250" kern="1200" dirty="0">
                <a:solidFill>
                  <a:schemeClr val="tx2"/>
                </a:solidFill>
                <a:latin typeface="+mn-ea"/>
              </a:rPr>
              <a:t>그 상위개념 중에 최초 명세서 등의 하위개념과 비교하여 발명의 효과 또는 과제해결 여부가 달라지는 부분이 포함되면 신규사항의 추가에 해당한다</a:t>
            </a:r>
            <a:r>
              <a:rPr lang="en-US" altLang="ko-KR" sz="1250" kern="1200" dirty="0">
                <a:solidFill>
                  <a:schemeClr val="tx2"/>
                </a:solidFill>
                <a:latin typeface="+mn-ea"/>
              </a:rPr>
              <a:t>. </a:t>
            </a:r>
            <a:r>
              <a:rPr lang="ko-KR" altLang="en-US" sz="1250" kern="1200" dirty="0">
                <a:solidFill>
                  <a:schemeClr val="tx2"/>
                </a:solidFill>
                <a:latin typeface="+mn-ea"/>
              </a:rPr>
              <a:t>일부 구성을 삭제하는 경우에도 그 삭제되는 구성이 최초 명세서 등에서 과제해결을 위하여 필수적인 것으로 기재된 것이라면 신규사항추가에 해당한다</a:t>
            </a:r>
            <a:r>
              <a:rPr lang="en-US" altLang="ko-KR" sz="1250" kern="1200" dirty="0">
                <a:solidFill>
                  <a:schemeClr val="tx2"/>
                </a:solidFill>
                <a:latin typeface="+mn-ea"/>
              </a:rPr>
              <a:t>. </a:t>
            </a:r>
            <a:r>
              <a:rPr lang="ko-KR" altLang="en-US" sz="1250" kern="1200" dirty="0">
                <a:solidFill>
                  <a:schemeClr val="tx2"/>
                </a:solidFill>
                <a:latin typeface="+mn-ea"/>
              </a:rPr>
              <a:t>다만</a:t>
            </a:r>
            <a:r>
              <a:rPr lang="en-US" altLang="ko-KR" sz="1250" kern="1200" dirty="0">
                <a:solidFill>
                  <a:schemeClr val="tx2"/>
                </a:solidFill>
                <a:latin typeface="+mn-ea"/>
              </a:rPr>
              <a:t>, </a:t>
            </a:r>
            <a:r>
              <a:rPr lang="ko-KR" altLang="en-US" sz="1250" kern="1200" dirty="0">
                <a:solidFill>
                  <a:schemeClr val="tx2"/>
                </a:solidFill>
                <a:latin typeface="+mn-ea"/>
              </a:rPr>
              <a:t>과제해결과 관계없이 임의로 부가된 사항을 삭제하여 상위개념이 되는 경우라면 최초 명세서 등 범위 내의 보정으로 볼 수 있다</a:t>
            </a:r>
            <a:r>
              <a:rPr lang="en-US" altLang="ko-KR" sz="1250" kern="1200" dirty="0">
                <a:solidFill>
                  <a:schemeClr val="tx2"/>
                </a:solidFill>
                <a:latin typeface="+mn-ea"/>
              </a:rPr>
              <a:t>.</a:t>
            </a:r>
          </a:p>
        </p:txBody>
      </p:sp>
      <p:sp>
        <p:nvSpPr>
          <p:cNvPr id="20" name="직선 연결선 19">
            <a:extLst>
              <a:ext uri="{FF2B5EF4-FFF2-40B4-BE49-F238E27FC236}">
                <a16:creationId xmlns:a16="http://schemas.microsoft.com/office/drawing/2014/main" id="{95EB0BA0-7D13-4328-B555-6AF62FD290FA}"/>
              </a:ext>
            </a:extLst>
          </p:cNvPr>
          <p:cNvSpPr/>
          <p:nvPr/>
        </p:nvSpPr>
        <p:spPr>
          <a:xfrm>
            <a:off x="184731" y="2991786"/>
            <a:ext cx="11712977" cy="0"/>
          </a:xfrm>
          <a:prstGeom prst="line">
            <a:avLst/>
          </a:prstGeom>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21" name="자유형: 도형 20">
            <a:extLst>
              <a:ext uri="{FF2B5EF4-FFF2-40B4-BE49-F238E27FC236}">
                <a16:creationId xmlns:a16="http://schemas.microsoft.com/office/drawing/2014/main" id="{E3740F2B-FB4D-42B0-A5CE-F26B4C942665}"/>
              </a:ext>
            </a:extLst>
          </p:cNvPr>
          <p:cNvSpPr/>
          <p:nvPr/>
        </p:nvSpPr>
        <p:spPr>
          <a:xfrm>
            <a:off x="404349" y="3002563"/>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spcBef>
                <a:spcPct val="0"/>
              </a:spcBef>
              <a:spcAft>
                <a:spcPct val="35000"/>
              </a:spcAft>
              <a:buNone/>
            </a:pPr>
            <a:r>
              <a:rPr lang="en-US" altLang="ko-KR" sz="1250" kern="1200" dirty="0">
                <a:solidFill>
                  <a:schemeClr val="tx2"/>
                </a:solidFill>
                <a:latin typeface="+mn-ea"/>
              </a:rPr>
              <a:t>⑥ </a:t>
            </a:r>
            <a:r>
              <a:rPr lang="ko-KR" altLang="en-US" sz="1250" kern="1200" dirty="0">
                <a:solidFill>
                  <a:srgbClr val="FF0000"/>
                </a:solidFill>
                <a:latin typeface="+mn-ea"/>
              </a:rPr>
              <a:t>수치범위를 추가하거나 변경 또는 감축하는 보정</a:t>
            </a:r>
            <a:r>
              <a:rPr lang="ko-KR" altLang="en-US" sz="1250" kern="1200" dirty="0">
                <a:solidFill>
                  <a:schemeClr val="tx2"/>
                </a:solidFill>
                <a:latin typeface="+mn-ea"/>
              </a:rPr>
              <a:t>의 경우에</a:t>
            </a:r>
            <a:r>
              <a:rPr lang="en-US" altLang="ko-KR" sz="1250" kern="1200" dirty="0">
                <a:solidFill>
                  <a:schemeClr val="tx2"/>
                </a:solidFill>
                <a:latin typeface="+mn-ea"/>
              </a:rPr>
              <a:t>, </a:t>
            </a:r>
            <a:r>
              <a:rPr lang="ko-KR" altLang="en-US" sz="1250" kern="1200" dirty="0">
                <a:solidFill>
                  <a:schemeClr val="tx2"/>
                </a:solidFill>
                <a:latin typeface="+mn-ea"/>
              </a:rPr>
              <a:t>새로운 수치범위가 최초 명세서 등에 기재되어 있지 않고</a:t>
            </a:r>
            <a:r>
              <a:rPr lang="en-US" altLang="ko-KR" sz="1250" kern="1200" dirty="0">
                <a:solidFill>
                  <a:schemeClr val="tx2"/>
                </a:solidFill>
                <a:latin typeface="+mn-ea"/>
              </a:rPr>
              <a:t>, </a:t>
            </a:r>
            <a:r>
              <a:rPr lang="ko-KR" altLang="en-US" sz="1250" kern="1200" dirty="0">
                <a:solidFill>
                  <a:schemeClr val="tx2"/>
                </a:solidFill>
                <a:latin typeface="+mn-ea"/>
              </a:rPr>
              <a:t>최초 명세서 등의 기재로부터 자명하지 않은 경우에는 신규사항 추가에 해당한다</a:t>
            </a:r>
            <a:r>
              <a:rPr lang="en-US" altLang="ko-KR" sz="1250" kern="1200" dirty="0">
                <a:solidFill>
                  <a:schemeClr val="tx2"/>
                </a:solidFill>
                <a:latin typeface="+mn-ea"/>
              </a:rPr>
              <a:t>.</a:t>
            </a:r>
          </a:p>
        </p:txBody>
      </p:sp>
      <p:sp>
        <p:nvSpPr>
          <p:cNvPr id="22" name="직선 연결선 21">
            <a:extLst>
              <a:ext uri="{FF2B5EF4-FFF2-40B4-BE49-F238E27FC236}">
                <a16:creationId xmlns:a16="http://schemas.microsoft.com/office/drawing/2014/main" id="{B2677F70-9744-4603-BA75-F9F920E632F0}"/>
              </a:ext>
            </a:extLst>
          </p:cNvPr>
          <p:cNvSpPr/>
          <p:nvPr/>
        </p:nvSpPr>
        <p:spPr>
          <a:xfrm>
            <a:off x="184731" y="3449352"/>
            <a:ext cx="11712977" cy="0"/>
          </a:xfrm>
          <a:prstGeom prst="line">
            <a:avLst/>
          </a:prstGeom>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23" name="자유형: 도형 22">
            <a:extLst>
              <a:ext uri="{FF2B5EF4-FFF2-40B4-BE49-F238E27FC236}">
                <a16:creationId xmlns:a16="http://schemas.microsoft.com/office/drawing/2014/main" id="{0B9A86BD-57AB-47D6-9288-4A64A56331A8}"/>
              </a:ext>
            </a:extLst>
          </p:cNvPr>
          <p:cNvSpPr/>
          <p:nvPr/>
        </p:nvSpPr>
        <p:spPr>
          <a:xfrm>
            <a:off x="404349" y="3460130"/>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spcBef>
                <a:spcPct val="0"/>
              </a:spcBef>
              <a:spcAft>
                <a:spcPct val="35000"/>
              </a:spcAft>
              <a:buNone/>
            </a:pPr>
            <a:r>
              <a:rPr lang="en-US" altLang="ko-KR" sz="1250" kern="1200" dirty="0">
                <a:solidFill>
                  <a:schemeClr val="tx2"/>
                </a:solidFill>
                <a:latin typeface="+mn-ea"/>
              </a:rPr>
              <a:t>⑦ </a:t>
            </a:r>
            <a:r>
              <a:rPr lang="ko-KR" altLang="en-US" sz="1250" kern="1200" dirty="0">
                <a:solidFill>
                  <a:srgbClr val="FF0000"/>
                </a:solidFill>
                <a:latin typeface="+mn-ea"/>
              </a:rPr>
              <a:t>청구항에서 일정한 사항을 제외하는 보정</a:t>
            </a:r>
            <a:r>
              <a:rPr lang="en-US" altLang="ko-KR" sz="1250" kern="1200" dirty="0">
                <a:solidFill>
                  <a:srgbClr val="FF0000"/>
                </a:solidFill>
                <a:latin typeface="+mn-ea"/>
              </a:rPr>
              <a:t>(</a:t>
            </a:r>
            <a:r>
              <a:rPr lang="ko-KR" altLang="en-US" sz="1250" kern="1200" dirty="0">
                <a:solidFill>
                  <a:srgbClr val="FF0000"/>
                </a:solidFill>
                <a:latin typeface="+mn-ea"/>
              </a:rPr>
              <a:t>이른바 ‘제외 클레임’ 보정</a:t>
            </a:r>
            <a:r>
              <a:rPr lang="en-US" altLang="ko-KR" sz="1250" kern="1200" dirty="0">
                <a:solidFill>
                  <a:srgbClr val="FF0000"/>
                </a:solidFill>
                <a:latin typeface="+mn-ea"/>
              </a:rPr>
              <a:t>)</a:t>
            </a:r>
            <a:r>
              <a:rPr lang="ko-KR" altLang="en-US" sz="1250" kern="1200" dirty="0">
                <a:solidFill>
                  <a:schemeClr val="tx2"/>
                </a:solidFill>
                <a:latin typeface="+mn-ea"/>
              </a:rPr>
              <a:t>은</a:t>
            </a:r>
            <a:r>
              <a:rPr lang="en-US" altLang="ko-KR" sz="1250" kern="1200" dirty="0">
                <a:solidFill>
                  <a:schemeClr val="tx2"/>
                </a:solidFill>
                <a:latin typeface="+mn-ea"/>
              </a:rPr>
              <a:t>, </a:t>
            </a:r>
            <a:r>
              <a:rPr lang="ko-KR" altLang="en-US" sz="1250" kern="1200" dirty="0">
                <a:solidFill>
                  <a:schemeClr val="tx2"/>
                </a:solidFill>
                <a:latin typeface="+mn-ea"/>
              </a:rPr>
              <a:t>그러한 제외하는 한정이 최초 명세서 등에 기재된 것으로 볼 수 없는 새로운 기술적 사항이 도입되는 것이 아니라면 허용된다</a:t>
            </a:r>
            <a:r>
              <a:rPr lang="en-US" altLang="ko-KR" sz="1250" kern="1200" dirty="0">
                <a:solidFill>
                  <a:schemeClr val="tx2"/>
                </a:solidFill>
                <a:latin typeface="+mn-ea"/>
              </a:rPr>
              <a:t>. </a:t>
            </a:r>
            <a:r>
              <a:rPr lang="ko-KR" altLang="en-US" sz="1250" kern="1200" dirty="0">
                <a:solidFill>
                  <a:srgbClr val="FF0000"/>
                </a:solidFill>
                <a:latin typeface="+mn-ea"/>
              </a:rPr>
              <a:t>특히 의료방법 관련 발명의 대상이 사람인지 동물인지가 명시되어 있지 아니한 경우</a:t>
            </a:r>
            <a:r>
              <a:rPr lang="en-US" altLang="ko-KR" sz="1250" kern="1200" dirty="0">
                <a:solidFill>
                  <a:srgbClr val="FF0000"/>
                </a:solidFill>
                <a:latin typeface="+mn-ea"/>
              </a:rPr>
              <a:t>, </a:t>
            </a:r>
            <a:r>
              <a:rPr lang="ko-KR" altLang="en-US" sz="1250" kern="1200" dirty="0">
                <a:solidFill>
                  <a:srgbClr val="FF0000"/>
                </a:solidFill>
                <a:latin typeface="+mn-ea"/>
              </a:rPr>
              <a:t>그 발명이 특정 동물만을 대상으로 하는 것은 아닌 것이 자명할 때 사람에 해당하는 부분을 삭제하기 위하여 한정하는 보정은 신규사항이 추가된 것으로 보지 않는다</a:t>
            </a:r>
            <a:r>
              <a:rPr lang="en-US" altLang="ko-KR" sz="1250" kern="1200" dirty="0">
                <a:solidFill>
                  <a:srgbClr val="FF0000"/>
                </a:solidFill>
                <a:latin typeface="+mn-ea"/>
              </a:rPr>
              <a:t>.</a:t>
            </a:r>
          </a:p>
        </p:txBody>
      </p:sp>
      <p:sp>
        <p:nvSpPr>
          <p:cNvPr id="24" name="직선 연결선 23">
            <a:extLst>
              <a:ext uri="{FF2B5EF4-FFF2-40B4-BE49-F238E27FC236}">
                <a16:creationId xmlns:a16="http://schemas.microsoft.com/office/drawing/2014/main" id="{D6C206A9-BD56-4521-ADB1-CEB6C4B160BC}"/>
              </a:ext>
            </a:extLst>
          </p:cNvPr>
          <p:cNvSpPr/>
          <p:nvPr/>
        </p:nvSpPr>
        <p:spPr>
          <a:xfrm>
            <a:off x="184731" y="4054057"/>
            <a:ext cx="11712977" cy="0"/>
          </a:xfrm>
          <a:prstGeom prst="line">
            <a:avLst/>
          </a:prstGeom>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25" name="자유형: 도형 24">
            <a:extLst>
              <a:ext uri="{FF2B5EF4-FFF2-40B4-BE49-F238E27FC236}">
                <a16:creationId xmlns:a16="http://schemas.microsoft.com/office/drawing/2014/main" id="{0AD23758-AC30-4FA1-8A83-E591C152C0B9}"/>
              </a:ext>
            </a:extLst>
          </p:cNvPr>
          <p:cNvSpPr/>
          <p:nvPr/>
        </p:nvSpPr>
        <p:spPr>
          <a:xfrm>
            <a:off x="404349" y="4064836"/>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spcBef>
                <a:spcPct val="0"/>
              </a:spcBef>
              <a:spcAft>
                <a:spcPct val="35000"/>
              </a:spcAft>
              <a:buNone/>
            </a:pPr>
            <a:r>
              <a:rPr lang="en-US" altLang="ko-KR" sz="1250" kern="1200" dirty="0">
                <a:solidFill>
                  <a:schemeClr val="tx2"/>
                </a:solidFill>
                <a:latin typeface="+mn-ea"/>
              </a:rPr>
              <a:t>⑧ </a:t>
            </a:r>
            <a:r>
              <a:rPr lang="ko-KR" altLang="en-US" sz="1250" kern="1200" dirty="0">
                <a:solidFill>
                  <a:srgbClr val="FF0000"/>
                </a:solidFill>
                <a:latin typeface="+mn-ea"/>
              </a:rPr>
              <a:t>최초 명세서 등에 독립적으로 기재된 개별구성이나 실시예들을 하나의 발명으로 결합하는 보정</a:t>
            </a:r>
            <a:r>
              <a:rPr lang="ko-KR" altLang="en-US" sz="1250" kern="1200" dirty="0">
                <a:solidFill>
                  <a:schemeClr val="tx2"/>
                </a:solidFill>
                <a:latin typeface="+mn-ea"/>
              </a:rPr>
              <a:t>을 하는 경우</a:t>
            </a:r>
            <a:r>
              <a:rPr lang="en-US" altLang="ko-KR" sz="1250" kern="1200" dirty="0">
                <a:solidFill>
                  <a:schemeClr val="tx2"/>
                </a:solidFill>
                <a:latin typeface="+mn-ea"/>
              </a:rPr>
              <a:t>, </a:t>
            </a:r>
            <a:r>
              <a:rPr lang="ko-KR" altLang="en-US" sz="1250" kern="1200" dirty="0">
                <a:solidFill>
                  <a:schemeClr val="tx2"/>
                </a:solidFill>
                <a:latin typeface="+mn-ea"/>
              </a:rPr>
              <a:t>그러한 결합이 최초 명세서 등에 언급되어 있거나 통상의 기술자가 출원시의 기술상식에 비추어 당연히 상정할 수 있는 정도가 아니면 신규사항 추가에 해당한다</a:t>
            </a:r>
            <a:r>
              <a:rPr lang="en-US" altLang="ko-KR" sz="1250" kern="1200" dirty="0">
                <a:solidFill>
                  <a:schemeClr val="tx2"/>
                </a:solidFill>
                <a:latin typeface="+mn-ea"/>
              </a:rPr>
              <a:t>.</a:t>
            </a:r>
          </a:p>
        </p:txBody>
      </p:sp>
      <p:sp>
        <p:nvSpPr>
          <p:cNvPr id="26" name="직선 연결선 25">
            <a:extLst>
              <a:ext uri="{FF2B5EF4-FFF2-40B4-BE49-F238E27FC236}">
                <a16:creationId xmlns:a16="http://schemas.microsoft.com/office/drawing/2014/main" id="{C87AB4E2-3E56-4BDA-B44E-DB2A871F4231}"/>
              </a:ext>
            </a:extLst>
          </p:cNvPr>
          <p:cNvSpPr/>
          <p:nvPr/>
        </p:nvSpPr>
        <p:spPr>
          <a:xfrm>
            <a:off x="184731" y="4501114"/>
            <a:ext cx="11712977" cy="0"/>
          </a:xfrm>
          <a:prstGeom prst="line">
            <a:avLst/>
          </a:prstGeom>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27" name="자유형: 도형 26">
            <a:extLst>
              <a:ext uri="{FF2B5EF4-FFF2-40B4-BE49-F238E27FC236}">
                <a16:creationId xmlns:a16="http://schemas.microsoft.com/office/drawing/2014/main" id="{243FBB0D-D565-454F-84FA-DF9036836A95}"/>
              </a:ext>
            </a:extLst>
          </p:cNvPr>
          <p:cNvSpPr/>
          <p:nvPr/>
        </p:nvSpPr>
        <p:spPr>
          <a:xfrm>
            <a:off x="404349" y="4427812"/>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lnSpc>
                <a:spcPct val="150000"/>
              </a:lnSpc>
              <a:spcBef>
                <a:spcPct val="0"/>
              </a:spcBef>
              <a:spcAft>
                <a:spcPct val="35000"/>
              </a:spcAft>
              <a:buNone/>
            </a:pPr>
            <a:r>
              <a:rPr lang="en-US" altLang="ko-KR" sz="1250" kern="1200" dirty="0">
                <a:solidFill>
                  <a:schemeClr val="tx2"/>
                </a:solidFill>
                <a:latin typeface="+mn-ea"/>
              </a:rPr>
              <a:t>⑨ </a:t>
            </a:r>
            <a:r>
              <a:rPr lang="ko-KR" altLang="en-US" sz="1250" kern="1200" dirty="0">
                <a:solidFill>
                  <a:srgbClr val="FF0000"/>
                </a:solidFill>
                <a:latin typeface="+mn-ea"/>
              </a:rPr>
              <a:t>일반적으로 실시예 또는 시험예를 추가하는 보정</a:t>
            </a:r>
            <a:r>
              <a:rPr lang="ko-KR" altLang="en-US" sz="1250" kern="1200" dirty="0">
                <a:solidFill>
                  <a:schemeClr val="tx2"/>
                </a:solidFill>
                <a:latin typeface="+mn-ea"/>
              </a:rPr>
              <a:t>은 신규사항 추가에 해당한다</a:t>
            </a:r>
            <a:r>
              <a:rPr lang="en-US" altLang="ko-KR" sz="1250" kern="1200" dirty="0">
                <a:solidFill>
                  <a:schemeClr val="tx2"/>
                </a:solidFill>
                <a:latin typeface="+mn-ea"/>
              </a:rPr>
              <a:t>. </a:t>
            </a:r>
            <a:r>
              <a:rPr lang="ko-KR" altLang="en-US" sz="1250" kern="1200" dirty="0">
                <a:solidFill>
                  <a:schemeClr val="tx2"/>
                </a:solidFill>
                <a:latin typeface="+mn-ea"/>
              </a:rPr>
              <a:t>다만</a:t>
            </a:r>
            <a:r>
              <a:rPr lang="en-US" altLang="ko-KR" sz="1250" kern="1200" dirty="0">
                <a:solidFill>
                  <a:schemeClr val="tx2"/>
                </a:solidFill>
                <a:latin typeface="+mn-ea"/>
              </a:rPr>
              <a:t>, </a:t>
            </a:r>
            <a:r>
              <a:rPr lang="ko-KR" altLang="en-US" sz="1250" kern="1200" dirty="0">
                <a:solidFill>
                  <a:schemeClr val="tx2"/>
                </a:solidFill>
                <a:latin typeface="+mn-ea"/>
              </a:rPr>
              <a:t>최초 명세서 등의 기재 범위 내로 볼 수 있는 경우에는 신규사항 추가에 해당하지 않는다</a:t>
            </a:r>
            <a:r>
              <a:rPr lang="en-US" altLang="ko-KR" sz="1250" kern="1200" dirty="0">
                <a:solidFill>
                  <a:schemeClr val="tx2"/>
                </a:solidFill>
                <a:latin typeface="+mn-ea"/>
              </a:rPr>
              <a:t>.</a:t>
            </a:r>
          </a:p>
        </p:txBody>
      </p:sp>
      <p:sp>
        <p:nvSpPr>
          <p:cNvPr id="28" name="직선 연결선 27">
            <a:extLst>
              <a:ext uri="{FF2B5EF4-FFF2-40B4-BE49-F238E27FC236}">
                <a16:creationId xmlns:a16="http://schemas.microsoft.com/office/drawing/2014/main" id="{9D7289EC-8812-4405-BCB6-AED46C995D52}"/>
              </a:ext>
            </a:extLst>
          </p:cNvPr>
          <p:cNvSpPr/>
          <p:nvPr/>
        </p:nvSpPr>
        <p:spPr>
          <a:xfrm>
            <a:off x="184731" y="4769500"/>
            <a:ext cx="11712977" cy="0"/>
          </a:xfrm>
          <a:prstGeom prst="line">
            <a:avLst/>
          </a:prstGeom>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29" name="자유형: 도형 28">
            <a:extLst>
              <a:ext uri="{FF2B5EF4-FFF2-40B4-BE49-F238E27FC236}">
                <a16:creationId xmlns:a16="http://schemas.microsoft.com/office/drawing/2014/main" id="{F68FB2EB-C1BB-49E9-A13F-6C3B5556BC8A}"/>
              </a:ext>
            </a:extLst>
          </p:cNvPr>
          <p:cNvSpPr/>
          <p:nvPr/>
        </p:nvSpPr>
        <p:spPr>
          <a:xfrm>
            <a:off x="404349" y="4780279"/>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spcBef>
                <a:spcPct val="0"/>
              </a:spcBef>
              <a:spcAft>
                <a:spcPct val="35000"/>
              </a:spcAft>
              <a:buNone/>
            </a:pPr>
            <a:r>
              <a:rPr lang="en-US" altLang="ko-KR" sz="1250" kern="1200" dirty="0">
                <a:solidFill>
                  <a:schemeClr val="tx2"/>
                </a:solidFill>
                <a:latin typeface="+mn-ea"/>
              </a:rPr>
              <a:t>⑩ </a:t>
            </a:r>
            <a:r>
              <a:rPr lang="ko-KR" altLang="en-US" sz="1250" kern="1200" dirty="0">
                <a:solidFill>
                  <a:srgbClr val="FF0000"/>
                </a:solidFill>
                <a:latin typeface="+mn-ea"/>
              </a:rPr>
              <a:t>일반적으로 발명의 새로운 효과를 추가하는 보정</a:t>
            </a:r>
            <a:r>
              <a:rPr lang="ko-KR" altLang="en-US" sz="1250" kern="1200" dirty="0">
                <a:solidFill>
                  <a:schemeClr val="tx2"/>
                </a:solidFill>
                <a:latin typeface="+mn-ea"/>
              </a:rPr>
              <a:t>은 신규사항 추가에 해당한다</a:t>
            </a:r>
            <a:r>
              <a:rPr lang="en-US" altLang="ko-KR" sz="1250" kern="1200" dirty="0">
                <a:solidFill>
                  <a:schemeClr val="tx2"/>
                </a:solidFill>
                <a:latin typeface="+mn-ea"/>
              </a:rPr>
              <a:t>. </a:t>
            </a:r>
            <a:r>
              <a:rPr lang="ko-KR" altLang="en-US" sz="1250" kern="1200" dirty="0">
                <a:solidFill>
                  <a:schemeClr val="tx2"/>
                </a:solidFill>
                <a:latin typeface="+mn-ea"/>
              </a:rPr>
              <a:t>다만</a:t>
            </a:r>
            <a:r>
              <a:rPr lang="en-US" altLang="ko-KR" sz="1250" kern="1200" dirty="0">
                <a:solidFill>
                  <a:schemeClr val="tx2"/>
                </a:solidFill>
                <a:latin typeface="+mn-ea"/>
              </a:rPr>
              <a:t>, </a:t>
            </a:r>
            <a:r>
              <a:rPr lang="ko-KR" altLang="en-US" sz="1250" kern="1200" dirty="0">
                <a:solidFill>
                  <a:schemeClr val="tx2"/>
                </a:solidFill>
                <a:latin typeface="+mn-ea"/>
              </a:rPr>
              <a:t>최초 명세서 등에 기재된 발명의 구성 등으로부터 통상의 기술자가 당연히 예측할 수 있는 정도이거나 최초 명세서 등에 기재된 발명의 구성이 그러한 효과를 나타낸다는 것이 해당 기술분야에서 잘 알려진 사실인 경우에는 신규사항 추가에 해당되지 않는다</a:t>
            </a:r>
            <a:r>
              <a:rPr lang="en-US" altLang="ko-KR" sz="1250" kern="1200" dirty="0">
                <a:solidFill>
                  <a:schemeClr val="tx2"/>
                </a:solidFill>
                <a:latin typeface="+mn-ea"/>
              </a:rPr>
              <a:t>.</a:t>
            </a:r>
          </a:p>
        </p:txBody>
      </p:sp>
      <p:sp>
        <p:nvSpPr>
          <p:cNvPr id="30" name="직선 연결선 29">
            <a:extLst>
              <a:ext uri="{FF2B5EF4-FFF2-40B4-BE49-F238E27FC236}">
                <a16:creationId xmlns:a16="http://schemas.microsoft.com/office/drawing/2014/main" id="{00B0A184-1BA0-4069-A24F-ADF342B5B21C}"/>
              </a:ext>
            </a:extLst>
          </p:cNvPr>
          <p:cNvSpPr/>
          <p:nvPr/>
        </p:nvSpPr>
        <p:spPr>
          <a:xfrm>
            <a:off x="184731" y="5227066"/>
            <a:ext cx="11712977" cy="0"/>
          </a:xfrm>
          <a:prstGeom prst="line">
            <a:avLst/>
          </a:prstGeom>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31" name="자유형: 도형 30">
            <a:extLst>
              <a:ext uri="{FF2B5EF4-FFF2-40B4-BE49-F238E27FC236}">
                <a16:creationId xmlns:a16="http://schemas.microsoft.com/office/drawing/2014/main" id="{242A70F4-35CF-4580-B7C5-2DFDCE6D6411}"/>
              </a:ext>
            </a:extLst>
          </p:cNvPr>
          <p:cNvSpPr/>
          <p:nvPr/>
        </p:nvSpPr>
        <p:spPr>
          <a:xfrm>
            <a:off x="404349" y="5237845"/>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spcBef>
                <a:spcPct val="0"/>
              </a:spcBef>
              <a:spcAft>
                <a:spcPct val="35000"/>
              </a:spcAft>
              <a:buNone/>
            </a:pPr>
            <a:r>
              <a:rPr lang="en-US" altLang="ko-KR" sz="1250" kern="1200" dirty="0">
                <a:solidFill>
                  <a:schemeClr val="tx2"/>
                </a:solidFill>
                <a:latin typeface="+mn-ea"/>
              </a:rPr>
              <a:t>⑪ </a:t>
            </a:r>
            <a:r>
              <a:rPr lang="ko-KR" altLang="en-US" sz="1250" kern="1200" dirty="0">
                <a:solidFill>
                  <a:srgbClr val="FF0000"/>
                </a:solidFill>
                <a:latin typeface="+mn-ea"/>
              </a:rPr>
              <a:t>선행기술 문헌명을 명세서에 단순히 추가하는 보정과 선행기술 문헌명과 함께 그 문헌 내용의 간략한 요약만을 추가하는 보정</a:t>
            </a:r>
            <a:r>
              <a:rPr lang="ko-KR" altLang="en-US" sz="1250" kern="1200" dirty="0">
                <a:solidFill>
                  <a:schemeClr val="tx2"/>
                </a:solidFill>
                <a:latin typeface="+mn-ea"/>
              </a:rPr>
              <a:t>은 신규사항 추가로 보지 않는다</a:t>
            </a:r>
            <a:r>
              <a:rPr lang="en-US" altLang="ko-KR" sz="1250" kern="1200" dirty="0">
                <a:solidFill>
                  <a:schemeClr val="tx2"/>
                </a:solidFill>
                <a:latin typeface="+mn-ea"/>
              </a:rPr>
              <a:t>. </a:t>
            </a:r>
            <a:r>
              <a:rPr lang="ko-KR" altLang="en-US" sz="1250" kern="1200" dirty="0">
                <a:solidFill>
                  <a:schemeClr val="tx2"/>
                </a:solidFill>
                <a:latin typeface="+mn-ea"/>
              </a:rPr>
              <a:t>다만</a:t>
            </a:r>
            <a:r>
              <a:rPr lang="en-US" altLang="ko-KR" sz="1250" kern="1200" dirty="0">
                <a:solidFill>
                  <a:schemeClr val="tx2"/>
                </a:solidFill>
                <a:latin typeface="+mn-ea"/>
              </a:rPr>
              <a:t>, </a:t>
            </a:r>
            <a:r>
              <a:rPr lang="ko-KR" altLang="en-US" sz="1250" kern="1200" dirty="0">
                <a:solidFill>
                  <a:schemeClr val="tx2"/>
                </a:solidFill>
                <a:latin typeface="+mn-ea"/>
              </a:rPr>
              <a:t>미완성 발명이 완성되도록 하거나 발명의 실시 등에 관한 발명의 설명 기재요건 미비를 해소하기 위하여 선행기술문헌의 내용을 추가하는 보정</a:t>
            </a:r>
            <a:r>
              <a:rPr lang="en-US" altLang="ko-KR" sz="1250" kern="1200" dirty="0">
                <a:solidFill>
                  <a:schemeClr val="tx2"/>
                </a:solidFill>
                <a:latin typeface="+mn-ea"/>
              </a:rPr>
              <a:t>, </a:t>
            </a:r>
            <a:r>
              <a:rPr lang="ko-KR" altLang="en-US" sz="1250" kern="1200" dirty="0">
                <a:solidFill>
                  <a:schemeClr val="tx2"/>
                </a:solidFill>
                <a:latin typeface="+mn-ea"/>
              </a:rPr>
              <a:t>또는 출원발명의 이점을 제시하기 위하여 출원발명과 선행기술을 비교하는 내용을 추가하는 보정은 일반적으로 신규사항 추가에 해당한다</a:t>
            </a:r>
            <a:r>
              <a:rPr lang="en-US" altLang="ko-KR" sz="1250" kern="1200" dirty="0">
                <a:solidFill>
                  <a:schemeClr val="tx2"/>
                </a:solidFill>
                <a:latin typeface="+mn-ea"/>
              </a:rPr>
              <a:t>.</a:t>
            </a:r>
          </a:p>
        </p:txBody>
      </p:sp>
      <p:sp>
        <p:nvSpPr>
          <p:cNvPr id="32" name="직선 연결선 31">
            <a:extLst>
              <a:ext uri="{FF2B5EF4-FFF2-40B4-BE49-F238E27FC236}">
                <a16:creationId xmlns:a16="http://schemas.microsoft.com/office/drawing/2014/main" id="{112CC94B-265A-4FA3-ACB3-1009C58CBC3C}"/>
              </a:ext>
            </a:extLst>
          </p:cNvPr>
          <p:cNvSpPr/>
          <p:nvPr/>
        </p:nvSpPr>
        <p:spPr>
          <a:xfrm>
            <a:off x="184731" y="5842283"/>
            <a:ext cx="11712977" cy="0"/>
          </a:xfrm>
          <a:prstGeom prst="line">
            <a:avLst/>
          </a:prstGeom>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33" name="자유형: 도형 32">
            <a:extLst>
              <a:ext uri="{FF2B5EF4-FFF2-40B4-BE49-F238E27FC236}">
                <a16:creationId xmlns:a16="http://schemas.microsoft.com/office/drawing/2014/main" id="{3BD4D861-6CE4-4F95-9A27-B9D12CDC8C6C}"/>
              </a:ext>
            </a:extLst>
          </p:cNvPr>
          <p:cNvSpPr/>
          <p:nvPr/>
        </p:nvSpPr>
        <p:spPr>
          <a:xfrm>
            <a:off x="404349" y="5853060"/>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spcBef>
                <a:spcPct val="0"/>
              </a:spcBef>
              <a:spcAft>
                <a:spcPct val="35000"/>
              </a:spcAft>
              <a:buNone/>
            </a:pPr>
            <a:r>
              <a:rPr lang="en-US" altLang="ko-KR" sz="1250" kern="1200" dirty="0">
                <a:solidFill>
                  <a:schemeClr val="tx2"/>
                </a:solidFill>
                <a:latin typeface="+mn-ea"/>
              </a:rPr>
              <a:t>⑫ </a:t>
            </a:r>
            <a:r>
              <a:rPr lang="ko-KR" altLang="en-US" sz="1250" kern="1200" dirty="0">
                <a:solidFill>
                  <a:schemeClr val="tx2"/>
                </a:solidFill>
                <a:latin typeface="+mn-ea"/>
              </a:rPr>
              <a:t>통상의 기술자가 최초 명세서 또는 도면에 오기가 있음을 인식할 수 있고</a:t>
            </a:r>
            <a:r>
              <a:rPr lang="en-US" altLang="ko-KR" sz="1250" kern="1200" dirty="0">
                <a:solidFill>
                  <a:schemeClr val="tx2"/>
                </a:solidFill>
                <a:latin typeface="+mn-ea"/>
              </a:rPr>
              <a:t>, </a:t>
            </a:r>
            <a:r>
              <a:rPr lang="ko-KR" altLang="en-US" sz="1250" kern="1200" dirty="0">
                <a:solidFill>
                  <a:schemeClr val="tx2"/>
                </a:solidFill>
                <a:latin typeface="+mn-ea"/>
              </a:rPr>
              <a:t>그러한 오기가 무엇으로 정정되어야 하는지도 명확히 알 수 있다면</a:t>
            </a:r>
            <a:r>
              <a:rPr lang="en-US" altLang="ko-KR" sz="1250" kern="1200" dirty="0">
                <a:solidFill>
                  <a:schemeClr val="tx2"/>
                </a:solidFill>
                <a:latin typeface="+mn-ea"/>
              </a:rPr>
              <a:t>, </a:t>
            </a:r>
            <a:r>
              <a:rPr lang="ko-KR" altLang="en-US" sz="1250" kern="1200" dirty="0">
                <a:solidFill>
                  <a:schemeClr val="tx2"/>
                </a:solidFill>
                <a:latin typeface="+mn-ea"/>
              </a:rPr>
              <a:t>그와 같은 오기의 정정은 신규사항 추가로 보지 않는다</a:t>
            </a:r>
            <a:r>
              <a:rPr lang="en-US" altLang="ko-KR" sz="1250" kern="1200" dirty="0">
                <a:solidFill>
                  <a:schemeClr val="tx2"/>
                </a:solidFill>
                <a:latin typeface="+mn-ea"/>
              </a:rPr>
              <a:t>. </a:t>
            </a:r>
            <a:r>
              <a:rPr lang="ko-KR" altLang="en-US" sz="1250" kern="1200" dirty="0">
                <a:solidFill>
                  <a:schemeClr val="tx2"/>
                </a:solidFill>
                <a:latin typeface="+mn-ea"/>
              </a:rPr>
              <a:t>또한 명세서 또는 도면 중에 상충하는 </a:t>
            </a:r>
            <a:r>
              <a:rPr lang="en-US" altLang="ko-KR" sz="1250" kern="1200" dirty="0">
                <a:solidFill>
                  <a:schemeClr val="tx2"/>
                </a:solidFill>
                <a:latin typeface="+mn-ea"/>
              </a:rPr>
              <a:t>2</a:t>
            </a:r>
            <a:r>
              <a:rPr lang="ko-KR" altLang="en-US" sz="1250" kern="1200" dirty="0">
                <a:solidFill>
                  <a:schemeClr val="tx2"/>
                </a:solidFill>
                <a:latin typeface="+mn-ea"/>
              </a:rPr>
              <a:t>개 이상의 기재 중 어느 것이 올바른 지가 최초 명세서 등의 기재로부터 통상의 기술자에게 자명한 경우</a:t>
            </a:r>
            <a:r>
              <a:rPr lang="en-US" altLang="ko-KR" sz="1250" kern="1200" dirty="0">
                <a:solidFill>
                  <a:schemeClr val="tx2"/>
                </a:solidFill>
                <a:latin typeface="+mn-ea"/>
              </a:rPr>
              <a:t>, </a:t>
            </a:r>
            <a:r>
              <a:rPr lang="ko-KR" altLang="en-US" sz="1250" kern="1200" dirty="0">
                <a:solidFill>
                  <a:schemeClr val="tx2"/>
                </a:solidFill>
                <a:latin typeface="+mn-ea"/>
              </a:rPr>
              <a:t>그 올바른 기재로 일치시키는 보정은 신규사항 추가가 아니다</a:t>
            </a:r>
            <a:r>
              <a:rPr lang="en-US" altLang="ko-KR" sz="1250" kern="1200" dirty="0">
                <a:solidFill>
                  <a:schemeClr val="tx2"/>
                </a:solidFill>
                <a:latin typeface="+mn-ea"/>
              </a:rPr>
              <a:t>.</a:t>
            </a:r>
          </a:p>
        </p:txBody>
      </p:sp>
      <p:sp>
        <p:nvSpPr>
          <p:cNvPr id="34" name="직선 연결선 33">
            <a:extLst>
              <a:ext uri="{FF2B5EF4-FFF2-40B4-BE49-F238E27FC236}">
                <a16:creationId xmlns:a16="http://schemas.microsoft.com/office/drawing/2014/main" id="{2A7109AA-D6BB-49B0-B997-AA18855E5CD7}"/>
              </a:ext>
            </a:extLst>
          </p:cNvPr>
          <p:cNvSpPr/>
          <p:nvPr/>
        </p:nvSpPr>
        <p:spPr>
          <a:xfrm>
            <a:off x="184731" y="6478523"/>
            <a:ext cx="11712977" cy="0"/>
          </a:xfrm>
          <a:prstGeom prst="line">
            <a:avLst/>
          </a:prstGeom>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ko-KR" altLang="en-US"/>
          </a:p>
        </p:txBody>
      </p:sp>
      <p:sp>
        <p:nvSpPr>
          <p:cNvPr id="35" name="자유형: 도형 34">
            <a:extLst>
              <a:ext uri="{FF2B5EF4-FFF2-40B4-BE49-F238E27FC236}">
                <a16:creationId xmlns:a16="http://schemas.microsoft.com/office/drawing/2014/main" id="{5A362AB6-5A68-46E3-ACB2-C465D056ECB2}"/>
              </a:ext>
            </a:extLst>
          </p:cNvPr>
          <p:cNvSpPr/>
          <p:nvPr/>
        </p:nvSpPr>
        <p:spPr>
          <a:xfrm>
            <a:off x="404349" y="6426245"/>
            <a:ext cx="11493359" cy="425767"/>
          </a:xfrm>
          <a:custGeom>
            <a:avLst/>
            <a:gdLst>
              <a:gd name="connsiteX0" fmla="*/ 0 w 8726406"/>
              <a:gd name="connsiteY0" fmla="*/ 0 h 321468"/>
              <a:gd name="connsiteX1" fmla="*/ 8726406 w 8726406"/>
              <a:gd name="connsiteY1" fmla="*/ 0 h 321468"/>
              <a:gd name="connsiteX2" fmla="*/ 8726406 w 8726406"/>
              <a:gd name="connsiteY2" fmla="*/ 321468 h 321468"/>
              <a:gd name="connsiteX3" fmla="*/ 0 w 8726406"/>
              <a:gd name="connsiteY3" fmla="*/ 321468 h 321468"/>
              <a:gd name="connsiteX4" fmla="*/ 0 w 8726406"/>
              <a:gd name="connsiteY4" fmla="*/ 0 h 32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6406" h="321468">
                <a:moveTo>
                  <a:pt x="0" y="0"/>
                </a:moveTo>
                <a:lnTo>
                  <a:pt x="8726406" y="0"/>
                </a:lnTo>
                <a:lnTo>
                  <a:pt x="8726406" y="321468"/>
                </a:lnTo>
                <a:lnTo>
                  <a:pt x="0" y="32146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6670" tIns="26670" rIns="26670" bIns="26670" numCol="1" spcCol="1270" anchor="t" anchorCtr="0">
            <a:noAutofit/>
          </a:bodyPr>
          <a:lstStyle/>
          <a:p>
            <a:pPr marL="0" lvl="0" indent="0" algn="l" defTabSz="311150" latinLnBrk="1">
              <a:lnSpc>
                <a:spcPct val="150000"/>
              </a:lnSpc>
              <a:spcBef>
                <a:spcPct val="0"/>
              </a:spcBef>
              <a:spcAft>
                <a:spcPct val="35000"/>
              </a:spcAft>
              <a:buNone/>
            </a:pPr>
            <a:r>
              <a:rPr lang="en-US" altLang="ko-KR" sz="1250" kern="1200" dirty="0">
                <a:solidFill>
                  <a:schemeClr val="accent1">
                    <a:lumMod val="50000"/>
                  </a:schemeClr>
                </a:solidFill>
                <a:latin typeface="+mn-ea"/>
              </a:rPr>
              <a:t>⑬ </a:t>
            </a:r>
            <a:r>
              <a:rPr lang="ko-KR" altLang="en-US" sz="1250" kern="1200" dirty="0">
                <a:solidFill>
                  <a:srgbClr val="FF0000"/>
                </a:solidFill>
              </a:rPr>
              <a:t>보정된 사항이 </a:t>
            </a:r>
            <a:r>
              <a:rPr lang="ko-KR" altLang="en-US" sz="1250" kern="1200" dirty="0" err="1">
                <a:solidFill>
                  <a:srgbClr val="FF0000"/>
                </a:solidFill>
              </a:rPr>
              <a:t>주지관용기술</a:t>
            </a:r>
            <a:r>
              <a:rPr lang="ko-KR" altLang="en-US" sz="1250" kern="1200" dirty="0" err="1">
                <a:solidFill>
                  <a:schemeClr val="accent1">
                    <a:lumMod val="50000"/>
                  </a:schemeClr>
                </a:solidFill>
              </a:rPr>
              <a:t>이더라도</a:t>
            </a:r>
            <a:r>
              <a:rPr lang="ko-KR" altLang="en-US" sz="1250" kern="1200" dirty="0">
                <a:solidFill>
                  <a:schemeClr val="accent1">
                    <a:lumMod val="50000"/>
                  </a:schemeClr>
                </a:solidFill>
              </a:rPr>
              <a:t> 그것이 통상의 기술자가 최초 명세서 또는 도면에 기재되어 있는 것과 마찬가지라고 이해할 수 있는 사항이 아닌 경우 신규사항추가이다</a:t>
            </a:r>
            <a:r>
              <a:rPr lang="en-US" altLang="ko-KR" sz="1250" kern="1200" dirty="0">
                <a:solidFill>
                  <a:schemeClr val="accent1">
                    <a:lumMod val="50000"/>
                  </a:schemeClr>
                </a:solidFill>
              </a:rPr>
              <a:t>.</a:t>
            </a:r>
            <a:endParaRPr lang="ko-KR" altLang="en-US" sz="1250" kern="1200" dirty="0">
              <a:solidFill>
                <a:schemeClr val="accent1">
                  <a:lumMod val="50000"/>
                </a:schemeClr>
              </a:solidFill>
            </a:endParaRPr>
          </a:p>
        </p:txBody>
      </p:sp>
    </p:spTree>
    <p:extLst>
      <p:ext uri="{BB962C8B-B14F-4D97-AF65-F5344CB8AC3E}">
        <p14:creationId xmlns:p14="http://schemas.microsoft.com/office/powerpoint/2010/main" val="3536212429"/>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청구범위의 감축</a:t>
            </a:r>
            <a:r>
              <a:rPr lang="en-US" altLang="ko-KR" dirty="0"/>
              <a:t>(</a:t>
            </a:r>
            <a:r>
              <a:rPr lang="ko-KR" altLang="en-US" dirty="0"/>
              <a:t>제</a:t>
            </a:r>
            <a:r>
              <a:rPr lang="en-US" altLang="ko-KR" dirty="0"/>
              <a:t>47</a:t>
            </a:r>
            <a:r>
              <a:rPr lang="ko-KR" altLang="en-US" dirty="0"/>
              <a:t>조제</a:t>
            </a:r>
            <a:r>
              <a:rPr lang="en-US" altLang="ko-KR" dirty="0"/>
              <a:t>3</a:t>
            </a:r>
            <a:r>
              <a:rPr lang="ko-KR" altLang="en-US" dirty="0" err="1"/>
              <a:t>항제</a:t>
            </a:r>
            <a:r>
              <a:rPr lang="en-US" altLang="ko-KR" dirty="0"/>
              <a:t>1</a:t>
            </a:r>
            <a:r>
              <a:rPr lang="ko-KR" altLang="en-US" dirty="0"/>
              <a:t>호</a:t>
            </a:r>
            <a:r>
              <a:rPr lang="en-US" altLang="ko-KR" dirty="0"/>
              <a:t>)</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TextBox 4"/>
          <p:cNvSpPr txBox="1"/>
          <p:nvPr/>
        </p:nvSpPr>
        <p:spPr>
          <a:xfrm>
            <a:off x="77875" y="986046"/>
            <a:ext cx="11936323" cy="738664"/>
          </a:xfrm>
          <a:prstGeom prst="rect">
            <a:avLst/>
          </a:prstGeom>
          <a:noFill/>
        </p:spPr>
        <p:txBody>
          <a:bodyPr wrap="square" rtlCol="0">
            <a:spAutoFit/>
          </a:bodyPr>
          <a:lstStyle/>
          <a:p>
            <a:pPr fontAlgn="base"/>
            <a:r>
              <a:rPr lang="ko-KR" altLang="en-US" sz="1400" dirty="0">
                <a:solidFill>
                  <a:schemeClr val="tx2"/>
                </a:solidFill>
              </a:rPr>
              <a:t>청구범위의 감축이란 </a:t>
            </a:r>
            <a:r>
              <a:rPr lang="ko-KR" altLang="en-US" sz="1400" dirty="0" err="1">
                <a:solidFill>
                  <a:schemeClr val="accent3">
                    <a:lumMod val="50000"/>
                  </a:schemeClr>
                </a:solidFill>
                <a:highlight>
                  <a:srgbClr val="FFFF00"/>
                </a:highlight>
              </a:rPr>
              <a:t>청구항을</a:t>
            </a:r>
            <a:r>
              <a:rPr lang="ko-KR" altLang="en-US" sz="1400" dirty="0">
                <a:solidFill>
                  <a:schemeClr val="accent3">
                    <a:lumMod val="50000"/>
                  </a:schemeClr>
                </a:solidFill>
                <a:highlight>
                  <a:srgbClr val="FFFF00"/>
                </a:highlight>
              </a:rPr>
              <a:t> 한정 또는 삭제하거나 </a:t>
            </a:r>
            <a:r>
              <a:rPr lang="ko-KR" altLang="en-US" sz="1400" dirty="0" err="1">
                <a:solidFill>
                  <a:schemeClr val="accent3">
                    <a:lumMod val="50000"/>
                  </a:schemeClr>
                </a:solidFill>
                <a:highlight>
                  <a:srgbClr val="FFFF00"/>
                </a:highlight>
              </a:rPr>
              <a:t>청구항에</a:t>
            </a:r>
            <a:r>
              <a:rPr lang="ko-KR" altLang="en-US" sz="1400" dirty="0">
                <a:solidFill>
                  <a:schemeClr val="accent3">
                    <a:lumMod val="50000"/>
                  </a:schemeClr>
                </a:solidFill>
                <a:highlight>
                  <a:srgbClr val="FFFF00"/>
                </a:highlight>
              </a:rPr>
              <a:t> 부가</a:t>
            </a:r>
            <a:r>
              <a:rPr lang="ko-KR" altLang="en-US" sz="1400" dirty="0">
                <a:solidFill>
                  <a:schemeClr val="tx2"/>
                </a:solidFill>
              </a:rPr>
              <a:t>하는 것을 말한다</a:t>
            </a:r>
            <a:r>
              <a:rPr lang="en-US" altLang="ko-KR" sz="1400" dirty="0">
                <a:solidFill>
                  <a:schemeClr val="tx2"/>
                </a:solidFill>
              </a:rPr>
              <a:t>. </a:t>
            </a:r>
            <a:r>
              <a:rPr lang="ko-KR" altLang="en-US" sz="1400" dirty="0">
                <a:solidFill>
                  <a:schemeClr val="tx2"/>
                </a:solidFill>
              </a:rPr>
              <a:t>여기서</a:t>
            </a:r>
            <a:r>
              <a:rPr lang="en-US" altLang="ko-KR" sz="1400" dirty="0">
                <a:solidFill>
                  <a:schemeClr val="tx2"/>
                </a:solidFill>
              </a:rPr>
              <a:t>, </a:t>
            </a:r>
            <a:r>
              <a:rPr lang="ko-KR" altLang="en-US" sz="1400" dirty="0">
                <a:solidFill>
                  <a:schemeClr val="tx2"/>
                </a:solidFill>
              </a:rPr>
              <a:t>「</a:t>
            </a:r>
            <a:r>
              <a:rPr lang="ko-KR" altLang="en-US" sz="1400" dirty="0" err="1">
                <a:solidFill>
                  <a:schemeClr val="tx2"/>
                </a:solidFill>
              </a:rPr>
              <a:t>청구항을</a:t>
            </a:r>
            <a:r>
              <a:rPr lang="ko-KR" altLang="en-US" sz="1400" dirty="0">
                <a:solidFill>
                  <a:schemeClr val="tx2"/>
                </a:solidFill>
              </a:rPr>
              <a:t> </a:t>
            </a:r>
            <a:r>
              <a:rPr lang="ko-KR" altLang="en-US" sz="1400" dirty="0" err="1">
                <a:solidFill>
                  <a:schemeClr val="tx2"/>
                </a:solidFill>
              </a:rPr>
              <a:t>한정」하는</a:t>
            </a:r>
            <a:r>
              <a:rPr lang="ko-KR" altLang="en-US" sz="1400" dirty="0">
                <a:solidFill>
                  <a:schemeClr val="tx2"/>
                </a:solidFill>
              </a:rPr>
              <a:t> 경우는 </a:t>
            </a:r>
            <a:r>
              <a:rPr lang="en-US" altLang="ko-KR" sz="1400" dirty="0">
                <a:solidFill>
                  <a:schemeClr val="tx2"/>
                </a:solidFill>
              </a:rPr>
              <a:t>ⅰ) </a:t>
            </a:r>
            <a:r>
              <a:rPr lang="ko-KR" altLang="en-US" sz="1400" dirty="0" err="1">
                <a:solidFill>
                  <a:schemeClr val="tx2"/>
                </a:solidFill>
              </a:rPr>
              <a:t>택일적으로</a:t>
            </a:r>
            <a:r>
              <a:rPr lang="ko-KR" altLang="en-US" sz="1400" dirty="0">
                <a:solidFill>
                  <a:schemeClr val="tx2"/>
                </a:solidFill>
              </a:rPr>
              <a:t> 기재된 요소의 삭제</a:t>
            </a:r>
            <a:r>
              <a:rPr lang="en-US" altLang="ko-KR" sz="1400" dirty="0">
                <a:solidFill>
                  <a:schemeClr val="tx2"/>
                </a:solidFill>
              </a:rPr>
              <a:t>, ⅱ) </a:t>
            </a:r>
            <a:r>
              <a:rPr lang="ko-KR" altLang="en-US" sz="1400" dirty="0">
                <a:solidFill>
                  <a:schemeClr val="tx2"/>
                </a:solidFill>
              </a:rPr>
              <a:t>상위개념의 </a:t>
            </a:r>
            <a:r>
              <a:rPr lang="ko-KR" altLang="en-US" sz="1400" dirty="0" err="1">
                <a:solidFill>
                  <a:schemeClr val="tx2"/>
                </a:solidFill>
              </a:rPr>
              <a:t>기재로부터</a:t>
            </a:r>
            <a:r>
              <a:rPr lang="ko-KR" altLang="en-US" sz="1400" dirty="0">
                <a:solidFill>
                  <a:schemeClr val="tx2"/>
                </a:solidFill>
              </a:rPr>
              <a:t> 하위개념의 기재로의 변경</a:t>
            </a:r>
            <a:r>
              <a:rPr lang="en-US" altLang="ko-KR" sz="1400" dirty="0">
                <a:solidFill>
                  <a:schemeClr val="tx2"/>
                </a:solidFill>
              </a:rPr>
              <a:t>, </a:t>
            </a:r>
            <a:r>
              <a:rPr lang="ko-KR" altLang="en-US" sz="1400" dirty="0">
                <a:solidFill>
                  <a:schemeClr val="tx2"/>
                </a:solidFill>
              </a:rPr>
              <a:t>또는 </a:t>
            </a:r>
            <a:r>
              <a:rPr lang="en-US" altLang="ko-KR" sz="1400" dirty="0">
                <a:solidFill>
                  <a:schemeClr val="tx2"/>
                </a:solidFill>
              </a:rPr>
              <a:t>ⅲ) </a:t>
            </a:r>
            <a:r>
              <a:rPr lang="ko-KR" altLang="en-US" sz="1400" dirty="0" err="1">
                <a:solidFill>
                  <a:schemeClr val="tx2"/>
                </a:solidFill>
              </a:rPr>
              <a:t>수치범위의</a:t>
            </a:r>
            <a:r>
              <a:rPr lang="ko-KR" altLang="en-US" sz="1400" dirty="0">
                <a:solidFill>
                  <a:schemeClr val="tx2"/>
                </a:solidFill>
              </a:rPr>
              <a:t> 축소 등을 말한다</a:t>
            </a:r>
            <a:r>
              <a:rPr lang="en-US" altLang="ko-KR" sz="1400" dirty="0">
                <a:solidFill>
                  <a:schemeClr val="tx2"/>
                </a:solidFill>
              </a:rPr>
              <a:t>. </a:t>
            </a:r>
            <a:r>
              <a:rPr lang="ko-KR" altLang="en-US" sz="1400" dirty="0">
                <a:solidFill>
                  <a:schemeClr val="tx2"/>
                </a:solidFill>
              </a:rPr>
              <a:t>「</a:t>
            </a:r>
            <a:r>
              <a:rPr lang="ko-KR" altLang="en-US" sz="1400" dirty="0" err="1">
                <a:solidFill>
                  <a:schemeClr val="tx2"/>
                </a:solidFill>
              </a:rPr>
              <a:t>청구항을</a:t>
            </a:r>
            <a:r>
              <a:rPr lang="ko-KR" altLang="en-US" sz="1400" dirty="0">
                <a:solidFill>
                  <a:schemeClr val="tx2"/>
                </a:solidFill>
              </a:rPr>
              <a:t> </a:t>
            </a:r>
            <a:r>
              <a:rPr lang="ko-KR" altLang="en-US" sz="1400" dirty="0" err="1">
                <a:solidFill>
                  <a:schemeClr val="tx2"/>
                </a:solidFill>
              </a:rPr>
              <a:t>삭제」하는</a:t>
            </a:r>
            <a:r>
              <a:rPr lang="ko-KR" altLang="en-US" sz="1400" dirty="0">
                <a:solidFill>
                  <a:schemeClr val="tx2"/>
                </a:solidFill>
              </a:rPr>
              <a:t> 경우는 </a:t>
            </a:r>
            <a:r>
              <a:rPr lang="ko-KR" altLang="en-US" sz="1400" dirty="0" err="1">
                <a:solidFill>
                  <a:schemeClr val="tx2"/>
                </a:solidFill>
              </a:rPr>
              <a:t>청구항을</a:t>
            </a:r>
            <a:r>
              <a:rPr lang="ko-KR" altLang="en-US" sz="1400" dirty="0">
                <a:solidFill>
                  <a:schemeClr val="tx2"/>
                </a:solidFill>
              </a:rPr>
              <a:t> 직접 삭제하는 경우뿐만 아니라 </a:t>
            </a:r>
            <a:r>
              <a:rPr lang="ko-KR" altLang="en-US" sz="1400" dirty="0" err="1">
                <a:solidFill>
                  <a:schemeClr val="tx2"/>
                </a:solidFill>
              </a:rPr>
              <a:t>다수항을</a:t>
            </a:r>
            <a:r>
              <a:rPr lang="ko-KR" altLang="en-US" sz="1400" dirty="0">
                <a:solidFill>
                  <a:schemeClr val="tx2"/>
                </a:solidFill>
              </a:rPr>
              <a:t> 인용하는 </a:t>
            </a:r>
            <a:r>
              <a:rPr lang="ko-KR" altLang="en-US" sz="1400" dirty="0" err="1">
                <a:solidFill>
                  <a:schemeClr val="tx2"/>
                </a:solidFill>
              </a:rPr>
              <a:t>종속항에서</a:t>
            </a:r>
            <a:r>
              <a:rPr lang="ko-KR" altLang="en-US" sz="1400" dirty="0">
                <a:solidFill>
                  <a:schemeClr val="tx2"/>
                </a:solidFill>
              </a:rPr>
              <a:t> </a:t>
            </a:r>
            <a:r>
              <a:rPr lang="ko-KR" altLang="en-US" sz="1400" dirty="0" err="1">
                <a:solidFill>
                  <a:schemeClr val="tx2"/>
                </a:solidFill>
              </a:rPr>
              <a:t>인용항수를</a:t>
            </a:r>
            <a:r>
              <a:rPr lang="ko-KR" altLang="en-US" sz="1400" dirty="0">
                <a:solidFill>
                  <a:schemeClr val="tx2"/>
                </a:solidFill>
              </a:rPr>
              <a:t> 감소하는 것도 포함된다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a:t>
            </a:r>
            <a:r>
              <a:rPr lang="ko-KR" altLang="en-US" sz="1400" dirty="0" err="1">
                <a:solidFill>
                  <a:schemeClr val="tx2"/>
                </a:solidFill>
              </a:rPr>
              <a:t>청구항에</a:t>
            </a:r>
            <a:r>
              <a:rPr lang="ko-KR" altLang="en-US" sz="1400" dirty="0">
                <a:solidFill>
                  <a:schemeClr val="tx2"/>
                </a:solidFill>
              </a:rPr>
              <a:t> </a:t>
            </a:r>
            <a:r>
              <a:rPr lang="ko-KR" altLang="en-US" sz="1400" dirty="0" err="1">
                <a:solidFill>
                  <a:schemeClr val="tx2"/>
                </a:solidFill>
              </a:rPr>
              <a:t>부가」하는</a:t>
            </a:r>
            <a:r>
              <a:rPr lang="ko-KR" altLang="en-US" sz="1400" dirty="0">
                <a:solidFill>
                  <a:schemeClr val="tx2"/>
                </a:solidFill>
              </a:rPr>
              <a:t> 경우는 청구항의 구성요소를 </a:t>
            </a:r>
            <a:r>
              <a:rPr lang="ko-KR" altLang="en-US" sz="1400" dirty="0" err="1">
                <a:solidFill>
                  <a:schemeClr val="tx2"/>
                </a:solidFill>
              </a:rPr>
              <a:t>직렬적으로</a:t>
            </a:r>
            <a:r>
              <a:rPr lang="ko-KR" altLang="en-US" sz="1400" dirty="0">
                <a:solidFill>
                  <a:schemeClr val="tx2"/>
                </a:solidFill>
              </a:rPr>
              <a:t> 부가하는 것을 의미한다</a:t>
            </a:r>
            <a:r>
              <a:rPr lang="en-US" altLang="ko-KR" sz="1400" dirty="0">
                <a:solidFill>
                  <a:schemeClr val="tx2"/>
                </a:solidFill>
              </a:rPr>
              <a:t>.</a:t>
            </a:r>
          </a:p>
        </p:txBody>
      </p:sp>
      <p:cxnSp>
        <p:nvCxnSpPr>
          <p:cNvPr id="6" name="직선 연결선 5"/>
          <p:cNvCxnSpPr/>
          <p:nvPr/>
        </p:nvCxnSpPr>
        <p:spPr>
          <a:xfrm>
            <a:off x="0" y="176110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7" name="표 6"/>
          <p:cNvGraphicFramePr>
            <a:graphicFrameLocks noGrp="1"/>
          </p:cNvGraphicFramePr>
          <p:nvPr/>
        </p:nvGraphicFramePr>
        <p:xfrm>
          <a:off x="5038725" y="2067720"/>
          <a:ext cx="6810375" cy="4390229"/>
        </p:xfrm>
        <a:graphic>
          <a:graphicData uri="http://schemas.openxmlformats.org/drawingml/2006/table">
            <a:tbl>
              <a:tblPr>
                <a:tableStyleId>{8799B23B-EC83-4686-B30A-512413B5E67A}</a:tableStyleId>
              </a:tblPr>
              <a:tblGrid>
                <a:gridCol w="1616358">
                  <a:extLst>
                    <a:ext uri="{9D8B030D-6E8A-4147-A177-3AD203B41FA5}">
                      <a16:colId xmlns:a16="http://schemas.microsoft.com/office/drawing/2014/main" val="1252374931"/>
                    </a:ext>
                  </a:extLst>
                </a:gridCol>
                <a:gridCol w="5194017">
                  <a:extLst>
                    <a:ext uri="{9D8B030D-6E8A-4147-A177-3AD203B41FA5}">
                      <a16:colId xmlns:a16="http://schemas.microsoft.com/office/drawing/2014/main" val="1803973879"/>
                    </a:ext>
                  </a:extLst>
                </a:gridCol>
              </a:tblGrid>
              <a:tr h="263047">
                <a:tc>
                  <a:txBody>
                    <a:bodyPr/>
                    <a:lstStyle/>
                    <a:p>
                      <a:pPr marL="0" marR="0" indent="0" algn="ctr" fontAlgn="base" latinLnBrk="0">
                        <a:lnSpc>
                          <a:spcPct val="100000"/>
                        </a:lnSpc>
                        <a:spcBef>
                          <a:spcPts val="0"/>
                        </a:spcBef>
                        <a:spcAft>
                          <a:spcPts val="0"/>
                        </a:spcAft>
                      </a:pPr>
                      <a:r>
                        <a:rPr lang="ko-KR" altLang="en-US" sz="1200" kern="1200" dirty="0"/>
                        <a:t>구 분</a:t>
                      </a:r>
                      <a:endParaRPr lang="ko-KR" altLang="en-US" sz="12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1200" dirty="0"/>
                        <a:t>구체적 예</a:t>
                      </a:r>
                      <a:endParaRPr lang="ko-KR" altLang="en-US" sz="12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3020614047"/>
                  </a:ext>
                </a:extLst>
              </a:tr>
              <a:tr h="483017">
                <a:tc>
                  <a:txBody>
                    <a:bodyPr/>
                    <a:lstStyle/>
                    <a:p>
                      <a:pPr marL="0" marR="0" indent="0" algn="ctr" fontAlgn="base" latinLnBrk="0">
                        <a:lnSpc>
                          <a:spcPct val="100000"/>
                        </a:lnSpc>
                        <a:spcBef>
                          <a:spcPts val="0"/>
                        </a:spcBef>
                        <a:spcAft>
                          <a:spcPts val="0"/>
                        </a:spcAft>
                        <a:tabLst>
                          <a:tab pos="0" algn="l"/>
                          <a:tab pos="179388" algn="l"/>
                          <a:tab pos="185738" algn="l"/>
                          <a:tab pos="185738" algn="l"/>
                        </a:tabLst>
                      </a:pPr>
                      <a:r>
                        <a:rPr lang="ko-KR" altLang="en-US" sz="1200" kern="1200" dirty="0"/>
                        <a:t>상위개념의 기재로의 변경</a:t>
                      </a:r>
                      <a:endParaRPr lang="ko-KR" altLang="en-US" sz="1200" kern="1200" dirty="0">
                        <a:solidFill>
                          <a:schemeClr val="tx2"/>
                        </a:solidFill>
                        <a:latin typeface="+mn-lt"/>
                        <a:ea typeface="+mn-ea"/>
                        <a:cs typeface="+mn-cs"/>
                      </a:endParaRPr>
                    </a:p>
                  </a:txBody>
                  <a:tcPr marL="36000" marR="36000" marT="17907" marB="17907" anchor="ctr"/>
                </a:tc>
                <a:tc>
                  <a:txBody>
                    <a:bodyPr/>
                    <a:lstStyle/>
                    <a:p>
                      <a:pPr marL="368300" marR="0" indent="-368300" algn="just" fontAlgn="base" latinLnBrk="1">
                        <a:lnSpc>
                          <a:spcPct val="100000"/>
                        </a:lnSpc>
                        <a:spcBef>
                          <a:spcPts val="0"/>
                        </a:spcBef>
                        <a:spcAft>
                          <a:spcPts val="0"/>
                        </a:spcAft>
                        <a:tabLst>
                          <a:tab pos="186690" algn="l"/>
                          <a:tab pos="321310" algn="l"/>
                          <a:tab pos="186690" algn="l"/>
                          <a:tab pos="321310" algn="l"/>
                        </a:tabLst>
                      </a:pPr>
                      <a:r>
                        <a:rPr lang="ko-KR" altLang="en-US" sz="1200" kern="1200" dirty="0"/>
                        <a:t>당초</a:t>
                      </a:r>
                      <a:r>
                        <a:rPr lang="en-US" altLang="ko-KR" sz="1200" kern="1200" dirty="0"/>
                        <a:t>: ...</a:t>
                      </a:r>
                      <a:r>
                        <a:rPr lang="ko-KR" altLang="en-US" sz="1200" kern="1200" dirty="0"/>
                        <a:t>스프링으로 지지되는</a:t>
                      </a:r>
                      <a:r>
                        <a:rPr lang="en-US" altLang="ko-KR" sz="1200" kern="1200" dirty="0"/>
                        <a:t>..... </a:t>
                      </a:r>
                      <a:r>
                        <a:rPr lang="ko-KR" altLang="en-US" sz="1200" kern="1200" dirty="0"/>
                        <a:t>→ </a:t>
                      </a:r>
                      <a:r>
                        <a:rPr lang="en-US" altLang="ko-KR" sz="1200" kern="1200" dirty="0"/>
                        <a:t>....</a:t>
                      </a:r>
                      <a:r>
                        <a:rPr lang="ko-KR" altLang="en-US" sz="1200" kern="1200" dirty="0"/>
                        <a:t>탄성체로 지지되는</a:t>
                      </a:r>
                      <a:r>
                        <a:rPr lang="en-US" altLang="ko-KR" sz="1200" kern="1200" dirty="0"/>
                        <a:t>...</a:t>
                      </a:r>
                      <a:endParaRPr lang="ko-KR" altLang="en-US" sz="1200" kern="1200" dirty="0">
                        <a:solidFill>
                          <a:schemeClr val="tx2"/>
                        </a:solidFill>
                        <a:latin typeface="+mn-lt"/>
                        <a:ea typeface="+mn-ea"/>
                        <a:cs typeface="+mn-cs"/>
                      </a:endParaRPr>
                    </a:p>
                  </a:txBody>
                  <a:tcPr marL="36000" marR="36000" marT="17907" marB="17907" anchor="ctr"/>
                </a:tc>
                <a:extLst>
                  <a:ext uri="{0D108BD9-81ED-4DB2-BD59-A6C34878D82A}">
                    <a16:rowId xmlns:a16="http://schemas.microsoft.com/office/drawing/2014/main" val="3522068117"/>
                  </a:ext>
                </a:extLst>
              </a:tr>
              <a:tr h="263047">
                <a:tc>
                  <a:txBody>
                    <a:bodyPr/>
                    <a:lstStyle/>
                    <a:p>
                      <a:pPr marL="0" marR="0" indent="0" algn="ctr" fontAlgn="base" latinLnBrk="0">
                        <a:lnSpc>
                          <a:spcPct val="100000"/>
                        </a:lnSpc>
                        <a:spcBef>
                          <a:spcPts val="0"/>
                        </a:spcBef>
                        <a:spcAft>
                          <a:spcPts val="0"/>
                        </a:spcAft>
                        <a:tabLst>
                          <a:tab pos="186690" algn="l"/>
                          <a:tab pos="321310" algn="l"/>
                          <a:tab pos="186690" algn="l"/>
                          <a:tab pos="321310" algn="l"/>
                        </a:tabLst>
                      </a:pPr>
                      <a:r>
                        <a:rPr lang="ko-KR" altLang="en-US" sz="1200" kern="1200" dirty="0" err="1"/>
                        <a:t>직렬적</a:t>
                      </a:r>
                      <a:r>
                        <a:rPr lang="ko-KR" altLang="en-US" sz="1200" kern="1200" dirty="0"/>
                        <a:t> 구성요소의 삭제</a:t>
                      </a:r>
                      <a:endParaRPr lang="ko-KR" altLang="en-US" sz="1200" kern="1200" dirty="0">
                        <a:solidFill>
                          <a:schemeClr val="tx2"/>
                        </a:solidFill>
                        <a:latin typeface="+mn-lt"/>
                        <a:ea typeface="+mn-ea"/>
                        <a:cs typeface="+mn-cs"/>
                      </a:endParaRPr>
                    </a:p>
                  </a:txBody>
                  <a:tcPr marL="36000" marR="36000" marT="17907" marB="17907" anchor="ctr"/>
                </a:tc>
                <a:tc>
                  <a:txBody>
                    <a:bodyPr/>
                    <a:lstStyle/>
                    <a:p>
                      <a:pPr marL="368300" marR="0" indent="-368300" algn="just" fontAlgn="base" latinLnBrk="1">
                        <a:lnSpc>
                          <a:spcPct val="100000"/>
                        </a:lnSpc>
                        <a:spcBef>
                          <a:spcPts val="0"/>
                        </a:spcBef>
                        <a:spcAft>
                          <a:spcPts val="0"/>
                        </a:spcAft>
                        <a:tabLst>
                          <a:tab pos="186690" algn="l"/>
                          <a:tab pos="321310" algn="l"/>
                          <a:tab pos="186690" algn="l"/>
                          <a:tab pos="321310" algn="l"/>
                        </a:tabLst>
                      </a:pPr>
                      <a:r>
                        <a:rPr lang="ko-KR" altLang="en-US" sz="1200" kern="1200" dirty="0"/>
                        <a:t>당초</a:t>
                      </a:r>
                      <a:r>
                        <a:rPr lang="en-US" altLang="ko-KR" sz="1200" kern="1200" dirty="0"/>
                        <a:t>: A, B, C, D</a:t>
                      </a:r>
                      <a:r>
                        <a:rPr lang="ko-KR" altLang="en-US" sz="1200" kern="1200" dirty="0"/>
                        <a:t>로 구성된 자동차 → </a:t>
                      </a:r>
                      <a:r>
                        <a:rPr lang="en-US" altLang="ko-KR" sz="1200" kern="1200" dirty="0"/>
                        <a:t>A, B, C</a:t>
                      </a:r>
                      <a:r>
                        <a:rPr lang="ko-KR" altLang="en-US" sz="1200" kern="1200" dirty="0"/>
                        <a:t>로 구성된 자동차</a:t>
                      </a:r>
                      <a:endParaRPr lang="ko-KR" altLang="en-US" sz="1200" kern="1200" dirty="0">
                        <a:solidFill>
                          <a:schemeClr val="tx2"/>
                        </a:solidFill>
                        <a:latin typeface="+mn-lt"/>
                        <a:ea typeface="+mn-ea"/>
                        <a:cs typeface="+mn-cs"/>
                      </a:endParaRPr>
                    </a:p>
                  </a:txBody>
                  <a:tcPr marL="36000" marR="36000" marT="17907" marB="17907" anchor="ctr"/>
                </a:tc>
                <a:extLst>
                  <a:ext uri="{0D108BD9-81ED-4DB2-BD59-A6C34878D82A}">
                    <a16:rowId xmlns:a16="http://schemas.microsoft.com/office/drawing/2014/main" val="510045115"/>
                  </a:ext>
                </a:extLst>
              </a:tr>
              <a:tr h="263047">
                <a:tc>
                  <a:txBody>
                    <a:bodyPr/>
                    <a:lstStyle/>
                    <a:p>
                      <a:pPr marL="0" marR="0" indent="0" algn="ctr" fontAlgn="base" latinLnBrk="0">
                        <a:lnSpc>
                          <a:spcPct val="100000"/>
                        </a:lnSpc>
                        <a:spcBef>
                          <a:spcPts val="0"/>
                        </a:spcBef>
                        <a:spcAft>
                          <a:spcPts val="0"/>
                        </a:spcAft>
                        <a:tabLst>
                          <a:tab pos="185738" algn="l"/>
                          <a:tab pos="185738" algn="l"/>
                        </a:tabLst>
                      </a:pPr>
                      <a:r>
                        <a:rPr lang="ko-KR" altLang="en-US" sz="1200" kern="1200" dirty="0" err="1"/>
                        <a:t>직렬적</a:t>
                      </a:r>
                      <a:r>
                        <a:rPr lang="ko-KR" altLang="en-US" sz="1200" kern="1200" dirty="0"/>
                        <a:t> 구성요소의 가감</a:t>
                      </a:r>
                      <a:endParaRPr lang="ko-KR" altLang="en-US" sz="1200" kern="1200" dirty="0">
                        <a:solidFill>
                          <a:schemeClr val="tx2"/>
                        </a:solidFill>
                        <a:latin typeface="+mn-lt"/>
                        <a:ea typeface="+mn-ea"/>
                        <a:cs typeface="+mn-cs"/>
                      </a:endParaRPr>
                    </a:p>
                  </a:txBody>
                  <a:tcPr marL="36000" marR="36000" marT="17907" marB="17907" anchor="ctr"/>
                </a:tc>
                <a:tc>
                  <a:txBody>
                    <a:bodyPr/>
                    <a:lstStyle/>
                    <a:p>
                      <a:pPr marL="368300" marR="0" indent="-368300" algn="just" fontAlgn="base" latinLnBrk="1">
                        <a:lnSpc>
                          <a:spcPct val="100000"/>
                        </a:lnSpc>
                        <a:spcBef>
                          <a:spcPts val="0"/>
                        </a:spcBef>
                        <a:spcAft>
                          <a:spcPts val="0"/>
                        </a:spcAft>
                        <a:tabLst>
                          <a:tab pos="186690" algn="l"/>
                          <a:tab pos="321310" algn="l"/>
                          <a:tab pos="186690" algn="l"/>
                          <a:tab pos="321310" algn="l"/>
                        </a:tabLst>
                      </a:pPr>
                      <a:r>
                        <a:rPr lang="ko-KR" altLang="en-US" sz="1200" kern="1200" dirty="0"/>
                        <a:t>당초</a:t>
                      </a:r>
                      <a:r>
                        <a:rPr lang="en-US" altLang="ko-KR" sz="1200" kern="1200" dirty="0"/>
                        <a:t>: A, B, C</a:t>
                      </a:r>
                      <a:r>
                        <a:rPr lang="ko-KR" altLang="en-US" sz="1200" kern="1200" dirty="0"/>
                        <a:t>로 구성된 장치 → </a:t>
                      </a:r>
                      <a:r>
                        <a:rPr lang="en-US" altLang="ko-KR" sz="1200" kern="1200" dirty="0"/>
                        <a:t>B, C, D, E</a:t>
                      </a:r>
                      <a:r>
                        <a:rPr lang="ko-KR" altLang="en-US" sz="1200" kern="1200" dirty="0"/>
                        <a:t>로 구성된 장치</a:t>
                      </a:r>
                      <a:endParaRPr lang="ko-KR" altLang="en-US" sz="1200" kern="1200" dirty="0">
                        <a:solidFill>
                          <a:schemeClr val="tx2"/>
                        </a:solidFill>
                        <a:latin typeface="+mn-lt"/>
                        <a:ea typeface="+mn-ea"/>
                        <a:cs typeface="+mn-cs"/>
                      </a:endParaRPr>
                    </a:p>
                  </a:txBody>
                  <a:tcPr marL="36000" marR="36000" marT="17907" marB="17907" anchor="ctr"/>
                </a:tc>
                <a:extLst>
                  <a:ext uri="{0D108BD9-81ED-4DB2-BD59-A6C34878D82A}">
                    <a16:rowId xmlns:a16="http://schemas.microsoft.com/office/drawing/2014/main" val="2263474432"/>
                  </a:ext>
                </a:extLst>
              </a:tr>
              <a:tr h="263047">
                <a:tc>
                  <a:txBody>
                    <a:bodyPr/>
                    <a:lstStyle/>
                    <a:p>
                      <a:pPr marL="0" marR="0" indent="0" algn="ctr" fontAlgn="base" latinLnBrk="0">
                        <a:lnSpc>
                          <a:spcPct val="100000"/>
                        </a:lnSpc>
                        <a:spcBef>
                          <a:spcPts val="0"/>
                        </a:spcBef>
                        <a:spcAft>
                          <a:spcPts val="0"/>
                        </a:spcAft>
                        <a:tabLst>
                          <a:tab pos="186690" algn="l"/>
                          <a:tab pos="321310" algn="l"/>
                          <a:tab pos="186690" algn="l"/>
                          <a:tab pos="321310" algn="l"/>
                        </a:tabLst>
                      </a:pPr>
                      <a:r>
                        <a:rPr lang="ko-KR" altLang="en-US" sz="1200" kern="1200" dirty="0" err="1"/>
                        <a:t>수치범위의</a:t>
                      </a:r>
                      <a:r>
                        <a:rPr lang="ko-KR" altLang="en-US" sz="1200" kern="1200" dirty="0"/>
                        <a:t> 확장</a:t>
                      </a:r>
                      <a:endParaRPr lang="ko-KR" altLang="en-US" sz="1200" kern="1200" dirty="0">
                        <a:solidFill>
                          <a:schemeClr val="tx2"/>
                        </a:solidFill>
                        <a:latin typeface="+mn-lt"/>
                        <a:ea typeface="+mn-ea"/>
                        <a:cs typeface="+mn-cs"/>
                      </a:endParaRPr>
                    </a:p>
                  </a:txBody>
                  <a:tcPr marL="36000" marR="36000" marT="17907" marB="17907" anchor="ctr"/>
                </a:tc>
                <a:tc>
                  <a:txBody>
                    <a:bodyPr/>
                    <a:lstStyle/>
                    <a:p>
                      <a:pPr marL="368300" marR="0" indent="-368300" algn="just" fontAlgn="base" latinLnBrk="1">
                        <a:lnSpc>
                          <a:spcPct val="100000"/>
                        </a:lnSpc>
                        <a:spcBef>
                          <a:spcPts val="0"/>
                        </a:spcBef>
                        <a:spcAft>
                          <a:spcPts val="0"/>
                        </a:spcAft>
                        <a:tabLst>
                          <a:tab pos="186690" algn="l"/>
                          <a:tab pos="321310" algn="l"/>
                          <a:tab pos="186690" algn="l"/>
                          <a:tab pos="321310" algn="l"/>
                        </a:tabLst>
                      </a:pPr>
                      <a:r>
                        <a:rPr lang="ko-KR" altLang="en-US" sz="1200" kern="1200" dirty="0"/>
                        <a:t>당초</a:t>
                      </a:r>
                      <a:r>
                        <a:rPr lang="en-US" altLang="ko-KR" sz="1200" kern="1200" dirty="0"/>
                        <a:t>: 10</a:t>
                      </a:r>
                      <a:r>
                        <a:rPr lang="ko-KR" altLang="en-US" sz="1200" kern="1200" dirty="0"/>
                        <a:t>～</a:t>
                      </a:r>
                      <a:r>
                        <a:rPr lang="en-US" altLang="ko-KR" sz="1200" kern="1200" dirty="0"/>
                        <a:t>50°C</a:t>
                      </a:r>
                      <a:r>
                        <a:rPr lang="ko-KR" altLang="en-US" sz="1200" kern="1200" dirty="0"/>
                        <a:t>의 온도에서</a:t>
                      </a:r>
                      <a:r>
                        <a:rPr lang="en-US" altLang="ko-KR" sz="1200" kern="1200" dirty="0"/>
                        <a:t>... </a:t>
                      </a:r>
                      <a:r>
                        <a:rPr lang="ko-KR" altLang="en-US" sz="1200" kern="1200" dirty="0"/>
                        <a:t>→ </a:t>
                      </a:r>
                      <a:r>
                        <a:rPr lang="en-US" altLang="ko-KR" sz="1200" kern="1200" dirty="0"/>
                        <a:t>10</a:t>
                      </a:r>
                      <a:r>
                        <a:rPr lang="ko-KR" altLang="en-US" sz="1200" kern="1200" dirty="0"/>
                        <a:t>～</a:t>
                      </a:r>
                      <a:r>
                        <a:rPr lang="en-US" altLang="ko-KR" sz="1200" kern="1200" dirty="0"/>
                        <a:t>70°C</a:t>
                      </a:r>
                      <a:r>
                        <a:rPr lang="ko-KR" altLang="en-US" sz="1200" kern="1200" dirty="0"/>
                        <a:t>의 온도에서</a:t>
                      </a:r>
                      <a:r>
                        <a:rPr lang="en-US" altLang="ko-KR" sz="1200" kern="1200" dirty="0"/>
                        <a:t>....</a:t>
                      </a:r>
                      <a:endParaRPr lang="ko-KR" altLang="en-US" sz="1200" kern="1200" dirty="0">
                        <a:solidFill>
                          <a:schemeClr val="tx2"/>
                        </a:solidFill>
                        <a:latin typeface="+mn-lt"/>
                        <a:ea typeface="+mn-ea"/>
                        <a:cs typeface="+mn-cs"/>
                      </a:endParaRPr>
                    </a:p>
                  </a:txBody>
                  <a:tcPr marL="36000" marR="36000" marT="17907" marB="17907" anchor="ctr"/>
                </a:tc>
                <a:extLst>
                  <a:ext uri="{0D108BD9-81ED-4DB2-BD59-A6C34878D82A}">
                    <a16:rowId xmlns:a16="http://schemas.microsoft.com/office/drawing/2014/main" val="1629478147"/>
                  </a:ext>
                </a:extLst>
              </a:tr>
              <a:tr h="263047">
                <a:tc>
                  <a:txBody>
                    <a:bodyPr/>
                    <a:lstStyle/>
                    <a:p>
                      <a:pPr marL="0" marR="0" indent="0" algn="ctr" fontAlgn="base" latinLnBrk="0">
                        <a:lnSpc>
                          <a:spcPct val="100000"/>
                        </a:lnSpc>
                        <a:spcBef>
                          <a:spcPts val="0"/>
                        </a:spcBef>
                        <a:spcAft>
                          <a:spcPts val="0"/>
                        </a:spcAft>
                        <a:tabLst>
                          <a:tab pos="185738" algn="l"/>
                          <a:tab pos="185738" algn="l"/>
                          <a:tab pos="320675" algn="l"/>
                        </a:tabLst>
                      </a:pPr>
                      <a:r>
                        <a:rPr lang="ko-KR" altLang="en-US" sz="1200" kern="1200" dirty="0"/>
                        <a:t>구성요소의 치환</a:t>
                      </a:r>
                      <a:endParaRPr lang="ko-KR" altLang="en-US" sz="1200" kern="1200" dirty="0">
                        <a:solidFill>
                          <a:schemeClr val="tx2"/>
                        </a:solidFill>
                        <a:latin typeface="+mn-lt"/>
                        <a:ea typeface="+mn-ea"/>
                        <a:cs typeface="+mn-cs"/>
                      </a:endParaRPr>
                    </a:p>
                  </a:txBody>
                  <a:tcPr marL="36000" marR="36000" marT="17907" marB="17907" anchor="ctr"/>
                </a:tc>
                <a:tc>
                  <a:txBody>
                    <a:bodyPr/>
                    <a:lstStyle/>
                    <a:p>
                      <a:pPr marL="368300" marR="0" indent="-368300" algn="just" fontAlgn="base" latinLnBrk="1">
                        <a:lnSpc>
                          <a:spcPct val="100000"/>
                        </a:lnSpc>
                        <a:spcBef>
                          <a:spcPts val="0"/>
                        </a:spcBef>
                        <a:spcAft>
                          <a:spcPts val="0"/>
                        </a:spcAft>
                        <a:tabLst>
                          <a:tab pos="186690" algn="l"/>
                          <a:tab pos="321310" algn="l"/>
                          <a:tab pos="186690" algn="l"/>
                          <a:tab pos="321310" algn="l"/>
                        </a:tabLst>
                      </a:pPr>
                      <a:r>
                        <a:rPr lang="ko-KR" altLang="en-US" sz="1200" kern="1200" dirty="0"/>
                        <a:t>당초</a:t>
                      </a:r>
                      <a:r>
                        <a:rPr lang="en-US" altLang="ko-KR" sz="1200" kern="1200" dirty="0"/>
                        <a:t>: </a:t>
                      </a:r>
                      <a:r>
                        <a:rPr lang="ko-KR" altLang="en-US" sz="1200" kern="1200" dirty="0"/>
                        <a:t>볼트로 결합시킨</a:t>
                      </a:r>
                      <a:r>
                        <a:rPr lang="en-US" altLang="ko-KR" sz="1200" kern="1200" dirty="0"/>
                        <a:t>... </a:t>
                      </a:r>
                      <a:r>
                        <a:rPr lang="ko-KR" altLang="en-US" sz="1200" kern="1200" dirty="0"/>
                        <a:t>→ </a:t>
                      </a:r>
                      <a:r>
                        <a:rPr lang="ko-KR" altLang="en-US" sz="1200" kern="1200" dirty="0" err="1"/>
                        <a:t>리벳으로</a:t>
                      </a:r>
                      <a:r>
                        <a:rPr lang="ko-KR" altLang="en-US" sz="1200" kern="1200" dirty="0"/>
                        <a:t> 결합시킨</a:t>
                      </a:r>
                      <a:r>
                        <a:rPr lang="en-US" altLang="ko-KR" sz="1200" kern="1200" dirty="0"/>
                        <a:t>....</a:t>
                      </a:r>
                      <a:endParaRPr lang="ko-KR" altLang="en-US" sz="1200" kern="1200" dirty="0">
                        <a:solidFill>
                          <a:schemeClr val="tx2"/>
                        </a:solidFill>
                        <a:latin typeface="+mn-lt"/>
                        <a:ea typeface="+mn-ea"/>
                        <a:cs typeface="+mn-cs"/>
                      </a:endParaRPr>
                    </a:p>
                  </a:txBody>
                  <a:tcPr marL="36000" marR="36000" marT="17907" marB="17907" anchor="ctr"/>
                </a:tc>
                <a:extLst>
                  <a:ext uri="{0D108BD9-81ED-4DB2-BD59-A6C34878D82A}">
                    <a16:rowId xmlns:a16="http://schemas.microsoft.com/office/drawing/2014/main" val="1427762346"/>
                  </a:ext>
                </a:extLst>
              </a:tr>
              <a:tr h="263047">
                <a:tc>
                  <a:txBody>
                    <a:bodyPr/>
                    <a:lstStyle/>
                    <a:p>
                      <a:pPr marL="0" marR="0" indent="0" algn="ctr" fontAlgn="base" latinLnBrk="0">
                        <a:lnSpc>
                          <a:spcPct val="100000"/>
                        </a:lnSpc>
                        <a:spcBef>
                          <a:spcPts val="0"/>
                        </a:spcBef>
                        <a:spcAft>
                          <a:spcPts val="0"/>
                        </a:spcAft>
                        <a:tabLst>
                          <a:tab pos="185738" algn="l"/>
                          <a:tab pos="185738" algn="l"/>
                        </a:tabLst>
                      </a:pPr>
                      <a:r>
                        <a:rPr lang="ko-KR" altLang="en-US" sz="1200" kern="1200" dirty="0" err="1"/>
                        <a:t>수치범위의</a:t>
                      </a:r>
                      <a:r>
                        <a:rPr lang="ko-KR" altLang="en-US" sz="1200" kern="1200" dirty="0"/>
                        <a:t> 변경</a:t>
                      </a:r>
                      <a:endParaRPr lang="ko-KR" altLang="en-US" sz="1200" kern="1200" dirty="0">
                        <a:solidFill>
                          <a:schemeClr val="tx2"/>
                        </a:solidFill>
                        <a:latin typeface="+mn-lt"/>
                        <a:ea typeface="+mn-ea"/>
                        <a:cs typeface="+mn-cs"/>
                      </a:endParaRPr>
                    </a:p>
                  </a:txBody>
                  <a:tcPr marL="36000" marR="36000" marT="17907" marB="17907" anchor="ctr"/>
                </a:tc>
                <a:tc>
                  <a:txBody>
                    <a:bodyPr/>
                    <a:lstStyle/>
                    <a:p>
                      <a:pPr marL="368300" marR="0" indent="-368300" algn="just" fontAlgn="base" latinLnBrk="1">
                        <a:lnSpc>
                          <a:spcPct val="100000"/>
                        </a:lnSpc>
                        <a:spcBef>
                          <a:spcPts val="0"/>
                        </a:spcBef>
                        <a:spcAft>
                          <a:spcPts val="0"/>
                        </a:spcAft>
                        <a:tabLst>
                          <a:tab pos="186690" algn="l"/>
                          <a:tab pos="321310" algn="l"/>
                          <a:tab pos="186690" algn="l"/>
                          <a:tab pos="321310" algn="l"/>
                        </a:tabLst>
                      </a:pPr>
                      <a:r>
                        <a:rPr lang="ko-KR" altLang="en-US" sz="1200" kern="1200" dirty="0"/>
                        <a:t>당초</a:t>
                      </a:r>
                      <a:r>
                        <a:rPr lang="en-US" altLang="ko-KR" sz="1200" kern="1200" dirty="0"/>
                        <a:t>: 10</a:t>
                      </a:r>
                      <a:r>
                        <a:rPr lang="ko-KR" altLang="en-US" sz="1200" kern="1200" dirty="0"/>
                        <a:t>～</a:t>
                      </a:r>
                      <a:r>
                        <a:rPr lang="en-US" altLang="ko-KR" sz="1200" kern="1200" dirty="0"/>
                        <a:t>20°C</a:t>
                      </a:r>
                      <a:r>
                        <a:rPr lang="ko-KR" altLang="en-US" sz="1200" kern="1200" dirty="0"/>
                        <a:t>의 온도에서</a:t>
                      </a:r>
                      <a:r>
                        <a:rPr lang="en-US" altLang="ko-KR" sz="1200" kern="1200" dirty="0"/>
                        <a:t>... </a:t>
                      </a:r>
                      <a:r>
                        <a:rPr lang="ko-KR" altLang="en-US" sz="1200" kern="1200" dirty="0"/>
                        <a:t>→ </a:t>
                      </a:r>
                      <a:r>
                        <a:rPr lang="en-US" altLang="ko-KR" sz="1200" kern="1200" dirty="0"/>
                        <a:t>30</a:t>
                      </a:r>
                      <a:r>
                        <a:rPr lang="ko-KR" altLang="en-US" sz="1200" kern="1200" dirty="0"/>
                        <a:t>～</a:t>
                      </a:r>
                      <a:r>
                        <a:rPr lang="en-US" altLang="ko-KR" sz="1200" kern="1200" dirty="0"/>
                        <a:t>50°C</a:t>
                      </a:r>
                      <a:r>
                        <a:rPr lang="ko-KR" altLang="en-US" sz="1200" kern="1200" dirty="0"/>
                        <a:t>의 온도에서</a:t>
                      </a:r>
                      <a:r>
                        <a:rPr lang="en-US" altLang="ko-KR" sz="1200" kern="1200" dirty="0"/>
                        <a:t>....</a:t>
                      </a:r>
                      <a:endParaRPr lang="ko-KR" altLang="en-US" sz="1200" kern="1200" dirty="0">
                        <a:solidFill>
                          <a:schemeClr val="tx2"/>
                        </a:solidFill>
                        <a:latin typeface="+mn-lt"/>
                        <a:ea typeface="+mn-ea"/>
                        <a:cs typeface="+mn-cs"/>
                      </a:endParaRPr>
                    </a:p>
                  </a:txBody>
                  <a:tcPr marL="36000" marR="36000" marT="17907" marB="17907" anchor="ctr"/>
                </a:tc>
                <a:extLst>
                  <a:ext uri="{0D108BD9-81ED-4DB2-BD59-A6C34878D82A}">
                    <a16:rowId xmlns:a16="http://schemas.microsoft.com/office/drawing/2014/main" val="2910195488"/>
                  </a:ext>
                </a:extLst>
              </a:tr>
              <a:tr h="263047">
                <a:tc>
                  <a:txBody>
                    <a:bodyPr/>
                    <a:lstStyle/>
                    <a:p>
                      <a:pPr marL="368300" marR="0" indent="-368300" algn="ctr" fontAlgn="base" latinLnBrk="0">
                        <a:lnSpc>
                          <a:spcPct val="100000"/>
                        </a:lnSpc>
                        <a:spcBef>
                          <a:spcPts val="0"/>
                        </a:spcBef>
                        <a:spcAft>
                          <a:spcPts val="0"/>
                        </a:spcAft>
                        <a:tabLst>
                          <a:tab pos="185738" algn="l"/>
                          <a:tab pos="185738" algn="l"/>
                        </a:tabLst>
                      </a:pPr>
                      <a:r>
                        <a:rPr lang="ko-KR" altLang="en-US" sz="1200" kern="1200" dirty="0" err="1"/>
                        <a:t>택일적</a:t>
                      </a:r>
                      <a:r>
                        <a:rPr lang="ko-KR" altLang="en-US" sz="1200" kern="1200" dirty="0"/>
                        <a:t> 요소의 추가</a:t>
                      </a:r>
                      <a:endParaRPr lang="ko-KR" altLang="en-US" sz="1200" kern="1200" dirty="0">
                        <a:solidFill>
                          <a:schemeClr val="tx2"/>
                        </a:solidFill>
                        <a:latin typeface="+mn-lt"/>
                        <a:ea typeface="+mn-ea"/>
                        <a:cs typeface="+mn-cs"/>
                      </a:endParaRPr>
                    </a:p>
                  </a:txBody>
                  <a:tcPr marL="36000" marR="36000" marT="17907" marB="17907" anchor="ctr"/>
                </a:tc>
                <a:tc>
                  <a:txBody>
                    <a:bodyPr/>
                    <a:lstStyle/>
                    <a:p>
                      <a:pPr marL="368300" marR="0" indent="-368300" algn="just" defTabSz="914400" rtl="0" eaLnBrk="1" fontAlgn="base" latinLnBrk="1" hangingPunct="1">
                        <a:lnSpc>
                          <a:spcPct val="100000"/>
                        </a:lnSpc>
                        <a:spcBef>
                          <a:spcPts val="0"/>
                        </a:spcBef>
                        <a:spcAft>
                          <a:spcPts val="0"/>
                        </a:spcAft>
                        <a:buClrTx/>
                        <a:buSzTx/>
                        <a:buFontTx/>
                        <a:buNone/>
                        <a:tabLst>
                          <a:tab pos="186690" algn="l"/>
                          <a:tab pos="321310" algn="l"/>
                          <a:tab pos="186690" algn="l"/>
                          <a:tab pos="321310" algn="l"/>
                        </a:tabLst>
                        <a:defRPr/>
                      </a:pPr>
                      <a:r>
                        <a:rPr lang="en-US" altLang="ko-KR" sz="1200" kern="1200" dirty="0"/>
                        <a:t>Fe </a:t>
                      </a:r>
                      <a:r>
                        <a:rPr lang="ko-KR" altLang="en-US" sz="1200" kern="1200" dirty="0"/>
                        <a:t>또는 </a:t>
                      </a:r>
                      <a:r>
                        <a:rPr lang="en-US" altLang="ko-KR" sz="1200" kern="1200" dirty="0"/>
                        <a:t>Al</a:t>
                      </a:r>
                      <a:r>
                        <a:rPr lang="ko-KR" altLang="en-US" sz="1200" kern="1200" dirty="0"/>
                        <a:t>로</a:t>
                      </a:r>
                      <a:r>
                        <a:rPr lang="en-US" altLang="ko-KR" sz="1200" kern="1200" dirty="0"/>
                        <a:t>...</a:t>
                      </a:r>
                      <a:r>
                        <a:rPr lang="ko-KR" altLang="en-US" sz="1200" kern="1200" dirty="0"/>
                        <a:t>→ </a:t>
                      </a:r>
                      <a:r>
                        <a:rPr lang="en-US" altLang="ko-KR" sz="1200" kern="1200" dirty="0"/>
                        <a:t>Fe, Al </a:t>
                      </a:r>
                      <a:r>
                        <a:rPr lang="ko-KR" altLang="en-US" sz="1200" kern="1200" dirty="0"/>
                        <a:t>또는 </a:t>
                      </a:r>
                      <a:r>
                        <a:rPr lang="en-US" altLang="ko-KR" sz="1200" kern="1200" dirty="0"/>
                        <a:t>Cu</a:t>
                      </a:r>
                      <a:r>
                        <a:rPr lang="ko-KR" altLang="en-US" sz="1200" kern="1200" dirty="0"/>
                        <a:t>로</a:t>
                      </a:r>
                      <a:r>
                        <a:rPr lang="en-US" altLang="ko-KR" sz="1200" kern="1200" dirty="0"/>
                        <a:t>....</a:t>
                      </a:r>
                      <a:endParaRPr lang="ko-KR" altLang="en-US" sz="1200" kern="1200" dirty="0">
                        <a:solidFill>
                          <a:schemeClr val="tx2"/>
                        </a:solidFill>
                        <a:latin typeface="+mn-lt"/>
                        <a:ea typeface="+mn-ea"/>
                        <a:cs typeface="+mn-cs"/>
                      </a:endParaRPr>
                    </a:p>
                  </a:txBody>
                  <a:tcPr marL="36000" marR="36000" marT="17907" marB="17907" anchor="ctr"/>
                </a:tc>
                <a:extLst>
                  <a:ext uri="{0D108BD9-81ED-4DB2-BD59-A6C34878D82A}">
                    <a16:rowId xmlns:a16="http://schemas.microsoft.com/office/drawing/2014/main" val="253574147"/>
                  </a:ext>
                </a:extLst>
              </a:tr>
              <a:tr h="263047">
                <a:tc>
                  <a:txBody>
                    <a:bodyPr/>
                    <a:lstStyle/>
                    <a:p>
                      <a:pPr marL="368300" marR="0" indent="-368300" algn="ctr" fontAlgn="base" latinLnBrk="0">
                        <a:lnSpc>
                          <a:spcPct val="100000"/>
                        </a:lnSpc>
                        <a:spcBef>
                          <a:spcPts val="0"/>
                        </a:spcBef>
                        <a:spcAft>
                          <a:spcPts val="0"/>
                        </a:spcAft>
                        <a:tabLst>
                          <a:tab pos="186690" algn="l"/>
                          <a:tab pos="321310" algn="l"/>
                          <a:tab pos="186690" algn="l"/>
                          <a:tab pos="321310" algn="l"/>
                        </a:tabLst>
                      </a:pPr>
                      <a:r>
                        <a:rPr lang="ko-KR" altLang="en-US" sz="1200" kern="1200" dirty="0" err="1"/>
                        <a:t>인용항의</a:t>
                      </a:r>
                      <a:r>
                        <a:rPr lang="ko-KR" altLang="en-US" sz="1200" kern="1200" dirty="0"/>
                        <a:t> 추가</a:t>
                      </a:r>
                      <a:endParaRPr lang="ko-KR" altLang="en-US" sz="1200" kern="1200" dirty="0">
                        <a:solidFill>
                          <a:schemeClr val="tx2"/>
                        </a:solidFill>
                        <a:latin typeface="+mn-lt"/>
                        <a:ea typeface="+mn-ea"/>
                        <a:cs typeface="+mn-cs"/>
                      </a:endParaRPr>
                    </a:p>
                  </a:txBody>
                  <a:tcPr marL="36000" marR="36000" marT="17907" marB="17907" anchor="ctr"/>
                </a:tc>
                <a:tc>
                  <a:txBody>
                    <a:bodyPr/>
                    <a:lstStyle/>
                    <a:p>
                      <a:pPr marL="368300" marR="0" indent="-368300" algn="just" defTabSz="914400" rtl="0" eaLnBrk="1" fontAlgn="base" latinLnBrk="1" hangingPunct="1">
                        <a:lnSpc>
                          <a:spcPct val="100000"/>
                        </a:lnSpc>
                        <a:spcBef>
                          <a:spcPts val="0"/>
                        </a:spcBef>
                        <a:spcAft>
                          <a:spcPts val="0"/>
                        </a:spcAft>
                        <a:buClrTx/>
                        <a:buSzTx/>
                        <a:buFontTx/>
                        <a:buNone/>
                        <a:tabLst>
                          <a:tab pos="186690" algn="l"/>
                          <a:tab pos="321310" algn="l"/>
                          <a:tab pos="186690" algn="l"/>
                          <a:tab pos="321310" algn="l"/>
                        </a:tabLst>
                        <a:defRPr/>
                      </a:pPr>
                      <a:r>
                        <a:rPr lang="ko-KR" altLang="en-US" sz="1200" kern="1200" dirty="0" err="1"/>
                        <a:t>청구항</a:t>
                      </a:r>
                      <a:r>
                        <a:rPr lang="en-US" altLang="ko-KR" sz="1200" kern="1200" dirty="0"/>
                        <a:t>1</a:t>
                      </a:r>
                      <a:r>
                        <a:rPr lang="ko-KR" altLang="en-US" sz="1200" kern="1200" dirty="0"/>
                        <a:t>에 있어서</a:t>
                      </a:r>
                      <a:r>
                        <a:rPr lang="en-US" altLang="ko-KR" sz="1200" kern="1200" dirty="0"/>
                        <a:t>...</a:t>
                      </a:r>
                      <a:r>
                        <a:rPr lang="ko-KR" altLang="en-US" sz="1200" kern="1200" dirty="0"/>
                        <a:t>→ </a:t>
                      </a:r>
                      <a:r>
                        <a:rPr lang="ko-KR" altLang="en-US" sz="1200" kern="1200" dirty="0" err="1"/>
                        <a:t>청구항</a:t>
                      </a:r>
                      <a:r>
                        <a:rPr lang="en-US" altLang="ko-KR" sz="1200" kern="1200" dirty="0"/>
                        <a:t>1 </a:t>
                      </a:r>
                      <a:r>
                        <a:rPr lang="ko-KR" altLang="en-US" sz="1200" kern="1200" dirty="0"/>
                        <a:t>또는 </a:t>
                      </a:r>
                      <a:r>
                        <a:rPr lang="ko-KR" altLang="en-US" sz="1200" kern="1200" dirty="0" err="1"/>
                        <a:t>청구항</a:t>
                      </a:r>
                      <a:r>
                        <a:rPr lang="en-US" altLang="ko-KR" sz="1200" kern="1200" dirty="0"/>
                        <a:t>2</a:t>
                      </a:r>
                      <a:r>
                        <a:rPr lang="ko-KR" altLang="en-US" sz="1200" kern="1200" dirty="0"/>
                        <a:t>에 있어서</a:t>
                      </a:r>
                      <a:r>
                        <a:rPr lang="en-US" altLang="ko-KR" sz="1200" kern="1200" dirty="0"/>
                        <a:t>....</a:t>
                      </a:r>
                      <a:endParaRPr lang="ko-KR" altLang="en-US" sz="1200" kern="1200" dirty="0">
                        <a:solidFill>
                          <a:schemeClr val="tx2"/>
                        </a:solidFill>
                        <a:latin typeface="+mn-lt"/>
                        <a:ea typeface="+mn-ea"/>
                        <a:cs typeface="+mn-cs"/>
                      </a:endParaRPr>
                    </a:p>
                  </a:txBody>
                  <a:tcPr marL="36000" marR="36000" marT="17907" marB="17907" anchor="ctr"/>
                </a:tc>
                <a:extLst>
                  <a:ext uri="{0D108BD9-81ED-4DB2-BD59-A6C34878D82A}">
                    <a16:rowId xmlns:a16="http://schemas.microsoft.com/office/drawing/2014/main" val="3574795225"/>
                  </a:ext>
                </a:extLst>
              </a:tr>
              <a:tr h="1802836">
                <a:tc>
                  <a:txBody>
                    <a:bodyPr/>
                    <a:lstStyle/>
                    <a:p>
                      <a:pPr marL="0" marR="0" indent="0" algn="ctr" fontAlgn="base" latinLnBrk="0">
                        <a:lnSpc>
                          <a:spcPct val="100000"/>
                        </a:lnSpc>
                        <a:spcBef>
                          <a:spcPts val="0"/>
                        </a:spcBef>
                        <a:spcAft>
                          <a:spcPts val="0"/>
                        </a:spcAft>
                        <a:tabLst>
                          <a:tab pos="186690" algn="l"/>
                          <a:tab pos="321310" algn="l"/>
                          <a:tab pos="186690" algn="l"/>
                          <a:tab pos="321310" algn="l"/>
                        </a:tabLst>
                      </a:pPr>
                      <a:r>
                        <a:rPr lang="ko-KR" altLang="en-US" sz="1200" kern="1200" dirty="0">
                          <a:solidFill>
                            <a:schemeClr val="accent2">
                              <a:lumMod val="75000"/>
                            </a:schemeClr>
                          </a:solidFill>
                        </a:rPr>
                        <a:t>항 정리 차원에서 청구항의 신설</a:t>
                      </a:r>
                      <a:endParaRPr lang="en-US" altLang="ko-KR" sz="1200" kern="1200" dirty="0">
                        <a:solidFill>
                          <a:schemeClr val="accent2">
                            <a:lumMod val="75000"/>
                          </a:schemeClr>
                        </a:solidFill>
                      </a:endParaRPr>
                    </a:p>
                    <a:p>
                      <a:pPr marL="0" marR="0" indent="0" algn="ctr" fontAlgn="base" latinLnBrk="0">
                        <a:lnSpc>
                          <a:spcPct val="100000"/>
                        </a:lnSpc>
                        <a:spcBef>
                          <a:spcPts val="0"/>
                        </a:spcBef>
                        <a:spcAft>
                          <a:spcPts val="0"/>
                        </a:spcAft>
                        <a:tabLst>
                          <a:tab pos="186690" algn="l"/>
                          <a:tab pos="321310" algn="l"/>
                          <a:tab pos="186690" algn="l"/>
                          <a:tab pos="321310" algn="l"/>
                        </a:tabLst>
                      </a:pPr>
                      <a:r>
                        <a:rPr lang="en-US" altLang="ko-KR" sz="1200" kern="1200" dirty="0">
                          <a:solidFill>
                            <a:schemeClr val="accent2">
                              <a:lumMod val="75000"/>
                            </a:schemeClr>
                          </a:solidFill>
                          <a:latin typeface="+mn-lt"/>
                          <a:ea typeface="+mn-ea"/>
                          <a:cs typeface="+mn-cs"/>
                        </a:rPr>
                        <a:t>(</a:t>
                      </a:r>
                      <a:r>
                        <a:rPr lang="ko-KR" altLang="en-US" sz="1200" kern="1200" dirty="0">
                          <a:solidFill>
                            <a:schemeClr val="accent2">
                              <a:lumMod val="75000"/>
                            </a:schemeClr>
                          </a:solidFill>
                          <a:latin typeface="+mn-lt"/>
                          <a:ea typeface="+mn-ea"/>
                          <a:cs typeface="+mn-cs"/>
                        </a:rPr>
                        <a:t>청구범위의 감축</a:t>
                      </a:r>
                      <a:r>
                        <a:rPr lang="en-US" altLang="ko-KR" sz="1200" kern="1200" dirty="0">
                          <a:solidFill>
                            <a:schemeClr val="accent2">
                              <a:lumMod val="75000"/>
                            </a:schemeClr>
                          </a:solidFill>
                          <a:latin typeface="+mn-lt"/>
                          <a:ea typeface="+mn-ea"/>
                          <a:cs typeface="+mn-cs"/>
                        </a:rPr>
                        <a:t>)</a:t>
                      </a:r>
                      <a:endParaRPr lang="ko-KR" altLang="en-US" sz="1200" kern="1200" dirty="0">
                        <a:solidFill>
                          <a:schemeClr val="accent2">
                            <a:lumMod val="75000"/>
                          </a:schemeClr>
                        </a:solidFill>
                        <a:latin typeface="+mn-lt"/>
                        <a:ea typeface="+mn-ea"/>
                        <a:cs typeface="+mn-cs"/>
                      </a:endParaRPr>
                    </a:p>
                  </a:txBody>
                  <a:tcPr marL="36000" marR="36000" marT="17907" marB="17907" anchor="ctr"/>
                </a:tc>
                <a:tc>
                  <a:txBody>
                    <a:bodyPr/>
                    <a:lstStyle/>
                    <a:p>
                      <a:pPr fontAlgn="base" latinLnBrk="1">
                        <a:lnSpc>
                          <a:spcPct val="100000"/>
                        </a:lnSpc>
                      </a:pPr>
                      <a:r>
                        <a:rPr lang="en-US" altLang="ko-KR" sz="1200" kern="1200" dirty="0"/>
                        <a:t> (</a:t>
                      </a:r>
                      <a:r>
                        <a:rPr lang="ko-KR" altLang="en-US" sz="1200" kern="1200" dirty="0"/>
                        <a:t>보정 전</a:t>
                      </a:r>
                      <a:r>
                        <a:rPr lang="en-US" altLang="ko-KR" sz="1200" kern="1200" dirty="0"/>
                        <a:t>)</a:t>
                      </a:r>
                      <a:endParaRPr lang="ko-KR" altLang="en-US" sz="1200" kern="1200" dirty="0"/>
                    </a:p>
                    <a:p>
                      <a:pPr fontAlgn="base" latinLnBrk="1">
                        <a:lnSpc>
                          <a:spcPct val="100000"/>
                        </a:lnSpc>
                      </a:pPr>
                      <a:r>
                        <a:rPr lang="en-US" altLang="ko-KR" sz="1200" kern="1200" dirty="0"/>
                        <a:t>【</a:t>
                      </a:r>
                      <a:r>
                        <a:rPr lang="ko-KR" altLang="en-US" sz="1200" kern="1200" dirty="0" err="1"/>
                        <a:t>청구항</a:t>
                      </a:r>
                      <a:r>
                        <a:rPr lang="ko-KR" altLang="en-US" sz="1200" kern="1200" dirty="0"/>
                        <a:t> </a:t>
                      </a:r>
                      <a:r>
                        <a:rPr lang="en-US" altLang="ko-KR" sz="1200" kern="1200" dirty="0"/>
                        <a:t>1】 </a:t>
                      </a:r>
                      <a:r>
                        <a:rPr lang="ko-KR" altLang="en-US" sz="1200" kern="1200" dirty="0"/>
                        <a:t>구성요소 </a:t>
                      </a:r>
                      <a:r>
                        <a:rPr lang="en-US" altLang="ko-KR" sz="1200" kern="1200" dirty="0"/>
                        <a:t>A, B, C </a:t>
                      </a:r>
                      <a:r>
                        <a:rPr lang="ko-KR" altLang="en-US" sz="1200" kern="1200" dirty="0"/>
                        <a:t>로 이루어진 물건</a:t>
                      </a:r>
                    </a:p>
                    <a:p>
                      <a:pPr fontAlgn="base" latinLnBrk="1">
                        <a:lnSpc>
                          <a:spcPct val="100000"/>
                        </a:lnSpc>
                      </a:pPr>
                      <a:r>
                        <a:rPr lang="en-US" altLang="ko-KR" sz="1200" kern="1200" dirty="0"/>
                        <a:t>【</a:t>
                      </a:r>
                      <a:r>
                        <a:rPr lang="ko-KR" altLang="en-US" sz="1200" kern="1200" dirty="0" err="1"/>
                        <a:t>청구항</a:t>
                      </a:r>
                      <a:r>
                        <a:rPr lang="en-US" altLang="ko-KR" sz="1200" kern="1200" dirty="0"/>
                        <a:t>2】</a:t>
                      </a:r>
                      <a:r>
                        <a:rPr lang="ko-KR" altLang="en-US" sz="1200" kern="1200" dirty="0" err="1"/>
                        <a:t>청구항</a:t>
                      </a:r>
                      <a:r>
                        <a:rPr lang="ko-KR" altLang="en-US" sz="1200" kern="1200" dirty="0"/>
                        <a:t> </a:t>
                      </a:r>
                      <a:r>
                        <a:rPr lang="en-US" altLang="ko-KR" sz="1200" kern="1200" dirty="0"/>
                        <a:t>1</a:t>
                      </a:r>
                      <a:r>
                        <a:rPr lang="ko-KR" altLang="en-US" sz="1200" kern="1200" dirty="0"/>
                        <a:t>에 있어서</a:t>
                      </a:r>
                      <a:r>
                        <a:rPr lang="en-US" altLang="ko-KR" sz="1200" kern="1200" dirty="0"/>
                        <a:t>, </a:t>
                      </a:r>
                      <a:r>
                        <a:rPr lang="ko-KR" altLang="en-US" sz="1200" kern="1200" dirty="0"/>
                        <a:t>구성요소 </a:t>
                      </a:r>
                      <a:r>
                        <a:rPr lang="en-US" altLang="ko-KR" sz="1200" kern="1200" dirty="0"/>
                        <a:t>A </a:t>
                      </a:r>
                      <a:r>
                        <a:rPr lang="ko-KR" altLang="en-US" sz="1200" kern="1200" dirty="0"/>
                        <a:t>는 </a:t>
                      </a:r>
                      <a:r>
                        <a:rPr lang="en-US" altLang="ko-KR" sz="1200" kern="1200" dirty="0"/>
                        <a:t>a1, a2, a3 </a:t>
                      </a:r>
                      <a:r>
                        <a:rPr lang="ko-KR" altLang="en-US" sz="1200" kern="1200" dirty="0"/>
                        <a:t>중 하나로 이루어진 물건</a:t>
                      </a:r>
                    </a:p>
                    <a:p>
                      <a:pPr fontAlgn="base" latinLnBrk="1">
                        <a:lnSpc>
                          <a:spcPct val="100000"/>
                        </a:lnSpc>
                      </a:pPr>
                      <a:r>
                        <a:rPr lang="ko-KR" altLang="en-US" sz="1200" kern="1200" dirty="0"/>
                        <a:t> </a:t>
                      </a:r>
                      <a:r>
                        <a:rPr lang="en-US" altLang="ko-KR" sz="1200" kern="1200" dirty="0"/>
                        <a:t>(</a:t>
                      </a:r>
                      <a:r>
                        <a:rPr lang="ko-KR" altLang="en-US" sz="1200" kern="1200" dirty="0" err="1"/>
                        <a:t>보정후</a:t>
                      </a:r>
                      <a:r>
                        <a:rPr lang="en-US" altLang="ko-KR" sz="1200" kern="1200" dirty="0"/>
                        <a:t>)</a:t>
                      </a:r>
                      <a:endParaRPr lang="ko-KR" altLang="en-US" sz="1200" kern="1200" dirty="0"/>
                    </a:p>
                    <a:p>
                      <a:pPr fontAlgn="base" latinLnBrk="1">
                        <a:lnSpc>
                          <a:spcPct val="100000"/>
                        </a:lnSpc>
                      </a:pPr>
                      <a:r>
                        <a:rPr lang="en-US" altLang="ko-KR" sz="1200" kern="1200" dirty="0"/>
                        <a:t>【</a:t>
                      </a:r>
                      <a:r>
                        <a:rPr lang="ko-KR" altLang="en-US" sz="1200" kern="1200" dirty="0" err="1"/>
                        <a:t>청구항</a:t>
                      </a:r>
                      <a:r>
                        <a:rPr lang="ko-KR" altLang="en-US" sz="1200" kern="1200" dirty="0"/>
                        <a:t> </a:t>
                      </a:r>
                      <a:r>
                        <a:rPr lang="en-US" altLang="ko-KR" sz="1200" kern="1200" dirty="0"/>
                        <a:t>1】</a:t>
                      </a:r>
                      <a:r>
                        <a:rPr lang="ko-KR" altLang="en-US" sz="1200" kern="1200" dirty="0"/>
                        <a:t>삭제</a:t>
                      </a:r>
                    </a:p>
                    <a:p>
                      <a:pPr fontAlgn="base" latinLnBrk="1">
                        <a:lnSpc>
                          <a:spcPct val="100000"/>
                        </a:lnSpc>
                      </a:pPr>
                      <a:r>
                        <a:rPr lang="en-US" altLang="ko-KR" sz="1200" kern="1200" dirty="0"/>
                        <a:t>【</a:t>
                      </a:r>
                      <a:r>
                        <a:rPr lang="ko-KR" altLang="en-US" sz="1200" kern="1200" dirty="0" err="1"/>
                        <a:t>청구항</a:t>
                      </a:r>
                      <a:r>
                        <a:rPr lang="ko-KR" altLang="en-US" sz="1200" kern="1200" dirty="0"/>
                        <a:t> </a:t>
                      </a:r>
                      <a:r>
                        <a:rPr lang="en-US" altLang="ko-KR" sz="1200" kern="1200" dirty="0"/>
                        <a:t>2】(</a:t>
                      </a:r>
                      <a:r>
                        <a:rPr lang="ko-KR" altLang="en-US" sz="1200" kern="1200" dirty="0"/>
                        <a:t>정정</a:t>
                      </a:r>
                      <a:r>
                        <a:rPr lang="en-US" altLang="ko-KR" sz="1200" kern="1200" dirty="0"/>
                        <a:t>) </a:t>
                      </a:r>
                      <a:r>
                        <a:rPr lang="ko-KR" altLang="en-US" sz="1200" kern="1200" dirty="0"/>
                        <a:t>구성요소 </a:t>
                      </a:r>
                      <a:r>
                        <a:rPr lang="en-US" altLang="ko-KR" sz="1200" kern="1200" dirty="0"/>
                        <a:t>a1, B, C </a:t>
                      </a:r>
                      <a:r>
                        <a:rPr lang="ko-KR" altLang="en-US" sz="1200" kern="1200" dirty="0"/>
                        <a:t>로 이루어진 물건 </a:t>
                      </a:r>
                    </a:p>
                    <a:p>
                      <a:pPr fontAlgn="base" latinLnBrk="1">
                        <a:lnSpc>
                          <a:spcPct val="100000"/>
                        </a:lnSpc>
                      </a:pPr>
                      <a:r>
                        <a:rPr lang="en-US" altLang="ko-KR" sz="1200" kern="1200" dirty="0"/>
                        <a:t>【</a:t>
                      </a:r>
                      <a:r>
                        <a:rPr lang="ko-KR" altLang="en-US" sz="1200" kern="1200" dirty="0" err="1"/>
                        <a:t>청구항</a:t>
                      </a:r>
                      <a:r>
                        <a:rPr lang="ko-KR" altLang="en-US" sz="1200" kern="1200" dirty="0"/>
                        <a:t> </a:t>
                      </a:r>
                      <a:r>
                        <a:rPr lang="en-US" altLang="ko-KR" sz="1200" kern="1200" dirty="0"/>
                        <a:t>3】(</a:t>
                      </a:r>
                      <a:r>
                        <a:rPr lang="ko-KR" altLang="en-US" sz="1200" kern="1200" dirty="0" err="1"/>
                        <a:t>청구항</a:t>
                      </a:r>
                      <a:r>
                        <a:rPr lang="ko-KR" altLang="en-US" sz="1200" kern="1200" dirty="0"/>
                        <a:t> </a:t>
                      </a:r>
                      <a:r>
                        <a:rPr lang="en-US" altLang="ko-KR" sz="1200" kern="1200" dirty="0"/>
                        <a:t>2 </a:t>
                      </a:r>
                      <a:r>
                        <a:rPr lang="ko-KR" altLang="en-US" sz="1200" kern="1200" dirty="0"/>
                        <a:t>정정</a:t>
                      </a:r>
                      <a:r>
                        <a:rPr lang="en-US" altLang="ko-KR" sz="1200" kern="1200" dirty="0"/>
                        <a:t>) </a:t>
                      </a:r>
                      <a:r>
                        <a:rPr lang="ko-KR" altLang="en-US" sz="1200" kern="1200" dirty="0"/>
                        <a:t>구성요소 </a:t>
                      </a:r>
                      <a:r>
                        <a:rPr lang="en-US" altLang="ko-KR" sz="1200" kern="1200" dirty="0"/>
                        <a:t>a2, B, C </a:t>
                      </a:r>
                      <a:r>
                        <a:rPr lang="ko-KR" altLang="en-US" sz="1200" kern="1200" dirty="0"/>
                        <a:t>로 이루어진 물건 </a:t>
                      </a:r>
                    </a:p>
                    <a:p>
                      <a:pPr fontAlgn="base" latinLnBrk="1">
                        <a:lnSpc>
                          <a:spcPct val="100000"/>
                        </a:lnSpc>
                      </a:pPr>
                      <a:r>
                        <a:rPr lang="en-US" altLang="ko-KR" sz="1200" kern="1200" dirty="0"/>
                        <a:t>【</a:t>
                      </a:r>
                      <a:r>
                        <a:rPr lang="ko-KR" altLang="en-US" sz="1200" kern="1200" dirty="0" err="1"/>
                        <a:t>청구항</a:t>
                      </a:r>
                      <a:r>
                        <a:rPr lang="ko-KR" altLang="en-US" sz="1200" kern="1200" dirty="0"/>
                        <a:t> </a:t>
                      </a:r>
                      <a:r>
                        <a:rPr lang="en-US" altLang="ko-KR" sz="1200" kern="1200" dirty="0"/>
                        <a:t>4】(</a:t>
                      </a:r>
                      <a:r>
                        <a:rPr lang="ko-KR" altLang="en-US" sz="1200" kern="1200" dirty="0" err="1"/>
                        <a:t>청구항</a:t>
                      </a:r>
                      <a:r>
                        <a:rPr lang="ko-KR" altLang="en-US" sz="1200" kern="1200" dirty="0"/>
                        <a:t> </a:t>
                      </a:r>
                      <a:r>
                        <a:rPr lang="en-US" altLang="ko-KR" sz="1200" kern="1200" dirty="0"/>
                        <a:t>2 </a:t>
                      </a:r>
                      <a:r>
                        <a:rPr lang="ko-KR" altLang="en-US" sz="1200" kern="1200" dirty="0"/>
                        <a:t>정정</a:t>
                      </a:r>
                      <a:r>
                        <a:rPr lang="en-US" altLang="ko-KR" sz="1200" kern="1200" dirty="0"/>
                        <a:t>) </a:t>
                      </a:r>
                      <a:r>
                        <a:rPr lang="ko-KR" altLang="en-US" sz="1200" kern="1200" dirty="0"/>
                        <a:t>구성요소 </a:t>
                      </a:r>
                      <a:r>
                        <a:rPr lang="en-US" altLang="ko-KR" sz="1200" kern="1200" dirty="0"/>
                        <a:t>a3, B, C </a:t>
                      </a:r>
                      <a:r>
                        <a:rPr lang="ko-KR" altLang="en-US" sz="1200" kern="1200" dirty="0"/>
                        <a:t>로 이루어진 물건 </a:t>
                      </a:r>
                      <a:endParaRPr lang="ko-KR" altLang="en-US" sz="1200" kern="1200" dirty="0">
                        <a:solidFill>
                          <a:schemeClr val="tx2"/>
                        </a:solidFill>
                        <a:latin typeface="+mn-lt"/>
                        <a:ea typeface="+mn-ea"/>
                        <a:cs typeface="+mn-cs"/>
                      </a:endParaRPr>
                    </a:p>
                  </a:txBody>
                  <a:tcPr marL="36000" marR="36000" marT="17907" marB="17907" anchor="ctr"/>
                </a:tc>
                <a:extLst>
                  <a:ext uri="{0D108BD9-81ED-4DB2-BD59-A6C34878D82A}">
                    <a16:rowId xmlns:a16="http://schemas.microsoft.com/office/drawing/2014/main" val="1985954515"/>
                  </a:ext>
                </a:extLst>
              </a:tr>
            </a:tbl>
          </a:graphicData>
        </a:graphic>
      </p:graphicFrame>
      <p:graphicFrame>
        <p:nvGraphicFramePr>
          <p:cNvPr id="8" name="표 7"/>
          <p:cNvGraphicFramePr>
            <a:graphicFrameLocks noGrp="1"/>
          </p:cNvGraphicFramePr>
          <p:nvPr/>
        </p:nvGraphicFramePr>
        <p:xfrm>
          <a:off x="336295" y="3590925"/>
          <a:ext cx="4188080" cy="1847850"/>
        </p:xfrm>
        <a:graphic>
          <a:graphicData uri="http://schemas.openxmlformats.org/drawingml/2006/table">
            <a:tbl>
              <a:tblPr>
                <a:tableStyleId>{8799B23B-EC83-4686-B30A-512413B5E67A}</a:tableStyleId>
              </a:tblPr>
              <a:tblGrid>
                <a:gridCol w="882905">
                  <a:extLst>
                    <a:ext uri="{9D8B030D-6E8A-4147-A177-3AD203B41FA5}">
                      <a16:colId xmlns:a16="http://schemas.microsoft.com/office/drawing/2014/main" val="2430808964"/>
                    </a:ext>
                  </a:extLst>
                </a:gridCol>
                <a:gridCol w="1438275">
                  <a:extLst>
                    <a:ext uri="{9D8B030D-6E8A-4147-A177-3AD203B41FA5}">
                      <a16:colId xmlns:a16="http://schemas.microsoft.com/office/drawing/2014/main" val="3897395578"/>
                    </a:ext>
                  </a:extLst>
                </a:gridCol>
                <a:gridCol w="1866900">
                  <a:extLst>
                    <a:ext uri="{9D8B030D-6E8A-4147-A177-3AD203B41FA5}">
                      <a16:colId xmlns:a16="http://schemas.microsoft.com/office/drawing/2014/main" val="32530336"/>
                    </a:ext>
                  </a:extLst>
                </a:gridCol>
              </a:tblGrid>
              <a:tr h="695676">
                <a:tc>
                  <a:txBody>
                    <a:bodyPr/>
                    <a:lstStyle/>
                    <a:p>
                      <a:pPr marL="17780" marR="17780" indent="0" algn="r" defTabSz="914400" rtl="0" eaLnBrk="1" fontAlgn="base" latinLnBrk="0" hangingPunct="1">
                        <a:lnSpc>
                          <a:spcPct val="100000"/>
                        </a:lnSpc>
                        <a:spcBef>
                          <a:spcPts val="0"/>
                        </a:spcBef>
                        <a:spcAft>
                          <a:spcPts val="0"/>
                        </a:spcAft>
                      </a:pPr>
                      <a:r>
                        <a:rPr lang="ko-KR" altLang="en-US" sz="1200" kern="1200" dirty="0"/>
                        <a:t>구성요소</a:t>
                      </a:r>
                    </a:p>
                    <a:p>
                      <a:pPr marL="17780" marR="17780" indent="0" algn="l" defTabSz="914400" rtl="0" eaLnBrk="1" fontAlgn="base" latinLnBrk="0" hangingPunct="1">
                        <a:lnSpc>
                          <a:spcPct val="100000"/>
                        </a:lnSpc>
                        <a:spcBef>
                          <a:spcPts val="0"/>
                        </a:spcBef>
                        <a:spcAft>
                          <a:spcPts val="0"/>
                        </a:spcAft>
                      </a:pPr>
                      <a:r>
                        <a:rPr lang="ko-KR" altLang="en-US" sz="1200" kern="1200" dirty="0"/>
                        <a:t>보정</a:t>
                      </a:r>
                      <a:endParaRPr lang="ko-KR" altLang="en-US" sz="1200" kern="1200" dirty="0">
                        <a:solidFill>
                          <a:schemeClr val="tx1"/>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17780" marR="17780" indent="0" algn="ctr" defTabSz="914400" rtl="0" eaLnBrk="1" fontAlgn="base" latinLnBrk="0" hangingPunct="1">
                        <a:lnSpc>
                          <a:spcPct val="100000"/>
                        </a:lnSpc>
                        <a:spcBef>
                          <a:spcPts val="0"/>
                        </a:spcBef>
                        <a:spcAft>
                          <a:spcPts val="0"/>
                        </a:spcAft>
                      </a:pPr>
                      <a:r>
                        <a:rPr lang="ko-KR" altLang="en-US" sz="1200" kern="1200" dirty="0" err="1"/>
                        <a:t>직렬적</a:t>
                      </a:r>
                      <a:r>
                        <a:rPr lang="ko-KR" altLang="en-US" sz="1200" kern="1200" dirty="0"/>
                        <a:t> 요소</a:t>
                      </a:r>
                      <a:endParaRPr lang="en-US" altLang="ko-KR" sz="1200" kern="1200" dirty="0"/>
                    </a:p>
                    <a:p>
                      <a:pPr marL="17780" marR="17780" indent="0" algn="ctr" defTabSz="914400" rtl="0" eaLnBrk="1" fontAlgn="base" latinLnBrk="0" hangingPunct="1">
                        <a:lnSpc>
                          <a:spcPct val="100000"/>
                        </a:lnSpc>
                        <a:spcBef>
                          <a:spcPts val="0"/>
                        </a:spcBef>
                        <a:spcAft>
                          <a:spcPts val="0"/>
                        </a:spcAft>
                      </a:pPr>
                      <a:r>
                        <a:rPr lang="en-US" altLang="ko-KR" sz="1200" kern="1200" dirty="0"/>
                        <a:t>(</a:t>
                      </a:r>
                      <a:r>
                        <a:rPr lang="en-US" sz="1200" kern="1200" dirty="0"/>
                        <a:t>AND)</a:t>
                      </a:r>
                      <a:endParaRPr lang="en-US" sz="1200" kern="1200" dirty="0">
                        <a:solidFill>
                          <a:schemeClr val="tx1"/>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17780" marR="17780" indent="0" algn="ctr" defTabSz="914400" rtl="0" eaLnBrk="1" fontAlgn="base" latinLnBrk="0" hangingPunct="1">
                        <a:lnSpc>
                          <a:spcPct val="100000"/>
                        </a:lnSpc>
                        <a:spcBef>
                          <a:spcPts val="0"/>
                        </a:spcBef>
                        <a:spcAft>
                          <a:spcPts val="0"/>
                        </a:spcAft>
                      </a:pPr>
                      <a:r>
                        <a:rPr lang="ko-KR" altLang="en-US" sz="1200" kern="1200" dirty="0"/>
                        <a:t>병렬</a:t>
                      </a:r>
                      <a:r>
                        <a:rPr lang="en-US" altLang="ko-KR" sz="1200" kern="1200" dirty="0"/>
                        <a:t>(</a:t>
                      </a:r>
                      <a:r>
                        <a:rPr lang="ko-KR" altLang="en-US" sz="1200" kern="1200" dirty="0"/>
                        <a:t>택일</a:t>
                      </a:r>
                      <a:r>
                        <a:rPr lang="en-US" altLang="ko-KR" sz="1200" kern="1200" dirty="0"/>
                        <a:t>)</a:t>
                      </a:r>
                      <a:r>
                        <a:rPr lang="ko-KR" altLang="en-US" sz="1200" kern="1200" dirty="0"/>
                        <a:t>적 요소</a:t>
                      </a:r>
                      <a:endParaRPr lang="en-US" altLang="ko-KR" sz="1200" kern="1200" dirty="0"/>
                    </a:p>
                    <a:p>
                      <a:pPr marL="17780" marR="17780" indent="0" algn="ctr" defTabSz="914400" rtl="0" eaLnBrk="1" fontAlgn="base" latinLnBrk="0" hangingPunct="1">
                        <a:lnSpc>
                          <a:spcPct val="100000"/>
                        </a:lnSpc>
                        <a:spcBef>
                          <a:spcPts val="0"/>
                        </a:spcBef>
                        <a:spcAft>
                          <a:spcPts val="0"/>
                        </a:spcAft>
                      </a:pPr>
                      <a:r>
                        <a:rPr lang="en-US" altLang="ko-KR" sz="1200" kern="1200" dirty="0"/>
                        <a:t>(OR)</a:t>
                      </a:r>
                      <a:endParaRPr lang="ko-KR" altLang="en-US" sz="1200" kern="1200" dirty="0">
                        <a:solidFill>
                          <a:schemeClr val="tx1"/>
                        </a:solidFill>
                        <a:latin typeface="+mn-lt"/>
                        <a:ea typeface="+mn-ea"/>
                        <a:cs typeface="+mn-cs"/>
                      </a:endParaRPr>
                    </a:p>
                  </a:txBody>
                  <a:tcPr marL="17907" marR="17907" marT="17907" marB="17907" anchor="ctr">
                    <a:solidFill>
                      <a:schemeClr val="accent1">
                        <a:lumMod val="20000"/>
                        <a:lumOff val="80000"/>
                      </a:schemeClr>
                    </a:solidFill>
                  </a:tcPr>
                </a:tc>
                <a:extLst>
                  <a:ext uri="{0D108BD9-81ED-4DB2-BD59-A6C34878D82A}">
                    <a16:rowId xmlns:a16="http://schemas.microsoft.com/office/drawing/2014/main" val="4007204210"/>
                  </a:ext>
                </a:extLst>
              </a:tr>
              <a:tr h="576087">
                <a:tc>
                  <a:txBody>
                    <a:bodyPr/>
                    <a:lstStyle/>
                    <a:p>
                      <a:pPr marL="17780" marR="17780" indent="0" algn="ctr" defTabSz="914400" rtl="0" eaLnBrk="1" fontAlgn="base" latinLnBrk="0" hangingPunct="1">
                        <a:lnSpc>
                          <a:spcPct val="100000"/>
                        </a:lnSpc>
                        <a:spcBef>
                          <a:spcPts val="0"/>
                        </a:spcBef>
                        <a:spcAft>
                          <a:spcPts val="0"/>
                        </a:spcAft>
                      </a:pPr>
                      <a:r>
                        <a:rPr lang="ko-KR" altLang="en-US" sz="1200" kern="1200"/>
                        <a:t>부가</a:t>
                      </a:r>
                      <a:endParaRPr lang="ko-KR" altLang="en-US" sz="1200" kern="1200">
                        <a:solidFill>
                          <a:schemeClr val="tx1"/>
                        </a:solidFill>
                        <a:latin typeface="+mn-lt"/>
                        <a:ea typeface="+mn-ea"/>
                        <a:cs typeface="+mn-cs"/>
                      </a:endParaRPr>
                    </a:p>
                  </a:txBody>
                  <a:tcPr marL="17907" marR="17907" marT="17907" marB="17907" anchor="ctr"/>
                </a:tc>
                <a:tc>
                  <a:txBody>
                    <a:bodyPr/>
                    <a:lstStyle/>
                    <a:p>
                      <a:pPr marL="17780" marR="17780" indent="0" algn="ctr" defTabSz="914400" rtl="0" eaLnBrk="1" fontAlgn="base" latinLnBrk="0" hangingPunct="1">
                        <a:lnSpc>
                          <a:spcPct val="100000"/>
                        </a:lnSpc>
                        <a:spcBef>
                          <a:spcPts val="0"/>
                        </a:spcBef>
                        <a:spcAft>
                          <a:spcPts val="0"/>
                        </a:spcAft>
                      </a:pPr>
                      <a:r>
                        <a:rPr lang="ko-KR" altLang="en-US" sz="1200" kern="1200" dirty="0"/>
                        <a:t>청구범위의 감축</a:t>
                      </a:r>
                      <a:endParaRPr lang="ko-KR" altLang="en-US" sz="1200" kern="1200" dirty="0">
                        <a:solidFill>
                          <a:schemeClr val="tx1"/>
                        </a:solidFill>
                        <a:latin typeface="+mn-lt"/>
                        <a:ea typeface="+mn-ea"/>
                        <a:cs typeface="+mn-cs"/>
                      </a:endParaRPr>
                    </a:p>
                  </a:txBody>
                  <a:tcPr marL="17907" marR="17907" marT="17907" marB="17907" anchor="ctr"/>
                </a:tc>
                <a:tc>
                  <a:txBody>
                    <a:bodyPr/>
                    <a:lstStyle/>
                    <a:p>
                      <a:pPr marL="17780" marR="17780" indent="0" algn="ctr" defTabSz="914400" rtl="0" eaLnBrk="1" fontAlgn="base" latinLnBrk="0" hangingPunct="1">
                        <a:lnSpc>
                          <a:spcPct val="100000"/>
                        </a:lnSpc>
                        <a:spcBef>
                          <a:spcPts val="0"/>
                        </a:spcBef>
                        <a:spcAft>
                          <a:spcPts val="0"/>
                        </a:spcAft>
                      </a:pPr>
                      <a:r>
                        <a:rPr lang="ko-KR" altLang="en-US" sz="1200" kern="1200" dirty="0"/>
                        <a:t>청구범위의 확장</a:t>
                      </a:r>
                      <a:endParaRPr lang="ko-KR" altLang="en-US" sz="1200" kern="1200" dirty="0">
                        <a:solidFill>
                          <a:schemeClr val="tx1"/>
                        </a:solidFill>
                        <a:latin typeface="+mn-lt"/>
                        <a:ea typeface="+mn-ea"/>
                        <a:cs typeface="+mn-cs"/>
                      </a:endParaRPr>
                    </a:p>
                  </a:txBody>
                  <a:tcPr marL="17907" marR="17907" marT="17907" marB="17907" anchor="ctr"/>
                </a:tc>
                <a:extLst>
                  <a:ext uri="{0D108BD9-81ED-4DB2-BD59-A6C34878D82A}">
                    <a16:rowId xmlns:a16="http://schemas.microsoft.com/office/drawing/2014/main" val="1589633923"/>
                  </a:ext>
                </a:extLst>
              </a:tr>
              <a:tr h="576087">
                <a:tc>
                  <a:txBody>
                    <a:bodyPr/>
                    <a:lstStyle/>
                    <a:p>
                      <a:pPr marL="17780" marR="17780" indent="0" algn="ctr" defTabSz="914400" rtl="0" eaLnBrk="1" fontAlgn="base" latinLnBrk="0" hangingPunct="1">
                        <a:lnSpc>
                          <a:spcPct val="100000"/>
                        </a:lnSpc>
                        <a:spcBef>
                          <a:spcPts val="0"/>
                        </a:spcBef>
                        <a:spcAft>
                          <a:spcPts val="0"/>
                        </a:spcAft>
                      </a:pPr>
                      <a:r>
                        <a:rPr lang="ko-KR" altLang="en-US" sz="1200" kern="1200"/>
                        <a:t>삭제</a:t>
                      </a:r>
                      <a:endParaRPr lang="ko-KR" altLang="en-US" sz="1200" kern="1200">
                        <a:solidFill>
                          <a:schemeClr val="tx1"/>
                        </a:solidFill>
                        <a:latin typeface="+mn-lt"/>
                        <a:ea typeface="+mn-ea"/>
                        <a:cs typeface="+mn-cs"/>
                      </a:endParaRPr>
                    </a:p>
                  </a:txBody>
                  <a:tcPr marL="17907" marR="17907" marT="17907" marB="17907" anchor="ctr"/>
                </a:tc>
                <a:tc>
                  <a:txBody>
                    <a:bodyPr/>
                    <a:lstStyle/>
                    <a:p>
                      <a:pPr marL="17780" marR="17780" indent="0" algn="ctr" defTabSz="914400" rtl="0" eaLnBrk="1" fontAlgn="base" latinLnBrk="0" hangingPunct="1">
                        <a:lnSpc>
                          <a:spcPct val="100000"/>
                        </a:lnSpc>
                        <a:spcBef>
                          <a:spcPts val="0"/>
                        </a:spcBef>
                        <a:spcAft>
                          <a:spcPts val="0"/>
                        </a:spcAft>
                      </a:pPr>
                      <a:r>
                        <a:rPr lang="ko-KR" altLang="en-US" sz="1200" kern="1200" dirty="0"/>
                        <a:t>청구범위의 확장</a:t>
                      </a:r>
                      <a:endParaRPr lang="ko-KR" altLang="en-US" sz="1200" kern="1200" dirty="0">
                        <a:solidFill>
                          <a:schemeClr val="tx1"/>
                        </a:solidFill>
                        <a:latin typeface="+mn-lt"/>
                        <a:ea typeface="+mn-ea"/>
                        <a:cs typeface="+mn-cs"/>
                      </a:endParaRPr>
                    </a:p>
                  </a:txBody>
                  <a:tcPr marL="17907" marR="17907" marT="17907" marB="17907" anchor="ctr"/>
                </a:tc>
                <a:tc>
                  <a:txBody>
                    <a:bodyPr/>
                    <a:lstStyle/>
                    <a:p>
                      <a:pPr marL="17780" marR="17780" indent="0" algn="ctr" defTabSz="914400" rtl="0" eaLnBrk="1" fontAlgn="base" latinLnBrk="0" hangingPunct="1">
                        <a:lnSpc>
                          <a:spcPct val="100000"/>
                        </a:lnSpc>
                        <a:spcBef>
                          <a:spcPts val="0"/>
                        </a:spcBef>
                        <a:spcAft>
                          <a:spcPts val="0"/>
                        </a:spcAft>
                      </a:pPr>
                      <a:r>
                        <a:rPr lang="ko-KR" altLang="en-US" sz="1200" kern="1200" dirty="0"/>
                        <a:t>청구범위의 감축</a:t>
                      </a:r>
                      <a:endParaRPr lang="ko-KR" altLang="en-US" sz="1200" kern="1200" dirty="0">
                        <a:solidFill>
                          <a:schemeClr val="tx1"/>
                        </a:solidFill>
                        <a:latin typeface="+mn-lt"/>
                        <a:ea typeface="+mn-ea"/>
                        <a:cs typeface="+mn-cs"/>
                      </a:endParaRPr>
                    </a:p>
                  </a:txBody>
                  <a:tcPr marL="17907" marR="17907" marT="17907" marB="17907" anchor="ctr"/>
                </a:tc>
                <a:extLst>
                  <a:ext uri="{0D108BD9-81ED-4DB2-BD59-A6C34878D82A}">
                    <a16:rowId xmlns:a16="http://schemas.microsoft.com/office/drawing/2014/main" val="333366681"/>
                  </a:ext>
                </a:extLst>
              </a:tr>
            </a:tbl>
          </a:graphicData>
        </a:graphic>
      </p:graphicFrame>
      <p:cxnSp>
        <p:nvCxnSpPr>
          <p:cNvPr id="10" name="직선 연결선 9"/>
          <p:cNvCxnSpPr/>
          <p:nvPr/>
        </p:nvCxnSpPr>
        <p:spPr>
          <a:xfrm>
            <a:off x="336295" y="3590925"/>
            <a:ext cx="854330" cy="68580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직선 연결선 10"/>
          <p:cNvCxnSpPr/>
          <p:nvPr/>
        </p:nvCxnSpPr>
        <p:spPr>
          <a:xfrm flipV="1">
            <a:off x="4733925" y="2067720"/>
            <a:ext cx="0" cy="423783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슬라이드 번호 개체 틀 8"/>
          <p:cNvSpPr>
            <a:spLocks noGrp="1"/>
          </p:cNvSpPr>
          <p:nvPr>
            <p:ph type="sldNum" sz="quarter" idx="12"/>
          </p:nvPr>
        </p:nvSpPr>
        <p:spPr/>
        <p:txBody>
          <a:bodyPr/>
          <a:lstStyle/>
          <a:p>
            <a:r>
              <a:rPr lang="en-US" altLang="ko-KR"/>
              <a:t>172</a:t>
            </a:r>
            <a:endParaRPr lang="ko-KR" altLang="en-US"/>
          </a:p>
        </p:txBody>
      </p:sp>
    </p:spTree>
    <p:extLst>
      <p:ext uri="{BB962C8B-B14F-4D97-AF65-F5344CB8AC3E}">
        <p14:creationId xmlns:p14="http://schemas.microsoft.com/office/powerpoint/2010/main" val="31753516"/>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양쪽 모서리가 둥근 사각형 12"/>
          <p:cNvSpPr/>
          <p:nvPr/>
        </p:nvSpPr>
        <p:spPr>
          <a:xfrm>
            <a:off x="2599586" y="2763424"/>
            <a:ext cx="2458797" cy="523898"/>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양쪽 모서리가 둥근 사각형 13"/>
          <p:cNvSpPr/>
          <p:nvPr/>
        </p:nvSpPr>
        <p:spPr>
          <a:xfrm>
            <a:off x="5185383" y="2763424"/>
            <a:ext cx="2426095" cy="523898"/>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양쪽 모서리가 둥근 사각형 39"/>
          <p:cNvSpPr/>
          <p:nvPr/>
        </p:nvSpPr>
        <p:spPr>
          <a:xfrm>
            <a:off x="8538584" y="2763424"/>
            <a:ext cx="2426095" cy="523898"/>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제</a:t>
            </a:r>
            <a:r>
              <a:rPr lang="en-US" altLang="ko-KR" dirty="0"/>
              <a:t>47</a:t>
            </a:r>
            <a:r>
              <a:rPr lang="ko-KR" altLang="en-US" dirty="0"/>
              <a:t>조제</a:t>
            </a:r>
            <a:r>
              <a:rPr lang="en-US" altLang="ko-KR" dirty="0"/>
              <a:t>3</a:t>
            </a:r>
            <a:r>
              <a:rPr lang="ko-KR" altLang="en-US" dirty="0" err="1"/>
              <a:t>항제</a:t>
            </a:r>
            <a:r>
              <a:rPr lang="en-US" altLang="ko-KR" dirty="0"/>
              <a:t>1</a:t>
            </a:r>
            <a:r>
              <a:rPr lang="ko-KR" altLang="en-US" dirty="0"/>
              <a:t>호 </a:t>
            </a:r>
            <a:r>
              <a:rPr lang="en-US" altLang="ko-KR" dirty="0"/>
              <a:t>vs </a:t>
            </a:r>
            <a:r>
              <a:rPr lang="ko-KR" altLang="en-US" dirty="0"/>
              <a:t>제</a:t>
            </a:r>
            <a:r>
              <a:rPr lang="en-US" altLang="ko-KR" dirty="0"/>
              <a:t>47</a:t>
            </a:r>
            <a:r>
              <a:rPr lang="ko-KR" altLang="en-US" dirty="0"/>
              <a:t>조제</a:t>
            </a:r>
            <a:r>
              <a:rPr lang="en-US" altLang="ko-KR" dirty="0"/>
              <a:t>3</a:t>
            </a:r>
            <a:r>
              <a:rPr lang="ko-KR" altLang="en-US" dirty="0" err="1"/>
              <a:t>항제</a:t>
            </a:r>
            <a:r>
              <a:rPr lang="en-US" altLang="ko-KR" dirty="0"/>
              <a:t>4</a:t>
            </a:r>
            <a:r>
              <a:rPr lang="ko-KR" altLang="en-US" dirty="0"/>
              <a:t>호</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TextBox 4"/>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보정</a:t>
            </a:r>
            <a:r>
              <a:rPr lang="en-US" altLang="ko-KR" sz="1400" dirty="0">
                <a:solidFill>
                  <a:schemeClr val="tx2"/>
                </a:solidFill>
              </a:rPr>
              <a:t>(β)</a:t>
            </a:r>
            <a:r>
              <a:rPr lang="ko-KR" altLang="en-US" sz="1400" dirty="0">
                <a:solidFill>
                  <a:schemeClr val="tx2"/>
                </a:solidFill>
              </a:rPr>
              <a:t>된 명세서 또는 도면이 출원</a:t>
            </a:r>
            <a:r>
              <a:rPr lang="en-US" altLang="ko-KR" sz="1400" dirty="0">
                <a:solidFill>
                  <a:schemeClr val="tx2"/>
                </a:solidFill>
              </a:rPr>
              <a:t>(α)</a:t>
            </a:r>
            <a:r>
              <a:rPr lang="ko-KR" altLang="en-US" sz="1400" dirty="0">
                <a:solidFill>
                  <a:schemeClr val="tx2"/>
                </a:solidFill>
              </a:rPr>
              <a:t>의 명세서 또는 도면과 비교하여 신규사항추가라는 이유로 최후거절이유가 통지된 경우 보정</a:t>
            </a:r>
            <a:r>
              <a:rPr lang="en-US" altLang="ko-KR" sz="1400" dirty="0">
                <a:solidFill>
                  <a:schemeClr val="tx2"/>
                </a:solidFill>
              </a:rPr>
              <a:t>(γ)</a:t>
            </a:r>
            <a:r>
              <a:rPr lang="ko-KR" altLang="en-US" sz="1400" dirty="0">
                <a:solidFill>
                  <a:schemeClr val="tx2"/>
                </a:solidFill>
              </a:rPr>
              <a:t>이 </a:t>
            </a:r>
            <a:r>
              <a:rPr lang="ko-KR" altLang="en-US" sz="1400" dirty="0" err="1">
                <a:solidFill>
                  <a:schemeClr val="tx2"/>
                </a:solidFill>
              </a:rPr>
              <a:t>적법하기</a:t>
            </a:r>
            <a:r>
              <a:rPr lang="ko-KR" altLang="en-US" sz="1400" dirty="0">
                <a:solidFill>
                  <a:schemeClr val="tx2"/>
                </a:solidFill>
              </a:rPr>
              <a:t> 위해서는 </a:t>
            </a:r>
            <a:r>
              <a:rPr lang="en-US" altLang="ko-KR" sz="1400" dirty="0">
                <a:solidFill>
                  <a:schemeClr val="tx2"/>
                </a:solidFill>
              </a:rPr>
              <a:t>ⅰ) </a:t>
            </a:r>
            <a:r>
              <a:rPr lang="ko-KR" altLang="en-US" sz="1400" dirty="0">
                <a:solidFill>
                  <a:schemeClr val="tx2"/>
                </a:solidFill>
              </a:rPr>
              <a:t>신규사항추가가 아닐 것</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47②), ⅱ) </a:t>
            </a:r>
            <a:r>
              <a:rPr lang="ko-KR" altLang="en-US" sz="1400" dirty="0" err="1">
                <a:solidFill>
                  <a:schemeClr val="tx2"/>
                </a:solidFill>
              </a:rPr>
              <a:t>청구범위</a:t>
            </a:r>
            <a:r>
              <a:rPr lang="ko-KR" altLang="en-US" sz="1400" dirty="0">
                <a:solidFill>
                  <a:schemeClr val="tx2"/>
                </a:solidFill>
              </a:rPr>
              <a:t> </a:t>
            </a:r>
            <a:r>
              <a:rPr lang="ko-KR" altLang="en-US" sz="1400" dirty="0" err="1">
                <a:solidFill>
                  <a:schemeClr val="tx2"/>
                </a:solidFill>
              </a:rPr>
              <a:t>보정범위의</a:t>
            </a:r>
            <a:r>
              <a:rPr lang="ko-KR" altLang="en-US" sz="1400" dirty="0">
                <a:solidFill>
                  <a:schemeClr val="tx2"/>
                </a:solidFill>
              </a:rPr>
              <a:t> 제한을 만족할 것</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47③), ⅲ) </a:t>
            </a:r>
            <a:r>
              <a:rPr lang="ko-KR" altLang="en-US" sz="1400" dirty="0">
                <a:solidFill>
                  <a:schemeClr val="tx2"/>
                </a:solidFill>
              </a:rPr>
              <a:t>보정에 따라 새로운 거절이유가 생기지 않을 것을 만족하여야 한다</a:t>
            </a:r>
            <a:r>
              <a:rPr lang="en-US" altLang="ko-KR" sz="1400" dirty="0">
                <a:solidFill>
                  <a:schemeClr val="tx2"/>
                </a:solidFill>
              </a:rPr>
              <a:t>. </a:t>
            </a:r>
            <a:r>
              <a:rPr lang="ko-KR" altLang="en-US" sz="1400" dirty="0">
                <a:solidFill>
                  <a:schemeClr val="tx2"/>
                </a:solidFill>
              </a:rPr>
              <a:t>그런데</a:t>
            </a:r>
            <a:r>
              <a:rPr lang="en-US" altLang="ko-KR" sz="1400" dirty="0">
                <a:solidFill>
                  <a:schemeClr val="tx2"/>
                </a:solidFill>
              </a:rPr>
              <a:t>, </a:t>
            </a:r>
            <a:r>
              <a:rPr lang="ko-KR" altLang="en-US" sz="1400" dirty="0">
                <a:solidFill>
                  <a:schemeClr val="tx2"/>
                </a:solidFill>
              </a:rPr>
              <a:t>신규사항추가인지 여부</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47②)</a:t>
            </a:r>
            <a:r>
              <a:rPr lang="ko-KR" altLang="en-US" sz="1400" dirty="0">
                <a:solidFill>
                  <a:schemeClr val="tx2"/>
                </a:solidFill>
              </a:rPr>
              <a:t>는 출원</a:t>
            </a:r>
            <a:r>
              <a:rPr lang="en-US" altLang="ko-KR" sz="1400" dirty="0">
                <a:solidFill>
                  <a:schemeClr val="tx2"/>
                </a:solidFill>
              </a:rPr>
              <a:t>(α)</a:t>
            </a:r>
            <a:r>
              <a:rPr lang="ko-KR" altLang="en-US" sz="1400" dirty="0">
                <a:solidFill>
                  <a:schemeClr val="tx2"/>
                </a:solidFill>
              </a:rPr>
              <a:t>의 명세서 또는 도면과 보정</a:t>
            </a:r>
            <a:r>
              <a:rPr lang="en-US" altLang="ko-KR" sz="1400" dirty="0">
                <a:solidFill>
                  <a:schemeClr val="tx2"/>
                </a:solidFill>
              </a:rPr>
              <a:t>(γ)</a:t>
            </a:r>
            <a:r>
              <a:rPr lang="ko-KR" altLang="en-US" sz="1400" dirty="0">
                <a:solidFill>
                  <a:schemeClr val="tx2"/>
                </a:solidFill>
              </a:rPr>
              <a:t>된 명세서 또는 도면을 비교하여 판단하고</a:t>
            </a:r>
            <a:r>
              <a:rPr lang="en-US" altLang="ko-KR" sz="1400" dirty="0">
                <a:solidFill>
                  <a:schemeClr val="tx2"/>
                </a:solidFill>
              </a:rPr>
              <a:t>, </a:t>
            </a:r>
            <a:r>
              <a:rPr lang="ko-KR" altLang="en-US" sz="1400" dirty="0" err="1">
                <a:solidFill>
                  <a:schemeClr val="tx2"/>
                </a:solidFill>
              </a:rPr>
              <a:t>청구범위</a:t>
            </a:r>
            <a:r>
              <a:rPr lang="ko-KR" altLang="en-US" sz="1400" dirty="0">
                <a:solidFill>
                  <a:schemeClr val="tx2"/>
                </a:solidFill>
              </a:rPr>
              <a:t> </a:t>
            </a:r>
            <a:r>
              <a:rPr lang="ko-KR" altLang="en-US" sz="1400" dirty="0" err="1">
                <a:solidFill>
                  <a:schemeClr val="tx2"/>
                </a:solidFill>
              </a:rPr>
              <a:t>보정범위의</a:t>
            </a:r>
            <a:r>
              <a:rPr lang="ko-KR" altLang="en-US" sz="1400" dirty="0">
                <a:solidFill>
                  <a:schemeClr val="tx2"/>
                </a:solidFill>
              </a:rPr>
              <a:t> 제한을 만족하는지 여부</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47③)</a:t>
            </a:r>
            <a:r>
              <a:rPr lang="ko-KR" altLang="en-US" sz="1400" dirty="0">
                <a:solidFill>
                  <a:schemeClr val="tx2"/>
                </a:solidFill>
              </a:rPr>
              <a:t>는 보정</a:t>
            </a:r>
            <a:r>
              <a:rPr lang="en-US" altLang="ko-KR" sz="1400" dirty="0">
                <a:solidFill>
                  <a:schemeClr val="tx2"/>
                </a:solidFill>
              </a:rPr>
              <a:t>(β)</a:t>
            </a:r>
            <a:r>
              <a:rPr lang="ko-KR" altLang="en-US" sz="1400" dirty="0">
                <a:solidFill>
                  <a:schemeClr val="tx2"/>
                </a:solidFill>
              </a:rPr>
              <a:t>된 </a:t>
            </a:r>
            <a:r>
              <a:rPr lang="ko-KR" altLang="en-US" sz="1400" dirty="0" err="1">
                <a:solidFill>
                  <a:schemeClr val="tx2"/>
                </a:solidFill>
              </a:rPr>
              <a:t>청구범위와</a:t>
            </a:r>
            <a:r>
              <a:rPr lang="ko-KR" altLang="en-US" sz="1400" dirty="0">
                <a:solidFill>
                  <a:schemeClr val="tx2"/>
                </a:solidFill>
              </a:rPr>
              <a:t> 보정</a:t>
            </a:r>
            <a:r>
              <a:rPr lang="en-US" altLang="ko-KR" sz="1400" dirty="0">
                <a:solidFill>
                  <a:schemeClr val="tx2"/>
                </a:solidFill>
              </a:rPr>
              <a:t>(γ)</a:t>
            </a:r>
            <a:r>
              <a:rPr lang="ko-KR" altLang="en-US" sz="1400" dirty="0">
                <a:solidFill>
                  <a:schemeClr val="tx2"/>
                </a:solidFill>
              </a:rPr>
              <a:t>된 청구범위를 비교하여 판단한다</a:t>
            </a:r>
            <a:r>
              <a:rPr lang="en-US" altLang="ko-KR" sz="1400" dirty="0">
                <a:solidFill>
                  <a:schemeClr val="tx2"/>
                </a:solidFill>
              </a:rPr>
              <a:t>. </a:t>
            </a:r>
            <a:r>
              <a:rPr lang="ko-KR" altLang="en-US" sz="1400" dirty="0">
                <a:solidFill>
                  <a:schemeClr val="tx2"/>
                </a:solidFill>
              </a:rPr>
              <a:t>이 경우 </a:t>
            </a:r>
            <a:r>
              <a:rPr lang="ko-KR" altLang="en-US" sz="1400" dirty="0">
                <a:solidFill>
                  <a:schemeClr val="tx2"/>
                </a:solidFill>
                <a:highlight>
                  <a:srgbClr val="FFFF00"/>
                </a:highlight>
              </a:rPr>
              <a:t>최후거절이유를 해소하기 위해 신규사항추가한 사항을 삭제하는 보정을 하려고 하는 경우 청구범위의 확장으로 제</a:t>
            </a:r>
            <a:r>
              <a:rPr lang="en-US" altLang="ko-KR" sz="1400" dirty="0">
                <a:solidFill>
                  <a:schemeClr val="tx2"/>
                </a:solidFill>
                <a:highlight>
                  <a:srgbClr val="FFFF00"/>
                </a:highlight>
              </a:rPr>
              <a:t>47</a:t>
            </a:r>
            <a:r>
              <a:rPr lang="ko-KR" altLang="en-US" sz="1400" dirty="0">
                <a:solidFill>
                  <a:schemeClr val="tx2"/>
                </a:solidFill>
                <a:highlight>
                  <a:srgbClr val="FFFF00"/>
                </a:highlight>
              </a:rPr>
              <a:t>조제</a:t>
            </a:r>
            <a:r>
              <a:rPr lang="en-US" altLang="ko-KR" sz="1400" dirty="0">
                <a:solidFill>
                  <a:schemeClr val="tx2"/>
                </a:solidFill>
                <a:highlight>
                  <a:srgbClr val="FFFF00"/>
                </a:highlight>
              </a:rPr>
              <a:t>3</a:t>
            </a:r>
            <a:r>
              <a:rPr lang="ko-KR" altLang="en-US" sz="1400" dirty="0" err="1">
                <a:solidFill>
                  <a:schemeClr val="tx2"/>
                </a:solidFill>
                <a:highlight>
                  <a:srgbClr val="FFFF00"/>
                </a:highlight>
              </a:rPr>
              <a:t>항제</a:t>
            </a:r>
            <a:r>
              <a:rPr lang="en-US" altLang="ko-KR" sz="1400" dirty="0">
                <a:solidFill>
                  <a:schemeClr val="tx2"/>
                </a:solidFill>
                <a:highlight>
                  <a:srgbClr val="FFFF00"/>
                </a:highlight>
              </a:rPr>
              <a:t>1</a:t>
            </a:r>
            <a:r>
              <a:rPr lang="ko-KR" altLang="en-US" sz="1400" dirty="0">
                <a:solidFill>
                  <a:schemeClr val="tx2"/>
                </a:solidFill>
                <a:highlight>
                  <a:srgbClr val="FFFF00"/>
                </a:highlight>
              </a:rPr>
              <a:t>호 위반의 문제가 될 수 있기 때문에</a:t>
            </a:r>
            <a:r>
              <a:rPr lang="en-US" altLang="ko-KR" sz="1400" dirty="0">
                <a:solidFill>
                  <a:schemeClr val="tx2"/>
                </a:solidFill>
                <a:highlight>
                  <a:srgbClr val="FFFF00"/>
                </a:highlight>
              </a:rPr>
              <a:t>, </a:t>
            </a:r>
            <a:r>
              <a:rPr lang="ko-KR" altLang="en-US" sz="1400" dirty="0">
                <a:solidFill>
                  <a:schemeClr val="tx2"/>
                </a:solidFill>
                <a:highlight>
                  <a:srgbClr val="FFFF00"/>
                </a:highlight>
              </a:rPr>
              <a:t>제</a:t>
            </a:r>
            <a:r>
              <a:rPr lang="en-US" altLang="ko-KR" sz="1400" dirty="0">
                <a:solidFill>
                  <a:schemeClr val="tx2"/>
                </a:solidFill>
                <a:highlight>
                  <a:srgbClr val="FFFF00"/>
                </a:highlight>
              </a:rPr>
              <a:t>47</a:t>
            </a:r>
            <a:r>
              <a:rPr lang="ko-KR" altLang="en-US" sz="1400" dirty="0">
                <a:solidFill>
                  <a:schemeClr val="tx2"/>
                </a:solidFill>
                <a:highlight>
                  <a:srgbClr val="FFFF00"/>
                </a:highlight>
              </a:rPr>
              <a:t>조제</a:t>
            </a:r>
            <a:r>
              <a:rPr lang="en-US" altLang="ko-KR" sz="1400" dirty="0">
                <a:solidFill>
                  <a:schemeClr val="tx2"/>
                </a:solidFill>
                <a:highlight>
                  <a:srgbClr val="FFFF00"/>
                </a:highlight>
              </a:rPr>
              <a:t>3</a:t>
            </a:r>
            <a:r>
              <a:rPr lang="ko-KR" altLang="en-US" sz="1400" dirty="0" err="1">
                <a:solidFill>
                  <a:schemeClr val="tx2"/>
                </a:solidFill>
                <a:highlight>
                  <a:srgbClr val="FFFF00"/>
                </a:highlight>
              </a:rPr>
              <a:t>항제</a:t>
            </a:r>
            <a:r>
              <a:rPr lang="en-US" altLang="ko-KR" sz="1400" dirty="0">
                <a:solidFill>
                  <a:schemeClr val="tx2"/>
                </a:solidFill>
                <a:highlight>
                  <a:srgbClr val="FFFF00"/>
                </a:highlight>
              </a:rPr>
              <a:t>4</a:t>
            </a:r>
            <a:r>
              <a:rPr lang="ko-KR" altLang="en-US" sz="1400" dirty="0">
                <a:solidFill>
                  <a:schemeClr val="tx2"/>
                </a:solidFill>
                <a:highlight>
                  <a:srgbClr val="FFFF00"/>
                </a:highlight>
              </a:rPr>
              <a:t>호에서 그 예외를 인정</a:t>
            </a:r>
            <a:r>
              <a:rPr lang="ko-KR" altLang="en-US" sz="1400" dirty="0">
                <a:solidFill>
                  <a:schemeClr val="tx2"/>
                </a:solidFill>
              </a:rPr>
              <a:t>하고 있다</a:t>
            </a:r>
            <a:r>
              <a:rPr lang="en-US" altLang="ko-KR" sz="1400" dirty="0">
                <a:solidFill>
                  <a:schemeClr val="tx2"/>
                </a:solidFill>
              </a:rPr>
              <a:t>.</a:t>
            </a:r>
          </a:p>
        </p:txBody>
      </p:sp>
      <p:cxnSp>
        <p:nvCxnSpPr>
          <p:cNvPr id="6" name="직선 연결선 5"/>
          <p:cNvCxnSpPr/>
          <p:nvPr/>
        </p:nvCxnSpPr>
        <p:spPr>
          <a:xfrm>
            <a:off x="0" y="216555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직선 화살표 연결선 16"/>
          <p:cNvCxnSpPr/>
          <p:nvPr/>
        </p:nvCxnSpPr>
        <p:spPr>
          <a:xfrm>
            <a:off x="590550" y="3296847"/>
            <a:ext cx="10982325"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9" name="Rectangle 14"/>
          <p:cNvSpPr>
            <a:spLocks noChangeArrowheads="1"/>
          </p:cNvSpPr>
          <p:nvPr/>
        </p:nvSpPr>
        <p:spPr bwMode="auto">
          <a:xfrm>
            <a:off x="4713388" y="3108704"/>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최초</a:t>
            </a:r>
            <a:r>
              <a:rPr lang="en-US" altLang="ko-KR" sz="1200" dirty="0">
                <a:latin typeface="+mj-ea"/>
                <a:ea typeface="+mj-ea"/>
              </a:rPr>
              <a:t>OA</a:t>
            </a:r>
            <a:endParaRPr lang="ko-KR" altLang="en-US" sz="1200" b="0" dirty="0">
              <a:latin typeface="+mj-ea"/>
              <a:ea typeface="+mj-ea"/>
            </a:endParaRPr>
          </a:p>
        </p:txBody>
      </p:sp>
      <p:sp>
        <p:nvSpPr>
          <p:cNvPr id="23" name="TextBox 22"/>
          <p:cNvSpPr txBox="1"/>
          <p:nvPr/>
        </p:nvSpPr>
        <p:spPr>
          <a:xfrm>
            <a:off x="5385707" y="2901573"/>
            <a:ext cx="2091418" cy="276999"/>
          </a:xfrm>
          <a:prstGeom prst="rect">
            <a:avLst/>
          </a:prstGeom>
          <a:noFill/>
        </p:spPr>
        <p:txBody>
          <a:bodyPr wrap="square" rtlCol="0">
            <a:spAutoFit/>
          </a:bodyPr>
          <a:lstStyle/>
          <a:p>
            <a:pPr algn="ctr"/>
            <a:r>
              <a:rPr lang="ko-KR" altLang="en-US" sz="1200" dirty="0">
                <a:solidFill>
                  <a:schemeClr val="bg1">
                    <a:lumMod val="50000"/>
                  </a:schemeClr>
                </a:solidFill>
              </a:rPr>
              <a:t>의견제출기간</a:t>
            </a:r>
            <a:r>
              <a:rPr lang="en-US" altLang="ko-KR" sz="1200" dirty="0">
                <a:solidFill>
                  <a:schemeClr val="bg1">
                    <a:lumMod val="50000"/>
                  </a:schemeClr>
                </a:solidFill>
              </a:rPr>
              <a:t>(</a:t>
            </a:r>
            <a:r>
              <a:rPr lang="en-US" altLang="ko-KR" sz="1200" dirty="0">
                <a:solidFill>
                  <a:srgbClr val="FF0000"/>
                </a:solidFill>
              </a:rPr>
              <a:t>4</a:t>
            </a:r>
            <a:r>
              <a:rPr lang="ko-KR" altLang="en-US" sz="1200" dirty="0">
                <a:solidFill>
                  <a:srgbClr val="FF0000"/>
                </a:solidFill>
              </a:rPr>
              <a:t>개월</a:t>
            </a:r>
            <a:r>
              <a:rPr lang="ko-KR" altLang="en-US" sz="1200" dirty="0">
                <a:solidFill>
                  <a:schemeClr val="bg1">
                    <a:lumMod val="50000"/>
                  </a:schemeClr>
                </a:solidFill>
              </a:rPr>
              <a:t> 이내</a:t>
            </a:r>
            <a:r>
              <a:rPr lang="en-US" altLang="ko-KR" sz="1200" dirty="0">
                <a:solidFill>
                  <a:schemeClr val="bg1">
                    <a:lumMod val="50000"/>
                  </a:schemeClr>
                </a:solidFill>
              </a:rPr>
              <a:t>)</a:t>
            </a:r>
            <a:endParaRPr lang="ko-KR" altLang="en-US" sz="1200" dirty="0">
              <a:solidFill>
                <a:schemeClr val="bg1">
                  <a:lumMod val="50000"/>
                </a:schemeClr>
              </a:solidFill>
            </a:endParaRPr>
          </a:p>
        </p:txBody>
      </p:sp>
      <p:cxnSp>
        <p:nvCxnSpPr>
          <p:cNvPr id="25" name="직선 화살표 연결선 24"/>
          <p:cNvCxnSpPr/>
          <p:nvPr/>
        </p:nvCxnSpPr>
        <p:spPr>
          <a:xfrm flipV="1">
            <a:off x="2602752" y="3287322"/>
            <a:ext cx="0" cy="631003"/>
          </a:xfrm>
          <a:prstGeom prst="straightConnector1">
            <a:avLst/>
          </a:prstGeom>
          <a:ln w="9525">
            <a:solidFill>
              <a:schemeClr val="bg2">
                <a:lumMod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7" name="직선 화살표 연결선 36"/>
          <p:cNvCxnSpPr/>
          <p:nvPr/>
        </p:nvCxnSpPr>
        <p:spPr>
          <a:xfrm flipV="1">
            <a:off x="7070418" y="3287322"/>
            <a:ext cx="0" cy="631003"/>
          </a:xfrm>
          <a:prstGeom prst="straightConnector1">
            <a:avLst/>
          </a:prstGeom>
          <a:ln w="9525">
            <a:solidFill>
              <a:schemeClr val="bg2">
                <a:lumMod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9" name="직선 화살표 연결선 38"/>
          <p:cNvCxnSpPr/>
          <p:nvPr/>
        </p:nvCxnSpPr>
        <p:spPr>
          <a:xfrm flipV="1">
            <a:off x="10594668" y="3287322"/>
            <a:ext cx="0" cy="631003"/>
          </a:xfrm>
          <a:prstGeom prst="straightConnector1">
            <a:avLst/>
          </a:prstGeom>
          <a:ln w="9525">
            <a:solidFill>
              <a:schemeClr val="bg2">
                <a:lumMod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8738908" y="2901573"/>
            <a:ext cx="2091418" cy="276999"/>
          </a:xfrm>
          <a:prstGeom prst="rect">
            <a:avLst/>
          </a:prstGeom>
          <a:noFill/>
        </p:spPr>
        <p:txBody>
          <a:bodyPr wrap="square" rtlCol="0">
            <a:spAutoFit/>
          </a:bodyPr>
          <a:lstStyle/>
          <a:p>
            <a:pPr algn="ctr"/>
            <a:r>
              <a:rPr lang="ko-KR" altLang="en-US" sz="1200" dirty="0">
                <a:solidFill>
                  <a:schemeClr val="bg1">
                    <a:lumMod val="50000"/>
                  </a:schemeClr>
                </a:solidFill>
              </a:rPr>
              <a:t>의견제출기간</a:t>
            </a:r>
            <a:r>
              <a:rPr lang="en-US" altLang="ko-KR" sz="1200" dirty="0">
                <a:solidFill>
                  <a:schemeClr val="bg1">
                    <a:lumMod val="50000"/>
                  </a:schemeClr>
                </a:solidFill>
              </a:rPr>
              <a:t>(</a:t>
            </a:r>
            <a:r>
              <a:rPr lang="en-US" altLang="ko-KR" sz="1200" dirty="0">
                <a:solidFill>
                  <a:srgbClr val="FF0000"/>
                </a:solidFill>
              </a:rPr>
              <a:t>4</a:t>
            </a:r>
            <a:r>
              <a:rPr lang="ko-KR" altLang="en-US" sz="1200" dirty="0">
                <a:solidFill>
                  <a:srgbClr val="FF0000"/>
                </a:solidFill>
              </a:rPr>
              <a:t>개월</a:t>
            </a:r>
            <a:r>
              <a:rPr lang="ko-KR" altLang="en-US" sz="1200" dirty="0">
                <a:solidFill>
                  <a:schemeClr val="bg1">
                    <a:lumMod val="50000"/>
                  </a:schemeClr>
                </a:solidFill>
              </a:rPr>
              <a:t> 이내</a:t>
            </a:r>
            <a:r>
              <a:rPr lang="en-US" altLang="ko-KR" sz="1200" dirty="0">
                <a:solidFill>
                  <a:schemeClr val="bg1">
                    <a:lumMod val="50000"/>
                  </a:schemeClr>
                </a:solidFill>
              </a:rPr>
              <a:t>)</a:t>
            </a:r>
            <a:endParaRPr lang="ko-KR" altLang="en-US" sz="1200" dirty="0">
              <a:solidFill>
                <a:schemeClr val="bg1">
                  <a:lumMod val="50000"/>
                </a:schemeClr>
              </a:solidFill>
            </a:endParaRPr>
          </a:p>
        </p:txBody>
      </p:sp>
      <p:sp>
        <p:nvSpPr>
          <p:cNvPr id="20" name="Rectangle 14"/>
          <p:cNvSpPr>
            <a:spLocks noChangeArrowheads="1"/>
          </p:cNvSpPr>
          <p:nvPr/>
        </p:nvSpPr>
        <p:spPr bwMode="auto">
          <a:xfrm>
            <a:off x="8121832" y="3108704"/>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a:latin typeface="+mj-ea"/>
                <a:ea typeface="+mj-ea"/>
              </a:rPr>
              <a:t>최후</a:t>
            </a:r>
            <a:r>
              <a:rPr lang="en-US" altLang="ko-KR" sz="1200" dirty="0">
                <a:latin typeface="+mj-ea"/>
                <a:ea typeface="+mj-ea"/>
              </a:rPr>
              <a:t>OA</a:t>
            </a:r>
            <a:endParaRPr lang="ko-KR" altLang="en-US" sz="1200" b="0" dirty="0">
              <a:latin typeface="+mj-ea"/>
              <a:ea typeface="+mj-ea"/>
            </a:endParaRPr>
          </a:p>
        </p:txBody>
      </p:sp>
      <p:sp>
        <p:nvSpPr>
          <p:cNvPr id="18" name="Rectangle 14"/>
          <p:cNvSpPr>
            <a:spLocks noChangeArrowheads="1"/>
          </p:cNvSpPr>
          <p:nvPr/>
        </p:nvSpPr>
        <p:spPr bwMode="auto">
          <a:xfrm>
            <a:off x="2218549" y="3623050"/>
            <a:ext cx="787456" cy="325438"/>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출원</a:t>
            </a:r>
            <a:r>
              <a:rPr lang="en-US" altLang="ko-KR" sz="1200" dirty="0"/>
              <a:t>(α)</a:t>
            </a:r>
            <a:endParaRPr lang="en-US" altLang="ko-KR" sz="1200" dirty="0">
              <a:latin typeface="+mj-ea"/>
              <a:ea typeface="+mj-ea"/>
            </a:endParaRPr>
          </a:p>
        </p:txBody>
      </p:sp>
      <p:sp>
        <p:nvSpPr>
          <p:cNvPr id="36" name="Rectangle 14"/>
          <p:cNvSpPr>
            <a:spLocks noChangeArrowheads="1"/>
          </p:cNvSpPr>
          <p:nvPr/>
        </p:nvSpPr>
        <p:spPr bwMode="auto">
          <a:xfrm>
            <a:off x="6686215" y="3623050"/>
            <a:ext cx="787456" cy="325438"/>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t>보정</a:t>
            </a:r>
            <a:r>
              <a:rPr lang="en-US" altLang="ko-KR" sz="1200" dirty="0"/>
              <a:t>(β)</a:t>
            </a:r>
            <a:endParaRPr lang="ko-KR" altLang="en-US" sz="1200" b="0" dirty="0">
              <a:latin typeface="+mj-ea"/>
              <a:ea typeface="+mj-ea"/>
            </a:endParaRPr>
          </a:p>
        </p:txBody>
      </p:sp>
      <p:sp>
        <p:nvSpPr>
          <p:cNvPr id="38" name="Rectangle 14"/>
          <p:cNvSpPr>
            <a:spLocks noChangeArrowheads="1"/>
          </p:cNvSpPr>
          <p:nvPr/>
        </p:nvSpPr>
        <p:spPr bwMode="auto">
          <a:xfrm>
            <a:off x="10210465" y="3623050"/>
            <a:ext cx="787456" cy="325438"/>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t>보정</a:t>
            </a:r>
            <a:r>
              <a:rPr lang="en-US" altLang="ko-KR" sz="1200" dirty="0"/>
              <a:t>(γ)</a:t>
            </a:r>
            <a:endParaRPr lang="ko-KR" altLang="en-US" sz="1200" b="0" dirty="0">
              <a:latin typeface="+mj-ea"/>
              <a:ea typeface="+mj-ea"/>
            </a:endParaRPr>
          </a:p>
        </p:txBody>
      </p:sp>
      <p:cxnSp>
        <p:nvCxnSpPr>
          <p:cNvPr id="43" name="직선 화살표 연결선 42"/>
          <p:cNvCxnSpPr/>
          <p:nvPr/>
        </p:nvCxnSpPr>
        <p:spPr>
          <a:xfrm flipV="1">
            <a:off x="1154952" y="3296847"/>
            <a:ext cx="0" cy="1173929"/>
          </a:xfrm>
          <a:prstGeom prst="straightConnector1">
            <a:avLst/>
          </a:prstGeom>
          <a:ln w="9525">
            <a:solidFill>
              <a:schemeClr val="bg2">
                <a:lumMod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4" name="Rectangle 14"/>
          <p:cNvSpPr>
            <a:spLocks noChangeArrowheads="1"/>
          </p:cNvSpPr>
          <p:nvPr/>
        </p:nvSpPr>
        <p:spPr bwMode="auto">
          <a:xfrm>
            <a:off x="770749" y="4175500"/>
            <a:ext cx="787456" cy="542970"/>
          </a:xfrm>
          <a:prstGeom prst="rect">
            <a:avLst/>
          </a:prstGeom>
          <a:solidFill>
            <a:schemeClr val="tx1">
              <a:lumMod val="50000"/>
              <a:lumOff val="50000"/>
            </a:schemeClr>
          </a:solidFill>
          <a:ln w="9525" algn="ctr">
            <a:solidFill>
              <a:schemeClr val="bg1">
                <a:lumMod val="50000"/>
              </a:schemeClr>
            </a:solidFill>
            <a:miter lim="800000"/>
            <a:headEnd/>
            <a:tailEnd/>
          </a:ln>
        </p:spPr>
        <p:txBody>
          <a:bodyPr wrap="none" anchor="ctr"/>
          <a:lstStyle/>
          <a:p>
            <a:pPr algn="ctr"/>
            <a:r>
              <a:rPr lang="ko-KR" altLang="en-US" sz="1200" dirty="0" err="1">
                <a:solidFill>
                  <a:schemeClr val="bg1"/>
                </a:solidFill>
                <a:latin typeface="+mj-ea"/>
                <a:ea typeface="+mj-ea"/>
              </a:rPr>
              <a:t>공지기술</a:t>
            </a:r>
            <a:endParaRPr lang="en-US" altLang="ko-KR" sz="1200" dirty="0">
              <a:solidFill>
                <a:schemeClr val="bg1"/>
              </a:solidFill>
              <a:latin typeface="+mj-ea"/>
              <a:ea typeface="+mj-ea"/>
            </a:endParaRPr>
          </a:p>
          <a:p>
            <a:pPr algn="ctr"/>
            <a:r>
              <a:rPr lang="en-US" altLang="ko-KR" sz="1200" dirty="0">
                <a:solidFill>
                  <a:schemeClr val="bg1"/>
                </a:solidFill>
                <a:latin typeface="+mj-ea"/>
                <a:ea typeface="+mj-ea"/>
              </a:rPr>
              <a:t>(abc1)</a:t>
            </a:r>
          </a:p>
        </p:txBody>
      </p:sp>
      <p:sp>
        <p:nvSpPr>
          <p:cNvPr id="49" name="직사각형 48"/>
          <p:cNvSpPr/>
          <p:nvPr/>
        </p:nvSpPr>
        <p:spPr>
          <a:xfrm>
            <a:off x="2133458" y="4020743"/>
            <a:ext cx="932256" cy="306001"/>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err="1">
                <a:solidFill>
                  <a:schemeClr val="tx1"/>
                </a:solidFill>
              </a:rPr>
              <a:t>abc</a:t>
            </a:r>
            <a:endParaRPr lang="ko-KR" altLang="en-US" sz="1400" dirty="0">
              <a:solidFill>
                <a:schemeClr val="tx1"/>
              </a:solidFill>
            </a:endParaRPr>
          </a:p>
        </p:txBody>
      </p:sp>
      <p:sp>
        <p:nvSpPr>
          <p:cNvPr id="50" name="직사각형 49"/>
          <p:cNvSpPr/>
          <p:nvPr/>
        </p:nvSpPr>
        <p:spPr>
          <a:xfrm>
            <a:off x="2133458" y="4326744"/>
            <a:ext cx="932256" cy="306001"/>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err="1">
                <a:solidFill>
                  <a:schemeClr val="tx1"/>
                </a:solidFill>
              </a:rPr>
              <a:t>abc</a:t>
            </a:r>
            <a:r>
              <a:rPr lang="en-US" altLang="ko-KR" sz="1200" dirty="0">
                <a:solidFill>
                  <a:schemeClr val="tx1"/>
                </a:solidFill>
              </a:rPr>
              <a:t>, </a:t>
            </a:r>
            <a:r>
              <a:rPr lang="en-US" altLang="ko-KR" sz="1200" dirty="0" err="1">
                <a:solidFill>
                  <a:schemeClr val="tx1"/>
                </a:solidFill>
              </a:rPr>
              <a:t>abcd</a:t>
            </a:r>
            <a:endParaRPr lang="ko-KR" altLang="en-US" sz="1200" dirty="0">
              <a:solidFill>
                <a:schemeClr val="tx1"/>
              </a:solidFill>
            </a:endParaRPr>
          </a:p>
        </p:txBody>
      </p:sp>
      <p:cxnSp>
        <p:nvCxnSpPr>
          <p:cNvPr id="51" name="직선 화살표 연결선 50"/>
          <p:cNvCxnSpPr>
            <a:stCxn id="52" idx="0"/>
            <a:endCxn id="19" idx="2"/>
          </p:cNvCxnSpPr>
          <p:nvPr/>
        </p:nvCxnSpPr>
        <p:spPr>
          <a:xfrm flipV="1">
            <a:off x="5107116" y="3434142"/>
            <a:ext cx="0" cy="1417633"/>
          </a:xfrm>
          <a:prstGeom prst="straightConnector1">
            <a:avLst/>
          </a:prstGeom>
          <a:ln w="9525">
            <a:solidFill>
              <a:schemeClr val="bg2">
                <a:lumMod val="25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2" name="Rectangle 14"/>
          <p:cNvSpPr>
            <a:spLocks noChangeArrowheads="1"/>
          </p:cNvSpPr>
          <p:nvPr/>
        </p:nvSpPr>
        <p:spPr bwMode="auto">
          <a:xfrm>
            <a:off x="4261107" y="4851775"/>
            <a:ext cx="1692018" cy="542970"/>
          </a:xfrm>
          <a:prstGeom prst="rect">
            <a:avLst/>
          </a:prstGeom>
          <a:noFill/>
          <a:ln w="9525" algn="ctr">
            <a:solidFill>
              <a:schemeClr val="bg1">
                <a:lumMod val="50000"/>
              </a:schemeClr>
            </a:solidFill>
            <a:prstDash val="sysDot"/>
            <a:miter lim="800000"/>
            <a:headEnd/>
            <a:tailEnd/>
          </a:ln>
        </p:spPr>
        <p:txBody>
          <a:bodyPr wrap="none" anchor="ctr"/>
          <a:lstStyle/>
          <a:p>
            <a:pPr algn="ctr"/>
            <a:r>
              <a:rPr lang="en-US" altLang="ko-KR" sz="1200" dirty="0" err="1">
                <a:latin typeface="+mj-ea"/>
                <a:ea typeface="+mj-ea"/>
              </a:rPr>
              <a:t>abc</a:t>
            </a:r>
            <a:r>
              <a:rPr lang="ko-KR" altLang="en-US" sz="1200" dirty="0">
                <a:latin typeface="+mj-ea"/>
                <a:ea typeface="+mj-ea"/>
              </a:rPr>
              <a:t>가 </a:t>
            </a:r>
            <a:r>
              <a:rPr lang="en-US" altLang="ko-KR" sz="1200" dirty="0">
                <a:latin typeface="+mj-ea"/>
                <a:ea typeface="+mj-ea"/>
              </a:rPr>
              <a:t>abc1</a:t>
            </a:r>
            <a:r>
              <a:rPr lang="ko-KR" altLang="en-US" sz="1200" dirty="0">
                <a:latin typeface="+mj-ea"/>
                <a:ea typeface="+mj-ea"/>
              </a:rPr>
              <a:t>로부터 용이</a:t>
            </a:r>
            <a:endParaRPr lang="en-US" altLang="ko-KR" sz="1200" dirty="0">
              <a:latin typeface="+mj-ea"/>
              <a:ea typeface="+mj-ea"/>
            </a:endParaRPr>
          </a:p>
          <a:p>
            <a:pPr algn="ctr"/>
            <a:r>
              <a:rPr lang="en-US" altLang="ko-KR" sz="1200" dirty="0">
                <a:latin typeface="+mj-ea"/>
                <a:ea typeface="+mj-ea"/>
              </a:rPr>
              <a:t>(</a:t>
            </a:r>
            <a:r>
              <a:rPr lang="ko-KR" altLang="en-US" sz="1200" dirty="0">
                <a:latin typeface="+mj-ea"/>
                <a:ea typeface="+mj-ea"/>
              </a:rPr>
              <a:t>진보성 위반</a:t>
            </a:r>
            <a:r>
              <a:rPr lang="en-US" altLang="ko-KR" sz="1200" dirty="0">
                <a:latin typeface="+mj-ea"/>
                <a:ea typeface="+mj-ea"/>
              </a:rPr>
              <a:t>)</a:t>
            </a:r>
          </a:p>
        </p:txBody>
      </p:sp>
      <p:sp>
        <p:nvSpPr>
          <p:cNvPr id="54" name="직사각형 53"/>
          <p:cNvSpPr/>
          <p:nvPr/>
        </p:nvSpPr>
        <p:spPr>
          <a:xfrm>
            <a:off x="6273186" y="4020743"/>
            <a:ext cx="1594464" cy="306001"/>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err="1">
                <a:solidFill>
                  <a:schemeClr val="tx1"/>
                </a:solidFill>
              </a:rPr>
              <a:t>abcde</a:t>
            </a:r>
            <a:endParaRPr lang="ko-KR" altLang="en-US" sz="1400" dirty="0">
              <a:solidFill>
                <a:schemeClr val="tx1"/>
              </a:solidFill>
            </a:endParaRPr>
          </a:p>
        </p:txBody>
      </p:sp>
      <p:sp>
        <p:nvSpPr>
          <p:cNvPr id="55" name="직사각형 54"/>
          <p:cNvSpPr/>
          <p:nvPr/>
        </p:nvSpPr>
        <p:spPr>
          <a:xfrm>
            <a:off x="6273186" y="4326744"/>
            <a:ext cx="1594464" cy="306001"/>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err="1">
                <a:solidFill>
                  <a:schemeClr val="tx1"/>
                </a:solidFill>
              </a:rPr>
              <a:t>abc</a:t>
            </a:r>
            <a:r>
              <a:rPr lang="en-US" altLang="ko-KR" sz="1200" dirty="0">
                <a:solidFill>
                  <a:schemeClr val="tx1"/>
                </a:solidFill>
              </a:rPr>
              <a:t>, </a:t>
            </a:r>
            <a:r>
              <a:rPr lang="en-US" altLang="ko-KR" sz="1200" dirty="0" err="1">
                <a:solidFill>
                  <a:schemeClr val="tx1"/>
                </a:solidFill>
              </a:rPr>
              <a:t>abcd</a:t>
            </a:r>
            <a:r>
              <a:rPr lang="en-US" altLang="ko-KR" sz="1200" dirty="0">
                <a:solidFill>
                  <a:schemeClr val="tx1"/>
                </a:solidFill>
              </a:rPr>
              <a:t>, </a:t>
            </a:r>
            <a:r>
              <a:rPr lang="en-US" altLang="ko-KR" sz="1200" dirty="0" err="1">
                <a:solidFill>
                  <a:schemeClr val="tx1"/>
                </a:solidFill>
              </a:rPr>
              <a:t>abcde</a:t>
            </a:r>
            <a:endParaRPr lang="ko-KR" altLang="en-US" sz="1200" dirty="0">
              <a:solidFill>
                <a:schemeClr val="tx1"/>
              </a:solidFill>
            </a:endParaRPr>
          </a:p>
        </p:txBody>
      </p:sp>
      <p:cxnSp>
        <p:nvCxnSpPr>
          <p:cNvPr id="57" name="직선 화살표 연결선 56"/>
          <p:cNvCxnSpPr>
            <a:stCxn id="58" idx="0"/>
          </p:cNvCxnSpPr>
          <p:nvPr/>
        </p:nvCxnSpPr>
        <p:spPr>
          <a:xfrm flipV="1">
            <a:off x="8504799" y="3434143"/>
            <a:ext cx="0" cy="1417632"/>
          </a:xfrm>
          <a:prstGeom prst="straightConnector1">
            <a:avLst/>
          </a:prstGeom>
          <a:ln w="9525">
            <a:solidFill>
              <a:schemeClr val="bg2">
                <a:lumMod val="25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8" name="Rectangle 14"/>
          <p:cNvSpPr>
            <a:spLocks noChangeArrowheads="1"/>
          </p:cNvSpPr>
          <p:nvPr/>
        </p:nvSpPr>
        <p:spPr bwMode="auto">
          <a:xfrm>
            <a:off x="7507562" y="4851775"/>
            <a:ext cx="1994474" cy="542970"/>
          </a:xfrm>
          <a:prstGeom prst="rect">
            <a:avLst/>
          </a:prstGeom>
          <a:noFill/>
          <a:ln w="9525" algn="ctr">
            <a:solidFill>
              <a:schemeClr val="bg1">
                <a:lumMod val="50000"/>
              </a:schemeClr>
            </a:solidFill>
            <a:prstDash val="sysDot"/>
            <a:miter lim="800000"/>
            <a:headEnd/>
            <a:tailEnd/>
          </a:ln>
        </p:spPr>
        <p:txBody>
          <a:bodyPr wrap="square" anchor="ctr"/>
          <a:lstStyle/>
          <a:p>
            <a:pPr algn="ctr"/>
            <a:r>
              <a:rPr lang="en-US" altLang="ko-KR" sz="1200" dirty="0" err="1">
                <a:latin typeface="+mj-ea"/>
                <a:ea typeface="+mj-ea"/>
              </a:rPr>
              <a:t>abcde</a:t>
            </a:r>
            <a:r>
              <a:rPr lang="ko-KR" altLang="en-US" sz="1200" dirty="0">
                <a:latin typeface="+mj-ea"/>
                <a:ea typeface="+mj-ea"/>
              </a:rPr>
              <a:t>는 진보성 위반이 해소되었으나 신규사항추가</a:t>
            </a:r>
            <a:endParaRPr lang="en-US" altLang="ko-KR" sz="1200" dirty="0">
              <a:latin typeface="+mj-ea"/>
              <a:ea typeface="+mj-ea"/>
            </a:endParaRPr>
          </a:p>
        </p:txBody>
      </p:sp>
      <p:sp>
        <p:nvSpPr>
          <p:cNvPr id="60" name="직사각형 59"/>
          <p:cNvSpPr/>
          <p:nvPr/>
        </p:nvSpPr>
        <p:spPr>
          <a:xfrm>
            <a:off x="10128540" y="4020743"/>
            <a:ext cx="932256" cy="306001"/>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err="1">
                <a:solidFill>
                  <a:srgbClr val="FF0000"/>
                </a:solidFill>
              </a:rPr>
              <a:t>abc</a:t>
            </a:r>
            <a:r>
              <a:rPr lang="en-US" altLang="ko-KR" sz="1200" dirty="0">
                <a:solidFill>
                  <a:srgbClr val="FF0000"/>
                </a:solidFill>
              </a:rPr>
              <a:t>(d)</a:t>
            </a:r>
            <a:endParaRPr lang="ko-KR" altLang="en-US" sz="1400" dirty="0">
              <a:solidFill>
                <a:srgbClr val="FF0000"/>
              </a:solidFill>
            </a:endParaRPr>
          </a:p>
        </p:txBody>
      </p:sp>
      <p:sp>
        <p:nvSpPr>
          <p:cNvPr id="61" name="직사각형 60"/>
          <p:cNvSpPr/>
          <p:nvPr/>
        </p:nvSpPr>
        <p:spPr>
          <a:xfrm>
            <a:off x="10128540" y="4326744"/>
            <a:ext cx="932256" cy="306001"/>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err="1">
                <a:solidFill>
                  <a:schemeClr val="tx1"/>
                </a:solidFill>
              </a:rPr>
              <a:t>abc</a:t>
            </a:r>
            <a:r>
              <a:rPr lang="en-US" altLang="ko-KR" sz="1200" dirty="0">
                <a:solidFill>
                  <a:schemeClr val="tx1"/>
                </a:solidFill>
              </a:rPr>
              <a:t>, </a:t>
            </a:r>
            <a:r>
              <a:rPr lang="en-US" altLang="ko-KR" sz="1200" dirty="0" err="1">
                <a:solidFill>
                  <a:schemeClr val="tx1"/>
                </a:solidFill>
              </a:rPr>
              <a:t>abcd</a:t>
            </a:r>
            <a:endParaRPr lang="ko-KR" altLang="en-US" sz="1200" dirty="0">
              <a:solidFill>
                <a:schemeClr val="tx1"/>
              </a:solidFill>
            </a:endParaRPr>
          </a:p>
        </p:txBody>
      </p:sp>
      <p:cxnSp>
        <p:nvCxnSpPr>
          <p:cNvPr id="63" name="직선 화살표 연결선 62"/>
          <p:cNvCxnSpPr>
            <a:stCxn id="54" idx="3"/>
            <a:endCxn id="60" idx="1"/>
          </p:cNvCxnSpPr>
          <p:nvPr/>
        </p:nvCxnSpPr>
        <p:spPr>
          <a:xfrm>
            <a:off x="7867650" y="4173744"/>
            <a:ext cx="2260890" cy="0"/>
          </a:xfrm>
          <a:prstGeom prst="straightConnector1">
            <a:avLst/>
          </a:prstGeom>
          <a:ln w="38100">
            <a:solidFill>
              <a:srgbClr val="FF0000"/>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5" name="꺾인 연결선 64"/>
          <p:cNvCxnSpPr>
            <a:stCxn id="50" idx="2"/>
            <a:endCxn id="61" idx="2"/>
          </p:cNvCxnSpPr>
          <p:nvPr/>
        </p:nvCxnSpPr>
        <p:spPr>
          <a:xfrm rot="16200000" flipH="1">
            <a:off x="6597127" y="635204"/>
            <a:ext cx="12700" cy="7995082"/>
          </a:xfrm>
          <a:prstGeom prst="bentConnector3">
            <a:avLst>
              <a:gd name="adj1" fmla="val 10275000"/>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8" name="Rectangle 14"/>
          <p:cNvSpPr>
            <a:spLocks noChangeArrowheads="1"/>
          </p:cNvSpPr>
          <p:nvPr/>
        </p:nvSpPr>
        <p:spPr bwMode="auto">
          <a:xfrm>
            <a:off x="5585407" y="5656290"/>
            <a:ext cx="1692018" cy="542970"/>
          </a:xfrm>
          <a:prstGeom prst="rect">
            <a:avLst/>
          </a:prstGeom>
          <a:solidFill>
            <a:schemeClr val="bg1"/>
          </a:solidFill>
          <a:ln w="9525" algn="ctr">
            <a:noFill/>
            <a:prstDash val="sysDot"/>
            <a:miter lim="800000"/>
            <a:headEnd/>
            <a:tailEnd/>
          </a:ln>
        </p:spPr>
        <p:txBody>
          <a:bodyPr wrap="none" anchor="ctr"/>
          <a:lstStyle/>
          <a:p>
            <a:pPr algn="ctr"/>
            <a:r>
              <a:rPr lang="ko-KR" altLang="en-US" sz="1600" dirty="0">
                <a:solidFill>
                  <a:srgbClr val="FF0000"/>
                </a:solidFill>
                <a:latin typeface="+mj-ea"/>
                <a:ea typeface="+mj-ea"/>
              </a:rPr>
              <a:t>제</a:t>
            </a:r>
            <a:r>
              <a:rPr lang="en-US" altLang="ko-KR" sz="1600" dirty="0">
                <a:solidFill>
                  <a:srgbClr val="FF0000"/>
                </a:solidFill>
                <a:latin typeface="+mj-ea"/>
                <a:ea typeface="+mj-ea"/>
              </a:rPr>
              <a:t>47</a:t>
            </a:r>
            <a:r>
              <a:rPr lang="ko-KR" altLang="en-US" sz="1600" dirty="0">
                <a:solidFill>
                  <a:srgbClr val="FF0000"/>
                </a:solidFill>
                <a:latin typeface="+mj-ea"/>
                <a:ea typeface="+mj-ea"/>
              </a:rPr>
              <a:t>조제</a:t>
            </a:r>
            <a:r>
              <a:rPr lang="en-US" altLang="ko-KR" sz="1600" dirty="0">
                <a:solidFill>
                  <a:srgbClr val="FF0000"/>
                </a:solidFill>
                <a:latin typeface="+mj-ea"/>
                <a:ea typeface="+mj-ea"/>
              </a:rPr>
              <a:t>2</a:t>
            </a:r>
            <a:r>
              <a:rPr lang="ko-KR" altLang="en-US" sz="1600" dirty="0">
                <a:solidFill>
                  <a:srgbClr val="FF0000"/>
                </a:solidFill>
                <a:latin typeface="+mj-ea"/>
                <a:ea typeface="+mj-ea"/>
              </a:rPr>
              <a:t>항 판단</a:t>
            </a:r>
            <a:endParaRPr lang="en-US" altLang="ko-KR" sz="1600" dirty="0">
              <a:solidFill>
                <a:srgbClr val="FF0000"/>
              </a:solidFill>
              <a:latin typeface="+mj-ea"/>
              <a:ea typeface="+mj-ea"/>
            </a:endParaRPr>
          </a:p>
        </p:txBody>
      </p:sp>
      <p:sp>
        <p:nvSpPr>
          <p:cNvPr id="69" name="Rectangle 14"/>
          <p:cNvSpPr>
            <a:spLocks noChangeArrowheads="1"/>
          </p:cNvSpPr>
          <p:nvPr/>
        </p:nvSpPr>
        <p:spPr bwMode="auto">
          <a:xfrm>
            <a:off x="8556386" y="3894718"/>
            <a:ext cx="1369794" cy="542970"/>
          </a:xfrm>
          <a:prstGeom prst="rect">
            <a:avLst/>
          </a:prstGeom>
          <a:solidFill>
            <a:schemeClr val="bg1"/>
          </a:solidFill>
          <a:ln w="9525" algn="ctr">
            <a:noFill/>
            <a:prstDash val="sysDot"/>
            <a:miter lim="800000"/>
            <a:headEnd/>
            <a:tailEnd/>
          </a:ln>
        </p:spPr>
        <p:txBody>
          <a:bodyPr wrap="none" anchor="ctr"/>
          <a:lstStyle/>
          <a:p>
            <a:pPr algn="ctr"/>
            <a:r>
              <a:rPr lang="ko-KR" altLang="en-US" sz="1600" dirty="0">
                <a:solidFill>
                  <a:srgbClr val="FF0000"/>
                </a:solidFill>
                <a:latin typeface="+mj-ea"/>
                <a:ea typeface="+mj-ea"/>
              </a:rPr>
              <a:t>제</a:t>
            </a:r>
            <a:r>
              <a:rPr lang="en-US" altLang="ko-KR" sz="1600" dirty="0">
                <a:solidFill>
                  <a:srgbClr val="FF0000"/>
                </a:solidFill>
                <a:latin typeface="+mj-ea"/>
                <a:ea typeface="+mj-ea"/>
              </a:rPr>
              <a:t>47</a:t>
            </a:r>
            <a:r>
              <a:rPr lang="ko-KR" altLang="en-US" sz="1600" dirty="0">
                <a:solidFill>
                  <a:srgbClr val="FF0000"/>
                </a:solidFill>
                <a:latin typeface="+mj-ea"/>
                <a:ea typeface="+mj-ea"/>
              </a:rPr>
              <a:t>조제</a:t>
            </a:r>
            <a:r>
              <a:rPr lang="en-US" altLang="ko-KR" sz="1600" dirty="0">
                <a:solidFill>
                  <a:srgbClr val="FF0000"/>
                </a:solidFill>
                <a:latin typeface="+mj-ea"/>
                <a:ea typeface="+mj-ea"/>
              </a:rPr>
              <a:t>3</a:t>
            </a:r>
            <a:r>
              <a:rPr lang="ko-KR" altLang="en-US" sz="1600" dirty="0">
                <a:solidFill>
                  <a:srgbClr val="FF0000"/>
                </a:solidFill>
                <a:latin typeface="+mj-ea"/>
                <a:ea typeface="+mj-ea"/>
              </a:rPr>
              <a:t>항 </a:t>
            </a:r>
            <a:endParaRPr lang="en-US" altLang="ko-KR" sz="1600" dirty="0">
              <a:solidFill>
                <a:srgbClr val="FF0000"/>
              </a:solidFill>
              <a:latin typeface="+mj-ea"/>
              <a:ea typeface="+mj-ea"/>
            </a:endParaRPr>
          </a:p>
          <a:p>
            <a:pPr algn="ctr"/>
            <a:r>
              <a:rPr lang="ko-KR" altLang="en-US" sz="1600" dirty="0">
                <a:solidFill>
                  <a:srgbClr val="FF0000"/>
                </a:solidFill>
                <a:latin typeface="+mj-ea"/>
                <a:ea typeface="+mj-ea"/>
              </a:rPr>
              <a:t>판단</a:t>
            </a:r>
            <a:endParaRPr lang="en-US" altLang="ko-KR" sz="1600" dirty="0">
              <a:solidFill>
                <a:srgbClr val="FF0000"/>
              </a:solidFill>
              <a:latin typeface="+mj-ea"/>
              <a:ea typeface="+mj-ea"/>
            </a:endParaRPr>
          </a:p>
        </p:txBody>
      </p:sp>
      <p:sp>
        <p:nvSpPr>
          <p:cNvPr id="7" name="슬라이드 번호 개체 틀 6"/>
          <p:cNvSpPr>
            <a:spLocks noGrp="1"/>
          </p:cNvSpPr>
          <p:nvPr>
            <p:ph type="sldNum" sz="quarter" idx="12"/>
          </p:nvPr>
        </p:nvSpPr>
        <p:spPr/>
        <p:txBody>
          <a:bodyPr/>
          <a:lstStyle/>
          <a:p>
            <a:r>
              <a:rPr lang="en-US" altLang="ko-KR"/>
              <a:t>173</a:t>
            </a:r>
            <a:endParaRPr lang="ko-KR" altLang="en-US"/>
          </a:p>
        </p:txBody>
      </p:sp>
    </p:spTree>
    <p:extLst>
      <p:ext uri="{BB962C8B-B14F-4D97-AF65-F5344CB8AC3E}">
        <p14:creationId xmlns:p14="http://schemas.microsoft.com/office/powerpoint/2010/main" val="1977261561"/>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직사각형 5"/>
          <p:cNvSpPr/>
          <p:nvPr/>
        </p:nvSpPr>
        <p:spPr>
          <a:xfrm>
            <a:off x="1113348" y="1004850"/>
            <a:ext cx="10435186" cy="1191781"/>
          </a:xfrm>
          <a:prstGeom prst="rect">
            <a:avLst/>
          </a:prstGeom>
          <a:solidFill>
            <a:schemeClr val="bg1">
              <a:lumMod val="95000"/>
            </a:schemeClr>
          </a:solidFill>
          <a:ln w="3175">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2" name="직선 화살표 연결선 101"/>
          <p:cNvCxnSpPr/>
          <p:nvPr/>
        </p:nvCxnSpPr>
        <p:spPr>
          <a:xfrm flipV="1">
            <a:off x="2590783" y="1960541"/>
            <a:ext cx="0" cy="817563"/>
          </a:xfrm>
          <a:prstGeom prst="straightConnector1">
            <a:avLst/>
          </a:prstGeom>
          <a:ln w="9525">
            <a:solidFill>
              <a:schemeClr val="bg2">
                <a:lumMod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제</a:t>
            </a:r>
            <a:r>
              <a:rPr lang="en-US" altLang="ko-KR" dirty="0"/>
              <a:t>47</a:t>
            </a:r>
            <a:r>
              <a:rPr lang="ko-KR" altLang="en-US" dirty="0"/>
              <a:t>조제</a:t>
            </a:r>
            <a:r>
              <a:rPr lang="en-US" altLang="ko-KR" dirty="0"/>
              <a:t>4</a:t>
            </a:r>
            <a:r>
              <a:rPr lang="ko-KR" altLang="en-US" dirty="0"/>
              <a:t>항의 의미</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7" name="양쪽 모서리가 둥근 사각형 6"/>
          <p:cNvSpPr/>
          <p:nvPr/>
        </p:nvSpPr>
        <p:spPr>
          <a:xfrm>
            <a:off x="1825946" y="1638492"/>
            <a:ext cx="1797788" cy="308132"/>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양쪽 모서리가 둥근 사각형 7"/>
          <p:cNvSpPr/>
          <p:nvPr/>
        </p:nvSpPr>
        <p:spPr>
          <a:xfrm>
            <a:off x="3678318" y="1638492"/>
            <a:ext cx="1430698" cy="308132"/>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양쪽 모서리가 둥근 사각형 8"/>
          <p:cNvSpPr/>
          <p:nvPr/>
        </p:nvSpPr>
        <p:spPr>
          <a:xfrm>
            <a:off x="5984101" y="1638492"/>
            <a:ext cx="1430698" cy="308132"/>
          </a:xfrm>
          <a:prstGeom prst="round2SameRect">
            <a:avLst>
              <a:gd name="adj1" fmla="val 50000"/>
              <a:gd name="adj2" fmla="val 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직사각형 10"/>
          <p:cNvSpPr/>
          <p:nvPr/>
        </p:nvSpPr>
        <p:spPr>
          <a:xfrm>
            <a:off x="1113348" y="3244441"/>
            <a:ext cx="10435186" cy="990563"/>
          </a:xfrm>
          <a:prstGeom prst="rect">
            <a:avLst/>
          </a:prstGeom>
          <a:solidFill>
            <a:schemeClr val="bg1">
              <a:lumMod val="95000"/>
            </a:schemeClr>
          </a:solidFill>
          <a:ln w="3175">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모서리가 둥근 직사각형 12"/>
          <p:cNvSpPr/>
          <p:nvPr/>
        </p:nvSpPr>
        <p:spPr>
          <a:xfrm>
            <a:off x="9427005" y="1646381"/>
            <a:ext cx="132060" cy="164772"/>
          </a:xfrm>
          <a:prstGeom prst="roundRect">
            <a:avLst>
              <a:gd name="adj" fmla="val 50000"/>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 name="직선 화살표 연결선 13"/>
          <p:cNvCxnSpPr/>
          <p:nvPr/>
        </p:nvCxnSpPr>
        <p:spPr>
          <a:xfrm>
            <a:off x="1113348" y="1946624"/>
            <a:ext cx="10308186"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 name="Rectangle 14"/>
          <p:cNvSpPr>
            <a:spLocks noChangeArrowheads="1"/>
          </p:cNvSpPr>
          <p:nvPr/>
        </p:nvSpPr>
        <p:spPr bwMode="auto">
          <a:xfrm>
            <a:off x="1444908" y="1768006"/>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출원</a:t>
            </a:r>
            <a:r>
              <a:rPr lang="en-US" altLang="ko-KR" sz="1200" dirty="0">
                <a:latin typeface="+mj-ea"/>
                <a:ea typeface="+mj-ea"/>
              </a:rPr>
              <a:t>(0)</a:t>
            </a:r>
            <a:endParaRPr lang="ko-KR" altLang="en-US" sz="1200" b="0" dirty="0">
              <a:latin typeface="+mj-ea"/>
              <a:ea typeface="+mj-ea"/>
            </a:endParaRPr>
          </a:p>
        </p:txBody>
      </p:sp>
      <p:sp>
        <p:nvSpPr>
          <p:cNvPr id="16" name="Rectangle 14"/>
          <p:cNvSpPr>
            <a:spLocks noChangeArrowheads="1"/>
          </p:cNvSpPr>
          <p:nvPr/>
        </p:nvSpPr>
        <p:spPr bwMode="auto">
          <a:xfrm>
            <a:off x="3206322" y="1768006"/>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a:latin typeface="+mj-ea"/>
                <a:ea typeface="+mj-ea"/>
              </a:rPr>
              <a:t>최초</a:t>
            </a:r>
            <a:r>
              <a:rPr lang="en-US" altLang="ko-KR" sz="1200" dirty="0">
                <a:latin typeface="+mj-ea"/>
                <a:ea typeface="+mj-ea"/>
              </a:rPr>
              <a:t>OA</a:t>
            </a:r>
            <a:endParaRPr lang="ko-KR" altLang="en-US" sz="1200" b="0" dirty="0">
              <a:latin typeface="+mj-ea"/>
              <a:ea typeface="+mj-ea"/>
            </a:endParaRPr>
          </a:p>
        </p:txBody>
      </p:sp>
      <p:sp>
        <p:nvSpPr>
          <p:cNvPr id="17" name="Rectangle 14"/>
          <p:cNvSpPr>
            <a:spLocks noChangeArrowheads="1"/>
          </p:cNvSpPr>
          <p:nvPr/>
        </p:nvSpPr>
        <p:spPr bwMode="auto">
          <a:xfrm>
            <a:off x="5547966" y="1768006"/>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a:latin typeface="+mj-ea"/>
                <a:ea typeface="+mj-ea"/>
              </a:rPr>
              <a:t>최후</a:t>
            </a:r>
            <a:r>
              <a:rPr lang="en-US" altLang="ko-KR" sz="1200" dirty="0">
                <a:latin typeface="+mj-ea"/>
                <a:ea typeface="+mj-ea"/>
              </a:rPr>
              <a:t>OA</a:t>
            </a:r>
            <a:endParaRPr lang="ko-KR" altLang="en-US" sz="1200" b="0" dirty="0">
              <a:latin typeface="+mj-ea"/>
              <a:ea typeface="+mj-ea"/>
            </a:endParaRPr>
          </a:p>
        </p:txBody>
      </p:sp>
      <p:sp>
        <p:nvSpPr>
          <p:cNvPr id="18" name="Rectangle 14"/>
          <p:cNvSpPr>
            <a:spLocks noChangeArrowheads="1"/>
          </p:cNvSpPr>
          <p:nvPr/>
        </p:nvSpPr>
        <p:spPr bwMode="auto">
          <a:xfrm>
            <a:off x="7744553" y="1768006"/>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거절결정</a:t>
            </a:r>
            <a:endParaRPr lang="ko-KR" altLang="en-US" sz="1200" b="0" dirty="0">
              <a:latin typeface="+mj-ea"/>
              <a:ea typeface="+mj-ea"/>
            </a:endParaRPr>
          </a:p>
        </p:txBody>
      </p:sp>
      <p:sp>
        <p:nvSpPr>
          <p:cNvPr id="19" name="Rectangle 14"/>
          <p:cNvSpPr>
            <a:spLocks noChangeArrowheads="1"/>
          </p:cNvSpPr>
          <p:nvPr/>
        </p:nvSpPr>
        <p:spPr bwMode="auto">
          <a:xfrm>
            <a:off x="9071911" y="1768006"/>
            <a:ext cx="787456" cy="32543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재심사청구</a:t>
            </a:r>
            <a:endParaRPr lang="ko-KR" altLang="en-US" sz="1200" b="0" dirty="0">
              <a:latin typeface="+mj-ea"/>
              <a:ea typeface="+mj-ea"/>
            </a:endParaRPr>
          </a:p>
        </p:txBody>
      </p:sp>
      <p:sp>
        <p:nvSpPr>
          <p:cNvPr id="20" name="TextBox 19"/>
          <p:cNvSpPr txBox="1"/>
          <p:nvPr/>
        </p:nvSpPr>
        <p:spPr>
          <a:xfrm>
            <a:off x="3945316" y="1665650"/>
            <a:ext cx="1263487" cy="230832"/>
          </a:xfrm>
          <a:prstGeom prst="rect">
            <a:avLst/>
          </a:prstGeom>
          <a:noFill/>
        </p:spPr>
        <p:txBody>
          <a:bodyPr wrap="none" rtlCol="0">
            <a:spAutoFit/>
          </a:bodyPr>
          <a:lstStyle/>
          <a:p>
            <a:r>
              <a:rPr lang="ko-KR" altLang="en-US" sz="900" dirty="0">
                <a:solidFill>
                  <a:schemeClr val="bg1">
                    <a:lumMod val="50000"/>
                  </a:schemeClr>
                </a:solidFill>
              </a:rPr>
              <a:t>의견제출기간</a:t>
            </a:r>
            <a:r>
              <a:rPr lang="en-US" altLang="ko-KR" sz="900" dirty="0">
                <a:solidFill>
                  <a:schemeClr val="bg1">
                    <a:lumMod val="50000"/>
                  </a:schemeClr>
                </a:solidFill>
              </a:rPr>
              <a:t>(</a:t>
            </a:r>
            <a:r>
              <a:rPr lang="en-US" altLang="ko-KR" sz="900" dirty="0">
                <a:solidFill>
                  <a:srgbClr val="FF0000"/>
                </a:solidFill>
              </a:rPr>
              <a:t>4</a:t>
            </a:r>
            <a:r>
              <a:rPr lang="ko-KR" altLang="en-US" sz="900" dirty="0">
                <a:solidFill>
                  <a:srgbClr val="FF0000"/>
                </a:solidFill>
              </a:rPr>
              <a:t>개월</a:t>
            </a:r>
            <a:r>
              <a:rPr lang="ko-KR" altLang="en-US" sz="900" dirty="0">
                <a:solidFill>
                  <a:schemeClr val="bg1">
                    <a:lumMod val="50000"/>
                  </a:schemeClr>
                </a:solidFill>
              </a:rPr>
              <a:t>內</a:t>
            </a:r>
            <a:r>
              <a:rPr lang="en-US" altLang="ko-KR" sz="900" dirty="0">
                <a:solidFill>
                  <a:schemeClr val="bg1">
                    <a:lumMod val="50000"/>
                  </a:schemeClr>
                </a:solidFill>
              </a:rPr>
              <a:t>)</a:t>
            </a:r>
            <a:endParaRPr lang="ko-KR" altLang="en-US" sz="900" dirty="0">
              <a:solidFill>
                <a:schemeClr val="bg1">
                  <a:lumMod val="50000"/>
                </a:schemeClr>
              </a:solidFill>
            </a:endParaRPr>
          </a:p>
        </p:txBody>
      </p:sp>
      <p:sp>
        <p:nvSpPr>
          <p:cNvPr id="21" name="TextBox 20"/>
          <p:cNvSpPr txBox="1"/>
          <p:nvPr/>
        </p:nvSpPr>
        <p:spPr>
          <a:xfrm>
            <a:off x="6245744" y="1665650"/>
            <a:ext cx="1263487" cy="230832"/>
          </a:xfrm>
          <a:prstGeom prst="rect">
            <a:avLst/>
          </a:prstGeom>
          <a:noFill/>
        </p:spPr>
        <p:txBody>
          <a:bodyPr wrap="none" rtlCol="0">
            <a:spAutoFit/>
          </a:bodyPr>
          <a:lstStyle/>
          <a:p>
            <a:pPr algn="ctr"/>
            <a:r>
              <a:rPr lang="ko-KR" altLang="en-US" sz="900" dirty="0">
                <a:solidFill>
                  <a:schemeClr val="bg1">
                    <a:lumMod val="50000"/>
                  </a:schemeClr>
                </a:solidFill>
              </a:rPr>
              <a:t>의견제출기간</a:t>
            </a:r>
            <a:r>
              <a:rPr lang="en-US" altLang="ko-KR" sz="900" dirty="0">
                <a:solidFill>
                  <a:schemeClr val="bg1">
                    <a:lumMod val="50000"/>
                  </a:schemeClr>
                </a:solidFill>
              </a:rPr>
              <a:t>(</a:t>
            </a:r>
            <a:r>
              <a:rPr lang="en-US" altLang="ko-KR" sz="900" dirty="0">
                <a:solidFill>
                  <a:srgbClr val="FF0000"/>
                </a:solidFill>
              </a:rPr>
              <a:t>4</a:t>
            </a:r>
            <a:r>
              <a:rPr lang="ko-KR" altLang="en-US" sz="900" dirty="0">
                <a:solidFill>
                  <a:srgbClr val="FF0000"/>
                </a:solidFill>
              </a:rPr>
              <a:t>개월</a:t>
            </a:r>
            <a:r>
              <a:rPr lang="ko-KR" altLang="en-US" sz="900" dirty="0">
                <a:solidFill>
                  <a:schemeClr val="bg1">
                    <a:lumMod val="50000"/>
                  </a:schemeClr>
                </a:solidFill>
              </a:rPr>
              <a:t>內</a:t>
            </a:r>
            <a:r>
              <a:rPr lang="en-US" altLang="ko-KR" sz="900" dirty="0">
                <a:solidFill>
                  <a:schemeClr val="bg1">
                    <a:lumMod val="50000"/>
                  </a:schemeClr>
                </a:solidFill>
              </a:rPr>
              <a:t>)</a:t>
            </a:r>
            <a:endParaRPr lang="ko-KR" altLang="en-US" sz="900" dirty="0">
              <a:solidFill>
                <a:schemeClr val="bg1">
                  <a:lumMod val="50000"/>
                </a:schemeClr>
              </a:solidFill>
            </a:endParaRPr>
          </a:p>
        </p:txBody>
      </p:sp>
      <p:sp>
        <p:nvSpPr>
          <p:cNvPr id="23" name="순서도: 처리 22"/>
          <p:cNvSpPr/>
          <p:nvPr/>
        </p:nvSpPr>
        <p:spPr>
          <a:xfrm>
            <a:off x="1913287" y="2285392"/>
            <a:ext cx="830037" cy="251834"/>
          </a:xfrm>
          <a:prstGeom prst="flowChartProcess">
            <a:avLst/>
          </a:prstGeom>
          <a:solidFill>
            <a:schemeClr val="accent3">
              <a:lumMod val="75000"/>
            </a:schemeClr>
          </a:solidFill>
          <a:ln w="9525">
            <a:solidFill>
              <a:schemeClr val="bg2">
                <a:lumMod val="2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latin typeface="+mn-ea"/>
              </a:rPr>
              <a:t>보정</a:t>
            </a:r>
            <a:r>
              <a:rPr lang="en-US" altLang="ko-KR" sz="1100" dirty="0">
                <a:latin typeface="+mn-ea"/>
              </a:rPr>
              <a:t>(1)</a:t>
            </a:r>
            <a:endParaRPr lang="ko-KR" altLang="en-US" sz="1100" dirty="0">
              <a:latin typeface="+mn-ea"/>
            </a:endParaRPr>
          </a:p>
        </p:txBody>
      </p:sp>
      <p:cxnSp>
        <p:nvCxnSpPr>
          <p:cNvPr id="24" name="직선 화살표 연결선 23"/>
          <p:cNvCxnSpPr/>
          <p:nvPr/>
        </p:nvCxnSpPr>
        <p:spPr>
          <a:xfrm flipV="1">
            <a:off x="2328306" y="1950894"/>
            <a:ext cx="0" cy="334498"/>
          </a:xfrm>
          <a:prstGeom prst="straightConnector1">
            <a:avLst/>
          </a:prstGeom>
          <a:ln w="9525">
            <a:solidFill>
              <a:schemeClr val="bg2">
                <a:lumMod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5" name="순서도: 처리 24"/>
          <p:cNvSpPr/>
          <p:nvPr/>
        </p:nvSpPr>
        <p:spPr>
          <a:xfrm>
            <a:off x="3747175" y="2285392"/>
            <a:ext cx="830037" cy="251834"/>
          </a:xfrm>
          <a:prstGeom prst="flowChartProcess">
            <a:avLst/>
          </a:prstGeom>
          <a:solidFill>
            <a:srgbClr val="FF0000"/>
          </a:solidFill>
          <a:ln w="9525">
            <a:solidFill>
              <a:schemeClr val="bg2">
                <a:lumMod val="2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latin typeface="+mn-ea"/>
              </a:rPr>
              <a:t>보정</a:t>
            </a:r>
            <a:r>
              <a:rPr lang="en-US" altLang="ko-KR" sz="1100" dirty="0">
                <a:latin typeface="+mn-ea"/>
              </a:rPr>
              <a:t>(3)</a:t>
            </a:r>
            <a:endParaRPr lang="ko-KR" altLang="en-US" sz="1100" dirty="0">
              <a:latin typeface="+mn-ea"/>
            </a:endParaRPr>
          </a:p>
        </p:txBody>
      </p:sp>
      <p:cxnSp>
        <p:nvCxnSpPr>
          <p:cNvPr id="27" name="직선 화살표 연결선 26"/>
          <p:cNvCxnSpPr>
            <a:stCxn id="25" idx="0"/>
          </p:cNvCxnSpPr>
          <p:nvPr/>
        </p:nvCxnSpPr>
        <p:spPr>
          <a:xfrm flipV="1">
            <a:off x="4162194" y="1950894"/>
            <a:ext cx="0" cy="334498"/>
          </a:xfrm>
          <a:prstGeom prst="straightConnector1">
            <a:avLst/>
          </a:prstGeom>
          <a:ln w="9525">
            <a:solidFill>
              <a:schemeClr val="bg2">
                <a:lumMod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8" name="순서도: 처리 27"/>
          <p:cNvSpPr/>
          <p:nvPr/>
        </p:nvSpPr>
        <p:spPr>
          <a:xfrm>
            <a:off x="6089098" y="2285392"/>
            <a:ext cx="830037" cy="251834"/>
          </a:xfrm>
          <a:prstGeom prst="flowChartProcess">
            <a:avLst/>
          </a:prstGeom>
          <a:solidFill>
            <a:srgbClr val="FF0000"/>
          </a:solidFill>
          <a:ln w="9525">
            <a:solidFill>
              <a:schemeClr val="accent6">
                <a:lumMod val="7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latin typeface="+mn-ea"/>
              </a:rPr>
              <a:t>보정</a:t>
            </a:r>
            <a:r>
              <a:rPr lang="en-US" altLang="ko-KR" sz="1100" dirty="0">
                <a:latin typeface="+mn-ea"/>
              </a:rPr>
              <a:t>(5)</a:t>
            </a:r>
            <a:endParaRPr lang="ko-KR" altLang="en-US" sz="1100" dirty="0">
              <a:latin typeface="+mn-ea"/>
            </a:endParaRPr>
          </a:p>
        </p:txBody>
      </p:sp>
      <p:cxnSp>
        <p:nvCxnSpPr>
          <p:cNvPr id="29" name="직선 화살표 연결선 28"/>
          <p:cNvCxnSpPr>
            <a:stCxn id="28" idx="0"/>
          </p:cNvCxnSpPr>
          <p:nvPr/>
        </p:nvCxnSpPr>
        <p:spPr>
          <a:xfrm flipH="1" flipV="1">
            <a:off x="6504116" y="1950894"/>
            <a:ext cx="1" cy="334498"/>
          </a:xfrm>
          <a:prstGeom prst="straightConnector1">
            <a:avLst/>
          </a:prstGeom>
          <a:ln w="9525">
            <a:solidFill>
              <a:schemeClr val="accent6">
                <a:lumMod val="7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0" name="순서도: 처리 29"/>
          <p:cNvSpPr/>
          <p:nvPr/>
        </p:nvSpPr>
        <p:spPr>
          <a:xfrm>
            <a:off x="9085237" y="2285392"/>
            <a:ext cx="830037" cy="251834"/>
          </a:xfrm>
          <a:prstGeom prst="flowChartProcess">
            <a:avLst/>
          </a:prstGeom>
          <a:solidFill>
            <a:schemeClr val="accent3">
              <a:lumMod val="75000"/>
            </a:schemeClr>
          </a:solidFill>
          <a:ln w="9525">
            <a:solidFill>
              <a:schemeClr val="accent6">
                <a:lumMod val="7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latin typeface="+mn-ea"/>
              </a:rPr>
              <a:t>보정</a:t>
            </a:r>
            <a:r>
              <a:rPr lang="en-US" altLang="ko-KR" sz="1100" dirty="0">
                <a:latin typeface="+mn-ea"/>
              </a:rPr>
              <a:t>(7)</a:t>
            </a:r>
            <a:endParaRPr lang="ko-KR" altLang="en-US" sz="1100" dirty="0">
              <a:latin typeface="+mn-ea"/>
            </a:endParaRPr>
          </a:p>
        </p:txBody>
      </p:sp>
      <p:cxnSp>
        <p:nvCxnSpPr>
          <p:cNvPr id="31" name="직선 화살표 연결선 30"/>
          <p:cNvCxnSpPr>
            <a:stCxn id="30" idx="0"/>
          </p:cNvCxnSpPr>
          <p:nvPr/>
        </p:nvCxnSpPr>
        <p:spPr>
          <a:xfrm flipV="1">
            <a:off x="9500256" y="2107871"/>
            <a:ext cx="0" cy="177521"/>
          </a:xfrm>
          <a:prstGeom prst="straightConnector1">
            <a:avLst/>
          </a:prstGeom>
          <a:ln w="9525">
            <a:solidFill>
              <a:schemeClr val="accent6">
                <a:lumMod val="7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2124845" y="1375565"/>
            <a:ext cx="1266693"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항본문</a:t>
            </a:r>
            <a:endParaRPr lang="ko-KR" altLang="en-US" sz="1200" dirty="0"/>
          </a:p>
        </p:txBody>
      </p:sp>
      <p:sp>
        <p:nvSpPr>
          <p:cNvPr id="36" name="TextBox 35"/>
          <p:cNvSpPr txBox="1"/>
          <p:nvPr/>
        </p:nvSpPr>
        <p:spPr>
          <a:xfrm>
            <a:off x="3757364" y="1375565"/>
            <a:ext cx="1351652"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항제</a:t>
            </a:r>
            <a:r>
              <a:rPr lang="en-US" altLang="ko-KR" sz="1200" dirty="0"/>
              <a:t>1</a:t>
            </a:r>
            <a:r>
              <a:rPr lang="ko-KR" altLang="en-US" sz="1200" dirty="0"/>
              <a:t>호</a:t>
            </a:r>
          </a:p>
        </p:txBody>
      </p:sp>
      <p:sp>
        <p:nvSpPr>
          <p:cNvPr id="37" name="TextBox 36"/>
          <p:cNvSpPr txBox="1"/>
          <p:nvPr/>
        </p:nvSpPr>
        <p:spPr>
          <a:xfrm>
            <a:off x="6063147" y="1375565"/>
            <a:ext cx="1351652"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항제</a:t>
            </a:r>
            <a:r>
              <a:rPr lang="en-US" altLang="ko-KR" sz="1200" dirty="0"/>
              <a:t>2</a:t>
            </a:r>
            <a:r>
              <a:rPr lang="ko-KR" altLang="en-US" sz="1200" dirty="0"/>
              <a:t>호</a:t>
            </a:r>
          </a:p>
        </p:txBody>
      </p:sp>
      <p:sp>
        <p:nvSpPr>
          <p:cNvPr id="38" name="TextBox 37"/>
          <p:cNvSpPr txBox="1"/>
          <p:nvPr/>
        </p:nvSpPr>
        <p:spPr>
          <a:xfrm>
            <a:off x="8817209" y="1375565"/>
            <a:ext cx="1351652" cy="276999"/>
          </a:xfrm>
          <a:prstGeom prst="rect">
            <a:avLst/>
          </a:prstGeom>
          <a:noFill/>
        </p:spPr>
        <p:txBody>
          <a:bodyPr wrap="none" rtlCol="0">
            <a:spAutoFit/>
          </a:bodyPr>
          <a:lstStyle/>
          <a:p>
            <a:r>
              <a:rPr lang="ko-KR" altLang="en-US" sz="1200" dirty="0"/>
              <a:t>제</a:t>
            </a:r>
            <a:r>
              <a:rPr lang="en-US" altLang="ko-KR" sz="1200" dirty="0"/>
              <a:t>47</a:t>
            </a:r>
            <a:r>
              <a:rPr lang="ko-KR" altLang="en-US" sz="1200" dirty="0"/>
              <a:t>조제</a:t>
            </a:r>
            <a:r>
              <a:rPr lang="en-US" altLang="ko-KR" sz="1200" dirty="0"/>
              <a:t>1</a:t>
            </a:r>
            <a:r>
              <a:rPr lang="ko-KR" altLang="en-US" sz="1200" dirty="0" err="1"/>
              <a:t>항제</a:t>
            </a:r>
            <a:r>
              <a:rPr lang="en-US" altLang="ko-KR" sz="1200" dirty="0"/>
              <a:t>3</a:t>
            </a:r>
            <a:r>
              <a:rPr lang="ko-KR" altLang="en-US" sz="1200" dirty="0"/>
              <a:t>호</a:t>
            </a:r>
          </a:p>
        </p:txBody>
      </p:sp>
      <p:sp>
        <p:nvSpPr>
          <p:cNvPr id="39" name="직사각형 38"/>
          <p:cNvSpPr/>
          <p:nvPr/>
        </p:nvSpPr>
        <p:spPr>
          <a:xfrm>
            <a:off x="541880" y="1004850"/>
            <a:ext cx="567267" cy="1191781"/>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시기</a:t>
            </a:r>
          </a:p>
        </p:txBody>
      </p:sp>
      <p:sp>
        <p:nvSpPr>
          <p:cNvPr id="53" name="직사각형 52"/>
          <p:cNvSpPr/>
          <p:nvPr/>
        </p:nvSpPr>
        <p:spPr>
          <a:xfrm>
            <a:off x="541880" y="3244441"/>
            <a:ext cx="567267" cy="990563"/>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심사대상</a:t>
            </a:r>
          </a:p>
        </p:txBody>
      </p:sp>
      <p:sp>
        <p:nvSpPr>
          <p:cNvPr id="56" name="순서도: 처리 55"/>
          <p:cNvSpPr/>
          <p:nvPr/>
        </p:nvSpPr>
        <p:spPr>
          <a:xfrm>
            <a:off x="7199199" y="2918308"/>
            <a:ext cx="830037" cy="251834"/>
          </a:xfrm>
          <a:prstGeom prst="flowChartProcess">
            <a:avLst/>
          </a:prstGeom>
          <a:solidFill>
            <a:schemeClr val="accent2"/>
          </a:solidFill>
          <a:ln>
            <a:solidFill>
              <a:schemeClr val="bg1">
                <a:lumMod val="6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solidFill>
                  <a:schemeClr val="bg1">
                    <a:lumMod val="95000"/>
                  </a:schemeClr>
                </a:solidFill>
                <a:latin typeface="+mn-ea"/>
              </a:rPr>
              <a:t>심사</a:t>
            </a:r>
            <a:r>
              <a:rPr lang="en-US" altLang="ko-KR" sz="1100" dirty="0">
                <a:solidFill>
                  <a:schemeClr val="bg1">
                    <a:lumMod val="95000"/>
                  </a:schemeClr>
                </a:solidFill>
                <a:latin typeface="+mn-ea"/>
              </a:rPr>
              <a:t>Ⅲ</a:t>
            </a:r>
            <a:endParaRPr lang="ko-KR" altLang="en-US" sz="1100" dirty="0">
              <a:solidFill>
                <a:schemeClr val="bg1">
                  <a:lumMod val="95000"/>
                </a:schemeClr>
              </a:solidFill>
              <a:latin typeface="+mn-ea"/>
            </a:endParaRPr>
          </a:p>
        </p:txBody>
      </p:sp>
      <p:sp>
        <p:nvSpPr>
          <p:cNvPr id="58" name="순서도: 처리 57"/>
          <p:cNvSpPr/>
          <p:nvPr/>
        </p:nvSpPr>
        <p:spPr>
          <a:xfrm>
            <a:off x="9906248" y="2918308"/>
            <a:ext cx="830037" cy="251834"/>
          </a:xfrm>
          <a:prstGeom prst="flowChartProcess">
            <a:avLst/>
          </a:prstGeom>
          <a:solidFill>
            <a:schemeClr val="accent2"/>
          </a:solidFill>
          <a:ln>
            <a:solidFill>
              <a:schemeClr val="bg1">
                <a:lumMod val="6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solidFill>
                  <a:schemeClr val="bg1">
                    <a:lumMod val="95000"/>
                  </a:schemeClr>
                </a:solidFill>
                <a:latin typeface="+mn-ea"/>
              </a:rPr>
              <a:t>심사</a:t>
            </a:r>
            <a:r>
              <a:rPr lang="en-US" altLang="ko-KR" sz="1100" dirty="0">
                <a:solidFill>
                  <a:schemeClr val="bg1">
                    <a:lumMod val="95000"/>
                  </a:schemeClr>
                </a:solidFill>
                <a:latin typeface="+mn-ea"/>
              </a:rPr>
              <a:t>Ⅳ</a:t>
            </a:r>
            <a:endParaRPr lang="ko-KR" altLang="en-US" sz="1100" dirty="0">
              <a:solidFill>
                <a:schemeClr val="bg1">
                  <a:lumMod val="95000"/>
                </a:schemeClr>
              </a:solidFill>
              <a:latin typeface="+mn-ea"/>
            </a:endParaRPr>
          </a:p>
        </p:txBody>
      </p:sp>
      <p:grpSp>
        <p:nvGrpSpPr>
          <p:cNvPr id="26" name="그룹 25"/>
          <p:cNvGrpSpPr/>
          <p:nvPr/>
        </p:nvGrpSpPr>
        <p:grpSpPr>
          <a:xfrm>
            <a:off x="3069521" y="1917026"/>
            <a:ext cx="7268680" cy="967414"/>
            <a:chOff x="3052587" y="1047099"/>
            <a:chExt cx="7268680" cy="1635127"/>
          </a:xfrm>
        </p:grpSpPr>
        <p:cxnSp>
          <p:nvCxnSpPr>
            <p:cNvPr id="42" name="직선 화살표 연결선 41"/>
            <p:cNvCxnSpPr>
              <a:stCxn id="41" idx="0"/>
            </p:cNvCxnSpPr>
            <p:nvPr/>
          </p:nvCxnSpPr>
          <p:spPr>
            <a:xfrm flipV="1">
              <a:off x="3052587" y="1047099"/>
              <a:ext cx="0" cy="1635127"/>
            </a:xfrm>
            <a:prstGeom prst="straightConnector1">
              <a:avLst/>
            </a:prstGeom>
            <a:ln w="28575">
              <a:solidFill>
                <a:schemeClr val="bg1">
                  <a:lumMod val="6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5" name="직선 화살표 연결선 54"/>
            <p:cNvCxnSpPr>
              <a:stCxn id="54" idx="0"/>
            </p:cNvCxnSpPr>
            <p:nvPr/>
          </p:nvCxnSpPr>
          <p:spPr>
            <a:xfrm flipV="1">
              <a:off x="5339482" y="1047099"/>
              <a:ext cx="0" cy="1635127"/>
            </a:xfrm>
            <a:prstGeom prst="straightConnector1">
              <a:avLst/>
            </a:prstGeom>
            <a:ln w="28575">
              <a:solidFill>
                <a:schemeClr val="bg1">
                  <a:lumMod val="6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7" name="직선 화살표 연결선 56"/>
            <p:cNvCxnSpPr>
              <a:stCxn id="56" idx="0"/>
            </p:cNvCxnSpPr>
            <p:nvPr/>
          </p:nvCxnSpPr>
          <p:spPr>
            <a:xfrm flipV="1">
              <a:off x="7614218" y="1047099"/>
              <a:ext cx="0" cy="1635127"/>
            </a:xfrm>
            <a:prstGeom prst="straightConnector1">
              <a:avLst/>
            </a:prstGeom>
            <a:ln w="28575">
              <a:solidFill>
                <a:schemeClr val="bg1">
                  <a:lumMod val="6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9" name="직선 화살표 연결선 58"/>
            <p:cNvCxnSpPr>
              <a:stCxn id="58" idx="0"/>
            </p:cNvCxnSpPr>
            <p:nvPr/>
          </p:nvCxnSpPr>
          <p:spPr>
            <a:xfrm flipV="1">
              <a:off x="10321267" y="1047099"/>
              <a:ext cx="0" cy="1635127"/>
            </a:xfrm>
            <a:prstGeom prst="straightConnector1">
              <a:avLst/>
            </a:prstGeom>
            <a:ln w="28575">
              <a:solidFill>
                <a:schemeClr val="bg1">
                  <a:lumMod val="6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nvGrpSpPr>
          <p:cNvPr id="109" name="그룹 108"/>
          <p:cNvGrpSpPr/>
          <p:nvPr/>
        </p:nvGrpSpPr>
        <p:grpSpPr>
          <a:xfrm>
            <a:off x="3069519" y="3111408"/>
            <a:ext cx="7246741" cy="840473"/>
            <a:chOff x="3052585" y="2778199"/>
            <a:chExt cx="7246741" cy="2213636"/>
          </a:xfrm>
        </p:grpSpPr>
        <p:cxnSp>
          <p:nvCxnSpPr>
            <p:cNvPr id="61" name="직선 연결선 60"/>
            <p:cNvCxnSpPr>
              <a:stCxn id="41" idx="2"/>
            </p:cNvCxnSpPr>
            <p:nvPr/>
          </p:nvCxnSpPr>
          <p:spPr>
            <a:xfrm flipH="1">
              <a:off x="3052585" y="2816023"/>
              <a:ext cx="2" cy="2061987"/>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flipH="1">
              <a:off x="5320883" y="2778199"/>
              <a:ext cx="2" cy="206199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flipH="1">
              <a:off x="7602336" y="2929843"/>
              <a:ext cx="2" cy="2061992"/>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flipH="1">
              <a:off x="10299324" y="2918691"/>
              <a:ext cx="2" cy="2061992"/>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65" name="TextBox 64"/>
          <p:cNvSpPr txBox="1"/>
          <p:nvPr/>
        </p:nvSpPr>
        <p:spPr>
          <a:xfrm>
            <a:off x="2702970" y="3390941"/>
            <a:ext cx="699230" cy="261610"/>
          </a:xfrm>
          <a:prstGeom prst="rect">
            <a:avLst/>
          </a:prstGeom>
          <a:solidFill>
            <a:schemeClr val="bg1"/>
          </a:solidFill>
          <a:ln>
            <a:solidFill>
              <a:schemeClr val="bg1">
                <a:lumMod val="50000"/>
              </a:schemeClr>
            </a:solidFill>
          </a:ln>
        </p:spPr>
        <p:txBody>
          <a:bodyPr wrap="none" rtlCol="0">
            <a:spAutoFit/>
          </a:bodyPr>
          <a:lstStyle/>
          <a:p>
            <a:pPr algn="ctr"/>
            <a:r>
              <a:rPr lang="en-US" altLang="ko-KR" sz="1100" dirty="0"/>
              <a:t>(0)(1)(2)</a:t>
            </a:r>
            <a:endParaRPr lang="ko-KR" altLang="en-US" sz="1100" dirty="0"/>
          </a:p>
        </p:txBody>
      </p:sp>
      <p:sp>
        <p:nvSpPr>
          <p:cNvPr id="66" name="TextBox 65"/>
          <p:cNvSpPr txBox="1"/>
          <p:nvPr/>
        </p:nvSpPr>
        <p:spPr>
          <a:xfrm>
            <a:off x="4912573" y="3382474"/>
            <a:ext cx="870751" cy="261610"/>
          </a:xfrm>
          <a:prstGeom prst="rect">
            <a:avLst/>
          </a:prstGeom>
          <a:solidFill>
            <a:schemeClr val="bg1"/>
          </a:solidFill>
          <a:ln>
            <a:solidFill>
              <a:schemeClr val="bg1">
                <a:lumMod val="50000"/>
              </a:schemeClr>
            </a:solidFill>
          </a:ln>
        </p:spPr>
        <p:txBody>
          <a:bodyPr wrap="none" rtlCol="0">
            <a:spAutoFit/>
          </a:bodyPr>
          <a:lstStyle/>
          <a:p>
            <a:pPr algn="ctr"/>
            <a:r>
              <a:rPr lang="en-US" altLang="ko-KR" sz="1100" dirty="0"/>
              <a:t>(0)(1)(2)(4)</a:t>
            </a:r>
            <a:endParaRPr lang="ko-KR" altLang="en-US" sz="1100" dirty="0"/>
          </a:p>
        </p:txBody>
      </p:sp>
      <p:sp>
        <p:nvSpPr>
          <p:cNvPr id="67" name="TextBox 66"/>
          <p:cNvSpPr txBox="1"/>
          <p:nvPr/>
        </p:nvSpPr>
        <p:spPr>
          <a:xfrm>
            <a:off x="6504116" y="3554062"/>
            <a:ext cx="774571" cy="261610"/>
          </a:xfrm>
          <a:prstGeom prst="rect">
            <a:avLst/>
          </a:prstGeom>
          <a:solidFill>
            <a:schemeClr val="accent6">
              <a:lumMod val="40000"/>
              <a:lumOff val="60000"/>
            </a:schemeClr>
          </a:solidFill>
          <a:ln>
            <a:solidFill>
              <a:schemeClr val="bg1">
                <a:lumMod val="50000"/>
              </a:schemeClr>
            </a:solidFill>
          </a:ln>
        </p:spPr>
        <p:txBody>
          <a:bodyPr wrap="none" rtlCol="0">
            <a:spAutoFit/>
          </a:bodyPr>
          <a:lstStyle/>
          <a:p>
            <a:r>
              <a:rPr lang="en-US" altLang="ko-KR" sz="1100" dirty="0"/>
              <a:t>(6)</a:t>
            </a:r>
            <a:r>
              <a:rPr lang="ko-KR" altLang="en-US" sz="1100" dirty="0"/>
              <a:t> 적법성</a:t>
            </a:r>
            <a:endParaRPr lang="en-US" altLang="ko-KR" sz="1100" dirty="0"/>
          </a:p>
        </p:txBody>
      </p:sp>
      <p:sp>
        <p:nvSpPr>
          <p:cNvPr id="68" name="TextBox 67"/>
          <p:cNvSpPr txBox="1"/>
          <p:nvPr/>
        </p:nvSpPr>
        <p:spPr>
          <a:xfrm>
            <a:off x="7418399" y="3945747"/>
            <a:ext cx="1102203" cy="209348"/>
          </a:xfrm>
          <a:prstGeom prst="rect">
            <a:avLst/>
          </a:prstGeom>
          <a:noFill/>
          <a:ln>
            <a:noFill/>
          </a:ln>
        </p:spPr>
        <p:txBody>
          <a:bodyPr wrap="square" rtlCol="0">
            <a:noAutofit/>
          </a:bodyPr>
          <a:lstStyle/>
          <a:p>
            <a:r>
              <a:rPr lang="en-US" altLang="ko-KR" sz="1000" dirty="0">
                <a:solidFill>
                  <a:schemeClr val="accent2"/>
                </a:solidFill>
              </a:rPr>
              <a:t>(6)</a:t>
            </a:r>
            <a:r>
              <a:rPr lang="ko-KR" altLang="en-US" sz="1000" dirty="0">
                <a:solidFill>
                  <a:schemeClr val="accent2"/>
                </a:solidFill>
              </a:rPr>
              <a:t>은 </a:t>
            </a:r>
            <a:r>
              <a:rPr lang="ko-KR" altLang="en-US" sz="1000" dirty="0" err="1">
                <a:solidFill>
                  <a:schemeClr val="accent2"/>
                </a:solidFill>
              </a:rPr>
              <a:t>보정각하</a:t>
            </a:r>
            <a:endParaRPr lang="ko-KR" altLang="en-US" sz="1000" dirty="0">
              <a:solidFill>
                <a:schemeClr val="accent2"/>
              </a:solidFill>
            </a:endParaRPr>
          </a:p>
        </p:txBody>
      </p:sp>
      <p:sp>
        <p:nvSpPr>
          <p:cNvPr id="83" name="TextBox 82"/>
          <p:cNvSpPr txBox="1"/>
          <p:nvPr/>
        </p:nvSpPr>
        <p:spPr>
          <a:xfrm>
            <a:off x="7462011" y="3331432"/>
            <a:ext cx="1042273" cy="261610"/>
          </a:xfrm>
          <a:prstGeom prst="rect">
            <a:avLst/>
          </a:prstGeom>
          <a:solidFill>
            <a:schemeClr val="bg1"/>
          </a:solidFill>
          <a:ln>
            <a:solidFill>
              <a:schemeClr val="bg1">
                <a:lumMod val="50000"/>
              </a:schemeClr>
            </a:solidFill>
          </a:ln>
        </p:spPr>
        <p:txBody>
          <a:bodyPr wrap="none" rtlCol="0">
            <a:spAutoFit/>
          </a:bodyPr>
          <a:lstStyle/>
          <a:p>
            <a:r>
              <a:rPr lang="en-US" altLang="ko-KR" sz="1100" dirty="0"/>
              <a:t>(0)(1)(2)(4)(6)</a:t>
            </a:r>
          </a:p>
        </p:txBody>
      </p:sp>
      <p:sp>
        <p:nvSpPr>
          <p:cNvPr id="84" name="TextBox 83"/>
          <p:cNvSpPr txBox="1"/>
          <p:nvPr/>
        </p:nvSpPr>
        <p:spPr>
          <a:xfrm>
            <a:off x="7462010" y="3694161"/>
            <a:ext cx="1042274"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(0)(1)(2)(4)</a:t>
            </a:r>
          </a:p>
        </p:txBody>
      </p:sp>
      <p:cxnSp>
        <p:nvCxnSpPr>
          <p:cNvPr id="85" name="꺾인 연결선 84"/>
          <p:cNvCxnSpPr>
            <a:stCxn id="67" idx="3"/>
            <a:endCxn id="83" idx="1"/>
          </p:cNvCxnSpPr>
          <p:nvPr/>
        </p:nvCxnSpPr>
        <p:spPr>
          <a:xfrm flipV="1">
            <a:off x="7278687" y="3462237"/>
            <a:ext cx="183324" cy="22263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67" idx="3"/>
            <a:endCxn id="84" idx="1"/>
          </p:cNvCxnSpPr>
          <p:nvPr/>
        </p:nvCxnSpPr>
        <p:spPr>
          <a:xfrm>
            <a:off x="7278687" y="3684867"/>
            <a:ext cx="183323" cy="14009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7" name="직사각형 86"/>
          <p:cNvSpPr/>
          <p:nvPr/>
        </p:nvSpPr>
        <p:spPr>
          <a:xfrm>
            <a:off x="7161903" y="3303943"/>
            <a:ext cx="336952" cy="215444"/>
          </a:xfrm>
          <a:prstGeom prst="rect">
            <a:avLst/>
          </a:prstGeom>
        </p:spPr>
        <p:txBody>
          <a:bodyPr wrap="none">
            <a:spAutoFit/>
          </a:bodyPr>
          <a:lstStyle/>
          <a:p>
            <a:r>
              <a:rPr lang="en-US" altLang="ko-KR" sz="800" kern="0" spc="-50" dirty="0"/>
              <a:t>Yes</a:t>
            </a:r>
            <a:endParaRPr lang="ko-KR" altLang="en-US" sz="800" dirty="0"/>
          </a:p>
        </p:txBody>
      </p:sp>
      <p:sp>
        <p:nvSpPr>
          <p:cNvPr id="88" name="직사각형 87"/>
          <p:cNvSpPr/>
          <p:nvPr/>
        </p:nvSpPr>
        <p:spPr>
          <a:xfrm>
            <a:off x="7161903" y="3838025"/>
            <a:ext cx="308098" cy="215444"/>
          </a:xfrm>
          <a:prstGeom prst="rect">
            <a:avLst/>
          </a:prstGeom>
        </p:spPr>
        <p:txBody>
          <a:bodyPr wrap="none">
            <a:spAutoFit/>
          </a:bodyPr>
          <a:lstStyle/>
          <a:p>
            <a:r>
              <a:rPr lang="en-US" altLang="ko-KR" sz="800" kern="0" spc="-50" dirty="0"/>
              <a:t>No</a:t>
            </a:r>
            <a:endParaRPr lang="ko-KR" altLang="en-US" sz="800" dirty="0"/>
          </a:p>
        </p:txBody>
      </p:sp>
      <p:sp>
        <p:nvSpPr>
          <p:cNvPr id="89" name="TextBox 88"/>
          <p:cNvSpPr txBox="1"/>
          <p:nvPr/>
        </p:nvSpPr>
        <p:spPr>
          <a:xfrm>
            <a:off x="9172304" y="3554062"/>
            <a:ext cx="774571" cy="261610"/>
          </a:xfrm>
          <a:prstGeom prst="rect">
            <a:avLst/>
          </a:prstGeom>
          <a:solidFill>
            <a:schemeClr val="accent6">
              <a:lumMod val="40000"/>
              <a:lumOff val="60000"/>
            </a:schemeClr>
          </a:solidFill>
          <a:ln>
            <a:solidFill>
              <a:schemeClr val="bg1">
                <a:lumMod val="50000"/>
              </a:schemeClr>
            </a:solidFill>
          </a:ln>
        </p:spPr>
        <p:txBody>
          <a:bodyPr wrap="none" rtlCol="0">
            <a:spAutoFit/>
          </a:bodyPr>
          <a:lstStyle/>
          <a:p>
            <a:r>
              <a:rPr lang="en-US" altLang="ko-KR" sz="1100" dirty="0"/>
              <a:t>(7)</a:t>
            </a:r>
            <a:r>
              <a:rPr lang="ko-KR" altLang="en-US" sz="1100" dirty="0"/>
              <a:t> 적법성</a:t>
            </a:r>
            <a:endParaRPr lang="en-US" altLang="ko-KR" sz="1100" dirty="0"/>
          </a:p>
        </p:txBody>
      </p:sp>
      <p:sp>
        <p:nvSpPr>
          <p:cNvPr id="90" name="TextBox 89"/>
          <p:cNvSpPr txBox="1"/>
          <p:nvPr/>
        </p:nvSpPr>
        <p:spPr>
          <a:xfrm>
            <a:off x="10086587" y="3945747"/>
            <a:ext cx="1102203" cy="209348"/>
          </a:xfrm>
          <a:prstGeom prst="rect">
            <a:avLst/>
          </a:prstGeom>
          <a:noFill/>
          <a:ln>
            <a:noFill/>
          </a:ln>
        </p:spPr>
        <p:txBody>
          <a:bodyPr wrap="square" rtlCol="0">
            <a:noAutofit/>
          </a:bodyPr>
          <a:lstStyle/>
          <a:p>
            <a:r>
              <a:rPr lang="en-US" altLang="ko-KR" sz="1000" dirty="0">
                <a:solidFill>
                  <a:schemeClr val="accent2"/>
                </a:solidFill>
              </a:rPr>
              <a:t>(7)</a:t>
            </a:r>
            <a:r>
              <a:rPr lang="ko-KR" altLang="en-US" sz="1000" dirty="0">
                <a:solidFill>
                  <a:schemeClr val="accent2"/>
                </a:solidFill>
              </a:rPr>
              <a:t>은 </a:t>
            </a:r>
            <a:r>
              <a:rPr lang="ko-KR" altLang="en-US" sz="1000" dirty="0" err="1">
                <a:solidFill>
                  <a:schemeClr val="accent2"/>
                </a:solidFill>
              </a:rPr>
              <a:t>보정각하</a:t>
            </a:r>
            <a:endParaRPr lang="ko-KR" altLang="en-US" sz="1000" dirty="0">
              <a:solidFill>
                <a:schemeClr val="accent2"/>
              </a:solidFill>
            </a:endParaRPr>
          </a:p>
        </p:txBody>
      </p:sp>
      <p:sp>
        <p:nvSpPr>
          <p:cNvPr id="91" name="TextBox 90"/>
          <p:cNvSpPr txBox="1"/>
          <p:nvPr/>
        </p:nvSpPr>
        <p:spPr>
          <a:xfrm>
            <a:off x="10130199" y="3382234"/>
            <a:ext cx="1213794" cy="261610"/>
          </a:xfrm>
          <a:prstGeom prst="rect">
            <a:avLst/>
          </a:prstGeom>
          <a:solidFill>
            <a:schemeClr val="bg1"/>
          </a:solidFill>
          <a:ln>
            <a:solidFill>
              <a:schemeClr val="bg1">
                <a:lumMod val="50000"/>
              </a:schemeClr>
            </a:solidFill>
          </a:ln>
        </p:spPr>
        <p:txBody>
          <a:bodyPr wrap="none" rtlCol="0">
            <a:spAutoFit/>
          </a:bodyPr>
          <a:lstStyle/>
          <a:p>
            <a:r>
              <a:rPr lang="en-US" altLang="ko-KR" sz="1100" dirty="0"/>
              <a:t>(0)(1)(2)(4)</a:t>
            </a:r>
            <a:r>
              <a:rPr lang="en-US" altLang="ko-KR" sz="1100" dirty="0">
                <a:solidFill>
                  <a:schemeClr val="accent3">
                    <a:lumMod val="60000"/>
                    <a:lumOff val="40000"/>
                  </a:schemeClr>
                </a:solidFill>
              </a:rPr>
              <a:t>(6)</a:t>
            </a:r>
            <a:r>
              <a:rPr lang="en-US" altLang="ko-KR" sz="1100" dirty="0"/>
              <a:t>(7)</a:t>
            </a:r>
          </a:p>
        </p:txBody>
      </p:sp>
      <p:sp>
        <p:nvSpPr>
          <p:cNvPr id="92" name="TextBox 91"/>
          <p:cNvSpPr txBox="1"/>
          <p:nvPr/>
        </p:nvSpPr>
        <p:spPr>
          <a:xfrm>
            <a:off x="10130198" y="3694161"/>
            <a:ext cx="1042274"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(0)(1)(2)(4)</a:t>
            </a:r>
            <a:r>
              <a:rPr lang="en-US" altLang="ko-KR" sz="1100" dirty="0">
                <a:solidFill>
                  <a:schemeClr val="accent3">
                    <a:lumMod val="60000"/>
                    <a:lumOff val="40000"/>
                  </a:schemeClr>
                </a:solidFill>
              </a:rPr>
              <a:t>(6)</a:t>
            </a:r>
          </a:p>
        </p:txBody>
      </p:sp>
      <p:cxnSp>
        <p:nvCxnSpPr>
          <p:cNvPr id="93" name="꺾인 연결선 92"/>
          <p:cNvCxnSpPr>
            <a:stCxn id="89" idx="3"/>
            <a:endCxn id="91" idx="1"/>
          </p:cNvCxnSpPr>
          <p:nvPr/>
        </p:nvCxnSpPr>
        <p:spPr>
          <a:xfrm flipV="1">
            <a:off x="9946875" y="3513039"/>
            <a:ext cx="183324" cy="17182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꺾인 연결선 93"/>
          <p:cNvCxnSpPr>
            <a:stCxn id="89" idx="3"/>
            <a:endCxn id="92" idx="1"/>
          </p:cNvCxnSpPr>
          <p:nvPr/>
        </p:nvCxnSpPr>
        <p:spPr>
          <a:xfrm>
            <a:off x="9946875" y="3684867"/>
            <a:ext cx="183323" cy="14009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5" name="직사각형 94"/>
          <p:cNvSpPr/>
          <p:nvPr/>
        </p:nvSpPr>
        <p:spPr>
          <a:xfrm>
            <a:off x="9830091" y="3303943"/>
            <a:ext cx="336952" cy="215444"/>
          </a:xfrm>
          <a:prstGeom prst="rect">
            <a:avLst/>
          </a:prstGeom>
        </p:spPr>
        <p:txBody>
          <a:bodyPr wrap="none">
            <a:spAutoFit/>
          </a:bodyPr>
          <a:lstStyle/>
          <a:p>
            <a:r>
              <a:rPr lang="en-US" altLang="ko-KR" sz="800" kern="0" spc="-50" dirty="0"/>
              <a:t>Yes</a:t>
            </a:r>
            <a:endParaRPr lang="ko-KR" altLang="en-US" sz="800" dirty="0"/>
          </a:p>
        </p:txBody>
      </p:sp>
      <p:sp>
        <p:nvSpPr>
          <p:cNvPr id="96" name="직사각형 95"/>
          <p:cNvSpPr/>
          <p:nvPr/>
        </p:nvSpPr>
        <p:spPr>
          <a:xfrm>
            <a:off x="9830091" y="3838025"/>
            <a:ext cx="308098" cy="215444"/>
          </a:xfrm>
          <a:prstGeom prst="rect">
            <a:avLst/>
          </a:prstGeom>
        </p:spPr>
        <p:txBody>
          <a:bodyPr wrap="none">
            <a:spAutoFit/>
          </a:bodyPr>
          <a:lstStyle/>
          <a:p>
            <a:r>
              <a:rPr lang="en-US" altLang="ko-KR" sz="800" kern="0" spc="-50" dirty="0"/>
              <a:t>No</a:t>
            </a:r>
            <a:endParaRPr lang="ko-KR" altLang="en-US" sz="800" dirty="0"/>
          </a:p>
        </p:txBody>
      </p:sp>
      <p:cxnSp>
        <p:nvCxnSpPr>
          <p:cNvPr id="97" name="꺾인 연결선 96"/>
          <p:cNvCxnSpPr>
            <a:stCxn id="106" idx="1"/>
            <a:endCxn id="67" idx="1"/>
          </p:cNvCxnSpPr>
          <p:nvPr/>
        </p:nvCxnSpPr>
        <p:spPr>
          <a:xfrm rot="10800000" flipV="1">
            <a:off x="6504117" y="2717747"/>
            <a:ext cx="84091" cy="967120"/>
          </a:xfrm>
          <a:prstGeom prst="bentConnector3">
            <a:avLst>
              <a:gd name="adj1" fmla="val 371848"/>
            </a:avLst>
          </a:prstGeom>
          <a:ln w="28575">
            <a:solidFill>
              <a:schemeClr val="accent6">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꺾인 연결선 97"/>
          <p:cNvCxnSpPr>
            <a:stCxn id="30" idx="1"/>
            <a:endCxn id="89" idx="1"/>
          </p:cNvCxnSpPr>
          <p:nvPr/>
        </p:nvCxnSpPr>
        <p:spPr>
          <a:xfrm rot="10800000" flipH="1" flipV="1">
            <a:off x="9085236" y="2411309"/>
            <a:ext cx="87067" cy="1273558"/>
          </a:xfrm>
          <a:prstGeom prst="bentConnector3">
            <a:avLst>
              <a:gd name="adj1" fmla="val -262556"/>
            </a:avLst>
          </a:prstGeom>
          <a:ln w="28575">
            <a:solidFill>
              <a:schemeClr val="accent6">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9" name="자유형 98"/>
          <p:cNvSpPr/>
          <p:nvPr/>
        </p:nvSpPr>
        <p:spPr>
          <a:xfrm>
            <a:off x="8754534" y="1281849"/>
            <a:ext cx="2091267" cy="660400"/>
          </a:xfrm>
          <a:custGeom>
            <a:avLst/>
            <a:gdLst>
              <a:gd name="connsiteX0" fmla="*/ 0 w 2091267"/>
              <a:gd name="connsiteY0" fmla="*/ 660400 h 660400"/>
              <a:gd name="connsiteX1" fmla="*/ 0 w 2091267"/>
              <a:gd name="connsiteY1" fmla="*/ 0 h 660400"/>
              <a:gd name="connsiteX2" fmla="*/ 2091267 w 2091267"/>
              <a:gd name="connsiteY2" fmla="*/ 0 h 660400"/>
              <a:gd name="connsiteX3" fmla="*/ 2091267 w 2091267"/>
              <a:gd name="connsiteY3" fmla="*/ 626533 h 660400"/>
            </a:gdLst>
            <a:ahLst/>
            <a:cxnLst>
              <a:cxn ang="0">
                <a:pos x="connsiteX0" y="connsiteY0"/>
              </a:cxn>
              <a:cxn ang="0">
                <a:pos x="connsiteX1" y="connsiteY1"/>
              </a:cxn>
              <a:cxn ang="0">
                <a:pos x="connsiteX2" y="connsiteY2"/>
              </a:cxn>
              <a:cxn ang="0">
                <a:pos x="connsiteX3" y="connsiteY3"/>
              </a:cxn>
            </a:cxnLst>
            <a:rect l="l" t="t" r="r" b="b"/>
            <a:pathLst>
              <a:path w="2091267" h="660400">
                <a:moveTo>
                  <a:pt x="0" y="660400"/>
                </a:moveTo>
                <a:lnTo>
                  <a:pt x="0" y="0"/>
                </a:lnTo>
                <a:lnTo>
                  <a:pt x="2091267" y="0"/>
                </a:lnTo>
                <a:lnTo>
                  <a:pt x="2091267" y="626533"/>
                </a:lnTo>
              </a:path>
            </a:pathLst>
          </a:cu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00" name="TextBox 99"/>
          <p:cNvSpPr txBox="1"/>
          <p:nvPr/>
        </p:nvSpPr>
        <p:spPr>
          <a:xfrm>
            <a:off x="8858090" y="1004850"/>
            <a:ext cx="2053767" cy="276999"/>
          </a:xfrm>
          <a:prstGeom prst="rect">
            <a:avLst/>
          </a:prstGeom>
          <a:noFill/>
        </p:spPr>
        <p:txBody>
          <a:bodyPr wrap="none" rtlCol="0">
            <a:spAutoFit/>
          </a:bodyPr>
          <a:lstStyle/>
          <a:p>
            <a:r>
              <a:rPr lang="ko-KR" altLang="en-US" sz="1200" dirty="0"/>
              <a:t>등본 송달일로부터 </a:t>
            </a:r>
            <a:r>
              <a:rPr lang="en-US" altLang="ko-KR" sz="1200" dirty="0">
                <a:solidFill>
                  <a:srgbClr val="FF0000"/>
                </a:solidFill>
              </a:rPr>
              <a:t>3</a:t>
            </a:r>
            <a:r>
              <a:rPr lang="ko-KR" altLang="en-US" sz="1200" dirty="0">
                <a:solidFill>
                  <a:srgbClr val="FF0000"/>
                </a:solidFill>
              </a:rPr>
              <a:t>개월 </a:t>
            </a:r>
            <a:r>
              <a:rPr lang="ko-KR" altLang="en-US" sz="1200" dirty="0"/>
              <a:t>이내</a:t>
            </a:r>
          </a:p>
        </p:txBody>
      </p:sp>
      <p:sp>
        <p:nvSpPr>
          <p:cNvPr id="101" name="순서도: 처리 100"/>
          <p:cNvSpPr/>
          <p:nvPr/>
        </p:nvSpPr>
        <p:spPr>
          <a:xfrm>
            <a:off x="2175764" y="2591830"/>
            <a:ext cx="830037" cy="251834"/>
          </a:xfrm>
          <a:prstGeom prst="flowChartProcess">
            <a:avLst/>
          </a:prstGeom>
          <a:solidFill>
            <a:schemeClr val="accent3">
              <a:lumMod val="75000"/>
            </a:schemeClr>
          </a:solidFill>
          <a:ln w="9525">
            <a:solidFill>
              <a:schemeClr val="bg2">
                <a:lumMod val="2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latin typeface="+mn-ea"/>
              </a:rPr>
              <a:t>보정</a:t>
            </a:r>
            <a:r>
              <a:rPr lang="en-US" altLang="ko-KR" sz="1100" dirty="0">
                <a:latin typeface="+mn-ea"/>
              </a:rPr>
              <a:t>(2)</a:t>
            </a:r>
            <a:endParaRPr lang="ko-KR" altLang="en-US" sz="1100" dirty="0">
              <a:latin typeface="+mn-ea"/>
            </a:endParaRPr>
          </a:p>
        </p:txBody>
      </p:sp>
      <p:cxnSp>
        <p:nvCxnSpPr>
          <p:cNvPr id="103" name="직선 화살표 연결선 102"/>
          <p:cNvCxnSpPr/>
          <p:nvPr/>
        </p:nvCxnSpPr>
        <p:spPr>
          <a:xfrm flipV="1">
            <a:off x="4693980" y="1960541"/>
            <a:ext cx="0" cy="817563"/>
          </a:xfrm>
          <a:prstGeom prst="straightConnector1">
            <a:avLst/>
          </a:prstGeom>
          <a:ln w="9525">
            <a:solidFill>
              <a:schemeClr val="bg2">
                <a:lumMod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4" name="순서도: 처리 103"/>
          <p:cNvSpPr/>
          <p:nvPr/>
        </p:nvSpPr>
        <p:spPr>
          <a:xfrm>
            <a:off x="4278961" y="2591830"/>
            <a:ext cx="830037" cy="251834"/>
          </a:xfrm>
          <a:prstGeom prst="flowChartProcess">
            <a:avLst/>
          </a:prstGeom>
          <a:solidFill>
            <a:schemeClr val="accent3">
              <a:lumMod val="75000"/>
            </a:schemeClr>
          </a:solidFill>
          <a:ln w="9525">
            <a:solidFill>
              <a:schemeClr val="bg2">
                <a:lumMod val="2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latin typeface="+mn-ea"/>
              </a:rPr>
              <a:t>보정</a:t>
            </a:r>
            <a:r>
              <a:rPr lang="en-US" altLang="ko-KR" sz="1100" dirty="0">
                <a:latin typeface="+mn-ea"/>
              </a:rPr>
              <a:t>(4)</a:t>
            </a:r>
            <a:endParaRPr lang="ko-KR" altLang="en-US" sz="1100" dirty="0">
              <a:latin typeface="+mn-ea"/>
            </a:endParaRPr>
          </a:p>
        </p:txBody>
      </p:sp>
      <p:cxnSp>
        <p:nvCxnSpPr>
          <p:cNvPr id="105" name="직선 화살표 연결선 104"/>
          <p:cNvCxnSpPr/>
          <p:nvPr/>
        </p:nvCxnSpPr>
        <p:spPr>
          <a:xfrm flipV="1">
            <a:off x="7003226" y="1960541"/>
            <a:ext cx="0" cy="817563"/>
          </a:xfrm>
          <a:prstGeom prst="straightConnector1">
            <a:avLst/>
          </a:prstGeom>
          <a:ln w="9525">
            <a:solidFill>
              <a:schemeClr val="bg2">
                <a:lumMod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6" name="순서도: 처리 105"/>
          <p:cNvSpPr/>
          <p:nvPr/>
        </p:nvSpPr>
        <p:spPr>
          <a:xfrm>
            <a:off x="6588207" y="2591830"/>
            <a:ext cx="830037" cy="251834"/>
          </a:xfrm>
          <a:prstGeom prst="flowChartProcess">
            <a:avLst/>
          </a:prstGeom>
          <a:solidFill>
            <a:schemeClr val="accent3">
              <a:lumMod val="75000"/>
            </a:schemeClr>
          </a:solidFill>
          <a:ln w="9525">
            <a:solidFill>
              <a:schemeClr val="bg2">
                <a:lumMod val="2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latin typeface="+mn-ea"/>
              </a:rPr>
              <a:t>보정</a:t>
            </a:r>
            <a:r>
              <a:rPr lang="en-US" altLang="ko-KR" sz="1100" dirty="0">
                <a:latin typeface="+mn-ea"/>
              </a:rPr>
              <a:t>(6)</a:t>
            </a:r>
            <a:endParaRPr lang="ko-KR" altLang="en-US" sz="1100" dirty="0">
              <a:latin typeface="+mn-ea"/>
            </a:endParaRPr>
          </a:p>
        </p:txBody>
      </p:sp>
      <p:graphicFrame>
        <p:nvGraphicFramePr>
          <p:cNvPr id="110" name="표 109"/>
          <p:cNvGraphicFramePr>
            <a:graphicFrameLocks noGrp="1"/>
          </p:cNvGraphicFramePr>
          <p:nvPr/>
        </p:nvGraphicFramePr>
        <p:xfrm>
          <a:off x="541879" y="4412897"/>
          <a:ext cx="11006655" cy="2160270"/>
        </p:xfrm>
        <a:graphic>
          <a:graphicData uri="http://schemas.openxmlformats.org/drawingml/2006/table">
            <a:tbl>
              <a:tblPr>
                <a:tableStyleId>{8799B23B-EC83-4686-B30A-512413B5E67A}</a:tableStyleId>
              </a:tblPr>
              <a:tblGrid>
                <a:gridCol w="1620867">
                  <a:extLst>
                    <a:ext uri="{9D8B030D-6E8A-4147-A177-3AD203B41FA5}">
                      <a16:colId xmlns:a16="http://schemas.microsoft.com/office/drawing/2014/main" val="20000"/>
                    </a:ext>
                  </a:extLst>
                </a:gridCol>
                <a:gridCol w="722325">
                  <a:extLst>
                    <a:ext uri="{9D8B030D-6E8A-4147-A177-3AD203B41FA5}">
                      <a16:colId xmlns:a16="http://schemas.microsoft.com/office/drawing/2014/main" val="20001"/>
                    </a:ext>
                  </a:extLst>
                </a:gridCol>
                <a:gridCol w="1531013">
                  <a:extLst>
                    <a:ext uri="{9D8B030D-6E8A-4147-A177-3AD203B41FA5}">
                      <a16:colId xmlns:a16="http://schemas.microsoft.com/office/drawing/2014/main" val="20002"/>
                    </a:ext>
                  </a:extLst>
                </a:gridCol>
                <a:gridCol w="1550698">
                  <a:extLst>
                    <a:ext uri="{9D8B030D-6E8A-4147-A177-3AD203B41FA5}">
                      <a16:colId xmlns:a16="http://schemas.microsoft.com/office/drawing/2014/main" val="20003"/>
                    </a:ext>
                  </a:extLst>
                </a:gridCol>
                <a:gridCol w="1264943">
                  <a:extLst>
                    <a:ext uri="{9D8B030D-6E8A-4147-A177-3AD203B41FA5}">
                      <a16:colId xmlns:a16="http://schemas.microsoft.com/office/drawing/2014/main" val="20004"/>
                    </a:ext>
                  </a:extLst>
                </a:gridCol>
                <a:gridCol w="1551016">
                  <a:extLst>
                    <a:ext uri="{9D8B030D-6E8A-4147-A177-3AD203B41FA5}">
                      <a16:colId xmlns:a16="http://schemas.microsoft.com/office/drawing/2014/main" val="20005"/>
                    </a:ext>
                  </a:extLst>
                </a:gridCol>
                <a:gridCol w="1551016">
                  <a:extLst>
                    <a:ext uri="{9D8B030D-6E8A-4147-A177-3AD203B41FA5}">
                      <a16:colId xmlns:a16="http://schemas.microsoft.com/office/drawing/2014/main" val="20006"/>
                    </a:ext>
                  </a:extLst>
                </a:gridCol>
                <a:gridCol w="1214777">
                  <a:extLst>
                    <a:ext uri="{9D8B030D-6E8A-4147-A177-3AD203B41FA5}">
                      <a16:colId xmlns:a16="http://schemas.microsoft.com/office/drawing/2014/main" val="20007"/>
                    </a:ext>
                  </a:extLst>
                </a:gridCol>
              </a:tblGrid>
              <a:tr h="210191">
                <a:tc rowSpan="2">
                  <a:txBody>
                    <a:bodyPr/>
                    <a:lstStyle/>
                    <a:p>
                      <a:pPr marL="0" marR="0" indent="0" algn="ctr" fontAlgn="base" latinLnBrk="0">
                        <a:lnSpc>
                          <a:spcPct val="130000"/>
                        </a:lnSpc>
                        <a:spcBef>
                          <a:spcPts val="0"/>
                        </a:spcBef>
                        <a:spcAft>
                          <a:spcPts val="0"/>
                        </a:spcAft>
                      </a:pPr>
                      <a:r>
                        <a:rPr lang="ko-KR" altLang="en-US" sz="1000" b="1" kern="1200" dirty="0"/>
                        <a:t>보정대상항목</a:t>
                      </a:r>
                      <a:endParaRPr lang="ko-KR" altLang="en-US" sz="1000" b="1"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rowSpan="2">
                  <a:txBody>
                    <a:bodyPr/>
                    <a:lstStyle/>
                    <a:p>
                      <a:pPr marL="0" marR="0" indent="0" algn="ctr" fontAlgn="base" latinLnBrk="0">
                        <a:lnSpc>
                          <a:spcPct val="130000"/>
                        </a:lnSpc>
                        <a:spcBef>
                          <a:spcPts val="0"/>
                        </a:spcBef>
                        <a:spcAft>
                          <a:spcPts val="0"/>
                        </a:spcAft>
                      </a:pPr>
                      <a:r>
                        <a:rPr lang="ko-KR" altLang="en-US" sz="1000" b="1" kern="1200" dirty="0"/>
                        <a:t>최초출원</a:t>
                      </a:r>
                      <a:endParaRPr lang="en-US" altLang="ko-KR" sz="1000" b="1" kern="1200" dirty="0"/>
                    </a:p>
                    <a:p>
                      <a:pPr marL="0" marR="0" indent="0" algn="ctr" fontAlgn="base" latinLnBrk="0">
                        <a:lnSpc>
                          <a:spcPct val="130000"/>
                        </a:lnSpc>
                        <a:spcBef>
                          <a:spcPts val="0"/>
                        </a:spcBef>
                        <a:spcAft>
                          <a:spcPts val="0"/>
                        </a:spcAft>
                      </a:pPr>
                      <a:r>
                        <a:rPr lang="en-US" altLang="ko-KR" sz="1000" b="1" kern="1200" dirty="0">
                          <a:solidFill>
                            <a:schemeClr val="tx2"/>
                          </a:solidFill>
                          <a:latin typeface="+mn-lt"/>
                          <a:ea typeface="+mn-ea"/>
                          <a:cs typeface="+mn-cs"/>
                        </a:rPr>
                        <a:t>(0)</a:t>
                      </a:r>
                      <a:endParaRPr lang="ko-KR" altLang="en-US" sz="1000" b="1"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gridSpan="2">
                  <a:txBody>
                    <a:bodyPr/>
                    <a:lstStyle/>
                    <a:p>
                      <a:pPr marL="0" marR="0" indent="0" algn="ctr" fontAlgn="base" latinLnBrk="0">
                        <a:lnSpc>
                          <a:spcPct val="130000"/>
                        </a:lnSpc>
                        <a:spcBef>
                          <a:spcPts val="0"/>
                        </a:spcBef>
                        <a:spcAft>
                          <a:spcPts val="0"/>
                        </a:spcAft>
                      </a:pPr>
                      <a:r>
                        <a:rPr lang="ko-KR" altLang="en-US" sz="1000" b="1" kern="1200" dirty="0"/>
                        <a:t>최초거절이유통지 전</a:t>
                      </a:r>
                      <a:r>
                        <a:rPr lang="en-US" altLang="ko-KR" sz="1000" b="1" kern="1200" dirty="0"/>
                        <a:t>(</a:t>
                      </a:r>
                      <a:r>
                        <a:rPr lang="ko-KR" altLang="en-US" sz="1000" b="1" kern="1200" dirty="0"/>
                        <a:t>法 </a:t>
                      </a:r>
                      <a:r>
                        <a:rPr lang="en-US" altLang="ko-KR" sz="1000" b="1" kern="1200" dirty="0"/>
                        <a:t>47</a:t>
                      </a:r>
                      <a:r>
                        <a:rPr lang="ko-KR" altLang="en-US" sz="1000" b="1" kern="1200" dirty="0"/>
                        <a:t>①본문</a:t>
                      </a:r>
                      <a:r>
                        <a:rPr lang="en-US" altLang="ko-KR" sz="1000" b="1" kern="1200" dirty="0"/>
                        <a:t>)</a:t>
                      </a:r>
                      <a:endParaRPr lang="ko-KR" altLang="en-US" sz="1000" b="1"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hMerge="1">
                  <a:txBody>
                    <a:bodyPr/>
                    <a:lstStyle/>
                    <a:p>
                      <a:pPr latinLnBrk="1"/>
                      <a:endParaRPr lang="ko-KR" altLang="en-US"/>
                    </a:p>
                  </a:txBody>
                  <a:tcPr/>
                </a:tc>
                <a:tc rowSpan="2">
                  <a:txBody>
                    <a:bodyPr/>
                    <a:lstStyle/>
                    <a:p>
                      <a:pPr marL="0" marR="0" indent="0" algn="ctr" fontAlgn="base" latinLnBrk="0">
                        <a:lnSpc>
                          <a:spcPct val="130000"/>
                        </a:lnSpc>
                        <a:spcBef>
                          <a:spcPts val="0"/>
                        </a:spcBef>
                        <a:spcAft>
                          <a:spcPts val="0"/>
                        </a:spcAft>
                      </a:pPr>
                      <a:r>
                        <a:rPr lang="ko-KR" altLang="en-US" sz="1000" b="1" kern="1200" dirty="0"/>
                        <a:t>심사대상</a:t>
                      </a:r>
                    </a:p>
                    <a:p>
                      <a:pPr marL="0" marR="0" indent="0" algn="ctr" fontAlgn="base" latinLnBrk="0">
                        <a:lnSpc>
                          <a:spcPct val="130000"/>
                        </a:lnSpc>
                        <a:spcBef>
                          <a:spcPts val="0"/>
                        </a:spcBef>
                        <a:spcAft>
                          <a:spcPts val="0"/>
                        </a:spcAft>
                      </a:pPr>
                      <a:r>
                        <a:rPr lang="ko-KR" altLang="en-US" sz="1000" b="1" kern="1200" dirty="0"/>
                        <a:t>명세서 또는 도면</a:t>
                      </a:r>
                      <a:endParaRPr lang="en-US" altLang="ko-KR" sz="1000" b="1" kern="1200" dirty="0"/>
                    </a:p>
                    <a:p>
                      <a:pPr marL="0" marR="0" indent="0" algn="ctr" fontAlgn="base" latinLnBrk="0">
                        <a:lnSpc>
                          <a:spcPct val="130000"/>
                        </a:lnSpc>
                        <a:spcBef>
                          <a:spcPts val="0"/>
                        </a:spcBef>
                        <a:spcAft>
                          <a:spcPts val="0"/>
                        </a:spcAft>
                      </a:pPr>
                      <a:r>
                        <a:rPr lang="en-US" altLang="ko-KR" sz="1000" b="1" kern="1200" dirty="0">
                          <a:solidFill>
                            <a:schemeClr val="tx2"/>
                          </a:solidFill>
                          <a:latin typeface="+mn-lt"/>
                          <a:ea typeface="+mn-ea"/>
                          <a:cs typeface="+mn-cs"/>
                        </a:rPr>
                        <a:t>(0)(1)(2)</a:t>
                      </a:r>
                      <a:endParaRPr lang="ko-KR" altLang="en-US" sz="1000" b="1"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gridSpan="2">
                  <a:txBody>
                    <a:bodyPr/>
                    <a:lstStyle/>
                    <a:p>
                      <a:pPr marL="0" marR="0" indent="0" algn="ctr" fontAlgn="base" latinLnBrk="0">
                        <a:lnSpc>
                          <a:spcPct val="130000"/>
                        </a:lnSpc>
                        <a:spcBef>
                          <a:spcPts val="0"/>
                        </a:spcBef>
                        <a:spcAft>
                          <a:spcPts val="0"/>
                        </a:spcAft>
                      </a:pPr>
                      <a:r>
                        <a:rPr lang="ko-KR" altLang="en-US" sz="1000" b="1" kern="1200" dirty="0"/>
                        <a:t>최초거절이유통지에 따른 의견서 제출기간</a:t>
                      </a:r>
                      <a:r>
                        <a:rPr lang="en-US" altLang="ko-KR" sz="1000" b="1" kern="1200" dirty="0"/>
                        <a:t>(</a:t>
                      </a:r>
                      <a:r>
                        <a:rPr lang="ko-KR" altLang="en-US" sz="1000" b="1" kern="1200" dirty="0"/>
                        <a:t>法 </a:t>
                      </a:r>
                      <a:r>
                        <a:rPr lang="en-US" altLang="ko-KR" sz="1000" b="1" kern="1200" dirty="0"/>
                        <a:t>47</a:t>
                      </a:r>
                      <a:r>
                        <a:rPr lang="ko-KR" altLang="en-US" sz="1000" b="1" kern="1200" dirty="0"/>
                        <a:t>①</a:t>
                      </a:r>
                      <a:r>
                        <a:rPr lang="en-US" altLang="ko-KR" sz="1000" b="1" kern="1200" dirty="0"/>
                        <a:t>Ⅰ)</a:t>
                      </a:r>
                      <a:endParaRPr lang="ko-KR" altLang="en-US" sz="1000" b="1"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hMerge="1">
                  <a:txBody>
                    <a:bodyPr/>
                    <a:lstStyle/>
                    <a:p>
                      <a:pPr latinLnBrk="1"/>
                      <a:endParaRPr lang="ko-KR" altLang="en-US"/>
                    </a:p>
                  </a:txBody>
                  <a:tcPr/>
                </a:tc>
                <a:tc rowSpan="2">
                  <a:txBody>
                    <a:bodyPr/>
                    <a:lstStyle/>
                    <a:p>
                      <a:pPr marL="0" marR="0" indent="0" algn="ctr" fontAlgn="base" latinLnBrk="0">
                        <a:lnSpc>
                          <a:spcPct val="130000"/>
                        </a:lnSpc>
                        <a:spcBef>
                          <a:spcPts val="0"/>
                        </a:spcBef>
                        <a:spcAft>
                          <a:spcPts val="0"/>
                        </a:spcAft>
                      </a:pPr>
                      <a:r>
                        <a:rPr lang="ko-KR" altLang="en-US" sz="1000" b="1" kern="1200" dirty="0"/>
                        <a:t>심사대상</a:t>
                      </a:r>
                    </a:p>
                    <a:p>
                      <a:pPr marL="0" marR="0" indent="0" algn="ctr" fontAlgn="base" latinLnBrk="0">
                        <a:lnSpc>
                          <a:spcPct val="130000"/>
                        </a:lnSpc>
                        <a:spcBef>
                          <a:spcPts val="0"/>
                        </a:spcBef>
                        <a:spcAft>
                          <a:spcPts val="0"/>
                        </a:spcAft>
                      </a:pPr>
                      <a:r>
                        <a:rPr lang="ko-KR" altLang="en-US" sz="1000" b="1" kern="1200" dirty="0"/>
                        <a:t>명세서 또는 도면</a:t>
                      </a:r>
                      <a:endParaRPr lang="en-US" altLang="ko-KR" sz="1000" b="1" kern="1200" dirty="0"/>
                    </a:p>
                    <a:p>
                      <a:pPr marL="0" marR="0" indent="0" algn="ctr" fontAlgn="base" latinLnBrk="0">
                        <a:lnSpc>
                          <a:spcPct val="130000"/>
                        </a:lnSpc>
                        <a:spcBef>
                          <a:spcPts val="0"/>
                        </a:spcBef>
                        <a:spcAft>
                          <a:spcPts val="0"/>
                        </a:spcAft>
                      </a:pPr>
                      <a:r>
                        <a:rPr lang="en-US" altLang="ko-KR" sz="1000" b="1" kern="1200" dirty="0">
                          <a:solidFill>
                            <a:schemeClr val="tx2"/>
                          </a:solidFill>
                          <a:latin typeface="+mn-lt"/>
                          <a:ea typeface="+mn-ea"/>
                          <a:cs typeface="+mn-cs"/>
                        </a:rPr>
                        <a:t>(0)(1)(2)(4)</a:t>
                      </a:r>
                      <a:endParaRPr lang="ko-KR" altLang="en-US" sz="1000" b="1"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10000"/>
                  </a:ext>
                </a:extLst>
              </a:tr>
              <a:tr h="114687">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30000"/>
                        </a:lnSpc>
                        <a:spcBef>
                          <a:spcPts val="0"/>
                        </a:spcBef>
                        <a:spcAft>
                          <a:spcPts val="0"/>
                        </a:spcAft>
                      </a:pPr>
                      <a:r>
                        <a:rPr lang="ko-KR" altLang="en-US" sz="1000" b="1" kern="1200" dirty="0"/>
                        <a:t>제</a:t>
                      </a:r>
                      <a:r>
                        <a:rPr lang="en-US" altLang="ko-KR" sz="1000" b="1" kern="1200" dirty="0"/>
                        <a:t>1</a:t>
                      </a:r>
                      <a:r>
                        <a:rPr lang="ko-KR" altLang="en-US" sz="1000" b="1" kern="1200" dirty="0"/>
                        <a:t>차 보정서</a:t>
                      </a:r>
                      <a:endParaRPr lang="en-US" altLang="ko-KR" sz="1000" b="1" kern="1200" dirty="0"/>
                    </a:p>
                    <a:p>
                      <a:pPr marL="0" marR="0" indent="0" algn="ctr" fontAlgn="base" latinLnBrk="0">
                        <a:lnSpc>
                          <a:spcPct val="130000"/>
                        </a:lnSpc>
                        <a:spcBef>
                          <a:spcPts val="0"/>
                        </a:spcBef>
                        <a:spcAft>
                          <a:spcPts val="0"/>
                        </a:spcAft>
                      </a:pPr>
                      <a:r>
                        <a:rPr lang="en-US" altLang="ko-KR" sz="1000" b="1" kern="1200" dirty="0"/>
                        <a:t>(1)</a:t>
                      </a:r>
                      <a:endParaRPr lang="ko-KR" altLang="en-US" sz="1000" b="1"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000" b="1" kern="1200" dirty="0"/>
                        <a:t>제</a:t>
                      </a:r>
                      <a:r>
                        <a:rPr lang="en-US" altLang="ko-KR" sz="1000" b="1" kern="1200" dirty="0"/>
                        <a:t>2</a:t>
                      </a:r>
                      <a:r>
                        <a:rPr lang="ko-KR" altLang="en-US" sz="1000" b="1" kern="1200" dirty="0"/>
                        <a:t>차 보정서</a:t>
                      </a:r>
                      <a:endParaRPr lang="en-US" altLang="ko-KR" sz="1000" b="1" kern="1200" dirty="0"/>
                    </a:p>
                    <a:p>
                      <a:pPr marL="0" marR="0" indent="0" algn="ctr" fontAlgn="base" latinLnBrk="0">
                        <a:lnSpc>
                          <a:spcPct val="130000"/>
                        </a:lnSpc>
                        <a:spcBef>
                          <a:spcPts val="0"/>
                        </a:spcBef>
                        <a:spcAft>
                          <a:spcPts val="0"/>
                        </a:spcAft>
                      </a:pPr>
                      <a:r>
                        <a:rPr lang="en-US" altLang="ko-KR" sz="1000" b="1" kern="1200" dirty="0"/>
                        <a:t>(2)</a:t>
                      </a:r>
                      <a:endParaRPr lang="ko-KR" altLang="en-US" sz="1000" b="1"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vMerge="1">
                  <a:txBody>
                    <a:bodyPr/>
                    <a:lstStyle/>
                    <a:p>
                      <a:pPr latinLnBrk="1"/>
                      <a:endParaRPr lang="ko-KR" altLang="en-US"/>
                    </a:p>
                  </a:txBody>
                  <a:tcPr/>
                </a:tc>
                <a:tc>
                  <a:txBody>
                    <a:bodyPr/>
                    <a:lstStyle/>
                    <a:p>
                      <a:pPr marL="0" marR="0" indent="0" algn="ctr" fontAlgn="base" latinLnBrk="0">
                        <a:lnSpc>
                          <a:spcPct val="130000"/>
                        </a:lnSpc>
                        <a:spcBef>
                          <a:spcPts val="0"/>
                        </a:spcBef>
                        <a:spcAft>
                          <a:spcPts val="0"/>
                        </a:spcAft>
                      </a:pPr>
                      <a:r>
                        <a:rPr lang="ko-KR" altLang="en-US" sz="1000" b="1" kern="1200" dirty="0"/>
                        <a:t>제</a:t>
                      </a:r>
                      <a:r>
                        <a:rPr lang="en-US" altLang="ko-KR" sz="1000" b="1" kern="1200" dirty="0"/>
                        <a:t>3</a:t>
                      </a:r>
                      <a:r>
                        <a:rPr lang="ko-KR" altLang="en-US" sz="1000" b="1" kern="1200" dirty="0"/>
                        <a:t>차 보정서</a:t>
                      </a:r>
                      <a:endParaRPr lang="en-US" altLang="ko-KR" sz="1000" b="1" kern="1200" dirty="0"/>
                    </a:p>
                    <a:p>
                      <a:pPr marL="0" marR="0" indent="0" algn="ctr" fontAlgn="base" latinLnBrk="0">
                        <a:lnSpc>
                          <a:spcPct val="130000"/>
                        </a:lnSpc>
                        <a:spcBef>
                          <a:spcPts val="0"/>
                        </a:spcBef>
                        <a:spcAft>
                          <a:spcPts val="0"/>
                        </a:spcAft>
                      </a:pPr>
                      <a:r>
                        <a:rPr lang="en-US" altLang="ko-KR" sz="1000" b="1" kern="1200" dirty="0">
                          <a:solidFill>
                            <a:schemeClr val="tx2"/>
                          </a:solidFill>
                          <a:latin typeface="+mn-lt"/>
                          <a:ea typeface="+mn-ea"/>
                          <a:cs typeface="+mn-cs"/>
                        </a:rPr>
                        <a:t>(3)</a:t>
                      </a:r>
                      <a:endParaRPr lang="ko-KR" altLang="en-US" sz="1000" b="1"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000" b="1" kern="1200" dirty="0"/>
                        <a:t>제</a:t>
                      </a:r>
                      <a:r>
                        <a:rPr lang="en-US" altLang="ko-KR" sz="1000" b="1" kern="1200" dirty="0"/>
                        <a:t>4</a:t>
                      </a:r>
                      <a:r>
                        <a:rPr lang="ko-KR" altLang="en-US" sz="1000" b="1" kern="1200" dirty="0"/>
                        <a:t>차 보정서</a:t>
                      </a:r>
                      <a:endParaRPr lang="en-US" altLang="ko-KR" sz="1000" b="1" kern="1200" dirty="0"/>
                    </a:p>
                    <a:p>
                      <a:pPr marL="0" marR="0" indent="0" algn="ctr" fontAlgn="base" latinLnBrk="0">
                        <a:lnSpc>
                          <a:spcPct val="130000"/>
                        </a:lnSpc>
                        <a:spcBef>
                          <a:spcPts val="0"/>
                        </a:spcBef>
                        <a:spcAft>
                          <a:spcPts val="0"/>
                        </a:spcAft>
                      </a:pPr>
                      <a:r>
                        <a:rPr lang="en-US" altLang="ko-KR" sz="1000" b="1" kern="1200" dirty="0">
                          <a:solidFill>
                            <a:schemeClr val="tx2"/>
                          </a:solidFill>
                          <a:latin typeface="+mn-lt"/>
                          <a:ea typeface="+mn-ea"/>
                          <a:cs typeface="+mn-cs"/>
                        </a:rPr>
                        <a:t>(4)</a:t>
                      </a:r>
                      <a:endParaRPr lang="ko-KR" altLang="en-US" sz="1000" b="1"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vMerge="1">
                  <a:txBody>
                    <a:bodyPr/>
                    <a:lstStyle/>
                    <a:p>
                      <a:pPr latinLnBrk="1"/>
                      <a:endParaRPr lang="ko-KR" altLang="en-US"/>
                    </a:p>
                  </a:txBody>
                  <a:tcPr/>
                </a:tc>
                <a:extLst>
                  <a:ext uri="{0D108BD9-81ED-4DB2-BD59-A6C34878D82A}">
                    <a16:rowId xmlns:a16="http://schemas.microsoft.com/office/drawing/2014/main" val="10001"/>
                  </a:ext>
                </a:extLst>
              </a:tr>
              <a:tr h="114687">
                <a:tc>
                  <a:txBody>
                    <a:bodyPr/>
                    <a:lstStyle/>
                    <a:p>
                      <a:pPr marL="17780" marR="17780" indent="0" algn="ctr" fontAlgn="base" latinLnBrk="0">
                        <a:lnSpc>
                          <a:spcPct val="130000"/>
                        </a:lnSpc>
                        <a:spcBef>
                          <a:spcPts val="0"/>
                        </a:spcBef>
                        <a:spcAft>
                          <a:spcPts val="0"/>
                        </a:spcAft>
                      </a:pPr>
                      <a:r>
                        <a:rPr lang="ko-KR" altLang="en-US" sz="1000" kern="1200"/>
                        <a:t>발명의 설명</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0" indent="0" algn="ctr" fontAlgn="base" latinLnBrk="0">
                        <a:lnSpc>
                          <a:spcPct val="13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dirty="0"/>
                        <a:t>◇</a:t>
                      </a:r>
                      <a:r>
                        <a:rPr lang="en-US" altLang="ko-KR" sz="1000" kern="1200" dirty="0"/>
                        <a:t>1</a:t>
                      </a:r>
                      <a:endParaRPr lang="ko-KR" altLang="en-US" sz="10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r>
                        <a:rPr lang="en-US" altLang="ko-KR" sz="1000" kern="1200"/>
                        <a:t>2</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dirty="0"/>
                        <a:t>◇</a:t>
                      </a:r>
                      <a:r>
                        <a:rPr lang="en-US" altLang="ko-KR" sz="1000" kern="1200" dirty="0"/>
                        <a:t>2</a:t>
                      </a:r>
                      <a:endParaRPr lang="ko-KR" altLang="en-US" sz="10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dirty="0"/>
                        <a:t>◇</a:t>
                      </a:r>
                      <a:r>
                        <a:rPr lang="en-US" altLang="ko-KR" sz="1000" kern="1200" dirty="0"/>
                        <a:t>2</a:t>
                      </a:r>
                      <a:endParaRPr lang="ko-KR" altLang="en-US" sz="10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2"/>
                  </a:ext>
                </a:extLst>
              </a:tr>
              <a:tr h="114687">
                <a:tc>
                  <a:txBody>
                    <a:bodyPr/>
                    <a:lstStyle/>
                    <a:p>
                      <a:pPr marL="17780" marR="17780" indent="0" algn="ctr" fontAlgn="base" latinLnBrk="0">
                        <a:lnSpc>
                          <a:spcPct val="130000"/>
                        </a:lnSpc>
                        <a:spcBef>
                          <a:spcPts val="0"/>
                        </a:spcBef>
                        <a:spcAft>
                          <a:spcPts val="0"/>
                        </a:spcAft>
                      </a:pPr>
                      <a:r>
                        <a:rPr lang="ko-KR" altLang="en-US" sz="1000" kern="1200"/>
                        <a:t>제</a:t>
                      </a:r>
                      <a:r>
                        <a:rPr lang="en-US" altLang="ko-KR" sz="1000" kern="1200"/>
                        <a:t>1</a:t>
                      </a:r>
                      <a:r>
                        <a:rPr lang="ko-KR" altLang="en-US" sz="1000" kern="1200"/>
                        <a:t>항</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0" indent="0" algn="ctr" fontAlgn="base" latinLnBrk="0">
                        <a:lnSpc>
                          <a:spcPct val="13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r>
                        <a:rPr lang="en-US" altLang="ko-KR" sz="1000" kern="1200"/>
                        <a:t>2</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r>
                        <a:rPr lang="en-US" altLang="ko-KR" sz="1000" kern="1200"/>
                        <a:t>2</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dirty="0"/>
                        <a:t>○</a:t>
                      </a:r>
                      <a:r>
                        <a:rPr lang="en-US" altLang="ko-KR" sz="1000" kern="1200" dirty="0"/>
                        <a:t>3</a:t>
                      </a:r>
                      <a:endParaRPr lang="ko-KR" altLang="en-US" sz="10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dirty="0"/>
                        <a:t>○</a:t>
                      </a:r>
                      <a:r>
                        <a:rPr lang="en-US" altLang="ko-KR" sz="1000" kern="1200" dirty="0"/>
                        <a:t>2</a:t>
                      </a:r>
                      <a:endParaRPr lang="ko-KR" altLang="en-US" sz="10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3"/>
                  </a:ext>
                </a:extLst>
              </a:tr>
              <a:tr h="114687">
                <a:tc>
                  <a:txBody>
                    <a:bodyPr/>
                    <a:lstStyle/>
                    <a:p>
                      <a:pPr marL="17780" marR="17780" indent="0" algn="ctr" fontAlgn="base" latinLnBrk="0">
                        <a:lnSpc>
                          <a:spcPct val="130000"/>
                        </a:lnSpc>
                        <a:spcBef>
                          <a:spcPts val="0"/>
                        </a:spcBef>
                        <a:spcAft>
                          <a:spcPts val="0"/>
                        </a:spcAft>
                      </a:pPr>
                      <a:r>
                        <a:rPr lang="ko-KR" altLang="en-US" sz="1000" kern="1200"/>
                        <a:t>제</a:t>
                      </a:r>
                      <a:r>
                        <a:rPr lang="en-US" altLang="ko-KR" sz="1000" kern="1200"/>
                        <a:t>2</a:t>
                      </a:r>
                      <a:r>
                        <a:rPr lang="ko-KR" altLang="en-US" sz="1000" kern="1200"/>
                        <a:t>항</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0" indent="0" algn="ctr" fontAlgn="base" latinLnBrk="0">
                        <a:lnSpc>
                          <a:spcPct val="13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r>
                        <a:rPr lang="en-US" altLang="ko-KR" sz="1000" kern="1200"/>
                        <a:t>1</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r>
                        <a:rPr lang="en-US" altLang="ko-KR" sz="1000" kern="1200"/>
                        <a:t>1</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dirty="0"/>
                        <a:t>□</a:t>
                      </a:r>
                      <a:r>
                        <a:rPr lang="en-US" altLang="ko-KR" sz="1000" kern="1200" dirty="0"/>
                        <a:t>3</a:t>
                      </a:r>
                      <a:endParaRPr lang="ko-KR" altLang="en-US" sz="10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dirty="0"/>
                        <a:t>□</a:t>
                      </a:r>
                      <a:r>
                        <a:rPr lang="en-US" altLang="ko-KR" sz="1000" kern="1200" dirty="0"/>
                        <a:t>4</a:t>
                      </a:r>
                      <a:endParaRPr lang="ko-KR" altLang="en-US" sz="10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r>
                        <a:rPr lang="en-US" altLang="ko-KR" sz="1000" kern="1200"/>
                        <a:t>4</a:t>
                      </a:r>
                      <a:endParaRPr lang="ko-KR" altLang="en-US" sz="1000" kern="120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4"/>
                  </a:ext>
                </a:extLst>
              </a:tr>
              <a:tr h="114687">
                <a:tc>
                  <a:txBody>
                    <a:bodyPr/>
                    <a:lstStyle/>
                    <a:p>
                      <a:pPr marL="17780" marR="17780" indent="0" algn="ctr" fontAlgn="base" latinLnBrk="0">
                        <a:lnSpc>
                          <a:spcPct val="130000"/>
                        </a:lnSpc>
                        <a:spcBef>
                          <a:spcPts val="0"/>
                        </a:spcBef>
                        <a:spcAft>
                          <a:spcPts val="0"/>
                        </a:spcAft>
                      </a:pPr>
                      <a:r>
                        <a:rPr lang="ko-KR" altLang="en-US" sz="1000" kern="1200"/>
                        <a:t>제</a:t>
                      </a:r>
                      <a:r>
                        <a:rPr lang="en-US" altLang="ko-KR" sz="1000" kern="1200"/>
                        <a:t>3</a:t>
                      </a:r>
                      <a:r>
                        <a:rPr lang="ko-KR" altLang="en-US" sz="1000" kern="1200"/>
                        <a:t>항</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0" indent="0" algn="ctr" fontAlgn="base" latinLnBrk="0">
                        <a:lnSpc>
                          <a:spcPct val="13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r>
                        <a:rPr lang="en-US" altLang="ko-KR" sz="1000" kern="1200"/>
                        <a:t>3</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5"/>
                  </a:ext>
                </a:extLst>
              </a:tr>
              <a:tr h="114687">
                <a:tc>
                  <a:txBody>
                    <a:bodyPr/>
                    <a:lstStyle/>
                    <a:p>
                      <a:pPr marL="17780" marR="17780" indent="0" algn="ctr" fontAlgn="base" latinLnBrk="0">
                        <a:lnSpc>
                          <a:spcPct val="130000"/>
                        </a:lnSpc>
                        <a:spcBef>
                          <a:spcPts val="0"/>
                        </a:spcBef>
                        <a:spcAft>
                          <a:spcPts val="0"/>
                        </a:spcAft>
                      </a:pPr>
                      <a:r>
                        <a:rPr lang="en-US" sz="1000" kern="1200"/>
                        <a:t>-</a:t>
                      </a:r>
                      <a:endParaRPr lang="en-US" sz="1000" kern="1200">
                        <a:solidFill>
                          <a:schemeClr val="tx2"/>
                        </a:solidFill>
                        <a:latin typeface="+mn-lt"/>
                        <a:ea typeface="+mn-ea"/>
                        <a:cs typeface="+mn-cs"/>
                      </a:endParaRPr>
                    </a:p>
                  </a:txBody>
                  <a:tcPr marL="64770" marR="64770" marT="17907" marB="17907" anchor="ctr"/>
                </a:tc>
                <a:tc>
                  <a:txBody>
                    <a:bodyPr/>
                    <a:lstStyle/>
                    <a:p>
                      <a:pPr marL="17780" marR="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6"/>
                  </a:ext>
                </a:extLst>
              </a:tr>
              <a:tr h="114687">
                <a:tc>
                  <a:txBody>
                    <a:bodyPr/>
                    <a:lstStyle/>
                    <a:p>
                      <a:pPr marL="17780" marR="17780" indent="0" algn="ctr" fontAlgn="base" latinLnBrk="0">
                        <a:lnSpc>
                          <a:spcPct val="130000"/>
                        </a:lnSpc>
                        <a:spcBef>
                          <a:spcPts val="0"/>
                        </a:spcBef>
                        <a:spcAft>
                          <a:spcPts val="0"/>
                        </a:spcAft>
                      </a:pPr>
                      <a:r>
                        <a:rPr lang="ko-KR" altLang="en-US" sz="1000" kern="1200"/>
                        <a:t>제</a:t>
                      </a:r>
                      <a:r>
                        <a:rPr lang="en-US" altLang="ko-KR" sz="1000" kern="1200"/>
                        <a:t>10</a:t>
                      </a:r>
                      <a:r>
                        <a:rPr lang="ko-KR" altLang="en-US" sz="1000" kern="1200"/>
                        <a:t>항</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0" indent="0" algn="ctr" fontAlgn="base" latinLnBrk="0">
                        <a:lnSpc>
                          <a:spcPct val="13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r>
                        <a:rPr lang="en-US" altLang="ko-KR" sz="1000" kern="1200"/>
                        <a:t>3</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r>
                        <a:rPr lang="en-US" altLang="ko-KR" sz="1000" kern="1200"/>
                        <a:t>4</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dirty="0"/>
                        <a:t>☆</a:t>
                      </a:r>
                      <a:r>
                        <a:rPr lang="en-US" altLang="ko-KR" sz="1000" kern="1200" dirty="0"/>
                        <a:t>4</a:t>
                      </a:r>
                      <a:endParaRPr lang="ko-KR" altLang="en-US" sz="10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7"/>
                  </a:ext>
                </a:extLst>
              </a:tr>
              <a:tr h="114687">
                <a:tc>
                  <a:txBody>
                    <a:bodyPr/>
                    <a:lstStyle/>
                    <a:p>
                      <a:pPr marL="17780" marR="17780" indent="0" algn="ctr" fontAlgn="base" latinLnBrk="0">
                        <a:lnSpc>
                          <a:spcPct val="130000"/>
                        </a:lnSpc>
                        <a:spcBef>
                          <a:spcPts val="0"/>
                        </a:spcBef>
                        <a:spcAft>
                          <a:spcPts val="0"/>
                        </a:spcAft>
                      </a:pPr>
                      <a:r>
                        <a:rPr lang="ko-KR" altLang="en-US" sz="1000" kern="1200"/>
                        <a:t>도면</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0" indent="0" algn="ctr" fontAlgn="base" latinLnBrk="0">
                        <a:lnSpc>
                          <a:spcPct val="13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r>
                        <a:rPr lang="en-US" altLang="ko-KR" sz="1000" kern="1200"/>
                        <a:t>1</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r>
                        <a:rPr lang="en-US" altLang="ko-KR" sz="1000" kern="1200"/>
                        <a:t>1</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a:t>♤</a:t>
                      </a:r>
                      <a:r>
                        <a:rPr lang="en-US" altLang="ko-KR" sz="1000" kern="1200"/>
                        <a:t>3</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000" kern="1200" dirty="0"/>
                        <a:t>♤</a:t>
                      </a:r>
                      <a:r>
                        <a:rPr lang="en-US" altLang="ko-KR" sz="1000" kern="1200" dirty="0"/>
                        <a:t>1</a:t>
                      </a:r>
                      <a:endParaRPr lang="ko-KR" altLang="en-US" sz="10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8"/>
                  </a:ext>
                </a:extLst>
              </a:tr>
            </a:tbl>
          </a:graphicData>
        </a:graphic>
      </p:graphicFrame>
      <p:sp>
        <p:nvSpPr>
          <p:cNvPr id="5" name="슬라이드 번호 개체 틀 4"/>
          <p:cNvSpPr>
            <a:spLocks noGrp="1"/>
          </p:cNvSpPr>
          <p:nvPr>
            <p:ph type="sldNum" sz="quarter" idx="12"/>
          </p:nvPr>
        </p:nvSpPr>
        <p:spPr/>
        <p:txBody>
          <a:bodyPr/>
          <a:lstStyle/>
          <a:p>
            <a:r>
              <a:rPr lang="en-US" altLang="ko-KR"/>
              <a:t>174</a:t>
            </a:r>
            <a:endParaRPr lang="ko-KR" altLang="en-US"/>
          </a:p>
        </p:txBody>
      </p:sp>
      <p:sp>
        <p:nvSpPr>
          <p:cNvPr id="41" name="순서도: 처리 40"/>
          <p:cNvSpPr/>
          <p:nvPr/>
        </p:nvSpPr>
        <p:spPr>
          <a:xfrm>
            <a:off x="2637568" y="2918308"/>
            <a:ext cx="830037" cy="251834"/>
          </a:xfrm>
          <a:prstGeom prst="flowChartProcess">
            <a:avLst/>
          </a:prstGeom>
          <a:solidFill>
            <a:schemeClr val="accent2"/>
          </a:solidFill>
          <a:ln>
            <a:solidFill>
              <a:schemeClr val="bg1">
                <a:lumMod val="6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solidFill>
                  <a:schemeClr val="bg1">
                    <a:lumMod val="95000"/>
                  </a:schemeClr>
                </a:solidFill>
                <a:latin typeface="+mn-ea"/>
              </a:rPr>
              <a:t>심사</a:t>
            </a:r>
            <a:r>
              <a:rPr lang="en-US" altLang="ko-KR" sz="1100" dirty="0">
                <a:solidFill>
                  <a:schemeClr val="bg1">
                    <a:lumMod val="95000"/>
                  </a:schemeClr>
                </a:solidFill>
                <a:latin typeface="+mn-ea"/>
              </a:rPr>
              <a:t>Ⅰ</a:t>
            </a:r>
            <a:endParaRPr lang="ko-KR" altLang="en-US" sz="1100" dirty="0">
              <a:solidFill>
                <a:schemeClr val="bg1">
                  <a:lumMod val="95000"/>
                </a:schemeClr>
              </a:solidFill>
              <a:latin typeface="+mn-ea"/>
            </a:endParaRPr>
          </a:p>
        </p:txBody>
      </p:sp>
      <p:sp>
        <p:nvSpPr>
          <p:cNvPr id="54" name="순서도: 처리 53"/>
          <p:cNvSpPr/>
          <p:nvPr/>
        </p:nvSpPr>
        <p:spPr>
          <a:xfrm>
            <a:off x="4924463" y="2918308"/>
            <a:ext cx="830037" cy="251834"/>
          </a:xfrm>
          <a:prstGeom prst="flowChartProcess">
            <a:avLst/>
          </a:prstGeom>
          <a:solidFill>
            <a:schemeClr val="accent2"/>
          </a:solidFill>
          <a:ln>
            <a:solidFill>
              <a:schemeClr val="bg1">
                <a:lumMod val="65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100" dirty="0">
                <a:solidFill>
                  <a:schemeClr val="bg1">
                    <a:lumMod val="95000"/>
                  </a:schemeClr>
                </a:solidFill>
                <a:latin typeface="+mn-ea"/>
              </a:rPr>
              <a:t>심사</a:t>
            </a:r>
            <a:r>
              <a:rPr lang="en-US" altLang="ko-KR" sz="1100" dirty="0">
                <a:solidFill>
                  <a:schemeClr val="bg1">
                    <a:lumMod val="95000"/>
                  </a:schemeClr>
                </a:solidFill>
                <a:latin typeface="+mn-ea"/>
              </a:rPr>
              <a:t>Ⅱ</a:t>
            </a:r>
            <a:endParaRPr lang="ko-KR" altLang="en-US" sz="1100" dirty="0">
              <a:solidFill>
                <a:schemeClr val="bg1">
                  <a:lumMod val="95000"/>
                </a:schemeClr>
              </a:solidFill>
              <a:latin typeface="+mn-ea"/>
            </a:endParaRPr>
          </a:p>
        </p:txBody>
      </p:sp>
    </p:spTree>
    <p:extLst>
      <p:ext uri="{BB962C8B-B14F-4D97-AF65-F5344CB8AC3E}">
        <p14:creationId xmlns:p14="http://schemas.microsoft.com/office/powerpoint/2010/main" val="3743135013"/>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직사각형 90"/>
          <p:cNvSpPr/>
          <p:nvPr/>
        </p:nvSpPr>
        <p:spPr>
          <a:xfrm>
            <a:off x="523875" y="4696113"/>
            <a:ext cx="10944225" cy="17275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직사각형 33"/>
          <p:cNvSpPr/>
          <p:nvPr/>
        </p:nvSpPr>
        <p:spPr>
          <a:xfrm>
            <a:off x="523875" y="2790825"/>
            <a:ext cx="10944225" cy="71437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t>보정시기에</a:t>
            </a:r>
            <a:r>
              <a:rPr lang="ko-KR" altLang="en-US" dirty="0"/>
              <a:t> 따른 제</a:t>
            </a:r>
            <a:r>
              <a:rPr lang="en-US" altLang="ko-KR" dirty="0"/>
              <a:t>47</a:t>
            </a:r>
            <a:r>
              <a:rPr lang="ko-KR" altLang="en-US" dirty="0"/>
              <a:t>조제</a:t>
            </a:r>
            <a:r>
              <a:rPr lang="en-US" altLang="ko-KR" dirty="0"/>
              <a:t>2</a:t>
            </a:r>
            <a:r>
              <a:rPr lang="ko-KR" altLang="en-US" dirty="0"/>
              <a:t>항 위반의 취급</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101" name="직선 화살표 연결선 100"/>
          <p:cNvCxnSpPr/>
          <p:nvPr/>
        </p:nvCxnSpPr>
        <p:spPr>
          <a:xfrm>
            <a:off x="1809750" y="1973263"/>
            <a:ext cx="965835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2" name="직사각형 101"/>
          <p:cNvSpPr/>
          <p:nvPr/>
        </p:nvSpPr>
        <p:spPr>
          <a:xfrm>
            <a:off x="1578818" y="1720850"/>
            <a:ext cx="767463" cy="504825"/>
          </a:xfrm>
          <a:prstGeom prst="rect">
            <a:avLst/>
          </a:prstGeom>
          <a:solidFill>
            <a:schemeClr val="tx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p>
        </p:txBody>
      </p:sp>
      <p:sp>
        <p:nvSpPr>
          <p:cNvPr id="105" name="직사각형 104"/>
          <p:cNvSpPr/>
          <p:nvPr/>
        </p:nvSpPr>
        <p:spPr>
          <a:xfrm>
            <a:off x="3127127" y="139262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p>
        </p:txBody>
      </p:sp>
      <p:cxnSp>
        <p:nvCxnSpPr>
          <p:cNvPr id="107" name="직선 화살표 연결선 106"/>
          <p:cNvCxnSpPr>
            <a:stCxn id="105" idx="2"/>
          </p:cNvCxnSpPr>
          <p:nvPr/>
        </p:nvCxnSpPr>
        <p:spPr>
          <a:xfrm>
            <a:off x="3450147" y="164504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0" name="직사각형 109"/>
          <p:cNvSpPr/>
          <p:nvPr/>
        </p:nvSpPr>
        <p:spPr>
          <a:xfrm>
            <a:off x="4115486" y="1843490"/>
            <a:ext cx="646040" cy="252413"/>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최초</a:t>
            </a:r>
          </a:p>
        </p:txBody>
      </p:sp>
      <p:sp>
        <p:nvSpPr>
          <p:cNvPr id="112" name="직사각형 111"/>
          <p:cNvSpPr/>
          <p:nvPr/>
        </p:nvSpPr>
        <p:spPr>
          <a:xfrm>
            <a:off x="9440867" y="1691090"/>
            <a:ext cx="903283" cy="26739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보정각하</a:t>
            </a:r>
            <a:endParaRPr lang="ko-KR" altLang="en-US" sz="1200" dirty="0">
              <a:solidFill>
                <a:schemeClr val="tx1"/>
              </a:solidFill>
            </a:endParaRPr>
          </a:p>
        </p:txBody>
      </p:sp>
      <p:sp>
        <p:nvSpPr>
          <p:cNvPr id="127" name="직사각형 126"/>
          <p:cNvSpPr/>
          <p:nvPr/>
        </p:nvSpPr>
        <p:spPr>
          <a:xfrm>
            <a:off x="4914641" y="2392362"/>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보정</a:t>
            </a:r>
            <a:endParaRPr lang="ko-KR" altLang="en-US" sz="1200" dirty="0">
              <a:solidFill>
                <a:schemeClr val="tx1"/>
              </a:solidFill>
            </a:endParaRPr>
          </a:p>
        </p:txBody>
      </p:sp>
      <p:cxnSp>
        <p:nvCxnSpPr>
          <p:cNvPr id="128" name="직선 화살표 연결선 127"/>
          <p:cNvCxnSpPr>
            <a:stCxn id="127" idx="0"/>
          </p:cNvCxnSpPr>
          <p:nvPr/>
        </p:nvCxnSpPr>
        <p:spPr>
          <a:xfrm flipH="1" flipV="1">
            <a:off x="5286375" y="196969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7" name="직사각형 46"/>
          <p:cNvSpPr/>
          <p:nvPr/>
        </p:nvSpPr>
        <p:spPr>
          <a:xfrm>
            <a:off x="5494552" y="139262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p>
        </p:txBody>
      </p:sp>
      <p:cxnSp>
        <p:nvCxnSpPr>
          <p:cNvPr id="48" name="직선 화살표 연결선 47"/>
          <p:cNvCxnSpPr>
            <a:stCxn id="47" idx="2"/>
          </p:cNvCxnSpPr>
          <p:nvPr/>
        </p:nvCxnSpPr>
        <p:spPr>
          <a:xfrm>
            <a:off x="5817572" y="164504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0" name="직사각형 59"/>
          <p:cNvSpPr/>
          <p:nvPr/>
        </p:nvSpPr>
        <p:spPr>
          <a:xfrm>
            <a:off x="6509335" y="1843490"/>
            <a:ext cx="646040" cy="252413"/>
          </a:xfrm>
          <a:prstGeom prst="rect">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최후</a:t>
            </a:r>
          </a:p>
        </p:txBody>
      </p:sp>
      <p:sp>
        <p:nvSpPr>
          <p:cNvPr id="61" name="직사각형 60"/>
          <p:cNvSpPr/>
          <p:nvPr/>
        </p:nvSpPr>
        <p:spPr>
          <a:xfrm>
            <a:off x="7283677" y="2392362"/>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보정</a:t>
            </a:r>
            <a:endParaRPr lang="ko-KR" altLang="en-US" sz="1200" dirty="0">
              <a:solidFill>
                <a:schemeClr val="tx1"/>
              </a:solidFill>
            </a:endParaRPr>
          </a:p>
        </p:txBody>
      </p:sp>
      <p:cxnSp>
        <p:nvCxnSpPr>
          <p:cNvPr id="62" name="직선 화살표 연결선 61"/>
          <p:cNvCxnSpPr>
            <a:stCxn id="61" idx="0"/>
          </p:cNvCxnSpPr>
          <p:nvPr/>
        </p:nvCxnSpPr>
        <p:spPr>
          <a:xfrm flipH="1" flipV="1">
            <a:off x="7655411" y="196969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3" name="직사각형 62"/>
          <p:cNvSpPr/>
          <p:nvPr/>
        </p:nvSpPr>
        <p:spPr>
          <a:xfrm>
            <a:off x="8063613" y="139262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p>
        </p:txBody>
      </p:sp>
      <p:cxnSp>
        <p:nvCxnSpPr>
          <p:cNvPr id="64" name="직선 화살표 연결선 63"/>
          <p:cNvCxnSpPr>
            <a:stCxn id="63" idx="2"/>
          </p:cNvCxnSpPr>
          <p:nvPr/>
        </p:nvCxnSpPr>
        <p:spPr>
          <a:xfrm>
            <a:off x="8386633" y="164504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8" name="직사각형 77"/>
          <p:cNvSpPr/>
          <p:nvPr/>
        </p:nvSpPr>
        <p:spPr>
          <a:xfrm>
            <a:off x="2560497" y="2952533"/>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47②</a:t>
            </a:r>
            <a:endParaRPr lang="ko-KR" altLang="en-US" sz="1050" dirty="0">
              <a:solidFill>
                <a:schemeClr val="tx1"/>
              </a:solidFill>
            </a:endParaRPr>
          </a:p>
        </p:txBody>
      </p:sp>
      <p:sp>
        <p:nvSpPr>
          <p:cNvPr id="79" name="직사각형 78"/>
          <p:cNvSpPr/>
          <p:nvPr/>
        </p:nvSpPr>
        <p:spPr>
          <a:xfrm>
            <a:off x="9440867" y="1958282"/>
            <a:ext cx="903283" cy="26739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거절결정</a:t>
            </a:r>
            <a:endParaRPr lang="en-US" altLang="ko-KR" sz="1200" dirty="0">
              <a:solidFill>
                <a:schemeClr val="tx1"/>
              </a:solidFill>
            </a:endParaRPr>
          </a:p>
        </p:txBody>
      </p:sp>
      <p:cxnSp>
        <p:nvCxnSpPr>
          <p:cNvPr id="35" name="꺾인 연결선 34"/>
          <p:cNvCxnSpPr>
            <a:stCxn id="78" idx="3"/>
            <a:endCxn id="110" idx="2"/>
          </p:cNvCxnSpPr>
          <p:nvPr/>
        </p:nvCxnSpPr>
        <p:spPr>
          <a:xfrm flipV="1">
            <a:off x="3327961" y="2095903"/>
            <a:ext cx="1110545" cy="982837"/>
          </a:xfrm>
          <a:prstGeom prst="bentConnector2">
            <a:avLst/>
          </a:prstGeom>
          <a:ln w="12700">
            <a:solidFill>
              <a:schemeClr val="accent4">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9" name="직사각형 58"/>
          <p:cNvSpPr/>
          <p:nvPr/>
        </p:nvSpPr>
        <p:spPr>
          <a:xfrm>
            <a:off x="2580963" y="2392362"/>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보정</a:t>
            </a:r>
            <a:endParaRPr lang="ko-KR" altLang="en-US" sz="1200" dirty="0">
              <a:solidFill>
                <a:schemeClr val="tx1"/>
              </a:solidFill>
            </a:endParaRPr>
          </a:p>
        </p:txBody>
      </p:sp>
      <p:cxnSp>
        <p:nvCxnSpPr>
          <p:cNvPr id="65" name="직선 화살표 연결선 64"/>
          <p:cNvCxnSpPr>
            <a:stCxn id="59" idx="0"/>
          </p:cNvCxnSpPr>
          <p:nvPr/>
        </p:nvCxnSpPr>
        <p:spPr>
          <a:xfrm flipH="1" flipV="1">
            <a:off x="2952697" y="196969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6" name="직사각형 65"/>
          <p:cNvSpPr/>
          <p:nvPr/>
        </p:nvSpPr>
        <p:spPr>
          <a:xfrm>
            <a:off x="2560497" y="3750827"/>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29②</a:t>
            </a:r>
            <a:endParaRPr lang="ko-KR" altLang="en-US" sz="1050" dirty="0">
              <a:solidFill>
                <a:schemeClr val="tx1"/>
              </a:solidFill>
            </a:endParaRPr>
          </a:p>
        </p:txBody>
      </p:sp>
      <p:cxnSp>
        <p:nvCxnSpPr>
          <p:cNvPr id="11" name="꺾인 연결선 10"/>
          <p:cNvCxnSpPr>
            <a:stCxn id="66" idx="3"/>
            <a:endCxn id="110" idx="2"/>
          </p:cNvCxnSpPr>
          <p:nvPr/>
        </p:nvCxnSpPr>
        <p:spPr>
          <a:xfrm flipV="1">
            <a:off x="3327961" y="2095903"/>
            <a:ext cx="1110545" cy="1781131"/>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8" name="직사각형 67"/>
          <p:cNvSpPr/>
          <p:nvPr/>
        </p:nvSpPr>
        <p:spPr>
          <a:xfrm>
            <a:off x="4914641" y="3753598"/>
            <a:ext cx="746998" cy="252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p>
        </p:txBody>
      </p:sp>
      <p:sp>
        <p:nvSpPr>
          <p:cNvPr id="74" name="직사각형 73"/>
          <p:cNvSpPr/>
          <p:nvPr/>
        </p:nvSpPr>
        <p:spPr>
          <a:xfrm>
            <a:off x="4894175" y="4179452"/>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47②</a:t>
            </a:r>
            <a:endParaRPr lang="ko-KR" altLang="en-US" sz="1050" dirty="0">
              <a:solidFill>
                <a:schemeClr val="tx1"/>
              </a:solidFill>
            </a:endParaRPr>
          </a:p>
        </p:txBody>
      </p:sp>
      <p:cxnSp>
        <p:nvCxnSpPr>
          <p:cNvPr id="14" name="꺾인 연결선 13"/>
          <p:cNvCxnSpPr>
            <a:stCxn id="74" idx="3"/>
            <a:endCxn id="60" idx="2"/>
          </p:cNvCxnSpPr>
          <p:nvPr/>
        </p:nvCxnSpPr>
        <p:spPr>
          <a:xfrm flipV="1">
            <a:off x="5661639" y="2095903"/>
            <a:ext cx="1170716" cy="2209756"/>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직사각형 74"/>
          <p:cNvSpPr/>
          <p:nvPr/>
        </p:nvSpPr>
        <p:spPr>
          <a:xfrm>
            <a:off x="2560497" y="4980128"/>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42③Ⅰ</a:t>
            </a:r>
            <a:endParaRPr lang="ko-KR" altLang="en-US" sz="1050" dirty="0">
              <a:solidFill>
                <a:schemeClr val="tx1"/>
              </a:solidFill>
            </a:endParaRPr>
          </a:p>
        </p:txBody>
      </p:sp>
      <p:sp>
        <p:nvSpPr>
          <p:cNvPr id="77" name="직사각형 76"/>
          <p:cNvSpPr/>
          <p:nvPr/>
        </p:nvSpPr>
        <p:spPr>
          <a:xfrm>
            <a:off x="4914641" y="4982899"/>
            <a:ext cx="746998" cy="2524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p>
        </p:txBody>
      </p:sp>
      <p:sp>
        <p:nvSpPr>
          <p:cNvPr id="80" name="직사각형 79"/>
          <p:cNvSpPr/>
          <p:nvPr/>
        </p:nvSpPr>
        <p:spPr>
          <a:xfrm>
            <a:off x="4894175" y="5408753"/>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29②</a:t>
            </a:r>
            <a:endParaRPr lang="ko-KR" altLang="en-US" sz="1050" dirty="0">
              <a:solidFill>
                <a:schemeClr val="tx1"/>
              </a:solidFill>
            </a:endParaRPr>
          </a:p>
        </p:txBody>
      </p:sp>
      <p:cxnSp>
        <p:nvCxnSpPr>
          <p:cNvPr id="18" name="꺾인 연결선 17"/>
          <p:cNvCxnSpPr>
            <a:stCxn id="75" idx="3"/>
            <a:endCxn id="110" idx="2"/>
          </p:cNvCxnSpPr>
          <p:nvPr/>
        </p:nvCxnSpPr>
        <p:spPr>
          <a:xfrm flipV="1">
            <a:off x="3327961" y="2095903"/>
            <a:ext cx="1110545" cy="3010432"/>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stCxn id="80" idx="3"/>
            <a:endCxn id="60" idx="2"/>
          </p:cNvCxnSpPr>
          <p:nvPr/>
        </p:nvCxnSpPr>
        <p:spPr>
          <a:xfrm flipV="1">
            <a:off x="5661639" y="2095903"/>
            <a:ext cx="1170716" cy="3439057"/>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1" name="직사각형 80"/>
          <p:cNvSpPr/>
          <p:nvPr/>
        </p:nvSpPr>
        <p:spPr>
          <a:xfrm>
            <a:off x="7316615" y="5427552"/>
            <a:ext cx="746998" cy="2524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해소여부</a:t>
            </a:r>
            <a:endParaRPr lang="en-US" altLang="ko-KR" sz="1200" dirty="0">
              <a:solidFill>
                <a:schemeClr val="tx1"/>
              </a:solidFill>
            </a:endParaRPr>
          </a:p>
          <a:p>
            <a:pPr algn="ctr"/>
            <a:r>
              <a:rPr lang="ko-KR" altLang="en-US" sz="1200" dirty="0">
                <a:solidFill>
                  <a:schemeClr val="tx1"/>
                </a:solidFill>
              </a:rPr>
              <a:t>무관</a:t>
            </a:r>
          </a:p>
        </p:txBody>
      </p:sp>
      <p:sp>
        <p:nvSpPr>
          <p:cNvPr id="82" name="직사각형 81"/>
          <p:cNvSpPr/>
          <p:nvPr/>
        </p:nvSpPr>
        <p:spPr>
          <a:xfrm>
            <a:off x="7296149" y="5853406"/>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47②</a:t>
            </a:r>
            <a:endParaRPr lang="ko-KR" altLang="en-US" sz="1050" dirty="0">
              <a:solidFill>
                <a:schemeClr val="tx1"/>
              </a:solidFill>
            </a:endParaRPr>
          </a:p>
        </p:txBody>
      </p:sp>
      <p:cxnSp>
        <p:nvCxnSpPr>
          <p:cNvPr id="24" name="꺾인 연결선 23"/>
          <p:cNvCxnSpPr>
            <a:stCxn id="82" idx="3"/>
            <a:endCxn id="112" idx="3"/>
          </p:cNvCxnSpPr>
          <p:nvPr/>
        </p:nvCxnSpPr>
        <p:spPr>
          <a:xfrm flipV="1">
            <a:off x="8063613" y="1824787"/>
            <a:ext cx="2280537" cy="4154826"/>
          </a:xfrm>
          <a:prstGeom prst="bentConnector3">
            <a:avLst>
              <a:gd name="adj1" fmla="val 110024"/>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29" name="그룹 28"/>
          <p:cNvGrpSpPr/>
          <p:nvPr/>
        </p:nvGrpSpPr>
        <p:grpSpPr>
          <a:xfrm>
            <a:off x="523875" y="2790825"/>
            <a:ext cx="10944226" cy="1905000"/>
            <a:chOff x="514350" y="2790825"/>
            <a:chExt cx="11115675" cy="1905000"/>
          </a:xfrm>
        </p:grpSpPr>
        <p:cxnSp>
          <p:nvCxnSpPr>
            <p:cNvPr id="28" name="직선 연결선 27"/>
            <p:cNvCxnSpPr/>
            <p:nvPr/>
          </p:nvCxnSpPr>
          <p:spPr>
            <a:xfrm>
              <a:off x="514350" y="2790825"/>
              <a:ext cx="11115675"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직선 연결선 86"/>
            <p:cNvCxnSpPr/>
            <p:nvPr/>
          </p:nvCxnSpPr>
          <p:spPr>
            <a:xfrm>
              <a:off x="514350" y="3505200"/>
              <a:ext cx="11115675"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직선 연결선 89"/>
            <p:cNvCxnSpPr/>
            <p:nvPr/>
          </p:nvCxnSpPr>
          <p:spPr>
            <a:xfrm>
              <a:off x="514350" y="4695825"/>
              <a:ext cx="11115675"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6" name="직사각형 35"/>
          <p:cNvSpPr/>
          <p:nvPr/>
        </p:nvSpPr>
        <p:spPr>
          <a:xfrm>
            <a:off x="1452083" y="2660968"/>
            <a:ext cx="582211" cy="880241"/>
          </a:xfrm>
          <a:prstGeom prst="rect">
            <a:avLst/>
          </a:prstGeom>
        </p:spPr>
        <p:txBody>
          <a:bodyPr wrap="none">
            <a:spAutoFit/>
          </a:bodyPr>
          <a:lstStyle/>
          <a:p>
            <a:pPr fontAlgn="base">
              <a:lnSpc>
                <a:spcPct val="160000"/>
              </a:lnSpc>
            </a:pPr>
            <a:r>
              <a:rPr lang="ko-KR" altLang="en-US" sz="3200" kern="0" dirty="0">
                <a:solidFill>
                  <a:schemeClr val="accent5"/>
                </a:solidFill>
                <a:ea typeface="함초롬바탕" panose="02030504000101010101" pitchFamily="18" charset="-127"/>
              </a:rPr>
              <a:t>❶</a:t>
            </a:r>
            <a:endParaRPr lang="ko-KR" altLang="en-US" sz="3200" kern="0" dirty="0">
              <a:solidFill>
                <a:schemeClr val="accent5"/>
              </a:solidFill>
            </a:endParaRPr>
          </a:p>
        </p:txBody>
      </p:sp>
      <p:sp>
        <p:nvSpPr>
          <p:cNvPr id="93" name="직사각형 92"/>
          <p:cNvSpPr/>
          <p:nvPr/>
        </p:nvSpPr>
        <p:spPr>
          <a:xfrm>
            <a:off x="1452083" y="3626880"/>
            <a:ext cx="582211" cy="880241"/>
          </a:xfrm>
          <a:prstGeom prst="rect">
            <a:avLst/>
          </a:prstGeom>
        </p:spPr>
        <p:txBody>
          <a:bodyPr wrap="none">
            <a:spAutoFit/>
          </a:bodyPr>
          <a:lstStyle/>
          <a:p>
            <a:pPr fontAlgn="base">
              <a:lnSpc>
                <a:spcPct val="160000"/>
              </a:lnSpc>
            </a:pPr>
            <a:r>
              <a:rPr lang="ko-KR" altLang="en-US" sz="3200" kern="0" dirty="0">
                <a:solidFill>
                  <a:schemeClr val="accent5"/>
                </a:solidFill>
                <a:ea typeface="함초롬바탕" panose="02030504000101010101" pitchFamily="18" charset="-127"/>
              </a:rPr>
              <a:t>❷</a:t>
            </a:r>
            <a:endParaRPr lang="ko-KR" altLang="en-US" sz="3200" kern="0" dirty="0">
              <a:solidFill>
                <a:schemeClr val="accent5"/>
              </a:solidFill>
            </a:endParaRPr>
          </a:p>
        </p:txBody>
      </p:sp>
      <p:sp>
        <p:nvSpPr>
          <p:cNvPr id="94" name="직사각형 93"/>
          <p:cNvSpPr/>
          <p:nvPr/>
        </p:nvSpPr>
        <p:spPr>
          <a:xfrm>
            <a:off x="1452083" y="5092677"/>
            <a:ext cx="582211" cy="880241"/>
          </a:xfrm>
          <a:prstGeom prst="rect">
            <a:avLst/>
          </a:prstGeom>
        </p:spPr>
        <p:txBody>
          <a:bodyPr wrap="none">
            <a:spAutoFit/>
          </a:bodyPr>
          <a:lstStyle/>
          <a:p>
            <a:pPr fontAlgn="base">
              <a:lnSpc>
                <a:spcPct val="160000"/>
              </a:lnSpc>
            </a:pPr>
            <a:r>
              <a:rPr lang="ko-KR" altLang="en-US" sz="3200" kern="0" dirty="0">
                <a:solidFill>
                  <a:schemeClr val="accent5"/>
                </a:solidFill>
                <a:ea typeface="함초롬바탕" panose="02030504000101010101" pitchFamily="18" charset="-127"/>
              </a:rPr>
              <a:t>❸</a:t>
            </a:r>
            <a:endParaRPr lang="ko-KR" altLang="en-US" sz="3200" kern="0" dirty="0">
              <a:solidFill>
                <a:schemeClr val="accent5"/>
              </a:solidFill>
            </a:endParaRPr>
          </a:p>
        </p:txBody>
      </p:sp>
      <p:sp>
        <p:nvSpPr>
          <p:cNvPr id="37" name="TextBox 36"/>
          <p:cNvSpPr txBox="1"/>
          <p:nvPr/>
        </p:nvSpPr>
        <p:spPr>
          <a:xfrm>
            <a:off x="3356814" y="2771412"/>
            <a:ext cx="1164100" cy="584775"/>
          </a:xfrm>
          <a:prstGeom prst="rect">
            <a:avLst/>
          </a:prstGeom>
          <a:noFill/>
        </p:spPr>
        <p:txBody>
          <a:bodyPr wrap="none" rtlCol="0">
            <a:spAutoFit/>
          </a:bodyPr>
          <a:lstStyle/>
          <a:p>
            <a:pPr algn="ctr"/>
            <a:r>
              <a:rPr lang="ko-KR" altLang="en-US" sz="1600" dirty="0">
                <a:solidFill>
                  <a:srgbClr val="FF0000"/>
                </a:solidFill>
              </a:rPr>
              <a:t>거절이유 中</a:t>
            </a:r>
            <a:endParaRPr lang="en-US" altLang="ko-KR" sz="1600" dirty="0">
              <a:solidFill>
                <a:srgbClr val="FF0000"/>
              </a:solidFill>
            </a:endParaRPr>
          </a:p>
          <a:p>
            <a:pPr algn="ctr"/>
            <a:r>
              <a:rPr lang="ko-KR" altLang="en-US" sz="1600" dirty="0">
                <a:solidFill>
                  <a:srgbClr val="FF0000"/>
                </a:solidFill>
              </a:rPr>
              <a:t>하나</a:t>
            </a:r>
          </a:p>
        </p:txBody>
      </p:sp>
      <p:sp>
        <p:nvSpPr>
          <p:cNvPr id="95" name="TextBox 94"/>
          <p:cNvSpPr txBox="1"/>
          <p:nvPr/>
        </p:nvSpPr>
        <p:spPr>
          <a:xfrm>
            <a:off x="5723431" y="4013270"/>
            <a:ext cx="1164100" cy="584775"/>
          </a:xfrm>
          <a:prstGeom prst="rect">
            <a:avLst/>
          </a:prstGeom>
          <a:noFill/>
        </p:spPr>
        <p:txBody>
          <a:bodyPr wrap="none" rtlCol="0">
            <a:spAutoFit/>
          </a:bodyPr>
          <a:lstStyle/>
          <a:p>
            <a:pPr algn="ctr"/>
            <a:r>
              <a:rPr lang="ko-KR" altLang="en-US" sz="1600" dirty="0">
                <a:solidFill>
                  <a:srgbClr val="FF0000"/>
                </a:solidFill>
              </a:rPr>
              <a:t>거절이유 中</a:t>
            </a:r>
            <a:endParaRPr lang="en-US" altLang="ko-KR" sz="1600" dirty="0">
              <a:solidFill>
                <a:srgbClr val="FF0000"/>
              </a:solidFill>
            </a:endParaRPr>
          </a:p>
          <a:p>
            <a:pPr algn="ctr"/>
            <a:r>
              <a:rPr lang="ko-KR" altLang="en-US" sz="1600" dirty="0">
                <a:solidFill>
                  <a:srgbClr val="FF0000"/>
                </a:solidFill>
              </a:rPr>
              <a:t>하나</a:t>
            </a:r>
          </a:p>
        </p:txBody>
      </p:sp>
      <p:sp>
        <p:nvSpPr>
          <p:cNvPr id="97" name="TextBox 96"/>
          <p:cNvSpPr txBox="1"/>
          <p:nvPr/>
        </p:nvSpPr>
        <p:spPr>
          <a:xfrm>
            <a:off x="8513410" y="5687226"/>
            <a:ext cx="1290738" cy="584775"/>
          </a:xfrm>
          <a:prstGeom prst="rect">
            <a:avLst/>
          </a:prstGeom>
          <a:noFill/>
        </p:spPr>
        <p:txBody>
          <a:bodyPr wrap="none" rtlCol="0">
            <a:spAutoFit/>
          </a:bodyPr>
          <a:lstStyle/>
          <a:p>
            <a:pPr algn="ctr"/>
            <a:r>
              <a:rPr lang="ko-KR" altLang="en-US" sz="1600" dirty="0">
                <a:solidFill>
                  <a:srgbClr val="FF0000"/>
                </a:solidFill>
              </a:rPr>
              <a:t>보정인정여부</a:t>
            </a:r>
            <a:endParaRPr lang="en-US" altLang="ko-KR" sz="1600" dirty="0">
              <a:solidFill>
                <a:srgbClr val="FF0000"/>
              </a:solidFill>
            </a:endParaRPr>
          </a:p>
          <a:p>
            <a:pPr algn="ctr"/>
            <a:r>
              <a:rPr lang="ko-KR" altLang="en-US" sz="1600" dirty="0" err="1">
                <a:solidFill>
                  <a:srgbClr val="FF0000"/>
                </a:solidFill>
              </a:rPr>
              <a:t>판단대상</a:t>
            </a:r>
            <a:endParaRPr lang="ko-KR" altLang="en-US" sz="1600" dirty="0">
              <a:solidFill>
                <a:srgbClr val="FF0000"/>
              </a:solidFill>
            </a:endParaRPr>
          </a:p>
        </p:txBody>
      </p:sp>
      <p:sp>
        <p:nvSpPr>
          <p:cNvPr id="5" name="슬라이드 번호 개체 틀 4"/>
          <p:cNvSpPr>
            <a:spLocks noGrp="1"/>
          </p:cNvSpPr>
          <p:nvPr>
            <p:ph type="sldNum" sz="quarter" idx="12"/>
          </p:nvPr>
        </p:nvSpPr>
        <p:spPr/>
        <p:txBody>
          <a:bodyPr/>
          <a:lstStyle/>
          <a:p>
            <a:r>
              <a:rPr lang="en-US" altLang="ko-KR"/>
              <a:t>175</a:t>
            </a:r>
            <a:endParaRPr lang="ko-KR" altLang="en-US"/>
          </a:p>
        </p:txBody>
      </p:sp>
      <p:sp>
        <p:nvSpPr>
          <p:cNvPr id="6" name="TextBox 5">
            <a:extLst>
              <a:ext uri="{FF2B5EF4-FFF2-40B4-BE49-F238E27FC236}">
                <a16:creationId xmlns:a16="http://schemas.microsoft.com/office/drawing/2014/main" id="{D04E0EBD-15E2-46D6-BBF5-7F5F0E6936F3}"/>
              </a:ext>
            </a:extLst>
          </p:cNvPr>
          <p:cNvSpPr txBox="1"/>
          <p:nvPr/>
        </p:nvSpPr>
        <p:spPr>
          <a:xfrm>
            <a:off x="535994" y="2897298"/>
            <a:ext cx="1064715" cy="523220"/>
          </a:xfrm>
          <a:prstGeom prst="rect">
            <a:avLst/>
          </a:prstGeom>
          <a:noFill/>
        </p:spPr>
        <p:txBody>
          <a:bodyPr wrap="none" rtlCol="0">
            <a:spAutoFit/>
          </a:bodyPr>
          <a:lstStyle/>
          <a:p>
            <a:r>
              <a:rPr lang="en-US" altLang="ko-KR" sz="2800" dirty="0">
                <a:solidFill>
                  <a:schemeClr val="accent1">
                    <a:lumMod val="50000"/>
                  </a:schemeClr>
                </a:solidFill>
              </a:rPr>
              <a:t>CASE</a:t>
            </a:r>
            <a:endParaRPr lang="ko-KR" altLang="en-US" sz="2800" dirty="0">
              <a:solidFill>
                <a:schemeClr val="accent1">
                  <a:lumMod val="50000"/>
                </a:schemeClr>
              </a:solidFill>
            </a:endParaRPr>
          </a:p>
        </p:txBody>
      </p:sp>
      <p:sp>
        <p:nvSpPr>
          <p:cNvPr id="53" name="TextBox 52">
            <a:extLst>
              <a:ext uri="{FF2B5EF4-FFF2-40B4-BE49-F238E27FC236}">
                <a16:creationId xmlns:a16="http://schemas.microsoft.com/office/drawing/2014/main" id="{62695262-2677-48F4-BA52-C9F4397E4879}"/>
              </a:ext>
            </a:extLst>
          </p:cNvPr>
          <p:cNvSpPr txBox="1"/>
          <p:nvPr/>
        </p:nvSpPr>
        <p:spPr>
          <a:xfrm>
            <a:off x="535994" y="3873282"/>
            <a:ext cx="1064715" cy="523220"/>
          </a:xfrm>
          <a:prstGeom prst="rect">
            <a:avLst/>
          </a:prstGeom>
          <a:noFill/>
        </p:spPr>
        <p:txBody>
          <a:bodyPr wrap="none" rtlCol="0">
            <a:spAutoFit/>
          </a:bodyPr>
          <a:lstStyle/>
          <a:p>
            <a:r>
              <a:rPr lang="en-US" altLang="ko-KR" sz="2800" dirty="0">
                <a:solidFill>
                  <a:schemeClr val="accent1">
                    <a:lumMod val="50000"/>
                  </a:schemeClr>
                </a:solidFill>
              </a:rPr>
              <a:t>CASE</a:t>
            </a:r>
            <a:endParaRPr lang="ko-KR" altLang="en-US" sz="2800" dirty="0">
              <a:solidFill>
                <a:schemeClr val="accent1">
                  <a:lumMod val="50000"/>
                </a:schemeClr>
              </a:solidFill>
            </a:endParaRPr>
          </a:p>
        </p:txBody>
      </p:sp>
      <p:sp>
        <p:nvSpPr>
          <p:cNvPr id="54" name="TextBox 53">
            <a:extLst>
              <a:ext uri="{FF2B5EF4-FFF2-40B4-BE49-F238E27FC236}">
                <a16:creationId xmlns:a16="http://schemas.microsoft.com/office/drawing/2014/main" id="{D2753809-B194-4877-81F9-B6FB02C7F5F6}"/>
              </a:ext>
            </a:extLst>
          </p:cNvPr>
          <p:cNvSpPr txBox="1"/>
          <p:nvPr/>
        </p:nvSpPr>
        <p:spPr>
          <a:xfrm>
            <a:off x="535994" y="5315030"/>
            <a:ext cx="1064715" cy="523220"/>
          </a:xfrm>
          <a:prstGeom prst="rect">
            <a:avLst/>
          </a:prstGeom>
          <a:noFill/>
        </p:spPr>
        <p:txBody>
          <a:bodyPr wrap="none" rtlCol="0">
            <a:spAutoFit/>
          </a:bodyPr>
          <a:lstStyle/>
          <a:p>
            <a:r>
              <a:rPr lang="en-US" altLang="ko-KR" sz="2800" dirty="0">
                <a:solidFill>
                  <a:schemeClr val="accent1">
                    <a:lumMod val="50000"/>
                  </a:schemeClr>
                </a:solidFill>
              </a:rPr>
              <a:t>CASE</a:t>
            </a:r>
            <a:endParaRPr lang="ko-KR" altLang="en-US" sz="2800" dirty="0">
              <a:solidFill>
                <a:schemeClr val="accent1">
                  <a:lumMod val="50000"/>
                </a:schemeClr>
              </a:solidFill>
            </a:endParaRPr>
          </a:p>
        </p:txBody>
      </p:sp>
    </p:spTree>
    <p:extLst>
      <p:ext uri="{BB962C8B-B14F-4D97-AF65-F5344CB8AC3E}">
        <p14:creationId xmlns:p14="http://schemas.microsoft.com/office/powerpoint/2010/main" val="474207585"/>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보정에 따라 발생한 새로운 거절이유</a:t>
            </a:r>
            <a:r>
              <a:rPr lang="en-US" altLang="ko-KR" dirty="0"/>
              <a:t>(</a:t>
            </a:r>
            <a:r>
              <a:rPr lang="ko-KR" altLang="en-US" dirty="0"/>
              <a:t>제</a:t>
            </a:r>
            <a:r>
              <a:rPr lang="en-US" altLang="ko-KR" dirty="0"/>
              <a:t>51</a:t>
            </a:r>
            <a:r>
              <a:rPr lang="ko-KR" altLang="en-US" dirty="0"/>
              <a:t>조제</a:t>
            </a:r>
            <a:r>
              <a:rPr lang="en-US" altLang="ko-KR" dirty="0"/>
              <a:t>1</a:t>
            </a:r>
            <a:r>
              <a:rPr lang="ko-KR" altLang="en-US" dirty="0"/>
              <a:t>항</a:t>
            </a:r>
            <a:r>
              <a:rPr lang="en-US" altLang="ko-KR" dirty="0"/>
              <a:t>)</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101" name="직선 화살표 연결선 100"/>
          <p:cNvCxnSpPr/>
          <p:nvPr/>
        </p:nvCxnSpPr>
        <p:spPr>
          <a:xfrm>
            <a:off x="1084613" y="2809568"/>
            <a:ext cx="965835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2" name="직사각형 101"/>
          <p:cNvSpPr/>
          <p:nvPr/>
        </p:nvSpPr>
        <p:spPr>
          <a:xfrm>
            <a:off x="853681" y="2557155"/>
            <a:ext cx="767463" cy="504825"/>
          </a:xfrm>
          <a:prstGeom prst="rect">
            <a:avLst/>
          </a:prstGeom>
          <a:solidFill>
            <a:schemeClr val="tx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p>
        </p:txBody>
      </p:sp>
      <p:sp>
        <p:nvSpPr>
          <p:cNvPr id="105" name="직사각형 104"/>
          <p:cNvSpPr/>
          <p:nvPr/>
        </p:nvSpPr>
        <p:spPr>
          <a:xfrm>
            <a:off x="2401990" y="2228932"/>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1</a:t>
            </a:r>
            <a:endParaRPr lang="ko-KR" altLang="en-US" sz="1200" dirty="0">
              <a:solidFill>
                <a:schemeClr val="tx1"/>
              </a:solidFill>
            </a:endParaRPr>
          </a:p>
        </p:txBody>
      </p:sp>
      <p:cxnSp>
        <p:nvCxnSpPr>
          <p:cNvPr id="107" name="직선 화살표 연결선 106"/>
          <p:cNvCxnSpPr>
            <a:stCxn id="105" idx="2"/>
          </p:cNvCxnSpPr>
          <p:nvPr/>
        </p:nvCxnSpPr>
        <p:spPr>
          <a:xfrm>
            <a:off x="2725010" y="2481345"/>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0" name="직사각형 109"/>
          <p:cNvSpPr/>
          <p:nvPr/>
        </p:nvSpPr>
        <p:spPr>
          <a:xfrm>
            <a:off x="3390349" y="2679795"/>
            <a:ext cx="646040" cy="252413"/>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최초</a:t>
            </a:r>
          </a:p>
        </p:txBody>
      </p:sp>
      <p:sp>
        <p:nvSpPr>
          <p:cNvPr id="127" name="직사각형 126"/>
          <p:cNvSpPr/>
          <p:nvPr/>
        </p:nvSpPr>
        <p:spPr>
          <a:xfrm>
            <a:off x="4189504" y="3228667"/>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2</a:t>
            </a:r>
            <a:endParaRPr lang="ko-KR" altLang="en-US" sz="1200" dirty="0">
              <a:solidFill>
                <a:schemeClr val="tx1"/>
              </a:solidFill>
            </a:endParaRPr>
          </a:p>
        </p:txBody>
      </p:sp>
      <p:cxnSp>
        <p:nvCxnSpPr>
          <p:cNvPr id="128" name="직선 화살표 연결선 127"/>
          <p:cNvCxnSpPr>
            <a:stCxn id="127" idx="0"/>
          </p:cNvCxnSpPr>
          <p:nvPr/>
        </p:nvCxnSpPr>
        <p:spPr>
          <a:xfrm flipH="1" flipV="1">
            <a:off x="4561238" y="2806002"/>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7" name="직사각형 46"/>
          <p:cNvSpPr/>
          <p:nvPr/>
        </p:nvSpPr>
        <p:spPr>
          <a:xfrm>
            <a:off x="4769415" y="2228932"/>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2</a:t>
            </a:r>
            <a:endParaRPr lang="ko-KR" altLang="en-US" sz="1200" dirty="0">
              <a:solidFill>
                <a:schemeClr val="tx1"/>
              </a:solidFill>
            </a:endParaRPr>
          </a:p>
        </p:txBody>
      </p:sp>
      <p:cxnSp>
        <p:nvCxnSpPr>
          <p:cNvPr id="48" name="직선 화살표 연결선 47"/>
          <p:cNvCxnSpPr>
            <a:stCxn id="47" idx="2"/>
          </p:cNvCxnSpPr>
          <p:nvPr/>
        </p:nvCxnSpPr>
        <p:spPr>
          <a:xfrm>
            <a:off x="5092435" y="2481345"/>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0" name="직사각형 59"/>
          <p:cNvSpPr/>
          <p:nvPr/>
        </p:nvSpPr>
        <p:spPr>
          <a:xfrm>
            <a:off x="5784198" y="2679795"/>
            <a:ext cx="646040" cy="252413"/>
          </a:xfrm>
          <a:prstGeom prst="rect">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최후</a:t>
            </a:r>
          </a:p>
        </p:txBody>
      </p:sp>
      <p:sp>
        <p:nvSpPr>
          <p:cNvPr id="61" name="직사각형 60"/>
          <p:cNvSpPr/>
          <p:nvPr/>
        </p:nvSpPr>
        <p:spPr>
          <a:xfrm>
            <a:off x="6558540" y="3228667"/>
            <a:ext cx="746998" cy="252413"/>
          </a:xfrm>
          <a:prstGeom prst="rect">
            <a:avLst/>
          </a:prstGeom>
          <a:solidFill>
            <a:schemeClr val="accent4">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3</a:t>
            </a:r>
            <a:endParaRPr lang="ko-KR" altLang="en-US" sz="1200" dirty="0">
              <a:solidFill>
                <a:schemeClr val="tx1"/>
              </a:solidFill>
            </a:endParaRPr>
          </a:p>
        </p:txBody>
      </p:sp>
      <p:cxnSp>
        <p:nvCxnSpPr>
          <p:cNvPr id="62" name="직선 화살표 연결선 61"/>
          <p:cNvCxnSpPr>
            <a:stCxn id="61" idx="0"/>
          </p:cNvCxnSpPr>
          <p:nvPr/>
        </p:nvCxnSpPr>
        <p:spPr>
          <a:xfrm flipH="1" flipV="1">
            <a:off x="6930274" y="2806002"/>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3" name="직사각형 62"/>
          <p:cNvSpPr/>
          <p:nvPr/>
        </p:nvSpPr>
        <p:spPr>
          <a:xfrm>
            <a:off x="8351929" y="3208200"/>
            <a:ext cx="1000384" cy="252413"/>
          </a:xfrm>
          <a:prstGeom prst="rect">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심사</a:t>
            </a:r>
            <a:r>
              <a:rPr lang="en-US" altLang="ko-KR" sz="1200" dirty="0">
                <a:solidFill>
                  <a:schemeClr val="bg1"/>
                </a:solidFill>
              </a:rPr>
              <a:t>3</a:t>
            </a:r>
            <a:endParaRPr lang="ko-KR" altLang="en-US" sz="1200" dirty="0">
              <a:solidFill>
                <a:schemeClr val="bg1"/>
              </a:solidFill>
            </a:endParaRPr>
          </a:p>
        </p:txBody>
      </p:sp>
      <p:cxnSp>
        <p:nvCxnSpPr>
          <p:cNvPr id="64" name="직선 화살표 연결선 63"/>
          <p:cNvCxnSpPr>
            <a:stCxn id="63" idx="0"/>
          </p:cNvCxnSpPr>
          <p:nvPr/>
        </p:nvCxnSpPr>
        <p:spPr>
          <a:xfrm flipV="1">
            <a:off x="8852121" y="2806001"/>
            <a:ext cx="0" cy="40219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9" name="직사각형 58"/>
          <p:cNvSpPr/>
          <p:nvPr/>
        </p:nvSpPr>
        <p:spPr>
          <a:xfrm>
            <a:off x="1855826" y="3228667"/>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1</a:t>
            </a:r>
            <a:endParaRPr lang="ko-KR" altLang="en-US" sz="1200" dirty="0">
              <a:solidFill>
                <a:schemeClr val="tx1"/>
              </a:solidFill>
            </a:endParaRPr>
          </a:p>
        </p:txBody>
      </p:sp>
      <p:cxnSp>
        <p:nvCxnSpPr>
          <p:cNvPr id="65" name="직선 화살표 연결선 64"/>
          <p:cNvCxnSpPr>
            <a:stCxn id="59" idx="0"/>
          </p:cNvCxnSpPr>
          <p:nvPr/>
        </p:nvCxnSpPr>
        <p:spPr>
          <a:xfrm flipH="1" flipV="1">
            <a:off x="2227560" y="2806002"/>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5" name="직사각형 74"/>
          <p:cNvSpPr/>
          <p:nvPr/>
        </p:nvSpPr>
        <p:spPr>
          <a:xfrm>
            <a:off x="1835360" y="3892383"/>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42③Ⅰ</a:t>
            </a:r>
            <a:endParaRPr lang="ko-KR" altLang="en-US" sz="1050" dirty="0">
              <a:solidFill>
                <a:schemeClr val="tx1"/>
              </a:solidFill>
            </a:endParaRPr>
          </a:p>
        </p:txBody>
      </p:sp>
      <p:sp>
        <p:nvSpPr>
          <p:cNvPr id="77" name="직사각형 76"/>
          <p:cNvSpPr/>
          <p:nvPr/>
        </p:nvSpPr>
        <p:spPr>
          <a:xfrm>
            <a:off x="4189504" y="3895154"/>
            <a:ext cx="746998" cy="2524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p>
        </p:txBody>
      </p:sp>
      <p:sp>
        <p:nvSpPr>
          <p:cNvPr id="80" name="직사각형 79"/>
          <p:cNvSpPr/>
          <p:nvPr/>
        </p:nvSpPr>
        <p:spPr>
          <a:xfrm>
            <a:off x="4169038" y="4321008"/>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29②</a:t>
            </a:r>
            <a:endParaRPr lang="ko-KR" altLang="en-US" sz="1050" dirty="0">
              <a:solidFill>
                <a:schemeClr val="tx1"/>
              </a:solidFill>
              <a:latin typeface="+mn-ea"/>
            </a:endParaRPr>
          </a:p>
        </p:txBody>
      </p:sp>
      <p:cxnSp>
        <p:nvCxnSpPr>
          <p:cNvPr id="18" name="꺾인 연결선 17"/>
          <p:cNvCxnSpPr>
            <a:stCxn id="75" idx="3"/>
            <a:endCxn id="110" idx="2"/>
          </p:cNvCxnSpPr>
          <p:nvPr/>
        </p:nvCxnSpPr>
        <p:spPr>
          <a:xfrm flipV="1">
            <a:off x="2602824" y="2932208"/>
            <a:ext cx="1110545" cy="1086382"/>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stCxn id="80" idx="3"/>
            <a:endCxn id="60" idx="2"/>
          </p:cNvCxnSpPr>
          <p:nvPr/>
        </p:nvCxnSpPr>
        <p:spPr>
          <a:xfrm flipV="1">
            <a:off x="4936502" y="2932208"/>
            <a:ext cx="1170716" cy="1515007"/>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직사각형 81"/>
          <p:cNvSpPr/>
          <p:nvPr/>
        </p:nvSpPr>
        <p:spPr>
          <a:xfrm>
            <a:off x="6571012" y="4765661"/>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45</a:t>
            </a:r>
            <a:endParaRPr lang="ko-KR" altLang="en-US" sz="1050" dirty="0">
              <a:solidFill>
                <a:schemeClr val="tx1"/>
              </a:solidFill>
              <a:latin typeface="+mn-ea"/>
            </a:endParaRPr>
          </a:p>
        </p:txBody>
      </p:sp>
      <p:sp>
        <p:nvSpPr>
          <p:cNvPr id="53" name="직사각형 52"/>
          <p:cNvSpPr/>
          <p:nvPr/>
        </p:nvSpPr>
        <p:spPr>
          <a:xfrm>
            <a:off x="1835360" y="4273105"/>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29①</a:t>
            </a:r>
            <a:endParaRPr lang="ko-KR" altLang="en-US" sz="1050" dirty="0">
              <a:solidFill>
                <a:schemeClr val="tx1"/>
              </a:solidFill>
              <a:latin typeface="+mn-ea"/>
            </a:endParaRPr>
          </a:p>
        </p:txBody>
      </p:sp>
      <p:sp>
        <p:nvSpPr>
          <p:cNvPr id="54" name="직사각형 53"/>
          <p:cNvSpPr/>
          <p:nvPr/>
        </p:nvSpPr>
        <p:spPr>
          <a:xfrm>
            <a:off x="4178044" y="4696982"/>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42⑧</a:t>
            </a:r>
            <a:endParaRPr lang="ko-KR" altLang="en-US" sz="1050" dirty="0">
              <a:solidFill>
                <a:schemeClr val="tx1"/>
              </a:solidFill>
              <a:latin typeface="+mn-ea"/>
            </a:endParaRPr>
          </a:p>
        </p:txBody>
      </p:sp>
      <p:sp>
        <p:nvSpPr>
          <p:cNvPr id="55" name="TextBox 54"/>
          <p:cNvSpPr txBox="1"/>
          <p:nvPr/>
        </p:nvSpPr>
        <p:spPr>
          <a:xfrm>
            <a:off x="77875" y="986046"/>
            <a:ext cx="11936323" cy="954107"/>
          </a:xfrm>
          <a:prstGeom prst="rect">
            <a:avLst/>
          </a:prstGeom>
          <a:noFill/>
        </p:spPr>
        <p:txBody>
          <a:bodyPr wrap="square" rtlCol="0">
            <a:spAutoFit/>
          </a:bodyPr>
          <a:lstStyle/>
          <a:p>
            <a:pPr fontAlgn="base"/>
            <a:r>
              <a:rPr lang="ko-KR" altLang="en-US" sz="1400" dirty="0">
                <a:solidFill>
                  <a:schemeClr val="tx2"/>
                </a:solidFill>
              </a:rPr>
              <a:t>「그 보정에 따라 새로운 거절이유가 발생한 </a:t>
            </a:r>
            <a:r>
              <a:rPr lang="ko-KR" altLang="en-US" sz="1400" dirty="0" err="1">
                <a:solidFill>
                  <a:schemeClr val="tx2"/>
                </a:solidFill>
              </a:rPr>
              <a:t>경우」란</a:t>
            </a:r>
            <a:r>
              <a:rPr lang="ko-KR" altLang="en-US" sz="1400" dirty="0">
                <a:solidFill>
                  <a:schemeClr val="tx2"/>
                </a:solidFill>
              </a:rPr>
              <a:t> </a:t>
            </a:r>
            <a:r>
              <a:rPr lang="ko-KR" altLang="en-US" sz="1400" dirty="0">
                <a:highlight>
                  <a:srgbClr val="FFFF00"/>
                </a:highlight>
              </a:rPr>
              <a:t>그 </a:t>
            </a:r>
            <a:r>
              <a:rPr lang="ko-KR" altLang="en-US" sz="1400" dirty="0" err="1">
                <a:highlight>
                  <a:srgbClr val="FFFF00"/>
                </a:highlight>
              </a:rPr>
              <a:t>보정서의</a:t>
            </a:r>
            <a:r>
              <a:rPr lang="ko-KR" altLang="en-US" sz="1400" dirty="0">
                <a:highlight>
                  <a:srgbClr val="FFFF00"/>
                </a:highlight>
              </a:rPr>
              <a:t> 제출로 인해 전에 없던 거절이유가 발생한 것</a:t>
            </a:r>
            <a:r>
              <a:rPr lang="ko-KR" altLang="en-US" sz="1400" dirty="0">
                <a:solidFill>
                  <a:schemeClr val="tx2"/>
                </a:solidFill>
              </a:rPr>
              <a:t>을 의미한다</a:t>
            </a:r>
            <a:r>
              <a:rPr lang="en-US" altLang="ko-KR" sz="1400" dirty="0">
                <a:solidFill>
                  <a:schemeClr val="tx2"/>
                </a:solidFill>
              </a:rPr>
              <a:t>. </a:t>
            </a:r>
            <a:r>
              <a:rPr lang="ko-KR" altLang="en-US" sz="1400" dirty="0">
                <a:solidFill>
                  <a:schemeClr val="tx2"/>
                </a:solidFill>
              </a:rPr>
              <a:t>보정에 의하여 새로운 거절이유가 발생한 경우라면 심사관이 다시 거절이유를 통지하지 않고 </a:t>
            </a:r>
            <a:r>
              <a:rPr lang="ko-KR" altLang="en-US" sz="1400" dirty="0" err="1">
                <a:solidFill>
                  <a:schemeClr val="tx2"/>
                </a:solidFill>
              </a:rPr>
              <a:t>보정각하를</a:t>
            </a:r>
            <a:r>
              <a:rPr lang="ko-KR" altLang="en-US" sz="1400" dirty="0">
                <a:solidFill>
                  <a:schemeClr val="tx2"/>
                </a:solidFill>
              </a:rPr>
              <a:t> 한 후 최후거절이유통지 당시의 </a:t>
            </a:r>
            <a:r>
              <a:rPr lang="ko-KR" altLang="en-US" sz="1400" dirty="0" err="1">
                <a:solidFill>
                  <a:schemeClr val="tx2"/>
                </a:solidFill>
              </a:rPr>
              <a:t>심사대상</a:t>
            </a:r>
            <a:r>
              <a:rPr lang="ko-KR" altLang="en-US" sz="1400" dirty="0">
                <a:solidFill>
                  <a:schemeClr val="tx2"/>
                </a:solidFill>
              </a:rPr>
              <a:t> 명세서로 특허거절결정을 할 수 있도록 하여 심사의 신속한 진행을 도모하기 위한 것이다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최후거절이유통지에 대한 보정을 하였으나 여전히 거절이유를 해소하지 못한 경우에는 보정은 적법하나 거절이유가 동일하여 </a:t>
            </a:r>
            <a:r>
              <a:rPr lang="ko-KR" altLang="en-US" sz="1400" dirty="0" err="1">
                <a:solidFill>
                  <a:schemeClr val="tx2"/>
                </a:solidFill>
              </a:rPr>
              <a:t>특허거절결정된다</a:t>
            </a:r>
            <a:r>
              <a:rPr lang="en-US" altLang="ko-KR" sz="1400" dirty="0">
                <a:solidFill>
                  <a:schemeClr val="tx2"/>
                </a:solidFill>
              </a:rPr>
              <a:t>.</a:t>
            </a:r>
          </a:p>
        </p:txBody>
      </p:sp>
      <p:cxnSp>
        <p:nvCxnSpPr>
          <p:cNvPr id="56" name="직선 연결선 55"/>
          <p:cNvCxnSpPr/>
          <p:nvPr/>
        </p:nvCxnSpPr>
        <p:spPr>
          <a:xfrm>
            <a:off x="0" y="193695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직사각형 9"/>
          <p:cNvSpPr/>
          <p:nvPr/>
        </p:nvSpPr>
        <p:spPr>
          <a:xfrm>
            <a:off x="6374912" y="4744150"/>
            <a:ext cx="392200"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❹</a:t>
            </a:r>
          </a:p>
        </p:txBody>
      </p:sp>
      <p:sp>
        <p:nvSpPr>
          <p:cNvPr id="67" name="직사각형 66"/>
          <p:cNvSpPr/>
          <p:nvPr/>
        </p:nvSpPr>
        <p:spPr>
          <a:xfrm>
            <a:off x="1621144" y="4215760"/>
            <a:ext cx="415969"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❶</a:t>
            </a:r>
          </a:p>
        </p:txBody>
      </p:sp>
      <p:sp>
        <p:nvSpPr>
          <p:cNvPr id="69" name="직사각형 68"/>
          <p:cNvSpPr/>
          <p:nvPr/>
        </p:nvSpPr>
        <p:spPr>
          <a:xfrm>
            <a:off x="3982975" y="4034108"/>
            <a:ext cx="364983"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❷</a:t>
            </a:r>
          </a:p>
        </p:txBody>
      </p:sp>
      <p:sp>
        <p:nvSpPr>
          <p:cNvPr id="70" name="직사각형 69"/>
          <p:cNvSpPr/>
          <p:nvPr/>
        </p:nvSpPr>
        <p:spPr>
          <a:xfrm>
            <a:off x="3982975" y="4222343"/>
            <a:ext cx="364983" cy="978729"/>
          </a:xfrm>
          <a:prstGeom prst="rect">
            <a:avLst/>
          </a:prstGeom>
        </p:spPr>
        <p:txBody>
          <a:bodyPr wrap="square">
            <a:spAutoFit/>
          </a:bodyPr>
          <a:lstStyle/>
          <a:p>
            <a:pPr algn="just" fontAlgn="base">
              <a:lnSpc>
                <a:spcPct val="160000"/>
              </a:lnSpc>
            </a:pPr>
            <a:endParaRPr lang="ko-KR" altLang="en-US" kern="0" dirty="0">
              <a:solidFill>
                <a:schemeClr val="accent2">
                  <a:lumMod val="50000"/>
                </a:schemeClr>
              </a:solidFill>
              <a:latin typeface="+mn-ea"/>
            </a:endParaRPr>
          </a:p>
          <a:p>
            <a:pPr algn="just" fontAlgn="base">
              <a:lnSpc>
                <a:spcPct val="160000"/>
              </a:lnSpc>
            </a:pPr>
            <a:r>
              <a:rPr lang="ko-KR" altLang="en-US" kern="0" dirty="0">
                <a:solidFill>
                  <a:schemeClr val="accent2">
                    <a:lumMod val="50000"/>
                  </a:schemeClr>
                </a:solidFill>
                <a:latin typeface="+mn-ea"/>
              </a:rPr>
              <a:t>❸</a:t>
            </a:r>
          </a:p>
        </p:txBody>
      </p:sp>
      <p:sp>
        <p:nvSpPr>
          <p:cNvPr id="12" name="직사각형 11"/>
          <p:cNvSpPr/>
          <p:nvPr/>
        </p:nvSpPr>
        <p:spPr>
          <a:xfrm>
            <a:off x="8316846" y="4727511"/>
            <a:ext cx="2387192" cy="1600438"/>
          </a:xfrm>
          <a:prstGeom prst="rect">
            <a:avLst/>
          </a:prstGeom>
          <a:ln>
            <a:solidFill>
              <a:schemeClr val="bg1">
                <a:lumMod val="50000"/>
              </a:schemeClr>
            </a:solidFill>
          </a:ln>
        </p:spPr>
        <p:txBody>
          <a:bodyPr wrap="none">
            <a:spAutoFit/>
          </a:bodyPr>
          <a:lstStyle/>
          <a:p>
            <a:pPr fontAlgn="base"/>
            <a:r>
              <a:rPr lang="ko-KR" altLang="en-US" sz="1400" kern="0" dirty="0">
                <a:solidFill>
                  <a:srgbClr val="FF0000"/>
                </a:solidFill>
                <a:latin typeface="+mn-ea"/>
              </a:rPr>
              <a:t>❶만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r>
              <a:rPr lang="en-US" altLang="ko-KR" sz="1400" kern="0" dirty="0">
                <a:solidFill>
                  <a:srgbClr val="FF0000"/>
                </a:solidFill>
                <a:latin typeface="+mn-ea"/>
              </a:rPr>
              <a:t> </a:t>
            </a:r>
          </a:p>
          <a:p>
            <a:pPr fontAlgn="base"/>
            <a:r>
              <a:rPr lang="ko-KR" altLang="en-US" sz="1400" kern="0" dirty="0">
                <a:solidFill>
                  <a:srgbClr val="FF0000"/>
                </a:solidFill>
                <a:latin typeface="+mn-ea"/>
              </a:rPr>
              <a:t>❷만 발견</a:t>
            </a:r>
            <a:r>
              <a:rPr lang="en-US" altLang="ko-KR" sz="1400" kern="0" dirty="0">
                <a:solidFill>
                  <a:srgbClr val="FF0000"/>
                </a:solidFill>
                <a:latin typeface="+mn-ea"/>
              </a:rPr>
              <a:t>: </a:t>
            </a:r>
            <a:r>
              <a:rPr lang="ko-KR" altLang="en-US" sz="1400" kern="0" dirty="0" err="1">
                <a:solidFill>
                  <a:srgbClr val="FF0000"/>
                </a:solidFill>
                <a:latin typeface="+mn-ea"/>
              </a:rPr>
              <a:t>거절결정</a:t>
            </a:r>
            <a:endParaRPr lang="en-US" altLang="ko-KR" sz="1400" kern="0" dirty="0">
              <a:solidFill>
                <a:srgbClr val="FF0000"/>
              </a:solidFill>
              <a:latin typeface="+mn-ea"/>
            </a:endParaRPr>
          </a:p>
          <a:p>
            <a:pPr fontAlgn="base"/>
            <a:r>
              <a:rPr lang="ko-KR" altLang="en-US" sz="1400" kern="0" dirty="0">
                <a:solidFill>
                  <a:srgbClr val="FF0000"/>
                </a:solidFill>
                <a:latin typeface="+mn-ea"/>
              </a:rPr>
              <a:t>❸만 발견</a:t>
            </a:r>
            <a:r>
              <a:rPr lang="en-US" altLang="ko-KR" sz="1400" kern="0" dirty="0">
                <a:solidFill>
                  <a:srgbClr val="FF0000"/>
                </a:solidFill>
                <a:latin typeface="+mn-ea"/>
              </a:rPr>
              <a:t>: </a:t>
            </a:r>
            <a:r>
              <a:rPr lang="ko-KR" altLang="en-US" sz="1400" kern="0" dirty="0">
                <a:solidFill>
                  <a:srgbClr val="FF0000"/>
                </a:solidFill>
                <a:latin typeface="+mn-ea"/>
              </a:rPr>
              <a:t>최후거절이유통지</a:t>
            </a:r>
            <a:endParaRPr lang="en-US" altLang="ko-KR" sz="1400" kern="0" dirty="0">
              <a:solidFill>
                <a:srgbClr val="FF0000"/>
              </a:solidFill>
              <a:latin typeface="+mn-ea"/>
            </a:endParaRPr>
          </a:p>
          <a:p>
            <a:pPr fontAlgn="base"/>
            <a:r>
              <a:rPr lang="ko-KR" altLang="en-US" sz="1400" kern="0" dirty="0">
                <a:solidFill>
                  <a:srgbClr val="FF0000"/>
                </a:solidFill>
                <a:latin typeface="+mn-ea"/>
              </a:rPr>
              <a:t>❹만 발견</a:t>
            </a:r>
            <a:r>
              <a:rPr lang="en-US" altLang="ko-KR" sz="1400" kern="0" dirty="0">
                <a:solidFill>
                  <a:srgbClr val="FF0000"/>
                </a:solidFill>
                <a:latin typeface="+mn-ea"/>
              </a:rPr>
              <a:t>: </a:t>
            </a:r>
            <a:r>
              <a:rPr lang="ko-KR" altLang="en-US" sz="1400" kern="0" dirty="0" err="1">
                <a:solidFill>
                  <a:srgbClr val="FF0000"/>
                </a:solidFill>
                <a:latin typeface="+mn-ea"/>
              </a:rPr>
              <a:t>보정각하</a:t>
            </a:r>
            <a:r>
              <a:rPr lang="en-US" altLang="ko-KR" sz="1400" kern="0" dirty="0">
                <a:solidFill>
                  <a:srgbClr val="FF0000"/>
                </a:solidFill>
                <a:latin typeface="+mn-ea"/>
              </a:rPr>
              <a:t>/</a:t>
            </a:r>
            <a:r>
              <a:rPr lang="ko-KR" altLang="en-US" sz="1400" kern="0" dirty="0" err="1">
                <a:solidFill>
                  <a:srgbClr val="FF0000"/>
                </a:solidFill>
                <a:latin typeface="+mn-ea"/>
              </a:rPr>
              <a:t>거절결정</a:t>
            </a:r>
            <a:endParaRPr lang="en-US" altLang="ko-KR" sz="1400" kern="0" dirty="0">
              <a:solidFill>
                <a:srgbClr val="FF0000"/>
              </a:solidFill>
              <a:latin typeface="+mn-ea"/>
            </a:endParaRPr>
          </a:p>
          <a:p>
            <a:pPr fontAlgn="base"/>
            <a:r>
              <a:rPr lang="ko-KR" altLang="en-US" sz="1400" kern="0" dirty="0">
                <a:solidFill>
                  <a:srgbClr val="FF0000"/>
                </a:solidFill>
                <a:latin typeface="+mn-ea"/>
              </a:rPr>
              <a:t>❶❸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endParaRPr lang="en-US" altLang="ko-KR" sz="1400" kern="0" dirty="0">
              <a:solidFill>
                <a:srgbClr val="FF0000"/>
              </a:solidFill>
              <a:latin typeface="+mn-ea"/>
            </a:endParaRPr>
          </a:p>
          <a:p>
            <a:pPr fontAlgn="base"/>
            <a:r>
              <a:rPr lang="ko-KR" altLang="en-US" sz="1400" kern="0" dirty="0">
                <a:solidFill>
                  <a:srgbClr val="FF0000"/>
                </a:solidFill>
                <a:latin typeface="+mn-ea"/>
              </a:rPr>
              <a:t>❶❷ 발견</a:t>
            </a:r>
            <a:r>
              <a:rPr lang="en-US" altLang="ko-KR" sz="1400" kern="0" dirty="0">
                <a:solidFill>
                  <a:srgbClr val="FF0000"/>
                </a:solidFill>
                <a:latin typeface="+mn-ea"/>
              </a:rPr>
              <a:t>: </a:t>
            </a:r>
            <a:r>
              <a:rPr lang="ko-KR" altLang="en-US" sz="1400" kern="0" dirty="0" err="1">
                <a:solidFill>
                  <a:srgbClr val="FF0000"/>
                </a:solidFill>
                <a:latin typeface="+mn-ea"/>
              </a:rPr>
              <a:t>거절결정</a:t>
            </a:r>
            <a:endParaRPr lang="en-US" altLang="ko-KR" sz="1400" kern="0" dirty="0">
              <a:solidFill>
                <a:srgbClr val="FF0000"/>
              </a:solidFill>
              <a:latin typeface="+mn-ea"/>
            </a:endParaRPr>
          </a:p>
          <a:p>
            <a:pPr fontAlgn="base"/>
            <a:r>
              <a:rPr lang="ko-KR" altLang="en-US" sz="1400" kern="0" dirty="0">
                <a:solidFill>
                  <a:srgbClr val="FF0000"/>
                </a:solidFill>
                <a:latin typeface="+mn-ea"/>
              </a:rPr>
              <a:t>❷❸ 발견</a:t>
            </a:r>
            <a:r>
              <a:rPr lang="en-US" altLang="ko-KR" sz="1400" kern="0" dirty="0">
                <a:solidFill>
                  <a:srgbClr val="FF0000"/>
                </a:solidFill>
                <a:latin typeface="+mn-ea"/>
              </a:rPr>
              <a:t>: </a:t>
            </a:r>
            <a:r>
              <a:rPr lang="ko-KR" altLang="en-US" sz="1400" kern="0" dirty="0" err="1">
                <a:solidFill>
                  <a:srgbClr val="FF0000"/>
                </a:solidFill>
                <a:latin typeface="+mn-ea"/>
              </a:rPr>
              <a:t>거절결정</a:t>
            </a:r>
            <a:endParaRPr lang="ko-KR" altLang="en-US" sz="1400" kern="0" dirty="0">
              <a:solidFill>
                <a:srgbClr val="FF0000"/>
              </a:solidFill>
              <a:latin typeface="+mn-ea"/>
            </a:endParaRPr>
          </a:p>
        </p:txBody>
      </p:sp>
      <p:sp>
        <p:nvSpPr>
          <p:cNvPr id="71" name="TextBox 70"/>
          <p:cNvSpPr txBox="1"/>
          <p:nvPr/>
        </p:nvSpPr>
        <p:spPr>
          <a:xfrm>
            <a:off x="8313828" y="3818692"/>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1. </a:t>
            </a:r>
            <a:r>
              <a:rPr lang="ko-KR" altLang="en-US" sz="1100" dirty="0"/>
              <a:t>원거절이유의 </a:t>
            </a:r>
            <a:r>
              <a:rPr lang="ko-KR" altLang="en-US" sz="1100" dirty="0" err="1"/>
              <a:t>해소여부</a:t>
            </a:r>
            <a:r>
              <a:rPr lang="en-US" altLang="ko-KR" sz="1100" dirty="0"/>
              <a:t>(</a:t>
            </a:r>
            <a:r>
              <a:rPr lang="ko-KR" altLang="en-US" sz="1100" dirty="0"/>
              <a:t>❷</a:t>
            </a:r>
            <a:r>
              <a:rPr lang="en-US" altLang="ko-KR" sz="1100" dirty="0"/>
              <a:t>)</a:t>
            </a:r>
            <a:endParaRPr lang="ko-KR" altLang="en-US" dirty="0"/>
          </a:p>
        </p:txBody>
      </p:sp>
      <p:sp>
        <p:nvSpPr>
          <p:cNvPr id="72" name="TextBox 71"/>
          <p:cNvSpPr txBox="1"/>
          <p:nvPr/>
        </p:nvSpPr>
        <p:spPr>
          <a:xfrm>
            <a:off x="8313828" y="4105703"/>
            <a:ext cx="2390207"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2. </a:t>
            </a:r>
            <a:r>
              <a:rPr lang="ko-KR" altLang="en-US" sz="1100" dirty="0"/>
              <a:t>새로운 </a:t>
            </a:r>
            <a:r>
              <a:rPr lang="ko-KR" altLang="en-US" sz="1100" dirty="0" err="1"/>
              <a:t>거절이유의</a:t>
            </a:r>
            <a:r>
              <a:rPr lang="ko-KR" altLang="en-US" sz="1100" dirty="0"/>
              <a:t> </a:t>
            </a:r>
            <a:r>
              <a:rPr lang="ko-KR" altLang="en-US" sz="1100" dirty="0" err="1"/>
              <a:t>발견여부</a:t>
            </a:r>
            <a:r>
              <a:rPr lang="en-US" altLang="ko-KR" sz="1100" dirty="0"/>
              <a:t>(</a:t>
            </a:r>
            <a:r>
              <a:rPr lang="ko-KR" altLang="en-US" sz="1100" dirty="0"/>
              <a:t>❶❸</a:t>
            </a:r>
            <a:r>
              <a:rPr lang="en-US" altLang="ko-KR" sz="1100" dirty="0"/>
              <a:t>)</a:t>
            </a:r>
            <a:endParaRPr lang="ko-KR" altLang="en-US" sz="1100" dirty="0"/>
          </a:p>
        </p:txBody>
      </p:sp>
      <p:sp>
        <p:nvSpPr>
          <p:cNvPr id="73" name="TextBox 72"/>
          <p:cNvSpPr txBox="1"/>
          <p:nvPr/>
        </p:nvSpPr>
        <p:spPr>
          <a:xfrm>
            <a:off x="8313829" y="4404029"/>
            <a:ext cx="2397889"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3. </a:t>
            </a:r>
            <a:r>
              <a:rPr lang="ko-KR" altLang="en-US" sz="1100" dirty="0"/>
              <a:t>새로운 거절이유의 발생시점</a:t>
            </a:r>
          </a:p>
        </p:txBody>
      </p:sp>
      <p:sp>
        <p:nvSpPr>
          <p:cNvPr id="76" name="TextBox 75"/>
          <p:cNvSpPr txBox="1"/>
          <p:nvPr/>
        </p:nvSpPr>
        <p:spPr>
          <a:xfrm>
            <a:off x="8313828" y="3523445"/>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0. </a:t>
            </a:r>
            <a:r>
              <a:rPr lang="ko-KR" altLang="en-US" sz="1100" dirty="0"/>
              <a:t>보정의 적법성</a:t>
            </a:r>
            <a:r>
              <a:rPr lang="en-US" altLang="ko-KR" sz="1100" dirty="0"/>
              <a:t>(❹)</a:t>
            </a:r>
            <a:endParaRPr lang="ko-KR" altLang="en-US" sz="1100" dirty="0"/>
          </a:p>
        </p:txBody>
      </p:sp>
      <p:sp>
        <p:nvSpPr>
          <p:cNvPr id="5" name="슬라이드 번호 개체 틀 4"/>
          <p:cNvSpPr>
            <a:spLocks noGrp="1"/>
          </p:cNvSpPr>
          <p:nvPr>
            <p:ph type="sldNum" sz="quarter" idx="12"/>
          </p:nvPr>
        </p:nvSpPr>
        <p:spPr/>
        <p:txBody>
          <a:bodyPr/>
          <a:lstStyle/>
          <a:p>
            <a:r>
              <a:rPr lang="en-US" altLang="ko-KR"/>
              <a:t>176</a:t>
            </a:r>
            <a:endParaRPr lang="ko-KR" altLang="en-US"/>
          </a:p>
        </p:txBody>
      </p:sp>
    </p:spTree>
    <p:extLst>
      <p:ext uri="{BB962C8B-B14F-4D97-AF65-F5344CB8AC3E}">
        <p14:creationId xmlns:p14="http://schemas.microsoft.com/office/powerpoint/2010/main" val="1323891589"/>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solidFill>
                  <a:srgbClr val="525252"/>
                </a:solidFill>
              </a:rPr>
              <a:t>보정에 따라 발생한 새로운 거절이유의 </a:t>
            </a:r>
            <a:r>
              <a:rPr lang="en-US" altLang="ko-KR" dirty="0">
                <a:solidFill>
                  <a:srgbClr val="525252"/>
                </a:solidFill>
              </a:rPr>
              <a:t>CASE</a:t>
            </a:r>
            <a:endParaRPr lang="ko-KR" altLang="en-US" dirty="0">
              <a:solidFill>
                <a:srgbClr val="525252"/>
              </a:solidFill>
            </a:endParaRPr>
          </a:p>
        </p:txBody>
      </p:sp>
      <p:sp>
        <p:nvSpPr>
          <p:cNvPr id="5" name="슬라이드 번호 개체 틀 4"/>
          <p:cNvSpPr>
            <a:spLocks noGrp="1"/>
          </p:cNvSpPr>
          <p:nvPr>
            <p:ph type="sldNum" sz="quarter" idx="4294967295"/>
          </p:nvPr>
        </p:nvSpPr>
        <p:spPr>
          <a:xfrm>
            <a:off x="11144250" y="3175"/>
            <a:ext cx="1047750" cy="714375"/>
          </a:xfrm>
        </p:spPr>
        <p:txBody>
          <a:bodyPr/>
          <a:lstStyle/>
          <a:p>
            <a:r>
              <a:rPr lang="en-US" altLang="ko-KR"/>
              <a:t>177</a:t>
            </a:r>
            <a:endParaRPr lang="ko-KR" altLang="en-US"/>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42" name="TextBox 41">
            <a:extLst>
              <a:ext uri="{FF2B5EF4-FFF2-40B4-BE49-F238E27FC236}">
                <a16:creationId xmlns:a16="http://schemas.microsoft.com/office/drawing/2014/main" id="{CC008379-E292-4BEB-8714-A1019DC5B169}"/>
              </a:ext>
            </a:extLst>
          </p:cNvPr>
          <p:cNvSpPr txBox="1"/>
          <p:nvPr/>
        </p:nvSpPr>
        <p:spPr>
          <a:xfrm>
            <a:off x="77875" y="1341693"/>
            <a:ext cx="11936323" cy="3323987"/>
          </a:xfrm>
          <a:prstGeom prst="rect">
            <a:avLst/>
          </a:prstGeom>
          <a:noFill/>
        </p:spPr>
        <p:txBody>
          <a:bodyPr wrap="square" rtlCol="0">
            <a:spAutoFit/>
          </a:bodyPr>
          <a:lstStyle/>
          <a:p>
            <a:pPr fontAlgn="base"/>
            <a:r>
              <a:rPr lang="en-US" altLang="ko-KR" sz="1400" b="1" dirty="0"/>
              <a:t>[1] </a:t>
            </a:r>
            <a:r>
              <a:rPr lang="en-US" altLang="ko-KR" sz="1400" dirty="0"/>
              <a:t>2009. 1. 30. </a:t>
            </a:r>
            <a:r>
              <a:rPr lang="ko-KR" altLang="en-US" sz="1400" dirty="0"/>
              <a:t>법률 제</a:t>
            </a:r>
            <a:r>
              <a:rPr lang="en-US" altLang="ko-KR" sz="1400" dirty="0"/>
              <a:t>9381</a:t>
            </a:r>
            <a:r>
              <a:rPr lang="ko-KR" altLang="en-US" sz="1400" dirty="0"/>
              <a:t>호로 개정된 특허법 부칙 제</a:t>
            </a:r>
            <a:r>
              <a:rPr lang="en-US" altLang="ko-KR" sz="1400" dirty="0"/>
              <a:t>3</a:t>
            </a:r>
            <a:r>
              <a:rPr lang="ko-KR" altLang="en-US" sz="1400" dirty="0"/>
              <a:t>조와 그 개정 전의 구 특허법 제</a:t>
            </a:r>
            <a:r>
              <a:rPr lang="en-US" altLang="ko-KR" sz="1400" dirty="0"/>
              <a:t>174</a:t>
            </a:r>
            <a:r>
              <a:rPr lang="ko-KR" altLang="en-US" sz="1400" dirty="0"/>
              <a:t>조에 의하여 구 특허법 제</a:t>
            </a:r>
            <a:r>
              <a:rPr lang="en-US" altLang="ko-KR" sz="1400" dirty="0"/>
              <a:t>173</a:t>
            </a:r>
            <a:r>
              <a:rPr lang="ko-KR" altLang="en-US" sz="1400" dirty="0"/>
              <a:t>조의 심사전치절차에서의 심사에 준용되는 특허법 제</a:t>
            </a:r>
            <a:r>
              <a:rPr lang="en-US" altLang="ko-KR" sz="1400" dirty="0"/>
              <a:t>51</a:t>
            </a:r>
            <a:r>
              <a:rPr lang="ko-KR" altLang="en-US" sz="1400" dirty="0"/>
              <a:t>조 제</a:t>
            </a:r>
            <a:r>
              <a:rPr lang="en-US" altLang="ko-KR" sz="1400" dirty="0"/>
              <a:t>1</a:t>
            </a:r>
            <a:r>
              <a:rPr lang="ko-KR" altLang="en-US" sz="1400" dirty="0"/>
              <a:t>항에 의하면</a:t>
            </a:r>
            <a:r>
              <a:rPr lang="en-US" altLang="ko-KR" sz="1400" dirty="0"/>
              <a:t>, </a:t>
            </a:r>
            <a:r>
              <a:rPr lang="ko-KR" altLang="en-US" sz="1400" dirty="0"/>
              <a:t>심사관은 심사전치보정에 따라 새로운 거절이유가 발생한 것으로 인정하면 결정으로 그 보정을 각하하여야 한다</a:t>
            </a:r>
            <a:r>
              <a:rPr lang="en-US" altLang="ko-KR" sz="1400" dirty="0"/>
              <a:t>. </a:t>
            </a:r>
            <a:r>
              <a:rPr lang="ko-KR" altLang="en-US" sz="1400" dirty="0"/>
              <a:t>위 규정에서 ‘새로운 거절이유가 발생한 </a:t>
            </a:r>
            <a:r>
              <a:rPr lang="ko-KR" altLang="en-US" sz="1400" dirty="0" err="1"/>
              <a:t>것’이란</a:t>
            </a:r>
            <a:r>
              <a:rPr lang="ko-KR" altLang="en-US" sz="1400" dirty="0"/>
              <a:t> 해당 보정으로 인하여 이전에 없던 거절이유가 새롭게 발생한 경우를 의미하는 것으로서</a:t>
            </a:r>
            <a:r>
              <a:rPr lang="en-US" altLang="ko-KR" sz="1400" dirty="0"/>
              <a:t>, </a:t>
            </a:r>
            <a:r>
              <a:rPr lang="ko-KR" altLang="en-US" sz="1400" dirty="0"/>
              <a:t>이러한 경우에 그 보정을 각하하도록 한 취지는 이미 거절이유가 출원인에게 통지되어 그에 대한 의견제출 및 보정의 기회가 충분히 부여되었음에도 그 보정으로 인하여 거절이유가 새롭게 발생하여 그에 대한 </a:t>
            </a:r>
            <a:r>
              <a:rPr lang="ko-KR" altLang="en-US" sz="1400" dirty="0" err="1"/>
              <a:t>거절이유통지와</a:t>
            </a:r>
            <a:r>
              <a:rPr lang="ko-KR" altLang="en-US" sz="1400" dirty="0"/>
              <a:t> 또 다른 보정이 반복되는 것을 배제함으로써 심사절차의 신속한 진행을 도모하는 데에 있다고 할 것이다</a:t>
            </a:r>
            <a:r>
              <a:rPr lang="en-US" altLang="ko-KR" sz="1400" dirty="0"/>
              <a:t>. </a:t>
            </a:r>
            <a:r>
              <a:rPr lang="ko-KR" altLang="en-US" sz="1400" dirty="0"/>
              <a:t>이러한 취지에 비추어 보면</a:t>
            </a:r>
            <a:r>
              <a:rPr lang="en-US" altLang="ko-KR" sz="1400" dirty="0"/>
              <a:t>, </a:t>
            </a:r>
            <a:r>
              <a:rPr lang="ko-KR" altLang="en-US" sz="1400" dirty="0">
                <a:highlight>
                  <a:srgbClr val="FFFF00"/>
                </a:highlight>
              </a:rPr>
              <a:t>심사관이 ‘발명이 명확하고 간결하게 기재되지 아니하여 특허법 제</a:t>
            </a:r>
            <a:r>
              <a:rPr lang="en-US" altLang="ko-KR" sz="1400" dirty="0">
                <a:highlight>
                  <a:srgbClr val="FFFF00"/>
                </a:highlight>
              </a:rPr>
              <a:t>42</a:t>
            </a:r>
            <a:r>
              <a:rPr lang="ko-KR" altLang="en-US" sz="1400" dirty="0">
                <a:highlight>
                  <a:srgbClr val="FFFF00"/>
                </a:highlight>
              </a:rPr>
              <a:t>조 제</a:t>
            </a:r>
            <a:r>
              <a:rPr lang="en-US" altLang="ko-KR" sz="1400" dirty="0">
                <a:highlight>
                  <a:srgbClr val="FFFF00"/>
                </a:highlight>
              </a:rPr>
              <a:t>4</a:t>
            </a:r>
            <a:r>
              <a:rPr lang="ko-KR" altLang="en-US" sz="1400" dirty="0">
                <a:highlight>
                  <a:srgbClr val="FFFF00"/>
                </a:highlight>
              </a:rPr>
              <a:t>항 제</a:t>
            </a:r>
            <a:r>
              <a:rPr lang="en-US" altLang="ko-KR" sz="1400" dirty="0">
                <a:highlight>
                  <a:srgbClr val="FFFF00"/>
                </a:highlight>
              </a:rPr>
              <a:t>2</a:t>
            </a:r>
            <a:r>
              <a:rPr lang="ko-KR" altLang="en-US" sz="1400" dirty="0">
                <a:highlight>
                  <a:srgbClr val="FFFF00"/>
                </a:highlight>
              </a:rPr>
              <a:t>호의 명세서 기재요건을 구비하지 못한 </a:t>
            </a:r>
            <a:r>
              <a:rPr lang="ko-KR" altLang="en-US" sz="1400" dirty="0" err="1">
                <a:highlight>
                  <a:srgbClr val="FFFF00"/>
                </a:highlight>
              </a:rPr>
              <a:t>기재불비가</a:t>
            </a:r>
            <a:r>
              <a:rPr lang="ko-KR" altLang="en-US" sz="1400" dirty="0">
                <a:highlight>
                  <a:srgbClr val="FFFF00"/>
                </a:highlight>
              </a:rPr>
              <a:t> 있다’는 거절이유를 통지함에 따라 이를 해소하기 위한 보정이 이루어졌는데</a:t>
            </a:r>
            <a:r>
              <a:rPr lang="en-US" altLang="ko-KR" sz="1400" dirty="0">
                <a:highlight>
                  <a:srgbClr val="FFFF00"/>
                </a:highlight>
              </a:rPr>
              <a:t>, </a:t>
            </a:r>
            <a:r>
              <a:rPr lang="ko-KR" altLang="en-US" sz="1400" dirty="0">
                <a:highlight>
                  <a:srgbClr val="FFFF00"/>
                </a:highlight>
              </a:rPr>
              <a:t>그 보정 이후 발명에 대한 심사 결과 신규성이나 진보성 부정의 거절이유가 발견된다고 하더라도</a:t>
            </a:r>
            <a:r>
              <a:rPr lang="en-US" altLang="ko-KR" sz="1400" dirty="0">
                <a:highlight>
                  <a:srgbClr val="FFFF00"/>
                </a:highlight>
              </a:rPr>
              <a:t>, </a:t>
            </a:r>
            <a:r>
              <a:rPr lang="ko-KR" altLang="en-US" sz="1400" dirty="0">
                <a:highlight>
                  <a:srgbClr val="FFFF00"/>
                </a:highlight>
              </a:rPr>
              <a:t>그러한 거절이유는 보정으로 청구항이 신설되거나 실질적으로 신설에 준하는 정도로 변경됨에 따라 비로소 발생한 경우와 같은 특별한 사정이 없는 한 보정으로 인하여 새롭게 발생한 것이라고 할 수 없으므로</a:t>
            </a:r>
            <a:r>
              <a:rPr lang="en-US" altLang="ko-KR" sz="1400" dirty="0">
                <a:highlight>
                  <a:srgbClr val="FFFF00"/>
                </a:highlight>
              </a:rPr>
              <a:t>, </a:t>
            </a:r>
            <a:r>
              <a:rPr lang="ko-KR" altLang="en-US" sz="1400" dirty="0">
                <a:highlight>
                  <a:srgbClr val="FFFF00"/>
                </a:highlight>
              </a:rPr>
              <a:t>심사관으로서는 그 보정에 대한 각하결정을 하여서는 아니 되고</a:t>
            </a:r>
            <a:r>
              <a:rPr lang="en-US" altLang="ko-KR" sz="1400" dirty="0">
                <a:highlight>
                  <a:srgbClr val="FFFF00"/>
                </a:highlight>
              </a:rPr>
              <a:t>, </a:t>
            </a:r>
            <a:r>
              <a:rPr lang="ko-KR" altLang="en-US" sz="1400" dirty="0">
                <a:highlight>
                  <a:srgbClr val="FFFF00"/>
                </a:highlight>
              </a:rPr>
              <a:t>위와 같은 신규성이나 진보성 부정의 거절이유를 출원인에게 통지하여 의견제출 및 보정의 기회를 부여하여야 한다</a:t>
            </a:r>
            <a:r>
              <a:rPr lang="en-US" altLang="ko-KR" sz="1400" dirty="0">
                <a:highlight>
                  <a:srgbClr val="FFFF00"/>
                </a:highlight>
              </a:rPr>
              <a:t>. </a:t>
            </a:r>
          </a:p>
          <a:p>
            <a:pPr fontAlgn="base"/>
            <a:r>
              <a:rPr lang="en-US" altLang="ko-KR" sz="1400" b="1" dirty="0">
                <a:highlight>
                  <a:srgbClr val="FFFF00"/>
                </a:highlight>
              </a:rPr>
              <a:t>[2] </a:t>
            </a:r>
            <a:r>
              <a:rPr lang="ko-KR" altLang="en-US" sz="1400" dirty="0" err="1">
                <a:highlight>
                  <a:srgbClr val="FFFF00"/>
                </a:highlight>
              </a:rPr>
              <a:t>특허거절결정에</a:t>
            </a:r>
            <a:r>
              <a:rPr lang="ko-KR" altLang="en-US" sz="1400" dirty="0">
                <a:highlight>
                  <a:srgbClr val="FFFF00"/>
                </a:highlight>
              </a:rPr>
              <a:t> 대한 불복심판청구를 기각한 </a:t>
            </a:r>
            <a:r>
              <a:rPr lang="ko-KR" altLang="en-US" sz="1400" dirty="0" err="1">
                <a:highlight>
                  <a:srgbClr val="FFFF00"/>
                </a:highlight>
              </a:rPr>
              <a:t>심결의</a:t>
            </a:r>
            <a:r>
              <a:rPr lang="ko-KR" altLang="en-US" sz="1400" dirty="0">
                <a:highlight>
                  <a:srgbClr val="FFFF00"/>
                </a:highlight>
              </a:rPr>
              <a:t> 취소소송에서 법원은 </a:t>
            </a:r>
            <a:r>
              <a:rPr lang="ko-KR" altLang="en-US" sz="1400" dirty="0" err="1">
                <a:highlight>
                  <a:srgbClr val="FFFF00"/>
                </a:highlight>
              </a:rPr>
              <a:t>특허거절결정을</a:t>
            </a:r>
            <a:r>
              <a:rPr lang="ko-KR" altLang="en-US" sz="1400" dirty="0">
                <a:highlight>
                  <a:srgbClr val="FFFF00"/>
                </a:highlight>
              </a:rPr>
              <a:t> 유지한 </a:t>
            </a:r>
            <a:r>
              <a:rPr lang="ko-KR" altLang="en-US" sz="1400" dirty="0" err="1">
                <a:highlight>
                  <a:srgbClr val="FFFF00"/>
                </a:highlight>
              </a:rPr>
              <a:t>심결의</a:t>
            </a:r>
            <a:r>
              <a:rPr lang="ko-KR" altLang="en-US" sz="1400" dirty="0">
                <a:highlight>
                  <a:srgbClr val="FFFF00"/>
                </a:highlight>
              </a:rPr>
              <a:t> 위법성 여부를 판단하는 것일 뿐 특허출원에 대하여 직접 특허결정 또는 </a:t>
            </a:r>
            <a:r>
              <a:rPr lang="ko-KR" altLang="en-US" sz="1400" dirty="0" err="1">
                <a:highlight>
                  <a:srgbClr val="FFFF00"/>
                </a:highlight>
              </a:rPr>
              <a:t>특허거절결정을</a:t>
            </a:r>
            <a:r>
              <a:rPr lang="ko-KR" altLang="en-US" sz="1400" dirty="0">
                <a:highlight>
                  <a:srgbClr val="FFFF00"/>
                </a:highlight>
              </a:rPr>
              <a:t> 하는 것은 아니다</a:t>
            </a:r>
            <a:r>
              <a:rPr lang="en-US" altLang="ko-KR" sz="1400" dirty="0">
                <a:highlight>
                  <a:srgbClr val="FFFF00"/>
                </a:highlight>
              </a:rPr>
              <a:t>. </a:t>
            </a:r>
            <a:r>
              <a:rPr lang="ko-KR" altLang="en-US" sz="1400" dirty="0"/>
              <a:t>따라서 심사관이 특허출원의 보정에 대한 각하결정을 한 후 ‘보정 전의 </a:t>
            </a:r>
            <a:r>
              <a:rPr lang="ko-KR" altLang="en-US" sz="1400" dirty="0" err="1"/>
              <a:t>특허출원’에</a:t>
            </a:r>
            <a:r>
              <a:rPr lang="ko-KR" altLang="en-US" sz="1400" dirty="0"/>
              <a:t> 대하여 거절결정을 하였고</a:t>
            </a:r>
            <a:r>
              <a:rPr lang="en-US" altLang="ko-KR" sz="1400" dirty="0"/>
              <a:t>, </a:t>
            </a:r>
            <a:r>
              <a:rPr lang="ko-KR" altLang="en-US" sz="1400" dirty="0"/>
              <a:t>그에 대한 불복심판 절차에서 위 </a:t>
            </a:r>
            <a:r>
              <a:rPr lang="ko-KR" altLang="en-US" sz="1400" dirty="0" err="1"/>
              <a:t>보정각하결정</a:t>
            </a:r>
            <a:r>
              <a:rPr lang="ko-KR" altLang="en-US" sz="1400" dirty="0"/>
              <a:t> 및 거절결정이 적법하다는 이유로 심판청구를 기각하는 특허심판원의 </a:t>
            </a:r>
            <a:r>
              <a:rPr lang="ko-KR" altLang="en-US" sz="1400" dirty="0" err="1"/>
              <a:t>심결이</a:t>
            </a:r>
            <a:r>
              <a:rPr lang="ko-KR" altLang="en-US" sz="1400" dirty="0"/>
              <a:t> 있었던 경우</a:t>
            </a:r>
            <a:r>
              <a:rPr lang="en-US" altLang="ko-KR" sz="1400" dirty="0"/>
              <a:t>, </a:t>
            </a:r>
            <a:r>
              <a:rPr lang="ko-KR" altLang="en-US" sz="1400" dirty="0">
                <a:highlight>
                  <a:srgbClr val="FFFF00"/>
                </a:highlight>
              </a:rPr>
              <a:t>그 </a:t>
            </a:r>
            <a:r>
              <a:rPr lang="ko-KR" altLang="en-US" sz="1400" dirty="0" err="1">
                <a:highlight>
                  <a:srgbClr val="FFFF00"/>
                </a:highlight>
              </a:rPr>
              <a:t>심결취소소송에서</a:t>
            </a:r>
            <a:r>
              <a:rPr lang="ko-KR" altLang="en-US" sz="1400" dirty="0">
                <a:highlight>
                  <a:srgbClr val="FFFF00"/>
                </a:highlight>
              </a:rPr>
              <a:t> 법원은 위 </a:t>
            </a:r>
            <a:r>
              <a:rPr lang="ko-KR" altLang="en-US" sz="1400" dirty="0" err="1">
                <a:highlight>
                  <a:srgbClr val="FFFF00"/>
                </a:highlight>
              </a:rPr>
              <a:t>보정각하결정이</a:t>
            </a:r>
            <a:r>
              <a:rPr lang="ko-KR" altLang="en-US" sz="1400" dirty="0">
                <a:highlight>
                  <a:srgbClr val="FFFF00"/>
                </a:highlight>
              </a:rPr>
              <a:t> </a:t>
            </a:r>
            <a:r>
              <a:rPr lang="ko-KR" altLang="en-US" sz="1400" dirty="0" err="1">
                <a:highlight>
                  <a:srgbClr val="FFFF00"/>
                </a:highlight>
              </a:rPr>
              <a:t>위법하다면</a:t>
            </a:r>
            <a:r>
              <a:rPr lang="ko-KR" altLang="en-US" sz="1400" dirty="0">
                <a:highlight>
                  <a:srgbClr val="FFFF00"/>
                </a:highlight>
              </a:rPr>
              <a:t> </a:t>
            </a:r>
            <a:r>
              <a:rPr lang="ko-KR" altLang="en-US" sz="1400" dirty="0" err="1">
                <a:highlight>
                  <a:srgbClr val="FFFF00"/>
                </a:highlight>
              </a:rPr>
              <a:t>그것만을</a:t>
            </a:r>
            <a:r>
              <a:rPr lang="ko-KR" altLang="en-US" sz="1400" dirty="0">
                <a:highlight>
                  <a:srgbClr val="FFFF00"/>
                </a:highlight>
              </a:rPr>
              <a:t> 이유로 곧바로 </a:t>
            </a:r>
            <a:r>
              <a:rPr lang="ko-KR" altLang="en-US" sz="1400" dirty="0" err="1">
                <a:highlight>
                  <a:srgbClr val="FFFF00"/>
                </a:highlight>
              </a:rPr>
              <a:t>심결을</a:t>
            </a:r>
            <a:r>
              <a:rPr lang="ko-KR" altLang="en-US" sz="1400" dirty="0">
                <a:highlight>
                  <a:srgbClr val="FFFF00"/>
                </a:highlight>
              </a:rPr>
              <a:t> 취소</a:t>
            </a:r>
            <a:r>
              <a:rPr lang="ko-KR" altLang="en-US" sz="1400" dirty="0"/>
              <a:t>하여야 하는 것이지</a:t>
            </a:r>
            <a:r>
              <a:rPr lang="en-US" altLang="ko-KR" sz="1400" dirty="0"/>
              <a:t>, </a:t>
            </a:r>
            <a:r>
              <a:rPr lang="ko-KR" altLang="en-US" sz="1400" dirty="0"/>
              <a:t>심사관 또는 특허심판원이 하지도 아니한 ‘보정 이후의 </a:t>
            </a:r>
            <a:r>
              <a:rPr lang="ko-KR" altLang="en-US" sz="1400" dirty="0" err="1"/>
              <a:t>특허출원’에</a:t>
            </a:r>
            <a:r>
              <a:rPr lang="ko-KR" altLang="en-US" sz="1400" dirty="0"/>
              <a:t> 대한 거절결정의 위법성 여부까지 스스로 심리하여 이 역시 위법한 경우에만 </a:t>
            </a:r>
            <a:r>
              <a:rPr lang="ko-KR" altLang="en-US" sz="1400" dirty="0" err="1"/>
              <a:t>심결을</a:t>
            </a:r>
            <a:r>
              <a:rPr lang="ko-KR" altLang="en-US" sz="1400" dirty="0"/>
              <a:t> 취소할 것은 아니다</a:t>
            </a:r>
            <a:r>
              <a:rPr lang="en-US" altLang="ko-KR" sz="1400" dirty="0"/>
              <a:t>.</a:t>
            </a:r>
            <a:endParaRPr lang="ko-KR" altLang="en-US" sz="1400" dirty="0"/>
          </a:p>
        </p:txBody>
      </p:sp>
      <p:sp>
        <p:nvSpPr>
          <p:cNvPr id="43" name="Line 5">
            <a:extLst>
              <a:ext uri="{FF2B5EF4-FFF2-40B4-BE49-F238E27FC236}">
                <a16:creationId xmlns:a16="http://schemas.microsoft.com/office/drawing/2014/main" id="{DA48233C-02D6-440C-9540-EF8093BA6653}"/>
              </a:ext>
            </a:extLst>
          </p:cNvPr>
          <p:cNvSpPr>
            <a:spLocks noChangeShapeType="1"/>
          </p:cNvSpPr>
          <p:nvPr/>
        </p:nvSpPr>
        <p:spPr bwMode="auto">
          <a:xfrm>
            <a:off x="607658" y="5174531"/>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4" name="TextBox 43">
            <a:extLst>
              <a:ext uri="{FF2B5EF4-FFF2-40B4-BE49-F238E27FC236}">
                <a16:creationId xmlns:a16="http://schemas.microsoft.com/office/drawing/2014/main" id="{BBDA7A5D-C679-44B7-AE17-A42DDE44AFC6}"/>
              </a:ext>
            </a:extLst>
          </p:cNvPr>
          <p:cNvSpPr txBox="1"/>
          <p:nvPr/>
        </p:nvSpPr>
        <p:spPr>
          <a:xfrm>
            <a:off x="245888" y="5430706"/>
            <a:ext cx="114732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특허출원</a:t>
            </a:r>
          </a:p>
        </p:txBody>
      </p:sp>
      <p:sp>
        <p:nvSpPr>
          <p:cNvPr id="45" name="타원 44">
            <a:extLst>
              <a:ext uri="{FF2B5EF4-FFF2-40B4-BE49-F238E27FC236}">
                <a16:creationId xmlns:a16="http://schemas.microsoft.com/office/drawing/2014/main" id="{B18F9E8E-0B8A-434C-8C2D-C5AFF8150927}"/>
              </a:ext>
            </a:extLst>
          </p:cNvPr>
          <p:cNvSpPr/>
          <p:nvPr/>
        </p:nvSpPr>
        <p:spPr>
          <a:xfrm>
            <a:off x="748977" y="5087682"/>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6" name="직선 연결선 45">
            <a:extLst>
              <a:ext uri="{FF2B5EF4-FFF2-40B4-BE49-F238E27FC236}">
                <a16:creationId xmlns:a16="http://schemas.microsoft.com/office/drawing/2014/main" id="{99696AEE-669E-4DC3-BB10-CD96676BA191}"/>
              </a:ext>
            </a:extLst>
          </p:cNvPr>
          <p:cNvCxnSpPr>
            <a:cxnSpLocks/>
            <a:stCxn id="44" idx="0"/>
            <a:endCxn id="45" idx="4"/>
          </p:cNvCxnSpPr>
          <p:nvPr/>
        </p:nvCxnSpPr>
        <p:spPr>
          <a:xfrm flipH="1" flipV="1">
            <a:off x="819551" y="5234850"/>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2" name="사각형: 둥근 모서리 51">
            <a:extLst>
              <a:ext uri="{FF2B5EF4-FFF2-40B4-BE49-F238E27FC236}">
                <a16:creationId xmlns:a16="http://schemas.microsoft.com/office/drawing/2014/main" id="{35183F3B-F554-4BD0-97F3-9D013B236D87}"/>
              </a:ext>
            </a:extLst>
          </p:cNvPr>
          <p:cNvSpPr/>
          <p:nvPr/>
        </p:nvSpPr>
        <p:spPr>
          <a:xfrm>
            <a:off x="113937" y="964867"/>
            <a:ext cx="5318734" cy="346234"/>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r>
              <a:rPr lang="ko-KR" altLang="en-US" sz="1600" dirty="0"/>
              <a:t>대법원 </a:t>
            </a:r>
            <a:r>
              <a:rPr lang="en-US" altLang="ko-KR" sz="1600" dirty="0"/>
              <a:t>2014. 7. 10. </a:t>
            </a:r>
            <a:r>
              <a:rPr lang="ko-KR" altLang="en-US" sz="1600" dirty="0"/>
              <a:t>선고 </a:t>
            </a:r>
            <a:r>
              <a:rPr lang="en-US" altLang="ko-KR" sz="1600" dirty="0"/>
              <a:t>2012</a:t>
            </a:r>
            <a:r>
              <a:rPr lang="ko-KR" altLang="en-US" sz="1600" dirty="0"/>
              <a:t>후</a:t>
            </a:r>
            <a:r>
              <a:rPr lang="en-US" altLang="ko-KR" sz="1600" dirty="0"/>
              <a:t>3121 </a:t>
            </a:r>
            <a:r>
              <a:rPr lang="ko-KR" altLang="en-US" sz="1600" dirty="0"/>
              <a:t>판결 </a:t>
            </a:r>
            <a:r>
              <a:rPr lang="en-US" altLang="ko-KR" sz="1600" dirty="0"/>
              <a:t>【</a:t>
            </a:r>
            <a:r>
              <a:rPr lang="ko-KR" altLang="en-US" sz="1600" dirty="0"/>
              <a:t>거절결정</a:t>
            </a:r>
            <a:r>
              <a:rPr lang="en-US" altLang="ko-KR" sz="1600" dirty="0"/>
              <a:t>(</a:t>
            </a:r>
            <a:r>
              <a:rPr lang="ko-KR" altLang="en-US" sz="1600" dirty="0" err="1"/>
              <a:t>특</a:t>
            </a:r>
            <a:r>
              <a:rPr lang="en-US" altLang="ko-KR" sz="1600" dirty="0"/>
              <a:t>)】</a:t>
            </a:r>
            <a:endParaRPr lang="ko-KR" altLang="en-US" sz="1600" dirty="0"/>
          </a:p>
        </p:txBody>
      </p:sp>
      <p:cxnSp>
        <p:nvCxnSpPr>
          <p:cNvPr id="57" name="직선 연결선 56">
            <a:extLst>
              <a:ext uri="{FF2B5EF4-FFF2-40B4-BE49-F238E27FC236}">
                <a16:creationId xmlns:a16="http://schemas.microsoft.com/office/drawing/2014/main" id="{43CD101A-6725-470F-A40A-2794DA0A5429}"/>
              </a:ext>
            </a:extLst>
          </p:cNvPr>
          <p:cNvCxnSpPr/>
          <p:nvPr/>
        </p:nvCxnSpPr>
        <p:spPr>
          <a:xfrm>
            <a:off x="0" y="4678822"/>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979A85C2-527E-4BBD-948B-25CE4489598E}"/>
              </a:ext>
            </a:extLst>
          </p:cNvPr>
          <p:cNvSpPr txBox="1"/>
          <p:nvPr/>
        </p:nvSpPr>
        <p:spPr>
          <a:xfrm>
            <a:off x="1589047" y="5430706"/>
            <a:ext cx="1147328"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최후 </a:t>
            </a:r>
            <a:r>
              <a:rPr lang="en-US" altLang="ko-KR" sz="1200" dirty="0">
                <a:solidFill>
                  <a:schemeClr val="tx1"/>
                </a:solidFill>
                <a:latin typeface="+mn-ea"/>
              </a:rPr>
              <a:t>OA</a:t>
            </a:r>
            <a:endParaRPr lang="ko-KR" altLang="en-US" sz="1200" dirty="0">
              <a:solidFill>
                <a:schemeClr val="tx1"/>
              </a:solidFill>
              <a:latin typeface="+mn-ea"/>
            </a:endParaRPr>
          </a:p>
        </p:txBody>
      </p:sp>
      <p:sp>
        <p:nvSpPr>
          <p:cNvPr id="74" name="타원 73">
            <a:extLst>
              <a:ext uri="{FF2B5EF4-FFF2-40B4-BE49-F238E27FC236}">
                <a16:creationId xmlns:a16="http://schemas.microsoft.com/office/drawing/2014/main" id="{33C8A62E-C601-4450-8E7C-4EC530D5F41C}"/>
              </a:ext>
            </a:extLst>
          </p:cNvPr>
          <p:cNvSpPr/>
          <p:nvPr/>
        </p:nvSpPr>
        <p:spPr>
          <a:xfrm>
            <a:off x="2092136" y="5087682"/>
            <a:ext cx="141148" cy="14716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8" name="직선 연결선 77">
            <a:extLst>
              <a:ext uri="{FF2B5EF4-FFF2-40B4-BE49-F238E27FC236}">
                <a16:creationId xmlns:a16="http://schemas.microsoft.com/office/drawing/2014/main" id="{0E2486E0-80CE-4356-9DCD-8490CEA0AA51}"/>
              </a:ext>
            </a:extLst>
          </p:cNvPr>
          <p:cNvCxnSpPr>
            <a:cxnSpLocks/>
            <a:stCxn id="68" idx="0"/>
            <a:endCxn id="74" idx="4"/>
          </p:cNvCxnSpPr>
          <p:nvPr/>
        </p:nvCxnSpPr>
        <p:spPr>
          <a:xfrm flipH="1" flipV="1">
            <a:off x="2162710" y="5234850"/>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72B4417C-F9E8-4A61-9E79-F3C98AB92B37}"/>
              </a:ext>
            </a:extLst>
          </p:cNvPr>
          <p:cNvSpPr txBox="1"/>
          <p:nvPr/>
        </p:nvSpPr>
        <p:spPr>
          <a:xfrm>
            <a:off x="1591897" y="5872013"/>
            <a:ext cx="1142768"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기재불비</a:t>
            </a:r>
            <a:endParaRPr lang="ko-KR" altLang="en-US" sz="1200" dirty="0">
              <a:solidFill>
                <a:schemeClr val="tx1"/>
              </a:solidFill>
              <a:latin typeface="+mn-ea"/>
            </a:endParaRPr>
          </a:p>
        </p:txBody>
      </p:sp>
      <p:cxnSp>
        <p:nvCxnSpPr>
          <p:cNvPr id="90" name="직선 연결선 89">
            <a:extLst>
              <a:ext uri="{FF2B5EF4-FFF2-40B4-BE49-F238E27FC236}">
                <a16:creationId xmlns:a16="http://schemas.microsoft.com/office/drawing/2014/main" id="{D4B7FC13-CFD1-4EBB-9A79-568218F67FCE}"/>
              </a:ext>
            </a:extLst>
          </p:cNvPr>
          <p:cNvCxnSpPr>
            <a:cxnSpLocks/>
            <a:stCxn id="89" idx="0"/>
            <a:endCxn id="68" idx="2"/>
          </p:cNvCxnSpPr>
          <p:nvPr/>
        </p:nvCxnSpPr>
        <p:spPr>
          <a:xfrm flipH="1" flipV="1">
            <a:off x="2162711" y="5707705"/>
            <a:ext cx="570" cy="16430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1" name="TextBox 90">
            <a:extLst>
              <a:ext uri="{FF2B5EF4-FFF2-40B4-BE49-F238E27FC236}">
                <a16:creationId xmlns:a16="http://schemas.microsoft.com/office/drawing/2014/main" id="{3CDC7E26-A913-4A23-907D-FA8D8A2D6D02}"/>
              </a:ext>
            </a:extLst>
          </p:cNvPr>
          <p:cNvSpPr txBox="1"/>
          <p:nvPr/>
        </p:nvSpPr>
        <p:spPr>
          <a:xfrm>
            <a:off x="3223244" y="5430706"/>
            <a:ext cx="114732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보정</a:t>
            </a:r>
          </a:p>
        </p:txBody>
      </p:sp>
      <p:sp>
        <p:nvSpPr>
          <p:cNvPr id="92" name="타원 91">
            <a:extLst>
              <a:ext uri="{FF2B5EF4-FFF2-40B4-BE49-F238E27FC236}">
                <a16:creationId xmlns:a16="http://schemas.microsoft.com/office/drawing/2014/main" id="{31AA8854-4C19-4E36-A8F3-DE9101F4F65A}"/>
              </a:ext>
            </a:extLst>
          </p:cNvPr>
          <p:cNvSpPr/>
          <p:nvPr/>
        </p:nvSpPr>
        <p:spPr>
          <a:xfrm>
            <a:off x="3726333" y="5087682"/>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3" name="직선 연결선 92">
            <a:extLst>
              <a:ext uri="{FF2B5EF4-FFF2-40B4-BE49-F238E27FC236}">
                <a16:creationId xmlns:a16="http://schemas.microsoft.com/office/drawing/2014/main" id="{AE1EAE1B-C0A4-4542-AD14-7DE10CE3FA60}"/>
              </a:ext>
            </a:extLst>
          </p:cNvPr>
          <p:cNvCxnSpPr>
            <a:cxnSpLocks/>
            <a:stCxn id="91" idx="0"/>
            <a:endCxn id="92" idx="4"/>
          </p:cNvCxnSpPr>
          <p:nvPr/>
        </p:nvCxnSpPr>
        <p:spPr>
          <a:xfrm flipH="1" flipV="1">
            <a:off x="3796907" y="5234850"/>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4" name="TextBox 93">
            <a:extLst>
              <a:ext uri="{FF2B5EF4-FFF2-40B4-BE49-F238E27FC236}">
                <a16:creationId xmlns:a16="http://schemas.microsoft.com/office/drawing/2014/main" id="{16AF1079-74EA-43A1-AF0E-8565EB7C148C}"/>
              </a:ext>
            </a:extLst>
          </p:cNvPr>
          <p:cNvSpPr txBox="1"/>
          <p:nvPr/>
        </p:nvSpPr>
        <p:spPr>
          <a:xfrm>
            <a:off x="2826297" y="5869119"/>
            <a:ext cx="1950744" cy="646331"/>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기재불비해소하였으나</a:t>
            </a:r>
            <a:r>
              <a:rPr lang="en-US" altLang="ko-KR" sz="1200" dirty="0">
                <a:solidFill>
                  <a:schemeClr val="tx1"/>
                </a:solidFill>
                <a:latin typeface="+mn-ea"/>
              </a:rPr>
              <a:t>,</a:t>
            </a:r>
          </a:p>
          <a:p>
            <a:pPr algn="ctr"/>
            <a:r>
              <a:rPr lang="ko-KR" altLang="en-US" sz="1200" dirty="0" err="1">
                <a:solidFill>
                  <a:schemeClr val="tx1"/>
                </a:solidFill>
                <a:highlight>
                  <a:srgbClr val="00FFFF"/>
                </a:highlight>
                <a:latin typeface="+mn-ea"/>
              </a:rPr>
              <a:t>거절이유통지</a:t>
            </a:r>
            <a:r>
              <a:rPr lang="ko-KR" altLang="en-US" sz="1200" dirty="0">
                <a:solidFill>
                  <a:schemeClr val="tx1"/>
                </a:solidFill>
                <a:highlight>
                  <a:srgbClr val="00FFFF"/>
                </a:highlight>
                <a:latin typeface="+mn-ea"/>
              </a:rPr>
              <a:t> 전부터 발생</a:t>
            </a:r>
            <a:r>
              <a:rPr lang="ko-KR" altLang="en-US" sz="1200" dirty="0">
                <a:solidFill>
                  <a:schemeClr val="tx1"/>
                </a:solidFill>
                <a:latin typeface="+mn-ea"/>
              </a:rPr>
              <a:t>한 진보성 위반 발견</a:t>
            </a:r>
          </a:p>
        </p:txBody>
      </p:sp>
      <p:cxnSp>
        <p:nvCxnSpPr>
          <p:cNvPr id="95" name="직선 연결선 94">
            <a:extLst>
              <a:ext uri="{FF2B5EF4-FFF2-40B4-BE49-F238E27FC236}">
                <a16:creationId xmlns:a16="http://schemas.microsoft.com/office/drawing/2014/main" id="{9D64EE1E-1936-4C07-A26D-E128BB703896}"/>
              </a:ext>
            </a:extLst>
          </p:cNvPr>
          <p:cNvCxnSpPr>
            <a:cxnSpLocks/>
            <a:stCxn id="94" idx="0"/>
            <a:endCxn id="91" idx="2"/>
          </p:cNvCxnSpPr>
          <p:nvPr/>
        </p:nvCxnSpPr>
        <p:spPr>
          <a:xfrm flipH="1" flipV="1">
            <a:off x="3796908" y="5707705"/>
            <a:ext cx="4761" cy="16141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1739725B-083C-4942-8A39-BD1359231B5A}"/>
              </a:ext>
            </a:extLst>
          </p:cNvPr>
          <p:cNvSpPr txBox="1"/>
          <p:nvPr/>
        </p:nvSpPr>
        <p:spPr>
          <a:xfrm>
            <a:off x="4437338" y="5430706"/>
            <a:ext cx="147738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보정각하</a:t>
            </a:r>
            <a:r>
              <a:rPr lang="en-US" altLang="ko-KR" sz="1200" dirty="0">
                <a:solidFill>
                  <a:schemeClr val="tx1"/>
                </a:solidFill>
                <a:latin typeface="+mn-ea"/>
              </a:rPr>
              <a:t>/</a:t>
            </a:r>
            <a:r>
              <a:rPr lang="ko-KR" altLang="en-US" sz="1200" dirty="0">
                <a:solidFill>
                  <a:schemeClr val="tx1"/>
                </a:solidFill>
                <a:latin typeface="+mn-ea"/>
              </a:rPr>
              <a:t>거절결정</a:t>
            </a:r>
          </a:p>
        </p:txBody>
      </p:sp>
      <p:sp>
        <p:nvSpPr>
          <p:cNvPr id="97" name="타원 96">
            <a:extLst>
              <a:ext uri="{FF2B5EF4-FFF2-40B4-BE49-F238E27FC236}">
                <a16:creationId xmlns:a16="http://schemas.microsoft.com/office/drawing/2014/main" id="{44CC6585-CFBB-4251-9BDD-4CBA55EEAF0F}"/>
              </a:ext>
            </a:extLst>
          </p:cNvPr>
          <p:cNvSpPr/>
          <p:nvPr/>
        </p:nvSpPr>
        <p:spPr>
          <a:xfrm>
            <a:off x="5105455" y="5087682"/>
            <a:ext cx="141148" cy="14716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8" name="직선 연결선 97">
            <a:extLst>
              <a:ext uri="{FF2B5EF4-FFF2-40B4-BE49-F238E27FC236}">
                <a16:creationId xmlns:a16="http://schemas.microsoft.com/office/drawing/2014/main" id="{593DD2BA-54B9-41F3-9B64-1D2BCD0B2D6E}"/>
              </a:ext>
            </a:extLst>
          </p:cNvPr>
          <p:cNvCxnSpPr>
            <a:cxnSpLocks/>
            <a:stCxn id="96" idx="0"/>
            <a:endCxn id="97" idx="4"/>
          </p:cNvCxnSpPr>
          <p:nvPr/>
        </p:nvCxnSpPr>
        <p:spPr>
          <a:xfrm flipH="1" flipV="1">
            <a:off x="5176029" y="5234850"/>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TextBox 102">
            <a:extLst>
              <a:ext uri="{FF2B5EF4-FFF2-40B4-BE49-F238E27FC236}">
                <a16:creationId xmlns:a16="http://schemas.microsoft.com/office/drawing/2014/main" id="{4D37C996-215E-4407-8BE7-9F6D62C296E7}"/>
              </a:ext>
            </a:extLst>
          </p:cNvPr>
          <p:cNvSpPr txBox="1"/>
          <p:nvPr/>
        </p:nvSpPr>
        <p:spPr>
          <a:xfrm>
            <a:off x="6036008" y="5430706"/>
            <a:ext cx="114732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심판청구</a:t>
            </a:r>
          </a:p>
        </p:txBody>
      </p:sp>
      <p:sp>
        <p:nvSpPr>
          <p:cNvPr id="104" name="타원 103">
            <a:extLst>
              <a:ext uri="{FF2B5EF4-FFF2-40B4-BE49-F238E27FC236}">
                <a16:creationId xmlns:a16="http://schemas.microsoft.com/office/drawing/2014/main" id="{F71D90DB-9C66-46E3-88EC-0EE7A2D92BD6}"/>
              </a:ext>
            </a:extLst>
          </p:cNvPr>
          <p:cNvSpPr/>
          <p:nvPr/>
        </p:nvSpPr>
        <p:spPr>
          <a:xfrm>
            <a:off x="6539097" y="5087682"/>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6" name="직선 연결선 105">
            <a:extLst>
              <a:ext uri="{FF2B5EF4-FFF2-40B4-BE49-F238E27FC236}">
                <a16:creationId xmlns:a16="http://schemas.microsoft.com/office/drawing/2014/main" id="{8857DC56-6C85-4BB4-A710-321391B11ABE}"/>
              </a:ext>
            </a:extLst>
          </p:cNvPr>
          <p:cNvCxnSpPr>
            <a:cxnSpLocks/>
            <a:stCxn id="103" idx="0"/>
            <a:endCxn id="104" idx="4"/>
          </p:cNvCxnSpPr>
          <p:nvPr/>
        </p:nvCxnSpPr>
        <p:spPr>
          <a:xfrm flipH="1" flipV="1">
            <a:off x="6609671" y="5234850"/>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1" name="TextBox 110">
            <a:extLst>
              <a:ext uri="{FF2B5EF4-FFF2-40B4-BE49-F238E27FC236}">
                <a16:creationId xmlns:a16="http://schemas.microsoft.com/office/drawing/2014/main" id="{66FA8B43-F2FF-4199-934D-A2E02F5DF5A7}"/>
              </a:ext>
            </a:extLst>
          </p:cNvPr>
          <p:cNvSpPr txBox="1"/>
          <p:nvPr/>
        </p:nvSpPr>
        <p:spPr>
          <a:xfrm>
            <a:off x="7277790" y="5430706"/>
            <a:ext cx="147738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112" name="타원 111">
            <a:extLst>
              <a:ext uri="{FF2B5EF4-FFF2-40B4-BE49-F238E27FC236}">
                <a16:creationId xmlns:a16="http://schemas.microsoft.com/office/drawing/2014/main" id="{DB8D4CA6-197B-4E5A-94D5-3171F4C530C8}"/>
              </a:ext>
            </a:extLst>
          </p:cNvPr>
          <p:cNvSpPr/>
          <p:nvPr/>
        </p:nvSpPr>
        <p:spPr>
          <a:xfrm>
            <a:off x="7945907" y="5087682"/>
            <a:ext cx="141148" cy="14716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3" name="직선 연결선 112">
            <a:extLst>
              <a:ext uri="{FF2B5EF4-FFF2-40B4-BE49-F238E27FC236}">
                <a16:creationId xmlns:a16="http://schemas.microsoft.com/office/drawing/2014/main" id="{502F66A0-2F9C-4737-B3E0-11F2AF84D292}"/>
              </a:ext>
            </a:extLst>
          </p:cNvPr>
          <p:cNvCxnSpPr>
            <a:cxnSpLocks/>
            <a:stCxn id="111" idx="0"/>
            <a:endCxn id="112" idx="4"/>
          </p:cNvCxnSpPr>
          <p:nvPr/>
        </p:nvCxnSpPr>
        <p:spPr>
          <a:xfrm flipH="1" flipV="1">
            <a:off x="8016481" y="5234850"/>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TextBox 113">
            <a:extLst>
              <a:ext uri="{FF2B5EF4-FFF2-40B4-BE49-F238E27FC236}">
                <a16:creationId xmlns:a16="http://schemas.microsoft.com/office/drawing/2014/main" id="{113219BB-B18B-4332-B47C-43BBEAC9DE60}"/>
              </a:ext>
            </a:extLst>
          </p:cNvPr>
          <p:cNvSpPr txBox="1"/>
          <p:nvPr/>
        </p:nvSpPr>
        <p:spPr>
          <a:xfrm>
            <a:off x="8876460" y="5430706"/>
            <a:ext cx="114732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소제기</a:t>
            </a:r>
          </a:p>
        </p:txBody>
      </p:sp>
      <p:sp>
        <p:nvSpPr>
          <p:cNvPr id="115" name="타원 114">
            <a:extLst>
              <a:ext uri="{FF2B5EF4-FFF2-40B4-BE49-F238E27FC236}">
                <a16:creationId xmlns:a16="http://schemas.microsoft.com/office/drawing/2014/main" id="{729FB739-E16A-4346-BADF-E7D0F56D42B9}"/>
              </a:ext>
            </a:extLst>
          </p:cNvPr>
          <p:cNvSpPr/>
          <p:nvPr/>
        </p:nvSpPr>
        <p:spPr>
          <a:xfrm>
            <a:off x="9379549" y="5087682"/>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6" name="직선 연결선 115">
            <a:extLst>
              <a:ext uri="{FF2B5EF4-FFF2-40B4-BE49-F238E27FC236}">
                <a16:creationId xmlns:a16="http://schemas.microsoft.com/office/drawing/2014/main" id="{B98DBAC9-37A1-4D79-B473-D5B849FBAEF2}"/>
              </a:ext>
            </a:extLst>
          </p:cNvPr>
          <p:cNvCxnSpPr>
            <a:cxnSpLocks/>
            <a:stCxn id="114" idx="0"/>
            <a:endCxn id="115" idx="4"/>
          </p:cNvCxnSpPr>
          <p:nvPr/>
        </p:nvCxnSpPr>
        <p:spPr>
          <a:xfrm flipH="1" flipV="1">
            <a:off x="9450123" y="5234850"/>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7" name="TextBox 116">
            <a:extLst>
              <a:ext uri="{FF2B5EF4-FFF2-40B4-BE49-F238E27FC236}">
                <a16:creationId xmlns:a16="http://schemas.microsoft.com/office/drawing/2014/main" id="{BDE1E00D-5B81-4F98-B8C6-8526D2FAB7DC}"/>
              </a:ext>
            </a:extLst>
          </p:cNvPr>
          <p:cNvSpPr txBox="1"/>
          <p:nvPr/>
        </p:nvSpPr>
        <p:spPr>
          <a:xfrm>
            <a:off x="10143200" y="5430706"/>
            <a:ext cx="1147328"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판결</a:t>
            </a:r>
          </a:p>
        </p:txBody>
      </p:sp>
      <p:sp>
        <p:nvSpPr>
          <p:cNvPr id="118" name="타원 117">
            <a:extLst>
              <a:ext uri="{FF2B5EF4-FFF2-40B4-BE49-F238E27FC236}">
                <a16:creationId xmlns:a16="http://schemas.microsoft.com/office/drawing/2014/main" id="{54BDFDA8-CA68-4134-AFA4-D1F8F477F020}"/>
              </a:ext>
            </a:extLst>
          </p:cNvPr>
          <p:cNvSpPr/>
          <p:nvPr/>
        </p:nvSpPr>
        <p:spPr>
          <a:xfrm>
            <a:off x="10646289" y="5087682"/>
            <a:ext cx="141148" cy="14716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9" name="직선 연결선 118">
            <a:extLst>
              <a:ext uri="{FF2B5EF4-FFF2-40B4-BE49-F238E27FC236}">
                <a16:creationId xmlns:a16="http://schemas.microsoft.com/office/drawing/2014/main" id="{A452C374-2CAC-4B62-8B58-602B6D46F398}"/>
              </a:ext>
            </a:extLst>
          </p:cNvPr>
          <p:cNvCxnSpPr>
            <a:cxnSpLocks/>
            <a:stCxn id="117" idx="0"/>
            <a:endCxn id="118" idx="4"/>
          </p:cNvCxnSpPr>
          <p:nvPr/>
        </p:nvCxnSpPr>
        <p:spPr>
          <a:xfrm flipH="1" flipV="1">
            <a:off x="10716863" y="5234850"/>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3F7AA20A-47A5-46AD-AB29-C5E96509A259}"/>
              </a:ext>
            </a:extLst>
          </p:cNvPr>
          <p:cNvSpPr txBox="1"/>
          <p:nvPr/>
        </p:nvSpPr>
        <p:spPr>
          <a:xfrm>
            <a:off x="9635324" y="5889943"/>
            <a:ext cx="2164220"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보정각하가</a:t>
            </a:r>
            <a:r>
              <a:rPr lang="ko-KR" altLang="en-US" sz="1200" dirty="0">
                <a:solidFill>
                  <a:schemeClr val="tx1"/>
                </a:solidFill>
                <a:latin typeface="+mn-ea"/>
              </a:rPr>
              <a:t> </a:t>
            </a:r>
            <a:r>
              <a:rPr lang="ko-KR" altLang="en-US" sz="1200" dirty="0" err="1">
                <a:solidFill>
                  <a:schemeClr val="tx1"/>
                </a:solidFill>
                <a:latin typeface="+mn-ea"/>
              </a:rPr>
              <a:t>부적법함을</a:t>
            </a:r>
            <a:r>
              <a:rPr lang="ko-KR" altLang="en-US" sz="1200" dirty="0">
                <a:solidFill>
                  <a:schemeClr val="tx1"/>
                </a:solidFill>
                <a:latin typeface="+mn-ea"/>
              </a:rPr>
              <a:t> 발견한 경우 그 자체만으로 </a:t>
            </a:r>
            <a:r>
              <a:rPr lang="ko-KR" altLang="en-US" sz="1200" dirty="0" err="1">
                <a:solidFill>
                  <a:schemeClr val="tx1"/>
                </a:solidFill>
                <a:latin typeface="+mn-ea"/>
              </a:rPr>
              <a:t>취소환송</a:t>
            </a:r>
            <a:endParaRPr lang="ko-KR" altLang="en-US" sz="1200" dirty="0">
              <a:solidFill>
                <a:schemeClr val="tx1"/>
              </a:solidFill>
              <a:latin typeface="+mn-ea"/>
            </a:endParaRPr>
          </a:p>
        </p:txBody>
      </p:sp>
      <p:cxnSp>
        <p:nvCxnSpPr>
          <p:cNvPr id="121" name="직선 연결선 120">
            <a:extLst>
              <a:ext uri="{FF2B5EF4-FFF2-40B4-BE49-F238E27FC236}">
                <a16:creationId xmlns:a16="http://schemas.microsoft.com/office/drawing/2014/main" id="{A292F464-0424-4603-9516-3062D368DBAB}"/>
              </a:ext>
            </a:extLst>
          </p:cNvPr>
          <p:cNvCxnSpPr>
            <a:cxnSpLocks/>
            <a:stCxn id="120" idx="0"/>
            <a:endCxn id="117" idx="2"/>
          </p:cNvCxnSpPr>
          <p:nvPr/>
        </p:nvCxnSpPr>
        <p:spPr>
          <a:xfrm flipH="1" flipV="1">
            <a:off x="10716864" y="5707705"/>
            <a:ext cx="570" cy="18223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E0743F61-52E5-1B1C-98E8-F310C87549F7}"/>
              </a:ext>
            </a:extLst>
          </p:cNvPr>
          <p:cNvSpPr txBox="1"/>
          <p:nvPr/>
        </p:nvSpPr>
        <p:spPr>
          <a:xfrm>
            <a:off x="4912659" y="6149012"/>
            <a:ext cx="2541080" cy="369332"/>
          </a:xfrm>
          <a:prstGeom prst="rect">
            <a:avLst/>
          </a:prstGeom>
          <a:noFill/>
          <a:ln w="38100">
            <a:solidFill>
              <a:srgbClr val="FF0000"/>
            </a:solidFill>
          </a:ln>
        </p:spPr>
        <p:txBody>
          <a:bodyPr wrap="none" rtlCol="0">
            <a:spAutoFit/>
          </a:bodyPr>
          <a:lstStyle/>
          <a:p>
            <a:r>
              <a:rPr lang="ko-KR" altLang="en-US" dirty="0" err="1">
                <a:solidFill>
                  <a:srgbClr val="FF0000"/>
                </a:solidFill>
              </a:rPr>
              <a:t>최초거절이유통지가</a:t>
            </a:r>
            <a:r>
              <a:rPr lang="ko-KR" altLang="en-US" dirty="0">
                <a:solidFill>
                  <a:srgbClr val="FF0000"/>
                </a:solidFill>
              </a:rPr>
              <a:t> 타당</a:t>
            </a:r>
          </a:p>
        </p:txBody>
      </p:sp>
      <p:cxnSp>
        <p:nvCxnSpPr>
          <p:cNvPr id="8" name="연결선: 꺾임 7">
            <a:extLst>
              <a:ext uri="{FF2B5EF4-FFF2-40B4-BE49-F238E27FC236}">
                <a16:creationId xmlns:a16="http://schemas.microsoft.com/office/drawing/2014/main" id="{2F767CC1-AB90-D8A9-7C5A-8CCFA698F777}"/>
              </a:ext>
            </a:extLst>
          </p:cNvPr>
          <p:cNvCxnSpPr>
            <a:stCxn id="6" idx="0"/>
            <a:endCxn id="96" idx="2"/>
          </p:cNvCxnSpPr>
          <p:nvPr/>
        </p:nvCxnSpPr>
        <p:spPr>
          <a:xfrm rot="16200000" flipV="1">
            <a:off x="5458962" y="5424774"/>
            <a:ext cx="441307" cy="1007169"/>
          </a:xfrm>
          <a:prstGeom prst="bentConnector3">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75913902"/>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t>보정각하의</a:t>
            </a:r>
            <a:r>
              <a:rPr lang="ko-KR" altLang="en-US" dirty="0"/>
              <a:t> 예외</a:t>
            </a:r>
            <a:r>
              <a:rPr lang="en-US" altLang="ko-KR" dirty="0"/>
              <a:t>(</a:t>
            </a:r>
            <a:r>
              <a:rPr lang="ko-KR" altLang="en-US" dirty="0"/>
              <a:t>제</a:t>
            </a:r>
            <a:r>
              <a:rPr lang="en-US" altLang="ko-KR" dirty="0"/>
              <a:t>51</a:t>
            </a:r>
            <a:r>
              <a:rPr lang="ko-KR" altLang="en-US" dirty="0"/>
              <a:t>조제</a:t>
            </a:r>
            <a:r>
              <a:rPr lang="en-US" altLang="ko-KR" dirty="0"/>
              <a:t>1</a:t>
            </a:r>
            <a:r>
              <a:rPr lang="ko-KR" altLang="en-US" dirty="0" err="1"/>
              <a:t>항본문</a:t>
            </a:r>
            <a:r>
              <a:rPr lang="ko-KR" altLang="en-US" dirty="0"/>
              <a:t> 괄호</a:t>
            </a:r>
            <a:r>
              <a:rPr lang="en-US" altLang="ko-KR" dirty="0"/>
              <a:t>)</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92" name="Rectangle 5"/>
          <p:cNvSpPr>
            <a:spLocks noChangeArrowheads="1"/>
          </p:cNvSpPr>
          <p:nvPr/>
        </p:nvSpPr>
        <p:spPr bwMode="auto">
          <a:xfrm>
            <a:off x="347687" y="1094336"/>
            <a:ext cx="5748313"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a:solidFill>
                  <a:schemeClr val="bg1"/>
                </a:solidFill>
                <a:latin typeface="+mj-ea"/>
                <a:ea typeface="+mj-ea"/>
              </a:rPr>
              <a:t>청구항을 삭제하는 보정에 의하여 새로운 거절이유가 발생한 경우</a:t>
            </a:r>
            <a:endParaRPr lang="ko-KR" altLang="en-US" sz="1600" b="0" dirty="0">
              <a:solidFill>
                <a:schemeClr val="bg1"/>
              </a:solidFill>
              <a:latin typeface="+mj-ea"/>
              <a:ea typeface="+mj-ea"/>
            </a:endParaRPr>
          </a:p>
        </p:txBody>
      </p:sp>
      <p:sp>
        <p:nvSpPr>
          <p:cNvPr id="5" name="슬라이드 번호 개체 틀 4"/>
          <p:cNvSpPr>
            <a:spLocks noGrp="1"/>
          </p:cNvSpPr>
          <p:nvPr>
            <p:ph type="sldNum" sz="quarter" idx="12"/>
          </p:nvPr>
        </p:nvSpPr>
        <p:spPr/>
        <p:txBody>
          <a:bodyPr/>
          <a:lstStyle/>
          <a:p>
            <a:r>
              <a:rPr lang="en-US" altLang="ko-KR"/>
              <a:t>178</a:t>
            </a:r>
            <a:endParaRPr lang="ko-KR" altLang="en-US"/>
          </a:p>
        </p:txBody>
      </p:sp>
      <p:graphicFrame>
        <p:nvGraphicFramePr>
          <p:cNvPr id="6" name="표 5">
            <a:extLst>
              <a:ext uri="{FF2B5EF4-FFF2-40B4-BE49-F238E27FC236}">
                <a16:creationId xmlns:a16="http://schemas.microsoft.com/office/drawing/2014/main" id="{A72B124B-1B33-49C7-839E-CE44F3CD418D}"/>
              </a:ext>
            </a:extLst>
          </p:cNvPr>
          <p:cNvGraphicFramePr>
            <a:graphicFrameLocks noGrp="1"/>
          </p:cNvGraphicFramePr>
          <p:nvPr/>
        </p:nvGraphicFramePr>
        <p:xfrm>
          <a:off x="647490" y="1691282"/>
          <a:ext cx="10715054" cy="4579159"/>
        </p:xfrm>
        <a:graphic>
          <a:graphicData uri="http://schemas.openxmlformats.org/drawingml/2006/table">
            <a:tbl>
              <a:tblPr/>
              <a:tblGrid>
                <a:gridCol w="5639911">
                  <a:extLst>
                    <a:ext uri="{9D8B030D-6E8A-4147-A177-3AD203B41FA5}">
                      <a16:colId xmlns:a16="http://schemas.microsoft.com/office/drawing/2014/main" val="4028275499"/>
                    </a:ext>
                  </a:extLst>
                </a:gridCol>
                <a:gridCol w="5075143">
                  <a:extLst>
                    <a:ext uri="{9D8B030D-6E8A-4147-A177-3AD203B41FA5}">
                      <a16:colId xmlns:a16="http://schemas.microsoft.com/office/drawing/2014/main" val="2964529776"/>
                    </a:ext>
                  </a:extLst>
                </a:gridCol>
              </a:tblGrid>
              <a:tr h="274373">
                <a:tc>
                  <a:txBody>
                    <a:bodyPr/>
                    <a:lstStyle/>
                    <a:p>
                      <a:pPr marL="0" marR="0" indent="0" algn="ctr" fontAlgn="base" latinLnBrk="0">
                        <a:lnSpc>
                          <a:spcPct val="130000"/>
                        </a:lnSpc>
                        <a:spcBef>
                          <a:spcPts val="0"/>
                        </a:spcBef>
                        <a:spcAft>
                          <a:spcPts val="0"/>
                        </a:spcAft>
                      </a:pPr>
                      <a:r>
                        <a:rPr lang="ko-KR" altLang="en-US" sz="1400" kern="0" spc="-100" dirty="0">
                          <a:solidFill>
                            <a:srgbClr val="000000"/>
                          </a:solidFill>
                          <a:effectLst/>
                          <a:latin typeface="+mn-ea"/>
                          <a:ea typeface="+mn-ea"/>
                        </a:rPr>
                        <a:t>구체적 예</a:t>
                      </a: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0" spc="-100" dirty="0">
                          <a:solidFill>
                            <a:srgbClr val="000000"/>
                          </a:solidFill>
                          <a:effectLst/>
                          <a:latin typeface="+mn-ea"/>
                          <a:ea typeface="+mn-ea"/>
                        </a:rPr>
                        <a:t>설 명</a:t>
                      </a: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331837926"/>
                  </a:ext>
                </a:extLst>
              </a:tr>
              <a:tr h="1907934">
                <a:tc>
                  <a:txBody>
                    <a:bodyPr/>
                    <a:lstStyle/>
                    <a:p>
                      <a:pPr marL="17780" marR="17780" indent="0" algn="just" fontAlgn="base" latinLnBrk="1">
                        <a:lnSpc>
                          <a:spcPct val="120000"/>
                        </a:lnSpc>
                        <a:spcBef>
                          <a:spcPts val="0"/>
                        </a:spcBef>
                        <a:spcAft>
                          <a:spcPts val="0"/>
                        </a:spcAft>
                      </a:pP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 : A+B</a:t>
                      </a:r>
                      <a:r>
                        <a:rPr lang="ko-KR" altLang="en-US" sz="1400" kern="0" spc="-50" dirty="0">
                          <a:solidFill>
                            <a:srgbClr val="000000"/>
                          </a:solidFill>
                          <a:effectLst/>
                          <a:latin typeface="+mn-ea"/>
                          <a:ea typeface="+mn-ea"/>
                        </a:rPr>
                        <a:t>로 이루어진 장치</a:t>
                      </a:r>
                    </a:p>
                    <a:p>
                      <a:pPr marL="17780" marR="17780" indent="0" algn="just" fontAlgn="base" latinLnBrk="1">
                        <a:lnSpc>
                          <a:spcPct val="120000"/>
                        </a:lnSpc>
                        <a:spcBef>
                          <a:spcPts val="0"/>
                        </a:spcBef>
                        <a:spcAft>
                          <a:spcPts val="0"/>
                        </a:spcAft>
                      </a:pP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2 : </a:t>
                      </a: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a:t>
                      </a:r>
                      <a:r>
                        <a:rPr lang="ko-KR" altLang="en-US" sz="1400" kern="0" spc="-50" dirty="0">
                          <a:solidFill>
                            <a:srgbClr val="000000"/>
                          </a:solidFill>
                          <a:effectLst/>
                          <a:latin typeface="+mn-ea"/>
                          <a:ea typeface="+mn-ea"/>
                        </a:rPr>
                        <a:t>에 있어서</a:t>
                      </a:r>
                      <a:r>
                        <a:rPr lang="en-US" altLang="ko-KR" sz="1400" kern="0" spc="-50" dirty="0">
                          <a:solidFill>
                            <a:srgbClr val="000000"/>
                          </a:solidFill>
                          <a:effectLst/>
                          <a:latin typeface="+mn-ea"/>
                          <a:ea typeface="+mn-ea"/>
                        </a:rPr>
                        <a:t>, C</a:t>
                      </a:r>
                      <a:r>
                        <a:rPr lang="ko-KR" altLang="en-US" sz="1400" kern="0" spc="-50" dirty="0">
                          <a:solidFill>
                            <a:srgbClr val="000000"/>
                          </a:solidFill>
                          <a:effectLst/>
                          <a:latin typeface="+mn-ea"/>
                          <a:ea typeface="+mn-ea"/>
                        </a:rPr>
                        <a:t>를 부가한 장치</a:t>
                      </a:r>
                    </a:p>
                    <a:p>
                      <a:pPr marL="17780" marR="17780" indent="0" algn="just" fontAlgn="base" latinLnBrk="1">
                        <a:lnSpc>
                          <a:spcPct val="120000"/>
                        </a:lnSpc>
                        <a:spcBef>
                          <a:spcPts val="0"/>
                        </a:spcBef>
                        <a:spcAft>
                          <a:spcPts val="0"/>
                        </a:spcAft>
                      </a:pPr>
                      <a:r>
                        <a:rPr lang="en-US" altLang="ko-KR" sz="1400" kern="0" spc="-50" dirty="0">
                          <a:solidFill>
                            <a:srgbClr val="000000"/>
                          </a:solidFill>
                          <a:effectLst/>
                          <a:latin typeface="+mn-ea"/>
                          <a:ea typeface="+mn-ea"/>
                        </a:rPr>
                        <a:t>【</a:t>
                      </a:r>
                      <a:r>
                        <a:rPr lang="ko-KR" altLang="en-US" sz="1400" kern="0" spc="-50" dirty="0" err="1">
                          <a:solidFill>
                            <a:srgbClr val="000000"/>
                          </a:solidFill>
                          <a:effectLst/>
                          <a:latin typeface="+mn-ea"/>
                          <a:ea typeface="+mn-ea"/>
                        </a:rPr>
                        <a:t>최후거절이유통지</a:t>
                      </a: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a:t>
                      </a:r>
                      <a:r>
                        <a:rPr lang="ko-KR" altLang="en-US" sz="1400" kern="0" spc="-50" dirty="0">
                          <a:solidFill>
                            <a:srgbClr val="000000"/>
                          </a:solidFill>
                          <a:effectLst/>
                          <a:latin typeface="+mn-ea"/>
                          <a:ea typeface="+mn-ea"/>
                        </a:rPr>
                        <a:t>은 진보성 없음</a:t>
                      </a:r>
                      <a:r>
                        <a:rPr lang="en-US" altLang="ko-KR" sz="1400" kern="0" spc="-50" dirty="0">
                          <a:solidFill>
                            <a:srgbClr val="000000"/>
                          </a:solidFill>
                          <a:effectLst/>
                          <a:latin typeface="+mn-ea"/>
                          <a:ea typeface="+mn-ea"/>
                        </a:rPr>
                        <a:t>.</a:t>
                      </a:r>
                      <a:endParaRPr lang="ko-KR" altLang="en-US" sz="1400" kern="0" spc="-50" dirty="0">
                        <a:solidFill>
                          <a:srgbClr val="000000"/>
                        </a:solidFill>
                        <a:effectLst/>
                        <a:latin typeface="+mn-ea"/>
                        <a:ea typeface="+mn-ea"/>
                      </a:endParaRPr>
                    </a:p>
                    <a:p>
                      <a:pPr marL="17780" marR="17780" indent="0" algn="just" fontAlgn="base" latinLnBrk="1">
                        <a:lnSpc>
                          <a:spcPct val="120000"/>
                        </a:lnSpc>
                        <a:spcBef>
                          <a:spcPts val="0"/>
                        </a:spcBef>
                        <a:spcAft>
                          <a:spcPts val="0"/>
                        </a:spcAft>
                      </a:pP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최후보정 후의 명세서</a:t>
                      </a:r>
                      <a:r>
                        <a:rPr lang="en-US" altLang="ko-KR" sz="1400" kern="0" spc="-50" dirty="0">
                          <a:solidFill>
                            <a:srgbClr val="000000"/>
                          </a:solidFill>
                          <a:effectLst/>
                          <a:latin typeface="+mn-ea"/>
                          <a:ea typeface="+mn-ea"/>
                        </a:rPr>
                        <a:t>】</a:t>
                      </a:r>
                      <a:endParaRPr lang="ko-KR" altLang="en-US" sz="1400" kern="0" spc="-50" dirty="0">
                        <a:solidFill>
                          <a:srgbClr val="000000"/>
                        </a:solidFill>
                        <a:effectLst/>
                        <a:latin typeface="+mn-ea"/>
                        <a:ea typeface="+mn-ea"/>
                      </a:endParaRPr>
                    </a:p>
                    <a:p>
                      <a:pPr marL="17780" marR="17780" indent="0" algn="just" fontAlgn="base" latinLnBrk="1">
                        <a:lnSpc>
                          <a:spcPct val="120000"/>
                        </a:lnSpc>
                        <a:spcBef>
                          <a:spcPts val="0"/>
                        </a:spcBef>
                        <a:spcAft>
                          <a:spcPts val="0"/>
                        </a:spcAft>
                      </a:pP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 : </a:t>
                      </a:r>
                      <a:r>
                        <a:rPr lang="ko-KR" altLang="en-US" sz="1400" kern="0" spc="-50" dirty="0">
                          <a:solidFill>
                            <a:srgbClr val="000000"/>
                          </a:solidFill>
                          <a:effectLst/>
                          <a:latin typeface="+mn-ea"/>
                          <a:ea typeface="+mn-ea"/>
                        </a:rPr>
                        <a:t>삭제</a:t>
                      </a:r>
                    </a:p>
                    <a:p>
                      <a:pPr marL="17780" marR="17780" indent="0" algn="just" fontAlgn="base" latinLnBrk="1">
                        <a:lnSpc>
                          <a:spcPct val="120000"/>
                        </a:lnSpc>
                        <a:spcBef>
                          <a:spcPts val="0"/>
                        </a:spcBef>
                        <a:spcAft>
                          <a:spcPts val="0"/>
                        </a:spcAft>
                      </a:pP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2 : </a:t>
                      </a: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 </a:t>
                      </a:r>
                      <a:r>
                        <a:rPr lang="ko-KR" altLang="en-US" sz="1400" kern="0" spc="-50" dirty="0">
                          <a:solidFill>
                            <a:srgbClr val="000000"/>
                          </a:solidFill>
                          <a:effectLst/>
                          <a:latin typeface="+mn-ea"/>
                          <a:ea typeface="+mn-ea"/>
                        </a:rPr>
                        <a:t>에 있어서</a:t>
                      </a:r>
                      <a:r>
                        <a:rPr lang="en-US" altLang="ko-KR" sz="1400" kern="0" spc="-50" dirty="0">
                          <a:solidFill>
                            <a:srgbClr val="000000"/>
                          </a:solidFill>
                          <a:effectLst/>
                          <a:latin typeface="+mn-ea"/>
                          <a:ea typeface="+mn-ea"/>
                        </a:rPr>
                        <a:t>, C</a:t>
                      </a:r>
                      <a:r>
                        <a:rPr lang="ko-KR" altLang="en-US" sz="1400" kern="0" spc="-50" dirty="0">
                          <a:solidFill>
                            <a:srgbClr val="000000"/>
                          </a:solidFill>
                          <a:effectLst/>
                          <a:latin typeface="+mn-ea"/>
                          <a:ea typeface="+mn-ea"/>
                        </a:rPr>
                        <a:t>를 부가한 장치</a:t>
                      </a: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20000"/>
                        </a:lnSpc>
                        <a:spcBef>
                          <a:spcPts val="0"/>
                        </a:spcBef>
                        <a:spcAft>
                          <a:spcPts val="0"/>
                        </a:spcAft>
                      </a:pP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보정인정</a:t>
                      </a: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a:t>
                      </a:r>
                      <a:r>
                        <a:rPr lang="ko-KR" altLang="en-US" sz="1400" kern="0" spc="-50" dirty="0">
                          <a:solidFill>
                            <a:srgbClr val="000000"/>
                          </a:solidFill>
                          <a:effectLst/>
                          <a:latin typeface="+mn-ea"/>
                          <a:ea typeface="+mn-ea"/>
                        </a:rPr>
                        <a:t>을 삭제하는 보정은 청구범위의 감축에 해당함</a:t>
                      </a:r>
                      <a:r>
                        <a:rPr lang="en-US" altLang="ko-KR" sz="1400" kern="0" spc="-50" dirty="0">
                          <a:solidFill>
                            <a:srgbClr val="000000"/>
                          </a:solidFill>
                          <a:effectLst/>
                          <a:latin typeface="+mn-ea"/>
                          <a:ea typeface="+mn-ea"/>
                        </a:rPr>
                        <a:t>. </a:t>
                      </a: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a:t>
                      </a:r>
                      <a:r>
                        <a:rPr lang="ko-KR" altLang="en-US" sz="1400" kern="0" spc="-50" dirty="0">
                          <a:solidFill>
                            <a:srgbClr val="000000"/>
                          </a:solidFill>
                          <a:effectLst/>
                          <a:latin typeface="+mn-ea"/>
                          <a:ea typeface="+mn-ea"/>
                        </a:rPr>
                        <a:t>의 삭제로 청구항 </a:t>
                      </a:r>
                      <a:r>
                        <a:rPr lang="en-US" altLang="ko-KR" sz="1400" kern="0" spc="-50" dirty="0">
                          <a:solidFill>
                            <a:srgbClr val="000000"/>
                          </a:solidFill>
                          <a:effectLst/>
                          <a:latin typeface="+mn-ea"/>
                          <a:ea typeface="+mn-ea"/>
                        </a:rPr>
                        <a:t>2</a:t>
                      </a:r>
                      <a:r>
                        <a:rPr lang="ko-KR" altLang="en-US" sz="1400" kern="0" spc="-50" dirty="0">
                          <a:solidFill>
                            <a:srgbClr val="000000"/>
                          </a:solidFill>
                          <a:effectLst/>
                          <a:latin typeface="+mn-ea"/>
                          <a:ea typeface="+mn-ea"/>
                        </a:rPr>
                        <a:t>에 </a:t>
                      </a:r>
                      <a:r>
                        <a:rPr lang="ko-KR" altLang="en-US" sz="1400" kern="0" spc="-50" dirty="0" err="1">
                          <a:solidFill>
                            <a:srgbClr val="000000"/>
                          </a:solidFill>
                          <a:effectLst/>
                          <a:latin typeface="+mn-ea"/>
                          <a:ea typeface="+mn-ea"/>
                        </a:rPr>
                        <a:t>기재불비라는</a:t>
                      </a:r>
                      <a:r>
                        <a:rPr lang="ko-KR" altLang="en-US" sz="1400" kern="0" spc="-50" dirty="0">
                          <a:solidFill>
                            <a:srgbClr val="000000"/>
                          </a:solidFill>
                          <a:effectLst/>
                          <a:latin typeface="+mn-ea"/>
                          <a:ea typeface="+mn-ea"/>
                        </a:rPr>
                        <a:t> 새로운 거절이유가 발생하였으나 제</a:t>
                      </a:r>
                      <a:r>
                        <a:rPr lang="en-US" altLang="ko-KR" sz="1400" kern="0" spc="-50" dirty="0">
                          <a:solidFill>
                            <a:srgbClr val="000000"/>
                          </a:solidFill>
                          <a:effectLst/>
                          <a:latin typeface="+mn-ea"/>
                          <a:ea typeface="+mn-ea"/>
                        </a:rPr>
                        <a:t>51</a:t>
                      </a:r>
                      <a:r>
                        <a:rPr lang="ko-KR" altLang="en-US" sz="1400" kern="0" spc="-50" dirty="0">
                          <a:solidFill>
                            <a:srgbClr val="000000"/>
                          </a:solidFill>
                          <a:effectLst/>
                          <a:latin typeface="+mn-ea"/>
                          <a:ea typeface="+mn-ea"/>
                        </a:rPr>
                        <a:t>조제</a:t>
                      </a:r>
                      <a:r>
                        <a:rPr lang="en-US" altLang="ko-KR" sz="1400" kern="0" spc="-50" dirty="0">
                          <a:solidFill>
                            <a:srgbClr val="000000"/>
                          </a:solidFill>
                          <a:effectLst/>
                          <a:latin typeface="+mn-ea"/>
                          <a:ea typeface="+mn-ea"/>
                        </a:rPr>
                        <a:t>1</a:t>
                      </a:r>
                      <a:r>
                        <a:rPr lang="ko-KR" altLang="en-US" sz="1400" kern="0" spc="-50" dirty="0">
                          <a:solidFill>
                            <a:srgbClr val="000000"/>
                          </a:solidFill>
                          <a:effectLst/>
                          <a:latin typeface="+mn-ea"/>
                          <a:ea typeface="+mn-ea"/>
                        </a:rPr>
                        <a:t>항 괄호 규정에 의하여 보정은 인정함</a:t>
                      </a:r>
                    </a:p>
                    <a:p>
                      <a:pPr marL="17780" marR="17780" indent="0" algn="just" fontAlgn="base" latinLnBrk="1">
                        <a:lnSpc>
                          <a:spcPct val="120000"/>
                        </a:lnSpc>
                        <a:spcBef>
                          <a:spcPts val="0"/>
                        </a:spcBef>
                        <a:spcAft>
                          <a:spcPts val="0"/>
                        </a:spcAft>
                      </a:pPr>
                      <a:r>
                        <a:rPr lang="en-US" altLang="ko-KR" sz="1400" kern="0" spc="-50" dirty="0">
                          <a:solidFill>
                            <a:srgbClr val="000000"/>
                          </a:solidFill>
                          <a:effectLst/>
                          <a:latin typeface="+mn-ea"/>
                          <a:ea typeface="+mn-ea"/>
                        </a:rPr>
                        <a:t>【</a:t>
                      </a:r>
                      <a:r>
                        <a:rPr lang="ko-KR" altLang="en-US" sz="1400" kern="0" spc="-50" dirty="0" err="1">
                          <a:solidFill>
                            <a:srgbClr val="000000"/>
                          </a:solidFill>
                          <a:effectLst/>
                          <a:latin typeface="+mn-ea"/>
                          <a:ea typeface="+mn-ea"/>
                        </a:rPr>
                        <a:t>최후거절이유통지</a:t>
                      </a: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청구항을 삭제하면서 제</a:t>
                      </a:r>
                      <a:r>
                        <a:rPr lang="en-US" altLang="ko-KR" sz="1400" kern="0" spc="-50" dirty="0">
                          <a:solidFill>
                            <a:srgbClr val="000000"/>
                          </a:solidFill>
                          <a:effectLst/>
                          <a:latin typeface="+mn-ea"/>
                          <a:ea typeface="+mn-ea"/>
                        </a:rPr>
                        <a:t>42</a:t>
                      </a:r>
                      <a:r>
                        <a:rPr lang="ko-KR" altLang="en-US" sz="1400" kern="0" spc="-50" dirty="0">
                          <a:solidFill>
                            <a:srgbClr val="000000"/>
                          </a:solidFill>
                          <a:effectLst/>
                          <a:latin typeface="+mn-ea"/>
                          <a:ea typeface="+mn-ea"/>
                        </a:rPr>
                        <a:t>조제</a:t>
                      </a:r>
                      <a:r>
                        <a:rPr lang="en-US" altLang="ko-KR" sz="1400" kern="0" spc="-50" dirty="0">
                          <a:solidFill>
                            <a:srgbClr val="000000"/>
                          </a:solidFill>
                          <a:effectLst/>
                          <a:latin typeface="+mn-ea"/>
                          <a:ea typeface="+mn-ea"/>
                        </a:rPr>
                        <a:t>4</a:t>
                      </a:r>
                      <a:r>
                        <a:rPr lang="ko-KR" altLang="en-US" sz="1400" kern="0" spc="-50" dirty="0" err="1">
                          <a:solidFill>
                            <a:srgbClr val="000000"/>
                          </a:solidFill>
                          <a:effectLst/>
                          <a:latin typeface="+mn-ea"/>
                          <a:ea typeface="+mn-ea"/>
                        </a:rPr>
                        <a:t>항제</a:t>
                      </a:r>
                      <a:r>
                        <a:rPr lang="en-US" altLang="ko-KR" sz="1400" kern="0" spc="-50" dirty="0">
                          <a:solidFill>
                            <a:srgbClr val="000000"/>
                          </a:solidFill>
                          <a:effectLst/>
                          <a:latin typeface="+mn-ea"/>
                          <a:ea typeface="+mn-ea"/>
                        </a:rPr>
                        <a:t>2</a:t>
                      </a:r>
                      <a:r>
                        <a:rPr lang="ko-KR" altLang="en-US" sz="1400" kern="0" spc="-50" dirty="0">
                          <a:solidFill>
                            <a:srgbClr val="000000"/>
                          </a:solidFill>
                          <a:effectLst/>
                          <a:latin typeface="+mn-ea"/>
                          <a:ea typeface="+mn-ea"/>
                        </a:rPr>
                        <a:t>호 위반의 새로운 거절이유가 생긴 경우 다시 </a:t>
                      </a:r>
                      <a:r>
                        <a:rPr lang="ko-KR" altLang="en-US" sz="1400" kern="0" spc="-50" dirty="0" err="1">
                          <a:solidFill>
                            <a:srgbClr val="000000"/>
                          </a:solidFill>
                          <a:effectLst/>
                          <a:latin typeface="+mn-ea"/>
                          <a:ea typeface="+mn-ea"/>
                        </a:rPr>
                        <a:t>최후거절이유통지를</a:t>
                      </a:r>
                      <a:r>
                        <a:rPr lang="ko-KR" altLang="en-US" sz="1400" kern="0" spc="-50" dirty="0">
                          <a:solidFill>
                            <a:srgbClr val="000000"/>
                          </a:solidFill>
                          <a:effectLst/>
                          <a:latin typeface="+mn-ea"/>
                          <a:ea typeface="+mn-ea"/>
                        </a:rPr>
                        <a:t> 함</a:t>
                      </a:r>
                      <a:r>
                        <a:rPr lang="en-US" altLang="ko-KR" sz="1400" kern="0" spc="-50" dirty="0">
                          <a:solidFill>
                            <a:srgbClr val="000000"/>
                          </a:solidFill>
                          <a:effectLst/>
                          <a:latin typeface="+mn-ea"/>
                          <a:ea typeface="+mn-ea"/>
                        </a:rPr>
                        <a:t>.</a:t>
                      </a:r>
                      <a:endParaRPr lang="ko-KR" altLang="en-US" sz="1400" kern="0" spc="-50" dirty="0">
                        <a:solidFill>
                          <a:srgbClr val="000000"/>
                        </a:solidFill>
                        <a:effectLst/>
                        <a:latin typeface="+mn-ea"/>
                        <a:ea typeface="+mn-ea"/>
                      </a:endParaRP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381508617"/>
                  </a:ext>
                </a:extLst>
              </a:tr>
              <a:tr h="2378871">
                <a:tc>
                  <a:txBody>
                    <a:bodyPr/>
                    <a:lstStyle/>
                    <a:p>
                      <a:pPr marL="17780" marR="17780" indent="0" algn="just" fontAlgn="base" latinLnBrk="1">
                        <a:lnSpc>
                          <a:spcPct val="120000"/>
                        </a:lnSpc>
                        <a:spcBef>
                          <a:spcPts val="0"/>
                        </a:spcBef>
                        <a:spcAft>
                          <a:spcPts val="0"/>
                        </a:spcAft>
                      </a:pP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 : A+B</a:t>
                      </a:r>
                      <a:r>
                        <a:rPr lang="ko-KR" altLang="en-US" sz="1400" kern="0" spc="-50" dirty="0">
                          <a:solidFill>
                            <a:srgbClr val="000000"/>
                          </a:solidFill>
                          <a:effectLst/>
                          <a:latin typeface="+mn-ea"/>
                          <a:ea typeface="+mn-ea"/>
                        </a:rPr>
                        <a:t>로 이루어진 장치</a:t>
                      </a:r>
                    </a:p>
                    <a:p>
                      <a:pPr marL="17780" marR="17780" indent="0" algn="just" fontAlgn="base" latinLnBrk="1">
                        <a:lnSpc>
                          <a:spcPct val="120000"/>
                        </a:lnSpc>
                        <a:spcBef>
                          <a:spcPts val="0"/>
                        </a:spcBef>
                        <a:spcAft>
                          <a:spcPts val="0"/>
                        </a:spcAft>
                      </a:pP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2 : A+E</a:t>
                      </a:r>
                      <a:r>
                        <a:rPr lang="ko-KR" altLang="en-US" sz="1400" kern="0" spc="-50" dirty="0">
                          <a:solidFill>
                            <a:srgbClr val="000000"/>
                          </a:solidFill>
                          <a:effectLst/>
                          <a:latin typeface="+mn-ea"/>
                          <a:ea typeface="+mn-ea"/>
                        </a:rPr>
                        <a:t>로 이루어진 장치</a:t>
                      </a:r>
                    </a:p>
                    <a:p>
                      <a:pPr marL="17780" marR="17780" indent="0" algn="just" fontAlgn="base" latinLnBrk="1">
                        <a:lnSpc>
                          <a:spcPct val="120000"/>
                        </a:lnSpc>
                        <a:spcBef>
                          <a:spcPts val="0"/>
                        </a:spcBef>
                        <a:spcAft>
                          <a:spcPts val="0"/>
                        </a:spcAft>
                      </a:pP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3 : </a:t>
                      </a: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 </a:t>
                      </a:r>
                      <a:r>
                        <a:rPr lang="ko-KR" altLang="en-US" sz="1400" kern="0" spc="-50" dirty="0">
                          <a:solidFill>
                            <a:srgbClr val="000000"/>
                          </a:solidFill>
                          <a:effectLst/>
                          <a:latin typeface="+mn-ea"/>
                          <a:ea typeface="+mn-ea"/>
                        </a:rPr>
                        <a:t>또는 청구항 </a:t>
                      </a:r>
                      <a:r>
                        <a:rPr lang="en-US" altLang="ko-KR" sz="1400" kern="0" spc="-50" dirty="0">
                          <a:solidFill>
                            <a:srgbClr val="000000"/>
                          </a:solidFill>
                          <a:effectLst/>
                          <a:latin typeface="+mn-ea"/>
                          <a:ea typeface="+mn-ea"/>
                        </a:rPr>
                        <a:t>2</a:t>
                      </a:r>
                      <a:r>
                        <a:rPr lang="ko-KR" altLang="en-US" sz="1400" kern="0" spc="-50" dirty="0">
                          <a:solidFill>
                            <a:srgbClr val="000000"/>
                          </a:solidFill>
                          <a:effectLst/>
                          <a:latin typeface="+mn-ea"/>
                          <a:ea typeface="+mn-ea"/>
                        </a:rPr>
                        <a:t>에 있어서</a:t>
                      </a:r>
                      <a:r>
                        <a:rPr lang="en-US" altLang="ko-KR" sz="1400" kern="0" spc="-50" dirty="0">
                          <a:solidFill>
                            <a:srgbClr val="000000"/>
                          </a:solidFill>
                          <a:effectLst/>
                          <a:latin typeface="+mn-ea"/>
                          <a:ea typeface="+mn-ea"/>
                        </a:rPr>
                        <a:t>, C</a:t>
                      </a:r>
                      <a:r>
                        <a:rPr lang="ko-KR" altLang="en-US" sz="1400" kern="0" spc="-50" dirty="0">
                          <a:solidFill>
                            <a:srgbClr val="000000"/>
                          </a:solidFill>
                          <a:effectLst/>
                          <a:latin typeface="+mn-ea"/>
                          <a:ea typeface="+mn-ea"/>
                        </a:rPr>
                        <a:t>를 부가한 장치</a:t>
                      </a:r>
                    </a:p>
                    <a:p>
                      <a:pPr marL="17780" marR="17780" indent="0" algn="just" fontAlgn="base" latinLnBrk="1">
                        <a:lnSpc>
                          <a:spcPct val="120000"/>
                        </a:lnSpc>
                        <a:spcBef>
                          <a:spcPts val="0"/>
                        </a:spcBef>
                        <a:spcAft>
                          <a:spcPts val="0"/>
                        </a:spcAft>
                      </a:pPr>
                      <a:r>
                        <a:rPr lang="en-US" altLang="ko-KR" sz="1400" kern="0" spc="-50" dirty="0">
                          <a:solidFill>
                            <a:srgbClr val="000000"/>
                          </a:solidFill>
                          <a:effectLst/>
                          <a:latin typeface="+mn-ea"/>
                          <a:ea typeface="+mn-ea"/>
                        </a:rPr>
                        <a:t>【</a:t>
                      </a:r>
                      <a:r>
                        <a:rPr lang="ko-KR" altLang="en-US" sz="1400" kern="0" spc="-50" dirty="0" err="1">
                          <a:solidFill>
                            <a:srgbClr val="000000"/>
                          </a:solidFill>
                          <a:effectLst/>
                          <a:latin typeface="+mn-ea"/>
                          <a:ea typeface="+mn-ea"/>
                        </a:rPr>
                        <a:t>최후거절이유통지</a:t>
                      </a: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a:t>
                      </a:r>
                      <a:r>
                        <a:rPr lang="ko-KR" altLang="en-US" sz="1400" kern="0" spc="-50" dirty="0">
                          <a:solidFill>
                            <a:srgbClr val="000000"/>
                          </a:solidFill>
                          <a:effectLst/>
                          <a:latin typeface="+mn-ea"/>
                          <a:ea typeface="+mn-ea"/>
                        </a:rPr>
                        <a:t>은 진보성 없음</a:t>
                      </a:r>
                      <a:r>
                        <a:rPr lang="en-US" altLang="ko-KR" sz="1400" kern="0" spc="-50" dirty="0">
                          <a:solidFill>
                            <a:srgbClr val="000000"/>
                          </a:solidFill>
                          <a:effectLst/>
                          <a:latin typeface="+mn-ea"/>
                          <a:ea typeface="+mn-ea"/>
                        </a:rPr>
                        <a:t>.</a:t>
                      </a:r>
                      <a:endParaRPr lang="ko-KR" altLang="en-US" sz="1400" kern="0" spc="-50" dirty="0">
                        <a:solidFill>
                          <a:srgbClr val="000000"/>
                        </a:solidFill>
                        <a:effectLst/>
                        <a:latin typeface="+mn-ea"/>
                        <a:ea typeface="+mn-ea"/>
                      </a:endParaRPr>
                    </a:p>
                    <a:p>
                      <a:pPr marL="17780" marR="17780" indent="0" algn="just" fontAlgn="base" latinLnBrk="1">
                        <a:lnSpc>
                          <a:spcPct val="120000"/>
                        </a:lnSpc>
                        <a:spcBef>
                          <a:spcPts val="0"/>
                        </a:spcBef>
                        <a:spcAft>
                          <a:spcPts val="0"/>
                        </a:spcAft>
                      </a:pP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최후보정 후의 명세서</a:t>
                      </a:r>
                      <a:r>
                        <a:rPr lang="en-US" altLang="ko-KR" sz="1400" kern="0" spc="-50" dirty="0">
                          <a:solidFill>
                            <a:srgbClr val="000000"/>
                          </a:solidFill>
                          <a:effectLst/>
                          <a:latin typeface="+mn-ea"/>
                          <a:ea typeface="+mn-ea"/>
                        </a:rPr>
                        <a:t>】</a:t>
                      </a:r>
                      <a:endParaRPr lang="ko-KR" altLang="en-US" sz="1400" kern="0" spc="-50" dirty="0">
                        <a:solidFill>
                          <a:srgbClr val="000000"/>
                        </a:solidFill>
                        <a:effectLst/>
                        <a:latin typeface="+mn-ea"/>
                        <a:ea typeface="+mn-ea"/>
                      </a:endParaRPr>
                    </a:p>
                    <a:p>
                      <a:pPr marL="17780" marR="17780" indent="0" algn="just" fontAlgn="base" latinLnBrk="1">
                        <a:lnSpc>
                          <a:spcPct val="120000"/>
                        </a:lnSpc>
                        <a:spcBef>
                          <a:spcPts val="0"/>
                        </a:spcBef>
                        <a:spcAft>
                          <a:spcPts val="0"/>
                        </a:spcAft>
                      </a:pP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 : </a:t>
                      </a:r>
                      <a:r>
                        <a:rPr lang="ko-KR" altLang="en-US" sz="1400" kern="0" spc="-50" dirty="0">
                          <a:solidFill>
                            <a:srgbClr val="000000"/>
                          </a:solidFill>
                          <a:effectLst/>
                          <a:latin typeface="+mn-ea"/>
                          <a:ea typeface="+mn-ea"/>
                        </a:rPr>
                        <a:t>삭제</a:t>
                      </a:r>
                    </a:p>
                    <a:p>
                      <a:pPr marL="17780" marR="17780" indent="0" algn="just" fontAlgn="base" latinLnBrk="1">
                        <a:lnSpc>
                          <a:spcPct val="120000"/>
                        </a:lnSpc>
                        <a:spcBef>
                          <a:spcPts val="0"/>
                        </a:spcBef>
                        <a:spcAft>
                          <a:spcPts val="0"/>
                        </a:spcAft>
                      </a:pP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2 : A+E</a:t>
                      </a:r>
                      <a:r>
                        <a:rPr lang="ko-KR" altLang="en-US" sz="1400" kern="0" spc="-50" dirty="0">
                          <a:solidFill>
                            <a:srgbClr val="000000"/>
                          </a:solidFill>
                          <a:effectLst/>
                          <a:latin typeface="+mn-ea"/>
                          <a:ea typeface="+mn-ea"/>
                        </a:rPr>
                        <a:t>로 이루어진 장치</a:t>
                      </a:r>
                    </a:p>
                    <a:p>
                      <a:pPr marL="17780" marR="17780" indent="0" algn="just" fontAlgn="base" latinLnBrk="1">
                        <a:lnSpc>
                          <a:spcPct val="120000"/>
                        </a:lnSpc>
                        <a:spcBef>
                          <a:spcPts val="0"/>
                        </a:spcBef>
                        <a:spcAft>
                          <a:spcPts val="0"/>
                        </a:spcAft>
                      </a:pP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3 : </a:t>
                      </a: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 </a:t>
                      </a:r>
                      <a:r>
                        <a:rPr lang="ko-KR" altLang="en-US" sz="1400" kern="0" spc="-50" dirty="0">
                          <a:solidFill>
                            <a:srgbClr val="000000"/>
                          </a:solidFill>
                          <a:effectLst/>
                          <a:latin typeface="+mn-ea"/>
                          <a:ea typeface="+mn-ea"/>
                        </a:rPr>
                        <a:t>또는 청구항 </a:t>
                      </a:r>
                      <a:r>
                        <a:rPr lang="en-US" altLang="ko-KR" sz="1400" kern="0" spc="-50" dirty="0">
                          <a:solidFill>
                            <a:srgbClr val="000000"/>
                          </a:solidFill>
                          <a:effectLst/>
                          <a:latin typeface="+mn-ea"/>
                          <a:ea typeface="+mn-ea"/>
                        </a:rPr>
                        <a:t>2</a:t>
                      </a:r>
                      <a:r>
                        <a:rPr lang="ko-KR" altLang="en-US" sz="1400" kern="0" spc="-50" dirty="0">
                          <a:solidFill>
                            <a:srgbClr val="000000"/>
                          </a:solidFill>
                          <a:effectLst/>
                          <a:latin typeface="+mn-ea"/>
                          <a:ea typeface="+mn-ea"/>
                        </a:rPr>
                        <a:t>에 있어서</a:t>
                      </a:r>
                      <a:r>
                        <a:rPr lang="en-US" altLang="ko-KR" sz="1400" kern="0" spc="-50" dirty="0">
                          <a:solidFill>
                            <a:srgbClr val="000000"/>
                          </a:solidFill>
                          <a:effectLst/>
                          <a:latin typeface="+mn-ea"/>
                          <a:ea typeface="+mn-ea"/>
                        </a:rPr>
                        <a:t>, C</a:t>
                      </a:r>
                      <a:r>
                        <a:rPr lang="ko-KR" altLang="en-US" sz="1400" kern="0" spc="-50" dirty="0">
                          <a:solidFill>
                            <a:srgbClr val="000000"/>
                          </a:solidFill>
                          <a:effectLst/>
                          <a:latin typeface="+mn-ea"/>
                          <a:ea typeface="+mn-ea"/>
                        </a:rPr>
                        <a:t>를 부가한 장치</a:t>
                      </a: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20000"/>
                        </a:lnSpc>
                        <a:spcBef>
                          <a:spcPts val="0"/>
                        </a:spcBef>
                        <a:spcAft>
                          <a:spcPts val="0"/>
                        </a:spcAft>
                      </a:pP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보정인정</a:t>
                      </a: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1</a:t>
                      </a:r>
                      <a:r>
                        <a:rPr lang="ko-KR" altLang="en-US" sz="1400" kern="0" spc="-50" dirty="0">
                          <a:solidFill>
                            <a:srgbClr val="000000"/>
                          </a:solidFill>
                          <a:effectLst/>
                          <a:latin typeface="+mn-ea"/>
                          <a:ea typeface="+mn-ea"/>
                        </a:rPr>
                        <a:t>을 삭제하는 보정은 청구범위의 감축에 해당함</a:t>
                      </a:r>
                      <a:r>
                        <a:rPr lang="en-US" altLang="ko-KR" sz="1400" kern="0" spc="-50" dirty="0">
                          <a:solidFill>
                            <a:srgbClr val="000000"/>
                          </a:solidFill>
                          <a:effectLst/>
                          <a:latin typeface="+mn-ea"/>
                          <a:ea typeface="+mn-ea"/>
                        </a:rPr>
                        <a:t>. </a:t>
                      </a:r>
                      <a:r>
                        <a:rPr lang="ko-KR" altLang="en-US" sz="1400" kern="0" spc="-50" dirty="0">
                          <a:solidFill>
                            <a:srgbClr val="000000"/>
                          </a:solidFill>
                          <a:effectLst/>
                          <a:latin typeface="+mn-ea"/>
                          <a:ea typeface="+mn-ea"/>
                        </a:rPr>
                        <a:t>한편</a:t>
                      </a:r>
                      <a:r>
                        <a:rPr lang="en-US" altLang="ko-KR" sz="1400" kern="0" spc="-50" dirty="0">
                          <a:solidFill>
                            <a:srgbClr val="000000"/>
                          </a:solidFill>
                          <a:effectLst/>
                          <a:latin typeface="+mn-ea"/>
                          <a:ea typeface="+mn-ea"/>
                        </a:rPr>
                        <a:t>, </a:t>
                      </a:r>
                      <a:r>
                        <a:rPr lang="ko-KR" altLang="en-US" sz="1400" kern="0" spc="-50" dirty="0">
                          <a:solidFill>
                            <a:srgbClr val="000000"/>
                          </a:solidFill>
                          <a:effectLst/>
                          <a:latin typeface="+mn-ea"/>
                          <a:ea typeface="+mn-ea"/>
                        </a:rPr>
                        <a:t>청구항 </a:t>
                      </a:r>
                      <a:r>
                        <a:rPr lang="en-US" altLang="ko-KR" sz="1400" kern="0" spc="-50" dirty="0">
                          <a:solidFill>
                            <a:srgbClr val="000000"/>
                          </a:solidFill>
                          <a:effectLst/>
                          <a:latin typeface="+mn-ea"/>
                          <a:ea typeface="+mn-ea"/>
                        </a:rPr>
                        <a:t>3</a:t>
                      </a:r>
                      <a:r>
                        <a:rPr lang="ko-KR" altLang="en-US" sz="1400" kern="0" spc="-50" dirty="0">
                          <a:solidFill>
                            <a:srgbClr val="000000"/>
                          </a:solidFill>
                          <a:effectLst/>
                          <a:latin typeface="+mn-ea"/>
                          <a:ea typeface="+mn-ea"/>
                        </a:rPr>
                        <a:t>은 삭제된 청구항 </a:t>
                      </a:r>
                      <a:r>
                        <a:rPr lang="en-US" altLang="ko-KR" sz="1400" kern="0" spc="-50" dirty="0">
                          <a:solidFill>
                            <a:srgbClr val="000000"/>
                          </a:solidFill>
                          <a:effectLst/>
                          <a:latin typeface="+mn-ea"/>
                          <a:ea typeface="+mn-ea"/>
                        </a:rPr>
                        <a:t>1</a:t>
                      </a:r>
                      <a:r>
                        <a:rPr lang="ko-KR" altLang="en-US" sz="1400" kern="0" spc="-50" dirty="0">
                          <a:solidFill>
                            <a:srgbClr val="000000"/>
                          </a:solidFill>
                          <a:effectLst/>
                          <a:latin typeface="+mn-ea"/>
                          <a:ea typeface="+mn-ea"/>
                        </a:rPr>
                        <a:t>을 인용하고 있지만 삭제된 청구항 </a:t>
                      </a:r>
                      <a:r>
                        <a:rPr lang="en-US" altLang="ko-KR" sz="1400" kern="0" spc="-50" dirty="0">
                          <a:solidFill>
                            <a:srgbClr val="000000"/>
                          </a:solidFill>
                          <a:effectLst/>
                          <a:latin typeface="+mn-ea"/>
                          <a:ea typeface="+mn-ea"/>
                        </a:rPr>
                        <a:t>1</a:t>
                      </a:r>
                      <a:r>
                        <a:rPr lang="ko-KR" altLang="en-US" sz="1400" kern="0" spc="-50" dirty="0">
                          <a:solidFill>
                            <a:srgbClr val="000000"/>
                          </a:solidFill>
                          <a:effectLst/>
                          <a:latin typeface="+mn-ea"/>
                          <a:ea typeface="+mn-ea"/>
                        </a:rPr>
                        <a:t>의 인용을 제외하고 해석하여 청구항의 발명이 </a:t>
                      </a:r>
                      <a:r>
                        <a:rPr lang="en-US" altLang="ko-KR" sz="1400" kern="0" spc="-50" dirty="0">
                          <a:solidFill>
                            <a:srgbClr val="000000"/>
                          </a:solidFill>
                          <a:effectLst/>
                          <a:latin typeface="+mn-ea"/>
                          <a:ea typeface="+mn-ea"/>
                        </a:rPr>
                        <a:t>A+E+C</a:t>
                      </a:r>
                      <a:r>
                        <a:rPr lang="ko-KR" altLang="en-US" sz="1400" kern="0" spc="-50" dirty="0">
                          <a:solidFill>
                            <a:srgbClr val="000000"/>
                          </a:solidFill>
                          <a:effectLst/>
                          <a:latin typeface="+mn-ea"/>
                          <a:ea typeface="+mn-ea"/>
                        </a:rPr>
                        <a:t>로 명확하게 파악되기 때문에 오기임이 명백한 경우로 취급하여 보정을 인정함</a:t>
                      </a:r>
                    </a:p>
                    <a:p>
                      <a:pPr marL="17780" marR="17780" indent="0" algn="just" fontAlgn="base" latinLnBrk="1">
                        <a:lnSpc>
                          <a:spcPct val="120000"/>
                        </a:lnSpc>
                        <a:spcBef>
                          <a:spcPts val="0"/>
                        </a:spcBef>
                        <a:spcAft>
                          <a:spcPts val="0"/>
                        </a:spcAft>
                      </a:pPr>
                      <a:r>
                        <a:rPr lang="en-US" altLang="ko-KR" sz="1400" kern="0" spc="-50" dirty="0">
                          <a:solidFill>
                            <a:srgbClr val="000000"/>
                          </a:solidFill>
                          <a:effectLst/>
                          <a:latin typeface="+mn-ea"/>
                          <a:ea typeface="+mn-ea"/>
                        </a:rPr>
                        <a:t>【</a:t>
                      </a:r>
                      <a:r>
                        <a:rPr lang="ko-KR" altLang="en-US" sz="1400" kern="0" spc="-50" dirty="0">
                          <a:solidFill>
                            <a:srgbClr val="000000"/>
                          </a:solidFill>
                          <a:effectLst/>
                          <a:latin typeface="+mn-ea"/>
                          <a:ea typeface="+mn-ea"/>
                        </a:rPr>
                        <a:t>특허결정</a:t>
                      </a:r>
                      <a:r>
                        <a:rPr lang="en-US" altLang="ko-KR" sz="1400" kern="0" spc="-50" dirty="0">
                          <a:solidFill>
                            <a:srgbClr val="000000"/>
                          </a:solidFill>
                          <a:effectLst/>
                          <a:latin typeface="+mn-ea"/>
                          <a:ea typeface="+mn-ea"/>
                        </a:rPr>
                        <a:t>】</a:t>
                      </a:r>
                      <a:r>
                        <a:rPr lang="ko-KR" altLang="en-US" sz="1400" kern="0" spc="-50" dirty="0" err="1">
                          <a:solidFill>
                            <a:srgbClr val="000000"/>
                          </a:solidFill>
                          <a:effectLst/>
                          <a:latin typeface="+mn-ea"/>
                          <a:ea typeface="+mn-ea"/>
                        </a:rPr>
                        <a:t>특허결정하면서</a:t>
                      </a:r>
                      <a:r>
                        <a:rPr lang="ko-KR" altLang="en-US" sz="1400" kern="0" spc="-50" dirty="0">
                          <a:solidFill>
                            <a:srgbClr val="000000"/>
                          </a:solidFill>
                          <a:effectLst/>
                          <a:latin typeface="+mn-ea"/>
                          <a:ea typeface="+mn-ea"/>
                        </a:rPr>
                        <a:t> 명백한 오기에 대해서는 </a:t>
                      </a:r>
                      <a:r>
                        <a:rPr lang="ko-KR" altLang="en-US" sz="1400" kern="0" spc="-50" dirty="0" err="1">
                          <a:solidFill>
                            <a:srgbClr val="000000"/>
                          </a:solidFill>
                          <a:effectLst/>
                          <a:latin typeface="+mn-ea"/>
                          <a:ea typeface="+mn-ea"/>
                        </a:rPr>
                        <a:t>직권보정함</a:t>
                      </a:r>
                      <a:endParaRPr lang="ko-KR" altLang="en-US" sz="1400" kern="0" spc="-50" dirty="0">
                        <a:solidFill>
                          <a:srgbClr val="000000"/>
                        </a:solidFill>
                        <a:effectLst/>
                        <a:latin typeface="+mn-ea"/>
                        <a:ea typeface="+mn-ea"/>
                      </a:endParaRPr>
                    </a:p>
                  </a:txBody>
                  <a:tcPr marL="72000" marR="7200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938217818"/>
                  </a:ext>
                </a:extLst>
              </a:tr>
            </a:tbl>
          </a:graphicData>
        </a:graphic>
      </p:graphicFrame>
    </p:spTree>
    <p:extLst>
      <p:ext uri="{BB962C8B-B14F-4D97-AF65-F5344CB8AC3E}">
        <p14:creationId xmlns:p14="http://schemas.microsoft.com/office/powerpoint/2010/main" val="3581119596"/>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sz="2400" dirty="0" err="1"/>
              <a:t>보정각하의</a:t>
            </a:r>
            <a:r>
              <a:rPr lang="ko-KR" altLang="en-US" sz="2400" dirty="0"/>
              <a:t> 예외</a:t>
            </a:r>
            <a:r>
              <a:rPr lang="en-US" altLang="ko-KR" sz="2400" dirty="0"/>
              <a:t>: </a:t>
            </a:r>
            <a:r>
              <a:rPr lang="ko-KR" altLang="en-US" sz="2400" dirty="0"/>
              <a:t>제</a:t>
            </a:r>
            <a:r>
              <a:rPr lang="en-US" altLang="ko-KR" sz="2400" dirty="0"/>
              <a:t>51</a:t>
            </a:r>
            <a:r>
              <a:rPr lang="ko-KR" altLang="en-US" sz="2400" dirty="0"/>
              <a:t>조제</a:t>
            </a:r>
            <a:r>
              <a:rPr lang="en-US" altLang="ko-KR" sz="2400" dirty="0"/>
              <a:t>1</a:t>
            </a:r>
            <a:r>
              <a:rPr lang="ko-KR" altLang="en-US" sz="2400" dirty="0" err="1"/>
              <a:t>항본문</a:t>
            </a:r>
            <a:r>
              <a:rPr lang="ko-KR" altLang="en-US" sz="2400" dirty="0"/>
              <a:t> 괄호 </a:t>
            </a:r>
            <a:r>
              <a:rPr lang="en-US" altLang="ko-KR" sz="2400" dirty="0"/>
              <a:t>CASE</a:t>
            </a:r>
            <a:endParaRPr lang="ko-KR" altLang="en-US" sz="2400" dirty="0"/>
          </a:p>
        </p:txBody>
      </p:sp>
      <p:sp>
        <p:nvSpPr>
          <p:cNvPr id="5" name="슬라이드 번호 개체 틀 4"/>
          <p:cNvSpPr>
            <a:spLocks noGrp="1"/>
          </p:cNvSpPr>
          <p:nvPr>
            <p:ph type="sldNum" sz="quarter" idx="4294967295"/>
          </p:nvPr>
        </p:nvSpPr>
        <p:spPr>
          <a:xfrm>
            <a:off x="11144250" y="3175"/>
            <a:ext cx="1047750" cy="714375"/>
          </a:xfrm>
        </p:spPr>
        <p:txBody>
          <a:bodyPr/>
          <a:lstStyle/>
          <a:p>
            <a:r>
              <a:rPr lang="en-US" altLang="ko-KR"/>
              <a:t>179</a:t>
            </a:r>
            <a:endParaRPr lang="ko-KR" altLang="en-US"/>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8" name="직선 연결선 7">
            <a:extLst>
              <a:ext uri="{FF2B5EF4-FFF2-40B4-BE49-F238E27FC236}">
                <a16:creationId xmlns:a16="http://schemas.microsoft.com/office/drawing/2014/main" id="{F9F4A705-4410-4E65-AF81-CF552010A9CD}"/>
              </a:ext>
            </a:extLst>
          </p:cNvPr>
          <p:cNvCxnSpPr>
            <a:cxnSpLocks/>
          </p:cNvCxnSpPr>
          <p:nvPr/>
        </p:nvCxnSpPr>
        <p:spPr>
          <a:xfrm>
            <a:off x="5031698" y="1964556"/>
            <a:ext cx="0" cy="420601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직사각형 8">
            <a:extLst>
              <a:ext uri="{FF2B5EF4-FFF2-40B4-BE49-F238E27FC236}">
                <a16:creationId xmlns:a16="http://schemas.microsoft.com/office/drawing/2014/main" id="{84648307-CFF5-46A6-8499-B7AD819D4672}"/>
              </a:ext>
            </a:extLst>
          </p:cNvPr>
          <p:cNvSpPr/>
          <p:nvPr/>
        </p:nvSpPr>
        <p:spPr>
          <a:xfrm>
            <a:off x="314070" y="1784535"/>
            <a:ext cx="4572722" cy="3108910"/>
          </a:xfrm>
          <a:prstGeom prst="rect">
            <a:avLst/>
          </a:prstGeom>
          <a:ln>
            <a:solidFill>
              <a:schemeClr val="bg1">
                <a:lumMod val="50000"/>
              </a:schemeClr>
            </a:solidFill>
          </a:ln>
        </p:spPr>
        <p:txBody>
          <a:bodyPr wrap="square" anchor="b">
            <a:noAutofit/>
          </a:bodyPr>
          <a:lstStyle/>
          <a:p>
            <a:pPr algn="just" fontAlgn="base">
              <a:lnSpc>
                <a:spcPct val="150000"/>
              </a:lnSpc>
              <a:spcAft>
                <a:spcPts val="200"/>
              </a:spcAft>
              <a:tabLst>
                <a:tab pos="228600" algn="l"/>
                <a:tab pos="408940" algn="l"/>
                <a:tab pos="624840" algn="l"/>
                <a:tab pos="4561840" algn="r"/>
                <a:tab pos="5036820" algn="r"/>
                <a:tab pos="228600" algn="l"/>
                <a:tab pos="408940" algn="l"/>
                <a:tab pos="624840" algn="l"/>
                <a:tab pos="4561840" algn="r"/>
                <a:tab pos="5036820" algn="r"/>
              </a:tabLst>
            </a:pPr>
            <a:r>
              <a:rPr lang="ko-KR" altLang="en-US" sz="1200" kern="0" spc="-30" dirty="0">
                <a:solidFill>
                  <a:srgbClr val="000000"/>
                </a:solidFill>
                <a:uFill>
                  <a:solidFill>
                    <a:srgbClr val="000000"/>
                  </a:solidFill>
                </a:uFill>
                <a:latin typeface="+mn-ea"/>
              </a:rPr>
              <a:t>단순히 ‘</a:t>
            </a:r>
            <a:r>
              <a:rPr lang="ko-KR" altLang="en-US" sz="1200" kern="0" spc="-30" dirty="0">
                <a:solidFill>
                  <a:srgbClr val="FF0000"/>
                </a:solidFill>
                <a:uFill>
                  <a:solidFill>
                    <a:srgbClr val="000000"/>
                  </a:solidFill>
                </a:uFill>
                <a:latin typeface="+mn-ea"/>
              </a:rPr>
              <a:t>청구항을 삭제하는 보정을 하면서 그 삭제된 청구항을 인용하던 종속항에서 인용번호를 그대로 둠으로써 특허법 제</a:t>
            </a:r>
            <a:r>
              <a:rPr lang="en-US" altLang="ko-KR" sz="1200" kern="0" spc="-30" dirty="0">
                <a:solidFill>
                  <a:srgbClr val="FF0000"/>
                </a:solidFill>
                <a:uFill>
                  <a:solidFill>
                    <a:srgbClr val="000000"/>
                  </a:solidFill>
                </a:uFill>
                <a:latin typeface="+mn-ea"/>
              </a:rPr>
              <a:t>42</a:t>
            </a:r>
            <a:r>
              <a:rPr lang="ko-KR" altLang="en-US" sz="1200" kern="0" spc="-30" dirty="0">
                <a:solidFill>
                  <a:srgbClr val="FF0000"/>
                </a:solidFill>
                <a:uFill>
                  <a:solidFill>
                    <a:srgbClr val="000000"/>
                  </a:solidFill>
                </a:uFill>
                <a:latin typeface="+mn-ea"/>
              </a:rPr>
              <a:t>조 제</a:t>
            </a:r>
            <a:r>
              <a:rPr lang="en-US" altLang="ko-KR" sz="1200" kern="0" spc="-30" dirty="0">
                <a:solidFill>
                  <a:srgbClr val="FF0000"/>
                </a:solidFill>
                <a:uFill>
                  <a:solidFill>
                    <a:srgbClr val="000000"/>
                  </a:solidFill>
                </a:uFill>
                <a:latin typeface="+mn-ea"/>
              </a:rPr>
              <a:t>3</a:t>
            </a:r>
            <a:r>
              <a:rPr lang="ko-KR" altLang="en-US" sz="1200" kern="0" spc="-30" dirty="0">
                <a:solidFill>
                  <a:srgbClr val="FF0000"/>
                </a:solidFill>
                <a:uFill>
                  <a:solidFill>
                    <a:srgbClr val="000000"/>
                  </a:solidFill>
                </a:uFill>
                <a:latin typeface="+mn-ea"/>
              </a:rPr>
              <a:t>항</a:t>
            </a:r>
            <a:r>
              <a:rPr lang="en-US" altLang="ko-KR" sz="1200" kern="0" spc="-30" dirty="0">
                <a:solidFill>
                  <a:srgbClr val="FF0000"/>
                </a:solidFill>
                <a:uFill>
                  <a:solidFill>
                    <a:srgbClr val="000000"/>
                  </a:solidFill>
                </a:uFill>
                <a:latin typeface="+mn-ea"/>
              </a:rPr>
              <a:t>, </a:t>
            </a:r>
            <a:r>
              <a:rPr lang="ko-KR" altLang="en-US" sz="1200" kern="0" spc="-30" dirty="0">
                <a:solidFill>
                  <a:srgbClr val="FF0000"/>
                </a:solidFill>
                <a:uFill>
                  <a:solidFill>
                    <a:srgbClr val="000000"/>
                  </a:solidFill>
                </a:uFill>
                <a:latin typeface="+mn-ea"/>
              </a:rPr>
              <a:t>제</a:t>
            </a:r>
            <a:r>
              <a:rPr lang="en-US" altLang="ko-KR" sz="1200" kern="0" spc="-30" dirty="0">
                <a:solidFill>
                  <a:srgbClr val="FF0000"/>
                </a:solidFill>
                <a:uFill>
                  <a:solidFill>
                    <a:srgbClr val="000000"/>
                  </a:solidFill>
                </a:uFill>
                <a:latin typeface="+mn-ea"/>
              </a:rPr>
              <a:t>4</a:t>
            </a:r>
            <a:r>
              <a:rPr lang="ko-KR" altLang="en-US" sz="1200" kern="0" spc="-30" dirty="0">
                <a:solidFill>
                  <a:srgbClr val="FF0000"/>
                </a:solidFill>
                <a:uFill>
                  <a:solidFill>
                    <a:srgbClr val="000000"/>
                  </a:solidFill>
                </a:uFill>
                <a:latin typeface="+mn-ea"/>
              </a:rPr>
              <a:t>항에서 정한 명세서 기재요건을 충족하지 않은 </a:t>
            </a:r>
            <a:r>
              <a:rPr lang="ko-KR" altLang="en-US" sz="1200" kern="0" spc="-30" dirty="0" err="1">
                <a:solidFill>
                  <a:srgbClr val="FF0000"/>
                </a:solidFill>
                <a:uFill>
                  <a:solidFill>
                    <a:srgbClr val="000000"/>
                  </a:solidFill>
                </a:uFill>
                <a:latin typeface="+mn-ea"/>
              </a:rPr>
              <a:t>기재불비가</a:t>
            </a:r>
            <a:r>
              <a:rPr lang="ko-KR" altLang="en-US" sz="1200" kern="0" spc="-30" dirty="0">
                <a:solidFill>
                  <a:srgbClr val="FF0000"/>
                </a:solidFill>
                <a:uFill>
                  <a:solidFill>
                    <a:srgbClr val="000000"/>
                  </a:solidFill>
                </a:uFill>
                <a:latin typeface="+mn-ea"/>
              </a:rPr>
              <a:t> 발생한 </a:t>
            </a:r>
            <a:r>
              <a:rPr lang="ko-KR" altLang="en-US" sz="1200" kern="0" spc="-30" dirty="0" err="1">
                <a:solidFill>
                  <a:srgbClr val="FF0000"/>
                </a:solidFill>
                <a:uFill>
                  <a:solidFill>
                    <a:srgbClr val="000000"/>
                  </a:solidFill>
                </a:uFill>
                <a:latin typeface="+mn-ea"/>
              </a:rPr>
              <a:t>경우</a:t>
            </a:r>
            <a:r>
              <a:rPr lang="ko-KR" altLang="en-US" sz="1200" kern="0" spc="-30" dirty="0" err="1">
                <a:solidFill>
                  <a:srgbClr val="000000"/>
                </a:solidFill>
                <a:uFill>
                  <a:solidFill>
                    <a:srgbClr val="000000"/>
                  </a:solidFill>
                </a:uFill>
                <a:latin typeface="+mn-ea"/>
              </a:rPr>
              <a:t>’뿐만</a:t>
            </a:r>
            <a:r>
              <a:rPr lang="ko-KR" altLang="en-US" sz="1200" kern="0" spc="-30" dirty="0">
                <a:solidFill>
                  <a:srgbClr val="000000"/>
                </a:solidFill>
                <a:uFill>
                  <a:solidFill>
                    <a:srgbClr val="000000"/>
                  </a:solidFill>
                </a:uFill>
                <a:latin typeface="+mn-ea"/>
              </a:rPr>
              <a:t> 아니라</a:t>
            </a:r>
            <a:r>
              <a:rPr lang="en-US" altLang="ko-KR" sz="1200" kern="0" spc="-30" dirty="0">
                <a:solidFill>
                  <a:srgbClr val="000000"/>
                </a:solidFill>
                <a:uFill>
                  <a:solidFill>
                    <a:srgbClr val="000000"/>
                  </a:solidFill>
                </a:uFill>
                <a:latin typeface="+mn-ea"/>
              </a:rPr>
              <a:t>, </a:t>
            </a:r>
            <a:r>
              <a:rPr lang="ko-KR" altLang="en-US" sz="1200" kern="0" spc="-30" dirty="0">
                <a:solidFill>
                  <a:srgbClr val="000000"/>
                </a:solidFill>
                <a:uFill>
                  <a:solidFill>
                    <a:srgbClr val="000000"/>
                  </a:solidFill>
                </a:uFill>
                <a:latin typeface="+mn-ea"/>
              </a:rPr>
              <a:t>‘</a:t>
            </a:r>
            <a:r>
              <a:rPr lang="ko-KR" altLang="en-US" sz="1200" kern="0" spc="-30" dirty="0">
                <a:solidFill>
                  <a:srgbClr val="FF0000"/>
                </a:solidFill>
                <a:uFill>
                  <a:solidFill>
                    <a:srgbClr val="000000"/>
                  </a:solidFill>
                </a:uFill>
                <a:latin typeface="+mn-ea"/>
              </a:rPr>
              <a:t>청구항을 삭제하는 보정을 하면서 그 삭제한 청구항을 직</a:t>
            </a:r>
            <a:r>
              <a:rPr lang="en-US" altLang="ko-KR" sz="1200" kern="0" spc="-30" dirty="0">
                <a:solidFill>
                  <a:srgbClr val="FF0000"/>
                </a:solidFill>
                <a:uFill>
                  <a:solidFill>
                    <a:srgbClr val="000000"/>
                  </a:solidFill>
                </a:uFill>
                <a:latin typeface="+mn-ea"/>
              </a:rPr>
              <a:t>․</a:t>
            </a:r>
            <a:r>
              <a:rPr lang="ko-KR" altLang="en-US" sz="1200" kern="0" spc="-30" dirty="0">
                <a:solidFill>
                  <a:srgbClr val="FF0000"/>
                </a:solidFill>
                <a:uFill>
                  <a:solidFill>
                    <a:srgbClr val="000000"/>
                  </a:solidFill>
                </a:uFill>
                <a:latin typeface="+mn-ea"/>
              </a:rPr>
              <a:t>간접적으로 인용하던 종속항에서 그 인용번호를 잘못 변경함으로써 위와 같은 </a:t>
            </a:r>
            <a:r>
              <a:rPr lang="ko-KR" altLang="en-US" sz="1200" kern="0" spc="-30" dirty="0" err="1">
                <a:solidFill>
                  <a:srgbClr val="FF0000"/>
                </a:solidFill>
                <a:uFill>
                  <a:solidFill>
                    <a:srgbClr val="000000"/>
                  </a:solidFill>
                </a:uFill>
                <a:latin typeface="+mn-ea"/>
              </a:rPr>
              <a:t>기재불비가</a:t>
            </a:r>
            <a:r>
              <a:rPr lang="ko-KR" altLang="en-US" sz="1200" kern="0" spc="-30" dirty="0">
                <a:solidFill>
                  <a:srgbClr val="FF0000"/>
                </a:solidFill>
                <a:uFill>
                  <a:solidFill>
                    <a:srgbClr val="000000"/>
                  </a:solidFill>
                </a:uFill>
                <a:latin typeface="+mn-ea"/>
              </a:rPr>
              <a:t> 발생한 </a:t>
            </a:r>
            <a:r>
              <a:rPr lang="ko-KR" altLang="en-US" sz="1200" kern="0" spc="-30" dirty="0" err="1">
                <a:solidFill>
                  <a:srgbClr val="FF0000"/>
                </a:solidFill>
                <a:uFill>
                  <a:solidFill>
                    <a:srgbClr val="000000"/>
                  </a:solidFill>
                </a:uFill>
                <a:latin typeface="+mn-ea"/>
              </a:rPr>
              <a:t>경우</a:t>
            </a:r>
            <a:r>
              <a:rPr lang="ko-KR" altLang="en-US" sz="1200" kern="0" spc="-30" dirty="0" err="1">
                <a:solidFill>
                  <a:srgbClr val="000000"/>
                </a:solidFill>
                <a:uFill>
                  <a:solidFill>
                    <a:srgbClr val="000000"/>
                  </a:solidFill>
                </a:uFill>
                <a:latin typeface="+mn-ea"/>
              </a:rPr>
              <a:t>’에도</a:t>
            </a:r>
            <a:r>
              <a:rPr lang="en-US" altLang="ko-KR" sz="1200" kern="0" spc="-30" dirty="0">
                <a:solidFill>
                  <a:srgbClr val="000000"/>
                </a:solidFill>
                <a:uFill>
                  <a:solidFill>
                    <a:srgbClr val="000000"/>
                  </a:solidFill>
                </a:uFill>
                <a:latin typeface="+mn-ea"/>
              </a:rPr>
              <a:t>, </a:t>
            </a:r>
            <a:r>
              <a:rPr lang="ko-KR" altLang="en-US" sz="1200" kern="0" spc="-30" dirty="0">
                <a:solidFill>
                  <a:srgbClr val="000000"/>
                </a:solidFill>
                <a:uFill>
                  <a:solidFill>
                    <a:srgbClr val="000000"/>
                  </a:solidFill>
                </a:uFill>
                <a:latin typeface="+mn-ea"/>
              </a:rPr>
              <a:t>이에 대해 거절이유를 통지하여 보정의 기회를 다시 부여하더라도 또 </a:t>
            </a:r>
            <a:r>
              <a:rPr lang="ko-KR" altLang="en-US" sz="1200" kern="0" spc="-30" dirty="0">
                <a:solidFill>
                  <a:srgbClr val="000000"/>
                </a:solidFill>
                <a:highlight>
                  <a:srgbClr val="FFFF00"/>
                </a:highlight>
                <a:uFill>
                  <a:solidFill>
                    <a:srgbClr val="000000"/>
                  </a:solidFill>
                </a:uFill>
                <a:latin typeface="+mn-ea"/>
              </a:rPr>
              <a:t>다른 보정의 반복에 의하여 심사관의 새로운 심사에 따른 업무량 가중 및 심사절차의 지연의 문제가 생길 염려가 없음</a:t>
            </a:r>
            <a:r>
              <a:rPr lang="ko-KR" altLang="en-US" sz="1200" kern="0" spc="-30" dirty="0">
                <a:solidFill>
                  <a:srgbClr val="000000"/>
                </a:solidFill>
                <a:uFill>
                  <a:solidFill>
                    <a:srgbClr val="000000"/>
                  </a:solidFill>
                </a:uFill>
                <a:latin typeface="+mn-ea"/>
              </a:rPr>
              <a:t>은 마찬가지이므로</a:t>
            </a:r>
            <a:r>
              <a:rPr lang="en-US" altLang="ko-KR" sz="1200" kern="0" spc="-30" dirty="0">
                <a:solidFill>
                  <a:srgbClr val="000000"/>
                </a:solidFill>
                <a:uFill>
                  <a:solidFill>
                    <a:srgbClr val="000000"/>
                  </a:solidFill>
                </a:uFill>
                <a:latin typeface="+mn-ea"/>
              </a:rPr>
              <a:t>, </a:t>
            </a:r>
            <a:r>
              <a:rPr lang="ko-KR" altLang="en-US" sz="1200" kern="0" spc="-30" dirty="0">
                <a:solidFill>
                  <a:srgbClr val="000000"/>
                </a:solidFill>
                <a:uFill>
                  <a:solidFill>
                    <a:srgbClr val="000000"/>
                  </a:solidFill>
                </a:uFill>
                <a:latin typeface="+mn-ea"/>
              </a:rPr>
              <a:t>이들 경우 모두가 위 규정에서 말하는 ‘청구항을 삭제하는 보정에 따라 새로운 거절이유가 발생한 </a:t>
            </a:r>
            <a:r>
              <a:rPr lang="ko-KR" altLang="en-US" sz="1200" kern="0" spc="-30" dirty="0" err="1">
                <a:solidFill>
                  <a:srgbClr val="000000"/>
                </a:solidFill>
                <a:uFill>
                  <a:solidFill>
                    <a:srgbClr val="000000"/>
                  </a:solidFill>
                </a:uFill>
                <a:latin typeface="+mn-ea"/>
              </a:rPr>
              <a:t>경우‘에</a:t>
            </a:r>
            <a:r>
              <a:rPr lang="ko-KR" altLang="en-US" sz="1200" kern="0" spc="-30" dirty="0">
                <a:solidFill>
                  <a:srgbClr val="000000"/>
                </a:solidFill>
                <a:uFill>
                  <a:solidFill>
                    <a:srgbClr val="000000"/>
                  </a:solidFill>
                </a:uFill>
                <a:latin typeface="+mn-ea"/>
              </a:rPr>
              <a:t> 포함된다고 할 것이다</a:t>
            </a:r>
            <a:r>
              <a:rPr lang="en-US" altLang="ko-KR" sz="1200" kern="0" spc="-30" dirty="0">
                <a:solidFill>
                  <a:srgbClr val="000000"/>
                </a:solidFill>
                <a:uFill>
                  <a:solidFill>
                    <a:srgbClr val="000000"/>
                  </a:solidFill>
                </a:uFill>
                <a:latin typeface="+mn-ea"/>
              </a:rPr>
              <a:t>.</a:t>
            </a:r>
            <a:endParaRPr lang="ko-KR" altLang="en-US" sz="1200" kern="0" spc="-30" dirty="0">
              <a:solidFill>
                <a:srgbClr val="000000"/>
              </a:solidFill>
              <a:latin typeface="+mn-ea"/>
            </a:endParaRPr>
          </a:p>
        </p:txBody>
      </p:sp>
      <p:sp>
        <p:nvSpPr>
          <p:cNvPr id="50" name="모서리가 둥근 직사각형 55">
            <a:extLst>
              <a:ext uri="{FF2B5EF4-FFF2-40B4-BE49-F238E27FC236}">
                <a16:creationId xmlns:a16="http://schemas.microsoft.com/office/drawing/2014/main" id="{1C304AFE-FFFD-49BA-841C-EFD7C28399FF}"/>
              </a:ext>
            </a:extLst>
          </p:cNvPr>
          <p:cNvSpPr/>
          <p:nvPr/>
        </p:nvSpPr>
        <p:spPr bwMode="auto">
          <a:xfrm>
            <a:off x="438660" y="1604516"/>
            <a:ext cx="3130870" cy="360040"/>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2014. 7. 10 </a:t>
            </a:r>
            <a:r>
              <a:rPr lang="ko-KR" altLang="en-US" sz="1400" dirty="0"/>
              <a:t>선고 </a:t>
            </a:r>
            <a:r>
              <a:rPr lang="en-US" altLang="ko-KR" sz="1400" dirty="0"/>
              <a:t>2013</a:t>
            </a:r>
            <a:r>
              <a:rPr lang="ko-KR" altLang="en-US" sz="1400" dirty="0"/>
              <a:t>후</a:t>
            </a:r>
            <a:r>
              <a:rPr lang="en-US" altLang="ko-KR" sz="1400" dirty="0"/>
              <a:t>2101</a:t>
            </a:r>
          </a:p>
        </p:txBody>
      </p:sp>
      <p:graphicFrame>
        <p:nvGraphicFramePr>
          <p:cNvPr id="10" name="표 9">
            <a:extLst>
              <a:ext uri="{FF2B5EF4-FFF2-40B4-BE49-F238E27FC236}">
                <a16:creationId xmlns:a16="http://schemas.microsoft.com/office/drawing/2014/main" id="{13F7D12C-EEFE-482E-A3B3-62171CDE6442}"/>
              </a:ext>
            </a:extLst>
          </p:cNvPr>
          <p:cNvGraphicFramePr>
            <a:graphicFrameLocks noGrp="1"/>
          </p:cNvGraphicFramePr>
          <p:nvPr/>
        </p:nvGraphicFramePr>
        <p:xfrm>
          <a:off x="321243" y="4966093"/>
          <a:ext cx="4572720" cy="1565345"/>
        </p:xfrm>
        <a:graphic>
          <a:graphicData uri="http://schemas.openxmlformats.org/drawingml/2006/table">
            <a:tbl>
              <a:tblPr>
                <a:tableStyleId>{BC89EF96-8CEA-46FF-86C4-4CE0E7609802}</a:tableStyleId>
              </a:tblPr>
              <a:tblGrid>
                <a:gridCol w="1524240">
                  <a:extLst>
                    <a:ext uri="{9D8B030D-6E8A-4147-A177-3AD203B41FA5}">
                      <a16:colId xmlns:a16="http://schemas.microsoft.com/office/drawing/2014/main" val="2821898448"/>
                    </a:ext>
                  </a:extLst>
                </a:gridCol>
                <a:gridCol w="1524240">
                  <a:extLst>
                    <a:ext uri="{9D8B030D-6E8A-4147-A177-3AD203B41FA5}">
                      <a16:colId xmlns:a16="http://schemas.microsoft.com/office/drawing/2014/main" val="1955978822"/>
                    </a:ext>
                  </a:extLst>
                </a:gridCol>
                <a:gridCol w="1524240">
                  <a:extLst>
                    <a:ext uri="{9D8B030D-6E8A-4147-A177-3AD203B41FA5}">
                      <a16:colId xmlns:a16="http://schemas.microsoft.com/office/drawing/2014/main" val="524729482"/>
                    </a:ext>
                  </a:extLst>
                </a:gridCol>
              </a:tblGrid>
              <a:tr h="313069">
                <a:tc>
                  <a:txBody>
                    <a:bodyPr/>
                    <a:lstStyle/>
                    <a:p>
                      <a:pPr latinLnBrk="1"/>
                      <a:r>
                        <a:rPr lang="ko-KR" altLang="en-US" sz="900" dirty="0"/>
                        <a:t>청구항</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latinLnBrk="1"/>
                      <a:r>
                        <a:rPr lang="ko-KR" altLang="en-US" sz="900" dirty="0" err="1"/>
                        <a:t>보정전</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latinLnBrk="1"/>
                      <a:r>
                        <a:rPr lang="ko-KR" altLang="en-US" sz="900" dirty="0" err="1"/>
                        <a:t>보정후</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43943648"/>
                  </a:ext>
                </a:extLst>
              </a:tr>
              <a:tr h="313069">
                <a:tc>
                  <a:txBody>
                    <a:bodyPr/>
                    <a:lstStyle/>
                    <a:p>
                      <a:pPr latinLnBrk="1"/>
                      <a:r>
                        <a:rPr lang="en-US" altLang="ko-KR" sz="900" dirty="0"/>
                        <a:t>22</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latinLnBrk="1"/>
                      <a:r>
                        <a:rPr lang="en-US" altLang="ko-KR" sz="900" dirty="0"/>
                        <a:t>C</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latinLnBrk="1"/>
                      <a:r>
                        <a:rPr lang="en-US" altLang="ko-KR" sz="900" dirty="0"/>
                        <a:t>C1</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290182188"/>
                  </a:ext>
                </a:extLst>
              </a:tr>
              <a:tr h="313069">
                <a:tc>
                  <a:txBody>
                    <a:bodyPr/>
                    <a:lstStyle/>
                    <a:p>
                      <a:pPr latinLnBrk="1"/>
                      <a:r>
                        <a:rPr lang="en-US" altLang="ko-KR" sz="900" dirty="0"/>
                        <a:t>23</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latinLnBrk="1"/>
                      <a:r>
                        <a:rPr lang="ko-KR" altLang="en-US" sz="900" dirty="0"/>
                        <a:t>제</a:t>
                      </a:r>
                      <a:r>
                        <a:rPr lang="en-US" altLang="ko-KR" sz="900" dirty="0"/>
                        <a:t>22</a:t>
                      </a:r>
                      <a:r>
                        <a:rPr lang="ko-KR" altLang="en-US" sz="900" dirty="0"/>
                        <a:t>항에 있어서</a:t>
                      </a:r>
                      <a:r>
                        <a:rPr lang="en-US" altLang="ko-KR" sz="900" dirty="0"/>
                        <a:t>, C</a:t>
                      </a:r>
                      <a:r>
                        <a:rPr lang="ko-KR" altLang="en-US" sz="900" dirty="0"/>
                        <a:t>는</a:t>
                      </a:r>
                      <a:r>
                        <a:rPr lang="en-US" altLang="ko-KR" sz="900" dirty="0"/>
                        <a:t> C1 </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latinLnBrk="1"/>
                      <a:r>
                        <a:rPr lang="ko-KR" altLang="en-US" sz="900" dirty="0"/>
                        <a:t>삭제</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654159174"/>
                  </a:ext>
                </a:extLst>
              </a:tr>
              <a:tr h="313069">
                <a:tc>
                  <a:txBody>
                    <a:bodyPr/>
                    <a:lstStyle/>
                    <a:p>
                      <a:pPr latinLnBrk="1"/>
                      <a:r>
                        <a:rPr lang="en-US" altLang="ko-KR" sz="900" dirty="0"/>
                        <a:t>24</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latinLnBrk="1"/>
                      <a:r>
                        <a:rPr lang="ko-KR" altLang="en-US" sz="900" dirty="0"/>
                        <a:t>제</a:t>
                      </a:r>
                      <a:r>
                        <a:rPr lang="en-US" altLang="ko-KR" sz="900" dirty="0"/>
                        <a:t>23</a:t>
                      </a:r>
                      <a:r>
                        <a:rPr lang="ko-KR" altLang="en-US" sz="900" dirty="0"/>
                        <a:t>항에 있어서</a:t>
                      </a:r>
                      <a:r>
                        <a:rPr lang="en-US" altLang="ko-KR" sz="900" dirty="0"/>
                        <a:t>, C1</a:t>
                      </a:r>
                      <a:r>
                        <a:rPr lang="ko-KR" altLang="en-US" sz="900" dirty="0"/>
                        <a:t>은 </a:t>
                      </a:r>
                      <a:r>
                        <a:rPr lang="en-US" altLang="ko-KR" sz="900" dirty="0"/>
                        <a:t>C2</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latinLnBrk="1"/>
                      <a:r>
                        <a:rPr lang="ko-KR" altLang="en-US" sz="900" dirty="0"/>
                        <a:t>제</a:t>
                      </a:r>
                      <a:r>
                        <a:rPr lang="en-US" altLang="ko-KR" sz="900" dirty="0"/>
                        <a:t>22</a:t>
                      </a:r>
                      <a:r>
                        <a:rPr lang="ko-KR" altLang="en-US" sz="900" dirty="0"/>
                        <a:t>항에 있어서</a:t>
                      </a:r>
                      <a:r>
                        <a:rPr lang="en-US" altLang="ko-KR" sz="900" dirty="0"/>
                        <a:t>, C1</a:t>
                      </a:r>
                      <a:r>
                        <a:rPr lang="ko-KR" altLang="en-US" sz="900" dirty="0"/>
                        <a:t>은 </a:t>
                      </a:r>
                      <a:r>
                        <a:rPr lang="en-US" altLang="ko-KR" sz="900" dirty="0"/>
                        <a:t>C2</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741391485"/>
                  </a:ext>
                </a:extLst>
              </a:tr>
              <a:tr h="313069">
                <a:tc>
                  <a:txBody>
                    <a:bodyPr/>
                    <a:lstStyle/>
                    <a:p>
                      <a:pPr latinLnBrk="1"/>
                      <a:r>
                        <a:rPr lang="en-US" altLang="ko-KR" sz="900" dirty="0"/>
                        <a:t>25</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latinLnBrk="1"/>
                      <a:r>
                        <a:rPr lang="ko-KR" altLang="en-US" sz="900" dirty="0"/>
                        <a:t>제</a:t>
                      </a:r>
                      <a:r>
                        <a:rPr lang="en-US" altLang="ko-KR" sz="900" dirty="0"/>
                        <a:t>24</a:t>
                      </a:r>
                      <a:r>
                        <a:rPr lang="ko-KR" altLang="en-US" sz="900" dirty="0"/>
                        <a:t>항에 있어서</a:t>
                      </a:r>
                      <a:r>
                        <a:rPr lang="en-US" altLang="ko-KR" sz="900" dirty="0"/>
                        <a:t>, C2</a:t>
                      </a:r>
                      <a:r>
                        <a:rPr lang="ko-KR" altLang="en-US" sz="900" dirty="0"/>
                        <a:t>는 </a:t>
                      </a:r>
                      <a:r>
                        <a:rPr lang="en-US" altLang="ko-KR" sz="900" dirty="0"/>
                        <a:t>C3</a:t>
                      </a:r>
                      <a:endParaRPr lang="ko-KR" altLang="en-US" sz="900" dirty="0"/>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latinLnBrk="1"/>
                      <a:r>
                        <a:rPr lang="ko-KR" altLang="en-US" sz="900" dirty="0">
                          <a:solidFill>
                            <a:srgbClr val="FF0000"/>
                          </a:solidFill>
                        </a:rPr>
                        <a:t>제</a:t>
                      </a:r>
                      <a:r>
                        <a:rPr lang="en-US" altLang="ko-KR" sz="900" dirty="0">
                          <a:solidFill>
                            <a:srgbClr val="FF0000"/>
                          </a:solidFill>
                        </a:rPr>
                        <a:t>22</a:t>
                      </a:r>
                      <a:r>
                        <a:rPr lang="ko-KR" altLang="en-US" sz="900" dirty="0">
                          <a:solidFill>
                            <a:srgbClr val="FF0000"/>
                          </a:solidFill>
                        </a:rPr>
                        <a:t>항에 있어서</a:t>
                      </a:r>
                      <a:r>
                        <a:rPr lang="en-US" altLang="ko-KR" sz="900" dirty="0">
                          <a:solidFill>
                            <a:srgbClr val="FF0000"/>
                          </a:solidFill>
                        </a:rPr>
                        <a:t>, C2</a:t>
                      </a:r>
                      <a:r>
                        <a:rPr lang="ko-KR" altLang="en-US" sz="900" dirty="0">
                          <a:solidFill>
                            <a:srgbClr val="FF0000"/>
                          </a:solidFill>
                        </a:rPr>
                        <a:t>는 </a:t>
                      </a:r>
                      <a:r>
                        <a:rPr lang="en-US" altLang="ko-KR" sz="900" dirty="0">
                          <a:solidFill>
                            <a:srgbClr val="FF0000"/>
                          </a:solidFill>
                        </a:rPr>
                        <a:t>C3</a:t>
                      </a:r>
                      <a:endParaRPr lang="ko-KR" altLang="en-US" sz="900" dirty="0">
                        <a:solidFill>
                          <a:srgbClr val="FF0000"/>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4083865070"/>
                  </a:ext>
                </a:extLst>
              </a:tr>
            </a:tbl>
          </a:graphicData>
        </a:graphic>
      </p:graphicFrame>
      <p:sp>
        <p:nvSpPr>
          <p:cNvPr id="12" name="Rectangle 5">
            <a:extLst>
              <a:ext uri="{FF2B5EF4-FFF2-40B4-BE49-F238E27FC236}">
                <a16:creationId xmlns:a16="http://schemas.microsoft.com/office/drawing/2014/main" id="{FB7AD22A-3ECB-4225-B647-0ED3F77B63CF}"/>
              </a:ext>
            </a:extLst>
          </p:cNvPr>
          <p:cNvSpPr>
            <a:spLocks noChangeArrowheads="1"/>
          </p:cNvSpPr>
          <p:nvPr/>
        </p:nvSpPr>
        <p:spPr bwMode="auto">
          <a:xfrm>
            <a:off x="347687" y="1094336"/>
            <a:ext cx="5748313"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a:solidFill>
                  <a:schemeClr val="bg1"/>
                </a:solidFill>
                <a:latin typeface="+mj-ea"/>
                <a:ea typeface="+mj-ea"/>
              </a:rPr>
              <a:t>청구항을 삭제하는 보정에 의하여 새로운 거절이유가 발생한 경우</a:t>
            </a:r>
            <a:endParaRPr lang="ko-KR" altLang="en-US" sz="1600" b="0" dirty="0">
              <a:solidFill>
                <a:schemeClr val="bg1"/>
              </a:solidFill>
              <a:latin typeface="+mj-ea"/>
              <a:ea typeface="+mj-ea"/>
            </a:endParaRPr>
          </a:p>
        </p:txBody>
      </p:sp>
      <p:sp>
        <p:nvSpPr>
          <p:cNvPr id="13" name="직사각형 12">
            <a:extLst>
              <a:ext uri="{FF2B5EF4-FFF2-40B4-BE49-F238E27FC236}">
                <a16:creationId xmlns:a16="http://schemas.microsoft.com/office/drawing/2014/main" id="{76BD2C39-77D1-404D-935D-43F9D3F9BDD7}"/>
              </a:ext>
            </a:extLst>
          </p:cNvPr>
          <p:cNvSpPr/>
          <p:nvPr/>
        </p:nvSpPr>
        <p:spPr>
          <a:xfrm>
            <a:off x="5245833" y="1784536"/>
            <a:ext cx="6701325" cy="1873064"/>
          </a:xfrm>
          <a:prstGeom prst="rect">
            <a:avLst/>
          </a:prstGeom>
          <a:ln>
            <a:solidFill>
              <a:schemeClr val="bg1">
                <a:lumMod val="50000"/>
              </a:schemeClr>
            </a:solidFill>
          </a:ln>
        </p:spPr>
        <p:txBody>
          <a:bodyPr wrap="square" anchor="b">
            <a:noAutofit/>
          </a:bodyPr>
          <a:lstStyle/>
          <a:p>
            <a:pPr algn="just" fontAlgn="base">
              <a:lnSpc>
                <a:spcPct val="150000"/>
              </a:lnSpc>
              <a:spcAft>
                <a:spcPts val="200"/>
              </a:spcAft>
              <a:tabLst>
                <a:tab pos="228600" algn="l"/>
                <a:tab pos="408940" algn="l"/>
                <a:tab pos="624840" algn="l"/>
                <a:tab pos="4561840" algn="r"/>
                <a:tab pos="5036820" algn="r"/>
                <a:tab pos="228600" algn="l"/>
                <a:tab pos="408940" algn="l"/>
                <a:tab pos="624840" algn="l"/>
                <a:tab pos="4561840" algn="r"/>
                <a:tab pos="5036820" algn="r"/>
              </a:tabLst>
            </a:pPr>
            <a:r>
              <a:rPr lang="ko-KR" altLang="en-US" sz="1200" kern="0" spc="-30" dirty="0">
                <a:solidFill>
                  <a:srgbClr val="000000"/>
                </a:solidFill>
                <a:uFill>
                  <a:solidFill>
                    <a:srgbClr val="000000"/>
                  </a:solidFill>
                </a:uFill>
                <a:latin typeface="+mn-ea"/>
              </a:rPr>
              <a:t>청구항을 삭제하는 보정에 따라 발생한 새로운 거절이유에는 단순히 ‘청구항을 삭제하는 보정을 하면서 그 삭제된 청구항을 인용하던 종속항에서 인용번호를 그대로 둠으로써 명세서 기재요건을 충족하지 않은 </a:t>
            </a:r>
            <a:r>
              <a:rPr lang="ko-KR" altLang="en-US" sz="1200" kern="0" spc="-30" dirty="0" err="1">
                <a:solidFill>
                  <a:srgbClr val="000000"/>
                </a:solidFill>
                <a:uFill>
                  <a:solidFill>
                    <a:srgbClr val="000000"/>
                  </a:solidFill>
                </a:uFill>
                <a:latin typeface="+mn-ea"/>
              </a:rPr>
              <a:t>기재불비가</a:t>
            </a:r>
            <a:r>
              <a:rPr lang="ko-KR" altLang="en-US" sz="1200" kern="0" spc="-30" dirty="0">
                <a:solidFill>
                  <a:srgbClr val="000000"/>
                </a:solidFill>
                <a:uFill>
                  <a:solidFill>
                    <a:srgbClr val="000000"/>
                  </a:solidFill>
                </a:uFill>
                <a:latin typeface="+mn-ea"/>
              </a:rPr>
              <a:t> 발생한 </a:t>
            </a:r>
            <a:r>
              <a:rPr lang="ko-KR" altLang="en-US" sz="1200" kern="0" spc="-30" dirty="0" err="1">
                <a:solidFill>
                  <a:srgbClr val="000000"/>
                </a:solidFill>
                <a:uFill>
                  <a:solidFill>
                    <a:srgbClr val="000000"/>
                  </a:solidFill>
                </a:uFill>
                <a:latin typeface="+mn-ea"/>
              </a:rPr>
              <a:t>경우’뿐만</a:t>
            </a:r>
            <a:r>
              <a:rPr lang="ko-KR" altLang="en-US" sz="1200" kern="0" spc="-30" dirty="0">
                <a:solidFill>
                  <a:srgbClr val="000000"/>
                </a:solidFill>
                <a:uFill>
                  <a:solidFill>
                    <a:srgbClr val="000000"/>
                  </a:solidFill>
                </a:uFill>
                <a:latin typeface="+mn-ea"/>
              </a:rPr>
              <a:t> 아니라</a:t>
            </a:r>
            <a:r>
              <a:rPr lang="en-US" altLang="ko-KR" sz="1200" kern="0" spc="-30" dirty="0">
                <a:solidFill>
                  <a:srgbClr val="000000"/>
                </a:solidFill>
                <a:uFill>
                  <a:solidFill>
                    <a:srgbClr val="000000"/>
                  </a:solidFill>
                </a:uFill>
                <a:latin typeface="+mn-ea"/>
              </a:rPr>
              <a:t>, ‘</a:t>
            </a:r>
            <a:r>
              <a:rPr lang="ko-KR" altLang="en-US" sz="1200" kern="0" spc="-30" dirty="0">
                <a:solidFill>
                  <a:srgbClr val="000000"/>
                </a:solidFill>
                <a:uFill>
                  <a:solidFill>
                    <a:srgbClr val="000000"/>
                  </a:solidFill>
                </a:uFill>
                <a:latin typeface="+mn-ea"/>
              </a:rPr>
              <a:t>청구항을 삭제하는 보정을 하면서 그 삭제된 청구항을 직</a:t>
            </a:r>
            <a:r>
              <a:rPr lang="en-US" altLang="ko-KR" sz="1200" kern="0" spc="-30" dirty="0">
                <a:solidFill>
                  <a:srgbClr val="000000"/>
                </a:solidFill>
                <a:uFill>
                  <a:solidFill>
                    <a:srgbClr val="000000"/>
                  </a:solidFill>
                </a:uFill>
                <a:latin typeface="+mn-ea"/>
              </a:rPr>
              <a:t>·</a:t>
            </a:r>
            <a:r>
              <a:rPr lang="ko-KR" altLang="en-US" sz="1200" kern="0" spc="-30" dirty="0">
                <a:solidFill>
                  <a:srgbClr val="000000"/>
                </a:solidFill>
                <a:uFill>
                  <a:solidFill>
                    <a:srgbClr val="000000"/>
                  </a:solidFill>
                </a:uFill>
                <a:latin typeface="+mn-ea"/>
              </a:rPr>
              <a:t>간접적으로 인용하던 종속항을 보정하는 과정에서</a:t>
            </a:r>
            <a:r>
              <a:rPr lang="en-US" altLang="ko-KR" sz="1200" kern="0" spc="-30" dirty="0">
                <a:solidFill>
                  <a:srgbClr val="000000"/>
                </a:solidFill>
                <a:uFill>
                  <a:solidFill>
                    <a:srgbClr val="000000"/>
                  </a:solidFill>
                </a:uFill>
                <a:latin typeface="+mn-ea"/>
              </a:rPr>
              <a:t>, </a:t>
            </a:r>
            <a:r>
              <a:rPr lang="ko-KR" altLang="en-US" sz="1200" kern="0" spc="-30" dirty="0">
                <a:solidFill>
                  <a:srgbClr val="000000"/>
                </a:solidFill>
                <a:uFill>
                  <a:solidFill>
                    <a:srgbClr val="000000"/>
                  </a:solidFill>
                </a:uFill>
                <a:latin typeface="+mn-ea"/>
              </a:rPr>
              <a:t>그 인용번호를 잘못 변경하거나</a:t>
            </a:r>
            <a:r>
              <a:rPr lang="en-US" altLang="ko-KR" sz="1200" kern="0" spc="-30" dirty="0">
                <a:solidFill>
                  <a:srgbClr val="000000"/>
                </a:solidFill>
                <a:uFill>
                  <a:solidFill>
                    <a:srgbClr val="000000"/>
                  </a:solidFill>
                </a:uFill>
                <a:latin typeface="+mn-ea"/>
              </a:rPr>
              <a:t>, </a:t>
            </a:r>
            <a:r>
              <a:rPr lang="ko-KR" altLang="en-US" sz="1200" kern="0" spc="-30" dirty="0">
                <a:solidFill>
                  <a:srgbClr val="FF0000"/>
                </a:solidFill>
                <a:uFill>
                  <a:solidFill>
                    <a:srgbClr val="000000"/>
                  </a:solidFill>
                </a:uFill>
                <a:latin typeface="+mn-ea"/>
              </a:rPr>
              <a:t>종속항이 </a:t>
            </a:r>
            <a:r>
              <a:rPr lang="en-US" altLang="ko-KR" sz="1200" kern="0" spc="-30" dirty="0">
                <a:solidFill>
                  <a:srgbClr val="FF0000"/>
                </a:solidFill>
                <a:uFill>
                  <a:solidFill>
                    <a:srgbClr val="000000"/>
                  </a:solidFill>
                </a:uFill>
                <a:latin typeface="+mn-ea"/>
              </a:rPr>
              <a:t>2 </a:t>
            </a:r>
            <a:r>
              <a:rPr lang="ko-KR" altLang="en-US" sz="1200" kern="0" spc="-30" dirty="0">
                <a:solidFill>
                  <a:srgbClr val="FF0000"/>
                </a:solidFill>
                <a:uFill>
                  <a:solidFill>
                    <a:srgbClr val="000000"/>
                  </a:solidFill>
                </a:uFill>
                <a:latin typeface="+mn-ea"/>
              </a:rPr>
              <a:t>이상의 항을 인용하는 경우에 인용되는 항의 번호 사이의 </a:t>
            </a:r>
            <a:r>
              <a:rPr lang="ko-KR" altLang="en-US" sz="1200" kern="0" spc="-30" dirty="0" err="1">
                <a:solidFill>
                  <a:srgbClr val="FF0000"/>
                </a:solidFill>
                <a:uFill>
                  <a:solidFill>
                    <a:srgbClr val="000000"/>
                  </a:solidFill>
                </a:uFill>
                <a:latin typeface="+mn-ea"/>
              </a:rPr>
              <a:t>택일적</a:t>
            </a:r>
            <a:r>
              <a:rPr lang="ko-KR" altLang="en-US" sz="1200" kern="0" spc="-30" dirty="0">
                <a:solidFill>
                  <a:srgbClr val="FF0000"/>
                </a:solidFill>
                <a:uFill>
                  <a:solidFill>
                    <a:srgbClr val="000000"/>
                  </a:solidFill>
                </a:uFill>
                <a:latin typeface="+mn-ea"/>
              </a:rPr>
              <a:t> 관계에 대한 기재를 누락함으로써 위와 같은 </a:t>
            </a:r>
            <a:r>
              <a:rPr lang="ko-KR" altLang="en-US" sz="1200" kern="0" spc="-30" dirty="0" err="1">
                <a:solidFill>
                  <a:srgbClr val="FF0000"/>
                </a:solidFill>
                <a:uFill>
                  <a:solidFill>
                    <a:srgbClr val="000000"/>
                  </a:solidFill>
                </a:uFill>
                <a:latin typeface="+mn-ea"/>
              </a:rPr>
              <a:t>기재불비가</a:t>
            </a:r>
            <a:r>
              <a:rPr lang="ko-KR" altLang="en-US" sz="1200" kern="0" spc="-30" dirty="0">
                <a:solidFill>
                  <a:srgbClr val="FF0000"/>
                </a:solidFill>
                <a:uFill>
                  <a:solidFill>
                    <a:srgbClr val="000000"/>
                  </a:solidFill>
                </a:uFill>
                <a:latin typeface="+mn-ea"/>
              </a:rPr>
              <a:t> 발생한 </a:t>
            </a:r>
            <a:r>
              <a:rPr lang="ko-KR" altLang="en-US" sz="1200" kern="0" spc="-30" dirty="0" err="1">
                <a:solidFill>
                  <a:srgbClr val="FF0000"/>
                </a:solidFill>
                <a:uFill>
                  <a:solidFill>
                    <a:srgbClr val="000000"/>
                  </a:solidFill>
                </a:uFill>
                <a:latin typeface="+mn-ea"/>
              </a:rPr>
              <a:t>경우</a:t>
            </a:r>
            <a:r>
              <a:rPr lang="ko-KR" altLang="en-US" sz="1200" kern="0" spc="-30" dirty="0" err="1">
                <a:solidFill>
                  <a:srgbClr val="000000"/>
                </a:solidFill>
                <a:uFill>
                  <a:solidFill>
                    <a:srgbClr val="000000"/>
                  </a:solidFill>
                </a:uFill>
                <a:latin typeface="+mn-ea"/>
              </a:rPr>
              <a:t>’도</a:t>
            </a:r>
            <a:r>
              <a:rPr lang="ko-KR" altLang="en-US" sz="1200" kern="0" spc="-30" dirty="0">
                <a:solidFill>
                  <a:srgbClr val="000000"/>
                </a:solidFill>
                <a:uFill>
                  <a:solidFill>
                    <a:srgbClr val="000000"/>
                  </a:solidFill>
                </a:uFill>
                <a:latin typeface="+mn-ea"/>
              </a:rPr>
              <a:t> 포함된다고 보아야 한다</a:t>
            </a:r>
            <a:r>
              <a:rPr lang="en-US" altLang="ko-KR" sz="1200" kern="0" spc="-30" dirty="0">
                <a:solidFill>
                  <a:srgbClr val="000000"/>
                </a:solidFill>
                <a:uFill>
                  <a:solidFill>
                    <a:srgbClr val="000000"/>
                  </a:solidFill>
                </a:uFill>
                <a:latin typeface="+mn-ea"/>
              </a:rPr>
              <a:t>. </a:t>
            </a:r>
            <a:endParaRPr lang="ko-KR" altLang="en-US" sz="1200" kern="0" spc="-30" dirty="0">
              <a:solidFill>
                <a:srgbClr val="000000"/>
              </a:solidFill>
              <a:latin typeface="+mn-ea"/>
            </a:endParaRPr>
          </a:p>
        </p:txBody>
      </p:sp>
      <p:sp>
        <p:nvSpPr>
          <p:cNvPr id="14" name="모서리가 둥근 직사각형 55">
            <a:extLst>
              <a:ext uri="{FF2B5EF4-FFF2-40B4-BE49-F238E27FC236}">
                <a16:creationId xmlns:a16="http://schemas.microsoft.com/office/drawing/2014/main" id="{C0763EFE-7E5B-4038-916E-8085671FB4B1}"/>
              </a:ext>
            </a:extLst>
          </p:cNvPr>
          <p:cNvSpPr/>
          <p:nvPr/>
        </p:nvSpPr>
        <p:spPr bwMode="auto">
          <a:xfrm>
            <a:off x="5370424" y="1604516"/>
            <a:ext cx="3130870" cy="360040"/>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2018. 6. 28 </a:t>
            </a:r>
            <a:r>
              <a:rPr lang="ko-KR" altLang="en-US" sz="1400" dirty="0"/>
              <a:t>선고 </a:t>
            </a:r>
            <a:r>
              <a:rPr lang="en-US" altLang="ko-KR" sz="1400" dirty="0"/>
              <a:t>2014</a:t>
            </a:r>
            <a:r>
              <a:rPr lang="ko-KR" altLang="en-US" sz="1400" dirty="0"/>
              <a:t>후</a:t>
            </a:r>
            <a:r>
              <a:rPr lang="en-US" altLang="ko-KR" sz="1400" dirty="0"/>
              <a:t>553</a:t>
            </a:r>
          </a:p>
        </p:txBody>
      </p:sp>
      <p:graphicFrame>
        <p:nvGraphicFramePr>
          <p:cNvPr id="7" name="표 6">
            <a:extLst>
              <a:ext uri="{FF2B5EF4-FFF2-40B4-BE49-F238E27FC236}">
                <a16:creationId xmlns:a16="http://schemas.microsoft.com/office/drawing/2014/main" id="{6F8CE1F7-3D44-4034-94E6-4D93AB2762E1}"/>
              </a:ext>
            </a:extLst>
          </p:cNvPr>
          <p:cNvGraphicFramePr>
            <a:graphicFrameLocks noGrp="1"/>
          </p:cNvGraphicFramePr>
          <p:nvPr/>
        </p:nvGraphicFramePr>
        <p:xfrm>
          <a:off x="5245833" y="3723320"/>
          <a:ext cx="6701324" cy="457200"/>
        </p:xfrm>
        <a:graphic>
          <a:graphicData uri="http://schemas.openxmlformats.org/drawingml/2006/table">
            <a:tbl>
              <a:tblPr>
                <a:tableStyleId>{8799B23B-EC83-4686-B30A-512413B5E67A}</a:tableStyleId>
              </a:tblPr>
              <a:tblGrid>
                <a:gridCol w="3415567">
                  <a:extLst>
                    <a:ext uri="{9D8B030D-6E8A-4147-A177-3AD203B41FA5}">
                      <a16:colId xmlns:a16="http://schemas.microsoft.com/office/drawing/2014/main" val="2519011853"/>
                    </a:ext>
                  </a:extLst>
                </a:gridCol>
                <a:gridCol w="3285757">
                  <a:extLst>
                    <a:ext uri="{9D8B030D-6E8A-4147-A177-3AD203B41FA5}">
                      <a16:colId xmlns:a16="http://schemas.microsoft.com/office/drawing/2014/main" val="3650568381"/>
                    </a:ext>
                  </a:extLst>
                </a:gridCol>
              </a:tblGrid>
              <a:tr h="0">
                <a:tc>
                  <a:txBody>
                    <a:bodyPr/>
                    <a:lstStyle/>
                    <a:p>
                      <a:pPr algn="ctr" latinLnBrk="1"/>
                      <a:r>
                        <a:rPr lang="ko-KR" altLang="en-US" sz="900" dirty="0" err="1"/>
                        <a:t>보정전</a:t>
                      </a:r>
                      <a:endParaRPr lang="ko-KR" altLang="en-US" sz="900" dirty="0"/>
                    </a:p>
                  </a:txBody>
                  <a:tcPr>
                    <a:solidFill>
                      <a:schemeClr val="accent1">
                        <a:lumMod val="20000"/>
                        <a:lumOff val="80000"/>
                      </a:schemeClr>
                    </a:solidFill>
                  </a:tcPr>
                </a:tc>
                <a:tc>
                  <a:txBody>
                    <a:bodyPr/>
                    <a:lstStyle/>
                    <a:p>
                      <a:pPr algn="ctr" latinLnBrk="1"/>
                      <a:r>
                        <a:rPr lang="ko-KR" altLang="en-US" sz="900" dirty="0" err="1"/>
                        <a:t>보정후</a:t>
                      </a:r>
                      <a:endParaRPr lang="ko-KR" altLang="en-US" sz="900" dirty="0"/>
                    </a:p>
                  </a:txBody>
                  <a:tcPr>
                    <a:solidFill>
                      <a:schemeClr val="accent1">
                        <a:lumMod val="20000"/>
                        <a:lumOff val="80000"/>
                      </a:schemeClr>
                    </a:solidFill>
                  </a:tcPr>
                </a:tc>
                <a:extLst>
                  <a:ext uri="{0D108BD9-81ED-4DB2-BD59-A6C34878D82A}">
                    <a16:rowId xmlns:a16="http://schemas.microsoft.com/office/drawing/2014/main" val="1136430449"/>
                  </a:ext>
                </a:extLst>
              </a:tr>
              <a:tr h="0">
                <a:tc>
                  <a:txBody>
                    <a:bodyPr/>
                    <a:lstStyle/>
                    <a:p>
                      <a:pPr algn="ctr" latinLnBrk="1"/>
                      <a:r>
                        <a:rPr lang="ko-KR" altLang="en-US" sz="900" dirty="0"/>
                        <a:t>상기 제</a:t>
                      </a:r>
                      <a:r>
                        <a:rPr lang="en-US" altLang="ko-KR" sz="900" dirty="0"/>
                        <a:t>1</a:t>
                      </a:r>
                      <a:r>
                        <a:rPr lang="ko-KR" altLang="en-US" sz="900" dirty="0"/>
                        <a:t>항</a:t>
                      </a:r>
                      <a:r>
                        <a:rPr lang="en-US" altLang="ko-KR" sz="900" dirty="0"/>
                        <a:t>, </a:t>
                      </a:r>
                      <a:r>
                        <a:rPr lang="ko-KR" altLang="en-US" sz="900" dirty="0"/>
                        <a:t>제</a:t>
                      </a:r>
                      <a:r>
                        <a:rPr lang="en-US" altLang="ko-KR" sz="900" dirty="0"/>
                        <a:t>2</a:t>
                      </a:r>
                      <a:r>
                        <a:rPr lang="ko-KR" altLang="en-US" sz="900" dirty="0"/>
                        <a:t>항</a:t>
                      </a:r>
                      <a:r>
                        <a:rPr lang="en-US" altLang="ko-KR" sz="900" dirty="0"/>
                        <a:t>, </a:t>
                      </a:r>
                      <a:r>
                        <a:rPr lang="ko-KR" altLang="en-US" sz="900" dirty="0"/>
                        <a:t>제</a:t>
                      </a:r>
                      <a:r>
                        <a:rPr lang="en-US" altLang="ko-KR" sz="900" dirty="0"/>
                        <a:t>3</a:t>
                      </a:r>
                      <a:r>
                        <a:rPr lang="ko-KR" altLang="en-US" sz="900" dirty="0"/>
                        <a:t>항</a:t>
                      </a:r>
                      <a:r>
                        <a:rPr lang="en-US" altLang="ko-KR" sz="900" dirty="0"/>
                        <a:t>, </a:t>
                      </a:r>
                      <a:r>
                        <a:rPr lang="ko-KR" altLang="en-US" sz="900" dirty="0"/>
                        <a:t>제</a:t>
                      </a:r>
                      <a:r>
                        <a:rPr lang="en-US" altLang="ko-KR" sz="900" dirty="0"/>
                        <a:t>4</a:t>
                      </a:r>
                      <a:r>
                        <a:rPr lang="ko-KR" altLang="en-US" sz="900" dirty="0"/>
                        <a:t>항 또는 제</a:t>
                      </a:r>
                      <a:r>
                        <a:rPr lang="en-US" altLang="ko-KR" sz="900" dirty="0"/>
                        <a:t>8</a:t>
                      </a:r>
                      <a:r>
                        <a:rPr lang="ko-KR" altLang="en-US" sz="900" dirty="0"/>
                        <a:t>항의 인 함유 구리 </a:t>
                      </a:r>
                      <a:r>
                        <a:rPr lang="ko-KR" altLang="en-US" sz="900" dirty="0" err="1"/>
                        <a:t>애노드</a:t>
                      </a:r>
                      <a:endParaRPr lang="ko-KR" altLang="en-US" sz="900" dirty="0"/>
                    </a:p>
                  </a:txBody>
                  <a:tcPr>
                    <a:noFill/>
                  </a:tcPr>
                </a:tc>
                <a:tc>
                  <a:txBody>
                    <a:bodyPr/>
                    <a:lstStyle/>
                    <a:p>
                      <a:pPr algn="ctr" latinLnBrk="1"/>
                      <a:r>
                        <a:rPr lang="ko-KR" altLang="en-US" sz="900" dirty="0"/>
                        <a:t>상기 제</a:t>
                      </a:r>
                      <a:r>
                        <a:rPr lang="en-US" altLang="ko-KR" sz="900" dirty="0"/>
                        <a:t>1</a:t>
                      </a:r>
                      <a:r>
                        <a:rPr lang="ko-KR" altLang="en-US" sz="900" dirty="0"/>
                        <a:t>항</a:t>
                      </a:r>
                      <a:r>
                        <a:rPr lang="en-US" altLang="ko-KR" sz="900" dirty="0"/>
                        <a:t>, </a:t>
                      </a:r>
                      <a:r>
                        <a:rPr lang="ko-KR" altLang="en-US" sz="900" dirty="0"/>
                        <a:t>제</a:t>
                      </a:r>
                      <a:r>
                        <a:rPr lang="en-US" altLang="ko-KR" sz="900" dirty="0"/>
                        <a:t>2</a:t>
                      </a:r>
                      <a:r>
                        <a:rPr lang="ko-KR" altLang="en-US" sz="900" dirty="0"/>
                        <a:t>항</a:t>
                      </a:r>
                      <a:r>
                        <a:rPr lang="en-US" altLang="ko-KR" sz="900" dirty="0"/>
                        <a:t>, </a:t>
                      </a:r>
                      <a:r>
                        <a:rPr lang="ko-KR" altLang="en-US" sz="900" dirty="0"/>
                        <a:t>제</a:t>
                      </a:r>
                      <a:r>
                        <a:rPr lang="en-US" altLang="ko-KR" sz="900" dirty="0"/>
                        <a:t>3</a:t>
                      </a:r>
                      <a:r>
                        <a:rPr lang="ko-KR" altLang="en-US" sz="900" dirty="0"/>
                        <a:t>항의 인 함유 구리 </a:t>
                      </a:r>
                      <a:r>
                        <a:rPr lang="ko-KR" altLang="en-US" sz="900" dirty="0" err="1"/>
                        <a:t>애노드</a:t>
                      </a:r>
                      <a:endParaRPr lang="ko-KR" altLang="en-US" sz="900" dirty="0"/>
                    </a:p>
                  </a:txBody>
                  <a:tcPr/>
                </a:tc>
                <a:extLst>
                  <a:ext uri="{0D108BD9-81ED-4DB2-BD59-A6C34878D82A}">
                    <a16:rowId xmlns:a16="http://schemas.microsoft.com/office/drawing/2014/main" val="730730311"/>
                  </a:ext>
                </a:extLst>
              </a:tr>
            </a:tbl>
          </a:graphicData>
        </a:graphic>
      </p:graphicFrame>
      <p:sp>
        <p:nvSpPr>
          <p:cNvPr id="16" name="직사각형 15">
            <a:extLst>
              <a:ext uri="{FF2B5EF4-FFF2-40B4-BE49-F238E27FC236}">
                <a16:creationId xmlns:a16="http://schemas.microsoft.com/office/drawing/2014/main" id="{D865B413-4115-427E-BA7C-A8888BC235C2}"/>
              </a:ext>
            </a:extLst>
          </p:cNvPr>
          <p:cNvSpPr/>
          <p:nvPr/>
        </p:nvSpPr>
        <p:spPr>
          <a:xfrm>
            <a:off x="5245833" y="4551429"/>
            <a:ext cx="6701327" cy="1390540"/>
          </a:xfrm>
          <a:prstGeom prst="rect">
            <a:avLst/>
          </a:prstGeom>
          <a:ln>
            <a:solidFill>
              <a:schemeClr val="bg1">
                <a:lumMod val="50000"/>
              </a:schemeClr>
            </a:solidFill>
          </a:ln>
        </p:spPr>
        <p:txBody>
          <a:bodyPr wrap="square" anchor="b">
            <a:noAutofit/>
          </a:bodyPr>
          <a:lstStyle/>
          <a:p>
            <a:pPr algn="just" fontAlgn="base">
              <a:lnSpc>
                <a:spcPct val="150000"/>
              </a:lnSpc>
              <a:spcAft>
                <a:spcPts val="200"/>
              </a:spcAft>
              <a:tabLst>
                <a:tab pos="228600" algn="l"/>
                <a:tab pos="408940" algn="l"/>
                <a:tab pos="624840" algn="l"/>
                <a:tab pos="4561840" algn="r"/>
                <a:tab pos="5036820" algn="r"/>
                <a:tab pos="228600" algn="l"/>
                <a:tab pos="408940" algn="l"/>
                <a:tab pos="624840" algn="l"/>
                <a:tab pos="4561840" algn="r"/>
                <a:tab pos="5036820" algn="r"/>
              </a:tabLst>
            </a:pPr>
            <a:r>
              <a:rPr lang="ko-KR" altLang="en-US" sz="1200" kern="0" spc="-30" dirty="0">
                <a:solidFill>
                  <a:srgbClr val="000000"/>
                </a:solidFill>
                <a:uFill>
                  <a:solidFill>
                    <a:srgbClr val="000000"/>
                  </a:solidFill>
                </a:uFill>
                <a:latin typeface="+mn-ea"/>
              </a:rPr>
              <a:t>이러한 규정의 취지에 비추어 볼 때</a:t>
            </a:r>
            <a:r>
              <a:rPr lang="en-US" altLang="ko-KR" sz="1200" kern="0" spc="-30" dirty="0">
                <a:solidFill>
                  <a:srgbClr val="000000"/>
                </a:solidFill>
                <a:uFill>
                  <a:solidFill>
                    <a:srgbClr val="000000"/>
                  </a:solidFill>
                </a:uFill>
                <a:latin typeface="+mn-ea"/>
              </a:rPr>
              <a:t>, </a:t>
            </a:r>
            <a:r>
              <a:rPr lang="ko-KR" altLang="en-US" sz="1200" kern="0" spc="-30" dirty="0">
                <a:solidFill>
                  <a:srgbClr val="000000"/>
                </a:solidFill>
                <a:uFill>
                  <a:solidFill>
                    <a:srgbClr val="000000"/>
                  </a:solidFill>
                </a:uFill>
                <a:latin typeface="+mn-ea"/>
              </a:rPr>
              <a:t>청구항을 삭제하는 보정을 하였더라도 </a:t>
            </a:r>
            <a:r>
              <a:rPr lang="ko-KR" altLang="en-US" sz="1200" kern="0" spc="-30" dirty="0">
                <a:solidFill>
                  <a:srgbClr val="FF0000"/>
                </a:solidFill>
                <a:uFill>
                  <a:solidFill>
                    <a:srgbClr val="000000"/>
                  </a:solidFill>
                </a:uFill>
                <a:latin typeface="+mn-ea"/>
              </a:rPr>
              <a:t>삭제된 청구항과 관련이 없는 부분에서 새롭게 발생한 거절이유</a:t>
            </a:r>
            <a:r>
              <a:rPr lang="ko-KR" altLang="en-US" sz="1200" kern="0" spc="-30" dirty="0">
                <a:solidFill>
                  <a:srgbClr val="000000"/>
                </a:solidFill>
                <a:uFill>
                  <a:solidFill>
                    <a:srgbClr val="000000"/>
                  </a:solidFill>
                </a:uFill>
                <a:latin typeface="+mn-ea"/>
              </a:rPr>
              <a:t>는 심사관에게 새로운 심사에 따른 업무량을 가중시키고</a:t>
            </a:r>
            <a:r>
              <a:rPr lang="en-US" altLang="ko-KR" sz="1200" kern="0" spc="-30" dirty="0">
                <a:solidFill>
                  <a:srgbClr val="000000"/>
                </a:solidFill>
                <a:uFill>
                  <a:solidFill>
                    <a:srgbClr val="000000"/>
                  </a:solidFill>
                </a:uFill>
                <a:latin typeface="+mn-ea"/>
              </a:rPr>
              <a:t>, </a:t>
            </a:r>
            <a:r>
              <a:rPr lang="ko-KR" altLang="en-US" sz="1200" kern="0" spc="-30" dirty="0">
                <a:solidFill>
                  <a:srgbClr val="000000"/>
                </a:solidFill>
                <a:uFill>
                  <a:solidFill>
                    <a:srgbClr val="000000"/>
                  </a:solidFill>
                </a:uFill>
                <a:latin typeface="+mn-ea"/>
              </a:rPr>
              <a:t>심사절차가 지연되는 결과를 가져오게 하는 등 달리 취급하여야 할 필요가 없으므로 </a:t>
            </a:r>
            <a:r>
              <a:rPr lang="en-US" altLang="ko-KR" sz="1200" kern="0" spc="-30" dirty="0">
                <a:solidFill>
                  <a:srgbClr val="000000"/>
                </a:solidFill>
                <a:uFill>
                  <a:solidFill>
                    <a:srgbClr val="000000"/>
                  </a:solidFill>
                </a:uFill>
                <a:latin typeface="+mn-ea"/>
              </a:rPr>
              <a:t>2009</a:t>
            </a:r>
            <a:r>
              <a:rPr lang="ko-KR" altLang="en-US" sz="1200" kern="0" spc="-30" dirty="0">
                <a:solidFill>
                  <a:srgbClr val="000000"/>
                </a:solidFill>
                <a:uFill>
                  <a:solidFill>
                    <a:srgbClr val="000000"/>
                  </a:solidFill>
                </a:uFill>
                <a:latin typeface="+mn-ea"/>
              </a:rPr>
              <a:t>년 개정 특허법 제</a:t>
            </a:r>
            <a:r>
              <a:rPr lang="en-US" altLang="ko-KR" sz="1200" kern="0" spc="-30" dirty="0">
                <a:solidFill>
                  <a:srgbClr val="000000"/>
                </a:solidFill>
                <a:uFill>
                  <a:solidFill>
                    <a:srgbClr val="000000"/>
                  </a:solidFill>
                </a:uFill>
                <a:latin typeface="+mn-ea"/>
              </a:rPr>
              <a:t>51</a:t>
            </a:r>
            <a:r>
              <a:rPr lang="ko-KR" altLang="en-US" sz="1200" kern="0" spc="-30" dirty="0">
                <a:solidFill>
                  <a:srgbClr val="000000"/>
                </a:solidFill>
                <a:uFill>
                  <a:solidFill>
                    <a:srgbClr val="000000"/>
                  </a:solidFill>
                </a:uFill>
                <a:latin typeface="+mn-ea"/>
              </a:rPr>
              <a:t>조 제</a:t>
            </a:r>
            <a:r>
              <a:rPr lang="en-US" altLang="ko-KR" sz="1200" kern="0" spc="-30" dirty="0">
                <a:solidFill>
                  <a:srgbClr val="000000"/>
                </a:solidFill>
                <a:uFill>
                  <a:solidFill>
                    <a:srgbClr val="000000"/>
                  </a:solidFill>
                </a:uFill>
                <a:latin typeface="+mn-ea"/>
              </a:rPr>
              <a:t>1</a:t>
            </a:r>
            <a:r>
              <a:rPr lang="ko-KR" altLang="en-US" sz="1200" kern="0" spc="-30" dirty="0">
                <a:solidFill>
                  <a:srgbClr val="000000"/>
                </a:solidFill>
                <a:uFill>
                  <a:solidFill>
                    <a:srgbClr val="000000"/>
                  </a:solidFill>
                </a:uFill>
                <a:latin typeface="+mn-ea"/>
              </a:rPr>
              <a:t>항 본문이 규정하는 청구항을 삭제하는 보정에 따라 발생한 새로운 거절이유에 포함된다고 할 수 없다</a:t>
            </a:r>
            <a:r>
              <a:rPr lang="en-US" altLang="ko-KR" sz="1200" kern="0" spc="-30" dirty="0">
                <a:solidFill>
                  <a:srgbClr val="000000"/>
                </a:solidFill>
                <a:uFill>
                  <a:solidFill>
                    <a:srgbClr val="000000"/>
                  </a:solidFill>
                </a:uFill>
                <a:latin typeface="+mn-ea"/>
              </a:rPr>
              <a:t>. </a:t>
            </a:r>
            <a:endParaRPr lang="ko-KR" altLang="en-US" sz="1200" kern="0" spc="-30" dirty="0">
              <a:solidFill>
                <a:srgbClr val="000000"/>
              </a:solidFill>
              <a:latin typeface="+mn-ea"/>
            </a:endParaRPr>
          </a:p>
        </p:txBody>
      </p:sp>
      <p:sp>
        <p:nvSpPr>
          <p:cNvPr id="17" name="모서리가 둥근 직사각형 55">
            <a:extLst>
              <a:ext uri="{FF2B5EF4-FFF2-40B4-BE49-F238E27FC236}">
                <a16:creationId xmlns:a16="http://schemas.microsoft.com/office/drawing/2014/main" id="{9C718279-9D7B-4833-B7B6-3F61C5822514}"/>
              </a:ext>
            </a:extLst>
          </p:cNvPr>
          <p:cNvSpPr/>
          <p:nvPr/>
        </p:nvSpPr>
        <p:spPr bwMode="auto">
          <a:xfrm>
            <a:off x="5370424" y="4371409"/>
            <a:ext cx="3130870" cy="360040"/>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2018. 7. 12 </a:t>
            </a:r>
            <a:r>
              <a:rPr lang="ko-KR" altLang="en-US" sz="1400" dirty="0"/>
              <a:t>선고 </a:t>
            </a:r>
            <a:r>
              <a:rPr lang="en-US" altLang="ko-KR" sz="1400" dirty="0"/>
              <a:t>2015</a:t>
            </a:r>
            <a:r>
              <a:rPr lang="ko-KR" altLang="en-US" sz="1400" dirty="0"/>
              <a:t>후</a:t>
            </a:r>
            <a:r>
              <a:rPr lang="en-US" altLang="ko-KR" sz="1400" dirty="0"/>
              <a:t>2259</a:t>
            </a:r>
          </a:p>
        </p:txBody>
      </p:sp>
      <p:graphicFrame>
        <p:nvGraphicFramePr>
          <p:cNvPr id="20" name="표 19">
            <a:extLst>
              <a:ext uri="{FF2B5EF4-FFF2-40B4-BE49-F238E27FC236}">
                <a16:creationId xmlns:a16="http://schemas.microsoft.com/office/drawing/2014/main" id="{5A43B0D6-CB49-47B2-A23A-56349533979A}"/>
              </a:ext>
            </a:extLst>
          </p:cNvPr>
          <p:cNvGraphicFramePr>
            <a:graphicFrameLocks noGrp="1"/>
          </p:cNvGraphicFramePr>
          <p:nvPr/>
        </p:nvGraphicFramePr>
        <p:xfrm>
          <a:off x="5245833" y="6074238"/>
          <a:ext cx="6701324" cy="594360"/>
        </p:xfrm>
        <a:graphic>
          <a:graphicData uri="http://schemas.openxmlformats.org/drawingml/2006/table">
            <a:tbl>
              <a:tblPr>
                <a:tableStyleId>{8799B23B-EC83-4686-B30A-512413B5E67A}</a:tableStyleId>
              </a:tblPr>
              <a:tblGrid>
                <a:gridCol w="3415567">
                  <a:extLst>
                    <a:ext uri="{9D8B030D-6E8A-4147-A177-3AD203B41FA5}">
                      <a16:colId xmlns:a16="http://schemas.microsoft.com/office/drawing/2014/main" val="2519011853"/>
                    </a:ext>
                  </a:extLst>
                </a:gridCol>
                <a:gridCol w="3285757">
                  <a:extLst>
                    <a:ext uri="{9D8B030D-6E8A-4147-A177-3AD203B41FA5}">
                      <a16:colId xmlns:a16="http://schemas.microsoft.com/office/drawing/2014/main" val="3650568381"/>
                    </a:ext>
                  </a:extLst>
                </a:gridCol>
              </a:tblGrid>
              <a:tr h="0">
                <a:tc>
                  <a:txBody>
                    <a:bodyPr/>
                    <a:lstStyle/>
                    <a:p>
                      <a:pPr algn="ctr" latinLnBrk="1"/>
                      <a:r>
                        <a:rPr lang="ko-KR" altLang="en-US" sz="900" dirty="0" err="1"/>
                        <a:t>보정전</a:t>
                      </a:r>
                      <a:endParaRPr lang="ko-KR" altLang="en-US" sz="900" dirty="0"/>
                    </a:p>
                  </a:txBody>
                  <a:tcPr>
                    <a:solidFill>
                      <a:schemeClr val="accent1">
                        <a:lumMod val="20000"/>
                        <a:lumOff val="80000"/>
                      </a:schemeClr>
                    </a:solidFill>
                  </a:tcPr>
                </a:tc>
                <a:tc>
                  <a:txBody>
                    <a:bodyPr/>
                    <a:lstStyle/>
                    <a:p>
                      <a:pPr algn="ctr" latinLnBrk="1"/>
                      <a:r>
                        <a:rPr lang="ko-KR" altLang="en-US" sz="900" dirty="0" err="1"/>
                        <a:t>보정후</a:t>
                      </a:r>
                      <a:endParaRPr lang="ko-KR" altLang="en-US" sz="900" dirty="0"/>
                    </a:p>
                  </a:txBody>
                  <a:tcPr>
                    <a:solidFill>
                      <a:schemeClr val="accent1">
                        <a:lumMod val="20000"/>
                        <a:lumOff val="80000"/>
                      </a:schemeClr>
                    </a:solidFill>
                  </a:tcPr>
                </a:tc>
                <a:extLst>
                  <a:ext uri="{0D108BD9-81ED-4DB2-BD59-A6C34878D82A}">
                    <a16:rowId xmlns:a16="http://schemas.microsoft.com/office/drawing/2014/main" val="1136430449"/>
                  </a:ext>
                </a:extLst>
              </a:tr>
              <a:tr h="0">
                <a:tc>
                  <a:txBody>
                    <a:bodyPr/>
                    <a:lstStyle/>
                    <a:p>
                      <a:pPr algn="ctr" latinLnBrk="1"/>
                      <a:r>
                        <a:rPr lang="ko-KR" altLang="en-US" sz="900" dirty="0" err="1"/>
                        <a:t>적층된</a:t>
                      </a:r>
                      <a:r>
                        <a:rPr lang="ko-KR" altLang="en-US" sz="900" dirty="0"/>
                        <a:t> 소자들의 스택은 새로운 소자가 배치될 때마다 소자들을 위치시키는 </a:t>
                      </a:r>
                      <a:r>
                        <a:rPr lang="ko-KR" altLang="en-US" sz="900" dirty="0" err="1"/>
                        <a:t>수평력이</a:t>
                      </a:r>
                      <a:r>
                        <a:rPr lang="ko-KR" altLang="en-US" sz="900" dirty="0"/>
                        <a:t> 가해지는 것을 특징으로 하는 방법</a:t>
                      </a:r>
                    </a:p>
                  </a:txBody>
                  <a:tcPr>
                    <a:noFill/>
                  </a:tcPr>
                </a:tc>
                <a:tc>
                  <a:txBody>
                    <a:bodyPr/>
                    <a:lstStyle/>
                    <a:p>
                      <a:pPr algn="ctr" latinLnBrk="1"/>
                      <a:r>
                        <a:rPr lang="ko-KR" altLang="en-US" sz="900" dirty="0" err="1"/>
                        <a:t>적층된</a:t>
                      </a:r>
                      <a:r>
                        <a:rPr lang="ko-KR" altLang="en-US" sz="900" dirty="0"/>
                        <a:t> 소자들의 스택은 새로운 소자가 배치될 때마다 소자들을 위치시키는 </a:t>
                      </a:r>
                      <a:r>
                        <a:rPr lang="ko-KR" altLang="en-US" sz="900" dirty="0" err="1"/>
                        <a:t>수평력이</a:t>
                      </a:r>
                      <a:r>
                        <a:rPr lang="ko-KR" altLang="en-US" sz="900" dirty="0"/>
                        <a:t> 가해지고</a:t>
                      </a:r>
                    </a:p>
                  </a:txBody>
                  <a:tcPr/>
                </a:tc>
                <a:extLst>
                  <a:ext uri="{0D108BD9-81ED-4DB2-BD59-A6C34878D82A}">
                    <a16:rowId xmlns:a16="http://schemas.microsoft.com/office/drawing/2014/main" val="730730311"/>
                  </a:ext>
                </a:extLst>
              </a:tr>
            </a:tbl>
          </a:graphicData>
        </a:graphic>
      </p:graphicFrame>
      <p:sp>
        <p:nvSpPr>
          <p:cNvPr id="6" name="타원 5">
            <a:extLst>
              <a:ext uri="{FF2B5EF4-FFF2-40B4-BE49-F238E27FC236}">
                <a16:creationId xmlns:a16="http://schemas.microsoft.com/office/drawing/2014/main" id="{255DAC8B-5282-FD1A-2559-E55BF4720FE2}"/>
              </a:ext>
            </a:extLst>
          </p:cNvPr>
          <p:cNvSpPr/>
          <p:nvPr/>
        </p:nvSpPr>
        <p:spPr>
          <a:xfrm>
            <a:off x="3857426" y="1899741"/>
            <a:ext cx="259977" cy="259977"/>
          </a:xfrm>
          <a:prstGeom prst="ellipse">
            <a:avLst/>
          </a:prstGeom>
          <a:solidFill>
            <a:schemeClr val="tx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bg1"/>
                </a:solidFill>
              </a:rPr>
              <a:t>1</a:t>
            </a:r>
            <a:endParaRPr lang="ko-KR" altLang="en-US" dirty="0">
              <a:solidFill>
                <a:schemeClr val="bg1"/>
              </a:solidFill>
            </a:endParaRPr>
          </a:p>
        </p:txBody>
      </p:sp>
      <p:sp>
        <p:nvSpPr>
          <p:cNvPr id="11" name="타원 10">
            <a:extLst>
              <a:ext uri="{FF2B5EF4-FFF2-40B4-BE49-F238E27FC236}">
                <a16:creationId xmlns:a16="http://schemas.microsoft.com/office/drawing/2014/main" id="{169DAA78-0204-0595-1590-95FEABFE672B}"/>
              </a:ext>
            </a:extLst>
          </p:cNvPr>
          <p:cNvSpPr/>
          <p:nvPr/>
        </p:nvSpPr>
        <p:spPr>
          <a:xfrm>
            <a:off x="4806335" y="3116520"/>
            <a:ext cx="259977" cy="259977"/>
          </a:xfrm>
          <a:prstGeom prst="ellipse">
            <a:avLst/>
          </a:prstGeom>
          <a:solidFill>
            <a:schemeClr val="tx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bg1"/>
                </a:solidFill>
              </a:rPr>
              <a:t>2</a:t>
            </a:r>
            <a:endParaRPr lang="ko-KR" altLang="en-US" dirty="0">
              <a:solidFill>
                <a:schemeClr val="bg1"/>
              </a:solidFill>
            </a:endParaRPr>
          </a:p>
        </p:txBody>
      </p:sp>
      <p:sp>
        <p:nvSpPr>
          <p:cNvPr id="15" name="타원 14">
            <a:extLst>
              <a:ext uri="{FF2B5EF4-FFF2-40B4-BE49-F238E27FC236}">
                <a16:creationId xmlns:a16="http://schemas.microsoft.com/office/drawing/2014/main" id="{8DD04062-F7C2-3B0E-6457-0386126B0216}"/>
              </a:ext>
            </a:extLst>
          </p:cNvPr>
          <p:cNvSpPr/>
          <p:nvPr/>
        </p:nvSpPr>
        <p:spPr>
          <a:xfrm>
            <a:off x="6805870" y="3338990"/>
            <a:ext cx="259977" cy="259977"/>
          </a:xfrm>
          <a:prstGeom prst="ellipse">
            <a:avLst/>
          </a:prstGeom>
          <a:solidFill>
            <a:schemeClr val="tx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bg1"/>
                </a:solidFill>
              </a:rPr>
              <a:t>3</a:t>
            </a:r>
            <a:endParaRPr lang="ko-KR" altLang="en-US" dirty="0">
              <a:solidFill>
                <a:schemeClr val="bg1"/>
              </a:solidFill>
            </a:endParaRPr>
          </a:p>
        </p:txBody>
      </p:sp>
      <p:sp>
        <p:nvSpPr>
          <p:cNvPr id="18" name="타원 17">
            <a:extLst>
              <a:ext uri="{FF2B5EF4-FFF2-40B4-BE49-F238E27FC236}">
                <a16:creationId xmlns:a16="http://schemas.microsoft.com/office/drawing/2014/main" id="{F19F08AD-6583-78F6-3687-42060912896B}"/>
              </a:ext>
            </a:extLst>
          </p:cNvPr>
          <p:cNvSpPr/>
          <p:nvPr/>
        </p:nvSpPr>
        <p:spPr>
          <a:xfrm>
            <a:off x="10651729" y="4601460"/>
            <a:ext cx="259977" cy="259977"/>
          </a:xfrm>
          <a:prstGeom prst="ellipse">
            <a:avLst/>
          </a:prstGeom>
          <a:solidFill>
            <a:schemeClr val="tx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bg1"/>
                </a:solidFill>
              </a:rPr>
              <a:t>4</a:t>
            </a:r>
            <a:endParaRPr lang="ko-KR" altLang="en-US" dirty="0">
              <a:solidFill>
                <a:schemeClr val="bg1"/>
              </a:solidFill>
            </a:endParaRPr>
          </a:p>
        </p:txBody>
      </p:sp>
    </p:spTree>
    <p:extLst>
      <p:ext uri="{BB962C8B-B14F-4D97-AF65-F5344CB8AC3E}">
        <p14:creationId xmlns:p14="http://schemas.microsoft.com/office/powerpoint/2010/main" val="2686260179"/>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t>보정각하의</a:t>
            </a:r>
            <a:r>
              <a:rPr lang="ko-KR" altLang="en-US" dirty="0"/>
              <a:t> 예외</a:t>
            </a:r>
            <a:r>
              <a:rPr lang="en-US" altLang="ko-KR" dirty="0"/>
              <a:t>(</a:t>
            </a:r>
            <a:r>
              <a:rPr lang="ko-KR" altLang="en-US" dirty="0"/>
              <a:t>제</a:t>
            </a:r>
            <a:r>
              <a:rPr lang="en-US" altLang="ko-KR" dirty="0"/>
              <a:t>51</a:t>
            </a:r>
            <a:r>
              <a:rPr lang="ko-KR" altLang="en-US" dirty="0"/>
              <a:t>조제</a:t>
            </a:r>
            <a:r>
              <a:rPr lang="en-US" altLang="ko-KR" dirty="0"/>
              <a:t>1</a:t>
            </a:r>
            <a:r>
              <a:rPr lang="ko-KR" altLang="en-US" dirty="0" err="1"/>
              <a:t>항단서</a:t>
            </a:r>
            <a:r>
              <a:rPr lang="en-US" altLang="ko-KR" dirty="0"/>
              <a:t>)</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슬라이드 번호 개체 틀 4"/>
          <p:cNvSpPr>
            <a:spLocks noGrp="1"/>
          </p:cNvSpPr>
          <p:nvPr>
            <p:ph type="sldNum" sz="quarter" idx="12"/>
          </p:nvPr>
        </p:nvSpPr>
        <p:spPr/>
        <p:txBody>
          <a:bodyPr/>
          <a:lstStyle/>
          <a:p>
            <a:r>
              <a:rPr lang="en-US" altLang="ko-KR"/>
              <a:t>180</a:t>
            </a:r>
            <a:endParaRPr lang="ko-KR" altLang="en-US"/>
          </a:p>
        </p:txBody>
      </p:sp>
      <p:cxnSp>
        <p:nvCxnSpPr>
          <p:cNvPr id="8" name="직선 화살표 연결선 7">
            <a:extLst>
              <a:ext uri="{FF2B5EF4-FFF2-40B4-BE49-F238E27FC236}">
                <a16:creationId xmlns:a16="http://schemas.microsoft.com/office/drawing/2014/main" id="{D84FFE19-DE7C-4CE4-9DF5-F390A2A46657}"/>
              </a:ext>
            </a:extLst>
          </p:cNvPr>
          <p:cNvCxnSpPr>
            <a:cxnSpLocks/>
          </p:cNvCxnSpPr>
          <p:nvPr/>
        </p:nvCxnSpPr>
        <p:spPr>
          <a:xfrm>
            <a:off x="1799239" y="1347894"/>
            <a:ext cx="9953296"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 name="직사각형 10">
            <a:extLst>
              <a:ext uri="{FF2B5EF4-FFF2-40B4-BE49-F238E27FC236}">
                <a16:creationId xmlns:a16="http://schemas.microsoft.com/office/drawing/2014/main" id="{09C478DD-17F6-4CFE-9E4A-E5F07C919C4B}"/>
              </a:ext>
            </a:extLst>
          </p:cNvPr>
          <p:cNvSpPr/>
          <p:nvPr/>
        </p:nvSpPr>
        <p:spPr>
          <a:xfrm>
            <a:off x="4516601" y="1126775"/>
            <a:ext cx="819807" cy="475388"/>
          </a:xfrm>
          <a:prstGeom prst="rect">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직권보정</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특허결정</a:t>
            </a:r>
            <a:r>
              <a:rPr lang="en-US" altLang="ko-KR" sz="1200" dirty="0">
                <a:solidFill>
                  <a:schemeClr val="tx1"/>
                </a:solidFill>
              </a:rPr>
              <a:t>)</a:t>
            </a:r>
          </a:p>
        </p:txBody>
      </p:sp>
      <p:sp>
        <p:nvSpPr>
          <p:cNvPr id="12" name="직사각형 11">
            <a:extLst>
              <a:ext uri="{FF2B5EF4-FFF2-40B4-BE49-F238E27FC236}">
                <a16:creationId xmlns:a16="http://schemas.microsoft.com/office/drawing/2014/main" id="{ED0A136A-4BD5-4153-8818-1E1F15352BC2}"/>
              </a:ext>
            </a:extLst>
          </p:cNvPr>
          <p:cNvSpPr/>
          <p:nvPr/>
        </p:nvSpPr>
        <p:spPr>
          <a:xfrm>
            <a:off x="5677556" y="1132650"/>
            <a:ext cx="1135118" cy="475388"/>
          </a:xfrm>
          <a:prstGeom prst="rect">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직권보정취소</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특허결정취소</a:t>
            </a:r>
            <a:r>
              <a:rPr lang="en-US" altLang="ko-KR" sz="1200" dirty="0">
                <a:solidFill>
                  <a:schemeClr val="tx1"/>
                </a:solidFill>
              </a:rPr>
              <a:t>)</a:t>
            </a:r>
          </a:p>
        </p:txBody>
      </p:sp>
      <p:sp>
        <p:nvSpPr>
          <p:cNvPr id="13" name="직사각형 12">
            <a:extLst>
              <a:ext uri="{FF2B5EF4-FFF2-40B4-BE49-F238E27FC236}">
                <a16:creationId xmlns:a16="http://schemas.microsoft.com/office/drawing/2014/main" id="{82C7BDE6-589E-4F1A-8D45-738004CCDFFD}"/>
              </a:ext>
            </a:extLst>
          </p:cNvPr>
          <p:cNvSpPr/>
          <p:nvPr/>
        </p:nvSpPr>
        <p:spPr>
          <a:xfrm>
            <a:off x="1799239" y="1638082"/>
            <a:ext cx="1258208" cy="388877"/>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2</a:t>
            </a:r>
            <a:r>
              <a:rPr lang="ko-KR" altLang="en-US" sz="1050" dirty="0">
                <a:solidFill>
                  <a:schemeClr val="tx1"/>
                </a:solidFill>
              </a:rPr>
              <a:t>호부적법 보정</a:t>
            </a:r>
          </a:p>
        </p:txBody>
      </p:sp>
      <p:sp>
        <p:nvSpPr>
          <p:cNvPr id="16" name="직사각형 15">
            <a:extLst>
              <a:ext uri="{FF2B5EF4-FFF2-40B4-BE49-F238E27FC236}">
                <a16:creationId xmlns:a16="http://schemas.microsoft.com/office/drawing/2014/main" id="{198774C9-355F-4905-9CD6-75FAF56D5858}"/>
              </a:ext>
            </a:extLst>
          </p:cNvPr>
          <p:cNvSpPr/>
          <p:nvPr/>
        </p:nvSpPr>
        <p:spPr>
          <a:xfrm>
            <a:off x="3204325" y="2026959"/>
            <a:ext cx="1258208" cy="388877"/>
          </a:xfrm>
          <a:prstGeom prst="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3</a:t>
            </a:r>
            <a:r>
              <a:rPr lang="ko-KR" altLang="en-US" sz="1050" dirty="0">
                <a:solidFill>
                  <a:schemeClr val="tx1"/>
                </a:solidFill>
              </a:rPr>
              <a:t>호부적법 보정</a:t>
            </a:r>
          </a:p>
        </p:txBody>
      </p:sp>
      <p:sp>
        <p:nvSpPr>
          <p:cNvPr id="17" name="직사각형 16">
            <a:extLst>
              <a:ext uri="{FF2B5EF4-FFF2-40B4-BE49-F238E27FC236}">
                <a16:creationId xmlns:a16="http://schemas.microsoft.com/office/drawing/2014/main" id="{46B570B7-AD25-431D-8B15-AF708C253445}"/>
              </a:ext>
            </a:extLst>
          </p:cNvPr>
          <p:cNvSpPr/>
          <p:nvPr/>
        </p:nvSpPr>
        <p:spPr>
          <a:xfrm>
            <a:off x="7075432" y="2414106"/>
            <a:ext cx="1258208" cy="388877"/>
          </a:xfrm>
          <a:prstGeom prst="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2</a:t>
            </a:r>
            <a:r>
              <a:rPr lang="ko-KR" altLang="en-US" sz="1050" dirty="0">
                <a:solidFill>
                  <a:schemeClr val="tx1"/>
                </a:solidFill>
              </a:rPr>
              <a:t>호부적법 보정</a:t>
            </a:r>
          </a:p>
        </p:txBody>
      </p:sp>
      <p:sp>
        <p:nvSpPr>
          <p:cNvPr id="18" name="직사각형 17">
            <a:extLst>
              <a:ext uri="{FF2B5EF4-FFF2-40B4-BE49-F238E27FC236}">
                <a16:creationId xmlns:a16="http://schemas.microsoft.com/office/drawing/2014/main" id="{15869C5B-E42D-406B-9731-360C87F7A5F7}"/>
              </a:ext>
            </a:extLst>
          </p:cNvPr>
          <p:cNvSpPr/>
          <p:nvPr/>
        </p:nvSpPr>
        <p:spPr>
          <a:xfrm>
            <a:off x="8480518" y="2802983"/>
            <a:ext cx="1258208" cy="388877"/>
          </a:xfrm>
          <a:prstGeom prst="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3</a:t>
            </a:r>
            <a:r>
              <a:rPr lang="ko-KR" altLang="en-US" sz="1050" dirty="0">
                <a:solidFill>
                  <a:schemeClr val="tx1"/>
                </a:solidFill>
              </a:rPr>
              <a:t>호부적법 보정</a:t>
            </a:r>
          </a:p>
        </p:txBody>
      </p:sp>
      <p:sp>
        <p:nvSpPr>
          <p:cNvPr id="19" name="직사각형 18">
            <a:extLst>
              <a:ext uri="{FF2B5EF4-FFF2-40B4-BE49-F238E27FC236}">
                <a16:creationId xmlns:a16="http://schemas.microsoft.com/office/drawing/2014/main" id="{E4A6C33C-C62D-43F0-912A-006C76CB5769}"/>
              </a:ext>
            </a:extLst>
          </p:cNvPr>
          <p:cNvSpPr/>
          <p:nvPr/>
        </p:nvSpPr>
        <p:spPr>
          <a:xfrm>
            <a:off x="10207514" y="1638082"/>
            <a:ext cx="1258208" cy="388877"/>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보정인정</a:t>
            </a:r>
          </a:p>
        </p:txBody>
      </p:sp>
      <p:sp>
        <p:nvSpPr>
          <p:cNvPr id="20" name="타원 19">
            <a:extLst>
              <a:ext uri="{FF2B5EF4-FFF2-40B4-BE49-F238E27FC236}">
                <a16:creationId xmlns:a16="http://schemas.microsoft.com/office/drawing/2014/main" id="{95F60534-2E5B-4660-BF1C-B982B6A3EAF5}"/>
              </a:ext>
            </a:extLst>
          </p:cNvPr>
          <p:cNvSpPr/>
          <p:nvPr/>
        </p:nvSpPr>
        <p:spPr>
          <a:xfrm>
            <a:off x="10543845" y="1050775"/>
            <a:ext cx="567559" cy="567559"/>
          </a:xfrm>
          <a:prstGeom prst="ellipse">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600" dirty="0"/>
              <a:t>발견</a:t>
            </a:r>
          </a:p>
        </p:txBody>
      </p:sp>
      <p:sp>
        <p:nvSpPr>
          <p:cNvPr id="21" name="직사각형 20">
            <a:extLst>
              <a:ext uri="{FF2B5EF4-FFF2-40B4-BE49-F238E27FC236}">
                <a16:creationId xmlns:a16="http://schemas.microsoft.com/office/drawing/2014/main" id="{232FD870-30C1-43FF-A449-DA3D2E823108}"/>
              </a:ext>
            </a:extLst>
          </p:cNvPr>
          <p:cNvSpPr/>
          <p:nvPr/>
        </p:nvSpPr>
        <p:spPr>
          <a:xfrm>
            <a:off x="10207514" y="2026958"/>
            <a:ext cx="1258208" cy="388877"/>
          </a:xfrm>
          <a:prstGeom prst="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보정인정</a:t>
            </a:r>
          </a:p>
        </p:txBody>
      </p:sp>
      <p:sp>
        <p:nvSpPr>
          <p:cNvPr id="22" name="직사각형 21">
            <a:extLst>
              <a:ext uri="{FF2B5EF4-FFF2-40B4-BE49-F238E27FC236}">
                <a16:creationId xmlns:a16="http://schemas.microsoft.com/office/drawing/2014/main" id="{BA3E072E-CBDB-4B41-BFA0-299C41697F60}"/>
              </a:ext>
            </a:extLst>
          </p:cNvPr>
          <p:cNvSpPr/>
          <p:nvPr/>
        </p:nvSpPr>
        <p:spPr>
          <a:xfrm>
            <a:off x="10207514" y="2415835"/>
            <a:ext cx="1258208" cy="388877"/>
          </a:xfrm>
          <a:prstGeom prst="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err="1">
                <a:solidFill>
                  <a:schemeClr val="tx1"/>
                </a:solidFill>
              </a:rPr>
              <a:t>보정각하</a:t>
            </a:r>
            <a:endParaRPr lang="ko-KR" altLang="en-US" sz="1050" dirty="0">
              <a:solidFill>
                <a:schemeClr val="tx1"/>
              </a:solidFill>
            </a:endParaRPr>
          </a:p>
        </p:txBody>
      </p:sp>
      <p:sp>
        <p:nvSpPr>
          <p:cNvPr id="23" name="직사각형 22">
            <a:extLst>
              <a:ext uri="{FF2B5EF4-FFF2-40B4-BE49-F238E27FC236}">
                <a16:creationId xmlns:a16="http://schemas.microsoft.com/office/drawing/2014/main" id="{51B0C1D4-C4D0-4D50-9831-B3A64D01CFA2}"/>
              </a:ext>
            </a:extLst>
          </p:cNvPr>
          <p:cNvSpPr/>
          <p:nvPr/>
        </p:nvSpPr>
        <p:spPr>
          <a:xfrm>
            <a:off x="10207514" y="2804711"/>
            <a:ext cx="1258208" cy="388877"/>
          </a:xfrm>
          <a:prstGeom prst="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err="1">
                <a:solidFill>
                  <a:schemeClr val="tx1"/>
                </a:solidFill>
              </a:rPr>
              <a:t>보정각하</a:t>
            </a:r>
            <a:endParaRPr lang="ko-KR" altLang="en-US" sz="1050" dirty="0">
              <a:solidFill>
                <a:schemeClr val="tx1"/>
              </a:solidFill>
            </a:endParaRPr>
          </a:p>
        </p:txBody>
      </p:sp>
      <p:cxnSp>
        <p:nvCxnSpPr>
          <p:cNvPr id="25" name="직선 화살표 연결선 24">
            <a:extLst>
              <a:ext uri="{FF2B5EF4-FFF2-40B4-BE49-F238E27FC236}">
                <a16:creationId xmlns:a16="http://schemas.microsoft.com/office/drawing/2014/main" id="{D0802BE4-11B9-4C07-B02C-208E2058854E}"/>
              </a:ext>
            </a:extLst>
          </p:cNvPr>
          <p:cNvCxnSpPr>
            <a:stCxn id="13" idx="3"/>
            <a:endCxn id="19" idx="1"/>
          </p:cNvCxnSpPr>
          <p:nvPr/>
        </p:nvCxnSpPr>
        <p:spPr>
          <a:xfrm>
            <a:off x="3057447" y="1832521"/>
            <a:ext cx="7150067"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 name="직선 화살표 연결선 26">
            <a:extLst>
              <a:ext uri="{FF2B5EF4-FFF2-40B4-BE49-F238E27FC236}">
                <a16:creationId xmlns:a16="http://schemas.microsoft.com/office/drawing/2014/main" id="{C3F14887-8472-4B27-B9C4-C8D0F5F533B4}"/>
              </a:ext>
            </a:extLst>
          </p:cNvPr>
          <p:cNvCxnSpPr>
            <a:stCxn id="16" idx="3"/>
            <a:endCxn id="21" idx="1"/>
          </p:cNvCxnSpPr>
          <p:nvPr/>
        </p:nvCxnSpPr>
        <p:spPr>
          <a:xfrm flipV="1">
            <a:off x="4462533" y="2221397"/>
            <a:ext cx="5744981" cy="1"/>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9" name="연결선: 꺾임 28">
            <a:extLst>
              <a:ext uri="{FF2B5EF4-FFF2-40B4-BE49-F238E27FC236}">
                <a16:creationId xmlns:a16="http://schemas.microsoft.com/office/drawing/2014/main" id="{DBEDF507-2222-4678-99D9-907CB65404F7}"/>
              </a:ext>
            </a:extLst>
          </p:cNvPr>
          <p:cNvCxnSpPr>
            <a:stCxn id="17" idx="3"/>
            <a:endCxn id="22" idx="1"/>
          </p:cNvCxnSpPr>
          <p:nvPr/>
        </p:nvCxnSpPr>
        <p:spPr>
          <a:xfrm>
            <a:off x="8333640" y="2608545"/>
            <a:ext cx="1873874" cy="1729"/>
          </a:xfrm>
          <a:prstGeom prst="bentConnector3">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1" name="직선 화살표 연결선 30">
            <a:extLst>
              <a:ext uri="{FF2B5EF4-FFF2-40B4-BE49-F238E27FC236}">
                <a16:creationId xmlns:a16="http://schemas.microsoft.com/office/drawing/2014/main" id="{CAE62AF6-B951-4003-BB38-E11EAC61F1CE}"/>
              </a:ext>
            </a:extLst>
          </p:cNvPr>
          <p:cNvCxnSpPr>
            <a:stCxn id="18" idx="3"/>
            <a:endCxn id="23" idx="1"/>
          </p:cNvCxnSpPr>
          <p:nvPr/>
        </p:nvCxnSpPr>
        <p:spPr>
          <a:xfrm>
            <a:off x="9738726" y="2997422"/>
            <a:ext cx="468788" cy="1728"/>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ADDD8A7B-FDCC-4700-82E4-BCFD2B01459C}"/>
              </a:ext>
            </a:extLst>
          </p:cNvPr>
          <p:cNvCxnSpPr>
            <a:cxnSpLocks/>
            <a:stCxn id="13" idx="0"/>
          </p:cNvCxnSpPr>
          <p:nvPr/>
        </p:nvCxnSpPr>
        <p:spPr>
          <a:xfrm flipV="1">
            <a:off x="2428343" y="1329935"/>
            <a:ext cx="0" cy="308147"/>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5" name="직선 화살표 연결선 34">
            <a:extLst>
              <a:ext uri="{FF2B5EF4-FFF2-40B4-BE49-F238E27FC236}">
                <a16:creationId xmlns:a16="http://schemas.microsoft.com/office/drawing/2014/main" id="{34BD0F32-B6FC-451B-8DF4-316EFD20E54E}"/>
              </a:ext>
            </a:extLst>
          </p:cNvPr>
          <p:cNvCxnSpPr>
            <a:cxnSpLocks/>
            <a:stCxn id="16" idx="0"/>
          </p:cNvCxnSpPr>
          <p:nvPr/>
        </p:nvCxnSpPr>
        <p:spPr>
          <a:xfrm flipV="1">
            <a:off x="3833429" y="1365854"/>
            <a:ext cx="0" cy="661105"/>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8" name="직선 화살표 연결선 37">
            <a:extLst>
              <a:ext uri="{FF2B5EF4-FFF2-40B4-BE49-F238E27FC236}">
                <a16:creationId xmlns:a16="http://schemas.microsoft.com/office/drawing/2014/main" id="{DF521989-EFFE-4A1E-B117-208D1C6C724C}"/>
              </a:ext>
            </a:extLst>
          </p:cNvPr>
          <p:cNvCxnSpPr>
            <a:cxnSpLocks/>
            <a:stCxn id="17" idx="0"/>
          </p:cNvCxnSpPr>
          <p:nvPr/>
        </p:nvCxnSpPr>
        <p:spPr>
          <a:xfrm flipV="1">
            <a:off x="7704536" y="1329935"/>
            <a:ext cx="0" cy="108417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3" name="직선 화살표 연결선 42">
            <a:extLst>
              <a:ext uri="{FF2B5EF4-FFF2-40B4-BE49-F238E27FC236}">
                <a16:creationId xmlns:a16="http://schemas.microsoft.com/office/drawing/2014/main" id="{E9DC59D6-5710-4FEA-99B5-BF6972B80CEE}"/>
              </a:ext>
            </a:extLst>
          </p:cNvPr>
          <p:cNvCxnSpPr>
            <a:cxnSpLocks/>
            <a:stCxn id="18" idx="0"/>
          </p:cNvCxnSpPr>
          <p:nvPr/>
        </p:nvCxnSpPr>
        <p:spPr>
          <a:xfrm flipH="1" flipV="1">
            <a:off x="9082909" y="1360433"/>
            <a:ext cx="26713" cy="1442550"/>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7" name="사각형: 둥근 모서리 46">
            <a:extLst>
              <a:ext uri="{FF2B5EF4-FFF2-40B4-BE49-F238E27FC236}">
                <a16:creationId xmlns:a16="http://schemas.microsoft.com/office/drawing/2014/main" id="{E6B1C9D8-D1C1-4235-BD2C-D3F48DF70EC5}"/>
              </a:ext>
            </a:extLst>
          </p:cNvPr>
          <p:cNvSpPr/>
          <p:nvPr/>
        </p:nvSpPr>
        <p:spPr>
          <a:xfrm>
            <a:off x="173929" y="1441100"/>
            <a:ext cx="1223001" cy="1223001"/>
          </a:xfrm>
          <a:prstGeom prst="roundRect">
            <a:avLst/>
          </a:prstGeom>
          <a:solidFill>
            <a:schemeClr val="tx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제</a:t>
            </a:r>
            <a:r>
              <a:rPr lang="en-US" altLang="ko-KR" dirty="0"/>
              <a:t>51</a:t>
            </a:r>
            <a:r>
              <a:rPr lang="ko-KR" altLang="en-US" dirty="0"/>
              <a:t>조</a:t>
            </a:r>
            <a:endParaRPr lang="en-US" altLang="ko-KR" dirty="0"/>
          </a:p>
          <a:p>
            <a:pPr algn="ctr"/>
            <a:r>
              <a:rPr lang="ko-KR" altLang="en-US" dirty="0"/>
              <a:t>제</a:t>
            </a:r>
            <a:r>
              <a:rPr lang="en-US" altLang="ko-KR" dirty="0"/>
              <a:t>1</a:t>
            </a:r>
            <a:r>
              <a:rPr lang="ko-KR" altLang="en-US" dirty="0"/>
              <a:t>항</a:t>
            </a:r>
            <a:endParaRPr lang="en-US" altLang="ko-KR" dirty="0"/>
          </a:p>
          <a:p>
            <a:pPr algn="ctr"/>
            <a:r>
              <a:rPr lang="ko-KR" altLang="en-US" dirty="0"/>
              <a:t>제</a:t>
            </a:r>
            <a:r>
              <a:rPr lang="en-US" altLang="ko-KR" dirty="0"/>
              <a:t>1</a:t>
            </a:r>
            <a:r>
              <a:rPr lang="ko-KR" altLang="en-US" dirty="0"/>
              <a:t>호</a:t>
            </a:r>
          </a:p>
        </p:txBody>
      </p:sp>
      <p:cxnSp>
        <p:nvCxnSpPr>
          <p:cNvPr id="48" name="직선 연결선 47">
            <a:extLst>
              <a:ext uri="{FF2B5EF4-FFF2-40B4-BE49-F238E27FC236}">
                <a16:creationId xmlns:a16="http://schemas.microsoft.com/office/drawing/2014/main" id="{745638EC-55D1-41FA-B0B0-0C8F705B3899}"/>
              </a:ext>
            </a:extLst>
          </p:cNvPr>
          <p:cNvCxnSpPr/>
          <p:nvPr/>
        </p:nvCxnSpPr>
        <p:spPr>
          <a:xfrm>
            <a:off x="0" y="3609782"/>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6DC2680A-DA20-46A3-98A4-7C6D14A33DE0}"/>
              </a:ext>
            </a:extLst>
          </p:cNvPr>
          <p:cNvCxnSpPr>
            <a:cxnSpLocks/>
          </p:cNvCxnSpPr>
          <p:nvPr/>
        </p:nvCxnSpPr>
        <p:spPr>
          <a:xfrm>
            <a:off x="1799239" y="4414853"/>
            <a:ext cx="9953296"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0" name="직사각형 49">
            <a:extLst>
              <a:ext uri="{FF2B5EF4-FFF2-40B4-BE49-F238E27FC236}">
                <a16:creationId xmlns:a16="http://schemas.microsoft.com/office/drawing/2014/main" id="{CBD9A306-6442-4B41-8068-E4F7B30F8996}"/>
              </a:ext>
            </a:extLst>
          </p:cNvPr>
          <p:cNvSpPr/>
          <p:nvPr/>
        </p:nvSpPr>
        <p:spPr>
          <a:xfrm>
            <a:off x="4516601" y="4193734"/>
            <a:ext cx="819807" cy="475388"/>
          </a:xfrm>
          <a:prstGeom prst="rect">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특허결정</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착오</a:t>
            </a:r>
            <a:r>
              <a:rPr lang="en-US" altLang="ko-KR" sz="1200" dirty="0">
                <a:solidFill>
                  <a:schemeClr val="tx1"/>
                </a:solidFill>
              </a:rPr>
              <a:t>)</a:t>
            </a:r>
          </a:p>
        </p:txBody>
      </p:sp>
      <p:sp>
        <p:nvSpPr>
          <p:cNvPr id="51" name="직사각형 50">
            <a:extLst>
              <a:ext uri="{FF2B5EF4-FFF2-40B4-BE49-F238E27FC236}">
                <a16:creationId xmlns:a16="http://schemas.microsoft.com/office/drawing/2014/main" id="{1FE22BE7-5B4E-47D2-898C-C9CBDB78F8DD}"/>
              </a:ext>
            </a:extLst>
          </p:cNvPr>
          <p:cNvSpPr/>
          <p:nvPr/>
        </p:nvSpPr>
        <p:spPr>
          <a:xfrm>
            <a:off x="5677556" y="4199609"/>
            <a:ext cx="1135118" cy="475388"/>
          </a:xfrm>
          <a:prstGeom prst="rect">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특허결정취소</a:t>
            </a:r>
            <a:endParaRPr lang="en-US" altLang="ko-KR" sz="1200" dirty="0">
              <a:solidFill>
                <a:schemeClr val="tx1"/>
              </a:solidFill>
            </a:endParaRPr>
          </a:p>
        </p:txBody>
      </p:sp>
      <p:sp>
        <p:nvSpPr>
          <p:cNvPr id="52" name="직사각형 51">
            <a:extLst>
              <a:ext uri="{FF2B5EF4-FFF2-40B4-BE49-F238E27FC236}">
                <a16:creationId xmlns:a16="http://schemas.microsoft.com/office/drawing/2014/main" id="{14E3B0FB-3474-46F4-8ED3-F31BC70CCB3C}"/>
              </a:ext>
            </a:extLst>
          </p:cNvPr>
          <p:cNvSpPr/>
          <p:nvPr/>
        </p:nvSpPr>
        <p:spPr>
          <a:xfrm>
            <a:off x="1799239" y="4705041"/>
            <a:ext cx="1258208" cy="388877"/>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2</a:t>
            </a:r>
            <a:r>
              <a:rPr lang="ko-KR" altLang="en-US" sz="1050" dirty="0">
                <a:solidFill>
                  <a:schemeClr val="tx1"/>
                </a:solidFill>
              </a:rPr>
              <a:t>호부적법 보정</a:t>
            </a:r>
          </a:p>
        </p:txBody>
      </p:sp>
      <p:sp>
        <p:nvSpPr>
          <p:cNvPr id="53" name="직사각형 52">
            <a:extLst>
              <a:ext uri="{FF2B5EF4-FFF2-40B4-BE49-F238E27FC236}">
                <a16:creationId xmlns:a16="http://schemas.microsoft.com/office/drawing/2014/main" id="{C59903E6-38E4-4EEC-8575-CE687DD34A60}"/>
              </a:ext>
            </a:extLst>
          </p:cNvPr>
          <p:cNvSpPr/>
          <p:nvPr/>
        </p:nvSpPr>
        <p:spPr>
          <a:xfrm>
            <a:off x="3204325" y="5093918"/>
            <a:ext cx="1258208" cy="388877"/>
          </a:xfrm>
          <a:prstGeom prst="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3</a:t>
            </a:r>
            <a:r>
              <a:rPr lang="ko-KR" altLang="en-US" sz="1050" dirty="0">
                <a:solidFill>
                  <a:schemeClr val="tx1"/>
                </a:solidFill>
              </a:rPr>
              <a:t>호부적법 보정</a:t>
            </a:r>
          </a:p>
        </p:txBody>
      </p:sp>
      <p:sp>
        <p:nvSpPr>
          <p:cNvPr id="54" name="직사각형 53">
            <a:extLst>
              <a:ext uri="{FF2B5EF4-FFF2-40B4-BE49-F238E27FC236}">
                <a16:creationId xmlns:a16="http://schemas.microsoft.com/office/drawing/2014/main" id="{2072C6C8-1505-483E-97F0-FA1A46E1DBDA}"/>
              </a:ext>
            </a:extLst>
          </p:cNvPr>
          <p:cNvSpPr/>
          <p:nvPr/>
        </p:nvSpPr>
        <p:spPr>
          <a:xfrm>
            <a:off x="7075432" y="5481065"/>
            <a:ext cx="1258208" cy="388877"/>
          </a:xfrm>
          <a:prstGeom prst="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2</a:t>
            </a:r>
            <a:r>
              <a:rPr lang="ko-KR" altLang="en-US" sz="1050" dirty="0">
                <a:solidFill>
                  <a:schemeClr val="tx1"/>
                </a:solidFill>
              </a:rPr>
              <a:t>호부적법 보정</a:t>
            </a:r>
          </a:p>
        </p:txBody>
      </p:sp>
      <p:sp>
        <p:nvSpPr>
          <p:cNvPr id="55" name="직사각형 54">
            <a:extLst>
              <a:ext uri="{FF2B5EF4-FFF2-40B4-BE49-F238E27FC236}">
                <a16:creationId xmlns:a16="http://schemas.microsoft.com/office/drawing/2014/main" id="{5ACBF4A4-B3F7-4055-8D37-8A9ACD33455A}"/>
              </a:ext>
            </a:extLst>
          </p:cNvPr>
          <p:cNvSpPr/>
          <p:nvPr/>
        </p:nvSpPr>
        <p:spPr>
          <a:xfrm>
            <a:off x="8480518" y="5869942"/>
            <a:ext cx="1258208" cy="388877"/>
          </a:xfrm>
          <a:prstGeom prst="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3</a:t>
            </a:r>
            <a:r>
              <a:rPr lang="ko-KR" altLang="en-US" sz="1050" dirty="0">
                <a:solidFill>
                  <a:schemeClr val="tx1"/>
                </a:solidFill>
              </a:rPr>
              <a:t>호부적법 보정</a:t>
            </a:r>
          </a:p>
        </p:txBody>
      </p:sp>
      <p:sp>
        <p:nvSpPr>
          <p:cNvPr id="56" name="직사각형 55">
            <a:extLst>
              <a:ext uri="{FF2B5EF4-FFF2-40B4-BE49-F238E27FC236}">
                <a16:creationId xmlns:a16="http://schemas.microsoft.com/office/drawing/2014/main" id="{B3BA05F9-9F94-4A9D-B647-9D2ACB36FDEB}"/>
              </a:ext>
            </a:extLst>
          </p:cNvPr>
          <p:cNvSpPr/>
          <p:nvPr/>
        </p:nvSpPr>
        <p:spPr>
          <a:xfrm>
            <a:off x="10207514" y="4705041"/>
            <a:ext cx="1258208" cy="388877"/>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보정인정</a:t>
            </a:r>
          </a:p>
        </p:txBody>
      </p:sp>
      <p:sp>
        <p:nvSpPr>
          <p:cNvPr id="57" name="타원 56">
            <a:extLst>
              <a:ext uri="{FF2B5EF4-FFF2-40B4-BE49-F238E27FC236}">
                <a16:creationId xmlns:a16="http://schemas.microsoft.com/office/drawing/2014/main" id="{90B4DAD7-BECE-49C0-9B76-DB88746F2425}"/>
              </a:ext>
            </a:extLst>
          </p:cNvPr>
          <p:cNvSpPr/>
          <p:nvPr/>
        </p:nvSpPr>
        <p:spPr>
          <a:xfrm>
            <a:off x="10543845" y="4117734"/>
            <a:ext cx="567559" cy="567559"/>
          </a:xfrm>
          <a:prstGeom prst="ellipse">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600" dirty="0"/>
              <a:t>발견</a:t>
            </a:r>
          </a:p>
        </p:txBody>
      </p:sp>
      <p:sp>
        <p:nvSpPr>
          <p:cNvPr id="58" name="직사각형 57">
            <a:extLst>
              <a:ext uri="{FF2B5EF4-FFF2-40B4-BE49-F238E27FC236}">
                <a16:creationId xmlns:a16="http://schemas.microsoft.com/office/drawing/2014/main" id="{377DBDC9-A57A-4ADB-A16A-53669227EABF}"/>
              </a:ext>
            </a:extLst>
          </p:cNvPr>
          <p:cNvSpPr/>
          <p:nvPr/>
        </p:nvSpPr>
        <p:spPr>
          <a:xfrm>
            <a:off x="10207514" y="5093917"/>
            <a:ext cx="1258208" cy="388877"/>
          </a:xfrm>
          <a:prstGeom prst="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보정인정</a:t>
            </a:r>
          </a:p>
        </p:txBody>
      </p:sp>
      <p:sp>
        <p:nvSpPr>
          <p:cNvPr id="59" name="직사각형 58">
            <a:extLst>
              <a:ext uri="{FF2B5EF4-FFF2-40B4-BE49-F238E27FC236}">
                <a16:creationId xmlns:a16="http://schemas.microsoft.com/office/drawing/2014/main" id="{C9FC857D-261D-4A8A-BF91-48C0E07B7EAD}"/>
              </a:ext>
            </a:extLst>
          </p:cNvPr>
          <p:cNvSpPr/>
          <p:nvPr/>
        </p:nvSpPr>
        <p:spPr>
          <a:xfrm>
            <a:off x="10207514" y="5482794"/>
            <a:ext cx="1258208" cy="388877"/>
          </a:xfrm>
          <a:prstGeom prst="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err="1">
                <a:solidFill>
                  <a:schemeClr val="tx1"/>
                </a:solidFill>
              </a:rPr>
              <a:t>보정각하</a:t>
            </a:r>
            <a:endParaRPr lang="ko-KR" altLang="en-US" sz="1050" dirty="0">
              <a:solidFill>
                <a:schemeClr val="tx1"/>
              </a:solidFill>
            </a:endParaRPr>
          </a:p>
        </p:txBody>
      </p:sp>
      <p:sp>
        <p:nvSpPr>
          <p:cNvPr id="60" name="직사각형 59">
            <a:extLst>
              <a:ext uri="{FF2B5EF4-FFF2-40B4-BE49-F238E27FC236}">
                <a16:creationId xmlns:a16="http://schemas.microsoft.com/office/drawing/2014/main" id="{DB9FA43A-7009-434C-8475-9010620FB43B}"/>
              </a:ext>
            </a:extLst>
          </p:cNvPr>
          <p:cNvSpPr/>
          <p:nvPr/>
        </p:nvSpPr>
        <p:spPr>
          <a:xfrm>
            <a:off x="10207514" y="5871670"/>
            <a:ext cx="1258208" cy="388877"/>
          </a:xfrm>
          <a:prstGeom prst="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err="1">
                <a:solidFill>
                  <a:schemeClr val="tx1"/>
                </a:solidFill>
              </a:rPr>
              <a:t>보정각하</a:t>
            </a:r>
            <a:endParaRPr lang="ko-KR" altLang="en-US" sz="1050" dirty="0">
              <a:solidFill>
                <a:schemeClr val="tx1"/>
              </a:solidFill>
            </a:endParaRPr>
          </a:p>
        </p:txBody>
      </p:sp>
      <p:cxnSp>
        <p:nvCxnSpPr>
          <p:cNvPr id="61" name="직선 화살표 연결선 60">
            <a:extLst>
              <a:ext uri="{FF2B5EF4-FFF2-40B4-BE49-F238E27FC236}">
                <a16:creationId xmlns:a16="http://schemas.microsoft.com/office/drawing/2014/main" id="{D2C63300-36A4-4C76-85DA-CFBAF8F3F222}"/>
              </a:ext>
            </a:extLst>
          </p:cNvPr>
          <p:cNvCxnSpPr>
            <a:stCxn id="52" idx="3"/>
            <a:endCxn id="56" idx="1"/>
          </p:cNvCxnSpPr>
          <p:nvPr/>
        </p:nvCxnSpPr>
        <p:spPr>
          <a:xfrm>
            <a:off x="3057447" y="4899480"/>
            <a:ext cx="7150067"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6145C1D4-1331-4879-AD9B-7B3EB84A94DC}"/>
              </a:ext>
            </a:extLst>
          </p:cNvPr>
          <p:cNvCxnSpPr>
            <a:stCxn id="53" idx="3"/>
            <a:endCxn id="58" idx="1"/>
          </p:cNvCxnSpPr>
          <p:nvPr/>
        </p:nvCxnSpPr>
        <p:spPr>
          <a:xfrm flipV="1">
            <a:off x="4462533" y="5288356"/>
            <a:ext cx="5744981" cy="1"/>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3" name="연결선: 꺾임 62">
            <a:extLst>
              <a:ext uri="{FF2B5EF4-FFF2-40B4-BE49-F238E27FC236}">
                <a16:creationId xmlns:a16="http://schemas.microsoft.com/office/drawing/2014/main" id="{03E7E9C0-AF39-4B9C-A615-E77FAE2C1957}"/>
              </a:ext>
            </a:extLst>
          </p:cNvPr>
          <p:cNvCxnSpPr>
            <a:stCxn id="54" idx="3"/>
            <a:endCxn id="59" idx="1"/>
          </p:cNvCxnSpPr>
          <p:nvPr/>
        </p:nvCxnSpPr>
        <p:spPr>
          <a:xfrm>
            <a:off x="8333640" y="5675504"/>
            <a:ext cx="1873874" cy="1729"/>
          </a:xfrm>
          <a:prstGeom prst="bentConnector3">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4" name="직선 화살표 연결선 63">
            <a:extLst>
              <a:ext uri="{FF2B5EF4-FFF2-40B4-BE49-F238E27FC236}">
                <a16:creationId xmlns:a16="http://schemas.microsoft.com/office/drawing/2014/main" id="{0A54A14F-B8DD-49A8-A7BF-6F570259B4DA}"/>
              </a:ext>
            </a:extLst>
          </p:cNvPr>
          <p:cNvCxnSpPr>
            <a:stCxn id="55" idx="3"/>
            <a:endCxn id="60" idx="1"/>
          </p:cNvCxnSpPr>
          <p:nvPr/>
        </p:nvCxnSpPr>
        <p:spPr>
          <a:xfrm>
            <a:off x="9738726" y="6064381"/>
            <a:ext cx="468788" cy="1728"/>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5" name="직선 화살표 연결선 64">
            <a:extLst>
              <a:ext uri="{FF2B5EF4-FFF2-40B4-BE49-F238E27FC236}">
                <a16:creationId xmlns:a16="http://schemas.microsoft.com/office/drawing/2014/main" id="{F8B29AE3-16B8-4C7B-AC98-CEC249D727DE}"/>
              </a:ext>
            </a:extLst>
          </p:cNvPr>
          <p:cNvCxnSpPr>
            <a:cxnSpLocks/>
            <a:stCxn id="52" idx="0"/>
          </p:cNvCxnSpPr>
          <p:nvPr/>
        </p:nvCxnSpPr>
        <p:spPr>
          <a:xfrm flipV="1">
            <a:off x="2428343" y="4396894"/>
            <a:ext cx="0" cy="308147"/>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12C8C896-E665-4081-8DE1-60641280AB03}"/>
              </a:ext>
            </a:extLst>
          </p:cNvPr>
          <p:cNvCxnSpPr>
            <a:cxnSpLocks/>
            <a:stCxn id="53" idx="0"/>
          </p:cNvCxnSpPr>
          <p:nvPr/>
        </p:nvCxnSpPr>
        <p:spPr>
          <a:xfrm flipV="1">
            <a:off x="3833429" y="4432813"/>
            <a:ext cx="0" cy="661105"/>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AC761B94-4E57-4151-97E8-4BEDFF6EEC6E}"/>
              </a:ext>
            </a:extLst>
          </p:cNvPr>
          <p:cNvCxnSpPr>
            <a:cxnSpLocks/>
            <a:stCxn id="54" idx="0"/>
          </p:cNvCxnSpPr>
          <p:nvPr/>
        </p:nvCxnSpPr>
        <p:spPr>
          <a:xfrm flipV="1">
            <a:off x="7704536" y="4396894"/>
            <a:ext cx="0" cy="108417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6C08433F-68E5-405F-A0B1-250F09C726FB}"/>
              </a:ext>
            </a:extLst>
          </p:cNvPr>
          <p:cNvCxnSpPr>
            <a:cxnSpLocks/>
            <a:stCxn id="55" idx="0"/>
          </p:cNvCxnSpPr>
          <p:nvPr/>
        </p:nvCxnSpPr>
        <p:spPr>
          <a:xfrm flipH="1" flipV="1">
            <a:off x="9082909" y="4427392"/>
            <a:ext cx="26713" cy="1442550"/>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9" name="사각형: 둥근 모서리 68">
            <a:extLst>
              <a:ext uri="{FF2B5EF4-FFF2-40B4-BE49-F238E27FC236}">
                <a16:creationId xmlns:a16="http://schemas.microsoft.com/office/drawing/2014/main" id="{ED39616A-D03B-4EB9-AD4B-F3503714A4AF}"/>
              </a:ext>
            </a:extLst>
          </p:cNvPr>
          <p:cNvSpPr/>
          <p:nvPr/>
        </p:nvSpPr>
        <p:spPr>
          <a:xfrm>
            <a:off x="173929" y="4508059"/>
            <a:ext cx="1223001" cy="1223001"/>
          </a:xfrm>
          <a:prstGeom prst="roundRect">
            <a:avLst/>
          </a:prstGeom>
          <a:solidFill>
            <a:schemeClr val="tx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제</a:t>
            </a:r>
            <a:r>
              <a:rPr lang="en-US" altLang="ko-KR" dirty="0"/>
              <a:t>51</a:t>
            </a:r>
            <a:r>
              <a:rPr lang="ko-KR" altLang="en-US" dirty="0"/>
              <a:t>조</a:t>
            </a:r>
            <a:endParaRPr lang="en-US" altLang="ko-KR" dirty="0"/>
          </a:p>
          <a:p>
            <a:pPr algn="ctr"/>
            <a:r>
              <a:rPr lang="ko-KR" altLang="en-US" dirty="0"/>
              <a:t>제</a:t>
            </a:r>
            <a:r>
              <a:rPr lang="en-US" altLang="ko-KR" dirty="0"/>
              <a:t>1</a:t>
            </a:r>
            <a:r>
              <a:rPr lang="ko-KR" altLang="en-US" dirty="0"/>
              <a:t>항</a:t>
            </a:r>
            <a:endParaRPr lang="en-US" altLang="ko-KR" dirty="0"/>
          </a:p>
          <a:p>
            <a:pPr algn="ctr"/>
            <a:r>
              <a:rPr lang="ko-KR" altLang="en-US" dirty="0"/>
              <a:t>제</a:t>
            </a:r>
            <a:r>
              <a:rPr lang="en-US" altLang="ko-KR" dirty="0"/>
              <a:t>2</a:t>
            </a:r>
            <a:r>
              <a:rPr lang="ko-KR" altLang="en-US" dirty="0"/>
              <a:t>호</a:t>
            </a:r>
          </a:p>
        </p:txBody>
      </p:sp>
      <p:sp>
        <p:nvSpPr>
          <p:cNvPr id="70" name="TextBox 69">
            <a:extLst>
              <a:ext uri="{FF2B5EF4-FFF2-40B4-BE49-F238E27FC236}">
                <a16:creationId xmlns:a16="http://schemas.microsoft.com/office/drawing/2014/main" id="{98BE3A5F-F9A3-4E83-8631-5455D1AB6F77}"/>
              </a:ext>
            </a:extLst>
          </p:cNvPr>
          <p:cNvSpPr txBox="1"/>
          <p:nvPr/>
        </p:nvSpPr>
        <p:spPr>
          <a:xfrm>
            <a:off x="6947737" y="3717207"/>
            <a:ext cx="774571" cy="369332"/>
          </a:xfrm>
          <a:prstGeom prst="rect">
            <a:avLst/>
          </a:prstGeom>
          <a:noFill/>
        </p:spPr>
        <p:txBody>
          <a:bodyPr wrap="none" rtlCol="0">
            <a:spAutoFit/>
          </a:bodyPr>
          <a:lstStyle/>
          <a:p>
            <a:pPr algn="ctr"/>
            <a:r>
              <a:rPr lang="en-US" altLang="ko-KR" dirty="0">
                <a:solidFill>
                  <a:srgbClr val="FF0000"/>
                </a:solidFill>
              </a:rPr>
              <a:t>Reset</a:t>
            </a:r>
          </a:p>
        </p:txBody>
      </p:sp>
      <p:cxnSp>
        <p:nvCxnSpPr>
          <p:cNvPr id="24" name="직선 화살표 연결선 23">
            <a:extLst>
              <a:ext uri="{FF2B5EF4-FFF2-40B4-BE49-F238E27FC236}">
                <a16:creationId xmlns:a16="http://schemas.microsoft.com/office/drawing/2014/main" id="{96084280-B911-412C-8F6C-54D82783F5E9}"/>
              </a:ext>
            </a:extLst>
          </p:cNvPr>
          <p:cNvCxnSpPr>
            <a:stCxn id="70" idx="2"/>
          </p:cNvCxnSpPr>
          <p:nvPr/>
        </p:nvCxnSpPr>
        <p:spPr>
          <a:xfrm flipH="1">
            <a:off x="7335022" y="4086539"/>
            <a:ext cx="1" cy="310355"/>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DF011706-6E7B-8FBD-539A-454D2EFF991F}"/>
              </a:ext>
            </a:extLst>
          </p:cNvPr>
          <p:cNvSpPr txBox="1"/>
          <p:nvPr/>
        </p:nvSpPr>
        <p:spPr>
          <a:xfrm>
            <a:off x="11204430" y="2805110"/>
            <a:ext cx="926856" cy="430887"/>
          </a:xfrm>
          <a:prstGeom prst="rect">
            <a:avLst/>
          </a:prstGeom>
          <a:noFill/>
        </p:spPr>
        <p:txBody>
          <a:bodyPr wrap="none" rtlCol="0">
            <a:spAutoFit/>
          </a:bodyPr>
          <a:lstStyle/>
          <a:p>
            <a:pPr algn="ctr"/>
            <a:r>
              <a:rPr lang="ko-KR" altLang="en-US" sz="1050" dirty="0">
                <a:solidFill>
                  <a:schemeClr val="accent5"/>
                </a:solidFill>
              </a:rPr>
              <a:t>제</a:t>
            </a:r>
            <a:r>
              <a:rPr lang="en-US" altLang="ko-KR" sz="1050" dirty="0">
                <a:solidFill>
                  <a:schemeClr val="accent5"/>
                </a:solidFill>
              </a:rPr>
              <a:t>51</a:t>
            </a:r>
            <a:r>
              <a:rPr lang="ko-KR" altLang="en-US" sz="1050" dirty="0">
                <a:solidFill>
                  <a:schemeClr val="accent5"/>
                </a:solidFill>
              </a:rPr>
              <a:t>조제</a:t>
            </a:r>
            <a:r>
              <a:rPr lang="en-US" altLang="ko-KR" sz="1050" dirty="0">
                <a:solidFill>
                  <a:schemeClr val="accent5"/>
                </a:solidFill>
              </a:rPr>
              <a:t>1</a:t>
            </a:r>
            <a:r>
              <a:rPr lang="ko-KR" altLang="en-US" sz="1050" dirty="0">
                <a:solidFill>
                  <a:schemeClr val="accent5"/>
                </a:solidFill>
              </a:rPr>
              <a:t>항</a:t>
            </a:r>
            <a:endParaRPr lang="en-US" altLang="ko-KR" sz="1050" dirty="0">
              <a:solidFill>
                <a:schemeClr val="accent5"/>
              </a:solidFill>
            </a:endParaRPr>
          </a:p>
          <a:p>
            <a:pPr algn="ctr"/>
            <a:r>
              <a:rPr lang="ko-KR" altLang="en-US" sz="1050" dirty="0">
                <a:solidFill>
                  <a:schemeClr val="accent5"/>
                </a:solidFill>
              </a:rPr>
              <a:t>본문</a:t>
            </a:r>
          </a:p>
        </p:txBody>
      </p:sp>
      <p:sp>
        <p:nvSpPr>
          <p:cNvPr id="7" name="TextBox 6">
            <a:extLst>
              <a:ext uri="{FF2B5EF4-FFF2-40B4-BE49-F238E27FC236}">
                <a16:creationId xmlns:a16="http://schemas.microsoft.com/office/drawing/2014/main" id="{1CB9B884-E571-6654-2975-4AB0144A735D}"/>
              </a:ext>
            </a:extLst>
          </p:cNvPr>
          <p:cNvSpPr txBox="1"/>
          <p:nvPr/>
        </p:nvSpPr>
        <p:spPr>
          <a:xfrm>
            <a:off x="11204430" y="2391784"/>
            <a:ext cx="926856" cy="430887"/>
          </a:xfrm>
          <a:prstGeom prst="rect">
            <a:avLst/>
          </a:prstGeom>
          <a:noFill/>
        </p:spPr>
        <p:txBody>
          <a:bodyPr wrap="none" rtlCol="0">
            <a:spAutoFit/>
          </a:bodyPr>
          <a:lstStyle/>
          <a:p>
            <a:pPr algn="ctr"/>
            <a:r>
              <a:rPr lang="ko-KR" altLang="en-US" sz="1050" dirty="0">
                <a:solidFill>
                  <a:schemeClr val="accent5"/>
                </a:solidFill>
              </a:rPr>
              <a:t>제</a:t>
            </a:r>
            <a:r>
              <a:rPr lang="en-US" altLang="ko-KR" sz="1050" dirty="0">
                <a:solidFill>
                  <a:schemeClr val="accent5"/>
                </a:solidFill>
              </a:rPr>
              <a:t>51</a:t>
            </a:r>
            <a:r>
              <a:rPr lang="ko-KR" altLang="en-US" sz="1050" dirty="0">
                <a:solidFill>
                  <a:schemeClr val="accent5"/>
                </a:solidFill>
              </a:rPr>
              <a:t>조제</a:t>
            </a:r>
            <a:r>
              <a:rPr lang="en-US" altLang="ko-KR" sz="1050" dirty="0">
                <a:solidFill>
                  <a:schemeClr val="accent5"/>
                </a:solidFill>
              </a:rPr>
              <a:t>1</a:t>
            </a:r>
            <a:r>
              <a:rPr lang="ko-KR" altLang="en-US" sz="1050" dirty="0">
                <a:solidFill>
                  <a:schemeClr val="accent5"/>
                </a:solidFill>
              </a:rPr>
              <a:t>항</a:t>
            </a:r>
            <a:endParaRPr lang="en-US" altLang="ko-KR" sz="1050" dirty="0">
              <a:solidFill>
                <a:schemeClr val="accent5"/>
              </a:solidFill>
            </a:endParaRPr>
          </a:p>
          <a:p>
            <a:pPr algn="ctr"/>
            <a:r>
              <a:rPr lang="ko-KR" altLang="en-US" sz="1050" dirty="0">
                <a:solidFill>
                  <a:schemeClr val="accent5"/>
                </a:solidFill>
              </a:rPr>
              <a:t>본문</a:t>
            </a:r>
          </a:p>
        </p:txBody>
      </p:sp>
      <p:sp>
        <p:nvSpPr>
          <p:cNvPr id="9" name="TextBox 8">
            <a:extLst>
              <a:ext uri="{FF2B5EF4-FFF2-40B4-BE49-F238E27FC236}">
                <a16:creationId xmlns:a16="http://schemas.microsoft.com/office/drawing/2014/main" id="{818E64A9-0CEF-3F7B-F057-62C4E93BEEF4}"/>
              </a:ext>
            </a:extLst>
          </p:cNvPr>
          <p:cNvSpPr txBox="1"/>
          <p:nvPr/>
        </p:nvSpPr>
        <p:spPr>
          <a:xfrm>
            <a:off x="11204430" y="1610764"/>
            <a:ext cx="926856" cy="430887"/>
          </a:xfrm>
          <a:prstGeom prst="rect">
            <a:avLst/>
          </a:prstGeom>
          <a:noFill/>
        </p:spPr>
        <p:txBody>
          <a:bodyPr wrap="none" rtlCol="0">
            <a:spAutoFit/>
          </a:bodyPr>
          <a:lstStyle/>
          <a:p>
            <a:pPr algn="ctr"/>
            <a:r>
              <a:rPr lang="ko-KR" altLang="en-US" sz="1050" dirty="0">
                <a:solidFill>
                  <a:srgbClr val="FF0000"/>
                </a:solidFill>
              </a:rPr>
              <a:t>제</a:t>
            </a:r>
            <a:r>
              <a:rPr lang="en-US" altLang="ko-KR" sz="1050" dirty="0">
                <a:solidFill>
                  <a:srgbClr val="FF0000"/>
                </a:solidFill>
              </a:rPr>
              <a:t>51</a:t>
            </a:r>
            <a:r>
              <a:rPr lang="ko-KR" altLang="en-US" sz="1050" dirty="0">
                <a:solidFill>
                  <a:srgbClr val="FF0000"/>
                </a:solidFill>
              </a:rPr>
              <a:t>조제</a:t>
            </a:r>
            <a:r>
              <a:rPr lang="en-US" altLang="ko-KR" sz="1050" dirty="0">
                <a:solidFill>
                  <a:srgbClr val="FF0000"/>
                </a:solidFill>
              </a:rPr>
              <a:t>1</a:t>
            </a:r>
            <a:r>
              <a:rPr lang="ko-KR" altLang="en-US" sz="1050" dirty="0">
                <a:solidFill>
                  <a:srgbClr val="FF0000"/>
                </a:solidFill>
              </a:rPr>
              <a:t>항</a:t>
            </a:r>
            <a:endParaRPr lang="en-US" altLang="ko-KR" sz="1050" dirty="0">
              <a:solidFill>
                <a:srgbClr val="FF0000"/>
              </a:solidFill>
            </a:endParaRPr>
          </a:p>
          <a:p>
            <a:pPr algn="ctr"/>
            <a:r>
              <a:rPr lang="ko-KR" altLang="en-US" sz="1050" dirty="0">
                <a:solidFill>
                  <a:srgbClr val="FF0000"/>
                </a:solidFill>
              </a:rPr>
              <a:t>제</a:t>
            </a:r>
            <a:r>
              <a:rPr lang="en-US" altLang="ko-KR" sz="1050" dirty="0">
                <a:solidFill>
                  <a:srgbClr val="FF0000"/>
                </a:solidFill>
              </a:rPr>
              <a:t>1</a:t>
            </a:r>
            <a:r>
              <a:rPr lang="ko-KR" altLang="en-US" sz="1050" dirty="0">
                <a:solidFill>
                  <a:srgbClr val="FF0000"/>
                </a:solidFill>
              </a:rPr>
              <a:t>호</a:t>
            </a:r>
          </a:p>
        </p:txBody>
      </p:sp>
      <p:sp>
        <p:nvSpPr>
          <p:cNvPr id="10" name="TextBox 9">
            <a:extLst>
              <a:ext uri="{FF2B5EF4-FFF2-40B4-BE49-F238E27FC236}">
                <a16:creationId xmlns:a16="http://schemas.microsoft.com/office/drawing/2014/main" id="{C7C30673-EE10-7A1D-309E-9C804CD55FC4}"/>
              </a:ext>
            </a:extLst>
          </p:cNvPr>
          <p:cNvSpPr txBox="1"/>
          <p:nvPr/>
        </p:nvSpPr>
        <p:spPr>
          <a:xfrm>
            <a:off x="11204430" y="2013298"/>
            <a:ext cx="926856" cy="430887"/>
          </a:xfrm>
          <a:prstGeom prst="rect">
            <a:avLst/>
          </a:prstGeom>
          <a:noFill/>
        </p:spPr>
        <p:txBody>
          <a:bodyPr wrap="none" rtlCol="0">
            <a:spAutoFit/>
          </a:bodyPr>
          <a:lstStyle/>
          <a:p>
            <a:pPr algn="ctr"/>
            <a:r>
              <a:rPr lang="ko-KR" altLang="en-US" sz="1050" dirty="0">
                <a:solidFill>
                  <a:srgbClr val="FF0000"/>
                </a:solidFill>
              </a:rPr>
              <a:t>제</a:t>
            </a:r>
            <a:r>
              <a:rPr lang="en-US" altLang="ko-KR" sz="1050" dirty="0">
                <a:solidFill>
                  <a:srgbClr val="FF0000"/>
                </a:solidFill>
              </a:rPr>
              <a:t>51</a:t>
            </a:r>
            <a:r>
              <a:rPr lang="ko-KR" altLang="en-US" sz="1050" dirty="0">
                <a:solidFill>
                  <a:srgbClr val="FF0000"/>
                </a:solidFill>
              </a:rPr>
              <a:t>조제</a:t>
            </a:r>
            <a:r>
              <a:rPr lang="en-US" altLang="ko-KR" sz="1050" dirty="0">
                <a:solidFill>
                  <a:srgbClr val="FF0000"/>
                </a:solidFill>
              </a:rPr>
              <a:t>1</a:t>
            </a:r>
            <a:r>
              <a:rPr lang="ko-KR" altLang="en-US" sz="1050" dirty="0">
                <a:solidFill>
                  <a:srgbClr val="FF0000"/>
                </a:solidFill>
              </a:rPr>
              <a:t>항</a:t>
            </a:r>
            <a:endParaRPr lang="en-US" altLang="ko-KR" sz="1050" dirty="0">
              <a:solidFill>
                <a:srgbClr val="FF0000"/>
              </a:solidFill>
            </a:endParaRPr>
          </a:p>
          <a:p>
            <a:pPr algn="ctr"/>
            <a:r>
              <a:rPr lang="ko-KR" altLang="en-US" sz="1050" dirty="0">
                <a:solidFill>
                  <a:srgbClr val="FF0000"/>
                </a:solidFill>
              </a:rPr>
              <a:t>제</a:t>
            </a:r>
            <a:r>
              <a:rPr lang="en-US" altLang="ko-KR" sz="1050" dirty="0">
                <a:solidFill>
                  <a:srgbClr val="FF0000"/>
                </a:solidFill>
              </a:rPr>
              <a:t>1</a:t>
            </a:r>
            <a:r>
              <a:rPr lang="ko-KR" altLang="en-US" sz="1050" dirty="0">
                <a:solidFill>
                  <a:srgbClr val="FF0000"/>
                </a:solidFill>
              </a:rPr>
              <a:t>호</a:t>
            </a:r>
          </a:p>
        </p:txBody>
      </p:sp>
      <p:sp>
        <p:nvSpPr>
          <p:cNvPr id="14" name="TextBox 13">
            <a:extLst>
              <a:ext uri="{FF2B5EF4-FFF2-40B4-BE49-F238E27FC236}">
                <a16:creationId xmlns:a16="http://schemas.microsoft.com/office/drawing/2014/main" id="{0DEE78C0-59C9-A8E9-C3D8-99DAEF819E4E}"/>
              </a:ext>
            </a:extLst>
          </p:cNvPr>
          <p:cNvSpPr txBox="1"/>
          <p:nvPr/>
        </p:nvSpPr>
        <p:spPr>
          <a:xfrm>
            <a:off x="11204430" y="5896991"/>
            <a:ext cx="926856" cy="430887"/>
          </a:xfrm>
          <a:prstGeom prst="rect">
            <a:avLst/>
          </a:prstGeom>
          <a:noFill/>
        </p:spPr>
        <p:txBody>
          <a:bodyPr wrap="none" rtlCol="0">
            <a:spAutoFit/>
          </a:bodyPr>
          <a:lstStyle/>
          <a:p>
            <a:pPr algn="ctr"/>
            <a:r>
              <a:rPr lang="ko-KR" altLang="en-US" sz="1050" dirty="0">
                <a:solidFill>
                  <a:schemeClr val="accent5"/>
                </a:solidFill>
              </a:rPr>
              <a:t>제</a:t>
            </a:r>
            <a:r>
              <a:rPr lang="en-US" altLang="ko-KR" sz="1050" dirty="0">
                <a:solidFill>
                  <a:schemeClr val="accent5"/>
                </a:solidFill>
              </a:rPr>
              <a:t>51</a:t>
            </a:r>
            <a:r>
              <a:rPr lang="ko-KR" altLang="en-US" sz="1050" dirty="0">
                <a:solidFill>
                  <a:schemeClr val="accent5"/>
                </a:solidFill>
              </a:rPr>
              <a:t>조제</a:t>
            </a:r>
            <a:r>
              <a:rPr lang="en-US" altLang="ko-KR" sz="1050" dirty="0">
                <a:solidFill>
                  <a:schemeClr val="accent5"/>
                </a:solidFill>
              </a:rPr>
              <a:t>1</a:t>
            </a:r>
            <a:r>
              <a:rPr lang="ko-KR" altLang="en-US" sz="1050" dirty="0">
                <a:solidFill>
                  <a:schemeClr val="accent5"/>
                </a:solidFill>
              </a:rPr>
              <a:t>항</a:t>
            </a:r>
            <a:endParaRPr lang="en-US" altLang="ko-KR" sz="1050" dirty="0">
              <a:solidFill>
                <a:schemeClr val="accent5"/>
              </a:solidFill>
            </a:endParaRPr>
          </a:p>
          <a:p>
            <a:pPr algn="ctr"/>
            <a:r>
              <a:rPr lang="ko-KR" altLang="en-US" sz="1050" dirty="0">
                <a:solidFill>
                  <a:schemeClr val="accent5"/>
                </a:solidFill>
              </a:rPr>
              <a:t>본문</a:t>
            </a:r>
          </a:p>
        </p:txBody>
      </p:sp>
      <p:sp>
        <p:nvSpPr>
          <p:cNvPr id="15" name="TextBox 14">
            <a:extLst>
              <a:ext uri="{FF2B5EF4-FFF2-40B4-BE49-F238E27FC236}">
                <a16:creationId xmlns:a16="http://schemas.microsoft.com/office/drawing/2014/main" id="{2FD98721-9C2F-0BE8-62E2-8BD30B0E1C86}"/>
              </a:ext>
            </a:extLst>
          </p:cNvPr>
          <p:cNvSpPr txBox="1"/>
          <p:nvPr/>
        </p:nvSpPr>
        <p:spPr>
          <a:xfrm>
            <a:off x="11204430" y="5483665"/>
            <a:ext cx="926856" cy="430887"/>
          </a:xfrm>
          <a:prstGeom prst="rect">
            <a:avLst/>
          </a:prstGeom>
          <a:noFill/>
        </p:spPr>
        <p:txBody>
          <a:bodyPr wrap="none" rtlCol="0">
            <a:spAutoFit/>
          </a:bodyPr>
          <a:lstStyle/>
          <a:p>
            <a:pPr algn="ctr"/>
            <a:r>
              <a:rPr lang="ko-KR" altLang="en-US" sz="1050" dirty="0">
                <a:solidFill>
                  <a:schemeClr val="accent5"/>
                </a:solidFill>
              </a:rPr>
              <a:t>제</a:t>
            </a:r>
            <a:r>
              <a:rPr lang="en-US" altLang="ko-KR" sz="1050" dirty="0">
                <a:solidFill>
                  <a:schemeClr val="accent5"/>
                </a:solidFill>
              </a:rPr>
              <a:t>51</a:t>
            </a:r>
            <a:r>
              <a:rPr lang="ko-KR" altLang="en-US" sz="1050" dirty="0">
                <a:solidFill>
                  <a:schemeClr val="accent5"/>
                </a:solidFill>
              </a:rPr>
              <a:t>조제</a:t>
            </a:r>
            <a:r>
              <a:rPr lang="en-US" altLang="ko-KR" sz="1050" dirty="0">
                <a:solidFill>
                  <a:schemeClr val="accent5"/>
                </a:solidFill>
              </a:rPr>
              <a:t>1</a:t>
            </a:r>
            <a:r>
              <a:rPr lang="ko-KR" altLang="en-US" sz="1050" dirty="0">
                <a:solidFill>
                  <a:schemeClr val="accent5"/>
                </a:solidFill>
              </a:rPr>
              <a:t>항</a:t>
            </a:r>
            <a:endParaRPr lang="en-US" altLang="ko-KR" sz="1050" dirty="0">
              <a:solidFill>
                <a:schemeClr val="accent5"/>
              </a:solidFill>
            </a:endParaRPr>
          </a:p>
          <a:p>
            <a:pPr algn="ctr"/>
            <a:r>
              <a:rPr lang="ko-KR" altLang="en-US" sz="1050" dirty="0">
                <a:solidFill>
                  <a:schemeClr val="accent5"/>
                </a:solidFill>
              </a:rPr>
              <a:t>본문</a:t>
            </a:r>
          </a:p>
        </p:txBody>
      </p:sp>
      <p:sp>
        <p:nvSpPr>
          <p:cNvPr id="26" name="TextBox 25">
            <a:extLst>
              <a:ext uri="{FF2B5EF4-FFF2-40B4-BE49-F238E27FC236}">
                <a16:creationId xmlns:a16="http://schemas.microsoft.com/office/drawing/2014/main" id="{9EB0A216-E1E1-9349-3D23-2286BEFDBBB3}"/>
              </a:ext>
            </a:extLst>
          </p:cNvPr>
          <p:cNvSpPr txBox="1"/>
          <p:nvPr/>
        </p:nvSpPr>
        <p:spPr>
          <a:xfrm>
            <a:off x="11204430" y="4693701"/>
            <a:ext cx="926856" cy="430887"/>
          </a:xfrm>
          <a:prstGeom prst="rect">
            <a:avLst/>
          </a:prstGeom>
          <a:noFill/>
        </p:spPr>
        <p:txBody>
          <a:bodyPr wrap="none" rtlCol="0">
            <a:spAutoFit/>
          </a:bodyPr>
          <a:lstStyle/>
          <a:p>
            <a:pPr algn="ctr"/>
            <a:r>
              <a:rPr lang="ko-KR" altLang="en-US" sz="1050" dirty="0">
                <a:solidFill>
                  <a:srgbClr val="FF0000"/>
                </a:solidFill>
              </a:rPr>
              <a:t>제</a:t>
            </a:r>
            <a:r>
              <a:rPr lang="en-US" altLang="ko-KR" sz="1050" dirty="0">
                <a:solidFill>
                  <a:srgbClr val="FF0000"/>
                </a:solidFill>
              </a:rPr>
              <a:t>51</a:t>
            </a:r>
            <a:r>
              <a:rPr lang="ko-KR" altLang="en-US" sz="1050" dirty="0">
                <a:solidFill>
                  <a:srgbClr val="FF0000"/>
                </a:solidFill>
              </a:rPr>
              <a:t>조제</a:t>
            </a:r>
            <a:r>
              <a:rPr lang="en-US" altLang="ko-KR" sz="1050" dirty="0">
                <a:solidFill>
                  <a:srgbClr val="FF0000"/>
                </a:solidFill>
              </a:rPr>
              <a:t>1</a:t>
            </a:r>
            <a:r>
              <a:rPr lang="ko-KR" altLang="en-US" sz="1050" dirty="0">
                <a:solidFill>
                  <a:srgbClr val="FF0000"/>
                </a:solidFill>
              </a:rPr>
              <a:t>항</a:t>
            </a:r>
            <a:endParaRPr lang="en-US" altLang="ko-KR" sz="1050" dirty="0">
              <a:solidFill>
                <a:srgbClr val="FF0000"/>
              </a:solidFill>
            </a:endParaRPr>
          </a:p>
          <a:p>
            <a:pPr algn="ctr"/>
            <a:r>
              <a:rPr lang="ko-KR" altLang="en-US" sz="1050" dirty="0">
                <a:solidFill>
                  <a:srgbClr val="FF0000"/>
                </a:solidFill>
              </a:rPr>
              <a:t>제</a:t>
            </a:r>
            <a:r>
              <a:rPr lang="en-US" altLang="ko-KR" sz="1050" dirty="0">
                <a:solidFill>
                  <a:srgbClr val="FF0000"/>
                </a:solidFill>
              </a:rPr>
              <a:t>2</a:t>
            </a:r>
            <a:r>
              <a:rPr lang="ko-KR" altLang="en-US" sz="1050" dirty="0">
                <a:solidFill>
                  <a:srgbClr val="FF0000"/>
                </a:solidFill>
              </a:rPr>
              <a:t>호</a:t>
            </a:r>
          </a:p>
        </p:txBody>
      </p:sp>
      <p:sp>
        <p:nvSpPr>
          <p:cNvPr id="28" name="TextBox 27">
            <a:extLst>
              <a:ext uri="{FF2B5EF4-FFF2-40B4-BE49-F238E27FC236}">
                <a16:creationId xmlns:a16="http://schemas.microsoft.com/office/drawing/2014/main" id="{B52B7818-860E-1EBF-0FB0-D34FAC82BEE6}"/>
              </a:ext>
            </a:extLst>
          </p:cNvPr>
          <p:cNvSpPr txBox="1"/>
          <p:nvPr/>
        </p:nvSpPr>
        <p:spPr>
          <a:xfrm>
            <a:off x="11204430" y="5096235"/>
            <a:ext cx="926856" cy="430887"/>
          </a:xfrm>
          <a:prstGeom prst="rect">
            <a:avLst/>
          </a:prstGeom>
          <a:noFill/>
        </p:spPr>
        <p:txBody>
          <a:bodyPr wrap="none" rtlCol="0">
            <a:spAutoFit/>
          </a:bodyPr>
          <a:lstStyle/>
          <a:p>
            <a:pPr algn="ctr"/>
            <a:r>
              <a:rPr lang="ko-KR" altLang="en-US" sz="1050" dirty="0">
                <a:solidFill>
                  <a:srgbClr val="FF0000"/>
                </a:solidFill>
              </a:rPr>
              <a:t>제</a:t>
            </a:r>
            <a:r>
              <a:rPr lang="en-US" altLang="ko-KR" sz="1050" dirty="0">
                <a:solidFill>
                  <a:srgbClr val="FF0000"/>
                </a:solidFill>
              </a:rPr>
              <a:t>51</a:t>
            </a:r>
            <a:r>
              <a:rPr lang="ko-KR" altLang="en-US" sz="1050" dirty="0">
                <a:solidFill>
                  <a:srgbClr val="FF0000"/>
                </a:solidFill>
              </a:rPr>
              <a:t>조제</a:t>
            </a:r>
            <a:r>
              <a:rPr lang="en-US" altLang="ko-KR" sz="1050" dirty="0">
                <a:solidFill>
                  <a:srgbClr val="FF0000"/>
                </a:solidFill>
              </a:rPr>
              <a:t>1</a:t>
            </a:r>
            <a:r>
              <a:rPr lang="ko-KR" altLang="en-US" sz="1050" dirty="0">
                <a:solidFill>
                  <a:srgbClr val="FF0000"/>
                </a:solidFill>
              </a:rPr>
              <a:t>항</a:t>
            </a:r>
            <a:endParaRPr lang="en-US" altLang="ko-KR" sz="1050" dirty="0">
              <a:solidFill>
                <a:srgbClr val="FF0000"/>
              </a:solidFill>
            </a:endParaRPr>
          </a:p>
          <a:p>
            <a:pPr algn="ctr"/>
            <a:r>
              <a:rPr lang="ko-KR" altLang="en-US" sz="1050" dirty="0">
                <a:solidFill>
                  <a:srgbClr val="FF0000"/>
                </a:solidFill>
              </a:rPr>
              <a:t>제</a:t>
            </a:r>
            <a:r>
              <a:rPr lang="en-US" altLang="ko-KR" sz="1050" dirty="0">
                <a:solidFill>
                  <a:srgbClr val="FF0000"/>
                </a:solidFill>
              </a:rPr>
              <a:t>2</a:t>
            </a:r>
            <a:r>
              <a:rPr lang="ko-KR" altLang="en-US" sz="1050" dirty="0">
                <a:solidFill>
                  <a:srgbClr val="FF0000"/>
                </a:solidFill>
              </a:rPr>
              <a:t>호</a:t>
            </a:r>
          </a:p>
        </p:txBody>
      </p:sp>
      <p:sp>
        <p:nvSpPr>
          <p:cNvPr id="30" name="TextBox 29">
            <a:extLst>
              <a:ext uri="{FF2B5EF4-FFF2-40B4-BE49-F238E27FC236}">
                <a16:creationId xmlns:a16="http://schemas.microsoft.com/office/drawing/2014/main" id="{F967092F-23CB-A473-93BD-BA6E16032B66}"/>
              </a:ext>
            </a:extLst>
          </p:cNvPr>
          <p:cNvSpPr txBox="1"/>
          <p:nvPr/>
        </p:nvSpPr>
        <p:spPr>
          <a:xfrm>
            <a:off x="5124750" y="3788927"/>
            <a:ext cx="736099" cy="276999"/>
          </a:xfrm>
          <a:prstGeom prst="rect">
            <a:avLst/>
          </a:prstGeom>
          <a:solidFill>
            <a:schemeClr val="bg1">
              <a:lumMod val="50000"/>
            </a:schemeClr>
          </a:solidFill>
          <a:ln>
            <a:solidFill>
              <a:schemeClr val="bg1">
                <a:lumMod val="50000"/>
              </a:schemeClr>
            </a:solidFill>
          </a:ln>
        </p:spPr>
        <p:txBody>
          <a:bodyPr wrap="none" rtlCol="0">
            <a:spAutoFit/>
          </a:bodyPr>
          <a:lstStyle/>
          <a:p>
            <a:pPr algn="ctr"/>
            <a:r>
              <a:rPr lang="ko-KR" altLang="en-US" sz="1200" dirty="0">
                <a:solidFill>
                  <a:srgbClr val="FFFF00"/>
                </a:solidFill>
              </a:rPr>
              <a:t>정보제공</a:t>
            </a:r>
            <a:endParaRPr lang="en-US" altLang="ko-KR" sz="1200" dirty="0">
              <a:solidFill>
                <a:srgbClr val="FFFF00"/>
              </a:solidFill>
            </a:endParaRPr>
          </a:p>
        </p:txBody>
      </p:sp>
      <p:cxnSp>
        <p:nvCxnSpPr>
          <p:cNvPr id="32" name="직선 화살표 연결선 31">
            <a:extLst>
              <a:ext uri="{FF2B5EF4-FFF2-40B4-BE49-F238E27FC236}">
                <a16:creationId xmlns:a16="http://schemas.microsoft.com/office/drawing/2014/main" id="{1E775A8A-84A2-84C2-526D-4F56C6042DBA}"/>
              </a:ext>
            </a:extLst>
          </p:cNvPr>
          <p:cNvCxnSpPr>
            <a:cxnSpLocks/>
            <a:stCxn id="30" idx="2"/>
          </p:cNvCxnSpPr>
          <p:nvPr/>
        </p:nvCxnSpPr>
        <p:spPr>
          <a:xfrm>
            <a:off x="5492800" y="4065926"/>
            <a:ext cx="0" cy="330968"/>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74600DDE-9355-4067-E7E7-6E5A1B3EDB93}"/>
              </a:ext>
            </a:extLst>
          </p:cNvPr>
          <p:cNvSpPr txBox="1"/>
          <p:nvPr/>
        </p:nvSpPr>
        <p:spPr>
          <a:xfrm>
            <a:off x="5193679" y="722831"/>
            <a:ext cx="598241" cy="276999"/>
          </a:xfrm>
          <a:prstGeom prst="rect">
            <a:avLst/>
          </a:prstGeom>
          <a:solidFill>
            <a:schemeClr val="bg1">
              <a:lumMod val="50000"/>
            </a:schemeClr>
          </a:solidFill>
          <a:ln>
            <a:solidFill>
              <a:schemeClr val="bg1">
                <a:lumMod val="50000"/>
              </a:schemeClr>
            </a:solidFill>
          </a:ln>
        </p:spPr>
        <p:txBody>
          <a:bodyPr wrap="none" rtlCol="0">
            <a:spAutoFit/>
          </a:bodyPr>
          <a:lstStyle/>
          <a:p>
            <a:pPr algn="ctr"/>
            <a:r>
              <a:rPr lang="ko-KR" altLang="en-US" sz="1200" dirty="0">
                <a:solidFill>
                  <a:srgbClr val="FFFF00"/>
                </a:solidFill>
              </a:rPr>
              <a:t>의견서</a:t>
            </a:r>
            <a:endParaRPr lang="en-US" altLang="ko-KR" sz="1200" dirty="0">
              <a:solidFill>
                <a:srgbClr val="FFFF00"/>
              </a:solidFill>
            </a:endParaRPr>
          </a:p>
        </p:txBody>
      </p:sp>
      <p:cxnSp>
        <p:nvCxnSpPr>
          <p:cNvPr id="37" name="직선 화살표 연결선 36">
            <a:extLst>
              <a:ext uri="{FF2B5EF4-FFF2-40B4-BE49-F238E27FC236}">
                <a16:creationId xmlns:a16="http://schemas.microsoft.com/office/drawing/2014/main" id="{292D8478-1E5F-2B7A-E5A8-379C55810156}"/>
              </a:ext>
            </a:extLst>
          </p:cNvPr>
          <p:cNvCxnSpPr>
            <a:cxnSpLocks/>
            <a:stCxn id="36" idx="2"/>
          </p:cNvCxnSpPr>
          <p:nvPr/>
        </p:nvCxnSpPr>
        <p:spPr>
          <a:xfrm>
            <a:off x="5492800" y="999830"/>
            <a:ext cx="0" cy="330968"/>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902818"/>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solidFill>
                  <a:srgbClr val="525252"/>
                </a:solidFill>
              </a:rPr>
              <a:t>보정각하의</a:t>
            </a:r>
            <a:r>
              <a:rPr lang="ko-KR" altLang="en-US" dirty="0">
                <a:solidFill>
                  <a:srgbClr val="525252"/>
                </a:solidFill>
              </a:rPr>
              <a:t> 예외</a:t>
            </a:r>
            <a:r>
              <a:rPr lang="en-US" altLang="ko-KR" dirty="0">
                <a:solidFill>
                  <a:srgbClr val="525252"/>
                </a:solidFill>
              </a:rPr>
              <a:t>(</a:t>
            </a:r>
            <a:r>
              <a:rPr lang="ko-KR" altLang="en-US" dirty="0">
                <a:solidFill>
                  <a:srgbClr val="525252"/>
                </a:solidFill>
              </a:rPr>
              <a:t>제</a:t>
            </a:r>
            <a:r>
              <a:rPr lang="en-US" altLang="ko-KR" dirty="0">
                <a:solidFill>
                  <a:srgbClr val="525252"/>
                </a:solidFill>
              </a:rPr>
              <a:t>51</a:t>
            </a:r>
            <a:r>
              <a:rPr lang="ko-KR" altLang="en-US" dirty="0">
                <a:solidFill>
                  <a:srgbClr val="525252"/>
                </a:solidFill>
              </a:rPr>
              <a:t>조제</a:t>
            </a:r>
            <a:r>
              <a:rPr lang="en-US" altLang="ko-KR" dirty="0">
                <a:solidFill>
                  <a:srgbClr val="525252"/>
                </a:solidFill>
              </a:rPr>
              <a:t>1</a:t>
            </a:r>
            <a:r>
              <a:rPr lang="ko-KR" altLang="en-US" dirty="0" err="1">
                <a:solidFill>
                  <a:srgbClr val="525252"/>
                </a:solidFill>
              </a:rPr>
              <a:t>항단서</a:t>
            </a:r>
            <a:r>
              <a:rPr lang="en-US" altLang="ko-KR" dirty="0">
                <a:solidFill>
                  <a:srgbClr val="525252"/>
                </a:solidFill>
              </a:rPr>
              <a:t>)</a:t>
            </a:r>
            <a:endParaRPr lang="ko-KR" altLang="en-US" dirty="0">
              <a:solidFill>
                <a:srgbClr val="525252"/>
              </a:solidFill>
            </a:endParaRP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슬라이드 번호 개체 틀 4"/>
          <p:cNvSpPr>
            <a:spLocks noGrp="1"/>
          </p:cNvSpPr>
          <p:nvPr>
            <p:ph type="sldNum" sz="quarter" idx="12"/>
          </p:nvPr>
        </p:nvSpPr>
        <p:spPr/>
        <p:txBody>
          <a:bodyPr/>
          <a:lstStyle/>
          <a:p>
            <a:r>
              <a:rPr lang="en-US" altLang="ko-KR"/>
              <a:t>181</a:t>
            </a:r>
            <a:endParaRPr lang="ko-KR" altLang="en-US"/>
          </a:p>
        </p:txBody>
      </p:sp>
      <p:cxnSp>
        <p:nvCxnSpPr>
          <p:cNvPr id="8" name="직선 화살표 연결선 7">
            <a:extLst>
              <a:ext uri="{FF2B5EF4-FFF2-40B4-BE49-F238E27FC236}">
                <a16:creationId xmlns:a16="http://schemas.microsoft.com/office/drawing/2014/main" id="{D84FFE19-DE7C-4CE4-9DF5-F390A2A46657}"/>
              </a:ext>
            </a:extLst>
          </p:cNvPr>
          <p:cNvCxnSpPr>
            <a:cxnSpLocks/>
          </p:cNvCxnSpPr>
          <p:nvPr/>
        </p:nvCxnSpPr>
        <p:spPr>
          <a:xfrm>
            <a:off x="1799239" y="1347894"/>
            <a:ext cx="9953296"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 name="직사각형 10">
            <a:extLst>
              <a:ext uri="{FF2B5EF4-FFF2-40B4-BE49-F238E27FC236}">
                <a16:creationId xmlns:a16="http://schemas.microsoft.com/office/drawing/2014/main" id="{09C478DD-17F6-4CFE-9E4A-E5F07C919C4B}"/>
              </a:ext>
            </a:extLst>
          </p:cNvPr>
          <p:cNvSpPr/>
          <p:nvPr/>
        </p:nvSpPr>
        <p:spPr>
          <a:xfrm>
            <a:off x="4516601" y="1126775"/>
            <a:ext cx="819807" cy="475388"/>
          </a:xfrm>
          <a:prstGeom prst="rect">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재심사</a:t>
            </a:r>
            <a:endParaRPr lang="en-US" altLang="ko-KR" sz="1200" dirty="0">
              <a:solidFill>
                <a:schemeClr val="tx1"/>
              </a:solidFill>
            </a:endParaRPr>
          </a:p>
          <a:p>
            <a:pPr algn="ctr"/>
            <a:r>
              <a:rPr lang="ko-KR" altLang="en-US" sz="1200" dirty="0">
                <a:solidFill>
                  <a:schemeClr val="tx1"/>
                </a:solidFill>
              </a:rPr>
              <a:t>청구</a:t>
            </a:r>
            <a:endParaRPr lang="en-US" altLang="ko-KR" sz="1200" dirty="0">
              <a:solidFill>
                <a:schemeClr val="tx1"/>
              </a:solidFill>
            </a:endParaRPr>
          </a:p>
        </p:txBody>
      </p:sp>
      <p:sp>
        <p:nvSpPr>
          <p:cNvPr id="13" name="직사각형 12">
            <a:extLst>
              <a:ext uri="{FF2B5EF4-FFF2-40B4-BE49-F238E27FC236}">
                <a16:creationId xmlns:a16="http://schemas.microsoft.com/office/drawing/2014/main" id="{82C7BDE6-589E-4F1A-8D45-738004CCDFFD}"/>
              </a:ext>
            </a:extLst>
          </p:cNvPr>
          <p:cNvSpPr/>
          <p:nvPr/>
        </p:nvSpPr>
        <p:spPr>
          <a:xfrm>
            <a:off x="1799239" y="1638082"/>
            <a:ext cx="1258208" cy="388877"/>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2</a:t>
            </a:r>
            <a:r>
              <a:rPr lang="ko-KR" altLang="en-US" sz="1050" dirty="0">
                <a:solidFill>
                  <a:schemeClr val="tx1"/>
                </a:solidFill>
              </a:rPr>
              <a:t>호부적법 보정</a:t>
            </a:r>
          </a:p>
        </p:txBody>
      </p:sp>
      <p:sp>
        <p:nvSpPr>
          <p:cNvPr id="16" name="직사각형 15">
            <a:extLst>
              <a:ext uri="{FF2B5EF4-FFF2-40B4-BE49-F238E27FC236}">
                <a16:creationId xmlns:a16="http://schemas.microsoft.com/office/drawing/2014/main" id="{198774C9-355F-4905-9CD6-75FAF56D5858}"/>
              </a:ext>
            </a:extLst>
          </p:cNvPr>
          <p:cNvSpPr/>
          <p:nvPr/>
        </p:nvSpPr>
        <p:spPr>
          <a:xfrm>
            <a:off x="4302217" y="2026959"/>
            <a:ext cx="1258208" cy="388877"/>
          </a:xfrm>
          <a:prstGeom prst="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3</a:t>
            </a:r>
            <a:r>
              <a:rPr lang="ko-KR" altLang="en-US" sz="1050" dirty="0">
                <a:solidFill>
                  <a:schemeClr val="tx1"/>
                </a:solidFill>
              </a:rPr>
              <a:t>호부적법 보정</a:t>
            </a:r>
          </a:p>
        </p:txBody>
      </p:sp>
      <p:sp>
        <p:nvSpPr>
          <p:cNvPr id="17" name="직사각형 16">
            <a:extLst>
              <a:ext uri="{FF2B5EF4-FFF2-40B4-BE49-F238E27FC236}">
                <a16:creationId xmlns:a16="http://schemas.microsoft.com/office/drawing/2014/main" id="{46B570B7-AD25-431D-8B15-AF708C253445}"/>
              </a:ext>
            </a:extLst>
          </p:cNvPr>
          <p:cNvSpPr/>
          <p:nvPr/>
        </p:nvSpPr>
        <p:spPr>
          <a:xfrm>
            <a:off x="7075432" y="2414106"/>
            <a:ext cx="1258208" cy="388877"/>
          </a:xfrm>
          <a:prstGeom prst="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2</a:t>
            </a:r>
            <a:r>
              <a:rPr lang="ko-KR" altLang="en-US" sz="1050" dirty="0">
                <a:solidFill>
                  <a:schemeClr val="tx1"/>
                </a:solidFill>
              </a:rPr>
              <a:t>호부적법 보정</a:t>
            </a:r>
          </a:p>
        </p:txBody>
      </p:sp>
      <p:sp>
        <p:nvSpPr>
          <p:cNvPr id="19" name="직사각형 18">
            <a:extLst>
              <a:ext uri="{FF2B5EF4-FFF2-40B4-BE49-F238E27FC236}">
                <a16:creationId xmlns:a16="http://schemas.microsoft.com/office/drawing/2014/main" id="{E4A6C33C-C62D-43F0-912A-006C76CB5769}"/>
              </a:ext>
            </a:extLst>
          </p:cNvPr>
          <p:cNvSpPr/>
          <p:nvPr/>
        </p:nvSpPr>
        <p:spPr>
          <a:xfrm>
            <a:off x="10207514" y="1638082"/>
            <a:ext cx="1258208" cy="388877"/>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보정인정</a:t>
            </a:r>
          </a:p>
        </p:txBody>
      </p:sp>
      <p:sp>
        <p:nvSpPr>
          <p:cNvPr id="20" name="타원 19">
            <a:extLst>
              <a:ext uri="{FF2B5EF4-FFF2-40B4-BE49-F238E27FC236}">
                <a16:creationId xmlns:a16="http://schemas.microsoft.com/office/drawing/2014/main" id="{95F60534-2E5B-4660-BF1C-B982B6A3EAF5}"/>
              </a:ext>
            </a:extLst>
          </p:cNvPr>
          <p:cNvSpPr/>
          <p:nvPr/>
        </p:nvSpPr>
        <p:spPr>
          <a:xfrm>
            <a:off x="10543845" y="1050775"/>
            <a:ext cx="567559" cy="567559"/>
          </a:xfrm>
          <a:prstGeom prst="ellipse">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600" dirty="0"/>
              <a:t>발견</a:t>
            </a:r>
          </a:p>
        </p:txBody>
      </p:sp>
      <p:sp>
        <p:nvSpPr>
          <p:cNvPr id="21" name="직사각형 20">
            <a:extLst>
              <a:ext uri="{FF2B5EF4-FFF2-40B4-BE49-F238E27FC236}">
                <a16:creationId xmlns:a16="http://schemas.microsoft.com/office/drawing/2014/main" id="{232FD870-30C1-43FF-A449-DA3D2E823108}"/>
              </a:ext>
            </a:extLst>
          </p:cNvPr>
          <p:cNvSpPr/>
          <p:nvPr/>
        </p:nvSpPr>
        <p:spPr>
          <a:xfrm>
            <a:off x="10207514" y="2026958"/>
            <a:ext cx="1258208" cy="388877"/>
          </a:xfrm>
          <a:prstGeom prst="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err="1">
                <a:solidFill>
                  <a:schemeClr val="tx1"/>
                </a:solidFill>
              </a:rPr>
              <a:t>보정각하</a:t>
            </a:r>
            <a:endParaRPr lang="ko-KR" altLang="en-US" sz="1050" dirty="0">
              <a:solidFill>
                <a:schemeClr val="tx1"/>
              </a:solidFill>
            </a:endParaRPr>
          </a:p>
        </p:txBody>
      </p:sp>
      <p:sp>
        <p:nvSpPr>
          <p:cNvPr id="22" name="직사각형 21">
            <a:extLst>
              <a:ext uri="{FF2B5EF4-FFF2-40B4-BE49-F238E27FC236}">
                <a16:creationId xmlns:a16="http://schemas.microsoft.com/office/drawing/2014/main" id="{BA3E072E-CBDB-4B41-BFA0-299C41697F60}"/>
              </a:ext>
            </a:extLst>
          </p:cNvPr>
          <p:cNvSpPr/>
          <p:nvPr/>
        </p:nvSpPr>
        <p:spPr>
          <a:xfrm>
            <a:off x="10207514" y="2415835"/>
            <a:ext cx="1258208" cy="388877"/>
          </a:xfrm>
          <a:prstGeom prst="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err="1">
                <a:solidFill>
                  <a:schemeClr val="tx1"/>
                </a:solidFill>
              </a:rPr>
              <a:t>보정각하</a:t>
            </a:r>
            <a:endParaRPr lang="ko-KR" altLang="en-US" sz="1050" dirty="0">
              <a:solidFill>
                <a:schemeClr val="tx1"/>
              </a:solidFill>
            </a:endParaRPr>
          </a:p>
        </p:txBody>
      </p:sp>
      <p:cxnSp>
        <p:nvCxnSpPr>
          <p:cNvPr id="25" name="직선 화살표 연결선 24">
            <a:extLst>
              <a:ext uri="{FF2B5EF4-FFF2-40B4-BE49-F238E27FC236}">
                <a16:creationId xmlns:a16="http://schemas.microsoft.com/office/drawing/2014/main" id="{D0802BE4-11B9-4C07-B02C-208E2058854E}"/>
              </a:ext>
            </a:extLst>
          </p:cNvPr>
          <p:cNvCxnSpPr>
            <a:stCxn id="13" idx="3"/>
            <a:endCxn id="19" idx="1"/>
          </p:cNvCxnSpPr>
          <p:nvPr/>
        </p:nvCxnSpPr>
        <p:spPr>
          <a:xfrm>
            <a:off x="3057447" y="1832521"/>
            <a:ext cx="7150067"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 name="직선 화살표 연결선 26">
            <a:extLst>
              <a:ext uri="{FF2B5EF4-FFF2-40B4-BE49-F238E27FC236}">
                <a16:creationId xmlns:a16="http://schemas.microsoft.com/office/drawing/2014/main" id="{C3F14887-8472-4B27-B9C4-C8D0F5F533B4}"/>
              </a:ext>
            </a:extLst>
          </p:cNvPr>
          <p:cNvCxnSpPr>
            <a:stCxn id="16" idx="3"/>
            <a:endCxn id="21" idx="1"/>
          </p:cNvCxnSpPr>
          <p:nvPr/>
        </p:nvCxnSpPr>
        <p:spPr>
          <a:xfrm flipV="1">
            <a:off x="5560425" y="2221397"/>
            <a:ext cx="4647089" cy="1"/>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9" name="연결선: 꺾임 28">
            <a:extLst>
              <a:ext uri="{FF2B5EF4-FFF2-40B4-BE49-F238E27FC236}">
                <a16:creationId xmlns:a16="http://schemas.microsoft.com/office/drawing/2014/main" id="{DBEDF507-2222-4678-99D9-907CB65404F7}"/>
              </a:ext>
            </a:extLst>
          </p:cNvPr>
          <p:cNvCxnSpPr>
            <a:stCxn id="17" idx="3"/>
            <a:endCxn id="22" idx="1"/>
          </p:cNvCxnSpPr>
          <p:nvPr/>
        </p:nvCxnSpPr>
        <p:spPr>
          <a:xfrm>
            <a:off x="8333640" y="2608545"/>
            <a:ext cx="1873874" cy="172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ADDD8A7B-FDCC-4700-82E4-BCFD2B01459C}"/>
              </a:ext>
            </a:extLst>
          </p:cNvPr>
          <p:cNvCxnSpPr>
            <a:cxnSpLocks/>
            <a:stCxn id="13" idx="0"/>
          </p:cNvCxnSpPr>
          <p:nvPr/>
        </p:nvCxnSpPr>
        <p:spPr>
          <a:xfrm flipV="1">
            <a:off x="2428343" y="1329935"/>
            <a:ext cx="0" cy="308147"/>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5" name="직선 화살표 연결선 34">
            <a:extLst>
              <a:ext uri="{FF2B5EF4-FFF2-40B4-BE49-F238E27FC236}">
                <a16:creationId xmlns:a16="http://schemas.microsoft.com/office/drawing/2014/main" id="{34BD0F32-B6FC-451B-8DF4-316EFD20E54E}"/>
              </a:ext>
            </a:extLst>
          </p:cNvPr>
          <p:cNvCxnSpPr>
            <a:cxnSpLocks/>
            <a:stCxn id="16" idx="0"/>
            <a:endCxn id="11" idx="2"/>
          </p:cNvCxnSpPr>
          <p:nvPr/>
        </p:nvCxnSpPr>
        <p:spPr>
          <a:xfrm flipH="1" flipV="1">
            <a:off x="4926505" y="1602163"/>
            <a:ext cx="4816" cy="424796"/>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8" name="직선 화살표 연결선 37">
            <a:extLst>
              <a:ext uri="{FF2B5EF4-FFF2-40B4-BE49-F238E27FC236}">
                <a16:creationId xmlns:a16="http://schemas.microsoft.com/office/drawing/2014/main" id="{DF521989-EFFE-4A1E-B117-208D1C6C724C}"/>
              </a:ext>
            </a:extLst>
          </p:cNvPr>
          <p:cNvCxnSpPr>
            <a:cxnSpLocks/>
            <a:stCxn id="17" idx="0"/>
          </p:cNvCxnSpPr>
          <p:nvPr/>
        </p:nvCxnSpPr>
        <p:spPr>
          <a:xfrm flipV="1">
            <a:off x="7704536" y="1329935"/>
            <a:ext cx="0" cy="108417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7" name="사각형: 둥근 모서리 46">
            <a:extLst>
              <a:ext uri="{FF2B5EF4-FFF2-40B4-BE49-F238E27FC236}">
                <a16:creationId xmlns:a16="http://schemas.microsoft.com/office/drawing/2014/main" id="{E6B1C9D8-D1C1-4235-BD2C-D3F48DF70EC5}"/>
              </a:ext>
            </a:extLst>
          </p:cNvPr>
          <p:cNvSpPr/>
          <p:nvPr/>
        </p:nvSpPr>
        <p:spPr>
          <a:xfrm>
            <a:off x="173929" y="1441100"/>
            <a:ext cx="1223001" cy="1223001"/>
          </a:xfrm>
          <a:prstGeom prst="roundRect">
            <a:avLst/>
          </a:prstGeom>
          <a:solidFill>
            <a:schemeClr val="tx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제</a:t>
            </a:r>
            <a:r>
              <a:rPr lang="en-US" altLang="ko-KR" dirty="0"/>
              <a:t>51</a:t>
            </a:r>
            <a:r>
              <a:rPr lang="ko-KR" altLang="en-US" dirty="0"/>
              <a:t>조</a:t>
            </a:r>
            <a:endParaRPr lang="en-US" altLang="ko-KR" dirty="0"/>
          </a:p>
          <a:p>
            <a:pPr algn="ctr"/>
            <a:r>
              <a:rPr lang="ko-KR" altLang="en-US" dirty="0"/>
              <a:t>제</a:t>
            </a:r>
            <a:r>
              <a:rPr lang="en-US" altLang="ko-KR" dirty="0"/>
              <a:t>1</a:t>
            </a:r>
            <a:r>
              <a:rPr lang="ko-KR" altLang="en-US" dirty="0"/>
              <a:t>항</a:t>
            </a:r>
            <a:endParaRPr lang="en-US" altLang="ko-KR" dirty="0"/>
          </a:p>
          <a:p>
            <a:pPr algn="ctr"/>
            <a:r>
              <a:rPr lang="ko-KR" altLang="en-US" dirty="0"/>
              <a:t>제</a:t>
            </a:r>
            <a:r>
              <a:rPr lang="en-US" altLang="ko-KR" dirty="0"/>
              <a:t>3</a:t>
            </a:r>
            <a:r>
              <a:rPr lang="ko-KR" altLang="en-US" dirty="0"/>
              <a:t>호</a:t>
            </a:r>
          </a:p>
        </p:txBody>
      </p:sp>
      <p:cxnSp>
        <p:nvCxnSpPr>
          <p:cNvPr id="48" name="직선 연결선 47">
            <a:extLst>
              <a:ext uri="{FF2B5EF4-FFF2-40B4-BE49-F238E27FC236}">
                <a16:creationId xmlns:a16="http://schemas.microsoft.com/office/drawing/2014/main" id="{745638EC-55D1-41FA-B0B0-0C8F705B3899}"/>
              </a:ext>
            </a:extLst>
          </p:cNvPr>
          <p:cNvCxnSpPr/>
          <p:nvPr/>
        </p:nvCxnSpPr>
        <p:spPr>
          <a:xfrm>
            <a:off x="0" y="3609782"/>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직선 화살표 연결선 48">
            <a:extLst>
              <a:ext uri="{FF2B5EF4-FFF2-40B4-BE49-F238E27FC236}">
                <a16:creationId xmlns:a16="http://schemas.microsoft.com/office/drawing/2014/main" id="{6DC2680A-DA20-46A3-98A4-7C6D14A33DE0}"/>
              </a:ext>
            </a:extLst>
          </p:cNvPr>
          <p:cNvCxnSpPr>
            <a:cxnSpLocks/>
          </p:cNvCxnSpPr>
          <p:nvPr/>
        </p:nvCxnSpPr>
        <p:spPr>
          <a:xfrm>
            <a:off x="1799239" y="4414853"/>
            <a:ext cx="9953296"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1" name="직사각형 50">
            <a:extLst>
              <a:ext uri="{FF2B5EF4-FFF2-40B4-BE49-F238E27FC236}">
                <a16:creationId xmlns:a16="http://schemas.microsoft.com/office/drawing/2014/main" id="{1FE22BE7-5B4E-47D2-898C-C9CBDB78F8DD}"/>
              </a:ext>
            </a:extLst>
          </p:cNvPr>
          <p:cNvSpPr/>
          <p:nvPr/>
        </p:nvSpPr>
        <p:spPr>
          <a:xfrm>
            <a:off x="5677556" y="4172714"/>
            <a:ext cx="1135118" cy="475388"/>
          </a:xfrm>
          <a:prstGeom prst="rect">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심판청구</a:t>
            </a:r>
            <a:endParaRPr lang="en-US" altLang="ko-KR" sz="1200" dirty="0">
              <a:solidFill>
                <a:schemeClr val="tx1"/>
              </a:solidFill>
            </a:endParaRPr>
          </a:p>
        </p:txBody>
      </p:sp>
      <p:sp>
        <p:nvSpPr>
          <p:cNvPr id="52" name="직사각형 51">
            <a:extLst>
              <a:ext uri="{FF2B5EF4-FFF2-40B4-BE49-F238E27FC236}">
                <a16:creationId xmlns:a16="http://schemas.microsoft.com/office/drawing/2014/main" id="{14E3B0FB-3474-46F4-8ED3-F31BC70CCB3C}"/>
              </a:ext>
            </a:extLst>
          </p:cNvPr>
          <p:cNvSpPr/>
          <p:nvPr/>
        </p:nvSpPr>
        <p:spPr>
          <a:xfrm>
            <a:off x="1799239" y="4705041"/>
            <a:ext cx="1258208" cy="388877"/>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2</a:t>
            </a:r>
            <a:r>
              <a:rPr lang="ko-KR" altLang="en-US" sz="1050" dirty="0">
                <a:solidFill>
                  <a:schemeClr val="tx1"/>
                </a:solidFill>
              </a:rPr>
              <a:t>호부적법 보정</a:t>
            </a:r>
          </a:p>
        </p:txBody>
      </p:sp>
      <p:sp>
        <p:nvSpPr>
          <p:cNvPr id="53" name="직사각형 52">
            <a:extLst>
              <a:ext uri="{FF2B5EF4-FFF2-40B4-BE49-F238E27FC236}">
                <a16:creationId xmlns:a16="http://schemas.microsoft.com/office/drawing/2014/main" id="{C59903E6-38E4-4EEC-8575-CE687DD34A60}"/>
              </a:ext>
            </a:extLst>
          </p:cNvPr>
          <p:cNvSpPr/>
          <p:nvPr/>
        </p:nvSpPr>
        <p:spPr>
          <a:xfrm>
            <a:off x="3204325" y="5093918"/>
            <a:ext cx="1258208" cy="388877"/>
          </a:xfrm>
          <a:prstGeom prst="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3</a:t>
            </a:r>
            <a:r>
              <a:rPr lang="ko-KR" altLang="en-US" sz="1050" dirty="0">
                <a:solidFill>
                  <a:schemeClr val="tx1"/>
                </a:solidFill>
              </a:rPr>
              <a:t>호부적법 보정</a:t>
            </a:r>
          </a:p>
        </p:txBody>
      </p:sp>
      <p:sp>
        <p:nvSpPr>
          <p:cNvPr id="54" name="직사각형 53">
            <a:extLst>
              <a:ext uri="{FF2B5EF4-FFF2-40B4-BE49-F238E27FC236}">
                <a16:creationId xmlns:a16="http://schemas.microsoft.com/office/drawing/2014/main" id="{2072C6C8-1505-483E-97F0-FA1A46E1DBDA}"/>
              </a:ext>
            </a:extLst>
          </p:cNvPr>
          <p:cNvSpPr/>
          <p:nvPr/>
        </p:nvSpPr>
        <p:spPr>
          <a:xfrm>
            <a:off x="7075432" y="5481065"/>
            <a:ext cx="1258208" cy="388877"/>
          </a:xfrm>
          <a:prstGeom prst="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47</a:t>
            </a:r>
            <a:r>
              <a:rPr lang="ko-KR" altLang="en-US" sz="1050" dirty="0">
                <a:solidFill>
                  <a:schemeClr val="tx1"/>
                </a:solidFill>
              </a:rPr>
              <a:t>조제</a:t>
            </a:r>
            <a:r>
              <a:rPr lang="en-US" altLang="ko-KR" sz="1050" dirty="0">
                <a:solidFill>
                  <a:schemeClr val="tx1"/>
                </a:solidFill>
              </a:rPr>
              <a:t>1</a:t>
            </a:r>
            <a:r>
              <a:rPr lang="ko-KR" altLang="en-US" sz="1050" dirty="0" err="1">
                <a:solidFill>
                  <a:schemeClr val="tx1"/>
                </a:solidFill>
              </a:rPr>
              <a:t>항제</a:t>
            </a:r>
            <a:r>
              <a:rPr lang="en-US" altLang="ko-KR" sz="1050" dirty="0">
                <a:solidFill>
                  <a:schemeClr val="tx1"/>
                </a:solidFill>
              </a:rPr>
              <a:t>2</a:t>
            </a:r>
            <a:r>
              <a:rPr lang="ko-KR" altLang="en-US" sz="1050" dirty="0">
                <a:solidFill>
                  <a:schemeClr val="tx1"/>
                </a:solidFill>
              </a:rPr>
              <a:t>호부적법 보정</a:t>
            </a:r>
          </a:p>
        </p:txBody>
      </p:sp>
      <p:sp>
        <p:nvSpPr>
          <p:cNvPr id="56" name="직사각형 55">
            <a:extLst>
              <a:ext uri="{FF2B5EF4-FFF2-40B4-BE49-F238E27FC236}">
                <a16:creationId xmlns:a16="http://schemas.microsoft.com/office/drawing/2014/main" id="{B3BA05F9-9F94-4A9D-B647-9D2ACB36FDEB}"/>
              </a:ext>
            </a:extLst>
          </p:cNvPr>
          <p:cNvSpPr/>
          <p:nvPr/>
        </p:nvSpPr>
        <p:spPr>
          <a:xfrm>
            <a:off x="10207514" y="4705041"/>
            <a:ext cx="1258208" cy="388877"/>
          </a:xfrm>
          <a:prstGeom prst="rect">
            <a:avLst/>
          </a:prstGeom>
          <a:solidFill>
            <a:schemeClr val="accent3">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보정인정</a:t>
            </a:r>
          </a:p>
        </p:txBody>
      </p:sp>
      <p:sp>
        <p:nvSpPr>
          <p:cNvPr id="57" name="타원 56">
            <a:extLst>
              <a:ext uri="{FF2B5EF4-FFF2-40B4-BE49-F238E27FC236}">
                <a16:creationId xmlns:a16="http://schemas.microsoft.com/office/drawing/2014/main" id="{90B4DAD7-BECE-49C0-9B76-DB88746F2425}"/>
              </a:ext>
            </a:extLst>
          </p:cNvPr>
          <p:cNvSpPr/>
          <p:nvPr/>
        </p:nvSpPr>
        <p:spPr>
          <a:xfrm>
            <a:off x="10543845" y="4117734"/>
            <a:ext cx="567559" cy="567559"/>
          </a:xfrm>
          <a:prstGeom prst="ellipse">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600" dirty="0"/>
              <a:t>발견</a:t>
            </a:r>
          </a:p>
        </p:txBody>
      </p:sp>
      <p:sp>
        <p:nvSpPr>
          <p:cNvPr id="58" name="직사각형 57">
            <a:extLst>
              <a:ext uri="{FF2B5EF4-FFF2-40B4-BE49-F238E27FC236}">
                <a16:creationId xmlns:a16="http://schemas.microsoft.com/office/drawing/2014/main" id="{377DBDC9-A57A-4ADB-A16A-53669227EABF}"/>
              </a:ext>
            </a:extLst>
          </p:cNvPr>
          <p:cNvSpPr/>
          <p:nvPr/>
        </p:nvSpPr>
        <p:spPr>
          <a:xfrm>
            <a:off x="10207514" y="5093917"/>
            <a:ext cx="1258208" cy="388877"/>
          </a:xfrm>
          <a:prstGeom prst="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보정인정</a:t>
            </a:r>
          </a:p>
        </p:txBody>
      </p:sp>
      <p:sp>
        <p:nvSpPr>
          <p:cNvPr id="59" name="직사각형 58">
            <a:extLst>
              <a:ext uri="{FF2B5EF4-FFF2-40B4-BE49-F238E27FC236}">
                <a16:creationId xmlns:a16="http://schemas.microsoft.com/office/drawing/2014/main" id="{C9FC857D-261D-4A8A-BF91-48C0E07B7EAD}"/>
              </a:ext>
            </a:extLst>
          </p:cNvPr>
          <p:cNvSpPr/>
          <p:nvPr/>
        </p:nvSpPr>
        <p:spPr>
          <a:xfrm>
            <a:off x="10207514" y="5482794"/>
            <a:ext cx="1258208" cy="388877"/>
          </a:xfrm>
          <a:prstGeom prst="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err="1">
                <a:solidFill>
                  <a:schemeClr val="tx1"/>
                </a:solidFill>
              </a:rPr>
              <a:t>보정각하</a:t>
            </a:r>
            <a:endParaRPr lang="ko-KR" altLang="en-US" sz="1050" dirty="0">
              <a:solidFill>
                <a:schemeClr val="tx1"/>
              </a:solidFill>
            </a:endParaRPr>
          </a:p>
        </p:txBody>
      </p:sp>
      <p:cxnSp>
        <p:nvCxnSpPr>
          <p:cNvPr id="61" name="직선 화살표 연결선 60">
            <a:extLst>
              <a:ext uri="{FF2B5EF4-FFF2-40B4-BE49-F238E27FC236}">
                <a16:creationId xmlns:a16="http://schemas.microsoft.com/office/drawing/2014/main" id="{D2C63300-36A4-4C76-85DA-CFBAF8F3F222}"/>
              </a:ext>
            </a:extLst>
          </p:cNvPr>
          <p:cNvCxnSpPr>
            <a:stCxn id="52" idx="3"/>
            <a:endCxn id="56" idx="1"/>
          </p:cNvCxnSpPr>
          <p:nvPr/>
        </p:nvCxnSpPr>
        <p:spPr>
          <a:xfrm>
            <a:off x="3057447" y="4899480"/>
            <a:ext cx="7150067" cy="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2" name="직선 화살표 연결선 61">
            <a:extLst>
              <a:ext uri="{FF2B5EF4-FFF2-40B4-BE49-F238E27FC236}">
                <a16:creationId xmlns:a16="http://schemas.microsoft.com/office/drawing/2014/main" id="{6145C1D4-1331-4879-AD9B-7B3EB84A94DC}"/>
              </a:ext>
            </a:extLst>
          </p:cNvPr>
          <p:cNvCxnSpPr>
            <a:stCxn id="53" idx="3"/>
            <a:endCxn id="58" idx="1"/>
          </p:cNvCxnSpPr>
          <p:nvPr/>
        </p:nvCxnSpPr>
        <p:spPr>
          <a:xfrm flipV="1">
            <a:off x="4462533" y="5288356"/>
            <a:ext cx="5744981" cy="1"/>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3" name="연결선: 꺾임 62">
            <a:extLst>
              <a:ext uri="{FF2B5EF4-FFF2-40B4-BE49-F238E27FC236}">
                <a16:creationId xmlns:a16="http://schemas.microsoft.com/office/drawing/2014/main" id="{03E7E9C0-AF39-4B9C-A615-E77FAE2C1957}"/>
              </a:ext>
            </a:extLst>
          </p:cNvPr>
          <p:cNvCxnSpPr>
            <a:stCxn id="54" idx="3"/>
            <a:endCxn id="59" idx="1"/>
          </p:cNvCxnSpPr>
          <p:nvPr/>
        </p:nvCxnSpPr>
        <p:spPr>
          <a:xfrm>
            <a:off x="8333640" y="5675504"/>
            <a:ext cx="1873874" cy="1729"/>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직선 화살표 연결선 64">
            <a:extLst>
              <a:ext uri="{FF2B5EF4-FFF2-40B4-BE49-F238E27FC236}">
                <a16:creationId xmlns:a16="http://schemas.microsoft.com/office/drawing/2014/main" id="{F8B29AE3-16B8-4C7B-AC98-CEC249D727DE}"/>
              </a:ext>
            </a:extLst>
          </p:cNvPr>
          <p:cNvCxnSpPr>
            <a:cxnSpLocks/>
            <a:stCxn id="52" idx="0"/>
          </p:cNvCxnSpPr>
          <p:nvPr/>
        </p:nvCxnSpPr>
        <p:spPr>
          <a:xfrm flipV="1">
            <a:off x="2428343" y="4396894"/>
            <a:ext cx="0" cy="308147"/>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12C8C896-E665-4081-8DE1-60641280AB03}"/>
              </a:ext>
            </a:extLst>
          </p:cNvPr>
          <p:cNvCxnSpPr>
            <a:cxnSpLocks/>
            <a:stCxn id="53" idx="0"/>
          </p:cNvCxnSpPr>
          <p:nvPr/>
        </p:nvCxnSpPr>
        <p:spPr>
          <a:xfrm flipV="1">
            <a:off x="3833429" y="4432813"/>
            <a:ext cx="0" cy="661105"/>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7" name="직선 화살표 연결선 66">
            <a:extLst>
              <a:ext uri="{FF2B5EF4-FFF2-40B4-BE49-F238E27FC236}">
                <a16:creationId xmlns:a16="http://schemas.microsoft.com/office/drawing/2014/main" id="{AC761B94-4E57-4151-97E8-4BEDFF6EEC6E}"/>
              </a:ext>
            </a:extLst>
          </p:cNvPr>
          <p:cNvCxnSpPr>
            <a:cxnSpLocks/>
            <a:stCxn id="54" idx="0"/>
          </p:cNvCxnSpPr>
          <p:nvPr/>
        </p:nvCxnSpPr>
        <p:spPr>
          <a:xfrm flipV="1">
            <a:off x="7704536" y="4396894"/>
            <a:ext cx="0" cy="1084171"/>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9" name="사각형: 둥근 모서리 68">
            <a:extLst>
              <a:ext uri="{FF2B5EF4-FFF2-40B4-BE49-F238E27FC236}">
                <a16:creationId xmlns:a16="http://schemas.microsoft.com/office/drawing/2014/main" id="{ED39616A-D03B-4EB9-AD4B-F3503714A4AF}"/>
              </a:ext>
            </a:extLst>
          </p:cNvPr>
          <p:cNvSpPr/>
          <p:nvPr/>
        </p:nvSpPr>
        <p:spPr>
          <a:xfrm>
            <a:off x="173929" y="4508059"/>
            <a:ext cx="1223001" cy="1223001"/>
          </a:xfrm>
          <a:prstGeom prst="roundRect">
            <a:avLst/>
          </a:prstGeom>
          <a:solidFill>
            <a:schemeClr val="tx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제</a:t>
            </a:r>
            <a:r>
              <a:rPr lang="en-US" altLang="ko-KR" dirty="0"/>
              <a:t>170</a:t>
            </a:r>
            <a:r>
              <a:rPr lang="ko-KR" altLang="en-US" dirty="0"/>
              <a:t>조</a:t>
            </a:r>
            <a:endParaRPr lang="en-US" altLang="ko-KR" dirty="0"/>
          </a:p>
          <a:p>
            <a:pPr algn="ctr"/>
            <a:r>
              <a:rPr lang="ko-KR" altLang="en-US" dirty="0"/>
              <a:t>제</a:t>
            </a:r>
            <a:r>
              <a:rPr lang="en-US" altLang="ko-KR" dirty="0"/>
              <a:t>1</a:t>
            </a:r>
            <a:r>
              <a:rPr lang="ko-KR" altLang="en-US" dirty="0"/>
              <a:t>항</a:t>
            </a:r>
          </a:p>
        </p:txBody>
      </p:sp>
      <p:sp>
        <p:nvSpPr>
          <p:cNvPr id="9" name="TextBox 8">
            <a:extLst>
              <a:ext uri="{FF2B5EF4-FFF2-40B4-BE49-F238E27FC236}">
                <a16:creationId xmlns:a16="http://schemas.microsoft.com/office/drawing/2014/main" id="{09717B5C-F759-9924-14C0-6BA8F40D8D85}"/>
              </a:ext>
            </a:extLst>
          </p:cNvPr>
          <p:cNvSpPr txBox="1"/>
          <p:nvPr/>
        </p:nvSpPr>
        <p:spPr>
          <a:xfrm>
            <a:off x="11204430" y="2423328"/>
            <a:ext cx="926856" cy="430887"/>
          </a:xfrm>
          <a:prstGeom prst="rect">
            <a:avLst/>
          </a:prstGeom>
          <a:noFill/>
        </p:spPr>
        <p:txBody>
          <a:bodyPr wrap="none" rtlCol="0">
            <a:spAutoFit/>
          </a:bodyPr>
          <a:lstStyle/>
          <a:p>
            <a:pPr algn="ctr"/>
            <a:r>
              <a:rPr lang="ko-KR" altLang="en-US" sz="1050" dirty="0">
                <a:solidFill>
                  <a:schemeClr val="accent5"/>
                </a:solidFill>
              </a:rPr>
              <a:t>제</a:t>
            </a:r>
            <a:r>
              <a:rPr lang="en-US" altLang="ko-KR" sz="1050" dirty="0">
                <a:solidFill>
                  <a:schemeClr val="accent5"/>
                </a:solidFill>
              </a:rPr>
              <a:t>51</a:t>
            </a:r>
            <a:r>
              <a:rPr lang="ko-KR" altLang="en-US" sz="1050" dirty="0">
                <a:solidFill>
                  <a:schemeClr val="accent5"/>
                </a:solidFill>
              </a:rPr>
              <a:t>조제</a:t>
            </a:r>
            <a:r>
              <a:rPr lang="en-US" altLang="ko-KR" sz="1050" dirty="0">
                <a:solidFill>
                  <a:schemeClr val="accent5"/>
                </a:solidFill>
              </a:rPr>
              <a:t>1</a:t>
            </a:r>
            <a:r>
              <a:rPr lang="ko-KR" altLang="en-US" sz="1050" dirty="0">
                <a:solidFill>
                  <a:schemeClr val="accent5"/>
                </a:solidFill>
              </a:rPr>
              <a:t>항</a:t>
            </a:r>
            <a:endParaRPr lang="en-US" altLang="ko-KR" sz="1050" dirty="0">
              <a:solidFill>
                <a:schemeClr val="accent5"/>
              </a:solidFill>
            </a:endParaRPr>
          </a:p>
          <a:p>
            <a:pPr algn="ctr"/>
            <a:r>
              <a:rPr lang="ko-KR" altLang="en-US" sz="1050" dirty="0">
                <a:solidFill>
                  <a:schemeClr val="accent5"/>
                </a:solidFill>
              </a:rPr>
              <a:t>본문</a:t>
            </a:r>
          </a:p>
        </p:txBody>
      </p:sp>
      <p:sp>
        <p:nvSpPr>
          <p:cNvPr id="10" name="TextBox 9">
            <a:extLst>
              <a:ext uri="{FF2B5EF4-FFF2-40B4-BE49-F238E27FC236}">
                <a16:creationId xmlns:a16="http://schemas.microsoft.com/office/drawing/2014/main" id="{2081745C-4287-FFE9-A703-0D7DE964F656}"/>
              </a:ext>
            </a:extLst>
          </p:cNvPr>
          <p:cNvSpPr txBox="1"/>
          <p:nvPr/>
        </p:nvSpPr>
        <p:spPr>
          <a:xfrm>
            <a:off x="11204430" y="2019121"/>
            <a:ext cx="926856" cy="430887"/>
          </a:xfrm>
          <a:prstGeom prst="rect">
            <a:avLst/>
          </a:prstGeom>
          <a:noFill/>
        </p:spPr>
        <p:txBody>
          <a:bodyPr wrap="none" rtlCol="0">
            <a:spAutoFit/>
          </a:bodyPr>
          <a:lstStyle/>
          <a:p>
            <a:pPr algn="ctr"/>
            <a:r>
              <a:rPr lang="ko-KR" altLang="en-US" sz="1050" dirty="0">
                <a:solidFill>
                  <a:schemeClr val="accent5"/>
                </a:solidFill>
              </a:rPr>
              <a:t>제</a:t>
            </a:r>
            <a:r>
              <a:rPr lang="en-US" altLang="ko-KR" sz="1050" dirty="0">
                <a:solidFill>
                  <a:schemeClr val="accent5"/>
                </a:solidFill>
              </a:rPr>
              <a:t>51</a:t>
            </a:r>
            <a:r>
              <a:rPr lang="ko-KR" altLang="en-US" sz="1050" dirty="0">
                <a:solidFill>
                  <a:schemeClr val="accent5"/>
                </a:solidFill>
              </a:rPr>
              <a:t>조제</a:t>
            </a:r>
            <a:r>
              <a:rPr lang="en-US" altLang="ko-KR" sz="1050" dirty="0">
                <a:solidFill>
                  <a:schemeClr val="accent5"/>
                </a:solidFill>
              </a:rPr>
              <a:t>1</a:t>
            </a:r>
            <a:r>
              <a:rPr lang="ko-KR" altLang="en-US" sz="1050" dirty="0">
                <a:solidFill>
                  <a:schemeClr val="accent5"/>
                </a:solidFill>
              </a:rPr>
              <a:t>항</a:t>
            </a:r>
            <a:endParaRPr lang="en-US" altLang="ko-KR" sz="1050" dirty="0">
              <a:solidFill>
                <a:schemeClr val="accent5"/>
              </a:solidFill>
            </a:endParaRPr>
          </a:p>
          <a:p>
            <a:pPr algn="ctr"/>
            <a:r>
              <a:rPr lang="ko-KR" altLang="en-US" sz="1050" dirty="0">
                <a:solidFill>
                  <a:schemeClr val="accent5"/>
                </a:solidFill>
              </a:rPr>
              <a:t>본문</a:t>
            </a:r>
          </a:p>
        </p:txBody>
      </p:sp>
      <p:sp>
        <p:nvSpPr>
          <p:cNvPr id="12" name="TextBox 11">
            <a:extLst>
              <a:ext uri="{FF2B5EF4-FFF2-40B4-BE49-F238E27FC236}">
                <a16:creationId xmlns:a16="http://schemas.microsoft.com/office/drawing/2014/main" id="{738FA039-4AEF-F781-BA80-603C22C34AC3}"/>
              </a:ext>
            </a:extLst>
          </p:cNvPr>
          <p:cNvSpPr txBox="1"/>
          <p:nvPr/>
        </p:nvSpPr>
        <p:spPr>
          <a:xfrm>
            <a:off x="11204430" y="1609240"/>
            <a:ext cx="926856" cy="430887"/>
          </a:xfrm>
          <a:prstGeom prst="rect">
            <a:avLst/>
          </a:prstGeom>
          <a:noFill/>
        </p:spPr>
        <p:txBody>
          <a:bodyPr wrap="none" rtlCol="0">
            <a:spAutoFit/>
          </a:bodyPr>
          <a:lstStyle/>
          <a:p>
            <a:pPr algn="ctr"/>
            <a:r>
              <a:rPr lang="ko-KR" altLang="en-US" sz="1050" dirty="0">
                <a:solidFill>
                  <a:srgbClr val="FF0000"/>
                </a:solidFill>
              </a:rPr>
              <a:t>제</a:t>
            </a:r>
            <a:r>
              <a:rPr lang="en-US" altLang="ko-KR" sz="1050" dirty="0">
                <a:solidFill>
                  <a:srgbClr val="FF0000"/>
                </a:solidFill>
              </a:rPr>
              <a:t>51</a:t>
            </a:r>
            <a:r>
              <a:rPr lang="ko-KR" altLang="en-US" sz="1050" dirty="0">
                <a:solidFill>
                  <a:srgbClr val="FF0000"/>
                </a:solidFill>
              </a:rPr>
              <a:t>조제</a:t>
            </a:r>
            <a:r>
              <a:rPr lang="en-US" altLang="ko-KR" sz="1050" dirty="0">
                <a:solidFill>
                  <a:srgbClr val="FF0000"/>
                </a:solidFill>
              </a:rPr>
              <a:t>1</a:t>
            </a:r>
            <a:r>
              <a:rPr lang="ko-KR" altLang="en-US" sz="1050" dirty="0">
                <a:solidFill>
                  <a:srgbClr val="FF0000"/>
                </a:solidFill>
              </a:rPr>
              <a:t>항</a:t>
            </a:r>
            <a:endParaRPr lang="en-US" altLang="ko-KR" sz="1050" dirty="0">
              <a:solidFill>
                <a:srgbClr val="FF0000"/>
              </a:solidFill>
            </a:endParaRPr>
          </a:p>
          <a:p>
            <a:pPr algn="ctr"/>
            <a:r>
              <a:rPr lang="ko-KR" altLang="en-US" sz="1050" dirty="0">
                <a:solidFill>
                  <a:srgbClr val="FF0000"/>
                </a:solidFill>
              </a:rPr>
              <a:t>제</a:t>
            </a:r>
            <a:r>
              <a:rPr lang="en-US" altLang="ko-KR" sz="1050" dirty="0">
                <a:solidFill>
                  <a:srgbClr val="FF0000"/>
                </a:solidFill>
              </a:rPr>
              <a:t>3</a:t>
            </a:r>
            <a:r>
              <a:rPr lang="ko-KR" altLang="en-US" sz="1050" dirty="0">
                <a:solidFill>
                  <a:srgbClr val="FF0000"/>
                </a:solidFill>
              </a:rPr>
              <a:t>호</a:t>
            </a:r>
          </a:p>
        </p:txBody>
      </p:sp>
      <p:sp>
        <p:nvSpPr>
          <p:cNvPr id="14" name="TextBox 13">
            <a:extLst>
              <a:ext uri="{FF2B5EF4-FFF2-40B4-BE49-F238E27FC236}">
                <a16:creationId xmlns:a16="http://schemas.microsoft.com/office/drawing/2014/main" id="{56E21725-8A45-B650-FBB0-C7C86960264B}"/>
              </a:ext>
            </a:extLst>
          </p:cNvPr>
          <p:cNvSpPr txBox="1"/>
          <p:nvPr/>
        </p:nvSpPr>
        <p:spPr>
          <a:xfrm>
            <a:off x="11340685" y="5477487"/>
            <a:ext cx="654345" cy="415498"/>
          </a:xfrm>
          <a:prstGeom prst="rect">
            <a:avLst/>
          </a:prstGeom>
          <a:noFill/>
        </p:spPr>
        <p:txBody>
          <a:bodyPr wrap="none" rtlCol="0">
            <a:spAutoFit/>
          </a:bodyPr>
          <a:lstStyle/>
          <a:p>
            <a:pPr algn="ctr"/>
            <a:r>
              <a:rPr lang="ko-KR" altLang="en-US" sz="1050" dirty="0">
                <a:solidFill>
                  <a:srgbClr val="FF0000"/>
                </a:solidFill>
              </a:rPr>
              <a:t>제</a:t>
            </a:r>
            <a:r>
              <a:rPr lang="en-US" altLang="ko-KR" sz="1050" dirty="0">
                <a:solidFill>
                  <a:srgbClr val="FF0000"/>
                </a:solidFill>
              </a:rPr>
              <a:t>170</a:t>
            </a:r>
            <a:r>
              <a:rPr lang="ko-KR" altLang="en-US" sz="1050" dirty="0">
                <a:solidFill>
                  <a:srgbClr val="FF0000"/>
                </a:solidFill>
              </a:rPr>
              <a:t>조</a:t>
            </a:r>
            <a:endParaRPr lang="en-US" altLang="ko-KR" sz="1050" dirty="0">
              <a:solidFill>
                <a:srgbClr val="FF0000"/>
              </a:solidFill>
            </a:endParaRPr>
          </a:p>
          <a:p>
            <a:pPr algn="ctr"/>
            <a:r>
              <a:rPr lang="ko-KR" altLang="en-US" sz="1050" dirty="0">
                <a:solidFill>
                  <a:srgbClr val="FF0000"/>
                </a:solidFill>
              </a:rPr>
              <a:t>제</a:t>
            </a:r>
            <a:r>
              <a:rPr lang="en-US" altLang="ko-KR" sz="1050" dirty="0">
                <a:solidFill>
                  <a:srgbClr val="FF0000"/>
                </a:solidFill>
              </a:rPr>
              <a:t>1</a:t>
            </a:r>
            <a:r>
              <a:rPr lang="ko-KR" altLang="en-US" sz="1050" dirty="0">
                <a:solidFill>
                  <a:srgbClr val="FF0000"/>
                </a:solidFill>
              </a:rPr>
              <a:t>항</a:t>
            </a:r>
          </a:p>
        </p:txBody>
      </p:sp>
    </p:spTree>
    <p:extLst>
      <p:ext uri="{BB962C8B-B14F-4D97-AF65-F5344CB8AC3E}">
        <p14:creationId xmlns:p14="http://schemas.microsoft.com/office/powerpoint/2010/main" val="180140088"/>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5" name="직선 화살표 연결선 124"/>
          <p:cNvCxnSpPr/>
          <p:nvPr/>
        </p:nvCxnSpPr>
        <p:spPr>
          <a:xfrm>
            <a:off x="1147397" y="2982913"/>
            <a:ext cx="965835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t>보정각하의</a:t>
            </a:r>
            <a:r>
              <a:rPr lang="ko-KR" altLang="en-US" dirty="0"/>
              <a:t> 예외</a:t>
            </a:r>
            <a:r>
              <a:rPr lang="en-US" altLang="ko-KR" dirty="0"/>
              <a:t>(</a:t>
            </a:r>
            <a:r>
              <a:rPr lang="ko-KR" altLang="en-US" dirty="0"/>
              <a:t>제</a:t>
            </a:r>
            <a:r>
              <a:rPr lang="en-US" altLang="ko-KR" dirty="0"/>
              <a:t>51</a:t>
            </a:r>
            <a:r>
              <a:rPr lang="ko-KR" altLang="en-US" dirty="0"/>
              <a:t>조제</a:t>
            </a:r>
            <a:r>
              <a:rPr lang="en-US" altLang="ko-KR" dirty="0"/>
              <a:t>1</a:t>
            </a:r>
            <a:r>
              <a:rPr lang="ko-KR" altLang="en-US" dirty="0" err="1"/>
              <a:t>항제</a:t>
            </a:r>
            <a:r>
              <a:rPr lang="en-US" altLang="ko-KR" dirty="0"/>
              <a:t>3</a:t>
            </a:r>
            <a:r>
              <a:rPr lang="ko-KR" altLang="en-US" dirty="0"/>
              <a:t>호</a:t>
            </a:r>
            <a:r>
              <a:rPr lang="en-US" altLang="ko-KR" dirty="0"/>
              <a:t>)</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92" name="Rectangle 5"/>
          <p:cNvSpPr>
            <a:spLocks noChangeArrowheads="1"/>
          </p:cNvSpPr>
          <p:nvPr/>
        </p:nvSpPr>
        <p:spPr bwMode="auto">
          <a:xfrm>
            <a:off x="347687" y="1094336"/>
            <a:ext cx="6119523"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a:solidFill>
                  <a:schemeClr val="bg1"/>
                </a:solidFill>
                <a:latin typeface="+mj-ea"/>
                <a:ea typeface="+mj-ea"/>
              </a:rPr>
              <a:t>재심사의 청구 전에 한 </a:t>
            </a:r>
            <a:r>
              <a:rPr lang="ko-KR" altLang="en-US" sz="1600" dirty="0" err="1">
                <a:solidFill>
                  <a:schemeClr val="bg1"/>
                </a:solidFill>
                <a:latin typeface="+mj-ea"/>
                <a:ea typeface="+mj-ea"/>
              </a:rPr>
              <a:t>부적법한</a:t>
            </a:r>
            <a:r>
              <a:rPr lang="ko-KR" altLang="en-US" sz="1600" dirty="0">
                <a:solidFill>
                  <a:schemeClr val="bg1"/>
                </a:solidFill>
                <a:latin typeface="+mj-ea"/>
                <a:ea typeface="+mj-ea"/>
              </a:rPr>
              <a:t> 보정이 재심사 청구 발견된 경우</a:t>
            </a:r>
            <a:endParaRPr lang="ko-KR" altLang="en-US" sz="1600" b="0" dirty="0">
              <a:solidFill>
                <a:schemeClr val="bg1"/>
              </a:solidFill>
              <a:latin typeface="+mj-ea"/>
              <a:ea typeface="+mj-ea"/>
            </a:endParaRPr>
          </a:p>
        </p:txBody>
      </p:sp>
      <p:sp>
        <p:nvSpPr>
          <p:cNvPr id="91" name="직사각형 90"/>
          <p:cNvSpPr/>
          <p:nvPr/>
        </p:nvSpPr>
        <p:spPr>
          <a:xfrm>
            <a:off x="916465" y="2730500"/>
            <a:ext cx="767463" cy="504825"/>
          </a:xfrm>
          <a:prstGeom prst="rect">
            <a:avLst/>
          </a:prstGeom>
          <a:solidFill>
            <a:schemeClr val="tx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p>
        </p:txBody>
      </p:sp>
      <p:sp>
        <p:nvSpPr>
          <p:cNvPr id="93" name="직사각형 92"/>
          <p:cNvSpPr/>
          <p:nvPr/>
        </p:nvSpPr>
        <p:spPr>
          <a:xfrm>
            <a:off x="2259671" y="240227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1</a:t>
            </a:r>
            <a:endParaRPr lang="ko-KR" altLang="en-US" sz="1200" dirty="0">
              <a:solidFill>
                <a:schemeClr val="tx1"/>
              </a:solidFill>
            </a:endParaRPr>
          </a:p>
        </p:txBody>
      </p:sp>
      <p:cxnSp>
        <p:nvCxnSpPr>
          <p:cNvPr id="94" name="직선 화살표 연결선 93"/>
          <p:cNvCxnSpPr>
            <a:stCxn id="93" idx="2"/>
          </p:cNvCxnSpPr>
          <p:nvPr/>
        </p:nvCxnSpPr>
        <p:spPr>
          <a:xfrm>
            <a:off x="2582691" y="265469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5" name="직사각형 94"/>
          <p:cNvSpPr/>
          <p:nvPr/>
        </p:nvSpPr>
        <p:spPr>
          <a:xfrm>
            <a:off x="2728678" y="2853140"/>
            <a:ext cx="693430"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최초</a:t>
            </a:r>
          </a:p>
        </p:txBody>
      </p:sp>
      <p:sp>
        <p:nvSpPr>
          <p:cNvPr id="96" name="직사각형 95"/>
          <p:cNvSpPr/>
          <p:nvPr/>
        </p:nvSpPr>
        <p:spPr>
          <a:xfrm>
            <a:off x="3337882" y="3402012"/>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2</a:t>
            </a:r>
            <a:endParaRPr lang="ko-KR" altLang="en-US" sz="1200" dirty="0">
              <a:solidFill>
                <a:schemeClr val="tx1"/>
              </a:solidFill>
            </a:endParaRPr>
          </a:p>
        </p:txBody>
      </p:sp>
      <p:cxnSp>
        <p:nvCxnSpPr>
          <p:cNvPr id="97" name="직선 화살표 연결선 96"/>
          <p:cNvCxnSpPr>
            <a:stCxn id="96" idx="0"/>
          </p:cNvCxnSpPr>
          <p:nvPr/>
        </p:nvCxnSpPr>
        <p:spPr>
          <a:xfrm flipH="1" flipV="1">
            <a:off x="3709616" y="297934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8" name="직사각형 97"/>
          <p:cNvSpPr/>
          <p:nvPr/>
        </p:nvSpPr>
        <p:spPr>
          <a:xfrm>
            <a:off x="3823787" y="240227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2</a:t>
            </a:r>
            <a:endParaRPr lang="ko-KR" altLang="en-US" sz="1200" dirty="0">
              <a:solidFill>
                <a:schemeClr val="tx1"/>
              </a:solidFill>
            </a:endParaRPr>
          </a:p>
        </p:txBody>
      </p:sp>
      <p:cxnSp>
        <p:nvCxnSpPr>
          <p:cNvPr id="99" name="직선 화살표 연결선 98"/>
          <p:cNvCxnSpPr>
            <a:stCxn id="98" idx="2"/>
          </p:cNvCxnSpPr>
          <p:nvPr/>
        </p:nvCxnSpPr>
        <p:spPr>
          <a:xfrm>
            <a:off x="4146807" y="265469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0" name="직사각형 99"/>
          <p:cNvSpPr/>
          <p:nvPr/>
        </p:nvSpPr>
        <p:spPr>
          <a:xfrm>
            <a:off x="4308211" y="2853140"/>
            <a:ext cx="783810"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최후</a:t>
            </a:r>
          </a:p>
        </p:txBody>
      </p:sp>
      <p:sp>
        <p:nvSpPr>
          <p:cNvPr id="103" name="직사각형 102"/>
          <p:cNvSpPr/>
          <p:nvPr/>
        </p:nvSpPr>
        <p:spPr>
          <a:xfrm>
            <a:off x="5151438" y="3402012"/>
            <a:ext cx="746998" cy="2524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3</a:t>
            </a:r>
            <a:endParaRPr lang="ko-KR" altLang="en-US" sz="1200" dirty="0">
              <a:solidFill>
                <a:schemeClr val="tx1"/>
              </a:solidFill>
            </a:endParaRPr>
          </a:p>
        </p:txBody>
      </p:sp>
      <p:cxnSp>
        <p:nvCxnSpPr>
          <p:cNvPr id="106" name="직선 화살표 연결선 105"/>
          <p:cNvCxnSpPr>
            <a:stCxn id="103" idx="0"/>
          </p:cNvCxnSpPr>
          <p:nvPr/>
        </p:nvCxnSpPr>
        <p:spPr>
          <a:xfrm flipH="1" flipV="1">
            <a:off x="5523172" y="297934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8" name="직사각형 107"/>
          <p:cNvSpPr/>
          <p:nvPr/>
        </p:nvSpPr>
        <p:spPr>
          <a:xfrm>
            <a:off x="1713507" y="3402012"/>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1</a:t>
            </a:r>
            <a:endParaRPr lang="ko-KR" altLang="en-US" sz="1200" dirty="0">
              <a:solidFill>
                <a:schemeClr val="tx1"/>
              </a:solidFill>
            </a:endParaRPr>
          </a:p>
        </p:txBody>
      </p:sp>
      <p:cxnSp>
        <p:nvCxnSpPr>
          <p:cNvPr id="109" name="직선 화살표 연결선 108"/>
          <p:cNvCxnSpPr>
            <a:stCxn id="108" idx="0"/>
          </p:cNvCxnSpPr>
          <p:nvPr/>
        </p:nvCxnSpPr>
        <p:spPr>
          <a:xfrm flipH="1" flipV="1">
            <a:off x="2085241" y="297934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p:cNvSpPr/>
          <p:nvPr/>
        </p:nvSpPr>
        <p:spPr>
          <a:xfrm>
            <a:off x="1693041" y="4065728"/>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42③Ⅰ</a:t>
            </a:r>
            <a:endParaRPr lang="ko-KR" altLang="en-US" sz="1050" dirty="0">
              <a:solidFill>
                <a:schemeClr val="tx1"/>
              </a:solidFill>
            </a:endParaRPr>
          </a:p>
        </p:txBody>
      </p:sp>
      <p:sp>
        <p:nvSpPr>
          <p:cNvPr id="114" name="직사각형 113"/>
          <p:cNvSpPr/>
          <p:nvPr/>
        </p:nvSpPr>
        <p:spPr>
          <a:xfrm>
            <a:off x="3337882" y="4068499"/>
            <a:ext cx="746998" cy="2524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p>
        </p:txBody>
      </p:sp>
      <p:sp>
        <p:nvSpPr>
          <p:cNvPr id="115" name="직사각형 114"/>
          <p:cNvSpPr/>
          <p:nvPr/>
        </p:nvSpPr>
        <p:spPr>
          <a:xfrm>
            <a:off x="3317416" y="4494353"/>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29②</a:t>
            </a:r>
            <a:endParaRPr lang="ko-KR" altLang="en-US" sz="1050" dirty="0">
              <a:solidFill>
                <a:schemeClr val="tx1"/>
              </a:solidFill>
              <a:latin typeface="+mn-ea"/>
            </a:endParaRPr>
          </a:p>
        </p:txBody>
      </p:sp>
      <p:cxnSp>
        <p:nvCxnSpPr>
          <p:cNvPr id="116" name="꺾인 연결선 115"/>
          <p:cNvCxnSpPr>
            <a:stCxn id="113" idx="3"/>
            <a:endCxn id="95" idx="2"/>
          </p:cNvCxnSpPr>
          <p:nvPr/>
        </p:nvCxnSpPr>
        <p:spPr>
          <a:xfrm flipV="1">
            <a:off x="2460505" y="3105553"/>
            <a:ext cx="614888" cy="1086382"/>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꺾인 연결선 116"/>
          <p:cNvCxnSpPr>
            <a:stCxn id="115" idx="3"/>
            <a:endCxn id="100" idx="2"/>
          </p:cNvCxnSpPr>
          <p:nvPr/>
        </p:nvCxnSpPr>
        <p:spPr>
          <a:xfrm flipV="1">
            <a:off x="4084880" y="3105553"/>
            <a:ext cx="615236" cy="1515007"/>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8" name="직사각형 117"/>
          <p:cNvSpPr/>
          <p:nvPr/>
        </p:nvSpPr>
        <p:spPr>
          <a:xfrm>
            <a:off x="5163910" y="5443210"/>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36</a:t>
            </a:r>
            <a:endParaRPr lang="ko-KR" altLang="en-US" sz="1050" dirty="0">
              <a:solidFill>
                <a:schemeClr val="tx1"/>
              </a:solidFill>
              <a:latin typeface="+mn-ea"/>
            </a:endParaRPr>
          </a:p>
        </p:txBody>
      </p:sp>
      <p:sp>
        <p:nvSpPr>
          <p:cNvPr id="119" name="직사각형 118"/>
          <p:cNvSpPr/>
          <p:nvPr/>
        </p:nvSpPr>
        <p:spPr>
          <a:xfrm>
            <a:off x="1693041" y="4446450"/>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29①</a:t>
            </a:r>
            <a:endParaRPr lang="ko-KR" altLang="en-US" sz="1050" dirty="0">
              <a:solidFill>
                <a:schemeClr val="tx1"/>
              </a:solidFill>
              <a:latin typeface="+mn-ea"/>
            </a:endParaRPr>
          </a:p>
        </p:txBody>
      </p:sp>
      <p:sp>
        <p:nvSpPr>
          <p:cNvPr id="120" name="직사각형 119"/>
          <p:cNvSpPr/>
          <p:nvPr/>
        </p:nvSpPr>
        <p:spPr>
          <a:xfrm>
            <a:off x="3326422" y="4870327"/>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42⑧</a:t>
            </a:r>
            <a:endParaRPr lang="ko-KR" altLang="en-US" sz="1050" dirty="0">
              <a:solidFill>
                <a:schemeClr val="tx1"/>
              </a:solidFill>
              <a:latin typeface="+mn-ea"/>
            </a:endParaRPr>
          </a:p>
        </p:txBody>
      </p:sp>
      <p:sp>
        <p:nvSpPr>
          <p:cNvPr id="121" name="직사각형 120"/>
          <p:cNvSpPr/>
          <p:nvPr/>
        </p:nvSpPr>
        <p:spPr>
          <a:xfrm>
            <a:off x="4967810" y="5421699"/>
            <a:ext cx="392200"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❹</a:t>
            </a:r>
          </a:p>
        </p:txBody>
      </p:sp>
      <p:sp>
        <p:nvSpPr>
          <p:cNvPr id="122" name="직사각형 121"/>
          <p:cNvSpPr/>
          <p:nvPr/>
        </p:nvSpPr>
        <p:spPr>
          <a:xfrm>
            <a:off x="1478825" y="4389105"/>
            <a:ext cx="415969"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❶</a:t>
            </a:r>
          </a:p>
        </p:txBody>
      </p:sp>
      <p:sp>
        <p:nvSpPr>
          <p:cNvPr id="123" name="직사각형 122"/>
          <p:cNvSpPr/>
          <p:nvPr/>
        </p:nvSpPr>
        <p:spPr>
          <a:xfrm>
            <a:off x="3131353" y="4207453"/>
            <a:ext cx="364983"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❷</a:t>
            </a:r>
          </a:p>
        </p:txBody>
      </p:sp>
      <p:sp>
        <p:nvSpPr>
          <p:cNvPr id="124" name="직사각형 123"/>
          <p:cNvSpPr/>
          <p:nvPr/>
        </p:nvSpPr>
        <p:spPr>
          <a:xfrm>
            <a:off x="3131353" y="4395688"/>
            <a:ext cx="364983" cy="978729"/>
          </a:xfrm>
          <a:prstGeom prst="rect">
            <a:avLst/>
          </a:prstGeom>
        </p:spPr>
        <p:txBody>
          <a:bodyPr wrap="square">
            <a:spAutoFit/>
          </a:bodyPr>
          <a:lstStyle/>
          <a:p>
            <a:pPr algn="just" fontAlgn="base">
              <a:lnSpc>
                <a:spcPct val="160000"/>
              </a:lnSpc>
            </a:pPr>
            <a:endParaRPr lang="ko-KR" altLang="en-US" kern="0" dirty="0">
              <a:solidFill>
                <a:schemeClr val="accent2">
                  <a:lumMod val="50000"/>
                </a:schemeClr>
              </a:solidFill>
              <a:latin typeface="+mn-ea"/>
            </a:endParaRPr>
          </a:p>
          <a:p>
            <a:pPr algn="just" fontAlgn="base">
              <a:lnSpc>
                <a:spcPct val="160000"/>
              </a:lnSpc>
            </a:pPr>
            <a:r>
              <a:rPr lang="ko-KR" altLang="en-US" kern="0" dirty="0">
                <a:solidFill>
                  <a:schemeClr val="accent2">
                    <a:lumMod val="50000"/>
                  </a:schemeClr>
                </a:solidFill>
                <a:latin typeface="+mn-ea"/>
              </a:rPr>
              <a:t>❸</a:t>
            </a:r>
          </a:p>
        </p:txBody>
      </p:sp>
      <p:sp>
        <p:nvSpPr>
          <p:cNvPr id="126" name="직사각형 125"/>
          <p:cNvSpPr/>
          <p:nvPr/>
        </p:nvSpPr>
        <p:spPr>
          <a:xfrm>
            <a:off x="6515049" y="2723368"/>
            <a:ext cx="807218" cy="511958"/>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bg1"/>
                </a:solidFill>
              </a:rPr>
              <a:t>거절결정</a:t>
            </a:r>
            <a:endParaRPr lang="en-US" altLang="ko-KR" sz="1200" dirty="0">
              <a:solidFill>
                <a:schemeClr val="bg1"/>
              </a:solidFill>
            </a:endParaRPr>
          </a:p>
          <a:p>
            <a:pPr algn="ctr"/>
            <a:r>
              <a:rPr lang="en-US" altLang="ko-KR" sz="1200" dirty="0">
                <a:solidFill>
                  <a:schemeClr val="bg1"/>
                </a:solidFill>
              </a:rPr>
              <a:t>(</a:t>
            </a:r>
            <a:r>
              <a:rPr lang="ko-KR" altLang="en-US" sz="1200" dirty="0">
                <a:solidFill>
                  <a:schemeClr val="bg1"/>
                </a:solidFill>
              </a:rPr>
              <a:t>착오</a:t>
            </a:r>
            <a:r>
              <a:rPr lang="en-US" altLang="ko-KR" sz="1200" dirty="0">
                <a:solidFill>
                  <a:schemeClr val="bg1"/>
                </a:solidFill>
              </a:rPr>
              <a:t>)</a:t>
            </a:r>
            <a:endParaRPr lang="ko-KR" altLang="en-US" sz="1200" dirty="0">
              <a:solidFill>
                <a:schemeClr val="bg1"/>
              </a:solidFill>
            </a:endParaRPr>
          </a:p>
        </p:txBody>
      </p:sp>
      <p:sp>
        <p:nvSpPr>
          <p:cNvPr id="137" name="직사각형 136"/>
          <p:cNvSpPr/>
          <p:nvPr/>
        </p:nvSpPr>
        <p:spPr>
          <a:xfrm>
            <a:off x="7760107" y="2853140"/>
            <a:ext cx="878214"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재심사청구</a:t>
            </a:r>
            <a:endParaRPr lang="ko-KR" altLang="en-US" sz="1200" dirty="0">
              <a:solidFill>
                <a:schemeClr val="tx1"/>
              </a:solidFill>
            </a:endParaRPr>
          </a:p>
        </p:txBody>
      </p:sp>
      <p:sp>
        <p:nvSpPr>
          <p:cNvPr id="144" name="직사각형 143"/>
          <p:cNvSpPr/>
          <p:nvPr/>
        </p:nvSpPr>
        <p:spPr>
          <a:xfrm>
            <a:off x="7840523" y="3522613"/>
            <a:ext cx="746998" cy="2524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4</a:t>
            </a:r>
            <a:endParaRPr lang="ko-KR" altLang="en-US" sz="1200" dirty="0">
              <a:solidFill>
                <a:schemeClr val="tx1"/>
              </a:solidFill>
            </a:endParaRPr>
          </a:p>
        </p:txBody>
      </p:sp>
      <p:cxnSp>
        <p:nvCxnSpPr>
          <p:cNvPr id="145" name="직선 화살표 연결선 144"/>
          <p:cNvCxnSpPr>
            <a:stCxn id="144" idx="0"/>
          </p:cNvCxnSpPr>
          <p:nvPr/>
        </p:nvCxnSpPr>
        <p:spPr>
          <a:xfrm flipH="1" flipV="1">
            <a:off x="8212257" y="3099948"/>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8" name="직사각형 147"/>
          <p:cNvSpPr/>
          <p:nvPr/>
        </p:nvSpPr>
        <p:spPr>
          <a:xfrm>
            <a:off x="5870559" y="240227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3</a:t>
            </a:r>
            <a:endParaRPr lang="ko-KR" altLang="en-US" sz="1200" dirty="0">
              <a:solidFill>
                <a:schemeClr val="tx1"/>
              </a:solidFill>
            </a:endParaRPr>
          </a:p>
        </p:txBody>
      </p:sp>
      <p:cxnSp>
        <p:nvCxnSpPr>
          <p:cNvPr id="153" name="직선 화살표 연결선 152"/>
          <p:cNvCxnSpPr>
            <a:stCxn id="148" idx="2"/>
          </p:cNvCxnSpPr>
          <p:nvPr/>
        </p:nvCxnSpPr>
        <p:spPr>
          <a:xfrm>
            <a:off x="6193579" y="265469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0" name="직사각형 159"/>
          <p:cNvSpPr/>
          <p:nvPr/>
        </p:nvSpPr>
        <p:spPr>
          <a:xfrm>
            <a:off x="9277840" y="3381545"/>
            <a:ext cx="1000384" cy="252413"/>
          </a:xfrm>
          <a:prstGeom prst="rect">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재심사</a:t>
            </a:r>
            <a:r>
              <a:rPr lang="en-US" altLang="ko-KR" sz="1200" dirty="0">
                <a:solidFill>
                  <a:schemeClr val="bg1"/>
                </a:solidFill>
              </a:rPr>
              <a:t>4</a:t>
            </a:r>
            <a:endParaRPr lang="ko-KR" altLang="en-US" sz="1200" dirty="0">
              <a:solidFill>
                <a:schemeClr val="bg1"/>
              </a:solidFill>
            </a:endParaRPr>
          </a:p>
        </p:txBody>
      </p:sp>
      <p:cxnSp>
        <p:nvCxnSpPr>
          <p:cNvPr id="164" name="직선 화살표 연결선 163"/>
          <p:cNvCxnSpPr>
            <a:stCxn id="160" idx="0"/>
          </p:cNvCxnSpPr>
          <p:nvPr/>
        </p:nvCxnSpPr>
        <p:spPr>
          <a:xfrm flipV="1">
            <a:off x="9778032" y="2979346"/>
            <a:ext cx="0" cy="40219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5" name="직사각형 164"/>
          <p:cNvSpPr/>
          <p:nvPr/>
        </p:nvSpPr>
        <p:spPr>
          <a:xfrm>
            <a:off x="9242757" y="4900856"/>
            <a:ext cx="2183611" cy="954107"/>
          </a:xfrm>
          <a:prstGeom prst="rect">
            <a:avLst/>
          </a:prstGeom>
          <a:ln>
            <a:solidFill>
              <a:schemeClr val="bg1">
                <a:lumMod val="50000"/>
              </a:schemeClr>
            </a:solidFill>
          </a:ln>
        </p:spPr>
        <p:txBody>
          <a:bodyPr wrap="none">
            <a:spAutoFit/>
          </a:bodyPr>
          <a:lstStyle/>
          <a:p>
            <a:pPr fontAlgn="base"/>
            <a:r>
              <a:rPr lang="ko-KR" altLang="en-US" sz="1400" kern="0" dirty="0">
                <a:solidFill>
                  <a:schemeClr val="accent4"/>
                </a:solidFill>
                <a:latin typeface="+mn-ea"/>
              </a:rPr>
              <a:t>❶ 발견</a:t>
            </a:r>
            <a:r>
              <a:rPr lang="en-US" altLang="ko-KR" sz="1400" kern="0" dirty="0">
                <a:solidFill>
                  <a:schemeClr val="accent4"/>
                </a:solidFill>
                <a:latin typeface="+mn-ea"/>
              </a:rPr>
              <a:t>: </a:t>
            </a:r>
            <a:r>
              <a:rPr lang="ko-KR" altLang="en-US" sz="1400" kern="0" dirty="0">
                <a:solidFill>
                  <a:schemeClr val="accent4"/>
                </a:solidFill>
                <a:latin typeface="+mn-ea"/>
              </a:rPr>
              <a:t>최초거절이유통지</a:t>
            </a:r>
            <a:r>
              <a:rPr lang="en-US" altLang="ko-KR" sz="1400" kern="0" dirty="0">
                <a:solidFill>
                  <a:schemeClr val="accent4"/>
                </a:solidFill>
                <a:latin typeface="+mn-ea"/>
              </a:rPr>
              <a:t> </a:t>
            </a:r>
          </a:p>
          <a:p>
            <a:pPr fontAlgn="base"/>
            <a:r>
              <a:rPr lang="ko-KR" altLang="en-US" sz="1400" kern="0" dirty="0">
                <a:solidFill>
                  <a:schemeClr val="accent4"/>
                </a:solidFill>
                <a:latin typeface="+mn-ea"/>
              </a:rPr>
              <a:t>❷ 발견</a:t>
            </a:r>
            <a:r>
              <a:rPr lang="en-US" altLang="ko-KR" sz="1400" kern="0" dirty="0">
                <a:solidFill>
                  <a:schemeClr val="accent4"/>
                </a:solidFill>
                <a:latin typeface="+mn-ea"/>
              </a:rPr>
              <a:t>: </a:t>
            </a:r>
            <a:r>
              <a:rPr lang="ko-KR" altLang="en-US" sz="1400" kern="0" dirty="0" err="1">
                <a:solidFill>
                  <a:schemeClr val="accent4"/>
                </a:solidFill>
                <a:latin typeface="+mn-ea"/>
              </a:rPr>
              <a:t>거절결정</a:t>
            </a:r>
            <a:endParaRPr lang="en-US" altLang="ko-KR" sz="1400" kern="0" dirty="0">
              <a:solidFill>
                <a:schemeClr val="accent4"/>
              </a:solidFill>
              <a:latin typeface="+mn-ea"/>
            </a:endParaRPr>
          </a:p>
          <a:p>
            <a:pPr fontAlgn="base"/>
            <a:r>
              <a:rPr lang="ko-KR" altLang="en-US" sz="1400" kern="0" dirty="0">
                <a:solidFill>
                  <a:schemeClr val="accent4"/>
                </a:solidFill>
                <a:latin typeface="+mn-ea"/>
              </a:rPr>
              <a:t>❸ 발견</a:t>
            </a:r>
            <a:r>
              <a:rPr lang="en-US" altLang="ko-KR" sz="1400" kern="0" dirty="0">
                <a:solidFill>
                  <a:schemeClr val="accent4"/>
                </a:solidFill>
                <a:latin typeface="+mn-ea"/>
              </a:rPr>
              <a:t>: </a:t>
            </a:r>
            <a:r>
              <a:rPr lang="ko-KR" altLang="en-US" sz="1400" kern="0" dirty="0">
                <a:solidFill>
                  <a:schemeClr val="accent4"/>
                </a:solidFill>
                <a:latin typeface="+mn-ea"/>
              </a:rPr>
              <a:t>최후거절이유통지</a:t>
            </a:r>
            <a:endParaRPr lang="en-US" altLang="ko-KR" sz="1400" kern="0" dirty="0">
              <a:solidFill>
                <a:schemeClr val="accent4"/>
              </a:solidFill>
              <a:latin typeface="+mn-ea"/>
            </a:endParaRPr>
          </a:p>
          <a:p>
            <a:pPr fontAlgn="base"/>
            <a:r>
              <a:rPr lang="ko-KR" altLang="en-US" sz="1400" kern="0" dirty="0">
                <a:solidFill>
                  <a:srgbClr val="FF0000"/>
                </a:solidFill>
                <a:latin typeface="+mn-ea"/>
              </a:rPr>
              <a:t>❹ 발견</a:t>
            </a:r>
            <a:r>
              <a:rPr lang="en-US" altLang="ko-KR" sz="1400" kern="0" dirty="0">
                <a:solidFill>
                  <a:srgbClr val="FF0000"/>
                </a:solidFill>
                <a:latin typeface="+mn-ea"/>
              </a:rPr>
              <a:t>: </a:t>
            </a:r>
            <a:r>
              <a:rPr lang="ko-KR" altLang="en-US" sz="1400" kern="0" dirty="0" err="1">
                <a:solidFill>
                  <a:srgbClr val="FF0000"/>
                </a:solidFill>
                <a:latin typeface="+mn-ea"/>
              </a:rPr>
              <a:t>최후거절이유통지</a:t>
            </a:r>
            <a:endParaRPr lang="en-US" altLang="ko-KR" sz="1400" kern="0" dirty="0">
              <a:solidFill>
                <a:srgbClr val="FF0000"/>
              </a:solidFill>
              <a:latin typeface="+mn-ea"/>
            </a:endParaRPr>
          </a:p>
        </p:txBody>
      </p:sp>
      <p:sp>
        <p:nvSpPr>
          <p:cNvPr id="166" name="TextBox 165"/>
          <p:cNvSpPr txBox="1"/>
          <p:nvPr/>
        </p:nvSpPr>
        <p:spPr>
          <a:xfrm>
            <a:off x="9239739" y="3992037"/>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1. </a:t>
            </a:r>
            <a:r>
              <a:rPr lang="ko-KR" altLang="en-US" sz="1100" dirty="0"/>
              <a:t>원거절이유의 </a:t>
            </a:r>
            <a:r>
              <a:rPr lang="ko-KR" altLang="en-US" sz="1100" dirty="0" err="1"/>
              <a:t>해소여부</a:t>
            </a:r>
            <a:endParaRPr lang="ko-KR" altLang="en-US" dirty="0"/>
          </a:p>
        </p:txBody>
      </p:sp>
      <p:sp>
        <p:nvSpPr>
          <p:cNvPr id="167" name="TextBox 166"/>
          <p:cNvSpPr txBox="1"/>
          <p:nvPr/>
        </p:nvSpPr>
        <p:spPr>
          <a:xfrm>
            <a:off x="9239739" y="4279048"/>
            <a:ext cx="2390207"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2. </a:t>
            </a:r>
            <a:r>
              <a:rPr lang="ko-KR" altLang="en-US" sz="1100" dirty="0"/>
              <a:t>새로운 </a:t>
            </a:r>
            <a:r>
              <a:rPr lang="ko-KR" altLang="en-US" sz="1100" dirty="0" err="1"/>
              <a:t>거절이유의</a:t>
            </a:r>
            <a:r>
              <a:rPr lang="ko-KR" altLang="en-US" sz="1100" dirty="0"/>
              <a:t> </a:t>
            </a:r>
            <a:r>
              <a:rPr lang="ko-KR" altLang="en-US" sz="1100" dirty="0" err="1"/>
              <a:t>발견여부</a:t>
            </a:r>
            <a:endParaRPr lang="ko-KR" altLang="en-US" sz="1100" dirty="0"/>
          </a:p>
        </p:txBody>
      </p:sp>
      <p:sp>
        <p:nvSpPr>
          <p:cNvPr id="168" name="TextBox 167"/>
          <p:cNvSpPr txBox="1"/>
          <p:nvPr/>
        </p:nvSpPr>
        <p:spPr>
          <a:xfrm>
            <a:off x="9239740" y="4577374"/>
            <a:ext cx="2397889"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3. </a:t>
            </a:r>
            <a:r>
              <a:rPr lang="ko-KR" altLang="en-US" sz="1100" dirty="0"/>
              <a:t>새로운 거절이유의 발생시점</a:t>
            </a:r>
          </a:p>
        </p:txBody>
      </p:sp>
      <p:sp>
        <p:nvSpPr>
          <p:cNvPr id="169" name="TextBox 168"/>
          <p:cNvSpPr txBox="1"/>
          <p:nvPr/>
        </p:nvSpPr>
        <p:spPr>
          <a:xfrm>
            <a:off x="9239739" y="3696790"/>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0. </a:t>
            </a:r>
            <a:r>
              <a:rPr lang="ko-KR" altLang="en-US" sz="1100" dirty="0"/>
              <a:t>보정의 적법성</a:t>
            </a:r>
          </a:p>
        </p:txBody>
      </p:sp>
      <p:sp>
        <p:nvSpPr>
          <p:cNvPr id="5" name="슬라이드 번호 개체 틀 4"/>
          <p:cNvSpPr>
            <a:spLocks noGrp="1"/>
          </p:cNvSpPr>
          <p:nvPr>
            <p:ph type="sldNum" sz="quarter" idx="12"/>
          </p:nvPr>
        </p:nvSpPr>
        <p:spPr/>
        <p:txBody>
          <a:bodyPr/>
          <a:lstStyle/>
          <a:p>
            <a:r>
              <a:rPr lang="en-US" altLang="ko-KR"/>
              <a:t>182</a:t>
            </a:r>
            <a:endParaRPr lang="ko-KR" altLang="en-US"/>
          </a:p>
        </p:txBody>
      </p:sp>
      <p:sp>
        <p:nvSpPr>
          <p:cNvPr id="7" name="TextBox 6">
            <a:extLst>
              <a:ext uri="{FF2B5EF4-FFF2-40B4-BE49-F238E27FC236}">
                <a16:creationId xmlns:a16="http://schemas.microsoft.com/office/drawing/2014/main" id="{11340994-5186-0134-7336-87D3315DD179}"/>
              </a:ext>
            </a:extLst>
          </p:cNvPr>
          <p:cNvSpPr txBox="1"/>
          <p:nvPr/>
        </p:nvSpPr>
        <p:spPr>
          <a:xfrm>
            <a:off x="6498380" y="3794921"/>
            <a:ext cx="838098" cy="523220"/>
          </a:xfrm>
          <a:prstGeom prst="rect">
            <a:avLst/>
          </a:prstGeom>
          <a:noFill/>
          <a:ln>
            <a:solidFill>
              <a:schemeClr val="bg1">
                <a:lumMod val="50000"/>
              </a:schemeClr>
            </a:solidFill>
          </a:ln>
        </p:spPr>
        <p:txBody>
          <a:bodyPr wrap="square">
            <a:spAutoFit/>
          </a:bodyPr>
          <a:lstStyle/>
          <a:p>
            <a:pPr algn="ctr"/>
            <a:r>
              <a:rPr lang="ko-KR" altLang="en-US" sz="1400" dirty="0">
                <a:solidFill>
                  <a:schemeClr val="tx1"/>
                </a:solidFill>
                <a:highlight>
                  <a:srgbClr val="FFFF00"/>
                </a:highlight>
                <a:latin typeface="+mn-ea"/>
              </a:rPr>
              <a:t>法 </a:t>
            </a:r>
            <a:r>
              <a:rPr lang="en-US" altLang="ko-KR" sz="1400" dirty="0">
                <a:solidFill>
                  <a:schemeClr val="tx1"/>
                </a:solidFill>
                <a:highlight>
                  <a:srgbClr val="FFFF00"/>
                </a:highlight>
                <a:latin typeface="+mn-ea"/>
              </a:rPr>
              <a:t>29② </a:t>
            </a:r>
          </a:p>
          <a:p>
            <a:pPr algn="ctr"/>
            <a:r>
              <a:rPr lang="ko-KR" altLang="en-US" sz="1400" dirty="0">
                <a:solidFill>
                  <a:schemeClr val="tx1"/>
                </a:solidFill>
                <a:highlight>
                  <a:srgbClr val="FFFF00"/>
                </a:highlight>
                <a:latin typeface="+mn-ea"/>
              </a:rPr>
              <a:t>위반</a:t>
            </a:r>
          </a:p>
        </p:txBody>
      </p:sp>
      <p:cxnSp>
        <p:nvCxnSpPr>
          <p:cNvPr id="8" name="직선 화살표 연결선 7">
            <a:extLst>
              <a:ext uri="{FF2B5EF4-FFF2-40B4-BE49-F238E27FC236}">
                <a16:creationId xmlns:a16="http://schemas.microsoft.com/office/drawing/2014/main" id="{EDA07F88-A709-C8EB-5352-5AE73919A1DC}"/>
              </a:ext>
            </a:extLst>
          </p:cNvPr>
          <p:cNvCxnSpPr>
            <a:cxnSpLocks/>
            <a:stCxn id="126" idx="2"/>
            <a:endCxn id="7" idx="0"/>
          </p:cNvCxnSpPr>
          <p:nvPr/>
        </p:nvCxnSpPr>
        <p:spPr>
          <a:xfrm flipH="1">
            <a:off x="6917429" y="3235326"/>
            <a:ext cx="1229" cy="55959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8318072"/>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 name="직사각형 245"/>
          <p:cNvSpPr/>
          <p:nvPr/>
        </p:nvSpPr>
        <p:spPr>
          <a:xfrm>
            <a:off x="1428750" y="5052838"/>
            <a:ext cx="10439400" cy="601917"/>
          </a:xfrm>
          <a:prstGeom prst="rect">
            <a:avLst/>
          </a:prstGeom>
          <a:solidFill>
            <a:schemeClr val="bg1">
              <a:lumMod val="95000"/>
            </a:schemeClr>
          </a:solid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7" name="직사각형 246"/>
          <p:cNvSpPr/>
          <p:nvPr/>
        </p:nvSpPr>
        <p:spPr>
          <a:xfrm>
            <a:off x="1428750" y="5740908"/>
            <a:ext cx="10439400" cy="601917"/>
          </a:xfrm>
          <a:prstGeom prst="rect">
            <a:avLst/>
          </a:prstGeom>
          <a:solidFill>
            <a:schemeClr val="bg1">
              <a:lumMod val="95000"/>
            </a:schemeClr>
          </a:solid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5" name="직사각형 244"/>
          <p:cNvSpPr/>
          <p:nvPr/>
        </p:nvSpPr>
        <p:spPr>
          <a:xfrm>
            <a:off x="1428750" y="4314181"/>
            <a:ext cx="10439400" cy="601917"/>
          </a:xfrm>
          <a:prstGeom prst="rect">
            <a:avLst/>
          </a:prstGeom>
          <a:solidFill>
            <a:schemeClr val="bg1">
              <a:lumMod val="95000"/>
            </a:schemeClr>
          </a:solid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4" name="직사각형 243"/>
          <p:cNvSpPr/>
          <p:nvPr/>
        </p:nvSpPr>
        <p:spPr>
          <a:xfrm>
            <a:off x="1428750" y="3599806"/>
            <a:ext cx="10439400" cy="601917"/>
          </a:xfrm>
          <a:prstGeom prst="rect">
            <a:avLst/>
          </a:prstGeom>
          <a:solidFill>
            <a:schemeClr val="bg1">
              <a:lumMod val="95000"/>
            </a:schemeClr>
          </a:solid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3" name="직사각형 242"/>
          <p:cNvSpPr/>
          <p:nvPr/>
        </p:nvSpPr>
        <p:spPr>
          <a:xfrm>
            <a:off x="1428750" y="2183367"/>
            <a:ext cx="10439400" cy="1292812"/>
          </a:xfrm>
          <a:prstGeom prst="rect">
            <a:avLst/>
          </a:prstGeom>
          <a:solidFill>
            <a:schemeClr val="bg1">
              <a:lumMod val="95000"/>
            </a:schemeClr>
          </a:solid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t>보정각하의</a:t>
            </a:r>
            <a:r>
              <a:rPr lang="ko-KR" altLang="en-US" dirty="0"/>
              <a:t> 예외</a:t>
            </a:r>
            <a:r>
              <a:rPr lang="en-US" altLang="ko-KR" dirty="0"/>
              <a:t>(</a:t>
            </a:r>
            <a:r>
              <a:rPr lang="ko-KR" altLang="en-US" dirty="0"/>
              <a:t>제</a:t>
            </a:r>
            <a:r>
              <a:rPr lang="en-US" altLang="ko-KR" dirty="0"/>
              <a:t>51</a:t>
            </a:r>
            <a:r>
              <a:rPr lang="ko-KR" altLang="en-US" dirty="0"/>
              <a:t>조제</a:t>
            </a:r>
            <a:r>
              <a:rPr lang="en-US" altLang="ko-KR" dirty="0"/>
              <a:t>1</a:t>
            </a:r>
            <a:r>
              <a:rPr lang="ko-KR" altLang="en-US" dirty="0" err="1"/>
              <a:t>항제</a:t>
            </a:r>
            <a:r>
              <a:rPr lang="en-US" altLang="ko-KR" dirty="0"/>
              <a:t>3</a:t>
            </a:r>
            <a:r>
              <a:rPr lang="ko-KR" altLang="en-US" dirty="0"/>
              <a:t>호</a:t>
            </a:r>
            <a:r>
              <a:rPr lang="en-US" altLang="ko-KR" dirty="0"/>
              <a:t>, </a:t>
            </a:r>
            <a:r>
              <a:rPr lang="ko-KR" altLang="en-US" dirty="0"/>
              <a:t>제</a:t>
            </a:r>
            <a:r>
              <a:rPr lang="en-US" altLang="ko-KR" dirty="0"/>
              <a:t>170</a:t>
            </a:r>
            <a:r>
              <a:rPr lang="ko-KR" altLang="en-US" dirty="0"/>
              <a:t>조제</a:t>
            </a:r>
            <a:r>
              <a:rPr lang="en-US" altLang="ko-KR" dirty="0"/>
              <a:t>1</a:t>
            </a:r>
            <a:r>
              <a:rPr lang="ko-KR" altLang="en-US" dirty="0"/>
              <a:t>항</a:t>
            </a:r>
            <a:r>
              <a:rPr lang="en-US" altLang="ko-KR" dirty="0"/>
              <a:t>)</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101" name="직선 화살표 연결선 100"/>
          <p:cNvCxnSpPr/>
          <p:nvPr/>
        </p:nvCxnSpPr>
        <p:spPr>
          <a:xfrm>
            <a:off x="1657351" y="2590964"/>
            <a:ext cx="1017270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2" name="직사각형 101"/>
          <p:cNvSpPr/>
          <p:nvPr/>
        </p:nvSpPr>
        <p:spPr>
          <a:xfrm>
            <a:off x="1657351" y="2342117"/>
            <a:ext cx="536160" cy="504825"/>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t>출원</a:t>
            </a:r>
          </a:p>
        </p:txBody>
      </p:sp>
      <p:sp>
        <p:nvSpPr>
          <p:cNvPr id="105" name="직사각형 104"/>
          <p:cNvSpPr/>
          <p:nvPr/>
        </p:nvSpPr>
        <p:spPr>
          <a:xfrm>
            <a:off x="2324645" y="3013629"/>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a:solidFill>
                  <a:schemeClr val="tx1"/>
                </a:solidFill>
              </a:rPr>
              <a:t>보정</a:t>
            </a:r>
            <a:endParaRPr lang="ko-KR" altLang="en-US" sz="1100" dirty="0">
              <a:solidFill>
                <a:schemeClr val="tx1"/>
              </a:solidFill>
            </a:endParaRPr>
          </a:p>
        </p:txBody>
      </p:sp>
      <p:cxnSp>
        <p:nvCxnSpPr>
          <p:cNvPr id="107" name="직선 화살표 연결선 106"/>
          <p:cNvCxnSpPr>
            <a:stCxn id="105" idx="0"/>
          </p:cNvCxnSpPr>
          <p:nvPr/>
        </p:nvCxnSpPr>
        <p:spPr>
          <a:xfrm flipH="1" flipV="1">
            <a:off x="2540167" y="2590964"/>
            <a:ext cx="5480"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0" name="직사각형 109"/>
          <p:cNvSpPr/>
          <p:nvPr/>
        </p:nvSpPr>
        <p:spPr>
          <a:xfrm>
            <a:off x="2832897" y="2464757"/>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최초</a:t>
            </a:r>
          </a:p>
        </p:txBody>
      </p:sp>
      <p:sp>
        <p:nvSpPr>
          <p:cNvPr id="111" name="직사각형 110"/>
          <p:cNvSpPr/>
          <p:nvPr/>
        </p:nvSpPr>
        <p:spPr>
          <a:xfrm>
            <a:off x="3570711" y="2464757"/>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최후</a:t>
            </a:r>
          </a:p>
        </p:txBody>
      </p:sp>
      <p:sp>
        <p:nvSpPr>
          <p:cNvPr id="112" name="직사각형 111"/>
          <p:cNvSpPr/>
          <p:nvPr/>
        </p:nvSpPr>
        <p:spPr>
          <a:xfrm>
            <a:off x="4336607" y="2464757"/>
            <a:ext cx="741152"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보정각하</a:t>
            </a:r>
            <a:endParaRPr lang="ko-KR" altLang="en-US" sz="1100" dirty="0">
              <a:solidFill>
                <a:schemeClr val="tx1"/>
              </a:solidFill>
            </a:endParaRPr>
          </a:p>
        </p:txBody>
      </p:sp>
      <p:sp>
        <p:nvSpPr>
          <p:cNvPr id="127" name="직사각형 126"/>
          <p:cNvSpPr/>
          <p:nvPr/>
        </p:nvSpPr>
        <p:spPr>
          <a:xfrm>
            <a:off x="3164070" y="3013629"/>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a:solidFill>
                  <a:schemeClr val="tx1"/>
                </a:solidFill>
              </a:rPr>
              <a:t>보정</a:t>
            </a:r>
            <a:endParaRPr lang="ko-KR" altLang="en-US" sz="1100" dirty="0">
              <a:solidFill>
                <a:schemeClr val="tx1"/>
              </a:solidFill>
            </a:endParaRPr>
          </a:p>
        </p:txBody>
      </p:sp>
      <p:cxnSp>
        <p:nvCxnSpPr>
          <p:cNvPr id="128" name="직선 화살표 연결선 127"/>
          <p:cNvCxnSpPr>
            <a:stCxn id="127" idx="0"/>
          </p:cNvCxnSpPr>
          <p:nvPr/>
        </p:nvCxnSpPr>
        <p:spPr>
          <a:xfrm flipH="1" flipV="1">
            <a:off x="3379592" y="2590964"/>
            <a:ext cx="5480"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9" name="직사각형 128"/>
          <p:cNvSpPr/>
          <p:nvPr/>
        </p:nvSpPr>
        <p:spPr>
          <a:xfrm>
            <a:off x="3904019" y="3013629"/>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a:solidFill>
                  <a:schemeClr val="tx1"/>
                </a:solidFill>
              </a:rPr>
              <a:t>보정</a:t>
            </a:r>
            <a:endParaRPr lang="ko-KR" altLang="en-US" sz="1100" dirty="0">
              <a:solidFill>
                <a:schemeClr val="tx1"/>
              </a:solidFill>
            </a:endParaRPr>
          </a:p>
        </p:txBody>
      </p:sp>
      <p:cxnSp>
        <p:nvCxnSpPr>
          <p:cNvPr id="130" name="직선 화살표 연결선 129"/>
          <p:cNvCxnSpPr>
            <a:stCxn id="129" idx="0"/>
          </p:cNvCxnSpPr>
          <p:nvPr/>
        </p:nvCxnSpPr>
        <p:spPr>
          <a:xfrm flipH="1" flipV="1">
            <a:off x="4119541" y="2590964"/>
            <a:ext cx="5480"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4" name="직선 화살표 연결선 133"/>
          <p:cNvCxnSpPr>
            <a:stCxn id="133" idx="0"/>
            <a:endCxn id="131" idx="2"/>
          </p:cNvCxnSpPr>
          <p:nvPr/>
        </p:nvCxnSpPr>
        <p:spPr>
          <a:xfrm flipV="1">
            <a:off x="5450531" y="2846942"/>
            <a:ext cx="0" cy="23792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5" name="직사각형 134"/>
          <p:cNvSpPr/>
          <p:nvPr/>
        </p:nvSpPr>
        <p:spPr>
          <a:xfrm>
            <a:off x="6025208" y="2464757"/>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최초</a:t>
            </a:r>
          </a:p>
        </p:txBody>
      </p:sp>
      <p:sp>
        <p:nvSpPr>
          <p:cNvPr id="136" name="직사각형 135"/>
          <p:cNvSpPr/>
          <p:nvPr/>
        </p:nvSpPr>
        <p:spPr>
          <a:xfrm>
            <a:off x="6763022" y="2464757"/>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최후</a:t>
            </a:r>
          </a:p>
        </p:txBody>
      </p:sp>
      <p:sp>
        <p:nvSpPr>
          <p:cNvPr id="138" name="직사각형 137"/>
          <p:cNvSpPr/>
          <p:nvPr/>
        </p:nvSpPr>
        <p:spPr>
          <a:xfrm>
            <a:off x="6356381" y="3013629"/>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a:solidFill>
                  <a:schemeClr val="tx1"/>
                </a:solidFill>
              </a:rPr>
              <a:t>보정</a:t>
            </a:r>
            <a:endParaRPr lang="ko-KR" altLang="en-US" sz="1100" dirty="0">
              <a:solidFill>
                <a:schemeClr val="tx1"/>
              </a:solidFill>
            </a:endParaRPr>
          </a:p>
        </p:txBody>
      </p:sp>
      <p:cxnSp>
        <p:nvCxnSpPr>
          <p:cNvPr id="139" name="직선 화살표 연결선 138"/>
          <p:cNvCxnSpPr>
            <a:stCxn id="138" idx="0"/>
          </p:cNvCxnSpPr>
          <p:nvPr/>
        </p:nvCxnSpPr>
        <p:spPr>
          <a:xfrm flipH="1" flipV="1">
            <a:off x="6571903" y="2590964"/>
            <a:ext cx="5480"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0" name="직사각형 139"/>
          <p:cNvSpPr/>
          <p:nvPr/>
        </p:nvSpPr>
        <p:spPr>
          <a:xfrm>
            <a:off x="7096331" y="3013629"/>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a:solidFill>
                  <a:schemeClr val="tx1"/>
                </a:solidFill>
              </a:rPr>
              <a:t>보정</a:t>
            </a:r>
            <a:endParaRPr lang="ko-KR" altLang="en-US" sz="1100" dirty="0">
              <a:solidFill>
                <a:schemeClr val="tx1"/>
              </a:solidFill>
            </a:endParaRPr>
          </a:p>
        </p:txBody>
      </p:sp>
      <p:cxnSp>
        <p:nvCxnSpPr>
          <p:cNvPr id="141" name="직선 화살표 연결선 140"/>
          <p:cNvCxnSpPr>
            <a:stCxn id="140" idx="0"/>
          </p:cNvCxnSpPr>
          <p:nvPr/>
        </p:nvCxnSpPr>
        <p:spPr>
          <a:xfrm flipH="1" flipV="1">
            <a:off x="7311853" y="2590964"/>
            <a:ext cx="5480"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251" name="그룹 250"/>
          <p:cNvGrpSpPr/>
          <p:nvPr/>
        </p:nvGrpSpPr>
        <p:grpSpPr>
          <a:xfrm>
            <a:off x="1925431" y="1831955"/>
            <a:ext cx="6717411" cy="662760"/>
            <a:chOff x="1925431" y="1162050"/>
            <a:chExt cx="6717411" cy="2486026"/>
          </a:xfrm>
        </p:grpSpPr>
        <p:cxnSp>
          <p:nvCxnSpPr>
            <p:cNvPr id="104" name="직선 연결선 103"/>
            <p:cNvCxnSpPr/>
            <p:nvPr/>
          </p:nvCxnSpPr>
          <p:spPr>
            <a:xfrm>
              <a:off x="1925431" y="1162050"/>
              <a:ext cx="0" cy="248602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직선 연결선 131"/>
            <p:cNvCxnSpPr/>
            <p:nvPr/>
          </p:nvCxnSpPr>
          <p:spPr>
            <a:xfrm>
              <a:off x="5450531" y="1162050"/>
              <a:ext cx="0" cy="248602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3" name="직선 연결선 142"/>
            <p:cNvCxnSpPr/>
            <p:nvPr/>
          </p:nvCxnSpPr>
          <p:spPr>
            <a:xfrm>
              <a:off x="8642842" y="1162050"/>
              <a:ext cx="0" cy="248602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46" name="직사각형 145"/>
          <p:cNvSpPr/>
          <p:nvPr/>
        </p:nvSpPr>
        <p:spPr>
          <a:xfrm>
            <a:off x="9282227" y="2464757"/>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최초</a:t>
            </a:r>
          </a:p>
        </p:txBody>
      </p:sp>
      <p:sp>
        <p:nvSpPr>
          <p:cNvPr id="147" name="직사각형 146"/>
          <p:cNvSpPr/>
          <p:nvPr/>
        </p:nvSpPr>
        <p:spPr>
          <a:xfrm>
            <a:off x="10020042" y="2464757"/>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최후</a:t>
            </a:r>
          </a:p>
        </p:txBody>
      </p:sp>
      <p:sp>
        <p:nvSpPr>
          <p:cNvPr id="149" name="직사각형 148"/>
          <p:cNvSpPr/>
          <p:nvPr/>
        </p:nvSpPr>
        <p:spPr>
          <a:xfrm>
            <a:off x="9613401" y="3013629"/>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a:solidFill>
                  <a:schemeClr val="tx1"/>
                </a:solidFill>
              </a:rPr>
              <a:t>보정</a:t>
            </a:r>
            <a:endParaRPr lang="ko-KR" altLang="en-US" sz="1100" dirty="0">
              <a:solidFill>
                <a:schemeClr val="tx1"/>
              </a:solidFill>
            </a:endParaRPr>
          </a:p>
        </p:txBody>
      </p:sp>
      <p:cxnSp>
        <p:nvCxnSpPr>
          <p:cNvPr id="150" name="직선 화살표 연결선 149"/>
          <p:cNvCxnSpPr>
            <a:stCxn id="149" idx="0"/>
          </p:cNvCxnSpPr>
          <p:nvPr/>
        </p:nvCxnSpPr>
        <p:spPr>
          <a:xfrm flipH="1" flipV="1">
            <a:off x="9828922" y="2590964"/>
            <a:ext cx="5480"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1" name="직사각형 150"/>
          <p:cNvSpPr/>
          <p:nvPr/>
        </p:nvSpPr>
        <p:spPr>
          <a:xfrm>
            <a:off x="10353350" y="3013629"/>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a:solidFill>
                  <a:schemeClr val="tx1"/>
                </a:solidFill>
              </a:rPr>
              <a:t>보정</a:t>
            </a:r>
            <a:endParaRPr lang="ko-KR" altLang="en-US" sz="1100" dirty="0">
              <a:solidFill>
                <a:schemeClr val="tx1"/>
              </a:solidFill>
            </a:endParaRPr>
          </a:p>
        </p:txBody>
      </p:sp>
      <p:cxnSp>
        <p:nvCxnSpPr>
          <p:cNvPr id="152" name="직선 화살표 연결선 151"/>
          <p:cNvCxnSpPr>
            <a:stCxn id="151" idx="0"/>
          </p:cNvCxnSpPr>
          <p:nvPr/>
        </p:nvCxnSpPr>
        <p:spPr>
          <a:xfrm flipH="1" flipV="1">
            <a:off x="10568872" y="2590964"/>
            <a:ext cx="5480"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1" name="직사각형 130"/>
          <p:cNvSpPr/>
          <p:nvPr/>
        </p:nvSpPr>
        <p:spPr>
          <a:xfrm>
            <a:off x="5182451" y="2342117"/>
            <a:ext cx="536160" cy="504825"/>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t>재심사</a:t>
            </a:r>
            <a:endParaRPr lang="en-US" altLang="ko-KR" sz="1100" dirty="0"/>
          </a:p>
          <a:p>
            <a:pPr algn="ctr"/>
            <a:r>
              <a:rPr lang="ko-KR" altLang="en-US" sz="1100" dirty="0"/>
              <a:t>청구</a:t>
            </a:r>
          </a:p>
        </p:txBody>
      </p:sp>
      <p:sp>
        <p:nvSpPr>
          <p:cNvPr id="142" name="직사각형 141"/>
          <p:cNvSpPr/>
          <p:nvPr/>
        </p:nvSpPr>
        <p:spPr>
          <a:xfrm>
            <a:off x="8374762" y="2342117"/>
            <a:ext cx="536160" cy="504825"/>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36000" rtlCol="0" anchor="ctr"/>
          <a:lstStyle/>
          <a:p>
            <a:pPr algn="ctr"/>
            <a:r>
              <a:rPr lang="ko-KR" altLang="en-US" sz="1100" dirty="0"/>
              <a:t>심판</a:t>
            </a:r>
            <a:endParaRPr lang="en-US" altLang="ko-KR" sz="1100" dirty="0"/>
          </a:p>
          <a:p>
            <a:pPr algn="ctr"/>
            <a:r>
              <a:rPr lang="ko-KR" altLang="en-US" sz="1100" dirty="0"/>
              <a:t>청구</a:t>
            </a:r>
          </a:p>
        </p:txBody>
      </p:sp>
      <p:sp>
        <p:nvSpPr>
          <p:cNvPr id="154" name="직사각형 153"/>
          <p:cNvSpPr/>
          <p:nvPr/>
        </p:nvSpPr>
        <p:spPr>
          <a:xfrm>
            <a:off x="2324645" y="3773893"/>
            <a:ext cx="442003"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1</a:t>
            </a:r>
            <a:endParaRPr lang="ko-KR" altLang="en-US" sz="1100" dirty="0">
              <a:solidFill>
                <a:schemeClr val="tx1"/>
              </a:solidFill>
            </a:endParaRPr>
          </a:p>
        </p:txBody>
      </p:sp>
      <p:sp>
        <p:nvSpPr>
          <p:cNvPr id="155" name="직사각형 154"/>
          <p:cNvSpPr/>
          <p:nvPr/>
        </p:nvSpPr>
        <p:spPr>
          <a:xfrm>
            <a:off x="3164070" y="3773893"/>
            <a:ext cx="442003"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2</a:t>
            </a:r>
            <a:endParaRPr lang="ko-KR" altLang="en-US" sz="1100" dirty="0">
              <a:solidFill>
                <a:schemeClr val="tx1"/>
              </a:solidFill>
            </a:endParaRPr>
          </a:p>
        </p:txBody>
      </p:sp>
      <p:sp>
        <p:nvSpPr>
          <p:cNvPr id="156" name="직사각형 155"/>
          <p:cNvSpPr/>
          <p:nvPr/>
        </p:nvSpPr>
        <p:spPr>
          <a:xfrm>
            <a:off x="3904019" y="3773893"/>
            <a:ext cx="442003"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3</a:t>
            </a:r>
            <a:endParaRPr lang="ko-KR" altLang="en-US" sz="1100" dirty="0">
              <a:solidFill>
                <a:schemeClr val="tx1"/>
              </a:solidFill>
            </a:endParaRPr>
          </a:p>
        </p:txBody>
      </p:sp>
      <p:sp>
        <p:nvSpPr>
          <p:cNvPr id="157" name="직사각형 156"/>
          <p:cNvSpPr/>
          <p:nvPr/>
        </p:nvSpPr>
        <p:spPr>
          <a:xfrm>
            <a:off x="5217976" y="3773892"/>
            <a:ext cx="442003"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4</a:t>
            </a:r>
            <a:endParaRPr lang="ko-KR" altLang="en-US" sz="1100" dirty="0">
              <a:solidFill>
                <a:schemeClr val="tx1"/>
              </a:solidFill>
            </a:endParaRPr>
          </a:p>
        </p:txBody>
      </p:sp>
      <p:sp>
        <p:nvSpPr>
          <p:cNvPr id="158" name="직사각형 157"/>
          <p:cNvSpPr/>
          <p:nvPr/>
        </p:nvSpPr>
        <p:spPr>
          <a:xfrm>
            <a:off x="6356381" y="3773893"/>
            <a:ext cx="442003"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5</a:t>
            </a:r>
            <a:endParaRPr lang="ko-KR" altLang="en-US" sz="1100" dirty="0">
              <a:solidFill>
                <a:schemeClr val="tx1"/>
              </a:solidFill>
            </a:endParaRPr>
          </a:p>
        </p:txBody>
      </p:sp>
      <p:sp>
        <p:nvSpPr>
          <p:cNvPr id="159" name="직사각형 158"/>
          <p:cNvSpPr/>
          <p:nvPr/>
        </p:nvSpPr>
        <p:spPr>
          <a:xfrm>
            <a:off x="7096331" y="3773893"/>
            <a:ext cx="442003"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6</a:t>
            </a:r>
            <a:endParaRPr lang="ko-KR" altLang="en-US" sz="1100" dirty="0">
              <a:solidFill>
                <a:schemeClr val="tx1"/>
              </a:solidFill>
            </a:endParaRPr>
          </a:p>
        </p:txBody>
      </p:sp>
      <p:sp>
        <p:nvSpPr>
          <p:cNvPr id="161" name="직사각형 160"/>
          <p:cNvSpPr/>
          <p:nvPr/>
        </p:nvSpPr>
        <p:spPr>
          <a:xfrm>
            <a:off x="9613401" y="3773893"/>
            <a:ext cx="442003"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7</a:t>
            </a:r>
            <a:endParaRPr lang="ko-KR" altLang="en-US" sz="1100" dirty="0">
              <a:solidFill>
                <a:schemeClr val="tx1"/>
              </a:solidFill>
            </a:endParaRPr>
          </a:p>
        </p:txBody>
      </p:sp>
      <p:sp>
        <p:nvSpPr>
          <p:cNvPr id="162" name="직사각형 161"/>
          <p:cNvSpPr/>
          <p:nvPr/>
        </p:nvSpPr>
        <p:spPr>
          <a:xfrm>
            <a:off x="10353350" y="3773893"/>
            <a:ext cx="442003"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8</a:t>
            </a:r>
            <a:endParaRPr lang="ko-KR" altLang="en-US" sz="1100" dirty="0">
              <a:solidFill>
                <a:schemeClr val="tx1"/>
              </a:solidFill>
            </a:endParaRPr>
          </a:p>
        </p:txBody>
      </p:sp>
      <p:sp>
        <p:nvSpPr>
          <p:cNvPr id="163" name="직사각형 162"/>
          <p:cNvSpPr/>
          <p:nvPr/>
        </p:nvSpPr>
        <p:spPr>
          <a:xfrm>
            <a:off x="1717404" y="3773893"/>
            <a:ext cx="442003"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0</a:t>
            </a:r>
            <a:endParaRPr lang="ko-KR" altLang="en-US" sz="1100" dirty="0">
              <a:solidFill>
                <a:schemeClr val="tx1"/>
              </a:solidFill>
            </a:endParaRPr>
          </a:p>
        </p:txBody>
      </p:sp>
      <p:cxnSp>
        <p:nvCxnSpPr>
          <p:cNvPr id="198" name="직선 연결선 197"/>
          <p:cNvCxnSpPr/>
          <p:nvPr/>
        </p:nvCxnSpPr>
        <p:spPr>
          <a:xfrm>
            <a:off x="11868151" y="1162050"/>
            <a:ext cx="0" cy="248602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3" name="직사각형 132"/>
          <p:cNvSpPr/>
          <p:nvPr/>
        </p:nvSpPr>
        <p:spPr>
          <a:xfrm>
            <a:off x="5229529" y="3084870"/>
            <a:ext cx="442003"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a:solidFill>
                  <a:schemeClr val="tx1"/>
                </a:solidFill>
              </a:rPr>
              <a:t>보정</a:t>
            </a:r>
            <a:endParaRPr lang="ko-KR" altLang="en-US" sz="1100" dirty="0">
              <a:solidFill>
                <a:schemeClr val="tx1"/>
              </a:solidFill>
            </a:endParaRPr>
          </a:p>
        </p:txBody>
      </p:sp>
      <p:cxnSp>
        <p:nvCxnSpPr>
          <p:cNvPr id="201" name="직선 화살표 연결선 200"/>
          <p:cNvCxnSpPr/>
          <p:nvPr/>
        </p:nvCxnSpPr>
        <p:spPr>
          <a:xfrm>
            <a:off x="1925431" y="1973817"/>
            <a:ext cx="3519620" cy="0"/>
          </a:xfrm>
          <a:prstGeom prst="straightConnector1">
            <a:avLst/>
          </a:prstGeom>
          <a:ln w="28575">
            <a:solidFill>
              <a:schemeClr val="accent4">
                <a:lumMod val="50000"/>
              </a:schemeClr>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sp>
        <p:nvSpPr>
          <p:cNvPr id="199" name="직사각형 198"/>
          <p:cNvSpPr/>
          <p:nvPr/>
        </p:nvSpPr>
        <p:spPr>
          <a:xfrm>
            <a:off x="3017750" y="1851982"/>
            <a:ext cx="1328272" cy="252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일반심사단계</a:t>
            </a:r>
          </a:p>
        </p:txBody>
      </p:sp>
      <p:cxnSp>
        <p:nvCxnSpPr>
          <p:cNvPr id="202" name="직선 화살표 연결선 201"/>
          <p:cNvCxnSpPr/>
          <p:nvPr/>
        </p:nvCxnSpPr>
        <p:spPr>
          <a:xfrm>
            <a:off x="5456011" y="1973817"/>
            <a:ext cx="3186831" cy="0"/>
          </a:xfrm>
          <a:prstGeom prst="straightConnector1">
            <a:avLst/>
          </a:prstGeom>
          <a:ln w="28575">
            <a:solidFill>
              <a:schemeClr val="accent4">
                <a:lumMod val="50000"/>
              </a:schemeClr>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sp>
        <p:nvSpPr>
          <p:cNvPr id="204" name="직사각형 203"/>
          <p:cNvSpPr/>
          <p:nvPr/>
        </p:nvSpPr>
        <p:spPr>
          <a:xfrm>
            <a:off x="6405896" y="1851982"/>
            <a:ext cx="1132438" cy="252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err="1">
                <a:solidFill>
                  <a:schemeClr val="tx1"/>
                </a:solidFill>
              </a:rPr>
              <a:t>재심사단계</a:t>
            </a:r>
            <a:endParaRPr lang="ko-KR" altLang="en-US" sz="1600" dirty="0">
              <a:solidFill>
                <a:schemeClr val="tx1"/>
              </a:solidFill>
            </a:endParaRPr>
          </a:p>
        </p:txBody>
      </p:sp>
      <p:cxnSp>
        <p:nvCxnSpPr>
          <p:cNvPr id="205" name="직선 화살표 연결선 204"/>
          <p:cNvCxnSpPr/>
          <p:nvPr/>
        </p:nvCxnSpPr>
        <p:spPr>
          <a:xfrm>
            <a:off x="8643220" y="1973817"/>
            <a:ext cx="3186831" cy="0"/>
          </a:xfrm>
          <a:prstGeom prst="straightConnector1">
            <a:avLst/>
          </a:prstGeom>
          <a:ln w="28575">
            <a:solidFill>
              <a:schemeClr val="accent4">
                <a:lumMod val="50000"/>
              </a:schemeClr>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sp>
        <p:nvSpPr>
          <p:cNvPr id="206" name="직사각형 205"/>
          <p:cNvSpPr/>
          <p:nvPr/>
        </p:nvSpPr>
        <p:spPr>
          <a:xfrm>
            <a:off x="9593105" y="1851982"/>
            <a:ext cx="1132438" cy="252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err="1">
                <a:solidFill>
                  <a:schemeClr val="tx1"/>
                </a:solidFill>
              </a:rPr>
              <a:t>심판단계</a:t>
            </a:r>
            <a:endParaRPr lang="ko-KR" altLang="en-US" sz="1600" dirty="0">
              <a:solidFill>
                <a:schemeClr val="tx1"/>
              </a:solidFill>
            </a:endParaRPr>
          </a:p>
        </p:txBody>
      </p:sp>
      <p:sp>
        <p:nvSpPr>
          <p:cNvPr id="208" name="직사각형 207"/>
          <p:cNvSpPr/>
          <p:nvPr/>
        </p:nvSpPr>
        <p:spPr>
          <a:xfrm>
            <a:off x="320493" y="2183367"/>
            <a:ext cx="1096986" cy="1292812"/>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절차</a:t>
            </a:r>
            <a:endParaRPr lang="en-US" altLang="ko-KR" sz="1400" dirty="0"/>
          </a:p>
          <a:p>
            <a:pPr algn="ctr"/>
            <a:r>
              <a:rPr lang="ko-KR" altLang="en-US" sz="1400" dirty="0"/>
              <a:t>진행</a:t>
            </a:r>
          </a:p>
        </p:txBody>
      </p:sp>
      <p:sp>
        <p:nvSpPr>
          <p:cNvPr id="209" name="직사각형 208"/>
          <p:cNvSpPr/>
          <p:nvPr/>
        </p:nvSpPr>
        <p:spPr>
          <a:xfrm>
            <a:off x="320494" y="3598473"/>
            <a:ext cx="1098302" cy="603250"/>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거절이유</a:t>
            </a:r>
            <a:endParaRPr lang="en-US" altLang="ko-KR" sz="1400" dirty="0"/>
          </a:p>
          <a:p>
            <a:pPr algn="ctr"/>
            <a:r>
              <a:rPr lang="ko-KR" altLang="en-US" sz="1400" dirty="0"/>
              <a:t>발생</a:t>
            </a:r>
          </a:p>
        </p:txBody>
      </p:sp>
      <p:sp>
        <p:nvSpPr>
          <p:cNvPr id="210" name="직사각형 209"/>
          <p:cNvSpPr/>
          <p:nvPr/>
        </p:nvSpPr>
        <p:spPr>
          <a:xfrm>
            <a:off x="320494" y="4312848"/>
            <a:ext cx="422456" cy="2031310"/>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발견</a:t>
            </a:r>
            <a:endParaRPr lang="en-US" altLang="ko-KR" sz="1400" dirty="0"/>
          </a:p>
          <a:p>
            <a:pPr algn="ctr"/>
            <a:r>
              <a:rPr lang="en-US" altLang="ko-KR" sz="1400" dirty="0"/>
              <a:t>*</a:t>
            </a:r>
            <a:endParaRPr lang="ko-KR" altLang="en-US" sz="1400" dirty="0"/>
          </a:p>
        </p:txBody>
      </p:sp>
      <p:sp>
        <p:nvSpPr>
          <p:cNvPr id="212" name="직사각형 211"/>
          <p:cNvSpPr/>
          <p:nvPr/>
        </p:nvSpPr>
        <p:spPr>
          <a:xfrm>
            <a:off x="828675" y="4312848"/>
            <a:ext cx="588804" cy="603250"/>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t>일반</a:t>
            </a:r>
            <a:endParaRPr lang="en-US" altLang="ko-KR" sz="1200" dirty="0"/>
          </a:p>
          <a:p>
            <a:pPr algn="ctr"/>
            <a:r>
              <a:rPr lang="ko-KR" altLang="en-US" sz="1200" dirty="0"/>
              <a:t>심사</a:t>
            </a:r>
            <a:endParaRPr lang="en-US" altLang="ko-KR" sz="1200" dirty="0"/>
          </a:p>
          <a:p>
            <a:pPr algn="ctr"/>
            <a:r>
              <a:rPr lang="ko-KR" altLang="en-US" sz="1200" dirty="0"/>
              <a:t>단계</a:t>
            </a:r>
          </a:p>
        </p:txBody>
      </p:sp>
      <p:sp>
        <p:nvSpPr>
          <p:cNvPr id="213" name="직사각형 212"/>
          <p:cNvSpPr/>
          <p:nvPr/>
        </p:nvSpPr>
        <p:spPr>
          <a:xfrm>
            <a:off x="828675" y="5039923"/>
            <a:ext cx="588804" cy="603250"/>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t>재심사</a:t>
            </a:r>
            <a:endParaRPr lang="en-US" altLang="ko-KR" sz="1200" dirty="0"/>
          </a:p>
          <a:p>
            <a:pPr algn="ctr"/>
            <a:r>
              <a:rPr lang="ko-KR" altLang="en-US" sz="1200" dirty="0"/>
              <a:t>단계</a:t>
            </a:r>
          </a:p>
        </p:txBody>
      </p:sp>
      <p:sp>
        <p:nvSpPr>
          <p:cNvPr id="214" name="직사각형 213"/>
          <p:cNvSpPr/>
          <p:nvPr/>
        </p:nvSpPr>
        <p:spPr>
          <a:xfrm>
            <a:off x="828675" y="5740908"/>
            <a:ext cx="588804" cy="603250"/>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t>심판</a:t>
            </a:r>
            <a:endParaRPr lang="en-US" altLang="ko-KR" sz="1200" dirty="0"/>
          </a:p>
          <a:p>
            <a:pPr algn="ctr"/>
            <a:r>
              <a:rPr lang="ko-KR" altLang="en-US" sz="1200" dirty="0"/>
              <a:t>단계</a:t>
            </a:r>
          </a:p>
        </p:txBody>
      </p:sp>
      <p:sp>
        <p:nvSpPr>
          <p:cNvPr id="215" name="직사각형 214"/>
          <p:cNvSpPr/>
          <p:nvPr/>
        </p:nvSpPr>
        <p:spPr>
          <a:xfrm>
            <a:off x="2324645" y="4515106"/>
            <a:ext cx="442003" cy="252413"/>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최초</a:t>
            </a:r>
          </a:p>
        </p:txBody>
      </p:sp>
      <p:sp>
        <p:nvSpPr>
          <p:cNvPr id="216" name="직사각형 215"/>
          <p:cNvSpPr/>
          <p:nvPr/>
        </p:nvSpPr>
        <p:spPr>
          <a:xfrm>
            <a:off x="3164070" y="4515106"/>
            <a:ext cx="442003" cy="252413"/>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최후</a:t>
            </a:r>
          </a:p>
        </p:txBody>
      </p:sp>
      <p:sp>
        <p:nvSpPr>
          <p:cNvPr id="217" name="직사각형 216"/>
          <p:cNvSpPr/>
          <p:nvPr/>
        </p:nvSpPr>
        <p:spPr>
          <a:xfrm>
            <a:off x="3904019" y="4515106"/>
            <a:ext cx="442003" cy="252413"/>
          </a:xfrm>
          <a:prstGeom prst="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각하</a:t>
            </a:r>
          </a:p>
        </p:txBody>
      </p:sp>
      <p:sp>
        <p:nvSpPr>
          <p:cNvPr id="223" name="직사각형 222"/>
          <p:cNvSpPr/>
          <p:nvPr/>
        </p:nvSpPr>
        <p:spPr>
          <a:xfrm>
            <a:off x="1717404" y="4515106"/>
            <a:ext cx="442003" cy="252413"/>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최초</a:t>
            </a:r>
          </a:p>
        </p:txBody>
      </p:sp>
      <p:sp>
        <p:nvSpPr>
          <p:cNvPr id="224" name="직사각형 223"/>
          <p:cNvSpPr/>
          <p:nvPr/>
        </p:nvSpPr>
        <p:spPr>
          <a:xfrm>
            <a:off x="2324645" y="5227592"/>
            <a:ext cx="442003" cy="252413"/>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최초</a:t>
            </a:r>
          </a:p>
        </p:txBody>
      </p:sp>
      <p:sp>
        <p:nvSpPr>
          <p:cNvPr id="225" name="직사각형 224"/>
          <p:cNvSpPr/>
          <p:nvPr/>
        </p:nvSpPr>
        <p:spPr>
          <a:xfrm>
            <a:off x="3164070" y="5227592"/>
            <a:ext cx="442003" cy="252413"/>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최후</a:t>
            </a:r>
          </a:p>
        </p:txBody>
      </p:sp>
      <p:sp>
        <p:nvSpPr>
          <p:cNvPr id="226" name="직사각형 225"/>
          <p:cNvSpPr/>
          <p:nvPr/>
        </p:nvSpPr>
        <p:spPr>
          <a:xfrm>
            <a:off x="3904019" y="5227592"/>
            <a:ext cx="442003" cy="252413"/>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인정</a:t>
            </a:r>
          </a:p>
        </p:txBody>
      </p:sp>
      <p:sp>
        <p:nvSpPr>
          <p:cNvPr id="227" name="직사각형 226"/>
          <p:cNvSpPr/>
          <p:nvPr/>
        </p:nvSpPr>
        <p:spPr>
          <a:xfrm>
            <a:off x="5217976" y="5227591"/>
            <a:ext cx="442003" cy="252413"/>
          </a:xfrm>
          <a:prstGeom prst="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각하</a:t>
            </a:r>
          </a:p>
        </p:txBody>
      </p:sp>
      <p:sp>
        <p:nvSpPr>
          <p:cNvPr id="228" name="직사각형 227"/>
          <p:cNvSpPr/>
          <p:nvPr/>
        </p:nvSpPr>
        <p:spPr>
          <a:xfrm>
            <a:off x="6356381" y="5227592"/>
            <a:ext cx="442003" cy="252413"/>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최후</a:t>
            </a:r>
          </a:p>
        </p:txBody>
      </p:sp>
      <p:sp>
        <p:nvSpPr>
          <p:cNvPr id="229" name="직사각형 228"/>
          <p:cNvSpPr/>
          <p:nvPr/>
        </p:nvSpPr>
        <p:spPr>
          <a:xfrm>
            <a:off x="7096331" y="5227592"/>
            <a:ext cx="442003" cy="252413"/>
          </a:xfrm>
          <a:prstGeom prst="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각하</a:t>
            </a:r>
          </a:p>
        </p:txBody>
      </p:sp>
      <p:sp>
        <p:nvSpPr>
          <p:cNvPr id="232" name="직사각형 231"/>
          <p:cNvSpPr/>
          <p:nvPr/>
        </p:nvSpPr>
        <p:spPr>
          <a:xfrm>
            <a:off x="1717404" y="5227592"/>
            <a:ext cx="442003" cy="252413"/>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최초</a:t>
            </a:r>
          </a:p>
        </p:txBody>
      </p:sp>
      <p:sp>
        <p:nvSpPr>
          <p:cNvPr id="233" name="직사각형 232"/>
          <p:cNvSpPr/>
          <p:nvPr/>
        </p:nvSpPr>
        <p:spPr>
          <a:xfrm>
            <a:off x="2324645" y="5940077"/>
            <a:ext cx="442003" cy="252413"/>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최초</a:t>
            </a:r>
          </a:p>
        </p:txBody>
      </p:sp>
      <p:sp>
        <p:nvSpPr>
          <p:cNvPr id="234" name="직사각형 233"/>
          <p:cNvSpPr/>
          <p:nvPr/>
        </p:nvSpPr>
        <p:spPr>
          <a:xfrm>
            <a:off x="3164070" y="5940077"/>
            <a:ext cx="442003" cy="252413"/>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최후</a:t>
            </a:r>
          </a:p>
        </p:txBody>
      </p:sp>
      <p:sp>
        <p:nvSpPr>
          <p:cNvPr id="235" name="직사각형 234"/>
          <p:cNvSpPr/>
          <p:nvPr/>
        </p:nvSpPr>
        <p:spPr>
          <a:xfrm>
            <a:off x="3904019" y="5940077"/>
            <a:ext cx="442003" cy="252413"/>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인정</a:t>
            </a:r>
          </a:p>
        </p:txBody>
      </p:sp>
      <p:sp>
        <p:nvSpPr>
          <p:cNvPr id="236" name="직사각형 235"/>
          <p:cNvSpPr/>
          <p:nvPr/>
        </p:nvSpPr>
        <p:spPr>
          <a:xfrm>
            <a:off x="5217976" y="5940076"/>
            <a:ext cx="442003" cy="252413"/>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인정</a:t>
            </a:r>
          </a:p>
        </p:txBody>
      </p:sp>
      <p:sp>
        <p:nvSpPr>
          <p:cNvPr id="237" name="직사각형 236"/>
          <p:cNvSpPr/>
          <p:nvPr/>
        </p:nvSpPr>
        <p:spPr>
          <a:xfrm>
            <a:off x="6356381" y="5940077"/>
            <a:ext cx="442003" cy="252413"/>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최후</a:t>
            </a:r>
          </a:p>
        </p:txBody>
      </p:sp>
      <p:sp>
        <p:nvSpPr>
          <p:cNvPr id="238" name="직사각형 237"/>
          <p:cNvSpPr/>
          <p:nvPr/>
        </p:nvSpPr>
        <p:spPr>
          <a:xfrm>
            <a:off x="7096331" y="5940077"/>
            <a:ext cx="442003" cy="252413"/>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인정</a:t>
            </a:r>
          </a:p>
        </p:txBody>
      </p:sp>
      <p:sp>
        <p:nvSpPr>
          <p:cNvPr id="239" name="직사각형 238"/>
          <p:cNvSpPr/>
          <p:nvPr/>
        </p:nvSpPr>
        <p:spPr>
          <a:xfrm>
            <a:off x="9613401" y="5940077"/>
            <a:ext cx="442003" cy="252413"/>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최후</a:t>
            </a:r>
          </a:p>
        </p:txBody>
      </p:sp>
      <p:sp>
        <p:nvSpPr>
          <p:cNvPr id="240" name="직사각형 239"/>
          <p:cNvSpPr/>
          <p:nvPr/>
        </p:nvSpPr>
        <p:spPr>
          <a:xfrm>
            <a:off x="10353350" y="5940077"/>
            <a:ext cx="442003" cy="252413"/>
          </a:xfrm>
          <a:prstGeom prst="rect">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각하</a:t>
            </a:r>
          </a:p>
        </p:txBody>
      </p:sp>
      <p:sp>
        <p:nvSpPr>
          <p:cNvPr id="241" name="직사각형 240"/>
          <p:cNvSpPr/>
          <p:nvPr/>
        </p:nvSpPr>
        <p:spPr>
          <a:xfrm>
            <a:off x="1717404" y="5940077"/>
            <a:ext cx="442003" cy="252413"/>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최초</a:t>
            </a:r>
          </a:p>
        </p:txBody>
      </p:sp>
      <p:sp>
        <p:nvSpPr>
          <p:cNvPr id="254" name="직사각형 253"/>
          <p:cNvSpPr/>
          <p:nvPr/>
        </p:nvSpPr>
        <p:spPr>
          <a:xfrm>
            <a:off x="342231" y="6467983"/>
            <a:ext cx="10383311" cy="252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latin typeface="+mn-ea"/>
              </a:rPr>
              <a:t>* 2, 5, 7</a:t>
            </a:r>
            <a:r>
              <a:rPr lang="ko-KR" altLang="en-US" sz="1200" dirty="0">
                <a:solidFill>
                  <a:schemeClr val="tx1"/>
                </a:solidFill>
                <a:latin typeface="+mn-ea"/>
              </a:rPr>
              <a:t>은 원거절이유가 해소됨을 전제로</a:t>
            </a:r>
            <a:r>
              <a:rPr lang="en-US" altLang="ko-KR" sz="1200" dirty="0">
                <a:solidFill>
                  <a:schemeClr val="tx1"/>
                </a:solidFill>
                <a:latin typeface="+mn-ea"/>
              </a:rPr>
              <a:t>, 3, 4, 6, 8</a:t>
            </a:r>
            <a:r>
              <a:rPr lang="ko-KR" altLang="en-US" sz="1200" dirty="0">
                <a:solidFill>
                  <a:schemeClr val="tx1"/>
                </a:solidFill>
                <a:latin typeface="+mn-ea"/>
              </a:rPr>
              <a:t>은 </a:t>
            </a:r>
            <a:r>
              <a:rPr lang="ko-KR" altLang="en-US" sz="1200" dirty="0" err="1">
                <a:solidFill>
                  <a:schemeClr val="tx1"/>
                </a:solidFill>
                <a:latin typeface="+mn-ea"/>
              </a:rPr>
              <a:t>원거절이유</a:t>
            </a:r>
            <a:r>
              <a:rPr lang="ko-KR" altLang="en-US" sz="1200" dirty="0">
                <a:solidFill>
                  <a:schemeClr val="tx1"/>
                </a:solidFill>
                <a:latin typeface="+mn-ea"/>
              </a:rPr>
              <a:t> 해소 여부와 무관하게 적용</a:t>
            </a:r>
          </a:p>
        </p:txBody>
      </p:sp>
      <p:sp>
        <p:nvSpPr>
          <p:cNvPr id="86" name="직사각형 85"/>
          <p:cNvSpPr/>
          <p:nvPr/>
        </p:nvSpPr>
        <p:spPr>
          <a:xfrm>
            <a:off x="4336607" y="2712005"/>
            <a:ext cx="741152"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거절결정</a:t>
            </a:r>
            <a:endParaRPr lang="ko-KR" altLang="en-US" sz="1100" dirty="0">
              <a:solidFill>
                <a:schemeClr val="tx1"/>
              </a:solidFill>
            </a:endParaRPr>
          </a:p>
        </p:txBody>
      </p:sp>
      <p:sp>
        <p:nvSpPr>
          <p:cNvPr id="87" name="직사각형 86"/>
          <p:cNvSpPr/>
          <p:nvPr/>
        </p:nvSpPr>
        <p:spPr>
          <a:xfrm>
            <a:off x="7527565" y="2464757"/>
            <a:ext cx="741152"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보정각하</a:t>
            </a:r>
            <a:endParaRPr lang="ko-KR" altLang="en-US" sz="1100" dirty="0">
              <a:solidFill>
                <a:schemeClr val="tx1"/>
              </a:solidFill>
            </a:endParaRPr>
          </a:p>
        </p:txBody>
      </p:sp>
      <p:sp>
        <p:nvSpPr>
          <p:cNvPr id="88" name="직사각형 87"/>
          <p:cNvSpPr/>
          <p:nvPr/>
        </p:nvSpPr>
        <p:spPr>
          <a:xfrm>
            <a:off x="7527565" y="2712005"/>
            <a:ext cx="741152"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거절결정</a:t>
            </a:r>
            <a:endParaRPr lang="ko-KR" altLang="en-US" sz="1100" dirty="0">
              <a:solidFill>
                <a:schemeClr val="tx1"/>
              </a:solidFill>
            </a:endParaRPr>
          </a:p>
        </p:txBody>
      </p:sp>
      <p:sp>
        <p:nvSpPr>
          <p:cNvPr id="89" name="직사각형 88"/>
          <p:cNvSpPr/>
          <p:nvPr/>
        </p:nvSpPr>
        <p:spPr>
          <a:xfrm>
            <a:off x="10802953" y="2464757"/>
            <a:ext cx="741152"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보정각하</a:t>
            </a:r>
            <a:endParaRPr lang="ko-KR" altLang="en-US" sz="1100" dirty="0">
              <a:solidFill>
                <a:schemeClr val="tx1"/>
              </a:solidFill>
            </a:endParaRPr>
          </a:p>
        </p:txBody>
      </p:sp>
      <p:sp>
        <p:nvSpPr>
          <p:cNvPr id="90" name="직사각형 89"/>
          <p:cNvSpPr/>
          <p:nvPr/>
        </p:nvSpPr>
        <p:spPr>
          <a:xfrm>
            <a:off x="10802953" y="2712005"/>
            <a:ext cx="741152"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기각심결</a:t>
            </a:r>
            <a:endParaRPr lang="ko-KR" altLang="en-US" sz="1100" dirty="0">
              <a:solidFill>
                <a:schemeClr val="tx1"/>
              </a:solidFill>
            </a:endParaRPr>
          </a:p>
        </p:txBody>
      </p:sp>
      <p:sp>
        <p:nvSpPr>
          <p:cNvPr id="92" name="Rectangle 5"/>
          <p:cNvSpPr>
            <a:spLocks noChangeArrowheads="1"/>
          </p:cNvSpPr>
          <p:nvPr/>
        </p:nvSpPr>
        <p:spPr bwMode="auto">
          <a:xfrm>
            <a:off x="347687" y="1094336"/>
            <a:ext cx="6119523"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a:solidFill>
                  <a:schemeClr val="bg1"/>
                </a:solidFill>
                <a:latin typeface="+mj-ea"/>
                <a:ea typeface="+mj-ea"/>
              </a:rPr>
              <a:t>심판청구 전 </a:t>
            </a:r>
            <a:r>
              <a:rPr lang="ko-KR" altLang="en-US" sz="1600" dirty="0" err="1">
                <a:solidFill>
                  <a:schemeClr val="bg1"/>
                </a:solidFill>
                <a:latin typeface="+mj-ea"/>
                <a:ea typeface="+mj-ea"/>
              </a:rPr>
              <a:t>부적법한</a:t>
            </a:r>
            <a:r>
              <a:rPr lang="ko-KR" altLang="en-US" sz="1600" dirty="0">
                <a:solidFill>
                  <a:schemeClr val="bg1"/>
                </a:solidFill>
                <a:latin typeface="+mj-ea"/>
                <a:ea typeface="+mj-ea"/>
              </a:rPr>
              <a:t> 보정이 심판청구 후 발견된 경우</a:t>
            </a:r>
            <a:endParaRPr lang="ko-KR" altLang="en-US" sz="1600" b="0" dirty="0">
              <a:solidFill>
                <a:schemeClr val="bg1"/>
              </a:solidFill>
              <a:latin typeface="+mj-ea"/>
              <a:ea typeface="+mj-ea"/>
            </a:endParaRPr>
          </a:p>
        </p:txBody>
      </p:sp>
      <p:sp>
        <p:nvSpPr>
          <p:cNvPr id="5" name="슬라이드 번호 개체 틀 4"/>
          <p:cNvSpPr>
            <a:spLocks noGrp="1"/>
          </p:cNvSpPr>
          <p:nvPr>
            <p:ph type="sldNum" sz="quarter" idx="12"/>
          </p:nvPr>
        </p:nvSpPr>
        <p:spPr/>
        <p:txBody>
          <a:bodyPr/>
          <a:lstStyle/>
          <a:p>
            <a:r>
              <a:rPr lang="en-US" altLang="ko-KR"/>
              <a:t>183</a:t>
            </a:r>
            <a:endParaRPr lang="ko-KR" altLang="en-US"/>
          </a:p>
        </p:txBody>
      </p:sp>
    </p:spTree>
    <p:extLst>
      <p:ext uri="{BB962C8B-B14F-4D97-AF65-F5344CB8AC3E}">
        <p14:creationId xmlns:p14="http://schemas.microsoft.com/office/powerpoint/2010/main" val="1107267545"/>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직사각형 5"/>
          <p:cNvSpPr/>
          <p:nvPr/>
        </p:nvSpPr>
        <p:spPr>
          <a:xfrm>
            <a:off x="4742916" y="5122740"/>
            <a:ext cx="1306862" cy="1038778"/>
          </a:xfrm>
          <a:prstGeom prst="rect">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5" name="직선 화살표 연결선 124"/>
          <p:cNvCxnSpPr/>
          <p:nvPr/>
        </p:nvCxnSpPr>
        <p:spPr>
          <a:xfrm>
            <a:off x="1003596" y="2982913"/>
            <a:ext cx="965835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t>보정각하의</a:t>
            </a:r>
            <a:r>
              <a:rPr lang="ko-KR" altLang="en-US" dirty="0"/>
              <a:t> 예외</a:t>
            </a:r>
            <a:r>
              <a:rPr lang="en-US" altLang="ko-KR" dirty="0"/>
              <a:t>(</a:t>
            </a:r>
            <a:r>
              <a:rPr lang="ko-KR" altLang="en-US" dirty="0"/>
              <a:t>제</a:t>
            </a:r>
            <a:r>
              <a:rPr lang="en-US" altLang="ko-KR" dirty="0"/>
              <a:t>51</a:t>
            </a:r>
            <a:r>
              <a:rPr lang="ko-KR" altLang="en-US" dirty="0"/>
              <a:t>조제</a:t>
            </a:r>
            <a:r>
              <a:rPr lang="en-US" altLang="ko-KR" dirty="0"/>
              <a:t>1</a:t>
            </a:r>
            <a:r>
              <a:rPr lang="ko-KR" altLang="en-US" dirty="0" err="1"/>
              <a:t>항제</a:t>
            </a:r>
            <a:r>
              <a:rPr lang="en-US" altLang="ko-KR" dirty="0"/>
              <a:t>1</a:t>
            </a:r>
            <a:r>
              <a:rPr lang="ko-KR" altLang="en-US" dirty="0"/>
              <a:t>호</a:t>
            </a:r>
            <a:r>
              <a:rPr lang="en-US" altLang="ko-KR" dirty="0"/>
              <a:t>)</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92" name="Rectangle 5"/>
          <p:cNvSpPr>
            <a:spLocks noChangeArrowheads="1"/>
          </p:cNvSpPr>
          <p:nvPr/>
        </p:nvSpPr>
        <p:spPr bwMode="auto">
          <a:xfrm>
            <a:off x="347687" y="1094336"/>
            <a:ext cx="6119523"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err="1">
                <a:solidFill>
                  <a:schemeClr val="bg1"/>
                </a:solidFill>
                <a:latin typeface="+mj-ea"/>
                <a:ea typeface="+mj-ea"/>
              </a:rPr>
              <a:t>직권보정</a:t>
            </a:r>
            <a:r>
              <a:rPr lang="ko-KR" altLang="en-US" sz="1600" dirty="0">
                <a:solidFill>
                  <a:schemeClr val="bg1"/>
                </a:solidFill>
                <a:latin typeface="+mj-ea"/>
                <a:ea typeface="+mj-ea"/>
              </a:rPr>
              <a:t> 전에 한 </a:t>
            </a:r>
            <a:r>
              <a:rPr lang="ko-KR" altLang="en-US" sz="1600" dirty="0" err="1">
                <a:solidFill>
                  <a:schemeClr val="bg1"/>
                </a:solidFill>
                <a:latin typeface="+mj-ea"/>
                <a:ea typeface="+mj-ea"/>
              </a:rPr>
              <a:t>부적법한</a:t>
            </a:r>
            <a:r>
              <a:rPr lang="ko-KR" altLang="en-US" sz="1600" dirty="0">
                <a:solidFill>
                  <a:schemeClr val="bg1"/>
                </a:solidFill>
                <a:latin typeface="+mj-ea"/>
                <a:ea typeface="+mj-ea"/>
              </a:rPr>
              <a:t> 보정이 </a:t>
            </a:r>
            <a:r>
              <a:rPr lang="ko-KR" altLang="en-US" sz="1600" dirty="0" err="1">
                <a:solidFill>
                  <a:schemeClr val="bg1"/>
                </a:solidFill>
                <a:latin typeface="+mj-ea"/>
                <a:ea typeface="+mj-ea"/>
              </a:rPr>
              <a:t>특허결정이</a:t>
            </a:r>
            <a:r>
              <a:rPr lang="ko-KR" altLang="en-US" sz="1600" dirty="0">
                <a:solidFill>
                  <a:schemeClr val="bg1"/>
                </a:solidFill>
                <a:latin typeface="+mj-ea"/>
                <a:ea typeface="+mj-ea"/>
              </a:rPr>
              <a:t> 취소된 후 발견된 경우</a:t>
            </a:r>
            <a:endParaRPr lang="ko-KR" altLang="en-US" sz="1600" b="0" dirty="0">
              <a:solidFill>
                <a:schemeClr val="bg1"/>
              </a:solidFill>
              <a:latin typeface="+mj-ea"/>
              <a:ea typeface="+mj-ea"/>
            </a:endParaRPr>
          </a:p>
        </p:txBody>
      </p:sp>
      <p:sp>
        <p:nvSpPr>
          <p:cNvPr id="91" name="직사각형 90"/>
          <p:cNvSpPr/>
          <p:nvPr/>
        </p:nvSpPr>
        <p:spPr>
          <a:xfrm>
            <a:off x="772664" y="2730500"/>
            <a:ext cx="767463" cy="504825"/>
          </a:xfrm>
          <a:prstGeom prst="rect">
            <a:avLst/>
          </a:prstGeom>
          <a:solidFill>
            <a:schemeClr val="tx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p>
        </p:txBody>
      </p:sp>
      <p:sp>
        <p:nvSpPr>
          <p:cNvPr id="93" name="직사각형 92"/>
          <p:cNvSpPr/>
          <p:nvPr/>
        </p:nvSpPr>
        <p:spPr>
          <a:xfrm>
            <a:off x="2115870" y="240227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1</a:t>
            </a:r>
            <a:endParaRPr lang="ko-KR" altLang="en-US" sz="1200" dirty="0">
              <a:solidFill>
                <a:schemeClr val="tx1"/>
              </a:solidFill>
            </a:endParaRPr>
          </a:p>
        </p:txBody>
      </p:sp>
      <p:cxnSp>
        <p:nvCxnSpPr>
          <p:cNvPr id="94" name="직선 화살표 연결선 93"/>
          <p:cNvCxnSpPr>
            <a:stCxn id="93" idx="2"/>
          </p:cNvCxnSpPr>
          <p:nvPr/>
        </p:nvCxnSpPr>
        <p:spPr>
          <a:xfrm>
            <a:off x="2438890" y="265469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5" name="직사각형 94"/>
          <p:cNvSpPr/>
          <p:nvPr/>
        </p:nvSpPr>
        <p:spPr>
          <a:xfrm>
            <a:off x="2584877" y="2853140"/>
            <a:ext cx="693430"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최초</a:t>
            </a:r>
          </a:p>
        </p:txBody>
      </p:sp>
      <p:sp>
        <p:nvSpPr>
          <p:cNvPr id="96" name="직사각형 95"/>
          <p:cNvSpPr/>
          <p:nvPr/>
        </p:nvSpPr>
        <p:spPr>
          <a:xfrm>
            <a:off x="3194081" y="3402012"/>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2</a:t>
            </a:r>
            <a:endParaRPr lang="ko-KR" altLang="en-US" sz="1200" dirty="0">
              <a:solidFill>
                <a:schemeClr val="tx1"/>
              </a:solidFill>
            </a:endParaRPr>
          </a:p>
        </p:txBody>
      </p:sp>
      <p:cxnSp>
        <p:nvCxnSpPr>
          <p:cNvPr id="97" name="직선 화살표 연결선 96"/>
          <p:cNvCxnSpPr>
            <a:stCxn id="96" idx="0"/>
          </p:cNvCxnSpPr>
          <p:nvPr/>
        </p:nvCxnSpPr>
        <p:spPr>
          <a:xfrm flipH="1" flipV="1">
            <a:off x="3565815" y="297934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8" name="직사각형 97"/>
          <p:cNvSpPr/>
          <p:nvPr/>
        </p:nvSpPr>
        <p:spPr>
          <a:xfrm>
            <a:off x="3679986" y="240227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2</a:t>
            </a:r>
            <a:endParaRPr lang="ko-KR" altLang="en-US" sz="1200" dirty="0">
              <a:solidFill>
                <a:schemeClr val="tx1"/>
              </a:solidFill>
            </a:endParaRPr>
          </a:p>
        </p:txBody>
      </p:sp>
      <p:cxnSp>
        <p:nvCxnSpPr>
          <p:cNvPr id="99" name="직선 화살표 연결선 98"/>
          <p:cNvCxnSpPr>
            <a:stCxn id="98" idx="2"/>
          </p:cNvCxnSpPr>
          <p:nvPr/>
        </p:nvCxnSpPr>
        <p:spPr>
          <a:xfrm>
            <a:off x="4003006" y="265469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0" name="직사각형 99"/>
          <p:cNvSpPr/>
          <p:nvPr/>
        </p:nvSpPr>
        <p:spPr>
          <a:xfrm>
            <a:off x="4164410" y="2853140"/>
            <a:ext cx="783810"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최후</a:t>
            </a:r>
          </a:p>
        </p:txBody>
      </p:sp>
      <p:sp>
        <p:nvSpPr>
          <p:cNvPr id="103" name="직사각형 102"/>
          <p:cNvSpPr/>
          <p:nvPr/>
        </p:nvSpPr>
        <p:spPr>
          <a:xfrm>
            <a:off x="5007637" y="3402012"/>
            <a:ext cx="746998" cy="2524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3</a:t>
            </a:r>
            <a:endParaRPr lang="ko-KR" altLang="en-US" sz="1200" dirty="0">
              <a:solidFill>
                <a:schemeClr val="tx1"/>
              </a:solidFill>
            </a:endParaRPr>
          </a:p>
        </p:txBody>
      </p:sp>
      <p:cxnSp>
        <p:nvCxnSpPr>
          <p:cNvPr id="106" name="직선 화살표 연결선 105"/>
          <p:cNvCxnSpPr>
            <a:stCxn id="103" idx="0"/>
          </p:cNvCxnSpPr>
          <p:nvPr/>
        </p:nvCxnSpPr>
        <p:spPr>
          <a:xfrm flipH="1" flipV="1">
            <a:off x="5379371" y="297934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8" name="직사각형 107"/>
          <p:cNvSpPr/>
          <p:nvPr/>
        </p:nvSpPr>
        <p:spPr>
          <a:xfrm>
            <a:off x="1569706" y="3402012"/>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1</a:t>
            </a:r>
            <a:endParaRPr lang="ko-KR" altLang="en-US" sz="1200" dirty="0">
              <a:solidFill>
                <a:schemeClr val="tx1"/>
              </a:solidFill>
            </a:endParaRPr>
          </a:p>
        </p:txBody>
      </p:sp>
      <p:cxnSp>
        <p:nvCxnSpPr>
          <p:cNvPr id="109" name="직선 화살표 연결선 108"/>
          <p:cNvCxnSpPr>
            <a:stCxn id="108" idx="0"/>
          </p:cNvCxnSpPr>
          <p:nvPr/>
        </p:nvCxnSpPr>
        <p:spPr>
          <a:xfrm flipH="1" flipV="1">
            <a:off x="1941440" y="297934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p:cNvSpPr/>
          <p:nvPr/>
        </p:nvSpPr>
        <p:spPr>
          <a:xfrm>
            <a:off x="1549240" y="4065728"/>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42③Ⅰ</a:t>
            </a:r>
            <a:endParaRPr lang="ko-KR" altLang="en-US" sz="1050" dirty="0">
              <a:solidFill>
                <a:schemeClr val="tx1"/>
              </a:solidFill>
            </a:endParaRPr>
          </a:p>
        </p:txBody>
      </p:sp>
      <p:sp>
        <p:nvSpPr>
          <p:cNvPr id="114" name="직사각형 113"/>
          <p:cNvSpPr/>
          <p:nvPr/>
        </p:nvSpPr>
        <p:spPr>
          <a:xfrm>
            <a:off x="3194081" y="4068499"/>
            <a:ext cx="746998" cy="2524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p>
        </p:txBody>
      </p:sp>
      <p:sp>
        <p:nvSpPr>
          <p:cNvPr id="115" name="직사각형 114"/>
          <p:cNvSpPr/>
          <p:nvPr/>
        </p:nvSpPr>
        <p:spPr>
          <a:xfrm>
            <a:off x="3173615" y="4494353"/>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29②</a:t>
            </a:r>
            <a:endParaRPr lang="ko-KR" altLang="en-US" sz="1050" dirty="0">
              <a:solidFill>
                <a:schemeClr val="tx1"/>
              </a:solidFill>
              <a:latin typeface="+mn-ea"/>
            </a:endParaRPr>
          </a:p>
        </p:txBody>
      </p:sp>
      <p:cxnSp>
        <p:nvCxnSpPr>
          <p:cNvPr id="116" name="꺾인 연결선 115"/>
          <p:cNvCxnSpPr>
            <a:stCxn id="113" idx="3"/>
            <a:endCxn id="95" idx="2"/>
          </p:cNvCxnSpPr>
          <p:nvPr/>
        </p:nvCxnSpPr>
        <p:spPr>
          <a:xfrm flipV="1">
            <a:off x="2316704" y="3105553"/>
            <a:ext cx="614888" cy="1086382"/>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꺾인 연결선 116"/>
          <p:cNvCxnSpPr>
            <a:stCxn id="115" idx="3"/>
            <a:endCxn id="100" idx="2"/>
          </p:cNvCxnSpPr>
          <p:nvPr/>
        </p:nvCxnSpPr>
        <p:spPr>
          <a:xfrm flipV="1">
            <a:off x="3941079" y="3105553"/>
            <a:ext cx="615236" cy="1515007"/>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8" name="직사각형 117"/>
          <p:cNvSpPr/>
          <p:nvPr/>
        </p:nvSpPr>
        <p:spPr>
          <a:xfrm>
            <a:off x="5020109" y="5443210"/>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42④Ⅰ</a:t>
            </a:r>
            <a:endParaRPr lang="ko-KR" altLang="en-US" sz="1050" dirty="0">
              <a:solidFill>
                <a:schemeClr val="tx1"/>
              </a:solidFill>
              <a:latin typeface="+mn-ea"/>
            </a:endParaRPr>
          </a:p>
        </p:txBody>
      </p:sp>
      <p:sp>
        <p:nvSpPr>
          <p:cNvPr id="119" name="직사각형 118"/>
          <p:cNvSpPr/>
          <p:nvPr/>
        </p:nvSpPr>
        <p:spPr>
          <a:xfrm>
            <a:off x="1549240" y="4446450"/>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29①</a:t>
            </a:r>
            <a:endParaRPr lang="ko-KR" altLang="en-US" sz="1050" dirty="0">
              <a:solidFill>
                <a:schemeClr val="tx1"/>
              </a:solidFill>
              <a:latin typeface="+mn-ea"/>
            </a:endParaRPr>
          </a:p>
        </p:txBody>
      </p:sp>
      <p:sp>
        <p:nvSpPr>
          <p:cNvPr id="120" name="직사각형 119"/>
          <p:cNvSpPr/>
          <p:nvPr/>
        </p:nvSpPr>
        <p:spPr>
          <a:xfrm>
            <a:off x="3182621" y="4870327"/>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42⑧</a:t>
            </a:r>
            <a:endParaRPr lang="ko-KR" altLang="en-US" sz="1050" dirty="0">
              <a:solidFill>
                <a:schemeClr val="tx1"/>
              </a:solidFill>
              <a:latin typeface="+mn-ea"/>
            </a:endParaRPr>
          </a:p>
        </p:txBody>
      </p:sp>
      <p:sp>
        <p:nvSpPr>
          <p:cNvPr id="121" name="직사각형 120"/>
          <p:cNvSpPr/>
          <p:nvPr/>
        </p:nvSpPr>
        <p:spPr>
          <a:xfrm>
            <a:off x="4824009" y="5421699"/>
            <a:ext cx="392200"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❹</a:t>
            </a:r>
          </a:p>
        </p:txBody>
      </p:sp>
      <p:sp>
        <p:nvSpPr>
          <p:cNvPr id="122" name="직사각형 121"/>
          <p:cNvSpPr/>
          <p:nvPr/>
        </p:nvSpPr>
        <p:spPr>
          <a:xfrm>
            <a:off x="1335024" y="4389105"/>
            <a:ext cx="415969"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❶</a:t>
            </a:r>
          </a:p>
        </p:txBody>
      </p:sp>
      <p:sp>
        <p:nvSpPr>
          <p:cNvPr id="123" name="직사각형 122"/>
          <p:cNvSpPr/>
          <p:nvPr/>
        </p:nvSpPr>
        <p:spPr>
          <a:xfrm>
            <a:off x="2987552" y="4207453"/>
            <a:ext cx="364983"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❷</a:t>
            </a:r>
          </a:p>
        </p:txBody>
      </p:sp>
      <p:sp>
        <p:nvSpPr>
          <p:cNvPr id="124" name="직사각형 123"/>
          <p:cNvSpPr/>
          <p:nvPr/>
        </p:nvSpPr>
        <p:spPr>
          <a:xfrm>
            <a:off x="2987552" y="4395688"/>
            <a:ext cx="364983" cy="978729"/>
          </a:xfrm>
          <a:prstGeom prst="rect">
            <a:avLst/>
          </a:prstGeom>
        </p:spPr>
        <p:txBody>
          <a:bodyPr wrap="square">
            <a:spAutoFit/>
          </a:bodyPr>
          <a:lstStyle/>
          <a:p>
            <a:pPr algn="just" fontAlgn="base">
              <a:lnSpc>
                <a:spcPct val="160000"/>
              </a:lnSpc>
            </a:pPr>
            <a:endParaRPr lang="ko-KR" altLang="en-US" kern="0" dirty="0">
              <a:solidFill>
                <a:schemeClr val="accent2">
                  <a:lumMod val="50000"/>
                </a:schemeClr>
              </a:solidFill>
              <a:latin typeface="+mn-ea"/>
            </a:endParaRPr>
          </a:p>
          <a:p>
            <a:pPr algn="just" fontAlgn="base">
              <a:lnSpc>
                <a:spcPct val="160000"/>
              </a:lnSpc>
            </a:pPr>
            <a:r>
              <a:rPr lang="ko-KR" altLang="en-US" kern="0" dirty="0">
                <a:solidFill>
                  <a:schemeClr val="accent2">
                    <a:lumMod val="50000"/>
                  </a:schemeClr>
                </a:solidFill>
                <a:latin typeface="+mn-ea"/>
              </a:rPr>
              <a:t>❸</a:t>
            </a:r>
          </a:p>
        </p:txBody>
      </p:sp>
      <p:sp>
        <p:nvSpPr>
          <p:cNvPr id="126" name="직사각형 125"/>
          <p:cNvSpPr/>
          <p:nvPr/>
        </p:nvSpPr>
        <p:spPr>
          <a:xfrm>
            <a:off x="6567802" y="2654691"/>
            <a:ext cx="807218" cy="649312"/>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bg1"/>
                </a:solidFill>
              </a:rPr>
              <a:t>특허결정</a:t>
            </a:r>
            <a:endParaRPr lang="en-US" altLang="ko-KR" sz="1200" dirty="0">
              <a:solidFill>
                <a:schemeClr val="bg1"/>
              </a:solidFill>
            </a:endParaRPr>
          </a:p>
          <a:p>
            <a:pPr algn="ctr"/>
            <a:r>
              <a:rPr lang="en-US" altLang="ko-KR" sz="1200" dirty="0">
                <a:solidFill>
                  <a:schemeClr val="bg1"/>
                </a:solidFill>
              </a:rPr>
              <a:t>+</a:t>
            </a:r>
          </a:p>
          <a:p>
            <a:pPr algn="ctr"/>
            <a:r>
              <a:rPr lang="ko-KR" altLang="en-US" sz="1200" dirty="0" err="1">
                <a:solidFill>
                  <a:schemeClr val="bg1"/>
                </a:solidFill>
              </a:rPr>
              <a:t>직권보정</a:t>
            </a:r>
            <a:endParaRPr lang="ko-KR" altLang="en-US" sz="1200" dirty="0">
              <a:solidFill>
                <a:schemeClr val="bg1"/>
              </a:solidFill>
            </a:endParaRPr>
          </a:p>
        </p:txBody>
      </p:sp>
      <p:sp>
        <p:nvSpPr>
          <p:cNvPr id="137" name="직사각형 136"/>
          <p:cNvSpPr/>
          <p:nvPr/>
        </p:nvSpPr>
        <p:spPr>
          <a:xfrm>
            <a:off x="8063378" y="2654690"/>
            <a:ext cx="1121260" cy="630700"/>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bg1"/>
                </a:solidFill>
              </a:rPr>
              <a:t>특허결정</a:t>
            </a:r>
            <a:r>
              <a:rPr lang="ko-KR" altLang="en-US" sz="1200" dirty="0">
                <a:solidFill>
                  <a:schemeClr val="bg1"/>
                </a:solidFill>
              </a:rPr>
              <a:t> 취소</a:t>
            </a:r>
            <a:r>
              <a:rPr lang="en-US" altLang="ko-KR" sz="1200" dirty="0">
                <a:solidFill>
                  <a:schemeClr val="bg1"/>
                </a:solidFill>
              </a:rPr>
              <a:t>+</a:t>
            </a:r>
          </a:p>
          <a:p>
            <a:pPr algn="ctr"/>
            <a:r>
              <a:rPr lang="ko-KR" altLang="en-US" sz="1200" dirty="0" err="1">
                <a:solidFill>
                  <a:schemeClr val="bg1"/>
                </a:solidFill>
              </a:rPr>
              <a:t>직권보정</a:t>
            </a:r>
            <a:r>
              <a:rPr lang="ko-KR" altLang="en-US" sz="1200" dirty="0">
                <a:solidFill>
                  <a:schemeClr val="bg1"/>
                </a:solidFill>
              </a:rPr>
              <a:t> 취소</a:t>
            </a:r>
          </a:p>
        </p:txBody>
      </p:sp>
      <p:sp>
        <p:nvSpPr>
          <p:cNvPr id="144" name="직사각형 143"/>
          <p:cNvSpPr/>
          <p:nvPr/>
        </p:nvSpPr>
        <p:spPr>
          <a:xfrm>
            <a:off x="7389073" y="3522613"/>
            <a:ext cx="746998" cy="435787"/>
          </a:xfrm>
          <a:prstGeom prst="rect">
            <a:avLst/>
          </a:prstGeom>
          <a:solidFill>
            <a:schemeClr val="bg1">
              <a:lumMod val="6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의견서 제출</a:t>
            </a:r>
            <a:endParaRPr lang="ko-KR" altLang="en-US" sz="1200" dirty="0">
              <a:solidFill>
                <a:schemeClr val="tx1"/>
              </a:solidFill>
            </a:endParaRPr>
          </a:p>
        </p:txBody>
      </p:sp>
      <p:cxnSp>
        <p:nvCxnSpPr>
          <p:cNvPr id="145" name="직선 화살표 연결선 144"/>
          <p:cNvCxnSpPr>
            <a:stCxn id="144" idx="0"/>
          </p:cNvCxnSpPr>
          <p:nvPr/>
        </p:nvCxnSpPr>
        <p:spPr>
          <a:xfrm flipH="1" flipV="1">
            <a:off x="7760807" y="2999482"/>
            <a:ext cx="1765" cy="52313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8" name="직사각형 147"/>
          <p:cNvSpPr/>
          <p:nvPr/>
        </p:nvSpPr>
        <p:spPr>
          <a:xfrm>
            <a:off x="5726758" y="240227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3</a:t>
            </a:r>
            <a:endParaRPr lang="ko-KR" altLang="en-US" sz="1200" dirty="0">
              <a:solidFill>
                <a:schemeClr val="tx1"/>
              </a:solidFill>
            </a:endParaRPr>
          </a:p>
        </p:txBody>
      </p:sp>
      <p:cxnSp>
        <p:nvCxnSpPr>
          <p:cNvPr id="153" name="직선 화살표 연결선 152"/>
          <p:cNvCxnSpPr>
            <a:stCxn id="148" idx="2"/>
          </p:cNvCxnSpPr>
          <p:nvPr/>
        </p:nvCxnSpPr>
        <p:spPr>
          <a:xfrm>
            <a:off x="6049778" y="265469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0" name="직사각형 159"/>
          <p:cNvSpPr/>
          <p:nvPr/>
        </p:nvSpPr>
        <p:spPr>
          <a:xfrm>
            <a:off x="8988761" y="3381545"/>
            <a:ext cx="1000384" cy="252413"/>
          </a:xfrm>
          <a:prstGeom prst="rect">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심사</a:t>
            </a:r>
            <a:r>
              <a:rPr lang="en-US" altLang="ko-KR" sz="1200" dirty="0">
                <a:solidFill>
                  <a:schemeClr val="bg1"/>
                </a:solidFill>
              </a:rPr>
              <a:t>4</a:t>
            </a:r>
            <a:endParaRPr lang="ko-KR" altLang="en-US" sz="1200" dirty="0">
              <a:solidFill>
                <a:schemeClr val="bg1"/>
              </a:solidFill>
            </a:endParaRPr>
          </a:p>
        </p:txBody>
      </p:sp>
      <p:cxnSp>
        <p:nvCxnSpPr>
          <p:cNvPr id="164" name="직선 화살표 연결선 163"/>
          <p:cNvCxnSpPr>
            <a:stCxn id="160" idx="0"/>
          </p:cNvCxnSpPr>
          <p:nvPr/>
        </p:nvCxnSpPr>
        <p:spPr>
          <a:xfrm flipV="1">
            <a:off x="9488953" y="2979346"/>
            <a:ext cx="0" cy="40219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5" name="직사각형 164"/>
          <p:cNvSpPr/>
          <p:nvPr/>
        </p:nvSpPr>
        <p:spPr>
          <a:xfrm>
            <a:off x="8979316" y="4917948"/>
            <a:ext cx="2183611" cy="954107"/>
          </a:xfrm>
          <a:prstGeom prst="rect">
            <a:avLst/>
          </a:prstGeom>
          <a:ln>
            <a:solidFill>
              <a:schemeClr val="bg1">
                <a:lumMod val="50000"/>
              </a:schemeClr>
            </a:solidFill>
          </a:ln>
        </p:spPr>
        <p:txBody>
          <a:bodyPr wrap="none">
            <a:spAutoFit/>
          </a:bodyPr>
          <a:lstStyle/>
          <a:p>
            <a:pPr fontAlgn="base"/>
            <a:r>
              <a:rPr lang="ko-KR" altLang="en-US" sz="1400" kern="0" dirty="0">
                <a:solidFill>
                  <a:schemeClr val="accent4"/>
                </a:solidFill>
                <a:latin typeface="+mn-ea"/>
              </a:rPr>
              <a:t>❶ 발견</a:t>
            </a:r>
            <a:r>
              <a:rPr lang="en-US" altLang="ko-KR" sz="1400" kern="0" dirty="0">
                <a:solidFill>
                  <a:schemeClr val="accent4"/>
                </a:solidFill>
                <a:latin typeface="+mn-ea"/>
              </a:rPr>
              <a:t>: </a:t>
            </a:r>
            <a:r>
              <a:rPr lang="ko-KR" altLang="en-US" sz="1400" kern="0" dirty="0">
                <a:solidFill>
                  <a:schemeClr val="accent4"/>
                </a:solidFill>
                <a:latin typeface="+mn-ea"/>
              </a:rPr>
              <a:t>최초거절이유통지</a:t>
            </a:r>
            <a:r>
              <a:rPr lang="en-US" altLang="ko-KR" sz="1400" kern="0" dirty="0">
                <a:solidFill>
                  <a:schemeClr val="accent4"/>
                </a:solidFill>
                <a:latin typeface="+mn-ea"/>
              </a:rPr>
              <a:t> </a:t>
            </a:r>
          </a:p>
          <a:p>
            <a:pPr fontAlgn="base"/>
            <a:r>
              <a:rPr lang="ko-KR" altLang="en-US" sz="1400" kern="0" dirty="0">
                <a:solidFill>
                  <a:srgbClr val="FF0000"/>
                </a:solidFill>
                <a:latin typeface="+mn-ea"/>
              </a:rPr>
              <a:t>❷ 발견</a:t>
            </a:r>
            <a:r>
              <a:rPr lang="en-US" altLang="ko-KR" sz="1400" kern="0" dirty="0">
                <a:solidFill>
                  <a:srgbClr val="FF0000"/>
                </a:solidFill>
                <a:latin typeface="+mn-ea"/>
              </a:rPr>
              <a:t>: </a:t>
            </a:r>
            <a:r>
              <a:rPr lang="ko-KR" altLang="en-US" sz="1400" kern="0" dirty="0">
                <a:solidFill>
                  <a:srgbClr val="FF0000"/>
                </a:solidFill>
                <a:latin typeface="+mn-ea"/>
              </a:rPr>
              <a:t>최후거절이유통지</a:t>
            </a:r>
            <a:endParaRPr lang="en-US" altLang="ko-KR" sz="1400" kern="0" dirty="0">
              <a:solidFill>
                <a:srgbClr val="FF0000"/>
              </a:solidFill>
              <a:latin typeface="+mn-ea"/>
            </a:endParaRPr>
          </a:p>
          <a:p>
            <a:pPr fontAlgn="base"/>
            <a:r>
              <a:rPr lang="ko-KR" altLang="en-US" sz="1400" kern="0" dirty="0">
                <a:solidFill>
                  <a:schemeClr val="accent4"/>
                </a:solidFill>
                <a:latin typeface="+mn-ea"/>
              </a:rPr>
              <a:t>❸ 발견</a:t>
            </a:r>
            <a:r>
              <a:rPr lang="en-US" altLang="ko-KR" sz="1400" kern="0" dirty="0">
                <a:solidFill>
                  <a:schemeClr val="accent4"/>
                </a:solidFill>
                <a:latin typeface="+mn-ea"/>
              </a:rPr>
              <a:t>: </a:t>
            </a:r>
            <a:r>
              <a:rPr lang="ko-KR" altLang="en-US" sz="1400" kern="0" dirty="0">
                <a:solidFill>
                  <a:schemeClr val="accent4"/>
                </a:solidFill>
                <a:latin typeface="+mn-ea"/>
              </a:rPr>
              <a:t>최후거절이유통지</a:t>
            </a:r>
            <a:endParaRPr lang="en-US" altLang="ko-KR" sz="1400" kern="0" dirty="0">
              <a:solidFill>
                <a:schemeClr val="accent4"/>
              </a:solidFill>
              <a:latin typeface="+mn-ea"/>
            </a:endParaRPr>
          </a:p>
          <a:p>
            <a:pPr fontAlgn="base"/>
            <a:r>
              <a:rPr lang="ko-KR" altLang="en-US" sz="1400" kern="0" dirty="0">
                <a:solidFill>
                  <a:srgbClr val="FF0000"/>
                </a:solidFill>
                <a:latin typeface="+mn-ea"/>
              </a:rPr>
              <a:t>❹ 발견</a:t>
            </a:r>
            <a:r>
              <a:rPr lang="en-US" altLang="ko-KR" sz="1400" kern="0" dirty="0">
                <a:solidFill>
                  <a:srgbClr val="FF0000"/>
                </a:solidFill>
                <a:latin typeface="+mn-ea"/>
              </a:rPr>
              <a:t>: </a:t>
            </a:r>
            <a:r>
              <a:rPr lang="ko-KR" altLang="en-US" sz="1400" kern="0" dirty="0">
                <a:solidFill>
                  <a:srgbClr val="FF0000"/>
                </a:solidFill>
                <a:latin typeface="+mn-ea"/>
              </a:rPr>
              <a:t>최후거절이유통지</a:t>
            </a:r>
            <a:endParaRPr lang="en-US" altLang="ko-KR" sz="1400" kern="0" dirty="0">
              <a:solidFill>
                <a:srgbClr val="FF0000"/>
              </a:solidFill>
              <a:latin typeface="+mn-ea"/>
            </a:endParaRPr>
          </a:p>
        </p:txBody>
      </p:sp>
      <p:sp>
        <p:nvSpPr>
          <p:cNvPr id="46" name="TextBox 45"/>
          <p:cNvSpPr txBox="1"/>
          <p:nvPr/>
        </p:nvSpPr>
        <p:spPr>
          <a:xfrm>
            <a:off x="8974820" y="3992037"/>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1. </a:t>
            </a:r>
            <a:r>
              <a:rPr lang="ko-KR" altLang="en-US" sz="1100" dirty="0"/>
              <a:t>원거절이유의 </a:t>
            </a:r>
            <a:r>
              <a:rPr lang="ko-KR" altLang="en-US" sz="1100" dirty="0" err="1"/>
              <a:t>해소여부</a:t>
            </a:r>
            <a:endParaRPr lang="ko-KR" altLang="en-US" dirty="0"/>
          </a:p>
        </p:txBody>
      </p:sp>
      <p:sp>
        <p:nvSpPr>
          <p:cNvPr id="47" name="TextBox 46"/>
          <p:cNvSpPr txBox="1"/>
          <p:nvPr/>
        </p:nvSpPr>
        <p:spPr>
          <a:xfrm>
            <a:off x="8974820" y="4279048"/>
            <a:ext cx="2390207"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2. </a:t>
            </a:r>
            <a:r>
              <a:rPr lang="ko-KR" altLang="en-US" sz="1100" dirty="0"/>
              <a:t>새로운 </a:t>
            </a:r>
            <a:r>
              <a:rPr lang="ko-KR" altLang="en-US" sz="1100" dirty="0" err="1"/>
              <a:t>거절이유의</a:t>
            </a:r>
            <a:r>
              <a:rPr lang="ko-KR" altLang="en-US" sz="1100" dirty="0"/>
              <a:t> </a:t>
            </a:r>
            <a:r>
              <a:rPr lang="ko-KR" altLang="en-US" sz="1100" dirty="0" err="1"/>
              <a:t>발견여부</a:t>
            </a:r>
            <a:endParaRPr lang="ko-KR" altLang="en-US" sz="1100" dirty="0"/>
          </a:p>
        </p:txBody>
      </p:sp>
      <p:sp>
        <p:nvSpPr>
          <p:cNvPr id="48" name="TextBox 47"/>
          <p:cNvSpPr txBox="1"/>
          <p:nvPr/>
        </p:nvSpPr>
        <p:spPr>
          <a:xfrm>
            <a:off x="8974821" y="4577374"/>
            <a:ext cx="2397889"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3. </a:t>
            </a:r>
            <a:r>
              <a:rPr lang="ko-KR" altLang="en-US" sz="1100" dirty="0"/>
              <a:t>새로운 거절이유의 발생시점</a:t>
            </a:r>
          </a:p>
        </p:txBody>
      </p:sp>
      <p:sp>
        <p:nvSpPr>
          <p:cNvPr id="49" name="TextBox 48"/>
          <p:cNvSpPr txBox="1"/>
          <p:nvPr/>
        </p:nvSpPr>
        <p:spPr>
          <a:xfrm>
            <a:off x="8974820" y="3696790"/>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0. </a:t>
            </a:r>
            <a:r>
              <a:rPr lang="ko-KR" altLang="en-US" sz="1100" dirty="0"/>
              <a:t>보정의 적법성</a:t>
            </a:r>
          </a:p>
        </p:txBody>
      </p:sp>
      <p:cxnSp>
        <p:nvCxnSpPr>
          <p:cNvPr id="8" name="꺾인 연결선 7"/>
          <p:cNvCxnSpPr>
            <a:stCxn id="6" idx="3"/>
            <a:endCxn id="126" idx="2"/>
          </p:cNvCxnSpPr>
          <p:nvPr/>
        </p:nvCxnSpPr>
        <p:spPr>
          <a:xfrm flipV="1">
            <a:off x="6049778" y="3304003"/>
            <a:ext cx="921633" cy="2338126"/>
          </a:xfrm>
          <a:prstGeom prst="bentConnector2">
            <a:avLst/>
          </a:prstGeom>
          <a:ln w="28575">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3" name="직사각형 52"/>
          <p:cNvSpPr/>
          <p:nvPr/>
        </p:nvSpPr>
        <p:spPr>
          <a:xfrm>
            <a:off x="6083503" y="5595458"/>
            <a:ext cx="2735755" cy="634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solidFill>
              </a:rPr>
              <a:t>특허출원서에 첨부된 명세서</a:t>
            </a:r>
            <a:r>
              <a:rPr lang="en-US" altLang="ko-KR" sz="1200" dirty="0">
                <a:solidFill>
                  <a:schemeClr val="tx1"/>
                </a:solidFill>
              </a:rPr>
              <a:t>, </a:t>
            </a:r>
            <a:r>
              <a:rPr lang="ko-KR" altLang="en-US" sz="1200" dirty="0">
                <a:solidFill>
                  <a:schemeClr val="tx1"/>
                </a:solidFill>
              </a:rPr>
              <a:t>도면 또는 </a:t>
            </a:r>
            <a:r>
              <a:rPr lang="ko-KR" altLang="en-US" sz="1200" dirty="0" err="1">
                <a:solidFill>
                  <a:schemeClr val="tx1"/>
                </a:solidFill>
              </a:rPr>
              <a:t>요약서에</a:t>
            </a:r>
            <a:r>
              <a:rPr lang="ko-KR" altLang="en-US" sz="1200" dirty="0">
                <a:solidFill>
                  <a:schemeClr val="tx1"/>
                </a:solidFill>
              </a:rPr>
              <a:t> 적힌 사항이 명백히 잘못된 경우 </a:t>
            </a:r>
          </a:p>
        </p:txBody>
      </p:sp>
      <p:sp>
        <p:nvSpPr>
          <p:cNvPr id="54" name="Rectangle 5"/>
          <p:cNvSpPr>
            <a:spLocks noChangeArrowheads="1"/>
          </p:cNvSpPr>
          <p:nvPr/>
        </p:nvSpPr>
        <p:spPr bwMode="auto">
          <a:xfrm>
            <a:off x="347687" y="1505158"/>
            <a:ext cx="6119523"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a:solidFill>
                  <a:schemeClr val="bg1"/>
                </a:solidFill>
                <a:latin typeface="+mj-ea"/>
                <a:ea typeface="+mj-ea"/>
              </a:rPr>
              <a:t>발생한 새로운 거절이유가 </a:t>
            </a:r>
            <a:r>
              <a:rPr lang="ko-KR" altLang="en-US" sz="1600" dirty="0" err="1">
                <a:solidFill>
                  <a:schemeClr val="bg1"/>
                </a:solidFill>
                <a:latin typeface="+mj-ea"/>
                <a:ea typeface="+mj-ea"/>
              </a:rPr>
              <a:t>직권보정</a:t>
            </a:r>
            <a:r>
              <a:rPr lang="en-US" altLang="ko-KR" sz="1600" dirty="0">
                <a:solidFill>
                  <a:schemeClr val="bg1"/>
                </a:solidFill>
                <a:latin typeface="+mj-ea"/>
                <a:ea typeface="+mj-ea"/>
              </a:rPr>
              <a:t>(</a:t>
            </a:r>
            <a:r>
              <a:rPr lang="ko-KR" altLang="en-US" sz="1600" dirty="0">
                <a:solidFill>
                  <a:schemeClr val="bg1"/>
                </a:solidFill>
                <a:latin typeface="+mj-ea"/>
                <a:ea typeface="+mj-ea"/>
              </a:rPr>
              <a:t>法 </a:t>
            </a:r>
            <a:r>
              <a:rPr lang="en-US" altLang="ko-KR" sz="1600" dirty="0">
                <a:solidFill>
                  <a:schemeClr val="bg1"/>
                </a:solidFill>
                <a:latin typeface="+mj-ea"/>
                <a:ea typeface="+mj-ea"/>
              </a:rPr>
              <a:t>66</a:t>
            </a:r>
            <a:r>
              <a:rPr lang="ko-KR" altLang="en-US" sz="1600" dirty="0">
                <a:solidFill>
                  <a:schemeClr val="bg1"/>
                </a:solidFill>
                <a:latin typeface="+mj-ea"/>
                <a:ea typeface="+mj-ea"/>
              </a:rPr>
              <a:t>의</a:t>
            </a:r>
            <a:r>
              <a:rPr lang="en-US" altLang="ko-KR" sz="1600" dirty="0">
                <a:solidFill>
                  <a:schemeClr val="bg1"/>
                </a:solidFill>
                <a:latin typeface="+mj-ea"/>
                <a:ea typeface="+mj-ea"/>
              </a:rPr>
              <a:t>2)</a:t>
            </a:r>
            <a:r>
              <a:rPr lang="ko-KR" altLang="en-US" sz="1600" dirty="0">
                <a:solidFill>
                  <a:schemeClr val="bg1"/>
                </a:solidFill>
                <a:latin typeface="+mj-ea"/>
                <a:ea typeface="+mj-ea"/>
              </a:rPr>
              <a:t>을 할 수 있는 경우</a:t>
            </a:r>
            <a:endParaRPr lang="ko-KR" altLang="en-US" sz="1600" b="0" dirty="0">
              <a:solidFill>
                <a:schemeClr val="bg1"/>
              </a:solidFill>
              <a:latin typeface="+mj-ea"/>
              <a:ea typeface="+mj-ea"/>
            </a:endParaRPr>
          </a:p>
        </p:txBody>
      </p:sp>
      <p:sp>
        <p:nvSpPr>
          <p:cNvPr id="5" name="슬라이드 번호 개체 틀 4"/>
          <p:cNvSpPr>
            <a:spLocks noGrp="1"/>
          </p:cNvSpPr>
          <p:nvPr>
            <p:ph type="sldNum" sz="quarter" idx="12"/>
          </p:nvPr>
        </p:nvSpPr>
        <p:spPr/>
        <p:txBody>
          <a:bodyPr/>
          <a:lstStyle/>
          <a:p>
            <a:r>
              <a:rPr lang="en-US" altLang="ko-KR"/>
              <a:t>184</a:t>
            </a:r>
            <a:endParaRPr lang="ko-KR" altLang="en-US"/>
          </a:p>
        </p:txBody>
      </p:sp>
    </p:spTree>
    <p:extLst>
      <p:ext uri="{BB962C8B-B14F-4D97-AF65-F5344CB8AC3E}">
        <p14:creationId xmlns:p14="http://schemas.microsoft.com/office/powerpoint/2010/main" val="303669280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5" name="직선 화살표 연결선 124"/>
          <p:cNvCxnSpPr/>
          <p:nvPr/>
        </p:nvCxnSpPr>
        <p:spPr>
          <a:xfrm>
            <a:off x="1003596" y="2982913"/>
            <a:ext cx="965835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r>
              <a:rPr lang="en-US" altLang="ko-KR" dirty="0"/>
              <a:t>, </a:t>
            </a:r>
            <a:r>
              <a:rPr lang="ko-KR" altLang="en-US" dirty="0"/>
              <a:t>제</a:t>
            </a:r>
            <a:r>
              <a:rPr lang="en-US" altLang="ko-KR" dirty="0"/>
              <a:t>51</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t>보정각하의</a:t>
            </a:r>
            <a:r>
              <a:rPr lang="ko-KR" altLang="en-US" dirty="0"/>
              <a:t> 예외</a:t>
            </a:r>
            <a:r>
              <a:rPr lang="en-US" altLang="ko-KR" dirty="0"/>
              <a:t>(</a:t>
            </a:r>
            <a:r>
              <a:rPr lang="ko-KR" altLang="en-US" dirty="0"/>
              <a:t>제</a:t>
            </a:r>
            <a:r>
              <a:rPr lang="en-US" altLang="ko-KR" dirty="0"/>
              <a:t>51</a:t>
            </a:r>
            <a:r>
              <a:rPr lang="ko-KR" altLang="en-US" dirty="0"/>
              <a:t>조제</a:t>
            </a:r>
            <a:r>
              <a:rPr lang="en-US" altLang="ko-KR" dirty="0"/>
              <a:t>1</a:t>
            </a:r>
            <a:r>
              <a:rPr lang="ko-KR" altLang="en-US" dirty="0" err="1"/>
              <a:t>항제</a:t>
            </a:r>
            <a:r>
              <a:rPr lang="en-US" altLang="ko-KR" dirty="0"/>
              <a:t>2</a:t>
            </a:r>
            <a:r>
              <a:rPr lang="ko-KR" altLang="en-US" dirty="0"/>
              <a:t>호</a:t>
            </a:r>
            <a:r>
              <a:rPr lang="en-US" altLang="ko-KR" dirty="0"/>
              <a:t>)</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92" name="Rectangle 5"/>
          <p:cNvSpPr>
            <a:spLocks noChangeArrowheads="1"/>
          </p:cNvSpPr>
          <p:nvPr/>
        </p:nvSpPr>
        <p:spPr bwMode="auto">
          <a:xfrm>
            <a:off x="347687" y="1094336"/>
            <a:ext cx="6119523"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a:solidFill>
                  <a:schemeClr val="bg1"/>
                </a:solidFill>
                <a:latin typeface="+mj-ea"/>
                <a:ea typeface="+mj-ea"/>
              </a:rPr>
              <a:t>취소된 </a:t>
            </a:r>
            <a:r>
              <a:rPr lang="ko-KR" altLang="en-US" sz="1600" dirty="0" err="1">
                <a:solidFill>
                  <a:schemeClr val="bg1"/>
                </a:solidFill>
                <a:latin typeface="+mj-ea"/>
                <a:ea typeface="+mj-ea"/>
              </a:rPr>
              <a:t>특허결정</a:t>
            </a:r>
            <a:r>
              <a:rPr lang="ko-KR" altLang="en-US" sz="1600" dirty="0">
                <a:solidFill>
                  <a:schemeClr val="bg1"/>
                </a:solidFill>
                <a:latin typeface="+mj-ea"/>
                <a:ea typeface="+mj-ea"/>
              </a:rPr>
              <a:t> 전에 한 </a:t>
            </a:r>
            <a:r>
              <a:rPr lang="ko-KR" altLang="en-US" sz="1600" dirty="0" err="1">
                <a:solidFill>
                  <a:schemeClr val="bg1"/>
                </a:solidFill>
                <a:latin typeface="+mj-ea"/>
                <a:ea typeface="+mj-ea"/>
              </a:rPr>
              <a:t>부적법한</a:t>
            </a:r>
            <a:r>
              <a:rPr lang="ko-KR" altLang="en-US" sz="1600" dirty="0">
                <a:solidFill>
                  <a:schemeClr val="bg1"/>
                </a:solidFill>
                <a:latin typeface="+mj-ea"/>
                <a:ea typeface="+mj-ea"/>
              </a:rPr>
              <a:t> 보정이 직권 재심사 후 발견된 경우</a:t>
            </a:r>
            <a:endParaRPr lang="ko-KR" altLang="en-US" sz="1600" b="0" dirty="0">
              <a:solidFill>
                <a:schemeClr val="bg1"/>
              </a:solidFill>
              <a:latin typeface="+mj-ea"/>
              <a:ea typeface="+mj-ea"/>
            </a:endParaRPr>
          </a:p>
        </p:txBody>
      </p:sp>
      <p:sp>
        <p:nvSpPr>
          <p:cNvPr id="91" name="직사각형 90"/>
          <p:cNvSpPr/>
          <p:nvPr/>
        </p:nvSpPr>
        <p:spPr>
          <a:xfrm>
            <a:off x="772664" y="2730500"/>
            <a:ext cx="767463" cy="504825"/>
          </a:xfrm>
          <a:prstGeom prst="rect">
            <a:avLst/>
          </a:prstGeom>
          <a:solidFill>
            <a:schemeClr val="tx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p>
        </p:txBody>
      </p:sp>
      <p:sp>
        <p:nvSpPr>
          <p:cNvPr id="93" name="직사각형 92"/>
          <p:cNvSpPr/>
          <p:nvPr/>
        </p:nvSpPr>
        <p:spPr>
          <a:xfrm>
            <a:off x="2115870" y="240227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1</a:t>
            </a:r>
            <a:endParaRPr lang="ko-KR" altLang="en-US" sz="1200" dirty="0">
              <a:solidFill>
                <a:schemeClr val="tx1"/>
              </a:solidFill>
            </a:endParaRPr>
          </a:p>
        </p:txBody>
      </p:sp>
      <p:cxnSp>
        <p:nvCxnSpPr>
          <p:cNvPr id="94" name="직선 화살표 연결선 93"/>
          <p:cNvCxnSpPr>
            <a:stCxn id="93" idx="2"/>
          </p:cNvCxnSpPr>
          <p:nvPr/>
        </p:nvCxnSpPr>
        <p:spPr>
          <a:xfrm>
            <a:off x="2438890" y="265469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5" name="직사각형 94"/>
          <p:cNvSpPr/>
          <p:nvPr/>
        </p:nvSpPr>
        <p:spPr>
          <a:xfrm>
            <a:off x="2584877" y="2853140"/>
            <a:ext cx="693430"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최초</a:t>
            </a:r>
          </a:p>
        </p:txBody>
      </p:sp>
      <p:sp>
        <p:nvSpPr>
          <p:cNvPr id="96" name="직사각형 95"/>
          <p:cNvSpPr/>
          <p:nvPr/>
        </p:nvSpPr>
        <p:spPr>
          <a:xfrm>
            <a:off x="3194081" y="3402012"/>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2</a:t>
            </a:r>
            <a:endParaRPr lang="ko-KR" altLang="en-US" sz="1200" dirty="0">
              <a:solidFill>
                <a:schemeClr val="tx1"/>
              </a:solidFill>
            </a:endParaRPr>
          </a:p>
        </p:txBody>
      </p:sp>
      <p:cxnSp>
        <p:nvCxnSpPr>
          <p:cNvPr id="97" name="직선 화살표 연결선 96"/>
          <p:cNvCxnSpPr>
            <a:stCxn id="96" idx="0"/>
          </p:cNvCxnSpPr>
          <p:nvPr/>
        </p:nvCxnSpPr>
        <p:spPr>
          <a:xfrm flipH="1" flipV="1">
            <a:off x="3565815" y="297934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8" name="직사각형 97"/>
          <p:cNvSpPr/>
          <p:nvPr/>
        </p:nvSpPr>
        <p:spPr>
          <a:xfrm>
            <a:off x="3679986" y="240227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2</a:t>
            </a:r>
            <a:endParaRPr lang="ko-KR" altLang="en-US" sz="1200" dirty="0">
              <a:solidFill>
                <a:schemeClr val="tx1"/>
              </a:solidFill>
            </a:endParaRPr>
          </a:p>
        </p:txBody>
      </p:sp>
      <p:cxnSp>
        <p:nvCxnSpPr>
          <p:cNvPr id="99" name="직선 화살표 연결선 98"/>
          <p:cNvCxnSpPr>
            <a:stCxn id="98" idx="2"/>
          </p:cNvCxnSpPr>
          <p:nvPr/>
        </p:nvCxnSpPr>
        <p:spPr>
          <a:xfrm>
            <a:off x="4003006" y="265469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0" name="직사각형 99"/>
          <p:cNvSpPr/>
          <p:nvPr/>
        </p:nvSpPr>
        <p:spPr>
          <a:xfrm>
            <a:off x="4164410" y="2853140"/>
            <a:ext cx="783810"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최후</a:t>
            </a:r>
          </a:p>
        </p:txBody>
      </p:sp>
      <p:sp>
        <p:nvSpPr>
          <p:cNvPr id="103" name="직사각형 102"/>
          <p:cNvSpPr/>
          <p:nvPr/>
        </p:nvSpPr>
        <p:spPr>
          <a:xfrm>
            <a:off x="5007637" y="3402012"/>
            <a:ext cx="746998" cy="2524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3</a:t>
            </a:r>
            <a:endParaRPr lang="ko-KR" altLang="en-US" sz="1200" dirty="0">
              <a:solidFill>
                <a:schemeClr val="tx1"/>
              </a:solidFill>
            </a:endParaRPr>
          </a:p>
        </p:txBody>
      </p:sp>
      <p:cxnSp>
        <p:nvCxnSpPr>
          <p:cNvPr id="106" name="직선 화살표 연결선 105"/>
          <p:cNvCxnSpPr>
            <a:stCxn id="103" idx="0"/>
          </p:cNvCxnSpPr>
          <p:nvPr/>
        </p:nvCxnSpPr>
        <p:spPr>
          <a:xfrm flipH="1" flipV="1">
            <a:off x="5379371" y="297934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8" name="직사각형 107"/>
          <p:cNvSpPr/>
          <p:nvPr/>
        </p:nvSpPr>
        <p:spPr>
          <a:xfrm>
            <a:off x="1569706" y="3402012"/>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1</a:t>
            </a:r>
            <a:endParaRPr lang="ko-KR" altLang="en-US" sz="1200" dirty="0">
              <a:solidFill>
                <a:schemeClr val="tx1"/>
              </a:solidFill>
            </a:endParaRPr>
          </a:p>
        </p:txBody>
      </p:sp>
      <p:cxnSp>
        <p:nvCxnSpPr>
          <p:cNvPr id="109" name="직선 화살표 연결선 108"/>
          <p:cNvCxnSpPr>
            <a:stCxn id="108" idx="0"/>
          </p:cNvCxnSpPr>
          <p:nvPr/>
        </p:nvCxnSpPr>
        <p:spPr>
          <a:xfrm flipH="1" flipV="1">
            <a:off x="1941440" y="297934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p:cNvSpPr/>
          <p:nvPr/>
        </p:nvSpPr>
        <p:spPr>
          <a:xfrm>
            <a:off x="1549240" y="4065728"/>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42③Ⅰ</a:t>
            </a:r>
            <a:endParaRPr lang="ko-KR" altLang="en-US" sz="1050" dirty="0">
              <a:solidFill>
                <a:schemeClr val="tx1"/>
              </a:solidFill>
            </a:endParaRPr>
          </a:p>
        </p:txBody>
      </p:sp>
      <p:sp>
        <p:nvSpPr>
          <p:cNvPr id="114" name="직사각형 113"/>
          <p:cNvSpPr/>
          <p:nvPr/>
        </p:nvSpPr>
        <p:spPr>
          <a:xfrm>
            <a:off x="3194081" y="4068499"/>
            <a:ext cx="746998" cy="2524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p>
        </p:txBody>
      </p:sp>
      <p:sp>
        <p:nvSpPr>
          <p:cNvPr id="115" name="직사각형 114"/>
          <p:cNvSpPr/>
          <p:nvPr/>
        </p:nvSpPr>
        <p:spPr>
          <a:xfrm>
            <a:off x="3173615" y="4494353"/>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29②</a:t>
            </a:r>
            <a:endParaRPr lang="ko-KR" altLang="en-US" sz="1050" dirty="0">
              <a:solidFill>
                <a:schemeClr val="tx1"/>
              </a:solidFill>
              <a:latin typeface="+mn-ea"/>
            </a:endParaRPr>
          </a:p>
        </p:txBody>
      </p:sp>
      <p:cxnSp>
        <p:nvCxnSpPr>
          <p:cNvPr id="116" name="꺾인 연결선 115"/>
          <p:cNvCxnSpPr>
            <a:stCxn id="113" idx="3"/>
            <a:endCxn id="95" idx="2"/>
          </p:cNvCxnSpPr>
          <p:nvPr/>
        </p:nvCxnSpPr>
        <p:spPr>
          <a:xfrm flipV="1">
            <a:off x="2316704" y="3105553"/>
            <a:ext cx="614888" cy="1086382"/>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꺾인 연결선 116"/>
          <p:cNvCxnSpPr>
            <a:stCxn id="115" idx="3"/>
            <a:endCxn id="100" idx="2"/>
          </p:cNvCxnSpPr>
          <p:nvPr/>
        </p:nvCxnSpPr>
        <p:spPr>
          <a:xfrm flipV="1">
            <a:off x="3941079" y="3105553"/>
            <a:ext cx="615236" cy="1515007"/>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8" name="직사각형 117"/>
          <p:cNvSpPr/>
          <p:nvPr/>
        </p:nvSpPr>
        <p:spPr>
          <a:xfrm>
            <a:off x="5020109" y="5443210"/>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36</a:t>
            </a:r>
            <a:endParaRPr lang="ko-KR" altLang="en-US" sz="1050" dirty="0">
              <a:solidFill>
                <a:schemeClr val="tx1"/>
              </a:solidFill>
              <a:latin typeface="+mn-ea"/>
            </a:endParaRPr>
          </a:p>
        </p:txBody>
      </p:sp>
      <p:sp>
        <p:nvSpPr>
          <p:cNvPr id="119" name="직사각형 118"/>
          <p:cNvSpPr/>
          <p:nvPr/>
        </p:nvSpPr>
        <p:spPr>
          <a:xfrm>
            <a:off x="1549240" y="4446450"/>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29①</a:t>
            </a:r>
            <a:endParaRPr lang="ko-KR" altLang="en-US" sz="1050" dirty="0">
              <a:solidFill>
                <a:schemeClr val="tx1"/>
              </a:solidFill>
              <a:latin typeface="+mn-ea"/>
            </a:endParaRPr>
          </a:p>
        </p:txBody>
      </p:sp>
      <p:sp>
        <p:nvSpPr>
          <p:cNvPr id="120" name="직사각형 119"/>
          <p:cNvSpPr/>
          <p:nvPr/>
        </p:nvSpPr>
        <p:spPr>
          <a:xfrm>
            <a:off x="3182621" y="4870327"/>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42⑧</a:t>
            </a:r>
            <a:endParaRPr lang="ko-KR" altLang="en-US" sz="1050" dirty="0">
              <a:solidFill>
                <a:schemeClr val="tx1"/>
              </a:solidFill>
              <a:latin typeface="+mn-ea"/>
            </a:endParaRPr>
          </a:p>
        </p:txBody>
      </p:sp>
      <p:sp>
        <p:nvSpPr>
          <p:cNvPr id="121" name="직사각형 120"/>
          <p:cNvSpPr/>
          <p:nvPr/>
        </p:nvSpPr>
        <p:spPr>
          <a:xfrm>
            <a:off x="4824009" y="5421699"/>
            <a:ext cx="392200"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❹</a:t>
            </a:r>
          </a:p>
        </p:txBody>
      </p:sp>
      <p:sp>
        <p:nvSpPr>
          <p:cNvPr id="122" name="직사각형 121"/>
          <p:cNvSpPr/>
          <p:nvPr/>
        </p:nvSpPr>
        <p:spPr>
          <a:xfrm>
            <a:off x="1335024" y="4389105"/>
            <a:ext cx="415969"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❶</a:t>
            </a:r>
          </a:p>
        </p:txBody>
      </p:sp>
      <p:sp>
        <p:nvSpPr>
          <p:cNvPr id="123" name="직사각형 122"/>
          <p:cNvSpPr/>
          <p:nvPr/>
        </p:nvSpPr>
        <p:spPr>
          <a:xfrm>
            <a:off x="2987552" y="4207453"/>
            <a:ext cx="364983"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❷</a:t>
            </a:r>
          </a:p>
        </p:txBody>
      </p:sp>
      <p:sp>
        <p:nvSpPr>
          <p:cNvPr id="124" name="직사각형 123"/>
          <p:cNvSpPr/>
          <p:nvPr/>
        </p:nvSpPr>
        <p:spPr>
          <a:xfrm>
            <a:off x="2987552" y="4395688"/>
            <a:ext cx="364983" cy="978729"/>
          </a:xfrm>
          <a:prstGeom prst="rect">
            <a:avLst/>
          </a:prstGeom>
        </p:spPr>
        <p:txBody>
          <a:bodyPr wrap="square">
            <a:spAutoFit/>
          </a:bodyPr>
          <a:lstStyle/>
          <a:p>
            <a:pPr algn="just" fontAlgn="base">
              <a:lnSpc>
                <a:spcPct val="160000"/>
              </a:lnSpc>
            </a:pPr>
            <a:endParaRPr lang="ko-KR" altLang="en-US" kern="0" dirty="0">
              <a:solidFill>
                <a:schemeClr val="accent2">
                  <a:lumMod val="50000"/>
                </a:schemeClr>
              </a:solidFill>
              <a:latin typeface="+mn-ea"/>
            </a:endParaRPr>
          </a:p>
          <a:p>
            <a:pPr algn="just" fontAlgn="base">
              <a:lnSpc>
                <a:spcPct val="160000"/>
              </a:lnSpc>
            </a:pPr>
            <a:r>
              <a:rPr lang="ko-KR" altLang="en-US" kern="0" dirty="0">
                <a:solidFill>
                  <a:schemeClr val="accent2">
                    <a:lumMod val="50000"/>
                  </a:schemeClr>
                </a:solidFill>
                <a:latin typeface="+mn-ea"/>
              </a:rPr>
              <a:t>❸</a:t>
            </a:r>
          </a:p>
        </p:txBody>
      </p:sp>
      <p:sp>
        <p:nvSpPr>
          <p:cNvPr id="126" name="직사각형 125"/>
          <p:cNvSpPr/>
          <p:nvPr/>
        </p:nvSpPr>
        <p:spPr>
          <a:xfrm>
            <a:off x="6567802" y="2723369"/>
            <a:ext cx="807218" cy="511956"/>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bg1"/>
                </a:solidFill>
              </a:rPr>
              <a:t>특허결정</a:t>
            </a:r>
            <a:endParaRPr lang="en-US" altLang="ko-KR" sz="1200" dirty="0">
              <a:solidFill>
                <a:schemeClr val="bg1"/>
              </a:solidFill>
            </a:endParaRPr>
          </a:p>
          <a:p>
            <a:pPr algn="ctr"/>
            <a:r>
              <a:rPr lang="en-US" altLang="ko-KR" sz="1200" dirty="0">
                <a:solidFill>
                  <a:schemeClr val="bg1"/>
                </a:solidFill>
              </a:rPr>
              <a:t>(</a:t>
            </a:r>
            <a:r>
              <a:rPr lang="ko-KR" altLang="en-US" sz="1200" dirty="0">
                <a:solidFill>
                  <a:schemeClr val="bg1"/>
                </a:solidFill>
              </a:rPr>
              <a:t>착오</a:t>
            </a:r>
            <a:r>
              <a:rPr lang="en-US" altLang="ko-KR" sz="1200" dirty="0">
                <a:solidFill>
                  <a:schemeClr val="bg1"/>
                </a:solidFill>
              </a:rPr>
              <a:t>)</a:t>
            </a:r>
            <a:endParaRPr lang="ko-KR" altLang="en-US" sz="1200" dirty="0">
              <a:solidFill>
                <a:schemeClr val="bg1"/>
              </a:solidFill>
            </a:endParaRPr>
          </a:p>
        </p:txBody>
      </p:sp>
      <p:sp>
        <p:nvSpPr>
          <p:cNvPr id="137" name="직사각형 136"/>
          <p:cNvSpPr/>
          <p:nvPr/>
        </p:nvSpPr>
        <p:spPr>
          <a:xfrm>
            <a:off x="8063378" y="2853141"/>
            <a:ext cx="1121260" cy="252412"/>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bg1"/>
                </a:solidFill>
              </a:rPr>
              <a:t>특허결정취소</a:t>
            </a:r>
            <a:endParaRPr lang="ko-KR" altLang="en-US" sz="1200" dirty="0">
              <a:solidFill>
                <a:schemeClr val="bg1"/>
              </a:solidFill>
            </a:endParaRPr>
          </a:p>
        </p:txBody>
      </p:sp>
      <p:sp>
        <p:nvSpPr>
          <p:cNvPr id="144" name="직사각형 143"/>
          <p:cNvSpPr/>
          <p:nvPr/>
        </p:nvSpPr>
        <p:spPr>
          <a:xfrm>
            <a:off x="7389073" y="3522613"/>
            <a:ext cx="746998" cy="435787"/>
          </a:xfrm>
          <a:prstGeom prst="rect">
            <a:avLst/>
          </a:prstGeom>
          <a:solidFill>
            <a:schemeClr val="bg1">
              <a:lumMod val="6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정보제공</a:t>
            </a:r>
          </a:p>
        </p:txBody>
      </p:sp>
      <p:cxnSp>
        <p:nvCxnSpPr>
          <p:cNvPr id="145" name="직선 화살표 연결선 144"/>
          <p:cNvCxnSpPr>
            <a:stCxn id="144" idx="0"/>
          </p:cNvCxnSpPr>
          <p:nvPr/>
        </p:nvCxnSpPr>
        <p:spPr>
          <a:xfrm flipH="1" flipV="1">
            <a:off x="7760807" y="2999482"/>
            <a:ext cx="1765" cy="52313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8" name="직사각형 147"/>
          <p:cNvSpPr/>
          <p:nvPr/>
        </p:nvSpPr>
        <p:spPr>
          <a:xfrm>
            <a:off x="5726758" y="240227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3</a:t>
            </a:r>
            <a:endParaRPr lang="ko-KR" altLang="en-US" sz="1200" dirty="0">
              <a:solidFill>
                <a:schemeClr val="tx1"/>
              </a:solidFill>
            </a:endParaRPr>
          </a:p>
        </p:txBody>
      </p:sp>
      <p:cxnSp>
        <p:nvCxnSpPr>
          <p:cNvPr id="153" name="직선 화살표 연결선 152"/>
          <p:cNvCxnSpPr>
            <a:stCxn id="148" idx="2"/>
          </p:cNvCxnSpPr>
          <p:nvPr/>
        </p:nvCxnSpPr>
        <p:spPr>
          <a:xfrm>
            <a:off x="6049778" y="265469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0" name="직사각형 159"/>
          <p:cNvSpPr/>
          <p:nvPr/>
        </p:nvSpPr>
        <p:spPr>
          <a:xfrm>
            <a:off x="8980215" y="3381545"/>
            <a:ext cx="1000384" cy="252413"/>
          </a:xfrm>
          <a:prstGeom prst="rect">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직권 재심사</a:t>
            </a:r>
            <a:r>
              <a:rPr lang="en-US" altLang="ko-KR" sz="1200" dirty="0">
                <a:solidFill>
                  <a:schemeClr val="bg1"/>
                </a:solidFill>
              </a:rPr>
              <a:t>4</a:t>
            </a:r>
            <a:endParaRPr lang="ko-KR" altLang="en-US" sz="1200" dirty="0">
              <a:solidFill>
                <a:schemeClr val="bg1"/>
              </a:solidFill>
            </a:endParaRPr>
          </a:p>
        </p:txBody>
      </p:sp>
      <p:cxnSp>
        <p:nvCxnSpPr>
          <p:cNvPr id="164" name="직선 화살표 연결선 163"/>
          <p:cNvCxnSpPr>
            <a:stCxn id="160" idx="0"/>
          </p:cNvCxnSpPr>
          <p:nvPr/>
        </p:nvCxnSpPr>
        <p:spPr>
          <a:xfrm flipV="1">
            <a:off x="9488953" y="2979346"/>
            <a:ext cx="0" cy="40219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5" name="직사각형 164"/>
          <p:cNvSpPr/>
          <p:nvPr/>
        </p:nvSpPr>
        <p:spPr>
          <a:xfrm>
            <a:off x="8953678" y="4900858"/>
            <a:ext cx="2183611" cy="954107"/>
          </a:xfrm>
          <a:prstGeom prst="rect">
            <a:avLst/>
          </a:prstGeom>
          <a:ln>
            <a:solidFill>
              <a:schemeClr val="bg1">
                <a:lumMod val="50000"/>
              </a:schemeClr>
            </a:solidFill>
          </a:ln>
        </p:spPr>
        <p:txBody>
          <a:bodyPr wrap="none">
            <a:spAutoFit/>
          </a:bodyPr>
          <a:lstStyle/>
          <a:p>
            <a:pPr fontAlgn="base"/>
            <a:r>
              <a:rPr lang="ko-KR" altLang="en-US" sz="1400" kern="0" dirty="0">
                <a:solidFill>
                  <a:srgbClr val="FF0000"/>
                </a:solidFill>
                <a:latin typeface="+mn-ea"/>
              </a:rPr>
              <a:t>❶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r>
              <a:rPr lang="en-US" altLang="ko-KR" sz="1400" kern="0" dirty="0">
                <a:solidFill>
                  <a:srgbClr val="FF0000"/>
                </a:solidFill>
                <a:latin typeface="+mn-ea"/>
              </a:rPr>
              <a:t> </a:t>
            </a:r>
          </a:p>
          <a:p>
            <a:pPr fontAlgn="base"/>
            <a:r>
              <a:rPr lang="ko-KR" altLang="en-US" sz="1400" kern="0" dirty="0">
                <a:solidFill>
                  <a:srgbClr val="FF0000"/>
                </a:solidFill>
                <a:latin typeface="+mn-ea"/>
              </a:rPr>
              <a:t>❷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endParaRPr lang="en-US" altLang="ko-KR" sz="1400" kern="0" dirty="0">
              <a:solidFill>
                <a:srgbClr val="FF0000"/>
              </a:solidFill>
              <a:latin typeface="+mn-ea"/>
            </a:endParaRPr>
          </a:p>
          <a:p>
            <a:pPr fontAlgn="base"/>
            <a:r>
              <a:rPr lang="ko-KR" altLang="en-US" sz="1400" kern="0" dirty="0">
                <a:solidFill>
                  <a:srgbClr val="FF0000"/>
                </a:solidFill>
                <a:latin typeface="+mn-ea"/>
              </a:rPr>
              <a:t>❸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endParaRPr lang="en-US" altLang="ko-KR" sz="1400" kern="0" dirty="0">
              <a:solidFill>
                <a:srgbClr val="FF0000"/>
              </a:solidFill>
              <a:latin typeface="+mn-ea"/>
            </a:endParaRPr>
          </a:p>
          <a:p>
            <a:pPr fontAlgn="base"/>
            <a:r>
              <a:rPr lang="ko-KR" altLang="en-US" sz="1400" kern="0" dirty="0">
                <a:solidFill>
                  <a:srgbClr val="FF0000"/>
                </a:solidFill>
                <a:latin typeface="+mn-ea"/>
              </a:rPr>
              <a:t>❹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endParaRPr lang="en-US" altLang="ko-KR" sz="1400" kern="0" dirty="0">
              <a:solidFill>
                <a:srgbClr val="FF0000"/>
              </a:solidFill>
              <a:latin typeface="+mn-ea"/>
            </a:endParaRPr>
          </a:p>
        </p:txBody>
      </p:sp>
      <p:sp>
        <p:nvSpPr>
          <p:cNvPr id="44" name="TextBox 43"/>
          <p:cNvSpPr txBox="1"/>
          <p:nvPr/>
        </p:nvSpPr>
        <p:spPr>
          <a:xfrm>
            <a:off x="8983365" y="3992037"/>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1. </a:t>
            </a:r>
            <a:r>
              <a:rPr lang="ko-KR" altLang="en-US" sz="1100" dirty="0"/>
              <a:t>원거절이유의 </a:t>
            </a:r>
            <a:r>
              <a:rPr lang="ko-KR" altLang="en-US" sz="1100" dirty="0" err="1"/>
              <a:t>해소여부</a:t>
            </a:r>
            <a:endParaRPr lang="ko-KR" altLang="en-US" dirty="0"/>
          </a:p>
        </p:txBody>
      </p:sp>
      <p:sp>
        <p:nvSpPr>
          <p:cNvPr id="45" name="TextBox 44"/>
          <p:cNvSpPr txBox="1"/>
          <p:nvPr/>
        </p:nvSpPr>
        <p:spPr>
          <a:xfrm>
            <a:off x="8983365" y="4279048"/>
            <a:ext cx="2390207"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2. </a:t>
            </a:r>
            <a:r>
              <a:rPr lang="ko-KR" altLang="en-US" sz="1100" dirty="0"/>
              <a:t>새로운 </a:t>
            </a:r>
            <a:r>
              <a:rPr lang="ko-KR" altLang="en-US" sz="1100" dirty="0" err="1"/>
              <a:t>거절이유의</a:t>
            </a:r>
            <a:r>
              <a:rPr lang="ko-KR" altLang="en-US" sz="1100" dirty="0"/>
              <a:t> </a:t>
            </a:r>
            <a:r>
              <a:rPr lang="ko-KR" altLang="en-US" sz="1100" dirty="0" err="1"/>
              <a:t>발견여부</a:t>
            </a:r>
            <a:endParaRPr lang="ko-KR" altLang="en-US" sz="1100" dirty="0"/>
          </a:p>
        </p:txBody>
      </p:sp>
      <p:sp>
        <p:nvSpPr>
          <p:cNvPr id="46" name="TextBox 45"/>
          <p:cNvSpPr txBox="1"/>
          <p:nvPr/>
        </p:nvSpPr>
        <p:spPr>
          <a:xfrm>
            <a:off x="8983366" y="4577374"/>
            <a:ext cx="2397889"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3. </a:t>
            </a:r>
            <a:r>
              <a:rPr lang="ko-KR" altLang="en-US" sz="1100" dirty="0"/>
              <a:t>새로운 거절이유의 발생시점</a:t>
            </a:r>
          </a:p>
        </p:txBody>
      </p:sp>
      <p:sp>
        <p:nvSpPr>
          <p:cNvPr id="47" name="TextBox 46"/>
          <p:cNvSpPr txBox="1"/>
          <p:nvPr/>
        </p:nvSpPr>
        <p:spPr>
          <a:xfrm>
            <a:off x="8983365" y="3696790"/>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0. </a:t>
            </a:r>
            <a:r>
              <a:rPr lang="ko-KR" altLang="en-US" sz="1100" dirty="0"/>
              <a:t>보정의 적법성</a:t>
            </a:r>
          </a:p>
        </p:txBody>
      </p:sp>
      <p:sp>
        <p:nvSpPr>
          <p:cNvPr id="5" name="슬라이드 번호 개체 틀 4"/>
          <p:cNvSpPr>
            <a:spLocks noGrp="1"/>
          </p:cNvSpPr>
          <p:nvPr>
            <p:ph type="sldNum" sz="quarter" idx="12"/>
          </p:nvPr>
        </p:nvSpPr>
        <p:spPr/>
        <p:txBody>
          <a:bodyPr/>
          <a:lstStyle/>
          <a:p>
            <a:r>
              <a:rPr lang="en-US" altLang="ko-KR"/>
              <a:t>185</a:t>
            </a:r>
            <a:endParaRPr lang="ko-KR" altLang="en-US"/>
          </a:p>
        </p:txBody>
      </p:sp>
      <p:sp>
        <p:nvSpPr>
          <p:cNvPr id="6" name="TextBox 5">
            <a:extLst>
              <a:ext uri="{FF2B5EF4-FFF2-40B4-BE49-F238E27FC236}">
                <a16:creationId xmlns:a16="http://schemas.microsoft.com/office/drawing/2014/main" id="{19E4AD60-A424-7981-4F2A-43BE63AF280C}"/>
              </a:ext>
            </a:extLst>
          </p:cNvPr>
          <p:cNvSpPr txBox="1"/>
          <p:nvPr/>
        </p:nvSpPr>
        <p:spPr>
          <a:xfrm>
            <a:off x="8949510" y="2282565"/>
            <a:ext cx="774571" cy="369332"/>
          </a:xfrm>
          <a:prstGeom prst="rect">
            <a:avLst/>
          </a:prstGeom>
          <a:noFill/>
        </p:spPr>
        <p:txBody>
          <a:bodyPr wrap="none" rtlCol="0">
            <a:spAutoFit/>
          </a:bodyPr>
          <a:lstStyle/>
          <a:p>
            <a:pPr algn="ctr"/>
            <a:r>
              <a:rPr lang="en-US" altLang="ko-KR" dirty="0">
                <a:solidFill>
                  <a:srgbClr val="FF0000"/>
                </a:solidFill>
              </a:rPr>
              <a:t>Reset</a:t>
            </a:r>
          </a:p>
        </p:txBody>
      </p:sp>
      <p:cxnSp>
        <p:nvCxnSpPr>
          <p:cNvPr id="7" name="직선 화살표 연결선 6">
            <a:extLst>
              <a:ext uri="{FF2B5EF4-FFF2-40B4-BE49-F238E27FC236}">
                <a16:creationId xmlns:a16="http://schemas.microsoft.com/office/drawing/2014/main" id="{9E04E6B2-E092-3184-E7F3-A817D22D399E}"/>
              </a:ext>
            </a:extLst>
          </p:cNvPr>
          <p:cNvCxnSpPr>
            <a:stCxn id="6" idx="2"/>
          </p:cNvCxnSpPr>
          <p:nvPr/>
        </p:nvCxnSpPr>
        <p:spPr>
          <a:xfrm flipH="1">
            <a:off x="9336795" y="2651897"/>
            <a:ext cx="1" cy="310355"/>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2521008"/>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42</a:t>
            </a:r>
            <a:r>
              <a:rPr lang="ko-KR" altLang="en-US" dirty="0"/>
              <a:t>조의</a:t>
            </a:r>
            <a:r>
              <a:rPr lang="en-US" altLang="ko-KR" dirty="0"/>
              <a:t>3</a:t>
            </a:r>
            <a:endParaRPr lang="ko-KR" altLang="en-US" dirty="0"/>
          </a:p>
        </p:txBody>
      </p:sp>
      <p:sp>
        <p:nvSpPr>
          <p:cNvPr id="5" name="텍스트 개체 틀 4"/>
          <p:cNvSpPr>
            <a:spLocks noGrp="1"/>
          </p:cNvSpPr>
          <p:nvPr>
            <p:ph type="body" sz="quarter" idx="13"/>
          </p:nvPr>
        </p:nvSpPr>
        <p:spPr/>
        <p:txBody>
          <a:bodyPr/>
          <a:lstStyle/>
          <a:p>
            <a:r>
              <a:rPr lang="ko-KR" altLang="en-US" dirty="0"/>
              <a:t>외국어특허출원 등의 법조문</a:t>
            </a:r>
          </a:p>
        </p:txBody>
      </p:sp>
      <p:cxnSp>
        <p:nvCxnSpPr>
          <p:cNvPr id="60" name="직선 연결선 59"/>
          <p:cNvCxnSpPr/>
          <p:nvPr/>
        </p:nvCxnSpPr>
        <p:spPr>
          <a:xfrm>
            <a:off x="0" y="474377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77875" y="986046"/>
            <a:ext cx="11936323" cy="3754874"/>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42</a:t>
            </a:r>
            <a:r>
              <a:rPr lang="ko-KR" altLang="en-US" sz="1400" b="1" dirty="0">
                <a:solidFill>
                  <a:schemeClr val="accent1"/>
                </a:solidFill>
              </a:rPr>
              <a:t>조의</a:t>
            </a:r>
            <a:r>
              <a:rPr lang="en-US" altLang="ko-KR" sz="1400" b="1" dirty="0">
                <a:solidFill>
                  <a:schemeClr val="accent1"/>
                </a:solidFill>
              </a:rPr>
              <a:t>3(</a:t>
            </a:r>
            <a:r>
              <a:rPr lang="ko-KR" altLang="en-US" sz="1400" b="1" dirty="0">
                <a:solidFill>
                  <a:schemeClr val="accent1"/>
                </a:solidFill>
              </a:rPr>
              <a:t>외국어특허출원 등</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특허출원인이 명세서 및 도면</a:t>
            </a:r>
            <a:r>
              <a:rPr lang="en-US" altLang="ko-KR" sz="1400" dirty="0">
                <a:solidFill>
                  <a:schemeClr val="tx2"/>
                </a:solidFill>
              </a:rPr>
              <a:t>(</a:t>
            </a:r>
            <a:r>
              <a:rPr lang="ko-KR" altLang="en-US" sz="1400" dirty="0">
                <a:solidFill>
                  <a:schemeClr val="tx2"/>
                </a:solidFill>
              </a:rPr>
              <a:t>도면 중 </a:t>
            </a:r>
            <a:r>
              <a:rPr lang="ko-KR" altLang="en-US" sz="1400" dirty="0" err="1">
                <a:solidFill>
                  <a:schemeClr val="tx2"/>
                </a:solidFill>
              </a:rPr>
              <a:t>설명부분에</a:t>
            </a:r>
            <a:r>
              <a:rPr lang="ko-KR" altLang="en-US" sz="1400" dirty="0">
                <a:solidFill>
                  <a:schemeClr val="tx2"/>
                </a:solidFill>
              </a:rPr>
              <a:t> 한정한다</a:t>
            </a:r>
            <a:r>
              <a:rPr lang="en-US" altLang="ko-KR" sz="1400" dirty="0">
                <a:solidFill>
                  <a:schemeClr val="tx2"/>
                </a:solidFill>
              </a:rPr>
              <a:t>. </a:t>
            </a:r>
            <a:r>
              <a:rPr lang="ko-KR" altLang="en-US" sz="1400" dirty="0">
                <a:solidFill>
                  <a:schemeClr val="tx2"/>
                </a:solidFill>
              </a:rPr>
              <a:t>이하 제</a:t>
            </a:r>
            <a:r>
              <a:rPr lang="en-US" altLang="ko-KR" sz="1400" dirty="0">
                <a:solidFill>
                  <a:schemeClr val="tx2"/>
                </a:solidFill>
              </a:rPr>
              <a:t>2</a:t>
            </a:r>
            <a:r>
              <a:rPr lang="ko-KR" altLang="en-US" sz="1400" dirty="0">
                <a:solidFill>
                  <a:schemeClr val="tx2"/>
                </a:solidFill>
              </a:rPr>
              <a:t>항 및 제</a:t>
            </a:r>
            <a:r>
              <a:rPr lang="en-US" altLang="ko-KR" sz="1400" dirty="0">
                <a:solidFill>
                  <a:schemeClr val="tx2"/>
                </a:solidFill>
              </a:rPr>
              <a:t>5</a:t>
            </a:r>
            <a:r>
              <a:rPr lang="ko-KR" altLang="en-US" sz="1400" dirty="0">
                <a:solidFill>
                  <a:schemeClr val="tx2"/>
                </a:solidFill>
              </a:rPr>
              <a:t>항에서 같다</a:t>
            </a:r>
            <a:r>
              <a:rPr lang="en-US" altLang="ko-KR" sz="1400" dirty="0">
                <a:solidFill>
                  <a:schemeClr val="tx2"/>
                </a:solidFill>
              </a:rPr>
              <a:t>)</a:t>
            </a:r>
            <a:r>
              <a:rPr lang="ko-KR" altLang="en-US" sz="1400" dirty="0">
                <a:solidFill>
                  <a:schemeClr val="tx2"/>
                </a:solidFill>
              </a:rPr>
              <a:t>을 국어가 아닌 총리령으로 정하는 언어로 적겠다는 취지를 특허출원을 할 때 특허출원서에 적은 경우에는 그 언어로 적을 수 있다</a:t>
            </a:r>
            <a:r>
              <a:rPr lang="en-US" altLang="ko-KR" sz="1400" dirty="0">
                <a:solidFill>
                  <a:schemeClr val="tx2"/>
                </a:solidFill>
              </a:rPr>
              <a:t>.</a:t>
            </a:r>
          </a:p>
          <a:p>
            <a:pPr fontAlgn="base"/>
            <a:r>
              <a:rPr lang="en-US" altLang="ko-KR" sz="1400" dirty="0">
                <a:solidFill>
                  <a:schemeClr val="tx2"/>
                </a:solidFill>
              </a:rPr>
              <a:t>② </a:t>
            </a:r>
            <a:r>
              <a:rPr lang="ko-KR" altLang="en-US" sz="1400" dirty="0">
                <a:solidFill>
                  <a:schemeClr val="tx2"/>
                </a:solidFill>
              </a:rPr>
              <a:t>특허출원인이 특허출원서에 최초로 첨부한 명세서 및 도면을 제</a:t>
            </a:r>
            <a:r>
              <a:rPr lang="en-US" altLang="ko-KR" sz="1400" dirty="0">
                <a:solidFill>
                  <a:schemeClr val="tx2"/>
                </a:solidFill>
              </a:rPr>
              <a:t>1</a:t>
            </a:r>
            <a:r>
              <a:rPr lang="ko-KR" altLang="en-US" sz="1400" dirty="0">
                <a:solidFill>
                  <a:schemeClr val="tx2"/>
                </a:solidFill>
              </a:rPr>
              <a:t>항에 따른 언어로 적은 특허출원</a:t>
            </a:r>
            <a:r>
              <a:rPr lang="en-US" altLang="ko-KR" sz="1400" dirty="0">
                <a:solidFill>
                  <a:schemeClr val="tx2"/>
                </a:solidFill>
              </a:rPr>
              <a:t>(</a:t>
            </a:r>
            <a:r>
              <a:rPr lang="ko-KR" altLang="en-US" sz="1400" dirty="0">
                <a:solidFill>
                  <a:schemeClr val="tx2"/>
                </a:solidFill>
              </a:rPr>
              <a:t>이하 </a:t>
            </a:r>
            <a:r>
              <a:rPr lang="en-US" altLang="ko-KR" sz="1400" dirty="0">
                <a:solidFill>
                  <a:schemeClr val="tx2"/>
                </a:solidFill>
              </a:rPr>
              <a:t>"</a:t>
            </a:r>
            <a:r>
              <a:rPr lang="ko-KR" altLang="en-US" sz="1400" dirty="0">
                <a:solidFill>
                  <a:schemeClr val="tx2"/>
                </a:solidFill>
              </a:rPr>
              <a:t>외국어특허출원</a:t>
            </a:r>
            <a:r>
              <a:rPr lang="en-US" altLang="ko-KR" sz="1400" dirty="0">
                <a:solidFill>
                  <a:schemeClr val="tx2"/>
                </a:solidFill>
              </a:rPr>
              <a:t>"</a:t>
            </a:r>
            <a:r>
              <a:rPr lang="ko-KR" altLang="en-US" sz="1400" dirty="0">
                <a:solidFill>
                  <a:schemeClr val="tx2"/>
                </a:solidFill>
              </a:rPr>
              <a:t>이라 한다</a:t>
            </a:r>
            <a:r>
              <a:rPr lang="en-US" altLang="ko-KR" sz="1400" dirty="0">
                <a:solidFill>
                  <a:schemeClr val="tx2"/>
                </a:solidFill>
              </a:rPr>
              <a:t>)</a:t>
            </a:r>
            <a:r>
              <a:rPr lang="ko-KR" altLang="en-US" sz="1400" dirty="0">
                <a:solidFill>
                  <a:schemeClr val="tx2"/>
                </a:solidFill>
              </a:rPr>
              <a:t>을 한 경우에는 제</a:t>
            </a:r>
            <a:r>
              <a:rPr lang="en-US" altLang="ko-KR" sz="1400" dirty="0">
                <a:solidFill>
                  <a:schemeClr val="tx2"/>
                </a:solidFill>
              </a:rPr>
              <a:t>64</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각 호의 구분에 따른 날부터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2</a:t>
            </a:r>
            <a:r>
              <a:rPr lang="ko-KR" altLang="en-US" sz="1400" dirty="0">
                <a:solidFill>
                  <a:schemeClr val="tx2"/>
                </a:solidFill>
              </a:rPr>
              <a:t>개월이 되는 날까지 그 명세서 및 도면의 국어번역문을 총리령으로 정하는 방법에 따라 제출하여야 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본문에 따른 기한 이전에 제</a:t>
            </a:r>
            <a:r>
              <a:rPr lang="en-US" altLang="ko-KR" sz="1400" dirty="0">
                <a:solidFill>
                  <a:schemeClr val="tx2"/>
                </a:solidFill>
              </a:rPr>
              <a:t>60</a:t>
            </a:r>
            <a:r>
              <a:rPr lang="ko-KR" altLang="en-US" sz="1400" dirty="0">
                <a:solidFill>
                  <a:schemeClr val="tx2"/>
                </a:solidFill>
              </a:rPr>
              <a:t>조제</a:t>
            </a:r>
            <a:r>
              <a:rPr lang="en-US" altLang="ko-KR" sz="1400" dirty="0">
                <a:solidFill>
                  <a:schemeClr val="tx2"/>
                </a:solidFill>
              </a:rPr>
              <a:t>3</a:t>
            </a:r>
            <a:r>
              <a:rPr lang="ko-KR" altLang="en-US" sz="1400" dirty="0">
                <a:solidFill>
                  <a:schemeClr val="tx2"/>
                </a:solidFill>
              </a:rPr>
              <a:t>항에 따른 </a:t>
            </a:r>
            <a:r>
              <a:rPr lang="ko-KR" altLang="en-US" sz="1400" dirty="0" err="1">
                <a:solidFill>
                  <a:schemeClr val="tx2"/>
                </a:solidFill>
              </a:rPr>
              <a:t>출원심사</a:t>
            </a:r>
            <a:r>
              <a:rPr lang="ko-KR" altLang="en-US" sz="1400" dirty="0">
                <a:solidFill>
                  <a:schemeClr val="tx2"/>
                </a:solidFill>
              </a:rPr>
              <a:t> 청구의 취지를 </a:t>
            </a:r>
            <a:r>
              <a:rPr lang="ko-KR" altLang="en-US" sz="1400" dirty="0" err="1">
                <a:solidFill>
                  <a:schemeClr val="tx2"/>
                </a:solidFill>
              </a:rPr>
              <a:t>통지받은</a:t>
            </a:r>
            <a:r>
              <a:rPr lang="ko-KR" altLang="en-US" sz="1400" dirty="0">
                <a:solidFill>
                  <a:schemeClr val="tx2"/>
                </a:solidFill>
              </a:rPr>
              <a:t> 경우에는 그 통지를 받은 날부터 </a:t>
            </a:r>
            <a:r>
              <a:rPr lang="en-US" altLang="ko-KR" sz="1400" dirty="0">
                <a:solidFill>
                  <a:schemeClr val="tx2"/>
                </a:solidFill>
              </a:rPr>
              <a:t>3</a:t>
            </a:r>
            <a:r>
              <a:rPr lang="ko-KR" altLang="en-US" sz="1400" dirty="0">
                <a:solidFill>
                  <a:schemeClr val="tx2"/>
                </a:solidFill>
              </a:rPr>
              <a:t>개월이 되는 날 또는 제</a:t>
            </a:r>
            <a:r>
              <a:rPr lang="en-US" altLang="ko-KR" sz="1400" dirty="0">
                <a:solidFill>
                  <a:schemeClr val="tx2"/>
                </a:solidFill>
              </a:rPr>
              <a:t>64</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각 호의 구분에 따른 날부터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2</a:t>
            </a:r>
            <a:r>
              <a:rPr lang="ko-KR" altLang="en-US" sz="1400" dirty="0">
                <a:solidFill>
                  <a:schemeClr val="tx2"/>
                </a:solidFill>
              </a:rPr>
              <a:t>개월이 되는 날 중 빠른 날까지 제출하여야 한다</a:t>
            </a:r>
            <a:r>
              <a:rPr lang="en-US" altLang="ko-KR" sz="1400" dirty="0">
                <a:solidFill>
                  <a:schemeClr val="tx2"/>
                </a:solidFill>
              </a:rPr>
              <a:t>.</a:t>
            </a:r>
          </a:p>
          <a:p>
            <a:pPr fontAlgn="base"/>
            <a:r>
              <a:rPr lang="en-US" altLang="ko-KR" sz="1400" dirty="0">
                <a:solidFill>
                  <a:schemeClr val="tx2"/>
                </a:solidFill>
              </a:rPr>
              <a:t>③ </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항에 따라 국어번역문을 제출한 특허출원인은 제</a:t>
            </a:r>
            <a:r>
              <a:rPr lang="en-US" altLang="ko-KR" sz="1400" dirty="0">
                <a:solidFill>
                  <a:schemeClr val="tx2"/>
                </a:solidFill>
              </a:rPr>
              <a:t>2</a:t>
            </a:r>
            <a:r>
              <a:rPr lang="ko-KR" altLang="en-US" sz="1400" dirty="0">
                <a:solidFill>
                  <a:schemeClr val="tx2"/>
                </a:solidFill>
              </a:rPr>
              <a:t>항에 따른 기한 이전에 그 국어번역문을 갈음하여 새로운 국어번역문을 제출할 수 있다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다음 각 호의 어느 하나에 해당하는 경우에는 그러하지 아니하다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명세서 또는 도면을 보정</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5</a:t>
            </a:r>
            <a:r>
              <a:rPr lang="ko-KR" altLang="en-US" sz="1400" dirty="0">
                <a:solidFill>
                  <a:schemeClr val="tx2"/>
                </a:solidFill>
              </a:rPr>
              <a:t>항에 따라 보정한 것으로 보는 경우는 제외한다</a:t>
            </a:r>
            <a:r>
              <a:rPr lang="en-US" altLang="ko-KR" sz="1400" dirty="0">
                <a:solidFill>
                  <a:schemeClr val="tx2"/>
                </a:solidFill>
              </a:rPr>
              <a:t>)</a:t>
            </a:r>
            <a:r>
              <a:rPr lang="ko-KR" altLang="en-US" sz="1400" dirty="0">
                <a:solidFill>
                  <a:schemeClr val="tx2"/>
                </a:solidFill>
              </a:rPr>
              <a:t>한 경우</a:t>
            </a:r>
          </a:p>
          <a:p>
            <a:pPr fontAlgn="base"/>
            <a:r>
              <a:rPr lang="en-US" altLang="ko-KR" sz="1400" dirty="0">
                <a:solidFill>
                  <a:schemeClr val="tx2"/>
                </a:solidFill>
              </a:rPr>
              <a:t>2. </a:t>
            </a:r>
            <a:r>
              <a:rPr lang="ko-KR" altLang="en-US" sz="1400" dirty="0">
                <a:solidFill>
                  <a:schemeClr val="tx2"/>
                </a:solidFill>
              </a:rPr>
              <a:t>특허출원인이 </a:t>
            </a:r>
            <a:r>
              <a:rPr lang="ko-KR" altLang="en-US" sz="1400" dirty="0" err="1">
                <a:solidFill>
                  <a:schemeClr val="tx2"/>
                </a:solidFill>
              </a:rPr>
              <a:t>출원심사의</a:t>
            </a:r>
            <a:r>
              <a:rPr lang="ko-KR" altLang="en-US" sz="1400" dirty="0">
                <a:solidFill>
                  <a:schemeClr val="tx2"/>
                </a:solidFill>
              </a:rPr>
              <a:t> 청구를 한 경우</a:t>
            </a:r>
          </a:p>
          <a:p>
            <a:pPr fontAlgn="base"/>
            <a:r>
              <a:rPr lang="ko-KR" altLang="en-US" sz="1400" dirty="0">
                <a:solidFill>
                  <a:schemeClr val="tx2"/>
                </a:solidFill>
              </a:rPr>
              <a:t>④ 특허출원인이 제</a:t>
            </a:r>
            <a:r>
              <a:rPr lang="en-US" altLang="ko-KR" sz="1400" dirty="0">
                <a:solidFill>
                  <a:schemeClr val="tx2"/>
                </a:solidFill>
              </a:rPr>
              <a:t>2</a:t>
            </a:r>
            <a:r>
              <a:rPr lang="ko-KR" altLang="en-US" sz="1400" dirty="0">
                <a:solidFill>
                  <a:schemeClr val="tx2"/>
                </a:solidFill>
              </a:rPr>
              <a:t>항에 따른 </a:t>
            </a:r>
            <a:r>
              <a:rPr lang="ko-KR" altLang="en-US" sz="1400" dirty="0">
                <a:solidFill>
                  <a:srgbClr val="FF0000"/>
                </a:solidFill>
              </a:rPr>
              <a:t>명세서</a:t>
            </a:r>
            <a:r>
              <a:rPr lang="ko-KR" altLang="en-US" sz="1400" dirty="0">
                <a:solidFill>
                  <a:schemeClr val="tx2"/>
                </a:solidFill>
              </a:rPr>
              <a:t>의 국어번역문을 제출하지 아니한 경우에는 제</a:t>
            </a:r>
            <a:r>
              <a:rPr lang="en-US" altLang="ko-KR" sz="1400" dirty="0">
                <a:solidFill>
                  <a:schemeClr val="tx2"/>
                </a:solidFill>
              </a:rPr>
              <a:t>2</a:t>
            </a:r>
            <a:r>
              <a:rPr lang="ko-KR" altLang="en-US" sz="1400" dirty="0">
                <a:solidFill>
                  <a:schemeClr val="tx2"/>
                </a:solidFill>
              </a:rPr>
              <a:t>항에 따른 기한이 되는 날의 다음 날에 해당 특허출원을 취하한 것으로 본다</a:t>
            </a:r>
            <a:r>
              <a:rPr lang="en-US" altLang="ko-KR" sz="1400" dirty="0">
                <a:solidFill>
                  <a:schemeClr val="tx2"/>
                </a:solidFill>
              </a:rPr>
              <a:t>.</a:t>
            </a:r>
          </a:p>
          <a:p>
            <a:pPr fontAlgn="base"/>
            <a:r>
              <a:rPr lang="en-US" altLang="ko-KR" sz="1400" dirty="0">
                <a:solidFill>
                  <a:schemeClr val="tx2"/>
                </a:solidFill>
              </a:rPr>
              <a:t>⑤ </a:t>
            </a:r>
            <a:r>
              <a:rPr lang="ko-KR" altLang="en-US" sz="1400" dirty="0">
                <a:solidFill>
                  <a:schemeClr val="tx2"/>
                </a:solidFill>
              </a:rPr>
              <a:t>특허출원인이 제</a:t>
            </a:r>
            <a:r>
              <a:rPr lang="en-US" altLang="ko-KR" sz="1400" dirty="0">
                <a:solidFill>
                  <a:schemeClr val="tx2"/>
                </a:solidFill>
              </a:rPr>
              <a:t>2</a:t>
            </a:r>
            <a:r>
              <a:rPr lang="ko-KR" altLang="en-US" sz="1400" dirty="0">
                <a:solidFill>
                  <a:schemeClr val="tx2"/>
                </a:solidFill>
              </a:rPr>
              <a:t>항에 따른 </a:t>
            </a:r>
            <a:r>
              <a:rPr lang="ko-KR" altLang="en-US" sz="1400" dirty="0" err="1">
                <a:solidFill>
                  <a:schemeClr val="tx2"/>
                </a:solidFill>
              </a:rPr>
              <a:t>국어번역문</a:t>
            </a:r>
            <a:r>
              <a:rPr lang="ko-KR" altLang="en-US" sz="1400" dirty="0">
                <a:solidFill>
                  <a:schemeClr val="tx2"/>
                </a:solidFill>
              </a:rPr>
              <a:t> 또는 제</a:t>
            </a:r>
            <a:r>
              <a:rPr lang="en-US" altLang="ko-KR" sz="1400" dirty="0">
                <a:solidFill>
                  <a:schemeClr val="tx2"/>
                </a:solidFill>
              </a:rPr>
              <a:t>3</a:t>
            </a:r>
            <a:r>
              <a:rPr lang="ko-KR" altLang="en-US" sz="1400" dirty="0">
                <a:solidFill>
                  <a:schemeClr val="tx2"/>
                </a:solidFill>
              </a:rPr>
              <a:t>항 본문에 따른 새로운 국어번역문을 제출한 경우에는 외국어특허출원의 특허출원서에 최초로 첨부한 명세서 및 도면을 그 국어번역문에 따라 보정한 것으로 본다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3</a:t>
            </a:r>
            <a:r>
              <a:rPr lang="ko-KR" altLang="en-US" sz="1400" dirty="0">
                <a:solidFill>
                  <a:schemeClr val="tx2"/>
                </a:solidFill>
              </a:rPr>
              <a:t>항 본문에 따라 새로운 국어번역문을 제출한 경우에는 마지막 </a:t>
            </a:r>
            <a:r>
              <a:rPr lang="ko-KR" altLang="en-US" sz="1400" dirty="0" err="1">
                <a:solidFill>
                  <a:schemeClr val="tx2"/>
                </a:solidFill>
              </a:rPr>
              <a:t>국어번역문</a:t>
            </a:r>
            <a:r>
              <a:rPr lang="en-US" altLang="ko-KR" sz="1400" dirty="0">
                <a:solidFill>
                  <a:schemeClr val="tx2"/>
                </a:solidFill>
              </a:rPr>
              <a:t>(</a:t>
            </a:r>
            <a:r>
              <a:rPr lang="ko-KR" altLang="en-US" sz="1400" dirty="0">
                <a:solidFill>
                  <a:schemeClr val="tx2"/>
                </a:solidFill>
              </a:rPr>
              <a:t>이하 이 조 및 제</a:t>
            </a:r>
            <a:r>
              <a:rPr lang="en-US" altLang="ko-KR" sz="1400" dirty="0">
                <a:solidFill>
                  <a:schemeClr val="tx2"/>
                </a:solidFill>
              </a:rPr>
              <a:t>47</a:t>
            </a:r>
            <a:r>
              <a:rPr lang="ko-KR" altLang="en-US" sz="1400" dirty="0">
                <a:solidFill>
                  <a:schemeClr val="tx2"/>
                </a:solidFill>
              </a:rPr>
              <a:t>조제</a:t>
            </a:r>
            <a:r>
              <a:rPr lang="en-US" altLang="ko-KR" sz="1400" dirty="0">
                <a:solidFill>
                  <a:schemeClr val="tx2"/>
                </a:solidFill>
              </a:rPr>
              <a:t>2</a:t>
            </a:r>
            <a:r>
              <a:rPr lang="ko-KR" altLang="en-US" sz="1400" dirty="0">
                <a:solidFill>
                  <a:schemeClr val="tx2"/>
                </a:solidFill>
              </a:rPr>
              <a:t>항 후단에서 </a:t>
            </a:r>
            <a:r>
              <a:rPr lang="en-US" altLang="ko-KR" sz="1400" dirty="0">
                <a:solidFill>
                  <a:schemeClr val="tx2"/>
                </a:solidFill>
              </a:rPr>
              <a:t>"</a:t>
            </a:r>
            <a:r>
              <a:rPr lang="ko-KR" altLang="en-US" sz="1400" dirty="0">
                <a:solidFill>
                  <a:schemeClr val="tx2"/>
                </a:solidFill>
              </a:rPr>
              <a:t>최종 </a:t>
            </a:r>
            <a:r>
              <a:rPr lang="ko-KR" altLang="en-US" sz="1400" dirty="0" err="1">
                <a:solidFill>
                  <a:schemeClr val="tx2"/>
                </a:solidFill>
              </a:rPr>
              <a:t>국어번역문</a:t>
            </a:r>
            <a:r>
              <a:rPr lang="en-US" altLang="ko-KR" sz="1400" dirty="0">
                <a:solidFill>
                  <a:schemeClr val="tx2"/>
                </a:solidFill>
              </a:rPr>
              <a:t>"</a:t>
            </a:r>
            <a:r>
              <a:rPr lang="ko-KR" altLang="en-US" sz="1400" dirty="0">
                <a:solidFill>
                  <a:schemeClr val="tx2"/>
                </a:solidFill>
              </a:rPr>
              <a:t>이라 한다</a:t>
            </a:r>
            <a:r>
              <a:rPr lang="en-US" altLang="ko-KR" sz="1400" dirty="0">
                <a:solidFill>
                  <a:schemeClr val="tx2"/>
                </a:solidFill>
              </a:rPr>
              <a:t>) </a:t>
            </a:r>
            <a:r>
              <a:rPr lang="ko-KR" altLang="en-US" sz="1400" dirty="0">
                <a:solidFill>
                  <a:schemeClr val="tx2"/>
                </a:solidFill>
              </a:rPr>
              <a:t>전에 제출한 국어번역문에 따라 보정한 것으로 보는 모든 보정은 처음부터 없었던 것으로 본다</a:t>
            </a:r>
            <a:r>
              <a:rPr lang="en-US" altLang="ko-KR" sz="1400" dirty="0">
                <a:solidFill>
                  <a:schemeClr val="tx2"/>
                </a:solidFill>
              </a:rPr>
              <a:t>.</a:t>
            </a:r>
          </a:p>
          <a:p>
            <a:pPr fontAlgn="base"/>
            <a:r>
              <a:rPr lang="en-US" altLang="ko-KR" sz="1400" dirty="0">
                <a:solidFill>
                  <a:schemeClr val="tx2"/>
                </a:solidFill>
              </a:rPr>
              <a:t>⑥ </a:t>
            </a:r>
            <a:r>
              <a:rPr lang="ko-KR" altLang="en-US" sz="1400" dirty="0">
                <a:solidFill>
                  <a:schemeClr val="tx2"/>
                </a:solidFill>
              </a:rPr>
              <a:t>특허출원인은 제</a:t>
            </a:r>
            <a:r>
              <a:rPr lang="en-US" altLang="ko-KR" sz="1400" dirty="0">
                <a:solidFill>
                  <a:schemeClr val="tx2"/>
                </a:solidFill>
              </a:rPr>
              <a:t>47</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따라 보정을 할 수 있는 기간에 최종 국어번역문의 잘못된 번역을 총리령으로 정하는 방법에 따라 정정할 수 있다</a:t>
            </a:r>
            <a:r>
              <a:rPr lang="en-US" altLang="ko-KR" sz="1400" dirty="0">
                <a:solidFill>
                  <a:schemeClr val="tx2"/>
                </a:solidFill>
              </a:rPr>
              <a:t>. </a:t>
            </a:r>
            <a:r>
              <a:rPr lang="ko-KR" altLang="en-US" sz="1400" dirty="0">
                <a:solidFill>
                  <a:schemeClr val="tx2"/>
                </a:solidFill>
              </a:rPr>
              <a:t>이 경우 정정된 국어번역문에 관하여는 제</a:t>
            </a:r>
            <a:r>
              <a:rPr lang="en-US" altLang="ko-KR" sz="1400" dirty="0">
                <a:solidFill>
                  <a:schemeClr val="tx2"/>
                </a:solidFill>
              </a:rPr>
              <a:t>5</a:t>
            </a:r>
            <a:r>
              <a:rPr lang="ko-KR" altLang="en-US" sz="1400" dirty="0">
                <a:solidFill>
                  <a:schemeClr val="tx2"/>
                </a:solidFill>
              </a:rPr>
              <a:t>항을 적용하지 아니한다</a:t>
            </a:r>
            <a:r>
              <a:rPr lang="en-US" altLang="ko-KR" sz="1400" dirty="0">
                <a:solidFill>
                  <a:schemeClr val="tx2"/>
                </a:solidFill>
              </a:rPr>
              <a:t>.</a:t>
            </a:r>
          </a:p>
          <a:p>
            <a:pPr fontAlgn="base"/>
            <a:r>
              <a:rPr lang="en-US" altLang="ko-KR" sz="1400" dirty="0">
                <a:solidFill>
                  <a:schemeClr val="tx2"/>
                </a:solidFill>
              </a:rPr>
              <a:t>⑦ </a:t>
            </a:r>
            <a:r>
              <a:rPr lang="ko-KR" altLang="en-US" sz="1400" dirty="0">
                <a:solidFill>
                  <a:schemeClr val="tx2"/>
                </a:solidFill>
              </a:rPr>
              <a:t>제</a:t>
            </a:r>
            <a:r>
              <a:rPr lang="en-US" altLang="ko-KR" sz="1400" dirty="0">
                <a:solidFill>
                  <a:schemeClr val="tx2"/>
                </a:solidFill>
              </a:rPr>
              <a:t>6</a:t>
            </a:r>
            <a:r>
              <a:rPr lang="ko-KR" altLang="en-US" sz="1400" dirty="0">
                <a:solidFill>
                  <a:schemeClr val="tx2"/>
                </a:solidFill>
              </a:rPr>
              <a:t>항 전단에 따라 제</a:t>
            </a:r>
            <a:r>
              <a:rPr lang="en-US" altLang="ko-KR" sz="1400" dirty="0">
                <a:solidFill>
                  <a:schemeClr val="tx2"/>
                </a:solidFill>
              </a:rPr>
              <a:t>47</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1</a:t>
            </a:r>
            <a:r>
              <a:rPr lang="ko-KR" altLang="en-US" sz="1400" dirty="0">
                <a:solidFill>
                  <a:schemeClr val="tx2"/>
                </a:solidFill>
              </a:rPr>
              <a:t>호 또는 제</a:t>
            </a:r>
            <a:r>
              <a:rPr lang="en-US" altLang="ko-KR" sz="1400" dirty="0">
                <a:solidFill>
                  <a:schemeClr val="tx2"/>
                </a:solidFill>
              </a:rPr>
              <a:t>2</a:t>
            </a:r>
            <a:r>
              <a:rPr lang="ko-KR" altLang="en-US" sz="1400" dirty="0">
                <a:solidFill>
                  <a:schemeClr val="tx2"/>
                </a:solidFill>
              </a:rPr>
              <a:t>호에 따른 기간에 정정을 하는 경우에는 마지막 정정 전에 한 모든 정정은 처음부터 없었던 것으로 본다</a:t>
            </a:r>
            <a:r>
              <a:rPr lang="en-US" altLang="ko-KR" sz="1400" dirty="0">
                <a:solidFill>
                  <a:schemeClr val="tx2"/>
                </a:solidFill>
              </a:rPr>
              <a:t>. </a:t>
            </a:r>
          </a:p>
        </p:txBody>
      </p:sp>
      <p:sp>
        <p:nvSpPr>
          <p:cNvPr id="62" name="직사각형 61"/>
          <p:cNvSpPr/>
          <p:nvPr/>
        </p:nvSpPr>
        <p:spPr>
          <a:xfrm>
            <a:off x="1605890" y="5054120"/>
            <a:ext cx="1509648" cy="294127"/>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출원서</a:t>
            </a:r>
            <a:endParaRPr lang="ko-KR" altLang="en-US" sz="1400" dirty="0">
              <a:solidFill>
                <a:schemeClr val="tx1"/>
              </a:solidFill>
            </a:endParaRPr>
          </a:p>
        </p:txBody>
      </p:sp>
      <p:sp>
        <p:nvSpPr>
          <p:cNvPr id="64" name="직사각형 63"/>
          <p:cNvSpPr/>
          <p:nvPr/>
        </p:nvSpPr>
        <p:spPr>
          <a:xfrm>
            <a:off x="1605890" y="5446621"/>
            <a:ext cx="1509648" cy="294127"/>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명세서</a:t>
            </a:r>
            <a:r>
              <a:rPr lang="en-US" altLang="ko-KR" sz="1200" dirty="0">
                <a:solidFill>
                  <a:schemeClr val="tx1"/>
                </a:solidFill>
              </a:rPr>
              <a:t>*</a:t>
            </a:r>
            <a:endParaRPr lang="ko-KR" altLang="en-US" sz="1400" dirty="0">
              <a:solidFill>
                <a:schemeClr val="tx1"/>
              </a:solidFill>
            </a:endParaRPr>
          </a:p>
        </p:txBody>
      </p:sp>
      <p:sp>
        <p:nvSpPr>
          <p:cNvPr id="66" name="직사각형 65"/>
          <p:cNvSpPr/>
          <p:nvPr/>
        </p:nvSpPr>
        <p:spPr>
          <a:xfrm>
            <a:off x="1605890" y="5863002"/>
            <a:ext cx="1509648" cy="294127"/>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필요한 도면</a:t>
            </a:r>
            <a:r>
              <a:rPr lang="en-US" altLang="ko-KR" sz="1200" dirty="0">
                <a:solidFill>
                  <a:schemeClr val="tx1"/>
                </a:solidFill>
              </a:rPr>
              <a:t>*</a:t>
            </a:r>
            <a:endParaRPr lang="ko-KR" altLang="en-US" sz="1400" dirty="0">
              <a:solidFill>
                <a:schemeClr val="tx1"/>
              </a:solidFill>
            </a:endParaRPr>
          </a:p>
        </p:txBody>
      </p:sp>
      <p:sp>
        <p:nvSpPr>
          <p:cNvPr id="67" name="직사각형 66"/>
          <p:cNvSpPr/>
          <p:nvPr/>
        </p:nvSpPr>
        <p:spPr>
          <a:xfrm>
            <a:off x="1605890" y="6255504"/>
            <a:ext cx="1509648" cy="294127"/>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요약서</a:t>
            </a:r>
            <a:endParaRPr lang="ko-KR" altLang="en-US" sz="1400" dirty="0">
              <a:solidFill>
                <a:schemeClr val="tx1"/>
              </a:solidFill>
            </a:endParaRPr>
          </a:p>
        </p:txBody>
      </p:sp>
      <p:cxnSp>
        <p:nvCxnSpPr>
          <p:cNvPr id="71" name="꺾인 연결선 70"/>
          <p:cNvCxnSpPr>
            <a:stCxn id="76" idx="3"/>
            <a:endCxn id="67" idx="1"/>
          </p:cNvCxnSpPr>
          <p:nvPr/>
        </p:nvCxnSpPr>
        <p:spPr>
          <a:xfrm>
            <a:off x="931494" y="5789247"/>
            <a:ext cx="674396" cy="613321"/>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꺾인 연결선 71"/>
          <p:cNvCxnSpPr>
            <a:stCxn id="76" idx="3"/>
            <a:endCxn id="64" idx="1"/>
          </p:cNvCxnSpPr>
          <p:nvPr/>
        </p:nvCxnSpPr>
        <p:spPr>
          <a:xfrm flipV="1">
            <a:off x="931494" y="5593685"/>
            <a:ext cx="674396" cy="195562"/>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꺾인 연결선 72"/>
          <p:cNvCxnSpPr>
            <a:stCxn id="76" idx="3"/>
            <a:endCxn id="66" idx="1"/>
          </p:cNvCxnSpPr>
          <p:nvPr/>
        </p:nvCxnSpPr>
        <p:spPr>
          <a:xfrm>
            <a:off x="931494" y="5789247"/>
            <a:ext cx="674396" cy="220819"/>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직사각형 75"/>
          <p:cNvSpPr/>
          <p:nvPr/>
        </p:nvSpPr>
        <p:spPr>
          <a:xfrm>
            <a:off x="258630" y="5485343"/>
            <a:ext cx="672864" cy="607808"/>
          </a:xfrm>
          <a:prstGeom prst="rect">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출원</a:t>
            </a:r>
            <a:endParaRPr lang="en-US" altLang="ko-KR" sz="1400" dirty="0">
              <a:solidFill>
                <a:schemeClr val="bg1"/>
              </a:solidFill>
            </a:endParaRPr>
          </a:p>
          <a:p>
            <a:pPr algn="ctr"/>
            <a:r>
              <a:rPr lang="ko-KR" altLang="en-US" sz="1400" dirty="0">
                <a:solidFill>
                  <a:schemeClr val="bg1"/>
                </a:solidFill>
              </a:rPr>
              <a:t>서류</a:t>
            </a:r>
          </a:p>
        </p:txBody>
      </p:sp>
      <p:cxnSp>
        <p:nvCxnSpPr>
          <p:cNvPr id="77" name="꺾인 연결선 76"/>
          <p:cNvCxnSpPr>
            <a:stCxn id="62" idx="1"/>
            <a:endCxn id="76" idx="3"/>
          </p:cNvCxnSpPr>
          <p:nvPr/>
        </p:nvCxnSpPr>
        <p:spPr>
          <a:xfrm rot="10800000" flipV="1">
            <a:off x="931494" y="5201183"/>
            <a:ext cx="674396" cy="58806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직사각형 25"/>
          <p:cNvSpPr/>
          <p:nvPr/>
        </p:nvSpPr>
        <p:spPr>
          <a:xfrm>
            <a:off x="3607249" y="5857613"/>
            <a:ext cx="1195490" cy="29721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설명부분</a:t>
            </a:r>
            <a:r>
              <a:rPr lang="ko-KR" altLang="en-US" sz="1200" dirty="0">
                <a:solidFill>
                  <a:schemeClr val="tx1"/>
                </a:solidFill>
              </a:rPr>
              <a:t> 포함</a:t>
            </a:r>
            <a:r>
              <a:rPr lang="en-US" altLang="ko-KR" sz="1200" dirty="0">
                <a:solidFill>
                  <a:schemeClr val="tx1"/>
                </a:solidFill>
              </a:rPr>
              <a:t>*</a:t>
            </a:r>
            <a:endParaRPr lang="ko-KR" altLang="en-US" sz="1400" dirty="0">
              <a:solidFill>
                <a:schemeClr val="tx1"/>
              </a:solidFill>
            </a:endParaRPr>
          </a:p>
        </p:txBody>
      </p:sp>
      <p:sp>
        <p:nvSpPr>
          <p:cNvPr id="27" name="직사각형 26"/>
          <p:cNvSpPr/>
          <p:nvPr/>
        </p:nvSpPr>
        <p:spPr>
          <a:xfrm>
            <a:off x="3607251" y="6277076"/>
            <a:ext cx="1195489" cy="29412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설명부분</a:t>
            </a:r>
            <a:r>
              <a:rPr lang="ko-KR" altLang="en-US" sz="1200" dirty="0">
                <a:solidFill>
                  <a:schemeClr val="tx1"/>
                </a:solidFill>
              </a:rPr>
              <a:t> 제외</a:t>
            </a:r>
            <a:endParaRPr lang="ko-KR" altLang="en-US" sz="1400" dirty="0">
              <a:solidFill>
                <a:schemeClr val="tx1"/>
              </a:solidFill>
            </a:endParaRPr>
          </a:p>
        </p:txBody>
      </p:sp>
      <p:cxnSp>
        <p:nvCxnSpPr>
          <p:cNvPr id="24" name="꺾인 연결선 23"/>
          <p:cNvCxnSpPr>
            <a:stCxn id="66" idx="3"/>
            <a:endCxn id="26" idx="1"/>
          </p:cNvCxnSpPr>
          <p:nvPr/>
        </p:nvCxnSpPr>
        <p:spPr>
          <a:xfrm flipV="1">
            <a:off x="3115538" y="6006218"/>
            <a:ext cx="491711" cy="384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stCxn id="66" idx="3"/>
            <a:endCxn id="27" idx="1"/>
          </p:cNvCxnSpPr>
          <p:nvPr/>
        </p:nvCxnSpPr>
        <p:spPr>
          <a:xfrm>
            <a:off x="3115538" y="6010066"/>
            <a:ext cx="491713" cy="41407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직선 연결선 45"/>
          <p:cNvCxnSpPr/>
          <p:nvPr/>
        </p:nvCxnSpPr>
        <p:spPr>
          <a:xfrm>
            <a:off x="5049603" y="4948015"/>
            <a:ext cx="0" cy="181633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직사각형 53"/>
          <p:cNvSpPr/>
          <p:nvPr/>
        </p:nvSpPr>
        <p:spPr>
          <a:xfrm>
            <a:off x="5543027" y="5242937"/>
            <a:ext cx="1144412" cy="45710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외국어특허출원</a:t>
            </a:r>
            <a:endParaRPr lang="en-US" altLang="ko-KR" sz="1200" dirty="0">
              <a:solidFill>
                <a:schemeClr val="tx1"/>
              </a:solidFill>
            </a:endParaRPr>
          </a:p>
          <a:p>
            <a:pPr algn="ctr"/>
            <a:r>
              <a:rPr lang="en-US" altLang="ko-KR" sz="1050" dirty="0">
                <a:solidFill>
                  <a:schemeClr val="tx1"/>
                </a:solidFill>
              </a:rPr>
              <a:t>(</a:t>
            </a:r>
            <a:r>
              <a:rPr lang="ko-KR" altLang="en-US" sz="1050" dirty="0">
                <a:solidFill>
                  <a:schemeClr val="tx1"/>
                </a:solidFill>
              </a:rPr>
              <a:t>法 </a:t>
            </a:r>
            <a:r>
              <a:rPr lang="en-US" altLang="ko-KR" sz="1050" dirty="0">
                <a:solidFill>
                  <a:schemeClr val="tx1"/>
                </a:solidFill>
              </a:rPr>
              <a:t>42</a:t>
            </a:r>
            <a:r>
              <a:rPr lang="ko-KR" altLang="en-US" sz="1050" dirty="0">
                <a:solidFill>
                  <a:schemeClr val="tx1"/>
                </a:solidFill>
              </a:rPr>
              <a:t>의</a:t>
            </a:r>
            <a:r>
              <a:rPr lang="en-US" altLang="ko-KR" sz="1050" dirty="0">
                <a:solidFill>
                  <a:schemeClr val="tx1"/>
                </a:solidFill>
              </a:rPr>
              <a:t>3①)</a:t>
            </a:r>
            <a:endParaRPr lang="ko-KR" altLang="en-US" sz="1100" dirty="0">
              <a:solidFill>
                <a:schemeClr val="tx1"/>
              </a:solidFill>
            </a:endParaRPr>
          </a:p>
        </p:txBody>
      </p:sp>
      <p:sp>
        <p:nvSpPr>
          <p:cNvPr id="55" name="직사각형 54"/>
          <p:cNvSpPr/>
          <p:nvPr/>
        </p:nvSpPr>
        <p:spPr>
          <a:xfrm>
            <a:off x="7100028" y="5242937"/>
            <a:ext cx="1144412" cy="45710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번역문제출기간</a:t>
            </a:r>
            <a:endParaRPr lang="en-US" altLang="ko-KR" sz="1200" dirty="0">
              <a:solidFill>
                <a:schemeClr val="tx1"/>
              </a:solidFill>
            </a:endParaRPr>
          </a:p>
          <a:p>
            <a:pPr algn="ctr"/>
            <a:r>
              <a:rPr lang="en-US" altLang="ko-KR" sz="1050" dirty="0">
                <a:solidFill>
                  <a:schemeClr val="tx1"/>
                </a:solidFill>
              </a:rPr>
              <a:t>(</a:t>
            </a:r>
            <a:r>
              <a:rPr lang="ko-KR" altLang="en-US" sz="1050" dirty="0">
                <a:solidFill>
                  <a:schemeClr val="tx1"/>
                </a:solidFill>
              </a:rPr>
              <a:t>法 </a:t>
            </a:r>
            <a:r>
              <a:rPr lang="en-US" altLang="ko-KR" sz="1050" dirty="0">
                <a:solidFill>
                  <a:schemeClr val="tx1"/>
                </a:solidFill>
              </a:rPr>
              <a:t>42</a:t>
            </a:r>
            <a:r>
              <a:rPr lang="ko-KR" altLang="en-US" sz="1050" dirty="0">
                <a:solidFill>
                  <a:schemeClr val="tx1"/>
                </a:solidFill>
              </a:rPr>
              <a:t>의</a:t>
            </a:r>
            <a:r>
              <a:rPr lang="en-US" altLang="ko-KR" sz="1050" dirty="0">
                <a:solidFill>
                  <a:schemeClr val="tx1"/>
                </a:solidFill>
              </a:rPr>
              <a:t>3②)</a:t>
            </a:r>
            <a:endParaRPr lang="ko-KR" altLang="en-US" sz="1100" dirty="0">
              <a:solidFill>
                <a:schemeClr val="tx1"/>
              </a:solidFill>
            </a:endParaRPr>
          </a:p>
        </p:txBody>
      </p:sp>
      <p:sp>
        <p:nvSpPr>
          <p:cNvPr id="56" name="직사각형 55"/>
          <p:cNvSpPr/>
          <p:nvPr/>
        </p:nvSpPr>
        <p:spPr>
          <a:xfrm>
            <a:off x="8621505" y="4999191"/>
            <a:ext cx="1144412" cy="45710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不제출효과</a:t>
            </a:r>
            <a:endParaRPr lang="en-US" altLang="ko-KR" sz="1200" dirty="0">
              <a:solidFill>
                <a:schemeClr val="tx1"/>
              </a:solidFill>
            </a:endParaRPr>
          </a:p>
          <a:p>
            <a:pPr algn="ctr"/>
            <a:r>
              <a:rPr lang="en-US" altLang="ko-KR" sz="1050" dirty="0">
                <a:solidFill>
                  <a:schemeClr val="tx1"/>
                </a:solidFill>
              </a:rPr>
              <a:t>(</a:t>
            </a:r>
            <a:r>
              <a:rPr lang="ko-KR" altLang="en-US" sz="1050" dirty="0">
                <a:solidFill>
                  <a:schemeClr val="tx1"/>
                </a:solidFill>
              </a:rPr>
              <a:t>法 </a:t>
            </a:r>
            <a:r>
              <a:rPr lang="en-US" altLang="ko-KR" sz="1050" dirty="0">
                <a:solidFill>
                  <a:schemeClr val="tx1"/>
                </a:solidFill>
              </a:rPr>
              <a:t>42</a:t>
            </a:r>
            <a:r>
              <a:rPr lang="ko-KR" altLang="en-US" sz="1050" dirty="0">
                <a:solidFill>
                  <a:schemeClr val="tx1"/>
                </a:solidFill>
              </a:rPr>
              <a:t>의</a:t>
            </a:r>
            <a:r>
              <a:rPr lang="en-US" altLang="ko-KR" sz="1050" dirty="0">
                <a:solidFill>
                  <a:schemeClr val="tx1"/>
                </a:solidFill>
              </a:rPr>
              <a:t>3④)</a:t>
            </a:r>
            <a:endParaRPr lang="ko-KR" altLang="en-US" sz="1100" dirty="0">
              <a:solidFill>
                <a:schemeClr val="tx1"/>
              </a:solidFill>
            </a:endParaRPr>
          </a:p>
        </p:txBody>
      </p:sp>
      <p:sp>
        <p:nvSpPr>
          <p:cNvPr id="57" name="직사각형 56"/>
          <p:cNvSpPr/>
          <p:nvPr/>
        </p:nvSpPr>
        <p:spPr>
          <a:xfrm>
            <a:off x="8621505" y="5524791"/>
            <a:ext cx="1144412" cy="45710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제출효과</a:t>
            </a:r>
            <a:endParaRPr lang="en-US" altLang="ko-KR" sz="1200" dirty="0">
              <a:solidFill>
                <a:schemeClr val="tx1"/>
              </a:solidFill>
            </a:endParaRPr>
          </a:p>
        </p:txBody>
      </p:sp>
      <p:sp>
        <p:nvSpPr>
          <p:cNvPr id="58" name="직사각형 57"/>
          <p:cNvSpPr/>
          <p:nvPr/>
        </p:nvSpPr>
        <p:spPr>
          <a:xfrm>
            <a:off x="10131151" y="5516245"/>
            <a:ext cx="1144412" cy="45710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보정간주</a:t>
            </a:r>
            <a:endParaRPr lang="en-US" altLang="ko-KR" sz="1200" dirty="0">
              <a:solidFill>
                <a:schemeClr val="tx1"/>
              </a:solidFill>
            </a:endParaRPr>
          </a:p>
          <a:p>
            <a:pPr algn="ctr"/>
            <a:r>
              <a:rPr lang="en-US" altLang="ko-KR" sz="1050" dirty="0">
                <a:solidFill>
                  <a:schemeClr val="tx1"/>
                </a:solidFill>
              </a:rPr>
              <a:t>(</a:t>
            </a:r>
            <a:r>
              <a:rPr lang="ko-KR" altLang="en-US" sz="1050" dirty="0">
                <a:solidFill>
                  <a:schemeClr val="tx1"/>
                </a:solidFill>
              </a:rPr>
              <a:t>法 </a:t>
            </a:r>
            <a:r>
              <a:rPr lang="en-US" altLang="ko-KR" sz="1050" dirty="0">
                <a:solidFill>
                  <a:schemeClr val="tx1"/>
                </a:solidFill>
              </a:rPr>
              <a:t>42</a:t>
            </a:r>
            <a:r>
              <a:rPr lang="ko-KR" altLang="en-US" sz="1050" dirty="0">
                <a:solidFill>
                  <a:schemeClr val="tx1"/>
                </a:solidFill>
              </a:rPr>
              <a:t>의</a:t>
            </a:r>
            <a:r>
              <a:rPr lang="en-US" altLang="ko-KR" sz="1050" dirty="0">
                <a:solidFill>
                  <a:schemeClr val="tx1"/>
                </a:solidFill>
              </a:rPr>
              <a:t>3⑤)</a:t>
            </a:r>
            <a:endParaRPr lang="ko-KR" altLang="en-US" sz="1100" dirty="0">
              <a:solidFill>
                <a:schemeClr val="tx1"/>
              </a:solidFill>
            </a:endParaRPr>
          </a:p>
        </p:txBody>
      </p:sp>
      <p:sp>
        <p:nvSpPr>
          <p:cNvPr id="59" name="직사각형 58"/>
          <p:cNvSpPr/>
          <p:nvPr/>
        </p:nvSpPr>
        <p:spPr>
          <a:xfrm>
            <a:off x="10131151" y="6152953"/>
            <a:ext cx="1144412" cy="45710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오역정정</a:t>
            </a:r>
            <a:endParaRPr lang="en-US" altLang="ko-KR" sz="1200" dirty="0">
              <a:solidFill>
                <a:schemeClr val="tx1"/>
              </a:solidFill>
            </a:endParaRPr>
          </a:p>
          <a:p>
            <a:pPr algn="ctr"/>
            <a:r>
              <a:rPr lang="en-US" altLang="ko-KR" sz="1050" dirty="0">
                <a:solidFill>
                  <a:schemeClr val="tx1"/>
                </a:solidFill>
              </a:rPr>
              <a:t>(</a:t>
            </a:r>
            <a:r>
              <a:rPr lang="ko-KR" altLang="en-US" sz="1050" dirty="0">
                <a:solidFill>
                  <a:schemeClr val="tx1"/>
                </a:solidFill>
              </a:rPr>
              <a:t>法 </a:t>
            </a:r>
            <a:r>
              <a:rPr lang="en-US" altLang="ko-KR" sz="1050" dirty="0">
                <a:solidFill>
                  <a:schemeClr val="tx1"/>
                </a:solidFill>
              </a:rPr>
              <a:t>42</a:t>
            </a:r>
            <a:r>
              <a:rPr lang="ko-KR" altLang="en-US" sz="1050" dirty="0">
                <a:solidFill>
                  <a:schemeClr val="tx1"/>
                </a:solidFill>
              </a:rPr>
              <a:t>의</a:t>
            </a:r>
            <a:r>
              <a:rPr lang="en-US" altLang="ko-KR" sz="1050" dirty="0">
                <a:solidFill>
                  <a:schemeClr val="tx1"/>
                </a:solidFill>
              </a:rPr>
              <a:t>3⑥⑦)</a:t>
            </a:r>
            <a:endParaRPr lang="ko-KR" altLang="en-US" sz="1100" dirty="0">
              <a:solidFill>
                <a:schemeClr val="tx1"/>
              </a:solidFill>
            </a:endParaRPr>
          </a:p>
        </p:txBody>
      </p:sp>
      <p:sp>
        <p:nvSpPr>
          <p:cNvPr id="63" name="직사각형 62"/>
          <p:cNvSpPr/>
          <p:nvPr/>
        </p:nvSpPr>
        <p:spPr>
          <a:xfrm>
            <a:off x="7107904" y="5954518"/>
            <a:ext cx="1144412" cy="45710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번역문 교체</a:t>
            </a:r>
            <a:endParaRPr lang="en-US" altLang="ko-KR" sz="1200" dirty="0">
              <a:solidFill>
                <a:schemeClr val="tx1"/>
              </a:solidFill>
            </a:endParaRPr>
          </a:p>
          <a:p>
            <a:pPr algn="ctr"/>
            <a:r>
              <a:rPr lang="en-US" altLang="ko-KR" sz="1050" dirty="0">
                <a:solidFill>
                  <a:schemeClr val="tx1"/>
                </a:solidFill>
              </a:rPr>
              <a:t>(</a:t>
            </a:r>
            <a:r>
              <a:rPr lang="ko-KR" altLang="en-US" sz="1050" dirty="0">
                <a:solidFill>
                  <a:schemeClr val="tx1"/>
                </a:solidFill>
              </a:rPr>
              <a:t>法 </a:t>
            </a:r>
            <a:r>
              <a:rPr lang="en-US" altLang="ko-KR" sz="1050" dirty="0">
                <a:solidFill>
                  <a:schemeClr val="tx1"/>
                </a:solidFill>
              </a:rPr>
              <a:t>42</a:t>
            </a:r>
            <a:r>
              <a:rPr lang="ko-KR" altLang="en-US" sz="1050" dirty="0">
                <a:solidFill>
                  <a:schemeClr val="tx1"/>
                </a:solidFill>
              </a:rPr>
              <a:t>의</a:t>
            </a:r>
            <a:r>
              <a:rPr lang="en-US" altLang="ko-KR" sz="1050" dirty="0">
                <a:solidFill>
                  <a:schemeClr val="tx1"/>
                </a:solidFill>
              </a:rPr>
              <a:t>3③)</a:t>
            </a:r>
            <a:endParaRPr lang="ko-KR" altLang="en-US" sz="1100" dirty="0">
              <a:solidFill>
                <a:schemeClr val="tx1"/>
              </a:solidFill>
            </a:endParaRPr>
          </a:p>
        </p:txBody>
      </p:sp>
      <p:cxnSp>
        <p:nvCxnSpPr>
          <p:cNvPr id="38" name="직선 연결선 37"/>
          <p:cNvCxnSpPr>
            <a:stCxn id="54" idx="3"/>
            <a:endCxn id="55" idx="1"/>
          </p:cNvCxnSpPr>
          <p:nvPr/>
        </p:nvCxnSpPr>
        <p:spPr>
          <a:xfrm>
            <a:off x="6687439" y="5471490"/>
            <a:ext cx="412589"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직선 연결선 39"/>
          <p:cNvCxnSpPr>
            <a:stCxn id="63" idx="0"/>
            <a:endCxn id="55" idx="2"/>
          </p:cNvCxnSpPr>
          <p:nvPr/>
        </p:nvCxnSpPr>
        <p:spPr>
          <a:xfrm flipH="1" flipV="1">
            <a:off x="7672234" y="5700042"/>
            <a:ext cx="7876" cy="25447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55" idx="3"/>
            <a:endCxn id="56" idx="1"/>
          </p:cNvCxnSpPr>
          <p:nvPr/>
        </p:nvCxnSpPr>
        <p:spPr>
          <a:xfrm flipV="1">
            <a:off x="8244440" y="5227744"/>
            <a:ext cx="377065" cy="243746"/>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55" idx="3"/>
            <a:endCxn id="57" idx="1"/>
          </p:cNvCxnSpPr>
          <p:nvPr/>
        </p:nvCxnSpPr>
        <p:spPr>
          <a:xfrm>
            <a:off x="8244440" y="5471490"/>
            <a:ext cx="377065" cy="281854"/>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57" idx="3"/>
            <a:endCxn id="58" idx="1"/>
          </p:cNvCxnSpPr>
          <p:nvPr/>
        </p:nvCxnSpPr>
        <p:spPr>
          <a:xfrm flipV="1">
            <a:off x="9765917" y="5744798"/>
            <a:ext cx="365234" cy="8546"/>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9" name="꺾인 연결선 48"/>
          <p:cNvCxnSpPr>
            <a:stCxn id="57" idx="3"/>
            <a:endCxn id="59" idx="1"/>
          </p:cNvCxnSpPr>
          <p:nvPr/>
        </p:nvCxnSpPr>
        <p:spPr>
          <a:xfrm>
            <a:off x="9765917" y="5753344"/>
            <a:ext cx="365234" cy="628162"/>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186</a:t>
            </a:r>
            <a:endParaRPr lang="ko-KR" altLang="en-US"/>
          </a:p>
        </p:txBody>
      </p:sp>
    </p:spTree>
    <p:extLst>
      <p:ext uri="{BB962C8B-B14F-4D97-AF65-F5344CB8AC3E}">
        <p14:creationId xmlns:p14="http://schemas.microsoft.com/office/powerpoint/2010/main" val="1041708102"/>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Box 25"/>
          <p:cNvSpPr txBox="1"/>
          <p:nvPr/>
        </p:nvSpPr>
        <p:spPr>
          <a:xfrm>
            <a:off x="3749758" y="2024885"/>
            <a:ext cx="958306" cy="492443"/>
          </a:xfrm>
          <a:prstGeom prst="rect">
            <a:avLst/>
          </a:prstGeom>
          <a:solidFill>
            <a:schemeClr val="bg1"/>
          </a:solidFill>
        </p:spPr>
        <p:txBody>
          <a:bodyPr wrap="none" rtlCol="0">
            <a:spAutoFit/>
          </a:bodyPr>
          <a:lstStyle/>
          <a:p>
            <a:pPr algn="ctr"/>
            <a:r>
              <a:rPr lang="ko-KR" altLang="en-US" sz="1400" dirty="0">
                <a:solidFill>
                  <a:srgbClr val="FF0000"/>
                </a:solidFill>
              </a:rPr>
              <a:t>공개준비기간</a:t>
            </a:r>
            <a:endParaRPr lang="en-US" altLang="ko-KR" sz="1400" dirty="0">
              <a:solidFill>
                <a:srgbClr val="FF0000"/>
              </a:solidFill>
            </a:endParaRPr>
          </a:p>
          <a:p>
            <a:pPr algn="ctr"/>
            <a:r>
              <a:rPr lang="en-US" altLang="ko-KR" sz="1100" dirty="0">
                <a:solidFill>
                  <a:srgbClr val="FF0000"/>
                </a:solidFill>
              </a:rPr>
              <a:t>(</a:t>
            </a:r>
            <a:r>
              <a:rPr lang="ko-KR" altLang="en-US" sz="1100" dirty="0">
                <a:solidFill>
                  <a:srgbClr val="FF0000"/>
                </a:solidFill>
              </a:rPr>
              <a:t>최대 </a:t>
            </a:r>
            <a:r>
              <a:rPr lang="en-US" altLang="ko-KR" sz="1100" dirty="0">
                <a:solidFill>
                  <a:srgbClr val="FF0000"/>
                </a:solidFill>
              </a:rPr>
              <a:t>4</a:t>
            </a:r>
            <a:r>
              <a:rPr lang="ko-KR" altLang="en-US" sz="1100" dirty="0">
                <a:solidFill>
                  <a:srgbClr val="FF0000"/>
                </a:solidFill>
              </a:rPr>
              <a:t>개월</a:t>
            </a:r>
            <a:r>
              <a:rPr lang="en-US" altLang="ko-KR" sz="1100" dirty="0">
                <a:solidFill>
                  <a:srgbClr val="FF0000"/>
                </a:solidFill>
              </a:rPr>
              <a:t>)</a:t>
            </a:r>
            <a:endParaRPr lang="ko-KR" altLang="en-US" sz="1100" dirty="0">
              <a:solidFill>
                <a:srgbClr val="FF0000"/>
              </a:solidFill>
            </a:endParaRPr>
          </a:p>
        </p:txBody>
      </p:sp>
      <p:sp>
        <p:nvSpPr>
          <p:cNvPr id="4" name="제목 3"/>
          <p:cNvSpPr>
            <a:spLocks noGrp="1"/>
          </p:cNvSpPr>
          <p:nvPr>
            <p:ph type="title"/>
          </p:nvPr>
        </p:nvSpPr>
        <p:spPr/>
        <p:txBody>
          <a:bodyPr/>
          <a:lstStyle/>
          <a:p>
            <a:r>
              <a:rPr lang="ko-KR" altLang="en-US" dirty="0"/>
              <a:t>제</a:t>
            </a:r>
            <a:r>
              <a:rPr lang="en-US" altLang="ko-KR" dirty="0"/>
              <a:t>42</a:t>
            </a:r>
            <a:r>
              <a:rPr lang="ko-KR" altLang="en-US" dirty="0"/>
              <a:t>조의</a:t>
            </a:r>
            <a:r>
              <a:rPr lang="en-US" altLang="ko-KR" dirty="0"/>
              <a:t>3</a:t>
            </a:r>
            <a:endParaRPr lang="ko-KR" altLang="en-US" dirty="0"/>
          </a:p>
        </p:txBody>
      </p:sp>
      <p:sp>
        <p:nvSpPr>
          <p:cNvPr id="5" name="텍스트 개체 틀 4"/>
          <p:cNvSpPr>
            <a:spLocks noGrp="1"/>
          </p:cNvSpPr>
          <p:nvPr>
            <p:ph type="body" sz="quarter" idx="13"/>
          </p:nvPr>
        </p:nvSpPr>
        <p:spPr/>
        <p:txBody>
          <a:bodyPr/>
          <a:lstStyle/>
          <a:p>
            <a:r>
              <a:rPr lang="ko-KR" altLang="en-US" dirty="0" err="1"/>
              <a:t>국어번역문</a:t>
            </a:r>
            <a:r>
              <a:rPr lang="ko-KR" altLang="en-US" dirty="0"/>
              <a:t> 제출기간</a:t>
            </a:r>
          </a:p>
        </p:txBody>
      </p:sp>
      <p:sp>
        <p:nvSpPr>
          <p:cNvPr id="11" name="Rectangle 5"/>
          <p:cNvSpPr>
            <a:spLocks noChangeArrowheads="1"/>
          </p:cNvSpPr>
          <p:nvPr/>
        </p:nvSpPr>
        <p:spPr bwMode="auto">
          <a:xfrm>
            <a:off x="127524" y="1106382"/>
            <a:ext cx="2153886" cy="505913"/>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a:solidFill>
                  <a:schemeClr val="bg1"/>
                </a:solidFill>
                <a:latin typeface="+mj-ea"/>
                <a:ea typeface="+mj-ea"/>
              </a:rPr>
              <a:t>원칙적 제출기간</a:t>
            </a:r>
            <a:endParaRPr lang="en-US" altLang="ko-KR" sz="1600" dirty="0">
              <a:solidFill>
                <a:schemeClr val="bg1"/>
              </a:solidFill>
              <a:latin typeface="+mj-ea"/>
              <a:ea typeface="+mj-ea"/>
            </a:endParaRPr>
          </a:p>
          <a:p>
            <a:pPr algn="ctr"/>
            <a:r>
              <a:rPr lang="en-US" altLang="ko-KR" sz="1100" b="0" dirty="0">
                <a:solidFill>
                  <a:schemeClr val="bg1"/>
                </a:solidFill>
                <a:latin typeface="+mj-ea"/>
                <a:ea typeface="+mj-ea"/>
              </a:rPr>
              <a:t>(</a:t>
            </a:r>
            <a:r>
              <a:rPr lang="ko-KR" altLang="en-US" sz="1100" dirty="0">
                <a:solidFill>
                  <a:schemeClr val="bg1"/>
                </a:solidFill>
                <a:latin typeface="+mj-ea"/>
                <a:ea typeface="+mj-ea"/>
              </a:rPr>
              <a:t>제</a:t>
            </a:r>
            <a:r>
              <a:rPr lang="en-US" altLang="ko-KR" sz="1100" dirty="0">
                <a:solidFill>
                  <a:schemeClr val="bg1"/>
                </a:solidFill>
                <a:latin typeface="+mj-ea"/>
                <a:ea typeface="+mj-ea"/>
              </a:rPr>
              <a:t>42</a:t>
            </a:r>
            <a:r>
              <a:rPr lang="ko-KR" altLang="en-US" sz="1100" dirty="0">
                <a:solidFill>
                  <a:schemeClr val="bg1"/>
                </a:solidFill>
                <a:latin typeface="+mj-ea"/>
                <a:ea typeface="+mj-ea"/>
              </a:rPr>
              <a:t>조의</a:t>
            </a:r>
            <a:r>
              <a:rPr lang="en-US" altLang="ko-KR" sz="1100" dirty="0">
                <a:solidFill>
                  <a:schemeClr val="bg1"/>
                </a:solidFill>
                <a:latin typeface="+mj-ea"/>
                <a:ea typeface="+mj-ea"/>
              </a:rPr>
              <a:t>3</a:t>
            </a:r>
            <a:r>
              <a:rPr lang="ko-KR" altLang="en-US" sz="1100" dirty="0">
                <a:solidFill>
                  <a:schemeClr val="bg1"/>
                </a:solidFill>
                <a:latin typeface="+mj-ea"/>
                <a:ea typeface="+mj-ea"/>
              </a:rPr>
              <a:t>제</a:t>
            </a:r>
            <a:r>
              <a:rPr lang="en-US" altLang="ko-KR" sz="1100" dirty="0">
                <a:solidFill>
                  <a:schemeClr val="bg1"/>
                </a:solidFill>
                <a:latin typeface="+mj-ea"/>
                <a:ea typeface="+mj-ea"/>
              </a:rPr>
              <a:t>2</a:t>
            </a:r>
            <a:r>
              <a:rPr lang="ko-KR" altLang="en-US" sz="1100" dirty="0" err="1">
                <a:solidFill>
                  <a:schemeClr val="bg1"/>
                </a:solidFill>
                <a:latin typeface="+mj-ea"/>
                <a:ea typeface="+mj-ea"/>
              </a:rPr>
              <a:t>항본문</a:t>
            </a:r>
            <a:r>
              <a:rPr lang="en-US" altLang="ko-KR" sz="1100" dirty="0">
                <a:solidFill>
                  <a:schemeClr val="bg1"/>
                </a:solidFill>
                <a:latin typeface="+mj-ea"/>
                <a:ea typeface="+mj-ea"/>
              </a:rPr>
              <a:t>)</a:t>
            </a:r>
            <a:endParaRPr lang="ko-KR" altLang="en-US" sz="1600" b="0" dirty="0">
              <a:solidFill>
                <a:schemeClr val="bg1"/>
              </a:solidFill>
              <a:latin typeface="+mj-ea"/>
              <a:ea typeface="+mj-ea"/>
            </a:endParaRPr>
          </a:p>
        </p:txBody>
      </p:sp>
      <p:cxnSp>
        <p:nvCxnSpPr>
          <p:cNvPr id="6" name="직선 연결선 5"/>
          <p:cNvCxnSpPr/>
          <p:nvPr/>
        </p:nvCxnSpPr>
        <p:spPr>
          <a:xfrm>
            <a:off x="100299" y="2536498"/>
            <a:ext cx="5453829"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 name="직선 화살표 연결선 13"/>
          <p:cNvCxnSpPr>
            <a:stCxn id="7" idx="0"/>
          </p:cNvCxnSpPr>
          <p:nvPr/>
        </p:nvCxnSpPr>
        <p:spPr>
          <a:xfrm flipV="1">
            <a:off x="752933" y="2536500"/>
            <a:ext cx="0" cy="282846"/>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직선 화살표 연결선 15"/>
          <p:cNvCxnSpPr>
            <a:stCxn id="8" idx="0"/>
          </p:cNvCxnSpPr>
          <p:nvPr/>
        </p:nvCxnSpPr>
        <p:spPr>
          <a:xfrm flipV="1">
            <a:off x="4860421" y="2536500"/>
            <a:ext cx="0" cy="282846"/>
          </a:xfrm>
          <a:prstGeom prst="straightConnector1">
            <a:avLst/>
          </a:prstGeom>
          <a:ln w="12700">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자유형 16"/>
          <p:cNvSpPr/>
          <p:nvPr/>
        </p:nvSpPr>
        <p:spPr>
          <a:xfrm>
            <a:off x="745975" y="1864623"/>
            <a:ext cx="4098634" cy="633033"/>
          </a:xfrm>
          <a:custGeom>
            <a:avLst/>
            <a:gdLst>
              <a:gd name="connsiteX0" fmla="*/ 0 w 4944533"/>
              <a:gd name="connsiteY0" fmla="*/ 524934 h 524934"/>
              <a:gd name="connsiteX1" fmla="*/ 0 w 4944533"/>
              <a:gd name="connsiteY1" fmla="*/ 0 h 524934"/>
              <a:gd name="connsiteX2" fmla="*/ 4944533 w 4944533"/>
              <a:gd name="connsiteY2" fmla="*/ 0 h 524934"/>
              <a:gd name="connsiteX3" fmla="*/ 4944533 w 4944533"/>
              <a:gd name="connsiteY3" fmla="*/ 524934 h 524934"/>
            </a:gdLst>
            <a:ahLst/>
            <a:cxnLst>
              <a:cxn ang="0">
                <a:pos x="connsiteX0" y="connsiteY0"/>
              </a:cxn>
              <a:cxn ang="0">
                <a:pos x="connsiteX1" y="connsiteY1"/>
              </a:cxn>
              <a:cxn ang="0">
                <a:pos x="connsiteX2" y="connsiteY2"/>
              </a:cxn>
              <a:cxn ang="0">
                <a:pos x="connsiteX3" y="connsiteY3"/>
              </a:cxn>
            </a:cxnLst>
            <a:rect l="l" t="t" r="r" b="b"/>
            <a:pathLst>
              <a:path w="4944533" h="524934">
                <a:moveTo>
                  <a:pt x="0" y="524934"/>
                </a:moveTo>
                <a:lnTo>
                  <a:pt x="0" y="0"/>
                </a:lnTo>
                <a:lnTo>
                  <a:pt x="4944533" y="0"/>
                </a:lnTo>
                <a:lnTo>
                  <a:pt x="4944533" y="524934"/>
                </a:lnTo>
              </a:path>
            </a:pathLst>
          </a:custGeom>
          <a:ln w="127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8" name="자유형 17"/>
          <p:cNvSpPr/>
          <p:nvPr/>
        </p:nvSpPr>
        <p:spPr>
          <a:xfrm>
            <a:off x="745975" y="2128971"/>
            <a:ext cx="2883347" cy="379076"/>
          </a:xfrm>
          <a:custGeom>
            <a:avLst/>
            <a:gdLst>
              <a:gd name="connsiteX0" fmla="*/ 0 w 4944533"/>
              <a:gd name="connsiteY0" fmla="*/ 524934 h 524934"/>
              <a:gd name="connsiteX1" fmla="*/ 0 w 4944533"/>
              <a:gd name="connsiteY1" fmla="*/ 0 h 524934"/>
              <a:gd name="connsiteX2" fmla="*/ 4944533 w 4944533"/>
              <a:gd name="connsiteY2" fmla="*/ 0 h 524934"/>
              <a:gd name="connsiteX3" fmla="*/ 4944533 w 4944533"/>
              <a:gd name="connsiteY3" fmla="*/ 524934 h 524934"/>
            </a:gdLst>
            <a:ahLst/>
            <a:cxnLst>
              <a:cxn ang="0">
                <a:pos x="connsiteX0" y="connsiteY0"/>
              </a:cxn>
              <a:cxn ang="0">
                <a:pos x="connsiteX1" y="connsiteY1"/>
              </a:cxn>
              <a:cxn ang="0">
                <a:pos x="connsiteX2" y="connsiteY2"/>
              </a:cxn>
              <a:cxn ang="0">
                <a:pos x="connsiteX3" y="connsiteY3"/>
              </a:cxn>
            </a:cxnLst>
            <a:rect l="l" t="t" r="r" b="b"/>
            <a:pathLst>
              <a:path w="4944533" h="524934">
                <a:moveTo>
                  <a:pt x="0" y="524934"/>
                </a:moveTo>
                <a:lnTo>
                  <a:pt x="0" y="0"/>
                </a:lnTo>
                <a:lnTo>
                  <a:pt x="4944533" y="0"/>
                </a:lnTo>
                <a:lnTo>
                  <a:pt x="4944533" y="524934"/>
                </a:lnTo>
              </a:path>
            </a:pathLst>
          </a:custGeom>
          <a:ln w="127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3" name="TextBox 22"/>
          <p:cNvSpPr txBox="1"/>
          <p:nvPr/>
        </p:nvSpPr>
        <p:spPr>
          <a:xfrm>
            <a:off x="2777221" y="1715973"/>
            <a:ext cx="811441" cy="276999"/>
          </a:xfrm>
          <a:prstGeom prst="rect">
            <a:avLst/>
          </a:prstGeom>
          <a:solidFill>
            <a:schemeClr val="bg1"/>
          </a:solidFill>
        </p:spPr>
        <p:txBody>
          <a:bodyPr wrap="none" rtlCol="0">
            <a:spAutoFit/>
          </a:bodyPr>
          <a:lstStyle/>
          <a:p>
            <a:pPr algn="ctr"/>
            <a:r>
              <a:rPr lang="en-US" altLang="ko-KR" sz="1200" dirty="0"/>
              <a:t>1</a:t>
            </a:r>
            <a:r>
              <a:rPr lang="ko-KR" altLang="en-US" sz="1200" dirty="0"/>
              <a:t>년 </a:t>
            </a:r>
            <a:r>
              <a:rPr lang="en-US" altLang="ko-KR" sz="1200" dirty="0"/>
              <a:t>6</a:t>
            </a:r>
            <a:r>
              <a:rPr lang="ko-KR" altLang="en-US" sz="1200" dirty="0"/>
              <a:t>개월</a:t>
            </a:r>
          </a:p>
        </p:txBody>
      </p:sp>
      <p:sp>
        <p:nvSpPr>
          <p:cNvPr id="24" name="TextBox 23"/>
          <p:cNvSpPr txBox="1"/>
          <p:nvPr/>
        </p:nvSpPr>
        <p:spPr>
          <a:xfrm>
            <a:off x="1496913" y="1956603"/>
            <a:ext cx="672622" cy="276999"/>
          </a:xfrm>
          <a:prstGeom prst="rect">
            <a:avLst/>
          </a:prstGeom>
          <a:solidFill>
            <a:schemeClr val="bg1"/>
          </a:solidFill>
        </p:spPr>
        <p:txBody>
          <a:bodyPr wrap="none" rtlCol="0">
            <a:spAutoFit/>
          </a:bodyPr>
          <a:lstStyle/>
          <a:p>
            <a:r>
              <a:rPr lang="en-US" altLang="ko-KR" sz="1200" dirty="0"/>
              <a:t>1</a:t>
            </a:r>
            <a:r>
              <a:rPr lang="ko-KR" altLang="en-US" sz="1200" dirty="0"/>
              <a:t>년 </a:t>
            </a:r>
            <a:r>
              <a:rPr lang="en-US" altLang="ko-KR" sz="1200" dirty="0"/>
              <a:t>2</a:t>
            </a:r>
            <a:r>
              <a:rPr lang="ko-KR" altLang="en-US" sz="1200" dirty="0"/>
              <a:t>개월</a:t>
            </a:r>
          </a:p>
        </p:txBody>
      </p:sp>
      <p:sp>
        <p:nvSpPr>
          <p:cNvPr id="25" name="TextBox 24"/>
          <p:cNvSpPr txBox="1"/>
          <p:nvPr/>
        </p:nvSpPr>
        <p:spPr>
          <a:xfrm>
            <a:off x="1012657" y="2196485"/>
            <a:ext cx="1367682" cy="307777"/>
          </a:xfrm>
          <a:prstGeom prst="rect">
            <a:avLst/>
          </a:prstGeom>
          <a:solidFill>
            <a:schemeClr val="bg1"/>
          </a:solidFill>
        </p:spPr>
        <p:txBody>
          <a:bodyPr wrap="none" rtlCol="0">
            <a:spAutoFit/>
          </a:bodyPr>
          <a:lstStyle/>
          <a:p>
            <a:r>
              <a:rPr lang="ko-KR" altLang="en-US" sz="1400" dirty="0">
                <a:solidFill>
                  <a:srgbClr val="FF0000"/>
                </a:solidFill>
              </a:rPr>
              <a:t>일반적 제출기간</a:t>
            </a:r>
          </a:p>
        </p:txBody>
      </p:sp>
      <p:sp>
        <p:nvSpPr>
          <p:cNvPr id="7" name="직사각형 6"/>
          <p:cNvSpPr/>
          <p:nvPr/>
        </p:nvSpPr>
        <p:spPr>
          <a:xfrm>
            <a:off x="375735" y="2819345"/>
            <a:ext cx="754396" cy="495775"/>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외국어</a:t>
            </a:r>
            <a:endParaRPr lang="en-US" altLang="ko-KR" sz="1200" dirty="0">
              <a:solidFill>
                <a:schemeClr val="tx1"/>
              </a:solidFill>
            </a:endParaRPr>
          </a:p>
          <a:p>
            <a:pPr algn="ctr"/>
            <a:r>
              <a:rPr lang="ko-KR" altLang="en-US" sz="1200" dirty="0">
                <a:solidFill>
                  <a:schemeClr val="tx1"/>
                </a:solidFill>
              </a:rPr>
              <a:t>특허출원</a:t>
            </a:r>
          </a:p>
        </p:txBody>
      </p:sp>
      <p:sp>
        <p:nvSpPr>
          <p:cNvPr id="8" name="직사각형 7"/>
          <p:cNvSpPr/>
          <p:nvPr/>
        </p:nvSpPr>
        <p:spPr>
          <a:xfrm>
            <a:off x="4483223" y="2819346"/>
            <a:ext cx="754396" cy="338710"/>
          </a:xfrm>
          <a:prstGeom prst="rect">
            <a:avLst/>
          </a:prstGeom>
          <a:solidFill>
            <a:schemeClr val="bg1">
              <a:lumMod val="95000"/>
            </a:schemeClr>
          </a:solid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출원공개</a:t>
            </a:r>
          </a:p>
        </p:txBody>
      </p:sp>
      <p:sp>
        <p:nvSpPr>
          <p:cNvPr id="53" name="자유형 52"/>
          <p:cNvSpPr/>
          <p:nvPr/>
        </p:nvSpPr>
        <p:spPr>
          <a:xfrm>
            <a:off x="8425865" y="2552095"/>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dotGrid">
            <a:fgClr>
              <a:schemeClr val="accent1"/>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algn="ctr"/>
            <a:r>
              <a:rPr lang="en-US" altLang="ko-KR" dirty="0">
                <a:solidFill>
                  <a:schemeClr val="accent2"/>
                </a:solidFill>
              </a:rPr>
              <a:t>3</a:t>
            </a:r>
            <a:r>
              <a:rPr lang="ko-KR" altLang="en-US" dirty="0">
                <a:solidFill>
                  <a:schemeClr val="accent2"/>
                </a:solidFill>
              </a:rPr>
              <a:t>개월</a:t>
            </a:r>
          </a:p>
        </p:txBody>
      </p:sp>
      <p:cxnSp>
        <p:nvCxnSpPr>
          <p:cNvPr id="27" name="직선 연결선 26"/>
          <p:cNvCxnSpPr/>
          <p:nvPr/>
        </p:nvCxnSpPr>
        <p:spPr>
          <a:xfrm>
            <a:off x="6132541" y="2531671"/>
            <a:ext cx="588166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직사각형 27"/>
          <p:cNvSpPr/>
          <p:nvPr/>
        </p:nvSpPr>
        <p:spPr>
          <a:xfrm>
            <a:off x="6429584" y="2814518"/>
            <a:ext cx="813575" cy="499889"/>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외국어</a:t>
            </a:r>
            <a:endParaRPr lang="en-US" altLang="ko-KR" sz="1200" dirty="0">
              <a:solidFill>
                <a:schemeClr val="tx1"/>
              </a:solidFill>
            </a:endParaRPr>
          </a:p>
          <a:p>
            <a:pPr algn="ctr"/>
            <a:r>
              <a:rPr lang="ko-KR" altLang="en-US" sz="1200" dirty="0">
                <a:solidFill>
                  <a:schemeClr val="tx1"/>
                </a:solidFill>
              </a:rPr>
              <a:t>특허출원</a:t>
            </a:r>
          </a:p>
        </p:txBody>
      </p:sp>
      <p:cxnSp>
        <p:nvCxnSpPr>
          <p:cNvPr id="30" name="직선 화살표 연결선 29"/>
          <p:cNvCxnSpPr>
            <a:stCxn id="28" idx="0"/>
          </p:cNvCxnSpPr>
          <p:nvPr/>
        </p:nvCxnSpPr>
        <p:spPr>
          <a:xfrm flipV="1">
            <a:off x="6836371" y="2531673"/>
            <a:ext cx="0" cy="282846"/>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자유형 32"/>
          <p:cNvSpPr/>
          <p:nvPr/>
        </p:nvSpPr>
        <p:spPr>
          <a:xfrm>
            <a:off x="6828867" y="2124144"/>
            <a:ext cx="4007714" cy="379076"/>
          </a:xfrm>
          <a:custGeom>
            <a:avLst/>
            <a:gdLst>
              <a:gd name="connsiteX0" fmla="*/ 0 w 4944533"/>
              <a:gd name="connsiteY0" fmla="*/ 524934 h 524934"/>
              <a:gd name="connsiteX1" fmla="*/ 0 w 4944533"/>
              <a:gd name="connsiteY1" fmla="*/ 0 h 524934"/>
              <a:gd name="connsiteX2" fmla="*/ 4944533 w 4944533"/>
              <a:gd name="connsiteY2" fmla="*/ 0 h 524934"/>
              <a:gd name="connsiteX3" fmla="*/ 4944533 w 4944533"/>
              <a:gd name="connsiteY3" fmla="*/ 524934 h 524934"/>
            </a:gdLst>
            <a:ahLst/>
            <a:cxnLst>
              <a:cxn ang="0">
                <a:pos x="connsiteX0" y="connsiteY0"/>
              </a:cxn>
              <a:cxn ang="0">
                <a:pos x="connsiteX1" y="connsiteY1"/>
              </a:cxn>
              <a:cxn ang="0">
                <a:pos x="connsiteX2" y="connsiteY2"/>
              </a:cxn>
              <a:cxn ang="0">
                <a:pos x="connsiteX3" y="connsiteY3"/>
              </a:cxn>
            </a:cxnLst>
            <a:rect l="l" t="t" r="r" b="b"/>
            <a:pathLst>
              <a:path w="4944533" h="524934">
                <a:moveTo>
                  <a:pt x="0" y="524934"/>
                </a:moveTo>
                <a:lnTo>
                  <a:pt x="0" y="0"/>
                </a:lnTo>
                <a:lnTo>
                  <a:pt x="4944533" y="0"/>
                </a:lnTo>
                <a:lnTo>
                  <a:pt x="4944533" y="524934"/>
                </a:lnTo>
              </a:path>
            </a:pathLst>
          </a:custGeom>
          <a:ln w="127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5" name="TextBox 34"/>
          <p:cNvSpPr txBox="1"/>
          <p:nvPr/>
        </p:nvSpPr>
        <p:spPr>
          <a:xfrm>
            <a:off x="8186073" y="1951776"/>
            <a:ext cx="811441" cy="276999"/>
          </a:xfrm>
          <a:prstGeom prst="rect">
            <a:avLst/>
          </a:prstGeom>
          <a:solidFill>
            <a:schemeClr val="bg1"/>
          </a:solidFill>
        </p:spPr>
        <p:txBody>
          <a:bodyPr wrap="none" rtlCol="0">
            <a:spAutoFit/>
          </a:bodyPr>
          <a:lstStyle/>
          <a:p>
            <a:pPr algn="ctr"/>
            <a:r>
              <a:rPr lang="en-US" altLang="ko-KR" sz="1200" dirty="0"/>
              <a:t>1</a:t>
            </a:r>
            <a:r>
              <a:rPr lang="ko-KR" altLang="en-US" sz="1200" dirty="0"/>
              <a:t>년 </a:t>
            </a:r>
            <a:r>
              <a:rPr lang="en-US" altLang="ko-KR" sz="1200" dirty="0"/>
              <a:t>2</a:t>
            </a:r>
            <a:r>
              <a:rPr lang="ko-KR" altLang="en-US" sz="1200" dirty="0"/>
              <a:t>개월</a:t>
            </a:r>
          </a:p>
        </p:txBody>
      </p:sp>
      <p:sp>
        <p:nvSpPr>
          <p:cNvPr id="41" name="직사각형 40"/>
          <p:cNvSpPr/>
          <p:nvPr/>
        </p:nvSpPr>
        <p:spPr>
          <a:xfrm>
            <a:off x="7139176" y="3442558"/>
            <a:ext cx="813575"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자</a:t>
            </a:r>
            <a:endParaRPr lang="en-US" altLang="ko-KR" sz="1200" dirty="0">
              <a:solidFill>
                <a:schemeClr val="tx1"/>
              </a:solidFill>
            </a:endParaRPr>
          </a:p>
          <a:p>
            <a:pPr algn="ctr"/>
            <a:r>
              <a:rPr lang="ko-KR" altLang="en-US" sz="1200" dirty="0">
                <a:solidFill>
                  <a:schemeClr val="tx1"/>
                </a:solidFill>
              </a:rPr>
              <a:t>심사청구</a:t>
            </a:r>
          </a:p>
        </p:txBody>
      </p:sp>
      <p:cxnSp>
        <p:nvCxnSpPr>
          <p:cNvPr id="42" name="직선 화살표 연결선 41"/>
          <p:cNvCxnSpPr>
            <a:stCxn id="41" idx="0"/>
          </p:cNvCxnSpPr>
          <p:nvPr/>
        </p:nvCxnSpPr>
        <p:spPr>
          <a:xfrm flipH="1" flipV="1">
            <a:off x="7545963" y="2531674"/>
            <a:ext cx="1" cy="910884"/>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직사각형 44"/>
          <p:cNvSpPr/>
          <p:nvPr/>
        </p:nvSpPr>
        <p:spPr>
          <a:xfrm>
            <a:off x="8001406" y="3442558"/>
            <a:ext cx="813575"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취지통지</a:t>
            </a:r>
          </a:p>
        </p:txBody>
      </p:sp>
      <p:cxnSp>
        <p:nvCxnSpPr>
          <p:cNvPr id="46" name="직선 화살표 연결선 45"/>
          <p:cNvCxnSpPr>
            <a:stCxn id="45" idx="0"/>
          </p:cNvCxnSpPr>
          <p:nvPr/>
        </p:nvCxnSpPr>
        <p:spPr>
          <a:xfrm flipV="1">
            <a:off x="8408194" y="2531674"/>
            <a:ext cx="0" cy="910884"/>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직사각형 46"/>
          <p:cNvSpPr/>
          <p:nvPr/>
        </p:nvSpPr>
        <p:spPr>
          <a:xfrm>
            <a:off x="9274312" y="3441083"/>
            <a:ext cx="813575"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자</a:t>
            </a:r>
            <a:endParaRPr lang="en-US" altLang="ko-KR" sz="1200" dirty="0">
              <a:solidFill>
                <a:schemeClr val="tx1"/>
              </a:solidFill>
            </a:endParaRPr>
          </a:p>
          <a:p>
            <a:pPr algn="ctr"/>
            <a:r>
              <a:rPr lang="ko-KR" altLang="en-US" sz="1200" dirty="0">
                <a:solidFill>
                  <a:schemeClr val="tx1"/>
                </a:solidFill>
              </a:rPr>
              <a:t>심사청구</a:t>
            </a:r>
          </a:p>
        </p:txBody>
      </p:sp>
      <p:cxnSp>
        <p:nvCxnSpPr>
          <p:cNvPr id="48" name="직선 화살표 연결선 47"/>
          <p:cNvCxnSpPr>
            <a:stCxn id="47" idx="0"/>
          </p:cNvCxnSpPr>
          <p:nvPr/>
        </p:nvCxnSpPr>
        <p:spPr>
          <a:xfrm flipV="1">
            <a:off x="9681100" y="2531674"/>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9" name="직사각형 48"/>
          <p:cNvSpPr/>
          <p:nvPr/>
        </p:nvSpPr>
        <p:spPr>
          <a:xfrm>
            <a:off x="10136543" y="3441083"/>
            <a:ext cx="813575" cy="47417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취지통지</a:t>
            </a:r>
          </a:p>
        </p:txBody>
      </p:sp>
      <p:cxnSp>
        <p:nvCxnSpPr>
          <p:cNvPr id="50" name="직선 화살표 연결선 49"/>
          <p:cNvCxnSpPr>
            <a:stCxn id="49" idx="0"/>
          </p:cNvCxnSpPr>
          <p:nvPr/>
        </p:nvCxnSpPr>
        <p:spPr>
          <a:xfrm flipV="1">
            <a:off x="10543330" y="2531674"/>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자유형 53"/>
          <p:cNvSpPr/>
          <p:nvPr/>
        </p:nvSpPr>
        <p:spPr>
          <a:xfrm>
            <a:off x="10543330" y="2552095"/>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dotGrid">
            <a:fgClr>
              <a:schemeClr val="accent1"/>
            </a:fgClr>
            <a:bgClr>
              <a:schemeClr val="bg1"/>
            </a:bgClr>
          </a:pattFill>
        </p:spPr>
        <p:style>
          <a:lnRef idx="1">
            <a:schemeClr val="accent1"/>
          </a:lnRef>
          <a:fillRef idx="0">
            <a:schemeClr val="accent1"/>
          </a:fillRef>
          <a:effectRef idx="0">
            <a:schemeClr val="accent1"/>
          </a:effectRef>
          <a:fontRef idx="minor">
            <a:schemeClr val="tx1"/>
          </a:fontRef>
        </p:style>
        <p:txBody>
          <a:bodyPr rtlCol="0" anchor="ctr"/>
          <a:lstStyle/>
          <a:p>
            <a:pPr algn="ctr"/>
            <a:r>
              <a:rPr lang="en-US" altLang="ko-KR" dirty="0">
                <a:solidFill>
                  <a:schemeClr val="accent2"/>
                </a:solidFill>
              </a:rPr>
              <a:t>3</a:t>
            </a:r>
            <a:r>
              <a:rPr lang="ko-KR" altLang="en-US" dirty="0">
                <a:solidFill>
                  <a:schemeClr val="accent2"/>
                </a:solidFill>
              </a:rPr>
              <a:t>개월</a:t>
            </a:r>
          </a:p>
        </p:txBody>
      </p:sp>
      <p:sp>
        <p:nvSpPr>
          <p:cNvPr id="55" name="TextBox 54"/>
          <p:cNvSpPr txBox="1"/>
          <p:nvPr/>
        </p:nvSpPr>
        <p:spPr>
          <a:xfrm>
            <a:off x="10357895" y="3071751"/>
            <a:ext cx="370870" cy="369332"/>
          </a:xfrm>
          <a:prstGeom prst="rect">
            <a:avLst/>
          </a:prstGeom>
          <a:noFill/>
        </p:spPr>
        <p:txBody>
          <a:bodyPr wrap="square" rtlCol="0">
            <a:spAutoFit/>
          </a:bodyPr>
          <a:lstStyle/>
          <a:p>
            <a:pPr fontAlgn="base"/>
            <a:r>
              <a:rPr lang="ko-KR" altLang="en-US" dirty="0">
                <a:solidFill>
                  <a:srgbClr val="FF0000"/>
                </a:solidFill>
              </a:rPr>
              <a:t>❷</a:t>
            </a:r>
          </a:p>
        </p:txBody>
      </p:sp>
      <p:sp>
        <p:nvSpPr>
          <p:cNvPr id="56" name="TextBox 55"/>
          <p:cNvSpPr txBox="1"/>
          <p:nvPr/>
        </p:nvSpPr>
        <p:spPr>
          <a:xfrm>
            <a:off x="8213962" y="2945789"/>
            <a:ext cx="370870" cy="369332"/>
          </a:xfrm>
          <a:prstGeom prst="rect">
            <a:avLst/>
          </a:prstGeom>
          <a:noFill/>
        </p:spPr>
        <p:txBody>
          <a:bodyPr wrap="square" rtlCol="0">
            <a:spAutoFit/>
          </a:bodyPr>
          <a:lstStyle/>
          <a:p>
            <a:pPr fontAlgn="base"/>
            <a:r>
              <a:rPr lang="ko-KR" altLang="en-US" dirty="0">
                <a:solidFill>
                  <a:srgbClr val="FF0000"/>
                </a:solidFill>
              </a:rPr>
              <a:t>❶</a:t>
            </a:r>
          </a:p>
        </p:txBody>
      </p:sp>
      <p:sp>
        <p:nvSpPr>
          <p:cNvPr id="57" name="TextBox 56"/>
          <p:cNvSpPr txBox="1"/>
          <p:nvPr/>
        </p:nvSpPr>
        <p:spPr>
          <a:xfrm>
            <a:off x="9106441" y="2367429"/>
            <a:ext cx="370870" cy="369332"/>
          </a:xfrm>
          <a:prstGeom prst="rect">
            <a:avLst/>
          </a:prstGeom>
          <a:noFill/>
        </p:spPr>
        <p:txBody>
          <a:bodyPr wrap="square" rtlCol="0">
            <a:spAutoFit/>
          </a:bodyPr>
          <a:lstStyle/>
          <a:p>
            <a:pPr fontAlgn="base"/>
            <a:r>
              <a:rPr lang="ko-KR" altLang="en-US" dirty="0">
                <a:solidFill>
                  <a:srgbClr val="FF0000"/>
                </a:solidFill>
              </a:rPr>
              <a:t>❶</a:t>
            </a:r>
          </a:p>
        </p:txBody>
      </p:sp>
      <p:sp>
        <p:nvSpPr>
          <p:cNvPr id="58" name="TextBox 57"/>
          <p:cNvSpPr txBox="1"/>
          <p:nvPr/>
        </p:nvSpPr>
        <p:spPr>
          <a:xfrm>
            <a:off x="10658715" y="2249134"/>
            <a:ext cx="370870" cy="369332"/>
          </a:xfrm>
          <a:prstGeom prst="rect">
            <a:avLst/>
          </a:prstGeom>
          <a:noFill/>
        </p:spPr>
        <p:txBody>
          <a:bodyPr wrap="square" rtlCol="0">
            <a:spAutoFit/>
          </a:bodyPr>
          <a:lstStyle/>
          <a:p>
            <a:pPr fontAlgn="base"/>
            <a:r>
              <a:rPr lang="ko-KR" altLang="en-US" dirty="0">
                <a:solidFill>
                  <a:srgbClr val="FF0000"/>
                </a:solidFill>
              </a:rPr>
              <a:t>❷</a:t>
            </a:r>
          </a:p>
        </p:txBody>
      </p:sp>
      <p:sp>
        <p:nvSpPr>
          <p:cNvPr id="59" name="Rectangle 5"/>
          <p:cNvSpPr>
            <a:spLocks noChangeArrowheads="1"/>
          </p:cNvSpPr>
          <p:nvPr/>
        </p:nvSpPr>
        <p:spPr bwMode="auto">
          <a:xfrm>
            <a:off x="6166216" y="1106382"/>
            <a:ext cx="2153886" cy="505913"/>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제</a:t>
            </a:r>
            <a:r>
              <a:rPr lang="en-US" altLang="ko-KR" sz="1600" b="0" dirty="0">
                <a:solidFill>
                  <a:schemeClr val="bg1"/>
                </a:solidFill>
                <a:latin typeface="+mj-ea"/>
                <a:ea typeface="+mj-ea"/>
              </a:rPr>
              <a:t>3</a:t>
            </a:r>
            <a:r>
              <a:rPr lang="ko-KR" altLang="en-US" sz="1600" b="0" dirty="0">
                <a:solidFill>
                  <a:schemeClr val="bg1"/>
                </a:solidFill>
                <a:latin typeface="+mj-ea"/>
                <a:ea typeface="+mj-ea"/>
              </a:rPr>
              <a:t>자의 심사청구</a:t>
            </a:r>
            <a:endParaRPr lang="en-US" altLang="ko-KR" sz="1600" b="0" dirty="0">
              <a:solidFill>
                <a:schemeClr val="bg1"/>
              </a:solidFill>
              <a:latin typeface="+mj-ea"/>
              <a:ea typeface="+mj-ea"/>
            </a:endParaRPr>
          </a:p>
          <a:p>
            <a:pPr algn="ctr"/>
            <a:r>
              <a:rPr lang="en-US" altLang="ko-KR" sz="1100" b="0" dirty="0">
                <a:solidFill>
                  <a:schemeClr val="bg1"/>
                </a:solidFill>
                <a:latin typeface="+mj-ea"/>
                <a:ea typeface="+mj-ea"/>
              </a:rPr>
              <a:t>(</a:t>
            </a:r>
            <a:r>
              <a:rPr lang="ko-KR" altLang="en-US" sz="1100" dirty="0">
                <a:solidFill>
                  <a:schemeClr val="bg1"/>
                </a:solidFill>
                <a:latin typeface="+mj-ea"/>
                <a:ea typeface="+mj-ea"/>
              </a:rPr>
              <a:t>제</a:t>
            </a:r>
            <a:r>
              <a:rPr lang="en-US" altLang="ko-KR" sz="1100" dirty="0">
                <a:solidFill>
                  <a:schemeClr val="bg1"/>
                </a:solidFill>
                <a:latin typeface="+mj-ea"/>
                <a:ea typeface="+mj-ea"/>
              </a:rPr>
              <a:t>42</a:t>
            </a:r>
            <a:r>
              <a:rPr lang="ko-KR" altLang="en-US" sz="1100" dirty="0">
                <a:solidFill>
                  <a:schemeClr val="bg1"/>
                </a:solidFill>
                <a:latin typeface="+mj-ea"/>
                <a:ea typeface="+mj-ea"/>
              </a:rPr>
              <a:t>조의</a:t>
            </a:r>
            <a:r>
              <a:rPr lang="en-US" altLang="ko-KR" sz="1100" dirty="0">
                <a:solidFill>
                  <a:schemeClr val="bg1"/>
                </a:solidFill>
                <a:latin typeface="+mj-ea"/>
                <a:ea typeface="+mj-ea"/>
              </a:rPr>
              <a:t>3</a:t>
            </a:r>
            <a:r>
              <a:rPr lang="ko-KR" altLang="en-US" sz="1100" dirty="0">
                <a:solidFill>
                  <a:schemeClr val="bg1"/>
                </a:solidFill>
                <a:latin typeface="+mj-ea"/>
                <a:ea typeface="+mj-ea"/>
              </a:rPr>
              <a:t>제</a:t>
            </a:r>
            <a:r>
              <a:rPr lang="en-US" altLang="ko-KR" sz="1100" dirty="0">
                <a:solidFill>
                  <a:schemeClr val="bg1"/>
                </a:solidFill>
                <a:latin typeface="+mj-ea"/>
                <a:ea typeface="+mj-ea"/>
              </a:rPr>
              <a:t>2</a:t>
            </a:r>
            <a:r>
              <a:rPr lang="ko-KR" altLang="en-US" sz="1100" dirty="0" err="1">
                <a:solidFill>
                  <a:schemeClr val="bg1"/>
                </a:solidFill>
                <a:latin typeface="+mj-ea"/>
                <a:ea typeface="+mj-ea"/>
              </a:rPr>
              <a:t>항단서</a:t>
            </a:r>
            <a:r>
              <a:rPr lang="en-US" altLang="ko-KR" sz="1100" dirty="0">
                <a:solidFill>
                  <a:schemeClr val="bg1"/>
                </a:solidFill>
                <a:latin typeface="+mj-ea"/>
                <a:ea typeface="+mj-ea"/>
              </a:rPr>
              <a:t>)</a:t>
            </a:r>
            <a:endParaRPr lang="ko-KR" altLang="en-US" sz="1600" b="0" dirty="0">
              <a:solidFill>
                <a:schemeClr val="bg1"/>
              </a:solidFill>
              <a:latin typeface="+mj-ea"/>
              <a:ea typeface="+mj-ea"/>
            </a:endParaRPr>
          </a:p>
        </p:txBody>
      </p:sp>
      <p:cxnSp>
        <p:nvCxnSpPr>
          <p:cNvPr id="63" name="직선 연결선 62"/>
          <p:cNvCxnSpPr/>
          <p:nvPr/>
        </p:nvCxnSpPr>
        <p:spPr>
          <a:xfrm>
            <a:off x="5741812" y="1095555"/>
            <a:ext cx="0" cy="2816524"/>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직선 연결선 64"/>
          <p:cNvCxnSpPr/>
          <p:nvPr/>
        </p:nvCxnSpPr>
        <p:spPr>
          <a:xfrm>
            <a:off x="375735" y="4140200"/>
            <a:ext cx="11469132"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Rectangle 5"/>
          <p:cNvSpPr>
            <a:spLocks noChangeArrowheads="1"/>
          </p:cNvSpPr>
          <p:nvPr/>
        </p:nvSpPr>
        <p:spPr bwMode="auto">
          <a:xfrm>
            <a:off x="127524" y="4323715"/>
            <a:ext cx="2153886" cy="505913"/>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a:solidFill>
                  <a:schemeClr val="bg1"/>
                </a:solidFill>
                <a:latin typeface="+mj-ea"/>
                <a:ea typeface="+mj-ea"/>
              </a:rPr>
              <a:t>분할출원</a:t>
            </a:r>
            <a:r>
              <a:rPr lang="en-US" altLang="ko-KR" sz="1600" dirty="0">
                <a:solidFill>
                  <a:schemeClr val="bg1"/>
                </a:solidFill>
                <a:latin typeface="+mj-ea"/>
                <a:ea typeface="+mj-ea"/>
              </a:rPr>
              <a:t>, </a:t>
            </a:r>
            <a:r>
              <a:rPr lang="ko-KR" altLang="en-US" sz="1600" dirty="0" err="1">
                <a:solidFill>
                  <a:schemeClr val="bg1"/>
                </a:solidFill>
                <a:latin typeface="+mj-ea"/>
                <a:ea typeface="+mj-ea"/>
              </a:rPr>
              <a:t>변경출원</a:t>
            </a:r>
            <a:endParaRPr lang="en-US" altLang="ko-KR" sz="1600" dirty="0">
              <a:solidFill>
                <a:schemeClr val="bg1"/>
              </a:solidFill>
              <a:latin typeface="+mj-ea"/>
              <a:ea typeface="+mj-ea"/>
            </a:endParaRPr>
          </a:p>
          <a:p>
            <a:pPr algn="ctr"/>
            <a:r>
              <a:rPr lang="en-US" altLang="ko-KR" sz="1100" dirty="0">
                <a:solidFill>
                  <a:schemeClr val="bg1"/>
                </a:solidFill>
                <a:latin typeface="+mj-ea"/>
                <a:ea typeface="+mj-ea"/>
              </a:rPr>
              <a:t>(</a:t>
            </a:r>
            <a:r>
              <a:rPr lang="ko-KR" altLang="en-US" sz="1100" dirty="0">
                <a:solidFill>
                  <a:schemeClr val="bg1"/>
                </a:solidFill>
                <a:latin typeface="+mj-ea"/>
                <a:ea typeface="+mj-ea"/>
              </a:rPr>
              <a:t>제</a:t>
            </a:r>
            <a:r>
              <a:rPr lang="en-US" altLang="ko-KR" sz="1100" dirty="0">
                <a:solidFill>
                  <a:schemeClr val="bg1"/>
                </a:solidFill>
                <a:latin typeface="+mj-ea"/>
                <a:ea typeface="+mj-ea"/>
              </a:rPr>
              <a:t>52</a:t>
            </a:r>
            <a:r>
              <a:rPr lang="ko-KR" altLang="en-US" sz="1100" dirty="0">
                <a:solidFill>
                  <a:schemeClr val="bg1"/>
                </a:solidFill>
                <a:latin typeface="+mj-ea"/>
                <a:ea typeface="+mj-ea"/>
              </a:rPr>
              <a:t>조제</a:t>
            </a:r>
            <a:r>
              <a:rPr lang="en-US" altLang="ko-KR" sz="1100" dirty="0">
                <a:solidFill>
                  <a:schemeClr val="bg1"/>
                </a:solidFill>
                <a:latin typeface="+mj-ea"/>
                <a:ea typeface="+mj-ea"/>
              </a:rPr>
              <a:t>7</a:t>
            </a:r>
            <a:r>
              <a:rPr lang="ko-KR" altLang="en-US" sz="1100" dirty="0">
                <a:solidFill>
                  <a:schemeClr val="bg1"/>
                </a:solidFill>
                <a:latin typeface="+mj-ea"/>
                <a:ea typeface="+mj-ea"/>
              </a:rPr>
              <a:t>항</a:t>
            </a:r>
            <a:r>
              <a:rPr lang="en-US" altLang="ko-KR" sz="1100" dirty="0">
                <a:solidFill>
                  <a:schemeClr val="bg1"/>
                </a:solidFill>
                <a:latin typeface="+mj-ea"/>
                <a:ea typeface="+mj-ea"/>
              </a:rPr>
              <a:t>, </a:t>
            </a:r>
            <a:r>
              <a:rPr lang="ko-KR" altLang="en-US" sz="1100" dirty="0">
                <a:solidFill>
                  <a:schemeClr val="bg1"/>
                </a:solidFill>
                <a:latin typeface="+mj-ea"/>
                <a:ea typeface="+mj-ea"/>
              </a:rPr>
              <a:t>제</a:t>
            </a:r>
            <a:r>
              <a:rPr lang="en-US" altLang="ko-KR" sz="1100" dirty="0">
                <a:solidFill>
                  <a:schemeClr val="bg1"/>
                </a:solidFill>
                <a:latin typeface="+mj-ea"/>
                <a:ea typeface="+mj-ea"/>
              </a:rPr>
              <a:t>53</a:t>
            </a:r>
            <a:r>
              <a:rPr lang="ko-KR" altLang="en-US" sz="1100" dirty="0">
                <a:solidFill>
                  <a:schemeClr val="bg1"/>
                </a:solidFill>
                <a:latin typeface="+mj-ea"/>
                <a:ea typeface="+mj-ea"/>
              </a:rPr>
              <a:t>조제</a:t>
            </a:r>
            <a:r>
              <a:rPr lang="en-US" altLang="ko-KR" sz="1100" dirty="0">
                <a:solidFill>
                  <a:schemeClr val="bg1"/>
                </a:solidFill>
                <a:latin typeface="+mj-ea"/>
                <a:ea typeface="+mj-ea"/>
              </a:rPr>
              <a:t>7</a:t>
            </a:r>
            <a:r>
              <a:rPr lang="ko-KR" altLang="en-US" sz="1100" dirty="0">
                <a:solidFill>
                  <a:schemeClr val="bg1"/>
                </a:solidFill>
                <a:latin typeface="+mj-ea"/>
                <a:ea typeface="+mj-ea"/>
              </a:rPr>
              <a:t>항</a:t>
            </a:r>
            <a:r>
              <a:rPr lang="en-US" altLang="ko-KR" sz="1100" dirty="0">
                <a:solidFill>
                  <a:schemeClr val="bg1"/>
                </a:solidFill>
                <a:latin typeface="+mj-ea"/>
                <a:ea typeface="+mj-ea"/>
              </a:rPr>
              <a:t>)</a:t>
            </a:r>
          </a:p>
        </p:txBody>
      </p:sp>
      <p:sp>
        <p:nvSpPr>
          <p:cNvPr id="80" name="자유형 79"/>
          <p:cNvSpPr/>
          <p:nvPr/>
        </p:nvSpPr>
        <p:spPr>
          <a:xfrm>
            <a:off x="5415468" y="5068041"/>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ltHorz">
            <a:fgClr>
              <a:schemeClr val="accent4"/>
            </a:fgClr>
            <a:bgClr>
              <a:schemeClr val="bg1"/>
            </a:bgClr>
          </a:pattFill>
          <a:ln>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altLang="ko-KR" dirty="0">
                <a:solidFill>
                  <a:schemeClr val="accent2">
                    <a:lumMod val="50000"/>
                  </a:schemeClr>
                </a:solidFill>
              </a:rPr>
              <a:t>30</a:t>
            </a:r>
            <a:r>
              <a:rPr lang="ko-KR" altLang="en-US" dirty="0">
                <a:solidFill>
                  <a:schemeClr val="accent2">
                    <a:lumMod val="50000"/>
                  </a:schemeClr>
                </a:solidFill>
              </a:rPr>
              <a:t>일</a:t>
            </a:r>
          </a:p>
        </p:txBody>
      </p:sp>
      <p:cxnSp>
        <p:nvCxnSpPr>
          <p:cNvPr id="81" name="직선 연결선 80"/>
          <p:cNvCxnSpPr/>
          <p:nvPr/>
        </p:nvCxnSpPr>
        <p:spPr>
          <a:xfrm>
            <a:off x="3122144" y="5047617"/>
            <a:ext cx="8527989"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직사각형 81"/>
          <p:cNvSpPr/>
          <p:nvPr/>
        </p:nvSpPr>
        <p:spPr>
          <a:xfrm>
            <a:off x="3419187" y="5330465"/>
            <a:ext cx="813575" cy="33871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특허출원</a:t>
            </a:r>
          </a:p>
        </p:txBody>
      </p:sp>
      <p:cxnSp>
        <p:nvCxnSpPr>
          <p:cNvPr id="83" name="직선 화살표 연결선 82"/>
          <p:cNvCxnSpPr>
            <a:stCxn id="82" idx="0"/>
          </p:cNvCxnSpPr>
          <p:nvPr/>
        </p:nvCxnSpPr>
        <p:spPr>
          <a:xfrm flipV="1">
            <a:off x="3825974" y="5047619"/>
            <a:ext cx="0" cy="282846"/>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4" name="자유형 83"/>
          <p:cNvSpPr/>
          <p:nvPr/>
        </p:nvSpPr>
        <p:spPr>
          <a:xfrm>
            <a:off x="3818470" y="4640090"/>
            <a:ext cx="4007714" cy="379076"/>
          </a:xfrm>
          <a:custGeom>
            <a:avLst/>
            <a:gdLst>
              <a:gd name="connsiteX0" fmla="*/ 0 w 4944533"/>
              <a:gd name="connsiteY0" fmla="*/ 524934 h 524934"/>
              <a:gd name="connsiteX1" fmla="*/ 0 w 4944533"/>
              <a:gd name="connsiteY1" fmla="*/ 0 h 524934"/>
              <a:gd name="connsiteX2" fmla="*/ 4944533 w 4944533"/>
              <a:gd name="connsiteY2" fmla="*/ 0 h 524934"/>
              <a:gd name="connsiteX3" fmla="*/ 4944533 w 4944533"/>
              <a:gd name="connsiteY3" fmla="*/ 524934 h 524934"/>
            </a:gdLst>
            <a:ahLst/>
            <a:cxnLst>
              <a:cxn ang="0">
                <a:pos x="connsiteX0" y="connsiteY0"/>
              </a:cxn>
              <a:cxn ang="0">
                <a:pos x="connsiteX1" y="connsiteY1"/>
              </a:cxn>
              <a:cxn ang="0">
                <a:pos x="connsiteX2" y="connsiteY2"/>
              </a:cxn>
              <a:cxn ang="0">
                <a:pos x="connsiteX3" y="connsiteY3"/>
              </a:cxn>
            </a:cxnLst>
            <a:rect l="l" t="t" r="r" b="b"/>
            <a:pathLst>
              <a:path w="4944533" h="524934">
                <a:moveTo>
                  <a:pt x="0" y="524934"/>
                </a:moveTo>
                <a:lnTo>
                  <a:pt x="0" y="0"/>
                </a:lnTo>
                <a:lnTo>
                  <a:pt x="4944533" y="0"/>
                </a:lnTo>
                <a:lnTo>
                  <a:pt x="4944533" y="524934"/>
                </a:lnTo>
              </a:path>
            </a:pathLst>
          </a:custGeom>
          <a:ln w="127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85" name="TextBox 84"/>
          <p:cNvSpPr txBox="1"/>
          <p:nvPr/>
        </p:nvSpPr>
        <p:spPr>
          <a:xfrm>
            <a:off x="4002579" y="4501590"/>
            <a:ext cx="3597460" cy="276999"/>
          </a:xfrm>
          <a:prstGeom prst="rect">
            <a:avLst/>
          </a:prstGeom>
          <a:solidFill>
            <a:schemeClr val="bg1"/>
          </a:solidFill>
        </p:spPr>
        <p:txBody>
          <a:bodyPr wrap="none" rtlCol="0">
            <a:spAutoFit/>
          </a:bodyPr>
          <a:lstStyle/>
          <a:p>
            <a:pPr algn="ctr"/>
            <a:r>
              <a:rPr lang="ko-KR" altLang="en-US" sz="1200" dirty="0"/>
              <a:t>일반적인 제출기간</a:t>
            </a:r>
            <a:r>
              <a:rPr lang="en-US" altLang="ko-KR" sz="1200" dirty="0"/>
              <a:t>(</a:t>
            </a:r>
            <a:r>
              <a:rPr lang="ko-KR" altLang="en-US" sz="1200" dirty="0"/>
              <a:t>제</a:t>
            </a:r>
            <a:r>
              <a:rPr lang="en-US" altLang="ko-KR" sz="1200" dirty="0"/>
              <a:t>42</a:t>
            </a:r>
            <a:r>
              <a:rPr lang="ko-KR" altLang="en-US" sz="1200" dirty="0"/>
              <a:t>조의</a:t>
            </a:r>
            <a:r>
              <a:rPr lang="en-US" altLang="ko-KR" sz="1200" dirty="0"/>
              <a:t>3</a:t>
            </a:r>
            <a:r>
              <a:rPr lang="ko-KR" altLang="en-US" sz="1200" dirty="0"/>
              <a:t>제</a:t>
            </a:r>
            <a:r>
              <a:rPr lang="en-US" altLang="ko-KR" sz="1200" dirty="0"/>
              <a:t>2</a:t>
            </a:r>
            <a:r>
              <a:rPr lang="ko-KR" altLang="en-US" sz="1200" dirty="0"/>
              <a:t>항 본문</a:t>
            </a:r>
            <a:r>
              <a:rPr lang="en-US" altLang="ko-KR" sz="1200" dirty="0"/>
              <a:t>+</a:t>
            </a:r>
            <a:r>
              <a:rPr lang="ko-KR" altLang="en-US" sz="1200" dirty="0"/>
              <a:t>단서</a:t>
            </a:r>
            <a:r>
              <a:rPr lang="en-US" altLang="ko-KR" sz="1200" dirty="0"/>
              <a:t>, </a:t>
            </a:r>
            <a:r>
              <a:rPr lang="ko-KR" altLang="en-US" sz="1200" dirty="0"/>
              <a:t>제</a:t>
            </a:r>
            <a:r>
              <a:rPr lang="en-US" altLang="ko-KR" sz="1200" dirty="0"/>
              <a:t>3</a:t>
            </a:r>
            <a:r>
              <a:rPr lang="ko-KR" altLang="en-US" sz="1200" dirty="0"/>
              <a:t>항</a:t>
            </a:r>
            <a:r>
              <a:rPr lang="en-US" altLang="ko-KR" sz="1200" dirty="0"/>
              <a:t>)</a:t>
            </a:r>
            <a:endParaRPr lang="ko-KR" altLang="en-US" sz="1200" dirty="0"/>
          </a:p>
        </p:txBody>
      </p:sp>
      <p:sp>
        <p:nvSpPr>
          <p:cNvPr id="88" name="직사각형 87"/>
          <p:cNvSpPr/>
          <p:nvPr/>
        </p:nvSpPr>
        <p:spPr>
          <a:xfrm>
            <a:off x="4991009" y="5940071"/>
            <a:ext cx="813575" cy="685339"/>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외국어</a:t>
            </a:r>
            <a:endParaRPr lang="en-US" altLang="ko-KR" sz="1200" dirty="0">
              <a:solidFill>
                <a:schemeClr val="tx1"/>
              </a:solidFill>
            </a:endParaRPr>
          </a:p>
          <a:p>
            <a:pPr algn="ctr"/>
            <a:r>
              <a:rPr lang="ko-KR" altLang="en-US" sz="1200" dirty="0" err="1">
                <a:solidFill>
                  <a:schemeClr val="tx1"/>
                </a:solidFill>
              </a:rPr>
              <a:t>분할출원</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변경출원</a:t>
            </a:r>
          </a:p>
        </p:txBody>
      </p:sp>
      <p:cxnSp>
        <p:nvCxnSpPr>
          <p:cNvPr id="89" name="직선 화살표 연결선 88"/>
          <p:cNvCxnSpPr>
            <a:stCxn id="88" idx="0"/>
          </p:cNvCxnSpPr>
          <p:nvPr/>
        </p:nvCxnSpPr>
        <p:spPr>
          <a:xfrm flipH="1" flipV="1">
            <a:off x="5389000" y="5076507"/>
            <a:ext cx="8797" cy="863564"/>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직사각형 91"/>
          <p:cNvSpPr/>
          <p:nvPr/>
        </p:nvSpPr>
        <p:spPr>
          <a:xfrm>
            <a:off x="7126146" y="5957029"/>
            <a:ext cx="813575" cy="668381"/>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외국어</a:t>
            </a:r>
            <a:endParaRPr lang="en-US" altLang="ko-KR" sz="1200" dirty="0">
              <a:solidFill>
                <a:schemeClr val="tx1"/>
              </a:solidFill>
            </a:endParaRPr>
          </a:p>
          <a:p>
            <a:pPr algn="ctr"/>
            <a:r>
              <a:rPr lang="ko-KR" altLang="en-US" sz="1200" dirty="0" err="1">
                <a:solidFill>
                  <a:schemeClr val="tx1"/>
                </a:solidFill>
              </a:rPr>
              <a:t>분할출원</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변경출원</a:t>
            </a:r>
            <a:endParaRPr lang="en-US" altLang="ko-KR" sz="1200" dirty="0">
              <a:solidFill>
                <a:schemeClr val="tx1"/>
              </a:solidFill>
            </a:endParaRPr>
          </a:p>
        </p:txBody>
      </p:sp>
      <p:cxnSp>
        <p:nvCxnSpPr>
          <p:cNvPr id="93" name="직선 화살표 연결선 92"/>
          <p:cNvCxnSpPr>
            <a:stCxn id="92" idx="0"/>
          </p:cNvCxnSpPr>
          <p:nvPr/>
        </p:nvCxnSpPr>
        <p:spPr>
          <a:xfrm flipV="1">
            <a:off x="7532933" y="5047620"/>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4" name="자유형 93"/>
          <p:cNvSpPr/>
          <p:nvPr/>
        </p:nvSpPr>
        <p:spPr>
          <a:xfrm>
            <a:off x="7532933" y="5068041"/>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ltHorz">
            <a:fgClr>
              <a:schemeClr val="accent4"/>
            </a:fgClr>
            <a:bgClr>
              <a:schemeClr val="bg1"/>
            </a:bgClr>
          </a:pattFill>
          <a:ln>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altLang="ko-KR" dirty="0">
                <a:solidFill>
                  <a:schemeClr val="accent2">
                    <a:lumMod val="50000"/>
                  </a:schemeClr>
                </a:solidFill>
              </a:rPr>
              <a:t>30</a:t>
            </a:r>
            <a:r>
              <a:rPr lang="ko-KR" altLang="en-US" dirty="0">
                <a:solidFill>
                  <a:schemeClr val="accent2">
                    <a:lumMod val="50000"/>
                  </a:schemeClr>
                </a:solidFill>
              </a:rPr>
              <a:t>일</a:t>
            </a:r>
          </a:p>
        </p:txBody>
      </p:sp>
      <p:sp>
        <p:nvSpPr>
          <p:cNvPr id="95" name="TextBox 94"/>
          <p:cNvSpPr txBox="1"/>
          <p:nvPr/>
        </p:nvSpPr>
        <p:spPr>
          <a:xfrm>
            <a:off x="7347498" y="5587697"/>
            <a:ext cx="370870" cy="369332"/>
          </a:xfrm>
          <a:prstGeom prst="rect">
            <a:avLst/>
          </a:prstGeom>
          <a:noFill/>
        </p:spPr>
        <p:txBody>
          <a:bodyPr wrap="square" rtlCol="0">
            <a:spAutoFit/>
          </a:bodyPr>
          <a:lstStyle/>
          <a:p>
            <a:pPr fontAlgn="base"/>
            <a:r>
              <a:rPr lang="ko-KR" altLang="en-US" dirty="0">
                <a:solidFill>
                  <a:srgbClr val="FF0000"/>
                </a:solidFill>
              </a:rPr>
              <a:t>❷</a:t>
            </a:r>
          </a:p>
        </p:txBody>
      </p:sp>
      <p:sp>
        <p:nvSpPr>
          <p:cNvPr id="96" name="TextBox 95"/>
          <p:cNvSpPr txBox="1"/>
          <p:nvPr/>
        </p:nvSpPr>
        <p:spPr>
          <a:xfrm>
            <a:off x="5203565" y="5554872"/>
            <a:ext cx="370870" cy="369332"/>
          </a:xfrm>
          <a:prstGeom prst="rect">
            <a:avLst/>
          </a:prstGeom>
          <a:noFill/>
        </p:spPr>
        <p:txBody>
          <a:bodyPr wrap="square" rtlCol="0">
            <a:spAutoFit/>
          </a:bodyPr>
          <a:lstStyle/>
          <a:p>
            <a:pPr fontAlgn="base"/>
            <a:r>
              <a:rPr lang="ko-KR" altLang="en-US" dirty="0">
                <a:solidFill>
                  <a:srgbClr val="FF0000"/>
                </a:solidFill>
              </a:rPr>
              <a:t>❶</a:t>
            </a:r>
          </a:p>
        </p:txBody>
      </p:sp>
      <p:sp>
        <p:nvSpPr>
          <p:cNvPr id="97" name="TextBox 96"/>
          <p:cNvSpPr txBox="1"/>
          <p:nvPr/>
        </p:nvSpPr>
        <p:spPr>
          <a:xfrm>
            <a:off x="7632931" y="4857974"/>
            <a:ext cx="370870" cy="369332"/>
          </a:xfrm>
          <a:prstGeom prst="rect">
            <a:avLst/>
          </a:prstGeom>
          <a:noFill/>
        </p:spPr>
        <p:txBody>
          <a:bodyPr wrap="square" rtlCol="0">
            <a:spAutoFit/>
          </a:bodyPr>
          <a:lstStyle/>
          <a:p>
            <a:pPr fontAlgn="base"/>
            <a:r>
              <a:rPr lang="ko-KR" altLang="en-US" dirty="0">
                <a:solidFill>
                  <a:srgbClr val="FF0000"/>
                </a:solidFill>
              </a:rPr>
              <a:t>❶</a:t>
            </a:r>
          </a:p>
        </p:txBody>
      </p:sp>
      <p:sp>
        <p:nvSpPr>
          <p:cNvPr id="98" name="TextBox 97"/>
          <p:cNvSpPr txBox="1"/>
          <p:nvPr/>
        </p:nvSpPr>
        <p:spPr>
          <a:xfrm>
            <a:off x="8215607" y="4866684"/>
            <a:ext cx="370870" cy="369332"/>
          </a:xfrm>
          <a:prstGeom prst="rect">
            <a:avLst/>
          </a:prstGeom>
          <a:noFill/>
        </p:spPr>
        <p:txBody>
          <a:bodyPr wrap="square" rtlCol="0">
            <a:spAutoFit/>
          </a:bodyPr>
          <a:lstStyle/>
          <a:p>
            <a:pPr fontAlgn="base"/>
            <a:r>
              <a:rPr lang="ko-KR" altLang="en-US" dirty="0">
                <a:solidFill>
                  <a:srgbClr val="FF0000"/>
                </a:solidFill>
              </a:rPr>
              <a:t>❷</a:t>
            </a:r>
          </a:p>
        </p:txBody>
      </p:sp>
      <p:sp>
        <p:nvSpPr>
          <p:cNvPr id="100" name="직사각형 99"/>
          <p:cNvSpPr/>
          <p:nvPr/>
        </p:nvSpPr>
        <p:spPr>
          <a:xfrm>
            <a:off x="9417031" y="5957029"/>
            <a:ext cx="813575" cy="668381"/>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외국어</a:t>
            </a:r>
            <a:endParaRPr lang="en-US" altLang="ko-KR" sz="1200" dirty="0">
              <a:solidFill>
                <a:schemeClr val="tx1"/>
              </a:solidFill>
            </a:endParaRPr>
          </a:p>
          <a:p>
            <a:pPr algn="ctr"/>
            <a:r>
              <a:rPr lang="ko-KR" altLang="en-US" sz="1200" dirty="0" err="1">
                <a:solidFill>
                  <a:schemeClr val="tx1"/>
                </a:solidFill>
              </a:rPr>
              <a:t>분할출원</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변경출원</a:t>
            </a:r>
            <a:endParaRPr lang="en-US" altLang="ko-KR" sz="1200" dirty="0">
              <a:solidFill>
                <a:schemeClr val="tx1"/>
              </a:solidFill>
            </a:endParaRPr>
          </a:p>
        </p:txBody>
      </p:sp>
      <p:cxnSp>
        <p:nvCxnSpPr>
          <p:cNvPr id="101" name="직선 화살표 연결선 100"/>
          <p:cNvCxnSpPr>
            <a:stCxn id="100" idx="0"/>
          </p:cNvCxnSpPr>
          <p:nvPr/>
        </p:nvCxnSpPr>
        <p:spPr>
          <a:xfrm flipV="1">
            <a:off x="9823818" y="5047620"/>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2" name="자유형 101"/>
          <p:cNvSpPr/>
          <p:nvPr/>
        </p:nvSpPr>
        <p:spPr>
          <a:xfrm>
            <a:off x="9823818" y="5068041"/>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ltHorz">
            <a:fgClr>
              <a:schemeClr val="accent4"/>
            </a:fgClr>
            <a:bgClr>
              <a:schemeClr val="bg1"/>
            </a:bgClr>
          </a:pattFill>
          <a:ln>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altLang="ko-KR" dirty="0">
                <a:solidFill>
                  <a:schemeClr val="accent2">
                    <a:lumMod val="50000"/>
                  </a:schemeClr>
                </a:solidFill>
              </a:rPr>
              <a:t>30</a:t>
            </a:r>
            <a:r>
              <a:rPr lang="ko-KR" altLang="en-US" dirty="0">
                <a:solidFill>
                  <a:schemeClr val="accent2">
                    <a:lumMod val="50000"/>
                  </a:schemeClr>
                </a:solidFill>
              </a:rPr>
              <a:t>일</a:t>
            </a:r>
          </a:p>
        </p:txBody>
      </p:sp>
      <p:sp>
        <p:nvSpPr>
          <p:cNvPr id="103" name="TextBox 102"/>
          <p:cNvSpPr txBox="1"/>
          <p:nvPr/>
        </p:nvSpPr>
        <p:spPr>
          <a:xfrm>
            <a:off x="9638383" y="5587697"/>
            <a:ext cx="370870" cy="369332"/>
          </a:xfrm>
          <a:prstGeom prst="rect">
            <a:avLst/>
          </a:prstGeom>
          <a:noFill/>
        </p:spPr>
        <p:txBody>
          <a:bodyPr wrap="square" rtlCol="0">
            <a:spAutoFit/>
          </a:bodyPr>
          <a:lstStyle/>
          <a:p>
            <a:pPr fontAlgn="base"/>
            <a:r>
              <a:rPr lang="ko-KR" altLang="en-US" dirty="0">
                <a:solidFill>
                  <a:srgbClr val="FF0000"/>
                </a:solidFill>
              </a:rPr>
              <a:t>❸</a:t>
            </a:r>
          </a:p>
        </p:txBody>
      </p:sp>
      <p:sp>
        <p:nvSpPr>
          <p:cNvPr id="104" name="TextBox 103"/>
          <p:cNvSpPr txBox="1"/>
          <p:nvPr/>
        </p:nvSpPr>
        <p:spPr>
          <a:xfrm>
            <a:off x="10503045" y="4857914"/>
            <a:ext cx="370870" cy="369332"/>
          </a:xfrm>
          <a:prstGeom prst="rect">
            <a:avLst/>
          </a:prstGeom>
          <a:noFill/>
        </p:spPr>
        <p:txBody>
          <a:bodyPr wrap="square" rtlCol="0">
            <a:spAutoFit/>
          </a:bodyPr>
          <a:lstStyle/>
          <a:p>
            <a:pPr fontAlgn="base"/>
            <a:r>
              <a:rPr lang="ko-KR" altLang="en-US" dirty="0">
                <a:solidFill>
                  <a:srgbClr val="FF0000"/>
                </a:solidFill>
              </a:rPr>
              <a:t>❸</a:t>
            </a:r>
          </a:p>
        </p:txBody>
      </p:sp>
      <p:sp>
        <p:nvSpPr>
          <p:cNvPr id="2" name="슬라이드 번호 개체 틀 1"/>
          <p:cNvSpPr>
            <a:spLocks noGrp="1"/>
          </p:cNvSpPr>
          <p:nvPr>
            <p:ph type="sldNum" sz="quarter" idx="12"/>
          </p:nvPr>
        </p:nvSpPr>
        <p:spPr/>
        <p:txBody>
          <a:bodyPr/>
          <a:lstStyle/>
          <a:p>
            <a:r>
              <a:rPr lang="en-US" altLang="ko-KR"/>
              <a:t>187</a:t>
            </a:r>
            <a:endParaRPr lang="ko-KR" altLang="en-US"/>
          </a:p>
        </p:txBody>
      </p:sp>
      <p:sp>
        <p:nvSpPr>
          <p:cNvPr id="60" name="TextBox 59">
            <a:extLst>
              <a:ext uri="{FF2B5EF4-FFF2-40B4-BE49-F238E27FC236}">
                <a16:creationId xmlns:a16="http://schemas.microsoft.com/office/drawing/2014/main" id="{E7D60BFE-FF2D-4283-B162-8F15D9669701}"/>
              </a:ext>
            </a:extLst>
          </p:cNvPr>
          <p:cNvSpPr txBox="1"/>
          <p:nvPr/>
        </p:nvSpPr>
        <p:spPr>
          <a:xfrm>
            <a:off x="100299" y="6527335"/>
            <a:ext cx="2443298" cy="261610"/>
          </a:xfrm>
          <a:prstGeom prst="rect">
            <a:avLst/>
          </a:prstGeom>
          <a:noFill/>
        </p:spPr>
        <p:txBody>
          <a:bodyPr wrap="none" rtlCol="0">
            <a:spAutoFit/>
          </a:bodyPr>
          <a:lstStyle/>
          <a:p>
            <a:r>
              <a:rPr lang="en-US" altLang="ko-KR" sz="1100" dirty="0">
                <a:solidFill>
                  <a:srgbClr val="FF0000"/>
                </a:solidFill>
              </a:rPr>
              <a:t>* </a:t>
            </a:r>
            <a:r>
              <a:rPr lang="ko-KR" altLang="en-US" sz="1100" dirty="0">
                <a:solidFill>
                  <a:srgbClr val="FF0000"/>
                </a:solidFill>
              </a:rPr>
              <a:t>분리출원의 경우 </a:t>
            </a:r>
            <a:r>
              <a:rPr lang="ko-KR" altLang="en-US" sz="1100" dirty="0" err="1">
                <a:solidFill>
                  <a:srgbClr val="FF0000"/>
                </a:solidFill>
              </a:rPr>
              <a:t>외국어특허출원</a:t>
            </a:r>
            <a:r>
              <a:rPr lang="ko-KR" altLang="en-US" sz="1100" dirty="0">
                <a:solidFill>
                  <a:srgbClr val="FF0000"/>
                </a:solidFill>
              </a:rPr>
              <a:t> 불가</a:t>
            </a:r>
          </a:p>
        </p:txBody>
      </p:sp>
    </p:spTree>
    <p:extLst>
      <p:ext uri="{BB962C8B-B14F-4D97-AF65-F5344CB8AC3E}">
        <p14:creationId xmlns:p14="http://schemas.microsoft.com/office/powerpoint/2010/main" val="2961662135"/>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42</a:t>
            </a:r>
            <a:r>
              <a:rPr lang="ko-KR" altLang="en-US" dirty="0"/>
              <a:t>조의</a:t>
            </a:r>
            <a:r>
              <a:rPr lang="en-US" altLang="ko-KR" dirty="0"/>
              <a:t>3, </a:t>
            </a:r>
            <a:r>
              <a:rPr lang="ko-KR" altLang="en-US" dirty="0"/>
              <a:t>제</a:t>
            </a:r>
            <a:r>
              <a:rPr lang="en-US" altLang="ko-KR" dirty="0"/>
              <a:t>47</a:t>
            </a:r>
            <a:r>
              <a:rPr lang="ko-KR" altLang="en-US" dirty="0"/>
              <a:t>조</a:t>
            </a:r>
          </a:p>
        </p:txBody>
      </p:sp>
      <p:sp>
        <p:nvSpPr>
          <p:cNvPr id="5" name="텍스트 개체 틀 4"/>
          <p:cNvSpPr>
            <a:spLocks noGrp="1"/>
          </p:cNvSpPr>
          <p:nvPr>
            <p:ph type="body" sz="quarter" idx="13"/>
          </p:nvPr>
        </p:nvSpPr>
        <p:spPr/>
        <p:txBody>
          <a:bodyPr/>
          <a:lstStyle/>
          <a:p>
            <a:r>
              <a:rPr lang="ko-KR" altLang="en-US" dirty="0"/>
              <a:t>외국어특허출원의 보정</a:t>
            </a:r>
          </a:p>
        </p:txBody>
      </p:sp>
      <p:sp>
        <p:nvSpPr>
          <p:cNvPr id="60" name="TextBox 59"/>
          <p:cNvSpPr txBox="1"/>
          <p:nvPr/>
        </p:nvSpPr>
        <p:spPr>
          <a:xfrm>
            <a:off x="77875" y="986046"/>
            <a:ext cx="11936323" cy="954107"/>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47</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특허출원의 보정</a:t>
            </a:r>
            <a:r>
              <a:rPr lang="en-US" altLang="ko-KR" sz="1400" b="1" dirty="0">
                <a:solidFill>
                  <a:schemeClr val="accent1"/>
                </a:solidFill>
              </a:rPr>
              <a:t>) </a:t>
            </a:r>
            <a:r>
              <a:rPr lang="ko-KR" altLang="en-US" sz="1400" dirty="0">
                <a:solidFill>
                  <a:schemeClr val="tx2"/>
                </a:solidFill>
              </a:rPr>
              <a:t>② 제</a:t>
            </a:r>
            <a:r>
              <a:rPr lang="en-US" altLang="ko-KR" sz="1400" dirty="0">
                <a:solidFill>
                  <a:schemeClr val="tx2"/>
                </a:solidFill>
              </a:rPr>
              <a:t>1</a:t>
            </a:r>
            <a:r>
              <a:rPr lang="ko-KR" altLang="en-US" sz="1400" dirty="0">
                <a:solidFill>
                  <a:schemeClr val="tx2"/>
                </a:solidFill>
              </a:rPr>
              <a:t>항에 따른 </a:t>
            </a:r>
            <a:r>
              <a:rPr lang="ko-KR" altLang="en-US" sz="1400" b="1" dirty="0">
                <a:solidFill>
                  <a:schemeClr val="accent1"/>
                </a:solidFill>
              </a:rPr>
              <a:t>명세서 또는 도면</a:t>
            </a:r>
            <a:r>
              <a:rPr lang="ko-KR" altLang="en-US" sz="1400" dirty="0">
                <a:solidFill>
                  <a:schemeClr val="tx2"/>
                </a:solidFill>
              </a:rPr>
              <a:t>의 보정은 </a:t>
            </a:r>
            <a:r>
              <a:rPr lang="ko-KR" altLang="en-US" sz="1400" dirty="0" err="1">
                <a:solidFill>
                  <a:schemeClr val="tx2"/>
                </a:solidFill>
              </a:rPr>
              <a:t>특허출원서에</a:t>
            </a:r>
            <a:r>
              <a:rPr lang="ko-KR" altLang="en-US" sz="1400" dirty="0">
                <a:solidFill>
                  <a:schemeClr val="tx2"/>
                </a:solidFill>
              </a:rPr>
              <a:t> </a:t>
            </a:r>
            <a:r>
              <a:rPr lang="ko-KR" altLang="en-US" sz="1400" b="1" dirty="0">
                <a:solidFill>
                  <a:srgbClr val="FF0000"/>
                </a:solidFill>
              </a:rPr>
              <a:t>최초로 첨부한 명세서 또는 도면</a:t>
            </a:r>
            <a:r>
              <a:rPr lang="ko-KR" altLang="en-US" sz="1400" dirty="0">
                <a:solidFill>
                  <a:schemeClr val="tx2"/>
                </a:solidFill>
              </a:rPr>
              <a:t>에 기재된 사항의 범위에서 하여야 한다</a:t>
            </a:r>
            <a:r>
              <a:rPr lang="en-US" altLang="ko-KR" sz="1400" dirty="0">
                <a:solidFill>
                  <a:schemeClr val="tx2"/>
                </a:solidFill>
              </a:rPr>
              <a:t>. </a:t>
            </a:r>
            <a:r>
              <a:rPr lang="ko-KR" altLang="en-US" sz="1400" dirty="0">
                <a:solidFill>
                  <a:schemeClr val="tx2"/>
                </a:solidFill>
              </a:rPr>
              <a:t>이 경우</a:t>
            </a:r>
            <a:r>
              <a:rPr lang="en-US" altLang="ko-KR" sz="1400" dirty="0">
                <a:solidFill>
                  <a:schemeClr val="tx2"/>
                </a:solidFill>
              </a:rPr>
              <a:t>, </a:t>
            </a:r>
            <a:r>
              <a:rPr lang="ko-KR" altLang="en-US" sz="1400" dirty="0">
                <a:solidFill>
                  <a:schemeClr val="tx2"/>
                </a:solidFill>
              </a:rPr>
              <a:t>외국어특허출원에 대한 보정은 </a:t>
            </a:r>
            <a:r>
              <a:rPr lang="ko-KR" altLang="en-US" sz="1400" b="1" dirty="0">
                <a:solidFill>
                  <a:schemeClr val="accent4">
                    <a:lumMod val="75000"/>
                  </a:schemeClr>
                </a:solidFill>
              </a:rPr>
              <a:t>최종 국어번역문</a:t>
            </a:r>
            <a:r>
              <a:rPr lang="en-US" altLang="ko-KR" sz="1400" b="1" dirty="0">
                <a:solidFill>
                  <a:schemeClr val="accent4">
                    <a:lumMod val="75000"/>
                  </a:schemeClr>
                </a:solidFill>
              </a:rPr>
              <a:t>(</a:t>
            </a:r>
            <a:r>
              <a:rPr lang="ko-KR" altLang="en-US" sz="1400" b="1" dirty="0">
                <a:solidFill>
                  <a:schemeClr val="accent4">
                    <a:lumMod val="75000"/>
                  </a:schemeClr>
                </a:solidFill>
              </a:rPr>
              <a:t>제</a:t>
            </a:r>
            <a:r>
              <a:rPr lang="en-US" altLang="ko-KR" sz="1400" b="1" dirty="0">
                <a:solidFill>
                  <a:schemeClr val="accent4">
                    <a:lumMod val="75000"/>
                  </a:schemeClr>
                </a:solidFill>
              </a:rPr>
              <a:t>42</a:t>
            </a:r>
            <a:r>
              <a:rPr lang="ko-KR" altLang="en-US" sz="1400" b="1" dirty="0">
                <a:solidFill>
                  <a:schemeClr val="accent4">
                    <a:lumMod val="75000"/>
                  </a:schemeClr>
                </a:solidFill>
              </a:rPr>
              <a:t>조의</a:t>
            </a:r>
            <a:r>
              <a:rPr lang="en-US" altLang="ko-KR" sz="1400" b="1" dirty="0">
                <a:solidFill>
                  <a:schemeClr val="accent4">
                    <a:lumMod val="75000"/>
                  </a:schemeClr>
                </a:solidFill>
              </a:rPr>
              <a:t>3</a:t>
            </a:r>
            <a:r>
              <a:rPr lang="ko-KR" altLang="en-US" sz="1400" b="1" dirty="0">
                <a:solidFill>
                  <a:schemeClr val="accent4">
                    <a:lumMod val="75000"/>
                  </a:schemeClr>
                </a:solidFill>
              </a:rPr>
              <a:t>제</a:t>
            </a:r>
            <a:r>
              <a:rPr lang="en-US" altLang="ko-KR" sz="1400" b="1" dirty="0">
                <a:solidFill>
                  <a:schemeClr val="accent4">
                    <a:lumMod val="75000"/>
                  </a:schemeClr>
                </a:solidFill>
              </a:rPr>
              <a:t>6</a:t>
            </a:r>
            <a:r>
              <a:rPr lang="ko-KR" altLang="en-US" sz="1400" b="1" dirty="0">
                <a:solidFill>
                  <a:schemeClr val="accent4">
                    <a:lumMod val="75000"/>
                  </a:schemeClr>
                </a:solidFill>
              </a:rPr>
              <a:t>항 전단에 따른 정정이 있는 경우에는 정정된 국어번역문을 말한다</a:t>
            </a:r>
            <a:r>
              <a:rPr lang="en-US" altLang="ko-KR" sz="1400" b="1" dirty="0">
                <a:solidFill>
                  <a:schemeClr val="accent4">
                    <a:lumMod val="75000"/>
                  </a:schemeClr>
                </a:solidFill>
              </a:rPr>
              <a:t>) </a:t>
            </a:r>
            <a:r>
              <a:rPr lang="ko-KR" altLang="en-US" sz="1400" b="1" dirty="0">
                <a:solidFill>
                  <a:schemeClr val="accent4">
                    <a:lumMod val="75000"/>
                  </a:schemeClr>
                </a:solidFill>
              </a:rPr>
              <a:t>또는 </a:t>
            </a:r>
            <a:r>
              <a:rPr lang="ko-KR" altLang="en-US" sz="1400" b="1" dirty="0" err="1">
                <a:solidFill>
                  <a:schemeClr val="accent4">
                    <a:lumMod val="75000"/>
                  </a:schemeClr>
                </a:solidFill>
              </a:rPr>
              <a:t>특허출원서에</a:t>
            </a:r>
            <a:r>
              <a:rPr lang="ko-KR" altLang="en-US" sz="1400" b="1" dirty="0">
                <a:solidFill>
                  <a:schemeClr val="accent4">
                    <a:lumMod val="75000"/>
                  </a:schemeClr>
                </a:solidFill>
              </a:rPr>
              <a:t> 최초로 첨부한 도면</a:t>
            </a:r>
            <a:r>
              <a:rPr lang="en-US" altLang="ko-KR" sz="1400" b="1" dirty="0">
                <a:solidFill>
                  <a:schemeClr val="accent4">
                    <a:lumMod val="75000"/>
                  </a:schemeClr>
                </a:solidFill>
              </a:rPr>
              <a:t>(</a:t>
            </a:r>
            <a:r>
              <a:rPr lang="ko-KR" altLang="en-US" sz="1400" b="1" dirty="0">
                <a:solidFill>
                  <a:schemeClr val="accent4">
                    <a:lumMod val="75000"/>
                  </a:schemeClr>
                </a:solidFill>
              </a:rPr>
              <a:t>도면 중 설명부분은 제외한다</a:t>
            </a:r>
            <a:r>
              <a:rPr lang="en-US" altLang="ko-KR" sz="1400" b="1" dirty="0">
                <a:solidFill>
                  <a:schemeClr val="accent4">
                    <a:lumMod val="75000"/>
                  </a:schemeClr>
                </a:solidFill>
              </a:rPr>
              <a:t>)</a:t>
            </a:r>
            <a:r>
              <a:rPr lang="ko-KR" altLang="en-US" sz="1400" dirty="0">
                <a:solidFill>
                  <a:schemeClr val="tx2"/>
                </a:solidFill>
              </a:rPr>
              <a:t>에 기재된 사항의 범위에서도 하여야 한다</a:t>
            </a:r>
            <a:r>
              <a:rPr lang="en-US" altLang="ko-KR" sz="1400" dirty="0">
                <a:solidFill>
                  <a:schemeClr val="tx2"/>
                </a:solidFill>
              </a:rPr>
              <a:t>.</a:t>
            </a:r>
          </a:p>
          <a:p>
            <a:pPr fontAlgn="base"/>
            <a:r>
              <a:rPr lang="en-US" altLang="ko-KR" sz="1400" dirty="0">
                <a:solidFill>
                  <a:schemeClr val="tx2"/>
                </a:solidFill>
              </a:rPr>
              <a:t>⑤ </a:t>
            </a:r>
            <a:r>
              <a:rPr lang="ko-KR" altLang="en-US" sz="1400" dirty="0">
                <a:solidFill>
                  <a:schemeClr val="tx2"/>
                </a:solidFill>
              </a:rPr>
              <a:t>외국어특허출원인 경우에는 제</a:t>
            </a:r>
            <a:r>
              <a:rPr lang="en-US" altLang="ko-KR" sz="1400" dirty="0">
                <a:solidFill>
                  <a:schemeClr val="tx2"/>
                </a:solidFill>
              </a:rPr>
              <a:t>1</a:t>
            </a:r>
            <a:r>
              <a:rPr lang="ko-KR" altLang="en-US" sz="1400" dirty="0">
                <a:solidFill>
                  <a:schemeClr val="tx2"/>
                </a:solidFill>
              </a:rPr>
              <a:t>항 본문에도 불구하고 제</a:t>
            </a:r>
            <a:r>
              <a:rPr lang="en-US" altLang="ko-KR" sz="1400" dirty="0">
                <a:solidFill>
                  <a:schemeClr val="tx2"/>
                </a:solidFill>
              </a:rPr>
              <a:t>42</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항에 따라 국어번역문을 제출한 경우에만 명세서 또는 도면을 보정할 수 있다</a:t>
            </a:r>
            <a:r>
              <a:rPr lang="en-US" altLang="ko-KR" sz="1400" dirty="0">
                <a:solidFill>
                  <a:schemeClr val="tx2"/>
                </a:solidFill>
              </a:rPr>
              <a:t>.</a:t>
            </a:r>
          </a:p>
        </p:txBody>
      </p:sp>
      <p:cxnSp>
        <p:nvCxnSpPr>
          <p:cNvPr id="62" name="직선 연결선 61"/>
          <p:cNvCxnSpPr/>
          <p:nvPr/>
        </p:nvCxnSpPr>
        <p:spPr>
          <a:xfrm>
            <a:off x="0" y="194015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122" name="표 121"/>
          <p:cNvGraphicFramePr>
            <a:graphicFrameLocks noGrp="1"/>
          </p:cNvGraphicFramePr>
          <p:nvPr/>
        </p:nvGraphicFramePr>
        <p:xfrm>
          <a:off x="307647" y="4632414"/>
          <a:ext cx="11545369" cy="1295009"/>
        </p:xfrm>
        <a:graphic>
          <a:graphicData uri="http://schemas.openxmlformats.org/drawingml/2006/table">
            <a:tbl>
              <a:tblPr>
                <a:tableStyleId>{8799B23B-EC83-4686-B30A-512413B5E67A}</a:tableStyleId>
              </a:tblPr>
              <a:tblGrid>
                <a:gridCol w="957986">
                  <a:extLst>
                    <a:ext uri="{9D8B030D-6E8A-4147-A177-3AD203B41FA5}">
                      <a16:colId xmlns:a16="http://schemas.microsoft.com/office/drawing/2014/main" val="3751731299"/>
                    </a:ext>
                  </a:extLst>
                </a:gridCol>
                <a:gridCol w="939459">
                  <a:extLst>
                    <a:ext uri="{9D8B030D-6E8A-4147-A177-3AD203B41FA5}">
                      <a16:colId xmlns:a16="http://schemas.microsoft.com/office/drawing/2014/main" val="499447288"/>
                    </a:ext>
                  </a:extLst>
                </a:gridCol>
                <a:gridCol w="844456">
                  <a:extLst>
                    <a:ext uri="{9D8B030D-6E8A-4147-A177-3AD203B41FA5}">
                      <a16:colId xmlns:a16="http://schemas.microsoft.com/office/drawing/2014/main" val="3041599319"/>
                    </a:ext>
                  </a:extLst>
                </a:gridCol>
                <a:gridCol w="939459">
                  <a:extLst>
                    <a:ext uri="{9D8B030D-6E8A-4147-A177-3AD203B41FA5}">
                      <a16:colId xmlns:a16="http://schemas.microsoft.com/office/drawing/2014/main" val="3480615590"/>
                    </a:ext>
                  </a:extLst>
                </a:gridCol>
                <a:gridCol w="7864009">
                  <a:extLst>
                    <a:ext uri="{9D8B030D-6E8A-4147-A177-3AD203B41FA5}">
                      <a16:colId xmlns:a16="http://schemas.microsoft.com/office/drawing/2014/main" val="2921291221"/>
                    </a:ext>
                  </a:extLst>
                </a:gridCol>
              </a:tblGrid>
              <a:tr h="403393">
                <a:tc>
                  <a:txBody>
                    <a:bodyPr/>
                    <a:lstStyle/>
                    <a:p>
                      <a:pPr marL="0" marR="0" indent="0" algn="ctr" fontAlgn="base" latinLnBrk="0">
                        <a:lnSpc>
                          <a:spcPct val="100000"/>
                        </a:lnSpc>
                        <a:spcBef>
                          <a:spcPts val="0"/>
                        </a:spcBef>
                        <a:spcAft>
                          <a:spcPts val="0"/>
                        </a:spcAft>
                      </a:pPr>
                      <a:r>
                        <a:rPr lang="ko-KR" altLang="en-US" sz="1000" kern="1200" dirty="0"/>
                        <a:t>원문</a:t>
                      </a:r>
                    </a:p>
                    <a:p>
                      <a:pPr marL="0" marR="0" indent="0" algn="ctr" fontAlgn="base" latinLnBrk="0">
                        <a:lnSpc>
                          <a:spcPct val="100000"/>
                        </a:lnSpc>
                        <a:spcBef>
                          <a:spcPts val="0"/>
                        </a:spcBef>
                        <a:spcAft>
                          <a:spcPts val="0"/>
                        </a:spcAft>
                      </a:pPr>
                      <a:r>
                        <a:rPr lang="en-US" altLang="ko-KR" sz="1000" kern="1200" dirty="0"/>
                        <a:t>(</a:t>
                      </a:r>
                      <a:r>
                        <a:rPr lang="en-US" sz="1000" kern="1200" dirty="0"/>
                        <a:t>Ca)(1)</a:t>
                      </a:r>
                      <a:endParaRPr lang="en-US" sz="10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kern="1200" dirty="0" err="1"/>
                        <a:t>국어번역문</a:t>
                      </a:r>
                      <a:endParaRPr lang="ko-KR" altLang="en-US" sz="1000" kern="1200" dirty="0"/>
                    </a:p>
                    <a:p>
                      <a:pPr marL="0" marR="0" indent="0" algn="ctr" fontAlgn="base" latinLnBrk="0">
                        <a:lnSpc>
                          <a:spcPct val="100000"/>
                        </a:lnSpc>
                        <a:spcBef>
                          <a:spcPts val="0"/>
                        </a:spcBef>
                        <a:spcAft>
                          <a:spcPts val="0"/>
                        </a:spcAft>
                      </a:pPr>
                      <a:r>
                        <a:rPr lang="en-US" altLang="ko-KR" sz="1000" kern="1200" dirty="0"/>
                        <a:t>(</a:t>
                      </a:r>
                      <a:r>
                        <a:rPr lang="ko-KR" altLang="en-US" sz="1000" kern="1200" dirty="0"/>
                        <a:t>칼륨</a:t>
                      </a:r>
                      <a:r>
                        <a:rPr lang="en-US" altLang="ko-KR" sz="1000" kern="1200" dirty="0"/>
                        <a:t>)(2)</a:t>
                      </a:r>
                      <a:endParaRPr lang="ko-KR" altLang="en-US" sz="10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kern="1200" dirty="0" err="1"/>
                        <a:t>오역정정</a:t>
                      </a:r>
                      <a:endParaRPr lang="ko-KR" altLang="en-US" sz="1000" kern="1200" dirty="0"/>
                    </a:p>
                    <a:p>
                      <a:pPr marL="0" marR="0" indent="0" algn="ctr" fontAlgn="base" latinLnBrk="0">
                        <a:lnSpc>
                          <a:spcPct val="100000"/>
                        </a:lnSpc>
                        <a:spcBef>
                          <a:spcPts val="0"/>
                        </a:spcBef>
                        <a:spcAft>
                          <a:spcPts val="0"/>
                        </a:spcAft>
                      </a:pPr>
                      <a:r>
                        <a:rPr lang="en-US" altLang="ko-KR" sz="1000" kern="1200" dirty="0"/>
                        <a:t>(</a:t>
                      </a:r>
                      <a:r>
                        <a:rPr lang="ko-KR" altLang="en-US" sz="1000" kern="1200" dirty="0"/>
                        <a:t>칼슘</a:t>
                      </a:r>
                      <a:r>
                        <a:rPr lang="en-US" altLang="ko-KR" sz="1000" kern="1200" dirty="0"/>
                        <a:t>)(3)</a:t>
                      </a:r>
                      <a:endParaRPr lang="ko-KR" altLang="en-US" sz="10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kern="1200" dirty="0" err="1"/>
                        <a:t>명세서보정</a:t>
                      </a:r>
                      <a:endParaRPr lang="ko-KR" altLang="en-US" sz="1000" kern="1200" dirty="0"/>
                    </a:p>
                    <a:p>
                      <a:pPr marL="0" marR="0" indent="0" algn="ctr" fontAlgn="base" latinLnBrk="0">
                        <a:lnSpc>
                          <a:spcPct val="100000"/>
                        </a:lnSpc>
                        <a:spcBef>
                          <a:spcPts val="0"/>
                        </a:spcBef>
                        <a:spcAft>
                          <a:spcPts val="0"/>
                        </a:spcAft>
                      </a:pPr>
                      <a:r>
                        <a:rPr lang="en-US" altLang="ko-KR" sz="1000" kern="1200" dirty="0"/>
                        <a:t>(</a:t>
                      </a:r>
                      <a:r>
                        <a:rPr lang="ko-KR" altLang="en-US" sz="1000" kern="1200" dirty="0"/>
                        <a:t>칼슘</a:t>
                      </a:r>
                      <a:r>
                        <a:rPr lang="en-US" altLang="ko-KR" sz="1000" kern="1200" dirty="0"/>
                        <a:t>)(4)</a:t>
                      </a:r>
                      <a:endParaRPr lang="ko-KR" altLang="en-US" sz="10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kern="1200" dirty="0"/>
                        <a:t>신규사항추가의 판단</a:t>
                      </a:r>
                      <a:endParaRPr lang="ko-KR" altLang="en-US" sz="10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2179221416"/>
                  </a:ext>
                </a:extLst>
              </a:tr>
              <a:tr h="222904">
                <a:tc>
                  <a:txBody>
                    <a:bodyPr/>
                    <a:lstStyle/>
                    <a:p>
                      <a:pPr marL="17780" marR="17780" indent="0" algn="ctr" fontAlgn="base" latinLnBrk="0">
                        <a:lnSpc>
                          <a:spcPct val="10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000" kern="1200" dirty="0"/>
                        <a:t>○</a:t>
                      </a:r>
                      <a:endParaRPr lang="ko-KR" altLang="en-US" sz="10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en-US" sz="1000" kern="1200" dirty="0"/>
                        <a:t>-</a:t>
                      </a:r>
                      <a:endParaRPr lang="en-US" sz="10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en-US" sz="1000" kern="1200"/>
                        <a:t>-</a:t>
                      </a:r>
                      <a:endParaRPr lang="en-US" sz="1000" kern="1200">
                        <a:solidFill>
                          <a:schemeClr val="tx2"/>
                        </a:solidFill>
                        <a:latin typeface="+mn-lt"/>
                        <a:ea typeface="+mn-ea"/>
                        <a:cs typeface="+mn-cs"/>
                      </a:endParaRPr>
                    </a:p>
                  </a:txBody>
                  <a:tcPr marL="64770" marR="64770" marT="17907" marB="17907" anchor="ctr"/>
                </a:tc>
                <a:tc>
                  <a:txBody>
                    <a:bodyPr/>
                    <a:lstStyle/>
                    <a:p>
                      <a:pPr marL="17780" marR="17780" indent="0" algn="just" fontAlgn="base" latinLnBrk="1">
                        <a:lnSpc>
                          <a:spcPct val="100000"/>
                        </a:lnSpc>
                        <a:spcBef>
                          <a:spcPts val="0"/>
                        </a:spcBef>
                        <a:spcAft>
                          <a:spcPts val="0"/>
                        </a:spcAft>
                      </a:pPr>
                      <a:r>
                        <a:rPr lang="en-US" altLang="ko-KR" sz="1000" kern="1200" dirty="0"/>
                        <a:t>(2)</a:t>
                      </a:r>
                      <a:r>
                        <a:rPr lang="ko-KR" altLang="en-US" sz="1000" kern="1200" dirty="0"/>
                        <a:t>가 </a:t>
                      </a:r>
                      <a:r>
                        <a:rPr lang="en-US" altLang="ko-KR" sz="1000" kern="1200" dirty="0"/>
                        <a:t>(1)(</a:t>
                      </a:r>
                      <a:r>
                        <a:rPr lang="ko-KR" altLang="en-US" sz="1000" kern="1200" dirty="0"/>
                        <a:t>法 </a:t>
                      </a:r>
                      <a:r>
                        <a:rPr lang="en-US" altLang="ko-KR" sz="1000" kern="1200" dirty="0"/>
                        <a:t>47</a:t>
                      </a:r>
                      <a:r>
                        <a:rPr lang="ko-KR" altLang="en-US" sz="1000" kern="1200" dirty="0"/>
                        <a:t>②전단</a:t>
                      </a:r>
                      <a:r>
                        <a:rPr lang="en-US" altLang="ko-KR" sz="1000" kern="1200" dirty="0"/>
                        <a:t>)</a:t>
                      </a:r>
                      <a:r>
                        <a:rPr lang="ko-KR" altLang="en-US" sz="1000" kern="1200" dirty="0"/>
                        <a:t>과 </a:t>
                      </a:r>
                      <a:r>
                        <a:rPr lang="en-US" altLang="ko-KR" sz="1000" kern="1200" dirty="0"/>
                        <a:t>(2)(</a:t>
                      </a:r>
                      <a:r>
                        <a:rPr lang="ko-KR" altLang="en-US" sz="1000" kern="1200" dirty="0"/>
                        <a:t>法 </a:t>
                      </a:r>
                      <a:r>
                        <a:rPr lang="en-US" altLang="ko-KR" sz="1000" kern="1200" dirty="0"/>
                        <a:t>47</a:t>
                      </a:r>
                      <a:r>
                        <a:rPr lang="ko-KR" altLang="en-US" sz="1000" kern="1200" dirty="0"/>
                        <a:t>②후단</a:t>
                      </a:r>
                      <a:r>
                        <a:rPr lang="en-US" altLang="ko-KR" sz="1000" kern="1200" dirty="0"/>
                        <a:t>)</a:t>
                      </a:r>
                      <a:r>
                        <a:rPr lang="ko-KR" altLang="en-US" sz="1000" kern="1200" dirty="0"/>
                        <a:t>의 기재된 사항의 범위를 만족했는지 여부에 의하여 판단 → 제</a:t>
                      </a:r>
                      <a:r>
                        <a:rPr lang="en-US" altLang="ko-KR" sz="1000" kern="1200" dirty="0"/>
                        <a:t>47</a:t>
                      </a:r>
                      <a:r>
                        <a:rPr lang="ko-KR" altLang="en-US" sz="1000" kern="1200" dirty="0"/>
                        <a:t>조제</a:t>
                      </a:r>
                      <a:r>
                        <a:rPr lang="en-US" altLang="ko-KR" sz="1000" kern="1200" dirty="0"/>
                        <a:t>2</a:t>
                      </a:r>
                      <a:r>
                        <a:rPr lang="ko-KR" altLang="en-US" sz="1000" kern="1200" dirty="0"/>
                        <a:t>항 전단에 위반됨</a:t>
                      </a:r>
                      <a:endParaRPr lang="ko-KR" altLang="en-US" sz="10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2361921594"/>
                  </a:ext>
                </a:extLst>
              </a:tr>
              <a:tr h="222904">
                <a:tc>
                  <a:txBody>
                    <a:bodyPr/>
                    <a:lstStyle/>
                    <a:p>
                      <a:pPr marL="17780" marR="17780" indent="0" algn="ctr" fontAlgn="base" latinLnBrk="0">
                        <a:lnSpc>
                          <a:spcPct val="100000"/>
                        </a:lnSpc>
                        <a:spcBef>
                          <a:spcPts val="0"/>
                        </a:spcBef>
                        <a:spcAft>
                          <a:spcPts val="0"/>
                        </a:spcAft>
                      </a:pPr>
                      <a:r>
                        <a:rPr lang="ko-KR" altLang="en-US" sz="1000" kern="1200" dirty="0"/>
                        <a:t>○</a:t>
                      </a:r>
                      <a:endParaRPr lang="ko-KR" altLang="en-US" sz="10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en-US" sz="1000" kern="1200"/>
                        <a:t>-</a:t>
                      </a:r>
                      <a:endParaRPr lang="en-US" sz="1000" kern="1200">
                        <a:solidFill>
                          <a:schemeClr val="tx2"/>
                        </a:solidFill>
                        <a:latin typeface="+mn-lt"/>
                        <a:ea typeface="+mn-ea"/>
                        <a:cs typeface="+mn-cs"/>
                      </a:endParaRPr>
                    </a:p>
                  </a:txBody>
                  <a:tcPr marL="64770" marR="64770" marT="17907" marB="17907" anchor="ctr"/>
                </a:tc>
                <a:tc>
                  <a:txBody>
                    <a:bodyPr/>
                    <a:lstStyle/>
                    <a:p>
                      <a:pPr marL="17780" marR="17780" indent="0" algn="just" fontAlgn="base" latinLnBrk="1">
                        <a:lnSpc>
                          <a:spcPct val="100000"/>
                        </a:lnSpc>
                        <a:spcBef>
                          <a:spcPts val="0"/>
                        </a:spcBef>
                        <a:spcAft>
                          <a:spcPts val="0"/>
                        </a:spcAft>
                      </a:pPr>
                      <a:r>
                        <a:rPr lang="en-US" altLang="ko-KR" sz="1000" kern="1200" dirty="0"/>
                        <a:t>(2)</a:t>
                      </a:r>
                      <a:r>
                        <a:rPr lang="ko-KR" altLang="en-US" sz="1000" kern="1200" dirty="0"/>
                        <a:t>가 </a:t>
                      </a:r>
                      <a:r>
                        <a:rPr lang="en-US" altLang="ko-KR" sz="1000" kern="1200" dirty="0"/>
                        <a:t>(1)(</a:t>
                      </a:r>
                      <a:r>
                        <a:rPr lang="ko-KR" altLang="en-US" sz="1000" kern="1200" dirty="0"/>
                        <a:t>法 </a:t>
                      </a:r>
                      <a:r>
                        <a:rPr lang="en-US" altLang="ko-KR" sz="1000" kern="1200" dirty="0"/>
                        <a:t>47</a:t>
                      </a:r>
                      <a:r>
                        <a:rPr lang="ko-KR" altLang="en-US" sz="1000" kern="1200" dirty="0"/>
                        <a:t>②전단</a:t>
                      </a:r>
                      <a:r>
                        <a:rPr lang="en-US" altLang="ko-KR" sz="1000" kern="1200" dirty="0"/>
                        <a:t>)</a:t>
                      </a:r>
                      <a:r>
                        <a:rPr lang="ko-KR" altLang="en-US" sz="1000" kern="1200" dirty="0"/>
                        <a:t>과 </a:t>
                      </a:r>
                      <a:r>
                        <a:rPr lang="en-US" altLang="ko-KR" sz="1000" kern="1200" dirty="0"/>
                        <a:t>(3)(</a:t>
                      </a:r>
                      <a:r>
                        <a:rPr lang="ko-KR" altLang="en-US" sz="1000" kern="1200" dirty="0"/>
                        <a:t>法 </a:t>
                      </a:r>
                      <a:r>
                        <a:rPr lang="en-US" altLang="ko-KR" sz="1000" kern="1200" dirty="0"/>
                        <a:t>47</a:t>
                      </a:r>
                      <a:r>
                        <a:rPr lang="ko-KR" altLang="en-US" sz="1000" kern="1200" dirty="0"/>
                        <a:t>②후단</a:t>
                      </a:r>
                      <a:r>
                        <a:rPr lang="en-US" altLang="ko-KR" sz="1000" kern="1200" dirty="0"/>
                        <a:t>)</a:t>
                      </a:r>
                      <a:r>
                        <a:rPr lang="ko-KR" altLang="en-US" sz="1000" kern="1200" dirty="0"/>
                        <a:t>의 기재된 사항의 범위를 만족했는지 여부에 의하여 판단 → 제</a:t>
                      </a:r>
                      <a:r>
                        <a:rPr lang="en-US" altLang="ko-KR" sz="1000" kern="1200" dirty="0"/>
                        <a:t>47</a:t>
                      </a:r>
                      <a:r>
                        <a:rPr lang="ko-KR" altLang="en-US" sz="1000" kern="1200" dirty="0"/>
                        <a:t>조제</a:t>
                      </a:r>
                      <a:r>
                        <a:rPr lang="en-US" altLang="ko-KR" sz="1000" kern="1200" dirty="0"/>
                        <a:t>2</a:t>
                      </a:r>
                      <a:r>
                        <a:rPr lang="ko-KR" altLang="en-US" sz="1000" kern="1200" dirty="0"/>
                        <a:t>항 전단과 후단에 위반됨</a:t>
                      </a:r>
                      <a:endParaRPr lang="ko-KR" altLang="en-US" sz="10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200856374"/>
                  </a:ext>
                </a:extLst>
              </a:tr>
              <a:tr h="222904">
                <a:tc>
                  <a:txBody>
                    <a:bodyPr/>
                    <a:lstStyle/>
                    <a:p>
                      <a:pPr marL="17780" marR="17780" indent="0" algn="ctr" fontAlgn="base" latinLnBrk="0">
                        <a:lnSpc>
                          <a:spcPct val="10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en-US" sz="1000" kern="1200"/>
                        <a:t>-</a:t>
                      </a:r>
                      <a:endParaRPr 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just" fontAlgn="base" latinLnBrk="1">
                        <a:lnSpc>
                          <a:spcPct val="100000"/>
                        </a:lnSpc>
                        <a:spcBef>
                          <a:spcPts val="0"/>
                        </a:spcBef>
                        <a:spcAft>
                          <a:spcPts val="0"/>
                        </a:spcAft>
                      </a:pPr>
                      <a:r>
                        <a:rPr lang="en-US" altLang="ko-KR" sz="1000" kern="1200" dirty="0"/>
                        <a:t>(4)</a:t>
                      </a:r>
                      <a:r>
                        <a:rPr lang="ko-KR" altLang="en-US" sz="1000" kern="1200" dirty="0"/>
                        <a:t>가 </a:t>
                      </a:r>
                      <a:r>
                        <a:rPr lang="en-US" altLang="ko-KR" sz="1000" kern="1200" dirty="0"/>
                        <a:t>(1)(</a:t>
                      </a:r>
                      <a:r>
                        <a:rPr lang="ko-KR" altLang="en-US" sz="1000" kern="1200" dirty="0"/>
                        <a:t>法 </a:t>
                      </a:r>
                      <a:r>
                        <a:rPr lang="en-US" altLang="ko-KR" sz="1000" kern="1200" dirty="0"/>
                        <a:t>47</a:t>
                      </a:r>
                      <a:r>
                        <a:rPr lang="ko-KR" altLang="en-US" sz="1000" kern="1200" dirty="0"/>
                        <a:t>②전단</a:t>
                      </a:r>
                      <a:r>
                        <a:rPr lang="en-US" altLang="ko-KR" sz="1000" kern="1200" dirty="0"/>
                        <a:t>)</a:t>
                      </a:r>
                      <a:r>
                        <a:rPr lang="ko-KR" altLang="en-US" sz="1000" kern="1200" dirty="0"/>
                        <a:t>과 </a:t>
                      </a:r>
                      <a:r>
                        <a:rPr lang="en-US" altLang="ko-KR" sz="1000" kern="1200" dirty="0"/>
                        <a:t>(2)(</a:t>
                      </a:r>
                      <a:r>
                        <a:rPr lang="ko-KR" altLang="en-US" sz="1000" kern="1200" dirty="0"/>
                        <a:t>法 </a:t>
                      </a:r>
                      <a:r>
                        <a:rPr lang="en-US" altLang="ko-KR" sz="1000" kern="1200" dirty="0"/>
                        <a:t>47</a:t>
                      </a:r>
                      <a:r>
                        <a:rPr lang="ko-KR" altLang="en-US" sz="1000" kern="1200" dirty="0"/>
                        <a:t>②후단</a:t>
                      </a:r>
                      <a:r>
                        <a:rPr lang="en-US" altLang="ko-KR" sz="1000" kern="1200" dirty="0"/>
                        <a:t>)</a:t>
                      </a:r>
                      <a:r>
                        <a:rPr lang="ko-KR" altLang="en-US" sz="1000" kern="1200" dirty="0"/>
                        <a:t>의 기재된 사항의 범위를 만족했는지 여부에 의하여 판단 → 제</a:t>
                      </a:r>
                      <a:r>
                        <a:rPr lang="en-US" altLang="ko-KR" sz="1000" kern="1200" dirty="0"/>
                        <a:t>47</a:t>
                      </a:r>
                      <a:r>
                        <a:rPr lang="ko-KR" altLang="en-US" sz="1000" kern="1200" dirty="0"/>
                        <a:t>조제</a:t>
                      </a:r>
                      <a:r>
                        <a:rPr lang="en-US" altLang="ko-KR" sz="1000" kern="1200" dirty="0"/>
                        <a:t>2</a:t>
                      </a:r>
                      <a:r>
                        <a:rPr lang="ko-KR" altLang="en-US" sz="1000" kern="1200" dirty="0"/>
                        <a:t>항 후단에 위반됨</a:t>
                      </a:r>
                      <a:endParaRPr lang="ko-KR" altLang="en-US" sz="10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4259281918"/>
                  </a:ext>
                </a:extLst>
              </a:tr>
              <a:tr h="222904">
                <a:tc>
                  <a:txBody>
                    <a:bodyPr/>
                    <a:lstStyle/>
                    <a:p>
                      <a:pPr marL="17780" marR="17780" indent="0" algn="ctr" fontAlgn="base" latinLnBrk="0">
                        <a:lnSpc>
                          <a:spcPct val="10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000" kern="1200"/>
                        <a:t>○</a:t>
                      </a:r>
                      <a:endParaRPr lang="ko-KR" altLang="en-US" sz="1000" kern="1200">
                        <a:solidFill>
                          <a:schemeClr val="tx2"/>
                        </a:solidFill>
                        <a:latin typeface="+mn-lt"/>
                        <a:ea typeface="+mn-ea"/>
                        <a:cs typeface="+mn-cs"/>
                      </a:endParaRPr>
                    </a:p>
                  </a:txBody>
                  <a:tcPr marL="64770" marR="64770" marT="17907" marB="17907" anchor="ctr"/>
                </a:tc>
                <a:tc>
                  <a:txBody>
                    <a:bodyPr/>
                    <a:lstStyle/>
                    <a:p>
                      <a:pPr marL="17780" marR="17780" indent="0" algn="just" fontAlgn="base" latinLnBrk="1">
                        <a:lnSpc>
                          <a:spcPct val="100000"/>
                        </a:lnSpc>
                        <a:spcBef>
                          <a:spcPts val="0"/>
                        </a:spcBef>
                        <a:spcAft>
                          <a:spcPts val="0"/>
                        </a:spcAft>
                      </a:pPr>
                      <a:r>
                        <a:rPr lang="en-US" altLang="ko-KR" sz="1000" kern="1200" dirty="0">
                          <a:solidFill>
                            <a:srgbClr val="FF0000"/>
                          </a:solidFill>
                        </a:rPr>
                        <a:t>(4)</a:t>
                      </a:r>
                      <a:r>
                        <a:rPr lang="ko-KR" altLang="en-US" sz="1000" kern="1200" dirty="0">
                          <a:solidFill>
                            <a:srgbClr val="FF0000"/>
                          </a:solidFill>
                        </a:rPr>
                        <a:t>가 </a:t>
                      </a:r>
                      <a:r>
                        <a:rPr lang="en-US" altLang="ko-KR" sz="1000" kern="1200" dirty="0">
                          <a:solidFill>
                            <a:srgbClr val="FF0000"/>
                          </a:solidFill>
                        </a:rPr>
                        <a:t>(1)(</a:t>
                      </a:r>
                      <a:r>
                        <a:rPr lang="ko-KR" altLang="en-US" sz="1000" kern="1200" dirty="0">
                          <a:solidFill>
                            <a:srgbClr val="FF0000"/>
                          </a:solidFill>
                        </a:rPr>
                        <a:t>法 </a:t>
                      </a:r>
                      <a:r>
                        <a:rPr lang="en-US" altLang="ko-KR" sz="1000" kern="1200" dirty="0">
                          <a:solidFill>
                            <a:srgbClr val="FF0000"/>
                          </a:solidFill>
                        </a:rPr>
                        <a:t>47</a:t>
                      </a:r>
                      <a:r>
                        <a:rPr lang="ko-KR" altLang="en-US" sz="1000" kern="1200" dirty="0">
                          <a:solidFill>
                            <a:srgbClr val="FF0000"/>
                          </a:solidFill>
                        </a:rPr>
                        <a:t>②전단</a:t>
                      </a:r>
                      <a:r>
                        <a:rPr lang="en-US" altLang="ko-KR" sz="1000" kern="1200" dirty="0">
                          <a:solidFill>
                            <a:srgbClr val="FF0000"/>
                          </a:solidFill>
                        </a:rPr>
                        <a:t>)</a:t>
                      </a:r>
                      <a:r>
                        <a:rPr lang="ko-KR" altLang="en-US" sz="1000" kern="1200" dirty="0">
                          <a:solidFill>
                            <a:srgbClr val="FF0000"/>
                          </a:solidFill>
                        </a:rPr>
                        <a:t>과 </a:t>
                      </a:r>
                      <a:r>
                        <a:rPr lang="en-US" altLang="ko-KR" sz="1000" kern="1200" dirty="0">
                          <a:solidFill>
                            <a:srgbClr val="FF0000"/>
                          </a:solidFill>
                        </a:rPr>
                        <a:t>(3)(</a:t>
                      </a:r>
                      <a:r>
                        <a:rPr lang="ko-KR" altLang="en-US" sz="1000" kern="1200" dirty="0">
                          <a:solidFill>
                            <a:srgbClr val="FF0000"/>
                          </a:solidFill>
                        </a:rPr>
                        <a:t>法 </a:t>
                      </a:r>
                      <a:r>
                        <a:rPr lang="en-US" altLang="ko-KR" sz="1000" kern="1200" dirty="0">
                          <a:solidFill>
                            <a:srgbClr val="FF0000"/>
                          </a:solidFill>
                        </a:rPr>
                        <a:t>47</a:t>
                      </a:r>
                      <a:r>
                        <a:rPr lang="ko-KR" altLang="en-US" sz="1000" kern="1200" dirty="0">
                          <a:solidFill>
                            <a:srgbClr val="FF0000"/>
                          </a:solidFill>
                        </a:rPr>
                        <a:t>②후단</a:t>
                      </a:r>
                      <a:r>
                        <a:rPr lang="en-US" altLang="ko-KR" sz="1000" kern="1200" dirty="0">
                          <a:solidFill>
                            <a:srgbClr val="FF0000"/>
                          </a:solidFill>
                        </a:rPr>
                        <a:t>)</a:t>
                      </a:r>
                      <a:r>
                        <a:rPr lang="ko-KR" altLang="en-US" sz="1000" kern="1200" dirty="0">
                          <a:solidFill>
                            <a:srgbClr val="FF0000"/>
                          </a:solidFill>
                        </a:rPr>
                        <a:t>의 기재된 사항의 범위를 만족했는지 여부에 의하여 판단 → 제</a:t>
                      </a:r>
                      <a:r>
                        <a:rPr lang="en-US" altLang="ko-KR" sz="1000" kern="1200" dirty="0">
                          <a:solidFill>
                            <a:srgbClr val="FF0000"/>
                          </a:solidFill>
                        </a:rPr>
                        <a:t>47</a:t>
                      </a:r>
                      <a:r>
                        <a:rPr lang="ko-KR" altLang="en-US" sz="1000" kern="1200" dirty="0">
                          <a:solidFill>
                            <a:srgbClr val="FF0000"/>
                          </a:solidFill>
                        </a:rPr>
                        <a:t>조제</a:t>
                      </a:r>
                      <a:r>
                        <a:rPr lang="en-US" altLang="ko-KR" sz="1000" kern="1200" dirty="0">
                          <a:solidFill>
                            <a:srgbClr val="FF0000"/>
                          </a:solidFill>
                        </a:rPr>
                        <a:t>2</a:t>
                      </a:r>
                      <a:r>
                        <a:rPr lang="ko-KR" altLang="en-US" sz="1000" kern="1200" dirty="0">
                          <a:solidFill>
                            <a:srgbClr val="FF0000"/>
                          </a:solidFill>
                        </a:rPr>
                        <a:t>항 후단에 위반되지 아니함</a:t>
                      </a:r>
                      <a:endParaRPr lang="ko-KR" altLang="en-US" sz="1000" kern="1200" dirty="0">
                        <a:solidFill>
                          <a:srgbClr val="FF0000"/>
                        </a:solidFill>
                        <a:latin typeface="+mn-lt"/>
                        <a:ea typeface="+mn-ea"/>
                        <a:cs typeface="+mn-cs"/>
                      </a:endParaRPr>
                    </a:p>
                  </a:txBody>
                  <a:tcPr marL="64770" marR="64770" marT="17907" marB="17907" anchor="ctr"/>
                </a:tc>
                <a:extLst>
                  <a:ext uri="{0D108BD9-81ED-4DB2-BD59-A6C34878D82A}">
                    <a16:rowId xmlns:a16="http://schemas.microsoft.com/office/drawing/2014/main" val="2982519584"/>
                  </a:ext>
                </a:extLst>
              </a:tr>
            </a:tbl>
          </a:graphicData>
        </a:graphic>
      </p:graphicFrame>
      <p:cxnSp>
        <p:nvCxnSpPr>
          <p:cNvPr id="66" name="직선 연결선 65"/>
          <p:cNvCxnSpPr>
            <a:cxnSpLocks/>
          </p:cNvCxnSpPr>
          <p:nvPr/>
        </p:nvCxnSpPr>
        <p:spPr>
          <a:xfrm>
            <a:off x="2912096" y="2749283"/>
            <a:ext cx="923507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직사각형 74"/>
          <p:cNvSpPr/>
          <p:nvPr/>
        </p:nvSpPr>
        <p:spPr>
          <a:xfrm>
            <a:off x="3049880" y="2553456"/>
            <a:ext cx="997645" cy="34021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외국어</a:t>
            </a:r>
            <a:endParaRPr lang="en-US" altLang="ko-KR" sz="1100" dirty="0">
              <a:solidFill>
                <a:schemeClr val="tx1"/>
              </a:solidFill>
            </a:endParaRPr>
          </a:p>
          <a:p>
            <a:pPr algn="ctr"/>
            <a:r>
              <a:rPr lang="ko-KR" altLang="en-US" sz="1100" dirty="0">
                <a:solidFill>
                  <a:schemeClr val="tx1"/>
                </a:solidFill>
              </a:rPr>
              <a:t>특허출원</a:t>
            </a:r>
            <a:r>
              <a:rPr lang="en-US" altLang="ko-KR" sz="1100" dirty="0">
                <a:solidFill>
                  <a:schemeClr val="tx1"/>
                </a:solidFill>
              </a:rPr>
              <a:t>(1)</a:t>
            </a:r>
            <a:endParaRPr lang="ko-KR" altLang="en-US" sz="1100" dirty="0">
              <a:solidFill>
                <a:schemeClr val="tx1"/>
              </a:solidFill>
            </a:endParaRPr>
          </a:p>
        </p:txBody>
      </p:sp>
      <p:sp>
        <p:nvSpPr>
          <p:cNvPr id="77" name="직사각형 76"/>
          <p:cNvSpPr/>
          <p:nvPr/>
        </p:nvSpPr>
        <p:spPr>
          <a:xfrm>
            <a:off x="4986806" y="2553456"/>
            <a:ext cx="997645" cy="34021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번역문</a:t>
            </a:r>
            <a:endParaRPr lang="en-US" altLang="ko-KR" sz="1100" dirty="0">
              <a:solidFill>
                <a:schemeClr val="tx1"/>
              </a:solidFill>
            </a:endParaRPr>
          </a:p>
          <a:p>
            <a:pPr algn="ctr"/>
            <a:r>
              <a:rPr lang="ko-KR" altLang="en-US" sz="1100" dirty="0">
                <a:solidFill>
                  <a:schemeClr val="tx1"/>
                </a:solidFill>
              </a:rPr>
              <a:t>제출</a:t>
            </a:r>
            <a:r>
              <a:rPr lang="en-US" altLang="ko-KR" sz="1100" dirty="0">
                <a:solidFill>
                  <a:schemeClr val="tx1"/>
                </a:solidFill>
              </a:rPr>
              <a:t>(2)</a:t>
            </a:r>
            <a:endParaRPr lang="ko-KR" altLang="en-US" sz="1100" dirty="0">
              <a:solidFill>
                <a:schemeClr val="tx1"/>
              </a:solidFill>
            </a:endParaRPr>
          </a:p>
        </p:txBody>
      </p:sp>
      <p:sp>
        <p:nvSpPr>
          <p:cNvPr id="79" name="직사각형 78"/>
          <p:cNvSpPr/>
          <p:nvPr/>
        </p:nvSpPr>
        <p:spPr>
          <a:xfrm>
            <a:off x="9425055" y="2553456"/>
            <a:ext cx="997645" cy="34021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명세서</a:t>
            </a:r>
            <a:r>
              <a:rPr lang="en-US" altLang="ko-KR" sz="1100" dirty="0">
                <a:solidFill>
                  <a:schemeClr val="tx1"/>
                </a:solidFill>
              </a:rPr>
              <a:t>/</a:t>
            </a:r>
            <a:r>
              <a:rPr lang="ko-KR" altLang="en-US" sz="1100" dirty="0">
                <a:solidFill>
                  <a:schemeClr val="tx1"/>
                </a:solidFill>
              </a:rPr>
              <a:t>도면</a:t>
            </a:r>
            <a:endParaRPr lang="en-US" altLang="ko-KR" sz="1100" dirty="0">
              <a:solidFill>
                <a:schemeClr val="tx1"/>
              </a:solidFill>
            </a:endParaRPr>
          </a:p>
          <a:p>
            <a:pPr algn="ctr"/>
            <a:r>
              <a:rPr lang="ko-KR" altLang="en-US" sz="1100" dirty="0">
                <a:solidFill>
                  <a:schemeClr val="tx1"/>
                </a:solidFill>
              </a:rPr>
              <a:t>보정</a:t>
            </a:r>
            <a:r>
              <a:rPr lang="en-US" altLang="ko-KR" sz="1100" dirty="0">
                <a:solidFill>
                  <a:schemeClr val="tx1"/>
                </a:solidFill>
              </a:rPr>
              <a:t>(4)</a:t>
            </a:r>
            <a:endParaRPr lang="ko-KR" altLang="en-US" sz="1100" dirty="0">
              <a:solidFill>
                <a:schemeClr val="tx1"/>
              </a:solidFill>
            </a:endParaRPr>
          </a:p>
        </p:txBody>
      </p:sp>
      <p:sp>
        <p:nvSpPr>
          <p:cNvPr id="86" name="직사각형 85"/>
          <p:cNvSpPr/>
          <p:nvPr/>
        </p:nvSpPr>
        <p:spPr>
          <a:xfrm>
            <a:off x="404443" y="3063944"/>
            <a:ext cx="1053400" cy="18440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chemeClr val="tx1"/>
                </a:solidFill>
              </a:rPr>
              <a:t>출원서</a:t>
            </a:r>
            <a:endParaRPr lang="ko-KR" altLang="en-US" sz="900" dirty="0">
              <a:solidFill>
                <a:schemeClr val="tx1"/>
              </a:solidFill>
            </a:endParaRPr>
          </a:p>
        </p:txBody>
      </p:sp>
      <p:sp>
        <p:nvSpPr>
          <p:cNvPr id="87" name="직사각형 86"/>
          <p:cNvSpPr/>
          <p:nvPr/>
        </p:nvSpPr>
        <p:spPr>
          <a:xfrm>
            <a:off x="404443" y="3266477"/>
            <a:ext cx="1053400" cy="18440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tx1"/>
                </a:solidFill>
              </a:rPr>
              <a:t>명세서</a:t>
            </a:r>
            <a:r>
              <a:rPr lang="en-US" altLang="ko-KR" sz="900" dirty="0">
                <a:solidFill>
                  <a:schemeClr val="tx1"/>
                </a:solidFill>
              </a:rPr>
              <a:t>*</a:t>
            </a:r>
            <a:endParaRPr lang="ko-KR" altLang="en-US" sz="900" dirty="0">
              <a:solidFill>
                <a:schemeClr val="tx1"/>
              </a:solidFill>
            </a:endParaRPr>
          </a:p>
        </p:txBody>
      </p:sp>
      <p:sp>
        <p:nvSpPr>
          <p:cNvPr id="90" name="직사각형 89"/>
          <p:cNvSpPr/>
          <p:nvPr/>
        </p:nvSpPr>
        <p:spPr>
          <a:xfrm>
            <a:off x="404443" y="3467783"/>
            <a:ext cx="1053400" cy="18440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tx1"/>
                </a:solidFill>
              </a:rPr>
              <a:t>필요한 도면</a:t>
            </a:r>
            <a:r>
              <a:rPr lang="en-US" altLang="ko-KR" sz="900" dirty="0">
                <a:solidFill>
                  <a:schemeClr val="tx1"/>
                </a:solidFill>
              </a:rPr>
              <a:t>*</a:t>
            </a:r>
            <a:endParaRPr lang="ko-KR" altLang="en-US" sz="900" dirty="0">
              <a:solidFill>
                <a:schemeClr val="tx1"/>
              </a:solidFill>
            </a:endParaRPr>
          </a:p>
        </p:txBody>
      </p:sp>
      <p:sp>
        <p:nvSpPr>
          <p:cNvPr id="91" name="직사각형 90"/>
          <p:cNvSpPr/>
          <p:nvPr/>
        </p:nvSpPr>
        <p:spPr>
          <a:xfrm>
            <a:off x="404443" y="3921028"/>
            <a:ext cx="1053400" cy="18440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tx1"/>
                </a:solidFill>
              </a:rPr>
              <a:t>요약서</a:t>
            </a:r>
          </a:p>
        </p:txBody>
      </p:sp>
      <p:sp>
        <p:nvSpPr>
          <p:cNvPr id="109" name="직사각형 108"/>
          <p:cNvSpPr/>
          <p:nvPr/>
        </p:nvSpPr>
        <p:spPr>
          <a:xfrm>
            <a:off x="1724165" y="3436469"/>
            <a:ext cx="990568" cy="21988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tx1"/>
                </a:solidFill>
              </a:rPr>
              <a:t>설명부분포함</a:t>
            </a:r>
            <a:r>
              <a:rPr lang="en-US" altLang="ko-KR" sz="900" dirty="0">
                <a:solidFill>
                  <a:schemeClr val="tx1"/>
                </a:solidFill>
              </a:rPr>
              <a:t>*</a:t>
            </a:r>
            <a:endParaRPr lang="ko-KR" altLang="en-US" sz="900" dirty="0">
              <a:solidFill>
                <a:schemeClr val="tx1"/>
              </a:solidFill>
            </a:endParaRPr>
          </a:p>
        </p:txBody>
      </p:sp>
      <p:sp>
        <p:nvSpPr>
          <p:cNvPr id="110" name="직사각형 109"/>
          <p:cNvSpPr/>
          <p:nvPr/>
        </p:nvSpPr>
        <p:spPr>
          <a:xfrm>
            <a:off x="1724167" y="3683181"/>
            <a:ext cx="990567" cy="186614"/>
          </a:xfrm>
          <a:prstGeom prst="rect">
            <a:avLst/>
          </a:prstGeom>
          <a:solidFill>
            <a:schemeClr val="accent3"/>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tx1"/>
                </a:solidFill>
              </a:rPr>
              <a:t>설명부분제외</a:t>
            </a:r>
          </a:p>
        </p:txBody>
      </p:sp>
      <p:cxnSp>
        <p:nvCxnSpPr>
          <p:cNvPr id="111" name="꺾인 연결선 110"/>
          <p:cNvCxnSpPr>
            <a:stCxn id="90" idx="3"/>
            <a:endCxn id="109" idx="1"/>
          </p:cNvCxnSpPr>
          <p:nvPr/>
        </p:nvCxnSpPr>
        <p:spPr>
          <a:xfrm flipV="1">
            <a:off x="1457843" y="3546411"/>
            <a:ext cx="266322" cy="1357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꺾인 연결선 111"/>
          <p:cNvCxnSpPr>
            <a:stCxn id="90" idx="3"/>
            <a:endCxn id="110" idx="1"/>
          </p:cNvCxnSpPr>
          <p:nvPr/>
        </p:nvCxnSpPr>
        <p:spPr>
          <a:xfrm>
            <a:off x="1457843" y="3559988"/>
            <a:ext cx="266324" cy="2165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직사각형 38"/>
          <p:cNvSpPr/>
          <p:nvPr/>
        </p:nvSpPr>
        <p:spPr>
          <a:xfrm>
            <a:off x="4868554" y="2219783"/>
            <a:ext cx="1231675" cy="208927"/>
          </a:xfrm>
          <a:prstGeom prst="rect">
            <a:avLst/>
          </a:prstGeom>
          <a:no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2"/>
                </a:solidFill>
              </a:rPr>
              <a:t>보정 효과 인정</a:t>
            </a:r>
          </a:p>
        </p:txBody>
      </p:sp>
      <p:cxnSp>
        <p:nvCxnSpPr>
          <p:cNvPr id="43" name="직선 연결선 42"/>
          <p:cNvCxnSpPr>
            <a:stCxn id="39" idx="2"/>
            <a:endCxn id="77" idx="0"/>
          </p:cNvCxnSpPr>
          <p:nvPr/>
        </p:nvCxnSpPr>
        <p:spPr>
          <a:xfrm>
            <a:off x="5484392" y="2428710"/>
            <a:ext cx="1237" cy="12474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3" name="직사각형 112"/>
          <p:cNvSpPr/>
          <p:nvPr/>
        </p:nvSpPr>
        <p:spPr>
          <a:xfrm>
            <a:off x="6952323" y="2219783"/>
            <a:ext cx="1231675" cy="208927"/>
          </a:xfrm>
          <a:prstGeom prst="rect">
            <a:avLst/>
          </a:prstGeom>
          <a:no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2"/>
                </a:solidFill>
              </a:rPr>
              <a:t>보정 효과 </a:t>
            </a:r>
            <a:r>
              <a:rPr lang="ko-KR" altLang="en-US" sz="1200" dirty="0" err="1">
                <a:solidFill>
                  <a:schemeClr val="tx2"/>
                </a:solidFill>
              </a:rPr>
              <a:t>不인정</a:t>
            </a:r>
            <a:endParaRPr lang="ko-KR" altLang="en-US" sz="1200" dirty="0">
              <a:solidFill>
                <a:schemeClr val="tx2"/>
              </a:solidFill>
            </a:endParaRPr>
          </a:p>
        </p:txBody>
      </p:sp>
      <p:cxnSp>
        <p:nvCxnSpPr>
          <p:cNvPr id="114" name="직선 연결선 113"/>
          <p:cNvCxnSpPr>
            <a:stCxn id="113" idx="2"/>
            <a:endCxn id="78" idx="0"/>
          </p:cNvCxnSpPr>
          <p:nvPr/>
        </p:nvCxnSpPr>
        <p:spPr>
          <a:xfrm>
            <a:off x="7568161" y="2428710"/>
            <a:ext cx="822" cy="12474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5" name="직사각형 114"/>
          <p:cNvSpPr/>
          <p:nvPr/>
        </p:nvSpPr>
        <p:spPr>
          <a:xfrm>
            <a:off x="3049880" y="3264273"/>
            <a:ext cx="997645" cy="387918"/>
          </a:xfrm>
          <a:prstGeom prst="rect">
            <a:avLst/>
          </a:prstGeom>
          <a:solidFill>
            <a:schemeClr val="accent5">
              <a:lumMod val="20000"/>
              <a:lumOff val="80000"/>
            </a:schemeClr>
          </a:solid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2"/>
                </a:solidFill>
              </a:rPr>
              <a:t>영어</a:t>
            </a:r>
            <a:r>
              <a:rPr lang="en-US" altLang="ko-KR" sz="1100" dirty="0">
                <a:solidFill>
                  <a:schemeClr val="tx2"/>
                </a:solidFill>
              </a:rPr>
              <a:t>(Ca)</a:t>
            </a:r>
            <a:endParaRPr lang="ko-KR" altLang="en-US" sz="1100" dirty="0">
              <a:solidFill>
                <a:schemeClr val="tx2"/>
              </a:solidFill>
            </a:endParaRPr>
          </a:p>
        </p:txBody>
      </p:sp>
      <p:sp>
        <p:nvSpPr>
          <p:cNvPr id="116" name="직사각형 115"/>
          <p:cNvSpPr/>
          <p:nvPr/>
        </p:nvSpPr>
        <p:spPr>
          <a:xfrm>
            <a:off x="4986806" y="3264273"/>
            <a:ext cx="997645" cy="387918"/>
          </a:xfrm>
          <a:prstGeom prst="rect">
            <a:avLst/>
          </a:prstGeom>
          <a:solidFill>
            <a:schemeClr val="accent5">
              <a:lumMod val="20000"/>
              <a:lumOff val="80000"/>
            </a:schemeClr>
          </a:solid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2"/>
                </a:solidFill>
              </a:rPr>
              <a:t>국어</a:t>
            </a:r>
            <a:r>
              <a:rPr lang="en-US" altLang="ko-KR" sz="1100" dirty="0">
                <a:solidFill>
                  <a:schemeClr val="tx2"/>
                </a:solidFill>
              </a:rPr>
              <a:t>(</a:t>
            </a:r>
            <a:r>
              <a:rPr lang="ko-KR" altLang="en-US" sz="1100" dirty="0">
                <a:solidFill>
                  <a:schemeClr val="tx2"/>
                </a:solidFill>
              </a:rPr>
              <a:t>칼륨</a:t>
            </a:r>
            <a:r>
              <a:rPr lang="en-US" altLang="ko-KR" sz="1100" dirty="0">
                <a:solidFill>
                  <a:schemeClr val="tx2"/>
                </a:solidFill>
              </a:rPr>
              <a:t>)</a:t>
            </a:r>
            <a:endParaRPr lang="ko-KR" altLang="en-US" sz="1100" dirty="0">
              <a:solidFill>
                <a:schemeClr val="tx2"/>
              </a:solidFill>
            </a:endParaRPr>
          </a:p>
        </p:txBody>
      </p:sp>
      <p:sp>
        <p:nvSpPr>
          <p:cNvPr id="117" name="직사각형 116"/>
          <p:cNvSpPr/>
          <p:nvPr/>
        </p:nvSpPr>
        <p:spPr>
          <a:xfrm>
            <a:off x="7069338" y="3264273"/>
            <a:ext cx="997645" cy="387918"/>
          </a:xfrm>
          <a:prstGeom prst="rect">
            <a:avLst/>
          </a:prstGeom>
          <a:no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2"/>
                </a:solidFill>
              </a:rPr>
              <a:t>국어</a:t>
            </a:r>
            <a:r>
              <a:rPr lang="en-US" altLang="ko-KR" sz="1100" dirty="0">
                <a:solidFill>
                  <a:schemeClr val="tx2"/>
                </a:solidFill>
              </a:rPr>
              <a:t>(</a:t>
            </a:r>
            <a:r>
              <a:rPr lang="ko-KR" altLang="en-US" sz="1100" dirty="0">
                <a:solidFill>
                  <a:schemeClr val="tx2"/>
                </a:solidFill>
              </a:rPr>
              <a:t>칼슘</a:t>
            </a:r>
            <a:r>
              <a:rPr lang="en-US" altLang="ko-KR" sz="1100" dirty="0">
                <a:solidFill>
                  <a:schemeClr val="tx2"/>
                </a:solidFill>
              </a:rPr>
              <a:t>)</a:t>
            </a:r>
            <a:endParaRPr lang="ko-KR" altLang="en-US" sz="1100" dirty="0">
              <a:solidFill>
                <a:schemeClr val="tx2"/>
              </a:solidFill>
            </a:endParaRPr>
          </a:p>
        </p:txBody>
      </p:sp>
      <p:sp>
        <p:nvSpPr>
          <p:cNvPr id="118" name="직사각형 117"/>
          <p:cNvSpPr/>
          <p:nvPr/>
        </p:nvSpPr>
        <p:spPr>
          <a:xfrm>
            <a:off x="9425055" y="3264273"/>
            <a:ext cx="997645" cy="387919"/>
          </a:xfrm>
          <a:prstGeom prst="rect">
            <a:avLst/>
          </a:prstGeom>
          <a:no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2"/>
                </a:solidFill>
              </a:rPr>
              <a:t>국어</a:t>
            </a:r>
            <a:r>
              <a:rPr lang="en-US" altLang="ko-KR" sz="1100" dirty="0">
                <a:solidFill>
                  <a:schemeClr val="tx2"/>
                </a:solidFill>
              </a:rPr>
              <a:t>(</a:t>
            </a:r>
            <a:r>
              <a:rPr lang="ko-KR" altLang="en-US" sz="1100" dirty="0">
                <a:solidFill>
                  <a:schemeClr val="tx2"/>
                </a:solidFill>
              </a:rPr>
              <a:t>칼슘</a:t>
            </a:r>
            <a:r>
              <a:rPr lang="en-US" altLang="ko-KR" sz="1100" dirty="0">
                <a:solidFill>
                  <a:schemeClr val="tx2"/>
                </a:solidFill>
              </a:rPr>
              <a:t>)</a:t>
            </a:r>
            <a:endParaRPr lang="ko-KR" altLang="en-US" sz="1100" dirty="0">
              <a:solidFill>
                <a:schemeClr val="tx2"/>
              </a:solidFill>
            </a:endParaRPr>
          </a:p>
        </p:txBody>
      </p:sp>
      <p:sp>
        <p:nvSpPr>
          <p:cNvPr id="119" name="직사각형 118"/>
          <p:cNvSpPr/>
          <p:nvPr/>
        </p:nvSpPr>
        <p:spPr>
          <a:xfrm>
            <a:off x="3049880" y="3683180"/>
            <a:ext cx="997645" cy="186614"/>
          </a:xfrm>
          <a:prstGeom prst="rect">
            <a:avLst/>
          </a:prstGeom>
          <a:solidFill>
            <a:schemeClr val="accent3"/>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endParaRPr>
          </a:p>
        </p:txBody>
      </p:sp>
      <p:sp>
        <p:nvSpPr>
          <p:cNvPr id="120" name="직사각형 119"/>
          <p:cNvSpPr/>
          <p:nvPr/>
        </p:nvSpPr>
        <p:spPr>
          <a:xfrm>
            <a:off x="4986806" y="3665250"/>
            <a:ext cx="997645" cy="205452"/>
          </a:xfrm>
          <a:prstGeom prst="rect">
            <a:avLst/>
          </a:prstGeom>
          <a:solidFill>
            <a:schemeClr val="accent3"/>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endParaRPr>
          </a:p>
        </p:txBody>
      </p:sp>
      <p:sp>
        <p:nvSpPr>
          <p:cNvPr id="121" name="직사각형 120"/>
          <p:cNvSpPr/>
          <p:nvPr/>
        </p:nvSpPr>
        <p:spPr>
          <a:xfrm>
            <a:off x="9424234" y="3665250"/>
            <a:ext cx="997645" cy="205452"/>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900" dirty="0">
              <a:solidFill>
                <a:schemeClr val="tx1"/>
              </a:solidFill>
            </a:endParaRPr>
          </a:p>
        </p:txBody>
      </p:sp>
      <p:sp>
        <p:nvSpPr>
          <p:cNvPr id="124" name="직사각형 123"/>
          <p:cNvSpPr/>
          <p:nvPr/>
        </p:nvSpPr>
        <p:spPr>
          <a:xfrm>
            <a:off x="9222012" y="3186164"/>
            <a:ext cx="1402090" cy="750158"/>
          </a:xfrm>
          <a:prstGeom prst="rect">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직사각형 125"/>
          <p:cNvSpPr/>
          <p:nvPr/>
        </p:nvSpPr>
        <p:spPr>
          <a:xfrm>
            <a:off x="4841445" y="3179528"/>
            <a:ext cx="3422029" cy="494824"/>
          </a:xfrm>
          <a:prstGeom prst="rect">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TextBox 124"/>
          <p:cNvSpPr txBox="1"/>
          <p:nvPr/>
        </p:nvSpPr>
        <p:spPr>
          <a:xfrm>
            <a:off x="5880499" y="2888349"/>
            <a:ext cx="3034251" cy="322478"/>
          </a:xfrm>
          <a:prstGeom prst="rect">
            <a:avLst/>
          </a:prstGeom>
          <a:solidFill>
            <a:schemeClr val="bg1"/>
          </a:solidFill>
        </p:spPr>
        <p:txBody>
          <a:bodyPr wrap="none" rtlCol="0">
            <a:spAutoFit/>
          </a:bodyPr>
          <a:lstStyle/>
          <a:p>
            <a:r>
              <a:rPr lang="ko-KR" altLang="en-US" sz="1200" dirty="0">
                <a:solidFill>
                  <a:schemeClr val="accent4">
                    <a:lumMod val="75000"/>
                  </a:schemeClr>
                </a:solidFill>
              </a:rPr>
              <a:t>최종 </a:t>
            </a:r>
            <a:r>
              <a:rPr lang="ko-KR" altLang="en-US" sz="1200" dirty="0" err="1">
                <a:solidFill>
                  <a:schemeClr val="accent4">
                    <a:lumMod val="75000"/>
                  </a:schemeClr>
                </a:solidFill>
              </a:rPr>
              <a:t>국어번역문</a:t>
            </a:r>
            <a:r>
              <a:rPr lang="en-US" altLang="ko-KR" sz="1200" dirty="0">
                <a:solidFill>
                  <a:schemeClr val="accent4">
                    <a:lumMod val="75000"/>
                  </a:schemeClr>
                </a:solidFill>
              </a:rPr>
              <a:t>(</a:t>
            </a:r>
            <a:r>
              <a:rPr lang="ko-KR" altLang="en-US" sz="1200" dirty="0">
                <a:solidFill>
                  <a:schemeClr val="accent4">
                    <a:lumMod val="75000"/>
                  </a:schemeClr>
                </a:solidFill>
              </a:rPr>
              <a:t>제</a:t>
            </a:r>
            <a:r>
              <a:rPr lang="en-US" altLang="ko-KR" sz="1200" dirty="0">
                <a:solidFill>
                  <a:schemeClr val="accent4">
                    <a:lumMod val="75000"/>
                  </a:schemeClr>
                </a:solidFill>
              </a:rPr>
              <a:t>42</a:t>
            </a:r>
            <a:r>
              <a:rPr lang="ko-KR" altLang="en-US" sz="1200" dirty="0">
                <a:solidFill>
                  <a:schemeClr val="accent4">
                    <a:lumMod val="75000"/>
                  </a:schemeClr>
                </a:solidFill>
              </a:rPr>
              <a:t>조의</a:t>
            </a:r>
            <a:r>
              <a:rPr lang="en-US" altLang="ko-KR" sz="1200" dirty="0">
                <a:solidFill>
                  <a:schemeClr val="accent4">
                    <a:lumMod val="75000"/>
                  </a:schemeClr>
                </a:solidFill>
              </a:rPr>
              <a:t>3</a:t>
            </a:r>
            <a:r>
              <a:rPr lang="ko-KR" altLang="en-US" sz="1200" dirty="0">
                <a:solidFill>
                  <a:schemeClr val="accent4">
                    <a:lumMod val="75000"/>
                  </a:schemeClr>
                </a:solidFill>
              </a:rPr>
              <a:t>제</a:t>
            </a:r>
            <a:r>
              <a:rPr lang="en-US" altLang="ko-KR" sz="1200" dirty="0">
                <a:solidFill>
                  <a:schemeClr val="accent4">
                    <a:lumMod val="75000"/>
                  </a:schemeClr>
                </a:solidFill>
              </a:rPr>
              <a:t>6</a:t>
            </a:r>
            <a:r>
              <a:rPr lang="ko-KR" altLang="en-US" sz="1200" dirty="0">
                <a:solidFill>
                  <a:schemeClr val="accent4">
                    <a:lumMod val="75000"/>
                  </a:schemeClr>
                </a:solidFill>
              </a:rPr>
              <a:t>항 전단에 따른 </a:t>
            </a:r>
            <a:endParaRPr lang="en-US" altLang="ko-KR" sz="1200" dirty="0">
              <a:solidFill>
                <a:schemeClr val="accent4">
                  <a:lumMod val="75000"/>
                </a:schemeClr>
              </a:solidFill>
            </a:endParaRPr>
          </a:p>
          <a:p>
            <a:r>
              <a:rPr lang="ko-KR" altLang="en-US" sz="1200" dirty="0">
                <a:solidFill>
                  <a:schemeClr val="accent4">
                    <a:lumMod val="75000"/>
                  </a:schemeClr>
                </a:solidFill>
              </a:rPr>
              <a:t>정정이 있는 경우에는 정정된 국어번역문을 말한다</a:t>
            </a:r>
            <a:r>
              <a:rPr lang="en-US" altLang="ko-KR" sz="1200" dirty="0">
                <a:solidFill>
                  <a:schemeClr val="accent4">
                    <a:lumMod val="75000"/>
                  </a:schemeClr>
                </a:solidFill>
              </a:rPr>
              <a:t>)</a:t>
            </a:r>
            <a:endParaRPr lang="ko-KR" altLang="en-US" sz="1200" dirty="0">
              <a:solidFill>
                <a:schemeClr val="accent4">
                  <a:lumMod val="75000"/>
                </a:schemeClr>
              </a:solidFill>
            </a:endParaRPr>
          </a:p>
        </p:txBody>
      </p:sp>
      <p:sp>
        <p:nvSpPr>
          <p:cNvPr id="127" name="직사각형 126"/>
          <p:cNvSpPr/>
          <p:nvPr/>
        </p:nvSpPr>
        <p:spPr>
          <a:xfrm>
            <a:off x="4841445" y="3669908"/>
            <a:ext cx="1286118" cy="364863"/>
          </a:xfrm>
          <a:prstGeom prst="rect">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TextBox 127"/>
          <p:cNvSpPr txBox="1"/>
          <p:nvPr/>
        </p:nvSpPr>
        <p:spPr>
          <a:xfrm>
            <a:off x="5484391" y="3936322"/>
            <a:ext cx="2034556" cy="322478"/>
          </a:xfrm>
          <a:prstGeom prst="rect">
            <a:avLst/>
          </a:prstGeom>
          <a:solidFill>
            <a:schemeClr val="bg1"/>
          </a:solidFill>
        </p:spPr>
        <p:txBody>
          <a:bodyPr wrap="none" rtlCol="0">
            <a:spAutoFit/>
          </a:bodyPr>
          <a:lstStyle/>
          <a:p>
            <a:r>
              <a:rPr lang="ko-KR" altLang="en-US" sz="1200" dirty="0">
                <a:solidFill>
                  <a:schemeClr val="accent4">
                    <a:lumMod val="75000"/>
                  </a:schemeClr>
                </a:solidFill>
              </a:rPr>
              <a:t>특허출원서에 최초로 첨부한 도면</a:t>
            </a:r>
            <a:endParaRPr lang="en-US" altLang="ko-KR" sz="1200" dirty="0">
              <a:solidFill>
                <a:schemeClr val="accent4">
                  <a:lumMod val="75000"/>
                </a:schemeClr>
              </a:solidFill>
            </a:endParaRPr>
          </a:p>
          <a:p>
            <a:r>
              <a:rPr lang="en-US" altLang="ko-KR" sz="1200" dirty="0">
                <a:solidFill>
                  <a:schemeClr val="accent4">
                    <a:lumMod val="75000"/>
                  </a:schemeClr>
                </a:solidFill>
              </a:rPr>
              <a:t>(</a:t>
            </a:r>
            <a:r>
              <a:rPr lang="ko-KR" altLang="en-US" sz="1200" dirty="0">
                <a:solidFill>
                  <a:schemeClr val="accent4">
                    <a:lumMod val="75000"/>
                  </a:schemeClr>
                </a:solidFill>
              </a:rPr>
              <a:t>도면 중 </a:t>
            </a:r>
            <a:r>
              <a:rPr lang="ko-KR" altLang="en-US" sz="1200" dirty="0" err="1">
                <a:solidFill>
                  <a:schemeClr val="accent4">
                    <a:lumMod val="75000"/>
                  </a:schemeClr>
                </a:solidFill>
              </a:rPr>
              <a:t>설명부분은</a:t>
            </a:r>
            <a:r>
              <a:rPr lang="ko-KR" altLang="en-US" sz="1200" dirty="0">
                <a:solidFill>
                  <a:schemeClr val="accent4">
                    <a:lumMod val="75000"/>
                  </a:schemeClr>
                </a:solidFill>
              </a:rPr>
              <a:t> 제외한다</a:t>
            </a:r>
            <a:r>
              <a:rPr lang="en-US" altLang="ko-KR" sz="1200" dirty="0">
                <a:solidFill>
                  <a:schemeClr val="accent4">
                    <a:lumMod val="75000"/>
                  </a:schemeClr>
                </a:solidFill>
              </a:rPr>
              <a:t>) </a:t>
            </a:r>
          </a:p>
        </p:txBody>
      </p:sp>
      <p:sp>
        <p:nvSpPr>
          <p:cNvPr id="129" name="TextBox 128"/>
          <p:cNvSpPr txBox="1"/>
          <p:nvPr/>
        </p:nvSpPr>
        <p:spPr>
          <a:xfrm>
            <a:off x="9575970" y="3025662"/>
            <a:ext cx="1120589" cy="193487"/>
          </a:xfrm>
          <a:prstGeom prst="rect">
            <a:avLst/>
          </a:prstGeom>
          <a:solidFill>
            <a:schemeClr val="bg1"/>
          </a:solidFill>
        </p:spPr>
        <p:txBody>
          <a:bodyPr wrap="none" rtlCol="0">
            <a:spAutoFit/>
          </a:bodyPr>
          <a:lstStyle/>
          <a:p>
            <a:r>
              <a:rPr lang="ko-KR" altLang="en-US" sz="1200" b="1" dirty="0">
                <a:solidFill>
                  <a:schemeClr val="accent1"/>
                </a:solidFill>
              </a:rPr>
              <a:t>명세서 또는 도면</a:t>
            </a:r>
            <a:endParaRPr lang="en-US" altLang="ko-KR" sz="1200" b="1" dirty="0">
              <a:solidFill>
                <a:schemeClr val="accent1"/>
              </a:solidFill>
            </a:endParaRPr>
          </a:p>
        </p:txBody>
      </p:sp>
      <p:sp>
        <p:nvSpPr>
          <p:cNvPr id="131" name="직사각형 130"/>
          <p:cNvSpPr/>
          <p:nvPr/>
        </p:nvSpPr>
        <p:spPr>
          <a:xfrm>
            <a:off x="2923356" y="3186164"/>
            <a:ext cx="1300212" cy="750158"/>
          </a:xfrm>
          <a:prstGeom prst="rect">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TextBox 129"/>
          <p:cNvSpPr txBox="1"/>
          <p:nvPr/>
        </p:nvSpPr>
        <p:spPr>
          <a:xfrm>
            <a:off x="3635175" y="3910390"/>
            <a:ext cx="1120589" cy="322478"/>
          </a:xfrm>
          <a:prstGeom prst="rect">
            <a:avLst/>
          </a:prstGeom>
          <a:solidFill>
            <a:schemeClr val="bg1"/>
          </a:solidFill>
        </p:spPr>
        <p:txBody>
          <a:bodyPr wrap="none" rtlCol="0">
            <a:spAutoFit/>
          </a:bodyPr>
          <a:lstStyle/>
          <a:p>
            <a:r>
              <a:rPr lang="ko-KR" altLang="en-US" sz="1200" dirty="0">
                <a:solidFill>
                  <a:srgbClr val="FF0000"/>
                </a:solidFill>
              </a:rPr>
              <a:t>최초로 첨부한</a:t>
            </a:r>
            <a:endParaRPr lang="en-US" altLang="ko-KR" sz="1200" dirty="0">
              <a:solidFill>
                <a:srgbClr val="FF0000"/>
              </a:solidFill>
            </a:endParaRPr>
          </a:p>
          <a:p>
            <a:r>
              <a:rPr lang="ko-KR" altLang="en-US" sz="1200" dirty="0">
                <a:solidFill>
                  <a:srgbClr val="FF0000"/>
                </a:solidFill>
              </a:rPr>
              <a:t>명세서 또는 도면</a:t>
            </a:r>
            <a:endParaRPr lang="en-US" altLang="ko-KR" sz="1200" dirty="0">
              <a:solidFill>
                <a:srgbClr val="FF0000"/>
              </a:solidFill>
            </a:endParaRPr>
          </a:p>
        </p:txBody>
      </p:sp>
      <p:cxnSp>
        <p:nvCxnSpPr>
          <p:cNvPr id="133" name="꺾인 연결선 132"/>
          <p:cNvCxnSpPr>
            <a:stCxn id="129" idx="3"/>
            <a:endCxn id="39" idx="0"/>
          </p:cNvCxnSpPr>
          <p:nvPr/>
        </p:nvCxnSpPr>
        <p:spPr>
          <a:xfrm flipH="1" flipV="1">
            <a:off x="5484392" y="2219783"/>
            <a:ext cx="5212167" cy="902623"/>
          </a:xfrm>
          <a:prstGeom prst="bentConnector4">
            <a:avLst>
              <a:gd name="adj1" fmla="val -1290"/>
              <a:gd name="adj2" fmla="val 125326"/>
            </a:avLst>
          </a:prstGeom>
          <a:ln w="12700">
            <a:solidFill>
              <a:srgbClr val="00B0F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a:off x="8122201" y="2016918"/>
            <a:ext cx="2620272" cy="276999"/>
          </a:xfrm>
          <a:prstGeom prst="rect">
            <a:avLst/>
          </a:prstGeom>
          <a:solidFill>
            <a:schemeClr val="bg1"/>
          </a:solidFill>
        </p:spPr>
        <p:txBody>
          <a:bodyPr wrap="square" rtlCol="0">
            <a:spAutoFit/>
          </a:bodyPr>
          <a:lstStyle/>
          <a:p>
            <a:pPr algn="ctr"/>
            <a:r>
              <a:rPr lang="ko-KR" altLang="en-US" sz="1200" b="1" dirty="0">
                <a:solidFill>
                  <a:schemeClr val="accent1"/>
                </a:solidFill>
              </a:rPr>
              <a:t>단</a:t>
            </a:r>
            <a:r>
              <a:rPr lang="en-US" altLang="ko-KR" sz="1200" b="1" dirty="0">
                <a:solidFill>
                  <a:schemeClr val="accent1"/>
                </a:solidFill>
              </a:rPr>
              <a:t>, (4)</a:t>
            </a:r>
            <a:r>
              <a:rPr lang="ko-KR" altLang="en-US" sz="1200" b="1" dirty="0">
                <a:solidFill>
                  <a:schemeClr val="accent1"/>
                </a:solidFill>
              </a:rPr>
              <a:t>가 없는 경우 </a:t>
            </a:r>
            <a:r>
              <a:rPr lang="en-US" altLang="ko-KR" sz="1200" b="1" dirty="0">
                <a:solidFill>
                  <a:schemeClr val="accent1"/>
                </a:solidFill>
              </a:rPr>
              <a:t>(2)</a:t>
            </a:r>
            <a:r>
              <a:rPr lang="ko-KR" altLang="en-US" sz="1200" b="1" dirty="0">
                <a:solidFill>
                  <a:schemeClr val="accent1"/>
                </a:solidFill>
              </a:rPr>
              <a:t>번이 이에 해당</a:t>
            </a:r>
            <a:endParaRPr lang="en-US" altLang="ko-KR" sz="1200" b="1" dirty="0">
              <a:solidFill>
                <a:schemeClr val="accent1"/>
              </a:solidFill>
            </a:endParaRPr>
          </a:p>
        </p:txBody>
      </p:sp>
      <p:cxnSp>
        <p:nvCxnSpPr>
          <p:cNvPr id="138" name="직선 연결선 137"/>
          <p:cNvCxnSpPr/>
          <p:nvPr/>
        </p:nvCxnSpPr>
        <p:spPr>
          <a:xfrm>
            <a:off x="375735" y="4483098"/>
            <a:ext cx="11469132"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9" name="직사각형 138"/>
          <p:cNvSpPr/>
          <p:nvPr/>
        </p:nvSpPr>
        <p:spPr>
          <a:xfrm>
            <a:off x="269103" y="6068105"/>
            <a:ext cx="11575763" cy="646331"/>
          </a:xfrm>
          <a:prstGeom prst="rect">
            <a:avLst/>
          </a:prstGeom>
          <a:solidFill>
            <a:schemeClr val="accent2">
              <a:lumMod val="20000"/>
              <a:lumOff val="80000"/>
            </a:schemeClr>
          </a:solidFill>
          <a:ln>
            <a:solidFill>
              <a:schemeClr val="bg1">
                <a:lumMod val="50000"/>
              </a:schemeClr>
            </a:solidFill>
          </a:ln>
        </p:spPr>
        <p:txBody>
          <a:bodyPr wrap="square">
            <a:spAutoFit/>
          </a:bodyPr>
          <a:lstStyle/>
          <a:p>
            <a:pPr algn="just" fontAlgn="base"/>
            <a:r>
              <a:rPr lang="ko-KR" altLang="en-US" kern="0" dirty="0">
                <a:solidFill>
                  <a:srgbClr val="000000"/>
                </a:solidFill>
                <a:latin typeface="+mn-ea"/>
              </a:rPr>
              <a:t>오역 정정은 명세서를 보정한 것이 아니라 국어번역문만을 정정한 것이기 때문에 국어번역문에 오역이 있는 경우에는 국어번역문에 대한 오역정정과 별도로 심사대상 명세서 등에 대하여 보정해야 함</a:t>
            </a:r>
          </a:p>
        </p:txBody>
      </p:sp>
      <p:cxnSp>
        <p:nvCxnSpPr>
          <p:cNvPr id="150" name="꺾인 연결선 149"/>
          <p:cNvCxnSpPr>
            <a:stCxn id="86" idx="1"/>
            <a:endCxn id="91" idx="1"/>
          </p:cNvCxnSpPr>
          <p:nvPr/>
        </p:nvCxnSpPr>
        <p:spPr>
          <a:xfrm rot="10800000" flipV="1">
            <a:off x="404443" y="3156149"/>
            <a:ext cx="12700" cy="857084"/>
          </a:xfrm>
          <a:prstGeom prst="bentConnector3">
            <a:avLst>
              <a:gd name="adj1" fmla="val 180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 name="꺾인 연결선 151"/>
          <p:cNvCxnSpPr>
            <a:stCxn id="86" idx="1"/>
            <a:endCxn id="90" idx="1"/>
          </p:cNvCxnSpPr>
          <p:nvPr/>
        </p:nvCxnSpPr>
        <p:spPr>
          <a:xfrm rot="10800000" flipV="1">
            <a:off x="404443" y="3156148"/>
            <a:ext cx="12700" cy="403839"/>
          </a:xfrm>
          <a:prstGeom prst="bentConnector3">
            <a:avLst>
              <a:gd name="adj1" fmla="val 180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꺾인 연결선 153"/>
          <p:cNvCxnSpPr>
            <a:stCxn id="86" idx="1"/>
            <a:endCxn id="87" idx="1"/>
          </p:cNvCxnSpPr>
          <p:nvPr/>
        </p:nvCxnSpPr>
        <p:spPr>
          <a:xfrm rot="10800000" flipV="1">
            <a:off x="404443" y="3156148"/>
            <a:ext cx="12700" cy="202533"/>
          </a:xfrm>
          <a:prstGeom prst="bentConnector3">
            <a:avLst>
              <a:gd name="adj1" fmla="val 180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직선 연결선 155"/>
          <p:cNvCxnSpPr/>
          <p:nvPr/>
        </p:nvCxnSpPr>
        <p:spPr>
          <a:xfrm>
            <a:off x="2804746" y="2016918"/>
            <a:ext cx="0" cy="236165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188</a:t>
            </a:r>
            <a:endParaRPr lang="ko-KR" altLang="en-US"/>
          </a:p>
        </p:txBody>
      </p:sp>
      <p:sp>
        <p:nvSpPr>
          <p:cNvPr id="3" name="말풍선: 모서리가 둥근 사각형 2">
            <a:extLst>
              <a:ext uri="{FF2B5EF4-FFF2-40B4-BE49-F238E27FC236}">
                <a16:creationId xmlns:a16="http://schemas.microsoft.com/office/drawing/2014/main" id="{A3CB99E4-CDA3-4913-80E6-64776F4A9261}"/>
              </a:ext>
            </a:extLst>
          </p:cNvPr>
          <p:cNvSpPr/>
          <p:nvPr/>
        </p:nvSpPr>
        <p:spPr>
          <a:xfrm>
            <a:off x="7742293" y="4105437"/>
            <a:ext cx="2796958" cy="329971"/>
          </a:xfrm>
          <a:prstGeom prst="wedgeRoundRectCallout">
            <a:avLst>
              <a:gd name="adj1" fmla="val -57677"/>
              <a:gd name="adj2" fmla="val -2858"/>
              <a:gd name="adj3" fmla="val 16667"/>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원문과 번역문의 형식적 범위를 일치시켜 설명부분 제외 도면 범위내에서도 보정할 수 있도록 함</a:t>
            </a:r>
          </a:p>
        </p:txBody>
      </p:sp>
      <p:cxnSp>
        <p:nvCxnSpPr>
          <p:cNvPr id="7" name="직선 연결선 6">
            <a:extLst>
              <a:ext uri="{FF2B5EF4-FFF2-40B4-BE49-F238E27FC236}">
                <a16:creationId xmlns:a16="http://schemas.microsoft.com/office/drawing/2014/main" id="{10DB35C3-25BA-6AAE-8B4D-F52CD18E6D07}"/>
              </a:ext>
            </a:extLst>
          </p:cNvPr>
          <p:cNvCxnSpPr>
            <a:cxnSpLocks/>
          </p:cNvCxnSpPr>
          <p:nvPr/>
        </p:nvCxnSpPr>
        <p:spPr>
          <a:xfrm>
            <a:off x="77875" y="3257318"/>
            <a:ext cx="10487440" cy="0"/>
          </a:xfrm>
          <a:prstGeom prst="line">
            <a:avLst/>
          </a:prstGeom>
          <a:ln>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5415556D-1A72-7CEE-3D4B-8CBFE9AE6FD5}"/>
              </a:ext>
            </a:extLst>
          </p:cNvPr>
          <p:cNvCxnSpPr>
            <a:cxnSpLocks/>
          </p:cNvCxnSpPr>
          <p:nvPr/>
        </p:nvCxnSpPr>
        <p:spPr>
          <a:xfrm>
            <a:off x="77875" y="3869794"/>
            <a:ext cx="10487440" cy="0"/>
          </a:xfrm>
          <a:prstGeom prst="line">
            <a:avLst/>
          </a:prstGeom>
          <a:ln>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직선 연결선 9">
            <a:extLst>
              <a:ext uri="{FF2B5EF4-FFF2-40B4-BE49-F238E27FC236}">
                <a16:creationId xmlns:a16="http://schemas.microsoft.com/office/drawing/2014/main" id="{2ABB280E-1923-2150-C7E1-3DF65DCA97E2}"/>
              </a:ext>
            </a:extLst>
          </p:cNvPr>
          <p:cNvCxnSpPr>
            <a:cxnSpLocks/>
          </p:cNvCxnSpPr>
          <p:nvPr/>
        </p:nvCxnSpPr>
        <p:spPr>
          <a:xfrm flipV="1">
            <a:off x="77875" y="3675529"/>
            <a:ext cx="10482549" cy="3557"/>
          </a:xfrm>
          <a:prstGeom prst="line">
            <a:avLst/>
          </a:prstGeom>
          <a:ln>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직사각형 18">
            <a:extLst>
              <a:ext uri="{FF2B5EF4-FFF2-40B4-BE49-F238E27FC236}">
                <a16:creationId xmlns:a16="http://schemas.microsoft.com/office/drawing/2014/main" id="{5856A077-909E-50DB-D72F-250036310779}"/>
              </a:ext>
            </a:extLst>
          </p:cNvPr>
          <p:cNvSpPr/>
          <p:nvPr/>
        </p:nvSpPr>
        <p:spPr>
          <a:xfrm>
            <a:off x="10876943" y="2553456"/>
            <a:ext cx="997645" cy="34021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번역문</a:t>
            </a:r>
            <a:endParaRPr lang="en-US" altLang="ko-KR" sz="1100" dirty="0">
              <a:solidFill>
                <a:schemeClr val="tx1"/>
              </a:solidFill>
            </a:endParaRPr>
          </a:p>
          <a:p>
            <a:pPr algn="ctr"/>
            <a:r>
              <a:rPr lang="ko-KR" altLang="en-US" sz="1100" dirty="0">
                <a:solidFill>
                  <a:schemeClr val="tx1"/>
                </a:solidFill>
              </a:rPr>
              <a:t>교체불가</a:t>
            </a:r>
            <a:endParaRPr lang="en-US" altLang="ko-KR" sz="1100" dirty="0">
              <a:solidFill>
                <a:schemeClr val="tx1"/>
              </a:solidFill>
            </a:endParaRPr>
          </a:p>
        </p:txBody>
      </p:sp>
      <p:sp>
        <p:nvSpPr>
          <p:cNvPr id="78" name="직사각형 77"/>
          <p:cNvSpPr/>
          <p:nvPr/>
        </p:nvSpPr>
        <p:spPr>
          <a:xfrm>
            <a:off x="7070160" y="2553456"/>
            <a:ext cx="997645" cy="34021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오역</a:t>
            </a:r>
            <a:endParaRPr lang="en-US" altLang="ko-KR" sz="1100" dirty="0">
              <a:solidFill>
                <a:schemeClr val="tx1"/>
              </a:solidFill>
            </a:endParaRPr>
          </a:p>
          <a:p>
            <a:pPr algn="ctr"/>
            <a:r>
              <a:rPr lang="ko-KR" altLang="en-US" sz="1100" dirty="0">
                <a:solidFill>
                  <a:schemeClr val="tx1"/>
                </a:solidFill>
              </a:rPr>
              <a:t>정정</a:t>
            </a:r>
            <a:r>
              <a:rPr lang="en-US" altLang="ko-KR" sz="1100" dirty="0">
                <a:solidFill>
                  <a:schemeClr val="tx1"/>
                </a:solidFill>
              </a:rPr>
              <a:t>(3)</a:t>
            </a:r>
            <a:endParaRPr lang="ko-KR" altLang="en-US" sz="1100" dirty="0">
              <a:solidFill>
                <a:schemeClr val="tx1"/>
              </a:solidFill>
            </a:endParaRPr>
          </a:p>
        </p:txBody>
      </p:sp>
    </p:spTree>
    <p:extLst>
      <p:ext uri="{BB962C8B-B14F-4D97-AF65-F5344CB8AC3E}">
        <p14:creationId xmlns:p14="http://schemas.microsoft.com/office/powerpoint/2010/main" val="1500957226"/>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42</a:t>
            </a:r>
            <a:r>
              <a:rPr lang="ko-KR" altLang="en-US" dirty="0"/>
              <a:t>조의</a:t>
            </a:r>
            <a:r>
              <a:rPr lang="en-US" altLang="ko-KR" dirty="0"/>
              <a:t>3, </a:t>
            </a:r>
            <a:r>
              <a:rPr lang="ko-KR" altLang="en-US" dirty="0"/>
              <a:t>제</a:t>
            </a:r>
            <a:r>
              <a:rPr lang="en-US" altLang="ko-KR" dirty="0"/>
              <a:t>47</a:t>
            </a:r>
            <a:r>
              <a:rPr lang="ko-KR" altLang="en-US" dirty="0"/>
              <a:t>조</a:t>
            </a:r>
          </a:p>
        </p:txBody>
      </p:sp>
      <p:sp>
        <p:nvSpPr>
          <p:cNvPr id="5" name="텍스트 개체 틀 4"/>
          <p:cNvSpPr>
            <a:spLocks noGrp="1"/>
          </p:cNvSpPr>
          <p:nvPr>
            <p:ph type="body" sz="quarter" idx="13"/>
          </p:nvPr>
        </p:nvSpPr>
        <p:spPr/>
        <p:txBody>
          <a:bodyPr/>
          <a:lstStyle/>
          <a:p>
            <a:r>
              <a:rPr lang="ko-KR" altLang="en-US" dirty="0">
                <a:solidFill>
                  <a:srgbClr val="525252"/>
                </a:solidFill>
              </a:rPr>
              <a:t>외국어특허출원의 보정</a:t>
            </a:r>
          </a:p>
        </p:txBody>
      </p:sp>
      <p:cxnSp>
        <p:nvCxnSpPr>
          <p:cNvPr id="66" name="직선 연결선 65"/>
          <p:cNvCxnSpPr>
            <a:cxnSpLocks/>
          </p:cNvCxnSpPr>
          <p:nvPr/>
        </p:nvCxnSpPr>
        <p:spPr>
          <a:xfrm>
            <a:off x="553483" y="3458742"/>
            <a:ext cx="11063879"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직사각형 74"/>
          <p:cNvSpPr/>
          <p:nvPr/>
        </p:nvSpPr>
        <p:spPr>
          <a:xfrm>
            <a:off x="671851" y="2252514"/>
            <a:ext cx="1528378" cy="502354"/>
          </a:xfrm>
          <a:prstGeom prst="rect">
            <a:avLst/>
          </a:prstGeom>
          <a:solidFill>
            <a:schemeClr val="accent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외국어</a:t>
            </a:r>
            <a:endParaRPr lang="en-US" altLang="ko-KR" sz="1400" dirty="0">
              <a:solidFill>
                <a:schemeClr val="tx1"/>
              </a:solidFill>
            </a:endParaRPr>
          </a:p>
          <a:p>
            <a:pPr algn="ctr"/>
            <a:r>
              <a:rPr lang="ko-KR" altLang="en-US" sz="1400" dirty="0">
                <a:solidFill>
                  <a:schemeClr val="tx1"/>
                </a:solidFill>
              </a:rPr>
              <a:t>특허출원</a:t>
            </a:r>
            <a:r>
              <a:rPr lang="en-US" altLang="ko-KR" sz="1400" dirty="0">
                <a:solidFill>
                  <a:schemeClr val="tx1"/>
                </a:solidFill>
              </a:rPr>
              <a:t>(Ca)</a:t>
            </a:r>
            <a:endParaRPr lang="ko-KR" altLang="en-US" sz="1400" dirty="0">
              <a:solidFill>
                <a:schemeClr val="tx1"/>
              </a:solidFill>
            </a:endParaRPr>
          </a:p>
        </p:txBody>
      </p:sp>
      <p:sp>
        <p:nvSpPr>
          <p:cNvPr id="139" name="직사각형 138"/>
          <p:cNvSpPr/>
          <p:nvPr/>
        </p:nvSpPr>
        <p:spPr>
          <a:xfrm>
            <a:off x="269103" y="1142904"/>
            <a:ext cx="11575763" cy="646331"/>
          </a:xfrm>
          <a:prstGeom prst="rect">
            <a:avLst/>
          </a:prstGeom>
          <a:solidFill>
            <a:schemeClr val="accent2">
              <a:lumMod val="20000"/>
              <a:lumOff val="80000"/>
            </a:schemeClr>
          </a:solidFill>
          <a:ln>
            <a:solidFill>
              <a:schemeClr val="bg1">
                <a:lumMod val="50000"/>
              </a:schemeClr>
            </a:solidFill>
          </a:ln>
        </p:spPr>
        <p:txBody>
          <a:bodyPr wrap="square">
            <a:spAutoFit/>
          </a:bodyPr>
          <a:lstStyle/>
          <a:p>
            <a:pPr algn="just" fontAlgn="base"/>
            <a:r>
              <a:rPr lang="ko-KR" altLang="en-US" kern="0" dirty="0">
                <a:solidFill>
                  <a:srgbClr val="000000"/>
                </a:solidFill>
                <a:latin typeface="+mn-ea"/>
              </a:rPr>
              <a:t>오역 정정은 명세서를 보정한 것이 아니라 국어번역문만을 정정한 것이기 때문에 국어번역문에 오역이 있는 경우에는 국어번역문에 대한 오역정정과 별도로 심사대상 명세서 등에 대하여 보정해야 함</a:t>
            </a:r>
          </a:p>
        </p:txBody>
      </p:sp>
      <p:sp>
        <p:nvSpPr>
          <p:cNvPr id="2" name="슬라이드 번호 개체 틀 1"/>
          <p:cNvSpPr>
            <a:spLocks noGrp="1"/>
          </p:cNvSpPr>
          <p:nvPr>
            <p:ph type="sldNum" sz="quarter" idx="12"/>
          </p:nvPr>
        </p:nvSpPr>
        <p:spPr/>
        <p:txBody>
          <a:bodyPr/>
          <a:lstStyle/>
          <a:p>
            <a:r>
              <a:rPr lang="en-US" altLang="ko-KR"/>
              <a:t>189</a:t>
            </a:r>
            <a:endParaRPr lang="ko-KR" altLang="en-US"/>
          </a:p>
        </p:txBody>
      </p:sp>
      <p:cxnSp>
        <p:nvCxnSpPr>
          <p:cNvPr id="9" name="직선 화살표 연결선 8">
            <a:extLst>
              <a:ext uri="{FF2B5EF4-FFF2-40B4-BE49-F238E27FC236}">
                <a16:creationId xmlns:a16="http://schemas.microsoft.com/office/drawing/2014/main" id="{A7917018-5FD4-47DE-BAEC-3D448313434B}"/>
              </a:ext>
            </a:extLst>
          </p:cNvPr>
          <p:cNvCxnSpPr>
            <a:stCxn id="75" idx="2"/>
          </p:cNvCxnSpPr>
          <p:nvPr/>
        </p:nvCxnSpPr>
        <p:spPr>
          <a:xfrm>
            <a:off x="1436040" y="2754868"/>
            <a:ext cx="0" cy="678153"/>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CE8C3BA6-4DAC-451F-92A3-77BC8A32CB7D}"/>
              </a:ext>
            </a:extLst>
          </p:cNvPr>
          <p:cNvSpPr/>
          <p:nvPr/>
        </p:nvSpPr>
        <p:spPr>
          <a:xfrm>
            <a:off x="3727124" y="2252514"/>
            <a:ext cx="1528378" cy="502354"/>
          </a:xfrm>
          <a:prstGeom prst="rect">
            <a:avLst/>
          </a:prstGeom>
          <a:solidFill>
            <a:schemeClr val="accent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보정</a:t>
            </a:r>
            <a:endParaRPr lang="en-US" altLang="ko-KR" sz="1400" dirty="0">
              <a:solidFill>
                <a:schemeClr val="tx1"/>
              </a:solidFill>
            </a:endParaRPr>
          </a:p>
          <a:p>
            <a:pPr algn="ctr"/>
            <a:r>
              <a:rPr lang="en-US" altLang="ko-KR" sz="1400" dirty="0">
                <a:solidFill>
                  <a:schemeClr val="tx1"/>
                </a:solidFill>
              </a:rPr>
              <a:t>(</a:t>
            </a:r>
            <a:r>
              <a:rPr lang="ko-KR" altLang="en-US" sz="1400" dirty="0">
                <a:solidFill>
                  <a:schemeClr val="tx1"/>
                </a:solidFill>
              </a:rPr>
              <a:t>칼륨</a:t>
            </a:r>
            <a:r>
              <a:rPr lang="en-US" altLang="ko-KR" sz="1400" dirty="0">
                <a:solidFill>
                  <a:schemeClr val="tx1"/>
                </a:solidFill>
              </a:rPr>
              <a:t>)</a:t>
            </a:r>
            <a:endParaRPr lang="ko-KR" altLang="en-US" sz="1400" dirty="0">
              <a:solidFill>
                <a:schemeClr val="tx1"/>
              </a:solidFill>
            </a:endParaRPr>
          </a:p>
        </p:txBody>
      </p:sp>
      <p:cxnSp>
        <p:nvCxnSpPr>
          <p:cNvPr id="55" name="직선 화살표 연결선 54">
            <a:extLst>
              <a:ext uri="{FF2B5EF4-FFF2-40B4-BE49-F238E27FC236}">
                <a16:creationId xmlns:a16="http://schemas.microsoft.com/office/drawing/2014/main" id="{04AE11F8-013D-4F48-ACED-3FEFF5B8E594}"/>
              </a:ext>
            </a:extLst>
          </p:cNvPr>
          <p:cNvCxnSpPr>
            <a:stCxn id="54" idx="2"/>
          </p:cNvCxnSpPr>
          <p:nvPr/>
        </p:nvCxnSpPr>
        <p:spPr>
          <a:xfrm>
            <a:off x="4491313" y="2754868"/>
            <a:ext cx="0" cy="678153"/>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17ABC79C-970A-4AAB-B224-9EF73234AEEB}"/>
              </a:ext>
            </a:extLst>
          </p:cNvPr>
          <p:cNvSpPr/>
          <p:nvPr/>
        </p:nvSpPr>
        <p:spPr>
          <a:xfrm>
            <a:off x="3727124" y="4319439"/>
            <a:ext cx="1528378" cy="502354"/>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번역문</a:t>
            </a:r>
            <a:endParaRPr lang="en-US" altLang="ko-KR" sz="1400" dirty="0">
              <a:solidFill>
                <a:schemeClr val="tx1"/>
              </a:solidFill>
            </a:endParaRPr>
          </a:p>
          <a:p>
            <a:pPr algn="ctr"/>
            <a:r>
              <a:rPr lang="en-US" altLang="ko-KR" sz="1400" dirty="0">
                <a:solidFill>
                  <a:schemeClr val="tx1"/>
                </a:solidFill>
              </a:rPr>
              <a:t>(</a:t>
            </a:r>
            <a:r>
              <a:rPr lang="ko-KR" altLang="en-US" sz="1400" dirty="0">
                <a:solidFill>
                  <a:schemeClr val="tx1"/>
                </a:solidFill>
              </a:rPr>
              <a:t>칼륨</a:t>
            </a:r>
            <a:r>
              <a:rPr lang="en-US" altLang="ko-KR" sz="1400" dirty="0">
                <a:solidFill>
                  <a:schemeClr val="tx1"/>
                </a:solidFill>
              </a:rPr>
              <a:t>)</a:t>
            </a:r>
            <a:endParaRPr lang="ko-KR" altLang="en-US" sz="1400" dirty="0">
              <a:solidFill>
                <a:schemeClr val="tx1"/>
              </a:solidFill>
            </a:endParaRPr>
          </a:p>
        </p:txBody>
      </p:sp>
      <p:cxnSp>
        <p:nvCxnSpPr>
          <p:cNvPr id="57" name="직선 화살표 연결선 56">
            <a:extLst>
              <a:ext uri="{FF2B5EF4-FFF2-40B4-BE49-F238E27FC236}">
                <a16:creationId xmlns:a16="http://schemas.microsoft.com/office/drawing/2014/main" id="{31CE7AD9-3728-404E-AFB4-8EFD3B507A24}"/>
              </a:ext>
            </a:extLst>
          </p:cNvPr>
          <p:cNvCxnSpPr>
            <a:cxnSpLocks/>
            <a:stCxn id="56" idx="0"/>
          </p:cNvCxnSpPr>
          <p:nvPr/>
        </p:nvCxnSpPr>
        <p:spPr>
          <a:xfrm flipV="1">
            <a:off x="4491313" y="3458743"/>
            <a:ext cx="0" cy="860696"/>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1" name="직사각형 60">
            <a:extLst>
              <a:ext uri="{FF2B5EF4-FFF2-40B4-BE49-F238E27FC236}">
                <a16:creationId xmlns:a16="http://schemas.microsoft.com/office/drawing/2014/main" id="{9C9E69CF-F7B6-4111-92BF-1B5CDECA1EF8}"/>
              </a:ext>
            </a:extLst>
          </p:cNvPr>
          <p:cNvSpPr/>
          <p:nvPr/>
        </p:nvSpPr>
        <p:spPr>
          <a:xfrm>
            <a:off x="6145618" y="4319439"/>
            <a:ext cx="1528378" cy="502354"/>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오역정정</a:t>
            </a:r>
            <a:endParaRPr lang="en-US" altLang="ko-KR" sz="1400" dirty="0">
              <a:solidFill>
                <a:schemeClr val="tx1"/>
              </a:solidFill>
            </a:endParaRPr>
          </a:p>
          <a:p>
            <a:pPr algn="ctr"/>
            <a:r>
              <a:rPr lang="en-US" altLang="ko-KR" sz="1400" dirty="0">
                <a:solidFill>
                  <a:schemeClr val="tx1"/>
                </a:solidFill>
              </a:rPr>
              <a:t>(</a:t>
            </a:r>
            <a:r>
              <a:rPr lang="ko-KR" altLang="en-US" sz="1400" dirty="0">
                <a:solidFill>
                  <a:schemeClr val="tx1"/>
                </a:solidFill>
              </a:rPr>
              <a:t>칼슘</a:t>
            </a:r>
            <a:r>
              <a:rPr lang="en-US" altLang="ko-KR" sz="1400" dirty="0">
                <a:solidFill>
                  <a:schemeClr val="tx1"/>
                </a:solidFill>
              </a:rPr>
              <a:t>)</a:t>
            </a:r>
            <a:endParaRPr lang="ko-KR" altLang="en-US" sz="1400" dirty="0">
              <a:solidFill>
                <a:schemeClr val="tx1"/>
              </a:solidFill>
            </a:endParaRPr>
          </a:p>
        </p:txBody>
      </p:sp>
      <p:cxnSp>
        <p:nvCxnSpPr>
          <p:cNvPr id="63" name="직선 화살표 연결선 62">
            <a:extLst>
              <a:ext uri="{FF2B5EF4-FFF2-40B4-BE49-F238E27FC236}">
                <a16:creationId xmlns:a16="http://schemas.microsoft.com/office/drawing/2014/main" id="{B0900EB4-4F38-4041-AD17-16DEE93DDFF8}"/>
              </a:ext>
            </a:extLst>
          </p:cNvPr>
          <p:cNvCxnSpPr>
            <a:cxnSpLocks/>
            <a:stCxn id="61" idx="0"/>
          </p:cNvCxnSpPr>
          <p:nvPr/>
        </p:nvCxnSpPr>
        <p:spPr>
          <a:xfrm flipV="1">
            <a:off x="6909807" y="3458743"/>
            <a:ext cx="0" cy="860696"/>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4" name="직사각형 63">
            <a:extLst>
              <a:ext uri="{FF2B5EF4-FFF2-40B4-BE49-F238E27FC236}">
                <a16:creationId xmlns:a16="http://schemas.microsoft.com/office/drawing/2014/main" id="{EFEFFE63-B5E3-4D22-A980-840ACB31BFD2}"/>
              </a:ext>
            </a:extLst>
          </p:cNvPr>
          <p:cNvSpPr/>
          <p:nvPr/>
        </p:nvSpPr>
        <p:spPr>
          <a:xfrm>
            <a:off x="8132700" y="2252514"/>
            <a:ext cx="1528378" cy="502354"/>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보정</a:t>
            </a:r>
            <a:endParaRPr lang="en-US" altLang="ko-KR" sz="1400" dirty="0">
              <a:solidFill>
                <a:schemeClr val="bg1"/>
              </a:solidFill>
            </a:endParaRPr>
          </a:p>
          <a:p>
            <a:pPr algn="ctr"/>
            <a:r>
              <a:rPr lang="en-US" altLang="ko-KR" sz="1400" dirty="0">
                <a:solidFill>
                  <a:schemeClr val="bg1"/>
                </a:solidFill>
              </a:rPr>
              <a:t>(</a:t>
            </a:r>
            <a:r>
              <a:rPr lang="ko-KR" altLang="en-US" sz="1400" dirty="0">
                <a:solidFill>
                  <a:schemeClr val="bg1"/>
                </a:solidFill>
              </a:rPr>
              <a:t>칼슘</a:t>
            </a:r>
            <a:r>
              <a:rPr lang="en-US" altLang="ko-KR" sz="1400" dirty="0">
                <a:solidFill>
                  <a:schemeClr val="bg1"/>
                </a:solidFill>
              </a:rPr>
              <a:t>)</a:t>
            </a:r>
            <a:endParaRPr lang="ko-KR" altLang="en-US" sz="1400" dirty="0">
              <a:solidFill>
                <a:schemeClr val="bg1"/>
              </a:solidFill>
            </a:endParaRPr>
          </a:p>
        </p:txBody>
      </p:sp>
      <p:cxnSp>
        <p:nvCxnSpPr>
          <p:cNvPr id="65" name="직선 화살표 연결선 64">
            <a:extLst>
              <a:ext uri="{FF2B5EF4-FFF2-40B4-BE49-F238E27FC236}">
                <a16:creationId xmlns:a16="http://schemas.microsoft.com/office/drawing/2014/main" id="{D26AA33B-FC5D-4839-B50D-2D5CADE41748}"/>
              </a:ext>
            </a:extLst>
          </p:cNvPr>
          <p:cNvCxnSpPr>
            <a:stCxn id="64" idx="2"/>
          </p:cNvCxnSpPr>
          <p:nvPr/>
        </p:nvCxnSpPr>
        <p:spPr>
          <a:xfrm>
            <a:off x="8896889" y="2754868"/>
            <a:ext cx="0" cy="678153"/>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 name="화살표: 오른쪽 11">
            <a:extLst>
              <a:ext uri="{FF2B5EF4-FFF2-40B4-BE49-F238E27FC236}">
                <a16:creationId xmlns:a16="http://schemas.microsoft.com/office/drawing/2014/main" id="{168EF248-242A-4EDD-899D-C935794A0AC3}"/>
              </a:ext>
            </a:extLst>
          </p:cNvPr>
          <p:cNvSpPr/>
          <p:nvPr/>
        </p:nvSpPr>
        <p:spPr>
          <a:xfrm>
            <a:off x="2674226" y="2338239"/>
            <a:ext cx="504825" cy="345528"/>
          </a:xfrm>
          <a:prstGeom prst="rightArrow">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화살표: 오른쪽 66">
            <a:extLst>
              <a:ext uri="{FF2B5EF4-FFF2-40B4-BE49-F238E27FC236}">
                <a16:creationId xmlns:a16="http://schemas.microsoft.com/office/drawing/2014/main" id="{BC95A65A-2F35-4F37-AFD2-1761611FBA46}"/>
              </a:ext>
            </a:extLst>
          </p:cNvPr>
          <p:cNvSpPr/>
          <p:nvPr/>
        </p:nvSpPr>
        <p:spPr>
          <a:xfrm>
            <a:off x="5498389" y="4397852"/>
            <a:ext cx="504825" cy="345528"/>
          </a:xfrm>
          <a:prstGeom prst="rightArrow">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화살표: 오른쪽 67">
            <a:extLst>
              <a:ext uri="{FF2B5EF4-FFF2-40B4-BE49-F238E27FC236}">
                <a16:creationId xmlns:a16="http://schemas.microsoft.com/office/drawing/2014/main" id="{FE50F082-BFEA-4AA6-98BF-7F640852139E}"/>
              </a:ext>
            </a:extLst>
          </p:cNvPr>
          <p:cNvSpPr/>
          <p:nvPr/>
        </p:nvSpPr>
        <p:spPr>
          <a:xfrm>
            <a:off x="6567292" y="2351296"/>
            <a:ext cx="504825" cy="345528"/>
          </a:xfrm>
          <a:prstGeom prst="rightArrow">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화살표: 왼쪽으로 구부러짐 15">
            <a:extLst>
              <a:ext uri="{FF2B5EF4-FFF2-40B4-BE49-F238E27FC236}">
                <a16:creationId xmlns:a16="http://schemas.microsoft.com/office/drawing/2014/main" id="{17EFEEDD-6AC8-4D96-A833-868ECC14E5C2}"/>
              </a:ext>
            </a:extLst>
          </p:cNvPr>
          <p:cNvSpPr/>
          <p:nvPr/>
        </p:nvSpPr>
        <p:spPr>
          <a:xfrm rot="10800000">
            <a:off x="3124749" y="2801045"/>
            <a:ext cx="504824" cy="1770634"/>
          </a:xfrm>
          <a:prstGeom prst="curvedLeftArrow">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17" name="TextBox 16">
            <a:extLst>
              <a:ext uri="{FF2B5EF4-FFF2-40B4-BE49-F238E27FC236}">
                <a16:creationId xmlns:a16="http://schemas.microsoft.com/office/drawing/2014/main" id="{4247AFE8-D25C-44D0-888C-CA206E6CA185}"/>
              </a:ext>
            </a:extLst>
          </p:cNvPr>
          <p:cNvSpPr txBox="1"/>
          <p:nvPr/>
        </p:nvSpPr>
        <p:spPr>
          <a:xfrm>
            <a:off x="2106897" y="3581265"/>
            <a:ext cx="989245" cy="523220"/>
          </a:xfrm>
          <a:prstGeom prst="rect">
            <a:avLst/>
          </a:prstGeom>
          <a:noFill/>
        </p:spPr>
        <p:txBody>
          <a:bodyPr wrap="none" rtlCol="0">
            <a:spAutoFit/>
          </a:bodyPr>
          <a:lstStyle/>
          <a:p>
            <a:r>
              <a:rPr lang="en-US" altLang="ko-KR" sz="2800" b="1" dirty="0">
                <a:solidFill>
                  <a:srgbClr val="FF0000"/>
                </a:solidFill>
              </a:rPr>
              <a:t>COPY</a:t>
            </a:r>
            <a:endParaRPr lang="ko-KR" altLang="en-US" sz="2800" b="1" dirty="0">
              <a:solidFill>
                <a:srgbClr val="FF0000"/>
              </a:solidFill>
            </a:endParaRPr>
          </a:p>
        </p:txBody>
      </p:sp>
      <p:cxnSp>
        <p:nvCxnSpPr>
          <p:cNvPr id="6" name="직선 연결선 5">
            <a:extLst>
              <a:ext uri="{FF2B5EF4-FFF2-40B4-BE49-F238E27FC236}">
                <a16:creationId xmlns:a16="http://schemas.microsoft.com/office/drawing/2014/main" id="{1459923A-CB5D-4D64-BC20-D3D6E3967521}"/>
              </a:ext>
            </a:extLst>
          </p:cNvPr>
          <p:cNvCxnSpPr>
            <a:cxnSpLocks/>
          </p:cNvCxnSpPr>
          <p:nvPr/>
        </p:nvCxnSpPr>
        <p:spPr>
          <a:xfrm>
            <a:off x="5498389" y="2130251"/>
            <a:ext cx="0" cy="319537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9854AC20-F7A5-4874-83F9-2F3D1FFD6681}"/>
              </a:ext>
            </a:extLst>
          </p:cNvPr>
          <p:cNvCxnSpPr>
            <a:cxnSpLocks/>
          </p:cNvCxnSpPr>
          <p:nvPr/>
        </p:nvCxnSpPr>
        <p:spPr>
          <a:xfrm>
            <a:off x="7879848" y="2130251"/>
            <a:ext cx="0" cy="370335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7B0F8617-3443-48B4-AF38-260967829450}"/>
              </a:ext>
            </a:extLst>
          </p:cNvPr>
          <p:cNvCxnSpPr>
            <a:cxnSpLocks/>
          </p:cNvCxnSpPr>
          <p:nvPr/>
        </p:nvCxnSpPr>
        <p:spPr>
          <a:xfrm>
            <a:off x="9909615" y="2130251"/>
            <a:ext cx="0" cy="4189977"/>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 name="타원 7">
            <a:extLst>
              <a:ext uri="{FF2B5EF4-FFF2-40B4-BE49-F238E27FC236}">
                <a16:creationId xmlns:a16="http://schemas.microsoft.com/office/drawing/2014/main" id="{31D62CC4-DFD9-441C-84BA-F324DE6AB1AA}"/>
              </a:ext>
            </a:extLst>
          </p:cNvPr>
          <p:cNvSpPr/>
          <p:nvPr/>
        </p:nvSpPr>
        <p:spPr>
          <a:xfrm>
            <a:off x="1997881" y="2067414"/>
            <a:ext cx="382650" cy="367564"/>
          </a:xfrm>
          <a:prstGeom prst="ellipse">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28" name="타원 27">
            <a:extLst>
              <a:ext uri="{FF2B5EF4-FFF2-40B4-BE49-F238E27FC236}">
                <a16:creationId xmlns:a16="http://schemas.microsoft.com/office/drawing/2014/main" id="{352AF085-DE30-45DA-9370-2D1BF54C0D2D}"/>
              </a:ext>
            </a:extLst>
          </p:cNvPr>
          <p:cNvSpPr/>
          <p:nvPr/>
        </p:nvSpPr>
        <p:spPr>
          <a:xfrm>
            <a:off x="5064177" y="2067414"/>
            <a:ext cx="382650" cy="367564"/>
          </a:xfrm>
          <a:prstGeom prst="ellipse">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29" name="타원 28">
            <a:extLst>
              <a:ext uri="{FF2B5EF4-FFF2-40B4-BE49-F238E27FC236}">
                <a16:creationId xmlns:a16="http://schemas.microsoft.com/office/drawing/2014/main" id="{52CA0E05-5EF0-4506-B3E1-568D263EA136}"/>
              </a:ext>
            </a:extLst>
          </p:cNvPr>
          <p:cNvSpPr/>
          <p:nvPr/>
        </p:nvSpPr>
        <p:spPr>
          <a:xfrm>
            <a:off x="5064177" y="4638011"/>
            <a:ext cx="382650" cy="367564"/>
          </a:xfrm>
          <a:prstGeom prst="ellipse">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30" name="타원 29">
            <a:extLst>
              <a:ext uri="{FF2B5EF4-FFF2-40B4-BE49-F238E27FC236}">
                <a16:creationId xmlns:a16="http://schemas.microsoft.com/office/drawing/2014/main" id="{ED76A243-8CD6-49E2-A321-46DA858630B6}"/>
              </a:ext>
            </a:extLst>
          </p:cNvPr>
          <p:cNvSpPr/>
          <p:nvPr/>
        </p:nvSpPr>
        <p:spPr>
          <a:xfrm>
            <a:off x="7463826" y="4638011"/>
            <a:ext cx="382650" cy="367564"/>
          </a:xfrm>
          <a:prstGeom prst="ellipse">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4</a:t>
            </a:r>
            <a:endParaRPr lang="ko-KR" altLang="en-US" dirty="0"/>
          </a:p>
        </p:txBody>
      </p:sp>
      <p:sp>
        <p:nvSpPr>
          <p:cNvPr id="31" name="타원 30">
            <a:extLst>
              <a:ext uri="{FF2B5EF4-FFF2-40B4-BE49-F238E27FC236}">
                <a16:creationId xmlns:a16="http://schemas.microsoft.com/office/drawing/2014/main" id="{95C6DCB8-257F-46E5-9246-55B2F0632047}"/>
              </a:ext>
            </a:extLst>
          </p:cNvPr>
          <p:cNvSpPr/>
          <p:nvPr/>
        </p:nvSpPr>
        <p:spPr>
          <a:xfrm>
            <a:off x="9469753" y="2051545"/>
            <a:ext cx="382650" cy="367564"/>
          </a:xfrm>
          <a:prstGeom prst="ellipse">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5</a:t>
            </a:r>
            <a:endParaRPr lang="ko-KR" altLang="en-US" dirty="0"/>
          </a:p>
        </p:txBody>
      </p:sp>
      <p:sp>
        <p:nvSpPr>
          <p:cNvPr id="10" name="TextBox 9">
            <a:extLst>
              <a:ext uri="{FF2B5EF4-FFF2-40B4-BE49-F238E27FC236}">
                <a16:creationId xmlns:a16="http://schemas.microsoft.com/office/drawing/2014/main" id="{72F0D064-DBC5-453A-A9AB-D8AA07F4FF22}"/>
              </a:ext>
            </a:extLst>
          </p:cNvPr>
          <p:cNvSpPr txBox="1"/>
          <p:nvPr/>
        </p:nvSpPr>
        <p:spPr>
          <a:xfrm>
            <a:off x="456934" y="5341166"/>
            <a:ext cx="6069290" cy="369332"/>
          </a:xfrm>
          <a:prstGeom prst="rect">
            <a:avLst/>
          </a:prstGeom>
          <a:noFill/>
          <a:ln>
            <a:solidFill>
              <a:schemeClr val="bg1">
                <a:lumMod val="50000"/>
              </a:schemeClr>
            </a:solidFill>
          </a:ln>
        </p:spPr>
        <p:txBody>
          <a:bodyPr wrap="none" rtlCol="0">
            <a:spAutoFit/>
          </a:bodyPr>
          <a:lstStyle/>
          <a:p>
            <a:r>
              <a:rPr lang="ko-KR" altLang="en-US" dirty="0"/>
              <a:t>보정된 명도</a:t>
            </a:r>
            <a:r>
              <a:rPr lang="en-US" altLang="ko-KR" dirty="0"/>
              <a:t>(2)</a:t>
            </a:r>
            <a:r>
              <a:rPr lang="ko-KR" altLang="en-US" dirty="0"/>
              <a:t>가 원문</a:t>
            </a:r>
            <a:r>
              <a:rPr lang="en-US" altLang="ko-KR" dirty="0"/>
              <a:t>(1)</a:t>
            </a:r>
            <a:r>
              <a:rPr lang="ko-KR" altLang="en-US" dirty="0"/>
              <a:t>과 번역문</a:t>
            </a:r>
            <a:r>
              <a:rPr lang="en-US" altLang="ko-KR" dirty="0"/>
              <a:t>(3)</a:t>
            </a:r>
            <a:r>
              <a:rPr lang="ko-KR" altLang="en-US" dirty="0"/>
              <a:t>의 범위를 만족하는지 여부</a:t>
            </a:r>
          </a:p>
        </p:txBody>
      </p:sp>
      <p:sp>
        <p:nvSpPr>
          <p:cNvPr id="33" name="TextBox 32">
            <a:extLst>
              <a:ext uri="{FF2B5EF4-FFF2-40B4-BE49-F238E27FC236}">
                <a16:creationId xmlns:a16="http://schemas.microsoft.com/office/drawing/2014/main" id="{71371424-0E76-4763-8FDA-231FFFB03E1C}"/>
              </a:ext>
            </a:extLst>
          </p:cNvPr>
          <p:cNvSpPr txBox="1"/>
          <p:nvPr/>
        </p:nvSpPr>
        <p:spPr>
          <a:xfrm>
            <a:off x="456933" y="5833604"/>
            <a:ext cx="7571695" cy="369332"/>
          </a:xfrm>
          <a:prstGeom prst="rect">
            <a:avLst/>
          </a:prstGeom>
          <a:noFill/>
          <a:ln>
            <a:solidFill>
              <a:schemeClr val="bg1">
                <a:lumMod val="50000"/>
              </a:schemeClr>
            </a:solidFill>
          </a:ln>
        </p:spPr>
        <p:txBody>
          <a:bodyPr wrap="square" rtlCol="0">
            <a:spAutoFit/>
          </a:bodyPr>
          <a:lstStyle/>
          <a:p>
            <a:r>
              <a:rPr lang="ko-KR" altLang="en-US" dirty="0"/>
              <a:t>보정된 명도</a:t>
            </a:r>
            <a:r>
              <a:rPr lang="en-US" altLang="ko-KR" dirty="0"/>
              <a:t>(2)</a:t>
            </a:r>
            <a:r>
              <a:rPr lang="ko-KR" altLang="en-US" dirty="0"/>
              <a:t>가 원문</a:t>
            </a:r>
            <a:r>
              <a:rPr lang="en-US" altLang="ko-KR" dirty="0"/>
              <a:t>(1)</a:t>
            </a:r>
            <a:r>
              <a:rPr lang="ko-KR" altLang="en-US" dirty="0"/>
              <a:t>과 번역문</a:t>
            </a:r>
            <a:r>
              <a:rPr lang="en-US" altLang="ko-KR" dirty="0"/>
              <a:t>(4)</a:t>
            </a:r>
            <a:r>
              <a:rPr lang="ko-KR" altLang="en-US" dirty="0"/>
              <a:t>의 범위를 만족하는지 여부</a:t>
            </a:r>
          </a:p>
        </p:txBody>
      </p:sp>
      <p:sp>
        <p:nvSpPr>
          <p:cNvPr id="34" name="TextBox 33">
            <a:extLst>
              <a:ext uri="{FF2B5EF4-FFF2-40B4-BE49-F238E27FC236}">
                <a16:creationId xmlns:a16="http://schemas.microsoft.com/office/drawing/2014/main" id="{2AC9DED2-87BB-4BF7-8517-676D030C1A07}"/>
              </a:ext>
            </a:extLst>
          </p:cNvPr>
          <p:cNvSpPr txBox="1"/>
          <p:nvPr/>
        </p:nvSpPr>
        <p:spPr>
          <a:xfrm>
            <a:off x="456933" y="6320228"/>
            <a:ext cx="9742139" cy="369332"/>
          </a:xfrm>
          <a:prstGeom prst="rect">
            <a:avLst/>
          </a:prstGeom>
          <a:noFill/>
          <a:ln>
            <a:solidFill>
              <a:schemeClr val="bg1">
                <a:lumMod val="50000"/>
              </a:schemeClr>
            </a:solidFill>
          </a:ln>
        </p:spPr>
        <p:txBody>
          <a:bodyPr wrap="square" rtlCol="0">
            <a:spAutoFit/>
          </a:bodyPr>
          <a:lstStyle/>
          <a:p>
            <a:r>
              <a:rPr lang="ko-KR" altLang="en-US" dirty="0"/>
              <a:t>보정된 명도</a:t>
            </a:r>
            <a:r>
              <a:rPr lang="en-US" altLang="ko-KR" dirty="0"/>
              <a:t>(5)</a:t>
            </a:r>
            <a:r>
              <a:rPr lang="ko-KR" altLang="en-US" dirty="0"/>
              <a:t>가 원문</a:t>
            </a:r>
            <a:r>
              <a:rPr lang="en-US" altLang="ko-KR" dirty="0"/>
              <a:t>(1)</a:t>
            </a:r>
            <a:r>
              <a:rPr lang="ko-KR" altLang="en-US" dirty="0"/>
              <a:t>과 번역문</a:t>
            </a:r>
            <a:r>
              <a:rPr lang="en-US" altLang="ko-KR" dirty="0"/>
              <a:t>(4)</a:t>
            </a:r>
            <a:r>
              <a:rPr lang="ko-KR" altLang="en-US" dirty="0"/>
              <a:t>의 범위를 만족하는지 여부</a:t>
            </a:r>
          </a:p>
        </p:txBody>
      </p:sp>
      <p:sp>
        <p:nvSpPr>
          <p:cNvPr id="14" name="사각형: 둥근 모서리 13">
            <a:extLst>
              <a:ext uri="{FF2B5EF4-FFF2-40B4-BE49-F238E27FC236}">
                <a16:creationId xmlns:a16="http://schemas.microsoft.com/office/drawing/2014/main" id="{8B895464-578B-4F78-B853-784EBBD5A799}"/>
              </a:ext>
            </a:extLst>
          </p:cNvPr>
          <p:cNvSpPr/>
          <p:nvPr/>
        </p:nvSpPr>
        <p:spPr>
          <a:xfrm>
            <a:off x="5107042" y="3100480"/>
            <a:ext cx="795690" cy="689050"/>
          </a:xfrm>
          <a:prstGeom prst="roundRect">
            <a:avLst/>
          </a:prstGeom>
          <a:solidFill>
            <a:schemeClr val="accent3">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실체심사</a:t>
            </a:r>
          </a:p>
        </p:txBody>
      </p:sp>
      <p:sp>
        <p:nvSpPr>
          <p:cNvPr id="38" name="사각형: 둥근 모서리 37">
            <a:extLst>
              <a:ext uri="{FF2B5EF4-FFF2-40B4-BE49-F238E27FC236}">
                <a16:creationId xmlns:a16="http://schemas.microsoft.com/office/drawing/2014/main" id="{092D8063-3F3E-452E-8F05-74F94DD3C4B2}"/>
              </a:ext>
            </a:extLst>
          </p:cNvPr>
          <p:cNvSpPr/>
          <p:nvPr/>
        </p:nvSpPr>
        <p:spPr>
          <a:xfrm>
            <a:off x="7482003" y="3100480"/>
            <a:ext cx="795690" cy="689050"/>
          </a:xfrm>
          <a:prstGeom prst="roundRect">
            <a:avLst/>
          </a:prstGeom>
          <a:solidFill>
            <a:schemeClr val="accent3">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실체심사</a:t>
            </a:r>
          </a:p>
        </p:txBody>
      </p:sp>
      <p:sp>
        <p:nvSpPr>
          <p:cNvPr id="39" name="사각형: 둥근 모서리 38">
            <a:extLst>
              <a:ext uri="{FF2B5EF4-FFF2-40B4-BE49-F238E27FC236}">
                <a16:creationId xmlns:a16="http://schemas.microsoft.com/office/drawing/2014/main" id="{6C792051-3D87-4201-819E-E8D755ED66D4}"/>
              </a:ext>
            </a:extLst>
          </p:cNvPr>
          <p:cNvSpPr/>
          <p:nvPr/>
        </p:nvSpPr>
        <p:spPr>
          <a:xfrm>
            <a:off x="9469753" y="3100480"/>
            <a:ext cx="795690" cy="689050"/>
          </a:xfrm>
          <a:prstGeom prst="roundRect">
            <a:avLst/>
          </a:prstGeom>
          <a:solidFill>
            <a:schemeClr val="accent3">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실체심사</a:t>
            </a:r>
          </a:p>
        </p:txBody>
      </p:sp>
      <p:sp>
        <p:nvSpPr>
          <p:cNvPr id="36" name="화살표: 왼쪽으로 구부러짐 35">
            <a:extLst>
              <a:ext uri="{FF2B5EF4-FFF2-40B4-BE49-F238E27FC236}">
                <a16:creationId xmlns:a16="http://schemas.microsoft.com/office/drawing/2014/main" id="{8F8D6D87-292F-4A9E-8628-8C8B44132F30}"/>
              </a:ext>
            </a:extLst>
          </p:cNvPr>
          <p:cNvSpPr/>
          <p:nvPr/>
        </p:nvSpPr>
        <p:spPr>
          <a:xfrm rot="10800000">
            <a:off x="6505465" y="2801045"/>
            <a:ext cx="504824" cy="1518394"/>
          </a:xfrm>
          <a:prstGeom prst="curvedLeftArrow">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37" name="TextBox 36">
            <a:extLst>
              <a:ext uri="{FF2B5EF4-FFF2-40B4-BE49-F238E27FC236}">
                <a16:creationId xmlns:a16="http://schemas.microsoft.com/office/drawing/2014/main" id="{E0C68491-5B51-4DE1-8024-5E97846AB6A4}"/>
              </a:ext>
            </a:extLst>
          </p:cNvPr>
          <p:cNvSpPr txBox="1"/>
          <p:nvPr/>
        </p:nvSpPr>
        <p:spPr>
          <a:xfrm>
            <a:off x="5943905" y="3560242"/>
            <a:ext cx="1550296" cy="523220"/>
          </a:xfrm>
          <a:prstGeom prst="rect">
            <a:avLst/>
          </a:prstGeom>
          <a:noFill/>
        </p:spPr>
        <p:txBody>
          <a:bodyPr wrap="none" rtlCol="0">
            <a:spAutoFit/>
          </a:bodyPr>
          <a:lstStyle/>
          <a:p>
            <a:r>
              <a:rPr lang="en-US" altLang="ko-KR" sz="2800" b="1" dirty="0">
                <a:solidFill>
                  <a:srgbClr val="FF0000"/>
                </a:solidFill>
              </a:rPr>
              <a:t>NO COPY</a:t>
            </a:r>
            <a:endParaRPr lang="ko-KR" altLang="en-US" sz="2800" b="1" dirty="0">
              <a:solidFill>
                <a:srgbClr val="FF0000"/>
              </a:solidFill>
            </a:endParaRPr>
          </a:p>
        </p:txBody>
      </p:sp>
    </p:spTree>
    <p:extLst>
      <p:ext uri="{BB962C8B-B14F-4D97-AF65-F5344CB8AC3E}">
        <p14:creationId xmlns:p14="http://schemas.microsoft.com/office/powerpoint/2010/main" val="1753320662"/>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48" name="직선 연결선 147"/>
          <p:cNvCxnSpPr/>
          <p:nvPr/>
        </p:nvCxnSpPr>
        <p:spPr>
          <a:xfrm>
            <a:off x="3424780" y="3790950"/>
            <a:ext cx="0" cy="233934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직선 연결선 145"/>
          <p:cNvCxnSpPr/>
          <p:nvPr/>
        </p:nvCxnSpPr>
        <p:spPr>
          <a:xfrm>
            <a:off x="1112099" y="3790950"/>
            <a:ext cx="0" cy="233934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3" name="직선 연결선 142"/>
          <p:cNvCxnSpPr/>
          <p:nvPr/>
        </p:nvCxnSpPr>
        <p:spPr>
          <a:xfrm>
            <a:off x="10583090" y="3124200"/>
            <a:ext cx="0" cy="233934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7369775" y="3124200"/>
            <a:ext cx="0" cy="233934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제목 3"/>
          <p:cNvSpPr>
            <a:spLocks noGrp="1"/>
          </p:cNvSpPr>
          <p:nvPr>
            <p:ph type="title"/>
          </p:nvPr>
        </p:nvSpPr>
        <p:spPr/>
        <p:txBody>
          <a:bodyPr/>
          <a:lstStyle/>
          <a:p>
            <a:r>
              <a:rPr lang="ko-KR" altLang="en-US" dirty="0"/>
              <a:t>제</a:t>
            </a:r>
            <a:r>
              <a:rPr lang="en-US" altLang="ko-KR" dirty="0"/>
              <a:t>52</a:t>
            </a:r>
            <a:r>
              <a:rPr lang="ko-KR" altLang="en-US" dirty="0"/>
              <a:t>조</a:t>
            </a:r>
          </a:p>
        </p:txBody>
      </p:sp>
      <p:sp>
        <p:nvSpPr>
          <p:cNvPr id="5" name="텍스트 개체 틀 4"/>
          <p:cNvSpPr>
            <a:spLocks noGrp="1"/>
          </p:cNvSpPr>
          <p:nvPr>
            <p:ph type="body" sz="quarter" idx="13"/>
          </p:nvPr>
        </p:nvSpPr>
        <p:spPr/>
        <p:txBody>
          <a:bodyPr/>
          <a:lstStyle/>
          <a:p>
            <a:r>
              <a:rPr lang="ko-KR" altLang="en-US" dirty="0" err="1"/>
              <a:t>분할출원의</a:t>
            </a:r>
            <a:r>
              <a:rPr lang="ko-KR" altLang="en-US" dirty="0"/>
              <a:t> 취지</a:t>
            </a:r>
          </a:p>
        </p:txBody>
      </p:sp>
      <p:sp>
        <p:nvSpPr>
          <p:cNvPr id="47" name="TextBox 46"/>
          <p:cNvSpPr txBox="1"/>
          <p:nvPr/>
        </p:nvSpPr>
        <p:spPr>
          <a:xfrm>
            <a:off x="251519" y="1427277"/>
            <a:ext cx="5554921" cy="1425511"/>
          </a:xfrm>
          <a:prstGeom prst="rect">
            <a:avLst/>
          </a:prstGeom>
          <a:solidFill>
            <a:schemeClr val="accent4">
              <a:lumMod val="20000"/>
              <a:lumOff val="80000"/>
            </a:schemeClr>
          </a:solidFill>
          <a:ln>
            <a:solidFill>
              <a:schemeClr val="accent6">
                <a:lumMod val="50000"/>
              </a:schemeClr>
            </a:solidFill>
          </a:ln>
        </p:spPr>
        <p:txBody>
          <a:bodyPr wrap="square" rtlCol="0" anchor="ctr">
            <a:noAutofit/>
          </a:bodyPr>
          <a:lstStyle/>
          <a:p>
            <a:pPr marL="171450" indent="-171450">
              <a:buFontTx/>
              <a:buChar char="-"/>
            </a:pPr>
            <a:r>
              <a:rPr lang="ko-KR" altLang="en-US" sz="1200" dirty="0">
                <a:solidFill>
                  <a:schemeClr val="tx2"/>
                </a:solidFill>
                <a:latin typeface="+mn-ea"/>
              </a:rPr>
              <a:t>심사관은 출원된 발명의 </a:t>
            </a:r>
            <a:r>
              <a:rPr lang="ko-KR" altLang="en-US" sz="1200" dirty="0" err="1">
                <a:solidFill>
                  <a:schemeClr val="tx2"/>
                </a:solidFill>
                <a:latin typeface="+mn-ea"/>
              </a:rPr>
              <a:t>청구항별로</a:t>
            </a:r>
            <a:r>
              <a:rPr lang="ko-KR" altLang="en-US" sz="1200" dirty="0">
                <a:solidFill>
                  <a:schemeClr val="tx2"/>
                </a:solidFill>
                <a:latin typeface="+mn-ea"/>
              </a:rPr>
              <a:t> 거절이유를 판단하지만</a:t>
            </a:r>
            <a:r>
              <a:rPr lang="en-US" altLang="ko-KR" sz="1200" dirty="0">
                <a:solidFill>
                  <a:schemeClr val="tx2"/>
                </a:solidFill>
                <a:latin typeface="+mn-ea"/>
              </a:rPr>
              <a:t>, </a:t>
            </a:r>
            <a:r>
              <a:rPr lang="ko-KR" altLang="en-US" sz="1200" dirty="0">
                <a:solidFill>
                  <a:schemeClr val="tx2"/>
                </a:solidFill>
                <a:latin typeface="+mn-ea"/>
              </a:rPr>
              <a:t>하나의 청구항이라도 거절이유가 있으면 </a:t>
            </a:r>
            <a:r>
              <a:rPr lang="ko-KR" altLang="en-US" sz="1200" dirty="0" err="1">
                <a:solidFill>
                  <a:schemeClr val="tx2"/>
                </a:solidFill>
                <a:latin typeface="+mn-ea"/>
              </a:rPr>
              <a:t>출원전체를</a:t>
            </a:r>
            <a:r>
              <a:rPr lang="ko-KR" altLang="en-US" sz="1200" dirty="0">
                <a:solidFill>
                  <a:schemeClr val="tx2"/>
                </a:solidFill>
                <a:latin typeface="+mn-ea"/>
              </a:rPr>
              <a:t> </a:t>
            </a:r>
            <a:r>
              <a:rPr lang="ko-KR" altLang="en-US" sz="1200" dirty="0" err="1">
                <a:solidFill>
                  <a:schemeClr val="tx2"/>
                </a:solidFill>
                <a:latin typeface="+mn-ea"/>
              </a:rPr>
              <a:t>거절결정함</a:t>
            </a:r>
            <a:endParaRPr lang="en-US" altLang="ko-KR" sz="1200" dirty="0">
              <a:solidFill>
                <a:schemeClr val="tx2"/>
              </a:solidFill>
              <a:latin typeface="+mn-ea"/>
            </a:endParaRPr>
          </a:p>
          <a:p>
            <a:pPr marL="171450" indent="-171450">
              <a:buFontTx/>
              <a:buChar char="-"/>
            </a:pPr>
            <a:r>
              <a:rPr lang="ko-KR" altLang="en-US" sz="1200" dirty="0">
                <a:solidFill>
                  <a:schemeClr val="tx2"/>
                </a:solidFill>
                <a:latin typeface="+mn-ea"/>
              </a:rPr>
              <a:t>따라서</a:t>
            </a:r>
            <a:r>
              <a:rPr lang="en-US" altLang="ko-KR" sz="1200" dirty="0">
                <a:solidFill>
                  <a:schemeClr val="tx2"/>
                </a:solidFill>
                <a:latin typeface="+mn-ea"/>
              </a:rPr>
              <a:t>, </a:t>
            </a:r>
            <a:r>
              <a:rPr lang="ko-KR" altLang="en-US" sz="1200" dirty="0">
                <a:solidFill>
                  <a:schemeClr val="tx2"/>
                </a:solidFill>
                <a:latin typeface="+mn-ea"/>
              </a:rPr>
              <a:t>일부 </a:t>
            </a:r>
            <a:r>
              <a:rPr lang="ko-KR" altLang="en-US" sz="1200" dirty="0" err="1">
                <a:solidFill>
                  <a:schemeClr val="tx2"/>
                </a:solidFill>
                <a:latin typeface="+mn-ea"/>
              </a:rPr>
              <a:t>청구항에</a:t>
            </a:r>
            <a:r>
              <a:rPr lang="ko-KR" altLang="en-US" sz="1200" dirty="0">
                <a:solidFill>
                  <a:schemeClr val="tx2"/>
                </a:solidFill>
                <a:latin typeface="+mn-ea"/>
              </a:rPr>
              <a:t> 거절이유가 있는 경우 거절이유가 있는 </a:t>
            </a:r>
            <a:r>
              <a:rPr lang="ko-KR" altLang="en-US" sz="1200" dirty="0" err="1">
                <a:solidFill>
                  <a:schemeClr val="tx2"/>
                </a:solidFill>
                <a:latin typeface="+mn-ea"/>
              </a:rPr>
              <a:t>청구항은</a:t>
            </a:r>
            <a:r>
              <a:rPr lang="ko-KR" altLang="en-US" sz="1200" dirty="0">
                <a:solidFill>
                  <a:schemeClr val="tx2"/>
                </a:solidFill>
                <a:latin typeface="+mn-ea"/>
              </a:rPr>
              <a:t> 분할출원하여 대응방안을 모색하고</a:t>
            </a:r>
            <a:r>
              <a:rPr lang="en-US" altLang="ko-KR" sz="1200" dirty="0">
                <a:solidFill>
                  <a:schemeClr val="tx2"/>
                </a:solidFill>
                <a:latin typeface="+mn-ea"/>
              </a:rPr>
              <a:t>, </a:t>
            </a:r>
            <a:r>
              <a:rPr lang="ko-KR" altLang="en-US" sz="1200" dirty="0">
                <a:solidFill>
                  <a:schemeClr val="tx2"/>
                </a:solidFill>
                <a:latin typeface="+mn-ea"/>
              </a:rPr>
              <a:t>거절이유가 없는 </a:t>
            </a:r>
            <a:r>
              <a:rPr lang="ko-KR" altLang="en-US" sz="1200" dirty="0" err="1">
                <a:solidFill>
                  <a:schemeClr val="tx2"/>
                </a:solidFill>
                <a:latin typeface="+mn-ea"/>
              </a:rPr>
              <a:t>청구항은</a:t>
            </a:r>
            <a:r>
              <a:rPr lang="ko-KR" altLang="en-US" sz="1200" dirty="0">
                <a:solidFill>
                  <a:schemeClr val="tx2"/>
                </a:solidFill>
                <a:latin typeface="+mn-ea"/>
              </a:rPr>
              <a:t> 먼저 </a:t>
            </a:r>
            <a:r>
              <a:rPr lang="ko-KR" altLang="en-US" sz="1200" dirty="0" err="1">
                <a:solidFill>
                  <a:schemeClr val="tx2"/>
                </a:solidFill>
                <a:latin typeface="+mn-ea"/>
              </a:rPr>
              <a:t>등록받는</a:t>
            </a:r>
            <a:r>
              <a:rPr lang="ko-KR" altLang="en-US" sz="1200" dirty="0">
                <a:solidFill>
                  <a:schemeClr val="tx2"/>
                </a:solidFill>
                <a:latin typeface="+mn-ea"/>
              </a:rPr>
              <a:t> 것이 바람직함</a:t>
            </a:r>
            <a:endParaRPr lang="en-US" altLang="ko-KR" sz="1200" dirty="0">
              <a:solidFill>
                <a:schemeClr val="tx2"/>
              </a:solidFill>
              <a:latin typeface="+mn-ea"/>
            </a:endParaRPr>
          </a:p>
          <a:p>
            <a:pPr marL="171450" indent="-171450">
              <a:buFontTx/>
              <a:buChar char="-"/>
            </a:pPr>
            <a:r>
              <a:rPr lang="ko-KR" altLang="en-US" sz="1200" dirty="0">
                <a:solidFill>
                  <a:schemeClr val="tx2"/>
                </a:solidFill>
                <a:latin typeface="+mn-ea"/>
              </a:rPr>
              <a:t>이때</a:t>
            </a:r>
            <a:r>
              <a:rPr lang="en-US" altLang="ko-KR" sz="1200" dirty="0">
                <a:solidFill>
                  <a:schemeClr val="tx2"/>
                </a:solidFill>
                <a:latin typeface="+mn-ea"/>
              </a:rPr>
              <a:t> </a:t>
            </a:r>
            <a:r>
              <a:rPr lang="ko-KR" altLang="en-US" sz="1200" dirty="0" err="1">
                <a:solidFill>
                  <a:schemeClr val="tx2"/>
                </a:solidFill>
                <a:latin typeface="+mn-ea"/>
              </a:rPr>
              <a:t>분할출원의</a:t>
            </a:r>
            <a:r>
              <a:rPr lang="ko-KR" altLang="en-US" sz="1200" dirty="0">
                <a:solidFill>
                  <a:schemeClr val="tx2"/>
                </a:solidFill>
                <a:latin typeface="+mn-ea"/>
              </a:rPr>
              <a:t> 심사청구시기와 </a:t>
            </a:r>
            <a:r>
              <a:rPr lang="ko-KR" altLang="en-US" sz="1200" dirty="0" err="1">
                <a:solidFill>
                  <a:schemeClr val="tx2"/>
                </a:solidFill>
                <a:latin typeface="+mn-ea"/>
              </a:rPr>
              <a:t>청구항</a:t>
            </a:r>
            <a:r>
              <a:rPr lang="ko-KR" altLang="en-US" sz="1200" dirty="0">
                <a:solidFill>
                  <a:schemeClr val="tx2"/>
                </a:solidFill>
                <a:latin typeface="+mn-ea"/>
              </a:rPr>
              <a:t> 수를 조절하여 비용을 절감함</a:t>
            </a:r>
            <a:endParaRPr lang="en-US" altLang="ko-KR" sz="1200" dirty="0">
              <a:solidFill>
                <a:schemeClr val="tx2"/>
              </a:solidFill>
              <a:latin typeface="+mn-ea"/>
            </a:endParaRPr>
          </a:p>
        </p:txBody>
      </p:sp>
      <p:sp>
        <p:nvSpPr>
          <p:cNvPr id="49" name="TextBox 48"/>
          <p:cNvSpPr txBox="1"/>
          <p:nvPr/>
        </p:nvSpPr>
        <p:spPr>
          <a:xfrm>
            <a:off x="6497427" y="1427277"/>
            <a:ext cx="5351932" cy="1425511"/>
          </a:xfrm>
          <a:prstGeom prst="rect">
            <a:avLst/>
          </a:prstGeom>
          <a:solidFill>
            <a:schemeClr val="accent4">
              <a:lumMod val="20000"/>
              <a:lumOff val="80000"/>
            </a:schemeClr>
          </a:solidFill>
          <a:ln>
            <a:solidFill>
              <a:schemeClr val="accent6">
                <a:lumMod val="50000"/>
              </a:schemeClr>
            </a:solidFill>
          </a:ln>
        </p:spPr>
        <p:txBody>
          <a:bodyPr wrap="square" rtlCol="0" anchor="ctr">
            <a:noAutofit/>
          </a:bodyPr>
          <a:lstStyle/>
          <a:p>
            <a:pPr marL="171450" indent="-171450">
              <a:buFontTx/>
              <a:buChar char="-"/>
            </a:pPr>
            <a:r>
              <a:rPr lang="ko-KR" altLang="en-US" sz="1200" dirty="0">
                <a:solidFill>
                  <a:schemeClr val="tx2"/>
                </a:solidFill>
                <a:latin typeface="+mn-ea"/>
              </a:rPr>
              <a:t>발명의 설명 또는 도면에만 기재된 발명을 보호받고자 할 경우 </a:t>
            </a:r>
            <a:r>
              <a:rPr lang="ko-KR" altLang="en-US" sz="1200" dirty="0" err="1">
                <a:solidFill>
                  <a:schemeClr val="tx2"/>
                </a:solidFill>
                <a:latin typeface="+mn-ea"/>
              </a:rPr>
              <a:t>분할출원을</a:t>
            </a:r>
            <a:r>
              <a:rPr lang="ko-KR" altLang="en-US" sz="1200" dirty="0">
                <a:solidFill>
                  <a:schemeClr val="tx2"/>
                </a:solidFill>
                <a:latin typeface="+mn-ea"/>
              </a:rPr>
              <a:t> 이용함</a:t>
            </a:r>
            <a:endParaRPr lang="en-US" altLang="ko-KR" sz="1200" dirty="0">
              <a:solidFill>
                <a:schemeClr val="tx2"/>
              </a:solidFill>
              <a:latin typeface="+mn-ea"/>
            </a:endParaRPr>
          </a:p>
          <a:p>
            <a:pPr marL="171450" indent="-171450">
              <a:buFontTx/>
              <a:buChar char="-"/>
            </a:pPr>
            <a:r>
              <a:rPr lang="ko-KR" altLang="en-US" sz="1200" dirty="0">
                <a:solidFill>
                  <a:schemeClr val="tx2"/>
                </a:solidFill>
                <a:latin typeface="+mn-ea"/>
              </a:rPr>
              <a:t>특허결정등본이 송달된 후라도 시장에서 사용가능성이 있는 중요한 특허의 경우에는 권리범위를 재설계하여 특허 포트폴리오를 구축하기 위하여 분할출원을 이용함</a:t>
            </a:r>
            <a:endParaRPr lang="en-US" altLang="ko-KR" sz="1200" dirty="0">
              <a:solidFill>
                <a:schemeClr val="tx2"/>
              </a:solidFill>
              <a:latin typeface="+mn-ea"/>
            </a:endParaRPr>
          </a:p>
          <a:p>
            <a:pPr marL="171450" indent="-171450">
              <a:buFontTx/>
              <a:buChar char="-"/>
            </a:pPr>
            <a:r>
              <a:rPr lang="ko-KR" altLang="en-US" sz="1200" dirty="0">
                <a:solidFill>
                  <a:schemeClr val="tx2"/>
                </a:solidFill>
                <a:latin typeface="+mn-ea"/>
              </a:rPr>
              <a:t>이때</a:t>
            </a:r>
            <a:r>
              <a:rPr lang="en-US" altLang="ko-KR" sz="1200" dirty="0">
                <a:solidFill>
                  <a:schemeClr val="tx2"/>
                </a:solidFill>
                <a:latin typeface="+mn-ea"/>
              </a:rPr>
              <a:t> </a:t>
            </a:r>
            <a:r>
              <a:rPr lang="ko-KR" altLang="en-US" sz="1200" dirty="0">
                <a:solidFill>
                  <a:schemeClr val="tx2"/>
                </a:solidFill>
                <a:latin typeface="+mn-ea"/>
              </a:rPr>
              <a:t>분할출원의 심사청구시기와 </a:t>
            </a:r>
            <a:r>
              <a:rPr lang="ko-KR" altLang="en-US" sz="1200" dirty="0" err="1">
                <a:solidFill>
                  <a:schemeClr val="tx2"/>
                </a:solidFill>
                <a:latin typeface="+mn-ea"/>
              </a:rPr>
              <a:t>청구항</a:t>
            </a:r>
            <a:r>
              <a:rPr lang="ko-KR" altLang="en-US" sz="1200" dirty="0">
                <a:solidFill>
                  <a:schemeClr val="tx2"/>
                </a:solidFill>
                <a:latin typeface="+mn-ea"/>
              </a:rPr>
              <a:t> 수를 조절하여 비용을 절감함</a:t>
            </a:r>
            <a:endParaRPr lang="en-US" altLang="ko-KR" sz="1200" dirty="0">
              <a:solidFill>
                <a:schemeClr val="tx2"/>
              </a:solidFill>
              <a:latin typeface="+mn-ea"/>
            </a:endParaRPr>
          </a:p>
        </p:txBody>
      </p:sp>
      <p:cxnSp>
        <p:nvCxnSpPr>
          <p:cNvPr id="53" name="직선 화살표 연결선 52"/>
          <p:cNvCxnSpPr/>
          <p:nvPr/>
        </p:nvCxnSpPr>
        <p:spPr>
          <a:xfrm>
            <a:off x="296294" y="4001133"/>
            <a:ext cx="5070464" cy="0"/>
          </a:xfrm>
          <a:prstGeom prst="straightConnector1">
            <a:avLst/>
          </a:prstGeom>
          <a:noFill/>
          <a:ln w="28575" cap="flat" cmpd="sng" algn="ctr">
            <a:solidFill>
              <a:sysClr val="window" lastClr="FFFFFF">
                <a:lumMod val="50000"/>
              </a:sysClr>
            </a:solidFill>
            <a:prstDash val="solid"/>
            <a:headEnd type="none" w="med" len="med"/>
            <a:tailEnd type="triangle"/>
          </a:ln>
          <a:effectLst/>
        </p:spPr>
      </p:cxnSp>
      <p:sp>
        <p:nvSpPr>
          <p:cNvPr id="54" name="Rectangle 14"/>
          <p:cNvSpPr>
            <a:spLocks noChangeArrowheads="1"/>
          </p:cNvSpPr>
          <p:nvPr/>
        </p:nvSpPr>
        <p:spPr bwMode="auto">
          <a:xfrm>
            <a:off x="780136" y="4103378"/>
            <a:ext cx="676062"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solidFill>
                  <a:prstClr val="black"/>
                </a:solidFill>
                <a:effectLst/>
                <a:uLnTx/>
                <a:uFillTx/>
                <a:latin typeface="+mn-ea"/>
              </a:rPr>
              <a:t>출원</a:t>
            </a:r>
            <a:r>
              <a:rPr kumimoji="0" lang="en-US" altLang="ko-KR" sz="1000" b="0" i="0" u="none" strike="noStrike" kern="0" cap="none" spc="0" normalizeH="0" baseline="0" noProof="0" dirty="0">
                <a:ln>
                  <a:noFill/>
                </a:ln>
                <a:solidFill>
                  <a:prstClr val="black"/>
                </a:solidFill>
                <a:effectLst/>
                <a:uLnTx/>
                <a:uFillTx/>
                <a:latin typeface="+mn-ea"/>
              </a:rPr>
              <a:t>(X)</a:t>
            </a: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5" name="Rectangle 14"/>
          <p:cNvSpPr>
            <a:spLocks noChangeArrowheads="1"/>
          </p:cNvSpPr>
          <p:nvPr/>
        </p:nvSpPr>
        <p:spPr bwMode="auto">
          <a:xfrm>
            <a:off x="1408574" y="4103378"/>
            <a:ext cx="676062"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OA(X)</a:t>
            </a: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8" name="원호 57"/>
          <p:cNvSpPr/>
          <p:nvPr/>
        </p:nvSpPr>
        <p:spPr>
          <a:xfrm>
            <a:off x="1762474" y="3455872"/>
            <a:ext cx="3223999" cy="1014323"/>
          </a:xfrm>
          <a:prstGeom prst="arc">
            <a:avLst>
              <a:gd name="adj1" fmla="val 10786536"/>
              <a:gd name="adj2" fmla="val 68641"/>
            </a:avLst>
          </a:prstGeom>
          <a:noFill/>
          <a:ln w="3175" cap="flat" cmpd="sng" algn="ctr">
            <a:solidFill>
              <a:sysClr val="window" lastClr="FFFFFF">
                <a:lumMod val="50000"/>
              </a:sysClr>
            </a:solidFill>
            <a:prstDash val="solid"/>
            <a:headEnd type="none" w="med" len="med"/>
            <a:tailEnd type="triangl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59" name="Rectangle 14"/>
          <p:cNvSpPr>
            <a:spLocks noChangeArrowheads="1"/>
          </p:cNvSpPr>
          <p:nvPr/>
        </p:nvSpPr>
        <p:spPr bwMode="auto">
          <a:xfrm>
            <a:off x="3085049" y="3174821"/>
            <a:ext cx="676062"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solidFill>
                  <a:prstClr val="black"/>
                </a:solidFill>
                <a:effectLst/>
                <a:uLnTx/>
                <a:uFillTx/>
                <a:latin typeface="+mn-ea"/>
              </a:rPr>
              <a:t>의견제출기간</a:t>
            </a:r>
            <a:r>
              <a:rPr kumimoji="0" lang="en-US" altLang="ko-KR" sz="1000" b="0" i="0" u="none" strike="noStrike" kern="0" cap="none" spc="0" normalizeH="0" baseline="0" noProof="0" dirty="0">
                <a:ln>
                  <a:noFill/>
                </a:ln>
                <a:solidFill>
                  <a:prstClr val="black"/>
                </a:solidFill>
                <a:effectLst/>
                <a:uLnTx/>
                <a:uFillTx/>
                <a:latin typeface="+mn-ea"/>
              </a:rPr>
              <a:t>(2</a:t>
            </a:r>
            <a:r>
              <a:rPr kumimoji="0" lang="ko-KR" altLang="en-US" sz="1000" b="0" i="0" u="none" strike="noStrike" kern="0" cap="none" spc="0" normalizeH="0" baseline="0" noProof="0" dirty="0">
                <a:ln>
                  <a:noFill/>
                </a:ln>
                <a:solidFill>
                  <a:prstClr val="black"/>
                </a:solidFill>
                <a:effectLst/>
                <a:uLnTx/>
                <a:uFillTx/>
                <a:latin typeface="+mn-ea"/>
              </a:rPr>
              <a:t>월 </a:t>
            </a:r>
            <a:r>
              <a:rPr lang="ko-KR" altLang="en-US" sz="1000" kern="0" dirty="0">
                <a:solidFill>
                  <a:prstClr val="black"/>
                </a:solidFill>
                <a:latin typeface="+mn-ea"/>
              </a:rPr>
              <a:t>이내</a:t>
            </a:r>
            <a:r>
              <a:rPr kumimoji="0" lang="en-US" altLang="ko-KR" sz="1000" b="0" i="0" u="none" strike="noStrike" kern="0" cap="none" spc="0" normalizeH="0" baseline="0" noProof="0" dirty="0">
                <a:ln>
                  <a:noFill/>
                </a:ln>
                <a:solidFill>
                  <a:prstClr val="black"/>
                </a:solidFill>
                <a:effectLst/>
                <a:uLnTx/>
                <a:uFillTx/>
                <a:latin typeface="+mn-ea"/>
              </a:rPr>
              <a:t>)</a:t>
            </a: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61" name="순서도: 처리 60"/>
          <p:cNvSpPr/>
          <p:nvPr/>
        </p:nvSpPr>
        <p:spPr>
          <a:xfrm>
            <a:off x="845595" y="4801916"/>
            <a:ext cx="549301" cy="213950"/>
          </a:xfrm>
          <a:prstGeom prst="flowChartProcess">
            <a:avLst/>
          </a:prstGeom>
          <a:solidFill>
            <a:schemeClr val="bg1">
              <a:lumMod val="85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A, B</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63" name="순서도: 처리 62"/>
          <p:cNvSpPr/>
          <p:nvPr/>
        </p:nvSpPr>
        <p:spPr>
          <a:xfrm>
            <a:off x="845595" y="4590363"/>
            <a:ext cx="549301" cy="213950"/>
          </a:xfrm>
          <a:prstGeom prst="flowChartProcess">
            <a:avLst/>
          </a:prstGeom>
          <a:solidFill>
            <a:schemeClr val="bg1">
              <a:lumMod val="85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A, B</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64" name="Rectangle 14"/>
          <p:cNvSpPr>
            <a:spLocks noChangeArrowheads="1"/>
          </p:cNvSpPr>
          <p:nvPr/>
        </p:nvSpPr>
        <p:spPr bwMode="auto">
          <a:xfrm>
            <a:off x="2102053" y="4103378"/>
            <a:ext cx="676062"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65" name="Rectangle 14"/>
          <p:cNvSpPr>
            <a:spLocks noChangeArrowheads="1"/>
          </p:cNvSpPr>
          <p:nvPr/>
        </p:nvSpPr>
        <p:spPr bwMode="auto">
          <a:xfrm>
            <a:off x="2109320" y="4103378"/>
            <a:ext cx="676062"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solidFill>
                  <a:prstClr val="black"/>
                </a:solidFill>
                <a:effectLst/>
                <a:uLnTx/>
                <a:uFillTx/>
                <a:latin typeface="+mn-ea"/>
              </a:rPr>
              <a:t>의견서</a:t>
            </a:r>
            <a:r>
              <a:rPr kumimoji="0" lang="en-US" altLang="ko-KR" sz="1000" b="0" i="0" u="none" strike="noStrike" kern="0" cap="none" spc="0" normalizeH="0" baseline="0" noProof="0" dirty="0">
                <a:ln>
                  <a:noFill/>
                </a:ln>
                <a:solidFill>
                  <a:prstClr val="black"/>
                </a:solidFill>
                <a:effectLst/>
                <a:uLnTx/>
                <a:uFillTx/>
                <a:latin typeface="+mn-ea"/>
              </a:rPr>
              <a:t>(X)</a:t>
            </a: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68" name="Rectangle 14"/>
          <p:cNvSpPr>
            <a:spLocks noChangeArrowheads="1"/>
          </p:cNvSpPr>
          <p:nvPr/>
        </p:nvSpPr>
        <p:spPr bwMode="auto">
          <a:xfrm>
            <a:off x="4135432" y="4103378"/>
            <a:ext cx="676062"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solidFill>
                  <a:prstClr val="black"/>
                </a:solidFill>
                <a:effectLst/>
                <a:uLnTx/>
                <a:uFillTx/>
                <a:latin typeface="+mn-ea"/>
              </a:rPr>
              <a:t>보정서</a:t>
            </a:r>
            <a:r>
              <a:rPr kumimoji="0" lang="en-US" altLang="ko-KR" sz="1000" b="0" i="0" u="none" strike="noStrike" kern="0" cap="none" spc="0" normalizeH="0" baseline="0" noProof="0" dirty="0">
                <a:ln>
                  <a:noFill/>
                </a:ln>
                <a:solidFill>
                  <a:prstClr val="black"/>
                </a:solidFill>
                <a:effectLst/>
                <a:uLnTx/>
                <a:uFillTx/>
                <a:latin typeface="+mn-ea"/>
              </a:rPr>
              <a:t>(X)</a:t>
            </a: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0" name="Rectangle 14"/>
          <p:cNvSpPr>
            <a:spLocks noChangeArrowheads="1"/>
          </p:cNvSpPr>
          <p:nvPr/>
        </p:nvSpPr>
        <p:spPr bwMode="auto">
          <a:xfrm>
            <a:off x="3089584" y="4103378"/>
            <a:ext cx="676062"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err="1">
                <a:ln>
                  <a:noFill/>
                </a:ln>
                <a:solidFill>
                  <a:prstClr val="black"/>
                </a:solidFill>
                <a:effectLst/>
                <a:uLnTx/>
                <a:uFillTx/>
                <a:latin typeface="+mn-ea"/>
              </a:rPr>
              <a:t>분할출원</a:t>
            </a:r>
            <a:r>
              <a:rPr kumimoji="0" lang="en-US" altLang="ko-KR" sz="1000" b="0" i="0" u="none" strike="noStrike" kern="0" cap="none" spc="0" normalizeH="0" baseline="0" noProof="0" dirty="0">
                <a:ln>
                  <a:noFill/>
                </a:ln>
                <a:solidFill>
                  <a:prstClr val="black"/>
                </a:solidFill>
                <a:effectLst/>
                <a:uLnTx/>
                <a:uFillTx/>
                <a:latin typeface="+mn-ea"/>
              </a:rPr>
              <a:t>(Y)</a:t>
            </a: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6" name="Rectangle 14"/>
          <p:cNvSpPr>
            <a:spLocks noChangeArrowheads="1"/>
          </p:cNvSpPr>
          <p:nvPr/>
        </p:nvSpPr>
        <p:spPr bwMode="auto">
          <a:xfrm flipV="1">
            <a:off x="1067049" y="3944490"/>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2" name="순서도: 처리 71"/>
          <p:cNvSpPr/>
          <p:nvPr/>
        </p:nvSpPr>
        <p:spPr>
          <a:xfrm>
            <a:off x="3168058" y="4801916"/>
            <a:ext cx="549301" cy="213950"/>
          </a:xfrm>
          <a:prstGeom prst="flowChartProcess">
            <a:avLst/>
          </a:prstGeom>
          <a:solidFill>
            <a:schemeClr val="accent2">
              <a:lumMod val="20000"/>
              <a:lumOff val="80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A, B</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73" name="순서도: 처리 72"/>
          <p:cNvSpPr/>
          <p:nvPr/>
        </p:nvSpPr>
        <p:spPr>
          <a:xfrm>
            <a:off x="3168058" y="4590363"/>
            <a:ext cx="549301" cy="213950"/>
          </a:xfrm>
          <a:prstGeom prst="flowChartProcess">
            <a:avLst/>
          </a:prstGeom>
          <a:solidFill>
            <a:schemeClr val="accent2">
              <a:lumMod val="20000"/>
              <a:lumOff val="80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B</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74" name="순서도: 처리 73"/>
          <p:cNvSpPr/>
          <p:nvPr/>
        </p:nvSpPr>
        <p:spPr>
          <a:xfrm>
            <a:off x="4160521" y="4801916"/>
            <a:ext cx="549301" cy="213950"/>
          </a:xfrm>
          <a:prstGeom prst="flowChartProcess">
            <a:avLst/>
          </a:prstGeom>
          <a:solidFill>
            <a:schemeClr val="bg1">
              <a:lumMod val="85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A, B</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76" name="순서도: 처리 75"/>
          <p:cNvSpPr/>
          <p:nvPr/>
        </p:nvSpPr>
        <p:spPr>
          <a:xfrm>
            <a:off x="4160521" y="4590363"/>
            <a:ext cx="549301" cy="213950"/>
          </a:xfrm>
          <a:prstGeom prst="flowChartProcess">
            <a:avLst/>
          </a:prstGeom>
          <a:solidFill>
            <a:schemeClr val="bg1">
              <a:lumMod val="85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A</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80" name="모서리가 둥근 사각형 설명선 79"/>
          <p:cNvSpPr/>
          <p:nvPr/>
        </p:nvSpPr>
        <p:spPr>
          <a:xfrm>
            <a:off x="423055" y="3104161"/>
            <a:ext cx="1309870" cy="351711"/>
          </a:xfrm>
          <a:prstGeom prst="wedgeRoundRectCallout">
            <a:avLst>
              <a:gd name="adj1" fmla="val 47367"/>
              <a:gd name="adj2" fmla="val 198976"/>
              <a:gd name="adj3" fmla="val 16667"/>
            </a:avLst>
          </a:prstGeom>
          <a:solidFill>
            <a:sysClr val="window" lastClr="FFFFFF"/>
          </a:solidFill>
          <a:ln w="6350" cap="flat" cmpd="sng" algn="ctr">
            <a:solidFill>
              <a:srgbClr val="4F81BD">
                <a:shade val="50000"/>
              </a:srgbClr>
            </a:solidFill>
            <a:prstDash val="sysDo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A</a:t>
            </a:r>
            <a:r>
              <a:rPr kumimoji="0" lang="ko-KR" altLang="en-US" sz="1000" b="0" i="0" u="none" strike="noStrike" kern="0" cap="none" spc="0" normalizeH="0" baseline="0" noProof="0">
                <a:ln>
                  <a:noFill/>
                </a:ln>
                <a:solidFill>
                  <a:prstClr val="black"/>
                </a:solidFill>
                <a:effectLst/>
                <a:uLnTx/>
                <a:uFillTx/>
                <a:latin typeface="+mn-ea"/>
              </a:rPr>
              <a:t>가 진보성 위반이다</a:t>
            </a:r>
            <a:r>
              <a:rPr kumimoji="0" lang="en-US" altLang="ko-KR" sz="1000" b="0" i="0" u="none" strike="noStrike" kern="0" cap="none" spc="0" normalizeH="0" baseline="0" noProof="0" dirty="0">
                <a:ln>
                  <a:noFill/>
                </a:ln>
                <a:solidFill>
                  <a:prstClr val="black"/>
                </a:solidFill>
                <a:effectLst/>
                <a:uLnTx/>
                <a:uFillTx/>
                <a:latin typeface="+mn-ea"/>
              </a:rPr>
              <a:t>.</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81" name="모서리가 둥근 사각형 설명선 80"/>
          <p:cNvSpPr/>
          <p:nvPr/>
        </p:nvSpPr>
        <p:spPr>
          <a:xfrm>
            <a:off x="1474927" y="4754292"/>
            <a:ext cx="1197465" cy="413202"/>
          </a:xfrm>
          <a:prstGeom prst="wedgeRoundRectCallout">
            <a:avLst>
              <a:gd name="adj1" fmla="val 25708"/>
              <a:gd name="adj2" fmla="val -131983"/>
              <a:gd name="adj3" fmla="val 16667"/>
            </a:avLst>
          </a:prstGeom>
          <a:solidFill>
            <a:sysClr val="window" lastClr="FFFFFF"/>
          </a:solidFill>
          <a:ln w="6350" cap="flat" cmpd="sng" algn="ctr">
            <a:solidFill>
              <a:srgbClr val="4F81BD">
                <a:shade val="50000"/>
              </a:srgbClr>
            </a:solidFill>
            <a:prstDash val="sysDo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A</a:t>
            </a:r>
            <a:r>
              <a:rPr kumimoji="0" lang="ko-KR" altLang="en-US" sz="1000" b="0" i="0" u="none" strike="noStrike" kern="0" cap="none" spc="0" normalizeH="0" baseline="0" noProof="0" dirty="0">
                <a:ln>
                  <a:noFill/>
                </a:ln>
                <a:solidFill>
                  <a:prstClr val="black"/>
                </a:solidFill>
                <a:effectLst/>
                <a:uLnTx/>
                <a:uFillTx/>
                <a:latin typeface="+mn-ea"/>
              </a:rPr>
              <a:t>가 진보성 위반이 </a:t>
            </a:r>
            <a:endParaRPr kumimoji="0" lang="en-US" altLang="ko-KR" sz="1000" b="0" i="0" u="none" strike="noStrike" kern="0" cap="none" spc="0" normalizeH="0" baseline="0" noProof="0" dirty="0">
              <a:ln>
                <a:noFill/>
              </a:ln>
              <a:solidFill>
                <a:prstClr val="black"/>
              </a:solidFill>
              <a:effectLst/>
              <a:uLnTx/>
              <a:uFillTx/>
              <a:latin typeface="+mn-ea"/>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solidFill>
                  <a:prstClr val="black"/>
                </a:solidFill>
                <a:effectLst/>
                <a:uLnTx/>
                <a:uFillTx/>
                <a:latin typeface="+mn-ea"/>
              </a:rPr>
              <a:t>아니다</a:t>
            </a:r>
            <a:r>
              <a:rPr kumimoji="0" lang="en-US" altLang="ko-KR" sz="1000" b="0" i="0" u="none" strike="noStrike" kern="0" cap="none" spc="0" normalizeH="0" baseline="0" noProof="0" dirty="0">
                <a:ln>
                  <a:noFill/>
                </a:ln>
                <a:solidFill>
                  <a:prstClr val="black"/>
                </a:solidFill>
                <a:effectLst/>
                <a:uLnTx/>
                <a:uFillTx/>
                <a:latin typeface="+mn-ea"/>
              </a:rPr>
              <a:t>.</a:t>
            </a: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84" name="직선 화살표 연결선 83"/>
          <p:cNvCxnSpPr/>
          <p:nvPr/>
        </p:nvCxnSpPr>
        <p:spPr>
          <a:xfrm>
            <a:off x="6544273" y="3458208"/>
            <a:ext cx="5305086" cy="0"/>
          </a:xfrm>
          <a:prstGeom prst="straightConnector1">
            <a:avLst/>
          </a:prstGeom>
          <a:noFill/>
          <a:ln w="28575" cap="flat" cmpd="sng" algn="ctr">
            <a:solidFill>
              <a:sysClr val="window" lastClr="FFFFFF">
                <a:lumMod val="50000"/>
              </a:sysClr>
            </a:solidFill>
            <a:prstDash val="solid"/>
            <a:headEnd type="none" w="med" len="med"/>
            <a:tailEnd type="triangle"/>
          </a:ln>
          <a:effectLst/>
        </p:spPr>
      </p:cxnSp>
      <p:sp>
        <p:nvSpPr>
          <p:cNvPr id="85" name="Rectangle 14"/>
          <p:cNvSpPr>
            <a:spLocks noChangeArrowheads="1"/>
          </p:cNvSpPr>
          <p:nvPr/>
        </p:nvSpPr>
        <p:spPr bwMode="auto">
          <a:xfrm>
            <a:off x="7030572" y="3560453"/>
            <a:ext cx="707345"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a:ln>
                  <a:noFill/>
                </a:ln>
                <a:solidFill>
                  <a:prstClr val="black"/>
                </a:solidFill>
                <a:effectLst/>
                <a:uLnTx/>
                <a:uFillTx/>
                <a:latin typeface="+mn-ea"/>
              </a:rPr>
              <a:t>출원</a:t>
            </a:r>
            <a:r>
              <a:rPr kumimoji="0" lang="en-US" altLang="ko-KR" sz="1000" b="0" i="0" u="none" strike="noStrike" kern="0" cap="none" spc="0" normalizeH="0" baseline="0" noProof="0" dirty="0">
                <a:ln>
                  <a:noFill/>
                </a:ln>
                <a:solidFill>
                  <a:prstClr val="black"/>
                </a:solidFill>
                <a:effectLst/>
                <a:uLnTx/>
                <a:uFillTx/>
                <a:latin typeface="+mn-ea"/>
              </a:rPr>
              <a:t>(X)</a:t>
            </a: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8" name="Rectangle 14"/>
          <p:cNvSpPr>
            <a:spLocks noChangeArrowheads="1"/>
          </p:cNvSpPr>
          <p:nvPr/>
        </p:nvSpPr>
        <p:spPr bwMode="auto">
          <a:xfrm>
            <a:off x="8672384" y="3637925"/>
            <a:ext cx="707345"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000" kern="0" dirty="0">
                <a:solidFill>
                  <a:prstClr val="black"/>
                </a:solidFill>
                <a:latin typeface="+mn-ea"/>
              </a:rPr>
              <a:t>제</a:t>
            </a:r>
            <a:r>
              <a:rPr lang="en-US" altLang="ko-KR" sz="1000" kern="0" dirty="0">
                <a:solidFill>
                  <a:prstClr val="black"/>
                </a:solidFill>
                <a:latin typeface="+mn-ea"/>
              </a:rPr>
              <a:t>3</a:t>
            </a:r>
            <a:r>
              <a:rPr lang="ko-KR" altLang="en-US" sz="1000" kern="0" dirty="0">
                <a:solidFill>
                  <a:prstClr val="black"/>
                </a:solidFill>
                <a:latin typeface="+mn-ea"/>
              </a:rPr>
              <a:t>자의</a:t>
            </a:r>
            <a:endParaRPr lang="en-US" altLang="ko-KR" sz="1000" kern="0" dirty="0">
              <a:solidFill>
                <a:prstClr val="black"/>
              </a:solidFill>
              <a:latin typeface="+mn-ea"/>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B </a:t>
            </a:r>
            <a:r>
              <a:rPr kumimoji="0" lang="ko-KR" altLang="en-US" sz="1000" b="0" i="0" u="none" strike="noStrike" kern="0" cap="none" spc="0" normalizeH="0" baseline="0" noProof="0" dirty="0">
                <a:ln>
                  <a:noFill/>
                </a:ln>
                <a:solidFill>
                  <a:prstClr val="black"/>
                </a:solidFill>
                <a:effectLst/>
                <a:uLnTx/>
                <a:uFillTx/>
                <a:latin typeface="+mn-ea"/>
              </a:rPr>
              <a:t>공지</a:t>
            </a:r>
            <a:r>
              <a:rPr kumimoji="0" lang="en-US" altLang="ko-KR" sz="1000" b="0" i="0" u="none" strike="noStrike" kern="0" cap="none" spc="0" normalizeH="0" baseline="0" noProof="0" dirty="0">
                <a:ln>
                  <a:noFill/>
                </a:ln>
                <a:solidFill>
                  <a:prstClr val="black"/>
                </a:solidFill>
                <a:effectLst/>
                <a:uLnTx/>
                <a:uFillTx/>
                <a:latin typeface="+mn-ea"/>
              </a:rPr>
              <a:t>/</a:t>
            </a:r>
            <a:r>
              <a:rPr kumimoji="0" lang="ko-KR" altLang="en-US" sz="1000" b="0" i="0" u="none" strike="noStrike" kern="0" cap="none" spc="0" normalizeH="0" baseline="0" noProof="0" dirty="0">
                <a:ln>
                  <a:noFill/>
                </a:ln>
                <a:solidFill>
                  <a:prstClr val="black"/>
                </a:solidFill>
                <a:effectLst/>
                <a:uLnTx/>
                <a:uFillTx/>
                <a:latin typeface="+mn-ea"/>
              </a:rPr>
              <a:t>출원</a:t>
            </a:r>
          </a:p>
        </p:txBody>
      </p:sp>
      <p:sp>
        <p:nvSpPr>
          <p:cNvPr id="95" name="Rectangle 14"/>
          <p:cNvSpPr>
            <a:spLocks noChangeArrowheads="1"/>
          </p:cNvSpPr>
          <p:nvPr/>
        </p:nvSpPr>
        <p:spPr bwMode="auto">
          <a:xfrm>
            <a:off x="8323965" y="3560453"/>
            <a:ext cx="707345"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6" name="Rectangle 14"/>
          <p:cNvSpPr>
            <a:spLocks noChangeArrowheads="1"/>
          </p:cNvSpPr>
          <p:nvPr/>
        </p:nvSpPr>
        <p:spPr bwMode="auto">
          <a:xfrm>
            <a:off x="10234208" y="3560453"/>
            <a:ext cx="707345"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a:ln>
                  <a:noFill/>
                </a:ln>
                <a:solidFill>
                  <a:prstClr val="black"/>
                </a:solidFill>
                <a:effectLst/>
                <a:uLnTx/>
                <a:uFillTx/>
                <a:latin typeface="+mn-ea"/>
              </a:rPr>
              <a:t>분할출원</a:t>
            </a:r>
            <a:r>
              <a:rPr kumimoji="0" lang="en-US" altLang="ko-KR" sz="1000" b="0" i="0" u="none" strike="noStrike" kern="0" cap="none" spc="0" normalizeH="0" baseline="0" noProof="0" dirty="0">
                <a:ln>
                  <a:noFill/>
                </a:ln>
                <a:solidFill>
                  <a:prstClr val="black"/>
                </a:solidFill>
                <a:effectLst/>
                <a:uLnTx/>
                <a:uFillTx/>
                <a:latin typeface="+mn-ea"/>
              </a:rPr>
              <a:t>(Y)</a:t>
            </a: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00" name="직선 연결선 99"/>
          <p:cNvCxnSpPr/>
          <p:nvPr/>
        </p:nvCxnSpPr>
        <p:spPr>
          <a:xfrm>
            <a:off x="6109281" y="1095555"/>
            <a:ext cx="0" cy="553598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Rectangle 5"/>
          <p:cNvSpPr>
            <a:spLocks noChangeArrowheads="1"/>
          </p:cNvSpPr>
          <p:nvPr/>
        </p:nvSpPr>
        <p:spPr bwMode="auto">
          <a:xfrm>
            <a:off x="347687" y="1265255"/>
            <a:ext cx="1843001"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a:solidFill>
                  <a:schemeClr val="bg1"/>
                </a:solidFill>
                <a:latin typeface="+mj-ea"/>
                <a:ea typeface="+mj-ea"/>
              </a:rPr>
              <a:t>거절이유 </a:t>
            </a:r>
            <a:r>
              <a:rPr lang="ko-KR" altLang="en-US" sz="1600" dirty="0" err="1">
                <a:solidFill>
                  <a:schemeClr val="bg1"/>
                </a:solidFill>
                <a:latin typeface="+mj-ea"/>
                <a:ea typeface="+mj-ea"/>
              </a:rPr>
              <a:t>대응형</a:t>
            </a:r>
            <a:endParaRPr lang="ko-KR" altLang="en-US" sz="1600" b="0" dirty="0">
              <a:solidFill>
                <a:schemeClr val="bg1"/>
              </a:solidFill>
              <a:latin typeface="+mj-ea"/>
              <a:ea typeface="+mj-ea"/>
            </a:endParaRPr>
          </a:p>
        </p:txBody>
      </p:sp>
      <p:sp>
        <p:nvSpPr>
          <p:cNvPr id="102" name="Rectangle 5"/>
          <p:cNvSpPr>
            <a:spLocks noChangeArrowheads="1"/>
          </p:cNvSpPr>
          <p:nvPr/>
        </p:nvSpPr>
        <p:spPr bwMode="auto">
          <a:xfrm>
            <a:off x="6637457" y="1265255"/>
            <a:ext cx="1843001"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a:solidFill>
                  <a:schemeClr val="bg1"/>
                </a:solidFill>
                <a:latin typeface="+mj-ea"/>
                <a:ea typeface="+mj-ea"/>
              </a:rPr>
              <a:t>권리범위 </a:t>
            </a:r>
            <a:r>
              <a:rPr lang="ko-KR" altLang="en-US" sz="1600" dirty="0" err="1">
                <a:solidFill>
                  <a:schemeClr val="bg1"/>
                </a:solidFill>
                <a:latin typeface="+mj-ea"/>
                <a:ea typeface="+mj-ea"/>
              </a:rPr>
              <a:t>재설계형</a:t>
            </a:r>
            <a:endParaRPr lang="ko-KR" altLang="en-US" sz="1600" b="0" dirty="0">
              <a:solidFill>
                <a:schemeClr val="bg1"/>
              </a:solidFill>
              <a:latin typeface="+mj-ea"/>
              <a:ea typeface="+mj-ea"/>
            </a:endParaRPr>
          </a:p>
        </p:txBody>
      </p:sp>
      <p:sp>
        <p:nvSpPr>
          <p:cNvPr id="103" name="Rectangle 14"/>
          <p:cNvSpPr>
            <a:spLocks noChangeArrowheads="1"/>
          </p:cNvSpPr>
          <p:nvPr/>
        </p:nvSpPr>
        <p:spPr bwMode="auto">
          <a:xfrm flipV="1">
            <a:off x="1686751" y="3944490"/>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4" name="Rectangle 14"/>
          <p:cNvSpPr>
            <a:spLocks noChangeArrowheads="1"/>
          </p:cNvSpPr>
          <p:nvPr/>
        </p:nvSpPr>
        <p:spPr bwMode="auto">
          <a:xfrm flipV="1">
            <a:off x="2368366" y="3944490"/>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5" name="Rectangle 14"/>
          <p:cNvSpPr>
            <a:spLocks noChangeArrowheads="1"/>
          </p:cNvSpPr>
          <p:nvPr/>
        </p:nvSpPr>
        <p:spPr bwMode="auto">
          <a:xfrm flipV="1">
            <a:off x="4410307" y="3944490"/>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6" name="Rectangle 14"/>
          <p:cNvSpPr>
            <a:spLocks noChangeArrowheads="1"/>
          </p:cNvSpPr>
          <p:nvPr/>
        </p:nvSpPr>
        <p:spPr bwMode="auto">
          <a:xfrm flipV="1">
            <a:off x="3358135" y="3944490"/>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7" name="Rectangle 14"/>
          <p:cNvSpPr>
            <a:spLocks noChangeArrowheads="1"/>
          </p:cNvSpPr>
          <p:nvPr/>
        </p:nvSpPr>
        <p:spPr bwMode="auto">
          <a:xfrm flipV="1">
            <a:off x="7312625" y="3401565"/>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8" name="Rectangle 14"/>
          <p:cNvSpPr>
            <a:spLocks noChangeArrowheads="1"/>
          </p:cNvSpPr>
          <p:nvPr/>
        </p:nvSpPr>
        <p:spPr bwMode="auto">
          <a:xfrm flipV="1">
            <a:off x="8949719" y="3401565"/>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23" name="Rectangle 14"/>
          <p:cNvSpPr>
            <a:spLocks noChangeArrowheads="1"/>
          </p:cNvSpPr>
          <p:nvPr/>
        </p:nvSpPr>
        <p:spPr bwMode="auto">
          <a:xfrm flipV="1">
            <a:off x="10528515" y="3401565"/>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32" name="순서도: 처리 131"/>
          <p:cNvSpPr/>
          <p:nvPr/>
        </p:nvSpPr>
        <p:spPr>
          <a:xfrm>
            <a:off x="7095977" y="4211366"/>
            <a:ext cx="549301" cy="213950"/>
          </a:xfrm>
          <a:prstGeom prst="flowChartProcess">
            <a:avLst/>
          </a:prstGeom>
          <a:solidFill>
            <a:schemeClr val="bg1">
              <a:lumMod val="85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A, B</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134" name="순서도: 처리 133"/>
          <p:cNvSpPr/>
          <p:nvPr/>
        </p:nvSpPr>
        <p:spPr>
          <a:xfrm>
            <a:off x="7095977" y="3999813"/>
            <a:ext cx="549301" cy="213950"/>
          </a:xfrm>
          <a:prstGeom prst="flowChartProcess">
            <a:avLst/>
          </a:prstGeom>
          <a:solidFill>
            <a:schemeClr val="bg1">
              <a:lumMod val="85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A</a:t>
            </a: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35" name="순서도: 처리 134"/>
          <p:cNvSpPr/>
          <p:nvPr/>
        </p:nvSpPr>
        <p:spPr>
          <a:xfrm>
            <a:off x="10313820" y="4211366"/>
            <a:ext cx="549301" cy="213950"/>
          </a:xfrm>
          <a:prstGeom prst="flowChartProcess">
            <a:avLst/>
          </a:prstGeom>
          <a:solidFill>
            <a:schemeClr val="accent2">
              <a:lumMod val="20000"/>
              <a:lumOff val="80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A, B</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137" name="순서도: 처리 136"/>
          <p:cNvSpPr/>
          <p:nvPr/>
        </p:nvSpPr>
        <p:spPr>
          <a:xfrm>
            <a:off x="10313820" y="3999813"/>
            <a:ext cx="549301" cy="213950"/>
          </a:xfrm>
          <a:prstGeom prst="flowChartProcess">
            <a:avLst/>
          </a:prstGeom>
          <a:solidFill>
            <a:schemeClr val="accent2">
              <a:lumMod val="20000"/>
              <a:lumOff val="80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B</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142" name="직사각형 141"/>
          <p:cNvSpPr/>
          <p:nvPr/>
        </p:nvSpPr>
        <p:spPr>
          <a:xfrm>
            <a:off x="6497426" y="5715680"/>
            <a:ext cx="5347439" cy="738664"/>
          </a:xfrm>
          <a:prstGeom prst="rect">
            <a:avLst/>
          </a:prstGeom>
          <a:solidFill>
            <a:schemeClr val="bg1">
              <a:lumMod val="95000"/>
            </a:schemeClr>
          </a:solidFill>
          <a:ln>
            <a:solidFill>
              <a:schemeClr val="bg1">
                <a:lumMod val="50000"/>
              </a:schemeClr>
            </a:solidFill>
          </a:ln>
        </p:spPr>
        <p:txBody>
          <a:bodyPr wrap="square">
            <a:spAutoFit/>
          </a:bodyPr>
          <a:lstStyle/>
          <a:p>
            <a:pPr algn="just" fontAlgn="base"/>
            <a:r>
              <a:rPr lang="ko-KR" altLang="en-US" sz="1400" kern="0" dirty="0">
                <a:solidFill>
                  <a:srgbClr val="000000"/>
                </a:solidFill>
                <a:latin typeface="+mn-ea"/>
              </a:rPr>
              <a:t>발명의 설명 또는 도면에만 기재된 발명을 보호받기 위한 조치로는 </a:t>
            </a:r>
            <a:r>
              <a:rPr lang="ko-KR" altLang="en-US" sz="1400" kern="0" dirty="0" err="1">
                <a:solidFill>
                  <a:srgbClr val="000000"/>
                </a:solidFill>
                <a:latin typeface="+mn-ea"/>
              </a:rPr>
              <a:t>별도출원</a:t>
            </a:r>
            <a:r>
              <a:rPr lang="en-US" altLang="ko-KR" sz="1400" kern="0" dirty="0">
                <a:solidFill>
                  <a:srgbClr val="000000"/>
                </a:solidFill>
                <a:latin typeface="+mn-ea"/>
              </a:rPr>
              <a:t>, </a:t>
            </a:r>
            <a:r>
              <a:rPr lang="ko-KR" altLang="en-US" sz="1400" kern="0" dirty="0">
                <a:solidFill>
                  <a:srgbClr val="000000"/>
                </a:solidFill>
                <a:latin typeface="+mn-ea"/>
              </a:rPr>
              <a:t>보정</a:t>
            </a:r>
            <a:r>
              <a:rPr lang="en-US" altLang="ko-KR" sz="1400" kern="0" dirty="0">
                <a:solidFill>
                  <a:srgbClr val="000000"/>
                </a:solidFill>
                <a:latin typeface="+mn-ea"/>
              </a:rPr>
              <a:t>, </a:t>
            </a:r>
            <a:r>
              <a:rPr lang="ko-KR" altLang="en-US" sz="1400" kern="0" dirty="0" err="1">
                <a:solidFill>
                  <a:srgbClr val="000000"/>
                </a:solidFill>
                <a:latin typeface="+mn-ea"/>
              </a:rPr>
              <a:t>분할출원</a:t>
            </a:r>
            <a:r>
              <a:rPr lang="en-US" altLang="ko-KR" sz="1400" kern="0" dirty="0">
                <a:solidFill>
                  <a:srgbClr val="000000"/>
                </a:solidFill>
                <a:latin typeface="+mn-ea"/>
              </a:rPr>
              <a:t>, </a:t>
            </a:r>
            <a:r>
              <a:rPr lang="ko-KR" altLang="en-US" sz="1400" kern="0" dirty="0">
                <a:solidFill>
                  <a:srgbClr val="000000"/>
                </a:solidFill>
                <a:latin typeface="+mn-ea"/>
              </a:rPr>
              <a:t>우선권주장출원 등이 있으며</a:t>
            </a:r>
            <a:r>
              <a:rPr lang="en-US" altLang="ko-KR" sz="1400" kern="0" dirty="0">
                <a:solidFill>
                  <a:srgbClr val="000000"/>
                </a:solidFill>
                <a:latin typeface="+mn-ea"/>
              </a:rPr>
              <a:t>, </a:t>
            </a:r>
            <a:r>
              <a:rPr lang="ko-KR" altLang="en-US" sz="1400" kern="0" dirty="0">
                <a:solidFill>
                  <a:srgbClr val="000000"/>
                </a:solidFill>
                <a:latin typeface="+mn-ea"/>
              </a:rPr>
              <a:t>각 제도의 장단점을 분석하여 대응방안을 모색함</a:t>
            </a:r>
          </a:p>
        </p:txBody>
      </p:sp>
      <p:sp>
        <p:nvSpPr>
          <p:cNvPr id="144" name="순서도: 처리 143"/>
          <p:cNvSpPr/>
          <p:nvPr/>
        </p:nvSpPr>
        <p:spPr>
          <a:xfrm>
            <a:off x="7095124" y="4917870"/>
            <a:ext cx="549301" cy="213950"/>
          </a:xfrm>
          <a:prstGeom prst="flowChartProcess">
            <a:avLst/>
          </a:prstGeom>
          <a:solidFill>
            <a:schemeClr val="accent2">
              <a:lumMod val="20000"/>
              <a:lumOff val="80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A, B</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145" name="순서도: 처리 144"/>
          <p:cNvSpPr/>
          <p:nvPr/>
        </p:nvSpPr>
        <p:spPr>
          <a:xfrm>
            <a:off x="7095124" y="4706317"/>
            <a:ext cx="549301" cy="213950"/>
          </a:xfrm>
          <a:prstGeom prst="flowChartProcess">
            <a:avLst/>
          </a:prstGeom>
          <a:solidFill>
            <a:schemeClr val="accent2">
              <a:lumMod val="20000"/>
              <a:lumOff val="80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B</a:t>
            </a:r>
            <a:endParaRPr kumimoji="0" lang="ko-KR" altLang="en-US" sz="1000" b="0" i="0" u="none" strike="noStrike" kern="0" cap="none" spc="0" normalizeH="0" baseline="0" noProof="0">
              <a:ln>
                <a:noFill/>
              </a:ln>
              <a:solidFill>
                <a:prstClr val="black"/>
              </a:solidFill>
              <a:effectLst/>
              <a:uLnTx/>
              <a:uFillTx/>
              <a:latin typeface="+mn-ea"/>
            </a:endParaRPr>
          </a:p>
        </p:txBody>
      </p:sp>
      <p:cxnSp>
        <p:nvCxnSpPr>
          <p:cNvPr id="11" name="직선 화살표 연결선 10"/>
          <p:cNvCxnSpPr/>
          <p:nvPr/>
        </p:nvCxnSpPr>
        <p:spPr>
          <a:xfrm flipH="1">
            <a:off x="7737917" y="4211366"/>
            <a:ext cx="2496291" cy="706504"/>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8540627" y="4243410"/>
            <a:ext cx="873957" cy="646331"/>
          </a:xfrm>
          <a:prstGeom prst="rect">
            <a:avLst/>
          </a:prstGeom>
          <a:solidFill>
            <a:schemeClr val="bg1"/>
          </a:solidFill>
        </p:spPr>
        <p:txBody>
          <a:bodyPr wrap="none" rtlCol="0">
            <a:spAutoFit/>
          </a:bodyPr>
          <a:lstStyle/>
          <a:p>
            <a:r>
              <a:rPr lang="ko-KR" altLang="en-US" dirty="0">
                <a:solidFill>
                  <a:srgbClr val="FF0000"/>
                </a:solidFill>
              </a:rPr>
              <a:t>출원일 </a:t>
            </a:r>
            <a:endParaRPr lang="en-US" altLang="ko-KR" dirty="0">
              <a:solidFill>
                <a:srgbClr val="FF0000"/>
              </a:solidFill>
            </a:endParaRPr>
          </a:p>
          <a:p>
            <a:r>
              <a:rPr lang="ko-KR" altLang="en-US" dirty="0">
                <a:solidFill>
                  <a:srgbClr val="FF0000"/>
                </a:solidFill>
              </a:rPr>
              <a:t>소급효</a:t>
            </a:r>
          </a:p>
        </p:txBody>
      </p:sp>
      <p:cxnSp>
        <p:nvCxnSpPr>
          <p:cNvPr id="149" name="직선 화살표 연결선 148"/>
          <p:cNvCxnSpPr/>
          <p:nvPr/>
        </p:nvCxnSpPr>
        <p:spPr>
          <a:xfrm flipH="1">
            <a:off x="1456198" y="4889741"/>
            <a:ext cx="1628851" cy="996380"/>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a:off x="1803347" y="5242187"/>
            <a:ext cx="873957" cy="646331"/>
          </a:xfrm>
          <a:prstGeom prst="rect">
            <a:avLst/>
          </a:prstGeom>
          <a:solidFill>
            <a:schemeClr val="bg1"/>
          </a:solidFill>
        </p:spPr>
        <p:txBody>
          <a:bodyPr wrap="none" rtlCol="0">
            <a:spAutoFit/>
          </a:bodyPr>
          <a:lstStyle/>
          <a:p>
            <a:r>
              <a:rPr lang="ko-KR" altLang="en-US" dirty="0">
                <a:solidFill>
                  <a:srgbClr val="FF0000"/>
                </a:solidFill>
              </a:rPr>
              <a:t>출원일 </a:t>
            </a:r>
            <a:endParaRPr lang="en-US" altLang="ko-KR" dirty="0">
              <a:solidFill>
                <a:srgbClr val="FF0000"/>
              </a:solidFill>
            </a:endParaRPr>
          </a:p>
          <a:p>
            <a:r>
              <a:rPr lang="ko-KR" altLang="en-US" dirty="0">
                <a:solidFill>
                  <a:srgbClr val="FF0000"/>
                </a:solidFill>
              </a:rPr>
              <a:t>소급효</a:t>
            </a:r>
          </a:p>
        </p:txBody>
      </p:sp>
      <p:sp>
        <p:nvSpPr>
          <p:cNvPr id="153" name="순서도: 처리 152"/>
          <p:cNvSpPr/>
          <p:nvPr/>
        </p:nvSpPr>
        <p:spPr>
          <a:xfrm>
            <a:off x="855283" y="5886121"/>
            <a:ext cx="549301" cy="213950"/>
          </a:xfrm>
          <a:prstGeom prst="flowChartProcess">
            <a:avLst/>
          </a:prstGeom>
          <a:solidFill>
            <a:schemeClr val="accent2">
              <a:lumMod val="20000"/>
              <a:lumOff val="80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A, B</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155" name="순서도: 처리 154"/>
          <p:cNvSpPr/>
          <p:nvPr/>
        </p:nvSpPr>
        <p:spPr>
          <a:xfrm>
            <a:off x="855283" y="5674568"/>
            <a:ext cx="549301" cy="213950"/>
          </a:xfrm>
          <a:prstGeom prst="flowChartProcess">
            <a:avLst/>
          </a:prstGeom>
          <a:solidFill>
            <a:schemeClr val="accent2">
              <a:lumMod val="20000"/>
              <a:lumOff val="80000"/>
            </a:schemeClr>
          </a:solidFill>
          <a:ln w="3175" cap="flat" cmpd="sng" algn="ctr">
            <a:solidFill>
              <a:schemeClr val="bg1">
                <a:lumMod val="5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0" normalizeH="0" baseline="0" noProof="0" dirty="0">
                <a:ln>
                  <a:noFill/>
                </a:ln>
                <a:solidFill>
                  <a:prstClr val="black"/>
                </a:solidFill>
                <a:effectLst/>
                <a:uLnTx/>
                <a:uFillTx/>
                <a:latin typeface="+mn-ea"/>
              </a:rPr>
              <a:t>B</a:t>
            </a:r>
            <a:endParaRPr kumimoji="0" lang="ko-KR" altLang="en-US" sz="1000" b="0" i="0" u="none" strike="noStrike" kern="0" cap="none" spc="0" normalizeH="0" baseline="0" noProof="0">
              <a:ln>
                <a:noFill/>
              </a:ln>
              <a:solidFill>
                <a:prstClr val="black"/>
              </a:solidFill>
              <a:effectLst/>
              <a:uLnTx/>
              <a:uFillTx/>
              <a:latin typeface="+mn-ea"/>
            </a:endParaRPr>
          </a:p>
        </p:txBody>
      </p:sp>
      <p:sp>
        <p:nvSpPr>
          <p:cNvPr id="57" name="모서리가 둥근 사각형 설명선 56"/>
          <p:cNvSpPr/>
          <p:nvPr/>
        </p:nvSpPr>
        <p:spPr>
          <a:xfrm>
            <a:off x="3568522" y="5366740"/>
            <a:ext cx="1197465" cy="413202"/>
          </a:xfrm>
          <a:prstGeom prst="wedgeRoundRectCallout">
            <a:avLst>
              <a:gd name="adj1" fmla="val 25708"/>
              <a:gd name="adj2" fmla="val -131983"/>
              <a:gd name="adj3" fmla="val 16667"/>
            </a:avLst>
          </a:prstGeom>
          <a:solidFill>
            <a:sysClr val="window" lastClr="FFFFFF"/>
          </a:solidFill>
          <a:ln w="6350" cap="flat" cmpd="sng" algn="ctr">
            <a:solidFill>
              <a:srgbClr val="4F81BD">
                <a:shade val="50000"/>
              </a:srgbClr>
            </a:solidFill>
            <a:prstDash val="sysDo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err="1">
                <a:ln>
                  <a:noFill/>
                </a:ln>
                <a:solidFill>
                  <a:prstClr val="black"/>
                </a:solidFill>
                <a:effectLst/>
                <a:uLnTx/>
                <a:uFillTx/>
                <a:latin typeface="+mn-ea"/>
              </a:rPr>
              <a:t>협의제</a:t>
            </a:r>
            <a:r>
              <a:rPr kumimoji="0" lang="ko-KR" altLang="en-US" sz="1000" b="0" i="0" u="none" strike="noStrike" kern="0" cap="none" spc="0" normalizeH="0" baseline="0" noProof="0" dirty="0">
                <a:ln>
                  <a:noFill/>
                </a:ln>
                <a:solidFill>
                  <a:prstClr val="black"/>
                </a:solidFill>
                <a:effectLst/>
                <a:uLnTx/>
                <a:uFillTx/>
                <a:latin typeface="+mn-ea"/>
              </a:rPr>
              <a:t> 회피 방안</a:t>
            </a:r>
          </a:p>
        </p:txBody>
      </p:sp>
      <p:sp>
        <p:nvSpPr>
          <p:cNvPr id="60" name="Rectangle 14"/>
          <p:cNvSpPr>
            <a:spLocks noChangeArrowheads="1"/>
          </p:cNvSpPr>
          <p:nvPr/>
        </p:nvSpPr>
        <p:spPr bwMode="auto">
          <a:xfrm>
            <a:off x="780136" y="6067049"/>
            <a:ext cx="676062"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solidFill>
                  <a:prstClr val="black"/>
                </a:solidFill>
                <a:effectLst/>
                <a:uLnTx/>
                <a:uFillTx/>
                <a:latin typeface="+mn-ea"/>
              </a:rPr>
              <a:t>출원</a:t>
            </a:r>
            <a:r>
              <a:rPr kumimoji="0" lang="en-US" altLang="ko-KR" sz="1000" b="0" i="0" u="none" strike="noStrike" kern="0" cap="none" spc="0" normalizeH="0" baseline="0" noProof="0" dirty="0">
                <a:ln>
                  <a:noFill/>
                </a:ln>
                <a:solidFill>
                  <a:prstClr val="black"/>
                </a:solidFill>
                <a:effectLst/>
                <a:uLnTx/>
                <a:uFillTx/>
                <a:latin typeface="+mn-ea"/>
              </a:rPr>
              <a:t>(Y)</a:t>
            </a: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62" name="Rectangle 14"/>
          <p:cNvSpPr>
            <a:spLocks noChangeArrowheads="1"/>
          </p:cNvSpPr>
          <p:nvPr/>
        </p:nvSpPr>
        <p:spPr bwMode="auto">
          <a:xfrm>
            <a:off x="7048748" y="5108153"/>
            <a:ext cx="676062" cy="366818"/>
          </a:xfrm>
          <a:prstGeom prst="rect">
            <a:avLst/>
          </a:prstGeom>
          <a:no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0" normalizeH="0" baseline="0" noProof="0" dirty="0">
                <a:ln>
                  <a:noFill/>
                </a:ln>
                <a:solidFill>
                  <a:prstClr val="black"/>
                </a:solidFill>
                <a:effectLst/>
                <a:uLnTx/>
                <a:uFillTx/>
                <a:latin typeface="+mn-ea"/>
              </a:rPr>
              <a:t>출원</a:t>
            </a:r>
            <a:r>
              <a:rPr kumimoji="0" lang="en-US" altLang="ko-KR" sz="1000" b="0" i="0" u="none" strike="noStrike" kern="0" cap="none" spc="0" normalizeH="0" baseline="0" noProof="0" dirty="0">
                <a:ln>
                  <a:noFill/>
                </a:ln>
                <a:solidFill>
                  <a:prstClr val="black"/>
                </a:solidFill>
                <a:effectLst/>
                <a:uLnTx/>
                <a:uFillTx/>
                <a:latin typeface="+mn-ea"/>
              </a:rPr>
              <a:t>(Y)</a:t>
            </a: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2" name="슬라이드 번호 개체 틀 1"/>
          <p:cNvSpPr>
            <a:spLocks noGrp="1"/>
          </p:cNvSpPr>
          <p:nvPr>
            <p:ph type="sldNum" sz="quarter" idx="12"/>
          </p:nvPr>
        </p:nvSpPr>
        <p:spPr/>
        <p:txBody>
          <a:bodyPr/>
          <a:lstStyle/>
          <a:p>
            <a:r>
              <a:rPr lang="en-US" altLang="ko-KR"/>
              <a:t>190</a:t>
            </a:r>
            <a:endParaRPr lang="ko-KR" altLang="en-US"/>
          </a:p>
        </p:txBody>
      </p:sp>
    </p:spTree>
    <p:extLst>
      <p:ext uri="{BB962C8B-B14F-4D97-AF65-F5344CB8AC3E}">
        <p14:creationId xmlns:p14="http://schemas.microsoft.com/office/powerpoint/2010/main" val="999342579"/>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52</a:t>
            </a:r>
            <a:r>
              <a:rPr lang="ko-KR" altLang="en-US" dirty="0"/>
              <a:t>조</a:t>
            </a:r>
          </a:p>
        </p:txBody>
      </p:sp>
      <p:sp>
        <p:nvSpPr>
          <p:cNvPr id="5" name="텍스트 개체 틀 4"/>
          <p:cNvSpPr>
            <a:spLocks noGrp="1"/>
          </p:cNvSpPr>
          <p:nvPr>
            <p:ph type="body" sz="quarter" idx="13"/>
          </p:nvPr>
        </p:nvSpPr>
        <p:spPr/>
        <p:txBody>
          <a:bodyPr/>
          <a:lstStyle/>
          <a:p>
            <a:r>
              <a:rPr lang="ko-KR" altLang="en-US" dirty="0" err="1"/>
              <a:t>분할출원</a:t>
            </a:r>
            <a:r>
              <a:rPr lang="ko-KR" altLang="en-US" dirty="0"/>
              <a:t> 당시</a:t>
            </a:r>
            <a:r>
              <a:rPr lang="en-US" altLang="ko-KR" dirty="0"/>
              <a:t>(</a:t>
            </a:r>
            <a:r>
              <a:rPr lang="ko-KR" altLang="en-US" dirty="0" err="1"/>
              <a:t>분할출원할</a:t>
            </a:r>
            <a:r>
              <a:rPr lang="ko-KR" altLang="en-US" dirty="0"/>
              <a:t> 때</a:t>
            </a:r>
            <a:r>
              <a:rPr lang="en-US" altLang="ko-KR" dirty="0"/>
              <a:t>)</a:t>
            </a:r>
            <a:endParaRPr lang="ko-KR" altLang="en-US" dirty="0"/>
          </a:p>
        </p:txBody>
      </p:sp>
      <p:sp>
        <p:nvSpPr>
          <p:cNvPr id="57" name="TextBox 56"/>
          <p:cNvSpPr txBox="1"/>
          <p:nvPr/>
        </p:nvSpPr>
        <p:spPr>
          <a:xfrm>
            <a:off x="77875" y="986046"/>
            <a:ext cx="11936323" cy="954107"/>
          </a:xfrm>
          <a:prstGeom prst="rect">
            <a:avLst/>
          </a:prstGeom>
          <a:noFill/>
        </p:spPr>
        <p:txBody>
          <a:bodyPr wrap="square" rtlCol="0">
            <a:spAutoFit/>
          </a:bodyPr>
          <a:lstStyle/>
          <a:p>
            <a:pPr fontAlgn="base"/>
            <a:r>
              <a:rPr lang="ko-KR" altLang="en-US" sz="1400" dirty="0">
                <a:solidFill>
                  <a:schemeClr val="tx2"/>
                </a:solidFill>
              </a:rPr>
              <a:t>원특허출원의 「</a:t>
            </a:r>
            <a:r>
              <a:rPr lang="ko-KR" altLang="en-US" sz="1400" dirty="0" err="1">
                <a:solidFill>
                  <a:schemeClr val="tx2"/>
                </a:solidFill>
              </a:rPr>
              <a:t>특허출원인」이</a:t>
            </a:r>
            <a:r>
              <a:rPr lang="ko-KR" altLang="en-US" sz="1400" dirty="0">
                <a:solidFill>
                  <a:schemeClr val="tx2"/>
                </a:solidFill>
              </a:rPr>
              <a:t> </a:t>
            </a:r>
            <a:r>
              <a:rPr lang="ko-KR" altLang="en-US" sz="1400" dirty="0" err="1">
                <a:solidFill>
                  <a:schemeClr val="tx2"/>
                </a:solidFill>
              </a:rPr>
              <a:t>분할출원을</a:t>
            </a:r>
            <a:r>
              <a:rPr lang="ko-KR" altLang="en-US" sz="1400" dirty="0">
                <a:solidFill>
                  <a:schemeClr val="tx2"/>
                </a:solidFill>
              </a:rPr>
              <a:t> 할 수 있다</a:t>
            </a:r>
            <a:r>
              <a:rPr lang="en-US" altLang="ko-KR" sz="1400" dirty="0">
                <a:solidFill>
                  <a:schemeClr val="tx2"/>
                </a:solidFill>
              </a:rPr>
              <a:t>. </a:t>
            </a:r>
            <a:r>
              <a:rPr lang="ko-KR" altLang="en-US" sz="1400" dirty="0">
                <a:solidFill>
                  <a:schemeClr val="tx2"/>
                </a:solidFill>
              </a:rPr>
              <a:t>즉</a:t>
            </a:r>
            <a:r>
              <a:rPr lang="en-US" altLang="ko-KR" sz="1400" dirty="0">
                <a:solidFill>
                  <a:schemeClr val="tx2"/>
                </a:solidFill>
              </a:rPr>
              <a:t>, </a:t>
            </a:r>
            <a:r>
              <a:rPr lang="ko-KR" altLang="en-US" sz="1400" dirty="0" err="1">
                <a:solidFill>
                  <a:schemeClr val="tx2"/>
                </a:solidFill>
                <a:highlight>
                  <a:srgbClr val="FFFF00"/>
                </a:highlight>
              </a:rPr>
              <a:t>분할출원</a:t>
            </a:r>
            <a:r>
              <a:rPr lang="ko-KR" altLang="en-US" sz="1400" dirty="0">
                <a:solidFill>
                  <a:schemeClr val="tx2"/>
                </a:solidFill>
                <a:highlight>
                  <a:srgbClr val="FFFF00"/>
                </a:highlight>
              </a:rPr>
              <a:t> 당시 분할출원인은 </a:t>
            </a:r>
            <a:r>
              <a:rPr lang="ko-KR" altLang="en-US" sz="1400" dirty="0" err="1">
                <a:solidFill>
                  <a:schemeClr val="tx2"/>
                </a:solidFill>
                <a:highlight>
                  <a:srgbClr val="FFFF00"/>
                </a:highlight>
              </a:rPr>
              <a:t>원출원의</a:t>
            </a:r>
            <a:r>
              <a:rPr lang="ko-KR" altLang="en-US" sz="1400" dirty="0">
                <a:solidFill>
                  <a:schemeClr val="tx2"/>
                </a:solidFill>
                <a:highlight>
                  <a:srgbClr val="FFFF00"/>
                </a:highlight>
              </a:rPr>
              <a:t> 출원인 또는 그 승계인과 동일인</a:t>
            </a:r>
            <a:r>
              <a:rPr lang="ko-KR" altLang="en-US" sz="1400" dirty="0">
                <a:solidFill>
                  <a:schemeClr val="tx2"/>
                </a:solidFill>
              </a:rPr>
              <a:t>이어야 한다</a:t>
            </a:r>
            <a:r>
              <a:rPr lang="en-US" altLang="ko-KR" sz="1400" dirty="0">
                <a:solidFill>
                  <a:schemeClr val="tx2"/>
                </a:solidFill>
              </a:rPr>
              <a:t>. </a:t>
            </a:r>
          </a:p>
          <a:p>
            <a:pPr fontAlgn="base"/>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a:t>
            </a:r>
            <a:r>
              <a:rPr lang="ko-KR" altLang="en-US" sz="1400" dirty="0" err="1">
                <a:solidFill>
                  <a:schemeClr val="tx2"/>
                </a:solidFill>
              </a:rPr>
              <a:t>분할출원</a:t>
            </a:r>
            <a:r>
              <a:rPr lang="ko-KR" altLang="en-US" sz="1400" dirty="0">
                <a:solidFill>
                  <a:schemeClr val="tx2"/>
                </a:solidFill>
              </a:rPr>
              <a:t> 당시」 </a:t>
            </a:r>
            <a:r>
              <a:rPr lang="ko-KR" altLang="en-US" sz="1400" dirty="0" err="1">
                <a:solidFill>
                  <a:schemeClr val="tx2"/>
                </a:solidFill>
              </a:rPr>
              <a:t>원출원이</a:t>
            </a:r>
            <a:r>
              <a:rPr lang="ko-KR" altLang="en-US" sz="1400" dirty="0">
                <a:solidFill>
                  <a:schemeClr val="tx2"/>
                </a:solidFill>
              </a:rPr>
              <a:t> 적법하게 </a:t>
            </a:r>
            <a:r>
              <a:rPr lang="ko-KR" altLang="en-US" sz="1400" dirty="0" err="1">
                <a:solidFill>
                  <a:schemeClr val="tx2"/>
                </a:solidFill>
              </a:rPr>
              <a:t>출원계속</a:t>
            </a:r>
            <a:r>
              <a:rPr lang="ko-KR" altLang="en-US" sz="1400" dirty="0">
                <a:solidFill>
                  <a:schemeClr val="tx2"/>
                </a:solidFill>
              </a:rPr>
              <a:t> 중이어야 한다</a:t>
            </a:r>
            <a:r>
              <a:rPr lang="en-US" altLang="ko-KR" sz="1400" dirty="0">
                <a:solidFill>
                  <a:schemeClr val="tx2"/>
                </a:solidFill>
              </a:rPr>
              <a:t>. </a:t>
            </a:r>
            <a:r>
              <a:rPr lang="ko-KR" altLang="en-US" sz="1400" dirty="0">
                <a:solidFill>
                  <a:schemeClr val="tx2"/>
                </a:solidFill>
              </a:rPr>
              <a:t>이미 </a:t>
            </a:r>
            <a:r>
              <a:rPr lang="ko-KR" altLang="en-US" sz="1400" dirty="0" err="1">
                <a:solidFill>
                  <a:schemeClr val="tx2"/>
                </a:solidFill>
              </a:rPr>
              <a:t>출원절차가</a:t>
            </a:r>
            <a:r>
              <a:rPr lang="ko-KR" altLang="en-US" sz="1400" dirty="0">
                <a:solidFill>
                  <a:schemeClr val="tx2"/>
                </a:solidFill>
              </a:rPr>
              <a:t> 종료된 출원에 관하여 </a:t>
            </a:r>
            <a:r>
              <a:rPr lang="ko-KR" altLang="en-US" sz="1400" dirty="0" err="1">
                <a:solidFill>
                  <a:schemeClr val="tx2"/>
                </a:solidFill>
              </a:rPr>
              <a:t>분할출원을</a:t>
            </a:r>
            <a:r>
              <a:rPr lang="ko-KR" altLang="en-US" sz="1400" dirty="0">
                <a:solidFill>
                  <a:schemeClr val="tx2"/>
                </a:solidFill>
              </a:rPr>
              <a:t> 인정해 준다면 행정절차가 복잡해지고 영속적으로 </a:t>
            </a:r>
            <a:r>
              <a:rPr lang="ko-KR" altLang="en-US" sz="1400" dirty="0" err="1">
                <a:solidFill>
                  <a:schemeClr val="tx2"/>
                </a:solidFill>
              </a:rPr>
              <a:t>분할출원할</a:t>
            </a:r>
            <a:r>
              <a:rPr lang="ko-KR" altLang="en-US" sz="1400" dirty="0">
                <a:solidFill>
                  <a:schemeClr val="tx2"/>
                </a:solidFill>
              </a:rPr>
              <a:t> 수 있는 권리를 인정하게 되어 절차의 안정성을 해치는 결과를 초래하기 때문이다</a:t>
            </a:r>
            <a:r>
              <a:rPr lang="en-US" altLang="ko-KR" sz="1400" dirty="0">
                <a:solidFill>
                  <a:schemeClr val="tx2"/>
                </a:solidFill>
              </a:rPr>
              <a:t>. </a:t>
            </a:r>
            <a:r>
              <a:rPr lang="ko-KR" altLang="en-US" sz="1400" dirty="0">
                <a:solidFill>
                  <a:schemeClr val="tx2"/>
                </a:solidFill>
              </a:rPr>
              <a:t>따라서 </a:t>
            </a:r>
            <a:r>
              <a:rPr lang="ko-KR" altLang="en-US" sz="1400" dirty="0" err="1">
                <a:solidFill>
                  <a:schemeClr val="tx2"/>
                </a:solidFill>
              </a:rPr>
              <a:t>분할출원</a:t>
            </a:r>
            <a:r>
              <a:rPr lang="ko-KR" altLang="en-US" sz="1400" dirty="0">
                <a:solidFill>
                  <a:schemeClr val="tx2"/>
                </a:solidFill>
              </a:rPr>
              <a:t> 시에 </a:t>
            </a:r>
            <a:r>
              <a:rPr lang="ko-KR" altLang="en-US" sz="1400" dirty="0" err="1">
                <a:solidFill>
                  <a:schemeClr val="tx2"/>
                </a:solidFill>
              </a:rPr>
              <a:t>원출원이</a:t>
            </a:r>
            <a:r>
              <a:rPr lang="ko-KR" altLang="en-US" sz="1400" dirty="0">
                <a:solidFill>
                  <a:schemeClr val="tx2"/>
                </a:solidFill>
              </a:rPr>
              <a:t> 취하</a:t>
            </a:r>
            <a:r>
              <a:rPr lang="en-US" altLang="ko-KR" sz="1400" dirty="0">
                <a:solidFill>
                  <a:schemeClr val="tx2"/>
                </a:solidFill>
              </a:rPr>
              <a:t>, </a:t>
            </a:r>
            <a:r>
              <a:rPr lang="ko-KR" altLang="en-US" sz="1400" dirty="0">
                <a:solidFill>
                  <a:schemeClr val="tx2"/>
                </a:solidFill>
              </a:rPr>
              <a:t>포기</a:t>
            </a:r>
            <a:r>
              <a:rPr lang="en-US" altLang="ko-KR" sz="1400" dirty="0">
                <a:solidFill>
                  <a:schemeClr val="tx2"/>
                </a:solidFill>
              </a:rPr>
              <a:t>, </a:t>
            </a:r>
            <a:r>
              <a:rPr lang="ko-KR" altLang="en-US" sz="1400" dirty="0" err="1">
                <a:solidFill>
                  <a:schemeClr val="tx2"/>
                </a:solidFill>
              </a:rPr>
              <a:t>무효되거나</a:t>
            </a:r>
            <a:r>
              <a:rPr lang="ko-KR" altLang="en-US" sz="1400" dirty="0">
                <a:solidFill>
                  <a:schemeClr val="tx2"/>
                </a:solidFill>
              </a:rPr>
              <a:t> 특허거절결정이 확정되어 </a:t>
            </a:r>
            <a:r>
              <a:rPr lang="ko-KR" altLang="en-US" sz="1400" dirty="0" err="1">
                <a:solidFill>
                  <a:schemeClr val="tx2"/>
                </a:solidFill>
              </a:rPr>
              <a:t>원출원의</a:t>
            </a:r>
            <a:r>
              <a:rPr lang="ko-KR" altLang="en-US" sz="1400" dirty="0">
                <a:solidFill>
                  <a:schemeClr val="tx2"/>
                </a:solidFill>
              </a:rPr>
              <a:t> 절차가 종료된 때에는 </a:t>
            </a:r>
            <a:r>
              <a:rPr lang="ko-KR" altLang="en-US" sz="1400" dirty="0" err="1">
                <a:solidFill>
                  <a:schemeClr val="tx2"/>
                </a:solidFill>
              </a:rPr>
              <a:t>분할출원을</a:t>
            </a:r>
            <a:r>
              <a:rPr lang="ko-KR" altLang="en-US" sz="1400" dirty="0">
                <a:solidFill>
                  <a:schemeClr val="tx2"/>
                </a:solidFill>
              </a:rPr>
              <a:t> 할 수 없다</a:t>
            </a:r>
            <a:r>
              <a:rPr lang="en-US" altLang="ko-KR" sz="1400" dirty="0">
                <a:solidFill>
                  <a:schemeClr val="tx2"/>
                </a:solidFill>
              </a:rPr>
              <a:t>.</a:t>
            </a:r>
            <a:endParaRPr lang="ko-KR" altLang="en-US" sz="1400" dirty="0">
              <a:solidFill>
                <a:schemeClr val="tx2"/>
              </a:solidFill>
            </a:endParaRPr>
          </a:p>
        </p:txBody>
      </p:sp>
      <p:cxnSp>
        <p:nvCxnSpPr>
          <p:cNvPr id="60" name="직선 연결선 59"/>
          <p:cNvCxnSpPr/>
          <p:nvPr/>
        </p:nvCxnSpPr>
        <p:spPr>
          <a:xfrm>
            <a:off x="0" y="194022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865026" y="3115562"/>
            <a:ext cx="1020302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TextBox 70"/>
          <p:cNvSpPr txBox="1"/>
          <p:nvPr/>
        </p:nvSpPr>
        <p:spPr>
          <a:xfrm>
            <a:off x="553005" y="2797546"/>
            <a:ext cx="1326004" cy="646331"/>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pPr algn="ctr"/>
            <a:r>
              <a:rPr lang="ko-KR" altLang="en-US" dirty="0"/>
              <a:t>특허출원</a:t>
            </a:r>
            <a:r>
              <a:rPr lang="en-US" altLang="ko-KR" dirty="0"/>
              <a:t>(X)</a:t>
            </a:r>
          </a:p>
          <a:p>
            <a:pPr algn="ctr"/>
            <a:r>
              <a:rPr lang="ko-KR" altLang="en-US" dirty="0"/>
              <a:t>甲</a:t>
            </a:r>
            <a:endParaRPr lang="en-US" altLang="ko-KR" dirty="0"/>
          </a:p>
        </p:txBody>
      </p:sp>
      <p:sp>
        <p:nvSpPr>
          <p:cNvPr id="77" name="TextBox 76"/>
          <p:cNvSpPr txBox="1"/>
          <p:nvPr/>
        </p:nvSpPr>
        <p:spPr>
          <a:xfrm>
            <a:off x="3715448" y="4846263"/>
            <a:ext cx="1771639" cy="369332"/>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pPr algn="ctr"/>
            <a:r>
              <a:rPr lang="ko-KR" altLang="en-US" dirty="0"/>
              <a:t>甲 </a:t>
            </a:r>
            <a:r>
              <a:rPr lang="ko-KR" altLang="en-US" dirty="0" err="1"/>
              <a:t>분할출원</a:t>
            </a:r>
            <a:r>
              <a:rPr lang="ko-KR" altLang="en-US" dirty="0"/>
              <a:t> 가능</a:t>
            </a:r>
          </a:p>
        </p:txBody>
      </p:sp>
      <p:sp>
        <p:nvSpPr>
          <p:cNvPr id="83" name="TextBox 82"/>
          <p:cNvSpPr txBox="1"/>
          <p:nvPr/>
        </p:nvSpPr>
        <p:spPr>
          <a:xfrm>
            <a:off x="5077524" y="2788021"/>
            <a:ext cx="1951175" cy="646331"/>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pPr algn="ctr"/>
            <a:r>
              <a:rPr lang="ko-KR" altLang="en-US" dirty="0"/>
              <a:t>출원인변경신고</a:t>
            </a:r>
            <a:r>
              <a:rPr lang="en-US" altLang="ko-KR" dirty="0"/>
              <a:t>(X)</a:t>
            </a:r>
          </a:p>
          <a:p>
            <a:pPr algn="ctr"/>
            <a:r>
              <a:rPr lang="ko-KR" altLang="en-US" dirty="0"/>
              <a:t>甲</a:t>
            </a:r>
            <a:r>
              <a:rPr lang="en-US" altLang="ko-KR" dirty="0">
                <a:sym typeface="Wingdings" panose="05000000000000000000" pitchFamily="2" charset="2"/>
              </a:rPr>
              <a:t></a:t>
            </a:r>
            <a:r>
              <a:rPr lang="ko-KR" altLang="en-US" dirty="0">
                <a:sym typeface="Wingdings" panose="05000000000000000000" pitchFamily="2" charset="2"/>
              </a:rPr>
              <a:t>乙</a:t>
            </a:r>
            <a:endParaRPr lang="en-US" altLang="ko-KR" dirty="0"/>
          </a:p>
        </p:txBody>
      </p:sp>
      <p:sp>
        <p:nvSpPr>
          <p:cNvPr id="87" name="TextBox 86"/>
          <p:cNvSpPr txBox="1"/>
          <p:nvPr/>
        </p:nvSpPr>
        <p:spPr>
          <a:xfrm>
            <a:off x="8016685" y="2788021"/>
            <a:ext cx="1806905" cy="646331"/>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pPr algn="ctr"/>
            <a:r>
              <a:rPr lang="ko-KR" altLang="en-US" dirty="0" err="1"/>
              <a:t>출원절차</a:t>
            </a:r>
            <a:r>
              <a:rPr lang="ko-KR" altLang="en-US" dirty="0"/>
              <a:t> 종료</a:t>
            </a:r>
            <a:r>
              <a:rPr lang="en-US" altLang="ko-KR" dirty="0"/>
              <a:t>(X)</a:t>
            </a:r>
          </a:p>
          <a:p>
            <a:pPr algn="ctr"/>
            <a:r>
              <a:rPr lang="ko-KR" altLang="en-US" dirty="0"/>
              <a:t>乙</a:t>
            </a:r>
            <a:endParaRPr lang="en-US" altLang="ko-KR" dirty="0"/>
          </a:p>
        </p:txBody>
      </p:sp>
      <p:sp>
        <p:nvSpPr>
          <p:cNvPr id="89" name="TextBox 88"/>
          <p:cNvSpPr txBox="1"/>
          <p:nvPr/>
        </p:nvSpPr>
        <p:spPr>
          <a:xfrm>
            <a:off x="2724777" y="2797546"/>
            <a:ext cx="1326004" cy="646331"/>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pPr algn="ctr"/>
            <a:r>
              <a:rPr lang="ko-KR" altLang="en-US" dirty="0" err="1"/>
              <a:t>양도계약</a:t>
            </a:r>
            <a:r>
              <a:rPr lang="en-US" altLang="ko-KR" dirty="0"/>
              <a:t>(X)</a:t>
            </a:r>
          </a:p>
          <a:p>
            <a:pPr algn="ctr"/>
            <a:r>
              <a:rPr lang="ko-KR" altLang="en-US" dirty="0"/>
              <a:t>甲</a:t>
            </a:r>
            <a:r>
              <a:rPr lang="en-US" altLang="ko-KR" dirty="0">
                <a:sym typeface="Wingdings" panose="05000000000000000000" pitchFamily="2" charset="2"/>
              </a:rPr>
              <a:t></a:t>
            </a:r>
            <a:r>
              <a:rPr lang="ko-KR" altLang="en-US" dirty="0">
                <a:sym typeface="Wingdings" panose="05000000000000000000" pitchFamily="2" charset="2"/>
              </a:rPr>
              <a:t>乙</a:t>
            </a:r>
            <a:endParaRPr lang="en-US" altLang="ko-KR" dirty="0"/>
          </a:p>
        </p:txBody>
      </p:sp>
      <p:sp>
        <p:nvSpPr>
          <p:cNvPr id="3" name="직사각형 2"/>
          <p:cNvSpPr/>
          <p:nvPr/>
        </p:nvSpPr>
        <p:spPr>
          <a:xfrm>
            <a:off x="7206741" y="2583437"/>
            <a:ext cx="631904" cy="870175"/>
          </a:xfrm>
          <a:prstGeom prst="rect">
            <a:avLst/>
          </a:prstGeom>
          <a:solidFill>
            <a:schemeClr val="bg1"/>
          </a:solidFill>
        </p:spPr>
        <p:txBody>
          <a:bodyPr wrap="none">
            <a:spAutoFit/>
          </a:bodyPr>
          <a:lstStyle/>
          <a:p>
            <a:pPr algn="just" fontAlgn="base">
              <a:lnSpc>
                <a:spcPct val="160000"/>
              </a:lnSpc>
            </a:pPr>
            <a:r>
              <a:rPr lang="ko-KR" altLang="en-US" sz="3600" kern="0" dirty="0">
                <a:solidFill>
                  <a:schemeClr val="tx2"/>
                </a:solidFill>
                <a:ea typeface="함초롬바탕" panose="02030504000101010101" pitchFamily="18" charset="-127"/>
              </a:rPr>
              <a:t>❷</a:t>
            </a:r>
            <a:endParaRPr lang="ko-KR" altLang="en-US" sz="3600" kern="0" dirty="0">
              <a:solidFill>
                <a:schemeClr val="tx2"/>
              </a:solidFill>
            </a:endParaRPr>
          </a:p>
        </p:txBody>
      </p:sp>
      <p:sp>
        <p:nvSpPr>
          <p:cNvPr id="90" name="직사각형 89"/>
          <p:cNvSpPr/>
          <p:nvPr/>
        </p:nvSpPr>
        <p:spPr>
          <a:xfrm>
            <a:off x="4285314" y="2575618"/>
            <a:ext cx="631904" cy="978729"/>
          </a:xfrm>
          <a:prstGeom prst="rect">
            <a:avLst/>
          </a:prstGeom>
          <a:solidFill>
            <a:schemeClr val="bg1"/>
          </a:solidFill>
        </p:spPr>
        <p:txBody>
          <a:bodyPr wrap="none" anchor="ctr">
            <a:spAutoFit/>
          </a:bodyPr>
          <a:lstStyle/>
          <a:p>
            <a:pPr algn="just" fontAlgn="base">
              <a:lnSpc>
                <a:spcPct val="160000"/>
              </a:lnSpc>
            </a:pPr>
            <a:r>
              <a:rPr lang="ko-KR" altLang="en-US" sz="3600" kern="0" dirty="0">
                <a:solidFill>
                  <a:schemeClr val="tx2"/>
                </a:solidFill>
                <a:ea typeface="함초롬바탕" panose="02030504000101010101" pitchFamily="18" charset="-127"/>
              </a:rPr>
              <a:t>❶</a:t>
            </a:r>
            <a:endParaRPr lang="ko-KR" altLang="en-US" sz="3600" kern="0" dirty="0">
              <a:solidFill>
                <a:schemeClr val="tx2"/>
              </a:solidFill>
            </a:endParaRPr>
          </a:p>
        </p:txBody>
      </p:sp>
      <p:sp>
        <p:nvSpPr>
          <p:cNvPr id="91" name="직사각형 90"/>
          <p:cNvSpPr/>
          <p:nvPr/>
        </p:nvSpPr>
        <p:spPr>
          <a:xfrm>
            <a:off x="10001630" y="2583437"/>
            <a:ext cx="631904" cy="870175"/>
          </a:xfrm>
          <a:prstGeom prst="rect">
            <a:avLst/>
          </a:prstGeom>
          <a:solidFill>
            <a:schemeClr val="bg1"/>
          </a:solidFill>
        </p:spPr>
        <p:txBody>
          <a:bodyPr wrap="none">
            <a:spAutoFit/>
          </a:bodyPr>
          <a:lstStyle/>
          <a:p>
            <a:pPr algn="just" fontAlgn="base">
              <a:lnSpc>
                <a:spcPct val="160000"/>
              </a:lnSpc>
            </a:pPr>
            <a:r>
              <a:rPr lang="ko-KR" altLang="en-US" sz="3600" kern="0" dirty="0">
                <a:solidFill>
                  <a:schemeClr val="tx2"/>
                </a:solidFill>
                <a:ea typeface="함초롬바탕" panose="02030504000101010101" pitchFamily="18" charset="-127"/>
              </a:rPr>
              <a:t>❸</a:t>
            </a:r>
            <a:endParaRPr lang="ko-KR" altLang="en-US" sz="3600" kern="0" dirty="0">
              <a:solidFill>
                <a:schemeClr val="tx2"/>
              </a:solidFill>
            </a:endParaRPr>
          </a:p>
        </p:txBody>
      </p:sp>
      <p:cxnSp>
        <p:nvCxnSpPr>
          <p:cNvPr id="7" name="직선 화살표 연결선 6"/>
          <p:cNvCxnSpPr>
            <a:cxnSpLocks/>
            <a:stCxn id="77" idx="0"/>
          </p:cNvCxnSpPr>
          <p:nvPr/>
        </p:nvCxnSpPr>
        <p:spPr>
          <a:xfrm flipV="1">
            <a:off x="4601268" y="3429000"/>
            <a:ext cx="0" cy="141726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6620573" y="4846263"/>
            <a:ext cx="1771639" cy="369332"/>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pPr algn="ctr"/>
            <a:r>
              <a:rPr lang="ko-KR" altLang="en-US" dirty="0"/>
              <a:t>乙 </a:t>
            </a:r>
            <a:r>
              <a:rPr lang="ko-KR" altLang="en-US" dirty="0" err="1"/>
              <a:t>분할출원</a:t>
            </a:r>
            <a:r>
              <a:rPr lang="ko-KR" altLang="en-US" dirty="0"/>
              <a:t> 가능</a:t>
            </a:r>
          </a:p>
        </p:txBody>
      </p:sp>
      <p:cxnSp>
        <p:nvCxnSpPr>
          <p:cNvPr id="93" name="직선 화살표 연결선 92"/>
          <p:cNvCxnSpPr>
            <a:stCxn id="92" idx="0"/>
          </p:cNvCxnSpPr>
          <p:nvPr/>
        </p:nvCxnSpPr>
        <p:spPr>
          <a:xfrm flipV="1">
            <a:off x="7506393" y="3343275"/>
            <a:ext cx="0" cy="150298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4" name="TextBox 93"/>
          <p:cNvSpPr txBox="1"/>
          <p:nvPr/>
        </p:nvSpPr>
        <p:spPr>
          <a:xfrm>
            <a:off x="9547654" y="4846263"/>
            <a:ext cx="1499129" cy="369332"/>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pPr algn="ctr"/>
            <a:r>
              <a:rPr lang="ko-KR" altLang="en-US" dirty="0"/>
              <a:t>분할출원 불가</a:t>
            </a:r>
          </a:p>
        </p:txBody>
      </p:sp>
      <p:cxnSp>
        <p:nvCxnSpPr>
          <p:cNvPr id="97" name="직선 화살표 연결선 96"/>
          <p:cNvCxnSpPr>
            <a:stCxn id="94" idx="0"/>
          </p:cNvCxnSpPr>
          <p:nvPr/>
        </p:nvCxnSpPr>
        <p:spPr>
          <a:xfrm flipV="1">
            <a:off x="10297219" y="3343275"/>
            <a:ext cx="0" cy="150298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191</a:t>
            </a:r>
            <a:endParaRPr lang="ko-KR" altLang="en-US"/>
          </a:p>
        </p:txBody>
      </p:sp>
    </p:spTree>
    <p:extLst>
      <p:ext uri="{BB962C8B-B14F-4D97-AF65-F5344CB8AC3E}">
        <p14:creationId xmlns:p14="http://schemas.microsoft.com/office/powerpoint/2010/main" val="965770341"/>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직선 연결선 7"/>
          <p:cNvCxnSpPr>
            <a:stCxn id="23" idx="2"/>
          </p:cNvCxnSpPr>
          <p:nvPr/>
        </p:nvCxnSpPr>
        <p:spPr>
          <a:xfrm>
            <a:off x="1640034" y="2407026"/>
            <a:ext cx="0" cy="339262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출원 계속 中</a:t>
            </a:r>
          </a:p>
        </p:txBody>
      </p:sp>
      <p:sp>
        <p:nvSpPr>
          <p:cNvPr id="26" name="TextBox 25"/>
          <p:cNvSpPr txBox="1"/>
          <p:nvPr/>
        </p:nvSpPr>
        <p:spPr>
          <a:xfrm>
            <a:off x="77875" y="986046"/>
            <a:ext cx="11936323" cy="523220"/>
          </a:xfrm>
          <a:prstGeom prst="rect">
            <a:avLst/>
          </a:prstGeom>
          <a:noFill/>
        </p:spPr>
        <p:txBody>
          <a:bodyPr wrap="square" rtlCol="0">
            <a:spAutoFit/>
          </a:bodyPr>
          <a:lstStyle/>
          <a:p>
            <a:pPr fontAlgn="base"/>
            <a:r>
              <a:rPr lang="ko-KR" altLang="en-US" sz="1400" dirty="0">
                <a:solidFill>
                  <a:schemeClr val="tx2"/>
                </a:solidFill>
              </a:rPr>
              <a:t>특허출원이 지식재산처에 </a:t>
            </a:r>
            <a:r>
              <a:rPr lang="ko-KR" altLang="en-US" sz="1400" dirty="0" err="1">
                <a:solidFill>
                  <a:schemeClr val="tx2"/>
                </a:solidFill>
              </a:rPr>
              <a:t>출원계속</a:t>
            </a:r>
            <a:r>
              <a:rPr lang="ko-KR" altLang="en-US" sz="1400" dirty="0">
                <a:solidFill>
                  <a:schemeClr val="tx2"/>
                </a:solidFill>
              </a:rPr>
              <a:t> 중인 경우란 출원에 대하여 지식재산처가 특허를 허여</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87</a:t>
            </a:r>
            <a:r>
              <a:rPr lang="ko-KR" altLang="en-US" sz="1400" dirty="0">
                <a:solidFill>
                  <a:schemeClr val="tx2"/>
                </a:solidFill>
              </a:rPr>
              <a:t>조제</a:t>
            </a:r>
            <a:r>
              <a:rPr lang="en-US" altLang="ko-KR" sz="1400" dirty="0">
                <a:solidFill>
                  <a:schemeClr val="tx2"/>
                </a:solidFill>
              </a:rPr>
              <a:t>2</a:t>
            </a:r>
            <a:r>
              <a:rPr lang="ko-KR" altLang="en-US" sz="1400" dirty="0">
                <a:solidFill>
                  <a:schemeClr val="tx2"/>
                </a:solidFill>
              </a:rPr>
              <a:t>항에 따른 설정등록을 말한다</a:t>
            </a:r>
            <a:r>
              <a:rPr lang="en-US" altLang="ko-KR" sz="1400" dirty="0">
                <a:solidFill>
                  <a:schemeClr val="tx2"/>
                </a:solidFill>
              </a:rPr>
              <a:t>)</a:t>
            </a:r>
            <a:r>
              <a:rPr lang="ko-KR" altLang="en-US" sz="1400" dirty="0">
                <a:solidFill>
                  <a:schemeClr val="tx2"/>
                </a:solidFill>
              </a:rPr>
              <a:t>하는데 필요한 행정행위를 할 수 있는 상태를 말하는 것으로</a:t>
            </a:r>
            <a:r>
              <a:rPr lang="en-US" altLang="ko-KR" sz="1400" dirty="0">
                <a:solidFill>
                  <a:schemeClr val="tx2"/>
                </a:solidFill>
              </a:rPr>
              <a:t>, </a:t>
            </a:r>
            <a:r>
              <a:rPr lang="ko-KR" altLang="en-US" sz="1400" dirty="0">
                <a:solidFill>
                  <a:srgbClr val="FF0000"/>
                </a:solidFill>
              </a:rPr>
              <a:t>출원이 무효</a:t>
            </a:r>
            <a:r>
              <a:rPr lang="en-US" altLang="ko-KR" sz="1400" dirty="0">
                <a:solidFill>
                  <a:srgbClr val="FF0000"/>
                </a:solidFill>
              </a:rPr>
              <a:t>, </a:t>
            </a:r>
            <a:r>
              <a:rPr lang="ko-KR" altLang="en-US" sz="1400" dirty="0">
                <a:solidFill>
                  <a:srgbClr val="FF0000"/>
                </a:solidFill>
              </a:rPr>
              <a:t>취하</a:t>
            </a:r>
            <a:r>
              <a:rPr lang="en-US" altLang="ko-KR" sz="1400" dirty="0">
                <a:solidFill>
                  <a:srgbClr val="FF0000"/>
                </a:solidFill>
              </a:rPr>
              <a:t>, </a:t>
            </a:r>
            <a:r>
              <a:rPr lang="ko-KR" altLang="en-US" sz="1400" dirty="0">
                <a:solidFill>
                  <a:srgbClr val="FF0000"/>
                </a:solidFill>
              </a:rPr>
              <a:t>포기 또는 특허거절결정이 확정되기 전이나 </a:t>
            </a:r>
            <a:r>
              <a:rPr lang="ko-KR" altLang="en-US" sz="1400" dirty="0" err="1">
                <a:solidFill>
                  <a:srgbClr val="FF0000"/>
                </a:solidFill>
              </a:rPr>
              <a:t>설정등록되기</a:t>
            </a:r>
            <a:r>
              <a:rPr lang="ko-KR" altLang="en-US" sz="1400" dirty="0">
                <a:solidFill>
                  <a:srgbClr val="FF0000"/>
                </a:solidFill>
              </a:rPr>
              <a:t> 전</a:t>
            </a:r>
            <a:r>
              <a:rPr lang="ko-KR" altLang="en-US" sz="1400" dirty="0">
                <a:solidFill>
                  <a:schemeClr val="tx2"/>
                </a:solidFill>
              </a:rPr>
              <a:t>을 말한다</a:t>
            </a:r>
            <a:r>
              <a:rPr lang="en-US" altLang="ko-KR" sz="1400" dirty="0">
                <a:solidFill>
                  <a:schemeClr val="tx2"/>
                </a:solidFill>
              </a:rPr>
              <a:t>.</a:t>
            </a:r>
          </a:p>
        </p:txBody>
      </p:sp>
      <p:cxnSp>
        <p:nvCxnSpPr>
          <p:cNvPr id="27" name="직선 연결선 26"/>
          <p:cNvCxnSpPr/>
          <p:nvPr/>
        </p:nvCxnSpPr>
        <p:spPr>
          <a:xfrm>
            <a:off x="0" y="150619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22" name="직선 화살표 연결선 21"/>
          <p:cNvCxnSpPr/>
          <p:nvPr/>
        </p:nvCxnSpPr>
        <p:spPr>
          <a:xfrm>
            <a:off x="546644" y="2227524"/>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3" name="Rectangle 14"/>
          <p:cNvSpPr>
            <a:spLocks noChangeArrowheads="1"/>
          </p:cNvSpPr>
          <p:nvPr/>
        </p:nvSpPr>
        <p:spPr bwMode="auto">
          <a:xfrm>
            <a:off x="1285398" y="2048021"/>
            <a:ext cx="70927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a:latin typeface="+mn-ea"/>
              </a:rPr>
              <a:t>출원</a:t>
            </a:r>
            <a:endParaRPr lang="ko-KR" altLang="en-US" sz="1400" b="0" dirty="0">
              <a:latin typeface="+mn-ea"/>
            </a:endParaRPr>
          </a:p>
        </p:txBody>
      </p:sp>
      <p:sp>
        <p:nvSpPr>
          <p:cNvPr id="58" name="Rectangle 14"/>
          <p:cNvSpPr>
            <a:spLocks noChangeArrowheads="1"/>
          </p:cNvSpPr>
          <p:nvPr/>
        </p:nvSpPr>
        <p:spPr bwMode="auto">
          <a:xfrm>
            <a:off x="6383866" y="2048021"/>
            <a:ext cx="2032013"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출원의 무효</a:t>
            </a:r>
            <a:r>
              <a:rPr lang="en-US" altLang="ko-KR" sz="1400" b="0" dirty="0">
                <a:latin typeface="+mn-ea"/>
              </a:rPr>
              <a:t>, </a:t>
            </a:r>
            <a:r>
              <a:rPr lang="ko-KR" altLang="en-US" sz="1400" b="0" dirty="0">
                <a:latin typeface="+mn-ea"/>
              </a:rPr>
              <a:t>취하</a:t>
            </a:r>
            <a:r>
              <a:rPr lang="en-US" altLang="ko-KR" sz="1400" b="0" dirty="0">
                <a:latin typeface="+mn-ea"/>
              </a:rPr>
              <a:t>, </a:t>
            </a:r>
            <a:r>
              <a:rPr lang="ko-KR" altLang="en-US" sz="1400" b="0" dirty="0">
                <a:latin typeface="+mn-ea"/>
              </a:rPr>
              <a:t>포기</a:t>
            </a:r>
          </a:p>
        </p:txBody>
      </p:sp>
      <p:cxnSp>
        <p:nvCxnSpPr>
          <p:cNvPr id="59" name="직선 화살표 연결선 58"/>
          <p:cNvCxnSpPr/>
          <p:nvPr/>
        </p:nvCxnSpPr>
        <p:spPr>
          <a:xfrm>
            <a:off x="546644" y="3683794"/>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0" name="Rectangle 14"/>
          <p:cNvSpPr>
            <a:spLocks noChangeArrowheads="1"/>
          </p:cNvSpPr>
          <p:nvPr/>
        </p:nvSpPr>
        <p:spPr bwMode="auto">
          <a:xfrm>
            <a:off x="1285398" y="3504291"/>
            <a:ext cx="70927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a:latin typeface="+mn-ea"/>
              </a:rPr>
              <a:t>출원</a:t>
            </a:r>
            <a:endParaRPr lang="ko-KR" altLang="en-US" sz="1400" b="0" dirty="0">
              <a:latin typeface="+mn-ea"/>
            </a:endParaRPr>
          </a:p>
        </p:txBody>
      </p:sp>
      <p:sp>
        <p:nvSpPr>
          <p:cNvPr id="61" name="Rectangle 14"/>
          <p:cNvSpPr>
            <a:spLocks noChangeArrowheads="1"/>
          </p:cNvSpPr>
          <p:nvPr/>
        </p:nvSpPr>
        <p:spPr bwMode="auto">
          <a:xfrm>
            <a:off x="5198512" y="3504291"/>
            <a:ext cx="93980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a:latin typeface="+mn-ea"/>
              </a:rPr>
              <a:t>거절결정</a:t>
            </a:r>
            <a:endParaRPr lang="ko-KR" altLang="en-US" sz="1400" b="0" dirty="0">
              <a:latin typeface="+mn-ea"/>
            </a:endParaRPr>
          </a:p>
        </p:txBody>
      </p:sp>
      <p:sp>
        <p:nvSpPr>
          <p:cNvPr id="62" name="Rectangle 14"/>
          <p:cNvSpPr>
            <a:spLocks noChangeArrowheads="1"/>
          </p:cNvSpPr>
          <p:nvPr/>
        </p:nvSpPr>
        <p:spPr bwMode="auto">
          <a:xfrm>
            <a:off x="6790245" y="3504291"/>
            <a:ext cx="93980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등본송달</a:t>
            </a:r>
          </a:p>
        </p:txBody>
      </p:sp>
      <p:sp>
        <p:nvSpPr>
          <p:cNvPr id="63" name="Rectangle 14"/>
          <p:cNvSpPr>
            <a:spLocks noChangeArrowheads="1"/>
          </p:cNvSpPr>
          <p:nvPr/>
        </p:nvSpPr>
        <p:spPr bwMode="auto">
          <a:xfrm>
            <a:off x="9321807" y="3504291"/>
            <a:ext cx="93980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확정</a:t>
            </a:r>
          </a:p>
        </p:txBody>
      </p:sp>
      <p:cxnSp>
        <p:nvCxnSpPr>
          <p:cNvPr id="64" name="직선 화살표 연결선 63"/>
          <p:cNvCxnSpPr/>
          <p:nvPr/>
        </p:nvCxnSpPr>
        <p:spPr>
          <a:xfrm>
            <a:off x="546644" y="5190865"/>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5" name="Rectangle 14"/>
          <p:cNvSpPr>
            <a:spLocks noChangeArrowheads="1"/>
          </p:cNvSpPr>
          <p:nvPr/>
        </p:nvSpPr>
        <p:spPr bwMode="auto">
          <a:xfrm>
            <a:off x="1285398" y="5011362"/>
            <a:ext cx="70927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a:latin typeface="+mn-ea"/>
              </a:rPr>
              <a:t>출원</a:t>
            </a:r>
            <a:endParaRPr lang="ko-KR" altLang="en-US" sz="1400" b="0" dirty="0">
              <a:latin typeface="+mn-ea"/>
            </a:endParaRPr>
          </a:p>
        </p:txBody>
      </p:sp>
      <p:sp>
        <p:nvSpPr>
          <p:cNvPr id="66" name="Rectangle 14"/>
          <p:cNvSpPr>
            <a:spLocks noChangeArrowheads="1"/>
          </p:cNvSpPr>
          <p:nvPr/>
        </p:nvSpPr>
        <p:spPr bwMode="auto">
          <a:xfrm>
            <a:off x="5198512" y="5011362"/>
            <a:ext cx="93980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특허결정</a:t>
            </a:r>
            <a:endParaRPr lang="ko-KR" altLang="en-US" sz="1400" b="0" dirty="0">
              <a:latin typeface="+mn-ea"/>
            </a:endParaRPr>
          </a:p>
        </p:txBody>
      </p:sp>
      <p:sp>
        <p:nvSpPr>
          <p:cNvPr id="67" name="Rectangle 14"/>
          <p:cNvSpPr>
            <a:spLocks noChangeArrowheads="1"/>
          </p:cNvSpPr>
          <p:nvPr/>
        </p:nvSpPr>
        <p:spPr bwMode="auto">
          <a:xfrm>
            <a:off x="6790245" y="5011362"/>
            <a:ext cx="93980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등본송달</a:t>
            </a:r>
          </a:p>
        </p:txBody>
      </p:sp>
      <p:sp>
        <p:nvSpPr>
          <p:cNvPr id="68" name="Rectangle 14"/>
          <p:cNvSpPr>
            <a:spLocks noChangeArrowheads="1"/>
          </p:cNvSpPr>
          <p:nvPr/>
        </p:nvSpPr>
        <p:spPr bwMode="auto">
          <a:xfrm>
            <a:off x="9321807" y="5011362"/>
            <a:ext cx="93980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설정등록</a:t>
            </a:r>
          </a:p>
        </p:txBody>
      </p:sp>
      <p:sp>
        <p:nvSpPr>
          <p:cNvPr id="69" name="Rectangle 14"/>
          <p:cNvSpPr>
            <a:spLocks noChangeArrowheads="1"/>
          </p:cNvSpPr>
          <p:nvPr/>
        </p:nvSpPr>
        <p:spPr bwMode="auto">
          <a:xfrm>
            <a:off x="8077178" y="5011362"/>
            <a:ext cx="93980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특허료납부</a:t>
            </a:r>
          </a:p>
        </p:txBody>
      </p:sp>
      <p:cxnSp>
        <p:nvCxnSpPr>
          <p:cNvPr id="70" name="직선 연결선 69"/>
          <p:cNvCxnSpPr>
            <a:stCxn id="58" idx="2"/>
          </p:cNvCxnSpPr>
          <p:nvPr/>
        </p:nvCxnSpPr>
        <p:spPr>
          <a:xfrm>
            <a:off x="7399873" y="2407026"/>
            <a:ext cx="0" cy="54782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직선 연결선 70"/>
          <p:cNvCxnSpPr>
            <a:stCxn id="63" idx="2"/>
          </p:cNvCxnSpPr>
          <p:nvPr/>
        </p:nvCxnSpPr>
        <p:spPr>
          <a:xfrm flipH="1">
            <a:off x="9791707" y="3863296"/>
            <a:ext cx="1" cy="62104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직선 연결선 71"/>
          <p:cNvCxnSpPr>
            <a:stCxn id="68" idx="2"/>
          </p:cNvCxnSpPr>
          <p:nvPr/>
        </p:nvCxnSpPr>
        <p:spPr>
          <a:xfrm>
            <a:off x="9791708" y="5370367"/>
            <a:ext cx="0" cy="615559"/>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직선 화살표 연결선 15"/>
          <p:cNvCxnSpPr/>
          <p:nvPr/>
        </p:nvCxnSpPr>
        <p:spPr>
          <a:xfrm>
            <a:off x="1640034" y="2760124"/>
            <a:ext cx="5759838" cy="0"/>
          </a:xfrm>
          <a:prstGeom prst="straightConnector1">
            <a:avLst/>
          </a:prstGeom>
          <a:ln w="57150">
            <a:solidFill>
              <a:schemeClr val="accent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3" name="직선 화살표 연결선 72"/>
          <p:cNvCxnSpPr/>
          <p:nvPr/>
        </p:nvCxnSpPr>
        <p:spPr>
          <a:xfrm>
            <a:off x="1640034" y="4258728"/>
            <a:ext cx="8151673" cy="0"/>
          </a:xfrm>
          <a:prstGeom prst="straightConnector1">
            <a:avLst/>
          </a:prstGeom>
          <a:ln w="57150">
            <a:solidFill>
              <a:schemeClr val="accent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4" name="직선 화살표 연결선 73"/>
          <p:cNvCxnSpPr/>
          <p:nvPr/>
        </p:nvCxnSpPr>
        <p:spPr>
          <a:xfrm>
            <a:off x="1640034" y="5737420"/>
            <a:ext cx="8151673" cy="0"/>
          </a:xfrm>
          <a:prstGeom prst="straightConnector1">
            <a:avLst/>
          </a:prstGeom>
          <a:ln w="57150">
            <a:solidFill>
              <a:schemeClr val="accent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Rectangle 14"/>
          <p:cNvSpPr>
            <a:spLocks noChangeArrowheads="1"/>
          </p:cNvSpPr>
          <p:nvPr/>
        </p:nvSpPr>
        <p:spPr bwMode="auto">
          <a:xfrm>
            <a:off x="3767625" y="2580621"/>
            <a:ext cx="1058376" cy="359005"/>
          </a:xfrm>
          <a:prstGeom prst="rect">
            <a:avLst/>
          </a:prstGeom>
          <a:solidFill>
            <a:schemeClr val="bg1"/>
          </a:solidFill>
          <a:ln w="9525" algn="ctr">
            <a:noFill/>
            <a:miter lim="800000"/>
            <a:headEnd/>
            <a:tailEnd/>
          </a:ln>
        </p:spPr>
        <p:txBody>
          <a:bodyPr wrap="none" anchor="ctr"/>
          <a:lstStyle/>
          <a:p>
            <a:pPr algn="ctr"/>
            <a:r>
              <a:rPr lang="ko-KR" altLang="en-US" sz="1400" b="0" dirty="0">
                <a:latin typeface="+mn-ea"/>
              </a:rPr>
              <a:t>출원 계속 中</a:t>
            </a:r>
          </a:p>
        </p:txBody>
      </p:sp>
      <p:sp>
        <p:nvSpPr>
          <p:cNvPr id="76" name="Rectangle 14"/>
          <p:cNvSpPr>
            <a:spLocks noChangeArrowheads="1"/>
          </p:cNvSpPr>
          <p:nvPr/>
        </p:nvSpPr>
        <p:spPr bwMode="auto">
          <a:xfrm>
            <a:off x="3767625" y="4098239"/>
            <a:ext cx="1058376" cy="359005"/>
          </a:xfrm>
          <a:prstGeom prst="rect">
            <a:avLst/>
          </a:prstGeom>
          <a:solidFill>
            <a:schemeClr val="bg1"/>
          </a:solidFill>
          <a:ln w="9525" algn="ctr">
            <a:noFill/>
            <a:miter lim="800000"/>
            <a:headEnd/>
            <a:tailEnd/>
          </a:ln>
        </p:spPr>
        <p:txBody>
          <a:bodyPr wrap="none" anchor="ctr"/>
          <a:lstStyle/>
          <a:p>
            <a:pPr algn="ctr"/>
            <a:r>
              <a:rPr lang="ko-KR" altLang="en-US" sz="1400" b="0" dirty="0">
                <a:latin typeface="+mn-ea"/>
              </a:rPr>
              <a:t>출원 계속 中</a:t>
            </a:r>
          </a:p>
        </p:txBody>
      </p:sp>
      <p:sp>
        <p:nvSpPr>
          <p:cNvPr id="77" name="Rectangle 14"/>
          <p:cNvSpPr>
            <a:spLocks noChangeArrowheads="1"/>
          </p:cNvSpPr>
          <p:nvPr/>
        </p:nvSpPr>
        <p:spPr bwMode="auto">
          <a:xfrm>
            <a:off x="3767625" y="5557917"/>
            <a:ext cx="1058376" cy="359005"/>
          </a:xfrm>
          <a:prstGeom prst="rect">
            <a:avLst/>
          </a:prstGeom>
          <a:solidFill>
            <a:schemeClr val="bg1"/>
          </a:solidFill>
          <a:ln w="9525" algn="ctr">
            <a:noFill/>
            <a:miter lim="800000"/>
            <a:headEnd/>
            <a:tailEnd/>
          </a:ln>
        </p:spPr>
        <p:txBody>
          <a:bodyPr wrap="none" anchor="ctr"/>
          <a:lstStyle/>
          <a:p>
            <a:pPr algn="ctr"/>
            <a:r>
              <a:rPr lang="ko-KR" altLang="en-US" sz="1400" b="0" dirty="0">
                <a:latin typeface="+mn-ea"/>
              </a:rPr>
              <a:t>출원 계속 中</a:t>
            </a:r>
          </a:p>
        </p:txBody>
      </p:sp>
      <p:sp>
        <p:nvSpPr>
          <p:cNvPr id="19" name="원호 18"/>
          <p:cNvSpPr/>
          <p:nvPr/>
        </p:nvSpPr>
        <p:spPr>
          <a:xfrm>
            <a:off x="7323667" y="3217348"/>
            <a:ext cx="1998140" cy="645948"/>
          </a:xfrm>
          <a:prstGeom prst="arc">
            <a:avLst>
              <a:gd name="adj1" fmla="val 11004324"/>
              <a:gd name="adj2" fmla="val 21516169"/>
            </a:avLst>
          </a:prstGeom>
          <a:ln w="38100">
            <a:solidFill>
              <a:schemeClr val="tx2"/>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78" name="Rectangle 14"/>
          <p:cNvSpPr>
            <a:spLocks noChangeArrowheads="1"/>
          </p:cNvSpPr>
          <p:nvPr/>
        </p:nvSpPr>
        <p:spPr bwMode="auto">
          <a:xfrm>
            <a:off x="7823131" y="3029778"/>
            <a:ext cx="1058376" cy="359005"/>
          </a:xfrm>
          <a:prstGeom prst="rect">
            <a:avLst/>
          </a:prstGeom>
          <a:solidFill>
            <a:schemeClr val="bg1"/>
          </a:solidFill>
          <a:ln w="9525" algn="ctr">
            <a:noFill/>
            <a:miter lim="800000"/>
            <a:headEnd/>
            <a:tailEnd/>
          </a:ln>
        </p:spPr>
        <p:txBody>
          <a:bodyPr wrap="none" anchor="ctr"/>
          <a:lstStyle/>
          <a:p>
            <a:pPr algn="ctr"/>
            <a:r>
              <a:rPr lang="en-US" altLang="ko-KR" sz="1400" b="0" dirty="0">
                <a:solidFill>
                  <a:srgbClr val="FF0000"/>
                </a:solidFill>
                <a:latin typeface="+mn-ea"/>
              </a:rPr>
              <a:t>3</a:t>
            </a:r>
            <a:r>
              <a:rPr lang="ko-KR" altLang="en-US" sz="1400" b="0" dirty="0">
                <a:solidFill>
                  <a:srgbClr val="FF0000"/>
                </a:solidFill>
                <a:latin typeface="+mn-ea"/>
              </a:rPr>
              <a:t>개월 </a:t>
            </a:r>
            <a:r>
              <a:rPr lang="ko-KR" altLang="en-US" sz="1400" b="0" dirty="0">
                <a:latin typeface="+mn-ea"/>
              </a:rPr>
              <a:t>경과</a:t>
            </a:r>
          </a:p>
        </p:txBody>
      </p:sp>
      <p:sp>
        <p:nvSpPr>
          <p:cNvPr id="79" name="Rectangle 14"/>
          <p:cNvSpPr>
            <a:spLocks noChangeArrowheads="1"/>
          </p:cNvSpPr>
          <p:nvPr/>
        </p:nvSpPr>
        <p:spPr bwMode="auto">
          <a:xfrm>
            <a:off x="6443114" y="6052754"/>
            <a:ext cx="1634064" cy="359005"/>
          </a:xfrm>
          <a:prstGeom prst="rect">
            <a:avLst/>
          </a:prstGeom>
          <a:noFill/>
          <a:ln w="9525" algn="ctr">
            <a:solidFill>
              <a:schemeClr val="bg1">
                <a:lumMod val="50000"/>
              </a:schemeClr>
            </a:solidFill>
            <a:miter lim="800000"/>
            <a:headEnd/>
            <a:tailEnd/>
          </a:ln>
        </p:spPr>
        <p:txBody>
          <a:bodyPr wrap="none" anchor="ctr"/>
          <a:lstStyle/>
          <a:p>
            <a:pPr algn="ctr"/>
            <a:r>
              <a:rPr lang="ko-KR" altLang="en-US" sz="1400" b="0">
                <a:latin typeface="+mn-ea"/>
              </a:rPr>
              <a:t>특허결정의 확정</a:t>
            </a:r>
            <a:endParaRPr lang="ko-KR" altLang="en-US" sz="1400" b="0" dirty="0">
              <a:latin typeface="+mn-ea"/>
            </a:endParaRPr>
          </a:p>
        </p:txBody>
      </p:sp>
      <p:cxnSp>
        <p:nvCxnSpPr>
          <p:cNvPr id="21" name="직선 화살표 연결선 20"/>
          <p:cNvCxnSpPr>
            <a:stCxn id="79" idx="0"/>
            <a:endCxn id="67" idx="2"/>
          </p:cNvCxnSpPr>
          <p:nvPr/>
        </p:nvCxnSpPr>
        <p:spPr>
          <a:xfrm flipV="1">
            <a:off x="7260146" y="5370367"/>
            <a:ext cx="0" cy="682387"/>
          </a:xfrm>
          <a:prstGeom prst="straightConnector1">
            <a:avLst/>
          </a:prstGeom>
          <a:ln w="12700">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0" name="모서리가 둥근 사각형 설명선 79"/>
          <p:cNvSpPr/>
          <p:nvPr/>
        </p:nvSpPr>
        <p:spPr>
          <a:xfrm>
            <a:off x="9685867" y="2836326"/>
            <a:ext cx="1710266" cy="457225"/>
          </a:xfrm>
          <a:prstGeom prst="wedgeRoundRectCallout">
            <a:avLst>
              <a:gd name="adj1" fmla="val -41130"/>
              <a:gd name="adj2" fmla="val 95646"/>
              <a:gd name="adj3" fmla="val 16667"/>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bg1">
                    <a:lumMod val="50000"/>
                  </a:schemeClr>
                </a:solidFill>
              </a:rPr>
              <a:t>더 이상 불복할 수 없는 상태에 이른 것</a:t>
            </a:r>
          </a:p>
        </p:txBody>
      </p:sp>
      <p:sp>
        <p:nvSpPr>
          <p:cNvPr id="5" name="슬라이드 번호 개체 틀 4"/>
          <p:cNvSpPr>
            <a:spLocks noGrp="1"/>
          </p:cNvSpPr>
          <p:nvPr>
            <p:ph type="sldNum" sz="quarter" idx="12"/>
          </p:nvPr>
        </p:nvSpPr>
        <p:spPr/>
        <p:txBody>
          <a:bodyPr/>
          <a:lstStyle/>
          <a:p>
            <a:r>
              <a:rPr lang="en-US" altLang="ko-KR"/>
              <a:t>192</a:t>
            </a:r>
            <a:endParaRPr lang="ko-KR" altLang="en-US"/>
          </a:p>
        </p:txBody>
      </p:sp>
    </p:spTree>
    <p:extLst>
      <p:ext uri="{BB962C8B-B14F-4D97-AF65-F5344CB8AC3E}">
        <p14:creationId xmlns:p14="http://schemas.microsoft.com/office/powerpoint/2010/main" val="603421584"/>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직사각형 13"/>
          <p:cNvSpPr/>
          <p:nvPr/>
        </p:nvSpPr>
        <p:spPr>
          <a:xfrm>
            <a:off x="1266825" y="3913403"/>
            <a:ext cx="2065849" cy="2763621"/>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0" name="직선 연결선 29"/>
          <p:cNvCxnSpPr/>
          <p:nvPr/>
        </p:nvCxnSpPr>
        <p:spPr>
          <a:xfrm>
            <a:off x="2292950" y="3100104"/>
            <a:ext cx="0" cy="357692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p>
        </p:txBody>
      </p:sp>
      <p:sp>
        <p:nvSpPr>
          <p:cNvPr id="4" name="텍스트 개체 틀 3"/>
          <p:cNvSpPr>
            <a:spLocks noGrp="1"/>
          </p:cNvSpPr>
          <p:nvPr>
            <p:ph type="body" sz="quarter" idx="13"/>
          </p:nvPr>
        </p:nvSpPr>
        <p:spPr/>
        <p:txBody>
          <a:bodyPr/>
          <a:lstStyle/>
          <a:p>
            <a:r>
              <a:rPr lang="ko-KR" altLang="en-US" dirty="0"/>
              <a:t>객체적 요건</a:t>
            </a:r>
          </a:p>
        </p:txBody>
      </p:sp>
      <p:sp>
        <p:nvSpPr>
          <p:cNvPr id="26" name="TextBox 25"/>
          <p:cNvSpPr txBox="1"/>
          <p:nvPr/>
        </p:nvSpPr>
        <p:spPr>
          <a:xfrm>
            <a:off x="77875" y="986046"/>
            <a:ext cx="11936323" cy="954107"/>
          </a:xfrm>
          <a:prstGeom prst="rect">
            <a:avLst/>
          </a:prstGeom>
          <a:noFill/>
        </p:spPr>
        <p:txBody>
          <a:bodyPr wrap="square" rtlCol="0">
            <a:spAutoFit/>
          </a:bodyPr>
          <a:lstStyle/>
          <a:p>
            <a:pPr fontAlgn="base"/>
            <a:r>
              <a:rPr lang="ko-KR" altLang="en-US" sz="1400" dirty="0" err="1">
                <a:solidFill>
                  <a:schemeClr val="accent3">
                    <a:lumMod val="50000"/>
                  </a:schemeClr>
                </a:solidFill>
                <a:highlight>
                  <a:srgbClr val="FFFF00"/>
                </a:highlight>
              </a:rPr>
              <a:t>분할출원의</a:t>
            </a:r>
            <a:r>
              <a:rPr lang="ko-KR" altLang="en-US" sz="1400" dirty="0">
                <a:solidFill>
                  <a:schemeClr val="accent3">
                    <a:lumMod val="50000"/>
                  </a:schemeClr>
                </a:solidFill>
                <a:highlight>
                  <a:srgbClr val="FFFF00"/>
                </a:highlight>
              </a:rPr>
              <a:t> 명세서 또는 도면</a:t>
            </a:r>
            <a:r>
              <a:rPr lang="ko-KR" altLang="en-US" sz="1400" dirty="0">
                <a:solidFill>
                  <a:schemeClr val="tx2"/>
                </a:solidFill>
              </a:rPr>
              <a:t>에 기재된 발명은 </a:t>
            </a:r>
            <a:r>
              <a:rPr lang="ko-KR" altLang="en-US" sz="1400" dirty="0" err="1">
                <a:solidFill>
                  <a:schemeClr val="accent3">
                    <a:lumMod val="50000"/>
                  </a:schemeClr>
                </a:solidFill>
                <a:highlight>
                  <a:srgbClr val="FFFF00"/>
                </a:highlight>
              </a:rPr>
              <a:t>원출원의</a:t>
            </a:r>
            <a:r>
              <a:rPr lang="ko-KR" altLang="en-US" sz="1400" dirty="0">
                <a:solidFill>
                  <a:schemeClr val="accent3">
                    <a:lumMod val="50000"/>
                  </a:schemeClr>
                </a:solidFill>
                <a:highlight>
                  <a:srgbClr val="FFFF00"/>
                </a:highlight>
              </a:rPr>
              <a:t> </a:t>
            </a:r>
            <a:r>
              <a:rPr lang="ko-KR" altLang="en-US" sz="1400" dirty="0" err="1">
                <a:solidFill>
                  <a:schemeClr val="accent3">
                    <a:lumMod val="50000"/>
                  </a:schemeClr>
                </a:solidFill>
                <a:highlight>
                  <a:srgbClr val="FFFF00"/>
                </a:highlight>
              </a:rPr>
              <a:t>출원서에</a:t>
            </a:r>
            <a:r>
              <a:rPr lang="ko-KR" altLang="en-US" sz="1400" dirty="0">
                <a:solidFill>
                  <a:schemeClr val="accent3">
                    <a:lumMod val="50000"/>
                  </a:schemeClr>
                </a:solidFill>
                <a:highlight>
                  <a:srgbClr val="FFFF00"/>
                </a:highlight>
              </a:rPr>
              <a:t> 최초로 첨부한 명세서 또는 도면</a:t>
            </a:r>
            <a:r>
              <a:rPr lang="ko-KR" altLang="en-US" sz="1400" dirty="0">
                <a:solidFill>
                  <a:schemeClr val="tx2"/>
                </a:solidFill>
              </a:rPr>
              <a:t>에 </a:t>
            </a:r>
            <a:r>
              <a:rPr lang="ko-KR" altLang="en-US" sz="1400" dirty="0">
                <a:solidFill>
                  <a:schemeClr val="accent3">
                    <a:lumMod val="50000"/>
                  </a:schemeClr>
                </a:solidFill>
                <a:highlight>
                  <a:srgbClr val="FFFF00"/>
                </a:highlight>
              </a:rPr>
              <a:t>기재된 사항의 범위 이내</a:t>
            </a:r>
            <a:r>
              <a:rPr lang="ko-KR" altLang="en-US" sz="1400" dirty="0">
                <a:solidFill>
                  <a:schemeClr val="tx2"/>
                </a:solidFill>
              </a:rPr>
              <a:t>이어야 한다</a:t>
            </a:r>
            <a:r>
              <a:rPr lang="en-US" altLang="ko-KR" sz="1400" dirty="0">
                <a:solidFill>
                  <a:schemeClr val="tx2"/>
                </a:solidFill>
              </a:rPr>
              <a:t>. </a:t>
            </a:r>
            <a:r>
              <a:rPr lang="ko-KR" altLang="en-US" sz="1400" dirty="0">
                <a:solidFill>
                  <a:schemeClr val="tx2"/>
                </a:solidFill>
              </a:rPr>
              <a:t>「최초로 첨부한 명세서 또는 도면에 기재된 </a:t>
            </a:r>
            <a:r>
              <a:rPr lang="ko-KR" altLang="en-US" sz="1400" dirty="0" err="1">
                <a:solidFill>
                  <a:schemeClr val="tx2"/>
                </a:solidFill>
              </a:rPr>
              <a:t>사항」이란</a:t>
            </a:r>
            <a:r>
              <a:rPr lang="ko-KR" altLang="en-US" sz="1400" dirty="0">
                <a:solidFill>
                  <a:schemeClr val="tx2"/>
                </a:solidFill>
              </a:rPr>
              <a:t> 최초 명세서 등에 명시적으로 기재되어 있는 사항이거나 또는 명시적인 기재가 없더라도 통상의 기술자라면 출원시의 기술상식에 비추어 보아 최초 명세서 등에 기재되어 있는 것과 마찬가지라고 이해할 수 있는 사항을 말한다</a:t>
            </a:r>
            <a:r>
              <a:rPr lang="en-US" altLang="ko-KR" sz="1400" dirty="0">
                <a:solidFill>
                  <a:schemeClr val="tx2"/>
                </a:solidFill>
              </a:rPr>
              <a:t>. </a:t>
            </a:r>
            <a:r>
              <a:rPr lang="ko-KR" altLang="en-US" sz="1400" dirty="0" err="1">
                <a:solidFill>
                  <a:schemeClr val="tx2"/>
                </a:solidFill>
              </a:rPr>
              <a:t>분할출원에</a:t>
            </a:r>
            <a:r>
              <a:rPr lang="ko-KR" altLang="en-US" sz="1400" dirty="0">
                <a:solidFill>
                  <a:schemeClr val="tx2"/>
                </a:solidFill>
              </a:rPr>
              <a:t> 포함된 발명 중 일부라도 </a:t>
            </a:r>
            <a:r>
              <a:rPr lang="ko-KR" altLang="en-US" sz="1400" dirty="0" err="1">
                <a:solidFill>
                  <a:schemeClr val="tx2"/>
                </a:solidFill>
              </a:rPr>
              <a:t>원출원의</a:t>
            </a:r>
            <a:r>
              <a:rPr lang="ko-KR" altLang="en-US" sz="1400" dirty="0">
                <a:solidFill>
                  <a:schemeClr val="tx2"/>
                </a:solidFill>
              </a:rPr>
              <a:t> 최초 명세서 또는 도면에 기재된 사항의 범위에 있지 아니하면 </a:t>
            </a:r>
            <a:r>
              <a:rPr lang="ko-KR" altLang="en-US" sz="1400" dirty="0" err="1">
                <a:solidFill>
                  <a:schemeClr val="tx2"/>
                </a:solidFill>
              </a:rPr>
              <a:t>거절이유에</a:t>
            </a:r>
            <a:r>
              <a:rPr lang="ko-KR" altLang="en-US" sz="1400" dirty="0">
                <a:solidFill>
                  <a:schemeClr val="tx2"/>
                </a:solidFill>
              </a:rPr>
              <a:t> 해당한다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52①, 62). </a:t>
            </a:r>
          </a:p>
        </p:txBody>
      </p:sp>
      <p:cxnSp>
        <p:nvCxnSpPr>
          <p:cNvPr id="27" name="직선 연결선 26"/>
          <p:cNvCxnSpPr/>
          <p:nvPr/>
        </p:nvCxnSpPr>
        <p:spPr>
          <a:xfrm>
            <a:off x="0" y="194015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직선 화살표 연결선 48"/>
          <p:cNvCxnSpPr/>
          <p:nvPr/>
        </p:nvCxnSpPr>
        <p:spPr>
          <a:xfrm>
            <a:off x="811564" y="3100104"/>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1" name="Rectangle 14"/>
          <p:cNvSpPr>
            <a:spLocks noChangeArrowheads="1"/>
          </p:cNvSpPr>
          <p:nvPr/>
        </p:nvSpPr>
        <p:spPr bwMode="auto">
          <a:xfrm>
            <a:off x="1540559" y="2912588"/>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원출원</a:t>
            </a:r>
            <a:r>
              <a:rPr lang="en-US" altLang="ko-KR" sz="1400" dirty="0">
                <a:latin typeface="+mn-ea"/>
              </a:rPr>
              <a:t>(X)</a:t>
            </a:r>
            <a:endParaRPr lang="ko-KR" altLang="en-US" sz="1400" b="0" dirty="0">
              <a:latin typeface="+mn-ea"/>
            </a:endParaRPr>
          </a:p>
        </p:txBody>
      </p:sp>
      <p:sp>
        <p:nvSpPr>
          <p:cNvPr id="57" name="직사각형 56"/>
          <p:cNvSpPr/>
          <p:nvPr/>
        </p:nvSpPr>
        <p:spPr>
          <a:xfrm>
            <a:off x="1886402" y="2141452"/>
            <a:ext cx="932256" cy="306001"/>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58" name="직사각형 57"/>
          <p:cNvSpPr/>
          <p:nvPr/>
        </p:nvSpPr>
        <p:spPr>
          <a:xfrm>
            <a:off x="1886402" y="2447453"/>
            <a:ext cx="932256" cy="306001"/>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200" dirty="0">
              <a:solidFill>
                <a:schemeClr val="tx1"/>
              </a:solidFill>
            </a:endParaRPr>
          </a:p>
        </p:txBody>
      </p:sp>
      <p:sp>
        <p:nvSpPr>
          <p:cNvPr id="60" name="직사각형 59"/>
          <p:cNvSpPr/>
          <p:nvPr/>
        </p:nvSpPr>
        <p:spPr>
          <a:xfrm>
            <a:off x="3926723" y="2141452"/>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a:t>
            </a:r>
            <a:endParaRPr lang="ko-KR" altLang="en-US" sz="1200" dirty="0">
              <a:solidFill>
                <a:schemeClr val="tx1"/>
              </a:solidFill>
            </a:endParaRPr>
          </a:p>
        </p:txBody>
      </p:sp>
      <p:sp>
        <p:nvSpPr>
          <p:cNvPr id="61" name="직사각형 60"/>
          <p:cNvSpPr/>
          <p:nvPr/>
        </p:nvSpPr>
        <p:spPr>
          <a:xfrm>
            <a:off x="3926723" y="2447454"/>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200" dirty="0">
              <a:solidFill>
                <a:schemeClr val="tx1"/>
              </a:solidFill>
            </a:endParaRPr>
          </a:p>
        </p:txBody>
      </p:sp>
      <p:sp>
        <p:nvSpPr>
          <p:cNvPr id="59" name="Rectangle 14"/>
          <p:cNvSpPr>
            <a:spLocks noChangeArrowheads="1"/>
          </p:cNvSpPr>
          <p:nvPr/>
        </p:nvSpPr>
        <p:spPr bwMode="auto">
          <a:xfrm>
            <a:off x="3624459" y="2912588"/>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보정</a:t>
            </a:r>
            <a:r>
              <a:rPr lang="en-US" altLang="ko-KR" sz="1400" dirty="0">
                <a:latin typeface="+mn-ea"/>
              </a:rPr>
              <a:t>(X)</a:t>
            </a:r>
            <a:endParaRPr lang="ko-KR" altLang="en-US" sz="1400" b="0" dirty="0">
              <a:latin typeface="+mn-ea"/>
            </a:endParaRPr>
          </a:p>
        </p:txBody>
      </p:sp>
      <p:sp>
        <p:nvSpPr>
          <p:cNvPr id="65" name="직사각형 64"/>
          <p:cNvSpPr/>
          <p:nvPr/>
        </p:nvSpPr>
        <p:spPr>
          <a:xfrm>
            <a:off x="6641598" y="3459109"/>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 C</a:t>
            </a:r>
            <a:endParaRPr lang="ko-KR" altLang="en-US" sz="1200" dirty="0">
              <a:solidFill>
                <a:schemeClr val="tx1"/>
              </a:solidFill>
            </a:endParaRPr>
          </a:p>
        </p:txBody>
      </p:sp>
      <p:sp>
        <p:nvSpPr>
          <p:cNvPr id="66" name="직사각형 65"/>
          <p:cNvSpPr/>
          <p:nvPr/>
        </p:nvSpPr>
        <p:spPr>
          <a:xfrm>
            <a:off x="6641598" y="3765111"/>
            <a:ext cx="932256" cy="306002"/>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 C</a:t>
            </a:r>
            <a:endParaRPr lang="ko-KR" altLang="en-US" sz="1200" dirty="0">
              <a:solidFill>
                <a:schemeClr val="tx1"/>
              </a:solidFill>
            </a:endParaRPr>
          </a:p>
        </p:txBody>
      </p:sp>
      <p:sp>
        <p:nvSpPr>
          <p:cNvPr id="67" name="Rectangle 14"/>
          <p:cNvSpPr>
            <a:spLocks noChangeArrowheads="1"/>
          </p:cNvSpPr>
          <p:nvPr/>
        </p:nvSpPr>
        <p:spPr bwMode="auto">
          <a:xfrm>
            <a:off x="6162884" y="2912588"/>
            <a:ext cx="1771442" cy="359005"/>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분할출원</a:t>
            </a:r>
            <a:r>
              <a:rPr lang="en-US" altLang="ko-KR" sz="1400" dirty="0">
                <a:latin typeface="+mn-ea"/>
              </a:rPr>
              <a:t>(Y)</a:t>
            </a:r>
            <a:endParaRPr lang="ko-KR" altLang="en-US" sz="1400" b="0" dirty="0">
              <a:latin typeface="+mn-ea"/>
            </a:endParaRPr>
          </a:p>
        </p:txBody>
      </p:sp>
      <p:sp>
        <p:nvSpPr>
          <p:cNvPr id="77" name="직사각형 76"/>
          <p:cNvSpPr/>
          <p:nvPr/>
        </p:nvSpPr>
        <p:spPr>
          <a:xfrm>
            <a:off x="9250817" y="3459109"/>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78" name="직사각형 77"/>
          <p:cNvSpPr/>
          <p:nvPr/>
        </p:nvSpPr>
        <p:spPr>
          <a:xfrm>
            <a:off x="9250817" y="3765111"/>
            <a:ext cx="932256" cy="306002"/>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200" dirty="0">
              <a:solidFill>
                <a:schemeClr val="tx1"/>
              </a:solidFill>
            </a:endParaRPr>
          </a:p>
        </p:txBody>
      </p:sp>
      <p:sp>
        <p:nvSpPr>
          <p:cNvPr id="79" name="Rectangle 14"/>
          <p:cNvSpPr>
            <a:spLocks noChangeArrowheads="1"/>
          </p:cNvSpPr>
          <p:nvPr/>
        </p:nvSpPr>
        <p:spPr bwMode="auto">
          <a:xfrm>
            <a:off x="8948553" y="2912588"/>
            <a:ext cx="1418541" cy="359005"/>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보정</a:t>
            </a:r>
            <a:r>
              <a:rPr lang="en-US" altLang="ko-KR" sz="1400" dirty="0">
                <a:latin typeface="+mn-ea"/>
              </a:rPr>
              <a:t>(Y)</a:t>
            </a:r>
            <a:endParaRPr lang="ko-KR" altLang="en-US" sz="1400" b="0" dirty="0">
              <a:latin typeface="+mn-ea"/>
            </a:endParaRPr>
          </a:p>
        </p:txBody>
      </p:sp>
      <p:cxnSp>
        <p:nvCxnSpPr>
          <p:cNvPr id="22" name="직선 화살표 연결선 21"/>
          <p:cNvCxnSpPr>
            <a:stCxn id="58" idx="3"/>
            <a:endCxn id="66" idx="1"/>
          </p:cNvCxnSpPr>
          <p:nvPr/>
        </p:nvCxnSpPr>
        <p:spPr>
          <a:xfrm>
            <a:off x="2818658" y="2600454"/>
            <a:ext cx="3822940" cy="1317658"/>
          </a:xfrm>
          <a:prstGeom prst="straightConnector1">
            <a:avLst/>
          </a:prstGeom>
          <a:ln w="28575">
            <a:solidFill>
              <a:srgbClr val="FF0000"/>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1" name="직선 화살표 연결선 80"/>
          <p:cNvCxnSpPr>
            <a:stCxn id="58" idx="3"/>
            <a:endCxn id="78" idx="1"/>
          </p:cNvCxnSpPr>
          <p:nvPr/>
        </p:nvCxnSpPr>
        <p:spPr>
          <a:xfrm>
            <a:off x="2818658" y="2600454"/>
            <a:ext cx="6432159" cy="1317658"/>
          </a:xfrm>
          <a:prstGeom prst="straightConnector1">
            <a:avLst/>
          </a:prstGeom>
          <a:ln w="28575">
            <a:solidFill>
              <a:srgbClr val="FF0000"/>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sp>
        <p:nvSpPr>
          <p:cNvPr id="82" name="직사각형 81"/>
          <p:cNvSpPr/>
          <p:nvPr/>
        </p:nvSpPr>
        <p:spPr>
          <a:xfrm>
            <a:off x="5471707" y="3415089"/>
            <a:ext cx="543739" cy="523220"/>
          </a:xfrm>
          <a:prstGeom prst="rect">
            <a:avLst/>
          </a:prstGeom>
        </p:spPr>
        <p:txBody>
          <a:bodyPr wrap="none">
            <a:spAutoFit/>
          </a:bodyPr>
          <a:lstStyle/>
          <a:p>
            <a:pPr fontAlgn="base"/>
            <a:r>
              <a:rPr lang="ko-KR" altLang="en-US" sz="2800" dirty="0">
                <a:solidFill>
                  <a:srgbClr val="FF0000"/>
                </a:solidFill>
              </a:rPr>
              <a:t>❶</a:t>
            </a:r>
          </a:p>
        </p:txBody>
      </p:sp>
      <p:sp>
        <p:nvSpPr>
          <p:cNvPr id="83" name="직사각형 82"/>
          <p:cNvSpPr/>
          <p:nvPr/>
        </p:nvSpPr>
        <p:spPr>
          <a:xfrm>
            <a:off x="8053991" y="3492033"/>
            <a:ext cx="543739" cy="523220"/>
          </a:xfrm>
          <a:prstGeom prst="rect">
            <a:avLst/>
          </a:prstGeom>
        </p:spPr>
        <p:txBody>
          <a:bodyPr wrap="none">
            <a:spAutoFit/>
          </a:bodyPr>
          <a:lstStyle/>
          <a:p>
            <a:pPr fontAlgn="base"/>
            <a:r>
              <a:rPr lang="ko-KR" altLang="en-US" sz="2800" dirty="0">
                <a:solidFill>
                  <a:srgbClr val="FF0000"/>
                </a:solidFill>
              </a:rPr>
              <a:t>❷</a:t>
            </a:r>
          </a:p>
        </p:txBody>
      </p:sp>
      <p:sp>
        <p:nvSpPr>
          <p:cNvPr id="32" name="Rectangle 14"/>
          <p:cNvSpPr>
            <a:spLocks noChangeArrowheads="1"/>
          </p:cNvSpPr>
          <p:nvPr/>
        </p:nvSpPr>
        <p:spPr bwMode="auto">
          <a:xfrm>
            <a:off x="1583679" y="4846163"/>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출원</a:t>
            </a:r>
            <a:r>
              <a:rPr lang="en-US" altLang="ko-KR" sz="1400" dirty="0">
                <a:latin typeface="+mn-ea"/>
              </a:rPr>
              <a:t>(X)</a:t>
            </a:r>
            <a:endParaRPr lang="ko-KR" altLang="en-US" sz="1400" b="0" dirty="0">
              <a:latin typeface="+mn-ea"/>
            </a:endParaRPr>
          </a:p>
        </p:txBody>
      </p:sp>
      <p:sp>
        <p:nvSpPr>
          <p:cNvPr id="33" name="직사각형 32"/>
          <p:cNvSpPr/>
          <p:nvPr/>
        </p:nvSpPr>
        <p:spPr>
          <a:xfrm>
            <a:off x="1826822" y="4162156"/>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a:t>
            </a:r>
            <a:endParaRPr lang="ko-KR" altLang="en-US" sz="1200" dirty="0">
              <a:solidFill>
                <a:schemeClr val="tx1"/>
              </a:solidFill>
            </a:endParaRPr>
          </a:p>
        </p:txBody>
      </p:sp>
      <p:sp>
        <p:nvSpPr>
          <p:cNvPr id="34" name="직사각형 33"/>
          <p:cNvSpPr/>
          <p:nvPr/>
        </p:nvSpPr>
        <p:spPr>
          <a:xfrm>
            <a:off x="1826822" y="4468158"/>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200" dirty="0">
              <a:solidFill>
                <a:schemeClr val="tx1"/>
              </a:solidFill>
            </a:endParaRPr>
          </a:p>
        </p:txBody>
      </p:sp>
      <p:sp>
        <p:nvSpPr>
          <p:cNvPr id="35" name="Rectangle 14"/>
          <p:cNvSpPr>
            <a:spLocks noChangeArrowheads="1"/>
          </p:cNvSpPr>
          <p:nvPr/>
        </p:nvSpPr>
        <p:spPr bwMode="auto">
          <a:xfrm>
            <a:off x="1583679" y="6169227"/>
            <a:ext cx="1418541" cy="359005"/>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출원</a:t>
            </a:r>
            <a:r>
              <a:rPr lang="en-US" altLang="ko-KR" sz="1400" dirty="0">
                <a:latin typeface="+mn-ea"/>
              </a:rPr>
              <a:t>(Y)</a:t>
            </a:r>
            <a:endParaRPr lang="ko-KR" altLang="en-US" sz="1400" b="0" dirty="0">
              <a:latin typeface="+mn-ea"/>
            </a:endParaRPr>
          </a:p>
        </p:txBody>
      </p:sp>
      <p:sp>
        <p:nvSpPr>
          <p:cNvPr id="36" name="직사각형 35"/>
          <p:cNvSpPr/>
          <p:nvPr/>
        </p:nvSpPr>
        <p:spPr>
          <a:xfrm>
            <a:off x="1826822" y="5485220"/>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37" name="직사각형 36"/>
          <p:cNvSpPr/>
          <p:nvPr/>
        </p:nvSpPr>
        <p:spPr>
          <a:xfrm>
            <a:off x="1826822" y="5791222"/>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200" dirty="0">
              <a:solidFill>
                <a:schemeClr val="tx1"/>
              </a:solidFill>
            </a:endParaRPr>
          </a:p>
        </p:txBody>
      </p:sp>
      <p:cxnSp>
        <p:nvCxnSpPr>
          <p:cNvPr id="38" name="직선 화살표 연결선 37"/>
          <p:cNvCxnSpPr>
            <a:endCxn id="32" idx="3"/>
          </p:cNvCxnSpPr>
          <p:nvPr/>
        </p:nvCxnSpPr>
        <p:spPr>
          <a:xfrm flipH="1">
            <a:off x="3002220" y="3287621"/>
            <a:ext cx="1380653" cy="1738045"/>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0" name="직선 연결선 39"/>
          <p:cNvCxnSpPr/>
          <p:nvPr/>
        </p:nvCxnSpPr>
        <p:spPr>
          <a:xfrm>
            <a:off x="7046030" y="3100104"/>
            <a:ext cx="0" cy="357692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Rectangle 14"/>
          <p:cNvSpPr>
            <a:spLocks noChangeArrowheads="1"/>
          </p:cNvSpPr>
          <p:nvPr/>
        </p:nvSpPr>
        <p:spPr bwMode="auto">
          <a:xfrm>
            <a:off x="6336759" y="6169227"/>
            <a:ext cx="1418541" cy="359005"/>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출원</a:t>
            </a:r>
            <a:r>
              <a:rPr lang="en-US" altLang="ko-KR" sz="1400" dirty="0">
                <a:latin typeface="+mn-ea"/>
              </a:rPr>
              <a:t>(Y)</a:t>
            </a:r>
            <a:endParaRPr lang="ko-KR" altLang="en-US" sz="1400" b="0" dirty="0">
              <a:latin typeface="+mn-ea"/>
            </a:endParaRPr>
          </a:p>
        </p:txBody>
      </p:sp>
      <p:sp>
        <p:nvSpPr>
          <p:cNvPr id="42" name="직사각형 41"/>
          <p:cNvSpPr/>
          <p:nvPr/>
        </p:nvSpPr>
        <p:spPr>
          <a:xfrm>
            <a:off x="6579902" y="5485220"/>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43" name="직사각형 42"/>
          <p:cNvSpPr/>
          <p:nvPr/>
        </p:nvSpPr>
        <p:spPr>
          <a:xfrm>
            <a:off x="6579902" y="5791222"/>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200" dirty="0">
              <a:solidFill>
                <a:schemeClr val="tx1"/>
              </a:solidFill>
            </a:endParaRPr>
          </a:p>
        </p:txBody>
      </p:sp>
      <p:cxnSp>
        <p:nvCxnSpPr>
          <p:cNvPr id="44" name="직선 화살표 연결선 43"/>
          <p:cNvCxnSpPr>
            <a:cxnSpLocks/>
          </p:cNvCxnSpPr>
          <p:nvPr/>
        </p:nvCxnSpPr>
        <p:spPr>
          <a:xfrm flipH="1">
            <a:off x="7788373" y="3278409"/>
            <a:ext cx="1201982" cy="3005490"/>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7" name="직선 화살표 연결선 46"/>
          <p:cNvCxnSpPr>
            <a:stCxn id="41" idx="1"/>
            <a:endCxn id="35" idx="3"/>
          </p:cNvCxnSpPr>
          <p:nvPr/>
        </p:nvCxnSpPr>
        <p:spPr>
          <a:xfrm flipH="1">
            <a:off x="3002220" y="6348730"/>
            <a:ext cx="3334539" cy="0"/>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3389824" y="4003950"/>
            <a:ext cx="1290738" cy="646331"/>
          </a:xfrm>
          <a:prstGeom prst="rect">
            <a:avLst/>
          </a:prstGeom>
          <a:solidFill>
            <a:schemeClr val="bg1"/>
          </a:solidFill>
        </p:spPr>
        <p:txBody>
          <a:bodyPr wrap="none" rtlCol="0">
            <a:spAutoFit/>
          </a:bodyPr>
          <a:lstStyle/>
          <a:p>
            <a:r>
              <a:rPr lang="ko-KR" altLang="en-US" dirty="0">
                <a:solidFill>
                  <a:srgbClr val="FF0000"/>
                </a:solidFill>
              </a:rPr>
              <a:t>보정에 의한</a:t>
            </a:r>
            <a:endParaRPr lang="en-US" altLang="ko-KR" dirty="0">
              <a:solidFill>
                <a:srgbClr val="FF0000"/>
              </a:solidFill>
            </a:endParaRPr>
          </a:p>
          <a:p>
            <a:r>
              <a:rPr lang="ko-KR" altLang="en-US" dirty="0">
                <a:solidFill>
                  <a:srgbClr val="FF0000"/>
                </a:solidFill>
              </a:rPr>
              <a:t>출원일 소급</a:t>
            </a:r>
          </a:p>
        </p:txBody>
      </p:sp>
      <p:sp>
        <p:nvSpPr>
          <p:cNvPr id="52" name="TextBox 51"/>
          <p:cNvSpPr txBox="1"/>
          <p:nvPr/>
        </p:nvSpPr>
        <p:spPr>
          <a:xfrm>
            <a:off x="7685116" y="4594118"/>
            <a:ext cx="1290738" cy="646331"/>
          </a:xfrm>
          <a:prstGeom prst="rect">
            <a:avLst/>
          </a:prstGeom>
          <a:solidFill>
            <a:schemeClr val="bg1"/>
          </a:solidFill>
        </p:spPr>
        <p:txBody>
          <a:bodyPr wrap="none" rtlCol="0">
            <a:spAutoFit/>
          </a:bodyPr>
          <a:lstStyle/>
          <a:p>
            <a:r>
              <a:rPr lang="ko-KR" altLang="en-US" dirty="0">
                <a:solidFill>
                  <a:srgbClr val="FF0000"/>
                </a:solidFill>
              </a:rPr>
              <a:t>보정에 의한</a:t>
            </a:r>
            <a:endParaRPr lang="en-US" altLang="ko-KR" dirty="0">
              <a:solidFill>
                <a:srgbClr val="FF0000"/>
              </a:solidFill>
            </a:endParaRPr>
          </a:p>
          <a:p>
            <a:r>
              <a:rPr lang="ko-KR" altLang="en-US" dirty="0">
                <a:solidFill>
                  <a:srgbClr val="FF0000"/>
                </a:solidFill>
              </a:rPr>
              <a:t>출원일 소급</a:t>
            </a:r>
          </a:p>
        </p:txBody>
      </p:sp>
      <p:sp>
        <p:nvSpPr>
          <p:cNvPr id="53" name="TextBox 52"/>
          <p:cNvSpPr txBox="1"/>
          <p:nvPr/>
        </p:nvSpPr>
        <p:spPr>
          <a:xfrm>
            <a:off x="4084759" y="6022868"/>
            <a:ext cx="1707519" cy="646331"/>
          </a:xfrm>
          <a:prstGeom prst="rect">
            <a:avLst/>
          </a:prstGeom>
          <a:solidFill>
            <a:schemeClr val="bg1"/>
          </a:solidFill>
        </p:spPr>
        <p:txBody>
          <a:bodyPr wrap="none" rtlCol="0">
            <a:spAutoFit/>
          </a:bodyPr>
          <a:lstStyle/>
          <a:p>
            <a:pPr algn="ctr"/>
            <a:r>
              <a:rPr lang="ko-KR" altLang="en-US" dirty="0" err="1">
                <a:solidFill>
                  <a:srgbClr val="FF0000"/>
                </a:solidFill>
              </a:rPr>
              <a:t>분할출원에</a:t>
            </a:r>
            <a:r>
              <a:rPr lang="ko-KR" altLang="en-US" dirty="0">
                <a:solidFill>
                  <a:srgbClr val="FF0000"/>
                </a:solidFill>
              </a:rPr>
              <a:t> 의한</a:t>
            </a:r>
            <a:endParaRPr lang="en-US" altLang="ko-KR" dirty="0">
              <a:solidFill>
                <a:srgbClr val="FF0000"/>
              </a:solidFill>
            </a:endParaRPr>
          </a:p>
          <a:p>
            <a:pPr algn="ctr"/>
            <a:r>
              <a:rPr lang="ko-KR" altLang="en-US" dirty="0">
                <a:solidFill>
                  <a:srgbClr val="FF0000"/>
                </a:solidFill>
              </a:rPr>
              <a:t>출원일 소급</a:t>
            </a:r>
          </a:p>
        </p:txBody>
      </p:sp>
      <p:cxnSp>
        <p:nvCxnSpPr>
          <p:cNvPr id="54" name="직선 화살표 연결선 53"/>
          <p:cNvCxnSpPr>
            <a:endCxn id="77" idx="1"/>
          </p:cNvCxnSpPr>
          <p:nvPr/>
        </p:nvCxnSpPr>
        <p:spPr>
          <a:xfrm>
            <a:off x="4837911" y="2289961"/>
            <a:ext cx="4412906" cy="1322149"/>
          </a:xfrm>
          <a:prstGeom prst="straightConnector1">
            <a:avLst/>
          </a:prstGeom>
          <a:ln w="28575">
            <a:solidFill>
              <a:srgbClr val="FF0000"/>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5491709" y="2421920"/>
            <a:ext cx="1043876" cy="307777"/>
          </a:xfrm>
          <a:prstGeom prst="rect">
            <a:avLst/>
          </a:prstGeom>
          <a:solidFill>
            <a:schemeClr val="bg1"/>
          </a:solidFill>
        </p:spPr>
        <p:txBody>
          <a:bodyPr wrap="none" rtlCol="0">
            <a:spAutoFit/>
          </a:bodyPr>
          <a:lstStyle/>
          <a:p>
            <a:r>
              <a:rPr lang="ko-KR" altLang="en-US" sz="1400" err="1"/>
              <a:t>협의제</a:t>
            </a:r>
            <a:r>
              <a:rPr lang="ko-KR" altLang="en-US" sz="1400" dirty="0"/>
              <a:t> 회피</a:t>
            </a:r>
          </a:p>
        </p:txBody>
      </p:sp>
      <p:sp>
        <p:nvSpPr>
          <p:cNvPr id="2" name="슬라이드 번호 개체 틀 1"/>
          <p:cNvSpPr>
            <a:spLocks noGrp="1"/>
          </p:cNvSpPr>
          <p:nvPr>
            <p:ph type="sldNum" sz="quarter" idx="12"/>
          </p:nvPr>
        </p:nvSpPr>
        <p:spPr/>
        <p:txBody>
          <a:bodyPr/>
          <a:lstStyle/>
          <a:p>
            <a:r>
              <a:rPr lang="en-US" altLang="ko-KR"/>
              <a:t>193</a:t>
            </a:r>
            <a:endParaRPr lang="ko-KR" altLang="en-US"/>
          </a:p>
        </p:txBody>
      </p:sp>
    </p:spTree>
    <p:extLst>
      <p:ext uri="{BB962C8B-B14F-4D97-AF65-F5344CB8AC3E}">
        <p14:creationId xmlns:p14="http://schemas.microsoft.com/office/powerpoint/2010/main" val="2965618492"/>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양쪽 모서리가 둥근 사각형 7"/>
          <p:cNvSpPr/>
          <p:nvPr/>
        </p:nvSpPr>
        <p:spPr>
          <a:xfrm>
            <a:off x="3842173" y="1943099"/>
            <a:ext cx="4110606" cy="499779"/>
          </a:xfrm>
          <a:prstGeom prst="round2SameRect">
            <a:avLst>
              <a:gd name="adj1" fmla="val 50000"/>
              <a:gd name="adj2" fmla="val 0"/>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3</a:t>
            </a:r>
            <a:r>
              <a:rPr lang="ko-KR" altLang="en-US" dirty="0">
                <a:solidFill>
                  <a:schemeClr val="tx1"/>
                </a:solidFill>
              </a:rPr>
              <a:t>개월</a:t>
            </a:r>
          </a:p>
        </p:txBody>
      </p:sp>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p>
        </p:txBody>
      </p:sp>
      <p:sp>
        <p:nvSpPr>
          <p:cNvPr id="4" name="텍스트 개체 틀 3"/>
          <p:cNvSpPr>
            <a:spLocks noGrp="1"/>
          </p:cNvSpPr>
          <p:nvPr>
            <p:ph type="body" sz="quarter" idx="13"/>
          </p:nvPr>
        </p:nvSpPr>
        <p:spPr/>
        <p:txBody>
          <a:bodyPr/>
          <a:lstStyle/>
          <a:p>
            <a:r>
              <a:rPr lang="ko-KR" altLang="en-US" dirty="0"/>
              <a:t>시기적 요건</a:t>
            </a:r>
          </a:p>
        </p:txBody>
      </p:sp>
      <p:sp>
        <p:nvSpPr>
          <p:cNvPr id="26" name="TextBox 25"/>
          <p:cNvSpPr txBox="1"/>
          <p:nvPr/>
        </p:nvSpPr>
        <p:spPr>
          <a:xfrm>
            <a:off x="77875" y="986046"/>
            <a:ext cx="11936323" cy="738664"/>
          </a:xfrm>
          <a:prstGeom prst="rect">
            <a:avLst/>
          </a:prstGeom>
          <a:noFill/>
        </p:spPr>
        <p:txBody>
          <a:bodyPr wrap="square" rtlCol="0">
            <a:spAutoFit/>
          </a:bodyPr>
          <a:lstStyle/>
          <a:p>
            <a:pPr fontAlgn="base"/>
            <a:r>
              <a:rPr lang="ko-KR" altLang="en-US" sz="1400" dirty="0">
                <a:solidFill>
                  <a:schemeClr val="tx2"/>
                </a:solidFill>
              </a:rPr>
              <a:t>특허거절결정등본을 </a:t>
            </a:r>
            <a:r>
              <a:rPr lang="ko-KR" altLang="en-US" sz="1400" dirty="0" err="1">
                <a:solidFill>
                  <a:schemeClr val="tx2"/>
                </a:solidFill>
              </a:rPr>
              <a:t>송달받은</a:t>
            </a:r>
            <a:r>
              <a:rPr lang="ko-KR" altLang="en-US" sz="1400" dirty="0">
                <a:solidFill>
                  <a:schemeClr val="tx2"/>
                </a:solidFill>
              </a:rPr>
              <a:t> 날부터 </a:t>
            </a:r>
            <a:r>
              <a:rPr lang="en-US" altLang="ko-KR" sz="1400" dirty="0">
                <a:solidFill>
                  <a:schemeClr val="tx2"/>
                </a:solidFill>
              </a:rPr>
              <a:t>3</a:t>
            </a:r>
            <a:r>
              <a:rPr lang="ko-KR" altLang="en-US" sz="1400" dirty="0">
                <a:solidFill>
                  <a:schemeClr val="tx2"/>
                </a:solidFill>
              </a:rPr>
              <a:t>개월 이내</a:t>
            </a:r>
            <a:r>
              <a:rPr lang="en-US" altLang="ko-KR" sz="1400" dirty="0">
                <a:solidFill>
                  <a:schemeClr val="tx2"/>
                </a:solidFill>
              </a:rPr>
              <a:t>(</a:t>
            </a:r>
            <a:r>
              <a:rPr lang="ko-KR" altLang="en-US" sz="1400" dirty="0" err="1">
                <a:solidFill>
                  <a:schemeClr val="tx2"/>
                </a:solidFill>
              </a:rPr>
              <a:t>거절결정불복심판청구를</a:t>
            </a:r>
            <a:r>
              <a:rPr lang="ko-KR" altLang="en-US" sz="1400" dirty="0">
                <a:solidFill>
                  <a:schemeClr val="tx2"/>
                </a:solidFill>
              </a:rPr>
              <a:t> 할 수 있는 기간이 연장된 경우에는 그 기간을 말한다</a:t>
            </a:r>
            <a:r>
              <a:rPr lang="en-US" altLang="ko-KR" sz="1400" dirty="0">
                <a:solidFill>
                  <a:schemeClr val="tx2"/>
                </a:solidFill>
              </a:rPr>
              <a:t>)</a:t>
            </a:r>
            <a:r>
              <a:rPr lang="ko-KR" altLang="en-US" sz="1400" dirty="0">
                <a:solidFill>
                  <a:schemeClr val="tx2"/>
                </a:solidFill>
              </a:rPr>
              <a:t>에는 거절결정불복심판을 청구하였더라도 </a:t>
            </a:r>
            <a:r>
              <a:rPr lang="ko-KR" altLang="en-US" sz="1400" dirty="0" err="1">
                <a:solidFill>
                  <a:schemeClr val="tx2"/>
                </a:solidFill>
              </a:rPr>
              <a:t>분할출원을</a:t>
            </a:r>
            <a:r>
              <a:rPr lang="ko-KR" altLang="en-US" sz="1400" dirty="0">
                <a:solidFill>
                  <a:schemeClr val="tx2"/>
                </a:solidFill>
              </a:rPr>
              <a:t> 할 수 있다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accent3">
                    <a:lumMod val="50000"/>
                  </a:schemeClr>
                </a:solidFill>
                <a:highlight>
                  <a:srgbClr val="FFFF00"/>
                </a:highlight>
              </a:rPr>
              <a:t>재심사청구가 있는 경우에는 특허거절결정은 취소된 것으로 보므로 </a:t>
            </a:r>
            <a:r>
              <a:rPr lang="ko-KR" altLang="en-US" sz="1400" dirty="0" err="1">
                <a:solidFill>
                  <a:schemeClr val="accent3">
                    <a:lumMod val="50000"/>
                  </a:schemeClr>
                </a:solidFill>
                <a:highlight>
                  <a:srgbClr val="FFFF00"/>
                </a:highlight>
              </a:rPr>
              <a:t>분할출원을</a:t>
            </a:r>
            <a:r>
              <a:rPr lang="ko-KR" altLang="en-US" sz="1400" dirty="0">
                <a:solidFill>
                  <a:schemeClr val="accent3">
                    <a:lumMod val="50000"/>
                  </a:schemeClr>
                </a:solidFill>
                <a:highlight>
                  <a:srgbClr val="FFFF00"/>
                </a:highlight>
              </a:rPr>
              <a:t> 할 수 없다</a:t>
            </a:r>
            <a:r>
              <a:rPr lang="en-US" altLang="ko-KR" sz="1400" dirty="0">
                <a:solidFill>
                  <a:schemeClr val="accent3">
                    <a:lumMod val="50000"/>
                  </a:schemeClr>
                </a:solidFill>
                <a:highlight>
                  <a:srgbClr val="FFFF00"/>
                </a:highlight>
              </a:rPr>
              <a:t>.</a:t>
            </a:r>
            <a:r>
              <a:rPr lang="en-US" altLang="ko-KR" sz="1400" dirty="0">
                <a:solidFill>
                  <a:srgbClr val="FF0000"/>
                </a:solidFill>
              </a:rPr>
              <a:t> </a:t>
            </a:r>
            <a:r>
              <a:rPr lang="ko-KR" altLang="en-US" sz="1400" dirty="0">
                <a:solidFill>
                  <a:schemeClr val="tx2"/>
                </a:solidFill>
              </a:rPr>
              <a:t>물론</a:t>
            </a:r>
            <a:r>
              <a:rPr lang="en-US" altLang="ko-KR" sz="1400" dirty="0">
                <a:solidFill>
                  <a:schemeClr val="tx2"/>
                </a:solidFill>
              </a:rPr>
              <a:t>, </a:t>
            </a:r>
            <a:r>
              <a:rPr lang="ko-KR" altLang="en-US" sz="1400" dirty="0">
                <a:solidFill>
                  <a:schemeClr val="tx2"/>
                </a:solidFill>
              </a:rPr>
              <a:t>재심사청구와 동시에 분할출원하거나 재심사 과정에서 거절이유통지에 따른 의견서 </a:t>
            </a:r>
            <a:r>
              <a:rPr lang="ko-KR" altLang="en-US" sz="1400" dirty="0" err="1">
                <a:solidFill>
                  <a:schemeClr val="tx2"/>
                </a:solidFill>
              </a:rPr>
              <a:t>제출기간에</a:t>
            </a:r>
            <a:r>
              <a:rPr lang="ko-KR" altLang="en-US" sz="1400" dirty="0">
                <a:solidFill>
                  <a:schemeClr val="tx2"/>
                </a:solidFill>
              </a:rPr>
              <a:t> 다시 </a:t>
            </a:r>
            <a:r>
              <a:rPr lang="ko-KR" altLang="en-US" sz="1400" dirty="0" err="1">
                <a:solidFill>
                  <a:schemeClr val="tx2"/>
                </a:solidFill>
              </a:rPr>
              <a:t>분할출원을</a:t>
            </a:r>
            <a:r>
              <a:rPr lang="ko-KR" altLang="en-US" sz="1400" dirty="0">
                <a:solidFill>
                  <a:schemeClr val="tx2"/>
                </a:solidFill>
              </a:rPr>
              <a:t> 할 수는 있다</a:t>
            </a:r>
            <a:r>
              <a:rPr lang="en-US" altLang="ko-KR" sz="1400" dirty="0">
                <a:solidFill>
                  <a:schemeClr val="tx2"/>
                </a:solidFill>
              </a:rPr>
              <a:t>.</a:t>
            </a:r>
          </a:p>
        </p:txBody>
      </p:sp>
      <p:cxnSp>
        <p:nvCxnSpPr>
          <p:cNvPr id="27" name="직선 연결선 26"/>
          <p:cNvCxnSpPr/>
          <p:nvPr/>
        </p:nvCxnSpPr>
        <p:spPr>
          <a:xfrm>
            <a:off x="0" y="172107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직선 화살표 연결선 48"/>
          <p:cNvCxnSpPr/>
          <p:nvPr/>
        </p:nvCxnSpPr>
        <p:spPr>
          <a:xfrm>
            <a:off x="811564" y="2442879"/>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1" name="Rectangle 14"/>
          <p:cNvSpPr>
            <a:spLocks noChangeArrowheads="1"/>
          </p:cNvSpPr>
          <p:nvPr/>
        </p:nvSpPr>
        <p:spPr bwMode="auto">
          <a:xfrm>
            <a:off x="607469" y="2253851"/>
            <a:ext cx="853392"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출원</a:t>
            </a:r>
            <a:r>
              <a:rPr lang="en-US" altLang="ko-KR" sz="1400" dirty="0">
                <a:latin typeface="+mn-ea"/>
              </a:rPr>
              <a:t>(X)</a:t>
            </a:r>
            <a:endParaRPr lang="ko-KR" altLang="en-US" sz="1400" b="0" dirty="0">
              <a:latin typeface="+mn-ea"/>
            </a:endParaRPr>
          </a:p>
        </p:txBody>
      </p:sp>
      <p:sp>
        <p:nvSpPr>
          <p:cNvPr id="46" name="Rectangle 14"/>
          <p:cNvSpPr>
            <a:spLocks noChangeArrowheads="1"/>
          </p:cNvSpPr>
          <p:nvPr/>
        </p:nvSpPr>
        <p:spPr bwMode="auto">
          <a:xfrm>
            <a:off x="1842193" y="2253851"/>
            <a:ext cx="1089044"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거절결정</a:t>
            </a:r>
            <a:r>
              <a:rPr lang="en-US" altLang="ko-KR" sz="1400" dirty="0">
                <a:latin typeface="+mn-ea"/>
              </a:rPr>
              <a:t>(X)</a:t>
            </a:r>
            <a:endParaRPr lang="ko-KR" altLang="en-US" sz="1400" b="0" dirty="0">
              <a:latin typeface="+mn-ea"/>
            </a:endParaRPr>
          </a:p>
        </p:txBody>
      </p:sp>
      <p:sp>
        <p:nvSpPr>
          <p:cNvPr id="55" name="Rectangle 14"/>
          <p:cNvSpPr>
            <a:spLocks noChangeArrowheads="1"/>
          </p:cNvSpPr>
          <p:nvPr/>
        </p:nvSpPr>
        <p:spPr bwMode="auto">
          <a:xfrm>
            <a:off x="3297651" y="2253851"/>
            <a:ext cx="1089044"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등본송달</a:t>
            </a:r>
            <a:r>
              <a:rPr lang="en-US" altLang="ko-KR" sz="1400" dirty="0">
                <a:latin typeface="+mn-ea"/>
              </a:rPr>
              <a:t>(X)</a:t>
            </a:r>
            <a:endParaRPr lang="ko-KR" altLang="en-US" sz="1400" b="0" dirty="0">
              <a:latin typeface="+mn-ea"/>
            </a:endParaRPr>
          </a:p>
        </p:txBody>
      </p:sp>
      <p:sp>
        <p:nvSpPr>
          <p:cNvPr id="63" name="Rectangle 14"/>
          <p:cNvSpPr>
            <a:spLocks noChangeArrowheads="1"/>
          </p:cNvSpPr>
          <p:nvPr/>
        </p:nvSpPr>
        <p:spPr bwMode="auto">
          <a:xfrm>
            <a:off x="5252143" y="3340487"/>
            <a:ext cx="1089044"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심판청구</a:t>
            </a:r>
            <a:r>
              <a:rPr lang="en-US" altLang="ko-KR" sz="1400" dirty="0">
                <a:latin typeface="+mn-ea"/>
              </a:rPr>
              <a:t>(X)</a:t>
            </a:r>
            <a:endParaRPr lang="ko-KR" altLang="en-US" sz="1400" b="0" dirty="0">
              <a:latin typeface="+mn-ea"/>
            </a:endParaRPr>
          </a:p>
        </p:txBody>
      </p:sp>
      <p:cxnSp>
        <p:nvCxnSpPr>
          <p:cNvPr id="10" name="직선 연결선 9"/>
          <p:cNvCxnSpPr>
            <a:stCxn id="63" idx="0"/>
          </p:cNvCxnSpPr>
          <p:nvPr/>
        </p:nvCxnSpPr>
        <p:spPr>
          <a:xfrm flipV="1">
            <a:off x="5796665" y="2464873"/>
            <a:ext cx="0" cy="87561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 name="직선 연결선 11"/>
          <p:cNvCxnSpPr>
            <a:stCxn id="55" idx="2"/>
          </p:cNvCxnSpPr>
          <p:nvPr/>
        </p:nvCxnSpPr>
        <p:spPr>
          <a:xfrm flipH="1">
            <a:off x="3842172" y="2612856"/>
            <a:ext cx="1" cy="949494"/>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직선 연결선 63"/>
          <p:cNvCxnSpPr/>
          <p:nvPr/>
        </p:nvCxnSpPr>
        <p:spPr>
          <a:xfrm>
            <a:off x="7952779" y="2439248"/>
            <a:ext cx="1" cy="1123102"/>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Rectangle 14"/>
          <p:cNvSpPr>
            <a:spLocks noChangeArrowheads="1"/>
          </p:cNvSpPr>
          <p:nvPr/>
        </p:nvSpPr>
        <p:spPr bwMode="auto">
          <a:xfrm>
            <a:off x="8738293" y="3340487"/>
            <a:ext cx="1089044"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인용심결</a:t>
            </a:r>
            <a:r>
              <a:rPr lang="en-US" altLang="ko-KR" sz="1400" dirty="0">
                <a:latin typeface="+mn-ea"/>
              </a:rPr>
              <a:t>(X)</a:t>
            </a:r>
            <a:endParaRPr lang="ko-KR" altLang="en-US" sz="1400" b="0" dirty="0">
              <a:latin typeface="+mn-ea"/>
            </a:endParaRPr>
          </a:p>
        </p:txBody>
      </p:sp>
      <p:cxnSp>
        <p:nvCxnSpPr>
          <p:cNvPr id="69" name="직선 연결선 68"/>
          <p:cNvCxnSpPr>
            <a:stCxn id="68" idx="0"/>
          </p:cNvCxnSpPr>
          <p:nvPr/>
        </p:nvCxnSpPr>
        <p:spPr>
          <a:xfrm flipV="1">
            <a:off x="9282815" y="2464873"/>
            <a:ext cx="0" cy="87561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 name="모서리가 둥근 사각형 설명선 15"/>
          <p:cNvSpPr/>
          <p:nvPr/>
        </p:nvSpPr>
        <p:spPr>
          <a:xfrm>
            <a:off x="10115551" y="3067050"/>
            <a:ext cx="1898648" cy="742950"/>
          </a:xfrm>
          <a:prstGeom prst="wedgeRoundRectCallout">
            <a:avLst>
              <a:gd name="adj1" fmla="val -64845"/>
              <a:gd name="adj2" fmla="val 17628"/>
              <a:gd name="adj3" fmla="val 16667"/>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accent4">
                    <a:lumMod val="40000"/>
                    <a:lumOff val="60000"/>
                  </a:schemeClr>
                </a:solidFill>
              </a:rPr>
              <a:t>거절결정취소</a:t>
            </a:r>
            <a:endParaRPr lang="en-US" altLang="ko-KR" sz="1400" dirty="0">
              <a:solidFill>
                <a:schemeClr val="accent4">
                  <a:lumMod val="40000"/>
                  <a:lumOff val="60000"/>
                </a:schemeClr>
              </a:solidFill>
            </a:endParaRPr>
          </a:p>
          <a:p>
            <a:pPr algn="ctr"/>
            <a:r>
              <a:rPr lang="en-US" altLang="ko-KR" sz="1400" dirty="0">
                <a:solidFill>
                  <a:schemeClr val="accent4">
                    <a:lumMod val="40000"/>
                    <a:lumOff val="60000"/>
                  </a:schemeClr>
                </a:solidFill>
              </a:rPr>
              <a:t>+</a:t>
            </a:r>
          </a:p>
          <a:p>
            <a:pPr algn="ctr"/>
            <a:r>
              <a:rPr lang="ko-KR" altLang="en-US" sz="1400" dirty="0">
                <a:solidFill>
                  <a:schemeClr val="accent4">
                    <a:lumMod val="40000"/>
                    <a:lumOff val="60000"/>
                  </a:schemeClr>
                </a:solidFill>
              </a:rPr>
              <a:t>자판 또는 환송</a:t>
            </a:r>
            <a:endParaRPr lang="en-US" altLang="ko-KR" sz="1400" dirty="0">
              <a:solidFill>
                <a:schemeClr val="accent4">
                  <a:lumMod val="40000"/>
                  <a:lumOff val="60000"/>
                </a:schemeClr>
              </a:solidFill>
            </a:endParaRPr>
          </a:p>
        </p:txBody>
      </p:sp>
      <p:cxnSp>
        <p:nvCxnSpPr>
          <p:cNvPr id="70" name="직선 연결선 69"/>
          <p:cNvCxnSpPr/>
          <p:nvPr/>
        </p:nvCxnSpPr>
        <p:spPr>
          <a:xfrm>
            <a:off x="342900" y="4143375"/>
            <a:ext cx="11496675" cy="924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직선 화살표 연결선 19"/>
          <p:cNvCxnSpPr/>
          <p:nvPr/>
        </p:nvCxnSpPr>
        <p:spPr>
          <a:xfrm>
            <a:off x="3842172" y="3067050"/>
            <a:ext cx="4110607" cy="0"/>
          </a:xfrm>
          <a:prstGeom prst="straightConnector1">
            <a:avLst/>
          </a:prstGeom>
          <a:ln w="57150">
            <a:solidFill>
              <a:schemeClr val="accent2">
                <a:lumMod val="7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1" name="Rectangle 14"/>
          <p:cNvSpPr>
            <a:spLocks noChangeArrowheads="1"/>
          </p:cNvSpPr>
          <p:nvPr/>
        </p:nvSpPr>
        <p:spPr bwMode="auto">
          <a:xfrm>
            <a:off x="5894513" y="2899600"/>
            <a:ext cx="1649756" cy="366818"/>
          </a:xfrm>
          <a:prstGeom prst="rect">
            <a:avLst/>
          </a:prstGeom>
          <a:solidFill>
            <a:schemeClr val="bg1"/>
          </a:solid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b="0" i="0" u="none" strike="noStrike" kern="0" cap="none" spc="0" normalizeH="0" baseline="0" noProof="0">
                <a:ln>
                  <a:noFill/>
                </a:ln>
                <a:solidFill>
                  <a:srgbClr val="FF0000"/>
                </a:solidFill>
                <a:effectLst/>
                <a:uLnTx/>
                <a:uFillTx/>
                <a:latin typeface="+mn-ea"/>
              </a:rPr>
              <a:t>분할출원가능</a:t>
            </a:r>
            <a:endParaRPr kumimoji="0" lang="ko-KR" altLang="en-US" b="0" i="0" u="none" strike="noStrike" kern="0" cap="none" spc="0" normalizeH="0" baseline="0" noProof="0" dirty="0">
              <a:ln>
                <a:noFill/>
              </a:ln>
              <a:solidFill>
                <a:srgbClr val="FF0000"/>
              </a:solidFill>
              <a:effectLst/>
              <a:uLnTx/>
              <a:uFillTx/>
              <a:latin typeface="+mn-ea"/>
            </a:endParaRPr>
          </a:p>
        </p:txBody>
      </p:sp>
      <p:sp>
        <p:nvSpPr>
          <p:cNvPr id="72" name="양쪽 모서리가 둥근 사각형 71"/>
          <p:cNvSpPr/>
          <p:nvPr/>
        </p:nvSpPr>
        <p:spPr>
          <a:xfrm>
            <a:off x="3842173" y="4535281"/>
            <a:ext cx="4110606" cy="499779"/>
          </a:xfrm>
          <a:prstGeom prst="round2SameRect">
            <a:avLst>
              <a:gd name="adj1" fmla="val 50000"/>
              <a:gd name="adj2" fmla="val 0"/>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3</a:t>
            </a:r>
            <a:r>
              <a:rPr lang="ko-KR" altLang="en-US" dirty="0">
                <a:solidFill>
                  <a:schemeClr val="tx1"/>
                </a:solidFill>
              </a:rPr>
              <a:t>개월</a:t>
            </a:r>
          </a:p>
        </p:txBody>
      </p:sp>
      <p:cxnSp>
        <p:nvCxnSpPr>
          <p:cNvPr id="73" name="직선 화살표 연결선 72"/>
          <p:cNvCxnSpPr/>
          <p:nvPr/>
        </p:nvCxnSpPr>
        <p:spPr>
          <a:xfrm>
            <a:off x="811564" y="5035061"/>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4" name="Rectangle 14"/>
          <p:cNvSpPr>
            <a:spLocks noChangeArrowheads="1"/>
          </p:cNvSpPr>
          <p:nvPr/>
        </p:nvSpPr>
        <p:spPr bwMode="auto">
          <a:xfrm>
            <a:off x="607469" y="4846033"/>
            <a:ext cx="853392"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출원</a:t>
            </a:r>
            <a:r>
              <a:rPr lang="en-US" altLang="ko-KR" sz="1400" dirty="0">
                <a:latin typeface="+mn-ea"/>
              </a:rPr>
              <a:t>(X)</a:t>
            </a:r>
            <a:endParaRPr lang="ko-KR" altLang="en-US" sz="1400" b="0" dirty="0">
              <a:latin typeface="+mn-ea"/>
            </a:endParaRPr>
          </a:p>
        </p:txBody>
      </p:sp>
      <p:sp>
        <p:nvSpPr>
          <p:cNvPr id="75" name="Rectangle 14"/>
          <p:cNvSpPr>
            <a:spLocks noChangeArrowheads="1"/>
          </p:cNvSpPr>
          <p:nvPr/>
        </p:nvSpPr>
        <p:spPr bwMode="auto">
          <a:xfrm>
            <a:off x="1842193" y="4846033"/>
            <a:ext cx="1089044"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거절결정</a:t>
            </a:r>
            <a:r>
              <a:rPr lang="en-US" altLang="ko-KR" sz="1400" dirty="0">
                <a:latin typeface="+mn-ea"/>
              </a:rPr>
              <a:t>(X)</a:t>
            </a:r>
            <a:endParaRPr lang="ko-KR" altLang="en-US" sz="1400" b="0" dirty="0">
              <a:latin typeface="+mn-ea"/>
            </a:endParaRPr>
          </a:p>
        </p:txBody>
      </p:sp>
      <p:sp>
        <p:nvSpPr>
          <p:cNvPr id="76" name="Rectangle 14"/>
          <p:cNvSpPr>
            <a:spLocks noChangeArrowheads="1"/>
          </p:cNvSpPr>
          <p:nvPr/>
        </p:nvSpPr>
        <p:spPr bwMode="auto">
          <a:xfrm>
            <a:off x="3297651" y="4846033"/>
            <a:ext cx="1089044"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등본송달</a:t>
            </a:r>
            <a:r>
              <a:rPr lang="en-US" altLang="ko-KR" sz="1400" dirty="0">
                <a:latin typeface="+mn-ea"/>
              </a:rPr>
              <a:t>(X)</a:t>
            </a:r>
            <a:endParaRPr lang="ko-KR" altLang="en-US" sz="1400" b="0" dirty="0">
              <a:latin typeface="+mn-ea"/>
            </a:endParaRPr>
          </a:p>
        </p:txBody>
      </p:sp>
      <p:sp>
        <p:nvSpPr>
          <p:cNvPr id="80" name="Rectangle 14"/>
          <p:cNvSpPr>
            <a:spLocks noChangeArrowheads="1"/>
          </p:cNvSpPr>
          <p:nvPr/>
        </p:nvSpPr>
        <p:spPr bwMode="auto">
          <a:xfrm>
            <a:off x="5097280" y="5932669"/>
            <a:ext cx="1398770" cy="550101"/>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재심사청구</a:t>
            </a:r>
            <a:r>
              <a:rPr lang="en-US" altLang="ko-KR" sz="1400" dirty="0">
                <a:latin typeface="+mn-ea"/>
              </a:rPr>
              <a:t>(X)</a:t>
            </a:r>
          </a:p>
          <a:p>
            <a:pPr algn="ctr"/>
            <a:r>
              <a:rPr lang="en-US" altLang="ko-KR" sz="1400" b="0" dirty="0">
                <a:latin typeface="+mn-ea"/>
              </a:rPr>
              <a:t>(</a:t>
            </a:r>
            <a:r>
              <a:rPr lang="ko-KR" altLang="en-US" sz="1400" b="0" dirty="0">
                <a:latin typeface="+mn-ea"/>
              </a:rPr>
              <a:t>보정</a:t>
            </a:r>
            <a:r>
              <a:rPr lang="en-US" altLang="ko-KR" sz="1400" b="0" dirty="0">
                <a:latin typeface="+mn-ea"/>
              </a:rPr>
              <a:t>)</a:t>
            </a:r>
            <a:endParaRPr lang="ko-KR" altLang="en-US" sz="1400" b="0" dirty="0">
              <a:latin typeface="+mn-ea"/>
            </a:endParaRPr>
          </a:p>
        </p:txBody>
      </p:sp>
      <p:cxnSp>
        <p:nvCxnSpPr>
          <p:cNvPr id="84" name="직선 연결선 83"/>
          <p:cNvCxnSpPr>
            <a:stCxn id="80" idx="0"/>
          </p:cNvCxnSpPr>
          <p:nvPr/>
        </p:nvCxnSpPr>
        <p:spPr>
          <a:xfrm flipV="1">
            <a:off x="5796665" y="5057055"/>
            <a:ext cx="0" cy="87561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직선 연결선 84"/>
          <p:cNvCxnSpPr>
            <a:stCxn id="76" idx="2"/>
          </p:cNvCxnSpPr>
          <p:nvPr/>
        </p:nvCxnSpPr>
        <p:spPr>
          <a:xfrm flipH="1">
            <a:off x="3842172" y="5205038"/>
            <a:ext cx="1" cy="949494"/>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직선 화살표 연결선 89"/>
          <p:cNvCxnSpPr/>
          <p:nvPr/>
        </p:nvCxnSpPr>
        <p:spPr>
          <a:xfrm>
            <a:off x="3842172" y="5659232"/>
            <a:ext cx="1954493" cy="0"/>
          </a:xfrm>
          <a:prstGeom prst="straightConnector1">
            <a:avLst/>
          </a:prstGeom>
          <a:ln w="57150">
            <a:solidFill>
              <a:schemeClr val="accent2">
                <a:lumMod val="7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1" name="Rectangle 14"/>
          <p:cNvSpPr>
            <a:spLocks noChangeArrowheads="1"/>
          </p:cNvSpPr>
          <p:nvPr/>
        </p:nvSpPr>
        <p:spPr bwMode="auto">
          <a:xfrm>
            <a:off x="4087466" y="5475823"/>
            <a:ext cx="1479029" cy="366818"/>
          </a:xfrm>
          <a:prstGeom prst="rect">
            <a:avLst/>
          </a:prstGeom>
          <a:solidFill>
            <a:schemeClr val="bg1"/>
          </a:solidFill>
          <a:ln w="9525" algn="ctr">
            <a:no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ko-KR" altLang="en-US" b="0" i="0" u="none" strike="noStrike" kern="0" cap="none" spc="0" normalizeH="0" baseline="0" noProof="0">
                <a:ln>
                  <a:noFill/>
                </a:ln>
                <a:solidFill>
                  <a:srgbClr val="FF0000"/>
                </a:solidFill>
                <a:effectLst/>
                <a:uLnTx/>
                <a:uFillTx/>
                <a:latin typeface="+mn-ea"/>
              </a:rPr>
              <a:t>분할출원가능</a:t>
            </a:r>
            <a:endParaRPr kumimoji="0" lang="ko-KR" altLang="en-US" b="0" i="0" u="none" strike="noStrike" kern="0" cap="none" spc="0" normalizeH="0" baseline="0" noProof="0" dirty="0">
              <a:ln>
                <a:noFill/>
              </a:ln>
              <a:solidFill>
                <a:srgbClr val="FF0000"/>
              </a:solidFill>
              <a:effectLst/>
              <a:uLnTx/>
              <a:uFillTx/>
              <a:latin typeface="+mn-ea"/>
            </a:endParaRPr>
          </a:p>
        </p:txBody>
      </p:sp>
      <p:sp>
        <p:nvSpPr>
          <p:cNvPr id="92" name="모서리가 둥근 사각형 설명선 91"/>
          <p:cNvSpPr/>
          <p:nvPr/>
        </p:nvSpPr>
        <p:spPr>
          <a:xfrm>
            <a:off x="6719391" y="6091520"/>
            <a:ext cx="1898648" cy="471522"/>
          </a:xfrm>
          <a:prstGeom prst="wedgeRoundRectCallout">
            <a:avLst>
              <a:gd name="adj1" fmla="val -60832"/>
              <a:gd name="adj2" fmla="val -36913"/>
              <a:gd name="adj3" fmla="val 16667"/>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accent4">
                    <a:lumMod val="40000"/>
                    <a:lumOff val="60000"/>
                  </a:schemeClr>
                </a:solidFill>
              </a:rPr>
              <a:t>거절결정취소</a:t>
            </a:r>
            <a:endParaRPr lang="en-US" altLang="ko-KR" sz="1400" dirty="0">
              <a:solidFill>
                <a:schemeClr val="accent4">
                  <a:lumMod val="40000"/>
                  <a:lumOff val="60000"/>
                </a:schemeClr>
              </a:solidFill>
            </a:endParaRPr>
          </a:p>
        </p:txBody>
      </p:sp>
      <p:sp>
        <p:nvSpPr>
          <p:cNvPr id="2" name="슬라이드 번호 개체 틀 1"/>
          <p:cNvSpPr>
            <a:spLocks noGrp="1"/>
          </p:cNvSpPr>
          <p:nvPr>
            <p:ph type="sldNum" sz="quarter" idx="12"/>
          </p:nvPr>
        </p:nvSpPr>
        <p:spPr/>
        <p:txBody>
          <a:bodyPr/>
          <a:lstStyle/>
          <a:p>
            <a:r>
              <a:rPr lang="en-US" altLang="ko-KR"/>
              <a:t>194</a:t>
            </a:r>
            <a:endParaRPr lang="ko-KR" altLang="en-US"/>
          </a:p>
        </p:txBody>
      </p:sp>
      <p:sp>
        <p:nvSpPr>
          <p:cNvPr id="5" name="TextBox 4">
            <a:extLst>
              <a:ext uri="{FF2B5EF4-FFF2-40B4-BE49-F238E27FC236}">
                <a16:creationId xmlns:a16="http://schemas.microsoft.com/office/drawing/2014/main" id="{B70F5238-6704-4C68-9EE8-52ACDFB3930F}"/>
              </a:ext>
            </a:extLst>
          </p:cNvPr>
          <p:cNvSpPr txBox="1"/>
          <p:nvPr/>
        </p:nvSpPr>
        <p:spPr>
          <a:xfrm>
            <a:off x="7020140" y="6571282"/>
            <a:ext cx="1132041" cy="261610"/>
          </a:xfrm>
          <a:prstGeom prst="rect">
            <a:avLst/>
          </a:prstGeom>
          <a:noFill/>
        </p:spPr>
        <p:txBody>
          <a:bodyPr wrap="none" rtlCol="0">
            <a:spAutoFit/>
          </a:bodyPr>
          <a:lstStyle/>
          <a:p>
            <a:r>
              <a:rPr lang="ko-KR" altLang="en-US" sz="1100" dirty="0">
                <a:solidFill>
                  <a:srgbClr val="FF0000"/>
                </a:solidFill>
              </a:rPr>
              <a:t>제</a:t>
            </a:r>
            <a:r>
              <a:rPr lang="en-US" altLang="ko-KR" sz="1100" dirty="0">
                <a:solidFill>
                  <a:srgbClr val="FF0000"/>
                </a:solidFill>
              </a:rPr>
              <a:t>67</a:t>
            </a:r>
            <a:r>
              <a:rPr lang="ko-KR" altLang="en-US" sz="1100" dirty="0">
                <a:solidFill>
                  <a:srgbClr val="FF0000"/>
                </a:solidFill>
              </a:rPr>
              <a:t>조의</a:t>
            </a:r>
            <a:r>
              <a:rPr lang="en-US" altLang="ko-KR" sz="1100" dirty="0">
                <a:solidFill>
                  <a:srgbClr val="FF0000"/>
                </a:solidFill>
              </a:rPr>
              <a:t>2</a:t>
            </a:r>
            <a:r>
              <a:rPr lang="ko-KR" altLang="en-US" sz="1100" dirty="0">
                <a:solidFill>
                  <a:srgbClr val="FF0000"/>
                </a:solidFill>
              </a:rPr>
              <a:t>제</a:t>
            </a:r>
            <a:r>
              <a:rPr lang="en-US" altLang="ko-KR" sz="1100" dirty="0">
                <a:solidFill>
                  <a:srgbClr val="FF0000"/>
                </a:solidFill>
              </a:rPr>
              <a:t>3</a:t>
            </a:r>
            <a:r>
              <a:rPr lang="ko-KR" altLang="en-US" sz="1100" dirty="0">
                <a:solidFill>
                  <a:srgbClr val="FF0000"/>
                </a:solidFill>
              </a:rPr>
              <a:t>항</a:t>
            </a:r>
          </a:p>
        </p:txBody>
      </p:sp>
      <p:sp>
        <p:nvSpPr>
          <p:cNvPr id="34" name="TextBox 33">
            <a:extLst>
              <a:ext uri="{FF2B5EF4-FFF2-40B4-BE49-F238E27FC236}">
                <a16:creationId xmlns:a16="http://schemas.microsoft.com/office/drawing/2014/main" id="{1AD679FC-9D48-4702-983E-51752C8F0D73}"/>
              </a:ext>
            </a:extLst>
          </p:cNvPr>
          <p:cNvSpPr txBox="1"/>
          <p:nvPr/>
        </p:nvSpPr>
        <p:spPr>
          <a:xfrm>
            <a:off x="10631958" y="3812303"/>
            <a:ext cx="673582" cy="261610"/>
          </a:xfrm>
          <a:prstGeom prst="rect">
            <a:avLst/>
          </a:prstGeom>
          <a:noFill/>
        </p:spPr>
        <p:txBody>
          <a:bodyPr wrap="none" rtlCol="0">
            <a:spAutoFit/>
          </a:bodyPr>
          <a:lstStyle/>
          <a:p>
            <a:r>
              <a:rPr lang="ko-KR" altLang="en-US" sz="1100" dirty="0">
                <a:solidFill>
                  <a:srgbClr val="FF0000"/>
                </a:solidFill>
              </a:rPr>
              <a:t>제</a:t>
            </a:r>
            <a:r>
              <a:rPr lang="en-US" altLang="ko-KR" sz="1100" dirty="0">
                <a:solidFill>
                  <a:srgbClr val="FF0000"/>
                </a:solidFill>
              </a:rPr>
              <a:t>176</a:t>
            </a:r>
            <a:r>
              <a:rPr lang="ko-KR" altLang="en-US" sz="1100" dirty="0">
                <a:solidFill>
                  <a:srgbClr val="FF0000"/>
                </a:solidFill>
              </a:rPr>
              <a:t>조</a:t>
            </a:r>
          </a:p>
        </p:txBody>
      </p:sp>
    </p:spTree>
    <p:extLst>
      <p:ext uri="{BB962C8B-B14F-4D97-AF65-F5344CB8AC3E}">
        <p14:creationId xmlns:p14="http://schemas.microsoft.com/office/powerpoint/2010/main" val="1364999108"/>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 name="타원 97"/>
          <p:cNvSpPr/>
          <p:nvPr/>
        </p:nvSpPr>
        <p:spPr>
          <a:xfrm>
            <a:off x="1147202" y="6181761"/>
            <a:ext cx="533473" cy="533473"/>
          </a:xfrm>
          <a:prstGeom prst="ellipse">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p>
        </p:txBody>
      </p:sp>
      <p:sp>
        <p:nvSpPr>
          <p:cNvPr id="4" name="텍스트 개체 틀 3"/>
          <p:cNvSpPr>
            <a:spLocks noGrp="1"/>
          </p:cNvSpPr>
          <p:nvPr>
            <p:ph type="body" sz="quarter" idx="13"/>
          </p:nvPr>
        </p:nvSpPr>
        <p:spPr/>
        <p:txBody>
          <a:bodyPr/>
          <a:lstStyle/>
          <a:p>
            <a:r>
              <a:rPr lang="ko-KR" altLang="en-US" dirty="0"/>
              <a:t>분할출원의 확대된 </a:t>
            </a:r>
            <a:r>
              <a:rPr lang="ko-KR" altLang="en-US" dirty="0" err="1"/>
              <a:t>선출원</a:t>
            </a:r>
            <a:r>
              <a:rPr lang="en-US" altLang="ko-KR" dirty="0"/>
              <a:t>(</a:t>
            </a:r>
            <a:r>
              <a:rPr lang="ko-KR" altLang="en-US" dirty="0"/>
              <a:t>제</a:t>
            </a:r>
            <a:r>
              <a:rPr lang="en-US" altLang="ko-KR" dirty="0"/>
              <a:t>52</a:t>
            </a:r>
            <a:r>
              <a:rPr lang="ko-KR" altLang="en-US" dirty="0"/>
              <a:t>조제</a:t>
            </a:r>
            <a:r>
              <a:rPr lang="en-US" altLang="ko-KR" dirty="0"/>
              <a:t>2</a:t>
            </a:r>
            <a:r>
              <a:rPr lang="ko-KR" altLang="en-US" dirty="0" err="1"/>
              <a:t>항제</a:t>
            </a:r>
            <a:r>
              <a:rPr lang="en-US" altLang="ko-KR" dirty="0"/>
              <a:t>1</a:t>
            </a:r>
            <a:r>
              <a:rPr lang="ko-KR" altLang="en-US" dirty="0"/>
              <a:t>호</a:t>
            </a:r>
            <a:r>
              <a:rPr lang="en-US" altLang="ko-KR" dirty="0"/>
              <a:t>)</a:t>
            </a:r>
            <a:endParaRPr lang="ko-KR" altLang="en-US" dirty="0"/>
          </a:p>
        </p:txBody>
      </p:sp>
      <p:sp>
        <p:nvSpPr>
          <p:cNvPr id="26" name="TextBox 25"/>
          <p:cNvSpPr txBox="1"/>
          <p:nvPr/>
        </p:nvSpPr>
        <p:spPr>
          <a:xfrm>
            <a:off x="77875" y="986046"/>
            <a:ext cx="11936323" cy="738664"/>
          </a:xfrm>
          <a:prstGeom prst="rect">
            <a:avLst/>
          </a:prstGeom>
          <a:noFill/>
        </p:spPr>
        <p:txBody>
          <a:bodyPr wrap="square" rtlCol="0">
            <a:spAutoFit/>
          </a:bodyPr>
          <a:lstStyle/>
          <a:p>
            <a:pPr fontAlgn="base"/>
            <a:r>
              <a:rPr lang="ko-KR" altLang="en-US" sz="1400" dirty="0">
                <a:solidFill>
                  <a:schemeClr val="tx2"/>
                </a:solidFill>
              </a:rPr>
              <a:t>확대된 </a:t>
            </a:r>
            <a:r>
              <a:rPr lang="ko-KR" altLang="en-US" sz="1400" dirty="0" err="1">
                <a:solidFill>
                  <a:schemeClr val="tx2"/>
                </a:solidFill>
              </a:rPr>
              <a:t>선출원에</a:t>
            </a:r>
            <a:r>
              <a:rPr lang="ko-KR" altLang="en-US" sz="1400" dirty="0">
                <a:solidFill>
                  <a:schemeClr val="tx2"/>
                </a:solidFill>
              </a:rPr>
              <a:t> 관한 규정</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29③④)</a:t>
            </a:r>
            <a:r>
              <a:rPr lang="ko-KR" altLang="en-US" sz="1400" dirty="0">
                <a:solidFill>
                  <a:schemeClr val="tx2"/>
                </a:solidFill>
              </a:rPr>
              <a:t>에서의 다른 출원에 해당하는 경우 </a:t>
            </a:r>
            <a:r>
              <a:rPr lang="ko-KR" altLang="en-US" sz="1400" dirty="0">
                <a:solidFill>
                  <a:schemeClr val="accent3">
                    <a:lumMod val="50000"/>
                  </a:schemeClr>
                </a:solidFill>
                <a:highlight>
                  <a:srgbClr val="FFFF00"/>
                </a:highlight>
              </a:rPr>
              <a:t>원출원의 최초 명세서 또는 도면에는 포함되어 있지 아니하지만 분할출원의 최초 명세서 또는 도면에 포함된 발명에 의하여 원출원과 분할출원 사이의 제</a:t>
            </a:r>
            <a:r>
              <a:rPr lang="en-US" altLang="ko-KR" sz="1400" dirty="0">
                <a:solidFill>
                  <a:schemeClr val="accent3">
                    <a:lumMod val="50000"/>
                  </a:schemeClr>
                </a:solidFill>
                <a:highlight>
                  <a:srgbClr val="FFFF00"/>
                </a:highlight>
              </a:rPr>
              <a:t>3</a:t>
            </a:r>
            <a:r>
              <a:rPr lang="ko-KR" altLang="en-US" sz="1400" dirty="0">
                <a:solidFill>
                  <a:schemeClr val="accent3">
                    <a:lumMod val="50000"/>
                  </a:schemeClr>
                </a:solidFill>
                <a:highlight>
                  <a:srgbClr val="FFFF00"/>
                </a:highlight>
              </a:rPr>
              <a:t>자의 출원을 거절시키는 것은 먼저 출원하여 공개시킨 자에게 </a:t>
            </a:r>
            <a:r>
              <a:rPr lang="ko-KR" altLang="en-US" sz="1400" dirty="0" err="1">
                <a:solidFill>
                  <a:schemeClr val="accent3">
                    <a:lumMod val="50000"/>
                  </a:schemeClr>
                </a:solidFill>
                <a:highlight>
                  <a:srgbClr val="FFFF00"/>
                </a:highlight>
              </a:rPr>
              <a:t>독점ㆍ배타적인</a:t>
            </a:r>
            <a:r>
              <a:rPr lang="ko-KR" altLang="en-US" sz="1400" dirty="0">
                <a:solidFill>
                  <a:schemeClr val="accent3">
                    <a:lumMod val="50000"/>
                  </a:schemeClr>
                </a:solidFill>
                <a:highlight>
                  <a:srgbClr val="FFFF00"/>
                </a:highlight>
              </a:rPr>
              <a:t> 특허권을 부여한다는 특허법의 목적에 반하기 때문</a:t>
            </a:r>
            <a:r>
              <a:rPr lang="ko-KR" altLang="en-US" sz="1400" dirty="0">
                <a:solidFill>
                  <a:schemeClr val="tx2"/>
                </a:solidFill>
              </a:rPr>
              <a:t>에 확대된 선출원을 적용할 때 소급효가 인정되지 않고 현실의 </a:t>
            </a:r>
            <a:r>
              <a:rPr lang="ko-KR" altLang="en-US" sz="1400" dirty="0" err="1">
                <a:solidFill>
                  <a:schemeClr val="tx2"/>
                </a:solidFill>
              </a:rPr>
              <a:t>분할출원일을</a:t>
            </a:r>
            <a:r>
              <a:rPr lang="ko-KR" altLang="en-US" sz="1400" dirty="0">
                <a:solidFill>
                  <a:schemeClr val="tx2"/>
                </a:solidFill>
              </a:rPr>
              <a:t> 기준으로 한다</a:t>
            </a:r>
            <a:r>
              <a:rPr lang="en-US" altLang="ko-KR" sz="1400" dirty="0">
                <a:solidFill>
                  <a:schemeClr val="tx2"/>
                </a:solidFill>
              </a:rPr>
              <a:t>. </a:t>
            </a:r>
          </a:p>
        </p:txBody>
      </p:sp>
      <p:cxnSp>
        <p:nvCxnSpPr>
          <p:cNvPr id="27" name="직선 연결선 26"/>
          <p:cNvCxnSpPr>
            <a:cxnSpLocks/>
          </p:cNvCxnSpPr>
          <p:nvPr/>
        </p:nvCxnSpPr>
        <p:spPr>
          <a:xfrm>
            <a:off x="0" y="1724710"/>
            <a:ext cx="9253535" cy="17787"/>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직선 연결선 31"/>
          <p:cNvCxnSpPr/>
          <p:nvPr/>
        </p:nvCxnSpPr>
        <p:spPr>
          <a:xfrm>
            <a:off x="109535" y="3928667"/>
            <a:ext cx="567393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직사각형 32"/>
          <p:cNvSpPr/>
          <p:nvPr/>
        </p:nvSpPr>
        <p:spPr>
          <a:xfrm>
            <a:off x="274623" y="2053476"/>
            <a:ext cx="850393" cy="229500"/>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34" name="직사각형 33"/>
          <p:cNvSpPr/>
          <p:nvPr/>
        </p:nvSpPr>
        <p:spPr>
          <a:xfrm>
            <a:off x="274623" y="2282977"/>
            <a:ext cx="850393" cy="229500"/>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37" name="직사각형 36"/>
          <p:cNvSpPr/>
          <p:nvPr/>
        </p:nvSpPr>
        <p:spPr>
          <a:xfrm>
            <a:off x="274624" y="3813917"/>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원출원</a:t>
            </a:r>
            <a:r>
              <a:rPr lang="en-US" altLang="ko-KR" sz="1100" dirty="0">
                <a:solidFill>
                  <a:schemeClr val="tx1"/>
                </a:solidFill>
              </a:rPr>
              <a:t>(X)</a:t>
            </a:r>
            <a:endParaRPr lang="ko-KR" altLang="en-US" sz="1100" dirty="0">
              <a:solidFill>
                <a:schemeClr val="tx1"/>
              </a:solidFill>
            </a:endParaRPr>
          </a:p>
        </p:txBody>
      </p:sp>
      <p:sp>
        <p:nvSpPr>
          <p:cNvPr id="66" name="직사각형 65"/>
          <p:cNvSpPr/>
          <p:nvPr/>
        </p:nvSpPr>
        <p:spPr>
          <a:xfrm>
            <a:off x="1583053" y="2053476"/>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100" dirty="0">
              <a:solidFill>
                <a:schemeClr val="tx1"/>
              </a:solidFill>
            </a:endParaRPr>
          </a:p>
        </p:txBody>
      </p:sp>
      <p:sp>
        <p:nvSpPr>
          <p:cNvPr id="67" name="직사각형 66"/>
          <p:cNvSpPr/>
          <p:nvPr/>
        </p:nvSpPr>
        <p:spPr>
          <a:xfrm>
            <a:off x="1583053" y="2282977"/>
            <a:ext cx="850393" cy="229500"/>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 B, C</a:t>
            </a:r>
            <a:endParaRPr lang="ko-KR" altLang="en-US" sz="1100" dirty="0">
              <a:solidFill>
                <a:schemeClr val="tx1"/>
              </a:solidFill>
            </a:endParaRPr>
          </a:p>
        </p:txBody>
      </p:sp>
      <p:sp>
        <p:nvSpPr>
          <p:cNvPr id="77" name="직사각형 76"/>
          <p:cNvSpPr/>
          <p:nvPr/>
        </p:nvSpPr>
        <p:spPr>
          <a:xfrm>
            <a:off x="1583054" y="3813917"/>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분할출원</a:t>
            </a:r>
            <a:r>
              <a:rPr lang="en-US" altLang="ko-KR" sz="1100" dirty="0">
                <a:solidFill>
                  <a:schemeClr val="tx1"/>
                </a:solidFill>
              </a:rPr>
              <a:t>(Y)</a:t>
            </a:r>
            <a:endParaRPr lang="ko-KR" altLang="en-US" sz="1100" dirty="0">
              <a:solidFill>
                <a:schemeClr val="tx1"/>
              </a:solidFill>
            </a:endParaRPr>
          </a:p>
        </p:txBody>
      </p:sp>
      <p:sp>
        <p:nvSpPr>
          <p:cNvPr id="78" name="직사각형 77"/>
          <p:cNvSpPr/>
          <p:nvPr/>
        </p:nvSpPr>
        <p:spPr>
          <a:xfrm>
            <a:off x="2891562" y="2053476"/>
            <a:ext cx="850393" cy="229500"/>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100" dirty="0">
              <a:solidFill>
                <a:schemeClr val="tx1"/>
              </a:solidFill>
            </a:endParaRPr>
          </a:p>
        </p:txBody>
      </p:sp>
      <p:sp>
        <p:nvSpPr>
          <p:cNvPr id="79" name="직사각형 78"/>
          <p:cNvSpPr/>
          <p:nvPr/>
        </p:nvSpPr>
        <p:spPr>
          <a:xfrm>
            <a:off x="2891562" y="2282977"/>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 B</a:t>
            </a:r>
            <a:endParaRPr lang="ko-KR" altLang="en-US" sz="1100" dirty="0">
              <a:solidFill>
                <a:schemeClr val="tx1"/>
              </a:solidFill>
            </a:endParaRPr>
          </a:p>
        </p:txBody>
      </p:sp>
      <p:sp>
        <p:nvSpPr>
          <p:cNvPr id="81" name="직사각형 80"/>
          <p:cNvSpPr/>
          <p:nvPr/>
        </p:nvSpPr>
        <p:spPr>
          <a:xfrm>
            <a:off x="2891563" y="3813917"/>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보정</a:t>
            </a:r>
            <a:r>
              <a:rPr lang="en-US" altLang="ko-KR" sz="1100" dirty="0">
                <a:solidFill>
                  <a:schemeClr val="tx1"/>
                </a:solidFill>
              </a:rPr>
              <a:t>(Y)</a:t>
            </a:r>
            <a:endParaRPr lang="ko-KR" altLang="en-US" sz="1100" dirty="0">
              <a:solidFill>
                <a:schemeClr val="tx1"/>
              </a:solidFill>
            </a:endParaRPr>
          </a:p>
        </p:txBody>
      </p:sp>
      <p:sp>
        <p:nvSpPr>
          <p:cNvPr id="82" name="직사각형 81"/>
          <p:cNvSpPr/>
          <p:nvPr/>
        </p:nvSpPr>
        <p:spPr>
          <a:xfrm>
            <a:off x="4093580" y="3813917"/>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공개</a:t>
            </a:r>
            <a:r>
              <a:rPr lang="en-US" altLang="ko-KR" sz="1100" dirty="0">
                <a:solidFill>
                  <a:schemeClr val="tx1"/>
                </a:solidFill>
              </a:rPr>
              <a:t>(X, Y)</a:t>
            </a:r>
            <a:endParaRPr lang="ko-KR" altLang="en-US" sz="1100" dirty="0">
              <a:solidFill>
                <a:schemeClr val="tx1"/>
              </a:solidFill>
            </a:endParaRPr>
          </a:p>
        </p:txBody>
      </p:sp>
      <p:cxnSp>
        <p:nvCxnSpPr>
          <p:cNvPr id="9" name="직선 연결선 8"/>
          <p:cNvCxnSpPr>
            <a:stCxn id="34" idx="2"/>
            <a:endCxn id="37" idx="0"/>
          </p:cNvCxnSpPr>
          <p:nvPr/>
        </p:nvCxnSpPr>
        <p:spPr>
          <a:xfrm>
            <a:off x="699820" y="2512477"/>
            <a:ext cx="0" cy="130144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직선 연결선 12"/>
          <p:cNvCxnSpPr>
            <a:stCxn id="67" idx="2"/>
            <a:endCxn id="77" idx="0"/>
          </p:cNvCxnSpPr>
          <p:nvPr/>
        </p:nvCxnSpPr>
        <p:spPr>
          <a:xfrm>
            <a:off x="2008250" y="2512477"/>
            <a:ext cx="0" cy="130144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자유형 16"/>
          <p:cNvSpPr/>
          <p:nvPr/>
        </p:nvSpPr>
        <p:spPr>
          <a:xfrm>
            <a:off x="276225" y="4057650"/>
            <a:ext cx="5400675" cy="381000"/>
          </a:xfrm>
          <a:custGeom>
            <a:avLst/>
            <a:gdLst>
              <a:gd name="connsiteX0" fmla="*/ 0 w 5400675"/>
              <a:gd name="connsiteY0" fmla="*/ 0 h 381000"/>
              <a:gd name="connsiteX1" fmla="*/ 381000 w 5400675"/>
              <a:gd name="connsiteY1" fmla="*/ 381000 h 381000"/>
              <a:gd name="connsiteX2" fmla="*/ 5400675 w 5400675"/>
              <a:gd name="connsiteY2" fmla="*/ 381000 h 381000"/>
            </a:gdLst>
            <a:ahLst/>
            <a:cxnLst>
              <a:cxn ang="0">
                <a:pos x="connsiteX0" y="connsiteY0"/>
              </a:cxn>
              <a:cxn ang="0">
                <a:pos x="connsiteX1" y="connsiteY1"/>
              </a:cxn>
              <a:cxn ang="0">
                <a:pos x="connsiteX2" y="connsiteY2"/>
              </a:cxn>
            </a:cxnLst>
            <a:rect l="l" t="t" r="r" b="b"/>
            <a:pathLst>
              <a:path w="5400675" h="381000">
                <a:moveTo>
                  <a:pt x="0" y="0"/>
                </a:moveTo>
                <a:lnTo>
                  <a:pt x="381000" y="381000"/>
                </a:lnTo>
                <a:lnTo>
                  <a:pt x="5400675" y="381000"/>
                </a:lnTo>
              </a:path>
            </a:pathLst>
          </a:cu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8" name="자유형 17"/>
          <p:cNvSpPr/>
          <p:nvPr/>
        </p:nvSpPr>
        <p:spPr>
          <a:xfrm>
            <a:off x="1123950" y="3419475"/>
            <a:ext cx="3394826" cy="390525"/>
          </a:xfrm>
          <a:custGeom>
            <a:avLst/>
            <a:gdLst>
              <a:gd name="connsiteX0" fmla="*/ 0 w 3467100"/>
              <a:gd name="connsiteY0" fmla="*/ 381000 h 390525"/>
              <a:gd name="connsiteX1" fmla="*/ 381000 w 3467100"/>
              <a:gd name="connsiteY1" fmla="*/ 0 h 390525"/>
              <a:gd name="connsiteX2" fmla="*/ 3076575 w 3467100"/>
              <a:gd name="connsiteY2" fmla="*/ 0 h 390525"/>
              <a:gd name="connsiteX3" fmla="*/ 3467100 w 3467100"/>
              <a:gd name="connsiteY3" fmla="*/ 390525 h 390525"/>
            </a:gdLst>
            <a:ahLst/>
            <a:cxnLst>
              <a:cxn ang="0">
                <a:pos x="connsiteX0" y="connsiteY0"/>
              </a:cxn>
              <a:cxn ang="0">
                <a:pos x="connsiteX1" y="connsiteY1"/>
              </a:cxn>
              <a:cxn ang="0">
                <a:pos x="connsiteX2" y="connsiteY2"/>
              </a:cxn>
              <a:cxn ang="0">
                <a:pos x="connsiteX3" y="connsiteY3"/>
              </a:cxn>
            </a:cxnLst>
            <a:rect l="l" t="t" r="r" b="b"/>
            <a:pathLst>
              <a:path w="3467100" h="390525">
                <a:moveTo>
                  <a:pt x="0" y="381000"/>
                </a:moveTo>
                <a:lnTo>
                  <a:pt x="381000" y="0"/>
                </a:lnTo>
                <a:lnTo>
                  <a:pt x="3076575" y="0"/>
                </a:lnTo>
                <a:lnTo>
                  <a:pt x="3467100" y="390525"/>
                </a:lnTo>
              </a:path>
            </a:pathLst>
          </a:cu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9" name="자유형 18"/>
          <p:cNvSpPr/>
          <p:nvPr/>
        </p:nvSpPr>
        <p:spPr>
          <a:xfrm>
            <a:off x="4514850" y="3390900"/>
            <a:ext cx="1228725" cy="400050"/>
          </a:xfrm>
          <a:custGeom>
            <a:avLst/>
            <a:gdLst>
              <a:gd name="connsiteX0" fmla="*/ 0 w 1228725"/>
              <a:gd name="connsiteY0" fmla="*/ 400050 h 400050"/>
              <a:gd name="connsiteX1" fmla="*/ 400050 w 1228725"/>
              <a:gd name="connsiteY1" fmla="*/ 0 h 400050"/>
              <a:gd name="connsiteX2" fmla="*/ 1228725 w 1228725"/>
              <a:gd name="connsiteY2" fmla="*/ 0 h 400050"/>
            </a:gdLst>
            <a:ahLst/>
            <a:cxnLst>
              <a:cxn ang="0">
                <a:pos x="connsiteX0" y="connsiteY0"/>
              </a:cxn>
              <a:cxn ang="0">
                <a:pos x="connsiteX1" y="connsiteY1"/>
              </a:cxn>
              <a:cxn ang="0">
                <a:pos x="connsiteX2" y="connsiteY2"/>
              </a:cxn>
            </a:cxnLst>
            <a:rect l="l" t="t" r="r" b="b"/>
            <a:pathLst>
              <a:path w="1228725" h="400050">
                <a:moveTo>
                  <a:pt x="0" y="400050"/>
                </a:moveTo>
                <a:lnTo>
                  <a:pt x="400050" y="0"/>
                </a:lnTo>
                <a:lnTo>
                  <a:pt x="1228725" y="0"/>
                </a:lnTo>
              </a:path>
            </a:pathLst>
          </a:cu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1" name="자유형 20"/>
          <p:cNvSpPr/>
          <p:nvPr/>
        </p:nvSpPr>
        <p:spPr>
          <a:xfrm>
            <a:off x="2428875" y="3057525"/>
            <a:ext cx="2066925" cy="723900"/>
          </a:xfrm>
          <a:custGeom>
            <a:avLst/>
            <a:gdLst>
              <a:gd name="connsiteX0" fmla="*/ 0 w 2066925"/>
              <a:gd name="connsiteY0" fmla="*/ 723900 h 723900"/>
              <a:gd name="connsiteX1" fmla="*/ 304800 w 2066925"/>
              <a:gd name="connsiteY1" fmla="*/ 0 h 723900"/>
              <a:gd name="connsiteX2" fmla="*/ 1857375 w 2066925"/>
              <a:gd name="connsiteY2" fmla="*/ 0 h 723900"/>
              <a:gd name="connsiteX3" fmla="*/ 2066925 w 2066925"/>
              <a:gd name="connsiteY3" fmla="*/ 723900 h 723900"/>
            </a:gdLst>
            <a:ahLst/>
            <a:cxnLst>
              <a:cxn ang="0">
                <a:pos x="connsiteX0" y="connsiteY0"/>
              </a:cxn>
              <a:cxn ang="0">
                <a:pos x="connsiteX1" y="connsiteY1"/>
              </a:cxn>
              <a:cxn ang="0">
                <a:pos x="connsiteX2" y="connsiteY2"/>
              </a:cxn>
              <a:cxn ang="0">
                <a:pos x="connsiteX3" y="connsiteY3"/>
              </a:cxn>
            </a:cxnLst>
            <a:rect l="l" t="t" r="r" b="b"/>
            <a:pathLst>
              <a:path w="2066925" h="723900">
                <a:moveTo>
                  <a:pt x="0" y="723900"/>
                </a:moveTo>
                <a:lnTo>
                  <a:pt x="304800" y="0"/>
                </a:lnTo>
                <a:lnTo>
                  <a:pt x="1857375" y="0"/>
                </a:lnTo>
                <a:lnTo>
                  <a:pt x="2066925" y="723900"/>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2" name="자유형 21"/>
          <p:cNvSpPr/>
          <p:nvPr/>
        </p:nvSpPr>
        <p:spPr>
          <a:xfrm>
            <a:off x="4495800" y="3057525"/>
            <a:ext cx="1295400" cy="704850"/>
          </a:xfrm>
          <a:custGeom>
            <a:avLst/>
            <a:gdLst>
              <a:gd name="connsiteX0" fmla="*/ 0 w 1295400"/>
              <a:gd name="connsiteY0" fmla="*/ 742950 h 742950"/>
              <a:gd name="connsiteX1" fmla="*/ 257175 w 1295400"/>
              <a:gd name="connsiteY1" fmla="*/ 0 h 742950"/>
              <a:gd name="connsiteX2" fmla="*/ 1295400 w 1295400"/>
              <a:gd name="connsiteY2" fmla="*/ 0 h 742950"/>
            </a:gdLst>
            <a:ahLst/>
            <a:cxnLst>
              <a:cxn ang="0">
                <a:pos x="connsiteX0" y="connsiteY0"/>
              </a:cxn>
              <a:cxn ang="0">
                <a:pos x="connsiteX1" y="connsiteY1"/>
              </a:cxn>
              <a:cxn ang="0">
                <a:pos x="connsiteX2" y="connsiteY2"/>
              </a:cxn>
            </a:cxnLst>
            <a:rect l="l" t="t" r="r" b="b"/>
            <a:pathLst>
              <a:path w="1295400" h="742950">
                <a:moveTo>
                  <a:pt x="0" y="742950"/>
                </a:moveTo>
                <a:lnTo>
                  <a:pt x="257175" y="0"/>
                </a:lnTo>
                <a:lnTo>
                  <a:pt x="1295400" y="0"/>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3" name="자유형 22"/>
          <p:cNvSpPr/>
          <p:nvPr/>
        </p:nvSpPr>
        <p:spPr>
          <a:xfrm>
            <a:off x="285750" y="4067175"/>
            <a:ext cx="5429250" cy="752475"/>
          </a:xfrm>
          <a:custGeom>
            <a:avLst/>
            <a:gdLst>
              <a:gd name="connsiteX0" fmla="*/ 0 w 5429250"/>
              <a:gd name="connsiteY0" fmla="*/ 0 h 752475"/>
              <a:gd name="connsiteX1" fmla="*/ 361950 w 5429250"/>
              <a:gd name="connsiteY1" fmla="*/ 752475 h 752475"/>
              <a:gd name="connsiteX2" fmla="*/ 5429250 w 5429250"/>
              <a:gd name="connsiteY2" fmla="*/ 752475 h 752475"/>
            </a:gdLst>
            <a:ahLst/>
            <a:cxnLst>
              <a:cxn ang="0">
                <a:pos x="connsiteX0" y="connsiteY0"/>
              </a:cxn>
              <a:cxn ang="0">
                <a:pos x="connsiteX1" y="connsiteY1"/>
              </a:cxn>
              <a:cxn ang="0">
                <a:pos x="connsiteX2" y="connsiteY2"/>
              </a:cxn>
            </a:cxnLst>
            <a:rect l="l" t="t" r="r" b="b"/>
            <a:pathLst>
              <a:path w="5429250" h="752475">
                <a:moveTo>
                  <a:pt x="0" y="0"/>
                </a:moveTo>
                <a:lnTo>
                  <a:pt x="361950" y="752475"/>
                </a:lnTo>
                <a:lnTo>
                  <a:pt x="5429250" y="752475"/>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4" name="TextBox 23"/>
          <p:cNvSpPr txBox="1"/>
          <p:nvPr/>
        </p:nvSpPr>
        <p:spPr>
          <a:xfrm>
            <a:off x="2257821" y="4827686"/>
            <a:ext cx="1406154" cy="276999"/>
          </a:xfrm>
          <a:prstGeom prst="rect">
            <a:avLst/>
          </a:prstGeom>
          <a:noFill/>
        </p:spPr>
        <p:txBody>
          <a:bodyPr wrap="none" rtlCol="0">
            <a:spAutoFit/>
          </a:bodyPr>
          <a:lstStyle/>
          <a:p>
            <a:r>
              <a:rPr lang="ko-KR" altLang="en-US" sz="1200" dirty="0" err="1"/>
              <a:t>선출원의</a:t>
            </a:r>
            <a:r>
              <a:rPr lang="ko-KR" altLang="en-US" sz="1200" dirty="0"/>
              <a:t> 지위</a:t>
            </a:r>
            <a:r>
              <a:rPr lang="en-US" altLang="ko-KR" sz="1200" dirty="0"/>
              <a:t>(Y-B)</a:t>
            </a:r>
            <a:endParaRPr lang="ko-KR" altLang="en-US" sz="1200" dirty="0"/>
          </a:p>
        </p:txBody>
      </p:sp>
      <p:sp>
        <p:nvSpPr>
          <p:cNvPr id="83" name="TextBox 82"/>
          <p:cNvSpPr txBox="1"/>
          <p:nvPr/>
        </p:nvSpPr>
        <p:spPr>
          <a:xfrm>
            <a:off x="4743846" y="2617886"/>
            <a:ext cx="1192955" cy="461665"/>
          </a:xfrm>
          <a:prstGeom prst="rect">
            <a:avLst/>
          </a:prstGeom>
          <a:noFill/>
          <a:ln w="12700">
            <a:noFill/>
          </a:ln>
        </p:spPr>
        <p:txBody>
          <a:bodyPr wrap="none" rtlCol="0">
            <a:spAutoFit/>
          </a:bodyPr>
          <a:lstStyle/>
          <a:p>
            <a:r>
              <a:rPr lang="ko-KR" altLang="en-US" sz="1200" dirty="0"/>
              <a:t>공지기술의 지위</a:t>
            </a:r>
            <a:endParaRPr lang="en-US" altLang="ko-KR" sz="1200" dirty="0"/>
          </a:p>
          <a:p>
            <a:pPr algn="ctr"/>
            <a:r>
              <a:rPr lang="en-US" altLang="ko-KR" sz="1200" dirty="0"/>
              <a:t>(Y-B, C)</a:t>
            </a:r>
            <a:endParaRPr lang="ko-KR" altLang="en-US" sz="1200" dirty="0"/>
          </a:p>
        </p:txBody>
      </p:sp>
      <p:sp>
        <p:nvSpPr>
          <p:cNvPr id="86" name="TextBox 85"/>
          <p:cNvSpPr txBox="1"/>
          <p:nvPr/>
        </p:nvSpPr>
        <p:spPr>
          <a:xfrm>
            <a:off x="2794769" y="2798860"/>
            <a:ext cx="1449436" cy="276999"/>
          </a:xfrm>
          <a:prstGeom prst="rect">
            <a:avLst/>
          </a:prstGeom>
          <a:noFill/>
        </p:spPr>
        <p:txBody>
          <a:bodyPr wrap="none" rtlCol="0">
            <a:spAutoFit/>
          </a:bodyPr>
          <a:lstStyle/>
          <a:p>
            <a:r>
              <a:rPr lang="ko-KR" altLang="en-US" sz="1200" dirty="0" err="1"/>
              <a:t>확선의</a:t>
            </a:r>
            <a:r>
              <a:rPr lang="ko-KR" altLang="en-US" sz="1200" dirty="0"/>
              <a:t> 지위</a:t>
            </a:r>
            <a:r>
              <a:rPr lang="en-US" altLang="ko-KR" sz="1200" dirty="0"/>
              <a:t>(Y-B, C)</a:t>
            </a:r>
            <a:endParaRPr lang="ko-KR" altLang="en-US" sz="1200" dirty="0"/>
          </a:p>
        </p:txBody>
      </p:sp>
      <p:cxnSp>
        <p:nvCxnSpPr>
          <p:cNvPr id="15" name="직선 연결선 14"/>
          <p:cNvCxnSpPr>
            <a:stCxn id="79" idx="2"/>
            <a:endCxn id="81" idx="0"/>
          </p:cNvCxnSpPr>
          <p:nvPr/>
        </p:nvCxnSpPr>
        <p:spPr>
          <a:xfrm>
            <a:off x="3316759" y="2512477"/>
            <a:ext cx="0" cy="130144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p:cNvSpPr txBox="1"/>
          <p:nvPr/>
        </p:nvSpPr>
        <p:spPr>
          <a:xfrm>
            <a:off x="1124715" y="3176200"/>
            <a:ext cx="1465466" cy="276999"/>
          </a:xfrm>
          <a:prstGeom prst="rect">
            <a:avLst/>
          </a:prstGeom>
          <a:noFill/>
        </p:spPr>
        <p:txBody>
          <a:bodyPr wrap="none" rtlCol="0">
            <a:spAutoFit/>
          </a:bodyPr>
          <a:lstStyle/>
          <a:p>
            <a:r>
              <a:rPr lang="ko-KR" altLang="en-US" sz="1200" dirty="0" err="1"/>
              <a:t>확선의</a:t>
            </a:r>
            <a:r>
              <a:rPr lang="ko-KR" altLang="en-US" sz="1200" dirty="0"/>
              <a:t> 지위</a:t>
            </a:r>
            <a:r>
              <a:rPr lang="en-US" altLang="ko-KR" sz="1200" dirty="0"/>
              <a:t>(X-A, B)</a:t>
            </a:r>
            <a:endParaRPr lang="ko-KR" altLang="en-US" sz="1200" dirty="0"/>
          </a:p>
        </p:txBody>
      </p:sp>
      <p:sp>
        <p:nvSpPr>
          <p:cNvPr id="89" name="TextBox 88"/>
          <p:cNvSpPr txBox="1"/>
          <p:nvPr/>
        </p:nvSpPr>
        <p:spPr>
          <a:xfrm>
            <a:off x="4829571" y="3360836"/>
            <a:ext cx="1192955" cy="461665"/>
          </a:xfrm>
          <a:prstGeom prst="rect">
            <a:avLst/>
          </a:prstGeom>
          <a:noFill/>
        </p:spPr>
        <p:txBody>
          <a:bodyPr wrap="none" rtlCol="0">
            <a:spAutoFit/>
          </a:bodyPr>
          <a:lstStyle/>
          <a:p>
            <a:r>
              <a:rPr lang="ko-KR" altLang="en-US" sz="1200" dirty="0"/>
              <a:t>공지기술의 지위</a:t>
            </a:r>
            <a:endParaRPr lang="en-US" altLang="ko-KR" sz="1200" dirty="0"/>
          </a:p>
          <a:p>
            <a:pPr algn="ctr"/>
            <a:r>
              <a:rPr lang="en-US" altLang="ko-KR" sz="1200" dirty="0"/>
              <a:t>(X-A, B)</a:t>
            </a:r>
            <a:endParaRPr lang="ko-KR" altLang="en-US" sz="1200" dirty="0"/>
          </a:p>
        </p:txBody>
      </p:sp>
      <p:sp>
        <p:nvSpPr>
          <p:cNvPr id="93" name="TextBox 92"/>
          <p:cNvSpPr txBox="1"/>
          <p:nvPr/>
        </p:nvSpPr>
        <p:spPr>
          <a:xfrm>
            <a:off x="2257821" y="4437935"/>
            <a:ext cx="1422184" cy="276999"/>
          </a:xfrm>
          <a:prstGeom prst="rect">
            <a:avLst/>
          </a:prstGeom>
          <a:noFill/>
        </p:spPr>
        <p:txBody>
          <a:bodyPr wrap="none" rtlCol="0">
            <a:spAutoFit/>
          </a:bodyPr>
          <a:lstStyle/>
          <a:p>
            <a:r>
              <a:rPr lang="ko-KR" altLang="en-US" sz="1200" dirty="0" err="1"/>
              <a:t>선출원의</a:t>
            </a:r>
            <a:r>
              <a:rPr lang="ko-KR" altLang="en-US" sz="1200" dirty="0"/>
              <a:t> 지위</a:t>
            </a:r>
            <a:r>
              <a:rPr lang="en-US" altLang="ko-KR" sz="1200" dirty="0"/>
              <a:t>(X-A)</a:t>
            </a:r>
            <a:endParaRPr lang="ko-KR" altLang="en-US" sz="1200" dirty="0"/>
          </a:p>
        </p:txBody>
      </p:sp>
      <p:sp>
        <p:nvSpPr>
          <p:cNvPr id="25" name="TextBox 24"/>
          <p:cNvSpPr txBox="1"/>
          <p:nvPr/>
        </p:nvSpPr>
        <p:spPr>
          <a:xfrm>
            <a:off x="1238250" y="5324475"/>
            <a:ext cx="351378" cy="1338828"/>
          </a:xfrm>
          <a:prstGeom prst="rect">
            <a:avLst/>
          </a:prstGeom>
          <a:noFill/>
        </p:spPr>
        <p:txBody>
          <a:bodyPr wrap="none" rtlCol="0">
            <a:spAutoFit/>
          </a:bodyPr>
          <a:lstStyle/>
          <a:p>
            <a:pPr>
              <a:lnSpc>
                <a:spcPct val="150000"/>
              </a:lnSpc>
            </a:pPr>
            <a:r>
              <a:rPr lang="en-US" altLang="ko-KR" dirty="0"/>
              <a:t>A</a:t>
            </a:r>
          </a:p>
          <a:p>
            <a:pPr>
              <a:lnSpc>
                <a:spcPct val="150000"/>
              </a:lnSpc>
            </a:pPr>
            <a:r>
              <a:rPr lang="en-US" altLang="ko-KR" dirty="0"/>
              <a:t>B</a:t>
            </a:r>
          </a:p>
          <a:p>
            <a:pPr>
              <a:lnSpc>
                <a:spcPct val="150000"/>
              </a:lnSpc>
            </a:pPr>
            <a:r>
              <a:rPr lang="en-US" altLang="ko-KR" dirty="0"/>
              <a:t>C</a:t>
            </a:r>
            <a:endParaRPr lang="ko-KR" altLang="en-US" dirty="0"/>
          </a:p>
        </p:txBody>
      </p:sp>
      <p:cxnSp>
        <p:nvCxnSpPr>
          <p:cNvPr id="31" name="직선 연결선 30"/>
          <p:cNvCxnSpPr>
            <a:stCxn id="25" idx="0"/>
          </p:cNvCxnSpPr>
          <p:nvPr/>
        </p:nvCxnSpPr>
        <p:spPr>
          <a:xfrm flipV="1">
            <a:off x="1413939" y="3928667"/>
            <a:ext cx="0" cy="139580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4" name="TextBox 93"/>
          <p:cNvSpPr txBox="1"/>
          <p:nvPr/>
        </p:nvSpPr>
        <p:spPr>
          <a:xfrm>
            <a:off x="3820866" y="5324475"/>
            <a:ext cx="351378" cy="1338828"/>
          </a:xfrm>
          <a:prstGeom prst="rect">
            <a:avLst/>
          </a:prstGeom>
          <a:noFill/>
        </p:spPr>
        <p:txBody>
          <a:bodyPr wrap="none" rtlCol="0">
            <a:spAutoFit/>
          </a:bodyPr>
          <a:lstStyle/>
          <a:p>
            <a:pPr>
              <a:lnSpc>
                <a:spcPct val="150000"/>
              </a:lnSpc>
            </a:pPr>
            <a:r>
              <a:rPr lang="en-US" altLang="ko-KR" dirty="0"/>
              <a:t>A</a:t>
            </a:r>
          </a:p>
          <a:p>
            <a:pPr>
              <a:lnSpc>
                <a:spcPct val="150000"/>
              </a:lnSpc>
            </a:pPr>
            <a:r>
              <a:rPr lang="en-US" altLang="ko-KR" dirty="0"/>
              <a:t>B</a:t>
            </a:r>
          </a:p>
          <a:p>
            <a:pPr>
              <a:lnSpc>
                <a:spcPct val="150000"/>
              </a:lnSpc>
            </a:pPr>
            <a:r>
              <a:rPr lang="en-US" altLang="ko-KR" dirty="0"/>
              <a:t>C</a:t>
            </a:r>
            <a:endParaRPr lang="ko-KR" altLang="en-US" dirty="0"/>
          </a:p>
        </p:txBody>
      </p:sp>
      <p:cxnSp>
        <p:nvCxnSpPr>
          <p:cNvPr id="95" name="직선 연결선 94"/>
          <p:cNvCxnSpPr>
            <a:stCxn id="94" idx="0"/>
          </p:cNvCxnSpPr>
          <p:nvPr/>
        </p:nvCxnSpPr>
        <p:spPr>
          <a:xfrm flipV="1">
            <a:off x="3996555" y="3928667"/>
            <a:ext cx="0" cy="139580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TextBox 95"/>
          <p:cNvSpPr txBox="1"/>
          <p:nvPr/>
        </p:nvSpPr>
        <p:spPr>
          <a:xfrm>
            <a:off x="5223125" y="5324475"/>
            <a:ext cx="351378" cy="1338828"/>
          </a:xfrm>
          <a:prstGeom prst="rect">
            <a:avLst/>
          </a:prstGeom>
          <a:noFill/>
        </p:spPr>
        <p:txBody>
          <a:bodyPr wrap="none" rtlCol="0">
            <a:spAutoFit/>
          </a:bodyPr>
          <a:lstStyle/>
          <a:p>
            <a:pPr>
              <a:lnSpc>
                <a:spcPct val="150000"/>
              </a:lnSpc>
            </a:pPr>
            <a:r>
              <a:rPr lang="en-US" altLang="ko-KR" dirty="0"/>
              <a:t>A</a:t>
            </a:r>
          </a:p>
          <a:p>
            <a:pPr>
              <a:lnSpc>
                <a:spcPct val="150000"/>
              </a:lnSpc>
            </a:pPr>
            <a:r>
              <a:rPr lang="en-US" altLang="ko-KR" dirty="0"/>
              <a:t>B</a:t>
            </a:r>
          </a:p>
          <a:p>
            <a:pPr>
              <a:lnSpc>
                <a:spcPct val="150000"/>
              </a:lnSpc>
            </a:pPr>
            <a:r>
              <a:rPr lang="en-US" altLang="ko-KR" dirty="0"/>
              <a:t>C</a:t>
            </a:r>
            <a:endParaRPr lang="ko-KR" altLang="en-US" dirty="0"/>
          </a:p>
        </p:txBody>
      </p:sp>
      <p:cxnSp>
        <p:nvCxnSpPr>
          <p:cNvPr id="97" name="직선 연결선 96"/>
          <p:cNvCxnSpPr/>
          <p:nvPr/>
        </p:nvCxnSpPr>
        <p:spPr>
          <a:xfrm flipV="1">
            <a:off x="5408339" y="3928667"/>
            <a:ext cx="0" cy="139580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9" name="직사각형 98"/>
          <p:cNvSpPr/>
          <p:nvPr/>
        </p:nvSpPr>
        <p:spPr>
          <a:xfrm>
            <a:off x="1594950" y="5448300"/>
            <a:ext cx="1033950"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X-36, 29③</a:t>
            </a:r>
            <a:endParaRPr lang="ko-KR" altLang="en-US" sz="900" dirty="0">
              <a:solidFill>
                <a:schemeClr val="bg1">
                  <a:lumMod val="50000"/>
                </a:schemeClr>
              </a:solidFill>
            </a:endParaRPr>
          </a:p>
        </p:txBody>
      </p:sp>
      <p:sp>
        <p:nvSpPr>
          <p:cNvPr id="100" name="직사각형 99"/>
          <p:cNvSpPr/>
          <p:nvPr/>
        </p:nvSpPr>
        <p:spPr>
          <a:xfrm>
            <a:off x="1594950" y="5876961"/>
            <a:ext cx="1033950"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X- 29③/Y-36</a:t>
            </a:r>
            <a:endParaRPr lang="ko-KR" altLang="en-US" sz="900" dirty="0">
              <a:solidFill>
                <a:schemeClr val="bg1">
                  <a:lumMod val="50000"/>
                </a:schemeClr>
              </a:solidFill>
            </a:endParaRPr>
          </a:p>
        </p:txBody>
      </p:sp>
      <p:sp>
        <p:nvSpPr>
          <p:cNvPr id="101" name="직사각형 100"/>
          <p:cNvSpPr/>
          <p:nvPr/>
        </p:nvSpPr>
        <p:spPr>
          <a:xfrm>
            <a:off x="2821363" y="5448300"/>
            <a:ext cx="1033950"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X-36, 29③</a:t>
            </a:r>
            <a:endParaRPr lang="ko-KR" altLang="en-US" sz="900" dirty="0">
              <a:solidFill>
                <a:schemeClr val="bg1">
                  <a:lumMod val="50000"/>
                </a:schemeClr>
              </a:solidFill>
            </a:endParaRPr>
          </a:p>
        </p:txBody>
      </p:sp>
      <p:sp>
        <p:nvSpPr>
          <p:cNvPr id="102" name="직사각형 101"/>
          <p:cNvSpPr/>
          <p:nvPr/>
        </p:nvSpPr>
        <p:spPr>
          <a:xfrm>
            <a:off x="2821363" y="5876961"/>
            <a:ext cx="1033950"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X- 29③/</a:t>
            </a:r>
          </a:p>
          <a:p>
            <a:pPr algn="ctr"/>
            <a:r>
              <a:rPr lang="en-US" altLang="ko-KR" sz="900" dirty="0">
                <a:solidFill>
                  <a:schemeClr val="bg1">
                    <a:lumMod val="50000"/>
                  </a:schemeClr>
                </a:solidFill>
              </a:rPr>
              <a:t>Y-36, 29③</a:t>
            </a:r>
            <a:endParaRPr lang="ko-KR" altLang="en-US" sz="900" dirty="0">
              <a:solidFill>
                <a:schemeClr val="bg1">
                  <a:lumMod val="50000"/>
                </a:schemeClr>
              </a:solidFill>
            </a:endParaRPr>
          </a:p>
        </p:txBody>
      </p:sp>
      <p:sp>
        <p:nvSpPr>
          <p:cNvPr id="103" name="직사각형 102"/>
          <p:cNvSpPr/>
          <p:nvPr/>
        </p:nvSpPr>
        <p:spPr>
          <a:xfrm>
            <a:off x="2821363" y="6296097"/>
            <a:ext cx="1033950"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Y-29③</a:t>
            </a:r>
            <a:endParaRPr lang="ko-KR" altLang="en-US" sz="900" dirty="0">
              <a:solidFill>
                <a:schemeClr val="bg1">
                  <a:lumMod val="50000"/>
                </a:schemeClr>
              </a:solidFill>
            </a:endParaRPr>
          </a:p>
        </p:txBody>
      </p:sp>
      <p:sp>
        <p:nvSpPr>
          <p:cNvPr id="104" name="직사각형 103"/>
          <p:cNvSpPr/>
          <p:nvPr/>
        </p:nvSpPr>
        <p:spPr>
          <a:xfrm>
            <a:off x="4226871" y="5448300"/>
            <a:ext cx="1033950"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X-36, 29①</a:t>
            </a:r>
            <a:endParaRPr lang="ko-KR" altLang="en-US" sz="900" dirty="0">
              <a:solidFill>
                <a:schemeClr val="bg1">
                  <a:lumMod val="50000"/>
                </a:schemeClr>
              </a:solidFill>
            </a:endParaRPr>
          </a:p>
        </p:txBody>
      </p:sp>
      <p:sp>
        <p:nvSpPr>
          <p:cNvPr id="105" name="직사각형 104"/>
          <p:cNvSpPr/>
          <p:nvPr/>
        </p:nvSpPr>
        <p:spPr>
          <a:xfrm>
            <a:off x="4226871" y="5876961"/>
            <a:ext cx="1033950"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X- 29①/</a:t>
            </a:r>
          </a:p>
          <a:p>
            <a:pPr algn="ctr"/>
            <a:r>
              <a:rPr lang="en-US" altLang="ko-KR" sz="900" dirty="0">
                <a:solidFill>
                  <a:schemeClr val="bg1">
                    <a:lumMod val="50000"/>
                  </a:schemeClr>
                </a:solidFill>
              </a:rPr>
              <a:t>Y-36, 29①</a:t>
            </a:r>
            <a:endParaRPr lang="ko-KR" altLang="en-US" sz="900" dirty="0">
              <a:solidFill>
                <a:schemeClr val="bg1">
                  <a:lumMod val="50000"/>
                </a:schemeClr>
              </a:solidFill>
            </a:endParaRPr>
          </a:p>
        </p:txBody>
      </p:sp>
      <p:sp>
        <p:nvSpPr>
          <p:cNvPr id="106" name="직사각형 105"/>
          <p:cNvSpPr/>
          <p:nvPr/>
        </p:nvSpPr>
        <p:spPr>
          <a:xfrm>
            <a:off x="4226871" y="6296097"/>
            <a:ext cx="1033950"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Y-29①</a:t>
            </a:r>
            <a:endParaRPr lang="ko-KR" altLang="en-US" sz="900" dirty="0">
              <a:solidFill>
                <a:schemeClr val="bg1">
                  <a:lumMod val="50000"/>
                </a:schemeClr>
              </a:solidFill>
            </a:endParaRPr>
          </a:p>
        </p:txBody>
      </p:sp>
      <p:cxnSp>
        <p:nvCxnSpPr>
          <p:cNvPr id="107" name="직선 연결선 106"/>
          <p:cNvCxnSpPr/>
          <p:nvPr/>
        </p:nvCxnSpPr>
        <p:spPr>
          <a:xfrm>
            <a:off x="6096000" y="1924050"/>
            <a:ext cx="0" cy="4791184"/>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직선 연결선 112"/>
          <p:cNvCxnSpPr/>
          <p:nvPr/>
        </p:nvCxnSpPr>
        <p:spPr>
          <a:xfrm>
            <a:off x="6141270" y="3928667"/>
            <a:ext cx="567393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직사각형 113"/>
          <p:cNvSpPr/>
          <p:nvPr/>
        </p:nvSpPr>
        <p:spPr>
          <a:xfrm>
            <a:off x="6306359" y="3813917"/>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원출원</a:t>
            </a:r>
            <a:r>
              <a:rPr lang="en-US" altLang="ko-KR" sz="1100" dirty="0">
                <a:solidFill>
                  <a:schemeClr val="tx1"/>
                </a:solidFill>
              </a:rPr>
              <a:t>(X)</a:t>
            </a:r>
            <a:endParaRPr lang="ko-KR" altLang="en-US" sz="1100" dirty="0">
              <a:solidFill>
                <a:schemeClr val="tx1"/>
              </a:solidFill>
            </a:endParaRPr>
          </a:p>
        </p:txBody>
      </p:sp>
      <p:sp>
        <p:nvSpPr>
          <p:cNvPr id="115" name="직사각형 114"/>
          <p:cNvSpPr/>
          <p:nvPr/>
        </p:nvSpPr>
        <p:spPr>
          <a:xfrm>
            <a:off x="7614789" y="3813917"/>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분할출원</a:t>
            </a:r>
            <a:r>
              <a:rPr lang="en-US" altLang="ko-KR" sz="1100" dirty="0">
                <a:solidFill>
                  <a:schemeClr val="tx1"/>
                </a:solidFill>
              </a:rPr>
              <a:t>(Y)</a:t>
            </a:r>
            <a:endParaRPr lang="ko-KR" altLang="en-US" sz="1100" dirty="0">
              <a:solidFill>
                <a:schemeClr val="tx1"/>
              </a:solidFill>
            </a:endParaRPr>
          </a:p>
        </p:txBody>
      </p:sp>
      <p:sp>
        <p:nvSpPr>
          <p:cNvPr id="116" name="직사각형 115"/>
          <p:cNvSpPr/>
          <p:nvPr/>
        </p:nvSpPr>
        <p:spPr>
          <a:xfrm>
            <a:off x="8923298" y="3813917"/>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보정</a:t>
            </a:r>
            <a:r>
              <a:rPr lang="en-US" altLang="ko-KR" sz="1100" dirty="0">
                <a:solidFill>
                  <a:schemeClr val="tx1"/>
                </a:solidFill>
              </a:rPr>
              <a:t>(Y)</a:t>
            </a:r>
            <a:endParaRPr lang="ko-KR" altLang="en-US" sz="1100" dirty="0">
              <a:solidFill>
                <a:schemeClr val="tx1"/>
              </a:solidFill>
            </a:endParaRPr>
          </a:p>
        </p:txBody>
      </p:sp>
      <p:sp>
        <p:nvSpPr>
          <p:cNvPr id="117" name="직사각형 116"/>
          <p:cNvSpPr/>
          <p:nvPr/>
        </p:nvSpPr>
        <p:spPr>
          <a:xfrm>
            <a:off x="10125315" y="3813917"/>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공개</a:t>
            </a:r>
            <a:r>
              <a:rPr lang="en-US" altLang="ko-KR" sz="1100" dirty="0">
                <a:solidFill>
                  <a:schemeClr val="tx1"/>
                </a:solidFill>
              </a:rPr>
              <a:t>(X, Y)</a:t>
            </a:r>
            <a:endParaRPr lang="ko-KR" altLang="en-US" sz="1100" dirty="0">
              <a:solidFill>
                <a:schemeClr val="tx1"/>
              </a:solidFill>
            </a:endParaRPr>
          </a:p>
        </p:txBody>
      </p:sp>
      <p:sp>
        <p:nvSpPr>
          <p:cNvPr id="118" name="자유형 117"/>
          <p:cNvSpPr/>
          <p:nvPr/>
        </p:nvSpPr>
        <p:spPr>
          <a:xfrm>
            <a:off x="6307960" y="4057650"/>
            <a:ext cx="5400675" cy="381000"/>
          </a:xfrm>
          <a:custGeom>
            <a:avLst/>
            <a:gdLst>
              <a:gd name="connsiteX0" fmla="*/ 0 w 5400675"/>
              <a:gd name="connsiteY0" fmla="*/ 0 h 381000"/>
              <a:gd name="connsiteX1" fmla="*/ 381000 w 5400675"/>
              <a:gd name="connsiteY1" fmla="*/ 381000 h 381000"/>
              <a:gd name="connsiteX2" fmla="*/ 5400675 w 5400675"/>
              <a:gd name="connsiteY2" fmla="*/ 381000 h 381000"/>
            </a:gdLst>
            <a:ahLst/>
            <a:cxnLst>
              <a:cxn ang="0">
                <a:pos x="connsiteX0" y="connsiteY0"/>
              </a:cxn>
              <a:cxn ang="0">
                <a:pos x="connsiteX1" y="connsiteY1"/>
              </a:cxn>
              <a:cxn ang="0">
                <a:pos x="connsiteX2" y="connsiteY2"/>
              </a:cxn>
            </a:cxnLst>
            <a:rect l="l" t="t" r="r" b="b"/>
            <a:pathLst>
              <a:path w="5400675" h="381000">
                <a:moveTo>
                  <a:pt x="0" y="0"/>
                </a:moveTo>
                <a:lnTo>
                  <a:pt x="381000" y="381000"/>
                </a:lnTo>
                <a:lnTo>
                  <a:pt x="5400675" y="381000"/>
                </a:lnTo>
              </a:path>
            </a:pathLst>
          </a:cu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19" name="자유형 118"/>
          <p:cNvSpPr/>
          <p:nvPr/>
        </p:nvSpPr>
        <p:spPr>
          <a:xfrm>
            <a:off x="7155685" y="3419475"/>
            <a:ext cx="3394826" cy="390525"/>
          </a:xfrm>
          <a:custGeom>
            <a:avLst/>
            <a:gdLst>
              <a:gd name="connsiteX0" fmla="*/ 0 w 3467100"/>
              <a:gd name="connsiteY0" fmla="*/ 381000 h 390525"/>
              <a:gd name="connsiteX1" fmla="*/ 381000 w 3467100"/>
              <a:gd name="connsiteY1" fmla="*/ 0 h 390525"/>
              <a:gd name="connsiteX2" fmla="*/ 3076575 w 3467100"/>
              <a:gd name="connsiteY2" fmla="*/ 0 h 390525"/>
              <a:gd name="connsiteX3" fmla="*/ 3467100 w 3467100"/>
              <a:gd name="connsiteY3" fmla="*/ 390525 h 390525"/>
            </a:gdLst>
            <a:ahLst/>
            <a:cxnLst>
              <a:cxn ang="0">
                <a:pos x="connsiteX0" y="connsiteY0"/>
              </a:cxn>
              <a:cxn ang="0">
                <a:pos x="connsiteX1" y="connsiteY1"/>
              </a:cxn>
              <a:cxn ang="0">
                <a:pos x="connsiteX2" y="connsiteY2"/>
              </a:cxn>
              <a:cxn ang="0">
                <a:pos x="connsiteX3" y="connsiteY3"/>
              </a:cxn>
            </a:cxnLst>
            <a:rect l="l" t="t" r="r" b="b"/>
            <a:pathLst>
              <a:path w="3467100" h="390525">
                <a:moveTo>
                  <a:pt x="0" y="381000"/>
                </a:moveTo>
                <a:lnTo>
                  <a:pt x="381000" y="0"/>
                </a:lnTo>
                <a:lnTo>
                  <a:pt x="3076575" y="0"/>
                </a:lnTo>
                <a:lnTo>
                  <a:pt x="3467100" y="390525"/>
                </a:lnTo>
              </a:path>
            </a:pathLst>
          </a:cu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0" name="자유형 119"/>
          <p:cNvSpPr/>
          <p:nvPr/>
        </p:nvSpPr>
        <p:spPr>
          <a:xfrm>
            <a:off x="10546585" y="3390900"/>
            <a:ext cx="1228725" cy="400050"/>
          </a:xfrm>
          <a:custGeom>
            <a:avLst/>
            <a:gdLst>
              <a:gd name="connsiteX0" fmla="*/ 0 w 1228725"/>
              <a:gd name="connsiteY0" fmla="*/ 400050 h 400050"/>
              <a:gd name="connsiteX1" fmla="*/ 400050 w 1228725"/>
              <a:gd name="connsiteY1" fmla="*/ 0 h 400050"/>
              <a:gd name="connsiteX2" fmla="*/ 1228725 w 1228725"/>
              <a:gd name="connsiteY2" fmla="*/ 0 h 400050"/>
            </a:gdLst>
            <a:ahLst/>
            <a:cxnLst>
              <a:cxn ang="0">
                <a:pos x="connsiteX0" y="connsiteY0"/>
              </a:cxn>
              <a:cxn ang="0">
                <a:pos x="connsiteX1" y="connsiteY1"/>
              </a:cxn>
              <a:cxn ang="0">
                <a:pos x="connsiteX2" y="connsiteY2"/>
              </a:cxn>
            </a:cxnLst>
            <a:rect l="l" t="t" r="r" b="b"/>
            <a:pathLst>
              <a:path w="1228725" h="400050">
                <a:moveTo>
                  <a:pt x="0" y="400050"/>
                </a:moveTo>
                <a:lnTo>
                  <a:pt x="400050" y="0"/>
                </a:lnTo>
                <a:lnTo>
                  <a:pt x="1228725" y="0"/>
                </a:lnTo>
              </a:path>
            </a:pathLst>
          </a:cu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1" name="자유형 120"/>
          <p:cNvSpPr/>
          <p:nvPr/>
        </p:nvSpPr>
        <p:spPr>
          <a:xfrm>
            <a:off x="8460610" y="3057525"/>
            <a:ext cx="2066925" cy="723900"/>
          </a:xfrm>
          <a:custGeom>
            <a:avLst/>
            <a:gdLst>
              <a:gd name="connsiteX0" fmla="*/ 0 w 2066925"/>
              <a:gd name="connsiteY0" fmla="*/ 723900 h 723900"/>
              <a:gd name="connsiteX1" fmla="*/ 304800 w 2066925"/>
              <a:gd name="connsiteY1" fmla="*/ 0 h 723900"/>
              <a:gd name="connsiteX2" fmla="*/ 1857375 w 2066925"/>
              <a:gd name="connsiteY2" fmla="*/ 0 h 723900"/>
              <a:gd name="connsiteX3" fmla="*/ 2066925 w 2066925"/>
              <a:gd name="connsiteY3" fmla="*/ 723900 h 723900"/>
            </a:gdLst>
            <a:ahLst/>
            <a:cxnLst>
              <a:cxn ang="0">
                <a:pos x="connsiteX0" y="connsiteY0"/>
              </a:cxn>
              <a:cxn ang="0">
                <a:pos x="connsiteX1" y="connsiteY1"/>
              </a:cxn>
              <a:cxn ang="0">
                <a:pos x="connsiteX2" y="connsiteY2"/>
              </a:cxn>
              <a:cxn ang="0">
                <a:pos x="connsiteX3" y="connsiteY3"/>
              </a:cxn>
            </a:cxnLst>
            <a:rect l="l" t="t" r="r" b="b"/>
            <a:pathLst>
              <a:path w="2066925" h="723900">
                <a:moveTo>
                  <a:pt x="0" y="723900"/>
                </a:moveTo>
                <a:lnTo>
                  <a:pt x="304800" y="0"/>
                </a:lnTo>
                <a:lnTo>
                  <a:pt x="1857375" y="0"/>
                </a:lnTo>
                <a:lnTo>
                  <a:pt x="2066925" y="723900"/>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2" name="자유형 121"/>
          <p:cNvSpPr/>
          <p:nvPr/>
        </p:nvSpPr>
        <p:spPr>
          <a:xfrm>
            <a:off x="10527535" y="3057525"/>
            <a:ext cx="1295400" cy="704850"/>
          </a:xfrm>
          <a:custGeom>
            <a:avLst/>
            <a:gdLst>
              <a:gd name="connsiteX0" fmla="*/ 0 w 1295400"/>
              <a:gd name="connsiteY0" fmla="*/ 742950 h 742950"/>
              <a:gd name="connsiteX1" fmla="*/ 257175 w 1295400"/>
              <a:gd name="connsiteY1" fmla="*/ 0 h 742950"/>
              <a:gd name="connsiteX2" fmla="*/ 1295400 w 1295400"/>
              <a:gd name="connsiteY2" fmla="*/ 0 h 742950"/>
            </a:gdLst>
            <a:ahLst/>
            <a:cxnLst>
              <a:cxn ang="0">
                <a:pos x="connsiteX0" y="connsiteY0"/>
              </a:cxn>
              <a:cxn ang="0">
                <a:pos x="connsiteX1" y="connsiteY1"/>
              </a:cxn>
              <a:cxn ang="0">
                <a:pos x="connsiteX2" y="connsiteY2"/>
              </a:cxn>
            </a:cxnLst>
            <a:rect l="l" t="t" r="r" b="b"/>
            <a:pathLst>
              <a:path w="1295400" h="742950">
                <a:moveTo>
                  <a:pt x="0" y="742950"/>
                </a:moveTo>
                <a:lnTo>
                  <a:pt x="257175" y="0"/>
                </a:lnTo>
                <a:lnTo>
                  <a:pt x="1295400" y="0"/>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3" name="자유형 122"/>
          <p:cNvSpPr/>
          <p:nvPr/>
        </p:nvSpPr>
        <p:spPr>
          <a:xfrm>
            <a:off x="6317485" y="4067175"/>
            <a:ext cx="5429250" cy="752475"/>
          </a:xfrm>
          <a:custGeom>
            <a:avLst/>
            <a:gdLst>
              <a:gd name="connsiteX0" fmla="*/ 0 w 5429250"/>
              <a:gd name="connsiteY0" fmla="*/ 0 h 752475"/>
              <a:gd name="connsiteX1" fmla="*/ 361950 w 5429250"/>
              <a:gd name="connsiteY1" fmla="*/ 752475 h 752475"/>
              <a:gd name="connsiteX2" fmla="*/ 5429250 w 5429250"/>
              <a:gd name="connsiteY2" fmla="*/ 752475 h 752475"/>
            </a:gdLst>
            <a:ahLst/>
            <a:cxnLst>
              <a:cxn ang="0">
                <a:pos x="connsiteX0" y="connsiteY0"/>
              </a:cxn>
              <a:cxn ang="0">
                <a:pos x="connsiteX1" y="connsiteY1"/>
              </a:cxn>
              <a:cxn ang="0">
                <a:pos x="connsiteX2" y="connsiteY2"/>
              </a:cxn>
            </a:cxnLst>
            <a:rect l="l" t="t" r="r" b="b"/>
            <a:pathLst>
              <a:path w="5429250" h="752475">
                <a:moveTo>
                  <a:pt x="0" y="0"/>
                </a:moveTo>
                <a:lnTo>
                  <a:pt x="361950" y="752475"/>
                </a:lnTo>
                <a:lnTo>
                  <a:pt x="5429250" y="752475"/>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4" name="TextBox 123"/>
          <p:cNvSpPr txBox="1"/>
          <p:nvPr/>
        </p:nvSpPr>
        <p:spPr>
          <a:xfrm>
            <a:off x="8289556" y="4837211"/>
            <a:ext cx="1863011" cy="276999"/>
          </a:xfrm>
          <a:prstGeom prst="rect">
            <a:avLst/>
          </a:prstGeom>
          <a:noFill/>
        </p:spPr>
        <p:txBody>
          <a:bodyPr wrap="none" rtlCol="0">
            <a:spAutoFit/>
          </a:bodyPr>
          <a:lstStyle/>
          <a:p>
            <a:r>
              <a:rPr lang="ko-KR" altLang="en-US" sz="1200" dirty="0" err="1"/>
              <a:t>선출원의</a:t>
            </a:r>
            <a:r>
              <a:rPr lang="ko-KR" altLang="en-US" sz="1200" dirty="0"/>
              <a:t> 지위</a:t>
            </a:r>
            <a:r>
              <a:rPr lang="en-US" altLang="ko-KR" sz="1200" dirty="0"/>
              <a:t>(Y-</a:t>
            </a:r>
            <a:r>
              <a:rPr lang="ko-KR" altLang="en-US" sz="1200" dirty="0"/>
              <a:t>청구범위</a:t>
            </a:r>
            <a:r>
              <a:rPr lang="en-US" altLang="ko-KR" sz="1200" dirty="0"/>
              <a:t>)</a:t>
            </a:r>
            <a:endParaRPr lang="ko-KR" altLang="en-US" sz="1200" dirty="0"/>
          </a:p>
        </p:txBody>
      </p:sp>
      <p:sp>
        <p:nvSpPr>
          <p:cNvPr id="125" name="TextBox 124"/>
          <p:cNvSpPr txBox="1"/>
          <p:nvPr/>
        </p:nvSpPr>
        <p:spPr>
          <a:xfrm>
            <a:off x="10775581" y="2617886"/>
            <a:ext cx="1192955" cy="461665"/>
          </a:xfrm>
          <a:prstGeom prst="rect">
            <a:avLst/>
          </a:prstGeom>
          <a:noFill/>
        </p:spPr>
        <p:txBody>
          <a:bodyPr wrap="none" rtlCol="0">
            <a:spAutoFit/>
          </a:bodyPr>
          <a:lstStyle/>
          <a:p>
            <a:r>
              <a:rPr lang="ko-KR" altLang="en-US" sz="1200" dirty="0"/>
              <a:t>공지기술의 지위</a:t>
            </a:r>
            <a:endParaRPr lang="en-US" altLang="ko-KR" sz="1200" dirty="0"/>
          </a:p>
          <a:p>
            <a:pPr algn="ctr"/>
            <a:r>
              <a:rPr lang="en-US" altLang="ko-KR" sz="1200" dirty="0"/>
              <a:t>(Y-</a:t>
            </a:r>
            <a:r>
              <a:rPr lang="ko-KR" altLang="en-US" sz="1200" dirty="0" err="1"/>
              <a:t>최명도</a:t>
            </a:r>
            <a:r>
              <a:rPr lang="en-US" altLang="ko-KR" sz="1200" dirty="0"/>
              <a:t>)</a:t>
            </a:r>
            <a:endParaRPr lang="ko-KR" altLang="en-US" sz="1200" dirty="0"/>
          </a:p>
        </p:txBody>
      </p:sp>
      <p:sp>
        <p:nvSpPr>
          <p:cNvPr id="126" name="TextBox 125"/>
          <p:cNvSpPr txBox="1"/>
          <p:nvPr/>
        </p:nvSpPr>
        <p:spPr>
          <a:xfrm>
            <a:off x="8769354" y="2770285"/>
            <a:ext cx="1587294" cy="276999"/>
          </a:xfrm>
          <a:prstGeom prst="rect">
            <a:avLst/>
          </a:prstGeom>
          <a:noFill/>
        </p:spPr>
        <p:txBody>
          <a:bodyPr wrap="none" rtlCol="0">
            <a:spAutoFit/>
          </a:bodyPr>
          <a:lstStyle/>
          <a:p>
            <a:r>
              <a:rPr lang="ko-KR" altLang="en-US" sz="1200" dirty="0" err="1"/>
              <a:t>확선의</a:t>
            </a:r>
            <a:r>
              <a:rPr lang="ko-KR" altLang="en-US" sz="1200" dirty="0"/>
              <a:t> 지위</a:t>
            </a:r>
            <a:r>
              <a:rPr lang="en-US" altLang="ko-KR" sz="1200" dirty="0"/>
              <a:t>(Y-</a:t>
            </a:r>
            <a:r>
              <a:rPr lang="ko-KR" altLang="en-US" sz="1200" dirty="0" err="1"/>
              <a:t>최명도</a:t>
            </a:r>
            <a:r>
              <a:rPr lang="en-US" altLang="ko-KR" sz="1200" dirty="0"/>
              <a:t>)</a:t>
            </a:r>
            <a:endParaRPr lang="ko-KR" altLang="en-US" sz="1200" dirty="0"/>
          </a:p>
        </p:txBody>
      </p:sp>
      <p:sp>
        <p:nvSpPr>
          <p:cNvPr id="127" name="TextBox 126"/>
          <p:cNvSpPr txBox="1"/>
          <p:nvPr/>
        </p:nvSpPr>
        <p:spPr>
          <a:xfrm>
            <a:off x="8700425" y="3424623"/>
            <a:ext cx="1587294" cy="276999"/>
          </a:xfrm>
          <a:prstGeom prst="rect">
            <a:avLst/>
          </a:prstGeom>
          <a:noFill/>
        </p:spPr>
        <p:txBody>
          <a:bodyPr wrap="none" rtlCol="0">
            <a:spAutoFit/>
          </a:bodyPr>
          <a:lstStyle/>
          <a:p>
            <a:r>
              <a:rPr lang="ko-KR" altLang="en-US" sz="1200" dirty="0" err="1"/>
              <a:t>확선의</a:t>
            </a:r>
            <a:r>
              <a:rPr lang="ko-KR" altLang="en-US" sz="1200" dirty="0"/>
              <a:t> 지위</a:t>
            </a:r>
            <a:r>
              <a:rPr lang="en-US" altLang="ko-KR" sz="1200" dirty="0"/>
              <a:t>(X-</a:t>
            </a:r>
            <a:r>
              <a:rPr lang="ko-KR" altLang="en-US" sz="1200" dirty="0" err="1"/>
              <a:t>최명도</a:t>
            </a:r>
            <a:r>
              <a:rPr lang="en-US" altLang="ko-KR" sz="1200" dirty="0"/>
              <a:t>)</a:t>
            </a:r>
            <a:endParaRPr lang="ko-KR" altLang="en-US" sz="1200" dirty="0"/>
          </a:p>
        </p:txBody>
      </p:sp>
      <p:sp>
        <p:nvSpPr>
          <p:cNvPr id="128" name="TextBox 127"/>
          <p:cNvSpPr txBox="1"/>
          <p:nvPr/>
        </p:nvSpPr>
        <p:spPr>
          <a:xfrm>
            <a:off x="10861306" y="3360836"/>
            <a:ext cx="1192955" cy="461665"/>
          </a:xfrm>
          <a:prstGeom prst="rect">
            <a:avLst/>
          </a:prstGeom>
          <a:noFill/>
        </p:spPr>
        <p:txBody>
          <a:bodyPr wrap="none" rtlCol="0">
            <a:spAutoFit/>
          </a:bodyPr>
          <a:lstStyle/>
          <a:p>
            <a:r>
              <a:rPr lang="ko-KR" altLang="en-US" sz="1200" dirty="0"/>
              <a:t>공지기술의 지위</a:t>
            </a:r>
            <a:endParaRPr lang="en-US" altLang="ko-KR" sz="1200" dirty="0"/>
          </a:p>
          <a:p>
            <a:pPr algn="ctr"/>
            <a:r>
              <a:rPr lang="en-US" altLang="ko-KR" sz="1200" dirty="0"/>
              <a:t>(X-</a:t>
            </a:r>
            <a:r>
              <a:rPr lang="ko-KR" altLang="en-US" sz="1200" dirty="0"/>
              <a:t> </a:t>
            </a:r>
            <a:r>
              <a:rPr lang="ko-KR" altLang="en-US" sz="1200" dirty="0" err="1"/>
              <a:t>최명도</a:t>
            </a:r>
            <a:r>
              <a:rPr lang="en-US" altLang="ko-KR" sz="1200" dirty="0"/>
              <a:t>)</a:t>
            </a:r>
            <a:endParaRPr lang="ko-KR" altLang="en-US" sz="1200" dirty="0"/>
          </a:p>
        </p:txBody>
      </p:sp>
      <p:sp>
        <p:nvSpPr>
          <p:cNvPr id="129" name="TextBox 128"/>
          <p:cNvSpPr txBox="1"/>
          <p:nvPr/>
        </p:nvSpPr>
        <p:spPr>
          <a:xfrm>
            <a:off x="8289556" y="4447460"/>
            <a:ext cx="1863011" cy="276999"/>
          </a:xfrm>
          <a:prstGeom prst="rect">
            <a:avLst/>
          </a:prstGeom>
          <a:noFill/>
        </p:spPr>
        <p:txBody>
          <a:bodyPr wrap="none" rtlCol="0">
            <a:spAutoFit/>
          </a:bodyPr>
          <a:lstStyle/>
          <a:p>
            <a:r>
              <a:rPr lang="ko-KR" altLang="en-US" sz="1200" dirty="0" err="1"/>
              <a:t>선출원의</a:t>
            </a:r>
            <a:r>
              <a:rPr lang="ko-KR" altLang="en-US" sz="1200" dirty="0"/>
              <a:t> 지위</a:t>
            </a:r>
            <a:r>
              <a:rPr lang="en-US" altLang="ko-KR" sz="1200" dirty="0"/>
              <a:t>(X-</a:t>
            </a:r>
            <a:r>
              <a:rPr lang="ko-KR" altLang="en-US" sz="1200" dirty="0"/>
              <a:t>청구범위</a:t>
            </a:r>
            <a:r>
              <a:rPr lang="en-US" altLang="ko-KR" sz="1200" dirty="0"/>
              <a:t>)</a:t>
            </a:r>
            <a:endParaRPr lang="ko-KR" altLang="en-US" sz="1200" dirty="0"/>
          </a:p>
        </p:txBody>
      </p:sp>
      <p:sp>
        <p:nvSpPr>
          <p:cNvPr id="130" name="왼쪽 화살표 설명선 129"/>
          <p:cNvSpPr/>
          <p:nvPr/>
        </p:nvSpPr>
        <p:spPr>
          <a:xfrm>
            <a:off x="5505450" y="1924050"/>
            <a:ext cx="923925" cy="588427"/>
          </a:xfrm>
          <a:prstGeom prst="leftArrowCallout">
            <a:avLst>
              <a:gd name="adj1" fmla="val 63849"/>
              <a:gd name="adj2" fmla="val 46043"/>
              <a:gd name="adj3" fmla="val 39568"/>
              <a:gd name="adj4" fmla="val 64977"/>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구체적</a:t>
            </a:r>
            <a:endParaRPr lang="en-US" altLang="ko-KR" sz="1200" dirty="0"/>
          </a:p>
          <a:p>
            <a:pPr algn="ctr"/>
            <a:r>
              <a:rPr lang="ko-KR" altLang="en-US" sz="1200" dirty="0"/>
              <a:t>예시</a:t>
            </a:r>
          </a:p>
        </p:txBody>
      </p:sp>
      <p:sp>
        <p:nvSpPr>
          <p:cNvPr id="131" name="오른쪽 화살표 설명선 130"/>
          <p:cNvSpPr/>
          <p:nvPr/>
        </p:nvSpPr>
        <p:spPr>
          <a:xfrm>
            <a:off x="5819775" y="5753100"/>
            <a:ext cx="923925" cy="588427"/>
          </a:xfrm>
          <a:prstGeom prst="rightArrowCallout">
            <a:avLst>
              <a:gd name="adj1" fmla="val 47662"/>
              <a:gd name="adj2" fmla="val 50000"/>
              <a:gd name="adj3" fmla="val 41187"/>
              <a:gd name="adj4" fmla="val 64977"/>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일반화</a:t>
            </a:r>
          </a:p>
        </p:txBody>
      </p:sp>
      <p:sp>
        <p:nvSpPr>
          <p:cNvPr id="2" name="직사각형 1"/>
          <p:cNvSpPr/>
          <p:nvPr/>
        </p:nvSpPr>
        <p:spPr>
          <a:xfrm>
            <a:off x="8934450" y="6181761"/>
            <a:ext cx="514350" cy="514350"/>
          </a:xfrm>
          <a:prstGeom prst="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확</a:t>
            </a:r>
          </a:p>
        </p:txBody>
      </p:sp>
      <p:sp>
        <p:nvSpPr>
          <p:cNvPr id="68" name="직사각형 67"/>
          <p:cNvSpPr/>
          <p:nvPr/>
        </p:nvSpPr>
        <p:spPr>
          <a:xfrm>
            <a:off x="9561203"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공</a:t>
            </a:r>
          </a:p>
        </p:txBody>
      </p:sp>
      <p:sp>
        <p:nvSpPr>
          <p:cNvPr id="69" name="직사각형 68"/>
          <p:cNvSpPr/>
          <p:nvPr/>
        </p:nvSpPr>
        <p:spPr>
          <a:xfrm>
            <a:off x="10187956"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조</a:t>
            </a:r>
          </a:p>
        </p:txBody>
      </p:sp>
      <p:sp>
        <p:nvSpPr>
          <p:cNvPr id="70" name="직사각형 69"/>
          <p:cNvSpPr/>
          <p:nvPr/>
        </p:nvSpPr>
        <p:spPr>
          <a:xfrm>
            <a:off x="10803760"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국</a:t>
            </a:r>
          </a:p>
        </p:txBody>
      </p:sp>
      <p:sp>
        <p:nvSpPr>
          <p:cNvPr id="71" name="직사각형 70"/>
          <p:cNvSpPr/>
          <p:nvPr/>
        </p:nvSpPr>
        <p:spPr>
          <a:xfrm>
            <a:off x="11394310"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등</a:t>
            </a:r>
          </a:p>
        </p:txBody>
      </p:sp>
      <p:sp>
        <p:nvSpPr>
          <p:cNvPr id="5" name="슬라이드 번호 개체 틀 4"/>
          <p:cNvSpPr>
            <a:spLocks noGrp="1"/>
          </p:cNvSpPr>
          <p:nvPr>
            <p:ph type="sldNum" sz="quarter" idx="12"/>
          </p:nvPr>
        </p:nvSpPr>
        <p:spPr/>
        <p:txBody>
          <a:bodyPr/>
          <a:lstStyle/>
          <a:p>
            <a:r>
              <a:rPr lang="en-US" altLang="ko-KR"/>
              <a:t>195</a:t>
            </a:r>
            <a:endParaRPr lang="ko-KR" altLang="en-US"/>
          </a:p>
        </p:txBody>
      </p:sp>
    </p:spTree>
    <p:extLst>
      <p:ext uri="{BB962C8B-B14F-4D97-AF65-F5344CB8AC3E}">
        <p14:creationId xmlns:p14="http://schemas.microsoft.com/office/powerpoint/2010/main" val="2863758150"/>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직사각형 35"/>
          <p:cNvSpPr/>
          <p:nvPr/>
        </p:nvSpPr>
        <p:spPr>
          <a:xfrm>
            <a:off x="2856346" y="5029726"/>
            <a:ext cx="1613106" cy="171566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cxnSp>
        <p:nvCxnSpPr>
          <p:cNvPr id="7" name="직선 연결선 6"/>
          <p:cNvCxnSpPr>
            <a:stCxn id="143" idx="0"/>
          </p:cNvCxnSpPr>
          <p:nvPr/>
        </p:nvCxnSpPr>
        <p:spPr>
          <a:xfrm flipH="1">
            <a:off x="3666935" y="4167355"/>
            <a:ext cx="4" cy="269064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7" name="양쪽 모서리가 둥근 사각형 146"/>
          <p:cNvSpPr/>
          <p:nvPr/>
        </p:nvSpPr>
        <p:spPr>
          <a:xfrm rot="10800000">
            <a:off x="3666936" y="4031883"/>
            <a:ext cx="4419655" cy="762009"/>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sz="2400" dirty="0"/>
              <a:t>공지예외적용주장을 수반하는 분할출원</a:t>
            </a:r>
            <a:r>
              <a:rPr lang="en-US" altLang="ko-KR" sz="2400" dirty="0"/>
              <a:t>(</a:t>
            </a:r>
            <a:r>
              <a:rPr lang="ko-KR" altLang="en-US" sz="2400" dirty="0"/>
              <a:t>제</a:t>
            </a:r>
            <a:r>
              <a:rPr lang="en-US" altLang="ko-KR" sz="2400" dirty="0"/>
              <a:t>52</a:t>
            </a:r>
            <a:r>
              <a:rPr lang="ko-KR" altLang="en-US" sz="2400" dirty="0"/>
              <a:t>조제</a:t>
            </a:r>
            <a:r>
              <a:rPr lang="en-US" altLang="ko-KR" sz="2400" dirty="0"/>
              <a:t>2</a:t>
            </a:r>
            <a:r>
              <a:rPr lang="ko-KR" altLang="en-US" sz="2400" dirty="0" err="1"/>
              <a:t>항제</a:t>
            </a:r>
            <a:r>
              <a:rPr lang="en-US" altLang="ko-KR" sz="2400" dirty="0"/>
              <a:t>2</a:t>
            </a:r>
            <a:r>
              <a:rPr lang="ko-KR" altLang="en-US" sz="2400" dirty="0"/>
              <a:t>호</a:t>
            </a:r>
            <a:r>
              <a:rPr lang="en-US" altLang="ko-KR" sz="2400" dirty="0"/>
              <a:t>)</a:t>
            </a:r>
            <a:endParaRPr lang="ko-KR" altLang="en-US" sz="2400" dirty="0"/>
          </a:p>
        </p:txBody>
      </p:sp>
      <p:sp>
        <p:nvSpPr>
          <p:cNvPr id="26" name="TextBox 25"/>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분할출원</a:t>
            </a:r>
            <a:r>
              <a:rPr lang="en-US" altLang="ko-KR" sz="1400" dirty="0">
                <a:solidFill>
                  <a:schemeClr val="tx2"/>
                </a:solidFill>
              </a:rPr>
              <a:t>(Y)</a:t>
            </a:r>
            <a:r>
              <a:rPr lang="ko-KR" altLang="en-US" sz="1400" dirty="0">
                <a:solidFill>
                  <a:schemeClr val="tx2"/>
                </a:solidFill>
              </a:rPr>
              <a:t>은 </a:t>
            </a:r>
            <a:r>
              <a:rPr lang="ko-KR" altLang="en-US" sz="1400" dirty="0" err="1">
                <a:solidFill>
                  <a:schemeClr val="tx2"/>
                </a:solidFill>
              </a:rPr>
              <a:t>원출원</a:t>
            </a:r>
            <a:r>
              <a:rPr lang="en-US" altLang="ko-KR" sz="1400" dirty="0">
                <a:solidFill>
                  <a:schemeClr val="tx2"/>
                </a:solidFill>
              </a:rPr>
              <a:t>(X)</a:t>
            </a:r>
            <a:r>
              <a:rPr lang="ko-KR" altLang="en-US" sz="1400" dirty="0">
                <a:solidFill>
                  <a:schemeClr val="tx2"/>
                </a:solidFill>
              </a:rPr>
              <a:t>의 출원일로 소급효가 인정되는 것을 제외하고는 </a:t>
            </a:r>
            <a:r>
              <a:rPr lang="ko-KR" altLang="en-US" sz="1400" dirty="0" err="1">
                <a:solidFill>
                  <a:schemeClr val="tx2"/>
                </a:solidFill>
              </a:rPr>
              <a:t>원출원</a:t>
            </a:r>
            <a:r>
              <a:rPr lang="en-US" altLang="ko-KR" sz="1400" dirty="0">
                <a:solidFill>
                  <a:schemeClr val="tx2"/>
                </a:solidFill>
              </a:rPr>
              <a:t>(X)</a:t>
            </a:r>
            <a:r>
              <a:rPr lang="ko-KR" altLang="en-US" sz="1400" dirty="0">
                <a:solidFill>
                  <a:schemeClr val="tx2"/>
                </a:solidFill>
              </a:rPr>
              <a:t>과는 별개의 특허출원이다</a:t>
            </a:r>
            <a:r>
              <a:rPr lang="en-US" altLang="ko-KR" sz="1400" dirty="0">
                <a:solidFill>
                  <a:schemeClr val="tx2"/>
                </a:solidFill>
              </a:rPr>
              <a:t>. </a:t>
            </a:r>
            <a:r>
              <a:rPr lang="ko-KR" altLang="en-US" sz="1400" dirty="0">
                <a:solidFill>
                  <a:schemeClr val="tx2"/>
                </a:solidFill>
              </a:rPr>
              <a:t>따라서 </a:t>
            </a:r>
            <a:r>
              <a:rPr lang="ko-KR" altLang="en-US" sz="1400" dirty="0" err="1">
                <a:solidFill>
                  <a:schemeClr val="tx2"/>
                </a:solidFill>
              </a:rPr>
              <a:t>원출원</a:t>
            </a:r>
            <a:r>
              <a:rPr lang="en-US" altLang="ko-KR" sz="1400" dirty="0">
                <a:solidFill>
                  <a:schemeClr val="tx2"/>
                </a:solidFill>
              </a:rPr>
              <a:t>(X)</a:t>
            </a:r>
            <a:r>
              <a:rPr lang="ko-KR" altLang="en-US" sz="1400" dirty="0">
                <a:solidFill>
                  <a:schemeClr val="tx2"/>
                </a:solidFill>
              </a:rPr>
              <a:t>이 공지예외적용주장을 하였다고 하여 분할출원</a:t>
            </a:r>
            <a:r>
              <a:rPr lang="en-US" altLang="ko-KR" sz="1400" dirty="0">
                <a:solidFill>
                  <a:schemeClr val="tx2"/>
                </a:solidFill>
              </a:rPr>
              <a:t>(Y)</a:t>
            </a:r>
            <a:r>
              <a:rPr lang="ko-KR" altLang="en-US" sz="1400" dirty="0">
                <a:solidFill>
                  <a:schemeClr val="tx2"/>
                </a:solidFill>
              </a:rPr>
              <a:t>이 그 효과를 누릴 수 있는 것은 아니며</a:t>
            </a:r>
            <a:r>
              <a:rPr lang="en-US" altLang="ko-KR" sz="1400" dirty="0">
                <a:solidFill>
                  <a:schemeClr val="tx2"/>
                </a:solidFill>
              </a:rPr>
              <a:t>, </a:t>
            </a:r>
            <a:r>
              <a:rPr lang="ko-KR" altLang="en-US" sz="1400" dirty="0">
                <a:solidFill>
                  <a:schemeClr val="tx2"/>
                </a:solidFill>
              </a:rPr>
              <a:t>분할출원</a:t>
            </a:r>
            <a:r>
              <a:rPr lang="en-US" altLang="ko-KR" sz="1400" dirty="0">
                <a:solidFill>
                  <a:schemeClr val="tx2"/>
                </a:solidFill>
              </a:rPr>
              <a:t>(Y)</a:t>
            </a:r>
            <a:r>
              <a:rPr lang="ko-KR" altLang="en-US" sz="1400" dirty="0">
                <a:solidFill>
                  <a:schemeClr val="tx2"/>
                </a:solidFill>
              </a:rPr>
              <a:t>이 그 효과를 </a:t>
            </a:r>
            <a:r>
              <a:rPr lang="ko-KR" altLang="en-US" sz="1400" dirty="0" err="1">
                <a:solidFill>
                  <a:schemeClr val="tx2"/>
                </a:solidFill>
              </a:rPr>
              <a:t>적용받기</a:t>
            </a:r>
            <a:r>
              <a:rPr lang="ko-KR" altLang="en-US" sz="1400" dirty="0">
                <a:solidFill>
                  <a:schemeClr val="tx2"/>
                </a:solidFill>
              </a:rPr>
              <a:t> 위해서는 분할출원 역시 공지예외적용주장을 하여야 한다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공지예외적용주장을 하기 위해서는 공지된 날로부터 </a:t>
            </a:r>
            <a:r>
              <a:rPr lang="en-US" altLang="ko-KR" sz="1400" dirty="0">
                <a:solidFill>
                  <a:schemeClr val="tx2"/>
                </a:solidFill>
              </a:rPr>
              <a:t>12</a:t>
            </a:r>
            <a:r>
              <a:rPr lang="ko-KR" altLang="en-US" sz="1400" dirty="0">
                <a:solidFill>
                  <a:schemeClr val="tx2"/>
                </a:solidFill>
              </a:rPr>
              <a:t>개월 이내에 그 취지를 적어 출원하여야 하고</a:t>
            </a:r>
            <a:r>
              <a:rPr lang="en-US" altLang="ko-KR" sz="1400" dirty="0">
                <a:solidFill>
                  <a:schemeClr val="tx2"/>
                </a:solidFill>
              </a:rPr>
              <a:t>, </a:t>
            </a:r>
            <a:r>
              <a:rPr lang="ko-KR" altLang="en-US" sz="1400" dirty="0">
                <a:solidFill>
                  <a:schemeClr val="tx2"/>
                </a:solidFill>
              </a:rPr>
              <a:t>그 출원일로부터 </a:t>
            </a:r>
            <a:r>
              <a:rPr lang="en-US" altLang="ko-KR" sz="1400" dirty="0">
                <a:solidFill>
                  <a:schemeClr val="tx2"/>
                </a:solidFill>
              </a:rPr>
              <a:t>30</a:t>
            </a:r>
            <a:r>
              <a:rPr lang="ko-KR" altLang="en-US" sz="1400" dirty="0">
                <a:solidFill>
                  <a:schemeClr val="tx2"/>
                </a:solidFill>
              </a:rPr>
              <a:t>일 이내 증명서류를 제출하여야 한다</a:t>
            </a:r>
            <a:r>
              <a:rPr lang="en-US" altLang="ko-KR" sz="1400" dirty="0">
                <a:solidFill>
                  <a:schemeClr val="tx2"/>
                </a:solidFill>
              </a:rPr>
              <a:t>. </a:t>
            </a:r>
            <a:r>
              <a:rPr lang="ko-KR" altLang="en-US" sz="1400" dirty="0">
                <a:solidFill>
                  <a:schemeClr val="tx2"/>
                </a:solidFill>
              </a:rPr>
              <a:t>그런데</a:t>
            </a:r>
            <a:r>
              <a:rPr lang="en-US" altLang="ko-KR" sz="1400" dirty="0">
                <a:solidFill>
                  <a:schemeClr val="tx2"/>
                </a:solidFill>
              </a:rPr>
              <a:t>,</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분할출원이 이와 같은 공지예외적용주장을 수반하는 경우에는 출원인의 이익을 위해서 </a:t>
            </a:r>
            <a:r>
              <a:rPr lang="en-US" altLang="ko-KR" sz="1400" dirty="0">
                <a:solidFill>
                  <a:schemeClr val="accent3">
                    <a:lumMod val="50000"/>
                  </a:schemeClr>
                </a:solidFill>
                <a:highlight>
                  <a:srgbClr val="FFFF00"/>
                </a:highlight>
              </a:rPr>
              <a:t>12</a:t>
            </a:r>
            <a:r>
              <a:rPr lang="ko-KR" altLang="en-US" sz="1400" dirty="0">
                <a:solidFill>
                  <a:schemeClr val="accent3">
                    <a:lumMod val="50000"/>
                  </a:schemeClr>
                </a:solidFill>
                <a:highlight>
                  <a:srgbClr val="FFFF00"/>
                </a:highlight>
              </a:rPr>
              <a:t>개월의 판단은 </a:t>
            </a:r>
            <a:r>
              <a:rPr lang="en-US" altLang="ko-KR" sz="1400" dirty="0">
                <a:solidFill>
                  <a:schemeClr val="accent3">
                    <a:lumMod val="50000"/>
                  </a:schemeClr>
                </a:solidFill>
                <a:highlight>
                  <a:srgbClr val="FFFF00"/>
                </a:highlight>
              </a:rPr>
              <a:t>X</a:t>
            </a:r>
            <a:r>
              <a:rPr lang="ko-KR" altLang="en-US" sz="1400" dirty="0" err="1">
                <a:solidFill>
                  <a:schemeClr val="accent3">
                    <a:lumMod val="50000"/>
                  </a:schemeClr>
                </a:solidFill>
                <a:highlight>
                  <a:srgbClr val="FFFF00"/>
                </a:highlight>
              </a:rPr>
              <a:t>출원일을</a:t>
            </a:r>
            <a:r>
              <a:rPr lang="ko-KR" altLang="en-US" sz="1400" dirty="0">
                <a:solidFill>
                  <a:schemeClr val="accent3">
                    <a:lumMod val="50000"/>
                  </a:schemeClr>
                </a:solidFill>
                <a:highlight>
                  <a:srgbClr val="FFFF00"/>
                </a:highlight>
              </a:rPr>
              <a:t> 기준으로</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취지 및 증명서류에 대한 것은 </a:t>
            </a:r>
            <a:r>
              <a:rPr lang="en-US" altLang="ko-KR" sz="1400" dirty="0">
                <a:solidFill>
                  <a:schemeClr val="accent3">
                    <a:lumMod val="50000"/>
                  </a:schemeClr>
                </a:solidFill>
                <a:highlight>
                  <a:srgbClr val="FFFF00"/>
                </a:highlight>
              </a:rPr>
              <a:t>Y</a:t>
            </a:r>
            <a:r>
              <a:rPr lang="ko-KR" altLang="en-US" sz="1400" dirty="0" err="1">
                <a:solidFill>
                  <a:schemeClr val="accent3">
                    <a:lumMod val="50000"/>
                  </a:schemeClr>
                </a:solidFill>
                <a:highlight>
                  <a:srgbClr val="FFFF00"/>
                </a:highlight>
              </a:rPr>
              <a:t>출원일을</a:t>
            </a:r>
            <a:r>
              <a:rPr lang="ko-KR" altLang="en-US" sz="1400" dirty="0">
                <a:solidFill>
                  <a:schemeClr val="accent3">
                    <a:lumMod val="50000"/>
                  </a:schemeClr>
                </a:solidFill>
                <a:highlight>
                  <a:srgbClr val="FFFF00"/>
                </a:highlight>
              </a:rPr>
              <a:t> 기준으로 판단</a:t>
            </a:r>
            <a:r>
              <a:rPr lang="ko-KR" altLang="en-US" sz="1400" dirty="0">
                <a:solidFill>
                  <a:schemeClr val="tx2"/>
                </a:solidFill>
              </a:rPr>
              <a:t>하게 된다</a:t>
            </a:r>
            <a:r>
              <a:rPr lang="en-US" altLang="ko-KR" sz="1400" dirty="0">
                <a:solidFill>
                  <a:schemeClr val="tx2"/>
                </a:solidFill>
              </a:rPr>
              <a:t>. </a:t>
            </a:r>
          </a:p>
        </p:txBody>
      </p:sp>
      <p:cxnSp>
        <p:nvCxnSpPr>
          <p:cNvPr id="27" name="직선 연결선 26"/>
          <p:cNvCxnSpPr/>
          <p:nvPr/>
        </p:nvCxnSpPr>
        <p:spPr>
          <a:xfrm>
            <a:off x="0" y="214970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직선 화살표 연결선 67"/>
          <p:cNvCxnSpPr/>
          <p:nvPr/>
        </p:nvCxnSpPr>
        <p:spPr>
          <a:xfrm>
            <a:off x="887767" y="4020503"/>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9" name="Rectangle 14"/>
          <p:cNvSpPr>
            <a:spLocks noChangeArrowheads="1"/>
          </p:cNvSpPr>
          <p:nvPr/>
        </p:nvSpPr>
        <p:spPr bwMode="auto">
          <a:xfrm>
            <a:off x="1108778" y="3076776"/>
            <a:ext cx="1228042"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400" b="0" dirty="0">
                <a:latin typeface="+mn-ea"/>
              </a:rPr>
              <a:t>A, B </a:t>
            </a:r>
            <a:r>
              <a:rPr lang="ko-KR" altLang="en-US" sz="1400" b="0" dirty="0">
                <a:latin typeface="+mn-ea"/>
              </a:rPr>
              <a:t>논문발표</a:t>
            </a:r>
          </a:p>
        </p:txBody>
      </p:sp>
      <p:sp>
        <p:nvSpPr>
          <p:cNvPr id="72" name="직사각형 71"/>
          <p:cNvSpPr/>
          <p:nvPr/>
        </p:nvSpPr>
        <p:spPr>
          <a:xfrm>
            <a:off x="3200813" y="2253738"/>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C</a:t>
            </a:r>
            <a:endParaRPr lang="ko-KR" altLang="en-US" sz="1200" dirty="0">
              <a:solidFill>
                <a:schemeClr val="tx1"/>
              </a:solidFill>
            </a:endParaRPr>
          </a:p>
        </p:txBody>
      </p:sp>
      <p:sp>
        <p:nvSpPr>
          <p:cNvPr id="73" name="직사각형 72"/>
          <p:cNvSpPr/>
          <p:nvPr/>
        </p:nvSpPr>
        <p:spPr>
          <a:xfrm>
            <a:off x="3200813" y="2559740"/>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 C</a:t>
            </a:r>
            <a:endParaRPr lang="ko-KR" altLang="en-US" sz="1200" dirty="0">
              <a:solidFill>
                <a:schemeClr val="tx1"/>
              </a:solidFill>
            </a:endParaRPr>
          </a:p>
        </p:txBody>
      </p:sp>
      <p:cxnSp>
        <p:nvCxnSpPr>
          <p:cNvPr id="5" name="직선 연결선 4"/>
          <p:cNvCxnSpPr>
            <a:stCxn id="69" idx="2"/>
          </p:cNvCxnSpPr>
          <p:nvPr/>
        </p:nvCxnSpPr>
        <p:spPr>
          <a:xfrm>
            <a:off x="1722799" y="3435781"/>
            <a:ext cx="0" cy="4835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9" name="Rectangle 14"/>
          <p:cNvSpPr>
            <a:spLocks noChangeArrowheads="1"/>
          </p:cNvSpPr>
          <p:nvPr/>
        </p:nvSpPr>
        <p:spPr bwMode="auto">
          <a:xfrm>
            <a:off x="2957671" y="2952951"/>
            <a:ext cx="1418541" cy="359005"/>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출원</a:t>
            </a:r>
            <a:r>
              <a:rPr lang="en-US" altLang="ko-KR" sz="1400" b="0" dirty="0">
                <a:latin typeface="+mn-ea"/>
              </a:rPr>
              <a:t>(X)</a:t>
            </a:r>
            <a:endParaRPr lang="ko-KR" altLang="en-US" sz="1400" b="0" dirty="0">
              <a:latin typeface="+mn-ea"/>
            </a:endParaRPr>
          </a:p>
        </p:txBody>
      </p:sp>
      <p:sp>
        <p:nvSpPr>
          <p:cNvPr id="110" name="Rectangle 14"/>
          <p:cNvSpPr>
            <a:spLocks noChangeArrowheads="1"/>
          </p:cNvSpPr>
          <p:nvPr/>
        </p:nvSpPr>
        <p:spPr bwMode="auto">
          <a:xfrm>
            <a:off x="2957671" y="3311956"/>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공지예외적용주장</a:t>
            </a:r>
            <a:endParaRPr lang="ko-KR" altLang="en-US" sz="1400" b="0" dirty="0">
              <a:latin typeface="+mn-ea"/>
            </a:endParaRPr>
          </a:p>
        </p:txBody>
      </p:sp>
      <p:cxnSp>
        <p:nvCxnSpPr>
          <p:cNvPr id="111" name="직선 연결선 110"/>
          <p:cNvCxnSpPr>
            <a:stCxn id="110" idx="2"/>
          </p:cNvCxnSpPr>
          <p:nvPr/>
        </p:nvCxnSpPr>
        <p:spPr>
          <a:xfrm>
            <a:off x="3666942" y="3670961"/>
            <a:ext cx="0" cy="2483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Rectangle 14"/>
          <p:cNvSpPr>
            <a:spLocks noChangeArrowheads="1"/>
          </p:cNvSpPr>
          <p:nvPr/>
        </p:nvSpPr>
        <p:spPr bwMode="auto">
          <a:xfrm>
            <a:off x="4757911" y="3076776"/>
            <a:ext cx="1228042"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증명서류</a:t>
            </a:r>
            <a:endParaRPr lang="ko-KR" altLang="en-US" sz="1400" b="0" dirty="0">
              <a:latin typeface="+mn-ea"/>
            </a:endParaRPr>
          </a:p>
        </p:txBody>
      </p:sp>
      <p:cxnSp>
        <p:nvCxnSpPr>
          <p:cNvPr id="132" name="직선 연결선 131"/>
          <p:cNvCxnSpPr>
            <a:stCxn id="112" idx="2"/>
          </p:cNvCxnSpPr>
          <p:nvPr/>
        </p:nvCxnSpPr>
        <p:spPr>
          <a:xfrm>
            <a:off x="5371932" y="3435781"/>
            <a:ext cx="0" cy="4835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3" name="직사각형 132"/>
          <p:cNvSpPr/>
          <p:nvPr/>
        </p:nvSpPr>
        <p:spPr>
          <a:xfrm>
            <a:off x="7679703" y="2253738"/>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134" name="직사각형 133"/>
          <p:cNvSpPr/>
          <p:nvPr/>
        </p:nvSpPr>
        <p:spPr>
          <a:xfrm>
            <a:off x="7679703" y="2559740"/>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 C</a:t>
            </a:r>
            <a:endParaRPr lang="ko-KR" altLang="en-US" sz="1200" dirty="0">
              <a:solidFill>
                <a:schemeClr val="tx1"/>
              </a:solidFill>
            </a:endParaRPr>
          </a:p>
        </p:txBody>
      </p:sp>
      <p:sp>
        <p:nvSpPr>
          <p:cNvPr id="135" name="Rectangle 14"/>
          <p:cNvSpPr>
            <a:spLocks noChangeArrowheads="1"/>
          </p:cNvSpPr>
          <p:nvPr/>
        </p:nvSpPr>
        <p:spPr bwMode="auto">
          <a:xfrm>
            <a:off x="7436561" y="2952951"/>
            <a:ext cx="1418541" cy="359005"/>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분할출원</a:t>
            </a:r>
            <a:r>
              <a:rPr lang="en-US" altLang="ko-KR" sz="1400" b="0" dirty="0">
                <a:latin typeface="+mn-ea"/>
              </a:rPr>
              <a:t>(Y)</a:t>
            </a:r>
            <a:endParaRPr lang="ko-KR" altLang="en-US" sz="1400" b="0" dirty="0">
              <a:latin typeface="+mn-ea"/>
            </a:endParaRPr>
          </a:p>
        </p:txBody>
      </p:sp>
      <p:sp>
        <p:nvSpPr>
          <p:cNvPr id="136" name="Rectangle 14"/>
          <p:cNvSpPr>
            <a:spLocks noChangeArrowheads="1"/>
          </p:cNvSpPr>
          <p:nvPr/>
        </p:nvSpPr>
        <p:spPr bwMode="auto">
          <a:xfrm>
            <a:off x="7436561" y="3311956"/>
            <a:ext cx="1418541"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공지예외적용주장</a:t>
            </a:r>
            <a:endParaRPr lang="ko-KR" altLang="en-US" sz="1400" b="0" dirty="0">
              <a:latin typeface="+mn-ea"/>
            </a:endParaRPr>
          </a:p>
        </p:txBody>
      </p:sp>
      <p:cxnSp>
        <p:nvCxnSpPr>
          <p:cNvPr id="137" name="직선 연결선 136"/>
          <p:cNvCxnSpPr>
            <a:stCxn id="136" idx="2"/>
          </p:cNvCxnSpPr>
          <p:nvPr/>
        </p:nvCxnSpPr>
        <p:spPr>
          <a:xfrm>
            <a:off x="8145832" y="3670961"/>
            <a:ext cx="0" cy="2483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8" name="Rectangle 14"/>
          <p:cNvSpPr>
            <a:spLocks noChangeArrowheads="1"/>
          </p:cNvSpPr>
          <p:nvPr/>
        </p:nvSpPr>
        <p:spPr bwMode="auto">
          <a:xfrm>
            <a:off x="9236801" y="3076776"/>
            <a:ext cx="1228042"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증명서류</a:t>
            </a:r>
            <a:endParaRPr lang="ko-KR" altLang="en-US" sz="1400" b="0" dirty="0">
              <a:latin typeface="+mn-ea"/>
            </a:endParaRPr>
          </a:p>
        </p:txBody>
      </p:sp>
      <p:cxnSp>
        <p:nvCxnSpPr>
          <p:cNvPr id="139" name="직선 연결선 138"/>
          <p:cNvCxnSpPr>
            <a:stCxn id="138" idx="2"/>
          </p:cNvCxnSpPr>
          <p:nvPr/>
        </p:nvCxnSpPr>
        <p:spPr>
          <a:xfrm>
            <a:off x="9850822" y="3435781"/>
            <a:ext cx="0" cy="4835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양쪽 모서리가 둥근 사각형 11"/>
          <p:cNvSpPr/>
          <p:nvPr/>
        </p:nvSpPr>
        <p:spPr>
          <a:xfrm rot="10800000">
            <a:off x="3698298" y="4031885"/>
            <a:ext cx="1673631" cy="406414"/>
          </a:xfrm>
          <a:prstGeom prst="round2SameRect">
            <a:avLst>
              <a:gd name="adj1" fmla="val 50000"/>
              <a:gd name="adj2" fmla="val 0"/>
            </a:avLst>
          </a:prstGeom>
          <a:pattFill prst="wdDnDiag">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0" name="양쪽 모서리가 둥근 사각형 139"/>
          <p:cNvSpPr/>
          <p:nvPr/>
        </p:nvSpPr>
        <p:spPr>
          <a:xfrm rot="10800000">
            <a:off x="1722797" y="4031885"/>
            <a:ext cx="1903494" cy="406414"/>
          </a:xfrm>
          <a:prstGeom prst="round2SameRect">
            <a:avLst>
              <a:gd name="adj1" fmla="val 50000"/>
              <a:gd name="adj2" fmla="val 0"/>
            </a:avLst>
          </a:prstGeom>
          <a:pattFill prst="dotGrid">
            <a:fgClr>
              <a:schemeClr val="accent2">
                <a:lumMod val="50000"/>
              </a:schemeClr>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1" name="양쪽 모서리가 둥근 사각형 140"/>
          <p:cNvSpPr/>
          <p:nvPr/>
        </p:nvSpPr>
        <p:spPr>
          <a:xfrm rot="10800000">
            <a:off x="8162794" y="4031885"/>
            <a:ext cx="1688025" cy="406414"/>
          </a:xfrm>
          <a:prstGeom prst="round2SameRect">
            <a:avLst>
              <a:gd name="adj1" fmla="val 50000"/>
              <a:gd name="adj2" fmla="val 0"/>
            </a:avLst>
          </a:prstGeom>
          <a:pattFill prst="wdDnDiag">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Rectangle 14"/>
          <p:cNvSpPr>
            <a:spLocks noChangeArrowheads="1"/>
          </p:cNvSpPr>
          <p:nvPr/>
        </p:nvSpPr>
        <p:spPr bwMode="auto">
          <a:xfrm flipV="1">
            <a:off x="1600470" y="3912388"/>
            <a:ext cx="238000" cy="254967"/>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43" name="Rectangle 14"/>
          <p:cNvSpPr>
            <a:spLocks noChangeArrowheads="1"/>
          </p:cNvSpPr>
          <p:nvPr/>
        </p:nvSpPr>
        <p:spPr bwMode="auto">
          <a:xfrm flipV="1">
            <a:off x="3547939" y="3912388"/>
            <a:ext cx="238000" cy="254967"/>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44" name="Rectangle 14"/>
          <p:cNvSpPr>
            <a:spLocks noChangeArrowheads="1"/>
          </p:cNvSpPr>
          <p:nvPr/>
        </p:nvSpPr>
        <p:spPr bwMode="auto">
          <a:xfrm flipV="1">
            <a:off x="5252930" y="3912388"/>
            <a:ext cx="238000" cy="254967"/>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45" name="Rectangle 14"/>
          <p:cNvSpPr>
            <a:spLocks noChangeArrowheads="1"/>
          </p:cNvSpPr>
          <p:nvPr/>
        </p:nvSpPr>
        <p:spPr bwMode="auto">
          <a:xfrm flipV="1">
            <a:off x="8026832" y="3912388"/>
            <a:ext cx="238000" cy="254967"/>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46" name="Rectangle 14"/>
          <p:cNvSpPr>
            <a:spLocks noChangeArrowheads="1"/>
          </p:cNvSpPr>
          <p:nvPr/>
        </p:nvSpPr>
        <p:spPr bwMode="auto">
          <a:xfrm flipV="1">
            <a:off x="9731822" y="3912388"/>
            <a:ext cx="238000" cy="254967"/>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4" name="TextBox 13"/>
          <p:cNvSpPr txBox="1"/>
          <p:nvPr/>
        </p:nvSpPr>
        <p:spPr>
          <a:xfrm>
            <a:off x="2251514" y="4438299"/>
            <a:ext cx="949299" cy="276999"/>
          </a:xfrm>
          <a:prstGeom prst="rect">
            <a:avLst/>
          </a:prstGeom>
          <a:noFill/>
        </p:spPr>
        <p:txBody>
          <a:bodyPr wrap="none" rtlCol="0">
            <a:spAutoFit/>
          </a:bodyPr>
          <a:lstStyle/>
          <a:p>
            <a:r>
              <a:rPr lang="en-US" altLang="ko-KR" sz="1200" dirty="0"/>
              <a:t>12</a:t>
            </a:r>
            <a:r>
              <a:rPr lang="ko-KR" altLang="en-US" sz="1200" dirty="0"/>
              <a:t>개월 이내</a:t>
            </a:r>
          </a:p>
        </p:txBody>
      </p:sp>
      <p:sp>
        <p:nvSpPr>
          <p:cNvPr id="148" name="TextBox 147"/>
          <p:cNvSpPr txBox="1"/>
          <p:nvPr/>
        </p:nvSpPr>
        <p:spPr>
          <a:xfrm>
            <a:off x="4133069" y="4438299"/>
            <a:ext cx="811441" cy="276999"/>
          </a:xfrm>
          <a:prstGeom prst="rect">
            <a:avLst/>
          </a:prstGeom>
          <a:noFill/>
        </p:spPr>
        <p:txBody>
          <a:bodyPr wrap="none" rtlCol="0">
            <a:spAutoFit/>
          </a:bodyPr>
          <a:lstStyle/>
          <a:p>
            <a:r>
              <a:rPr lang="en-US" altLang="ko-KR" sz="1200" dirty="0"/>
              <a:t>30</a:t>
            </a:r>
            <a:r>
              <a:rPr lang="ko-KR" altLang="en-US" sz="1200" dirty="0"/>
              <a:t>일 이내</a:t>
            </a:r>
          </a:p>
        </p:txBody>
      </p:sp>
      <p:sp>
        <p:nvSpPr>
          <p:cNvPr id="149" name="TextBox 148"/>
          <p:cNvSpPr txBox="1"/>
          <p:nvPr/>
        </p:nvSpPr>
        <p:spPr>
          <a:xfrm>
            <a:off x="8611959" y="4438299"/>
            <a:ext cx="811441" cy="276999"/>
          </a:xfrm>
          <a:prstGeom prst="rect">
            <a:avLst/>
          </a:prstGeom>
          <a:noFill/>
        </p:spPr>
        <p:txBody>
          <a:bodyPr wrap="none" rtlCol="0">
            <a:spAutoFit/>
          </a:bodyPr>
          <a:lstStyle/>
          <a:p>
            <a:r>
              <a:rPr lang="en-US" altLang="ko-KR" sz="1200" dirty="0"/>
              <a:t>30</a:t>
            </a:r>
            <a:r>
              <a:rPr lang="ko-KR" altLang="en-US" sz="1200" dirty="0"/>
              <a:t>일 이내</a:t>
            </a:r>
          </a:p>
        </p:txBody>
      </p:sp>
      <p:sp>
        <p:nvSpPr>
          <p:cNvPr id="150" name="TextBox 149"/>
          <p:cNvSpPr txBox="1"/>
          <p:nvPr/>
        </p:nvSpPr>
        <p:spPr>
          <a:xfrm>
            <a:off x="5490930" y="4793893"/>
            <a:ext cx="1287532" cy="276999"/>
          </a:xfrm>
          <a:prstGeom prst="rect">
            <a:avLst/>
          </a:prstGeom>
          <a:noFill/>
        </p:spPr>
        <p:txBody>
          <a:bodyPr wrap="none" rtlCol="0">
            <a:spAutoFit/>
          </a:bodyPr>
          <a:lstStyle/>
          <a:p>
            <a:r>
              <a:rPr lang="ko-KR" altLang="en-US" sz="1200" dirty="0"/>
              <a:t>분할출원가능기간</a:t>
            </a:r>
          </a:p>
        </p:txBody>
      </p:sp>
      <p:sp>
        <p:nvSpPr>
          <p:cNvPr id="37" name="Rectangle 14"/>
          <p:cNvSpPr>
            <a:spLocks noChangeArrowheads="1"/>
          </p:cNvSpPr>
          <p:nvPr/>
        </p:nvSpPr>
        <p:spPr bwMode="auto">
          <a:xfrm>
            <a:off x="3190291" y="5608786"/>
            <a:ext cx="978938" cy="222871"/>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a:latin typeface="+mn-ea"/>
              </a:rPr>
              <a:t>출원</a:t>
            </a:r>
            <a:r>
              <a:rPr lang="en-US" altLang="ko-KR" sz="1100" dirty="0">
                <a:latin typeface="+mn-ea"/>
              </a:rPr>
              <a:t>(X)</a:t>
            </a:r>
            <a:endParaRPr lang="ko-KR" altLang="en-US" sz="1100" b="0" dirty="0">
              <a:latin typeface="+mn-ea"/>
            </a:endParaRPr>
          </a:p>
        </p:txBody>
      </p:sp>
      <p:sp>
        <p:nvSpPr>
          <p:cNvPr id="38" name="직사각형 37"/>
          <p:cNvSpPr/>
          <p:nvPr/>
        </p:nvSpPr>
        <p:spPr>
          <a:xfrm>
            <a:off x="3365067" y="5184152"/>
            <a:ext cx="643352" cy="189967"/>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rPr>
              <a:t>A, C</a:t>
            </a:r>
            <a:endParaRPr lang="ko-KR" altLang="en-US" sz="1050" dirty="0">
              <a:solidFill>
                <a:schemeClr val="tx1"/>
              </a:solidFill>
            </a:endParaRPr>
          </a:p>
        </p:txBody>
      </p:sp>
      <p:sp>
        <p:nvSpPr>
          <p:cNvPr id="39" name="직사각형 38"/>
          <p:cNvSpPr/>
          <p:nvPr/>
        </p:nvSpPr>
        <p:spPr>
          <a:xfrm>
            <a:off x="3365067" y="5374119"/>
            <a:ext cx="643352" cy="189967"/>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rPr>
              <a:t>A, B, C</a:t>
            </a:r>
            <a:endParaRPr lang="ko-KR" altLang="en-US" sz="1050" dirty="0">
              <a:solidFill>
                <a:schemeClr val="tx1"/>
              </a:solidFill>
            </a:endParaRPr>
          </a:p>
        </p:txBody>
      </p:sp>
      <p:sp>
        <p:nvSpPr>
          <p:cNvPr id="40" name="Rectangle 14"/>
          <p:cNvSpPr>
            <a:spLocks noChangeArrowheads="1"/>
          </p:cNvSpPr>
          <p:nvPr/>
        </p:nvSpPr>
        <p:spPr bwMode="auto">
          <a:xfrm>
            <a:off x="3181747" y="6430147"/>
            <a:ext cx="978938" cy="22287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a:latin typeface="+mn-ea"/>
              </a:rPr>
              <a:t>출원</a:t>
            </a:r>
            <a:r>
              <a:rPr lang="en-US" altLang="ko-KR" sz="1100" dirty="0">
                <a:latin typeface="+mn-ea"/>
              </a:rPr>
              <a:t>(Y)</a:t>
            </a:r>
            <a:endParaRPr lang="ko-KR" altLang="en-US" sz="1100" b="0" dirty="0">
              <a:latin typeface="+mn-ea"/>
            </a:endParaRPr>
          </a:p>
        </p:txBody>
      </p:sp>
      <p:sp>
        <p:nvSpPr>
          <p:cNvPr id="41" name="직사각형 40"/>
          <p:cNvSpPr/>
          <p:nvPr/>
        </p:nvSpPr>
        <p:spPr>
          <a:xfrm>
            <a:off x="3365067" y="6005514"/>
            <a:ext cx="643352" cy="189967"/>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rPr>
              <a:t>B</a:t>
            </a:r>
            <a:endParaRPr lang="ko-KR" altLang="en-US" sz="1050" dirty="0">
              <a:solidFill>
                <a:schemeClr val="tx1"/>
              </a:solidFill>
            </a:endParaRPr>
          </a:p>
        </p:txBody>
      </p:sp>
      <p:sp>
        <p:nvSpPr>
          <p:cNvPr id="42" name="직사각형 41"/>
          <p:cNvSpPr/>
          <p:nvPr/>
        </p:nvSpPr>
        <p:spPr>
          <a:xfrm>
            <a:off x="3365067" y="6195481"/>
            <a:ext cx="643352" cy="189967"/>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B, C</a:t>
            </a:r>
            <a:endParaRPr lang="ko-KR" altLang="en-US" sz="1050" dirty="0">
              <a:solidFill>
                <a:schemeClr val="tx1"/>
              </a:solidFill>
            </a:endParaRPr>
          </a:p>
        </p:txBody>
      </p:sp>
      <p:sp>
        <p:nvSpPr>
          <p:cNvPr id="46" name="곱셈 기호 45"/>
          <p:cNvSpPr/>
          <p:nvPr/>
        </p:nvSpPr>
        <p:spPr>
          <a:xfrm>
            <a:off x="1253524" y="4925082"/>
            <a:ext cx="931892" cy="1074638"/>
          </a:xfrm>
          <a:prstGeom prst="mathMultiply">
            <a:avLst>
              <a:gd name="adj1" fmla="val 8495"/>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곱셈 기호 46"/>
          <p:cNvSpPr/>
          <p:nvPr/>
        </p:nvSpPr>
        <p:spPr>
          <a:xfrm>
            <a:off x="1253524" y="5753145"/>
            <a:ext cx="931892" cy="1074638"/>
          </a:xfrm>
          <a:prstGeom prst="mathMultiply">
            <a:avLst>
              <a:gd name="adj1" fmla="val 8495"/>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직사각형 47"/>
          <p:cNvSpPr/>
          <p:nvPr/>
        </p:nvSpPr>
        <p:spPr>
          <a:xfrm>
            <a:off x="8934450"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확</a:t>
            </a:r>
          </a:p>
        </p:txBody>
      </p:sp>
      <p:sp>
        <p:nvSpPr>
          <p:cNvPr id="49" name="직사각형 48"/>
          <p:cNvSpPr/>
          <p:nvPr/>
        </p:nvSpPr>
        <p:spPr>
          <a:xfrm>
            <a:off x="9561203" y="6181761"/>
            <a:ext cx="514350" cy="514350"/>
          </a:xfrm>
          <a:prstGeom prst="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공</a:t>
            </a:r>
          </a:p>
        </p:txBody>
      </p:sp>
      <p:sp>
        <p:nvSpPr>
          <p:cNvPr id="50" name="직사각형 49"/>
          <p:cNvSpPr/>
          <p:nvPr/>
        </p:nvSpPr>
        <p:spPr>
          <a:xfrm>
            <a:off x="10187956"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조</a:t>
            </a:r>
          </a:p>
        </p:txBody>
      </p:sp>
      <p:sp>
        <p:nvSpPr>
          <p:cNvPr id="51" name="직사각형 50"/>
          <p:cNvSpPr/>
          <p:nvPr/>
        </p:nvSpPr>
        <p:spPr>
          <a:xfrm>
            <a:off x="10803760"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국</a:t>
            </a:r>
          </a:p>
        </p:txBody>
      </p:sp>
      <p:sp>
        <p:nvSpPr>
          <p:cNvPr id="52" name="직사각형 51"/>
          <p:cNvSpPr/>
          <p:nvPr/>
        </p:nvSpPr>
        <p:spPr>
          <a:xfrm>
            <a:off x="11394310"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등</a:t>
            </a:r>
          </a:p>
        </p:txBody>
      </p:sp>
      <p:sp>
        <p:nvSpPr>
          <p:cNvPr id="2" name="슬라이드 번호 개체 틀 1"/>
          <p:cNvSpPr>
            <a:spLocks noGrp="1"/>
          </p:cNvSpPr>
          <p:nvPr>
            <p:ph type="sldNum" sz="quarter" idx="12"/>
          </p:nvPr>
        </p:nvSpPr>
        <p:spPr/>
        <p:txBody>
          <a:bodyPr/>
          <a:lstStyle/>
          <a:p>
            <a:r>
              <a:rPr lang="en-US" altLang="ko-KR"/>
              <a:t>196</a:t>
            </a:r>
            <a:endParaRPr lang="ko-KR" altLang="en-US"/>
          </a:p>
        </p:txBody>
      </p:sp>
    </p:spTree>
    <p:extLst>
      <p:ext uri="{BB962C8B-B14F-4D97-AF65-F5344CB8AC3E}">
        <p14:creationId xmlns:p14="http://schemas.microsoft.com/office/powerpoint/2010/main" val="877092762"/>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 name="곱셈 기호 155"/>
          <p:cNvSpPr/>
          <p:nvPr/>
        </p:nvSpPr>
        <p:spPr>
          <a:xfrm>
            <a:off x="6524037" y="5125704"/>
            <a:ext cx="931892" cy="1074638"/>
          </a:xfrm>
          <a:prstGeom prst="mathMultiply">
            <a:avLst>
              <a:gd name="adj1" fmla="val 8495"/>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5" name="곱셈 기호 154"/>
          <p:cNvSpPr/>
          <p:nvPr/>
        </p:nvSpPr>
        <p:spPr>
          <a:xfrm>
            <a:off x="5493693" y="5665884"/>
            <a:ext cx="931892" cy="1074638"/>
          </a:xfrm>
          <a:prstGeom prst="mathMultiply">
            <a:avLst>
              <a:gd name="adj1" fmla="val 8495"/>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3" name="양쪽 모서리가 둥근 사각형 152"/>
          <p:cNvSpPr/>
          <p:nvPr/>
        </p:nvSpPr>
        <p:spPr>
          <a:xfrm>
            <a:off x="5959639" y="4132314"/>
            <a:ext cx="1548161" cy="363303"/>
          </a:xfrm>
          <a:prstGeom prst="round2SameRect">
            <a:avLst>
              <a:gd name="adj1" fmla="val 50000"/>
              <a:gd name="adj2" fmla="val 0"/>
            </a:avLst>
          </a:prstGeom>
          <a:pattFill prst="dkHorz">
            <a:fgClr>
              <a:schemeClr val="accent4">
                <a:lumMod val="60000"/>
                <a:lumOff val="4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p>
        </p:txBody>
      </p:sp>
      <p:sp>
        <p:nvSpPr>
          <p:cNvPr id="4" name="텍스트 개체 틀 3"/>
          <p:cNvSpPr>
            <a:spLocks noGrp="1"/>
          </p:cNvSpPr>
          <p:nvPr>
            <p:ph type="body" sz="quarter" idx="13"/>
          </p:nvPr>
        </p:nvSpPr>
        <p:spPr/>
        <p:txBody>
          <a:bodyPr/>
          <a:lstStyle/>
          <a:p>
            <a:r>
              <a:rPr lang="ko-KR" altLang="en-US" dirty="0" err="1"/>
              <a:t>원출원과의</a:t>
            </a:r>
            <a:r>
              <a:rPr lang="ko-KR" altLang="en-US" dirty="0"/>
              <a:t> 관계</a:t>
            </a:r>
          </a:p>
        </p:txBody>
      </p:sp>
      <p:sp>
        <p:nvSpPr>
          <p:cNvPr id="26" name="TextBox 25"/>
          <p:cNvSpPr txBox="1"/>
          <p:nvPr/>
        </p:nvSpPr>
        <p:spPr>
          <a:xfrm>
            <a:off x="77875" y="986046"/>
            <a:ext cx="11936323" cy="1600438"/>
          </a:xfrm>
          <a:prstGeom prst="rect">
            <a:avLst/>
          </a:prstGeom>
          <a:noFill/>
        </p:spPr>
        <p:txBody>
          <a:bodyPr wrap="square" rtlCol="0">
            <a:spAutoFit/>
          </a:bodyPr>
          <a:lstStyle/>
          <a:p>
            <a:pPr fontAlgn="base"/>
            <a:r>
              <a:rPr lang="ko-KR" altLang="en-US" sz="1400" dirty="0">
                <a:solidFill>
                  <a:schemeClr val="accent3">
                    <a:lumMod val="50000"/>
                  </a:schemeClr>
                </a:solidFill>
                <a:highlight>
                  <a:srgbClr val="FFFF00"/>
                </a:highlight>
              </a:rPr>
              <a:t>분할출원은 원출원과는 전혀 별개의 새로운 출원이다</a:t>
            </a:r>
            <a:r>
              <a:rPr lang="en-US" altLang="ko-KR" sz="1400" dirty="0">
                <a:solidFill>
                  <a:schemeClr val="accent3">
                    <a:lumMod val="50000"/>
                  </a:schemeClr>
                </a:solidFill>
                <a:highlight>
                  <a:srgbClr val="FFFF00"/>
                </a:highlight>
              </a:rPr>
              <a:t>. </a:t>
            </a:r>
            <a:r>
              <a:rPr lang="ko-KR" altLang="en-US" sz="1400" dirty="0">
                <a:solidFill>
                  <a:schemeClr val="tx2"/>
                </a:solidFill>
              </a:rPr>
              <a:t>따라서 분할출원은 원출원에 대하여 생긴 절차상의 효력을 그대로 승계할 수 없다</a:t>
            </a:r>
            <a:r>
              <a:rPr lang="en-US" altLang="ko-KR" sz="1400" dirty="0">
                <a:solidFill>
                  <a:schemeClr val="tx2"/>
                </a:solidFill>
              </a:rPr>
              <a:t>. </a:t>
            </a:r>
            <a:r>
              <a:rPr lang="ko-KR" altLang="en-US" sz="1400" dirty="0">
                <a:solidFill>
                  <a:schemeClr val="tx2"/>
                </a:solidFill>
              </a:rPr>
              <a:t>즉 분할출원에 대한 심사청구</a:t>
            </a:r>
            <a:r>
              <a:rPr lang="en-US" altLang="ko-KR" sz="1400" dirty="0">
                <a:solidFill>
                  <a:schemeClr val="tx2"/>
                </a:solidFill>
              </a:rPr>
              <a:t>, </a:t>
            </a:r>
            <a:r>
              <a:rPr lang="ko-KR" altLang="en-US" sz="1400" dirty="0">
                <a:solidFill>
                  <a:schemeClr val="tx2"/>
                </a:solidFill>
              </a:rPr>
              <a:t>출원공개</a:t>
            </a:r>
            <a:r>
              <a:rPr lang="en-US" altLang="ko-KR" sz="1400" dirty="0">
                <a:solidFill>
                  <a:schemeClr val="tx2"/>
                </a:solidFill>
              </a:rPr>
              <a:t>, </a:t>
            </a:r>
            <a:r>
              <a:rPr lang="ko-KR" altLang="en-US" sz="1400" dirty="0">
                <a:solidFill>
                  <a:schemeClr val="tx2"/>
                </a:solidFill>
              </a:rPr>
              <a:t>특허여부결정도 </a:t>
            </a:r>
            <a:r>
              <a:rPr lang="ko-KR" altLang="en-US" sz="1400" dirty="0" err="1">
                <a:solidFill>
                  <a:schemeClr val="tx2"/>
                </a:solidFill>
              </a:rPr>
              <a:t>원특허출원과</a:t>
            </a:r>
            <a:r>
              <a:rPr lang="ko-KR" altLang="en-US" sz="1400" dirty="0">
                <a:solidFill>
                  <a:schemeClr val="tx2"/>
                </a:solidFill>
              </a:rPr>
              <a:t> 독립하여 </a:t>
            </a:r>
            <a:r>
              <a:rPr lang="ko-KR" altLang="en-US" sz="1400" dirty="0" err="1">
                <a:solidFill>
                  <a:schemeClr val="tx2"/>
                </a:solidFill>
              </a:rPr>
              <a:t>행하여진다</a:t>
            </a:r>
            <a:r>
              <a:rPr lang="en-US" altLang="ko-KR" sz="1400" dirty="0">
                <a:solidFill>
                  <a:schemeClr val="tx2"/>
                </a:solidFill>
              </a:rPr>
              <a:t>. </a:t>
            </a:r>
            <a:r>
              <a:rPr lang="ko-KR" altLang="en-US" sz="1400" dirty="0">
                <a:solidFill>
                  <a:schemeClr val="tx2"/>
                </a:solidFill>
              </a:rPr>
              <a:t>예를 들어</a:t>
            </a:r>
            <a:r>
              <a:rPr lang="en-US" altLang="ko-KR" sz="1400" dirty="0">
                <a:solidFill>
                  <a:schemeClr val="tx2"/>
                </a:solidFill>
              </a:rPr>
              <a:t>, </a:t>
            </a:r>
            <a:r>
              <a:rPr lang="ko-KR" altLang="en-US" sz="1400" dirty="0">
                <a:solidFill>
                  <a:schemeClr val="tx2"/>
                </a:solidFill>
              </a:rPr>
              <a:t>분할출원은 </a:t>
            </a:r>
            <a:r>
              <a:rPr lang="ko-KR" altLang="en-US" sz="1400" dirty="0" err="1">
                <a:solidFill>
                  <a:schemeClr val="tx2"/>
                </a:solidFill>
              </a:rPr>
              <a:t>원출원일부터</a:t>
            </a:r>
            <a:r>
              <a:rPr lang="ko-KR" altLang="en-US" sz="1400" dirty="0">
                <a:solidFill>
                  <a:schemeClr val="tx2"/>
                </a:solidFill>
              </a:rPr>
              <a:t>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6</a:t>
            </a:r>
            <a:r>
              <a:rPr lang="ko-KR" altLang="en-US" sz="1400" dirty="0">
                <a:solidFill>
                  <a:schemeClr val="tx2"/>
                </a:solidFill>
              </a:rPr>
              <a:t>개월이 지나기 전에 분할된 경우에는 </a:t>
            </a:r>
            <a:r>
              <a:rPr lang="ko-KR" altLang="en-US" sz="1400" dirty="0" err="1">
                <a:solidFill>
                  <a:schemeClr val="tx2"/>
                </a:solidFill>
              </a:rPr>
              <a:t>원출원일부터</a:t>
            </a:r>
            <a:r>
              <a:rPr lang="ko-KR" altLang="en-US" sz="1400" dirty="0">
                <a:solidFill>
                  <a:schemeClr val="tx2"/>
                </a:solidFill>
              </a:rPr>
              <a:t>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6</a:t>
            </a:r>
            <a:r>
              <a:rPr lang="ko-KR" altLang="en-US" sz="1400" dirty="0">
                <a:solidFill>
                  <a:schemeClr val="tx2"/>
                </a:solidFill>
              </a:rPr>
              <a:t>개월이 지난 후에</a:t>
            </a:r>
            <a:r>
              <a:rPr lang="en-US" altLang="ko-KR" sz="1400" dirty="0">
                <a:solidFill>
                  <a:schemeClr val="tx2"/>
                </a:solidFill>
              </a:rPr>
              <a:t>, </a:t>
            </a:r>
            <a:r>
              <a:rPr lang="ko-KR" altLang="en-US" sz="1400" dirty="0" err="1">
                <a:solidFill>
                  <a:schemeClr val="tx2"/>
                </a:solidFill>
              </a:rPr>
              <a:t>원출원일부터</a:t>
            </a:r>
            <a:r>
              <a:rPr lang="ko-KR" altLang="en-US" sz="1400" dirty="0">
                <a:solidFill>
                  <a:schemeClr val="tx2"/>
                </a:solidFill>
              </a:rPr>
              <a:t>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6</a:t>
            </a:r>
            <a:r>
              <a:rPr lang="ko-KR" altLang="en-US" sz="1400" dirty="0">
                <a:solidFill>
                  <a:schemeClr val="tx2"/>
                </a:solidFill>
              </a:rPr>
              <a:t>개월이 지난 후에 분할된 경우에는 즉시 </a:t>
            </a:r>
            <a:r>
              <a:rPr lang="ko-KR" altLang="en-US" sz="1400" dirty="0" err="1">
                <a:solidFill>
                  <a:schemeClr val="tx2"/>
                </a:solidFill>
              </a:rPr>
              <a:t>출원공개된다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accent3">
                    <a:lumMod val="50000"/>
                  </a:schemeClr>
                </a:solidFill>
                <a:highlight>
                  <a:srgbClr val="FFFF00"/>
                </a:highlight>
              </a:rPr>
              <a:t>분할출원의 심사는 지식재산처장이 정하는 바</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에 따른다</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施規 </a:t>
            </a:r>
            <a:r>
              <a:rPr lang="en-US" altLang="ko-KR" sz="1400" dirty="0">
                <a:solidFill>
                  <a:schemeClr val="accent3">
                    <a:lumMod val="50000"/>
                  </a:schemeClr>
                </a:solidFill>
                <a:highlight>
                  <a:srgbClr val="FFFF00"/>
                </a:highlight>
              </a:rPr>
              <a:t>38②</a:t>
            </a:r>
            <a:r>
              <a:rPr lang="en-US" altLang="ko-KR" sz="1400" dirty="0">
                <a:solidFill>
                  <a:schemeClr val="accent3">
                    <a:lumMod val="50000"/>
                  </a:schemeClr>
                </a:solidFill>
              </a:rPr>
              <a:t>). </a:t>
            </a:r>
            <a:r>
              <a:rPr lang="ko-KR" altLang="en-US" sz="1400" dirty="0">
                <a:solidFill>
                  <a:schemeClr val="accent3">
                    <a:lumMod val="50000"/>
                  </a:schemeClr>
                </a:solidFill>
              </a:rPr>
              <a:t>이는 심사순서를 탄력적으로 운영하여 변동하는 심사환경에 대응하기 위함이다</a:t>
            </a:r>
            <a:r>
              <a:rPr lang="en-US" altLang="ko-KR" sz="1400" dirty="0">
                <a:solidFill>
                  <a:schemeClr val="accent3">
                    <a:lumMod val="50000"/>
                  </a:schemeClr>
                </a:solidFill>
              </a:rPr>
              <a:t>.</a:t>
            </a:r>
            <a:r>
              <a:rPr lang="en-US" altLang="ko-KR" sz="1400" dirty="0">
                <a:solidFill>
                  <a:schemeClr val="tx2"/>
                </a:solidFill>
              </a:rPr>
              <a:t> </a:t>
            </a:r>
            <a:r>
              <a:rPr lang="ko-KR" altLang="en-US" sz="1400" dirty="0">
                <a:solidFill>
                  <a:schemeClr val="tx2"/>
                </a:solidFill>
              </a:rPr>
              <a:t>이는 원출원과 분할출원에 기재된 발명이 관련기술인 경우가 많이 있기 때문에 원출원과 분할출원을 같이 심사하여 심사의 효율성을 높이기 위함이다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상술한 바와 같이 원출원이 우선권주장절차를 밟았다고 하더라도 분할출원이 이들 절차의 효력을 누리기 위해서는 다시 절차를 밟아야 한다</a:t>
            </a:r>
            <a:r>
              <a:rPr lang="en-US" altLang="ko-KR" sz="1400" dirty="0">
                <a:solidFill>
                  <a:schemeClr val="tx2"/>
                </a:solidFill>
              </a:rPr>
              <a:t>. </a:t>
            </a:r>
            <a:r>
              <a:rPr lang="ko-KR" altLang="en-US" sz="1400" dirty="0">
                <a:solidFill>
                  <a:schemeClr val="tx2"/>
                </a:solidFill>
              </a:rPr>
              <a:t>다만</a:t>
            </a:r>
            <a:r>
              <a:rPr lang="en-US" altLang="ko-KR" sz="1400" dirty="0">
                <a:solidFill>
                  <a:srgbClr val="FF0000"/>
                </a:solidFill>
              </a:rPr>
              <a:t>,</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원출원이 우선권주장을 하지 아니한 경우 실무상 분할출원 역시 상기 주장을 할 수 없다</a:t>
            </a:r>
            <a:r>
              <a:rPr lang="en-US" altLang="ko-KR" sz="1400" dirty="0">
                <a:solidFill>
                  <a:srgbClr val="FF0000"/>
                </a:solidFill>
              </a:rPr>
              <a:t>.</a:t>
            </a:r>
            <a:r>
              <a:rPr lang="en-US" altLang="ko-KR" sz="1400" dirty="0">
                <a:solidFill>
                  <a:schemeClr val="tx2"/>
                </a:solidFill>
              </a:rPr>
              <a:t> </a:t>
            </a:r>
            <a:r>
              <a:rPr lang="ko-KR" altLang="en-US" sz="1400" dirty="0">
                <a:solidFill>
                  <a:schemeClr val="tx2"/>
                </a:solidFill>
              </a:rPr>
              <a:t>이는 원출원과 동시에 우선권주장을 하지 아니하여 그 효과가 발생하지 아니한 경우 이를 회피하기 위한 수단으로서 분할출원을 이용하는 것을 방지하기 위해서이다</a:t>
            </a:r>
            <a:r>
              <a:rPr lang="en-US" altLang="ko-KR" sz="1400" dirty="0">
                <a:solidFill>
                  <a:schemeClr val="tx2"/>
                </a:solidFill>
              </a:rPr>
              <a:t>.</a:t>
            </a:r>
          </a:p>
        </p:txBody>
      </p:sp>
      <p:cxnSp>
        <p:nvCxnSpPr>
          <p:cNvPr id="27" name="직선 연결선 26"/>
          <p:cNvCxnSpPr/>
          <p:nvPr/>
        </p:nvCxnSpPr>
        <p:spPr>
          <a:xfrm>
            <a:off x="0" y="259408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양쪽 모서리가 둥근 사각형 99"/>
          <p:cNvSpPr/>
          <p:nvPr/>
        </p:nvSpPr>
        <p:spPr>
          <a:xfrm rot="10800000">
            <a:off x="2999649" y="4513346"/>
            <a:ext cx="1191101" cy="363303"/>
          </a:xfrm>
          <a:prstGeom prst="round2SameRect">
            <a:avLst>
              <a:gd name="adj1" fmla="val 50000"/>
              <a:gd name="adj2" fmla="val 0"/>
            </a:avLst>
          </a:prstGeom>
          <a:pattFill prst="pct25">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1" name="양쪽 모서리가 둥근 사각형 100"/>
          <p:cNvSpPr/>
          <p:nvPr/>
        </p:nvSpPr>
        <p:spPr>
          <a:xfrm>
            <a:off x="3038810" y="4132314"/>
            <a:ext cx="2530247" cy="363303"/>
          </a:xfrm>
          <a:prstGeom prst="round2SameRect">
            <a:avLst>
              <a:gd name="adj1" fmla="val 50000"/>
              <a:gd name="adj2" fmla="val 0"/>
            </a:avLst>
          </a:prstGeom>
          <a:pattFill prst="dot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2" name="직선 화살표 연결선 101"/>
          <p:cNvCxnSpPr/>
          <p:nvPr/>
        </p:nvCxnSpPr>
        <p:spPr>
          <a:xfrm>
            <a:off x="2637417" y="4503217"/>
            <a:ext cx="5451349" cy="0"/>
          </a:xfrm>
          <a:prstGeom prst="straightConnector1">
            <a:avLst/>
          </a:prstGeom>
          <a:noFill/>
          <a:ln w="28575" cap="flat" cmpd="sng" algn="ctr">
            <a:solidFill>
              <a:sysClr val="window" lastClr="FFFFFF">
                <a:lumMod val="50000"/>
              </a:sysClr>
            </a:solidFill>
            <a:prstDash val="solid"/>
            <a:headEnd type="none" w="med" len="med"/>
            <a:tailEnd type="triangle"/>
          </a:ln>
          <a:effectLst/>
        </p:spPr>
      </p:cxnSp>
      <p:sp>
        <p:nvSpPr>
          <p:cNvPr id="103" name="Rectangle 14"/>
          <p:cNvSpPr>
            <a:spLocks noChangeArrowheads="1"/>
          </p:cNvSpPr>
          <p:nvPr/>
        </p:nvSpPr>
        <p:spPr bwMode="auto">
          <a:xfrm flipV="1">
            <a:off x="4139434" y="4440763"/>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4" name="Rectangle 14"/>
          <p:cNvSpPr>
            <a:spLocks noChangeArrowheads="1"/>
          </p:cNvSpPr>
          <p:nvPr/>
        </p:nvSpPr>
        <p:spPr bwMode="auto">
          <a:xfrm>
            <a:off x="3713439" y="3496302"/>
            <a:ext cx="98263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원</a:t>
            </a:r>
            <a:r>
              <a:rPr kumimoji="0" lang="ko-KR" altLang="en-US" sz="1200" b="0" i="0" u="none" strike="noStrike" kern="0" cap="none" spc="0" normalizeH="0" baseline="0" noProof="0" dirty="0">
                <a:ln>
                  <a:noFill/>
                </a:ln>
                <a:solidFill>
                  <a:prstClr val="black"/>
                </a:solidFill>
                <a:effectLst/>
                <a:uLnTx/>
                <a:uFillTx/>
                <a:latin typeface="+mn-ea"/>
              </a:rPr>
              <a:t>출원</a:t>
            </a:r>
            <a:r>
              <a:rPr kumimoji="0" lang="en-US" altLang="ko-KR" sz="1200" b="0" i="0" u="none" strike="noStrike" kern="0" cap="none" spc="0" normalizeH="0" baseline="0" noProof="0" dirty="0">
                <a:ln>
                  <a:noFill/>
                </a:ln>
                <a:solidFill>
                  <a:prstClr val="black"/>
                </a:solidFill>
                <a:effectLst/>
                <a:uLnTx/>
                <a:uFillTx/>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cxnSp>
        <p:nvCxnSpPr>
          <p:cNvPr id="105" name="직선 연결선 104"/>
          <p:cNvCxnSpPr>
            <a:cxnSpLocks/>
            <a:stCxn id="104" idx="2"/>
          </p:cNvCxnSpPr>
          <p:nvPr/>
        </p:nvCxnSpPr>
        <p:spPr>
          <a:xfrm>
            <a:off x="4204754" y="3771734"/>
            <a:ext cx="0" cy="62723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Rectangle 14"/>
          <p:cNvSpPr>
            <a:spLocks noChangeArrowheads="1"/>
          </p:cNvSpPr>
          <p:nvPr/>
        </p:nvSpPr>
        <p:spPr bwMode="auto">
          <a:xfrm>
            <a:off x="5441710" y="5510133"/>
            <a:ext cx="982630" cy="275432"/>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err="1">
                <a:solidFill>
                  <a:prstClr val="black"/>
                </a:solidFill>
                <a:latin typeface="+mn-ea"/>
              </a:rPr>
              <a:t>분할출원</a:t>
            </a:r>
            <a:r>
              <a:rPr kumimoji="0" lang="en-US" altLang="ko-KR" sz="1200" b="0" i="0" u="none" strike="noStrike" kern="0" cap="none" spc="0" normalizeH="0" baseline="0" noProof="0" dirty="0">
                <a:ln>
                  <a:noFill/>
                </a:ln>
                <a:solidFill>
                  <a:prstClr val="black"/>
                </a:solidFill>
                <a:effectLst/>
                <a:uLnTx/>
                <a:uFillTx/>
                <a:latin typeface="+mn-ea"/>
              </a:rPr>
              <a:t>(Y)</a:t>
            </a:r>
            <a:endParaRPr kumimoji="0" lang="ko-KR" altLang="en-US" sz="1200" b="0" i="0" u="none" strike="noStrike" kern="0" cap="none" spc="0" normalizeH="0" baseline="0" noProof="0" dirty="0">
              <a:ln>
                <a:noFill/>
              </a:ln>
              <a:solidFill>
                <a:prstClr val="black"/>
              </a:solidFill>
              <a:effectLst/>
              <a:uLnTx/>
              <a:uFillTx/>
              <a:latin typeface="+mn-ea"/>
            </a:endParaRPr>
          </a:p>
        </p:txBody>
      </p:sp>
      <p:cxnSp>
        <p:nvCxnSpPr>
          <p:cNvPr id="115" name="직선 연결선 114"/>
          <p:cNvCxnSpPr>
            <a:cxnSpLocks/>
            <a:stCxn id="114" idx="0"/>
          </p:cNvCxnSpPr>
          <p:nvPr/>
        </p:nvCxnSpPr>
        <p:spPr>
          <a:xfrm flipV="1">
            <a:off x="5933025" y="4646793"/>
            <a:ext cx="0" cy="86334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6" name="Rectangle 14"/>
          <p:cNvSpPr>
            <a:spLocks noChangeArrowheads="1"/>
          </p:cNvSpPr>
          <p:nvPr/>
        </p:nvSpPr>
        <p:spPr bwMode="auto">
          <a:xfrm>
            <a:off x="6492152" y="5510133"/>
            <a:ext cx="982630" cy="275432"/>
          </a:xfrm>
          <a:prstGeom prst="rect">
            <a:avLst/>
          </a:prstGeom>
          <a:solidFill>
            <a:schemeClr val="bg1"/>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증명서류</a:t>
            </a:r>
            <a:endParaRPr kumimoji="0" lang="ko-KR" altLang="en-US" sz="1200" b="0" i="0" u="none" strike="noStrike" kern="0" cap="none" spc="0" normalizeH="0" baseline="0" noProof="0" dirty="0">
              <a:ln>
                <a:noFill/>
              </a:ln>
              <a:solidFill>
                <a:prstClr val="black"/>
              </a:solidFill>
              <a:effectLst/>
              <a:uLnTx/>
              <a:uFillTx/>
              <a:latin typeface="+mn-ea"/>
            </a:endParaRPr>
          </a:p>
        </p:txBody>
      </p:sp>
      <p:cxnSp>
        <p:nvCxnSpPr>
          <p:cNvPr id="117" name="직선 연결선 116"/>
          <p:cNvCxnSpPr>
            <a:cxnSpLocks/>
            <a:stCxn id="116" idx="0"/>
          </p:cNvCxnSpPr>
          <p:nvPr/>
        </p:nvCxnSpPr>
        <p:spPr>
          <a:xfrm flipV="1">
            <a:off x="6983467" y="4646793"/>
            <a:ext cx="0" cy="86334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3" name="Rectangle 14"/>
          <p:cNvSpPr>
            <a:spLocks noChangeArrowheads="1"/>
          </p:cNvSpPr>
          <p:nvPr/>
        </p:nvSpPr>
        <p:spPr bwMode="auto">
          <a:xfrm flipV="1">
            <a:off x="5874727" y="4440763"/>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24" name="Rectangle 14"/>
          <p:cNvSpPr>
            <a:spLocks noChangeArrowheads="1"/>
          </p:cNvSpPr>
          <p:nvPr/>
        </p:nvSpPr>
        <p:spPr bwMode="auto">
          <a:xfrm flipV="1">
            <a:off x="6925169" y="4440763"/>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27" name="TextBox 126"/>
          <p:cNvSpPr txBox="1"/>
          <p:nvPr/>
        </p:nvSpPr>
        <p:spPr>
          <a:xfrm>
            <a:off x="4404384" y="3845119"/>
            <a:ext cx="918841" cy="307777"/>
          </a:xfrm>
          <a:prstGeom prst="rect">
            <a:avLst/>
          </a:prstGeom>
          <a:noFill/>
        </p:spPr>
        <p:txBody>
          <a:bodyPr wrap="none" rtlCol="0">
            <a:spAutoFit/>
          </a:bodyPr>
          <a:lstStyle/>
          <a:p>
            <a:r>
              <a:rPr lang="en-US" altLang="ko-KR" sz="1400" dirty="0"/>
              <a:t>1</a:t>
            </a:r>
            <a:r>
              <a:rPr lang="ko-KR" altLang="en-US" sz="1400" dirty="0"/>
              <a:t>년 </a:t>
            </a:r>
            <a:r>
              <a:rPr lang="en-US" altLang="ko-KR" sz="1400" dirty="0"/>
              <a:t>4</a:t>
            </a:r>
            <a:r>
              <a:rPr lang="ko-KR" altLang="en-US" sz="1400" dirty="0"/>
              <a:t>개월</a:t>
            </a:r>
          </a:p>
        </p:txBody>
      </p:sp>
      <p:sp>
        <p:nvSpPr>
          <p:cNvPr id="128" name="Rectangle 14"/>
          <p:cNvSpPr>
            <a:spLocks noChangeArrowheads="1"/>
          </p:cNvSpPr>
          <p:nvPr/>
        </p:nvSpPr>
        <p:spPr bwMode="auto">
          <a:xfrm>
            <a:off x="2520229" y="3496302"/>
            <a:ext cx="982630" cy="275432"/>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err="1">
                <a:solidFill>
                  <a:prstClr val="black"/>
                </a:solidFill>
                <a:latin typeface="+mn-ea"/>
              </a:rPr>
              <a:t>일본출원</a:t>
            </a:r>
            <a:r>
              <a:rPr lang="en-US" altLang="ko-KR" sz="1200" kern="0" dirty="0">
                <a:solidFill>
                  <a:prstClr val="black"/>
                </a:solidFill>
                <a:latin typeface="+mn-ea"/>
              </a:rPr>
              <a:t>(Z)</a:t>
            </a:r>
            <a:endParaRPr kumimoji="0" lang="ko-KR" altLang="en-US" sz="1200" b="0" i="0" u="none" strike="noStrike" kern="0" cap="none" spc="0" normalizeH="0" baseline="0" noProof="0" dirty="0">
              <a:ln>
                <a:noFill/>
              </a:ln>
              <a:solidFill>
                <a:prstClr val="black"/>
              </a:solidFill>
              <a:effectLst/>
              <a:uLnTx/>
              <a:uFillTx/>
              <a:latin typeface="+mn-ea"/>
            </a:endParaRPr>
          </a:p>
        </p:txBody>
      </p:sp>
      <p:sp>
        <p:nvSpPr>
          <p:cNvPr id="129" name="Rectangle 14"/>
          <p:cNvSpPr>
            <a:spLocks noChangeArrowheads="1"/>
          </p:cNvSpPr>
          <p:nvPr/>
        </p:nvSpPr>
        <p:spPr bwMode="auto">
          <a:xfrm flipV="1">
            <a:off x="2944304" y="4440763"/>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30" name="직선 연결선 129"/>
          <p:cNvCxnSpPr/>
          <p:nvPr/>
        </p:nvCxnSpPr>
        <p:spPr>
          <a:xfrm>
            <a:off x="3009624" y="3771734"/>
            <a:ext cx="0" cy="62723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1" name="TextBox 130"/>
          <p:cNvSpPr txBox="1"/>
          <p:nvPr/>
        </p:nvSpPr>
        <p:spPr>
          <a:xfrm>
            <a:off x="3395122" y="4885614"/>
            <a:ext cx="445956" cy="307777"/>
          </a:xfrm>
          <a:prstGeom prst="rect">
            <a:avLst/>
          </a:prstGeom>
          <a:noFill/>
        </p:spPr>
        <p:txBody>
          <a:bodyPr wrap="none" rtlCol="0">
            <a:spAutoFit/>
          </a:bodyPr>
          <a:lstStyle/>
          <a:p>
            <a:r>
              <a:rPr lang="en-US" altLang="ko-KR" sz="1400" dirty="0"/>
              <a:t>1</a:t>
            </a:r>
            <a:r>
              <a:rPr lang="ko-KR" altLang="en-US" sz="1400" dirty="0"/>
              <a:t>년</a:t>
            </a:r>
          </a:p>
        </p:txBody>
      </p:sp>
      <p:sp>
        <p:nvSpPr>
          <p:cNvPr id="151" name="Rectangle 14"/>
          <p:cNvSpPr>
            <a:spLocks noChangeArrowheads="1"/>
          </p:cNvSpPr>
          <p:nvPr/>
        </p:nvSpPr>
        <p:spPr bwMode="auto">
          <a:xfrm>
            <a:off x="4897563" y="6021486"/>
            <a:ext cx="2070924" cy="275432"/>
          </a:xfrm>
          <a:prstGeom prst="rect">
            <a:avLst/>
          </a:prstGeom>
          <a:solidFill>
            <a:schemeClr val="bg1"/>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조약우선권주장 수반</a:t>
            </a:r>
            <a:endParaRPr kumimoji="0" lang="ko-KR" altLang="en-US" sz="1200" b="0" i="0" u="none" strike="noStrike" kern="0" cap="none" spc="0" normalizeH="0" baseline="0" noProof="0" dirty="0">
              <a:ln>
                <a:noFill/>
              </a:ln>
              <a:solidFill>
                <a:prstClr val="black"/>
              </a:solidFill>
              <a:effectLst/>
              <a:uLnTx/>
              <a:uFillTx/>
              <a:latin typeface="+mn-ea"/>
            </a:endParaRPr>
          </a:p>
        </p:txBody>
      </p:sp>
      <p:cxnSp>
        <p:nvCxnSpPr>
          <p:cNvPr id="152" name="직선 연결선 151"/>
          <p:cNvCxnSpPr>
            <a:cxnSpLocks/>
            <a:endCxn id="114" idx="2"/>
          </p:cNvCxnSpPr>
          <p:nvPr/>
        </p:nvCxnSpPr>
        <p:spPr>
          <a:xfrm flipV="1">
            <a:off x="5933025" y="5785565"/>
            <a:ext cx="0" cy="235922"/>
          </a:xfrm>
          <a:prstGeom prst="line">
            <a:avLst/>
          </a:prstGeom>
          <a:ln w="12700">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4" name="TextBox 153"/>
          <p:cNvSpPr txBox="1"/>
          <p:nvPr/>
        </p:nvSpPr>
        <p:spPr>
          <a:xfrm>
            <a:off x="6512807" y="3829698"/>
            <a:ext cx="607859" cy="307777"/>
          </a:xfrm>
          <a:prstGeom prst="rect">
            <a:avLst/>
          </a:prstGeom>
          <a:noFill/>
        </p:spPr>
        <p:txBody>
          <a:bodyPr wrap="none" rtlCol="0">
            <a:spAutoFit/>
          </a:bodyPr>
          <a:lstStyle/>
          <a:p>
            <a:r>
              <a:rPr lang="en-US" altLang="ko-KR" sz="1400"/>
              <a:t>3</a:t>
            </a:r>
            <a:r>
              <a:rPr lang="ko-KR" altLang="en-US" sz="1400" dirty="0"/>
              <a:t>개월</a:t>
            </a:r>
          </a:p>
        </p:txBody>
      </p:sp>
      <p:sp>
        <p:nvSpPr>
          <p:cNvPr id="2" name="슬라이드 번호 개체 틀 1"/>
          <p:cNvSpPr>
            <a:spLocks noGrp="1"/>
          </p:cNvSpPr>
          <p:nvPr>
            <p:ph type="sldNum" sz="quarter" idx="12"/>
          </p:nvPr>
        </p:nvSpPr>
        <p:spPr/>
        <p:txBody>
          <a:bodyPr/>
          <a:lstStyle/>
          <a:p>
            <a:r>
              <a:rPr lang="en-US" altLang="ko-KR"/>
              <a:t>197</a:t>
            </a:r>
            <a:endParaRPr lang="ko-KR" altLang="en-US"/>
          </a:p>
        </p:txBody>
      </p:sp>
      <p:sp>
        <p:nvSpPr>
          <p:cNvPr id="59" name="Rectangle 14">
            <a:extLst>
              <a:ext uri="{FF2B5EF4-FFF2-40B4-BE49-F238E27FC236}">
                <a16:creationId xmlns:a16="http://schemas.microsoft.com/office/drawing/2014/main" id="{3F3C0EA4-3A89-432C-924E-3661CE5EFEDB}"/>
              </a:ext>
            </a:extLst>
          </p:cNvPr>
          <p:cNvSpPr>
            <a:spLocks noChangeArrowheads="1"/>
          </p:cNvSpPr>
          <p:nvPr/>
        </p:nvSpPr>
        <p:spPr bwMode="auto">
          <a:xfrm flipV="1">
            <a:off x="7753613" y="4440763"/>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60" name="Rectangle 14">
            <a:extLst>
              <a:ext uri="{FF2B5EF4-FFF2-40B4-BE49-F238E27FC236}">
                <a16:creationId xmlns:a16="http://schemas.microsoft.com/office/drawing/2014/main" id="{0561C03F-C33C-4429-BC61-B275D215F1F8}"/>
              </a:ext>
            </a:extLst>
          </p:cNvPr>
          <p:cNvSpPr>
            <a:spLocks noChangeArrowheads="1"/>
          </p:cNvSpPr>
          <p:nvPr/>
        </p:nvSpPr>
        <p:spPr bwMode="auto">
          <a:xfrm>
            <a:off x="7327618" y="3496302"/>
            <a:ext cx="98263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취하</a:t>
            </a:r>
            <a:r>
              <a:rPr kumimoji="0" lang="en-US" altLang="ko-KR" sz="1200" b="0" i="0" u="none" strike="noStrike" kern="0" cap="none" spc="0" normalizeH="0" baseline="0" noProof="0" dirty="0">
                <a:ln>
                  <a:noFill/>
                </a:ln>
                <a:solidFill>
                  <a:prstClr val="black"/>
                </a:solidFill>
                <a:effectLst/>
                <a:uLnTx/>
                <a:uFillTx/>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cxnSp>
        <p:nvCxnSpPr>
          <p:cNvPr id="61" name="직선 연결선 60">
            <a:extLst>
              <a:ext uri="{FF2B5EF4-FFF2-40B4-BE49-F238E27FC236}">
                <a16:creationId xmlns:a16="http://schemas.microsoft.com/office/drawing/2014/main" id="{E2A806AE-8705-4D81-9AB5-651BFC5A7598}"/>
              </a:ext>
            </a:extLst>
          </p:cNvPr>
          <p:cNvCxnSpPr>
            <a:cxnSpLocks/>
            <a:stCxn id="60" idx="2"/>
          </p:cNvCxnSpPr>
          <p:nvPr/>
        </p:nvCxnSpPr>
        <p:spPr>
          <a:xfrm>
            <a:off x="7818933" y="3771734"/>
            <a:ext cx="0" cy="62723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D3D4448B-1574-1879-B468-6BA2FA9D17D0}"/>
              </a:ext>
            </a:extLst>
          </p:cNvPr>
          <p:cNvSpPr txBox="1"/>
          <p:nvPr/>
        </p:nvSpPr>
        <p:spPr>
          <a:xfrm>
            <a:off x="77875" y="2621271"/>
            <a:ext cx="1872629" cy="276999"/>
          </a:xfrm>
          <a:prstGeom prst="rect">
            <a:avLst/>
          </a:prstGeom>
          <a:noFill/>
        </p:spPr>
        <p:txBody>
          <a:bodyPr wrap="none" rtlCol="0">
            <a:spAutoFit/>
          </a:bodyPr>
          <a:lstStyle/>
          <a:p>
            <a:r>
              <a:rPr lang="en-US" altLang="ko-KR" sz="1200" dirty="0"/>
              <a:t>* </a:t>
            </a:r>
            <a:r>
              <a:rPr lang="ko-KR" altLang="en-US" sz="1200" dirty="0"/>
              <a:t>분할출원의 심사청구순서</a:t>
            </a:r>
          </a:p>
        </p:txBody>
      </p:sp>
    </p:spTree>
    <p:extLst>
      <p:ext uri="{BB962C8B-B14F-4D97-AF65-F5344CB8AC3E}">
        <p14:creationId xmlns:p14="http://schemas.microsoft.com/office/powerpoint/2010/main" val="2907261969"/>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52</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시퀀스 제어회로의 배선 방법 </a:t>
            </a:r>
            <a:r>
              <a:rPr lang="en-US" altLang="ko-KR" dirty="0">
                <a:solidFill>
                  <a:srgbClr val="525252"/>
                </a:solidFill>
              </a:rPr>
              <a:t>CASE</a:t>
            </a:r>
            <a:endParaRPr lang="ko-KR" altLang="en-US" dirty="0">
              <a:solidFill>
                <a:srgbClr val="525252"/>
              </a:solidFill>
            </a:endParaRPr>
          </a:p>
        </p:txBody>
      </p:sp>
      <p:sp>
        <p:nvSpPr>
          <p:cNvPr id="4" name="슬라이드 번호 개체 틀 3"/>
          <p:cNvSpPr>
            <a:spLocks noGrp="1"/>
          </p:cNvSpPr>
          <p:nvPr>
            <p:ph type="sldNum" sz="quarter" idx="4294967295"/>
          </p:nvPr>
        </p:nvSpPr>
        <p:spPr>
          <a:xfrm>
            <a:off x="11125200" y="0"/>
            <a:ext cx="1066800" cy="744538"/>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198</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46" name="모서리가 둥근 직사각형 10">
            <a:extLst>
              <a:ext uri="{FF2B5EF4-FFF2-40B4-BE49-F238E27FC236}">
                <a16:creationId xmlns:a16="http://schemas.microsoft.com/office/drawing/2014/main" id="{EA6D0AA3-A795-463F-A932-E97DEE7EE09B}"/>
              </a:ext>
            </a:extLst>
          </p:cNvPr>
          <p:cNvSpPr/>
          <p:nvPr/>
        </p:nvSpPr>
        <p:spPr bwMode="auto">
          <a:xfrm>
            <a:off x="335289" y="1008637"/>
            <a:ext cx="4314352"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2022. 08. 31.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2020</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11479 </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판결 </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거절결정</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특</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p>
        </p:txBody>
      </p:sp>
      <p:sp>
        <p:nvSpPr>
          <p:cNvPr id="43" name="Line 5">
            <a:extLst>
              <a:ext uri="{FF2B5EF4-FFF2-40B4-BE49-F238E27FC236}">
                <a16:creationId xmlns:a16="http://schemas.microsoft.com/office/drawing/2014/main" id="{ABAE3AC7-7FE1-8ADD-1432-67BAEC16EFCB}"/>
              </a:ext>
            </a:extLst>
          </p:cNvPr>
          <p:cNvSpPr>
            <a:spLocks noChangeShapeType="1"/>
          </p:cNvSpPr>
          <p:nvPr/>
        </p:nvSpPr>
        <p:spPr bwMode="auto">
          <a:xfrm>
            <a:off x="255566" y="1765765"/>
            <a:ext cx="11666144" cy="0"/>
          </a:xfrm>
          <a:prstGeom prst="line">
            <a:avLst/>
          </a:prstGeom>
          <a:noFill/>
          <a:ln w="57150">
            <a:solidFill>
              <a:schemeClr val="bg1">
                <a:lumMod val="50000"/>
              </a:schemeClr>
            </a:solidFill>
            <a:round/>
            <a:headEnd/>
            <a:tailEnd type="stealth" w="med" len="med"/>
          </a:ln>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44" name="TextBox 43">
            <a:extLst>
              <a:ext uri="{FF2B5EF4-FFF2-40B4-BE49-F238E27FC236}">
                <a16:creationId xmlns:a16="http://schemas.microsoft.com/office/drawing/2014/main" id="{5AF84359-9871-66A5-E826-5160E5B432B4}"/>
              </a:ext>
            </a:extLst>
          </p:cNvPr>
          <p:cNvSpPr txBox="1"/>
          <p:nvPr/>
        </p:nvSpPr>
        <p:spPr>
          <a:xfrm>
            <a:off x="874275" y="2021940"/>
            <a:ext cx="1013644" cy="523220"/>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본인 석사논문 공지</a:t>
            </a:r>
            <a:endPar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45" name="타원 44">
            <a:extLst>
              <a:ext uri="{FF2B5EF4-FFF2-40B4-BE49-F238E27FC236}">
                <a16:creationId xmlns:a16="http://schemas.microsoft.com/office/drawing/2014/main" id="{3D157A13-FF42-DAC4-1332-4A47747E3990}"/>
              </a:ext>
            </a:extLst>
          </p:cNvPr>
          <p:cNvSpPr/>
          <p:nvPr/>
        </p:nvSpPr>
        <p:spPr>
          <a:xfrm>
            <a:off x="1303727" y="167183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47" name="직선 연결선 46">
            <a:extLst>
              <a:ext uri="{FF2B5EF4-FFF2-40B4-BE49-F238E27FC236}">
                <a16:creationId xmlns:a16="http://schemas.microsoft.com/office/drawing/2014/main" id="{3C4C2C44-0229-162C-9B34-B2E800853779}"/>
              </a:ext>
            </a:extLst>
          </p:cNvPr>
          <p:cNvCxnSpPr>
            <a:cxnSpLocks/>
            <a:stCxn id="44" idx="0"/>
            <a:endCxn id="45" idx="4"/>
          </p:cNvCxnSpPr>
          <p:nvPr/>
        </p:nvCxnSpPr>
        <p:spPr>
          <a:xfrm flipH="1" flipV="1">
            <a:off x="1381096" y="183316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5AA4448B-FD1A-4CAB-6735-5B7C7918C6D3}"/>
              </a:ext>
            </a:extLst>
          </p:cNvPr>
          <p:cNvSpPr txBox="1"/>
          <p:nvPr/>
        </p:nvSpPr>
        <p:spPr>
          <a:xfrm>
            <a:off x="2308864" y="2021940"/>
            <a:ext cx="1151340" cy="307777"/>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Rix모던고딕 B"/>
                <a:ea typeface="Rix모던고딕 B"/>
                <a:cs typeface="+mn-cs"/>
              </a:rPr>
              <a:t>원출원</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49" name="타원 48">
            <a:extLst>
              <a:ext uri="{FF2B5EF4-FFF2-40B4-BE49-F238E27FC236}">
                <a16:creationId xmlns:a16="http://schemas.microsoft.com/office/drawing/2014/main" id="{D8AA1A97-F1E3-1121-E061-1D106AA544C4}"/>
              </a:ext>
            </a:extLst>
          </p:cNvPr>
          <p:cNvSpPr/>
          <p:nvPr/>
        </p:nvSpPr>
        <p:spPr>
          <a:xfrm>
            <a:off x="2807164" y="167183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50" name="직선 연결선 49">
            <a:extLst>
              <a:ext uri="{FF2B5EF4-FFF2-40B4-BE49-F238E27FC236}">
                <a16:creationId xmlns:a16="http://schemas.microsoft.com/office/drawing/2014/main" id="{BAADB412-F75D-2CE4-4D63-C16F5C8985AE}"/>
              </a:ext>
            </a:extLst>
          </p:cNvPr>
          <p:cNvCxnSpPr>
            <a:cxnSpLocks/>
            <a:stCxn id="48" idx="0"/>
            <a:endCxn id="49" idx="4"/>
          </p:cNvCxnSpPr>
          <p:nvPr/>
        </p:nvCxnSpPr>
        <p:spPr>
          <a:xfrm flipH="1" flipV="1">
            <a:off x="2884533" y="183316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BF503960-8FCB-F3A5-3594-9BB0433FF137}"/>
              </a:ext>
            </a:extLst>
          </p:cNvPr>
          <p:cNvSpPr txBox="1"/>
          <p:nvPr/>
        </p:nvSpPr>
        <p:spPr>
          <a:xfrm>
            <a:off x="2120090" y="2413852"/>
            <a:ext cx="1528888"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공지예외적용주장</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하지 않음</a:t>
            </a:r>
          </a:p>
        </p:txBody>
      </p:sp>
      <p:sp>
        <p:nvSpPr>
          <p:cNvPr id="55" name="TextBox 54">
            <a:extLst>
              <a:ext uri="{FF2B5EF4-FFF2-40B4-BE49-F238E27FC236}">
                <a16:creationId xmlns:a16="http://schemas.microsoft.com/office/drawing/2014/main" id="{5F4408CA-55B3-CD6D-5EDC-117172EB9810}"/>
              </a:ext>
            </a:extLst>
          </p:cNvPr>
          <p:cNvSpPr txBox="1"/>
          <p:nvPr/>
        </p:nvSpPr>
        <p:spPr>
          <a:xfrm>
            <a:off x="1008358" y="1403855"/>
            <a:ext cx="737702" cy="276999"/>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2014.08</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6" name="TextBox 55">
            <a:extLst>
              <a:ext uri="{FF2B5EF4-FFF2-40B4-BE49-F238E27FC236}">
                <a16:creationId xmlns:a16="http://schemas.microsoft.com/office/drawing/2014/main" id="{11B1EC0C-F4FF-3087-D21D-B2F153186EAD}"/>
              </a:ext>
            </a:extLst>
          </p:cNvPr>
          <p:cNvSpPr txBox="1"/>
          <p:nvPr/>
        </p:nvSpPr>
        <p:spPr>
          <a:xfrm>
            <a:off x="2387442" y="1403855"/>
            <a:ext cx="994183" cy="276999"/>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2014.12.23.</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58" name="직선 연결선 57">
            <a:extLst>
              <a:ext uri="{FF2B5EF4-FFF2-40B4-BE49-F238E27FC236}">
                <a16:creationId xmlns:a16="http://schemas.microsoft.com/office/drawing/2014/main" id="{E98B2DF4-9109-E2C2-10A0-F94415F5E390}"/>
              </a:ext>
            </a:extLst>
          </p:cNvPr>
          <p:cNvCxnSpPr>
            <a:cxnSpLocks/>
            <a:stCxn id="54" idx="0"/>
            <a:endCxn id="48" idx="2"/>
          </p:cNvCxnSpPr>
          <p:nvPr/>
        </p:nvCxnSpPr>
        <p:spPr>
          <a:xfrm flipV="1">
            <a:off x="2884534" y="2329717"/>
            <a:ext cx="0" cy="8413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6691E7E7-F6BA-B9E1-F102-FFF52424D3C3}"/>
              </a:ext>
            </a:extLst>
          </p:cNvPr>
          <p:cNvSpPr txBox="1"/>
          <p:nvPr/>
        </p:nvSpPr>
        <p:spPr>
          <a:xfrm>
            <a:off x="3909989" y="2021940"/>
            <a:ext cx="1151340" cy="307777"/>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분할출원</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(Y)</a:t>
            </a:r>
            <a:endPar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76" name="타원 75">
            <a:extLst>
              <a:ext uri="{FF2B5EF4-FFF2-40B4-BE49-F238E27FC236}">
                <a16:creationId xmlns:a16="http://schemas.microsoft.com/office/drawing/2014/main" id="{EF3BC7C0-568A-15FA-35D1-B7546683896E}"/>
              </a:ext>
            </a:extLst>
          </p:cNvPr>
          <p:cNvSpPr/>
          <p:nvPr/>
        </p:nvSpPr>
        <p:spPr>
          <a:xfrm>
            <a:off x="4408289" y="167183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77" name="직선 연결선 76">
            <a:extLst>
              <a:ext uri="{FF2B5EF4-FFF2-40B4-BE49-F238E27FC236}">
                <a16:creationId xmlns:a16="http://schemas.microsoft.com/office/drawing/2014/main" id="{ADE9C0B9-AD5D-2955-E977-A5BDFF719EC2}"/>
              </a:ext>
            </a:extLst>
          </p:cNvPr>
          <p:cNvCxnSpPr>
            <a:cxnSpLocks/>
            <a:stCxn id="75" idx="0"/>
            <a:endCxn id="76" idx="4"/>
          </p:cNvCxnSpPr>
          <p:nvPr/>
        </p:nvCxnSpPr>
        <p:spPr>
          <a:xfrm flipH="1" flipV="1">
            <a:off x="4485658" y="183316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CA9ADFFE-C53C-68A4-14FF-BE3FFB402537}"/>
              </a:ext>
            </a:extLst>
          </p:cNvPr>
          <p:cNvSpPr txBox="1"/>
          <p:nvPr/>
        </p:nvSpPr>
        <p:spPr>
          <a:xfrm>
            <a:off x="3721215" y="2413852"/>
            <a:ext cx="1528888"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공지예외적용주장</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9" name="TextBox 78">
            <a:extLst>
              <a:ext uri="{FF2B5EF4-FFF2-40B4-BE49-F238E27FC236}">
                <a16:creationId xmlns:a16="http://schemas.microsoft.com/office/drawing/2014/main" id="{1859EAFB-61F5-61F0-B094-2A16EB55EBE8}"/>
              </a:ext>
            </a:extLst>
          </p:cNvPr>
          <p:cNvSpPr txBox="1"/>
          <p:nvPr/>
        </p:nvSpPr>
        <p:spPr>
          <a:xfrm>
            <a:off x="4031047" y="1403855"/>
            <a:ext cx="909223" cy="276999"/>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2016.8.30.</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80" name="직선 연결선 79">
            <a:extLst>
              <a:ext uri="{FF2B5EF4-FFF2-40B4-BE49-F238E27FC236}">
                <a16:creationId xmlns:a16="http://schemas.microsoft.com/office/drawing/2014/main" id="{D6C885FF-ADFE-8309-D4C7-D5A4D72B2C0F}"/>
              </a:ext>
            </a:extLst>
          </p:cNvPr>
          <p:cNvCxnSpPr>
            <a:cxnSpLocks/>
            <a:stCxn id="78" idx="0"/>
            <a:endCxn id="75" idx="2"/>
          </p:cNvCxnSpPr>
          <p:nvPr/>
        </p:nvCxnSpPr>
        <p:spPr>
          <a:xfrm flipV="1">
            <a:off x="4485659" y="2329717"/>
            <a:ext cx="0" cy="8413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TextBox 80">
            <a:extLst>
              <a:ext uri="{FF2B5EF4-FFF2-40B4-BE49-F238E27FC236}">
                <a16:creationId xmlns:a16="http://schemas.microsoft.com/office/drawing/2014/main" id="{75DACDE6-D138-9F2C-CF82-DFA8B812C04E}"/>
              </a:ext>
            </a:extLst>
          </p:cNvPr>
          <p:cNvSpPr txBox="1"/>
          <p:nvPr/>
        </p:nvSpPr>
        <p:spPr>
          <a:xfrm>
            <a:off x="5284275" y="2021940"/>
            <a:ext cx="1151340" cy="307777"/>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취하</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82" name="타원 81">
            <a:extLst>
              <a:ext uri="{FF2B5EF4-FFF2-40B4-BE49-F238E27FC236}">
                <a16:creationId xmlns:a16="http://schemas.microsoft.com/office/drawing/2014/main" id="{964FE512-FF8B-C204-5FAD-137B3D50F05A}"/>
              </a:ext>
            </a:extLst>
          </p:cNvPr>
          <p:cNvSpPr/>
          <p:nvPr/>
        </p:nvSpPr>
        <p:spPr>
          <a:xfrm>
            <a:off x="5782575" y="167183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83" name="직선 연결선 82">
            <a:extLst>
              <a:ext uri="{FF2B5EF4-FFF2-40B4-BE49-F238E27FC236}">
                <a16:creationId xmlns:a16="http://schemas.microsoft.com/office/drawing/2014/main" id="{B3220CD0-785B-32E2-52A2-8ED5F9A482D5}"/>
              </a:ext>
            </a:extLst>
          </p:cNvPr>
          <p:cNvCxnSpPr>
            <a:cxnSpLocks/>
            <a:stCxn id="81" idx="0"/>
            <a:endCxn id="82" idx="4"/>
          </p:cNvCxnSpPr>
          <p:nvPr/>
        </p:nvCxnSpPr>
        <p:spPr>
          <a:xfrm flipH="1" flipV="1">
            <a:off x="5859944" y="183316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879B4CA1-06DA-8DE5-F391-CE6E7B758272}"/>
              </a:ext>
            </a:extLst>
          </p:cNvPr>
          <p:cNvSpPr txBox="1"/>
          <p:nvPr/>
        </p:nvSpPr>
        <p:spPr>
          <a:xfrm>
            <a:off x="5405332" y="1403855"/>
            <a:ext cx="909223" cy="276999"/>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2016.8.31.</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7" name="TextBox 86">
            <a:extLst>
              <a:ext uri="{FF2B5EF4-FFF2-40B4-BE49-F238E27FC236}">
                <a16:creationId xmlns:a16="http://schemas.microsoft.com/office/drawing/2014/main" id="{6B83961C-86E4-EAB5-5783-2FAE443718FF}"/>
              </a:ext>
            </a:extLst>
          </p:cNvPr>
          <p:cNvSpPr txBox="1"/>
          <p:nvPr/>
        </p:nvSpPr>
        <p:spPr>
          <a:xfrm>
            <a:off x="6541394" y="2021940"/>
            <a:ext cx="1151340" cy="307777"/>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거절결정</a:t>
            </a:r>
          </a:p>
        </p:txBody>
      </p:sp>
      <p:sp>
        <p:nvSpPr>
          <p:cNvPr id="88" name="타원 87">
            <a:extLst>
              <a:ext uri="{FF2B5EF4-FFF2-40B4-BE49-F238E27FC236}">
                <a16:creationId xmlns:a16="http://schemas.microsoft.com/office/drawing/2014/main" id="{A3DF949F-F6CC-8257-7DAD-A35AF411AEE5}"/>
              </a:ext>
            </a:extLst>
          </p:cNvPr>
          <p:cNvSpPr/>
          <p:nvPr/>
        </p:nvSpPr>
        <p:spPr>
          <a:xfrm>
            <a:off x="7039694" y="167183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89" name="직선 연결선 88">
            <a:extLst>
              <a:ext uri="{FF2B5EF4-FFF2-40B4-BE49-F238E27FC236}">
                <a16:creationId xmlns:a16="http://schemas.microsoft.com/office/drawing/2014/main" id="{FB36F0A3-7DF0-7D42-2992-2ACE7958D029}"/>
              </a:ext>
            </a:extLst>
          </p:cNvPr>
          <p:cNvCxnSpPr>
            <a:cxnSpLocks/>
            <a:stCxn id="87" idx="0"/>
            <a:endCxn id="88" idx="4"/>
          </p:cNvCxnSpPr>
          <p:nvPr/>
        </p:nvCxnSpPr>
        <p:spPr>
          <a:xfrm flipH="1" flipV="1">
            <a:off x="7117063" y="183316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TextBox 89">
            <a:extLst>
              <a:ext uri="{FF2B5EF4-FFF2-40B4-BE49-F238E27FC236}">
                <a16:creationId xmlns:a16="http://schemas.microsoft.com/office/drawing/2014/main" id="{EDDD10A5-0B98-E8ED-A96C-D9ED85120DDF}"/>
              </a:ext>
            </a:extLst>
          </p:cNvPr>
          <p:cNvSpPr txBox="1"/>
          <p:nvPr/>
        </p:nvSpPr>
        <p:spPr>
          <a:xfrm>
            <a:off x="5338826" y="2491949"/>
            <a:ext cx="6306827"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원출원이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공지예외적용주장을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하지 않았기 때문에 분할출원이 그 효과를 인정받을 수 없다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p>
          <a:p>
            <a:pPr marL="171450" marR="0" lvl="0" indent="-171450" algn="l" defTabSz="914400" rtl="0" eaLnBrk="1" fontAlgn="base" latinLnBrk="1" hangingPunct="1">
              <a:lnSpc>
                <a:spcPct val="100000"/>
              </a:lnSpc>
              <a:spcBef>
                <a:spcPts val="0"/>
              </a:spcBef>
              <a:spcAft>
                <a:spcPts val="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본인 논문에 의해 신규성</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진보성 위반이다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91" name="TextBox 90">
            <a:extLst>
              <a:ext uri="{FF2B5EF4-FFF2-40B4-BE49-F238E27FC236}">
                <a16:creationId xmlns:a16="http://schemas.microsoft.com/office/drawing/2014/main" id="{A5FF1772-554E-A35B-D1D5-E4CEF8A44290}"/>
              </a:ext>
            </a:extLst>
          </p:cNvPr>
          <p:cNvSpPr txBox="1"/>
          <p:nvPr/>
        </p:nvSpPr>
        <p:spPr>
          <a:xfrm>
            <a:off x="6662451" y="1403855"/>
            <a:ext cx="909223" cy="276999"/>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2017.3.15.</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7" name="연결선: 꺾임 96">
            <a:extLst>
              <a:ext uri="{FF2B5EF4-FFF2-40B4-BE49-F238E27FC236}">
                <a16:creationId xmlns:a16="http://schemas.microsoft.com/office/drawing/2014/main" id="{337801C5-DC52-0B17-A82B-D9CD991D3028}"/>
              </a:ext>
            </a:extLst>
          </p:cNvPr>
          <p:cNvCxnSpPr>
            <a:cxnSpLocks/>
            <a:stCxn id="87" idx="2"/>
            <a:endCxn id="90" idx="0"/>
          </p:cNvCxnSpPr>
          <p:nvPr/>
        </p:nvCxnSpPr>
        <p:spPr>
          <a:xfrm rot="16200000" flipH="1">
            <a:off x="7723536" y="1723245"/>
            <a:ext cx="162232" cy="1375176"/>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99" name="TextBox 98">
            <a:extLst>
              <a:ext uri="{FF2B5EF4-FFF2-40B4-BE49-F238E27FC236}">
                <a16:creationId xmlns:a16="http://schemas.microsoft.com/office/drawing/2014/main" id="{3150C8DA-97D8-DB95-85E2-0F068F797F08}"/>
              </a:ext>
            </a:extLst>
          </p:cNvPr>
          <p:cNvSpPr txBox="1"/>
          <p:nvPr/>
        </p:nvSpPr>
        <p:spPr>
          <a:xfrm>
            <a:off x="7801751" y="2021940"/>
            <a:ext cx="1151340" cy="307777"/>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Rix모던고딕 B"/>
                <a:ea typeface="Rix모던고딕 B"/>
                <a:cs typeface="+mn-cs"/>
              </a:rPr>
              <a:t>기각심결</a:t>
            </a:r>
            <a:endPar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100" name="타원 99">
            <a:extLst>
              <a:ext uri="{FF2B5EF4-FFF2-40B4-BE49-F238E27FC236}">
                <a16:creationId xmlns:a16="http://schemas.microsoft.com/office/drawing/2014/main" id="{0778E441-535B-F494-9BD5-06651FE3AB58}"/>
              </a:ext>
            </a:extLst>
          </p:cNvPr>
          <p:cNvSpPr/>
          <p:nvPr/>
        </p:nvSpPr>
        <p:spPr>
          <a:xfrm>
            <a:off x="8300051" y="167183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101" name="직선 연결선 100">
            <a:extLst>
              <a:ext uri="{FF2B5EF4-FFF2-40B4-BE49-F238E27FC236}">
                <a16:creationId xmlns:a16="http://schemas.microsoft.com/office/drawing/2014/main" id="{CE3DEF42-E306-FE07-2F76-4CE77B837A68}"/>
              </a:ext>
            </a:extLst>
          </p:cNvPr>
          <p:cNvCxnSpPr>
            <a:cxnSpLocks/>
            <a:stCxn id="99" idx="0"/>
            <a:endCxn id="100" idx="4"/>
          </p:cNvCxnSpPr>
          <p:nvPr/>
        </p:nvCxnSpPr>
        <p:spPr>
          <a:xfrm flipH="1" flipV="1">
            <a:off x="8377420" y="183316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289B72DC-0A3D-0B72-BE84-95D4E0D6E9C9}"/>
              </a:ext>
            </a:extLst>
          </p:cNvPr>
          <p:cNvSpPr txBox="1"/>
          <p:nvPr/>
        </p:nvSpPr>
        <p:spPr>
          <a:xfrm>
            <a:off x="7965286" y="1403855"/>
            <a:ext cx="824265" cy="276999"/>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2020.3.3.</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3" name="TextBox 102">
            <a:extLst>
              <a:ext uri="{FF2B5EF4-FFF2-40B4-BE49-F238E27FC236}">
                <a16:creationId xmlns:a16="http://schemas.microsoft.com/office/drawing/2014/main" id="{2C864496-89B2-79E5-8D34-E96A4B9E50E1}"/>
              </a:ext>
            </a:extLst>
          </p:cNvPr>
          <p:cNvSpPr txBox="1"/>
          <p:nvPr/>
        </p:nvSpPr>
        <p:spPr>
          <a:xfrm>
            <a:off x="9030658" y="2021940"/>
            <a:ext cx="1151340" cy="307777"/>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기각판결</a:t>
            </a:r>
          </a:p>
        </p:txBody>
      </p:sp>
      <p:sp>
        <p:nvSpPr>
          <p:cNvPr id="104" name="타원 103">
            <a:extLst>
              <a:ext uri="{FF2B5EF4-FFF2-40B4-BE49-F238E27FC236}">
                <a16:creationId xmlns:a16="http://schemas.microsoft.com/office/drawing/2014/main" id="{E0ED007F-656A-A6D0-6D1A-5137076086DE}"/>
              </a:ext>
            </a:extLst>
          </p:cNvPr>
          <p:cNvSpPr/>
          <p:nvPr/>
        </p:nvSpPr>
        <p:spPr>
          <a:xfrm>
            <a:off x="9528958" y="167183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105" name="직선 연결선 104">
            <a:extLst>
              <a:ext uri="{FF2B5EF4-FFF2-40B4-BE49-F238E27FC236}">
                <a16:creationId xmlns:a16="http://schemas.microsoft.com/office/drawing/2014/main" id="{DF2F01C0-41E7-8FB5-34B8-7F8D8B119707}"/>
              </a:ext>
            </a:extLst>
          </p:cNvPr>
          <p:cNvCxnSpPr>
            <a:cxnSpLocks/>
            <a:stCxn id="103" idx="0"/>
            <a:endCxn id="104" idx="4"/>
          </p:cNvCxnSpPr>
          <p:nvPr/>
        </p:nvCxnSpPr>
        <p:spPr>
          <a:xfrm flipH="1" flipV="1">
            <a:off x="9606327" y="183316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6" name="TextBox 105">
            <a:extLst>
              <a:ext uri="{FF2B5EF4-FFF2-40B4-BE49-F238E27FC236}">
                <a16:creationId xmlns:a16="http://schemas.microsoft.com/office/drawing/2014/main" id="{0CB1D11F-4DA2-CE7B-4A54-C0B33A0FF95C}"/>
              </a:ext>
            </a:extLst>
          </p:cNvPr>
          <p:cNvSpPr txBox="1"/>
          <p:nvPr/>
        </p:nvSpPr>
        <p:spPr>
          <a:xfrm>
            <a:off x="9151714" y="1403855"/>
            <a:ext cx="909223" cy="276999"/>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2020.9.17.</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7" name="TextBox 106">
            <a:extLst>
              <a:ext uri="{FF2B5EF4-FFF2-40B4-BE49-F238E27FC236}">
                <a16:creationId xmlns:a16="http://schemas.microsoft.com/office/drawing/2014/main" id="{98D85B1D-1860-EC8F-B93A-C8331CDD227C}"/>
              </a:ext>
            </a:extLst>
          </p:cNvPr>
          <p:cNvSpPr txBox="1"/>
          <p:nvPr/>
        </p:nvSpPr>
        <p:spPr>
          <a:xfrm>
            <a:off x="10291807" y="2021940"/>
            <a:ext cx="1151340" cy="307777"/>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Rix모던고딕 B"/>
                <a:ea typeface="Rix모던고딕 B"/>
                <a:cs typeface="+mn-cs"/>
              </a:rPr>
              <a:t>파기환송</a:t>
            </a:r>
            <a:endPar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108" name="타원 107">
            <a:extLst>
              <a:ext uri="{FF2B5EF4-FFF2-40B4-BE49-F238E27FC236}">
                <a16:creationId xmlns:a16="http://schemas.microsoft.com/office/drawing/2014/main" id="{3621BEC5-4FD7-3DF3-1C30-FFD02B838C59}"/>
              </a:ext>
            </a:extLst>
          </p:cNvPr>
          <p:cNvSpPr/>
          <p:nvPr/>
        </p:nvSpPr>
        <p:spPr>
          <a:xfrm>
            <a:off x="10790107" y="167183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109" name="직선 연결선 108">
            <a:extLst>
              <a:ext uri="{FF2B5EF4-FFF2-40B4-BE49-F238E27FC236}">
                <a16:creationId xmlns:a16="http://schemas.microsoft.com/office/drawing/2014/main" id="{40EE305D-6F8A-5980-2378-C90C0235F21E}"/>
              </a:ext>
            </a:extLst>
          </p:cNvPr>
          <p:cNvCxnSpPr>
            <a:cxnSpLocks/>
            <a:stCxn id="107" idx="0"/>
            <a:endCxn id="108" idx="4"/>
          </p:cNvCxnSpPr>
          <p:nvPr/>
        </p:nvCxnSpPr>
        <p:spPr>
          <a:xfrm flipH="1" flipV="1">
            <a:off x="10867476" y="183316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0" name="TextBox 109">
            <a:extLst>
              <a:ext uri="{FF2B5EF4-FFF2-40B4-BE49-F238E27FC236}">
                <a16:creationId xmlns:a16="http://schemas.microsoft.com/office/drawing/2014/main" id="{B20F081C-651E-BE06-F726-8867B459CF82}"/>
              </a:ext>
            </a:extLst>
          </p:cNvPr>
          <p:cNvSpPr txBox="1"/>
          <p:nvPr/>
        </p:nvSpPr>
        <p:spPr>
          <a:xfrm>
            <a:off x="10412862" y="1403855"/>
            <a:ext cx="909223" cy="276999"/>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2022.8.31.</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5" name="직사각형 114">
            <a:extLst>
              <a:ext uri="{FF2B5EF4-FFF2-40B4-BE49-F238E27FC236}">
                <a16:creationId xmlns:a16="http://schemas.microsoft.com/office/drawing/2014/main" id="{09B0F94D-67D1-95F6-FAE5-1F4DF4074FD6}"/>
              </a:ext>
            </a:extLst>
          </p:cNvPr>
          <p:cNvSpPr/>
          <p:nvPr/>
        </p:nvSpPr>
        <p:spPr>
          <a:xfrm>
            <a:off x="135218" y="3140035"/>
            <a:ext cx="11959015" cy="366792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52</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항의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문언적</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해석</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특허법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52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항은 적법한 분할출원이 있을 경우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원출원일에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출원한 것으로 본다는 원칙과 그 예외로서 특허법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제출 시기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증명서류의 제출 기간에 관하여는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분할출원일을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기준으로 한다고 정하고 있을 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원출원에서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하지 않고 분할출원에서만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한 경우에는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분할출원일을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기준으로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요건 충족 여부를 판단하여야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한다거나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원출원에서의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분할출원에서의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통한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원출원일을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기준으로 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효과 인정 요건으로 정하고 있지 않다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결국 위 </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규정들의 문언</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상으로는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원출원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하지 않았더라도 분할출원이 적법하게 이루어지면 특허법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52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 본문에 따라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원출원일에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출원한 것으로 보게 되므로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자기공지일로부터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개월 이내에 원출원이 이루어지고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분할출원일을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기준으로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절차 요건을 충족하였다면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분할출원이 자기공지일로부터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개월을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도과하여</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이루어졌다 하더라도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효과가 발생하는 것으로 해석함이 타당하다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분할출원의 취지</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분할출원은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원출원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당시 청구범위에는 기재되어 있지 않으나 원출원의 최초 첨부 명세서 및 도면에 기재되어 있는 발명에 대하여 후일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권리화할</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필요성이 생긴 경우 이들 발명에 대해서도 이 새로운 특허출원이 적법한 것이면 원출원과 동시에 출원한 것과 같은 효과를 인정하는 것도 허용하여 특허제도에 의해 보호될 수 있도록 하고 있다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따라서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원출원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당시에는 청구범위가 자기공지한 내용과 무관하여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하지 않았으나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분할출원시</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청구범위가 자기공지한 내용에 포함</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되어 있는 경우가 있을 수 있고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이와 같은 경우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원출원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하지 않았더라도 분할출원에서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하여 출원일 소급의 효력을 인정할 실질적 필요성이 있다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원출원과의 관계</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30</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항의 해석</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분할출원은 보정과는 별개의 제도로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보정 가능 여부와 무관하게 특허법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52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조의 요건을 충족하면 허용되는 </a:t>
            </a:r>
            <a:r>
              <a:rPr kumimoji="0" lang="ko-KR" altLang="en-US" sz="14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독립된 출원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따라서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특허출원서에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취지를 기재하도록 한 특허법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항을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형해화할</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우려가 있다는 점에서 출원 시 누락한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보정의 형식으로 보완하는 것은 허용되지 않지만</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대법원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2011. 6. 9.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선고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2353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판결 등 참조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 점이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원출원</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하지 않은 경우 분할출원에서의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허용하지 않을 근거가 된다고 보기 어렵다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원출원과의 관계</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30</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항의 신설</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위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2353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판결 이후 출원인의 권리 보호를 강화하기 위하여 특허법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항을 신설하였으나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(2015. 1. 28.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법률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13096</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호로 개정된 것</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특허 절차에서의 보정과 분할출원은 그 요건과 취지를 달리하는 </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별개의 제도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라는 점에서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원출원에서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하지 않은 경우 분할출원에서의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공지예외주장으로</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원출원일을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기준으로 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효과를 인정받을 수 있는지의 문제는 특허법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항의 신설 전후를 불문하고 일관되게 해석함이 타당하다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228600" marR="0" lvl="0" indent="-228600" algn="l" defTabSz="914400" rtl="0" eaLnBrk="1" fontAlgn="auto" latinLnBrk="1" hangingPunct="1">
              <a:lnSpc>
                <a:spcPct val="100000"/>
              </a:lnSpc>
              <a:spcBef>
                <a:spcPts val="0"/>
              </a:spcBef>
              <a:spcAft>
                <a:spcPts val="0"/>
              </a:spcAft>
              <a:buClrTx/>
              <a:buSzTx/>
              <a:buFontTx/>
              <a:buAutoNum type="arabicPeriod"/>
              <a:tabLst/>
              <a:defRPr/>
            </a:pP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공지예외적용주장의</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취지</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규정은 특허법 제정 이후 현재에 이르기까지 그 예외 인정 사유가 확대되고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신규성뿐만</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아니라 진보성과 관련해서도 이를 적용하며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기간이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6</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개월에서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년으로 확대되는 등의 개정을 통해 </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특허제도에 미숙한 발명자를 보호하기 위한 제도를 넘어 출원인의 </a:t>
            </a:r>
            <a:r>
              <a:rPr kumimoji="0" lang="ko-KR" altLang="en-US" sz="1200" b="0" i="0" u="none" strike="noStrike" kern="1200" cap="none" spc="0" normalizeH="0" baseline="0" noProof="0" dirty="0" err="1">
                <a:ln>
                  <a:noFill/>
                </a:ln>
                <a:solidFill>
                  <a:prstClr val="black"/>
                </a:solidFill>
                <a:effectLst/>
                <a:highlight>
                  <a:srgbClr val="FFFF00"/>
                </a:highlight>
                <a:uLnTx/>
                <a:uFillTx/>
                <a:latin typeface="Frutiger LT 65 Bold"/>
                <a:ea typeface="Rix모던고딕 B"/>
                <a:cs typeface="+mn-cs"/>
              </a:rPr>
              <a:t>발명자로서의</a:t>
            </a:r>
            <a:r>
              <a:rPr kumimoji="0" lang="ko-KR" altLang="en-US" sz="1200" b="0" i="0" u="none" strike="noStrike" kern="1200" cap="none" spc="0" normalizeH="0" baseline="0" noProof="0" dirty="0">
                <a:ln>
                  <a:noFill/>
                </a:ln>
                <a:solidFill>
                  <a:prstClr val="black"/>
                </a:solidFill>
                <a:effectLst/>
                <a:highlight>
                  <a:srgbClr val="FFFF00"/>
                </a:highlight>
                <a:uLnTx/>
                <a:uFillTx/>
                <a:latin typeface="Frutiger LT 65 Bold"/>
                <a:ea typeface="Rix모던고딕 B"/>
                <a:cs typeface="+mn-cs"/>
              </a:rPr>
              <a:t> 권리를 실효적으로 보호하기 위한 제도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로 자리 잡고 있다는 점까지 더하여 보면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분할출원에서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공지예외주장을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통해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원출원일을</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기준으로 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공지예외</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효과를 인정받는 것을 제한할 합리적 이유를 찾기 어렵다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20" name="연결선: 꺾임 119">
            <a:extLst>
              <a:ext uri="{FF2B5EF4-FFF2-40B4-BE49-F238E27FC236}">
                <a16:creationId xmlns:a16="http://schemas.microsoft.com/office/drawing/2014/main" id="{357D7D3C-AC58-AA60-FFC4-2E3D382ABDD1}"/>
              </a:ext>
            </a:extLst>
          </p:cNvPr>
          <p:cNvCxnSpPr>
            <a:stCxn id="107" idx="3"/>
            <a:endCxn id="115" idx="0"/>
          </p:cNvCxnSpPr>
          <p:nvPr/>
        </p:nvCxnSpPr>
        <p:spPr>
          <a:xfrm flipH="1">
            <a:off x="6114726" y="2175829"/>
            <a:ext cx="5328421" cy="964206"/>
          </a:xfrm>
          <a:prstGeom prst="bentConnector4">
            <a:avLst>
              <a:gd name="adj1" fmla="val -8661"/>
              <a:gd name="adj2" fmla="val 89293"/>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761587"/>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3" name="직선 연결선 52">
            <a:extLst>
              <a:ext uri="{FF2B5EF4-FFF2-40B4-BE49-F238E27FC236}">
                <a16:creationId xmlns:a16="http://schemas.microsoft.com/office/drawing/2014/main" id="{A9162447-0148-E951-A363-ECC863FEF8A9}"/>
              </a:ext>
            </a:extLst>
          </p:cNvPr>
          <p:cNvCxnSpPr>
            <a:cxnSpLocks/>
          </p:cNvCxnSpPr>
          <p:nvPr/>
        </p:nvCxnSpPr>
        <p:spPr>
          <a:xfrm>
            <a:off x="851646" y="1192307"/>
            <a:ext cx="0" cy="3747246"/>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 name="제목 1"/>
          <p:cNvSpPr>
            <a:spLocks noGrp="1"/>
          </p:cNvSpPr>
          <p:nvPr>
            <p:ph type="title"/>
          </p:nvPr>
        </p:nvSpPr>
        <p:spPr/>
        <p:txBody>
          <a:bodyPr/>
          <a:lstStyle/>
          <a:p>
            <a:r>
              <a:rPr lang="ko-KR" altLang="en-US" dirty="0"/>
              <a:t>제</a:t>
            </a:r>
            <a:r>
              <a:rPr lang="en-US" altLang="ko-KR" dirty="0"/>
              <a:t>52</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원출원과의 관계</a:t>
            </a:r>
          </a:p>
        </p:txBody>
      </p:sp>
      <p:sp>
        <p:nvSpPr>
          <p:cNvPr id="4" name="슬라이드 번호 개체 틀 3"/>
          <p:cNvSpPr>
            <a:spLocks noGrp="1"/>
          </p:cNvSpPr>
          <p:nvPr>
            <p:ph type="sldNum" sz="quarter" idx="4294967295"/>
          </p:nvPr>
        </p:nvSpPr>
        <p:spPr>
          <a:xfrm>
            <a:off x="11125200" y="0"/>
            <a:ext cx="1066800" cy="676275"/>
          </a:xfrm>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199</a:t>
            </a:r>
            <a:endParaRPr kumimoji="0" lang="ko-KR" altLang="en-US"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5" name="타원 4">
            <a:extLst>
              <a:ext uri="{FF2B5EF4-FFF2-40B4-BE49-F238E27FC236}">
                <a16:creationId xmlns:a16="http://schemas.microsoft.com/office/drawing/2014/main" id="{73D66E98-47E4-E5AD-54FB-88DC1A9F1EB4}"/>
              </a:ext>
            </a:extLst>
          </p:cNvPr>
          <p:cNvSpPr/>
          <p:nvPr/>
        </p:nvSpPr>
        <p:spPr>
          <a:xfrm>
            <a:off x="769921" y="234893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2" name="타원 31">
            <a:extLst>
              <a:ext uri="{FF2B5EF4-FFF2-40B4-BE49-F238E27FC236}">
                <a16:creationId xmlns:a16="http://schemas.microsoft.com/office/drawing/2014/main" id="{774E8381-312A-4DDE-987B-E5ABCED1D8B6}"/>
              </a:ext>
            </a:extLst>
          </p:cNvPr>
          <p:cNvSpPr/>
          <p:nvPr/>
        </p:nvSpPr>
        <p:spPr>
          <a:xfrm>
            <a:off x="769921" y="1497312"/>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3" name="TextBox 32">
            <a:extLst>
              <a:ext uri="{FF2B5EF4-FFF2-40B4-BE49-F238E27FC236}">
                <a16:creationId xmlns:a16="http://schemas.microsoft.com/office/drawing/2014/main" id="{A2CD2130-8BE1-2925-A4BE-F68A70FA1AF8}"/>
              </a:ext>
            </a:extLst>
          </p:cNvPr>
          <p:cNvSpPr txBox="1"/>
          <p:nvPr/>
        </p:nvSpPr>
        <p:spPr>
          <a:xfrm>
            <a:off x="1571535" y="1542094"/>
            <a:ext cx="3556271" cy="461665"/>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r>
              <a:rPr lang="en-US" altLang="ko-KR" sz="1200" dirty="0"/>
              <a:t>(</a:t>
            </a:r>
            <a:r>
              <a:rPr lang="ko-KR" altLang="en-US" sz="1200" dirty="0"/>
              <a:t>심사기준</a:t>
            </a:r>
            <a:r>
              <a:rPr lang="en-US" altLang="ko-KR" sz="1200" dirty="0"/>
              <a:t>) </a:t>
            </a:r>
            <a:r>
              <a:rPr lang="ko-KR" altLang="en-US" sz="1200" dirty="0"/>
              <a:t>원출원이 우선권주장</a:t>
            </a:r>
            <a:r>
              <a:rPr lang="en-US" altLang="ko-KR" sz="1200" dirty="0"/>
              <a:t>, </a:t>
            </a:r>
            <a:r>
              <a:rPr lang="ko-KR" altLang="en-US" sz="1200" dirty="0" err="1"/>
              <a:t>공지예외적용주장을</a:t>
            </a:r>
            <a:r>
              <a:rPr lang="ko-KR" altLang="en-US" sz="1200" dirty="0"/>
              <a:t> 하지 않은 경우 분할출원도 주장 불가능</a:t>
            </a:r>
            <a:endParaRPr lang="en-US" altLang="ko-KR" sz="1200" dirty="0"/>
          </a:p>
        </p:txBody>
      </p:sp>
      <p:sp>
        <p:nvSpPr>
          <p:cNvPr id="35" name="TextBox 34">
            <a:extLst>
              <a:ext uri="{FF2B5EF4-FFF2-40B4-BE49-F238E27FC236}">
                <a16:creationId xmlns:a16="http://schemas.microsoft.com/office/drawing/2014/main" id="{07D6236D-F14D-F957-3734-2B3ACA8950E9}"/>
              </a:ext>
            </a:extLst>
          </p:cNvPr>
          <p:cNvSpPr txBox="1"/>
          <p:nvPr/>
        </p:nvSpPr>
        <p:spPr>
          <a:xfrm>
            <a:off x="1571534" y="2293562"/>
            <a:ext cx="3556271" cy="276999"/>
          </a:xfrm>
          <a:prstGeom prst="rect">
            <a:avLst/>
          </a:prstGeom>
          <a:noFill/>
          <a:ln>
            <a:solidFill>
              <a:schemeClr val="bg1">
                <a:lumMod val="50000"/>
              </a:schemeClr>
            </a:solidFill>
          </a:ln>
        </p:spPr>
        <p:txBody>
          <a:bodyPr wrap="square" rtlCol="0">
            <a:spAutoFit/>
          </a:bodyPr>
          <a:lstStyle/>
          <a:p>
            <a:r>
              <a:rPr lang="en-US" altLang="ko-KR" sz="1200" dirty="0"/>
              <a:t>(</a:t>
            </a:r>
            <a:r>
              <a:rPr lang="ko-KR" altLang="en-US" sz="1200" dirty="0"/>
              <a:t>법 개정</a:t>
            </a:r>
            <a:r>
              <a:rPr lang="en-US" altLang="ko-KR" sz="1200" dirty="0"/>
              <a:t>)</a:t>
            </a:r>
            <a:r>
              <a:rPr lang="ko-KR" altLang="en-US" sz="1200" dirty="0"/>
              <a:t> 제</a:t>
            </a:r>
            <a:r>
              <a:rPr lang="en-US" altLang="ko-KR" sz="1200" dirty="0"/>
              <a:t>30</a:t>
            </a:r>
            <a:r>
              <a:rPr lang="ko-KR" altLang="en-US" sz="1200" dirty="0"/>
              <a:t>조제</a:t>
            </a:r>
            <a:r>
              <a:rPr lang="en-US" altLang="ko-KR" sz="1200" dirty="0"/>
              <a:t>3</a:t>
            </a:r>
            <a:r>
              <a:rPr lang="ko-KR" altLang="en-US" sz="1200" dirty="0"/>
              <a:t>항을 신설</a:t>
            </a:r>
          </a:p>
        </p:txBody>
      </p:sp>
      <p:cxnSp>
        <p:nvCxnSpPr>
          <p:cNvPr id="40" name="연결선: 꺾임 39">
            <a:extLst>
              <a:ext uri="{FF2B5EF4-FFF2-40B4-BE49-F238E27FC236}">
                <a16:creationId xmlns:a16="http://schemas.microsoft.com/office/drawing/2014/main" id="{5BB9EDBA-817C-6565-FF82-4108E84953D1}"/>
              </a:ext>
            </a:extLst>
          </p:cNvPr>
          <p:cNvCxnSpPr>
            <a:cxnSpLocks/>
            <a:endCxn id="32" idx="6"/>
          </p:cNvCxnSpPr>
          <p:nvPr/>
        </p:nvCxnSpPr>
        <p:spPr>
          <a:xfrm rot="10800000">
            <a:off x="924659" y="1577982"/>
            <a:ext cx="646874" cy="179557"/>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 name="연결선: 꺾임 41">
            <a:extLst>
              <a:ext uri="{FF2B5EF4-FFF2-40B4-BE49-F238E27FC236}">
                <a16:creationId xmlns:a16="http://schemas.microsoft.com/office/drawing/2014/main" id="{B084B200-31CC-626C-FA69-709CDA0D3488}"/>
              </a:ext>
            </a:extLst>
          </p:cNvPr>
          <p:cNvCxnSpPr>
            <a:cxnSpLocks/>
            <a:stCxn id="35" idx="1"/>
            <a:endCxn id="5" idx="6"/>
          </p:cNvCxnSpPr>
          <p:nvPr/>
        </p:nvCxnSpPr>
        <p:spPr>
          <a:xfrm rot="10800000">
            <a:off x="924660" y="2429606"/>
            <a:ext cx="646875" cy="2456"/>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2AFBBF5E-6792-A2AB-D792-20765D799A2F}"/>
              </a:ext>
            </a:extLst>
          </p:cNvPr>
          <p:cNvSpPr txBox="1"/>
          <p:nvPr/>
        </p:nvSpPr>
        <p:spPr>
          <a:xfrm>
            <a:off x="5432612" y="1544200"/>
            <a:ext cx="5523299" cy="461665"/>
          </a:xfrm>
          <a:prstGeom prst="rect">
            <a:avLst/>
          </a:prstGeom>
          <a:noFill/>
          <a:ln>
            <a:solidFill>
              <a:schemeClr val="bg1">
                <a:lumMod val="50000"/>
              </a:schemeClr>
            </a:solidFill>
          </a:ln>
        </p:spPr>
        <p:txBody>
          <a:bodyPr wrap="square">
            <a:spAutoFit/>
          </a:bodyPr>
          <a:lstStyle/>
          <a:p>
            <a:r>
              <a:rPr lang="ko-KR" altLang="en-US" sz="1200" dirty="0">
                <a:solidFill>
                  <a:schemeClr val="tx2"/>
                </a:solidFill>
              </a:rPr>
              <a:t>원출원과 동시에 주장을 하지 아니하여 그 효과가 발생하지 아니한 경우 이를 회피하기 위한 수단으로서 분할출원을 이용하는 것을 방지</a:t>
            </a:r>
            <a:endParaRPr lang="ko-KR" altLang="en-US" sz="1200" dirty="0"/>
          </a:p>
        </p:txBody>
      </p:sp>
      <p:cxnSp>
        <p:nvCxnSpPr>
          <p:cNvPr id="63" name="직선 연결선 62">
            <a:extLst>
              <a:ext uri="{FF2B5EF4-FFF2-40B4-BE49-F238E27FC236}">
                <a16:creationId xmlns:a16="http://schemas.microsoft.com/office/drawing/2014/main" id="{2EBE8BA2-C718-B791-DE59-ABA7D01751A6}"/>
              </a:ext>
            </a:extLst>
          </p:cNvPr>
          <p:cNvCxnSpPr>
            <a:cxnSpLocks/>
            <a:stCxn id="33" idx="3"/>
            <a:endCxn id="59" idx="1"/>
          </p:cNvCxnSpPr>
          <p:nvPr/>
        </p:nvCxnSpPr>
        <p:spPr>
          <a:xfrm>
            <a:off x="5127806" y="1772927"/>
            <a:ext cx="304806" cy="2106"/>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36B3301B-78C0-9C1C-6364-BAC598044C51}"/>
              </a:ext>
            </a:extLst>
          </p:cNvPr>
          <p:cNvSpPr txBox="1"/>
          <p:nvPr/>
        </p:nvSpPr>
        <p:spPr>
          <a:xfrm>
            <a:off x="5432612" y="2193533"/>
            <a:ext cx="5523300" cy="461665"/>
          </a:xfrm>
          <a:prstGeom prst="rect">
            <a:avLst/>
          </a:prstGeom>
          <a:noFill/>
          <a:ln>
            <a:solidFill>
              <a:schemeClr val="bg1">
                <a:lumMod val="50000"/>
              </a:schemeClr>
            </a:solidFill>
          </a:ln>
        </p:spPr>
        <p:txBody>
          <a:bodyPr wrap="square">
            <a:spAutoFit/>
          </a:bodyPr>
          <a:lstStyle/>
          <a:p>
            <a:r>
              <a:rPr lang="ko-KR" altLang="en-US" sz="1200" dirty="0">
                <a:solidFill>
                  <a:schemeClr val="tx2"/>
                </a:solidFill>
              </a:rPr>
              <a:t>원출원과 동시에 </a:t>
            </a:r>
            <a:r>
              <a:rPr lang="ko-KR" altLang="en-US" sz="1200" dirty="0" err="1">
                <a:solidFill>
                  <a:schemeClr val="tx2"/>
                </a:solidFill>
              </a:rPr>
              <a:t>공지예외적용주장을</a:t>
            </a:r>
            <a:r>
              <a:rPr lang="ko-KR" altLang="en-US" sz="1200" dirty="0">
                <a:solidFill>
                  <a:schemeClr val="tx2"/>
                </a:solidFill>
              </a:rPr>
              <a:t> 하지 않더라도 추후에 보완수수료를 내고 할 수 있기 때문에 굳이 이를 회피하기 위한 수단으로 분할출원을 이용할 필요가 없어짐</a:t>
            </a:r>
            <a:endParaRPr lang="ko-KR" altLang="en-US" sz="1200" dirty="0"/>
          </a:p>
        </p:txBody>
      </p:sp>
      <p:cxnSp>
        <p:nvCxnSpPr>
          <p:cNvPr id="67" name="직선 연결선 66">
            <a:extLst>
              <a:ext uri="{FF2B5EF4-FFF2-40B4-BE49-F238E27FC236}">
                <a16:creationId xmlns:a16="http://schemas.microsoft.com/office/drawing/2014/main" id="{91482DD2-93A0-D034-4E77-EDD97739B4F3}"/>
              </a:ext>
            </a:extLst>
          </p:cNvPr>
          <p:cNvCxnSpPr>
            <a:cxnSpLocks/>
            <a:stCxn id="35" idx="3"/>
            <a:endCxn id="66" idx="1"/>
          </p:cNvCxnSpPr>
          <p:nvPr/>
        </p:nvCxnSpPr>
        <p:spPr>
          <a:xfrm flipV="1">
            <a:off x="5127805" y="2424366"/>
            <a:ext cx="304807" cy="7696"/>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타원 70">
            <a:extLst>
              <a:ext uri="{FF2B5EF4-FFF2-40B4-BE49-F238E27FC236}">
                <a16:creationId xmlns:a16="http://schemas.microsoft.com/office/drawing/2014/main" id="{FBC471D4-7BB2-D0FE-45D2-3E375BEC2A52}"/>
              </a:ext>
            </a:extLst>
          </p:cNvPr>
          <p:cNvSpPr/>
          <p:nvPr/>
        </p:nvSpPr>
        <p:spPr>
          <a:xfrm>
            <a:off x="769921" y="3109676"/>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72" name="TextBox 71">
            <a:extLst>
              <a:ext uri="{FF2B5EF4-FFF2-40B4-BE49-F238E27FC236}">
                <a16:creationId xmlns:a16="http://schemas.microsoft.com/office/drawing/2014/main" id="{D32DD414-5C85-F130-D95B-B3CF4891A3F5}"/>
              </a:ext>
            </a:extLst>
          </p:cNvPr>
          <p:cNvSpPr txBox="1"/>
          <p:nvPr/>
        </p:nvSpPr>
        <p:spPr>
          <a:xfrm>
            <a:off x="1571535" y="2957236"/>
            <a:ext cx="3556271" cy="461665"/>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r>
              <a:rPr lang="en-US" altLang="ko-KR" sz="1200" dirty="0"/>
              <a:t>(</a:t>
            </a:r>
            <a:r>
              <a:rPr lang="ko-KR" altLang="en-US" sz="1200" dirty="0"/>
              <a:t>심사기준 개정</a:t>
            </a:r>
            <a:r>
              <a:rPr lang="en-US" altLang="ko-KR" sz="1200" dirty="0"/>
              <a:t>) </a:t>
            </a:r>
            <a:r>
              <a:rPr lang="ko-KR" altLang="en-US" sz="1200" dirty="0"/>
              <a:t>원출원이 우선권주장을 하지 않은 경우 분할출원도 주장 불가능</a:t>
            </a:r>
            <a:endParaRPr lang="en-US" altLang="ko-KR" sz="1200" dirty="0"/>
          </a:p>
        </p:txBody>
      </p:sp>
      <p:cxnSp>
        <p:nvCxnSpPr>
          <p:cNvPr id="73" name="연결선: 꺾임 72">
            <a:extLst>
              <a:ext uri="{FF2B5EF4-FFF2-40B4-BE49-F238E27FC236}">
                <a16:creationId xmlns:a16="http://schemas.microsoft.com/office/drawing/2014/main" id="{E4A0923E-FEFF-217C-256B-6A352FB73705}"/>
              </a:ext>
            </a:extLst>
          </p:cNvPr>
          <p:cNvCxnSpPr>
            <a:cxnSpLocks/>
            <a:stCxn id="72" idx="1"/>
            <a:endCxn id="71" idx="6"/>
          </p:cNvCxnSpPr>
          <p:nvPr/>
        </p:nvCxnSpPr>
        <p:spPr>
          <a:xfrm rot="10800000" flipV="1">
            <a:off x="924659" y="3188069"/>
            <a:ext cx="646876" cy="2276"/>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735C02FC-1643-FCE8-27FD-793F46799545}"/>
              </a:ext>
            </a:extLst>
          </p:cNvPr>
          <p:cNvSpPr txBox="1"/>
          <p:nvPr/>
        </p:nvSpPr>
        <p:spPr>
          <a:xfrm>
            <a:off x="5432612" y="2959342"/>
            <a:ext cx="5523299" cy="461665"/>
          </a:xfrm>
          <a:prstGeom prst="rect">
            <a:avLst/>
          </a:prstGeom>
          <a:noFill/>
          <a:ln>
            <a:solidFill>
              <a:schemeClr val="bg1">
                <a:lumMod val="50000"/>
              </a:schemeClr>
            </a:solidFill>
          </a:ln>
        </p:spPr>
        <p:txBody>
          <a:bodyPr wrap="square">
            <a:spAutoFit/>
          </a:bodyPr>
          <a:lstStyle/>
          <a:p>
            <a:r>
              <a:rPr lang="ko-KR" altLang="en-US" sz="1200" dirty="0" err="1">
                <a:solidFill>
                  <a:schemeClr val="tx2"/>
                </a:solidFill>
              </a:rPr>
              <a:t>공지예외적용주장을</a:t>
            </a:r>
            <a:r>
              <a:rPr lang="ko-KR" altLang="en-US" sz="1200" dirty="0">
                <a:solidFill>
                  <a:schemeClr val="tx2"/>
                </a:solidFill>
              </a:rPr>
              <a:t> 삭제함</a:t>
            </a:r>
            <a:r>
              <a:rPr lang="en-US" altLang="ko-KR" sz="1200" dirty="0">
                <a:solidFill>
                  <a:schemeClr val="tx2"/>
                </a:solidFill>
              </a:rPr>
              <a:t>. </a:t>
            </a:r>
            <a:r>
              <a:rPr lang="ko-KR" altLang="en-US" sz="1200" dirty="0">
                <a:solidFill>
                  <a:schemeClr val="tx2"/>
                </a:solidFill>
              </a:rPr>
              <a:t>즉 원출원이 </a:t>
            </a:r>
            <a:r>
              <a:rPr lang="ko-KR" altLang="en-US" sz="1200" dirty="0" err="1">
                <a:solidFill>
                  <a:schemeClr val="tx2"/>
                </a:solidFill>
              </a:rPr>
              <a:t>공지예외적용주장을</a:t>
            </a:r>
            <a:r>
              <a:rPr lang="ko-KR" altLang="en-US" sz="1200" dirty="0">
                <a:solidFill>
                  <a:schemeClr val="tx2"/>
                </a:solidFill>
              </a:rPr>
              <a:t> 하지 않더라도 분할출원에서 </a:t>
            </a:r>
            <a:r>
              <a:rPr lang="ko-KR" altLang="en-US" sz="1200" dirty="0" err="1">
                <a:solidFill>
                  <a:schemeClr val="tx2"/>
                </a:solidFill>
              </a:rPr>
              <a:t>공지예외적용주장</a:t>
            </a:r>
            <a:r>
              <a:rPr lang="ko-KR" altLang="en-US" sz="1200" dirty="0">
                <a:solidFill>
                  <a:schemeClr val="tx2"/>
                </a:solidFill>
              </a:rPr>
              <a:t> 가능</a:t>
            </a:r>
            <a:endParaRPr lang="ko-KR" altLang="en-US" sz="1200" dirty="0"/>
          </a:p>
        </p:txBody>
      </p:sp>
      <p:cxnSp>
        <p:nvCxnSpPr>
          <p:cNvPr id="84" name="직선 연결선 83">
            <a:extLst>
              <a:ext uri="{FF2B5EF4-FFF2-40B4-BE49-F238E27FC236}">
                <a16:creationId xmlns:a16="http://schemas.microsoft.com/office/drawing/2014/main" id="{8E246C47-DD78-6496-6365-53ECB8307929}"/>
              </a:ext>
            </a:extLst>
          </p:cNvPr>
          <p:cNvCxnSpPr>
            <a:cxnSpLocks/>
            <a:stCxn id="72" idx="3"/>
            <a:endCxn id="74" idx="1"/>
          </p:cNvCxnSpPr>
          <p:nvPr/>
        </p:nvCxnSpPr>
        <p:spPr>
          <a:xfrm>
            <a:off x="5127806" y="3188069"/>
            <a:ext cx="304806" cy="2106"/>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3" name="타원 92">
            <a:extLst>
              <a:ext uri="{FF2B5EF4-FFF2-40B4-BE49-F238E27FC236}">
                <a16:creationId xmlns:a16="http://schemas.microsoft.com/office/drawing/2014/main" id="{C02BEE75-846F-B8E5-7265-0E1ED7422DCB}"/>
              </a:ext>
            </a:extLst>
          </p:cNvPr>
          <p:cNvSpPr/>
          <p:nvPr/>
        </p:nvSpPr>
        <p:spPr>
          <a:xfrm>
            <a:off x="769921" y="4069850"/>
            <a:ext cx="154738" cy="161338"/>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94" name="TextBox 93">
            <a:extLst>
              <a:ext uri="{FF2B5EF4-FFF2-40B4-BE49-F238E27FC236}">
                <a16:creationId xmlns:a16="http://schemas.microsoft.com/office/drawing/2014/main" id="{8F268A0A-F986-D701-C23C-00E1C440C556}"/>
              </a:ext>
            </a:extLst>
          </p:cNvPr>
          <p:cNvSpPr txBox="1"/>
          <p:nvPr/>
        </p:nvSpPr>
        <p:spPr>
          <a:xfrm>
            <a:off x="1571535" y="3917410"/>
            <a:ext cx="3556271" cy="461665"/>
          </a:xfrm>
          <a:prstGeom prst="rect">
            <a:avLst/>
          </a:prstGeom>
          <a:solidFill>
            <a:schemeClr val="accent6">
              <a:lumMod val="20000"/>
              <a:lumOff val="80000"/>
            </a:schemeClr>
          </a:solidFill>
          <a:ln>
            <a:solidFill>
              <a:schemeClr val="bg1">
                <a:lumMod val="50000"/>
              </a:schemeClr>
            </a:solidFill>
          </a:ln>
        </p:spPr>
        <p:txBody>
          <a:bodyPr wrap="square" rtlCol="0">
            <a:spAutoFit/>
          </a:bodyPr>
          <a:lstStyle/>
          <a:p>
            <a:r>
              <a:rPr lang="en-US" altLang="ko-KR" sz="1200" dirty="0"/>
              <a:t>(</a:t>
            </a:r>
            <a:r>
              <a:rPr lang="ko-KR" altLang="en-US" sz="1200" dirty="0"/>
              <a:t>대법원 판결</a:t>
            </a:r>
            <a:r>
              <a:rPr lang="en-US" altLang="ko-KR" sz="1200" dirty="0"/>
              <a:t>) </a:t>
            </a:r>
            <a:r>
              <a:rPr lang="ko-KR" altLang="en-US" sz="1200" dirty="0"/>
              <a:t>법 개정 전일지라도 원출원이 </a:t>
            </a:r>
            <a:r>
              <a:rPr lang="ko-KR" altLang="en-US" sz="1200" dirty="0" err="1"/>
              <a:t>공지예외적용주장을</a:t>
            </a:r>
            <a:r>
              <a:rPr lang="ko-KR" altLang="en-US" sz="1200" dirty="0"/>
              <a:t> 하지 않더라도 분할출원에서 그 주장 가능</a:t>
            </a:r>
            <a:endParaRPr lang="en-US" altLang="ko-KR" sz="1200" dirty="0"/>
          </a:p>
        </p:txBody>
      </p:sp>
      <p:cxnSp>
        <p:nvCxnSpPr>
          <p:cNvPr id="95" name="연결선: 꺾임 94">
            <a:extLst>
              <a:ext uri="{FF2B5EF4-FFF2-40B4-BE49-F238E27FC236}">
                <a16:creationId xmlns:a16="http://schemas.microsoft.com/office/drawing/2014/main" id="{ACA96A23-8A96-00C6-6289-B83232490E3F}"/>
              </a:ext>
            </a:extLst>
          </p:cNvPr>
          <p:cNvCxnSpPr>
            <a:cxnSpLocks/>
            <a:stCxn id="94" idx="1"/>
            <a:endCxn id="93" idx="6"/>
          </p:cNvCxnSpPr>
          <p:nvPr/>
        </p:nvCxnSpPr>
        <p:spPr>
          <a:xfrm rot="10800000" flipV="1">
            <a:off x="924659" y="4148243"/>
            <a:ext cx="646876" cy="2276"/>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49F6EE5C-24FD-CBC8-055B-F727DA0CC4C1}"/>
              </a:ext>
            </a:extLst>
          </p:cNvPr>
          <p:cNvSpPr txBox="1"/>
          <p:nvPr/>
        </p:nvSpPr>
        <p:spPr>
          <a:xfrm>
            <a:off x="5432612" y="3731259"/>
            <a:ext cx="5523299" cy="830997"/>
          </a:xfrm>
          <a:prstGeom prst="rect">
            <a:avLst/>
          </a:prstGeom>
          <a:noFill/>
          <a:ln>
            <a:solidFill>
              <a:schemeClr val="bg1">
                <a:lumMod val="50000"/>
              </a:schemeClr>
            </a:solidFill>
          </a:ln>
        </p:spPr>
        <p:txBody>
          <a:bodyPr wrap="square">
            <a:spAutoFit/>
          </a:bodyPr>
          <a:lstStyle/>
          <a:p>
            <a:r>
              <a:rPr lang="en-US" altLang="ko-KR" sz="1200" dirty="0">
                <a:solidFill>
                  <a:schemeClr val="tx2"/>
                </a:solidFill>
              </a:rPr>
              <a:t>(1) </a:t>
            </a:r>
            <a:r>
              <a:rPr lang="ko-KR" altLang="en-US" sz="1200" dirty="0">
                <a:solidFill>
                  <a:schemeClr val="tx2"/>
                </a:solidFill>
              </a:rPr>
              <a:t>제</a:t>
            </a:r>
            <a:r>
              <a:rPr lang="en-US" altLang="ko-KR" sz="1200" dirty="0">
                <a:solidFill>
                  <a:schemeClr val="tx2"/>
                </a:solidFill>
              </a:rPr>
              <a:t>52</a:t>
            </a:r>
            <a:r>
              <a:rPr lang="ko-KR" altLang="en-US" sz="1200" dirty="0">
                <a:solidFill>
                  <a:schemeClr val="tx2"/>
                </a:solidFill>
              </a:rPr>
              <a:t>조제</a:t>
            </a:r>
            <a:r>
              <a:rPr lang="en-US" altLang="ko-KR" sz="1200" dirty="0">
                <a:solidFill>
                  <a:schemeClr val="tx2"/>
                </a:solidFill>
              </a:rPr>
              <a:t>2</a:t>
            </a:r>
            <a:r>
              <a:rPr lang="ko-KR" altLang="en-US" sz="1200" dirty="0" err="1">
                <a:solidFill>
                  <a:schemeClr val="tx2"/>
                </a:solidFill>
              </a:rPr>
              <a:t>항제</a:t>
            </a:r>
            <a:r>
              <a:rPr lang="en-US" altLang="ko-KR" sz="1200" dirty="0">
                <a:solidFill>
                  <a:schemeClr val="tx2"/>
                </a:solidFill>
              </a:rPr>
              <a:t>2</a:t>
            </a:r>
            <a:r>
              <a:rPr lang="ko-KR" altLang="en-US" sz="1200" dirty="0">
                <a:solidFill>
                  <a:schemeClr val="tx2"/>
                </a:solidFill>
              </a:rPr>
              <a:t>호의 </a:t>
            </a:r>
            <a:r>
              <a:rPr lang="ko-KR" altLang="en-US" sz="1200" dirty="0" err="1">
                <a:solidFill>
                  <a:schemeClr val="tx2"/>
                </a:solidFill>
              </a:rPr>
              <a:t>문언적</a:t>
            </a:r>
            <a:r>
              <a:rPr lang="ko-KR" altLang="en-US" sz="1200" dirty="0">
                <a:solidFill>
                  <a:schemeClr val="tx2"/>
                </a:solidFill>
              </a:rPr>
              <a:t> 해석 </a:t>
            </a:r>
            <a:endParaRPr lang="en-US" altLang="ko-KR" sz="1200" dirty="0">
              <a:solidFill>
                <a:schemeClr val="tx2"/>
              </a:solidFill>
            </a:endParaRPr>
          </a:p>
          <a:p>
            <a:r>
              <a:rPr lang="en-US" altLang="ko-KR" sz="1200" dirty="0">
                <a:solidFill>
                  <a:schemeClr val="tx2"/>
                </a:solidFill>
              </a:rPr>
              <a:t>(2) </a:t>
            </a:r>
            <a:r>
              <a:rPr lang="ko-KR" altLang="en-US" sz="1200" dirty="0">
                <a:solidFill>
                  <a:schemeClr val="tx2"/>
                </a:solidFill>
              </a:rPr>
              <a:t>분할출원의 취지</a:t>
            </a:r>
            <a:endParaRPr lang="en-US" altLang="ko-KR" sz="1200" dirty="0">
              <a:solidFill>
                <a:schemeClr val="tx2"/>
              </a:solidFill>
            </a:endParaRPr>
          </a:p>
          <a:p>
            <a:r>
              <a:rPr lang="en-US" altLang="ko-KR" sz="1200" dirty="0">
                <a:solidFill>
                  <a:schemeClr val="tx2"/>
                </a:solidFill>
              </a:rPr>
              <a:t>(3)(4) </a:t>
            </a:r>
            <a:r>
              <a:rPr lang="ko-KR" altLang="en-US" sz="1200" dirty="0">
                <a:solidFill>
                  <a:schemeClr val="tx2"/>
                </a:solidFill>
              </a:rPr>
              <a:t>분할출원과 원출원과의 관계</a:t>
            </a:r>
            <a:r>
              <a:rPr lang="en-US" altLang="ko-KR" sz="1200" dirty="0">
                <a:solidFill>
                  <a:schemeClr val="tx2"/>
                </a:solidFill>
              </a:rPr>
              <a:t>(</a:t>
            </a:r>
            <a:r>
              <a:rPr lang="ko-KR" altLang="en-US" sz="1200" dirty="0">
                <a:solidFill>
                  <a:schemeClr val="tx2"/>
                </a:solidFill>
              </a:rPr>
              <a:t>독립적</a:t>
            </a:r>
            <a:r>
              <a:rPr lang="en-US" altLang="ko-KR" sz="1200" dirty="0">
                <a:solidFill>
                  <a:schemeClr val="tx2"/>
                </a:solidFill>
              </a:rPr>
              <a:t>) </a:t>
            </a:r>
          </a:p>
          <a:p>
            <a:r>
              <a:rPr lang="en-US" altLang="ko-KR" sz="1200" dirty="0">
                <a:solidFill>
                  <a:schemeClr val="tx2"/>
                </a:solidFill>
              </a:rPr>
              <a:t>(5)</a:t>
            </a:r>
            <a:r>
              <a:rPr lang="ko-KR" altLang="en-US" sz="1200" dirty="0">
                <a:solidFill>
                  <a:schemeClr val="tx2"/>
                </a:solidFill>
              </a:rPr>
              <a:t> </a:t>
            </a:r>
            <a:r>
              <a:rPr lang="ko-KR" altLang="en-US" sz="1200" dirty="0" err="1">
                <a:solidFill>
                  <a:schemeClr val="tx2"/>
                </a:solidFill>
              </a:rPr>
              <a:t>공지예외적용주장출원의</a:t>
            </a:r>
            <a:r>
              <a:rPr lang="ko-KR" altLang="en-US" sz="1200" dirty="0">
                <a:solidFill>
                  <a:schemeClr val="tx2"/>
                </a:solidFill>
              </a:rPr>
              <a:t> 취지</a:t>
            </a:r>
            <a:endParaRPr lang="en-US" altLang="ko-KR" sz="1200" dirty="0">
              <a:solidFill>
                <a:schemeClr val="tx2"/>
              </a:solidFill>
            </a:endParaRPr>
          </a:p>
        </p:txBody>
      </p:sp>
      <p:cxnSp>
        <p:nvCxnSpPr>
          <p:cNvPr id="98" name="직선 연결선 97">
            <a:extLst>
              <a:ext uri="{FF2B5EF4-FFF2-40B4-BE49-F238E27FC236}">
                <a16:creationId xmlns:a16="http://schemas.microsoft.com/office/drawing/2014/main" id="{6866C029-08ED-E994-987D-D06B18D4AFF3}"/>
              </a:ext>
            </a:extLst>
          </p:cNvPr>
          <p:cNvCxnSpPr>
            <a:cxnSpLocks/>
            <a:stCxn id="94" idx="3"/>
            <a:endCxn id="96" idx="1"/>
          </p:cNvCxnSpPr>
          <p:nvPr/>
        </p:nvCxnSpPr>
        <p:spPr>
          <a:xfrm flipV="1">
            <a:off x="5127806" y="4146758"/>
            <a:ext cx="304806" cy="1485"/>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3" name="TextBox 122">
            <a:extLst>
              <a:ext uri="{FF2B5EF4-FFF2-40B4-BE49-F238E27FC236}">
                <a16:creationId xmlns:a16="http://schemas.microsoft.com/office/drawing/2014/main" id="{0093D75A-131F-E472-DF98-81926172E976}"/>
              </a:ext>
            </a:extLst>
          </p:cNvPr>
          <p:cNvSpPr txBox="1"/>
          <p:nvPr/>
        </p:nvSpPr>
        <p:spPr>
          <a:xfrm>
            <a:off x="2492188" y="4379075"/>
            <a:ext cx="1550894" cy="307777"/>
          </a:xfrm>
          <a:prstGeom prst="rect">
            <a:avLst/>
          </a:prstGeom>
          <a:noFill/>
        </p:spPr>
        <p:txBody>
          <a:bodyPr wrap="square">
            <a:spAutoFit/>
          </a:bodyPr>
          <a:lstStyle/>
          <a:p>
            <a:r>
              <a:rPr lang="en-US" altLang="ko-KR" sz="1400" dirty="0">
                <a:solidFill>
                  <a:srgbClr val="FF0000"/>
                </a:solidFill>
              </a:rPr>
              <a:t>2020</a:t>
            </a:r>
            <a:r>
              <a:rPr lang="ko-KR" altLang="en-US" sz="1400" dirty="0">
                <a:solidFill>
                  <a:srgbClr val="FF0000"/>
                </a:solidFill>
              </a:rPr>
              <a:t>후</a:t>
            </a:r>
            <a:r>
              <a:rPr lang="en-US" altLang="ko-KR" sz="1400" dirty="0">
                <a:solidFill>
                  <a:srgbClr val="FF0000"/>
                </a:solidFill>
              </a:rPr>
              <a:t>11479</a:t>
            </a:r>
            <a:endParaRPr lang="ko-KR" altLang="en-US" sz="1400" dirty="0">
              <a:solidFill>
                <a:srgbClr val="FF0000"/>
              </a:solidFill>
            </a:endParaRPr>
          </a:p>
        </p:txBody>
      </p:sp>
      <p:sp>
        <p:nvSpPr>
          <p:cNvPr id="124" name="TextBox 123">
            <a:extLst>
              <a:ext uri="{FF2B5EF4-FFF2-40B4-BE49-F238E27FC236}">
                <a16:creationId xmlns:a16="http://schemas.microsoft.com/office/drawing/2014/main" id="{42A2A739-A1D2-9C28-8AEB-3EE4C6EB7AFC}"/>
              </a:ext>
            </a:extLst>
          </p:cNvPr>
          <p:cNvSpPr txBox="1"/>
          <p:nvPr/>
        </p:nvSpPr>
        <p:spPr>
          <a:xfrm>
            <a:off x="624784" y="5342352"/>
            <a:ext cx="10697637" cy="923330"/>
          </a:xfrm>
          <a:prstGeom prst="rect">
            <a:avLst/>
          </a:prstGeom>
          <a:noFill/>
          <a:ln w="28575">
            <a:solidFill>
              <a:srgbClr val="FF0000"/>
            </a:solidFill>
          </a:ln>
        </p:spPr>
        <p:txBody>
          <a:bodyPr wrap="square" rtlCol="0">
            <a:spAutoFit/>
          </a:bodyPr>
          <a:lstStyle/>
          <a:p>
            <a:r>
              <a:rPr lang="en-US" altLang="ko-KR" dirty="0">
                <a:solidFill>
                  <a:srgbClr val="FF0000"/>
                </a:solidFill>
              </a:rPr>
              <a:t>- </a:t>
            </a:r>
            <a:r>
              <a:rPr lang="ko-KR" altLang="en-US" dirty="0">
                <a:solidFill>
                  <a:srgbClr val="FF0000"/>
                </a:solidFill>
              </a:rPr>
              <a:t>판례의 근거에 의하면</a:t>
            </a:r>
            <a:r>
              <a:rPr lang="en-US" altLang="ko-KR" dirty="0">
                <a:solidFill>
                  <a:srgbClr val="FF0000"/>
                </a:solidFill>
              </a:rPr>
              <a:t>, </a:t>
            </a:r>
            <a:r>
              <a:rPr lang="ko-KR" altLang="en-US" dirty="0">
                <a:solidFill>
                  <a:srgbClr val="FF0000"/>
                </a:solidFill>
              </a:rPr>
              <a:t>원출원이 우선권주장을 하지 않더라도 분할출원에서 우선권주장 가능</a:t>
            </a:r>
            <a:endParaRPr lang="en-US" altLang="ko-KR" dirty="0">
              <a:solidFill>
                <a:srgbClr val="FF0000"/>
              </a:solidFill>
            </a:endParaRPr>
          </a:p>
          <a:p>
            <a:r>
              <a:rPr lang="en-US" altLang="ko-KR" dirty="0">
                <a:solidFill>
                  <a:srgbClr val="FF0000"/>
                </a:solidFill>
              </a:rPr>
              <a:t>- </a:t>
            </a:r>
            <a:r>
              <a:rPr lang="ko-KR" altLang="en-US" dirty="0">
                <a:solidFill>
                  <a:srgbClr val="FF0000"/>
                </a:solidFill>
              </a:rPr>
              <a:t>이는 출원과 동시에 주장을 해야 한다는 제</a:t>
            </a:r>
            <a:r>
              <a:rPr lang="en-US" altLang="ko-KR" dirty="0">
                <a:solidFill>
                  <a:srgbClr val="FF0000"/>
                </a:solidFill>
              </a:rPr>
              <a:t>54</a:t>
            </a:r>
            <a:r>
              <a:rPr lang="ko-KR" altLang="en-US" dirty="0">
                <a:solidFill>
                  <a:srgbClr val="FF0000"/>
                </a:solidFill>
              </a:rPr>
              <a:t>조제</a:t>
            </a:r>
            <a:r>
              <a:rPr lang="en-US" altLang="ko-KR" dirty="0">
                <a:solidFill>
                  <a:srgbClr val="FF0000"/>
                </a:solidFill>
              </a:rPr>
              <a:t>3</a:t>
            </a:r>
            <a:r>
              <a:rPr lang="ko-KR" altLang="en-US" dirty="0">
                <a:solidFill>
                  <a:srgbClr val="FF0000"/>
                </a:solidFill>
              </a:rPr>
              <a:t>항</a:t>
            </a:r>
            <a:r>
              <a:rPr lang="en-US" altLang="ko-KR" dirty="0">
                <a:solidFill>
                  <a:srgbClr val="FF0000"/>
                </a:solidFill>
              </a:rPr>
              <a:t>, </a:t>
            </a:r>
            <a:r>
              <a:rPr lang="ko-KR" altLang="en-US" dirty="0">
                <a:solidFill>
                  <a:srgbClr val="FF0000"/>
                </a:solidFill>
              </a:rPr>
              <a:t>제</a:t>
            </a:r>
            <a:r>
              <a:rPr lang="en-US" altLang="ko-KR" dirty="0">
                <a:solidFill>
                  <a:srgbClr val="FF0000"/>
                </a:solidFill>
              </a:rPr>
              <a:t>55</a:t>
            </a:r>
            <a:r>
              <a:rPr lang="ko-KR" altLang="en-US" dirty="0">
                <a:solidFill>
                  <a:srgbClr val="FF0000"/>
                </a:solidFill>
              </a:rPr>
              <a:t>조제</a:t>
            </a:r>
            <a:r>
              <a:rPr lang="en-US" altLang="ko-KR" dirty="0">
                <a:solidFill>
                  <a:srgbClr val="FF0000"/>
                </a:solidFill>
              </a:rPr>
              <a:t>2</a:t>
            </a:r>
            <a:r>
              <a:rPr lang="ko-KR" altLang="en-US" dirty="0">
                <a:solidFill>
                  <a:srgbClr val="FF0000"/>
                </a:solidFill>
              </a:rPr>
              <a:t>항의 취지를 분할출원을 통해 </a:t>
            </a:r>
            <a:r>
              <a:rPr lang="ko-KR" altLang="en-US" dirty="0" err="1">
                <a:solidFill>
                  <a:srgbClr val="FF0000"/>
                </a:solidFill>
              </a:rPr>
              <a:t>몰각시킬</a:t>
            </a:r>
            <a:r>
              <a:rPr lang="ko-KR" altLang="en-US" dirty="0">
                <a:solidFill>
                  <a:srgbClr val="FF0000"/>
                </a:solidFill>
              </a:rPr>
              <a:t> 수 있음</a:t>
            </a:r>
            <a:endParaRPr lang="en-US" altLang="ko-KR" dirty="0">
              <a:solidFill>
                <a:srgbClr val="FF0000"/>
              </a:solidFill>
            </a:endParaRPr>
          </a:p>
          <a:p>
            <a:r>
              <a:rPr lang="en-US" altLang="ko-KR" dirty="0">
                <a:solidFill>
                  <a:srgbClr val="FF0000"/>
                </a:solidFill>
              </a:rPr>
              <a:t>- </a:t>
            </a:r>
            <a:r>
              <a:rPr lang="ko-KR" altLang="en-US" dirty="0">
                <a:solidFill>
                  <a:srgbClr val="FF0000"/>
                </a:solidFill>
              </a:rPr>
              <a:t>따라서</a:t>
            </a:r>
            <a:r>
              <a:rPr lang="en-US" altLang="ko-KR" dirty="0">
                <a:solidFill>
                  <a:srgbClr val="FF0000"/>
                </a:solidFill>
              </a:rPr>
              <a:t>, </a:t>
            </a:r>
            <a:r>
              <a:rPr lang="ko-KR" altLang="en-US" dirty="0">
                <a:solidFill>
                  <a:srgbClr val="FF0000"/>
                </a:solidFill>
              </a:rPr>
              <a:t>제</a:t>
            </a:r>
            <a:r>
              <a:rPr lang="en-US" altLang="ko-KR" dirty="0">
                <a:solidFill>
                  <a:srgbClr val="FF0000"/>
                </a:solidFill>
              </a:rPr>
              <a:t>52</a:t>
            </a:r>
            <a:r>
              <a:rPr lang="ko-KR" altLang="en-US" dirty="0">
                <a:solidFill>
                  <a:srgbClr val="FF0000"/>
                </a:solidFill>
              </a:rPr>
              <a:t>조제</a:t>
            </a:r>
            <a:r>
              <a:rPr lang="en-US" altLang="ko-KR" dirty="0">
                <a:solidFill>
                  <a:srgbClr val="FF0000"/>
                </a:solidFill>
              </a:rPr>
              <a:t>2</a:t>
            </a:r>
            <a:r>
              <a:rPr lang="ko-KR" altLang="en-US" dirty="0" err="1">
                <a:solidFill>
                  <a:srgbClr val="FF0000"/>
                </a:solidFill>
              </a:rPr>
              <a:t>항제</a:t>
            </a:r>
            <a:r>
              <a:rPr lang="en-US" altLang="ko-KR" dirty="0">
                <a:solidFill>
                  <a:srgbClr val="FF0000"/>
                </a:solidFill>
              </a:rPr>
              <a:t>3</a:t>
            </a:r>
            <a:r>
              <a:rPr lang="ko-KR" altLang="en-US" dirty="0">
                <a:solidFill>
                  <a:srgbClr val="FF0000"/>
                </a:solidFill>
              </a:rPr>
              <a:t>호</a:t>
            </a:r>
            <a:r>
              <a:rPr lang="en-US" altLang="ko-KR" dirty="0">
                <a:solidFill>
                  <a:srgbClr val="FF0000"/>
                </a:solidFill>
              </a:rPr>
              <a:t>, </a:t>
            </a:r>
            <a:r>
              <a:rPr lang="ko-KR" altLang="en-US" dirty="0">
                <a:solidFill>
                  <a:srgbClr val="FF0000"/>
                </a:solidFill>
              </a:rPr>
              <a:t>제</a:t>
            </a:r>
            <a:r>
              <a:rPr lang="en-US" altLang="ko-KR" dirty="0">
                <a:solidFill>
                  <a:srgbClr val="FF0000"/>
                </a:solidFill>
              </a:rPr>
              <a:t>4</a:t>
            </a:r>
            <a:r>
              <a:rPr lang="ko-KR" altLang="en-US" dirty="0">
                <a:solidFill>
                  <a:srgbClr val="FF0000"/>
                </a:solidFill>
              </a:rPr>
              <a:t>호의 개정이 필요함  </a:t>
            </a:r>
          </a:p>
        </p:txBody>
      </p:sp>
    </p:spTree>
    <p:extLst>
      <p:ext uri="{BB962C8B-B14F-4D97-AF65-F5344CB8AC3E}">
        <p14:creationId xmlns:p14="http://schemas.microsoft.com/office/powerpoint/2010/main" val="808877167"/>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양쪽 모서리가 둥근 사각형 93"/>
          <p:cNvSpPr/>
          <p:nvPr/>
        </p:nvSpPr>
        <p:spPr>
          <a:xfrm>
            <a:off x="6741763" y="3520830"/>
            <a:ext cx="2739071" cy="363303"/>
          </a:xfrm>
          <a:prstGeom prst="round2SameRect">
            <a:avLst>
              <a:gd name="adj1" fmla="val 50000"/>
              <a:gd name="adj2" fmla="val 0"/>
            </a:avLst>
          </a:prstGeom>
          <a:pattFill prst="dot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p>
        </p:txBody>
      </p:sp>
      <p:sp>
        <p:nvSpPr>
          <p:cNvPr id="4" name="텍스트 개체 틀 3"/>
          <p:cNvSpPr>
            <a:spLocks noGrp="1"/>
          </p:cNvSpPr>
          <p:nvPr>
            <p:ph type="body" sz="quarter" idx="13"/>
          </p:nvPr>
        </p:nvSpPr>
        <p:spPr/>
        <p:txBody>
          <a:bodyPr/>
          <a:lstStyle/>
          <a:p>
            <a:r>
              <a:rPr lang="ko-KR" altLang="en-US" dirty="0"/>
              <a:t>외국어특허출원</a:t>
            </a:r>
          </a:p>
        </p:txBody>
      </p:sp>
      <p:sp>
        <p:nvSpPr>
          <p:cNvPr id="26" name="TextBox 25"/>
          <p:cNvSpPr txBox="1"/>
          <p:nvPr/>
        </p:nvSpPr>
        <p:spPr>
          <a:xfrm>
            <a:off x="77875" y="986046"/>
            <a:ext cx="11936323" cy="307777"/>
          </a:xfrm>
          <a:prstGeom prst="rect">
            <a:avLst/>
          </a:prstGeom>
          <a:noFill/>
        </p:spPr>
        <p:txBody>
          <a:bodyPr wrap="square" rtlCol="0">
            <a:spAutoFit/>
          </a:bodyPr>
          <a:lstStyle/>
          <a:p>
            <a:pPr fontAlgn="base"/>
            <a:r>
              <a:rPr lang="ko-KR" altLang="en-US" sz="1400" dirty="0" err="1">
                <a:solidFill>
                  <a:schemeClr val="tx2"/>
                </a:solidFill>
              </a:rPr>
              <a:t>원출원이</a:t>
            </a:r>
            <a:r>
              <a:rPr lang="ko-KR" altLang="en-US" sz="1400" dirty="0">
                <a:solidFill>
                  <a:schemeClr val="tx2"/>
                </a:solidFill>
              </a:rPr>
              <a:t> 외국어특허출원인 경우에는 그 특허출원에 대한 </a:t>
            </a:r>
            <a:r>
              <a:rPr lang="ko-KR" altLang="en-US" sz="1400" dirty="0" err="1">
                <a:solidFill>
                  <a:schemeClr val="tx2"/>
                </a:solidFill>
              </a:rPr>
              <a:t>국어번역문</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42</a:t>
            </a:r>
            <a:r>
              <a:rPr lang="ko-KR" altLang="en-US" sz="1400" dirty="0">
                <a:solidFill>
                  <a:schemeClr val="tx2"/>
                </a:solidFill>
              </a:rPr>
              <a:t>의</a:t>
            </a:r>
            <a:r>
              <a:rPr lang="en-US" altLang="ko-KR" sz="1400" dirty="0">
                <a:solidFill>
                  <a:schemeClr val="tx2"/>
                </a:solidFill>
              </a:rPr>
              <a:t>3②)</a:t>
            </a:r>
            <a:r>
              <a:rPr lang="ko-KR" altLang="en-US" sz="1400" dirty="0">
                <a:solidFill>
                  <a:schemeClr val="tx2"/>
                </a:solidFill>
              </a:rPr>
              <a:t>이 제출된 경우에만 </a:t>
            </a:r>
            <a:r>
              <a:rPr lang="ko-KR" altLang="en-US" sz="1400" dirty="0" err="1">
                <a:solidFill>
                  <a:schemeClr val="tx2"/>
                </a:solidFill>
              </a:rPr>
              <a:t>분할출원할</a:t>
            </a:r>
            <a:r>
              <a:rPr lang="ko-KR" altLang="en-US" sz="1400" dirty="0">
                <a:solidFill>
                  <a:schemeClr val="tx2"/>
                </a:solidFill>
              </a:rPr>
              <a:t> 수 있다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52①</a:t>
            </a:r>
            <a:r>
              <a:rPr lang="ko-KR" altLang="en-US" sz="1400" dirty="0">
                <a:solidFill>
                  <a:schemeClr val="tx2"/>
                </a:solidFill>
              </a:rPr>
              <a:t>단서</a:t>
            </a:r>
            <a:r>
              <a:rPr lang="en-US" altLang="ko-KR" sz="1400" dirty="0">
                <a:solidFill>
                  <a:schemeClr val="tx2"/>
                </a:solidFill>
              </a:rPr>
              <a:t>). </a:t>
            </a:r>
          </a:p>
        </p:txBody>
      </p:sp>
      <p:cxnSp>
        <p:nvCxnSpPr>
          <p:cNvPr id="27" name="직선 연결선 26"/>
          <p:cNvCxnSpPr/>
          <p:nvPr/>
        </p:nvCxnSpPr>
        <p:spPr>
          <a:xfrm>
            <a:off x="0" y="129382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6091856" y="2791326"/>
            <a:ext cx="0" cy="392390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77875" y="1295685"/>
            <a:ext cx="11936323" cy="1384995"/>
          </a:xfrm>
          <a:prstGeom prst="rect">
            <a:avLst/>
          </a:prstGeom>
          <a:noFill/>
        </p:spPr>
        <p:txBody>
          <a:bodyPr wrap="square" rtlCol="0">
            <a:spAutoFit/>
          </a:bodyPr>
          <a:lstStyle/>
          <a:p>
            <a:pPr fontAlgn="base"/>
            <a:r>
              <a:rPr lang="ko-KR" altLang="en-US" sz="1400" dirty="0" err="1">
                <a:solidFill>
                  <a:schemeClr val="tx2"/>
                </a:solidFill>
              </a:rPr>
              <a:t>분할출원이</a:t>
            </a:r>
            <a:r>
              <a:rPr lang="ko-KR" altLang="en-US" sz="1400" dirty="0">
                <a:solidFill>
                  <a:schemeClr val="tx2"/>
                </a:solidFill>
              </a:rPr>
              <a:t> 외국어특허출원인 경우에 특허출원인은 </a:t>
            </a:r>
            <a:r>
              <a:rPr lang="ko-KR" altLang="en-US" sz="1400" dirty="0" err="1">
                <a:solidFill>
                  <a:schemeClr val="tx2"/>
                </a:solidFill>
              </a:rPr>
              <a:t>국어번역문</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42</a:t>
            </a:r>
            <a:r>
              <a:rPr lang="ko-KR" altLang="en-US" sz="1400" dirty="0">
                <a:solidFill>
                  <a:schemeClr val="tx2"/>
                </a:solidFill>
              </a:rPr>
              <a:t>의</a:t>
            </a:r>
            <a:r>
              <a:rPr lang="en-US" altLang="ko-KR" sz="1400" dirty="0">
                <a:solidFill>
                  <a:schemeClr val="tx2"/>
                </a:solidFill>
              </a:rPr>
              <a:t>3②) </a:t>
            </a:r>
            <a:r>
              <a:rPr lang="ko-KR" altLang="en-US" sz="1400" dirty="0">
                <a:solidFill>
                  <a:schemeClr val="tx2"/>
                </a:solidFill>
              </a:rPr>
              <a:t>또는 새로운 </a:t>
            </a:r>
            <a:r>
              <a:rPr lang="ko-KR" altLang="en-US" sz="1400" dirty="0" err="1">
                <a:solidFill>
                  <a:schemeClr val="tx2"/>
                </a:solidFill>
              </a:rPr>
              <a:t>국어번역문</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42</a:t>
            </a:r>
            <a:r>
              <a:rPr lang="ko-KR" altLang="en-US" sz="1400" dirty="0">
                <a:solidFill>
                  <a:schemeClr val="tx2"/>
                </a:solidFill>
              </a:rPr>
              <a:t>의</a:t>
            </a:r>
            <a:r>
              <a:rPr lang="en-US" altLang="ko-KR" sz="1400" dirty="0">
                <a:solidFill>
                  <a:schemeClr val="tx2"/>
                </a:solidFill>
              </a:rPr>
              <a:t>3③</a:t>
            </a:r>
            <a:r>
              <a:rPr lang="ko-KR" altLang="en-US" sz="1400" dirty="0">
                <a:solidFill>
                  <a:schemeClr val="tx2"/>
                </a:solidFill>
              </a:rPr>
              <a:t>본문</a:t>
            </a:r>
            <a:r>
              <a:rPr lang="en-US" altLang="ko-KR" sz="1400" dirty="0">
                <a:solidFill>
                  <a:schemeClr val="tx2"/>
                </a:solidFill>
              </a:rPr>
              <a:t>)</a:t>
            </a:r>
            <a:r>
              <a:rPr lang="ko-KR" altLang="en-US" sz="1400" dirty="0">
                <a:solidFill>
                  <a:schemeClr val="tx2"/>
                </a:solidFill>
              </a:rPr>
              <a:t>을 출원일</a:t>
            </a:r>
            <a:r>
              <a:rPr lang="en-US" altLang="ko-KR" sz="1400" dirty="0">
                <a:solidFill>
                  <a:schemeClr val="tx2"/>
                </a:solidFill>
              </a:rPr>
              <a:t>(</a:t>
            </a:r>
            <a:r>
              <a:rPr lang="ko-KR" altLang="en-US" sz="1400" dirty="0">
                <a:solidFill>
                  <a:schemeClr val="tx2"/>
                </a:solidFill>
              </a:rPr>
              <a:t>우선권주장의 경우 최우선일</a:t>
            </a:r>
            <a:r>
              <a:rPr lang="en-US" altLang="ko-KR" sz="1400" dirty="0">
                <a:solidFill>
                  <a:schemeClr val="tx2"/>
                </a:solidFill>
              </a:rPr>
              <a:t>)</a:t>
            </a:r>
            <a:r>
              <a:rPr lang="ko-KR" altLang="en-US" sz="1400" dirty="0">
                <a:solidFill>
                  <a:schemeClr val="tx2"/>
                </a:solidFill>
              </a:rPr>
              <a:t>로부터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2</a:t>
            </a:r>
            <a:r>
              <a:rPr lang="ko-KR" altLang="en-US" sz="1400" dirty="0">
                <a:solidFill>
                  <a:schemeClr val="tx2"/>
                </a:solidFill>
              </a:rPr>
              <a:t>개월이 되는 날</a:t>
            </a:r>
            <a:r>
              <a:rPr lang="en-US" altLang="ko-KR" sz="1400" dirty="0">
                <a:solidFill>
                  <a:schemeClr val="tx2"/>
                </a:solidFill>
              </a:rPr>
              <a:t>(</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기한 이전에 </a:t>
            </a:r>
            <a:r>
              <a:rPr lang="ko-KR" altLang="en-US" sz="1400" dirty="0" err="1">
                <a:solidFill>
                  <a:schemeClr val="tx2"/>
                </a:solidFill>
              </a:rPr>
              <a:t>출원심사</a:t>
            </a:r>
            <a:r>
              <a:rPr lang="ko-KR" altLang="en-US" sz="1400" dirty="0">
                <a:solidFill>
                  <a:schemeClr val="tx2"/>
                </a:solidFill>
              </a:rPr>
              <a:t> 청구의 취지를 통지</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60③)</a:t>
            </a:r>
            <a:r>
              <a:rPr lang="ko-KR" altLang="en-US" sz="1400" dirty="0">
                <a:solidFill>
                  <a:schemeClr val="tx2"/>
                </a:solidFill>
              </a:rPr>
              <a:t>받은 경우에는 그 통지를 받은 날부터 </a:t>
            </a:r>
            <a:r>
              <a:rPr lang="en-US" altLang="ko-KR" sz="1400" dirty="0">
                <a:solidFill>
                  <a:schemeClr val="tx2"/>
                </a:solidFill>
              </a:rPr>
              <a:t>3</a:t>
            </a:r>
            <a:r>
              <a:rPr lang="ko-KR" altLang="en-US" sz="1400" dirty="0">
                <a:solidFill>
                  <a:schemeClr val="tx2"/>
                </a:solidFill>
              </a:rPr>
              <a:t>개월이 되는 날 또는 출원일</a:t>
            </a:r>
            <a:r>
              <a:rPr lang="en-US" altLang="ko-KR" sz="1400" dirty="0">
                <a:solidFill>
                  <a:schemeClr val="tx2"/>
                </a:solidFill>
              </a:rPr>
              <a:t>(</a:t>
            </a:r>
            <a:r>
              <a:rPr lang="ko-KR" altLang="en-US" sz="1400" dirty="0">
                <a:solidFill>
                  <a:schemeClr val="tx2"/>
                </a:solidFill>
              </a:rPr>
              <a:t>우선권주장의 경우 최우선일</a:t>
            </a:r>
            <a:r>
              <a:rPr lang="en-US" altLang="ko-KR" sz="1400" dirty="0">
                <a:solidFill>
                  <a:schemeClr val="tx2"/>
                </a:solidFill>
              </a:rPr>
              <a:t>)</a:t>
            </a:r>
            <a:r>
              <a:rPr lang="ko-KR" altLang="en-US" sz="1400" dirty="0">
                <a:solidFill>
                  <a:schemeClr val="tx2"/>
                </a:solidFill>
              </a:rPr>
              <a:t>부터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2</a:t>
            </a:r>
            <a:r>
              <a:rPr lang="ko-KR" altLang="en-US" sz="1400" dirty="0">
                <a:solidFill>
                  <a:schemeClr val="tx2"/>
                </a:solidFill>
              </a:rPr>
              <a:t>개월이 되는 날 중 빠른 날</a:t>
            </a:r>
            <a:r>
              <a:rPr lang="en-US" altLang="ko-KR" sz="1400" dirty="0">
                <a:solidFill>
                  <a:schemeClr val="tx2"/>
                </a:solidFill>
              </a:rPr>
              <a:t>)</a:t>
            </a:r>
            <a:r>
              <a:rPr lang="ko-KR" altLang="en-US" sz="1400" dirty="0">
                <a:solidFill>
                  <a:schemeClr val="tx2"/>
                </a:solidFill>
              </a:rPr>
              <a:t>의 기한이 지난 후에도 </a:t>
            </a:r>
            <a:r>
              <a:rPr lang="ko-KR" altLang="en-US" sz="1400" dirty="0" err="1">
                <a:solidFill>
                  <a:schemeClr val="tx2"/>
                </a:solidFill>
              </a:rPr>
              <a:t>분할출원을</a:t>
            </a:r>
            <a:r>
              <a:rPr lang="ko-KR" altLang="en-US" sz="1400" dirty="0">
                <a:solidFill>
                  <a:schemeClr val="tx2"/>
                </a:solidFill>
              </a:rPr>
              <a:t> 한 날부터 </a:t>
            </a:r>
            <a:r>
              <a:rPr lang="en-US" altLang="ko-KR" sz="1400" dirty="0">
                <a:solidFill>
                  <a:schemeClr val="tx2"/>
                </a:solidFill>
              </a:rPr>
              <a:t>30</a:t>
            </a:r>
            <a:r>
              <a:rPr lang="ko-KR" altLang="en-US" sz="1400" dirty="0">
                <a:solidFill>
                  <a:schemeClr val="tx2"/>
                </a:solidFill>
              </a:rPr>
              <a:t>일이 되는 날까지는 제출할 수 있다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52⑤</a:t>
            </a:r>
            <a:r>
              <a:rPr lang="ko-KR" altLang="en-US" sz="1400" dirty="0">
                <a:solidFill>
                  <a:schemeClr val="tx2"/>
                </a:solidFill>
              </a:rPr>
              <a:t>본문</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다음의 어느 하나에 해당하는 경우에는 새로운 국어번역문을 제출할 수 없다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52⑤</a:t>
            </a:r>
            <a:r>
              <a:rPr lang="ko-KR" altLang="en-US" sz="1400" dirty="0">
                <a:solidFill>
                  <a:schemeClr val="tx2"/>
                </a:solidFill>
              </a:rPr>
              <a:t>단서</a:t>
            </a:r>
            <a:r>
              <a:rPr lang="en-US" altLang="ko-KR" sz="1400" dirty="0">
                <a:solidFill>
                  <a:schemeClr val="tx2"/>
                </a:solidFill>
              </a:rPr>
              <a:t>).</a:t>
            </a:r>
          </a:p>
          <a:p>
            <a:pPr fontAlgn="base"/>
            <a:r>
              <a:rPr lang="en-US" altLang="ko-KR" sz="1400" dirty="0">
                <a:solidFill>
                  <a:schemeClr val="tx2"/>
                </a:solidFill>
              </a:rPr>
              <a:t>  ⅰ) </a:t>
            </a:r>
            <a:r>
              <a:rPr lang="ko-KR" altLang="en-US" sz="1400" dirty="0">
                <a:solidFill>
                  <a:schemeClr val="tx2"/>
                </a:solidFill>
              </a:rPr>
              <a:t>명세서 또는 도면을 보정</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42</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제</a:t>
            </a:r>
            <a:r>
              <a:rPr lang="en-US" altLang="ko-KR" sz="1400" dirty="0">
                <a:solidFill>
                  <a:schemeClr val="tx2"/>
                </a:solidFill>
              </a:rPr>
              <a:t>5</a:t>
            </a:r>
            <a:r>
              <a:rPr lang="ko-KR" altLang="en-US" sz="1400" dirty="0">
                <a:solidFill>
                  <a:schemeClr val="tx2"/>
                </a:solidFill>
              </a:rPr>
              <a:t>항에 따라 보정한 것으로 보는 경우는 제외한다</a:t>
            </a:r>
            <a:r>
              <a:rPr lang="en-US" altLang="ko-KR" sz="1400" dirty="0">
                <a:solidFill>
                  <a:schemeClr val="tx2"/>
                </a:solidFill>
              </a:rPr>
              <a:t>)</a:t>
            </a:r>
            <a:r>
              <a:rPr lang="ko-KR" altLang="en-US" sz="1400" dirty="0">
                <a:solidFill>
                  <a:schemeClr val="tx2"/>
                </a:solidFill>
              </a:rPr>
              <a:t>한 경우</a:t>
            </a:r>
          </a:p>
          <a:p>
            <a:pPr fontAlgn="base"/>
            <a:r>
              <a:rPr lang="ko-KR" altLang="en-US" sz="1400" dirty="0">
                <a:solidFill>
                  <a:schemeClr val="tx2"/>
                </a:solidFill>
              </a:rPr>
              <a:t>  </a:t>
            </a:r>
            <a:r>
              <a:rPr lang="en-US" altLang="ko-KR" sz="1400" dirty="0">
                <a:solidFill>
                  <a:schemeClr val="tx2"/>
                </a:solidFill>
              </a:rPr>
              <a:t>ⅱ) </a:t>
            </a:r>
            <a:r>
              <a:rPr lang="ko-KR" altLang="en-US" sz="1400" dirty="0">
                <a:solidFill>
                  <a:schemeClr val="tx2"/>
                </a:solidFill>
              </a:rPr>
              <a:t>특허출원인이 </a:t>
            </a:r>
            <a:r>
              <a:rPr lang="ko-KR" altLang="en-US" sz="1400" dirty="0" err="1">
                <a:solidFill>
                  <a:schemeClr val="tx2"/>
                </a:solidFill>
              </a:rPr>
              <a:t>출원심사의</a:t>
            </a:r>
            <a:r>
              <a:rPr lang="ko-KR" altLang="en-US" sz="1400" dirty="0">
                <a:solidFill>
                  <a:schemeClr val="tx2"/>
                </a:solidFill>
              </a:rPr>
              <a:t> 청구를 한 경우</a:t>
            </a:r>
            <a:endParaRPr lang="en-US" altLang="ko-KR" sz="1400" dirty="0">
              <a:solidFill>
                <a:schemeClr val="tx2"/>
              </a:solidFill>
            </a:endParaRPr>
          </a:p>
        </p:txBody>
      </p:sp>
      <p:cxnSp>
        <p:nvCxnSpPr>
          <p:cNvPr id="56" name="직선 연결선 55"/>
          <p:cNvCxnSpPr/>
          <p:nvPr/>
        </p:nvCxnSpPr>
        <p:spPr>
          <a:xfrm>
            <a:off x="0" y="267672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자유형 56"/>
          <p:cNvSpPr/>
          <p:nvPr/>
        </p:nvSpPr>
        <p:spPr>
          <a:xfrm>
            <a:off x="7570858" y="3905991"/>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ltHorz">
            <a:fgClr>
              <a:schemeClr val="accent4"/>
            </a:fgClr>
            <a:bgClr>
              <a:schemeClr val="bg1"/>
            </a:bgClr>
          </a:pattFill>
          <a:ln>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altLang="ko-KR" dirty="0">
                <a:solidFill>
                  <a:schemeClr val="accent2">
                    <a:lumMod val="50000"/>
                  </a:schemeClr>
                </a:solidFill>
              </a:rPr>
              <a:t>30</a:t>
            </a:r>
            <a:r>
              <a:rPr lang="ko-KR" altLang="en-US" dirty="0">
                <a:solidFill>
                  <a:schemeClr val="accent2">
                    <a:lumMod val="50000"/>
                  </a:schemeClr>
                </a:solidFill>
              </a:rPr>
              <a:t>일</a:t>
            </a:r>
          </a:p>
        </p:txBody>
      </p:sp>
      <p:cxnSp>
        <p:nvCxnSpPr>
          <p:cNvPr id="58" name="직선 연결선 57"/>
          <p:cNvCxnSpPr/>
          <p:nvPr/>
        </p:nvCxnSpPr>
        <p:spPr>
          <a:xfrm>
            <a:off x="6438900" y="3885567"/>
            <a:ext cx="538480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직사각형 58"/>
          <p:cNvSpPr/>
          <p:nvPr/>
        </p:nvSpPr>
        <p:spPr>
          <a:xfrm>
            <a:off x="6334976" y="4168415"/>
            <a:ext cx="813575" cy="33871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특허출원</a:t>
            </a:r>
          </a:p>
        </p:txBody>
      </p:sp>
      <p:cxnSp>
        <p:nvCxnSpPr>
          <p:cNvPr id="60" name="직선 화살표 연결선 59"/>
          <p:cNvCxnSpPr>
            <a:stCxn id="59" idx="0"/>
          </p:cNvCxnSpPr>
          <p:nvPr/>
        </p:nvCxnSpPr>
        <p:spPr>
          <a:xfrm flipV="1">
            <a:off x="6741763" y="3885569"/>
            <a:ext cx="0" cy="282846"/>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TextBox 61"/>
          <p:cNvSpPr txBox="1"/>
          <p:nvPr/>
        </p:nvSpPr>
        <p:spPr>
          <a:xfrm>
            <a:off x="6755317" y="3020721"/>
            <a:ext cx="2451312" cy="461665"/>
          </a:xfrm>
          <a:prstGeom prst="rect">
            <a:avLst/>
          </a:prstGeom>
          <a:solidFill>
            <a:schemeClr val="bg1"/>
          </a:solidFill>
        </p:spPr>
        <p:txBody>
          <a:bodyPr wrap="none" rtlCol="0">
            <a:spAutoFit/>
          </a:bodyPr>
          <a:lstStyle/>
          <a:p>
            <a:pPr algn="ctr"/>
            <a:r>
              <a:rPr lang="ko-KR" altLang="en-US" sz="1200" dirty="0"/>
              <a:t>일반적인 제출기간</a:t>
            </a:r>
            <a:endParaRPr lang="en-US" altLang="ko-KR" sz="1200" dirty="0"/>
          </a:p>
          <a:p>
            <a:pPr algn="ctr"/>
            <a:r>
              <a:rPr lang="en-US" altLang="ko-KR" sz="1200" dirty="0"/>
              <a:t>(</a:t>
            </a:r>
            <a:r>
              <a:rPr lang="ko-KR" altLang="en-US" sz="1200" dirty="0"/>
              <a:t>제</a:t>
            </a:r>
            <a:r>
              <a:rPr lang="en-US" altLang="ko-KR" sz="1200" dirty="0"/>
              <a:t>42</a:t>
            </a:r>
            <a:r>
              <a:rPr lang="ko-KR" altLang="en-US" sz="1200" dirty="0"/>
              <a:t>조의</a:t>
            </a:r>
            <a:r>
              <a:rPr lang="en-US" altLang="ko-KR" sz="1200" dirty="0"/>
              <a:t>3</a:t>
            </a:r>
            <a:r>
              <a:rPr lang="ko-KR" altLang="en-US" sz="1200" dirty="0"/>
              <a:t>제</a:t>
            </a:r>
            <a:r>
              <a:rPr lang="en-US" altLang="ko-KR" sz="1200" dirty="0"/>
              <a:t>2</a:t>
            </a:r>
            <a:r>
              <a:rPr lang="ko-KR" altLang="en-US" sz="1200" dirty="0"/>
              <a:t>항 본문</a:t>
            </a:r>
            <a:r>
              <a:rPr lang="en-US" altLang="ko-KR" sz="1200" dirty="0"/>
              <a:t>+</a:t>
            </a:r>
            <a:r>
              <a:rPr lang="ko-KR" altLang="en-US" sz="1200" dirty="0"/>
              <a:t>단서</a:t>
            </a:r>
            <a:r>
              <a:rPr lang="en-US" altLang="ko-KR" sz="1200" dirty="0"/>
              <a:t>, </a:t>
            </a:r>
            <a:r>
              <a:rPr lang="ko-KR" altLang="en-US" sz="1200" dirty="0"/>
              <a:t>제</a:t>
            </a:r>
            <a:r>
              <a:rPr lang="en-US" altLang="ko-KR" sz="1200" dirty="0"/>
              <a:t>3</a:t>
            </a:r>
            <a:r>
              <a:rPr lang="ko-KR" altLang="en-US" sz="1200" dirty="0"/>
              <a:t>항</a:t>
            </a:r>
            <a:r>
              <a:rPr lang="en-US" altLang="ko-KR" sz="1200" dirty="0"/>
              <a:t>)</a:t>
            </a:r>
            <a:endParaRPr lang="ko-KR" altLang="en-US" sz="1200" dirty="0"/>
          </a:p>
        </p:txBody>
      </p:sp>
      <p:sp>
        <p:nvSpPr>
          <p:cNvPr id="63" name="직사각형 62"/>
          <p:cNvSpPr/>
          <p:nvPr/>
        </p:nvSpPr>
        <p:spPr>
          <a:xfrm>
            <a:off x="7146399" y="4778021"/>
            <a:ext cx="813575" cy="685339"/>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외국어</a:t>
            </a:r>
            <a:endParaRPr lang="en-US" altLang="ko-KR" sz="1200" dirty="0">
              <a:solidFill>
                <a:schemeClr val="tx1"/>
              </a:solidFill>
            </a:endParaRPr>
          </a:p>
          <a:p>
            <a:pPr algn="ctr"/>
            <a:r>
              <a:rPr lang="ko-KR" altLang="en-US" sz="1200" dirty="0" err="1">
                <a:solidFill>
                  <a:schemeClr val="tx1"/>
                </a:solidFill>
              </a:rPr>
              <a:t>분할출원</a:t>
            </a:r>
            <a:endParaRPr lang="en-US" altLang="ko-KR" sz="1200" dirty="0">
              <a:solidFill>
                <a:schemeClr val="tx1"/>
              </a:solidFill>
            </a:endParaRPr>
          </a:p>
        </p:txBody>
      </p:sp>
      <p:cxnSp>
        <p:nvCxnSpPr>
          <p:cNvPr id="64" name="직선 화살표 연결선 63"/>
          <p:cNvCxnSpPr>
            <a:stCxn id="63" idx="0"/>
          </p:cNvCxnSpPr>
          <p:nvPr/>
        </p:nvCxnSpPr>
        <p:spPr>
          <a:xfrm flipH="1" flipV="1">
            <a:off x="7544390" y="3914457"/>
            <a:ext cx="8797" cy="863564"/>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6" name="직사각형 65"/>
          <p:cNvSpPr/>
          <p:nvPr/>
        </p:nvSpPr>
        <p:spPr>
          <a:xfrm>
            <a:off x="8809899" y="4794979"/>
            <a:ext cx="813575" cy="66838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외국어</a:t>
            </a:r>
            <a:endParaRPr lang="en-US" altLang="ko-KR" sz="1200" dirty="0">
              <a:solidFill>
                <a:schemeClr val="tx1"/>
              </a:solidFill>
            </a:endParaRPr>
          </a:p>
          <a:p>
            <a:pPr algn="ctr"/>
            <a:r>
              <a:rPr lang="ko-KR" altLang="en-US" sz="1200" dirty="0" err="1">
                <a:solidFill>
                  <a:schemeClr val="tx1"/>
                </a:solidFill>
              </a:rPr>
              <a:t>분할출원</a:t>
            </a:r>
            <a:endParaRPr lang="en-US" altLang="ko-KR" sz="1200" dirty="0">
              <a:solidFill>
                <a:schemeClr val="tx1"/>
              </a:solidFill>
            </a:endParaRPr>
          </a:p>
        </p:txBody>
      </p:sp>
      <p:cxnSp>
        <p:nvCxnSpPr>
          <p:cNvPr id="67" name="직선 화살표 연결선 66"/>
          <p:cNvCxnSpPr>
            <a:stCxn id="66" idx="0"/>
          </p:cNvCxnSpPr>
          <p:nvPr/>
        </p:nvCxnSpPr>
        <p:spPr>
          <a:xfrm flipV="1">
            <a:off x="9216686" y="3885570"/>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8" name="자유형 67"/>
          <p:cNvSpPr/>
          <p:nvPr/>
        </p:nvSpPr>
        <p:spPr>
          <a:xfrm>
            <a:off x="9216686" y="3905991"/>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ltHorz">
            <a:fgClr>
              <a:schemeClr val="accent4"/>
            </a:fgClr>
            <a:bgClr>
              <a:schemeClr val="bg1"/>
            </a:bgClr>
          </a:pattFill>
          <a:ln>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altLang="ko-KR" dirty="0">
                <a:solidFill>
                  <a:schemeClr val="accent2">
                    <a:lumMod val="50000"/>
                  </a:schemeClr>
                </a:solidFill>
              </a:rPr>
              <a:t>30</a:t>
            </a:r>
            <a:r>
              <a:rPr lang="ko-KR" altLang="en-US" dirty="0">
                <a:solidFill>
                  <a:schemeClr val="accent2">
                    <a:lumMod val="50000"/>
                  </a:schemeClr>
                </a:solidFill>
              </a:rPr>
              <a:t>일</a:t>
            </a:r>
          </a:p>
        </p:txBody>
      </p:sp>
      <p:sp>
        <p:nvSpPr>
          <p:cNvPr id="69" name="TextBox 68"/>
          <p:cNvSpPr txBox="1"/>
          <p:nvPr/>
        </p:nvSpPr>
        <p:spPr>
          <a:xfrm>
            <a:off x="9031251" y="4425647"/>
            <a:ext cx="370870" cy="369332"/>
          </a:xfrm>
          <a:prstGeom prst="rect">
            <a:avLst/>
          </a:prstGeom>
          <a:noFill/>
        </p:spPr>
        <p:txBody>
          <a:bodyPr wrap="square" rtlCol="0">
            <a:spAutoFit/>
          </a:bodyPr>
          <a:lstStyle/>
          <a:p>
            <a:pPr fontAlgn="base"/>
            <a:r>
              <a:rPr lang="ko-KR" altLang="en-US" dirty="0">
                <a:solidFill>
                  <a:srgbClr val="FF0000"/>
                </a:solidFill>
              </a:rPr>
              <a:t>❷</a:t>
            </a:r>
          </a:p>
        </p:txBody>
      </p:sp>
      <p:sp>
        <p:nvSpPr>
          <p:cNvPr id="72" name="TextBox 71"/>
          <p:cNvSpPr txBox="1"/>
          <p:nvPr/>
        </p:nvSpPr>
        <p:spPr>
          <a:xfrm>
            <a:off x="7358955" y="4392822"/>
            <a:ext cx="370870" cy="369332"/>
          </a:xfrm>
          <a:prstGeom prst="rect">
            <a:avLst/>
          </a:prstGeom>
          <a:noFill/>
        </p:spPr>
        <p:txBody>
          <a:bodyPr wrap="square" rtlCol="0">
            <a:spAutoFit/>
          </a:bodyPr>
          <a:lstStyle/>
          <a:p>
            <a:pPr fontAlgn="base"/>
            <a:r>
              <a:rPr lang="ko-KR" altLang="en-US" dirty="0">
                <a:solidFill>
                  <a:srgbClr val="FF0000"/>
                </a:solidFill>
              </a:rPr>
              <a:t>❶</a:t>
            </a:r>
          </a:p>
        </p:txBody>
      </p:sp>
      <p:sp>
        <p:nvSpPr>
          <p:cNvPr id="73" name="TextBox 72"/>
          <p:cNvSpPr txBox="1"/>
          <p:nvPr/>
        </p:nvSpPr>
        <p:spPr>
          <a:xfrm>
            <a:off x="9316684" y="3695924"/>
            <a:ext cx="370870" cy="369332"/>
          </a:xfrm>
          <a:prstGeom prst="rect">
            <a:avLst/>
          </a:prstGeom>
          <a:noFill/>
        </p:spPr>
        <p:txBody>
          <a:bodyPr wrap="square" rtlCol="0">
            <a:spAutoFit/>
          </a:bodyPr>
          <a:lstStyle/>
          <a:p>
            <a:pPr fontAlgn="base"/>
            <a:r>
              <a:rPr lang="ko-KR" altLang="en-US" dirty="0">
                <a:solidFill>
                  <a:srgbClr val="FF0000"/>
                </a:solidFill>
              </a:rPr>
              <a:t>❶</a:t>
            </a:r>
          </a:p>
        </p:txBody>
      </p:sp>
      <p:sp>
        <p:nvSpPr>
          <p:cNvPr id="80" name="TextBox 79"/>
          <p:cNvSpPr txBox="1"/>
          <p:nvPr/>
        </p:nvSpPr>
        <p:spPr>
          <a:xfrm>
            <a:off x="9899360" y="3704634"/>
            <a:ext cx="370870" cy="369332"/>
          </a:xfrm>
          <a:prstGeom prst="rect">
            <a:avLst/>
          </a:prstGeom>
          <a:noFill/>
        </p:spPr>
        <p:txBody>
          <a:bodyPr wrap="square" rtlCol="0">
            <a:spAutoFit/>
          </a:bodyPr>
          <a:lstStyle/>
          <a:p>
            <a:pPr fontAlgn="base"/>
            <a:r>
              <a:rPr lang="ko-KR" altLang="en-US" dirty="0">
                <a:solidFill>
                  <a:srgbClr val="FF0000"/>
                </a:solidFill>
              </a:rPr>
              <a:t>❷</a:t>
            </a:r>
          </a:p>
        </p:txBody>
      </p:sp>
      <p:sp>
        <p:nvSpPr>
          <p:cNvPr id="81" name="직사각형 80"/>
          <p:cNvSpPr/>
          <p:nvPr/>
        </p:nvSpPr>
        <p:spPr>
          <a:xfrm>
            <a:off x="10132641" y="4794979"/>
            <a:ext cx="813575" cy="66838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외국어</a:t>
            </a:r>
            <a:endParaRPr lang="en-US" altLang="ko-KR" sz="1200" dirty="0">
              <a:solidFill>
                <a:schemeClr val="tx1"/>
              </a:solidFill>
            </a:endParaRPr>
          </a:p>
          <a:p>
            <a:pPr algn="ctr"/>
            <a:r>
              <a:rPr lang="ko-KR" altLang="en-US" sz="1200" dirty="0" err="1">
                <a:solidFill>
                  <a:schemeClr val="tx1"/>
                </a:solidFill>
              </a:rPr>
              <a:t>분할출원</a:t>
            </a:r>
            <a:endParaRPr lang="en-US" altLang="ko-KR" sz="1200" dirty="0">
              <a:solidFill>
                <a:schemeClr val="tx1"/>
              </a:solidFill>
            </a:endParaRPr>
          </a:p>
        </p:txBody>
      </p:sp>
      <p:cxnSp>
        <p:nvCxnSpPr>
          <p:cNvPr id="82" name="직선 화살표 연결선 81"/>
          <p:cNvCxnSpPr>
            <a:stCxn id="81" idx="0"/>
          </p:cNvCxnSpPr>
          <p:nvPr/>
        </p:nvCxnSpPr>
        <p:spPr>
          <a:xfrm flipV="1">
            <a:off x="10539428" y="3885570"/>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3" name="자유형 82"/>
          <p:cNvSpPr/>
          <p:nvPr/>
        </p:nvSpPr>
        <p:spPr>
          <a:xfrm>
            <a:off x="10539428" y="3905991"/>
            <a:ext cx="840132" cy="465666"/>
          </a:xfrm>
          <a:custGeom>
            <a:avLst/>
            <a:gdLst>
              <a:gd name="connsiteX0" fmla="*/ 0 w 939800"/>
              <a:gd name="connsiteY0" fmla="*/ 8466 h 465666"/>
              <a:gd name="connsiteX1" fmla="*/ 135466 w 939800"/>
              <a:gd name="connsiteY1" fmla="*/ 465666 h 465666"/>
              <a:gd name="connsiteX2" fmla="*/ 804333 w 939800"/>
              <a:gd name="connsiteY2" fmla="*/ 465666 h 465666"/>
              <a:gd name="connsiteX3" fmla="*/ 939800 w 939800"/>
              <a:gd name="connsiteY3" fmla="*/ 0 h 465666"/>
            </a:gdLst>
            <a:ahLst/>
            <a:cxnLst>
              <a:cxn ang="0">
                <a:pos x="connsiteX0" y="connsiteY0"/>
              </a:cxn>
              <a:cxn ang="0">
                <a:pos x="connsiteX1" y="connsiteY1"/>
              </a:cxn>
              <a:cxn ang="0">
                <a:pos x="connsiteX2" y="connsiteY2"/>
              </a:cxn>
              <a:cxn ang="0">
                <a:pos x="connsiteX3" y="connsiteY3"/>
              </a:cxn>
            </a:cxnLst>
            <a:rect l="l" t="t" r="r" b="b"/>
            <a:pathLst>
              <a:path w="939800" h="465666">
                <a:moveTo>
                  <a:pt x="0" y="8466"/>
                </a:moveTo>
                <a:lnTo>
                  <a:pt x="135466" y="465666"/>
                </a:lnTo>
                <a:lnTo>
                  <a:pt x="804333" y="465666"/>
                </a:lnTo>
                <a:lnTo>
                  <a:pt x="939800" y="0"/>
                </a:lnTo>
              </a:path>
            </a:pathLst>
          </a:custGeom>
          <a:pattFill prst="ltHorz">
            <a:fgClr>
              <a:schemeClr val="accent4"/>
            </a:fgClr>
            <a:bgClr>
              <a:schemeClr val="bg1"/>
            </a:bgClr>
          </a:pattFill>
          <a:ln>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en-US" altLang="ko-KR" dirty="0">
                <a:solidFill>
                  <a:schemeClr val="accent2">
                    <a:lumMod val="50000"/>
                  </a:schemeClr>
                </a:solidFill>
              </a:rPr>
              <a:t>30</a:t>
            </a:r>
            <a:r>
              <a:rPr lang="ko-KR" altLang="en-US" dirty="0">
                <a:solidFill>
                  <a:schemeClr val="accent2">
                    <a:lumMod val="50000"/>
                  </a:schemeClr>
                </a:solidFill>
              </a:rPr>
              <a:t>일</a:t>
            </a:r>
          </a:p>
        </p:txBody>
      </p:sp>
      <p:sp>
        <p:nvSpPr>
          <p:cNvPr id="88" name="TextBox 87"/>
          <p:cNvSpPr txBox="1"/>
          <p:nvPr/>
        </p:nvSpPr>
        <p:spPr>
          <a:xfrm>
            <a:off x="10353993" y="4425647"/>
            <a:ext cx="370870" cy="369332"/>
          </a:xfrm>
          <a:prstGeom prst="rect">
            <a:avLst/>
          </a:prstGeom>
          <a:noFill/>
        </p:spPr>
        <p:txBody>
          <a:bodyPr wrap="square" rtlCol="0">
            <a:spAutoFit/>
          </a:bodyPr>
          <a:lstStyle/>
          <a:p>
            <a:pPr fontAlgn="base"/>
            <a:r>
              <a:rPr lang="ko-KR" altLang="en-US" dirty="0">
                <a:solidFill>
                  <a:srgbClr val="FF0000"/>
                </a:solidFill>
              </a:rPr>
              <a:t>❸</a:t>
            </a:r>
          </a:p>
        </p:txBody>
      </p:sp>
      <p:sp>
        <p:nvSpPr>
          <p:cNvPr id="93" name="TextBox 92"/>
          <p:cNvSpPr txBox="1"/>
          <p:nvPr/>
        </p:nvSpPr>
        <p:spPr>
          <a:xfrm>
            <a:off x="11199404" y="3695864"/>
            <a:ext cx="370870" cy="369332"/>
          </a:xfrm>
          <a:prstGeom prst="rect">
            <a:avLst/>
          </a:prstGeom>
          <a:noFill/>
        </p:spPr>
        <p:txBody>
          <a:bodyPr wrap="square" rtlCol="0">
            <a:spAutoFit/>
          </a:bodyPr>
          <a:lstStyle/>
          <a:p>
            <a:pPr fontAlgn="base"/>
            <a:r>
              <a:rPr lang="ko-KR" altLang="en-US" dirty="0">
                <a:solidFill>
                  <a:srgbClr val="FF0000"/>
                </a:solidFill>
              </a:rPr>
              <a:t>❸</a:t>
            </a:r>
          </a:p>
        </p:txBody>
      </p:sp>
      <p:sp>
        <p:nvSpPr>
          <p:cNvPr id="161" name="양쪽 모서리가 둥근 사각형 160"/>
          <p:cNvSpPr/>
          <p:nvPr/>
        </p:nvSpPr>
        <p:spPr>
          <a:xfrm>
            <a:off x="758841" y="3520830"/>
            <a:ext cx="2739071" cy="363303"/>
          </a:xfrm>
          <a:prstGeom prst="round2SameRect">
            <a:avLst>
              <a:gd name="adj1" fmla="val 50000"/>
              <a:gd name="adj2" fmla="val 0"/>
            </a:avLst>
          </a:prstGeom>
          <a:pattFill prst="dot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3" name="직선 연결선 162"/>
          <p:cNvCxnSpPr/>
          <p:nvPr/>
        </p:nvCxnSpPr>
        <p:spPr>
          <a:xfrm>
            <a:off x="455978" y="3885567"/>
            <a:ext cx="538480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4" name="직사각형 163"/>
          <p:cNvSpPr/>
          <p:nvPr/>
        </p:nvSpPr>
        <p:spPr>
          <a:xfrm>
            <a:off x="352054" y="4168414"/>
            <a:ext cx="813575" cy="59373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외국어</a:t>
            </a:r>
            <a:endParaRPr lang="en-US" altLang="ko-KR" sz="1200" dirty="0">
              <a:solidFill>
                <a:schemeClr val="tx1"/>
              </a:solidFill>
            </a:endParaRPr>
          </a:p>
          <a:p>
            <a:pPr algn="ctr"/>
            <a:r>
              <a:rPr lang="ko-KR" altLang="en-US" sz="1200" dirty="0">
                <a:solidFill>
                  <a:schemeClr val="tx1"/>
                </a:solidFill>
              </a:rPr>
              <a:t>특허출원</a:t>
            </a:r>
          </a:p>
        </p:txBody>
      </p:sp>
      <p:cxnSp>
        <p:nvCxnSpPr>
          <p:cNvPr id="165" name="직선 화살표 연결선 164"/>
          <p:cNvCxnSpPr>
            <a:stCxn id="164" idx="0"/>
          </p:cNvCxnSpPr>
          <p:nvPr/>
        </p:nvCxnSpPr>
        <p:spPr>
          <a:xfrm flipV="1">
            <a:off x="758842" y="3885570"/>
            <a:ext cx="0" cy="282844"/>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6" name="TextBox 165"/>
          <p:cNvSpPr txBox="1"/>
          <p:nvPr/>
        </p:nvSpPr>
        <p:spPr>
          <a:xfrm>
            <a:off x="772395" y="3020721"/>
            <a:ext cx="2451312" cy="461665"/>
          </a:xfrm>
          <a:prstGeom prst="rect">
            <a:avLst/>
          </a:prstGeom>
          <a:solidFill>
            <a:schemeClr val="bg1"/>
          </a:solidFill>
        </p:spPr>
        <p:txBody>
          <a:bodyPr wrap="none" rtlCol="0">
            <a:spAutoFit/>
          </a:bodyPr>
          <a:lstStyle/>
          <a:p>
            <a:pPr algn="ctr"/>
            <a:r>
              <a:rPr lang="ko-KR" altLang="en-US" sz="1200" dirty="0"/>
              <a:t>일반적인 제출기간</a:t>
            </a:r>
            <a:endParaRPr lang="en-US" altLang="ko-KR" sz="1200" dirty="0"/>
          </a:p>
          <a:p>
            <a:pPr algn="ctr"/>
            <a:r>
              <a:rPr lang="en-US" altLang="ko-KR" sz="1200" dirty="0"/>
              <a:t>(</a:t>
            </a:r>
            <a:r>
              <a:rPr lang="ko-KR" altLang="en-US" sz="1200" dirty="0"/>
              <a:t>제</a:t>
            </a:r>
            <a:r>
              <a:rPr lang="en-US" altLang="ko-KR" sz="1200" dirty="0"/>
              <a:t>42</a:t>
            </a:r>
            <a:r>
              <a:rPr lang="ko-KR" altLang="en-US" sz="1200" dirty="0"/>
              <a:t>조의</a:t>
            </a:r>
            <a:r>
              <a:rPr lang="en-US" altLang="ko-KR" sz="1200" dirty="0"/>
              <a:t>3</a:t>
            </a:r>
            <a:r>
              <a:rPr lang="ko-KR" altLang="en-US" sz="1200" dirty="0"/>
              <a:t>제</a:t>
            </a:r>
            <a:r>
              <a:rPr lang="en-US" altLang="ko-KR" sz="1200" dirty="0"/>
              <a:t>2</a:t>
            </a:r>
            <a:r>
              <a:rPr lang="ko-KR" altLang="en-US" sz="1200" dirty="0"/>
              <a:t>항 본문</a:t>
            </a:r>
            <a:r>
              <a:rPr lang="en-US" altLang="ko-KR" sz="1200" dirty="0"/>
              <a:t>+</a:t>
            </a:r>
            <a:r>
              <a:rPr lang="ko-KR" altLang="en-US" sz="1200" dirty="0"/>
              <a:t>단서</a:t>
            </a:r>
            <a:r>
              <a:rPr lang="en-US" altLang="ko-KR" sz="1200" dirty="0"/>
              <a:t>, </a:t>
            </a:r>
            <a:r>
              <a:rPr lang="ko-KR" altLang="en-US" sz="1200" dirty="0"/>
              <a:t>제</a:t>
            </a:r>
            <a:r>
              <a:rPr lang="en-US" altLang="ko-KR" sz="1200" dirty="0"/>
              <a:t>3</a:t>
            </a:r>
            <a:r>
              <a:rPr lang="ko-KR" altLang="en-US" sz="1200" dirty="0"/>
              <a:t>항</a:t>
            </a:r>
            <a:r>
              <a:rPr lang="en-US" altLang="ko-KR" sz="1200" dirty="0"/>
              <a:t>)</a:t>
            </a:r>
            <a:endParaRPr lang="ko-KR" altLang="en-US" sz="1200" dirty="0"/>
          </a:p>
        </p:txBody>
      </p:sp>
      <p:sp>
        <p:nvSpPr>
          <p:cNvPr id="176" name="직사각형 175"/>
          <p:cNvSpPr/>
          <p:nvPr/>
        </p:nvSpPr>
        <p:spPr>
          <a:xfrm>
            <a:off x="4149719" y="4794979"/>
            <a:ext cx="813575" cy="66838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분할출원</a:t>
            </a:r>
            <a:endParaRPr lang="en-US" altLang="ko-KR" sz="1200" dirty="0">
              <a:solidFill>
                <a:schemeClr val="tx1"/>
              </a:solidFill>
            </a:endParaRPr>
          </a:p>
        </p:txBody>
      </p:sp>
      <p:cxnSp>
        <p:nvCxnSpPr>
          <p:cNvPr id="177" name="직선 화살표 연결선 176"/>
          <p:cNvCxnSpPr>
            <a:stCxn id="176" idx="0"/>
          </p:cNvCxnSpPr>
          <p:nvPr/>
        </p:nvCxnSpPr>
        <p:spPr>
          <a:xfrm flipV="1">
            <a:off x="4556506" y="3885570"/>
            <a:ext cx="0" cy="90940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1" name="직사각형 180"/>
          <p:cNvSpPr/>
          <p:nvPr/>
        </p:nvSpPr>
        <p:spPr>
          <a:xfrm>
            <a:off x="2128787" y="4168414"/>
            <a:ext cx="813575" cy="59373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번역문</a:t>
            </a:r>
            <a:endParaRPr lang="en-US" altLang="ko-KR" sz="1200" dirty="0">
              <a:solidFill>
                <a:schemeClr val="tx1"/>
              </a:solidFill>
            </a:endParaRPr>
          </a:p>
          <a:p>
            <a:pPr algn="ctr"/>
            <a:r>
              <a:rPr lang="ko-KR" altLang="en-US" sz="1200" dirty="0">
                <a:solidFill>
                  <a:schemeClr val="tx1"/>
                </a:solidFill>
              </a:rPr>
              <a:t>제출</a:t>
            </a:r>
          </a:p>
        </p:txBody>
      </p:sp>
      <p:cxnSp>
        <p:nvCxnSpPr>
          <p:cNvPr id="182" name="직선 화살표 연결선 181"/>
          <p:cNvCxnSpPr>
            <a:stCxn id="181" idx="0"/>
          </p:cNvCxnSpPr>
          <p:nvPr/>
        </p:nvCxnSpPr>
        <p:spPr>
          <a:xfrm flipV="1">
            <a:off x="2535575" y="3885570"/>
            <a:ext cx="0" cy="282844"/>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직사각형 37"/>
          <p:cNvSpPr/>
          <p:nvPr/>
        </p:nvSpPr>
        <p:spPr>
          <a:xfrm>
            <a:off x="2992448"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보</a:t>
            </a:r>
          </a:p>
        </p:txBody>
      </p:sp>
      <p:sp>
        <p:nvSpPr>
          <p:cNvPr id="39" name="직사각형 38"/>
          <p:cNvSpPr/>
          <p:nvPr/>
        </p:nvSpPr>
        <p:spPr>
          <a:xfrm>
            <a:off x="3619201" y="6181761"/>
            <a:ext cx="514350" cy="514350"/>
          </a:xfrm>
          <a:prstGeom prst="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분</a:t>
            </a:r>
          </a:p>
        </p:txBody>
      </p:sp>
      <p:sp>
        <p:nvSpPr>
          <p:cNvPr id="40" name="직사각형 39"/>
          <p:cNvSpPr/>
          <p:nvPr/>
        </p:nvSpPr>
        <p:spPr>
          <a:xfrm>
            <a:off x="4245954"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변</a:t>
            </a:r>
          </a:p>
        </p:txBody>
      </p:sp>
      <p:sp>
        <p:nvSpPr>
          <p:cNvPr id="41" name="직사각형 40"/>
          <p:cNvSpPr/>
          <p:nvPr/>
        </p:nvSpPr>
        <p:spPr>
          <a:xfrm>
            <a:off x="4861758"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심</a:t>
            </a:r>
          </a:p>
        </p:txBody>
      </p:sp>
      <p:sp>
        <p:nvSpPr>
          <p:cNvPr id="42" name="직사각형 41"/>
          <p:cNvSpPr/>
          <p:nvPr/>
        </p:nvSpPr>
        <p:spPr>
          <a:xfrm>
            <a:off x="5452308"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공</a:t>
            </a:r>
          </a:p>
        </p:txBody>
      </p:sp>
      <p:sp>
        <p:nvSpPr>
          <p:cNvPr id="2" name="슬라이드 번호 개체 틀 1"/>
          <p:cNvSpPr>
            <a:spLocks noGrp="1"/>
          </p:cNvSpPr>
          <p:nvPr>
            <p:ph type="sldNum" sz="quarter" idx="12"/>
          </p:nvPr>
        </p:nvSpPr>
        <p:spPr/>
        <p:txBody>
          <a:bodyPr/>
          <a:lstStyle/>
          <a:p>
            <a:r>
              <a:rPr lang="en-US" altLang="ko-KR"/>
              <a:t>200</a:t>
            </a:r>
            <a:endParaRPr lang="ko-KR" altLang="en-US"/>
          </a:p>
        </p:txBody>
      </p:sp>
      <p:sp>
        <p:nvSpPr>
          <p:cNvPr id="45" name="직사각형 44">
            <a:extLst>
              <a:ext uri="{FF2B5EF4-FFF2-40B4-BE49-F238E27FC236}">
                <a16:creationId xmlns:a16="http://schemas.microsoft.com/office/drawing/2014/main" id="{432F5585-A439-4024-BBCC-BD51CFDB60B3}"/>
              </a:ext>
            </a:extLst>
          </p:cNvPr>
          <p:cNvSpPr/>
          <p:nvPr/>
        </p:nvSpPr>
        <p:spPr>
          <a:xfrm>
            <a:off x="10949552" y="6181761"/>
            <a:ext cx="514350" cy="514350"/>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dirty="0"/>
              <a:t>우</a:t>
            </a:r>
            <a:endParaRPr lang="en-US" altLang="ko-KR" dirty="0"/>
          </a:p>
          <a:p>
            <a:pPr algn="ctr"/>
            <a:r>
              <a:rPr lang="en-US" altLang="ko-KR" sz="1200" dirty="0"/>
              <a:t>(30</a:t>
            </a:r>
            <a:r>
              <a:rPr lang="ko-KR" altLang="en-US" sz="1200" dirty="0"/>
              <a:t>일</a:t>
            </a:r>
            <a:r>
              <a:rPr lang="en-US" altLang="ko-KR" sz="1200" dirty="0"/>
              <a:t>)</a:t>
            </a:r>
            <a:endParaRPr lang="ko-KR" altLang="en-US" dirty="0"/>
          </a:p>
        </p:txBody>
      </p:sp>
      <p:sp>
        <p:nvSpPr>
          <p:cNvPr id="46" name="직사각형 45">
            <a:extLst>
              <a:ext uri="{FF2B5EF4-FFF2-40B4-BE49-F238E27FC236}">
                <a16:creationId xmlns:a16="http://schemas.microsoft.com/office/drawing/2014/main" id="{11C5C1AE-34C9-4003-BAEF-AE133E80987D}"/>
              </a:ext>
            </a:extLst>
          </p:cNvPr>
          <p:cNvSpPr/>
          <p:nvPr/>
        </p:nvSpPr>
        <p:spPr>
          <a:xfrm>
            <a:off x="9779098" y="6181761"/>
            <a:ext cx="514350" cy="514350"/>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dirty="0"/>
              <a:t>번</a:t>
            </a:r>
            <a:endParaRPr lang="en-US" altLang="ko-KR" dirty="0"/>
          </a:p>
          <a:p>
            <a:pPr algn="ctr"/>
            <a:r>
              <a:rPr lang="en-US" altLang="ko-KR" sz="1200" dirty="0"/>
              <a:t>(30</a:t>
            </a:r>
            <a:r>
              <a:rPr lang="ko-KR" altLang="en-US" sz="1200" dirty="0"/>
              <a:t>일</a:t>
            </a:r>
            <a:r>
              <a:rPr lang="en-US" altLang="ko-KR" sz="1200" dirty="0"/>
              <a:t>)</a:t>
            </a:r>
          </a:p>
        </p:txBody>
      </p:sp>
      <p:sp>
        <p:nvSpPr>
          <p:cNvPr id="47" name="직사각형 46">
            <a:extLst>
              <a:ext uri="{FF2B5EF4-FFF2-40B4-BE49-F238E27FC236}">
                <a16:creationId xmlns:a16="http://schemas.microsoft.com/office/drawing/2014/main" id="{EB51DC4D-D4C9-4A80-8A8B-9E8C316FF9B3}"/>
              </a:ext>
            </a:extLst>
          </p:cNvPr>
          <p:cNvSpPr/>
          <p:nvPr/>
        </p:nvSpPr>
        <p:spPr>
          <a:xfrm>
            <a:off x="10366424" y="6181761"/>
            <a:ext cx="514350" cy="514350"/>
          </a:xfrm>
          <a:prstGeom prst="rect">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dirty="0"/>
              <a:t>조</a:t>
            </a:r>
            <a:endParaRPr lang="en-US" altLang="ko-KR" dirty="0"/>
          </a:p>
          <a:p>
            <a:pPr algn="ctr"/>
            <a:r>
              <a:rPr lang="en-US" altLang="ko-KR" sz="1200" dirty="0"/>
              <a:t>(3</a:t>
            </a:r>
            <a:r>
              <a:rPr lang="ko-KR" altLang="en-US" sz="1200" dirty="0"/>
              <a:t>개월</a:t>
            </a:r>
            <a:r>
              <a:rPr lang="en-US" altLang="ko-KR" sz="1200" dirty="0"/>
              <a:t>)</a:t>
            </a:r>
            <a:endParaRPr lang="ko-KR" altLang="en-US" dirty="0"/>
          </a:p>
        </p:txBody>
      </p:sp>
      <p:sp>
        <p:nvSpPr>
          <p:cNvPr id="48" name="직사각형 47">
            <a:extLst>
              <a:ext uri="{FF2B5EF4-FFF2-40B4-BE49-F238E27FC236}">
                <a16:creationId xmlns:a16="http://schemas.microsoft.com/office/drawing/2014/main" id="{DC122D52-973A-4FB1-BAAF-ECBDA5D2702D}"/>
              </a:ext>
            </a:extLst>
          </p:cNvPr>
          <p:cNvSpPr/>
          <p:nvPr/>
        </p:nvSpPr>
        <p:spPr>
          <a:xfrm>
            <a:off x="9192401" y="6181761"/>
            <a:ext cx="514350" cy="514350"/>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dirty="0"/>
              <a:t>청</a:t>
            </a:r>
            <a:endParaRPr lang="en-US" altLang="ko-KR" dirty="0"/>
          </a:p>
          <a:p>
            <a:pPr algn="ctr"/>
            <a:r>
              <a:rPr lang="en-US" altLang="ko-KR" sz="1200" dirty="0"/>
              <a:t>(30</a:t>
            </a:r>
            <a:r>
              <a:rPr lang="ko-KR" altLang="en-US" sz="1200" dirty="0"/>
              <a:t>일</a:t>
            </a:r>
            <a:r>
              <a:rPr lang="en-US" altLang="ko-KR" sz="1200" dirty="0"/>
              <a:t>)</a:t>
            </a:r>
            <a:endParaRPr lang="ko-KR" altLang="en-US" dirty="0"/>
          </a:p>
        </p:txBody>
      </p:sp>
      <p:sp>
        <p:nvSpPr>
          <p:cNvPr id="49" name="직사각형 48">
            <a:extLst>
              <a:ext uri="{FF2B5EF4-FFF2-40B4-BE49-F238E27FC236}">
                <a16:creationId xmlns:a16="http://schemas.microsoft.com/office/drawing/2014/main" id="{DD7AF2C5-240B-4F10-AEFD-32955E2988B6}"/>
              </a:ext>
            </a:extLst>
          </p:cNvPr>
          <p:cNvSpPr/>
          <p:nvPr/>
        </p:nvSpPr>
        <p:spPr>
          <a:xfrm>
            <a:off x="11526108" y="6181761"/>
            <a:ext cx="514350" cy="514350"/>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dirty="0"/>
              <a:t>심</a:t>
            </a:r>
            <a:endParaRPr lang="en-US" altLang="ko-KR" dirty="0"/>
          </a:p>
          <a:p>
            <a:pPr algn="ctr"/>
            <a:r>
              <a:rPr lang="en-US" altLang="ko-KR" sz="1200" dirty="0"/>
              <a:t>(30</a:t>
            </a:r>
            <a:r>
              <a:rPr lang="ko-KR" altLang="en-US" sz="1200" dirty="0"/>
              <a:t>일</a:t>
            </a:r>
            <a:r>
              <a:rPr lang="en-US" altLang="ko-KR" sz="1200" dirty="0"/>
              <a:t>)</a:t>
            </a:r>
            <a:endParaRPr lang="ko-KR" altLang="en-US" dirty="0"/>
          </a:p>
        </p:txBody>
      </p:sp>
    </p:spTree>
    <p:extLst>
      <p:ext uri="{BB962C8B-B14F-4D97-AF65-F5344CB8AC3E}">
        <p14:creationId xmlns:p14="http://schemas.microsoft.com/office/powerpoint/2010/main" val="1056311645"/>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 name="직사각형 107"/>
          <p:cNvSpPr/>
          <p:nvPr/>
        </p:nvSpPr>
        <p:spPr>
          <a:xfrm>
            <a:off x="809464" y="3680791"/>
            <a:ext cx="4041935" cy="2631109"/>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p>
        </p:txBody>
      </p:sp>
      <p:sp>
        <p:nvSpPr>
          <p:cNvPr id="4" name="텍스트 개체 틀 3"/>
          <p:cNvSpPr>
            <a:spLocks noGrp="1"/>
          </p:cNvSpPr>
          <p:nvPr>
            <p:ph type="body" sz="quarter" idx="13"/>
          </p:nvPr>
        </p:nvSpPr>
        <p:spPr/>
        <p:txBody>
          <a:bodyPr/>
          <a:lstStyle/>
          <a:p>
            <a:r>
              <a:rPr lang="ko-KR" altLang="en-US" dirty="0" err="1"/>
              <a:t>분할출원을</a:t>
            </a:r>
            <a:r>
              <a:rPr lang="ko-KR" altLang="en-US" dirty="0"/>
              <a:t> 기초로 한 </a:t>
            </a:r>
            <a:r>
              <a:rPr lang="ko-KR" altLang="en-US" dirty="0" err="1"/>
              <a:t>분할출원</a:t>
            </a:r>
            <a:endParaRPr lang="ko-KR" altLang="en-US" dirty="0"/>
          </a:p>
        </p:txBody>
      </p:sp>
      <p:sp>
        <p:nvSpPr>
          <p:cNvPr id="26" name="TextBox 25"/>
          <p:cNvSpPr txBox="1"/>
          <p:nvPr/>
        </p:nvSpPr>
        <p:spPr>
          <a:xfrm>
            <a:off x="77875" y="986046"/>
            <a:ext cx="11936323" cy="1169551"/>
          </a:xfrm>
          <a:prstGeom prst="rect">
            <a:avLst/>
          </a:prstGeom>
          <a:noFill/>
        </p:spPr>
        <p:txBody>
          <a:bodyPr wrap="square" rtlCol="0">
            <a:spAutoFit/>
          </a:bodyPr>
          <a:lstStyle/>
          <a:p>
            <a:pPr fontAlgn="base"/>
            <a:r>
              <a:rPr lang="ko-KR" altLang="en-US" sz="1400" dirty="0" err="1">
                <a:solidFill>
                  <a:schemeClr val="tx2"/>
                </a:solidFill>
              </a:rPr>
              <a:t>원출원</a:t>
            </a:r>
            <a:r>
              <a:rPr lang="en-US" altLang="ko-KR" sz="1400" dirty="0">
                <a:solidFill>
                  <a:schemeClr val="tx2"/>
                </a:solidFill>
              </a:rPr>
              <a:t>(</a:t>
            </a:r>
            <a:r>
              <a:rPr lang="ko-KR" altLang="en-US" sz="1400" dirty="0">
                <a:solidFill>
                  <a:schemeClr val="tx2"/>
                </a:solidFill>
              </a:rPr>
              <a:t>이하 “父출원”이라 한다</a:t>
            </a:r>
            <a:r>
              <a:rPr lang="en-US" altLang="ko-KR" sz="1400" dirty="0">
                <a:solidFill>
                  <a:schemeClr val="tx2"/>
                </a:solidFill>
              </a:rPr>
              <a:t>)</a:t>
            </a:r>
            <a:r>
              <a:rPr lang="ko-KR" altLang="en-US" sz="1400" dirty="0">
                <a:solidFill>
                  <a:schemeClr val="tx2"/>
                </a:solidFill>
              </a:rPr>
              <a:t>으로부터 </a:t>
            </a:r>
            <a:r>
              <a:rPr lang="ko-KR" altLang="en-US" sz="1400" dirty="0" err="1">
                <a:solidFill>
                  <a:schemeClr val="tx2"/>
                </a:solidFill>
              </a:rPr>
              <a:t>분할출원</a:t>
            </a:r>
            <a:r>
              <a:rPr lang="en-US" altLang="ko-KR" sz="1400" dirty="0">
                <a:solidFill>
                  <a:schemeClr val="tx2"/>
                </a:solidFill>
              </a:rPr>
              <a:t>(</a:t>
            </a:r>
            <a:r>
              <a:rPr lang="ko-KR" altLang="en-US" sz="1400" dirty="0">
                <a:solidFill>
                  <a:schemeClr val="tx2"/>
                </a:solidFill>
              </a:rPr>
              <a:t>이하 “子출원”이라 한다</a:t>
            </a:r>
            <a:r>
              <a:rPr lang="en-US" altLang="ko-KR" sz="1400" dirty="0">
                <a:solidFill>
                  <a:schemeClr val="tx2"/>
                </a:solidFill>
              </a:rPr>
              <a:t>)</a:t>
            </a:r>
            <a:r>
              <a:rPr lang="ko-KR" altLang="en-US" sz="1400" dirty="0">
                <a:solidFill>
                  <a:schemeClr val="tx2"/>
                </a:solidFill>
              </a:rPr>
              <a:t>하고</a:t>
            </a:r>
            <a:r>
              <a:rPr lang="en-US" altLang="ko-KR" sz="1400" dirty="0">
                <a:solidFill>
                  <a:schemeClr val="tx2"/>
                </a:solidFill>
              </a:rPr>
              <a:t>, </a:t>
            </a:r>
            <a:r>
              <a:rPr lang="ko-KR" altLang="en-US" sz="1400" dirty="0">
                <a:solidFill>
                  <a:schemeClr val="tx2"/>
                </a:solidFill>
              </a:rPr>
              <a:t>다시 子출원을 </a:t>
            </a:r>
            <a:r>
              <a:rPr lang="ko-KR" altLang="en-US" sz="1400" dirty="0" err="1">
                <a:solidFill>
                  <a:schemeClr val="tx2"/>
                </a:solidFill>
              </a:rPr>
              <a:t>원출원으로</a:t>
            </a:r>
            <a:r>
              <a:rPr lang="ko-KR" altLang="en-US" sz="1400" dirty="0">
                <a:solidFill>
                  <a:schemeClr val="tx2"/>
                </a:solidFill>
              </a:rPr>
              <a:t> 하여 </a:t>
            </a:r>
            <a:r>
              <a:rPr lang="ko-KR" altLang="en-US" sz="1400" dirty="0" err="1">
                <a:solidFill>
                  <a:schemeClr val="tx2"/>
                </a:solidFill>
              </a:rPr>
              <a:t>분할출원</a:t>
            </a:r>
            <a:r>
              <a:rPr lang="en-US" altLang="ko-KR" sz="1400" dirty="0">
                <a:solidFill>
                  <a:schemeClr val="tx2"/>
                </a:solidFill>
              </a:rPr>
              <a:t>(</a:t>
            </a:r>
            <a:r>
              <a:rPr lang="ko-KR" altLang="en-US" sz="1400" dirty="0">
                <a:solidFill>
                  <a:schemeClr val="tx2"/>
                </a:solidFill>
              </a:rPr>
              <a:t>이하 “孫子출원”이라 한다</a:t>
            </a:r>
            <a:r>
              <a:rPr lang="en-US" altLang="ko-KR" sz="1400" dirty="0">
                <a:solidFill>
                  <a:schemeClr val="tx2"/>
                </a:solidFill>
              </a:rPr>
              <a:t>)</a:t>
            </a:r>
            <a:r>
              <a:rPr lang="ko-KR" altLang="en-US" sz="1400" dirty="0">
                <a:solidFill>
                  <a:schemeClr val="tx2"/>
                </a:solidFill>
              </a:rPr>
              <a:t>하였을 때 </a:t>
            </a:r>
            <a:r>
              <a:rPr lang="en-US" altLang="ko-KR" sz="1400" dirty="0">
                <a:solidFill>
                  <a:schemeClr val="tx2"/>
                </a:solidFill>
              </a:rPr>
              <a:t>ⅰ) </a:t>
            </a:r>
            <a:r>
              <a:rPr lang="ko-KR" altLang="en-US" sz="1400" dirty="0">
                <a:solidFill>
                  <a:schemeClr val="tx2"/>
                </a:solidFill>
              </a:rPr>
              <a:t>孫子출원이 子출원에 대하여 </a:t>
            </a:r>
            <a:r>
              <a:rPr lang="ko-KR" altLang="en-US" sz="1400" dirty="0" err="1">
                <a:solidFill>
                  <a:schemeClr val="tx2"/>
                </a:solidFill>
              </a:rPr>
              <a:t>분할출원의</a:t>
            </a:r>
            <a:r>
              <a:rPr lang="ko-KR" altLang="en-US" sz="1400" dirty="0">
                <a:solidFill>
                  <a:schemeClr val="tx2"/>
                </a:solidFill>
              </a:rPr>
              <a:t> 요건을 충족할 것</a:t>
            </a:r>
            <a:r>
              <a:rPr lang="en-US" altLang="ko-KR" sz="1400" dirty="0">
                <a:solidFill>
                  <a:schemeClr val="tx2"/>
                </a:solidFill>
              </a:rPr>
              <a:t>, ⅱ) </a:t>
            </a:r>
            <a:r>
              <a:rPr lang="ko-KR" altLang="en-US" sz="1400" dirty="0">
                <a:solidFill>
                  <a:schemeClr val="tx2"/>
                </a:solidFill>
              </a:rPr>
              <a:t>子출원이 父출원에 대하여 </a:t>
            </a:r>
            <a:r>
              <a:rPr lang="ko-KR" altLang="en-US" sz="1400" dirty="0" err="1">
                <a:solidFill>
                  <a:schemeClr val="tx2"/>
                </a:solidFill>
              </a:rPr>
              <a:t>분할출원의</a:t>
            </a:r>
            <a:r>
              <a:rPr lang="ko-KR" altLang="en-US" sz="1400" dirty="0">
                <a:solidFill>
                  <a:schemeClr val="tx2"/>
                </a:solidFill>
              </a:rPr>
              <a:t> 요건을 충족할 것</a:t>
            </a:r>
            <a:r>
              <a:rPr lang="en-US" altLang="ko-KR" sz="1400" dirty="0">
                <a:solidFill>
                  <a:schemeClr val="tx2"/>
                </a:solidFill>
              </a:rPr>
              <a:t>, </a:t>
            </a:r>
            <a:r>
              <a:rPr lang="en-US" altLang="ko-KR" sz="1400" dirty="0">
                <a:solidFill>
                  <a:schemeClr val="accent3">
                    <a:lumMod val="50000"/>
                  </a:schemeClr>
                </a:solidFill>
                <a:highlight>
                  <a:srgbClr val="FFFF00"/>
                </a:highlight>
              </a:rPr>
              <a:t>ⅲ) </a:t>
            </a:r>
            <a:r>
              <a:rPr lang="ko-KR" altLang="en-US" sz="1400" dirty="0">
                <a:solidFill>
                  <a:schemeClr val="accent3">
                    <a:lumMod val="50000"/>
                  </a:schemeClr>
                </a:solidFill>
                <a:highlight>
                  <a:srgbClr val="FFFF00"/>
                </a:highlight>
              </a:rPr>
              <a:t>孫子출원의 명세서 또는 도면에 기재된 발명이 父출원의 최초 명세서 또는 도면에 기재된 범위 이내일 것</a:t>
            </a:r>
            <a:r>
              <a:rPr lang="ko-KR" altLang="en-US" sz="1400" dirty="0">
                <a:solidFill>
                  <a:schemeClr val="tx2"/>
                </a:solidFill>
              </a:rPr>
              <a:t>을 만족하는 경우 孫子출원의 </a:t>
            </a:r>
            <a:r>
              <a:rPr lang="ko-KR" altLang="en-US" sz="1400" dirty="0" err="1">
                <a:solidFill>
                  <a:schemeClr val="tx2"/>
                </a:solidFill>
              </a:rPr>
              <a:t>출원일은</a:t>
            </a:r>
            <a:r>
              <a:rPr lang="ko-KR" altLang="en-US" sz="1400" dirty="0">
                <a:solidFill>
                  <a:schemeClr val="tx2"/>
                </a:solidFill>
              </a:rPr>
              <a:t> 父출원의 </a:t>
            </a:r>
            <a:r>
              <a:rPr lang="ko-KR" altLang="en-US" sz="1400" dirty="0" err="1">
                <a:solidFill>
                  <a:schemeClr val="tx2"/>
                </a:solidFill>
              </a:rPr>
              <a:t>출원일로</a:t>
            </a:r>
            <a:r>
              <a:rPr lang="ko-KR" altLang="en-US" sz="1400" dirty="0">
                <a:solidFill>
                  <a:schemeClr val="tx2"/>
                </a:solidFill>
              </a:rPr>
              <a:t> 소급한다</a:t>
            </a:r>
            <a:r>
              <a:rPr lang="en-US" altLang="ko-KR" sz="1400" dirty="0">
                <a:solidFill>
                  <a:schemeClr val="tx2"/>
                </a:solidFill>
              </a:rPr>
              <a:t>.  </a:t>
            </a:r>
            <a:r>
              <a:rPr lang="ko-KR" altLang="en-US" sz="1400" dirty="0">
                <a:solidFill>
                  <a:schemeClr val="tx2"/>
                </a:solidFill>
              </a:rPr>
              <a:t>이는 </a:t>
            </a:r>
            <a:r>
              <a:rPr lang="ko-KR" altLang="en-US" sz="1400" dirty="0" err="1">
                <a:solidFill>
                  <a:schemeClr val="tx2"/>
                </a:solidFill>
              </a:rPr>
              <a:t>출원인이</a:t>
            </a:r>
            <a:r>
              <a:rPr lang="ko-KR" altLang="en-US" sz="1400" dirty="0">
                <a:solidFill>
                  <a:schemeClr val="tx2"/>
                </a:solidFill>
              </a:rPr>
              <a:t> 父출원을 기초로 </a:t>
            </a:r>
            <a:r>
              <a:rPr lang="ko-KR" altLang="en-US" sz="1400" dirty="0" err="1">
                <a:solidFill>
                  <a:schemeClr val="tx2"/>
                </a:solidFill>
              </a:rPr>
              <a:t>분할출원을</a:t>
            </a:r>
            <a:r>
              <a:rPr lang="ko-KR" altLang="en-US" sz="1400" dirty="0">
                <a:solidFill>
                  <a:schemeClr val="tx2"/>
                </a:solidFill>
              </a:rPr>
              <a:t> 할 수 없는 경우</a:t>
            </a:r>
            <a:r>
              <a:rPr lang="en-US" altLang="ko-KR" sz="1400" dirty="0">
                <a:solidFill>
                  <a:schemeClr val="tx2"/>
                </a:solidFill>
              </a:rPr>
              <a:t>(</a:t>
            </a:r>
            <a:r>
              <a:rPr lang="ko-KR" altLang="en-US" sz="1400" dirty="0">
                <a:solidFill>
                  <a:schemeClr val="tx2"/>
                </a:solidFill>
              </a:rPr>
              <a:t>예컨대 </a:t>
            </a:r>
            <a:r>
              <a:rPr lang="ko-KR" altLang="en-US" sz="1400" dirty="0" err="1">
                <a:solidFill>
                  <a:schemeClr val="tx2"/>
                </a:solidFill>
              </a:rPr>
              <a:t>분할출원의</a:t>
            </a:r>
            <a:r>
              <a:rPr lang="ko-KR" altLang="en-US" sz="1400" dirty="0">
                <a:solidFill>
                  <a:schemeClr val="tx2"/>
                </a:solidFill>
              </a:rPr>
              <a:t> 시기적 제한 때문에 父출원으로부터 출원의 분할을 할 수는 없으나</a:t>
            </a:r>
            <a:r>
              <a:rPr lang="en-US" altLang="ko-KR" sz="1400" dirty="0">
                <a:solidFill>
                  <a:schemeClr val="tx2"/>
                </a:solidFill>
              </a:rPr>
              <a:t>, </a:t>
            </a:r>
            <a:r>
              <a:rPr lang="ko-KR" altLang="en-US" sz="1400" dirty="0">
                <a:solidFill>
                  <a:schemeClr val="tx2"/>
                </a:solidFill>
              </a:rPr>
              <a:t>子출원으로부터 출원의 분할이 가능한 경우 등</a:t>
            </a:r>
            <a:r>
              <a:rPr lang="en-US" altLang="ko-KR" sz="1400" dirty="0">
                <a:solidFill>
                  <a:schemeClr val="tx2"/>
                </a:solidFill>
              </a:rPr>
              <a:t>)</a:t>
            </a:r>
            <a:r>
              <a:rPr lang="ko-KR" altLang="en-US" sz="1400" dirty="0">
                <a:solidFill>
                  <a:schemeClr val="tx2"/>
                </a:solidFill>
              </a:rPr>
              <a:t>에 실효성이 있다할 것이다</a:t>
            </a:r>
            <a:r>
              <a:rPr lang="en-US" altLang="ko-KR" sz="1400" dirty="0">
                <a:solidFill>
                  <a:schemeClr val="tx2"/>
                </a:solidFill>
              </a:rPr>
              <a:t>.</a:t>
            </a:r>
          </a:p>
        </p:txBody>
      </p:sp>
      <p:cxnSp>
        <p:nvCxnSpPr>
          <p:cNvPr id="27" name="직선 연결선 26"/>
          <p:cNvCxnSpPr/>
          <p:nvPr/>
        </p:nvCxnSpPr>
        <p:spPr>
          <a:xfrm>
            <a:off x="0" y="215742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3" name="직선 연결선 162"/>
          <p:cNvCxnSpPr/>
          <p:nvPr/>
        </p:nvCxnSpPr>
        <p:spPr>
          <a:xfrm>
            <a:off x="952500" y="3447417"/>
            <a:ext cx="1051560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직사각형 54"/>
          <p:cNvSpPr/>
          <p:nvPr/>
        </p:nvSpPr>
        <p:spPr>
          <a:xfrm>
            <a:off x="3074012" y="2908686"/>
            <a:ext cx="1561488" cy="250195"/>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X </a:t>
            </a:r>
            <a:r>
              <a:rPr lang="ko-KR" altLang="en-US" sz="1200" dirty="0">
                <a:solidFill>
                  <a:schemeClr val="tx1"/>
                </a:solidFill>
              </a:rPr>
              <a:t>기초 </a:t>
            </a:r>
            <a:r>
              <a:rPr lang="ko-KR" altLang="en-US" sz="1200" dirty="0" err="1">
                <a:solidFill>
                  <a:schemeClr val="tx1"/>
                </a:solidFill>
              </a:rPr>
              <a:t>분할출원</a:t>
            </a:r>
            <a:r>
              <a:rPr lang="en-US" altLang="ko-KR" sz="1200" dirty="0">
                <a:solidFill>
                  <a:schemeClr val="tx1"/>
                </a:solidFill>
              </a:rPr>
              <a:t>(Y)</a:t>
            </a:r>
            <a:endParaRPr lang="ko-KR" altLang="en-US" sz="1200" dirty="0">
              <a:solidFill>
                <a:schemeClr val="tx1"/>
              </a:solidFill>
            </a:endParaRPr>
          </a:p>
        </p:txBody>
      </p:sp>
      <p:sp>
        <p:nvSpPr>
          <p:cNvPr id="61" name="직사각형 60"/>
          <p:cNvSpPr/>
          <p:nvPr/>
        </p:nvSpPr>
        <p:spPr>
          <a:xfrm>
            <a:off x="3074013" y="2471615"/>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65" name="직사각형 64"/>
          <p:cNvSpPr/>
          <p:nvPr/>
        </p:nvSpPr>
        <p:spPr>
          <a:xfrm>
            <a:off x="3074013" y="2666533"/>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 C, D, E</a:t>
            </a:r>
            <a:endParaRPr lang="ko-KR" altLang="en-US" sz="1200" dirty="0">
              <a:solidFill>
                <a:schemeClr val="tx1"/>
              </a:solidFill>
            </a:endParaRPr>
          </a:p>
        </p:txBody>
      </p:sp>
      <p:sp>
        <p:nvSpPr>
          <p:cNvPr id="70" name="직사각형 69"/>
          <p:cNvSpPr/>
          <p:nvPr/>
        </p:nvSpPr>
        <p:spPr>
          <a:xfrm>
            <a:off x="7125312" y="2908686"/>
            <a:ext cx="1561488" cy="250195"/>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Y </a:t>
            </a:r>
            <a:r>
              <a:rPr lang="ko-KR" altLang="en-US" sz="1200" dirty="0">
                <a:solidFill>
                  <a:schemeClr val="tx1"/>
                </a:solidFill>
              </a:rPr>
              <a:t>기초 </a:t>
            </a:r>
            <a:r>
              <a:rPr lang="ko-KR" altLang="en-US" sz="1200" dirty="0" err="1">
                <a:solidFill>
                  <a:schemeClr val="tx1"/>
                </a:solidFill>
              </a:rPr>
              <a:t>분할출원</a:t>
            </a:r>
            <a:r>
              <a:rPr lang="en-US" altLang="ko-KR" sz="1200" dirty="0">
                <a:solidFill>
                  <a:schemeClr val="tx1"/>
                </a:solidFill>
              </a:rPr>
              <a:t>(Z)</a:t>
            </a:r>
            <a:endParaRPr lang="ko-KR" altLang="en-US" sz="1200" dirty="0">
              <a:solidFill>
                <a:schemeClr val="tx1"/>
              </a:solidFill>
            </a:endParaRPr>
          </a:p>
        </p:txBody>
      </p:sp>
      <p:sp>
        <p:nvSpPr>
          <p:cNvPr id="71" name="직사각형 70"/>
          <p:cNvSpPr/>
          <p:nvPr/>
        </p:nvSpPr>
        <p:spPr>
          <a:xfrm>
            <a:off x="7125313" y="2471615"/>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C</a:t>
            </a:r>
            <a:endParaRPr lang="ko-KR" altLang="en-US" sz="1200" dirty="0">
              <a:solidFill>
                <a:schemeClr val="tx1"/>
              </a:solidFill>
            </a:endParaRPr>
          </a:p>
        </p:txBody>
      </p:sp>
      <p:sp>
        <p:nvSpPr>
          <p:cNvPr id="74" name="직사각형 73"/>
          <p:cNvSpPr/>
          <p:nvPr/>
        </p:nvSpPr>
        <p:spPr>
          <a:xfrm>
            <a:off x="7125313" y="2666533"/>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C, D</a:t>
            </a:r>
            <a:endParaRPr lang="ko-KR" altLang="en-US" sz="1200" dirty="0">
              <a:solidFill>
                <a:schemeClr val="tx1"/>
              </a:solidFill>
            </a:endParaRPr>
          </a:p>
        </p:txBody>
      </p:sp>
      <p:sp>
        <p:nvSpPr>
          <p:cNvPr id="75" name="직사각형 74"/>
          <p:cNvSpPr/>
          <p:nvPr/>
        </p:nvSpPr>
        <p:spPr>
          <a:xfrm>
            <a:off x="9157312" y="2908686"/>
            <a:ext cx="1561488" cy="250195"/>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Y </a:t>
            </a:r>
            <a:r>
              <a:rPr lang="ko-KR" altLang="en-US" sz="1200" dirty="0">
                <a:solidFill>
                  <a:schemeClr val="tx1"/>
                </a:solidFill>
              </a:rPr>
              <a:t>기초 </a:t>
            </a:r>
            <a:r>
              <a:rPr lang="ko-KR" altLang="en-US" sz="1200" dirty="0" err="1">
                <a:solidFill>
                  <a:schemeClr val="tx1"/>
                </a:solidFill>
              </a:rPr>
              <a:t>분할출원</a:t>
            </a:r>
            <a:r>
              <a:rPr lang="en-US" altLang="ko-KR" sz="1200" dirty="0">
                <a:solidFill>
                  <a:schemeClr val="tx1"/>
                </a:solidFill>
              </a:rPr>
              <a:t>(W)</a:t>
            </a:r>
            <a:endParaRPr lang="ko-KR" altLang="en-US" sz="1200" dirty="0">
              <a:solidFill>
                <a:schemeClr val="tx1"/>
              </a:solidFill>
            </a:endParaRPr>
          </a:p>
        </p:txBody>
      </p:sp>
      <p:sp>
        <p:nvSpPr>
          <p:cNvPr id="76" name="직사각형 75"/>
          <p:cNvSpPr/>
          <p:nvPr/>
        </p:nvSpPr>
        <p:spPr>
          <a:xfrm>
            <a:off x="9157313" y="2471615"/>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E</a:t>
            </a:r>
            <a:endParaRPr lang="ko-KR" altLang="en-US" sz="1200" dirty="0">
              <a:solidFill>
                <a:schemeClr val="tx1"/>
              </a:solidFill>
            </a:endParaRPr>
          </a:p>
        </p:txBody>
      </p:sp>
      <p:sp>
        <p:nvSpPr>
          <p:cNvPr id="77" name="직사각형 76"/>
          <p:cNvSpPr/>
          <p:nvPr/>
        </p:nvSpPr>
        <p:spPr>
          <a:xfrm>
            <a:off x="9157313" y="2666533"/>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E</a:t>
            </a:r>
            <a:endParaRPr lang="ko-KR" altLang="en-US" sz="1200" dirty="0">
              <a:solidFill>
                <a:schemeClr val="tx1"/>
              </a:solidFill>
            </a:endParaRPr>
          </a:p>
        </p:txBody>
      </p:sp>
      <p:sp>
        <p:nvSpPr>
          <p:cNvPr id="78" name="직사각형 77"/>
          <p:cNvSpPr/>
          <p:nvPr/>
        </p:nvSpPr>
        <p:spPr>
          <a:xfrm>
            <a:off x="5093310" y="2908686"/>
            <a:ext cx="1561488" cy="250195"/>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(Y)</a:t>
            </a:r>
            <a:endParaRPr lang="ko-KR" altLang="en-US" sz="1200" dirty="0">
              <a:solidFill>
                <a:schemeClr val="tx1"/>
              </a:solidFill>
            </a:endParaRPr>
          </a:p>
        </p:txBody>
      </p:sp>
      <p:sp>
        <p:nvSpPr>
          <p:cNvPr id="79" name="직사각형 78"/>
          <p:cNvSpPr/>
          <p:nvPr/>
        </p:nvSpPr>
        <p:spPr>
          <a:xfrm>
            <a:off x="5093311" y="2471615"/>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84" name="직사각형 83"/>
          <p:cNvSpPr/>
          <p:nvPr/>
        </p:nvSpPr>
        <p:spPr>
          <a:xfrm>
            <a:off x="5093311" y="2666533"/>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 C, D</a:t>
            </a:r>
            <a:endParaRPr lang="ko-KR" altLang="en-US" sz="1200" dirty="0">
              <a:solidFill>
                <a:schemeClr val="tx1"/>
              </a:solidFill>
            </a:endParaRPr>
          </a:p>
        </p:txBody>
      </p:sp>
      <p:cxnSp>
        <p:nvCxnSpPr>
          <p:cNvPr id="85" name="직선 화살표 연결선 84"/>
          <p:cNvCxnSpPr>
            <a:stCxn id="55" idx="2"/>
          </p:cNvCxnSpPr>
          <p:nvPr/>
        </p:nvCxnSpPr>
        <p:spPr>
          <a:xfrm flipH="1">
            <a:off x="3854755" y="3158881"/>
            <a:ext cx="1" cy="23923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6" name="직선 화살표 연결선 85"/>
          <p:cNvCxnSpPr/>
          <p:nvPr/>
        </p:nvCxnSpPr>
        <p:spPr>
          <a:xfrm flipH="1">
            <a:off x="5855307" y="3158881"/>
            <a:ext cx="1" cy="23923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7" name="직선 화살표 연결선 86"/>
          <p:cNvCxnSpPr/>
          <p:nvPr/>
        </p:nvCxnSpPr>
        <p:spPr>
          <a:xfrm flipH="1">
            <a:off x="7868558" y="3158881"/>
            <a:ext cx="1" cy="23923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직선 화살표 연결선 88"/>
          <p:cNvCxnSpPr/>
          <p:nvPr/>
        </p:nvCxnSpPr>
        <p:spPr>
          <a:xfrm flipH="1">
            <a:off x="9932612" y="3158881"/>
            <a:ext cx="1" cy="23923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직선 연결선 12"/>
          <p:cNvCxnSpPr/>
          <p:nvPr/>
        </p:nvCxnSpPr>
        <p:spPr>
          <a:xfrm>
            <a:off x="1822755" y="3447417"/>
            <a:ext cx="0" cy="300418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0" name="직사각형 89"/>
          <p:cNvSpPr/>
          <p:nvPr/>
        </p:nvSpPr>
        <p:spPr>
          <a:xfrm>
            <a:off x="1042011" y="2908686"/>
            <a:ext cx="1561488"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원출원</a:t>
            </a:r>
            <a:r>
              <a:rPr lang="en-US" altLang="ko-KR" sz="1200" dirty="0">
                <a:solidFill>
                  <a:schemeClr val="tx1"/>
                </a:solidFill>
              </a:rPr>
              <a:t>(X)</a:t>
            </a:r>
            <a:endParaRPr lang="ko-KR" altLang="en-US" sz="1200" dirty="0">
              <a:solidFill>
                <a:schemeClr val="tx1"/>
              </a:solidFill>
            </a:endParaRPr>
          </a:p>
        </p:txBody>
      </p:sp>
      <p:sp>
        <p:nvSpPr>
          <p:cNvPr id="91" name="직사각형 90"/>
          <p:cNvSpPr/>
          <p:nvPr/>
        </p:nvSpPr>
        <p:spPr>
          <a:xfrm>
            <a:off x="1042012" y="2471615"/>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a:t>
            </a:r>
            <a:endParaRPr lang="ko-KR" altLang="en-US" sz="1200" dirty="0">
              <a:solidFill>
                <a:schemeClr val="tx1"/>
              </a:solidFill>
            </a:endParaRPr>
          </a:p>
        </p:txBody>
      </p:sp>
      <p:sp>
        <p:nvSpPr>
          <p:cNvPr id="92" name="직사각형 91"/>
          <p:cNvSpPr/>
          <p:nvPr/>
        </p:nvSpPr>
        <p:spPr>
          <a:xfrm>
            <a:off x="1042012" y="2666533"/>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 C, D</a:t>
            </a:r>
            <a:endParaRPr lang="ko-KR" altLang="en-US" sz="1200" dirty="0">
              <a:solidFill>
                <a:schemeClr val="tx1"/>
              </a:solidFill>
            </a:endParaRPr>
          </a:p>
        </p:txBody>
      </p:sp>
      <p:cxnSp>
        <p:nvCxnSpPr>
          <p:cNvPr id="95" name="직선 화살표 연결선 94"/>
          <p:cNvCxnSpPr>
            <a:stCxn id="90" idx="2"/>
          </p:cNvCxnSpPr>
          <p:nvPr/>
        </p:nvCxnSpPr>
        <p:spPr>
          <a:xfrm flipH="1">
            <a:off x="1822754" y="3158881"/>
            <a:ext cx="1" cy="23923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직사각형 95"/>
          <p:cNvSpPr/>
          <p:nvPr/>
        </p:nvSpPr>
        <p:spPr>
          <a:xfrm>
            <a:off x="1042011" y="4446217"/>
            <a:ext cx="1561488" cy="250195"/>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 </a:t>
            </a:r>
            <a:r>
              <a:rPr lang="ko-KR" altLang="en-US" sz="1200" dirty="0">
                <a:solidFill>
                  <a:schemeClr val="tx1"/>
                </a:solidFill>
              </a:rPr>
              <a:t>출원</a:t>
            </a:r>
            <a:r>
              <a:rPr lang="en-US" altLang="ko-KR" sz="1200" dirty="0">
                <a:solidFill>
                  <a:schemeClr val="tx1"/>
                </a:solidFill>
              </a:rPr>
              <a:t>(Y)</a:t>
            </a:r>
            <a:endParaRPr lang="ko-KR" altLang="en-US" sz="1200" dirty="0">
              <a:solidFill>
                <a:schemeClr val="tx1"/>
              </a:solidFill>
            </a:endParaRPr>
          </a:p>
        </p:txBody>
      </p:sp>
      <p:sp>
        <p:nvSpPr>
          <p:cNvPr id="97" name="직사각형 96"/>
          <p:cNvSpPr/>
          <p:nvPr/>
        </p:nvSpPr>
        <p:spPr>
          <a:xfrm>
            <a:off x="1042012" y="4009146"/>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99" name="직사각형 98"/>
          <p:cNvSpPr/>
          <p:nvPr/>
        </p:nvSpPr>
        <p:spPr>
          <a:xfrm>
            <a:off x="1042012" y="4204064"/>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 C, D</a:t>
            </a:r>
            <a:endParaRPr lang="ko-KR" altLang="en-US" sz="1200" dirty="0">
              <a:solidFill>
                <a:schemeClr val="tx1"/>
              </a:solidFill>
            </a:endParaRPr>
          </a:p>
        </p:txBody>
      </p:sp>
      <p:sp>
        <p:nvSpPr>
          <p:cNvPr id="100" name="직사각형 99"/>
          <p:cNvSpPr/>
          <p:nvPr/>
        </p:nvSpPr>
        <p:spPr>
          <a:xfrm>
            <a:off x="1042010" y="5370014"/>
            <a:ext cx="1561488" cy="250195"/>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r>
              <a:rPr lang="en-US" altLang="ko-KR" sz="1200" dirty="0">
                <a:solidFill>
                  <a:schemeClr val="tx1"/>
                </a:solidFill>
              </a:rPr>
              <a:t>(Z)</a:t>
            </a:r>
            <a:endParaRPr lang="ko-KR" altLang="en-US" sz="1200" dirty="0">
              <a:solidFill>
                <a:schemeClr val="tx1"/>
              </a:solidFill>
            </a:endParaRPr>
          </a:p>
        </p:txBody>
      </p:sp>
      <p:sp>
        <p:nvSpPr>
          <p:cNvPr id="101" name="직사각형 100"/>
          <p:cNvSpPr/>
          <p:nvPr/>
        </p:nvSpPr>
        <p:spPr>
          <a:xfrm>
            <a:off x="1042011" y="4932943"/>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C</a:t>
            </a:r>
            <a:endParaRPr lang="ko-KR" altLang="en-US" sz="1200" dirty="0">
              <a:solidFill>
                <a:schemeClr val="tx1"/>
              </a:solidFill>
            </a:endParaRPr>
          </a:p>
        </p:txBody>
      </p:sp>
      <p:sp>
        <p:nvSpPr>
          <p:cNvPr id="102" name="직사각형 101"/>
          <p:cNvSpPr/>
          <p:nvPr/>
        </p:nvSpPr>
        <p:spPr>
          <a:xfrm>
            <a:off x="1042011" y="5127861"/>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C, D</a:t>
            </a:r>
            <a:endParaRPr lang="ko-KR" altLang="en-US" sz="1200" dirty="0">
              <a:solidFill>
                <a:schemeClr val="tx1"/>
              </a:solidFill>
            </a:endParaRPr>
          </a:p>
        </p:txBody>
      </p:sp>
      <p:cxnSp>
        <p:nvCxnSpPr>
          <p:cNvPr id="103" name="직선 연결선 102"/>
          <p:cNvCxnSpPr/>
          <p:nvPr/>
        </p:nvCxnSpPr>
        <p:spPr>
          <a:xfrm>
            <a:off x="3854755" y="3447417"/>
            <a:ext cx="0" cy="300418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 name="직사각형 103"/>
          <p:cNvSpPr/>
          <p:nvPr/>
        </p:nvSpPr>
        <p:spPr>
          <a:xfrm>
            <a:off x="3086099" y="4439876"/>
            <a:ext cx="1561488" cy="250195"/>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r>
              <a:rPr lang="en-US" altLang="ko-KR" sz="1200" dirty="0">
                <a:solidFill>
                  <a:schemeClr val="tx1"/>
                </a:solidFill>
              </a:rPr>
              <a:t>(W)</a:t>
            </a:r>
            <a:endParaRPr lang="ko-KR" altLang="en-US" sz="1200" dirty="0">
              <a:solidFill>
                <a:schemeClr val="tx1"/>
              </a:solidFill>
            </a:endParaRPr>
          </a:p>
        </p:txBody>
      </p:sp>
      <p:sp>
        <p:nvSpPr>
          <p:cNvPr id="105" name="직사각형 104"/>
          <p:cNvSpPr/>
          <p:nvPr/>
        </p:nvSpPr>
        <p:spPr>
          <a:xfrm>
            <a:off x="3086100" y="4002805"/>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E</a:t>
            </a:r>
            <a:endParaRPr lang="ko-KR" altLang="en-US" sz="1200" dirty="0">
              <a:solidFill>
                <a:schemeClr val="tx1"/>
              </a:solidFill>
            </a:endParaRPr>
          </a:p>
        </p:txBody>
      </p:sp>
      <p:sp>
        <p:nvSpPr>
          <p:cNvPr id="106" name="직사각형 105"/>
          <p:cNvSpPr/>
          <p:nvPr/>
        </p:nvSpPr>
        <p:spPr>
          <a:xfrm>
            <a:off x="3086100" y="4197723"/>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E</a:t>
            </a:r>
            <a:endParaRPr lang="ko-KR" altLang="en-US" sz="1200" dirty="0">
              <a:solidFill>
                <a:schemeClr val="tx1"/>
              </a:solidFill>
            </a:endParaRPr>
          </a:p>
        </p:txBody>
      </p:sp>
      <p:sp>
        <p:nvSpPr>
          <p:cNvPr id="15" name="TextBox 14"/>
          <p:cNvSpPr txBox="1"/>
          <p:nvPr/>
        </p:nvSpPr>
        <p:spPr>
          <a:xfrm>
            <a:off x="4224550" y="5905431"/>
            <a:ext cx="601447" cy="369332"/>
          </a:xfrm>
          <a:prstGeom prst="rect">
            <a:avLst/>
          </a:prstGeom>
          <a:noFill/>
        </p:spPr>
        <p:txBody>
          <a:bodyPr wrap="none" rtlCol="0">
            <a:spAutoFit/>
          </a:bodyPr>
          <a:lstStyle/>
          <a:p>
            <a:r>
              <a:rPr lang="ko-KR" altLang="en-US" dirty="0">
                <a:solidFill>
                  <a:srgbClr val="FF0000"/>
                </a:solidFill>
              </a:rPr>
              <a:t>효과</a:t>
            </a:r>
          </a:p>
        </p:txBody>
      </p:sp>
      <p:cxnSp>
        <p:nvCxnSpPr>
          <p:cNvPr id="17" name="직선 화살표 연결선 16"/>
          <p:cNvCxnSpPr>
            <a:stCxn id="78" idx="1"/>
          </p:cNvCxnSpPr>
          <p:nvPr/>
        </p:nvCxnSpPr>
        <p:spPr>
          <a:xfrm flipH="1" flipV="1">
            <a:off x="4647585" y="3033783"/>
            <a:ext cx="445725" cy="1"/>
          </a:xfrm>
          <a:prstGeom prst="straightConnector1">
            <a:avLst/>
          </a:prstGeom>
          <a:ln w="28575">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9" name="직선 화살표 연결선 108"/>
          <p:cNvCxnSpPr>
            <a:stCxn id="55" idx="1"/>
          </p:cNvCxnSpPr>
          <p:nvPr/>
        </p:nvCxnSpPr>
        <p:spPr>
          <a:xfrm flipH="1">
            <a:off x="2615584" y="3033784"/>
            <a:ext cx="458428" cy="1553775"/>
          </a:xfrm>
          <a:prstGeom prst="straightConnector1">
            <a:avLst/>
          </a:prstGeom>
          <a:ln w="28575">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0" name="직선 화살표 연결선 109"/>
          <p:cNvCxnSpPr>
            <a:stCxn id="70" idx="1"/>
          </p:cNvCxnSpPr>
          <p:nvPr/>
        </p:nvCxnSpPr>
        <p:spPr>
          <a:xfrm flipH="1">
            <a:off x="2641289" y="3033784"/>
            <a:ext cx="4484023" cy="2461327"/>
          </a:xfrm>
          <a:prstGeom prst="straightConnector1">
            <a:avLst/>
          </a:prstGeom>
          <a:ln w="28575">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1" name="직선 화살표 연결선 110"/>
          <p:cNvCxnSpPr>
            <a:stCxn id="75" idx="1"/>
          </p:cNvCxnSpPr>
          <p:nvPr/>
        </p:nvCxnSpPr>
        <p:spPr>
          <a:xfrm flipH="1">
            <a:off x="4686982" y="3033784"/>
            <a:ext cx="4470330" cy="1531189"/>
          </a:xfrm>
          <a:prstGeom prst="straightConnector1">
            <a:avLst/>
          </a:prstGeom>
          <a:ln w="28575">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4" name="모서리가 둥근 사각형 설명선 23"/>
          <p:cNvSpPr/>
          <p:nvPr/>
        </p:nvSpPr>
        <p:spPr>
          <a:xfrm>
            <a:off x="5855307" y="4539145"/>
            <a:ext cx="3695094" cy="349512"/>
          </a:xfrm>
          <a:prstGeom prst="wedgeRoundRectCallout">
            <a:avLst>
              <a:gd name="adj1" fmla="val 8725"/>
              <a:gd name="adj2" fmla="val -438943"/>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tx1"/>
                </a:solidFill>
              </a:rPr>
              <a:t>X</a:t>
            </a:r>
            <a:r>
              <a:rPr lang="ko-KR" altLang="en-US" sz="1400" dirty="0">
                <a:solidFill>
                  <a:schemeClr val="tx1"/>
                </a:solidFill>
              </a:rPr>
              <a:t>를 기초로 </a:t>
            </a:r>
            <a:r>
              <a:rPr lang="ko-KR" altLang="en-US" sz="1400" dirty="0" err="1">
                <a:solidFill>
                  <a:schemeClr val="tx1"/>
                </a:solidFill>
              </a:rPr>
              <a:t>분할출원하더라도</a:t>
            </a:r>
            <a:r>
              <a:rPr lang="ko-KR" altLang="en-US" sz="1400" dirty="0">
                <a:solidFill>
                  <a:schemeClr val="tx1"/>
                </a:solidFill>
              </a:rPr>
              <a:t> 동일한 효과 발생</a:t>
            </a:r>
          </a:p>
        </p:txBody>
      </p:sp>
      <p:sp>
        <p:nvSpPr>
          <p:cNvPr id="2" name="슬라이드 번호 개체 틀 1"/>
          <p:cNvSpPr>
            <a:spLocks noGrp="1"/>
          </p:cNvSpPr>
          <p:nvPr>
            <p:ph type="sldNum" sz="quarter" idx="12"/>
          </p:nvPr>
        </p:nvSpPr>
        <p:spPr/>
        <p:txBody>
          <a:bodyPr/>
          <a:lstStyle/>
          <a:p>
            <a:r>
              <a:rPr lang="en-US" altLang="ko-KR"/>
              <a:t>201</a:t>
            </a:r>
            <a:endParaRPr lang="ko-KR" altLang="en-US"/>
          </a:p>
        </p:txBody>
      </p:sp>
    </p:spTree>
    <p:extLst>
      <p:ext uri="{BB962C8B-B14F-4D97-AF65-F5344CB8AC3E}">
        <p14:creationId xmlns:p14="http://schemas.microsoft.com/office/powerpoint/2010/main" val="2229230655"/>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양쪽 모서리가 둥근 사각형 93">
            <a:extLst>
              <a:ext uri="{FF2B5EF4-FFF2-40B4-BE49-F238E27FC236}">
                <a16:creationId xmlns:a16="http://schemas.microsoft.com/office/drawing/2014/main" id="{C16F8692-2ADE-6E85-F47D-E100403BAE13}"/>
              </a:ext>
            </a:extLst>
          </p:cNvPr>
          <p:cNvSpPr/>
          <p:nvPr/>
        </p:nvSpPr>
        <p:spPr>
          <a:xfrm>
            <a:off x="7543477" y="2031146"/>
            <a:ext cx="3600240" cy="544391"/>
          </a:xfrm>
          <a:prstGeom prst="round2SameRect">
            <a:avLst>
              <a:gd name="adj1" fmla="val 50000"/>
              <a:gd name="adj2" fmla="val 0"/>
            </a:avLst>
          </a:prstGeom>
          <a:pattFill prst="dot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r>
              <a:rPr lang="en-US" altLang="ko-KR" dirty="0"/>
              <a:t>,</a:t>
            </a:r>
            <a:r>
              <a:rPr lang="ko-KR" altLang="en-US" dirty="0"/>
              <a:t> 제</a:t>
            </a:r>
            <a:r>
              <a:rPr lang="en-US" altLang="ko-KR" dirty="0"/>
              <a:t>36</a:t>
            </a:r>
            <a:r>
              <a:rPr lang="ko-KR" altLang="en-US" dirty="0"/>
              <a:t>조</a:t>
            </a:r>
          </a:p>
        </p:txBody>
      </p:sp>
      <p:sp>
        <p:nvSpPr>
          <p:cNvPr id="4" name="텍스트 개체 틀 3"/>
          <p:cNvSpPr>
            <a:spLocks noGrp="1"/>
          </p:cNvSpPr>
          <p:nvPr>
            <p:ph type="body" sz="quarter" idx="13"/>
          </p:nvPr>
        </p:nvSpPr>
        <p:spPr/>
        <p:txBody>
          <a:bodyPr/>
          <a:lstStyle/>
          <a:p>
            <a:r>
              <a:rPr lang="ko-KR" altLang="en-US" dirty="0"/>
              <a:t>분할출원과 원출원의 심판청구가 동시에 진행 중인 </a:t>
            </a:r>
            <a:r>
              <a:rPr lang="en-US" altLang="ko-KR" dirty="0"/>
              <a:t>CASE</a:t>
            </a:r>
            <a:endParaRPr lang="ko-KR" altLang="en-US" dirty="0"/>
          </a:p>
        </p:txBody>
      </p:sp>
      <p:cxnSp>
        <p:nvCxnSpPr>
          <p:cNvPr id="28" name="직선 연결선 27"/>
          <p:cNvCxnSpPr/>
          <p:nvPr/>
        </p:nvCxnSpPr>
        <p:spPr>
          <a:xfrm>
            <a:off x="65" y="149970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77875" y="976902"/>
            <a:ext cx="11936323" cy="523220"/>
          </a:xfrm>
          <a:prstGeom prst="rect">
            <a:avLst/>
          </a:prstGeom>
          <a:noFill/>
        </p:spPr>
        <p:txBody>
          <a:bodyPr wrap="square" rtlCol="0">
            <a:spAutoFit/>
          </a:bodyPr>
          <a:lstStyle/>
          <a:p>
            <a:r>
              <a:rPr lang="ko-KR" altLang="en-US" sz="1400" dirty="0" err="1">
                <a:solidFill>
                  <a:schemeClr val="tx2"/>
                </a:solidFill>
                <a:highlight>
                  <a:srgbClr val="FFFF00"/>
                </a:highlight>
                <a:latin typeface="+mn-ea"/>
              </a:rPr>
              <a:t>심판청구없이</a:t>
            </a:r>
            <a:r>
              <a:rPr lang="ko-KR" altLang="en-US" sz="1400" dirty="0">
                <a:solidFill>
                  <a:schemeClr val="tx2"/>
                </a:solidFill>
                <a:highlight>
                  <a:srgbClr val="FFFF00"/>
                </a:highlight>
                <a:latin typeface="+mn-ea"/>
              </a:rPr>
              <a:t> 분할출원</a:t>
            </a:r>
            <a:r>
              <a:rPr lang="en-US" altLang="ko-KR" sz="1400" dirty="0">
                <a:solidFill>
                  <a:schemeClr val="tx2"/>
                </a:solidFill>
                <a:highlight>
                  <a:srgbClr val="FFFF00"/>
                </a:highlight>
                <a:latin typeface="+mn-ea"/>
              </a:rPr>
              <a:t>(16</a:t>
            </a:r>
            <a:r>
              <a:rPr lang="ko-KR" altLang="en-US" sz="1400" dirty="0">
                <a:solidFill>
                  <a:schemeClr val="tx2"/>
                </a:solidFill>
                <a:highlight>
                  <a:srgbClr val="FFFF00"/>
                </a:highlight>
                <a:latin typeface="+mn-ea"/>
              </a:rPr>
              <a:t>항</a:t>
            </a:r>
            <a:r>
              <a:rPr lang="en-US" altLang="ko-KR" sz="1400" dirty="0">
                <a:solidFill>
                  <a:schemeClr val="tx2"/>
                </a:solidFill>
                <a:highlight>
                  <a:srgbClr val="FFFF00"/>
                </a:highlight>
                <a:latin typeface="+mn-ea"/>
              </a:rPr>
              <a:t>~20</a:t>
            </a:r>
            <a:r>
              <a:rPr lang="ko-KR" altLang="en-US" sz="1400" dirty="0">
                <a:solidFill>
                  <a:schemeClr val="tx2"/>
                </a:solidFill>
                <a:highlight>
                  <a:srgbClr val="FFFF00"/>
                </a:highlight>
                <a:latin typeface="+mn-ea"/>
              </a:rPr>
              <a:t>항</a:t>
            </a:r>
            <a:r>
              <a:rPr lang="en-US" altLang="ko-KR" sz="1400" dirty="0">
                <a:solidFill>
                  <a:schemeClr val="tx2"/>
                </a:solidFill>
                <a:highlight>
                  <a:srgbClr val="FFFF00"/>
                </a:highlight>
                <a:latin typeface="+mn-ea"/>
              </a:rPr>
              <a:t>)</a:t>
            </a:r>
            <a:r>
              <a:rPr lang="ko-KR" altLang="en-US" sz="1400" dirty="0">
                <a:solidFill>
                  <a:schemeClr val="tx2"/>
                </a:solidFill>
                <a:latin typeface="+mn-ea"/>
              </a:rPr>
              <a:t>하는 경우에는 즉시 특허결정이 가능하다</a:t>
            </a:r>
            <a:r>
              <a:rPr lang="en-US" altLang="ko-KR" sz="1400" dirty="0">
                <a:solidFill>
                  <a:schemeClr val="tx2"/>
                </a:solidFill>
                <a:latin typeface="+mn-ea"/>
              </a:rPr>
              <a:t>. </a:t>
            </a:r>
            <a:r>
              <a:rPr lang="ko-KR" altLang="en-US" sz="1400" dirty="0">
                <a:solidFill>
                  <a:schemeClr val="tx2"/>
                </a:solidFill>
                <a:latin typeface="+mn-ea"/>
              </a:rPr>
              <a:t>한편</a:t>
            </a:r>
            <a:r>
              <a:rPr lang="en-US" altLang="ko-KR" sz="1400" dirty="0">
                <a:solidFill>
                  <a:schemeClr val="tx2"/>
                </a:solidFill>
                <a:latin typeface="+mn-ea"/>
              </a:rPr>
              <a:t>, </a:t>
            </a:r>
            <a:r>
              <a:rPr lang="ko-KR" altLang="en-US" sz="1400" dirty="0">
                <a:solidFill>
                  <a:schemeClr val="tx2"/>
                </a:solidFill>
                <a:highlight>
                  <a:srgbClr val="FFFF00"/>
                </a:highlight>
                <a:latin typeface="+mn-ea"/>
              </a:rPr>
              <a:t>분할출원</a:t>
            </a:r>
            <a:r>
              <a:rPr lang="en-US" altLang="ko-KR" sz="1400" dirty="0">
                <a:solidFill>
                  <a:schemeClr val="tx2"/>
                </a:solidFill>
                <a:highlight>
                  <a:srgbClr val="FFFF00"/>
                </a:highlight>
                <a:latin typeface="+mn-ea"/>
              </a:rPr>
              <a:t>(16</a:t>
            </a:r>
            <a:r>
              <a:rPr lang="ko-KR" altLang="en-US" sz="1400" dirty="0">
                <a:solidFill>
                  <a:schemeClr val="tx2"/>
                </a:solidFill>
                <a:highlight>
                  <a:srgbClr val="FFFF00"/>
                </a:highlight>
                <a:latin typeface="+mn-ea"/>
              </a:rPr>
              <a:t>항</a:t>
            </a:r>
            <a:r>
              <a:rPr lang="en-US" altLang="ko-KR" sz="1400" dirty="0">
                <a:solidFill>
                  <a:schemeClr val="tx2"/>
                </a:solidFill>
                <a:highlight>
                  <a:srgbClr val="FFFF00"/>
                </a:highlight>
                <a:latin typeface="+mn-ea"/>
              </a:rPr>
              <a:t>~20</a:t>
            </a:r>
            <a:r>
              <a:rPr lang="ko-KR" altLang="en-US" sz="1400" dirty="0">
                <a:solidFill>
                  <a:schemeClr val="tx2"/>
                </a:solidFill>
                <a:highlight>
                  <a:srgbClr val="FFFF00"/>
                </a:highlight>
                <a:latin typeface="+mn-ea"/>
              </a:rPr>
              <a:t>항</a:t>
            </a:r>
            <a:r>
              <a:rPr lang="en-US" altLang="ko-KR" sz="1400" dirty="0">
                <a:solidFill>
                  <a:schemeClr val="tx2"/>
                </a:solidFill>
                <a:highlight>
                  <a:srgbClr val="FFFF00"/>
                </a:highlight>
                <a:latin typeface="+mn-ea"/>
              </a:rPr>
              <a:t>)</a:t>
            </a:r>
            <a:r>
              <a:rPr lang="ko-KR" altLang="en-US" sz="1400" dirty="0">
                <a:solidFill>
                  <a:schemeClr val="tx2"/>
                </a:solidFill>
                <a:highlight>
                  <a:srgbClr val="FFFF00"/>
                </a:highlight>
                <a:latin typeface="+mn-ea"/>
              </a:rPr>
              <a:t>과 심판청구를 같이 하는 경우</a:t>
            </a:r>
            <a:r>
              <a:rPr lang="ko-KR" altLang="en-US" sz="1400" dirty="0">
                <a:solidFill>
                  <a:schemeClr val="tx2"/>
                </a:solidFill>
                <a:latin typeface="+mn-ea"/>
              </a:rPr>
              <a:t>에는 심판결과가 확정된 후에 분할출원에 대한 특허여부를 결정한다</a:t>
            </a:r>
            <a:r>
              <a:rPr lang="en-US" altLang="ko-KR" sz="1400" dirty="0">
                <a:solidFill>
                  <a:schemeClr val="tx2"/>
                </a:solidFill>
                <a:latin typeface="+mn-ea"/>
              </a:rPr>
              <a:t>(</a:t>
            </a:r>
            <a:r>
              <a:rPr lang="ko-KR" altLang="en-US" sz="1400" dirty="0">
                <a:solidFill>
                  <a:schemeClr val="tx2"/>
                </a:solidFill>
                <a:latin typeface="+mn-ea"/>
              </a:rPr>
              <a:t>심판결과 인용되어 원출원에 대한 거절결정이 취소되면 </a:t>
            </a:r>
            <a:r>
              <a:rPr lang="ko-KR" altLang="en-US" sz="1400" dirty="0" err="1">
                <a:solidFill>
                  <a:schemeClr val="tx2"/>
                </a:solidFill>
                <a:latin typeface="+mn-ea"/>
              </a:rPr>
              <a:t>협의제</a:t>
            </a:r>
            <a:r>
              <a:rPr lang="en-US" altLang="ko-KR" sz="1400" dirty="0">
                <a:solidFill>
                  <a:schemeClr val="tx2"/>
                </a:solidFill>
                <a:latin typeface="+mn-ea"/>
              </a:rPr>
              <a:t>, </a:t>
            </a:r>
            <a:r>
              <a:rPr lang="ko-KR" altLang="en-US" sz="1400" dirty="0">
                <a:solidFill>
                  <a:schemeClr val="tx2"/>
                </a:solidFill>
                <a:latin typeface="+mn-ea"/>
              </a:rPr>
              <a:t>협의명령에 의함</a:t>
            </a:r>
            <a:r>
              <a:rPr lang="en-US" altLang="ko-KR" sz="1400" dirty="0">
                <a:solidFill>
                  <a:schemeClr val="tx2"/>
                </a:solidFill>
                <a:latin typeface="+mn-ea"/>
              </a:rPr>
              <a:t>).</a:t>
            </a:r>
          </a:p>
        </p:txBody>
      </p:sp>
      <p:cxnSp>
        <p:nvCxnSpPr>
          <p:cNvPr id="30" name="직선 화살표 연결선 29"/>
          <p:cNvCxnSpPr>
            <a:cxnSpLocks/>
          </p:cNvCxnSpPr>
          <p:nvPr/>
        </p:nvCxnSpPr>
        <p:spPr>
          <a:xfrm>
            <a:off x="457898" y="2593903"/>
            <a:ext cx="11276902"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2" name="Rectangle 14"/>
          <p:cNvSpPr>
            <a:spLocks noChangeArrowheads="1"/>
          </p:cNvSpPr>
          <p:nvPr/>
        </p:nvSpPr>
        <p:spPr bwMode="auto">
          <a:xfrm>
            <a:off x="2480517" y="2404875"/>
            <a:ext cx="1089044" cy="359005"/>
          </a:xfrm>
          <a:prstGeom prst="rect">
            <a:avLst/>
          </a:prstGeom>
          <a:solidFill>
            <a:schemeClr val="accent3">
              <a:lumMod val="50000"/>
            </a:schemeClr>
          </a:solidFill>
          <a:ln w="9525" algn="ctr">
            <a:solidFill>
              <a:schemeClr val="bg1">
                <a:lumMod val="50000"/>
              </a:schemeClr>
            </a:solidFill>
            <a:miter lim="800000"/>
            <a:headEnd/>
            <a:tailEnd/>
          </a:ln>
        </p:spPr>
        <p:txBody>
          <a:bodyPr wrap="none" anchor="ctr"/>
          <a:lstStyle/>
          <a:p>
            <a:pPr algn="ctr"/>
            <a:r>
              <a:rPr lang="ko-KR" altLang="en-US" sz="1200" dirty="0" err="1">
                <a:solidFill>
                  <a:schemeClr val="bg1"/>
                </a:solidFill>
                <a:latin typeface="+mn-ea"/>
              </a:rPr>
              <a:t>거절결정</a:t>
            </a:r>
            <a:r>
              <a:rPr lang="en-US" altLang="ko-KR" sz="1200" dirty="0">
                <a:solidFill>
                  <a:schemeClr val="bg1"/>
                </a:solidFill>
                <a:latin typeface="+mn-ea"/>
              </a:rPr>
              <a:t>(X)</a:t>
            </a:r>
            <a:endParaRPr lang="ko-KR" altLang="en-US" sz="1200" b="0" dirty="0">
              <a:solidFill>
                <a:schemeClr val="bg1"/>
              </a:solidFill>
              <a:latin typeface="+mn-ea"/>
            </a:endParaRPr>
          </a:p>
        </p:txBody>
      </p:sp>
      <p:sp>
        <p:nvSpPr>
          <p:cNvPr id="33" name="Rectangle 14"/>
          <p:cNvSpPr>
            <a:spLocks noChangeArrowheads="1"/>
          </p:cNvSpPr>
          <p:nvPr/>
        </p:nvSpPr>
        <p:spPr bwMode="auto">
          <a:xfrm>
            <a:off x="4324174" y="2404875"/>
            <a:ext cx="1089044"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a:latin typeface="+mn-ea"/>
              </a:rPr>
              <a:t>재심사청구</a:t>
            </a:r>
            <a:r>
              <a:rPr lang="en-US" altLang="ko-KR" sz="1200" b="0" dirty="0">
                <a:latin typeface="+mn-ea"/>
              </a:rPr>
              <a:t>(X)</a:t>
            </a:r>
            <a:endParaRPr lang="ko-KR" altLang="en-US" sz="1200" b="0" dirty="0">
              <a:latin typeface="+mn-ea"/>
            </a:endParaRPr>
          </a:p>
        </p:txBody>
      </p:sp>
      <p:sp>
        <p:nvSpPr>
          <p:cNvPr id="34" name="Rectangle 14"/>
          <p:cNvSpPr>
            <a:spLocks noChangeArrowheads="1"/>
          </p:cNvSpPr>
          <p:nvPr/>
        </p:nvSpPr>
        <p:spPr bwMode="auto">
          <a:xfrm>
            <a:off x="681090" y="2404875"/>
            <a:ext cx="1089044"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최초출원</a:t>
            </a:r>
            <a:r>
              <a:rPr lang="en-US" altLang="ko-KR" sz="1200" dirty="0">
                <a:latin typeface="+mn-ea"/>
              </a:rPr>
              <a:t>(X)</a:t>
            </a:r>
            <a:endParaRPr lang="ko-KR" altLang="en-US" sz="1200" b="0" dirty="0">
              <a:latin typeface="+mn-ea"/>
            </a:endParaRPr>
          </a:p>
        </p:txBody>
      </p:sp>
      <p:sp>
        <p:nvSpPr>
          <p:cNvPr id="37" name="Rectangle 14"/>
          <p:cNvSpPr>
            <a:spLocks noChangeArrowheads="1"/>
          </p:cNvSpPr>
          <p:nvPr/>
        </p:nvSpPr>
        <p:spPr bwMode="auto">
          <a:xfrm>
            <a:off x="6118468" y="2404875"/>
            <a:ext cx="1089044" cy="359005"/>
          </a:xfrm>
          <a:prstGeom prst="rect">
            <a:avLst/>
          </a:prstGeom>
          <a:solidFill>
            <a:schemeClr val="accent3">
              <a:lumMod val="50000"/>
            </a:schemeClr>
          </a:solidFill>
          <a:ln w="9525" algn="ctr">
            <a:solidFill>
              <a:schemeClr val="bg1">
                <a:lumMod val="50000"/>
              </a:schemeClr>
            </a:solidFill>
            <a:miter lim="800000"/>
            <a:headEnd/>
            <a:tailEnd/>
          </a:ln>
        </p:spPr>
        <p:txBody>
          <a:bodyPr wrap="none" anchor="ctr"/>
          <a:lstStyle/>
          <a:p>
            <a:pPr algn="ctr"/>
            <a:r>
              <a:rPr lang="ko-KR" altLang="en-US" sz="1200" b="0" dirty="0" err="1">
                <a:solidFill>
                  <a:schemeClr val="bg1"/>
                </a:solidFill>
                <a:latin typeface="+mn-ea"/>
              </a:rPr>
              <a:t>재</a:t>
            </a:r>
            <a:r>
              <a:rPr lang="ko-KR" altLang="en-US" sz="1200" dirty="0" err="1">
                <a:solidFill>
                  <a:schemeClr val="bg1"/>
                </a:solidFill>
                <a:latin typeface="+mn-ea"/>
              </a:rPr>
              <a:t>거절결정</a:t>
            </a:r>
            <a:r>
              <a:rPr lang="en-US" altLang="ko-KR" sz="1200" b="0" dirty="0">
                <a:solidFill>
                  <a:schemeClr val="bg1"/>
                </a:solidFill>
                <a:latin typeface="+mn-ea"/>
              </a:rPr>
              <a:t>(X)</a:t>
            </a:r>
            <a:endParaRPr lang="ko-KR" altLang="en-US" sz="1200" b="0" dirty="0">
              <a:solidFill>
                <a:schemeClr val="bg1"/>
              </a:solidFill>
              <a:latin typeface="+mn-ea"/>
            </a:endParaRPr>
          </a:p>
        </p:txBody>
      </p:sp>
      <p:sp>
        <p:nvSpPr>
          <p:cNvPr id="38" name="Rectangle 14"/>
          <p:cNvSpPr>
            <a:spLocks noChangeArrowheads="1"/>
          </p:cNvSpPr>
          <p:nvPr/>
        </p:nvSpPr>
        <p:spPr bwMode="auto">
          <a:xfrm>
            <a:off x="9592617" y="2404875"/>
            <a:ext cx="1089044" cy="359005"/>
          </a:xfrm>
          <a:prstGeom prst="rect">
            <a:avLst/>
          </a:prstGeom>
          <a:solidFill>
            <a:schemeClr val="accent1">
              <a:lumMod val="20000"/>
              <a:lumOff val="80000"/>
            </a:schemeClr>
          </a:solidFill>
          <a:ln w="9525" algn="ctr">
            <a:solidFill>
              <a:schemeClr val="bg1">
                <a:lumMod val="50000"/>
              </a:schemeClr>
            </a:solidFill>
            <a:prstDash val="solid"/>
            <a:miter lim="800000"/>
            <a:headEnd/>
            <a:tailEnd/>
          </a:ln>
        </p:spPr>
        <p:txBody>
          <a:bodyPr wrap="none" anchor="ctr"/>
          <a:lstStyle/>
          <a:p>
            <a:pPr algn="ctr"/>
            <a:r>
              <a:rPr lang="ko-KR" altLang="en-US" sz="1200" b="0" dirty="0">
                <a:latin typeface="+mn-ea"/>
              </a:rPr>
              <a:t>심판청구</a:t>
            </a:r>
            <a:r>
              <a:rPr lang="en-US" altLang="ko-KR" sz="1200" b="0" dirty="0">
                <a:latin typeface="+mn-ea"/>
              </a:rPr>
              <a:t>(X)</a:t>
            </a:r>
            <a:endParaRPr lang="ko-KR" altLang="en-US" sz="1200" b="0" dirty="0">
              <a:latin typeface="+mn-ea"/>
            </a:endParaRPr>
          </a:p>
        </p:txBody>
      </p:sp>
      <p:sp>
        <p:nvSpPr>
          <p:cNvPr id="39" name="Rectangle 14"/>
          <p:cNvSpPr>
            <a:spLocks noChangeArrowheads="1"/>
          </p:cNvSpPr>
          <p:nvPr/>
        </p:nvSpPr>
        <p:spPr bwMode="auto">
          <a:xfrm>
            <a:off x="7884591" y="2404875"/>
            <a:ext cx="1089044" cy="359005"/>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200" dirty="0">
                <a:latin typeface="+mn-ea"/>
              </a:rPr>
              <a:t>분할출원</a:t>
            </a:r>
            <a:r>
              <a:rPr lang="en-US" altLang="ko-KR" sz="1200" b="0" dirty="0">
                <a:latin typeface="+mn-ea"/>
              </a:rPr>
              <a:t>(</a:t>
            </a:r>
            <a:r>
              <a:rPr lang="en-US" altLang="ko-KR" sz="1200" dirty="0">
                <a:latin typeface="+mn-ea"/>
              </a:rPr>
              <a:t>Y</a:t>
            </a:r>
            <a:r>
              <a:rPr lang="en-US" altLang="ko-KR" sz="1200" b="0" dirty="0">
                <a:latin typeface="+mn-ea"/>
              </a:rPr>
              <a:t>)</a:t>
            </a:r>
            <a:endParaRPr lang="ko-KR" altLang="en-US" sz="1200" b="0" dirty="0">
              <a:latin typeface="+mn-ea"/>
            </a:endParaRPr>
          </a:p>
        </p:txBody>
      </p:sp>
      <p:sp>
        <p:nvSpPr>
          <p:cNvPr id="40" name="Rectangle 14"/>
          <p:cNvSpPr>
            <a:spLocks noChangeArrowheads="1"/>
          </p:cNvSpPr>
          <p:nvPr/>
        </p:nvSpPr>
        <p:spPr bwMode="auto">
          <a:xfrm>
            <a:off x="380949" y="3155373"/>
            <a:ext cx="1689326" cy="519480"/>
          </a:xfrm>
          <a:prstGeom prst="rect">
            <a:avLst/>
          </a:prstGeom>
          <a:noFill/>
          <a:ln w="9525" algn="ctr">
            <a:solidFill>
              <a:schemeClr val="bg1">
                <a:lumMod val="50000"/>
              </a:schemeClr>
            </a:solidFill>
            <a:miter lim="800000"/>
            <a:headEnd/>
            <a:tailEnd/>
          </a:ln>
        </p:spPr>
        <p:txBody>
          <a:bodyPr wrap="none" anchor="ctr"/>
          <a:lstStyle/>
          <a:p>
            <a:pPr algn="ctr"/>
            <a:r>
              <a:rPr lang="en-US" altLang="ko-KR" sz="1100" dirty="0">
                <a:latin typeface="+mn-ea"/>
              </a:rPr>
              <a:t>1</a:t>
            </a:r>
            <a:r>
              <a:rPr lang="ko-KR" altLang="en-US" sz="1100" dirty="0">
                <a:latin typeface="+mn-ea"/>
              </a:rPr>
              <a:t>항</a:t>
            </a:r>
            <a:r>
              <a:rPr lang="en-US" altLang="ko-KR" sz="1100" dirty="0">
                <a:latin typeface="+mn-ea"/>
              </a:rPr>
              <a:t>~20</a:t>
            </a:r>
            <a:r>
              <a:rPr lang="ko-KR" altLang="en-US" sz="1100" dirty="0">
                <a:latin typeface="+mn-ea"/>
              </a:rPr>
              <a:t>항</a:t>
            </a:r>
            <a:endParaRPr lang="ko-KR" altLang="en-US" sz="1100" b="0" dirty="0">
              <a:latin typeface="+mn-ea"/>
            </a:endParaRPr>
          </a:p>
        </p:txBody>
      </p:sp>
      <p:cxnSp>
        <p:nvCxnSpPr>
          <p:cNvPr id="5" name="직선 연결선 4"/>
          <p:cNvCxnSpPr>
            <a:stCxn id="40" idx="0"/>
            <a:endCxn id="34" idx="2"/>
          </p:cNvCxnSpPr>
          <p:nvPr/>
        </p:nvCxnSpPr>
        <p:spPr>
          <a:xfrm flipV="1">
            <a:off x="1225612" y="2763880"/>
            <a:ext cx="0" cy="39149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Rectangle 14"/>
          <p:cNvSpPr>
            <a:spLocks noChangeArrowheads="1"/>
          </p:cNvSpPr>
          <p:nvPr/>
        </p:nvSpPr>
        <p:spPr bwMode="auto">
          <a:xfrm>
            <a:off x="2180376" y="3155373"/>
            <a:ext cx="1689326" cy="519480"/>
          </a:xfrm>
          <a:prstGeom prst="rect">
            <a:avLst/>
          </a:prstGeom>
          <a:noFill/>
          <a:ln w="9525" algn="ctr">
            <a:solidFill>
              <a:schemeClr val="bg1">
                <a:lumMod val="50000"/>
              </a:schemeClr>
            </a:solidFill>
            <a:miter lim="800000"/>
            <a:headEnd/>
            <a:tailEnd/>
          </a:ln>
        </p:spPr>
        <p:txBody>
          <a:bodyPr wrap="none" anchor="ctr"/>
          <a:lstStyle/>
          <a:p>
            <a:pPr algn="ctr"/>
            <a:r>
              <a:rPr lang="ko-KR" altLang="en-US" sz="1100" dirty="0">
                <a:latin typeface="+mn-ea"/>
              </a:rPr>
              <a:t>거절</a:t>
            </a:r>
            <a:r>
              <a:rPr lang="en-US" altLang="ko-KR" sz="1100" dirty="0">
                <a:latin typeface="+mn-ea"/>
              </a:rPr>
              <a:t>: 1</a:t>
            </a:r>
            <a:r>
              <a:rPr lang="ko-KR" altLang="en-US" sz="1100" dirty="0">
                <a:latin typeface="+mn-ea"/>
              </a:rPr>
              <a:t>항</a:t>
            </a:r>
            <a:r>
              <a:rPr lang="en-US" altLang="ko-KR" sz="1100" dirty="0">
                <a:latin typeface="+mn-ea"/>
              </a:rPr>
              <a:t>~20</a:t>
            </a:r>
            <a:r>
              <a:rPr lang="ko-KR" altLang="en-US" sz="1100" dirty="0">
                <a:latin typeface="+mn-ea"/>
              </a:rPr>
              <a:t>항</a:t>
            </a:r>
            <a:endParaRPr lang="ko-KR" altLang="en-US" sz="1100" b="0" dirty="0">
              <a:latin typeface="+mn-ea"/>
            </a:endParaRPr>
          </a:p>
        </p:txBody>
      </p:sp>
      <p:cxnSp>
        <p:nvCxnSpPr>
          <p:cNvPr id="45" name="직선 연결선 44"/>
          <p:cNvCxnSpPr>
            <a:stCxn id="44" idx="0"/>
          </p:cNvCxnSpPr>
          <p:nvPr/>
        </p:nvCxnSpPr>
        <p:spPr>
          <a:xfrm flipV="1">
            <a:off x="3025039" y="2763881"/>
            <a:ext cx="0" cy="39149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6" name="Rectangle 14"/>
          <p:cNvSpPr>
            <a:spLocks noChangeArrowheads="1"/>
          </p:cNvSpPr>
          <p:nvPr/>
        </p:nvSpPr>
        <p:spPr bwMode="auto">
          <a:xfrm>
            <a:off x="4024033" y="3155373"/>
            <a:ext cx="1689326" cy="519480"/>
          </a:xfrm>
          <a:prstGeom prst="rect">
            <a:avLst/>
          </a:prstGeom>
          <a:noFill/>
          <a:ln w="9525" algn="ctr">
            <a:solidFill>
              <a:schemeClr val="bg1">
                <a:lumMod val="50000"/>
              </a:schemeClr>
            </a:solidFill>
            <a:miter lim="800000"/>
            <a:headEnd/>
            <a:tailEnd/>
          </a:ln>
        </p:spPr>
        <p:txBody>
          <a:bodyPr wrap="none" anchor="ctr"/>
          <a:lstStyle/>
          <a:p>
            <a:pPr algn="ctr"/>
            <a:r>
              <a:rPr lang="ko-KR" altLang="en-US" sz="1100" dirty="0">
                <a:latin typeface="+mn-ea"/>
              </a:rPr>
              <a:t>삭제</a:t>
            </a:r>
            <a:r>
              <a:rPr lang="en-US" altLang="ko-KR" sz="1100" dirty="0">
                <a:latin typeface="+mn-ea"/>
              </a:rPr>
              <a:t>: 1</a:t>
            </a:r>
            <a:r>
              <a:rPr lang="ko-KR" altLang="en-US" sz="1100" dirty="0">
                <a:latin typeface="+mn-ea"/>
              </a:rPr>
              <a:t>항</a:t>
            </a:r>
            <a:r>
              <a:rPr lang="en-US" altLang="ko-KR" sz="1100" dirty="0">
                <a:latin typeface="+mn-ea"/>
              </a:rPr>
              <a:t>~10</a:t>
            </a:r>
            <a:r>
              <a:rPr lang="ko-KR" altLang="en-US" sz="1100" dirty="0">
                <a:latin typeface="+mn-ea"/>
              </a:rPr>
              <a:t>항</a:t>
            </a:r>
            <a:endParaRPr lang="en-US" altLang="ko-KR" sz="1100" dirty="0">
              <a:latin typeface="+mn-ea"/>
            </a:endParaRPr>
          </a:p>
          <a:p>
            <a:pPr algn="ctr"/>
            <a:r>
              <a:rPr lang="ko-KR" altLang="en-US" sz="1100" b="0" dirty="0">
                <a:latin typeface="+mn-ea"/>
              </a:rPr>
              <a:t>감축</a:t>
            </a:r>
            <a:r>
              <a:rPr lang="en-US" altLang="ko-KR" sz="1100" b="0" dirty="0">
                <a:latin typeface="+mn-ea"/>
              </a:rPr>
              <a:t>: 11</a:t>
            </a:r>
            <a:r>
              <a:rPr lang="ko-KR" altLang="en-US" sz="1100" b="0" dirty="0">
                <a:latin typeface="+mn-ea"/>
              </a:rPr>
              <a:t>항</a:t>
            </a:r>
            <a:r>
              <a:rPr lang="en-US" altLang="ko-KR" sz="1100" dirty="0">
                <a:latin typeface="+mn-ea"/>
              </a:rPr>
              <a:t>~20</a:t>
            </a:r>
            <a:r>
              <a:rPr lang="ko-KR" altLang="en-US" sz="1100" dirty="0">
                <a:latin typeface="+mn-ea"/>
              </a:rPr>
              <a:t>항</a:t>
            </a:r>
            <a:endParaRPr lang="ko-KR" altLang="en-US" sz="1100" b="0" dirty="0">
              <a:latin typeface="+mn-ea"/>
            </a:endParaRPr>
          </a:p>
        </p:txBody>
      </p:sp>
      <p:cxnSp>
        <p:nvCxnSpPr>
          <p:cNvPr id="47" name="직선 연결선 46"/>
          <p:cNvCxnSpPr>
            <a:stCxn id="46" idx="0"/>
          </p:cNvCxnSpPr>
          <p:nvPr/>
        </p:nvCxnSpPr>
        <p:spPr>
          <a:xfrm flipV="1">
            <a:off x="4868696" y="2763881"/>
            <a:ext cx="0" cy="39149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Rectangle 14"/>
          <p:cNvSpPr>
            <a:spLocks noChangeArrowheads="1"/>
          </p:cNvSpPr>
          <p:nvPr/>
        </p:nvSpPr>
        <p:spPr bwMode="auto">
          <a:xfrm>
            <a:off x="5818327" y="3155373"/>
            <a:ext cx="1689326" cy="519480"/>
          </a:xfrm>
          <a:prstGeom prst="rect">
            <a:avLst/>
          </a:prstGeom>
          <a:noFill/>
          <a:ln w="9525" algn="ctr">
            <a:solidFill>
              <a:schemeClr val="bg1">
                <a:lumMod val="50000"/>
              </a:schemeClr>
            </a:solidFill>
            <a:miter lim="800000"/>
            <a:headEnd/>
            <a:tailEnd/>
          </a:ln>
        </p:spPr>
        <p:txBody>
          <a:bodyPr wrap="none" anchor="ctr"/>
          <a:lstStyle/>
          <a:p>
            <a:pPr algn="ctr"/>
            <a:r>
              <a:rPr lang="ko-KR" altLang="en-US" sz="1100" dirty="0">
                <a:solidFill>
                  <a:schemeClr val="tx2">
                    <a:lumMod val="50000"/>
                  </a:schemeClr>
                </a:solidFill>
                <a:latin typeface="+mn-ea"/>
              </a:rPr>
              <a:t>거절</a:t>
            </a:r>
            <a:r>
              <a:rPr lang="en-US" altLang="ko-KR" sz="1100" dirty="0">
                <a:solidFill>
                  <a:schemeClr val="tx2">
                    <a:lumMod val="50000"/>
                  </a:schemeClr>
                </a:solidFill>
                <a:latin typeface="+mn-ea"/>
              </a:rPr>
              <a:t>: 11</a:t>
            </a:r>
            <a:r>
              <a:rPr lang="ko-KR" altLang="en-US" sz="1100" dirty="0">
                <a:solidFill>
                  <a:schemeClr val="tx2">
                    <a:lumMod val="50000"/>
                  </a:schemeClr>
                </a:solidFill>
                <a:latin typeface="+mn-ea"/>
              </a:rPr>
              <a:t>항</a:t>
            </a:r>
            <a:r>
              <a:rPr lang="en-US" altLang="ko-KR" sz="1100" dirty="0">
                <a:solidFill>
                  <a:schemeClr val="tx2">
                    <a:lumMod val="50000"/>
                  </a:schemeClr>
                </a:solidFill>
                <a:latin typeface="+mn-ea"/>
              </a:rPr>
              <a:t>~15</a:t>
            </a:r>
            <a:r>
              <a:rPr lang="ko-KR" altLang="en-US" sz="1100" dirty="0">
                <a:solidFill>
                  <a:schemeClr val="tx2">
                    <a:lumMod val="50000"/>
                  </a:schemeClr>
                </a:solidFill>
                <a:latin typeface="+mn-ea"/>
              </a:rPr>
              <a:t>항</a:t>
            </a:r>
            <a:endParaRPr lang="en-US" altLang="ko-KR" sz="1100" dirty="0">
              <a:solidFill>
                <a:schemeClr val="tx2">
                  <a:lumMod val="50000"/>
                </a:schemeClr>
              </a:solidFill>
              <a:latin typeface="+mn-ea"/>
            </a:endParaRPr>
          </a:p>
          <a:p>
            <a:pPr algn="ctr"/>
            <a:r>
              <a:rPr lang="ko-KR" altLang="en-US" sz="1100" b="0" dirty="0">
                <a:latin typeface="+mn-ea"/>
              </a:rPr>
              <a:t>등록가능</a:t>
            </a:r>
            <a:r>
              <a:rPr lang="en-US" altLang="ko-KR" sz="1100" b="0" dirty="0">
                <a:latin typeface="+mn-ea"/>
              </a:rPr>
              <a:t>: 16</a:t>
            </a:r>
            <a:r>
              <a:rPr lang="ko-KR" altLang="en-US" sz="1100" b="0" dirty="0">
                <a:latin typeface="+mn-ea"/>
              </a:rPr>
              <a:t>항</a:t>
            </a:r>
            <a:r>
              <a:rPr lang="en-US" altLang="ko-KR" sz="1100" dirty="0">
                <a:latin typeface="+mn-ea"/>
              </a:rPr>
              <a:t>~20</a:t>
            </a:r>
            <a:r>
              <a:rPr lang="ko-KR" altLang="en-US" sz="1100" dirty="0">
                <a:latin typeface="+mn-ea"/>
              </a:rPr>
              <a:t>항</a:t>
            </a:r>
            <a:endParaRPr lang="ko-KR" altLang="en-US" sz="1100" b="0" dirty="0">
              <a:latin typeface="+mn-ea"/>
            </a:endParaRPr>
          </a:p>
        </p:txBody>
      </p:sp>
      <p:cxnSp>
        <p:nvCxnSpPr>
          <p:cNvPr id="49" name="직선 연결선 48"/>
          <p:cNvCxnSpPr>
            <a:stCxn id="48" idx="0"/>
          </p:cNvCxnSpPr>
          <p:nvPr/>
        </p:nvCxnSpPr>
        <p:spPr>
          <a:xfrm flipV="1">
            <a:off x="6662990" y="2763881"/>
            <a:ext cx="0" cy="39149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Rectangle 14"/>
          <p:cNvSpPr>
            <a:spLocks noChangeArrowheads="1"/>
          </p:cNvSpPr>
          <p:nvPr/>
        </p:nvSpPr>
        <p:spPr bwMode="auto">
          <a:xfrm>
            <a:off x="7635829" y="3155373"/>
            <a:ext cx="1689326" cy="519480"/>
          </a:xfrm>
          <a:prstGeom prst="rect">
            <a:avLst/>
          </a:prstGeom>
          <a:noFill/>
          <a:ln w="9525" algn="ctr">
            <a:solidFill>
              <a:schemeClr val="bg1">
                <a:lumMod val="50000"/>
              </a:schemeClr>
            </a:solidFill>
            <a:miter lim="800000"/>
            <a:headEnd/>
            <a:tailEnd/>
          </a:ln>
        </p:spPr>
        <p:txBody>
          <a:bodyPr wrap="none" anchor="ctr"/>
          <a:lstStyle/>
          <a:p>
            <a:pPr algn="ctr"/>
            <a:r>
              <a:rPr lang="en-US" altLang="ko-KR" sz="1100" b="0" dirty="0">
                <a:latin typeface="+mn-ea"/>
              </a:rPr>
              <a:t>16</a:t>
            </a:r>
            <a:r>
              <a:rPr lang="ko-KR" altLang="en-US" sz="1100" b="0" dirty="0">
                <a:latin typeface="+mn-ea"/>
              </a:rPr>
              <a:t>항</a:t>
            </a:r>
            <a:r>
              <a:rPr lang="en-US" altLang="ko-KR" sz="1100" dirty="0">
                <a:latin typeface="+mn-ea"/>
              </a:rPr>
              <a:t>~20</a:t>
            </a:r>
            <a:r>
              <a:rPr lang="ko-KR" altLang="en-US" sz="1100" dirty="0">
                <a:latin typeface="+mn-ea"/>
              </a:rPr>
              <a:t>항</a:t>
            </a:r>
            <a:endParaRPr lang="ko-KR" altLang="en-US" sz="1100" b="0" dirty="0">
              <a:latin typeface="+mn-ea"/>
            </a:endParaRPr>
          </a:p>
        </p:txBody>
      </p:sp>
      <p:cxnSp>
        <p:nvCxnSpPr>
          <p:cNvPr id="51" name="직선 연결선 50"/>
          <p:cNvCxnSpPr>
            <a:stCxn id="50" idx="0"/>
          </p:cNvCxnSpPr>
          <p:nvPr/>
        </p:nvCxnSpPr>
        <p:spPr>
          <a:xfrm flipV="1">
            <a:off x="8480492" y="2763881"/>
            <a:ext cx="0" cy="39149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 name="모서리가 둥근 사각형 설명선 6"/>
          <p:cNvSpPr/>
          <p:nvPr/>
        </p:nvSpPr>
        <p:spPr>
          <a:xfrm>
            <a:off x="4920455" y="1966822"/>
            <a:ext cx="1364956" cy="276050"/>
          </a:xfrm>
          <a:prstGeom prst="wedgeRoundRectCallout">
            <a:avLst>
              <a:gd name="adj1" fmla="val -36601"/>
              <a:gd name="adj2" fmla="val 100595"/>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거절결정취소간주</a:t>
            </a:r>
          </a:p>
        </p:txBody>
      </p:sp>
      <p:sp>
        <p:nvSpPr>
          <p:cNvPr id="53" name="순서도: 판단 52"/>
          <p:cNvSpPr/>
          <p:nvPr/>
        </p:nvSpPr>
        <p:spPr bwMode="auto">
          <a:xfrm>
            <a:off x="2260081" y="4582674"/>
            <a:ext cx="1920213" cy="760764"/>
          </a:xfrm>
          <a:prstGeom prst="flowChartDecision">
            <a:avLst/>
          </a:prstGeom>
          <a:solidFill>
            <a:schemeClr val="accent1">
              <a:lumMod val="20000"/>
              <a:lumOff val="80000"/>
            </a:schemeClr>
          </a:solidFill>
          <a:ln>
            <a:solidFill>
              <a:schemeClr val="bg1">
                <a:lumMod val="50000"/>
              </a:schemeClr>
            </a:solidFill>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0" tIns="46800" rIns="0" bIns="4680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ko-KR" altLang="en-US" sz="1400" b="0" i="0" u="none" strike="noStrike" cap="none" normalizeH="0" baseline="0" dirty="0">
                <a:ln>
                  <a:noFill/>
                </a:ln>
                <a:solidFill>
                  <a:schemeClr val="tx2">
                    <a:lumMod val="50000"/>
                  </a:schemeClr>
                </a:solidFill>
                <a:effectLst/>
                <a:latin typeface="+mn-ea"/>
              </a:rPr>
              <a:t>심판청구</a:t>
            </a:r>
            <a:r>
              <a:rPr kumimoji="1" lang="en-US" altLang="ko-KR" sz="1400" b="0" i="0" u="none" strike="noStrike" cap="none" normalizeH="0" baseline="0" dirty="0">
                <a:ln>
                  <a:noFill/>
                </a:ln>
                <a:solidFill>
                  <a:schemeClr val="tx2">
                    <a:lumMod val="50000"/>
                  </a:schemeClr>
                </a:solidFill>
                <a:effectLst/>
                <a:latin typeface="+mn-ea"/>
              </a:rPr>
              <a:t>(X)</a:t>
            </a:r>
            <a:endParaRPr kumimoji="1" lang="ko-KR" altLang="en-US" sz="1400" b="0" i="0" u="none" strike="noStrike" cap="none" normalizeH="0" baseline="0" dirty="0">
              <a:ln>
                <a:noFill/>
              </a:ln>
              <a:solidFill>
                <a:schemeClr val="tx2">
                  <a:lumMod val="50000"/>
                </a:schemeClr>
              </a:solidFill>
              <a:effectLst/>
              <a:latin typeface="+mn-ea"/>
            </a:endParaRPr>
          </a:p>
        </p:txBody>
      </p:sp>
      <p:cxnSp>
        <p:nvCxnSpPr>
          <p:cNvPr id="54" name="직선 연결선 53"/>
          <p:cNvCxnSpPr/>
          <p:nvPr/>
        </p:nvCxnSpPr>
        <p:spPr>
          <a:xfrm flipH="1">
            <a:off x="336431" y="4019916"/>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2461236" y="5910780"/>
            <a:ext cx="1538926" cy="349800"/>
          </a:xfrm>
          <a:prstGeom prst="rect">
            <a:avLst/>
          </a:prstGeom>
          <a:solidFill>
            <a:schemeClr val="accent4"/>
          </a:solidFill>
          <a:ln>
            <a:solidFill>
              <a:schemeClr val="bg1">
                <a:lumMod val="50000"/>
              </a:schemeClr>
            </a:solidFill>
          </a:ln>
        </p:spPr>
        <p:txBody>
          <a:bodyPr wrap="none" rtlCol="0" anchor="ctr">
            <a:noAutofit/>
          </a:bodyPr>
          <a:lstStyle/>
          <a:p>
            <a:pPr algn="ctr"/>
            <a:r>
              <a:rPr lang="ko-KR" altLang="en-US" sz="1400" b="0" dirty="0">
                <a:solidFill>
                  <a:schemeClr val="tx1"/>
                </a:solidFill>
                <a:latin typeface="+mn-ea"/>
              </a:rPr>
              <a:t>특허결정</a:t>
            </a:r>
            <a:r>
              <a:rPr lang="en-US" altLang="ko-KR" sz="1400" b="0" dirty="0">
                <a:solidFill>
                  <a:schemeClr val="tx1"/>
                </a:solidFill>
                <a:latin typeface="+mn-ea"/>
              </a:rPr>
              <a:t>(Y)</a:t>
            </a:r>
          </a:p>
        </p:txBody>
      </p:sp>
      <p:cxnSp>
        <p:nvCxnSpPr>
          <p:cNvPr id="11" name="직선 연결선 10"/>
          <p:cNvCxnSpPr>
            <a:stCxn id="53" idx="2"/>
            <a:endCxn id="57" idx="0"/>
          </p:cNvCxnSpPr>
          <p:nvPr/>
        </p:nvCxnSpPr>
        <p:spPr>
          <a:xfrm>
            <a:off x="3220188" y="5343438"/>
            <a:ext cx="10511" cy="56734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순서도: 판단 60"/>
          <p:cNvSpPr/>
          <p:nvPr/>
        </p:nvSpPr>
        <p:spPr bwMode="auto">
          <a:xfrm>
            <a:off x="5134508" y="4582674"/>
            <a:ext cx="1920213" cy="760764"/>
          </a:xfrm>
          <a:prstGeom prst="flowChartDecision">
            <a:avLst/>
          </a:prstGeom>
          <a:solidFill>
            <a:schemeClr val="accent1">
              <a:lumMod val="20000"/>
              <a:lumOff val="80000"/>
            </a:schemeClr>
          </a:solidFill>
          <a:ln>
            <a:solidFill>
              <a:schemeClr val="bg1">
                <a:lumMod val="50000"/>
              </a:schemeClr>
            </a:solidFill>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0" tIns="46800" rIns="0" bIns="4680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ko-KR" altLang="en-US" sz="1400" b="0" i="0" u="none" strike="noStrike" cap="none" normalizeH="0" baseline="0" dirty="0">
                <a:ln>
                  <a:noFill/>
                </a:ln>
                <a:solidFill>
                  <a:schemeClr val="tx2">
                    <a:lumMod val="50000"/>
                  </a:schemeClr>
                </a:solidFill>
                <a:effectLst/>
                <a:latin typeface="+mn-ea"/>
              </a:rPr>
              <a:t>심판결과</a:t>
            </a:r>
            <a:r>
              <a:rPr kumimoji="1" lang="en-US" altLang="ko-KR" sz="1400" b="0" i="0" u="none" strike="noStrike" cap="none" normalizeH="0" baseline="0" dirty="0">
                <a:ln>
                  <a:noFill/>
                </a:ln>
                <a:solidFill>
                  <a:schemeClr val="tx2">
                    <a:lumMod val="50000"/>
                  </a:schemeClr>
                </a:solidFill>
                <a:effectLst/>
                <a:latin typeface="+mn-ea"/>
              </a:rPr>
              <a:t>(X)</a:t>
            </a:r>
          </a:p>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en-US" altLang="ko-KR" sz="1400" dirty="0">
                <a:solidFill>
                  <a:schemeClr val="tx2">
                    <a:lumMod val="50000"/>
                  </a:schemeClr>
                </a:solidFill>
                <a:latin typeface="+mn-ea"/>
              </a:rPr>
              <a:t>(</a:t>
            </a:r>
            <a:r>
              <a:rPr kumimoji="1" lang="ko-KR" altLang="en-US" sz="1400" dirty="0" err="1">
                <a:solidFill>
                  <a:schemeClr val="tx2">
                    <a:lumMod val="50000"/>
                  </a:schemeClr>
                </a:solidFill>
                <a:latin typeface="+mn-ea"/>
              </a:rPr>
              <a:t>심결</a:t>
            </a:r>
            <a:r>
              <a:rPr kumimoji="1" lang="en-US" altLang="ko-KR" sz="1400" dirty="0">
                <a:solidFill>
                  <a:schemeClr val="tx2">
                    <a:lumMod val="50000"/>
                  </a:schemeClr>
                </a:solidFill>
                <a:latin typeface="+mn-ea"/>
              </a:rPr>
              <a:t>)</a:t>
            </a:r>
            <a:endParaRPr kumimoji="1" lang="ko-KR" altLang="en-US" sz="1400" b="0" i="0" u="none" strike="noStrike" cap="none" normalizeH="0" baseline="0" dirty="0">
              <a:ln>
                <a:noFill/>
              </a:ln>
              <a:solidFill>
                <a:schemeClr val="tx2">
                  <a:lumMod val="50000"/>
                </a:schemeClr>
              </a:solidFill>
              <a:effectLst/>
              <a:latin typeface="+mn-ea"/>
            </a:endParaRPr>
          </a:p>
        </p:txBody>
      </p:sp>
      <p:cxnSp>
        <p:nvCxnSpPr>
          <p:cNvPr id="14" name="직선 연결선 13"/>
          <p:cNvCxnSpPr>
            <a:stCxn id="53" idx="3"/>
            <a:endCxn id="61" idx="1"/>
          </p:cNvCxnSpPr>
          <p:nvPr/>
        </p:nvCxnSpPr>
        <p:spPr>
          <a:xfrm>
            <a:off x="4180294" y="4963056"/>
            <a:ext cx="954214"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4180293" y="4659950"/>
            <a:ext cx="745369" cy="349800"/>
          </a:xfrm>
          <a:prstGeom prst="rect">
            <a:avLst/>
          </a:prstGeom>
          <a:noFill/>
          <a:ln>
            <a:noFill/>
          </a:ln>
        </p:spPr>
        <p:txBody>
          <a:bodyPr wrap="none" rtlCol="0" anchor="ctr">
            <a:noAutofit/>
          </a:bodyPr>
          <a:lstStyle/>
          <a:p>
            <a:r>
              <a:rPr lang="en-US" altLang="ko-KR" sz="1200" b="0" dirty="0">
                <a:solidFill>
                  <a:schemeClr val="tx1"/>
                </a:solidFill>
                <a:latin typeface="+mn-ea"/>
              </a:rPr>
              <a:t>Yes</a:t>
            </a:r>
          </a:p>
        </p:txBody>
      </p:sp>
      <p:sp>
        <p:nvSpPr>
          <p:cNvPr id="66" name="TextBox 65"/>
          <p:cNvSpPr txBox="1"/>
          <p:nvPr/>
        </p:nvSpPr>
        <p:spPr>
          <a:xfrm>
            <a:off x="3230699" y="5336491"/>
            <a:ext cx="745369" cy="349800"/>
          </a:xfrm>
          <a:prstGeom prst="rect">
            <a:avLst/>
          </a:prstGeom>
          <a:noFill/>
          <a:ln>
            <a:noFill/>
          </a:ln>
        </p:spPr>
        <p:txBody>
          <a:bodyPr wrap="none" rtlCol="0" anchor="ctr">
            <a:noAutofit/>
          </a:bodyPr>
          <a:lstStyle/>
          <a:p>
            <a:r>
              <a:rPr lang="en-US" altLang="ko-KR" sz="1200" b="0" dirty="0">
                <a:solidFill>
                  <a:schemeClr val="tx1"/>
                </a:solidFill>
                <a:latin typeface="+mn-ea"/>
              </a:rPr>
              <a:t>No</a:t>
            </a:r>
          </a:p>
        </p:txBody>
      </p:sp>
      <p:cxnSp>
        <p:nvCxnSpPr>
          <p:cNvPr id="17" name="꺾인 연결선 16"/>
          <p:cNvCxnSpPr>
            <a:stCxn id="61" idx="2"/>
            <a:endCxn id="57" idx="3"/>
          </p:cNvCxnSpPr>
          <p:nvPr/>
        </p:nvCxnSpPr>
        <p:spPr>
          <a:xfrm rot="5400000">
            <a:off x="4676268" y="4667333"/>
            <a:ext cx="742242" cy="2094453"/>
          </a:xfrm>
          <a:prstGeom prst="bentConnector2">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TextBox 68"/>
          <p:cNvSpPr txBox="1"/>
          <p:nvPr/>
        </p:nvSpPr>
        <p:spPr>
          <a:xfrm>
            <a:off x="6106870" y="5336491"/>
            <a:ext cx="745369" cy="349800"/>
          </a:xfrm>
          <a:prstGeom prst="rect">
            <a:avLst/>
          </a:prstGeom>
          <a:noFill/>
          <a:ln>
            <a:noFill/>
          </a:ln>
        </p:spPr>
        <p:txBody>
          <a:bodyPr wrap="none" rtlCol="0" anchor="ctr">
            <a:noAutofit/>
          </a:bodyPr>
          <a:lstStyle/>
          <a:p>
            <a:r>
              <a:rPr lang="ko-KR" altLang="en-US" sz="1200" b="0" dirty="0">
                <a:solidFill>
                  <a:schemeClr val="tx1"/>
                </a:solidFill>
                <a:latin typeface="+mn-ea"/>
              </a:rPr>
              <a:t>기각</a:t>
            </a:r>
            <a:endParaRPr lang="en-US" altLang="ko-KR" sz="1200" b="0" dirty="0">
              <a:solidFill>
                <a:schemeClr val="tx1"/>
              </a:solidFill>
              <a:latin typeface="+mn-ea"/>
            </a:endParaRPr>
          </a:p>
        </p:txBody>
      </p:sp>
      <p:sp>
        <p:nvSpPr>
          <p:cNvPr id="72" name="TextBox 71"/>
          <p:cNvSpPr txBox="1"/>
          <p:nvPr/>
        </p:nvSpPr>
        <p:spPr>
          <a:xfrm>
            <a:off x="7855215" y="4788156"/>
            <a:ext cx="1780531" cy="349800"/>
          </a:xfrm>
          <a:prstGeom prst="rect">
            <a:avLst/>
          </a:prstGeom>
          <a:solidFill>
            <a:schemeClr val="accent1">
              <a:lumMod val="40000"/>
              <a:lumOff val="60000"/>
            </a:schemeClr>
          </a:solidFill>
          <a:ln>
            <a:solidFill>
              <a:schemeClr val="bg1">
                <a:lumMod val="50000"/>
              </a:schemeClr>
            </a:solidFill>
          </a:ln>
        </p:spPr>
        <p:txBody>
          <a:bodyPr wrap="none" rtlCol="0" anchor="ctr">
            <a:noAutofit/>
          </a:bodyPr>
          <a:lstStyle/>
          <a:p>
            <a:pPr algn="ctr"/>
            <a:r>
              <a:rPr lang="ko-KR" altLang="en-US" sz="1400" dirty="0" err="1">
                <a:latin typeface="+mn-ea"/>
              </a:rPr>
              <a:t>협의제</a:t>
            </a:r>
            <a:r>
              <a:rPr lang="en-US" altLang="ko-KR" sz="1400" dirty="0">
                <a:latin typeface="+mn-ea"/>
              </a:rPr>
              <a:t>, </a:t>
            </a:r>
            <a:r>
              <a:rPr lang="ko-KR" altLang="en-US" sz="1400" dirty="0" err="1">
                <a:latin typeface="+mn-ea"/>
              </a:rPr>
              <a:t>협의명령</a:t>
            </a:r>
            <a:r>
              <a:rPr lang="en-US" altLang="ko-KR" sz="1400" dirty="0">
                <a:latin typeface="+mn-ea"/>
              </a:rPr>
              <a:t>(X)</a:t>
            </a:r>
            <a:endParaRPr lang="en-US" altLang="ko-KR" sz="1400" b="0" dirty="0">
              <a:latin typeface="+mn-ea"/>
            </a:endParaRPr>
          </a:p>
        </p:txBody>
      </p:sp>
      <p:cxnSp>
        <p:nvCxnSpPr>
          <p:cNvPr id="73" name="직선 연결선 72"/>
          <p:cNvCxnSpPr>
            <a:endCxn id="72" idx="1"/>
          </p:cNvCxnSpPr>
          <p:nvPr/>
        </p:nvCxnSpPr>
        <p:spPr>
          <a:xfrm>
            <a:off x="7039809" y="4963056"/>
            <a:ext cx="815406"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4" name="TextBox 73"/>
          <p:cNvSpPr txBox="1"/>
          <p:nvPr/>
        </p:nvSpPr>
        <p:spPr>
          <a:xfrm>
            <a:off x="7039808" y="4659950"/>
            <a:ext cx="745369" cy="349800"/>
          </a:xfrm>
          <a:prstGeom prst="rect">
            <a:avLst/>
          </a:prstGeom>
          <a:noFill/>
          <a:ln>
            <a:noFill/>
          </a:ln>
        </p:spPr>
        <p:txBody>
          <a:bodyPr wrap="none" rtlCol="0" anchor="ctr">
            <a:noAutofit/>
          </a:bodyPr>
          <a:lstStyle/>
          <a:p>
            <a:r>
              <a:rPr lang="ko-KR" altLang="en-US" sz="1200" b="0" dirty="0">
                <a:solidFill>
                  <a:schemeClr val="tx1"/>
                </a:solidFill>
                <a:latin typeface="+mn-ea"/>
              </a:rPr>
              <a:t>인용</a:t>
            </a:r>
            <a:endParaRPr lang="en-US" altLang="ko-KR" sz="1200" b="0" dirty="0">
              <a:solidFill>
                <a:schemeClr val="tx1"/>
              </a:solidFill>
              <a:latin typeface="+mn-ea"/>
            </a:endParaRPr>
          </a:p>
        </p:txBody>
      </p:sp>
      <p:sp>
        <p:nvSpPr>
          <p:cNvPr id="81" name="TextBox 80"/>
          <p:cNvSpPr txBox="1"/>
          <p:nvPr/>
        </p:nvSpPr>
        <p:spPr>
          <a:xfrm>
            <a:off x="7855215" y="5137956"/>
            <a:ext cx="1780531" cy="349800"/>
          </a:xfrm>
          <a:prstGeom prst="rect">
            <a:avLst/>
          </a:prstGeom>
          <a:solidFill>
            <a:schemeClr val="accent4"/>
          </a:solidFill>
          <a:ln>
            <a:solidFill>
              <a:schemeClr val="bg1">
                <a:lumMod val="50000"/>
              </a:schemeClr>
            </a:solidFill>
          </a:ln>
        </p:spPr>
        <p:txBody>
          <a:bodyPr wrap="none" rtlCol="0" anchor="ctr">
            <a:noAutofit/>
          </a:bodyPr>
          <a:lstStyle/>
          <a:p>
            <a:pPr algn="ctr"/>
            <a:r>
              <a:rPr lang="ko-KR" altLang="en-US" sz="1400" dirty="0" err="1">
                <a:latin typeface="+mn-ea"/>
              </a:rPr>
              <a:t>협의제</a:t>
            </a:r>
            <a:r>
              <a:rPr lang="en-US" altLang="ko-KR" sz="1400" dirty="0">
                <a:latin typeface="+mn-ea"/>
              </a:rPr>
              <a:t>, </a:t>
            </a:r>
            <a:r>
              <a:rPr lang="ko-KR" altLang="en-US" sz="1400" dirty="0">
                <a:latin typeface="+mn-ea"/>
              </a:rPr>
              <a:t>협의명령</a:t>
            </a:r>
            <a:r>
              <a:rPr lang="en-US" altLang="ko-KR" sz="1400" dirty="0">
                <a:latin typeface="+mn-ea"/>
              </a:rPr>
              <a:t>(Y)</a:t>
            </a:r>
            <a:endParaRPr lang="en-US" altLang="ko-KR" sz="1400" b="0" dirty="0">
              <a:solidFill>
                <a:schemeClr val="tx1"/>
              </a:solidFill>
              <a:latin typeface="+mn-ea"/>
            </a:endParaRPr>
          </a:p>
        </p:txBody>
      </p:sp>
      <p:sp>
        <p:nvSpPr>
          <p:cNvPr id="2" name="슬라이드 번호 개체 틀 1"/>
          <p:cNvSpPr>
            <a:spLocks noGrp="1"/>
          </p:cNvSpPr>
          <p:nvPr>
            <p:ph type="sldNum" sz="quarter" idx="12"/>
          </p:nvPr>
        </p:nvSpPr>
        <p:spPr/>
        <p:txBody>
          <a:bodyPr/>
          <a:lstStyle/>
          <a:p>
            <a:r>
              <a:rPr lang="en-US" altLang="ko-KR"/>
              <a:t>202</a:t>
            </a:r>
            <a:endParaRPr lang="ko-KR" altLang="en-US"/>
          </a:p>
        </p:txBody>
      </p:sp>
      <p:sp>
        <p:nvSpPr>
          <p:cNvPr id="6" name="TextBox 5"/>
          <p:cNvSpPr txBox="1"/>
          <p:nvPr/>
        </p:nvSpPr>
        <p:spPr>
          <a:xfrm>
            <a:off x="10032039" y="4856120"/>
            <a:ext cx="1806905" cy="646331"/>
          </a:xfrm>
          <a:prstGeom prst="rect">
            <a:avLst/>
          </a:prstGeom>
          <a:noFill/>
        </p:spPr>
        <p:txBody>
          <a:bodyPr wrap="none" rtlCol="0">
            <a:spAutoFit/>
          </a:bodyPr>
          <a:lstStyle/>
          <a:p>
            <a:r>
              <a:rPr lang="en-US" altLang="ko-KR" dirty="0">
                <a:solidFill>
                  <a:srgbClr val="FF0000"/>
                </a:solidFill>
              </a:rPr>
              <a:t>X </a:t>
            </a:r>
            <a:r>
              <a:rPr lang="ko-KR" altLang="en-US" dirty="0">
                <a:solidFill>
                  <a:srgbClr val="FF0000"/>
                </a:solidFill>
              </a:rPr>
              <a:t>등록</a:t>
            </a:r>
            <a:r>
              <a:rPr lang="en-US" altLang="ko-KR" dirty="0">
                <a:solidFill>
                  <a:srgbClr val="FF0000"/>
                </a:solidFill>
              </a:rPr>
              <a:t>, </a:t>
            </a:r>
          </a:p>
          <a:p>
            <a:r>
              <a:rPr lang="en-US" altLang="ko-KR" dirty="0">
                <a:solidFill>
                  <a:srgbClr val="FF0000"/>
                </a:solidFill>
              </a:rPr>
              <a:t>Y </a:t>
            </a:r>
            <a:r>
              <a:rPr lang="ko-KR" altLang="en-US" dirty="0">
                <a:solidFill>
                  <a:srgbClr val="FF0000"/>
                </a:solidFill>
              </a:rPr>
              <a:t>취하</a:t>
            </a:r>
            <a:r>
              <a:rPr lang="en-US" altLang="ko-KR" dirty="0">
                <a:solidFill>
                  <a:srgbClr val="FF0000"/>
                </a:solidFill>
              </a:rPr>
              <a:t>/</a:t>
            </a:r>
            <a:r>
              <a:rPr lang="ko-KR" altLang="en-US" dirty="0">
                <a:solidFill>
                  <a:srgbClr val="FF0000"/>
                </a:solidFill>
              </a:rPr>
              <a:t>포기 유도</a:t>
            </a:r>
            <a:endParaRPr lang="en-US" altLang="ko-KR" dirty="0">
              <a:solidFill>
                <a:srgbClr val="FF0000"/>
              </a:solidFill>
            </a:endParaRPr>
          </a:p>
        </p:txBody>
      </p:sp>
      <p:cxnSp>
        <p:nvCxnSpPr>
          <p:cNvPr id="9" name="꺾인 연결선 8"/>
          <p:cNvCxnSpPr>
            <a:stCxn id="72" idx="3"/>
            <a:endCxn id="6" idx="1"/>
          </p:cNvCxnSpPr>
          <p:nvPr/>
        </p:nvCxnSpPr>
        <p:spPr>
          <a:xfrm>
            <a:off x="9635746" y="4963056"/>
            <a:ext cx="396293" cy="21623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꺾인 연결선 11"/>
          <p:cNvCxnSpPr>
            <a:stCxn id="81" idx="3"/>
            <a:endCxn id="6" idx="1"/>
          </p:cNvCxnSpPr>
          <p:nvPr/>
        </p:nvCxnSpPr>
        <p:spPr>
          <a:xfrm flipV="1">
            <a:off x="9635746" y="5179286"/>
            <a:ext cx="396293" cy="1335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0C43207-95A0-5624-0963-A4E5E9D997AD}"/>
              </a:ext>
            </a:extLst>
          </p:cNvPr>
          <p:cNvSpPr txBox="1"/>
          <p:nvPr/>
        </p:nvSpPr>
        <p:spPr>
          <a:xfrm>
            <a:off x="8600950" y="1710470"/>
            <a:ext cx="1690532" cy="349800"/>
          </a:xfrm>
          <a:prstGeom prst="rect">
            <a:avLst/>
          </a:prstGeom>
          <a:noFill/>
          <a:ln>
            <a:noFill/>
          </a:ln>
        </p:spPr>
        <p:txBody>
          <a:bodyPr wrap="none" rtlCol="0" anchor="ctr">
            <a:noAutofit/>
          </a:bodyPr>
          <a:lstStyle/>
          <a:p>
            <a:r>
              <a:rPr lang="ko-KR" altLang="en-US" sz="1200" b="0" dirty="0">
                <a:solidFill>
                  <a:schemeClr val="tx1"/>
                </a:solidFill>
                <a:latin typeface="+mn-ea"/>
              </a:rPr>
              <a:t>등본송달일로부터 </a:t>
            </a:r>
            <a:r>
              <a:rPr lang="en-US" altLang="ko-KR" sz="1200" b="0" dirty="0">
                <a:solidFill>
                  <a:schemeClr val="tx1"/>
                </a:solidFill>
                <a:latin typeface="+mn-ea"/>
              </a:rPr>
              <a:t>3</a:t>
            </a:r>
            <a:r>
              <a:rPr lang="ko-KR" altLang="en-US" sz="1200" b="0" dirty="0">
                <a:solidFill>
                  <a:schemeClr val="tx1"/>
                </a:solidFill>
                <a:latin typeface="+mn-ea"/>
              </a:rPr>
              <a:t>개월</a:t>
            </a:r>
            <a:endParaRPr lang="en-US" altLang="ko-KR" sz="1200" b="0" dirty="0">
              <a:solidFill>
                <a:schemeClr val="tx1"/>
              </a:solidFill>
              <a:latin typeface="+mn-ea"/>
            </a:endParaRPr>
          </a:p>
        </p:txBody>
      </p:sp>
    </p:spTree>
    <p:extLst>
      <p:ext uri="{BB962C8B-B14F-4D97-AF65-F5344CB8AC3E}">
        <p14:creationId xmlns:p14="http://schemas.microsoft.com/office/powerpoint/2010/main" val="1793163634"/>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직선 연결선 5">
            <a:extLst>
              <a:ext uri="{FF2B5EF4-FFF2-40B4-BE49-F238E27FC236}">
                <a16:creationId xmlns:a16="http://schemas.microsoft.com/office/drawing/2014/main" id="{E4DF9A91-58C1-A08F-C77A-3BA312AED70E}"/>
              </a:ext>
            </a:extLst>
          </p:cNvPr>
          <p:cNvCxnSpPr>
            <a:cxnSpLocks/>
          </p:cNvCxnSpPr>
          <p:nvPr/>
        </p:nvCxnSpPr>
        <p:spPr>
          <a:xfrm>
            <a:off x="4826001" y="1912513"/>
            <a:ext cx="0" cy="269534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r>
              <a:rPr lang="en-US" altLang="ko-KR" dirty="0"/>
              <a:t>, </a:t>
            </a:r>
            <a:r>
              <a:rPr lang="ko-KR" altLang="en-US" dirty="0"/>
              <a:t>제</a:t>
            </a:r>
            <a:r>
              <a:rPr lang="en-US" altLang="ko-KR" dirty="0"/>
              <a:t>36</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분할출원과 선출원주의</a:t>
            </a:r>
          </a:p>
        </p:txBody>
      </p:sp>
      <p:sp>
        <p:nvSpPr>
          <p:cNvPr id="2" name="슬라이드 번호 개체 틀 1"/>
          <p:cNvSpPr>
            <a:spLocks noGrp="1"/>
          </p:cNvSpPr>
          <p:nvPr>
            <p:ph type="sldNum" sz="quarter" idx="4"/>
          </p:nvPr>
        </p:nvSpPr>
        <p:spPr>
          <a:xfrm>
            <a:off x="11129210" y="0"/>
            <a:ext cx="1062789" cy="733926"/>
          </a:xfrm>
          <a:prstGeom prst="rect">
            <a:avLst/>
          </a:prstGeom>
        </p:spPr>
        <p:txBody>
          <a:bodyPr vert="horz" lIns="91440" tIns="45720" rIns="91440" bIns="45720" rtlCol="0" anchor="ctr"/>
          <a:lstStyle>
            <a:defPPr>
              <a:defRPr lang="ko-KR"/>
            </a:defPPr>
            <a:lvl1pPr marL="0" algn="ctr" defTabSz="914400" rtl="0" eaLnBrk="1" latinLnBrk="1" hangingPunct="1">
              <a:defRPr sz="3600" b="1" kern="1200" cap="none" spc="0">
                <a:ln w="12700">
                  <a:solidFill>
                    <a:schemeClr val="tx2">
                      <a:satMod val="155000"/>
                    </a:schemeClr>
                  </a:solidFill>
                  <a:prstDash val="solid"/>
                </a:ln>
                <a:solidFill>
                  <a:schemeClr val="bg2">
                    <a:tint val="85000"/>
                    <a:satMod val="155000"/>
                  </a:schemeClr>
                </a:solidFill>
                <a:effectLst/>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r>
              <a:rPr lang="en-US" altLang="ko-KR"/>
              <a:t>203</a:t>
            </a:r>
            <a:endParaRPr lang="ko-KR" altLang="en-US"/>
          </a:p>
        </p:txBody>
      </p:sp>
      <p:cxnSp>
        <p:nvCxnSpPr>
          <p:cNvPr id="163" name="직선 연결선 162"/>
          <p:cNvCxnSpPr>
            <a:cxnSpLocks/>
          </p:cNvCxnSpPr>
          <p:nvPr/>
        </p:nvCxnSpPr>
        <p:spPr>
          <a:xfrm>
            <a:off x="3955747" y="3097794"/>
            <a:ext cx="793145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직사각형 54"/>
          <p:cNvSpPr/>
          <p:nvPr/>
        </p:nvSpPr>
        <p:spPr>
          <a:xfrm>
            <a:off x="6453777" y="2559063"/>
            <a:ext cx="1561488" cy="250195"/>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X </a:t>
            </a:r>
            <a:r>
              <a:rPr lang="ko-KR" altLang="en-US" sz="1200" dirty="0">
                <a:solidFill>
                  <a:schemeClr val="tx1"/>
                </a:solidFill>
              </a:rPr>
              <a:t>기초 </a:t>
            </a:r>
            <a:r>
              <a:rPr lang="ko-KR" altLang="en-US" sz="1200" dirty="0" err="1">
                <a:solidFill>
                  <a:schemeClr val="tx1"/>
                </a:solidFill>
              </a:rPr>
              <a:t>분할출원</a:t>
            </a:r>
            <a:r>
              <a:rPr lang="en-US" altLang="ko-KR" sz="1200" dirty="0">
                <a:solidFill>
                  <a:schemeClr val="tx1"/>
                </a:solidFill>
              </a:rPr>
              <a:t>(Y)</a:t>
            </a:r>
            <a:endParaRPr lang="ko-KR" altLang="en-US" sz="1200" dirty="0">
              <a:solidFill>
                <a:schemeClr val="tx1"/>
              </a:solidFill>
            </a:endParaRPr>
          </a:p>
        </p:txBody>
      </p:sp>
      <p:sp>
        <p:nvSpPr>
          <p:cNvPr id="61" name="직사각형 60"/>
          <p:cNvSpPr/>
          <p:nvPr/>
        </p:nvSpPr>
        <p:spPr>
          <a:xfrm>
            <a:off x="6453778" y="2121992"/>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3</a:t>
            </a:r>
            <a:endParaRPr lang="ko-KR" altLang="en-US" sz="1200" dirty="0">
              <a:solidFill>
                <a:schemeClr val="tx1"/>
              </a:solidFill>
            </a:endParaRPr>
          </a:p>
        </p:txBody>
      </p:sp>
      <p:sp>
        <p:nvSpPr>
          <p:cNvPr id="65" name="직사각형 64"/>
          <p:cNvSpPr/>
          <p:nvPr/>
        </p:nvSpPr>
        <p:spPr>
          <a:xfrm>
            <a:off x="6453778" y="2316910"/>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4</a:t>
            </a:r>
            <a:endParaRPr lang="ko-KR" altLang="en-US" sz="1200" dirty="0">
              <a:solidFill>
                <a:schemeClr val="tx1"/>
              </a:solidFill>
            </a:endParaRPr>
          </a:p>
        </p:txBody>
      </p:sp>
      <p:cxnSp>
        <p:nvCxnSpPr>
          <p:cNvPr id="85" name="직선 화살표 연결선 84"/>
          <p:cNvCxnSpPr>
            <a:stCxn id="55" idx="2"/>
          </p:cNvCxnSpPr>
          <p:nvPr/>
        </p:nvCxnSpPr>
        <p:spPr>
          <a:xfrm flipH="1">
            <a:off x="7234520" y="2809258"/>
            <a:ext cx="1" cy="23923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직사각형 89"/>
          <p:cNvSpPr/>
          <p:nvPr/>
        </p:nvSpPr>
        <p:spPr>
          <a:xfrm>
            <a:off x="4045258" y="2559063"/>
            <a:ext cx="1561488"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원출원</a:t>
            </a:r>
            <a:r>
              <a:rPr lang="en-US" altLang="ko-KR" sz="1200" dirty="0">
                <a:solidFill>
                  <a:schemeClr val="tx1"/>
                </a:solidFill>
              </a:rPr>
              <a:t>(X)</a:t>
            </a:r>
            <a:endParaRPr lang="ko-KR" altLang="en-US" sz="1200" dirty="0">
              <a:solidFill>
                <a:schemeClr val="tx1"/>
              </a:solidFill>
            </a:endParaRPr>
          </a:p>
        </p:txBody>
      </p:sp>
      <p:sp>
        <p:nvSpPr>
          <p:cNvPr id="91" name="직사각형 90"/>
          <p:cNvSpPr/>
          <p:nvPr/>
        </p:nvSpPr>
        <p:spPr>
          <a:xfrm>
            <a:off x="4045259" y="2121992"/>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1</a:t>
            </a:r>
            <a:endParaRPr lang="ko-KR" altLang="en-US" sz="1200" dirty="0">
              <a:solidFill>
                <a:schemeClr val="tx1"/>
              </a:solidFill>
            </a:endParaRPr>
          </a:p>
        </p:txBody>
      </p:sp>
      <p:sp>
        <p:nvSpPr>
          <p:cNvPr id="92" name="직사각형 91"/>
          <p:cNvSpPr/>
          <p:nvPr/>
        </p:nvSpPr>
        <p:spPr>
          <a:xfrm>
            <a:off x="4045259" y="2316910"/>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2</a:t>
            </a:r>
            <a:endParaRPr lang="ko-KR" altLang="en-US" sz="1200" dirty="0">
              <a:solidFill>
                <a:schemeClr val="tx1"/>
              </a:solidFill>
            </a:endParaRPr>
          </a:p>
        </p:txBody>
      </p:sp>
      <p:cxnSp>
        <p:nvCxnSpPr>
          <p:cNvPr id="95" name="직선 화살표 연결선 94"/>
          <p:cNvCxnSpPr>
            <a:stCxn id="90" idx="2"/>
          </p:cNvCxnSpPr>
          <p:nvPr/>
        </p:nvCxnSpPr>
        <p:spPr>
          <a:xfrm flipH="1">
            <a:off x="4826001" y="2809258"/>
            <a:ext cx="1" cy="23923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직사각형 95"/>
          <p:cNvSpPr/>
          <p:nvPr/>
        </p:nvSpPr>
        <p:spPr>
          <a:xfrm>
            <a:off x="4045258" y="4096594"/>
            <a:ext cx="1561488" cy="250195"/>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 </a:t>
            </a:r>
            <a:r>
              <a:rPr lang="ko-KR" altLang="en-US" sz="1200" dirty="0">
                <a:solidFill>
                  <a:schemeClr val="tx1"/>
                </a:solidFill>
              </a:rPr>
              <a:t>출원</a:t>
            </a:r>
            <a:r>
              <a:rPr lang="en-US" altLang="ko-KR" sz="1200" dirty="0">
                <a:solidFill>
                  <a:schemeClr val="tx1"/>
                </a:solidFill>
              </a:rPr>
              <a:t>(Y)</a:t>
            </a:r>
            <a:endParaRPr lang="ko-KR" altLang="en-US" sz="1200" dirty="0">
              <a:solidFill>
                <a:schemeClr val="tx1"/>
              </a:solidFill>
            </a:endParaRPr>
          </a:p>
        </p:txBody>
      </p:sp>
      <p:sp>
        <p:nvSpPr>
          <p:cNvPr id="97" name="직사각형 96"/>
          <p:cNvSpPr/>
          <p:nvPr/>
        </p:nvSpPr>
        <p:spPr>
          <a:xfrm>
            <a:off x="4045259" y="3659523"/>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3</a:t>
            </a:r>
            <a:endParaRPr lang="ko-KR" altLang="en-US" sz="1200" dirty="0">
              <a:solidFill>
                <a:schemeClr val="tx1"/>
              </a:solidFill>
            </a:endParaRPr>
          </a:p>
        </p:txBody>
      </p:sp>
      <p:sp>
        <p:nvSpPr>
          <p:cNvPr id="99" name="직사각형 98"/>
          <p:cNvSpPr/>
          <p:nvPr/>
        </p:nvSpPr>
        <p:spPr>
          <a:xfrm>
            <a:off x="4045259" y="3854441"/>
            <a:ext cx="1561485"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4</a:t>
            </a:r>
            <a:endParaRPr lang="ko-KR" altLang="en-US" sz="1200" dirty="0">
              <a:solidFill>
                <a:schemeClr val="tx1"/>
              </a:solidFill>
            </a:endParaRPr>
          </a:p>
        </p:txBody>
      </p:sp>
      <p:cxnSp>
        <p:nvCxnSpPr>
          <p:cNvPr id="12" name="연결선: 꺾임 11">
            <a:extLst>
              <a:ext uri="{FF2B5EF4-FFF2-40B4-BE49-F238E27FC236}">
                <a16:creationId xmlns:a16="http://schemas.microsoft.com/office/drawing/2014/main" id="{C7F35597-7531-3010-22E6-F0F1FBE2AE28}"/>
              </a:ext>
            </a:extLst>
          </p:cNvPr>
          <p:cNvCxnSpPr>
            <a:stCxn id="92" idx="3"/>
            <a:endCxn id="99" idx="3"/>
          </p:cNvCxnSpPr>
          <p:nvPr/>
        </p:nvCxnSpPr>
        <p:spPr>
          <a:xfrm>
            <a:off x="5606744" y="2414369"/>
            <a:ext cx="12700" cy="1537531"/>
          </a:xfrm>
          <a:prstGeom prst="bentConnector3">
            <a:avLst>
              <a:gd name="adj1" fmla="val 3917646"/>
            </a:avLst>
          </a:prstGeom>
          <a:ln w="38100">
            <a:solidFill>
              <a:schemeClr val="accent2">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8" name="연결선: 꺾임 17">
            <a:extLst>
              <a:ext uri="{FF2B5EF4-FFF2-40B4-BE49-F238E27FC236}">
                <a16:creationId xmlns:a16="http://schemas.microsoft.com/office/drawing/2014/main" id="{048DA509-F229-E721-D031-34C2A24580D1}"/>
              </a:ext>
            </a:extLst>
          </p:cNvPr>
          <p:cNvCxnSpPr>
            <a:stCxn id="91" idx="1"/>
            <a:endCxn id="97" idx="1"/>
          </p:cNvCxnSpPr>
          <p:nvPr/>
        </p:nvCxnSpPr>
        <p:spPr>
          <a:xfrm rot="10800000" flipV="1">
            <a:off x="4045259" y="2219450"/>
            <a:ext cx="12700" cy="1537531"/>
          </a:xfrm>
          <a:prstGeom prst="bentConnector3">
            <a:avLst>
              <a:gd name="adj1" fmla="val 3000000"/>
            </a:avLst>
          </a:prstGeom>
          <a:ln w="381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07523F5A-5CB2-A854-C1DB-5D8E619577D0}"/>
              </a:ext>
            </a:extLst>
          </p:cNvPr>
          <p:cNvSpPr txBox="1"/>
          <p:nvPr/>
        </p:nvSpPr>
        <p:spPr>
          <a:xfrm>
            <a:off x="80686" y="3763700"/>
            <a:ext cx="3397620" cy="2590133"/>
          </a:xfrm>
          <a:prstGeom prst="rect">
            <a:avLst/>
          </a:prstGeom>
          <a:noFill/>
          <a:ln w="28575">
            <a:solidFill>
              <a:schemeClr val="bg1">
                <a:lumMod val="50000"/>
              </a:schemeClr>
            </a:solidFill>
          </a:ln>
        </p:spPr>
        <p:txBody>
          <a:bodyPr wrap="square">
            <a:spAutoFit/>
          </a:bodyPr>
          <a:lstStyle/>
          <a:p>
            <a:pPr marR="0" lvl="0" algn="just" fontAlgn="base" latinLnBrk="1">
              <a:lnSpc>
                <a:spcPct val="145000"/>
              </a:lnSpc>
              <a:spcBef>
                <a:spcPts val="300"/>
              </a:spcBef>
              <a:spcAft>
                <a:spcPts val="200"/>
              </a:spcAft>
              <a:buClr>
                <a:srgbClr val="FFFFFF"/>
              </a:buClr>
              <a:buSzPts val="1000"/>
              <a:tabLst>
                <a:tab pos="408940" algn="l"/>
                <a:tab pos="624840" algn="l"/>
                <a:tab pos="4931410" algn="r"/>
                <a:tab pos="408940" algn="l"/>
                <a:tab pos="624840" algn="l"/>
                <a:tab pos="4931410" algn="r"/>
              </a:tabLst>
            </a:pP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특허법원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2017. 10. 12. </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선고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2017</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허</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1021 </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판결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등록무효</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r>
              <a:rPr lang="ko-KR" altLang="en-US" sz="1000" b="1" u="none" kern="100" spc="-100" dirty="0" err="1">
                <a:solidFill>
                  <a:srgbClr val="000000"/>
                </a:solidFill>
                <a:effectLst/>
                <a:latin typeface="Rix모던고딕 B" panose="02020603020101020101" pitchFamily="18" charset="-127"/>
                <a:ea typeface="Rix모던고딕 B" panose="02020603020101020101" pitchFamily="18" charset="-127"/>
              </a:rPr>
              <a:t>특</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p>
          <a:p>
            <a:pPr marR="0" lvl="0" algn="just" fontAlgn="base" latinLnBrk="1">
              <a:lnSpc>
                <a:spcPct val="145000"/>
              </a:lnSpc>
              <a:spcBef>
                <a:spcPts val="300"/>
              </a:spcBef>
              <a:spcAft>
                <a:spcPts val="200"/>
              </a:spcAft>
              <a:buClr>
                <a:srgbClr val="FFFFFF"/>
              </a:buClr>
              <a:buSzPts val="1000"/>
              <a:tabLst>
                <a:tab pos="408940" algn="l"/>
                <a:tab pos="624840" algn="l"/>
                <a:tab pos="4931410" algn="r"/>
                <a:tab pos="408940" algn="l"/>
                <a:tab pos="624840" algn="l"/>
                <a:tab pos="4931410" algn="r"/>
              </a:tabLst>
            </a:pP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분할출원된</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발명과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원출원</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발명이 동일하면 구 특허법 제</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36</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조 제</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2</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항의 같은 날에 </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2 </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이상의 특허출원이 있는 경우에 해당한다</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분할출원된</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발명과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원출원</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발명이 동일한지 여부는 청구범위에 기재된 양 발명의 기술적 구성이 실질적으로 동일한지 여부를 기준으로 하여야 하며</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 </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청구범위의 기재가 문언적으로 일치하지 </a:t>
            </a:r>
            <a:r>
              <a:rPr lang="ko-KR" altLang="en-US"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않더라도 </a:t>
            </a:r>
            <a:r>
              <a:rPr lang="ko-KR" altLang="en-US" sz="1000"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그 차이가 동일한 기술적 구성에 대해 기능</a:t>
            </a:r>
            <a:r>
              <a:rPr lang="en-US" altLang="ko-KR" sz="1000"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a:t>
            </a:r>
            <a:r>
              <a:rPr lang="ko-KR" altLang="en-US" sz="1000"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성질</a:t>
            </a:r>
            <a:r>
              <a:rPr lang="en-US" altLang="ko-KR" sz="1000"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a:t>
            </a:r>
            <a:r>
              <a:rPr lang="ko-KR" altLang="en-US" sz="1000"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효과 등으로 표현을 달리한 것에 불과하거나 기술적 과제를 해결하기 위한 구체적 수단에서 </a:t>
            </a:r>
            <a:r>
              <a:rPr lang="ko-KR" altLang="en-US" sz="1000" kern="100" spc="-100" dirty="0" err="1">
                <a:solidFill>
                  <a:srgbClr val="000000"/>
                </a:solidFill>
                <a:effectLst/>
                <a:highlight>
                  <a:srgbClr val="FFFF00"/>
                </a:highlight>
                <a:latin typeface="Rix모던고딕 B" panose="02020603020101020101" pitchFamily="18" charset="-127"/>
                <a:ea typeface="Rix모던고딕 B" panose="02020603020101020101" pitchFamily="18" charset="-127"/>
              </a:rPr>
              <a:t>주지관용기술을</a:t>
            </a:r>
            <a:r>
              <a:rPr lang="ko-KR" altLang="en-US" sz="1000"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 부가</a:t>
            </a:r>
            <a:r>
              <a:rPr lang="en-US" altLang="ko-KR" sz="1000"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a:t>
            </a:r>
            <a:r>
              <a:rPr lang="ko-KR" altLang="en-US" sz="1000"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삭제</a:t>
            </a:r>
            <a:r>
              <a:rPr lang="en-US" altLang="ko-KR" sz="1000"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a:t>
            </a:r>
            <a:r>
              <a:rPr lang="ko-KR" altLang="en-US" sz="1000"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변경한 것 또는 단순히 수치 범위를 달리한 것에 지나지 아니하여 새로운 효과가 발생하지 않는 정도의 미세한 차이에 불과하다면 </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양 발명은 실질적으로 동일한 발명에 해당한다</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a:t>
            </a:r>
            <a:endParaRPr lang="ko-KR" altLang="en-US" sz="1000" u="none" kern="100" spc="-10" dirty="0">
              <a:solidFill>
                <a:srgbClr val="000000"/>
              </a:solidFill>
              <a:effectLst/>
              <a:latin typeface="Rix모던고딕 B" panose="02020603020101020101" pitchFamily="18" charset="-127"/>
              <a:ea typeface="Rix모던고딕 B" panose="02020603020101020101" pitchFamily="18" charset="-127"/>
            </a:endParaRPr>
          </a:p>
        </p:txBody>
      </p:sp>
      <p:sp>
        <p:nvSpPr>
          <p:cNvPr id="22" name="TextBox 21">
            <a:extLst>
              <a:ext uri="{FF2B5EF4-FFF2-40B4-BE49-F238E27FC236}">
                <a16:creationId xmlns:a16="http://schemas.microsoft.com/office/drawing/2014/main" id="{EA66889B-DF30-4E71-0CC2-932041F8D2C9}"/>
              </a:ext>
            </a:extLst>
          </p:cNvPr>
          <p:cNvSpPr txBox="1"/>
          <p:nvPr/>
        </p:nvSpPr>
        <p:spPr>
          <a:xfrm>
            <a:off x="80686" y="1048714"/>
            <a:ext cx="3397620" cy="2590133"/>
          </a:xfrm>
          <a:prstGeom prst="rect">
            <a:avLst/>
          </a:prstGeom>
          <a:noFill/>
          <a:ln w="28575">
            <a:solidFill>
              <a:schemeClr val="bg1">
                <a:lumMod val="50000"/>
              </a:schemeClr>
            </a:solidFill>
          </a:ln>
        </p:spPr>
        <p:txBody>
          <a:bodyPr wrap="square">
            <a:spAutoFit/>
          </a:bodyPr>
          <a:lstStyle/>
          <a:p>
            <a:pPr marR="0" lvl="0" algn="just" fontAlgn="base" latinLnBrk="1">
              <a:lnSpc>
                <a:spcPct val="145000"/>
              </a:lnSpc>
              <a:spcBef>
                <a:spcPts val="300"/>
              </a:spcBef>
              <a:spcAft>
                <a:spcPts val="200"/>
              </a:spcAft>
              <a:buClr>
                <a:srgbClr val="FFFFFF"/>
              </a:buClr>
              <a:buSzPts val="1000"/>
              <a:tabLst>
                <a:tab pos="408940" algn="l"/>
                <a:tab pos="624840" algn="l"/>
                <a:tab pos="4931410" algn="r"/>
                <a:tab pos="408940" algn="l"/>
                <a:tab pos="624840" algn="l"/>
                <a:tab pos="4931410" algn="r"/>
              </a:tabLst>
            </a:pP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대법원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2009. 9. 24. </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선고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2007</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후</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2827 </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판결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권리범위확인</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r>
              <a:rPr lang="ko-KR" altLang="en-US" sz="1000" b="1" u="none" kern="100" spc="-100" dirty="0" err="1">
                <a:solidFill>
                  <a:srgbClr val="000000"/>
                </a:solidFill>
                <a:effectLst/>
                <a:latin typeface="Rix모던고딕 B" panose="02020603020101020101" pitchFamily="18" charset="-127"/>
                <a:ea typeface="Rix모던고딕 B" panose="02020603020101020101" pitchFamily="18" charset="-127"/>
              </a:rPr>
              <a:t>특</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p>
          <a:p>
            <a:pPr marR="0" lvl="0" algn="just" fontAlgn="base" latinLnBrk="1">
              <a:lnSpc>
                <a:spcPct val="145000"/>
              </a:lnSpc>
              <a:spcBef>
                <a:spcPts val="300"/>
              </a:spcBef>
              <a:spcAft>
                <a:spcPts val="200"/>
              </a:spcAft>
              <a:buClr>
                <a:srgbClr val="FFFFFF"/>
              </a:buClr>
              <a:buSzPts val="1000"/>
              <a:tabLst>
                <a:tab pos="408940" algn="l"/>
                <a:tab pos="624840" algn="l"/>
                <a:tab pos="4931410" algn="r"/>
                <a:tab pos="408940" algn="l"/>
                <a:tab pos="624840" algn="l"/>
                <a:tab pos="4931410" algn="r"/>
              </a:tabLst>
            </a:pP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구 특허법</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(1990.1.13.</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법률 제</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42307</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호로 전부 개정되기 전의 것</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제</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11</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조 제</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1</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항 은 동일한 발명에 대하여는 최선출원에 한하여 특허를 받을 수 있다고 규정하여 동일한 발명에 대한 중복등록을 방지하기 위하여 선출원주의를 채택하고 있다</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 </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전후로 출원된 양 발명이 동일하다고 함은 그 기술적 구성이 전면적으로 일치하는 경우는 물론 그 범위에 차이가 있을 뿐 부분적으로 일치하는 경우라도 특별한 사정이 없는 한</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 </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양발명은 동일하고</a:t>
            </a:r>
            <a:r>
              <a:rPr lang="en-US" altLang="ko-KR" sz="1000" u="sng"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a:t>
            </a:r>
            <a:r>
              <a:rPr lang="en-US" altLang="ko-KR" sz="1000"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 </a:t>
            </a:r>
            <a:r>
              <a:rPr lang="ko-KR" altLang="en-US" sz="1000"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비록 양 발명의 구성에 상이점이 있어도 그 기술분야에 통상의 지식을 가진 자가 보통으로 채용하는 정도의 변경에 지나지 아니하고 발명의 목적과 작용 효과에 특별한 차이를 일으키지 아니하는 경우에는</a:t>
            </a:r>
            <a:r>
              <a:rPr lang="ko-KR" altLang="en-US" sz="1000" u="sng"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 </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양 발명은 역시 동일한 발명이다</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 </a:t>
            </a:r>
            <a:endParaRPr lang="ko-KR" altLang="en-US" sz="1000" u="none" kern="100" spc="-10" dirty="0">
              <a:solidFill>
                <a:srgbClr val="000000"/>
              </a:solidFill>
              <a:effectLst/>
              <a:latin typeface="Rix모던고딕 B" panose="02020603020101020101" pitchFamily="18" charset="-127"/>
              <a:ea typeface="Rix모던고딕 B" panose="02020603020101020101" pitchFamily="18" charset="-127"/>
            </a:endParaRPr>
          </a:p>
        </p:txBody>
      </p:sp>
      <p:sp>
        <p:nvSpPr>
          <p:cNvPr id="25" name="TextBox 24">
            <a:extLst>
              <a:ext uri="{FF2B5EF4-FFF2-40B4-BE49-F238E27FC236}">
                <a16:creationId xmlns:a16="http://schemas.microsoft.com/office/drawing/2014/main" id="{9D1F9148-4536-30D3-43A9-B01938FD7FD1}"/>
              </a:ext>
            </a:extLst>
          </p:cNvPr>
          <p:cNvSpPr txBox="1"/>
          <p:nvPr/>
        </p:nvSpPr>
        <p:spPr>
          <a:xfrm>
            <a:off x="2021589" y="6076834"/>
            <a:ext cx="1374094" cy="276999"/>
          </a:xfrm>
          <a:prstGeom prst="rect">
            <a:avLst/>
          </a:prstGeom>
          <a:noFill/>
          <a:ln w="38100">
            <a:solidFill>
              <a:srgbClr val="FF0000"/>
            </a:solidFill>
          </a:ln>
        </p:spPr>
        <p:txBody>
          <a:bodyPr wrap="none" rtlCol="0">
            <a:spAutoFit/>
          </a:bodyPr>
          <a:lstStyle/>
          <a:p>
            <a:r>
              <a:rPr lang="ko-KR" altLang="en-US" sz="1200" dirty="0"/>
              <a:t>실질적 동일성 인정</a:t>
            </a:r>
          </a:p>
        </p:txBody>
      </p:sp>
      <p:sp>
        <p:nvSpPr>
          <p:cNvPr id="28" name="TextBox 27">
            <a:extLst>
              <a:ext uri="{FF2B5EF4-FFF2-40B4-BE49-F238E27FC236}">
                <a16:creationId xmlns:a16="http://schemas.microsoft.com/office/drawing/2014/main" id="{8FDB7A96-05FD-268E-2093-C357207E07E7}"/>
              </a:ext>
            </a:extLst>
          </p:cNvPr>
          <p:cNvSpPr txBox="1"/>
          <p:nvPr/>
        </p:nvSpPr>
        <p:spPr>
          <a:xfrm>
            <a:off x="6412886" y="3492683"/>
            <a:ext cx="5634925" cy="3259547"/>
          </a:xfrm>
          <a:prstGeom prst="rect">
            <a:avLst/>
          </a:prstGeom>
          <a:noFill/>
          <a:ln w="38100">
            <a:solidFill>
              <a:schemeClr val="accent2">
                <a:lumMod val="50000"/>
              </a:schemeClr>
            </a:solidFill>
          </a:ln>
        </p:spPr>
        <p:txBody>
          <a:bodyPr wrap="square">
            <a:spAutoFit/>
          </a:bodyPr>
          <a:lstStyle/>
          <a:p>
            <a:pPr marR="0" lvl="0" algn="just" fontAlgn="base" latinLnBrk="1">
              <a:lnSpc>
                <a:spcPct val="145000"/>
              </a:lnSpc>
              <a:spcBef>
                <a:spcPts val="300"/>
              </a:spcBef>
              <a:spcAft>
                <a:spcPts val="200"/>
              </a:spcAft>
              <a:buClr>
                <a:srgbClr val="FFFFFF"/>
              </a:buClr>
              <a:buSzPts val="1000"/>
              <a:tabLst>
                <a:tab pos="408940" algn="l"/>
                <a:tab pos="624840" algn="l"/>
                <a:tab pos="4931410" algn="r"/>
                <a:tab pos="408940" algn="l"/>
                <a:tab pos="624840" algn="l"/>
                <a:tab pos="4931410" algn="r"/>
              </a:tabLst>
            </a:pP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특허법원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2012. 1. 13. </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선고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2011</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허</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4110 </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판결</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등록무효</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r>
              <a:rPr lang="ko-KR" altLang="en-US" sz="1000" b="1" u="none" kern="100" spc="-100" dirty="0" err="1">
                <a:solidFill>
                  <a:srgbClr val="000000"/>
                </a:solidFill>
                <a:effectLst/>
                <a:latin typeface="Rix모던고딕 B" panose="02020603020101020101" pitchFamily="18" charset="-127"/>
                <a:ea typeface="Rix모던고딕 B" panose="02020603020101020101" pitchFamily="18" charset="-127"/>
              </a:rPr>
              <a:t>특</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p>
          <a:p>
            <a:pPr marR="0" lvl="0" algn="just" fontAlgn="base" latinLnBrk="1">
              <a:lnSpc>
                <a:spcPct val="145000"/>
              </a:lnSpc>
              <a:spcBef>
                <a:spcPts val="300"/>
              </a:spcBef>
              <a:spcAft>
                <a:spcPts val="200"/>
              </a:spcAft>
              <a:buClr>
                <a:srgbClr val="FFFFFF"/>
              </a:buClr>
              <a:buSzPts val="1000"/>
              <a:tabLst>
                <a:tab pos="408940" algn="l"/>
                <a:tab pos="624840" algn="l"/>
                <a:tab pos="4931410" algn="r"/>
                <a:tab pos="408940" algn="l"/>
                <a:tab pos="624840" algn="l"/>
                <a:tab pos="4931410" algn="r"/>
              </a:tabLst>
            </a:pP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원출원의 명세서 또는 도면에 기재된 발명과 실질적으로 동일하여야 하고</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 </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여기서 </a:t>
            </a:r>
            <a:r>
              <a:rPr lang="ko-KR" altLang="en-US" sz="1000" u="none" kern="100" spc="-100" dirty="0" err="1">
                <a:solidFill>
                  <a:srgbClr val="000000"/>
                </a:solidFill>
                <a:effectLst/>
                <a:highlight>
                  <a:srgbClr val="FFFF00"/>
                </a:highlight>
                <a:latin typeface="Rix모던고딕 B" panose="02020603020101020101" pitchFamily="18" charset="-127"/>
                <a:ea typeface="Rix모던고딕 B" panose="02020603020101020101" pitchFamily="18" charset="-127"/>
              </a:rPr>
              <a:t>원출원</a:t>
            </a:r>
            <a:r>
              <a:rPr lang="ko-KR" altLang="en-US"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 명세서 또는 도면에 기재된 발명이라 함은 </a:t>
            </a:r>
            <a:r>
              <a:rPr lang="ko-KR" altLang="en-US" sz="1000" u="none" kern="100" spc="-100" dirty="0" err="1">
                <a:solidFill>
                  <a:srgbClr val="000000"/>
                </a:solidFill>
                <a:effectLst/>
                <a:highlight>
                  <a:srgbClr val="FFFF00"/>
                </a:highlight>
                <a:latin typeface="Rix모던고딕 B" panose="02020603020101020101" pitchFamily="18" charset="-127"/>
                <a:ea typeface="Rix모던고딕 B" panose="02020603020101020101" pitchFamily="18" charset="-127"/>
              </a:rPr>
              <a:t>원출원</a:t>
            </a:r>
            <a:r>
              <a:rPr lang="ko-KR" altLang="en-US"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 명세서 또는 도면에 명시적으로 기재된 </a:t>
            </a:r>
            <a:r>
              <a:rPr lang="ko-KR" altLang="en-US" sz="1000" u="none" kern="100" spc="-100" dirty="0" err="1">
                <a:solidFill>
                  <a:srgbClr val="000000"/>
                </a:solidFill>
                <a:effectLst/>
                <a:highlight>
                  <a:srgbClr val="FFFF00"/>
                </a:highlight>
                <a:latin typeface="Rix모던고딕 B" panose="02020603020101020101" pitchFamily="18" charset="-127"/>
                <a:ea typeface="Rix모던고딕 B" panose="02020603020101020101" pitchFamily="18" charset="-127"/>
              </a:rPr>
              <a:t>발명뿐만</a:t>
            </a:r>
            <a:r>
              <a:rPr lang="ko-KR" altLang="en-US"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 아니라</a:t>
            </a:r>
            <a:r>
              <a:rPr lang="en-US" altLang="ko-KR"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 </a:t>
            </a:r>
            <a:r>
              <a:rPr lang="ko-KR" altLang="en-US" sz="1000" u="none" kern="100" spc="-100" dirty="0" err="1">
                <a:solidFill>
                  <a:srgbClr val="000000"/>
                </a:solidFill>
                <a:effectLst/>
                <a:highlight>
                  <a:srgbClr val="FFFF00"/>
                </a:highlight>
                <a:latin typeface="Rix모던고딕 B" panose="02020603020101020101" pitchFamily="18" charset="-127"/>
                <a:ea typeface="Rix모던고딕 B" panose="02020603020101020101" pitchFamily="18" charset="-127"/>
              </a:rPr>
              <a:t>원출원</a:t>
            </a:r>
            <a:r>
              <a:rPr lang="ko-KR" altLang="en-US"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 명세서 또는 도면에는 명시적으로 기재되지 않은 사항이라도 이 기술분야에서 통상의 지식을 가진 자</a:t>
            </a:r>
            <a:r>
              <a:rPr lang="en-US" altLang="ko-KR"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a:t>
            </a:r>
            <a:r>
              <a:rPr lang="ko-KR" altLang="en-US"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이하 “통상의 </a:t>
            </a:r>
            <a:r>
              <a:rPr lang="ko-KR" altLang="en-US" sz="1000" u="none" kern="100" spc="-100" dirty="0" err="1">
                <a:solidFill>
                  <a:srgbClr val="000000"/>
                </a:solidFill>
                <a:effectLst/>
                <a:highlight>
                  <a:srgbClr val="FFFF00"/>
                </a:highlight>
                <a:latin typeface="Rix모던고딕 B" panose="02020603020101020101" pitchFamily="18" charset="-127"/>
                <a:ea typeface="Rix모던고딕 B" panose="02020603020101020101" pitchFamily="18" charset="-127"/>
              </a:rPr>
              <a:t>기술자”라</a:t>
            </a:r>
            <a:r>
              <a:rPr lang="ko-KR" altLang="en-US"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 한다</a:t>
            </a:r>
            <a:r>
              <a:rPr lang="en-US" altLang="ko-KR"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a:t>
            </a:r>
            <a:r>
              <a:rPr lang="ko-KR" altLang="en-US"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가 </a:t>
            </a:r>
            <a:r>
              <a:rPr lang="ko-KR" altLang="en-US" sz="1000" u="none" kern="100" spc="-100" dirty="0" err="1">
                <a:solidFill>
                  <a:srgbClr val="000000"/>
                </a:solidFill>
                <a:effectLst/>
                <a:highlight>
                  <a:srgbClr val="FFFF00"/>
                </a:highlight>
                <a:latin typeface="Rix모던고딕 B" panose="02020603020101020101" pitchFamily="18" charset="-127"/>
                <a:ea typeface="Rix모던고딕 B" panose="02020603020101020101" pitchFamily="18" charset="-127"/>
              </a:rPr>
              <a:t>원출원</a:t>
            </a:r>
            <a:r>
              <a:rPr lang="ko-KR" altLang="en-US"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 명세서의 다른 기재나 최초 출원 당시의 기술상식에 비추어 일의적이고 명확하게 인식할 수 있는 사항도 포함될 수 있지만</a:t>
            </a:r>
            <a:r>
              <a:rPr lang="en-US" altLang="ko-KR"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원출원</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명세서에 화합물이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상위개념으로서의</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일반 화학식으로 기재되어 있는 발명 중 일부를 하위개념으로 새롭게 정의하여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분할출원하는</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경우에 있어서</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 </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이는 선택발명의 영역에 있는 것을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분할출원하는</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것으로서 이러한 분할출원을 인정한다면 원출원에 기초한 다른 제</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3</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자의 선택발명을 극히 제한하게 되고</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원출원</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발명 당시에 개시되지 않았던 사항에 대하여 사후에 분할출원에 의하여 그 기술적 의의를 인정해 주게 되어 특허출원은 </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1 </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발명을 </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1 </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특허출원으로 한다는 규정에 의하여 특허를 받을 수 없게 되는 발명들을 따로 분할하여 별도로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분할출원할</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수 있도록 함과 동시에 이들 발명의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특허출원시점을</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당초의 원출원의 출원시점으로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소급시켜준다는</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분할출원 제도의 취지에 어긋나게 되므로</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분할출원으로서의</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하위개념 발명이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원출원</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명세서에 기재된 상위개념 발명에 개념적으로 포함된다는 점만으로는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분할출원된</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발명이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원출원</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명세서에 기재된 사항이라고 할 수는 없고</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원출원</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명세서 전체의 기재와 최초 출원 당시의 기술상식을 종합적으로 고려하여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분할출원된</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발명이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원출원</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명세서에 기재된 것인지 또는 기재된 것과 동일하게 볼 수 있는 것인지 여부를 실질적으로 판단해야 한다</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a:t>
            </a:r>
            <a:endParaRPr lang="ko-KR" altLang="en-US" sz="1000" u="none" kern="100" spc="-10" dirty="0">
              <a:solidFill>
                <a:srgbClr val="000000"/>
              </a:solidFill>
              <a:effectLst/>
              <a:latin typeface="Rix모던고딕 B" panose="02020603020101020101" pitchFamily="18" charset="-127"/>
              <a:ea typeface="Rix모던고딕 B" panose="02020603020101020101" pitchFamily="18" charset="-127"/>
            </a:endParaRPr>
          </a:p>
        </p:txBody>
      </p:sp>
      <p:sp>
        <p:nvSpPr>
          <p:cNvPr id="30" name="직사각형 29">
            <a:extLst>
              <a:ext uri="{FF2B5EF4-FFF2-40B4-BE49-F238E27FC236}">
                <a16:creationId xmlns:a16="http://schemas.microsoft.com/office/drawing/2014/main" id="{04173FB4-69DD-2BE3-B9EB-D0DB0CBA869C}"/>
              </a:ext>
            </a:extLst>
          </p:cNvPr>
          <p:cNvSpPr/>
          <p:nvPr/>
        </p:nvSpPr>
        <p:spPr>
          <a:xfrm>
            <a:off x="8545540" y="2559063"/>
            <a:ext cx="1561488"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등록</a:t>
            </a:r>
            <a:r>
              <a:rPr lang="en-US" altLang="ko-KR" sz="1200" dirty="0">
                <a:solidFill>
                  <a:schemeClr val="tx1"/>
                </a:solidFill>
              </a:rPr>
              <a:t>(X)</a:t>
            </a:r>
            <a:endParaRPr lang="ko-KR" altLang="en-US" sz="1200" dirty="0">
              <a:solidFill>
                <a:schemeClr val="tx1"/>
              </a:solidFill>
            </a:endParaRPr>
          </a:p>
        </p:txBody>
      </p:sp>
      <p:cxnSp>
        <p:nvCxnSpPr>
          <p:cNvPr id="31" name="직선 화살표 연결선 30">
            <a:extLst>
              <a:ext uri="{FF2B5EF4-FFF2-40B4-BE49-F238E27FC236}">
                <a16:creationId xmlns:a16="http://schemas.microsoft.com/office/drawing/2014/main" id="{E85506C0-9001-B36F-EF88-E9362F0A517F}"/>
              </a:ext>
            </a:extLst>
          </p:cNvPr>
          <p:cNvCxnSpPr>
            <a:stCxn id="30" idx="2"/>
          </p:cNvCxnSpPr>
          <p:nvPr/>
        </p:nvCxnSpPr>
        <p:spPr>
          <a:xfrm flipH="1">
            <a:off x="9326283" y="2809258"/>
            <a:ext cx="1" cy="23923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직사각형 31">
            <a:extLst>
              <a:ext uri="{FF2B5EF4-FFF2-40B4-BE49-F238E27FC236}">
                <a16:creationId xmlns:a16="http://schemas.microsoft.com/office/drawing/2014/main" id="{63798FBA-391D-4090-78CE-1AF91F76214A}"/>
              </a:ext>
            </a:extLst>
          </p:cNvPr>
          <p:cNvSpPr/>
          <p:nvPr/>
        </p:nvSpPr>
        <p:spPr>
          <a:xfrm>
            <a:off x="10227919" y="2559063"/>
            <a:ext cx="1561488" cy="250195"/>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등록</a:t>
            </a:r>
            <a:r>
              <a:rPr lang="en-US" altLang="ko-KR" sz="1200" dirty="0">
                <a:solidFill>
                  <a:schemeClr val="tx1"/>
                </a:solidFill>
              </a:rPr>
              <a:t>(Y)</a:t>
            </a:r>
            <a:endParaRPr lang="ko-KR" altLang="en-US" sz="1200" dirty="0">
              <a:solidFill>
                <a:schemeClr val="tx1"/>
              </a:solidFill>
            </a:endParaRPr>
          </a:p>
        </p:txBody>
      </p:sp>
      <p:cxnSp>
        <p:nvCxnSpPr>
          <p:cNvPr id="33" name="직선 화살표 연결선 32">
            <a:extLst>
              <a:ext uri="{FF2B5EF4-FFF2-40B4-BE49-F238E27FC236}">
                <a16:creationId xmlns:a16="http://schemas.microsoft.com/office/drawing/2014/main" id="{EFCDC72C-4701-16DC-1897-136EC21122C9}"/>
              </a:ext>
            </a:extLst>
          </p:cNvPr>
          <p:cNvCxnSpPr>
            <a:stCxn id="32" idx="2"/>
          </p:cNvCxnSpPr>
          <p:nvPr/>
        </p:nvCxnSpPr>
        <p:spPr>
          <a:xfrm flipH="1">
            <a:off x="11008662" y="2809258"/>
            <a:ext cx="1" cy="23923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타원 33">
            <a:extLst>
              <a:ext uri="{FF2B5EF4-FFF2-40B4-BE49-F238E27FC236}">
                <a16:creationId xmlns:a16="http://schemas.microsoft.com/office/drawing/2014/main" id="{0E36F2FE-850F-2914-B038-8AC7AB53EE7A}"/>
              </a:ext>
            </a:extLst>
          </p:cNvPr>
          <p:cNvSpPr/>
          <p:nvPr/>
        </p:nvSpPr>
        <p:spPr>
          <a:xfrm>
            <a:off x="5989754" y="3156665"/>
            <a:ext cx="201872" cy="202771"/>
          </a:xfrm>
          <a:prstGeom prst="ellipse">
            <a:avLst/>
          </a:prstGeom>
          <a:solidFill>
            <a:schemeClr val="accent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TextBox 34">
            <a:extLst>
              <a:ext uri="{FF2B5EF4-FFF2-40B4-BE49-F238E27FC236}">
                <a16:creationId xmlns:a16="http://schemas.microsoft.com/office/drawing/2014/main" id="{3619A188-4FD7-F9C0-1C23-E03E2FA38CB7}"/>
              </a:ext>
            </a:extLst>
          </p:cNvPr>
          <p:cNvSpPr txBox="1"/>
          <p:nvPr/>
        </p:nvSpPr>
        <p:spPr>
          <a:xfrm>
            <a:off x="6163610" y="3123435"/>
            <a:ext cx="1348446" cy="338554"/>
          </a:xfrm>
          <a:prstGeom prst="rect">
            <a:avLst/>
          </a:prstGeom>
          <a:noFill/>
        </p:spPr>
        <p:txBody>
          <a:bodyPr wrap="none" rtlCol="0">
            <a:spAutoFit/>
          </a:bodyPr>
          <a:lstStyle/>
          <a:p>
            <a:r>
              <a:rPr lang="ko-KR" altLang="en-US" sz="1600" dirty="0">
                <a:solidFill>
                  <a:schemeClr val="accent2">
                    <a:lumMod val="50000"/>
                  </a:schemeClr>
                </a:solidFill>
              </a:rPr>
              <a:t>분할출원 요건</a:t>
            </a:r>
          </a:p>
        </p:txBody>
      </p:sp>
      <p:sp>
        <p:nvSpPr>
          <p:cNvPr id="36" name="타원 35">
            <a:extLst>
              <a:ext uri="{FF2B5EF4-FFF2-40B4-BE49-F238E27FC236}">
                <a16:creationId xmlns:a16="http://schemas.microsoft.com/office/drawing/2014/main" id="{B3CA7B7C-58DB-EE5F-1554-E4E59C7F5E8B}"/>
              </a:ext>
            </a:extLst>
          </p:cNvPr>
          <p:cNvSpPr/>
          <p:nvPr/>
        </p:nvSpPr>
        <p:spPr>
          <a:xfrm>
            <a:off x="3569266" y="3218994"/>
            <a:ext cx="201872" cy="202771"/>
          </a:xfrm>
          <a:prstGeom prst="ellipse">
            <a:avLst/>
          </a:prstGeom>
          <a:solidFill>
            <a:schemeClr val="bg1">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TextBox 36">
            <a:extLst>
              <a:ext uri="{FF2B5EF4-FFF2-40B4-BE49-F238E27FC236}">
                <a16:creationId xmlns:a16="http://schemas.microsoft.com/office/drawing/2014/main" id="{5A4F8F34-5BF0-A102-91A3-7C5FFA2F637B}"/>
              </a:ext>
            </a:extLst>
          </p:cNvPr>
          <p:cNvSpPr txBox="1"/>
          <p:nvPr/>
        </p:nvSpPr>
        <p:spPr>
          <a:xfrm>
            <a:off x="3795365" y="3156665"/>
            <a:ext cx="1532792" cy="338554"/>
          </a:xfrm>
          <a:prstGeom prst="rect">
            <a:avLst/>
          </a:prstGeom>
          <a:noFill/>
        </p:spPr>
        <p:txBody>
          <a:bodyPr wrap="none" rtlCol="0">
            <a:spAutoFit/>
          </a:bodyPr>
          <a:lstStyle/>
          <a:p>
            <a:r>
              <a:rPr lang="ko-KR" altLang="en-US" sz="1600" dirty="0" err="1">
                <a:solidFill>
                  <a:schemeClr val="bg1">
                    <a:lumMod val="50000"/>
                  </a:schemeClr>
                </a:solidFill>
              </a:rPr>
              <a:t>협의제</a:t>
            </a:r>
            <a:r>
              <a:rPr lang="ko-KR" altLang="en-US" sz="1600" dirty="0">
                <a:solidFill>
                  <a:schemeClr val="bg1">
                    <a:lumMod val="50000"/>
                  </a:schemeClr>
                </a:solidFill>
              </a:rPr>
              <a:t> 회피요건</a:t>
            </a:r>
          </a:p>
        </p:txBody>
      </p:sp>
      <p:cxnSp>
        <p:nvCxnSpPr>
          <p:cNvPr id="38" name="연결선: 꺾임 37">
            <a:extLst>
              <a:ext uri="{FF2B5EF4-FFF2-40B4-BE49-F238E27FC236}">
                <a16:creationId xmlns:a16="http://schemas.microsoft.com/office/drawing/2014/main" id="{8F241CBA-CEB6-63B3-E50A-CF357321C3BF}"/>
              </a:ext>
            </a:extLst>
          </p:cNvPr>
          <p:cNvCxnSpPr>
            <a:cxnSpLocks/>
          </p:cNvCxnSpPr>
          <p:nvPr/>
        </p:nvCxnSpPr>
        <p:spPr>
          <a:xfrm rot="16200000" flipV="1">
            <a:off x="10167474" y="1717873"/>
            <a:ext cx="12700" cy="1682379"/>
          </a:xfrm>
          <a:prstGeom prst="bentConnector3">
            <a:avLst>
              <a:gd name="adj1" fmla="val 2011764"/>
            </a:avLst>
          </a:prstGeom>
          <a:ln w="38100">
            <a:solidFill>
              <a:schemeClr val="accent5">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2" name="타원 41">
            <a:extLst>
              <a:ext uri="{FF2B5EF4-FFF2-40B4-BE49-F238E27FC236}">
                <a16:creationId xmlns:a16="http://schemas.microsoft.com/office/drawing/2014/main" id="{42431E44-F4D9-4398-1178-FEE02A370927}"/>
              </a:ext>
            </a:extLst>
          </p:cNvPr>
          <p:cNvSpPr/>
          <p:nvPr/>
        </p:nvSpPr>
        <p:spPr>
          <a:xfrm>
            <a:off x="10072888" y="2209417"/>
            <a:ext cx="201872" cy="202771"/>
          </a:xfrm>
          <a:prstGeom prst="ellipse">
            <a:avLst/>
          </a:prstGeom>
          <a:solidFill>
            <a:schemeClr val="tx2">
              <a:lumMod val="50000"/>
            </a:schemeClr>
          </a:solidFill>
          <a:ln>
            <a:solidFill>
              <a:schemeClr val="accent5">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TextBox 42">
            <a:extLst>
              <a:ext uri="{FF2B5EF4-FFF2-40B4-BE49-F238E27FC236}">
                <a16:creationId xmlns:a16="http://schemas.microsoft.com/office/drawing/2014/main" id="{040BC1F8-0554-D657-40AC-28F3F5223F6C}"/>
              </a:ext>
            </a:extLst>
          </p:cNvPr>
          <p:cNvSpPr txBox="1"/>
          <p:nvPr/>
        </p:nvSpPr>
        <p:spPr>
          <a:xfrm>
            <a:off x="9219469" y="1912513"/>
            <a:ext cx="2016899" cy="338554"/>
          </a:xfrm>
          <a:prstGeom prst="rect">
            <a:avLst/>
          </a:prstGeom>
          <a:noFill/>
        </p:spPr>
        <p:txBody>
          <a:bodyPr wrap="none" rtlCol="0">
            <a:spAutoFit/>
          </a:bodyPr>
          <a:lstStyle/>
          <a:p>
            <a:r>
              <a:rPr lang="ko-KR" altLang="en-US" sz="1600" dirty="0">
                <a:solidFill>
                  <a:schemeClr val="accent1">
                    <a:lumMod val="50000"/>
                  </a:schemeClr>
                </a:solidFill>
              </a:rPr>
              <a:t>동일 발명의 착오 등록</a:t>
            </a:r>
          </a:p>
        </p:txBody>
      </p:sp>
      <p:sp>
        <p:nvSpPr>
          <p:cNvPr id="44" name="TextBox 43">
            <a:extLst>
              <a:ext uri="{FF2B5EF4-FFF2-40B4-BE49-F238E27FC236}">
                <a16:creationId xmlns:a16="http://schemas.microsoft.com/office/drawing/2014/main" id="{86E98C13-66E0-5CDE-3E83-DDA9D0C11BD3}"/>
              </a:ext>
            </a:extLst>
          </p:cNvPr>
          <p:cNvSpPr txBox="1"/>
          <p:nvPr/>
        </p:nvSpPr>
        <p:spPr>
          <a:xfrm>
            <a:off x="4329953" y="852000"/>
            <a:ext cx="7762683" cy="964046"/>
          </a:xfrm>
          <a:prstGeom prst="rect">
            <a:avLst/>
          </a:prstGeom>
          <a:noFill/>
          <a:ln w="38100">
            <a:solidFill>
              <a:schemeClr val="accent1">
                <a:lumMod val="50000"/>
              </a:schemeClr>
            </a:solidFill>
          </a:ln>
        </p:spPr>
        <p:txBody>
          <a:bodyPr wrap="square">
            <a:spAutoFit/>
          </a:bodyPr>
          <a:lstStyle/>
          <a:p>
            <a:pPr marR="0" lvl="0" algn="just" fontAlgn="base" latinLnBrk="1">
              <a:lnSpc>
                <a:spcPct val="145000"/>
              </a:lnSpc>
              <a:spcBef>
                <a:spcPts val="300"/>
              </a:spcBef>
              <a:spcAft>
                <a:spcPts val="200"/>
              </a:spcAft>
              <a:buClr>
                <a:srgbClr val="FFFFFF"/>
              </a:buClr>
              <a:buSzPts val="1000"/>
              <a:tabLst>
                <a:tab pos="408940" algn="l"/>
                <a:tab pos="624840" algn="l"/>
                <a:tab pos="4931410" algn="r"/>
                <a:tab pos="408940" algn="l"/>
                <a:tab pos="624840" algn="l"/>
                <a:tab pos="4931410" algn="r"/>
              </a:tabLst>
            </a:pP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대법원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1990. 8. 14. </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선고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89</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후</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1103 </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판결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실용신안등록무효</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r>
              <a:rPr lang="ko-KR" altLang="en-US" sz="1000" u="none" kern="100" spc="-100" dirty="0">
                <a:solidFill>
                  <a:srgbClr val="000000"/>
                </a:solidFill>
                <a:effectLst/>
                <a:highlight>
                  <a:srgbClr val="00FFFF"/>
                </a:highlight>
                <a:latin typeface="Rix모던고딕 B" panose="02020603020101020101" pitchFamily="18" charset="-127"/>
                <a:ea typeface="Rix모던고딕 B" panose="02020603020101020101" pitchFamily="18" charset="-127"/>
              </a:rPr>
              <a:t>동일인이 동일고안에 대하여 같은 날에 경합출원을 하여 모두 등록이 된 경우에 그 후 어느 한쪽의 등록이 무효로 확정되었다면 나머지 등록을 유지</a:t>
            </a:r>
            <a:r>
              <a:rPr lang="en-US" altLang="ko-KR" sz="1000" u="none" kern="100" spc="-100" dirty="0">
                <a:solidFill>
                  <a:srgbClr val="000000"/>
                </a:solidFill>
                <a:effectLst/>
                <a:highlight>
                  <a:srgbClr val="00FFFF"/>
                </a:highlight>
                <a:latin typeface="Rix모던고딕 B" panose="02020603020101020101" pitchFamily="18" charset="-127"/>
                <a:ea typeface="Rix모던고딕 B" panose="02020603020101020101" pitchFamily="18" charset="-127"/>
              </a:rPr>
              <a:t>, </a:t>
            </a:r>
            <a:r>
              <a:rPr lang="ko-KR" altLang="en-US" sz="1000" u="none" kern="100" spc="-100" dirty="0">
                <a:solidFill>
                  <a:srgbClr val="000000"/>
                </a:solidFill>
                <a:effectLst/>
                <a:highlight>
                  <a:srgbClr val="00FFFF"/>
                </a:highlight>
                <a:latin typeface="Rix모던고딕 B" panose="02020603020101020101" pitchFamily="18" charset="-127"/>
                <a:ea typeface="Rix모던고딕 B" panose="02020603020101020101" pitchFamily="18" charset="-127"/>
              </a:rPr>
              <a:t>존속시켜 주는 것이 타당</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하고 당초에 </a:t>
            </a:r>
            <a:r>
              <a:rPr lang="ko-KR" altLang="en-US" sz="1000" u="none" kern="100" spc="-100" dirty="0" err="1">
                <a:solidFill>
                  <a:srgbClr val="000000"/>
                </a:solidFill>
                <a:effectLst/>
                <a:latin typeface="Rix모던고딕 B" panose="02020603020101020101" pitchFamily="18" charset="-127"/>
                <a:ea typeface="Rix모던고딕 B" panose="02020603020101020101" pitchFamily="18" charset="-127"/>
              </a:rPr>
              <a:t>경합출원이었다는</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 사실만으로 나머지 등록까지 모두 무효로 볼 것이 아니다</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 </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위법 제</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7</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조 제</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3</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항에서 동일한 내용의 실용신안등록출원이 경합하거나 실용신안등록출원과 특허출원이 경합한 경우에 그 어느 하나가 무효 또는 취하되었거나 포기된 때에는 그 실용신안등록출원 또는 특허출원은 처음부터 없었던 것으로 본다고 규정한 취지에 미루어 보더라도 위와 같이 해석하는 것이 타당하다</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a:t>
            </a:r>
            <a:endParaRPr lang="ko-KR" altLang="en-US" sz="1000" u="none" kern="100" spc="-10" dirty="0">
              <a:solidFill>
                <a:srgbClr val="000000"/>
              </a:solidFill>
              <a:effectLst/>
              <a:latin typeface="Rix모던고딕 B" panose="02020603020101020101" pitchFamily="18" charset="-127"/>
              <a:ea typeface="Rix모던고딕 B" panose="02020603020101020101" pitchFamily="18" charset="-127"/>
            </a:endParaRPr>
          </a:p>
        </p:txBody>
      </p:sp>
      <p:sp>
        <p:nvSpPr>
          <p:cNvPr id="45" name="TextBox 44">
            <a:extLst>
              <a:ext uri="{FF2B5EF4-FFF2-40B4-BE49-F238E27FC236}">
                <a16:creationId xmlns:a16="http://schemas.microsoft.com/office/drawing/2014/main" id="{0FF10B1B-7D75-F5D0-77B1-52E61164437E}"/>
              </a:ext>
            </a:extLst>
          </p:cNvPr>
          <p:cNvSpPr txBox="1"/>
          <p:nvPr/>
        </p:nvSpPr>
        <p:spPr>
          <a:xfrm>
            <a:off x="3578536" y="4495124"/>
            <a:ext cx="2613089" cy="1474443"/>
          </a:xfrm>
          <a:prstGeom prst="rect">
            <a:avLst/>
          </a:prstGeom>
          <a:noFill/>
          <a:ln>
            <a:solidFill>
              <a:schemeClr val="bg1">
                <a:lumMod val="50000"/>
              </a:schemeClr>
            </a:solidFill>
          </a:ln>
        </p:spPr>
        <p:txBody>
          <a:bodyPr wrap="square">
            <a:spAutoFit/>
          </a:bodyPr>
          <a:lstStyle/>
          <a:p>
            <a:pPr marR="0" lvl="0" algn="just" fontAlgn="base" latinLnBrk="1">
              <a:lnSpc>
                <a:spcPct val="145000"/>
              </a:lnSpc>
              <a:spcBef>
                <a:spcPts val="300"/>
              </a:spcBef>
              <a:spcAft>
                <a:spcPts val="200"/>
              </a:spcAft>
              <a:buClr>
                <a:srgbClr val="FFFFFF"/>
              </a:buClr>
              <a:buSzPts val="1000"/>
              <a:tabLst>
                <a:tab pos="408940" algn="l"/>
                <a:tab pos="624840" algn="l"/>
                <a:tab pos="4931410" algn="r"/>
                <a:tab pos="408940" algn="l"/>
                <a:tab pos="624840" algn="l"/>
                <a:tab pos="4931410" algn="r"/>
              </a:tabLst>
            </a:pP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대법원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1995. 9. 26. </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선고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94</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후</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1558 </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판결 </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r>
              <a:rPr lang="ko-KR" altLang="en-US" sz="1000" b="1" u="none" kern="100" spc="-100" dirty="0">
                <a:solidFill>
                  <a:srgbClr val="000000"/>
                </a:solidFill>
                <a:effectLst/>
                <a:latin typeface="Rix모던고딕 B" panose="02020603020101020101" pitchFamily="18" charset="-127"/>
                <a:ea typeface="Rix모던고딕 B" panose="02020603020101020101" pitchFamily="18" charset="-127"/>
              </a:rPr>
              <a:t>거절사정</a:t>
            </a:r>
            <a:r>
              <a:rPr lang="en-US" altLang="ko-KR" sz="1000" b="1" u="none" kern="100" spc="-100" dirty="0">
                <a:solidFill>
                  <a:srgbClr val="000000"/>
                </a:solidFill>
                <a:effectLst/>
                <a:latin typeface="Rix모던고딕 B" panose="02020603020101020101" pitchFamily="18" charset="-127"/>
                <a:ea typeface="Rix모던고딕 B" panose="02020603020101020101" pitchFamily="18" charset="-127"/>
              </a:rPr>
              <a:t>】</a:t>
            </a:r>
          </a:p>
          <a:p>
            <a:pPr marR="0" lvl="0" algn="just" fontAlgn="base" latinLnBrk="1">
              <a:lnSpc>
                <a:spcPct val="145000"/>
              </a:lnSpc>
              <a:spcBef>
                <a:spcPts val="300"/>
              </a:spcBef>
              <a:spcAft>
                <a:spcPts val="200"/>
              </a:spcAft>
              <a:buClr>
                <a:srgbClr val="FFFFFF"/>
              </a:buClr>
              <a:buSzPts val="1000"/>
              <a:tabLst>
                <a:tab pos="408940" algn="l"/>
                <a:tab pos="624840" algn="l"/>
                <a:tab pos="4931410" algn="r"/>
                <a:tab pos="408940" algn="l"/>
                <a:tab pos="624840" algn="l"/>
                <a:tab pos="4931410" algn="r"/>
              </a:tabLst>
            </a:pPr>
            <a:r>
              <a:rPr lang="ko-KR" altLang="en-US" sz="1000" u="none" kern="100" spc="-100" dirty="0">
                <a:solidFill>
                  <a:srgbClr val="000000"/>
                </a:solidFill>
                <a:effectLst/>
                <a:highlight>
                  <a:srgbClr val="FFFF00"/>
                </a:highlight>
                <a:latin typeface="Rix모던고딕 B" panose="02020603020101020101" pitchFamily="18" charset="-127"/>
                <a:ea typeface="Rix모던고딕 B" panose="02020603020101020101" pitchFamily="18" charset="-127"/>
              </a:rPr>
              <a:t>동일한 발명사상의 내용이 청구항을 달리하여 중복하여 기재</a:t>
            </a:r>
            <a:r>
              <a:rPr lang="ko-KR" altLang="en-US" sz="1000" u="none" kern="100" spc="-100" dirty="0">
                <a:solidFill>
                  <a:srgbClr val="000000"/>
                </a:solidFill>
                <a:effectLst/>
                <a:latin typeface="Rix모던고딕 B" panose="02020603020101020101" pitchFamily="18" charset="-127"/>
                <a:ea typeface="Rix모던고딕 B" panose="02020603020101020101" pitchFamily="18" charset="-127"/>
              </a:rPr>
              <a:t>되어 있다고 하더라도 특허청구의 범위가 명확하고 간결하게 기재되어 있어 당해 기술분야에서 통상의 지식을 가진 자가 그 내용을 명확하게 이해하고 인식하여 재현할 수 있다면 그 명세서의 기재는 적법하다</a:t>
            </a:r>
            <a:r>
              <a:rPr lang="en-US" altLang="ko-KR" sz="1000" u="none" kern="100" spc="-100" dirty="0">
                <a:solidFill>
                  <a:srgbClr val="000000"/>
                </a:solidFill>
                <a:effectLst/>
                <a:latin typeface="Rix모던고딕 B" panose="02020603020101020101" pitchFamily="18" charset="-127"/>
                <a:ea typeface="Rix모던고딕 B" panose="02020603020101020101" pitchFamily="18" charset="-127"/>
              </a:rPr>
              <a:t>.</a:t>
            </a:r>
            <a:endParaRPr lang="ko-KR" altLang="en-US" sz="1000" u="none" kern="100" spc="-10" dirty="0">
              <a:solidFill>
                <a:srgbClr val="000000"/>
              </a:solidFill>
              <a:effectLst/>
              <a:latin typeface="Rix모던고딕 B" panose="02020603020101020101" pitchFamily="18" charset="-127"/>
              <a:ea typeface="Rix모던고딕 B" panose="02020603020101020101" pitchFamily="18" charset="-127"/>
            </a:endParaRPr>
          </a:p>
        </p:txBody>
      </p:sp>
      <p:sp>
        <p:nvSpPr>
          <p:cNvPr id="5" name="TextBox 4">
            <a:extLst>
              <a:ext uri="{FF2B5EF4-FFF2-40B4-BE49-F238E27FC236}">
                <a16:creationId xmlns:a16="http://schemas.microsoft.com/office/drawing/2014/main" id="{88C0ABB1-B332-648E-CB4D-DAE30763C8C7}"/>
              </a:ext>
            </a:extLst>
          </p:cNvPr>
          <p:cNvSpPr txBox="1"/>
          <p:nvPr/>
        </p:nvSpPr>
        <p:spPr>
          <a:xfrm>
            <a:off x="3857394" y="6057107"/>
            <a:ext cx="2055371" cy="461665"/>
          </a:xfrm>
          <a:prstGeom prst="rect">
            <a:avLst/>
          </a:prstGeom>
          <a:noFill/>
          <a:ln w="38100">
            <a:solidFill>
              <a:srgbClr val="FF0000"/>
            </a:solidFill>
          </a:ln>
        </p:spPr>
        <p:txBody>
          <a:bodyPr wrap="none" rtlCol="0">
            <a:spAutoFit/>
          </a:bodyPr>
          <a:lstStyle/>
          <a:p>
            <a:pPr algn="ctr"/>
            <a:r>
              <a:rPr lang="ko-KR" altLang="en-US" sz="1200" dirty="0" err="1"/>
              <a:t>동일자</a:t>
            </a:r>
            <a:r>
              <a:rPr lang="ko-KR" altLang="en-US" sz="1200" dirty="0"/>
              <a:t> 출원 모두 등록된 것의 </a:t>
            </a:r>
            <a:endParaRPr lang="en-US" altLang="ko-KR" sz="1200" dirty="0"/>
          </a:p>
          <a:p>
            <a:pPr algn="ctr"/>
            <a:r>
              <a:rPr lang="ko-KR" altLang="en-US" sz="1200" dirty="0"/>
              <a:t>처리에 대한 비판</a:t>
            </a:r>
          </a:p>
        </p:txBody>
      </p:sp>
    </p:spTree>
    <p:extLst>
      <p:ext uri="{BB962C8B-B14F-4D97-AF65-F5344CB8AC3E}">
        <p14:creationId xmlns:p14="http://schemas.microsoft.com/office/powerpoint/2010/main" val="3561608048"/>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양쪽 모서리가 둥근 사각형 99">
            <a:extLst>
              <a:ext uri="{FF2B5EF4-FFF2-40B4-BE49-F238E27FC236}">
                <a16:creationId xmlns:a16="http://schemas.microsoft.com/office/drawing/2014/main" id="{5E90BBA9-1B09-65FE-771A-4266C248F3C5}"/>
              </a:ext>
            </a:extLst>
          </p:cNvPr>
          <p:cNvSpPr/>
          <p:nvPr/>
        </p:nvSpPr>
        <p:spPr>
          <a:xfrm rot="10800000">
            <a:off x="8309582" y="4626074"/>
            <a:ext cx="2717005" cy="363303"/>
          </a:xfrm>
          <a:prstGeom prst="round2SameRect">
            <a:avLst>
              <a:gd name="adj1" fmla="val 50000"/>
              <a:gd name="adj2" fmla="val 0"/>
            </a:avLst>
          </a:prstGeom>
          <a:pattFill prst="pct25">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양쪽 모서리가 둥근 사각형 152">
            <a:extLst>
              <a:ext uri="{FF2B5EF4-FFF2-40B4-BE49-F238E27FC236}">
                <a16:creationId xmlns:a16="http://schemas.microsoft.com/office/drawing/2014/main" id="{B83893BC-C66D-4716-8447-9FA0B115E02B}"/>
              </a:ext>
            </a:extLst>
          </p:cNvPr>
          <p:cNvSpPr/>
          <p:nvPr/>
        </p:nvSpPr>
        <p:spPr>
          <a:xfrm>
            <a:off x="4685075" y="4271031"/>
            <a:ext cx="1985470" cy="363303"/>
          </a:xfrm>
          <a:prstGeom prst="round2SameRect">
            <a:avLst>
              <a:gd name="adj1" fmla="val 50000"/>
              <a:gd name="adj2" fmla="val 0"/>
            </a:avLst>
          </a:prstGeom>
          <a:pattFill prst="dkHorz">
            <a:fgClr>
              <a:schemeClr val="accent4">
                <a:lumMod val="60000"/>
                <a:lumOff val="4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7" name="직선 연결선 96"/>
          <p:cNvCxnSpPr>
            <a:cxnSpLocks/>
          </p:cNvCxnSpPr>
          <p:nvPr/>
        </p:nvCxnSpPr>
        <p:spPr>
          <a:xfrm>
            <a:off x="1298064" y="4616397"/>
            <a:ext cx="0" cy="162457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제목 3"/>
          <p:cNvSpPr>
            <a:spLocks noGrp="1"/>
          </p:cNvSpPr>
          <p:nvPr>
            <p:ph type="title"/>
          </p:nvPr>
        </p:nvSpPr>
        <p:spPr/>
        <p:txBody>
          <a:bodyPr/>
          <a:lstStyle/>
          <a:p>
            <a:r>
              <a:rPr lang="ko-KR" altLang="en-US" dirty="0"/>
              <a:t>제</a:t>
            </a:r>
            <a:r>
              <a:rPr lang="en-US" altLang="ko-KR" dirty="0"/>
              <a:t>52</a:t>
            </a:r>
            <a:r>
              <a:rPr lang="ko-KR" altLang="en-US" dirty="0"/>
              <a:t>조의</a:t>
            </a:r>
            <a:r>
              <a:rPr lang="en-US" altLang="ko-KR" dirty="0"/>
              <a:t>2</a:t>
            </a:r>
            <a:endParaRPr lang="ko-KR" altLang="en-US" dirty="0"/>
          </a:p>
        </p:txBody>
      </p:sp>
      <p:sp>
        <p:nvSpPr>
          <p:cNvPr id="5" name="텍스트 개체 틀 4"/>
          <p:cNvSpPr>
            <a:spLocks noGrp="1"/>
          </p:cNvSpPr>
          <p:nvPr>
            <p:ph type="body" sz="quarter" idx="13"/>
          </p:nvPr>
        </p:nvSpPr>
        <p:spPr/>
        <p:txBody>
          <a:bodyPr/>
          <a:lstStyle/>
          <a:p>
            <a:r>
              <a:rPr lang="ko-KR" altLang="en-US" dirty="0"/>
              <a:t>분리출원의 취지</a:t>
            </a:r>
          </a:p>
        </p:txBody>
      </p:sp>
      <p:sp>
        <p:nvSpPr>
          <p:cNvPr id="47" name="TextBox 46"/>
          <p:cNvSpPr txBox="1"/>
          <p:nvPr/>
        </p:nvSpPr>
        <p:spPr>
          <a:xfrm>
            <a:off x="251519" y="1346593"/>
            <a:ext cx="11592794" cy="888834"/>
          </a:xfrm>
          <a:prstGeom prst="rect">
            <a:avLst/>
          </a:prstGeom>
          <a:solidFill>
            <a:schemeClr val="accent4">
              <a:lumMod val="20000"/>
              <a:lumOff val="80000"/>
            </a:schemeClr>
          </a:solidFill>
          <a:ln>
            <a:solidFill>
              <a:schemeClr val="accent6">
                <a:lumMod val="50000"/>
              </a:schemeClr>
            </a:solidFill>
          </a:ln>
        </p:spPr>
        <p:txBody>
          <a:bodyPr wrap="square" rtlCol="0" anchor="ctr">
            <a:noAutofit/>
          </a:bodyPr>
          <a:lstStyle/>
          <a:p>
            <a:endParaRPr lang="en-US" altLang="ko-KR" sz="1200" dirty="0">
              <a:solidFill>
                <a:schemeClr val="tx2"/>
              </a:solidFill>
              <a:latin typeface="+mn-ea"/>
            </a:endParaRPr>
          </a:p>
          <a:p>
            <a:r>
              <a:rPr lang="ko-KR" altLang="en-US" sz="1200" dirty="0" err="1">
                <a:solidFill>
                  <a:schemeClr val="tx2"/>
                </a:solidFill>
                <a:latin typeface="+mn-ea"/>
              </a:rPr>
              <a:t>특허거절결정불복심판에서</a:t>
            </a:r>
            <a:r>
              <a:rPr lang="ko-KR" altLang="en-US" sz="1200" dirty="0">
                <a:solidFill>
                  <a:schemeClr val="tx2"/>
                </a:solidFill>
                <a:latin typeface="+mn-ea"/>
              </a:rPr>
              <a:t> </a:t>
            </a:r>
            <a:r>
              <a:rPr lang="ko-KR" altLang="en-US" sz="1200" dirty="0" err="1">
                <a:solidFill>
                  <a:schemeClr val="tx2"/>
                </a:solidFill>
                <a:latin typeface="+mn-ea"/>
              </a:rPr>
              <a:t>기각심결이</a:t>
            </a:r>
            <a:r>
              <a:rPr lang="ko-KR" altLang="en-US" sz="1200" dirty="0">
                <a:solidFill>
                  <a:schemeClr val="tx2"/>
                </a:solidFill>
                <a:latin typeface="+mn-ea"/>
              </a:rPr>
              <a:t> 있는 후에는 분할출원을 할 수 없기 때문에 거절결정 대상이 되지 않은 청구항</a:t>
            </a:r>
            <a:r>
              <a:rPr lang="en-US" altLang="ko-KR" sz="1200" dirty="0">
                <a:solidFill>
                  <a:schemeClr val="tx2"/>
                </a:solidFill>
                <a:latin typeface="+mn-ea"/>
              </a:rPr>
              <a:t>(</a:t>
            </a:r>
            <a:r>
              <a:rPr lang="ko-KR" altLang="en-US" sz="1200" dirty="0">
                <a:solidFill>
                  <a:schemeClr val="tx2"/>
                </a:solidFill>
                <a:latin typeface="+mn-ea"/>
              </a:rPr>
              <a:t>즉</a:t>
            </a:r>
            <a:r>
              <a:rPr lang="en-US" altLang="ko-KR" sz="1200" dirty="0">
                <a:solidFill>
                  <a:schemeClr val="tx2"/>
                </a:solidFill>
                <a:latin typeface="+mn-ea"/>
              </a:rPr>
              <a:t>, </a:t>
            </a:r>
            <a:r>
              <a:rPr lang="ko-KR" altLang="en-US" sz="1200" dirty="0">
                <a:solidFill>
                  <a:schemeClr val="tx2"/>
                </a:solidFill>
                <a:latin typeface="+mn-ea"/>
              </a:rPr>
              <a:t>청구범위 중 특허가능한 청구항</a:t>
            </a:r>
            <a:r>
              <a:rPr lang="en-US" altLang="ko-KR" sz="1200" dirty="0">
                <a:solidFill>
                  <a:schemeClr val="tx2"/>
                </a:solidFill>
                <a:latin typeface="+mn-ea"/>
              </a:rPr>
              <a:t>)</a:t>
            </a:r>
            <a:r>
              <a:rPr lang="ko-KR" altLang="en-US" sz="1200" dirty="0">
                <a:solidFill>
                  <a:schemeClr val="tx2"/>
                </a:solidFill>
                <a:latin typeface="+mn-ea"/>
              </a:rPr>
              <a:t>을 포함하는 특허출원이 구제받지 못하는 경우가 발생하는 문제점이 있었다</a:t>
            </a:r>
            <a:r>
              <a:rPr lang="en-US" altLang="ko-KR" sz="1200" dirty="0">
                <a:solidFill>
                  <a:schemeClr val="tx2"/>
                </a:solidFill>
                <a:latin typeface="+mn-ea"/>
              </a:rPr>
              <a:t>. </a:t>
            </a:r>
            <a:r>
              <a:rPr lang="ko-KR" altLang="en-US" sz="1200" dirty="0">
                <a:solidFill>
                  <a:schemeClr val="tx2"/>
                </a:solidFill>
                <a:latin typeface="+mn-ea"/>
              </a:rPr>
              <a:t>이에 </a:t>
            </a:r>
            <a:r>
              <a:rPr lang="en-US" altLang="ko-KR" sz="1200" dirty="0">
                <a:solidFill>
                  <a:schemeClr val="tx2"/>
                </a:solidFill>
                <a:latin typeface="+mn-ea"/>
              </a:rPr>
              <a:t>2022. 4. 20. </a:t>
            </a:r>
            <a:r>
              <a:rPr lang="ko-KR" altLang="en-US" sz="1200" dirty="0">
                <a:solidFill>
                  <a:schemeClr val="tx2"/>
                </a:solidFill>
                <a:latin typeface="+mn-ea"/>
              </a:rPr>
              <a:t>시행되는 개정법</a:t>
            </a:r>
            <a:r>
              <a:rPr lang="en-US" altLang="ko-KR" sz="1200" dirty="0">
                <a:solidFill>
                  <a:schemeClr val="tx2"/>
                </a:solidFill>
                <a:latin typeface="+mn-ea"/>
              </a:rPr>
              <a:t>(</a:t>
            </a:r>
            <a:r>
              <a:rPr lang="ko-KR" altLang="en-US" sz="1200" dirty="0">
                <a:solidFill>
                  <a:schemeClr val="tx2"/>
                </a:solidFill>
                <a:latin typeface="+mn-ea"/>
              </a:rPr>
              <a:t>法律 제</a:t>
            </a:r>
            <a:r>
              <a:rPr lang="en-US" altLang="ko-KR" sz="1200" dirty="0">
                <a:solidFill>
                  <a:schemeClr val="tx2"/>
                </a:solidFill>
                <a:latin typeface="+mn-ea"/>
              </a:rPr>
              <a:t>18505</a:t>
            </a:r>
            <a:r>
              <a:rPr lang="ko-KR" altLang="en-US" sz="1200" dirty="0">
                <a:solidFill>
                  <a:schemeClr val="tx2"/>
                </a:solidFill>
                <a:latin typeface="+mn-ea"/>
              </a:rPr>
              <a:t>호</a:t>
            </a:r>
            <a:r>
              <a:rPr lang="en-US" altLang="ko-KR" sz="1200" dirty="0">
                <a:solidFill>
                  <a:schemeClr val="tx2"/>
                </a:solidFill>
                <a:latin typeface="+mn-ea"/>
              </a:rPr>
              <a:t>, 2021. 10. 19. </a:t>
            </a:r>
            <a:r>
              <a:rPr lang="ko-KR" altLang="en-US" sz="1200" dirty="0">
                <a:solidFill>
                  <a:schemeClr val="tx2"/>
                </a:solidFill>
                <a:latin typeface="+mn-ea"/>
              </a:rPr>
              <a:t>일부개정</a:t>
            </a:r>
            <a:r>
              <a:rPr lang="en-US" altLang="ko-KR" sz="1200" dirty="0">
                <a:solidFill>
                  <a:schemeClr val="tx2"/>
                </a:solidFill>
                <a:latin typeface="+mn-ea"/>
              </a:rPr>
              <a:t>)</a:t>
            </a:r>
            <a:r>
              <a:rPr lang="ko-KR" altLang="en-US" sz="1200" dirty="0">
                <a:solidFill>
                  <a:schemeClr val="tx2"/>
                </a:solidFill>
                <a:latin typeface="+mn-ea"/>
              </a:rPr>
              <a:t>에서는 </a:t>
            </a:r>
            <a:r>
              <a:rPr lang="ko-KR" altLang="en-US" sz="1200" dirty="0" err="1">
                <a:solidFill>
                  <a:schemeClr val="tx2"/>
                </a:solidFill>
                <a:latin typeface="+mn-ea"/>
              </a:rPr>
              <a:t>심결취소의</a:t>
            </a:r>
            <a:r>
              <a:rPr lang="ko-KR" altLang="en-US" sz="1200" dirty="0">
                <a:solidFill>
                  <a:schemeClr val="tx2"/>
                </a:solidFill>
                <a:latin typeface="+mn-ea"/>
              </a:rPr>
              <a:t> 소 제기 전까지 그 청구항을 새로운 특허출원으로 분리하여 신속하게 추가적인 </a:t>
            </a:r>
            <a:r>
              <a:rPr lang="ko-KR" altLang="en-US" sz="1200" dirty="0" err="1">
                <a:solidFill>
                  <a:schemeClr val="tx2"/>
                </a:solidFill>
                <a:latin typeface="+mn-ea"/>
              </a:rPr>
              <a:t>권리획득할</a:t>
            </a:r>
            <a:r>
              <a:rPr lang="ko-KR" altLang="en-US" sz="1200" dirty="0">
                <a:solidFill>
                  <a:schemeClr val="tx2"/>
                </a:solidFill>
                <a:latin typeface="+mn-ea"/>
              </a:rPr>
              <a:t> 수 있는 기회를 제공하고 있다</a:t>
            </a:r>
            <a:r>
              <a:rPr lang="en-US" altLang="ko-KR" sz="1200" dirty="0">
                <a:solidFill>
                  <a:schemeClr val="tx2"/>
                </a:solidFill>
                <a:latin typeface="+mn-ea"/>
              </a:rPr>
              <a:t>.</a:t>
            </a:r>
          </a:p>
        </p:txBody>
      </p:sp>
      <p:sp>
        <p:nvSpPr>
          <p:cNvPr id="101" name="Rectangle 5"/>
          <p:cNvSpPr>
            <a:spLocks noChangeArrowheads="1"/>
          </p:cNvSpPr>
          <p:nvPr/>
        </p:nvSpPr>
        <p:spPr bwMode="auto">
          <a:xfrm>
            <a:off x="347687" y="1184570"/>
            <a:ext cx="5627838"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400" dirty="0">
                <a:solidFill>
                  <a:schemeClr val="bg1"/>
                </a:solidFill>
                <a:latin typeface="+mj-ea"/>
                <a:ea typeface="+mj-ea"/>
              </a:rPr>
              <a:t>거절결정불복심판의 </a:t>
            </a:r>
            <a:r>
              <a:rPr lang="ko-KR" altLang="en-US" sz="1400" dirty="0" err="1">
                <a:solidFill>
                  <a:schemeClr val="bg1"/>
                </a:solidFill>
                <a:latin typeface="+mj-ea"/>
                <a:ea typeface="+mj-ea"/>
              </a:rPr>
              <a:t>심결후</a:t>
            </a:r>
            <a:r>
              <a:rPr lang="ko-KR" altLang="en-US" sz="1400" dirty="0">
                <a:solidFill>
                  <a:schemeClr val="bg1"/>
                </a:solidFill>
                <a:latin typeface="+mj-ea"/>
                <a:ea typeface="+mj-ea"/>
              </a:rPr>
              <a:t> 특허가능한 청구항에 대한 권리획득 기회 제공</a:t>
            </a:r>
            <a:endParaRPr lang="ko-KR" altLang="en-US" sz="1400" b="0" dirty="0">
              <a:solidFill>
                <a:schemeClr val="bg1"/>
              </a:solidFill>
              <a:latin typeface="+mj-ea"/>
              <a:ea typeface="+mj-ea"/>
            </a:endParaRPr>
          </a:p>
        </p:txBody>
      </p:sp>
      <p:sp>
        <p:nvSpPr>
          <p:cNvPr id="3" name="슬라이드 번호 개체 틀 2"/>
          <p:cNvSpPr>
            <a:spLocks noGrp="1"/>
          </p:cNvSpPr>
          <p:nvPr>
            <p:ph type="sldNum" sz="quarter" idx="12"/>
          </p:nvPr>
        </p:nvSpPr>
        <p:spPr/>
        <p:txBody>
          <a:bodyPr/>
          <a:lstStyle/>
          <a:p>
            <a:r>
              <a:rPr lang="en-US" altLang="ko-KR"/>
              <a:t>204</a:t>
            </a:r>
            <a:endParaRPr lang="ko-KR" altLang="en-US"/>
          </a:p>
        </p:txBody>
      </p:sp>
      <p:cxnSp>
        <p:nvCxnSpPr>
          <p:cNvPr id="61" name="직선 화살표 연결선 60">
            <a:extLst>
              <a:ext uri="{FF2B5EF4-FFF2-40B4-BE49-F238E27FC236}">
                <a16:creationId xmlns:a16="http://schemas.microsoft.com/office/drawing/2014/main" id="{F3F78CA4-FE3C-4F12-88B2-DB52968DA380}"/>
              </a:ext>
            </a:extLst>
          </p:cNvPr>
          <p:cNvCxnSpPr>
            <a:cxnSpLocks/>
          </p:cNvCxnSpPr>
          <p:nvPr/>
        </p:nvCxnSpPr>
        <p:spPr>
          <a:xfrm>
            <a:off x="352535" y="4625019"/>
            <a:ext cx="11491778" cy="0"/>
          </a:xfrm>
          <a:prstGeom prst="straightConnector1">
            <a:avLst/>
          </a:prstGeom>
          <a:ln w="28575">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3" name="Rectangle 14">
            <a:extLst>
              <a:ext uri="{FF2B5EF4-FFF2-40B4-BE49-F238E27FC236}">
                <a16:creationId xmlns:a16="http://schemas.microsoft.com/office/drawing/2014/main" id="{8C3C00C7-7503-4E0F-9C2B-64294E6322F9}"/>
              </a:ext>
            </a:extLst>
          </p:cNvPr>
          <p:cNvSpPr>
            <a:spLocks noChangeArrowheads="1"/>
          </p:cNvSpPr>
          <p:nvPr/>
        </p:nvSpPr>
        <p:spPr bwMode="auto">
          <a:xfrm>
            <a:off x="860508" y="4478681"/>
            <a:ext cx="87511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원</a:t>
            </a:r>
            <a:r>
              <a:rPr kumimoji="0" lang="ko-KR" altLang="en-US" sz="1200" b="0" i="0" u="none" strike="noStrike" kern="0" cap="none" spc="0" normalizeH="0" baseline="0" noProof="0" dirty="0">
                <a:ln>
                  <a:noFill/>
                </a:ln>
                <a:solidFill>
                  <a:prstClr val="black"/>
                </a:solidFill>
                <a:effectLst/>
                <a:uLnTx/>
                <a:uFillTx/>
                <a:latin typeface="+mn-ea"/>
              </a:rPr>
              <a:t>출원</a:t>
            </a:r>
            <a:r>
              <a:rPr kumimoji="0" lang="en-US" altLang="ko-KR" sz="1200" b="0" i="0" u="none" strike="noStrike" kern="0" cap="none" spc="0" normalizeH="0" baseline="0" noProof="0" dirty="0">
                <a:ln>
                  <a:noFill/>
                </a:ln>
                <a:solidFill>
                  <a:prstClr val="black"/>
                </a:solidFill>
                <a:effectLst/>
                <a:uLnTx/>
                <a:uFillTx/>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sp>
        <p:nvSpPr>
          <p:cNvPr id="64" name="Rectangle 14">
            <a:extLst>
              <a:ext uri="{FF2B5EF4-FFF2-40B4-BE49-F238E27FC236}">
                <a16:creationId xmlns:a16="http://schemas.microsoft.com/office/drawing/2014/main" id="{20D0E8A4-C446-4909-BA0A-D415C5D0C3CE}"/>
              </a:ext>
            </a:extLst>
          </p:cNvPr>
          <p:cNvSpPr>
            <a:spLocks noChangeArrowheads="1"/>
          </p:cNvSpPr>
          <p:nvPr/>
        </p:nvSpPr>
        <p:spPr bwMode="auto">
          <a:xfrm>
            <a:off x="3499742" y="4478681"/>
            <a:ext cx="87511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거절결정</a:t>
            </a:r>
            <a:r>
              <a:rPr lang="en-US" altLang="ko-KR" sz="1200" kern="0" dirty="0">
                <a:solidFill>
                  <a:prstClr val="black"/>
                </a:solidFill>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sp>
        <p:nvSpPr>
          <p:cNvPr id="65" name="Rectangle 14">
            <a:extLst>
              <a:ext uri="{FF2B5EF4-FFF2-40B4-BE49-F238E27FC236}">
                <a16:creationId xmlns:a16="http://schemas.microsoft.com/office/drawing/2014/main" id="{D6CD7BC0-04BA-45D7-BE68-DE753FA879AB}"/>
              </a:ext>
            </a:extLst>
          </p:cNvPr>
          <p:cNvSpPr>
            <a:spLocks noChangeArrowheads="1"/>
          </p:cNvSpPr>
          <p:nvPr/>
        </p:nvSpPr>
        <p:spPr bwMode="auto">
          <a:xfrm>
            <a:off x="5271418" y="4478681"/>
            <a:ext cx="87511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심판청구</a:t>
            </a:r>
            <a:r>
              <a:rPr lang="en-US" altLang="ko-KR" sz="1200" kern="0" dirty="0">
                <a:solidFill>
                  <a:prstClr val="black"/>
                </a:solidFill>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sp>
        <p:nvSpPr>
          <p:cNvPr id="68" name="Rectangle 14">
            <a:extLst>
              <a:ext uri="{FF2B5EF4-FFF2-40B4-BE49-F238E27FC236}">
                <a16:creationId xmlns:a16="http://schemas.microsoft.com/office/drawing/2014/main" id="{BA14BDF4-A067-4746-88F6-18F674E31591}"/>
              </a:ext>
            </a:extLst>
          </p:cNvPr>
          <p:cNvSpPr>
            <a:spLocks noChangeArrowheads="1"/>
          </p:cNvSpPr>
          <p:nvPr/>
        </p:nvSpPr>
        <p:spPr bwMode="auto">
          <a:xfrm>
            <a:off x="6805239" y="4478681"/>
            <a:ext cx="87511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err="1">
                <a:solidFill>
                  <a:prstClr val="black"/>
                </a:solidFill>
                <a:latin typeface="+mn-ea"/>
              </a:rPr>
              <a:t>기각심결</a:t>
            </a:r>
            <a:r>
              <a:rPr lang="en-US" altLang="ko-KR" sz="1200" kern="0" dirty="0">
                <a:solidFill>
                  <a:prstClr val="black"/>
                </a:solidFill>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sp>
        <p:nvSpPr>
          <p:cNvPr id="70" name="Rectangle 14">
            <a:extLst>
              <a:ext uri="{FF2B5EF4-FFF2-40B4-BE49-F238E27FC236}">
                <a16:creationId xmlns:a16="http://schemas.microsoft.com/office/drawing/2014/main" id="{D1E33207-1BF0-48D7-845B-051BB91417B7}"/>
              </a:ext>
            </a:extLst>
          </p:cNvPr>
          <p:cNvSpPr>
            <a:spLocks noChangeArrowheads="1"/>
          </p:cNvSpPr>
          <p:nvPr/>
        </p:nvSpPr>
        <p:spPr bwMode="auto">
          <a:xfrm>
            <a:off x="9891513" y="4478681"/>
            <a:ext cx="87511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소송제기</a:t>
            </a:r>
            <a:r>
              <a:rPr lang="en-US" altLang="ko-KR" sz="1200" kern="0" dirty="0">
                <a:solidFill>
                  <a:prstClr val="black"/>
                </a:solidFill>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sp>
        <p:nvSpPr>
          <p:cNvPr id="8" name="TextBox 7">
            <a:extLst>
              <a:ext uri="{FF2B5EF4-FFF2-40B4-BE49-F238E27FC236}">
                <a16:creationId xmlns:a16="http://schemas.microsoft.com/office/drawing/2014/main" id="{C318FA0C-9B8F-4605-8C69-DB404C27ED12}"/>
              </a:ext>
            </a:extLst>
          </p:cNvPr>
          <p:cNvSpPr txBox="1"/>
          <p:nvPr/>
        </p:nvSpPr>
        <p:spPr>
          <a:xfrm>
            <a:off x="328681" y="2597182"/>
            <a:ext cx="2161169" cy="1334148"/>
          </a:xfrm>
          <a:prstGeom prst="rect">
            <a:avLst/>
          </a:prstGeom>
          <a:noFill/>
          <a:ln>
            <a:solidFill>
              <a:schemeClr val="bg1">
                <a:lumMod val="50000"/>
              </a:schemeClr>
            </a:solidFill>
          </a:ln>
        </p:spPr>
        <p:txBody>
          <a:bodyPr wrap="none" rtlCol="0">
            <a:spAutoFit/>
          </a:bodyPr>
          <a:lstStyle/>
          <a:p>
            <a:pPr marL="342900" indent="-342900">
              <a:lnSpc>
                <a:spcPct val="150000"/>
              </a:lnSpc>
              <a:buAutoNum type="arabicPeriod"/>
            </a:pPr>
            <a:r>
              <a:rPr lang="en-US" altLang="ko-KR" sz="1100" dirty="0"/>
              <a:t>AB</a:t>
            </a:r>
          </a:p>
          <a:p>
            <a:pPr marL="342900" indent="-342900">
              <a:lnSpc>
                <a:spcPct val="150000"/>
              </a:lnSpc>
              <a:buAutoNum type="arabicPeriod"/>
            </a:pPr>
            <a:r>
              <a:rPr lang="en-US" altLang="ko-KR" sz="1100" dirty="0"/>
              <a:t>AC</a:t>
            </a:r>
          </a:p>
          <a:p>
            <a:pPr marL="342900" indent="-342900">
              <a:lnSpc>
                <a:spcPct val="150000"/>
              </a:lnSpc>
              <a:buAutoNum type="arabicPeriod"/>
            </a:pPr>
            <a:r>
              <a:rPr lang="en-US" altLang="ko-KR" sz="1100" dirty="0"/>
              <a:t>1</a:t>
            </a:r>
            <a:r>
              <a:rPr lang="ko-KR" altLang="en-US" sz="1100" dirty="0"/>
              <a:t>항에 있어서</a:t>
            </a:r>
            <a:r>
              <a:rPr lang="en-US" altLang="ko-KR" sz="1100" dirty="0"/>
              <a:t>, D </a:t>
            </a:r>
            <a:r>
              <a:rPr lang="ko-KR" altLang="en-US" sz="1100" dirty="0"/>
              <a:t>또는</a:t>
            </a:r>
            <a:r>
              <a:rPr lang="en-US" altLang="ko-KR" sz="1100" dirty="0"/>
              <a:t> E </a:t>
            </a:r>
            <a:r>
              <a:rPr lang="ko-KR" altLang="en-US" sz="1100" dirty="0"/>
              <a:t>추가</a:t>
            </a:r>
            <a:endParaRPr lang="en-US" altLang="ko-KR" sz="1100" dirty="0"/>
          </a:p>
          <a:p>
            <a:pPr marL="342900" indent="-342900">
              <a:lnSpc>
                <a:spcPct val="150000"/>
              </a:lnSpc>
              <a:buAutoNum type="arabicPeriod"/>
            </a:pPr>
            <a:r>
              <a:rPr lang="en-US" altLang="ko-KR" sz="1100" dirty="0"/>
              <a:t>AF</a:t>
            </a:r>
          </a:p>
          <a:p>
            <a:pPr marL="342900" indent="-342900">
              <a:lnSpc>
                <a:spcPct val="150000"/>
              </a:lnSpc>
              <a:buAutoNum type="arabicPeriod"/>
            </a:pPr>
            <a:r>
              <a:rPr lang="en-US" altLang="ko-KR" sz="1100" dirty="0"/>
              <a:t>AH</a:t>
            </a:r>
          </a:p>
        </p:txBody>
      </p:sp>
      <p:cxnSp>
        <p:nvCxnSpPr>
          <p:cNvPr id="10" name="연결선: 꺾임 9">
            <a:extLst>
              <a:ext uri="{FF2B5EF4-FFF2-40B4-BE49-F238E27FC236}">
                <a16:creationId xmlns:a16="http://schemas.microsoft.com/office/drawing/2014/main" id="{7DC4372C-BF48-4D78-803E-17F32C17FFD1}"/>
              </a:ext>
            </a:extLst>
          </p:cNvPr>
          <p:cNvCxnSpPr>
            <a:cxnSpLocks/>
            <a:stCxn id="8" idx="2"/>
            <a:endCxn id="63" idx="0"/>
          </p:cNvCxnSpPr>
          <p:nvPr/>
        </p:nvCxnSpPr>
        <p:spPr>
          <a:xfrm rot="5400000">
            <a:off x="1079990" y="4149404"/>
            <a:ext cx="547351" cy="111203"/>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C365C513-3910-490B-A91A-2E28A26FDEC3}"/>
              </a:ext>
            </a:extLst>
          </p:cNvPr>
          <p:cNvSpPr txBox="1"/>
          <p:nvPr/>
        </p:nvSpPr>
        <p:spPr>
          <a:xfrm>
            <a:off x="3075050" y="2596857"/>
            <a:ext cx="2161169" cy="1334148"/>
          </a:xfrm>
          <a:prstGeom prst="rect">
            <a:avLst/>
          </a:prstGeom>
          <a:noFill/>
          <a:ln>
            <a:solidFill>
              <a:schemeClr val="bg1">
                <a:lumMod val="50000"/>
              </a:schemeClr>
            </a:solidFill>
          </a:ln>
        </p:spPr>
        <p:txBody>
          <a:bodyPr wrap="none" rtlCol="0">
            <a:spAutoFit/>
          </a:bodyPr>
          <a:lstStyle/>
          <a:p>
            <a:pPr marL="342900" indent="-342900">
              <a:lnSpc>
                <a:spcPct val="150000"/>
              </a:lnSpc>
              <a:buAutoNum type="arabicPeriod"/>
            </a:pPr>
            <a:r>
              <a:rPr lang="en-US" altLang="ko-KR" sz="1100" dirty="0"/>
              <a:t>AB</a:t>
            </a:r>
          </a:p>
          <a:p>
            <a:pPr marL="342900" indent="-342900">
              <a:lnSpc>
                <a:spcPct val="150000"/>
              </a:lnSpc>
              <a:buAutoNum type="arabicPeriod"/>
            </a:pPr>
            <a:r>
              <a:rPr lang="en-US" altLang="ko-KR" sz="1100" dirty="0"/>
              <a:t>AC</a:t>
            </a:r>
          </a:p>
          <a:p>
            <a:pPr marL="342900" indent="-342900">
              <a:lnSpc>
                <a:spcPct val="150000"/>
              </a:lnSpc>
              <a:buAutoNum type="arabicPeriod"/>
            </a:pPr>
            <a:r>
              <a:rPr lang="en-US" altLang="ko-KR" sz="1100" dirty="0"/>
              <a:t>1</a:t>
            </a:r>
            <a:r>
              <a:rPr lang="ko-KR" altLang="en-US" sz="1100" dirty="0"/>
              <a:t>항에 있어서</a:t>
            </a:r>
            <a:r>
              <a:rPr lang="en-US" altLang="ko-KR" sz="1100" dirty="0"/>
              <a:t>, D </a:t>
            </a:r>
            <a:r>
              <a:rPr lang="ko-KR" altLang="en-US" sz="1100" dirty="0"/>
              <a:t>또는 </a:t>
            </a:r>
            <a:r>
              <a:rPr lang="en-US" altLang="ko-KR" sz="1100" dirty="0"/>
              <a:t>E </a:t>
            </a:r>
            <a:r>
              <a:rPr lang="ko-KR" altLang="en-US" sz="1100" dirty="0"/>
              <a:t>추가</a:t>
            </a:r>
            <a:endParaRPr lang="en-US" altLang="ko-KR" sz="1100" dirty="0"/>
          </a:p>
          <a:p>
            <a:pPr marL="342900" indent="-342900">
              <a:lnSpc>
                <a:spcPct val="150000"/>
              </a:lnSpc>
              <a:buAutoNum type="arabicPeriod"/>
            </a:pPr>
            <a:r>
              <a:rPr lang="en-US" altLang="ko-KR" sz="1100" dirty="0"/>
              <a:t>AF</a:t>
            </a:r>
          </a:p>
          <a:p>
            <a:pPr marL="342900" indent="-342900">
              <a:lnSpc>
                <a:spcPct val="150000"/>
              </a:lnSpc>
              <a:buAutoNum type="arabicPeriod"/>
            </a:pPr>
            <a:r>
              <a:rPr lang="en-US" altLang="ko-KR" sz="1100" dirty="0"/>
              <a:t>AHIJ</a:t>
            </a:r>
          </a:p>
        </p:txBody>
      </p:sp>
      <p:cxnSp>
        <p:nvCxnSpPr>
          <p:cNvPr id="73" name="연결선: 꺾임 72">
            <a:extLst>
              <a:ext uri="{FF2B5EF4-FFF2-40B4-BE49-F238E27FC236}">
                <a16:creationId xmlns:a16="http://schemas.microsoft.com/office/drawing/2014/main" id="{2DC1DD91-05F6-42E2-BC82-5180B95A86CD}"/>
              </a:ext>
            </a:extLst>
          </p:cNvPr>
          <p:cNvCxnSpPr>
            <a:cxnSpLocks/>
            <a:stCxn id="72" idx="2"/>
            <a:endCxn id="64" idx="0"/>
          </p:cNvCxnSpPr>
          <p:nvPr/>
        </p:nvCxnSpPr>
        <p:spPr>
          <a:xfrm rot="5400000">
            <a:off x="3772628" y="4095674"/>
            <a:ext cx="547676" cy="218338"/>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E99E1A73-AD30-4626-9B29-489E45BDD044}"/>
              </a:ext>
            </a:extLst>
          </p:cNvPr>
          <p:cNvSpPr txBox="1"/>
          <p:nvPr/>
        </p:nvSpPr>
        <p:spPr>
          <a:xfrm>
            <a:off x="2764682" y="4980501"/>
            <a:ext cx="1659429" cy="1107996"/>
          </a:xfrm>
          <a:prstGeom prst="rect">
            <a:avLst/>
          </a:prstGeom>
          <a:noFill/>
          <a:ln>
            <a:solidFill>
              <a:schemeClr val="bg1">
                <a:lumMod val="50000"/>
              </a:schemeClr>
            </a:solidFill>
          </a:ln>
        </p:spPr>
        <p:txBody>
          <a:bodyPr wrap="none" rtlCol="0">
            <a:spAutoFit/>
          </a:bodyPr>
          <a:lstStyle/>
          <a:p>
            <a:pPr marL="342900" indent="-342900">
              <a:buAutoNum type="arabicPeriod"/>
            </a:pPr>
            <a:r>
              <a:rPr lang="ko-KR" altLang="en-US" sz="1100" dirty="0"/>
              <a:t>진보성 위반</a:t>
            </a:r>
            <a:endParaRPr lang="en-US" altLang="ko-KR" sz="1100" dirty="0"/>
          </a:p>
          <a:p>
            <a:pPr marL="342900" indent="-342900">
              <a:buAutoNum type="arabicPeriod"/>
            </a:pPr>
            <a:r>
              <a:rPr lang="ko-KR" altLang="en-US" sz="1100" dirty="0"/>
              <a:t>특허 가능</a:t>
            </a:r>
            <a:endParaRPr lang="en-US" altLang="ko-KR" sz="1100" dirty="0"/>
          </a:p>
          <a:p>
            <a:pPr marL="342900" indent="-342900">
              <a:buAutoNum type="arabicPeriod"/>
            </a:pPr>
            <a:r>
              <a:rPr lang="en-US" altLang="ko-KR" sz="1100" dirty="0"/>
              <a:t>ABD</a:t>
            </a:r>
            <a:r>
              <a:rPr lang="ko-KR" altLang="en-US" sz="1100" dirty="0"/>
              <a:t>가 진보성 위반</a:t>
            </a:r>
            <a:endParaRPr lang="en-US" altLang="ko-KR" sz="1100" dirty="0"/>
          </a:p>
          <a:p>
            <a:pPr marL="342900" indent="-342900">
              <a:buAutoNum type="arabicPeriod"/>
            </a:pPr>
            <a:r>
              <a:rPr lang="ko-KR" altLang="en-US" sz="1100" dirty="0"/>
              <a:t>특허 가능</a:t>
            </a:r>
            <a:endParaRPr lang="en-US" altLang="ko-KR" sz="1100" dirty="0"/>
          </a:p>
          <a:p>
            <a:pPr marL="342900" indent="-342900">
              <a:buAutoNum type="arabicPeriod"/>
            </a:pPr>
            <a:r>
              <a:rPr lang="ko-KR" altLang="en-US" sz="1100" dirty="0"/>
              <a:t>특허 가능</a:t>
            </a:r>
            <a:r>
              <a:rPr lang="en-US" altLang="ko-KR" sz="1100" dirty="0"/>
              <a:t>(AHI)</a:t>
            </a:r>
          </a:p>
          <a:p>
            <a:r>
              <a:rPr lang="en-US" altLang="ko-KR" sz="1100" dirty="0"/>
              <a:t>*</a:t>
            </a:r>
            <a:r>
              <a:rPr lang="ko-KR" altLang="en-US" sz="1100" dirty="0"/>
              <a:t> </a:t>
            </a:r>
            <a:r>
              <a:rPr lang="en-US" altLang="ko-KR" sz="1100" dirty="0"/>
              <a:t>J</a:t>
            </a:r>
            <a:r>
              <a:rPr lang="ko-KR" altLang="en-US" sz="1100" dirty="0"/>
              <a:t>가 신규사항추가</a:t>
            </a:r>
            <a:endParaRPr lang="en-US" altLang="ko-KR" sz="1100" dirty="0"/>
          </a:p>
        </p:txBody>
      </p:sp>
      <p:cxnSp>
        <p:nvCxnSpPr>
          <p:cNvPr id="22" name="연결선: 꺾임 21">
            <a:extLst>
              <a:ext uri="{FF2B5EF4-FFF2-40B4-BE49-F238E27FC236}">
                <a16:creationId xmlns:a16="http://schemas.microsoft.com/office/drawing/2014/main" id="{5C2D7D48-C20D-420D-89E7-98E8AA1D1B05}"/>
              </a:ext>
            </a:extLst>
          </p:cNvPr>
          <p:cNvCxnSpPr>
            <a:stCxn id="64" idx="2"/>
            <a:endCxn id="83" idx="0"/>
          </p:cNvCxnSpPr>
          <p:nvPr/>
        </p:nvCxnSpPr>
        <p:spPr>
          <a:xfrm rot="5400000">
            <a:off x="3652653" y="4695857"/>
            <a:ext cx="226388" cy="342900"/>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Rectangle 14">
            <a:extLst>
              <a:ext uri="{FF2B5EF4-FFF2-40B4-BE49-F238E27FC236}">
                <a16:creationId xmlns:a16="http://schemas.microsoft.com/office/drawing/2014/main" id="{BCEDA28A-AAFB-4A5E-8BC9-15F427F82CCA}"/>
              </a:ext>
            </a:extLst>
          </p:cNvPr>
          <p:cNvSpPr>
            <a:spLocks noChangeArrowheads="1"/>
          </p:cNvSpPr>
          <p:nvPr/>
        </p:nvSpPr>
        <p:spPr bwMode="auto">
          <a:xfrm>
            <a:off x="8471818" y="4478681"/>
            <a:ext cx="875110" cy="275432"/>
          </a:xfrm>
          <a:prstGeom prst="rect">
            <a:avLst/>
          </a:prstGeom>
          <a:solidFill>
            <a:schemeClr val="accent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schemeClr val="bg1"/>
                </a:solidFill>
                <a:latin typeface="+mn-ea"/>
              </a:rPr>
              <a:t>분리출원</a:t>
            </a:r>
            <a:r>
              <a:rPr lang="en-US" altLang="ko-KR" sz="1200" kern="0" dirty="0">
                <a:solidFill>
                  <a:schemeClr val="bg1"/>
                </a:solidFill>
                <a:latin typeface="+mn-ea"/>
              </a:rPr>
              <a:t>(Y)</a:t>
            </a:r>
            <a:endParaRPr kumimoji="0" lang="ko-KR" altLang="en-US" sz="1200" b="0" i="0" u="none" strike="noStrike" kern="0" cap="none" spc="0" normalizeH="0" baseline="0" noProof="0" dirty="0">
              <a:ln>
                <a:noFill/>
              </a:ln>
              <a:solidFill>
                <a:schemeClr val="bg1"/>
              </a:solidFill>
              <a:effectLst/>
              <a:uLnTx/>
              <a:uFillTx/>
              <a:latin typeface="+mn-ea"/>
            </a:endParaRPr>
          </a:p>
        </p:txBody>
      </p:sp>
      <p:sp>
        <p:nvSpPr>
          <p:cNvPr id="88" name="TextBox 87">
            <a:extLst>
              <a:ext uri="{FF2B5EF4-FFF2-40B4-BE49-F238E27FC236}">
                <a16:creationId xmlns:a16="http://schemas.microsoft.com/office/drawing/2014/main" id="{6450FF6B-3D35-4DF2-8DD4-2F6C03A5BEB1}"/>
              </a:ext>
            </a:extLst>
          </p:cNvPr>
          <p:cNvSpPr txBox="1"/>
          <p:nvPr/>
        </p:nvSpPr>
        <p:spPr>
          <a:xfrm>
            <a:off x="5975524" y="4980501"/>
            <a:ext cx="2073003" cy="261610"/>
          </a:xfrm>
          <a:prstGeom prst="rect">
            <a:avLst/>
          </a:prstGeom>
          <a:noFill/>
          <a:ln>
            <a:solidFill>
              <a:schemeClr val="bg1">
                <a:lumMod val="50000"/>
              </a:schemeClr>
            </a:solidFill>
          </a:ln>
        </p:spPr>
        <p:txBody>
          <a:bodyPr wrap="none" rtlCol="0">
            <a:spAutoFit/>
          </a:bodyPr>
          <a:lstStyle/>
          <a:p>
            <a:r>
              <a:rPr lang="ko-KR" altLang="en-US" sz="1100" dirty="0" err="1"/>
              <a:t>원거절이유에</a:t>
            </a:r>
            <a:r>
              <a:rPr lang="ko-KR" altLang="en-US" sz="1100" dirty="0"/>
              <a:t> 의한 거절결정 유지</a:t>
            </a:r>
            <a:endParaRPr lang="en-US" altLang="ko-KR" sz="1100" dirty="0"/>
          </a:p>
        </p:txBody>
      </p:sp>
      <p:cxnSp>
        <p:nvCxnSpPr>
          <p:cNvPr id="95" name="연결선: 꺾임 94">
            <a:extLst>
              <a:ext uri="{FF2B5EF4-FFF2-40B4-BE49-F238E27FC236}">
                <a16:creationId xmlns:a16="http://schemas.microsoft.com/office/drawing/2014/main" id="{F216186D-B48D-4243-9372-8E5BD68DD1C2}"/>
              </a:ext>
            </a:extLst>
          </p:cNvPr>
          <p:cNvCxnSpPr>
            <a:cxnSpLocks/>
            <a:stCxn id="68" idx="2"/>
            <a:endCxn id="88" idx="0"/>
          </p:cNvCxnSpPr>
          <p:nvPr/>
        </p:nvCxnSpPr>
        <p:spPr>
          <a:xfrm rot="5400000">
            <a:off x="7014216" y="4751923"/>
            <a:ext cx="226388" cy="230768"/>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D1CA92FE-DAD2-45BA-8141-FDC0DEF77D35}"/>
              </a:ext>
            </a:extLst>
          </p:cNvPr>
          <p:cNvSpPr txBox="1"/>
          <p:nvPr/>
        </p:nvSpPr>
        <p:spPr>
          <a:xfrm>
            <a:off x="7551800" y="2663532"/>
            <a:ext cx="1315975" cy="1334148"/>
          </a:xfrm>
          <a:prstGeom prst="rect">
            <a:avLst/>
          </a:prstGeom>
          <a:noFill/>
          <a:ln>
            <a:solidFill>
              <a:schemeClr val="bg1">
                <a:lumMod val="50000"/>
              </a:schemeClr>
            </a:solidFill>
          </a:ln>
        </p:spPr>
        <p:txBody>
          <a:bodyPr wrap="square" rtlCol="0">
            <a:spAutoFit/>
          </a:bodyPr>
          <a:lstStyle/>
          <a:p>
            <a:pPr marL="342900" indent="-342900">
              <a:lnSpc>
                <a:spcPct val="150000"/>
              </a:lnSpc>
              <a:buAutoNum type="arabicPeriod"/>
            </a:pPr>
            <a:r>
              <a:rPr lang="en-US" altLang="ko-KR" sz="1100" dirty="0"/>
              <a:t>AC</a:t>
            </a:r>
          </a:p>
          <a:p>
            <a:pPr marL="342900" indent="-342900">
              <a:lnSpc>
                <a:spcPct val="150000"/>
              </a:lnSpc>
              <a:buAutoNum type="arabicPeriod"/>
            </a:pPr>
            <a:r>
              <a:rPr lang="en-US" altLang="ko-KR" sz="1100" dirty="0"/>
              <a:t>ABE</a:t>
            </a:r>
          </a:p>
          <a:p>
            <a:pPr marL="342900" indent="-342900">
              <a:lnSpc>
                <a:spcPct val="150000"/>
              </a:lnSpc>
              <a:buAutoNum type="arabicPeriod"/>
            </a:pPr>
            <a:endParaRPr lang="en-US" altLang="ko-KR" sz="1100" dirty="0"/>
          </a:p>
          <a:p>
            <a:pPr marL="342900" indent="-342900">
              <a:lnSpc>
                <a:spcPct val="150000"/>
              </a:lnSpc>
              <a:buAutoNum type="arabicPeriod"/>
            </a:pPr>
            <a:r>
              <a:rPr lang="en-US" altLang="ko-KR" sz="1100" dirty="0"/>
              <a:t>AFG</a:t>
            </a:r>
          </a:p>
          <a:p>
            <a:pPr marL="342900" indent="-342900">
              <a:lnSpc>
                <a:spcPct val="150000"/>
              </a:lnSpc>
              <a:buAutoNum type="arabicPeriod"/>
            </a:pPr>
            <a:r>
              <a:rPr lang="en-US" altLang="ko-KR" sz="1100" dirty="0"/>
              <a:t>AHI</a:t>
            </a:r>
          </a:p>
        </p:txBody>
      </p:sp>
      <p:cxnSp>
        <p:nvCxnSpPr>
          <p:cNvPr id="103" name="연결선: 꺾임 102">
            <a:extLst>
              <a:ext uri="{FF2B5EF4-FFF2-40B4-BE49-F238E27FC236}">
                <a16:creationId xmlns:a16="http://schemas.microsoft.com/office/drawing/2014/main" id="{09A8D668-62F7-4814-A725-469041427480}"/>
              </a:ext>
            </a:extLst>
          </p:cNvPr>
          <p:cNvCxnSpPr>
            <a:cxnSpLocks/>
            <a:stCxn id="96" idx="2"/>
            <a:endCxn id="86" idx="0"/>
          </p:cNvCxnSpPr>
          <p:nvPr/>
        </p:nvCxnSpPr>
        <p:spPr>
          <a:xfrm rot="16200000" flipH="1">
            <a:off x="8319080" y="3888387"/>
            <a:ext cx="481001" cy="699585"/>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 name="Rectangle 14">
            <a:extLst>
              <a:ext uri="{FF2B5EF4-FFF2-40B4-BE49-F238E27FC236}">
                <a16:creationId xmlns:a16="http://schemas.microsoft.com/office/drawing/2014/main" id="{BA1544E3-B586-4BE9-966D-4EDBB500AA1F}"/>
              </a:ext>
            </a:extLst>
          </p:cNvPr>
          <p:cNvSpPr>
            <a:spLocks noChangeArrowheads="1"/>
          </p:cNvSpPr>
          <p:nvPr/>
        </p:nvSpPr>
        <p:spPr bwMode="auto">
          <a:xfrm>
            <a:off x="860508" y="6182825"/>
            <a:ext cx="875110" cy="275432"/>
          </a:xfrm>
          <a:prstGeom prst="rect">
            <a:avLst/>
          </a:prstGeom>
          <a:solidFill>
            <a:schemeClr val="accent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schemeClr val="bg1"/>
                </a:solidFill>
                <a:latin typeface="+mn-ea"/>
              </a:rPr>
              <a:t>특허출원</a:t>
            </a:r>
            <a:r>
              <a:rPr lang="en-US" altLang="ko-KR" sz="1200" kern="0" dirty="0">
                <a:solidFill>
                  <a:schemeClr val="bg1"/>
                </a:solidFill>
                <a:latin typeface="+mn-ea"/>
              </a:rPr>
              <a:t>(Y)</a:t>
            </a:r>
            <a:endParaRPr kumimoji="0" lang="ko-KR" altLang="en-US" sz="1200" b="0" i="0" u="none" strike="noStrike" kern="0" cap="none" spc="0" normalizeH="0" baseline="0" noProof="0" dirty="0">
              <a:ln>
                <a:noFill/>
              </a:ln>
              <a:solidFill>
                <a:schemeClr val="bg1"/>
              </a:solidFill>
              <a:effectLst/>
              <a:uLnTx/>
              <a:uFillTx/>
              <a:latin typeface="+mn-ea"/>
            </a:endParaRPr>
          </a:p>
        </p:txBody>
      </p:sp>
      <p:cxnSp>
        <p:nvCxnSpPr>
          <p:cNvPr id="28" name="연결선: 꺾임 27">
            <a:extLst>
              <a:ext uri="{FF2B5EF4-FFF2-40B4-BE49-F238E27FC236}">
                <a16:creationId xmlns:a16="http://schemas.microsoft.com/office/drawing/2014/main" id="{E360EA22-CF00-4F23-A1DA-77396C21C9FE}"/>
              </a:ext>
            </a:extLst>
          </p:cNvPr>
          <p:cNvCxnSpPr>
            <a:stCxn id="86" idx="2"/>
            <a:endCxn id="104" idx="3"/>
          </p:cNvCxnSpPr>
          <p:nvPr/>
        </p:nvCxnSpPr>
        <p:spPr>
          <a:xfrm rot="5400000">
            <a:off x="4539282" y="1950450"/>
            <a:ext cx="1566428" cy="7173755"/>
          </a:xfrm>
          <a:prstGeom prst="bentConnector2">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3" name="직사각형 32">
            <a:extLst>
              <a:ext uri="{FF2B5EF4-FFF2-40B4-BE49-F238E27FC236}">
                <a16:creationId xmlns:a16="http://schemas.microsoft.com/office/drawing/2014/main" id="{5558BE27-7EBD-4E84-B890-787D338C61EB}"/>
              </a:ext>
            </a:extLst>
          </p:cNvPr>
          <p:cNvSpPr/>
          <p:nvPr/>
        </p:nvSpPr>
        <p:spPr>
          <a:xfrm>
            <a:off x="2959100" y="2927201"/>
            <a:ext cx="2489200" cy="186163"/>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직사각형 105">
            <a:extLst>
              <a:ext uri="{FF2B5EF4-FFF2-40B4-BE49-F238E27FC236}">
                <a16:creationId xmlns:a16="http://schemas.microsoft.com/office/drawing/2014/main" id="{601F4AB6-1ABF-4EF0-86BC-122BD0C84FCE}"/>
              </a:ext>
            </a:extLst>
          </p:cNvPr>
          <p:cNvSpPr/>
          <p:nvPr/>
        </p:nvSpPr>
        <p:spPr>
          <a:xfrm>
            <a:off x="2959100" y="3184647"/>
            <a:ext cx="2489200" cy="189068"/>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7" name="직사각형 106">
            <a:extLst>
              <a:ext uri="{FF2B5EF4-FFF2-40B4-BE49-F238E27FC236}">
                <a16:creationId xmlns:a16="http://schemas.microsoft.com/office/drawing/2014/main" id="{7AE67D68-DCD5-477E-B2A1-18CDCC954D9F}"/>
              </a:ext>
            </a:extLst>
          </p:cNvPr>
          <p:cNvSpPr/>
          <p:nvPr/>
        </p:nvSpPr>
        <p:spPr>
          <a:xfrm>
            <a:off x="2959100" y="3444996"/>
            <a:ext cx="2489200" cy="193908"/>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직사각형 122">
            <a:extLst>
              <a:ext uri="{FF2B5EF4-FFF2-40B4-BE49-F238E27FC236}">
                <a16:creationId xmlns:a16="http://schemas.microsoft.com/office/drawing/2014/main" id="{E11E4380-C07C-43FE-9B76-16E84121A9FC}"/>
              </a:ext>
            </a:extLst>
          </p:cNvPr>
          <p:cNvSpPr/>
          <p:nvPr/>
        </p:nvSpPr>
        <p:spPr>
          <a:xfrm>
            <a:off x="2959100" y="3687515"/>
            <a:ext cx="2489200" cy="189068"/>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a:extLst>
              <a:ext uri="{FF2B5EF4-FFF2-40B4-BE49-F238E27FC236}">
                <a16:creationId xmlns:a16="http://schemas.microsoft.com/office/drawing/2014/main" id="{1FF193FD-7763-43D7-B91A-12017676BC0F}"/>
              </a:ext>
            </a:extLst>
          </p:cNvPr>
          <p:cNvSpPr/>
          <p:nvPr/>
        </p:nvSpPr>
        <p:spPr>
          <a:xfrm>
            <a:off x="7402313" y="2751940"/>
            <a:ext cx="1527982" cy="186163"/>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4" name="직사각형 133">
            <a:extLst>
              <a:ext uri="{FF2B5EF4-FFF2-40B4-BE49-F238E27FC236}">
                <a16:creationId xmlns:a16="http://schemas.microsoft.com/office/drawing/2014/main" id="{04AD4EB8-15F3-42D4-8885-9D30F01A379A}"/>
              </a:ext>
            </a:extLst>
          </p:cNvPr>
          <p:cNvSpPr/>
          <p:nvPr/>
        </p:nvSpPr>
        <p:spPr>
          <a:xfrm>
            <a:off x="7402313" y="2988376"/>
            <a:ext cx="1527982" cy="186163"/>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5" name="직사각형 134">
            <a:extLst>
              <a:ext uri="{FF2B5EF4-FFF2-40B4-BE49-F238E27FC236}">
                <a16:creationId xmlns:a16="http://schemas.microsoft.com/office/drawing/2014/main" id="{992B179C-72F7-4901-A256-B15C3BC5CEF8}"/>
              </a:ext>
            </a:extLst>
          </p:cNvPr>
          <p:cNvSpPr/>
          <p:nvPr/>
        </p:nvSpPr>
        <p:spPr>
          <a:xfrm>
            <a:off x="7402313" y="3499073"/>
            <a:ext cx="1527982" cy="186163"/>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직사각형 136">
            <a:extLst>
              <a:ext uri="{FF2B5EF4-FFF2-40B4-BE49-F238E27FC236}">
                <a16:creationId xmlns:a16="http://schemas.microsoft.com/office/drawing/2014/main" id="{84428566-D480-4282-A70B-A316820DDF57}"/>
              </a:ext>
            </a:extLst>
          </p:cNvPr>
          <p:cNvSpPr/>
          <p:nvPr/>
        </p:nvSpPr>
        <p:spPr>
          <a:xfrm>
            <a:off x="7402313" y="3758038"/>
            <a:ext cx="1527982" cy="186163"/>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TextBox 141">
            <a:extLst>
              <a:ext uri="{FF2B5EF4-FFF2-40B4-BE49-F238E27FC236}">
                <a16:creationId xmlns:a16="http://schemas.microsoft.com/office/drawing/2014/main" id="{E2290F65-A433-4244-B14C-081ECEB27B36}"/>
              </a:ext>
            </a:extLst>
          </p:cNvPr>
          <p:cNvSpPr txBox="1"/>
          <p:nvPr/>
        </p:nvSpPr>
        <p:spPr>
          <a:xfrm>
            <a:off x="5011414" y="6367601"/>
            <a:ext cx="1205779" cy="307777"/>
          </a:xfrm>
          <a:prstGeom prst="rect">
            <a:avLst/>
          </a:prstGeom>
          <a:noFill/>
          <a:ln>
            <a:noFill/>
          </a:ln>
        </p:spPr>
        <p:txBody>
          <a:bodyPr wrap="none" rtlCol="0">
            <a:spAutoFit/>
          </a:bodyPr>
          <a:lstStyle/>
          <a:p>
            <a:r>
              <a:rPr lang="ko-KR" altLang="en-US" sz="1400" dirty="0"/>
              <a:t>출원일 소급효</a:t>
            </a:r>
            <a:endParaRPr lang="en-US" altLang="ko-KR" sz="1400" dirty="0"/>
          </a:p>
        </p:txBody>
      </p:sp>
      <p:cxnSp>
        <p:nvCxnSpPr>
          <p:cNvPr id="36" name="연결선: 꺾임 35">
            <a:extLst>
              <a:ext uri="{FF2B5EF4-FFF2-40B4-BE49-F238E27FC236}">
                <a16:creationId xmlns:a16="http://schemas.microsoft.com/office/drawing/2014/main" id="{26192662-D04D-42D2-BD59-9684E92CCC8F}"/>
              </a:ext>
            </a:extLst>
          </p:cNvPr>
          <p:cNvCxnSpPr>
            <a:cxnSpLocks/>
            <a:stCxn id="33" idx="3"/>
            <a:endCxn id="132" idx="1"/>
          </p:cNvCxnSpPr>
          <p:nvPr/>
        </p:nvCxnSpPr>
        <p:spPr>
          <a:xfrm flipV="1">
            <a:off x="5448300" y="2845022"/>
            <a:ext cx="1954013" cy="175261"/>
          </a:xfrm>
          <a:prstGeom prst="bentConnector3">
            <a:avLst/>
          </a:prstGeom>
          <a:ln w="28575">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F09102DE-9240-4F50-926E-866705694846}"/>
              </a:ext>
            </a:extLst>
          </p:cNvPr>
          <p:cNvSpPr txBox="1"/>
          <p:nvPr/>
        </p:nvSpPr>
        <p:spPr>
          <a:xfrm>
            <a:off x="8953903" y="2714216"/>
            <a:ext cx="1678665" cy="253916"/>
          </a:xfrm>
          <a:prstGeom prst="rect">
            <a:avLst/>
          </a:prstGeom>
          <a:noFill/>
        </p:spPr>
        <p:txBody>
          <a:bodyPr wrap="none" rtlCol="0">
            <a:spAutoFit/>
          </a:bodyPr>
          <a:lstStyle/>
          <a:p>
            <a:r>
              <a:rPr lang="en-US" altLang="ko-KR" sz="1050" dirty="0"/>
              <a:t>(1) </a:t>
            </a:r>
            <a:r>
              <a:rPr lang="ko-KR" altLang="en-US" sz="1050" dirty="0"/>
              <a:t>거절되지 아니한 청구항</a:t>
            </a:r>
          </a:p>
        </p:txBody>
      </p:sp>
      <p:sp>
        <p:nvSpPr>
          <p:cNvPr id="143" name="TextBox 142">
            <a:extLst>
              <a:ext uri="{FF2B5EF4-FFF2-40B4-BE49-F238E27FC236}">
                <a16:creationId xmlns:a16="http://schemas.microsoft.com/office/drawing/2014/main" id="{75C73027-4378-4057-BF23-4B73AC0A9EFC}"/>
              </a:ext>
            </a:extLst>
          </p:cNvPr>
          <p:cNvSpPr txBox="1"/>
          <p:nvPr/>
        </p:nvSpPr>
        <p:spPr>
          <a:xfrm>
            <a:off x="8953903" y="2991359"/>
            <a:ext cx="2909416" cy="415498"/>
          </a:xfrm>
          <a:prstGeom prst="rect">
            <a:avLst/>
          </a:prstGeom>
          <a:noFill/>
        </p:spPr>
        <p:txBody>
          <a:bodyPr wrap="square" rtlCol="0">
            <a:spAutoFit/>
          </a:bodyPr>
          <a:lstStyle/>
          <a:p>
            <a:r>
              <a:rPr lang="en-US" altLang="ko-KR" sz="1050" dirty="0"/>
              <a:t>(2) </a:t>
            </a:r>
            <a:r>
              <a:rPr lang="ko-KR" altLang="en-US" sz="1050" dirty="0"/>
              <a:t>거절된 청구항에서 그 </a:t>
            </a:r>
            <a:r>
              <a:rPr lang="ko-KR" altLang="en-US" sz="1050" dirty="0" err="1"/>
              <a:t>특허거절결정의</a:t>
            </a:r>
            <a:r>
              <a:rPr lang="ko-KR" altLang="en-US" sz="1050" dirty="0"/>
              <a:t> 기초가 된 선택적 기재사항을 삭제한 청구항</a:t>
            </a:r>
          </a:p>
        </p:txBody>
      </p:sp>
      <p:sp>
        <p:nvSpPr>
          <p:cNvPr id="144" name="TextBox 143">
            <a:extLst>
              <a:ext uri="{FF2B5EF4-FFF2-40B4-BE49-F238E27FC236}">
                <a16:creationId xmlns:a16="http://schemas.microsoft.com/office/drawing/2014/main" id="{6115D800-3113-4759-8E56-A7053F9EFB90}"/>
              </a:ext>
            </a:extLst>
          </p:cNvPr>
          <p:cNvSpPr txBox="1"/>
          <p:nvPr/>
        </p:nvSpPr>
        <p:spPr>
          <a:xfrm>
            <a:off x="8953903" y="3451100"/>
            <a:ext cx="2909416" cy="253916"/>
          </a:xfrm>
          <a:prstGeom prst="rect">
            <a:avLst/>
          </a:prstGeom>
          <a:noFill/>
        </p:spPr>
        <p:txBody>
          <a:bodyPr wrap="square" rtlCol="0">
            <a:spAutoFit/>
          </a:bodyPr>
          <a:lstStyle/>
          <a:p>
            <a:r>
              <a:rPr lang="en-US" altLang="ko-KR" sz="1050" dirty="0"/>
              <a:t>(3) (1)(2)</a:t>
            </a:r>
            <a:r>
              <a:rPr lang="ko-KR" altLang="en-US" sz="1050" dirty="0"/>
              <a:t>의</a:t>
            </a:r>
            <a:r>
              <a:rPr lang="en-US" altLang="ko-KR" sz="1050" dirty="0"/>
              <a:t> </a:t>
            </a:r>
            <a:r>
              <a:rPr lang="ko-KR" altLang="en-US" sz="1050" dirty="0"/>
              <a:t>청구항을 감축한 청구항</a:t>
            </a:r>
            <a:endParaRPr lang="en-US" altLang="ko-KR" sz="1050" dirty="0"/>
          </a:p>
        </p:txBody>
      </p:sp>
      <p:sp>
        <p:nvSpPr>
          <p:cNvPr id="145" name="TextBox 144">
            <a:extLst>
              <a:ext uri="{FF2B5EF4-FFF2-40B4-BE49-F238E27FC236}">
                <a16:creationId xmlns:a16="http://schemas.microsoft.com/office/drawing/2014/main" id="{62352ADF-079E-4AF7-A4F5-8142D4B99EF1}"/>
              </a:ext>
            </a:extLst>
          </p:cNvPr>
          <p:cNvSpPr txBox="1"/>
          <p:nvPr/>
        </p:nvSpPr>
        <p:spPr>
          <a:xfrm>
            <a:off x="8953903" y="3726071"/>
            <a:ext cx="2909416" cy="415498"/>
          </a:xfrm>
          <a:prstGeom prst="rect">
            <a:avLst/>
          </a:prstGeom>
          <a:noFill/>
        </p:spPr>
        <p:txBody>
          <a:bodyPr wrap="square" rtlCol="0">
            <a:spAutoFit/>
          </a:bodyPr>
          <a:lstStyle/>
          <a:p>
            <a:r>
              <a:rPr lang="en-US" altLang="ko-KR" sz="1050" dirty="0"/>
              <a:t>(4) (1)(2)(3)</a:t>
            </a:r>
            <a:r>
              <a:rPr lang="ko-KR" altLang="en-US" sz="1050" dirty="0"/>
              <a:t>의</a:t>
            </a:r>
            <a:r>
              <a:rPr lang="en-US" altLang="ko-KR" sz="1050" dirty="0"/>
              <a:t> </a:t>
            </a:r>
            <a:r>
              <a:rPr lang="ko-KR" altLang="en-US" sz="1050" dirty="0"/>
              <a:t>청구항 중 신규사항추가부분을 삭제한 청구항</a:t>
            </a:r>
            <a:endParaRPr lang="en-US" altLang="ko-KR" sz="1050" dirty="0"/>
          </a:p>
        </p:txBody>
      </p:sp>
      <p:cxnSp>
        <p:nvCxnSpPr>
          <p:cNvPr id="146" name="연결선: 꺾임 145">
            <a:extLst>
              <a:ext uri="{FF2B5EF4-FFF2-40B4-BE49-F238E27FC236}">
                <a16:creationId xmlns:a16="http://schemas.microsoft.com/office/drawing/2014/main" id="{2214D7AF-2311-43A6-BAA4-DDEA62DE1F28}"/>
              </a:ext>
            </a:extLst>
          </p:cNvPr>
          <p:cNvCxnSpPr>
            <a:cxnSpLocks/>
            <a:stCxn id="106" idx="3"/>
            <a:endCxn id="134" idx="1"/>
          </p:cNvCxnSpPr>
          <p:nvPr/>
        </p:nvCxnSpPr>
        <p:spPr>
          <a:xfrm flipV="1">
            <a:off x="5448300" y="3081458"/>
            <a:ext cx="1954013" cy="197723"/>
          </a:xfrm>
          <a:prstGeom prst="bentConnector3">
            <a:avLst/>
          </a:prstGeom>
          <a:ln w="28575">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연결선: 꺾임 147">
            <a:extLst>
              <a:ext uri="{FF2B5EF4-FFF2-40B4-BE49-F238E27FC236}">
                <a16:creationId xmlns:a16="http://schemas.microsoft.com/office/drawing/2014/main" id="{B2CDB7F6-8A85-488D-B5D4-D01BE114530F}"/>
              </a:ext>
            </a:extLst>
          </p:cNvPr>
          <p:cNvCxnSpPr>
            <a:cxnSpLocks/>
            <a:stCxn id="107" idx="3"/>
            <a:endCxn id="135" idx="1"/>
          </p:cNvCxnSpPr>
          <p:nvPr/>
        </p:nvCxnSpPr>
        <p:spPr>
          <a:xfrm>
            <a:off x="5448300" y="3541950"/>
            <a:ext cx="1954013" cy="50205"/>
          </a:xfrm>
          <a:prstGeom prst="bentConnector3">
            <a:avLst/>
          </a:prstGeom>
          <a:ln w="28575">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연결선: 꺾임 148">
            <a:extLst>
              <a:ext uri="{FF2B5EF4-FFF2-40B4-BE49-F238E27FC236}">
                <a16:creationId xmlns:a16="http://schemas.microsoft.com/office/drawing/2014/main" id="{B5CB9209-103E-426C-9DC1-B7309F0F35D0}"/>
              </a:ext>
            </a:extLst>
          </p:cNvPr>
          <p:cNvCxnSpPr>
            <a:cxnSpLocks/>
            <a:stCxn id="123" idx="3"/>
            <a:endCxn id="137" idx="1"/>
          </p:cNvCxnSpPr>
          <p:nvPr/>
        </p:nvCxnSpPr>
        <p:spPr>
          <a:xfrm>
            <a:off x="5448300" y="3782049"/>
            <a:ext cx="1954013" cy="69071"/>
          </a:xfrm>
          <a:prstGeom prst="bentConnector3">
            <a:avLst/>
          </a:prstGeom>
          <a:ln w="28575">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959989BF-1267-C48D-158F-1801BFD8B325}"/>
              </a:ext>
            </a:extLst>
          </p:cNvPr>
          <p:cNvSpPr txBox="1"/>
          <p:nvPr/>
        </p:nvSpPr>
        <p:spPr>
          <a:xfrm>
            <a:off x="4940251" y="4010155"/>
            <a:ext cx="1568058" cy="261610"/>
          </a:xfrm>
          <a:prstGeom prst="rect">
            <a:avLst/>
          </a:prstGeom>
          <a:noFill/>
          <a:ln>
            <a:noFill/>
          </a:ln>
        </p:spPr>
        <p:txBody>
          <a:bodyPr wrap="none" rtlCol="0">
            <a:spAutoFit/>
          </a:bodyPr>
          <a:lstStyle/>
          <a:p>
            <a:r>
              <a:rPr lang="ko-KR" altLang="en-US" sz="1100" dirty="0"/>
              <a:t>등본송달일로부터 </a:t>
            </a:r>
            <a:r>
              <a:rPr lang="en-US" altLang="ko-KR" sz="1100" dirty="0"/>
              <a:t>3</a:t>
            </a:r>
            <a:r>
              <a:rPr lang="ko-KR" altLang="en-US" sz="1100" dirty="0"/>
              <a:t>개월</a:t>
            </a:r>
            <a:endParaRPr lang="en-US" altLang="ko-KR" sz="1100" dirty="0"/>
          </a:p>
        </p:txBody>
      </p:sp>
      <p:sp>
        <p:nvSpPr>
          <p:cNvPr id="11" name="TextBox 10">
            <a:extLst>
              <a:ext uri="{FF2B5EF4-FFF2-40B4-BE49-F238E27FC236}">
                <a16:creationId xmlns:a16="http://schemas.microsoft.com/office/drawing/2014/main" id="{C723BB72-6BD0-B41B-8B4C-6D47A2349EA5}"/>
              </a:ext>
            </a:extLst>
          </p:cNvPr>
          <p:cNvSpPr txBox="1"/>
          <p:nvPr/>
        </p:nvSpPr>
        <p:spPr>
          <a:xfrm>
            <a:off x="9000455" y="5080581"/>
            <a:ext cx="1519968" cy="261610"/>
          </a:xfrm>
          <a:prstGeom prst="rect">
            <a:avLst/>
          </a:prstGeom>
          <a:noFill/>
          <a:ln>
            <a:noFill/>
          </a:ln>
        </p:spPr>
        <p:txBody>
          <a:bodyPr wrap="none" rtlCol="0">
            <a:spAutoFit/>
          </a:bodyPr>
          <a:lstStyle/>
          <a:p>
            <a:r>
              <a:rPr lang="ko-KR" altLang="en-US" sz="1100" dirty="0"/>
              <a:t>등본송달일로부터 </a:t>
            </a:r>
            <a:r>
              <a:rPr lang="en-US" altLang="ko-KR" sz="1100" dirty="0"/>
              <a:t>30</a:t>
            </a:r>
            <a:r>
              <a:rPr lang="ko-KR" altLang="en-US" sz="1100" dirty="0"/>
              <a:t>일</a:t>
            </a:r>
            <a:endParaRPr lang="en-US" altLang="ko-KR" sz="1100" dirty="0"/>
          </a:p>
        </p:txBody>
      </p:sp>
      <p:sp>
        <p:nvSpPr>
          <p:cNvPr id="13" name="직사각형 12">
            <a:extLst>
              <a:ext uri="{FF2B5EF4-FFF2-40B4-BE49-F238E27FC236}">
                <a16:creationId xmlns:a16="http://schemas.microsoft.com/office/drawing/2014/main" id="{00F2A4F1-7A0E-5471-9FA9-C884DF9BF32A}"/>
              </a:ext>
            </a:extLst>
          </p:cNvPr>
          <p:cNvSpPr/>
          <p:nvPr/>
        </p:nvSpPr>
        <p:spPr>
          <a:xfrm>
            <a:off x="4578546" y="5668773"/>
            <a:ext cx="2917579" cy="403655"/>
          </a:xfrm>
          <a:prstGeom prst="rect">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accent4"/>
                </a:solidFill>
              </a:rPr>
              <a:t>필요한 경우 분할출원 대응가능</a:t>
            </a:r>
          </a:p>
        </p:txBody>
      </p:sp>
      <p:cxnSp>
        <p:nvCxnSpPr>
          <p:cNvPr id="15" name="연결선: 꺾임 14">
            <a:extLst>
              <a:ext uri="{FF2B5EF4-FFF2-40B4-BE49-F238E27FC236}">
                <a16:creationId xmlns:a16="http://schemas.microsoft.com/office/drawing/2014/main" id="{2225B78B-63D9-8A5D-5441-B99BAB7EA311}"/>
              </a:ext>
            </a:extLst>
          </p:cNvPr>
          <p:cNvCxnSpPr>
            <a:stCxn id="13" idx="0"/>
            <a:endCxn id="65" idx="2"/>
          </p:cNvCxnSpPr>
          <p:nvPr/>
        </p:nvCxnSpPr>
        <p:spPr>
          <a:xfrm rot="16200000" flipV="1">
            <a:off x="5415825" y="5047261"/>
            <a:ext cx="914660" cy="328363"/>
          </a:xfrm>
          <a:prstGeom prst="bentConnector3">
            <a:avLst>
              <a:gd name="adj1" fmla="val 28437"/>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5045141"/>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양쪽 모서리가 둥근 사각형 152">
            <a:extLst>
              <a:ext uri="{FF2B5EF4-FFF2-40B4-BE49-F238E27FC236}">
                <a16:creationId xmlns:a16="http://schemas.microsoft.com/office/drawing/2014/main" id="{6D5A6BBF-A9B6-D024-6CAA-8181612C3ABB}"/>
              </a:ext>
            </a:extLst>
          </p:cNvPr>
          <p:cNvSpPr/>
          <p:nvPr/>
        </p:nvSpPr>
        <p:spPr>
          <a:xfrm>
            <a:off x="8344995" y="1545760"/>
            <a:ext cx="1519968" cy="363303"/>
          </a:xfrm>
          <a:prstGeom prst="round2SameRect">
            <a:avLst>
              <a:gd name="adj1" fmla="val 50000"/>
              <a:gd name="adj2" fmla="val 0"/>
            </a:avLst>
          </a:prstGeom>
          <a:pattFill prst="dkHorz">
            <a:fgClr>
              <a:schemeClr val="accent4">
                <a:lumMod val="60000"/>
                <a:lumOff val="4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양쪽 모서리가 둥근 사각형 152">
            <a:extLst>
              <a:ext uri="{FF2B5EF4-FFF2-40B4-BE49-F238E27FC236}">
                <a16:creationId xmlns:a16="http://schemas.microsoft.com/office/drawing/2014/main" id="{B83893BC-C66D-4716-8447-9FA0B115E02B}"/>
              </a:ext>
            </a:extLst>
          </p:cNvPr>
          <p:cNvSpPr/>
          <p:nvPr/>
        </p:nvSpPr>
        <p:spPr>
          <a:xfrm>
            <a:off x="3972517" y="1545760"/>
            <a:ext cx="1980046" cy="363303"/>
          </a:xfrm>
          <a:prstGeom prst="round2SameRect">
            <a:avLst>
              <a:gd name="adj1" fmla="val 50000"/>
              <a:gd name="adj2" fmla="val 0"/>
            </a:avLst>
          </a:prstGeom>
          <a:pattFill prst="dkHorz">
            <a:fgClr>
              <a:schemeClr val="accent4">
                <a:lumMod val="60000"/>
                <a:lumOff val="4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4" name="제목 3"/>
          <p:cNvSpPr>
            <a:spLocks noGrp="1"/>
          </p:cNvSpPr>
          <p:nvPr>
            <p:ph type="title"/>
          </p:nvPr>
        </p:nvSpPr>
        <p:spPr/>
        <p:txBody>
          <a:bodyPr/>
          <a:lstStyle/>
          <a:p>
            <a:r>
              <a:rPr lang="ko-KR" altLang="en-US" dirty="0"/>
              <a:t>제</a:t>
            </a:r>
            <a:r>
              <a:rPr lang="en-US" altLang="ko-KR" dirty="0"/>
              <a:t>52</a:t>
            </a:r>
            <a:r>
              <a:rPr lang="ko-KR" altLang="en-US" dirty="0"/>
              <a:t>조의</a:t>
            </a:r>
            <a:r>
              <a:rPr lang="en-US" altLang="ko-KR" dirty="0"/>
              <a:t>2</a:t>
            </a:r>
            <a:endParaRPr lang="ko-KR" altLang="en-US" dirty="0"/>
          </a:p>
        </p:txBody>
      </p:sp>
      <p:sp>
        <p:nvSpPr>
          <p:cNvPr id="5" name="텍스트 개체 틀 4"/>
          <p:cNvSpPr>
            <a:spLocks noGrp="1"/>
          </p:cNvSpPr>
          <p:nvPr>
            <p:ph type="body" sz="quarter" idx="13"/>
          </p:nvPr>
        </p:nvSpPr>
        <p:spPr/>
        <p:txBody>
          <a:bodyPr/>
          <a:lstStyle/>
          <a:p>
            <a:r>
              <a:rPr lang="ko-KR" altLang="en-US" dirty="0"/>
              <a:t>분할출원</a:t>
            </a:r>
            <a:r>
              <a:rPr lang="en-US" altLang="ko-KR" dirty="0"/>
              <a:t>, </a:t>
            </a:r>
            <a:r>
              <a:rPr lang="ko-KR" altLang="en-US" dirty="0"/>
              <a:t>분리출원과 원출원의 </a:t>
            </a:r>
            <a:r>
              <a:rPr lang="ko-KR" altLang="en-US" dirty="0" err="1"/>
              <a:t>협의제</a:t>
            </a:r>
            <a:endParaRPr lang="ko-KR" altLang="en-US" dirty="0"/>
          </a:p>
        </p:txBody>
      </p:sp>
      <p:sp>
        <p:nvSpPr>
          <p:cNvPr id="3" name="슬라이드 번호 개체 틀 2"/>
          <p:cNvSpPr>
            <a:spLocks noGrp="1"/>
          </p:cNvSpPr>
          <p:nvPr>
            <p:ph type="sldNum" sz="quarter" idx="12"/>
          </p:nvPr>
        </p:nvSpPr>
        <p:spPr/>
        <p:txBody>
          <a:bodyPr/>
          <a:lstStyle/>
          <a:p>
            <a:r>
              <a:rPr lang="en-US" altLang="ko-KR"/>
              <a:t>205</a:t>
            </a:r>
            <a:endParaRPr lang="ko-KR" altLang="en-US"/>
          </a:p>
        </p:txBody>
      </p:sp>
      <p:cxnSp>
        <p:nvCxnSpPr>
          <p:cNvPr id="61" name="직선 화살표 연결선 60">
            <a:extLst>
              <a:ext uri="{FF2B5EF4-FFF2-40B4-BE49-F238E27FC236}">
                <a16:creationId xmlns:a16="http://schemas.microsoft.com/office/drawing/2014/main" id="{F3F78CA4-FE3C-4F12-88B2-DB52968DA380}"/>
              </a:ext>
            </a:extLst>
          </p:cNvPr>
          <p:cNvCxnSpPr>
            <a:cxnSpLocks/>
          </p:cNvCxnSpPr>
          <p:nvPr/>
        </p:nvCxnSpPr>
        <p:spPr>
          <a:xfrm>
            <a:off x="352535" y="1899748"/>
            <a:ext cx="11491778" cy="0"/>
          </a:xfrm>
          <a:prstGeom prst="straightConnector1">
            <a:avLst/>
          </a:prstGeom>
          <a:ln w="28575">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3" name="Rectangle 14">
            <a:extLst>
              <a:ext uri="{FF2B5EF4-FFF2-40B4-BE49-F238E27FC236}">
                <a16:creationId xmlns:a16="http://schemas.microsoft.com/office/drawing/2014/main" id="{8C3C00C7-7503-4E0F-9C2B-64294E6322F9}"/>
              </a:ext>
            </a:extLst>
          </p:cNvPr>
          <p:cNvSpPr>
            <a:spLocks noChangeArrowheads="1"/>
          </p:cNvSpPr>
          <p:nvPr/>
        </p:nvSpPr>
        <p:spPr bwMode="auto">
          <a:xfrm>
            <a:off x="860508" y="1753410"/>
            <a:ext cx="87511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원</a:t>
            </a:r>
            <a:r>
              <a:rPr kumimoji="0" lang="ko-KR" altLang="en-US" sz="1200" b="0" i="0" u="none" strike="noStrike" kern="0" cap="none" spc="0" normalizeH="0" baseline="0" noProof="0" dirty="0">
                <a:ln>
                  <a:noFill/>
                </a:ln>
                <a:solidFill>
                  <a:prstClr val="black"/>
                </a:solidFill>
                <a:effectLst/>
                <a:uLnTx/>
                <a:uFillTx/>
                <a:latin typeface="+mn-ea"/>
              </a:rPr>
              <a:t>출원</a:t>
            </a:r>
            <a:r>
              <a:rPr kumimoji="0" lang="en-US" altLang="ko-KR" sz="1200" b="0" i="0" u="none" strike="noStrike" kern="0" cap="none" spc="0" normalizeH="0" baseline="0" noProof="0" dirty="0">
                <a:ln>
                  <a:noFill/>
                </a:ln>
                <a:solidFill>
                  <a:prstClr val="black"/>
                </a:solidFill>
                <a:effectLst/>
                <a:uLnTx/>
                <a:uFillTx/>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sp>
        <p:nvSpPr>
          <p:cNvPr id="64" name="Rectangle 14">
            <a:extLst>
              <a:ext uri="{FF2B5EF4-FFF2-40B4-BE49-F238E27FC236}">
                <a16:creationId xmlns:a16="http://schemas.microsoft.com/office/drawing/2014/main" id="{20D0E8A4-C446-4909-BA0A-D415C5D0C3CE}"/>
              </a:ext>
            </a:extLst>
          </p:cNvPr>
          <p:cNvSpPr>
            <a:spLocks noChangeArrowheads="1"/>
          </p:cNvSpPr>
          <p:nvPr/>
        </p:nvSpPr>
        <p:spPr bwMode="auto">
          <a:xfrm>
            <a:off x="2415010" y="1753410"/>
            <a:ext cx="87511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거절결정</a:t>
            </a:r>
            <a:r>
              <a:rPr lang="en-US" altLang="ko-KR" sz="1200" kern="0" dirty="0">
                <a:solidFill>
                  <a:prstClr val="black"/>
                </a:solidFill>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sp>
        <p:nvSpPr>
          <p:cNvPr id="65" name="Rectangle 14">
            <a:extLst>
              <a:ext uri="{FF2B5EF4-FFF2-40B4-BE49-F238E27FC236}">
                <a16:creationId xmlns:a16="http://schemas.microsoft.com/office/drawing/2014/main" id="{D6CD7BC0-04BA-45D7-BE68-DE753FA879AB}"/>
              </a:ext>
            </a:extLst>
          </p:cNvPr>
          <p:cNvSpPr>
            <a:spLocks noChangeArrowheads="1"/>
          </p:cNvSpPr>
          <p:nvPr/>
        </p:nvSpPr>
        <p:spPr bwMode="auto">
          <a:xfrm>
            <a:off x="4500451" y="1753410"/>
            <a:ext cx="87511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심판청구</a:t>
            </a:r>
            <a:r>
              <a:rPr lang="en-US" altLang="ko-KR" sz="1200" kern="0" dirty="0">
                <a:solidFill>
                  <a:prstClr val="black"/>
                </a:solidFill>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sp>
        <p:nvSpPr>
          <p:cNvPr id="68" name="Rectangle 14">
            <a:extLst>
              <a:ext uri="{FF2B5EF4-FFF2-40B4-BE49-F238E27FC236}">
                <a16:creationId xmlns:a16="http://schemas.microsoft.com/office/drawing/2014/main" id="{BA14BDF4-A067-4746-88F6-18F674E31591}"/>
              </a:ext>
            </a:extLst>
          </p:cNvPr>
          <p:cNvSpPr>
            <a:spLocks noChangeArrowheads="1"/>
          </p:cNvSpPr>
          <p:nvPr/>
        </p:nvSpPr>
        <p:spPr bwMode="auto">
          <a:xfrm>
            <a:off x="6805239" y="1753410"/>
            <a:ext cx="87511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err="1">
                <a:solidFill>
                  <a:prstClr val="black"/>
                </a:solidFill>
                <a:latin typeface="+mn-ea"/>
              </a:rPr>
              <a:t>기각심결</a:t>
            </a:r>
            <a:r>
              <a:rPr lang="en-US" altLang="ko-KR" sz="1200" kern="0" dirty="0">
                <a:solidFill>
                  <a:prstClr val="black"/>
                </a:solidFill>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sp>
        <p:nvSpPr>
          <p:cNvPr id="6" name="TextBox 5">
            <a:extLst>
              <a:ext uri="{FF2B5EF4-FFF2-40B4-BE49-F238E27FC236}">
                <a16:creationId xmlns:a16="http://schemas.microsoft.com/office/drawing/2014/main" id="{959989BF-1267-C48D-158F-1801BFD8B325}"/>
              </a:ext>
            </a:extLst>
          </p:cNvPr>
          <p:cNvSpPr txBox="1"/>
          <p:nvPr/>
        </p:nvSpPr>
        <p:spPr>
          <a:xfrm>
            <a:off x="4276861" y="1284884"/>
            <a:ext cx="1568058" cy="261610"/>
          </a:xfrm>
          <a:prstGeom prst="rect">
            <a:avLst/>
          </a:prstGeom>
          <a:noFill/>
          <a:ln>
            <a:noFill/>
          </a:ln>
        </p:spPr>
        <p:txBody>
          <a:bodyPr wrap="none" rtlCol="0">
            <a:spAutoFit/>
          </a:bodyPr>
          <a:lstStyle/>
          <a:p>
            <a:r>
              <a:rPr lang="ko-KR" altLang="en-US" sz="1100" dirty="0"/>
              <a:t>등본송달일로부터 </a:t>
            </a:r>
            <a:r>
              <a:rPr lang="en-US" altLang="ko-KR" sz="1100" dirty="0"/>
              <a:t>3</a:t>
            </a:r>
            <a:r>
              <a:rPr lang="ko-KR" altLang="en-US" sz="1100" dirty="0"/>
              <a:t>개월</a:t>
            </a:r>
            <a:endParaRPr lang="en-US" altLang="ko-KR" sz="1100" dirty="0"/>
          </a:p>
        </p:txBody>
      </p:sp>
      <p:sp>
        <p:nvSpPr>
          <p:cNvPr id="11" name="TextBox 10">
            <a:extLst>
              <a:ext uri="{FF2B5EF4-FFF2-40B4-BE49-F238E27FC236}">
                <a16:creationId xmlns:a16="http://schemas.microsoft.com/office/drawing/2014/main" id="{C723BB72-6BD0-B41B-8B4C-6D47A2349EA5}"/>
              </a:ext>
            </a:extLst>
          </p:cNvPr>
          <p:cNvSpPr txBox="1"/>
          <p:nvPr/>
        </p:nvSpPr>
        <p:spPr>
          <a:xfrm>
            <a:off x="8279918" y="1257170"/>
            <a:ext cx="1519968" cy="261610"/>
          </a:xfrm>
          <a:prstGeom prst="rect">
            <a:avLst/>
          </a:prstGeom>
          <a:noFill/>
          <a:ln>
            <a:noFill/>
          </a:ln>
        </p:spPr>
        <p:txBody>
          <a:bodyPr wrap="none" rtlCol="0">
            <a:spAutoFit/>
          </a:bodyPr>
          <a:lstStyle/>
          <a:p>
            <a:r>
              <a:rPr lang="ko-KR" altLang="en-US" sz="1100" dirty="0"/>
              <a:t>등본송달일로부터 </a:t>
            </a:r>
            <a:r>
              <a:rPr lang="en-US" altLang="ko-KR" sz="1100" dirty="0"/>
              <a:t>30</a:t>
            </a:r>
            <a:r>
              <a:rPr lang="ko-KR" altLang="en-US" sz="1100" dirty="0"/>
              <a:t>일</a:t>
            </a:r>
            <a:endParaRPr lang="en-US" altLang="ko-KR" sz="1100" dirty="0"/>
          </a:p>
        </p:txBody>
      </p:sp>
      <p:sp>
        <p:nvSpPr>
          <p:cNvPr id="13" name="직사각형 12">
            <a:extLst>
              <a:ext uri="{FF2B5EF4-FFF2-40B4-BE49-F238E27FC236}">
                <a16:creationId xmlns:a16="http://schemas.microsoft.com/office/drawing/2014/main" id="{00F2A4F1-7A0E-5471-9FA9-C884DF9BF32A}"/>
              </a:ext>
            </a:extLst>
          </p:cNvPr>
          <p:cNvSpPr/>
          <p:nvPr/>
        </p:nvSpPr>
        <p:spPr>
          <a:xfrm>
            <a:off x="487844" y="2943502"/>
            <a:ext cx="4389357" cy="403655"/>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accent2"/>
                </a:solidFill>
              </a:rPr>
              <a:t>분할출원</a:t>
            </a:r>
            <a:r>
              <a:rPr lang="en-US" altLang="ko-KR" sz="1600" dirty="0">
                <a:solidFill>
                  <a:schemeClr val="accent2"/>
                </a:solidFill>
              </a:rPr>
              <a:t>(Y)</a:t>
            </a:r>
            <a:r>
              <a:rPr lang="ko-KR" altLang="en-US" sz="1600" dirty="0">
                <a:solidFill>
                  <a:schemeClr val="accent2"/>
                </a:solidFill>
              </a:rPr>
              <a:t>한 경우 </a:t>
            </a:r>
            <a:r>
              <a:rPr lang="ko-KR" altLang="en-US" sz="1600" dirty="0" err="1">
                <a:solidFill>
                  <a:schemeClr val="accent2"/>
                </a:solidFill>
              </a:rPr>
              <a:t>원출원</a:t>
            </a:r>
            <a:r>
              <a:rPr lang="en-US" altLang="ko-KR" sz="1600" dirty="0">
                <a:solidFill>
                  <a:schemeClr val="accent2"/>
                </a:solidFill>
              </a:rPr>
              <a:t>(X)</a:t>
            </a:r>
            <a:r>
              <a:rPr lang="ko-KR" altLang="en-US" sz="1600" dirty="0">
                <a:solidFill>
                  <a:schemeClr val="accent2"/>
                </a:solidFill>
              </a:rPr>
              <a:t>과 </a:t>
            </a:r>
            <a:r>
              <a:rPr lang="ko-KR" altLang="en-US" sz="1600" dirty="0" err="1">
                <a:solidFill>
                  <a:schemeClr val="accent2"/>
                </a:solidFill>
              </a:rPr>
              <a:t>협의제</a:t>
            </a:r>
            <a:r>
              <a:rPr lang="ko-KR" altLang="en-US" sz="1600" dirty="0">
                <a:solidFill>
                  <a:schemeClr val="accent2"/>
                </a:solidFill>
              </a:rPr>
              <a:t> 회피방안</a:t>
            </a:r>
          </a:p>
        </p:txBody>
      </p:sp>
      <p:cxnSp>
        <p:nvCxnSpPr>
          <p:cNvPr id="15" name="연결선: 꺾임 14">
            <a:extLst>
              <a:ext uri="{FF2B5EF4-FFF2-40B4-BE49-F238E27FC236}">
                <a16:creationId xmlns:a16="http://schemas.microsoft.com/office/drawing/2014/main" id="{2225B78B-63D9-8A5D-5441-B99BAB7EA311}"/>
              </a:ext>
            </a:extLst>
          </p:cNvPr>
          <p:cNvCxnSpPr>
            <a:cxnSpLocks/>
            <a:stCxn id="13" idx="0"/>
            <a:endCxn id="65" idx="2"/>
          </p:cNvCxnSpPr>
          <p:nvPr/>
        </p:nvCxnSpPr>
        <p:spPr>
          <a:xfrm rot="5400000" flipH="1" flipV="1">
            <a:off x="3352934" y="1358431"/>
            <a:ext cx="914660" cy="2255483"/>
          </a:xfrm>
          <a:prstGeom prst="bentConnector3">
            <a:avLst>
              <a:gd name="adj1" fmla="val 50000"/>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0" name="Rectangle 14">
            <a:extLst>
              <a:ext uri="{FF2B5EF4-FFF2-40B4-BE49-F238E27FC236}">
                <a16:creationId xmlns:a16="http://schemas.microsoft.com/office/drawing/2014/main" id="{D1E33207-1BF0-48D7-845B-051BB91417B7}"/>
              </a:ext>
            </a:extLst>
          </p:cNvPr>
          <p:cNvSpPr>
            <a:spLocks noChangeArrowheads="1"/>
          </p:cNvSpPr>
          <p:nvPr/>
        </p:nvSpPr>
        <p:spPr bwMode="auto">
          <a:xfrm>
            <a:off x="8602347" y="1753410"/>
            <a:ext cx="87511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소송제기</a:t>
            </a:r>
            <a:r>
              <a:rPr lang="en-US" altLang="ko-KR" sz="1200" kern="0" dirty="0">
                <a:solidFill>
                  <a:prstClr val="black"/>
                </a:solidFill>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sp>
        <p:nvSpPr>
          <p:cNvPr id="12" name="Rectangle 14">
            <a:extLst>
              <a:ext uri="{FF2B5EF4-FFF2-40B4-BE49-F238E27FC236}">
                <a16:creationId xmlns:a16="http://schemas.microsoft.com/office/drawing/2014/main" id="{F5DC0BDB-4540-6DCE-753F-C8B42E720C39}"/>
              </a:ext>
            </a:extLst>
          </p:cNvPr>
          <p:cNvSpPr>
            <a:spLocks noChangeArrowheads="1"/>
          </p:cNvSpPr>
          <p:nvPr/>
        </p:nvSpPr>
        <p:spPr bwMode="auto">
          <a:xfrm>
            <a:off x="10419470" y="1753410"/>
            <a:ext cx="875110" cy="2754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ko-KR" altLang="en-US" sz="1200" kern="0" dirty="0">
                <a:solidFill>
                  <a:prstClr val="black"/>
                </a:solidFill>
                <a:latin typeface="+mn-ea"/>
              </a:rPr>
              <a:t>판결</a:t>
            </a:r>
            <a:r>
              <a:rPr lang="en-US" altLang="ko-KR" sz="1200" kern="0" dirty="0">
                <a:solidFill>
                  <a:prstClr val="black"/>
                </a:solidFill>
                <a:latin typeface="+mn-ea"/>
              </a:rPr>
              <a:t>(X)</a:t>
            </a:r>
            <a:endParaRPr kumimoji="0" lang="ko-KR" altLang="en-US" sz="1200" b="0" i="0" u="none" strike="noStrike" kern="0" cap="none" spc="0" normalizeH="0" baseline="0" noProof="0" dirty="0">
              <a:ln>
                <a:noFill/>
              </a:ln>
              <a:solidFill>
                <a:prstClr val="black"/>
              </a:solidFill>
              <a:effectLst/>
              <a:uLnTx/>
              <a:uFillTx/>
              <a:latin typeface="+mn-ea"/>
            </a:endParaRPr>
          </a:p>
        </p:txBody>
      </p:sp>
      <p:sp>
        <p:nvSpPr>
          <p:cNvPr id="14" name="TextBox 13">
            <a:extLst>
              <a:ext uri="{FF2B5EF4-FFF2-40B4-BE49-F238E27FC236}">
                <a16:creationId xmlns:a16="http://schemas.microsoft.com/office/drawing/2014/main" id="{23E14188-7AF2-814C-9863-D33899B33798}"/>
              </a:ext>
            </a:extLst>
          </p:cNvPr>
          <p:cNvSpPr txBox="1"/>
          <p:nvPr/>
        </p:nvSpPr>
        <p:spPr>
          <a:xfrm>
            <a:off x="10487672" y="2036459"/>
            <a:ext cx="715259" cy="276999"/>
          </a:xfrm>
          <a:prstGeom prst="rect">
            <a:avLst/>
          </a:prstGeom>
          <a:noFill/>
        </p:spPr>
        <p:txBody>
          <a:bodyPr wrap="none" rtlCol="0">
            <a:spAutoFit/>
          </a:bodyPr>
          <a:lstStyle/>
          <a:p>
            <a:pPr algn="ctr"/>
            <a:r>
              <a:rPr lang="ko-KR" altLang="en-US" sz="1200" dirty="0">
                <a:solidFill>
                  <a:srgbClr val="FF0000"/>
                </a:solidFill>
              </a:rPr>
              <a:t>제</a:t>
            </a:r>
            <a:r>
              <a:rPr lang="en-US" altLang="ko-KR" sz="1200" dirty="0">
                <a:solidFill>
                  <a:srgbClr val="FF0000"/>
                </a:solidFill>
              </a:rPr>
              <a:t>189</a:t>
            </a:r>
            <a:r>
              <a:rPr lang="ko-KR" altLang="en-US" sz="1200" dirty="0">
                <a:solidFill>
                  <a:srgbClr val="FF0000"/>
                </a:solidFill>
              </a:rPr>
              <a:t>조</a:t>
            </a:r>
            <a:endParaRPr lang="en-US" altLang="ko-KR" sz="1200" dirty="0">
              <a:solidFill>
                <a:srgbClr val="FF0000"/>
              </a:solidFill>
            </a:endParaRPr>
          </a:p>
        </p:txBody>
      </p:sp>
      <p:sp>
        <p:nvSpPr>
          <p:cNvPr id="18" name="직사각형 17">
            <a:extLst>
              <a:ext uri="{FF2B5EF4-FFF2-40B4-BE49-F238E27FC236}">
                <a16:creationId xmlns:a16="http://schemas.microsoft.com/office/drawing/2014/main" id="{1E00F647-EB3D-7D26-F6C4-0C0011DF422E}"/>
              </a:ext>
            </a:extLst>
          </p:cNvPr>
          <p:cNvSpPr/>
          <p:nvPr/>
        </p:nvSpPr>
        <p:spPr>
          <a:xfrm>
            <a:off x="6552798" y="2943502"/>
            <a:ext cx="4389357" cy="403655"/>
          </a:xfrm>
          <a:prstGeom prst="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accent6"/>
                </a:solidFill>
              </a:rPr>
              <a:t>분리출원</a:t>
            </a:r>
            <a:r>
              <a:rPr lang="en-US" altLang="ko-KR" sz="1600" dirty="0">
                <a:solidFill>
                  <a:schemeClr val="accent6"/>
                </a:solidFill>
              </a:rPr>
              <a:t>(Z)</a:t>
            </a:r>
            <a:r>
              <a:rPr lang="ko-KR" altLang="en-US" sz="1600" dirty="0">
                <a:solidFill>
                  <a:schemeClr val="accent6"/>
                </a:solidFill>
              </a:rPr>
              <a:t>한 경우 </a:t>
            </a:r>
            <a:r>
              <a:rPr lang="ko-KR" altLang="en-US" sz="1600" dirty="0" err="1">
                <a:solidFill>
                  <a:schemeClr val="accent6"/>
                </a:solidFill>
              </a:rPr>
              <a:t>원출원</a:t>
            </a:r>
            <a:r>
              <a:rPr lang="en-US" altLang="ko-KR" sz="1600" dirty="0">
                <a:solidFill>
                  <a:schemeClr val="accent6"/>
                </a:solidFill>
              </a:rPr>
              <a:t>(X)</a:t>
            </a:r>
            <a:r>
              <a:rPr lang="ko-KR" altLang="en-US" sz="1600" dirty="0">
                <a:solidFill>
                  <a:schemeClr val="accent6"/>
                </a:solidFill>
              </a:rPr>
              <a:t>과 </a:t>
            </a:r>
            <a:r>
              <a:rPr lang="ko-KR" altLang="en-US" sz="1600" err="1">
                <a:solidFill>
                  <a:schemeClr val="accent6"/>
                </a:solidFill>
              </a:rPr>
              <a:t>협의제</a:t>
            </a:r>
            <a:r>
              <a:rPr lang="ko-KR" altLang="en-US" sz="1600">
                <a:solidFill>
                  <a:schemeClr val="accent6"/>
                </a:solidFill>
              </a:rPr>
              <a:t> 회피방안</a:t>
            </a:r>
            <a:endParaRPr lang="ko-KR" altLang="en-US" sz="1600" dirty="0">
              <a:solidFill>
                <a:schemeClr val="accent6"/>
              </a:solidFill>
            </a:endParaRPr>
          </a:p>
        </p:txBody>
      </p:sp>
      <p:cxnSp>
        <p:nvCxnSpPr>
          <p:cNvPr id="21" name="연결선: 꺾임 20">
            <a:extLst>
              <a:ext uri="{FF2B5EF4-FFF2-40B4-BE49-F238E27FC236}">
                <a16:creationId xmlns:a16="http://schemas.microsoft.com/office/drawing/2014/main" id="{25B06F8F-050A-D077-F3B7-FD70D20D147A}"/>
              </a:ext>
            </a:extLst>
          </p:cNvPr>
          <p:cNvCxnSpPr>
            <a:cxnSpLocks/>
            <a:stCxn id="18" idx="0"/>
            <a:endCxn id="70" idx="2"/>
          </p:cNvCxnSpPr>
          <p:nvPr/>
        </p:nvCxnSpPr>
        <p:spPr>
          <a:xfrm rot="5400000" flipH="1" flipV="1">
            <a:off x="8436359" y="2339960"/>
            <a:ext cx="914660" cy="292425"/>
          </a:xfrm>
          <a:prstGeom prst="bentConnector3">
            <a:avLst>
              <a:gd name="adj1" fmla="val 50000"/>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8D5157A1-147F-BD84-2E5E-9B600AD1F8E8}"/>
              </a:ext>
            </a:extLst>
          </p:cNvPr>
          <p:cNvSpPr txBox="1"/>
          <p:nvPr/>
        </p:nvSpPr>
        <p:spPr>
          <a:xfrm>
            <a:off x="6552798" y="3366245"/>
            <a:ext cx="5291515" cy="2281074"/>
          </a:xfrm>
          <a:prstGeom prst="rect">
            <a:avLst/>
          </a:prstGeom>
          <a:noFill/>
          <a:ln w="3175">
            <a:solidFill>
              <a:schemeClr val="accent6"/>
            </a:solidFill>
          </a:ln>
        </p:spPr>
        <p:txBody>
          <a:bodyPr wrap="square">
            <a:spAutoFit/>
          </a:bodyPr>
          <a:lstStyle/>
          <a:p>
            <a:pPr marL="285750" marR="0" indent="-285750" algn="just" fontAlgn="base" latinLnBrk="1">
              <a:lnSpc>
                <a:spcPct val="150000"/>
              </a:lnSpc>
              <a:spcBef>
                <a:spcPts val="0"/>
              </a:spcBef>
              <a:spcAft>
                <a:spcPts val="0"/>
              </a:spcAft>
              <a:buFontTx/>
              <a:buChar char="-"/>
            </a:pPr>
            <a:r>
              <a:rPr lang="ko-KR" altLang="en-US" sz="1200" kern="0" spc="-60" dirty="0">
                <a:solidFill>
                  <a:srgbClr val="000000"/>
                </a:solidFill>
                <a:effectLst/>
                <a:latin typeface="+mn-ea"/>
              </a:rPr>
              <a:t>분리출원</a:t>
            </a:r>
            <a:r>
              <a:rPr lang="en-US" altLang="ko-KR" sz="1200" kern="0" spc="-60" dirty="0">
                <a:solidFill>
                  <a:srgbClr val="000000"/>
                </a:solidFill>
                <a:effectLst/>
                <a:latin typeface="+mn-ea"/>
              </a:rPr>
              <a:t>(Z)</a:t>
            </a:r>
            <a:r>
              <a:rPr lang="ko-KR" altLang="en-US" sz="1200" kern="0" spc="-60" dirty="0">
                <a:solidFill>
                  <a:srgbClr val="000000"/>
                </a:solidFill>
                <a:effectLst/>
                <a:latin typeface="+mn-ea"/>
              </a:rPr>
              <a:t>의 심사절차 중지 </a:t>
            </a:r>
            <a:r>
              <a:rPr lang="en-US" altLang="ko-KR" sz="1200" kern="0" spc="-60" dirty="0">
                <a:solidFill>
                  <a:srgbClr val="000000"/>
                </a:solidFill>
                <a:effectLst/>
                <a:latin typeface="+mn-ea"/>
              </a:rPr>
              <a:t>X</a:t>
            </a:r>
          </a:p>
          <a:p>
            <a:pPr marL="285750" marR="0" indent="-285750" algn="just" fontAlgn="base" latinLnBrk="1">
              <a:lnSpc>
                <a:spcPct val="150000"/>
              </a:lnSpc>
              <a:spcBef>
                <a:spcPts val="0"/>
              </a:spcBef>
              <a:spcAft>
                <a:spcPts val="0"/>
              </a:spcAft>
              <a:buFontTx/>
              <a:buChar char="-"/>
            </a:pPr>
            <a:r>
              <a:rPr lang="ko-KR" altLang="en-US" sz="1200" kern="0" spc="-60" dirty="0" err="1">
                <a:solidFill>
                  <a:srgbClr val="000000"/>
                </a:solidFill>
                <a:effectLst/>
                <a:latin typeface="+mn-ea"/>
              </a:rPr>
              <a:t>원출원</a:t>
            </a:r>
            <a:r>
              <a:rPr lang="en-US" altLang="ko-KR" sz="1200" kern="0" spc="-60" dirty="0">
                <a:solidFill>
                  <a:srgbClr val="000000"/>
                </a:solidFill>
                <a:effectLst/>
                <a:latin typeface="+mn-ea"/>
              </a:rPr>
              <a:t>(X)</a:t>
            </a:r>
            <a:r>
              <a:rPr lang="ko-KR" altLang="en-US" sz="1200" kern="0" spc="-60" dirty="0">
                <a:solidFill>
                  <a:srgbClr val="000000"/>
                </a:solidFill>
                <a:effectLst/>
                <a:latin typeface="+mn-ea"/>
              </a:rPr>
              <a:t>의 특허결정 전이고 원출원을 인용발명으로 하는 선출원주의 위반</a:t>
            </a:r>
            <a:r>
              <a:rPr lang="en-US" altLang="ko-KR" sz="1200" kern="0" spc="-60" dirty="0">
                <a:solidFill>
                  <a:srgbClr val="000000"/>
                </a:solidFill>
                <a:effectLst/>
                <a:latin typeface="+mn-ea"/>
              </a:rPr>
              <a:t>(</a:t>
            </a:r>
            <a:r>
              <a:rPr lang="ko-KR" altLang="en-US" sz="1200" kern="0" spc="-60" dirty="0">
                <a:solidFill>
                  <a:srgbClr val="000000"/>
                </a:solidFill>
                <a:effectLst/>
                <a:latin typeface="+mn-ea"/>
              </a:rPr>
              <a:t>法 </a:t>
            </a:r>
            <a:r>
              <a:rPr lang="en-US" altLang="ko-KR" sz="1200" kern="0" spc="-60" dirty="0">
                <a:solidFill>
                  <a:srgbClr val="000000"/>
                </a:solidFill>
                <a:effectLst/>
                <a:latin typeface="+mn-ea"/>
              </a:rPr>
              <a:t>36</a:t>
            </a:r>
            <a:r>
              <a:rPr lang="ko-KR" altLang="en-US" sz="1200" kern="0" spc="-60" dirty="0">
                <a:solidFill>
                  <a:srgbClr val="000000"/>
                </a:solidFill>
                <a:effectLst/>
                <a:latin typeface="+mn-ea"/>
              </a:rPr>
              <a:t>②</a:t>
            </a:r>
            <a:r>
              <a:rPr lang="en-US" altLang="ko-KR" sz="1200" kern="0" spc="-60" dirty="0">
                <a:solidFill>
                  <a:srgbClr val="000000"/>
                </a:solidFill>
                <a:effectLst/>
                <a:latin typeface="+mn-ea"/>
              </a:rPr>
              <a:t>)</a:t>
            </a:r>
            <a:r>
              <a:rPr lang="ko-KR" altLang="en-US" sz="1200" kern="0" spc="-60" dirty="0">
                <a:solidFill>
                  <a:srgbClr val="000000"/>
                </a:solidFill>
                <a:effectLst/>
                <a:latin typeface="+mn-ea"/>
              </a:rPr>
              <a:t>의 거절이유를 제외한 거절이유를 발견할 수 없는 때에는 분리출원</a:t>
            </a:r>
            <a:r>
              <a:rPr lang="en-US" altLang="ko-KR" sz="1200" kern="0" spc="-60" dirty="0">
                <a:solidFill>
                  <a:srgbClr val="000000"/>
                </a:solidFill>
                <a:effectLst/>
                <a:latin typeface="+mn-ea"/>
              </a:rPr>
              <a:t>(Z)</a:t>
            </a:r>
            <a:r>
              <a:rPr lang="ko-KR" altLang="en-US" sz="1200" kern="0" spc="-60" dirty="0">
                <a:solidFill>
                  <a:srgbClr val="000000"/>
                </a:solidFill>
                <a:effectLst/>
                <a:latin typeface="+mn-ea"/>
              </a:rPr>
              <a:t>에 대해 특허결정</a:t>
            </a:r>
            <a:r>
              <a:rPr lang="en-US" altLang="ko-KR" sz="1200" kern="0" spc="-60" dirty="0">
                <a:solidFill>
                  <a:srgbClr val="000000"/>
                </a:solidFill>
                <a:effectLst/>
                <a:latin typeface="+mn-ea"/>
              </a:rPr>
              <a:t>(</a:t>
            </a:r>
            <a:r>
              <a:rPr lang="ko-KR" altLang="en-US" sz="1200" kern="0" spc="-60" dirty="0">
                <a:solidFill>
                  <a:srgbClr val="000000"/>
                </a:solidFill>
                <a:effectLst/>
                <a:latin typeface="+mn-ea"/>
              </a:rPr>
              <a:t>먼저 등록가능</a:t>
            </a:r>
            <a:r>
              <a:rPr lang="en-US" altLang="ko-KR" sz="1200" kern="0" spc="-60" dirty="0">
                <a:solidFill>
                  <a:srgbClr val="000000"/>
                </a:solidFill>
                <a:effectLst/>
                <a:latin typeface="+mn-ea"/>
              </a:rPr>
              <a:t>)</a:t>
            </a:r>
          </a:p>
          <a:p>
            <a:pPr marL="285750" marR="0" indent="-285750" algn="just" fontAlgn="base" latinLnBrk="1">
              <a:lnSpc>
                <a:spcPct val="150000"/>
              </a:lnSpc>
              <a:spcBef>
                <a:spcPts val="0"/>
              </a:spcBef>
              <a:spcAft>
                <a:spcPts val="0"/>
              </a:spcAft>
              <a:buFontTx/>
              <a:buChar char="-"/>
            </a:pPr>
            <a:r>
              <a:rPr lang="ko-KR" altLang="en-US" sz="1200" kern="0" spc="-60" dirty="0">
                <a:solidFill>
                  <a:srgbClr val="000000"/>
                </a:solidFill>
                <a:effectLst/>
                <a:latin typeface="+mn-ea"/>
              </a:rPr>
              <a:t>분리출원</a:t>
            </a:r>
            <a:r>
              <a:rPr lang="en-US" altLang="ko-KR" sz="1200" kern="0" spc="-60" dirty="0">
                <a:solidFill>
                  <a:srgbClr val="000000"/>
                </a:solidFill>
                <a:effectLst/>
                <a:latin typeface="+mn-ea"/>
              </a:rPr>
              <a:t>(Z)</a:t>
            </a:r>
            <a:r>
              <a:rPr lang="ko-KR" altLang="en-US" sz="1200" kern="0" spc="-60" dirty="0">
                <a:solidFill>
                  <a:srgbClr val="000000"/>
                </a:solidFill>
                <a:effectLst/>
                <a:latin typeface="+mn-ea"/>
              </a:rPr>
              <a:t>의 특허결정 후에 </a:t>
            </a:r>
            <a:r>
              <a:rPr lang="ko-KR" altLang="en-US" sz="1200" kern="0" spc="-60" dirty="0" err="1">
                <a:solidFill>
                  <a:srgbClr val="000000"/>
                </a:solidFill>
                <a:effectLst/>
                <a:latin typeface="+mn-ea"/>
              </a:rPr>
              <a:t>원출원</a:t>
            </a:r>
            <a:r>
              <a:rPr lang="en-US" altLang="ko-KR" sz="1200" kern="0" spc="-60" dirty="0">
                <a:solidFill>
                  <a:srgbClr val="000000"/>
                </a:solidFill>
                <a:effectLst/>
                <a:latin typeface="+mn-ea"/>
              </a:rPr>
              <a:t>(X)</a:t>
            </a:r>
            <a:r>
              <a:rPr lang="ko-KR" altLang="en-US" sz="1200" kern="0" spc="-60" dirty="0">
                <a:solidFill>
                  <a:srgbClr val="000000"/>
                </a:solidFill>
                <a:effectLst/>
                <a:latin typeface="+mn-ea"/>
              </a:rPr>
              <a:t>의 </a:t>
            </a:r>
            <a:r>
              <a:rPr lang="ko-KR" altLang="en-US" sz="1200" kern="0" spc="-60" dirty="0" err="1">
                <a:solidFill>
                  <a:srgbClr val="000000"/>
                </a:solidFill>
                <a:effectLst/>
                <a:latin typeface="+mn-ea"/>
              </a:rPr>
              <a:t>기각심결이</a:t>
            </a:r>
            <a:r>
              <a:rPr lang="ko-KR" altLang="en-US" sz="1200" kern="0" spc="-60" dirty="0">
                <a:solidFill>
                  <a:srgbClr val="000000"/>
                </a:solidFill>
                <a:effectLst/>
                <a:latin typeface="+mn-ea"/>
              </a:rPr>
              <a:t> 취소되어 특허심판원으로 환송된다면</a:t>
            </a:r>
            <a:r>
              <a:rPr lang="en-US" altLang="ko-KR" sz="1200" kern="0" spc="-60" dirty="0">
                <a:solidFill>
                  <a:srgbClr val="000000"/>
                </a:solidFill>
                <a:effectLst/>
                <a:latin typeface="+mn-ea"/>
              </a:rPr>
              <a:t>, </a:t>
            </a:r>
            <a:r>
              <a:rPr lang="ko-KR" altLang="en-US" sz="1200" kern="0" spc="-60" dirty="0">
                <a:solidFill>
                  <a:srgbClr val="000000"/>
                </a:solidFill>
                <a:effectLst/>
                <a:latin typeface="+mn-ea"/>
              </a:rPr>
              <a:t>특허심판원에서는 </a:t>
            </a:r>
            <a:r>
              <a:rPr lang="ko-KR" altLang="en-US" sz="1200" kern="0" spc="-60" dirty="0" err="1">
                <a:solidFill>
                  <a:srgbClr val="000000"/>
                </a:solidFill>
                <a:effectLst/>
                <a:latin typeface="+mn-ea"/>
              </a:rPr>
              <a:t>원거절결정의</a:t>
            </a:r>
            <a:r>
              <a:rPr lang="ko-KR" altLang="en-US" sz="1200" kern="0" spc="-60" dirty="0">
                <a:solidFill>
                  <a:srgbClr val="000000"/>
                </a:solidFill>
                <a:effectLst/>
                <a:latin typeface="+mn-ea"/>
              </a:rPr>
              <a:t> 이유와 다른 </a:t>
            </a:r>
            <a:r>
              <a:rPr lang="ko-KR" altLang="en-US" sz="1200" kern="0" spc="-60" dirty="0" err="1">
                <a:solidFill>
                  <a:srgbClr val="000000"/>
                </a:solidFill>
                <a:effectLst/>
                <a:latin typeface="+mn-ea"/>
              </a:rPr>
              <a:t>거절이유인</a:t>
            </a:r>
            <a:r>
              <a:rPr lang="ko-KR" altLang="en-US" sz="1200" kern="0" spc="-60" dirty="0">
                <a:solidFill>
                  <a:srgbClr val="000000"/>
                </a:solidFill>
                <a:effectLst/>
                <a:latin typeface="+mn-ea"/>
              </a:rPr>
              <a:t> </a:t>
            </a:r>
            <a:r>
              <a:rPr lang="ko-KR" altLang="en-US" sz="1200" kern="0" spc="-60" dirty="0" err="1">
                <a:solidFill>
                  <a:srgbClr val="000000"/>
                </a:solidFill>
                <a:effectLst/>
                <a:latin typeface="+mn-ea"/>
              </a:rPr>
              <a:t>협의제</a:t>
            </a:r>
            <a:r>
              <a:rPr lang="en-US" altLang="ko-KR" sz="1200" kern="0" spc="-60" dirty="0">
                <a:solidFill>
                  <a:srgbClr val="000000"/>
                </a:solidFill>
                <a:effectLst/>
                <a:latin typeface="+mn-ea"/>
              </a:rPr>
              <a:t>(</a:t>
            </a:r>
            <a:r>
              <a:rPr lang="ko-KR" altLang="en-US" sz="1200" kern="0" spc="-60" dirty="0">
                <a:solidFill>
                  <a:srgbClr val="000000"/>
                </a:solidFill>
                <a:effectLst/>
                <a:latin typeface="+mn-ea"/>
              </a:rPr>
              <a:t>法 </a:t>
            </a:r>
            <a:r>
              <a:rPr lang="en-US" altLang="ko-KR" sz="1200" kern="0" spc="-60" dirty="0">
                <a:solidFill>
                  <a:srgbClr val="000000"/>
                </a:solidFill>
                <a:effectLst/>
                <a:latin typeface="+mn-ea"/>
              </a:rPr>
              <a:t>36②) </a:t>
            </a:r>
            <a:r>
              <a:rPr lang="ko-KR" altLang="en-US" sz="1200" kern="0" spc="-60" dirty="0">
                <a:solidFill>
                  <a:srgbClr val="000000"/>
                </a:solidFill>
                <a:effectLst/>
                <a:latin typeface="+mn-ea"/>
              </a:rPr>
              <a:t>위반으로 </a:t>
            </a:r>
            <a:r>
              <a:rPr lang="ko-KR" altLang="en-US" sz="1200" kern="0" spc="-60" dirty="0" err="1">
                <a:solidFill>
                  <a:srgbClr val="000000"/>
                </a:solidFill>
                <a:effectLst/>
                <a:latin typeface="+mn-ea"/>
              </a:rPr>
              <a:t>원출원</a:t>
            </a:r>
            <a:r>
              <a:rPr lang="en-US" altLang="ko-KR" sz="1200" kern="0" spc="-60" dirty="0">
                <a:solidFill>
                  <a:srgbClr val="000000"/>
                </a:solidFill>
                <a:effectLst/>
                <a:latin typeface="+mn-ea"/>
              </a:rPr>
              <a:t>(X)</a:t>
            </a:r>
            <a:r>
              <a:rPr lang="ko-KR" altLang="en-US" sz="1200" kern="0" spc="-60" dirty="0">
                <a:solidFill>
                  <a:srgbClr val="000000"/>
                </a:solidFill>
                <a:effectLst/>
                <a:latin typeface="+mn-ea"/>
              </a:rPr>
              <a:t>에 대하여 </a:t>
            </a:r>
            <a:r>
              <a:rPr lang="ko-KR" altLang="en-US" sz="1200" kern="0" spc="-60" dirty="0" err="1">
                <a:solidFill>
                  <a:srgbClr val="000000"/>
                </a:solidFill>
                <a:effectLst/>
                <a:latin typeface="+mn-ea"/>
              </a:rPr>
              <a:t>거절이유통지</a:t>
            </a:r>
            <a:endParaRPr lang="en-US" altLang="ko-KR" sz="1200" kern="0" spc="-60" dirty="0">
              <a:solidFill>
                <a:srgbClr val="000000"/>
              </a:solidFill>
              <a:effectLst/>
              <a:latin typeface="+mn-ea"/>
            </a:endParaRPr>
          </a:p>
          <a:p>
            <a:pPr marL="268288" marR="0" indent="-268288" algn="just" fontAlgn="base" latinLnBrk="1">
              <a:lnSpc>
                <a:spcPct val="150000"/>
              </a:lnSpc>
              <a:spcBef>
                <a:spcPts val="0"/>
              </a:spcBef>
              <a:spcAft>
                <a:spcPts val="0"/>
              </a:spcAft>
            </a:pPr>
            <a:r>
              <a:rPr lang="en-US" altLang="ko-KR" sz="1200" kern="0" spc="-60" dirty="0">
                <a:solidFill>
                  <a:srgbClr val="000000"/>
                </a:solidFill>
                <a:latin typeface="+mn-ea"/>
              </a:rPr>
              <a:t>      (</a:t>
            </a:r>
            <a:r>
              <a:rPr lang="ko-KR" altLang="en-US" sz="1200" kern="0" spc="-60" dirty="0">
                <a:solidFill>
                  <a:srgbClr val="000000"/>
                </a:solidFill>
                <a:latin typeface="+mn-ea"/>
              </a:rPr>
              <a:t>분리출원</a:t>
            </a:r>
            <a:r>
              <a:rPr lang="en-US" altLang="ko-KR" sz="1200" kern="0" spc="-60" dirty="0">
                <a:solidFill>
                  <a:srgbClr val="000000"/>
                </a:solidFill>
                <a:latin typeface="+mn-ea"/>
              </a:rPr>
              <a:t>(Z)</a:t>
            </a:r>
            <a:r>
              <a:rPr lang="ko-KR" altLang="en-US" sz="1200" kern="0" spc="-60" dirty="0">
                <a:solidFill>
                  <a:srgbClr val="000000"/>
                </a:solidFill>
                <a:latin typeface="+mn-ea"/>
              </a:rPr>
              <a:t>이 먼저 등록된 경우 </a:t>
            </a:r>
            <a:r>
              <a:rPr lang="ko-KR" altLang="en-US" sz="1200" kern="0" spc="-60" dirty="0" err="1">
                <a:solidFill>
                  <a:srgbClr val="000000"/>
                </a:solidFill>
                <a:latin typeface="+mn-ea"/>
              </a:rPr>
              <a:t>협의제</a:t>
            </a:r>
            <a:r>
              <a:rPr lang="ko-KR" altLang="en-US" sz="1200" kern="0" spc="-60" dirty="0">
                <a:solidFill>
                  <a:srgbClr val="000000"/>
                </a:solidFill>
                <a:latin typeface="+mn-ea"/>
              </a:rPr>
              <a:t> 위반의 특허취소사유</a:t>
            </a:r>
            <a:r>
              <a:rPr lang="en-US" altLang="ko-KR" sz="1200" kern="0" spc="-60" dirty="0">
                <a:solidFill>
                  <a:srgbClr val="000000"/>
                </a:solidFill>
                <a:latin typeface="+mn-ea"/>
              </a:rPr>
              <a:t>, </a:t>
            </a:r>
            <a:r>
              <a:rPr lang="ko-KR" altLang="en-US" sz="1200" kern="0" spc="-60" dirty="0">
                <a:solidFill>
                  <a:srgbClr val="000000"/>
                </a:solidFill>
                <a:latin typeface="+mn-ea"/>
              </a:rPr>
              <a:t>특허무효사유 존재</a:t>
            </a:r>
            <a:r>
              <a:rPr lang="en-US" altLang="ko-KR" sz="1200" kern="0" spc="-60" dirty="0">
                <a:solidFill>
                  <a:srgbClr val="000000"/>
                </a:solidFill>
                <a:latin typeface="+mn-ea"/>
              </a:rPr>
              <a:t>)</a:t>
            </a:r>
            <a:endParaRPr lang="ko-KR" altLang="en-US" sz="1200" kern="0" spc="-60" dirty="0">
              <a:solidFill>
                <a:srgbClr val="000000"/>
              </a:solidFill>
              <a:effectLst/>
              <a:latin typeface="+mn-ea"/>
            </a:endParaRPr>
          </a:p>
        </p:txBody>
      </p:sp>
      <p:sp>
        <p:nvSpPr>
          <p:cNvPr id="32" name="TextBox 31">
            <a:extLst>
              <a:ext uri="{FF2B5EF4-FFF2-40B4-BE49-F238E27FC236}">
                <a16:creationId xmlns:a16="http://schemas.microsoft.com/office/drawing/2014/main" id="{218D22D3-0082-1BB4-7B77-BC9978AE8EF0}"/>
              </a:ext>
            </a:extLst>
          </p:cNvPr>
          <p:cNvSpPr txBox="1"/>
          <p:nvPr/>
        </p:nvSpPr>
        <p:spPr>
          <a:xfrm>
            <a:off x="487442" y="3366245"/>
            <a:ext cx="5465121" cy="1450077"/>
          </a:xfrm>
          <a:prstGeom prst="rect">
            <a:avLst/>
          </a:prstGeom>
          <a:noFill/>
          <a:ln w="3175">
            <a:solidFill>
              <a:schemeClr val="accent6"/>
            </a:solidFill>
          </a:ln>
        </p:spPr>
        <p:txBody>
          <a:bodyPr wrap="square">
            <a:spAutoFit/>
          </a:bodyPr>
          <a:lstStyle/>
          <a:p>
            <a:pPr marL="285750" marR="0" indent="-285750" algn="just" fontAlgn="base" latinLnBrk="1">
              <a:lnSpc>
                <a:spcPct val="150000"/>
              </a:lnSpc>
              <a:spcBef>
                <a:spcPts val="0"/>
              </a:spcBef>
              <a:spcAft>
                <a:spcPts val="0"/>
              </a:spcAft>
              <a:buFontTx/>
              <a:buChar char="-"/>
            </a:pPr>
            <a:r>
              <a:rPr lang="ko-KR" altLang="en-US" sz="1200" kern="0" spc="-60" dirty="0" err="1">
                <a:solidFill>
                  <a:srgbClr val="000000"/>
                </a:solidFill>
                <a:effectLst/>
                <a:latin typeface="+mn-ea"/>
              </a:rPr>
              <a:t>원출원</a:t>
            </a:r>
            <a:r>
              <a:rPr lang="en-US" altLang="ko-KR" sz="1200" kern="0" spc="-60" dirty="0">
                <a:solidFill>
                  <a:srgbClr val="000000"/>
                </a:solidFill>
                <a:effectLst/>
                <a:latin typeface="+mn-ea"/>
              </a:rPr>
              <a:t>(X)</a:t>
            </a:r>
            <a:r>
              <a:rPr lang="ko-KR" altLang="en-US" sz="1200" kern="0" spc="-60" dirty="0">
                <a:solidFill>
                  <a:srgbClr val="000000"/>
                </a:solidFill>
                <a:effectLst/>
                <a:latin typeface="+mn-ea"/>
              </a:rPr>
              <a:t>의 심판결과가 확정될 때까지 분할출원</a:t>
            </a:r>
            <a:r>
              <a:rPr lang="en-US" altLang="ko-KR" sz="1200" kern="0" spc="-60" dirty="0">
                <a:solidFill>
                  <a:srgbClr val="000000"/>
                </a:solidFill>
                <a:effectLst/>
                <a:latin typeface="+mn-ea"/>
              </a:rPr>
              <a:t>(Y)</a:t>
            </a:r>
            <a:r>
              <a:rPr lang="ko-KR" altLang="en-US" sz="1200" kern="0" spc="-60" dirty="0">
                <a:solidFill>
                  <a:srgbClr val="000000"/>
                </a:solidFill>
                <a:effectLst/>
                <a:latin typeface="+mn-ea"/>
              </a:rPr>
              <a:t>의 심사절차 중지 </a:t>
            </a:r>
            <a:r>
              <a:rPr lang="en-US" altLang="ko-KR" sz="1200" kern="0" spc="-60" dirty="0">
                <a:solidFill>
                  <a:srgbClr val="000000"/>
                </a:solidFill>
                <a:effectLst/>
                <a:latin typeface="+mn-ea"/>
              </a:rPr>
              <a:t>O</a:t>
            </a:r>
          </a:p>
          <a:p>
            <a:pPr marL="285750" marR="0" indent="-285750" algn="just" fontAlgn="base" latinLnBrk="1">
              <a:lnSpc>
                <a:spcPct val="150000"/>
              </a:lnSpc>
              <a:spcBef>
                <a:spcPts val="0"/>
              </a:spcBef>
              <a:spcAft>
                <a:spcPts val="0"/>
              </a:spcAft>
              <a:buFontTx/>
              <a:buChar char="-"/>
            </a:pPr>
            <a:r>
              <a:rPr lang="ko-KR" altLang="en-US" sz="1200" kern="0" spc="-60" dirty="0">
                <a:solidFill>
                  <a:srgbClr val="000000"/>
                </a:solidFill>
                <a:effectLst/>
                <a:latin typeface="+mn-ea"/>
              </a:rPr>
              <a:t>심판결과 </a:t>
            </a:r>
            <a:r>
              <a:rPr lang="ko-KR" altLang="en-US" sz="1200" kern="0" spc="-60" dirty="0" err="1">
                <a:solidFill>
                  <a:srgbClr val="000000"/>
                </a:solidFill>
                <a:effectLst/>
                <a:latin typeface="+mn-ea"/>
              </a:rPr>
              <a:t>원출원</a:t>
            </a:r>
            <a:r>
              <a:rPr lang="en-US" altLang="ko-KR" sz="1200" kern="0" spc="-60" dirty="0">
                <a:solidFill>
                  <a:srgbClr val="000000"/>
                </a:solidFill>
                <a:effectLst/>
                <a:latin typeface="+mn-ea"/>
              </a:rPr>
              <a:t>(X)</a:t>
            </a:r>
            <a:r>
              <a:rPr lang="ko-KR" altLang="en-US" sz="1200" kern="0" spc="-60" dirty="0">
                <a:solidFill>
                  <a:srgbClr val="000000"/>
                </a:solidFill>
                <a:effectLst/>
                <a:latin typeface="+mn-ea"/>
              </a:rPr>
              <a:t>에 대한 거절한다는 취지의 </a:t>
            </a:r>
            <a:r>
              <a:rPr lang="ko-KR" altLang="en-US" sz="1200" kern="0" spc="-60" dirty="0" err="1">
                <a:solidFill>
                  <a:srgbClr val="000000"/>
                </a:solidFill>
                <a:effectLst/>
                <a:latin typeface="+mn-ea"/>
              </a:rPr>
              <a:t>심결이</a:t>
            </a:r>
            <a:r>
              <a:rPr lang="ko-KR" altLang="en-US" sz="1200" kern="0" spc="-60" dirty="0">
                <a:solidFill>
                  <a:srgbClr val="000000"/>
                </a:solidFill>
                <a:effectLst/>
                <a:latin typeface="+mn-ea"/>
              </a:rPr>
              <a:t> 확정되면 선출원의 지위가 없어지기 때문에</a:t>
            </a:r>
            <a:r>
              <a:rPr lang="en-US" altLang="ko-KR" sz="1200" kern="0" spc="-60" dirty="0">
                <a:solidFill>
                  <a:srgbClr val="000000"/>
                </a:solidFill>
                <a:effectLst/>
                <a:latin typeface="+mn-ea"/>
              </a:rPr>
              <a:t>(</a:t>
            </a:r>
            <a:r>
              <a:rPr lang="ko-KR" altLang="en-US" sz="1200" kern="0" spc="-60" dirty="0">
                <a:solidFill>
                  <a:srgbClr val="000000"/>
                </a:solidFill>
                <a:effectLst/>
                <a:latin typeface="+mn-ea"/>
              </a:rPr>
              <a:t>法 </a:t>
            </a:r>
            <a:r>
              <a:rPr lang="en-US" altLang="ko-KR" sz="1200" kern="0" spc="-60" dirty="0">
                <a:solidFill>
                  <a:srgbClr val="000000"/>
                </a:solidFill>
                <a:effectLst/>
                <a:latin typeface="+mn-ea"/>
              </a:rPr>
              <a:t>36④) </a:t>
            </a:r>
            <a:r>
              <a:rPr lang="ko-KR" altLang="en-US" sz="1200" kern="0" spc="-60" dirty="0">
                <a:solidFill>
                  <a:srgbClr val="000000"/>
                </a:solidFill>
                <a:effectLst/>
                <a:latin typeface="+mn-ea"/>
              </a:rPr>
              <a:t>분할출원</a:t>
            </a:r>
            <a:r>
              <a:rPr lang="en-US" altLang="ko-KR" sz="1200" kern="0" spc="-60" dirty="0">
                <a:solidFill>
                  <a:srgbClr val="000000"/>
                </a:solidFill>
                <a:effectLst/>
                <a:latin typeface="+mn-ea"/>
              </a:rPr>
              <a:t>(Y)</a:t>
            </a:r>
            <a:r>
              <a:rPr lang="ko-KR" altLang="en-US" sz="1200" kern="0" spc="-60" dirty="0">
                <a:solidFill>
                  <a:srgbClr val="000000"/>
                </a:solidFill>
                <a:effectLst/>
                <a:latin typeface="+mn-ea"/>
              </a:rPr>
              <a:t>은 </a:t>
            </a:r>
            <a:r>
              <a:rPr lang="ko-KR" altLang="en-US" sz="1200" kern="0" spc="-60" dirty="0" err="1">
                <a:solidFill>
                  <a:srgbClr val="000000"/>
                </a:solidFill>
                <a:effectLst/>
                <a:latin typeface="+mn-ea"/>
              </a:rPr>
              <a:t>협의제</a:t>
            </a:r>
            <a:r>
              <a:rPr lang="en-US" altLang="ko-KR" sz="1200" kern="0" spc="-60" dirty="0">
                <a:solidFill>
                  <a:srgbClr val="000000"/>
                </a:solidFill>
                <a:effectLst/>
                <a:latin typeface="+mn-ea"/>
              </a:rPr>
              <a:t>(</a:t>
            </a:r>
            <a:r>
              <a:rPr lang="ko-KR" altLang="en-US" sz="1200" kern="0" spc="-60" dirty="0">
                <a:solidFill>
                  <a:srgbClr val="000000"/>
                </a:solidFill>
                <a:effectLst/>
                <a:latin typeface="+mn-ea"/>
              </a:rPr>
              <a:t>法 </a:t>
            </a:r>
            <a:r>
              <a:rPr lang="en-US" altLang="ko-KR" sz="1200" kern="0" spc="-60" dirty="0">
                <a:solidFill>
                  <a:srgbClr val="000000"/>
                </a:solidFill>
                <a:effectLst/>
                <a:latin typeface="+mn-ea"/>
              </a:rPr>
              <a:t>36②)</a:t>
            </a:r>
            <a:r>
              <a:rPr lang="ko-KR" altLang="en-US" sz="1200" kern="0" spc="-60" dirty="0">
                <a:solidFill>
                  <a:srgbClr val="000000"/>
                </a:solidFill>
                <a:effectLst/>
                <a:latin typeface="+mn-ea"/>
              </a:rPr>
              <a:t> 회피 가능</a:t>
            </a:r>
            <a:endParaRPr lang="en-US" altLang="ko-KR" sz="1200" kern="0" spc="-60" dirty="0">
              <a:solidFill>
                <a:srgbClr val="000000"/>
              </a:solidFill>
              <a:effectLst/>
              <a:latin typeface="+mn-ea"/>
            </a:endParaRPr>
          </a:p>
          <a:p>
            <a:pPr marL="285750" marR="0" indent="-285750" algn="just" fontAlgn="base" latinLnBrk="1">
              <a:lnSpc>
                <a:spcPct val="150000"/>
              </a:lnSpc>
              <a:spcBef>
                <a:spcPts val="0"/>
              </a:spcBef>
              <a:spcAft>
                <a:spcPts val="0"/>
              </a:spcAft>
              <a:buFontTx/>
              <a:buChar char="-"/>
            </a:pPr>
            <a:r>
              <a:rPr lang="ko-KR" altLang="en-US" sz="1200" kern="0" spc="-60" dirty="0" err="1">
                <a:solidFill>
                  <a:srgbClr val="000000"/>
                </a:solidFill>
                <a:effectLst/>
                <a:latin typeface="+mn-ea"/>
              </a:rPr>
              <a:t>원출원</a:t>
            </a:r>
            <a:r>
              <a:rPr lang="en-US" altLang="ko-KR" sz="1200" kern="0" spc="-60" dirty="0">
                <a:solidFill>
                  <a:srgbClr val="000000"/>
                </a:solidFill>
                <a:effectLst/>
                <a:latin typeface="+mn-ea"/>
              </a:rPr>
              <a:t>(X)</a:t>
            </a:r>
            <a:r>
              <a:rPr lang="ko-KR" altLang="en-US" sz="1200" kern="0" spc="-60" dirty="0">
                <a:solidFill>
                  <a:srgbClr val="000000"/>
                </a:solidFill>
                <a:effectLst/>
                <a:latin typeface="+mn-ea"/>
              </a:rPr>
              <a:t>에 대한 </a:t>
            </a:r>
            <a:r>
              <a:rPr lang="ko-KR" altLang="en-US" sz="1200" kern="0" spc="-60" dirty="0" err="1">
                <a:solidFill>
                  <a:srgbClr val="000000"/>
                </a:solidFill>
                <a:effectLst/>
                <a:latin typeface="+mn-ea"/>
              </a:rPr>
              <a:t>인용심결이</a:t>
            </a:r>
            <a:r>
              <a:rPr lang="ko-KR" altLang="en-US" sz="1200" kern="0" spc="-60" dirty="0">
                <a:solidFill>
                  <a:srgbClr val="000000"/>
                </a:solidFill>
                <a:effectLst/>
                <a:latin typeface="+mn-ea"/>
              </a:rPr>
              <a:t> 확정되어 거절결정이 취소되면 </a:t>
            </a:r>
            <a:r>
              <a:rPr lang="ko-KR" altLang="en-US" sz="1200" kern="0" spc="-60" dirty="0" err="1">
                <a:solidFill>
                  <a:srgbClr val="000000"/>
                </a:solidFill>
                <a:effectLst/>
                <a:latin typeface="+mn-ea"/>
              </a:rPr>
              <a:t>원출원</a:t>
            </a:r>
            <a:r>
              <a:rPr lang="en-US" altLang="ko-KR" sz="1200" kern="0" spc="-60" dirty="0">
                <a:solidFill>
                  <a:srgbClr val="000000"/>
                </a:solidFill>
                <a:effectLst/>
                <a:latin typeface="+mn-ea"/>
              </a:rPr>
              <a:t>(X)</a:t>
            </a:r>
            <a:r>
              <a:rPr lang="ko-KR" altLang="en-US" sz="1200" kern="0" spc="-60" dirty="0">
                <a:solidFill>
                  <a:srgbClr val="000000"/>
                </a:solidFill>
                <a:effectLst/>
                <a:latin typeface="+mn-ea"/>
              </a:rPr>
              <a:t>과 분할출원</a:t>
            </a:r>
            <a:r>
              <a:rPr lang="en-US" altLang="ko-KR" sz="1200" kern="0" spc="-60" dirty="0">
                <a:solidFill>
                  <a:srgbClr val="000000"/>
                </a:solidFill>
                <a:effectLst/>
                <a:latin typeface="+mn-ea"/>
              </a:rPr>
              <a:t>(Y)</a:t>
            </a:r>
            <a:r>
              <a:rPr lang="ko-KR" altLang="en-US" sz="1200" kern="0" spc="-60" dirty="0">
                <a:solidFill>
                  <a:srgbClr val="000000"/>
                </a:solidFill>
                <a:effectLst/>
                <a:latin typeface="+mn-ea"/>
              </a:rPr>
              <a:t>은 </a:t>
            </a:r>
            <a:r>
              <a:rPr lang="ko-KR" altLang="en-US" sz="1200" kern="0" spc="-60" dirty="0" err="1">
                <a:solidFill>
                  <a:srgbClr val="000000"/>
                </a:solidFill>
                <a:effectLst/>
                <a:latin typeface="+mn-ea"/>
              </a:rPr>
              <a:t>협의제</a:t>
            </a:r>
            <a:r>
              <a:rPr lang="en-US" altLang="ko-KR" sz="1200" kern="0" spc="-60" dirty="0">
                <a:solidFill>
                  <a:srgbClr val="000000"/>
                </a:solidFill>
                <a:effectLst/>
                <a:latin typeface="+mn-ea"/>
              </a:rPr>
              <a:t> (</a:t>
            </a:r>
            <a:r>
              <a:rPr lang="ko-KR" altLang="en-US" sz="1200" kern="0" spc="-60" dirty="0">
                <a:solidFill>
                  <a:srgbClr val="000000"/>
                </a:solidFill>
                <a:effectLst/>
                <a:latin typeface="+mn-ea"/>
              </a:rPr>
              <a:t>法 </a:t>
            </a:r>
            <a:r>
              <a:rPr lang="en-US" altLang="ko-KR" sz="1200" kern="0" spc="-60" dirty="0">
                <a:solidFill>
                  <a:srgbClr val="000000"/>
                </a:solidFill>
                <a:effectLst/>
                <a:latin typeface="+mn-ea"/>
              </a:rPr>
              <a:t>36②)</a:t>
            </a:r>
            <a:r>
              <a:rPr lang="ko-KR" altLang="en-US" sz="1200" kern="0" spc="-60" dirty="0">
                <a:solidFill>
                  <a:srgbClr val="000000"/>
                </a:solidFill>
                <a:effectLst/>
                <a:latin typeface="+mn-ea"/>
              </a:rPr>
              <a:t> 적용</a:t>
            </a:r>
            <a:r>
              <a:rPr lang="en-US" altLang="ko-KR" sz="1200" kern="0" spc="-60" dirty="0">
                <a:solidFill>
                  <a:srgbClr val="000000"/>
                </a:solidFill>
                <a:effectLst/>
                <a:latin typeface="+mn-ea"/>
              </a:rPr>
              <a:t> </a:t>
            </a:r>
            <a:endParaRPr lang="ko-KR" altLang="en-US" sz="1200" kern="0" spc="-60" dirty="0">
              <a:solidFill>
                <a:srgbClr val="000000"/>
              </a:solidFill>
              <a:effectLst/>
              <a:latin typeface="+mn-ea"/>
            </a:endParaRPr>
          </a:p>
        </p:txBody>
      </p:sp>
    </p:spTree>
    <p:extLst>
      <p:ext uri="{BB962C8B-B14F-4D97-AF65-F5344CB8AC3E}">
        <p14:creationId xmlns:p14="http://schemas.microsoft.com/office/powerpoint/2010/main" val="490334306"/>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r>
              <a:rPr lang="en-US" altLang="ko-KR" dirty="0"/>
              <a:t>, </a:t>
            </a:r>
            <a:r>
              <a:rPr lang="ko-KR" altLang="en-US" dirty="0"/>
              <a:t>제</a:t>
            </a:r>
            <a:r>
              <a:rPr lang="en-US" altLang="ko-KR" dirty="0"/>
              <a:t>52</a:t>
            </a:r>
            <a:r>
              <a:rPr lang="ko-KR" altLang="en-US" dirty="0"/>
              <a:t>조의</a:t>
            </a:r>
            <a:r>
              <a:rPr lang="en-US" altLang="ko-KR" dirty="0"/>
              <a:t>2</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a:t>분할출원과 분리출원의 법조문 비교</a:t>
            </a:r>
          </a:p>
        </p:txBody>
      </p:sp>
      <p:sp>
        <p:nvSpPr>
          <p:cNvPr id="26" name="TextBox 25"/>
          <p:cNvSpPr txBox="1"/>
          <p:nvPr/>
        </p:nvSpPr>
        <p:spPr>
          <a:xfrm>
            <a:off x="77875" y="986046"/>
            <a:ext cx="6018125" cy="5632311"/>
          </a:xfrm>
          <a:prstGeom prst="rect">
            <a:avLst/>
          </a:prstGeom>
          <a:noFill/>
        </p:spPr>
        <p:txBody>
          <a:bodyPr wrap="square" rtlCol="0">
            <a:spAutoFit/>
          </a:bodyPr>
          <a:lstStyle/>
          <a:p>
            <a:pPr fontAlgn="base"/>
            <a:r>
              <a:rPr lang="ko-KR" altLang="en-US" sz="1000" b="1" dirty="0">
                <a:solidFill>
                  <a:schemeClr val="accent1"/>
                </a:solidFill>
              </a:rPr>
              <a:t>제</a:t>
            </a:r>
            <a:r>
              <a:rPr lang="en-US" altLang="ko-KR" sz="1000" b="1" dirty="0">
                <a:solidFill>
                  <a:schemeClr val="accent1"/>
                </a:solidFill>
              </a:rPr>
              <a:t>52</a:t>
            </a:r>
            <a:r>
              <a:rPr lang="ko-KR" altLang="en-US" sz="1000" b="1" dirty="0">
                <a:solidFill>
                  <a:schemeClr val="accent1"/>
                </a:solidFill>
              </a:rPr>
              <a:t>조</a:t>
            </a:r>
            <a:r>
              <a:rPr lang="en-US" altLang="ko-KR" sz="1000" b="1" dirty="0">
                <a:solidFill>
                  <a:schemeClr val="accent1"/>
                </a:solidFill>
              </a:rPr>
              <a:t>(</a:t>
            </a:r>
            <a:r>
              <a:rPr lang="ko-KR" altLang="en-US" sz="1000" b="1" dirty="0">
                <a:solidFill>
                  <a:schemeClr val="accent1"/>
                </a:solidFill>
              </a:rPr>
              <a:t>분할출원</a:t>
            </a:r>
            <a:r>
              <a:rPr lang="en-US" altLang="ko-KR" sz="1000" b="1" dirty="0">
                <a:solidFill>
                  <a:schemeClr val="accent1"/>
                </a:solidFill>
              </a:rPr>
              <a:t>) </a:t>
            </a:r>
            <a:r>
              <a:rPr lang="ko-KR" altLang="en-US" sz="1000" dirty="0">
                <a:solidFill>
                  <a:schemeClr val="tx2"/>
                </a:solidFill>
              </a:rPr>
              <a:t>① </a:t>
            </a:r>
            <a:r>
              <a:rPr lang="ko-KR" altLang="en-US" sz="1000" dirty="0" err="1">
                <a:solidFill>
                  <a:schemeClr val="tx2"/>
                </a:solidFill>
              </a:rPr>
              <a:t>특허출원인은</a:t>
            </a:r>
            <a:r>
              <a:rPr lang="ko-KR" altLang="en-US" sz="1000" dirty="0">
                <a:solidFill>
                  <a:schemeClr val="tx2"/>
                </a:solidFill>
              </a:rPr>
              <a:t> 둘 이상의 발명을 하나의 특허출원으로 한 경우에는 그 특허출원의 출원서에 최초로 첨부된 명세서 또는 도면에 기재된 사항의 범위에서 다음 각 호의 어느 하나에 해당하는 기간에 그 일부를 하나 이상의 특허출원으로 분할할 수 있다</a:t>
            </a:r>
            <a:r>
              <a:rPr lang="en-US" altLang="ko-KR" sz="1000" dirty="0">
                <a:solidFill>
                  <a:schemeClr val="tx2"/>
                </a:solidFill>
              </a:rPr>
              <a:t>. </a:t>
            </a:r>
            <a:r>
              <a:rPr lang="ko-KR" altLang="en-US" sz="1000" dirty="0">
                <a:solidFill>
                  <a:schemeClr val="tx2"/>
                </a:solidFill>
              </a:rPr>
              <a:t>다만</a:t>
            </a:r>
            <a:r>
              <a:rPr lang="en-US" altLang="ko-KR" sz="1000" dirty="0">
                <a:solidFill>
                  <a:schemeClr val="tx2"/>
                </a:solidFill>
              </a:rPr>
              <a:t>, </a:t>
            </a:r>
            <a:r>
              <a:rPr lang="ko-KR" altLang="en-US" sz="1000" dirty="0">
                <a:solidFill>
                  <a:schemeClr val="tx2"/>
                </a:solidFill>
              </a:rPr>
              <a:t>그 특허출원이 </a:t>
            </a:r>
            <a:r>
              <a:rPr lang="ko-KR" altLang="en-US" sz="1000" dirty="0" err="1">
                <a:solidFill>
                  <a:schemeClr val="tx2"/>
                </a:solidFill>
              </a:rPr>
              <a:t>외국어특허출원인</a:t>
            </a:r>
            <a:r>
              <a:rPr lang="ko-KR" altLang="en-US" sz="1000" dirty="0">
                <a:solidFill>
                  <a:schemeClr val="tx2"/>
                </a:solidFill>
              </a:rPr>
              <a:t> 경우에는 그 특허출원에 대한 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3</a:t>
            </a:r>
            <a:r>
              <a:rPr lang="ko-KR" altLang="en-US" sz="1000" dirty="0">
                <a:solidFill>
                  <a:schemeClr val="tx2"/>
                </a:solidFill>
              </a:rPr>
              <a:t>제</a:t>
            </a:r>
            <a:r>
              <a:rPr lang="en-US" altLang="ko-KR" sz="1000" dirty="0">
                <a:solidFill>
                  <a:schemeClr val="tx2"/>
                </a:solidFill>
              </a:rPr>
              <a:t>2</a:t>
            </a:r>
            <a:r>
              <a:rPr lang="ko-KR" altLang="en-US" sz="1000" dirty="0">
                <a:solidFill>
                  <a:schemeClr val="tx2"/>
                </a:solidFill>
              </a:rPr>
              <a:t>항에 따른 국어번역문이 제출된 경우에만 분할할 수 있다</a:t>
            </a:r>
            <a:r>
              <a:rPr lang="en-US" altLang="ko-KR" sz="1000" dirty="0">
                <a:solidFill>
                  <a:schemeClr val="tx2"/>
                </a:solidFill>
              </a:rPr>
              <a:t>. </a:t>
            </a:r>
          </a:p>
          <a:p>
            <a:pPr fontAlgn="base"/>
            <a:r>
              <a:rPr lang="en-US" altLang="ko-KR" sz="1000" dirty="0">
                <a:solidFill>
                  <a:schemeClr val="tx2"/>
                </a:solidFill>
              </a:rPr>
              <a:t>  1. </a:t>
            </a:r>
            <a:r>
              <a:rPr lang="ko-KR" altLang="en-US" sz="1000" dirty="0">
                <a:solidFill>
                  <a:schemeClr val="tx2"/>
                </a:solidFill>
              </a:rPr>
              <a:t>제</a:t>
            </a:r>
            <a:r>
              <a:rPr lang="en-US" altLang="ko-KR" sz="1000" dirty="0">
                <a:solidFill>
                  <a:schemeClr val="tx2"/>
                </a:solidFill>
              </a:rPr>
              <a:t>47</a:t>
            </a:r>
            <a:r>
              <a:rPr lang="ko-KR" altLang="en-US" sz="1000" dirty="0">
                <a:solidFill>
                  <a:schemeClr val="tx2"/>
                </a:solidFill>
              </a:rPr>
              <a:t>조제</a:t>
            </a:r>
            <a:r>
              <a:rPr lang="en-US" altLang="ko-KR" sz="1000" dirty="0">
                <a:solidFill>
                  <a:schemeClr val="tx2"/>
                </a:solidFill>
              </a:rPr>
              <a:t>1</a:t>
            </a:r>
            <a:r>
              <a:rPr lang="ko-KR" altLang="en-US" sz="1000" dirty="0">
                <a:solidFill>
                  <a:schemeClr val="tx2"/>
                </a:solidFill>
              </a:rPr>
              <a:t>항에 따라 보정을 할 수 있는 기간</a:t>
            </a:r>
          </a:p>
          <a:p>
            <a:pPr fontAlgn="base"/>
            <a:r>
              <a:rPr lang="ko-KR" altLang="en-US" sz="1000" dirty="0">
                <a:solidFill>
                  <a:schemeClr val="tx2"/>
                </a:solidFill>
              </a:rPr>
              <a:t>  </a:t>
            </a:r>
            <a:r>
              <a:rPr lang="en-US" altLang="ko-KR" sz="1000" dirty="0">
                <a:solidFill>
                  <a:schemeClr val="tx2"/>
                </a:solidFill>
              </a:rPr>
              <a:t>2. </a:t>
            </a:r>
            <a:r>
              <a:rPr lang="ko-KR" altLang="en-US" sz="1000" dirty="0" err="1">
                <a:solidFill>
                  <a:schemeClr val="tx2"/>
                </a:solidFill>
              </a:rPr>
              <a:t>특허거절결정등본을</a:t>
            </a:r>
            <a:r>
              <a:rPr lang="ko-KR" altLang="en-US" sz="1000" dirty="0">
                <a:solidFill>
                  <a:schemeClr val="tx2"/>
                </a:solidFill>
              </a:rPr>
              <a:t> </a:t>
            </a:r>
            <a:r>
              <a:rPr lang="ko-KR" altLang="en-US" sz="1000" dirty="0" err="1">
                <a:solidFill>
                  <a:schemeClr val="tx2"/>
                </a:solidFill>
              </a:rPr>
              <a:t>송달받은</a:t>
            </a:r>
            <a:r>
              <a:rPr lang="ko-KR" altLang="en-US" sz="1000" dirty="0">
                <a:solidFill>
                  <a:schemeClr val="tx2"/>
                </a:solidFill>
              </a:rPr>
              <a:t> 날부터 </a:t>
            </a:r>
            <a:r>
              <a:rPr lang="en-US" altLang="ko-KR" sz="1000" dirty="0">
                <a:solidFill>
                  <a:schemeClr val="tx2"/>
                </a:solidFill>
              </a:rPr>
              <a:t>3</a:t>
            </a:r>
            <a:r>
              <a:rPr lang="ko-KR" altLang="en-US" sz="1000" dirty="0">
                <a:solidFill>
                  <a:schemeClr val="tx2"/>
                </a:solidFill>
              </a:rPr>
              <a:t>개월</a:t>
            </a:r>
            <a:r>
              <a:rPr lang="en-US" altLang="ko-KR" sz="1000" dirty="0">
                <a:solidFill>
                  <a:schemeClr val="tx2"/>
                </a:solidFill>
              </a:rPr>
              <a:t>(</a:t>
            </a:r>
            <a:r>
              <a:rPr lang="ko-KR" altLang="en-US" sz="1000" dirty="0">
                <a:solidFill>
                  <a:schemeClr val="tx2"/>
                </a:solidFill>
              </a:rPr>
              <a:t>제</a:t>
            </a:r>
            <a:r>
              <a:rPr lang="en-US" altLang="ko-KR" sz="1000" dirty="0">
                <a:solidFill>
                  <a:schemeClr val="tx2"/>
                </a:solidFill>
              </a:rPr>
              <a:t>15</a:t>
            </a:r>
            <a:r>
              <a:rPr lang="ko-KR" altLang="en-US" sz="1000" dirty="0">
                <a:solidFill>
                  <a:schemeClr val="tx2"/>
                </a:solidFill>
              </a:rPr>
              <a:t>조제</a:t>
            </a:r>
            <a:r>
              <a:rPr lang="en-US" altLang="ko-KR" sz="1000" dirty="0">
                <a:solidFill>
                  <a:schemeClr val="tx2"/>
                </a:solidFill>
              </a:rPr>
              <a:t>1</a:t>
            </a:r>
            <a:r>
              <a:rPr lang="ko-KR" altLang="en-US" sz="1000" dirty="0">
                <a:solidFill>
                  <a:schemeClr val="tx2"/>
                </a:solidFill>
              </a:rPr>
              <a:t>항에 따라 제</a:t>
            </a:r>
            <a:r>
              <a:rPr lang="en-US" altLang="ko-KR" sz="1000" dirty="0">
                <a:solidFill>
                  <a:schemeClr val="tx2"/>
                </a:solidFill>
              </a:rPr>
              <a:t>132</a:t>
            </a:r>
            <a:r>
              <a:rPr lang="ko-KR" altLang="en-US" sz="1000" dirty="0">
                <a:solidFill>
                  <a:schemeClr val="tx2"/>
                </a:solidFill>
              </a:rPr>
              <a:t>조의</a:t>
            </a:r>
            <a:r>
              <a:rPr lang="en-US" altLang="ko-KR" sz="1000" dirty="0">
                <a:solidFill>
                  <a:schemeClr val="tx2"/>
                </a:solidFill>
              </a:rPr>
              <a:t>17</a:t>
            </a:r>
            <a:r>
              <a:rPr lang="ko-KR" altLang="en-US" sz="1000" dirty="0">
                <a:solidFill>
                  <a:schemeClr val="tx2"/>
                </a:solidFill>
              </a:rPr>
              <a:t>에 따른 기간이 연장된 경우 그 연장된 기간을 말한다</a:t>
            </a:r>
            <a:r>
              <a:rPr lang="en-US" altLang="ko-KR" sz="1000" dirty="0">
                <a:solidFill>
                  <a:schemeClr val="tx2"/>
                </a:solidFill>
              </a:rPr>
              <a:t>) </a:t>
            </a:r>
            <a:r>
              <a:rPr lang="ko-KR" altLang="en-US" sz="1000" dirty="0">
                <a:solidFill>
                  <a:schemeClr val="tx2"/>
                </a:solidFill>
              </a:rPr>
              <a:t>이내의 기간</a:t>
            </a:r>
          </a:p>
          <a:p>
            <a:pPr fontAlgn="base"/>
            <a:r>
              <a:rPr lang="ko-KR" altLang="en-US" sz="1000" dirty="0">
                <a:solidFill>
                  <a:schemeClr val="tx2"/>
                </a:solidFill>
              </a:rPr>
              <a:t>  </a:t>
            </a:r>
            <a:r>
              <a:rPr lang="en-US" altLang="ko-KR" sz="1000" dirty="0">
                <a:solidFill>
                  <a:schemeClr val="tx2"/>
                </a:solidFill>
              </a:rPr>
              <a:t>3. </a:t>
            </a:r>
            <a:r>
              <a:rPr lang="ko-KR" altLang="en-US" sz="1000" dirty="0">
                <a:solidFill>
                  <a:schemeClr val="tx2"/>
                </a:solidFill>
              </a:rPr>
              <a:t>제</a:t>
            </a:r>
            <a:r>
              <a:rPr lang="en-US" altLang="ko-KR" sz="1000" dirty="0">
                <a:solidFill>
                  <a:schemeClr val="tx2"/>
                </a:solidFill>
              </a:rPr>
              <a:t>66</a:t>
            </a:r>
            <a:r>
              <a:rPr lang="ko-KR" altLang="en-US" sz="1000" dirty="0">
                <a:solidFill>
                  <a:schemeClr val="tx2"/>
                </a:solidFill>
              </a:rPr>
              <a:t>조에 따른 특허결정 또는 제</a:t>
            </a:r>
            <a:r>
              <a:rPr lang="en-US" altLang="ko-KR" sz="1000" dirty="0">
                <a:solidFill>
                  <a:schemeClr val="tx2"/>
                </a:solidFill>
              </a:rPr>
              <a:t>176</a:t>
            </a:r>
            <a:r>
              <a:rPr lang="ko-KR" altLang="en-US" sz="1000" dirty="0">
                <a:solidFill>
                  <a:schemeClr val="tx2"/>
                </a:solidFill>
              </a:rPr>
              <a:t>조제</a:t>
            </a:r>
            <a:r>
              <a:rPr lang="en-US" altLang="ko-KR" sz="1000" dirty="0">
                <a:solidFill>
                  <a:schemeClr val="tx2"/>
                </a:solidFill>
              </a:rPr>
              <a:t>1</a:t>
            </a:r>
            <a:r>
              <a:rPr lang="ko-KR" altLang="en-US" sz="1000" dirty="0">
                <a:solidFill>
                  <a:schemeClr val="tx2"/>
                </a:solidFill>
              </a:rPr>
              <a:t>항에 따른 </a:t>
            </a:r>
            <a:r>
              <a:rPr lang="ko-KR" altLang="en-US" sz="1000" dirty="0" err="1">
                <a:solidFill>
                  <a:schemeClr val="tx2"/>
                </a:solidFill>
              </a:rPr>
              <a:t>특허거절결정</a:t>
            </a:r>
            <a:r>
              <a:rPr lang="ko-KR" altLang="en-US" sz="1000" dirty="0">
                <a:solidFill>
                  <a:schemeClr val="tx2"/>
                </a:solidFill>
              </a:rPr>
              <a:t> </a:t>
            </a:r>
            <a:r>
              <a:rPr lang="ko-KR" altLang="en-US" sz="1000" dirty="0" err="1">
                <a:solidFill>
                  <a:schemeClr val="tx2"/>
                </a:solidFill>
              </a:rPr>
              <a:t>취소심결</a:t>
            </a:r>
            <a:r>
              <a:rPr lang="en-US" altLang="ko-KR" sz="1000" dirty="0">
                <a:solidFill>
                  <a:schemeClr val="tx2"/>
                </a:solidFill>
              </a:rPr>
              <a:t>(</a:t>
            </a:r>
            <a:r>
              <a:rPr lang="ko-KR" altLang="en-US" sz="1000" dirty="0">
                <a:solidFill>
                  <a:schemeClr val="tx2"/>
                </a:solidFill>
              </a:rPr>
              <a:t>특허등록을 결정한 </a:t>
            </a:r>
            <a:r>
              <a:rPr lang="ko-KR" altLang="en-US" sz="1000" dirty="0" err="1">
                <a:solidFill>
                  <a:schemeClr val="tx2"/>
                </a:solidFill>
              </a:rPr>
              <a:t>심결에</a:t>
            </a:r>
            <a:r>
              <a:rPr lang="ko-KR" altLang="en-US" sz="1000" dirty="0">
                <a:solidFill>
                  <a:schemeClr val="tx2"/>
                </a:solidFill>
              </a:rPr>
              <a:t> 한정하되</a:t>
            </a:r>
            <a:r>
              <a:rPr lang="en-US" altLang="ko-KR" sz="1000" dirty="0">
                <a:solidFill>
                  <a:schemeClr val="tx2"/>
                </a:solidFill>
              </a:rPr>
              <a:t>, </a:t>
            </a:r>
            <a:r>
              <a:rPr lang="ko-KR" altLang="en-US" sz="1000" dirty="0" err="1">
                <a:solidFill>
                  <a:schemeClr val="tx2"/>
                </a:solidFill>
              </a:rPr>
              <a:t>재심심결을</a:t>
            </a:r>
            <a:r>
              <a:rPr lang="ko-KR" altLang="en-US" sz="1000" dirty="0">
                <a:solidFill>
                  <a:schemeClr val="tx2"/>
                </a:solidFill>
              </a:rPr>
              <a:t> 포함한다</a:t>
            </a:r>
            <a:r>
              <a:rPr lang="en-US" altLang="ko-KR" sz="1000" dirty="0">
                <a:solidFill>
                  <a:schemeClr val="tx2"/>
                </a:solidFill>
              </a:rPr>
              <a:t>)</a:t>
            </a:r>
            <a:r>
              <a:rPr lang="ko-KR" altLang="en-US" sz="1000" dirty="0">
                <a:solidFill>
                  <a:schemeClr val="tx2"/>
                </a:solidFill>
              </a:rPr>
              <a:t>의 등본을 </a:t>
            </a:r>
            <a:r>
              <a:rPr lang="ko-KR" altLang="en-US" sz="1000" dirty="0" err="1">
                <a:solidFill>
                  <a:schemeClr val="tx2"/>
                </a:solidFill>
              </a:rPr>
              <a:t>송달받은</a:t>
            </a:r>
            <a:r>
              <a:rPr lang="ko-KR" altLang="en-US" sz="1000" dirty="0">
                <a:solidFill>
                  <a:schemeClr val="tx2"/>
                </a:solidFill>
              </a:rPr>
              <a:t> 날부터 </a:t>
            </a:r>
            <a:r>
              <a:rPr lang="en-US" altLang="ko-KR" sz="1000" dirty="0">
                <a:solidFill>
                  <a:schemeClr val="tx2"/>
                </a:solidFill>
              </a:rPr>
              <a:t>3</a:t>
            </a:r>
            <a:r>
              <a:rPr lang="ko-KR" altLang="en-US" sz="1000" dirty="0">
                <a:solidFill>
                  <a:schemeClr val="tx2"/>
                </a:solidFill>
              </a:rPr>
              <a:t>개월 이내의 기간</a:t>
            </a:r>
            <a:r>
              <a:rPr lang="en-US" altLang="ko-KR" sz="1000" dirty="0">
                <a:solidFill>
                  <a:schemeClr val="tx2"/>
                </a:solidFill>
              </a:rPr>
              <a:t>. </a:t>
            </a:r>
            <a:r>
              <a:rPr lang="ko-KR" altLang="en-US" sz="1000" dirty="0">
                <a:solidFill>
                  <a:schemeClr val="tx2"/>
                </a:solidFill>
              </a:rPr>
              <a:t>다만</a:t>
            </a:r>
            <a:r>
              <a:rPr lang="en-US" altLang="ko-KR" sz="1000" dirty="0">
                <a:solidFill>
                  <a:schemeClr val="tx2"/>
                </a:solidFill>
              </a:rPr>
              <a:t>, </a:t>
            </a:r>
            <a:r>
              <a:rPr lang="ko-KR" altLang="en-US" sz="1000" dirty="0">
                <a:solidFill>
                  <a:schemeClr val="tx2"/>
                </a:solidFill>
              </a:rPr>
              <a:t>제</a:t>
            </a:r>
            <a:r>
              <a:rPr lang="en-US" altLang="ko-KR" sz="1000" dirty="0">
                <a:solidFill>
                  <a:schemeClr val="tx2"/>
                </a:solidFill>
              </a:rPr>
              <a:t>79</a:t>
            </a:r>
            <a:r>
              <a:rPr lang="ko-KR" altLang="en-US" sz="1000" dirty="0">
                <a:solidFill>
                  <a:schemeClr val="tx2"/>
                </a:solidFill>
              </a:rPr>
              <a:t>조에 따른 설정등록을 받으려는 날이 </a:t>
            </a:r>
            <a:r>
              <a:rPr lang="en-US" altLang="ko-KR" sz="1000" dirty="0">
                <a:solidFill>
                  <a:schemeClr val="tx2"/>
                </a:solidFill>
              </a:rPr>
              <a:t>3</a:t>
            </a:r>
            <a:r>
              <a:rPr lang="ko-KR" altLang="en-US" sz="1000" dirty="0">
                <a:solidFill>
                  <a:schemeClr val="tx2"/>
                </a:solidFill>
              </a:rPr>
              <a:t>개월보다 짧은 경우에는 그 날까지의 기간</a:t>
            </a:r>
          </a:p>
          <a:p>
            <a:pPr fontAlgn="base"/>
            <a:r>
              <a:rPr lang="ko-KR" altLang="en-US" sz="1000" dirty="0">
                <a:solidFill>
                  <a:schemeClr val="tx2"/>
                </a:solidFill>
              </a:rPr>
              <a:t>② 제</a:t>
            </a:r>
            <a:r>
              <a:rPr lang="en-US" altLang="ko-KR" sz="1000" dirty="0">
                <a:solidFill>
                  <a:schemeClr val="tx2"/>
                </a:solidFill>
              </a:rPr>
              <a:t>1</a:t>
            </a:r>
            <a:r>
              <a:rPr lang="ko-KR" altLang="en-US" sz="1000" dirty="0">
                <a:solidFill>
                  <a:schemeClr val="tx2"/>
                </a:solidFill>
              </a:rPr>
              <a:t>항에 따라 분할된 특허출원</a:t>
            </a:r>
            <a:r>
              <a:rPr lang="en-US" altLang="ko-KR" sz="1000" dirty="0">
                <a:solidFill>
                  <a:schemeClr val="tx2"/>
                </a:solidFill>
              </a:rPr>
              <a:t>(</a:t>
            </a:r>
            <a:r>
              <a:rPr lang="ko-KR" altLang="en-US" sz="1000" dirty="0">
                <a:solidFill>
                  <a:schemeClr val="tx2"/>
                </a:solidFill>
              </a:rPr>
              <a:t>이하 “</a:t>
            </a:r>
            <a:r>
              <a:rPr lang="ko-KR" altLang="en-US" sz="1000" dirty="0" err="1">
                <a:solidFill>
                  <a:schemeClr val="tx2"/>
                </a:solidFill>
              </a:rPr>
              <a:t>분할출원”이라</a:t>
            </a:r>
            <a:r>
              <a:rPr lang="ko-KR" altLang="en-US" sz="1000" dirty="0">
                <a:solidFill>
                  <a:schemeClr val="tx2"/>
                </a:solidFill>
              </a:rPr>
              <a:t> 한다</a:t>
            </a:r>
            <a:r>
              <a:rPr lang="en-US" altLang="ko-KR" sz="1000" dirty="0">
                <a:solidFill>
                  <a:schemeClr val="tx2"/>
                </a:solidFill>
              </a:rPr>
              <a:t>)</a:t>
            </a:r>
            <a:r>
              <a:rPr lang="ko-KR" altLang="en-US" sz="1000" dirty="0">
                <a:solidFill>
                  <a:schemeClr val="tx2"/>
                </a:solidFill>
              </a:rPr>
              <a:t>이 있는 경우 그 분할출원은 </a:t>
            </a:r>
            <a:r>
              <a:rPr lang="ko-KR" altLang="en-US" sz="1000" dirty="0" err="1">
                <a:solidFill>
                  <a:schemeClr val="tx2"/>
                </a:solidFill>
              </a:rPr>
              <a:t>특허출원한</a:t>
            </a:r>
            <a:r>
              <a:rPr lang="ko-KR" altLang="en-US" sz="1000" dirty="0">
                <a:solidFill>
                  <a:schemeClr val="tx2"/>
                </a:solidFill>
              </a:rPr>
              <a:t> 때에 출원한 것으로 본다</a:t>
            </a:r>
            <a:r>
              <a:rPr lang="en-US" altLang="ko-KR" sz="1000" dirty="0">
                <a:solidFill>
                  <a:schemeClr val="tx2"/>
                </a:solidFill>
              </a:rPr>
              <a:t>. </a:t>
            </a:r>
            <a:r>
              <a:rPr lang="ko-KR" altLang="en-US" sz="1000" dirty="0">
                <a:solidFill>
                  <a:schemeClr val="tx2"/>
                </a:solidFill>
              </a:rPr>
              <a:t>다만</a:t>
            </a:r>
            <a:r>
              <a:rPr lang="en-US" altLang="ko-KR" sz="1000" dirty="0">
                <a:solidFill>
                  <a:schemeClr val="tx2"/>
                </a:solidFill>
              </a:rPr>
              <a:t>, </a:t>
            </a:r>
            <a:r>
              <a:rPr lang="ko-KR" altLang="en-US" sz="1000" dirty="0">
                <a:solidFill>
                  <a:schemeClr val="tx2"/>
                </a:solidFill>
              </a:rPr>
              <a:t>그 분할출원에 대하여 다음 각 호의 규정을 적용할 경우에는 해당 분할출원을 한 때에 출원한 것으로 본다</a:t>
            </a:r>
            <a:r>
              <a:rPr lang="en-US" altLang="ko-KR" sz="1000" dirty="0">
                <a:solidFill>
                  <a:schemeClr val="tx2"/>
                </a:solidFill>
              </a:rPr>
              <a:t>.</a:t>
            </a:r>
          </a:p>
          <a:p>
            <a:pPr fontAlgn="base"/>
            <a:r>
              <a:rPr lang="en-US" altLang="ko-KR" sz="1000" dirty="0">
                <a:solidFill>
                  <a:schemeClr val="tx2"/>
                </a:solidFill>
              </a:rPr>
              <a:t>  1. </a:t>
            </a:r>
            <a:r>
              <a:rPr lang="ko-KR" altLang="en-US" sz="1000" dirty="0">
                <a:solidFill>
                  <a:schemeClr val="tx2"/>
                </a:solidFill>
              </a:rPr>
              <a:t>분할출원이 제</a:t>
            </a:r>
            <a:r>
              <a:rPr lang="en-US" altLang="ko-KR" sz="1000" dirty="0">
                <a:solidFill>
                  <a:schemeClr val="tx2"/>
                </a:solidFill>
              </a:rPr>
              <a:t>29</a:t>
            </a:r>
            <a:r>
              <a:rPr lang="ko-KR" altLang="en-US" sz="1000" dirty="0">
                <a:solidFill>
                  <a:schemeClr val="tx2"/>
                </a:solidFill>
              </a:rPr>
              <a:t>조제</a:t>
            </a:r>
            <a:r>
              <a:rPr lang="en-US" altLang="ko-KR" sz="1000" dirty="0">
                <a:solidFill>
                  <a:schemeClr val="tx2"/>
                </a:solidFill>
              </a:rPr>
              <a:t>3</a:t>
            </a:r>
            <a:r>
              <a:rPr lang="ko-KR" altLang="en-US" sz="1000" dirty="0">
                <a:solidFill>
                  <a:schemeClr val="tx2"/>
                </a:solidFill>
              </a:rPr>
              <a:t>항에 따른 다른 특허출원 또는 「실용신안법」 제</a:t>
            </a:r>
            <a:r>
              <a:rPr lang="en-US" altLang="ko-KR" sz="1000" dirty="0">
                <a:solidFill>
                  <a:schemeClr val="tx2"/>
                </a:solidFill>
              </a:rPr>
              <a:t>4</a:t>
            </a:r>
            <a:r>
              <a:rPr lang="ko-KR" altLang="en-US" sz="1000" dirty="0">
                <a:solidFill>
                  <a:schemeClr val="tx2"/>
                </a:solidFill>
              </a:rPr>
              <a:t>조제</a:t>
            </a:r>
            <a:r>
              <a:rPr lang="en-US" altLang="ko-KR" sz="1000" dirty="0">
                <a:solidFill>
                  <a:schemeClr val="tx2"/>
                </a:solidFill>
              </a:rPr>
              <a:t>4</a:t>
            </a:r>
            <a:r>
              <a:rPr lang="ko-KR" altLang="en-US" sz="1000" dirty="0">
                <a:solidFill>
                  <a:schemeClr val="tx2"/>
                </a:solidFill>
              </a:rPr>
              <a:t>항에 따른 특허출원에 해당하여 이 법 제</a:t>
            </a:r>
            <a:r>
              <a:rPr lang="en-US" altLang="ko-KR" sz="1000" dirty="0">
                <a:solidFill>
                  <a:schemeClr val="tx2"/>
                </a:solidFill>
              </a:rPr>
              <a:t>29</a:t>
            </a:r>
            <a:r>
              <a:rPr lang="ko-KR" altLang="en-US" sz="1000" dirty="0">
                <a:solidFill>
                  <a:schemeClr val="tx2"/>
                </a:solidFill>
              </a:rPr>
              <a:t>조제</a:t>
            </a:r>
            <a:r>
              <a:rPr lang="en-US" altLang="ko-KR" sz="1000" dirty="0">
                <a:solidFill>
                  <a:schemeClr val="tx2"/>
                </a:solidFill>
              </a:rPr>
              <a:t>3</a:t>
            </a:r>
            <a:r>
              <a:rPr lang="ko-KR" altLang="en-US" sz="1000" dirty="0">
                <a:solidFill>
                  <a:schemeClr val="tx2"/>
                </a:solidFill>
              </a:rPr>
              <a:t>항 또는 「실용신안법」 제</a:t>
            </a:r>
            <a:r>
              <a:rPr lang="en-US" altLang="ko-KR" sz="1000" dirty="0">
                <a:solidFill>
                  <a:schemeClr val="tx2"/>
                </a:solidFill>
              </a:rPr>
              <a:t>4</a:t>
            </a:r>
            <a:r>
              <a:rPr lang="ko-KR" altLang="en-US" sz="1000" dirty="0">
                <a:solidFill>
                  <a:schemeClr val="tx2"/>
                </a:solidFill>
              </a:rPr>
              <a:t>조제</a:t>
            </a:r>
            <a:r>
              <a:rPr lang="en-US" altLang="ko-KR" sz="1000" dirty="0">
                <a:solidFill>
                  <a:schemeClr val="tx2"/>
                </a:solidFill>
              </a:rPr>
              <a:t>4</a:t>
            </a:r>
            <a:r>
              <a:rPr lang="ko-KR" altLang="en-US" sz="1000" dirty="0">
                <a:solidFill>
                  <a:schemeClr val="tx2"/>
                </a:solidFill>
              </a:rPr>
              <a:t>항을 적용하는 경우</a:t>
            </a:r>
          </a:p>
          <a:p>
            <a:pPr fontAlgn="base"/>
            <a:r>
              <a:rPr lang="ko-KR" altLang="en-US" sz="1000" dirty="0">
                <a:solidFill>
                  <a:schemeClr val="tx2"/>
                </a:solidFill>
              </a:rPr>
              <a:t>  </a:t>
            </a:r>
            <a:r>
              <a:rPr lang="en-US" altLang="ko-KR" sz="1000" dirty="0">
                <a:solidFill>
                  <a:schemeClr val="tx2"/>
                </a:solidFill>
              </a:rPr>
              <a:t>2. </a:t>
            </a:r>
            <a:r>
              <a:rPr lang="ko-KR" altLang="en-US" sz="1000" dirty="0">
                <a:solidFill>
                  <a:schemeClr val="tx2"/>
                </a:solidFill>
              </a:rPr>
              <a:t>제</a:t>
            </a:r>
            <a:r>
              <a:rPr lang="en-US" altLang="ko-KR" sz="1000" dirty="0">
                <a:solidFill>
                  <a:schemeClr val="tx2"/>
                </a:solidFill>
              </a:rPr>
              <a:t>30</a:t>
            </a:r>
            <a:r>
              <a:rPr lang="ko-KR" altLang="en-US" sz="1000" dirty="0">
                <a:solidFill>
                  <a:schemeClr val="tx2"/>
                </a:solidFill>
              </a:rPr>
              <a:t>조제</a:t>
            </a:r>
            <a:r>
              <a:rPr lang="en-US" altLang="ko-KR" sz="1000" dirty="0">
                <a:solidFill>
                  <a:schemeClr val="tx2"/>
                </a:solidFill>
              </a:rPr>
              <a:t>2</a:t>
            </a:r>
            <a:r>
              <a:rPr lang="ko-KR" altLang="en-US" sz="1000" dirty="0">
                <a:solidFill>
                  <a:schemeClr val="tx2"/>
                </a:solidFill>
              </a:rPr>
              <a:t>항을 적용하는 경우</a:t>
            </a:r>
          </a:p>
          <a:p>
            <a:pPr fontAlgn="base"/>
            <a:r>
              <a:rPr lang="ko-KR" altLang="en-US" sz="1000" dirty="0">
                <a:solidFill>
                  <a:schemeClr val="tx2"/>
                </a:solidFill>
              </a:rPr>
              <a:t>  </a:t>
            </a:r>
            <a:r>
              <a:rPr lang="en-US" altLang="ko-KR" sz="1000" dirty="0">
                <a:solidFill>
                  <a:schemeClr val="tx2"/>
                </a:solidFill>
              </a:rPr>
              <a:t>3. </a:t>
            </a:r>
            <a:r>
              <a:rPr lang="ko-KR" altLang="en-US" sz="1000" dirty="0">
                <a:solidFill>
                  <a:schemeClr val="tx2"/>
                </a:solidFill>
              </a:rPr>
              <a:t>제</a:t>
            </a:r>
            <a:r>
              <a:rPr lang="en-US" altLang="ko-KR" sz="1000" dirty="0">
                <a:solidFill>
                  <a:schemeClr val="tx2"/>
                </a:solidFill>
              </a:rPr>
              <a:t>54</a:t>
            </a:r>
            <a:r>
              <a:rPr lang="ko-KR" altLang="en-US" sz="1000" dirty="0">
                <a:solidFill>
                  <a:schemeClr val="tx2"/>
                </a:solidFill>
              </a:rPr>
              <a:t>조제</a:t>
            </a:r>
            <a:r>
              <a:rPr lang="en-US" altLang="ko-KR" sz="1000" dirty="0">
                <a:solidFill>
                  <a:schemeClr val="tx2"/>
                </a:solidFill>
              </a:rPr>
              <a:t>3</a:t>
            </a:r>
            <a:r>
              <a:rPr lang="ko-KR" altLang="en-US" sz="1000" dirty="0">
                <a:solidFill>
                  <a:schemeClr val="tx2"/>
                </a:solidFill>
              </a:rPr>
              <a:t>항을 적용하는 경우</a:t>
            </a:r>
          </a:p>
          <a:p>
            <a:pPr fontAlgn="base"/>
            <a:r>
              <a:rPr lang="ko-KR" altLang="en-US" sz="1000" dirty="0">
                <a:solidFill>
                  <a:schemeClr val="tx2"/>
                </a:solidFill>
              </a:rPr>
              <a:t>  </a:t>
            </a:r>
            <a:r>
              <a:rPr lang="en-US" altLang="ko-KR" sz="1000" dirty="0">
                <a:solidFill>
                  <a:schemeClr val="tx2"/>
                </a:solidFill>
              </a:rPr>
              <a:t>4. </a:t>
            </a:r>
            <a:r>
              <a:rPr lang="ko-KR" altLang="en-US" sz="1000" dirty="0">
                <a:solidFill>
                  <a:schemeClr val="tx2"/>
                </a:solidFill>
              </a:rPr>
              <a:t>제</a:t>
            </a:r>
            <a:r>
              <a:rPr lang="en-US" altLang="ko-KR" sz="1000" dirty="0">
                <a:solidFill>
                  <a:schemeClr val="tx2"/>
                </a:solidFill>
              </a:rPr>
              <a:t>55</a:t>
            </a:r>
            <a:r>
              <a:rPr lang="ko-KR" altLang="en-US" sz="1000" dirty="0">
                <a:solidFill>
                  <a:schemeClr val="tx2"/>
                </a:solidFill>
              </a:rPr>
              <a:t>조제</a:t>
            </a:r>
            <a:r>
              <a:rPr lang="en-US" altLang="ko-KR" sz="1000" dirty="0">
                <a:solidFill>
                  <a:schemeClr val="tx2"/>
                </a:solidFill>
              </a:rPr>
              <a:t>2</a:t>
            </a:r>
            <a:r>
              <a:rPr lang="ko-KR" altLang="en-US" sz="1000" dirty="0">
                <a:solidFill>
                  <a:schemeClr val="tx2"/>
                </a:solidFill>
              </a:rPr>
              <a:t>항을 적용하는 경우</a:t>
            </a:r>
          </a:p>
          <a:p>
            <a:pPr fontAlgn="base"/>
            <a:r>
              <a:rPr lang="ko-KR" altLang="en-US" sz="1000" dirty="0">
                <a:solidFill>
                  <a:schemeClr val="tx2"/>
                </a:solidFill>
              </a:rPr>
              <a:t>③ 제</a:t>
            </a:r>
            <a:r>
              <a:rPr lang="en-US" altLang="ko-KR" sz="1000" dirty="0">
                <a:solidFill>
                  <a:schemeClr val="tx2"/>
                </a:solidFill>
              </a:rPr>
              <a:t>1</a:t>
            </a:r>
            <a:r>
              <a:rPr lang="ko-KR" altLang="en-US" sz="1000" dirty="0">
                <a:solidFill>
                  <a:schemeClr val="tx2"/>
                </a:solidFill>
              </a:rPr>
              <a:t>항에 따라 분할출원을 하려는 자는 분할출원을 할 때에 </a:t>
            </a:r>
            <a:r>
              <a:rPr lang="ko-KR" altLang="en-US" sz="1000" dirty="0" err="1">
                <a:solidFill>
                  <a:schemeClr val="tx2"/>
                </a:solidFill>
              </a:rPr>
              <a:t>특허출원서에</a:t>
            </a:r>
            <a:r>
              <a:rPr lang="ko-KR" altLang="en-US" sz="1000" dirty="0">
                <a:solidFill>
                  <a:schemeClr val="tx2"/>
                </a:solidFill>
              </a:rPr>
              <a:t> 그 취지 및 분할의 기초가 된 특허출원의 표시를 하여야 한다</a:t>
            </a:r>
            <a:r>
              <a:rPr lang="en-US" altLang="ko-KR" sz="1000" dirty="0">
                <a:solidFill>
                  <a:schemeClr val="tx2"/>
                </a:solidFill>
              </a:rPr>
              <a:t>.</a:t>
            </a:r>
          </a:p>
          <a:p>
            <a:pPr fontAlgn="base"/>
            <a:r>
              <a:rPr lang="en-US" altLang="ko-KR" sz="1000" dirty="0">
                <a:solidFill>
                  <a:schemeClr val="tx2"/>
                </a:solidFill>
              </a:rPr>
              <a:t>④ </a:t>
            </a:r>
            <a:r>
              <a:rPr lang="ko-KR" altLang="en-US" sz="1000" dirty="0">
                <a:solidFill>
                  <a:schemeClr val="tx2"/>
                </a:solidFill>
              </a:rPr>
              <a:t>분할의 기초가 된 특허출원이 제</a:t>
            </a:r>
            <a:r>
              <a:rPr lang="en-US" altLang="ko-KR" sz="1000" dirty="0">
                <a:solidFill>
                  <a:schemeClr val="tx2"/>
                </a:solidFill>
              </a:rPr>
              <a:t>54</a:t>
            </a:r>
            <a:r>
              <a:rPr lang="ko-KR" altLang="en-US" sz="1000" dirty="0">
                <a:solidFill>
                  <a:schemeClr val="tx2"/>
                </a:solidFill>
              </a:rPr>
              <a:t>조 또는 제</a:t>
            </a:r>
            <a:r>
              <a:rPr lang="en-US" altLang="ko-KR" sz="1000" dirty="0">
                <a:solidFill>
                  <a:schemeClr val="tx2"/>
                </a:solidFill>
              </a:rPr>
              <a:t>55</a:t>
            </a:r>
            <a:r>
              <a:rPr lang="ko-KR" altLang="en-US" sz="1000" dirty="0">
                <a:solidFill>
                  <a:schemeClr val="tx2"/>
                </a:solidFill>
              </a:rPr>
              <a:t>조에 따라 우선권을 주장한 특허출원인 경우에는 제</a:t>
            </a:r>
            <a:r>
              <a:rPr lang="en-US" altLang="ko-KR" sz="1000" dirty="0">
                <a:solidFill>
                  <a:schemeClr val="tx2"/>
                </a:solidFill>
              </a:rPr>
              <a:t>1</a:t>
            </a:r>
            <a:r>
              <a:rPr lang="ko-KR" altLang="en-US" sz="1000" dirty="0">
                <a:solidFill>
                  <a:schemeClr val="tx2"/>
                </a:solidFill>
              </a:rPr>
              <a:t>항에 따라 분할출원을 한 때에 그 분할출원에 대해서도 우선권 주장을 한 것으로 보며</a:t>
            </a:r>
            <a:r>
              <a:rPr lang="en-US" altLang="ko-KR" sz="1000" dirty="0">
                <a:solidFill>
                  <a:schemeClr val="tx2"/>
                </a:solidFill>
              </a:rPr>
              <a:t>, </a:t>
            </a:r>
            <a:r>
              <a:rPr lang="ko-KR" altLang="en-US" sz="1000" dirty="0">
                <a:solidFill>
                  <a:schemeClr val="tx2"/>
                </a:solidFill>
              </a:rPr>
              <a:t>분할의 기초가 된 특허출원에 대하여 제</a:t>
            </a:r>
            <a:r>
              <a:rPr lang="en-US" altLang="ko-KR" sz="1000" dirty="0">
                <a:solidFill>
                  <a:schemeClr val="tx2"/>
                </a:solidFill>
              </a:rPr>
              <a:t>54</a:t>
            </a:r>
            <a:r>
              <a:rPr lang="ko-KR" altLang="en-US" sz="1000" dirty="0">
                <a:solidFill>
                  <a:schemeClr val="tx2"/>
                </a:solidFill>
              </a:rPr>
              <a:t>조제</a:t>
            </a:r>
            <a:r>
              <a:rPr lang="en-US" altLang="ko-KR" sz="1000" dirty="0">
                <a:solidFill>
                  <a:schemeClr val="tx2"/>
                </a:solidFill>
              </a:rPr>
              <a:t>4</a:t>
            </a:r>
            <a:r>
              <a:rPr lang="ko-KR" altLang="en-US" sz="1000" dirty="0">
                <a:solidFill>
                  <a:schemeClr val="tx2"/>
                </a:solidFill>
              </a:rPr>
              <a:t>항에 따라 제출된 서류 또는 서면이 있는 경우에는 분할출원에 대해서도 해당 서류 또는 서면이 제출된 것으로 본다</a:t>
            </a:r>
            <a:r>
              <a:rPr lang="en-US" altLang="ko-KR" sz="1000" dirty="0">
                <a:solidFill>
                  <a:schemeClr val="tx2"/>
                </a:solidFill>
              </a:rPr>
              <a:t>.</a:t>
            </a:r>
          </a:p>
          <a:p>
            <a:pPr fontAlgn="base"/>
            <a:r>
              <a:rPr lang="en-US" altLang="ko-KR" sz="1000" dirty="0">
                <a:solidFill>
                  <a:schemeClr val="tx2"/>
                </a:solidFill>
              </a:rPr>
              <a:t>⑤ </a:t>
            </a:r>
            <a:r>
              <a:rPr lang="ko-KR" altLang="en-US" sz="1000" dirty="0">
                <a:solidFill>
                  <a:schemeClr val="tx2"/>
                </a:solidFill>
              </a:rPr>
              <a:t>제</a:t>
            </a:r>
            <a:r>
              <a:rPr lang="en-US" altLang="ko-KR" sz="1000" dirty="0">
                <a:solidFill>
                  <a:schemeClr val="tx2"/>
                </a:solidFill>
              </a:rPr>
              <a:t>4</a:t>
            </a:r>
            <a:r>
              <a:rPr lang="ko-KR" altLang="en-US" sz="1000" dirty="0">
                <a:solidFill>
                  <a:schemeClr val="tx2"/>
                </a:solidFill>
              </a:rPr>
              <a:t>항에 따라 우선권을 주장한 것으로 보는 분할출원에 관하여는 제</a:t>
            </a:r>
            <a:r>
              <a:rPr lang="en-US" altLang="ko-KR" sz="1000" dirty="0">
                <a:solidFill>
                  <a:schemeClr val="tx2"/>
                </a:solidFill>
              </a:rPr>
              <a:t>54</a:t>
            </a:r>
            <a:r>
              <a:rPr lang="ko-KR" altLang="en-US" sz="1000" dirty="0">
                <a:solidFill>
                  <a:schemeClr val="tx2"/>
                </a:solidFill>
              </a:rPr>
              <a:t>조제</a:t>
            </a:r>
            <a:r>
              <a:rPr lang="en-US" altLang="ko-KR" sz="1000" dirty="0">
                <a:solidFill>
                  <a:schemeClr val="tx2"/>
                </a:solidFill>
              </a:rPr>
              <a:t>7</a:t>
            </a:r>
            <a:r>
              <a:rPr lang="ko-KR" altLang="en-US" sz="1000" dirty="0">
                <a:solidFill>
                  <a:schemeClr val="tx2"/>
                </a:solidFill>
              </a:rPr>
              <a:t>항 또는 제</a:t>
            </a:r>
            <a:r>
              <a:rPr lang="en-US" altLang="ko-KR" sz="1000" dirty="0">
                <a:solidFill>
                  <a:schemeClr val="tx2"/>
                </a:solidFill>
              </a:rPr>
              <a:t>55</a:t>
            </a:r>
            <a:r>
              <a:rPr lang="ko-KR" altLang="en-US" sz="1000" dirty="0">
                <a:solidFill>
                  <a:schemeClr val="tx2"/>
                </a:solidFill>
              </a:rPr>
              <a:t>조제</a:t>
            </a:r>
            <a:r>
              <a:rPr lang="en-US" altLang="ko-KR" sz="1000" dirty="0">
                <a:solidFill>
                  <a:schemeClr val="tx2"/>
                </a:solidFill>
              </a:rPr>
              <a:t>7</a:t>
            </a:r>
            <a:r>
              <a:rPr lang="ko-KR" altLang="en-US" sz="1000" dirty="0">
                <a:solidFill>
                  <a:schemeClr val="tx2"/>
                </a:solidFill>
              </a:rPr>
              <a:t>항에 따른 기한이 지난 후에도 분할출원을 한 날부터 </a:t>
            </a:r>
            <a:r>
              <a:rPr lang="en-US" altLang="ko-KR" sz="1000" dirty="0">
                <a:solidFill>
                  <a:schemeClr val="tx2"/>
                </a:solidFill>
              </a:rPr>
              <a:t>30</a:t>
            </a:r>
            <a:r>
              <a:rPr lang="ko-KR" altLang="en-US" sz="1000" dirty="0">
                <a:solidFill>
                  <a:schemeClr val="tx2"/>
                </a:solidFill>
              </a:rPr>
              <a:t>일 이내에 그 우선권 주장의 전부 또는 일부를 취하할 수 있다</a:t>
            </a:r>
            <a:endParaRPr lang="en-US" altLang="ko-KR" sz="1000" dirty="0">
              <a:solidFill>
                <a:schemeClr val="tx2"/>
              </a:solidFill>
            </a:endParaRPr>
          </a:p>
          <a:p>
            <a:pPr fontAlgn="base"/>
            <a:endParaRPr lang="en-US" altLang="ko-KR" sz="1000" dirty="0">
              <a:solidFill>
                <a:schemeClr val="tx2"/>
              </a:solidFill>
            </a:endParaRPr>
          </a:p>
          <a:p>
            <a:pPr fontAlgn="base"/>
            <a:r>
              <a:rPr lang="en-US" altLang="ko-KR" sz="1000" dirty="0">
                <a:solidFill>
                  <a:schemeClr val="tx2"/>
                </a:solidFill>
              </a:rPr>
              <a:t>⑥ </a:t>
            </a:r>
            <a:r>
              <a:rPr lang="ko-KR" altLang="en-US" sz="1000" dirty="0">
                <a:solidFill>
                  <a:schemeClr val="tx2"/>
                </a:solidFill>
              </a:rPr>
              <a:t>분할출원의 경우에 제</a:t>
            </a:r>
            <a:r>
              <a:rPr lang="en-US" altLang="ko-KR" sz="1000" dirty="0">
                <a:solidFill>
                  <a:schemeClr val="tx2"/>
                </a:solidFill>
              </a:rPr>
              <a:t>54</a:t>
            </a:r>
            <a:r>
              <a:rPr lang="ko-KR" altLang="en-US" sz="1000" dirty="0">
                <a:solidFill>
                  <a:schemeClr val="tx2"/>
                </a:solidFill>
              </a:rPr>
              <a:t>조에 따른 우선권을 주장하는 자는 같은 조 제</a:t>
            </a:r>
            <a:r>
              <a:rPr lang="en-US" altLang="ko-KR" sz="1000" dirty="0">
                <a:solidFill>
                  <a:schemeClr val="tx2"/>
                </a:solidFill>
              </a:rPr>
              <a:t>4</a:t>
            </a:r>
            <a:r>
              <a:rPr lang="ko-KR" altLang="en-US" sz="1000" dirty="0">
                <a:solidFill>
                  <a:schemeClr val="tx2"/>
                </a:solidFill>
              </a:rPr>
              <a:t>항에 따른 서류를 같은 조 제</a:t>
            </a:r>
            <a:r>
              <a:rPr lang="en-US" altLang="ko-KR" sz="1000" dirty="0">
                <a:solidFill>
                  <a:schemeClr val="tx2"/>
                </a:solidFill>
              </a:rPr>
              <a:t>5</a:t>
            </a:r>
            <a:r>
              <a:rPr lang="ko-KR" altLang="en-US" sz="1000" dirty="0">
                <a:solidFill>
                  <a:schemeClr val="tx2"/>
                </a:solidFill>
              </a:rPr>
              <a:t>항에 따른 기간이 지난 후에도 분할출원을 한 날부터 </a:t>
            </a:r>
            <a:r>
              <a:rPr lang="en-US" altLang="ko-KR" sz="1000" dirty="0">
                <a:solidFill>
                  <a:schemeClr val="tx2"/>
                </a:solidFill>
              </a:rPr>
              <a:t>3</a:t>
            </a:r>
            <a:r>
              <a:rPr lang="ko-KR" altLang="en-US" sz="1000" dirty="0">
                <a:solidFill>
                  <a:schemeClr val="tx2"/>
                </a:solidFill>
              </a:rPr>
              <a:t>개월 이내에 지식재산처장에게 제출할 수 있다</a:t>
            </a:r>
            <a:endParaRPr lang="en-US" altLang="ko-KR" sz="1000" dirty="0">
              <a:solidFill>
                <a:schemeClr val="tx2"/>
              </a:solidFill>
            </a:endParaRPr>
          </a:p>
          <a:p>
            <a:pPr fontAlgn="base"/>
            <a:endParaRPr lang="en-US" altLang="ko-KR" sz="1000" dirty="0">
              <a:solidFill>
                <a:schemeClr val="tx2"/>
              </a:solidFill>
            </a:endParaRPr>
          </a:p>
          <a:p>
            <a:pPr fontAlgn="base"/>
            <a:r>
              <a:rPr lang="en-US" altLang="ko-KR" sz="1000" dirty="0">
                <a:solidFill>
                  <a:schemeClr val="tx2"/>
                </a:solidFill>
              </a:rPr>
              <a:t>⑦ </a:t>
            </a:r>
            <a:r>
              <a:rPr lang="ko-KR" altLang="en-US" sz="1000" dirty="0">
                <a:solidFill>
                  <a:schemeClr val="tx2"/>
                </a:solidFill>
              </a:rPr>
              <a:t>분할출원이 </a:t>
            </a:r>
            <a:r>
              <a:rPr lang="ko-KR" altLang="en-US" sz="1000" dirty="0" err="1">
                <a:solidFill>
                  <a:schemeClr val="tx2"/>
                </a:solidFill>
              </a:rPr>
              <a:t>외국어특허출원인</a:t>
            </a:r>
            <a:r>
              <a:rPr lang="ko-KR" altLang="en-US" sz="1000" dirty="0">
                <a:solidFill>
                  <a:schemeClr val="tx2"/>
                </a:solidFill>
              </a:rPr>
              <a:t> 경우에는 </a:t>
            </a:r>
            <a:r>
              <a:rPr lang="ko-KR" altLang="en-US" sz="1000" dirty="0" err="1">
                <a:solidFill>
                  <a:schemeClr val="tx2"/>
                </a:solidFill>
              </a:rPr>
              <a:t>특허출원인은</a:t>
            </a:r>
            <a:r>
              <a:rPr lang="ko-KR" altLang="en-US" sz="1000" dirty="0">
                <a:solidFill>
                  <a:schemeClr val="tx2"/>
                </a:solidFill>
              </a:rPr>
              <a:t> 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3</a:t>
            </a:r>
            <a:r>
              <a:rPr lang="ko-KR" altLang="en-US" sz="1000" dirty="0">
                <a:solidFill>
                  <a:schemeClr val="tx2"/>
                </a:solidFill>
              </a:rPr>
              <a:t>제</a:t>
            </a:r>
            <a:r>
              <a:rPr lang="en-US" altLang="ko-KR" sz="1000" dirty="0">
                <a:solidFill>
                  <a:schemeClr val="tx2"/>
                </a:solidFill>
              </a:rPr>
              <a:t>2</a:t>
            </a:r>
            <a:r>
              <a:rPr lang="ko-KR" altLang="en-US" sz="1000" dirty="0">
                <a:solidFill>
                  <a:schemeClr val="tx2"/>
                </a:solidFill>
              </a:rPr>
              <a:t>항에 따른 국어번역문 또는 같은 조 제</a:t>
            </a:r>
            <a:r>
              <a:rPr lang="en-US" altLang="ko-KR" sz="1000" dirty="0">
                <a:solidFill>
                  <a:schemeClr val="tx2"/>
                </a:solidFill>
              </a:rPr>
              <a:t>3</a:t>
            </a:r>
            <a:r>
              <a:rPr lang="ko-KR" altLang="en-US" sz="1000" dirty="0">
                <a:solidFill>
                  <a:schemeClr val="tx2"/>
                </a:solidFill>
              </a:rPr>
              <a:t>항 본문에 따른 새로운 국어번역문을 같은 조 제</a:t>
            </a:r>
            <a:r>
              <a:rPr lang="en-US" altLang="ko-KR" sz="1000" dirty="0">
                <a:solidFill>
                  <a:schemeClr val="tx2"/>
                </a:solidFill>
              </a:rPr>
              <a:t>2</a:t>
            </a:r>
            <a:r>
              <a:rPr lang="ko-KR" altLang="en-US" sz="1000" dirty="0">
                <a:solidFill>
                  <a:schemeClr val="tx2"/>
                </a:solidFill>
              </a:rPr>
              <a:t>항에 따른 기한이 지난 후에도 분할출원을 한 날부터 </a:t>
            </a:r>
            <a:r>
              <a:rPr lang="en-US" altLang="ko-KR" sz="1000" dirty="0">
                <a:solidFill>
                  <a:schemeClr val="tx2"/>
                </a:solidFill>
              </a:rPr>
              <a:t>30</a:t>
            </a:r>
            <a:r>
              <a:rPr lang="ko-KR" altLang="en-US" sz="1000" dirty="0">
                <a:solidFill>
                  <a:schemeClr val="tx2"/>
                </a:solidFill>
              </a:rPr>
              <a:t>일이 되는 날까지는 제출할 수 있다</a:t>
            </a:r>
            <a:r>
              <a:rPr lang="en-US" altLang="ko-KR" sz="1000" dirty="0">
                <a:solidFill>
                  <a:schemeClr val="tx2"/>
                </a:solidFill>
              </a:rPr>
              <a:t>. </a:t>
            </a:r>
            <a:r>
              <a:rPr lang="ko-KR" altLang="en-US" sz="1000" dirty="0">
                <a:solidFill>
                  <a:schemeClr val="tx2"/>
                </a:solidFill>
              </a:rPr>
              <a:t>다만</a:t>
            </a:r>
            <a:r>
              <a:rPr lang="en-US" altLang="ko-KR" sz="1000" dirty="0">
                <a:solidFill>
                  <a:schemeClr val="tx2"/>
                </a:solidFill>
              </a:rPr>
              <a:t>, </a:t>
            </a:r>
            <a:r>
              <a:rPr lang="ko-KR" altLang="en-US" sz="1000" dirty="0">
                <a:solidFill>
                  <a:schemeClr val="tx2"/>
                </a:solidFill>
              </a:rPr>
              <a:t>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3</a:t>
            </a:r>
            <a:r>
              <a:rPr lang="ko-KR" altLang="en-US" sz="1000" dirty="0">
                <a:solidFill>
                  <a:schemeClr val="tx2"/>
                </a:solidFill>
              </a:rPr>
              <a:t>제</a:t>
            </a:r>
            <a:r>
              <a:rPr lang="en-US" altLang="ko-KR" sz="1000" dirty="0">
                <a:solidFill>
                  <a:schemeClr val="tx2"/>
                </a:solidFill>
              </a:rPr>
              <a:t>3</a:t>
            </a:r>
            <a:r>
              <a:rPr lang="ko-KR" altLang="en-US" sz="1000" dirty="0">
                <a:solidFill>
                  <a:schemeClr val="tx2"/>
                </a:solidFill>
              </a:rPr>
              <a:t>항 각 호의 어느 하나에 해당하는 경우에는 새로운 국어번역문을 제출할 수 없다</a:t>
            </a:r>
            <a:r>
              <a:rPr lang="en-US" altLang="ko-KR" sz="1000" dirty="0">
                <a:solidFill>
                  <a:schemeClr val="tx2"/>
                </a:solidFill>
              </a:rPr>
              <a:t>. </a:t>
            </a:r>
          </a:p>
          <a:p>
            <a:pPr fontAlgn="base"/>
            <a:r>
              <a:rPr lang="en-US" altLang="ko-KR" sz="1000" dirty="0">
                <a:solidFill>
                  <a:schemeClr val="tx2"/>
                </a:solidFill>
              </a:rPr>
              <a:t>⑧ </a:t>
            </a:r>
            <a:r>
              <a:rPr lang="ko-KR" altLang="en-US" sz="1000" dirty="0" err="1">
                <a:solidFill>
                  <a:schemeClr val="tx2"/>
                </a:solidFill>
              </a:rPr>
              <a:t>특허출원서에</a:t>
            </a:r>
            <a:r>
              <a:rPr lang="ko-KR" altLang="en-US" sz="1000" dirty="0">
                <a:solidFill>
                  <a:schemeClr val="tx2"/>
                </a:solidFill>
              </a:rPr>
              <a:t> 최초로 첨부한 명세서에 청구범위를 적지 아니한 분할출원에 관하여는 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2</a:t>
            </a:r>
            <a:r>
              <a:rPr lang="ko-KR" altLang="en-US" sz="1000" dirty="0">
                <a:solidFill>
                  <a:schemeClr val="tx2"/>
                </a:solidFill>
              </a:rPr>
              <a:t>제</a:t>
            </a:r>
            <a:r>
              <a:rPr lang="en-US" altLang="ko-KR" sz="1000" dirty="0">
                <a:solidFill>
                  <a:schemeClr val="tx2"/>
                </a:solidFill>
              </a:rPr>
              <a:t>2</a:t>
            </a:r>
            <a:r>
              <a:rPr lang="ko-KR" altLang="en-US" sz="1000" dirty="0">
                <a:solidFill>
                  <a:schemeClr val="tx2"/>
                </a:solidFill>
              </a:rPr>
              <a:t>항에 따른 기한이 지난 후에도 분할출원을 한 날부터 </a:t>
            </a:r>
            <a:r>
              <a:rPr lang="en-US" altLang="ko-KR" sz="1000" dirty="0">
                <a:solidFill>
                  <a:schemeClr val="tx2"/>
                </a:solidFill>
              </a:rPr>
              <a:t>30</a:t>
            </a:r>
            <a:r>
              <a:rPr lang="ko-KR" altLang="en-US" sz="1000" dirty="0">
                <a:solidFill>
                  <a:schemeClr val="tx2"/>
                </a:solidFill>
              </a:rPr>
              <a:t>일이 되는 날까지는 명세서에 청구범위를 적는 보정을 할 수 있다</a:t>
            </a:r>
            <a:r>
              <a:rPr lang="en-US" altLang="ko-KR" sz="1000" dirty="0">
                <a:solidFill>
                  <a:schemeClr val="tx2"/>
                </a:solidFill>
              </a:rPr>
              <a:t>. </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슬라이드 번호 개체 틀 4"/>
          <p:cNvSpPr>
            <a:spLocks noGrp="1"/>
          </p:cNvSpPr>
          <p:nvPr>
            <p:ph type="sldNum" sz="quarter" idx="12"/>
          </p:nvPr>
        </p:nvSpPr>
        <p:spPr/>
        <p:txBody>
          <a:bodyPr/>
          <a:lstStyle/>
          <a:p>
            <a:r>
              <a:rPr lang="en-US" altLang="ko-KR"/>
              <a:t>206</a:t>
            </a:r>
            <a:endParaRPr lang="ko-KR" altLang="en-US"/>
          </a:p>
        </p:txBody>
      </p:sp>
      <p:sp>
        <p:nvSpPr>
          <p:cNvPr id="7" name="TextBox 6">
            <a:extLst>
              <a:ext uri="{FF2B5EF4-FFF2-40B4-BE49-F238E27FC236}">
                <a16:creationId xmlns:a16="http://schemas.microsoft.com/office/drawing/2014/main" id="{70722573-33C7-4072-BACA-88E5404BDDB8}"/>
              </a:ext>
            </a:extLst>
          </p:cNvPr>
          <p:cNvSpPr txBox="1"/>
          <p:nvPr/>
        </p:nvSpPr>
        <p:spPr>
          <a:xfrm>
            <a:off x="6117020" y="986046"/>
            <a:ext cx="6018125" cy="5940088"/>
          </a:xfrm>
          <a:prstGeom prst="rect">
            <a:avLst/>
          </a:prstGeom>
          <a:noFill/>
        </p:spPr>
        <p:txBody>
          <a:bodyPr wrap="square" rtlCol="0">
            <a:spAutoFit/>
          </a:bodyPr>
          <a:lstStyle/>
          <a:p>
            <a:pPr fontAlgn="base"/>
            <a:r>
              <a:rPr lang="ko-KR" altLang="en-US" sz="1000" b="1" dirty="0">
                <a:solidFill>
                  <a:schemeClr val="accent1"/>
                </a:solidFill>
              </a:rPr>
              <a:t>제</a:t>
            </a:r>
            <a:r>
              <a:rPr lang="en-US" altLang="ko-KR" sz="1000" b="1" dirty="0">
                <a:solidFill>
                  <a:schemeClr val="accent1"/>
                </a:solidFill>
              </a:rPr>
              <a:t>52</a:t>
            </a:r>
            <a:r>
              <a:rPr lang="ko-KR" altLang="en-US" sz="1000" b="1" dirty="0">
                <a:solidFill>
                  <a:schemeClr val="accent1"/>
                </a:solidFill>
              </a:rPr>
              <a:t>조의</a:t>
            </a:r>
            <a:r>
              <a:rPr lang="en-US" altLang="ko-KR" sz="1000" b="1" dirty="0">
                <a:solidFill>
                  <a:schemeClr val="accent1"/>
                </a:solidFill>
              </a:rPr>
              <a:t>2(</a:t>
            </a:r>
            <a:r>
              <a:rPr lang="ko-KR" altLang="en-US" sz="1000" b="1" dirty="0">
                <a:solidFill>
                  <a:schemeClr val="accent1"/>
                </a:solidFill>
              </a:rPr>
              <a:t>분리출원</a:t>
            </a:r>
            <a:r>
              <a:rPr lang="en-US" altLang="ko-KR" sz="1000" b="1" dirty="0">
                <a:solidFill>
                  <a:schemeClr val="accent1"/>
                </a:solidFill>
              </a:rPr>
              <a:t>) </a:t>
            </a:r>
            <a:r>
              <a:rPr lang="ko-KR" altLang="en-US" sz="1000" dirty="0">
                <a:solidFill>
                  <a:schemeClr val="tx2"/>
                </a:solidFill>
              </a:rPr>
              <a:t>① </a:t>
            </a:r>
            <a:r>
              <a:rPr lang="ko-KR" altLang="en-US" sz="1000" dirty="0" err="1">
                <a:solidFill>
                  <a:schemeClr val="tx2"/>
                </a:solidFill>
              </a:rPr>
              <a:t>특허거절결정을</a:t>
            </a:r>
            <a:r>
              <a:rPr lang="ko-KR" altLang="en-US" sz="1000" dirty="0">
                <a:solidFill>
                  <a:schemeClr val="tx2"/>
                </a:solidFill>
              </a:rPr>
              <a:t> 받은 자는 제</a:t>
            </a:r>
            <a:r>
              <a:rPr lang="en-US" altLang="ko-KR" sz="1000" dirty="0">
                <a:solidFill>
                  <a:schemeClr val="tx2"/>
                </a:solidFill>
              </a:rPr>
              <a:t>132</a:t>
            </a:r>
            <a:r>
              <a:rPr lang="ko-KR" altLang="en-US" sz="1000" dirty="0">
                <a:solidFill>
                  <a:schemeClr val="tx2"/>
                </a:solidFill>
              </a:rPr>
              <a:t>조의</a:t>
            </a:r>
            <a:r>
              <a:rPr lang="en-US" altLang="ko-KR" sz="1000" dirty="0">
                <a:solidFill>
                  <a:schemeClr val="tx2"/>
                </a:solidFill>
              </a:rPr>
              <a:t>17</a:t>
            </a:r>
            <a:r>
              <a:rPr lang="ko-KR" altLang="en-US" sz="1000" dirty="0">
                <a:solidFill>
                  <a:schemeClr val="tx2"/>
                </a:solidFill>
              </a:rPr>
              <a:t>에 따른 심판청구가 기각된 경우 그 </a:t>
            </a:r>
            <a:r>
              <a:rPr lang="ko-KR" altLang="en-US" sz="1000" dirty="0" err="1">
                <a:solidFill>
                  <a:schemeClr val="tx2"/>
                </a:solidFill>
              </a:rPr>
              <a:t>심결의</a:t>
            </a:r>
            <a:r>
              <a:rPr lang="ko-KR" altLang="en-US" sz="1000" dirty="0">
                <a:solidFill>
                  <a:schemeClr val="tx2"/>
                </a:solidFill>
              </a:rPr>
              <a:t> 등본을 </a:t>
            </a:r>
            <a:r>
              <a:rPr lang="ko-KR" altLang="en-US" sz="1000" dirty="0" err="1">
                <a:solidFill>
                  <a:schemeClr val="tx2"/>
                </a:solidFill>
              </a:rPr>
              <a:t>송달받은</a:t>
            </a:r>
            <a:r>
              <a:rPr lang="ko-KR" altLang="en-US" sz="1000" dirty="0">
                <a:solidFill>
                  <a:schemeClr val="tx2"/>
                </a:solidFill>
              </a:rPr>
              <a:t> 날부터 </a:t>
            </a:r>
            <a:r>
              <a:rPr lang="en-US" altLang="ko-KR" sz="1000" dirty="0">
                <a:solidFill>
                  <a:schemeClr val="tx2"/>
                </a:solidFill>
              </a:rPr>
              <a:t>30</a:t>
            </a:r>
            <a:r>
              <a:rPr lang="ko-KR" altLang="en-US" sz="1000" dirty="0">
                <a:solidFill>
                  <a:schemeClr val="tx2"/>
                </a:solidFill>
              </a:rPr>
              <a:t>일</a:t>
            </a:r>
            <a:r>
              <a:rPr lang="en-US" altLang="ko-KR" sz="1000" dirty="0">
                <a:solidFill>
                  <a:schemeClr val="tx2"/>
                </a:solidFill>
              </a:rPr>
              <a:t>(</a:t>
            </a:r>
            <a:r>
              <a:rPr lang="ko-KR" altLang="en-US" sz="1000" dirty="0">
                <a:solidFill>
                  <a:schemeClr val="tx2"/>
                </a:solidFill>
              </a:rPr>
              <a:t>제</a:t>
            </a:r>
            <a:r>
              <a:rPr lang="en-US" altLang="ko-KR" sz="1000" dirty="0">
                <a:solidFill>
                  <a:schemeClr val="tx2"/>
                </a:solidFill>
              </a:rPr>
              <a:t>186</a:t>
            </a:r>
            <a:r>
              <a:rPr lang="ko-KR" altLang="en-US" sz="1000" dirty="0">
                <a:solidFill>
                  <a:schemeClr val="tx2"/>
                </a:solidFill>
              </a:rPr>
              <a:t>조제</a:t>
            </a:r>
            <a:r>
              <a:rPr lang="en-US" altLang="ko-KR" sz="1000" dirty="0">
                <a:solidFill>
                  <a:schemeClr val="tx2"/>
                </a:solidFill>
              </a:rPr>
              <a:t>5</a:t>
            </a:r>
            <a:r>
              <a:rPr lang="ko-KR" altLang="en-US" sz="1000" dirty="0">
                <a:solidFill>
                  <a:schemeClr val="tx2"/>
                </a:solidFill>
              </a:rPr>
              <a:t>항에 따라 심판장이 부가기간을 정한 경우에는 그 기간을 말한다</a:t>
            </a:r>
            <a:r>
              <a:rPr lang="en-US" altLang="ko-KR" sz="1000" dirty="0">
                <a:solidFill>
                  <a:schemeClr val="tx2"/>
                </a:solidFill>
              </a:rPr>
              <a:t>) </a:t>
            </a:r>
            <a:r>
              <a:rPr lang="ko-KR" altLang="en-US" sz="1000" dirty="0">
                <a:solidFill>
                  <a:schemeClr val="tx2"/>
                </a:solidFill>
              </a:rPr>
              <a:t>이내에 그 특허출원의 출원서에 최초로 첨부된 명세서 또는 도면에 기재된 사항의 범위에서 그 특허출원의 일부를 새로운 특허출원으로 분리할 수 있다</a:t>
            </a:r>
            <a:r>
              <a:rPr lang="en-US" altLang="ko-KR" sz="1000" dirty="0">
                <a:solidFill>
                  <a:schemeClr val="tx2"/>
                </a:solidFill>
              </a:rPr>
              <a:t>. </a:t>
            </a:r>
            <a:r>
              <a:rPr lang="ko-KR" altLang="en-US" sz="1000" dirty="0">
                <a:solidFill>
                  <a:schemeClr val="tx2"/>
                </a:solidFill>
              </a:rPr>
              <a:t>이 경우 새로운 특허출원의 청구범위에는 다음 각 호의 어느 하나에 해당하는 청구항만을 적을 수 있다</a:t>
            </a:r>
            <a:r>
              <a:rPr lang="en-US" altLang="ko-KR" sz="1000" dirty="0">
                <a:solidFill>
                  <a:schemeClr val="tx2"/>
                </a:solidFill>
              </a:rPr>
              <a:t>.</a:t>
            </a:r>
          </a:p>
          <a:p>
            <a:pPr fontAlgn="base"/>
            <a:r>
              <a:rPr lang="en-US" altLang="ko-KR" sz="1000" dirty="0">
                <a:solidFill>
                  <a:schemeClr val="tx2"/>
                </a:solidFill>
              </a:rPr>
              <a:t>  1. </a:t>
            </a:r>
            <a:r>
              <a:rPr lang="ko-KR" altLang="en-US" sz="1000" dirty="0">
                <a:solidFill>
                  <a:schemeClr val="tx2"/>
                </a:solidFill>
              </a:rPr>
              <a:t>그 심판청구의 대상이 되는 </a:t>
            </a:r>
            <a:r>
              <a:rPr lang="ko-KR" altLang="en-US" sz="1000" dirty="0" err="1">
                <a:solidFill>
                  <a:schemeClr val="tx2"/>
                </a:solidFill>
              </a:rPr>
              <a:t>특허거절결정에서</a:t>
            </a:r>
            <a:r>
              <a:rPr lang="ko-KR" altLang="en-US" sz="1000" dirty="0">
                <a:solidFill>
                  <a:schemeClr val="tx2"/>
                </a:solidFill>
              </a:rPr>
              <a:t> 거절되지 아니한 청구항</a:t>
            </a:r>
          </a:p>
          <a:p>
            <a:pPr fontAlgn="base"/>
            <a:r>
              <a:rPr lang="ko-KR" altLang="en-US" sz="1000" dirty="0">
                <a:solidFill>
                  <a:schemeClr val="tx2"/>
                </a:solidFill>
              </a:rPr>
              <a:t>  </a:t>
            </a:r>
            <a:r>
              <a:rPr lang="en-US" altLang="ko-KR" sz="1000" dirty="0">
                <a:solidFill>
                  <a:schemeClr val="tx2"/>
                </a:solidFill>
              </a:rPr>
              <a:t>2. </a:t>
            </a:r>
            <a:r>
              <a:rPr lang="ko-KR" altLang="en-US" sz="1000" dirty="0">
                <a:solidFill>
                  <a:schemeClr val="tx2"/>
                </a:solidFill>
              </a:rPr>
              <a:t>거절된 청구항에서 그 </a:t>
            </a:r>
            <a:r>
              <a:rPr lang="ko-KR" altLang="en-US" sz="1000" dirty="0" err="1">
                <a:solidFill>
                  <a:schemeClr val="tx2"/>
                </a:solidFill>
              </a:rPr>
              <a:t>특허거절결정의</a:t>
            </a:r>
            <a:r>
              <a:rPr lang="ko-KR" altLang="en-US" sz="1000" dirty="0">
                <a:solidFill>
                  <a:schemeClr val="tx2"/>
                </a:solidFill>
              </a:rPr>
              <a:t> 기초가 된 선택적 기재사항을 삭제한 청구항</a:t>
            </a:r>
          </a:p>
          <a:p>
            <a:pPr fontAlgn="base"/>
            <a:r>
              <a:rPr lang="ko-KR" altLang="en-US" sz="1000" dirty="0">
                <a:solidFill>
                  <a:schemeClr val="tx2"/>
                </a:solidFill>
              </a:rPr>
              <a:t>  </a:t>
            </a:r>
            <a:r>
              <a:rPr lang="en-US" altLang="ko-KR" sz="1000" dirty="0">
                <a:solidFill>
                  <a:schemeClr val="tx2"/>
                </a:solidFill>
              </a:rPr>
              <a:t>3. </a:t>
            </a:r>
            <a:r>
              <a:rPr lang="ko-KR" altLang="en-US" sz="1000" dirty="0">
                <a:solidFill>
                  <a:schemeClr val="tx2"/>
                </a:solidFill>
              </a:rPr>
              <a:t>제</a:t>
            </a:r>
            <a:r>
              <a:rPr lang="en-US" altLang="ko-KR" sz="1000" dirty="0">
                <a:solidFill>
                  <a:schemeClr val="tx2"/>
                </a:solidFill>
              </a:rPr>
              <a:t>1</a:t>
            </a:r>
            <a:r>
              <a:rPr lang="ko-KR" altLang="en-US" sz="1000" dirty="0">
                <a:solidFill>
                  <a:schemeClr val="tx2"/>
                </a:solidFill>
              </a:rPr>
              <a:t>호 또는 제</a:t>
            </a:r>
            <a:r>
              <a:rPr lang="en-US" altLang="ko-KR" sz="1000" dirty="0">
                <a:solidFill>
                  <a:schemeClr val="tx2"/>
                </a:solidFill>
              </a:rPr>
              <a:t>2</a:t>
            </a:r>
            <a:r>
              <a:rPr lang="ko-KR" altLang="en-US" sz="1000" dirty="0">
                <a:solidFill>
                  <a:schemeClr val="tx2"/>
                </a:solidFill>
              </a:rPr>
              <a:t>호에 따른 청구항을 제</a:t>
            </a:r>
            <a:r>
              <a:rPr lang="en-US" altLang="ko-KR" sz="1000" dirty="0">
                <a:solidFill>
                  <a:schemeClr val="tx2"/>
                </a:solidFill>
              </a:rPr>
              <a:t>47</a:t>
            </a:r>
            <a:r>
              <a:rPr lang="ko-KR" altLang="en-US" sz="1000" dirty="0">
                <a:solidFill>
                  <a:schemeClr val="tx2"/>
                </a:solidFill>
              </a:rPr>
              <a:t>조제</a:t>
            </a:r>
            <a:r>
              <a:rPr lang="en-US" altLang="ko-KR" sz="1000" dirty="0">
                <a:solidFill>
                  <a:schemeClr val="tx2"/>
                </a:solidFill>
              </a:rPr>
              <a:t>3</a:t>
            </a:r>
            <a:r>
              <a:rPr lang="ko-KR" altLang="en-US" sz="1000" dirty="0">
                <a:solidFill>
                  <a:schemeClr val="tx2"/>
                </a:solidFill>
              </a:rPr>
              <a:t>항 각 호</a:t>
            </a:r>
            <a:r>
              <a:rPr lang="en-US" altLang="ko-KR" sz="1000" dirty="0">
                <a:solidFill>
                  <a:schemeClr val="tx2"/>
                </a:solidFill>
              </a:rPr>
              <a:t>(</a:t>
            </a:r>
            <a:r>
              <a:rPr lang="ko-KR" altLang="en-US" sz="1000" dirty="0">
                <a:solidFill>
                  <a:schemeClr val="tx2"/>
                </a:solidFill>
              </a:rPr>
              <a:t>같은 항 제</a:t>
            </a:r>
            <a:r>
              <a:rPr lang="en-US" altLang="ko-KR" sz="1000" dirty="0">
                <a:solidFill>
                  <a:schemeClr val="tx2"/>
                </a:solidFill>
              </a:rPr>
              <a:t>4</a:t>
            </a:r>
            <a:r>
              <a:rPr lang="ko-KR" altLang="en-US" sz="1000" dirty="0">
                <a:solidFill>
                  <a:schemeClr val="tx2"/>
                </a:solidFill>
              </a:rPr>
              <a:t>호는 제외한다</a:t>
            </a:r>
            <a:r>
              <a:rPr lang="en-US" altLang="ko-KR" sz="1000" dirty="0">
                <a:solidFill>
                  <a:schemeClr val="tx2"/>
                </a:solidFill>
              </a:rPr>
              <a:t>)</a:t>
            </a:r>
            <a:r>
              <a:rPr lang="ko-KR" altLang="en-US" sz="1000" dirty="0">
                <a:solidFill>
                  <a:schemeClr val="tx2"/>
                </a:solidFill>
              </a:rPr>
              <a:t>의 어느 하나에 해당하도록 적은 청구항</a:t>
            </a:r>
          </a:p>
          <a:p>
            <a:pPr fontAlgn="base"/>
            <a:r>
              <a:rPr lang="ko-KR" altLang="en-US" sz="1000" dirty="0">
                <a:solidFill>
                  <a:schemeClr val="tx2"/>
                </a:solidFill>
              </a:rPr>
              <a:t>  </a:t>
            </a:r>
            <a:r>
              <a:rPr lang="en-US" altLang="ko-KR" sz="1000" dirty="0">
                <a:solidFill>
                  <a:schemeClr val="tx2"/>
                </a:solidFill>
              </a:rPr>
              <a:t>4. </a:t>
            </a:r>
            <a:r>
              <a:rPr lang="ko-KR" altLang="en-US" sz="1000" dirty="0">
                <a:solidFill>
                  <a:schemeClr val="tx2"/>
                </a:solidFill>
              </a:rPr>
              <a:t>제</a:t>
            </a:r>
            <a:r>
              <a:rPr lang="en-US" altLang="ko-KR" sz="1000" dirty="0">
                <a:solidFill>
                  <a:schemeClr val="tx2"/>
                </a:solidFill>
              </a:rPr>
              <a:t>1</a:t>
            </a:r>
            <a:r>
              <a:rPr lang="ko-KR" altLang="en-US" sz="1000" dirty="0">
                <a:solidFill>
                  <a:schemeClr val="tx2"/>
                </a:solidFill>
              </a:rPr>
              <a:t>호부터 제</a:t>
            </a:r>
            <a:r>
              <a:rPr lang="en-US" altLang="ko-KR" sz="1000" dirty="0">
                <a:solidFill>
                  <a:schemeClr val="tx2"/>
                </a:solidFill>
              </a:rPr>
              <a:t>3</a:t>
            </a:r>
            <a:r>
              <a:rPr lang="ko-KR" altLang="en-US" sz="1000" dirty="0">
                <a:solidFill>
                  <a:schemeClr val="tx2"/>
                </a:solidFill>
              </a:rPr>
              <a:t>호까지 중 어느 하나의 청구항에서 그 특허출원의 출원서에 최초로 첨부된 명세서 또는 도면에 기재된 사항의 범위를 벗어난 부분을 삭제한 청구항</a:t>
            </a:r>
          </a:p>
          <a:p>
            <a:pPr fontAlgn="base"/>
            <a:r>
              <a:rPr lang="ko-KR" altLang="en-US" sz="1000" dirty="0">
                <a:solidFill>
                  <a:schemeClr val="tx2"/>
                </a:solidFill>
              </a:rPr>
              <a:t>② 제</a:t>
            </a:r>
            <a:r>
              <a:rPr lang="en-US" altLang="ko-KR" sz="1000" dirty="0">
                <a:solidFill>
                  <a:schemeClr val="tx2"/>
                </a:solidFill>
              </a:rPr>
              <a:t>1</a:t>
            </a:r>
            <a:r>
              <a:rPr lang="ko-KR" altLang="en-US" sz="1000" dirty="0">
                <a:solidFill>
                  <a:schemeClr val="tx2"/>
                </a:solidFill>
              </a:rPr>
              <a:t>항에 따라 분리된 특허출원</a:t>
            </a:r>
            <a:r>
              <a:rPr lang="en-US" altLang="ko-KR" sz="1000" dirty="0">
                <a:solidFill>
                  <a:schemeClr val="tx2"/>
                </a:solidFill>
              </a:rPr>
              <a:t>(</a:t>
            </a:r>
            <a:r>
              <a:rPr lang="ko-KR" altLang="en-US" sz="1000" dirty="0">
                <a:solidFill>
                  <a:schemeClr val="tx2"/>
                </a:solidFill>
              </a:rPr>
              <a:t>이하 “</a:t>
            </a:r>
            <a:r>
              <a:rPr lang="ko-KR" altLang="en-US" sz="1000" dirty="0" err="1">
                <a:solidFill>
                  <a:schemeClr val="tx2"/>
                </a:solidFill>
              </a:rPr>
              <a:t>분리출원”이라</a:t>
            </a:r>
            <a:r>
              <a:rPr lang="ko-KR" altLang="en-US" sz="1000" dirty="0">
                <a:solidFill>
                  <a:schemeClr val="tx2"/>
                </a:solidFill>
              </a:rPr>
              <a:t> 한다</a:t>
            </a:r>
            <a:r>
              <a:rPr lang="en-US" altLang="ko-KR" sz="1000" dirty="0">
                <a:solidFill>
                  <a:schemeClr val="tx2"/>
                </a:solidFill>
              </a:rPr>
              <a:t>)</a:t>
            </a:r>
            <a:r>
              <a:rPr lang="ko-KR" altLang="en-US" sz="1000" dirty="0">
                <a:solidFill>
                  <a:schemeClr val="tx2"/>
                </a:solidFill>
              </a:rPr>
              <a:t>에 관하여는 제</a:t>
            </a:r>
            <a:r>
              <a:rPr lang="en-US" altLang="ko-KR" sz="1000" dirty="0">
                <a:solidFill>
                  <a:schemeClr val="tx2"/>
                </a:solidFill>
              </a:rPr>
              <a:t>52</a:t>
            </a:r>
            <a:r>
              <a:rPr lang="ko-KR" altLang="en-US" sz="1000" dirty="0">
                <a:solidFill>
                  <a:schemeClr val="tx2"/>
                </a:solidFill>
              </a:rPr>
              <a:t>조제</a:t>
            </a:r>
            <a:r>
              <a:rPr lang="en-US" altLang="ko-KR" sz="1000" dirty="0">
                <a:solidFill>
                  <a:schemeClr val="tx2"/>
                </a:solidFill>
              </a:rPr>
              <a:t>2</a:t>
            </a:r>
            <a:r>
              <a:rPr lang="ko-KR" altLang="en-US" sz="1000" dirty="0">
                <a:solidFill>
                  <a:schemeClr val="tx2"/>
                </a:solidFill>
              </a:rPr>
              <a:t>항부터 제</a:t>
            </a:r>
            <a:r>
              <a:rPr lang="en-US" altLang="ko-KR" sz="1000" dirty="0">
                <a:solidFill>
                  <a:schemeClr val="tx2"/>
                </a:solidFill>
              </a:rPr>
              <a:t>5</a:t>
            </a:r>
            <a:r>
              <a:rPr lang="ko-KR" altLang="en-US" sz="1000" dirty="0">
                <a:solidFill>
                  <a:schemeClr val="tx2"/>
                </a:solidFill>
              </a:rPr>
              <a:t>항까지의 규정을 준용한다</a:t>
            </a:r>
            <a:r>
              <a:rPr lang="en-US" altLang="ko-KR" sz="1000" dirty="0">
                <a:solidFill>
                  <a:schemeClr val="tx2"/>
                </a:solidFill>
              </a:rPr>
              <a:t>. </a:t>
            </a:r>
            <a:r>
              <a:rPr lang="ko-KR" altLang="en-US" sz="1000" dirty="0">
                <a:solidFill>
                  <a:schemeClr val="tx2"/>
                </a:solidFill>
              </a:rPr>
              <a:t>이 경우 “</a:t>
            </a:r>
            <a:r>
              <a:rPr lang="ko-KR" altLang="en-US" sz="1000" dirty="0" err="1">
                <a:solidFill>
                  <a:schemeClr val="tx2"/>
                </a:solidFill>
              </a:rPr>
              <a:t>분할”은</a:t>
            </a:r>
            <a:r>
              <a:rPr lang="ko-KR" altLang="en-US" sz="1000" dirty="0">
                <a:solidFill>
                  <a:schemeClr val="tx2"/>
                </a:solidFill>
              </a:rPr>
              <a:t> “</a:t>
            </a:r>
            <a:r>
              <a:rPr lang="ko-KR" altLang="en-US" sz="1000" dirty="0" err="1">
                <a:solidFill>
                  <a:schemeClr val="tx2"/>
                </a:solidFill>
              </a:rPr>
              <a:t>분리”로</a:t>
            </a:r>
            <a:r>
              <a:rPr lang="en-US" altLang="ko-KR" sz="1000" dirty="0">
                <a:solidFill>
                  <a:schemeClr val="tx2"/>
                </a:solidFill>
              </a:rPr>
              <a:t>, “</a:t>
            </a:r>
            <a:r>
              <a:rPr lang="ko-KR" altLang="en-US" sz="1000" dirty="0" err="1">
                <a:solidFill>
                  <a:schemeClr val="tx2"/>
                </a:solidFill>
              </a:rPr>
              <a:t>분할출원”은</a:t>
            </a:r>
            <a:r>
              <a:rPr lang="ko-KR" altLang="en-US" sz="1000" dirty="0">
                <a:solidFill>
                  <a:schemeClr val="tx2"/>
                </a:solidFill>
              </a:rPr>
              <a:t> “</a:t>
            </a:r>
            <a:r>
              <a:rPr lang="ko-KR" altLang="en-US" sz="1000" dirty="0" err="1">
                <a:solidFill>
                  <a:schemeClr val="tx2"/>
                </a:solidFill>
              </a:rPr>
              <a:t>분리출원”으로</a:t>
            </a:r>
            <a:r>
              <a:rPr lang="ko-KR" altLang="en-US" sz="1000" dirty="0">
                <a:solidFill>
                  <a:schemeClr val="tx2"/>
                </a:solidFill>
              </a:rPr>
              <a:t> 본다</a:t>
            </a:r>
            <a:r>
              <a:rPr lang="en-US" altLang="ko-KR" sz="1000" dirty="0">
                <a:solidFill>
                  <a:schemeClr val="tx2"/>
                </a:solidFill>
              </a:rPr>
              <a:t>.</a:t>
            </a: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r>
              <a:rPr lang="en-US" altLang="ko-KR" sz="1000" dirty="0">
                <a:solidFill>
                  <a:schemeClr val="tx2"/>
                </a:solidFill>
              </a:rPr>
              <a:t>③ </a:t>
            </a:r>
            <a:r>
              <a:rPr lang="ko-KR" altLang="en-US" sz="1000" dirty="0">
                <a:solidFill>
                  <a:schemeClr val="tx2"/>
                </a:solidFill>
              </a:rPr>
              <a:t>분리출원을 하는 경우에는 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2</a:t>
            </a:r>
            <a:r>
              <a:rPr lang="ko-KR" altLang="en-US" sz="1000" dirty="0">
                <a:solidFill>
                  <a:schemeClr val="tx2"/>
                </a:solidFill>
              </a:rPr>
              <a:t>제</a:t>
            </a:r>
            <a:r>
              <a:rPr lang="en-US" altLang="ko-KR" sz="1000" dirty="0">
                <a:solidFill>
                  <a:schemeClr val="tx2"/>
                </a:solidFill>
              </a:rPr>
              <a:t>1</a:t>
            </a:r>
            <a:r>
              <a:rPr lang="ko-KR" altLang="en-US" sz="1000" dirty="0">
                <a:solidFill>
                  <a:schemeClr val="tx2"/>
                </a:solidFill>
              </a:rPr>
              <a:t>항 후단 또는 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3</a:t>
            </a:r>
            <a:r>
              <a:rPr lang="ko-KR" altLang="en-US" sz="1000" dirty="0">
                <a:solidFill>
                  <a:schemeClr val="tx2"/>
                </a:solidFill>
              </a:rPr>
              <a:t>제</a:t>
            </a:r>
            <a:r>
              <a:rPr lang="en-US" altLang="ko-KR" sz="1000" dirty="0">
                <a:solidFill>
                  <a:schemeClr val="tx2"/>
                </a:solidFill>
              </a:rPr>
              <a:t>1</a:t>
            </a:r>
            <a:r>
              <a:rPr lang="ko-KR" altLang="en-US" sz="1000" dirty="0">
                <a:solidFill>
                  <a:schemeClr val="tx2"/>
                </a:solidFill>
              </a:rPr>
              <a:t>항에도 불구하고 </a:t>
            </a:r>
            <a:r>
              <a:rPr lang="ko-KR" altLang="en-US" sz="1000" dirty="0" err="1">
                <a:solidFill>
                  <a:schemeClr val="tx2"/>
                </a:solidFill>
              </a:rPr>
              <a:t>특허출원서에</a:t>
            </a:r>
            <a:r>
              <a:rPr lang="ko-KR" altLang="en-US" sz="1000" dirty="0">
                <a:solidFill>
                  <a:schemeClr val="tx2"/>
                </a:solidFill>
              </a:rPr>
              <a:t> 최초로 첨부한 명세서에 청구범위를 적지 아니하거나 명세서 및 도면</a:t>
            </a:r>
            <a:r>
              <a:rPr lang="en-US" altLang="ko-KR" sz="1000" dirty="0">
                <a:solidFill>
                  <a:schemeClr val="tx2"/>
                </a:solidFill>
              </a:rPr>
              <a:t>(</a:t>
            </a:r>
            <a:r>
              <a:rPr lang="ko-KR" altLang="en-US" sz="1000" dirty="0">
                <a:solidFill>
                  <a:schemeClr val="tx2"/>
                </a:solidFill>
              </a:rPr>
              <a:t>도면 중 설명부분에 한정한다</a:t>
            </a:r>
            <a:r>
              <a:rPr lang="en-US" altLang="ko-KR" sz="1000" dirty="0">
                <a:solidFill>
                  <a:schemeClr val="tx2"/>
                </a:solidFill>
              </a:rPr>
              <a:t>)</a:t>
            </a:r>
            <a:r>
              <a:rPr lang="ko-KR" altLang="en-US" sz="1000" dirty="0">
                <a:solidFill>
                  <a:schemeClr val="tx2"/>
                </a:solidFill>
              </a:rPr>
              <a:t>을 국어가 아닌 언어로 적을 수 없다</a:t>
            </a:r>
            <a:r>
              <a:rPr lang="en-US" altLang="ko-KR" sz="1000" dirty="0">
                <a:solidFill>
                  <a:schemeClr val="tx2"/>
                </a:solidFill>
              </a:rPr>
              <a:t>.</a:t>
            </a: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r>
              <a:rPr lang="en-US" altLang="ko-KR" sz="1000" dirty="0">
                <a:solidFill>
                  <a:schemeClr val="tx2"/>
                </a:solidFill>
              </a:rPr>
              <a:t>④ </a:t>
            </a:r>
            <a:r>
              <a:rPr lang="ko-KR" altLang="en-US" sz="1000" dirty="0">
                <a:solidFill>
                  <a:schemeClr val="tx2"/>
                </a:solidFill>
              </a:rPr>
              <a:t>분리출원은 새로운 분리출원</a:t>
            </a:r>
            <a:r>
              <a:rPr lang="en-US" altLang="ko-KR" sz="1000" dirty="0">
                <a:solidFill>
                  <a:schemeClr val="tx2"/>
                </a:solidFill>
              </a:rPr>
              <a:t>, </a:t>
            </a:r>
            <a:r>
              <a:rPr lang="ko-KR" altLang="en-US" sz="1000" dirty="0">
                <a:solidFill>
                  <a:schemeClr val="tx2"/>
                </a:solidFill>
              </a:rPr>
              <a:t>분할출원 또는 「실용신안법」 제</a:t>
            </a:r>
            <a:r>
              <a:rPr lang="en-US" altLang="ko-KR" sz="1000" dirty="0">
                <a:solidFill>
                  <a:schemeClr val="tx2"/>
                </a:solidFill>
              </a:rPr>
              <a:t>10</a:t>
            </a:r>
            <a:r>
              <a:rPr lang="ko-KR" altLang="en-US" sz="1000" dirty="0">
                <a:solidFill>
                  <a:schemeClr val="tx2"/>
                </a:solidFill>
              </a:rPr>
              <a:t>조에 따른 변경출원의 기초가 될 수 없다</a:t>
            </a:r>
            <a:r>
              <a:rPr lang="en-US" altLang="ko-KR" sz="1000" dirty="0">
                <a:solidFill>
                  <a:schemeClr val="tx2"/>
                </a:solidFill>
              </a:rPr>
              <a:t>.</a:t>
            </a:r>
          </a:p>
        </p:txBody>
      </p:sp>
      <p:cxnSp>
        <p:nvCxnSpPr>
          <p:cNvPr id="8" name="직선 연결선 7">
            <a:extLst>
              <a:ext uri="{FF2B5EF4-FFF2-40B4-BE49-F238E27FC236}">
                <a16:creationId xmlns:a16="http://schemas.microsoft.com/office/drawing/2014/main" id="{AFBD77F7-A6B6-4BA8-A6D5-8F72B8BF4C96}"/>
              </a:ext>
            </a:extLst>
          </p:cNvPr>
          <p:cNvCxnSpPr/>
          <p:nvPr/>
        </p:nvCxnSpPr>
        <p:spPr>
          <a:xfrm>
            <a:off x="6096000" y="870585"/>
            <a:ext cx="0" cy="572991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C9CF0C8C-6F8B-4C42-8955-BE0064E6CE53}"/>
              </a:ext>
            </a:extLst>
          </p:cNvPr>
          <p:cNvSpPr/>
          <p:nvPr/>
        </p:nvSpPr>
        <p:spPr>
          <a:xfrm>
            <a:off x="77874" y="2536166"/>
            <a:ext cx="5934737" cy="245852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D2D02987-B8F0-4E00-92D4-D676F56A247E}"/>
              </a:ext>
            </a:extLst>
          </p:cNvPr>
          <p:cNvSpPr/>
          <p:nvPr/>
        </p:nvSpPr>
        <p:spPr>
          <a:xfrm>
            <a:off x="6158713" y="2700068"/>
            <a:ext cx="5934737" cy="37956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직사각형 12">
            <a:extLst>
              <a:ext uri="{FF2B5EF4-FFF2-40B4-BE49-F238E27FC236}">
                <a16:creationId xmlns:a16="http://schemas.microsoft.com/office/drawing/2014/main" id="{0BDF4273-5211-46B7-AF5F-69E067CB1BA0}"/>
              </a:ext>
            </a:extLst>
          </p:cNvPr>
          <p:cNvSpPr/>
          <p:nvPr/>
        </p:nvSpPr>
        <p:spPr>
          <a:xfrm>
            <a:off x="77874" y="5106837"/>
            <a:ext cx="5934737" cy="352669"/>
          </a:xfrm>
          <a:prstGeom prst="rect">
            <a:avLst/>
          </a:prstGeom>
          <a:no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곱하기 기호 11">
            <a:extLst>
              <a:ext uri="{FF2B5EF4-FFF2-40B4-BE49-F238E27FC236}">
                <a16:creationId xmlns:a16="http://schemas.microsoft.com/office/drawing/2014/main" id="{7EF01681-57EB-4EF0-B1A2-A9F9D6D5313B}"/>
              </a:ext>
            </a:extLst>
          </p:cNvPr>
          <p:cNvSpPr/>
          <p:nvPr/>
        </p:nvSpPr>
        <p:spPr>
          <a:xfrm>
            <a:off x="8439149" y="4994694"/>
            <a:ext cx="561975" cy="561975"/>
          </a:xfrm>
          <a:prstGeom prst="mathMultiply">
            <a:avLst>
              <a:gd name="adj1" fmla="val 8266"/>
            </a:avLst>
          </a:prstGeom>
          <a:solidFill>
            <a:schemeClr val="tx2"/>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직사각형 14">
            <a:extLst>
              <a:ext uri="{FF2B5EF4-FFF2-40B4-BE49-F238E27FC236}">
                <a16:creationId xmlns:a16="http://schemas.microsoft.com/office/drawing/2014/main" id="{A69B4868-C7E9-4BB4-BE13-7F7DD3021501}"/>
              </a:ext>
            </a:extLst>
          </p:cNvPr>
          <p:cNvSpPr/>
          <p:nvPr/>
        </p:nvSpPr>
        <p:spPr>
          <a:xfrm>
            <a:off x="77874" y="5540184"/>
            <a:ext cx="5934737" cy="1060313"/>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직사각형 15">
            <a:extLst>
              <a:ext uri="{FF2B5EF4-FFF2-40B4-BE49-F238E27FC236}">
                <a16:creationId xmlns:a16="http://schemas.microsoft.com/office/drawing/2014/main" id="{D58661D8-1721-44D9-BF3D-BE97D1F7ABC3}"/>
              </a:ext>
            </a:extLst>
          </p:cNvPr>
          <p:cNvSpPr/>
          <p:nvPr/>
        </p:nvSpPr>
        <p:spPr>
          <a:xfrm>
            <a:off x="6179388" y="5540185"/>
            <a:ext cx="5934737" cy="561976"/>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7" name="직선 연결선 16">
            <a:extLst>
              <a:ext uri="{FF2B5EF4-FFF2-40B4-BE49-F238E27FC236}">
                <a16:creationId xmlns:a16="http://schemas.microsoft.com/office/drawing/2014/main" id="{EC9000D2-9FEE-4C43-BEFE-A51D032E747A}"/>
              </a:ext>
            </a:extLst>
          </p:cNvPr>
          <p:cNvCxnSpPr>
            <a:stCxn id="6" idx="3"/>
            <a:endCxn id="10" idx="1"/>
          </p:cNvCxnSpPr>
          <p:nvPr/>
        </p:nvCxnSpPr>
        <p:spPr>
          <a:xfrm flipV="1">
            <a:off x="6012611" y="2889849"/>
            <a:ext cx="146102" cy="875581"/>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9357A347-CF0A-4C47-81A5-CFFD0A1113C9}"/>
              </a:ext>
            </a:extLst>
          </p:cNvPr>
          <p:cNvCxnSpPr>
            <a:cxnSpLocks/>
            <a:stCxn id="13" idx="3"/>
          </p:cNvCxnSpPr>
          <p:nvPr/>
        </p:nvCxnSpPr>
        <p:spPr>
          <a:xfrm flipV="1">
            <a:off x="6012611" y="5268044"/>
            <a:ext cx="2540839" cy="15128"/>
          </a:xfrm>
          <a:prstGeom prst="line">
            <a:avLst/>
          </a:prstGeom>
          <a:ln w="38100">
            <a:solidFill>
              <a:schemeClr val="accent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직선 연결선 22">
            <a:extLst>
              <a:ext uri="{FF2B5EF4-FFF2-40B4-BE49-F238E27FC236}">
                <a16:creationId xmlns:a16="http://schemas.microsoft.com/office/drawing/2014/main" id="{AFFC31B9-FBEB-4F12-B578-792EC0CC7028}"/>
              </a:ext>
            </a:extLst>
          </p:cNvPr>
          <p:cNvCxnSpPr>
            <a:cxnSpLocks/>
            <a:endCxn id="16" idx="1"/>
          </p:cNvCxnSpPr>
          <p:nvPr/>
        </p:nvCxnSpPr>
        <p:spPr>
          <a:xfrm>
            <a:off x="6012611" y="5821173"/>
            <a:ext cx="166777" cy="0"/>
          </a:xfrm>
          <a:prstGeom prst="line">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42874525"/>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2" name="직선 연결선 151"/>
          <p:cNvCxnSpPr/>
          <p:nvPr/>
        </p:nvCxnSpPr>
        <p:spPr>
          <a:xfrm>
            <a:off x="10596831" y="3352800"/>
            <a:ext cx="0" cy="303108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직선 연결선 149"/>
          <p:cNvCxnSpPr/>
          <p:nvPr/>
        </p:nvCxnSpPr>
        <p:spPr>
          <a:xfrm>
            <a:off x="9063306" y="3352800"/>
            <a:ext cx="0" cy="303108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4247147" y="4318341"/>
            <a:ext cx="0" cy="233934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직선 연결선 93"/>
          <p:cNvCxnSpPr/>
          <p:nvPr/>
        </p:nvCxnSpPr>
        <p:spPr>
          <a:xfrm>
            <a:off x="2052906" y="4318341"/>
            <a:ext cx="0" cy="233934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제목 3"/>
          <p:cNvSpPr>
            <a:spLocks noGrp="1"/>
          </p:cNvSpPr>
          <p:nvPr>
            <p:ph type="title"/>
          </p:nvPr>
        </p:nvSpPr>
        <p:spPr/>
        <p:txBody>
          <a:bodyPr/>
          <a:lstStyle/>
          <a:p>
            <a:r>
              <a:rPr lang="ko-KR" altLang="en-US" dirty="0"/>
              <a:t>제</a:t>
            </a:r>
            <a:r>
              <a:rPr lang="en-US" altLang="ko-KR" dirty="0"/>
              <a:t>53</a:t>
            </a:r>
            <a:r>
              <a:rPr lang="ko-KR" altLang="en-US" dirty="0"/>
              <a:t>조</a:t>
            </a:r>
          </a:p>
        </p:txBody>
      </p:sp>
      <p:sp>
        <p:nvSpPr>
          <p:cNvPr id="5" name="텍스트 개체 틀 4"/>
          <p:cNvSpPr>
            <a:spLocks noGrp="1"/>
          </p:cNvSpPr>
          <p:nvPr>
            <p:ph type="body" sz="quarter" idx="13"/>
          </p:nvPr>
        </p:nvSpPr>
        <p:spPr/>
        <p:txBody>
          <a:bodyPr/>
          <a:lstStyle/>
          <a:p>
            <a:r>
              <a:rPr lang="ko-KR" altLang="en-US" dirty="0" err="1"/>
              <a:t>변경출원의</a:t>
            </a:r>
            <a:r>
              <a:rPr lang="ko-KR" altLang="en-US" dirty="0"/>
              <a:t> 취지</a:t>
            </a:r>
          </a:p>
        </p:txBody>
      </p:sp>
      <p:sp>
        <p:nvSpPr>
          <p:cNvPr id="47" name="TextBox 46"/>
          <p:cNvSpPr txBox="1"/>
          <p:nvPr/>
        </p:nvSpPr>
        <p:spPr>
          <a:xfrm>
            <a:off x="251519" y="1427277"/>
            <a:ext cx="5554921" cy="1425511"/>
          </a:xfrm>
          <a:prstGeom prst="rect">
            <a:avLst/>
          </a:prstGeom>
          <a:solidFill>
            <a:schemeClr val="accent4">
              <a:lumMod val="20000"/>
              <a:lumOff val="80000"/>
            </a:schemeClr>
          </a:solidFill>
          <a:ln>
            <a:solidFill>
              <a:schemeClr val="accent6">
                <a:lumMod val="50000"/>
              </a:schemeClr>
            </a:solidFill>
          </a:ln>
        </p:spPr>
        <p:txBody>
          <a:bodyPr wrap="square" rtlCol="0" anchor="ctr">
            <a:noAutofit/>
          </a:bodyPr>
          <a:lstStyle/>
          <a:p>
            <a:r>
              <a:rPr lang="ko-KR" altLang="en-US" sz="1200" dirty="0">
                <a:solidFill>
                  <a:schemeClr val="tx2"/>
                </a:solidFill>
                <a:latin typeface="+mn-ea"/>
              </a:rPr>
              <a:t>특허로서 보호받기 위해서는 단순히 발명일 것을 요하나 실용신안으로서 보호받기 위해서는 </a:t>
            </a:r>
            <a:r>
              <a:rPr lang="ko-KR" altLang="en-US" sz="1200" dirty="0">
                <a:solidFill>
                  <a:srgbClr val="FF0000"/>
                </a:solidFill>
                <a:latin typeface="+mn-ea"/>
              </a:rPr>
              <a:t>물품의 </a:t>
            </a:r>
            <a:r>
              <a:rPr lang="ko-KR" altLang="en-US" sz="1200" dirty="0" err="1">
                <a:solidFill>
                  <a:srgbClr val="FF0000"/>
                </a:solidFill>
                <a:latin typeface="+mn-ea"/>
              </a:rPr>
              <a:t>형상ㆍ구조ㆍ조합에</a:t>
            </a:r>
            <a:r>
              <a:rPr lang="ko-KR" altLang="en-US" sz="1200" dirty="0">
                <a:solidFill>
                  <a:srgbClr val="FF0000"/>
                </a:solidFill>
                <a:latin typeface="+mn-ea"/>
              </a:rPr>
              <a:t> 관한 </a:t>
            </a:r>
            <a:r>
              <a:rPr lang="ko-KR" altLang="en-US" sz="1200" dirty="0" err="1">
                <a:solidFill>
                  <a:srgbClr val="FF0000"/>
                </a:solidFill>
                <a:latin typeface="+mn-ea"/>
              </a:rPr>
              <a:t>고안</a:t>
            </a:r>
            <a:r>
              <a:rPr lang="ko-KR" altLang="en-US" sz="1200" dirty="0" err="1">
                <a:solidFill>
                  <a:schemeClr val="tx2"/>
                </a:solidFill>
                <a:latin typeface="+mn-ea"/>
              </a:rPr>
              <a:t>이어야</a:t>
            </a:r>
            <a:r>
              <a:rPr lang="ko-KR" altLang="en-US" sz="1200" dirty="0">
                <a:solidFill>
                  <a:schemeClr val="tx2"/>
                </a:solidFill>
                <a:latin typeface="+mn-ea"/>
              </a:rPr>
              <a:t> 한다</a:t>
            </a:r>
            <a:r>
              <a:rPr lang="en-US" altLang="ko-KR" sz="1200" dirty="0">
                <a:solidFill>
                  <a:schemeClr val="tx2"/>
                </a:solidFill>
                <a:latin typeface="+mn-ea"/>
              </a:rPr>
              <a:t>. </a:t>
            </a:r>
            <a:r>
              <a:rPr lang="ko-KR" altLang="en-US" sz="1200" dirty="0">
                <a:solidFill>
                  <a:schemeClr val="tx2"/>
                </a:solidFill>
                <a:latin typeface="+mn-ea"/>
              </a:rPr>
              <a:t>그런데</a:t>
            </a:r>
            <a:r>
              <a:rPr lang="en-US" altLang="ko-KR" sz="1200" dirty="0">
                <a:solidFill>
                  <a:schemeClr val="tx2"/>
                </a:solidFill>
                <a:latin typeface="+mn-ea"/>
              </a:rPr>
              <a:t>, </a:t>
            </a:r>
            <a:r>
              <a:rPr lang="ko-KR" altLang="en-US" sz="1200" dirty="0" err="1">
                <a:solidFill>
                  <a:schemeClr val="tx2"/>
                </a:solidFill>
                <a:latin typeface="+mn-ea"/>
              </a:rPr>
              <a:t>출원인이</a:t>
            </a:r>
            <a:r>
              <a:rPr lang="ko-KR" altLang="en-US" sz="1200" dirty="0">
                <a:solidFill>
                  <a:schemeClr val="tx2"/>
                </a:solidFill>
                <a:latin typeface="+mn-ea"/>
              </a:rPr>
              <a:t> 착오로 물질이나 </a:t>
            </a:r>
            <a:r>
              <a:rPr lang="ko-KR" altLang="en-US" sz="1200" dirty="0" err="1">
                <a:solidFill>
                  <a:schemeClr val="tx2"/>
                </a:solidFill>
                <a:latin typeface="+mn-ea"/>
              </a:rPr>
              <a:t>방법발명을</a:t>
            </a:r>
            <a:r>
              <a:rPr lang="ko-KR" altLang="en-US" sz="1200" dirty="0">
                <a:solidFill>
                  <a:schemeClr val="tx2"/>
                </a:solidFill>
                <a:latin typeface="+mn-ea"/>
              </a:rPr>
              <a:t> 실용신안등록출원으로 하는 경우가 있다</a:t>
            </a:r>
            <a:r>
              <a:rPr lang="en-US" altLang="ko-KR" sz="1200" dirty="0">
                <a:solidFill>
                  <a:schemeClr val="tx2"/>
                </a:solidFill>
                <a:latin typeface="+mn-ea"/>
              </a:rPr>
              <a:t>. </a:t>
            </a:r>
            <a:r>
              <a:rPr lang="ko-KR" altLang="en-US" sz="1200" dirty="0">
                <a:solidFill>
                  <a:schemeClr val="tx2"/>
                </a:solidFill>
                <a:latin typeface="+mn-ea"/>
              </a:rPr>
              <a:t>이와 같은 단순한 </a:t>
            </a:r>
            <a:r>
              <a:rPr lang="ko-KR" altLang="en-US" sz="1200" dirty="0" err="1">
                <a:solidFill>
                  <a:schemeClr val="tx2"/>
                </a:solidFill>
                <a:latin typeface="+mn-ea"/>
              </a:rPr>
              <a:t>출원형식</a:t>
            </a:r>
            <a:r>
              <a:rPr lang="ko-KR" altLang="en-US" sz="1200" dirty="0">
                <a:solidFill>
                  <a:schemeClr val="tx2"/>
                </a:solidFill>
                <a:latin typeface="+mn-ea"/>
              </a:rPr>
              <a:t>  선택의 과오를 이유로 거절하고 </a:t>
            </a:r>
            <a:r>
              <a:rPr lang="ko-KR" altLang="en-US" sz="1200" dirty="0" err="1">
                <a:solidFill>
                  <a:schemeClr val="tx2"/>
                </a:solidFill>
                <a:latin typeface="+mn-ea"/>
              </a:rPr>
              <a:t>재출원하게</a:t>
            </a:r>
            <a:r>
              <a:rPr lang="ko-KR" altLang="en-US" sz="1200" dirty="0">
                <a:solidFill>
                  <a:schemeClr val="tx2"/>
                </a:solidFill>
                <a:latin typeface="+mn-ea"/>
              </a:rPr>
              <a:t> 한다면</a:t>
            </a:r>
            <a:r>
              <a:rPr lang="en-US" altLang="ko-KR" sz="1200" dirty="0">
                <a:solidFill>
                  <a:schemeClr val="tx2"/>
                </a:solidFill>
                <a:latin typeface="+mn-ea"/>
              </a:rPr>
              <a:t>, </a:t>
            </a:r>
            <a:r>
              <a:rPr lang="ko-KR" altLang="en-US" sz="1200" dirty="0">
                <a:solidFill>
                  <a:schemeClr val="tx2"/>
                </a:solidFill>
                <a:latin typeface="+mn-ea"/>
              </a:rPr>
              <a:t>우리 법제가 선출원주의를 채용하고 있음을 감안할 때 </a:t>
            </a:r>
            <a:r>
              <a:rPr lang="ko-KR" altLang="en-US" sz="1200" dirty="0" err="1">
                <a:solidFill>
                  <a:schemeClr val="tx2"/>
                </a:solidFill>
                <a:latin typeface="+mn-ea"/>
              </a:rPr>
              <a:t>출원인에게</a:t>
            </a:r>
            <a:r>
              <a:rPr lang="ko-KR" altLang="en-US" sz="1200" dirty="0">
                <a:solidFill>
                  <a:schemeClr val="tx2"/>
                </a:solidFill>
                <a:latin typeface="+mn-ea"/>
              </a:rPr>
              <a:t> </a:t>
            </a:r>
            <a:r>
              <a:rPr lang="ko-KR" altLang="en-US" sz="1200" dirty="0" err="1">
                <a:solidFill>
                  <a:schemeClr val="tx2"/>
                </a:solidFill>
                <a:latin typeface="+mn-ea"/>
              </a:rPr>
              <a:t>가혹하다할</a:t>
            </a:r>
            <a:r>
              <a:rPr lang="ko-KR" altLang="en-US" sz="1200" dirty="0">
                <a:solidFill>
                  <a:schemeClr val="tx2"/>
                </a:solidFill>
                <a:latin typeface="+mn-ea"/>
              </a:rPr>
              <a:t> 것이다</a:t>
            </a:r>
            <a:r>
              <a:rPr lang="en-US" altLang="ko-KR" sz="1200" dirty="0">
                <a:solidFill>
                  <a:schemeClr val="tx2"/>
                </a:solidFill>
                <a:latin typeface="+mn-ea"/>
              </a:rPr>
              <a:t>.</a:t>
            </a:r>
          </a:p>
        </p:txBody>
      </p:sp>
      <p:sp>
        <p:nvSpPr>
          <p:cNvPr id="49" name="TextBox 48"/>
          <p:cNvSpPr txBox="1"/>
          <p:nvPr/>
        </p:nvSpPr>
        <p:spPr>
          <a:xfrm>
            <a:off x="6497427" y="1427277"/>
            <a:ext cx="5351932" cy="1425511"/>
          </a:xfrm>
          <a:prstGeom prst="rect">
            <a:avLst/>
          </a:prstGeom>
          <a:solidFill>
            <a:schemeClr val="accent4">
              <a:lumMod val="20000"/>
              <a:lumOff val="80000"/>
            </a:schemeClr>
          </a:solidFill>
          <a:ln>
            <a:solidFill>
              <a:schemeClr val="accent6">
                <a:lumMod val="50000"/>
              </a:schemeClr>
            </a:solidFill>
          </a:ln>
        </p:spPr>
        <p:txBody>
          <a:bodyPr wrap="square" rtlCol="0" anchor="ctr">
            <a:noAutofit/>
          </a:bodyPr>
          <a:lstStyle/>
          <a:p>
            <a:r>
              <a:rPr lang="ko-KR" altLang="en-US" sz="1200" dirty="0">
                <a:solidFill>
                  <a:schemeClr val="tx2"/>
                </a:solidFill>
                <a:latin typeface="+mn-ea"/>
              </a:rPr>
              <a:t>변경출원제도는 </a:t>
            </a:r>
            <a:r>
              <a:rPr lang="ko-KR" altLang="en-US" sz="1200" dirty="0" err="1">
                <a:solidFill>
                  <a:schemeClr val="tx2"/>
                </a:solidFill>
                <a:latin typeface="+mn-ea"/>
              </a:rPr>
              <a:t>물품성이</a:t>
            </a:r>
            <a:r>
              <a:rPr lang="ko-KR" altLang="en-US" sz="1200" dirty="0">
                <a:solidFill>
                  <a:schemeClr val="tx2"/>
                </a:solidFill>
                <a:latin typeface="+mn-ea"/>
              </a:rPr>
              <a:t> 있는 </a:t>
            </a:r>
            <a:r>
              <a:rPr lang="ko-KR" altLang="en-US" sz="1200" dirty="0" err="1">
                <a:solidFill>
                  <a:schemeClr val="tx2"/>
                </a:solidFill>
                <a:latin typeface="+mn-ea"/>
              </a:rPr>
              <a:t>물건발명에</a:t>
            </a:r>
            <a:r>
              <a:rPr lang="ko-KR" altLang="en-US" sz="1200" dirty="0">
                <a:solidFill>
                  <a:schemeClr val="tx2"/>
                </a:solidFill>
                <a:latin typeface="+mn-ea"/>
              </a:rPr>
              <a:t> 대한 특허출원이 진보성이 없다는 이유로 </a:t>
            </a:r>
            <a:r>
              <a:rPr lang="ko-KR" altLang="en-US" sz="1200" dirty="0" err="1">
                <a:solidFill>
                  <a:schemeClr val="tx2"/>
                </a:solidFill>
                <a:latin typeface="+mn-ea"/>
              </a:rPr>
              <a:t>거절결정이</a:t>
            </a:r>
            <a:r>
              <a:rPr lang="ko-KR" altLang="en-US" sz="1200" dirty="0">
                <a:solidFill>
                  <a:schemeClr val="tx2"/>
                </a:solidFill>
                <a:latin typeface="+mn-ea"/>
              </a:rPr>
              <a:t> 확정될 가능성이 있는 경우 이를 극복하기 위한 방안으로서 의미가 있다고  할 것이다</a:t>
            </a:r>
            <a:r>
              <a:rPr lang="en-US" altLang="ko-KR" sz="1200" dirty="0">
                <a:solidFill>
                  <a:schemeClr val="tx2"/>
                </a:solidFill>
                <a:latin typeface="+mn-ea"/>
              </a:rPr>
              <a:t>. </a:t>
            </a:r>
            <a:r>
              <a:rPr lang="ko-KR" altLang="en-US" sz="1200" dirty="0">
                <a:solidFill>
                  <a:schemeClr val="tx2"/>
                </a:solidFill>
                <a:latin typeface="+mn-ea"/>
              </a:rPr>
              <a:t>이는 진보성을 판단할 때 </a:t>
            </a:r>
            <a:r>
              <a:rPr lang="ko-KR" altLang="en-US" sz="1200" dirty="0">
                <a:solidFill>
                  <a:srgbClr val="FF0000"/>
                </a:solidFill>
                <a:latin typeface="+mn-ea"/>
              </a:rPr>
              <a:t>실용신안법은 특허법보다 낮은 수준인 「극히 </a:t>
            </a:r>
            <a:r>
              <a:rPr lang="ko-KR" altLang="en-US" sz="1200" dirty="0" err="1">
                <a:solidFill>
                  <a:srgbClr val="FF0000"/>
                </a:solidFill>
                <a:latin typeface="+mn-ea"/>
              </a:rPr>
              <a:t>용이성」을</a:t>
            </a:r>
            <a:r>
              <a:rPr lang="ko-KR" altLang="en-US" sz="1200" dirty="0">
                <a:solidFill>
                  <a:srgbClr val="FF0000"/>
                </a:solidFill>
                <a:latin typeface="+mn-ea"/>
              </a:rPr>
              <a:t> 요구</a:t>
            </a:r>
            <a:r>
              <a:rPr lang="ko-KR" altLang="en-US" sz="1200" dirty="0">
                <a:solidFill>
                  <a:schemeClr val="tx2"/>
                </a:solidFill>
                <a:latin typeface="+mn-ea"/>
              </a:rPr>
              <a:t>하고 있기 때문이다</a:t>
            </a:r>
            <a:r>
              <a:rPr lang="en-US" altLang="ko-KR" sz="1200" dirty="0">
                <a:solidFill>
                  <a:schemeClr val="tx2"/>
                </a:solidFill>
                <a:latin typeface="+mn-ea"/>
              </a:rPr>
              <a:t>. </a:t>
            </a:r>
          </a:p>
        </p:txBody>
      </p:sp>
      <p:cxnSp>
        <p:nvCxnSpPr>
          <p:cNvPr id="100" name="직선 연결선 99"/>
          <p:cNvCxnSpPr/>
          <p:nvPr/>
        </p:nvCxnSpPr>
        <p:spPr>
          <a:xfrm>
            <a:off x="6109281" y="1095555"/>
            <a:ext cx="0" cy="553598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Rectangle 5"/>
          <p:cNvSpPr>
            <a:spLocks noChangeArrowheads="1"/>
          </p:cNvSpPr>
          <p:nvPr/>
        </p:nvSpPr>
        <p:spPr bwMode="auto">
          <a:xfrm>
            <a:off x="347687" y="1265255"/>
            <a:ext cx="2437695"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a:solidFill>
                  <a:schemeClr val="bg1"/>
                </a:solidFill>
                <a:latin typeface="+mj-ea"/>
                <a:ea typeface="+mj-ea"/>
              </a:rPr>
              <a:t>출원형식선택의 과오 치유</a:t>
            </a:r>
            <a:endParaRPr lang="ko-KR" altLang="en-US" sz="1600" b="0" dirty="0">
              <a:solidFill>
                <a:schemeClr val="bg1"/>
              </a:solidFill>
              <a:latin typeface="+mj-ea"/>
              <a:ea typeface="+mj-ea"/>
            </a:endParaRPr>
          </a:p>
        </p:txBody>
      </p:sp>
      <p:sp>
        <p:nvSpPr>
          <p:cNvPr id="102" name="Rectangle 5"/>
          <p:cNvSpPr>
            <a:spLocks noChangeArrowheads="1"/>
          </p:cNvSpPr>
          <p:nvPr/>
        </p:nvSpPr>
        <p:spPr bwMode="auto">
          <a:xfrm>
            <a:off x="6637457" y="1265255"/>
            <a:ext cx="2492882"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a:solidFill>
                  <a:schemeClr val="bg1"/>
                </a:solidFill>
                <a:latin typeface="+mj-ea"/>
                <a:ea typeface="+mj-ea"/>
              </a:rPr>
              <a:t>진보성 위반 극복 위한 방안</a:t>
            </a:r>
            <a:endParaRPr lang="ko-KR" altLang="en-US" sz="1600" b="0" dirty="0">
              <a:solidFill>
                <a:schemeClr val="bg1"/>
              </a:solidFill>
              <a:latin typeface="+mj-ea"/>
              <a:ea typeface="+mj-ea"/>
            </a:endParaRPr>
          </a:p>
        </p:txBody>
      </p:sp>
      <p:graphicFrame>
        <p:nvGraphicFramePr>
          <p:cNvPr id="2" name="표 1"/>
          <p:cNvGraphicFramePr>
            <a:graphicFrameLocks noGrp="1"/>
          </p:cNvGraphicFramePr>
          <p:nvPr/>
        </p:nvGraphicFramePr>
        <p:xfrm>
          <a:off x="283354" y="2977664"/>
          <a:ext cx="5477046" cy="1257300"/>
        </p:xfrm>
        <a:graphic>
          <a:graphicData uri="http://schemas.openxmlformats.org/drawingml/2006/table">
            <a:tbl>
              <a:tblPr>
                <a:tableStyleId>{8799B23B-EC83-4686-B30A-512413B5E67A}</a:tableStyleId>
              </a:tblPr>
              <a:tblGrid>
                <a:gridCol w="671349">
                  <a:extLst>
                    <a:ext uri="{9D8B030D-6E8A-4147-A177-3AD203B41FA5}">
                      <a16:colId xmlns:a16="http://schemas.microsoft.com/office/drawing/2014/main" val="2378668474"/>
                    </a:ext>
                  </a:extLst>
                </a:gridCol>
                <a:gridCol w="1254925">
                  <a:extLst>
                    <a:ext uri="{9D8B030D-6E8A-4147-A177-3AD203B41FA5}">
                      <a16:colId xmlns:a16="http://schemas.microsoft.com/office/drawing/2014/main" val="1115155552"/>
                    </a:ext>
                  </a:extLst>
                </a:gridCol>
                <a:gridCol w="1775386">
                  <a:extLst>
                    <a:ext uri="{9D8B030D-6E8A-4147-A177-3AD203B41FA5}">
                      <a16:colId xmlns:a16="http://schemas.microsoft.com/office/drawing/2014/main" val="3639551727"/>
                    </a:ext>
                  </a:extLst>
                </a:gridCol>
                <a:gridCol w="1775386">
                  <a:extLst>
                    <a:ext uri="{9D8B030D-6E8A-4147-A177-3AD203B41FA5}">
                      <a16:colId xmlns:a16="http://schemas.microsoft.com/office/drawing/2014/main" val="3389509322"/>
                    </a:ext>
                  </a:extLst>
                </a:gridCol>
              </a:tblGrid>
              <a:tr h="0">
                <a:tc gridSpan="2">
                  <a:txBody>
                    <a:bodyPr/>
                    <a:lstStyle/>
                    <a:p>
                      <a:pPr algn="ctr" latinLnBrk="1"/>
                      <a:r>
                        <a:rPr lang="ko-KR" altLang="en-US" sz="1050" dirty="0"/>
                        <a:t>구분</a:t>
                      </a:r>
                    </a:p>
                  </a:txBody>
                  <a:tcPr anchor="ctr">
                    <a:solidFill>
                      <a:schemeClr val="accent1">
                        <a:lumMod val="20000"/>
                        <a:lumOff val="80000"/>
                      </a:schemeClr>
                    </a:solidFill>
                  </a:tcPr>
                </a:tc>
                <a:tc hMerge="1">
                  <a:txBody>
                    <a:bodyPr/>
                    <a:lstStyle/>
                    <a:p>
                      <a:pPr latinLnBrk="1"/>
                      <a:endParaRPr lang="ko-KR" altLang="en-US" sz="1200" dirty="0"/>
                    </a:p>
                  </a:txBody>
                  <a:tcPr/>
                </a:tc>
                <a:tc>
                  <a:txBody>
                    <a:bodyPr/>
                    <a:lstStyle/>
                    <a:p>
                      <a:pPr algn="ctr" latinLnBrk="1"/>
                      <a:r>
                        <a:rPr lang="ko-KR" altLang="en-US" sz="1050" dirty="0"/>
                        <a:t>특허법 보호대상</a:t>
                      </a:r>
                    </a:p>
                  </a:txBody>
                  <a:tcPr anchor="ctr">
                    <a:solidFill>
                      <a:schemeClr val="accent1">
                        <a:lumMod val="20000"/>
                        <a:lumOff val="80000"/>
                      </a:schemeClr>
                    </a:solidFill>
                  </a:tcPr>
                </a:tc>
                <a:tc>
                  <a:txBody>
                    <a:bodyPr/>
                    <a:lstStyle/>
                    <a:p>
                      <a:pPr algn="ctr" latinLnBrk="1"/>
                      <a:r>
                        <a:rPr lang="ko-KR" altLang="en-US" sz="1050" dirty="0" err="1"/>
                        <a:t>실용신안법</a:t>
                      </a:r>
                      <a:r>
                        <a:rPr lang="ko-KR" altLang="en-US" sz="1050" dirty="0"/>
                        <a:t> 보호대상</a:t>
                      </a:r>
                    </a:p>
                  </a:txBody>
                  <a:tcPr anchor="ctr">
                    <a:solidFill>
                      <a:schemeClr val="accent1">
                        <a:lumMod val="20000"/>
                        <a:lumOff val="80000"/>
                      </a:schemeClr>
                    </a:solidFill>
                  </a:tcPr>
                </a:tc>
                <a:extLst>
                  <a:ext uri="{0D108BD9-81ED-4DB2-BD59-A6C34878D82A}">
                    <a16:rowId xmlns:a16="http://schemas.microsoft.com/office/drawing/2014/main" val="2598121434"/>
                  </a:ext>
                </a:extLst>
              </a:tr>
              <a:tr h="0">
                <a:tc rowSpan="2">
                  <a:txBody>
                    <a:bodyPr/>
                    <a:lstStyle/>
                    <a:p>
                      <a:pPr algn="ctr" latinLnBrk="1"/>
                      <a:r>
                        <a:rPr lang="ko-KR" altLang="en-US" sz="1050" dirty="0"/>
                        <a:t>물건</a:t>
                      </a:r>
                      <a:endParaRPr lang="en-US" altLang="ko-KR" sz="1050" dirty="0"/>
                    </a:p>
                    <a:p>
                      <a:pPr algn="ctr" latinLnBrk="1"/>
                      <a:r>
                        <a:rPr lang="ko-KR" altLang="en-US" sz="1050" dirty="0"/>
                        <a:t>발명</a:t>
                      </a:r>
                    </a:p>
                  </a:txBody>
                  <a:tcPr anchor="ctr"/>
                </a:tc>
                <a:tc>
                  <a:txBody>
                    <a:bodyPr/>
                    <a:lstStyle/>
                    <a:p>
                      <a:pPr algn="ctr" latinLnBrk="1"/>
                      <a:r>
                        <a:rPr lang="ko-KR" altLang="en-US" sz="1050" dirty="0"/>
                        <a:t>협의의 </a:t>
                      </a:r>
                      <a:r>
                        <a:rPr lang="ko-KR" altLang="en-US" sz="1050" dirty="0" err="1"/>
                        <a:t>물건발명</a:t>
                      </a:r>
                      <a:endParaRPr lang="ko-KR" altLang="en-US" sz="105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050" kern="1200" dirty="0">
                          <a:effectLst/>
                        </a:rPr>
                        <a:t>○</a:t>
                      </a:r>
                      <a:endParaRPr lang="ko-KR" altLang="en-US" sz="1050" kern="1200" dirty="0">
                        <a:solidFill>
                          <a:schemeClr val="dk1"/>
                        </a:solidFill>
                        <a:effectLst/>
                        <a:latin typeface="+mn-lt"/>
                        <a:ea typeface="+mn-ea"/>
                        <a:cs typeface="+mn-cs"/>
                      </a:endParaRPr>
                    </a:p>
                  </a:txBody>
                  <a:tcPr anchor="ctr"/>
                </a:tc>
                <a:tc>
                  <a:txBody>
                    <a:bodyPr/>
                    <a:lstStyle/>
                    <a:p>
                      <a:pPr algn="ctr" latinLnBrk="1"/>
                      <a:r>
                        <a:rPr lang="ko-KR" altLang="en-US" sz="1050" kern="1200" dirty="0">
                          <a:effectLst/>
                        </a:rPr>
                        <a:t>○</a:t>
                      </a:r>
                      <a:endParaRPr lang="ko-KR" altLang="en-US" sz="1050" dirty="0"/>
                    </a:p>
                  </a:txBody>
                  <a:tcPr anchor="ctr"/>
                </a:tc>
                <a:extLst>
                  <a:ext uri="{0D108BD9-81ED-4DB2-BD59-A6C34878D82A}">
                    <a16:rowId xmlns:a16="http://schemas.microsoft.com/office/drawing/2014/main" val="611720221"/>
                  </a:ext>
                </a:extLst>
              </a:tr>
              <a:tr h="0">
                <a:tc vMerge="1">
                  <a:txBody>
                    <a:bodyPr/>
                    <a:lstStyle/>
                    <a:p>
                      <a:pPr latinLnBrk="1"/>
                      <a:endParaRPr lang="ko-KR" altLang="en-US" sz="1200" dirty="0"/>
                    </a:p>
                  </a:txBody>
                  <a:tcPr/>
                </a:tc>
                <a:tc>
                  <a:txBody>
                    <a:bodyPr/>
                    <a:lstStyle/>
                    <a:p>
                      <a:pPr algn="ctr" latinLnBrk="1"/>
                      <a:r>
                        <a:rPr lang="ko-KR" altLang="en-US" sz="1050" dirty="0" err="1"/>
                        <a:t>물질발명</a:t>
                      </a:r>
                      <a:endParaRPr lang="ko-KR" altLang="en-US" sz="105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050" kern="1200" dirty="0">
                          <a:effectLst/>
                        </a:rPr>
                        <a:t>○</a:t>
                      </a:r>
                      <a:endParaRPr lang="ko-KR" altLang="en-US" sz="1050" kern="1200" dirty="0">
                        <a:solidFill>
                          <a:schemeClr val="dk1"/>
                        </a:solidFill>
                        <a:effectLst/>
                        <a:latin typeface="+mn-lt"/>
                        <a:ea typeface="+mn-ea"/>
                        <a:cs typeface="+mn-cs"/>
                      </a:endParaRP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50" b="1" kern="1200" dirty="0">
                          <a:effectLst/>
                        </a:rPr>
                        <a:t>×</a:t>
                      </a:r>
                      <a:endParaRPr lang="en-US" altLang="ko-KR" sz="1050" b="1" kern="1200" dirty="0">
                        <a:solidFill>
                          <a:schemeClr val="dk1"/>
                        </a:solidFill>
                        <a:effectLst/>
                        <a:latin typeface="+mn-lt"/>
                        <a:ea typeface="+mn-ea"/>
                        <a:cs typeface="+mn-cs"/>
                      </a:endParaRPr>
                    </a:p>
                  </a:txBody>
                  <a:tcPr anchor="ctr">
                    <a:solidFill>
                      <a:schemeClr val="bg2">
                        <a:lumMod val="90000"/>
                      </a:schemeClr>
                    </a:solidFill>
                  </a:tcPr>
                </a:tc>
                <a:extLst>
                  <a:ext uri="{0D108BD9-81ED-4DB2-BD59-A6C34878D82A}">
                    <a16:rowId xmlns:a16="http://schemas.microsoft.com/office/drawing/2014/main" val="2888701260"/>
                  </a:ext>
                </a:extLst>
              </a:tr>
              <a:tr h="0">
                <a:tc rowSpan="2">
                  <a:txBody>
                    <a:bodyPr/>
                    <a:lstStyle/>
                    <a:p>
                      <a:pPr algn="ctr" latinLnBrk="1"/>
                      <a:r>
                        <a:rPr lang="ko-KR" altLang="en-US" sz="1050" dirty="0"/>
                        <a:t>방법</a:t>
                      </a:r>
                      <a:endParaRPr lang="en-US" altLang="ko-KR" sz="1050" dirty="0"/>
                    </a:p>
                    <a:p>
                      <a:pPr algn="ctr" latinLnBrk="1"/>
                      <a:r>
                        <a:rPr lang="ko-KR" altLang="en-US" sz="1050" dirty="0"/>
                        <a:t>발명</a:t>
                      </a:r>
                    </a:p>
                  </a:txBody>
                  <a:tcPr anchor="ctr"/>
                </a:tc>
                <a:tc>
                  <a:txBody>
                    <a:bodyPr/>
                    <a:lstStyle/>
                    <a:p>
                      <a:pPr algn="ctr" latinLnBrk="1"/>
                      <a:r>
                        <a:rPr lang="ko-KR" altLang="en-US" sz="1050" dirty="0"/>
                        <a:t>통상방법발명</a:t>
                      </a:r>
                    </a:p>
                  </a:txBody>
                  <a:tcPr anchor="ctr"/>
                </a:tc>
                <a:tc>
                  <a:txBody>
                    <a:bodyPr/>
                    <a:lstStyle/>
                    <a:p>
                      <a:pPr algn="ctr" latinLnBrk="1"/>
                      <a:r>
                        <a:rPr lang="ko-KR" altLang="en-US" sz="1050" kern="1200" dirty="0">
                          <a:effectLst/>
                        </a:rPr>
                        <a:t>○</a:t>
                      </a:r>
                      <a:endParaRPr lang="ko-KR" altLang="en-US" sz="105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50" b="1" kern="1200" dirty="0">
                          <a:effectLst/>
                        </a:rPr>
                        <a:t>×</a:t>
                      </a:r>
                      <a:endParaRPr lang="en-US" altLang="ko-KR" sz="1050" b="1" kern="1200" dirty="0">
                        <a:solidFill>
                          <a:schemeClr val="dk1"/>
                        </a:solidFill>
                        <a:effectLst/>
                        <a:latin typeface="+mn-lt"/>
                        <a:ea typeface="+mn-ea"/>
                        <a:cs typeface="+mn-cs"/>
                      </a:endParaRPr>
                    </a:p>
                  </a:txBody>
                  <a:tcPr anchor="ctr">
                    <a:solidFill>
                      <a:schemeClr val="bg2">
                        <a:lumMod val="90000"/>
                      </a:schemeClr>
                    </a:solidFill>
                  </a:tcPr>
                </a:tc>
                <a:extLst>
                  <a:ext uri="{0D108BD9-81ED-4DB2-BD59-A6C34878D82A}">
                    <a16:rowId xmlns:a16="http://schemas.microsoft.com/office/drawing/2014/main" val="179773554"/>
                  </a:ext>
                </a:extLst>
              </a:tr>
              <a:tr h="0">
                <a:tc vMerge="1">
                  <a:txBody>
                    <a:bodyPr/>
                    <a:lstStyle/>
                    <a:p>
                      <a:pPr latinLnBrk="1"/>
                      <a:endParaRPr lang="ko-KR" altLang="en-US" sz="1200" dirty="0"/>
                    </a:p>
                  </a:txBody>
                  <a:tcPr/>
                </a:tc>
                <a:tc>
                  <a:txBody>
                    <a:bodyPr/>
                    <a:lstStyle/>
                    <a:p>
                      <a:pPr algn="ctr" latinLnBrk="1"/>
                      <a:r>
                        <a:rPr lang="ko-KR" altLang="en-US" sz="1050" dirty="0" err="1"/>
                        <a:t>제법발명</a:t>
                      </a:r>
                      <a:endParaRPr lang="ko-KR" altLang="en-US" sz="1050" dirty="0"/>
                    </a:p>
                  </a:txBody>
                  <a:tcPr anchor="ctr"/>
                </a:tc>
                <a:tc>
                  <a:txBody>
                    <a:bodyPr/>
                    <a:lstStyle/>
                    <a:p>
                      <a:pPr algn="ctr" latinLnBrk="1"/>
                      <a:r>
                        <a:rPr lang="ko-KR" altLang="en-US" sz="1050" kern="1200" dirty="0">
                          <a:effectLst/>
                        </a:rPr>
                        <a:t>○</a:t>
                      </a:r>
                      <a:endParaRPr lang="ko-KR" altLang="en-US" sz="105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050" b="1" kern="1200" dirty="0">
                          <a:effectLst/>
                        </a:rPr>
                        <a:t>×</a:t>
                      </a:r>
                      <a:endParaRPr lang="en-US" altLang="ko-KR" sz="1050" b="1" kern="1200" dirty="0">
                        <a:solidFill>
                          <a:schemeClr val="dk1"/>
                        </a:solidFill>
                        <a:effectLst/>
                        <a:latin typeface="+mn-lt"/>
                        <a:ea typeface="+mn-ea"/>
                        <a:cs typeface="+mn-cs"/>
                      </a:endParaRPr>
                    </a:p>
                  </a:txBody>
                  <a:tcPr anchor="ctr">
                    <a:solidFill>
                      <a:schemeClr val="bg2">
                        <a:lumMod val="90000"/>
                      </a:schemeClr>
                    </a:solidFill>
                  </a:tcPr>
                </a:tc>
                <a:extLst>
                  <a:ext uri="{0D108BD9-81ED-4DB2-BD59-A6C34878D82A}">
                    <a16:rowId xmlns:a16="http://schemas.microsoft.com/office/drawing/2014/main" val="799526741"/>
                  </a:ext>
                </a:extLst>
              </a:tr>
            </a:tbl>
          </a:graphicData>
        </a:graphic>
      </p:graphicFrame>
      <p:cxnSp>
        <p:nvCxnSpPr>
          <p:cNvPr id="62" name="직선 화살표 연결선 61"/>
          <p:cNvCxnSpPr/>
          <p:nvPr/>
        </p:nvCxnSpPr>
        <p:spPr>
          <a:xfrm>
            <a:off x="461473" y="5144953"/>
            <a:ext cx="5084748" cy="0"/>
          </a:xfrm>
          <a:prstGeom prst="straightConnector1">
            <a:avLst/>
          </a:prstGeom>
          <a:ln w="28575">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6" name="Rectangle 14"/>
          <p:cNvSpPr>
            <a:spLocks noChangeArrowheads="1"/>
          </p:cNvSpPr>
          <p:nvPr/>
        </p:nvSpPr>
        <p:spPr bwMode="auto">
          <a:xfrm>
            <a:off x="1741663" y="4833483"/>
            <a:ext cx="623824" cy="164721"/>
          </a:xfrm>
          <a:prstGeom prst="rect">
            <a:avLst/>
          </a:prstGeom>
          <a:noFill/>
          <a:ln w="9525" algn="ctr">
            <a:noFill/>
            <a:miter lim="800000"/>
            <a:headEnd/>
            <a:tailEnd/>
          </a:ln>
        </p:spPr>
        <p:txBody>
          <a:bodyPr wrap="none" anchor="ctr"/>
          <a:lstStyle/>
          <a:p>
            <a:pPr algn="ctr"/>
            <a:r>
              <a:rPr lang="ko-KR" altLang="en-US" sz="1100" dirty="0">
                <a:latin typeface="+mn-ea"/>
              </a:rPr>
              <a:t>실용출원</a:t>
            </a:r>
            <a:r>
              <a:rPr lang="en-US" altLang="ko-KR" sz="1100" dirty="0">
                <a:latin typeface="+mn-ea"/>
              </a:rPr>
              <a:t>(X)</a:t>
            </a:r>
            <a:endParaRPr lang="ko-KR" altLang="en-US" sz="1100" dirty="0">
              <a:latin typeface="+mn-ea"/>
            </a:endParaRPr>
          </a:p>
        </p:txBody>
      </p:sp>
      <p:sp>
        <p:nvSpPr>
          <p:cNvPr id="67" name="Rectangle 14"/>
          <p:cNvSpPr>
            <a:spLocks noChangeArrowheads="1"/>
          </p:cNvSpPr>
          <p:nvPr/>
        </p:nvSpPr>
        <p:spPr bwMode="auto">
          <a:xfrm flipV="1">
            <a:off x="1993337" y="5089326"/>
            <a:ext cx="119139" cy="111253"/>
          </a:xfrm>
          <a:prstGeom prst="ellipse">
            <a:avLst/>
          </a:prstGeom>
          <a:solidFill>
            <a:schemeClr val="accent1">
              <a:lumMod val="50000"/>
            </a:schemeClr>
          </a:solidFill>
          <a:ln w="9525" algn="ctr">
            <a:solidFill>
              <a:schemeClr val="bg1">
                <a:lumMod val="50000"/>
              </a:schemeClr>
            </a:solidFill>
            <a:miter lim="800000"/>
            <a:headEnd/>
            <a:tailEnd/>
          </a:ln>
        </p:spPr>
        <p:txBody>
          <a:bodyPr wrap="none" anchor="ctr"/>
          <a:lstStyle/>
          <a:p>
            <a:pPr algn="ctr"/>
            <a:endParaRPr lang="ko-KR" altLang="en-US" sz="1000" dirty="0">
              <a:latin typeface="+mn-ea"/>
            </a:endParaRPr>
          </a:p>
        </p:txBody>
      </p:sp>
      <p:grpSp>
        <p:nvGrpSpPr>
          <p:cNvPr id="7" name="그룹 6"/>
          <p:cNvGrpSpPr/>
          <p:nvPr/>
        </p:nvGrpSpPr>
        <p:grpSpPr>
          <a:xfrm>
            <a:off x="1810115" y="4434968"/>
            <a:ext cx="506857" cy="339081"/>
            <a:chOff x="1810115" y="5238092"/>
            <a:chExt cx="506857" cy="291150"/>
          </a:xfrm>
          <a:solidFill>
            <a:schemeClr val="bg1"/>
          </a:solidFill>
        </p:grpSpPr>
        <p:sp>
          <p:nvSpPr>
            <p:cNvPr id="69" name="순서도: 처리 68"/>
            <p:cNvSpPr/>
            <p:nvPr/>
          </p:nvSpPr>
          <p:spPr>
            <a:xfrm>
              <a:off x="1810115" y="5383454"/>
              <a:ext cx="506857" cy="145788"/>
            </a:xfrm>
            <a:prstGeom prst="flowChartProcess">
              <a:avLst/>
            </a:prstGeom>
            <a:grp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latin typeface="+mn-ea"/>
                </a:rPr>
                <a:t>A, B</a:t>
              </a:r>
              <a:endParaRPr lang="ko-KR" altLang="en-US" sz="1050" dirty="0">
                <a:solidFill>
                  <a:schemeClr val="tx1"/>
                </a:solidFill>
                <a:latin typeface="+mn-ea"/>
              </a:endParaRPr>
            </a:p>
          </p:txBody>
        </p:sp>
        <p:sp>
          <p:nvSpPr>
            <p:cNvPr id="71" name="순서도: 처리 70"/>
            <p:cNvSpPr/>
            <p:nvPr/>
          </p:nvSpPr>
          <p:spPr>
            <a:xfrm>
              <a:off x="1810115" y="5238092"/>
              <a:ext cx="506857" cy="145788"/>
            </a:xfrm>
            <a:prstGeom prst="flowChartProcess">
              <a:avLst/>
            </a:prstGeom>
            <a:grp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latin typeface="+mn-ea"/>
                </a:rPr>
                <a:t>A</a:t>
              </a:r>
              <a:endParaRPr lang="ko-KR" altLang="en-US" sz="1050" dirty="0">
                <a:solidFill>
                  <a:schemeClr val="tx1"/>
                </a:solidFill>
                <a:latin typeface="+mn-ea"/>
              </a:endParaRPr>
            </a:p>
          </p:txBody>
        </p:sp>
      </p:grpSp>
      <p:sp>
        <p:nvSpPr>
          <p:cNvPr id="77" name="Rectangle 14"/>
          <p:cNvSpPr>
            <a:spLocks noChangeArrowheads="1"/>
          </p:cNvSpPr>
          <p:nvPr/>
        </p:nvSpPr>
        <p:spPr bwMode="auto">
          <a:xfrm>
            <a:off x="2809184" y="5253598"/>
            <a:ext cx="623824" cy="164721"/>
          </a:xfrm>
          <a:prstGeom prst="rect">
            <a:avLst/>
          </a:prstGeom>
          <a:noFill/>
          <a:ln w="9525" algn="ctr">
            <a:noFill/>
            <a:miter lim="800000"/>
            <a:headEnd/>
            <a:tailEnd/>
          </a:ln>
        </p:spPr>
        <p:txBody>
          <a:bodyPr wrap="none" anchor="ctr"/>
          <a:lstStyle/>
          <a:p>
            <a:pPr algn="ctr"/>
            <a:r>
              <a:rPr lang="ko-KR" altLang="en-US" sz="1100" dirty="0">
                <a:latin typeface="+mn-ea"/>
              </a:rPr>
              <a:t>제</a:t>
            </a:r>
            <a:r>
              <a:rPr lang="en-US" altLang="ko-KR" sz="1100" dirty="0">
                <a:latin typeface="+mn-ea"/>
              </a:rPr>
              <a:t>3</a:t>
            </a:r>
            <a:r>
              <a:rPr lang="ko-KR" altLang="en-US" sz="1100" dirty="0">
                <a:latin typeface="+mn-ea"/>
              </a:rPr>
              <a:t>자의 </a:t>
            </a:r>
            <a:r>
              <a:rPr lang="en-US" altLang="ko-KR" sz="1100" dirty="0">
                <a:latin typeface="+mn-ea"/>
              </a:rPr>
              <a:t>A</a:t>
            </a:r>
            <a:r>
              <a:rPr lang="ko-KR" altLang="en-US" sz="1100" dirty="0">
                <a:latin typeface="+mn-ea"/>
              </a:rPr>
              <a:t>공지</a:t>
            </a:r>
          </a:p>
        </p:txBody>
      </p:sp>
      <p:sp>
        <p:nvSpPr>
          <p:cNvPr id="78" name="Rectangle 14"/>
          <p:cNvSpPr>
            <a:spLocks noChangeArrowheads="1"/>
          </p:cNvSpPr>
          <p:nvPr/>
        </p:nvSpPr>
        <p:spPr bwMode="auto">
          <a:xfrm flipV="1">
            <a:off x="3067310" y="5089326"/>
            <a:ext cx="119139" cy="111253"/>
          </a:xfrm>
          <a:prstGeom prst="ellipse">
            <a:avLst/>
          </a:prstGeom>
          <a:solidFill>
            <a:schemeClr val="accent1">
              <a:lumMod val="50000"/>
            </a:schemeClr>
          </a:solidFill>
          <a:ln w="9525" algn="ctr">
            <a:solidFill>
              <a:schemeClr val="bg1">
                <a:lumMod val="50000"/>
              </a:schemeClr>
            </a:solidFill>
            <a:miter lim="800000"/>
            <a:headEnd/>
            <a:tailEnd/>
          </a:ln>
        </p:spPr>
        <p:txBody>
          <a:bodyPr wrap="none" anchor="ctr"/>
          <a:lstStyle/>
          <a:p>
            <a:pPr algn="ctr"/>
            <a:endParaRPr lang="ko-KR" altLang="en-US" sz="1000" dirty="0">
              <a:latin typeface="+mn-ea"/>
            </a:endParaRPr>
          </a:p>
        </p:txBody>
      </p:sp>
      <p:sp>
        <p:nvSpPr>
          <p:cNvPr id="79" name="Rectangle 14"/>
          <p:cNvSpPr>
            <a:spLocks noChangeArrowheads="1"/>
          </p:cNvSpPr>
          <p:nvPr/>
        </p:nvSpPr>
        <p:spPr bwMode="auto">
          <a:xfrm>
            <a:off x="3940221" y="4833674"/>
            <a:ext cx="623824" cy="164721"/>
          </a:xfrm>
          <a:prstGeom prst="rect">
            <a:avLst/>
          </a:prstGeom>
          <a:noFill/>
          <a:ln w="9525" algn="ctr">
            <a:noFill/>
            <a:miter lim="800000"/>
            <a:headEnd/>
            <a:tailEnd/>
          </a:ln>
        </p:spPr>
        <p:txBody>
          <a:bodyPr wrap="none" anchor="ctr"/>
          <a:lstStyle/>
          <a:p>
            <a:pPr algn="ctr"/>
            <a:r>
              <a:rPr lang="ko-KR" altLang="en-US" sz="1100" dirty="0">
                <a:latin typeface="+mn-ea"/>
              </a:rPr>
              <a:t>변경출원</a:t>
            </a:r>
            <a:r>
              <a:rPr lang="en-US" altLang="ko-KR" sz="1100" dirty="0">
                <a:latin typeface="+mn-ea"/>
              </a:rPr>
              <a:t>(Y)</a:t>
            </a:r>
            <a:endParaRPr lang="ko-KR" altLang="en-US" sz="1100" dirty="0">
              <a:latin typeface="+mn-ea"/>
            </a:endParaRPr>
          </a:p>
        </p:txBody>
      </p:sp>
      <p:sp>
        <p:nvSpPr>
          <p:cNvPr id="82" name="Rectangle 14"/>
          <p:cNvSpPr>
            <a:spLocks noChangeArrowheads="1"/>
          </p:cNvSpPr>
          <p:nvPr/>
        </p:nvSpPr>
        <p:spPr bwMode="auto">
          <a:xfrm flipV="1">
            <a:off x="4187579" y="5089326"/>
            <a:ext cx="119139" cy="111253"/>
          </a:xfrm>
          <a:prstGeom prst="ellipse">
            <a:avLst/>
          </a:prstGeom>
          <a:solidFill>
            <a:schemeClr val="accent1">
              <a:lumMod val="50000"/>
            </a:schemeClr>
          </a:solidFill>
          <a:ln w="9525" algn="ctr">
            <a:solidFill>
              <a:schemeClr val="bg1">
                <a:lumMod val="50000"/>
              </a:schemeClr>
            </a:solidFill>
            <a:miter lim="800000"/>
            <a:headEnd/>
            <a:tailEnd/>
          </a:ln>
        </p:spPr>
        <p:txBody>
          <a:bodyPr wrap="none" anchor="ctr"/>
          <a:lstStyle/>
          <a:p>
            <a:pPr algn="ctr"/>
            <a:endParaRPr lang="ko-KR" altLang="en-US" sz="1000" dirty="0">
              <a:latin typeface="+mn-ea"/>
            </a:endParaRPr>
          </a:p>
        </p:txBody>
      </p:sp>
      <p:sp>
        <p:nvSpPr>
          <p:cNvPr id="89" name="Rectangle 14"/>
          <p:cNvSpPr>
            <a:spLocks noChangeArrowheads="1"/>
          </p:cNvSpPr>
          <p:nvPr/>
        </p:nvSpPr>
        <p:spPr bwMode="auto">
          <a:xfrm>
            <a:off x="798069" y="4653929"/>
            <a:ext cx="623824" cy="382380"/>
          </a:xfrm>
          <a:prstGeom prst="rect">
            <a:avLst/>
          </a:prstGeom>
          <a:noFill/>
          <a:ln w="9525" algn="ctr">
            <a:noFill/>
            <a:miter lim="800000"/>
            <a:headEnd/>
            <a:tailEnd/>
          </a:ln>
        </p:spPr>
        <p:txBody>
          <a:bodyPr wrap="none" anchor="ctr"/>
          <a:lstStyle/>
          <a:p>
            <a:pPr algn="ctr"/>
            <a:r>
              <a:rPr lang="en-US" altLang="ko-KR" sz="1100" dirty="0">
                <a:latin typeface="+mn-ea"/>
              </a:rPr>
              <a:t>A(</a:t>
            </a:r>
            <a:r>
              <a:rPr lang="ko-KR" altLang="en-US" sz="1100" dirty="0">
                <a:latin typeface="+mn-ea"/>
              </a:rPr>
              <a:t>방법</a:t>
            </a:r>
            <a:r>
              <a:rPr lang="en-US" altLang="ko-KR" sz="1100" dirty="0">
                <a:latin typeface="+mn-ea"/>
              </a:rPr>
              <a:t>) </a:t>
            </a:r>
          </a:p>
          <a:p>
            <a:pPr algn="ctr"/>
            <a:r>
              <a:rPr lang="ko-KR" altLang="en-US" sz="1100" dirty="0" err="1">
                <a:latin typeface="+mn-ea"/>
              </a:rPr>
              <a:t>발명완성</a:t>
            </a:r>
            <a:endParaRPr lang="ko-KR" altLang="en-US" sz="1100" dirty="0">
              <a:latin typeface="+mn-ea"/>
            </a:endParaRPr>
          </a:p>
        </p:txBody>
      </p:sp>
      <p:sp>
        <p:nvSpPr>
          <p:cNvPr id="90" name="Rectangle 14"/>
          <p:cNvSpPr>
            <a:spLocks noChangeArrowheads="1"/>
          </p:cNvSpPr>
          <p:nvPr/>
        </p:nvSpPr>
        <p:spPr bwMode="auto">
          <a:xfrm flipV="1">
            <a:off x="1057519" y="5089326"/>
            <a:ext cx="119139" cy="111253"/>
          </a:xfrm>
          <a:prstGeom prst="ellipse">
            <a:avLst/>
          </a:prstGeom>
          <a:solidFill>
            <a:schemeClr val="accent1">
              <a:lumMod val="50000"/>
            </a:schemeClr>
          </a:solidFill>
          <a:ln w="9525" algn="ctr">
            <a:solidFill>
              <a:schemeClr val="bg1">
                <a:lumMod val="50000"/>
              </a:schemeClr>
            </a:solidFill>
            <a:miter lim="800000"/>
            <a:headEnd/>
            <a:tailEnd/>
          </a:ln>
        </p:spPr>
        <p:txBody>
          <a:bodyPr wrap="none" anchor="ctr"/>
          <a:lstStyle/>
          <a:p>
            <a:pPr algn="ctr"/>
            <a:endParaRPr lang="ko-KR" altLang="en-US" sz="1000" dirty="0">
              <a:latin typeface="+mn-ea"/>
            </a:endParaRPr>
          </a:p>
        </p:txBody>
      </p:sp>
      <p:grpSp>
        <p:nvGrpSpPr>
          <p:cNvPr id="91" name="그룹 90"/>
          <p:cNvGrpSpPr/>
          <p:nvPr/>
        </p:nvGrpSpPr>
        <p:grpSpPr>
          <a:xfrm>
            <a:off x="3993719" y="4434968"/>
            <a:ext cx="506857" cy="339081"/>
            <a:chOff x="1810115" y="5238092"/>
            <a:chExt cx="506857" cy="291150"/>
          </a:xfrm>
          <a:solidFill>
            <a:schemeClr val="bg1"/>
          </a:solidFill>
        </p:grpSpPr>
        <p:sp>
          <p:nvSpPr>
            <p:cNvPr id="92" name="순서도: 처리 91"/>
            <p:cNvSpPr/>
            <p:nvPr/>
          </p:nvSpPr>
          <p:spPr>
            <a:xfrm>
              <a:off x="1810115" y="5383454"/>
              <a:ext cx="506857" cy="145788"/>
            </a:xfrm>
            <a:prstGeom prst="flowChartProcess">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latin typeface="+mn-ea"/>
                </a:rPr>
                <a:t>A, B</a:t>
              </a:r>
              <a:endParaRPr lang="ko-KR" altLang="en-US" sz="1050" dirty="0">
                <a:solidFill>
                  <a:schemeClr val="tx1"/>
                </a:solidFill>
                <a:latin typeface="+mn-ea"/>
              </a:endParaRPr>
            </a:p>
          </p:txBody>
        </p:sp>
        <p:sp>
          <p:nvSpPr>
            <p:cNvPr id="93" name="순서도: 처리 92"/>
            <p:cNvSpPr/>
            <p:nvPr/>
          </p:nvSpPr>
          <p:spPr>
            <a:xfrm>
              <a:off x="1810115" y="5238092"/>
              <a:ext cx="506857" cy="145788"/>
            </a:xfrm>
            <a:prstGeom prst="flowChartProcess">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latin typeface="+mn-ea"/>
                </a:rPr>
                <a:t>A</a:t>
              </a:r>
              <a:endParaRPr lang="ko-KR" altLang="en-US" sz="1050" dirty="0">
                <a:solidFill>
                  <a:schemeClr val="tx1"/>
                </a:solidFill>
                <a:latin typeface="+mn-ea"/>
              </a:endParaRPr>
            </a:p>
          </p:txBody>
        </p:sp>
      </p:grpSp>
      <p:grpSp>
        <p:nvGrpSpPr>
          <p:cNvPr id="98" name="그룹 97"/>
          <p:cNvGrpSpPr/>
          <p:nvPr/>
        </p:nvGrpSpPr>
        <p:grpSpPr>
          <a:xfrm>
            <a:off x="1824912" y="5771487"/>
            <a:ext cx="506857" cy="339081"/>
            <a:chOff x="1810115" y="5238092"/>
            <a:chExt cx="506857" cy="291150"/>
          </a:xfrm>
          <a:solidFill>
            <a:schemeClr val="bg1"/>
          </a:solidFill>
        </p:grpSpPr>
        <p:sp>
          <p:nvSpPr>
            <p:cNvPr id="99" name="순서도: 처리 98"/>
            <p:cNvSpPr/>
            <p:nvPr/>
          </p:nvSpPr>
          <p:spPr>
            <a:xfrm>
              <a:off x="1810115" y="5383454"/>
              <a:ext cx="506857" cy="145788"/>
            </a:xfrm>
            <a:prstGeom prst="flowChartProcess">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latin typeface="+mn-ea"/>
                </a:rPr>
                <a:t>A, B</a:t>
              </a:r>
              <a:endParaRPr lang="ko-KR" altLang="en-US" sz="1050" dirty="0">
                <a:solidFill>
                  <a:schemeClr val="tx1"/>
                </a:solidFill>
                <a:latin typeface="+mn-ea"/>
              </a:endParaRPr>
            </a:p>
          </p:txBody>
        </p:sp>
        <p:sp>
          <p:nvSpPr>
            <p:cNvPr id="109" name="순서도: 처리 108"/>
            <p:cNvSpPr/>
            <p:nvPr/>
          </p:nvSpPr>
          <p:spPr>
            <a:xfrm>
              <a:off x="1810115" y="5238092"/>
              <a:ext cx="506857" cy="145788"/>
            </a:xfrm>
            <a:prstGeom prst="flowChartProcess">
              <a:avLst/>
            </a:prstGeom>
            <a:solidFill>
              <a:schemeClr val="accent4">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latin typeface="+mn-ea"/>
                </a:rPr>
                <a:t>A</a:t>
              </a:r>
              <a:endParaRPr lang="ko-KR" altLang="en-US" sz="1050" dirty="0">
                <a:solidFill>
                  <a:schemeClr val="tx1"/>
                </a:solidFill>
                <a:latin typeface="+mn-ea"/>
              </a:endParaRPr>
            </a:p>
          </p:txBody>
        </p:sp>
      </p:grpSp>
      <p:sp>
        <p:nvSpPr>
          <p:cNvPr id="110" name="Rectangle 14"/>
          <p:cNvSpPr>
            <a:spLocks noChangeArrowheads="1"/>
          </p:cNvSpPr>
          <p:nvPr/>
        </p:nvSpPr>
        <p:spPr bwMode="auto">
          <a:xfrm>
            <a:off x="1761190" y="6219403"/>
            <a:ext cx="623824" cy="164721"/>
          </a:xfrm>
          <a:prstGeom prst="rect">
            <a:avLst/>
          </a:prstGeom>
          <a:noFill/>
          <a:ln w="9525" algn="ctr">
            <a:noFill/>
            <a:miter lim="800000"/>
            <a:headEnd/>
            <a:tailEnd/>
          </a:ln>
        </p:spPr>
        <p:txBody>
          <a:bodyPr wrap="none" anchor="ctr"/>
          <a:lstStyle/>
          <a:p>
            <a:pPr algn="ctr"/>
            <a:r>
              <a:rPr lang="ko-KR" altLang="en-US" sz="1100" dirty="0">
                <a:latin typeface="+mn-ea"/>
              </a:rPr>
              <a:t>특허출원</a:t>
            </a:r>
            <a:r>
              <a:rPr lang="en-US" altLang="ko-KR" sz="1100" dirty="0">
                <a:latin typeface="+mn-ea"/>
              </a:rPr>
              <a:t>(Y)</a:t>
            </a:r>
            <a:endParaRPr lang="ko-KR" altLang="en-US" sz="1100" dirty="0">
              <a:latin typeface="+mn-ea"/>
            </a:endParaRPr>
          </a:p>
        </p:txBody>
      </p:sp>
      <p:cxnSp>
        <p:nvCxnSpPr>
          <p:cNvPr id="111" name="직선 화살표 연결선 110"/>
          <p:cNvCxnSpPr/>
          <p:nvPr/>
        </p:nvCxnSpPr>
        <p:spPr>
          <a:xfrm flipH="1">
            <a:off x="2474522" y="4657776"/>
            <a:ext cx="1455547" cy="1283003"/>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2" name="TextBox 111"/>
          <p:cNvSpPr txBox="1"/>
          <p:nvPr/>
        </p:nvSpPr>
        <p:spPr>
          <a:xfrm>
            <a:off x="2679220" y="5449149"/>
            <a:ext cx="873957" cy="646331"/>
          </a:xfrm>
          <a:prstGeom prst="rect">
            <a:avLst/>
          </a:prstGeom>
          <a:solidFill>
            <a:schemeClr val="bg1"/>
          </a:solidFill>
        </p:spPr>
        <p:txBody>
          <a:bodyPr wrap="none" rtlCol="0">
            <a:spAutoFit/>
          </a:bodyPr>
          <a:lstStyle/>
          <a:p>
            <a:r>
              <a:rPr lang="ko-KR" altLang="en-US" dirty="0">
                <a:solidFill>
                  <a:srgbClr val="FF0000"/>
                </a:solidFill>
              </a:rPr>
              <a:t>출원일 </a:t>
            </a:r>
            <a:endParaRPr lang="en-US" altLang="ko-KR" dirty="0">
              <a:solidFill>
                <a:srgbClr val="FF0000"/>
              </a:solidFill>
            </a:endParaRPr>
          </a:p>
          <a:p>
            <a:r>
              <a:rPr lang="ko-KR" altLang="en-US" dirty="0">
                <a:solidFill>
                  <a:srgbClr val="FF0000"/>
                </a:solidFill>
              </a:rPr>
              <a:t>소급효</a:t>
            </a:r>
          </a:p>
        </p:txBody>
      </p:sp>
      <p:sp>
        <p:nvSpPr>
          <p:cNvPr id="113" name="TextBox 112"/>
          <p:cNvSpPr txBox="1"/>
          <p:nvPr/>
        </p:nvSpPr>
        <p:spPr>
          <a:xfrm>
            <a:off x="3736389" y="5632131"/>
            <a:ext cx="1018227" cy="646331"/>
          </a:xfrm>
          <a:prstGeom prst="rect">
            <a:avLst/>
          </a:prstGeom>
          <a:solidFill>
            <a:schemeClr val="bg1"/>
          </a:solidFill>
        </p:spPr>
        <p:txBody>
          <a:bodyPr wrap="none" rtlCol="0">
            <a:spAutoFit/>
          </a:bodyPr>
          <a:lstStyle/>
          <a:p>
            <a:pPr algn="ctr"/>
            <a:r>
              <a:rPr lang="ko-KR" altLang="en-US" dirty="0" err="1">
                <a:solidFill>
                  <a:srgbClr val="FF0000"/>
                </a:solidFill>
              </a:rPr>
              <a:t>취하간주</a:t>
            </a:r>
            <a:endParaRPr lang="en-US" altLang="ko-KR" dirty="0">
              <a:solidFill>
                <a:srgbClr val="FF0000"/>
              </a:solidFill>
            </a:endParaRPr>
          </a:p>
          <a:p>
            <a:pPr algn="ctr"/>
            <a:r>
              <a:rPr lang="en-US" altLang="ko-KR" dirty="0">
                <a:solidFill>
                  <a:srgbClr val="FF0000"/>
                </a:solidFill>
              </a:rPr>
              <a:t>(X)</a:t>
            </a:r>
            <a:endParaRPr lang="ko-KR" altLang="en-US" dirty="0">
              <a:solidFill>
                <a:srgbClr val="FF0000"/>
              </a:solidFill>
            </a:endParaRPr>
          </a:p>
        </p:txBody>
      </p:sp>
      <p:cxnSp>
        <p:nvCxnSpPr>
          <p:cNvPr id="114" name="직선 화살표 연결선 113"/>
          <p:cNvCxnSpPr>
            <a:stCxn id="113" idx="0"/>
            <a:endCxn id="82" idx="0"/>
          </p:cNvCxnSpPr>
          <p:nvPr/>
        </p:nvCxnSpPr>
        <p:spPr>
          <a:xfrm flipV="1">
            <a:off x="4245503" y="5200579"/>
            <a:ext cx="1646" cy="431552"/>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5" name="TextBox 114"/>
          <p:cNvSpPr txBox="1"/>
          <p:nvPr/>
        </p:nvSpPr>
        <p:spPr>
          <a:xfrm>
            <a:off x="4556448" y="5419437"/>
            <a:ext cx="370870" cy="369332"/>
          </a:xfrm>
          <a:prstGeom prst="rect">
            <a:avLst/>
          </a:prstGeom>
          <a:noFill/>
        </p:spPr>
        <p:txBody>
          <a:bodyPr wrap="square" rtlCol="0">
            <a:spAutoFit/>
          </a:bodyPr>
          <a:lstStyle/>
          <a:p>
            <a:pPr fontAlgn="base"/>
            <a:r>
              <a:rPr lang="ko-KR" altLang="en-US" dirty="0">
                <a:solidFill>
                  <a:srgbClr val="FF0000"/>
                </a:solidFill>
              </a:rPr>
              <a:t>❷</a:t>
            </a:r>
          </a:p>
        </p:txBody>
      </p:sp>
      <p:sp>
        <p:nvSpPr>
          <p:cNvPr id="116" name="TextBox 115"/>
          <p:cNvSpPr txBox="1"/>
          <p:nvPr/>
        </p:nvSpPr>
        <p:spPr>
          <a:xfrm>
            <a:off x="2407130" y="5423988"/>
            <a:ext cx="370870" cy="369332"/>
          </a:xfrm>
          <a:prstGeom prst="rect">
            <a:avLst/>
          </a:prstGeom>
          <a:noFill/>
        </p:spPr>
        <p:txBody>
          <a:bodyPr wrap="square" rtlCol="0">
            <a:spAutoFit/>
          </a:bodyPr>
          <a:lstStyle/>
          <a:p>
            <a:pPr fontAlgn="base"/>
            <a:r>
              <a:rPr lang="ko-KR" altLang="en-US" dirty="0">
                <a:solidFill>
                  <a:srgbClr val="FF0000"/>
                </a:solidFill>
              </a:rPr>
              <a:t>❶</a:t>
            </a:r>
          </a:p>
        </p:txBody>
      </p:sp>
      <p:sp>
        <p:nvSpPr>
          <p:cNvPr id="117" name="Text Box 38"/>
          <p:cNvSpPr txBox="1">
            <a:spLocks noChangeArrowheads="1"/>
          </p:cNvSpPr>
          <p:nvPr/>
        </p:nvSpPr>
        <p:spPr bwMode="auto">
          <a:xfrm>
            <a:off x="8587978" y="5678289"/>
            <a:ext cx="955442" cy="307777"/>
          </a:xfrm>
          <a:prstGeom prst="rect">
            <a:avLst/>
          </a:prstGeom>
          <a:solidFill>
            <a:schemeClr val="accent2"/>
          </a:solidFill>
          <a:ln w="12700">
            <a:solidFill>
              <a:schemeClr val="bg1">
                <a:lumMod val="50000"/>
              </a:schemeClr>
            </a:solidFill>
            <a:headEnd/>
            <a:tailEnd/>
          </a:ln>
        </p:spPr>
        <p:style>
          <a:lnRef idx="2">
            <a:schemeClr val="accent2">
              <a:shade val="50000"/>
            </a:schemeClr>
          </a:lnRef>
          <a:fillRef idx="1">
            <a:schemeClr val="accent2"/>
          </a:fillRef>
          <a:effectRef idx="0">
            <a:schemeClr val="accent2"/>
          </a:effectRef>
          <a:fontRef idx="minor">
            <a:schemeClr val="lt1"/>
          </a:fontRef>
        </p:style>
        <p:txBody>
          <a:bodyPr>
            <a:noAutofit/>
          </a:bodyPr>
          <a:lstStyle/>
          <a:p>
            <a:pPr algn="ctr">
              <a:spcBef>
                <a:spcPct val="50000"/>
              </a:spcBef>
            </a:pPr>
            <a:r>
              <a:rPr lang="ko-KR" altLang="en-US" sz="1400" dirty="0">
                <a:solidFill>
                  <a:schemeClr val="accent3">
                    <a:lumMod val="20000"/>
                    <a:lumOff val="80000"/>
                  </a:schemeClr>
                </a:solidFill>
                <a:latin typeface="+mn-ea"/>
              </a:rPr>
              <a:t>특허법</a:t>
            </a:r>
          </a:p>
        </p:txBody>
      </p:sp>
      <p:sp>
        <p:nvSpPr>
          <p:cNvPr id="118" name="Text Box 39"/>
          <p:cNvSpPr txBox="1">
            <a:spLocks noChangeArrowheads="1"/>
          </p:cNvSpPr>
          <p:nvPr/>
        </p:nvSpPr>
        <p:spPr bwMode="auto">
          <a:xfrm>
            <a:off x="10043033" y="5678289"/>
            <a:ext cx="1099538" cy="307777"/>
          </a:xfrm>
          <a:prstGeom prst="rect">
            <a:avLst/>
          </a:prstGeom>
          <a:solidFill>
            <a:schemeClr val="accent1"/>
          </a:solidFill>
          <a:ln w="12700">
            <a:solidFill>
              <a:schemeClr val="bg1">
                <a:lumMod val="50000"/>
              </a:schemeClr>
            </a:solidFill>
            <a:headEnd/>
            <a:tailEnd/>
          </a:ln>
        </p:spPr>
        <p:style>
          <a:lnRef idx="2">
            <a:schemeClr val="accent5">
              <a:shade val="50000"/>
            </a:schemeClr>
          </a:lnRef>
          <a:fillRef idx="1">
            <a:schemeClr val="accent5"/>
          </a:fillRef>
          <a:effectRef idx="0">
            <a:schemeClr val="accent5"/>
          </a:effectRef>
          <a:fontRef idx="minor">
            <a:schemeClr val="lt1"/>
          </a:fontRef>
        </p:style>
        <p:txBody>
          <a:bodyPr wrap="square">
            <a:noAutofit/>
          </a:bodyPr>
          <a:lstStyle/>
          <a:p>
            <a:pPr algn="ctr">
              <a:spcBef>
                <a:spcPct val="50000"/>
              </a:spcBef>
            </a:pPr>
            <a:r>
              <a:rPr lang="ko-KR" altLang="en-US" sz="1400" dirty="0" err="1">
                <a:solidFill>
                  <a:schemeClr val="accent4">
                    <a:lumMod val="20000"/>
                    <a:lumOff val="80000"/>
                  </a:schemeClr>
                </a:solidFill>
                <a:latin typeface="+mn-ea"/>
              </a:rPr>
              <a:t>실용신안법</a:t>
            </a:r>
            <a:endParaRPr lang="ko-KR" altLang="en-US" sz="1400" dirty="0">
              <a:solidFill>
                <a:schemeClr val="accent4">
                  <a:lumMod val="20000"/>
                  <a:lumOff val="80000"/>
                </a:schemeClr>
              </a:solidFill>
              <a:latin typeface="+mn-ea"/>
            </a:endParaRPr>
          </a:p>
        </p:txBody>
      </p:sp>
      <p:sp>
        <p:nvSpPr>
          <p:cNvPr id="119" name="Line 21"/>
          <p:cNvSpPr>
            <a:spLocks noChangeShapeType="1"/>
          </p:cNvSpPr>
          <p:nvPr/>
        </p:nvSpPr>
        <p:spPr bwMode="auto">
          <a:xfrm>
            <a:off x="6843993" y="5580130"/>
            <a:ext cx="4819169" cy="0"/>
          </a:xfrm>
          <a:prstGeom prst="line">
            <a:avLst/>
          </a:prstGeom>
          <a:noFill/>
          <a:ln w="38100">
            <a:solidFill>
              <a:schemeClr val="bg1">
                <a:lumMod val="50000"/>
              </a:schemeClr>
            </a:solidFill>
            <a:round/>
            <a:headEnd/>
            <a:tailEnd type="triangle" w="med" len="med"/>
          </a:ln>
          <a:effectLst/>
        </p:spPr>
        <p:txBody>
          <a:bodyPr/>
          <a:lstStyle/>
          <a:p>
            <a:endParaRPr lang="ko-KR" altLang="en-US" sz="1400">
              <a:latin typeface="+mn-ea"/>
            </a:endParaRPr>
          </a:p>
        </p:txBody>
      </p:sp>
      <p:sp>
        <p:nvSpPr>
          <p:cNvPr id="120" name="Line 23"/>
          <p:cNvSpPr>
            <a:spLocks noChangeShapeType="1"/>
          </p:cNvSpPr>
          <p:nvPr/>
        </p:nvSpPr>
        <p:spPr bwMode="auto">
          <a:xfrm flipV="1">
            <a:off x="6845069" y="3514621"/>
            <a:ext cx="0" cy="2065509"/>
          </a:xfrm>
          <a:prstGeom prst="line">
            <a:avLst/>
          </a:prstGeom>
          <a:noFill/>
          <a:ln w="38100">
            <a:solidFill>
              <a:schemeClr val="bg1">
                <a:lumMod val="50000"/>
              </a:schemeClr>
            </a:solidFill>
            <a:round/>
            <a:headEnd/>
            <a:tailEnd type="triangle" w="med" len="med"/>
          </a:ln>
          <a:effectLst/>
        </p:spPr>
        <p:txBody>
          <a:bodyPr/>
          <a:lstStyle/>
          <a:p>
            <a:endParaRPr lang="ko-KR" altLang="en-US" sz="1400">
              <a:latin typeface="+mn-ea"/>
            </a:endParaRPr>
          </a:p>
        </p:txBody>
      </p:sp>
      <p:grpSp>
        <p:nvGrpSpPr>
          <p:cNvPr id="121" name="그룹 120"/>
          <p:cNvGrpSpPr/>
          <p:nvPr/>
        </p:nvGrpSpPr>
        <p:grpSpPr>
          <a:xfrm>
            <a:off x="6830007" y="4034434"/>
            <a:ext cx="4833155" cy="1036392"/>
            <a:chOff x="3753431" y="3596284"/>
            <a:chExt cx="4884801" cy="1036392"/>
          </a:xfrm>
        </p:grpSpPr>
        <p:sp>
          <p:nvSpPr>
            <p:cNvPr id="122" name="Line 24"/>
            <p:cNvSpPr>
              <a:spLocks noChangeShapeType="1"/>
            </p:cNvSpPr>
            <p:nvPr/>
          </p:nvSpPr>
          <p:spPr bwMode="auto">
            <a:xfrm>
              <a:off x="3759886" y="4632676"/>
              <a:ext cx="4849294" cy="0"/>
            </a:xfrm>
            <a:prstGeom prst="line">
              <a:avLst/>
            </a:prstGeom>
            <a:noFill/>
            <a:ln w="12700">
              <a:solidFill>
                <a:schemeClr val="bg1">
                  <a:lumMod val="50000"/>
                </a:schemeClr>
              </a:solidFill>
              <a:prstDash val="sysDot"/>
              <a:round/>
              <a:headEnd type="none" w="med" len="med"/>
              <a:tailEnd type="none" w="med" len="med"/>
            </a:ln>
            <a:effectLst/>
          </p:spPr>
          <p:txBody>
            <a:bodyPr/>
            <a:lstStyle/>
            <a:p>
              <a:endParaRPr lang="ko-KR" altLang="en-US" sz="1400">
                <a:latin typeface="+mn-ea"/>
              </a:endParaRPr>
            </a:p>
          </p:txBody>
        </p:sp>
        <p:sp>
          <p:nvSpPr>
            <p:cNvPr id="124" name="Line 25"/>
            <p:cNvSpPr>
              <a:spLocks noChangeShapeType="1"/>
            </p:cNvSpPr>
            <p:nvPr/>
          </p:nvSpPr>
          <p:spPr bwMode="auto">
            <a:xfrm>
              <a:off x="3753431" y="3596284"/>
              <a:ext cx="4871890" cy="0"/>
            </a:xfrm>
            <a:prstGeom prst="line">
              <a:avLst/>
            </a:prstGeom>
            <a:noFill/>
            <a:ln w="12700">
              <a:solidFill>
                <a:schemeClr val="bg1">
                  <a:lumMod val="50000"/>
                </a:schemeClr>
              </a:solidFill>
              <a:prstDash val="sysDot"/>
              <a:round/>
              <a:headEnd type="none" w="med" len="med"/>
              <a:tailEnd type="none" w="med" len="med"/>
            </a:ln>
            <a:effectLst/>
          </p:spPr>
          <p:txBody>
            <a:bodyPr/>
            <a:lstStyle/>
            <a:p>
              <a:endParaRPr lang="ko-KR" altLang="en-US" sz="1400">
                <a:latin typeface="+mn-ea"/>
              </a:endParaRPr>
            </a:p>
          </p:txBody>
        </p:sp>
        <p:sp>
          <p:nvSpPr>
            <p:cNvPr id="125" name="Line 26"/>
            <p:cNvSpPr>
              <a:spLocks noChangeShapeType="1"/>
            </p:cNvSpPr>
            <p:nvPr/>
          </p:nvSpPr>
          <p:spPr bwMode="auto">
            <a:xfrm>
              <a:off x="3767418" y="4083762"/>
              <a:ext cx="4870814" cy="20210"/>
            </a:xfrm>
            <a:prstGeom prst="line">
              <a:avLst/>
            </a:prstGeom>
            <a:noFill/>
            <a:ln w="12700">
              <a:solidFill>
                <a:schemeClr val="bg1">
                  <a:lumMod val="50000"/>
                </a:schemeClr>
              </a:solidFill>
              <a:prstDash val="sysDot"/>
              <a:round/>
              <a:headEnd type="none" w="med" len="med"/>
              <a:tailEnd type="none" w="med" len="med"/>
            </a:ln>
            <a:effectLst/>
          </p:spPr>
          <p:txBody>
            <a:bodyPr/>
            <a:lstStyle/>
            <a:p>
              <a:endParaRPr lang="ko-KR" altLang="en-US" sz="1400">
                <a:latin typeface="+mn-ea"/>
              </a:endParaRPr>
            </a:p>
          </p:txBody>
        </p:sp>
      </p:grpSp>
      <p:sp>
        <p:nvSpPr>
          <p:cNvPr id="126" name="Text Box 29"/>
          <p:cNvSpPr txBox="1">
            <a:spLocks noChangeArrowheads="1"/>
          </p:cNvSpPr>
          <p:nvPr/>
        </p:nvSpPr>
        <p:spPr bwMode="auto">
          <a:xfrm>
            <a:off x="6437428" y="3476624"/>
            <a:ext cx="400110" cy="1233733"/>
          </a:xfrm>
          <a:prstGeom prst="rect">
            <a:avLst/>
          </a:prstGeom>
          <a:noFill/>
          <a:ln w="38100">
            <a:noFill/>
            <a:miter lim="800000"/>
            <a:headEnd/>
            <a:tailEnd/>
          </a:ln>
          <a:effectLst/>
        </p:spPr>
        <p:txBody>
          <a:bodyPr vert="eaVert" wrap="square">
            <a:spAutoFit/>
          </a:bodyPr>
          <a:lstStyle/>
          <a:p>
            <a:r>
              <a:rPr lang="ko-KR" altLang="en-US" sz="1400" dirty="0">
                <a:latin typeface="+mn-ea"/>
              </a:rPr>
              <a:t>창작의 수준</a:t>
            </a:r>
          </a:p>
        </p:txBody>
      </p:sp>
      <p:sp>
        <p:nvSpPr>
          <p:cNvPr id="127" name="Text Box 31"/>
          <p:cNvSpPr txBox="1">
            <a:spLocks noChangeArrowheads="1"/>
          </p:cNvSpPr>
          <p:nvPr/>
        </p:nvSpPr>
        <p:spPr bwMode="auto">
          <a:xfrm>
            <a:off x="7046815" y="5181600"/>
            <a:ext cx="1158083" cy="252747"/>
          </a:xfrm>
          <a:prstGeom prst="roundRect">
            <a:avLst/>
          </a:prstGeom>
          <a:solidFill>
            <a:schemeClr val="bg1">
              <a:lumMod val="85000"/>
            </a:schemeClr>
          </a:solidFill>
          <a:ln w="3175">
            <a:solidFill>
              <a:schemeClr val="bg1">
                <a:lumMod val="50000"/>
              </a:schemeClr>
            </a:solidFill>
            <a:headEnd/>
            <a:tailEnd/>
          </a:ln>
        </p:spPr>
        <p:style>
          <a:lnRef idx="1">
            <a:schemeClr val="accent1"/>
          </a:lnRef>
          <a:fillRef idx="2">
            <a:schemeClr val="accent1"/>
          </a:fillRef>
          <a:effectRef idx="1">
            <a:schemeClr val="accent1"/>
          </a:effectRef>
          <a:fontRef idx="minor">
            <a:schemeClr val="dk1"/>
          </a:fontRef>
        </p:style>
        <p:txBody>
          <a:bodyPr>
            <a:noAutofit/>
          </a:bodyPr>
          <a:lstStyle/>
          <a:p>
            <a:pPr algn="ctr">
              <a:spcBef>
                <a:spcPct val="50000"/>
              </a:spcBef>
            </a:pPr>
            <a:r>
              <a:rPr lang="ko-KR" altLang="en-US" sz="1100" dirty="0">
                <a:latin typeface="+mn-ea"/>
              </a:rPr>
              <a:t>동일성 영역</a:t>
            </a:r>
          </a:p>
        </p:txBody>
      </p:sp>
      <p:sp>
        <p:nvSpPr>
          <p:cNvPr id="128" name="Text Box 35"/>
          <p:cNvSpPr txBox="1">
            <a:spLocks noChangeArrowheads="1"/>
          </p:cNvSpPr>
          <p:nvPr/>
        </p:nvSpPr>
        <p:spPr bwMode="auto">
          <a:xfrm>
            <a:off x="7046815" y="4662732"/>
            <a:ext cx="1158083" cy="246142"/>
          </a:xfrm>
          <a:prstGeom prst="roundRect">
            <a:avLst/>
          </a:prstGeom>
          <a:solidFill>
            <a:schemeClr val="bg1">
              <a:lumMod val="85000"/>
            </a:schemeClr>
          </a:solidFill>
          <a:ln w="3175">
            <a:solidFill>
              <a:schemeClr val="bg1">
                <a:lumMod val="50000"/>
              </a:schemeClr>
            </a:solidFill>
            <a:headEnd/>
            <a:tailEnd/>
          </a:ln>
        </p:spPr>
        <p:style>
          <a:lnRef idx="1">
            <a:schemeClr val="accent1"/>
          </a:lnRef>
          <a:fillRef idx="2">
            <a:schemeClr val="accent1"/>
          </a:fillRef>
          <a:effectRef idx="1">
            <a:schemeClr val="accent1"/>
          </a:effectRef>
          <a:fontRef idx="minor">
            <a:schemeClr val="dk1"/>
          </a:fontRef>
        </p:style>
        <p:txBody>
          <a:bodyPr>
            <a:noAutofit/>
          </a:bodyPr>
          <a:lstStyle/>
          <a:p>
            <a:pPr algn="ctr">
              <a:spcBef>
                <a:spcPct val="50000"/>
              </a:spcBef>
            </a:pPr>
            <a:r>
              <a:rPr lang="ko-KR" altLang="en-US" sz="1100" dirty="0">
                <a:latin typeface="+mn-ea"/>
              </a:rPr>
              <a:t>극히 용이성 영역</a:t>
            </a:r>
          </a:p>
        </p:txBody>
      </p:sp>
      <p:sp>
        <p:nvSpPr>
          <p:cNvPr id="129" name="Text Box 36"/>
          <p:cNvSpPr txBox="1">
            <a:spLocks noChangeArrowheads="1"/>
          </p:cNvSpPr>
          <p:nvPr/>
        </p:nvSpPr>
        <p:spPr bwMode="auto">
          <a:xfrm>
            <a:off x="7046815" y="4165027"/>
            <a:ext cx="1158083" cy="246142"/>
          </a:xfrm>
          <a:prstGeom prst="roundRect">
            <a:avLst/>
          </a:prstGeom>
          <a:solidFill>
            <a:schemeClr val="bg1">
              <a:lumMod val="85000"/>
            </a:schemeClr>
          </a:solidFill>
          <a:ln w="3175">
            <a:solidFill>
              <a:schemeClr val="bg1">
                <a:lumMod val="50000"/>
              </a:schemeClr>
            </a:solidFill>
            <a:headEnd/>
            <a:tailEnd/>
          </a:ln>
        </p:spPr>
        <p:style>
          <a:lnRef idx="1">
            <a:schemeClr val="accent1"/>
          </a:lnRef>
          <a:fillRef idx="2">
            <a:schemeClr val="accent1"/>
          </a:fillRef>
          <a:effectRef idx="1">
            <a:schemeClr val="accent1"/>
          </a:effectRef>
          <a:fontRef idx="minor">
            <a:schemeClr val="dk1"/>
          </a:fontRef>
        </p:style>
        <p:txBody>
          <a:bodyPr>
            <a:noAutofit/>
          </a:bodyPr>
          <a:lstStyle/>
          <a:p>
            <a:pPr algn="ctr">
              <a:spcBef>
                <a:spcPct val="50000"/>
              </a:spcBef>
            </a:pPr>
            <a:r>
              <a:rPr lang="ko-KR" altLang="en-US" sz="1100">
                <a:solidFill>
                  <a:schemeClr val="tx1">
                    <a:lumMod val="95000"/>
                    <a:lumOff val="5000"/>
                  </a:schemeClr>
                </a:solidFill>
                <a:latin typeface="+mn-ea"/>
              </a:rPr>
              <a:t>용이성 영역</a:t>
            </a:r>
          </a:p>
        </p:txBody>
      </p:sp>
      <p:sp>
        <p:nvSpPr>
          <p:cNvPr id="130" name="Text Box 37"/>
          <p:cNvSpPr txBox="1">
            <a:spLocks noChangeArrowheads="1"/>
          </p:cNvSpPr>
          <p:nvPr/>
        </p:nvSpPr>
        <p:spPr bwMode="auto">
          <a:xfrm>
            <a:off x="7046815" y="3619312"/>
            <a:ext cx="1158083" cy="246142"/>
          </a:xfrm>
          <a:prstGeom prst="roundRect">
            <a:avLst/>
          </a:prstGeom>
          <a:solidFill>
            <a:schemeClr val="bg1">
              <a:lumMod val="85000"/>
            </a:schemeClr>
          </a:solidFill>
          <a:ln w="3175">
            <a:solidFill>
              <a:schemeClr val="bg1">
                <a:lumMod val="50000"/>
              </a:schemeClr>
            </a:solidFill>
            <a:headEnd/>
            <a:tailEnd/>
          </a:ln>
        </p:spPr>
        <p:style>
          <a:lnRef idx="1">
            <a:schemeClr val="accent1"/>
          </a:lnRef>
          <a:fillRef idx="2">
            <a:schemeClr val="accent1"/>
          </a:fillRef>
          <a:effectRef idx="1">
            <a:schemeClr val="accent1"/>
          </a:effectRef>
          <a:fontRef idx="minor">
            <a:schemeClr val="dk1"/>
          </a:fontRef>
        </p:style>
        <p:txBody>
          <a:bodyPr>
            <a:noAutofit/>
          </a:bodyPr>
          <a:lstStyle/>
          <a:p>
            <a:pPr algn="ctr">
              <a:spcBef>
                <a:spcPct val="50000"/>
              </a:spcBef>
            </a:pPr>
            <a:r>
              <a:rPr lang="ko-KR" altLang="en-US" sz="1100">
                <a:latin typeface="+mn-ea"/>
              </a:rPr>
              <a:t>비용이성 영역</a:t>
            </a:r>
          </a:p>
        </p:txBody>
      </p:sp>
      <p:sp>
        <p:nvSpPr>
          <p:cNvPr id="131" name="Text Box 31"/>
          <p:cNvSpPr txBox="1">
            <a:spLocks noChangeArrowheads="1"/>
          </p:cNvSpPr>
          <p:nvPr/>
        </p:nvSpPr>
        <p:spPr bwMode="auto">
          <a:xfrm>
            <a:off x="8587979" y="5181600"/>
            <a:ext cx="955442" cy="252747"/>
          </a:xfrm>
          <a:prstGeom prst="roundRect">
            <a:avLst/>
          </a:prstGeom>
          <a:solidFill>
            <a:schemeClr val="accent2">
              <a:lumMod val="20000"/>
              <a:lumOff val="80000"/>
            </a:schemeClr>
          </a:solidFill>
          <a:ln w="3175">
            <a:solidFill>
              <a:schemeClr val="bg1">
                <a:lumMod val="50000"/>
              </a:schemeClr>
            </a:solidFill>
            <a:headEnd/>
            <a:tailEnd/>
          </a:ln>
        </p:spPr>
        <p:style>
          <a:lnRef idx="1">
            <a:schemeClr val="accent1"/>
          </a:lnRef>
          <a:fillRef idx="2">
            <a:schemeClr val="accent1"/>
          </a:fillRef>
          <a:effectRef idx="1">
            <a:schemeClr val="accent1"/>
          </a:effectRef>
          <a:fontRef idx="minor">
            <a:schemeClr val="dk1"/>
          </a:fontRef>
        </p:style>
        <p:txBody>
          <a:bodyPr>
            <a:noAutofit/>
          </a:bodyPr>
          <a:lstStyle/>
          <a:p>
            <a:pPr algn="ctr">
              <a:spcBef>
                <a:spcPct val="50000"/>
              </a:spcBef>
            </a:pPr>
            <a:r>
              <a:rPr lang="ko-KR" altLang="en-US" sz="1100" dirty="0">
                <a:latin typeface="+mn-ea"/>
              </a:rPr>
              <a:t>신규성 위반</a:t>
            </a:r>
          </a:p>
        </p:txBody>
      </p:sp>
      <p:sp>
        <p:nvSpPr>
          <p:cNvPr id="133" name="Text Box 31"/>
          <p:cNvSpPr txBox="1">
            <a:spLocks noChangeArrowheads="1"/>
          </p:cNvSpPr>
          <p:nvPr/>
        </p:nvSpPr>
        <p:spPr bwMode="auto">
          <a:xfrm>
            <a:off x="8587979" y="4659429"/>
            <a:ext cx="955442" cy="252747"/>
          </a:xfrm>
          <a:prstGeom prst="roundRect">
            <a:avLst/>
          </a:prstGeom>
          <a:solidFill>
            <a:schemeClr val="accent2">
              <a:lumMod val="20000"/>
              <a:lumOff val="80000"/>
            </a:schemeClr>
          </a:solidFill>
          <a:ln w="3175">
            <a:solidFill>
              <a:schemeClr val="bg1">
                <a:lumMod val="50000"/>
              </a:schemeClr>
            </a:solidFill>
            <a:headEnd/>
            <a:tailEnd/>
          </a:ln>
        </p:spPr>
        <p:style>
          <a:lnRef idx="1">
            <a:schemeClr val="accent1"/>
          </a:lnRef>
          <a:fillRef idx="2">
            <a:schemeClr val="accent1"/>
          </a:fillRef>
          <a:effectRef idx="1">
            <a:schemeClr val="accent1"/>
          </a:effectRef>
          <a:fontRef idx="minor">
            <a:schemeClr val="dk1"/>
          </a:fontRef>
        </p:style>
        <p:txBody>
          <a:bodyPr>
            <a:noAutofit/>
          </a:bodyPr>
          <a:lstStyle/>
          <a:p>
            <a:pPr algn="ctr">
              <a:spcBef>
                <a:spcPct val="50000"/>
              </a:spcBef>
            </a:pPr>
            <a:r>
              <a:rPr lang="ko-KR" altLang="en-US" sz="1100" dirty="0">
                <a:latin typeface="+mn-ea"/>
              </a:rPr>
              <a:t>진보성 위반</a:t>
            </a:r>
          </a:p>
        </p:txBody>
      </p:sp>
      <p:sp>
        <p:nvSpPr>
          <p:cNvPr id="136" name="Text Box 31"/>
          <p:cNvSpPr txBox="1">
            <a:spLocks noChangeArrowheads="1"/>
          </p:cNvSpPr>
          <p:nvPr/>
        </p:nvSpPr>
        <p:spPr bwMode="auto">
          <a:xfrm>
            <a:off x="8587979" y="4172496"/>
            <a:ext cx="955442" cy="252747"/>
          </a:xfrm>
          <a:prstGeom prst="roundRect">
            <a:avLst/>
          </a:prstGeom>
          <a:solidFill>
            <a:schemeClr val="accent2">
              <a:lumMod val="20000"/>
              <a:lumOff val="80000"/>
            </a:schemeClr>
          </a:solidFill>
          <a:ln w="3175">
            <a:solidFill>
              <a:schemeClr val="bg1">
                <a:lumMod val="50000"/>
              </a:schemeClr>
            </a:solidFill>
            <a:headEnd/>
            <a:tailEnd/>
          </a:ln>
        </p:spPr>
        <p:style>
          <a:lnRef idx="1">
            <a:schemeClr val="accent1"/>
          </a:lnRef>
          <a:fillRef idx="2">
            <a:schemeClr val="accent1"/>
          </a:fillRef>
          <a:effectRef idx="1">
            <a:schemeClr val="accent1"/>
          </a:effectRef>
          <a:fontRef idx="minor">
            <a:schemeClr val="dk1"/>
          </a:fontRef>
        </p:style>
        <p:txBody>
          <a:bodyPr>
            <a:noAutofit/>
          </a:bodyPr>
          <a:lstStyle/>
          <a:p>
            <a:pPr algn="ctr">
              <a:spcBef>
                <a:spcPct val="50000"/>
              </a:spcBef>
            </a:pPr>
            <a:r>
              <a:rPr lang="ko-KR" altLang="en-US" sz="1100" dirty="0">
                <a:latin typeface="+mn-ea"/>
              </a:rPr>
              <a:t>진보성 위반</a:t>
            </a:r>
          </a:p>
        </p:txBody>
      </p:sp>
      <p:sp>
        <p:nvSpPr>
          <p:cNvPr id="138" name="Text Box 31"/>
          <p:cNvSpPr txBox="1">
            <a:spLocks noChangeArrowheads="1"/>
          </p:cNvSpPr>
          <p:nvPr/>
        </p:nvSpPr>
        <p:spPr bwMode="auto">
          <a:xfrm>
            <a:off x="8587979" y="3619312"/>
            <a:ext cx="955442" cy="252747"/>
          </a:xfrm>
          <a:prstGeom prst="roundRect">
            <a:avLst/>
          </a:prstGeom>
          <a:solidFill>
            <a:schemeClr val="tx1"/>
          </a:solidFill>
          <a:ln w="3175">
            <a:solidFill>
              <a:schemeClr val="bg1">
                <a:lumMod val="50000"/>
              </a:schemeClr>
            </a:solidFill>
            <a:headEnd/>
            <a:tailEnd/>
          </a:ln>
        </p:spPr>
        <p:style>
          <a:lnRef idx="1">
            <a:schemeClr val="accent1"/>
          </a:lnRef>
          <a:fillRef idx="2">
            <a:schemeClr val="accent1"/>
          </a:fillRef>
          <a:effectRef idx="1">
            <a:schemeClr val="accent1"/>
          </a:effectRef>
          <a:fontRef idx="minor">
            <a:schemeClr val="dk1"/>
          </a:fontRef>
        </p:style>
        <p:txBody>
          <a:bodyPr>
            <a:noAutofit/>
          </a:bodyPr>
          <a:lstStyle/>
          <a:p>
            <a:pPr algn="ctr">
              <a:spcBef>
                <a:spcPct val="50000"/>
              </a:spcBef>
            </a:pPr>
            <a:r>
              <a:rPr lang="ko-KR" altLang="en-US" sz="1100" dirty="0" err="1">
                <a:solidFill>
                  <a:schemeClr val="bg1"/>
                </a:solidFill>
                <a:latin typeface="+mn-ea"/>
              </a:rPr>
              <a:t>등록가능</a:t>
            </a:r>
            <a:endParaRPr lang="ko-KR" altLang="en-US" sz="1100" dirty="0">
              <a:solidFill>
                <a:schemeClr val="bg1"/>
              </a:solidFill>
              <a:latin typeface="+mn-ea"/>
            </a:endParaRPr>
          </a:p>
        </p:txBody>
      </p:sp>
      <p:sp>
        <p:nvSpPr>
          <p:cNvPr id="139" name="Text Box 31"/>
          <p:cNvSpPr txBox="1">
            <a:spLocks noChangeArrowheads="1"/>
          </p:cNvSpPr>
          <p:nvPr/>
        </p:nvSpPr>
        <p:spPr bwMode="auto">
          <a:xfrm>
            <a:off x="10043033" y="5181600"/>
            <a:ext cx="1099538" cy="252747"/>
          </a:xfrm>
          <a:prstGeom prst="roundRect">
            <a:avLst/>
          </a:prstGeom>
          <a:solidFill>
            <a:schemeClr val="accent1">
              <a:lumMod val="20000"/>
              <a:lumOff val="80000"/>
            </a:schemeClr>
          </a:solidFill>
          <a:ln w="3175">
            <a:solidFill>
              <a:schemeClr val="bg1">
                <a:lumMod val="50000"/>
              </a:schemeClr>
            </a:solidFill>
            <a:headEnd/>
            <a:tailEnd/>
          </a:ln>
        </p:spPr>
        <p:style>
          <a:lnRef idx="1">
            <a:schemeClr val="accent1"/>
          </a:lnRef>
          <a:fillRef idx="2">
            <a:schemeClr val="accent1"/>
          </a:fillRef>
          <a:effectRef idx="1">
            <a:schemeClr val="accent1"/>
          </a:effectRef>
          <a:fontRef idx="minor">
            <a:schemeClr val="dk1"/>
          </a:fontRef>
        </p:style>
        <p:txBody>
          <a:bodyPr>
            <a:noAutofit/>
          </a:bodyPr>
          <a:lstStyle/>
          <a:p>
            <a:pPr algn="ctr">
              <a:spcBef>
                <a:spcPct val="50000"/>
              </a:spcBef>
            </a:pPr>
            <a:r>
              <a:rPr lang="ko-KR" altLang="en-US" sz="1100" dirty="0">
                <a:latin typeface="+mn-ea"/>
              </a:rPr>
              <a:t>신규성 위반</a:t>
            </a:r>
          </a:p>
        </p:txBody>
      </p:sp>
      <p:sp>
        <p:nvSpPr>
          <p:cNvPr id="140" name="Text Box 31"/>
          <p:cNvSpPr txBox="1">
            <a:spLocks noChangeArrowheads="1"/>
          </p:cNvSpPr>
          <p:nvPr/>
        </p:nvSpPr>
        <p:spPr bwMode="auto">
          <a:xfrm>
            <a:off x="10043033" y="4659429"/>
            <a:ext cx="1099538" cy="252747"/>
          </a:xfrm>
          <a:prstGeom prst="roundRect">
            <a:avLst/>
          </a:prstGeom>
          <a:solidFill>
            <a:schemeClr val="accent1">
              <a:lumMod val="20000"/>
              <a:lumOff val="80000"/>
            </a:schemeClr>
          </a:solidFill>
          <a:ln w="3175">
            <a:solidFill>
              <a:schemeClr val="bg1">
                <a:lumMod val="50000"/>
              </a:schemeClr>
            </a:solidFill>
            <a:headEnd/>
            <a:tailEnd/>
          </a:ln>
        </p:spPr>
        <p:style>
          <a:lnRef idx="1">
            <a:schemeClr val="accent1"/>
          </a:lnRef>
          <a:fillRef idx="2">
            <a:schemeClr val="accent1"/>
          </a:fillRef>
          <a:effectRef idx="1">
            <a:schemeClr val="accent1"/>
          </a:effectRef>
          <a:fontRef idx="minor">
            <a:schemeClr val="dk1"/>
          </a:fontRef>
        </p:style>
        <p:txBody>
          <a:bodyPr>
            <a:noAutofit/>
          </a:bodyPr>
          <a:lstStyle/>
          <a:p>
            <a:pPr algn="ctr">
              <a:spcBef>
                <a:spcPct val="50000"/>
              </a:spcBef>
            </a:pPr>
            <a:r>
              <a:rPr lang="ko-KR" altLang="en-US" sz="1100" dirty="0">
                <a:latin typeface="+mn-ea"/>
              </a:rPr>
              <a:t>진보성 위반</a:t>
            </a:r>
          </a:p>
        </p:txBody>
      </p:sp>
      <p:sp>
        <p:nvSpPr>
          <p:cNvPr id="141" name="Text Box 31"/>
          <p:cNvSpPr txBox="1">
            <a:spLocks noChangeArrowheads="1"/>
          </p:cNvSpPr>
          <p:nvPr/>
        </p:nvSpPr>
        <p:spPr bwMode="auto">
          <a:xfrm>
            <a:off x="10043033" y="4172496"/>
            <a:ext cx="1099538" cy="252747"/>
          </a:xfrm>
          <a:prstGeom prst="roundRect">
            <a:avLst/>
          </a:prstGeom>
          <a:solidFill>
            <a:schemeClr val="tx2">
              <a:lumMod val="50000"/>
            </a:schemeClr>
          </a:solidFill>
          <a:ln w="3175">
            <a:solidFill>
              <a:schemeClr val="bg1">
                <a:lumMod val="50000"/>
              </a:schemeClr>
            </a:solidFill>
            <a:headEnd/>
            <a:tailEnd/>
          </a:ln>
        </p:spPr>
        <p:style>
          <a:lnRef idx="1">
            <a:schemeClr val="accent1"/>
          </a:lnRef>
          <a:fillRef idx="2">
            <a:schemeClr val="accent1"/>
          </a:fillRef>
          <a:effectRef idx="1">
            <a:schemeClr val="accent1"/>
          </a:effectRef>
          <a:fontRef idx="minor">
            <a:schemeClr val="dk1"/>
          </a:fontRef>
        </p:style>
        <p:txBody>
          <a:bodyPr>
            <a:noAutofit/>
          </a:bodyPr>
          <a:lstStyle/>
          <a:p>
            <a:pPr algn="ctr">
              <a:spcBef>
                <a:spcPct val="50000"/>
              </a:spcBef>
            </a:pPr>
            <a:r>
              <a:rPr lang="ko-KR" altLang="en-US" sz="1100" dirty="0" err="1">
                <a:solidFill>
                  <a:schemeClr val="bg1"/>
                </a:solidFill>
                <a:latin typeface="+mn-ea"/>
              </a:rPr>
              <a:t>등록가능</a:t>
            </a:r>
            <a:endParaRPr lang="ko-KR" altLang="en-US" sz="1100" dirty="0">
              <a:solidFill>
                <a:schemeClr val="bg1"/>
              </a:solidFill>
              <a:latin typeface="+mn-ea"/>
            </a:endParaRPr>
          </a:p>
        </p:txBody>
      </p:sp>
      <p:sp>
        <p:nvSpPr>
          <p:cNvPr id="147" name="Text Box 31"/>
          <p:cNvSpPr txBox="1">
            <a:spLocks noChangeArrowheads="1"/>
          </p:cNvSpPr>
          <p:nvPr/>
        </p:nvSpPr>
        <p:spPr bwMode="auto">
          <a:xfrm>
            <a:off x="10043033" y="3619312"/>
            <a:ext cx="1099538" cy="252747"/>
          </a:xfrm>
          <a:prstGeom prst="roundRect">
            <a:avLst/>
          </a:prstGeom>
          <a:solidFill>
            <a:schemeClr val="tx1"/>
          </a:solidFill>
          <a:ln w="3175">
            <a:solidFill>
              <a:schemeClr val="bg1">
                <a:lumMod val="50000"/>
              </a:schemeClr>
            </a:solidFill>
            <a:headEnd/>
            <a:tailEnd/>
          </a:ln>
        </p:spPr>
        <p:style>
          <a:lnRef idx="1">
            <a:schemeClr val="accent1"/>
          </a:lnRef>
          <a:fillRef idx="2">
            <a:schemeClr val="accent1"/>
          </a:fillRef>
          <a:effectRef idx="1">
            <a:schemeClr val="accent1"/>
          </a:effectRef>
          <a:fontRef idx="minor">
            <a:schemeClr val="dk1"/>
          </a:fontRef>
        </p:style>
        <p:txBody>
          <a:bodyPr>
            <a:noAutofit/>
          </a:bodyPr>
          <a:lstStyle/>
          <a:p>
            <a:pPr algn="ctr">
              <a:spcBef>
                <a:spcPct val="50000"/>
              </a:spcBef>
            </a:pPr>
            <a:r>
              <a:rPr lang="ko-KR" altLang="en-US" sz="1100" dirty="0" err="1">
                <a:solidFill>
                  <a:schemeClr val="bg1"/>
                </a:solidFill>
                <a:latin typeface="+mn-ea"/>
              </a:rPr>
              <a:t>등록가능</a:t>
            </a:r>
            <a:endParaRPr lang="ko-KR" altLang="en-US" sz="1100" dirty="0">
              <a:solidFill>
                <a:schemeClr val="bg1"/>
              </a:solidFill>
              <a:latin typeface="+mn-ea"/>
            </a:endParaRPr>
          </a:p>
        </p:txBody>
      </p:sp>
      <p:sp>
        <p:nvSpPr>
          <p:cNvPr id="3" name="슬라이드 번호 개체 틀 2"/>
          <p:cNvSpPr>
            <a:spLocks noGrp="1"/>
          </p:cNvSpPr>
          <p:nvPr>
            <p:ph type="sldNum" sz="quarter" idx="12"/>
          </p:nvPr>
        </p:nvSpPr>
        <p:spPr/>
        <p:txBody>
          <a:bodyPr/>
          <a:lstStyle/>
          <a:p>
            <a:r>
              <a:rPr lang="en-US" altLang="ko-KR"/>
              <a:t>207</a:t>
            </a:r>
            <a:endParaRPr lang="ko-KR" altLang="en-US"/>
          </a:p>
        </p:txBody>
      </p:sp>
    </p:spTree>
    <p:extLst>
      <p:ext uri="{BB962C8B-B14F-4D97-AF65-F5344CB8AC3E}">
        <p14:creationId xmlns:p14="http://schemas.microsoft.com/office/powerpoint/2010/main" val="2724893281"/>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53</a:t>
            </a:r>
            <a:r>
              <a:rPr lang="ko-KR" altLang="en-US" dirty="0"/>
              <a:t>조</a:t>
            </a:r>
          </a:p>
        </p:txBody>
      </p:sp>
      <p:sp>
        <p:nvSpPr>
          <p:cNvPr id="5" name="텍스트 개체 틀 4"/>
          <p:cNvSpPr>
            <a:spLocks noGrp="1"/>
          </p:cNvSpPr>
          <p:nvPr>
            <p:ph type="body" sz="quarter" idx="13"/>
          </p:nvPr>
        </p:nvSpPr>
        <p:spPr/>
        <p:txBody>
          <a:bodyPr/>
          <a:lstStyle/>
          <a:p>
            <a:r>
              <a:rPr lang="ko-KR" altLang="en-US" dirty="0"/>
              <a:t>시기적 요건</a:t>
            </a:r>
          </a:p>
        </p:txBody>
      </p:sp>
      <p:sp>
        <p:nvSpPr>
          <p:cNvPr id="60" name="TextBox 59"/>
          <p:cNvSpPr txBox="1"/>
          <p:nvPr/>
        </p:nvSpPr>
        <p:spPr>
          <a:xfrm>
            <a:off x="77875" y="986046"/>
            <a:ext cx="11936323" cy="954107"/>
          </a:xfrm>
          <a:prstGeom prst="rect">
            <a:avLst/>
          </a:prstGeom>
          <a:noFill/>
        </p:spPr>
        <p:txBody>
          <a:bodyPr wrap="square" rtlCol="0">
            <a:spAutoFit/>
          </a:bodyPr>
          <a:lstStyle/>
          <a:p>
            <a:pPr fontAlgn="base"/>
            <a:r>
              <a:rPr lang="ko-KR" altLang="en-US" sz="1400" dirty="0">
                <a:highlight>
                  <a:srgbClr val="FFFF00"/>
                </a:highlight>
              </a:rPr>
              <a:t>원출원이 있는 후 변경출원을 할 수 있으나 최초의 거절결정등본을 </a:t>
            </a:r>
            <a:r>
              <a:rPr lang="ko-KR" altLang="en-US" sz="1400" dirty="0" err="1">
                <a:highlight>
                  <a:srgbClr val="FFFF00"/>
                </a:highlight>
              </a:rPr>
              <a:t>송달받은</a:t>
            </a:r>
            <a:r>
              <a:rPr lang="ko-KR" altLang="en-US" sz="1400" dirty="0">
                <a:highlight>
                  <a:srgbClr val="FFFF00"/>
                </a:highlight>
              </a:rPr>
              <a:t> 날부터 </a:t>
            </a:r>
            <a:r>
              <a:rPr lang="en-US" altLang="ko-KR" sz="1400" dirty="0">
                <a:highlight>
                  <a:srgbClr val="FFFF00"/>
                </a:highlight>
              </a:rPr>
              <a:t>3</a:t>
            </a:r>
            <a:r>
              <a:rPr lang="ko-KR" altLang="en-US" sz="1400" dirty="0">
                <a:highlight>
                  <a:srgbClr val="FFFF00"/>
                </a:highlight>
              </a:rPr>
              <a:t>개월</a:t>
            </a:r>
            <a:r>
              <a:rPr lang="en-US" altLang="ko-KR" sz="1400" dirty="0">
                <a:highlight>
                  <a:srgbClr val="FFFF00"/>
                </a:highlight>
              </a:rPr>
              <a:t>(</a:t>
            </a:r>
            <a:r>
              <a:rPr lang="ko-KR" altLang="en-US" sz="1400" dirty="0" err="1">
                <a:highlight>
                  <a:srgbClr val="FFFF00"/>
                </a:highlight>
              </a:rPr>
              <a:t>거절결정불복심판청구를</a:t>
            </a:r>
            <a:r>
              <a:rPr lang="ko-KR" altLang="en-US" sz="1400" dirty="0">
                <a:highlight>
                  <a:srgbClr val="FFFF00"/>
                </a:highlight>
              </a:rPr>
              <a:t> 할 수 있는 기간이 연장된 경우에는 그 기간을 말한다</a:t>
            </a:r>
            <a:r>
              <a:rPr lang="en-US" altLang="ko-KR" sz="1400" dirty="0">
                <a:highlight>
                  <a:srgbClr val="FFFF00"/>
                </a:highlight>
              </a:rPr>
              <a:t>)</a:t>
            </a:r>
            <a:r>
              <a:rPr lang="ko-KR" altLang="en-US" sz="1400" dirty="0">
                <a:highlight>
                  <a:srgbClr val="FFFF00"/>
                </a:highlight>
              </a:rPr>
              <a:t>이 지난 후에는 </a:t>
            </a:r>
            <a:r>
              <a:rPr lang="ko-KR" altLang="en-US" sz="1400" dirty="0" err="1">
                <a:highlight>
                  <a:srgbClr val="FFFF00"/>
                </a:highlight>
              </a:rPr>
              <a:t>변경출원을</a:t>
            </a:r>
            <a:r>
              <a:rPr lang="ko-KR" altLang="en-US" sz="1400" dirty="0">
                <a:highlight>
                  <a:srgbClr val="FFFF00"/>
                </a:highlight>
              </a:rPr>
              <a:t> 할 수 없다</a:t>
            </a:r>
            <a:r>
              <a:rPr lang="en-US" altLang="ko-KR" sz="1400" dirty="0">
                <a:highlight>
                  <a:srgbClr val="FFFF00"/>
                </a:highlight>
              </a:rPr>
              <a:t>(</a:t>
            </a:r>
            <a:r>
              <a:rPr lang="ko-KR" altLang="en-US" sz="1400" dirty="0">
                <a:highlight>
                  <a:srgbClr val="FFFF00"/>
                </a:highlight>
              </a:rPr>
              <a:t>法 </a:t>
            </a:r>
            <a:r>
              <a:rPr lang="en-US" altLang="ko-KR" sz="1400" dirty="0">
                <a:highlight>
                  <a:srgbClr val="FFFF00"/>
                </a:highlight>
              </a:rPr>
              <a:t>53①Ⅰ). </a:t>
            </a:r>
            <a:r>
              <a:rPr lang="ko-KR" altLang="en-US" sz="1400" dirty="0">
                <a:solidFill>
                  <a:schemeClr val="tx2"/>
                </a:solidFill>
              </a:rPr>
              <a:t>이는 </a:t>
            </a:r>
            <a:r>
              <a:rPr lang="ko-KR" altLang="en-US" sz="1400" dirty="0" err="1">
                <a:solidFill>
                  <a:schemeClr val="tx2"/>
                </a:solidFill>
              </a:rPr>
              <a:t>변경출원이</a:t>
            </a:r>
            <a:r>
              <a:rPr lang="ko-KR" altLang="en-US" sz="1400" dirty="0">
                <a:solidFill>
                  <a:schemeClr val="tx2"/>
                </a:solidFill>
              </a:rPr>
              <a:t> 특허거절결정에 대한 </a:t>
            </a:r>
            <a:r>
              <a:rPr lang="ko-KR" altLang="en-US" sz="1400" dirty="0" err="1">
                <a:solidFill>
                  <a:schemeClr val="tx2"/>
                </a:solidFill>
              </a:rPr>
              <a:t>일방책</a:t>
            </a:r>
            <a:r>
              <a:rPr lang="en-US" altLang="ko-KR" sz="1400" dirty="0">
                <a:solidFill>
                  <a:schemeClr val="tx2"/>
                </a:solidFill>
              </a:rPr>
              <a:t>(</a:t>
            </a:r>
            <a:r>
              <a:rPr lang="ko-KR" altLang="en-US" sz="1400" dirty="0">
                <a:solidFill>
                  <a:schemeClr val="tx2"/>
                </a:solidFill>
              </a:rPr>
              <a:t>一方策</a:t>
            </a:r>
            <a:r>
              <a:rPr lang="en-US" altLang="ko-KR" sz="1400" dirty="0">
                <a:solidFill>
                  <a:schemeClr val="tx2"/>
                </a:solidFill>
              </a:rPr>
              <a:t>)</a:t>
            </a:r>
            <a:r>
              <a:rPr lang="ko-KR" altLang="en-US" sz="1400" dirty="0">
                <a:solidFill>
                  <a:schemeClr val="tx2"/>
                </a:solidFill>
              </a:rPr>
              <a:t>임을 감안하여 </a:t>
            </a:r>
            <a:r>
              <a:rPr lang="ko-KR" altLang="en-US" sz="1400" dirty="0" err="1">
                <a:solidFill>
                  <a:schemeClr val="tx2"/>
                </a:solidFill>
              </a:rPr>
              <a:t>출원인에게</a:t>
            </a:r>
            <a:r>
              <a:rPr lang="ko-KR" altLang="en-US" sz="1400" dirty="0">
                <a:solidFill>
                  <a:schemeClr val="tx2"/>
                </a:solidFill>
              </a:rPr>
              <a:t> </a:t>
            </a:r>
            <a:r>
              <a:rPr lang="ko-KR" altLang="en-US" sz="1400" dirty="0" err="1">
                <a:solidFill>
                  <a:schemeClr val="tx2"/>
                </a:solidFill>
              </a:rPr>
              <a:t>변경출원</a:t>
            </a:r>
            <a:r>
              <a:rPr lang="en-US" altLang="ko-KR" sz="1400" dirty="0">
                <a:solidFill>
                  <a:schemeClr val="tx2"/>
                </a:solidFill>
              </a:rPr>
              <a:t>, </a:t>
            </a:r>
            <a:r>
              <a:rPr lang="ko-KR" altLang="en-US" sz="1400" dirty="0">
                <a:solidFill>
                  <a:schemeClr val="tx2"/>
                </a:solidFill>
              </a:rPr>
              <a:t>거절결정불복심판의 청구와 재심사 청구 중 </a:t>
            </a:r>
            <a:r>
              <a:rPr lang="ko-KR" altLang="en-US" sz="1400" dirty="0" err="1">
                <a:solidFill>
                  <a:schemeClr val="tx2"/>
                </a:solidFill>
              </a:rPr>
              <a:t>택일적으로</a:t>
            </a:r>
            <a:r>
              <a:rPr lang="ko-KR" altLang="en-US" sz="1400" dirty="0">
                <a:solidFill>
                  <a:schemeClr val="tx2"/>
                </a:solidFill>
              </a:rPr>
              <a:t> 조치를 취할 수 있는 기회를 주기 위함이다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a:t>
            </a:r>
            <a:r>
              <a:rPr lang="ko-KR" altLang="en-US" sz="1400" dirty="0" err="1">
                <a:solidFill>
                  <a:schemeClr val="tx2"/>
                </a:solidFill>
              </a:rPr>
              <a:t>최초」특허거절결정등본을</a:t>
            </a:r>
            <a:r>
              <a:rPr lang="ko-KR" altLang="en-US" sz="1400" dirty="0">
                <a:solidFill>
                  <a:schemeClr val="tx2"/>
                </a:solidFill>
              </a:rPr>
              <a:t> 받은 경우에 한정되므로 거절결정불복심판 또는 재심사를 청구하여 원특허거절결정이 </a:t>
            </a:r>
            <a:r>
              <a:rPr lang="ko-KR" altLang="en-US" sz="1400" dirty="0" err="1">
                <a:solidFill>
                  <a:schemeClr val="tx2"/>
                </a:solidFill>
              </a:rPr>
              <a:t>취소되었다거나</a:t>
            </a:r>
            <a:r>
              <a:rPr lang="ko-KR" altLang="en-US" sz="1400" dirty="0">
                <a:solidFill>
                  <a:schemeClr val="tx2"/>
                </a:solidFill>
              </a:rPr>
              <a:t> 그에 따라 특허거절결정등본을 다시 </a:t>
            </a:r>
            <a:r>
              <a:rPr lang="ko-KR" altLang="en-US" sz="1400" dirty="0" err="1">
                <a:solidFill>
                  <a:schemeClr val="tx2"/>
                </a:solidFill>
              </a:rPr>
              <a:t>송달받아</a:t>
            </a:r>
            <a:r>
              <a:rPr lang="ko-KR" altLang="en-US" sz="1400" dirty="0">
                <a:solidFill>
                  <a:schemeClr val="tx2"/>
                </a:solidFill>
              </a:rPr>
              <a:t> </a:t>
            </a:r>
            <a:r>
              <a:rPr lang="en-US" altLang="ko-KR" sz="1400" dirty="0">
                <a:solidFill>
                  <a:schemeClr val="tx2"/>
                </a:solidFill>
              </a:rPr>
              <a:t>3</a:t>
            </a:r>
            <a:r>
              <a:rPr lang="ko-KR" altLang="en-US" sz="1400" dirty="0">
                <a:solidFill>
                  <a:schemeClr val="tx2"/>
                </a:solidFill>
              </a:rPr>
              <a:t>개월 이내라고 하더라도 </a:t>
            </a:r>
            <a:r>
              <a:rPr lang="ko-KR" altLang="en-US" sz="1400" dirty="0" err="1">
                <a:solidFill>
                  <a:schemeClr val="tx2"/>
                </a:solidFill>
              </a:rPr>
              <a:t>변경출원할</a:t>
            </a:r>
            <a:r>
              <a:rPr lang="ko-KR" altLang="en-US" sz="1400" dirty="0">
                <a:solidFill>
                  <a:schemeClr val="tx2"/>
                </a:solidFill>
              </a:rPr>
              <a:t> 수 없다</a:t>
            </a:r>
            <a:r>
              <a:rPr lang="en-US" altLang="ko-KR" sz="1400" dirty="0">
                <a:solidFill>
                  <a:schemeClr val="tx2"/>
                </a:solidFill>
              </a:rPr>
              <a:t>. </a:t>
            </a:r>
          </a:p>
        </p:txBody>
      </p:sp>
      <p:cxnSp>
        <p:nvCxnSpPr>
          <p:cNvPr id="61" name="직선 연결선 60"/>
          <p:cNvCxnSpPr/>
          <p:nvPr/>
        </p:nvCxnSpPr>
        <p:spPr>
          <a:xfrm>
            <a:off x="0" y="193834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순서도: 처리 62"/>
          <p:cNvSpPr/>
          <p:nvPr/>
        </p:nvSpPr>
        <p:spPr>
          <a:xfrm>
            <a:off x="1991544" y="2912656"/>
            <a:ext cx="4752528" cy="1177309"/>
          </a:xfrm>
          <a:prstGeom prst="flowChartProcess">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n-ea"/>
            </a:endParaRPr>
          </a:p>
        </p:txBody>
      </p:sp>
      <p:cxnSp>
        <p:nvCxnSpPr>
          <p:cNvPr id="64" name="직선 화살표 연결선 63"/>
          <p:cNvCxnSpPr/>
          <p:nvPr/>
        </p:nvCxnSpPr>
        <p:spPr>
          <a:xfrm>
            <a:off x="4115780" y="2637245"/>
            <a:ext cx="0" cy="3839755"/>
          </a:xfrm>
          <a:prstGeom prst="straightConnector1">
            <a:avLst/>
          </a:prstGeom>
          <a:ln w="28575">
            <a:solidFill>
              <a:schemeClr val="accent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5" name="Rectangle 14"/>
          <p:cNvSpPr>
            <a:spLocks noChangeArrowheads="1"/>
          </p:cNvSpPr>
          <p:nvPr/>
        </p:nvSpPr>
        <p:spPr bwMode="auto">
          <a:xfrm rot="10800000" flipV="1">
            <a:off x="3645722" y="2260503"/>
            <a:ext cx="922612" cy="349297"/>
          </a:xfrm>
          <a:prstGeom prst="ellipse">
            <a:avLst/>
          </a:prstGeom>
          <a:solidFill>
            <a:schemeClr val="accent1">
              <a:lumMod val="50000"/>
            </a:schemeClr>
          </a:solidFill>
          <a:ln w="9525" algn="ctr">
            <a:solidFill>
              <a:schemeClr val="bg1">
                <a:lumMod val="50000"/>
              </a:schemeClr>
            </a:solidFill>
            <a:miter lim="800000"/>
            <a:headEnd/>
            <a:tailEnd/>
          </a:ln>
        </p:spPr>
        <p:txBody>
          <a:bodyPr wrap="none" anchor="ctr"/>
          <a:lstStyle/>
          <a:p>
            <a:pPr algn="ctr"/>
            <a:r>
              <a:rPr lang="ko-KR" altLang="en-US" sz="1200" dirty="0">
                <a:solidFill>
                  <a:schemeClr val="bg1"/>
                </a:solidFill>
                <a:latin typeface="+mn-ea"/>
              </a:rPr>
              <a:t>심사단계</a:t>
            </a:r>
          </a:p>
        </p:txBody>
      </p:sp>
      <p:cxnSp>
        <p:nvCxnSpPr>
          <p:cNvPr id="68" name="직선 화살표 연결선 67"/>
          <p:cNvCxnSpPr/>
          <p:nvPr/>
        </p:nvCxnSpPr>
        <p:spPr>
          <a:xfrm>
            <a:off x="7724932" y="2637245"/>
            <a:ext cx="0" cy="3728771"/>
          </a:xfrm>
          <a:prstGeom prst="straightConnector1">
            <a:avLst/>
          </a:prstGeom>
          <a:ln w="28575">
            <a:solidFill>
              <a:schemeClr val="accent2">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0" name="Rectangle 14"/>
          <p:cNvSpPr>
            <a:spLocks noChangeArrowheads="1"/>
          </p:cNvSpPr>
          <p:nvPr/>
        </p:nvSpPr>
        <p:spPr bwMode="auto">
          <a:xfrm rot="10800000" flipV="1">
            <a:off x="7254874" y="2260503"/>
            <a:ext cx="922612" cy="349297"/>
          </a:xfrm>
          <a:prstGeom prst="ellipse">
            <a:avLst/>
          </a:prstGeom>
          <a:solidFill>
            <a:schemeClr val="accent2"/>
          </a:solidFill>
          <a:ln w="9525" algn="ctr">
            <a:solidFill>
              <a:schemeClr val="bg1">
                <a:lumMod val="50000"/>
              </a:schemeClr>
            </a:solidFill>
            <a:miter lim="800000"/>
            <a:headEnd/>
            <a:tailEnd/>
          </a:ln>
        </p:spPr>
        <p:txBody>
          <a:bodyPr wrap="none" anchor="ctr"/>
          <a:lstStyle/>
          <a:p>
            <a:pPr algn="ctr"/>
            <a:r>
              <a:rPr lang="ko-KR" altLang="en-US" sz="1200" dirty="0">
                <a:solidFill>
                  <a:schemeClr val="bg1"/>
                </a:solidFill>
                <a:latin typeface="+mn-ea"/>
              </a:rPr>
              <a:t>심판단계</a:t>
            </a:r>
          </a:p>
        </p:txBody>
      </p:sp>
      <p:cxnSp>
        <p:nvCxnSpPr>
          <p:cNvPr id="72" name="꺾인 연결선 71"/>
          <p:cNvCxnSpPr>
            <a:stCxn id="80" idx="1"/>
          </p:cNvCxnSpPr>
          <p:nvPr/>
        </p:nvCxnSpPr>
        <p:spPr>
          <a:xfrm rot="10800000" flipH="1" flipV="1">
            <a:off x="3647728" y="3465772"/>
            <a:ext cx="459299" cy="626421"/>
          </a:xfrm>
          <a:prstGeom prst="bentConnector4">
            <a:avLst>
              <a:gd name="adj1" fmla="val -49771"/>
              <a:gd name="adj2" fmla="val 96321"/>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꺾인 연결선 72"/>
          <p:cNvCxnSpPr/>
          <p:nvPr/>
        </p:nvCxnSpPr>
        <p:spPr>
          <a:xfrm rot="10800000" flipH="1" flipV="1">
            <a:off x="3647728" y="5729364"/>
            <a:ext cx="459299" cy="626421"/>
          </a:xfrm>
          <a:prstGeom prst="bentConnector4">
            <a:avLst>
              <a:gd name="adj1" fmla="val -49771"/>
              <a:gd name="adj2" fmla="val 96321"/>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직선 연결선 73"/>
          <p:cNvCxnSpPr>
            <a:stCxn id="65" idx="4"/>
          </p:cNvCxnSpPr>
          <p:nvPr/>
        </p:nvCxnSpPr>
        <p:spPr>
          <a:xfrm>
            <a:off x="4107028" y="2609800"/>
            <a:ext cx="8752" cy="2240334"/>
          </a:xfrm>
          <a:prstGeom prst="line">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순서도: 처리 74"/>
          <p:cNvSpPr/>
          <p:nvPr/>
        </p:nvSpPr>
        <p:spPr>
          <a:xfrm>
            <a:off x="3647728" y="2808398"/>
            <a:ext cx="936104" cy="210046"/>
          </a:xfrm>
          <a:prstGeom prst="flowChartProcess">
            <a:avLst/>
          </a:prstGeom>
          <a:solidFill>
            <a:schemeClr val="accent3">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특허출원</a:t>
            </a:r>
          </a:p>
        </p:txBody>
      </p:sp>
      <p:sp>
        <p:nvSpPr>
          <p:cNvPr id="76" name="순서도: 처리 75"/>
          <p:cNvSpPr/>
          <p:nvPr/>
        </p:nvSpPr>
        <p:spPr>
          <a:xfrm>
            <a:off x="3647728" y="3084573"/>
            <a:ext cx="936104" cy="210046"/>
          </a:xfrm>
          <a:prstGeom prst="flowChartProcess">
            <a:avLst/>
          </a:prstGeom>
          <a:solidFill>
            <a:schemeClr val="accent3">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거절결정</a:t>
            </a:r>
          </a:p>
        </p:txBody>
      </p:sp>
      <p:sp>
        <p:nvSpPr>
          <p:cNvPr id="80" name="순서도: 처리 79"/>
          <p:cNvSpPr/>
          <p:nvPr/>
        </p:nvSpPr>
        <p:spPr>
          <a:xfrm>
            <a:off x="3647728" y="3360749"/>
            <a:ext cx="936104" cy="210046"/>
          </a:xfrm>
          <a:prstGeom prst="flowChartProcess">
            <a:avLst/>
          </a:prstGeom>
          <a:solidFill>
            <a:schemeClr val="accent3">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등본송달</a:t>
            </a:r>
          </a:p>
        </p:txBody>
      </p:sp>
      <p:sp>
        <p:nvSpPr>
          <p:cNvPr id="81" name="순서도: 처리 80"/>
          <p:cNvSpPr/>
          <p:nvPr/>
        </p:nvSpPr>
        <p:spPr>
          <a:xfrm>
            <a:off x="3647728" y="3768753"/>
            <a:ext cx="936104" cy="210046"/>
          </a:xfrm>
          <a:prstGeom prst="flowChartProcess">
            <a:avLst/>
          </a:prstGeom>
          <a:solidFill>
            <a:schemeClr val="accent3">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재심사청구</a:t>
            </a:r>
          </a:p>
        </p:txBody>
      </p:sp>
      <p:sp>
        <p:nvSpPr>
          <p:cNvPr id="83" name="순서도: 처리 82"/>
          <p:cNvSpPr/>
          <p:nvPr/>
        </p:nvSpPr>
        <p:spPr>
          <a:xfrm>
            <a:off x="3647728" y="4195728"/>
            <a:ext cx="936104" cy="210046"/>
          </a:xfrm>
          <a:prstGeom prst="flowChartProcess">
            <a:avLst/>
          </a:prstGeom>
          <a:solidFill>
            <a:schemeClr val="accent3">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a:solidFill>
                  <a:schemeClr val="tx1"/>
                </a:solidFill>
                <a:latin typeface="+mn-ea"/>
              </a:rPr>
              <a:t>거절결정</a:t>
            </a:r>
            <a:endParaRPr lang="ko-KR" altLang="en-US" sz="1050" dirty="0">
              <a:solidFill>
                <a:schemeClr val="tx1"/>
              </a:solidFill>
              <a:latin typeface="+mn-ea"/>
            </a:endParaRPr>
          </a:p>
        </p:txBody>
      </p:sp>
      <p:sp>
        <p:nvSpPr>
          <p:cNvPr id="84" name="순서도: 처리 83"/>
          <p:cNvSpPr/>
          <p:nvPr/>
        </p:nvSpPr>
        <p:spPr>
          <a:xfrm>
            <a:off x="3647728" y="4468170"/>
            <a:ext cx="936104" cy="210046"/>
          </a:xfrm>
          <a:prstGeom prst="flowChartProcess">
            <a:avLst/>
          </a:prstGeom>
          <a:solidFill>
            <a:schemeClr val="accent3">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등본송달</a:t>
            </a:r>
          </a:p>
        </p:txBody>
      </p:sp>
      <p:cxnSp>
        <p:nvCxnSpPr>
          <p:cNvPr id="85" name="직선 연결선 84"/>
          <p:cNvCxnSpPr/>
          <p:nvPr/>
        </p:nvCxnSpPr>
        <p:spPr>
          <a:xfrm flipH="1">
            <a:off x="4107026" y="4850133"/>
            <a:ext cx="3617906" cy="0"/>
          </a:xfrm>
          <a:prstGeom prst="line">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직선 연결선 85"/>
          <p:cNvCxnSpPr/>
          <p:nvPr/>
        </p:nvCxnSpPr>
        <p:spPr>
          <a:xfrm flipH="1">
            <a:off x="4107026" y="5244868"/>
            <a:ext cx="3617906" cy="0"/>
          </a:xfrm>
          <a:prstGeom prst="line">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직선 연결선 86"/>
          <p:cNvCxnSpPr/>
          <p:nvPr/>
        </p:nvCxnSpPr>
        <p:spPr>
          <a:xfrm>
            <a:off x="4107028" y="5231332"/>
            <a:ext cx="0" cy="1245668"/>
          </a:xfrm>
          <a:prstGeom prst="line">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8" name="순서도: 처리 87"/>
          <p:cNvSpPr/>
          <p:nvPr/>
        </p:nvSpPr>
        <p:spPr>
          <a:xfrm>
            <a:off x="3647728" y="5358395"/>
            <a:ext cx="936104" cy="210046"/>
          </a:xfrm>
          <a:prstGeom prst="flowChartProcess">
            <a:avLst/>
          </a:prstGeom>
          <a:solidFill>
            <a:schemeClr val="accent3">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거절결정</a:t>
            </a:r>
          </a:p>
        </p:txBody>
      </p:sp>
      <p:sp>
        <p:nvSpPr>
          <p:cNvPr id="95" name="순서도: 처리 94"/>
          <p:cNvSpPr/>
          <p:nvPr/>
        </p:nvSpPr>
        <p:spPr>
          <a:xfrm>
            <a:off x="3647728" y="5634571"/>
            <a:ext cx="936104" cy="210046"/>
          </a:xfrm>
          <a:prstGeom prst="flowChartProcess">
            <a:avLst/>
          </a:prstGeom>
          <a:solidFill>
            <a:schemeClr val="accent3">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등본송달</a:t>
            </a:r>
          </a:p>
        </p:txBody>
      </p:sp>
      <p:sp>
        <p:nvSpPr>
          <p:cNvPr id="96" name="순서도: 처리 95"/>
          <p:cNvSpPr/>
          <p:nvPr/>
        </p:nvSpPr>
        <p:spPr>
          <a:xfrm>
            <a:off x="3647728" y="6042575"/>
            <a:ext cx="936104" cy="210046"/>
          </a:xfrm>
          <a:prstGeom prst="flowChartProcess">
            <a:avLst/>
          </a:prstGeom>
          <a:solidFill>
            <a:schemeClr val="accent3">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재심사청구</a:t>
            </a:r>
          </a:p>
        </p:txBody>
      </p:sp>
      <p:sp>
        <p:nvSpPr>
          <p:cNvPr id="103" name="Rectangle 14"/>
          <p:cNvSpPr>
            <a:spLocks noChangeArrowheads="1"/>
          </p:cNvSpPr>
          <p:nvPr/>
        </p:nvSpPr>
        <p:spPr bwMode="auto">
          <a:xfrm>
            <a:off x="2514721" y="3597692"/>
            <a:ext cx="1152128" cy="285458"/>
          </a:xfrm>
          <a:prstGeom prst="rect">
            <a:avLst/>
          </a:prstGeom>
          <a:noFill/>
          <a:ln w="9525" algn="ctr">
            <a:noFill/>
            <a:miter lim="800000"/>
            <a:headEnd/>
            <a:tailEnd/>
          </a:ln>
        </p:spPr>
        <p:txBody>
          <a:bodyPr wrap="none" anchor="ctr"/>
          <a:lstStyle/>
          <a:p>
            <a:pPr algn="ctr"/>
            <a:r>
              <a:rPr lang="en-US" altLang="ko-KR" sz="1100" dirty="0">
                <a:latin typeface="+mn-ea"/>
              </a:rPr>
              <a:t>3</a:t>
            </a:r>
            <a:r>
              <a:rPr lang="ko-KR" altLang="en-US" sz="1100" dirty="0">
                <a:latin typeface="+mn-ea"/>
              </a:rPr>
              <a:t>개월</a:t>
            </a:r>
          </a:p>
        </p:txBody>
      </p:sp>
      <p:sp>
        <p:nvSpPr>
          <p:cNvPr id="104" name="Rectangle 14"/>
          <p:cNvSpPr>
            <a:spLocks noChangeArrowheads="1"/>
          </p:cNvSpPr>
          <p:nvPr/>
        </p:nvSpPr>
        <p:spPr bwMode="auto">
          <a:xfrm>
            <a:off x="2514721" y="5844617"/>
            <a:ext cx="1152128" cy="285458"/>
          </a:xfrm>
          <a:prstGeom prst="rect">
            <a:avLst/>
          </a:prstGeom>
          <a:noFill/>
          <a:ln w="9525" algn="ctr">
            <a:noFill/>
            <a:miter lim="800000"/>
            <a:headEnd/>
            <a:tailEnd/>
          </a:ln>
        </p:spPr>
        <p:txBody>
          <a:bodyPr wrap="none" anchor="ctr"/>
          <a:lstStyle/>
          <a:p>
            <a:pPr algn="ctr"/>
            <a:r>
              <a:rPr lang="en-US" altLang="ko-KR" sz="1100" dirty="0">
                <a:latin typeface="+mn-ea"/>
              </a:rPr>
              <a:t>3</a:t>
            </a:r>
            <a:r>
              <a:rPr lang="ko-KR" altLang="en-US" sz="1100" dirty="0">
                <a:latin typeface="+mn-ea"/>
              </a:rPr>
              <a:t>개월</a:t>
            </a:r>
          </a:p>
        </p:txBody>
      </p:sp>
      <p:cxnSp>
        <p:nvCxnSpPr>
          <p:cNvPr id="105" name="직선 연결선 104"/>
          <p:cNvCxnSpPr/>
          <p:nvPr/>
        </p:nvCxnSpPr>
        <p:spPr>
          <a:xfrm>
            <a:off x="7724932" y="4850133"/>
            <a:ext cx="0" cy="394735"/>
          </a:xfrm>
          <a:prstGeom prst="line">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6" name="순서도: 처리 105"/>
          <p:cNvSpPr/>
          <p:nvPr/>
        </p:nvSpPr>
        <p:spPr>
          <a:xfrm>
            <a:off x="7248128" y="4955896"/>
            <a:ext cx="936104" cy="210046"/>
          </a:xfrm>
          <a:prstGeom prst="flowChartProcess">
            <a:avLst/>
          </a:prstGeom>
          <a:solidFill>
            <a:schemeClr val="accent3">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err="1">
                <a:solidFill>
                  <a:schemeClr val="tx1"/>
                </a:solidFill>
                <a:latin typeface="+mn-ea"/>
              </a:rPr>
              <a:t>인용심결</a:t>
            </a:r>
            <a:endParaRPr lang="ko-KR" altLang="en-US" sz="1050" dirty="0">
              <a:solidFill>
                <a:schemeClr val="tx1"/>
              </a:solidFill>
              <a:latin typeface="+mn-ea"/>
            </a:endParaRPr>
          </a:p>
        </p:txBody>
      </p:sp>
      <p:sp>
        <p:nvSpPr>
          <p:cNvPr id="107" name="Rectangle 14"/>
          <p:cNvSpPr>
            <a:spLocks noChangeArrowheads="1"/>
          </p:cNvSpPr>
          <p:nvPr/>
        </p:nvSpPr>
        <p:spPr bwMode="auto">
          <a:xfrm>
            <a:off x="5382485" y="2933328"/>
            <a:ext cx="1152128" cy="285458"/>
          </a:xfrm>
          <a:prstGeom prst="rect">
            <a:avLst/>
          </a:prstGeom>
          <a:noFill/>
          <a:ln w="9525" algn="ctr">
            <a:noFill/>
            <a:miter lim="800000"/>
            <a:headEnd/>
            <a:tailEnd/>
          </a:ln>
        </p:spPr>
        <p:txBody>
          <a:bodyPr wrap="none" anchor="ctr"/>
          <a:lstStyle/>
          <a:p>
            <a:pPr algn="ctr"/>
            <a:r>
              <a:rPr lang="ko-KR" altLang="en-US" sz="1600" dirty="0">
                <a:solidFill>
                  <a:srgbClr val="FF0000"/>
                </a:solidFill>
                <a:latin typeface="+mn-ea"/>
              </a:rPr>
              <a:t>변경출원가능구간</a:t>
            </a:r>
          </a:p>
        </p:txBody>
      </p:sp>
      <p:sp>
        <p:nvSpPr>
          <p:cNvPr id="108" name="Rectangle 14"/>
          <p:cNvSpPr>
            <a:spLocks noChangeArrowheads="1"/>
          </p:cNvSpPr>
          <p:nvPr/>
        </p:nvSpPr>
        <p:spPr bwMode="auto">
          <a:xfrm>
            <a:off x="8256240" y="4904772"/>
            <a:ext cx="1152128" cy="285458"/>
          </a:xfrm>
          <a:prstGeom prst="rect">
            <a:avLst/>
          </a:prstGeom>
          <a:noFill/>
          <a:ln w="9525" algn="ctr">
            <a:noFill/>
            <a:miter lim="800000"/>
            <a:headEnd/>
            <a:tailEnd/>
          </a:ln>
        </p:spPr>
        <p:txBody>
          <a:bodyPr wrap="none" anchor="ctr"/>
          <a:lstStyle/>
          <a:p>
            <a:pPr marL="228600" indent="-228600">
              <a:buAutoNum type="arabicPeriod"/>
            </a:pPr>
            <a:r>
              <a:rPr lang="ko-KR" altLang="en-US" sz="1100" dirty="0">
                <a:latin typeface="+mn-ea"/>
              </a:rPr>
              <a:t>거절결정의 취소</a:t>
            </a:r>
            <a:endParaRPr lang="en-US" altLang="ko-KR" sz="1100" dirty="0">
              <a:latin typeface="+mn-ea"/>
            </a:endParaRPr>
          </a:p>
          <a:p>
            <a:pPr marL="228600" indent="-228600">
              <a:buAutoNum type="arabicPeriod"/>
            </a:pPr>
            <a:r>
              <a:rPr lang="ko-KR" altLang="en-US" sz="1100" dirty="0">
                <a:latin typeface="+mn-ea"/>
              </a:rPr>
              <a:t>자판 또는 환송</a:t>
            </a:r>
          </a:p>
        </p:txBody>
      </p:sp>
      <p:sp>
        <p:nvSpPr>
          <p:cNvPr id="123" name="Rectangle 14"/>
          <p:cNvSpPr>
            <a:spLocks noChangeArrowheads="1"/>
          </p:cNvSpPr>
          <p:nvPr/>
        </p:nvSpPr>
        <p:spPr bwMode="auto">
          <a:xfrm>
            <a:off x="5321913" y="4597486"/>
            <a:ext cx="1152128" cy="285458"/>
          </a:xfrm>
          <a:prstGeom prst="rect">
            <a:avLst/>
          </a:prstGeom>
          <a:noFill/>
          <a:ln w="9525" algn="ctr">
            <a:noFill/>
            <a:miter lim="800000"/>
            <a:headEnd/>
            <a:tailEnd/>
          </a:ln>
        </p:spPr>
        <p:txBody>
          <a:bodyPr wrap="none" anchor="ctr"/>
          <a:lstStyle/>
          <a:p>
            <a:r>
              <a:rPr lang="ko-KR" altLang="en-US" sz="1100" dirty="0">
                <a:latin typeface="+mn-ea"/>
              </a:rPr>
              <a:t>불복심판청구</a:t>
            </a:r>
          </a:p>
        </p:txBody>
      </p:sp>
      <p:sp>
        <p:nvSpPr>
          <p:cNvPr id="132" name="Rectangle 14"/>
          <p:cNvSpPr>
            <a:spLocks noChangeArrowheads="1"/>
          </p:cNvSpPr>
          <p:nvPr/>
        </p:nvSpPr>
        <p:spPr bwMode="auto">
          <a:xfrm>
            <a:off x="5321913" y="5231332"/>
            <a:ext cx="1152128" cy="285458"/>
          </a:xfrm>
          <a:prstGeom prst="rect">
            <a:avLst/>
          </a:prstGeom>
          <a:noFill/>
          <a:ln w="9525" algn="ctr">
            <a:noFill/>
            <a:miter lim="800000"/>
            <a:headEnd/>
            <a:tailEnd/>
          </a:ln>
        </p:spPr>
        <p:txBody>
          <a:bodyPr wrap="none" anchor="ctr"/>
          <a:lstStyle/>
          <a:p>
            <a:pPr algn="ctr"/>
            <a:r>
              <a:rPr lang="ko-KR" altLang="en-US" sz="1100" dirty="0">
                <a:latin typeface="+mn-ea"/>
              </a:rPr>
              <a:t>환송</a:t>
            </a:r>
          </a:p>
        </p:txBody>
      </p:sp>
      <p:sp>
        <p:nvSpPr>
          <p:cNvPr id="2" name="슬라이드 번호 개체 틀 1"/>
          <p:cNvSpPr>
            <a:spLocks noGrp="1"/>
          </p:cNvSpPr>
          <p:nvPr>
            <p:ph type="sldNum" sz="quarter" idx="12"/>
          </p:nvPr>
        </p:nvSpPr>
        <p:spPr/>
        <p:txBody>
          <a:bodyPr/>
          <a:lstStyle/>
          <a:p>
            <a:r>
              <a:rPr lang="en-US" altLang="ko-KR"/>
              <a:t>208</a:t>
            </a:r>
            <a:endParaRPr lang="ko-KR" altLang="en-US"/>
          </a:p>
        </p:txBody>
      </p:sp>
      <p:sp>
        <p:nvSpPr>
          <p:cNvPr id="36" name="Rectangle 14"/>
          <p:cNvSpPr>
            <a:spLocks noChangeArrowheads="1"/>
          </p:cNvSpPr>
          <p:nvPr/>
        </p:nvSpPr>
        <p:spPr bwMode="auto">
          <a:xfrm>
            <a:off x="2535273" y="4794491"/>
            <a:ext cx="1152128" cy="285458"/>
          </a:xfrm>
          <a:prstGeom prst="rect">
            <a:avLst/>
          </a:prstGeom>
          <a:noFill/>
          <a:ln w="9525" algn="ctr">
            <a:noFill/>
            <a:miter lim="800000"/>
            <a:headEnd/>
            <a:tailEnd/>
          </a:ln>
        </p:spPr>
        <p:txBody>
          <a:bodyPr wrap="none" anchor="ctr"/>
          <a:lstStyle/>
          <a:p>
            <a:pPr algn="ctr"/>
            <a:r>
              <a:rPr lang="en-US" altLang="ko-KR" sz="1100" dirty="0">
                <a:latin typeface="+mn-ea"/>
              </a:rPr>
              <a:t>3</a:t>
            </a:r>
            <a:r>
              <a:rPr lang="ko-KR" altLang="en-US" sz="1100" dirty="0">
                <a:latin typeface="+mn-ea"/>
              </a:rPr>
              <a:t>개월</a:t>
            </a:r>
          </a:p>
        </p:txBody>
      </p:sp>
      <p:cxnSp>
        <p:nvCxnSpPr>
          <p:cNvPr id="37" name="꺾인 연결선 36"/>
          <p:cNvCxnSpPr/>
          <p:nvPr/>
        </p:nvCxnSpPr>
        <p:spPr>
          <a:xfrm rot="10800000" flipH="1" flipV="1">
            <a:off x="3625630" y="4582669"/>
            <a:ext cx="459299" cy="626421"/>
          </a:xfrm>
          <a:prstGeom prst="bentConnector4">
            <a:avLst>
              <a:gd name="adj1" fmla="val -49771"/>
              <a:gd name="adj2" fmla="val 96321"/>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6245283"/>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53</a:t>
            </a:r>
            <a:r>
              <a:rPr lang="ko-KR" altLang="en-US" dirty="0"/>
              <a:t>조</a:t>
            </a:r>
          </a:p>
        </p:txBody>
      </p:sp>
      <p:sp>
        <p:nvSpPr>
          <p:cNvPr id="5" name="텍스트 개체 틀 4"/>
          <p:cNvSpPr>
            <a:spLocks noGrp="1"/>
          </p:cNvSpPr>
          <p:nvPr>
            <p:ph type="body" sz="quarter" idx="13"/>
          </p:nvPr>
        </p:nvSpPr>
        <p:spPr/>
        <p:txBody>
          <a:bodyPr/>
          <a:lstStyle/>
          <a:p>
            <a:r>
              <a:rPr lang="ko-KR" altLang="en-US" dirty="0"/>
              <a:t>변경출원의 확대된 </a:t>
            </a:r>
            <a:r>
              <a:rPr lang="ko-KR" altLang="en-US" dirty="0" err="1"/>
              <a:t>선출원</a:t>
            </a:r>
            <a:r>
              <a:rPr lang="en-US" altLang="ko-KR" dirty="0"/>
              <a:t>(</a:t>
            </a:r>
            <a:r>
              <a:rPr lang="ko-KR" altLang="en-US" dirty="0"/>
              <a:t>제</a:t>
            </a:r>
            <a:r>
              <a:rPr lang="en-US" altLang="ko-KR" dirty="0"/>
              <a:t>53</a:t>
            </a:r>
            <a:r>
              <a:rPr lang="ko-KR" altLang="en-US" dirty="0"/>
              <a:t>조제</a:t>
            </a:r>
            <a:r>
              <a:rPr lang="en-US" altLang="ko-KR" dirty="0"/>
              <a:t>2</a:t>
            </a:r>
            <a:r>
              <a:rPr lang="ko-KR" altLang="en-US" dirty="0" err="1"/>
              <a:t>항제</a:t>
            </a:r>
            <a:r>
              <a:rPr lang="en-US" altLang="ko-KR" dirty="0"/>
              <a:t>1</a:t>
            </a:r>
            <a:r>
              <a:rPr lang="ko-KR" altLang="en-US" dirty="0"/>
              <a:t>호</a:t>
            </a:r>
            <a:r>
              <a:rPr lang="en-US" altLang="ko-KR" dirty="0"/>
              <a:t>)</a:t>
            </a:r>
            <a:endParaRPr lang="ko-KR" altLang="en-US" dirty="0"/>
          </a:p>
        </p:txBody>
      </p:sp>
      <p:cxnSp>
        <p:nvCxnSpPr>
          <p:cNvPr id="100" name="직선 연결선 99"/>
          <p:cNvCxnSpPr/>
          <p:nvPr/>
        </p:nvCxnSpPr>
        <p:spPr>
          <a:xfrm>
            <a:off x="6109281" y="1095555"/>
            <a:ext cx="0" cy="553598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직선 연결선 31"/>
          <p:cNvCxnSpPr/>
          <p:nvPr/>
        </p:nvCxnSpPr>
        <p:spPr>
          <a:xfrm>
            <a:off x="109535" y="2718279"/>
            <a:ext cx="567393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직사각형 32"/>
          <p:cNvSpPr/>
          <p:nvPr/>
        </p:nvSpPr>
        <p:spPr>
          <a:xfrm>
            <a:off x="274623" y="1039641"/>
            <a:ext cx="850393"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34" name="직사각형 33"/>
          <p:cNvSpPr/>
          <p:nvPr/>
        </p:nvSpPr>
        <p:spPr>
          <a:xfrm>
            <a:off x="274623" y="1269142"/>
            <a:ext cx="850393"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35" name="직사각형 34"/>
          <p:cNvSpPr/>
          <p:nvPr/>
        </p:nvSpPr>
        <p:spPr>
          <a:xfrm>
            <a:off x="274624" y="2603529"/>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실용출원</a:t>
            </a:r>
            <a:r>
              <a:rPr lang="en-US" altLang="ko-KR" sz="1100" dirty="0">
                <a:solidFill>
                  <a:schemeClr val="tx1"/>
                </a:solidFill>
              </a:rPr>
              <a:t>(X)</a:t>
            </a:r>
            <a:endParaRPr lang="ko-KR" altLang="en-US" sz="1100" dirty="0">
              <a:solidFill>
                <a:schemeClr val="tx1"/>
              </a:solidFill>
            </a:endParaRPr>
          </a:p>
        </p:txBody>
      </p:sp>
      <p:sp>
        <p:nvSpPr>
          <p:cNvPr id="36" name="직사각형 35"/>
          <p:cNvSpPr/>
          <p:nvPr/>
        </p:nvSpPr>
        <p:spPr>
          <a:xfrm>
            <a:off x="1583053" y="1039641"/>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 C</a:t>
            </a:r>
            <a:endParaRPr lang="ko-KR" altLang="en-US" sz="1100" dirty="0">
              <a:solidFill>
                <a:schemeClr val="tx1"/>
              </a:solidFill>
            </a:endParaRPr>
          </a:p>
        </p:txBody>
      </p:sp>
      <p:sp>
        <p:nvSpPr>
          <p:cNvPr id="37" name="직사각형 36"/>
          <p:cNvSpPr/>
          <p:nvPr/>
        </p:nvSpPr>
        <p:spPr>
          <a:xfrm>
            <a:off x="1583053" y="1269142"/>
            <a:ext cx="850393" cy="229500"/>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 B, C</a:t>
            </a:r>
            <a:endParaRPr lang="ko-KR" altLang="en-US" sz="1100" dirty="0">
              <a:solidFill>
                <a:schemeClr val="tx1"/>
              </a:solidFill>
            </a:endParaRPr>
          </a:p>
        </p:txBody>
      </p:sp>
      <p:sp>
        <p:nvSpPr>
          <p:cNvPr id="38" name="직사각형 37"/>
          <p:cNvSpPr/>
          <p:nvPr/>
        </p:nvSpPr>
        <p:spPr>
          <a:xfrm>
            <a:off x="1583054" y="2603529"/>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변경출원</a:t>
            </a:r>
            <a:r>
              <a:rPr lang="en-US" altLang="ko-KR" sz="1100" dirty="0">
                <a:solidFill>
                  <a:schemeClr val="tx1"/>
                </a:solidFill>
              </a:rPr>
              <a:t>(Y)</a:t>
            </a:r>
            <a:endParaRPr lang="ko-KR" altLang="en-US" sz="1100" dirty="0">
              <a:solidFill>
                <a:schemeClr val="tx1"/>
              </a:solidFill>
            </a:endParaRPr>
          </a:p>
        </p:txBody>
      </p:sp>
      <p:sp>
        <p:nvSpPr>
          <p:cNvPr id="39" name="직사각형 38"/>
          <p:cNvSpPr/>
          <p:nvPr/>
        </p:nvSpPr>
        <p:spPr>
          <a:xfrm>
            <a:off x="2891562" y="1039641"/>
            <a:ext cx="850393" cy="229500"/>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100" dirty="0">
              <a:solidFill>
                <a:schemeClr val="tx1"/>
              </a:solidFill>
            </a:endParaRPr>
          </a:p>
        </p:txBody>
      </p:sp>
      <p:sp>
        <p:nvSpPr>
          <p:cNvPr id="40" name="직사각형 39"/>
          <p:cNvSpPr/>
          <p:nvPr/>
        </p:nvSpPr>
        <p:spPr>
          <a:xfrm>
            <a:off x="2891562" y="1269142"/>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 B</a:t>
            </a:r>
            <a:endParaRPr lang="ko-KR" altLang="en-US" sz="1100" dirty="0">
              <a:solidFill>
                <a:schemeClr val="tx1"/>
              </a:solidFill>
            </a:endParaRPr>
          </a:p>
        </p:txBody>
      </p:sp>
      <p:sp>
        <p:nvSpPr>
          <p:cNvPr id="41" name="직사각형 40"/>
          <p:cNvSpPr/>
          <p:nvPr/>
        </p:nvSpPr>
        <p:spPr>
          <a:xfrm>
            <a:off x="2891563" y="2603529"/>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보정</a:t>
            </a:r>
            <a:r>
              <a:rPr lang="en-US" altLang="ko-KR" sz="1100" dirty="0">
                <a:solidFill>
                  <a:schemeClr val="tx1"/>
                </a:solidFill>
              </a:rPr>
              <a:t>(Y)</a:t>
            </a:r>
            <a:endParaRPr lang="ko-KR" altLang="en-US" sz="1100" dirty="0">
              <a:solidFill>
                <a:schemeClr val="tx1"/>
              </a:solidFill>
            </a:endParaRPr>
          </a:p>
        </p:txBody>
      </p:sp>
      <p:sp>
        <p:nvSpPr>
          <p:cNvPr id="42" name="직사각형 41"/>
          <p:cNvSpPr/>
          <p:nvPr/>
        </p:nvSpPr>
        <p:spPr>
          <a:xfrm>
            <a:off x="4093580" y="2603529"/>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공개</a:t>
            </a:r>
            <a:r>
              <a:rPr lang="en-US" altLang="ko-KR" sz="1100" dirty="0">
                <a:solidFill>
                  <a:schemeClr val="tx1"/>
                </a:solidFill>
              </a:rPr>
              <a:t>(Y)</a:t>
            </a:r>
            <a:endParaRPr lang="ko-KR" altLang="en-US" sz="1100" dirty="0">
              <a:solidFill>
                <a:schemeClr val="tx1"/>
              </a:solidFill>
            </a:endParaRPr>
          </a:p>
        </p:txBody>
      </p:sp>
      <p:cxnSp>
        <p:nvCxnSpPr>
          <p:cNvPr id="43" name="직선 연결선 42"/>
          <p:cNvCxnSpPr>
            <a:stCxn id="34" idx="2"/>
            <a:endCxn id="35" idx="0"/>
          </p:cNvCxnSpPr>
          <p:nvPr/>
        </p:nvCxnSpPr>
        <p:spPr>
          <a:xfrm>
            <a:off x="699820" y="1498642"/>
            <a:ext cx="0" cy="110488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4" name="직선 연결선 43"/>
          <p:cNvCxnSpPr>
            <a:stCxn id="37" idx="2"/>
            <a:endCxn id="38" idx="0"/>
          </p:cNvCxnSpPr>
          <p:nvPr/>
        </p:nvCxnSpPr>
        <p:spPr>
          <a:xfrm>
            <a:off x="2008250" y="1498642"/>
            <a:ext cx="0" cy="110488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자유형 47"/>
          <p:cNvSpPr/>
          <p:nvPr/>
        </p:nvSpPr>
        <p:spPr>
          <a:xfrm>
            <a:off x="2428875" y="2003187"/>
            <a:ext cx="2066925" cy="567849"/>
          </a:xfrm>
          <a:custGeom>
            <a:avLst/>
            <a:gdLst>
              <a:gd name="connsiteX0" fmla="*/ 0 w 2066925"/>
              <a:gd name="connsiteY0" fmla="*/ 723900 h 723900"/>
              <a:gd name="connsiteX1" fmla="*/ 304800 w 2066925"/>
              <a:gd name="connsiteY1" fmla="*/ 0 h 723900"/>
              <a:gd name="connsiteX2" fmla="*/ 1857375 w 2066925"/>
              <a:gd name="connsiteY2" fmla="*/ 0 h 723900"/>
              <a:gd name="connsiteX3" fmla="*/ 2066925 w 2066925"/>
              <a:gd name="connsiteY3" fmla="*/ 723900 h 723900"/>
            </a:gdLst>
            <a:ahLst/>
            <a:cxnLst>
              <a:cxn ang="0">
                <a:pos x="connsiteX0" y="connsiteY0"/>
              </a:cxn>
              <a:cxn ang="0">
                <a:pos x="connsiteX1" y="connsiteY1"/>
              </a:cxn>
              <a:cxn ang="0">
                <a:pos x="connsiteX2" y="connsiteY2"/>
              </a:cxn>
              <a:cxn ang="0">
                <a:pos x="connsiteX3" y="connsiteY3"/>
              </a:cxn>
            </a:cxnLst>
            <a:rect l="l" t="t" r="r" b="b"/>
            <a:pathLst>
              <a:path w="2066925" h="723900">
                <a:moveTo>
                  <a:pt x="0" y="723900"/>
                </a:moveTo>
                <a:lnTo>
                  <a:pt x="304800" y="0"/>
                </a:lnTo>
                <a:lnTo>
                  <a:pt x="1857375" y="0"/>
                </a:lnTo>
                <a:lnTo>
                  <a:pt x="2066925" y="723900"/>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49" name="자유형 48"/>
          <p:cNvSpPr/>
          <p:nvPr/>
        </p:nvSpPr>
        <p:spPr>
          <a:xfrm>
            <a:off x="4495800" y="1999081"/>
            <a:ext cx="1295400" cy="552906"/>
          </a:xfrm>
          <a:custGeom>
            <a:avLst/>
            <a:gdLst>
              <a:gd name="connsiteX0" fmla="*/ 0 w 1295400"/>
              <a:gd name="connsiteY0" fmla="*/ 742950 h 742950"/>
              <a:gd name="connsiteX1" fmla="*/ 257175 w 1295400"/>
              <a:gd name="connsiteY1" fmla="*/ 0 h 742950"/>
              <a:gd name="connsiteX2" fmla="*/ 1295400 w 1295400"/>
              <a:gd name="connsiteY2" fmla="*/ 0 h 742950"/>
            </a:gdLst>
            <a:ahLst/>
            <a:cxnLst>
              <a:cxn ang="0">
                <a:pos x="connsiteX0" y="connsiteY0"/>
              </a:cxn>
              <a:cxn ang="0">
                <a:pos x="connsiteX1" y="connsiteY1"/>
              </a:cxn>
              <a:cxn ang="0">
                <a:pos x="connsiteX2" y="connsiteY2"/>
              </a:cxn>
            </a:cxnLst>
            <a:rect l="l" t="t" r="r" b="b"/>
            <a:pathLst>
              <a:path w="1295400" h="742950">
                <a:moveTo>
                  <a:pt x="0" y="742950"/>
                </a:moveTo>
                <a:lnTo>
                  <a:pt x="257175" y="0"/>
                </a:lnTo>
                <a:lnTo>
                  <a:pt x="1295400" y="0"/>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50" name="자유형 49"/>
          <p:cNvSpPr/>
          <p:nvPr/>
        </p:nvSpPr>
        <p:spPr>
          <a:xfrm>
            <a:off x="285750" y="2856787"/>
            <a:ext cx="5429250" cy="479469"/>
          </a:xfrm>
          <a:custGeom>
            <a:avLst/>
            <a:gdLst>
              <a:gd name="connsiteX0" fmla="*/ 0 w 5429250"/>
              <a:gd name="connsiteY0" fmla="*/ 0 h 752475"/>
              <a:gd name="connsiteX1" fmla="*/ 361950 w 5429250"/>
              <a:gd name="connsiteY1" fmla="*/ 752475 h 752475"/>
              <a:gd name="connsiteX2" fmla="*/ 5429250 w 5429250"/>
              <a:gd name="connsiteY2" fmla="*/ 752475 h 752475"/>
            </a:gdLst>
            <a:ahLst/>
            <a:cxnLst>
              <a:cxn ang="0">
                <a:pos x="connsiteX0" y="connsiteY0"/>
              </a:cxn>
              <a:cxn ang="0">
                <a:pos x="connsiteX1" y="connsiteY1"/>
              </a:cxn>
              <a:cxn ang="0">
                <a:pos x="connsiteX2" y="connsiteY2"/>
              </a:cxn>
            </a:cxnLst>
            <a:rect l="l" t="t" r="r" b="b"/>
            <a:pathLst>
              <a:path w="5429250" h="752475">
                <a:moveTo>
                  <a:pt x="0" y="0"/>
                </a:moveTo>
                <a:lnTo>
                  <a:pt x="361950" y="752475"/>
                </a:lnTo>
                <a:lnTo>
                  <a:pt x="5429250" y="752475"/>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51" name="TextBox 50"/>
          <p:cNvSpPr txBox="1"/>
          <p:nvPr/>
        </p:nvSpPr>
        <p:spPr>
          <a:xfrm>
            <a:off x="2257821" y="3341073"/>
            <a:ext cx="1406154" cy="276999"/>
          </a:xfrm>
          <a:prstGeom prst="rect">
            <a:avLst/>
          </a:prstGeom>
          <a:noFill/>
        </p:spPr>
        <p:txBody>
          <a:bodyPr wrap="none" rtlCol="0">
            <a:spAutoFit/>
          </a:bodyPr>
          <a:lstStyle/>
          <a:p>
            <a:r>
              <a:rPr lang="ko-KR" altLang="en-US" sz="1200" dirty="0" err="1"/>
              <a:t>선출원의</a:t>
            </a:r>
            <a:r>
              <a:rPr lang="ko-KR" altLang="en-US" sz="1200" dirty="0"/>
              <a:t> 지위</a:t>
            </a:r>
            <a:r>
              <a:rPr lang="en-US" altLang="ko-KR" sz="1200" dirty="0"/>
              <a:t>(Y-B)</a:t>
            </a:r>
            <a:endParaRPr lang="ko-KR" altLang="en-US" sz="1200" dirty="0"/>
          </a:p>
        </p:txBody>
      </p:sp>
      <p:sp>
        <p:nvSpPr>
          <p:cNvPr id="52" name="TextBox 51"/>
          <p:cNvSpPr txBox="1"/>
          <p:nvPr/>
        </p:nvSpPr>
        <p:spPr>
          <a:xfrm>
            <a:off x="4743846" y="1531323"/>
            <a:ext cx="1192955" cy="461665"/>
          </a:xfrm>
          <a:prstGeom prst="rect">
            <a:avLst/>
          </a:prstGeom>
          <a:noFill/>
          <a:ln w="12700">
            <a:noFill/>
          </a:ln>
        </p:spPr>
        <p:txBody>
          <a:bodyPr wrap="none" rtlCol="0">
            <a:spAutoFit/>
          </a:bodyPr>
          <a:lstStyle/>
          <a:p>
            <a:r>
              <a:rPr lang="ko-KR" altLang="en-US" sz="1200" dirty="0"/>
              <a:t>공지기술의 지위</a:t>
            </a:r>
            <a:endParaRPr lang="en-US" altLang="ko-KR" sz="1200" dirty="0"/>
          </a:p>
          <a:p>
            <a:pPr algn="ctr"/>
            <a:r>
              <a:rPr lang="en-US" altLang="ko-KR" sz="1200" dirty="0"/>
              <a:t>(Y-B, C)</a:t>
            </a:r>
            <a:endParaRPr lang="ko-KR" altLang="en-US" sz="1200" dirty="0"/>
          </a:p>
        </p:txBody>
      </p:sp>
      <p:sp>
        <p:nvSpPr>
          <p:cNvPr id="53" name="TextBox 52"/>
          <p:cNvSpPr txBox="1"/>
          <p:nvPr/>
        </p:nvSpPr>
        <p:spPr>
          <a:xfrm>
            <a:off x="2794769" y="1721822"/>
            <a:ext cx="1449436" cy="276999"/>
          </a:xfrm>
          <a:prstGeom prst="rect">
            <a:avLst/>
          </a:prstGeom>
          <a:noFill/>
        </p:spPr>
        <p:txBody>
          <a:bodyPr wrap="none" rtlCol="0">
            <a:spAutoFit/>
          </a:bodyPr>
          <a:lstStyle/>
          <a:p>
            <a:r>
              <a:rPr lang="ko-KR" altLang="en-US" sz="1200" dirty="0" err="1"/>
              <a:t>확선의</a:t>
            </a:r>
            <a:r>
              <a:rPr lang="ko-KR" altLang="en-US" sz="1200" dirty="0"/>
              <a:t> 지위</a:t>
            </a:r>
            <a:r>
              <a:rPr lang="en-US" altLang="ko-KR" sz="1200" dirty="0"/>
              <a:t>(Y-B, C)</a:t>
            </a:r>
            <a:endParaRPr lang="ko-KR" altLang="en-US" sz="1200" dirty="0"/>
          </a:p>
        </p:txBody>
      </p:sp>
      <p:cxnSp>
        <p:nvCxnSpPr>
          <p:cNvPr id="54" name="직선 연결선 53"/>
          <p:cNvCxnSpPr>
            <a:stCxn id="40" idx="2"/>
            <a:endCxn id="41" idx="0"/>
          </p:cNvCxnSpPr>
          <p:nvPr/>
        </p:nvCxnSpPr>
        <p:spPr>
          <a:xfrm>
            <a:off x="3316759" y="1498642"/>
            <a:ext cx="0" cy="110488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직사각형 62"/>
          <p:cNvSpPr/>
          <p:nvPr/>
        </p:nvSpPr>
        <p:spPr>
          <a:xfrm>
            <a:off x="1582714" y="2834285"/>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취하간주</a:t>
            </a:r>
            <a:r>
              <a:rPr lang="en-US" altLang="ko-KR" sz="1100" dirty="0">
                <a:solidFill>
                  <a:schemeClr val="tx1"/>
                </a:solidFill>
              </a:rPr>
              <a:t>(X)</a:t>
            </a:r>
            <a:endParaRPr lang="ko-KR" altLang="en-US" sz="1100" dirty="0">
              <a:solidFill>
                <a:schemeClr val="tx1"/>
              </a:solidFill>
            </a:endParaRPr>
          </a:p>
        </p:txBody>
      </p:sp>
      <p:cxnSp>
        <p:nvCxnSpPr>
          <p:cNvPr id="64" name="직선 연결선 63"/>
          <p:cNvCxnSpPr/>
          <p:nvPr/>
        </p:nvCxnSpPr>
        <p:spPr>
          <a:xfrm>
            <a:off x="6159542" y="2713121"/>
            <a:ext cx="567393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직사각형 64"/>
          <p:cNvSpPr/>
          <p:nvPr/>
        </p:nvSpPr>
        <p:spPr>
          <a:xfrm>
            <a:off x="6324630" y="1047480"/>
            <a:ext cx="850393"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68" name="직사각형 67"/>
          <p:cNvSpPr/>
          <p:nvPr/>
        </p:nvSpPr>
        <p:spPr>
          <a:xfrm>
            <a:off x="6324630" y="1276981"/>
            <a:ext cx="850393" cy="229500"/>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70" name="직사각형 69"/>
          <p:cNvSpPr/>
          <p:nvPr/>
        </p:nvSpPr>
        <p:spPr>
          <a:xfrm>
            <a:off x="6324631" y="2598371"/>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원출원</a:t>
            </a:r>
            <a:r>
              <a:rPr lang="en-US" altLang="ko-KR" sz="1100" dirty="0">
                <a:solidFill>
                  <a:schemeClr val="tx1"/>
                </a:solidFill>
              </a:rPr>
              <a:t>(X)</a:t>
            </a:r>
            <a:endParaRPr lang="ko-KR" altLang="en-US" sz="1100" dirty="0">
              <a:solidFill>
                <a:schemeClr val="tx1"/>
              </a:solidFill>
            </a:endParaRPr>
          </a:p>
        </p:txBody>
      </p:sp>
      <p:sp>
        <p:nvSpPr>
          <p:cNvPr id="72" name="직사각형 71"/>
          <p:cNvSpPr/>
          <p:nvPr/>
        </p:nvSpPr>
        <p:spPr>
          <a:xfrm>
            <a:off x="8318860" y="1047480"/>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 C</a:t>
            </a:r>
            <a:endParaRPr lang="ko-KR" altLang="en-US" sz="1100" dirty="0">
              <a:solidFill>
                <a:schemeClr val="tx1"/>
              </a:solidFill>
            </a:endParaRPr>
          </a:p>
        </p:txBody>
      </p:sp>
      <p:sp>
        <p:nvSpPr>
          <p:cNvPr id="73" name="직사각형 72"/>
          <p:cNvSpPr/>
          <p:nvPr/>
        </p:nvSpPr>
        <p:spPr>
          <a:xfrm>
            <a:off x="8318860" y="1276981"/>
            <a:ext cx="850393" cy="229500"/>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 B, C</a:t>
            </a:r>
            <a:endParaRPr lang="ko-KR" altLang="en-US" sz="1100" dirty="0">
              <a:solidFill>
                <a:schemeClr val="tx1"/>
              </a:solidFill>
            </a:endParaRPr>
          </a:p>
        </p:txBody>
      </p:sp>
      <p:sp>
        <p:nvSpPr>
          <p:cNvPr id="74" name="직사각형 73"/>
          <p:cNvSpPr/>
          <p:nvPr/>
        </p:nvSpPr>
        <p:spPr>
          <a:xfrm>
            <a:off x="8318861" y="2598371"/>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변경출원</a:t>
            </a:r>
            <a:r>
              <a:rPr lang="en-US" altLang="ko-KR" sz="1100" dirty="0">
                <a:solidFill>
                  <a:schemeClr val="tx1"/>
                </a:solidFill>
              </a:rPr>
              <a:t>(Y)</a:t>
            </a:r>
            <a:endParaRPr lang="ko-KR" altLang="en-US" sz="1100" dirty="0">
              <a:solidFill>
                <a:schemeClr val="tx1"/>
              </a:solidFill>
            </a:endParaRPr>
          </a:p>
        </p:txBody>
      </p:sp>
      <p:sp>
        <p:nvSpPr>
          <p:cNvPr id="75" name="직사각형 74"/>
          <p:cNvSpPr/>
          <p:nvPr/>
        </p:nvSpPr>
        <p:spPr>
          <a:xfrm>
            <a:off x="9236844" y="1047480"/>
            <a:ext cx="850393" cy="229500"/>
          </a:xfrm>
          <a:prstGeom prst="rect">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100" dirty="0">
              <a:solidFill>
                <a:schemeClr val="tx1"/>
              </a:solidFill>
            </a:endParaRPr>
          </a:p>
        </p:txBody>
      </p:sp>
      <p:sp>
        <p:nvSpPr>
          <p:cNvPr id="76" name="직사각형 75"/>
          <p:cNvSpPr/>
          <p:nvPr/>
        </p:nvSpPr>
        <p:spPr>
          <a:xfrm>
            <a:off x="9236844" y="1276981"/>
            <a:ext cx="850393" cy="229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 B</a:t>
            </a:r>
            <a:endParaRPr lang="ko-KR" altLang="en-US" sz="1100" dirty="0">
              <a:solidFill>
                <a:schemeClr val="tx1"/>
              </a:solidFill>
            </a:endParaRPr>
          </a:p>
        </p:txBody>
      </p:sp>
      <p:sp>
        <p:nvSpPr>
          <p:cNvPr id="80" name="직사각형 79"/>
          <p:cNvSpPr/>
          <p:nvPr/>
        </p:nvSpPr>
        <p:spPr>
          <a:xfrm>
            <a:off x="9236845" y="2598371"/>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보정</a:t>
            </a:r>
            <a:r>
              <a:rPr lang="en-US" altLang="ko-KR" sz="1100" dirty="0">
                <a:solidFill>
                  <a:schemeClr val="tx1"/>
                </a:solidFill>
              </a:rPr>
              <a:t>(Y)</a:t>
            </a:r>
            <a:endParaRPr lang="ko-KR" altLang="en-US" sz="1100" dirty="0">
              <a:solidFill>
                <a:schemeClr val="tx1"/>
              </a:solidFill>
            </a:endParaRPr>
          </a:p>
        </p:txBody>
      </p:sp>
      <p:sp>
        <p:nvSpPr>
          <p:cNvPr id="81" name="직사각형 80"/>
          <p:cNvSpPr/>
          <p:nvPr/>
        </p:nvSpPr>
        <p:spPr>
          <a:xfrm>
            <a:off x="10143587" y="2598371"/>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공개</a:t>
            </a:r>
            <a:r>
              <a:rPr lang="en-US" altLang="ko-KR" sz="1100" dirty="0">
                <a:solidFill>
                  <a:schemeClr val="tx1"/>
                </a:solidFill>
              </a:rPr>
              <a:t>(Y)</a:t>
            </a:r>
            <a:endParaRPr lang="ko-KR" altLang="en-US" sz="1100" dirty="0">
              <a:solidFill>
                <a:schemeClr val="tx1"/>
              </a:solidFill>
            </a:endParaRPr>
          </a:p>
        </p:txBody>
      </p:sp>
      <p:cxnSp>
        <p:nvCxnSpPr>
          <p:cNvPr id="83" name="직선 연결선 82"/>
          <p:cNvCxnSpPr>
            <a:stCxn id="68" idx="2"/>
            <a:endCxn id="70" idx="0"/>
          </p:cNvCxnSpPr>
          <p:nvPr/>
        </p:nvCxnSpPr>
        <p:spPr>
          <a:xfrm>
            <a:off x="6749827" y="1506481"/>
            <a:ext cx="0" cy="109189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4" name="직선 연결선 83"/>
          <p:cNvCxnSpPr>
            <a:stCxn id="73" idx="2"/>
            <a:endCxn id="74" idx="0"/>
          </p:cNvCxnSpPr>
          <p:nvPr/>
        </p:nvCxnSpPr>
        <p:spPr>
          <a:xfrm>
            <a:off x="8744057" y="1506481"/>
            <a:ext cx="0" cy="109189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6" name="자유형 85"/>
          <p:cNvSpPr/>
          <p:nvPr/>
        </p:nvSpPr>
        <p:spPr>
          <a:xfrm>
            <a:off x="7173957" y="2203929"/>
            <a:ext cx="662543" cy="390525"/>
          </a:xfrm>
          <a:custGeom>
            <a:avLst/>
            <a:gdLst>
              <a:gd name="connsiteX0" fmla="*/ 0 w 3467100"/>
              <a:gd name="connsiteY0" fmla="*/ 381000 h 390525"/>
              <a:gd name="connsiteX1" fmla="*/ 381000 w 3467100"/>
              <a:gd name="connsiteY1" fmla="*/ 0 h 390525"/>
              <a:gd name="connsiteX2" fmla="*/ 3076575 w 3467100"/>
              <a:gd name="connsiteY2" fmla="*/ 0 h 390525"/>
              <a:gd name="connsiteX3" fmla="*/ 3467100 w 3467100"/>
              <a:gd name="connsiteY3" fmla="*/ 390525 h 390525"/>
            </a:gdLst>
            <a:ahLst/>
            <a:cxnLst>
              <a:cxn ang="0">
                <a:pos x="connsiteX0" y="connsiteY0"/>
              </a:cxn>
              <a:cxn ang="0">
                <a:pos x="connsiteX1" y="connsiteY1"/>
              </a:cxn>
              <a:cxn ang="0">
                <a:pos x="connsiteX2" y="connsiteY2"/>
              </a:cxn>
              <a:cxn ang="0">
                <a:pos x="connsiteX3" y="connsiteY3"/>
              </a:cxn>
            </a:cxnLst>
            <a:rect l="l" t="t" r="r" b="b"/>
            <a:pathLst>
              <a:path w="3467100" h="390525">
                <a:moveTo>
                  <a:pt x="0" y="381000"/>
                </a:moveTo>
                <a:lnTo>
                  <a:pt x="381000" y="0"/>
                </a:lnTo>
                <a:lnTo>
                  <a:pt x="3076575" y="0"/>
                </a:lnTo>
                <a:lnTo>
                  <a:pt x="3467100" y="390525"/>
                </a:lnTo>
              </a:path>
            </a:pathLst>
          </a:cu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88" name="자유형 87"/>
          <p:cNvSpPr/>
          <p:nvPr/>
        </p:nvSpPr>
        <p:spPr>
          <a:xfrm>
            <a:off x="9168141" y="1841979"/>
            <a:ext cx="1377666" cy="723900"/>
          </a:xfrm>
          <a:custGeom>
            <a:avLst/>
            <a:gdLst>
              <a:gd name="connsiteX0" fmla="*/ 0 w 2066925"/>
              <a:gd name="connsiteY0" fmla="*/ 723900 h 723900"/>
              <a:gd name="connsiteX1" fmla="*/ 304800 w 2066925"/>
              <a:gd name="connsiteY1" fmla="*/ 0 h 723900"/>
              <a:gd name="connsiteX2" fmla="*/ 1857375 w 2066925"/>
              <a:gd name="connsiteY2" fmla="*/ 0 h 723900"/>
              <a:gd name="connsiteX3" fmla="*/ 2066925 w 2066925"/>
              <a:gd name="connsiteY3" fmla="*/ 723900 h 723900"/>
            </a:gdLst>
            <a:ahLst/>
            <a:cxnLst>
              <a:cxn ang="0">
                <a:pos x="connsiteX0" y="connsiteY0"/>
              </a:cxn>
              <a:cxn ang="0">
                <a:pos x="connsiteX1" y="connsiteY1"/>
              </a:cxn>
              <a:cxn ang="0">
                <a:pos x="connsiteX2" y="connsiteY2"/>
              </a:cxn>
              <a:cxn ang="0">
                <a:pos x="connsiteX3" y="connsiteY3"/>
              </a:cxn>
            </a:cxnLst>
            <a:rect l="l" t="t" r="r" b="b"/>
            <a:pathLst>
              <a:path w="2066925" h="723900">
                <a:moveTo>
                  <a:pt x="0" y="723900"/>
                </a:moveTo>
                <a:lnTo>
                  <a:pt x="304800" y="0"/>
                </a:lnTo>
                <a:lnTo>
                  <a:pt x="1857375" y="0"/>
                </a:lnTo>
                <a:lnTo>
                  <a:pt x="2066925" y="723900"/>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95" name="자유형 94"/>
          <p:cNvSpPr/>
          <p:nvPr/>
        </p:nvSpPr>
        <p:spPr>
          <a:xfrm>
            <a:off x="10545807" y="1841979"/>
            <a:ext cx="1295400" cy="704850"/>
          </a:xfrm>
          <a:custGeom>
            <a:avLst/>
            <a:gdLst>
              <a:gd name="connsiteX0" fmla="*/ 0 w 1295400"/>
              <a:gd name="connsiteY0" fmla="*/ 742950 h 742950"/>
              <a:gd name="connsiteX1" fmla="*/ 257175 w 1295400"/>
              <a:gd name="connsiteY1" fmla="*/ 0 h 742950"/>
              <a:gd name="connsiteX2" fmla="*/ 1295400 w 1295400"/>
              <a:gd name="connsiteY2" fmla="*/ 0 h 742950"/>
            </a:gdLst>
            <a:ahLst/>
            <a:cxnLst>
              <a:cxn ang="0">
                <a:pos x="connsiteX0" y="connsiteY0"/>
              </a:cxn>
              <a:cxn ang="0">
                <a:pos x="connsiteX1" y="connsiteY1"/>
              </a:cxn>
              <a:cxn ang="0">
                <a:pos x="connsiteX2" y="connsiteY2"/>
              </a:cxn>
            </a:cxnLst>
            <a:rect l="l" t="t" r="r" b="b"/>
            <a:pathLst>
              <a:path w="1295400" h="742950">
                <a:moveTo>
                  <a:pt x="0" y="742950"/>
                </a:moveTo>
                <a:lnTo>
                  <a:pt x="257175" y="0"/>
                </a:lnTo>
                <a:lnTo>
                  <a:pt x="1295400" y="0"/>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96" name="자유형 95"/>
          <p:cNvSpPr/>
          <p:nvPr/>
        </p:nvSpPr>
        <p:spPr>
          <a:xfrm>
            <a:off x="6335757" y="2851630"/>
            <a:ext cx="5429250" cy="489443"/>
          </a:xfrm>
          <a:custGeom>
            <a:avLst/>
            <a:gdLst>
              <a:gd name="connsiteX0" fmla="*/ 0 w 5429250"/>
              <a:gd name="connsiteY0" fmla="*/ 0 h 752475"/>
              <a:gd name="connsiteX1" fmla="*/ 361950 w 5429250"/>
              <a:gd name="connsiteY1" fmla="*/ 752475 h 752475"/>
              <a:gd name="connsiteX2" fmla="*/ 5429250 w 5429250"/>
              <a:gd name="connsiteY2" fmla="*/ 752475 h 752475"/>
            </a:gdLst>
            <a:ahLst/>
            <a:cxnLst>
              <a:cxn ang="0">
                <a:pos x="connsiteX0" y="connsiteY0"/>
              </a:cxn>
              <a:cxn ang="0">
                <a:pos x="connsiteX1" y="connsiteY1"/>
              </a:cxn>
              <a:cxn ang="0">
                <a:pos x="connsiteX2" y="connsiteY2"/>
              </a:cxn>
            </a:cxnLst>
            <a:rect l="l" t="t" r="r" b="b"/>
            <a:pathLst>
              <a:path w="5429250" h="752475">
                <a:moveTo>
                  <a:pt x="0" y="0"/>
                </a:moveTo>
                <a:lnTo>
                  <a:pt x="361950" y="752475"/>
                </a:lnTo>
                <a:lnTo>
                  <a:pt x="5429250" y="752475"/>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01" name="TextBox 100"/>
          <p:cNvSpPr txBox="1"/>
          <p:nvPr/>
        </p:nvSpPr>
        <p:spPr>
          <a:xfrm>
            <a:off x="8269728" y="3354965"/>
            <a:ext cx="1406154" cy="276999"/>
          </a:xfrm>
          <a:prstGeom prst="rect">
            <a:avLst/>
          </a:prstGeom>
          <a:noFill/>
        </p:spPr>
        <p:txBody>
          <a:bodyPr wrap="none" rtlCol="0">
            <a:spAutoFit/>
          </a:bodyPr>
          <a:lstStyle/>
          <a:p>
            <a:r>
              <a:rPr lang="ko-KR" altLang="en-US" sz="1200" dirty="0" err="1"/>
              <a:t>선출원의</a:t>
            </a:r>
            <a:r>
              <a:rPr lang="ko-KR" altLang="en-US" sz="1200" dirty="0"/>
              <a:t> 지위</a:t>
            </a:r>
            <a:r>
              <a:rPr lang="en-US" altLang="ko-KR" sz="1200" dirty="0"/>
              <a:t>(Y-B)</a:t>
            </a:r>
            <a:endParaRPr lang="ko-KR" altLang="en-US" sz="1200" dirty="0"/>
          </a:p>
        </p:txBody>
      </p:sp>
      <p:sp>
        <p:nvSpPr>
          <p:cNvPr id="102" name="TextBox 101"/>
          <p:cNvSpPr txBox="1"/>
          <p:nvPr/>
        </p:nvSpPr>
        <p:spPr>
          <a:xfrm>
            <a:off x="10793853" y="1402340"/>
            <a:ext cx="1192955" cy="461665"/>
          </a:xfrm>
          <a:prstGeom prst="rect">
            <a:avLst/>
          </a:prstGeom>
          <a:noFill/>
          <a:ln w="12700">
            <a:noFill/>
          </a:ln>
        </p:spPr>
        <p:txBody>
          <a:bodyPr wrap="none" rtlCol="0">
            <a:spAutoFit/>
          </a:bodyPr>
          <a:lstStyle/>
          <a:p>
            <a:r>
              <a:rPr lang="ko-KR" altLang="en-US" sz="1200" dirty="0"/>
              <a:t>공지기술의 지위</a:t>
            </a:r>
            <a:endParaRPr lang="en-US" altLang="ko-KR" sz="1200" dirty="0"/>
          </a:p>
          <a:p>
            <a:pPr algn="ctr"/>
            <a:r>
              <a:rPr lang="en-US" altLang="ko-KR" sz="1200" dirty="0"/>
              <a:t>(Y-B, C)</a:t>
            </a:r>
            <a:endParaRPr lang="ko-KR" altLang="en-US" sz="1200" dirty="0"/>
          </a:p>
        </p:txBody>
      </p:sp>
      <p:sp>
        <p:nvSpPr>
          <p:cNvPr id="103" name="TextBox 102"/>
          <p:cNvSpPr txBox="1"/>
          <p:nvPr/>
        </p:nvSpPr>
        <p:spPr>
          <a:xfrm>
            <a:off x="9159101" y="1583314"/>
            <a:ext cx="1449436" cy="276999"/>
          </a:xfrm>
          <a:prstGeom prst="rect">
            <a:avLst/>
          </a:prstGeom>
          <a:noFill/>
        </p:spPr>
        <p:txBody>
          <a:bodyPr wrap="none" rtlCol="0">
            <a:spAutoFit/>
          </a:bodyPr>
          <a:lstStyle/>
          <a:p>
            <a:r>
              <a:rPr lang="ko-KR" altLang="en-US" sz="1200" dirty="0" err="1"/>
              <a:t>확선의</a:t>
            </a:r>
            <a:r>
              <a:rPr lang="ko-KR" altLang="en-US" sz="1200" dirty="0"/>
              <a:t> 지위</a:t>
            </a:r>
            <a:r>
              <a:rPr lang="en-US" altLang="ko-KR" sz="1200" dirty="0"/>
              <a:t>(Y-B, C)</a:t>
            </a:r>
            <a:endParaRPr lang="ko-KR" altLang="en-US" sz="1200" dirty="0"/>
          </a:p>
        </p:txBody>
      </p:sp>
      <p:cxnSp>
        <p:nvCxnSpPr>
          <p:cNvPr id="104" name="직선 연결선 103"/>
          <p:cNvCxnSpPr>
            <a:stCxn id="76" idx="2"/>
            <a:endCxn id="80" idx="0"/>
          </p:cNvCxnSpPr>
          <p:nvPr/>
        </p:nvCxnSpPr>
        <p:spPr>
          <a:xfrm>
            <a:off x="9662041" y="1506481"/>
            <a:ext cx="0" cy="109189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5" name="TextBox 104"/>
          <p:cNvSpPr txBox="1"/>
          <p:nvPr/>
        </p:nvSpPr>
        <p:spPr>
          <a:xfrm>
            <a:off x="6974535" y="1814079"/>
            <a:ext cx="917239" cy="461665"/>
          </a:xfrm>
          <a:prstGeom prst="rect">
            <a:avLst/>
          </a:prstGeom>
          <a:noFill/>
        </p:spPr>
        <p:txBody>
          <a:bodyPr wrap="none" rtlCol="0">
            <a:spAutoFit/>
          </a:bodyPr>
          <a:lstStyle/>
          <a:p>
            <a:pPr algn="ctr"/>
            <a:r>
              <a:rPr lang="ko-KR" altLang="en-US" sz="1200" dirty="0" err="1"/>
              <a:t>확선의</a:t>
            </a:r>
            <a:r>
              <a:rPr lang="ko-KR" altLang="en-US" sz="1200" dirty="0"/>
              <a:t> 지위</a:t>
            </a:r>
            <a:endParaRPr lang="en-US" altLang="ko-KR" sz="1200" dirty="0"/>
          </a:p>
          <a:p>
            <a:pPr algn="ctr"/>
            <a:r>
              <a:rPr lang="en-US" altLang="ko-KR" sz="1200" dirty="0"/>
              <a:t>(X-A, B)</a:t>
            </a:r>
            <a:endParaRPr lang="ko-KR" altLang="en-US" sz="1200" dirty="0"/>
          </a:p>
        </p:txBody>
      </p:sp>
      <p:sp>
        <p:nvSpPr>
          <p:cNvPr id="106" name="TextBox 105"/>
          <p:cNvSpPr txBox="1"/>
          <p:nvPr/>
        </p:nvSpPr>
        <p:spPr>
          <a:xfrm>
            <a:off x="7768535" y="1804224"/>
            <a:ext cx="1192955" cy="461665"/>
          </a:xfrm>
          <a:prstGeom prst="rect">
            <a:avLst/>
          </a:prstGeom>
          <a:noFill/>
        </p:spPr>
        <p:txBody>
          <a:bodyPr wrap="none" rtlCol="0">
            <a:spAutoFit/>
          </a:bodyPr>
          <a:lstStyle/>
          <a:p>
            <a:r>
              <a:rPr lang="ko-KR" altLang="en-US" sz="1200" dirty="0"/>
              <a:t>공지기술의 지위</a:t>
            </a:r>
            <a:endParaRPr lang="en-US" altLang="ko-KR" sz="1200" dirty="0"/>
          </a:p>
          <a:p>
            <a:pPr algn="ctr"/>
            <a:r>
              <a:rPr lang="en-US" altLang="ko-KR" sz="1200" dirty="0"/>
              <a:t>(X-A, B)</a:t>
            </a:r>
            <a:endParaRPr lang="ko-KR" altLang="en-US" sz="1200" dirty="0"/>
          </a:p>
        </p:txBody>
      </p:sp>
      <p:sp>
        <p:nvSpPr>
          <p:cNvPr id="3" name="아래쪽 화살표 2"/>
          <p:cNvSpPr/>
          <p:nvPr/>
        </p:nvSpPr>
        <p:spPr>
          <a:xfrm>
            <a:off x="2350895" y="3817314"/>
            <a:ext cx="1313080" cy="723900"/>
          </a:xfrm>
          <a:prstGeom prst="downArrow">
            <a:avLst>
              <a:gd name="adj1" fmla="val 68860"/>
              <a:gd name="adj2" fmla="val 5000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solidFill>
                  <a:schemeClr val="tx1"/>
                </a:solidFill>
              </a:rPr>
              <a:t>일반화</a:t>
            </a:r>
          </a:p>
        </p:txBody>
      </p:sp>
      <p:cxnSp>
        <p:nvCxnSpPr>
          <p:cNvPr id="119" name="직선 연결선 118"/>
          <p:cNvCxnSpPr/>
          <p:nvPr/>
        </p:nvCxnSpPr>
        <p:spPr>
          <a:xfrm>
            <a:off x="109535" y="5787797"/>
            <a:ext cx="567393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직사각형 121"/>
          <p:cNvSpPr/>
          <p:nvPr/>
        </p:nvSpPr>
        <p:spPr>
          <a:xfrm>
            <a:off x="274624" y="5673047"/>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실용출원</a:t>
            </a:r>
            <a:r>
              <a:rPr lang="en-US" altLang="ko-KR" sz="1100" dirty="0">
                <a:solidFill>
                  <a:schemeClr val="tx1"/>
                </a:solidFill>
              </a:rPr>
              <a:t>(X)</a:t>
            </a:r>
            <a:endParaRPr lang="ko-KR" altLang="en-US" sz="1100" dirty="0">
              <a:solidFill>
                <a:schemeClr val="tx1"/>
              </a:solidFill>
            </a:endParaRPr>
          </a:p>
        </p:txBody>
      </p:sp>
      <p:sp>
        <p:nvSpPr>
          <p:cNvPr id="125" name="직사각형 124"/>
          <p:cNvSpPr/>
          <p:nvPr/>
        </p:nvSpPr>
        <p:spPr>
          <a:xfrm>
            <a:off x="1583054" y="5673047"/>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변경출원</a:t>
            </a:r>
            <a:r>
              <a:rPr lang="en-US" altLang="ko-KR" sz="1100" dirty="0">
                <a:solidFill>
                  <a:schemeClr val="tx1"/>
                </a:solidFill>
              </a:rPr>
              <a:t>(Y)</a:t>
            </a:r>
            <a:endParaRPr lang="ko-KR" altLang="en-US" sz="1100" dirty="0">
              <a:solidFill>
                <a:schemeClr val="tx1"/>
              </a:solidFill>
            </a:endParaRPr>
          </a:p>
        </p:txBody>
      </p:sp>
      <p:sp>
        <p:nvSpPr>
          <p:cNvPr id="129" name="직사각형 128"/>
          <p:cNvSpPr/>
          <p:nvPr/>
        </p:nvSpPr>
        <p:spPr>
          <a:xfrm>
            <a:off x="4093580" y="5673047"/>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공개</a:t>
            </a:r>
            <a:r>
              <a:rPr lang="en-US" altLang="ko-KR" sz="1100" dirty="0">
                <a:solidFill>
                  <a:schemeClr val="tx1"/>
                </a:solidFill>
              </a:rPr>
              <a:t>(Y)</a:t>
            </a:r>
            <a:endParaRPr lang="ko-KR" altLang="en-US" sz="1100" dirty="0">
              <a:solidFill>
                <a:schemeClr val="tx1"/>
              </a:solidFill>
            </a:endParaRPr>
          </a:p>
        </p:txBody>
      </p:sp>
      <p:sp>
        <p:nvSpPr>
          <p:cNvPr id="132" name="자유형 131"/>
          <p:cNvSpPr/>
          <p:nvPr/>
        </p:nvSpPr>
        <p:spPr>
          <a:xfrm>
            <a:off x="2428875" y="5072705"/>
            <a:ext cx="2066925" cy="567849"/>
          </a:xfrm>
          <a:custGeom>
            <a:avLst/>
            <a:gdLst>
              <a:gd name="connsiteX0" fmla="*/ 0 w 2066925"/>
              <a:gd name="connsiteY0" fmla="*/ 723900 h 723900"/>
              <a:gd name="connsiteX1" fmla="*/ 304800 w 2066925"/>
              <a:gd name="connsiteY1" fmla="*/ 0 h 723900"/>
              <a:gd name="connsiteX2" fmla="*/ 1857375 w 2066925"/>
              <a:gd name="connsiteY2" fmla="*/ 0 h 723900"/>
              <a:gd name="connsiteX3" fmla="*/ 2066925 w 2066925"/>
              <a:gd name="connsiteY3" fmla="*/ 723900 h 723900"/>
            </a:gdLst>
            <a:ahLst/>
            <a:cxnLst>
              <a:cxn ang="0">
                <a:pos x="connsiteX0" y="connsiteY0"/>
              </a:cxn>
              <a:cxn ang="0">
                <a:pos x="connsiteX1" y="connsiteY1"/>
              </a:cxn>
              <a:cxn ang="0">
                <a:pos x="connsiteX2" y="connsiteY2"/>
              </a:cxn>
              <a:cxn ang="0">
                <a:pos x="connsiteX3" y="connsiteY3"/>
              </a:cxn>
            </a:cxnLst>
            <a:rect l="l" t="t" r="r" b="b"/>
            <a:pathLst>
              <a:path w="2066925" h="723900">
                <a:moveTo>
                  <a:pt x="0" y="723900"/>
                </a:moveTo>
                <a:lnTo>
                  <a:pt x="304800" y="0"/>
                </a:lnTo>
                <a:lnTo>
                  <a:pt x="1857375" y="0"/>
                </a:lnTo>
                <a:lnTo>
                  <a:pt x="2066925" y="723900"/>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33" name="자유형 132"/>
          <p:cNvSpPr/>
          <p:nvPr/>
        </p:nvSpPr>
        <p:spPr>
          <a:xfrm>
            <a:off x="4495800" y="5068599"/>
            <a:ext cx="1295400" cy="552906"/>
          </a:xfrm>
          <a:custGeom>
            <a:avLst/>
            <a:gdLst>
              <a:gd name="connsiteX0" fmla="*/ 0 w 1295400"/>
              <a:gd name="connsiteY0" fmla="*/ 742950 h 742950"/>
              <a:gd name="connsiteX1" fmla="*/ 257175 w 1295400"/>
              <a:gd name="connsiteY1" fmla="*/ 0 h 742950"/>
              <a:gd name="connsiteX2" fmla="*/ 1295400 w 1295400"/>
              <a:gd name="connsiteY2" fmla="*/ 0 h 742950"/>
            </a:gdLst>
            <a:ahLst/>
            <a:cxnLst>
              <a:cxn ang="0">
                <a:pos x="connsiteX0" y="connsiteY0"/>
              </a:cxn>
              <a:cxn ang="0">
                <a:pos x="connsiteX1" y="connsiteY1"/>
              </a:cxn>
              <a:cxn ang="0">
                <a:pos x="connsiteX2" y="connsiteY2"/>
              </a:cxn>
            </a:cxnLst>
            <a:rect l="l" t="t" r="r" b="b"/>
            <a:pathLst>
              <a:path w="1295400" h="742950">
                <a:moveTo>
                  <a:pt x="0" y="742950"/>
                </a:moveTo>
                <a:lnTo>
                  <a:pt x="257175" y="0"/>
                </a:lnTo>
                <a:lnTo>
                  <a:pt x="1295400" y="0"/>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34" name="자유형 133"/>
          <p:cNvSpPr/>
          <p:nvPr/>
        </p:nvSpPr>
        <p:spPr>
          <a:xfrm>
            <a:off x="285750" y="5926305"/>
            <a:ext cx="5429250" cy="479469"/>
          </a:xfrm>
          <a:custGeom>
            <a:avLst/>
            <a:gdLst>
              <a:gd name="connsiteX0" fmla="*/ 0 w 5429250"/>
              <a:gd name="connsiteY0" fmla="*/ 0 h 752475"/>
              <a:gd name="connsiteX1" fmla="*/ 361950 w 5429250"/>
              <a:gd name="connsiteY1" fmla="*/ 752475 h 752475"/>
              <a:gd name="connsiteX2" fmla="*/ 5429250 w 5429250"/>
              <a:gd name="connsiteY2" fmla="*/ 752475 h 752475"/>
            </a:gdLst>
            <a:ahLst/>
            <a:cxnLst>
              <a:cxn ang="0">
                <a:pos x="connsiteX0" y="connsiteY0"/>
              </a:cxn>
              <a:cxn ang="0">
                <a:pos x="connsiteX1" y="connsiteY1"/>
              </a:cxn>
              <a:cxn ang="0">
                <a:pos x="connsiteX2" y="connsiteY2"/>
              </a:cxn>
            </a:cxnLst>
            <a:rect l="l" t="t" r="r" b="b"/>
            <a:pathLst>
              <a:path w="5429250" h="752475">
                <a:moveTo>
                  <a:pt x="0" y="0"/>
                </a:moveTo>
                <a:lnTo>
                  <a:pt x="361950" y="752475"/>
                </a:lnTo>
                <a:lnTo>
                  <a:pt x="5429250" y="752475"/>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35" name="TextBox 134"/>
          <p:cNvSpPr txBox="1"/>
          <p:nvPr/>
        </p:nvSpPr>
        <p:spPr>
          <a:xfrm>
            <a:off x="2257821" y="6410591"/>
            <a:ext cx="1863011" cy="276999"/>
          </a:xfrm>
          <a:prstGeom prst="rect">
            <a:avLst/>
          </a:prstGeom>
          <a:noFill/>
        </p:spPr>
        <p:txBody>
          <a:bodyPr wrap="none" rtlCol="0">
            <a:spAutoFit/>
          </a:bodyPr>
          <a:lstStyle/>
          <a:p>
            <a:r>
              <a:rPr lang="ko-KR" altLang="en-US" sz="1200" dirty="0" err="1"/>
              <a:t>선출원의</a:t>
            </a:r>
            <a:r>
              <a:rPr lang="ko-KR" altLang="en-US" sz="1200" dirty="0"/>
              <a:t> 지위</a:t>
            </a:r>
            <a:r>
              <a:rPr lang="en-US" altLang="ko-KR" sz="1200" dirty="0"/>
              <a:t>(Y-</a:t>
            </a:r>
            <a:r>
              <a:rPr lang="ko-KR" altLang="en-US" sz="1200" dirty="0" err="1"/>
              <a:t>청구범위</a:t>
            </a:r>
            <a:r>
              <a:rPr lang="en-US" altLang="ko-KR" sz="1200" dirty="0"/>
              <a:t>)</a:t>
            </a:r>
            <a:endParaRPr lang="ko-KR" altLang="en-US" sz="1200" dirty="0"/>
          </a:p>
        </p:txBody>
      </p:sp>
      <p:sp>
        <p:nvSpPr>
          <p:cNvPr id="136" name="TextBox 135"/>
          <p:cNvSpPr txBox="1"/>
          <p:nvPr/>
        </p:nvSpPr>
        <p:spPr>
          <a:xfrm>
            <a:off x="4743846" y="4600841"/>
            <a:ext cx="1192955" cy="461665"/>
          </a:xfrm>
          <a:prstGeom prst="rect">
            <a:avLst/>
          </a:prstGeom>
          <a:noFill/>
          <a:ln w="12700">
            <a:noFill/>
          </a:ln>
        </p:spPr>
        <p:txBody>
          <a:bodyPr wrap="none" rtlCol="0">
            <a:spAutoFit/>
          </a:bodyPr>
          <a:lstStyle/>
          <a:p>
            <a:r>
              <a:rPr lang="ko-KR" altLang="en-US" sz="1200" dirty="0"/>
              <a:t>공지기술의 지위</a:t>
            </a:r>
            <a:endParaRPr lang="en-US" altLang="ko-KR" sz="1200" dirty="0"/>
          </a:p>
          <a:p>
            <a:pPr algn="ctr"/>
            <a:r>
              <a:rPr lang="en-US" altLang="ko-KR" sz="1200" dirty="0"/>
              <a:t>(Y-</a:t>
            </a:r>
            <a:r>
              <a:rPr lang="ko-KR" altLang="en-US" sz="1200" dirty="0" err="1"/>
              <a:t>최명도</a:t>
            </a:r>
            <a:r>
              <a:rPr lang="en-US" altLang="ko-KR" sz="1200" dirty="0"/>
              <a:t>)</a:t>
            </a:r>
            <a:endParaRPr lang="ko-KR" altLang="en-US" sz="1200" dirty="0"/>
          </a:p>
        </p:txBody>
      </p:sp>
      <p:sp>
        <p:nvSpPr>
          <p:cNvPr id="137" name="TextBox 136"/>
          <p:cNvSpPr txBox="1"/>
          <p:nvPr/>
        </p:nvSpPr>
        <p:spPr>
          <a:xfrm>
            <a:off x="2794769" y="4791340"/>
            <a:ext cx="1587294" cy="276999"/>
          </a:xfrm>
          <a:prstGeom prst="rect">
            <a:avLst/>
          </a:prstGeom>
          <a:noFill/>
        </p:spPr>
        <p:txBody>
          <a:bodyPr wrap="none" rtlCol="0">
            <a:spAutoFit/>
          </a:bodyPr>
          <a:lstStyle/>
          <a:p>
            <a:r>
              <a:rPr lang="ko-KR" altLang="en-US" sz="1200" dirty="0" err="1"/>
              <a:t>확선의</a:t>
            </a:r>
            <a:r>
              <a:rPr lang="ko-KR" altLang="en-US" sz="1200" dirty="0"/>
              <a:t> 지위</a:t>
            </a:r>
            <a:r>
              <a:rPr lang="en-US" altLang="ko-KR" sz="1200" dirty="0"/>
              <a:t>(Y-</a:t>
            </a:r>
            <a:r>
              <a:rPr lang="ko-KR" altLang="en-US" sz="1200" dirty="0" err="1"/>
              <a:t>최명도</a:t>
            </a:r>
            <a:r>
              <a:rPr lang="en-US" altLang="ko-KR" sz="1200" dirty="0"/>
              <a:t>)</a:t>
            </a:r>
            <a:endParaRPr lang="ko-KR" altLang="en-US" sz="1200" dirty="0"/>
          </a:p>
        </p:txBody>
      </p:sp>
      <p:sp>
        <p:nvSpPr>
          <p:cNvPr id="139" name="직사각형 138"/>
          <p:cNvSpPr/>
          <p:nvPr/>
        </p:nvSpPr>
        <p:spPr>
          <a:xfrm>
            <a:off x="1582714" y="5903803"/>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취하간주</a:t>
            </a:r>
            <a:r>
              <a:rPr lang="en-US" altLang="ko-KR" sz="1100" dirty="0">
                <a:solidFill>
                  <a:schemeClr val="tx1"/>
                </a:solidFill>
              </a:rPr>
              <a:t>(X)</a:t>
            </a:r>
            <a:endParaRPr lang="ko-KR" altLang="en-US" sz="1100" dirty="0">
              <a:solidFill>
                <a:schemeClr val="tx1"/>
              </a:solidFill>
            </a:endParaRPr>
          </a:p>
        </p:txBody>
      </p:sp>
      <p:sp>
        <p:nvSpPr>
          <p:cNvPr id="140" name="직사각형 139"/>
          <p:cNvSpPr/>
          <p:nvPr/>
        </p:nvSpPr>
        <p:spPr>
          <a:xfrm>
            <a:off x="7348685" y="2598371"/>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공개</a:t>
            </a:r>
            <a:r>
              <a:rPr lang="en-US" altLang="ko-KR" sz="1100" dirty="0">
                <a:solidFill>
                  <a:schemeClr val="tx1"/>
                </a:solidFill>
              </a:rPr>
              <a:t>(X)</a:t>
            </a:r>
            <a:endParaRPr lang="ko-KR" altLang="en-US" sz="1100" dirty="0">
              <a:solidFill>
                <a:schemeClr val="tx1"/>
              </a:solidFill>
            </a:endParaRPr>
          </a:p>
        </p:txBody>
      </p:sp>
      <p:sp>
        <p:nvSpPr>
          <p:cNvPr id="141" name="직사각형 140"/>
          <p:cNvSpPr/>
          <p:nvPr/>
        </p:nvSpPr>
        <p:spPr>
          <a:xfrm>
            <a:off x="8317749" y="2834285"/>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취하간주</a:t>
            </a:r>
            <a:r>
              <a:rPr lang="en-US" altLang="ko-KR" sz="1100" dirty="0">
                <a:solidFill>
                  <a:schemeClr val="tx1"/>
                </a:solidFill>
              </a:rPr>
              <a:t>(X)</a:t>
            </a:r>
            <a:endParaRPr lang="ko-KR" altLang="en-US" sz="1100" dirty="0">
              <a:solidFill>
                <a:schemeClr val="tx1"/>
              </a:solidFill>
            </a:endParaRPr>
          </a:p>
        </p:txBody>
      </p:sp>
      <p:sp>
        <p:nvSpPr>
          <p:cNvPr id="9" name="자유형 8"/>
          <p:cNvSpPr/>
          <p:nvPr/>
        </p:nvSpPr>
        <p:spPr>
          <a:xfrm>
            <a:off x="7839075" y="2209800"/>
            <a:ext cx="3962400" cy="361950"/>
          </a:xfrm>
          <a:custGeom>
            <a:avLst/>
            <a:gdLst>
              <a:gd name="connsiteX0" fmla="*/ 0 w 3962400"/>
              <a:gd name="connsiteY0" fmla="*/ 361950 h 361950"/>
              <a:gd name="connsiteX1" fmla="*/ 104775 w 3962400"/>
              <a:gd name="connsiteY1" fmla="*/ 0 h 361950"/>
              <a:gd name="connsiteX2" fmla="*/ 3962400 w 3962400"/>
              <a:gd name="connsiteY2" fmla="*/ 0 h 361950"/>
            </a:gdLst>
            <a:ahLst/>
            <a:cxnLst>
              <a:cxn ang="0">
                <a:pos x="connsiteX0" y="connsiteY0"/>
              </a:cxn>
              <a:cxn ang="0">
                <a:pos x="connsiteX1" y="connsiteY1"/>
              </a:cxn>
              <a:cxn ang="0">
                <a:pos x="connsiteX2" y="connsiteY2"/>
              </a:cxn>
            </a:cxnLst>
            <a:rect l="l" t="t" r="r" b="b"/>
            <a:pathLst>
              <a:path w="3962400" h="361950">
                <a:moveTo>
                  <a:pt x="0" y="361950"/>
                </a:moveTo>
                <a:lnTo>
                  <a:pt x="104775" y="0"/>
                </a:lnTo>
                <a:lnTo>
                  <a:pt x="3962400" y="0"/>
                </a:lnTo>
              </a:path>
            </a:pathLst>
          </a:custGeom>
          <a:no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8" name="아래쪽 화살표 167"/>
          <p:cNvSpPr/>
          <p:nvPr/>
        </p:nvSpPr>
        <p:spPr>
          <a:xfrm>
            <a:off x="8580304" y="3817314"/>
            <a:ext cx="1313080" cy="723900"/>
          </a:xfrm>
          <a:prstGeom prst="downArrow">
            <a:avLst>
              <a:gd name="adj1" fmla="val 68860"/>
              <a:gd name="adj2" fmla="val 5000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solidFill>
                  <a:schemeClr val="tx1"/>
                </a:solidFill>
              </a:rPr>
              <a:t>일반화</a:t>
            </a:r>
          </a:p>
        </p:txBody>
      </p:sp>
      <p:cxnSp>
        <p:nvCxnSpPr>
          <p:cNvPr id="169" name="직선 연결선 168"/>
          <p:cNvCxnSpPr/>
          <p:nvPr/>
        </p:nvCxnSpPr>
        <p:spPr>
          <a:xfrm>
            <a:off x="6159542" y="5787796"/>
            <a:ext cx="567393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0" name="직사각형 169"/>
          <p:cNvSpPr/>
          <p:nvPr/>
        </p:nvSpPr>
        <p:spPr>
          <a:xfrm>
            <a:off x="6324631" y="5673046"/>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원출원</a:t>
            </a:r>
            <a:r>
              <a:rPr lang="en-US" altLang="ko-KR" sz="1100" dirty="0">
                <a:solidFill>
                  <a:schemeClr val="tx1"/>
                </a:solidFill>
              </a:rPr>
              <a:t>(X)</a:t>
            </a:r>
            <a:endParaRPr lang="ko-KR" altLang="en-US" sz="1100" dirty="0">
              <a:solidFill>
                <a:schemeClr val="tx1"/>
              </a:solidFill>
            </a:endParaRPr>
          </a:p>
        </p:txBody>
      </p:sp>
      <p:sp>
        <p:nvSpPr>
          <p:cNvPr id="171" name="직사각형 170"/>
          <p:cNvSpPr/>
          <p:nvPr/>
        </p:nvSpPr>
        <p:spPr>
          <a:xfrm>
            <a:off x="8318861" y="5673046"/>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변경출원</a:t>
            </a:r>
            <a:r>
              <a:rPr lang="en-US" altLang="ko-KR" sz="1100" dirty="0">
                <a:solidFill>
                  <a:schemeClr val="tx1"/>
                </a:solidFill>
              </a:rPr>
              <a:t>(Y)</a:t>
            </a:r>
            <a:endParaRPr lang="ko-KR" altLang="en-US" sz="1100" dirty="0">
              <a:solidFill>
                <a:schemeClr val="tx1"/>
              </a:solidFill>
            </a:endParaRPr>
          </a:p>
        </p:txBody>
      </p:sp>
      <p:sp>
        <p:nvSpPr>
          <p:cNvPr id="173" name="직사각형 172"/>
          <p:cNvSpPr/>
          <p:nvPr/>
        </p:nvSpPr>
        <p:spPr>
          <a:xfrm>
            <a:off x="10143587" y="5673046"/>
            <a:ext cx="850392"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공개</a:t>
            </a:r>
            <a:r>
              <a:rPr lang="en-US" altLang="ko-KR" sz="1100" dirty="0">
                <a:solidFill>
                  <a:schemeClr val="tx1"/>
                </a:solidFill>
              </a:rPr>
              <a:t>(Y)</a:t>
            </a:r>
            <a:endParaRPr lang="ko-KR" altLang="en-US" sz="1100" dirty="0">
              <a:solidFill>
                <a:schemeClr val="tx1"/>
              </a:solidFill>
            </a:endParaRPr>
          </a:p>
        </p:txBody>
      </p:sp>
      <p:sp>
        <p:nvSpPr>
          <p:cNvPr id="174" name="자유형 173"/>
          <p:cNvSpPr/>
          <p:nvPr/>
        </p:nvSpPr>
        <p:spPr>
          <a:xfrm>
            <a:off x="7173957" y="5278604"/>
            <a:ext cx="662543" cy="390525"/>
          </a:xfrm>
          <a:custGeom>
            <a:avLst/>
            <a:gdLst>
              <a:gd name="connsiteX0" fmla="*/ 0 w 3467100"/>
              <a:gd name="connsiteY0" fmla="*/ 381000 h 390525"/>
              <a:gd name="connsiteX1" fmla="*/ 381000 w 3467100"/>
              <a:gd name="connsiteY1" fmla="*/ 0 h 390525"/>
              <a:gd name="connsiteX2" fmla="*/ 3076575 w 3467100"/>
              <a:gd name="connsiteY2" fmla="*/ 0 h 390525"/>
              <a:gd name="connsiteX3" fmla="*/ 3467100 w 3467100"/>
              <a:gd name="connsiteY3" fmla="*/ 390525 h 390525"/>
            </a:gdLst>
            <a:ahLst/>
            <a:cxnLst>
              <a:cxn ang="0">
                <a:pos x="connsiteX0" y="connsiteY0"/>
              </a:cxn>
              <a:cxn ang="0">
                <a:pos x="connsiteX1" y="connsiteY1"/>
              </a:cxn>
              <a:cxn ang="0">
                <a:pos x="connsiteX2" y="connsiteY2"/>
              </a:cxn>
              <a:cxn ang="0">
                <a:pos x="connsiteX3" y="connsiteY3"/>
              </a:cxn>
            </a:cxnLst>
            <a:rect l="l" t="t" r="r" b="b"/>
            <a:pathLst>
              <a:path w="3467100" h="390525">
                <a:moveTo>
                  <a:pt x="0" y="381000"/>
                </a:moveTo>
                <a:lnTo>
                  <a:pt x="381000" y="0"/>
                </a:lnTo>
                <a:lnTo>
                  <a:pt x="3076575" y="0"/>
                </a:lnTo>
                <a:lnTo>
                  <a:pt x="3467100" y="390525"/>
                </a:lnTo>
              </a:path>
            </a:pathLst>
          </a:cu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75" name="자유형 174"/>
          <p:cNvSpPr/>
          <p:nvPr/>
        </p:nvSpPr>
        <p:spPr>
          <a:xfrm>
            <a:off x="9168141" y="4916654"/>
            <a:ext cx="1377666" cy="723900"/>
          </a:xfrm>
          <a:custGeom>
            <a:avLst/>
            <a:gdLst>
              <a:gd name="connsiteX0" fmla="*/ 0 w 2066925"/>
              <a:gd name="connsiteY0" fmla="*/ 723900 h 723900"/>
              <a:gd name="connsiteX1" fmla="*/ 304800 w 2066925"/>
              <a:gd name="connsiteY1" fmla="*/ 0 h 723900"/>
              <a:gd name="connsiteX2" fmla="*/ 1857375 w 2066925"/>
              <a:gd name="connsiteY2" fmla="*/ 0 h 723900"/>
              <a:gd name="connsiteX3" fmla="*/ 2066925 w 2066925"/>
              <a:gd name="connsiteY3" fmla="*/ 723900 h 723900"/>
            </a:gdLst>
            <a:ahLst/>
            <a:cxnLst>
              <a:cxn ang="0">
                <a:pos x="connsiteX0" y="connsiteY0"/>
              </a:cxn>
              <a:cxn ang="0">
                <a:pos x="connsiteX1" y="connsiteY1"/>
              </a:cxn>
              <a:cxn ang="0">
                <a:pos x="connsiteX2" y="connsiteY2"/>
              </a:cxn>
              <a:cxn ang="0">
                <a:pos x="connsiteX3" y="connsiteY3"/>
              </a:cxn>
            </a:cxnLst>
            <a:rect l="l" t="t" r="r" b="b"/>
            <a:pathLst>
              <a:path w="2066925" h="723900">
                <a:moveTo>
                  <a:pt x="0" y="723900"/>
                </a:moveTo>
                <a:lnTo>
                  <a:pt x="304800" y="0"/>
                </a:lnTo>
                <a:lnTo>
                  <a:pt x="1857375" y="0"/>
                </a:lnTo>
                <a:lnTo>
                  <a:pt x="2066925" y="723900"/>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76" name="자유형 175"/>
          <p:cNvSpPr/>
          <p:nvPr/>
        </p:nvSpPr>
        <p:spPr>
          <a:xfrm>
            <a:off x="10545807" y="4916654"/>
            <a:ext cx="1295400" cy="704850"/>
          </a:xfrm>
          <a:custGeom>
            <a:avLst/>
            <a:gdLst>
              <a:gd name="connsiteX0" fmla="*/ 0 w 1295400"/>
              <a:gd name="connsiteY0" fmla="*/ 742950 h 742950"/>
              <a:gd name="connsiteX1" fmla="*/ 257175 w 1295400"/>
              <a:gd name="connsiteY1" fmla="*/ 0 h 742950"/>
              <a:gd name="connsiteX2" fmla="*/ 1295400 w 1295400"/>
              <a:gd name="connsiteY2" fmla="*/ 0 h 742950"/>
            </a:gdLst>
            <a:ahLst/>
            <a:cxnLst>
              <a:cxn ang="0">
                <a:pos x="connsiteX0" y="connsiteY0"/>
              </a:cxn>
              <a:cxn ang="0">
                <a:pos x="connsiteX1" y="connsiteY1"/>
              </a:cxn>
              <a:cxn ang="0">
                <a:pos x="connsiteX2" y="connsiteY2"/>
              </a:cxn>
            </a:cxnLst>
            <a:rect l="l" t="t" r="r" b="b"/>
            <a:pathLst>
              <a:path w="1295400" h="742950">
                <a:moveTo>
                  <a:pt x="0" y="742950"/>
                </a:moveTo>
                <a:lnTo>
                  <a:pt x="257175" y="0"/>
                </a:lnTo>
                <a:lnTo>
                  <a:pt x="1295400" y="0"/>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77" name="자유형 176"/>
          <p:cNvSpPr/>
          <p:nvPr/>
        </p:nvSpPr>
        <p:spPr>
          <a:xfrm>
            <a:off x="6335757" y="5926305"/>
            <a:ext cx="5429250" cy="489443"/>
          </a:xfrm>
          <a:custGeom>
            <a:avLst/>
            <a:gdLst>
              <a:gd name="connsiteX0" fmla="*/ 0 w 5429250"/>
              <a:gd name="connsiteY0" fmla="*/ 0 h 752475"/>
              <a:gd name="connsiteX1" fmla="*/ 361950 w 5429250"/>
              <a:gd name="connsiteY1" fmla="*/ 752475 h 752475"/>
              <a:gd name="connsiteX2" fmla="*/ 5429250 w 5429250"/>
              <a:gd name="connsiteY2" fmla="*/ 752475 h 752475"/>
            </a:gdLst>
            <a:ahLst/>
            <a:cxnLst>
              <a:cxn ang="0">
                <a:pos x="connsiteX0" y="connsiteY0"/>
              </a:cxn>
              <a:cxn ang="0">
                <a:pos x="connsiteX1" y="connsiteY1"/>
              </a:cxn>
              <a:cxn ang="0">
                <a:pos x="connsiteX2" y="connsiteY2"/>
              </a:cxn>
            </a:cxnLst>
            <a:rect l="l" t="t" r="r" b="b"/>
            <a:pathLst>
              <a:path w="5429250" h="752475">
                <a:moveTo>
                  <a:pt x="0" y="0"/>
                </a:moveTo>
                <a:lnTo>
                  <a:pt x="361950" y="752475"/>
                </a:lnTo>
                <a:lnTo>
                  <a:pt x="5429250" y="752475"/>
                </a:lnTo>
              </a:path>
            </a:pathLst>
          </a:cu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78" name="TextBox 177"/>
          <p:cNvSpPr txBox="1"/>
          <p:nvPr/>
        </p:nvSpPr>
        <p:spPr>
          <a:xfrm>
            <a:off x="8269728" y="6429640"/>
            <a:ext cx="1863011" cy="276999"/>
          </a:xfrm>
          <a:prstGeom prst="rect">
            <a:avLst/>
          </a:prstGeom>
          <a:noFill/>
        </p:spPr>
        <p:txBody>
          <a:bodyPr wrap="none" rtlCol="0">
            <a:spAutoFit/>
          </a:bodyPr>
          <a:lstStyle/>
          <a:p>
            <a:r>
              <a:rPr lang="ko-KR" altLang="en-US" sz="1200" dirty="0" err="1"/>
              <a:t>선출원의</a:t>
            </a:r>
            <a:r>
              <a:rPr lang="ko-KR" altLang="en-US" sz="1200" dirty="0"/>
              <a:t> 지위</a:t>
            </a:r>
            <a:r>
              <a:rPr lang="en-US" altLang="ko-KR" sz="1200" dirty="0"/>
              <a:t>(Y-</a:t>
            </a:r>
            <a:r>
              <a:rPr lang="ko-KR" altLang="en-US" sz="1200" dirty="0" err="1"/>
              <a:t>청구범위</a:t>
            </a:r>
            <a:r>
              <a:rPr lang="en-US" altLang="ko-KR" sz="1200" dirty="0"/>
              <a:t>)</a:t>
            </a:r>
            <a:endParaRPr lang="ko-KR" altLang="en-US" sz="1200" dirty="0"/>
          </a:p>
        </p:txBody>
      </p:sp>
      <p:sp>
        <p:nvSpPr>
          <p:cNvPr id="179" name="TextBox 178"/>
          <p:cNvSpPr txBox="1"/>
          <p:nvPr/>
        </p:nvSpPr>
        <p:spPr>
          <a:xfrm>
            <a:off x="10793853" y="4477015"/>
            <a:ext cx="1192955" cy="461665"/>
          </a:xfrm>
          <a:prstGeom prst="rect">
            <a:avLst/>
          </a:prstGeom>
          <a:noFill/>
          <a:ln w="12700">
            <a:noFill/>
          </a:ln>
        </p:spPr>
        <p:txBody>
          <a:bodyPr wrap="none" rtlCol="0">
            <a:spAutoFit/>
          </a:bodyPr>
          <a:lstStyle/>
          <a:p>
            <a:r>
              <a:rPr lang="ko-KR" altLang="en-US" sz="1200" dirty="0"/>
              <a:t>공지기술의 지위</a:t>
            </a:r>
            <a:endParaRPr lang="en-US" altLang="ko-KR" sz="1200" dirty="0"/>
          </a:p>
          <a:p>
            <a:pPr algn="ctr"/>
            <a:r>
              <a:rPr lang="en-US" altLang="ko-KR" sz="1200" dirty="0"/>
              <a:t>(Y-</a:t>
            </a:r>
            <a:r>
              <a:rPr lang="ko-KR" altLang="en-US" sz="1200" dirty="0" err="1"/>
              <a:t>최명도</a:t>
            </a:r>
            <a:r>
              <a:rPr lang="en-US" altLang="ko-KR" sz="1200" dirty="0"/>
              <a:t>)</a:t>
            </a:r>
            <a:endParaRPr lang="ko-KR" altLang="en-US" sz="1200" dirty="0"/>
          </a:p>
        </p:txBody>
      </p:sp>
      <p:sp>
        <p:nvSpPr>
          <p:cNvPr id="180" name="TextBox 179"/>
          <p:cNvSpPr txBox="1"/>
          <p:nvPr/>
        </p:nvSpPr>
        <p:spPr>
          <a:xfrm>
            <a:off x="9159101" y="4657989"/>
            <a:ext cx="1587294" cy="276999"/>
          </a:xfrm>
          <a:prstGeom prst="rect">
            <a:avLst/>
          </a:prstGeom>
          <a:noFill/>
        </p:spPr>
        <p:txBody>
          <a:bodyPr wrap="none" rtlCol="0">
            <a:spAutoFit/>
          </a:bodyPr>
          <a:lstStyle/>
          <a:p>
            <a:r>
              <a:rPr lang="ko-KR" altLang="en-US" sz="1200" dirty="0" err="1"/>
              <a:t>확선의</a:t>
            </a:r>
            <a:r>
              <a:rPr lang="ko-KR" altLang="en-US" sz="1200" dirty="0"/>
              <a:t> 지위</a:t>
            </a:r>
            <a:r>
              <a:rPr lang="en-US" altLang="ko-KR" sz="1200" dirty="0"/>
              <a:t>(Y-</a:t>
            </a:r>
            <a:r>
              <a:rPr lang="ko-KR" altLang="en-US" sz="1200" dirty="0" err="1"/>
              <a:t>최명도</a:t>
            </a:r>
            <a:r>
              <a:rPr lang="en-US" altLang="ko-KR" sz="1200" dirty="0"/>
              <a:t>)</a:t>
            </a:r>
            <a:endParaRPr lang="ko-KR" altLang="en-US" sz="1200" dirty="0"/>
          </a:p>
        </p:txBody>
      </p:sp>
      <p:sp>
        <p:nvSpPr>
          <p:cNvPr id="181" name="TextBox 180"/>
          <p:cNvSpPr txBox="1"/>
          <p:nvPr/>
        </p:nvSpPr>
        <p:spPr>
          <a:xfrm>
            <a:off x="6974535" y="4888754"/>
            <a:ext cx="917239" cy="461665"/>
          </a:xfrm>
          <a:prstGeom prst="rect">
            <a:avLst/>
          </a:prstGeom>
          <a:noFill/>
        </p:spPr>
        <p:txBody>
          <a:bodyPr wrap="none" rtlCol="0">
            <a:spAutoFit/>
          </a:bodyPr>
          <a:lstStyle/>
          <a:p>
            <a:pPr algn="ctr"/>
            <a:r>
              <a:rPr lang="ko-KR" altLang="en-US" sz="1200" dirty="0" err="1"/>
              <a:t>확선의</a:t>
            </a:r>
            <a:r>
              <a:rPr lang="ko-KR" altLang="en-US" sz="1200" dirty="0"/>
              <a:t> 지위</a:t>
            </a:r>
            <a:endParaRPr lang="en-US" altLang="ko-KR" sz="1200" dirty="0"/>
          </a:p>
          <a:p>
            <a:pPr algn="ctr"/>
            <a:r>
              <a:rPr lang="en-US" altLang="ko-KR" sz="1200" dirty="0"/>
              <a:t>(X-</a:t>
            </a:r>
            <a:r>
              <a:rPr lang="ko-KR" altLang="en-US" sz="1200" dirty="0" err="1"/>
              <a:t>최명도</a:t>
            </a:r>
            <a:r>
              <a:rPr lang="en-US" altLang="ko-KR" sz="1200" dirty="0"/>
              <a:t>)</a:t>
            </a:r>
            <a:endParaRPr lang="ko-KR" altLang="en-US" sz="1200" dirty="0"/>
          </a:p>
        </p:txBody>
      </p:sp>
      <p:sp>
        <p:nvSpPr>
          <p:cNvPr id="182" name="TextBox 181"/>
          <p:cNvSpPr txBox="1"/>
          <p:nvPr/>
        </p:nvSpPr>
        <p:spPr>
          <a:xfrm>
            <a:off x="7768535" y="4878899"/>
            <a:ext cx="1192955" cy="461665"/>
          </a:xfrm>
          <a:prstGeom prst="rect">
            <a:avLst/>
          </a:prstGeom>
          <a:noFill/>
        </p:spPr>
        <p:txBody>
          <a:bodyPr wrap="none" rtlCol="0">
            <a:spAutoFit/>
          </a:bodyPr>
          <a:lstStyle/>
          <a:p>
            <a:r>
              <a:rPr lang="ko-KR" altLang="en-US" sz="1200" dirty="0"/>
              <a:t>공지기술의 지위</a:t>
            </a:r>
            <a:endParaRPr lang="en-US" altLang="ko-KR" sz="1200" dirty="0"/>
          </a:p>
          <a:p>
            <a:pPr algn="ctr"/>
            <a:r>
              <a:rPr lang="en-US" altLang="ko-KR" sz="1200" dirty="0"/>
              <a:t>(X-</a:t>
            </a:r>
            <a:r>
              <a:rPr lang="ko-KR" altLang="en-US" sz="1200" dirty="0" err="1"/>
              <a:t>최명도</a:t>
            </a:r>
            <a:r>
              <a:rPr lang="en-US" altLang="ko-KR" sz="1200" dirty="0"/>
              <a:t>)</a:t>
            </a:r>
            <a:endParaRPr lang="ko-KR" altLang="en-US" sz="1200" dirty="0"/>
          </a:p>
        </p:txBody>
      </p:sp>
      <p:sp>
        <p:nvSpPr>
          <p:cNvPr id="183" name="직사각형 182"/>
          <p:cNvSpPr/>
          <p:nvPr/>
        </p:nvSpPr>
        <p:spPr>
          <a:xfrm>
            <a:off x="7348685" y="5673046"/>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공개</a:t>
            </a:r>
            <a:r>
              <a:rPr lang="en-US" altLang="ko-KR" sz="1100" dirty="0">
                <a:solidFill>
                  <a:schemeClr val="tx1"/>
                </a:solidFill>
              </a:rPr>
              <a:t>(X)</a:t>
            </a:r>
            <a:endParaRPr lang="ko-KR" altLang="en-US" sz="1100" dirty="0">
              <a:solidFill>
                <a:schemeClr val="tx1"/>
              </a:solidFill>
            </a:endParaRPr>
          </a:p>
        </p:txBody>
      </p:sp>
      <p:sp>
        <p:nvSpPr>
          <p:cNvPr id="184" name="직사각형 183"/>
          <p:cNvSpPr/>
          <p:nvPr/>
        </p:nvSpPr>
        <p:spPr>
          <a:xfrm>
            <a:off x="8317749" y="5908960"/>
            <a:ext cx="850392"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취하간주</a:t>
            </a:r>
            <a:r>
              <a:rPr lang="en-US" altLang="ko-KR" sz="1100" dirty="0">
                <a:solidFill>
                  <a:schemeClr val="tx1"/>
                </a:solidFill>
              </a:rPr>
              <a:t>(X)</a:t>
            </a:r>
            <a:endParaRPr lang="ko-KR" altLang="en-US" sz="1100" dirty="0">
              <a:solidFill>
                <a:schemeClr val="tx1"/>
              </a:solidFill>
            </a:endParaRPr>
          </a:p>
        </p:txBody>
      </p:sp>
      <p:sp>
        <p:nvSpPr>
          <p:cNvPr id="185" name="자유형 184"/>
          <p:cNvSpPr/>
          <p:nvPr/>
        </p:nvSpPr>
        <p:spPr>
          <a:xfrm>
            <a:off x="7839075" y="5284475"/>
            <a:ext cx="3962400" cy="361950"/>
          </a:xfrm>
          <a:custGeom>
            <a:avLst/>
            <a:gdLst>
              <a:gd name="connsiteX0" fmla="*/ 0 w 3962400"/>
              <a:gd name="connsiteY0" fmla="*/ 361950 h 361950"/>
              <a:gd name="connsiteX1" fmla="*/ 104775 w 3962400"/>
              <a:gd name="connsiteY1" fmla="*/ 0 h 361950"/>
              <a:gd name="connsiteX2" fmla="*/ 3962400 w 3962400"/>
              <a:gd name="connsiteY2" fmla="*/ 0 h 361950"/>
            </a:gdLst>
            <a:ahLst/>
            <a:cxnLst>
              <a:cxn ang="0">
                <a:pos x="connsiteX0" y="connsiteY0"/>
              </a:cxn>
              <a:cxn ang="0">
                <a:pos x="connsiteX1" y="connsiteY1"/>
              </a:cxn>
              <a:cxn ang="0">
                <a:pos x="connsiteX2" y="connsiteY2"/>
              </a:cxn>
            </a:cxnLst>
            <a:rect l="l" t="t" r="r" b="b"/>
            <a:pathLst>
              <a:path w="3962400" h="361950">
                <a:moveTo>
                  <a:pt x="0" y="361950"/>
                </a:moveTo>
                <a:lnTo>
                  <a:pt x="104775" y="0"/>
                </a:lnTo>
                <a:lnTo>
                  <a:pt x="3962400" y="0"/>
                </a:lnTo>
              </a:path>
            </a:pathLst>
          </a:custGeom>
          <a:no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슬라이드 번호 개체 틀 1"/>
          <p:cNvSpPr>
            <a:spLocks noGrp="1"/>
          </p:cNvSpPr>
          <p:nvPr>
            <p:ph type="sldNum" sz="quarter" idx="12"/>
          </p:nvPr>
        </p:nvSpPr>
        <p:spPr/>
        <p:txBody>
          <a:bodyPr/>
          <a:lstStyle/>
          <a:p>
            <a:r>
              <a:rPr lang="en-US" altLang="ko-KR"/>
              <a:t>209</a:t>
            </a:r>
            <a:endParaRPr lang="ko-KR" altLang="en-US"/>
          </a:p>
        </p:txBody>
      </p:sp>
    </p:spTree>
    <p:extLst>
      <p:ext uri="{BB962C8B-B14F-4D97-AF65-F5344CB8AC3E}">
        <p14:creationId xmlns:p14="http://schemas.microsoft.com/office/powerpoint/2010/main" val="3491095952"/>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3" name="직선 연결선 42"/>
          <p:cNvCxnSpPr/>
          <p:nvPr/>
        </p:nvCxnSpPr>
        <p:spPr>
          <a:xfrm>
            <a:off x="1090881" y="2428875"/>
            <a:ext cx="0" cy="303108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제목 3"/>
          <p:cNvSpPr>
            <a:spLocks noGrp="1"/>
          </p:cNvSpPr>
          <p:nvPr>
            <p:ph type="title"/>
          </p:nvPr>
        </p:nvSpPr>
        <p:spPr/>
        <p:txBody>
          <a:bodyPr/>
          <a:lstStyle/>
          <a:p>
            <a:r>
              <a:rPr lang="ko-KR" altLang="en-US" dirty="0"/>
              <a:t>제</a:t>
            </a:r>
            <a:r>
              <a:rPr lang="en-US" altLang="ko-KR" dirty="0"/>
              <a:t>53</a:t>
            </a:r>
            <a:r>
              <a:rPr lang="ko-KR" altLang="en-US" dirty="0"/>
              <a:t>조</a:t>
            </a:r>
          </a:p>
        </p:txBody>
      </p:sp>
      <p:sp>
        <p:nvSpPr>
          <p:cNvPr id="5" name="텍스트 개체 틀 4"/>
          <p:cNvSpPr>
            <a:spLocks noGrp="1"/>
          </p:cNvSpPr>
          <p:nvPr>
            <p:ph type="body" sz="quarter" idx="13"/>
          </p:nvPr>
        </p:nvSpPr>
        <p:spPr/>
        <p:txBody>
          <a:bodyPr/>
          <a:lstStyle/>
          <a:p>
            <a:r>
              <a:rPr lang="ko-KR" altLang="en-US" dirty="0"/>
              <a:t>분할출원과의 관계</a:t>
            </a:r>
          </a:p>
        </p:txBody>
      </p:sp>
      <p:cxnSp>
        <p:nvCxnSpPr>
          <p:cNvPr id="100" name="직선 연결선 99"/>
          <p:cNvCxnSpPr/>
          <p:nvPr/>
        </p:nvCxnSpPr>
        <p:spPr>
          <a:xfrm>
            <a:off x="6109281" y="2428875"/>
            <a:ext cx="0" cy="420266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77875" y="986046"/>
            <a:ext cx="11936323" cy="954107"/>
          </a:xfrm>
          <a:prstGeom prst="rect">
            <a:avLst/>
          </a:prstGeom>
          <a:noFill/>
        </p:spPr>
        <p:txBody>
          <a:bodyPr wrap="square" rtlCol="0">
            <a:spAutoFit/>
          </a:bodyPr>
          <a:lstStyle/>
          <a:p>
            <a:pPr fontAlgn="base"/>
            <a:r>
              <a:rPr lang="ko-KR" altLang="en-US" sz="1400" dirty="0">
                <a:solidFill>
                  <a:schemeClr val="tx2"/>
                </a:solidFill>
              </a:rPr>
              <a:t> </a:t>
            </a:r>
            <a:r>
              <a:rPr lang="ko-KR" altLang="en-US" sz="1400">
                <a:solidFill>
                  <a:schemeClr val="tx2"/>
                </a:solidFill>
              </a:rPr>
              <a:t>분할출원을</a:t>
            </a:r>
            <a:r>
              <a:rPr lang="en-US" altLang="ko-KR" sz="1400">
                <a:solidFill>
                  <a:schemeClr val="tx2"/>
                </a:solidFill>
              </a:rPr>
              <a:t> </a:t>
            </a:r>
            <a:r>
              <a:rPr lang="ko-KR" altLang="en-US" sz="1400">
                <a:solidFill>
                  <a:schemeClr val="tx2"/>
                </a:solidFill>
              </a:rPr>
              <a:t>한 </a:t>
            </a:r>
            <a:r>
              <a:rPr lang="ko-KR" altLang="en-US" sz="1400" dirty="0">
                <a:solidFill>
                  <a:schemeClr val="tx2"/>
                </a:solidFill>
              </a:rPr>
              <a:t>후 그 분할출원을 원출원으로 하여 변경출원을 할 수 있다</a:t>
            </a:r>
            <a:r>
              <a:rPr lang="en-US" altLang="ko-KR" sz="1400" dirty="0">
                <a:solidFill>
                  <a:schemeClr val="tx2"/>
                </a:solidFill>
              </a:rPr>
              <a:t>. </a:t>
            </a:r>
            <a:r>
              <a:rPr lang="ko-KR" altLang="en-US" sz="1400" dirty="0">
                <a:solidFill>
                  <a:schemeClr val="tx2"/>
                </a:solidFill>
                <a:highlight>
                  <a:srgbClr val="FFFF00"/>
                </a:highlight>
              </a:rPr>
              <a:t>다만 분할출원과 변경출원이 하나의 절차에 의하여 이루어질 수는 없으므로 특허출원 발명</a:t>
            </a:r>
            <a:r>
              <a:rPr lang="en-US" altLang="ko-KR" sz="1400" dirty="0">
                <a:solidFill>
                  <a:schemeClr val="tx2"/>
                </a:solidFill>
                <a:highlight>
                  <a:srgbClr val="FFFF00"/>
                </a:highlight>
              </a:rPr>
              <a:t>(A, B) </a:t>
            </a:r>
            <a:r>
              <a:rPr lang="ko-KR" altLang="en-US" sz="1400" dirty="0">
                <a:solidFill>
                  <a:schemeClr val="tx2"/>
                </a:solidFill>
                <a:highlight>
                  <a:srgbClr val="FFFF00"/>
                </a:highlight>
              </a:rPr>
              <a:t>중 일부</a:t>
            </a:r>
            <a:r>
              <a:rPr lang="en-US" altLang="ko-KR" sz="1400" dirty="0">
                <a:solidFill>
                  <a:schemeClr val="tx2"/>
                </a:solidFill>
                <a:highlight>
                  <a:srgbClr val="FFFF00"/>
                </a:highlight>
              </a:rPr>
              <a:t>(A)</a:t>
            </a:r>
            <a:r>
              <a:rPr lang="ko-KR" altLang="en-US" sz="1400" dirty="0">
                <a:solidFill>
                  <a:schemeClr val="tx2"/>
                </a:solidFill>
                <a:highlight>
                  <a:srgbClr val="FFFF00"/>
                </a:highlight>
              </a:rPr>
              <a:t>를 특허로 보호받고</a:t>
            </a:r>
            <a:r>
              <a:rPr lang="en-US" altLang="ko-KR" sz="1400" dirty="0">
                <a:solidFill>
                  <a:schemeClr val="tx2"/>
                </a:solidFill>
                <a:highlight>
                  <a:srgbClr val="FFFF00"/>
                </a:highlight>
              </a:rPr>
              <a:t>, </a:t>
            </a:r>
            <a:r>
              <a:rPr lang="ko-KR" altLang="en-US" sz="1400" dirty="0">
                <a:solidFill>
                  <a:schemeClr val="tx2"/>
                </a:solidFill>
                <a:highlight>
                  <a:srgbClr val="FFFF00"/>
                </a:highlight>
              </a:rPr>
              <a:t>일부</a:t>
            </a:r>
            <a:r>
              <a:rPr lang="en-US" altLang="ko-KR" sz="1400" dirty="0">
                <a:solidFill>
                  <a:schemeClr val="tx2"/>
                </a:solidFill>
                <a:highlight>
                  <a:srgbClr val="FFFF00"/>
                </a:highlight>
              </a:rPr>
              <a:t>(B)</a:t>
            </a:r>
            <a:r>
              <a:rPr lang="ko-KR" altLang="en-US" sz="1400" dirty="0">
                <a:solidFill>
                  <a:schemeClr val="tx2"/>
                </a:solidFill>
                <a:highlight>
                  <a:srgbClr val="FFFF00"/>
                </a:highlight>
              </a:rPr>
              <a:t>를 실용신안으로 보호받고자 할 때에는 일단 그 발명</a:t>
            </a:r>
            <a:r>
              <a:rPr lang="en-US" altLang="ko-KR" sz="1400" dirty="0">
                <a:solidFill>
                  <a:schemeClr val="tx2"/>
                </a:solidFill>
                <a:highlight>
                  <a:srgbClr val="FFFF00"/>
                </a:highlight>
              </a:rPr>
              <a:t>(B)</a:t>
            </a:r>
            <a:r>
              <a:rPr lang="ko-KR" altLang="en-US" sz="1400" dirty="0">
                <a:solidFill>
                  <a:schemeClr val="tx2"/>
                </a:solidFill>
                <a:highlight>
                  <a:srgbClr val="FFFF00"/>
                </a:highlight>
              </a:rPr>
              <a:t>을 동일한 출원형식으로 분할출원을 하고 그 분할출원을 다시 </a:t>
            </a:r>
            <a:r>
              <a:rPr lang="ko-KR" altLang="en-US" sz="1400" dirty="0" err="1">
                <a:solidFill>
                  <a:schemeClr val="tx2"/>
                </a:solidFill>
                <a:highlight>
                  <a:srgbClr val="FFFF00"/>
                </a:highlight>
              </a:rPr>
              <a:t>변경출원하여야</a:t>
            </a:r>
            <a:r>
              <a:rPr lang="ko-KR" altLang="en-US" sz="1400" dirty="0">
                <a:solidFill>
                  <a:schemeClr val="tx2"/>
                </a:solidFill>
                <a:highlight>
                  <a:srgbClr val="FFFF00"/>
                </a:highlight>
              </a:rPr>
              <a:t> 한다</a:t>
            </a:r>
            <a:r>
              <a:rPr lang="en-US" altLang="ko-KR" sz="1400" dirty="0">
                <a:solidFill>
                  <a:schemeClr val="tx2"/>
                </a:solidFill>
                <a:highlight>
                  <a:srgbClr val="FFFF00"/>
                </a:highlight>
              </a:rPr>
              <a:t>.</a:t>
            </a:r>
            <a:r>
              <a:rPr lang="en-US" altLang="ko-KR" sz="1400" dirty="0">
                <a:solidFill>
                  <a:schemeClr val="tx2"/>
                </a:solidFill>
              </a:rPr>
              <a:t> </a:t>
            </a:r>
            <a:r>
              <a:rPr lang="ko-KR" altLang="en-US" sz="1400" dirty="0">
                <a:solidFill>
                  <a:schemeClr val="tx2"/>
                </a:solidFill>
              </a:rPr>
              <a:t>그 발명</a:t>
            </a:r>
            <a:r>
              <a:rPr lang="en-US" altLang="ko-KR" sz="1400" dirty="0">
                <a:solidFill>
                  <a:schemeClr val="tx2"/>
                </a:solidFill>
              </a:rPr>
              <a:t>(B)</a:t>
            </a:r>
            <a:r>
              <a:rPr lang="ko-KR" altLang="en-US" sz="1400" dirty="0">
                <a:solidFill>
                  <a:schemeClr val="tx2"/>
                </a:solidFill>
              </a:rPr>
              <a:t>을 </a:t>
            </a:r>
            <a:r>
              <a:rPr lang="ko-KR" altLang="en-US" sz="1400" dirty="0" err="1">
                <a:solidFill>
                  <a:schemeClr val="tx2"/>
                </a:solidFill>
              </a:rPr>
              <a:t>분할출원하지</a:t>
            </a:r>
            <a:r>
              <a:rPr lang="ko-KR" altLang="en-US" sz="1400" dirty="0">
                <a:solidFill>
                  <a:schemeClr val="tx2"/>
                </a:solidFill>
              </a:rPr>
              <a:t> 않고 특허출원</a:t>
            </a:r>
            <a:r>
              <a:rPr lang="en-US" altLang="ko-KR" sz="1400" dirty="0">
                <a:solidFill>
                  <a:schemeClr val="tx2"/>
                </a:solidFill>
              </a:rPr>
              <a:t>(A, B)</a:t>
            </a:r>
            <a:r>
              <a:rPr lang="ko-KR" altLang="en-US" sz="1400" dirty="0">
                <a:solidFill>
                  <a:schemeClr val="tx2"/>
                </a:solidFill>
              </a:rPr>
              <a:t>을 바로 </a:t>
            </a:r>
            <a:r>
              <a:rPr lang="ko-KR" altLang="en-US" sz="1400" dirty="0" err="1">
                <a:solidFill>
                  <a:schemeClr val="tx2"/>
                </a:solidFill>
              </a:rPr>
              <a:t>변경출원하는</a:t>
            </a:r>
            <a:r>
              <a:rPr lang="ko-KR" altLang="en-US" sz="1400" dirty="0">
                <a:solidFill>
                  <a:schemeClr val="tx2"/>
                </a:solidFill>
              </a:rPr>
              <a:t> 경우에는 특허출원이 </a:t>
            </a:r>
            <a:r>
              <a:rPr lang="ko-KR" altLang="en-US" sz="1400" dirty="0" err="1">
                <a:solidFill>
                  <a:schemeClr val="tx2"/>
                </a:solidFill>
              </a:rPr>
              <a:t>취하간주되어</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53④) </a:t>
            </a:r>
            <a:r>
              <a:rPr lang="ko-KR" altLang="en-US" sz="1400" dirty="0" err="1">
                <a:solidFill>
                  <a:schemeClr val="tx2"/>
                </a:solidFill>
              </a:rPr>
              <a:t>변경출원한</a:t>
            </a:r>
            <a:r>
              <a:rPr lang="ko-KR" altLang="en-US" sz="1400" dirty="0">
                <a:solidFill>
                  <a:schemeClr val="tx2"/>
                </a:solidFill>
              </a:rPr>
              <a:t> 일부 발명</a:t>
            </a:r>
            <a:r>
              <a:rPr lang="en-US" altLang="ko-KR" sz="1400" dirty="0">
                <a:solidFill>
                  <a:schemeClr val="tx2"/>
                </a:solidFill>
              </a:rPr>
              <a:t>(B)</a:t>
            </a:r>
            <a:r>
              <a:rPr lang="ko-KR" altLang="en-US" sz="1400" dirty="0">
                <a:solidFill>
                  <a:schemeClr val="tx2"/>
                </a:solidFill>
              </a:rPr>
              <a:t>에 대해서만 실용신안으로 보호를 받을 수 있게 된다</a:t>
            </a:r>
            <a:r>
              <a:rPr lang="en-US" altLang="ko-KR" sz="1400" dirty="0">
                <a:solidFill>
                  <a:schemeClr val="tx2"/>
                </a:solidFill>
              </a:rPr>
              <a:t>.</a:t>
            </a:r>
          </a:p>
        </p:txBody>
      </p:sp>
      <p:cxnSp>
        <p:nvCxnSpPr>
          <p:cNvPr id="34" name="직선 연결선 33"/>
          <p:cNvCxnSpPr/>
          <p:nvPr/>
        </p:nvCxnSpPr>
        <p:spPr>
          <a:xfrm>
            <a:off x="0" y="197028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직선 연결선 34"/>
          <p:cNvCxnSpPr/>
          <p:nvPr/>
        </p:nvCxnSpPr>
        <p:spPr>
          <a:xfrm>
            <a:off x="109535" y="3349397"/>
            <a:ext cx="567393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직사각형 35"/>
          <p:cNvSpPr/>
          <p:nvPr/>
        </p:nvSpPr>
        <p:spPr>
          <a:xfrm>
            <a:off x="450305" y="3234647"/>
            <a:ext cx="1280080"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실용출원</a:t>
            </a:r>
            <a:r>
              <a:rPr lang="en-US" altLang="ko-KR" sz="1100" dirty="0">
                <a:solidFill>
                  <a:schemeClr val="tx1"/>
                </a:solidFill>
              </a:rPr>
              <a:t>(X)</a:t>
            </a:r>
            <a:endParaRPr lang="ko-KR" altLang="en-US" sz="1100" dirty="0">
              <a:solidFill>
                <a:schemeClr val="tx1"/>
              </a:solidFill>
            </a:endParaRPr>
          </a:p>
        </p:txBody>
      </p:sp>
      <p:sp>
        <p:nvSpPr>
          <p:cNvPr id="37" name="직사각형 36"/>
          <p:cNvSpPr/>
          <p:nvPr/>
        </p:nvSpPr>
        <p:spPr>
          <a:xfrm>
            <a:off x="3235110" y="3234647"/>
            <a:ext cx="1280080"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변경출원</a:t>
            </a:r>
            <a:r>
              <a:rPr lang="en-US" altLang="ko-KR" sz="1100" dirty="0">
                <a:solidFill>
                  <a:schemeClr val="tx1"/>
                </a:solidFill>
              </a:rPr>
              <a:t>(Y)</a:t>
            </a:r>
            <a:endParaRPr lang="ko-KR" altLang="en-US" sz="1100" dirty="0">
              <a:solidFill>
                <a:schemeClr val="tx1"/>
              </a:solidFill>
            </a:endParaRPr>
          </a:p>
        </p:txBody>
      </p:sp>
      <p:sp>
        <p:nvSpPr>
          <p:cNvPr id="40" name="직사각형 39"/>
          <p:cNvSpPr/>
          <p:nvPr/>
        </p:nvSpPr>
        <p:spPr>
          <a:xfrm>
            <a:off x="3234770" y="3465403"/>
            <a:ext cx="1280080"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취하간주</a:t>
            </a:r>
            <a:r>
              <a:rPr lang="en-US" altLang="ko-KR" sz="1100" dirty="0">
                <a:solidFill>
                  <a:schemeClr val="tx1"/>
                </a:solidFill>
              </a:rPr>
              <a:t>(X)</a:t>
            </a:r>
            <a:endParaRPr lang="ko-KR" altLang="en-US" sz="1100" dirty="0">
              <a:solidFill>
                <a:schemeClr val="tx1"/>
              </a:solidFill>
            </a:endParaRPr>
          </a:p>
        </p:txBody>
      </p:sp>
      <p:sp>
        <p:nvSpPr>
          <p:cNvPr id="41" name="직사각형 40"/>
          <p:cNvSpPr/>
          <p:nvPr/>
        </p:nvSpPr>
        <p:spPr>
          <a:xfrm>
            <a:off x="450305" y="2659641"/>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42" name="직사각형 41"/>
          <p:cNvSpPr/>
          <p:nvPr/>
        </p:nvSpPr>
        <p:spPr>
          <a:xfrm>
            <a:off x="450305" y="2889142"/>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44" name="직사각형 43"/>
          <p:cNvSpPr/>
          <p:nvPr/>
        </p:nvSpPr>
        <p:spPr>
          <a:xfrm>
            <a:off x="3234770" y="2659641"/>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100" dirty="0">
              <a:solidFill>
                <a:schemeClr val="tx1"/>
              </a:solidFill>
            </a:endParaRPr>
          </a:p>
        </p:txBody>
      </p:sp>
      <p:sp>
        <p:nvSpPr>
          <p:cNvPr id="45" name="직사각형 44"/>
          <p:cNvSpPr/>
          <p:nvPr/>
        </p:nvSpPr>
        <p:spPr>
          <a:xfrm>
            <a:off x="3234770" y="2889142"/>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46" name="직사각형 45"/>
          <p:cNvSpPr/>
          <p:nvPr/>
        </p:nvSpPr>
        <p:spPr>
          <a:xfrm>
            <a:off x="451181" y="4565776"/>
            <a:ext cx="1280080"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특허출원</a:t>
            </a:r>
            <a:r>
              <a:rPr lang="en-US" altLang="ko-KR" sz="1100" dirty="0">
                <a:solidFill>
                  <a:schemeClr val="tx1"/>
                </a:solidFill>
              </a:rPr>
              <a:t>(Y)</a:t>
            </a:r>
            <a:endParaRPr lang="ko-KR" altLang="en-US" sz="1100" dirty="0">
              <a:solidFill>
                <a:schemeClr val="tx1"/>
              </a:solidFill>
            </a:endParaRPr>
          </a:p>
        </p:txBody>
      </p:sp>
      <p:sp>
        <p:nvSpPr>
          <p:cNvPr id="47" name="직사각형 46"/>
          <p:cNvSpPr/>
          <p:nvPr/>
        </p:nvSpPr>
        <p:spPr>
          <a:xfrm>
            <a:off x="450841" y="3990770"/>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100" dirty="0">
              <a:solidFill>
                <a:schemeClr val="tx1"/>
              </a:solidFill>
            </a:endParaRPr>
          </a:p>
        </p:txBody>
      </p:sp>
      <p:sp>
        <p:nvSpPr>
          <p:cNvPr id="48" name="직사각형 47"/>
          <p:cNvSpPr/>
          <p:nvPr/>
        </p:nvSpPr>
        <p:spPr>
          <a:xfrm>
            <a:off x="450841" y="4220271"/>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cxnSp>
        <p:nvCxnSpPr>
          <p:cNvPr id="49" name="직선 화살표 연결선 48"/>
          <p:cNvCxnSpPr>
            <a:stCxn id="37" idx="1"/>
            <a:endCxn id="46" idx="3"/>
          </p:cNvCxnSpPr>
          <p:nvPr/>
        </p:nvCxnSpPr>
        <p:spPr>
          <a:xfrm flipH="1">
            <a:off x="1731261" y="3349397"/>
            <a:ext cx="1503849" cy="1331129"/>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2111447" y="3811790"/>
            <a:ext cx="1021826" cy="646331"/>
          </a:xfrm>
          <a:prstGeom prst="rect">
            <a:avLst/>
          </a:prstGeom>
          <a:solidFill>
            <a:schemeClr val="bg1"/>
          </a:solidFill>
        </p:spPr>
        <p:txBody>
          <a:bodyPr wrap="square" rtlCol="0">
            <a:spAutoFit/>
          </a:bodyPr>
          <a:lstStyle/>
          <a:p>
            <a:pPr algn="ctr"/>
            <a:r>
              <a:rPr lang="ko-KR" altLang="en-US" dirty="0">
                <a:solidFill>
                  <a:srgbClr val="FF0000"/>
                </a:solidFill>
              </a:rPr>
              <a:t>출원일 </a:t>
            </a:r>
            <a:endParaRPr lang="en-US" altLang="ko-KR" dirty="0">
              <a:solidFill>
                <a:srgbClr val="FF0000"/>
              </a:solidFill>
            </a:endParaRPr>
          </a:p>
          <a:p>
            <a:pPr algn="ctr"/>
            <a:r>
              <a:rPr lang="ko-KR" altLang="en-US" dirty="0">
                <a:solidFill>
                  <a:srgbClr val="FF0000"/>
                </a:solidFill>
              </a:rPr>
              <a:t>소급</a:t>
            </a:r>
          </a:p>
        </p:txBody>
      </p:sp>
      <p:cxnSp>
        <p:nvCxnSpPr>
          <p:cNvPr id="80" name="직선 연결선 79"/>
          <p:cNvCxnSpPr/>
          <p:nvPr/>
        </p:nvCxnSpPr>
        <p:spPr>
          <a:xfrm>
            <a:off x="7299314" y="2428875"/>
            <a:ext cx="0" cy="40576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직선 연결선 80"/>
          <p:cNvCxnSpPr/>
          <p:nvPr/>
        </p:nvCxnSpPr>
        <p:spPr>
          <a:xfrm>
            <a:off x="6317968" y="3349397"/>
            <a:ext cx="567393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3" name="직사각형 82"/>
          <p:cNvSpPr/>
          <p:nvPr/>
        </p:nvSpPr>
        <p:spPr>
          <a:xfrm>
            <a:off x="6658738" y="3234647"/>
            <a:ext cx="1280080"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실용출원</a:t>
            </a:r>
            <a:r>
              <a:rPr lang="en-US" altLang="ko-KR" sz="1100" dirty="0">
                <a:solidFill>
                  <a:schemeClr val="tx1"/>
                </a:solidFill>
              </a:rPr>
              <a:t>(X)</a:t>
            </a:r>
            <a:endParaRPr lang="ko-KR" altLang="en-US" sz="1100" dirty="0">
              <a:solidFill>
                <a:schemeClr val="tx1"/>
              </a:solidFill>
            </a:endParaRPr>
          </a:p>
        </p:txBody>
      </p:sp>
      <p:sp>
        <p:nvSpPr>
          <p:cNvPr id="84" name="직사각형 83"/>
          <p:cNvSpPr/>
          <p:nvPr/>
        </p:nvSpPr>
        <p:spPr>
          <a:xfrm>
            <a:off x="8586293" y="3234647"/>
            <a:ext cx="1280080"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X </a:t>
            </a:r>
            <a:r>
              <a:rPr lang="ko-KR" altLang="en-US" sz="1100" dirty="0">
                <a:solidFill>
                  <a:schemeClr val="tx1"/>
                </a:solidFill>
              </a:rPr>
              <a:t>기초 </a:t>
            </a:r>
            <a:r>
              <a:rPr lang="ko-KR" altLang="en-US" sz="1100" dirty="0" err="1">
                <a:solidFill>
                  <a:schemeClr val="tx1"/>
                </a:solidFill>
              </a:rPr>
              <a:t>분할출원</a:t>
            </a:r>
            <a:r>
              <a:rPr lang="en-US" altLang="ko-KR" sz="1100" dirty="0">
                <a:solidFill>
                  <a:schemeClr val="tx1"/>
                </a:solidFill>
              </a:rPr>
              <a:t>(Y)</a:t>
            </a:r>
            <a:endParaRPr lang="ko-KR" altLang="en-US" sz="1100" dirty="0">
              <a:solidFill>
                <a:schemeClr val="tx1"/>
              </a:solidFill>
            </a:endParaRPr>
          </a:p>
        </p:txBody>
      </p:sp>
      <p:sp>
        <p:nvSpPr>
          <p:cNvPr id="86" name="직사각형 85"/>
          <p:cNvSpPr/>
          <p:nvPr/>
        </p:nvSpPr>
        <p:spPr>
          <a:xfrm>
            <a:off x="6658738" y="2659641"/>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87" name="직사각형 86"/>
          <p:cNvSpPr/>
          <p:nvPr/>
        </p:nvSpPr>
        <p:spPr>
          <a:xfrm>
            <a:off x="6658738" y="2889142"/>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88" name="직사각형 87"/>
          <p:cNvSpPr/>
          <p:nvPr/>
        </p:nvSpPr>
        <p:spPr>
          <a:xfrm>
            <a:off x="8585953" y="2659641"/>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100" dirty="0">
              <a:solidFill>
                <a:schemeClr val="tx1"/>
              </a:solidFill>
            </a:endParaRPr>
          </a:p>
        </p:txBody>
      </p:sp>
      <p:sp>
        <p:nvSpPr>
          <p:cNvPr id="95" name="직사각형 94"/>
          <p:cNvSpPr/>
          <p:nvPr/>
        </p:nvSpPr>
        <p:spPr>
          <a:xfrm>
            <a:off x="8585953" y="2889142"/>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96" name="직사각형 95"/>
          <p:cNvSpPr/>
          <p:nvPr/>
        </p:nvSpPr>
        <p:spPr>
          <a:xfrm>
            <a:off x="6659614" y="4565776"/>
            <a:ext cx="1280080" cy="229500"/>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실용출원</a:t>
            </a:r>
            <a:r>
              <a:rPr lang="en-US" altLang="ko-KR" sz="1100" dirty="0">
                <a:solidFill>
                  <a:schemeClr val="tx1"/>
                </a:solidFill>
              </a:rPr>
              <a:t>(Y)</a:t>
            </a:r>
            <a:endParaRPr lang="ko-KR" altLang="en-US" sz="1100" dirty="0">
              <a:solidFill>
                <a:schemeClr val="tx1"/>
              </a:solidFill>
            </a:endParaRPr>
          </a:p>
        </p:txBody>
      </p:sp>
      <p:sp>
        <p:nvSpPr>
          <p:cNvPr id="101" name="직사각형 100"/>
          <p:cNvSpPr/>
          <p:nvPr/>
        </p:nvSpPr>
        <p:spPr>
          <a:xfrm>
            <a:off x="6659274" y="3990770"/>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100" dirty="0">
              <a:solidFill>
                <a:schemeClr val="tx1"/>
              </a:solidFill>
            </a:endParaRPr>
          </a:p>
        </p:txBody>
      </p:sp>
      <p:sp>
        <p:nvSpPr>
          <p:cNvPr id="102" name="직사각형 101"/>
          <p:cNvSpPr/>
          <p:nvPr/>
        </p:nvSpPr>
        <p:spPr>
          <a:xfrm>
            <a:off x="6659274" y="4220271"/>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cxnSp>
        <p:nvCxnSpPr>
          <p:cNvPr id="103" name="직선 화살표 연결선 102"/>
          <p:cNvCxnSpPr>
            <a:stCxn id="84" idx="1"/>
            <a:endCxn id="96" idx="3"/>
          </p:cNvCxnSpPr>
          <p:nvPr/>
        </p:nvCxnSpPr>
        <p:spPr>
          <a:xfrm flipH="1">
            <a:off x="7939694" y="3349397"/>
            <a:ext cx="646599" cy="1331129"/>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4" name="TextBox 103"/>
          <p:cNvSpPr txBox="1"/>
          <p:nvPr/>
        </p:nvSpPr>
        <p:spPr>
          <a:xfrm>
            <a:off x="8075040" y="3732364"/>
            <a:ext cx="1021826" cy="646331"/>
          </a:xfrm>
          <a:prstGeom prst="rect">
            <a:avLst/>
          </a:prstGeom>
          <a:solidFill>
            <a:schemeClr val="bg1"/>
          </a:solidFill>
        </p:spPr>
        <p:txBody>
          <a:bodyPr wrap="square" rtlCol="0">
            <a:spAutoFit/>
          </a:bodyPr>
          <a:lstStyle/>
          <a:p>
            <a:pPr algn="ctr"/>
            <a:r>
              <a:rPr lang="ko-KR" altLang="en-US" dirty="0">
                <a:solidFill>
                  <a:srgbClr val="FF0000"/>
                </a:solidFill>
              </a:rPr>
              <a:t>출원일 </a:t>
            </a:r>
            <a:endParaRPr lang="en-US" altLang="ko-KR" dirty="0">
              <a:solidFill>
                <a:srgbClr val="FF0000"/>
              </a:solidFill>
            </a:endParaRPr>
          </a:p>
          <a:p>
            <a:pPr algn="ctr"/>
            <a:r>
              <a:rPr lang="ko-KR" altLang="en-US" dirty="0">
                <a:solidFill>
                  <a:srgbClr val="FF0000"/>
                </a:solidFill>
              </a:rPr>
              <a:t>소급</a:t>
            </a:r>
          </a:p>
        </p:txBody>
      </p:sp>
      <p:sp>
        <p:nvSpPr>
          <p:cNvPr id="105" name="직사각형 104"/>
          <p:cNvSpPr/>
          <p:nvPr/>
        </p:nvSpPr>
        <p:spPr>
          <a:xfrm>
            <a:off x="10288927" y="3234647"/>
            <a:ext cx="1280080" cy="22950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Y </a:t>
            </a:r>
            <a:r>
              <a:rPr lang="ko-KR" altLang="en-US" sz="1100" dirty="0">
                <a:solidFill>
                  <a:schemeClr val="tx1"/>
                </a:solidFill>
              </a:rPr>
              <a:t>기초 </a:t>
            </a:r>
            <a:r>
              <a:rPr lang="ko-KR" altLang="en-US" sz="1100" dirty="0" err="1">
                <a:solidFill>
                  <a:schemeClr val="tx1"/>
                </a:solidFill>
              </a:rPr>
              <a:t>변경출원</a:t>
            </a:r>
            <a:r>
              <a:rPr lang="en-US" altLang="ko-KR" sz="1100" dirty="0">
                <a:solidFill>
                  <a:schemeClr val="tx1"/>
                </a:solidFill>
              </a:rPr>
              <a:t>(Z)</a:t>
            </a:r>
            <a:endParaRPr lang="ko-KR" altLang="en-US" sz="1100" dirty="0">
              <a:solidFill>
                <a:schemeClr val="tx1"/>
              </a:solidFill>
            </a:endParaRPr>
          </a:p>
        </p:txBody>
      </p:sp>
      <p:sp>
        <p:nvSpPr>
          <p:cNvPr id="106" name="직사각형 105"/>
          <p:cNvSpPr/>
          <p:nvPr/>
        </p:nvSpPr>
        <p:spPr>
          <a:xfrm>
            <a:off x="10288587" y="3465403"/>
            <a:ext cx="1280080" cy="2295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취하간주</a:t>
            </a:r>
            <a:r>
              <a:rPr lang="en-US" altLang="ko-KR" sz="1100" dirty="0">
                <a:solidFill>
                  <a:schemeClr val="tx1"/>
                </a:solidFill>
              </a:rPr>
              <a:t>(Y)</a:t>
            </a:r>
            <a:endParaRPr lang="ko-KR" altLang="en-US" sz="1100" dirty="0">
              <a:solidFill>
                <a:schemeClr val="tx1"/>
              </a:solidFill>
            </a:endParaRPr>
          </a:p>
        </p:txBody>
      </p:sp>
      <p:sp>
        <p:nvSpPr>
          <p:cNvPr id="107" name="직사각형 106"/>
          <p:cNvSpPr/>
          <p:nvPr/>
        </p:nvSpPr>
        <p:spPr>
          <a:xfrm>
            <a:off x="10288587" y="2659641"/>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100" dirty="0">
              <a:solidFill>
                <a:schemeClr val="tx1"/>
              </a:solidFill>
            </a:endParaRPr>
          </a:p>
        </p:txBody>
      </p:sp>
      <p:sp>
        <p:nvSpPr>
          <p:cNvPr id="108" name="직사각형 107"/>
          <p:cNvSpPr/>
          <p:nvPr/>
        </p:nvSpPr>
        <p:spPr>
          <a:xfrm>
            <a:off x="10288587" y="2889142"/>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117" name="직사각형 116"/>
          <p:cNvSpPr/>
          <p:nvPr/>
        </p:nvSpPr>
        <p:spPr>
          <a:xfrm>
            <a:off x="6659614" y="5798179"/>
            <a:ext cx="1280080" cy="22950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특허출원</a:t>
            </a:r>
            <a:r>
              <a:rPr lang="en-US" altLang="ko-KR" sz="1100" dirty="0">
                <a:solidFill>
                  <a:schemeClr val="tx1"/>
                </a:solidFill>
              </a:rPr>
              <a:t>(Z)</a:t>
            </a:r>
            <a:endParaRPr lang="ko-KR" altLang="en-US" sz="1100" dirty="0">
              <a:solidFill>
                <a:schemeClr val="tx1"/>
              </a:solidFill>
            </a:endParaRPr>
          </a:p>
        </p:txBody>
      </p:sp>
      <p:sp>
        <p:nvSpPr>
          <p:cNvPr id="118" name="직사각형 117"/>
          <p:cNvSpPr/>
          <p:nvPr/>
        </p:nvSpPr>
        <p:spPr>
          <a:xfrm>
            <a:off x="6659274" y="5223173"/>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a:t>
            </a:r>
            <a:endParaRPr lang="ko-KR" altLang="en-US" sz="1100" dirty="0">
              <a:solidFill>
                <a:schemeClr val="tx1"/>
              </a:solidFill>
            </a:endParaRPr>
          </a:p>
        </p:txBody>
      </p:sp>
      <p:sp>
        <p:nvSpPr>
          <p:cNvPr id="119" name="직사각형 118"/>
          <p:cNvSpPr/>
          <p:nvPr/>
        </p:nvSpPr>
        <p:spPr>
          <a:xfrm>
            <a:off x="6659274" y="5452674"/>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cxnSp>
        <p:nvCxnSpPr>
          <p:cNvPr id="120" name="직선 화살표 연결선 119"/>
          <p:cNvCxnSpPr>
            <a:stCxn id="105" idx="1"/>
            <a:endCxn id="117" idx="3"/>
          </p:cNvCxnSpPr>
          <p:nvPr/>
        </p:nvCxnSpPr>
        <p:spPr>
          <a:xfrm flipH="1">
            <a:off x="7939694" y="3349397"/>
            <a:ext cx="2349233" cy="2563532"/>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1" name="도넛 120"/>
          <p:cNvSpPr/>
          <p:nvPr/>
        </p:nvSpPr>
        <p:spPr>
          <a:xfrm>
            <a:off x="1357231" y="3585912"/>
            <a:ext cx="566213" cy="545322"/>
          </a:xfrm>
          <a:prstGeom prst="donut">
            <a:avLst>
              <a:gd name="adj" fmla="val 15409"/>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rgbClr val="FF0000"/>
              </a:solidFill>
            </a:endParaRPr>
          </a:p>
        </p:txBody>
      </p:sp>
      <p:sp>
        <p:nvSpPr>
          <p:cNvPr id="122" name="곱셈 기호 121"/>
          <p:cNvSpPr/>
          <p:nvPr/>
        </p:nvSpPr>
        <p:spPr>
          <a:xfrm>
            <a:off x="1261091" y="2119991"/>
            <a:ext cx="744022" cy="763282"/>
          </a:xfrm>
          <a:prstGeom prst="mathMultiply">
            <a:avLst>
              <a:gd name="adj1" fmla="val 1530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3" name="도넛 122"/>
          <p:cNvSpPr/>
          <p:nvPr/>
        </p:nvSpPr>
        <p:spPr>
          <a:xfrm>
            <a:off x="7635356" y="4816173"/>
            <a:ext cx="566213" cy="545322"/>
          </a:xfrm>
          <a:prstGeom prst="donut">
            <a:avLst>
              <a:gd name="adj" fmla="val 15409"/>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rgbClr val="FF0000"/>
              </a:solidFill>
            </a:endParaRPr>
          </a:p>
        </p:txBody>
      </p:sp>
      <p:sp>
        <p:nvSpPr>
          <p:cNvPr id="124" name="곱셈 기호 123"/>
          <p:cNvSpPr/>
          <p:nvPr/>
        </p:nvSpPr>
        <p:spPr>
          <a:xfrm>
            <a:off x="7539216" y="3532835"/>
            <a:ext cx="744022" cy="763282"/>
          </a:xfrm>
          <a:prstGeom prst="mathMultiply">
            <a:avLst>
              <a:gd name="adj1" fmla="val 1530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도넛 124"/>
          <p:cNvSpPr/>
          <p:nvPr/>
        </p:nvSpPr>
        <p:spPr>
          <a:xfrm>
            <a:off x="7635356" y="2272136"/>
            <a:ext cx="566213" cy="545322"/>
          </a:xfrm>
          <a:prstGeom prst="donut">
            <a:avLst>
              <a:gd name="adj" fmla="val 15409"/>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rgbClr val="FF0000"/>
              </a:solidFill>
            </a:endParaRPr>
          </a:p>
        </p:txBody>
      </p:sp>
      <p:sp>
        <p:nvSpPr>
          <p:cNvPr id="2" name="슬라이드 번호 개체 틀 1"/>
          <p:cNvSpPr>
            <a:spLocks noGrp="1"/>
          </p:cNvSpPr>
          <p:nvPr>
            <p:ph type="sldNum" sz="quarter" idx="12"/>
          </p:nvPr>
        </p:nvSpPr>
        <p:spPr/>
        <p:txBody>
          <a:bodyPr/>
          <a:lstStyle/>
          <a:p>
            <a:r>
              <a:rPr lang="en-US" altLang="ko-KR"/>
              <a:t>210</a:t>
            </a:r>
            <a:endParaRPr lang="ko-KR" altLang="en-US"/>
          </a:p>
        </p:txBody>
      </p:sp>
      <p:sp>
        <p:nvSpPr>
          <p:cNvPr id="3" name="TextBox 2">
            <a:extLst>
              <a:ext uri="{FF2B5EF4-FFF2-40B4-BE49-F238E27FC236}">
                <a16:creationId xmlns:a16="http://schemas.microsoft.com/office/drawing/2014/main" id="{5E4A2785-3D95-2B4E-61D6-8678E1CE1575}"/>
              </a:ext>
            </a:extLst>
          </p:cNvPr>
          <p:cNvSpPr txBox="1"/>
          <p:nvPr/>
        </p:nvSpPr>
        <p:spPr>
          <a:xfrm>
            <a:off x="3112896" y="5038507"/>
            <a:ext cx="1704313" cy="369332"/>
          </a:xfrm>
          <a:prstGeom prst="rect">
            <a:avLst/>
          </a:prstGeom>
          <a:noFill/>
          <a:ln w="28575">
            <a:solidFill>
              <a:srgbClr val="FF0000"/>
            </a:solidFill>
          </a:ln>
        </p:spPr>
        <p:txBody>
          <a:bodyPr wrap="none" rtlCol="0">
            <a:spAutoFit/>
          </a:bodyPr>
          <a:lstStyle/>
          <a:p>
            <a:r>
              <a:rPr lang="en-US" altLang="ko-KR" dirty="0">
                <a:solidFill>
                  <a:srgbClr val="FF0000"/>
                </a:solidFill>
              </a:rPr>
              <a:t>B</a:t>
            </a:r>
            <a:r>
              <a:rPr lang="ko-KR" altLang="en-US" dirty="0">
                <a:solidFill>
                  <a:srgbClr val="FF0000"/>
                </a:solidFill>
              </a:rPr>
              <a:t>만 특허로 보호</a:t>
            </a:r>
          </a:p>
        </p:txBody>
      </p:sp>
      <p:sp>
        <p:nvSpPr>
          <p:cNvPr id="6" name="TextBox 5">
            <a:extLst>
              <a:ext uri="{FF2B5EF4-FFF2-40B4-BE49-F238E27FC236}">
                <a16:creationId xmlns:a16="http://schemas.microsoft.com/office/drawing/2014/main" id="{E589BE98-42FC-274E-B56A-32D23AA8BD94}"/>
              </a:ext>
            </a:extLst>
          </p:cNvPr>
          <p:cNvSpPr txBox="1"/>
          <p:nvPr/>
        </p:nvSpPr>
        <p:spPr>
          <a:xfrm>
            <a:off x="9415699" y="5000808"/>
            <a:ext cx="2355132" cy="646331"/>
          </a:xfrm>
          <a:prstGeom prst="rect">
            <a:avLst/>
          </a:prstGeom>
          <a:noFill/>
          <a:ln w="28575">
            <a:solidFill>
              <a:srgbClr val="FF0000"/>
            </a:solidFill>
          </a:ln>
        </p:spPr>
        <p:txBody>
          <a:bodyPr wrap="none" rtlCol="0">
            <a:spAutoFit/>
          </a:bodyPr>
          <a:lstStyle/>
          <a:p>
            <a:r>
              <a:rPr lang="en-US" altLang="ko-KR" dirty="0">
                <a:solidFill>
                  <a:srgbClr val="FF0000"/>
                </a:solidFill>
              </a:rPr>
              <a:t>B</a:t>
            </a:r>
            <a:r>
              <a:rPr lang="ko-KR" altLang="en-US" dirty="0">
                <a:solidFill>
                  <a:srgbClr val="FF0000"/>
                </a:solidFill>
              </a:rPr>
              <a:t>는 특허로</a:t>
            </a:r>
            <a:r>
              <a:rPr lang="en-US" altLang="ko-KR" dirty="0">
                <a:solidFill>
                  <a:srgbClr val="FF0000"/>
                </a:solidFill>
              </a:rPr>
              <a:t>, </a:t>
            </a:r>
          </a:p>
          <a:p>
            <a:r>
              <a:rPr lang="en-US" altLang="ko-KR" dirty="0">
                <a:solidFill>
                  <a:srgbClr val="FF0000"/>
                </a:solidFill>
              </a:rPr>
              <a:t>A</a:t>
            </a:r>
            <a:r>
              <a:rPr lang="ko-KR" altLang="en-US" dirty="0">
                <a:solidFill>
                  <a:srgbClr val="FF0000"/>
                </a:solidFill>
              </a:rPr>
              <a:t>는 실용신안으로 보호</a:t>
            </a:r>
          </a:p>
        </p:txBody>
      </p:sp>
    </p:spTree>
    <p:extLst>
      <p:ext uri="{BB962C8B-B14F-4D97-AF65-F5344CB8AC3E}">
        <p14:creationId xmlns:p14="http://schemas.microsoft.com/office/powerpoint/2010/main" val="1996297313"/>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r>
              <a:rPr lang="en-US" altLang="ko-KR" dirty="0"/>
              <a:t>, </a:t>
            </a:r>
            <a:r>
              <a:rPr lang="ko-KR" altLang="en-US" dirty="0"/>
              <a:t>제</a:t>
            </a:r>
            <a:r>
              <a:rPr lang="en-US" altLang="ko-KR" dirty="0"/>
              <a:t>53</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분할출원과 변경출원의 법조문 비교</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슬라이드 번호 개체 틀 4"/>
          <p:cNvSpPr>
            <a:spLocks noGrp="1"/>
          </p:cNvSpPr>
          <p:nvPr>
            <p:ph type="sldNum" sz="quarter" idx="12"/>
          </p:nvPr>
        </p:nvSpPr>
        <p:spPr/>
        <p:txBody>
          <a:bodyPr/>
          <a:lstStyle/>
          <a:p>
            <a:r>
              <a:rPr lang="en-US" altLang="ko-KR"/>
              <a:t>211</a:t>
            </a:r>
            <a:endParaRPr lang="ko-KR" altLang="en-US"/>
          </a:p>
        </p:txBody>
      </p:sp>
      <p:sp>
        <p:nvSpPr>
          <p:cNvPr id="7" name="TextBox 6">
            <a:extLst>
              <a:ext uri="{FF2B5EF4-FFF2-40B4-BE49-F238E27FC236}">
                <a16:creationId xmlns:a16="http://schemas.microsoft.com/office/drawing/2014/main" id="{70722573-33C7-4072-BACA-88E5404BDDB8}"/>
              </a:ext>
            </a:extLst>
          </p:cNvPr>
          <p:cNvSpPr txBox="1"/>
          <p:nvPr/>
        </p:nvSpPr>
        <p:spPr>
          <a:xfrm>
            <a:off x="6117020" y="986046"/>
            <a:ext cx="6074980" cy="5940088"/>
          </a:xfrm>
          <a:prstGeom prst="rect">
            <a:avLst/>
          </a:prstGeom>
          <a:noFill/>
        </p:spPr>
        <p:txBody>
          <a:bodyPr wrap="square" rtlCol="0">
            <a:spAutoFit/>
          </a:bodyPr>
          <a:lstStyle/>
          <a:p>
            <a:pPr fontAlgn="base"/>
            <a:r>
              <a:rPr lang="ko-KR" altLang="en-US" sz="1000" b="1" dirty="0">
                <a:solidFill>
                  <a:schemeClr val="accent1"/>
                </a:solidFill>
              </a:rPr>
              <a:t>제</a:t>
            </a:r>
            <a:r>
              <a:rPr lang="en-US" altLang="ko-KR" sz="1000" b="1" dirty="0">
                <a:solidFill>
                  <a:schemeClr val="accent1"/>
                </a:solidFill>
              </a:rPr>
              <a:t>53</a:t>
            </a:r>
            <a:r>
              <a:rPr lang="ko-KR" altLang="en-US" sz="1000" b="1" dirty="0">
                <a:solidFill>
                  <a:schemeClr val="accent1"/>
                </a:solidFill>
              </a:rPr>
              <a:t>조</a:t>
            </a:r>
            <a:r>
              <a:rPr lang="en-US" altLang="ko-KR" sz="1000" b="1" dirty="0">
                <a:solidFill>
                  <a:schemeClr val="accent1"/>
                </a:solidFill>
              </a:rPr>
              <a:t>(</a:t>
            </a:r>
            <a:r>
              <a:rPr lang="ko-KR" altLang="en-US" sz="1000" b="1" dirty="0">
                <a:solidFill>
                  <a:schemeClr val="accent1"/>
                </a:solidFill>
              </a:rPr>
              <a:t>변경출원</a:t>
            </a:r>
            <a:r>
              <a:rPr lang="en-US" altLang="ko-KR" sz="1000" b="1" dirty="0">
                <a:solidFill>
                  <a:schemeClr val="accent1"/>
                </a:solidFill>
              </a:rPr>
              <a:t>) </a:t>
            </a:r>
            <a:r>
              <a:rPr lang="ko-KR" altLang="en-US" sz="1000" dirty="0">
                <a:solidFill>
                  <a:schemeClr val="tx2"/>
                </a:solidFill>
              </a:rPr>
              <a:t>① </a:t>
            </a:r>
            <a:r>
              <a:rPr lang="ko-KR" altLang="en-US" sz="1000" dirty="0" err="1">
                <a:solidFill>
                  <a:schemeClr val="tx2"/>
                </a:solidFill>
              </a:rPr>
              <a:t>실용신안등록출원인은</a:t>
            </a:r>
            <a:r>
              <a:rPr lang="ko-KR" altLang="en-US" sz="1000" dirty="0">
                <a:solidFill>
                  <a:schemeClr val="tx2"/>
                </a:solidFill>
              </a:rPr>
              <a:t> 그 실용신안등록출원의 출원서에 최초로 첨부된 명세서 또는 도면에 기재된 사항의 범위에서 그 실용신안등록출원을 특허출원으로 변경할 수 있다</a:t>
            </a:r>
            <a:r>
              <a:rPr lang="en-US" altLang="ko-KR" sz="1000" dirty="0">
                <a:solidFill>
                  <a:schemeClr val="tx2"/>
                </a:solidFill>
              </a:rPr>
              <a:t>. </a:t>
            </a:r>
            <a:r>
              <a:rPr lang="ko-KR" altLang="en-US" sz="1000" dirty="0">
                <a:solidFill>
                  <a:schemeClr val="tx2"/>
                </a:solidFill>
              </a:rPr>
              <a:t>다만</a:t>
            </a:r>
            <a:r>
              <a:rPr lang="en-US" altLang="ko-KR" sz="1000" dirty="0">
                <a:solidFill>
                  <a:schemeClr val="tx2"/>
                </a:solidFill>
              </a:rPr>
              <a:t>, </a:t>
            </a:r>
            <a:r>
              <a:rPr lang="ko-KR" altLang="en-US" sz="1000" dirty="0">
                <a:solidFill>
                  <a:schemeClr val="tx2"/>
                </a:solidFill>
              </a:rPr>
              <a:t>다음 각 호의 어느 하나에 해당하는 경우에는 그러하지 아니하다</a:t>
            </a:r>
            <a:r>
              <a:rPr lang="en-US" altLang="ko-KR" sz="1000" dirty="0">
                <a:solidFill>
                  <a:schemeClr val="tx2"/>
                </a:solidFill>
              </a:rPr>
              <a:t>.  </a:t>
            </a:r>
          </a:p>
          <a:p>
            <a:pPr fontAlgn="base"/>
            <a:r>
              <a:rPr lang="en-US" altLang="ko-KR" sz="1000" dirty="0">
                <a:solidFill>
                  <a:schemeClr val="tx2"/>
                </a:solidFill>
              </a:rPr>
              <a:t>1. </a:t>
            </a:r>
            <a:r>
              <a:rPr lang="ko-KR" altLang="en-US" sz="1000" dirty="0">
                <a:solidFill>
                  <a:schemeClr val="tx2"/>
                </a:solidFill>
              </a:rPr>
              <a:t>그 실용신안등록출원에 관하여 최초의 거절결정등본을 </a:t>
            </a:r>
            <a:r>
              <a:rPr lang="ko-KR" altLang="en-US" sz="1000" dirty="0" err="1">
                <a:solidFill>
                  <a:schemeClr val="tx2"/>
                </a:solidFill>
              </a:rPr>
              <a:t>송달받은</a:t>
            </a:r>
            <a:r>
              <a:rPr lang="ko-KR" altLang="en-US" sz="1000" dirty="0">
                <a:solidFill>
                  <a:schemeClr val="tx2"/>
                </a:solidFill>
              </a:rPr>
              <a:t> 날부터 </a:t>
            </a:r>
            <a:r>
              <a:rPr lang="en-US" altLang="ko-KR" sz="1000" dirty="0">
                <a:solidFill>
                  <a:srgbClr val="FF0000"/>
                </a:solidFill>
              </a:rPr>
              <a:t>3</a:t>
            </a:r>
            <a:r>
              <a:rPr lang="ko-KR" altLang="en-US" sz="1000" dirty="0">
                <a:solidFill>
                  <a:srgbClr val="FF0000"/>
                </a:solidFill>
              </a:rPr>
              <a:t>개월</a:t>
            </a:r>
            <a:r>
              <a:rPr lang="en-US" altLang="ko-KR" sz="1000" dirty="0">
                <a:solidFill>
                  <a:schemeClr val="tx2"/>
                </a:solidFill>
              </a:rPr>
              <a:t>(</a:t>
            </a:r>
            <a:r>
              <a:rPr lang="ko-KR" altLang="en-US" sz="1000" dirty="0">
                <a:solidFill>
                  <a:schemeClr val="tx2"/>
                </a:solidFill>
              </a:rPr>
              <a:t>「실용신안법」 제</a:t>
            </a:r>
            <a:r>
              <a:rPr lang="en-US" altLang="ko-KR" sz="1000" dirty="0">
                <a:solidFill>
                  <a:schemeClr val="tx2"/>
                </a:solidFill>
              </a:rPr>
              <a:t>3</a:t>
            </a:r>
            <a:r>
              <a:rPr lang="ko-KR" altLang="en-US" sz="1000" dirty="0">
                <a:solidFill>
                  <a:schemeClr val="tx2"/>
                </a:solidFill>
              </a:rPr>
              <a:t>조에 따라 준용되는 이 법 제</a:t>
            </a:r>
            <a:r>
              <a:rPr lang="en-US" altLang="ko-KR" sz="1000" dirty="0">
                <a:solidFill>
                  <a:schemeClr val="tx2"/>
                </a:solidFill>
              </a:rPr>
              <a:t>15</a:t>
            </a:r>
            <a:r>
              <a:rPr lang="ko-KR" altLang="en-US" sz="1000" dirty="0">
                <a:solidFill>
                  <a:schemeClr val="tx2"/>
                </a:solidFill>
              </a:rPr>
              <a:t>조제</a:t>
            </a:r>
            <a:r>
              <a:rPr lang="en-US" altLang="ko-KR" sz="1000" dirty="0">
                <a:solidFill>
                  <a:schemeClr val="tx2"/>
                </a:solidFill>
              </a:rPr>
              <a:t>1</a:t>
            </a:r>
            <a:r>
              <a:rPr lang="ko-KR" altLang="en-US" sz="1000" dirty="0">
                <a:solidFill>
                  <a:schemeClr val="tx2"/>
                </a:solidFill>
              </a:rPr>
              <a:t>항에 따라 제</a:t>
            </a:r>
            <a:r>
              <a:rPr lang="en-US" altLang="ko-KR" sz="1000" dirty="0">
                <a:solidFill>
                  <a:schemeClr val="tx2"/>
                </a:solidFill>
              </a:rPr>
              <a:t>132</a:t>
            </a:r>
            <a:r>
              <a:rPr lang="ko-KR" altLang="en-US" sz="1000" dirty="0">
                <a:solidFill>
                  <a:schemeClr val="tx2"/>
                </a:solidFill>
              </a:rPr>
              <a:t>조의</a:t>
            </a:r>
            <a:r>
              <a:rPr lang="en-US" altLang="ko-KR" sz="1000" dirty="0">
                <a:solidFill>
                  <a:schemeClr val="tx2"/>
                </a:solidFill>
              </a:rPr>
              <a:t>17</a:t>
            </a:r>
            <a:r>
              <a:rPr lang="ko-KR" altLang="en-US" sz="1000" dirty="0">
                <a:solidFill>
                  <a:schemeClr val="tx2"/>
                </a:solidFill>
              </a:rPr>
              <a:t>에 따른 기간이 연장된 경우에는 그 연장된 기간을 말한다</a:t>
            </a:r>
            <a:r>
              <a:rPr lang="en-US" altLang="ko-KR" sz="1000" dirty="0">
                <a:solidFill>
                  <a:schemeClr val="tx2"/>
                </a:solidFill>
              </a:rPr>
              <a:t>)</a:t>
            </a:r>
            <a:r>
              <a:rPr lang="ko-KR" altLang="en-US" sz="1000" dirty="0">
                <a:solidFill>
                  <a:schemeClr val="tx2"/>
                </a:solidFill>
              </a:rPr>
              <a:t>이 지난 경우</a:t>
            </a:r>
          </a:p>
          <a:p>
            <a:pPr fontAlgn="base"/>
            <a:r>
              <a:rPr lang="en-US" altLang="ko-KR" sz="1000" dirty="0">
                <a:solidFill>
                  <a:schemeClr val="tx2"/>
                </a:solidFill>
              </a:rPr>
              <a:t>2. </a:t>
            </a:r>
            <a:r>
              <a:rPr lang="ko-KR" altLang="en-US" sz="1000" dirty="0">
                <a:solidFill>
                  <a:schemeClr val="tx2"/>
                </a:solidFill>
              </a:rPr>
              <a:t>그 실용신안등록출원이 「실용신안법」 제</a:t>
            </a:r>
            <a:r>
              <a:rPr lang="en-US" altLang="ko-KR" sz="1000" dirty="0">
                <a:solidFill>
                  <a:schemeClr val="tx2"/>
                </a:solidFill>
              </a:rPr>
              <a:t>8</a:t>
            </a:r>
            <a:r>
              <a:rPr lang="ko-KR" altLang="en-US" sz="1000" dirty="0">
                <a:solidFill>
                  <a:schemeClr val="tx2"/>
                </a:solidFill>
              </a:rPr>
              <a:t>조의</a:t>
            </a:r>
            <a:r>
              <a:rPr lang="en-US" altLang="ko-KR" sz="1000" dirty="0">
                <a:solidFill>
                  <a:schemeClr val="tx2"/>
                </a:solidFill>
              </a:rPr>
              <a:t>3</a:t>
            </a:r>
            <a:r>
              <a:rPr lang="ko-KR" altLang="en-US" sz="1000" dirty="0">
                <a:solidFill>
                  <a:schemeClr val="tx2"/>
                </a:solidFill>
              </a:rPr>
              <a:t>제</a:t>
            </a:r>
            <a:r>
              <a:rPr lang="en-US" altLang="ko-KR" sz="1000" dirty="0">
                <a:solidFill>
                  <a:schemeClr val="tx2"/>
                </a:solidFill>
              </a:rPr>
              <a:t>2</a:t>
            </a:r>
            <a:r>
              <a:rPr lang="ko-KR" altLang="en-US" sz="1000" dirty="0">
                <a:solidFill>
                  <a:schemeClr val="tx2"/>
                </a:solidFill>
              </a:rPr>
              <a:t>항에 따른 </a:t>
            </a:r>
            <a:r>
              <a:rPr lang="ko-KR" altLang="en-US" sz="1000" dirty="0" err="1">
                <a:solidFill>
                  <a:schemeClr val="tx2"/>
                </a:solidFill>
              </a:rPr>
              <a:t>외국어실용신안등록출원인</a:t>
            </a:r>
            <a:r>
              <a:rPr lang="ko-KR" altLang="en-US" sz="1000" dirty="0">
                <a:solidFill>
                  <a:schemeClr val="tx2"/>
                </a:solidFill>
              </a:rPr>
              <a:t> 경우로서 변경하여 출원할 때 같은 항에 따른 국어번역문이 제출되지 아니한 경우</a:t>
            </a:r>
            <a:endParaRPr lang="en-US" altLang="ko-KR" sz="1000" dirty="0">
              <a:solidFill>
                <a:schemeClr val="tx2"/>
              </a:solidFill>
            </a:endParaRPr>
          </a:p>
          <a:p>
            <a:pPr fontAlgn="base"/>
            <a:endParaRPr lang="en-US" altLang="ko-KR" sz="1000" dirty="0">
              <a:solidFill>
                <a:schemeClr val="tx2"/>
              </a:solidFill>
            </a:endParaRPr>
          </a:p>
          <a:p>
            <a:pPr fontAlgn="base"/>
            <a:endParaRPr lang="ko-KR" altLang="en-US" sz="1000" dirty="0">
              <a:solidFill>
                <a:schemeClr val="tx2"/>
              </a:solidFill>
            </a:endParaRPr>
          </a:p>
          <a:p>
            <a:pPr fontAlgn="base"/>
            <a:r>
              <a:rPr lang="ko-KR" altLang="en-US" sz="1000" dirty="0">
                <a:solidFill>
                  <a:schemeClr val="tx2"/>
                </a:solidFill>
              </a:rPr>
              <a:t>② 제</a:t>
            </a:r>
            <a:r>
              <a:rPr lang="en-US" altLang="ko-KR" sz="1000" dirty="0">
                <a:solidFill>
                  <a:schemeClr val="tx2"/>
                </a:solidFill>
              </a:rPr>
              <a:t>1</a:t>
            </a:r>
            <a:r>
              <a:rPr lang="ko-KR" altLang="en-US" sz="1000" dirty="0">
                <a:solidFill>
                  <a:schemeClr val="tx2"/>
                </a:solidFill>
              </a:rPr>
              <a:t>항에 따라 변경된 특허출원</a:t>
            </a:r>
            <a:r>
              <a:rPr lang="en-US" altLang="ko-KR" sz="1000" dirty="0">
                <a:solidFill>
                  <a:schemeClr val="tx2"/>
                </a:solidFill>
              </a:rPr>
              <a:t>(</a:t>
            </a:r>
            <a:r>
              <a:rPr lang="ko-KR" altLang="en-US" sz="1000" dirty="0">
                <a:solidFill>
                  <a:schemeClr val="tx2"/>
                </a:solidFill>
              </a:rPr>
              <a:t>이하 </a:t>
            </a:r>
            <a:r>
              <a:rPr lang="en-US" altLang="ko-KR" sz="1000" dirty="0">
                <a:solidFill>
                  <a:schemeClr val="tx2"/>
                </a:solidFill>
              </a:rPr>
              <a:t>"</a:t>
            </a:r>
            <a:r>
              <a:rPr lang="ko-KR" altLang="en-US" sz="1000" dirty="0">
                <a:solidFill>
                  <a:schemeClr val="tx2"/>
                </a:solidFill>
              </a:rPr>
              <a:t>변경출원</a:t>
            </a:r>
            <a:r>
              <a:rPr lang="en-US" altLang="ko-KR" sz="1000" dirty="0">
                <a:solidFill>
                  <a:schemeClr val="tx2"/>
                </a:solidFill>
              </a:rPr>
              <a:t>"</a:t>
            </a:r>
            <a:r>
              <a:rPr lang="ko-KR" altLang="en-US" sz="1000" dirty="0">
                <a:solidFill>
                  <a:schemeClr val="tx2"/>
                </a:solidFill>
              </a:rPr>
              <a:t>이라 한다</a:t>
            </a:r>
            <a:r>
              <a:rPr lang="en-US" altLang="ko-KR" sz="1000" dirty="0">
                <a:solidFill>
                  <a:schemeClr val="tx2"/>
                </a:solidFill>
              </a:rPr>
              <a:t>)</a:t>
            </a:r>
            <a:r>
              <a:rPr lang="ko-KR" altLang="en-US" sz="1000" dirty="0">
                <a:solidFill>
                  <a:schemeClr val="tx2"/>
                </a:solidFill>
              </a:rPr>
              <a:t>이 있는 경우에 그 변경출원은 실용신안등록출원을 한 때에 </a:t>
            </a:r>
            <a:r>
              <a:rPr lang="ko-KR" altLang="en-US" sz="1000" dirty="0" err="1">
                <a:solidFill>
                  <a:schemeClr val="tx2"/>
                </a:solidFill>
              </a:rPr>
              <a:t>특허출원한</a:t>
            </a:r>
            <a:r>
              <a:rPr lang="ko-KR" altLang="en-US" sz="1000" dirty="0">
                <a:solidFill>
                  <a:schemeClr val="tx2"/>
                </a:solidFill>
              </a:rPr>
              <a:t> 것으로 본다</a:t>
            </a:r>
            <a:r>
              <a:rPr lang="en-US" altLang="ko-KR" sz="1000" dirty="0">
                <a:solidFill>
                  <a:schemeClr val="tx2"/>
                </a:solidFill>
              </a:rPr>
              <a:t>. </a:t>
            </a:r>
            <a:r>
              <a:rPr lang="ko-KR" altLang="en-US" sz="1000" dirty="0">
                <a:solidFill>
                  <a:schemeClr val="tx2"/>
                </a:solidFill>
              </a:rPr>
              <a:t>다만</a:t>
            </a:r>
            <a:r>
              <a:rPr lang="en-US" altLang="ko-KR" sz="1000" dirty="0">
                <a:solidFill>
                  <a:schemeClr val="tx2"/>
                </a:solidFill>
              </a:rPr>
              <a:t>, </a:t>
            </a:r>
            <a:r>
              <a:rPr lang="ko-KR" altLang="en-US" sz="1000" dirty="0">
                <a:solidFill>
                  <a:schemeClr val="tx2"/>
                </a:solidFill>
              </a:rPr>
              <a:t>그 변경출원이 다음 각 호의 어느 하나에 해당하는 경우에는 그러하지 아니하다</a:t>
            </a:r>
            <a:r>
              <a:rPr lang="en-US" altLang="ko-KR" sz="1000" dirty="0">
                <a:solidFill>
                  <a:schemeClr val="tx2"/>
                </a:solidFill>
              </a:rPr>
              <a:t>.  </a:t>
            </a:r>
          </a:p>
          <a:p>
            <a:pPr fontAlgn="base"/>
            <a:r>
              <a:rPr lang="en-US" altLang="ko-KR" sz="1000" dirty="0">
                <a:solidFill>
                  <a:schemeClr val="tx2"/>
                </a:solidFill>
              </a:rPr>
              <a:t>1. </a:t>
            </a:r>
            <a:r>
              <a:rPr lang="ko-KR" altLang="en-US" sz="1000" dirty="0">
                <a:solidFill>
                  <a:schemeClr val="tx2"/>
                </a:solidFill>
              </a:rPr>
              <a:t>제</a:t>
            </a:r>
            <a:r>
              <a:rPr lang="en-US" altLang="ko-KR" sz="1000" dirty="0">
                <a:solidFill>
                  <a:schemeClr val="tx2"/>
                </a:solidFill>
              </a:rPr>
              <a:t>29</a:t>
            </a:r>
            <a:r>
              <a:rPr lang="ko-KR" altLang="en-US" sz="1000" dirty="0">
                <a:solidFill>
                  <a:schemeClr val="tx2"/>
                </a:solidFill>
              </a:rPr>
              <a:t>조제</a:t>
            </a:r>
            <a:r>
              <a:rPr lang="en-US" altLang="ko-KR" sz="1000" dirty="0">
                <a:solidFill>
                  <a:schemeClr val="tx2"/>
                </a:solidFill>
              </a:rPr>
              <a:t>3</a:t>
            </a:r>
            <a:r>
              <a:rPr lang="ko-KR" altLang="en-US" sz="1000" dirty="0">
                <a:solidFill>
                  <a:schemeClr val="tx2"/>
                </a:solidFill>
              </a:rPr>
              <a:t>항에 따른 다른 특허출원 또는 「실용신안법」 제</a:t>
            </a:r>
            <a:r>
              <a:rPr lang="en-US" altLang="ko-KR" sz="1000" dirty="0">
                <a:solidFill>
                  <a:schemeClr val="tx2"/>
                </a:solidFill>
              </a:rPr>
              <a:t>4</a:t>
            </a:r>
            <a:r>
              <a:rPr lang="ko-KR" altLang="en-US" sz="1000" dirty="0">
                <a:solidFill>
                  <a:schemeClr val="tx2"/>
                </a:solidFill>
              </a:rPr>
              <a:t>조제</a:t>
            </a:r>
            <a:r>
              <a:rPr lang="en-US" altLang="ko-KR" sz="1000" dirty="0">
                <a:solidFill>
                  <a:schemeClr val="tx2"/>
                </a:solidFill>
              </a:rPr>
              <a:t>4</a:t>
            </a:r>
            <a:r>
              <a:rPr lang="ko-KR" altLang="en-US" sz="1000" dirty="0">
                <a:solidFill>
                  <a:schemeClr val="tx2"/>
                </a:solidFill>
              </a:rPr>
              <a:t>항에 따른 특허출원에 해당하여 이 법 제</a:t>
            </a:r>
            <a:r>
              <a:rPr lang="en-US" altLang="ko-KR" sz="1000" dirty="0">
                <a:solidFill>
                  <a:schemeClr val="tx2"/>
                </a:solidFill>
              </a:rPr>
              <a:t>29</a:t>
            </a:r>
            <a:r>
              <a:rPr lang="ko-KR" altLang="en-US" sz="1000" dirty="0">
                <a:solidFill>
                  <a:schemeClr val="tx2"/>
                </a:solidFill>
              </a:rPr>
              <a:t>조제</a:t>
            </a:r>
            <a:r>
              <a:rPr lang="en-US" altLang="ko-KR" sz="1000" dirty="0">
                <a:solidFill>
                  <a:schemeClr val="tx2"/>
                </a:solidFill>
              </a:rPr>
              <a:t>3</a:t>
            </a:r>
            <a:r>
              <a:rPr lang="ko-KR" altLang="en-US" sz="1000" dirty="0">
                <a:solidFill>
                  <a:schemeClr val="tx2"/>
                </a:solidFill>
              </a:rPr>
              <a:t>항 또는 「실용신안법」 제</a:t>
            </a:r>
            <a:r>
              <a:rPr lang="en-US" altLang="ko-KR" sz="1000" dirty="0">
                <a:solidFill>
                  <a:schemeClr val="tx2"/>
                </a:solidFill>
              </a:rPr>
              <a:t>4</a:t>
            </a:r>
            <a:r>
              <a:rPr lang="ko-KR" altLang="en-US" sz="1000" dirty="0">
                <a:solidFill>
                  <a:schemeClr val="tx2"/>
                </a:solidFill>
              </a:rPr>
              <a:t>조제</a:t>
            </a:r>
            <a:r>
              <a:rPr lang="en-US" altLang="ko-KR" sz="1000" dirty="0">
                <a:solidFill>
                  <a:schemeClr val="tx2"/>
                </a:solidFill>
              </a:rPr>
              <a:t>4</a:t>
            </a:r>
            <a:r>
              <a:rPr lang="ko-KR" altLang="en-US" sz="1000" dirty="0">
                <a:solidFill>
                  <a:schemeClr val="tx2"/>
                </a:solidFill>
              </a:rPr>
              <a:t>항을 적용하는 경우</a:t>
            </a:r>
          </a:p>
          <a:p>
            <a:pPr fontAlgn="base"/>
            <a:r>
              <a:rPr lang="en-US" altLang="ko-KR" sz="1000" dirty="0">
                <a:solidFill>
                  <a:schemeClr val="tx2"/>
                </a:solidFill>
              </a:rPr>
              <a:t>2. </a:t>
            </a:r>
            <a:r>
              <a:rPr lang="ko-KR" altLang="en-US" sz="1000" dirty="0">
                <a:solidFill>
                  <a:schemeClr val="tx2"/>
                </a:solidFill>
              </a:rPr>
              <a:t>제</a:t>
            </a:r>
            <a:r>
              <a:rPr lang="en-US" altLang="ko-KR" sz="1000" dirty="0">
                <a:solidFill>
                  <a:schemeClr val="tx2"/>
                </a:solidFill>
              </a:rPr>
              <a:t>30</a:t>
            </a:r>
            <a:r>
              <a:rPr lang="ko-KR" altLang="en-US" sz="1000" dirty="0">
                <a:solidFill>
                  <a:schemeClr val="tx2"/>
                </a:solidFill>
              </a:rPr>
              <a:t>조제</a:t>
            </a:r>
            <a:r>
              <a:rPr lang="en-US" altLang="ko-KR" sz="1000" dirty="0">
                <a:solidFill>
                  <a:schemeClr val="tx2"/>
                </a:solidFill>
              </a:rPr>
              <a:t>2</a:t>
            </a:r>
            <a:r>
              <a:rPr lang="ko-KR" altLang="en-US" sz="1000" dirty="0">
                <a:solidFill>
                  <a:schemeClr val="tx2"/>
                </a:solidFill>
              </a:rPr>
              <a:t>항을 적용하는 경우</a:t>
            </a:r>
          </a:p>
          <a:p>
            <a:pPr fontAlgn="base"/>
            <a:r>
              <a:rPr lang="en-US" altLang="ko-KR" sz="1000" dirty="0">
                <a:solidFill>
                  <a:schemeClr val="tx2"/>
                </a:solidFill>
              </a:rPr>
              <a:t>3. </a:t>
            </a:r>
            <a:r>
              <a:rPr lang="ko-KR" altLang="en-US" sz="1000" dirty="0">
                <a:solidFill>
                  <a:schemeClr val="tx2"/>
                </a:solidFill>
              </a:rPr>
              <a:t>제</a:t>
            </a:r>
            <a:r>
              <a:rPr lang="en-US" altLang="ko-KR" sz="1000" dirty="0">
                <a:solidFill>
                  <a:schemeClr val="tx2"/>
                </a:solidFill>
              </a:rPr>
              <a:t>54</a:t>
            </a:r>
            <a:r>
              <a:rPr lang="ko-KR" altLang="en-US" sz="1000" dirty="0">
                <a:solidFill>
                  <a:schemeClr val="tx2"/>
                </a:solidFill>
              </a:rPr>
              <a:t>조제</a:t>
            </a:r>
            <a:r>
              <a:rPr lang="en-US" altLang="ko-KR" sz="1000" dirty="0">
                <a:solidFill>
                  <a:schemeClr val="tx2"/>
                </a:solidFill>
              </a:rPr>
              <a:t>3</a:t>
            </a:r>
            <a:r>
              <a:rPr lang="ko-KR" altLang="en-US" sz="1000" dirty="0">
                <a:solidFill>
                  <a:schemeClr val="tx2"/>
                </a:solidFill>
              </a:rPr>
              <a:t>항을 적용하는 경우</a:t>
            </a:r>
          </a:p>
          <a:p>
            <a:pPr fontAlgn="base"/>
            <a:r>
              <a:rPr lang="en-US" altLang="ko-KR" sz="1000" dirty="0">
                <a:solidFill>
                  <a:schemeClr val="tx2"/>
                </a:solidFill>
              </a:rPr>
              <a:t>4. </a:t>
            </a:r>
            <a:r>
              <a:rPr lang="ko-KR" altLang="en-US" sz="1000" dirty="0">
                <a:solidFill>
                  <a:schemeClr val="tx2"/>
                </a:solidFill>
              </a:rPr>
              <a:t>제</a:t>
            </a:r>
            <a:r>
              <a:rPr lang="en-US" altLang="ko-KR" sz="1000" dirty="0">
                <a:solidFill>
                  <a:schemeClr val="tx2"/>
                </a:solidFill>
              </a:rPr>
              <a:t>55</a:t>
            </a:r>
            <a:r>
              <a:rPr lang="ko-KR" altLang="en-US" sz="1000" dirty="0">
                <a:solidFill>
                  <a:schemeClr val="tx2"/>
                </a:solidFill>
              </a:rPr>
              <a:t>조제</a:t>
            </a:r>
            <a:r>
              <a:rPr lang="en-US" altLang="ko-KR" sz="1000" dirty="0">
                <a:solidFill>
                  <a:schemeClr val="tx2"/>
                </a:solidFill>
              </a:rPr>
              <a:t>2</a:t>
            </a:r>
            <a:r>
              <a:rPr lang="ko-KR" altLang="en-US" sz="1000" dirty="0">
                <a:solidFill>
                  <a:schemeClr val="tx2"/>
                </a:solidFill>
              </a:rPr>
              <a:t>항을 적용하는 경우</a:t>
            </a:r>
          </a:p>
          <a:p>
            <a:pPr fontAlgn="base"/>
            <a:r>
              <a:rPr lang="ko-KR" altLang="en-US" sz="1000" dirty="0">
                <a:solidFill>
                  <a:schemeClr val="tx2"/>
                </a:solidFill>
              </a:rPr>
              <a:t>③ 제</a:t>
            </a:r>
            <a:r>
              <a:rPr lang="en-US" altLang="ko-KR" sz="1000" dirty="0">
                <a:solidFill>
                  <a:schemeClr val="tx2"/>
                </a:solidFill>
              </a:rPr>
              <a:t>1</a:t>
            </a:r>
            <a:r>
              <a:rPr lang="ko-KR" altLang="en-US" sz="1000" dirty="0">
                <a:solidFill>
                  <a:schemeClr val="tx2"/>
                </a:solidFill>
              </a:rPr>
              <a:t>항에 따라 변경출원을 하려는 자는 변경출원을 할 때 </a:t>
            </a:r>
            <a:r>
              <a:rPr lang="ko-KR" altLang="en-US" sz="1000" dirty="0" err="1">
                <a:solidFill>
                  <a:schemeClr val="tx2"/>
                </a:solidFill>
              </a:rPr>
              <a:t>특허출원서에</a:t>
            </a:r>
            <a:r>
              <a:rPr lang="ko-KR" altLang="en-US" sz="1000" dirty="0">
                <a:solidFill>
                  <a:schemeClr val="tx2"/>
                </a:solidFill>
              </a:rPr>
              <a:t> 그 취지 및 변경출원의 기초가 된 실용신안등록출원의 표시를 하여야 한다</a:t>
            </a:r>
            <a:r>
              <a:rPr lang="en-US" altLang="ko-KR" sz="1000" dirty="0">
                <a:solidFill>
                  <a:schemeClr val="tx2"/>
                </a:solidFill>
              </a:rPr>
              <a:t>. </a:t>
            </a:r>
          </a:p>
          <a:p>
            <a:pPr fontAlgn="base"/>
            <a:endParaRPr lang="en-US" altLang="ko-KR" sz="1000" dirty="0">
              <a:solidFill>
                <a:schemeClr val="tx2"/>
              </a:solidFill>
            </a:endParaRPr>
          </a:p>
          <a:p>
            <a:pPr fontAlgn="base"/>
            <a:endParaRPr lang="en-US" altLang="ko-KR" sz="1000" dirty="0">
              <a:solidFill>
                <a:schemeClr val="tx2"/>
              </a:solidFill>
            </a:endParaRPr>
          </a:p>
          <a:p>
            <a:pPr fontAlgn="base"/>
            <a:r>
              <a:rPr lang="en-US" altLang="ko-KR" sz="1000" dirty="0">
                <a:solidFill>
                  <a:schemeClr val="tx2"/>
                </a:solidFill>
              </a:rPr>
              <a:t>④ </a:t>
            </a:r>
            <a:r>
              <a:rPr lang="ko-KR" altLang="en-US" sz="1000" dirty="0">
                <a:solidFill>
                  <a:schemeClr val="tx2"/>
                </a:solidFill>
              </a:rPr>
              <a:t>변경출원이 있는 경우에는 그 실용신안등록출원은 취하된 것으로 본다</a:t>
            </a:r>
            <a:r>
              <a:rPr lang="en-US" altLang="ko-KR" sz="1000" dirty="0">
                <a:solidFill>
                  <a:schemeClr val="tx2"/>
                </a:solidFill>
              </a:rPr>
              <a:t>.  </a:t>
            </a:r>
          </a:p>
          <a:p>
            <a:pPr fontAlgn="base"/>
            <a:endParaRPr lang="en-US" altLang="ko-KR" sz="1000" dirty="0">
              <a:solidFill>
                <a:schemeClr val="tx2"/>
              </a:solidFill>
            </a:endParaRPr>
          </a:p>
          <a:p>
            <a:pPr fontAlgn="base"/>
            <a:r>
              <a:rPr lang="en-US" altLang="ko-KR" sz="1000" dirty="0">
                <a:solidFill>
                  <a:schemeClr val="tx2"/>
                </a:solidFill>
              </a:rPr>
              <a:t>⑤ </a:t>
            </a:r>
            <a:r>
              <a:rPr lang="ko-KR" altLang="en-US" sz="1000" dirty="0">
                <a:solidFill>
                  <a:schemeClr val="tx2"/>
                </a:solidFill>
              </a:rPr>
              <a:t>삭제</a:t>
            </a:r>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r>
              <a:rPr lang="en-US" altLang="ko-KR" sz="1000" dirty="0">
                <a:solidFill>
                  <a:schemeClr val="tx2"/>
                </a:solidFill>
              </a:rPr>
              <a:t>⑥ </a:t>
            </a:r>
            <a:r>
              <a:rPr lang="ko-KR" altLang="en-US" sz="1000" dirty="0">
                <a:solidFill>
                  <a:schemeClr val="tx2"/>
                </a:solidFill>
              </a:rPr>
              <a:t>변경출원의 경우에 제</a:t>
            </a:r>
            <a:r>
              <a:rPr lang="en-US" altLang="ko-KR" sz="1000" dirty="0">
                <a:solidFill>
                  <a:schemeClr val="tx2"/>
                </a:solidFill>
              </a:rPr>
              <a:t>54</a:t>
            </a:r>
            <a:r>
              <a:rPr lang="ko-KR" altLang="en-US" sz="1000" dirty="0">
                <a:solidFill>
                  <a:schemeClr val="tx2"/>
                </a:solidFill>
              </a:rPr>
              <a:t>조에 따른 우선권을 주장하는 자는 같은 조 제</a:t>
            </a:r>
            <a:r>
              <a:rPr lang="en-US" altLang="ko-KR" sz="1000" dirty="0">
                <a:solidFill>
                  <a:schemeClr val="tx2"/>
                </a:solidFill>
              </a:rPr>
              <a:t>4</a:t>
            </a:r>
            <a:r>
              <a:rPr lang="ko-KR" altLang="en-US" sz="1000" dirty="0">
                <a:solidFill>
                  <a:schemeClr val="tx2"/>
                </a:solidFill>
              </a:rPr>
              <a:t>항에 따른 서류를 같은 조 제</a:t>
            </a:r>
            <a:r>
              <a:rPr lang="en-US" altLang="ko-KR" sz="1000" dirty="0">
                <a:solidFill>
                  <a:schemeClr val="tx2"/>
                </a:solidFill>
              </a:rPr>
              <a:t>5</a:t>
            </a:r>
            <a:r>
              <a:rPr lang="ko-KR" altLang="en-US" sz="1000" dirty="0">
                <a:solidFill>
                  <a:schemeClr val="tx2"/>
                </a:solidFill>
              </a:rPr>
              <a:t>항에 따른 기간이 지난 후에도 변경출원을 한 날부터 </a:t>
            </a:r>
            <a:r>
              <a:rPr lang="en-US" altLang="ko-KR" sz="1000" dirty="0">
                <a:solidFill>
                  <a:schemeClr val="tx2"/>
                </a:solidFill>
              </a:rPr>
              <a:t>3</a:t>
            </a:r>
            <a:r>
              <a:rPr lang="ko-KR" altLang="en-US" sz="1000" dirty="0">
                <a:solidFill>
                  <a:schemeClr val="tx2"/>
                </a:solidFill>
              </a:rPr>
              <a:t>개월 이내에 지식재산처장에게 제출할 수 있다</a:t>
            </a:r>
            <a:r>
              <a:rPr lang="en-US" altLang="ko-KR" sz="1000" dirty="0">
                <a:solidFill>
                  <a:schemeClr val="tx2"/>
                </a:solidFill>
              </a:rPr>
              <a:t>.  </a:t>
            </a:r>
          </a:p>
          <a:p>
            <a:pPr fontAlgn="base"/>
            <a:r>
              <a:rPr lang="en-US" altLang="ko-KR" sz="1000" dirty="0">
                <a:solidFill>
                  <a:schemeClr val="tx2"/>
                </a:solidFill>
              </a:rPr>
              <a:t>⑦ </a:t>
            </a:r>
            <a:r>
              <a:rPr lang="ko-KR" altLang="en-US" sz="1000" dirty="0" err="1">
                <a:solidFill>
                  <a:schemeClr val="tx2"/>
                </a:solidFill>
              </a:rPr>
              <a:t>특허출원인은</a:t>
            </a:r>
            <a:r>
              <a:rPr lang="ko-KR" altLang="en-US" sz="1000" dirty="0">
                <a:solidFill>
                  <a:schemeClr val="tx2"/>
                </a:solidFill>
              </a:rPr>
              <a:t> 변경출원이 </a:t>
            </a:r>
            <a:r>
              <a:rPr lang="ko-KR" altLang="en-US" sz="1000" dirty="0" err="1">
                <a:solidFill>
                  <a:schemeClr val="tx2"/>
                </a:solidFill>
              </a:rPr>
              <a:t>외국어특허출원인</a:t>
            </a:r>
            <a:r>
              <a:rPr lang="ko-KR" altLang="en-US" sz="1000" dirty="0">
                <a:solidFill>
                  <a:schemeClr val="tx2"/>
                </a:solidFill>
              </a:rPr>
              <a:t> 경우에는 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3</a:t>
            </a:r>
            <a:r>
              <a:rPr lang="ko-KR" altLang="en-US" sz="1000" dirty="0">
                <a:solidFill>
                  <a:schemeClr val="tx2"/>
                </a:solidFill>
              </a:rPr>
              <a:t>제</a:t>
            </a:r>
            <a:r>
              <a:rPr lang="en-US" altLang="ko-KR" sz="1000" dirty="0">
                <a:solidFill>
                  <a:schemeClr val="tx2"/>
                </a:solidFill>
              </a:rPr>
              <a:t>2</a:t>
            </a:r>
            <a:r>
              <a:rPr lang="ko-KR" altLang="en-US" sz="1000" dirty="0">
                <a:solidFill>
                  <a:schemeClr val="tx2"/>
                </a:solidFill>
              </a:rPr>
              <a:t>항에 따른 국어번역문 또는 같은 조 제</a:t>
            </a:r>
            <a:r>
              <a:rPr lang="en-US" altLang="ko-KR" sz="1000" dirty="0">
                <a:solidFill>
                  <a:schemeClr val="tx2"/>
                </a:solidFill>
              </a:rPr>
              <a:t>3</a:t>
            </a:r>
            <a:r>
              <a:rPr lang="ko-KR" altLang="en-US" sz="1000" dirty="0">
                <a:solidFill>
                  <a:schemeClr val="tx2"/>
                </a:solidFill>
              </a:rPr>
              <a:t>항 본문에 따른 새로운 국어번역문을 같은 조 제</a:t>
            </a:r>
            <a:r>
              <a:rPr lang="en-US" altLang="ko-KR" sz="1000" dirty="0">
                <a:solidFill>
                  <a:schemeClr val="tx2"/>
                </a:solidFill>
              </a:rPr>
              <a:t>2</a:t>
            </a:r>
            <a:r>
              <a:rPr lang="ko-KR" altLang="en-US" sz="1000" dirty="0">
                <a:solidFill>
                  <a:schemeClr val="tx2"/>
                </a:solidFill>
              </a:rPr>
              <a:t>항에 따른 기한이 지난 후에도 변경출원을 한 날부터 </a:t>
            </a:r>
            <a:r>
              <a:rPr lang="en-US" altLang="ko-KR" sz="1000" dirty="0">
                <a:solidFill>
                  <a:schemeClr val="tx2"/>
                </a:solidFill>
              </a:rPr>
              <a:t>30</a:t>
            </a:r>
            <a:r>
              <a:rPr lang="ko-KR" altLang="en-US" sz="1000" dirty="0">
                <a:solidFill>
                  <a:schemeClr val="tx2"/>
                </a:solidFill>
              </a:rPr>
              <a:t>일이 되는 날까지는 제출할 수 있다</a:t>
            </a:r>
            <a:r>
              <a:rPr lang="en-US" altLang="ko-KR" sz="1000" dirty="0">
                <a:solidFill>
                  <a:schemeClr val="tx2"/>
                </a:solidFill>
              </a:rPr>
              <a:t>. </a:t>
            </a:r>
            <a:r>
              <a:rPr lang="ko-KR" altLang="en-US" sz="1000" dirty="0">
                <a:solidFill>
                  <a:schemeClr val="tx2"/>
                </a:solidFill>
              </a:rPr>
              <a:t>다만</a:t>
            </a:r>
            <a:r>
              <a:rPr lang="en-US" altLang="ko-KR" sz="1000" dirty="0">
                <a:solidFill>
                  <a:schemeClr val="tx2"/>
                </a:solidFill>
              </a:rPr>
              <a:t>, </a:t>
            </a:r>
            <a:r>
              <a:rPr lang="ko-KR" altLang="en-US" sz="1000" dirty="0">
                <a:solidFill>
                  <a:schemeClr val="tx2"/>
                </a:solidFill>
              </a:rPr>
              <a:t>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3</a:t>
            </a:r>
            <a:r>
              <a:rPr lang="ko-KR" altLang="en-US" sz="1000" dirty="0">
                <a:solidFill>
                  <a:schemeClr val="tx2"/>
                </a:solidFill>
              </a:rPr>
              <a:t>제</a:t>
            </a:r>
            <a:r>
              <a:rPr lang="en-US" altLang="ko-KR" sz="1000" dirty="0">
                <a:solidFill>
                  <a:schemeClr val="tx2"/>
                </a:solidFill>
              </a:rPr>
              <a:t>3</a:t>
            </a:r>
            <a:r>
              <a:rPr lang="ko-KR" altLang="en-US" sz="1000" dirty="0">
                <a:solidFill>
                  <a:schemeClr val="tx2"/>
                </a:solidFill>
              </a:rPr>
              <a:t>항 각 호의 어느 하나에 해당하는 경우에는 새로운 국어번역문을 제출할 수 없다</a:t>
            </a:r>
            <a:r>
              <a:rPr lang="en-US" altLang="ko-KR" sz="1000" dirty="0">
                <a:solidFill>
                  <a:schemeClr val="tx2"/>
                </a:solidFill>
              </a:rPr>
              <a:t>. </a:t>
            </a:r>
          </a:p>
          <a:p>
            <a:pPr fontAlgn="base"/>
            <a:r>
              <a:rPr lang="en-US" altLang="ko-KR" sz="1000" dirty="0">
                <a:solidFill>
                  <a:schemeClr val="tx2"/>
                </a:solidFill>
              </a:rPr>
              <a:t>⑧ </a:t>
            </a:r>
            <a:r>
              <a:rPr lang="ko-KR" altLang="en-US" sz="1000" dirty="0" err="1">
                <a:solidFill>
                  <a:schemeClr val="tx2"/>
                </a:solidFill>
              </a:rPr>
              <a:t>특허출원인은</a:t>
            </a:r>
            <a:r>
              <a:rPr lang="ko-KR" altLang="en-US" sz="1000" dirty="0">
                <a:solidFill>
                  <a:schemeClr val="tx2"/>
                </a:solidFill>
              </a:rPr>
              <a:t> </a:t>
            </a:r>
            <a:r>
              <a:rPr lang="ko-KR" altLang="en-US" sz="1000" dirty="0" err="1">
                <a:solidFill>
                  <a:schemeClr val="tx2"/>
                </a:solidFill>
              </a:rPr>
              <a:t>특허출원서에</a:t>
            </a:r>
            <a:r>
              <a:rPr lang="ko-KR" altLang="en-US" sz="1000" dirty="0">
                <a:solidFill>
                  <a:schemeClr val="tx2"/>
                </a:solidFill>
              </a:rPr>
              <a:t> 최초로 첨부한 명세서에 청구범위를 적지 아니한 변경출원의 경우 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2</a:t>
            </a:r>
            <a:r>
              <a:rPr lang="ko-KR" altLang="en-US" sz="1000" dirty="0">
                <a:solidFill>
                  <a:schemeClr val="tx2"/>
                </a:solidFill>
              </a:rPr>
              <a:t>제</a:t>
            </a:r>
            <a:r>
              <a:rPr lang="en-US" altLang="ko-KR" sz="1000" dirty="0">
                <a:solidFill>
                  <a:schemeClr val="tx2"/>
                </a:solidFill>
              </a:rPr>
              <a:t>2</a:t>
            </a:r>
            <a:r>
              <a:rPr lang="ko-KR" altLang="en-US" sz="1000" dirty="0">
                <a:solidFill>
                  <a:schemeClr val="tx2"/>
                </a:solidFill>
              </a:rPr>
              <a:t>항에 따른 기한이 지난 후에도 변경출원을 한 날부터 </a:t>
            </a:r>
            <a:r>
              <a:rPr lang="en-US" altLang="ko-KR" sz="1000" dirty="0">
                <a:solidFill>
                  <a:schemeClr val="tx2"/>
                </a:solidFill>
              </a:rPr>
              <a:t>30</a:t>
            </a:r>
            <a:r>
              <a:rPr lang="ko-KR" altLang="en-US" sz="1000" dirty="0">
                <a:solidFill>
                  <a:schemeClr val="tx2"/>
                </a:solidFill>
              </a:rPr>
              <a:t>일이 되는 날까지 명세서에 청구범위를 적는 보정을 할 수 있다</a:t>
            </a:r>
            <a:r>
              <a:rPr lang="en-US" altLang="ko-KR" sz="1000" dirty="0">
                <a:solidFill>
                  <a:schemeClr val="tx2"/>
                </a:solidFill>
              </a:rPr>
              <a:t>.  </a:t>
            </a:r>
          </a:p>
        </p:txBody>
      </p:sp>
      <p:cxnSp>
        <p:nvCxnSpPr>
          <p:cNvPr id="8" name="직선 연결선 7">
            <a:extLst>
              <a:ext uri="{FF2B5EF4-FFF2-40B4-BE49-F238E27FC236}">
                <a16:creationId xmlns:a16="http://schemas.microsoft.com/office/drawing/2014/main" id="{AFBD77F7-A6B6-4BA8-A6D5-8F72B8BF4C96}"/>
              </a:ext>
            </a:extLst>
          </p:cNvPr>
          <p:cNvCxnSpPr/>
          <p:nvPr/>
        </p:nvCxnSpPr>
        <p:spPr>
          <a:xfrm>
            <a:off x="6096000" y="870585"/>
            <a:ext cx="0" cy="572991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1482BC15-9CAF-49F5-819A-C1F69B2EFE7D}"/>
              </a:ext>
            </a:extLst>
          </p:cNvPr>
          <p:cNvSpPr txBox="1"/>
          <p:nvPr/>
        </p:nvSpPr>
        <p:spPr>
          <a:xfrm>
            <a:off x="77875" y="986046"/>
            <a:ext cx="6018125" cy="5940088"/>
          </a:xfrm>
          <a:prstGeom prst="rect">
            <a:avLst/>
          </a:prstGeom>
          <a:noFill/>
        </p:spPr>
        <p:txBody>
          <a:bodyPr wrap="square" rtlCol="0">
            <a:spAutoFit/>
          </a:bodyPr>
          <a:lstStyle/>
          <a:p>
            <a:pPr fontAlgn="base"/>
            <a:r>
              <a:rPr lang="ko-KR" altLang="en-US" sz="1000" b="1" dirty="0">
                <a:solidFill>
                  <a:schemeClr val="accent1"/>
                </a:solidFill>
              </a:rPr>
              <a:t>제</a:t>
            </a:r>
            <a:r>
              <a:rPr lang="en-US" altLang="ko-KR" sz="1000" b="1" dirty="0">
                <a:solidFill>
                  <a:schemeClr val="accent1"/>
                </a:solidFill>
              </a:rPr>
              <a:t>52</a:t>
            </a:r>
            <a:r>
              <a:rPr lang="ko-KR" altLang="en-US" sz="1000" b="1" dirty="0">
                <a:solidFill>
                  <a:schemeClr val="accent1"/>
                </a:solidFill>
              </a:rPr>
              <a:t>조</a:t>
            </a:r>
            <a:r>
              <a:rPr lang="en-US" altLang="ko-KR" sz="1000" b="1" dirty="0">
                <a:solidFill>
                  <a:schemeClr val="accent1"/>
                </a:solidFill>
              </a:rPr>
              <a:t>(</a:t>
            </a:r>
            <a:r>
              <a:rPr lang="ko-KR" altLang="en-US" sz="1000" b="1" dirty="0">
                <a:solidFill>
                  <a:schemeClr val="accent1"/>
                </a:solidFill>
              </a:rPr>
              <a:t>분할출원</a:t>
            </a:r>
            <a:r>
              <a:rPr lang="en-US" altLang="ko-KR" sz="1000" b="1" dirty="0">
                <a:solidFill>
                  <a:schemeClr val="accent1"/>
                </a:solidFill>
              </a:rPr>
              <a:t>) </a:t>
            </a:r>
            <a:r>
              <a:rPr lang="ko-KR" altLang="en-US" sz="1000" dirty="0">
                <a:solidFill>
                  <a:schemeClr val="tx2"/>
                </a:solidFill>
              </a:rPr>
              <a:t>① </a:t>
            </a:r>
            <a:r>
              <a:rPr lang="ko-KR" altLang="en-US" sz="1000" dirty="0" err="1">
                <a:solidFill>
                  <a:schemeClr val="tx2"/>
                </a:solidFill>
              </a:rPr>
              <a:t>특허출원인은</a:t>
            </a:r>
            <a:r>
              <a:rPr lang="ko-KR" altLang="en-US" sz="1000" dirty="0">
                <a:solidFill>
                  <a:schemeClr val="tx2"/>
                </a:solidFill>
              </a:rPr>
              <a:t> 둘 이상의 발명을 하나의 특허출원으로 한 경우에는 그 특허출원의 출원서에 최초로 첨부된 명세서 또는 도면에 기재된 사항의 범위에서 다음 각 호의 어느 하나에 해당하는 기간에 그 일부를 하나 이상의 특허출원으로 분할할 수 있다</a:t>
            </a:r>
            <a:r>
              <a:rPr lang="en-US" altLang="ko-KR" sz="1000" dirty="0">
                <a:solidFill>
                  <a:schemeClr val="tx2"/>
                </a:solidFill>
              </a:rPr>
              <a:t>. </a:t>
            </a:r>
            <a:r>
              <a:rPr lang="ko-KR" altLang="en-US" sz="1000" dirty="0">
                <a:solidFill>
                  <a:schemeClr val="tx2"/>
                </a:solidFill>
              </a:rPr>
              <a:t>다만</a:t>
            </a:r>
            <a:r>
              <a:rPr lang="en-US" altLang="ko-KR" sz="1000" dirty="0">
                <a:solidFill>
                  <a:schemeClr val="tx2"/>
                </a:solidFill>
              </a:rPr>
              <a:t>, </a:t>
            </a:r>
            <a:r>
              <a:rPr lang="ko-KR" altLang="en-US" sz="1000" dirty="0">
                <a:solidFill>
                  <a:schemeClr val="tx2"/>
                </a:solidFill>
              </a:rPr>
              <a:t>그 특허출원이 </a:t>
            </a:r>
            <a:r>
              <a:rPr lang="ko-KR" altLang="en-US" sz="1000" dirty="0" err="1">
                <a:solidFill>
                  <a:schemeClr val="tx2"/>
                </a:solidFill>
              </a:rPr>
              <a:t>외국어특허출원인</a:t>
            </a:r>
            <a:r>
              <a:rPr lang="ko-KR" altLang="en-US" sz="1000" dirty="0">
                <a:solidFill>
                  <a:schemeClr val="tx2"/>
                </a:solidFill>
              </a:rPr>
              <a:t> 경우에는 그 특허출원에 대한 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3</a:t>
            </a:r>
            <a:r>
              <a:rPr lang="ko-KR" altLang="en-US" sz="1000" dirty="0">
                <a:solidFill>
                  <a:schemeClr val="tx2"/>
                </a:solidFill>
              </a:rPr>
              <a:t>제</a:t>
            </a:r>
            <a:r>
              <a:rPr lang="en-US" altLang="ko-KR" sz="1000" dirty="0">
                <a:solidFill>
                  <a:schemeClr val="tx2"/>
                </a:solidFill>
              </a:rPr>
              <a:t>2</a:t>
            </a:r>
            <a:r>
              <a:rPr lang="ko-KR" altLang="en-US" sz="1000" dirty="0">
                <a:solidFill>
                  <a:schemeClr val="tx2"/>
                </a:solidFill>
              </a:rPr>
              <a:t>항에 따른 국어번역문이 제출된 경우에만 분할할 수 있다</a:t>
            </a:r>
            <a:r>
              <a:rPr lang="en-US" altLang="ko-KR" sz="1000" dirty="0">
                <a:solidFill>
                  <a:schemeClr val="tx2"/>
                </a:solidFill>
              </a:rPr>
              <a:t>. </a:t>
            </a:r>
          </a:p>
          <a:p>
            <a:pPr fontAlgn="base"/>
            <a:r>
              <a:rPr lang="en-US" altLang="ko-KR" sz="1000" dirty="0">
                <a:solidFill>
                  <a:schemeClr val="tx2"/>
                </a:solidFill>
              </a:rPr>
              <a:t>  1. </a:t>
            </a:r>
            <a:r>
              <a:rPr lang="ko-KR" altLang="en-US" sz="1000" dirty="0">
                <a:solidFill>
                  <a:schemeClr val="tx2"/>
                </a:solidFill>
              </a:rPr>
              <a:t>제</a:t>
            </a:r>
            <a:r>
              <a:rPr lang="en-US" altLang="ko-KR" sz="1000" dirty="0">
                <a:solidFill>
                  <a:schemeClr val="tx2"/>
                </a:solidFill>
              </a:rPr>
              <a:t>47</a:t>
            </a:r>
            <a:r>
              <a:rPr lang="ko-KR" altLang="en-US" sz="1000" dirty="0">
                <a:solidFill>
                  <a:schemeClr val="tx2"/>
                </a:solidFill>
              </a:rPr>
              <a:t>조제</a:t>
            </a:r>
            <a:r>
              <a:rPr lang="en-US" altLang="ko-KR" sz="1000" dirty="0">
                <a:solidFill>
                  <a:schemeClr val="tx2"/>
                </a:solidFill>
              </a:rPr>
              <a:t>1</a:t>
            </a:r>
            <a:r>
              <a:rPr lang="ko-KR" altLang="en-US" sz="1000" dirty="0">
                <a:solidFill>
                  <a:schemeClr val="tx2"/>
                </a:solidFill>
              </a:rPr>
              <a:t>항에 따라 보정을 할 수 있는 기간</a:t>
            </a:r>
          </a:p>
          <a:p>
            <a:pPr fontAlgn="base"/>
            <a:r>
              <a:rPr lang="ko-KR" altLang="en-US" sz="1000" dirty="0">
                <a:solidFill>
                  <a:schemeClr val="tx2"/>
                </a:solidFill>
              </a:rPr>
              <a:t>  </a:t>
            </a:r>
            <a:r>
              <a:rPr lang="en-US" altLang="ko-KR" sz="1000" dirty="0">
                <a:solidFill>
                  <a:schemeClr val="tx2"/>
                </a:solidFill>
              </a:rPr>
              <a:t>2. </a:t>
            </a:r>
            <a:r>
              <a:rPr lang="ko-KR" altLang="en-US" sz="1000" dirty="0" err="1">
                <a:solidFill>
                  <a:schemeClr val="tx2"/>
                </a:solidFill>
              </a:rPr>
              <a:t>특허거절결정등본을</a:t>
            </a:r>
            <a:r>
              <a:rPr lang="ko-KR" altLang="en-US" sz="1000" dirty="0">
                <a:solidFill>
                  <a:schemeClr val="tx2"/>
                </a:solidFill>
              </a:rPr>
              <a:t> </a:t>
            </a:r>
            <a:r>
              <a:rPr lang="ko-KR" altLang="en-US" sz="1000" dirty="0" err="1">
                <a:solidFill>
                  <a:schemeClr val="tx2"/>
                </a:solidFill>
              </a:rPr>
              <a:t>송달받은</a:t>
            </a:r>
            <a:r>
              <a:rPr lang="ko-KR" altLang="en-US" sz="1000" dirty="0">
                <a:solidFill>
                  <a:schemeClr val="tx2"/>
                </a:solidFill>
              </a:rPr>
              <a:t> 날부터 </a:t>
            </a:r>
            <a:r>
              <a:rPr lang="en-US" altLang="ko-KR" sz="1000" dirty="0">
                <a:solidFill>
                  <a:schemeClr val="tx2"/>
                </a:solidFill>
              </a:rPr>
              <a:t>3</a:t>
            </a:r>
            <a:r>
              <a:rPr lang="ko-KR" altLang="en-US" sz="1000" dirty="0">
                <a:solidFill>
                  <a:schemeClr val="tx2"/>
                </a:solidFill>
              </a:rPr>
              <a:t>개월</a:t>
            </a:r>
            <a:r>
              <a:rPr lang="en-US" altLang="ko-KR" sz="1000" dirty="0">
                <a:solidFill>
                  <a:schemeClr val="tx2"/>
                </a:solidFill>
              </a:rPr>
              <a:t>(</a:t>
            </a:r>
            <a:r>
              <a:rPr lang="ko-KR" altLang="en-US" sz="1000" dirty="0">
                <a:solidFill>
                  <a:schemeClr val="tx2"/>
                </a:solidFill>
              </a:rPr>
              <a:t>제</a:t>
            </a:r>
            <a:r>
              <a:rPr lang="en-US" altLang="ko-KR" sz="1000" dirty="0">
                <a:solidFill>
                  <a:schemeClr val="tx2"/>
                </a:solidFill>
              </a:rPr>
              <a:t>15</a:t>
            </a:r>
            <a:r>
              <a:rPr lang="ko-KR" altLang="en-US" sz="1000" dirty="0">
                <a:solidFill>
                  <a:schemeClr val="tx2"/>
                </a:solidFill>
              </a:rPr>
              <a:t>조제</a:t>
            </a:r>
            <a:r>
              <a:rPr lang="en-US" altLang="ko-KR" sz="1000" dirty="0">
                <a:solidFill>
                  <a:schemeClr val="tx2"/>
                </a:solidFill>
              </a:rPr>
              <a:t>1</a:t>
            </a:r>
            <a:r>
              <a:rPr lang="ko-KR" altLang="en-US" sz="1000" dirty="0">
                <a:solidFill>
                  <a:schemeClr val="tx2"/>
                </a:solidFill>
              </a:rPr>
              <a:t>항에 따라 제</a:t>
            </a:r>
            <a:r>
              <a:rPr lang="en-US" altLang="ko-KR" sz="1000" dirty="0">
                <a:solidFill>
                  <a:schemeClr val="tx2"/>
                </a:solidFill>
              </a:rPr>
              <a:t>132</a:t>
            </a:r>
            <a:r>
              <a:rPr lang="ko-KR" altLang="en-US" sz="1000" dirty="0">
                <a:solidFill>
                  <a:schemeClr val="tx2"/>
                </a:solidFill>
              </a:rPr>
              <a:t>조의</a:t>
            </a:r>
            <a:r>
              <a:rPr lang="en-US" altLang="ko-KR" sz="1000" dirty="0">
                <a:solidFill>
                  <a:schemeClr val="tx2"/>
                </a:solidFill>
              </a:rPr>
              <a:t>17</a:t>
            </a:r>
            <a:r>
              <a:rPr lang="ko-KR" altLang="en-US" sz="1000" dirty="0">
                <a:solidFill>
                  <a:schemeClr val="tx2"/>
                </a:solidFill>
              </a:rPr>
              <a:t>에 따른 기간이 연장된 경우 그 연장된 기간을 말한다</a:t>
            </a:r>
            <a:r>
              <a:rPr lang="en-US" altLang="ko-KR" sz="1000" dirty="0">
                <a:solidFill>
                  <a:schemeClr val="tx2"/>
                </a:solidFill>
              </a:rPr>
              <a:t>) </a:t>
            </a:r>
            <a:r>
              <a:rPr lang="ko-KR" altLang="en-US" sz="1000" dirty="0">
                <a:solidFill>
                  <a:schemeClr val="tx2"/>
                </a:solidFill>
              </a:rPr>
              <a:t>이내의 기간</a:t>
            </a:r>
          </a:p>
          <a:p>
            <a:pPr fontAlgn="base"/>
            <a:r>
              <a:rPr lang="ko-KR" altLang="en-US" sz="1000" dirty="0">
                <a:solidFill>
                  <a:schemeClr val="tx2"/>
                </a:solidFill>
              </a:rPr>
              <a:t>  </a:t>
            </a:r>
            <a:r>
              <a:rPr lang="en-US" altLang="ko-KR" sz="1000" dirty="0">
                <a:solidFill>
                  <a:schemeClr val="tx2"/>
                </a:solidFill>
              </a:rPr>
              <a:t>3. </a:t>
            </a:r>
            <a:r>
              <a:rPr lang="ko-KR" altLang="en-US" sz="1000" dirty="0">
                <a:solidFill>
                  <a:schemeClr val="tx2"/>
                </a:solidFill>
              </a:rPr>
              <a:t>제</a:t>
            </a:r>
            <a:r>
              <a:rPr lang="en-US" altLang="ko-KR" sz="1000" dirty="0">
                <a:solidFill>
                  <a:schemeClr val="tx2"/>
                </a:solidFill>
              </a:rPr>
              <a:t>66</a:t>
            </a:r>
            <a:r>
              <a:rPr lang="ko-KR" altLang="en-US" sz="1000" dirty="0">
                <a:solidFill>
                  <a:schemeClr val="tx2"/>
                </a:solidFill>
              </a:rPr>
              <a:t>조에 따른 특허결정 또는 제</a:t>
            </a:r>
            <a:r>
              <a:rPr lang="en-US" altLang="ko-KR" sz="1000" dirty="0">
                <a:solidFill>
                  <a:schemeClr val="tx2"/>
                </a:solidFill>
              </a:rPr>
              <a:t>176</a:t>
            </a:r>
            <a:r>
              <a:rPr lang="ko-KR" altLang="en-US" sz="1000" dirty="0">
                <a:solidFill>
                  <a:schemeClr val="tx2"/>
                </a:solidFill>
              </a:rPr>
              <a:t>조제</a:t>
            </a:r>
            <a:r>
              <a:rPr lang="en-US" altLang="ko-KR" sz="1000" dirty="0">
                <a:solidFill>
                  <a:schemeClr val="tx2"/>
                </a:solidFill>
              </a:rPr>
              <a:t>1</a:t>
            </a:r>
            <a:r>
              <a:rPr lang="ko-KR" altLang="en-US" sz="1000" dirty="0">
                <a:solidFill>
                  <a:schemeClr val="tx2"/>
                </a:solidFill>
              </a:rPr>
              <a:t>항에 따른 </a:t>
            </a:r>
            <a:r>
              <a:rPr lang="ko-KR" altLang="en-US" sz="1000" dirty="0" err="1">
                <a:solidFill>
                  <a:schemeClr val="tx2"/>
                </a:solidFill>
              </a:rPr>
              <a:t>특허거절결정</a:t>
            </a:r>
            <a:r>
              <a:rPr lang="ko-KR" altLang="en-US" sz="1000" dirty="0">
                <a:solidFill>
                  <a:schemeClr val="tx2"/>
                </a:solidFill>
              </a:rPr>
              <a:t> </a:t>
            </a:r>
            <a:r>
              <a:rPr lang="ko-KR" altLang="en-US" sz="1000" dirty="0" err="1">
                <a:solidFill>
                  <a:schemeClr val="tx2"/>
                </a:solidFill>
              </a:rPr>
              <a:t>취소심결</a:t>
            </a:r>
            <a:r>
              <a:rPr lang="en-US" altLang="ko-KR" sz="1000" dirty="0">
                <a:solidFill>
                  <a:schemeClr val="tx2"/>
                </a:solidFill>
              </a:rPr>
              <a:t>(</a:t>
            </a:r>
            <a:r>
              <a:rPr lang="ko-KR" altLang="en-US" sz="1000" dirty="0">
                <a:solidFill>
                  <a:schemeClr val="tx2"/>
                </a:solidFill>
              </a:rPr>
              <a:t>특허등록을 결정한 </a:t>
            </a:r>
            <a:r>
              <a:rPr lang="ko-KR" altLang="en-US" sz="1000" dirty="0" err="1">
                <a:solidFill>
                  <a:schemeClr val="tx2"/>
                </a:solidFill>
              </a:rPr>
              <a:t>심결에</a:t>
            </a:r>
            <a:r>
              <a:rPr lang="ko-KR" altLang="en-US" sz="1000" dirty="0">
                <a:solidFill>
                  <a:schemeClr val="tx2"/>
                </a:solidFill>
              </a:rPr>
              <a:t> 한정하되</a:t>
            </a:r>
            <a:r>
              <a:rPr lang="en-US" altLang="ko-KR" sz="1000" dirty="0">
                <a:solidFill>
                  <a:schemeClr val="tx2"/>
                </a:solidFill>
              </a:rPr>
              <a:t>, </a:t>
            </a:r>
            <a:r>
              <a:rPr lang="ko-KR" altLang="en-US" sz="1000" dirty="0" err="1">
                <a:solidFill>
                  <a:schemeClr val="tx2"/>
                </a:solidFill>
              </a:rPr>
              <a:t>재심심결을</a:t>
            </a:r>
            <a:r>
              <a:rPr lang="ko-KR" altLang="en-US" sz="1000" dirty="0">
                <a:solidFill>
                  <a:schemeClr val="tx2"/>
                </a:solidFill>
              </a:rPr>
              <a:t> 포함한다</a:t>
            </a:r>
            <a:r>
              <a:rPr lang="en-US" altLang="ko-KR" sz="1000" dirty="0">
                <a:solidFill>
                  <a:schemeClr val="tx2"/>
                </a:solidFill>
              </a:rPr>
              <a:t>)</a:t>
            </a:r>
            <a:r>
              <a:rPr lang="ko-KR" altLang="en-US" sz="1000" dirty="0">
                <a:solidFill>
                  <a:schemeClr val="tx2"/>
                </a:solidFill>
              </a:rPr>
              <a:t>의 등본을 </a:t>
            </a:r>
            <a:r>
              <a:rPr lang="ko-KR" altLang="en-US" sz="1000" dirty="0" err="1">
                <a:solidFill>
                  <a:schemeClr val="tx2"/>
                </a:solidFill>
              </a:rPr>
              <a:t>송달받은</a:t>
            </a:r>
            <a:r>
              <a:rPr lang="ko-KR" altLang="en-US" sz="1000" dirty="0">
                <a:solidFill>
                  <a:schemeClr val="tx2"/>
                </a:solidFill>
              </a:rPr>
              <a:t> 날부터 </a:t>
            </a:r>
            <a:r>
              <a:rPr lang="en-US" altLang="ko-KR" sz="1000" dirty="0">
                <a:solidFill>
                  <a:schemeClr val="tx2"/>
                </a:solidFill>
              </a:rPr>
              <a:t>3</a:t>
            </a:r>
            <a:r>
              <a:rPr lang="ko-KR" altLang="en-US" sz="1000" dirty="0">
                <a:solidFill>
                  <a:schemeClr val="tx2"/>
                </a:solidFill>
              </a:rPr>
              <a:t>개월 이내의 기간</a:t>
            </a:r>
            <a:r>
              <a:rPr lang="en-US" altLang="ko-KR" sz="1000" dirty="0">
                <a:solidFill>
                  <a:schemeClr val="tx2"/>
                </a:solidFill>
              </a:rPr>
              <a:t>. </a:t>
            </a:r>
            <a:r>
              <a:rPr lang="ko-KR" altLang="en-US" sz="1000" dirty="0">
                <a:solidFill>
                  <a:schemeClr val="tx2"/>
                </a:solidFill>
              </a:rPr>
              <a:t>다만</a:t>
            </a:r>
            <a:r>
              <a:rPr lang="en-US" altLang="ko-KR" sz="1000" dirty="0">
                <a:solidFill>
                  <a:schemeClr val="tx2"/>
                </a:solidFill>
              </a:rPr>
              <a:t>, </a:t>
            </a:r>
            <a:r>
              <a:rPr lang="ko-KR" altLang="en-US" sz="1000" dirty="0">
                <a:solidFill>
                  <a:schemeClr val="tx2"/>
                </a:solidFill>
              </a:rPr>
              <a:t>제</a:t>
            </a:r>
            <a:r>
              <a:rPr lang="en-US" altLang="ko-KR" sz="1000" dirty="0">
                <a:solidFill>
                  <a:schemeClr val="tx2"/>
                </a:solidFill>
              </a:rPr>
              <a:t>79</a:t>
            </a:r>
            <a:r>
              <a:rPr lang="ko-KR" altLang="en-US" sz="1000" dirty="0">
                <a:solidFill>
                  <a:schemeClr val="tx2"/>
                </a:solidFill>
              </a:rPr>
              <a:t>조에 따른 설정등록을 받으려는 날이 </a:t>
            </a:r>
            <a:r>
              <a:rPr lang="en-US" altLang="ko-KR" sz="1000" dirty="0">
                <a:solidFill>
                  <a:schemeClr val="tx2"/>
                </a:solidFill>
              </a:rPr>
              <a:t>3</a:t>
            </a:r>
            <a:r>
              <a:rPr lang="ko-KR" altLang="en-US" sz="1000" dirty="0">
                <a:solidFill>
                  <a:schemeClr val="tx2"/>
                </a:solidFill>
              </a:rPr>
              <a:t>개월보다 짧은 경우에는 그 날까지의 기간</a:t>
            </a:r>
          </a:p>
          <a:p>
            <a:pPr fontAlgn="base"/>
            <a:r>
              <a:rPr lang="ko-KR" altLang="en-US" sz="1000" dirty="0">
                <a:solidFill>
                  <a:schemeClr val="tx2"/>
                </a:solidFill>
              </a:rPr>
              <a:t>② 제</a:t>
            </a:r>
            <a:r>
              <a:rPr lang="en-US" altLang="ko-KR" sz="1000" dirty="0">
                <a:solidFill>
                  <a:schemeClr val="tx2"/>
                </a:solidFill>
              </a:rPr>
              <a:t>1</a:t>
            </a:r>
            <a:r>
              <a:rPr lang="ko-KR" altLang="en-US" sz="1000" dirty="0">
                <a:solidFill>
                  <a:schemeClr val="tx2"/>
                </a:solidFill>
              </a:rPr>
              <a:t>항에 따라 분할된 특허출원</a:t>
            </a:r>
            <a:r>
              <a:rPr lang="en-US" altLang="ko-KR" sz="1000" dirty="0">
                <a:solidFill>
                  <a:schemeClr val="tx2"/>
                </a:solidFill>
              </a:rPr>
              <a:t>(</a:t>
            </a:r>
            <a:r>
              <a:rPr lang="ko-KR" altLang="en-US" sz="1000" dirty="0">
                <a:solidFill>
                  <a:schemeClr val="tx2"/>
                </a:solidFill>
              </a:rPr>
              <a:t>이하 “</a:t>
            </a:r>
            <a:r>
              <a:rPr lang="ko-KR" altLang="en-US" sz="1000" dirty="0" err="1">
                <a:solidFill>
                  <a:schemeClr val="tx2"/>
                </a:solidFill>
              </a:rPr>
              <a:t>분할출원”이라</a:t>
            </a:r>
            <a:r>
              <a:rPr lang="ko-KR" altLang="en-US" sz="1000" dirty="0">
                <a:solidFill>
                  <a:schemeClr val="tx2"/>
                </a:solidFill>
              </a:rPr>
              <a:t> 한다</a:t>
            </a:r>
            <a:r>
              <a:rPr lang="en-US" altLang="ko-KR" sz="1000" dirty="0">
                <a:solidFill>
                  <a:schemeClr val="tx2"/>
                </a:solidFill>
              </a:rPr>
              <a:t>)</a:t>
            </a:r>
            <a:r>
              <a:rPr lang="ko-KR" altLang="en-US" sz="1000" dirty="0">
                <a:solidFill>
                  <a:schemeClr val="tx2"/>
                </a:solidFill>
              </a:rPr>
              <a:t>이 있는 경우 그 분할출원은 </a:t>
            </a:r>
            <a:r>
              <a:rPr lang="ko-KR" altLang="en-US" sz="1000" dirty="0" err="1">
                <a:solidFill>
                  <a:schemeClr val="tx2"/>
                </a:solidFill>
              </a:rPr>
              <a:t>특허출원한</a:t>
            </a:r>
            <a:r>
              <a:rPr lang="ko-KR" altLang="en-US" sz="1000" dirty="0">
                <a:solidFill>
                  <a:schemeClr val="tx2"/>
                </a:solidFill>
              </a:rPr>
              <a:t> 때에 출원한 것으로 본다</a:t>
            </a:r>
            <a:r>
              <a:rPr lang="en-US" altLang="ko-KR" sz="1000" dirty="0">
                <a:solidFill>
                  <a:schemeClr val="tx2"/>
                </a:solidFill>
              </a:rPr>
              <a:t>. </a:t>
            </a:r>
            <a:r>
              <a:rPr lang="ko-KR" altLang="en-US" sz="1000" dirty="0">
                <a:solidFill>
                  <a:schemeClr val="tx2"/>
                </a:solidFill>
              </a:rPr>
              <a:t>다만</a:t>
            </a:r>
            <a:r>
              <a:rPr lang="en-US" altLang="ko-KR" sz="1000" dirty="0">
                <a:solidFill>
                  <a:schemeClr val="tx2"/>
                </a:solidFill>
              </a:rPr>
              <a:t>, </a:t>
            </a:r>
            <a:r>
              <a:rPr lang="ko-KR" altLang="en-US" sz="1000" dirty="0">
                <a:solidFill>
                  <a:schemeClr val="tx2"/>
                </a:solidFill>
              </a:rPr>
              <a:t>그 분할출원에 대하여 다음 각 호의 규정을 적용할 경우에는 해당 분할출원을 한 때에 출원한 것으로 본다</a:t>
            </a:r>
            <a:r>
              <a:rPr lang="en-US" altLang="ko-KR" sz="1000" dirty="0">
                <a:solidFill>
                  <a:schemeClr val="tx2"/>
                </a:solidFill>
              </a:rPr>
              <a:t>.</a:t>
            </a:r>
          </a:p>
          <a:p>
            <a:pPr fontAlgn="base"/>
            <a:r>
              <a:rPr lang="en-US" altLang="ko-KR" sz="1000" dirty="0">
                <a:solidFill>
                  <a:schemeClr val="tx2"/>
                </a:solidFill>
              </a:rPr>
              <a:t>  1. </a:t>
            </a:r>
            <a:r>
              <a:rPr lang="ko-KR" altLang="en-US" sz="1000" dirty="0">
                <a:solidFill>
                  <a:schemeClr val="tx2"/>
                </a:solidFill>
              </a:rPr>
              <a:t>분할출원이 제</a:t>
            </a:r>
            <a:r>
              <a:rPr lang="en-US" altLang="ko-KR" sz="1000" dirty="0">
                <a:solidFill>
                  <a:schemeClr val="tx2"/>
                </a:solidFill>
              </a:rPr>
              <a:t>29</a:t>
            </a:r>
            <a:r>
              <a:rPr lang="ko-KR" altLang="en-US" sz="1000" dirty="0">
                <a:solidFill>
                  <a:schemeClr val="tx2"/>
                </a:solidFill>
              </a:rPr>
              <a:t>조제</a:t>
            </a:r>
            <a:r>
              <a:rPr lang="en-US" altLang="ko-KR" sz="1000" dirty="0">
                <a:solidFill>
                  <a:schemeClr val="tx2"/>
                </a:solidFill>
              </a:rPr>
              <a:t>3</a:t>
            </a:r>
            <a:r>
              <a:rPr lang="ko-KR" altLang="en-US" sz="1000" dirty="0">
                <a:solidFill>
                  <a:schemeClr val="tx2"/>
                </a:solidFill>
              </a:rPr>
              <a:t>항에 따른 다른 특허출원 또는 「실용신안법」 제</a:t>
            </a:r>
            <a:r>
              <a:rPr lang="en-US" altLang="ko-KR" sz="1000" dirty="0">
                <a:solidFill>
                  <a:schemeClr val="tx2"/>
                </a:solidFill>
              </a:rPr>
              <a:t>4</a:t>
            </a:r>
            <a:r>
              <a:rPr lang="ko-KR" altLang="en-US" sz="1000" dirty="0">
                <a:solidFill>
                  <a:schemeClr val="tx2"/>
                </a:solidFill>
              </a:rPr>
              <a:t>조제</a:t>
            </a:r>
            <a:r>
              <a:rPr lang="en-US" altLang="ko-KR" sz="1000" dirty="0">
                <a:solidFill>
                  <a:schemeClr val="tx2"/>
                </a:solidFill>
              </a:rPr>
              <a:t>4</a:t>
            </a:r>
            <a:r>
              <a:rPr lang="ko-KR" altLang="en-US" sz="1000" dirty="0">
                <a:solidFill>
                  <a:schemeClr val="tx2"/>
                </a:solidFill>
              </a:rPr>
              <a:t>항에 따른 특허출원에 해당하여 이 법 제</a:t>
            </a:r>
            <a:r>
              <a:rPr lang="en-US" altLang="ko-KR" sz="1000" dirty="0">
                <a:solidFill>
                  <a:schemeClr val="tx2"/>
                </a:solidFill>
              </a:rPr>
              <a:t>29</a:t>
            </a:r>
            <a:r>
              <a:rPr lang="ko-KR" altLang="en-US" sz="1000" dirty="0">
                <a:solidFill>
                  <a:schemeClr val="tx2"/>
                </a:solidFill>
              </a:rPr>
              <a:t>조제</a:t>
            </a:r>
            <a:r>
              <a:rPr lang="en-US" altLang="ko-KR" sz="1000" dirty="0">
                <a:solidFill>
                  <a:schemeClr val="tx2"/>
                </a:solidFill>
              </a:rPr>
              <a:t>3</a:t>
            </a:r>
            <a:r>
              <a:rPr lang="ko-KR" altLang="en-US" sz="1000" dirty="0">
                <a:solidFill>
                  <a:schemeClr val="tx2"/>
                </a:solidFill>
              </a:rPr>
              <a:t>항 또는 「실용신안법」 제</a:t>
            </a:r>
            <a:r>
              <a:rPr lang="en-US" altLang="ko-KR" sz="1000" dirty="0">
                <a:solidFill>
                  <a:schemeClr val="tx2"/>
                </a:solidFill>
              </a:rPr>
              <a:t>4</a:t>
            </a:r>
            <a:r>
              <a:rPr lang="ko-KR" altLang="en-US" sz="1000" dirty="0">
                <a:solidFill>
                  <a:schemeClr val="tx2"/>
                </a:solidFill>
              </a:rPr>
              <a:t>조제</a:t>
            </a:r>
            <a:r>
              <a:rPr lang="en-US" altLang="ko-KR" sz="1000" dirty="0">
                <a:solidFill>
                  <a:schemeClr val="tx2"/>
                </a:solidFill>
              </a:rPr>
              <a:t>4</a:t>
            </a:r>
            <a:r>
              <a:rPr lang="ko-KR" altLang="en-US" sz="1000" dirty="0">
                <a:solidFill>
                  <a:schemeClr val="tx2"/>
                </a:solidFill>
              </a:rPr>
              <a:t>항을 적용하는 경우</a:t>
            </a:r>
          </a:p>
          <a:p>
            <a:pPr fontAlgn="base"/>
            <a:r>
              <a:rPr lang="ko-KR" altLang="en-US" sz="1000" dirty="0">
                <a:solidFill>
                  <a:schemeClr val="tx2"/>
                </a:solidFill>
              </a:rPr>
              <a:t>  </a:t>
            </a:r>
            <a:r>
              <a:rPr lang="en-US" altLang="ko-KR" sz="1000" dirty="0">
                <a:solidFill>
                  <a:schemeClr val="tx2"/>
                </a:solidFill>
              </a:rPr>
              <a:t>2. </a:t>
            </a:r>
            <a:r>
              <a:rPr lang="ko-KR" altLang="en-US" sz="1000" dirty="0">
                <a:solidFill>
                  <a:schemeClr val="tx2"/>
                </a:solidFill>
              </a:rPr>
              <a:t>제</a:t>
            </a:r>
            <a:r>
              <a:rPr lang="en-US" altLang="ko-KR" sz="1000" dirty="0">
                <a:solidFill>
                  <a:schemeClr val="tx2"/>
                </a:solidFill>
              </a:rPr>
              <a:t>30</a:t>
            </a:r>
            <a:r>
              <a:rPr lang="ko-KR" altLang="en-US" sz="1000" dirty="0">
                <a:solidFill>
                  <a:schemeClr val="tx2"/>
                </a:solidFill>
              </a:rPr>
              <a:t>조제</a:t>
            </a:r>
            <a:r>
              <a:rPr lang="en-US" altLang="ko-KR" sz="1000" dirty="0">
                <a:solidFill>
                  <a:schemeClr val="tx2"/>
                </a:solidFill>
              </a:rPr>
              <a:t>2</a:t>
            </a:r>
            <a:r>
              <a:rPr lang="ko-KR" altLang="en-US" sz="1000" dirty="0">
                <a:solidFill>
                  <a:schemeClr val="tx2"/>
                </a:solidFill>
              </a:rPr>
              <a:t>항을 적용하는 경우</a:t>
            </a:r>
          </a:p>
          <a:p>
            <a:pPr fontAlgn="base"/>
            <a:r>
              <a:rPr lang="ko-KR" altLang="en-US" sz="1000" dirty="0">
                <a:solidFill>
                  <a:schemeClr val="tx2"/>
                </a:solidFill>
              </a:rPr>
              <a:t>  </a:t>
            </a:r>
            <a:r>
              <a:rPr lang="en-US" altLang="ko-KR" sz="1000" dirty="0">
                <a:solidFill>
                  <a:schemeClr val="tx2"/>
                </a:solidFill>
              </a:rPr>
              <a:t>3. </a:t>
            </a:r>
            <a:r>
              <a:rPr lang="ko-KR" altLang="en-US" sz="1000" dirty="0">
                <a:solidFill>
                  <a:schemeClr val="tx2"/>
                </a:solidFill>
              </a:rPr>
              <a:t>제</a:t>
            </a:r>
            <a:r>
              <a:rPr lang="en-US" altLang="ko-KR" sz="1000" dirty="0">
                <a:solidFill>
                  <a:schemeClr val="tx2"/>
                </a:solidFill>
              </a:rPr>
              <a:t>54</a:t>
            </a:r>
            <a:r>
              <a:rPr lang="ko-KR" altLang="en-US" sz="1000" dirty="0">
                <a:solidFill>
                  <a:schemeClr val="tx2"/>
                </a:solidFill>
              </a:rPr>
              <a:t>조제</a:t>
            </a:r>
            <a:r>
              <a:rPr lang="en-US" altLang="ko-KR" sz="1000" dirty="0">
                <a:solidFill>
                  <a:schemeClr val="tx2"/>
                </a:solidFill>
              </a:rPr>
              <a:t>3</a:t>
            </a:r>
            <a:r>
              <a:rPr lang="ko-KR" altLang="en-US" sz="1000" dirty="0">
                <a:solidFill>
                  <a:schemeClr val="tx2"/>
                </a:solidFill>
              </a:rPr>
              <a:t>항을 적용하는 경우</a:t>
            </a:r>
          </a:p>
          <a:p>
            <a:pPr fontAlgn="base"/>
            <a:r>
              <a:rPr lang="ko-KR" altLang="en-US" sz="1000" dirty="0">
                <a:solidFill>
                  <a:schemeClr val="tx2"/>
                </a:solidFill>
              </a:rPr>
              <a:t>  </a:t>
            </a:r>
            <a:r>
              <a:rPr lang="en-US" altLang="ko-KR" sz="1000" dirty="0">
                <a:solidFill>
                  <a:schemeClr val="tx2"/>
                </a:solidFill>
              </a:rPr>
              <a:t>4. </a:t>
            </a:r>
            <a:r>
              <a:rPr lang="ko-KR" altLang="en-US" sz="1000" dirty="0">
                <a:solidFill>
                  <a:schemeClr val="tx2"/>
                </a:solidFill>
              </a:rPr>
              <a:t>제</a:t>
            </a:r>
            <a:r>
              <a:rPr lang="en-US" altLang="ko-KR" sz="1000" dirty="0">
                <a:solidFill>
                  <a:schemeClr val="tx2"/>
                </a:solidFill>
              </a:rPr>
              <a:t>55</a:t>
            </a:r>
            <a:r>
              <a:rPr lang="ko-KR" altLang="en-US" sz="1000" dirty="0">
                <a:solidFill>
                  <a:schemeClr val="tx2"/>
                </a:solidFill>
              </a:rPr>
              <a:t>조제</a:t>
            </a:r>
            <a:r>
              <a:rPr lang="en-US" altLang="ko-KR" sz="1000" dirty="0">
                <a:solidFill>
                  <a:schemeClr val="tx2"/>
                </a:solidFill>
              </a:rPr>
              <a:t>2</a:t>
            </a:r>
            <a:r>
              <a:rPr lang="ko-KR" altLang="en-US" sz="1000" dirty="0">
                <a:solidFill>
                  <a:schemeClr val="tx2"/>
                </a:solidFill>
              </a:rPr>
              <a:t>항을 적용하는 경우</a:t>
            </a:r>
          </a:p>
          <a:p>
            <a:pPr fontAlgn="base"/>
            <a:r>
              <a:rPr lang="ko-KR" altLang="en-US" sz="1000" dirty="0">
                <a:solidFill>
                  <a:schemeClr val="tx2"/>
                </a:solidFill>
              </a:rPr>
              <a:t>③ 제</a:t>
            </a:r>
            <a:r>
              <a:rPr lang="en-US" altLang="ko-KR" sz="1000" dirty="0">
                <a:solidFill>
                  <a:schemeClr val="tx2"/>
                </a:solidFill>
              </a:rPr>
              <a:t>1</a:t>
            </a:r>
            <a:r>
              <a:rPr lang="ko-KR" altLang="en-US" sz="1000" dirty="0">
                <a:solidFill>
                  <a:schemeClr val="tx2"/>
                </a:solidFill>
              </a:rPr>
              <a:t>항에 따라 분할출원을 하려는 자는 분할출원을 할 때에 </a:t>
            </a:r>
            <a:r>
              <a:rPr lang="ko-KR" altLang="en-US" sz="1000" dirty="0" err="1">
                <a:solidFill>
                  <a:schemeClr val="tx2"/>
                </a:solidFill>
              </a:rPr>
              <a:t>특허출원서에</a:t>
            </a:r>
            <a:r>
              <a:rPr lang="ko-KR" altLang="en-US" sz="1000" dirty="0">
                <a:solidFill>
                  <a:schemeClr val="tx2"/>
                </a:solidFill>
              </a:rPr>
              <a:t> 그 취지 및 분할의 기초가 된 특허출원의 표시를 하여야 한다</a:t>
            </a:r>
            <a:r>
              <a:rPr lang="en-US" altLang="ko-KR" sz="1000" dirty="0">
                <a:solidFill>
                  <a:schemeClr val="tx2"/>
                </a:solidFill>
              </a:rPr>
              <a:t>.</a:t>
            </a:r>
          </a:p>
          <a:p>
            <a:pPr fontAlgn="base"/>
            <a:endParaRPr lang="en-US" altLang="ko-KR" sz="1000" dirty="0">
              <a:solidFill>
                <a:schemeClr val="tx2"/>
              </a:solidFill>
            </a:endParaRPr>
          </a:p>
          <a:p>
            <a:pPr fontAlgn="base"/>
            <a:endParaRPr lang="en-US" altLang="ko-KR" sz="1000" dirty="0">
              <a:solidFill>
                <a:schemeClr val="tx2"/>
              </a:solidFill>
            </a:endParaRPr>
          </a:p>
          <a:p>
            <a:pPr fontAlgn="base"/>
            <a:endParaRPr lang="en-US" altLang="ko-KR" sz="1000" dirty="0">
              <a:solidFill>
                <a:schemeClr val="tx2"/>
              </a:solidFill>
            </a:endParaRPr>
          </a:p>
          <a:p>
            <a:pPr fontAlgn="base"/>
            <a:r>
              <a:rPr lang="en-US" altLang="ko-KR" sz="1000" dirty="0">
                <a:solidFill>
                  <a:schemeClr val="tx2"/>
                </a:solidFill>
              </a:rPr>
              <a:t>④ </a:t>
            </a:r>
            <a:r>
              <a:rPr lang="ko-KR" altLang="en-US" sz="1000" dirty="0">
                <a:solidFill>
                  <a:schemeClr val="tx2"/>
                </a:solidFill>
              </a:rPr>
              <a:t>분할의 기초가 된 특허출원이 제</a:t>
            </a:r>
            <a:r>
              <a:rPr lang="en-US" altLang="ko-KR" sz="1000" dirty="0">
                <a:solidFill>
                  <a:schemeClr val="tx2"/>
                </a:solidFill>
              </a:rPr>
              <a:t>54</a:t>
            </a:r>
            <a:r>
              <a:rPr lang="ko-KR" altLang="en-US" sz="1000" dirty="0">
                <a:solidFill>
                  <a:schemeClr val="tx2"/>
                </a:solidFill>
              </a:rPr>
              <a:t>조 또는 제</a:t>
            </a:r>
            <a:r>
              <a:rPr lang="en-US" altLang="ko-KR" sz="1000" dirty="0">
                <a:solidFill>
                  <a:schemeClr val="tx2"/>
                </a:solidFill>
              </a:rPr>
              <a:t>55</a:t>
            </a:r>
            <a:r>
              <a:rPr lang="ko-KR" altLang="en-US" sz="1000" dirty="0">
                <a:solidFill>
                  <a:schemeClr val="tx2"/>
                </a:solidFill>
              </a:rPr>
              <a:t>조에 따라 우선권을 주장한 특허출원인 경우에는 제</a:t>
            </a:r>
            <a:r>
              <a:rPr lang="en-US" altLang="ko-KR" sz="1000" dirty="0">
                <a:solidFill>
                  <a:schemeClr val="tx2"/>
                </a:solidFill>
              </a:rPr>
              <a:t>1</a:t>
            </a:r>
            <a:r>
              <a:rPr lang="ko-KR" altLang="en-US" sz="1000" dirty="0">
                <a:solidFill>
                  <a:schemeClr val="tx2"/>
                </a:solidFill>
              </a:rPr>
              <a:t>항에 따라 분할출원을 한 때에 그 분할출원에 대해서도 우선권 주장을 한 것으로 보며</a:t>
            </a:r>
            <a:r>
              <a:rPr lang="en-US" altLang="ko-KR" sz="1000" dirty="0">
                <a:solidFill>
                  <a:schemeClr val="tx2"/>
                </a:solidFill>
              </a:rPr>
              <a:t>, </a:t>
            </a:r>
            <a:r>
              <a:rPr lang="ko-KR" altLang="en-US" sz="1000" dirty="0">
                <a:solidFill>
                  <a:schemeClr val="tx2"/>
                </a:solidFill>
              </a:rPr>
              <a:t>분할의 기초가 된 특허출원에 대하여 제</a:t>
            </a:r>
            <a:r>
              <a:rPr lang="en-US" altLang="ko-KR" sz="1000" dirty="0">
                <a:solidFill>
                  <a:schemeClr val="tx2"/>
                </a:solidFill>
              </a:rPr>
              <a:t>54</a:t>
            </a:r>
            <a:r>
              <a:rPr lang="ko-KR" altLang="en-US" sz="1000" dirty="0">
                <a:solidFill>
                  <a:schemeClr val="tx2"/>
                </a:solidFill>
              </a:rPr>
              <a:t>조제</a:t>
            </a:r>
            <a:r>
              <a:rPr lang="en-US" altLang="ko-KR" sz="1000" dirty="0">
                <a:solidFill>
                  <a:schemeClr val="tx2"/>
                </a:solidFill>
              </a:rPr>
              <a:t>4</a:t>
            </a:r>
            <a:r>
              <a:rPr lang="ko-KR" altLang="en-US" sz="1000" dirty="0">
                <a:solidFill>
                  <a:schemeClr val="tx2"/>
                </a:solidFill>
              </a:rPr>
              <a:t>항에 따라 제출된 서류 또는 서면이 있는 경우에는 분할출원에 대해서도 해당 서류 또는 서면이 제출된 것으로 본다</a:t>
            </a:r>
            <a:r>
              <a:rPr lang="en-US" altLang="ko-KR" sz="1000" dirty="0">
                <a:solidFill>
                  <a:schemeClr val="tx2"/>
                </a:solidFill>
              </a:rPr>
              <a:t>.</a:t>
            </a:r>
          </a:p>
          <a:p>
            <a:pPr fontAlgn="base"/>
            <a:r>
              <a:rPr lang="en-US" altLang="ko-KR" sz="1000" dirty="0">
                <a:solidFill>
                  <a:schemeClr val="tx2"/>
                </a:solidFill>
              </a:rPr>
              <a:t>⑤ </a:t>
            </a:r>
            <a:r>
              <a:rPr lang="ko-KR" altLang="en-US" sz="1000" dirty="0">
                <a:solidFill>
                  <a:schemeClr val="tx2"/>
                </a:solidFill>
              </a:rPr>
              <a:t>제</a:t>
            </a:r>
            <a:r>
              <a:rPr lang="en-US" altLang="ko-KR" sz="1000" dirty="0">
                <a:solidFill>
                  <a:schemeClr val="tx2"/>
                </a:solidFill>
              </a:rPr>
              <a:t>4</a:t>
            </a:r>
            <a:r>
              <a:rPr lang="ko-KR" altLang="en-US" sz="1000" dirty="0">
                <a:solidFill>
                  <a:schemeClr val="tx2"/>
                </a:solidFill>
              </a:rPr>
              <a:t>항에 따라 우선권을 주장한 것으로 보는 분할출원에 관하여는 제</a:t>
            </a:r>
            <a:r>
              <a:rPr lang="en-US" altLang="ko-KR" sz="1000" dirty="0">
                <a:solidFill>
                  <a:schemeClr val="tx2"/>
                </a:solidFill>
              </a:rPr>
              <a:t>54</a:t>
            </a:r>
            <a:r>
              <a:rPr lang="ko-KR" altLang="en-US" sz="1000" dirty="0">
                <a:solidFill>
                  <a:schemeClr val="tx2"/>
                </a:solidFill>
              </a:rPr>
              <a:t>조제</a:t>
            </a:r>
            <a:r>
              <a:rPr lang="en-US" altLang="ko-KR" sz="1000" dirty="0">
                <a:solidFill>
                  <a:schemeClr val="tx2"/>
                </a:solidFill>
              </a:rPr>
              <a:t>7</a:t>
            </a:r>
            <a:r>
              <a:rPr lang="ko-KR" altLang="en-US" sz="1000" dirty="0">
                <a:solidFill>
                  <a:schemeClr val="tx2"/>
                </a:solidFill>
              </a:rPr>
              <a:t>항 또는 제</a:t>
            </a:r>
            <a:r>
              <a:rPr lang="en-US" altLang="ko-KR" sz="1000" dirty="0">
                <a:solidFill>
                  <a:schemeClr val="tx2"/>
                </a:solidFill>
              </a:rPr>
              <a:t>55</a:t>
            </a:r>
            <a:r>
              <a:rPr lang="ko-KR" altLang="en-US" sz="1000" dirty="0">
                <a:solidFill>
                  <a:schemeClr val="tx2"/>
                </a:solidFill>
              </a:rPr>
              <a:t>조제</a:t>
            </a:r>
            <a:r>
              <a:rPr lang="en-US" altLang="ko-KR" sz="1000" dirty="0">
                <a:solidFill>
                  <a:schemeClr val="tx2"/>
                </a:solidFill>
              </a:rPr>
              <a:t>7</a:t>
            </a:r>
            <a:r>
              <a:rPr lang="ko-KR" altLang="en-US" sz="1000" dirty="0">
                <a:solidFill>
                  <a:schemeClr val="tx2"/>
                </a:solidFill>
              </a:rPr>
              <a:t>항에 따른 기한이 지난 후에도 분할출원을 한 날부터 </a:t>
            </a:r>
            <a:r>
              <a:rPr lang="en-US" altLang="ko-KR" sz="1000" dirty="0">
                <a:solidFill>
                  <a:schemeClr val="tx2"/>
                </a:solidFill>
              </a:rPr>
              <a:t>30</a:t>
            </a:r>
            <a:r>
              <a:rPr lang="ko-KR" altLang="en-US" sz="1000" dirty="0">
                <a:solidFill>
                  <a:schemeClr val="tx2"/>
                </a:solidFill>
              </a:rPr>
              <a:t>일 이내에 그 우선권 주장의 전부 또는 일부를 취하할 수 있다</a:t>
            </a:r>
            <a:endParaRPr lang="en-US" altLang="ko-KR" sz="1000" dirty="0">
              <a:solidFill>
                <a:schemeClr val="tx2"/>
              </a:solidFill>
            </a:endParaRPr>
          </a:p>
          <a:p>
            <a:pPr fontAlgn="base"/>
            <a:endParaRPr lang="en-US" altLang="ko-KR" sz="1000" dirty="0">
              <a:solidFill>
                <a:schemeClr val="tx2"/>
              </a:solidFill>
            </a:endParaRPr>
          </a:p>
          <a:p>
            <a:pPr fontAlgn="base"/>
            <a:r>
              <a:rPr lang="en-US" altLang="ko-KR" sz="1000" dirty="0">
                <a:solidFill>
                  <a:schemeClr val="tx2"/>
                </a:solidFill>
              </a:rPr>
              <a:t>⑥ </a:t>
            </a:r>
            <a:r>
              <a:rPr lang="ko-KR" altLang="en-US" sz="1000" dirty="0">
                <a:solidFill>
                  <a:schemeClr val="tx2"/>
                </a:solidFill>
              </a:rPr>
              <a:t>분할출원의 경우에 제</a:t>
            </a:r>
            <a:r>
              <a:rPr lang="en-US" altLang="ko-KR" sz="1000" dirty="0">
                <a:solidFill>
                  <a:schemeClr val="tx2"/>
                </a:solidFill>
              </a:rPr>
              <a:t>54</a:t>
            </a:r>
            <a:r>
              <a:rPr lang="ko-KR" altLang="en-US" sz="1000" dirty="0">
                <a:solidFill>
                  <a:schemeClr val="tx2"/>
                </a:solidFill>
              </a:rPr>
              <a:t>조에 따른 우선권을 주장하는 자는 같은 조 제</a:t>
            </a:r>
            <a:r>
              <a:rPr lang="en-US" altLang="ko-KR" sz="1000" dirty="0">
                <a:solidFill>
                  <a:schemeClr val="tx2"/>
                </a:solidFill>
              </a:rPr>
              <a:t>4</a:t>
            </a:r>
            <a:r>
              <a:rPr lang="ko-KR" altLang="en-US" sz="1000" dirty="0">
                <a:solidFill>
                  <a:schemeClr val="tx2"/>
                </a:solidFill>
              </a:rPr>
              <a:t>항에 따른 서류를 같은 조 제</a:t>
            </a:r>
            <a:r>
              <a:rPr lang="en-US" altLang="ko-KR" sz="1000" dirty="0">
                <a:solidFill>
                  <a:schemeClr val="tx2"/>
                </a:solidFill>
              </a:rPr>
              <a:t>5</a:t>
            </a:r>
            <a:r>
              <a:rPr lang="ko-KR" altLang="en-US" sz="1000" dirty="0">
                <a:solidFill>
                  <a:schemeClr val="tx2"/>
                </a:solidFill>
              </a:rPr>
              <a:t>항에 따른 기간이 지난 후에도 분할출원을 한 날부터 </a:t>
            </a:r>
            <a:r>
              <a:rPr lang="en-US" altLang="ko-KR" sz="1000" dirty="0">
                <a:solidFill>
                  <a:schemeClr val="tx2"/>
                </a:solidFill>
              </a:rPr>
              <a:t>3</a:t>
            </a:r>
            <a:r>
              <a:rPr lang="ko-KR" altLang="en-US" sz="1000" dirty="0">
                <a:solidFill>
                  <a:schemeClr val="tx2"/>
                </a:solidFill>
              </a:rPr>
              <a:t>개월 이내에 지식재산처장에게 제출할 수 있다</a:t>
            </a:r>
            <a:endParaRPr lang="en-US" altLang="ko-KR" sz="1000" dirty="0">
              <a:solidFill>
                <a:schemeClr val="tx2"/>
              </a:solidFill>
            </a:endParaRPr>
          </a:p>
          <a:p>
            <a:pPr fontAlgn="base"/>
            <a:r>
              <a:rPr lang="en-US" altLang="ko-KR" sz="1000" dirty="0">
                <a:solidFill>
                  <a:schemeClr val="tx2"/>
                </a:solidFill>
              </a:rPr>
              <a:t>⑦ </a:t>
            </a:r>
            <a:r>
              <a:rPr lang="ko-KR" altLang="en-US" sz="1000" dirty="0">
                <a:solidFill>
                  <a:schemeClr val="tx2"/>
                </a:solidFill>
              </a:rPr>
              <a:t>분할출원이 </a:t>
            </a:r>
            <a:r>
              <a:rPr lang="ko-KR" altLang="en-US" sz="1000" dirty="0" err="1">
                <a:solidFill>
                  <a:schemeClr val="tx2"/>
                </a:solidFill>
              </a:rPr>
              <a:t>외국어특허출원인</a:t>
            </a:r>
            <a:r>
              <a:rPr lang="ko-KR" altLang="en-US" sz="1000" dirty="0">
                <a:solidFill>
                  <a:schemeClr val="tx2"/>
                </a:solidFill>
              </a:rPr>
              <a:t> 경우에는 </a:t>
            </a:r>
            <a:r>
              <a:rPr lang="ko-KR" altLang="en-US" sz="1000" dirty="0" err="1">
                <a:solidFill>
                  <a:schemeClr val="tx2"/>
                </a:solidFill>
              </a:rPr>
              <a:t>특허출원인은</a:t>
            </a:r>
            <a:r>
              <a:rPr lang="ko-KR" altLang="en-US" sz="1000" dirty="0">
                <a:solidFill>
                  <a:schemeClr val="tx2"/>
                </a:solidFill>
              </a:rPr>
              <a:t> 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3</a:t>
            </a:r>
            <a:r>
              <a:rPr lang="ko-KR" altLang="en-US" sz="1000" dirty="0">
                <a:solidFill>
                  <a:schemeClr val="tx2"/>
                </a:solidFill>
              </a:rPr>
              <a:t>제</a:t>
            </a:r>
            <a:r>
              <a:rPr lang="en-US" altLang="ko-KR" sz="1000" dirty="0">
                <a:solidFill>
                  <a:schemeClr val="tx2"/>
                </a:solidFill>
              </a:rPr>
              <a:t>2</a:t>
            </a:r>
            <a:r>
              <a:rPr lang="ko-KR" altLang="en-US" sz="1000" dirty="0">
                <a:solidFill>
                  <a:schemeClr val="tx2"/>
                </a:solidFill>
              </a:rPr>
              <a:t>항에 따른 국어번역문 또는 같은 조 제</a:t>
            </a:r>
            <a:r>
              <a:rPr lang="en-US" altLang="ko-KR" sz="1000" dirty="0">
                <a:solidFill>
                  <a:schemeClr val="tx2"/>
                </a:solidFill>
              </a:rPr>
              <a:t>3</a:t>
            </a:r>
            <a:r>
              <a:rPr lang="ko-KR" altLang="en-US" sz="1000" dirty="0">
                <a:solidFill>
                  <a:schemeClr val="tx2"/>
                </a:solidFill>
              </a:rPr>
              <a:t>항 본문에 따른 새로운 국어번역문을 같은 조 제</a:t>
            </a:r>
            <a:r>
              <a:rPr lang="en-US" altLang="ko-KR" sz="1000" dirty="0">
                <a:solidFill>
                  <a:schemeClr val="tx2"/>
                </a:solidFill>
              </a:rPr>
              <a:t>2</a:t>
            </a:r>
            <a:r>
              <a:rPr lang="ko-KR" altLang="en-US" sz="1000" dirty="0">
                <a:solidFill>
                  <a:schemeClr val="tx2"/>
                </a:solidFill>
              </a:rPr>
              <a:t>항에 따른 기한이 지난 후에도 분할출원을 한 날부터 </a:t>
            </a:r>
            <a:r>
              <a:rPr lang="en-US" altLang="ko-KR" sz="1000" dirty="0">
                <a:solidFill>
                  <a:schemeClr val="tx2"/>
                </a:solidFill>
              </a:rPr>
              <a:t>30</a:t>
            </a:r>
            <a:r>
              <a:rPr lang="ko-KR" altLang="en-US" sz="1000" dirty="0">
                <a:solidFill>
                  <a:schemeClr val="tx2"/>
                </a:solidFill>
              </a:rPr>
              <a:t>일이 되는 날까지는 제출할 수 있다</a:t>
            </a:r>
            <a:r>
              <a:rPr lang="en-US" altLang="ko-KR" sz="1000" dirty="0">
                <a:solidFill>
                  <a:schemeClr val="tx2"/>
                </a:solidFill>
              </a:rPr>
              <a:t>. </a:t>
            </a:r>
            <a:r>
              <a:rPr lang="ko-KR" altLang="en-US" sz="1000" dirty="0">
                <a:solidFill>
                  <a:schemeClr val="tx2"/>
                </a:solidFill>
              </a:rPr>
              <a:t>다만</a:t>
            </a:r>
            <a:r>
              <a:rPr lang="en-US" altLang="ko-KR" sz="1000" dirty="0">
                <a:solidFill>
                  <a:schemeClr val="tx2"/>
                </a:solidFill>
              </a:rPr>
              <a:t>, </a:t>
            </a:r>
            <a:r>
              <a:rPr lang="ko-KR" altLang="en-US" sz="1000" dirty="0">
                <a:solidFill>
                  <a:schemeClr val="tx2"/>
                </a:solidFill>
              </a:rPr>
              <a:t>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3</a:t>
            </a:r>
            <a:r>
              <a:rPr lang="ko-KR" altLang="en-US" sz="1000" dirty="0">
                <a:solidFill>
                  <a:schemeClr val="tx2"/>
                </a:solidFill>
              </a:rPr>
              <a:t>제</a:t>
            </a:r>
            <a:r>
              <a:rPr lang="en-US" altLang="ko-KR" sz="1000" dirty="0">
                <a:solidFill>
                  <a:schemeClr val="tx2"/>
                </a:solidFill>
              </a:rPr>
              <a:t>3</a:t>
            </a:r>
            <a:r>
              <a:rPr lang="ko-KR" altLang="en-US" sz="1000" dirty="0">
                <a:solidFill>
                  <a:schemeClr val="tx2"/>
                </a:solidFill>
              </a:rPr>
              <a:t>항 각 호의 어느 하나에 해당하는 경우에는 새로운 국어번역문을 제출할 수 없다</a:t>
            </a:r>
            <a:r>
              <a:rPr lang="en-US" altLang="ko-KR" sz="1000" dirty="0">
                <a:solidFill>
                  <a:schemeClr val="tx2"/>
                </a:solidFill>
              </a:rPr>
              <a:t>. </a:t>
            </a:r>
          </a:p>
          <a:p>
            <a:pPr fontAlgn="base"/>
            <a:r>
              <a:rPr lang="en-US" altLang="ko-KR" sz="1000" dirty="0">
                <a:solidFill>
                  <a:schemeClr val="tx2"/>
                </a:solidFill>
              </a:rPr>
              <a:t>⑧ </a:t>
            </a:r>
            <a:r>
              <a:rPr lang="ko-KR" altLang="en-US" sz="1000" dirty="0" err="1">
                <a:solidFill>
                  <a:schemeClr val="tx2"/>
                </a:solidFill>
              </a:rPr>
              <a:t>특허출원서에</a:t>
            </a:r>
            <a:r>
              <a:rPr lang="ko-KR" altLang="en-US" sz="1000" dirty="0">
                <a:solidFill>
                  <a:schemeClr val="tx2"/>
                </a:solidFill>
              </a:rPr>
              <a:t> 최초로 첨부한 명세서에 청구범위를 적지 아니한 분할출원에 관하여는 제</a:t>
            </a:r>
            <a:r>
              <a:rPr lang="en-US" altLang="ko-KR" sz="1000" dirty="0">
                <a:solidFill>
                  <a:schemeClr val="tx2"/>
                </a:solidFill>
              </a:rPr>
              <a:t>42</a:t>
            </a:r>
            <a:r>
              <a:rPr lang="ko-KR" altLang="en-US" sz="1000" dirty="0">
                <a:solidFill>
                  <a:schemeClr val="tx2"/>
                </a:solidFill>
              </a:rPr>
              <a:t>조의</a:t>
            </a:r>
            <a:r>
              <a:rPr lang="en-US" altLang="ko-KR" sz="1000" dirty="0">
                <a:solidFill>
                  <a:schemeClr val="tx2"/>
                </a:solidFill>
              </a:rPr>
              <a:t>2</a:t>
            </a:r>
            <a:r>
              <a:rPr lang="ko-KR" altLang="en-US" sz="1000" dirty="0">
                <a:solidFill>
                  <a:schemeClr val="tx2"/>
                </a:solidFill>
              </a:rPr>
              <a:t>제</a:t>
            </a:r>
            <a:r>
              <a:rPr lang="en-US" altLang="ko-KR" sz="1000" dirty="0">
                <a:solidFill>
                  <a:schemeClr val="tx2"/>
                </a:solidFill>
              </a:rPr>
              <a:t>2</a:t>
            </a:r>
            <a:r>
              <a:rPr lang="ko-KR" altLang="en-US" sz="1000" dirty="0">
                <a:solidFill>
                  <a:schemeClr val="tx2"/>
                </a:solidFill>
              </a:rPr>
              <a:t>항에 따른 기한이 지난 후에도 분할출원을 한 날부터 </a:t>
            </a:r>
            <a:r>
              <a:rPr lang="en-US" altLang="ko-KR" sz="1000" dirty="0">
                <a:solidFill>
                  <a:schemeClr val="tx2"/>
                </a:solidFill>
              </a:rPr>
              <a:t>30</a:t>
            </a:r>
            <a:r>
              <a:rPr lang="ko-KR" altLang="en-US" sz="1000" dirty="0">
                <a:solidFill>
                  <a:schemeClr val="tx2"/>
                </a:solidFill>
              </a:rPr>
              <a:t>일이 되는 날까지는 명세서에 청구범위를 적는 보정을 할 수 있다</a:t>
            </a:r>
            <a:r>
              <a:rPr lang="en-US" altLang="ko-KR" sz="1000" dirty="0">
                <a:solidFill>
                  <a:schemeClr val="tx2"/>
                </a:solidFill>
              </a:rPr>
              <a:t>. </a:t>
            </a:r>
          </a:p>
        </p:txBody>
      </p:sp>
      <p:sp>
        <p:nvSpPr>
          <p:cNvPr id="6" name="직사각형 5">
            <a:extLst>
              <a:ext uri="{FF2B5EF4-FFF2-40B4-BE49-F238E27FC236}">
                <a16:creationId xmlns:a16="http://schemas.microsoft.com/office/drawing/2014/main" id="{AB2B8130-4D06-469C-8221-82AA6B1433F0}"/>
              </a:ext>
            </a:extLst>
          </p:cNvPr>
          <p:cNvSpPr/>
          <p:nvPr/>
        </p:nvSpPr>
        <p:spPr>
          <a:xfrm>
            <a:off x="77875" y="2562225"/>
            <a:ext cx="5951450" cy="150495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a:extLst>
              <a:ext uri="{FF2B5EF4-FFF2-40B4-BE49-F238E27FC236}">
                <a16:creationId xmlns:a16="http://schemas.microsoft.com/office/drawing/2014/main" id="{03B42EB9-C4CD-4FD6-BC77-A8595F790AFE}"/>
              </a:ext>
            </a:extLst>
          </p:cNvPr>
          <p:cNvSpPr/>
          <p:nvPr/>
        </p:nvSpPr>
        <p:spPr>
          <a:xfrm>
            <a:off x="6169407" y="2554441"/>
            <a:ext cx="5951450" cy="1474634"/>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직사각형 12">
            <a:extLst>
              <a:ext uri="{FF2B5EF4-FFF2-40B4-BE49-F238E27FC236}">
                <a16:creationId xmlns:a16="http://schemas.microsoft.com/office/drawing/2014/main" id="{96CE9141-6ECE-435F-940C-381CB0011D8A}"/>
              </a:ext>
            </a:extLst>
          </p:cNvPr>
          <p:cNvSpPr/>
          <p:nvPr/>
        </p:nvSpPr>
        <p:spPr>
          <a:xfrm>
            <a:off x="77875" y="5572955"/>
            <a:ext cx="5951450" cy="125614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직사각형 13">
            <a:extLst>
              <a:ext uri="{FF2B5EF4-FFF2-40B4-BE49-F238E27FC236}">
                <a16:creationId xmlns:a16="http://schemas.microsoft.com/office/drawing/2014/main" id="{BCB5AD30-90A3-41EB-84ED-6CD89EBAF8D8}"/>
              </a:ext>
            </a:extLst>
          </p:cNvPr>
          <p:cNvSpPr/>
          <p:nvPr/>
        </p:nvSpPr>
        <p:spPr>
          <a:xfrm>
            <a:off x="6183695" y="5572955"/>
            <a:ext cx="5951450" cy="1264477"/>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직사각형 14">
            <a:extLst>
              <a:ext uri="{FF2B5EF4-FFF2-40B4-BE49-F238E27FC236}">
                <a16:creationId xmlns:a16="http://schemas.microsoft.com/office/drawing/2014/main" id="{9E3F7CA3-7AD9-408F-AE5F-4C6006A177BF}"/>
              </a:ext>
            </a:extLst>
          </p:cNvPr>
          <p:cNvSpPr/>
          <p:nvPr/>
        </p:nvSpPr>
        <p:spPr>
          <a:xfrm>
            <a:off x="77875" y="4460902"/>
            <a:ext cx="5951450" cy="996593"/>
          </a:xfrm>
          <a:prstGeom prst="rect">
            <a:avLst/>
          </a:prstGeom>
          <a:no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곱하기 기호 16">
            <a:extLst>
              <a:ext uri="{FF2B5EF4-FFF2-40B4-BE49-F238E27FC236}">
                <a16:creationId xmlns:a16="http://schemas.microsoft.com/office/drawing/2014/main" id="{A761BA72-42D5-49B8-BADF-D3A847F5B404}"/>
              </a:ext>
            </a:extLst>
          </p:cNvPr>
          <p:cNvSpPr/>
          <p:nvPr/>
        </p:nvSpPr>
        <p:spPr>
          <a:xfrm>
            <a:off x="8439149" y="4562147"/>
            <a:ext cx="561975" cy="561975"/>
          </a:xfrm>
          <a:prstGeom prst="mathMultiply">
            <a:avLst>
              <a:gd name="adj1" fmla="val 8266"/>
            </a:avLst>
          </a:prstGeom>
          <a:solidFill>
            <a:schemeClr val="tx2"/>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 name="직선 연결선 17">
            <a:extLst>
              <a:ext uri="{FF2B5EF4-FFF2-40B4-BE49-F238E27FC236}">
                <a16:creationId xmlns:a16="http://schemas.microsoft.com/office/drawing/2014/main" id="{B56B3A97-75A3-43D1-9C22-52C9740A0B73}"/>
              </a:ext>
            </a:extLst>
          </p:cNvPr>
          <p:cNvCxnSpPr>
            <a:cxnSpLocks/>
          </p:cNvCxnSpPr>
          <p:nvPr/>
        </p:nvCxnSpPr>
        <p:spPr>
          <a:xfrm>
            <a:off x="6012611" y="4835497"/>
            <a:ext cx="2540839" cy="0"/>
          </a:xfrm>
          <a:prstGeom prst="line">
            <a:avLst/>
          </a:prstGeom>
          <a:ln w="38100">
            <a:solidFill>
              <a:schemeClr val="accent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직사각형 18">
            <a:extLst>
              <a:ext uri="{FF2B5EF4-FFF2-40B4-BE49-F238E27FC236}">
                <a16:creationId xmlns:a16="http://schemas.microsoft.com/office/drawing/2014/main" id="{134F54CA-0591-46F3-A733-EA60DCCE7F3B}"/>
              </a:ext>
            </a:extLst>
          </p:cNvPr>
          <p:cNvSpPr/>
          <p:nvPr/>
        </p:nvSpPr>
        <p:spPr>
          <a:xfrm>
            <a:off x="6162675" y="4124365"/>
            <a:ext cx="5951450" cy="279305"/>
          </a:xfrm>
          <a:prstGeom prst="rect">
            <a:avLst/>
          </a:prstGeom>
          <a:no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 name="직선 연결선 19">
            <a:extLst>
              <a:ext uri="{FF2B5EF4-FFF2-40B4-BE49-F238E27FC236}">
                <a16:creationId xmlns:a16="http://schemas.microsoft.com/office/drawing/2014/main" id="{B9D6BBD4-A012-4D48-AE08-1D7F69778128}"/>
              </a:ext>
            </a:extLst>
          </p:cNvPr>
          <p:cNvCxnSpPr>
            <a:cxnSpLocks/>
          </p:cNvCxnSpPr>
          <p:nvPr/>
        </p:nvCxnSpPr>
        <p:spPr>
          <a:xfrm>
            <a:off x="3621836" y="4283047"/>
            <a:ext cx="2540839" cy="0"/>
          </a:xfrm>
          <a:prstGeom prst="line">
            <a:avLst/>
          </a:prstGeom>
          <a:ln w="38100">
            <a:solidFill>
              <a:schemeClr val="accent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곱하기 기호 20">
            <a:extLst>
              <a:ext uri="{FF2B5EF4-FFF2-40B4-BE49-F238E27FC236}">
                <a16:creationId xmlns:a16="http://schemas.microsoft.com/office/drawing/2014/main" id="{74DA1743-59D5-4A35-BD89-272B8244C7ED}"/>
              </a:ext>
            </a:extLst>
          </p:cNvPr>
          <p:cNvSpPr/>
          <p:nvPr/>
        </p:nvSpPr>
        <p:spPr>
          <a:xfrm>
            <a:off x="3162299" y="3964041"/>
            <a:ext cx="561975" cy="561975"/>
          </a:xfrm>
          <a:prstGeom prst="mathMultiply">
            <a:avLst>
              <a:gd name="adj1" fmla="val 8266"/>
            </a:avLst>
          </a:prstGeom>
          <a:solidFill>
            <a:schemeClr val="tx2"/>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252491167"/>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52</a:t>
            </a:r>
            <a:r>
              <a:rPr lang="ko-KR" altLang="en-US" dirty="0"/>
              <a:t>조</a:t>
            </a:r>
            <a:r>
              <a:rPr lang="en-US" altLang="ko-KR" dirty="0"/>
              <a:t>-</a:t>
            </a:r>
            <a:r>
              <a:rPr lang="ko-KR" altLang="en-US" dirty="0"/>
              <a:t>제</a:t>
            </a:r>
            <a:r>
              <a:rPr lang="en-US" altLang="ko-KR" dirty="0"/>
              <a:t>53</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분할출원</a:t>
            </a:r>
            <a:r>
              <a:rPr lang="en-US" altLang="ko-KR" dirty="0"/>
              <a:t>, </a:t>
            </a:r>
            <a:r>
              <a:rPr lang="ko-KR" altLang="en-US" dirty="0"/>
              <a:t>분리출원 및 변경출원의 법조문 비교</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슬라이드 번호 개체 틀 4"/>
          <p:cNvSpPr>
            <a:spLocks noGrp="1"/>
          </p:cNvSpPr>
          <p:nvPr>
            <p:ph type="sldNum" sz="quarter" idx="12"/>
          </p:nvPr>
        </p:nvSpPr>
        <p:spPr/>
        <p:txBody>
          <a:bodyPr/>
          <a:lstStyle/>
          <a:p>
            <a:r>
              <a:rPr lang="en-US" altLang="ko-KR"/>
              <a:t>212</a:t>
            </a:r>
            <a:endParaRPr lang="ko-KR" altLang="en-US"/>
          </a:p>
        </p:txBody>
      </p:sp>
      <p:graphicFrame>
        <p:nvGraphicFramePr>
          <p:cNvPr id="9" name="표 8">
            <a:extLst>
              <a:ext uri="{FF2B5EF4-FFF2-40B4-BE49-F238E27FC236}">
                <a16:creationId xmlns:a16="http://schemas.microsoft.com/office/drawing/2014/main" id="{315BC974-45B6-48C8-B7D6-11136B0C1C75}"/>
              </a:ext>
            </a:extLst>
          </p:cNvPr>
          <p:cNvGraphicFramePr>
            <a:graphicFrameLocks noGrp="1"/>
          </p:cNvGraphicFramePr>
          <p:nvPr/>
        </p:nvGraphicFramePr>
        <p:xfrm>
          <a:off x="586597" y="1242205"/>
          <a:ext cx="10653622" cy="4865300"/>
        </p:xfrm>
        <a:graphic>
          <a:graphicData uri="http://schemas.openxmlformats.org/drawingml/2006/table">
            <a:tbl>
              <a:tblPr>
                <a:tableStyleId>{616DA210-FB5B-4158-B5E0-FEB733F419BA}</a:tableStyleId>
              </a:tblPr>
              <a:tblGrid>
                <a:gridCol w="638354">
                  <a:extLst>
                    <a:ext uri="{9D8B030D-6E8A-4147-A177-3AD203B41FA5}">
                      <a16:colId xmlns:a16="http://schemas.microsoft.com/office/drawing/2014/main" val="3279678075"/>
                    </a:ext>
                  </a:extLst>
                </a:gridCol>
                <a:gridCol w="1759789">
                  <a:extLst>
                    <a:ext uri="{9D8B030D-6E8A-4147-A177-3AD203B41FA5}">
                      <a16:colId xmlns:a16="http://schemas.microsoft.com/office/drawing/2014/main" val="4192417538"/>
                    </a:ext>
                  </a:extLst>
                </a:gridCol>
                <a:gridCol w="3520583">
                  <a:extLst>
                    <a:ext uri="{9D8B030D-6E8A-4147-A177-3AD203B41FA5}">
                      <a16:colId xmlns:a16="http://schemas.microsoft.com/office/drawing/2014/main" val="39268170"/>
                    </a:ext>
                  </a:extLst>
                </a:gridCol>
                <a:gridCol w="2367448">
                  <a:extLst>
                    <a:ext uri="{9D8B030D-6E8A-4147-A177-3AD203B41FA5}">
                      <a16:colId xmlns:a16="http://schemas.microsoft.com/office/drawing/2014/main" val="3602784616"/>
                    </a:ext>
                  </a:extLst>
                </a:gridCol>
                <a:gridCol w="2367448">
                  <a:extLst>
                    <a:ext uri="{9D8B030D-6E8A-4147-A177-3AD203B41FA5}">
                      <a16:colId xmlns:a16="http://schemas.microsoft.com/office/drawing/2014/main" val="334514574"/>
                    </a:ext>
                  </a:extLst>
                </a:gridCol>
              </a:tblGrid>
              <a:tr h="421680">
                <a:tc gridSpan="2">
                  <a:txBody>
                    <a:bodyPr/>
                    <a:lstStyle/>
                    <a:p>
                      <a:pPr marL="0" marR="0" indent="0" algn="ctr" fontAlgn="base" latinLnBrk="0">
                        <a:lnSpc>
                          <a:spcPct val="120000"/>
                        </a:lnSpc>
                        <a:spcBef>
                          <a:spcPts val="0"/>
                        </a:spcBef>
                        <a:spcAft>
                          <a:spcPts val="0"/>
                        </a:spcAft>
                      </a:pPr>
                      <a:r>
                        <a:rPr lang="ko-KR" altLang="en-US" sz="1200" kern="100" spc="-50" dirty="0">
                          <a:solidFill>
                            <a:srgbClr val="000000"/>
                          </a:solidFill>
                          <a:effectLst/>
                        </a:rPr>
                        <a:t>구분</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20000"/>
                        </a:lnSpc>
                        <a:spcBef>
                          <a:spcPts val="0"/>
                        </a:spcBef>
                        <a:spcAft>
                          <a:spcPts val="0"/>
                        </a:spcAft>
                      </a:pPr>
                      <a:r>
                        <a:rPr lang="ko-KR" altLang="en-US" sz="1200" kern="100" spc="-50" dirty="0">
                          <a:solidFill>
                            <a:srgbClr val="000000"/>
                          </a:solidFill>
                          <a:effectLst/>
                        </a:rPr>
                        <a:t>분할출원</a:t>
                      </a:r>
                      <a:r>
                        <a:rPr lang="en-US" altLang="ko-KR" sz="1200" kern="100" spc="-50" dirty="0">
                          <a:solidFill>
                            <a:srgbClr val="000000"/>
                          </a:solidFill>
                          <a:effectLst/>
                        </a:rPr>
                        <a:t>(</a:t>
                      </a:r>
                      <a:r>
                        <a:rPr lang="ko-KR" altLang="en-US" sz="1200" kern="100" spc="-50" dirty="0">
                          <a:solidFill>
                            <a:srgbClr val="000000"/>
                          </a:solidFill>
                          <a:effectLst/>
                        </a:rPr>
                        <a:t>제</a:t>
                      </a:r>
                      <a:r>
                        <a:rPr lang="en-US" altLang="ko-KR" sz="1200" kern="100" spc="-50" dirty="0">
                          <a:solidFill>
                            <a:srgbClr val="000000"/>
                          </a:solidFill>
                          <a:effectLst/>
                        </a:rPr>
                        <a:t>52</a:t>
                      </a:r>
                      <a:r>
                        <a:rPr lang="ko-KR" altLang="en-US" sz="1200" kern="100" spc="-50" dirty="0">
                          <a:solidFill>
                            <a:srgbClr val="000000"/>
                          </a:solidFill>
                          <a:effectLst/>
                        </a:rPr>
                        <a:t>조</a:t>
                      </a:r>
                      <a:r>
                        <a:rPr lang="en-US" altLang="ko-KR" sz="1200" kern="100" spc="-50" dirty="0">
                          <a:solidFill>
                            <a:srgbClr val="000000"/>
                          </a:solidFill>
                          <a:effectLst/>
                        </a:rPr>
                        <a:t>)</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00" spc="-50" dirty="0">
                          <a:solidFill>
                            <a:srgbClr val="000000"/>
                          </a:solidFill>
                          <a:effectLst/>
                        </a:rPr>
                        <a:t>분리출원</a:t>
                      </a:r>
                      <a:r>
                        <a:rPr lang="en-US" altLang="ko-KR" sz="1200" kern="100" spc="-50" dirty="0">
                          <a:solidFill>
                            <a:srgbClr val="000000"/>
                          </a:solidFill>
                          <a:effectLst/>
                        </a:rPr>
                        <a:t>(</a:t>
                      </a:r>
                      <a:r>
                        <a:rPr lang="ko-KR" altLang="en-US" sz="1200" kern="100" spc="-50" dirty="0">
                          <a:solidFill>
                            <a:srgbClr val="000000"/>
                          </a:solidFill>
                          <a:effectLst/>
                        </a:rPr>
                        <a:t>제</a:t>
                      </a:r>
                      <a:r>
                        <a:rPr lang="en-US" altLang="ko-KR" sz="1200" kern="100" spc="-50" dirty="0">
                          <a:solidFill>
                            <a:srgbClr val="000000"/>
                          </a:solidFill>
                          <a:effectLst/>
                        </a:rPr>
                        <a:t>52</a:t>
                      </a:r>
                      <a:r>
                        <a:rPr lang="ko-KR" altLang="en-US" sz="1200" kern="100" spc="-50" dirty="0">
                          <a:solidFill>
                            <a:srgbClr val="000000"/>
                          </a:solidFill>
                          <a:effectLst/>
                        </a:rPr>
                        <a:t>조의</a:t>
                      </a:r>
                      <a:r>
                        <a:rPr lang="en-US" altLang="ko-KR" sz="1200" kern="100" spc="-50" dirty="0">
                          <a:solidFill>
                            <a:srgbClr val="000000"/>
                          </a:solidFill>
                          <a:effectLst/>
                        </a:rPr>
                        <a:t>2)</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00" spc="-50" dirty="0">
                          <a:solidFill>
                            <a:srgbClr val="000000"/>
                          </a:solidFill>
                          <a:effectLst/>
                        </a:rPr>
                        <a:t>변경출원</a:t>
                      </a:r>
                      <a:r>
                        <a:rPr lang="en-US" altLang="ko-KR" sz="1200" kern="100" spc="-50" dirty="0">
                          <a:solidFill>
                            <a:srgbClr val="000000"/>
                          </a:solidFill>
                          <a:effectLst/>
                        </a:rPr>
                        <a:t>(</a:t>
                      </a:r>
                      <a:r>
                        <a:rPr lang="ko-KR" altLang="en-US" sz="1200" kern="100" spc="-50" dirty="0">
                          <a:solidFill>
                            <a:srgbClr val="000000"/>
                          </a:solidFill>
                          <a:effectLst/>
                        </a:rPr>
                        <a:t>제</a:t>
                      </a:r>
                      <a:r>
                        <a:rPr lang="en-US" altLang="ko-KR" sz="1200" kern="100" spc="-50" dirty="0">
                          <a:solidFill>
                            <a:srgbClr val="000000"/>
                          </a:solidFill>
                          <a:effectLst/>
                        </a:rPr>
                        <a:t>53</a:t>
                      </a:r>
                      <a:r>
                        <a:rPr lang="ko-KR" altLang="en-US" sz="1200" kern="100" spc="-50" dirty="0">
                          <a:solidFill>
                            <a:srgbClr val="000000"/>
                          </a:solidFill>
                          <a:effectLst/>
                        </a:rPr>
                        <a:t>조</a:t>
                      </a:r>
                      <a:r>
                        <a:rPr lang="en-US" altLang="ko-KR" sz="1200" kern="100" spc="-50" dirty="0">
                          <a:solidFill>
                            <a:srgbClr val="000000"/>
                          </a:solidFill>
                          <a:effectLst/>
                        </a:rPr>
                        <a:t>)</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470055778"/>
                  </a:ext>
                </a:extLst>
              </a:tr>
              <a:tr h="444362">
                <a:tc gridSpan="2">
                  <a:txBody>
                    <a:bodyPr/>
                    <a:lstStyle/>
                    <a:p>
                      <a:pPr marL="0" marR="0" indent="0" algn="ctr" fontAlgn="base" latinLnBrk="0">
                        <a:lnSpc>
                          <a:spcPct val="120000"/>
                        </a:lnSpc>
                        <a:spcBef>
                          <a:spcPts val="0"/>
                        </a:spcBef>
                        <a:spcAft>
                          <a:spcPts val="0"/>
                        </a:spcAft>
                      </a:pPr>
                      <a:r>
                        <a:rPr lang="ko-KR" altLang="en-US" sz="1200" kern="100" spc="-50" dirty="0">
                          <a:solidFill>
                            <a:srgbClr val="000000"/>
                          </a:solidFill>
                          <a:effectLst/>
                        </a:rPr>
                        <a:t>요건</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200" kern="0" spc="-70" dirty="0">
                          <a:solidFill>
                            <a:srgbClr val="000000"/>
                          </a:solidFill>
                          <a:effectLst/>
                        </a:rPr>
                        <a:t>제</a:t>
                      </a:r>
                      <a:r>
                        <a:rPr lang="en-US" altLang="ko-KR" sz="1200" kern="0" spc="-70" dirty="0">
                          <a:solidFill>
                            <a:srgbClr val="000000"/>
                          </a:solidFill>
                          <a:effectLst/>
                        </a:rPr>
                        <a:t>52</a:t>
                      </a:r>
                      <a:r>
                        <a:rPr lang="ko-KR" altLang="en-US" sz="1200" kern="0" spc="-70" dirty="0">
                          <a:solidFill>
                            <a:srgbClr val="000000"/>
                          </a:solidFill>
                          <a:effectLst/>
                        </a:rPr>
                        <a:t>조제</a:t>
                      </a:r>
                      <a:r>
                        <a:rPr lang="en-US" altLang="ko-KR" sz="1200" kern="0" spc="-70" dirty="0">
                          <a:solidFill>
                            <a:srgbClr val="000000"/>
                          </a:solidFill>
                          <a:effectLst/>
                        </a:rPr>
                        <a:t>1</a:t>
                      </a:r>
                      <a:r>
                        <a:rPr lang="ko-KR" altLang="en-US" sz="1200" kern="0" spc="-70" dirty="0">
                          <a:solidFill>
                            <a:srgbClr val="000000"/>
                          </a:solidFill>
                          <a:effectLst/>
                        </a:rPr>
                        <a:t>항</a:t>
                      </a:r>
                      <a:endParaRPr lang="ko-KR" altLang="en-US" sz="1200" kern="0" spc="-7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200" kern="0" spc="-70">
                          <a:solidFill>
                            <a:srgbClr val="000000"/>
                          </a:solidFill>
                          <a:effectLst/>
                        </a:rPr>
                        <a:t>제</a:t>
                      </a:r>
                      <a:r>
                        <a:rPr lang="en-US" altLang="ko-KR" sz="1200" kern="0" spc="-70">
                          <a:solidFill>
                            <a:srgbClr val="000000"/>
                          </a:solidFill>
                          <a:effectLst/>
                        </a:rPr>
                        <a:t>52</a:t>
                      </a:r>
                      <a:r>
                        <a:rPr lang="ko-KR" altLang="en-US" sz="1200" kern="0" spc="-70">
                          <a:solidFill>
                            <a:srgbClr val="000000"/>
                          </a:solidFill>
                          <a:effectLst/>
                        </a:rPr>
                        <a:t>조의</a:t>
                      </a:r>
                      <a:r>
                        <a:rPr lang="en-US" altLang="ko-KR" sz="1200" kern="0" spc="-70">
                          <a:solidFill>
                            <a:srgbClr val="000000"/>
                          </a:solidFill>
                          <a:effectLst/>
                        </a:rPr>
                        <a:t>2</a:t>
                      </a:r>
                      <a:r>
                        <a:rPr lang="ko-KR" altLang="en-US" sz="1200" kern="0" spc="-70">
                          <a:solidFill>
                            <a:srgbClr val="000000"/>
                          </a:solidFill>
                          <a:effectLst/>
                        </a:rPr>
                        <a:t>제</a:t>
                      </a:r>
                      <a:r>
                        <a:rPr lang="en-US" altLang="ko-KR" sz="1200" kern="0" spc="-70">
                          <a:solidFill>
                            <a:srgbClr val="000000"/>
                          </a:solidFill>
                          <a:effectLst/>
                        </a:rPr>
                        <a:t>1</a:t>
                      </a:r>
                      <a:r>
                        <a:rPr lang="ko-KR" altLang="en-US" sz="1200" kern="0" spc="-70">
                          <a:solidFill>
                            <a:srgbClr val="000000"/>
                          </a:solidFill>
                          <a:effectLst/>
                        </a:rPr>
                        <a:t>항</a:t>
                      </a:r>
                      <a:endParaRPr lang="ko-KR" altLang="en-US" sz="1200" kern="0" spc="-7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200" kern="0" spc="-70">
                          <a:solidFill>
                            <a:srgbClr val="000000"/>
                          </a:solidFill>
                          <a:effectLst/>
                        </a:rPr>
                        <a:t>제</a:t>
                      </a:r>
                      <a:r>
                        <a:rPr lang="en-US" altLang="ko-KR" sz="1200" kern="0" spc="-70">
                          <a:solidFill>
                            <a:srgbClr val="000000"/>
                          </a:solidFill>
                          <a:effectLst/>
                        </a:rPr>
                        <a:t>53</a:t>
                      </a:r>
                      <a:r>
                        <a:rPr lang="ko-KR" altLang="en-US" sz="1200" kern="0" spc="-70">
                          <a:solidFill>
                            <a:srgbClr val="000000"/>
                          </a:solidFill>
                          <a:effectLst/>
                        </a:rPr>
                        <a:t>조제</a:t>
                      </a:r>
                      <a:r>
                        <a:rPr lang="en-US" altLang="ko-KR" sz="1200" kern="0" spc="-70">
                          <a:solidFill>
                            <a:srgbClr val="000000"/>
                          </a:solidFill>
                          <a:effectLst/>
                        </a:rPr>
                        <a:t>1</a:t>
                      </a:r>
                      <a:r>
                        <a:rPr lang="ko-KR" altLang="en-US" sz="1200" kern="0" spc="-70">
                          <a:solidFill>
                            <a:srgbClr val="000000"/>
                          </a:solidFill>
                          <a:effectLst/>
                        </a:rPr>
                        <a:t>항</a:t>
                      </a:r>
                      <a:endParaRPr lang="ko-KR" altLang="en-US" sz="1200" kern="0" spc="-7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1612177"/>
                  </a:ext>
                </a:extLst>
              </a:tr>
              <a:tr h="444362">
                <a:tc gridSpan="2">
                  <a:txBody>
                    <a:bodyPr/>
                    <a:lstStyle/>
                    <a:p>
                      <a:pPr marL="0" marR="0" indent="0" algn="ctr" fontAlgn="base" latinLnBrk="0">
                        <a:lnSpc>
                          <a:spcPct val="120000"/>
                        </a:lnSpc>
                        <a:spcBef>
                          <a:spcPts val="0"/>
                        </a:spcBef>
                        <a:spcAft>
                          <a:spcPts val="0"/>
                        </a:spcAft>
                      </a:pPr>
                      <a:r>
                        <a:rPr lang="ko-KR" altLang="en-US" sz="1200" kern="100" spc="-50" dirty="0">
                          <a:solidFill>
                            <a:srgbClr val="000000"/>
                          </a:solidFill>
                          <a:effectLst/>
                        </a:rPr>
                        <a:t>효과</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52</a:t>
                      </a:r>
                      <a:r>
                        <a:rPr lang="ko-KR" altLang="en-US" sz="1200" kern="0" spc="-70" dirty="0">
                          <a:solidFill>
                            <a:schemeClr val="bg1"/>
                          </a:solidFill>
                          <a:effectLst/>
                        </a:rPr>
                        <a:t>조제</a:t>
                      </a:r>
                      <a:r>
                        <a:rPr lang="en-US" altLang="ko-KR" sz="1200" kern="0" spc="-70" dirty="0">
                          <a:solidFill>
                            <a:schemeClr val="bg1"/>
                          </a:solidFill>
                          <a:effectLst/>
                        </a:rPr>
                        <a:t>2</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52</a:t>
                      </a:r>
                      <a:r>
                        <a:rPr lang="ko-KR" altLang="en-US" sz="1200" kern="0" spc="-70" dirty="0">
                          <a:solidFill>
                            <a:schemeClr val="bg1"/>
                          </a:solidFill>
                          <a:effectLst/>
                        </a:rPr>
                        <a:t>조의</a:t>
                      </a:r>
                      <a:r>
                        <a:rPr lang="en-US" altLang="ko-KR" sz="1200" kern="0" spc="-70" dirty="0">
                          <a:solidFill>
                            <a:schemeClr val="bg1"/>
                          </a:solidFill>
                          <a:effectLst/>
                        </a:rPr>
                        <a:t>2</a:t>
                      </a:r>
                      <a:r>
                        <a:rPr lang="ko-KR" altLang="en-US" sz="1200" kern="0" spc="-70" dirty="0">
                          <a:solidFill>
                            <a:schemeClr val="bg1"/>
                          </a:solidFill>
                          <a:effectLst/>
                        </a:rPr>
                        <a:t>제</a:t>
                      </a:r>
                      <a:r>
                        <a:rPr lang="en-US" altLang="ko-KR" sz="1200" kern="0" spc="-70" dirty="0">
                          <a:solidFill>
                            <a:schemeClr val="bg1"/>
                          </a:solidFill>
                          <a:effectLst/>
                        </a:rPr>
                        <a:t>2</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53</a:t>
                      </a:r>
                      <a:r>
                        <a:rPr lang="ko-KR" altLang="en-US" sz="1200" kern="0" spc="-70" dirty="0">
                          <a:solidFill>
                            <a:schemeClr val="bg1"/>
                          </a:solidFill>
                          <a:effectLst/>
                        </a:rPr>
                        <a:t>조제</a:t>
                      </a:r>
                      <a:r>
                        <a:rPr lang="en-US" altLang="ko-KR" sz="1200" kern="0" spc="-70" dirty="0">
                          <a:solidFill>
                            <a:schemeClr val="bg1"/>
                          </a:solidFill>
                          <a:effectLst/>
                        </a:rPr>
                        <a:t>2</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2211438827"/>
                  </a:ext>
                </a:extLst>
              </a:tr>
              <a:tr h="444362">
                <a:tc gridSpan="2">
                  <a:txBody>
                    <a:bodyPr/>
                    <a:lstStyle/>
                    <a:p>
                      <a:pPr marL="0" marR="0" indent="0" algn="ctr" fontAlgn="base" latinLnBrk="0">
                        <a:lnSpc>
                          <a:spcPct val="120000"/>
                        </a:lnSpc>
                        <a:spcBef>
                          <a:spcPts val="0"/>
                        </a:spcBef>
                        <a:spcAft>
                          <a:spcPts val="0"/>
                        </a:spcAft>
                      </a:pPr>
                      <a:r>
                        <a:rPr lang="ko-KR" altLang="en-US" sz="1200" kern="100" spc="-50">
                          <a:solidFill>
                            <a:srgbClr val="000000"/>
                          </a:solidFill>
                          <a:effectLst/>
                        </a:rPr>
                        <a:t>절차</a:t>
                      </a:r>
                      <a:endParaRPr lang="ko-KR" altLang="en-US" sz="1200" kern="100" spc="-5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52</a:t>
                      </a:r>
                      <a:r>
                        <a:rPr lang="ko-KR" altLang="en-US" sz="1200" kern="0" spc="-70" dirty="0">
                          <a:solidFill>
                            <a:schemeClr val="bg1"/>
                          </a:solidFill>
                          <a:effectLst/>
                        </a:rPr>
                        <a:t>조제</a:t>
                      </a:r>
                      <a:r>
                        <a:rPr lang="en-US" altLang="ko-KR" sz="1200" kern="0" spc="-70" dirty="0">
                          <a:solidFill>
                            <a:schemeClr val="bg1"/>
                          </a:solidFill>
                          <a:effectLst/>
                        </a:rPr>
                        <a:t>3</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52</a:t>
                      </a:r>
                      <a:r>
                        <a:rPr lang="ko-KR" altLang="en-US" sz="1200" kern="0" spc="-70" dirty="0">
                          <a:solidFill>
                            <a:schemeClr val="bg1"/>
                          </a:solidFill>
                          <a:effectLst/>
                        </a:rPr>
                        <a:t>조의</a:t>
                      </a:r>
                      <a:r>
                        <a:rPr lang="en-US" altLang="ko-KR" sz="1200" kern="0" spc="-70" dirty="0">
                          <a:solidFill>
                            <a:schemeClr val="bg1"/>
                          </a:solidFill>
                          <a:effectLst/>
                        </a:rPr>
                        <a:t>2</a:t>
                      </a:r>
                      <a:r>
                        <a:rPr lang="ko-KR" altLang="en-US" sz="1200" kern="0" spc="-70" dirty="0">
                          <a:solidFill>
                            <a:schemeClr val="bg1"/>
                          </a:solidFill>
                          <a:effectLst/>
                        </a:rPr>
                        <a:t>제</a:t>
                      </a:r>
                      <a:r>
                        <a:rPr lang="en-US" altLang="ko-KR" sz="1200" kern="0" spc="-70" dirty="0">
                          <a:solidFill>
                            <a:schemeClr val="bg1"/>
                          </a:solidFill>
                          <a:effectLst/>
                        </a:rPr>
                        <a:t>2</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53</a:t>
                      </a:r>
                      <a:r>
                        <a:rPr lang="ko-KR" altLang="en-US" sz="1200" kern="0" spc="-70" dirty="0">
                          <a:solidFill>
                            <a:schemeClr val="bg1"/>
                          </a:solidFill>
                          <a:effectLst/>
                        </a:rPr>
                        <a:t>조제</a:t>
                      </a:r>
                      <a:r>
                        <a:rPr lang="en-US" altLang="ko-KR" sz="1200" kern="0" spc="-70" dirty="0">
                          <a:solidFill>
                            <a:schemeClr val="bg1"/>
                          </a:solidFill>
                          <a:effectLst/>
                        </a:rPr>
                        <a:t>3</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2950512004"/>
                  </a:ext>
                </a:extLst>
              </a:tr>
              <a:tr h="444362">
                <a:tc gridSpan="2">
                  <a:txBody>
                    <a:bodyPr/>
                    <a:lstStyle/>
                    <a:p>
                      <a:pPr marL="0" marR="0" indent="0" algn="ctr" fontAlgn="base" latinLnBrk="0">
                        <a:lnSpc>
                          <a:spcPct val="120000"/>
                        </a:lnSpc>
                        <a:spcBef>
                          <a:spcPts val="0"/>
                        </a:spcBef>
                        <a:spcAft>
                          <a:spcPts val="0"/>
                        </a:spcAft>
                      </a:pPr>
                      <a:r>
                        <a:rPr lang="ko-KR" altLang="en-US" sz="1200" kern="100" spc="-50">
                          <a:solidFill>
                            <a:srgbClr val="000000"/>
                          </a:solidFill>
                          <a:effectLst/>
                        </a:rPr>
                        <a:t>협의제 회피</a:t>
                      </a:r>
                      <a:endParaRPr lang="ko-KR" altLang="en-US" sz="1200" kern="100" spc="-5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en-US" sz="1200" kern="0" spc="-70" dirty="0">
                          <a:solidFill>
                            <a:srgbClr val="000000"/>
                          </a:solidFill>
                          <a:effectLst/>
                        </a:rPr>
                        <a:t>-</a:t>
                      </a:r>
                      <a:endParaRPr lang="en-US" sz="1200" kern="0" spc="-7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2">
                        <a:lumMod val="50000"/>
                      </a:schemeClr>
                    </a:solidFill>
                  </a:tcPr>
                </a:tc>
                <a:tc>
                  <a:txBody>
                    <a:bodyPr/>
                    <a:lstStyle/>
                    <a:p>
                      <a:pPr marL="17780" marR="17780" indent="0" algn="ctr" fontAlgn="base" latinLnBrk="0">
                        <a:lnSpc>
                          <a:spcPct val="130000"/>
                        </a:lnSpc>
                        <a:spcBef>
                          <a:spcPts val="0"/>
                        </a:spcBef>
                        <a:spcAft>
                          <a:spcPts val="0"/>
                        </a:spcAft>
                      </a:pPr>
                      <a:r>
                        <a:rPr lang="en-US" sz="1200" kern="0" spc="-70" dirty="0">
                          <a:solidFill>
                            <a:srgbClr val="000000"/>
                          </a:solidFill>
                          <a:effectLst/>
                        </a:rPr>
                        <a:t>-</a:t>
                      </a:r>
                      <a:endParaRPr lang="en-US" sz="1200" kern="0" spc="-7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2">
                        <a:lumMod val="50000"/>
                      </a:schemeClr>
                    </a:solidFill>
                  </a:tcPr>
                </a:tc>
                <a:tc>
                  <a:txBody>
                    <a:bodyPr/>
                    <a:lstStyle/>
                    <a:p>
                      <a:pPr marL="17780" marR="17780" indent="0" algn="ctr" fontAlgn="base" latinLnBrk="0">
                        <a:lnSpc>
                          <a:spcPct val="130000"/>
                        </a:lnSpc>
                        <a:spcBef>
                          <a:spcPts val="0"/>
                        </a:spcBef>
                        <a:spcAft>
                          <a:spcPts val="0"/>
                        </a:spcAft>
                      </a:pPr>
                      <a:r>
                        <a:rPr lang="ko-KR" altLang="en-US" sz="1200" kern="0" spc="-70">
                          <a:solidFill>
                            <a:srgbClr val="000000"/>
                          </a:solidFill>
                          <a:effectLst/>
                        </a:rPr>
                        <a:t>제</a:t>
                      </a:r>
                      <a:r>
                        <a:rPr lang="en-US" altLang="ko-KR" sz="1200" kern="0" spc="-70">
                          <a:solidFill>
                            <a:srgbClr val="000000"/>
                          </a:solidFill>
                          <a:effectLst/>
                        </a:rPr>
                        <a:t>53</a:t>
                      </a:r>
                      <a:r>
                        <a:rPr lang="ko-KR" altLang="en-US" sz="1200" kern="0" spc="-70">
                          <a:solidFill>
                            <a:srgbClr val="000000"/>
                          </a:solidFill>
                          <a:effectLst/>
                        </a:rPr>
                        <a:t>조제</a:t>
                      </a:r>
                      <a:r>
                        <a:rPr lang="en-US" altLang="ko-KR" sz="1200" kern="0" spc="-70">
                          <a:solidFill>
                            <a:srgbClr val="000000"/>
                          </a:solidFill>
                          <a:effectLst/>
                        </a:rPr>
                        <a:t>4</a:t>
                      </a:r>
                      <a:r>
                        <a:rPr lang="ko-KR" altLang="en-US" sz="1200" kern="0" spc="-70">
                          <a:solidFill>
                            <a:srgbClr val="000000"/>
                          </a:solidFill>
                          <a:effectLst/>
                        </a:rPr>
                        <a:t>항</a:t>
                      </a:r>
                      <a:endParaRPr lang="ko-KR" altLang="en-US" sz="1200" kern="0" spc="-7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2802274"/>
                  </a:ext>
                </a:extLst>
              </a:tr>
              <a:tr h="444362">
                <a:tc gridSpan="2">
                  <a:txBody>
                    <a:bodyPr/>
                    <a:lstStyle/>
                    <a:p>
                      <a:pPr marL="0" marR="0" indent="0" algn="ctr" fontAlgn="base" latinLnBrk="0">
                        <a:lnSpc>
                          <a:spcPct val="120000"/>
                        </a:lnSpc>
                        <a:spcBef>
                          <a:spcPts val="0"/>
                        </a:spcBef>
                        <a:spcAft>
                          <a:spcPts val="0"/>
                        </a:spcAft>
                      </a:pPr>
                      <a:r>
                        <a:rPr lang="ko-KR" altLang="en-US" sz="1200" kern="100" spc="-50" dirty="0">
                          <a:solidFill>
                            <a:srgbClr val="000000"/>
                          </a:solidFill>
                          <a:effectLst/>
                        </a:rPr>
                        <a:t>자동주장</a:t>
                      </a:r>
                      <a:r>
                        <a:rPr lang="en-US" altLang="ko-KR" sz="1200" kern="100" spc="-50" dirty="0">
                          <a:solidFill>
                            <a:srgbClr val="000000"/>
                          </a:solidFill>
                          <a:effectLst/>
                        </a:rPr>
                        <a:t>/</a:t>
                      </a:r>
                      <a:r>
                        <a:rPr lang="ko-KR" altLang="en-US" sz="1200" kern="100" spc="-50" dirty="0">
                          <a:solidFill>
                            <a:srgbClr val="000000"/>
                          </a:solidFill>
                          <a:effectLst/>
                        </a:rPr>
                        <a:t>증명서류</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52</a:t>
                      </a:r>
                      <a:r>
                        <a:rPr lang="ko-KR" altLang="en-US" sz="1200" kern="0" spc="-70" dirty="0">
                          <a:solidFill>
                            <a:schemeClr val="bg1"/>
                          </a:solidFill>
                          <a:effectLst/>
                        </a:rPr>
                        <a:t>조제</a:t>
                      </a:r>
                      <a:r>
                        <a:rPr lang="en-US" altLang="ko-KR" sz="1200" kern="0" spc="-70" dirty="0">
                          <a:solidFill>
                            <a:schemeClr val="bg1"/>
                          </a:solidFill>
                          <a:effectLst/>
                        </a:rPr>
                        <a:t>4</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52</a:t>
                      </a:r>
                      <a:r>
                        <a:rPr lang="ko-KR" altLang="en-US" sz="1200" kern="0" spc="-70" dirty="0">
                          <a:solidFill>
                            <a:schemeClr val="bg1"/>
                          </a:solidFill>
                          <a:effectLst/>
                        </a:rPr>
                        <a:t>조의</a:t>
                      </a:r>
                      <a:r>
                        <a:rPr lang="en-US" altLang="ko-KR" sz="1200" kern="0" spc="-70" dirty="0">
                          <a:solidFill>
                            <a:schemeClr val="bg1"/>
                          </a:solidFill>
                          <a:effectLst/>
                        </a:rPr>
                        <a:t>2</a:t>
                      </a:r>
                      <a:r>
                        <a:rPr lang="ko-KR" altLang="en-US" sz="1200" kern="0" spc="-70" dirty="0">
                          <a:solidFill>
                            <a:schemeClr val="bg1"/>
                          </a:solidFill>
                          <a:effectLst/>
                        </a:rPr>
                        <a:t>제</a:t>
                      </a:r>
                      <a:r>
                        <a:rPr lang="en-US" altLang="ko-KR" sz="1200" kern="0" spc="-70" dirty="0">
                          <a:solidFill>
                            <a:schemeClr val="bg1"/>
                          </a:solidFill>
                          <a:effectLst/>
                        </a:rPr>
                        <a:t>2</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en-US" sz="1200" kern="0" spc="-70">
                          <a:solidFill>
                            <a:srgbClr val="000000"/>
                          </a:solidFill>
                          <a:effectLst/>
                        </a:rPr>
                        <a:t>-</a:t>
                      </a:r>
                      <a:endParaRPr lang="en-US" sz="1200" kern="0" spc="-7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86978920"/>
                  </a:ext>
                </a:extLst>
              </a:tr>
              <a:tr h="444362">
                <a:tc rowSpan="5">
                  <a:txBody>
                    <a:bodyPr/>
                    <a:lstStyle/>
                    <a:p>
                      <a:pPr marL="0" marR="0" indent="0" algn="ctr" fontAlgn="base" latinLnBrk="0">
                        <a:lnSpc>
                          <a:spcPct val="120000"/>
                        </a:lnSpc>
                        <a:spcBef>
                          <a:spcPts val="0"/>
                        </a:spcBef>
                        <a:spcAft>
                          <a:spcPts val="0"/>
                        </a:spcAft>
                      </a:pPr>
                      <a:r>
                        <a:rPr lang="ko-KR" altLang="en-US" sz="1200" kern="100" spc="-50" dirty="0">
                          <a:solidFill>
                            <a:srgbClr val="000000"/>
                          </a:solidFill>
                          <a:effectLst/>
                        </a:rPr>
                        <a:t>기간</a:t>
                      </a:r>
                      <a:endParaRPr lang="en-US" altLang="ko-KR" sz="1200" kern="100" spc="-50" dirty="0">
                        <a:solidFill>
                          <a:srgbClr val="000000"/>
                        </a:solidFill>
                        <a:effectLst/>
                      </a:endParaRPr>
                    </a:p>
                    <a:p>
                      <a:pPr marL="0" marR="0" indent="0" algn="ctr" fontAlgn="base" latinLnBrk="0">
                        <a:lnSpc>
                          <a:spcPct val="120000"/>
                        </a:lnSpc>
                        <a:spcBef>
                          <a:spcPts val="0"/>
                        </a:spcBef>
                        <a:spcAft>
                          <a:spcPts val="0"/>
                        </a:spcAft>
                      </a:pPr>
                      <a:r>
                        <a:rPr lang="ko-KR" altLang="en-US" sz="1200" kern="100" spc="-50" dirty="0">
                          <a:solidFill>
                            <a:srgbClr val="000000"/>
                          </a:solidFill>
                          <a:effectLst/>
                        </a:rPr>
                        <a:t>특례</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00" spc="-50" dirty="0" err="1">
                          <a:solidFill>
                            <a:srgbClr val="000000"/>
                          </a:solidFill>
                          <a:effectLst/>
                        </a:rPr>
                        <a:t>우선권주장취하</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200" kern="0" spc="-70">
                          <a:solidFill>
                            <a:schemeClr val="bg1"/>
                          </a:solidFill>
                          <a:effectLst/>
                        </a:rPr>
                        <a:t>제</a:t>
                      </a:r>
                      <a:r>
                        <a:rPr lang="en-US" altLang="ko-KR" sz="1200" kern="0" spc="-70">
                          <a:solidFill>
                            <a:schemeClr val="bg1"/>
                          </a:solidFill>
                          <a:effectLst/>
                        </a:rPr>
                        <a:t>52</a:t>
                      </a:r>
                      <a:r>
                        <a:rPr lang="ko-KR" altLang="en-US" sz="1200" kern="0" spc="-70">
                          <a:solidFill>
                            <a:schemeClr val="bg1"/>
                          </a:solidFill>
                          <a:effectLst/>
                        </a:rPr>
                        <a:t>조제</a:t>
                      </a:r>
                      <a:r>
                        <a:rPr lang="en-US" altLang="ko-KR" sz="1200" kern="0" spc="-70">
                          <a:solidFill>
                            <a:schemeClr val="bg1"/>
                          </a:solidFill>
                          <a:effectLst/>
                        </a:rPr>
                        <a:t>5</a:t>
                      </a:r>
                      <a:r>
                        <a:rPr lang="ko-KR" altLang="en-US" sz="1200" kern="0" spc="-70">
                          <a:solidFill>
                            <a:schemeClr val="bg1"/>
                          </a:solidFill>
                          <a:effectLst/>
                        </a:rPr>
                        <a:t>항</a:t>
                      </a:r>
                      <a:endParaRPr lang="ko-KR" altLang="en-US" sz="1200" kern="0" spc="-7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52</a:t>
                      </a:r>
                      <a:r>
                        <a:rPr lang="ko-KR" altLang="en-US" sz="1200" kern="0" spc="-70" dirty="0">
                          <a:solidFill>
                            <a:schemeClr val="bg1"/>
                          </a:solidFill>
                          <a:effectLst/>
                        </a:rPr>
                        <a:t>조의</a:t>
                      </a:r>
                      <a:r>
                        <a:rPr lang="en-US" altLang="ko-KR" sz="1200" kern="0" spc="-70" dirty="0">
                          <a:solidFill>
                            <a:schemeClr val="bg1"/>
                          </a:solidFill>
                          <a:effectLst/>
                        </a:rPr>
                        <a:t>2</a:t>
                      </a:r>
                      <a:r>
                        <a:rPr lang="ko-KR" altLang="en-US" sz="1200" kern="0" spc="-70" dirty="0">
                          <a:solidFill>
                            <a:schemeClr val="bg1"/>
                          </a:solidFill>
                          <a:effectLst/>
                        </a:rPr>
                        <a:t>제</a:t>
                      </a:r>
                      <a:r>
                        <a:rPr lang="en-US" altLang="ko-KR" sz="1200" kern="0" spc="-70" dirty="0">
                          <a:solidFill>
                            <a:schemeClr val="bg1"/>
                          </a:solidFill>
                          <a:effectLst/>
                        </a:rPr>
                        <a:t>2</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en-US" sz="1200" kern="0" spc="-70">
                          <a:solidFill>
                            <a:srgbClr val="000000"/>
                          </a:solidFill>
                          <a:effectLst/>
                        </a:rPr>
                        <a:t>-</a:t>
                      </a:r>
                      <a:endParaRPr lang="en-US" sz="1200" kern="0" spc="-7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11021703"/>
                  </a:ext>
                </a:extLst>
              </a:tr>
              <a:tr h="444362">
                <a:tc vMerge="1">
                  <a:txBody>
                    <a:bodyPr/>
                    <a:lstStyle/>
                    <a:p>
                      <a:pPr latinLnBrk="1"/>
                      <a:endParaRPr lang="ko-KR" altLang="en-US"/>
                    </a:p>
                  </a:txBody>
                  <a:tcPr/>
                </a:tc>
                <a:tc>
                  <a:txBody>
                    <a:bodyPr/>
                    <a:lstStyle/>
                    <a:p>
                      <a:pPr marL="0" marR="0" indent="0" algn="ctr" fontAlgn="base" latinLnBrk="0">
                        <a:lnSpc>
                          <a:spcPct val="120000"/>
                        </a:lnSpc>
                        <a:spcBef>
                          <a:spcPts val="0"/>
                        </a:spcBef>
                        <a:spcAft>
                          <a:spcPts val="0"/>
                        </a:spcAft>
                      </a:pPr>
                      <a:r>
                        <a:rPr lang="ko-KR" altLang="en-US" sz="1200" kern="100" spc="-50" dirty="0" err="1">
                          <a:solidFill>
                            <a:srgbClr val="000000"/>
                          </a:solidFill>
                          <a:effectLst/>
                        </a:rPr>
                        <a:t>조약우선권증명서류</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52</a:t>
                      </a:r>
                      <a:r>
                        <a:rPr lang="ko-KR" altLang="en-US" sz="1200" kern="0" spc="-70" dirty="0">
                          <a:solidFill>
                            <a:schemeClr val="bg1"/>
                          </a:solidFill>
                          <a:effectLst/>
                        </a:rPr>
                        <a:t>조제</a:t>
                      </a:r>
                      <a:r>
                        <a:rPr lang="en-US" altLang="ko-KR" sz="1200" kern="0" spc="-70" dirty="0">
                          <a:solidFill>
                            <a:schemeClr val="bg1"/>
                          </a:solidFill>
                          <a:effectLst/>
                        </a:rPr>
                        <a:t>6</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en-US" sz="1200" kern="0" spc="-70">
                          <a:solidFill>
                            <a:srgbClr val="000000"/>
                          </a:solidFill>
                          <a:effectLst/>
                        </a:rPr>
                        <a:t>-</a:t>
                      </a:r>
                      <a:endParaRPr lang="en-US" sz="1200" kern="0" spc="-7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53</a:t>
                      </a:r>
                      <a:r>
                        <a:rPr lang="ko-KR" altLang="en-US" sz="1200" kern="0" spc="-70" dirty="0">
                          <a:solidFill>
                            <a:schemeClr val="bg1"/>
                          </a:solidFill>
                          <a:effectLst/>
                        </a:rPr>
                        <a:t>조제</a:t>
                      </a:r>
                      <a:r>
                        <a:rPr lang="en-US" altLang="ko-KR" sz="1200" kern="0" spc="-70" dirty="0">
                          <a:solidFill>
                            <a:schemeClr val="bg1"/>
                          </a:solidFill>
                          <a:effectLst/>
                        </a:rPr>
                        <a:t>6</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3089336190"/>
                  </a:ext>
                </a:extLst>
              </a:tr>
              <a:tr h="444362">
                <a:tc vMerge="1">
                  <a:txBody>
                    <a:bodyPr/>
                    <a:lstStyle/>
                    <a:p>
                      <a:pPr latinLnBrk="1"/>
                      <a:endParaRPr lang="ko-KR" altLang="en-US"/>
                    </a:p>
                  </a:txBody>
                  <a:tcPr/>
                </a:tc>
                <a:tc>
                  <a:txBody>
                    <a:bodyPr/>
                    <a:lstStyle/>
                    <a:p>
                      <a:pPr marL="0" marR="0" indent="0" algn="ctr" fontAlgn="base" latinLnBrk="0">
                        <a:lnSpc>
                          <a:spcPct val="120000"/>
                        </a:lnSpc>
                        <a:spcBef>
                          <a:spcPts val="0"/>
                        </a:spcBef>
                        <a:spcAft>
                          <a:spcPts val="0"/>
                        </a:spcAft>
                      </a:pPr>
                      <a:r>
                        <a:rPr lang="ko-KR" altLang="en-US" sz="1200" kern="100" spc="-50" dirty="0">
                          <a:solidFill>
                            <a:srgbClr val="000000"/>
                          </a:solidFill>
                          <a:effectLst/>
                        </a:rPr>
                        <a:t>번역문제출</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52</a:t>
                      </a:r>
                      <a:r>
                        <a:rPr lang="ko-KR" altLang="en-US" sz="1200" kern="0" spc="-70" dirty="0">
                          <a:solidFill>
                            <a:schemeClr val="bg1"/>
                          </a:solidFill>
                          <a:effectLst/>
                        </a:rPr>
                        <a:t>조제</a:t>
                      </a:r>
                      <a:r>
                        <a:rPr lang="en-US" altLang="ko-KR" sz="1200" kern="0" spc="-70" dirty="0">
                          <a:solidFill>
                            <a:schemeClr val="bg1"/>
                          </a:solidFill>
                          <a:effectLst/>
                        </a:rPr>
                        <a:t>7</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ko-KR" altLang="en-US" sz="1200" kern="0" spc="-70">
                          <a:solidFill>
                            <a:srgbClr val="000000"/>
                          </a:solidFill>
                          <a:effectLst/>
                        </a:rPr>
                        <a:t>제</a:t>
                      </a:r>
                      <a:r>
                        <a:rPr lang="en-US" altLang="ko-KR" sz="1200" kern="0" spc="-70">
                          <a:solidFill>
                            <a:srgbClr val="000000"/>
                          </a:solidFill>
                          <a:effectLst/>
                        </a:rPr>
                        <a:t>52</a:t>
                      </a:r>
                      <a:r>
                        <a:rPr lang="ko-KR" altLang="en-US" sz="1200" kern="0" spc="-70">
                          <a:solidFill>
                            <a:srgbClr val="000000"/>
                          </a:solidFill>
                          <a:effectLst/>
                        </a:rPr>
                        <a:t>조의</a:t>
                      </a:r>
                      <a:r>
                        <a:rPr lang="en-US" altLang="ko-KR" sz="1200" kern="0" spc="-70">
                          <a:solidFill>
                            <a:srgbClr val="000000"/>
                          </a:solidFill>
                          <a:effectLst/>
                        </a:rPr>
                        <a:t>2</a:t>
                      </a:r>
                      <a:r>
                        <a:rPr lang="ko-KR" altLang="en-US" sz="1200" kern="0" spc="-70">
                          <a:solidFill>
                            <a:srgbClr val="000000"/>
                          </a:solidFill>
                          <a:effectLst/>
                        </a:rPr>
                        <a:t>제</a:t>
                      </a:r>
                      <a:r>
                        <a:rPr lang="en-US" altLang="ko-KR" sz="1200" kern="0" spc="-70">
                          <a:solidFill>
                            <a:srgbClr val="000000"/>
                          </a:solidFill>
                          <a:effectLst/>
                        </a:rPr>
                        <a:t>3</a:t>
                      </a:r>
                      <a:r>
                        <a:rPr lang="ko-KR" altLang="en-US" sz="1200" kern="0" spc="-70">
                          <a:solidFill>
                            <a:srgbClr val="000000"/>
                          </a:solidFill>
                          <a:effectLst/>
                        </a:rPr>
                        <a:t>항</a:t>
                      </a:r>
                      <a:endParaRPr lang="ko-KR" altLang="en-US" sz="1200" kern="0" spc="-7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53</a:t>
                      </a:r>
                      <a:r>
                        <a:rPr lang="ko-KR" altLang="en-US" sz="1200" kern="0" spc="-70" dirty="0">
                          <a:solidFill>
                            <a:schemeClr val="bg1"/>
                          </a:solidFill>
                          <a:effectLst/>
                        </a:rPr>
                        <a:t>조제</a:t>
                      </a:r>
                      <a:r>
                        <a:rPr lang="en-US" altLang="ko-KR" sz="1200" kern="0" spc="-70" dirty="0">
                          <a:solidFill>
                            <a:schemeClr val="bg1"/>
                          </a:solidFill>
                          <a:effectLst/>
                        </a:rPr>
                        <a:t>7</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3627214522"/>
                  </a:ext>
                </a:extLst>
              </a:tr>
              <a:tr h="444362">
                <a:tc vMerge="1">
                  <a:txBody>
                    <a:bodyPr/>
                    <a:lstStyle/>
                    <a:p>
                      <a:pPr latinLnBrk="1"/>
                      <a:endParaRPr lang="ko-KR" altLang="en-US"/>
                    </a:p>
                  </a:txBody>
                  <a:tcPr/>
                </a:tc>
                <a:tc>
                  <a:txBody>
                    <a:bodyPr/>
                    <a:lstStyle/>
                    <a:p>
                      <a:pPr marL="0" marR="0" indent="0" algn="ctr" fontAlgn="base" latinLnBrk="0">
                        <a:lnSpc>
                          <a:spcPct val="120000"/>
                        </a:lnSpc>
                        <a:spcBef>
                          <a:spcPts val="0"/>
                        </a:spcBef>
                        <a:spcAft>
                          <a:spcPts val="0"/>
                        </a:spcAft>
                      </a:pPr>
                      <a:r>
                        <a:rPr lang="ko-KR" altLang="en-US" sz="1200" kern="100" spc="-50" dirty="0">
                          <a:solidFill>
                            <a:srgbClr val="000000"/>
                          </a:solidFill>
                          <a:effectLst/>
                        </a:rPr>
                        <a:t>청구범위제출유예</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52</a:t>
                      </a:r>
                      <a:r>
                        <a:rPr lang="ko-KR" altLang="en-US" sz="1200" kern="0" spc="-70" dirty="0">
                          <a:solidFill>
                            <a:schemeClr val="bg1"/>
                          </a:solidFill>
                          <a:effectLst/>
                        </a:rPr>
                        <a:t>조제</a:t>
                      </a:r>
                      <a:r>
                        <a:rPr lang="en-US" altLang="ko-KR" sz="1200" kern="0" spc="-70" dirty="0">
                          <a:solidFill>
                            <a:schemeClr val="bg1"/>
                          </a:solidFill>
                          <a:effectLst/>
                        </a:rPr>
                        <a:t>8</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ko-KR" altLang="en-US" sz="1200" kern="0" spc="-70">
                          <a:solidFill>
                            <a:srgbClr val="000000"/>
                          </a:solidFill>
                          <a:effectLst/>
                        </a:rPr>
                        <a:t>제</a:t>
                      </a:r>
                      <a:r>
                        <a:rPr lang="en-US" altLang="ko-KR" sz="1200" kern="0" spc="-70">
                          <a:solidFill>
                            <a:srgbClr val="000000"/>
                          </a:solidFill>
                          <a:effectLst/>
                        </a:rPr>
                        <a:t>52</a:t>
                      </a:r>
                      <a:r>
                        <a:rPr lang="ko-KR" altLang="en-US" sz="1200" kern="0" spc="-70">
                          <a:solidFill>
                            <a:srgbClr val="000000"/>
                          </a:solidFill>
                          <a:effectLst/>
                        </a:rPr>
                        <a:t>조의</a:t>
                      </a:r>
                      <a:r>
                        <a:rPr lang="en-US" altLang="ko-KR" sz="1200" kern="0" spc="-70">
                          <a:solidFill>
                            <a:srgbClr val="000000"/>
                          </a:solidFill>
                          <a:effectLst/>
                        </a:rPr>
                        <a:t>2</a:t>
                      </a:r>
                      <a:r>
                        <a:rPr lang="ko-KR" altLang="en-US" sz="1200" kern="0" spc="-70">
                          <a:solidFill>
                            <a:srgbClr val="000000"/>
                          </a:solidFill>
                          <a:effectLst/>
                        </a:rPr>
                        <a:t>제</a:t>
                      </a:r>
                      <a:r>
                        <a:rPr lang="en-US" altLang="ko-KR" sz="1200" kern="0" spc="-70">
                          <a:solidFill>
                            <a:srgbClr val="000000"/>
                          </a:solidFill>
                          <a:effectLst/>
                        </a:rPr>
                        <a:t>3</a:t>
                      </a:r>
                      <a:r>
                        <a:rPr lang="ko-KR" altLang="en-US" sz="1200" kern="0" spc="-70">
                          <a:solidFill>
                            <a:srgbClr val="000000"/>
                          </a:solidFill>
                          <a:effectLst/>
                        </a:rPr>
                        <a:t>항</a:t>
                      </a:r>
                      <a:endParaRPr lang="ko-KR" altLang="en-US" sz="1200" kern="0" spc="-7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53</a:t>
                      </a:r>
                      <a:r>
                        <a:rPr lang="ko-KR" altLang="en-US" sz="1200" kern="0" spc="-70" dirty="0">
                          <a:solidFill>
                            <a:schemeClr val="bg1"/>
                          </a:solidFill>
                          <a:effectLst/>
                        </a:rPr>
                        <a:t>조제</a:t>
                      </a:r>
                      <a:r>
                        <a:rPr lang="en-US" altLang="ko-KR" sz="1200" kern="0" spc="-70" dirty="0">
                          <a:solidFill>
                            <a:schemeClr val="bg1"/>
                          </a:solidFill>
                          <a:effectLst/>
                        </a:rPr>
                        <a:t>8</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2234905261"/>
                  </a:ext>
                </a:extLst>
              </a:tr>
              <a:tr h="444362">
                <a:tc vMerge="1">
                  <a:txBody>
                    <a:bodyPr/>
                    <a:lstStyle/>
                    <a:p>
                      <a:pPr latinLnBrk="1"/>
                      <a:endParaRPr lang="ko-KR" altLang="en-US"/>
                    </a:p>
                  </a:txBody>
                  <a:tcPr/>
                </a:tc>
                <a:tc>
                  <a:txBody>
                    <a:bodyPr/>
                    <a:lstStyle/>
                    <a:p>
                      <a:pPr marL="0" marR="0" indent="0" algn="ctr" fontAlgn="base" latinLnBrk="0">
                        <a:lnSpc>
                          <a:spcPct val="120000"/>
                        </a:lnSpc>
                        <a:spcBef>
                          <a:spcPts val="0"/>
                        </a:spcBef>
                        <a:spcAft>
                          <a:spcPts val="0"/>
                        </a:spcAft>
                      </a:pPr>
                      <a:r>
                        <a:rPr lang="ko-KR" altLang="en-US" sz="1200" kern="100" spc="-50" dirty="0">
                          <a:solidFill>
                            <a:srgbClr val="000000"/>
                          </a:solidFill>
                          <a:effectLst/>
                        </a:rPr>
                        <a:t>심사청구</a:t>
                      </a:r>
                      <a:endParaRPr lang="ko-KR" altLang="en-US" sz="1200" kern="100" spc="-50" dirty="0">
                        <a:solidFill>
                          <a:srgbClr val="000000"/>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59</a:t>
                      </a:r>
                      <a:r>
                        <a:rPr lang="ko-KR" altLang="en-US" sz="1200" kern="0" spc="-70" dirty="0">
                          <a:solidFill>
                            <a:schemeClr val="bg1"/>
                          </a:solidFill>
                          <a:effectLst/>
                        </a:rPr>
                        <a:t>조제</a:t>
                      </a:r>
                      <a:r>
                        <a:rPr lang="en-US" altLang="ko-KR" sz="1200" kern="0" spc="-70" dirty="0">
                          <a:solidFill>
                            <a:schemeClr val="bg1"/>
                          </a:solidFill>
                          <a:effectLst/>
                        </a:rPr>
                        <a:t>3</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59</a:t>
                      </a:r>
                      <a:r>
                        <a:rPr lang="ko-KR" altLang="en-US" sz="1200" kern="0" spc="-70" dirty="0">
                          <a:solidFill>
                            <a:schemeClr val="bg1"/>
                          </a:solidFill>
                          <a:effectLst/>
                        </a:rPr>
                        <a:t>조제</a:t>
                      </a:r>
                      <a:r>
                        <a:rPr lang="en-US" altLang="ko-KR" sz="1200" kern="0" spc="-70" dirty="0">
                          <a:solidFill>
                            <a:schemeClr val="bg1"/>
                          </a:solidFill>
                          <a:effectLst/>
                        </a:rPr>
                        <a:t>3</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1"/>
                          </a:solidFill>
                          <a:effectLst/>
                        </a:rPr>
                        <a:t>제</a:t>
                      </a:r>
                      <a:r>
                        <a:rPr lang="en-US" altLang="ko-KR" sz="1200" kern="0" spc="-70" dirty="0">
                          <a:solidFill>
                            <a:schemeClr val="bg1"/>
                          </a:solidFill>
                          <a:effectLst/>
                        </a:rPr>
                        <a:t>59</a:t>
                      </a:r>
                      <a:r>
                        <a:rPr lang="ko-KR" altLang="en-US" sz="1200" kern="0" spc="-70" dirty="0">
                          <a:solidFill>
                            <a:schemeClr val="bg1"/>
                          </a:solidFill>
                          <a:effectLst/>
                        </a:rPr>
                        <a:t>조제</a:t>
                      </a:r>
                      <a:r>
                        <a:rPr lang="en-US" altLang="ko-KR" sz="1200" kern="0" spc="-70" dirty="0">
                          <a:solidFill>
                            <a:schemeClr val="bg1"/>
                          </a:solidFill>
                          <a:effectLst/>
                        </a:rPr>
                        <a:t>3</a:t>
                      </a:r>
                      <a:r>
                        <a:rPr lang="ko-KR" altLang="en-US" sz="1200" kern="0" spc="-70" dirty="0">
                          <a:solidFill>
                            <a:schemeClr val="bg1"/>
                          </a:solidFill>
                          <a:effectLst/>
                        </a:rPr>
                        <a:t>항</a:t>
                      </a:r>
                      <a:endParaRPr lang="ko-KR" altLang="en-US" sz="1200" kern="0" spc="-70" dirty="0">
                        <a:solidFill>
                          <a:schemeClr val="bg1"/>
                        </a:solidFill>
                        <a:effectLst/>
                        <a:latin typeface="+mn-ea"/>
                        <a:ea typeface="+mn-ea"/>
                      </a:endParaRPr>
                    </a:p>
                  </a:txBody>
                  <a:tcPr marL="64770" marR="64770" marT="17907" marB="17907"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4"/>
                    </a:solidFill>
                  </a:tcPr>
                </a:tc>
                <a:extLst>
                  <a:ext uri="{0D108BD9-81ED-4DB2-BD59-A6C34878D82A}">
                    <a16:rowId xmlns:a16="http://schemas.microsoft.com/office/drawing/2014/main" val="3716701227"/>
                  </a:ext>
                </a:extLst>
              </a:tr>
            </a:tbl>
          </a:graphicData>
        </a:graphic>
      </p:graphicFrame>
    </p:spTree>
    <p:extLst>
      <p:ext uri="{BB962C8B-B14F-4D97-AF65-F5344CB8AC3E}">
        <p14:creationId xmlns:p14="http://schemas.microsoft.com/office/powerpoint/2010/main" val="1998391184"/>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8" name="직선 연결선 67"/>
          <p:cNvCxnSpPr>
            <a:stCxn id="51" idx="0"/>
          </p:cNvCxnSpPr>
          <p:nvPr/>
        </p:nvCxnSpPr>
        <p:spPr>
          <a:xfrm flipH="1">
            <a:off x="1115170" y="3382948"/>
            <a:ext cx="11582" cy="329033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제목 3"/>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5" name="텍스트 개체 틀 4"/>
          <p:cNvSpPr>
            <a:spLocks noGrp="1"/>
          </p:cNvSpPr>
          <p:nvPr>
            <p:ph type="body" sz="quarter" idx="13"/>
          </p:nvPr>
        </p:nvSpPr>
        <p:spPr/>
        <p:txBody>
          <a:bodyPr/>
          <a:lstStyle/>
          <a:p>
            <a:r>
              <a:rPr lang="ko-KR" altLang="en-US" dirty="0"/>
              <a:t>조약우선권주장출원의 취지</a:t>
            </a:r>
          </a:p>
        </p:txBody>
      </p:sp>
      <p:cxnSp>
        <p:nvCxnSpPr>
          <p:cNvPr id="100" name="직선 연결선 99"/>
          <p:cNvCxnSpPr/>
          <p:nvPr/>
        </p:nvCxnSpPr>
        <p:spPr>
          <a:xfrm>
            <a:off x="6109281" y="2428875"/>
            <a:ext cx="0" cy="420266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77875" y="986046"/>
            <a:ext cx="11936323" cy="1384995"/>
          </a:xfrm>
          <a:prstGeom prst="rect">
            <a:avLst/>
          </a:prstGeom>
          <a:noFill/>
        </p:spPr>
        <p:txBody>
          <a:bodyPr wrap="square" rtlCol="0">
            <a:spAutoFit/>
          </a:bodyPr>
          <a:lstStyle/>
          <a:p>
            <a:pPr fontAlgn="base"/>
            <a:r>
              <a:rPr lang="en-US" altLang="ko-KR" sz="1400" dirty="0">
                <a:solidFill>
                  <a:schemeClr val="tx2"/>
                </a:solidFill>
              </a:rPr>
              <a:t>A </a:t>
            </a:r>
            <a:r>
              <a:rPr lang="ko-KR" altLang="en-US" sz="1400" dirty="0">
                <a:solidFill>
                  <a:schemeClr val="tx2"/>
                </a:solidFill>
              </a:rPr>
              <a:t>발명을 중국</a:t>
            </a:r>
            <a:r>
              <a:rPr lang="en-US" altLang="ko-KR" sz="1400" dirty="0">
                <a:solidFill>
                  <a:schemeClr val="tx2"/>
                </a:solidFill>
              </a:rPr>
              <a:t>, </a:t>
            </a:r>
            <a:r>
              <a:rPr lang="ko-KR" altLang="en-US" sz="1400" dirty="0">
                <a:solidFill>
                  <a:schemeClr val="tx2"/>
                </a:solidFill>
              </a:rPr>
              <a:t>일본</a:t>
            </a:r>
            <a:r>
              <a:rPr lang="en-US" altLang="ko-KR" sz="1400" dirty="0">
                <a:solidFill>
                  <a:schemeClr val="tx2"/>
                </a:solidFill>
              </a:rPr>
              <a:t>, </a:t>
            </a:r>
            <a:r>
              <a:rPr lang="ko-KR" altLang="en-US" sz="1400" dirty="0" err="1">
                <a:solidFill>
                  <a:schemeClr val="tx2"/>
                </a:solidFill>
              </a:rPr>
              <a:t>유럽특허청</a:t>
            </a:r>
            <a:r>
              <a:rPr lang="en-US" altLang="ko-KR" sz="1400" dirty="0">
                <a:solidFill>
                  <a:schemeClr val="tx2"/>
                </a:solidFill>
              </a:rPr>
              <a:t>(EPO) </a:t>
            </a:r>
            <a:r>
              <a:rPr lang="ko-KR" altLang="en-US" sz="1400" dirty="0">
                <a:solidFill>
                  <a:schemeClr val="tx2"/>
                </a:solidFill>
              </a:rPr>
              <a:t>또는 한국에 특허출원하려는 경우 시간</a:t>
            </a:r>
            <a:r>
              <a:rPr lang="en-US" altLang="ko-KR" sz="1400" dirty="0">
                <a:solidFill>
                  <a:schemeClr val="tx2"/>
                </a:solidFill>
              </a:rPr>
              <a:t>, </a:t>
            </a:r>
            <a:r>
              <a:rPr lang="ko-KR" altLang="en-US" sz="1400" dirty="0">
                <a:solidFill>
                  <a:schemeClr val="tx2"/>
                </a:solidFill>
              </a:rPr>
              <a:t>거리</a:t>
            </a:r>
            <a:r>
              <a:rPr lang="en-US" altLang="ko-KR" sz="1400" dirty="0">
                <a:solidFill>
                  <a:schemeClr val="tx2"/>
                </a:solidFill>
              </a:rPr>
              <a:t>, </a:t>
            </a:r>
            <a:r>
              <a:rPr lang="ko-KR" altLang="en-US" sz="1400" dirty="0">
                <a:solidFill>
                  <a:schemeClr val="tx2"/>
                </a:solidFill>
              </a:rPr>
              <a:t>언어 또는 </a:t>
            </a:r>
            <a:r>
              <a:rPr lang="ko-KR" altLang="en-US" sz="1400" dirty="0" err="1">
                <a:solidFill>
                  <a:schemeClr val="tx2"/>
                </a:solidFill>
              </a:rPr>
              <a:t>법제상의</a:t>
            </a:r>
            <a:r>
              <a:rPr lang="ko-KR" altLang="en-US" sz="1400" dirty="0">
                <a:solidFill>
                  <a:schemeClr val="tx2"/>
                </a:solidFill>
              </a:rPr>
              <a:t> 차이 등으로 인해 </a:t>
            </a:r>
            <a:r>
              <a:rPr lang="ko-KR" altLang="en-US" sz="1400" dirty="0" err="1">
                <a:solidFill>
                  <a:schemeClr val="tx2"/>
                </a:solidFill>
              </a:rPr>
              <a:t>동일자에</a:t>
            </a:r>
            <a:r>
              <a:rPr lang="ko-KR" altLang="en-US" sz="1400" dirty="0">
                <a:solidFill>
                  <a:schemeClr val="tx2"/>
                </a:solidFill>
              </a:rPr>
              <a:t> 출원하지 못하고 시간적 간격이 존재할 수밖에 없다</a:t>
            </a:r>
            <a:r>
              <a:rPr lang="en-US" altLang="ko-KR" sz="1400" dirty="0">
                <a:solidFill>
                  <a:schemeClr val="tx2"/>
                </a:solidFill>
              </a:rPr>
              <a:t>. </a:t>
            </a:r>
            <a:r>
              <a:rPr lang="ko-KR" altLang="en-US" sz="1400" dirty="0">
                <a:solidFill>
                  <a:schemeClr val="tx2"/>
                </a:solidFill>
              </a:rPr>
              <a:t>이 경우 우선권주장을 수반하지 아니한다면 </a:t>
            </a:r>
            <a:r>
              <a:rPr lang="ko-KR" altLang="en-US" sz="1400" dirty="0" err="1">
                <a:solidFill>
                  <a:schemeClr val="tx2"/>
                </a:solidFill>
              </a:rPr>
              <a:t>유럽특허청</a:t>
            </a:r>
            <a:r>
              <a:rPr lang="en-US" altLang="ko-KR" sz="1400" dirty="0">
                <a:solidFill>
                  <a:schemeClr val="tx2"/>
                </a:solidFill>
              </a:rPr>
              <a:t>(EPO) </a:t>
            </a:r>
            <a:r>
              <a:rPr lang="ko-KR" altLang="en-US" sz="1400" dirty="0">
                <a:solidFill>
                  <a:schemeClr val="tx2"/>
                </a:solidFill>
              </a:rPr>
              <a:t>출원과 한국 출원은 </a:t>
            </a:r>
            <a:r>
              <a:rPr lang="en-US" altLang="ko-KR" sz="1400" dirty="0">
                <a:solidFill>
                  <a:schemeClr val="tx2"/>
                </a:solidFill>
              </a:rPr>
              <a:t>A </a:t>
            </a:r>
            <a:r>
              <a:rPr lang="ko-KR" altLang="en-US" sz="1400" dirty="0">
                <a:solidFill>
                  <a:schemeClr val="tx2"/>
                </a:solidFill>
              </a:rPr>
              <a:t>공지로 인해 신규성 상실로 특허를 받을 수 없게 된다</a:t>
            </a:r>
            <a:r>
              <a:rPr lang="en-US" altLang="ko-KR" sz="1400" dirty="0">
                <a:solidFill>
                  <a:schemeClr val="tx2"/>
                </a:solidFill>
              </a:rPr>
              <a:t>. </a:t>
            </a:r>
            <a:r>
              <a:rPr lang="ko-KR" altLang="en-US" sz="1400" dirty="0">
                <a:solidFill>
                  <a:schemeClr val="tx2"/>
                </a:solidFill>
              </a:rPr>
              <a:t>그러나 중국출원일로부터 </a:t>
            </a:r>
            <a:r>
              <a:rPr lang="en-US" altLang="ko-KR" sz="1400" dirty="0">
                <a:solidFill>
                  <a:schemeClr val="tx2"/>
                </a:solidFill>
              </a:rPr>
              <a:t>1</a:t>
            </a:r>
            <a:r>
              <a:rPr lang="ko-KR" altLang="en-US" sz="1400" dirty="0">
                <a:solidFill>
                  <a:schemeClr val="tx2"/>
                </a:solidFill>
              </a:rPr>
              <a:t>년 이내 우선권주장을 수반한다면 </a:t>
            </a:r>
            <a:r>
              <a:rPr lang="ko-KR" altLang="en-US" sz="1400" dirty="0" err="1">
                <a:solidFill>
                  <a:schemeClr val="tx2"/>
                </a:solidFill>
              </a:rPr>
              <a:t>유럽특허청</a:t>
            </a:r>
            <a:r>
              <a:rPr lang="en-US" altLang="ko-KR" sz="1400" dirty="0">
                <a:solidFill>
                  <a:schemeClr val="tx2"/>
                </a:solidFill>
              </a:rPr>
              <a:t>(EPO) </a:t>
            </a:r>
            <a:r>
              <a:rPr lang="ko-KR" altLang="en-US" sz="1400" dirty="0">
                <a:solidFill>
                  <a:schemeClr val="tx2"/>
                </a:solidFill>
              </a:rPr>
              <a:t>출원과 한국 출원 모두 중국 </a:t>
            </a:r>
            <a:r>
              <a:rPr lang="ko-KR" altLang="en-US" sz="1400" dirty="0" err="1">
                <a:solidFill>
                  <a:schemeClr val="tx2"/>
                </a:solidFill>
              </a:rPr>
              <a:t>출원일로</a:t>
            </a:r>
            <a:r>
              <a:rPr lang="ko-KR" altLang="en-US" sz="1400" dirty="0">
                <a:solidFill>
                  <a:schemeClr val="tx2"/>
                </a:solidFill>
              </a:rPr>
              <a:t> </a:t>
            </a:r>
            <a:r>
              <a:rPr lang="ko-KR" altLang="en-US" sz="1400" dirty="0" err="1">
                <a:solidFill>
                  <a:schemeClr val="tx2"/>
                </a:solidFill>
              </a:rPr>
              <a:t>특허요건</a:t>
            </a:r>
            <a:r>
              <a:rPr lang="ko-KR" altLang="en-US" sz="1400" dirty="0">
                <a:solidFill>
                  <a:schemeClr val="tx2"/>
                </a:solidFill>
              </a:rPr>
              <a:t> </a:t>
            </a:r>
            <a:r>
              <a:rPr lang="ko-KR" altLang="en-US" sz="1400" dirty="0" err="1">
                <a:solidFill>
                  <a:schemeClr val="tx2"/>
                </a:solidFill>
              </a:rPr>
              <a:t>판단시점이</a:t>
            </a:r>
            <a:r>
              <a:rPr lang="ko-KR" altLang="en-US" sz="1400" dirty="0">
                <a:solidFill>
                  <a:schemeClr val="tx2"/>
                </a:solidFill>
              </a:rPr>
              <a:t> 소급하기 때문에 </a:t>
            </a:r>
            <a:r>
              <a:rPr lang="en-US" altLang="ko-KR" sz="1400" dirty="0">
                <a:solidFill>
                  <a:schemeClr val="tx2"/>
                </a:solidFill>
              </a:rPr>
              <a:t>A </a:t>
            </a:r>
            <a:r>
              <a:rPr lang="ko-KR" altLang="en-US" sz="1400" dirty="0">
                <a:solidFill>
                  <a:schemeClr val="tx2"/>
                </a:solidFill>
              </a:rPr>
              <a:t>공지로 인해 신규성이 상실되지 아니하여 특허를 받을 수 있게 된다</a:t>
            </a:r>
            <a:r>
              <a:rPr lang="en-US" altLang="ko-KR" sz="1400" dirty="0">
                <a:solidFill>
                  <a:schemeClr val="tx2"/>
                </a:solidFill>
              </a:rPr>
              <a:t>. </a:t>
            </a:r>
            <a:r>
              <a:rPr lang="ko-KR" altLang="en-US" sz="1400" dirty="0">
                <a:solidFill>
                  <a:schemeClr val="tx2"/>
                </a:solidFill>
              </a:rPr>
              <a:t>이와 같이 특허법은 </a:t>
            </a:r>
            <a:r>
              <a:rPr lang="ko-KR" altLang="en-US" sz="1400" dirty="0">
                <a:highlight>
                  <a:srgbClr val="FFFF00"/>
                </a:highlight>
              </a:rPr>
              <a:t>진정한 </a:t>
            </a:r>
            <a:r>
              <a:rPr lang="ko-KR" altLang="en-US" sz="1400" dirty="0" err="1">
                <a:highlight>
                  <a:srgbClr val="FFFF00"/>
                </a:highlight>
              </a:rPr>
              <a:t>선출원자의</a:t>
            </a:r>
            <a:r>
              <a:rPr lang="ko-KR" altLang="en-US" sz="1400" dirty="0">
                <a:highlight>
                  <a:srgbClr val="FFFF00"/>
                </a:highlight>
              </a:rPr>
              <a:t> 지위를 보장하고 발명의 국제적 보호</a:t>
            </a:r>
            <a:r>
              <a:rPr lang="ko-KR" altLang="en-US" sz="1400" dirty="0">
                <a:solidFill>
                  <a:schemeClr val="tx2"/>
                </a:solidFill>
              </a:rPr>
              <a:t>를 위해 조약우선권제도를 두고 있다</a:t>
            </a:r>
            <a:r>
              <a:rPr lang="en-US" altLang="ko-KR" sz="1400" dirty="0">
                <a:solidFill>
                  <a:schemeClr val="tx2"/>
                </a:solidFill>
              </a:rPr>
              <a:t>. </a:t>
            </a:r>
            <a:r>
              <a:rPr lang="ko-KR" altLang="en-US" sz="1400" dirty="0">
                <a:solidFill>
                  <a:schemeClr val="tx2"/>
                </a:solidFill>
              </a:rPr>
              <a:t>이러한 조약에 의한 </a:t>
            </a:r>
            <a:r>
              <a:rPr lang="ko-KR" altLang="en-US" sz="1400" dirty="0">
                <a:highlight>
                  <a:srgbClr val="FFFF00"/>
                </a:highlight>
              </a:rPr>
              <a:t>우선권제도는 파리조약상의 우선권제도가 기본적으로 적용이 되고 그 밖에 </a:t>
            </a:r>
            <a:r>
              <a:rPr lang="ko-KR" altLang="en-US" sz="1400" dirty="0" err="1">
                <a:highlight>
                  <a:srgbClr val="FFFF00"/>
                </a:highlight>
              </a:rPr>
              <a:t>파리조약의</a:t>
            </a:r>
            <a:r>
              <a:rPr lang="ko-KR" altLang="en-US" sz="1400" dirty="0">
                <a:highlight>
                  <a:srgbClr val="FFFF00"/>
                </a:highlight>
              </a:rPr>
              <a:t> 비동맹국이라고 하더라도 우리나라와 조약에 따라 상호 우선권을 인정하기로 한 국가의 경우에도 적용</a:t>
            </a:r>
            <a:r>
              <a:rPr lang="ko-KR" altLang="en-US" sz="1400" dirty="0">
                <a:solidFill>
                  <a:schemeClr val="tx2"/>
                </a:solidFill>
              </a:rPr>
              <a:t>이 된다</a:t>
            </a:r>
            <a:r>
              <a:rPr lang="en-US" altLang="ko-KR" sz="1400" dirty="0">
                <a:solidFill>
                  <a:schemeClr val="tx2"/>
                </a:solidFill>
              </a:rPr>
              <a:t>.</a:t>
            </a:r>
          </a:p>
        </p:txBody>
      </p:sp>
      <p:cxnSp>
        <p:nvCxnSpPr>
          <p:cNvPr id="34" name="직선 연결선 33"/>
          <p:cNvCxnSpPr/>
          <p:nvPr/>
        </p:nvCxnSpPr>
        <p:spPr>
          <a:xfrm>
            <a:off x="0" y="237104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직선 연결선 80"/>
          <p:cNvCxnSpPr/>
          <p:nvPr/>
        </p:nvCxnSpPr>
        <p:spPr>
          <a:xfrm>
            <a:off x="6317968" y="4168547"/>
            <a:ext cx="567393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3" name="직사각형 82"/>
          <p:cNvSpPr/>
          <p:nvPr/>
        </p:nvSpPr>
        <p:spPr>
          <a:xfrm>
            <a:off x="6268213" y="4539572"/>
            <a:ext cx="1280080"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a:solidFill>
                  <a:schemeClr val="tx1"/>
                </a:solidFill>
              </a:rPr>
              <a:t>일본출원</a:t>
            </a:r>
            <a:r>
              <a:rPr lang="en-US" altLang="ko-KR" sz="1100" dirty="0">
                <a:solidFill>
                  <a:schemeClr val="tx1"/>
                </a:solidFill>
              </a:rPr>
              <a:t>(X)</a:t>
            </a:r>
            <a:endParaRPr lang="ko-KR" altLang="en-US" sz="1100" dirty="0">
              <a:solidFill>
                <a:schemeClr val="tx1"/>
              </a:solidFill>
            </a:endParaRPr>
          </a:p>
        </p:txBody>
      </p:sp>
      <p:cxnSp>
        <p:nvCxnSpPr>
          <p:cNvPr id="103" name="직선 화살표 연결선 102"/>
          <p:cNvCxnSpPr>
            <a:stCxn id="107" idx="1"/>
          </p:cNvCxnSpPr>
          <p:nvPr/>
        </p:nvCxnSpPr>
        <p:spPr>
          <a:xfrm flipH="1">
            <a:off x="7269073" y="5221452"/>
            <a:ext cx="657314" cy="993753"/>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5" name="직사각형 104"/>
          <p:cNvSpPr/>
          <p:nvPr/>
        </p:nvSpPr>
        <p:spPr>
          <a:xfrm>
            <a:off x="7926727" y="4539572"/>
            <a:ext cx="1280080" cy="22950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한국출원</a:t>
            </a:r>
            <a:r>
              <a:rPr lang="en-US" altLang="ko-KR" sz="1100" dirty="0">
                <a:solidFill>
                  <a:schemeClr val="tx1"/>
                </a:solidFill>
              </a:rPr>
              <a:t>(Y)</a:t>
            </a:r>
            <a:endParaRPr lang="ko-KR" altLang="en-US" sz="1100" dirty="0">
              <a:solidFill>
                <a:schemeClr val="tx1"/>
              </a:solidFill>
            </a:endParaRPr>
          </a:p>
        </p:txBody>
      </p:sp>
      <p:sp>
        <p:nvSpPr>
          <p:cNvPr id="106" name="직사각형 105"/>
          <p:cNvSpPr/>
          <p:nvPr/>
        </p:nvSpPr>
        <p:spPr>
          <a:xfrm>
            <a:off x="7926387" y="4770328"/>
            <a:ext cx="1280080" cy="2295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X </a:t>
            </a:r>
            <a:r>
              <a:rPr lang="ko-KR" altLang="en-US" sz="1100" dirty="0">
                <a:solidFill>
                  <a:schemeClr val="tx1"/>
                </a:solidFill>
              </a:rPr>
              <a:t>기초 </a:t>
            </a:r>
            <a:r>
              <a:rPr lang="ko-KR" altLang="en-US" sz="1100" dirty="0" err="1">
                <a:solidFill>
                  <a:schemeClr val="tx1"/>
                </a:solidFill>
              </a:rPr>
              <a:t>우선권주장</a:t>
            </a:r>
            <a:endParaRPr lang="ko-KR" altLang="en-US" sz="1100" dirty="0">
              <a:solidFill>
                <a:schemeClr val="tx1"/>
              </a:solidFill>
            </a:endParaRPr>
          </a:p>
        </p:txBody>
      </p:sp>
      <p:sp>
        <p:nvSpPr>
          <p:cNvPr id="107" name="직사각형 106"/>
          <p:cNvSpPr/>
          <p:nvPr/>
        </p:nvSpPr>
        <p:spPr>
          <a:xfrm>
            <a:off x="7926387" y="5106702"/>
            <a:ext cx="1280080" cy="22950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C</a:t>
            </a:r>
            <a:endParaRPr lang="ko-KR" altLang="en-US" sz="1100" dirty="0">
              <a:solidFill>
                <a:schemeClr val="tx1"/>
              </a:solidFill>
            </a:endParaRPr>
          </a:p>
        </p:txBody>
      </p:sp>
      <p:sp>
        <p:nvSpPr>
          <p:cNvPr id="108" name="직사각형 107"/>
          <p:cNvSpPr/>
          <p:nvPr/>
        </p:nvSpPr>
        <p:spPr>
          <a:xfrm>
            <a:off x="7926387" y="5336203"/>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cxnSp>
        <p:nvCxnSpPr>
          <p:cNvPr id="50" name="직선 화살표 연결선 49"/>
          <p:cNvCxnSpPr/>
          <p:nvPr/>
        </p:nvCxnSpPr>
        <p:spPr>
          <a:xfrm>
            <a:off x="300286" y="3576492"/>
            <a:ext cx="5624264"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1" name="Rectangle 14"/>
          <p:cNvSpPr>
            <a:spLocks noChangeArrowheads="1"/>
          </p:cNvSpPr>
          <p:nvPr/>
        </p:nvSpPr>
        <p:spPr bwMode="auto">
          <a:xfrm>
            <a:off x="689457" y="3382948"/>
            <a:ext cx="874590" cy="3526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100" dirty="0">
                <a:latin typeface="+mj-ea"/>
                <a:ea typeface="+mj-ea"/>
              </a:rPr>
              <a:t>A </a:t>
            </a:r>
            <a:r>
              <a:rPr lang="ko-KR" altLang="en-US" sz="1100" dirty="0">
                <a:latin typeface="+mj-ea"/>
                <a:ea typeface="+mj-ea"/>
              </a:rPr>
              <a:t>중국출원</a:t>
            </a:r>
          </a:p>
        </p:txBody>
      </p:sp>
      <p:sp>
        <p:nvSpPr>
          <p:cNvPr id="53" name="Rectangle 14"/>
          <p:cNvSpPr>
            <a:spLocks noChangeArrowheads="1"/>
          </p:cNvSpPr>
          <p:nvPr/>
        </p:nvSpPr>
        <p:spPr bwMode="auto">
          <a:xfrm>
            <a:off x="1655103" y="3382948"/>
            <a:ext cx="874590" cy="3526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100" dirty="0">
                <a:latin typeface="+mj-ea"/>
                <a:ea typeface="+mj-ea"/>
              </a:rPr>
              <a:t>A </a:t>
            </a:r>
            <a:r>
              <a:rPr lang="ko-KR" altLang="en-US" sz="1100" dirty="0">
                <a:latin typeface="+mj-ea"/>
                <a:ea typeface="+mj-ea"/>
              </a:rPr>
              <a:t>일본출원</a:t>
            </a:r>
          </a:p>
        </p:txBody>
      </p:sp>
      <p:sp>
        <p:nvSpPr>
          <p:cNvPr id="54" name="Rectangle 14"/>
          <p:cNvSpPr>
            <a:spLocks noChangeArrowheads="1"/>
          </p:cNvSpPr>
          <p:nvPr/>
        </p:nvSpPr>
        <p:spPr bwMode="auto">
          <a:xfrm>
            <a:off x="3016597" y="3382948"/>
            <a:ext cx="874590" cy="3526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100" dirty="0">
                <a:latin typeface="+mj-ea"/>
                <a:ea typeface="+mj-ea"/>
              </a:rPr>
              <a:t>A EPO </a:t>
            </a:r>
            <a:r>
              <a:rPr lang="ko-KR" altLang="en-US" sz="1100" dirty="0">
                <a:latin typeface="+mj-ea"/>
                <a:ea typeface="+mj-ea"/>
              </a:rPr>
              <a:t>출원</a:t>
            </a:r>
          </a:p>
        </p:txBody>
      </p:sp>
      <p:sp>
        <p:nvSpPr>
          <p:cNvPr id="55" name="Rectangle 14"/>
          <p:cNvSpPr>
            <a:spLocks noChangeArrowheads="1"/>
          </p:cNvSpPr>
          <p:nvPr/>
        </p:nvSpPr>
        <p:spPr bwMode="auto">
          <a:xfrm>
            <a:off x="3996354" y="3382948"/>
            <a:ext cx="874590" cy="35263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100" dirty="0">
                <a:latin typeface="+mj-ea"/>
                <a:ea typeface="+mj-ea"/>
              </a:rPr>
              <a:t>A </a:t>
            </a:r>
            <a:r>
              <a:rPr lang="ko-KR" altLang="en-US" sz="1100" dirty="0">
                <a:latin typeface="+mj-ea"/>
                <a:ea typeface="+mj-ea"/>
              </a:rPr>
              <a:t>한국출원</a:t>
            </a:r>
          </a:p>
        </p:txBody>
      </p:sp>
      <p:sp>
        <p:nvSpPr>
          <p:cNvPr id="56" name="자유형 55"/>
          <p:cNvSpPr/>
          <p:nvPr/>
        </p:nvSpPr>
        <p:spPr>
          <a:xfrm>
            <a:off x="830989" y="3600752"/>
            <a:ext cx="4699977" cy="1684376"/>
          </a:xfrm>
          <a:custGeom>
            <a:avLst/>
            <a:gdLst>
              <a:gd name="connsiteX0" fmla="*/ 0 w 6957060"/>
              <a:gd name="connsiteY0" fmla="*/ 129540 h 1554480"/>
              <a:gd name="connsiteX1" fmla="*/ 0 w 6957060"/>
              <a:gd name="connsiteY1" fmla="*/ 1554480 h 1554480"/>
              <a:gd name="connsiteX2" fmla="*/ 6957060 w 6957060"/>
              <a:gd name="connsiteY2" fmla="*/ 1554480 h 1554480"/>
              <a:gd name="connsiteX3" fmla="*/ 6957060 w 6957060"/>
              <a:gd name="connsiteY3" fmla="*/ 0 h 1554480"/>
            </a:gdLst>
            <a:ahLst/>
            <a:cxnLst>
              <a:cxn ang="0">
                <a:pos x="connsiteX0" y="connsiteY0"/>
              </a:cxn>
              <a:cxn ang="0">
                <a:pos x="connsiteX1" y="connsiteY1"/>
              </a:cxn>
              <a:cxn ang="0">
                <a:pos x="connsiteX2" y="connsiteY2"/>
              </a:cxn>
              <a:cxn ang="0">
                <a:pos x="connsiteX3" y="connsiteY3"/>
              </a:cxn>
            </a:cxnLst>
            <a:rect l="l" t="t" r="r" b="b"/>
            <a:pathLst>
              <a:path w="6957060" h="1554480">
                <a:moveTo>
                  <a:pt x="0" y="129540"/>
                </a:moveTo>
                <a:lnTo>
                  <a:pt x="0" y="1554480"/>
                </a:lnTo>
                <a:lnTo>
                  <a:pt x="6957060" y="1554480"/>
                </a:lnTo>
                <a:lnTo>
                  <a:pt x="6957060" y="0"/>
                </a:lnTo>
              </a:path>
            </a:pathLst>
          </a:custGeom>
          <a:noFill/>
          <a:ln w="38100">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p>
        </p:txBody>
      </p:sp>
      <p:sp>
        <p:nvSpPr>
          <p:cNvPr id="57" name="Rectangle 29"/>
          <p:cNvSpPr>
            <a:spLocks noChangeArrowheads="1"/>
          </p:cNvSpPr>
          <p:nvPr/>
        </p:nvSpPr>
        <p:spPr bwMode="auto">
          <a:xfrm>
            <a:off x="2623034" y="5174614"/>
            <a:ext cx="948842" cy="233941"/>
          </a:xfrm>
          <a:prstGeom prst="rect">
            <a:avLst/>
          </a:prstGeom>
          <a:solidFill>
            <a:schemeClr val="bg1"/>
          </a:solidFill>
          <a:ln w="9525">
            <a:noFill/>
            <a:miter lim="800000"/>
            <a:headEnd/>
            <a:tailEnd/>
          </a:ln>
        </p:spPr>
        <p:txBody>
          <a:bodyPr wrap="none" anchor="ctr"/>
          <a:lstStyle/>
          <a:p>
            <a:pPr algn="ctr">
              <a:defRPr/>
            </a:pPr>
            <a:r>
              <a:rPr lang="ko-KR" altLang="en-US" sz="1200" dirty="0">
                <a:solidFill>
                  <a:srgbClr val="FF0000"/>
                </a:solidFill>
                <a:latin typeface="+mn-ea"/>
              </a:rPr>
              <a:t>우선기간 </a:t>
            </a:r>
            <a:r>
              <a:rPr lang="en-US" altLang="ko-KR" sz="1200" dirty="0">
                <a:solidFill>
                  <a:srgbClr val="FF0000"/>
                </a:solidFill>
                <a:latin typeface="+mn-ea"/>
              </a:rPr>
              <a:t>1</a:t>
            </a:r>
            <a:r>
              <a:rPr lang="ko-KR" altLang="en-US" sz="1200" dirty="0">
                <a:solidFill>
                  <a:srgbClr val="FF0000"/>
                </a:solidFill>
                <a:latin typeface="+mn-ea"/>
              </a:rPr>
              <a:t>년</a:t>
            </a:r>
          </a:p>
        </p:txBody>
      </p:sp>
      <p:sp>
        <p:nvSpPr>
          <p:cNvPr id="58" name="직사각형 57"/>
          <p:cNvSpPr/>
          <p:nvPr/>
        </p:nvSpPr>
        <p:spPr>
          <a:xfrm>
            <a:off x="2402148" y="3919800"/>
            <a:ext cx="795423" cy="234075"/>
          </a:xfrm>
          <a:prstGeom prst="rect">
            <a:avLst/>
          </a:prstGeom>
          <a:solidFill>
            <a:schemeClr val="bg1">
              <a:lumMod val="85000"/>
            </a:schemeClr>
          </a:solidFill>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100"/>
              <a:t>A </a:t>
            </a:r>
            <a:r>
              <a:rPr lang="ko-KR" altLang="en-US" sz="1100" dirty="0"/>
              <a:t>공지</a:t>
            </a:r>
          </a:p>
        </p:txBody>
      </p:sp>
      <p:cxnSp>
        <p:nvCxnSpPr>
          <p:cNvPr id="59" name="직선 화살표 연결선 58"/>
          <p:cNvCxnSpPr/>
          <p:nvPr/>
        </p:nvCxnSpPr>
        <p:spPr>
          <a:xfrm flipV="1">
            <a:off x="2803971" y="3580950"/>
            <a:ext cx="0" cy="321715"/>
          </a:xfrm>
          <a:prstGeom prst="straightConnector1">
            <a:avLst/>
          </a:prstGeom>
          <a:ln w="38100">
            <a:solidFill>
              <a:schemeClr val="accent3"/>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0" name="자유형 59"/>
          <p:cNvSpPr/>
          <p:nvPr/>
        </p:nvSpPr>
        <p:spPr>
          <a:xfrm>
            <a:off x="923649" y="3732860"/>
            <a:ext cx="3482997" cy="1065120"/>
          </a:xfrm>
          <a:custGeom>
            <a:avLst/>
            <a:gdLst>
              <a:gd name="connsiteX0" fmla="*/ 0 w 4259580"/>
              <a:gd name="connsiteY0" fmla="*/ 0 h 982980"/>
              <a:gd name="connsiteX1" fmla="*/ 0 w 4259580"/>
              <a:gd name="connsiteY1" fmla="*/ 982980 h 982980"/>
              <a:gd name="connsiteX2" fmla="*/ 4259580 w 4259580"/>
              <a:gd name="connsiteY2" fmla="*/ 982980 h 982980"/>
              <a:gd name="connsiteX3" fmla="*/ 4259580 w 4259580"/>
              <a:gd name="connsiteY3" fmla="*/ 45720 h 982980"/>
            </a:gdLst>
            <a:ahLst/>
            <a:cxnLst>
              <a:cxn ang="0">
                <a:pos x="connsiteX0" y="connsiteY0"/>
              </a:cxn>
              <a:cxn ang="0">
                <a:pos x="connsiteX1" y="connsiteY1"/>
              </a:cxn>
              <a:cxn ang="0">
                <a:pos x="connsiteX2" y="connsiteY2"/>
              </a:cxn>
              <a:cxn ang="0">
                <a:pos x="connsiteX3" y="connsiteY3"/>
              </a:cxn>
            </a:cxnLst>
            <a:rect l="l" t="t" r="r" b="b"/>
            <a:pathLst>
              <a:path w="4259580" h="982980">
                <a:moveTo>
                  <a:pt x="0" y="0"/>
                </a:moveTo>
                <a:lnTo>
                  <a:pt x="0" y="982980"/>
                </a:lnTo>
                <a:lnTo>
                  <a:pt x="4259580" y="982980"/>
                </a:lnTo>
                <a:lnTo>
                  <a:pt x="4259580" y="45720"/>
                </a:lnTo>
              </a:path>
            </a:pathLst>
          </a:custGeom>
          <a:noFill/>
          <a:ln w="12700">
            <a:solidFill>
              <a:schemeClr val="bg1">
                <a:lumMod val="5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p>
        </p:txBody>
      </p:sp>
      <p:sp>
        <p:nvSpPr>
          <p:cNvPr id="61" name="자유형 60"/>
          <p:cNvSpPr/>
          <p:nvPr/>
        </p:nvSpPr>
        <p:spPr>
          <a:xfrm>
            <a:off x="1029981" y="3732860"/>
            <a:ext cx="2388057" cy="710080"/>
          </a:xfrm>
          <a:custGeom>
            <a:avLst/>
            <a:gdLst>
              <a:gd name="connsiteX0" fmla="*/ 0 w 4259580"/>
              <a:gd name="connsiteY0" fmla="*/ 0 h 982980"/>
              <a:gd name="connsiteX1" fmla="*/ 0 w 4259580"/>
              <a:gd name="connsiteY1" fmla="*/ 982980 h 982980"/>
              <a:gd name="connsiteX2" fmla="*/ 4259580 w 4259580"/>
              <a:gd name="connsiteY2" fmla="*/ 982980 h 982980"/>
              <a:gd name="connsiteX3" fmla="*/ 4259580 w 4259580"/>
              <a:gd name="connsiteY3" fmla="*/ 45720 h 982980"/>
            </a:gdLst>
            <a:ahLst/>
            <a:cxnLst>
              <a:cxn ang="0">
                <a:pos x="connsiteX0" y="connsiteY0"/>
              </a:cxn>
              <a:cxn ang="0">
                <a:pos x="connsiteX1" y="connsiteY1"/>
              </a:cxn>
              <a:cxn ang="0">
                <a:pos x="connsiteX2" y="connsiteY2"/>
              </a:cxn>
              <a:cxn ang="0">
                <a:pos x="connsiteX3" y="connsiteY3"/>
              </a:cxn>
            </a:cxnLst>
            <a:rect l="l" t="t" r="r" b="b"/>
            <a:pathLst>
              <a:path w="4259580" h="982980">
                <a:moveTo>
                  <a:pt x="0" y="0"/>
                </a:moveTo>
                <a:lnTo>
                  <a:pt x="0" y="982980"/>
                </a:lnTo>
                <a:lnTo>
                  <a:pt x="4259580" y="982980"/>
                </a:lnTo>
                <a:lnTo>
                  <a:pt x="4259580" y="45720"/>
                </a:lnTo>
              </a:path>
            </a:pathLst>
          </a:custGeom>
          <a:noFill/>
          <a:ln w="12700">
            <a:solidFill>
              <a:schemeClr val="bg1">
                <a:lumMod val="5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p>
        </p:txBody>
      </p:sp>
      <p:sp>
        <p:nvSpPr>
          <p:cNvPr id="62" name="자유형 61"/>
          <p:cNvSpPr/>
          <p:nvPr/>
        </p:nvSpPr>
        <p:spPr>
          <a:xfrm>
            <a:off x="1127275" y="3732860"/>
            <a:ext cx="823389" cy="355040"/>
          </a:xfrm>
          <a:custGeom>
            <a:avLst/>
            <a:gdLst>
              <a:gd name="connsiteX0" fmla="*/ 0 w 4259580"/>
              <a:gd name="connsiteY0" fmla="*/ 0 h 982980"/>
              <a:gd name="connsiteX1" fmla="*/ 0 w 4259580"/>
              <a:gd name="connsiteY1" fmla="*/ 982980 h 982980"/>
              <a:gd name="connsiteX2" fmla="*/ 4259580 w 4259580"/>
              <a:gd name="connsiteY2" fmla="*/ 982980 h 982980"/>
              <a:gd name="connsiteX3" fmla="*/ 4259580 w 4259580"/>
              <a:gd name="connsiteY3" fmla="*/ 45720 h 982980"/>
            </a:gdLst>
            <a:ahLst/>
            <a:cxnLst>
              <a:cxn ang="0">
                <a:pos x="connsiteX0" y="connsiteY0"/>
              </a:cxn>
              <a:cxn ang="0">
                <a:pos x="connsiteX1" y="connsiteY1"/>
              </a:cxn>
              <a:cxn ang="0">
                <a:pos x="connsiteX2" y="connsiteY2"/>
              </a:cxn>
              <a:cxn ang="0">
                <a:pos x="connsiteX3" y="connsiteY3"/>
              </a:cxn>
            </a:cxnLst>
            <a:rect l="l" t="t" r="r" b="b"/>
            <a:pathLst>
              <a:path w="4259580" h="982980">
                <a:moveTo>
                  <a:pt x="0" y="0"/>
                </a:moveTo>
                <a:lnTo>
                  <a:pt x="0" y="982980"/>
                </a:lnTo>
                <a:lnTo>
                  <a:pt x="4259580" y="982980"/>
                </a:lnTo>
                <a:lnTo>
                  <a:pt x="4259580" y="45720"/>
                </a:lnTo>
              </a:path>
            </a:pathLst>
          </a:custGeom>
          <a:noFill/>
          <a:ln w="12700">
            <a:solidFill>
              <a:schemeClr val="bg1">
                <a:lumMod val="5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p>
        </p:txBody>
      </p:sp>
      <p:sp>
        <p:nvSpPr>
          <p:cNvPr id="63" name="Rectangle 29"/>
          <p:cNvSpPr>
            <a:spLocks noChangeArrowheads="1"/>
          </p:cNvSpPr>
          <p:nvPr/>
        </p:nvSpPr>
        <p:spPr bwMode="auto">
          <a:xfrm>
            <a:off x="1240264" y="4082127"/>
            <a:ext cx="584495" cy="233941"/>
          </a:xfrm>
          <a:prstGeom prst="rect">
            <a:avLst/>
          </a:prstGeom>
          <a:noFill/>
          <a:ln w="9525">
            <a:noFill/>
            <a:miter lim="800000"/>
            <a:headEnd/>
            <a:tailEnd/>
          </a:ln>
        </p:spPr>
        <p:txBody>
          <a:bodyPr wrap="none" anchor="ctr"/>
          <a:lstStyle/>
          <a:p>
            <a:pPr algn="ctr">
              <a:defRPr/>
            </a:pPr>
            <a:r>
              <a:rPr lang="ko-KR" altLang="en-US" sz="1100">
                <a:solidFill>
                  <a:srgbClr val="000000"/>
                </a:solidFill>
                <a:latin typeface="+mn-ea"/>
              </a:rPr>
              <a:t>우선권주장</a:t>
            </a:r>
            <a:endParaRPr lang="ko-KR" altLang="en-US" sz="1100" dirty="0">
              <a:solidFill>
                <a:srgbClr val="000000"/>
              </a:solidFill>
              <a:latin typeface="+mn-ea"/>
            </a:endParaRPr>
          </a:p>
        </p:txBody>
      </p:sp>
      <p:sp>
        <p:nvSpPr>
          <p:cNvPr id="64" name="Rectangle 29"/>
          <p:cNvSpPr>
            <a:spLocks noChangeArrowheads="1"/>
          </p:cNvSpPr>
          <p:nvPr/>
        </p:nvSpPr>
        <p:spPr bwMode="auto">
          <a:xfrm>
            <a:off x="1636680" y="4442941"/>
            <a:ext cx="584495" cy="233941"/>
          </a:xfrm>
          <a:prstGeom prst="rect">
            <a:avLst/>
          </a:prstGeom>
          <a:noFill/>
          <a:ln w="9525">
            <a:noFill/>
            <a:miter lim="800000"/>
            <a:headEnd/>
            <a:tailEnd/>
          </a:ln>
        </p:spPr>
        <p:txBody>
          <a:bodyPr wrap="none" anchor="ctr"/>
          <a:lstStyle/>
          <a:p>
            <a:pPr algn="ctr">
              <a:defRPr/>
            </a:pPr>
            <a:r>
              <a:rPr lang="ko-KR" altLang="en-US" sz="1100">
                <a:solidFill>
                  <a:srgbClr val="000000"/>
                </a:solidFill>
                <a:latin typeface="+mn-ea"/>
              </a:rPr>
              <a:t>우선권주장</a:t>
            </a:r>
            <a:endParaRPr lang="ko-KR" altLang="en-US" sz="1100" dirty="0">
              <a:solidFill>
                <a:srgbClr val="000000"/>
              </a:solidFill>
              <a:latin typeface="+mn-ea"/>
            </a:endParaRPr>
          </a:p>
        </p:txBody>
      </p:sp>
      <p:sp>
        <p:nvSpPr>
          <p:cNvPr id="65" name="Rectangle 29"/>
          <p:cNvSpPr>
            <a:spLocks noChangeArrowheads="1"/>
          </p:cNvSpPr>
          <p:nvPr/>
        </p:nvSpPr>
        <p:spPr bwMode="auto">
          <a:xfrm>
            <a:off x="2294420" y="4797981"/>
            <a:ext cx="584495" cy="233941"/>
          </a:xfrm>
          <a:prstGeom prst="rect">
            <a:avLst/>
          </a:prstGeom>
          <a:noFill/>
          <a:ln w="9525">
            <a:noFill/>
            <a:miter lim="800000"/>
            <a:headEnd/>
            <a:tailEnd/>
          </a:ln>
        </p:spPr>
        <p:txBody>
          <a:bodyPr wrap="none" anchor="ctr"/>
          <a:lstStyle/>
          <a:p>
            <a:pPr algn="ctr">
              <a:defRPr/>
            </a:pPr>
            <a:r>
              <a:rPr lang="ko-KR" altLang="en-US" sz="1100" dirty="0" err="1">
                <a:solidFill>
                  <a:srgbClr val="000000"/>
                </a:solidFill>
                <a:latin typeface="+mn-ea"/>
              </a:rPr>
              <a:t>우선권주장</a:t>
            </a:r>
            <a:endParaRPr lang="ko-KR" altLang="en-US" sz="1100" dirty="0">
              <a:solidFill>
                <a:srgbClr val="000000"/>
              </a:solidFill>
              <a:latin typeface="+mn-ea"/>
            </a:endParaRPr>
          </a:p>
        </p:txBody>
      </p:sp>
      <p:sp>
        <p:nvSpPr>
          <p:cNvPr id="66" name="왼쪽 중괄호 65"/>
          <p:cNvSpPr/>
          <p:nvPr/>
        </p:nvSpPr>
        <p:spPr>
          <a:xfrm rot="5400000">
            <a:off x="2456892" y="1397123"/>
            <a:ext cx="468151" cy="3431356"/>
          </a:xfrm>
          <a:prstGeom prst="leftBrace">
            <a:avLst>
              <a:gd name="adj1" fmla="val 123885"/>
              <a:gd name="adj2" fmla="val 50000"/>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1100"/>
          </a:p>
        </p:txBody>
      </p:sp>
      <p:sp>
        <p:nvSpPr>
          <p:cNvPr id="67" name="Rectangle 29"/>
          <p:cNvSpPr>
            <a:spLocks noChangeArrowheads="1"/>
          </p:cNvSpPr>
          <p:nvPr/>
        </p:nvSpPr>
        <p:spPr bwMode="auto">
          <a:xfrm>
            <a:off x="2467519" y="2583847"/>
            <a:ext cx="584495" cy="233941"/>
          </a:xfrm>
          <a:prstGeom prst="rect">
            <a:avLst/>
          </a:prstGeom>
          <a:noFill/>
          <a:ln w="9525">
            <a:noFill/>
            <a:miter lim="800000"/>
            <a:headEnd/>
            <a:tailEnd/>
          </a:ln>
        </p:spPr>
        <p:txBody>
          <a:bodyPr wrap="none" anchor="ctr"/>
          <a:lstStyle/>
          <a:p>
            <a:pPr algn="ctr">
              <a:defRPr/>
            </a:pPr>
            <a:r>
              <a:rPr lang="ko-KR" altLang="en-US" sz="1400" dirty="0">
                <a:solidFill>
                  <a:schemeClr val="accent2"/>
                </a:solidFill>
                <a:latin typeface="+mn-ea"/>
              </a:rPr>
              <a:t>시간적 간격</a:t>
            </a:r>
          </a:p>
        </p:txBody>
      </p:sp>
      <p:sp>
        <p:nvSpPr>
          <p:cNvPr id="70" name="Rectangle 29"/>
          <p:cNvSpPr>
            <a:spLocks noChangeArrowheads="1"/>
          </p:cNvSpPr>
          <p:nvPr/>
        </p:nvSpPr>
        <p:spPr bwMode="auto">
          <a:xfrm>
            <a:off x="685095" y="5565000"/>
            <a:ext cx="948842" cy="233941"/>
          </a:xfrm>
          <a:prstGeom prst="rect">
            <a:avLst/>
          </a:prstGeom>
          <a:solidFill>
            <a:schemeClr val="bg1"/>
          </a:solidFill>
          <a:ln w="9525">
            <a:noFill/>
            <a:miter lim="800000"/>
            <a:headEnd/>
            <a:tailEnd/>
          </a:ln>
        </p:spPr>
        <p:txBody>
          <a:bodyPr wrap="none" anchor="ctr"/>
          <a:lstStyle/>
          <a:p>
            <a:pPr algn="ctr">
              <a:defRPr/>
            </a:pPr>
            <a:r>
              <a:rPr lang="ko-KR" altLang="en-US" sz="1200" dirty="0">
                <a:solidFill>
                  <a:srgbClr val="FF0000"/>
                </a:solidFill>
                <a:latin typeface="+mn-ea"/>
              </a:rPr>
              <a:t>일본의 </a:t>
            </a:r>
            <a:r>
              <a:rPr lang="en-US" altLang="ko-KR" sz="1200" dirty="0">
                <a:solidFill>
                  <a:srgbClr val="FF0000"/>
                </a:solidFill>
                <a:latin typeface="+mn-ea"/>
              </a:rPr>
              <a:t>A</a:t>
            </a:r>
            <a:endParaRPr lang="ko-KR" altLang="en-US" sz="1200" dirty="0">
              <a:solidFill>
                <a:srgbClr val="FF0000"/>
              </a:solidFill>
              <a:latin typeface="+mn-ea"/>
            </a:endParaRPr>
          </a:p>
        </p:txBody>
      </p:sp>
      <p:sp>
        <p:nvSpPr>
          <p:cNvPr id="71" name="Rectangle 29"/>
          <p:cNvSpPr>
            <a:spLocks noChangeArrowheads="1"/>
          </p:cNvSpPr>
          <p:nvPr/>
        </p:nvSpPr>
        <p:spPr bwMode="auto">
          <a:xfrm>
            <a:off x="685095" y="5877989"/>
            <a:ext cx="948842" cy="233941"/>
          </a:xfrm>
          <a:prstGeom prst="rect">
            <a:avLst/>
          </a:prstGeom>
          <a:solidFill>
            <a:schemeClr val="bg1"/>
          </a:solidFill>
          <a:ln w="9525">
            <a:noFill/>
            <a:miter lim="800000"/>
            <a:headEnd/>
            <a:tailEnd/>
          </a:ln>
        </p:spPr>
        <p:txBody>
          <a:bodyPr wrap="none" anchor="ctr"/>
          <a:lstStyle/>
          <a:p>
            <a:pPr algn="ctr">
              <a:defRPr/>
            </a:pPr>
            <a:r>
              <a:rPr lang="en-US" altLang="ko-KR" sz="1200" dirty="0">
                <a:solidFill>
                  <a:srgbClr val="FF0000"/>
                </a:solidFill>
                <a:latin typeface="+mn-ea"/>
              </a:rPr>
              <a:t>EPO</a:t>
            </a:r>
            <a:r>
              <a:rPr lang="ko-KR" altLang="en-US" sz="1200" dirty="0">
                <a:solidFill>
                  <a:srgbClr val="FF0000"/>
                </a:solidFill>
                <a:latin typeface="+mn-ea"/>
              </a:rPr>
              <a:t>의 </a:t>
            </a:r>
            <a:r>
              <a:rPr lang="en-US" altLang="ko-KR" sz="1200" dirty="0">
                <a:solidFill>
                  <a:srgbClr val="FF0000"/>
                </a:solidFill>
                <a:latin typeface="+mn-ea"/>
              </a:rPr>
              <a:t>A</a:t>
            </a:r>
            <a:endParaRPr lang="ko-KR" altLang="en-US" sz="1200" dirty="0">
              <a:solidFill>
                <a:srgbClr val="FF0000"/>
              </a:solidFill>
              <a:latin typeface="+mn-ea"/>
            </a:endParaRPr>
          </a:p>
        </p:txBody>
      </p:sp>
      <p:sp>
        <p:nvSpPr>
          <p:cNvPr id="72" name="Rectangle 29"/>
          <p:cNvSpPr>
            <a:spLocks noChangeArrowheads="1"/>
          </p:cNvSpPr>
          <p:nvPr/>
        </p:nvSpPr>
        <p:spPr bwMode="auto">
          <a:xfrm>
            <a:off x="685095" y="6184535"/>
            <a:ext cx="948842" cy="233941"/>
          </a:xfrm>
          <a:prstGeom prst="rect">
            <a:avLst/>
          </a:prstGeom>
          <a:solidFill>
            <a:schemeClr val="bg1"/>
          </a:solidFill>
          <a:ln w="9525">
            <a:noFill/>
            <a:miter lim="800000"/>
            <a:headEnd/>
            <a:tailEnd/>
          </a:ln>
        </p:spPr>
        <p:txBody>
          <a:bodyPr wrap="none" anchor="ctr"/>
          <a:lstStyle/>
          <a:p>
            <a:pPr algn="ctr">
              <a:defRPr/>
            </a:pPr>
            <a:r>
              <a:rPr lang="ko-KR" altLang="en-US" sz="1200" dirty="0">
                <a:solidFill>
                  <a:srgbClr val="FF0000"/>
                </a:solidFill>
                <a:latin typeface="+mn-ea"/>
              </a:rPr>
              <a:t>한국의 </a:t>
            </a:r>
            <a:r>
              <a:rPr lang="en-US" altLang="ko-KR" sz="1200" dirty="0">
                <a:solidFill>
                  <a:srgbClr val="FF0000"/>
                </a:solidFill>
                <a:latin typeface="+mn-ea"/>
              </a:rPr>
              <a:t>A</a:t>
            </a:r>
            <a:endParaRPr lang="ko-KR" altLang="en-US" sz="1200" dirty="0">
              <a:solidFill>
                <a:srgbClr val="FF0000"/>
              </a:solidFill>
              <a:latin typeface="+mn-ea"/>
            </a:endParaRPr>
          </a:p>
        </p:txBody>
      </p:sp>
      <p:sp>
        <p:nvSpPr>
          <p:cNvPr id="78" name="양쪽 모서리가 둥근 사각형 77"/>
          <p:cNvSpPr/>
          <p:nvPr/>
        </p:nvSpPr>
        <p:spPr>
          <a:xfrm>
            <a:off x="6908253" y="3780382"/>
            <a:ext cx="1658175" cy="363303"/>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2" name="직선 연결선 81"/>
          <p:cNvCxnSpPr>
            <a:stCxn id="83" idx="0"/>
            <a:endCxn id="79" idx="0"/>
          </p:cNvCxnSpPr>
          <p:nvPr/>
        </p:nvCxnSpPr>
        <p:spPr>
          <a:xfrm flipV="1">
            <a:off x="6908253" y="4231001"/>
            <a:ext cx="0" cy="3085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직선 연결선 88"/>
          <p:cNvCxnSpPr/>
          <p:nvPr/>
        </p:nvCxnSpPr>
        <p:spPr>
          <a:xfrm flipV="1">
            <a:off x="8566427" y="4231001"/>
            <a:ext cx="0" cy="3085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직사각형 89"/>
          <p:cNvSpPr/>
          <p:nvPr/>
        </p:nvSpPr>
        <p:spPr>
          <a:xfrm>
            <a:off x="9498370" y="4770328"/>
            <a:ext cx="965646" cy="2295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증명서류</a:t>
            </a:r>
          </a:p>
        </p:txBody>
      </p:sp>
      <p:sp>
        <p:nvSpPr>
          <p:cNvPr id="91" name="직사각형 90"/>
          <p:cNvSpPr/>
          <p:nvPr/>
        </p:nvSpPr>
        <p:spPr>
          <a:xfrm>
            <a:off x="10592651" y="4539572"/>
            <a:ext cx="1280080" cy="22950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출원공개</a:t>
            </a:r>
            <a:r>
              <a:rPr lang="en-US" altLang="ko-KR" sz="1100" dirty="0">
                <a:solidFill>
                  <a:schemeClr val="tx1"/>
                </a:solidFill>
              </a:rPr>
              <a:t>(Y)</a:t>
            </a:r>
            <a:endParaRPr lang="ko-KR" altLang="en-US" sz="1100" dirty="0">
              <a:solidFill>
                <a:schemeClr val="tx1"/>
              </a:solidFill>
            </a:endParaRPr>
          </a:p>
        </p:txBody>
      </p:sp>
      <p:sp>
        <p:nvSpPr>
          <p:cNvPr id="94" name="양쪽 모서리가 둥근 사각형 93"/>
          <p:cNvSpPr/>
          <p:nvPr/>
        </p:nvSpPr>
        <p:spPr>
          <a:xfrm>
            <a:off x="6908253" y="3461396"/>
            <a:ext cx="3069961" cy="682290"/>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양쪽 모서리가 둥근 사각형 96"/>
          <p:cNvSpPr/>
          <p:nvPr/>
        </p:nvSpPr>
        <p:spPr>
          <a:xfrm>
            <a:off x="6908254" y="3086100"/>
            <a:ext cx="4341808" cy="1057586"/>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Rectangle 29"/>
          <p:cNvSpPr>
            <a:spLocks noChangeArrowheads="1"/>
          </p:cNvSpPr>
          <p:nvPr/>
        </p:nvSpPr>
        <p:spPr bwMode="auto">
          <a:xfrm>
            <a:off x="7408349" y="3556537"/>
            <a:ext cx="584495" cy="233941"/>
          </a:xfrm>
          <a:prstGeom prst="rect">
            <a:avLst/>
          </a:prstGeom>
          <a:noFill/>
          <a:ln w="9525">
            <a:noFill/>
            <a:miter lim="800000"/>
            <a:headEnd/>
            <a:tailEnd/>
          </a:ln>
        </p:spPr>
        <p:txBody>
          <a:bodyPr wrap="none" anchor="ctr"/>
          <a:lstStyle/>
          <a:p>
            <a:pPr algn="ctr">
              <a:defRPr/>
            </a:pPr>
            <a:r>
              <a:rPr lang="en-US" altLang="ko-KR" sz="1100">
                <a:solidFill>
                  <a:srgbClr val="000000"/>
                </a:solidFill>
                <a:latin typeface="+mn-ea"/>
              </a:rPr>
              <a:t>1</a:t>
            </a:r>
            <a:r>
              <a:rPr lang="ko-KR" altLang="en-US" sz="1100" dirty="0">
                <a:solidFill>
                  <a:srgbClr val="000000"/>
                </a:solidFill>
                <a:latin typeface="+mn-ea"/>
              </a:rPr>
              <a:t>년</a:t>
            </a:r>
          </a:p>
        </p:txBody>
      </p:sp>
      <p:sp>
        <p:nvSpPr>
          <p:cNvPr id="99" name="Rectangle 29"/>
          <p:cNvSpPr>
            <a:spLocks noChangeArrowheads="1"/>
          </p:cNvSpPr>
          <p:nvPr/>
        </p:nvSpPr>
        <p:spPr bwMode="auto">
          <a:xfrm>
            <a:off x="8074283" y="3230393"/>
            <a:ext cx="584495" cy="233941"/>
          </a:xfrm>
          <a:prstGeom prst="rect">
            <a:avLst/>
          </a:prstGeom>
          <a:noFill/>
          <a:ln w="9525">
            <a:noFill/>
            <a:miter lim="800000"/>
            <a:headEnd/>
            <a:tailEnd/>
          </a:ln>
        </p:spPr>
        <p:txBody>
          <a:bodyPr wrap="none" anchor="ctr"/>
          <a:lstStyle/>
          <a:p>
            <a:pPr algn="ctr">
              <a:defRPr/>
            </a:pPr>
            <a:r>
              <a:rPr lang="en-US" altLang="ko-KR" sz="1100" dirty="0">
                <a:solidFill>
                  <a:srgbClr val="000000"/>
                </a:solidFill>
                <a:latin typeface="+mn-ea"/>
              </a:rPr>
              <a:t>1</a:t>
            </a:r>
            <a:r>
              <a:rPr lang="ko-KR" altLang="en-US" sz="1100" dirty="0">
                <a:solidFill>
                  <a:srgbClr val="000000"/>
                </a:solidFill>
                <a:latin typeface="+mn-ea"/>
              </a:rPr>
              <a:t>년 </a:t>
            </a:r>
            <a:r>
              <a:rPr lang="en-US" altLang="ko-KR" sz="1100" dirty="0">
                <a:solidFill>
                  <a:srgbClr val="000000"/>
                </a:solidFill>
                <a:latin typeface="+mn-ea"/>
              </a:rPr>
              <a:t>4</a:t>
            </a:r>
            <a:r>
              <a:rPr lang="ko-KR" altLang="en-US" sz="1100" dirty="0">
                <a:solidFill>
                  <a:srgbClr val="000000"/>
                </a:solidFill>
                <a:latin typeface="+mn-ea"/>
              </a:rPr>
              <a:t>개월</a:t>
            </a:r>
          </a:p>
        </p:txBody>
      </p:sp>
      <p:sp>
        <p:nvSpPr>
          <p:cNvPr id="109" name="Rectangle 29"/>
          <p:cNvSpPr>
            <a:spLocks noChangeArrowheads="1"/>
          </p:cNvSpPr>
          <p:nvPr/>
        </p:nvSpPr>
        <p:spPr bwMode="auto">
          <a:xfrm>
            <a:off x="8804680" y="2850903"/>
            <a:ext cx="584495" cy="233941"/>
          </a:xfrm>
          <a:prstGeom prst="rect">
            <a:avLst/>
          </a:prstGeom>
          <a:noFill/>
          <a:ln w="9525">
            <a:noFill/>
            <a:miter lim="800000"/>
            <a:headEnd/>
            <a:tailEnd/>
          </a:ln>
        </p:spPr>
        <p:txBody>
          <a:bodyPr wrap="none" anchor="ctr"/>
          <a:lstStyle/>
          <a:p>
            <a:pPr algn="ctr">
              <a:defRPr/>
            </a:pPr>
            <a:r>
              <a:rPr lang="en-US" altLang="ko-KR" sz="1100" dirty="0">
                <a:solidFill>
                  <a:srgbClr val="000000"/>
                </a:solidFill>
                <a:latin typeface="+mn-ea"/>
              </a:rPr>
              <a:t>1</a:t>
            </a:r>
            <a:r>
              <a:rPr lang="ko-KR" altLang="en-US" sz="1100" dirty="0">
                <a:solidFill>
                  <a:srgbClr val="000000"/>
                </a:solidFill>
                <a:latin typeface="+mn-ea"/>
              </a:rPr>
              <a:t>년 </a:t>
            </a:r>
            <a:r>
              <a:rPr lang="en-US" altLang="ko-KR" sz="1100" dirty="0">
                <a:solidFill>
                  <a:srgbClr val="000000"/>
                </a:solidFill>
                <a:latin typeface="+mn-ea"/>
              </a:rPr>
              <a:t>6</a:t>
            </a:r>
            <a:r>
              <a:rPr lang="ko-KR" altLang="en-US" sz="1100" dirty="0">
                <a:solidFill>
                  <a:srgbClr val="000000"/>
                </a:solidFill>
                <a:latin typeface="+mn-ea"/>
              </a:rPr>
              <a:t>개월</a:t>
            </a:r>
          </a:p>
        </p:txBody>
      </p:sp>
      <p:sp>
        <p:nvSpPr>
          <p:cNvPr id="79" name="Rectangle 14"/>
          <p:cNvSpPr>
            <a:spLocks noChangeArrowheads="1"/>
          </p:cNvSpPr>
          <p:nvPr/>
        </p:nvSpPr>
        <p:spPr bwMode="auto">
          <a:xfrm flipV="1">
            <a:off x="6849955" y="4106093"/>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5" name="Rectangle 14"/>
          <p:cNvSpPr>
            <a:spLocks noChangeArrowheads="1"/>
          </p:cNvSpPr>
          <p:nvPr/>
        </p:nvSpPr>
        <p:spPr bwMode="auto">
          <a:xfrm flipV="1">
            <a:off x="8508129" y="4106093"/>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2" name="Rectangle 14"/>
          <p:cNvSpPr>
            <a:spLocks noChangeArrowheads="1"/>
          </p:cNvSpPr>
          <p:nvPr/>
        </p:nvSpPr>
        <p:spPr bwMode="auto">
          <a:xfrm flipV="1">
            <a:off x="9922895" y="4106093"/>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3" name="Rectangle 14"/>
          <p:cNvSpPr>
            <a:spLocks noChangeArrowheads="1"/>
          </p:cNvSpPr>
          <p:nvPr/>
        </p:nvSpPr>
        <p:spPr bwMode="auto">
          <a:xfrm flipV="1">
            <a:off x="11174393" y="4106093"/>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10" name="직선 연결선 109"/>
          <p:cNvCxnSpPr>
            <a:stCxn id="90" idx="0"/>
          </p:cNvCxnSpPr>
          <p:nvPr/>
        </p:nvCxnSpPr>
        <p:spPr>
          <a:xfrm flipH="1" flipV="1">
            <a:off x="9978214" y="4231002"/>
            <a:ext cx="2979" cy="53932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직선 연결선 110"/>
          <p:cNvCxnSpPr/>
          <p:nvPr/>
        </p:nvCxnSpPr>
        <p:spPr>
          <a:xfrm flipV="1">
            <a:off x="11232691" y="4231001"/>
            <a:ext cx="0" cy="3085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직선 연결선 111"/>
          <p:cNvCxnSpPr/>
          <p:nvPr/>
        </p:nvCxnSpPr>
        <p:spPr>
          <a:xfrm flipH="1">
            <a:off x="6902462" y="4754363"/>
            <a:ext cx="5791" cy="164516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직사각형 85"/>
          <p:cNvSpPr/>
          <p:nvPr/>
        </p:nvSpPr>
        <p:spPr>
          <a:xfrm>
            <a:off x="6268213" y="5106702"/>
            <a:ext cx="1280080"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87" name="직사각형 86"/>
          <p:cNvSpPr/>
          <p:nvPr/>
        </p:nvSpPr>
        <p:spPr>
          <a:xfrm>
            <a:off x="6268213" y="5336203"/>
            <a:ext cx="1280080" cy="22950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cxnSp>
        <p:nvCxnSpPr>
          <p:cNvPr id="18" name="직선 연결선 17"/>
          <p:cNvCxnSpPr>
            <a:stCxn id="87" idx="3"/>
            <a:endCxn id="107" idx="1"/>
          </p:cNvCxnSpPr>
          <p:nvPr/>
        </p:nvCxnSpPr>
        <p:spPr>
          <a:xfrm flipV="1">
            <a:off x="7548293" y="5221452"/>
            <a:ext cx="378094" cy="229501"/>
          </a:xfrm>
          <a:prstGeom prst="line">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3" name="직선 연결선 112"/>
          <p:cNvCxnSpPr/>
          <p:nvPr/>
        </p:nvCxnSpPr>
        <p:spPr>
          <a:xfrm flipH="1">
            <a:off x="8560635" y="4754363"/>
            <a:ext cx="5791" cy="164516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4" name="Rectangle 29"/>
          <p:cNvSpPr>
            <a:spLocks noChangeArrowheads="1"/>
          </p:cNvSpPr>
          <p:nvPr/>
        </p:nvSpPr>
        <p:spPr bwMode="auto">
          <a:xfrm>
            <a:off x="6406405" y="6279478"/>
            <a:ext cx="948842" cy="233941"/>
          </a:xfrm>
          <a:prstGeom prst="rect">
            <a:avLst/>
          </a:prstGeom>
          <a:solidFill>
            <a:schemeClr val="bg1"/>
          </a:solidFill>
          <a:ln w="9525">
            <a:noFill/>
            <a:miter lim="800000"/>
            <a:headEnd/>
            <a:tailEnd/>
          </a:ln>
        </p:spPr>
        <p:txBody>
          <a:bodyPr wrap="none" anchor="ctr"/>
          <a:lstStyle/>
          <a:p>
            <a:pPr algn="ctr">
              <a:defRPr/>
            </a:pPr>
            <a:r>
              <a:rPr lang="en-US" altLang="ko-KR" sz="1200" dirty="0">
                <a:solidFill>
                  <a:srgbClr val="FF0000"/>
                </a:solidFill>
                <a:latin typeface="+mn-ea"/>
              </a:rPr>
              <a:t>Y</a:t>
            </a:r>
            <a:r>
              <a:rPr lang="ko-KR" altLang="en-US" sz="1200" dirty="0">
                <a:solidFill>
                  <a:srgbClr val="FF0000"/>
                </a:solidFill>
                <a:latin typeface="+mn-ea"/>
              </a:rPr>
              <a:t>의 </a:t>
            </a:r>
            <a:r>
              <a:rPr lang="ko-KR" altLang="en-US" sz="1200" dirty="0" err="1">
                <a:solidFill>
                  <a:srgbClr val="FF0000"/>
                </a:solidFill>
                <a:latin typeface="+mn-ea"/>
              </a:rPr>
              <a:t>청구범위</a:t>
            </a:r>
            <a:r>
              <a:rPr lang="ko-KR" altLang="en-US" sz="1200" dirty="0">
                <a:solidFill>
                  <a:srgbClr val="FF0000"/>
                </a:solidFill>
                <a:latin typeface="+mn-ea"/>
              </a:rPr>
              <a:t> 中</a:t>
            </a:r>
            <a:endParaRPr lang="en-US" altLang="ko-KR" sz="1200" dirty="0">
              <a:solidFill>
                <a:srgbClr val="FF0000"/>
              </a:solidFill>
              <a:latin typeface="+mn-ea"/>
            </a:endParaRPr>
          </a:p>
          <a:p>
            <a:pPr algn="ctr">
              <a:defRPr/>
            </a:pPr>
            <a:r>
              <a:rPr lang="en-US" altLang="ko-KR" sz="1200" dirty="0">
                <a:solidFill>
                  <a:srgbClr val="FF0000"/>
                </a:solidFill>
                <a:latin typeface="+mn-ea"/>
              </a:rPr>
              <a:t>A</a:t>
            </a:r>
            <a:endParaRPr lang="ko-KR" altLang="en-US" sz="1200" dirty="0">
              <a:solidFill>
                <a:srgbClr val="FF0000"/>
              </a:solidFill>
              <a:latin typeface="+mn-ea"/>
            </a:endParaRPr>
          </a:p>
        </p:txBody>
      </p:sp>
      <p:sp>
        <p:nvSpPr>
          <p:cNvPr id="115" name="Rectangle 29"/>
          <p:cNvSpPr>
            <a:spLocks noChangeArrowheads="1"/>
          </p:cNvSpPr>
          <p:nvPr/>
        </p:nvSpPr>
        <p:spPr bwMode="auto">
          <a:xfrm>
            <a:off x="8095739" y="6279478"/>
            <a:ext cx="948842" cy="233941"/>
          </a:xfrm>
          <a:prstGeom prst="rect">
            <a:avLst/>
          </a:prstGeom>
          <a:solidFill>
            <a:schemeClr val="bg1"/>
          </a:solidFill>
          <a:ln w="9525">
            <a:noFill/>
            <a:miter lim="800000"/>
            <a:headEnd/>
            <a:tailEnd/>
          </a:ln>
        </p:spPr>
        <p:txBody>
          <a:bodyPr wrap="none" anchor="ctr"/>
          <a:lstStyle/>
          <a:p>
            <a:pPr algn="ctr">
              <a:defRPr/>
            </a:pPr>
            <a:r>
              <a:rPr lang="en-US" altLang="ko-KR" sz="1200" dirty="0">
                <a:solidFill>
                  <a:srgbClr val="FF0000"/>
                </a:solidFill>
                <a:latin typeface="+mn-ea"/>
              </a:rPr>
              <a:t>Y</a:t>
            </a:r>
            <a:r>
              <a:rPr lang="ko-KR" altLang="en-US" sz="1200" dirty="0">
                <a:solidFill>
                  <a:srgbClr val="FF0000"/>
                </a:solidFill>
                <a:latin typeface="+mn-ea"/>
              </a:rPr>
              <a:t>의 </a:t>
            </a:r>
            <a:r>
              <a:rPr lang="ko-KR" altLang="en-US" sz="1200" dirty="0" err="1">
                <a:solidFill>
                  <a:srgbClr val="FF0000"/>
                </a:solidFill>
                <a:latin typeface="+mn-ea"/>
              </a:rPr>
              <a:t>청구범위</a:t>
            </a:r>
            <a:r>
              <a:rPr lang="ko-KR" altLang="en-US" sz="1200" dirty="0">
                <a:solidFill>
                  <a:srgbClr val="FF0000"/>
                </a:solidFill>
                <a:latin typeface="+mn-ea"/>
              </a:rPr>
              <a:t> 中</a:t>
            </a:r>
            <a:endParaRPr lang="en-US" altLang="ko-KR" sz="1200" dirty="0">
              <a:solidFill>
                <a:srgbClr val="FF0000"/>
              </a:solidFill>
              <a:latin typeface="+mn-ea"/>
            </a:endParaRPr>
          </a:p>
          <a:p>
            <a:pPr algn="ctr">
              <a:defRPr/>
            </a:pPr>
            <a:r>
              <a:rPr lang="en-US" altLang="ko-KR" sz="1200" dirty="0">
                <a:solidFill>
                  <a:srgbClr val="FF0000"/>
                </a:solidFill>
                <a:latin typeface="+mn-ea"/>
              </a:rPr>
              <a:t>C</a:t>
            </a:r>
            <a:endParaRPr lang="ko-KR" altLang="en-US" sz="1200" dirty="0">
              <a:solidFill>
                <a:srgbClr val="FF0000"/>
              </a:solidFill>
              <a:latin typeface="+mn-ea"/>
            </a:endParaRPr>
          </a:p>
        </p:txBody>
      </p:sp>
      <p:sp>
        <p:nvSpPr>
          <p:cNvPr id="116" name="TextBox 115"/>
          <p:cNvSpPr txBox="1"/>
          <p:nvPr/>
        </p:nvSpPr>
        <p:spPr>
          <a:xfrm>
            <a:off x="7064387" y="5689845"/>
            <a:ext cx="1443742" cy="338554"/>
          </a:xfrm>
          <a:prstGeom prst="rect">
            <a:avLst/>
          </a:prstGeom>
          <a:solidFill>
            <a:schemeClr val="bg1"/>
          </a:solidFill>
        </p:spPr>
        <p:txBody>
          <a:bodyPr wrap="square" rtlCol="0">
            <a:spAutoFit/>
          </a:bodyPr>
          <a:lstStyle/>
          <a:p>
            <a:pPr algn="ctr"/>
            <a:r>
              <a:rPr lang="ko-KR" altLang="en-US" sz="1600" dirty="0" err="1">
                <a:solidFill>
                  <a:srgbClr val="FF0000"/>
                </a:solidFill>
              </a:rPr>
              <a:t>판단시점</a:t>
            </a:r>
            <a:r>
              <a:rPr lang="ko-KR" altLang="en-US" sz="1600" dirty="0">
                <a:solidFill>
                  <a:srgbClr val="FF0000"/>
                </a:solidFill>
              </a:rPr>
              <a:t> 소급</a:t>
            </a:r>
          </a:p>
        </p:txBody>
      </p:sp>
      <p:sp>
        <p:nvSpPr>
          <p:cNvPr id="2" name="슬라이드 번호 개체 틀 1"/>
          <p:cNvSpPr>
            <a:spLocks noGrp="1"/>
          </p:cNvSpPr>
          <p:nvPr>
            <p:ph type="sldNum" sz="quarter" idx="12"/>
          </p:nvPr>
        </p:nvSpPr>
        <p:spPr/>
        <p:txBody>
          <a:bodyPr/>
          <a:lstStyle/>
          <a:p>
            <a:r>
              <a:rPr lang="en-US" altLang="ko-KR"/>
              <a:t>213</a:t>
            </a:r>
            <a:endParaRPr lang="ko-KR" altLang="en-US"/>
          </a:p>
        </p:txBody>
      </p:sp>
    </p:spTree>
    <p:extLst>
      <p:ext uri="{BB962C8B-B14F-4D97-AF65-F5344CB8AC3E}">
        <p14:creationId xmlns:p14="http://schemas.microsoft.com/office/powerpoint/2010/main" val="467826487"/>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직사각형 66"/>
          <p:cNvSpPr/>
          <p:nvPr/>
        </p:nvSpPr>
        <p:spPr>
          <a:xfrm>
            <a:off x="6317968" y="2466976"/>
            <a:ext cx="4216682" cy="96936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7" name="직선 연결선 36"/>
          <p:cNvCxnSpPr>
            <a:stCxn id="28" idx="0"/>
          </p:cNvCxnSpPr>
          <p:nvPr/>
        </p:nvCxnSpPr>
        <p:spPr>
          <a:xfrm>
            <a:off x="9947552" y="2183126"/>
            <a:ext cx="0" cy="1112524"/>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제목 1"/>
          <p:cNvSpPr>
            <a:spLocks noGrp="1"/>
          </p:cNvSpPr>
          <p:nvPr>
            <p:ph type="title"/>
          </p:nvPr>
        </p:nvSpPr>
        <p:spPr/>
        <p:txBody>
          <a:bodyPr/>
          <a:lstStyle/>
          <a:p>
            <a:r>
              <a:rPr lang="ko-KR" altLang="en-US" dirty="0" err="1"/>
              <a:t>참고노트</a:t>
            </a:r>
            <a:endParaRPr lang="ko-KR" altLang="en-US" dirty="0"/>
          </a:p>
        </p:txBody>
      </p:sp>
      <p:sp>
        <p:nvSpPr>
          <p:cNvPr id="3" name="텍스트 개체 틀 2"/>
          <p:cNvSpPr>
            <a:spLocks noGrp="1"/>
          </p:cNvSpPr>
          <p:nvPr>
            <p:ph type="body" sz="quarter" idx="13"/>
          </p:nvPr>
        </p:nvSpPr>
        <p:spPr/>
        <p:txBody>
          <a:bodyPr/>
          <a:lstStyle/>
          <a:p>
            <a:r>
              <a:rPr lang="ko-KR" altLang="en-US" dirty="0"/>
              <a:t>개념정리</a:t>
            </a:r>
          </a:p>
        </p:txBody>
      </p:sp>
      <p:cxnSp>
        <p:nvCxnSpPr>
          <p:cNvPr id="4" name="직선 연결선 3"/>
          <p:cNvCxnSpPr/>
          <p:nvPr/>
        </p:nvCxnSpPr>
        <p:spPr>
          <a:xfrm>
            <a:off x="6109281" y="1247775"/>
            <a:ext cx="0" cy="538376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Rectangle 5"/>
          <p:cNvSpPr>
            <a:spLocks noChangeArrowheads="1"/>
          </p:cNvSpPr>
          <p:nvPr/>
        </p:nvSpPr>
        <p:spPr bwMode="auto">
          <a:xfrm>
            <a:off x="347688" y="1265255"/>
            <a:ext cx="1566838"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a:solidFill>
                  <a:schemeClr val="bg1"/>
                </a:solidFill>
                <a:latin typeface="+mj-ea"/>
                <a:ea typeface="+mj-ea"/>
              </a:rPr>
              <a:t>용어 정리</a:t>
            </a:r>
            <a:endParaRPr lang="ko-KR" altLang="en-US" sz="1600" b="0" dirty="0">
              <a:solidFill>
                <a:schemeClr val="bg1"/>
              </a:solidFill>
              <a:latin typeface="+mj-ea"/>
              <a:ea typeface="+mj-ea"/>
            </a:endParaRPr>
          </a:p>
        </p:txBody>
      </p:sp>
      <p:sp>
        <p:nvSpPr>
          <p:cNvPr id="7" name="Rectangle 5"/>
          <p:cNvSpPr>
            <a:spLocks noChangeArrowheads="1"/>
          </p:cNvSpPr>
          <p:nvPr/>
        </p:nvSpPr>
        <p:spPr bwMode="auto">
          <a:xfrm>
            <a:off x="6434163" y="808055"/>
            <a:ext cx="1824012"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a:solidFill>
                  <a:schemeClr val="bg1"/>
                </a:solidFill>
                <a:latin typeface="+mj-ea"/>
                <a:ea typeface="+mj-ea"/>
              </a:rPr>
              <a:t>출원일 </a:t>
            </a:r>
            <a:r>
              <a:rPr lang="ko-KR" altLang="en-US" sz="1600" dirty="0" err="1">
                <a:solidFill>
                  <a:schemeClr val="bg1"/>
                </a:solidFill>
                <a:latin typeface="+mj-ea"/>
                <a:ea typeface="+mj-ea"/>
              </a:rPr>
              <a:t>소급제도</a:t>
            </a:r>
            <a:endParaRPr lang="ko-KR" altLang="en-US" sz="1600" b="0" dirty="0">
              <a:solidFill>
                <a:schemeClr val="bg1"/>
              </a:solidFill>
              <a:latin typeface="+mj-ea"/>
              <a:ea typeface="+mj-ea"/>
            </a:endParaRPr>
          </a:p>
        </p:txBody>
      </p:sp>
      <p:graphicFrame>
        <p:nvGraphicFramePr>
          <p:cNvPr id="9" name="표 8"/>
          <p:cNvGraphicFramePr>
            <a:graphicFrameLocks noGrp="1"/>
          </p:cNvGraphicFramePr>
          <p:nvPr/>
        </p:nvGraphicFramePr>
        <p:xfrm>
          <a:off x="347689" y="1824566"/>
          <a:ext cx="5436711" cy="3246745"/>
        </p:xfrm>
        <a:graphic>
          <a:graphicData uri="http://schemas.openxmlformats.org/drawingml/2006/table">
            <a:tbl>
              <a:tblPr>
                <a:tableStyleId>{8799B23B-EC83-4686-B30A-512413B5E67A}</a:tableStyleId>
              </a:tblPr>
              <a:tblGrid>
                <a:gridCol w="1812237">
                  <a:extLst>
                    <a:ext uri="{9D8B030D-6E8A-4147-A177-3AD203B41FA5}">
                      <a16:colId xmlns:a16="http://schemas.microsoft.com/office/drawing/2014/main" val="4205938182"/>
                    </a:ext>
                  </a:extLst>
                </a:gridCol>
                <a:gridCol w="1812237">
                  <a:extLst>
                    <a:ext uri="{9D8B030D-6E8A-4147-A177-3AD203B41FA5}">
                      <a16:colId xmlns:a16="http://schemas.microsoft.com/office/drawing/2014/main" val="2410079625"/>
                    </a:ext>
                  </a:extLst>
                </a:gridCol>
                <a:gridCol w="1812237">
                  <a:extLst>
                    <a:ext uri="{9D8B030D-6E8A-4147-A177-3AD203B41FA5}">
                      <a16:colId xmlns:a16="http://schemas.microsoft.com/office/drawing/2014/main" val="2183475004"/>
                    </a:ext>
                  </a:extLst>
                </a:gridCol>
              </a:tblGrid>
              <a:tr h="436437">
                <a:tc>
                  <a:txBody>
                    <a:bodyPr/>
                    <a:lstStyle/>
                    <a:p>
                      <a:pPr algn="ctr" latinLnBrk="1"/>
                      <a:r>
                        <a:rPr lang="ko-KR" altLang="en-US" sz="1200" dirty="0"/>
                        <a:t>구 분</a:t>
                      </a:r>
                    </a:p>
                  </a:txBody>
                  <a:tcPr anchor="ctr">
                    <a:solidFill>
                      <a:schemeClr val="accent1">
                        <a:lumMod val="20000"/>
                        <a:lumOff val="80000"/>
                      </a:schemeClr>
                    </a:solidFill>
                  </a:tcPr>
                </a:tc>
                <a:tc>
                  <a:txBody>
                    <a:bodyPr/>
                    <a:lstStyle/>
                    <a:p>
                      <a:pPr algn="ctr" latinLnBrk="1"/>
                      <a:r>
                        <a:rPr lang="en-US" altLang="ko-KR" sz="1200" dirty="0"/>
                        <a:t>FRONT APPLICATION</a:t>
                      </a:r>
                      <a:endParaRPr lang="ko-KR" altLang="en-US" sz="1200" dirty="0"/>
                    </a:p>
                  </a:txBody>
                  <a:tcPr anchor="ctr">
                    <a:solidFill>
                      <a:schemeClr val="accent1">
                        <a:lumMod val="20000"/>
                        <a:lumOff val="80000"/>
                      </a:schemeClr>
                    </a:solidFill>
                  </a:tcPr>
                </a:tc>
                <a:tc>
                  <a:txBody>
                    <a:bodyPr/>
                    <a:lstStyle/>
                    <a:p>
                      <a:pPr algn="ctr" latinLnBrk="1"/>
                      <a:r>
                        <a:rPr lang="en-US" altLang="ko-KR" sz="1200" dirty="0"/>
                        <a:t>BACK APPLICATION</a:t>
                      </a:r>
                      <a:endParaRPr lang="ko-KR" altLang="en-US" sz="1200" dirty="0"/>
                    </a:p>
                  </a:txBody>
                  <a:tcPr anchor="ctr">
                    <a:solidFill>
                      <a:schemeClr val="accent1">
                        <a:lumMod val="20000"/>
                        <a:lumOff val="80000"/>
                      </a:schemeClr>
                    </a:solidFill>
                  </a:tcPr>
                </a:tc>
                <a:extLst>
                  <a:ext uri="{0D108BD9-81ED-4DB2-BD59-A6C34878D82A}">
                    <a16:rowId xmlns:a16="http://schemas.microsoft.com/office/drawing/2014/main" val="2447559677"/>
                  </a:ext>
                </a:extLst>
              </a:tr>
              <a:tr h="436437">
                <a:tc>
                  <a:txBody>
                    <a:bodyPr/>
                    <a:lstStyle/>
                    <a:p>
                      <a:pPr algn="ctr" latinLnBrk="1"/>
                      <a:r>
                        <a:rPr lang="ko-KR" altLang="en-US" sz="1200" dirty="0"/>
                        <a:t>제</a:t>
                      </a:r>
                      <a:r>
                        <a:rPr lang="en-US" altLang="ko-KR" sz="1200" dirty="0"/>
                        <a:t>52</a:t>
                      </a:r>
                      <a:r>
                        <a:rPr lang="ko-KR" altLang="en-US" sz="1200" dirty="0"/>
                        <a:t>조</a:t>
                      </a:r>
                    </a:p>
                  </a:txBody>
                  <a:tcPr anchor="ctr"/>
                </a:tc>
                <a:tc>
                  <a:txBody>
                    <a:bodyPr/>
                    <a:lstStyle/>
                    <a:p>
                      <a:pPr algn="ctr" latinLnBrk="1"/>
                      <a:r>
                        <a:rPr lang="ko-KR" altLang="en-US" sz="1200" dirty="0" err="1"/>
                        <a:t>원출원</a:t>
                      </a:r>
                      <a:endParaRPr lang="ko-KR" altLang="en-US" sz="1200" dirty="0"/>
                    </a:p>
                  </a:txBody>
                  <a:tcPr anchor="ctr"/>
                </a:tc>
                <a:tc>
                  <a:txBody>
                    <a:bodyPr/>
                    <a:lstStyle/>
                    <a:p>
                      <a:pPr algn="ctr" latinLnBrk="1"/>
                      <a:r>
                        <a:rPr lang="ko-KR" altLang="en-US" sz="1200" dirty="0" err="1"/>
                        <a:t>분할출원</a:t>
                      </a:r>
                      <a:endParaRPr lang="ko-KR" altLang="en-US" sz="1200" dirty="0"/>
                    </a:p>
                  </a:txBody>
                  <a:tcPr anchor="ctr"/>
                </a:tc>
                <a:extLst>
                  <a:ext uri="{0D108BD9-81ED-4DB2-BD59-A6C34878D82A}">
                    <a16:rowId xmlns:a16="http://schemas.microsoft.com/office/drawing/2014/main" val="2461732895"/>
                  </a:ext>
                </a:extLst>
              </a:tr>
              <a:tr h="436437">
                <a:tc>
                  <a:txBody>
                    <a:bodyPr/>
                    <a:lstStyle/>
                    <a:p>
                      <a:pPr algn="ctr" latinLnBrk="1"/>
                      <a:r>
                        <a:rPr lang="ko-KR" altLang="en-US" sz="1200" dirty="0"/>
                        <a:t>제</a:t>
                      </a:r>
                      <a:r>
                        <a:rPr lang="en-US" altLang="ko-KR" sz="1200" dirty="0"/>
                        <a:t>52</a:t>
                      </a:r>
                      <a:r>
                        <a:rPr lang="ko-KR" altLang="en-US" sz="1200" dirty="0"/>
                        <a:t>조의</a:t>
                      </a:r>
                      <a:r>
                        <a:rPr lang="en-US" altLang="ko-KR" sz="1200" dirty="0"/>
                        <a:t>2</a:t>
                      </a:r>
                      <a:endParaRPr lang="ko-KR" altLang="en-US" sz="1200" dirty="0"/>
                    </a:p>
                  </a:txBody>
                  <a:tcPr anchor="ctr"/>
                </a:tc>
                <a:tc>
                  <a:txBody>
                    <a:bodyPr/>
                    <a:lstStyle/>
                    <a:p>
                      <a:pPr algn="ctr" latinLnBrk="1"/>
                      <a:r>
                        <a:rPr lang="ko-KR" altLang="en-US" sz="1200" dirty="0" err="1"/>
                        <a:t>원출원</a:t>
                      </a:r>
                      <a:endParaRPr lang="ko-KR" altLang="en-US" sz="1200" dirty="0"/>
                    </a:p>
                  </a:txBody>
                  <a:tcPr anchor="ctr"/>
                </a:tc>
                <a:tc>
                  <a:txBody>
                    <a:bodyPr/>
                    <a:lstStyle/>
                    <a:p>
                      <a:pPr algn="ctr" latinLnBrk="1"/>
                      <a:r>
                        <a:rPr lang="ko-KR" altLang="en-US" sz="1200" dirty="0"/>
                        <a:t>분리출원</a:t>
                      </a:r>
                    </a:p>
                  </a:txBody>
                  <a:tcPr anchor="ctr"/>
                </a:tc>
                <a:extLst>
                  <a:ext uri="{0D108BD9-81ED-4DB2-BD59-A6C34878D82A}">
                    <a16:rowId xmlns:a16="http://schemas.microsoft.com/office/drawing/2014/main" val="40389228"/>
                  </a:ext>
                </a:extLst>
              </a:tr>
              <a:tr h="436437">
                <a:tc>
                  <a:txBody>
                    <a:bodyPr/>
                    <a:lstStyle/>
                    <a:p>
                      <a:pPr algn="ctr" latinLnBrk="1"/>
                      <a:r>
                        <a:rPr lang="ko-KR" altLang="en-US" sz="1200" dirty="0"/>
                        <a:t>제</a:t>
                      </a:r>
                      <a:r>
                        <a:rPr lang="en-US" altLang="ko-KR" sz="1200" dirty="0"/>
                        <a:t>53</a:t>
                      </a:r>
                      <a:r>
                        <a:rPr lang="ko-KR" altLang="en-US" sz="1200" dirty="0"/>
                        <a:t>조</a:t>
                      </a:r>
                    </a:p>
                  </a:txBody>
                  <a:tcPr anchor="ctr"/>
                </a:tc>
                <a:tc>
                  <a:txBody>
                    <a:bodyPr/>
                    <a:lstStyle/>
                    <a:p>
                      <a:pPr algn="ctr" latinLnBrk="1"/>
                      <a:r>
                        <a:rPr lang="ko-KR" altLang="en-US" sz="1200" dirty="0" err="1"/>
                        <a:t>원출원</a:t>
                      </a:r>
                      <a:endParaRPr lang="ko-KR" altLang="en-US" sz="1200" dirty="0"/>
                    </a:p>
                  </a:txBody>
                  <a:tcPr anchor="ctr"/>
                </a:tc>
                <a:tc>
                  <a:txBody>
                    <a:bodyPr/>
                    <a:lstStyle/>
                    <a:p>
                      <a:pPr algn="ctr" latinLnBrk="1"/>
                      <a:r>
                        <a:rPr lang="ko-KR" altLang="en-US" sz="1200" dirty="0" err="1"/>
                        <a:t>변경출원</a:t>
                      </a:r>
                      <a:endParaRPr lang="ko-KR" altLang="en-US" sz="1200" dirty="0"/>
                    </a:p>
                  </a:txBody>
                  <a:tcPr anchor="ctr"/>
                </a:tc>
                <a:extLst>
                  <a:ext uri="{0D108BD9-81ED-4DB2-BD59-A6C34878D82A}">
                    <a16:rowId xmlns:a16="http://schemas.microsoft.com/office/drawing/2014/main" val="619872413"/>
                  </a:ext>
                </a:extLst>
              </a:tr>
              <a:tr h="860917">
                <a:tc>
                  <a:txBody>
                    <a:bodyPr/>
                    <a:lstStyle/>
                    <a:p>
                      <a:pPr algn="ctr" latinLnBrk="1"/>
                      <a:r>
                        <a:rPr lang="ko-KR" altLang="en-US" sz="1200" dirty="0"/>
                        <a:t>제</a:t>
                      </a:r>
                      <a:r>
                        <a:rPr lang="en-US" altLang="ko-KR" sz="1200" dirty="0"/>
                        <a:t>54</a:t>
                      </a:r>
                      <a:r>
                        <a:rPr lang="ko-KR" altLang="en-US" sz="1200" dirty="0"/>
                        <a:t>조</a:t>
                      </a:r>
                    </a:p>
                  </a:txBody>
                  <a:tcPr anchor="ctr"/>
                </a:tc>
                <a:tc>
                  <a:txBody>
                    <a:bodyPr/>
                    <a:lstStyle/>
                    <a:p>
                      <a:pPr algn="ctr" latinLnBrk="1"/>
                      <a:r>
                        <a:rPr lang="ko-KR" altLang="en-US" sz="1200" dirty="0"/>
                        <a:t>제</a:t>
                      </a:r>
                      <a:r>
                        <a:rPr lang="en-US" altLang="ko-KR" sz="1200" dirty="0"/>
                        <a:t>1</a:t>
                      </a:r>
                      <a:r>
                        <a:rPr lang="ko-KR" altLang="en-US" sz="1200" dirty="0" err="1"/>
                        <a:t>국출원</a:t>
                      </a:r>
                      <a:endParaRPr lang="en-US" altLang="ko-KR" sz="1200" dirty="0"/>
                    </a:p>
                    <a:p>
                      <a:pPr algn="ctr" latinLnBrk="1"/>
                      <a:r>
                        <a:rPr lang="ko-KR" altLang="en-US" sz="1200" dirty="0" err="1"/>
                        <a:t>선출원</a:t>
                      </a:r>
                      <a:endParaRPr lang="en-US" altLang="ko-KR" sz="1200" dirty="0"/>
                    </a:p>
                    <a:p>
                      <a:pPr algn="ctr" latinLnBrk="1"/>
                      <a:r>
                        <a:rPr lang="ko-KR" altLang="en-US" sz="1200" dirty="0"/>
                        <a:t>우선권기초출원</a:t>
                      </a:r>
                      <a:endParaRPr lang="en-US" altLang="ko-KR" sz="1200" dirty="0"/>
                    </a:p>
                    <a:p>
                      <a:pPr algn="ctr" latinLnBrk="1"/>
                      <a:r>
                        <a:rPr lang="en-US" altLang="ko-KR" sz="1200" dirty="0">
                          <a:solidFill>
                            <a:srgbClr val="FF0000"/>
                          </a:solidFill>
                        </a:rPr>
                        <a:t>(</a:t>
                      </a:r>
                      <a:r>
                        <a:rPr lang="ko-KR" altLang="en-US" sz="1200" dirty="0">
                          <a:solidFill>
                            <a:srgbClr val="FF0000"/>
                          </a:solidFill>
                        </a:rPr>
                        <a:t>우선권주장일</a:t>
                      </a:r>
                      <a:r>
                        <a:rPr lang="en-US" altLang="ko-KR" sz="1200" dirty="0">
                          <a:solidFill>
                            <a:srgbClr val="FF0000"/>
                          </a:solidFill>
                        </a:rPr>
                        <a:t>)</a:t>
                      </a:r>
                      <a:endParaRPr lang="ko-KR" altLang="en-US" sz="1200" dirty="0">
                        <a:solidFill>
                          <a:srgbClr val="FF0000"/>
                        </a:solidFill>
                      </a:endParaRPr>
                    </a:p>
                  </a:txBody>
                  <a:tcPr anchor="ctr"/>
                </a:tc>
                <a:tc>
                  <a:txBody>
                    <a:bodyPr/>
                    <a:lstStyle/>
                    <a:p>
                      <a:pPr algn="ctr" latinLnBrk="1"/>
                      <a:r>
                        <a:rPr lang="ko-KR" altLang="en-US" sz="1200" dirty="0"/>
                        <a:t>제</a:t>
                      </a:r>
                      <a:r>
                        <a:rPr lang="en-US" altLang="ko-KR" sz="1200" dirty="0"/>
                        <a:t>2</a:t>
                      </a:r>
                      <a:r>
                        <a:rPr lang="ko-KR" altLang="en-US" sz="1200" dirty="0" err="1"/>
                        <a:t>국출원</a:t>
                      </a:r>
                      <a:endParaRPr lang="en-US" altLang="ko-KR" sz="1200" dirty="0"/>
                    </a:p>
                    <a:p>
                      <a:pPr algn="ctr" latinLnBrk="1"/>
                      <a:r>
                        <a:rPr lang="ko-KR" altLang="en-US" sz="1200" dirty="0" err="1"/>
                        <a:t>후출원</a:t>
                      </a:r>
                      <a:endParaRPr lang="en-US" altLang="ko-KR" sz="1200" dirty="0"/>
                    </a:p>
                    <a:p>
                      <a:pPr algn="ctr" latinLnBrk="1"/>
                      <a:r>
                        <a:rPr lang="ko-KR" altLang="en-US" sz="1200" dirty="0"/>
                        <a:t>우선권주장출원</a:t>
                      </a:r>
                      <a:endParaRPr lang="en-US" altLang="ko-KR" sz="1200" dirty="0"/>
                    </a:p>
                    <a:p>
                      <a:pPr algn="ctr" latinLnBrk="1"/>
                      <a:r>
                        <a:rPr lang="en-US" altLang="ko-KR" sz="1200" dirty="0">
                          <a:solidFill>
                            <a:srgbClr val="FF0000"/>
                          </a:solidFill>
                        </a:rPr>
                        <a:t>(</a:t>
                      </a:r>
                      <a:r>
                        <a:rPr lang="ko-KR" altLang="en-US" sz="1200" dirty="0" err="1">
                          <a:solidFill>
                            <a:srgbClr val="FF0000"/>
                          </a:solidFill>
                        </a:rPr>
                        <a:t>우선권주장출원일</a:t>
                      </a:r>
                      <a:r>
                        <a:rPr lang="en-US" altLang="ko-KR" sz="1200" dirty="0">
                          <a:solidFill>
                            <a:srgbClr val="FF0000"/>
                          </a:solidFill>
                        </a:rPr>
                        <a:t>)</a:t>
                      </a:r>
                      <a:endParaRPr lang="ko-KR" altLang="en-US" sz="1200" dirty="0">
                        <a:solidFill>
                          <a:srgbClr val="FF0000"/>
                        </a:solidFill>
                      </a:endParaRPr>
                    </a:p>
                  </a:txBody>
                  <a:tcPr anchor="ctr"/>
                </a:tc>
                <a:extLst>
                  <a:ext uri="{0D108BD9-81ED-4DB2-BD59-A6C34878D82A}">
                    <a16:rowId xmlns:a16="http://schemas.microsoft.com/office/drawing/2014/main" val="3786978249"/>
                  </a:ext>
                </a:extLst>
              </a:tr>
              <a:tr h="609817">
                <a:tc>
                  <a:txBody>
                    <a:bodyPr/>
                    <a:lstStyle/>
                    <a:p>
                      <a:pPr algn="ctr" latinLnBrk="1"/>
                      <a:r>
                        <a:rPr lang="ko-KR" altLang="en-US" sz="1200" dirty="0"/>
                        <a:t>제</a:t>
                      </a:r>
                      <a:r>
                        <a:rPr lang="en-US" altLang="ko-KR" sz="1200" dirty="0"/>
                        <a:t>55</a:t>
                      </a:r>
                      <a:r>
                        <a:rPr lang="ko-KR" altLang="en-US" sz="1200" dirty="0"/>
                        <a:t>조</a:t>
                      </a:r>
                    </a:p>
                  </a:txBody>
                  <a:tcPr anchor="ctr"/>
                </a:tc>
                <a:tc>
                  <a:txBody>
                    <a:bodyPr/>
                    <a:lstStyle/>
                    <a:p>
                      <a:pPr algn="ctr" latinLnBrk="1"/>
                      <a:r>
                        <a:rPr lang="ko-KR" altLang="en-US" sz="1200" dirty="0" err="1"/>
                        <a:t>선출원</a:t>
                      </a:r>
                      <a:endParaRPr lang="en-US" altLang="ko-KR" sz="1200" dirty="0"/>
                    </a:p>
                    <a:p>
                      <a:pPr algn="ctr" latinLnBrk="1"/>
                      <a:r>
                        <a:rPr lang="ko-KR" altLang="en-US" sz="1200" dirty="0"/>
                        <a:t>우선권기초출원</a:t>
                      </a:r>
                      <a:endParaRPr lang="en-US" altLang="ko-KR" sz="1200" dirty="0"/>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a:solidFill>
                            <a:srgbClr val="FF0000"/>
                          </a:solidFill>
                        </a:rPr>
                        <a:t>(</a:t>
                      </a:r>
                      <a:r>
                        <a:rPr lang="ko-KR" altLang="en-US" sz="1200" dirty="0">
                          <a:solidFill>
                            <a:srgbClr val="FF0000"/>
                          </a:solidFill>
                        </a:rPr>
                        <a:t>우선권주장일</a:t>
                      </a:r>
                      <a:r>
                        <a:rPr lang="en-US" altLang="ko-KR" sz="1200" dirty="0">
                          <a:solidFill>
                            <a:srgbClr val="FF0000"/>
                          </a:solidFill>
                        </a:rPr>
                        <a:t>)</a:t>
                      </a:r>
                      <a:endParaRPr lang="ko-KR" altLang="en-US" sz="1200" dirty="0">
                        <a:solidFill>
                          <a:srgbClr val="FF0000"/>
                        </a:solidFill>
                      </a:endParaRPr>
                    </a:p>
                  </a:txBody>
                  <a:tcPr anchor="ctr"/>
                </a:tc>
                <a:tc>
                  <a:txBody>
                    <a:bodyPr/>
                    <a:lstStyle/>
                    <a:p>
                      <a:pPr algn="ctr" latinLnBrk="1"/>
                      <a:r>
                        <a:rPr lang="ko-KR" altLang="en-US" sz="1200" dirty="0" err="1"/>
                        <a:t>후출원</a:t>
                      </a:r>
                      <a:endParaRPr lang="en-US" altLang="ko-KR" sz="1200" dirty="0"/>
                    </a:p>
                    <a:p>
                      <a:pPr algn="ctr" latinLnBrk="1"/>
                      <a:r>
                        <a:rPr lang="ko-KR" altLang="en-US" sz="1200" dirty="0"/>
                        <a:t>우선권주장출원</a:t>
                      </a:r>
                      <a:endParaRPr lang="en-US" altLang="ko-KR" sz="1200" dirty="0"/>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200" dirty="0">
                          <a:solidFill>
                            <a:srgbClr val="FF0000"/>
                          </a:solidFill>
                        </a:rPr>
                        <a:t>(</a:t>
                      </a:r>
                      <a:r>
                        <a:rPr lang="ko-KR" altLang="en-US" sz="1200" dirty="0" err="1">
                          <a:solidFill>
                            <a:srgbClr val="FF0000"/>
                          </a:solidFill>
                        </a:rPr>
                        <a:t>우선권주장출원일</a:t>
                      </a:r>
                      <a:r>
                        <a:rPr lang="en-US" altLang="ko-KR" sz="1200" dirty="0">
                          <a:solidFill>
                            <a:srgbClr val="FF0000"/>
                          </a:solidFill>
                        </a:rPr>
                        <a:t>)</a:t>
                      </a:r>
                      <a:endParaRPr lang="ko-KR" altLang="en-US" sz="1200" dirty="0">
                        <a:solidFill>
                          <a:srgbClr val="FF0000"/>
                        </a:solidFill>
                      </a:endParaRPr>
                    </a:p>
                  </a:txBody>
                  <a:tcPr anchor="ctr"/>
                </a:tc>
                <a:extLst>
                  <a:ext uri="{0D108BD9-81ED-4DB2-BD59-A6C34878D82A}">
                    <a16:rowId xmlns:a16="http://schemas.microsoft.com/office/drawing/2014/main" val="4252098880"/>
                  </a:ext>
                </a:extLst>
              </a:tr>
            </a:tbl>
          </a:graphicData>
        </a:graphic>
      </p:graphicFrame>
      <p:cxnSp>
        <p:nvCxnSpPr>
          <p:cNvPr id="10" name="직선 연결선 9"/>
          <p:cNvCxnSpPr/>
          <p:nvPr/>
        </p:nvCxnSpPr>
        <p:spPr>
          <a:xfrm>
            <a:off x="6317968" y="2120672"/>
            <a:ext cx="567393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직선 연결선 17"/>
          <p:cNvCxnSpPr>
            <a:stCxn id="11" idx="2"/>
            <a:endCxn id="27" idx="4"/>
          </p:cNvCxnSpPr>
          <p:nvPr/>
        </p:nvCxnSpPr>
        <p:spPr>
          <a:xfrm>
            <a:off x="6908253" y="1870747"/>
            <a:ext cx="0" cy="1874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 name="직선 연결선 18"/>
          <p:cNvCxnSpPr>
            <a:stCxn id="13" idx="2"/>
            <a:endCxn id="28" idx="4"/>
          </p:cNvCxnSpPr>
          <p:nvPr/>
        </p:nvCxnSpPr>
        <p:spPr>
          <a:xfrm flipH="1">
            <a:off x="9947552" y="1870747"/>
            <a:ext cx="340" cy="1874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Rectangle 14"/>
          <p:cNvSpPr>
            <a:spLocks noChangeArrowheads="1"/>
          </p:cNvSpPr>
          <p:nvPr/>
        </p:nvSpPr>
        <p:spPr bwMode="auto">
          <a:xfrm flipV="1">
            <a:off x="6849955" y="2058218"/>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28" name="Rectangle 14"/>
          <p:cNvSpPr>
            <a:spLocks noChangeArrowheads="1"/>
          </p:cNvSpPr>
          <p:nvPr/>
        </p:nvSpPr>
        <p:spPr bwMode="auto">
          <a:xfrm flipV="1">
            <a:off x="9889254" y="2058218"/>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33" name="직선 연결선 32"/>
          <p:cNvCxnSpPr>
            <a:stCxn id="27" idx="0"/>
          </p:cNvCxnSpPr>
          <p:nvPr/>
        </p:nvCxnSpPr>
        <p:spPr>
          <a:xfrm>
            <a:off x="6908253" y="2183126"/>
            <a:ext cx="0" cy="1141099"/>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직사각형 10"/>
          <p:cNvSpPr/>
          <p:nvPr/>
        </p:nvSpPr>
        <p:spPr>
          <a:xfrm>
            <a:off x="6483420" y="1688149"/>
            <a:ext cx="849666" cy="182598"/>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출원</a:t>
            </a:r>
            <a:r>
              <a:rPr lang="en-US" altLang="ko-KR" sz="1100" dirty="0">
                <a:solidFill>
                  <a:schemeClr val="tx1"/>
                </a:solidFill>
              </a:rPr>
              <a:t>(X)</a:t>
            </a:r>
            <a:endParaRPr lang="ko-KR" altLang="en-US" sz="1100" dirty="0">
              <a:solidFill>
                <a:schemeClr val="tx1"/>
              </a:solidFill>
            </a:endParaRPr>
          </a:p>
        </p:txBody>
      </p:sp>
      <p:sp>
        <p:nvSpPr>
          <p:cNvPr id="13" name="직사각형 12"/>
          <p:cNvSpPr/>
          <p:nvPr/>
        </p:nvSpPr>
        <p:spPr>
          <a:xfrm>
            <a:off x="9523059" y="1688149"/>
            <a:ext cx="849666" cy="18259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출원</a:t>
            </a:r>
            <a:r>
              <a:rPr lang="en-US" altLang="ko-KR" sz="1100" dirty="0">
                <a:solidFill>
                  <a:schemeClr val="tx1"/>
                </a:solidFill>
              </a:rPr>
              <a:t>(Y)</a:t>
            </a:r>
            <a:endParaRPr lang="ko-KR" altLang="en-US" sz="1100" dirty="0">
              <a:solidFill>
                <a:schemeClr val="tx1"/>
              </a:solidFill>
            </a:endParaRPr>
          </a:p>
        </p:txBody>
      </p:sp>
      <p:sp>
        <p:nvSpPr>
          <p:cNvPr id="15" name="직사각형 14"/>
          <p:cNvSpPr/>
          <p:nvPr/>
        </p:nvSpPr>
        <p:spPr>
          <a:xfrm>
            <a:off x="9522719" y="1269028"/>
            <a:ext cx="849666" cy="18259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dirty="0">
              <a:solidFill>
                <a:schemeClr val="tx1"/>
              </a:solidFill>
            </a:endParaRPr>
          </a:p>
        </p:txBody>
      </p:sp>
      <p:sp>
        <p:nvSpPr>
          <p:cNvPr id="16" name="직사각형 15"/>
          <p:cNvSpPr/>
          <p:nvPr/>
        </p:nvSpPr>
        <p:spPr>
          <a:xfrm>
            <a:off x="9522719" y="1451626"/>
            <a:ext cx="849666" cy="182598"/>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 C</a:t>
            </a:r>
            <a:endParaRPr lang="ko-KR" altLang="en-US" sz="1100" dirty="0">
              <a:solidFill>
                <a:schemeClr val="tx1"/>
              </a:solidFill>
            </a:endParaRPr>
          </a:p>
        </p:txBody>
      </p:sp>
      <p:sp>
        <p:nvSpPr>
          <p:cNvPr id="34" name="직사각형 33"/>
          <p:cNvSpPr/>
          <p:nvPr/>
        </p:nvSpPr>
        <p:spPr>
          <a:xfrm>
            <a:off x="6483420" y="1269028"/>
            <a:ext cx="849666" cy="18259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dirty="0">
              <a:solidFill>
                <a:schemeClr val="tx1"/>
              </a:solidFill>
            </a:endParaRPr>
          </a:p>
        </p:txBody>
      </p:sp>
      <p:sp>
        <p:nvSpPr>
          <p:cNvPr id="35" name="직사각형 34"/>
          <p:cNvSpPr/>
          <p:nvPr/>
        </p:nvSpPr>
        <p:spPr>
          <a:xfrm>
            <a:off x="6483420" y="1451626"/>
            <a:ext cx="849666" cy="182598"/>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cxnSp>
        <p:nvCxnSpPr>
          <p:cNvPr id="36" name="직선 연결선 35"/>
          <p:cNvCxnSpPr>
            <a:stCxn id="35" idx="3"/>
            <a:endCxn id="16" idx="1"/>
          </p:cNvCxnSpPr>
          <p:nvPr/>
        </p:nvCxnSpPr>
        <p:spPr>
          <a:xfrm>
            <a:off x="7333086" y="1542925"/>
            <a:ext cx="2189633" cy="0"/>
          </a:xfrm>
          <a:prstGeom prst="line">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직사각형 49"/>
          <p:cNvSpPr/>
          <p:nvPr/>
        </p:nvSpPr>
        <p:spPr>
          <a:xfrm>
            <a:off x="6483760" y="2581850"/>
            <a:ext cx="849666" cy="18259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출원</a:t>
            </a:r>
            <a:r>
              <a:rPr lang="en-US" altLang="ko-KR" sz="1100" dirty="0">
                <a:solidFill>
                  <a:schemeClr val="tx1"/>
                </a:solidFill>
              </a:rPr>
              <a:t>(Y)</a:t>
            </a:r>
            <a:endParaRPr lang="ko-KR" altLang="en-US" sz="1100" dirty="0">
              <a:solidFill>
                <a:schemeClr val="tx1"/>
              </a:solidFill>
            </a:endParaRPr>
          </a:p>
        </p:txBody>
      </p:sp>
      <p:sp>
        <p:nvSpPr>
          <p:cNvPr id="51" name="직사각형 50"/>
          <p:cNvSpPr/>
          <p:nvPr/>
        </p:nvSpPr>
        <p:spPr>
          <a:xfrm>
            <a:off x="6483420" y="2828461"/>
            <a:ext cx="849666" cy="18259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dirty="0">
              <a:solidFill>
                <a:schemeClr val="tx1"/>
              </a:solidFill>
            </a:endParaRPr>
          </a:p>
        </p:txBody>
      </p:sp>
      <p:sp>
        <p:nvSpPr>
          <p:cNvPr id="52" name="직사각형 51"/>
          <p:cNvSpPr/>
          <p:nvPr/>
        </p:nvSpPr>
        <p:spPr>
          <a:xfrm>
            <a:off x="6483420" y="3011059"/>
            <a:ext cx="849666" cy="18259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 C</a:t>
            </a:r>
            <a:endParaRPr lang="ko-KR" altLang="en-US" sz="1100" dirty="0">
              <a:solidFill>
                <a:schemeClr val="tx1"/>
              </a:solidFill>
            </a:endParaRPr>
          </a:p>
        </p:txBody>
      </p:sp>
      <p:cxnSp>
        <p:nvCxnSpPr>
          <p:cNvPr id="61" name="직선 화살표 연결선 60"/>
          <p:cNvCxnSpPr>
            <a:stCxn id="13" idx="1"/>
            <a:endCxn id="50" idx="3"/>
          </p:cNvCxnSpPr>
          <p:nvPr/>
        </p:nvCxnSpPr>
        <p:spPr>
          <a:xfrm flipH="1">
            <a:off x="7333426" y="1779448"/>
            <a:ext cx="2189633" cy="893701"/>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7540544" y="2158445"/>
            <a:ext cx="1443742" cy="338554"/>
          </a:xfrm>
          <a:prstGeom prst="rect">
            <a:avLst/>
          </a:prstGeom>
          <a:noFill/>
        </p:spPr>
        <p:txBody>
          <a:bodyPr wrap="square" rtlCol="0">
            <a:spAutoFit/>
          </a:bodyPr>
          <a:lstStyle/>
          <a:p>
            <a:pPr algn="ctr"/>
            <a:r>
              <a:rPr lang="ko-KR" altLang="en-US" sz="1600" dirty="0">
                <a:solidFill>
                  <a:srgbClr val="FF0000"/>
                </a:solidFill>
              </a:rPr>
              <a:t>출원일 소급</a:t>
            </a:r>
          </a:p>
        </p:txBody>
      </p:sp>
      <p:sp>
        <p:nvSpPr>
          <p:cNvPr id="68" name="TextBox 67"/>
          <p:cNvSpPr txBox="1"/>
          <p:nvPr/>
        </p:nvSpPr>
        <p:spPr>
          <a:xfrm>
            <a:off x="9090908" y="3107680"/>
            <a:ext cx="1443742" cy="338554"/>
          </a:xfrm>
          <a:prstGeom prst="rect">
            <a:avLst/>
          </a:prstGeom>
          <a:noFill/>
        </p:spPr>
        <p:txBody>
          <a:bodyPr wrap="square" rtlCol="0">
            <a:spAutoFit/>
          </a:bodyPr>
          <a:lstStyle/>
          <a:p>
            <a:pPr algn="r"/>
            <a:r>
              <a:rPr lang="ko-KR" altLang="en-US" sz="1600" dirty="0">
                <a:solidFill>
                  <a:srgbClr val="FF0000"/>
                </a:solidFill>
              </a:rPr>
              <a:t>효과</a:t>
            </a:r>
          </a:p>
        </p:txBody>
      </p:sp>
      <p:sp>
        <p:nvSpPr>
          <p:cNvPr id="90" name="직사각형 89"/>
          <p:cNvSpPr/>
          <p:nvPr/>
        </p:nvSpPr>
        <p:spPr>
          <a:xfrm>
            <a:off x="6317968" y="5383761"/>
            <a:ext cx="4216682" cy="133136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1" name="직선 연결선 90"/>
          <p:cNvCxnSpPr>
            <a:stCxn id="97" idx="0"/>
          </p:cNvCxnSpPr>
          <p:nvPr/>
        </p:nvCxnSpPr>
        <p:spPr>
          <a:xfrm>
            <a:off x="9947552" y="5099912"/>
            <a:ext cx="0" cy="1112524"/>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Rectangle 5"/>
          <p:cNvSpPr>
            <a:spLocks noChangeArrowheads="1"/>
          </p:cNvSpPr>
          <p:nvPr/>
        </p:nvSpPr>
        <p:spPr bwMode="auto">
          <a:xfrm>
            <a:off x="6434163" y="3724841"/>
            <a:ext cx="1824012"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err="1">
                <a:solidFill>
                  <a:schemeClr val="bg1"/>
                </a:solidFill>
                <a:latin typeface="+mj-ea"/>
                <a:ea typeface="+mj-ea"/>
              </a:rPr>
              <a:t>판단시점</a:t>
            </a:r>
            <a:r>
              <a:rPr lang="ko-KR" altLang="en-US" sz="1600" dirty="0">
                <a:solidFill>
                  <a:schemeClr val="bg1"/>
                </a:solidFill>
                <a:latin typeface="+mj-ea"/>
                <a:ea typeface="+mj-ea"/>
              </a:rPr>
              <a:t> </a:t>
            </a:r>
            <a:r>
              <a:rPr lang="ko-KR" altLang="en-US" sz="1600" dirty="0" err="1">
                <a:solidFill>
                  <a:schemeClr val="bg1"/>
                </a:solidFill>
                <a:latin typeface="+mj-ea"/>
                <a:ea typeface="+mj-ea"/>
              </a:rPr>
              <a:t>소급제도</a:t>
            </a:r>
            <a:endParaRPr lang="ko-KR" altLang="en-US" sz="1600" b="0" dirty="0">
              <a:solidFill>
                <a:schemeClr val="bg1"/>
              </a:solidFill>
              <a:latin typeface="+mj-ea"/>
              <a:ea typeface="+mj-ea"/>
            </a:endParaRPr>
          </a:p>
        </p:txBody>
      </p:sp>
      <p:cxnSp>
        <p:nvCxnSpPr>
          <p:cNvPr id="93" name="직선 연결선 92"/>
          <p:cNvCxnSpPr/>
          <p:nvPr/>
        </p:nvCxnSpPr>
        <p:spPr>
          <a:xfrm>
            <a:off x="6317968" y="5037458"/>
            <a:ext cx="567393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직선 연결선 93"/>
          <p:cNvCxnSpPr>
            <a:stCxn id="99" idx="2"/>
            <a:endCxn id="96" idx="4"/>
          </p:cNvCxnSpPr>
          <p:nvPr/>
        </p:nvCxnSpPr>
        <p:spPr>
          <a:xfrm>
            <a:off x="6908253" y="4787533"/>
            <a:ext cx="0" cy="1874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직선 연결선 94"/>
          <p:cNvCxnSpPr>
            <a:stCxn id="100" idx="2"/>
            <a:endCxn id="97" idx="4"/>
          </p:cNvCxnSpPr>
          <p:nvPr/>
        </p:nvCxnSpPr>
        <p:spPr>
          <a:xfrm flipH="1">
            <a:off x="9947552" y="4787533"/>
            <a:ext cx="340" cy="1874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Rectangle 14"/>
          <p:cNvSpPr>
            <a:spLocks noChangeArrowheads="1"/>
          </p:cNvSpPr>
          <p:nvPr/>
        </p:nvSpPr>
        <p:spPr bwMode="auto">
          <a:xfrm flipV="1">
            <a:off x="6849955" y="4975004"/>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7" name="Rectangle 14"/>
          <p:cNvSpPr>
            <a:spLocks noChangeArrowheads="1"/>
          </p:cNvSpPr>
          <p:nvPr/>
        </p:nvSpPr>
        <p:spPr bwMode="auto">
          <a:xfrm flipV="1">
            <a:off x="9889254" y="4975004"/>
            <a:ext cx="116596" cy="12490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98" name="직선 연결선 97"/>
          <p:cNvCxnSpPr>
            <a:stCxn id="96" idx="0"/>
          </p:cNvCxnSpPr>
          <p:nvPr/>
        </p:nvCxnSpPr>
        <p:spPr>
          <a:xfrm>
            <a:off x="6908253" y="5099912"/>
            <a:ext cx="0" cy="1141099"/>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직사각형 98"/>
          <p:cNvSpPr/>
          <p:nvPr/>
        </p:nvSpPr>
        <p:spPr>
          <a:xfrm>
            <a:off x="6483420" y="4604935"/>
            <a:ext cx="849666" cy="182598"/>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출원</a:t>
            </a:r>
            <a:r>
              <a:rPr lang="en-US" altLang="ko-KR" sz="1100" dirty="0">
                <a:solidFill>
                  <a:schemeClr val="tx1"/>
                </a:solidFill>
              </a:rPr>
              <a:t>(X)</a:t>
            </a:r>
            <a:endParaRPr lang="ko-KR" altLang="en-US" sz="1100" dirty="0">
              <a:solidFill>
                <a:schemeClr val="tx1"/>
              </a:solidFill>
            </a:endParaRPr>
          </a:p>
        </p:txBody>
      </p:sp>
      <p:sp>
        <p:nvSpPr>
          <p:cNvPr id="100" name="직사각형 99"/>
          <p:cNvSpPr/>
          <p:nvPr/>
        </p:nvSpPr>
        <p:spPr>
          <a:xfrm>
            <a:off x="9523059" y="4604935"/>
            <a:ext cx="849666" cy="18259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출원</a:t>
            </a:r>
            <a:r>
              <a:rPr lang="en-US" altLang="ko-KR" sz="1100" dirty="0">
                <a:solidFill>
                  <a:schemeClr val="tx1"/>
                </a:solidFill>
              </a:rPr>
              <a:t>(Y)</a:t>
            </a:r>
            <a:endParaRPr lang="ko-KR" altLang="en-US" sz="1100" dirty="0">
              <a:solidFill>
                <a:schemeClr val="tx1"/>
              </a:solidFill>
            </a:endParaRPr>
          </a:p>
        </p:txBody>
      </p:sp>
      <p:sp>
        <p:nvSpPr>
          <p:cNvPr id="101" name="직사각형 100"/>
          <p:cNvSpPr/>
          <p:nvPr/>
        </p:nvSpPr>
        <p:spPr>
          <a:xfrm>
            <a:off x="9522719" y="4185814"/>
            <a:ext cx="849666" cy="182598"/>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B, C</a:t>
            </a:r>
            <a:endParaRPr lang="ko-KR" altLang="en-US" sz="1100" dirty="0">
              <a:solidFill>
                <a:schemeClr val="tx1"/>
              </a:solidFill>
            </a:endParaRPr>
          </a:p>
        </p:txBody>
      </p:sp>
      <p:sp>
        <p:nvSpPr>
          <p:cNvPr id="102" name="직사각형 101"/>
          <p:cNvSpPr/>
          <p:nvPr/>
        </p:nvSpPr>
        <p:spPr>
          <a:xfrm>
            <a:off x="9522719" y="4368412"/>
            <a:ext cx="849666" cy="18259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dirty="0">
              <a:solidFill>
                <a:schemeClr val="tx1"/>
              </a:solidFill>
            </a:endParaRPr>
          </a:p>
        </p:txBody>
      </p:sp>
      <p:sp>
        <p:nvSpPr>
          <p:cNvPr id="103" name="직사각형 102"/>
          <p:cNvSpPr/>
          <p:nvPr/>
        </p:nvSpPr>
        <p:spPr>
          <a:xfrm>
            <a:off x="6483420" y="4185814"/>
            <a:ext cx="849666" cy="18259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dirty="0">
              <a:solidFill>
                <a:schemeClr val="tx1"/>
              </a:solidFill>
            </a:endParaRPr>
          </a:p>
        </p:txBody>
      </p:sp>
      <p:sp>
        <p:nvSpPr>
          <p:cNvPr id="104" name="직사각형 103"/>
          <p:cNvSpPr/>
          <p:nvPr/>
        </p:nvSpPr>
        <p:spPr>
          <a:xfrm>
            <a:off x="6483420" y="4368412"/>
            <a:ext cx="849666" cy="182598"/>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cxnSp>
        <p:nvCxnSpPr>
          <p:cNvPr id="105" name="직선 연결선 104"/>
          <p:cNvCxnSpPr>
            <a:stCxn id="104" idx="3"/>
            <a:endCxn id="101" idx="1"/>
          </p:cNvCxnSpPr>
          <p:nvPr/>
        </p:nvCxnSpPr>
        <p:spPr>
          <a:xfrm flipV="1">
            <a:off x="7333086" y="4277113"/>
            <a:ext cx="2189633" cy="182598"/>
          </a:xfrm>
          <a:prstGeom prst="line">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9" name="직선 화살표 연결선 108"/>
          <p:cNvCxnSpPr>
            <a:stCxn id="100" idx="1"/>
          </p:cNvCxnSpPr>
          <p:nvPr/>
        </p:nvCxnSpPr>
        <p:spPr>
          <a:xfrm flipH="1">
            <a:off x="7333426" y="4696234"/>
            <a:ext cx="2189633" cy="893701"/>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0" name="TextBox 109"/>
          <p:cNvSpPr txBox="1"/>
          <p:nvPr/>
        </p:nvSpPr>
        <p:spPr>
          <a:xfrm>
            <a:off x="7540544" y="5075231"/>
            <a:ext cx="1443742" cy="338554"/>
          </a:xfrm>
          <a:prstGeom prst="rect">
            <a:avLst/>
          </a:prstGeom>
          <a:noFill/>
        </p:spPr>
        <p:txBody>
          <a:bodyPr wrap="square" rtlCol="0">
            <a:spAutoFit/>
          </a:bodyPr>
          <a:lstStyle/>
          <a:p>
            <a:pPr algn="ctr"/>
            <a:r>
              <a:rPr lang="ko-KR" altLang="en-US" sz="1600" dirty="0" err="1">
                <a:solidFill>
                  <a:srgbClr val="FF0000"/>
                </a:solidFill>
              </a:rPr>
              <a:t>판단시점</a:t>
            </a:r>
            <a:r>
              <a:rPr lang="ko-KR" altLang="en-US" sz="1600" dirty="0">
                <a:solidFill>
                  <a:srgbClr val="FF0000"/>
                </a:solidFill>
              </a:rPr>
              <a:t> 소급</a:t>
            </a:r>
          </a:p>
        </p:txBody>
      </p:sp>
      <p:sp>
        <p:nvSpPr>
          <p:cNvPr id="111" name="TextBox 110"/>
          <p:cNvSpPr txBox="1"/>
          <p:nvPr/>
        </p:nvSpPr>
        <p:spPr>
          <a:xfrm>
            <a:off x="9090908" y="6388657"/>
            <a:ext cx="1443742" cy="338554"/>
          </a:xfrm>
          <a:prstGeom prst="rect">
            <a:avLst/>
          </a:prstGeom>
          <a:noFill/>
        </p:spPr>
        <p:txBody>
          <a:bodyPr wrap="square" rtlCol="0">
            <a:spAutoFit/>
          </a:bodyPr>
          <a:lstStyle/>
          <a:p>
            <a:pPr algn="r"/>
            <a:r>
              <a:rPr lang="ko-KR" altLang="en-US" sz="1600" dirty="0">
                <a:solidFill>
                  <a:srgbClr val="FF0000"/>
                </a:solidFill>
              </a:rPr>
              <a:t>효과</a:t>
            </a:r>
          </a:p>
        </p:txBody>
      </p:sp>
      <p:sp>
        <p:nvSpPr>
          <p:cNvPr id="113" name="직사각형 112"/>
          <p:cNvSpPr/>
          <p:nvPr/>
        </p:nvSpPr>
        <p:spPr>
          <a:xfrm>
            <a:off x="9523059" y="5784386"/>
            <a:ext cx="849666" cy="18259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출원</a:t>
            </a:r>
            <a:r>
              <a:rPr lang="en-US" altLang="ko-KR" sz="1100" dirty="0">
                <a:solidFill>
                  <a:schemeClr val="tx1"/>
                </a:solidFill>
              </a:rPr>
              <a:t>(Y)</a:t>
            </a:r>
            <a:endParaRPr lang="ko-KR" altLang="en-US" sz="1100" dirty="0">
              <a:solidFill>
                <a:schemeClr val="tx1"/>
              </a:solidFill>
            </a:endParaRPr>
          </a:p>
        </p:txBody>
      </p:sp>
      <p:sp>
        <p:nvSpPr>
          <p:cNvPr id="114" name="직사각형 113"/>
          <p:cNvSpPr/>
          <p:nvPr/>
        </p:nvSpPr>
        <p:spPr>
          <a:xfrm>
            <a:off x="9522719" y="6030997"/>
            <a:ext cx="849666" cy="182598"/>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a:solidFill>
                  <a:schemeClr val="tx1"/>
                </a:solidFill>
              </a:rPr>
              <a:t>B, C</a:t>
            </a:r>
            <a:endParaRPr lang="ko-KR" altLang="en-US" sz="1100" dirty="0">
              <a:solidFill>
                <a:schemeClr val="tx1"/>
              </a:solidFill>
            </a:endParaRPr>
          </a:p>
        </p:txBody>
      </p:sp>
      <p:sp>
        <p:nvSpPr>
          <p:cNvPr id="115" name="직사각형 114"/>
          <p:cNvSpPr/>
          <p:nvPr/>
        </p:nvSpPr>
        <p:spPr>
          <a:xfrm>
            <a:off x="9522719" y="6213595"/>
            <a:ext cx="849666" cy="18259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dirty="0">
              <a:solidFill>
                <a:schemeClr val="tx1"/>
              </a:solidFill>
            </a:endParaRPr>
          </a:p>
        </p:txBody>
      </p:sp>
      <p:sp>
        <p:nvSpPr>
          <p:cNvPr id="116" name="Rectangle 29"/>
          <p:cNvSpPr>
            <a:spLocks noChangeArrowheads="1"/>
          </p:cNvSpPr>
          <p:nvPr/>
        </p:nvSpPr>
        <p:spPr bwMode="auto">
          <a:xfrm>
            <a:off x="6434163" y="5459554"/>
            <a:ext cx="948842" cy="233941"/>
          </a:xfrm>
          <a:prstGeom prst="rect">
            <a:avLst/>
          </a:prstGeom>
          <a:noFill/>
          <a:ln w="9525">
            <a:noFill/>
            <a:miter lim="800000"/>
            <a:headEnd/>
            <a:tailEnd/>
          </a:ln>
        </p:spPr>
        <p:txBody>
          <a:bodyPr wrap="none" anchor="ctr"/>
          <a:lstStyle/>
          <a:p>
            <a:pPr algn="ctr">
              <a:defRPr/>
            </a:pPr>
            <a:r>
              <a:rPr lang="en-US" altLang="ko-KR" sz="1200" dirty="0">
                <a:solidFill>
                  <a:srgbClr val="FF0000"/>
                </a:solidFill>
                <a:latin typeface="+mn-ea"/>
              </a:rPr>
              <a:t>Y</a:t>
            </a:r>
            <a:r>
              <a:rPr lang="ko-KR" altLang="en-US" sz="1200" dirty="0">
                <a:solidFill>
                  <a:srgbClr val="FF0000"/>
                </a:solidFill>
                <a:latin typeface="+mn-ea"/>
              </a:rPr>
              <a:t>의 </a:t>
            </a:r>
            <a:r>
              <a:rPr lang="ko-KR" altLang="en-US" sz="1200" dirty="0" err="1">
                <a:solidFill>
                  <a:srgbClr val="FF0000"/>
                </a:solidFill>
                <a:latin typeface="+mn-ea"/>
              </a:rPr>
              <a:t>청구범위</a:t>
            </a:r>
            <a:r>
              <a:rPr lang="ko-KR" altLang="en-US" sz="1200" dirty="0">
                <a:solidFill>
                  <a:srgbClr val="FF0000"/>
                </a:solidFill>
                <a:latin typeface="+mn-ea"/>
              </a:rPr>
              <a:t> 中</a:t>
            </a:r>
            <a:endParaRPr lang="en-US" altLang="ko-KR" sz="1200" dirty="0">
              <a:solidFill>
                <a:srgbClr val="FF0000"/>
              </a:solidFill>
              <a:latin typeface="+mn-ea"/>
            </a:endParaRPr>
          </a:p>
          <a:p>
            <a:pPr algn="ctr">
              <a:defRPr/>
            </a:pPr>
            <a:r>
              <a:rPr lang="en-US" altLang="ko-KR" sz="1200" dirty="0">
                <a:solidFill>
                  <a:srgbClr val="FF0000"/>
                </a:solidFill>
                <a:latin typeface="+mn-ea"/>
              </a:rPr>
              <a:t>B</a:t>
            </a:r>
            <a:endParaRPr lang="ko-KR" altLang="en-US" sz="1200" dirty="0">
              <a:solidFill>
                <a:srgbClr val="FF0000"/>
              </a:solidFill>
              <a:latin typeface="+mn-ea"/>
            </a:endParaRPr>
          </a:p>
        </p:txBody>
      </p:sp>
      <p:sp>
        <p:nvSpPr>
          <p:cNvPr id="117" name="Rectangle 29"/>
          <p:cNvSpPr>
            <a:spLocks noChangeArrowheads="1"/>
          </p:cNvSpPr>
          <p:nvPr/>
        </p:nvSpPr>
        <p:spPr bwMode="auto">
          <a:xfrm>
            <a:off x="9473131" y="5459554"/>
            <a:ext cx="948842" cy="233941"/>
          </a:xfrm>
          <a:prstGeom prst="rect">
            <a:avLst/>
          </a:prstGeom>
          <a:noFill/>
          <a:ln w="9525">
            <a:noFill/>
            <a:miter lim="800000"/>
            <a:headEnd/>
            <a:tailEnd/>
          </a:ln>
        </p:spPr>
        <p:txBody>
          <a:bodyPr wrap="none" anchor="ctr"/>
          <a:lstStyle/>
          <a:p>
            <a:pPr algn="ctr">
              <a:defRPr/>
            </a:pPr>
            <a:r>
              <a:rPr lang="en-US" altLang="ko-KR" sz="1200" dirty="0">
                <a:solidFill>
                  <a:srgbClr val="FF0000"/>
                </a:solidFill>
                <a:latin typeface="+mn-ea"/>
              </a:rPr>
              <a:t>Y</a:t>
            </a:r>
            <a:r>
              <a:rPr lang="ko-KR" altLang="en-US" sz="1200" dirty="0">
                <a:solidFill>
                  <a:srgbClr val="FF0000"/>
                </a:solidFill>
                <a:latin typeface="+mn-ea"/>
              </a:rPr>
              <a:t>의 </a:t>
            </a:r>
            <a:r>
              <a:rPr lang="ko-KR" altLang="en-US" sz="1200" dirty="0" err="1">
                <a:solidFill>
                  <a:srgbClr val="FF0000"/>
                </a:solidFill>
                <a:latin typeface="+mn-ea"/>
              </a:rPr>
              <a:t>청구범위</a:t>
            </a:r>
            <a:r>
              <a:rPr lang="ko-KR" altLang="en-US" sz="1200" dirty="0">
                <a:solidFill>
                  <a:srgbClr val="FF0000"/>
                </a:solidFill>
                <a:latin typeface="+mn-ea"/>
              </a:rPr>
              <a:t> 中</a:t>
            </a:r>
            <a:endParaRPr lang="en-US" altLang="ko-KR" sz="1200" dirty="0">
              <a:solidFill>
                <a:srgbClr val="FF0000"/>
              </a:solidFill>
              <a:latin typeface="+mn-ea"/>
            </a:endParaRPr>
          </a:p>
          <a:p>
            <a:pPr algn="ctr">
              <a:defRPr/>
            </a:pPr>
            <a:r>
              <a:rPr lang="en-US" altLang="ko-KR" sz="1200" dirty="0">
                <a:solidFill>
                  <a:srgbClr val="FF0000"/>
                </a:solidFill>
                <a:latin typeface="+mn-ea"/>
              </a:rPr>
              <a:t>C</a:t>
            </a:r>
            <a:endParaRPr lang="ko-KR" altLang="en-US" sz="1200" dirty="0">
              <a:solidFill>
                <a:srgbClr val="FF0000"/>
              </a:solidFill>
              <a:latin typeface="+mn-ea"/>
            </a:endParaRPr>
          </a:p>
        </p:txBody>
      </p:sp>
      <p:sp>
        <p:nvSpPr>
          <p:cNvPr id="119" name="모서리가 둥근 사각형 설명선 118"/>
          <p:cNvSpPr/>
          <p:nvPr/>
        </p:nvSpPr>
        <p:spPr>
          <a:xfrm>
            <a:off x="7834674" y="2680578"/>
            <a:ext cx="1776051" cy="245338"/>
          </a:xfrm>
          <a:prstGeom prst="wedgeRoundRectCallout">
            <a:avLst>
              <a:gd name="adj1" fmla="val -10668"/>
              <a:gd name="adj2" fmla="val -159598"/>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 C </a:t>
            </a:r>
            <a:r>
              <a:rPr lang="ko-KR" altLang="en-US" sz="1200" dirty="0">
                <a:solidFill>
                  <a:schemeClr val="tx1"/>
                </a:solidFill>
              </a:rPr>
              <a:t>전체 만족</a:t>
            </a:r>
          </a:p>
        </p:txBody>
      </p:sp>
      <p:sp>
        <p:nvSpPr>
          <p:cNvPr id="120" name="모서리가 둥근 사각형 설명선 119"/>
          <p:cNvSpPr/>
          <p:nvPr/>
        </p:nvSpPr>
        <p:spPr>
          <a:xfrm>
            <a:off x="7540544" y="5903213"/>
            <a:ext cx="1895303" cy="261811"/>
          </a:xfrm>
          <a:prstGeom prst="wedgeRoundRectCallout">
            <a:avLst>
              <a:gd name="adj1" fmla="val 5603"/>
              <a:gd name="adj2" fmla="val -259880"/>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 C </a:t>
            </a:r>
            <a:r>
              <a:rPr lang="ko-KR" altLang="en-US" sz="1200" dirty="0">
                <a:solidFill>
                  <a:schemeClr val="tx1"/>
                </a:solidFill>
              </a:rPr>
              <a:t>中 만족하는 발명 </a:t>
            </a:r>
            <a:r>
              <a:rPr lang="en-US" altLang="ko-KR" sz="1200" dirty="0">
                <a:solidFill>
                  <a:schemeClr val="tx1"/>
                </a:solidFill>
              </a:rPr>
              <a:t>B</a:t>
            </a:r>
            <a:r>
              <a:rPr lang="ko-KR" altLang="en-US" sz="1200" dirty="0">
                <a:solidFill>
                  <a:schemeClr val="tx1"/>
                </a:solidFill>
              </a:rPr>
              <a:t>만</a:t>
            </a:r>
          </a:p>
        </p:txBody>
      </p:sp>
      <p:sp>
        <p:nvSpPr>
          <p:cNvPr id="5" name="슬라이드 번호 개체 틀 4"/>
          <p:cNvSpPr>
            <a:spLocks noGrp="1"/>
          </p:cNvSpPr>
          <p:nvPr>
            <p:ph type="sldNum" sz="quarter" idx="12"/>
          </p:nvPr>
        </p:nvSpPr>
        <p:spPr/>
        <p:txBody>
          <a:bodyPr/>
          <a:lstStyle/>
          <a:p>
            <a:r>
              <a:rPr lang="en-US" altLang="ko-KR"/>
              <a:t>214</a:t>
            </a:r>
            <a:endParaRPr lang="ko-KR" altLang="en-US"/>
          </a:p>
        </p:txBody>
      </p:sp>
      <p:sp>
        <p:nvSpPr>
          <p:cNvPr id="8" name="TextBox 7">
            <a:extLst>
              <a:ext uri="{FF2B5EF4-FFF2-40B4-BE49-F238E27FC236}">
                <a16:creationId xmlns:a16="http://schemas.microsoft.com/office/drawing/2014/main" id="{DC95AC1C-5A0F-DECD-AD4D-3B20F614F006}"/>
              </a:ext>
            </a:extLst>
          </p:cNvPr>
          <p:cNvSpPr txBox="1"/>
          <p:nvPr/>
        </p:nvSpPr>
        <p:spPr>
          <a:xfrm flipH="1">
            <a:off x="8258175" y="835525"/>
            <a:ext cx="3504305" cy="307777"/>
          </a:xfrm>
          <a:prstGeom prst="rect">
            <a:avLst/>
          </a:prstGeom>
          <a:noFill/>
        </p:spPr>
        <p:txBody>
          <a:bodyPr wrap="square" rtlCol="0">
            <a:spAutoFit/>
          </a:bodyPr>
          <a:lstStyle/>
          <a:p>
            <a:r>
              <a:rPr lang="ko-KR" altLang="en-US" sz="1400" dirty="0">
                <a:highlight>
                  <a:srgbClr val="FFFF00"/>
                </a:highlight>
              </a:rPr>
              <a:t>출원</a:t>
            </a:r>
            <a:r>
              <a:rPr lang="en-US" altLang="ko-KR" sz="1400" dirty="0">
                <a:highlight>
                  <a:srgbClr val="FFFF00"/>
                </a:highlight>
              </a:rPr>
              <a:t>(Y)</a:t>
            </a:r>
            <a:r>
              <a:rPr lang="ko-KR" altLang="en-US" sz="1400" dirty="0">
                <a:highlight>
                  <a:srgbClr val="FFFF00"/>
                </a:highlight>
              </a:rPr>
              <a:t>는 출원</a:t>
            </a:r>
            <a:r>
              <a:rPr lang="en-US" altLang="ko-KR" sz="1400" dirty="0">
                <a:highlight>
                  <a:srgbClr val="FFFF00"/>
                </a:highlight>
              </a:rPr>
              <a:t>(X)</a:t>
            </a:r>
            <a:r>
              <a:rPr lang="ko-KR" altLang="en-US" sz="1400" dirty="0">
                <a:highlight>
                  <a:srgbClr val="FFFF00"/>
                </a:highlight>
              </a:rPr>
              <a:t>한 때에 출원한 것으로 본다</a:t>
            </a:r>
            <a:r>
              <a:rPr lang="en-US" altLang="ko-KR" sz="1400" dirty="0">
                <a:highlight>
                  <a:srgbClr val="FFFF00"/>
                </a:highlight>
              </a:rPr>
              <a:t>.</a:t>
            </a:r>
            <a:endParaRPr lang="ko-KR" altLang="en-US" sz="1400" dirty="0">
              <a:highlight>
                <a:srgbClr val="FFFF00"/>
              </a:highlight>
            </a:endParaRPr>
          </a:p>
        </p:txBody>
      </p:sp>
      <p:sp>
        <p:nvSpPr>
          <p:cNvPr id="12" name="TextBox 11">
            <a:extLst>
              <a:ext uri="{FF2B5EF4-FFF2-40B4-BE49-F238E27FC236}">
                <a16:creationId xmlns:a16="http://schemas.microsoft.com/office/drawing/2014/main" id="{DB39A5DC-DB86-B459-F820-32DB9ED035C0}"/>
              </a:ext>
            </a:extLst>
          </p:cNvPr>
          <p:cNvSpPr txBox="1"/>
          <p:nvPr/>
        </p:nvSpPr>
        <p:spPr>
          <a:xfrm flipH="1">
            <a:off x="8258175" y="3588010"/>
            <a:ext cx="3504305" cy="523220"/>
          </a:xfrm>
          <a:prstGeom prst="rect">
            <a:avLst/>
          </a:prstGeom>
          <a:noFill/>
        </p:spPr>
        <p:txBody>
          <a:bodyPr wrap="square" rtlCol="0">
            <a:spAutoFit/>
          </a:bodyPr>
          <a:lstStyle/>
          <a:p>
            <a:r>
              <a:rPr lang="en-US" altLang="ko-KR" sz="1400" dirty="0">
                <a:highlight>
                  <a:srgbClr val="FFFF00"/>
                </a:highlight>
              </a:rPr>
              <a:t>OO</a:t>
            </a:r>
            <a:r>
              <a:rPr lang="ko-KR" altLang="en-US" sz="1400" dirty="0">
                <a:highlight>
                  <a:srgbClr val="FFFF00"/>
                </a:highlight>
              </a:rPr>
              <a:t> 규정을 적용할 때 출원</a:t>
            </a:r>
            <a:r>
              <a:rPr lang="en-US" altLang="ko-KR" sz="1400" dirty="0">
                <a:highlight>
                  <a:srgbClr val="FFFF00"/>
                </a:highlight>
              </a:rPr>
              <a:t>(Y)</a:t>
            </a:r>
            <a:r>
              <a:rPr lang="ko-KR" altLang="en-US" sz="1400" dirty="0">
                <a:highlight>
                  <a:srgbClr val="FFFF00"/>
                </a:highlight>
              </a:rPr>
              <a:t>는 출원</a:t>
            </a:r>
            <a:r>
              <a:rPr lang="en-US" altLang="ko-KR" sz="1400" dirty="0">
                <a:highlight>
                  <a:srgbClr val="FFFF00"/>
                </a:highlight>
              </a:rPr>
              <a:t>(X)</a:t>
            </a:r>
            <a:r>
              <a:rPr lang="ko-KR" altLang="en-US" sz="1400" dirty="0">
                <a:highlight>
                  <a:srgbClr val="FFFF00"/>
                </a:highlight>
              </a:rPr>
              <a:t>한 때에 출원한 것으로 본다</a:t>
            </a:r>
            <a:r>
              <a:rPr lang="en-US" altLang="ko-KR" sz="1400" dirty="0">
                <a:highlight>
                  <a:srgbClr val="FFFF00"/>
                </a:highlight>
              </a:rPr>
              <a:t>.</a:t>
            </a:r>
            <a:endParaRPr lang="ko-KR" altLang="en-US" sz="1400" dirty="0">
              <a:highlight>
                <a:srgbClr val="FFFF00"/>
              </a:highlight>
            </a:endParaRPr>
          </a:p>
        </p:txBody>
      </p:sp>
    </p:spTree>
    <p:extLst>
      <p:ext uri="{BB962C8B-B14F-4D97-AF65-F5344CB8AC3E}">
        <p14:creationId xmlns:p14="http://schemas.microsoft.com/office/powerpoint/2010/main" val="4244711183"/>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5" name="텍스트 개체 틀 4"/>
          <p:cNvSpPr>
            <a:spLocks noGrp="1"/>
          </p:cNvSpPr>
          <p:nvPr>
            <p:ph type="body" sz="quarter" idx="13"/>
          </p:nvPr>
        </p:nvSpPr>
        <p:spPr/>
        <p:txBody>
          <a:bodyPr/>
          <a:lstStyle/>
          <a:p>
            <a:r>
              <a:rPr lang="ko-KR" altLang="en-US" dirty="0"/>
              <a:t>독립성과 </a:t>
            </a:r>
            <a:r>
              <a:rPr lang="ko-KR" altLang="en-US" dirty="0" err="1"/>
              <a:t>부속성</a:t>
            </a:r>
            <a:endParaRPr lang="ko-KR" altLang="en-US" dirty="0"/>
          </a:p>
        </p:txBody>
      </p:sp>
      <p:sp>
        <p:nvSpPr>
          <p:cNvPr id="33" name="TextBox 32"/>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우선권은 최초 출원행위로부터 발생되지만 </a:t>
            </a:r>
            <a:r>
              <a:rPr lang="ko-KR" altLang="en-US" sz="1400" dirty="0">
                <a:highlight>
                  <a:srgbClr val="FFFF00"/>
                </a:highlight>
              </a:rPr>
              <a:t>그 발생과 함께 그 </a:t>
            </a:r>
            <a:r>
              <a:rPr lang="ko-KR" altLang="en-US" sz="1400" dirty="0" err="1">
                <a:highlight>
                  <a:srgbClr val="FFFF00"/>
                </a:highlight>
              </a:rPr>
              <a:t>최초출원으로부터</a:t>
            </a:r>
            <a:r>
              <a:rPr lang="ko-KR" altLang="en-US" sz="1400" dirty="0">
                <a:highlight>
                  <a:srgbClr val="FFFF00"/>
                </a:highlight>
              </a:rPr>
              <a:t> 분리되어 독립적</a:t>
            </a:r>
            <a:r>
              <a:rPr lang="ko-KR" altLang="en-US" sz="1400" dirty="0">
                <a:solidFill>
                  <a:schemeClr val="tx2"/>
                </a:solidFill>
              </a:rPr>
              <a:t>이 된다</a:t>
            </a:r>
            <a:r>
              <a:rPr lang="en-US" altLang="ko-KR" sz="1400" dirty="0">
                <a:solidFill>
                  <a:schemeClr val="tx2"/>
                </a:solidFill>
              </a:rPr>
              <a:t>. </a:t>
            </a:r>
            <a:r>
              <a:rPr lang="ko-KR" altLang="en-US" sz="1400" dirty="0">
                <a:solidFill>
                  <a:schemeClr val="tx2"/>
                </a:solidFill>
              </a:rPr>
              <a:t>이를 우선권의 「</a:t>
            </a:r>
            <a:r>
              <a:rPr lang="ko-KR" altLang="en-US" sz="1400" dirty="0" err="1">
                <a:solidFill>
                  <a:schemeClr val="tx2"/>
                </a:solidFill>
              </a:rPr>
              <a:t>독립성」이라</a:t>
            </a:r>
            <a:r>
              <a:rPr lang="ko-KR" altLang="en-US" sz="1400" dirty="0">
                <a:solidFill>
                  <a:schemeClr val="tx2"/>
                </a:solidFill>
              </a:rPr>
              <a:t> 하는데</a:t>
            </a:r>
            <a:r>
              <a:rPr lang="en-US" altLang="ko-KR" sz="1400" dirty="0">
                <a:solidFill>
                  <a:schemeClr val="tx2"/>
                </a:solidFill>
              </a:rPr>
              <a:t>, </a:t>
            </a:r>
            <a:r>
              <a:rPr lang="ko-KR" altLang="en-US" sz="1400" dirty="0">
                <a:solidFill>
                  <a:schemeClr val="tx2"/>
                </a:solidFill>
              </a:rPr>
              <a:t>이러한 독립성 때문에 </a:t>
            </a:r>
            <a:r>
              <a:rPr lang="ko-KR" altLang="en-US" sz="1400" dirty="0">
                <a:highlight>
                  <a:srgbClr val="FFFF00"/>
                </a:highlight>
              </a:rPr>
              <a:t>우선권만의 양도가 가능</a:t>
            </a:r>
            <a:r>
              <a:rPr lang="ko-KR" altLang="en-US" sz="1400" dirty="0">
                <a:solidFill>
                  <a:schemeClr val="tx2"/>
                </a:solidFill>
              </a:rPr>
              <a:t>하므로 제</a:t>
            </a:r>
            <a:r>
              <a:rPr lang="en-US" altLang="ko-KR" sz="1400" dirty="0">
                <a:solidFill>
                  <a:schemeClr val="tx2"/>
                </a:solidFill>
              </a:rPr>
              <a:t>1</a:t>
            </a:r>
            <a:r>
              <a:rPr lang="ko-KR" altLang="en-US" sz="1400" dirty="0">
                <a:solidFill>
                  <a:schemeClr val="tx2"/>
                </a:solidFill>
              </a:rPr>
              <a:t>국 출원의 승계인은 우선권을 별도로 승계하여야 우선권주장출원을 할 수 있다</a:t>
            </a:r>
            <a:r>
              <a:rPr lang="en-US" altLang="ko-KR" sz="1400" dirty="0">
                <a:solidFill>
                  <a:schemeClr val="tx2"/>
                </a:solidFill>
              </a:rPr>
              <a:t>. </a:t>
            </a:r>
            <a:r>
              <a:rPr lang="ko-KR" altLang="en-US" sz="1400" dirty="0">
                <a:solidFill>
                  <a:schemeClr val="tx2"/>
                </a:solidFill>
              </a:rPr>
              <a:t>또한</a:t>
            </a:r>
            <a:r>
              <a:rPr lang="en-US" altLang="ko-KR" sz="1400" dirty="0">
                <a:solidFill>
                  <a:schemeClr val="tx2"/>
                </a:solidFill>
              </a:rPr>
              <a:t>, </a:t>
            </a:r>
            <a:r>
              <a:rPr lang="ko-KR" altLang="en-US" sz="1400" dirty="0">
                <a:solidFill>
                  <a:schemeClr val="tx2"/>
                </a:solidFill>
              </a:rPr>
              <a:t>우선권의 독립성으로 말미암아 </a:t>
            </a:r>
            <a:r>
              <a:rPr lang="ko-KR" altLang="en-US" sz="1400" dirty="0">
                <a:highlight>
                  <a:srgbClr val="FFFF00"/>
                </a:highlight>
              </a:rPr>
              <a:t>제</a:t>
            </a:r>
            <a:r>
              <a:rPr lang="en-US" altLang="ko-KR" sz="1400" dirty="0">
                <a:highlight>
                  <a:srgbClr val="FFFF00"/>
                </a:highlight>
              </a:rPr>
              <a:t>1</a:t>
            </a:r>
            <a:r>
              <a:rPr lang="ko-KR" altLang="en-US" sz="1400" dirty="0">
                <a:highlight>
                  <a:srgbClr val="FFFF00"/>
                </a:highlight>
              </a:rPr>
              <a:t>국 출원은 정규성만 인정</a:t>
            </a:r>
            <a:r>
              <a:rPr lang="ko-KR" altLang="en-US" sz="1400" dirty="0">
                <a:solidFill>
                  <a:schemeClr val="tx2"/>
                </a:solidFill>
              </a:rPr>
              <a:t>되면 된다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우선권은 동맹국의 최초 </a:t>
            </a:r>
            <a:r>
              <a:rPr lang="ko-KR" altLang="en-US" sz="1400" dirty="0" err="1">
                <a:solidFill>
                  <a:schemeClr val="tx2"/>
                </a:solidFill>
              </a:rPr>
              <a:t>정규출원으로부터</a:t>
            </a:r>
            <a:r>
              <a:rPr lang="ko-KR" altLang="en-US" sz="1400" dirty="0">
                <a:solidFill>
                  <a:schemeClr val="tx2"/>
                </a:solidFill>
              </a:rPr>
              <a:t> 독립된 것이라고 하더라도 그 독립성은 어디까지나 제</a:t>
            </a:r>
            <a:r>
              <a:rPr lang="en-US" altLang="ko-KR" sz="1400" dirty="0">
                <a:solidFill>
                  <a:schemeClr val="tx2"/>
                </a:solidFill>
              </a:rPr>
              <a:t>2</a:t>
            </a:r>
            <a:r>
              <a:rPr lang="ko-KR" altLang="en-US" sz="1400" dirty="0">
                <a:solidFill>
                  <a:schemeClr val="tx2"/>
                </a:solidFill>
              </a:rPr>
              <a:t>국 출원의 기초로서 사용될 때까지 성립되는 것이다</a:t>
            </a:r>
            <a:r>
              <a:rPr lang="en-US" altLang="ko-KR" sz="1400" dirty="0">
                <a:solidFill>
                  <a:schemeClr val="tx2"/>
                </a:solidFill>
              </a:rPr>
              <a:t>. </a:t>
            </a:r>
            <a:r>
              <a:rPr lang="ko-KR" altLang="en-US" sz="1400" dirty="0">
                <a:solidFill>
                  <a:schemeClr val="tx2"/>
                </a:solidFill>
              </a:rPr>
              <a:t>따라서 제</a:t>
            </a:r>
            <a:r>
              <a:rPr lang="en-US" altLang="ko-KR" sz="1400" dirty="0">
                <a:solidFill>
                  <a:schemeClr val="tx2"/>
                </a:solidFill>
              </a:rPr>
              <a:t>2</a:t>
            </a:r>
            <a:r>
              <a:rPr lang="ko-KR" altLang="en-US" sz="1400" dirty="0">
                <a:solidFill>
                  <a:schemeClr val="tx2"/>
                </a:solidFill>
              </a:rPr>
              <a:t>국 출원의 기초로서 일단 행사된 때에는 독립성을 잃는 것이며</a:t>
            </a:r>
            <a:r>
              <a:rPr lang="en-US" altLang="ko-KR" sz="1400" dirty="0">
                <a:solidFill>
                  <a:schemeClr val="tx2"/>
                </a:solidFill>
              </a:rPr>
              <a:t>, </a:t>
            </a:r>
            <a:r>
              <a:rPr lang="ko-KR" altLang="en-US" sz="1400" dirty="0">
                <a:highlight>
                  <a:srgbClr val="FFFF00"/>
                </a:highlight>
              </a:rPr>
              <a:t>그 후에는 제</a:t>
            </a:r>
            <a:r>
              <a:rPr lang="en-US" altLang="ko-KR" sz="1400" dirty="0">
                <a:highlight>
                  <a:srgbClr val="FFFF00"/>
                </a:highlight>
              </a:rPr>
              <a:t>2</a:t>
            </a:r>
            <a:r>
              <a:rPr lang="ko-KR" altLang="en-US" sz="1400" dirty="0">
                <a:highlight>
                  <a:srgbClr val="FFFF00"/>
                </a:highlight>
              </a:rPr>
              <a:t>국 출원의 부속물로서 제</a:t>
            </a:r>
            <a:r>
              <a:rPr lang="en-US" altLang="ko-KR" sz="1400" dirty="0">
                <a:highlight>
                  <a:srgbClr val="FFFF00"/>
                </a:highlight>
              </a:rPr>
              <a:t>2</a:t>
            </a:r>
            <a:r>
              <a:rPr lang="ko-KR" altLang="en-US" sz="1400" dirty="0">
                <a:highlight>
                  <a:srgbClr val="FFFF00"/>
                </a:highlight>
              </a:rPr>
              <a:t>국 </a:t>
            </a:r>
            <a:r>
              <a:rPr lang="ko-KR" altLang="en-US" sz="1400" dirty="0" err="1">
                <a:highlight>
                  <a:srgbClr val="FFFF00"/>
                </a:highlight>
              </a:rPr>
              <a:t>출원국의</a:t>
            </a:r>
            <a:r>
              <a:rPr lang="ko-KR" altLang="en-US" sz="1400" dirty="0">
                <a:highlight>
                  <a:srgbClr val="FFFF00"/>
                </a:highlight>
              </a:rPr>
              <a:t> 특허법에서의 출원과 그 운명을 함께</a:t>
            </a:r>
            <a:r>
              <a:rPr lang="ko-KR" altLang="en-US" sz="1400" dirty="0">
                <a:solidFill>
                  <a:schemeClr val="tx2"/>
                </a:solidFill>
              </a:rPr>
              <a:t> 한다</a:t>
            </a:r>
            <a:r>
              <a:rPr lang="en-US" altLang="ko-KR" sz="1400" dirty="0">
                <a:solidFill>
                  <a:schemeClr val="tx2"/>
                </a:solidFill>
              </a:rPr>
              <a:t>. </a:t>
            </a:r>
            <a:r>
              <a:rPr lang="ko-KR" altLang="en-US" sz="1400" dirty="0">
                <a:solidFill>
                  <a:schemeClr val="tx2"/>
                </a:solidFill>
              </a:rPr>
              <a:t>이를 우선권의 「</a:t>
            </a:r>
            <a:r>
              <a:rPr lang="ko-KR" altLang="en-US" sz="1400" dirty="0" err="1">
                <a:solidFill>
                  <a:schemeClr val="tx2"/>
                </a:solidFill>
              </a:rPr>
              <a:t>부속성」이라고</a:t>
            </a:r>
            <a:r>
              <a:rPr lang="ko-KR" altLang="en-US" sz="1400" dirty="0">
                <a:solidFill>
                  <a:schemeClr val="tx2"/>
                </a:solidFill>
              </a:rPr>
              <a:t> 한다</a:t>
            </a:r>
            <a:r>
              <a:rPr lang="en-US" altLang="ko-KR" sz="1400" dirty="0">
                <a:solidFill>
                  <a:schemeClr val="tx2"/>
                </a:solidFill>
              </a:rPr>
              <a:t>.</a:t>
            </a:r>
          </a:p>
        </p:txBody>
      </p:sp>
      <p:cxnSp>
        <p:nvCxnSpPr>
          <p:cNvPr id="34" name="직선 연결선 33"/>
          <p:cNvCxnSpPr/>
          <p:nvPr/>
        </p:nvCxnSpPr>
        <p:spPr>
          <a:xfrm>
            <a:off x="0" y="215196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직선 연결선 73"/>
          <p:cNvCxnSpPr/>
          <p:nvPr/>
        </p:nvCxnSpPr>
        <p:spPr>
          <a:xfrm>
            <a:off x="2162175" y="5397272"/>
            <a:ext cx="855345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8" name="직사각형 87"/>
          <p:cNvSpPr/>
          <p:nvPr/>
        </p:nvSpPr>
        <p:spPr>
          <a:xfrm>
            <a:off x="2149544" y="4507549"/>
            <a:ext cx="1514475" cy="28352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 甲 </a:t>
            </a:r>
            <a:r>
              <a:rPr lang="ko-KR" altLang="en-US" sz="1400" dirty="0" err="1">
                <a:solidFill>
                  <a:schemeClr val="tx1"/>
                </a:solidFill>
              </a:rPr>
              <a:t>일본출원</a:t>
            </a:r>
            <a:r>
              <a:rPr lang="en-US" altLang="ko-KR" sz="1400" dirty="0">
                <a:solidFill>
                  <a:schemeClr val="tx1"/>
                </a:solidFill>
              </a:rPr>
              <a:t>(X)</a:t>
            </a:r>
            <a:endParaRPr lang="ko-KR" altLang="en-US" sz="1400" dirty="0">
              <a:solidFill>
                <a:schemeClr val="tx1"/>
              </a:solidFill>
            </a:endParaRPr>
          </a:p>
        </p:txBody>
      </p:sp>
      <p:sp>
        <p:nvSpPr>
          <p:cNvPr id="126" name="직사각형 125"/>
          <p:cNvSpPr/>
          <p:nvPr/>
        </p:nvSpPr>
        <p:spPr>
          <a:xfrm>
            <a:off x="9045644" y="4507549"/>
            <a:ext cx="1514475" cy="28352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乙 </a:t>
            </a:r>
            <a:r>
              <a:rPr lang="ko-KR" altLang="en-US" sz="1400" dirty="0" err="1">
                <a:solidFill>
                  <a:schemeClr val="tx1"/>
                </a:solidFill>
              </a:rPr>
              <a:t>한국출원</a:t>
            </a:r>
            <a:r>
              <a:rPr lang="en-US" altLang="ko-KR" sz="1400" dirty="0">
                <a:solidFill>
                  <a:schemeClr val="tx1"/>
                </a:solidFill>
              </a:rPr>
              <a:t>(Y)</a:t>
            </a:r>
            <a:endParaRPr lang="ko-KR" altLang="en-US" sz="1400" dirty="0">
              <a:solidFill>
                <a:schemeClr val="tx1"/>
              </a:solidFill>
            </a:endParaRPr>
          </a:p>
        </p:txBody>
      </p:sp>
      <p:sp>
        <p:nvSpPr>
          <p:cNvPr id="127" name="직사각형 126"/>
          <p:cNvSpPr/>
          <p:nvPr/>
        </p:nvSpPr>
        <p:spPr>
          <a:xfrm>
            <a:off x="2149544" y="3346972"/>
            <a:ext cx="1514475" cy="28352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 甲 우선권</a:t>
            </a:r>
          </a:p>
        </p:txBody>
      </p:sp>
      <p:sp>
        <p:nvSpPr>
          <p:cNvPr id="128" name="직사각형 127"/>
          <p:cNvSpPr/>
          <p:nvPr/>
        </p:nvSpPr>
        <p:spPr>
          <a:xfrm>
            <a:off x="4264094" y="4507549"/>
            <a:ext cx="1514475" cy="28352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 甲 출원 취하</a:t>
            </a:r>
            <a:r>
              <a:rPr lang="en-US" altLang="ko-KR" sz="1400" dirty="0">
                <a:solidFill>
                  <a:schemeClr val="tx1"/>
                </a:solidFill>
              </a:rPr>
              <a:t>(X)</a:t>
            </a:r>
            <a:endParaRPr lang="ko-KR" altLang="en-US" sz="1400" dirty="0">
              <a:solidFill>
                <a:schemeClr val="tx1"/>
              </a:solidFill>
            </a:endParaRPr>
          </a:p>
        </p:txBody>
      </p:sp>
      <p:sp>
        <p:nvSpPr>
          <p:cNvPr id="129" name="직사각형 128"/>
          <p:cNvSpPr/>
          <p:nvPr/>
        </p:nvSpPr>
        <p:spPr>
          <a:xfrm>
            <a:off x="6340544" y="3346972"/>
            <a:ext cx="1514475" cy="28352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 乙 우선권</a:t>
            </a:r>
          </a:p>
        </p:txBody>
      </p:sp>
      <p:sp>
        <p:nvSpPr>
          <p:cNvPr id="130" name="직사각형 129"/>
          <p:cNvSpPr/>
          <p:nvPr/>
        </p:nvSpPr>
        <p:spPr>
          <a:xfrm>
            <a:off x="9045643" y="4223419"/>
            <a:ext cx="1514475" cy="28352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우선권</a:t>
            </a:r>
          </a:p>
        </p:txBody>
      </p:sp>
      <p:cxnSp>
        <p:nvCxnSpPr>
          <p:cNvPr id="131" name="직선 연결선 130"/>
          <p:cNvCxnSpPr>
            <a:stCxn id="88" idx="2"/>
            <a:endCxn id="132" idx="4"/>
          </p:cNvCxnSpPr>
          <p:nvPr/>
        </p:nvCxnSpPr>
        <p:spPr>
          <a:xfrm>
            <a:off x="2906782" y="4791075"/>
            <a:ext cx="2114" cy="5319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2" name="Rectangle 14"/>
          <p:cNvSpPr>
            <a:spLocks noChangeArrowheads="1"/>
          </p:cNvSpPr>
          <p:nvPr/>
        </p:nvSpPr>
        <p:spPr bwMode="auto">
          <a:xfrm flipV="1">
            <a:off x="2836467" y="5323046"/>
            <a:ext cx="144858" cy="152080"/>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33" name="직선 연결선 132"/>
          <p:cNvCxnSpPr>
            <a:stCxn id="128" idx="2"/>
            <a:endCxn id="134" idx="4"/>
          </p:cNvCxnSpPr>
          <p:nvPr/>
        </p:nvCxnSpPr>
        <p:spPr>
          <a:xfrm>
            <a:off x="5021332" y="4791075"/>
            <a:ext cx="2114" cy="5319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4" name="Rectangle 14"/>
          <p:cNvSpPr>
            <a:spLocks noChangeArrowheads="1"/>
          </p:cNvSpPr>
          <p:nvPr/>
        </p:nvSpPr>
        <p:spPr bwMode="auto">
          <a:xfrm flipV="1">
            <a:off x="4951017" y="5323046"/>
            <a:ext cx="144858" cy="152080"/>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35" name="직선 연결선 134"/>
          <p:cNvCxnSpPr>
            <a:cxnSpLocks/>
            <a:stCxn id="126" idx="2"/>
            <a:endCxn id="136" idx="4"/>
          </p:cNvCxnSpPr>
          <p:nvPr/>
        </p:nvCxnSpPr>
        <p:spPr>
          <a:xfrm>
            <a:off x="9802882" y="4791075"/>
            <a:ext cx="2114" cy="5319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6" name="Rectangle 14"/>
          <p:cNvSpPr>
            <a:spLocks noChangeArrowheads="1"/>
          </p:cNvSpPr>
          <p:nvPr/>
        </p:nvSpPr>
        <p:spPr bwMode="auto">
          <a:xfrm flipV="1">
            <a:off x="9732567" y="5323046"/>
            <a:ext cx="144858" cy="152080"/>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37" name="직선 연결선 136"/>
          <p:cNvCxnSpPr>
            <a:stCxn id="129" idx="2"/>
            <a:endCxn id="138" idx="4"/>
          </p:cNvCxnSpPr>
          <p:nvPr/>
        </p:nvCxnSpPr>
        <p:spPr>
          <a:xfrm>
            <a:off x="7097782" y="3630498"/>
            <a:ext cx="1657" cy="169254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8" name="Rectangle 14"/>
          <p:cNvSpPr>
            <a:spLocks noChangeArrowheads="1"/>
          </p:cNvSpPr>
          <p:nvPr/>
        </p:nvSpPr>
        <p:spPr bwMode="auto">
          <a:xfrm flipV="1">
            <a:off x="7027010" y="5323046"/>
            <a:ext cx="144858" cy="152080"/>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4" name="직선 연결선 13"/>
          <p:cNvCxnSpPr>
            <a:endCxn id="127" idx="2"/>
          </p:cNvCxnSpPr>
          <p:nvPr/>
        </p:nvCxnSpPr>
        <p:spPr>
          <a:xfrm flipV="1">
            <a:off x="2906782" y="3630498"/>
            <a:ext cx="0" cy="876447"/>
          </a:xfrm>
          <a:prstGeom prst="line">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9" name="직선 연결선 138"/>
          <p:cNvCxnSpPr>
            <a:stCxn id="127" idx="3"/>
            <a:endCxn id="129" idx="1"/>
          </p:cNvCxnSpPr>
          <p:nvPr/>
        </p:nvCxnSpPr>
        <p:spPr>
          <a:xfrm>
            <a:off x="3664019" y="3488735"/>
            <a:ext cx="2676525" cy="0"/>
          </a:xfrm>
          <a:prstGeom prst="line">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129" idx="3"/>
            <a:endCxn id="130" idx="1"/>
          </p:cNvCxnSpPr>
          <p:nvPr/>
        </p:nvCxnSpPr>
        <p:spPr>
          <a:xfrm>
            <a:off x="7855019" y="3488735"/>
            <a:ext cx="1190624" cy="876447"/>
          </a:xfrm>
          <a:prstGeom prst="bentConnector3">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0" name="TextBox 139"/>
          <p:cNvSpPr txBox="1"/>
          <p:nvPr/>
        </p:nvSpPr>
        <p:spPr>
          <a:xfrm>
            <a:off x="1690344" y="3999416"/>
            <a:ext cx="1443742" cy="338554"/>
          </a:xfrm>
          <a:prstGeom prst="rect">
            <a:avLst/>
          </a:prstGeom>
          <a:noFill/>
        </p:spPr>
        <p:txBody>
          <a:bodyPr wrap="square" rtlCol="0">
            <a:spAutoFit/>
          </a:bodyPr>
          <a:lstStyle/>
          <a:p>
            <a:r>
              <a:rPr lang="ko-KR" altLang="en-US" sz="1600" b="1">
                <a:solidFill>
                  <a:srgbClr val="FF0000"/>
                </a:solidFill>
              </a:rPr>
              <a:t>발생 및 분리</a:t>
            </a:r>
            <a:endParaRPr lang="ko-KR" altLang="en-US" sz="1600" b="1" dirty="0">
              <a:solidFill>
                <a:srgbClr val="FF0000"/>
              </a:solidFill>
            </a:endParaRPr>
          </a:p>
        </p:txBody>
      </p:sp>
      <p:sp>
        <p:nvSpPr>
          <p:cNvPr id="141" name="TextBox 140"/>
          <p:cNvSpPr txBox="1"/>
          <p:nvPr/>
        </p:nvSpPr>
        <p:spPr>
          <a:xfrm>
            <a:off x="4334827" y="3150181"/>
            <a:ext cx="1443742" cy="338554"/>
          </a:xfrm>
          <a:prstGeom prst="rect">
            <a:avLst/>
          </a:prstGeom>
          <a:noFill/>
        </p:spPr>
        <p:txBody>
          <a:bodyPr wrap="square" rtlCol="0">
            <a:spAutoFit/>
          </a:bodyPr>
          <a:lstStyle/>
          <a:p>
            <a:pPr algn="ctr"/>
            <a:r>
              <a:rPr lang="ko-KR" altLang="en-US" sz="1600" b="1" dirty="0">
                <a:solidFill>
                  <a:srgbClr val="FF0000"/>
                </a:solidFill>
              </a:rPr>
              <a:t>양도</a:t>
            </a:r>
          </a:p>
        </p:txBody>
      </p:sp>
      <p:sp>
        <p:nvSpPr>
          <p:cNvPr id="142" name="TextBox 141"/>
          <p:cNvSpPr txBox="1"/>
          <p:nvPr/>
        </p:nvSpPr>
        <p:spPr>
          <a:xfrm>
            <a:off x="8473916" y="3709191"/>
            <a:ext cx="1443742" cy="338554"/>
          </a:xfrm>
          <a:prstGeom prst="rect">
            <a:avLst/>
          </a:prstGeom>
          <a:noFill/>
        </p:spPr>
        <p:txBody>
          <a:bodyPr wrap="square" rtlCol="0">
            <a:spAutoFit/>
          </a:bodyPr>
          <a:lstStyle/>
          <a:p>
            <a:r>
              <a:rPr lang="ko-KR" altLang="en-US" sz="1600" b="1" dirty="0">
                <a:solidFill>
                  <a:srgbClr val="FF0000"/>
                </a:solidFill>
              </a:rPr>
              <a:t>결합</a:t>
            </a:r>
          </a:p>
        </p:txBody>
      </p:sp>
      <p:sp>
        <p:nvSpPr>
          <p:cNvPr id="21" name="모서리가 둥근 사각형 설명선 20"/>
          <p:cNvSpPr/>
          <p:nvPr/>
        </p:nvSpPr>
        <p:spPr>
          <a:xfrm>
            <a:off x="962028" y="3488735"/>
            <a:ext cx="878068" cy="388954"/>
          </a:xfrm>
          <a:prstGeom prst="wedgeRoundRectCallout">
            <a:avLst>
              <a:gd name="adj1" fmla="val 40999"/>
              <a:gd name="adj2" fmla="val 91886"/>
              <a:gd name="adj3" fmla="val 16667"/>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t>독립성</a:t>
            </a:r>
          </a:p>
        </p:txBody>
      </p:sp>
      <p:sp>
        <p:nvSpPr>
          <p:cNvPr id="143" name="모서리가 둥근 사각형 설명선 142"/>
          <p:cNvSpPr/>
          <p:nvPr/>
        </p:nvSpPr>
        <p:spPr>
          <a:xfrm>
            <a:off x="9091500" y="3302289"/>
            <a:ext cx="878068" cy="388954"/>
          </a:xfrm>
          <a:prstGeom prst="wedgeRoundRectCallout">
            <a:avLst>
              <a:gd name="adj1" fmla="val -54461"/>
              <a:gd name="adj2" fmla="val 104130"/>
              <a:gd name="adj3" fmla="val 16667"/>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err="1"/>
              <a:t>부속성</a:t>
            </a:r>
            <a:endParaRPr lang="ko-KR" altLang="en-US" dirty="0"/>
          </a:p>
        </p:txBody>
      </p:sp>
      <p:sp>
        <p:nvSpPr>
          <p:cNvPr id="2" name="슬라이드 번호 개체 틀 1"/>
          <p:cNvSpPr>
            <a:spLocks noGrp="1"/>
          </p:cNvSpPr>
          <p:nvPr>
            <p:ph type="sldNum" sz="quarter" idx="12"/>
          </p:nvPr>
        </p:nvSpPr>
        <p:spPr/>
        <p:txBody>
          <a:bodyPr/>
          <a:lstStyle/>
          <a:p>
            <a:r>
              <a:rPr lang="en-US" altLang="ko-KR"/>
              <a:t>215</a:t>
            </a:r>
            <a:endParaRPr lang="ko-KR" altLang="en-US"/>
          </a:p>
        </p:txBody>
      </p:sp>
    </p:spTree>
    <p:extLst>
      <p:ext uri="{BB962C8B-B14F-4D97-AF65-F5344CB8AC3E}">
        <p14:creationId xmlns:p14="http://schemas.microsoft.com/office/powerpoint/2010/main" val="1016339761"/>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2" name="직선 연결선 61">
            <a:extLst>
              <a:ext uri="{FF2B5EF4-FFF2-40B4-BE49-F238E27FC236}">
                <a16:creationId xmlns:a16="http://schemas.microsoft.com/office/drawing/2014/main" id="{62E0B4F3-8367-44B0-96D6-6EB81066D126}"/>
              </a:ext>
            </a:extLst>
          </p:cNvPr>
          <p:cNvCxnSpPr/>
          <p:nvPr/>
        </p:nvCxnSpPr>
        <p:spPr>
          <a:xfrm>
            <a:off x="9647014" y="3331778"/>
            <a:ext cx="0" cy="3111062"/>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직선 연결선 6">
            <a:extLst>
              <a:ext uri="{FF2B5EF4-FFF2-40B4-BE49-F238E27FC236}">
                <a16:creationId xmlns:a16="http://schemas.microsoft.com/office/drawing/2014/main" id="{B3A58AA3-DAD9-43B9-96AB-175A24A72887}"/>
              </a:ext>
            </a:extLst>
          </p:cNvPr>
          <p:cNvCxnSpPr/>
          <p:nvPr/>
        </p:nvCxnSpPr>
        <p:spPr>
          <a:xfrm>
            <a:off x="5567309" y="3331778"/>
            <a:ext cx="0" cy="3111062"/>
          </a:xfrm>
          <a:prstGeom prst="line">
            <a:avLst/>
          </a:prstGeom>
          <a:ln>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제목 3"/>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5" name="텍스트 개체 틀 4"/>
          <p:cNvSpPr>
            <a:spLocks noGrp="1"/>
          </p:cNvSpPr>
          <p:nvPr>
            <p:ph type="body" sz="quarter" idx="13"/>
          </p:nvPr>
        </p:nvSpPr>
        <p:spPr/>
        <p:txBody>
          <a:bodyPr/>
          <a:lstStyle/>
          <a:p>
            <a:r>
              <a:rPr lang="ko-KR" altLang="en-US" dirty="0"/>
              <a:t>최선성의 </a:t>
            </a:r>
            <a:r>
              <a:rPr lang="en-US" altLang="ko-KR" dirty="0"/>
              <a:t>CASE</a:t>
            </a:r>
            <a:endParaRPr lang="ko-KR" altLang="en-US" dirty="0"/>
          </a:p>
        </p:txBody>
      </p:sp>
      <p:sp>
        <p:nvSpPr>
          <p:cNvPr id="2" name="슬라이드 번호 개체 틀 1"/>
          <p:cNvSpPr>
            <a:spLocks noGrp="1"/>
          </p:cNvSpPr>
          <p:nvPr>
            <p:ph type="sldNum" sz="quarter" idx="4294967295"/>
          </p:nvPr>
        </p:nvSpPr>
        <p:spPr>
          <a:xfrm>
            <a:off x="11144250" y="3175"/>
            <a:ext cx="1047750" cy="714375"/>
          </a:xfrm>
        </p:spPr>
        <p:txBody>
          <a:bodyPr/>
          <a:lstStyle/>
          <a:p>
            <a:r>
              <a:rPr lang="en-US" altLang="ko-KR"/>
              <a:t>216</a:t>
            </a:r>
            <a:endParaRPr lang="ko-KR" altLang="en-US"/>
          </a:p>
        </p:txBody>
      </p:sp>
      <p:sp>
        <p:nvSpPr>
          <p:cNvPr id="33" name="TextBox 32"/>
          <p:cNvSpPr txBox="1"/>
          <p:nvPr/>
        </p:nvSpPr>
        <p:spPr>
          <a:xfrm>
            <a:off x="77875" y="1353597"/>
            <a:ext cx="11936323" cy="1815882"/>
          </a:xfrm>
          <a:prstGeom prst="rect">
            <a:avLst/>
          </a:prstGeom>
          <a:noFill/>
        </p:spPr>
        <p:txBody>
          <a:bodyPr wrap="square" rtlCol="0">
            <a:spAutoFit/>
          </a:bodyPr>
          <a:lstStyle/>
          <a:p>
            <a:pPr fontAlgn="base"/>
            <a:r>
              <a:rPr lang="ko-KR" altLang="en-US" sz="1400" dirty="0">
                <a:solidFill>
                  <a:schemeClr val="tx2"/>
                </a:solidFill>
              </a:rPr>
              <a:t>조약에 의한 우선권 주장을 인정받기 위해서는 ① 제</a:t>
            </a:r>
            <a:r>
              <a:rPr lang="en-US" altLang="ko-KR" sz="1400" dirty="0">
                <a:solidFill>
                  <a:schemeClr val="tx2"/>
                </a:solidFill>
              </a:rPr>
              <a:t>1</a:t>
            </a:r>
            <a:r>
              <a:rPr lang="ko-KR" altLang="en-US" sz="1400" dirty="0">
                <a:solidFill>
                  <a:schemeClr val="tx2"/>
                </a:solidFill>
              </a:rPr>
              <a:t>국 출원이 정규의 최초의 출원이어야 할 것</a:t>
            </a:r>
            <a:r>
              <a:rPr lang="en-US" altLang="ko-KR" sz="1400" dirty="0">
                <a:solidFill>
                  <a:schemeClr val="tx2"/>
                </a:solidFill>
              </a:rPr>
              <a:t>, ②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국 출원과 제</a:t>
            </a:r>
            <a:r>
              <a:rPr lang="en-US" altLang="ko-KR" sz="1400" dirty="0">
                <a:solidFill>
                  <a:schemeClr val="tx2"/>
                </a:solidFill>
              </a:rPr>
              <a:t>2</a:t>
            </a:r>
            <a:r>
              <a:rPr lang="ko-KR" altLang="en-US" sz="1400" dirty="0">
                <a:solidFill>
                  <a:schemeClr val="tx2"/>
                </a:solidFill>
              </a:rPr>
              <a:t>국 출원이 동일한 발명이어야 할 것</a:t>
            </a:r>
            <a:r>
              <a:rPr lang="en-US" altLang="ko-KR" sz="1400" dirty="0">
                <a:solidFill>
                  <a:schemeClr val="tx2"/>
                </a:solidFill>
              </a:rPr>
              <a:t>, ③ </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국 출원이 제</a:t>
            </a:r>
            <a:r>
              <a:rPr lang="en-US" altLang="ko-KR" sz="1400" dirty="0">
                <a:solidFill>
                  <a:schemeClr val="tx2"/>
                </a:solidFill>
              </a:rPr>
              <a:t>1</a:t>
            </a:r>
            <a:r>
              <a:rPr lang="ko-KR" altLang="en-US" sz="1400" dirty="0">
                <a:solidFill>
                  <a:schemeClr val="tx2"/>
                </a:solidFill>
              </a:rPr>
              <a:t>국 출원일로부터 </a:t>
            </a:r>
            <a:r>
              <a:rPr lang="en-US" altLang="ko-KR" sz="1400" dirty="0">
                <a:solidFill>
                  <a:schemeClr val="tx2"/>
                </a:solidFill>
              </a:rPr>
              <a:t>1</a:t>
            </a:r>
            <a:r>
              <a:rPr lang="ko-KR" altLang="en-US" sz="1400" dirty="0">
                <a:solidFill>
                  <a:schemeClr val="tx2"/>
                </a:solidFill>
              </a:rPr>
              <a:t>년 이내에 이루어져야 할 것 등의 요건을 모두 충족시켜야 하므로</a:t>
            </a:r>
            <a:r>
              <a:rPr lang="en-US" altLang="ko-KR" sz="1400" dirty="0">
                <a:solidFill>
                  <a:schemeClr val="tx2"/>
                </a:solidFill>
              </a:rPr>
              <a:t>, </a:t>
            </a:r>
            <a:r>
              <a:rPr lang="ko-KR" altLang="en-US" sz="1400" dirty="0">
                <a:solidFill>
                  <a:schemeClr val="tx2"/>
                </a:solidFill>
              </a:rPr>
              <a:t>조약에 의한 우선권 주장을 수반하는 제</a:t>
            </a:r>
            <a:r>
              <a:rPr lang="en-US" altLang="ko-KR" sz="1400" dirty="0">
                <a:solidFill>
                  <a:schemeClr val="tx2"/>
                </a:solidFill>
              </a:rPr>
              <a:t>2</a:t>
            </a:r>
            <a:r>
              <a:rPr lang="ko-KR" altLang="en-US" sz="1400" dirty="0">
                <a:solidFill>
                  <a:schemeClr val="tx2"/>
                </a:solidFill>
              </a:rPr>
              <a:t>국 출원일 경우에도 그 우선권 주장의 기초가 되는 제</a:t>
            </a:r>
            <a:r>
              <a:rPr lang="en-US" altLang="ko-KR" sz="1400" dirty="0">
                <a:solidFill>
                  <a:schemeClr val="tx2"/>
                </a:solidFill>
              </a:rPr>
              <a:t>1</a:t>
            </a:r>
            <a:r>
              <a:rPr lang="ko-KR" altLang="en-US" sz="1400" dirty="0">
                <a:solidFill>
                  <a:schemeClr val="tx2"/>
                </a:solidFill>
              </a:rPr>
              <a:t>국 출원이 최초의 출원이 아니거나</a:t>
            </a:r>
            <a:r>
              <a:rPr lang="en-US" altLang="ko-KR" sz="1400" dirty="0">
                <a:solidFill>
                  <a:schemeClr val="tx2"/>
                </a:solidFill>
              </a:rPr>
              <a:t>(</a:t>
            </a:r>
            <a:r>
              <a:rPr lang="ko-KR" altLang="en-US" sz="1400" dirty="0">
                <a:solidFill>
                  <a:schemeClr val="tx2"/>
                </a:solidFill>
              </a:rPr>
              <a:t>즉</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국 출원이 이미 또 다른 당사국에 한 전출원을 기초로 하여 우선권을 주장하여 출원된 것이고</a:t>
            </a:r>
            <a:r>
              <a:rPr lang="en-US" altLang="ko-KR" sz="1400" dirty="0">
                <a:solidFill>
                  <a:schemeClr val="tx2"/>
                </a:solidFill>
              </a:rPr>
              <a:t>) </a:t>
            </a:r>
            <a:r>
              <a:rPr lang="ko-KR" altLang="en-US" sz="1400" dirty="0">
                <a:solidFill>
                  <a:schemeClr val="tx2"/>
                </a:solidFill>
              </a:rPr>
              <a:t>그 제</a:t>
            </a:r>
            <a:r>
              <a:rPr lang="en-US" altLang="ko-KR" sz="1400" dirty="0">
                <a:solidFill>
                  <a:schemeClr val="tx2"/>
                </a:solidFill>
              </a:rPr>
              <a:t>2</a:t>
            </a:r>
            <a:r>
              <a:rPr lang="ko-KR" altLang="en-US" sz="1400" dirty="0">
                <a:solidFill>
                  <a:schemeClr val="tx2"/>
                </a:solidFill>
              </a:rPr>
              <a:t>국 출원이 전출원일로부터 우선권 기간</a:t>
            </a:r>
            <a:r>
              <a:rPr lang="en-US" altLang="ko-KR" sz="1400" dirty="0">
                <a:solidFill>
                  <a:schemeClr val="tx2"/>
                </a:solidFill>
              </a:rPr>
              <a:t>(1</a:t>
            </a:r>
            <a:r>
              <a:rPr lang="ko-KR" altLang="en-US" sz="1400" dirty="0">
                <a:solidFill>
                  <a:schemeClr val="tx2"/>
                </a:solidFill>
              </a:rPr>
              <a:t>년</a:t>
            </a:r>
            <a:r>
              <a:rPr lang="en-US" altLang="ko-KR" sz="1400" dirty="0">
                <a:solidFill>
                  <a:schemeClr val="tx2"/>
                </a:solidFill>
              </a:rPr>
              <a:t>)</a:t>
            </a:r>
            <a:r>
              <a:rPr lang="ko-KR" altLang="en-US" sz="1400" dirty="0">
                <a:solidFill>
                  <a:schemeClr val="tx2"/>
                </a:solidFill>
              </a:rPr>
              <a:t>을 지나서 이루어진 경우에는</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국 출원에 기재된 발명 중에 전출원과 제</a:t>
            </a:r>
            <a:r>
              <a:rPr lang="en-US" altLang="ko-KR" sz="1400" dirty="0">
                <a:solidFill>
                  <a:schemeClr val="tx2"/>
                </a:solidFill>
              </a:rPr>
              <a:t>1</a:t>
            </a:r>
            <a:r>
              <a:rPr lang="ko-KR" altLang="en-US" sz="1400" dirty="0">
                <a:solidFill>
                  <a:schemeClr val="tx2"/>
                </a:solidFill>
              </a:rPr>
              <a:t>국 출원의 명세서에 공통으로 포함된 발명에 대해서는 그 우선권 주장이 인정되지 아니한데</a:t>
            </a:r>
            <a:r>
              <a:rPr lang="en-US" altLang="ko-KR" sz="1400" dirty="0">
                <a:solidFill>
                  <a:schemeClr val="tx2"/>
                </a:solidFill>
              </a:rPr>
              <a:t>, </a:t>
            </a:r>
            <a:r>
              <a:rPr lang="ko-KR" altLang="en-US" sz="1400" dirty="0">
                <a:solidFill>
                  <a:schemeClr val="tx2"/>
                </a:solidFill>
              </a:rPr>
              <a:t>이는 제</a:t>
            </a:r>
            <a:r>
              <a:rPr lang="en-US" altLang="ko-KR" sz="1400" dirty="0">
                <a:solidFill>
                  <a:schemeClr val="tx2"/>
                </a:solidFill>
              </a:rPr>
              <a:t>2</a:t>
            </a:r>
            <a:r>
              <a:rPr lang="ko-KR" altLang="en-US" sz="1400" dirty="0">
                <a:solidFill>
                  <a:schemeClr val="tx2"/>
                </a:solidFill>
              </a:rPr>
              <a:t>국 출원이 제</a:t>
            </a:r>
            <a:r>
              <a:rPr lang="en-US" altLang="ko-KR" sz="1400" dirty="0">
                <a:solidFill>
                  <a:schemeClr val="tx2"/>
                </a:solidFill>
              </a:rPr>
              <a:t>1</a:t>
            </a:r>
            <a:r>
              <a:rPr lang="ko-KR" altLang="en-US" sz="1400" dirty="0">
                <a:solidFill>
                  <a:schemeClr val="tx2"/>
                </a:solidFill>
              </a:rPr>
              <a:t>국 출원의 우선권 주장의 기초가 되었던 전출원에 기재되었던 발명에 대해서 중복하여 우선권이 허용되는 경우에는 실질적으로 우선권 기간이 연장되는 결과를 초래하는 것이므로</a:t>
            </a:r>
            <a:r>
              <a:rPr lang="en-US" altLang="ko-KR" sz="1400" dirty="0">
                <a:solidFill>
                  <a:schemeClr val="tx2"/>
                </a:solidFill>
              </a:rPr>
              <a:t>, </a:t>
            </a:r>
            <a:r>
              <a:rPr lang="ko-KR" altLang="en-US" sz="1400" dirty="0">
                <a:solidFill>
                  <a:schemeClr val="tx2"/>
                </a:solidFill>
              </a:rPr>
              <a:t>이와 같은 경우에는 우선일의 소급 효과를 인정하지 않고 제</a:t>
            </a:r>
            <a:r>
              <a:rPr lang="en-US" altLang="ko-KR" sz="1400" dirty="0">
                <a:solidFill>
                  <a:schemeClr val="tx2"/>
                </a:solidFill>
              </a:rPr>
              <a:t>1</a:t>
            </a:r>
            <a:r>
              <a:rPr lang="ko-KR" altLang="en-US" sz="1400" dirty="0">
                <a:solidFill>
                  <a:schemeClr val="tx2"/>
                </a:solidFill>
              </a:rPr>
              <a:t>국 출원에서 새로이 추가된 발명에 대해서만 우선권 주장의 효과를 인정할 수 있는 것이다</a:t>
            </a:r>
            <a:r>
              <a:rPr lang="en-US" altLang="ko-KR" sz="1400" dirty="0">
                <a:solidFill>
                  <a:schemeClr val="tx2"/>
                </a:solidFill>
              </a:rPr>
              <a:t>. </a:t>
            </a:r>
            <a:r>
              <a:rPr lang="ko-KR" altLang="en-US" sz="1400" dirty="0">
                <a:solidFill>
                  <a:schemeClr val="tx2"/>
                </a:solidFill>
              </a:rPr>
              <a:t>따라서 제</a:t>
            </a:r>
            <a:r>
              <a:rPr lang="en-US" altLang="ko-KR" sz="1400" dirty="0">
                <a:solidFill>
                  <a:schemeClr val="tx2"/>
                </a:solidFill>
              </a:rPr>
              <a:t>2</a:t>
            </a:r>
            <a:r>
              <a:rPr lang="ko-KR" altLang="en-US" sz="1400" dirty="0">
                <a:solidFill>
                  <a:schemeClr val="tx2"/>
                </a:solidFill>
              </a:rPr>
              <a:t>국 출원의 우선권 주장이 인정받지 못하고 그 우선권 주장의 기초가 된 제</a:t>
            </a:r>
            <a:r>
              <a:rPr lang="en-US" altLang="ko-KR" sz="1400" dirty="0">
                <a:solidFill>
                  <a:schemeClr val="tx2"/>
                </a:solidFill>
              </a:rPr>
              <a:t>1</a:t>
            </a:r>
            <a:r>
              <a:rPr lang="ko-KR" altLang="en-US" sz="1400" dirty="0">
                <a:solidFill>
                  <a:schemeClr val="tx2"/>
                </a:solidFill>
              </a:rPr>
              <a:t>국 출원이 제</a:t>
            </a:r>
            <a:r>
              <a:rPr lang="en-US" altLang="ko-KR" sz="1400" dirty="0">
                <a:solidFill>
                  <a:schemeClr val="tx2"/>
                </a:solidFill>
              </a:rPr>
              <a:t>2</a:t>
            </a:r>
            <a:r>
              <a:rPr lang="ko-KR" altLang="en-US" sz="1400" dirty="0">
                <a:solidFill>
                  <a:schemeClr val="tx2"/>
                </a:solidFill>
              </a:rPr>
              <a:t>국 출원일 이전에 공개되었을 경우에는</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국 출원은 제</a:t>
            </a:r>
            <a:r>
              <a:rPr lang="en-US" altLang="ko-KR" sz="1400" dirty="0">
                <a:solidFill>
                  <a:schemeClr val="tx2"/>
                </a:solidFill>
              </a:rPr>
              <a:t>1</a:t>
            </a:r>
            <a:r>
              <a:rPr lang="ko-KR" altLang="en-US" sz="1400" dirty="0">
                <a:solidFill>
                  <a:schemeClr val="tx2"/>
                </a:solidFill>
              </a:rPr>
              <a:t>국 출원에 기재된 내용에 의하여 신규성을 상실하게 된다</a:t>
            </a:r>
            <a:r>
              <a:rPr lang="en-US" altLang="ko-KR" sz="1400" dirty="0">
                <a:solidFill>
                  <a:schemeClr val="tx2"/>
                </a:solidFill>
              </a:rPr>
              <a:t>.</a:t>
            </a:r>
          </a:p>
        </p:txBody>
      </p:sp>
      <p:cxnSp>
        <p:nvCxnSpPr>
          <p:cNvPr id="34" name="직선 연결선 33"/>
          <p:cNvCxnSpPr/>
          <p:nvPr/>
        </p:nvCxnSpPr>
        <p:spPr>
          <a:xfrm>
            <a:off x="0" y="319310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8C4ECADA-C533-4995-AAB9-9B38C46E4393}"/>
              </a:ext>
            </a:extLst>
          </p:cNvPr>
          <p:cNvCxnSpPr/>
          <p:nvPr/>
        </p:nvCxnSpPr>
        <p:spPr>
          <a:xfrm>
            <a:off x="389467" y="4340107"/>
            <a:ext cx="11438466"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Rectangle 14">
            <a:extLst>
              <a:ext uri="{FF2B5EF4-FFF2-40B4-BE49-F238E27FC236}">
                <a16:creationId xmlns:a16="http://schemas.microsoft.com/office/drawing/2014/main" id="{EAB26AF4-EA50-4806-A044-DF568ACC285C}"/>
              </a:ext>
            </a:extLst>
          </p:cNvPr>
          <p:cNvSpPr>
            <a:spLocks noChangeArrowheads="1"/>
          </p:cNvSpPr>
          <p:nvPr/>
        </p:nvSpPr>
        <p:spPr bwMode="auto">
          <a:xfrm flipV="1">
            <a:off x="9574939" y="4270254"/>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2" name="Rectangle 14">
            <a:extLst>
              <a:ext uri="{FF2B5EF4-FFF2-40B4-BE49-F238E27FC236}">
                <a16:creationId xmlns:a16="http://schemas.microsoft.com/office/drawing/2014/main" id="{A7D4ED4E-FC77-4EEA-874C-CBFEF64D9F3B}"/>
              </a:ext>
            </a:extLst>
          </p:cNvPr>
          <p:cNvSpPr>
            <a:spLocks noChangeArrowheads="1"/>
          </p:cNvSpPr>
          <p:nvPr/>
        </p:nvSpPr>
        <p:spPr bwMode="auto">
          <a:xfrm flipV="1">
            <a:off x="5495234" y="4270254"/>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5" name="Rectangle 14">
            <a:extLst>
              <a:ext uri="{FF2B5EF4-FFF2-40B4-BE49-F238E27FC236}">
                <a16:creationId xmlns:a16="http://schemas.microsoft.com/office/drawing/2014/main" id="{28A4799C-8251-42B8-8FE2-2EE574A69D3C}"/>
              </a:ext>
            </a:extLst>
          </p:cNvPr>
          <p:cNvSpPr>
            <a:spLocks noChangeArrowheads="1"/>
          </p:cNvSpPr>
          <p:nvPr/>
        </p:nvSpPr>
        <p:spPr bwMode="auto">
          <a:xfrm flipV="1">
            <a:off x="2581194" y="4270254"/>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6" name="직사각형 35">
            <a:extLst>
              <a:ext uri="{FF2B5EF4-FFF2-40B4-BE49-F238E27FC236}">
                <a16:creationId xmlns:a16="http://schemas.microsoft.com/office/drawing/2014/main" id="{99C4E038-F036-456C-92AE-81FEA1373D01}"/>
              </a:ext>
            </a:extLst>
          </p:cNvPr>
          <p:cNvSpPr/>
          <p:nvPr/>
        </p:nvSpPr>
        <p:spPr>
          <a:xfrm>
            <a:off x="2097719" y="4709250"/>
            <a:ext cx="1111100" cy="202221"/>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일본출원</a:t>
            </a:r>
            <a:r>
              <a:rPr lang="en-US" altLang="ko-KR" sz="1000" dirty="0">
                <a:solidFill>
                  <a:schemeClr val="tx1"/>
                </a:solidFill>
              </a:rPr>
              <a:t>(X)</a:t>
            </a:r>
            <a:endParaRPr lang="ko-KR" altLang="en-US" sz="1000" dirty="0">
              <a:solidFill>
                <a:schemeClr val="tx1"/>
              </a:solidFill>
            </a:endParaRPr>
          </a:p>
        </p:txBody>
      </p:sp>
      <p:sp>
        <p:nvSpPr>
          <p:cNvPr id="37" name="직사각형 36">
            <a:extLst>
              <a:ext uri="{FF2B5EF4-FFF2-40B4-BE49-F238E27FC236}">
                <a16:creationId xmlns:a16="http://schemas.microsoft.com/office/drawing/2014/main" id="{B3A61CA7-940B-444A-A7B6-3E85079E1F0C}"/>
              </a:ext>
            </a:extLst>
          </p:cNvPr>
          <p:cNvSpPr/>
          <p:nvPr/>
        </p:nvSpPr>
        <p:spPr>
          <a:xfrm>
            <a:off x="5011759" y="4709250"/>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미국출원</a:t>
            </a:r>
            <a:r>
              <a:rPr lang="en-US" altLang="ko-KR" sz="1000" dirty="0">
                <a:solidFill>
                  <a:schemeClr val="tx1"/>
                </a:solidFill>
              </a:rPr>
              <a:t>(Y)</a:t>
            </a:r>
            <a:endParaRPr lang="ko-KR" altLang="en-US" sz="1000" dirty="0">
              <a:solidFill>
                <a:schemeClr val="tx1"/>
              </a:solidFill>
            </a:endParaRPr>
          </a:p>
        </p:txBody>
      </p:sp>
      <p:sp>
        <p:nvSpPr>
          <p:cNvPr id="38" name="직사각형 37">
            <a:extLst>
              <a:ext uri="{FF2B5EF4-FFF2-40B4-BE49-F238E27FC236}">
                <a16:creationId xmlns:a16="http://schemas.microsoft.com/office/drawing/2014/main" id="{996EC2C4-A866-409B-9B40-5357E499C1A0}"/>
              </a:ext>
            </a:extLst>
          </p:cNvPr>
          <p:cNvSpPr/>
          <p:nvPr/>
        </p:nvSpPr>
        <p:spPr>
          <a:xfrm>
            <a:off x="9091464" y="4709250"/>
            <a:ext cx="1111100" cy="2022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(Z)</a:t>
            </a:r>
            <a:endParaRPr lang="ko-KR" altLang="en-US" sz="1000" dirty="0">
              <a:solidFill>
                <a:schemeClr val="tx1"/>
              </a:solidFill>
            </a:endParaRPr>
          </a:p>
        </p:txBody>
      </p:sp>
      <p:sp>
        <p:nvSpPr>
          <p:cNvPr id="39" name="직사각형 38">
            <a:extLst>
              <a:ext uri="{FF2B5EF4-FFF2-40B4-BE49-F238E27FC236}">
                <a16:creationId xmlns:a16="http://schemas.microsoft.com/office/drawing/2014/main" id="{20DD278F-4EBC-4871-9837-C3B1EAB9429E}"/>
              </a:ext>
            </a:extLst>
          </p:cNvPr>
          <p:cNvSpPr/>
          <p:nvPr/>
        </p:nvSpPr>
        <p:spPr>
          <a:xfrm>
            <a:off x="9091464" y="4911472"/>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Y</a:t>
            </a:r>
            <a:r>
              <a:rPr lang="ko-KR" altLang="en-US" sz="1000" dirty="0">
                <a:solidFill>
                  <a:schemeClr val="tx1"/>
                </a:solidFill>
              </a:rPr>
              <a:t>기초 우선권주장</a:t>
            </a:r>
          </a:p>
        </p:txBody>
      </p:sp>
      <p:sp>
        <p:nvSpPr>
          <p:cNvPr id="40" name="직사각형 39">
            <a:extLst>
              <a:ext uri="{FF2B5EF4-FFF2-40B4-BE49-F238E27FC236}">
                <a16:creationId xmlns:a16="http://schemas.microsoft.com/office/drawing/2014/main" id="{36B00475-6A45-48C1-B071-71AD5A7C8707}"/>
              </a:ext>
            </a:extLst>
          </p:cNvPr>
          <p:cNvSpPr/>
          <p:nvPr/>
        </p:nvSpPr>
        <p:spPr>
          <a:xfrm>
            <a:off x="5011759" y="4901750"/>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기초 우선권주장</a:t>
            </a:r>
          </a:p>
        </p:txBody>
      </p:sp>
      <p:cxnSp>
        <p:nvCxnSpPr>
          <p:cNvPr id="41" name="직선 연결선 40">
            <a:extLst>
              <a:ext uri="{FF2B5EF4-FFF2-40B4-BE49-F238E27FC236}">
                <a16:creationId xmlns:a16="http://schemas.microsoft.com/office/drawing/2014/main" id="{47E4133C-7188-41C4-A6A8-5EE224F9B00F}"/>
              </a:ext>
            </a:extLst>
          </p:cNvPr>
          <p:cNvCxnSpPr>
            <a:stCxn id="36" idx="0"/>
          </p:cNvCxnSpPr>
          <p:nvPr/>
        </p:nvCxnSpPr>
        <p:spPr>
          <a:xfrm flipV="1">
            <a:off x="2653269" y="4487739"/>
            <a:ext cx="0" cy="22151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직선 연결선 41">
            <a:extLst>
              <a:ext uri="{FF2B5EF4-FFF2-40B4-BE49-F238E27FC236}">
                <a16:creationId xmlns:a16="http://schemas.microsoft.com/office/drawing/2014/main" id="{4C05809E-F8E4-4DF5-8E5C-34695C06D479}"/>
              </a:ext>
            </a:extLst>
          </p:cNvPr>
          <p:cNvCxnSpPr>
            <a:stCxn id="37" idx="0"/>
            <a:endCxn id="32" idx="0"/>
          </p:cNvCxnSpPr>
          <p:nvPr/>
        </p:nvCxnSpPr>
        <p:spPr>
          <a:xfrm flipV="1">
            <a:off x="5567309" y="4409959"/>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직선 연결선 42">
            <a:extLst>
              <a:ext uri="{FF2B5EF4-FFF2-40B4-BE49-F238E27FC236}">
                <a16:creationId xmlns:a16="http://schemas.microsoft.com/office/drawing/2014/main" id="{661FB884-A8B7-489E-ADE3-6073A24AA5E7}"/>
              </a:ext>
            </a:extLst>
          </p:cNvPr>
          <p:cNvCxnSpPr>
            <a:stCxn id="38" idx="0"/>
            <a:endCxn id="31" idx="0"/>
          </p:cNvCxnSpPr>
          <p:nvPr/>
        </p:nvCxnSpPr>
        <p:spPr>
          <a:xfrm flipV="1">
            <a:off x="9647014" y="4409959"/>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직사각형 43">
            <a:extLst>
              <a:ext uri="{FF2B5EF4-FFF2-40B4-BE49-F238E27FC236}">
                <a16:creationId xmlns:a16="http://schemas.microsoft.com/office/drawing/2014/main" id="{F60E9862-A3BE-46A9-890A-88A2C6ABE57E}"/>
              </a:ext>
            </a:extLst>
          </p:cNvPr>
          <p:cNvSpPr/>
          <p:nvPr/>
        </p:nvSpPr>
        <p:spPr>
          <a:xfrm>
            <a:off x="2097720" y="3752794"/>
            <a:ext cx="1111099" cy="21224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45" name="직사각형 44">
            <a:extLst>
              <a:ext uri="{FF2B5EF4-FFF2-40B4-BE49-F238E27FC236}">
                <a16:creationId xmlns:a16="http://schemas.microsoft.com/office/drawing/2014/main" id="{D24AA4E7-38C8-4C32-9BFA-AB0AACD1C76A}"/>
              </a:ext>
            </a:extLst>
          </p:cNvPr>
          <p:cNvSpPr/>
          <p:nvPr/>
        </p:nvSpPr>
        <p:spPr>
          <a:xfrm>
            <a:off x="2097720" y="3965034"/>
            <a:ext cx="1111099" cy="21224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46" name="직사각형 45">
            <a:extLst>
              <a:ext uri="{FF2B5EF4-FFF2-40B4-BE49-F238E27FC236}">
                <a16:creationId xmlns:a16="http://schemas.microsoft.com/office/drawing/2014/main" id="{20359EB0-1DC9-4362-A40D-14F330F04340}"/>
              </a:ext>
            </a:extLst>
          </p:cNvPr>
          <p:cNvSpPr/>
          <p:nvPr/>
        </p:nvSpPr>
        <p:spPr>
          <a:xfrm>
            <a:off x="5011759" y="3752794"/>
            <a:ext cx="1111923" cy="21224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47" name="직사각형 46">
            <a:extLst>
              <a:ext uri="{FF2B5EF4-FFF2-40B4-BE49-F238E27FC236}">
                <a16:creationId xmlns:a16="http://schemas.microsoft.com/office/drawing/2014/main" id="{23F2A000-B709-4EB8-A7CE-DC8A8CB55B78}"/>
              </a:ext>
            </a:extLst>
          </p:cNvPr>
          <p:cNvSpPr/>
          <p:nvPr/>
        </p:nvSpPr>
        <p:spPr>
          <a:xfrm>
            <a:off x="5011759" y="3965034"/>
            <a:ext cx="1111923" cy="21224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48" name="직사각형 47">
            <a:extLst>
              <a:ext uri="{FF2B5EF4-FFF2-40B4-BE49-F238E27FC236}">
                <a16:creationId xmlns:a16="http://schemas.microsoft.com/office/drawing/2014/main" id="{8EB0A1E4-8F13-4306-9865-D0E3D4C6A1F5}"/>
              </a:ext>
            </a:extLst>
          </p:cNvPr>
          <p:cNvSpPr/>
          <p:nvPr/>
        </p:nvSpPr>
        <p:spPr>
          <a:xfrm>
            <a:off x="9091464" y="3752794"/>
            <a:ext cx="1111100" cy="21224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sp>
        <p:nvSpPr>
          <p:cNvPr id="49" name="직사각형 48">
            <a:extLst>
              <a:ext uri="{FF2B5EF4-FFF2-40B4-BE49-F238E27FC236}">
                <a16:creationId xmlns:a16="http://schemas.microsoft.com/office/drawing/2014/main" id="{EE802863-405F-4BCD-9B7C-CB7E07A8BEAB}"/>
              </a:ext>
            </a:extLst>
          </p:cNvPr>
          <p:cNvSpPr/>
          <p:nvPr/>
        </p:nvSpPr>
        <p:spPr>
          <a:xfrm>
            <a:off x="9091464" y="3965034"/>
            <a:ext cx="1111100" cy="21224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cxnSp>
        <p:nvCxnSpPr>
          <p:cNvPr id="51" name="직선 연결선 50">
            <a:extLst>
              <a:ext uri="{FF2B5EF4-FFF2-40B4-BE49-F238E27FC236}">
                <a16:creationId xmlns:a16="http://schemas.microsoft.com/office/drawing/2014/main" id="{4AC0AD20-0367-4A1D-B3EB-A9182FE36658}"/>
              </a:ext>
            </a:extLst>
          </p:cNvPr>
          <p:cNvCxnSpPr>
            <a:stCxn id="45" idx="3"/>
            <a:endCxn id="47" idx="1"/>
          </p:cNvCxnSpPr>
          <p:nvPr/>
        </p:nvCxnSpPr>
        <p:spPr>
          <a:xfrm>
            <a:off x="3208819" y="4071154"/>
            <a:ext cx="1802940" cy="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2" name="직선 연결선 51">
            <a:extLst>
              <a:ext uri="{FF2B5EF4-FFF2-40B4-BE49-F238E27FC236}">
                <a16:creationId xmlns:a16="http://schemas.microsoft.com/office/drawing/2014/main" id="{04BCA16E-7E88-4F4F-8BF7-979ADEEBCB69}"/>
              </a:ext>
            </a:extLst>
          </p:cNvPr>
          <p:cNvCxnSpPr>
            <a:stCxn id="47" idx="3"/>
            <a:endCxn id="48" idx="1"/>
          </p:cNvCxnSpPr>
          <p:nvPr/>
        </p:nvCxnSpPr>
        <p:spPr>
          <a:xfrm flipV="1">
            <a:off x="6123682" y="3858914"/>
            <a:ext cx="2967782" cy="21224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 name="Rectangle 14">
            <a:extLst>
              <a:ext uri="{FF2B5EF4-FFF2-40B4-BE49-F238E27FC236}">
                <a16:creationId xmlns:a16="http://schemas.microsoft.com/office/drawing/2014/main" id="{0D533E02-967A-42F6-88D2-199ECBBEBD62}"/>
              </a:ext>
            </a:extLst>
          </p:cNvPr>
          <p:cNvSpPr>
            <a:spLocks noChangeArrowheads="1"/>
          </p:cNvSpPr>
          <p:nvPr/>
        </p:nvSpPr>
        <p:spPr bwMode="auto">
          <a:xfrm flipV="1">
            <a:off x="7450254" y="4270254"/>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4" name="직사각형 53">
            <a:extLst>
              <a:ext uri="{FF2B5EF4-FFF2-40B4-BE49-F238E27FC236}">
                <a16:creationId xmlns:a16="http://schemas.microsoft.com/office/drawing/2014/main" id="{925F0B35-12E7-4E21-8A54-3AAF0152594D}"/>
              </a:ext>
            </a:extLst>
          </p:cNvPr>
          <p:cNvSpPr/>
          <p:nvPr/>
        </p:nvSpPr>
        <p:spPr>
          <a:xfrm>
            <a:off x="6966779" y="4709250"/>
            <a:ext cx="1111100" cy="202221"/>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공개</a:t>
            </a:r>
            <a:r>
              <a:rPr lang="en-US" altLang="ko-KR" sz="1000" dirty="0">
                <a:solidFill>
                  <a:schemeClr val="tx1"/>
                </a:solidFill>
              </a:rPr>
              <a:t>(X)</a:t>
            </a:r>
            <a:endParaRPr lang="ko-KR" altLang="en-US" sz="1000" dirty="0">
              <a:solidFill>
                <a:schemeClr val="tx1"/>
              </a:solidFill>
            </a:endParaRPr>
          </a:p>
        </p:txBody>
      </p:sp>
      <p:cxnSp>
        <p:nvCxnSpPr>
          <p:cNvPr id="55" name="직선 연결선 54">
            <a:extLst>
              <a:ext uri="{FF2B5EF4-FFF2-40B4-BE49-F238E27FC236}">
                <a16:creationId xmlns:a16="http://schemas.microsoft.com/office/drawing/2014/main" id="{88539653-44FD-4673-ABB0-7C1F7095F3A9}"/>
              </a:ext>
            </a:extLst>
          </p:cNvPr>
          <p:cNvCxnSpPr>
            <a:stCxn id="54" idx="0"/>
            <a:endCxn id="53" idx="0"/>
          </p:cNvCxnSpPr>
          <p:nvPr/>
        </p:nvCxnSpPr>
        <p:spPr>
          <a:xfrm flipV="1">
            <a:off x="7522329" y="4409959"/>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직사각형 59">
            <a:extLst>
              <a:ext uri="{FF2B5EF4-FFF2-40B4-BE49-F238E27FC236}">
                <a16:creationId xmlns:a16="http://schemas.microsoft.com/office/drawing/2014/main" id="{7DC8772E-AE3B-4424-9D63-C0436C54781B}"/>
              </a:ext>
            </a:extLst>
          </p:cNvPr>
          <p:cNvSpPr/>
          <p:nvPr/>
        </p:nvSpPr>
        <p:spPr>
          <a:xfrm>
            <a:off x="6966779" y="4916189"/>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공개</a:t>
            </a:r>
            <a:r>
              <a:rPr lang="en-US" altLang="ko-KR" sz="1000" dirty="0">
                <a:solidFill>
                  <a:schemeClr val="tx1"/>
                </a:solidFill>
              </a:rPr>
              <a:t>(Y)</a:t>
            </a:r>
            <a:endParaRPr lang="ko-KR" altLang="en-US" sz="1000" dirty="0">
              <a:solidFill>
                <a:schemeClr val="tx1"/>
              </a:solidFill>
            </a:endParaRPr>
          </a:p>
        </p:txBody>
      </p:sp>
      <p:sp>
        <p:nvSpPr>
          <p:cNvPr id="8" name="TextBox 7">
            <a:extLst>
              <a:ext uri="{FF2B5EF4-FFF2-40B4-BE49-F238E27FC236}">
                <a16:creationId xmlns:a16="http://schemas.microsoft.com/office/drawing/2014/main" id="{8C3229AD-7850-4BB7-9B91-E3E91124703F}"/>
              </a:ext>
            </a:extLst>
          </p:cNvPr>
          <p:cNvSpPr txBox="1"/>
          <p:nvPr/>
        </p:nvSpPr>
        <p:spPr>
          <a:xfrm>
            <a:off x="5191244" y="5662844"/>
            <a:ext cx="726481" cy="369332"/>
          </a:xfrm>
          <a:prstGeom prst="rect">
            <a:avLst/>
          </a:prstGeom>
          <a:noFill/>
        </p:spPr>
        <p:txBody>
          <a:bodyPr wrap="none" rtlCol="0">
            <a:spAutoFit/>
          </a:bodyPr>
          <a:lstStyle/>
          <a:p>
            <a:r>
              <a:rPr lang="en-US" altLang="ko-KR" dirty="0">
                <a:solidFill>
                  <a:srgbClr val="FF0000"/>
                </a:solidFill>
              </a:rPr>
              <a:t>Z</a:t>
            </a:r>
            <a:r>
              <a:rPr lang="ko-KR" altLang="en-US" dirty="0">
                <a:solidFill>
                  <a:srgbClr val="FF0000"/>
                </a:solidFill>
              </a:rPr>
              <a:t>의 </a:t>
            </a:r>
            <a:r>
              <a:rPr lang="en-US" altLang="ko-KR" dirty="0">
                <a:solidFill>
                  <a:srgbClr val="FF0000"/>
                </a:solidFill>
              </a:rPr>
              <a:t>B</a:t>
            </a:r>
            <a:endParaRPr lang="ko-KR" altLang="en-US" dirty="0">
              <a:solidFill>
                <a:srgbClr val="FF0000"/>
              </a:solidFill>
            </a:endParaRPr>
          </a:p>
        </p:txBody>
      </p:sp>
      <p:sp>
        <p:nvSpPr>
          <p:cNvPr id="64" name="TextBox 63">
            <a:extLst>
              <a:ext uri="{FF2B5EF4-FFF2-40B4-BE49-F238E27FC236}">
                <a16:creationId xmlns:a16="http://schemas.microsoft.com/office/drawing/2014/main" id="{0C55E919-B392-4177-BBF6-75C769EAB1CF}"/>
              </a:ext>
            </a:extLst>
          </p:cNvPr>
          <p:cNvSpPr txBox="1"/>
          <p:nvPr/>
        </p:nvSpPr>
        <p:spPr>
          <a:xfrm>
            <a:off x="9211698" y="5662844"/>
            <a:ext cx="1021433" cy="369332"/>
          </a:xfrm>
          <a:prstGeom prst="rect">
            <a:avLst/>
          </a:prstGeom>
          <a:noFill/>
        </p:spPr>
        <p:txBody>
          <a:bodyPr wrap="none" rtlCol="0">
            <a:spAutoFit/>
          </a:bodyPr>
          <a:lstStyle/>
          <a:p>
            <a:r>
              <a:rPr lang="en-US" altLang="ko-KR" dirty="0">
                <a:solidFill>
                  <a:srgbClr val="FF0000"/>
                </a:solidFill>
              </a:rPr>
              <a:t>Z</a:t>
            </a:r>
            <a:r>
              <a:rPr lang="ko-KR" altLang="en-US" dirty="0">
                <a:solidFill>
                  <a:srgbClr val="FF0000"/>
                </a:solidFill>
              </a:rPr>
              <a:t>의 </a:t>
            </a:r>
            <a:r>
              <a:rPr lang="en-US" altLang="ko-KR" dirty="0">
                <a:solidFill>
                  <a:srgbClr val="FF0000"/>
                </a:solidFill>
              </a:rPr>
              <a:t>A, C</a:t>
            </a:r>
            <a:endParaRPr lang="ko-KR" altLang="en-US" dirty="0">
              <a:solidFill>
                <a:srgbClr val="FF0000"/>
              </a:solidFill>
            </a:endParaRPr>
          </a:p>
        </p:txBody>
      </p:sp>
      <p:sp>
        <p:nvSpPr>
          <p:cNvPr id="3" name="말풍선: 모서리가 둥근 사각형 2">
            <a:extLst>
              <a:ext uri="{FF2B5EF4-FFF2-40B4-BE49-F238E27FC236}">
                <a16:creationId xmlns:a16="http://schemas.microsoft.com/office/drawing/2014/main" id="{616607FB-DB59-52E9-4DCE-AEB2131770E5}"/>
              </a:ext>
            </a:extLst>
          </p:cNvPr>
          <p:cNvSpPr/>
          <p:nvPr/>
        </p:nvSpPr>
        <p:spPr>
          <a:xfrm>
            <a:off x="10305207" y="6032176"/>
            <a:ext cx="1394418" cy="410662"/>
          </a:xfrm>
          <a:prstGeom prst="wedgeRoundRectCallout">
            <a:avLst>
              <a:gd name="adj1" fmla="val -77313"/>
              <a:gd name="adj2" fmla="val -56089"/>
              <a:gd name="adj3" fmla="val 16667"/>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accent2">
                    <a:lumMod val="50000"/>
                  </a:schemeClr>
                </a:solidFill>
              </a:rPr>
              <a:t>현재 </a:t>
            </a:r>
            <a:r>
              <a:rPr lang="en-US" altLang="ko-KR" sz="1200" dirty="0">
                <a:solidFill>
                  <a:schemeClr val="accent2">
                    <a:lumMod val="50000"/>
                  </a:schemeClr>
                </a:solidFill>
              </a:rPr>
              <a:t>A</a:t>
            </a:r>
            <a:r>
              <a:rPr lang="ko-KR" altLang="en-US" sz="1200" dirty="0">
                <a:solidFill>
                  <a:schemeClr val="accent2">
                    <a:lumMod val="50000"/>
                  </a:schemeClr>
                </a:solidFill>
              </a:rPr>
              <a:t>는 </a:t>
            </a:r>
            <a:endParaRPr lang="en-US" altLang="ko-KR" sz="1200" dirty="0">
              <a:solidFill>
                <a:schemeClr val="accent2">
                  <a:lumMod val="50000"/>
                </a:schemeClr>
              </a:solidFill>
            </a:endParaRPr>
          </a:p>
          <a:p>
            <a:pPr algn="ctr"/>
            <a:r>
              <a:rPr lang="ko-KR" altLang="en-US" sz="1200" dirty="0">
                <a:solidFill>
                  <a:schemeClr val="accent2">
                    <a:lumMod val="50000"/>
                  </a:schemeClr>
                </a:solidFill>
              </a:rPr>
              <a:t>신규성 위반</a:t>
            </a:r>
          </a:p>
        </p:txBody>
      </p:sp>
      <p:sp>
        <p:nvSpPr>
          <p:cNvPr id="6" name="사각형: 둥근 모서리 5">
            <a:extLst>
              <a:ext uri="{FF2B5EF4-FFF2-40B4-BE49-F238E27FC236}">
                <a16:creationId xmlns:a16="http://schemas.microsoft.com/office/drawing/2014/main" id="{6B196028-4B89-685A-0246-33417B1554D5}"/>
              </a:ext>
            </a:extLst>
          </p:cNvPr>
          <p:cNvSpPr/>
          <p:nvPr/>
        </p:nvSpPr>
        <p:spPr>
          <a:xfrm>
            <a:off x="113937" y="964867"/>
            <a:ext cx="5343012" cy="346234"/>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r>
              <a:rPr lang="ko-KR" altLang="en-US" sz="1600" dirty="0">
                <a:solidFill>
                  <a:schemeClr val="tx2"/>
                </a:solidFill>
              </a:rPr>
              <a:t>특허법원 </a:t>
            </a:r>
            <a:r>
              <a:rPr lang="en-US" altLang="ko-KR" sz="1600" dirty="0">
                <a:solidFill>
                  <a:schemeClr val="tx2"/>
                </a:solidFill>
              </a:rPr>
              <a:t>2006. 2. 9. </a:t>
            </a:r>
            <a:r>
              <a:rPr lang="ko-KR" altLang="en-US" sz="1600" dirty="0">
                <a:solidFill>
                  <a:schemeClr val="tx2"/>
                </a:solidFill>
              </a:rPr>
              <a:t>선고 </a:t>
            </a:r>
            <a:r>
              <a:rPr lang="en-US" altLang="ko-KR" sz="1600" dirty="0">
                <a:solidFill>
                  <a:schemeClr val="tx2"/>
                </a:solidFill>
              </a:rPr>
              <a:t>2004</a:t>
            </a:r>
            <a:r>
              <a:rPr lang="ko-KR" altLang="en-US" sz="1600" dirty="0">
                <a:solidFill>
                  <a:schemeClr val="tx2"/>
                </a:solidFill>
              </a:rPr>
              <a:t>허</a:t>
            </a:r>
            <a:r>
              <a:rPr lang="en-US" altLang="ko-KR" sz="1600" dirty="0">
                <a:solidFill>
                  <a:schemeClr val="tx2"/>
                </a:solidFill>
              </a:rPr>
              <a:t>8749 </a:t>
            </a:r>
            <a:r>
              <a:rPr lang="ko-KR" altLang="en-US" sz="1600" dirty="0">
                <a:solidFill>
                  <a:schemeClr val="tx2"/>
                </a:solidFill>
              </a:rPr>
              <a:t>판결 </a:t>
            </a:r>
            <a:r>
              <a:rPr lang="en-US" altLang="ko-KR" sz="1600" dirty="0">
                <a:solidFill>
                  <a:schemeClr val="tx2"/>
                </a:solidFill>
              </a:rPr>
              <a:t>【</a:t>
            </a:r>
            <a:r>
              <a:rPr lang="ko-KR" altLang="en-US" sz="1600" dirty="0">
                <a:solidFill>
                  <a:schemeClr val="tx2"/>
                </a:solidFill>
              </a:rPr>
              <a:t>등록무효</a:t>
            </a:r>
            <a:r>
              <a:rPr lang="en-US" altLang="ko-KR" sz="1600" dirty="0">
                <a:solidFill>
                  <a:schemeClr val="tx2"/>
                </a:solidFill>
              </a:rPr>
              <a:t>】</a:t>
            </a:r>
            <a:endParaRPr lang="ko-KR" altLang="en-US" sz="1600" dirty="0"/>
          </a:p>
        </p:txBody>
      </p:sp>
    </p:spTree>
    <p:extLst>
      <p:ext uri="{BB962C8B-B14F-4D97-AF65-F5344CB8AC3E}">
        <p14:creationId xmlns:p14="http://schemas.microsoft.com/office/powerpoint/2010/main" val="4267529457"/>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5" name="텍스트 개체 틀 4"/>
          <p:cNvSpPr>
            <a:spLocks noGrp="1"/>
          </p:cNvSpPr>
          <p:nvPr>
            <p:ph type="body" sz="quarter" idx="13"/>
          </p:nvPr>
        </p:nvSpPr>
        <p:spPr/>
        <p:txBody>
          <a:bodyPr/>
          <a:lstStyle/>
          <a:p>
            <a:r>
              <a:rPr lang="ko-KR" altLang="en-US" dirty="0"/>
              <a:t>시기적 요건</a:t>
            </a:r>
          </a:p>
        </p:txBody>
      </p:sp>
      <p:sp>
        <p:nvSpPr>
          <p:cNvPr id="2" name="직사각형 1"/>
          <p:cNvSpPr/>
          <p:nvPr/>
        </p:nvSpPr>
        <p:spPr>
          <a:xfrm>
            <a:off x="552450" y="4053372"/>
            <a:ext cx="790575" cy="645639"/>
          </a:xfrm>
          <a:prstGeom prst="rect">
            <a:avLst/>
          </a:prstGeom>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지식</a:t>
            </a:r>
            <a:endParaRPr lang="en-US" altLang="ko-KR" sz="1200" dirty="0"/>
          </a:p>
          <a:p>
            <a:pPr algn="ctr"/>
            <a:r>
              <a:rPr lang="ko-KR" altLang="en-US" sz="1200" dirty="0"/>
              <a:t>재산권</a:t>
            </a:r>
          </a:p>
        </p:txBody>
      </p:sp>
      <p:sp>
        <p:nvSpPr>
          <p:cNvPr id="30" name="직사각형 29"/>
          <p:cNvSpPr/>
          <p:nvPr/>
        </p:nvSpPr>
        <p:spPr>
          <a:xfrm>
            <a:off x="1771651" y="3539021"/>
            <a:ext cx="971550" cy="322820"/>
          </a:xfrm>
          <a:prstGeom prst="rect">
            <a:avLst/>
          </a:prstGeom>
          <a:solidFill>
            <a:schemeClr val="accent1">
              <a:lumMod val="40000"/>
              <a:lumOff val="6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산업재산권</a:t>
            </a:r>
            <a:endParaRPr lang="ko-KR" altLang="en-US" sz="1200" dirty="0">
              <a:solidFill>
                <a:schemeClr val="tx1"/>
              </a:solidFill>
            </a:endParaRPr>
          </a:p>
        </p:txBody>
      </p:sp>
      <p:sp>
        <p:nvSpPr>
          <p:cNvPr id="31" name="직사각형 30"/>
          <p:cNvSpPr/>
          <p:nvPr/>
        </p:nvSpPr>
        <p:spPr>
          <a:xfrm>
            <a:off x="1771651" y="5337186"/>
            <a:ext cx="971550" cy="322820"/>
          </a:xfrm>
          <a:prstGeom prst="rect">
            <a:avLst/>
          </a:prstGeom>
          <a:solidFill>
            <a:schemeClr val="accent1">
              <a:lumMod val="40000"/>
              <a:lumOff val="6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저작권</a:t>
            </a:r>
          </a:p>
        </p:txBody>
      </p:sp>
      <p:cxnSp>
        <p:nvCxnSpPr>
          <p:cNvPr id="8" name="꺾인 연결선 7"/>
          <p:cNvCxnSpPr>
            <a:stCxn id="2" idx="3"/>
            <a:endCxn id="30" idx="1"/>
          </p:cNvCxnSpPr>
          <p:nvPr/>
        </p:nvCxnSpPr>
        <p:spPr>
          <a:xfrm flipV="1">
            <a:off x="1343025" y="3700431"/>
            <a:ext cx="428626" cy="67576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꺾인 연결선 9"/>
          <p:cNvCxnSpPr>
            <a:stCxn id="2" idx="3"/>
            <a:endCxn id="31" idx="1"/>
          </p:cNvCxnSpPr>
          <p:nvPr/>
        </p:nvCxnSpPr>
        <p:spPr>
          <a:xfrm>
            <a:off x="1343025" y="4376192"/>
            <a:ext cx="428626" cy="112240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직사각형 39"/>
          <p:cNvSpPr/>
          <p:nvPr/>
        </p:nvSpPr>
        <p:spPr>
          <a:xfrm>
            <a:off x="3168650" y="3539021"/>
            <a:ext cx="971550" cy="322820"/>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파리조약</a:t>
            </a:r>
          </a:p>
        </p:txBody>
      </p:sp>
      <p:sp>
        <p:nvSpPr>
          <p:cNvPr id="41" name="직사각형 40"/>
          <p:cNvSpPr/>
          <p:nvPr/>
        </p:nvSpPr>
        <p:spPr>
          <a:xfrm>
            <a:off x="3168650" y="5337186"/>
            <a:ext cx="971550" cy="322820"/>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베른조약</a:t>
            </a:r>
            <a:endParaRPr lang="ko-KR" altLang="en-US" sz="1200" dirty="0">
              <a:solidFill>
                <a:schemeClr val="tx1"/>
              </a:solidFill>
            </a:endParaRPr>
          </a:p>
        </p:txBody>
      </p:sp>
      <p:cxnSp>
        <p:nvCxnSpPr>
          <p:cNvPr id="15" name="직선 화살표 연결선 14"/>
          <p:cNvCxnSpPr>
            <a:stCxn id="40" idx="1"/>
            <a:endCxn id="30" idx="3"/>
          </p:cNvCxnSpPr>
          <p:nvPr/>
        </p:nvCxnSpPr>
        <p:spPr>
          <a:xfrm flipH="1">
            <a:off x="2743201" y="3700431"/>
            <a:ext cx="425449" cy="0"/>
          </a:xfrm>
          <a:prstGeom prst="straightConnector1">
            <a:avLst/>
          </a:prstGeom>
          <a:ln w="285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 name="직선 화살표 연결선 16"/>
          <p:cNvCxnSpPr>
            <a:stCxn id="41" idx="1"/>
            <a:endCxn id="31" idx="3"/>
          </p:cNvCxnSpPr>
          <p:nvPr/>
        </p:nvCxnSpPr>
        <p:spPr>
          <a:xfrm flipH="1">
            <a:off x="2743201" y="5498596"/>
            <a:ext cx="425449" cy="0"/>
          </a:xfrm>
          <a:prstGeom prst="straightConnector1">
            <a:avLst/>
          </a:prstGeom>
          <a:ln w="285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7" name="직사각형 46"/>
          <p:cNvSpPr/>
          <p:nvPr/>
        </p:nvSpPr>
        <p:spPr>
          <a:xfrm>
            <a:off x="4565648" y="3110396"/>
            <a:ext cx="1533525" cy="322820"/>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특허독립의</a:t>
            </a:r>
            <a:r>
              <a:rPr lang="ko-KR" altLang="en-US" sz="1200" dirty="0">
                <a:solidFill>
                  <a:schemeClr val="tx1"/>
                </a:solidFill>
              </a:rPr>
              <a:t> 원칙</a:t>
            </a:r>
          </a:p>
        </p:txBody>
      </p:sp>
      <p:sp>
        <p:nvSpPr>
          <p:cNvPr id="48" name="직사각형 47"/>
          <p:cNvSpPr/>
          <p:nvPr/>
        </p:nvSpPr>
        <p:spPr>
          <a:xfrm>
            <a:off x="4565648" y="3746127"/>
            <a:ext cx="1533525" cy="322820"/>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내외국인 평등의 원칙</a:t>
            </a:r>
          </a:p>
        </p:txBody>
      </p:sp>
      <p:sp>
        <p:nvSpPr>
          <p:cNvPr id="49" name="직사각형 48"/>
          <p:cNvSpPr/>
          <p:nvPr/>
        </p:nvSpPr>
        <p:spPr>
          <a:xfrm>
            <a:off x="4565648" y="4381858"/>
            <a:ext cx="1533525" cy="322820"/>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우선권의 원칙</a:t>
            </a:r>
          </a:p>
        </p:txBody>
      </p:sp>
      <p:sp>
        <p:nvSpPr>
          <p:cNvPr id="50" name="직사각형 49"/>
          <p:cNvSpPr/>
          <p:nvPr/>
        </p:nvSpPr>
        <p:spPr>
          <a:xfrm>
            <a:off x="6413499" y="2989015"/>
            <a:ext cx="1301752" cy="322820"/>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조약당사국 국민</a:t>
            </a:r>
          </a:p>
        </p:txBody>
      </p:sp>
      <p:sp>
        <p:nvSpPr>
          <p:cNvPr id="51" name="직사각형 50"/>
          <p:cNvSpPr/>
          <p:nvPr/>
        </p:nvSpPr>
        <p:spPr>
          <a:xfrm>
            <a:off x="6413499" y="3367571"/>
            <a:ext cx="1301752" cy="322820"/>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준당사국</a:t>
            </a:r>
            <a:r>
              <a:rPr lang="ko-KR" altLang="en-US" sz="1200" dirty="0">
                <a:solidFill>
                  <a:schemeClr val="tx1"/>
                </a:solidFill>
              </a:rPr>
              <a:t> 국민</a:t>
            </a:r>
          </a:p>
        </p:txBody>
      </p:sp>
      <p:sp>
        <p:nvSpPr>
          <p:cNvPr id="52" name="직사각형 51"/>
          <p:cNvSpPr/>
          <p:nvPr/>
        </p:nvSpPr>
        <p:spPr>
          <a:xfrm>
            <a:off x="6413499" y="3746127"/>
            <a:ext cx="1301752" cy="322820"/>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무국적자</a:t>
            </a:r>
          </a:p>
        </p:txBody>
      </p:sp>
      <p:cxnSp>
        <p:nvCxnSpPr>
          <p:cNvPr id="22" name="꺾인 연결선 21"/>
          <p:cNvCxnSpPr>
            <a:stCxn id="40" idx="3"/>
            <a:endCxn id="49" idx="1"/>
          </p:cNvCxnSpPr>
          <p:nvPr/>
        </p:nvCxnSpPr>
        <p:spPr>
          <a:xfrm>
            <a:off x="4140200" y="3700431"/>
            <a:ext cx="425448" cy="84283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stCxn id="40" idx="3"/>
            <a:endCxn id="47" idx="1"/>
          </p:cNvCxnSpPr>
          <p:nvPr/>
        </p:nvCxnSpPr>
        <p:spPr>
          <a:xfrm flipV="1">
            <a:off x="4140200" y="3271806"/>
            <a:ext cx="425448" cy="4286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stCxn id="40" idx="3"/>
            <a:endCxn id="48" idx="1"/>
          </p:cNvCxnSpPr>
          <p:nvPr/>
        </p:nvCxnSpPr>
        <p:spPr>
          <a:xfrm>
            <a:off x="4140200" y="3700431"/>
            <a:ext cx="425448" cy="20710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stCxn id="48" idx="3"/>
            <a:endCxn id="50" idx="1"/>
          </p:cNvCxnSpPr>
          <p:nvPr/>
        </p:nvCxnSpPr>
        <p:spPr>
          <a:xfrm flipV="1">
            <a:off x="6099173" y="3150425"/>
            <a:ext cx="314326" cy="75711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꺾인 연결선 31"/>
          <p:cNvCxnSpPr>
            <a:stCxn id="48" idx="3"/>
            <a:endCxn id="51" idx="1"/>
          </p:cNvCxnSpPr>
          <p:nvPr/>
        </p:nvCxnSpPr>
        <p:spPr>
          <a:xfrm flipV="1">
            <a:off x="6099173" y="3528981"/>
            <a:ext cx="314326" cy="37855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꺾인 연결선 35"/>
          <p:cNvCxnSpPr>
            <a:endCxn id="52" idx="1"/>
          </p:cNvCxnSpPr>
          <p:nvPr/>
        </p:nvCxnSpPr>
        <p:spPr>
          <a:xfrm flipV="1">
            <a:off x="6099173" y="3907537"/>
            <a:ext cx="314326" cy="991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0" name="직사각형 69"/>
          <p:cNvSpPr/>
          <p:nvPr/>
        </p:nvSpPr>
        <p:spPr>
          <a:xfrm>
            <a:off x="6413499" y="4383150"/>
            <a:ext cx="1301752" cy="322820"/>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동종우선권주장</a:t>
            </a:r>
          </a:p>
        </p:txBody>
      </p:sp>
      <p:sp>
        <p:nvSpPr>
          <p:cNvPr id="72" name="직사각형 71"/>
          <p:cNvSpPr/>
          <p:nvPr/>
        </p:nvSpPr>
        <p:spPr>
          <a:xfrm>
            <a:off x="6413499" y="5464112"/>
            <a:ext cx="1301752" cy="322820"/>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이종우선권주장</a:t>
            </a:r>
          </a:p>
        </p:txBody>
      </p:sp>
      <p:cxnSp>
        <p:nvCxnSpPr>
          <p:cNvPr id="73" name="꺾인 연결선 72"/>
          <p:cNvCxnSpPr>
            <a:stCxn id="49" idx="3"/>
            <a:endCxn id="70" idx="1"/>
          </p:cNvCxnSpPr>
          <p:nvPr/>
        </p:nvCxnSpPr>
        <p:spPr>
          <a:xfrm>
            <a:off x="6099173" y="4543268"/>
            <a:ext cx="314326" cy="129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꺾인 연결선 53"/>
          <p:cNvCxnSpPr>
            <a:stCxn id="49" idx="3"/>
            <a:endCxn id="72" idx="1"/>
          </p:cNvCxnSpPr>
          <p:nvPr/>
        </p:nvCxnSpPr>
        <p:spPr>
          <a:xfrm>
            <a:off x="6099173" y="4543268"/>
            <a:ext cx="314326" cy="108225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직사각형 80"/>
          <p:cNvSpPr/>
          <p:nvPr/>
        </p:nvSpPr>
        <p:spPr>
          <a:xfrm>
            <a:off x="8289927" y="3989140"/>
            <a:ext cx="882648" cy="322820"/>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a:t>
            </a:r>
            <a:r>
              <a:rPr lang="en-US" altLang="ko-KR" sz="1200" dirty="0">
                <a:solidFill>
                  <a:schemeClr val="tx1"/>
                </a:solidFill>
              </a:rPr>
              <a:t>(</a:t>
            </a:r>
            <a:r>
              <a:rPr lang="ko-KR" altLang="en-US" sz="1200" dirty="0">
                <a:solidFill>
                  <a:schemeClr val="tx1"/>
                </a:solidFill>
              </a:rPr>
              <a:t>실용</a:t>
            </a:r>
            <a:r>
              <a:rPr lang="en-US" altLang="ko-KR" sz="1200" dirty="0">
                <a:solidFill>
                  <a:schemeClr val="tx1"/>
                </a:solidFill>
              </a:rPr>
              <a:t>)</a:t>
            </a:r>
            <a:endParaRPr lang="ko-KR" altLang="en-US" sz="1200" dirty="0">
              <a:solidFill>
                <a:schemeClr val="tx1"/>
              </a:solidFill>
            </a:endParaRPr>
          </a:p>
        </p:txBody>
      </p:sp>
      <p:sp>
        <p:nvSpPr>
          <p:cNvPr id="82" name="직사각형 81"/>
          <p:cNvSpPr/>
          <p:nvPr/>
        </p:nvSpPr>
        <p:spPr>
          <a:xfrm>
            <a:off x="8289927" y="4367696"/>
            <a:ext cx="882648" cy="322820"/>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디자인</a:t>
            </a:r>
          </a:p>
        </p:txBody>
      </p:sp>
      <p:sp>
        <p:nvSpPr>
          <p:cNvPr id="83" name="직사각형 82"/>
          <p:cNvSpPr/>
          <p:nvPr/>
        </p:nvSpPr>
        <p:spPr>
          <a:xfrm>
            <a:off x="8289927" y="4746252"/>
            <a:ext cx="882648" cy="322820"/>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상표</a:t>
            </a:r>
          </a:p>
        </p:txBody>
      </p:sp>
      <p:sp>
        <p:nvSpPr>
          <p:cNvPr id="87" name="직사각형 86"/>
          <p:cNvSpPr/>
          <p:nvPr/>
        </p:nvSpPr>
        <p:spPr>
          <a:xfrm>
            <a:off x="10642602" y="3989140"/>
            <a:ext cx="882648" cy="322820"/>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a:t>
            </a:r>
            <a:r>
              <a:rPr lang="en-US" altLang="ko-KR" sz="1200" dirty="0">
                <a:solidFill>
                  <a:schemeClr val="tx1"/>
                </a:solidFill>
              </a:rPr>
              <a:t>(</a:t>
            </a:r>
            <a:r>
              <a:rPr lang="ko-KR" altLang="en-US" sz="1200" dirty="0">
                <a:solidFill>
                  <a:schemeClr val="tx1"/>
                </a:solidFill>
              </a:rPr>
              <a:t>실용</a:t>
            </a:r>
            <a:r>
              <a:rPr lang="en-US" altLang="ko-KR" sz="1200" dirty="0">
                <a:solidFill>
                  <a:schemeClr val="tx1"/>
                </a:solidFill>
              </a:rPr>
              <a:t>)</a:t>
            </a:r>
            <a:endParaRPr lang="ko-KR" altLang="en-US" sz="1200" dirty="0">
              <a:solidFill>
                <a:schemeClr val="tx1"/>
              </a:solidFill>
            </a:endParaRPr>
          </a:p>
        </p:txBody>
      </p:sp>
      <p:sp>
        <p:nvSpPr>
          <p:cNvPr id="89" name="직사각형 88"/>
          <p:cNvSpPr/>
          <p:nvPr/>
        </p:nvSpPr>
        <p:spPr>
          <a:xfrm>
            <a:off x="10642602" y="4367696"/>
            <a:ext cx="882648" cy="322820"/>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디자인</a:t>
            </a:r>
          </a:p>
        </p:txBody>
      </p:sp>
      <p:sp>
        <p:nvSpPr>
          <p:cNvPr id="90" name="직사각형 89"/>
          <p:cNvSpPr/>
          <p:nvPr/>
        </p:nvSpPr>
        <p:spPr>
          <a:xfrm>
            <a:off x="10642602" y="4746252"/>
            <a:ext cx="882648" cy="322820"/>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상표</a:t>
            </a:r>
          </a:p>
        </p:txBody>
      </p:sp>
      <p:sp>
        <p:nvSpPr>
          <p:cNvPr id="91" name="직사각형 90"/>
          <p:cNvSpPr/>
          <p:nvPr/>
        </p:nvSpPr>
        <p:spPr>
          <a:xfrm>
            <a:off x="8289927" y="5454587"/>
            <a:ext cx="882648" cy="322820"/>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a:t>
            </a:r>
            <a:r>
              <a:rPr lang="en-US" altLang="ko-KR" sz="1200" dirty="0">
                <a:solidFill>
                  <a:schemeClr val="tx1"/>
                </a:solidFill>
              </a:rPr>
              <a:t>(</a:t>
            </a:r>
            <a:r>
              <a:rPr lang="ko-KR" altLang="en-US" sz="1200" dirty="0">
                <a:solidFill>
                  <a:schemeClr val="tx1"/>
                </a:solidFill>
              </a:rPr>
              <a:t>실용</a:t>
            </a:r>
            <a:r>
              <a:rPr lang="en-US" altLang="ko-KR" sz="1200" dirty="0">
                <a:solidFill>
                  <a:schemeClr val="tx1"/>
                </a:solidFill>
              </a:rPr>
              <a:t>)</a:t>
            </a:r>
            <a:endParaRPr lang="ko-KR" altLang="en-US" sz="1200" dirty="0">
              <a:solidFill>
                <a:schemeClr val="tx1"/>
              </a:solidFill>
            </a:endParaRPr>
          </a:p>
        </p:txBody>
      </p:sp>
      <p:sp>
        <p:nvSpPr>
          <p:cNvPr id="92" name="직사각형 91"/>
          <p:cNvSpPr/>
          <p:nvPr/>
        </p:nvSpPr>
        <p:spPr>
          <a:xfrm>
            <a:off x="8289927" y="5833143"/>
            <a:ext cx="882648" cy="322820"/>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디자인</a:t>
            </a:r>
          </a:p>
        </p:txBody>
      </p:sp>
      <p:sp>
        <p:nvSpPr>
          <p:cNvPr id="93" name="직사각형 92"/>
          <p:cNvSpPr/>
          <p:nvPr/>
        </p:nvSpPr>
        <p:spPr>
          <a:xfrm>
            <a:off x="10642602" y="5464112"/>
            <a:ext cx="882648" cy="322820"/>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디자인</a:t>
            </a:r>
          </a:p>
        </p:txBody>
      </p:sp>
      <p:sp>
        <p:nvSpPr>
          <p:cNvPr id="94" name="직사각형 93"/>
          <p:cNvSpPr/>
          <p:nvPr/>
        </p:nvSpPr>
        <p:spPr>
          <a:xfrm>
            <a:off x="10642602" y="5842668"/>
            <a:ext cx="882648" cy="322820"/>
          </a:xfrm>
          <a:prstGeom prst="rect">
            <a:avLst/>
          </a:prstGeom>
          <a:solidFill>
            <a:schemeClr val="bg1"/>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a:t>
            </a:r>
            <a:r>
              <a:rPr lang="en-US" altLang="ko-KR" sz="1200" dirty="0">
                <a:solidFill>
                  <a:schemeClr val="tx1"/>
                </a:solidFill>
              </a:rPr>
              <a:t>(</a:t>
            </a:r>
            <a:r>
              <a:rPr lang="ko-KR" altLang="en-US" sz="1200" dirty="0">
                <a:solidFill>
                  <a:schemeClr val="tx1"/>
                </a:solidFill>
              </a:rPr>
              <a:t>실용</a:t>
            </a:r>
            <a:r>
              <a:rPr lang="en-US" altLang="ko-KR" sz="1200" dirty="0">
                <a:solidFill>
                  <a:schemeClr val="tx1"/>
                </a:solidFill>
              </a:rPr>
              <a:t>)</a:t>
            </a:r>
            <a:endParaRPr lang="ko-KR" altLang="en-US" sz="1200" dirty="0">
              <a:solidFill>
                <a:schemeClr val="tx1"/>
              </a:solidFill>
            </a:endParaRPr>
          </a:p>
        </p:txBody>
      </p:sp>
      <p:cxnSp>
        <p:nvCxnSpPr>
          <p:cNvPr id="58" name="꺾인 연결선 57"/>
          <p:cNvCxnSpPr>
            <a:stCxn id="70" idx="3"/>
            <a:endCxn id="81" idx="1"/>
          </p:cNvCxnSpPr>
          <p:nvPr/>
        </p:nvCxnSpPr>
        <p:spPr>
          <a:xfrm flipV="1">
            <a:off x="7715251" y="4150550"/>
            <a:ext cx="574676" cy="39401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꺾인 연결선 61"/>
          <p:cNvCxnSpPr>
            <a:stCxn id="70" idx="3"/>
            <a:endCxn id="82" idx="1"/>
          </p:cNvCxnSpPr>
          <p:nvPr/>
        </p:nvCxnSpPr>
        <p:spPr>
          <a:xfrm flipV="1">
            <a:off x="7715251" y="4529106"/>
            <a:ext cx="574676" cy="1545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꺾인 연결선 63"/>
          <p:cNvCxnSpPr>
            <a:stCxn id="70" idx="3"/>
            <a:endCxn id="83" idx="1"/>
          </p:cNvCxnSpPr>
          <p:nvPr/>
        </p:nvCxnSpPr>
        <p:spPr>
          <a:xfrm>
            <a:off x="7715251" y="4544560"/>
            <a:ext cx="574676" cy="36310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72" idx="3"/>
            <a:endCxn id="91" idx="1"/>
          </p:cNvCxnSpPr>
          <p:nvPr/>
        </p:nvCxnSpPr>
        <p:spPr>
          <a:xfrm flipV="1">
            <a:off x="7715251" y="5615997"/>
            <a:ext cx="574676" cy="95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꺾인 연결선 67"/>
          <p:cNvCxnSpPr>
            <a:stCxn id="72" idx="3"/>
            <a:endCxn id="92" idx="1"/>
          </p:cNvCxnSpPr>
          <p:nvPr/>
        </p:nvCxnSpPr>
        <p:spPr>
          <a:xfrm>
            <a:off x="7715251" y="5625522"/>
            <a:ext cx="574676" cy="36903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직선 연결선 76"/>
          <p:cNvCxnSpPr>
            <a:stCxn id="81" idx="3"/>
            <a:endCxn id="87" idx="1"/>
          </p:cNvCxnSpPr>
          <p:nvPr/>
        </p:nvCxnSpPr>
        <p:spPr>
          <a:xfrm>
            <a:off x="9172575" y="4150550"/>
            <a:ext cx="1470027"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9" name="직선 연결선 78"/>
          <p:cNvCxnSpPr>
            <a:stCxn id="82" idx="3"/>
            <a:endCxn id="89" idx="1"/>
          </p:cNvCxnSpPr>
          <p:nvPr/>
        </p:nvCxnSpPr>
        <p:spPr>
          <a:xfrm>
            <a:off x="9172575" y="4529106"/>
            <a:ext cx="1470027"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직선 연결선 94"/>
          <p:cNvCxnSpPr>
            <a:stCxn id="83" idx="3"/>
            <a:endCxn id="90" idx="1"/>
          </p:cNvCxnSpPr>
          <p:nvPr/>
        </p:nvCxnSpPr>
        <p:spPr>
          <a:xfrm>
            <a:off x="9172575" y="4907662"/>
            <a:ext cx="1470027"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직선 연결선 96"/>
          <p:cNvCxnSpPr>
            <a:stCxn id="91" idx="3"/>
            <a:endCxn id="93" idx="1"/>
          </p:cNvCxnSpPr>
          <p:nvPr/>
        </p:nvCxnSpPr>
        <p:spPr>
          <a:xfrm>
            <a:off x="9172575" y="5615997"/>
            <a:ext cx="1470027" cy="952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9" name="직선 연결선 98"/>
          <p:cNvCxnSpPr>
            <a:stCxn id="92" idx="3"/>
            <a:endCxn id="94" idx="1"/>
          </p:cNvCxnSpPr>
          <p:nvPr/>
        </p:nvCxnSpPr>
        <p:spPr>
          <a:xfrm>
            <a:off x="9172575" y="5994553"/>
            <a:ext cx="1470027" cy="952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8" name="TextBox 117"/>
          <p:cNvSpPr txBox="1"/>
          <p:nvPr/>
        </p:nvSpPr>
        <p:spPr>
          <a:xfrm>
            <a:off x="9172575" y="3875355"/>
            <a:ext cx="1443742" cy="276999"/>
          </a:xfrm>
          <a:prstGeom prst="rect">
            <a:avLst/>
          </a:prstGeom>
          <a:noFill/>
        </p:spPr>
        <p:txBody>
          <a:bodyPr wrap="square" rtlCol="0">
            <a:spAutoFit/>
          </a:bodyPr>
          <a:lstStyle/>
          <a:p>
            <a:pPr algn="ctr"/>
            <a:r>
              <a:rPr lang="en-US" altLang="ko-KR" sz="1200">
                <a:solidFill>
                  <a:srgbClr val="FF0000"/>
                </a:solidFill>
              </a:rPr>
              <a:t>1</a:t>
            </a:r>
            <a:r>
              <a:rPr lang="ko-KR" altLang="en-US" sz="1200" dirty="0">
                <a:solidFill>
                  <a:srgbClr val="FF0000"/>
                </a:solidFill>
              </a:rPr>
              <a:t>년</a:t>
            </a:r>
          </a:p>
        </p:txBody>
      </p:sp>
      <p:sp>
        <p:nvSpPr>
          <p:cNvPr id="119" name="TextBox 118"/>
          <p:cNvSpPr txBox="1"/>
          <p:nvPr/>
        </p:nvSpPr>
        <p:spPr>
          <a:xfrm>
            <a:off x="9172575" y="4248083"/>
            <a:ext cx="1443742" cy="276999"/>
          </a:xfrm>
          <a:prstGeom prst="rect">
            <a:avLst/>
          </a:prstGeom>
          <a:noFill/>
        </p:spPr>
        <p:txBody>
          <a:bodyPr wrap="square" rtlCol="0">
            <a:spAutoFit/>
          </a:bodyPr>
          <a:lstStyle/>
          <a:p>
            <a:pPr algn="ctr"/>
            <a:r>
              <a:rPr lang="en-US" altLang="ko-KR" sz="1200" dirty="0">
                <a:solidFill>
                  <a:srgbClr val="FF0000"/>
                </a:solidFill>
              </a:rPr>
              <a:t>6</a:t>
            </a:r>
            <a:r>
              <a:rPr lang="ko-KR" altLang="en-US" sz="1200" dirty="0">
                <a:solidFill>
                  <a:srgbClr val="FF0000"/>
                </a:solidFill>
              </a:rPr>
              <a:t>개월</a:t>
            </a:r>
          </a:p>
        </p:txBody>
      </p:sp>
      <p:sp>
        <p:nvSpPr>
          <p:cNvPr id="120" name="TextBox 119"/>
          <p:cNvSpPr txBox="1"/>
          <p:nvPr/>
        </p:nvSpPr>
        <p:spPr>
          <a:xfrm>
            <a:off x="9172575" y="4627959"/>
            <a:ext cx="1443742" cy="276999"/>
          </a:xfrm>
          <a:prstGeom prst="rect">
            <a:avLst/>
          </a:prstGeom>
          <a:noFill/>
        </p:spPr>
        <p:txBody>
          <a:bodyPr wrap="square" rtlCol="0">
            <a:spAutoFit/>
          </a:bodyPr>
          <a:lstStyle/>
          <a:p>
            <a:pPr algn="ctr"/>
            <a:r>
              <a:rPr lang="en-US" altLang="ko-KR" sz="1200" dirty="0">
                <a:solidFill>
                  <a:srgbClr val="FF0000"/>
                </a:solidFill>
              </a:rPr>
              <a:t>6</a:t>
            </a:r>
            <a:r>
              <a:rPr lang="ko-KR" altLang="en-US" sz="1200" dirty="0">
                <a:solidFill>
                  <a:srgbClr val="FF0000"/>
                </a:solidFill>
              </a:rPr>
              <a:t>개월</a:t>
            </a:r>
          </a:p>
        </p:txBody>
      </p:sp>
      <p:sp>
        <p:nvSpPr>
          <p:cNvPr id="121" name="TextBox 120"/>
          <p:cNvSpPr txBox="1"/>
          <p:nvPr/>
        </p:nvSpPr>
        <p:spPr>
          <a:xfrm>
            <a:off x="9172575" y="5343952"/>
            <a:ext cx="1443742" cy="276999"/>
          </a:xfrm>
          <a:prstGeom prst="rect">
            <a:avLst/>
          </a:prstGeom>
          <a:noFill/>
        </p:spPr>
        <p:txBody>
          <a:bodyPr wrap="square" rtlCol="0">
            <a:spAutoFit/>
          </a:bodyPr>
          <a:lstStyle/>
          <a:p>
            <a:pPr algn="ctr"/>
            <a:r>
              <a:rPr lang="en-US" altLang="ko-KR" sz="1200" dirty="0">
                <a:solidFill>
                  <a:srgbClr val="FF0000"/>
                </a:solidFill>
              </a:rPr>
              <a:t>6</a:t>
            </a:r>
            <a:r>
              <a:rPr lang="ko-KR" altLang="en-US" sz="1200" dirty="0">
                <a:solidFill>
                  <a:srgbClr val="FF0000"/>
                </a:solidFill>
              </a:rPr>
              <a:t>개월</a:t>
            </a:r>
          </a:p>
        </p:txBody>
      </p:sp>
      <p:sp>
        <p:nvSpPr>
          <p:cNvPr id="122" name="TextBox 121"/>
          <p:cNvSpPr txBox="1"/>
          <p:nvPr/>
        </p:nvSpPr>
        <p:spPr>
          <a:xfrm>
            <a:off x="9172575" y="5652217"/>
            <a:ext cx="1443742" cy="618374"/>
          </a:xfrm>
          <a:prstGeom prst="rect">
            <a:avLst/>
          </a:prstGeom>
          <a:noFill/>
        </p:spPr>
        <p:txBody>
          <a:bodyPr wrap="square" rtlCol="0">
            <a:spAutoFit/>
          </a:bodyPr>
          <a:lstStyle/>
          <a:p>
            <a:pPr algn="ctr">
              <a:lnSpc>
                <a:spcPct val="150000"/>
              </a:lnSpc>
            </a:pPr>
            <a:r>
              <a:rPr lang="ko-KR" altLang="en-US" sz="1200" dirty="0">
                <a:solidFill>
                  <a:srgbClr val="FF0000"/>
                </a:solidFill>
              </a:rPr>
              <a:t>학설 대립</a:t>
            </a:r>
            <a:endParaRPr lang="en-US" altLang="ko-KR" sz="1200" dirty="0">
              <a:solidFill>
                <a:srgbClr val="FF0000"/>
              </a:solidFill>
            </a:endParaRPr>
          </a:p>
          <a:p>
            <a:pPr algn="ctr">
              <a:lnSpc>
                <a:spcPct val="150000"/>
              </a:lnSpc>
            </a:pPr>
            <a:r>
              <a:rPr lang="en-US" altLang="ko-KR" sz="1200" dirty="0">
                <a:solidFill>
                  <a:srgbClr val="FF0000"/>
                </a:solidFill>
              </a:rPr>
              <a:t>(6</a:t>
            </a:r>
            <a:r>
              <a:rPr lang="ko-KR" altLang="en-US" sz="1200" dirty="0">
                <a:solidFill>
                  <a:srgbClr val="FF0000"/>
                </a:solidFill>
              </a:rPr>
              <a:t>개월</a:t>
            </a:r>
            <a:r>
              <a:rPr lang="en-US" altLang="ko-KR" sz="1200" dirty="0">
                <a:solidFill>
                  <a:srgbClr val="FF0000"/>
                </a:solidFill>
              </a:rPr>
              <a:t>)</a:t>
            </a:r>
            <a:endParaRPr lang="ko-KR" altLang="en-US" sz="1200" dirty="0">
              <a:solidFill>
                <a:srgbClr val="FF0000"/>
              </a:solidFill>
            </a:endParaRPr>
          </a:p>
        </p:txBody>
      </p:sp>
      <p:sp>
        <p:nvSpPr>
          <p:cNvPr id="61" name="TextBox 60"/>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우선권을 주장하기 위해서는 </a:t>
            </a:r>
            <a:r>
              <a:rPr lang="ko-KR" altLang="en-US" sz="1400" dirty="0" err="1">
                <a:solidFill>
                  <a:schemeClr val="tx2"/>
                </a:solidFill>
              </a:rPr>
              <a:t>우선기간</a:t>
            </a:r>
            <a:r>
              <a:rPr lang="en-US" altLang="ko-KR" sz="1400" dirty="0">
                <a:solidFill>
                  <a:schemeClr val="tx2"/>
                </a:solidFill>
              </a:rPr>
              <a:t>(period of priority)</a:t>
            </a:r>
            <a:r>
              <a:rPr lang="ko-KR" altLang="en-US" sz="1400" dirty="0">
                <a:solidFill>
                  <a:schemeClr val="tx2"/>
                </a:solidFill>
              </a:rPr>
              <a:t>내에 출원하여야 한다</a:t>
            </a:r>
            <a:r>
              <a:rPr lang="en-US" altLang="ko-KR" sz="1400" dirty="0">
                <a:solidFill>
                  <a:schemeClr val="tx2"/>
                </a:solidFill>
              </a:rPr>
              <a:t>. </a:t>
            </a:r>
            <a:r>
              <a:rPr lang="ko-KR" altLang="en-US" sz="1400" dirty="0">
                <a:solidFill>
                  <a:schemeClr val="tx2"/>
                </a:solidFill>
              </a:rPr>
              <a:t>이러한 </a:t>
            </a:r>
            <a:r>
              <a:rPr lang="ko-KR" altLang="en-US" sz="1400" dirty="0" err="1">
                <a:solidFill>
                  <a:schemeClr val="tx2"/>
                </a:solidFill>
              </a:rPr>
              <a:t>우선기간에</a:t>
            </a:r>
            <a:r>
              <a:rPr lang="ko-KR" altLang="en-US" sz="1400" dirty="0">
                <a:solidFill>
                  <a:schemeClr val="tx2"/>
                </a:solidFill>
              </a:rPr>
              <a:t> 대해서는 출원인의 이익과 일반 제</a:t>
            </a:r>
            <a:r>
              <a:rPr lang="en-US" altLang="ko-KR" sz="1400" dirty="0">
                <a:solidFill>
                  <a:schemeClr val="tx2"/>
                </a:solidFill>
              </a:rPr>
              <a:t>3</a:t>
            </a:r>
            <a:r>
              <a:rPr lang="ko-KR" altLang="en-US" sz="1400" dirty="0">
                <a:solidFill>
                  <a:schemeClr val="tx2"/>
                </a:solidFill>
              </a:rPr>
              <a:t>자의 이익과의 조화라는 점에서 </a:t>
            </a:r>
            <a:r>
              <a:rPr lang="ko-KR" altLang="en-US" sz="1400" dirty="0">
                <a:solidFill>
                  <a:schemeClr val="tx2"/>
                </a:solidFill>
                <a:highlight>
                  <a:srgbClr val="FFFF00"/>
                </a:highlight>
              </a:rPr>
              <a:t>특허 및 실용신안에 대해서는 </a:t>
            </a:r>
            <a:r>
              <a:rPr lang="en-US" altLang="ko-KR" sz="1400" dirty="0">
                <a:solidFill>
                  <a:schemeClr val="tx2"/>
                </a:solidFill>
                <a:highlight>
                  <a:srgbClr val="FFFF00"/>
                </a:highlight>
              </a:rPr>
              <a:t>12</a:t>
            </a:r>
            <a:r>
              <a:rPr lang="ko-KR" altLang="en-US" sz="1400" dirty="0">
                <a:solidFill>
                  <a:schemeClr val="tx2"/>
                </a:solidFill>
                <a:highlight>
                  <a:srgbClr val="FFFF00"/>
                </a:highlight>
              </a:rPr>
              <a:t>개월</a:t>
            </a:r>
            <a:r>
              <a:rPr lang="en-US" altLang="ko-KR" sz="1400" dirty="0">
                <a:solidFill>
                  <a:schemeClr val="tx2"/>
                </a:solidFill>
                <a:highlight>
                  <a:srgbClr val="FFFF00"/>
                </a:highlight>
              </a:rPr>
              <a:t>, </a:t>
            </a:r>
            <a:r>
              <a:rPr lang="ko-KR" altLang="en-US" sz="1400" dirty="0">
                <a:solidFill>
                  <a:schemeClr val="tx2"/>
                </a:solidFill>
                <a:highlight>
                  <a:srgbClr val="FFFF00"/>
                </a:highlight>
              </a:rPr>
              <a:t>디자인 및 상표에 대해서는 각각 </a:t>
            </a:r>
            <a:r>
              <a:rPr lang="en-US" altLang="ko-KR" sz="1400" dirty="0">
                <a:solidFill>
                  <a:schemeClr val="tx2"/>
                </a:solidFill>
                <a:highlight>
                  <a:srgbClr val="FFFF00"/>
                </a:highlight>
              </a:rPr>
              <a:t>6</a:t>
            </a:r>
            <a:r>
              <a:rPr lang="ko-KR" altLang="en-US" sz="1400" dirty="0">
                <a:highlight>
                  <a:srgbClr val="FFFF00"/>
                </a:highlight>
              </a:rPr>
              <a:t>개월</a:t>
            </a:r>
            <a:r>
              <a:rPr lang="ko-KR" altLang="en-US" sz="1400" dirty="0"/>
              <a:t>로</a:t>
            </a:r>
            <a:r>
              <a:rPr lang="ko-KR" altLang="en-US" sz="1400" dirty="0">
                <a:solidFill>
                  <a:schemeClr val="tx2"/>
                </a:solidFill>
              </a:rPr>
              <a:t> 규정하고 있다</a:t>
            </a:r>
            <a:r>
              <a:rPr lang="en-US" altLang="ko-KR" sz="1400" dirty="0">
                <a:solidFill>
                  <a:schemeClr val="tx2"/>
                </a:solidFill>
              </a:rPr>
              <a:t>(</a:t>
            </a:r>
            <a:r>
              <a:rPr lang="ko-KR" altLang="en-US" sz="1400" dirty="0">
                <a:solidFill>
                  <a:schemeClr val="tx2"/>
                </a:solidFill>
              </a:rPr>
              <a:t>파리조약 </a:t>
            </a:r>
            <a:r>
              <a:rPr lang="en-US" altLang="ko-KR" sz="1400" dirty="0">
                <a:solidFill>
                  <a:schemeClr val="tx2"/>
                </a:solidFill>
              </a:rPr>
              <a:t>4C(1)). </a:t>
            </a:r>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실용신안등록출원을 기초로 디자인등록출원으로 우선권주장을 하는 경우 </a:t>
            </a:r>
            <a:r>
              <a:rPr lang="ko-KR" altLang="en-US" sz="1400" dirty="0" err="1">
                <a:solidFill>
                  <a:schemeClr val="tx2"/>
                </a:solidFill>
              </a:rPr>
              <a:t>우선기간은</a:t>
            </a:r>
            <a:r>
              <a:rPr lang="ko-KR" altLang="en-US" sz="1400" dirty="0">
                <a:solidFill>
                  <a:schemeClr val="tx2"/>
                </a:solidFill>
              </a:rPr>
              <a:t> </a:t>
            </a:r>
            <a:r>
              <a:rPr lang="en-US" altLang="ko-KR" sz="1400" dirty="0">
                <a:solidFill>
                  <a:schemeClr val="tx2"/>
                </a:solidFill>
              </a:rPr>
              <a:t>6</a:t>
            </a:r>
            <a:r>
              <a:rPr lang="ko-KR" altLang="en-US" sz="1400" dirty="0">
                <a:solidFill>
                  <a:schemeClr val="tx2"/>
                </a:solidFill>
              </a:rPr>
              <a:t>개월이며</a:t>
            </a:r>
            <a:r>
              <a:rPr lang="en-US" altLang="ko-KR" sz="1400" dirty="0">
                <a:solidFill>
                  <a:schemeClr val="tx2"/>
                </a:solidFill>
              </a:rPr>
              <a:t>, </a:t>
            </a:r>
            <a:r>
              <a:rPr lang="ko-KR" altLang="en-US" sz="1400" dirty="0" err="1">
                <a:solidFill>
                  <a:schemeClr val="tx2"/>
                </a:solidFill>
              </a:rPr>
              <a:t>특허출원를</a:t>
            </a:r>
            <a:r>
              <a:rPr lang="ko-KR" altLang="en-US" sz="1400" dirty="0">
                <a:solidFill>
                  <a:schemeClr val="tx2"/>
                </a:solidFill>
              </a:rPr>
              <a:t> 기초로 실용신안등록출원으로 우선권주장을 하는 경우 </a:t>
            </a:r>
            <a:r>
              <a:rPr lang="ko-KR" altLang="en-US" sz="1400" dirty="0" err="1">
                <a:solidFill>
                  <a:schemeClr val="tx2"/>
                </a:solidFill>
              </a:rPr>
              <a:t>우선기간은</a:t>
            </a:r>
            <a:r>
              <a:rPr lang="ko-KR" altLang="en-US" sz="1400" dirty="0">
                <a:solidFill>
                  <a:schemeClr val="tx2"/>
                </a:solidFill>
              </a:rPr>
              <a:t> </a:t>
            </a:r>
            <a:r>
              <a:rPr lang="en-US" altLang="ko-KR" sz="1400" dirty="0">
                <a:solidFill>
                  <a:schemeClr val="tx2"/>
                </a:solidFill>
              </a:rPr>
              <a:t>12</a:t>
            </a:r>
            <a:r>
              <a:rPr lang="ko-KR" altLang="en-US" sz="1400" dirty="0">
                <a:solidFill>
                  <a:schemeClr val="tx2"/>
                </a:solidFill>
              </a:rPr>
              <a:t>개월이다</a:t>
            </a:r>
            <a:r>
              <a:rPr lang="en-US" altLang="ko-KR" sz="1400" dirty="0">
                <a:solidFill>
                  <a:schemeClr val="tx2"/>
                </a:solidFill>
              </a:rPr>
              <a:t>(</a:t>
            </a:r>
            <a:r>
              <a:rPr lang="ko-KR" altLang="en-US" sz="1400" dirty="0">
                <a:solidFill>
                  <a:schemeClr val="tx2"/>
                </a:solidFill>
              </a:rPr>
              <a:t>파리조약 </a:t>
            </a:r>
            <a:r>
              <a:rPr lang="en-US" altLang="ko-KR" sz="1400" dirty="0">
                <a:solidFill>
                  <a:schemeClr val="tx2"/>
                </a:solidFill>
              </a:rPr>
              <a:t>4E(1)(2)). </a:t>
            </a:r>
            <a:r>
              <a:rPr lang="ko-KR" altLang="en-US" sz="1400" dirty="0">
                <a:solidFill>
                  <a:schemeClr val="tx2"/>
                </a:solidFill>
              </a:rPr>
              <a:t>문제가 디자인등록출원을 기초로 실용신안등록출원으로 우선권주장을 하는 경우인데 이 경우 </a:t>
            </a:r>
            <a:r>
              <a:rPr lang="ko-KR" altLang="en-US" sz="1400" dirty="0" err="1">
                <a:solidFill>
                  <a:schemeClr val="tx2"/>
                </a:solidFill>
              </a:rPr>
              <a:t>파리조약에</a:t>
            </a:r>
            <a:r>
              <a:rPr lang="ko-KR" altLang="en-US" sz="1400" dirty="0">
                <a:solidFill>
                  <a:schemeClr val="tx2"/>
                </a:solidFill>
              </a:rPr>
              <a:t> 직접적인 규정이 없기 때문에 디자인등록출원을 기준으로 </a:t>
            </a:r>
            <a:r>
              <a:rPr lang="en-US" altLang="ko-KR" sz="1400" dirty="0">
                <a:solidFill>
                  <a:schemeClr val="tx2"/>
                </a:solidFill>
              </a:rPr>
              <a:t>6</a:t>
            </a:r>
            <a:r>
              <a:rPr lang="ko-KR" altLang="en-US" sz="1400" dirty="0">
                <a:solidFill>
                  <a:schemeClr val="tx2"/>
                </a:solidFill>
              </a:rPr>
              <a:t>개월로 하여야 한다는 제</a:t>
            </a:r>
            <a:r>
              <a:rPr lang="en-US" altLang="ko-KR" sz="1400" dirty="0">
                <a:solidFill>
                  <a:schemeClr val="tx2"/>
                </a:solidFill>
              </a:rPr>
              <a:t>1</a:t>
            </a:r>
            <a:r>
              <a:rPr lang="ko-KR" altLang="en-US" sz="1400" dirty="0" err="1">
                <a:solidFill>
                  <a:schemeClr val="tx2"/>
                </a:solidFill>
              </a:rPr>
              <a:t>국설과</a:t>
            </a:r>
            <a:r>
              <a:rPr lang="ko-KR" altLang="en-US" sz="1400" dirty="0">
                <a:solidFill>
                  <a:schemeClr val="tx2"/>
                </a:solidFill>
              </a:rPr>
              <a:t> 실용신안등록출원을 기준으로 </a:t>
            </a:r>
            <a:r>
              <a:rPr lang="en-US" altLang="ko-KR" sz="1400" dirty="0">
                <a:solidFill>
                  <a:schemeClr val="tx2"/>
                </a:solidFill>
              </a:rPr>
              <a:t>12</a:t>
            </a:r>
            <a:r>
              <a:rPr lang="ko-KR" altLang="en-US" sz="1400" dirty="0">
                <a:solidFill>
                  <a:schemeClr val="tx2"/>
                </a:solidFill>
              </a:rPr>
              <a:t>개월로 하여야 한다는 제</a:t>
            </a:r>
            <a:r>
              <a:rPr lang="en-US" altLang="ko-KR" sz="1400" dirty="0">
                <a:solidFill>
                  <a:schemeClr val="tx2"/>
                </a:solidFill>
              </a:rPr>
              <a:t>2</a:t>
            </a:r>
            <a:r>
              <a:rPr lang="ko-KR" altLang="en-US" sz="1400" dirty="0" err="1">
                <a:solidFill>
                  <a:schemeClr val="tx2"/>
                </a:solidFill>
              </a:rPr>
              <a:t>국설이</a:t>
            </a:r>
            <a:r>
              <a:rPr lang="ko-KR" altLang="en-US" sz="1400" dirty="0">
                <a:solidFill>
                  <a:schemeClr val="tx2"/>
                </a:solidFill>
              </a:rPr>
              <a:t> 있으나</a:t>
            </a:r>
            <a:r>
              <a:rPr lang="en-US" altLang="ko-KR" sz="1400" dirty="0">
                <a:solidFill>
                  <a:schemeClr val="tx2"/>
                </a:solidFill>
              </a:rPr>
              <a:t>, </a:t>
            </a:r>
            <a:r>
              <a:rPr lang="ko-KR" altLang="en-US" sz="1400" dirty="0" err="1">
                <a:solidFill>
                  <a:schemeClr val="tx2"/>
                </a:solidFill>
              </a:rPr>
              <a:t>심사실무는</a:t>
            </a:r>
            <a:r>
              <a:rPr lang="ko-KR" altLang="en-US" sz="1400" dirty="0">
                <a:solidFill>
                  <a:schemeClr val="tx2"/>
                </a:solidFill>
              </a:rPr>
              <a:t> 제</a:t>
            </a:r>
            <a:r>
              <a:rPr lang="en-US" altLang="ko-KR" sz="1400" dirty="0">
                <a:solidFill>
                  <a:schemeClr val="tx2"/>
                </a:solidFill>
              </a:rPr>
              <a:t>1</a:t>
            </a:r>
            <a:r>
              <a:rPr lang="ko-KR" altLang="en-US" sz="1400" dirty="0" err="1">
                <a:solidFill>
                  <a:schemeClr val="tx2"/>
                </a:solidFill>
              </a:rPr>
              <a:t>국설을</a:t>
            </a:r>
            <a:r>
              <a:rPr lang="ko-KR" altLang="en-US" sz="1400" dirty="0">
                <a:solidFill>
                  <a:schemeClr val="tx2"/>
                </a:solidFill>
              </a:rPr>
              <a:t> 지지한다</a:t>
            </a:r>
            <a:r>
              <a:rPr lang="en-US" altLang="ko-KR" sz="1400" dirty="0">
                <a:solidFill>
                  <a:schemeClr val="tx2"/>
                </a:solidFill>
              </a:rPr>
              <a:t>.</a:t>
            </a:r>
          </a:p>
        </p:txBody>
      </p:sp>
      <p:cxnSp>
        <p:nvCxnSpPr>
          <p:cNvPr id="63" name="직선 연결선 62"/>
          <p:cNvCxnSpPr/>
          <p:nvPr/>
        </p:nvCxnSpPr>
        <p:spPr>
          <a:xfrm>
            <a:off x="0" y="215196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슬라이드 번호 개체 틀 2"/>
          <p:cNvSpPr>
            <a:spLocks noGrp="1"/>
          </p:cNvSpPr>
          <p:nvPr>
            <p:ph type="sldNum" sz="quarter" idx="12"/>
          </p:nvPr>
        </p:nvSpPr>
        <p:spPr/>
        <p:txBody>
          <a:bodyPr/>
          <a:lstStyle/>
          <a:p>
            <a:r>
              <a:rPr lang="en-US" altLang="ko-KR"/>
              <a:t>217</a:t>
            </a:r>
            <a:endParaRPr lang="ko-KR" altLang="en-US"/>
          </a:p>
        </p:txBody>
      </p:sp>
    </p:spTree>
    <p:extLst>
      <p:ext uri="{BB962C8B-B14F-4D97-AF65-F5344CB8AC3E}">
        <p14:creationId xmlns:p14="http://schemas.microsoft.com/office/powerpoint/2010/main" val="681325704"/>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 name="모서리가 둥근 직사각형 195"/>
          <p:cNvSpPr/>
          <p:nvPr/>
        </p:nvSpPr>
        <p:spPr>
          <a:xfrm>
            <a:off x="1563868" y="6067111"/>
            <a:ext cx="6684782" cy="438150"/>
          </a:xfrm>
          <a:prstGeom prst="round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accent4"/>
              </a:solidFill>
            </a:endParaRPr>
          </a:p>
        </p:txBody>
      </p:sp>
      <p:sp>
        <p:nvSpPr>
          <p:cNvPr id="195" name="모서리가 둥근 직사각형 194"/>
          <p:cNvSpPr/>
          <p:nvPr/>
        </p:nvSpPr>
        <p:spPr>
          <a:xfrm>
            <a:off x="1563868" y="5255419"/>
            <a:ext cx="6684782" cy="438150"/>
          </a:xfrm>
          <a:prstGeom prst="round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accent4"/>
              </a:solidFill>
            </a:endParaRPr>
          </a:p>
        </p:txBody>
      </p:sp>
      <p:sp>
        <p:nvSpPr>
          <p:cNvPr id="194" name="모서리가 둥근 직사각형 193"/>
          <p:cNvSpPr/>
          <p:nvPr/>
        </p:nvSpPr>
        <p:spPr>
          <a:xfrm>
            <a:off x="1563868" y="4600575"/>
            <a:ext cx="6684782" cy="438150"/>
          </a:xfrm>
          <a:prstGeom prst="round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accent4"/>
              </a:solidFill>
            </a:endParaRPr>
          </a:p>
        </p:txBody>
      </p:sp>
      <p:cxnSp>
        <p:nvCxnSpPr>
          <p:cNvPr id="183" name="직선 연결선 182"/>
          <p:cNvCxnSpPr/>
          <p:nvPr/>
        </p:nvCxnSpPr>
        <p:spPr>
          <a:xfrm flipH="1">
            <a:off x="6784177" y="3167310"/>
            <a:ext cx="1" cy="359544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직선 연결선 181"/>
          <p:cNvCxnSpPr/>
          <p:nvPr/>
        </p:nvCxnSpPr>
        <p:spPr>
          <a:xfrm flipH="1">
            <a:off x="4800599" y="3167310"/>
            <a:ext cx="1" cy="359544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직선 연결선 106"/>
          <p:cNvCxnSpPr>
            <a:stCxn id="124" idx="2"/>
          </p:cNvCxnSpPr>
          <p:nvPr/>
        </p:nvCxnSpPr>
        <p:spPr>
          <a:xfrm flipH="1">
            <a:off x="2781299" y="3167310"/>
            <a:ext cx="1" cy="359544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5" name="양쪽 모서리가 둥근 사각형 104"/>
          <p:cNvSpPr/>
          <p:nvPr/>
        </p:nvSpPr>
        <p:spPr>
          <a:xfrm>
            <a:off x="2781299" y="2650202"/>
            <a:ext cx="4002881" cy="375344"/>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1" name="양쪽 모서리가 둥근 사각형 170"/>
          <p:cNvSpPr/>
          <p:nvPr/>
        </p:nvSpPr>
        <p:spPr>
          <a:xfrm>
            <a:off x="2781299" y="2341291"/>
            <a:ext cx="6391275" cy="684255"/>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2" name="양쪽 모서리가 둥근 사각형 171"/>
          <p:cNvSpPr/>
          <p:nvPr/>
        </p:nvSpPr>
        <p:spPr>
          <a:xfrm>
            <a:off x="2781299" y="2034515"/>
            <a:ext cx="7434263" cy="991032"/>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제목 3"/>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5" name="텍스트 개체 틀 4"/>
          <p:cNvSpPr>
            <a:spLocks noGrp="1"/>
          </p:cNvSpPr>
          <p:nvPr>
            <p:ph type="body" sz="quarter" idx="13"/>
          </p:nvPr>
        </p:nvSpPr>
        <p:spPr/>
        <p:txBody>
          <a:bodyPr/>
          <a:lstStyle/>
          <a:p>
            <a:r>
              <a:rPr lang="ko-KR" altLang="en-US" dirty="0"/>
              <a:t>복합우선권주장과 부분우선권주장</a:t>
            </a:r>
          </a:p>
        </p:txBody>
      </p:sp>
      <p:sp>
        <p:nvSpPr>
          <p:cNvPr id="33" name="TextBox 32"/>
          <p:cNvSpPr txBox="1"/>
          <p:nvPr/>
        </p:nvSpPr>
        <p:spPr>
          <a:xfrm>
            <a:off x="77875" y="986046"/>
            <a:ext cx="11936323" cy="738664"/>
          </a:xfrm>
          <a:prstGeom prst="rect">
            <a:avLst/>
          </a:prstGeom>
          <a:noFill/>
        </p:spPr>
        <p:txBody>
          <a:bodyPr wrap="square" rtlCol="0">
            <a:spAutoFit/>
          </a:bodyPr>
          <a:lstStyle/>
          <a:p>
            <a:pPr fontAlgn="base"/>
            <a:r>
              <a:rPr lang="en-US" altLang="ko-KR" sz="1400" dirty="0">
                <a:highlight>
                  <a:srgbClr val="FFFF00"/>
                </a:highlight>
              </a:rPr>
              <a:t>ⅰ) </a:t>
            </a:r>
            <a:r>
              <a:rPr lang="ko-KR" altLang="en-US" sz="1400" dirty="0">
                <a:highlight>
                  <a:srgbClr val="FFFF00"/>
                </a:highlight>
              </a:rPr>
              <a:t>「</a:t>
            </a:r>
            <a:r>
              <a:rPr lang="ko-KR" altLang="en-US" sz="1400" dirty="0" err="1">
                <a:highlight>
                  <a:srgbClr val="FFFF00"/>
                </a:highlight>
              </a:rPr>
              <a:t>복합우선」이란</a:t>
            </a:r>
            <a:r>
              <a:rPr lang="ko-KR" altLang="en-US" sz="1400" dirty="0">
                <a:highlight>
                  <a:srgbClr val="FFFF00"/>
                </a:highlight>
              </a:rPr>
              <a:t> 하나의 출원에 관하여 복수의 우선권</a:t>
            </a:r>
            <a:r>
              <a:rPr lang="en-US" altLang="ko-KR" sz="1400" dirty="0">
                <a:highlight>
                  <a:srgbClr val="FFFF00"/>
                </a:highlight>
              </a:rPr>
              <a:t>(</a:t>
            </a:r>
            <a:r>
              <a:rPr lang="ko-KR" altLang="en-US" sz="1400" dirty="0">
                <a:highlight>
                  <a:srgbClr val="FFFF00"/>
                </a:highlight>
              </a:rPr>
              <a:t>둘 이상의 국가에서 한 출원에 기한 것을 포함한다</a:t>
            </a:r>
            <a:r>
              <a:rPr lang="en-US" altLang="ko-KR" sz="1400" dirty="0">
                <a:highlight>
                  <a:srgbClr val="FFFF00"/>
                </a:highlight>
              </a:rPr>
              <a:t>)</a:t>
            </a:r>
            <a:r>
              <a:rPr lang="ko-KR" altLang="en-US" sz="1400" dirty="0">
                <a:highlight>
                  <a:srgbClr val="FFFF00"/>
                </a:highlight>
              </a:rPr>
              <a:t>을 주장하는 것을 말하며</a:t>
            </a:r>
            <a:r>
              <a:rPr lang="en-US" altLang="ko-KR" sz="1400" dirty="0">
                <a:highlight>
                  <a:srgbClr val="FFFF00"/>
                </a:highlight>
              </a:rPr>
              <a:t>, ⅱ) </a:t>
            </a:r>
            <a:r>
              <a:rPr lang="ko-KR" altLang="en-US" sz="1400" dirty="0">
                <a:highlight>
                  <a:srgbClr val="FFFF00"/>
                </a:highlight>
              </a:rPr>
              <a:t>「</a:t>
            </a:r>
            <a:r>
              <a:rPr lang="ko-KR" altLang="en-US" sz="1400" dirty="0" err="1">
                <a:highlight>
                  <a:srgbClr val="FFFF00"/>
                </a:highlight>
              </a:rPr>
              <a:t>부분우선」이란</a:t>
            </a:r>
            <a:r>
              <a:rPr lang="ko-KR" altLang="en-US" sz="1400" dirty="0">
                <a:highlight>
                  <a:srgbClr val="FFFF00"/>
                </a:highlight>
              </a:rPr>
              <a:t> </a:t>
            </a:r>
            <a:r>
              <a:rPr lang="en-US" altLang="ko-KR" sz="1400" dirty="0">
                <a:highlight>
                  <a:srgbClr val="FFFF00"/>
                </a:highlight>
              </a:rPr>
              <a:t>1 </a:t>
            </a:r>
            <a:r>
              <a:rPr lang="ko-KR" altLang="en-US" sz="1400" dirty="0">
                <a:highlight>
                  <a:srgbClr val="FFFF00"/>
                </a:highlight>
              </a:rPr>
              <a:t>또는 그 이상의 우선권을 주장하는 출원이 그 우선권이 주장되는 출원에 포함되지 아니한 일 또는 그 이상의 발명을 포함하는 것을 말한다</a:t>
            </a:r>
            <a:r>
              <a:rPr lang="en-US" altLang="ko-KR" sz="1400" dirty="0">
                <a:highlight>
                  <a:srgbClr val="FFFF00"/>
                </a:highlight>
              </a:rPr>
              <a:t>. </a:t>
            </a:r>
            <a:r>
              <a:rPr lang="ko-KR" altLang="en-US" sz="1400" dirty="0">
                <a:solidFill>
                  <a:schemeClr val="tx2"/>
                </a:solidFill>
              </a:rPr>
              <a:t>우선권이 주장되는 </a:t>
            </a:r>
            <a:r>
              <a:rPr lang="ko-KR" altLang="en-US" sz="1400" dirty="0" err="1">
                <a:solidFill>
                  <a:schemeClr val="tx2"/>
                </a:solidFill>
              </a:rPr>
              <a:t>선출원에</a:t>
            </a:r>
            <a:r>
              <a:rPr lang="ko-KR" altLang="en-US" sz="1400" dirty="0">
                <a:solidFill>
                  <a:schemeClr val="tx2"/>
                </a:solidFill>
              </a:rPr>
              <a:t> 포함되지 않았던 구성요소에 대해서는 </a:t>
            </a:r>
            <a:r>
              <a:rPr lang="ko-KR" altLang="en-US" sz="1400" dirty="0" err="1">
                <a:solidFill>
                  <a:schemeClr val="tx2"/>
                </a:solidFill>
              </a:rPr>
              <a:t>후출원일을</a:t>
            </a:r>
            <a:r>
              <a:rPr lang="ko-KR" altLang="en-US" sz="1400" dirty="0">
                <a:solidFill>
                  <a:schemeClr val="tx2"/>
                </a:solidFill>
              </a:rPr>
              <a:t> 기준으로 </a:t>
            </a:r>
            <a:r>
              <a:rPr lang="ko-KR" altLang="en-US" sz="1400" dirty="0" err="1">
                <a:solidFill>
                  <a:schemeClr val="tx2"/>
                </a:solidFill>
              </a:rPr>
              <a:t>특허요건</a:t>
            </a:r>
            <a:r>
              <a:rPr lang="ko-KR" altLang="en-US" sz="1400" dirty="0">
                <a:solidFill>
                  <a:schemeClr val="tx2"/>
                </a:solidFill>
              </a:rPr>
              <a:t> 등을 판단하게 한다</a:t>
            </a:r>
            <a:r>
              <a:rPr lang="en-US" altLang="ko-KR" sz="1400" dirty="0">
                <a:solidFill>
                  <a:schemeClr val="tx2"/>
                </a:solidFill>
              </a:rPr>
              <a:t>(</a:t>
            </a:r>
            <a:r>
              <a:rPr lang="ko-KR" altLang="en-US" sz="1400" dirty="0">
                <a:solidFill>
                  <a:schemeClr val="tx2"/>
                </a:solidFill>
              </a:rPr>
              <a:t>파리조약 </a:t>
            </a:r>
            <a:r>
              <a:rPr lang="en-US" altLang="ko-KR" sz="1400" dirty="0">
                <a:solidFill>
                  <a:schemeClr val="tx2"/>
                </a:solidFill>
              </a:rPr>
              <a:t>4F).</a:t>
            </a:r>
          </a:p>
        </p:txBody>
      </p:sp>
      <p:cxnSp>
        <p:nvCxnSpPr>
          <p:cNvPr id="34" name="직선 연결선 33"/>
          <p:cNvCxnSpPr/>
          <p:nvPr/>
        </p:nvCxnSpPr>
        <p:spPr>
          <a:xfrm>
            <a:off x="0" y="172334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직선 연결선 122"/>
          <p:cNvCxnSpPr>
            <a:stCxn id="124" idx="1"/>
          </p:cNvCxnSpPr>
          <p:nvPr/>
        </p:nvCxnSpPr>
        <p:spPr>
          <a:xfrm>
            <a:off x="2024062" y="3025547"/>
            <a:ext cx="978693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4" name="직사각형 123"/>
          <p:cNvSpPr/>
          <p:nvPr/>
        </p:nvSpPr>
        <p:spPr>
          <a:xfrm>
            <a:off x="2024062" y="2883784"/>
            <a:ext cx="1514475" cy="28352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 </a:t>
            </a:r>
            <a:r>
              <a:rPr lang="ko-KR" altLang="en-US" sz="1200" dirty="0" err="1">
                <a:solidFill>
                  <a:schemeClr val="tx1"/>
                </a:solidFill>
              </a:rPr>
              <a:t>일본출원</a:t>
            </a:r>
            <a:r>
              <a:rPr lang="en-US" altLang="ko-KR" sz="1200" dirty="0">
                <a:solidFill>
                  <a:schemeClr val="tx1"/>
                </a:solidFill>
              </a:rPr>
              <a:t>(X)</a:t>
            </a:r>
            <a:endParaRPr lang="ko-KR" altLang="en-US" sz="1200" dirty="0">
              <a:solidFill>
                <a:schemeClr val="tx1"/>
              </a:solidFill>
            </a:endParaRPr>
          </a:p>
        </p:txBody>
      </p:sp>
      <p:sp>
        <p:nvSpPr>
          <p:cNvPr id="125" name="직사각형 124"/>
          <p:cNvSpPr/>
          <p:nvPr/>
        </p:nvSpPr>
        <p:spPr>
          <a:xfrm>
            <a:off x="6026943" y="2883784"/>
            <a:ext cx="1514475" cy="28352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한국출원</a:t>
            </a:r>
            <a:r>
              <a:rPr lang="en-US" altLang="ko-KR" sz="1200" dirty="0">
                <a:solidFill>
                  <a:schemeClr val="tx1"/>
                </a:solidFill>
              </a:rPr>
              <a:t>(Z)</a:t>
            </a:r>
            <a:endParaRPr lang="ko-KR" altLang="en-US" sz="1200" dirty="0">
              <a:solidFill>
                <a:schemeClr val="tx1"/>
              </a:solidFill>
            </a:endParaRPr>
          </a:p>
        </p:txBody>
      </p:sp>
      <p:sp>
        <p:nvSpPr>
          <p:cNvPr id="164" name="직사각형 163"/>
          <p:cNvSpPr/>
          <p:nvPr/>
        </p:nvSpPr>
        <p:spPr>
          <a:xfrm>
            <a:off x="4043362" y="2883784"/>
            <a:ext cx="1514475" cy="28352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 </a:t>
            </a:r>
            <a:r>
              <a:rPr lang="ko-KR" altLang="en-US" sz="1200" dirty="0" err="1">
                <a:solidFill>
                  <a:schemeClr val="tx1"/>
                </a:solidFill>
              </a:rPr>
              <a:t>미국출원</a:t>
            </a:r>
            <a:r>
              <a:rPr lang="en-US" altLang="ko-KR" sz="1200" dirty="0">
                <a:solidFill>
                  <a:schemeClr val="tx1"/>
                </a:solidFill>
              </a:rPr>
              <a:t>(Y)</a:t>
            </a:r>
            <a:endParaRPr lang="ko-KR" altLang="en-US" sz="1200" dirty="0">
              <a:solidFill>
                <a:schemeClr val="tx1"/>
              </a:solidFill>
            </a:endParaRPr>
          </a:p>
        </p:txBody>
      </p:sp>
      <p:sp>
        <p:nvSpPr>
          <p:cNvPr id="165" name="직사각형 164"/>
          <p:cNvSpPr/>
          <p:nvPr/>
        </p:nvSpPr>
        <p:spPr>
          <a:xfrm>
            <a:off x="9458325" y="2883784"/>
            <a:ext cx="1514475" cy="28352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출원공개</a:t>
            </a:r>
            <a:r>
              <a:rPr lang="en-US" altLang="ko-KR" sz="1200" dirty="0">
                <a:solidFill>
                  <a:schemeClr val="tx1"/>
                </a:solidFill>
              </a:rPr>
              <a:t>(Z)</a:t>
            </a:r>
            <a:endParaRPr lang="ko-KR" altLang="en-US" sz="1200" dirty="0">
              <a:solidFill>
                <a:schemeClr val="tx1"/>
              </a:solidFill>
            </a:endParaRPr>
          </a:p>
        </p:txBody>
      </p:sp>
      <p:sp>
        <p:nvSpPr>
          <p:cNvPr id="166" name="직사각형 165"/>
          <p:cNvSpPr/>
          <p:nvPr/>
        </p:nvSpPr>
        <p:spPr>
          <a:xfrm>
            <a:off x="6026943" y="3167310"/>
            <a:ext cx="1514475" cy="283526"/>
          </a:xfrm>
          <a:prstGeom prst="rect">
            <a:avLst/>
          </a:prstGeom>
          <a:solidFill>
            <a:srgbClr val="0070C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accent4"/>
                </a:solidFill>
              </a:rPr>
              <a:t>X </a:t>
            </a:r>
            <a:r>
              <a:rPr lang="ko-KR" altLang="en-US" sz="1200" dirty="0">
                <a:solidFill>
                  <a:schemeClr val="accent4"/>
                </a:solidFill>
              </a:rPr>
              <a:t>기초 </a:t>
            </a:r>
            <a:r>
              <a:rPr lang="ko-KR" altLang="en-US" sz="1200" dirty="0" err="1">
                <a:solidFill>
                  <a:schemeClr val="accent4"/>
                </a:solidFill>
              </a:rPr>
              <a:t>우선권주장</a:t>
            </a:r>
            <a:endParaRPr lang="ko-KR" altLang="en-US" sz="1200" dirty="0">
              <a:solidFill>
                <a:schemeClr val="accent4"/>
              </a:solidFill>
            </a:endParaRPr>
          </a:p>
        </p:txBody>
      </p:sp>
      <p:sp>
        <p:nvSpPr>
          <p:cNvPr id="167" name="직사각형 166"/>
          <p:cNvSpPr/>
          <p:nvPr/>
        </p:nvSpPr>
        <p:spPr>
          <a:xfrm>
            <a:off x="6026943" y="3450836"/>
            <a:ext cx="1514475" cy="283526"/>
          </a:xfrm>
          <a:prstGeom prst="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bg1"/>
                </a:solidFill>
              </a:rPr>
              <a:t>Y </a:t>
            </a:r>
            <a:r>
              <a:rPr lang="ko-KR" altLang="en-US" sz="1200" dirty="0">
                <a:solidFill>
                  <a:schemeClr val="bg1"/>
                </a:solidFill>
              </a:rPr>
              <a:t>기초 </a:t>
            </a:r>
            <a:r>
              <a:rPr lang="ko-KR" altLang="en-US" sz="1200" dirty="0" err="1">
                <a:solidFill>
                  <a:schemeClr val="bg1"/>
                </a:solidFill>
              </a:rPr>
              <a:t>우선권주장</a:t>
            </a:r>
            <a:endParaRPr lang="ko-KR" altLang="en-US" sz="1200" dirty="0">
              <a:solidFill>
                <a:schemeClr val="bg1"/>
              </a:solidFill>
            </a:endParaRPr>
          </a:p>
        </p:txBody>
      </p:sp>
      <p:sp>
        <p:nvSpPr>
          <p:cNvPr id="168" name="직사각형 167"/>
          <p:cNvSpPr/>
          <p:nvPr/>
        </p:nvSpPr>
        <p:spPr>
          <a:xfrm>
            <a:off x="8415337" y="3462585"/>
            <a:ext cx="1514475"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증명서류</a:t>
            </a:r>
            <a:r>
              <a:rPr lang="en-US" altLang="ko-KR" sz="1200" dirty="0">
                <a:solidFill>
                  <a:schemeClr val="tx1"/>
                </a:solidFill>
              </a:rPr>
              <a:t>(X)</a:t>
            </a:r>
            <a:endParaRPr lang="ko-KR" altLang="en-US" sz="1200" dirty="0">
              <a:solidFill>
                <a:schemeClr val="tx1"/>
              </a:solidFill>
            </a:endParaRPr>
          </a:p>
        </p:txBody>
      </p:sp>
      <p:sp>
        <p:nvSpPr>
          <p:cNvPr id="169" name="직사각형 168"/>
          <p:cNvSpPr/>
          <p:nvPr/>
        </p:nvSpPr>
        <p:spPr>
          <a:xfrm>
            <a:off x="8415337" y="3746111"/>
            <a:ext cx="1514475"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증명서류</a:t>
            </a:r>
            <a:r>
              <a:rPr lang="en-US" altLang="ko-KR" sz="1200" dirty="0">
                <a:solidFill>
                  <a:schemeClr val="tx1"/>
                </a:solidFill>
              </a:rPr>
              <a:t>(Y)</a:t>
            </a:r>
            <a:endParaRPr lang="ko-KR" altLang="en-US" sz="1200" dirty="0">
              <a:solidFill>
                <a:schemeClr val="tx1"/>
              </a:solidFill>
            </a:endParaRPr>
          </a:p>
        </p:txBody>
      </p:sp>
      <p:sp>
        <p:nvSpPr>
          <p:cNvPr id="170" name="Rectangle 14"/>
          <p:cNvSpPr>
            <a:spLocks noChangeArrowheads="1"/>
          </p:cNvSpPr>
          <p:nvPr/>
        </p:nvSpPr>
        <p:spPr bwMode="auto">
          <a:xfrm flipV="1">
            <a:off x="9100145" y="2949507"/>
            <a:ext cx="144858" cy="152080"/>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02" name="직선 연결선 101"/>
          <p:cNvCxnSpPr>
            <a:stCxn id="168" idx="0"/>
            <a:endCxn id="170" idx="0"/>
          </p:cNvCxnSpPr>
          <p:nvPr/>
        </p:nvCxnSpPr>
        <p:spPr>
          <a:xfrm flipH="1" flipV="1">
            <a:off x="9172574" y="3101587"/>
            <a:ext cx="1" cy="36099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직사각형 172"/>
          <p:cNvSpPr/>
          <p:nvPr/>
        </p:nvSpPr>
        <p:spPr>
          <a:xfrm>
            <a:off x="3814762" y="2391755"/>
            <a:ext cx="1514475"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1</a:t>
            </a:r>
            <a:r>
              <a:rPr lang="ko-KR" altLang="en-US" sz="1200" dirty="0">
                <a:solidFill>
                  <a:schemeClr val="tx1"/>
                </a:solidFill>
              </a:rPr>
              <a:t>년</a:t>
            </a:r>
          </a:p>
        </p:txBody>
      </p:sp>
      <p:sp>
        <p:nvSpPr>
          <p:cNvPr id="174" name="직사각형 173"/>
          <p:cNvSpPr/>
          <p:nvPr/>
        </p:nvSpPr>
        <p:spPr>
          <a:xfrm>
            <a:off x="4782739" y="2086501"/>
            <a:ext cx="1514475"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1</a:t>
            </a:r>
            <a:r>
              <a:rPr lang="ko-KR" altLang="en-US" sz="1200" dirty="0">
                <a:solidFill>
                  <a:schemeClr val="tx1"/>
                </a:solidFill>
              </a:rPr>
              <a:t>년 </a:t>
            </a:r>
            <a:r>
              <a:rPr lang="en-US" altLang="ko-KR" sz="1200" dirty="0">
                <a:solidFill>
                  <a:schemeClr val="tx1"/>
                </a:solidFill>
              </a:rPr>
              <a:t>4</a:t>
            </a:r>
            <a:r>
              <a:rPr lang="ko-KR" altLang="en-US" sz="1200" dirty="0">
                <a:solidFill>
                  <a:schemeClr val="tx1"/>
                </a:solidFill>
              </a:rPr>
              <a:t>개월</a:t>
            </a:r>
          </a:p>
        </p:txBody>
      </p:sp>
      <p:sp>
        <p:nvSpPr>
          <p:cNvPr id="175" name="직사각형 174"/>
          <p:cNvSpPr/>
          <p:nvPr/>
        </p:nvSpPr>
        <p:spPr>
          <a:xfrm>
            <a:off x="6061074" y="1780712"/>
            <a:ext cx="1514475"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1</a:t>
            </a:r>
            <a:r>
              <a:rPr lang="ko-KR" altLang="en-US" sz="1200" dirty="0">
                <a:solidFill>
                  <a:schemeClr val="tx1"/>
                </a:solidFill>
              </a:rPr>
              <a:t>년 </a:t>
            </a:r>
            <a:r>
              <a:rPr lang="en-US" altLang="ko-KR" sz="1200" dirty="0">
                <a:solidFill>
                  <a:schemeClr val="tx1"/>
                </a:solidFill>
              </a:rPr>
              <a:t>6</a:t>
            </a:r>
            <a:r>
              <a:rPr lang="ko-KR" altLang="en-US" sz="1200" dirty="0">
                <a:solidFill>
                  <a:schemeClr val="tx1"/>
                </a:solidFill>
              </a:rPr>
              <a:t>개월</a:t>
            </a:r>
          </a:p>
        </p:txBody>
      </p:sp>
      <p:sp>
        <p:nvSpPr>
          <p:cNvPr id="176" name="직사각형 175"/>
          <p:cNvSpPr/>
          <p:nvPr/>
        </p:nvSpPr>
        <p:spPr>
          <a:xfrm>
            <a:off x="2024062" y="3809252"/>
            <a:ext cx="1514475" cy="28352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a:t>
            </a:r>
            <a:endParaRPr lang="ko-KR" altLang="en-US" sz="1200" dirty="0">
              <a:solidFill>
                <a:schemeClr val="tx1"/>
              </a:solidFill>
            </a:endParaRPr>
          </a:p>
        </p:txBody>
      </p:sp>
      <p:sp>
        <p:nvSpPr>
          <p:cNvPr id="177" name="직사각형 176"/>
          <p:cNvSpPr/>
          <p:nvPr/>
        </p:nvSpPr>
        <p:spPr>
          <a:xfrm>
            <a:off x="2024062" y="4092779"/>
            <a:ext cx="1514475" cy="283526"/>
          </a:xfrm>
          <a:prstGeom prst="rect">
            <a:avLst/>
          </a:prstGeom>
          <a:solidFill>
            <a:srgbClr val="FFC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a:t>
            </a:r>
            <a:endParaRPr lang="ko-KR" altLang="en-US" sz="1200" dirty="0">
              <a:solidFill>
                <a:schemeClr val="tx1"/>
              </a:solidFill>
            </a:endParaRPr>
          </a:p>
        </p:txBody>
      </p:sp>
      <p:sp>
        <p:nvSpPr>
          <p:cNvPr id="178" name="직사각형 177"/>
          <p:cNvSpPr/>
          <p:nvPr/>
        </p:nvSpPr>
        <p:spPr>
          <a:xfrm>
            <a:off x="4043362" y="3809252"/>
            <a:ext cx="1514475" cy="28352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179" name="직사각형 178"/>
          <p:cNvSpPr/>
          <p:nvPr/>
        </p:nvSpPr>
        <p:spPr>
          <a:xfrm>
            <a:off x="4043362" y="4092779"/>
            <a:ext cx="1514475" cy="283526"/>
          </a:xfrm>
          <a:prstGeom prst="rect">
            <a:avLst/>
          </a:prstGeom>
          <a:solidFill>
            <a:srgbClr val="FFC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180" name="직사각형 179"/>
          <p:cNvSpPr/>
          <p:nvPr/>
        </p:nvSpPr>
        <p:spPr>
          <a:xfrm>
            <a:off x="6026942" y="3809252"/>
            <a:ext cx="1514475" cy="283526"/>
          </a:xfrm>
          <a:prstGeom prst="rect">
            <a:avLst/>
          </a:prstGeom>
          <a:solidFill>
            <a:srgbClr val="FFC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 C</a:t>
            </a:r>
            <a:endParaRPr lang="ko-KR" altLang="en-US" sz="1200" dirty="0">
              <a:solidFill>
                <a:schemeClr val="tx1"/>
              </a:solidFill>
            </a:endParaRPr>
          </a:p>
        </p:txBody>
      </p:sp>
      <p:sp>
        <p:nvSpPr>
          <p:cNvPr id="181" name="직사각형 180"/>
          <p:cNvSpPr/>
          <p:nvPr/>
        </p:nvSpPr>
        <p:spPr>
          <a:xfrm>
            <a:off x="6026942" y="4092779"/>
            <a:ext cx="1514475" cy="28352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 C</a:t>
            </a:r>
            <a:endParaRPr lang="ko-KR" altLang="en-US" sz="1200" dirty="0">
              <a:solidFill>
                <a:schemeClr val="tx1"/>
              </a:solidFill>
            </a:endParaRPr>
          </a:p>
        </p:txBody>
      </p:sp>
      <p:sp>
        <p:nvSpPr>
          <p:cNvPr id="108" name="모서리가 둥근 직사각형 107"/>
          <p:cNvSpPr/>
          <p:nvPr/>
        </p:nvSpPr>
        <p:spPr>
          <a:xfrm>
            <a:off x="476250" y="4600575"/>
            <a:ext cx="1087618" cy="438150"/>
          </a:xfrm>
          <a:prstGeom prst="roundRect">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accent4"/>
                </a:solidFill>
              </a:rPr>
              <a:t>X</a:t>
            </a:r>
            <a:r>
              <a:rPr lang="ko-KR" altLang="en-US" sz="1200" dirty="0">
                <a:solidFill>
                  <a:schemeClr val="accent4"/>
                </a:solidFill>
              </a:rPr>
              <a:t>기초</a:t>
            </a:r>
            <a:endParaRPr lang="en-US" altLang="ko-KR" sz="1200" dirty="0">
              <a:solidFill>
                <a:schemeClr val="accent4"/>
              </a:solidFill>
            </a:endParaRPr>
          </a:p>
          <a:p>
            <a:pPr algn="ctr"/>
            <a:r>
              <a:rPr lang="ko-KR" altLang="en-US" sz="1200" dirty="0" err="1">
                <a:solidFill>
                  <a:schemeClr val="accent4"/>
                </a:solidFill>
              </a:rPr>
              <a:t>우선권주장</a:t>
            </a:r>
            <a:endParaRPr lang="ko-KR" altLang="en-US" sz="1200" dirty="0">
              <a:solidFill>
                <a:schemeClr val="accent4"/>
              </a:solidFill>
            </a:endParaRPr>
          </a:p>
        </p:txBody>
      </p:sp>
      <p:sp>
        <p:nvSpPr>
          <p:cNvPr id="184" name="모서리가 둥근 직사각형 183"/>
          <p:cNvSpPr/>
          <p:nvPr/>
        </p:nvSpPr>
        <p:spPr>
          <a:xfrm>
            <a:off x="2237490" y="4600575"/>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A</a:t>
            </a:r>
            <a:endParaRPr lang="ko-KR" altLang="en-US" sz="1200" dirty="0">
              <a:solidFill>
                <a:schemeClr val="tx1"/>
              </a:solidFill>
            </a:endParaRPr>
          </a:p>
        </p:txBody>
      </p:sp>
      <p:sp>
        <p:nvSpPr>
          <p:cNvPr id="187" name="모서리가 둥근 직사각형 186"/>
          <p:cNvSpPr/>
          <p:nvPr/>
        </p:nvSpPr>
        <p:spPr>
          <a:xfrm>
            <a:off x="6240368" y="4600575"/>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B, C</a:t>
            </a:r>
            <a:endParaRPr lang="ko-KR" altLang="en-US" sz="1200" dirty="0">
              <a:solidFill>
                <a:schemeClr val="tx1"/>
              </a:solidFill>
            </a:endParaRPr>
          </a:p>
        </p:txBody>
      </p:sp>
      <p:sp>
        <p:nvSpPr>
          <p:cNvPr id="188" name="모서리가 둥근 직사각형 187"/>
          <p:cNvSpPr/>
          <p:nvPr/>
        </p:nvSpPr>
        <p:spPr>
          <a:xfrm>
            <a:off x="476250" y="5245677"/>
            <a:ext cx="1087618" cy="438150"/>
          </a:xfrm>
          <a:prstGeom prst="round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accent3">
                    <a:lumMod val="20000"/>
                    <a:lumOff val="80000"/>
                  </a:schemeClr>
                </a:solidFill>
              </a:rPr>
              <a:t>Y</a:t>
            </a:r>
            <a:r>
              <a:rPr lang="ko-KR" altLang="en-US" sz="1200" dirty="0">
                <a:solidFill>
                  <a:schemeClr val="accent3">
                    <a:lumMod val="20000"/>
                    <a:lumOff val="80000"/>
                  </a:schemeClr>
                </a:solidFill>
              </a:rPr>
              <a:t>기초</a:t>
            </a:r>
            <a:endParaRPr lang="en-US" altLang="ko-KR" sz="1200" dirty="0">
              <a:solidFill>
                <a:schemeClr val="accent3">
                  <a:lumMod val="20000"/>
                  <a:lumOff val="80000"/>
                </a:schemeClr>
              </a:solidFill>
            </a:endParaRPr>
          </a:p>
          <a:p>
            <a:pPr algn="ctr"/>
            <a:r>
              <a:rPr lang="ko-KR" altLang="en-US" sz="1200" dirty="0" err="1">
                <a:solidFill>
                  <a:schemeClr val="accent3">
                    <a:lumMod val="20000"/>
                    <a:lumOff val="80000"/>
                  </a:schemeClr>
                </a:solidFill>
              </a:rPr>
              <a:t>우선권주장</a:t>
            </a:r>
            <a:endParaRPr lang="ko-KR" altLang="en-US" sz="1200" dirty="0">
              <a:solidFill>
                <a:schemeClr val="accent3">
                  <a:lumMod val="20000"/>
                  <a:lumOff val="80000"/>
                </a:schemeClr>
              </a:solidFill>
            </a:endParaRPr>
          </a:p>
        </p:txBody>
      </p:sp>
      <p:sp>
        <p:nvSpPr>
          <p:cNvPr id="189" name="모서리가 둥근 직사각형 188"/>
          <p:cNvSpPr/>
          <p:nvPr/>
        </p:nvSpPr>
        <p:spPr>
          <a:xfrm>
            <a:off x="4256790" y="5245677"/>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B</a:t>
            </a:r>
          </a:p>
        </p:txBody>
      </p:sp>
      <p:sp>
        <p:nvSpPr>
          <p:cNvPr id="190" name="모서리가 둥근 직사각형 189"/>
          <p:cNvSpPr/>
          <p:nvPr/>
        </p:nvSpPr>
        <p:spPr>
          <a:xfrm>
            <a:off x="6240368" y="5245677"/>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A, C</a:t>
            </a:r>
            <a:endParaRPr lang="ko-KR" altLang="en-US" sz="1200" dirty="0">
              <a:solidFill>
                <a:schemeClr val="tx1"/>
              </a:solidFill>
            </a:endParaRPr>
          </a:p>
        </p:txBody>
      </p:sp>
      <p:cxnSp>
        <p:nvCxnSpPr>
          <p:cNvPr id="110" name="직선 연결선 109"/>
          <p:cNvCxnSpPr/>
          <p:nvPr/>
        </p:nvCxnSpPr>
        <p:spPr>
          <a:xfrm>
            <a:off x="161925" y="5819775"/>
            <a:ext cx="8086725" cy="0"/>
          </a:xfrm>
          <a:prstGeom prst="line">
            <a:avLst/>
          </a:prstGeom>
          <a:ln w="28575">
            <a:solidFill>
              <a:srgbClr val="00B0F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1" name="모서리가 둥근 직사각형 190"/>
          <p:cNvSpPr/>
          <p:nvPr/>
        </p:nvSpPr>
        <p:spPr>
          <a:xfrm>
            <a:off x="2237490" y="6072188"/>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A</a:t>
            </a:r>
            <a:endParaRPr lang="ko-KR" altLang="en-US" sz="1200" dirty="0">
              <a:solidFill>
                <a:schemeClr val="tx1"/>
              </a:solidFill>
            </a:endParaRPr>
          </a:p>
        </p:txBody>
      </p:sp>
      <p:sp>
        <p:nvSpPr>
          <p:cNvPr id="192" name="모서리가 둥근 직사각형 191"/>
          <p:cNvSpPr/>
          <p:nvPr/>
        </p:nvSpPr>
        <p:spPr>
          <a:xfrm>
            <a:off x="4256790" y="6067111"/>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B</a:t>
            </a:r>
          </a:p>
        </p:txBody>
      </p:sp>
      <p:sp>
        <p:nvSpPr>
          <p:cNvPr id="193" name="모서리가 둥근 직사각형 192"/>
          <p:cNvSpPr/>
          <p:nvPr/>
        </p:nvSpPr>
        <p:spPr>
          <a:xfrm>
            <a:off x="6240368" y="6067111"/>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C</a:t>
            </a:r>
            <a:endParaRPr lang="ko-KR" altLang="en-US" sz="1200" dirty="0">
              <a:solidFill>
                <a:schemeClr val="tx1"/>
              </a:solidFill>
            </a:endParaRPr>
          </a:p>
        </p:txBody>
      </p:sp>
      <p:sp>
        <p:nvSpPr>
          <p:cNvPr id="197" name="모서리가 둥근 사각형 설명선 196"/>
          <p:cNvSpPr/>
          <p:nvPr/>
        </p:nvSpPr>
        <p:spPr>
          <a:xfrm>
            <a:off x="7575549" y="2437714"/>
            <a:ext cx="1206686" cy="388954"/>
          </a:xfrm>
          <a:prstGeom prst="wedgeRoundRectCallout">
            <a:avLst>
              <a:gd name="adj1" fmla="val -38726"/>
              <a:gd name="adj2" fmla="val 177597"/>
              <a:gd name="adj3" fmla="val 16667"/>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t>복합우주</a:t>
            </a:r>
            <a:endParaRPr lang="ko-KR" altLang="en-US" dirty="0"/>
          </a:p>
        </p:txBody>
      </p:sp>
      <p:sp>
        <p:nvSpPr>
          <p:cNvPr id="112" name="타원 111"/>
          <p:cNvSpPr/>
          <p:nvPr/>
        </p:nvSpPr>
        <p:spPr>
          <a:xfrm>
            <a:off x="5886450" y="3101587"/>
            <a:ext cx="1866900" cy="707665"/>
          </a:xfrm>
          <a:prstGeom prst="ellipse">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98" name="모서리가 둥근 사각형 설명선 197"/>
          <p:cNvSpPr/>
          <p:nvPr/>
        </p:nvSpPr>
        <p:spPr>
          <a:xfrm>
            <a:off x="7835801" y="4082495"/>
            <a:ext cx="1206686" cy="388954"/>
          </a:xfrm>
          <a:prstGeom prst="wedgeRoundRectCallout">
            <a:avLst>
              <a:gd name="adj1" fmla="val -98717"/>
              <a:gd name="adj2" fmla="val -81984"/>
              <a:gd name="adj3" fmla="val 16667"/>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err="1"/>
              <a:t>부분우주</a:t>
            </a:r>
            <a:endParaRPr lang="ko-KR" altLang="en-US" dirty="0"/>
          </a:p>
        </p:txBody>
      </p:sp>
      <p:sp>
        <p:nvSpPr>
          <p:cNvPr id="199" name="타원 198"/>
          <p:cNvSpPr/>
          <p:nvPr/>
        </p:nvSpPr>
        <p:spPr>
          <a:xfrm>
            <a:off x="6860380" y="3778992"/>
            <a:ext cx="345895" cy="332416"/>
          </a:xfrm>
          <a:prstGeom prst="ellipse">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슬라이드 번호 개체 틀 1"/>
          <p:cNvSpPr>
            <a:spLocks noGrp="1"/>
          </p:cNvSpPr>
          <p:nvPr>
            <p:ph type="sldNum" sz="quarter" idx="12"/>
          </p:nvPr>
        </p:nvSpPr>
        <p:spPr/>
        <p:txBody>
          <a:bodyPr/>
          <a:lstStyle/>
          <a:p>
            <a:r>
              <a:rPr lang="en-US" altLang="ko-KR"/>
              <a:t>218</a:t>
            </a:r>
            <a:endParaRPr lang="ko-KR" altLang="en-US"/>
          </a:p>
        </p:txBody>
      </p:sp>
    </p:spTree>
    <p:extLst>
      <p:ext uri="{BB962C8B-B14F-4D97-AF65-F5344CB8AC3E}">
        <p14:creationId xmlns:p14="http://schemas.microsoft.com/office/powerpoint/2010/main" val="382061842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5" name="텍스트 개체 틀 4"/>
          <p:cNvSpPr>
            <a:spLocks noGrp="1"/>
          </p:cNvSpPr>
          <p:nvPr>
            <p:ph type="body" sz="quarter" idx="13"/>
          </p:nvPr>
        </p:nvSpPr>
        <p:spPr/>
        <p:txBody>
          <a:bodyPr/>
          <a:lstStyle/>
          <a:p>
            <a:r>
              <a:rPr lang="ko-KR" altLang="en-US" dirty="0"/>
              <a:t>우선기간 </a:t>
            </a:r>
            <a:r>
              <a:rPr lang="en-US" altLang="ko-KR" dirty="0"/>
              <a:t>vs </a:t>
            </a:r>
            <a:r>
              <a:rPr lang="ko-KR" altLang="en-US" dirty="0"/>
              <a:t>우선권주장기간</a:t>
            </a:r>
            <a:r>
              <a:rPr lang="en-US" altLang="ko-KR" dirty="0"/>
              <a:t>(</a:t>
            </a:r>
            <a:r>
              <a:rPr lang="ko-KR" altLang="en-US" sz="2400" dirty="0"/>
              <a:t>제</a:t>
            </a:r>
            <a:r>
              <a:rPr lang="en-US" altLang="ko-KR" sz="2400" dirty="0"/>
              <a:t>54</a:t>
            </a:r>
            <a:r>
              <a:rPr lang="ko-KR" altLang="en-US" sz="2400" dirty="0"/>
              <a:t>조제</a:t>
            </a:r>
            <a:r>
              <a:rPr lang="en-US" altLang="ko-KR" sz="2400" dirty="0"/>
              <a:t>2</a:t>
            </a:r>
            <a:r>
              <a:rPr lang="ko-KR" altLang="en-US" sz="2400" dirty="0"/>
              <a:t>항</a:t>
            </a:r>
            <a:r>
              <a:rPr lang="en-US" altLang="ko-KR" sz="2400" dirty="0"/>
              <a:t>, </a:t>
            </a:r>
            <a:r>
              <a:rPr lang="ko-KR" altLang="en-US" sz="2400" dirty="0"/>
              <a:t>제</a:t>
            </a:r>
            <a:r>
              <a:rPr lang="en-US" altLang="ko-KR" sz="2400" dirty="0"/>
              <a:t>3</a:t>
            </a:r>
            <a:r>
              <a:rPr lang="ko-KR" altLang="en-US" sz="2400" dirty="0"/>
              <a:t>항 및</a:t>
            </a:r>
            <a:r>
              <a:rPr lang="en-US" altLang="ko-KR" sz="2400" dirty="0"/>
              <a:t> </a:t>
            </a:r>
            <a:r>
              <a:rPr lang="ko-KR" altLang="en-US" sz="2400" dirty="0"/>
              <a:t>제</a:t>
            </a:r>
            <a:r>
              <a:rPr lang="en-US" altLang="ko-KR" sz="2400" dirty="0"/>
              <a:t>7</a:t>
            </a:r>
            <a:r>
              <a:rPr lang="ko-KR" altLang="en-US" sz="2400" dirty="0"/>
              <a:t>항</a:t>
            </a:r>
            <a:r>
              <a:rPr lang="en-US" altLang="ko-KR" sz="2400" dirty="0"/>
              <a:t>)</a:t>
            </a:r>
            <a:endParaRPr lang="ko-KR" altLang="en-US" dirty="0"/>
          </a:p>
        </p:txBody>
      </p:sp>
      <p:sp>
        <p:nvSpPr>
          <p:cNvPr id="33" name="TextBox 32"/>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파리조약에서는 제</a:t>
            </a:r>
            <a:r>
              <a:rPr lang="en-US" altLang="ko-KR" sz="1400" dirty="0">
                <a:solidFill>
                  <a:schemeClr val="tx2"/>
                </a:solidFill>
              </a:rPr>
              <a:t>2</a:t>
            </a:r>
            <a:r>
              <a:rPr lang="ko-KR" altLang="en-US" sz="1400" dirty="0">
                <a:solidFill>
                  <a:schemeClr val="tx2"/>
                </a:solidFill>
              </a:rPr>
              <a:t>국에 출원할 수 있는 기간인 </a:t>
            </a:r>
            <a:r>
              <a:rPr lang="ko-KR" altLang="en-US" sz="1400" dirty="0" err="1">
                <a:solidFill>
                  <a:schemeClr val="tx2"/>
                </a:solidFill>
              </a:rPr>
              <a:t>우선기간은</a:t>
            </a:r>
            <a:r>
              <a:rPr lang="ko-KR" altLang="en-US" sz="1400" dirty="0">
                <a:solidFill>
                  <a:schemeClr val="tx2"/>
                </a:solidFill>
              </a:rPr>
              <a:t> </a:t>
            </a:r>
            <a:r>
              <a:rPr lang="en-US" altLang="ko-KR" sz="1400" dirty="0">
                <a:solidFill>
                  <a:schemeClr val="tx2"/>
                </a:solidFill>
              </a:rPr>
              <a:t>1</a:t>
            </a:r>
            <a:r>
              <a:rPr lang="ko-KR" altLang="en-US" sz="1400" dirty="0">
                <a:solidFill>
                  <a:schemeClr val="tx2"/>
                </a:solidFill>
              </a:rPr>
              <a:t>년이라고 규정하고 있지만</a:t>
            </a:r>
            <a:r>
              <a:rPr lang="en-US" altLang="ko-KR" sz="1400" dirty="0">
                <a:solidFill>
                  <a:schemeClr val="tx2"/>
                </a:solidFill>
              </a:rPr>
              <a:t>(</a:t>
            </a:r>
            <a:r>
              <a:rPr lang="ko-KR" altLang="en-US" sz="1400" dirty="0">
                <a:solidFill>
                  <a:schemeClr val="tx2"/>
                </a:solidFill>
              </a:rPr>
              <a:t>파리조약 </a:t>
            </a:r>
            <a:r>
              <a:rPr lang="en-US" altLang="ko-KR" sz="1400" dirty="0">
                <a:solidFill>
                  <a:schemeClr val="tx2"/>
                </a:solidFill>
              </a:rPr>
              <a:t>4C(1)), </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국에 출원한 후 우선권주장을 할 수 있는 기간인 우선권주장기간은 동맹국의 </a:t>
            </a:r>
            <a:r>
              <a:rPr lang="ko-KR" altLang="en-US" sz="1400" dirty="0" err="1">
                <a:solidFill>
                  <a:schemeClr val="tx2"/>
                </a:solidFill>
              </a:rPr>
              <a:t>자국법에</a:t>
            </a:r>
            <a:r>
              <a:rPr lang="ko-KR" altLang="en-US" sz="1400" dirty="0">
                <a:solidFill>
                  <a:schemeClr val="tx2"/>
                </a:solidFill>
              </a:rPr>
              <a:t> 일임하고 있다</a:t>
            </a:r>
            <a:r>
              <a:rPr lang="en-US" altLang="ko-KR" sz="1400" dirty="0">
                <a:solidFill>
                  <a:schemeClr val="tx2"/>
                </a:solidFill>
              </a:rPr>
              <a:t>(</a:t>
            </a:r>
            <a:r>
              <a:rPr lang="ko-KR" altLang="en-US" sz="1400" dirty="0">
                <a:solidFill>
                  <a:schemeClr val="tx2"/>
                </a:solidFill>
              </a:rPr>
              <a:t>파리조약 </a:t>
            </a:r>
            <a:r>
              <a:rPr lang="en-US" altLang="ko-KR" sz="1400" dirty="0">
                <a:solidFill>
                  <a:schemeClr val="tx2"/>
                </a:solidFill>
              </a:rPr>
              <a:t>4D(1)). </a:t>
            </a:r>
            <a:r>
              <a:rPr lang="ko-KR" altLang="en-US" sz="1400" dirty="0">
                <a:solidFill>
                  <a:schemeClr val="tx2"/>
                </a:solidFill>
              </a:rPr>
              <a:t>그 결과 우선권주장기간은 각국에 따라 다르나</a:t>
            </a:r>
            <a:r>
              <a:rPr lang="en-US" altLang="ko-KR" sz="1400" dirty="0">
                <a:solidFill>
                  <a:schemeClr val="tx2"/>
                </a:solidFill>
              </a:rPr>
              <a:t>, </a:t>
            </a:r>
            <a:r>
              <a:rPr lang="ko-KR" altLang="en-US" sz="1400" dirty="0">
                <a:solidFill>
                  <a:schemeClr val="tx2"/>
                </a:solidFill>
              </a:rPr>
              <a:t>우리나라 특허법은 예측가능성을 높이기 위해 제</a:t>
            </a:r>
            <a:r>
              <a:rPr lang="en-US" altLang="ko-KR" sz="1400" dirty="0">
                <a:solidFill>
                  <a:schemeClr val="tx2"/>
                </a:solidFill>
              </a:rPr>
              <a:t>54</a:t>
            </a:r>
            <a:r>
              <a:rPr lang="ko-KR" altLang="en-US" sz="1400" dirty="0">
                <a:solidFill>
                  <a:schemeClr val="tx2"/>
                </a:solidFill>
              </a:rPr>
              <a:t>조제</a:t>
            </a:r>
            <a:r>
              <a:rPr lang="en-US" altLang="ko-KR" sz="1400" dirty="0">
                <a:solidFill>
                  <a:schemeClr val="tx2"/>
                </a:solidFill>
              </a:rPr>
              <a:t>3</a:t>
            </a:r>
            <a:r>
              <a:rPr lang="ko-KR" altLang="en-US" sz="1400" dirty="0">
                <a:solidFill>
                  <a:schemeClr val="tx2"/>
                </a:solidFill>
              </a:rPr>
              <a:t>항에서 “우선권주장을 하려는 자는 특허출원을 할 때 </a:t>
            </a:r>
            <a:r>
              <a:rPr lang="ko-KR" altLang="en-US" sz="1400" dirty="0" err="1">
                <a:solidFill>
                  <a:schemeClr val="tx2"/>
                </a:solidFill>
              </a:rPr>
              <a:t>출원서에</a:t>
            </a:r>
            <a:r>
              <a:rPr lang="ko-KR" altLang="en-US" sz="1400" dirty="0">
                <a:solidFill>
                  <a:schemeClr val="tx2"/>
                </a:solidFill>
              </a:rPr>
              <a:t> 그 취지</a:t>
            </a:r>
            <a:r>
              <a:rPr lang="en-US" altLang="ko-KR" sz="1400" dirty="0">
                <a:solidFill>
                  <a:schemeClr val="tx2"/>
                </a:solidFill>
              </a:rPr>
              <a:t>, </a:t>
            </a:r>
            <a:r>
              <a:rPr lang="ko-KR" altLang="en-US" sz="1400" dirty="0">
                <a:solidFill>
                  <a:schemeClr val="tx2"/>
                </a:solidFill>
              </a:rPr>
              <a:t>최초 </a:t>
            </a:r>
            <a:r>
              <a:rPr lang="ko-KR" altLang="en-US" sz="1400" dirty="0" err="1">
                <a:solidFill>
                  <a:schemeClr val="tx2"/>
                </a:solidFill>
              </a:rPr>
              <a:t>출원국가명</a:t>
            </a:r>
            <a:r>
              <a:rPr lang="ko-KR" altLang="en-US" sz="1400" dirty="0">
                <a:solidFill>
                  <a:schemeClr val="tx2"/>
                </a:solidFill>
              </a:rPr>
              <a:t> 및 출원연월일을 적어야 한다</a:t>
            </a:r>
            <a:r>
              <a:rPr lang="en-US" altLang="ko-KR" sz="1400" dirty="0">
                <a:solidFill>
                  <a:schemeClr val="tx2"/>
                </a:solidFill>
              </a:rPr>
              <a:t>."</a:t>
            </a:r>
            <a:r>
              <a:rPr lang="ko-KR" altLang="en-US" sz="1400" dirty="0">
                <a:solidFill>
                  <a:schemeClr val="tx2"/>
                </a:solidFill>
              </a:rPr>
              <a:t>고 하여 </a:t>
            </a:r>
            <a:r>
              <a:rPr lang="ko-KR" altLang="en-US" sz="1400" dirty="0">
                <a:highlight>
                  <a:srgbClr val="FFFF00"/>
                </a:highlight>
              </a:rPr>
              <a:t>출원을 할 때에 우선권주장을 하도록 하고 있다</a:t>
            </a:r>
            <a:r>
              <a:rPr lang="en-US" altLang="ko-KR" sz="1400" dirty="0">
                <a:highlight>
                  <a:srgbClr val="FFFF00"/>
                </a:highlight>
              </a:rPr>
              <a:t>. </a:t>
            </a:r>
            <a:r>
              <a:rPr lang="ko-KR" altLang="en-US" sz="1400" dirty="0">
                <a:highlight>
                  <a:srgbClr val="FFFF00"/>
                </a:highlight>
              </a:rPr>
              <a:t>한편</a:t>
            </a:r>
            <a:r>
              <a:rPr lang="en-US" altLang="ko-KR" sz="1400" dirty="0">
                <a:highlight>
                  <a:srgbClr val="FFFF00"/>
                </a:highlight>
              </a:rPr>
              <a:t>, </a:t>
            </a:r>
            <a:r>
              <a:rPr lang="ko-KR" altLang="en-US" sz="1400" dirty="0">
                <a:highlight>
                  <a:srgbClr val="FFFF00"/>
                </a:highlight>
              </a:rPr>
              <a:t>다른 동맹국에 비해 우선권주장출원을 하는 출원인에게 불이익한 점을 보완하여 우선기간은 만족하지만 우선권주장기간은 만족하지 못한 출원인을 보호하기 위하여 제</a:t>
            </a:r>
            <a:r>
              <a:rPr lang="en-US" altLang="ko-KR" sz="1400" dirty="0">
                <a:highlight>
                  <a:srgbClr val="FFFF00"/>
                </a:highlight>
              </a:rPr>
              <a:t>54</a:t>
            </a:r>
            <a:r>
              <a:rPr lang="ko-KR" altLang="en-US" sz="1400" dirty="0">
                <a:highlight>
                  <a:srgbClr val="FFFF00"/>
                </a:highlight>
              </a:rPr>
              <a:t>조제</a:t>
            </a:r>
            <a:r>
              <a:rPr lang="en-US" altLang="ko-KR" sz="1400" dirty="0">
                <a:highlight>
                  <a:srgbClr val="FFFF00"/>
                </a:highlight>
              </a:rPr>
              <a:t>7</a:t>
            </a:r>
            <a:r>
              <a:rPr lang="ko-KR" altLang="en-US" sz="1400" dirty="0">
                <a:highlight>
                  <a:srgbClr val="FFFF00"/>
                </a:highlight>
              </a:rPr>
              <a:t>항에서 우선권주장의 보정 또는 추가를 인정</a:t>
            </a:r>
            <a:r>
              <a:rPr lang="ko-KR" altLang="en-US" sz="1400" dirty="0">
                <a:solidFill>
                  <a:schemeClr val="tx2"/>
                </a:solidFill>
              </a:rPr>
              <a:t>하고 있다</a:t>
            </a:r>
            <a:r>
              <a:rPr lang="en-US" altLang="ko-KR" sz="1400" dirty="0">
                <a:solidFill>
                  <a:schemeClr val="tx2"/>
                </a:solidFill>
              </a:rPr>
              <a:t>.</a:t>
            </a:r>
          </a:p>
        </p:txBody>
      </p:sp>
      <p:cxnSp>
        <p:nvCxnSpPr>
          <p:cNvPr id="34" name="직선 연결선 33"/>
          <p:cNvCxnSpPr/>
          <p:nvPr/>
        </p:nvCxnSpPr>
        <p:spPr>
          <a:xfrm>
            <a:off x="0" y="215196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양쪽 모서리가 둥근 사각형 55"/>
          <p:cNvSpPr/>
          <p:nvPr/>
        </p:nvSpPr>
        <p:spPr>
          <a:xfrm>
            <a:off x="5748773" y="3473842"/>
            <a:ext cx="3122811" cy="375344"/>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57" name="양쪽 모서리가 둥근 사각형 56"/>
          <p:cNvSpPr/>
          <p:nvPr/>
        </p:nvSpPr>
        <p:spPr>
          <a:xfrm>
            <a:off x="5748774" y="3164931"/>
            <a:ext cx="5226100" cy="684255"/>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cxnSp>
        <p:nvCxnSpPr>
          <p:cNvPr id="60" name="직선 연결선 59"/>
          <p:cNvCxnSpPr>
            <a:stCxn id="61" idx="1"/>
          </p:cNvCxnSpPr>
          <p:nvPr/>
        </p:nvCxnSpPr>
        <p:spPr>
          <a:xfrm>
            <a:off x="5231605" y="3849187"/>
            <a:ext cx="656034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직사각형 60"/>
          <p:cNvSpPr/>
          <p:nvPr/>
        </p:nvSpPr>
        <p:spPr>
          <a:xfrm>
            <a:off x="5231605" y="3707424"/>
            <a:ext cx="1034339" cy="28352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a:t>
            </a:r>
            <a:r>
              <a:rPr lang="ko-KR" altLang="en-US" sz="1000" dirty="0" err="1">
                <a:solidFill>
                  <a:schemeClr val="tx1"/>
                </a:solidFill>
              </a:rPr>
              <a:t>일본출원</a:t>
            </a:r>
            <a:r>
              <a:rPr lang="en-US" altLang="ko-KR" sz="1000" dirty="0">
                <a:solidFill>
                  <a:schemeClr val="tx1"/>
                </a:solidFill>
              </a:rPr>
              <a:t>(X)</a:t>
            </a:r>
            <a:endParaRPr lang="ko-KR" altLang="en-US" sz="1000" dirty="0">
              <a:solidFill>
                <a:schemeClr val="tx1"/>
              </a:solidFill>
            </a:endParaRPr>
          </a:p>
        </p:txBody>
      </p:sp>
      <p:sp>
        <p:nvSpPr>
          <p:cNvPr id="63" name="직사각형 62"/>
          <p:cNvSpPr/>
          <p:nvPr/>
        </p:nvSpPr>
        <p:spPr>
          <a:xfrm>
            <a:off x="8302693" y="3707424"/>
            <a:ext cx="1164075" cy="28352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한국출원</a:t>
            </a:r>
            <a:r>
              <a:rPr lang="en-US" altLang="ko-KR" sz="1000" dirty="0">
                <a:solidFill>
                  <a:schemeClr val="tx1"/>
                </a:solidFill>
              </a:rPr>
              <a:t>(Z)</a:t>
            </a:r>
            <a:endParaRPr lang="ko-KR" altLang="en-US" sz="1000" dirty="0">
              <a:solidFill>
                <a:schemeClr val="tx1"/>
              </a:solidFill>
            </a:endParaRPr>
          </a:p>
        </p:txBody>
      </p:sp>
      <p:sp>
        <p:nvSpPr>
          <p:cNvPr id="65" name="직사각형 64"/>
          <p:cNvSpPr/>
          <p:nvPr/>
        </p:nvSpPr>
        <p:spPr>
          <a:xfrm>
            <a:off x="6778363" y="3707424"/>
            <a:ext cx="1034339" cy="28352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a:t>
            </a:r>
            <a:r>
              <a:rPr lang="ko-KR" altLang="en-US" sz="1000" dirty="0" err="1">
                <a:solidFill>
                  <a:schemeClr val="tx1"/>
                </a:solidFill>
              </a:rPr>
              <a:t>미국출원</a:t>
            </a:r>
            <a:r>
              <a:rPr lang="en-US" altLang="ko-KR" sz="1000" dirty="0">
                <a:solidFill>
                  <a:schemeClr val="tx1"/>
                </a:solidFill>
              </a:rPr>
              <a:t>(Y)</a:t>
            </a:r>
            <a:endParaRPr lang="ko-KR" altLang="en-US" sz="1000" dirty="0">
              <a:solidFill>
                <a:schemeClr val="tx1"/>
              </a:solidFill>
            </a:endParaRPr>
          </a:p>
        </p:txBody>
      </p:sp>
      <p:sp>
        <p:nvSpPr>
          <p:cNvPr id="69" name="직사각형 68"/>
          <p:cNvSpPr/>
          <p:nvPr/>
        </p:nvSpPr>
        <p:spPr>
          <a:xfrm>
            <a:off x="8302693" y="3990950"/>
            <a:ext cx="1164075"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Y </a:t>
            </a:r>
            <a:r>
              <a:rPr lang="ko-KR" altLang="en-US" sz="1000" dirty="0">
                <a:solidFill>
                  <a:schemeClr val="tx1"/>
                </a:solidFill>
              </a:rPr>
              <a:t>기초 </a:t>
            </a:r>
            <a:r>
              <a:rPr lang="ko-KR" altLang="en-US" sz="1000" dirty="0" err="1">
                <a:solidFill>
                  <a:schemeClr val="tx1"/>
                </a:solidFill>
              </a:rPr>
              <a:t>우선권주장</a:t>
            </a:r>
            <a:endParaRPr lang="ko-KR" altLang="en-US" sz="1000" dirty="0">
              <a:solidFill>
                <a:schemeClr val="tx1"/>
              </a:solidFill>
            </a:endParaRPr>
          </a:p>
        </p:txBody>
      </p:sp>
      <p:sp>
        <p:nvSpPr>
          <p:cNvPr id="74" name="직사각형 73"/>
          <p:cNvSpPr/>
          <p:nvPr/>
        </p:nvSpPr>
        <p:spPr>
          <a:xfrm>
            <a:off x="10457704" y="4286225"/>
            <a:ext cx="1034339"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증명서류</a:t>
            </a:r>
            <a:r>
              <a:rPr lang="en-US" altLang="ko-KR" sz="1000" dirty="0">
                <a:solidFill>
                  <a:schemeClr val="tx1"/>
                </a:solidFill>
              </a:rPr>
              <a:t>(X)</a:t>
            </a:r>
            <a:endParaRPr lang="ko-KR" altLang="en-US" sz="1000" dirty="0">
              <a:solidFill>
                <a:schemeClr val="tx1"/>
              </a:solidFill>
            </a:endParaRPr>
          </a:p>
        </p:txBody>
      </p:sp>
      <p:sp>
        <p:nvSpPr>
          <p:cNvPr id="75" name="직사각형 74"/>
          <p:cNvSpPr/>
          <p:nvPr/>
        </p:nvSpPr>
        <p:spPr>
          <a:xfrm>
            <a:off x="10457704" y="4569751"/>
            <a:ext cx="1034339"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증명서류</a:t>
            </a:r>
            <a:r>
              <a:rPr lang="en-US" altLang="ko-KR" sz="1000" dirty="0">
                <a:solidFill>
                  <a:schemeClr val="tx1"/>
                </a:solidFill>
              </a:rPr>
              <a:t>(Y)</a:t>
            </a:r>
            <a:endParaRPr lang="ko-KR" altLang="en-US" sz="1000" dirty="0">
              <a:solidFill>
                <a:schemeClr val="tx1"/>
              </a:solidFill>
            </a:endParaRPr>
          </a:p>
        </p:txBody>
      </p:sp>
      <p:sp>
        <p:nvSpPr>
          <p:cNvPr id="76" name="Rectangle 14"/>
          <p:cNvSpPr>
            <a:spLocks noChangeArrowheads="1"/>
          </p:cNvSpPr>
          <p:nvPr/>
        </p:nvSpPr>
        <p:spPr bwMode="auto">
          <a:xfrm flipV="1">
            <a:off x="10894926" y="3773147"/>
            <a:ext cx="162329" cy="152080"/>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78" name="직선 연결선 77"/>
          <p:cNvCxnSpPr>
            <a:stCxn id="74" idx="0"/>
            <a:endCxn id="76" idx="0"/>
          </p:cNvCxnSpPr>
          <p:nvPr/>
        </p:nvCxnSpPr>
        <p:spPr>
          <a:xfrm flipV="1">
            <a:off x="10974874" y="3925227"/>
            <a:ext cx="1217" cy="36099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0" name="직사각형 79"/>
          <p:cNvSpPr/>
          <p:nvPr/>
        </p:nvSpPr>
        <p:spPr>
          <a:xfrm>
            <a:off x="6507936" y="3207775"/>
            <a:ext cx="1034339"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a:t>
            </a:r>
          </a:p>
        </p:txBody>
      </p:sp>
      <p:sp>
        <p:nvSpPr>
          <p:cNvPr id="84" name="직사각형 83"/>
          <p:cNvSpPr/>
          <p:nvPr/>
        </p:nvSpPr>
        <p:spPr>
          <a:xfrm>
            <a:off x="7115694" y="2910141"/>
            <a:ext cx="1034339"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 </a:t>
            </a:r>
            <a:r>
              <a:rPr lang="en-US" altLang="ko-KR" sz="1000" dirty="0">
                <a:solidFill>
                  <a:schemeClr val="tx1"/>
                </a:solidFill>
              </a:rPr>
              <a:t>4</a:t>
            </a:r>
            <a:r>
              <a:rPr lang="ko-KR" altLang="en-US" sz="1000" dirty="0">
                <a:solidFill>
                  <a:schemeClr val="tx1"/>
                </a:solidFill>
              </a:rPr>
              <a:t>개월</a:t>
            </a:r>
          </a:p>
        </p:txBody>
      </p:sp>
      <p:sp>
        <p:nvSpPr>
          <p:cNvPr id="86" name="직사각형 85"/>
          <p:cNvSpPr/>
          <p:nvPr/>
        </p:nvSpPr>
        <p:spPr>
          <a:xfrm>
            <a:off x="5231605" y="4396672"/>
            <a:ext cx="1034339" cy="28352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a:t>
            </a:r>
            <a:endParaRPr lang="ko-KR" altLang="en-US" sz="1000" dirty="0">
              <a:solidFill>
                <a:schemeClr val="tx1"/>
              </a:solidFill>
            </a:endParaRPr>
          </a:p>
        </p:txBody>
      </p:sp>
      <p:sp>
        <p:nvSpPr>
          <p:cNvPr id="88" name="직사각형 87"/>
          <p:cNvSpPr/>
          <p:nvPr/>
        </p:nvSpPr>
        <p:spPr>
          <a:xfrm>
            <a:off x="5231605" y="4680199"/>
            <a:ext cx="1034339" cy="283526"/>
          </a:xfrm>
          <a:prstGeom prst="rect">
            <a:avLst/>
          </a:prstGeom>
          <a:solidFill>
            <a:srgbClr val="FFC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a:t>
            </a:r>
            <a:endParaRPr lang="ko-KR" altLang="en-US" sz="1000" dirty="0">
              <a:solidFill>
                <a:schemeClr val="tx1"/>
              </a:solidFill>
            </a:endParaRPr>
          </a:p>
        </p:txBody>
      </p:sp>
      <p:sp>
        <p:nvSpPr>
          <p:cNvPr id="96" name="직사각형 95"/>
          <p:cNvSpPr/>
          <p:nvPr/>
        </p:nvSpPr>
        <p:spPr>
          <a:xfrm>
            <a:off x="6778363" y="4396672"/>
            <a:ext cx="1034339" cy="28352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B</a:t>
            </a:r>
            <a:endParaRPr lang="ko-KR" altLang="en-US" sz="1000" dirty="0">
              <a:solidFill>
                <a:schemeClr val="tx1"/>
              </a:solidFill>
            </a:endParaRPr>
          </a:p>
        </p:txBody>
      </p:sp>
      <p:sp>
        <p:nvSpPr>
          <p:cNvPr id="98" name="직사각형 97"/>
          <p:cNvSpPr/>
          <p:nvPr/>
        </p:nvSpPr>
        <p:spPr>
          <a:xfrm>
            <a:off x="6778363" y="4680199"/>
            <a:ext cx="1034339" cy="283526"/>
          </a:xfrm>
          <a:prstGeom prst="rect">
            <a:avLst/>
          </a:prstGeom>
          <a:solidFill>
            <a:srgbClr val="FFC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B</a:t>
            </a:r>
            <a:endParaRPr lang="ko-KR" altLang="en-US" sz="1000" dirty="0">
              <a:solidFill>
                <a:schemeClr val="tx1"/>
              </a:solidFill>
            </a:endParaRPr>
          </a:p>
        </p:txBody>
      </p:sp>
      <p:sp>
        <p:nvSpPr>
          <p:cNvPr id="100" name="직사각형 99"/>
          <p:cNvSpPr/>
          <p:nvPr/>
        </p:nvSpPr>
        <p:spPr>
          <a:xfrm>
            <a:off x="8302692" y="4396672"/>
            <a:ext cx="1164075" cy="283526"/>
          </a:xfrm>
          <a:prstGeom prst="rect">
            <a:avLst/>
          </a:prstGeom>
          <a:solidFill>
            <a:srgbClr val="FFC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B, C</a:t>
            </a:r>
            <a:endParaRPr lang="ko-KR" altLang="en-US" sz="1000" dirty="0">
              <a:solidFill>
                <a:schemeClr val="tx1"/>
              </a:solidFill>
            </a:endParaRPr>
          </a:p>
        </p:txBody>
      </p:sp>
      <p:sp>
        <p:nvSpPr>
          <p:cNvPr id="101" name="직사각형 100"/>
          <p:cNvSpPr/>
          <p:nvPr/>
        </p:nvSpPr>
        <p:spPr>
          <a:xfrm>
            <a:off x="8302692" y="4680199"/>
            <a:ext cx="1164075" cy="28352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B, C</a:t>
            </a:r>
            <a:endParaRPr lang="ko-KR" altLang="en-US" sz="1000" dirty="0">
              <a:solidFill>
                <a:schemeClr val="tx1"/>
              </a:solidFill>
            </a:endParaRPr>
          </a:p>
        </p:txBody>
      </p:sp>
      <p:graphicFrame>
        <p:nvGraphicFramePr>
          <p:cNvPr id="6" name="표 5"/>
          <p:cNvGraphicFramePr>
            <a:graphicFrameLocks noGrp="1"/>
          </p:cNvGraphicFramePr>
          <p:nvPr/>
        </p:nvGraphicFramePr>
        <p:xfrm>
          <a:off x="309342" y="2614866"/>
          <a:ext cx="4384776" cy="3233483"/>
        </p:xfrm>
        <a:graphic>
          <a:graphicData uri="http://schemas.openxmlformats.org/drawingml/2006/table">
            <a:tbl>
              <a:tblPr>
                <a:tableStyleId>{8799B23B-EC83-4686-B30A-512413B5E67A}</a:tableStyleId>
              </a:tblPr>
              <a:tblGrid>
                <a:gridCol w="609600">
                  <a:extLst>
                    <a:ext uri="{9D8B030D-6E8A-4147-A177-3AD203B41FA5}">
                      <a16:colId xmlns:a16="http://schemas.microsoft.com/office/drawing/2014/main" val="3994366880"/>
                    </a:ext>
                  </a:extLst>
                </a:gridCol>
                <a:gridCol w="1543814">
                  <a:extLst>
                    <a:ext uri="{9D8B030D-6E8A-4147-A177-3AD203B41FA5}">
                      <a16:colId xmlns:a16="http://schemas.microsoft.com/office/drawing/2014/main" val="4284453186"/>
                    </a:ext>
                  </a:extLst>
                </a:gridCol>
                <a:gridCol w="2231362">
                  <a:extLst>
                    <a:ext uri="{9D8B030D-6E8A-4147-A177-3AD203B41FA5}">
                      <a16:colId xmlns:a16="http://schemas.microsoft.com/office/drawing/2014/main" val="401007987"/>
                    </a:ext>
                  </a:extLst>
                </a:gridCol>
              </a:tblGrid>
              <a:tr h="277251">
                <a:tc>
                  <a:txBody>
                    <a:bodyPr/>
                    <a:lstStyle/>
                    <a:p>
                      <a:pPr marL="0" marR="0" indent="0" algn="ctr" fontAlgn="base" latinLnBrk="0">
                        <a:lnSpc>
                          <a:spcPct val="130000"/>
                        </a:lnSpc>
                        <a:spcBef>
                          <a:spcPts val="0"/>
                        </a:spcBef>
                        <a:spcAft>
                          <a:spcPts val="0"/>
                        </a:spcAft>
                      </a:pPr>
                      <a:r>
                        <a:rPr lang="ko-KR" altLang="en-US" sz="1100" kern="1200" dirty="0"/>
                        <a:t>구 분</a:t>
                      </a:r>
                      <a:endParaRPr lang="ko-KR" altLang="en-US" sz="11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100" kern="1200" dirty="0" err="1"/>
                        <a:t>우선기간</a:t>
                      </a:r>
                      <a:endParaRPr lang="ko-KR" altLang="en-US" sz="11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100" kern="1200" dirty="0"/>
                        <a:t>우선권주장기간</a:t>
                      </a:r>
                      <a:endParaRPr lang="ko-KR" altLang="en-US" sz="11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extLst>
                  <a:ext uri="{0D108BD9-81ED-4DB2-BD59-A6C34878D82A}">
                    <a16:rowId xmlns:a16="http://schemas.microsoft.com/office/drawing/2014/main" val="1193051949"/>
                  </a:ext>
                </a:extLst>
              </a:tr>
              <a:tr h="515370">
                <a:tc>
                  <a:txBody>
                    <a:bodyPr/>
                    <a:lstStyle/>
                    <a:p>
                      <a:pPr marL="0" marR="0" indent="0" algn="ctr" fontAlgn="base" latinLnBrk="0">
                        <a:lnSpc>
                          <a:spcPct val="130000"/>
                        </a:lnSpc>
                        <a:spcBef>
                          <a:spcPts val="0"/>
                        </a:spcBef>
                        <a:spcAft>
                          <a:spcPts val="0"/>
                        </a:spcAft>
                      </a:pPr>
                      <a:r>
                        <a:rPr lang="ko-KR" altLang="en-US" sz="1100" kern="1200"/>
                        <a:t>의 의</a:t>
                      </a:r>
                      <a:endParaRPr lang="ko-KR" altLang="en-US" sz="11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100" kern="1200" dirty="0"/>
                        <a:t>제</a:t>
                      </a:r>
                      <a:r>
                        <a:rPr lang="en-US" altLang="ko-KR" sz="1100" kern="1200" dirty="0"/>
                        <a:t>2</a:t>
                      </a:r>
                      <a:r>
                        <a:rPr lang="ko-KR" altLang="en-US" sz="1100" kern="1200" dirty="0"/>
                        <a:t>국에 출원할 수 있는 기간</a:t>
                      </a:r>
                      <a:endParaRPr lang="ko-KR" altLang="en-US" sz="1100" kern="1200" dirty="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100" kern="1200"/>
                        <a:t>제</a:t>
                      </a:r>
                      <a:r>
                        <a:rPr lang="en-US" altLang="ko-KR" sz="1100" kern="1200"/>
                        <a:t>2</a:t>
                      </a:r>
                      <a:r>
                        <a:rPr lang="ko-KR" altLang="en-US" sz="1100" kern="1200"/>
                        <a:t>국에 출원한 후 우선권주장을 할 수 있는 기간</a:t>
                      </a:r>
                      <a:endParaRPr lang="ko-KR" altLang="en-US" sz="1100" kern="120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110307661"/>
                  </a:ext>
                </a:extLst>
              </a:tr>
              <a:tr h="277251">
                <a:tc>
                  <a:txBody>
                    <a:bodyPr/>
                    <a:lstStyle/>
                    <a:p>
                      <a:pPr marL="0" marR="0" indent="0" algn="ctr" fontAlgn="base" latinLnBrk="0">
                        <a:lnSpc>
                          <a:spcPct val="130000"/>
                        </a:lnSpc>
                        <a:spcBef>
                          <a:spcPts val="0"/>
                        </a:spcBef>
                        <a:spcAft>
                          <a:spcPts val="0"/>
                        </a:spcAft>
                      </a:pPr>
                      <a:r>
                        <a:rPr lang="ko-KR" altLang="en-US" sz="1100" kern="1200"/>
                        <a:t>파리조약</a:t>
                      </a:r>
                      <a:endParaRPr lang="ko-KR" altLang="en-US" sz="11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en-US" altLang="ko-KR" sz="1100" kern="1200" dirty="0"/>
                        <a:t>1</a:t>
                      </a:r>
                      <a:r>
                        <a:rPr lang="ko-KR" altLang="en-US" sz="1100" kern="1200" dirty="0"/>
                        <a:t>년</a:t>
                      </a:r>
                      <a:endParaRPr lang="ko-KR" altLang="en-US" sz="1100" kern="1200" dirty="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100" kern="1200"/>
                        <a:t>동맹국의 자국법에 일임</a:t>
                      </a:r>
                      <a:endParaRPr lang="ko-KR" altLang="en-US" sz="1100" kern="120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3211356548"/>
                  </a:ext>
                </a:extLst>
              </a:tr>
              <a:tr h="2163611">
                <a:tc>
                  <a:txBody>
                    <a:bodyPr/>
                    <a:lstStyle/>
                    <a:p>
                      <a:pPr marL="0" marR="0" indent="0" algn="ctr" fontAlgn="base" latinLnBrk="0">
                        <a:lnSpc>
                          <a:spcPct val="130000"/>
                        </a:lnSpc>
                        <a:spcBef>
                          <a:spcPts val="0"/>
                        </a:spcBef>
                        <a:spcAft>
                          <a:spcPts val="0"/>
                        </a:spcAft>
                      </a:pPr>
                      <a:r>
                        <a:rPr lang="ko-KR" altLang="en-US" sz="1100" kern="1200" dirty="0"/>
                        <a:t>특허법 태도</a:t>
                      </a:r>
                      <a:endParaRPr lang="ko-KR" altLang="en-US" sz="1100" kern="1200" dirty="0">
                        <a:solidFill>
                          <a:schemeClr val="tx2"/>
                        </a:solidFill>
                        <a:latin typeface="+mn-lt"/>
                        <a:ea typeface="+mn-ea"/>
                        <a:cs typeface="+mn-cs"/>
                      </a:endParaRPr>
                    </a:p>
                  </a:txBody>
                  <a:tcPr marL="17907" marR="17907" marT="17907" marB="17907" anchor="ctr"/>
                </a:tc>
                <a:tc gridSpan="2">
                  <a:txBody>
                    <a:bodyPr/>
                    <a:lstStyle/>
                    <a:p>
                      <a:pPr marL="17780" marR="17780" indent="0" algn="just" fontAlgn="base" latinLnBrk="1">
                        <a:lnSpc>
                          <a:spcPct val="130000"/>
                        </a:lnSpc>
                        <a:spcBef>
                          <a:spcPts val="0"/>
                        </a:spcBef>
                        <a:spcAft>
                          <a:spcPts val="0"/>
                        </a:spcAft>
                      </a:pPr>
                      <a:r>
                        <a:rPr lang="en-US" altLang="ko-KR" sz="1100" kern="1200" dirty="0"/>
                        <a:t>1. </a:t>
                      </a:r>
                      <a:r>
                        <a:rPr lang="ko-KR" altLang="en-US" sz="1100" kern="1200" dirty="0"/>
                        <a:t>출원과 동시에 우선권주장을 하도록 함</a:t>
                      </a:r>
                      <a:r>
                        <a:rPr lang="en-US" altLang="ko-KR" sz="1100" kern="1200" dirty="0"/>
                        <a:t>(</a:t>
                      </a:r>
                      <a:r>
                        <a:rPr lang="ko-KR" altLang="en-US" sz="1100" kern="1200" dirty="0"/>
                        <a:t>法 </a:t>
                      </a:r>
                      <a:r>
                        <a:rPr lang="en-US" altLang="ko-KR" sz="1100" kern="1200" dirty="0"/>
                        <a:t>54</a:t>
                      </a:r>
                      <a:r>
                        <a:rPr lang="ko-KR" altLang="en-US" sz="1100" kern="1200" dirty="0"/>
                        <a:t>③</a:t>
                      </a:r>
                      <a:r>
                        <a:rPr lang="en-US" altLang="ko-KR" sz="1100" kern="1200" dirty="0"/>
                        <a:t>)</a:t>
                      </a:r>
                      <a:endParaRPr lang="ko-KR" altLang="en-US" sz="1100" kern="1200" dirty="0"/>
                    </a:p>
                    <a:p>
                      <a:pPr marL="17780" marR="17780" indent="0" algn="just" fontAlgn="base" latinLnBrk="1">
                        <a:lnSpc>
                          <a:spcPct val="130000"/>
                        </a:lnSpc>
                        <a:spcBef>
                          <a:spcPts val="0"/>
                        </a:spcBef>
                        <a:spcAft>
                          <a:spcPts val="0"/>
                        </a:spcAft>
                      </a:pPr>
                      <a:r>
                        <a:rPr lang="en-US" altLang="ko-KR" sz="1100" kern="1200" dirty="0"/>
                        <a:t>2. </a:t>
                      </a:r>
                      <a:r>
                        <a:rPr lang="ko-KR" altLang="en-US" sz="1100" kern="1200" dirty="0"/>
                        <a:t>단점</a:t>
                      </a:r>
                      <a:r>
                        <a:rPr lang="en-US" altLang="ko-KR" sz="1100" kern="1200" dirty="0"/>
                        <a:t>(</a:t>
                      </a:r>
                      <a:r>
                        <a:rPr lang="ko-KR" altLang="en-US" sz="1100" kern="1200" dirty="0" err="1"/>
                        <a:t>출원인에게</a:t>
                      </a:r>
                      <a:r>
                        <a:rPr lang="ko-KR" altLang="en-US" sz="1100" kern="1200" dirty="0"/>
                        <a:t> 불이익</a:t>
                      </a:r>
                      <a:r>
                        <a:rPr lang="en-US" altLang="ko-KR" sz="1100" kern="1200" dirty="0"/>
                        <a:t>)</a:t>
                      </a:r>
                      <a:r>
                        <a:rPr lang="ko-KR" altLang="en-US" sz="1100" kern="1200" dirty="0"/>
                        <a:t>의 보완 </a:t>
                      </a:r>
                    </a:p>
                    <a:p>
                      <a:pPr marL="17780" marR="17780" indent="0" algn="just" fontAlgn="base" latinLnBrk="1">
                        <a:lnSpc>
                          <a:spcPct val="130000"/>
                        </a:lnSpc>
                        <a:spcBef>
                          <a:spcPts val="0"/>
                        </a:spcBef>
                        <a:spcAft>
                          <a:spcPts val="0"/>
                        </a:spcAft>
                      </a:pPr>
                      <a:r>
                        <a:rPr lang="ko-KR" altLang="en-US" sz="1100" kern="1200" dirty="0"/>
                        <a:t>○ 우선권주장의 보정 또는 추가</a:t>
                      </a:r>
                      <a:r>
                        <a:rPr lang="en-US" altLang="ko-KR" sz="1100" kern="1200" dirty="0"/>
                        <a:t>(</a:t>
                      </a:r>
                      <a:r>
                        <a:rPr lang="ko-KR" altLang="en-US" sz="1100" kern="1200" dirty="0"/>
                        <a:t>法 </a:t>
                      </a:r>
                      <a:r>
                        <a:rPr lang="en-US" altLang="ko-KR" sz="1100" kern="1200" dirty="0"/>
                        <a:t>54</a:t>
                      </a:r>
                      <a:r>
                        <a:rPr lang="ko-KR" altLang="en-US" sz="1100" kern="1200" dirty="0"/>
                        <a:t>⑦</a:t>
                      </a:r>
                      <a:r>
                        <a:rPr lang="en-US" altLang="ko-KR" sz="1100" kern="1200" dirty="0"/>
                        <a:t>)</a:t>
                      </a:r>
                      <a:r>
                        <a:rPr lang="ko-KR" altLang="en-US" sz="1100" kern="1200" dirty="0"/>
                        <a:t>의 인정</a:t>
                      </a:r>
                    </a:p>
                    <a:p>
                      <a:pPr marL="17780" marR="17780" indent="0" algn="just" fontAlgn="base" latinLnBrk="1">
                        <a:lnSpc>
                          <a:spcPct val="130000"/>
                        </a:lnSpc>
                        <a:spcBef>
                          <a:spcPts val="0"/>
                        </a:spcBef>
                        <a:spcAft>
                          <a:spcPts val="0"/>
                        </a:spcAft>
                      </a:pPr>
                      <a:r>
                        <a:rPr lang="ko-KR" altLang="en-US" sz="1100" kern="1200" dirty="0"/>
                        <a:t>○ 요건</a:t>
                      </a:r>
                    </a:p>
                    <a:p>
                      <a:pPr marL="17780" marR="17780" indent="0" algn="just" fontAlgn="base" latinLnBrk="1">
                        <a:lnSpc>
                          <a:spcPct val="130000"/>
                        </a:lnSpc>
                        <a:spcBef>
                          <a:spcPts val="0"/>
                        </a:spcBef>
                        <a:spcAft>
                          <a:spcPts val="0"/>
                        </a:spcAft>
                      </a:pPr>
                      <a:r>
                        <a:rPr lang="en-US" altLang="ko-KR" sz="1100" kern="1200" dirty="0"/>
                        <a:t>- </a:t>
                      </a:r>
                      <a:r>
                        <a:rPr lang="ko-KR" altLang="en-US" sz="1100" kern="1200" dirty="0"/>
                        <a:t>조약우선권주장을 한 자 </a:t>
                      </a:r>
                      <a:r>
                        <a:rPr lang="en-US" altLang="ko-KR" sz="1100" kern="1200" dirty="0"/>
                        <a:t>&amp; </a:t>
                      </a:r>
                      <a:r>
                        <a:rPr lang="ko-KR" altLang="en-US" sz="1100" kern="1200" dirty="0" err="1"/>
                        <a:t>우선기간</a:t>
                      </a:r>
                      <a:r>
                        <a:rPr lang="ko-KR" altLang="en-US" sz="1100" kern="1200" dirty="0"/>
                        <a:t> 만족</a:t>
                      </a:r>
                    </a:p>
                    <a:p>
                      <a:pPr marL="17780" marR="17780" indent="0" algn="just" fontAlgn="base" latinLnBrk="1">
                        <a:lnSpc>
                          <a:spcPct val="130000"/>
                        </a:lnSpc>
                        <a:spcBef>
                          <a:spcPts val="0"/>
                        </a:spcBef>
                        <a:spcAft>
                          <a:spcPts val="0"/>
                        </a:spcAft>
                      </a:pPr>
                      <a:r>
                        <a:rPr lang="ko-KR" altLang="en-US" sz="1100" kern="1200" dirty="0"/>
                        <a:t>○ 효과</a:t>
                      </a:r>
                    </a:p>
                    <a:p>
                      <a:pPr marL="17780" marR="17780" indent="0" algn="just" fontAlgn="base" latinLnBrk="1">
                        <a:lnSpc>
                          <a:spcPct val="130000"/>
                        </a:lnSpc>
                        <a:spcBef>
                          <a:spcPts val="0"/>
                        </a:spcBef>
                        <a:spcAft>
                          <a:spcPts val="0"/>
                        </a:spcAft>
                      </a:pPr>
                      <a:r>
                        <a:rPr lang="en-US" altLang="ko-KR" sz="1100" kern="1200" dirty="0"/>
                        <a:t>- </a:t>
                      </a:r>
                      <a:r>
                        <a:rPr lang="ko-KR" altLang="en-US" sz="1100" kern="1200" dirty="0"/>
                        <a:t>최우선일로부터 </a:t>
                      </a:r>
                      <a:r>
                        <a:rPr lang="en-US" altLang="ko-KR" sz="1100" kern="1200" dirty="0"/>
                        <a:t>1</a:t>
                      </a:r>
                      <a:r>
                        <a:rPr lang="ko-KR" altLang="en-US" sz="1100" kern="1200" dirty="0"/>
                        <a:t>년 </a:t>
                      </a:r>
                      <a:r>
                        <a:rPr lang="en-US" altLang="ko-KR" sz="1100" kern="1200" dirty="0"/>
                        <a:t>4</a:t>
                      </a:r>
                      <a:r>
                        <a:rPr lang="ko-KR" altLang="en-US" sz="1100" kern="1200" dirty="0"/>
                        <a:t>개월 이내 </a:t>
                      </a:r>
                      <a:r>
                        <a:rPr lang="en-US" altLang="ko-KR" sz="1100" kern="1200" dirty="0"/>
                        <a:t>- </a:t>
                      </a:r>
                      <a:r>
                        <a:rPr lang="ko-KR" altLang="en-US" sz="1100" kern="1200" dirty="0"/>
                        <a:t>우선권주장의 보정 또는 추가</a:t>
                      </a:r>
                    </a:p>
                    <a:p>
                      <a:pPr marL="85725" marR="17780" indent="-68263" algn="just" fontAlgn="base" latinLnBrk="1">
                        <a:lnSpc>
                          <a:spcPct val="130000"/>
                        </a:lnSpc>
                        <a:spcBef>
                          <a:spcPts val="0"/>
                        </a:spcBef>
                        <a:spcAft>
                          <a:spcPts val="0"/>
                        </a:spcAft>
                      </a:pPr>
                      <a:r>
                        <a:rPr lang="en-US" altLang="ko-KR" sz="1100" kern="1200" dirty="0"/>
                        <a:t>- </a:t>
                      </a:r>
                      <a:r>
                        <a:rPr lang="ko-KR" altLang="en-US" sz="1100" kern="1200" dirty="0"/>
                        <a:t>최우선일로부터 </a:t>
                      </a:r>
                      <a:r>
                        <a:rPr lang="en-US" altLang="ko-KR" sz="1100" kern="1200" dirty="0"/>
                        <a:t>1</a:t>
                      </a:r>
                      <a:r>
                        <a:rPr lang="ko-KR" altLang="en-US" sz="1100" kern="1200" dirty="0"/>
                        <a:t>년 </a:t>
                      </a:r>
                      <a:r>
                        <a:rPr lang="en-US" altLang="ko-KR" sz="1100" kern="1200" dirty="0"/>
                        <a:t>4</a:t>
                      </a:r>
                      <a:r>
                        <a:rPr lang="ko-KR" altLang="en-US" sz="1100" kern="1200" dirty="0"/>
                        <a:t>개월 이후 </a:t>
                      </a:r>
                      <a:r>
                        <a:rPr lang="en-US" altLang="ko-KR" sz="1100" kern="1200" dirty="0"/>
                        <a:t>- </a:t>
                      </a:r>
                      <a:r>
                        <a:rPr lang="ko-KR" altLang="en-US" sz="1100" kern="1200" dirty="0"/>
                        <a:t>명백한 오기의 정정 또는 우선권주장의 취하</a:t>
                      </a:r>
                      <a:endParaRPr lang="ko-KR" altLang="en-US" sz="1100" kern="1200" dirty="0">
                        <a:solidFill>
                          <a:schemeClr val="tx2"/>
                        </a:solidFill>
                        <a:latin typeface="+mn-lt"/>
                        <a:ea typeface="+mn-ea"/>
                        <a:cs typeface="+mn-cs"/>
                      </a:endParaRPr>
                    </a:p>
                  </a:txBody>
                  <a:tcPr marL="17907" marR="17907" marT="17907" marB="17907" anchor="ctr"/>
                </a:tc>
                <a:tc hMerge="1">
                  <a:txBody>
                    <a:bodyPr/>
                    <a:lstStyle/>
                    <a:p>
                      <a:pPr latinLnBrk="1"/>
                      <a:endParaRPr lang="ko-KR" altLang="en-US"/>
                    </a:p>
                  </a:txBody>
                  <a:tcPr/>
                </a:tc>
                <a:extLst>
                  <a:ext uri="{0D108BD9-81ED-4DB2-BD59-A6C34878D82A}">
                    <a16:rowId xmlns:a16="http://schemas.microsoft.com/office/drawing/2014/main" val="3673812923"/>
                  </a:ext>
                </a:extLst>
              </a:tr>
            </a:tbl>
          </a:graphicData>
        </a:graphic>
      </p:graphicFrame>
      <p:sp>
        <p:nvSpPr>
          <p:cNvPr id="106" name="직사각형 105"/>
          <p:cNvSpPr/>
          <p:nvPr/>
        </p:nvSpPr>
        <p:spPr>
          <a:xfrm>
            <a:off x="6029485" y="5215865"/>
            <a:ext cx="1034339"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제</a:t>
            </a:r>
            <a:r>
              <a:rPr lang="en-US" altLang="ko-KR" sz="1000" dirty="0">
                <a:solidFill>
                  <a:schemeClr val="tx1"/>
                </a:solidFill>
              </a:rPr>
              <a:t>3</a:t>
            </a:r>
            <a:r>
              <a:rPr lang="ko-KR" altLang="en-US" sz="1000" dirty="0">
                <a:solidFill>
                  <a:schemeClr val="tx1"/>
                </a:solidFill>
              </a:rPr>
              <a:t>자의 </a:t>
            </a:r>
            <a:r>
              <a:rPr lang="en-US" altLang="ko-KR" sz="1000" dirty="0">
                <a:solidFill>
                  <a:schemeClr val="tx1"/>
                </a:solidFill>
              </a:rPr>
              <a:t>A </a:t>
            </a:r>
            <a:r>
              <a:rPr lang="ko-KR" altLang="en-US" sz="1000" dirty="0">
                <a:solidFill>
                  <a:schemeClr val="tx1"/>
                </a:solidFill>
              </a:rPr>
              <a:t>공지</a:t>
            </a:r>
          </a:p>
        </p:txBody>
      </p:sp>
      <p:sp>
        <p:nvSpPr>
          <p:cNvPr id="108" name="Rectangle 14"/>
          <p:cNvSpPr>
            <a:spLocks noChangeArrowheads="1"/>
          </p:cNvSpPr>
          <p:nvPr/>
        </p:nvSpPr>
        <p:spPr bwMode="auto">
          <a:xfrm flipV="1">
            <a:off x="6466707" y="3773147"/>
            <a:ext cx="162329" cy="152080"/>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09" name="직선 연결선 108"/>
          <p:cNvCxnSpPr>
            <a:stCxn id="106" idx="0"/>
            <a:endCxn id="108" idx="0"/>
          </p:cNvCxnSpPr>
          <p:nvPr/>
        </p:nvCxnSpPr>
        <p:spPr>
          <a:xfrm flipV="1">
            <a:off x="6546655" y="3925227"/>
            <a:ext cx="1217" cy="129063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0" name="직사각형 109"/>
          <p:cNvSpPr/>
          <p:nvPr/>
        </p:nvSpPr>
        <p:spPr>
          <a:xfrm>
            <a:off x="9230411" y="5215865"/>
            <a:ext cx="1664516" cy="283526"/>
          </a:xfrm>
          <a:prstGeom prst="rect">
            <a:avLst/>
          </a:prstGeom>
          <a:solidFill>
            <a:srgbClr val="00B0F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bg1"/>
                </a:solidFill>
              </a:rPr>
              <a:t>X </a:t>
            </a:r>
            <a:r>
              <a:rPr lang="ko-KR" altLang="en-US" sz="1000" dirty="0">
                <a:solidFill>
                  <a:schemeClr val="bg1"/>
                </a:solidFill>
              </a:rPr>
              <a:t>기초 우선권주장의 추가</a:t>
            </a:r>
          </a:p>
        </p:txBody>
      </p:sp>
      <p:sp>
        <p:nvSpPr>
          <p:cNvPr id="111" name="Rectangle 14"/>
          <p:cNvSpPr>
            <a:spLocks noChangeArrowheads="1"/>
          </p:cNvSpPr>
          <p:nvPr/>
        </p:nvSpPr>
        <p:spPr bwMode="auto">
          <a:xfrm flipV="1">
            <a:off x="9982721" y="3773147"/>
            <a:ext cx="162329" cy="152080"/>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12" name="직선 연결선 111"/>
          <p:cNvCxnSpPr>
            <a:stCxn id="110" idx="0"/>
            <a:endCxn id="111" idx="0"/>
          </p:cNvCxnSpPr>
          <p:nvPr/>
        </p:nvCxnSpPr>
        <p:spPr>
          <a:xfrm flipV="1">
            <a:off x="10062669" y="3925227"/>
            <a:ext cx="1217" cy="129063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3" name="TextBox 112"/>
          <p:cNvSpPr txBox="1"/>
          <p:nvPr/>
        </p:nvSpPr>
        <p:spPr>
          <a:xfrm>
            <a:off x="7063824" y="3183637"/>
            <a:ext cx="370870" cy="369332"/>
          </a:xfrm>
          <a:prstGeom prst="rect">
            <a:avLst/>
          </a:prstGeom>
          <a:noFill/>
        </p:spPr>
        <p:txBody>
          <a:bodyPr wrap="square" rtlCol="0">
            <a:spAutoFit/>
          </a:bodyPr>
          <a:lstStyle/>
          <a:p>
            <a:pPr fontAlgn="base"/>
            <a:r>
              <a:rPr lang="ko-KR" altLang="en-US" dirty="0">
                <a:solidFill>
                  <a:srgbClr val="FF0000"/>
                </a:solidFill>
              </a:rPr>
              <a:t>❷</a:t>
            </a:r>
          </a:p>
        </p:txBody>
      </p:sp>
      <p:sp>
        <p:nvSpPr>
          <p:cNvPr id="114" name="TextBox 113"/>
          <p:cNvSpPr txBox="1"/>
          <p:nvPr/>
        </p:nvSpPr>
        <p:spPr>
          <a:xfrm>
            <a:off x="8077284" y="4046906"/>
            <a:ext cx="370870" cy="369332"/>
          </a:xfrm>
          <a:prstGeom prst="rect">
            <a:avLst/>
          </a:prstGeom>
          <a:noFill/>
        </p:spPr>
        <p:txBody>
          <a:bodyPr wrap="square" rtlCol="0">
            <a:spAutoFit/>
          </a:bodyPr>
          <a:lstStyle/>
          <a:p>
            <a:pPr fontAlgn="base"/>
            <a:r>
              <a:rPr lang="ko-KR" altLang="en-US" dirty="0">
                <a:solidFill>
                  <a:srgbClr val="FF0000"/>
                </a:solidFill>
              </a:rPr>
              <a:t>❶</a:t>
            </a:r>
          </a:p>
        </p:txBody>
      </p:sp>
      <p:cxnSp>
        <p:nvCxnSpPr>
          <p:cNvPr id="115" name="직선 연결선 114"/>
          <p:cNvCxnSpPr/>
          <p:nvPr/>
        </p:nvCxnSpPr>
        <p:spPr>
          <a:xfrm>
            <a:off x="4966281" y="3178567"/>
            <a:ext cx="0" cy="226020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219</a:t>
            </a:r>
            <a:endParaRPr lang="ko-KR" altLang="en-US" dirty="0"/>
          </a:p>
        </p:txBody>
      </p:sp>
    </p:spTree>
    <p:extLst>
      <p:ext uri="{BB962C8B-B14F-4D97-AF65-F5344CB8AC3E}">
        <p14:creationId xmlns:p14="http://schemas.microsoft.com/office/powerpoint/2010/main" val="3777726038"/>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직사각형 98"/>
          <p:cNvSpPr/>
          <p:nvPr/>
        </p:nvSpPr>
        <p:spPr>
          <a:xfrm>
            <a:off x="742949" y="2980668"/>
            <a:ext cx="11163127" cy="1123987"/>
          </a:xfrm>
          <a:prstGeom prst="rect">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모서리가 둥근 직사각형 99"/>
          <p:cNvSpPr/>
          <p:nvPr/>
        </p:nvSpPr>
        <p:spPr>
          <a:xfrm>
            <a:off x="304800" y="3173765"/>
            <a:ext cx="885825" cy="712546"/>
          </a:xfrm>
          <a:prstGeom prst="round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lumMod val="50000"/>
                  </a:schemeClr>
                </a:solidFill>
              </a:rPr>
              <a:t>제</a:t>
            </a:r>
            <a:r>
              <a:rPr lang="en-US" altLang="ko-KR" sz="1400" dirty="0">
                <a:solidFill>
                  <a:schemeClr val="bg1">
                    <a:lumMod val="50000"/>
                  </a:schemeClr>
                </a:solidFill>
              </a:rPr>
              <a:t>54</a:t>
            </a:r>
            <a:r>
              <a:rPr lang="ko-KR" altLang="en-US" sz="1400" dirty="0">
                <a:solidFill>
                  <a:schemeClr val="bg1">
                    <a:lumMod val="50000"/>
                  </a:schemeClr>
                </a:solidFill>
              </a:rPr>
              <a:t>조제</a:t>
            </a:r>
            <a:r>
              <a:rPr lang="en-US" altLang="ko-KR" sz="1400" dirty="0">
                <a:solidFill>
                  <a:schemeClr val="bg1">
                    <a:lumMod val="50000"/>
                  </a:schemeClr>
                </a:solidFill>
              </a:rPr>
              <a:t>5</a:t>
            </a:r>
            <a:r>
              <a:rPr lang="ko-KR" altLang="en-US" sz="1400" dirty="0">
                <a:solidFill>
                  <a:schemeClr val="bg1">
                    <a:lumMod val="50000"/>
                  </a:schemeClr>
                </a:solidFill>
              </a:rPr>
              <a:t>항</a:t>
            </a:r>
            <a:endParaRPr lang="en-US" altLang="ko-KR" sz="1400" dirty="0">
              <a:solidFill>
                <a:schemeClr val="bg1">
                  <a:lumMod val="50000"/>
                </a:schemeClr>
              </a:solidFill>
            </a:endParaRPr>
          </a:p>
          <a:p>
            <a:pPr algn="ctr"/>
            <a:r>
              <a:rPr lang="ko-KR" altLang="en-US" sz="1400" dirty="0">
                <a:solidFill>
                  <a:schemeClr val="bg1">
                    <a:lumMod val="50000"/>
                  </a:schemeClr>
                </a:solidFill>
              </a:rPr>
              <a:t>제</a:t>
            </a:r>
            <a:r>
              <a:rPr lang="en-US" altLang="ko-KR" sz="1400" dirty="0">
                <a:solidFill>
                  <a:schemeClr val="bg1">
                    <a:lumMod val="50000"/>
                  </a:schemeClr>
                </a:solidFill>
              </a:rPr>
              <a:t>1</a:t>
            </a:r>
            <a:r>
              <a:rPr lang="ko-KR" altLang="en-US" sz="1400" dirty="0">
                <a:solidFill>
                  <a:schemeClr val="bg1">
                    <a:lumMod val="50000"/>
                  </a:schemeClr>
                </a:solidFill>
              </a:rPr>
              <a:t>호</a:t>
            </a:r>
          </a:p>
        </p:txBody>
      </p:sp>
      <p:sp>
        <p:nvSpPr>
          <p:cNvPr id="97" name="직사각형 96"/>
          <p:cNvSpPr/>
          <p:nvPr/>
        </p:nvSpPr>
        <p:spPr>
          <a:xfrm>
            <a:off x="742949" y="4133576"/>
            <a:ext cx="11163127" cy="1302380"/>
          </a:xfrm>
          <a:prstGeom prst="rect">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8" name="모서리가 둥근 직사각형 97"/>
          <p:cNvSpPr/>
          <p:nvPr/>
        </p:nvSpPr>
        <p:spPr>
          <a:xfrm>
            <a:off x="304800" y="4431252"/>
            <a:ext cx="885825" cy="712546"/>
          </a:xfrm>
          <a:prstGeom prst="round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lumMod val="50000"/>
                  </a:schemeClr>
                </a:solidFill>
              </a:rPr>
              <a:t>제</a:t>
            </a:r>
            <a:r>
              <a:rPr lang="en-US" altLang="ko-KR" sz="1400" dirty="0">
                <a:solidFill>
                  <a:schemeClr val="bg1">
                    <a:lumMod val="50000"/>
                  </a:schemeClr>
                </a:solidFill>
              </a:rPr>
              <a:t>54</a:t>
            </a:r>
            <a:r>
              <a:rPr lang="ko-KR" altLang="en-US" sz="1400" dirty="0">
                <a:solidFill>
                  <a:schemeClr val="bg1">
                    <a:lumMod val="50000"/>
                  </a:schemeClr>
                </a:solidFill>
              </a:rPr>
              <a:t>조제</a:t>
            </a:r>
            <a:r>
              <a:rPr lang="en-US" altLang="ko-KR" sz="1400" dirty="0">
                <a:solidFill>
                  <a:schemeClr val="bg1">
                    <a:lumMod val="50000"/>
                  </a:schemeClr>
                </a:solidFill>
              </a:rPr>
              <a:t>5</a:t>
            </a:r>
            <a:r>
              <a:rPr lang="ko-KR" altLang="en-US" sz="1400" dirty="0">
                <a:solidFill>
                  <a:schemeClr val="bg1">
                    <a:lumMod val="50000"/>
                  </a:schemeClr>
                </a:solidFill>
              </a:rPr>
              <a:t>항</a:t>
            </a:r>
            <a:endParaRPr lang="en-US" altLang="ko-KR" sz="1400" dirty="0">
              <a:solidFill>
                <a:schemeClr val="bg1">
                  <a:lumMod val="50000"/>
                </a:schemeClr>
              </a:solidFill>
            </a:endParaRPr>
          </a:p>
          <a:p>
            <a:pPr algn="ctr"/>
            <a:r>
              <a:rPr lang="ko-KR" altLang="en-US" sz="1400" dirty="0">
                <a:solidFill>
                  <a:schemeClr val="bg1">
                    <a:lumMod val="50000"/>
                  </a:schemeClr>
                </a:solidFill>
              </a:rPr>
              <a:t>제</a:t>
            </a:r>
            <a:r>
              <a:rPr lang="en-US" altLang="ko-KR" sz="1400" dirty="0">
                <a:solidFill>
                  <a:schemeClr val="bg1">
                    <a:lumMod val="50000"/>
                  </a:schemeClr>
                </a:solidFill>
              </a:rPr>
              <a:t>2</a:t>
            </a:r>
            <a:r>
              <a:rPr lang="ko-KR" altLang="en-US" sz="1400" dirty="0">
                <a:solidFill>
                  <a:schemeClr val="bg1">
                    <a:lumMod val="50000"/>
                  </a:schemeClr>
                </a:solidFill>
              </a:rPr>
              <a:t>호</a:t>
            </a:r>
          </a:p>
        </p:txBody>
      </p:sp>
      <p:sp>
        <p:nvSpPr>
          <p:cNvPr id="95" name="직사각형 94"/>
          <p:cNvSpPr/>
          <p:nvPr/>
        </p:nvSpPr>
        <p:spPr>
          <a:xfrm>
            <a:off x="742949" y="5466542"/>
            <a:ext cx="11163127" cy="1315257"/>
          </a:xfrm>
          <a:prstGeom prst="rect">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양쪽 모서리가 둥근 사각형 64"/>
          <p:cNvSpPr/>
          <p:nvPr/>
        </p:nvSpPr>
        <p:spPr>
          <a:xfrm>
            <a:off x="2654375" y="4434190"/>
            <a:ext cx="7737400" cy="297741"/>
          </a:xfrm>
          <a:prstGeom prst="round2SameRect">
            <a:avLst>
              <a:gd name="adj1" fmla="val 50000"/>
              <a:gd name="adj2" fmla="val 0"/>
            </a:avLst>
          </a:prstGeom>
          <a:pattFill prst="dkVert">
            <a:fgClr>
              <a:schemeClr val="accent4">
                <a:lumMod val="60000"/>
                <a:lumOff val="4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양쪽 모서리가 둥근 사각형 5"/>
          <p:cNvSpPr/>
          <p:nvPr/>
        </p:nvSpPr>
        <p:spPr>
          <a:xfrm>
            <a:off x="2654375" y="3271096"/>
            <a:ext cx="7737400" cy="297741"/>
          </a:xfrm>
          <a:prstGeom prst="round2SameRect">
            <a:avLst>
              <a:gd name="adj1" fmla="val 50000"/>
              <a:gd name="adj2" fmla="val 0"/>
            </a:avLst>
          </a:prstGeom>
          <a:pattFill prst="dkVert">
            <a:fgClr>
              <a:schemeClr val="accent4">
                <a:lumMod val="60000"/>
                <a:lumOff val="4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제목 3"/>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5" name="텍스트 개체 틀 4"/>
          <p:cNvSpPr>
            <a:spLocks noGrp="1"/>
          </p:cNvSpPr>
          <p:nvPr>
            <p:ph type="body" sz="quarter" idx="13"/>
          </p:nvPr>
        </p:nvSpPr>
        <p:spPr/>
        <p:txBody>
          <a:bodyPr/>
          <a:lstStyle/>
          <a:p>
            <a:r>
              <a:rPr lang="ko-KR" altLang="en-US" dirty="0"/>
              <a:t>우선권증명서류의 제출기간</a:t>
            </a:r>
            <a:r>
              <a:rPr lang="en-US" altLang="ko-KR" dirty="0"/>
              <a:t>(</a:t>
            </a:r>
            <a:r>
              <a:rPr lang="ko-KR" altLang="en-US" dirty="0"/>
              <a:t>제</a:t>
            </a:r>
            <a:r>
              <a:rPr lang="en-US" altLang="ko-KR" dirty="0"/>
              <a:t>54</a:t>
            </a:r>
            <a:r>
              <a:rPr lang="ko-KR" altLang="en-US" dirty="0"/>
              <a:t>조제</a:t>
            </a:r>
            <a:r>
              <a:rPr lang="en-US" altLang="ko-KR" dirty="0"/>
              <a:t>4</a:t>
            </a:r>
            <a:r>
              <a:rPr lang="ko-KR" altLang="en-US" dirty="0"/>
              <a:t>항</a:t>
            </a:r>
            <a:r>
              <a:rPr lang="en-US" altLang="ko-KR" dirty="0"/>
              <a:t> </a:t>
            </a:r>
            <a:r>
              <a:rPr lang="ko-KR" altLang="en-US" dirty="0"/>
              <a:t>내지 제</a:t>
            </a:r>
            <a:r>
              <a:rPr lang="en-US" altLang="ko-KR" dirty="0"/>
              <a:t>6</a:t>
            </a:r>
            <a:r>
              <a:rPr lang="ko-KR" altLang="en-US" dirty="0"/>
              <a:t>항</a:t>
            </a:r>
            <a:r>
              <a:rPr lang="en-US" altLang="ko-KR" dirty="0"/>
              <a:t>)</a:t>
            </a:r>
            <a:endParaRPr lang="ko-KR" altLang="en-US" dirty="0"/>
          </a:p>
        </p:txBody>
      </p:sp>
      <p:sp>
        <p:nvSpPr>
          <p:cNvPr id="33" name="TextBox 32"/>
          <p:cNvSpPr txBox="1"/>
          <p:nvPr/>
        </p:nvSpPr>
        <p:spPr>
          <a:xfrm>
            <a:off x="77875" y="986046"/>
            <a:ext cx="11936323" cy="1892826"/>
          </a:xfrm>
          <a:prstGeom prst="rect">
            <a:avLst/>
          </a:prstGeom>
          <a:noFill/>
        </p:spPr>
        <p:txBody>
          <a:bodyPr wrap="square" rtlCol="0">
            <a:spAutoFit/>
          </a:bodyPr>
          <a:lstStyle/>
          <a:p>
            <a:pPr fontAlgn="base"/>
            <a:r>
              <a:rPr lang="ko-KR" altLang="en-US" sz="1300" b="1" dirty="0">
                <a:solidFill>
                  <a:schemeClr val="accent1"/>
                </a:solidFill>
              </a:rPr>
              <a:t>제</a:t>
            </a:r>
            <a:r>
              <a:rPr lang="en-US" altLang="ko-KR" sz="1300" b="1" dirty="0">
                <a:solidFill>
                  <a:schemeClr val="accent1"/>
                </a:solidFill>
              </a:rPr>
              <a:t>54</a:t>
            </a:r>
            <a:r>
              <a:rPr lang="ko-KR" altLang="en-US" sz="1300" b="1" dirty="0">
                <a:solidFill>
                  <a:schemeClr val="accent1"/>
                </a:solidFill>
              </a:rPr>
              <a:t>조</a:t>
            </a:r>
            <a:r>
              <a:rPr lang="en-US" altLang="ko-KR" sz="1300" b="1" dirty="0">
                <a:solidFill>
                  <a:schemeClr val="accent1"/>
                </a:solidFill>
              </a:rPr>
              <a:t>(</a:t>
            </a:r>
            <a:r>
              <a:rPr lang="ko-KR" altLang="en-US" sz="1300" b="1" dirty="0">
                <a:solidFill>
                  <a:schemeClr val="accent1"/>
                </a:solidFill>
              </a:rPr>
              <a:t>조약에 의한 우선권 주장</a:t>
            </a:r>
            <a:r>
              <a:rPr lang="en-US" altLang="ko-KR" sz="1300" b="1" dirty="0">
                <a:solidFill>
                  <a:schemeClr val="accent1"/>
                </a:solidFill>
              </a:rPr>
              <a:t>)</a:t>
            </a:r>
            <a:r>
              <a:rPr lang="en-US" altLang="ko-KR" sz="1300" b="1" dirty="0">
                <a:solidFill>
                  <a:schemeClr val="tx2"/>
                </a:solidFill>
              </a:rPr>
              <a:t> </a:t>
            </a:r>
            <a:r>
              <a:rPr lang="ko-KR" altLang="en-US" sz="1300" dirty="0">
                <a:solidFill>
                  <a:schemeClr val="tx2"/>
                </a:solidFill>
              </a:rPr>
              <a:t>④ 제</a:t>
            </a:r>
            <a:r>
              <a:rPr lang="en-US" altLang="ko-KR" sz="1300" dirty="0">
                <a:solidFill>
                  <a:schemeClr val="tx2"/>
                </a:solidFill>
              </a:rPr>
              <a:t>3</a:t>
            </a:r>
            <a:r>
              <a:rPr lang="ko-KR" altLang="en-US" sz="1300" dirty="0">
                <a:solidFill>
                  <a:schemeClr val="tx2"/>
                </a:solidFill>
              </a:rPr>
              <a:t>항에 따라 우선권을 주장한 자는 제</a:t>
            </a:r>
            <a:r>
              <a:rPr lang="en-US" altLang="ko-KR" sz="1300" dirty="0">
                <a:solidFill>
                  <a:schemeClr val="tx2"/>
                </a:solidFill>
              </a:rPr>
              <a:t>1</a:t>
            </a:r>
            <a:r>
              <a:rPr lang="ko-KR" altLang="en-US" sz="1300" dirty="0">
                <a:solidFill>
                  <a:schemeClr val="tx2"/>
                </a:solidFill>
              </a:rPr>
              <a:t>호의 서류 또는 제</a:t>
            </a:r>
            <a:r>
              <a:rPr lang="en-US" altLang="ko-KR" sz="1300" dirty="0">
                <a:solidFill>
                  <a:schemeClr val="tx2"/>
                </a:solidFill>
              </a:rPr>
              <a:t>2</a:t>
            </a:r>
            <a:r>
              <a:rPr lang="ko-KR" altLang="en-US" sz="1300" dirty="0">
                <a:solidFill>
                  <a:schemeClr val="tx2"/>
                </a:solidFill>
              </a:rPr>
              <a:t>호의 서면을 지식재산처장에게 제출하여야 한다</a:t>
            </a:r>
            <a:r>
              <a:rPr lang="en-US" altLang="ko-KR" sz="1300" dirty="0">
                <a:solidFill>
                  <a:schemeClr val="tx2"/>
                </a:solidFill>
              </a:rPr>
              <a:t>. </a:t>
            </a:r>
            <a:r>
              <a:rPr lang="ko-KR" altLang="en-US" sz="1300" dirty="0">
                <a:solidFill>
                  <a:schemeClr val="tx2"/>
                </a:solidFill>
              </a:rPr>
              <a:t>다만</a:t>
            </a:r>
            <a:r>
              <a:rPr lang="en-US" altLang="ko-KR" sz="1300" dirty="0">
                <a:solidFill>
                  <a:schemeClr val="tx2"/>
                </a:solidFill>
              </a:rPr>
              <a:t>, </a:t>
            </a:r>
            <a:r>
              <a:rPr lang="ko-KR" altLang="en-US" sz="1300" dirty="0">
                <a:solidFill>
                  <a:schemeClr val="tx2"/>
                </a:solidFill>
              </a:rPr>
              <a:t>제</a:t>
            </a:r>
            <a:r>
              <a:rPr lang="en-US" altLang="ko-KR" sz="1300" dirty="0">
                <a:solidFill>
                  <a:schemeClr val="tx2"/>
                </a:solidFill>
              </a:rPr>
              <a:t>2</a:t>
            </a:r>
            <a:r>
              <a:rPr lang="ko-KR" altLang="en-US" sz="1300" dirty="0">
                <a:solidFill>
                  <a:schemeClr val="tx2"/>
                </a:solidFill>
              </a:rPr>
              <a:t>호의 서면은 총리령으로 정하는 국가의 경우만 해당한다</a:t>
            </a:r>
            <a:r>
              <a:rPr lang="en-US" altLang="ko-KR" sz="1300" dirty="0">
                <a:solidFill>
                  <a:schemeClr val="tx2"/>
                </a:solidFill>
              </a:rPr>
              <a:t>.</a:t>
            </a:r>
          </a:p>
          <a:p>
            <a:pPr fontAlgn="base"/>
            <a:r>
              <a:rPr lang="en-US" altLang="ko-KR" sz="1300" dirty="0">
                <a:solidFill>
                  <a:schemeClr val="tx2"/>
                </a:solidFill>
              </a:rPr>
              <a:t>1. </a:t>
            </a:r>
            <a:r>
              <a:rPr lang="ko-KR" altLang="en-US" sz="1300" dirty="0">
                <a:solidFill>
                  <a:schemeClr val="tx2"/>
                </a:solidFill>
              </a:rPr>
              <a:t>최초로 출원한 국가의 정부가 인증하는 서류로서 특허출원의 연월일을 적은 서면</a:t>
            </a:r>
            <a:r>
              <a:rPr lang="en-US" altLang="ko-KR" sz="1300" dirty="0">
                <a:solidFill>
                  <a:schemeClr val="tx2"/>
                </a:solidFill>
              </a:rPr>
              <a:t>, </a:t>
            </a:r>
            <a:r>
              <a:rPr lang="ko-KR" altLang="en-US" sz="1300" dirty="0">
                <a:solidFill>
                  <a:schemeClr val="tx2"/>
                </a:solidFill>
              </a:rPr>
              <a:t>발명의 명세서 및 도면의 등본</a:t>
            </a:r>
          </a:p>
          <a:p>
            <a:pPr fontAlgn="base"/>
            <a:r>
              <a:rPr lang="en-US" altLang="ko-KR" sz="1300" dirty="0">
                <a:solidFill>
                  <a:schemeClr val="tx2"/>
                </a:solidFill>
              </a:rPr>
              <a:t>2. </a:t>
            </a:r>
            <a:r>
              <a:rPr lang="ko-KR" altLang="en-US" sz="1300" dirty="0">
                <a:solidFill>
                  <a:schemeClr val="tx2"/>
                </a:solidFill>
              </a:rPr>
              <a:t>최초로 출원한 국가의 특허출원의 출원번호 및 그 밖에 출원을 확인할 수 있는 정보 등 총리령으로 정하는 사항을 적은 서면</a:t>
            </a:r>
            <a:endParaRPr lang="en-US" altLang="ko-KR" sz="1300" dirty="0">
              <a:solidFill>
                <a:schemeClr val="tx2"/>
              </a:solidFill>
            </a:endParaRPr>
          </a:p>
          <a:p>
            <a:pPr fontAlgn="base"/>
            <a:r>
              <a:rPr lang="ko-KR" altLang="en-US" sz="1300" dirty="0">
                <a:solidFill>
                  <a:schemeClr val="tx2"/>
                </a:solidFill>
              </a:rPr>
              <a:t>⑤ 제</a:t>
            </a:r>
            <a:r>
              <a:rPr lang="en-US" altLang="ko-KR" sz="1300" dirty="0">
                <a:solidFill>
                  <a:schemeClr val="tx2"/>
                </a:solidFill>
              </a:rPr>
              <a:t>4</a:t>
            </a:r>
            <a:r>
              <a:rPr lang="ko-KR" altLang="en-US" sz="1300" dirty="0">
                <a:solidFill>
                  <a:schemeClr val="tx2"/>
                </a:solidFill>
              </a:rPr>
              <a:t>항에 따른 서류 또는 서면은 다음 각 호에 해당하는 날 중 최우선일</a:t>
            </a:r>
            <a:r>
              <a:rPr lang="en-US" altLang="ko-KR" sz="1300" dirty="0">
                <a:solidFill>
                  <a:schemeClr val="tx2"/>
                </a:solidFill>
              </a:rPr>
              <a:t>(</a:t>
            </a:r>
            <a:r>
              <a:rPr lang="ko-KR" altLang="en-US" sz="1300" dirty="0">
                <a:solidFill>
                  <a:schemeClr val="tx2"/>
                </a:solidFill>
              </a:rPr>
              <a:t>最優先日</a:t>
            </a:r>
            <a:r>
              <a:rPr lang="en-US" altLang="ko-KR" sz="1300" dirty="0">
                <a:solidFill>
                  <a:schemeClr val="tx2"/>
                </a:solidFill>
              </a:rPr>
              <a:t>)</a:t>
            </a:r>
            <a:r>
              <a:rPr lang="ko-KR" altLang="en-US" sz="1300" dirty="0">
                <a:solidFill>
                  <a:schemeClr val="tx2"/>
                </a:solidFill>
              </a:rPr>
              <a:t>부터 </a:t>
            </a:r>
            <a:r>
              <a:rPr lang="en-US" altLang="ko-KR" sz="1300" dirty="0">
                <a:solidFill>
                  <a:schemeClr val="tx2"/>
                </a:solidFill>
              </a:rPr>
              <a:t>1</a:t>
            </a:r>
            <a:r>
              <a:rPr lang="ko-KR" altLang="en-US" sz="1300" dirty="0">
                <a:solidFill>
                  <a:schemeClr val="tx2"/>
                </a:solidFill>
              </a:rPr>
              <a:t>년 </a:t>
            </a:r>
            <a:r>
              <a:rPr lang="en-US" altLang="ko-KR" sz="1300" dirty="0">
                <a:solidFill>
                  <a:schemeClr val="tx2"/>
                </a:solidFill>
              </a:rPr>
              <a:t>4</a:t>
            </a:r>
            <a:r>
              <a:rPr lang="ko-KR" altLang="en-US" sz="1300" dirty="0">
                <a:solidFill>
                  <a:schemeClr val="tx2"/>
                </a:solidFill>
              </a:rPr>
              <a:t>개월 이내에 제출하여야 한다</a:t>
            </a:r>
            <a:r>
              <a:rPr lang="en-US" altLang="ko-KR" sz="1300" dirty="0">
                <a:solidFill>
                  <a:schemeClr val="tx2"/>
                </a:solidFill>
              </a:rPr>
              <a:t>.</a:t>
            </a:r>
          </a:p>
          <a:p>
            <a:pPr fontAlgn="base"/>
            <a:r>
              <a:rPr lang="en-US" altLang="ko-KR" sz="1300" dirty="0">
                <a:solidFill>
                  <a:schemeClr val="tx2"/>
                </a:solidFill>
              </a:rPr>
              <a:t>1. </a:t>
            </a:r>
            <a:r>
              <a:rPr lang="ko-KR" altLang="en-US" sz="1300" dirty="0">
                <a:solidFill>
                  <a:schemeClr val="tx2"/>
                </a:solidFill>
              </a:rPr>
              <a:t>조약 당사국에 최초로 출원한 출원일</a:t>
            </a:r>
          </a:p>
          <a:p>
            <a:pPr fontAlgn="base"/>
            <a:r>
              <a:rPr lang="en-US" altLang="ko-KR" sz="1300" dirty="0">
                <a:solidFill>
                  <a:schemeClr val="tx2"/>
                </a:solidFill>
              </a:rPr>
              <a:t>2. </a:t>
            </a:r>
            <a:r>
              <a:rPr lang="ko-KR" altLang="en-US" sz="1300" dirty="0">
                <a:solidFill>
                  <a:schemeClr val="tx2"/>
                </a:solidFill>
              </a:rPr>
              <a:t>그 특허출원이 제</a:t>
            </a:r>
            <a:r>
              <a:rPr lang="en-US" altLang="ko-KR" sz="1300" dirty="0">
                <a:solidFill>
                  <a:schemeClr val="tx2"/>
                </a:solidFill>
              </a:rPr>
              <a:t>55</a:t>
            </a:r>
            <a:r>
              <a:rPr lang="ko-KR" altLang="en-US" sz="1300" dirty="0">
                <a:solidFill>
                  <a:schemeClr val="tx2"/>
                </a:solidFill>
              </a:rPr>
              <a:t>조제</a:t>
            </a:r>
            <a:r>
              <a:rPr lang="en-US" altLang="ko-KR" sz="1300" dirty="0">
                <a:solidFill>
                  <a:schemeClr val="tx2"/>
                </a:solidFill>
              </a:rPr>
              <a:t>1</a:t>
            </a:r>
            <a:r>
              <a:rPr lang="ko-KR" altLang="en-US" sz="1300" dirty="0">
                <a:solidFill>
                  <a:schemeClr val="tx2"/>
                </a:solidFill>
              </a:rPr>
              <a:t>항에 따른 우선권 주장을 수반하는 경우에는 그 우선권 주장의 기초가 되는 출원의 출원일</a:t>
            </a:r>
          </a:p>
          <a:p>
            <a:pPr fontAlgn="base"/>
            <a:r>
              <a:rPr lang="en-US" altLang="ko-KR" sz="1300" dirty="0">
                <a:solidFill>
                  <a:schemeClr val="tx2"/>
                </a:solidFill>
              </a:rPr>
              <a:t>3. </a:t>
            </a:r>
            <a:r>
              <a:rPr lang="ko-KR" altLang="en-US" sz="1300" dirty="0">
                <a:solidFill>
                  <a:schemeClr val="tx2"/>
                </a:solidFill>
              </a:rPr>
              <a:t>그 특허출원이 제</a:t>
            </a:r>
            <a:r>
              <a:rPr lang="en-US" altLang="ko-KR" sz="1300" dirty="0">
                <a:solidFill>
                  <a:schemeClr val="tx2"/>
                </a:solidFill>
              </a:rPr>
              <a:t>3</a:t>
            </a:r>
            <a:r>
              <a:rPr lang="ko-KR" altLang="en-US" sz="1300" dirty="0">
                <a:solidFill>
                  <a:schemeClr val="tx2"/>
                </a:solidFill>
              </a:rPr>
              <a:t>항에 따른 다른 우선권 주장을 수반하는 경우에는 그 우선권 주장의 기초가 되는 출원의 출원일</a:t>
            </a:r>
          </a:p>
          <a:p>
            <a:pPr fontAlgn="base"/>
            <a:r>
              <a:rPr lang="ko-KR" altLang="en-US" sz="1300" dirty="0">
                <a:solidFill>
                  <a:schemeClr val="tx2"/>
                </a:solidFill>
              </a:rPr>
              <a:t>⑥ 제</a:t>
            </a:r>
            <a:r>
              <a:rPr lang="en-US" altLang="ko-KR" sz="1300" dirty="0">
                <a:solidFill>
                  <a:schemeClr val="tx2"/>
                </a:solidFill>
              </a:rPr>
              <a:t>3</a:t>
            </a:r>
            <a:r>
              <a:rPr lang="ko-KR" altLang="en-US" sz="1300" dirty="0">
                <a:solidFill>
                  <a:schemeClr val="tx2"/>
                </a:solidFill>
              </a:rPr>
              <a:t>항에 따라 우선권을 주장한 자가 제</a:t>
            </a:r>
            <a:r>
              <a:rPr lang="en-US" altLang="ko-KR" sz="1300" dirty="0">
                <a:solidFill>
                  <a:schemeClr val="tx2"/>
                </a:solidFill>
              </a:rPr>
              <a:t>5</a:t>
            </a:r>
            <a:r>
              <a:rPr lang="ko-KR" altLang="en-US" sz="1300" dirty="0">
                <a:solidFill>
                  <a:schemeClr val="tx2"/>
                </a:solidFill>
              </a:rPr>
              <a:t>항의 기간에 제</a:t>
            </a:r>
            <a:r>
              <a:rPr lang="en-US" altLang="ko-KR" sz="1300" dirty="0">
                <a:solidFill>
                  <a:schemeClr val="tx2"/>
                </a:solidFill>
              </a:rPr>
              <a:t>4</a:t>
            </a:r>
            <a:r>
              <a:rPr lang="ko-KR" altLang="en-US" sz="1300" dirty="0">
                <a:solidFill>
                  <a:schemeClr val="tx2"/>
                </a:solidFill>
              </a:rPr>
              <a:t>항에 따른 서류를 제출하지 아니한 경우에는 그 우선권 주장은 효력을 상실한다</a:t>
            </a:r>
            <a:r>
              <a:rPr lang="en-US" altLang="ko-KR" sz="1300" dirty="0">
                <a:solidFill>
                  <a:schemeClr val="tx2"/>
                </a:solidFill>
              </a:rPr>
              <a:t>.</a:t>
            </a:r>
          </a:p>
        </p:txBody>
      </p:sp>
      <p:cxnSp>
        <p:nvCxnSpPr>
          <p:cNvPr id="34" name="직선 연결선 33"/>
          <p:cNvCxnSpPr/>
          <p:nvPr/>
        </p:nvCxnSpPr>
        <p:spPr>
          <a:xfrm>
            <a:off x="0" y="286634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직선 화살표 연결선 8"/>
          <p:cNvCxnSpPr/>
          <p:nvPr/>
        </p:nvCxnSpPr>
        <p:spPr>
          <a:xfrm>
            <a:off x="1480656" y="3568837"/>
            <a:ext cx="10130319" cy="0"/>
          </a:xfrm>
          <a:prstGeom prst="straightConnector1">
            <a:avLst/>
          </a:prstGeom>
          <a:ln w="28575">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 name="Rectangle 14"/>
          <p:cNvSpPr>
            <a:spLocks noChangeArrowheads="1"/>
          </p:cNvSpPr>
          <p:nvPr/>
        </p:nvSpPr>
        <p:spPr bwMode="auto">
          <a:xfrm>
            <a:off x="6634873" y="3644480"/>
            <a:ext cx="1527294" cy="271377"/>
          </a:xfrm>
          <a:prstGeom prst="rect">
            <a:avLst/>
          </a:prstGeom>
          <a:noFill/>
          <a:ln w="9525" algn="ctr">
            <a:noFill/>
            <a:miter lim="800000"/>
            <a:headEnd/>
            <a:tailEnd/>
          </a:ln>
        </p:spPr>
        <p:txBody>
          <a:bodyPr wrap="none" anchor="ctr"/>
          <a:lstStyle/>
          <a:p>
            <a:pPr algn="ctr"/>
            <a:endParaRPr lang="ko-KR" altLang="en-US" sz="1100" dirty="0">
              <a:latin typeface="+mj-ea"/>
              <a:ea typeface="+mj-ea"/>
            </a:endParaRPr>
          </a:p>
        </p:txBody>
      </p:sp>
      <p:sp>
        <p:nvSpPr>
          <p:cNvPr id="15" name="Rectangle 14"/>
          <p:cNvSpPr>
            <a:spLocks noChangeArrowheads="1"/>
          </p:cNvSpPr>
          <p:nvPr/>
        </p:nvSpPr>
        <p:spPr bwMode="auto">
          <a:xfrm>
            <a:off x="1644384" y="3644480"/>
            <a:ext cx="1527294" cy="271377"/>
          </a:xfrm>
          <a:prstGeom prst="rect">
            <a:avLst/>
          </a:prstGeom>
          <a:noFill/>
          <a:ln w="9525" algn="ctr">
            <a:noFill/>
            <a:miter lim="800000"/>
            <a:headEnd/>
            <a:tailEnd/>
          </a:ln>
        </p:spPr>
        <p:txBody>
          <a:bodyPr wrap="none" anchor="ctr"/>
          <a:lstStyle/>
          <a:p>
            <a:pPr algn="ctr"/>
            <a:endParaRPr lang="ko-KR" altLang="en-US" sz="1100" dirty="0">
              <a:latin typeface="+mj-ea"/>
              <a:ea typeface="+mj-ea"/>
            </a:endParaRPr>
          </a:p>
        </p:txBody>
      </p:sp>
      <p:sp>
        <p:nvSpPr>
          <p:cNvPr id="18" name="Rectangle 14"/>
          <p:cNvSpPr>
            <a:spLocks noChangeArrowheads="1"/>
          </p:cNvSpPr>
          <p:nvPr/>
        </p:nvSpPr>
        <p:spPr bwMode="auto">
          <a:xfrm>
            <a:off x="5652971" y="2980669"/>
            <a:ext cx="1527294" cy="271377"/>
          </a:xfrm>
          <a:prstGeom prst="rect">
            <a:avLst/>
          </a:prstGeom>
          <a:noFill/>
          <a:ln w="9525" algn="ctr">
            <a:noFill/>
            <a:miter lim="800000"/>
            <a:headEnd/>
            <a:tailEnd/>
          </a:ln>
        </p:spPr>
        <p:txBody>
          <a:bodyPr wrap="none" anchor="ctr"/>
          <a:lstStyle/>
          <a:p>
            <a:pPr algn="ctr"/>
            <a:r>
              <a:rPr lang="en-US" altLang="ko-KR" sz="1100" dirty="0">
                <a:latin typeface="+mj-ea"/>
                <a:ea typeface="+mj-ea"/>
              </a:rPr>
              <a:t>1</a:t>
            </a:r>
            <a:r>
              <a:rPr lang="ko-KR" altLang="en-US" sz="1100" dirty="0">
                <a:latin typeface="+mj-ea"/>
                <a:ea typeface="+mj-ea"/>
              </a:rPr>
              <a:t>년 </a:t>
            </a:r>
            <a:r>
              <a:rPr lang="en-US" altLang="ko-KR" sz="1100" dirty="0">
                <a:latin typeface="+mj-ea"/>
                <a:ea typeface="+mj-ea"/>
              </a:rPr>
              <a:t>4</a:t>
            </a:r>
            <a:r>
              <a:rPr lang="ko-KR" altLang="en-US" sz="1100" dirty="0">
                <a:latin typeface="+mj-ea"/>
                <a:ea typeface="+mj-ea"/>
              </a:rPr>
              <a:t>월 이내</a:t>
            </a:r>
          </a:p>
        </p:txBody>
      </p:sp>
      <p:cxnSp>
        <p:nvCxnSpPr>
          <p:cNvPr id="22" name="직선 화살표 연결선 21"/>
          <p:cNvCxnSpPr/>
          <p:nvPr/>
        </p:nvCxnSpPr>
        <p:spPr>
          <a:xfrm>
            <a:off x="1480656" y="4730828"/>
            <a:ext cx="10130319" cy="9794"/>
          </a:xfrm>
          <a:prstGeom prst="straightConnector1">
            <a:avLst/>
          </a:prstGeom>
          <a:ln w="28575">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3" name="Rectangle 14"/>
          <p:cNvSpPr>
            <a:spLocks noChangeArrowheads="1"/>
          </p:cNvSpPr>
          <p:nvPr/>
        </p:nvSpPr>
        <p:spPr bwMode="auto">
          <a:xfrm>
            <a:off x="6634873" y="4806470"/>
            <a:ext cx="1527294" cy="271377"/>
          </a:xfrm>
          <a:prstGeom prst="rect">
            <a:avLst/>
          </a:prstGeom>
          <a:noFill/>
          <a:ln w="9525" algn="ctr">
            <a:noFill/>
            <a:miter lim="800000"/>
            <a:headEnd/>
            <a:tailEnd/>
          </a:ln>
        </p:spPr>
        <p:txBody>
          <a:bodyPr wrap="none" anchor="ctr"/>
          <a:lstStyle/>
          <a:p>
            <a:pPr algn="ctr"/>
            <a:endParaRPr lang="ko-KR" altLang="en-US" sz="1100" dirty="0">
              <a:latin typeface="+mj-ea"/>
              <a:ea typeface="+mj-ea"/>
            </a:endParaRPr>
          </a:p>
        </p:txBody>
      </p:sp>
      <p:sp>
        <p:nvSpPr>
          <p:cNvPr id="28" name="Rectangle 14"/>
          <p:cNvSpPr>
            <a:spLocks noChangeArrowheads="1"/>
          </p:cNvSpPr>
          <p:nvPr/>
        </p:nvSpPr>
        <p:spPr bwMode="auto">
          <a:xfrm>
            <a:off x="1644384" y="4806470"/>
            <a:ext cx="1527294" cy="271377"/>
          </a:xfrm>
          <a:prstGeom prst="rect">
            <a:avLst/>
          </a:prstGeom>
          <a:noFill/>
          <a:ln w="9525" algn="ctr">
            <a:noFill/>
            <a:miter lim="800000"/>
            <a:headEnd/>
            <a:tailEnd/>
          </a:ln>
        </p:spPr>
        <p:txBody>
          <a:bodyPr wrap="none" anchor="ctr"/>
          <a:lstStyle/>
          <a:p>
            <a:pPr algn="ctr"/>
            <a:endParaRPr lang="ko-KR" altLang="en-US" sz="1100" dirty="0">
              <a:latin typeface="+mj-ea"/>
              <a:ea typeface="+mj-ea"/>
            </a:endParaRPr>
          </a:p>
        </p:txBody>
      </p:sp>
      <p:sp>
        <p:nvSpPr>
          <p:cNvPr id="35" name="Rectangle 14"/>
          <p:cNvSpPr>
            <a:spLocks noChangeArrowheads="1"/>
          </p:cNvSpPr>
          <p:nvPr/>
        </p:nvSpPr>
        <p:spPr bwMode="auto">
          <a:xfrm>
            <a:off x="4408447" y="4806470"/>
            <a:ext cx="1527294" cy="271377"/>
          </a:xfrm>
          <a:prstGeom prst="rect">
            <a:avLst/>
          </a:prstGeom>
          <a:noFill/>
          <a:ln w="9525" algn="ctr">
            <a:noFill/>
            <a:miter lim="800000"/>
            <a:headEnd/>
            <a:tailEnd/>
          </a:ln>
        </p:spPr>
        <p:txBody>
          <a:bodyPr wrap="none" anchor="ctr"/>
          <a:lstStyle/>
          <a:p>
            <a:pPr algn="ctr"/>
            <a:endParaRPr lang="ko-KR" altLang="en-US" sz="1100" dirty="0">
              <a:latin typeface="+mj-ea"/>
              <a:ea typeface="+mj-ea"/>
            </a:endParaRPr>
          </a:p>
        </p:txBody>
      </p:sp>
      <p:sp>
        <p:nvSpPr>
          <p:cNvPr id="54" name="Rectangle 14"/>
          <p:cNvSpPr>
            <a:spLocks noChangeArrowheads="1"/>
          </p:cNvSpPr>
          <p:nvPr/>
        </p:nvSpPr>
        <p:spPr bwMode="auto">
          <a:xfrm>
            <a:off x="1967977" y="3441711"/>
            <a:ext cx="1527294" cy="26457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err="1">
                <a:latin typeface="+mj-ea"/>
                <a:ea typeface="+mj-ea"/>
              </a:rPr>
              <a:t>외국출원</a:t>
            </a:r>
            <a:r>
              <a:rPr lang="en-US" altLang="ko-KR" sz="1100" dirty="0">
                <a:latin typeface="+mj-ea"/>
                <a:ea typeface="+mj-ea"/>
              </a:rPr>
              <a:t>(X)</a:t>
            </a:r>
          </a:p>
        </p:txBody>
      </p:sp>
      <p:sp>
        <p:nvSpPr>
          <p:cNvPr id="56" name="Rectangle 14"/>
          <p:cNvSpPr>
            <a:spLocks noChangeArrowheads="1"/>
          </p:cNvSpPr>
          <p:nvPr/>
        </p:nvSpPr>
        <p:spPr bwMode="auto">
          <a:xfrm>
            <a:off x="7037769" y="3441711"/>
            <a:ext cx="1810796" cy="264572"/>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err="1">
                <a:latin typeface="+mj-ea"/>
                <a:ea typeface="+mj-ea"/>
              </a:rPr>
              <a:t>한국출원</a:t>
            </a:r>
            <a:r>
              <a:rPr lang="en-US" altLang="ko-KR" sz="1100" dirty="0">
                <a:latin typeface="+mj-ea"/>
                <a:ea typeface="+mj-ea"/>
              </a:rPr>
              <a:t>(Z)</a:t>
            </a:r>
          </a:p>
        </p:txBody>
      </p:sp>
      <p:sp>
        <p:nvSpPr>
          <p:cNvPr id="57" name="Rectangle 14"/>
          <p:cNvSpPr>
            <a:spLocks noChangeArrowheads="1"/>
          </p:cNvSpPr>
          <p:nvPr/>
        </p:nvSpPr>
        <p:spPr bwMode="auto">
          <a:xfrm>
            <a:off x="7037769" y="3700505"/>
            <a:ext cx="1810796" cy="264572"/>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100" dirty="0">
                <a:latin typeface="+mj-ea"/>
                <a:ea typeface="+mj-ea"/>
              </a:rPr>
              <a:t>X </a:t>
            </a:r>
            <a:r>
              <a:rPr lang="ko-KR" altLang="en-US" sz="1100" dirty="0">
                <a:latin typeface="+mj-ea"/>
                <a:ea typeface="+mj-ea"/>
              </a:rPr>
              <a:t>기초 조약우선권주장</a:t>
            </a:r>
            <a:endParaRPr lang="en-US" altLang="ko-KR" sz="1100" dirty="0">
              <a:latin typeface="+mj-ea"/>
              <a:ea typeface="+mj-ea"/>
            </a:endParaRPr>
          </a:p>
        </p:txBody>
      </p:sp>
      <p:sp>
        <p:nvSpPr>
          <p:cNvPr id="58" name="Rectangle 14"/>
          <p:cNvSpPr>
            <a:spLocks noChangeArrowheads="1"/>
          </p:cNvSpPr>
          <p:nvPr/>
        </p:nvSpPr>
        <p:spPr bwMode="auto">
          <a:xfrm>
            <a:off x="9628128" y="3442541"/>
            <a:ext cx="1527294" cy="264572"/>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a:latin typeface="+mj-ea"/>
                <a:ea typeface="+mj-ea"/>
              </a:rPr>
              <a:t>증명서류</a:t>
            </a:r>
            <a:r>
              <a:rPr lang="en-US" altLang="ko-KR" sz="1100" dirty="0">
                <a:latin typeface="+mj-ea"/>
                <a:ea typeface="+mj-ea"/>
              </a:rPr>
              <a:t>(X)</a:t>
            </a:r>
          </a:p>
        </p:txBody>
      </p:sp>
      <p:sp>
        <p:nvSpPr>
          <p:cNvPr id="59" name="Rectangle 14"/>
          <p:cNvSpPr>
            <a:spLocks noChangeArrowheads="1"/>
          </p:cNvSpPr>
          <p:nvPr/>
        </p:nvSpPr>
        <p:spPr bwMode="auto">
          <a:xfrm>
            <a:off x="1967977" y="4608714"/>
            <a:ext cx="1527294" cy="26457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a:latin typeface="+mj-ea"/>
                <a:ea typeface="+mj-ea"/>
              </a:rPr>
              <a:t>외국</a:t>
            </a:r>
            <a:r>
              <a:rPr lang="en-US" altLang="ko-KR" sz="1100" dirty="0">
                <a:latin typeface="+mj-ea"/>
                <a:ea typeface="+mj-ea"/>
              </a:rPr>
              <a:t>(</a:t>
            </a:r>
            <a:r>
              <a:rPr lang="ko-KR" altLang="en-US" sz="1100" dirty="0">
                <a:latin typeface="+mj-ea"/>
                <a:ea typeface="+mj-ea"/>
              </a:rPr>
              <a:t>한국</a:t>
            </a:r>
            <a:r>
              <a:rPr lang="en-US" altLang="ko-KR" sz="1100" dirty="0">
                <a:latin typeface="+mj-ea"/>
                <a:ea typeface="+mj-ea"/>
              </a:rPr>
              <a:t>)</a:t>
            </a:r>
            <a:r>
              <a:rPr lang="ko-KR" altLang="en-US" sz="1100" dirty="0">
                <a:latin typeface="+mj-ea"/>
                <a:ea typeface="+mj-ea"/>
              </a:rPr>
              <a:t>출원</a:t>
            </a:r>
            <a:r>
              <a:rPr lang="en-US" altLang="ko-KR" sz="1100" dirty="0">
                <a:latin typeface="+mj-ea"/>
                <a:ea typeface="+mj-ea"/>
              </a:rPr>
              <a:t>(X)</a:t>
            </a:r>
          </a:p>
        </p:txBody>
      </p:sp>
      <p:sp>
        <p:nvSpPr>
          <p:cNvPr id="60" name="Rectangle 14"/>
          <p:cNvSpPr>
            <a:spLocks noChangeArrowheads="1"/>
          </p:cNvSpPr>
          <p:nvPr/>
        </p:nvSpPr>
        <p:spPr bwMode="auto">
          <a:xfrm>
            <a:off x="4536562" y="4608714"/>
            <a:ext cx="1527294" cy="264572"/>
          </a:xfrm>
          <a:prstGeom prst="rect">
            <a:avLst/>
          </a:prstGeom>
          <a:solidFill>
            <a:schemeClr val="accent6">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a:latin typeface="+mj-ea"/>
                <a:ea typeface="+mj-ea"/>
              </a:rPr>
              <a:t>한국</a:t>
            </a:r>
            <a:r>
              <a:rPr lang="en-US" altLang="ko-KR" sz="1100" dirty="0">
                <a:latin typeface="+mj-ea"/>
                <a:ea typeface="+mj-ea"/>
              </a:rPr>
              <a:t>(</a:t>
            </a:r>
            <a:r>
              <a:rPr lang="ko-KR" altLang="en-US" sz="1100" dirty="0">
                <a:latin typeface="+mj-ea"/>
                <a:ea typeface="+mj-ea"/>
              </a:rPr>
              <a:t>외국</a:t>
            </a:r>
            <a:r>
              <a:rPr lang="en-US" altLang="ko-KR" sz="1100" dirty="0">
                <a:latin typeface="+mj-ea"/>
                <a:ea typeface="+mj-ea"/>
              </a:rPr>
              <a:t>)</a:t>
            </a:r>
            <a:r>
              <a:rPr lang="ko-KR" altLang="en-US" sz="1100" dirty="0">
                <a:latin typeface="+mj-ea"/>
                <a:ea typeface="+mj-ea"/>
              </a:rPr>
              <a:t>출원</a:t>
            </a:r>
            <a:r>
              <a:rPr lang="en-US" altLang="ko-KR" sz="1100" dirty="0">
                <a:latin typeface="+mj-ea"/>
                <a:ea typeface="+mj-ea"/>
              </a:rPr>
              <a:t>(Y)</a:t>
            </a:r>
          </a:p>
        </p:txBody>
      </p:sp>
      <p:sp>
        <p:nvSpPr>
          <p:cNvPr id="61" name="Rectangle 14"/>
          <p:cNvSpPr>
            <a:spLocks noChangeArrowheads="1"/>
          </p:cNvSpPr>
          <p:nvPr/>
        </p:nvSpPr>
        <p:spPr bwMode="auto">
          <a:xfrm>
            <a:off x="7037769" y="4596948"/>
            <a:ext cx="1810796" cy="264572"/>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err="1">
                <a:latin typeface="+mj-ea"/>
                <a:ea typeface="+mj-ea"/>
              </a:rPr>
              <a:t>한국출원</a:t>
            </a:r>
            <a:r>
              <a:rPr lang="en-US" altLang="ko-KR" sz="1100" dirty="0">
                <a:latin typeface="+mj-ea"/>
                <a:ea typeface="+mj-ea"/>
              </a:rPr>
              <a:t>(Z)</a:t>
            </a:r>
          </a:p>
        </p:txBody>
      </p:sp>
      <p:sp>
        <p:nvSpPr>
          <p:cNvPr id="62" name="Rectangle 14"/>
          <p:cNvSpPr>
            <a:spLocks noChangeArrowheads="1"/>
          </p:cNvSpPr>
          <p:nvPr/>
        </p:nvSpPr>
        <p:spPr bwMode="auto">
          <a:xfrm>
            <a:off x="7037769" y="4855742"/>
            <a:ext cx="1810796" cy="264572"/>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100" dirty="0">
                <a:latin typeface="+mj-ea"/>
                <a:ea typeface="+mj-ea"/>
              </a:rPr>
              <a:t>X </a:t>
            </a:r>
            <a:r>
              <a:rPr lang="ko-KR" altLang="en-US" sz="1100" dirty="0">
                <a:latin typeface="+mj-ea"/>
                <a:ea typeface="+mj-ea"/>
              </a:rPr>
              <a:t>기초 조약</a:t>
            </a:r>
            <a:r>
              <a:rPr lang="en-US" altLang="ko-KR" sz="1100" dirty="0">
                <a:latin typeface="+mj-ea"/>
                <a:ea typeface="+mj-ea"/>
              </a:rPr>
              <a:t>(</a:t>
            </a:r>
            <a:r>
              <a:rPr lang="ko-KR" altLang="en-US" sz="1100" dirty="0">
                <a:latin typeface="+mj-ea"/>
                <a:ea typeface="+mj-ea"/>
              </a:rPr>
              <a:t>국내</a:t>
            </a:r>
            <a:r>
              <a:rPr lang="en-US" altLang="ko-KR" sz="1100" dirty="0">
                <a:latin typeface="+mj-ea"/>
                <a:ea typeface="+mj-ea"/>
              </a:rPr>
              <a:t>)</a:t>
            </a:r>
            <a:r>
              <a:rPr lang="ko-KR" altLang="en-US" sz="1100" dirty="0" err="1">
                <a:latin typeface="+mj-ea"/>
                <a:ea typeface="+mj-ea"/>
              </a:rPr>
              <a:t>우선권주장</a:t>
            </a:r>
            <a:endParaRPr lang="en-US" altLang="ko-KR" sz="1100" dirty="0">
              <a:latin typeface="+mj-ea"/>
              <a:ea typeface="+mj-ea"/>
            </a:endParaRPr>
          </a:p>
        </p:txBody>
      </p:sp>
      <p:sp>
        <p:nvSpPr>
          <p:cNvPr id="63" name="Rectangle 14"/>
          <p:cNvSpPr>
            <a:spLocks noChangeArrowheads="1"/>
          </p:cNvSpPr>
          <p:nvPr/>
        </p:nvSpPr>
        <p:spPr bwMode="auto">
          <a:xfrm>
            <a:off x="7037769" y="5112941"/>
            <a:ext cx="1810796" cy="264572"/>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100" dirty="0">
                <a:latin typeface="+mj-ea"/>
                <a:ea typeface="+mj-ea"/>
              </a:rPr>
              <a:t>Y </a:t>
            </a:r>
            <a:r>
              <a:rPr lang="ko-KR" altLang="en-US" sz="1100" dirty="0">
                <a:latin typeface="+mj-ea"/>
                <a:ea typeface="+mj-ea"/>
              </a:rPr>
              <a:t>기초 국내</a:t>
            </a:r>
            <a:r>
              <a:rPr lang="en-US" altLang="ko-KR" sz="1100" dirty="0">
                <a:latin typeface="+mj-ea"/>
                <a:ea typeface="+mj-ea"/>
              </a:rPr>
              <a:t>(</a:t>
            </a:r>
            <a:r>
              <a:rPr lang="ko-KR" altLang="en-US" sz="1100" dirty="0">
                <a:latin typeface="+mj-ea"/>
                <a:ea typeface="+mj-ea"/>
              </a:rPr>
              <a:t>조약</a:t>
            </a:r>
            <a:r>
              <a:rPr lang="en-US" altLang="ko-KR" sz="1100" dirty="0">
                <a:latin typeface="+mj-ea"/>
                <a:ea typeface="+mj-ea"/>
              </a:rPr>
              <a:t>)</a:t>
            </a:r>
            <a:r>
              <a:rPr lang="ko-KR" altLang="en-US" sz="1100" dirty="0" err="1">
                <a:latin typeface="+mj-ea"/>
                <a:ea typeface="+mj-ea"/>
              </a:rPr>
              <a:t>우선권주장</a:t>
            </a:r>
            <a:endParaRPr lang="en-US" altLang="ko-KR" sz="1100" dirty="0">
              <a:latin typeface="+mj-ea"/>
              <a:ea typeface="+mj-ea"/>
            </a:endParaRPr>
          </a:p>
        </p:txBody>
      </p:sp>
      <p:sp>
        <p:nvSpPr>
          <p:cNvPr id="64" name="Rectangle 14"/>
          <p:cNvSpPr>
            <a:spLocks noChangeArrowheads="1"/>
          </p:cNvSpPr>
          <p:nvPr/>
        </p:nvSpPr>
        <p:spPr bwMode="auto">
          <a:xfrm>
            <a:off x="9628128" y="4596948"/>
            <a:ext cx="1527294" cy="264572"/>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a:latin typeface="+mj-ea"/>
                <a:ea typeface="+mj-ea"/>
              </a:rPr>
              <a:t>증명서류</a:t>
            </a:r>
            <a:r>
              <a:rPr lang="en-US" altLang="ko-KR" sz="1100" dirty="0">
                <a:latin typeface="+mj-ea"/>
                <a:ea typeface="+mj-ea"/>
              </a:rPr>
              <a:t>(X(Y))</a:t>
            </a:r>
          </a:p>
        </p:txBody>
      </p:sp>
      <p:sp>
        <p:nvSpPr>
          <p:cNvPr id="66" name="Rectangle 14"/>
          <p:cNvSpPr>
            <a:spLocks noChangeArrowheads="1"/>
          </p:cNvSpPr>
          <p:nvPr/>
        </p:nvSpPr>
        <p:spPr bwMode="auto">
          <a:xfrm>
            <a:off x="5652971" y="4143763"/>
            <a:ext cx="1527294" cy="271377"/>
          </a:xfrm>
          <a:prstGeom prst="rect">
            <a:avLst/>
          </a:prstGeom>
          <a:noFill/>
          <a:ln w="9525" algn="ctr">
            <a:noFill/>
            <a:miter lim="800000"/>
            <a:headEnd/>
            <a:tailEnd/>
          </a:ln>
        </p:spPr>
        <p:txBody>
          <a:bodyPr wrap="none" anchor="ctr"/>
          <a:lstStyle/>
          <a:p>
            <a:pPr algn="ctr"/>
            <a:r>
              <a:rPr lang="en-US" altLang="ko-KR" sz="1100" dirty="0">
                <a:latin typeface="+mj-ea"/>
                <a:ea typeface="+mj-ea"/>
              </a:rPr>
              <a:t>1</a:t>
            </a:r>
            <a:r>
              <a:rPr lang="ko-KR" altLang="en-US" sz="1100" dirty="0">
                <a:latin typeface="+mj-ea"/>
                <a:ea typeface="+mj-ea"/>
              </a:rPr>
              <a:t>년 </a:t>
            </a:r>
            <a:r>
              <a:rPr lang="en-US" altLang="ko-KR" sz="1100" dirty="0">
                <a:latin typeface="+mj-ea"/>
                <a:ea typeface="+mj-ea"/>
              </a:rPr>
              <a:t>4</a:t>
            </a:r>
            <a:r>
              <a:rPr lang="ko-KR" altLang="en-US" sz="1100" dirty="0">
                <a:latin typeface="+mj-ea"/>
                <a:ea typeface="+mj-ea"/>
              </a:rPr>
              <a:t>월 이내</a:t>
            </a:r>
          </a:p>
        </p:txBody>
      </p:sp>
      <p:sp>
        <p:nvSpPr>
          <p:cNvPr id="67" name="양쪽 모서리가 둥근 사각형 66"/>
          <p:cNvSpPr/>
          <p:nvPr/>
        </p:nvSpPr>
        <p:spPr>
          <a:xfrm>
            <a:off x="2654375" y="5784625"/>
            <a:ext cx="7737400" cy="297741"/>
          </a:xfrm>
          <a:prstGeom prst="round2SameRect">
            <a:avLst>
              <a:gd name="adj1" fmla="val 50000"/>
              <a:gd name="adj2" fmla="val 0"/>
            </a:avLst>
          </a:prstGeom>
          <a:pattFill prst="dkVert">
            <a:fgClr>
              <a:schemeClr val="accent4">
                <a:lumMod val="60000"/>
                <a:lumOff val="4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68" name="직선 화살표 연결선 67"/>
          <p:cNvCxnSpPr/>
          <p:nvPr/>
        </p:nvCxnSpPr>
        <p:spPr>
          <a:xfrm>
            <a:off x="1480656" y="6081263"/>
            <a:ext cx="10130319" cy="0"/>
          </a:xfrm>
          <a:prstGeom prst="straightConnector1">
            <a:avLst/>
          </a:prstGeom>
          <a:ln w="28575">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9" name="Rectangle 14"/>
          <p:cNvSpPr>
            <a:spLocks noChangeArrowheads="1"/>
          </p:cNvSpPr>
          <p:nvPr/>
        </p:nvSpPr>
        <p:spPr bwMode="auto">
          <a:xfrm>
            <a:off x="6634873" y="6156905"/>
            <a:ext cx="1527294" cy="271377"/>
          </a:xfrm>
          <a:prstGeom prst="rect">
            <a:avLst/>
          </a:prstGeom>
          <a:noFill/>
          <a:ln w="9525" algn="ctr">
            <a:noFill/>
            <a:miter lim="800000"/>
            <a:headEnd/>
            <a:tailEnd/>
          </a:ln>
        </p:spPr>
        <p:txBody>
          <a:bodyPr wrap="none" anchor="ctr"/>
          <a:lstStyle/>
          <a:p>
            <a:pPr algn="ctr"/>
            <a:endParaRPr lang="ko-KR" altLang="en-US" sz="1100" dirty="0">
              <a:latin typeface="+mj-ea"/>
              <a:ea typeface="+mj-ea"/>
            </a:endParaRPr>
          </a:p>
        </p:txBody>
      </p:sp>
      <p:sp>
        <p:nvSpPr>
          <p:cNvPr id="70" name="Rectangle 14"/>
          <p:cNvSpPr>
            <a:spLocks noChangeArrowheads="1"/>
          </p:cNvSpPr>
          <p:nvPr/>
        </p:nvSpPr>
        <p:spPr bwMode="auto">
          <a:xfrm>
            <a:off x="1644384" y="6156905"/>
            <a:ext cx="1527294" cy="271377"/>
          </a:xfrm>
          <a:prstGeom prst="rect">
            <a:avLst/>
          </a:prstGeom>
          <a:noFill/>
          <a:ln w="9525" algn="ctr">
            <a:noFill/>
            <a:miter lim="800000"/>
            <a:headEnd/>
            <a:tailEnd/>
          </a:ln>
        </p:spPr>
        <p:txBody>
          <a:bodyPr wrap="none" anchor="ctr"/>
          <a:lstStyle/>
          <a:p>
            <a:pPr algn="ctr"/>
            <a:endParaRPr lang="ko-KR" altLang="en-US" sz="1100" dirty="0">
              <a:latin typeface="+mj-ea"/>
              <a:ea typeface="+mj-ea"/>
            </a:endParaRPr>
          </a:p>
        </p:txBody>
      </p:sp>
      <p:sp>
        <p:nvSpPr>
          <p:cNvPr id="71" name="Rectangle 14"/>
          <p:cNvSpPr>
            <a:spLocks noChangeArrowheads="1"/>
          </p:cNvSpPr>
          <p:nvPr/>
        </p:nvSpPr>
        <p:spPr bwMode="auto">
          <a:xfrm>
            <a:off x="4408447" y="6156905"/>
            <a:ext cx="1527294" cy="271377"/>
          </a:xfrm>
          <a:prstGeom prst="rect">
            <a:avLst/>
          </a:prstGeom>
          <a:noFill/>
          <a:ln w="9525" algn="ctr">
            <a:noFill/>
            <a:miter lim="800000"/>
            <a:headEnd/>
            <a:tailEnd/>
          </a:ln>
        </p:spPr>
        <p:txBody>
          <a:bodyPr wrap="none" anchor="ctr"/>
          <a:lstStyle/>
          <a:p>
            <a:pPr algn="ctr"/>
            <a:endParaRPr lang="ko-KR" altLang="en-US" sz="1100" dirty="0">
              <a:latin typeface="+mj-ea"/>
              <a:ea typeface="+mj-ea"/>
            </a:endParaRPr>
          </a:p>
        </p:txBody>
      </p:sp>
      <p:sp>
        <p:nvSpPr>
          <p:cNvPr id="72" name="Rectangle 14"/>
          <p:cNvSpPr>
            <a:spLocks noChangeArrowheads="1"/>
          </p:cNvSpPr>
          <p:nvPr/>
        </p:nvSpPr>
        <p:spPr bwMode="auto">
          <a:xfrm>
            <a:off x="1967977" y="5959149"/>
            <a:ext cx="1527294" cy="264572"/>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err="1">
                <a:latin typeface="+mj-ea"/>
                <a:ea typeface="+mj-ea"/>
              </a:rPr>
              <a:t>외국출원</a:t>
            </a:r>
            <a:r>
              <a:rPr lang="en-US" altLang="ko-KR" sz="1100" dirty="0">
                <a:latin typeface="+mj-ea"/>
                <a:ea typeface="+mj-ea"/>
              </a:rPr>
              <a:t>(X)</a:t>
            </a:r>
          </a:p>
        </p:txBody>
      </p:sp>
      <p:sp>
        <p:nvSpPr>
          <p:cNvPr id="73" name="Rectangle 14"/>
          <p:cNvSpPr>
            <a:spLocks noChangeArrowheads="1"/>
          </p:cNvSpPr>
          <p:nvPr/>
        </p:nvSpPr>
        <p:spPr bwMode="auto">
          <a:xfrm>
            <a:off x="4536562" y="5959149"/>
            <a:ext cx="1527294" cy="264572"/>
          </a:xfrm>
          <a:prstGeom prst="rect">
            <a:avLst/>
          </a:prstGeom>
          <a:solidFill>
            <a:schemeClr val="accent6">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err="1">
                <a:latin typeface="+mj-ea"/>
                <a:ea typeface="+mj-ea"/>
              </a:rPr>
              <a:t>외국출원</a:t>
            </a:r>
            <a:r>
              <a:rPr lang="en-US" altLang="ko-KR" sz="1100" dirty="0">
                <a:latin typeface="+mj-ea"/>
                <a:ea typeface="+mj-ea"/>
              </a:rPr>
              <a:t>(Y)</a:t>
            </a:r>
          </a:p>
        </p:txBody>
      </p:sp>
      <p:sp>
        <p:nvSpPr>
          <p:cNvPr id="74" name="Rectangle 14"/>
          <p:cNvSpPr>
            <a:spLocks noChangeArrowheads="1"/>
          </p:cNvSpPr>
          <p:nvPr/>
        </p:nvSpPr>
        <p:spPr bwMode="auto">
          <a:xfrm>
            <a:off x="7037769" y="5947383"/>
            <a:ext cx="1810796" cy="264572"/>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err="1">
                <a:latin typeface="+mj-ea"/>
                <a:ea typeface="+mj-ea"/>
              </a:rPr>
              <a:t>한국출원</a:t>
            </a:r>
            <a:r>
              <a:rPr lang="en-US" altLang="ko-KR" sz="1100" dirty="0">
                <a:latin typeface="+mj-ea"/>
                <a:ea typeface="+mj-ea"/>
              </a:rPr>
              <a:t>(Z)</a:t>
            </a:r>
          </a:p>
        </p:txBody>
      </p:sp>
      <p:sp>
        <p:nvSpPr>
          <p:cNvPr id="75" name="Rectangle 14"/>
          <p:cNvSpPr>
            <a:spLocks noChangeArrowheads="1"/>
          </p:cNvSpPr>
          <p:nvPr/>
        </p:nvSpPr>
        <p:spPr bwMode="auto">
          <a:xfrm>
            <a:off x="7037769" y="6206177"/>
            <a:ext cx="1810796" cy="264572"/>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100" dirty="0">
                <a:latin typeface="+mj-ea"/>
                <a:ea typeface="+mj-ea"/>
              </a:rPr>
              <a:t>X </a:t>
            </a:r>
            <a:r>
              <a:rPr lang="ko-KR" altLang="en-US" sz="1100" dirty="0">
                <a:latin typeface="+mj-ea"/>
                <a:ea typeface="+mj-ea"/>
              </a:rPr>
              <a:t>기초 조약우선권주장</a:t>
            </a:r>
            <a:endParaRPr lang="en-US" altLang="ko-KR" sz="1100" dirty="0">
              <a:latin typeface="+mj-ea"/>
              <a:ea typeface="+mj-ea"/>
            </a:endParaRPr>
          </a:p>
        </p:txBody>
      </p:sp>
      <p:sp>
        <p:nvSpPr>
          <p:cNvPr id="76" name="Rectangle 14"/>
          <p:cNvSpPr>
            <a:spLocks noChangeArrowheads="1"/>
          </p:cNvSpPr>
          <p:nvPr/>
        </p:nvSpPr>
        <p:spPr bwMode="auto">
          <a:xfrm>
            <a:off x="7037769" y="6463376"/>
            <a:ext cx="1810796" cy="264572"/>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100" dirty="0">
                <a:latin typeface="+mj-ea"/>
                <a:ea typeface="+mj-ea"/>
              </a:rPr>
              <a:t>Y </a:t>
            </a:r>
            <a:r>
              <a:rPr lang="ko-KR" altLang="en-US" sz="1100" dirty="0">
                <a:latin typeface="+mj-ea"/>
                <a:ea typeface="+mj-ea"/>
              </a:rPr>
              <a:t>기초 조약우선권주장</a:t>
            </a:r>
            <a:endParaRPr lang="en-US" altLang="ko-KR" sz="1100" dirty="0">
              <a:latin typeface="+mj-ea"/>
              <a:ea typeface="+mj-ea"/>
            </a:endParaRPr>
          </a:p>
        </p:txBody>
      </p:sp>
      <p:sp>
        <p:nvSpPr>
          <p:cNvPr id="77" name="Rectangle 14"/>
          <p:cNvSpPr>
            <a:spLocks noChangeArrowheads="1"/>
          </p:cNvSpPr>
          <p:nvPr/>
        </p:nvSpPr>
        <p:spPr bwMode="auto">
          <a:xfrm>
            <a:off x="9628128" y="5947383"/>
            <a:ext cx="1527294" cy="264572"/>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a:latin typeface="+mj-ea"/>
                <a:ea typeface="+mj-ea"/>
              </a:rPr>
              <a:t>증명서류</a:t>
            </a:r>
            <a:r>
              <a:rPr lang="en-US" altLang="ko-KR" sz="1100" dirty="0">
                <a:latin typeface="+mj-ea"/>
                <a:ea typeface="+mj-ea"/>
              </a:rPr>
              <a:t>(X)</a:t>
            </a:r>
          </a:p>
        </p:txBody>
      </p:sp>
      <p:sp>
        <p:nvSpPr>
          <p:cNvPr id="78" name="Rectangle 14"/>
          <p:cNvSpPr>
            <a:spLocks noChangeArrowheads="1"/>
          </p:cNvSpPr>
          <p:nvPr/>
        </p:nvSpPr>
        <p:spPr bwMode="auto">
          <a:xfrm>
            <a:off x="5652971" y="5494198"/>
            <a:ext cx="1527294" cy="271377"/>
          </a:xfrm>
          <a:prstGeom prst="rect">
            <a:avLst/>
          </a:prstGeom>
          <a:noFill/>
          <a:ln w="9525" algn="ctr">
            <a:noFill/>
            <a:miter lim="800000"/>
            <a:headEnd/>
            <a:tailEnd/>
          </a:ln>
        </p:spPr>
        <p:txBody>
          <a:bodyPr wrap="none" anchor="ctr"/>
          <a:lstStyle/>
          <a:p>
            <a:pPr algn="ctr"/>
            <a:r>
              <a:rPr lang="en-US" altLang="ko-KR" sz="1100" dirty="0">
                <a:latin typeface="+mj-ea"/>
                <a:ea typeface="+mj-ea"/>
              </a:rPr>
              <a:t>1</a:t>
            </a:r>
            <a:r>
              <a:rPr lang="ko-KR" altLang="en-US" sz="1100" dirty="0">
                <a:latin typeface="+mj-ea"/>
                <a:ea typeface="+mj-ea"/>
              </a:rPr>
              <a:t>년 </a:t>
            </a:r>
            <a:r>
              <a:rPr lang="en-US" altLang="ko-KR" sz="1100" dirty="0">
                <a:latin typeface="+mj-ea"/>
                <a:ea typeface="+mj-ea"/>
              </a:rPr>
              <a:t>4</a:t>
            </a:r>
            <a:r>
              <a:rPr lang="ko-KR" altLang="en-US" sz="1100" dirty="0">
                <a:latin typeface="+mj-ea"/>
                <a:ea typeface="+mj-ea"/>
              </a:rPr>
              <a:t>월 이내</a:t>
            </a:r>
          </a:p>
        </p:txBody>
      </p:sp>
      <p:sp>
        <p:nvSpPr>
          <p:cNvPr id="79" name="Rectangle 14"/>
          <p:cNvSpPr>
            <a:spLocks noChangeArrowheads="1"/>
          </p:cNvSpPr>
          <p:nvPr/>
        </p:nvSpPr>
        <p:spPr bwMode="auto">
          <a:xfrm>
            <a:off x="9628128" y="6213549"/>
            <a:ext cx="1527294" cy="264572"/>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a:latin typeface="+mj-ea"/>
                <a:ea typeface="+mj-ea"/>
              </a:rPr>
              <a:t>증명서류</a:t>
            </a:r>
            <a:r>
              <a:rPr lang="en-US" altLang="ko-KR" sz="1100" dirty="0">
                <a:latin typeface="+mj-ea"/>
                <a:ea typeface="+mj-ea"/>
              </a:rPr>
              <a:t>(Y)</a:t>
            </a:r>
          </a:p>
        </p:txBody>
      </p:sp>
      <p:sp>
        <p:nvSpPr>
          <p:cNvPr id="96" name="모서리가 둥근 직사각형 95"/>
          <p:cNvSpPr/>
          <p:nvPr/>
        </p:nvSpPr>
        <p:spPr>
          <a:xfrm>
            <a:off x="304800" y="5765575"/>
            <a:ext cx="885825" cy="712546"/>
          </a:xfrm>
          <a:prstGeom prst="round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lumMod val="50000"/>
                  </a:schemeClr>
                </a:solidFill>
              </a:rPr>
              <a:t>제</a:t>
            </a:r>
            <a:r>
              <a:rPr lang="en-US" altLang="ko-KR" sz="1400" dirty="0">
                <a:solidFill>
                  <a:schemeClr val="bg1">
                    <a:lumMod val="50000"/>
                  </a:schemeClr>
                </a:solidFill>
              </a:rPr>
              <a:t>54</a:t>
            </a:r>
            <a:r>
              <a:rPr lang="ko-KR" altLang="en-US" sz="1400" dirty="0">
                <a:solidFill>
                  <a:schemeClr val="bg1">
                    <a:lumMod val="50000"/>
                  </a:schemeClr>
                </a:solidFill>
              </a:rPr>
              <a:t>조제</a:t>
            </a:r>
            <a:r>
              <a:rPr lang="en-US" altLang="ko-KR" sz="1400" dirty="0">
                <a:solidFill>
                  <a:schemeClr val="bg1">
                    <a:lumMod val="50000"/>
                  </a:schemeClr>
                </a:solidFill>
              </a:rPr>
              <a:t>5</a:t>
            </a:r>
            <a:r>
              <a:rPr lang="ko-KR" altLang="en-US" sz="1400" dirty="0">
                <a:solidFill>
                  <a:schemeClr val="bg1">
                    <a:lumMod val="50000"/>
                  </a:schemeClr>
                </a:solidFill>
              </a:rPr>
              <a:t>항</a:t>
            </a:r>
            <a:endParaRPr lang="en-US" altLang="ko-KR" sz="1400" dirty="0">
              <a:solidFill>
                <a:schemeClr val="bg1">
                  <a:lumMod val="50000"/>
                </a:schemeClr>
              </a:solidFill>
            </a:endParaRPr>
          </a:p>
          <a:p>
            <a:pPr algn="ctr"/>
            <a:r>
              <a:rPr lang="ko-KR" altLang="en-US" sz="1400" dirty="0">
                <a:solidFill>
                  <a:schemeClr val="bg1">
                    <a:lumMod val="50000"/>
                  </a:schemeClr>
                </a:solidFill>
              </a:rPr>
              <a:t>제</a:t>
            </a:r>
            <a:r>
              <a:rPr lang="en-US" altLang="ko-KR" sz="1400" dirty="0">
                <a:solidFill>
                  <a:schemeClr val="bg1">
                    <a:lumMod val="50000"/>
                  </a:schemeClr>
                </a:solidFill>
              </a:rPr>
              <a:t>3</a:t>
            </a:r>
            <a:r>
              <a:rPr lang="ko-KR" altLang="en-US" sz="1400" dirty="0">
                <a:solidFill>
                  <a:schemeClr val="bg1">
                    <a:lumMod val="50000"/>
                  </a:schemeClr>
                </a:solidFill>
              </a:rPr>
              <a:t>호</a:t>
            </a:r>
          </a:p>
        </p:txBody>
      </p:sp>
      <p:sp>
        <p:nvSpPr>
          <p:cNvPr id="2" name="슬라이드 번호 개체 틀 1"/>
          <p:cNvSpPr>
            <a:spLocks noGrp="1"/>
          </p:cNvSpPr>
          <p:nvPr>
            <p:ph type="sldNum" sz="quarter" idx="12"/>
          </p:nvPr>
        </p:nvSpPr>
        <p:spPr/>
        <p:txBody>
          <a:bodyPr/>
          <a:lstStyle/>
          <a:p>
            <a:r>
              <a:rPr lang="en-US" altLang="ko-KR"/>
              <a:t>220</a:t>
            </a:r>
            <a:endParaRPr lang="ko-KR" altLang="en-US"/>
          </a:p>
        </p:txBody>
      </p:sp>
    </p:spTree>
    <p:extLst>
      <p:ext uri="{BB962C8B-B14F-4D97-AF65-F5344CB8AC3E}">
        <p14:creationId xmlns:p14="http://schemas.microsoft.com/office/powerpoint/2010/main" val="3143958894"/>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5" name="텍스트 개체 틀 4"/>
          <p:cNvSpPr>
            <a:spLocks noGrp="1"/>
          </p:cNvSpPr>
          <p:nvPr>
            <p:ph type="body" sz="quarter" idx="13"/>
          </p:nvPr>
        </p:nvSpPr>
        <p:spPr/>
        <p:txBody>
          <a:bodyPr/>
          <a:lstStyle/>
          <a:p>
            <a:r>
              <a:rPr lang="ko-KR" altLang="en-US" dirty="0"/>
              <a:t>분할출원</a:t>
            </a:r>
            <a:r>
              <a:rPr lang="en-US" altLang="ko-KR" dirty="0"/>
              <a:t>/</a:t>
            </a:r>
            <a:r>
              <a:rPr lang="ko-KR" altLang="en-US" dirty="0"/>
              <a:t>변경출원이 조약우선권주장을 수반하는 경우</a:t>
            </a:r>
          </a:p>
        </p:txBody>
      </p:sp>
      <p:sp>
        <p:nvSpPr>
          <p:cNvPr id="33" name="TextBox 32"/>
          <p:cNvSpPr txBox="1"/>
          <p:nvPr/>
        </p:nvSpPr>
        <p:spPr>
          <a:xfrm>
            <a:off x="77875" y="1383895"/>
            <a:ext cx="5951989" cy="1954381"/>
          </a:xfrm>
          <a:prstGeom prst="rect">
            <a:avLst/>
          </a:prstGeom>
          <a:noFill/>
        </p:spPr>
        <p:txBody>
          <a:bodyPr wrap="square" rtlCol="0">
            <a:spAutoFit/>
          </a:bodyPr>
          <a:lstStyle/>
          <a:p>
            <a:pPr algn="just" fontAlgn="base"/>
            <a:r>
              <a:rPr lang="ko-KR" altLang="en-US" sz="1100" dirty="0">
                <a:solidFill>
                  <a:schemeClr val="tx2"/>
                </a:solidFill>
                <a:latin typeface="+mn-ea"/>
              </a:rPr>
              <a:t>분할출원</a:t>
            </a:r>
            <a:r>
              <a:rPr lang="en-US" altLang="ko-KR" sz="1100" dirty="0">
                <a:solidFill>
                  <a:schemeClr val="tx2"/>
                </a:solidFill>
                <a:latin typeface="+mn-ea"/>
              </a:rPr>
              <a:t>(Z)</a:t>
            </a:r>
            <a:r>
              <a:rPr lang="ko-KR" altLang="en-US" sz="1100" dirty="0">
                <a:solidFill>
                  <a:schemeClr val="tx2"/>
                </a:solidFill>
                <a:latin typeface="+mn-ea"/>
              </a:rPr>
              <a:t>은 </a:t>
            </a:r>
            <a:r>
              <a:rPr lang="ko-KR" altLang="en-US" sz="1100" dirty="0" err="1">
                <a:solidFill>
                  <a:schemeClr val="tx2"/>
                </a:solidFill>
                <a:latin typeface="+mn-ea"/>
              </a:rPr>
              <a:t>원출원</a:t>
            </a:r>
            <a:r>
              <a:rPr lang="en-US" altLang="ko-KR" sz="1100" dirty="0">
                <a:solidFill>
                  <a:schemeClr val="tx2"/>
                </a:solidFill>
                <a:latin typeface="+mn-ea"/>
              </a:rPr>
              <a:t>(Y)</a:t>
            </a:r>
            <a:r>
              <a:rPr lang="ko-KR" altLang="en-US" sz="1100" dirty="0">
                <a:solidFill>
                  <a:schemeClr val="tx2"/>
                </a:solidFill>
                <a:latin typeface="+mn-ea"/>
              </a:rPr>
              <a:t>의 출원일로 소급효가 인정되는 것을 제외하고는 </a:t>
            </a:r>
            <a:r>
              <a:rPr lang="ko-KR" altLang="en-US" sz="1100" dirty="0" err="1">
                <a:solidFill>
                  <a:schemeClr val="tx2"/>
                </a:solidFill>
                <a:latin typeface="+mn-ea"/>
              </a:rPr>
              <a:t>원출원</a:t>
            </a:r>
            <a:r>
              <a:rPr lang="en-US" altLang="ko-KR" sz="1100" dirty="0">
                <a:solidFill>
                  <a:schemeClr val="tx2"/>
                </a:solidFill>
                <a:latin typeface="+mn-ea"/>
              </a:rPr>
              <a:t>(Y)</a:t>
            </a:r>
            <a:r>
              <a:rPr lang="ko-KR" altLang="en-US" sz="1100" dirty="0">
                <a:solidFill>
                  <a:schemeClr val="tx2"/>
                </a:solidFill>
                <a:latin typeface="+mn-ea"/>
              </a:rPr>
              <a:t>과는 별개의 특허출원이다</a:t>
            </a:r>
            <a:r>
              <a:rPr lang="en-US" altLang="ko-KR" sz="1100" dirty="0">
                <a:solidFill>
                  <a:schemeClr val="tx2"/>
                </a:solidFill>
                <a:latin typeface="+mn-ea"/>
              </a:rPr>
              <a:t>. </a:t>
            </a:r>
            <a:r>
              <a:rPr lang="ko-KR" altLang="en-US" sz="1100" dirty="0">
                <a:solidFill>
                  <a:schemeClr val="tx2"/>
                </a:solidFill>
                <a:latin typeface="+mn-ea"/>
              </a:rPr>
              <a:t>따라서 </a:t>
            </a:r>
            <a:r>
              <a:rPr lang="ko-KR" altLang="en-US" sz="1100" dirty="0" err="1">
                <a:solidFill>
                  <a:schemeClr val="tx2"/>
                </a:solidFill>
                <a:latin typeface="+mn-ea"/>
              </a:rPr>
              <a:t>원출원</a:t>
            </a:r>
            <a:r>
              <a:rPr lang="en-US" altLang="ko-KR" sz="1100" dirty="0">
                <a:solidFill>
                  <a:schemeClr val="tx2"/>
                </a:solidFill>
                <a:latin typeface="+mn-ea"/>
              </a:rPr>
              <a:t>(Y)</a:t>
            </a:r>
            <a:r>
              <a:rPr lang="ko-KR" altLang="en-US" sz="1100" dirty="0">
                <a:solidFill>
                  <a:schemeClr val="tx2"/>
                </a:solidFill>
                <a:latin typeface="+mn-ea"/>
              </a:rPr>
              <a:t>이 </a:t>
            </a:r>
            <a:r>
              <a:rPr lang="ko-KR" altLang="en-US" sz="1100" dirty="0" err="1">
                <a:solidFill>
                  <a:schemeClr val="tx2"/>
                </a:solidFill>
                <a:latin typeface="+mn-ea"/>
              </a:rPr>
              <a:t>조약우선권주장을</a:t>
            </a:r>
            <a:r>
              <a:rPr lang="ko-KR" altLang="en-US" sz="1100" dirty="0">
                <a:solidFill>
                  <a:schemeClr val="tx2"/>
                </a:solidFill>
                <a:latin typeface="+mn-ea"/>
              </a:rPr>
              <a:t> 수반하였다고 할지라도 분할출원</a:t>
            </a:r>
            <a:r>
              <a:rPr lang="en-US" altLang="ko-KR" sz="1100" dirty="0">
                <a:solidFill>
                  <a:schemeClr val="tx2"/>
                </a:solidFill>
                <a:latin typeface="+mn-ea"/>
              </a:rPr>
              <a:t>(Z)</a:t>
            </a:r>
            <a:r>
              <a:rPr lang="ko-KR" altLang="en-US" sz="1100" dirty="0">
                <a:solidFill>
                  <a:schemeClr val="tx2"/>
                </a:solidFill>
                <a:latin typeface="+mn-ea"/>
              </a:rPr>
              <a:t>이 그 효과를 </a:t>
            </a:r>
            <a:r>
              <a:rPr lang="ko-KR" altLang="en-US" sz="1100" dirty="0" err="1">
                <a:solidFill>
                  <a:schemeClr val="tx2"/>
                </a:solidFill>
                <a:latin typeface="+mn-ea"/>
              </a:rPr>
              <a:t>적용받기</a:t>
            </a:r>
            <a:r>
              <a:rPr lang="ko-KR" altLang="en-US" sz="1100" dirty="0">
                <a:solidFill>
                  <a:schemeClr val="tx2"/>
                </a:solidFill>
                <a:latin typeface="+mn-ea"/>
              </a:rPr>
              <a:t> 위해서는 분할출원</a:t>
            </a:r>
            <a:r>
              <a:rPr lang="en-US" altLang="ko-KR" sz="1100" dirty="0">
                <a:solidFill>
                  <a:schemeClr val="tx2"/>
                </a:solidFill>
                <a:latin typeface="+mn-ea"/>
              </a:rPr>
              <a:t>(Z) </a:t>
            </a:r>
            <a:r>
              <a:rPr lang="ko-KR" altLang="en-US" sz="1100" dirty="0">
                <a:solidFill>
                  <a:schemeClr val="tx2"/>
                </a:solidFill>
                <a:latin typeface="+mn-ea"/>
              </a:rPr>
              <a:t>역시 우선기간인 </a:t>
            </a:r>
            <a:r>
              <a:rPr lang="en-US" altLang="ko-KR" sz="1100" dirty="0">
                <a:solidFill>
                  <a:schemeClr val="tx2"/>
                </a:solidFill>
                <a:latin typeface="+mn-ea"/>
              </a:rPr>
              <a:t>1</a:t>
            </a:r>
            <a:r>
              <a:rPr lang="ko-KR" altLang="en-US" sz="1100" dirty="0">
                <a:solidFill>
                  <a:schemeClr val="tx2"/>
                </a:solidFill>
                <a:latin typeface="+mn-ea"/>
              </a:rPr>
              <a:t>년 이내 출원</a:t>
            </a:r>
            <a:r>
              <a:rPr lang="en-US" altLang="ko-KR" sz="1100" dirty="0">
                <a:solidFill>
                  <a:schemeClr val="tx2"/>
                </a:solidFill>
                <a:latin typeface="+mn-ea"/>
              </a:rPr>
              <a:t>, </a:t>
            </a:r>
            <a:r>
              <a:rPr lang="ko-KR" altLang="en-US" sz="1100" dirty="0">
                <a:solidFill>
                  <a:schemeClr val="tx2"/>
                </a:solidFill>
                <a:latin typeface="+mn-ea"/>
              </a:rPr>
              <a:t>출원할 때 주장</a:t>
            </a:r>
            <a:r>
              <a:rPr lang="en-US" altLang="ko-KR" sz="1100" dirty="0">
                <a:solidFill>
                  <a:schemeClr val="tx2"/>
                </a:solidFill>
                <a:latin typeface="+mn-ea"/>
              </a:rPr>
              <a:t>(</a:t>
            </a:r>
            <a:r>
              <a:rPr lang="ko-KR" altLang="en-US" sz="1100" dirty="0">
                <a:solidFill>
                  <a:schemeClr val="tx2"/>
                </a:solidFill>
                <a:latin typeface="+mn-ea"/>
              </a:rPr>
              <a:t>취지 기재</a:t>
            </a:r>
            <a:r>
              <a:rPr lang="en-US" altLang="ko-KR" sz="1100" dirty="0">
                <a:solidFill>
                  <a:schemeClr val="tx2"/>
                </a:solidFill>
                <a:latin typeface="+mn-ea"/>
              </a:rPr>
              <a:t>) </a:t>
            </a:r>
            <a:r>
              <a:rPr lang="ko-KR" altLang="en-US" sz="1100" dirty="0">
                <a:solidFill>
                  <a:schemeClr val="tx2"/>
                </a:solidFill>
                <a:latin typeface="+mn-ea"/>
              </a:rPr>
              <a:t>및 최우선일로부터 </a:t>
            </a:r>
            <a:r>
              <a:rPr lang="en-US" altLang="ko-KR" sz="1100" dirty="0">
                <a:solidFill>
                  <a:schemeClr val="tx2"/>
                </a:solidFill>
                <a:latin typeface="+mn-ea"/>
              </a:rPr>
              <a:t>1</a:t>
            </a:r>
            <a:r>
              <a:rPr lang="ko-KR" altLang="en-US" sz="1100" dirty="0">
                <a:solidFill>
                  <a:schemeClr val="tx2"/>
                </a:solidFill>
                <a:latin typeface="+mn-ea"/>
              </a:rPr>
              <a:t>년 </a:t>
            </a:r>
            <a:r>
              <a:rPr lang="en-US" altLang="ko-KR" sz="1100" dirty="0">
                <a:solidFill>
                  <a:schemeClr val="tx2"/>
                </a:solidFill>
                <a:latin typeface="+mn-ea"/>
              </a:rPr>
              <a:t>4</a:t>
            </a:r>
            <a:r>
              <a:rPr lang="ko-KR" altLang="en-US" sz="1100" dirty="0">
                <a:solidFill>
                  <a:schemeClr val="tx2"/>
                </a:solidFill>
                <a:latin typeface="+mn-ea"/>
              </a:rPr>
              <a:t>개월 이내 증명서류를 제출하여야 한다</a:t>
            </a:r>
            <a:r>
              <a:rPr lang="en-US" altLang="ko-KR" sz="1100" dirty="0">
                <a:solidFill>
                  <a:schemeClr val="tx2"/>
                </a:solidFill>
                <a:latin typeface="+mn-ea"/>
              </a:rPr>
              <a:t>. </a:t>
            </a:r>
            <a:r>
              <a:rPr lang="ko-KR" altLang="en-US" sz="1100" kern="0" spc="0" dirty="0">
                <a:solidFill>
                  <a:srgbClr val="FF0000"/>
                </a:solidFill>
                <a:effectLst/>
                <a:latin typeface="+mn-ea"/>
              </a:rPr>
              <a:t>그런데</a:t>
            </a:r>
            <a:r>
              <a:rPr lang="en-US" altLang="ko-KR" sz="1100" kern="0" spc="-50" dirty="0">
                <a:solidFill>
                  <a:srgbClr val="FF0000"/>
                </a:solidFill>
                <a:effectLst/>
                <a:latin typeface="+mn-ea"/>
              </a:rPr>
              <a:t>, </a:t>
            </a:r>
            <a:r>
              <a:rPr lang="ko-KR" altLang="en-US" sz="1100" kern="0" dirty="0">
                <a:solidFill>
                  <a:srgbClr val="FF0000"/>
                </a:solidFill>
                <a:latin typeface="+mn-ea"/>
              </a:rPr>
              <a:t>분할</a:t>
            </a:r>
            <a:r>
              <a:rPr lang="ko-KR" altLang="en-US" sz="1100" kern="0" spc="0" dirty="0">
                <a:solidFill>
                  <a:srgbClr val="FF0000"/>
                </a:solidFill>
                <a:effectLst/>
                <a:latin typeface="+mn-ea"/>
              </a:rPr>
              <a:t>출원</a:t>
            </a:r>
            <a:r>
              <a:rPr lang="en-US" altLang="ko-KR" sz="1100" kern="0" spc="-50" dirty="0">
                <a:solidFill>
                  <a:srgbClr val="FF0000"/>
                </a:solidFill>
                <a:effectLst/>
                <a:latin typeface="+mn-ea"/>
              </a:rPr>
              <a:t>(Z)</a:t>
            </a:r>
            <a:r>
              <a:rPr lang="ko-KR" altLang="en-US" sz="1100" kern="0" spc="0" dirty="0">
                <a:solidFill>
                  <a:srgbClr val="FF0000"/>
                </a:solidFill>
                <a:effectLst/>
                <a:latin typeface="+mn-ea"/>
              </a:rPr>
              <a:t>이 이와 같은 </a:t>
            </a:r>
            <a:r>
              <a:rPr lang="ko-KR" altLang="en-US" sz="1100" kern="0" spc="0" dirty="0" err="1">
                <a:solidFill>
                  <a:srgbClr val="FF0000"/>
                </a:solidFill>
                <a:effectLst/>
                <a:latin typeface="+mn-ea"/>
              </a:rPr>
              <a:t>조약우선권주장을</a:t>
            </a:r>
            <a:r>
              <a:rPr lang="ko-KR" altLang="en-US" sz="1100" kern="0" spc="0" dirty="0">
                <a:solidFill>
                  <a:srgbClr val="FF0000"/>
                </a:solidFill>
                <a:effectLst/>
                <a:latin typeface="+mn-ea"/>
              </a:rPr>
              <a:t> 수반하는 경우에는 출원인의 이익을 위해서 </a:t>
            </a:r>
            <a:r>
              <a:rPr lang="en-US" altLang="ko-KR" sz="1100" kern="0" spc="-50" dirty="0">
                <a:solidFill>
                  <a:srgbClr val="FF0000"/>
                </a:solidFill>
                <a:effectLst/>
                <a:latin typeface="+mn-ea"/>
              </a:rPr>
              <a:t>1</a:t>
            </a:r>
            <a:r>
              <a:rPr lang="ko-KR" altLang="en-US" sz="1100" kern="0" spc="0" dirty="0">
                <a:solidFill>
                  <a:srgbClr val="FF0000"/>
                </a:solidFill>
                <a:effectLst/>
                <a:latin typeface="+mn-ea"/>
              </a:rPr>
              <a:t>년의 판단은 </a:t>
            </a:r>
            <a:r>
              <a:rPr lang="en-US" altLang="ko-KR" sz="1100" kern="0" spc="-50" dirty="0">
                <a:solidFill>
                  <a:srgbClr val="FF0000"/>
                </a:solidFill>
                <a:effectLst/>
                <a:latin typeface="+mn-ea"/>
              </a:rPr>
              <a:t>Y </a:t>
            </a:r>
            <a:r>
              <a:rPr lang="ko-KR" altLang="en-US" sz="1100" kern="0" spc="0" dirty="0">
                <a:solidFill>
                  <a:srgbClr val="FF0000"/>
                </a:solidFill>
                <a:effectLst/>
                <a:latin typeface="+mn-ea"/>
              </a:rPr>
              <a:t>출원일을 기준으로 판단하고</a:t>
            </a:r>
            <a:r>
              <a:rPr lang="en-US" altLang="ko-KR" sz="1100" kern="0" spc="0" dirty="0">
                <a:solidFill>
                  <a:srgbClr val="FF0000"/>
                </a:solidFill>
                <a:effectLst/>
                <a:highlight>
                  <a:srgbClr val="FFFF00"/>
                </a:highlight>
                <a:latin typeface="+mn-ea"/>
              </a:rPr>
              <a:t>, </a:t>
            </a:r>
            <a:r>
              <a:rPr lang="ko-KR" altLang="en-US" sz="1100" dirty="0">
                <a:solidFill>
                  <a:srgbClr val="FF0000"/>
                </a:solidFill>
                <a:highlight>
                  <a:srgbClr val="FFFF00"/>
                </a:highlight>
                <a:latin typeface="+mn-ea"/>
              </a:rPr>
              <a:t>원출원이 조약우선권을 주장한 특허출원인 경우에는 분할출원을 한 때에 그 분할출원에 대해서도 우선권 주장을 한 것으로 보며</a:t>
            </a:r>
            <a:r>
              <a:rPr lang="en-US" altLang="ko-KR" sz="1100" dirty="0">
                <a:solidFill>
                  <a:srgbClr val="FF0000"/>
                </a:solidFill>
                <a:highlight>
                  <a:srgbClr val="FFFF00"/>
                </a:highlight>
                <a:latin typeface="+mn-ea"/>
              </a:rPr>
              <a:t>(</a:t>
            </a:r>
            <a:r>
              <a:rPr lang="ko-KR" altLang="en-US" sz="1100" dirty="0">
                <a:solidFill>
                  <a:srgbClr val="FF0000"/>
                </a:solidFill>
                <a:highlight>
                  <a:srgbClr val="FFFF00"/>
                </a:highlight>
                <a:latin typeface="+mn-ea"/>
              </a:rPr>
              <a:t>자동 주장 간주</a:t>
            </a:r>
            <a:r>
              <a:rPr lang="en-US" altLang="ko-KR" sz="1100" dirty="0">
                <a:solidFill>
                  <a:srgbClr val="FF0000"/>
                </a:solidFill>
                <a:highlight>
                  <a:srgbClr val="FFFF00"/>
                </a:highlight>
                <a:latin typeface="+mn-ea"/>
              </a:rPr>
              <a:t>), </a:t>
            </a:r>
            <a:r>
              <a:rPr lang="ko-KR" altLang="en-US" sz="1100" dirty="0">
                <a:solidFill>
                  <a:srgbClr val="FF0000"/>
                </a:solidFill>
                <a:highlight>
                  <a:srgbClr val="FFFF00"/>
                </a:highlight>
                <a:latin typeface="+mn-ea"/>
              </a:rPr>
              <a:t>원출원에 대하여 </a:t>
            </a:r>
            <a:r>
              <a:rPr lang="ko-KR" altLang="en-US" sz="1100" dirty="0" err="1">
                <a:solidFill>
                  <a:srgbClr val="FF0000"/>
                </a:solidFill>
                <a:highlight>
                  <a:srgbClr val="FFFF00"/>
                </a:highlight>
                <a:latin typeface="+mn-ea"/>
              </a:rPr>
              <a:t>조약우선권주장의</a:t>
            </a:r>
            <a:r>
              <a:rPr lang="ko-KR" altLang="en-US" sz="1100" dirty="0">
                <a:solidFill>
                  <a:srgbClr val="FF0000"/>
                </a:solidFill>
                <a:highlight>
                  <a:srgbClr val="FFFF00"/>
                </a:highlight>
                <a:latin typeface="+mn-ea"/>
              </a:rPr>
              <a:t> 증명서류 제출기간 내 제출된 서류 또는 서면이 있는 경우에는 분할출원에 대해서도 해당 서류 또는 서면이 제출된 것으로 본다</a:t>
            </a:r>
            <a:r>
              <a:rPr lang="en-US" altLang="ko-KR" sz="1100" dirty="0">
                <a:solidFill>
                  <a:srgbClr val="FF0000"/>
                </a:solidFill>
                <a:highlight>
                  <a:srgbClr val="FFFF00"/>
                </a:highlight>
                <a:latin typeface="+mn-ea"/>
              </a:rPr>
              <a:t>(</a:t>
            </a:r>
            <a:r>
              <a:rPr lang="ko-KR" altLang="en-US" sz="1100" dirty="0">
                <a:solidFill>
                  <a:srgbClr val="FF0000"/>
                </a:solidFill>
                <a:highlight>
                  <a:srgbClr val="FFFF00"/>
                </a:highlight>
                <a:latin typeface="+mn-ea"/>
              </a:rPr>
              <a:t>자동 증명서류 제출간주</a:t>
            </a:r>
            <a:r>
              <a:rPr lang="en-US" altLang="ko-KR" sz="1100" dirty="0">
                <a:solidFill>
                  <a:srgbClr val="FF0000"/>
                </a:solidFill>
                <a:highlight>
                  <a:srgbClr val="FFFF00"/>
                </a:highlight>
                <a:latin typeface="+mn-ea"/>
              </a:rPr>
              <a:t>).</a:t>
            </a:r>
            <a:r>
              <a:rPr lang="en-US" altLang="ko-KR" sz="1100" dirty="0">
                <a:solidFill>
                  <a:srgbClr val="FF0000"/>
                </a:solidFill>
                <a:latin typeface="+mn-ea"/>
              </a:rPr>
              <a:t> </a:t>
            </a:r>
            <a:r>
              <a:rPr lang="ko-KR" altLang="en-US" sz="1100" dirty="0">
                <a:solidFill>
                  <a:srgbClr val="FF0000"/>
                </a:solidFill>
                <a:latin typeface="+mn-ea"/>
              </a:rPr>
              <a:t>다만</a:t>
            </a:r>
            <a:r>
              <a:rPr lang="en-US" altLang="ko-KR" sz="1100" dirty="0">
                <a:solidFill>
                  <a:srgbClr val="FF0000"/>
                </a:solidFill>
                <a:latin typeface="+mn-ea"/>
              </a:rPr>
              <a:t>, </a:t>
            </a:r>
            <a:r>
              <a:rPr lang="ko-KR" altLang="en-US" sz="1100" dirty="0" err="1">
                <a:solidFill>
                  <a:srgbClr val="FF0000"/>
                </a:solidFill>
                <a:latin typeface="+mn-ea"/>
              </a:rPr>
              <a:t>원출원</a:t>
            </a:r>
            <a:r>
              <a:rPr lang="en-US" altLang="ko-KR" sz="1100" dirty="0">
                <a:solidFill>
                  <a:srgbClr val="FF0000"/>
                </a:solidFill>
                <a:latin typeface="+mn-ea"/>
              </a:rPr>
              <a:t>(X)</a:t>
            </a:r>
            <a:r>
              <a:rPr lang="ko-KR" altLang="en-US" sz="1100" dirty="0">
                <a:solidFill>
                  <a:srgbClr val="FF0000"/>
                </a:solidFill>
                <a:latin typeface="+mn-ea"/>
              </a:rPr>
              <a:t>이 최우선일</a:t>
            </a:r>
            <a:r>
              <a:rPr lang="en-US" altLang="ko-KR" sz="1100" dirty="0">
                <a:solidFill>
                  <a:srgbClr val="FF0000"/>
                </a:solidFill>
                <a:latin typeface="+mn-ea"/>
              </a:rPr>
              <a:t>(X)</a:t>
            </a:r>
            <a:r>
              <a:rPr lang="ko-KR" altLang="en-US" sz="1100" dirty="0">
                <a:solidFill>
                  <a:srgbClr val="FF0000"/>
                </a:solidFill>
                <a:latin typeface="+mn-ea"/>
              </a:rPr>
              <a:t>로부터 </a:t>
            </a:r>
            <a:r>
              <a:rPr lang="en-US" altLang="ko-KR" sz="1100" dirty="0">
                <a:solidFill>
                  <a:srgbClr val="FF0000"/>
                </a:solidFill>
                <a:latin typeface="+mn-ea"/>
              </a:rPr>
              <a:t>1</a:t>
            </a:r>
            <a:r>
              <a:rPr lang="ko-KR" altLang="en-US" sz="1100" dirty="0">
                <a:solidFill>
                  <a:srgbClr val="FF0000"/>
                </a:solidFill>
                <a:latin typeface="+mn-ea"/>
              </a:rPr>
              <a:t>년 </a:t>
            </a:r>
            <a:r>
              <a:rPr lang="en-US" altLang="ko-KR" sz="1100" dirty="0">
                <a:solidFill>
                  <a:srgbClr val="FF0000"/>
                </a:solidFill>
                <a:latin typeface="+mn-ea"/>
              </a:rPr>
              <a:t>4</a:t>
            </a:r>
            <a:r>
              <a:rPr lang="ko-KR" altLang="en-US" sz="1100" dirty="0">
                <a:solidFill>
                  <a:srgbClr val="FF0000"/>
                </a:solidFill>
                <a:latin typeface="+mn-ea"/>
              </a:rPr>
              <a:t>개월까지 </a:t>
            </a:r>
            <a:r>
              <a:rPr lang="ko-KR" altLang="en-US" sz="1100" dirty="0" err="1">
                <a:solidFill>
                  <a:srgbClr val="FF0000"/>
                </a:solidFill>
                <a:latin typeface="+mn-ea"/>
              </a:rPr>
              <a:t>원출원</a:t>
            </a:r>
            <a:r>
              <a:rPr lang="en-US" altLang="ko-KR" sz="1100" dirty="0">
                <a:solidFill>
                  <a:srgbClr val="FF0000"/>
                </a:solidFill>
                <a:latin typeface="+mn-ea"/>
              </a:rPr>
              <a:t>(Y)</a:t>
            </a:r>
            <a:r>
              <a:rPr lang="ko-KR" altLang="en-US" sz="1100" dirty="0">
                <a:solidFill>
                  <a:srgbClr val="FF0000"/>
                </a:solidFill>
                <a:latin typeface="+mn-ea"/>
              </a:rPr>
              <a:t>에 대한 </a:t>
            </a:r>
            <a:r>
              <a:rPr lang="ko-KR" altLang="en-US" sz="1100" dirty="0" err="1">
                <a:solidFill>
                  <a:srgbClr val="FF0000"/>
                </a:solidFill>
                <a:latin typeface="+mn-ea"/>
              </a:rPr>
              <a:t>조약우선권주장의</a:t>
            </a:r>
            <a:r>
              <a:rPr lang="ko-KR" altLang="en-US" sz="1100" dirty="0">
                <a:solidFill>
                  <a:srgbClr val="FF0000"/>
                </a:solidFill>
                <a:latin typeface="+mn-ea"/>
              </a:rPr>
              <a:t> 증명서류를 제출하지 아니한 경우 최우선일</a:t>
            </a:r>
            <a:r>
              <a:rPr lang="en-US" altLang="ko-KR" sz="1100" dirty="0">
                <a:solidFill>
                  <a:srgbClr val="FF0000"/>
                </a:solidFill>
                <a:latin typeface="+mn-ea"/>
              </a:rPr>
              <a:t>(X)</a:t>
            </a:r>
            <a:r>
              <a:rPr lang="ko-KR" altLang="en-US" sz="1100" dirty="0">
                <a:solidFill>
                  <a:srgbClr val="FF0000"/>
                </a:solidFill>
                <a:latin typeface="+mn-ea"/>
              </a:rPr>
              <a:t>로부터 </a:t>
            </a:r>
            <a:r>
              <a:rPr lang="en-US" altLang="ko-KR" sz="1100" dirty="0">
                <a:solidFill>
                  <a:srgbClr val="FF0000"/>
                </a:solidFill>
                <a:latin typeface="+mn-ea"/>
              </a:rPr>
              <a:t>1</a:t>
            </a:r>
            <a:r>
              <a:rPr lang="ko-KR" altLang="en-US" sz="1100" dirty="0">
                <a:solidFill>
                  <a:srgbClr val="FF0000"/>
                </a:solidFill>
                <a:latin typeface="+mn-ea"/>
              </a:rPr>
              <a:t>년 </a:t>
            </a:r>
            <a:r>
              <a:rPr lang="en-US" altLang="ko-KR" sz="1100" dirty="0">
                <a:solidFill>
                  <a:srgbClr val="FF0000"/>
                </a:solidFill>
                <a:latin typeface="+mn-ea"/>
              </a:rPr>
              <a:t>4</a:t>
            </a:r>
            <a:r>
              <a:rPr lang="ko-KR" altLang="en-US" sz="1100" dirty="0">
                <a:solidFill>
                  <a:srgbClr val="FF0000"/>
                </a:solidFill>
                <a:latin typeface="+mn-ea"/>
              </a:rPr>
              <a:t>개월과 분할출원</a:t>
            </a:r>
            <a:r>
              <a:rPr lang="en-US" altLang="ko-KR" sz="1100" dirty="0">
                <a:solidFill>
                  <a:srgbClr val="FF0000"/>
                </a:solidFill>
                <a:latin typeface="+mn-ea"/>
              </a:rPr>
              <a:t>(Z)</a:t>
            </a:r>
            <a:r>
              <a:rPr lang="ko-KR" altLang="en-US" sz="1100" dirty="0">
                <a:solidFill>
                  <a:srgbClr val="FF0000"/>
                </a:solidFill>
                <a:latin typeface="+mn-ea"/>
              </a:rPr>
              <a:t>을 한 날부터 </a:t>
            </a:r>
            <a:r>
              <a:rPr lang="en-US" altLang="ko-KR" sz="1100" dirty="0">
                <a:solidFill>
                  <a:srgbClr val="FF0000"/>
                </a:solidFill>
                <a:latin typeface="+mn-ea"/>
              </a:rPr>
              <a:t>3</a:t>
            </a:r>
            <a:r>
              <a:rPr lang="ko-KR" altLang="en-US" sz="1100" dirty="0">
                <a:solidFill>
                  <a:srgbClr val="FF0000"/>
                </a:solidFill>
                <a:latin typeface="+mn-ea"/>
              </a:rPr>
              <a:t>개월 중 늦은 날까지 분할출원</a:t>
            </a:r>
            <a:r>
              <a:rPr lang="en-US" altLang="ko-KR" sz="1100" dirty="0">
                <a:solidFill>
                  <a:srgbClr val="FF0000"/>
                </a:solidFill>
                <a:latin typeface="+mn-ea"/>
              </a:rPr>
              <a:t>(Z)</a:t>
            </a:r>
            <a:r>
              <a:rPr lang="ko-KR" altLang="en-US" sz="1100" dirty="0">
                <a:solidFill>
                  <a:srgbClr val="FF0000"/>
                </a:solidFill>
                <a:latin typeface="+mn-ea"/>
              </a:rPr>
              <a:t>에 대한 </a:t>
            </a:r>
            <a:r>
              <a:rPr lang="ko-KR" altLang="en-US" sz="1100" dirty="0" err="1">
                <a:solidFill>
                  <a:srgbClr val="FF0000"/>
                </a:solidFill>
                <a:latin typeface="+mn-ea"/>
              </a:rPr>
              <a:t>조약우선권주장의</a:t>
            </a:r>
            <a:r>
              <a:rPr lang="ko-KR" altLang="en-US" sz="1100" dirty="0">
                <a:solidFill>
                  <a:srgbClr val="FF0000"/>
                </a:solidFill>
                <a:latin typeface="+mn-ea"/>
              </a:rPr>
              <a:t> 증명서류를 제출할 수 있다</a:t>
            </a:r>
            <a:r>
              <a:rPr lang="en-US" altLang="ko-KR" sz="1100" dirty="0">
                <a:solidFill>
                  <a:srgbClr val="FF0000"/>
                </a:solidFill>
                <a:latin typeface="+mn-ea"/>
              </a:rPr>
              <a:t>. </a:t>
            </a:r>
            <a:r>
              <a:rPr lang="ko-KR" altLang="en-US" sz="1100" dirty="0">
                <a:solidFill>
                  <a:srgbClr val="FF0000"/>
                </a:solidFill>
                <a:latin typeface="+mn-ea"/>
              </a:rPr>
              <a:t>  </a:t>
            </a:r>
            <a:endParaRPr lang="en-US" altLang="ko-KR" sz="1100" dirty="0">
              <a:solidFill>
                <a:srgbClr val="FF0000"/>
              </a:solidFill>
              <a:latin typeface="+mn-ea"/>
            </a:endParaRPr>
          </a:p>
        </p:txBody>
      </p:sp>
      <p:cxnSp>
        <p:nvCxnSpPr>
          <p:cNvPr id="34" name="직선 연결선 33"/>
          <p:cNvCxnSpPr>
            <a:cxnSpLocks/>
          </p:cNvCxnSpPr>
          <p:nvPr/>
        </p:nvCxnSpPr>
        <p:spPr>
          <a:xfrm>
            <a:off x="0" y="3330529"/>
            <a:ext cx="216523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221</a:t>
            </a:r>
            <a:endParaRPr lang="ko-KR" altLang="en-US"/>
          </a:p>
        </p:txBody>
      </p:sp>
      <p:sp>
        <p:nvSpPr>
          <p:cNvPr id="157" name="Rectangle 5">
            <a:extLst>
              <a:ext uri="{FF2B5EF4-FFF2-40B4-BE49-F238E27FC236}">
                <a16:creationId xmlns:a16="http://schemas.microsoft.com/office/drawing/2014/main" id="{5A027EB8-ADDE-45DD-AC70-41C6AB46F5C5}"/>
              </a:ext>
            </a:extLst>
          </p:cNvPr>
          <p:cNvSpPr>
            <a:spLocks noChangeArrowheads="1"/>
          </p:cNvSpPr>
          <p:nvPr/>
        </p:nvSpPr>
        <p:spPr bwMode="auto">
          <a:xfrm>
            <a:off x="93900" y="1042170"/>
            <a:ext cx="3149467" cy="303610"/>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200" dirty="0">
                <a:solidFill>
                  <a:schemeClr val="bg1"/>
                </a:solidFill>
                <a:latin typeface="+mj-ea"/>
                <a:ea typeface="+mj-ea"/>
              </a:rPr>
              <a:t>분할출원이 </a:t>
            </a:r>
            <a:r>
              <a:rPr lang="ko-KR" altLang="en-US" sz="1200" dirty="0" err="1">
                <a:solidFill>
                  <a:schemeClr val="bg1"/>
                </a:solidFill>
                <a:latin typeface="+mj-ea"/>
                <a:ea typeface="+mj-ea"/>
              </a:rPr>
              <a:t>조약우선권주장을</a:t>
            </a:r>
            <a:r>
              <a:rPr lang="ko-KR" altLang="en-US" sz="1200" dirty="0">
                <a:solidFill>
                  <a:schemeClr val="bg1"/>
                </a:solidFill>
                <a:latin typeface="+mj-ea"/>
                <a:ea typeface="+mj-ea"/>
              </a:rPr>
              <a:t> 수반하는 경우 </a:t>
            </a:r>
            <a:endParaRPr lang="ko-KR" altLang="en-US" sz="1200" b="0" dirty="0">
              <a:solidFill>
                <a:schemeClr val="bg1"/>
              </a:solidFill>
              <a:latin typeface="+mj-ea"/>
              <a:ea typeface="+mj-ea"/>
            </a:endParaRPr>
          </a:p>
        </p:txBody>
      </p:sp>
      <p:sp>
        <p:nvSpPr>
          <p:cNvPr id="158" name="TextBox 157">
            <a:extLst>
              <a:ext uri="{FF2B5EF4-FFF2-40B4-BE49-F238E27FC236}">
                <a16:creationId xmlns:a16="http://schemas.microsoft.com/office/drawing/2014/main" id="{5DF5D0EE-1346-4FED-B270-1E23CC7C8FCB}"/>
              </a:ext>
            </a:extLst>
          </p:cNvPr>
          <p:cNvSpPr txBox="1"/>
          <p:nvPr/>
        </p:nvSpPr>
        <p:spPr>
          <a:xfrm>
            <a:off x="6242891" y="1383895"/>
            <a:ext cx="5951989" cy="1615827"/>
          </a:xfrm>
          <a:prstGeom prst="rect">
            <a:avLst/>
          </a:prstGeom>
          <a:noFill/>
        </p:spPr>
        <p:txBody>
          <a:bodyPr wrap="square" rtlCol="0">
            <a:spAutoFit/>
          </a:bodyPr>
          <a:lstStyle/>
          <a:p>
            <a:pPr algn="just" fontAlgn="base"/>
            <a:r>
              <a:rPr lang="ko-KR" altLang="en-US" sz="1100" dirty="0">
                <a:solidFill>
                  <a:schemeClr val="tx2"/>
                </a:solidFill>
                <a:latin typeface="+mn-ea"/>
              </a:rPr>
              <a:t>변경출원</a:t>
            </a:r>
            <a:r>
              <a:rPr lang="en-US" altLang="ko-KR" sz="1100" dirty="0">
                <a:solidFill>
                  <a:schemeClr val="tx2"/>
                </a:solidFill>
                <a:latin typeface="+mn-ea"/>
              </a:rPr>
              <a:t>(Z)</a:t>
            </a:r>
            <a:r>
              <a:rPr lang="ko-KR" altLang="en-US" sz="1100" dirty="0">
                <a:solidFill>
                  <a:schemeClr val="tx2"/>
                </a:solidFill>
                <a:latin typeface="+mn-ea"/>
              </a:rPr>
              <a:t>은 </a:t>
            </a:r>
            <a:r>
              <a:rPr lang="ko-KR" altLang="en-US" sz="1100" dirty="0" err="1">
                <a:solidFill>
                  <a:schemeClr val="tx2"/>
                </a:solidFill>
                <a:latin typeface="+mn-ea"/>
              </a:rPr>
              <a:t>원출원</a:t>
            </a:r>
            <a:r>
              <a:rPr lang="en-US" altLang="ko-KR" sz="1100" dirty="0">
                <a:solidFill>
                  <a:schemeClr val="tx2"/>
                </a:solidFill>
                <a:latin typeface="+mn-ea"/>
              </a:rPr>
              <a:t>(Y)</a:t>
            </a:r>
            <a:r>
              <a:rPr lang="ko-KR" altLang="en-US" sz="1100" dirty="0">
                <a:solidFill>
                  <a:schemeClr val="tx2"/>
                </a:solidFill>
                <a:latin typeface="+mn-ea"/>
              </a:rPr>
              <a:t>의 출원일로 소급효가 인정되는 것을 제외하고는 </a:t>
            </a:r>
            <a:r>
              <a:rPr lang="ko-KR" altLang="en-US" sz="1100" dirty="0" err="1">
                <a:solidFill>
                  <a:schemeClr val="tx2"/>
                </a:solidFill>
                <a:latin typeface="+mn-ea"/>
              </a:rPr>
              <a:t>원출원</a:t>
            </a:r>
            <a:r>
              <a:rPr lang="en-US" altLang="ko-KR" sz="1100" dirty="0">
                <a:solidFill>
                  <a:schemeClr val="tx2"/>
                </a:solidFill>
                <a:latin typeface="+mn-ea"/>
              </a:rPr>
              <a:t>(Y)</a:t>
            </a:r>
            <a:r>
              <a:rPr lang="ko-KR" altLang="en-US" sz="1100" dirty="0">
                <a:solidFill>
                  <a:schemeClr val="tx2"/>
                </a:solidFill>
                <a:latin typeface="+mn-ea"/>
              </a:rPr>
              <a:t>과는 별개의 출원이다</a:t>
            </a:r>
            <a:r>
              <a:rPr lang="en-US" altLang="ko-KR" sz="1100" dirty="0">
                <a:solidFill>
                  <a:schemeClr val="tx2"/>
                </a:solidFill>
                <a:latin typeface="+mn-ea"/>
              </a:rPr>
              <a:t>. </a:t>
            </a:r>
            <a:r>
              <a:rPr lang="ko-KR" altLang="en-US" sz="1100" dirty="0">
                <a:solidFill>
                  <a:schemeClr val="tx2"/>
                </a:solidFill>
                <a:latin typeface="+mn-ea"/>
              </a:rPr>
              <a:t>따라서 </a:t>
            </a:r>
            <a:r>
              <a:rPr lang="ko-KR" altLang="en-US" sz="1100" dirty="0" err="1">
                <a:solidFill>
                  <a:schemeClr val="tx2"/>
                </a:solidFill>
                <a:latin typeface="+mn-ea"/>
              </a:rPr>
              <a:t>원출원</a:t>
            </a:r>
            <a:r>
              <a:rPr lang="en-US" altLang="ko-KR" sz="1100" dirty="0">
                <a:solidFill>
                  <a:schemeClr val="tx2"/>
                </a:solidFill>
                <a:latin typeface="+mn-ea"/>
              </a:rPr>
              <a:t>(Y)</a:t>
            </a:r>
            <a:r>
              <a:rPr lang="ko-KR" altLang="en-US" sz="1100" dirty="0">
                <a:solidFill>
                  <a:schemeClr val="tx2"/>
                </a:solidFill>
                <a:latin typeface="+mn-ea"/>
              </a:rPr>
              <a:t>이 </a:t>
            </a:r>
            <a:r>
              <a:rPr lang="ko-KR" altLang="en-US" sz="1100" dirty="0" err="1">
                <a:solidFill>
                  <a:schemeClr val="tx2"/>
                </a:solidFill>
                <a:latin typeface="+mn-ea"/>
              </a:rPr>
              <a:t>조약우선권주장을</a:t>
            </a:r>
            <a:r>
              <a:rPr lang="ko-KR" altLang="en-US" sz="1100" dirty="0">
                <a:solidFill>
                  <a:schemeClr val="tx2"/>
                </a:solidFill>
                <a:latin typeface="+mn-ea"/>
              </a:rPr>
              <a:t> 수반하였다고 할지라도 변경출원</a:t>
            </a:r>
            <a:r>
              <a:rPr lang="en-US" altLang="ko-KR" sz="1100" dirty="0">
                <a:solidFill>
                  <a:schemeClr val="tx2"/>
                </a:solidFill>
                <a:latin typeface="+mn-ea"/>
              </a:rPr>
              <a:t>(Z)</a:t>
            </a:r>
            <a:r>
              <a:rPr lang="ko-KR" altLang="en-US" sz="1100" dirty="0">
                <a:solidFill>
                  <a:schemeClr val="tx2"/>
                </a:solidFill>
                <a:latin typeface="+mn-ea"/>
              </a:rPr>
              <a:t>이 그 효과를 </a:t>
            </a:r>
            <a:r>
              <a:rPr lang="ko-KR" altLang="en-US" sz="1100" dirty="0" err="1">
                <a:solidFill>
                  <a:schemeClr val="tx2"/>
                </a:solidFill>
                <a:latin typeface="+mn-ea"/>
              </a:rPr>
              <a:t>적용받기</a:t>
            </a:r>
            <a:r>
              <a:rPr lang="ko-KR" altLang="en-US" sz="1100" dirty="0">
                <a:solidFill>
                  <a:schemeClr val="tx2"/>
                </a:solidFill>
                <a:latin typeface="+mn-ea"/>
              </a:rPr>
              <a:t> 위해서는 변경출원</a:t>
            </a:r>
            <a:r>
              <a:rPr lang="en-US" altLang="ko-KR" sz="1100" dirty="0">
                <a:solidFill>
                  <a:schemeClr val="tx2"/>
                </a:solidFill>
                <a:latin typeface="+mn-ea"/>
              </a:rPr>
              <a:t>(Z) </a:t>
            </a:r>
            <a:r>
              <a:rPr lang="ko-KR" altLang="en-US" sz="1100" dirty="0">
                <a:solidFill>
                  <a:schemeClr val="tx2"/>
                </a:solidFill>
                <a:latin typeface="+mn-ea"/>
              </a:rPr>
              <a:t>역시 우선기간인 </a:t>
            </a:r>
            <a:r>
              <a:rPr lang="en-US" altLang="ko-KR" sz="1100" dirty="0">
                <a:solidFill>
                  <a:schemeClr val="tx2"/>
                </a:solidFill>
                <a:latin typeface="+mn-ea"/>
              </a:rPr>
              <a:t>1</a:t>
            </a:r>
            <a:r>
              <a:rPr lang="ko-KR" altLang="en-US" sz="1100" dirty="0">
                <a:solidFill>
                  <a:schemeClr val="tx2"/>
                </a:solidFill>
                <a:latin typeface="+mn-ea"/>
              </a:rPr>
              <a:t>년 이내 출원</a:t>
            </a:r>
            <a:r>
              <a:rPr lang="en-US" altLang="ko-KR" sz="1100" dirty="0">
                <a:solidFill>
                  <a:schemeClr val="tx2"/>
                </a:solidFill>
                <a:latin typeface="+mn-ea"/>
              </a:rPr>
              <a:t>, </a:t>
            </a:r>
            <a:r>
              <a:rPr lang="ko-KR" altLang="en-US" sz="1100" dirty="0">
                <a:solidFill>
                  <a:schemeClr val="tx2"/>
                </a:solidFill>
                <a:latin typeface="+mn-ea"/>
              </a:rPr>
              <a:t>출원할 때 주장</a:t>
            </a:r>
            <a:r>
              <a:rPr lang="en-US" altLang="ko-KR" sz="1100" dirty="0">
                <a:solidFill>
                  <a:schemeClr val="tx2"/>
                </a:solidFill>
                <a:latin typeface="+mn-ea"/>
              </a:rPr>
              <a:t>(</a:t>
            </a:r>
            <a:r>
              <a:rPr lang="ko-KR" altLang="en-US" sz="1100" dirty="0">
                <a:solidFill>
                  <a:schemeClr val="tx2"/>
                </a:solidFill>
                <a:latin typeface="+mn-ea"/>
              </a:rPr>
              <a:t>취지 기재</a:t>
            </a:r>
            <a:r>
              <a:rPr lang="en-US" altLang="ko-KR" sz="1100" dirty="0">
                <a:solidFill>
                  <a:schemeClr val="tx2"/>
                </a:solidFill>
                <a:latin typeface="+mn-ea"/>
              </a:rPr>
              <a:t>) </a:t>
            </a:r>
            <a:r>
              <a:rPr lang="ko-KR" altLang="en-US" sz="1100" dirty="0">
                <a:solidFill>
                  <a:schemeClr val="tx2"/>
                </a:solidFill>
                <a:latin typeface="+mn-ea"/>
              </a:rPr>
              <a:t>및 최우선일로부터 </a:t>
            </a:r>
            <a:r>
              <a:rPr lang="en-US" altLang="ko-KR" sz="1100" dirty="0">
                <a:solidFill>
                  <a:schemeClr val="tx2"/>
                </a:solidFill>
                <a:latin typeface="+mn-ea"/>
              </a:rPr>
              <a:t>1</a:t>
            </a:r>
            <a:r>
              <a:rPr lang="ko-KR" altLang="en-US" sz="1100" dirty="0">
                <a:solidFill>
                  <a:schemeClr val="tx2"/>
                </a:solidFill>
                <a:latin typeface="+mn-ea"/>
              </a:rPr>
              <a:t>년 </a:t>
            </a:r>
            <a:r>
              <a:rPr lang="en-US" altLang="ko-KR" sz="1100" dirty="0">
                <a:solidFill>
                  <a:schemeClr val="tx2"/>
                </a:solidFill>
                <a:latin typeface="+mn-ea"/>
              </a:rPr>
              <a:t>4</a:t>
            </a:r>
            <a:r>
              <a:rPr lang="ko-KR" altLang="en-US" sz="1100" dirty="0">
                <a:solidFill>
                  <a:schemeClr val="tx2"/>
                </a:solidFill>
                <a:latin typeface="+mn-ea"/>
              </a:rPr>
              <a:t>개월 이내 증명서류를 제출하여야 한다</a:t>
            </a:r>
            <a:r>
              <a:rPr lang="en-US" altLang="ko-KR" sz="1100" dirty="0">
                <a:solidFill>
                  <a:schemeClr val="tx2"/>
                </a:solidFill>
                <a:latin typeface="+mn-ea"/>
              </a:rPr>
              <a:t>. </a:t>
            </a:r>
            <a:r>
              <a:rPr lang="ko-KR" altLang="en-US" sz="1100" dirty="0">
                <a:solidFill>
                  <a:srgbClr val="FF0000"/>
                </a:solidFill>
                <a:latin typeface="+mn-ea"/>
              </a:rPr>
              <a:t>그런데</a:t>
            </a:r>
            <a:r>
              <a:rPr lang="en-US" altLang="ko-KR" sz="1100" dirty="0">
                <a:solidFill>
                  <a:srgbClr val="FF0000"/>
                </a:solidFill>
                <a:latin typeface="+mn-ea"/>
              </a:rPr>
              <a:t>, </a:t>
            </a:r>
            <a:r>
              <a:rPr lang="ko-KR" altLang="en-US" sz="1100" dirty="0">
                <a:solidFill>
                  <a:srgbClr val="FF0000"/>
                </a:solidFill>
                <a:latin typeface="+mn-ea"/>
              </a:rPr>
              <a:t>변경출원</a:t>
            </a:r>
            <a:r>
              <a:rPr lang="en-US" altLang="ko-KR" sz="1100" dirty="0">
                <a:solidFill>
                  <a:srgbClr val="FF0000"/>
                </a:solidFill>
                <a:latin typeface="+mn-ea"/>
              </a:rPr>
              <a:t>(Z)</a:t>
            </a:r>
            <a:r>
              <a:rPr lang="ko-KR" altLang="en-US" sz="1100" dirty="0">
                <a:solidFill>
                  <a:srgbClr val="FF0000"/>
                </a:solidFill>
                <a:latin typeface="+mn-ea"/>
              </a:rPr>
              <a:t>이 이와 같은 </a:t>
            </a:r>
            <a:r>
              <a:rPr lang="ko-KR" altLang="en-US" sz="1100" dirty="0" err="1">
                <a:solidFill>
                  <a:srgbClr val="FF0000"/>
                </a:solidFill>
                <a:latin typeface="+mn-ea"/>
              </a:rPr>
              <a:t>조약우선권주장을</a:t>
            </a:r>
            <a:r>
              <a:rPr lang="ko-KR" altLang="en-US" sz="1100" dirty="0">
                <a:solidFill>
                  <a:srgbClr val="FF0000"/>
                </a:solidFill>
                <a:latin typeface="+mn-ea"/>
              </a:rPr>
              <a:t> 수반하는 경우에는 출원인의 이익을 위해서 </a:t>
            </a:r>
            <a:r>
              <a:rPr lang="en-US" altLang="ko-KR" sz="1100" dirty="0">
                <a:solidFill>
                  <a:srgbClr val="FF0000"/>
                </a:solidFill>
                <a:latin typeface="+mn-ea"/>
              </a:rPr>
              <a:t>1</a:t>
            </a:r>
            <a:r>
              <a:rPr lang="ko-KR" altLang="en-US" sz="1100" dirty="0">
                <a:solidFill>
                  <a:srgbClr val="FF0000"/>
                </a:solidFill>
                <a:latin typeface="+mn-ea"/>
              </a:rPr>
              <a:t>년의 판단은 </a:t>
            </a:r>
            <a:r>
              <a:rPr lang="en-US" altLang="ko-KR" sz="1100" dirty="0">
                <a:solidFill>
                  <a:srgbClr val="FF0000"/>
                </a:solidFill>
                <a:latin typeface="+mn-ea"/>
              </a:rPr>
              <a:t>Y </a:t>
            </a:r>
            <a:r>
              <a:rPr lang="ko-KR" altLang="en-US" sz="1100" dirty="0">
                <a:solidFill>
                  <a:srgbClr val="FF0000"/>
                </a:solidFill>
                <a:latin typeface="+mn-ea"/>
              </a:rPr>
              <a:t>출원일을 기준으로</a:t>
            </a:r>
            <a:r>
              <a:rPr lang="en-US" altLang="ko-KR" sz="1100" dirty="0">
                <a:solidFill>
                  <a:srgbClr val="FF0000"/>
                </a:solidFill>
                <a:latin typeface="+mn-ea"/>
              </a:rPr>
              <a:t>, </a:t>
            </a:r>
            <a:r>
              <a:rPr lang="ko-KR" altLang="en-US" sz="1100" dirty="0">
                <a:solidFill>
                  <a:srgbClr val="FF0000"/>
                </a:solidFill>
                <a:latin typeface="+mn-ea"/>
              </a:rPr>
              <a:t>취지기재에 대한 것은 </a:t>
            </a:r>
            <a:r>
              <a:rPr lang="en-US" altLang="ko-KR" sz="1100" dirty="0">
                <a:solidFill>
                  <a:srgbClr val="FF0000"/>
                </a:solidFill>
                <a:latin typeface="+mn-ea"/>
              </a:rPr>
              <a:t>Z </a:t>
            </a:r>
            <a:r>
              <a:rPr lang="ko-KR" altLang="en-US" sz="1100" dirty="0">
                <a:solidFill>
                  <a:srgbClr val="FF0000"/>
                </a:solidFill>
                <a:latin typeface="+mn-ea"/>
              </a:rPr>
              <a:t>출원일을 기준으로 판단하게 된다</a:t>
            </a:r>
            <a:r>
              <a:rPr lang="en-US" altLang="ko-KR" sz="1100" dirty="0">
                <a:solidFill>
                  <a:srgbClr val="FF0000"/>
                </a:solidFill>
                <a:latin typeface="+mn-ea"/>
              </a:rPr>
              <a:t>. </a:t>
            </a:r>
            <a:r>
              <a:rPr lang="ko-KR" altLang="en-US" sz="1100" dirty="0">
                <a:solidFill>
                  <a:srgbClr val="FF0000"/>
                </a:solidFill>
                <a:latin typeface="+mn-ea"/>
              </a:rPr>
              <a:t>또한</a:t>
            </a:r>
            <a:r>
              <a:rPr lang="en-US" altLang="ko-KR" sz="1100" dirty="0">
                <a:solidFill>
                  <a:srgbClr val="FF0000"/>
                </a:solidFill>
                <a:latin typeface="+mn-ea"/>
              </a:rPr>
              <a:t>, </a:t>
            </a:r>
            <a:r>
              <a:rPr lang="ko-KR" altLang="en-US" sz="1100" dirty="0">
                <a:solidFill>
                  <a:srgbClr val="FF0000"/>
                </a:solidFill>
                <a:latin typeface="+mn-ea"/>
              </a:rPr>
              <a:t>증명서류는 최우선일</a:t>
            </a:r>
            <a:r>
              <a:rPr lang="en-US" altLang="ko-KR" sz="1100" dirty="0">
                <a:solidFill>
                  <a:srgbClr val="FF0000"/>
                </a:solidFill>
                <a:latin typeface="+mn-ea"/>
              </a:rPr>
              <a:t>(X)</a:t>
            </a:r>
            <a:r>
              <a:rPr lang="ko-KR" altLang="en-US" sz="1100" dirty="0">
                <a:solidFill>
                  <a:srgbClr val="FF0000"/>
                </a:solidFill>
                <a:latin typeface="+mn-ea"/>
              </a:rPr>
              <a:t>로부터 </a:t>
            </a:r>
            <a:r>
              <a:rPr lang="en-US" altLang="ko-KR" sz="1100" dirty="0">
                <a:solidFill>
                  <a:srgbClr val="FF0000"/>
                </a:solidFill>
                <a:latin typeface="+mn-ea"/>
              </a:rPr>
              <a:t>1</a:t>
            </a:r>
            <a:r>
              <a:rPr lang="ko-KR" altLang="en-US" sz="1100" dirty="0">
                <a:solidFill>
                  <a:srgbClr val="FF0000"/>
                </a:solidFill>
                <a:latin typeface="+mn-ea"/>
              </a:rPr>
              <a:t>년 </a:t>
            </a:r>
            <a:r>
              <a:rPr lang="en-US" altLang="ko-KR" sz="1100" dirty="0">
                <a:solidFill>
                  <a:srgbClr val="FF0000"/>
                </a:solidFill>
                <a:latin typeface="+mn-ea"/>
              </a:rPr>
              <a:t>4</a:t>
            </a:r>
            <a:r>
              <a:rPr lang="ko-KR" altLang="en-US" sz="1100" dirty="0">
                <a:solidFill>
                  <a:srgbClr val="FF0000"/>
                </a:solidFill>
                <a:latin typeface="+mn-ea"/>
              </a:rPr>
              <a:t>개월의 기간이 지난 후에도 변경출원</a:t>
            </a:r>
            <a:r>
              <a:rPr lang="en-US" altLang="ko-KR" sz="1100" dirty="0">
                <a:solidFill>
                  <a:srgbClr val="FF0000"/>
                </a:solidFill>
                <a:latin typeface="+mn-ea"/>
              </a:rPr>
              <a:t>(Z)</a:t>
            </a:r>
            <a:r>
              <a:rPr lang="ko-KR" altLang="en-US" sz="1100" dirty="0">
                <a:solidFill>
                  <a:srgbClr val="FF0000"/>
                </a:solidFill>
                <a:latin typeface="+mn-ea"/>
              </a:rPr>
              <a:t>을 한 날부터 </a:t>
            </a:r>
            <a:r>
              <a:rPr lang="en-US" altLang="ko-KR" sz="1100" dirty="0">
                <a:solidFill>
                  <a:srgbClr val="FF0000"/>
                </a:solidFill>
                <a:latin typeface="+mn-ea"/>
              </a:rPr>
              <a:t>3</a:t>
            </a:r>
            <a:r>
              <a:rPr lang="ko-KR" altLang="en-US" sz="1100" dirty="0">
                <a:solidFill>
                  <a:srgbClr val="FF0000"/>
                </a:solidFill>
                <a:latin typeface="+mn-ea"/>
              </a:rPr>
              <a:t>개월 이내에 지식재산처장에게 제출할 수 있다</a:t>
            </a:r>
            <a:r>
              <a:rPr lang="en-US" altLang="ko-KR" sz="1100" dirty="0">
                <a:solidFill>
                  <a:srgbClr val="FF0000"/>
                </a:solidFill>
                <a:latin typeface="+mn-ea"/>
              </a:rPr>
              <a:t>. </a:t>
            </a:r>
            <a:r>
              <a:rPr lang="ko-KR" altLang="en-US" sz="1100" dirty="0">
                <a:solidFill>
                  <a:srgbClr val="FF0000"/>
                </a:solidFill>
                <a:latin typeface="+mn-ea"/>
              </a:rPr>
              <a:t>이 경우 변경출원</a:t>
            </a:r>
            <a:r>
              <a:rPr lang="en-US" altLang="ko-KR" sz="1100" dirty="0">
                <a:solidFill>
                  <a:srgbClr val="FF0000"/>
                </a:solidFill>
                <a:latin typeface="+mn-ea"/>
              </a:rPr>
              <a:t>(Z)</a:t>
            </a:r>
            <a:r>
              <a:rPr lang="ko-KR" altLang="en-US" sz="1100" dirty="0">
                <a:solidFill>
                  <a:srgbClr val="FF0000"/>
                </a:solidFill>
                <a:latin typeface="+mn-ea"/>
              </a:rPr>
              <a:t>은 </a:t>
            </a:r>
            <a:r>
              <a:rPr lang="en-US" altLang="ko-KR" sz="1100" dirty="0">
                <a:solidFill>
                  <a:srgbClr val="FF0000"/>
                </a:solidFill>
                <a:latin typeface="+mn-ea"/>
              </a:rPr>
              <a:t>Y </a:t>
            </a:r>
            <a:r>
              <a:rPr lang="ko-KR" altLang="en-US" sz="1100" dirty="0">
                <a:solidFill>
                  <a:srgbClr val="FF0000"/>
                </a:solidFill>
                <a:latin typeface="+mn-ea"/>
              </a:rPr>
              <a:t>출원일로 출원일의 소급효가 인정되고</a:t>
            </a:r>
            <a:r>
              <a:rPr lang="en-US" altLang="ko-KR" sz="1100" dirty="0">
                <a:solidFill>
                  <a:srgbClr val="FF0000"/>
                </a:solidFill>
                <a:latin typeface="+mn-ea"/>
              </a:rPr>
              <a:t>, </a:t>
            </a:r>
            <a:r>
              <a:rPr lang="ko-KR" altLang="en-US" sz="1100" dirty="0">
                <a:solidFill>
                  <a:srgbClr val="FF0000"/>
                </a:solidFill>
                <a:latin typeface="+mn-ea"/>
              </a:rPr>
              <a:t>변경출원</a:t>
            </a:r>
            <a:r>
              <a:rPr lang="en-US" altLang="ko-KR" sz="1100" dirty="0">
                <a:solidFill>
                  <a:srgbClr val="FF0000"/>
                </a:solidFill>
                <a:latin typeface="+mn-ea"/>
              </a:rPr>
              <a:t>(Z)</a:t>
            </a:r>
            <a:r>
              <a:rPr lang="ko-KR" altLang="en-US" sz="1100" dirty="0">
                <a:solidFill>
                  <a:srgbClr val="FF0000"/>
                </a:solidFill>
                <a:latin typeface="+mn-ea"/>
              </a:rPr>
              <a:t>의 청구범위에 기재된 </a:t>
            </a:r>
            <a:r>
              <a:rPr lang="en-US" altLang="ko-KR" sz="1100" dirty="0">
                <a:solidFill>
                  <a:srgbClr val="FF0000"/>
                </a:solidFill>
                <a:latin typeface="+mn-ea"/>
              </a:rPr>
              <a:t>B </a:t>
            </a:r>
            <a:r>
              <a:rPr lang="ko-KR" altLang="en-US" sz="1100" dirty="0">
                <a:solidFill>
                  <a:srgbClr val="FF0000"/>
                </a:solidFill>
                <a:latin typeface="+mn-ea"/>
              </a:rPr>
              <a:t>발명은 </a:t>
            </a:r>
            <a:r>
              <a:rPr lang="en-US" altLang="ko-KR" sz="1100" dirty="0">
                <a:solidFill>
                  <a:srgbClr val="FF0000"/>
                </a:solidFill>
                <a:latin typeface="+mn-ea"/>
              </a:rPr>
              <a:t>X </a:t>
            </a:r>
            <a:r>
              <a:rPr lang="ko-KR" altLang="en-US" sz="1100" dirty="0">
                <a:solidFill>
                  <a:srgbClr val="FF0000"/>
                </a:solidFill>
                <a:latin typeface="+mn-ea"/>
              </a:rPr>
              <a:t>출원일로 판단시점이 소급하게 된다</a:t>
            </a:r>
            <a:r>
              <a:rPr lang="en-US" altLang="ko-KR" sz="1100" dirty="0">
                <a:solidFill>
                  <a:srgbClr val="FF0000"/>
                </a:solidFill>
                <a:latin typeface="+mn-ea"/>
              </a:rPr>
              <a:t>. </a:t>
            </a:r>
            <a:r>
              <a:rPr lang="ko-KR" altLang="en-US" sz="1100" dirty="0">
                <a:solidFill>
                  <a:srgbClr val="FF0000"/>
                </a:solidFill>
                <a:latin typeface="+mn-ea"/>
              </a:rPr>
              <a:t>한편</a:t>
            </a:r>
            <a:r>
              <a:rPr lang="en-US" altLang="ko-KR" sz="1100" dirty="0">
                <a:solidFill>
                  <a:srgbClr val="FF0000"/>
                </a:solidFill>
                <a:latin typeface="+mn-ea"/>
              </a:rPr>
              <a:t>, </a:t>
            </a:r>
            <a:r>
              <a:rPr lang="ko-KR" altLang="en-US" sz="1100" dirty="0">
                <a:solidFill>
                  <a:srgbClr val="FF0000"/>
                </a:solidFill>
                <a:latin typeface="+mn-ea"/>
              </a:rPr>
              <a:t>변경출원</a:t>
            </a:r>
            <a:r>
              <a:rPr lang="en-US" altLang="ko-KR" sz="1100" dirty="0">
                <a:solidFill>
                  <a:srgbClr val="FF0000"/>
                </a:solidFill>
                <a:latin typeface="+mn-ea"/>
              </a:rPr>
              <a:t>(Z)</a:t>
            </a:r>
            <a:r>
              <a:rPr lang="ko-KR" altLang="en-US" sz="1100" dirty="0">
                <a:solidFill>
                  <a:srgbClr val="FF0000"/>
                </a:solidFill>
                <a:latin typeface="+mn-ea"/>
              </a:rPr>
              <a:t>과 동시에 </a:t>
            </a:r>
            <a:r>
              <a:rPr lang="ko-KR" altLang="en-US" sz="1100" dirty="0" err="1">
                <a:solidFill>
                  <a:srgbClr val="FF0000"/>
                </a:solidFill>
                <a:latin typeface="+mn-ea"/>
              </a:rPr>
              <a:t>원출원</a:t>
            </a:r>
            <a:r>
              <a:rPr lang="en-US" altLang="ko-KR" sz="1100" dirty="0">
                <a:solidFill>
                  <a:srgbClr val="FF0000"/>
                </a:solidFill>
                <a:latin typeface="+mn-ea"/>
              </a:rPr>
              <a:t>(Y)</a:t>
            </a:r>
            <a:r>
              <a:rPr lang="ko-KR" altLang="en-US" sz="1100" dirty="0">
                <a:solidFill>
                  <a:srgbClr val="FF0000"/>
                </a:solidFill>
                <a:latin typeface="+mn-ea"/>
              </a:rPr>
              <a:t>은 </a:t>
            </a:r>
            <a:r>
              <a:rPr lang="ko-KR" altLang="en-US" sz="1100" dirty="0" err="1">
                <a:solidFill>
                  <a:srgbClr val="FF0000"/>
                </a:solidFill>
                <a:latin typeface="+mn-ea"/>
              </a:rPr>
              <a:t>취하간주된다</a:t>
            </a:r>
            <a:r>
              <a:rPr lang="en-US" altLang="ko-KR" sz="1100" dirty="0">
                <a:solidFill>
                  <a:srgbClr val="FF0000"/>
                </a:solidFill>
                <a:latin typeface="+mn-ea"/>
              </a:rPr>
              <a:t>. </a:t>
            </a:r>
          </a:p>
        </p:txBody>
      </p:sp>
      <p:cxnSp>
        <p:nvCxnSpPr>
          <p:cNvPr id="159" name="직선 연결선 158">
            <a:extLst>
              <a:ext uri="{FF2B5EF4-FFF2-40B4-BE49-F238E27FC236}">
                <a16:creationId xmlns:a16="http://schemas.microsoft.com/office/drawing/2014/main" id="{19AB1FEE-2966-4AF0-AA9F-89F10658D75A}"/>
              </a:ext>
            </a:extLst>
          </p:cNvPr>
          <p:cNvCxnSpPr>
            <a:cxnSpLocks/>
          </p:cNvCxnSpPr>
          <p:nvPr/>
        </p:nvCxnSpPr>
        <p:spPr>
          <a:xfrm>
            <a:off x="6165016" y="2989873"/>
            <a:ext cx="216523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0" name="Rectangle 5">
            <a:extLst>
              <a:ext uri="{FF2B5EF4-FFF2-40B4-BE49-F238E27FC236}">
                <a16:creationId xmlns:a16="http://schemas.microsoft.com/office/drawing/2014/main" id="{DF6F7006-D207-4934-85E5-C4BDB2994173}"/>
              </a:ext>
            </a:extLst>
          </p:cNvPr>
          <p:cNvSpPr>
            <a:spLocks noChangeArrowheads="1"/>
          </p:cNvSpPr>
          <p:nvPr/>
        </p:nvSpPr>
        <p:spPr bwMode="auto">
          <a:xfrm>
            <a:off x="6258916" y="1042170"/>
            <a:ext cx="3149467" cy="303610"/>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200" dirty="0">
                <a:solidFill>
                  <a:schemeClr val="bg1"/>
                </a:solidFill>
                <a:latin typeface="+mj-ea"/>
                <a:ea typeface="+mj-ea"/>
              </a:rPr>
              <a:t>변경출원이 </a:t>
            </a:r>
            <a:r>
              <a:rPr lang="ko-KR" altLang="en-US" sz="1200" dirty="0" err="1">
                <a:solidFill>
                  <a:schemeClr val="bg1"/>
                </a:solidFill>
                <a:latin typeface="+mj-ea"/>
                <a:ea typeface="+mj-ea"/>
              </a:rPr>
              <a:t>조약우선권주장을</a:t>
            </a:r>
            <a:r>
              <a:rPr lang="ko-KR" altLang="en-US" sz="1200" dirty="0">
                <a:solidFill>
                  <a:schemeClr val="bg1"/>
                </a:solidFill>
                <a:latin typeface="+mj-ea"/>
                <a:ea typeface="+mj-ea"/>
              </a:rPr>
              <a:t> 수반하는 경우 </a:t>
            </a:r>
            <a:endParaRPr lang="ko-KR" altLang="en-US" sz="1200" b="0" dirty="0">
              <a:solidFill>
                <a:schemeClr val="bg1"/>
              </a:solidFill>
              <a:latin typeface="+mj-ea"/>
              <a:ea typeface="+mj-ea"/>
            </a:endParaRPr>
          </a:p>
        </p:txBody>
      </p:sp>
      <p:cxnSp>
        <p:nvCxnSpPr>
          <p:cNvPr id="23" name="직선 연결선 22">
            <a:extLst>
              <a:ext uri="{FF2B5EF4-FFF2-40B4-BE49-F238E27FC236}">
                <a16:creationId xmlns:a16="http://schemas.microsoft.com/office/drawing/2014/main" id="{8813E04A-CF5E-40A9-ABAE-37395561C72F}"/>
              </a:ext>
            </a:extLst>
          </p:cNvPr>
          <p:cNvCxnSpPr/>
          <p:nvPr/>
        </p:nvCxnSpPr>
        <p:spPr>
          <a:xfrm>
            <a:off x="6096000" y="821359"/>
            <a:ext cx="0" cy="582789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 name="그룹 2">
            <a:extLst>
              <a:ext uri="{FF2B5EF4-FFF2-40B4-BE49-F238E27FC236}">
                <a16:creationId xmlns:a16="http://schemas.microsoft.com/office/drawing/2014/main" id="{4236AD62-E801-D170-3399-733E9DF6CAFE}"/>
              </a:ext>
            </a:extLst>
          </p:cNvPr>
          <p:cNvGrpSpPr/>
          <p:nvPr/>
        </p:nvGrpSpPr>
        <p:grpSpPr>
          <a:xfrm>
            <a:off x="77875" y="3545667"/>
            <a:ext cx="12013475" cy="3145047"/>
            <a:chOff x="77875" y="3252157"/>
            <a:chExt cx="12013475" cy="3438558"/>
          </a:xfrm>
        </p:grpSpPr>
        <p:sp>
          <p:nvSpPr>
            <p:cNvPr id="161" name="양쪽 모서리가 둥근 사각형 109">
              <a:extLst>
                <a:ext uri="{FF2B5EF4-FFF2-40B4-BE49-F238E27FC236}">
                  <a16:creationId xmlns:a16="http://schemas.microsoft.com/office/drawing/2014/main" id="{48F9CD81-8CC3-4D0D-A33E-624C96CD9037}"/>
                </a:ext>
              </a:extLst>
            </p:cNvPr>
            <p:cNvSpPr/>
            <p:nvPr/>
          </p:nvSpPr>
          <p:spPr>
            <a:xfrm>
              <a:off x="4733690" y="3596740"/>
              <a:ext cx="453744" cy="238287"/>
            </a:xfrm>
            <a:prstGeom prst="round2SameRect">
              <a:avLst>
                <a:gd name="adj1" fmla="val 50000"/>
                <a:gd name="adj2" fmla="val 0"/>
              </a:avLst>
            </a:prstGeom>
            <a:pattFill prst="dkVert">
              <a:fgClr>
                <a:schemeClr val="accent4"/>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21" name="직사각형 20"/>
            <p:cNvSpPr/>
            <p:nvPr/>
          </p:nvSpPr>
          <p:spPr>
            <a:xfrm>
              <a:off x="6440124" y="4894926"/>
              <a:ext cx="3013047" cy="174904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cxnSp>
          <p:nvCxnSpPr>
            <p:cNvPr id="115" name="직선 연결선 114"/>
            <p:cNvCxnSpPr/>
            <p:nvPr/>
          </p:nvCxnSpPr>
          <p:spPr>
            <a:xfrm flipH="1">
              <a:off x="8780059" y="3696195"/>
              <a:ext cx="2" cy="291680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직선 연결선 10"/>
            <p:cNvCxnSpPr>
              <a:stCxn id="50" idx="0"/>
            </p:cNvCxnSpPr>
            <p:nvPr/>
          </p:nvCxnSpPr>
          <p:spPr>
            <a:xfrm flipH="1">
              <a:off x="7077133" y="3765283"/>
              <a:ext cx="2" cy="291680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0" name="양쪽 모서리가 둥근 사각형 109"/>
            <p:cNvSpPr/>
            <p:nvPr/>
          </p:nvSpPr>
          <p:spPr>
            <a:xfrm>
              <a:off x="10782333" y="3596740"/>
              <a:ext cx="664183" cy="238287"/>
            </a:xfrm>
            <a:prstGeom prst="round2SameRect">
              <a:avLst>
                <a:gd name="adj1" fmla="val 50000"/>
                <a:gd name="adj2" fmla="val 0"/>
              </a:avLst>
            </a:prstGeom>
            <a:pattFill prst="dkVert">
              <a:fgClr>
                <a:srgbClr val="00B0F0"/>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46" name="양쪽 모서리가 둥근 사각형 45"/>
            <p:cNvSpPr/>
            <p:nvPr/>
          </p:nvSpPr>
          <p:spPr>
            <a:xfrm>
              <a:off x="7077134" y="3614950"/>
              <a:ext cx="2439990" cy="241569"/>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47" name="양쪽 모서리가 둥근 사각형 46"/>
            <p:cNvSpPr/>
            <p:nvPr/>
          </p:nvSpPr>
          <p:spPr>
            <a:xfrm>
              <a:off x="7077133" y="3416138"/>
              <a:ext cx="3020398" cy="440382"/>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cxnSp>
          <p:nvCxnSpPr>
            <p:cNvPr id="49" name="직선 연결선 48"/>
            <p:cNvCxnSpPr>
              <a:cxnSpLocks/>
              <a:stCxn id="50" idx="1"/>
            </p:cNvCxnSpPr>
            <p:nvPr/>
          </p:nvCxnSpPr>
          <p:spPr>
            <a:xfrm>
              <a:off x="6496727" y="3856520"/>
              <a:ext cx="559462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직사각형 49"/>
            <p:cNvSpPr/>
            <p:nvPr/>
          </p:nvSpPr>
          <p:spPr>
            <a:xfrm>
              <a:off x="6496727" y="3765283"/>
              <a:ext cx="1160814" cy="182475"/>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a:t>
              </a:r>
              <a:r>
                <a:rPr lang="ko-KR" altLang="en-US" sz="1000" dirty="0" err="1">
                  <a:solidFill>
                    <a:schemeClr val="tx1"/>
                  </a:solidFill>
                </a:rPr>
                <a:t>일본출원</a:t>
              </a:r>
              <a:r>
                <a:rPr lang="en-US" altLang="ko-KR" sz="1000" dirty="0">
                  <a:solidFill>
                    <a:schemeClr val="tx1"/>
                  </a:solidFill>
                </a:rPr>
                <a:t>(X)</a:t>
              </a:r>
              <a:endParaRPr lang="ko-KR" altLang="en-US" sz="1000" dirty="0">
                <a:solidFill>
                  <a:schemeClr val="tx1"/>
                </a:solidFill>
              </a:endParaRPr>
            </a:p>
          </p:txBody>
        </p:sp>
        <p:sp>
          <p:nvSpPr>
            <p:cNvPr id="51" name="직사각형 50"/>
            <p:cNvSpPr/>
            <p:nvPr/>
          </p:nvSpPr>
          <p:spPr>
            <a:xfrm>
              <a:off x="8182957" y="3765283"/>
              <a:ext cx="1160814" cy="18247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한국특허출원</a:t>
              </a:r>
              <a:r>
                <a:rPr lang="en-US" altLang="ko-KR" sz="1000" dirty="0">
                  <a:solidFill>
                    <a:schemeClr val="tx1"/>
                  </a:solidFill>
                </a:rPr>
                <a:t>(Y)</a:t>
              </a:r>
              <a:endParaRPr lang="ko-KR" altLang="en-US" sz="1000" dirty="0">
                <a:solidFill>
                  <a:schemeClr val="tx1"/>
                </a:solidFill>
              </a:endParaRPr>
            </a:p>
          </p:txBody>
        </p:sp>
        <p:sp>
          <p:nvSpPr>
            <p:cNvPr id="55" name="직사각형 54"/>
            <p:cNvSpPr/>
            <p:nvPr/>
          </p:nvSpPr>
          <p:spPr>
            <a:xfrm>
              <a:off x="8182957" y="3947758"/>
              <a:ext cx="1160814" cy="182475"/>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 </a:t>
              </a:r>
              <a:r>
                <a:rPr lang="ko-KR" altLang="en-US" sz="1000" dirty="0">
                  <a:solidFill>
                    <a:schemeClr val="tx1"/>
                  </a:solidFill>
                </a:rPr>
                <a:t>기초 </a:t>
              </a:r>
              <a:r>
                <a:rPr lang="ko-KR" altLang="en-US" sz="900" dirty="0" err="1">
                  <a:solidFill>
                    <a:schemeClr val="tx1"/>
                  </a:solidFill>
                </a:rPr>
                <a:t>우선권주장</a:t>
              </a:r>
              <a:endParaRPr lang="ko-KR" altLang="en-US" sz="1000" dirty="0">
                <a:solidFill>
                  <a:schemeClr val="tx1"/>
                </a:solidFill>
              </a:endParaRPr>
            </a:p>
          </p:txBody>
        </p:sp>
        <p:sp>
          <p:nvSpPr>
            <p:cNvPr id="83" name="Rectangle 14"/>
            <p:cNvSpPr>
              <a:spLocks noChangeArrowheads="1"/>
            </p:cNvSpPr>
            <p:nvPr/>
          </p:nvSpPr>
          <p:spPr bwMode="auto">
            <a:xfrm flipV="1">
              <a:off x="10724742" y="3807582"/>
              <a:ext cx="111031" cy="9787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5" name="직사각형 84"/>
            <p:cNvSpPr/>
            <p:nvPr/>
          </p:nvSpPr>
          <p:spPr>
            <a:xfrm>
              <a:off x="7869262" y="3448616"/>
              <a:ext cx="1160814" cy="182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a:t>
              </a:r>
            </a:p>
          </p:txBody>
        </p:sp>
        <p:sp>
          <p:nvSpPr>
            <p:cNvPr id="86" name="직사각형 85"/>
            <p:cNvSpPr/>
            <p:nvPr/>
          </p:nvSpPr>
          <p:spPr>
            <a:xfrm>
              <a:off x="8611196" y="3252157"/>
              <a:ext cx="1160814" cy="182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 </a:t>
              </a:r>
              <a:r>
                <a:rPr lang="en-US" altLang="ko-KR" sz="1000" dirty="0">
                  <a:solidFill>
                    <a:schemeClr val="tx1"/>
                  </a:solidFill>
                </a:rPr>
                <a:t>4</a:t>
              </a:r>
              <a:r>
                <a:rPr lang="ko-KR" altLang="en-US" sz="1000" dirty="0">
                  <a:solidFill>
                    <a:schemeClr val="tx1"/>
                  </a:solidFill>
                </a:rPr>
                <a:t>개월</a:t>
              </a:r>
            </a:p>
          </p:txBody>
        </p:sp>
        <p:sp>
          <p:nvSpPr>
            <p:cNvPr id="88" name="직사각형 87"/>
            <p:cNvSpPr/>
            <p:nvPr/>
          </p:nvSpPr>
          <p:spPr>
            <a:xfrm>
              <a:off x="6496727" y="4226042"/>
              <a:ext cx="1160814"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a:t>
              </a:r>
              <a:endParaRPr lang="ko-KR" altLang="en-US" sz="1000" dirty="0">
                <a:solidFill>
                  <a:schemeClr val="tx1"/>
                </a:solidFill>
              </a:endParaRPr>
            </a:p>
          </p:txBody>
        </p:sp>
        <p:sp>
          <p:nvSpPr>
            <p:cNvPr id="89" name="직사각형 88"/>
            <p:cNvSpPr/>
            <p:nvPr/>
          </p:nvSpPr>
          <p:spPr>
            <a:xfrm>
              <a:off x="6496727" y="4408518"/>
              <a:ext cx="1160814"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B</a:t>
              </a:r>
              <a:endParaRPr lang="ko-KR" altLang="en-US" sz="1000" dirty="0">
                <a:solidFill>
                  <a:schemeClr val="tx1"/>
                </a:solidFill>
              </a:endParaRPr>
            </a:p>
          </p:txBody>
        </p:sp>
        <p:sp>
          <p:nvSpPr>
            <p:cNvPr id="92" name="직사각형 91"/>
            <p:cNvSpPr/>
            <p:nvPr/>
          </p:nvSpPr>
          <p:spPr>
            <a:xfrm>
              <a:off x="8182956" y="4226042"/>
              <a:ext cx="1160814"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C</a:t>
              </a:r>
              <a:endParaRPr lang="ko-KR" altLang="en-US" sz="1000" dirty="0">
                <a:solidFill>
                  <a:schemeClr val="tx1"/>
                </a:solidFill>
              </a:endParaRPr>
            </a:p>
          </p:txBody>
        </p:sp>
        <p:sp>
          <p:nvSpPr>
            <p:cNvPr id="93" name="직사각형 92"/>
            <p:cNvSpPr/>
            <p:nvPr/>
          </p:nvSpPr>
          <p:spPr>
            <a:xfrm>
              <a:off x="8182956" y="4408518"/>
              <a:ext cx="1160814"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B, C</a:t>
              </a:r>
              <a:endParaRPr lang="ko-KR" altLang="en-US" sz="1000" dirty="0">
                <a:solidFill>
                  <a:schemeClr val="tx1"/>
                </a:solidFill>
              </a:endParaRPr>
            </a:p>
          </p:txBody>
        </p:sp>
        <p:sp>
          <p:nvSpPr>
            <p:cNvPr id="104" name="직사각형 103"/>
            <p:cNvSpPr/>
            <p:nvPr/>
          </p:nvSpPr>
          <p:spPr>
            <a:xfrm>
              <a:off x="10202535" y="5240955"/>
              <a:ext cx="1160814" cy="18247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Y </a:t>
              </a:r>
              <a:r>
                <a:rPr lang="ko-KR" altLang="en-US" sz="1000" dirty="0">
                  <a:solidFill>
                    <a:schemeClr val="tx1"/>
                  </a:solidFill>
                </a:rPr>
                <a:t>기초변경출원</a:t>
              </a:r>
              <a:r>
                <a:rPr lang="en-US" altLang="ko-KR" sz="1000" dirty="0">
                  <a:solidFill>
                    <a:schemeClr val="tx1"/>
                  </a:solidFill>
                </a:rPr>
                <a:t>(Z)</a:t>
              </a:r>
              <a:endParaRPr lang="ko-KR" altLang="en-US" sz="1000" dirty="0">
                <a:solidFill>
                  <a:schemeClr val="tx1"/>
                </a:solidFill>
              </a:endParaRPr>
            </a:p>
          </p:txBody>
        </p:sp>
        <p:sp>
          <p:nvSpPr>
            <p:cNvPr id="105" name="직사각형 104"/>
            <p:cNvSpPr/>
            <p:nvPr/>
          </p:nvSpPr>
          <p:spPr>
            <a:xfrm>
              <a:off x="10202535" y="5423431"/>
              <a:ext cx="1160814" cy="182475"/>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solidFill>
                </a:rPr>
                <a:t>X </a:t>
              </a:r>
              <a:r>
                <a:rPr lang="ko-KR" altLang="en-US" sz="900" dirty="0">
                  <a:solidFill>
                    <a:schemeClr val="bg1"/>
                  </a:solidFill>
                </a:rPr>
                <a:t>기초 </a:t>
              </a:r>
              <a:r>
                <a:rPr lang="ko-KR" altLang="en-US" sz="900" dirty="0" err="1">
                  <a:solidFill>
                    <a:schemeClr val="bg1"/>
                  </a:solidFill>
                </a:rPr>
                <a:t>우선권주장</a:t>
              </a:r>
              <a:endParaRPr lang="ko-KR" altLang="en-US" sz="900" dirty="0">
                <a:solidFill>
                  <a:schemeClr val="bg1"/>
                </a:solidFill>
              </a:endParaRPr>
            </a:p>
          </p:txBody>
        </p:sp>
        <p:sp>
          <p:nvSpPr>
            <p:cNvPr id="106" name="직사각형 105"/>
            <p:cNvSpPr/>
            <p:nvPr/>
          </p:nvSpPr>
          <p:spPr>
            <a:xfrm>
              <a:off x="10202534" y="5960503"/>
              <a:ext cx="1160814"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B</a:t>
              </a:r>
              <a:endParaRPr lang="ko-KR" altLang="en-US" sz="1000" dirty="0">
                <a:solidFill>
                  <a:schemeClr val="tx1"/>
                </a:solidFill>
              </a:endParaRPr>
            </a:p>
          </p:txBody>
        </p:sp>
        <p:sp>
          <p:nvSpPr>
            <p:cNvPr id="107" name="직사각형 106"/>
            <p:cNvSpPr/>
            <p:nvPr/>
          </p:nvSpPr>
          <p:spPr>
            <a:xfrm>
              <a:off x="10202534" y="6142979"/>
              <a:ext cx="1160814"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B, C</a:t>
              </a:r>
              <a:endParaRPr lang="ko-KR" altLang="en-US" sz="1000" dirty="0">
                <a:solidFill>
                  <a:schemeClr val="tx1"/>
                </a:solidFill>
              </a:endParaRPr>
            </a:p>
          </p:txBody>
        </p:sp>
        <p:sp>
          <p:nvSpPr>
            <p:cNvPr id="108" name="Rectangle 14"/>
            <p:cNvSpPr>
              <a:spLocks noChangeArrowheads="1"/>
            </p:cNvSpPr>
            <p:nvPr/>
          </p:nvSpPr>
          <p:spPr bwMode="auto">
            <a:xfrm flipV="1">
              <a:off x="10045333" y="3807582"/>
              <a:ext cx="111031" cy="9787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09" name="직선 연결선 108"/>
            <p:cNvCxnSpPr>
              <a:cxnSpLocks/>
              <a:stCxn id="104" idx="0"/>
            </p:cNvCxnSpPr>
            <p:nvPr/>
          </p:nvCxnSpPr>
          <p:spPr>
            <a:xfrm flipH="1" flipV="1">
              <a:off x="10782333" y="3905460"/>
              <a:ext cx="609" cy="133549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1" name="직사각형 110"/>
            <p:cNvSpPr/>
            <p:nvPr/>
          </p:nvSpPr>
          <p:spPr>
            <a:xfrm>
              <a:off x="10542491" y="3417531"/>
              <a:ext cx="1160814" cy="182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3</a:t>
              </a:r>
              <a:r>
                <a:rPr lang="ko-KR" altLang="en-US" sz="1000" dirty="0">
                  <a:solidFill>
                    <a:schemeClr val="tx1"/>
                  </a:solidFill>
                </a:rPr>
                <a:t>개월</a:t>
              </a:r>
            </a:p>
          </p:txBody>
        </p:sp>
        <p:sp>
          <p:nvSpPr>
            <p:cNvPr id="112" name="직사각형 111"/>
            <p:cNvSpPr/>
            <p:nvPr/>
          </p:nvSpPr>
          <p:spPr>
            <a:xfrm>
              <a:off x="11039168" y="4755556"/>
              <a:ext cx="814694" cy="182475"/>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solidFill>
                </a:rPr>
                <a:t>증명서류</a:t>
              </a:r>
              <a:r>
                <a:rPr lang="en-US" altLang="ko-KR" sz="1000" dirty="0">
                  <a:solidFill>
                    <a:schemeClr val="bg1"/>
                  </a:solidFill>
                </a:rPr>
                <a:t>(X)</a:t>
              </a:r>
              <a:endParaRPr lang="ko-KR" altLang="en-US" sz="1000" dirty="0">
                <a:solidFill>
                  <a:schemeClr val="bg1"/>
                </a:solidFill>
              </a:endParaRPr>
            </a:p>
          </p:txBody>
        </p:sp>
        <p:sp>
          <p:nvSpPr>
            <p:cNvPr id="113" name="Rectangle 14"/>
            <p:cNvSpPr>
              <a:spLocks noChangeArrowheads="1"/>
            </p:cNvSpPr>
            <p:nvPr/>
          </p:nvSpPr>
          <p:spPr bwMode="auto">
            <a:xfrm flipV="1">
              <a:off x="11391000" y="3807582"/>
              <a:ext cx="111031" cy="9787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14" name="직선 연결선 113"/>
            <p:cNvCxnSpPr>
              <a:cxnSpLocks/>
              <a:stCxn id="112" idx="0"/>
              <a:endCxn id="113" idx="0"/>
            </p:cNvCxnSpPr>
            <p:nvPr/>
          </p:nvCxnSpPr>
          <p:spPr>
            <a:xfrm flipV="1">
              <a:off x="11446515" y="3905460"/>
              <a:ext cx="1" cy="85009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3" name="직사각형 122"/>
            <p:cNvSpPr/>
            <p:nvPr/>
          </p:nvSpPr>
          <p:spPr>
            <a:xfrm>
              <a:off x="8168511" y="5970247"/>
              <a:ext cx="1160814"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B</a:t>
              </a:r>
              <a:endParaRPr lang="ko-KR" altLang="en-US" sz="1000" dirty="0">
                <a:solidFill>
                  <a:schemeClr val="tx1"/>
                </a:solidFill>
              </a:endParaRPr>
            </a:p>
          </p:txBody>
        </p:sp>
        <p:sp>
          <p:nvSpPr>
            <p:cNvPr id="124" name="직사각형 123"/>
            <p:cNvSpPr/>
            <p:nvPr/>
          </p:nvSpPr>
          <p:spPr>
            <a:xfrm>
              <a:off x="8168511" y="6152723"/>
              <a:ext cx="1160814"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B, C</a:t>
              </a:r>
              <a:endParaRPr lang="ko-KR" altLang="en-US" sz="1000" dirty="0">
                <a:solidFill>
                  <a:schemeClr val="tx1"/>
                </a:solidFill>
              </a:endParaRPr>
            </a:p>
          </p:txBody>
        </p:sp>
        <p:sp>
          <p:nvSpPr>
            <p:cNvPr id="125" name="직사각형 124"/>
            <p:cNvSpPr/>
            <p:nvPr/>
          </p:nvSpPr>
          <p:spPr>
            <a:xfrm>
              <a:off x="8169731" y="6363264"/>
              <a:ext cx="1160814" cy="18247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한국실용출원</a:t>
              </a:r>
              <a:r>
                <a:rPr lang="en-US" altLang="ko-KR" sz="1000" dirty="0">
                  <a:solidFill>
                    <a:schemeClr val="tx1"/>
                  </a:solidFill>
                </a:rPr>
                <a:t>(Z)</a:t>
              </a:r>
              <a:endParaRPr lang="ko-KR" altLang="en-US" sz="1000" dirty="0">
                <a:solidFill>
                  <a:schemeClr val="tx1"/>
                </a:solidFill>
              </a:endParaRPr>
            </a:p>
          </p:txBody>
        </p:sp>
        <p:sp>
          <p:nvSpPr>
            <p:cNvPr id="126" name="Rectangle 29"/>
            <p:cNvSpPr>
              <a:spLocks noChangeArrowheads="1"/>
            </p:cNvSpPr>
            <p:nvPr/>
          </p:nvSpPr>
          <p:spPr bwMode="auto">
            <a:xfrm>
              <a:off x="6713499" y="5874258"/>
              <a:ext cx="727268" cy="187227"/>
            </a:xfrm>
            <a:prstGeom prst="rect">
              <a:avLst/>
            </a:prstGeom>
            <a:noFill/>
            <a:ln w="9525">
              <a:noFill/>
              <a:miter lim="800000"/>
              <a:headEnd/>
              <a:tailEnd/>
            </a:ln>
          </p:spPr>
          <p:txBody>
            <a:bodyPr wrap="none" anchor="ctr"/>
            <a:lstStyle/>
            <a:p>
              <a:pPr algn="ctr">
                <a:defRPr/>
              </a:pPr>
              <a:r>
                <a:rPr lang="en-US" altLang="ko-KR" sz="1000" dirty="0">
                  <a:solidFill>
                    <a:srgbClr val="FF0000"/>
                  </a:solidFill>
                  <a:latin typeface="+mn-ea"/>
                </a:rPr>
                <a:t>Z</a:t>
              </a:r>
              <a:r>
                <a:rPr lang="ko-KR" altLang="en-US" sz="1000" dirty="0">
                  <a:solidFill>
                    <a:srgbClr val="FF0000"/>
                  </a:solidFill>
                  <a:latin typeface="+mn-ea"/>
                </a:rPr>
                <a:t>의</a:t>
              </a:r>
              <a:r>
                <a:rPr lang="en-US" altLang="ko-KR" sz="1000" dirty="0">
                  <a:solidFill>
                    <a:srgbClr val="FF0000"/>
                  </a:solidFill>
                  <a:latin typeface="+mn-ea"/>
                </a:rPr>
                <a:t> B</a:t>
              </a:r>
              <a:endParaRPr lang="ko-KR" altLang="en-US" sz="1000" dirty="0">
                <a:solidFill>
                  <a:srgbClr val="FF0000"/>
                </a:solidFill>
                <a:latin typeface="+mn-ea"/>
              </a:endParaRPr>
            </a:p>
          </p:txBody>
        </p:sp>
        <p:cxnSp>
          <p:nvCxnSpPr>
            <p:cNvPr id="13" name="직선 화살표 연결선 12"/>
            <p:cNvCxnSpPr>
              <a:cxnSpLocks/>
              <a:stCxn id="92" idx="1"/>
              <a:endCxn id="89" idx="3"/>
            </p:cNvCxnSpPr>
            <p:nvPr/>
          </p:nvCxnSpPr>
          <p:spPr>
            <a:xfrm flipH="1">
              <a:off x="7657541" y="4317279"/>
              <a:ext cx="525415" cy="182476"/>
            </a:xfrm>
            <a:prstGeom prst="straightConnector1">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7" name="직선 화살표 연결선 126"/>
            <p:cNvCxnSpPr>
              <a:stCxn id="107" idx="1"/>
              <a:endCxn id="93" idx="2"/>
            </p:cNvCxnSpPr>
            <p:nvPr/>
          </p:nvCxnSpPr>
          <p:spPr>
            <a:xfrm flipH="1" flipV="1">
              <a:off x="8763363" y="4590993"/>
              <a:ext cx="1439171" cy="1643224"/>
            </a:xfrm>
            <a:prstGeom prst="straightConnector1">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8" name="직선 화살표 연결선 127"/>
            <p:cNvCxnSpPr>
              <a:stCxn id="123" idx="1"/>
              <a:endCxn id="89" idx="3"/>
            </p:cNvCxnSpPr>
            <p:nvPr/>
          </p:nvCxnSpPr>
          <p:spPr>
            <a:xfrm flipH="1" flipV="1">
              <a:off x="7657541" y="4499755"/>
              <a:ext cx="510970" cy="1561729"/>
            </a:xfrm>
            <a:prstGeom prst="straightConnector1">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직사각형 128"/>
            <p:cNvSpPr/>
            <p:nvPr/>
          </p:nvSpPr>
          <p:spPr>
            <a:xfrm>
              <a:off x="7393869" y="4658349"/>
              <a:ext cx="1160814" cy="182475"/>
            </a:xfrm>
            <a:prstGeom prst="rect">
              <a:avLst/>
            </a:prstGeom>
            <a:solidFill>
              <a:schemeClr val="bg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제</a:t>
              </a:r>
              <a:r>
                <a:rPr lang="en-US" altLang="ko-KR" sz="1000" dirty="0">
                  <a:solidFill>
                    <a:schemeClr val="tx1"/>
                  </a:solidFill>
                </a:rPr>
                <a:t>3</a:t>
              </a:r>
              <a:r>
                <a:rPr lang="ko-KR" altLang="en-US" sz="1000" dirty="0">
                  <a:solidFill>
                    <a:schemeClr val="tx1"/>
                  </a:solidFill>
                </a:rPr>
                <a:t>자의 </a:t>
              </a:r>
              <a:r>
                <a:rPr lang="en-US" altLang="ko-KR" sz="1000" dirty="0">
                  <a:solidFill>
                    <a:schemeClr val="tx1"/>
                  </a:solidFill>
                </a:rPr>
                <a:t>B</a:t>
              </a:r>
              <a:r>
                <a:rPr lang="ko-KR" altLang="en-US" sz="1000" dirty="0">
                  <a:solidFill>
                    <a:schemeClr val="tx1"/>
                  </a:solidFill>
                </a:rPr>
                <a:t>공지</a:t>
              </a:r>
            </a:p>
          </p:txBody>
        </p:sp>
        <p:sp>
          <p:nvSpPr>
            <p:cNvPr id="130" name="Rectangle 14"/>
            <p:cNvSpPr>
              <a:spLocks noChangeArrowheads="1"/>
            </p:cNvSpPr>
            <p:nvPr/>
          </p:nvSpPr>
          <p:spPr bwMode="auto">
            <a:xfrm flipV="1">
              <a:off x="7919064" y="3807582"/>
              <a:ext cx="111031" cy="9787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31" name="직선 연결선 130"/>
            <p:cNvCxnSpPr>
              <a:cxnSpLocks/>
              <a:stCxn id="129" idx="0"/>
              <a:endCxn id="130" idx="0"/>
            </p:cNvCxnSpPr>
            <p:nvPr/>
          </p:nvCxnSpPr>
          <p:spPr>
            <a:xfrm flipV="1">
              <a:off x="7974276" y="3905460"/>
              <a:ext cx="304" cy="75288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2" name="Rectangle 29"/>
            <p:cNvSpPr>
              <a:spLocks noChangeArrowheads="1"/>
            </p:cNvSpPr>
            <p:nvPr/>
          </p:nvSpPr>
          <p:spPr bwMode="auto">
            <a:xfrm>
              <a:off x="6288657" y="6335199"/>
              <a:ext cx="727268" cy="308776"/>
            </a:xfrm>
            <a:prstGeom prst="rect">
              <a:avLst/>
            </a:prstGeom>
            <a:noFill/>
            <a:ln w="9525">
              <a:noFill/>
              <a:miter lim="800000"/>
              <a:headEnd/>
              <a:tailEnd/>
            </a:ln>
          </p:spPr>
          <p:txBody>
            <a:bodyPr wrap="none" anchor="ctr"/>
            <a:lstStyle/>
            <a:p>
              <a:pPr algn="ctr">
                <a:defRPr/>
              </a:pPr>
              <a:r>
                <a:rPr lang="ko-KR" altLang="en-US" sz="1000" dirty="0">
                  <a:solidFill>
                    <a:srgbClr val="FF0000"/>
                  </a:solidFill>
                  <a:latin typeface="+mn-ea"/>
                </a:rPr>
                <a:t>효과</a:t>
              </a:r>
            </a:p>
          </p:txBody>
        </p:sp>
        <p:sp>
          <p:nvSpPr>
            <p:cNvPr id="62" name="직사각형 61">
              <a:extLst>
                <a:ext uri="{FF2B5EF4-FFF2-40B4-BE49-F238E27FC236}">
                  <a16:creationId xmlns:a16="http://schemas.microsoft.com/office/drawing/2014/main" id="{D8102845-4E41-4AF6-AC24-D692DAAFB609}"/>
                </a:ext>
              </a:extLst>
            </p:cNvPr>
            <p:cNvSpPr/>
            <p:nvPr/>
          </p:nvSpPr>
          <p:spPr>
            <a:xfrm>
              <a:off x="234814" y="4903552"/>
              <a:ext cx="3121906" cy="1749048"/>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cxnSp>
          <p:nvCxnSpPr>
            <p:cNvPr id="63" name="직선 연결선 62">
              <a:extLst>
                <a:ext uri="{FF2B5EF4-FFF2-40B4-BE49-F238E27FC236}">
                  <a16:creationId xmlns:a16="http://schemas.microsoft.com/office/drawing/2014/main" id="{7147C150-AAD1-4D49-8380-2FADC755951B}"/>
                </a:ext>
              </a:extLst>
            </p:cNvPr>
            <p:cNvCxnSpPr/>
            <p:nvPr/>
          </p:nvCxnSpPr>
          <p:spPr>
            <a:xfrm flipH="1">
              <a:off x="2659289" y="3704821"/>
              <a:ext cx="2" cy="291680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0711D949-59E3-4CEA-963A-CF405CB58B30}"/>
                </a:ext>
              </a:extLst>
            </p:cNvPr>
            <p:cNvCxnSpPr>
              <a:stCxn id="69" idx="0"/>
            </p:cNvCxnSpPr>
            <p:nvPr/>
          </p:nvCxnSpPr>
          <p:spPr>
            <a:xfrm flipH="1">
              <a:off x="894838" y="3773909"/>
              <a:ext cx="2" cy="291680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양쪽 모서리가 둥근 사각형 45">
              <a:extLst>
                <a:ext uri="{FF2B5EF4-FFF2-40B4-BE49-F238E27FC236}">
                  <a16:creationId xmlns:a16="http://schemas.microsoft.com/office/drawing/2014/main" id="{EE128069-0A21-451A-B7FD-71A9404A2E5B}"/>
                </a:ext>
              </a:extLst>
            </p:cNvPr>
            <p:cNvSpPr/>
            <p:nvPr/>
          </p:nvSpPr>
          <p:spPr>
            <a:xfrm>
              <a:off x="894839" y="3623576"/>
              <a:ext cx="2528145" cy="241569"/>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67" name="양쪽 모서리가 둥근 사각형 46">
              <a:extLst>
                <a:ext uri="{FF2B5EF4-FFF2-40B4-BE49-F238E27FC236}">
                  <a16:creationId xmlns:a16="http://schemas.microsoft.com/office/drawing/2014/main" id="{CD765E82-994B-4F50-9238-304E2DA2A61E}"/>
                </a:ext>
              </a:extLst>
            </p:cNvPr>
            <p:cNvSpPr/>
            <p:nvPr/>
          </p:nvSpPr>
          <p:spPr>
            <a:xfrm>
              <a:off x="894839" y="3424764"/>
              <a:ext cx="3042332" cy="440382"/>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cxnSp>
          <p:nvCxnSpPr>
            <p:cNvPr id="68" name="직선 연결선 67">
              <a:extLst>
                <a:ext uri="{FF2B5EF4-FFF2-40B4-BE49-F238E27FC236}">
                  <a16:creationId xmlns:a16="http://schemas.microsoft.com/office/drawing/2014/main" id="{7108C237-841F-4598-9596-4D77824E87E7}"/>
                </a:ext>
              </a:extLst>
            </p:cNvPr>
            <p:cNvCxnSpPr>
              <a:cxnSpLocks/>
              <a:stCxn id="69" idx="1"/>
            </p:cNvCxnSpPr>
            <p:nvPr/>
          </p:nvCxnSpPr>
          <p:spPr>
            <a:xfrm flipV="1">
              <a:off x="293462" y="3865146"/>
              <a:ext cx="5279202" cy="1"/>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직사각형 68">
              <a:extLst>
                <a:ext uri="{FF2B5EF4-FFF2-40B4-BE49-F238E27FC236}">
                  <a16:creationId xmlns:a16="http://schemas.microsoft.com/office/drawing/2014/main" id="{1091217A-800B-4064-AD70-08232F1AE458}"/>
                </a:ext>
              </a:extLst>
            </p:cNvPr>
            <p:cNvSpPr/>
            <p:nvPr/>
          </p:nvSpPr>
          <p:spPr>
            <a:xfrm>
              <a:off x="293462" y="3773909"/>
              <a:ext cx="1202753" cy="182475"/>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a:t>
              </a:r>
              <a:r>
                <a:rPr lang="ko-KR" altLang="en-US" sz="1000" dirty="0" err="1">
                  <a:solidFill>
                    <a:schemeClr val="tx1"/>
                  </a:solidFill>
                </a:rPr>
                <a:t>일본출원</a:t>
              </a:r>
              <a:r>
                <a:rPr lang="en-US" altLang="ko-KR" sz="1000" dirty="0">
                  <a:solidFill>
                    <a:schemeClr val="tx1"/>
                  </a:solidFill>
                </a:rPr>
                <a:t>(X)</a:t>
              </a:r>
              <a:endParaRPr lang="ko-KR" altLang="en-US" sz="1000" dirty="0">
                <a:solidFill>
                  <a:schemeClr val="tx1"/>
                </a:solidFill>
              </a:endParaRPr>
            </a:p>
          </p:txBody>
        </p:sp>
        <p:sp>
          <p:nvSpPr>
            <p:cNvPr id="70" name="직사각형 69">
              <a:extLst>
                <a:ext uri="{FF2B5EF4-FFF2-40B4-BE49-F238E27FC236}">
                  <a16:creationId xmlns:a16="http://schemas.microsoft.com/office/drawing/2014/main" id="{FB18F328-1F5A-4D02-9537-55C62806093E}"/>
                </a:ext>
              </a:extLst>
            </p:cNvPr>
            <p:cNvSpPr/>
            <p:nvPr/>
          </p:nvSpPr>
          <p:spPr>
            <a:xfrm>
              <a:off x="2040614" y="3773909"/>
              <a:ext cx="1202753" cy="18247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한국출원</a:t>
              </a:r>
              <a:r>
                <a:rPr lang="en-US" altLang="ko-KR" sz="1000" dirty="0">
                  <a:solidFill>
                    <a:schemeClr val="tx1"/>
                  </a:solidFill>
                </a:rPr>
                <a:t>(Y)</a:t>
              </a:r>
              <a:endParaRPr lang="ko-KR" altLang="en-US" sz="1000" dirty="0">
                <a:solidFill>
                  <a:schemeClr val="tx1"/>
                </a:solidFill>
              </a:endParaRPr>
            </a:p>
          </p:txBody>
        </p:sp>
        <p:sp>
          <p:nvSpPr>
            <p:cNvPr id="71" name="직사각형 70">
              <a:extLst>
                <a:ext uri="{FF2B5EF4-FFF2-40B4-BE49-F238E27FC236}">
                  <a16:creationId xmlns:a16="http://schemas.microsoft.com/office/drawing/2014/main" id="{A699176E-6F42-4921-99C7-934BF99F8110}"/>
                </a:ext>
              </a:extLst>
            </p:cNvPr>
            <p:cNvSpPr/>
            <p:nvPr/>
          </p:nvSpPr>
          <p:spPr>
            <a:xfrm>
              <a:off x="2040614" y="3956384"/>
              <a:ext cx="1202753" cy="182475"/>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 </a:t>
              </a:r>
              <a:r>
                <a:rPr lang="ko-KR" altLang="en-US" sz="1000" dirty="0">
                  <a:solidFill>
                    <a:schemeClr val="tx1"/>
                  </a:solidFill>
                </a:rPr>
                <a:t>기초 </a:t>
              </a:r>
              <a:r>
                <a:rPr lang="ko-KR" altLang="en-US" sz="900" dirty="0" err="1">
                  <a:solidFill>
                    <a:schemeClr val="tx1"/>
                  </a:solidFill>
                </a:rPr>
                <a:t>우선권주장</a:t>
              </a:r>
              <a:endParaRPr lang="ko-KR" altLang="en-US" sz="1000" dirty="0">
                <a:solidFill>
                  <a:schemeClr val="tx1"/>
                </a:solidFill>
              </a:endParaRPr>
            </a:p>
          </p:txBody>
        </p:sp>
        <p:sp>
          <p:nvSpPr>
            <p:cNvPr id="72" name="직사각형 71">
              <a:extLst>
                <a:ext uri="{FF2B5EF4-FFF2-40B4-BE49-F238E27FC236}">
                  <a16:creationId xmlns:a16="http://schemas.microsoft.com/office/drawing/2014/main" id="{5D01B9B2-41F4-463C-889A-BF6B1789B48B}"/>
                </a:ext>
              </a:extLst>
            </p:cNvPr>
            <p:cNvSpPr/>
            <p:nvPr/>
          </p:nvSpPr>
          <p:spPr>
            <a:xfrm>
              <a:off x="3553228" y="4019360"/>
              <a:ext cx="786040" cy="182475"/>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증명서류</a:t>
              </a:r>
              <a:r>
                <a:rPr lang="en-US" altLang="ko-KR" sz="1000" dirty="0">
                  <a:solidFill>
                    <a:schemeClr val="tx1"/>
                  </a:solidFill>
                </a:rPr>
                <a:t>(X)</a:t>
              </a:r>
              <a:endParaRPr lang="ko-KR" altLang="en-US" sz="1000" dirty="0">
                <a:solidFill>
                  <a:schemeClr val="tx1"/>
                </a:solidFill>
              </a:endParaRPr>
            </a:p>
          </p:txBody>
        </p:sp>
        <p:sp>
          <p:nvSpPr>
            <p:cNvPr id="73" name="Rectangle 14">
              <a:extLst>
                <a:ext uri="{FF2B5EF4-FFF2-40B4-BE49-F238E27FC236}">
                  <a16:creationId xmlns:a16="http://schemas.microsoft.com/office/drawing/2014/main" id="{A012948F-F055-4E7E-97AF-A6F3CBAD2607}"/>
                </a:ext>
              </a:extLst>
            </p:cNvPr>
            <p:cNvSpPr>
              <a:spLocks noChangeArrowheads="1"/>
            </p:cNvSpPr>
            <p:nvPr/>
          </p:nvSpPr>
          <p:spPr bwMode="auto">
            <a:xfrm flipV="1">
              <a:off x="4674233" y="3816208"/>
              <a:ext cx="115042" cy="9787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74" name="직선 연결선 73">
              <a:extLst>
                <a:ext uri="{FF2B5EF4-FFF2-40B4-BE49-F238E27FC236}">
                  <a16:creationId xmlns:a16="http://schemas.microsoft.com/office/drawing/2014/main" id="{F9A83C4D-1BE2-414F-BEE9-6C869AE1944C}"/>
                </a:ext>
              </a:extLst>
            </p:cNvPr>
            <p:cNvCxnSpPr>
              <a:cxnSpLocks/>
              <a:stCxn id="72" idx="0"/>
              <a:endCxn id="94" idx="0"/>
            </p:cNvCxnSpPr>
            <p:nvPr/>
          </p:nvCxnSpPr>
          <p:spPr>
            <a:xfrm flipH="1" flipV="1">
              <a:off x="3942072" y="3914086"/>
              <a:ext cx="4176" cy="10527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직사각형 74">
              <a:extLst>
                <a:ext uri="{FF2B5EF4-FFF2-40B4-BE49-F238E27FC236}">
                  <a16:creationId xmlns:a16="http://schemas.microsoft.com/office/drawing/2014/main" id="{20024A2C-0848-422A-B40D-45BE9C91C7F5}"/>
                </a:ext>
              </a:extLst>
            </p:cNvPr>
            <p:cNvSpPr/>
            <p:nvPr/>
          </p:nvSpPr>
          <p:spPr>
            <a:xfrm>
              <a:off x="1715586" y="3457242"/>
              <a:ext cx="1202753" cy="182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a:t>
              </a:r>
            </a:p>
          </p:txBody>
        </p:sp>
        <p:sp>
          <p:nvSpPr>
            <p:cNvPr id="76" name="직사각형 75">
              <a:extLst>
                <a:ext uri="{FF2B5EF4-FFF2-40B4-BE49-F238E27FC236}">
                  <a16:creationId xmlns:a16="http://schemas.microsoft.com/office/drawing/2014/main" id="{587C1F0C-C251-4395-92E1-CF24BE0C04D8}"/>
                </a:ext>
              </a:extLst>
            </p:cNvPr>
            <p:cNvSpPr/>
            <p:nvPr/>
          </p:nvSpPr>
          <p:spPr>
            <a:xfrm>
              <a:off x="2484326" y="3260783"/>
              <a:ext cx="1202753" cy="182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 </a:t>
              </a:r>
              <a:r>
                <a:rPr lang="en-US" altLang="ko-KR" sz="1000" dirty="0">
                  <a:solidFill>
                    <a:schemeClr val="tx1"/>
                  </a:solidFill>
                </a:rPr>
                <a:t>4</a:t>
              </a:r>
              <a:r>
                <a:rPr lang="ko-KR" altLang="en-US" sz="1000" dirty="0">
                  <a:solidFill>
                    <a:schemeClr val="tx1"/>
                  </a:solidFill>
                </a:rPr>
                <a:t>개월</a:t>
              </a:r>
            </a:p>
          </p:txBody>
        </p:sp>
        <p:sp>
          <p:nvSpPr>
            <p:cNvPr id="77" name="직사각형 76">
              <a:extLst>
                <a:ext uri="{FF2B5EF4-FFF2-40B4-BE49-F238E27FC236}">
                  <a16:creationId xmlns:a16="http://schemas.microsoft.com/office/drawing/2014/main" id="{C760CFD7-CA96-427A-8DAA-854D35841C7F}"/>
                </a:ext>
              </a:extLst>
            </p:cNvPr>
            <p:cNvSpPr/>
            <p:nvPr/>
          </p:nvSpPr>
          <p:spPr>
            <a:xfrm>
              <a:off x="293462" y="4234668"/>
              <a:ext cx="1202753"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a:t>
              </a:r>
              <a:endParaRPr lang="ko-KR" altLang="en-US" sz="1000" dirty="0">
                <a:solidFill>
                  <a:schemeClr val="tx1"/>
                </a:solidFill>
              </a:endParaRPr>
            </a:p>
          </p:txBody>
        </p:sp>
        <p:sp>
          <p:nvSpPr>
            <p:cNvPr id="78" name="직사각형 77">
              <a:extLst>
                <a:ext uri="{FF2B5EF4-FFF2-40B4-BE49-F238E27FC236}">
                  <a16:creationId xmlns:a16="http://schemas.microsoft.com/office/drawing/2014/main" id="{A08E456A-8073-4392-AD73-3ED1791F680C}"/>
                </a:ext>
              </a:extLst>
            </p:cNvPr>
            <p:cNvSpPr/>
            <p:nvPr/>
          </p:nvSpPr>
          <p:spPr>
            <a:xfrm>
              <a:off x="293462" y="4417144"/>
              <a:ext cx="1202753"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B</a:t>
              </a:r>
              <a:endParaRPr lang="ko-KR" altLang="en-US" sz="1000" dirty="0">
                <a:solidFill>
                  <a:schemeClr val="tx1"/>
                </a:solidFill>
              </a:endParaRPr>
            </a:p>
          </p:txBody>
        </p:sp>
        <p:sp>
          <p:nvSpPr>
            <p:cNvPr id="79" name="직사각형 78">
              <a:extLst>
                <a:ext uri="{FF2B5EF4-FFF2-40B4-BE49-F238E27FC236}">
                  <a16:creationId xmlns:a16="http://schemas.microsoft.com/office/drawing/2014/main" id="{00B74714-32B6-4AF0-B30F-0599BFE34DBB}"/>
                </a:ext>
              </a:extLst>
            </p:cNvPr>
            <p:cNvSpPr/>
            <p:nvPr/>
          </p:nvSpPr>
          <p:spPr>
            <a:xfrm>
              <a:off x="2040614" y="4234668"/>
              <a:ext cx="1202753"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C</a:t>
              </a:r>
              <a:endParaRPr lang="ko-KR" altLang="en-US" sz="1000" dirty="0">
                <a:solidFill>
                  <a:schemeClr val="tx1"/>
                </a:solidFill>
              </a:endParaRPr>
            </a:p>
          </p:txBody>
        </p:sp>
        <p:sp>
          <p:nvSpPr>
            <p:cNvPr id="80" name="직사각형 79">
              <a:extLst>
                <a:ext uri="{FF2B5EF4-FFF2-40B4-BE49-F238E27FC236}">
                  <a16:creationId xmlns:a16="http://schemas.microsoft.com/office/drawing/2014/main" id="{2CA086B3-41A7-4829-9303-A86810974DCE}"/>
                </a:ext>
              </a:extLst>
            </p:cNvPr>
            <p:cNvSpPr/>
            <p:nvPr/>
          </p:nvSpPr>
          <p:spPr>
            <a:xfrm>
              <a:off x="2040614" y="4417144"/>
              <a:ext cx="1202753"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B, C</a:t>
              </a:r>
              <a:endParaRPr lang="ko-KR" altLang="en-US" sz="1000" dirty="0">
                <a:solidFill>
                  <a:schemeClr val="tx1"/>
                </a:solidFill>
              </a:endParaRPr>
            </a:p>
          </p:txBody>
        </p:sp>
        <p:sp>
          <p:nvSpPr>
            <p:cNvPr id="82" name="직사각형 81">
              <a:extLst>
                <a:ext uri="{FF2B5EF4-FFF2-40B4-BE49-F238E27FC236}">
                  <a16:creationId xmlns:a16="http://schemas.microsoft.com/office/drawing/2014/main" id="{8B738B59-E3A0-4F9E-B566-32868A045427}"/>
                </a:ext>
              </a:extLst>
            </p:cNvPr>
            <p:cNvSpPr/>
            <p:nvPr/>
          </p:nvSpPr>
          <p:spPr>
            <a:xfrm>
              <a:off x="3773281" y="5335845"/>
              <a:ext cx="1202753" cy="18247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Y </a:t>
              </a:r>
              <a:r>
                <a:rPr lang="ko-KR" altLang="en-US" sz="1000" dirty="0">
                  <a:solidFill>
                    <a:schemeClr val="tx1"/>
                  </a:solidFill>
                </a:rPr>
                <a:t>기초 </a:t>
              </a:r>
              <a:r>
                <a:rPr lang="ko-KR" altLang="en-US" sz="1000" dirty="0" err="1">
                  <a:solidFill>
                    <a:schemeClr val="tx1"/>
                  </a:solidFill>
                </a:rPr>
                <a:t>분할출원</a:t>
              </a:r>
              <a:r>
                <a:rPr lang="en-US" altLang="ko-KR" sz="1000" dirty="0">
                  <a:solidFill>
                    <a:schemeClr val="tx1"/>
                  </a:solidFill>
                </a:rPr>
                <a:t>(Z)</a:t>
              </a:r>
              <a:endParaRPr lang="ko-KR" altLang="en-US" sz="1000" dirty="0">
                <a:solidFill>
                  <a:schemeClr val="tx1"/>
                </a:solidFill>
              </a:endParaRPr>
            </a:p>
          </p:txBody>
        </p:sp>
        <p:sp>
          <p:nvSpPr>
            <p:cNvPr id="87" name="직사각형 86">
              <a:extLst>
                <a:ext uri="{FF2B5EF4-FFF2-40B4-BE49-F238E27FC236}">
                  <a16:creationId xmlns:a16="http://schemas.microsoft.com/office/drawing/2014/main" id="{5E439DF1-78CB-4DED-94B8-9FAD4BC4FDD3}"/>
                </a:ext>
              </a:extLst>
            </p:cNvPr>
            <p:cNvSpPr/>
            <p:nvPr/>
          </p:nvSpPr>
          <p:spPr>
            <a:xfrm>
              <a:off x="3773281" y="5518321"/>
              <a:ext cx="1202753" cy="182475"/>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X </a:t>
              </a:r>
              <a:r>
                <a:rPr lang="ko-KR" altLang="en-US" sz="800" dirty="0">
                  <a:solidFill>
                    <a:schemeClr val="bg1"/>
                  </a:solidFill>
                </a:rPr>
                <a:t>기초 우선권주장간주</a:t>
              </a:r>
            </a:p>
          </p:txBody>
        </p:sp>
        <p:sp>
          <p:nvSpPr>
            <p:cNvPr id="90" name="직사각형 89">
              <a:extLst>
                <a:ext uri="{FF2B5EF4-FFF2-40B4-BE49-F238E27FC236}">
                  <a16:creationId xmlns:a16="http://schemas.microsoft.com/office/drawing/2014/main" id="{8A85B795-7481-4E70-A7F1-226526EF3C76}"/>
                </a:ext>
              </a:extLst>
            </p:cNvPr>
            <p:cNvSpPr/>
            <p:nvPr/>
          </p:nvSpPr>
          <p:spPr>
            <a:xfrm>
              <a:off x="3773280" y="5986382"/>
              <a:ext cx="1202753"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B</a:t>
              </a:r>
              <a:endParaRPr lang="ko-KR" altLang="en-US" sz="1000" dirty="0">
                <a:solidFill>
                  <a:schemeClr val="tx1"/>
                </a:solidFill>
              </a:endParaRPr>
            </a:p>
          </p:txBody>
        </p:sp>
        <p:sp>
          <p:nvSpPr>
            <p:cNvPr id="91" name="직사각형 90">
              <a:extLst>
                <a:ext uri="{FF2B5EF4-FFF2-40B4-BE49-F238E27FC236}">
                  <a16:creationId xmlns:a16="http://schemas.microsoft.com/office/drawing/2014/main" id="{9712DFF4-2ED8-40C8-BC3E-B62D84A1E903}"/>
                </a:ext>
              </a:extLst>
            </p:cNvPr>
            <p:cNvSpPr/>
            <p:nvPr/>
          </p:nvSpPr>
          <p:spPr>
            <a:xfrm>
              <a:off x="3773280" y="6168858"/>
              <a:ext cx="1202753"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B, C</a:t>
              </a:r>
              <a:endParaRPr lang="ko-KR" altLang="en-US" sz="1000" dirty="0">
                <a:solidFill>
                  <a:schemeClr val="tx1"/>
                </a:solidFill>
              </a:endParaRPr>
            </a:p>
          </p:txBody>
        </p:sp>
        <p:sp>
          <p:nvSpPr>
            <p:cNvPr id="94" name="Rectangle 14">
              <a:extLst>
                <a:ext uri="{FF2B5EF4-FFF2-40B4-BE49-F238E27FC236}">
                  <a16:creationId xmlns:a16="http://schemas.microsoft.com/office/drawing/2014/main" id="{DCC48E8F-A09B-48DF-9709-0AB118419D8D}"/>
                </a:ext>
              </a:extLst>
            </p:cNvPr>
            <p:cNvSpPr>
              <a:spLocks noChangeArrowheads="1"/>
            </p:cNvSpPr>
            <p:nvPr/>
          </p:nvSpPr>
          <p:spPr bwMode="auto">
            <a:xfrm flipV="1">
              <a:off x="3884551" y="3816208"/>
              <a:ext cx="115042" cy="9787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0" name="직사각형 99">
              <a:extLst>
                <a:ext uri="{FF2B5EF4-FFF2-40B4-BE49-F238E27FC236}">
                  <a16:creationId xmlns:a16="http://schemas.microsoft.com/office/drawing/2014/main" id="{64672267-69A8-4AAA-9BF9-7FAA88F865ED}"/>
                </a:ext>
              </a:extLst>
            </p:cNvPr>
            <p:cNvSpPr/>
            <p:nvPr/>
          </p:nvSpPr>
          <p:spPr>
            <a:xfrm>
              <a:off x="2026911" y="5570133"/>
              <a:ext cx="1202753" cy="18247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한국출원</a:t>
              </a:r>
              <a:r>
                <a:rPr lang="en-US" altLang="ko-KR" sz="1000" dirty="0">
                  <a:solidFill>
                    <a:schemeClr val="tx1"/>
                  </a:solidFill>
                </a:rPr>
                <a:t>(Y)</a:t>
              </a:r>
              <a:endParaRPr lang="ko-KR" altLang="en-US" sz="1000" dirty="0">
                <a:solidFill>
                  <a:schemeClr val="tx1"/>
                </a:solidFill>
              </a:endParaRPr>
            </a:p>
          </p:txBody>
        </p:sp>
        <p:sp>
          <p:nvSpPr>
            <p:cNvPr id="101" name="직사각형 100">
              <a:extLst>
                <a:ext uri="{FF2B5EF4-FFF2-40B4-BE49-F238E27FC236}">
                  <a16:creationId xmlns:a16="http://schemas.microsoft.com/office/drawing/2014/main" id="{A142A8BD-5023-423D-B1A6-A4158A0892B3}"/>
                </a:ext>
              </a:extLst>
            </p:cNvPr>
            <p:cNvSpPr/>
            <p:nvPr/>
          </p:nvSpPr>
          <p:spPr>
            <a:xfrm>
              <a:off x="2026910" y="5177116"/>
              <a:ext cx="1202753"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C</a:t>
              </a:r>
              <a:endParaRPr lang="ko-KR" altLang="en-US" sz="1000" dirty="0">
                <a:solidFill>
                  <a:schemeClr val="tx1"/>
                </a:solidFill>
              </a:endParaRPr>
            </a:p>
          </p:txBody>
        </p:sp>
        <p:sp>
          <p:nvSpPr>
            <p:cNvPr id="102" name="직사각형 101">
              <a:extLst>
                <a:ext uri="{FF2B5EF4-FFF2-40B4-BE49-F238E27FC236}">
                  <a16:creationId xmlns:a16="http://schemas.microsoft.com/office/drawing/2014/main" id="{CD61D785-D328-4B86-8AE3-19E161483E59}"/>
                </a:ext>
              </a:extLst>
            </p:cNvPr>
            <p:cNvSpPr/>
            <p:nvPr/>
          </p:nvSpPr>
          <p:spPr>
            <a:xfrm>
              <a:off x="2026910" y="5359592"/>
              <a:ext cx="1202753"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B, C</a:t>
              </a:r>
              <a:endParaRPr lang="ko-KR" altLang="en-US" sz="1000" dirty="0">
                <a:solidFill>
                  <a:schemeClr val="tx1"/>
                </a:solidFill>
              </a:endParaRPr>
            </a:p>
          </p:txBody>
        </p:sp>
        <p:sp>
          <p:nvSpPr>
            <p:cNvPr id="103" name="Rectangle 29">
              <a:extLst>
                <a:ext uri="{FF2B5EF4-FFF2-40B4-BE49-F238E27FC236}">
                  <a16:creationId xmlns:a16="http://schemas.microsoft.com/office/drawing/2014/main" id="{26390AF6-8BDD-4332-9B2F-3B53E55C87C2}"/>
                </a:ext>
              </a:extLst>
            </p:cNvPr>
            <p:cNvSpPr>
              <a:spLocks noChangeArrowheads="1"/>
            </p:cNvSpPr>
            <p:nvPr/>
          </p:nvSpPr>
          <p:spPr bwMode="auto">
            <a:xfrm>
              <a:off x="518066" y="4959873"/>
              <a:ext cx="753544" cy="187227"/>
            </a:xfrm>
            <a:prstGeom prst="rect">
              <a:avLst/>
            </a:prstGeom>
            <a:noFill/>
            <a:ln w="9525">
              <a:noFill/>
              <a:miter lim="800000"/>
              <a:headEnd/>
              <a:tailEnd/>
            </a:ln>
          </p:spPr>
          <p:txBody>
            <a:bodyPr wrap="none" anchor="ctr"/>
            <a:lstStyle/>
            <a:p>
              <a:pPr algn="ctr">
                <a:defRPr/>
              </a:pPr>
              <a:r>
                <a:rPr lang="en-US" altLang="ko-KR" sz="1000" dirty="0">
                  <a:solidFill>
                    <a:srgbClr val="FF0000"/>
                  </a:solidFill>
                  <a:latin typeface="+mn-ea"/>
                </a:rPr>
                <a:t>Y</a:t>
              </a:r>
              <a:r>
                <a:rPr lang="ko-KR" altLang="en-US" sz="1000" dirty="0">
                  <a:solidFill>
                    <a:srgbClr val="FF0000"/>
                  </a:solidFill>
                  <a:latin typeface="+mn-ea"/>
                </a:rPr>
                <a:t>의</a:t>
              </a:r>
              <a:r>
                <a:rPr lang="en-US" altLang="ko-KR" sz="1000" dirty="0">
                  <a:solidFill>
                    <a:srgbClr val="FF0000"/>
                  </a:solidFill>
                  <a:latin typeface="+mn-ea"/>
                </a:rPr>
                <a:t> A</a:t>
              </a:r>
              <a:endParaRPr lang="ko-KR" altLang="en-US" sz="1000" dirty="0">
                <a:solidFill>
                  <a:srgbClr val="FF0000"/>
                </a:solidFill>
                <a:latin typeface="+mn-ea"/>
              </a:endParaRPr>
            </a:p>
          </p:txBody>
        </p:sp>
        <p:sp>
          <p:nvSpPr>
            <p:cNvPr id="116" name="Rectangle 29">
              <a:extLst>
                <a:ext uri="{FF2B5EF4-FFF2-40B4-BE49-F238E27FC236}">
                  <a16:creationId xmlns:a16="http://schemas.microsoft.com/office/drawing/2014/main" id="{B3D69FBF-241A-40BE-906B-83911DD74FBB}"/>
                </a:ext>
              </a:extLst>
            </p:cNvPr>
            <p:cNvSpPr>
              <a:spLocks noChangeArrowheads="1"/>
            </p:cNvSpPr>
            <p:nvPr/>
          </p:nvSpPr>
          <p:spPr bwMode="auto">
            <a:xfrm>
              <a:off x="2241553" y="4959873"/>
              <a:ext cx="753544" cy="187227"/>
            </a:xfrm>
            <a:prstGeom prst="rect">
              <a:avLst/>
            </a:prstGeom>
            <a:noFill/>
            <a:ln w="9525">
              <a:noFill/>
              <a:miter lim="800000"/>
              <a:headEnd/>
              <a:tailEnd/>
            </a:ln>
          </p:spPr>
          <p:txBody>
            <a:bodyPr wrap="none" anchor="ctr"/>
            <a:lstStyle/>
            <a:p>
              <a:pPr algn="ctr">
                <a:defRPr/>
              </a:pPr>
              <a:r>
                <a:rPr lang="en-US" altLang="ko-KR" sz="1000" dirty="0">
                  <a:solidFill>
                    <a:srgbClr val="FF0000"/>
                  </a:solidFill>
                  <a:latin typeface="+mn-ea"/>
                </a:rPr>
                <a:t>Y</a:t>
              </a:r>
              <a:r>
                <a:rPr lang="ko-KR" altLang="en-US" sz="1000" dirty="0">
                  <a:solidFill>
                    <a:srgbClr val="FF0000"/>
                  </a:solidFill>
                  <a:latin typeface="+mn-ea"/>
                </a:rPr>
                <a:t>의</a:t>
              </a:r>
              <a:r>
                <a:rPr lang="en-US" altLang="ko-KR" sz="1000" dirty="0">
                  <a:solidFill>
                    <a:srgbClr val="FF0000"/>
                  </a:solidFill>
                  <a:latin typeface="+mn-ea"/>
                </a:rPr>
                <a:t> C</a:t>
              </a:r>
              <a:endParaRPr lang="ko-KR" altLang="en-US" sz="1000" dirty="0">
                <a:solidFill>
                  <a:srgbClr val="FF0000"/>
                </a:solidFill>
                <a:latin typeface="+mn-ea"/>
              </a:endParaRPr>
            </a:p>
          </p:txBody>
        </p:sp>
        <p:sp>
          <p:nvSpPr>
            <p:cNvPr id="120" name="직사각형 119">
              <a:extLst>
                <a:ext uri="{FF2B5EF4-FFF2-40B4-BE49-F238E27FC236}">
                  <a16:creationId xmlns:a16="http://schemas.microsoft.com/office/drawing/2014/main" id="{082952AF-C9C9-4FE1-B6E6-55268F29B93F}"/>
                </a:ext>
              </a:extLst>
            </p:cNvPr>
            <p:cNvSpPr/>
            <p:nvPr/>
          </p:nvSpPr>
          <p:spPr>
            <a:xfrm>
              <a:off x="2025647" y="5978873"/>
              <a:ext cx="1202753"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B</a:t>
              </a:r>
              <a:endParaRPr lang="ko-KR" altLang="en-US" sz="1000" dirty="0">
                <a:solidFill>
                  <a:schemeClr val="tx1"/>
                </a:solidFill>
              </a:endParaRPr>
            </a:p>
          </p:txBody>
        </p:sp>
        <p:sp>
          <p:nvSpPr>
            <p:cNvPr id="138" name="직사각형 137">
              <a:extLst>
                <a:ext uri="{FF2B5EF4-FFF2-40B4-BE49-F238E27FC236}">
                  <a16:creationId xmlns:a16="http://schemas.microsoft.com/office/drawing/2014/main" id="{1DB69CCE-3C20-4EB6-B4C4-F6BB465CD184}"/>
                </a:ext>
              </a:extLst>
            </p:cNvPr>
            <p:cNvSpPr/>
            <p:nvPr/>
          </p:nvSpPr>
          <p:spPr>
            <a:xfrm>
              <a:off x="2025647" y="6161349"/>
              <a:ext cx="1202753" cy="18247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B, C</a:t>
              </a:r>
              <a:endParaRPr lang="ko-KR" altLang="en-US" sz="1000" dirty="0">
                <a:solidFill>
                  <a:schemeClr val="tx1"/>
                </a:solidFill>
              </a:endParaRPr>
            </a:p>
          </p:txBody>
        </p:sp>
        <p:sp>
          <p:nvSpPr>
            <p:cNvPr id="139" name="직사각형 138">
              <a:extLst>
                <a:ext uri="{FF2B5EF4-FFF2-40B4-BE49-F238E27FC236}">
                  <a16:creationId xmlns:a16="http://schemas.microsoft.com/office/drawing/2014/main" id="{71C034DF-87AF-4BC4-9055-DEEBCB881913}"/>
                </a:ext>
              </a:extLst>
            </p:cNvPr>
            <p:cNvSpPr/>
            <p:nvPr/>
          </p:nvSpPr>
          <p:spPr>
            <a:xfrm>
              <a:off x="2026911" y="6371890"/>
              <a:ext cx="1202753" cy="18247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한국출원</a:t>
              </a:r>
              <a:r>
                <a:rPr lang="en-US" altLang="ko-KR" sz="1000" dirty="0">
                  <a:solidFill>
                    <a:schemeClr val="tx1"/>
                  </a:solidFill>
                </a:rPr>
                <a:t>(Z)</a:t>
              </a:r>
              <a:endParaRPr lang="ko-KR" altLang="en-US" sz="1000" dirty="0">
                <a:solidFill>
                  <a:schemeClr val="tx1"/>
                </a:solidFill>
              </a:endParaRPr>
            </a:p>
          </p:txBody>
        </p:sp>
        <p:sp>
          <p:nvSpPr>
            <p:cNvPr id="140" name="Rectangle 29">
              <a:extLst>
                <a:ext uri="{FF2B5EF4-FFF2-40B4-BE49-F238E27FC236}">
                  <a16:creationId xmlns:a16="http://schemas.microsoft.com/office/drawing/2014/main" id="{57CC0C61-7679-4552-94F2-B7C7B33360BE}"/>
                </a:ext>
              </a:extLst>
            </p:cNvPr>
            <p:cNvSpPr>
              <a:spLocks noChangeArrowheads="1"/>
            </p:cNvSpPr>
            <p:nvPr/>
          </p:nvSpPr>
          <p:spPr bwMode="auto">
            <a:xfrm>
              <a:off x="518066" y="5882884"/>
              <a:ext cx="753544" cy="187227"/>
            </a:xfrm>
            <a:prstGeom prst="rect">
              <a:avLst/>
            </a:prstGeom>
            <a:noFill/>
            <a:ln w="9525">
              <a:noFill/>
              <a:miter lim="800000"/>
              <a:headEnd/>
              <a:tailEnd/>
            </a:ln>
          </p:spPr>
          <p:txBody>
            <a:bodyPr wrap="none" anchor="ctr"/>
            <a:lstStyle/>
            <a:p>
              <a:pPr algn="ctr">
                <a:defRPr/>
              </a:pPr>
              <a:r>
                <a:rPr lang="en-US" altLang="ko-KR" sz="1000" dirty="0">
                  <a:solidFill>
                    <a:srgbClr val="FF0000"/>
                  </a:solidFill>
                  <a:latin typeface="+mn-ea"/>
                </a:rPr>
                <a:t>Z</a:t>
              </a:r>
              <a:r>
                <a:rPr lang="ko-KR" altLang="en-US" sz="1000" dirty="0">
                  <a:solidFill>
                    <a:srgbClr val="FF0000"/>
                  </a:solidFill>
                  <a:latin typeface="+mn-ea"/>
                </a:rPr>
                <a:t>의</a:t>
              </a:r>
              <a:r>
                <a:rPr lang="en-US" altLang="ko-KR" sz="1000" dirty="0">
                  <a:solidFill>
                    <a:srgbClr val="FF0000"/>
                  </a:solidFill>
                  <a:latin typeface="+mn-ea"/>
                </a:rPr>
                <a:t> B</a:t>
              </a:r>
              <a:endParaRPr lang="ko-KR" altLang="en-US" sz="1000" dirty="0">
                <a:solidFill>
                  <a:srgbClr val="FF0000"/>
                </a:solidFill>
                <a:latin typeface="+mn-ea"/>
              </a:endParaRPr>
            </a:p>
          </p:txBody>
        </p:sp>
        <p:cxnSp>
          <p:nvCxnSpPr>
            <p:cNvPr id="141" name="직선 화살표 연결선 140">
              <a:extLst>
                <a:ext uri="{FF2B5EF4-FFF2-40B4-BE49-F238E27FC236}">
                  <a16:creationId xmlns:a16="http://schemas.microsoft.com/office/drawing/2014/main" id="{85C21503-DAE6-4FFA-A1AC-D16BB2A09C33}"/>
                </a:ext>
              </a:extLst>
            </p:cNvPr>
            <p:cNvCxnSpPr>
              <a:cxnSpLocks/>
              <a:stCxn id="79" idx="1"/>
              <a:endCxn id="78" idx="3"/>
            </p:cNvCxnSpPr>
            <p:nvPr/>
          </p:nvCxnSpPr>
          <p:spPr>
            <a:xfrm flipH="1">
              <a:off x="1496216" y="4325905"/>
              <a:ext cx="544398" cy="182476"/>
            </a:xfrm>
            <a:prstGeom prst="straightConnector1">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2" name="직선 화살표 연결선 141">
              <a:extLst>
                <a:ext uri="{FF2B5EF4-FFF2-40B4-BE49-F238E27FC236}">
                  <a16:creationId xmlns:a16="http://schemas.microsoft.com/office/drawing/2014/main" id="{F5F79430-AF1E-43F8-9F8A-2B301C6123BF}"/>
                </a:ext>
              </a:extLst>
            </p:cNvPr>
            <p:cNvCxnSpPr>
              <a:cxnSpLocks/>
              <a:stCxn id="91" idx="1"/>
              <a:endCxn id="80" idx="3"/>
            </p:cNvCxnSpPr>
            <p:nvPr/>
          </p:nvCxnSpPr>
          <p:spPr>
            <a:xfrm flipH="1" flipV="1">
              <a:off x="3243367" y="4508382"/>
              <a:ext cx="529913" cy="1751714"/>
            </a:xfrm>
            <a:prstGeom prst="straightConnector1">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3" name="직선 화살표 연결선 142">
              <a:extLst>
                <a:ext uri="{FF2B5EF4-FFF2-40B4-BE49-F238E27FC236}">
                  <a16:creationId xmlns:a16="http://schemas.microsoft.com/office/drawing/2014/main" id="{6248C110-F335-4892-AC45-1DE6C2251BE7}"/>
                </a:ext>
              </a:extLst>
            </p:cNvPr>
            <p:cNvCxnSpPr>
              <a:stCxn id="120" idx="1"/>
              <a:endCxn id="78" idx="3"/>
            </p:cNvCxnSpPr>
            <p:nvPr/>
          </p:nvCxnSpPr>
          <p:spPr>
            <a:xfrm flipH="1" flipV="1">
              <a:off x="1496216" y="4508381"/>
              <a:ext cx="529431" cy="1561729"/>
            </a:xfrm>
            <a:prstGeom prst="straightConnector1">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4" name="직사각형 143">
              <a:extLst>
                <a:ext uri="{FF2B5EF4-FFF2-40B4-BE49-F238E27FC236}">
                  <a16:creationId xmlns:a16="http://schemas.microsoft.com/office/drawing/2014/main" id="{854F95AB-4137-4161-B63D-011F3672F0DD}"/>
                </a:ext>
              </a:extLst>
            </p:cNvPr>
            <p:cNvSpPr/>
            <p:nvPr/>
          </p:nvSpPr>
          <p:spPr>
            <a:xfrm>
              <a:off x="1223018" y="4666975"/>
              <a:ext cx="1202753" cy="182475"/>
            </a:xfrm>
            <a:prstGeom prst="rect">
              <a:avLst/>
            </a:prstGeom>
            <a:solidFill>
              <a:schemeClr val="bg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제</a:t>
              </a:r>
              <a:r>
                <a:rPr lang="en-US" altLang="ko-KR" sz="1000" dirty="0">
                  <a:solidFill>
                    <a:schemeClr val="tx1"/>
                  </a:solidFill>
                </a:rPr>
                <a:t>3</a:t>
              </a:r>
              <a:r>
                <a:rPr lang="ko-KR" altLang="en-US" sz="1000" dirty="0">
                  <a:solidFill>
                    <a:schemeClr val="tx1"/>
                  </a:solidFill>
                </a:rPr>
                <a:t>자의 </a:t>
              </a:r>
              <a:r>
                <a:rPr lang="en-US" altLang="ko-KR" sz="1000" dirty="0">
                  <a:solidFill>
                    <a:schemeClr val="tx1"/>
                  </a:solidFill>
                </a:rPr>
                <a:t>B</a:t>
              </a:r>
              <a:r>
                <a:rPr lang="ko-KR" altLang="en-US" sz="1000" dirty="0">
                  <a:solidFill>
                    <a:schemeClr val="tx1"/>
                  </a:solidFill>
                </a:rPr>
                <a:t>공지</a:t>
              </a:r>
            </a:p>
          </p:txBody>
        </p:sp>
        <p:sp>
          <p:nvSpPr>
            <p:cNvPr id="145" name="Rectangle 14">
              <a:extLst>
                <a:ext uri="{FF2B5EF4-FFF2-40B4-BE49-F238E27FC236}">
                  <a16:creationId xmlns:a16="http://schemas.microsoft.com/office/drawing/2014/main" id="{54F005BF-6A39-42E0-851E-D9D129125ECE}"/>
                </a:ext>
              </a:extLst>
            </p:cNvPr>
            <p:cNvSpPr>
              <a:spLocks noChangeArrowheads="1"/>
            </p:cNvSpPr>
            <p:nvPr/>
          </p:nvSpPr>
          <p:spPr bwMode="auto">
            <a:xfrm flipV="1">
              <a:off x="1767187" y="3816208"/>
              <a:ext cx="115042" cy="97878"/>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46" name="직선 연결선 145">
              <a:extLst>
                <a:ext uri="{FF2B5EF4-FFF2-40B4-BE49-F238E27FC236}">
                  <a16:creationId xmlns:a16="http://schemas.microsoft.com/office/drawing/2014/main" id="{9C31293D-7E1C-45CD-ADB9-0C2CAAD46181}"/>
                </a:ext>
              </a:extLst>
            </p:cNvPr>
            <p:cNvCxnSpPr>
              <a:cxnSpLocks/>
              <a:stCxn id="144" idx="0"/>
              <a:endCxn id="145" idx="0"/>
            </p:cNvCxnSpPr>
            <p:nvPr/>
          </p:nvCxnSpPr>
          <p:spPr>
            <a:xfrm flipV="1">
              <a:off x="1824395" y="3914086"/>
              <a:ext cx="313" cy="75288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7" name="Rectangle 29">
              <a:extLst>
                <a:ext uri="{FF2B5EF4-FFF2-40B4-BE49-F238E27FC236}">
                  <a16:creationId xmlns:a16="http://schemas.microsoft.com/office/drawing/2014/main" id="{1B2AECB1-042B-4CE8-BA82-71C3927A280A}"/>
                </a:ext>
              </a:extLst>
            </p:cNvPr>
            <p:cNvSpPr>
              <a:spLocks noChangeArrowheads="1"/>
            </p:cNvSpPr>
            <p:nvPr/>
          </p:nvSpPr>
          <p:spPr bwMode="auto">
            <a:xfrm>
              <a:off x="77875" y="6343825"/>
              <a:ext cx="753544" cy="308776"/>
            </a:xfrm>
            <a:prstGeom prst="rect">
              <a:avLst/>
            </a:prstGeom>
            <a:noFill/>
            <a:ln w="9525">
              <a:noFill/>
              <a:miter lim="800000"/>
              <a:headEnd/>
              <a:tailEnd/>
            </a:ln>
          </p:spPr>
          <p:txBody>
            <a:bodyPr wrap="none" anchor="ctr"/>
            <a:lstStyle/>
            <a:p>
              <a:pPr algn="ctr">
                <a:defRPr/>
              </a:pPr>
              <a:r>
                <a:rPr lang="ko-KR" altLang="en-US" sz="1000" dirty="0">
                  <a:solidFill>
                    <a:srgbClr val="FF0000"/>
                  </a:solidFill>
                  <a:latin typeface="+mn-ea"/>
                </a:rPr>
                <a:t>효과</a:t>
              </a:r>
            </a:p>
          </p:txBody>
        </p:sp>
        <p:sp>
          <p:nvSpPr>
            <p:cNvPr id="148" name="직사각형 147">
              <a:extLst>
                <a:ext uri="{FF2B5EF4-FFF2-40B4-BE49-F238E27FC236}">
                  <a16:creationId xmlns:a16="http://schemas.microsoft.com/office/drawing/2014/main" id="{B8476B82-6CA1-4F5C-BBFF-DA47D6BA9513}"/>
                </a:ext>
              </a:extLst>
            </p:cNvPr>
            <p:cNvSpPr/>
            <p:nvPr/>
          </p:nvSpPr>
          <p:spPr>
            <a:xfrm>
              <a:off x="3773281" y="5693007"/>
              <a:ext cx="1202753" cy="182475"/>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800" dirty="0">
                  <a:solidFill>
                    <a:schemeClr val="bg1"/>
                  </a:solidFill>
                </a:rPr>
                <a:t>증명서류 제출간주</a:t>
              </a:r>
            </a:p>
          </p:txBody>
        </p:sp>
        <p:sp>
          <p:nvSpPr>
            <p:cNvPr id="149" name="직사각형 148">
              <a:extLst>
                <a:ext uri="{FF2B5EF4-FFF2-40B4-BE49-F238E27FC236}">
                  <a16:creationId xmlns:a16="http://schemas.microsoft.com/office/drawing/2014/main" id="{6B447461-0B56-446C-8C2E-E50B0C6506BE}"/>
                </a:ext>
              </a:extLst>
            </p:cNvPr>
            <p:cNvSpPr/>
            <p:nvPr/>
          </p:nvSpPr>
          <p:spPr>
            <a:xfrm>
              <a:off x="10202535" y="5603867"/>
              <a:ext cx="1160814" cy="182475"/>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취하간주</a:t>
              </a:r>
              <a:r>
                <a:rPr lang="en-US" altLang="ko-KR" sz="900" dirty="0">
                  <a:solidFill>
                    <a:schemeClr val="bg1"/>
                  </a:solidFill>
                </a:rPr>
                <a:t>(Y)</a:t>
              </a:r>
              <a:endParaRPr lang="ko-KR" altLang="en-US" sz="900" dirty="0">
                <a:solidFill>
                  <a:schemeClr val="bg1"/>
                </a:solidFill>
              </a:endParaRPr>
            </a:p>
          </p:txBody>
        </p:sp>
        <p:sp>
          <p:nvSpPr>
            <p:cNvPr id="162" name="직사각형 161">
              <a:extLst>
                <a:ext uri="{FF2B5EF4-FFF2-40B4-BE49-F238E27FC236}">
                  <a16:creationId xmlns:a16="http://schemas.microsoft.com/office/drawing/2014/main" id="{4999EF0E-DCC9-47B1-A888-2B2811315796}"/>
                </a:ext>
              </a:extLst>
            </p:cNvPr>
            <p:cNvSpPr/>
            <p:nvPr/>
          </p:nvSpPr>
          <p:spPr>
            <a:xfrm>
              <a:off x="4389288" y="3416138"/>
              <a:ext cx="1160814" cy="182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30</a:t>
              </a:r>
              <a:r>
                <a:rPr lang="ko-KR" altLang="en-US" sz="1000" dirty="0">
                  <a:solidFill>
                    <a:schemeClr val="tx1"/>
                  </a:solidFill>
                </a:rPr>
                <a:t>일</a:t>
              </a:r>
            </a:p>
          </p:txBody>
        </p:sp>
        <p:sp>
          <p:nvSpPr>
            <p:cNvPr id="163" name="직사각형 162">
              <a:extLst>
                <a:ext uri="{FF2B5EF4-FFF2-40B4-BE49-F238E27FC236}">
                  <a16:creationId xmlns:a16="http://schemas.microsoft.com/office/drawing/2014/main" id="{E15D0ADC-BCE2-4AC2-A0BC-74DED4BCC50D}"/>
                </a:ext>
              </a:extLst>
            </p:cNvPr>
            <p:cNvSpPr/>
            <p:nvPr/>
          </p:nvSpPr>
          <p:spPr>
            <a:xfrm>
              <a:off x="5101685" y="5523825"/>
              <a:ext cx="787956" cy="350432"/>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800" dirty="0">
                  <a:solidFill>
                    <a:schemeClr val="bg1"/>
                  </a:solidFill>
                </a:rPr>
                <a:t>X </a:t>
              </a:r>
              <a:r>
                <a:rPr lang="ko-KR" altLang="en-US" sz="800" dirty="0">
                  <a:solidFill>
                    <a:schemeClr val="bg1"/>
                  </a:solidFill>
                </a:rPr>
                <a:t>기초 </a:t>
              </a:r>
              <a:r>
                <a:rPr lang="ko-KR" altLang="en-US" sz="800" dirty="0" err="1">
                  <a:solidFill>
                    <a:schemeClr val="bg1"/>
                  </a:solidFill>
                </a:rPr>
                <a:t>우선권주장취하가능</a:t>
              </a:r>
              <a:endParaRPr lang="ko-KR" altLang="en-US" sz="800" dirty="0">
                <a:solidFill>
                  <a:schemeClr val="bg1"/>
                </a:solidFill>
              </a:endParaRPr>
            </a:p>
          </p:txBody>
        </p:sp>
        <p:cxnSp>
          <p:nvCxnSpPr>
            <p:cNvPr id="25" name="연결선: 꺾임 24">
              <a:extLst>
                <a:ext uri="{FF2B5EF4-FFF2-40B4-BE49-F238E27FC236}">
                  <a16:creationId xmlns:a16="http://schemas.microsoft.com/office/drawing/2014/main" id="{03A0AADB-B7AD-42EB-8FC9-08B11C5E0D7A}"/>
                </a:ext>
              </a:extLst>
            </p:cNvPr>
            <p:cNvCxnSpPr>
              <a:stCxn id="163" idx="0"/>
            </p:cNvCxnSpPr>
            <p:nvPr/>
          </p:nvCxnSpPr>
          <p:spPr>
            <a:xfrm rot="16200000" flipV="1">
              <a:off x="4410816" y="4438978"/>
              <a:ext cx="1621357" cy="548338"/>
            </a:xfrm>
            <a:prstGeom prst="bentConnector3">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연결선: 꺾임 26">
              <a:extLst>
                <a:ext uri="{FF2B5EF4-FFF2-40B4-BE49-F238E27FC236}">
                  <a16:creationId xmlns:a16="http://schemas.microsoft.com/office/drawing/2014/main" id="{6A4BA7FB-FFDC-406A-AF15-A18FBB49ACB9}"/>
                </a:ext>
              </a:extLst>
            </p:cNvPr>
            <p:cNvCxnSpPr>
              <a:stCxn id="82" idx="0"/>
              <a:endCxn id="73" idx="0"/>
            </p:cNvCxnSpPr>
            <p:nvPr/>
          </p:nvCxnSpPr>
          <p:spPr>
            <a:xfrm rot="5400000" flipH="1" flipV="1">
              <a:off x="3842327" y="4446418"/>
              <a:ext cx="1421759" cy="357096"/>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91648184"/>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sz="2400" dirty="0" err="1"/>
              <a:t>조약우선권주장을</a:t>
            </a:r>
            <a:r>
              <a:rPr lang="ko-KR" altLang="en-US" sz="2400" dirty="0"/>
              <a:t> 수반하는 분할출원</a:t>
            </a:r>
            <a:r>
              <a:rPr lang="en-US" altLang="ko-KR" sz="2400" dirty="0"/>
              <a:t>(</a:t>
            </a:r>
            <a:r>
              <a:rPr lang="ko-KR" altLang="en-US" sz="2000" dirty="0"/>
              <a:t>제</a:t>
            </a:r>
            <a:r>
              <a:rPr lang="en-US" altLang="ko-KR" sz="2000" dirty="0"/>
              <a:t>52</a:t>
            </a:r>
            <a:r>
              <a:rPr lang="ko-KR" altLang="en-US" sz="2000" dirty="0"/>
              <a:t>조제</a:t>
            </a:r>
            <a:r>
              <a:rPr lang="en-US" altLang="ko-KR" sz="2000" dirty="0"/>
              <a:t>2</a:t>
            </a:r>
            <a:r>
              <a:rPr lang="ko-KR" altLang="en-US" sz="2000" dirty="0" err="1"/>
              <a:t>항제</a:t>
            </a:r>
            <a:r>
              <a:rPr lang="en-US" altLang="ko-KR" sz="2000" dirty="0"/>
              <a:t>3</a:t>
            </a:r>
            <a:r>
              <a:rPr lang="ko-KR" altLang="en-US" sz="2000" dirty="0"/>
              <a:t>호</a:t>
            </a:r>
            <a:r>
              <a:rPr lang="en-US" altLang="ko-KR" sz="2000" dirty="0"/>
              <a:t>, </a:t>
            </a:r>
            <a:r>
              <a:rPr lang="ko-KR" altLang="en-US" sz="2000" dirty="0"/>
              <a:t>제</a:t>
            </a:r>
            <a:r>
              <a:rPr lang="en-US" altLang="ko-KR" sz="2000" dirty="0"/>
              <a:t>4</a:t>
            </a:r>
            <a:r>
              <a:rPr lang="ko-KR" altLang="en-US" sz="2000" dirty="0"/>
              <a:t>항</a:t>
            </a:r>
            <a:r>
              <a:rPr lang="en-US" altLang="ko-KR" sz="2000" dirty="0"/>
              <a:t>-</a:t>
            </a:r>
            <a:r>
              <a:rPr lang="ko-KR" altLang="en-US" sz="2000" dirty="0"/>
              <a:t>제</a:t>
            </a:r>
            <a:r>
              <a:rPr lang="en-US" altLang="ko-KR" sz="2000" dirty="0"/>
              <a:t>6</a:t>
            </a:r>
            <a:r>
              <a:rPr lang="ko-KR" altLang="en-US" sz="2000" dirty="0"/>
              <a:t>항</a:t>
            </a:r>
            <a:r>
              <a:rPr lang="en-US" altLang="ko-KR" sz="2000" dirty="0"/>
              <a:t>)</a:t>
            </a:r>
            <a:endParaRPr lang="ko-KR" altLang="en-US" dirty="0"/>
          </a:p>
        </p:txBody>
      </p:sp>
      <p:cxnSp>
        <p:nvCxnSpPr>
          <p:cNvPr id="68" name="직선 화살표 연결선 67"/>
          <p:cNvCxnSpPr/>
          <p:nvPr/>
        </p:nvCxnSpPr>
        <p:spPr>
          <a:xfrm>
            <a:off x="887767" y="2381500"/>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2" name="직사각형 71"/>
          <p:cNvSpPr/>
          <p:nvPr/>
        </p:nvSpPr>
        <p:spPr>
          <a:xfrm>
            <a:off x="1261029" y="1051675"/>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a:t>
            </a:r>
            <a:endParaRPr lang="ko-KR" altLang="en-US" sz="1200" dirty="0">
              <a:solidFill>
                <a:schemeClr val="tx1"/>
              </a:solidFill>
            </a:endParaRPr>
          </a:p>
        </p:txBody>
      </p:sp>
      <p:sp>
        <p:nvSpPr>
          <p:cNvPr id="73" name="직사각형 72"/>
          <p:cNvSpPr/>
          <p:nvPr/>
        </p:nvSpPr>
        <p:spPr>
          <a:xfrm>
            <a:off x="1261029" y="1357677"/>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a:t>
            </a:r>
            <a:endParaRPr lang="ko-KR" altLang="en-US" sz="1200" dirty="0">
              <a:solidFill>
                <a:schemeClr val="tx1"/>
              </a:solidFill>
            </a:endParaRPr>
          </a:p>
        </p:txBody>
      </p:sp>
      <p:sp>
        <p:nvSpPr>
          <p:cNvPr id="109" name="Rectangle 14"/>
          <p:cNvSpPr>
            <a:spLocks noChangeArrowheads="1"/>
          </p:cNvSpPr>
          <p:nvPr/>
        </p:nvSpPr>
        <p:spPr bwMode="auto">
          <a:xfrm>
            <a:off x="4993500" y="1771793"/>
            <a:ext cx="1418541" cy="359005"/>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한국출원</a:t>
            </a:r>
            <a:r>
              <a:rPr lang="en-US" altLang="ko-KR" sz="1400" b="0" dirty="0">
                <a:latin typeface="+mn-ea"/>
              </a:rPr>
              <a:t>(Y)</a:t>
            </a:r>
            <a:endParaRPr lang="ko-KR" altLang="en-US" sz="1400" b="0" dirty="0">
              <a:latin typeface="+mn-ea"/>
            </a:endParaRPr>
          </a:p>
        </p:txBody>
      </p:sp>
      <p:cxnSp>
        <p:nvCxnSpPr>
          <p:cNvPr id="111" name="직선 연결선 110"/>
          <p:cNvCxnSpPr>
            <a:cxnSpLocks/>
            <a:stCxn id="109" idx="2"/>
            <a:endCxn id="143" idx="4"/>
          </p:cNvCxnSpPr>
          <p:nvPr/>
        </p:nvCxnSpPr>
        <p:spPr>
          <a:xfrm>
            <a:off x="5702771" y="2130798"/>
            <a:ext cx="8623" cy="14258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3" name="직사각형 132"/>
          <p:cNvSpPr/>
          <p:nvPr/>
        </p:nvSpPr>
        <p:spPr>
          <a:xfrm>
            <a:off x="9250844" y="1046926"/>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134" name="직사각형 133"/>
          <p:cNvSpPr/>
          <p:nvPr/>
        </p:nvSpPr>
        <p:spPr>
          <a:xfrm>
            <a:off x="9250844" y="1352928"/>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 C</a:t>
            </a:r>
            <a:endParaRPr lang="ko-KR" altLang="en-US" sz="1200" dirty="0">
              <a:solidFill>
                <a:schemeClr val="tx1"/>
              </a:solidFill>
            </a:endParaRPr>
          </a:p>
        </p:txBody>
      </p:sp>
      <p:sp>
        <p:nvSpPr>
          <p:cNvPr id="135" name="Rectangle 14"/>
          <p:cNvSpPr>
            <a:spLocks noChangeArrowheads="1"/>
          </p:cNvSpPr>
          <p:nvPr/>
        </p:nvSpPr>
        <p:spPr bwMode="auto">
          <a:xfrm>
            <a:off x="9007702" y="1744096"/>
            <a:ext cx="1418541" cy="359005"/>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분할출원</a:t>
            </a:r>
            <a:r>
              <a:rPr lang="en-US" altLang="ko-KR" sz="1400" b="0" dirty="0">
                <a:latin typeface="+mn-ea"/>
              </a:rPr>
              <a:t>(Z)</a:t>
            </a:r>
            <a:endParaRPr lang="ko-KR" altLang="en-US" sz="1400" b="0" dirty="0">
              <a:latin typeface="+mn-ea"/>
            </a:endParaRPr>
          </a:p>
        </p:txBody>
      </p:sp>
      <p:cxnSp>
        <p:nvCxnSpPr>
          <p:cNvPr id="137" name="직선 연결선 136"/>
          <p:cNvCxnSpPr>
            <a:cxnSpLocks/>
            <a:stCxn id="135" idx="2"/>
            <a:endCxn id="145" idx="4"/>
          </p:cNvCxnSpPr>
          <p:nvPr/>
        </p:nvCxnSpPr>
        <p:spPr>
          <a:xfrm>
            <a:off x="9716973" y="2103101"/>
            <a:ext cx="0" cy="17028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0" name="양쪽 모서리가 둥근 사각형 139"/>
          <p:cNvSpPr/>
          <p:nvPr/>
        </p:nvSpPr>
        <p:spPr>
          <a:xfrm rot="10800000">
            <a:off x="1722795" y="2392882"/>
            <a:ext cx="3979975" cy="406414"/>
          </a:xfrm>
          <a:prstGeom prst="round2SameRect">
            <a:avLst>
              <a:gd name="adj1" fmla="val 50000"/>
              <a:gd name="adj2" fmla="val 0"/>
            </a:avLst>
          </a:prstGeom>
          <a:pattFill prst="dotGrid">
            <a:fgClr>
              <a:schemeClr val="accent2">
                <a:lumMod val="50000"/>
              </a:schemeClr>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Rectangle 14"/>
          <p:cNvSpPr>
            <a:spLocks noChangeArrowheads="1"/>
          </p:cNvSpPr>
          <p:nvPr/>
        </p:nvSpPr>
        <p:spPr bwMode="auto">
          <a:xfrm flipV="1">
            <a:off x="1600470" y="2273385"/>
            <a:ext cx="238000" cy="254967"/>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43" name="Rectangle 14"/>
          <p:cNvSpPr>
            <a:spLocks noChangeArrowheads="1"/>
          </p:cNvSpPr>
          <p:nvPr/>
        </p:nvSpPr>
        <p:spPr bwMode="auto">
          <a:xfrm flipV="1">
            <a:off x="5592394" y="2273385"/>
            <a:ext cx="238000" cy="254967"/>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45" name="Rectangle 14"/>
          <p:cNvSpPr>
            <a:spLocks noChangeArrowheads="1"/>
          </p:cNvSpPr>
          <p:nvPr/>
        </p:nvSpPr>
        <p:spPr bwMode="auto">
          <a:xfrm flipV="1">
            <a:off x="9597973" y="2273385"/>
            <a:ext cx="238000" cy="254967"/>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4" name="TextBox 13"/>
          <p:cNvSpPr txBox="1"/>
          <p:nvPr/>
        </p:nvSpPr>
        <p:spPr>
          <a:xfrm>
            <a:off x="3079650" y="2810678"/>
            <a:ext cx="949299" cy="276999"/>
          </a:xfrm>
          <a:prstGeom prst="rect">
            <a:avLst/>
          </a:prstGeom>
          <a:noFill/>
        </p:spPr>
        <p:txBody>
          <a:bodyPr wrap="none" rtlCol="0">
            <a:spAutoFit/>
          </a:bodyPr>
          <a:lstStyle/>
          <a:p>
            <a:r>
              <a:rPr lang="en-US" altLang="ko-KR" sz="1200" dirty="0"/>
              <a:t>12</a:t>
            </a:r>
            <a:r>
              <a:rPr lang="ko-KR" altLang="en-US" sz="1200" dirty="0"/>
              <a:t>개월 이내</a:t>
            </a:r>
          </a:p>
        </p:txBody>
      </p:sp>
      <p:sp>
        <p:nvSpPr>
          <p:cNvPr id="48" name="직사각형 47"/>
          <p:cNvSpPr/>
          <p:nvPr/>
        </p:nvSpPr>
        <p:spPr>
          <a:xfrm>
            <a:off x="8934450"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확</a:t>
            </a:r>
          </a:p>
        </p:txBody>
      </p:sp>
      <p:sp>
        <p:nvSpPr>
          <p:cNvPr id="49" name="직사각형 48"/>
          <p:cNvSpPr/>
          <p:nvPr/>
        </p:nvSpPr>
        <p:spPr>
          <a:xfrm>
            <a:off x="9561203"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공</a:t>
            </a:r>
          </a:p>
        </p:txBody>
      </p:sp>
      <p:sp>
        <p:nvSpPr>
          <p:cNvPr id="50" name="직사각형 49"/>
          <p:cNvSpPr/>
          <p:nvPr/>
        </p:nvSpPr>
        <p:spPr>
          <a:xfrm>
            <a:off x="10187956" y="6181761"/>
            <a:ext cx="514350" cy="514350"/>
          </a:xfrm>
          <a:prstGeom prst="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조</a:t>
            </a:r>
          </a:p>
        </p:txBody>
      </p:sp>
      <p:sp>
        <p:nvSpPr>
          <p:cNvPr id="51" name="직사각형 50"/>
          <p:cNvSpPr/>
          <p:nvPr/>
        </p:nvSpPr>
        <p:spPr>
          <a:xfrm>
            <a:off x="10803760"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국</a:t>
            </a:r>
          </a:p>
        </p:txBody>
      </p:sp>
      <p:sp>
        <p:nvSpPr>
          <p:cNvPr id="52" name="직사각형 51"/>
          <p:cNvSpPr/>
          <p:nvPr/>
        </p:nvSpPr>
        <p:spPr>
          <a:xfrm>
            <a:off x="11394310"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등</a:t>
            </a:r>
          </a:p>
        </p:txBody>
      </p:sp>
      <p:sp>
        <p:nvSpPr>
          <p:cNvPr id="2" name="슬라이드 번호 개체 틀 1"/>
          <p:cNvSpPr>
            <a:spLocks noGrp="1"/>
          </p:cNvSpPr>
          <p:nvPr>
            <p:ph type="sldNum" sz="quarter" idx="12"/>
          </p:nvPr>
        </p:nvSpPr>
        <p:spPr/>
        <p:txBody>
          <a:bodyPr/>
          <a:lstStyle/>
          <a:p>
            <a:r>
              <a:rPr lang="en-US" altLang="ko-KR"/>
              <a:t>222</a:t>
            </a:r>
            <a:endParaRPr lang="ko-KR" altLang="en-US"/>
          </a:p>
        </p:txBody>
      </p:sp>
      <p:sp>
        <p:nvSpPr>
          <p:cNvPr id="6" name="Rectangle 14">
            <a:extLst>
              <a:ext uri="{FF2B5EF4-FFF2-40B4-BE49-F238E27FC236}">
                <a16:creationId xmlns:a16="http://schemas.microsoft.com/office/drawing/2014/main" id="{B453A484-D488-479A-A5B6-B0ECD3B2B337}"/>
              </a:ext>
            </a:extLst>
          </p:cNvPr>
          <p:cNvSpPr>
            <a:spLocks noChangeArrowheads="1"/>
          </p:cNvSpPr>
          <p:nvPr/>
        </p:nvSpPr>
        <p:spPr bwMode="auto">
          <a:xfrm>
            <a:off x="1003417" y="1771794"/>
            <a:ext cx="1418541" cy="359005"/>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b="0" dirty="0">
                <a:latin typeface="+mn-ea"/>
              </a:rPr>
              <a:t>일본출원</a:t>
            </a:r>
            <a:r>
              <a:rPr lang="en-US" altLang="ko-KR" sz="1400" b="0" dirty="0">
                <a:latin typeface="+mn-ea"/>
              </a:rPr>
              <a:t>(X)</a:t>
            </a:r>
            <a:endParaRPr lang="ko-KR" altLang="en-US" sz="1400" b="0" dirty="0">
              <a:latin typeface="+mn-ea"/>
            </a:endParaRPr>
          </a:p>
        </p:txBody>
      </p:sp>
      <p:cxnSp>
        <p:nvCxnSpPr>
          <p:cNvPr id="9" name="직선 연결선 8">
            <a:extLst>
              <a:ext uri="{FF2B5EF4-FFF2-40B4-BE49-F238E27FC236}">
                <a16:creationId xmlns:a16="http://schemas.microsoft.com/office/drawing/2014/main" id="{A92ACE20-D95F-54F9-5D8C-EDB3AE5D9B89}"/>
              </a:ext>
            </a:extLst>
          </p:cNvPr>
          <p:cNvCxnSpPr>
            <a:cxnSpLocks/>
            <a:stCxn id="6" idx="2"/>
            <a:endCxn id="142" idx="4"/>
          </p:cNvCxnSpPr>
          <p:nvPr/>
        </p:nvCxnSpPr>
        <p:spPr>
          <a:xfrm>
            <a:off x="1712688" y="2130799"/>
            <a:ext cx="6782" cy="14258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585E98F3-4ACE-67BE-CB1C-0598C647BA58}"/>
              </a:ext>
            </a:extLst>
          </p:cNvPr>
          <p:cNvSpPr/>
          <p:nvPr/>
        </p:nvSpPr>
        <p:spPr>
          <a:xfrm>
            <a:off x="5236642" y="1051675"/>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C</a:t>
            </a:r>
            <a:endParaRPr lang="ko-KR" altLang="en-US" sz="1200" dirty="0">
              <a:solidFill>
                <a:schemeClr val="tx1"/>
              </a:solidFill>
            </a:endParaRPr>
          </a:p>
        </p:txBody>
      </p:sp>
      <p:sp>
        <p:nvSpPr>
          <p:cNvPr id="17" name="직사각형 16">
            <a:extLst>
              <a:ext uri="{FF2B5EF4-FFF2-40B4-BE49-F238E27FC236}">
                <a16:creationId xmlns:a16="http://schemas.microsoft.com/office/drawing/2014/main" id="{DD038A57-0E7D-6DD3-E773-32DF6E0B06BB}"/>
              </a:ext>
            </a:extLst>
          </p:cNvPr>
          <p:cNvSpPr/>
          <p:nvPr/>
        </p:nvSpPr>
        <p:spPr>
          <a:xfrm>
            <a:off x="5236642" y="1357677"/>
            <a:ext cx="932256" cy="30600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 C</a:t>
            </a:r>
            <a:endParaRPr lang="ko-KR" altLang="en-US" sz="1200" dirty="0">
              <a:solidFill>
                <a:schemeClr val="tx1"/>
              </a:solidFill>
            </a:endParaRPr>
          </a:p>
        </p:txBody>
      </p:sp>
      <p:cxnSp>
        <p:nvCxnSpPr>
          <p:cNvPr id="11" name="직선 연결선 10">
            <a:extLst>
              <a:ext uri="{FF2B5EF4-FFF2-40B4-BE49-F238E27FC236}">
                <a16:creationId xmlns:a16="http://schemas.microsoft.com/office/drawing/2014/main" id="{918E874F-4CB6-EA91-6CDE-27C5D3E636FC}"/>
              </a:ext>
            </a:extLst>
          </p:cNvPr>
          <p:cNvCxnSpPr>
            <a:cxnSpLocks/>
          </p:cNvCxnSpPr>
          <p:nvPr/>
        </p:nvCxnSpPr>
        <p:spPr>
          <a:xfrm>
            <a:off x="0" y="3170702"/>
            <a:ext cx="12051102"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15" name="표 17">
            <a:extLst>
              <a:ext uri="{FF2B5EF4-FFF2-40B4-BE49-F238E27FC236}">
                <a16:creationId xmlns:a16="http://schemas.microsoft.com/office/drawing/2014/main" id="{879F845A-6B6C-DA51-C874-A08BC5AC40AB}"/>
              </a:ext>
            </a:extLst>
          </p:cNvPr>
          <p:cNvGraphicFramePr>
            <a:graphicFrameLocks noGrp="1"/>
          </p:cNvGraphicFramePr>
          <p:nvPr/>
        </p:nvGraphicFramePr>
        <p:xfrm>
          <a:off x="715992" y="3322583"/>
          <a:ext cx="10852032" cy="2804160"/>
        </p:xfrm>
        <a:graphic>
          <a:graphicData uri="http://schemas.openxmlformats.org/drawingml/2006/table">
            <a:tbl>
              <a:tblPr>
                <a:tableStyleId>{8799B23B-EC83-4686-B30A-512413B5E67A}</a:tableStyleId>
              </a:tblPr>
              <a:tblGrid>
                <a:gridCol w="2713008">
                  <a:extLst>
                    <a:ext uri="{9D8B030D-6E8A-4147-A177-3AD203B41FA5}">
                      <a16:colId xmlns:a16="http://schemas.microsoft.com/office/drawing/2014/main" val="2505033017"/>
                    </a:ext>
                  </a:extLst>
                </a:gridCol>
                <a:gridCol w="2713008">
                  <a:extLst>
                    <a:ext uri="{9D8B030D-6E8A-4147-A177-3AD203B41FA5}">
                      <a16:colId xmlns:a16="http://schemas.microsoft.com/office/drawing/2014/main" val="3391108749"/>
                    </a:ext>
                  </a:extLst>
                </a:gridCol>
                <a:gridCol w="2713008">
                  <a:extLst>
                    <a:ext uri="{9D8B030D-6E8A-4147-A177-3AD203B41FA5}">
                      <a16:colId xmlns:a16="http://schemas.microsoft.com/office/drawing/2014/main" val="698794702"/>
                    </a:ext>
                  </a:extLst>
                </a:gridCol>
                <a:gridCol w="2713008">
                  <a:extLst>
                    <a:ext uri="{9D8B030D-6E8A-4147-A177-3AD203B41FA5}">
                      <a16:colId xmlns:a16="http://schemas.microsoft.com/office/drawing/2014/main" val="2276556145"/>
                    </a:ext>
                  </a:extLst>
                </a:gridCol>
              </a:tblGrid>
              <a:tr h="145559">
                <a:tc gridSpan="2">
                  <a:txBody>
                    <a:bodyPr/>
                    <a:lstStyle/>
                    <a:p>
                      <a:pPr algn="ctr" latinLnBrk="1"/>
                      <a:r>
                        <a:rPr lang="en-US" altLang="ko-KR" sz="1400" dirty="0"/>
                        <a:t>Y</a:t>
                      </a:r>
                      <a:r>
                        <a:rPr lang="ko-KR" altLang="en-US" sz="1400" dirty="0"/>
                        <a:t>출원</a:t>
                      </a:r>
                    </a:p>
                  </a:txBody>
                  <a:tcPr anchor="ctr">
                    <a:solidFill>
                      <a:schemeClr val="accent1">
                        <a:lumMod val="20000"/>
                        <a:lumOff val="80000"/>
                      </a:schemeClr>
                    </a:solidFill>
                  </a:tcPr>
                </a:tc>
                <a:tc hMerge="1">
                  <a:txBody>
                    <a:bodyPr/>
                    <a:lstStyle/>
                    <a:p>
                      <a:pPr latinLnBrk="1"/>
                      <a:endParaRPr lang="ko-KR" altLang="en-US" sz="1400" dirty="0"/>
                    </a:p>
                  </a:txBody>
                  <a:tcPr/>
                </a:tc>
                <a:tc gridSpan="2">
                  <a:txBody>
                    <a:bodyPr/>
                    <a:lstStyle/>
                    <a:p>
                      <a:pPr algn="ctr" latinLnBrk="1"/>
                      <a:r>
                        <a:rPr lang="en-US" altLang="ko-KR" sz="1400" dirty="0"/>
                        <a:t>Z</a:t>
                      </a:r>
                      <a:r>
                        <a:rPr lang="ko-KR" altLang="en-US" sz="1400" dirty="0"/>
                        <a:t>출원</a:t>
                      </a:r>
                    </a:p>
                  </a:txBody>
                  <a:tcPr anchor="ctr">
                    <a:solidFill>
                      <a:schemeClr val="accent4">
                        <a:lumMod val="20000"/>
                        <a:lumOff val="80000"/>
                      </a:schemeClr>
                    </a:solidFill>
                  </a:tcPr>
                </a:tc>
                <a:tc hMerge="1">
                  <a:txBody>
                    <a:bodyPr/>
                    <a:lstStyle/>
                    <a:p>
                      <a:pPr latinLnBrk="1"/>
                      <a:endParaRPr lang="ko-KR" altLang="en-US" sz="1400" dirty="0"/>
                    </a:p>
                  </a:txBody>
                  <a:tcPr/>
                </a:tc>
                <a:extLst>
                  <a:ext uri="{0D108BD9-81ED-4DB2-BD59-A6C34878D82A}">
                    <a16:rowId xmlns:a16="http://schemas.microsoft.com/office/drawing/2014/main" val="1578493821"/>
                  </a:ext>
                </a:extLst>
              </a:tr>
              <a:tr h="145559">
                <a:tc>
                  <a:txBody>
                    <a:bodyPr/>
                    <a:lstStyle/>
                    <a:p>
                      <a:pPr algn="ctr" latinLnBrk="1"/>
                      <a:r>
                        <a:rPr lang="ko-KR" altLang="en-US" sz="1400" dirty="0" err="1"/>
                        <a:t>조약우선권주장</a:t>
                      </a:r>
                      <a:endParaRPr lang="ko-KR" altLang="en-US" sz="1400" dirty="0"/>
                    </a:p>
                  </a:txBody>
                  <a:tcPr anchor="ctr">
                    <a:solidFill>
                      <a:schemeClr val="accent1">
                        <a:lumMod val="20000"/>
                        <a:lumOff val="80000"/>
                      </a:schemeClr>
                    </a:solidFill>
                  </a:tcPr>
                </a:tc>
                <a:tc>
                  <a:txBody>
                    <a:bodyPr/>
                    <a:lstStyle/>
                    <a:p>
                      <a:pPr algn="ctr" latinLnBrk="1"/>
                      <a:r>
                        <a:rPr lang="ko-KR" altLang="en-US" sz="1400" dirty="0"/>
                        <a:t>증명서류제출</a:t>
                      </a:r>
                    </a:p>
                  </a:txBody>
                  <a:tcPr anchor="ctr">
                    <a:solidFill>
                      <a:schemeClr val="accent1">
                        <a:lumMod val="20000"/>
                        <a:lumOff val="80000"/>
                      </a:schemeClr>
                    </a:solidFill>
                  </a:tcPr>
                </a:tc>
                <a:tc>
                  <a:txBody>
                    <a:bodyPr/>
                    <a:lstStyle/>
                    <a:p>
                      <a:pPr algn="ctr" latinLnBrk="1"/>
                      <a:r>
                        <a:rPr lang="ko-KR" altLang="en-US" sz="1400" dirty="0" err="1"/>
                        <a:t>조약우선권주장</a:t>
                      </a:r>
                      <a:endParaRPr lang="ko-KR" altLang="en-US" sz="1400" dirty="0"/>
                    </a:p>
                  </a:txBody>
                  <a:tcPr anchor="ctr">
                    <a:solidFill>
                      <a:schemeClr val="accent4">
                        <a:lumMod val="20000"/>
                        <a:lumOff val="80000"/>
                      </a:schemeClr>
                    </a:solidFill>
                  </a:tcPr>
                </a:tc>
                <a:tc>
                  <a:txBody>
                    <a:bodyPr/>
                    <a:lstStyle/>
                    <a:p>
                      <a:pPr algn="ctr" latinLnBrk="1"/>
                      <a:r>
                        <a:rPr lang="ko-KR" altLang="en-US" sz="1400" dirty="0"/>
                        <a:t>증명서류제출</a:t>
                      </a:r>
                    </a:p>
                  </a:txBody>
                  <a:tcPr anchor="ctr">
                    <a:solidFill>
                      <a:schemeClr val="accent4">
                        <a:lumMod val="20000"/>
                        <a:lumOff val="80000"/>
                      </a:schemeClr>
                    </a:solidFill>
                  </a:tcPr>
                </a:tc>
                <a:extLst>
                  <a:ext uri="{0D108BD9-81ED-4DB2-BD59-A6C34878D82A}">
                    <a16:rowId xmlns:a16="http://schemas.microsoft.com/office/drawing/2014/main" val="2056295705"/>
                  </a:ext>
                </a:extLst>
              </a:tr>
              <a:tr h="145559">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kern="1200" dirty="0">
                          <a:solidFill>
                            <a:schemeClr val="dk1"/>
                          </a:solidFill>
                          <a:effectLst/>
                        </a:rPr>
                        <a:t>×</a:t>
                      </a:r>
                      <a:endParaRPr lang="en-US" altLang="ko-KR" sz="1400" kern="1200" dirty="0">
                        <a:solidFill>
                          <a:schemeClr val="dk1"/>
                        </a:solidFill>
                        <a:effectLst/>
                        <a:latin typeface="+mn-lt"/>
                        <a:ea typeface="+mn-ea"/>
                        <a:cs typeface="+mn-cs"/>
                      </a:endParaRPr>
                    </a:p>
                  </a:txBody>
                  <a:tcPr anchor="ctr"/>
                </a:tc>
                <a:tc>
                  <a:txBody>
                    <a:bodyPr/>
                    <a:lstStyle/>
                    <a:p>
                      <a:pPr algn="ctr" latinLnBrk="1"/>
                      <a:endParaRPr lang="ko-KR" altLang="en-US" sz="1400" dirty="0"/>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kern="1200" dirty="0">
                          <a:solidFill>
                            <a:schemeClr val="dk1"/>
                          </a:solidFill>
                          <a:effectLst/>
                        </a:rPr>
                        <a:t>×(</a:t>
                      </a:r>
                      <a:r>
                        <a:rPr lang="ko-KR" altLang="en-US" sz="1400" kern="1200" dirty="0">
                          <a:solidFill>
                            <a:schemeClr val="dk1"/>
                          </a:solidFill>
                          <a:effectLst/>
                        </a:rPr>
                        <a:t>실무상 불인정</a:t>
                      </a:r>
                      <a:r>
                        <a:rPr lang="en-US" altLang="ko-KR" sz="1400" kern="1200" dirty="0">
                          <a:solidFill>
                            <a:schemeClr val="dk1"/>
                          </a:solidFill>
                          <a:effectLst/>
                        </a:rPr>
                        <a:t>)</a:t>
                      </a:r>
                      <a:endParaRPr lang="en-US" altLang="ko-KR" sz="1400" kern="1200" dirty="0">
                        <a:solidFill>
                          <a:schemeClr val="dk1"/>
                        </a:solidFill>
                        <a:effectLst/>
                        <a:latin typeface="+mn-lt"/>
                        <a:ea typeface="+mn-ea"/>
                        <a:cs typeface="+mn-cs"/>
                      </a:endParaRPr>
                    </a:p>
                  </a:txBody>
                  <a:tcPr anchor="ctr"/>
                </a:tc>
                <a:tc>
                  <a:txBody>
                    <a:bodyPr/>
                    <a:lstStyle/>
                    <a:p>
                      <a:pPr algn="ctr" latinLnBrk="1"/>
                      <a:endParaRPr lang="ko-KR" altLang="en-US" sz="1400" dirty="0"/>
                    </a:p>
                  </a:txBody>
                  <a:tcPr anchor="ctr"/>
                </a:tc>
                <a:extLst>
                  <a:ext uri="{0D108BD9-81ED-4DB2-BD59-A6C34878D82A}">
                    <a16:rowId xmlns:a16="http://schemas.microsoft.com/office/drawing/2014/main" val="359047339"/>
                  </a:ext>
                </a:extLst>
              </a:tr>
              <a:tr h="451234">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dk1"/>
                          </a:solidFill>
                          <a:effectLst/>
                        </a:rPr>
                        <a:t>○</a:t>
                      </a:r>
                      <a:endParaRPr lang="ko-KR" altLang="en-US" sz="1400" kern="1200" dirty="0">
                        <a:solidFill>
                          <a:schemeClr val="dk1"/>
                        </a:solidFill>
                        <a:effectLst/>
                        <a:latin typeface="+mn-lt"/>
                        <a:ea typeface="+mn-ea"/>
                        <a:cs typeface="+mn-cs"/>
                      </a:endParaRPr>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dk1"/>
                          </a:solidFill>
                          <a:effectLst/>
                        </a:rPr>
                        <a:t>○</a:t>
                      </a:r>
                      <a:endParaRPr lang="ko-KR" altLang="en-US" sz="1400" kern="1200" dirty="0">
                        <a:solidFill>
                          <a:schemeClr val="dk1"/>
                        </a:solidFill>
                        <a:effectLst/>
                        <a:latin typeface="+mn-lt"/>
                        <a:ea typeface="+mn-ea"/>
                        <a:cs typeface="+mn-cs"/>
                      </a:endParaRPr>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dk1"/>
                          </a:solidFill>
                          <a:effectLst/>
                        </a:rPr>
                        <a:t>자동주장간주</a:t>
                      </a:r>
                      <a:endParaRPr lang="en-US" altLang="ko-KR" sz="1400" kern="1200" dirty="0">
                        <a:solidFill>
                          <a:schemeClr val="dk1"/>
                        </a:solidFill>
                        <a:effectLst/>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kern="1200" dirty="0">
                          <a:solidFill>
                            <a:schemeClr val="dk1"/>
                          </a:solidFill>
                          <a:effectLst/>
                        </a:rPr>
                        <a:t>(</a:t>
                      </a:r>
                      <a:r>
                        <a:rPr lang="ko-KR" altLang="en-US" sz="1400" kern="1200" dirty="0">
                          <a:solidFill>
                            <a:schemeClr val="dk1"/>
                          </a:solidFill>
                          <a:effectLst/>
                        </a:rPr>
                        <a:t>제</a:t>
                      </a:r>
                      <a:r>
                        <a:rPr lang="en-US" altLang="ko-KR" sz="1400" kern="1200" dirty="0">
                          <a:solidFill>
                            <a:schemeClr val="dk1"/>
                          </a:solidFill>
                          <a:effectLst/>
                        </a:rPr>
                        <a:t>2</a:t>
                      </a:r>
                      <a:r>
                        <a:rPr lang="ko-KR" altLang="en-US" sz="1400" kern="1200" dirty="0" err="1">
                          <a:solidFill>
                            <a:schemeClr val="dk1"/>
                          </a:solidFill>
                          <a:effectLst/>
                        </a:rPr>
                        <a:t>항제</a:t>
                      </a:r>
                      <a:r>
                        <a:rPr lang="en-US" altLang="ko-KR" sz="1400" kern="1200" dirty="0">
                          <a:solidFill>
                            <a:schemeClr val="dk1"/>
                          </a:solidFill>
                          <a:effectLst/>
                        </a:rPr>
                        <a:t>3</a:t>
                      </a:r>
                      <a:r>
                        <a:rPr lang="ko-KR" altLang="en-US" sz="1400" kern="1200" dirty="0">
                          <a:solidFill>
                            <a:schemeClr val="dk1"/>
                          </a:solidFill>
                          <a:effectLst/>
                        </a:rPr>
                        <a:t>호</a:t>
                      </a:r>
                      <a:r>
                        <a:rPr lang="en-US" altLang="ko-KR" sz="1400" kern="1200" dirty="0">
                          <a:solidFill>
                            <a:schemeClr val="dk1"/>
                          </a:solidFill>
                          <a:effectLst/>
                        </a:rPr>
                        <a:t>, </a:t>
                      </a:r>
                      <a:r>
                        <a:rPr lang="ko-KR" altLang="en-US" sz="1400" kern="1200" dirty="0">
                          <a:solidFill>
                            <a:schemeClr val="dk1"/>
                          </a:solidFill>
                          <a:effectLst/>
                        </a:rPr>
                        <a:t>제</a:t>
                      </a:r>
                      <a:r>
                        <a:rPr lang="en-US" altLang="ko-KR" sz="1400" kern="1200" dirty="0">
                          <a:solidFill>
                            <a:schemeClr val="dk1"/>
                          </a:solidFill>
                          <a:effectLst/>
                        </a:rPr>
                        <a:t>4</a:t>
                      </a:r>
                      <a:r>
                        <a:rPr lang="ko-KR" altLang="en-US" sz="1400" kern="1200" dirty="0">
                          <a:solidFill>
                            <a:schemeClr val="dk1"/>
                          </a:solidFill>
                          <a:effectLst/>
                        </a:rPr>
                        <a:t>항</a:t>
                      </a:r>
                      <a:r>
                        <a:rPr lang="en-US" altLang="ko-KR" sz="1400" kern="1200" dirty="0">
                          <a:solidFill>
                            <a:schemeClr val="dk1"/>
                          </a:solidFill>
                          <a:effectLst/>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dk1"/>
                          </a:solidFill>
                          <a:effectLst/>
                        </a:rPr>
                        <a:t>우선권주장의 취하</a:t>
                      </a:r>
                      <a:endParaRPr lang="en-US" altLang="ko-KR" sz="1400" kern="1200" dirty="0">
                        <a:solidFill>
                          <a:schemeClr val="dk1"/>
                        </a:solidFill>
                        <a:effectLst/>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kern="1200" dirty="0">
                          <a:solidFill>
                            <a:schemeClr val="dk1"/>
                          </a:solidFill>
                          <a:effectLst/>
                        </a:rPr>
                        <a:t>(</a:t>
                      </a:r>
                      <a:r>
                        <a:rPr lang="ko-KR" altLang="en-US" sz="1400" kern="1200" dirty="0">
                          <a:solidFill>
                            <a:schemeClr val="dk1"/>
                          </a:solidFill>
                          <a:effectLst/>
                        </a:rPr>
                        <a:t>제</a:t>
                      </a:r>
                      <a:r>
                        <a:rPr lang="en-US" altLang="ko-KR" sz="1400" kern="1200" dirty="0">
                          <a:solidFill>
                            <a:schemeClr val="dk1"/>
                          </a:solidFill>
                          <a:effectLst/>
                        </a:rPr>
                        <a:t>5</a:t>
                      </a:r>
                      <a:r>
                        <a:rPr lang="ko-KR" altLang="en-US" sz="1400" kern="1200" dirty="0">
                          <a:solidFill>
                            <a:schemeClr val="dk1"/>
                          </a:solidFill>
                          <a:effectLst/>
                        </a:rPr>
                        <a:t>항</a:t>
                      </a:r>
                      <a:r>
                        <a:rPr lang="en-US" altLang="ko-KR" sz="1400" kern="1200" dirty="0">
                          <a:solidFill>
                            <a:schemeClr val="dk1"/>
                          </a:solidFill>
                          <a:effectLst/>
                        </a:rPr>
                        <a:t>)</a:t>
                      </a:r>
                      <a:endParaRPr lang="ko-KR" altLang="en-US" sz="1400" kern="1200" dirty="0">
                        <a:solidFill>
                          <a:schemeClr val="dk1"/>
                        </a:solidFill>
                        <a:effectLst/>
                        <a:latin typeface="+mn-lt"/>
                        <a:ea typeface="+mn-ea"/>
                        <a:cs typeface="+mn-cs"/>
                      </a:endParaRPr>
                    </a:p>
                  </a:txBody>
                  <a:tcPr anchor="ctr"/>
                </a:tc>
                <a:tc>
                  <a:txBody>
                    <a:bodyPr/>
                    <a:lstStyle/>
                    <a:p>
                      <a:pPr algn="ctr" latinLnBrk="1"/>
                      <a:r>
                        <a:rPr lang="ko-KR" altLang="en-US" sz="1400" dirty="0"/>
                        <a:t>자동제출간주</a:t>
                      </a:r>
                      <a:endParaRPr lang="en-US" altLang="ko-KR" sz="1400" dirty="0"/>
                    </a:p>
                    <a:p>
                      <a:pPr algn="ctr" latinLnBrk="1"/>
                      <a:r>
                        <a:rPr lang="en-US" altLang="ko-KR" sz="1400" dirty="0"/>
                        <a:t>(</a:t>
                      </a:r>
                      <a:r>
                        <a:rPr lang="ko-KR" altLang="en-US" sz="1400" dirty="0"/>
                        <a:t>제</a:t>
                      </a:r>
                      <a:r>
                        <a:rPr lang="en-US" altLang="ko-KR" sz="1400" dirty="0"/>
                        <a:t>4</a:t>
                      </a:r>
                      <a:r>
                        <a:rPr lang="ko-KR" altLang="en-US" sz="1400" dirty="0"/>
                        <a:t>항</a:t>
                      </a:r>
                      <a:r>
                        <a:rPr lang="en-US" altLang="ko-KR" sz="1400" dirty="0"/>
                        <a:t>)</a:t>
                      </a:r>
                    </a:p>
                  </a:txBody>
                  <a:tcPr anchor="ctr"/>
                </a:tc>
                <a:extLst>
                  <a:ext uri="{0D108BD9-81ED-4DB2-BD59-A6C34878D82A}">
                    <a16:rowId xmlns:a16="http://schemas.microsoft.com/office/drawing/2014/main" val="4153060057"/>
                  </a:ext>
                </a:extLst>
              </a:tr>
              <a:tr h="247451">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dk1"/>
                          </a:solidFill>
                          <a:effectLst/>
                        </a:rPr>
                        <a:t>○</a:t>
                      </a:r>
                      <a:endParaRPr lang="ko-KR" altLang="en-US" sz="1400" kern="1200" dirty="0">
                        <a:solidFill>
                          <a:schemeClr val="dk1"/>
                        </a:solidFill>
                        <a:effectLst/>
                        <a:latin typeface="+mn-lt"/>
                        <a:ea typeface="+mn-ea"/>
                        <a:cs typeface="+mn-cs"/>
                      </a:endParaRPr>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kern="1200" dirty="0">
                          <a:solidFill>
                            <a:schemeClr val="dk1"/>
                          </a:solidFill>
                          <a:effectLst/>
                        </a:rPr>
                        <a:t>×</a:t>
                      </a:r>
                      <a:endParaRPr lang="en-US" altLang="ko-KR" sz="1400" kern="1200" dirty="0">
                        <a:solidFill>
                          <a:schemeClr val="dk1"/>
                        </a:solidFill>
                        <a:effectLst/>
                        <a:latin typeface="+mn-lt"/>
                        <a:ea typeface="+mn-ea"/>
                        <a:cs typeface="+mn-cs"/>
                      </a:endParaRPr>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dk1"/>
                          </a:solidFill>
                          <a:effectLst/>
                        </a:rPr>
                        <a:t>자동주장간주</a:t>
                      </a:r>
                      <a:endParaRPr lang="en-US" altLang="ko-KR" sz="1400" kern="1200" dirty="0">
                        <a:solidFill>
                          <a:schemeClr val="dk1"/>
                        </a:solidFill>
                        <a:effectLst/>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kern="1200" dirty="0">
                          <a:solidFill>
                            <a:schemeClr val="dk1"/>
                          </a:solidFill>
                          <a:effectLst/>
                        </a:rPr>
                        <a:t>(</a:t>
                      </a:r>
                      <a:r>
                        <a:rPr lang="ko-KR" altLang="en-US" sz="1400" kern="1200" dirty="0">
                          <a:solidFill>
                            <a:schemeClr val="dk1"/>
                          </a:solidFill>
                          <a:effectLst/>
                        </a:rPr>
                        <a:t>제</a:t>
                      </a:r>
                      <a:r>
                        <a:rPr lang="en-US" altLang="ko-KR" sz="1400" kern="1200" dirty="0">
                          <a:solidFill>
                            <a:schemeClr val="dk1"/>
                          </a:solidFill>
                          <a:effectLst/>
                        </a:rPr>
                        <a:t>2</a:t>
                      </a:r>
                      <a:r>
                        <a:rPr lang="ko-KR" altLang="en-US" sz="1400" kern="1200" dirty="0" err="1">
                          <a:solidFill>
                            <a:schemeClr val="dk1"/>
                          </a:solidFill>
                          <a:effectLst/>
                        </a:rPr>
                        <a:t>항제</a:t>
                      </a:r>
                      <a:r>
                        <a:rPr lang="en-US" altLang="ko-KR" sz="1400" kern="1200" dirty="0">
                          <a:solidFill>
                            <a:schemeClr val="dk1"/>
                          </a:solidFill>
                          <a:effectLst/>
                        </a:rPr>
                        <a:t>3</a:t>
                      </a:r>
                      <a:r>
                        <a:rPr lang="ko-KR" altLang="en-US" sz="1400" kern="1200" dirty="0">
                          <a:solidFill>
                            <a:schemeClr val="dk1"/>
                          </a:solidFill>
                          <a:effectLst/>
                        </a:rPr>
                        <a:t>호</a:t>
                      </a:r>
                      <a:r>
                        <a:rPr lang="en-US" altLang="ko-KR" sz="1400" kern="1200" dirty="0">
                          <a:solidFill>
                            <a:schemeClr val="dk1"/>
                          </a:solidFill>
                          <a:effectLst/>
                        </a:rPr>
                        <a:t>, </a:t>
                      </a:r>
                      <a:r>
                        <a:rPr lang="ko-KR" altLang="en-US" sz="1400" kern="1200" dirty="0">
                          <a:solidFill>
                            <a:schemeClr val="dk1"/>
                          </a:solidFill>
                          <a:effectLst/>
                        </a:rPr>
                        <a:t>제</a:t>
                      </a:r>
                      <a:r>
                        <a:rPr lang="en-US" altLang="ko-KR" sz="1400" kern="1200" dirty="0">
                          <a:solidFill>
                            <a:schemeClr val="dk1"/>
                          </a:solidFill>
                          <a:effectLst/>
                        </a:rPr>
                        <a:t>4</a:t>
                      </a:r>
                      <a:r>
                        <a:rPr lang="ko-KR" altLang="en-US" sz="1400" kern="1200" dirty="0">
                          <a:solidFill>
                            <a:schemeClr val="dk1"/>
                          </a:solidFill>
                          <a:effectLst/>
                        </a:rPr>
                        <a:t>항</a:t>
                      </a:r>
                      <a:r>
                        <a:rPr lang="en-US" altLang="ko-KR" sz="1400" kern="1200" dirty="0">
                          <a:solidFill>
                            <a:schemeClr val="dk1"/>
                          </a:solidFill>
                          <a:effectLst/>
                        </a:rPr>
                        <a:t>)</a:t>
                      </a:r>
                      <a:r>
                        <a:rPr lang="ko-KR" altLang="en-US" sz="1400" kern="1200" dirty="0">
                          <a:solidFill>
                            <a:schemeClr val="dk1"/>
                          </a:solidFill>
                          <a:effectLst/>
                        </a:rPr>
                        <a:t> </a:t>
                      </a:r>
                      <a:endParaRPr lang="en-US" altLang="ko-KR" sz="1400" kern="1200" dirty="0">
                        <a:solidFill>
                          <a:schemeClr val="dk1"/>
                        </a:solidFill>
                        <a:effectLst/>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dk1"/>
                          </a:solidFill>
                          <a:effectLst/>
                        </a:rPr>
                        <a:t>우선권주장의 취하</a:t>
                      </a:r>
                      <a:endParaRPr lang="en-US" altLang="ko-KR" sz="1400" kern="1200" dirty="0">
                        <a:solidFill>
                          <a:schemeClr val="dk1"/>
                        </a:solidFill>
                        <a:effectLst/>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kern="1200" dirty="0">
                          <a:solidFill>
                            <a:schemeClr val="dk1"/>
                          </a:solidFill>
                          <a:effectLst/>
                        </a:rPr>
                        <a:t>(</a:t>
                      </a:r>
                      <a:r>
                        <a:rPr lang="ko-KR" altLang="en-US" sz="1400" kern="1200" dirty="0">
                          <a:solidFill>
                            <a:schemeClr val="dk1"/>
                          </a:solidFill>
                          <a:effectLst/>
                        </a:rPr>
                        <a:t>제</a:t>
                      </a:r>
                      <a:r>
                        <a:rPr lang="en-US" altLang="ko-KR" sz="1400" kern="1200" dirty="0">
                          <a:solidFill>
                            <a:schemeClr val="dk1"/>
                          </a:solidFill>
                          <a:effectLst/>
                        </a:rPr>
                        <a:t>5</a:t>
                      </a:r>
                      <a:r>
                        <a:rPr lang="ko-KR" altLang="en-US" sz="1400" kern="1200" dirty="0">
                          <a:solidFill>
                            <a:schemeClr val="dk1"/>
                          </a:solidFill>
                          <a:effectLst/>
                        </a:rPr>
                        <a:t>항</a:t>
                      </a:r>
                      <a:r>
                        <a:rPr lang="en-US" altLang="ko-KR" sz="1400" kern="1200" dirty="0">
                          <a:solidFill>
                            <a:schemeClr val="dk1"/>
                          </a:solidFill>
                          <a:effectLst/>
                        </a:rPr>
                        <a:t>)</a:t>
                      </a:r>
                      <a:endParaRPr lang="ko-KR" altLang="en-US" sz="1400" kern="1200" dirty="0">
                        <a:solidFill>
                          <a:schemeClr val="dk1"/>
                        </a:solidFill>
                        <a:effectLst/>
                        <a:latin typeface="+mn-lt"/>
                        <a:ea typeface="+mn-ea"/>
                        <a:cs typeface="+mn-cs"/>
                      </a:endParaRPr>
                    </a:p>
                  </a:txBody>
                  <a:tcPr anchor="ctr"/>
                </a:tc>
                <a:tc>
                  <a:txBody>
                    <a:bodyPr/>
                    <a:lstStyle/>
                    <a:p>
                      <a:pPr algn="ctr" latinLnBrk="1"/>
                      <a:r>
                        <a:rPr lang="ko-KR" altLang="en-US" sz="1400" dirty="0"/>
                        <a:t>기간의 특례</a:t>
                      </a:r>
                      <a:endParaRPr lang="en-US" altLang="ko-KR" sz="1400" dirty="0"/>
                    </a:p>
                    <a:p>
                      <a:pPr algn="ctr" latinLnBrk="1"/>
                      <a:r>
                        <a:rPr lang="en-US" altLang="ko-KR" sz="1400" dirty="0"/>
                        <a:t>(</a:t>
                      </a:r>
                      <a:r>
                        <a:rPr lang="ko-KR" altLang="en-US" sz="1400" dirty="0"/>
                        <a:t>제</a:t>
                      </a:r>
                      <a:r>
                        <a:rPr lang="en-US" altLang="ko-KR" sz="1400" dirty="0"/>
                        <a:t>6</a:t>
                      </a:r>
                      <a:r>
                        <a:rPr lang="ko-KR" altLang="en-US" sz="1400" dirty="0"/>
                        <a:t>항</a:t>
                      </a:r>
                      <a:r>
                        <a:rPr lang="en-US" altLang="ko-KR" sz="1400" dirty="0"/>
                        <a:t>)</a:t>
                      </a:r>
                      <a:endParaRPr lang="ko-KR" altLang="en-US" sz="1400" dirty="0"/>
                    </a:p>
                  </a:txBody>
                  <a:tcPr anchor="ctr"/>
                </a:tc>
                <a:extLst>
                  <a:ext uri="{0D108BD9-81ED-4DB2-BD59-A6C34878D82A}">
                    <a16:rowId xmlns:a16="http://schemas.microsoft.com/office/drawing/2014/main" val="2517738808"/>
                  </a:ext>
                </a:extLst>
              </a:tr>
            </a:tbl>
          </a:graphicData>
        </a:graphic>
      </p:graphicFrame>
    </p:spTree>
    <p:extLst>
      <p:ext uri="{BB962C8B-B14F-4D97-AF65-F5344CB8AC3E}">
        <p14:creationId xmlns:p14="http://schemas.microsoft.com/office/powerpoint/2010/main" val="337337347"/>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양쪽 모서리가 둥근 사각형 139"/>
          <p:cNvSpPr/>
          <p:nvPr/>
        </p:nvSpPr>
        <p:spPr>
          <a:xfrm>
            <a:off x="8227199" y="4694206"/>
            <a:ext cx="2155051" cy="610554"/>
          </a:xfrm>
          <a:prstGeom prst="round2SameRect">
            <a:avLst>
              <a:gd name="adj1" fmla="val 50000"/>
              <a:gd name="adj2" fmla="val 0"/>
            </a:avLst>
          </a:prstGeom>
          <a:pattFill prst="dkHorz">
            <a:fgClr>
              <a:srgbClr val="FF0000"/>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자유형 5"/>
          <p:cNvSpPr/>
          <p:nvPr/>
        </p:nvSpPr>
        <p:spPr>
          <a:xfrm>
            <a:off x="9010650" y="3133725"/>
            <a:ext cx="2495550" cy="381000"/>
          </a:xfrm>
          <a:custGeom>
            <a:avLst/>
            <a:gdLst>
              <a:gd name="connsiteX0" fmla="*/ 0 w 2495550"/>
              <a:gd name="connsiteY0" fmla="*/ 381000 h 381000"/>
              <a:gd name="connsiteX1" fmla="*/ 381000 w 2495550"/>
              <a:gd name="connsiteY1" fmla="*/ 0 h 381000"/>
              <a:gd name="connsiteX2" fmla="*/ 2495550 w 2495550"/>
              <a:gd name="connsiteY2" fmla="*/ 0 h 381000"/>
            </a:gdLst>
            <a:ahLst/>
            <a:cxnLst>
              <a:cxn ang="0">
                <a:pos x="connsiteX0" y="connsiteY0"/>
              </a:cxn>
              <a:cxn ang="0">
                <a:pos x="connsiteX1" y="connsiteY1"/>
              </a:cxn>
              <a:cxn ang="0">
                <a:pos x="connsiteX2" y="connsiteY2"/>
              </a:cxn>
            </a:cxnLst>
            <a:rect l="l" t="t" r="r" b="b"/>
            <a:pathLst>
              <a:path w="2495550" h="381000">
                <a:moveTo>
                  <a:pt x="0" y="381000"/>
                </a:moveTo>
                <a:lnTo>
                  <a:pt x="381000" y="0"/>
                </a:lnTo>
                <a:lnTo>
                  <a:pt x="2495550" y="0"/>
                </a:lnTo>
              </a:path>
            </a:pathLst>
          </a:custGeom>
          <a:noFill/>
          <a:ln w="57150">
            <a:solidFill>
              <a:srgbClr val="FF000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6" name="양쪽 모서리가 둥근 사각형 65"/>
          <p:cNvSpPr/>
          <p:nvPr/>
        </p:nvSpPr>
        <p:spPr>
          <a:xfrm rot="10800000">
            <a:off x="5969146" y="3546122"/>
            <a:ext cx="2463077" cy="473324"/>
          </a:xfrm>
          <a:prstGeom prst="round2SameRect">
            <a:avLst>
              <a:gd name="adj1" fmla="val 50000"/>
              <a:gd name="adj2" fmla="val 0"/>
            </a:avLst>
          </a:prstGeom>
          <a:pattFill prst="dkHorz">
            <a:fgClr>
              <a:schemeClr val="bg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양쪽 모서리가 둥근 사각형 61"/>
          <p:cNvSpPr/>
          <p:nvPr/>
        </p:nvSpPr>
        <p:spPr>
          <a:xfrm>
            <a:off x="8215423" y="1663482"/>
            <a:ext cx="3041504" cy="473324"/>
          </a:xfrm>
          <a:prstGeom prst="round2SameRect">
            <a:avLst>
              <a:gd name="adj1" fmla="val 50000"/>
              <a:gd name="adj2" fmla="val 0"/>
            </a:avLst>
          </a:prstGeom>
          <a:pattFill prst="dkHorz">
            <a:fgClr>
              <a:schemeClr val="accent2">
                <a:lumMod val="60000"/>
                <a:lumOff val="4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양쪽 모서리가 둥근 사각형 59"/>
          <p:cNvSpPr/>
          <p:nvPr/>
        </p:nvSpPr>
        <p:spPr>
          <a:xfrm>
            <a:off x="4562474" y="1397909"/>
            <a:ext cx="6694453" cy="738897"/>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양쪽 모서리가 둥근 사각형 57"/>
          <p:cNvSpPr/>
          <p:nvPr/>
        </p:nvSpPr>
        <p:spPr>
          <a:xfrm>
            <a:off x="4577844" y="1663482"/>
            <a:ext cx="2339904" cy="473324"/>
          </a:xfrm>
          <a:prstGeom prst="round2SameRect">
            <a:avLst>
              <a:gd name="adj1" fmla="val 50000"/>
              <a:gd name="adj2" fmla="val 0"/>
            </a:avLst>
          </a:prstGeom>
          <a:pattFill prst="dkHorz">
            <a:fgClr>
              <a:schemeClr val="accent2">
                <a:lumMod val="60000"/>
                <a:lumOff val="4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제목 3"/>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5" name="텍스트 개체 틀 4"/>
          <p:cNvSpPr>
            <a:spLocks noGrp="1"/>
          </p:cNvSpPr>
          <p:nvPr>
            <p:ph type="body" sz="quarter" idx="13"/>
          </p:nvPr>
        </p:nvSpPr>
        <p:spPr/>
        <p:txBody>
          <a:bodyPr/>
          <a:lstStyle/>
          <a:p>
            <a:r>
              <a:rPr lang="ko-KR" altLang="en-US" dirty="0"/>
              <a:t>소급효의 예외</a:t>
            </a:r>
          </a:p>
        </p:txBody>
      </p:sp>
      <p:sp>
        <p:nvSpPr>
          <p:cNvPr id="46" name="양쪽 모서리가 둥근 사각형 45"/>
          <p:cNvSpPr/>
          <p:nvPr/>
        </p:nvSpPr>
        <p:spPr>
          <a:xfrm>
            <a:off x="2600325" y="1834964"/>
            <a:ext cx="1933576" cy="301842"/>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9" name="직선 연결선 48"/>
          <p:cNvCxnSpPr>
            <a:stCxn id="50" idx="1"/>
          </p:cNvCxnSpPr>
          <p:nvPr/>
        </p:nvCxnSpPr>
        <p:spPr>
          <a:xfrm>
            <a:off x="1843087" y="2136807"/>
            <a:ext cx="978693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직사각형 49"/>
          <p:cNvSpPr/>
          <p:nvPr/>
        </p:nvSpPr>
        <p:spPr>
          <a:xfrm>
            <a:off x="2031204" y="2022805"/>
            <a:ext cx="1138242" cy="228004"/>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a:t>
            </a:r>
            <a:r>
              <a:rPr lang="ko-KR" altLang="en-US" sz="1000" dirty="0" err="1">
                <a:solidFill>
                  <a:schemeClr val="tx1"/>
                </a:solidFill>
              </a:rPr>
              <a:t>일본출원</a:t>
            </a:r>
            <a:r>
              <a:rPr lang="en-US" altLang="ko-KR" sz="1000" dirty="0">
                <a:solidFill>
                  <a:schemeClr val="tx1"/>
                </a:solidFill>
              </a:rPr>
              <a:t>(X)</a:t>
            </a:r>
            <a:endParaRPr lang="ko-KR" altLang="en-US" sz="1000" dirty="0">
              <a:solidFill>
                <a:schemeClr val="tx1"/>
              </a:solidFill>
            </a:endParaRPr>
          </a:p>
        </p:txBody>
      </p:sp>
      <p:sp>
        <p:nvSpPr>
          <p:cNvPr id="51" name="직사각형 50"/>
          <p:cNvSpPr/>
          <p:nvPr/>
        </p:nvSpPr>
        <p:spPr>
          <a:xfrm>
            <a:off x="3890960" y="2022805"/>
            <a:ext cx="1138242" cy="22800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한국출원</a:t>
            </a:r>
            <a:r>
              <a:rPr lang="en-US" altLang="ko-KR" sz="1000" dirty="0">
                <a:solidFill>
                  <a:schemeClr val="tx1"/>
                </a:solidFill>
              </a:rPr>
              <a:t>(Y)</a:t>
            </a:r>
            <a:endParaRPr lang="ko-KR" altLang="en-US" sz="1000" dirty="0">
              <a:solidFill>
                <a:schemeClr val="tx1"/>
              </a:solidFill>
            </a:endParaRPr>
          </a:p>
        </p:txBody>
      </p:sp>
      <p:sp>
        <p:nvSpPr>
          <p:cNvPr id="55" name="직사각형 54"/>
          <p:cNvSpPr/>
          <p:nvPr/>
        </p:nvSpPr>
        <p:spPr>
          <a:xfrm>
            <a:off x="3890960" y="2250809"/>
            <a:ext cx="1138242" cy="22800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 </a:t>
            </a:r>
            <a:r>
              <a:rPr lang="ko-KR" altLang="en-US" sz="1000" dirty="0">
                <a:solidFill>
                  <a:schemeClr val="tx1"/>
                </a:solidFill>
              </a:rPr>
              <a:t>기초 </a:t>
            </a:r>
            <a:r>
              <a:rPr lang="ko-KR" altLang="en-US" sz="1000" dirty="0" err="1">
                <a:solidFill>
                  <a:schemeClr val="tx1"/>
                </a:solidFill>
              </a:rPr>
              <a:t>우선권주장</a:t>
            </a:r>
            <a:endParaRPr lang="ko-KR" altLang="en-US" sz="1000" dirty="0">
              <a:solidFill>
                <a:schemeClr val="tx1"/>
              </a:solidFill>
            </a:endParaRPr>
          </a:p>
        </p:txBody>
      </p:sp>
      <p:sp>
        <p:nvSpPr>
          <p:cNvPr id="85" name="직사각형 84"/>
          <p:cNvSpPr/>
          <p:nvPr/>
        </p:nvSpPr>
        <p:spPr>
          <a:xfrm>
            <a:off x="2824162" y="1627128"/>
            <a:ext cx="1514475" cy="2280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a:t>
            </a:r>
          </a:p>
        </p:txBody>
      </p:sp>
      <p:sp>
        <p:nvSpPr>
          <p:cNvPr id="133" name="직사각형 132"/>
          <p:cNvSpPr/>
          <p:nvPr/>
        </p:nvSpPr>
        <p:spPr>
          <a:xfrm>
            <a:off x="8934450" y="6181761"/>
            <a:ext cx="514350" cy="514350"/>
          </a:xfrm>
          <a:prstGeom prst="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심</a:t>
            </a:r>
          </a:p>
        </p:txBody>
      </p:sp>
      <p:sp>
        <p:nvSpPr>
          <p:cNvPr id="134" name="직사각형 133"/>
          <p:cNvSpPr/>
          <p:nvPr/>
        </p:nvSpPr>
        <p:spPr>
          <a:xfrm>
            <a:off x="9561203"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공</a:t>
            </a:r>
          </a:p>
        </p:txBody>
      </p:sp>
      <p:sp>
        <p:nvSpPr>
          <p:cNvPr id="135" name="직사각형 134"/>
          <p:cNvSpPr/>
          <p:nvPr/>
        </p:nvSpPr>
        <p:spPr>
          <a:xfrm>
            <a:off x="10187956" y="6181761"/>
            <a:ext cx="514350" cy="514350"/>
          </a:xfrm>
          <a:prstGeom prst="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존</a:t>
            </a:r>
          </a:p>
        </p:txBody>
      </p:sp>
      <p:sp>
        <p:nvSpPr>
          <p:cNvPr id="136" name="직사각형 135"/>
          <p:cNvSpPr/>
          <p:nvPr/>
        </p:nvSpPr>
        <p:spPr>
          <a:xfrm>
            <a:off x="10803760" y="6181761"/>
            <a:ext cx="514350" cy="514350"/>
          </a:xfrm>
          <a:prstGeom prst="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재</a:t>
            </a:r>
          </a:p>
        </p:txBody>
      </p:sp>
      <p:sp>
        <p:nvSpPr>
          <p:cNvPr id="137" name="직사각형 136"/>
          <p:cNvSpPr/>
          <p:nvPr/>
        </p:nvSpPr>
        <p:spPr>
          <a:xfrm>
            <a:off x="11394310" y="6181761"/>
            <a:ext cx="514350" cy="514350"/>
          </a:xfrm>
          <a:prstGeom prst="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등</a:t>
            </a:r>
          </a:p>
        </p:txBody>
      </p:sp>
      <p:sp>
        <p:nvSpPr>
          <p:cNvPr id="57" name="직사각형 56"/>
          <p:cNvSpPr/>
          <p:nvPr/>
        </p:nvSpPr>
        <p:spPr>
          <a:xfrm>
            <a:off x="7608313" y="2022805"/>
            <a:ext cx="1138242" cy="22800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설정등록</a:t>
            </a:r>
            <a:r>
              <a:rPr lang="en-US" altLang="ko-KR" sz="1000" dirty="0">
                <a:solidFill>
                  <a:schemeClr val="tx1"/>
                </a:solidFill>
              </a:rPr>
              <a:t>(Y)</a:t>
            </a:r>
            <a:endParaRPr lang="ko-KR" altLang="en-US" sz="1000" dirty="0">
              <a:solidFill>
                <a:schemeClr val="tx1"/>
              </a:solidFill>
            </a:endParaRPr>
          </a:p>
        </p:txBody>
      </p:sp>
      <p:sp>
        <p:nvSpPr>
          <p:cNvPr id="59" name="직사각형 58"/>
          <p:cNvSpPr/>
          <p:nvPr/>
        </p:nvSpPr>
        <p:spPr>
          <a:xfrm>
            <a:off x="5103022" y="1446153"/>
            <a:ext cx="1514475" cy="2280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3</a:t>
            </a:r>
            <a:r>
              <a:rPr lang="ko-KR" altLang="en-US" sz="1000" dirty="0">
                <a:solidFill>
                  <a:schemeClr val="tx1"/>
                </a:solidFill>
              </a:rPr>
              <a:t>년</a:t>
            </a:r>
          </a:p>
        </p:txBody>
      </p:sp>
      <p:sp>
        <p:nvSpPr>
          <p:cNvPr id="61" name="직사각형 60"/>
          <p:cNvSpPr/>
          <p:nvPr/>
        </p:nvSpPr>
        <p:spPr>
          <a:xfrm>
            <a:off x="6917748" y="1190487"/>
            <a:ext cx="1514475" cy="2280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20</a:t>
            </a:r>
            <a:r>
              <a:rPr lang="ko-KR" altLang="en-US" sz="1000" dirty="0">
                <a:solidFill>
                  <a:schemeClr val="tx1"/>
                </a:solidFill>
              </a:rPr>
              <a:t>년</a:t>
            </a:r>
          </a:p>
        </p:txBody>
      </p:sp>
      <p:sp>
        <p:nvSpPr>
          <p:cNvPr id="2" name="TextBox 1"/>
          <p:cNvSpPr txBox="1"/>
          <p:nvPr/>
        </p:nvSpPr>
        <p:spPr>
          <a:xfrm>
            <a:off x="5143718" y="1722209"/>
            <a:ext cx="1290738" cy="338554"/>
          </a:xfrm>
          <a:prstGeom prst="rect">
            <a:avLst/>
          </a:prstGeom>
          <a:noFill/>
        </p:spPr>
        <p:txBody>
          <a:bodyPr wrap="none" rtlCol="0">
            <a:spAutoFit/>
          </a:bodyPr>
          <a:lstStyle/>
          <a:p>
            <a:r>
              <a:rPr lang="ko-KR" altLang="en-US" sz="1600" dirty="0">
                <a:solidFill>
                  <a:srgbClr val="FF0000"/>
                </a:solidFill>
              </a:rPr>
              <a:t>심사청구기간</a:t>
            </a:r>
          </a:p>
        </p:txBody>
      </p:sp>
      <p:sp>
        <p:nvSpPr>
          <p:cNvPr id="64" name="TextBox 63"/>
          <p:cNvSpPr txBox="1"/>
          <p:nvPr/>
        </p:nvSpPr>
        <p:spPr>
          <a:xfrm>
            <a:off x="9165815" y="1722209"/>
            <a:ext cx="922047" cy="338554"/>
          </a:xfrm>
          <a:prstGeom prst="rect">
            <a:avLst/>
          </a:prstGeom>
          <a:noFill/>
        </p:spPr>
        <p:txBody>
          <a:bodyPr wrap="none" rtlCol="0">
            <a:spAutoFit/>
          </a:bodyPr>
          <a:lstStyle/>
          <a:p>
            <a:r>
              <a:rPr lang="ko-KR" altLang="en-US" sz="1600" dirty="0">
                <a:solidFill>
                  <a:srgbClr val="FF0000"/>
                </a:solidFill>
              </a:rPr>
              <a:t>존속기간</a:t>
            </a:r>
          </a:p>
        </p:txBody>
      </p:sp>
      <p:sp>
        <p:nvSpPr>
          <p:cNvPr id="68" name="양쪽 모서리가 둥근 사각형 67"/>
          <p:cNvSpPr/>
          <p:nvPr/>
        </p:nvSpPr>
        <p:spPr>
          <a:xfrm>
            <a:off x="4577844" y="3046261"/>
            <a:ext cx="4432806" cy="473324"/>
          </a:xfrm>
          <a:prstGeom prst="round2SameRect">
            <a:avLst>
              <a:gd name="adj1" fmla="val 50000"/>
              <a:gd name="adj2" fmla="val 0"/>
            </a:avLst>
          </a:prstGeom>
          <a:pattFill prst="dkHorz">
            <a:fgClr>
              <a:schemeClr val="accent2">
                <a:lumMod val="60000"/>
                <a:lumOff val="4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양쪽 모서리가 둥근 사각형 68"/>
          <p:cNvSpPr/>
          <p:nvPr/>
        </p:nvSpPr>
        <p:spPr>
          <a:xfrm>
            <a:off x="2600325" y="3217743"/>
            <a:ext cx="1933576" cy="301842"/>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0" name="직선 연결선 69"/>
          <p:cNvCxnSpPr>
            <a:stCxn id="71" idx="1"/>
          </p:cNvCxnSpPr>
          <p:nvPr/>
        </p:nvCxnSpPr>
        <p:spPr>
          <a:xfrm>
            <a:off x="1843087" y="3519586"/>
            <a:ext cx="978693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직사각형 70"/>
          <p:cNvSpPr/>
          <p:nvPr/>
        </p:nvSpPr>
        <p:spPr>
          <a:xfrm>
            <a:off x="2031204" y="3405584"/>
            <a:ext cx="1138242" cy="228004"/>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a:t>
            </a:r>
            <a:r>
              <a:rPr lang="ko-KR" altLang="en-US" sz="1000" dirty="0" err="1">
                <a:solidFill>
                  <a:schemeClr val="tx1"/>
                </a:solidFill>
              </a:rPr>
              <a:t>일본출원</a:t>
            </a:r>
            <a:r>
              <a:rPr lang="en-US" altLang="ko-KR" sz="1000" dirty="0">
                <a:solidFill>
                  <a:schemeClr val="tx1"/>
                </a:solidFill>
              </a:rPr>
              <a:t>(X)</a:t>
            </a:r>
            <a:endParaRPr lang="ko-KR" altLang="en-US" sz="1000" dirty="0">
              <a:solidFill>
                <a:schemeClr val="tx1"/>
              </a:solidFill>
            </a:endParaRPr>
          </a:p>
        </p:txBody>
      </p:sp>
      <p:sp>
        <p:nvSpPr>
          <p:cNvPr id="72" name="직사각형 71"/>
          <p:cNvSpPr/>
          <p:nvPr/>
        </p:nvSpPr>
        <p:spPr>
          <a:xfrm>
            <a:off x="3890960" y="3405584"/>
            <a:ext cx="1138242" cy="22800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한국출원</a:t>
            </a:r>
            <a:r>
              <a:rPr lang="en-US" altLang="ko-KR" sz="1000" dirty="0">
                <a:solidFill>
                  <a:schemeClr val="tx1"/>
                </a:solidFill>
              </a:rPr>
              <a:t>(Y)</a:t>
            </a:r>
            <a:endParaRPr lang="ko-KR" altLang="en-US" sz="1000" dirty="0">
              <a:solidFill>
                <a:schemeClr val="tx1"/>
              </a:solidFill>
            </a:endParaRPr>
          </a:p>
        </p:txBody>
      </p:sp>
      <p:sp>
        <p:nvSpPr>
          <p:cNvPr id="73" name="직사각형 72"/>
          <p:cNvSpPr/>
          <p:nvPr/>
        </p:nvSpPr>
        <p:spPr>
          <a:xfrm>
            <a:off x="3890960" y="3633588"/>
            <a:ext cx="1138242" cy="22800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 </a:t>
            </a:r>
            <a:r>
              <a:rPr lang="ko-KR" altLang="en-US" sz="1000" dirty="0">
                <a:solidFill>
                  <a:schemeClr val="tx1"/>
                </a:solidFill>
              </a:rPr>
              <a:t>기초 </a:t>
            </a:r>
            <a:r>
              <a:rPr lang="ko-KR" altLang="en-US" sz="1000" dirty="0" err="1">
                <a:solidFill>
                  <a:schemeClr val="tx1"/>
                </a:solidFill>
              </a:rPr>
              <a:t>우선권주장</a:t>
            </a:r>
            <a:endParaRPr lang="ko-KR" altLang="en-US" sz="1000" dirty="0">
              <a:solidFill>
                <a:schemeClr val="tx1"/>
              </a:solidFill>
            </a:endParaRPr>
          </a:p>
        </p:txBody>
      </p:sp>
      <p:sp>
        <p:nvSpPr>
          <p:cNvPr id="74" name="직사각형 73"/>
          <p:cNvSpPr/>
          <p:nvPr/>
        </p:nvSpPr>
        <p:spPr>
          <a:xfrm>
            <a:off x="2824162" y="3009907"/>
            <a:ext cx="1514475" cy="2280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a:t>
            </a:r>
          </a:p>
        </p:txBody>
      </p:sp>
      <p:sp>
        <p:nvSpPr>
          <p:cNvPr id="75" name="직사각형 74"/>
          <p:cNvSpPr/>
          <p:nvPr/>
        </p:nvSpPr>
        <p:spPr>
          <a:xfrm>
            <a:off x="5436613" y="3405584"/>
            <a:ext cx="1138242" cy="22800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설정등록</a:t>
            </a:r>
            <a:r>
              <a:rPr lang="en-US" altLang="ko-KR" sz="1000" dirty="0">
                <a:solidFill>
                  <a:schemeClr val="tx1"/>
                </a:solidFill>
              </a:rPr>
              <a:t>(Y)</a:t>
            </a:r>
            <a:endParaRPr lang="ko-KR" altLang="en-US" sz="1000" dirty="0">
              <a:solidFill>
                <a:schemeClr val="tx1"/>
              </a:solidFill>
            </a:endParaRPr>
          </a:p>
        </p:txBody>
      </p:sp>
      <p:sp>
        <p:nvSpPr>
          <p:cNvPr id="76" name="직사각형 75"/>
          <p:cNvSpPr/>
          <p:nvPr/>
        </p:nvSpPr>
        <p:spPr>
          <a:xfrm>
            <a:off x="6150772" y="2809882"/>
            <a:ext cx="1514475" cy="2280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4</a:t>
            </a:r>
            <a:r>
              <a:rPr lang="ko-KR" altLang="en-US" sz="1000" dirty="0">
                <a:solidFill>
                  <a:schemeClr val="tx1"/>
                </a:solidFill>
              </a:rPr>
              <a:t>년</a:t>
            </a:r>
          </a:p>
        </p:txBody>
      </p:sp>
      <p:sp>
        <p:nvSpPr>
          <p:cNvPr id="80" name="직사각형 79"/>
          <p:cNvSpPr/>
          <p:nvPr/>
        </p:nvSpPr>
        <p:spPr>
          <a:xfrm>
            <a:off x="6150772" y="4030479"/>
            <a:ext cx="1514475" cy="2280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3</a:t>
            </a:r>
            <a:r>
              <a:rPr lang="ko-KR" altLang="en-US" sz="1000" dirty="0">
                <a:solidFill>
                  <a:schemeClr val="tx1"/>
                </a:solidFill>
              </a:rPr>
              <a:t>년 이상 계속 </a:t>
            </a:r>
            <a:r>
              <a:rPr lang="ko-KR" altLang="en-US" sz="1000" dirty="0" err="1">
                <a:solidFill>
                  <a:schemeClr val="tx1"/>
                </a:solidFill>
              </a:rPr>
              <a:t>불실시</a:t>
            </a:r>
            <a:endParaRPr lang="ko-KR" altLang="en-US" sz="1000" dirty="0">
              <a:solidFill>
                <a:schemeClr val="tx1"/>
              </a:solidFill>
            </a:endParaRPr>
          </a:p>
        </p:txBody>
      </p:sp>
      <p:sp>
        <p:nvSpPr>
          <p:cNvPr id="82" name="Rectangle 14"/>
          <p:cNvSpPr>
            <a:spLocks noChangeArrowheads="1"/>
          </p:cNvSpPr>
          <p:nvPr/>
        </p:nvSpPr>
        <p:spPr bwMode="auto">
          <a:xfrm flipV="1">
            <a:off x="8939806" y="3456783"/>
            <a:ext cx="144858" cy="122299"/>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0" name="TextBox 89"/>
          <p:cNvSpPr txBox="1"/>
          <p:nvPr/>
        </p:nvSpPr>
        <p:spPr>
          <a:xfrm>
            <a:off x="9791681" y="3170388"/>
            <a:ext cx="922047" cy="338554"/>
          </a:xfrm>
          <a:prstGeom prst="rect">
            <a:avLst/>
          </a:prstGeom>
          <a:noFill/>
        </p:spPr>
        <p:txBody>
          <a:bodyPr wrap="none" rtlCol="0">
            <a:spAutoFit/>
          </a:bodyPr>
          <a:lstStyle/>
          <a:p>
            <a:r>
              <a:rPr lang="ko-KR" altLang="en-US" sz="1600" dirty="0" err="1">
                <a:solidFill>
                  <a:srgbClr val="FF0000"/>
                </a:solidFill>
              </a:rPr>
              <a:t>재정청구</a:t>
            </a:r>
            <a:endParaRPr lang="ko-KR" altLang="en-US" sz="1600" dirty="0">
              <a:solidFill>
                <a:srgbClr val="FF0000"/>
              </a:solidFill>
            </a:endParaRPr>
          </a:p>
        </p:txBody>
      </p:sp>
      <p:sp>
        <p:nvSpPr>
          <p:cNvPr id="94" name="양쪽 모서리가 둥근 사각형 93"/>
          <p:cNvSpPr/>
          <p:nvPr/>
        </p:nvSpPr>
        <p:spPr>
          <a:xfrm rot="10800000">
            <a:off x="5969145" y="5331297"/>
            <a:ext cx="1888979" cy="473324"/>
          </a:xfrm>
          <a:prstGeom prst="round2SameRect">
            <a:avLst>
              <a:gd name="adj1" fmla="val 50000"/>
              <a:gd name="adj2" fmla="val 0"/>
            </a:avLst>
          </a:prstGeom>
          <a:pattFill prst="dkHorz">
            <a:fgClr>
              <a:schemeClr val="bg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5" name="양쪽 모서리가 둥근 사각형 94"/>
          <p:cNvSpPr/>
          <p:nvPr/>
        </p:nvSpPr>
        <p:spPr>
          <a:xfrm>
            <a:off x="4577843" y="4831436"/>
            <a:ext cx="3637579" cy="473324"/>
          </a:xfrm>
          <a:prstGeom prst="round2SameRect">
            <a:avLst>
              <a:gd name="adj1" fmla="val 50000"/>
              <a:gd name="adj2" fmla="val 0"/>
            </a:avLst>
          </a:prstGeom>
          <a:pattFill prst="dkHorz">
            <a:fgClr>
              <a:schemeClr val="accent2">
                <a:lumMod val="60000"/>
                <a:lumOff val="4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6" name="양쪽 모서리가 둥근 사각형 95"/>
          <p:cNvSpPr/>
          <p:nvPr/>
        </p:nvSpPr>
        <p:spPr>
          <a:xfrm>
            <a:off x="2600325" y="5002918"/>
            <a:ext cx="1933576" cy="301842"/>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7" name="직선 연결선 96"/>
          <p:cNvCxnSpPr>
            <a:stCxn id="98" idx="1"/>
          </p:cNvCxnSpPr>
          <p:nvPr/>
        </p:nvCxnSpPr>
        <p:spPr>
          <a:xfrm>
            <a:off x="1843087" y="5304761"/>
            <a:ext cx="978693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8" name="직사각형 97"/>
          <p:cNvSpPr/>
          <p:nvPr/>
        </p:nvSpPr>
        <p:spPr>
          <a:xfrm>
            <a:off x="2031204" y="5190759"/>
            <a:ext cx="1138242" cy="228004"/>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a:t>
            </a:r>
            <a:r>
              <a:rPr lang="ko-KR" altLang="en-US" sz="1000" dirty="0" err="1">
                <a:solidFill>
                  <a:schemeClr val="tx1"/>
                </a:solidFill>
              </a:rPr>
              <a:t>일본출원</a:t>
            </a:r>
            <a:r>
              <a:rPr lang="en-US" altLang="ko-KR" sz="1000" dirty="0">
                <a:solidFill>
                  <a:schemeClr val="tx1"/>
                </a:solidFill>
              </a:rPr>
              <a:t>(X)</a:t>
            </a:r>
            <a:endParaRPr lang="ko-KR" altLang="en-US" sz="1000" dirty="0">
              <a:solidFill>
                <a:schemeClr val="tx1"/>
              </a:solidFill>
            </a:endParaRPr>
          </a:p>
        </p:txBody>
      </p:sp>
      <p:sp>
        <p:nvSpPr>
          <p:cNvPr id="99" name="직사각형 98"/>
          <p:cNvSpPr/>
          <p:nvPr/>
        </p:nvSpPr>
        <p:spPr>
          <a:xfrm>
            <a:off x="3890960" y="5190759"/>
            <a:ext cx="1138242" cy="22800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한국출원</a:t>
            </a:r>
            <a:r>
              <a:rPr lang="en-US" altLang="ko-KR" sz="1000" dirty="0">
                <a:solidFill>
                  <a:schemeClr val="tx1"/>
                </a:solidFill>
              </a:rPr>
              <a:t>(Y)</a:t>
            </a:r>
            <a:endParaRPr lang="ko-KR" altLang="en-US" sz="1000" dirty="0">
              <a:solidFill>
                <a:schemeClr val="tx1"/>
              </a:solidFill>
            </a:endParaRPr>
          </a:p>
        </p:txBody>
      </p:sp>
      <p:sp>
        <p:nvSpPr>
          <p:cNvPr id="100" name="직사각형 99"/>
          <p:cNvSpPr/>
          <p:nvPr/>
        </p:nvSpPr>
        <p:spPr>
          <a:xfrm>
            <a:off x="3890960" y="5418763"/>
            <a:ext cx="1138242" cy="22800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 </a:t>
            </a:r>
            <a:r>
              <a:rPr lang="ko-KR" altLang="en-US" sz="1000" dirty="0">
                <a:solidFill>
                  <a:schemeClr val="tx1"/>
                </a:solidFill>
              </a:rPr>
              <a:t>기초 </a:t>
            </a:r>
            <a:r>
              <a:rPr lang="ko-KR" altLang="en-US" sz="1000" dirty="0" err="1">
                <a:solidFill>
                  <a:schemeClr val="tx1"/>
                </a:solidFill>
              </a:rPr>
              <a:t>우선권주장</a:t>
            </a:r>
            <a:endParaRPr lang="ko-KR" altLang="en-US" sz="1000" dirty="0">
              <a:solidFill>
                <a:schemeClr val="tx1"/>
              </a:solidFill>
            </a:endParaRPr>
          </a:p>
        </p:txBody>
      </p:sp>
      <p:sp>
        <p:nvSpPr>
          <p:cNvPr id="101" name="직사각형 100"/>
          <p:cNvSpPr/>
          <p:nvPr/>
        </p:nvSpPr>
        <p:spPr>
          <a:xfrm>
            <a:off x="2824162" y="4795082"/>
            <a:ext cx="1514475" cy="2280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a:t>
            </a:r>
          </a:p>
        </p:txBody>
      </p:sp>
      <p:sp>
        <p:nvSpPr>
          <p:cNvPr id="102" name="직사각형 101"/>
          <p:cNvSpPr/>
          <p:nvPr/>
        </p:nvSpPr>
        <p:spPr>
          <a:xfrm>
            <a:off x="5436613" y="5190759"/>
            <a:ext cx="1138242" cy="22800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심사청구</a:t>
            </a:r>
            <a:r>
              <a:rPr lang="en-US" altLang="ko-KR" sz="1000" dirty="0">
                <a:solidFill>
                  <a:schemeClr val="tx1"/>
                </a:solidFill>
              </a:rPr>
              <a:t>(Y)</a:t>
            </a:r>
            <a:endParaRPr lang="ko-KR" altLang="en-US" sz="1000" dirty="0">
              <a:solidFill>
                <a:schemeClr val="tx1"/>
              </a:solidFill>
            </a:endParaRPr>
          </a:p>
        </p:txBody>
      </p:sp>
      <p:sp>
        <p:nvSpPr>
          <p:cNvPr id="103" name="직사각형 102"/>
          <p:cNvSpPr/>
          <p:nvPr/>
        </p:nvSpPr>
        <p:spPr>
          <a:xfrm>
            <a:off x="5026822" y="4509332"/>
            <a:ext cx="1514475" cy="2280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4</a:t>
            </a:r>
            <a:r>
              <a:rPr lang="ko-KR" altLang="en-US" sz="1000" dirty="0">
                <a:solidFill>
                  <a:schemeClr val="tx1"/>
                </a:solidFill>
              </a:rPr>
              <a:t>년</a:t>
            </a:r>
          </a:p>
        </p:txBody>
      </p:sp>
      <p:sp>
        <p:nvSpPr>
          <p:cNvPr id="116" name="직사각형 115"/>
          <p:cNvSpPr/>
          <p:nvPr/>
        </p:nvSpPr>
        <p:spPr>
          <a:xfrm>
            <a:off x="6150772" y="5815654"/>
            <a:ext cx="1514475" cy="2280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3</a:t>
            </a:r>
            <a:r>
              <a:rPr lang="ko-KR" altLang="en-US" sz="1000" dirty="0">
                <a:solidFill>
                  <a:schemeClr val="tx1"/>
                </a:solidFill>
              </a:rPr>
              <a:t>년</a:t>
            </a:r>
          </a:p>
        </p:txBody>
      </p:sp>
      <p:sp>
        <p:nvSpPr>
          <p:cNvPr id="139" name="직사각형 138"/>
          <p:cNvSpPr/>
          <p:nvPr/>
        </p:nvSpPr>
        <p:spPr>
          <a:xfrm>
            <a:off x="9687889" y="5190759"/>
            <a:ext cx="1138242" cy="22800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설정등록</a:t>
            </a:r>
            <a:r>
              <a:rPr lang="en-US" altLang="ko-KR" sz="1000" dirty="0">
                <a:solidFill>
                  <a:schemeClr val="tx1"/>
                </a:solidFill>
              </a:rPr>
              <a:t>(Y)</a:t>
            </a:r>
            <a:endParaRPr lang="ko-KR" altLang="en-US" sz="1000" dirty="0">
              <a:solidFill>
                <a:schemeClr val="tx1"/>
              </a:solidFill>
            </a:endParaRPr>
          </a:p>
        </p:txBody>
      </p:sp>
      <p:sp>
        <p:nvSpPr>
          <p:cNvPr id="141" name="TextBox 140"/>
          <p:cNvSpPr txBox="1"/>
          <p:nvPr/>
        </p:nvSpPr>
        <p:spPr>
          <a:xfrm>
            <a:off x="8466666" y="4407940"/>
            <a:ext cx="1717137" cy="338554"/>
          </a:xfrm>
          <a:prstGeom prst="rect">
            <a:avLst/>
          </a:prstGeom>
          <a:noFill/>
        </p:spPr>
        <p:txBody>
          <a:bodyPr wrap="none" rtlCol="0">
            <a:spAutoFit/>
          </a:bodyPr>
          <a:lstStyle/>
          <a:p>
            <a:r>
              <a:rPr lang="ko-KR" altLang="en-US" sz="1600" dirty="0">
                <a:solidFill>
                  <a:srgbClr val="FF0000"/>
                </a:solidFill>
              </a:rPr>
              <a:t>존속기간 연장가능</a:t>
            </a:r>
          </a:p>
        </p:txBody>
      </p:sp>
      <p:sp>
        <p:nvSpPr>
          <p:cNvPr id="142" name="직사각형 141"/>
          <p:cNvSpPr/>
          <p:nvPr/>
        </p:nvSpPr>
        <p:spPr>
          <a:xfrm>
            <a:off x="857250" y="1068881"/>
            <a:ext cx="10925176" cy="1565860"/>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3" name="모서리가 둥근 직사각형 142"/>
          <p:cNvSpPr/>
          <p:nvPr/>
        </p:nvSpPr>
        <p:spPr>
          <a:xfrm>
            <a:off x="134759" y="1506890"/>
            <a:ext cx="1452564" cy="672132"/>
          </a:xfrm>
          <a:prstGeom prst="round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accent4">
                    <a:lumMod val="40000"/>
                    <a:lumOff val="60000"/>
                  </a:schemeClr>
                </a:solidFill>
              </a:rPr>
              <a:t>심사청구</a:t>
            </a:r>
            <a:endParaRPr lang="en-US" altLang="ko-KR" sz="1400" dirty="0">
              <a:solidFill>
                <a:schemeClr val="accent4">
                  <a:lumMod val="40000"/>
                  <a:lumOff val="60000"/>
                </a:schemeClr>
              </a:solidFill>
            </a:endParaRPr>
          </a:p>
          <a:p>
            <a:pPr algn="ctr"/>
            <a:r>
              <a:rPr lang="ko-KR" altLang="en-US" sz="1400" dirty="0">
                <a:solidFill>
                  <a:schemeClr val="accent4">
                    <a:lumMod val="40000"/>
                    <a:lumOff val="60000"/>
                  </a:schemeClr>
                </a:solidFill>
              </a:rPr>
              <a:t>존속기간</a:t>
            </a:r>
          </a:p>
        </p:txBody>
      </p:sp>
      <p:sp>
        <p:nvSpPr>
          <p:cNvPr id="144" name="직사각형 143"/>
          <p:cNvSpPr/>
          <p:nvPr/>
        </p:nvSpPr>
        <p:spPr>
          <a:xfrm>
            <a:off x="857250" y="2715468"/>
            <a:ext cx="10925176" cy="1565860"/>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모서리가 둥근 직사각형 144"/>
          <p:cNvSpPr/>
          <p:nvPr/>
        </p:nvSpPr>
        <p:spPr>
          <a:xfrm>
            <a:off x="134759" y="3173683"/>
            <a:ext cx="1452564" cy="672134"/>
          </a:xfrm>
          <a:prstGeom prst="round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accent4">
                    <a:lumMod val="40000"/>
                    <a:lumOff val="60000"/>
                  </a:schemeClr>
                </a:solidFill>
              </a:rPr>
              <a:t>재정</a:t>
            </a:r>
            <a:endParaRPr lang="en-US" altLang="ko-KR" sz="1400" dirty="0">
              <a:solidFill>
                <a:schemeClr val="accent4">
                  <a:lumMod val="40000"/>
                  <a:lumOff val="60000"/>
                </a:schemeClr>
              </a:solidFill>
            </a:endParaRPr>
          </a:p>
        </p:txBody>
      </p:sp>
      <p:sp>
        <p:nvSpPr>
          <p:cNvPr id="146" name="직사각형 145"/>
          <p:cNvSpPr/>
          <p:nvPr/>
        </p:nvSpPr>
        <p:spPr>
          <a:xfrm>
            <a:off x="857250" y="4345730"/>
            <a:ext cx="10925176" cy="1708959"/>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모서리가 둥근 직사각형 146"/>
          <p:cNvSpPr/>
          <p:nvPr/>
        </p:nvSpPr>
        <p:spPr>
          <a:xfrm>
            <a:off x="134759" y="4803946"/>
            <a:ext cx="1452564" cy="672134"/>
          </a:xfrm>
          <a:prstGeom prst="round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accent4">
                    <a:lumMod val="40000"/>
                    <a:lumOff val="60000"/>
                  </a:schemeClr>
                </a:solidFill>
              </a:rPr>
              <a:t>등록지연에 따른 </a:t>
            </a:r>
            <a:endParaRPr lang="en-US" altLang="ko-KR" sz="1400" dirty="0">
              <a:solidFill>
                <a:schemeClr val="accent4">
                  <a:lumMod val="40000"/>
                  <a:lumOff val="60000"/>
                </a:schemeClr>
              </a:solidFill>
            </a:endParaRPr>
          </a:p>
          <a:p>
            <a:pPr algn="ctr"/>
            <a:r>
              <a:rPr lang="ko-KR" altLang="en-US" sz="1400" dirty="0">
                <a:solidFill>
                  <a:schemeClr val="accent4">
                    <a:lumMod val="40000"/>
                    <a:lumOff val="60000"/>
                  </a:schemeClr>
                </a:solidFill>
              </a:rPr>
              <a:t>존속기간 연장</a:t>
            </a:r>
            <a:endParaRPr lang="en-US" altLang="ko-KR" sz="1400" dirty="0">
              <a:solidFill>
                <a:schemeClr val="accent4">
                  <a:lumMod val="40000"/>
                  <a:lumOff val="60000"/>
                </a:schemeClr>
              </a:solidFill>
            </a:endParaRPr>
          </a:p>
        </p:txBody>
      </p:sp>
      <p:sp>
        <p:nvSpPr>
          <p:cNvPr id="63" name="Rectangle 14"/>
          <p:cNvSpPr>
            <a:spLocks noChangeArrowheads="1"/>
          </p:cNvSpPr>
          <p:nvPr/>
        </p:nvSpPr>
        <p:spPr bwMode="auto">
          <a:xfrm flipV="1">
            <a:off x="8154770" y="5234085"/>
            <a:ext cx="144858" cy="122299"/>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 name="슬라이드 번호 개체 틀 2"/>
          <p:cNvSpPr>
            <a:spLocks noGrp="1"/>
          </p:cNvSpPr>
          <p:nvPr>
            <p:ph type="sldNum" sz="quarter" idx="12"/>
          </p:nvPr>
        </p:nvSpPr>
        <p:spPr/>
        <p:txBody>
          <a:bodyPr/>
          <a:lstStyle/>
          <a:p>
            <a:r>
              <a:rPr lang="en-US" altLang="ko-KR"/>
              <a:t>223</a:t>
            </a:r>
            <a:endParaRPr lang="ko-KR" altLang="en-US"/>
          </a:p>
        </p:txBody>
      </p:sp>
    </p:spTree>
    <p:extLst>
      <p:ext uri="{BB962C8B-B14F-4D97-AF65-F5344CB8AC3E}">
        <p14:creationId xmlns:p14="http://schemas.microsoft.com/office/powerpoint/2010/main" val="1716621162"/>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양쪽 모서리가 둥근 사각형 177">
            <a:extLst>
              <a:ext uri="{FF2B5EF4-FFF2-40B4-BE49-F238E27FC236}">
                <a16:creationId xmlns:a16="http://schemas.microsoft.com/office/drawing/2014/main" id="{DDC0CD7B-165F-1030-3914-83FAB19C8A7D}"/>
              </a:ext>
            </a:extLst>
          </p:cNvPr>
          <p:cNvSpPr/>
          <p:nvPr/>
        </p:nvSpPr>
        <p:spPr>
          <a:xfrm rot="10800000">
            <a:off x="1722792" y="5665291"/>
            <a:ext cx="4184469" cy="647018"/>
          </a:xfrm>
          <a:prstGeom prst="round2SameRect">
            <a:avLst>
              <a:gd name="adj1" fmla="val 50000"/>
              <a:gd name="adj2" fmla="val 0"/>
            </a:avLst>
          </a:prstGeom>
          <a:pattFill prst="dotGrid">
            <a:fgClr>
              <a:schemeClr val="accent2">
                <a:lumMod val="50000"/>
              </a:schemeClr>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4" name="제목 3"/>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5" name="텍스트 개체 틀 4"/>
          <p:cNvSpPr>
            <a:spLocks noGrp="1"/>
          </p:cNvSpPr>
          <p:nvPr>
            <p:ph type="body" sz="quarter" idx="13"/>
          </p:nvPr>
        </p:nvSpPr>
        <p:spPr/>
        <p:txBody>
          <a:bodyPr/>
          <a:lstStyle/>
          <a:p>
            <a:r>
              <a:rPr lang="ko-KR" altLang="en-US" dirty="0"/>
              <a:t>공지예외적용주장을 수반하는 조약우선권주장출원</a:t>
            </a:r>
          </a:p>
        </p:txBody>
      </p:sp>
      <p:sp>
        <p:nvSpPr>
          <p:cNvPr id="133" name="직사각형 132"/>
          <p:cNvSpPr/>
          <p:nvPr/>
        </p:nvSpPr>
        <p:spPr>
          <a:xfrm>
            <a:off x="8934450"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심</a:t>
            </a:r>
          </a:p>
        </p:txBody>
      </p:sp>
      <p:sp>
        <p:nvSpPr>
          <p:cNvPr id="134" name="직사각형 133"/>
          <p:cNvSpPr/>
          <p:nvPr/>
        </p:nvSpPr>
        <p:spPr>
          <a:xfrm>
            <a:off x="9561203" y="6181761"/>
            <a:ext cx="514350" cy="514350"/>
          </a:xfrm>
          <a:prstGeom prst="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공</a:t>
            </a:r>
          </a:p>
        </p:txBody>
      </p:sp>
      <p:sp>
        <p:nvSpPr>
          <p:cNvPr id="135" name="직사각형 134"/>
          <p:cNvSpPr/>
          <p:nvPr/>
        </p:nvSpPr>
        <p:spPr>
          <a:xfrm>
            <a:off x="10187956"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존</a:t>
            </a:r>
          </a:p>
        </p:txBody>
      </p:sp>
      <p:sp>
        <p:nvSpPr>
          <p:cNvPr id="136" name="직사각형 135"/>
          <p:cNvSpPr/>
          <p:nvPr/>
        </p:nvSpPr>
        <p:spPr>
          <a:xfrm>
            <a:off x="10803760"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재</a:t>
            </a:r>
          </a:p>
        </p:txBody>
      </p:sp>
      <p:sp>
        <p:nvSpPr>
          <p:cNvPr id="137" name="직사각형 136"/>
          <p:cNvSpPr/>
          <p:nvPr/>
        </p:nvSpPr>
        <p:spPr>
          <a:xfrm>
            <a:off x="11394310"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등</a:t>
            </a:r>
          </a:p>
        </p:txBody>
      </p:sp>
      <p:graphicFrame>
        <p:nvGraphicFramePr>
          <p:cNvPr id="67" name="표 66"/>
          <p:cNvGraphicFramePr>
            <a:graphicFrameLocks noGrp="1"/>
          </p:cNvGraphicFramePr>
          <p:nvPr/>
        </p:nvGraphicFramePr>
        <p:xfrm>
          <a:off x="466724" y="1040160"/>
          <a:ext cx="11239502" cy="1449992"/>
        </p:xfrm>
        <a:graphic>
          <a:graphicData uri="http://schemas.openxmlformats.org/drawingml/2006/table">
            <a:tbl>
              <a:tblPr>
                <a:tableStyleId>{8799B23B-EC83-4686-B30A-512413B5E67A}</a:tableStyleId>
              </a:tblPr>
              <a:tblGrid>
                <a:gridCol w="3001095">
                  <a:extLst>
                    <a:ext uri="{9D8B030D-6E8A-4147-A177-3AD203B41FA5}">
                      <a16:colId xmlns:a16="http://schemas.microsoft.com/office/drawing/2014/main" val="20000"/>
                    </a:ext>
                  </a:extLst>
                </a:gridCol>
                <a:gridCol w="4707993">
                  <a:extLst>
                    <a:ext uri="{9D8B030D-6E8A-4147-A177-3AD203B41FA5}">
                      <a16:colId xmlns:a16="http://schemas.microsoft.com/office/drawing/2014/main" val="20001"/>
                    </a:ext>
                  </a:extLst>
                </a:gridCol>
                <a:gridCol w="3530414">
                  <a:extLst>
                    <a:ext uri="{9D8B030D-6E8A-4147-A177-3AD203B41FA5}">
                      <a16:colId xmlns:a16="http://schemas.microsoft.com/office/drawing/2014/main" val="20002"/>
                    </a:ext>
                  </a:extLst>
                </a:gridCol>
              </a:tblGrid>
              <a:tr h="245336">
                <a:tc>
                  <a:txBody>
                    <a:bodyPr/>
                    <a:lstStyle/>
                    <a:p>
                      <a:pPr marL="0" marR="0" indent="0" algn="ctr" fontAlgn="base" latinLnBrk="0">
                        <a:lnSpc>
                          <a:spcPct val="120000"/>
                        </a:lnSpc>
                        <a:spcBef>
                          <a:spcPts val="0"/>
                        </a:spcBef>
                        <a:spcAft>
                          <a:spcPts val="0"/>
                        </a:spcAft>
                      </a:pPr>
                      <a:r>
                        <a:rPr lang="ko-KR" altLang="en-US" sz="1100" kern="1200" dirty="0">
                          <a:solidFill>
                            <a:schemeClr val="tx1"/>
                          </a:solidFill>
                          <a:latin typeface="+mn-lt"/>
                          <a:ea typeface="+mn-ea"/>
                          <a:cs typeface="+mn-cs"/>
                        </a:rPr>
                        <a:t>구  분</a:t>
                      </a:r>
                    </a:p>
                  </a:txBody>
                  <a:tcPr marL="72000" marR="7200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en-US" altLang="ko-KR" sz="1100" kern="1200" dirty="0">
                          <a:solidFill>
                            <a:schemeClr val="tx1"/>
                          </a:solidFill>
                          <a:latin typeface="+mn-lt"/>
                          <a:ea typeface="+mn-ea"/>
                          <a:cs typeface="+mn-cs"/>
                        </a:rPr>
                        <a:t>12</a:t>
                      </a:r>
                      <a:r>
                        <a:rPr lang="ko-KR" altLang="en-US" sz="1100" kern="1200" dirty="0">
                          <a:solidFill>
                            <a:schemeClr val="tx1"/>
                          </a:solidFill>
                          <a:latin typeface="+mn-lt"/>
                          <a:ea typeface="+mn-ea"/>
                          <a:cs typeface="+mn-cs"/>
                        </a:rPr>
                        <a:t>개월</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法 </a:t>
                      </a:r>
                      <a:r>
                        <a:rPr lang="en-US" altLang="ko-KR" sz="1100" kern="1200" dirty="0">
                          <a:solidFill>
                            <a:schemeClr val="tx1"/>
                          </a:solidFill>
                          <a:latin typeface="+mn-lt"/>
                          <a:ea typeface="+mn-ea"/>
                          <a:cs typeface="+mn-cs"/>
                        </a:rPr>
                        <a:t>30</a:t>
                      </a:r>
                      <a:r>
                        <a:rPr lang="ko-KR" altLang="en-US" sz="1100" kern="1200" dirty="0">
                          <a:solidFill>
                            <a:schemeClr val="tx1"/>
                          </a:solidFill>
                          <a:latin typeface="+mn-lt"/>
                          <a:ea typeface="+mn-ea"/>
                          <a:cs typeface="+mn-cs"/>
                        </a:rPr>
                        <a:t>①</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100" kern="1200" dirty="0">
                          <a:solidFill>
                            <a:schemeClr val="tx1"/>
                          </a:solidFill>
                          <a:latin typeface="+mn-lt"/>
                          <a:ea typeface="+mn-ea"/>
                          <a:cs typeface="+mn-cs"/>
                        </a:rPr>
                        <a:t>취지기재서면 및 증명서류</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法 </a:t>
                      </a:r>
                      <a:r>
                        <a:rPr lang="en-US" altLang="ko-KR" sz="1100" kern="1200" dirty="0">
                          <a:solidFill>
                            <a:schemeClr val="tx1"/>
                          </a:solidFill>
                          <a:latin typeface="+mn-lt"/>
                          <a:ea typeface="+mn-ea"/>
                          <a:cs typeface="+mn-cs"/>
                        </a:rPr>
                        <a:t>30</a:t>
                      </a:r>
                      <a:r>
                        <a:rPr lang="ko-KR" altLang="en-US" sz="1100" kern="1200" dirty="0">
                          <a:solidFill>
                            <a:schemeClr val="tx1"/>
                          </a:solidFill>
                          <a:latin typeface="+mn-lt"/>
                          <a:ea typeface="+mn-ea"/>
                          <a:cs typeface="+mn-cs"/>
                        </a:rPr>
                        <a:t>②</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72000" marR="72000" marT="17907" marB="17907" anchor="ctr">
                    <a:solidFill>
                      <a:schemeClr val="accent1">
                        <a:lumMod val="20000"/>
                        <a:lumOff val="80000"/>
                      </a:schemeClr>
                    </a:solidFill>
                  </a:tcPr>
                </a:tc>
                <a:extLst>
                  <a:ext uri="{0D108BD9-81ED-4DB2-BD59-A6C34878D82A}">
                    <a16:rowId xmlns:a16="http://schemas.microsoft.com/office/drawing/2014/main" val="10000"/>
                  </a:ext>
                </a:extLst>
              </a:tr>
              <a:tr h="247236">
                <a:tc>
                  <a:txBody>
                    <a:bodyPr/>
                    <a:lstStyle/>
                    <a:p>
                      <a:pPr marL="0" marR="0" indent="0" algn="ctr" fontAlgn="base" latinLnBrk="0">
                        <a:lnSpc>
                          <a:spcPct val="120000"/>
                        </a:lnSpc>
                        <a:spcBef>
                          <a:spcPts val="0"/>
                        </a:spcBef>
                        <a:spcAft>
                          <a:spcPts val="0"/>
                        </a:spcAft>
                      </a:pPr>
                      <a:r>
                        <a:rPr lang="ko-KR" altLang="en-US" sz="1100" kern="1200" dirty="0">
                          <a:solidFill>
                            <a:schemeClr val="tx1"/>
                          </a:solidFill>
                          <a:latin typeface="+mn-lt"/>
                          <a:ea typeface="+mn-ea"/>
                          <a:cs typeface="+mn-cs"/>
                        </a:rPr>
                        <a:t>분할출원 </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法 </a:t>
                      </a:r>
                      <a:r>
                        <a:rPr lang="en-US" altLang="ko-KR" sz="1100" kern="1200" dirty="0">
                          <a:solidFill>
                            <a:schemeClr val="tx1"/>
                          </a:solidFill>
                          <a:latin typeface="+mn-lt"/>
                          <a:ea typeface="+mn-ea"/>
                          <a:cs typeface="+mn-cs"/>
                        </a:rPr>
                        <a:t>52</a:t>
                      </a:r>
                      <a:r>
                        <a:rPr lang="ko-KR" altLang="en-US" sz="1100" kern="1200" dirty="0">
                          <a:solidFill>
                            <a:schemeClr val="tx1"/>
                          </a:solidFill>
                          <a:latin typeface="+mn-lt"/>
                          <a:ea typeface="+mn-ea"/>
                          <a:cs typeface="+mn-cs"/>
                        </a:rPr>
                        <a:t>②</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72000" marR="72000" marT="17907" marB="17907" anchor="ctr"/>
                </a:tc>
                <a:tc>
                  <a:txBody>
                    <a:bodyPr/>
                    <a:lstStyle/>
                    <a:p>
                      <a:pPr marL="17780" marR="17780" indent="0" algn="ctr" fontAlgn="base" latinLnBrk="0">
                        <a:lnSpc>
                          <a:spcPct val="130000"/>
                        </a:lnSpc>
                        <a:spcBef>
                          <a:spcPts val="0"/>
                        </a:spcBef>
                        <a:spcAft>
                          <a:spcPts val="0"/>
                        </a:spcAft>
                      </a:pPr>
                      <a:r>
                        <a:rPr lang="ko-KR" altLang="en-US" sz="1100" kern="1200" dirty="0">
                          <a:solidFill>
                            <a:schemeClr val="tx1"/>
                          </a:solidFill>
                          <a:latin typeface="+mn-lt"/>
                          <a:ea typeface="+mn-ea"/>
                          <a:cs typeface="+mn-cs"/>
                        </a:rPr>
                        <a:t>소급효 ○</a:t>
                      </a:r>
                    </a:p>
                  </a:txBody>
                  <a:tcPr marL="72000" marR="72000" marT="17907" marB="17907" anchor="ctr"/>
                </a:tc>
                <a:tc>
                  <a:txBody>
                    <a:bodyPr/>
                    <a:lstStyle/>
                    <a:p>
                      <a:pPr marL="17780" marR="17780" indent="0" algn="ctr" fontAlgn="base" latinLnBrk="0">
                        <a:lnSpc>
                          <a:spcPct val="130000"/>
                        </a:lnSpc>
                        <a:spcBef>
                          <a:spcPts val="0"/>
                        </a:spcBef>
                        <a:spcAft>
                          <a:spcPts val="0"/>
                        </a:spcAft>
                      </a:pPr>
                      <a:r>
                        <a:rPr lang="ko-KR" altLang="en-US" sz="1100" kern="1200" dirty="0">
                          <a:solidFill>
                            <a:schemeClr val="tx1"/>
                          </a:solidFill>
                          <a:latin typeface="+mn-lt"/>
                          <a:ea typeface="+mn-ea"/>
                          <a:cs typeface="+mn-cs"/>
                        </a:rPr>
                        <a:t>소급효 </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72000" marR="72000" marT="17907" marB="17907" anchor="ctr"/>
                </a:tc>
                <a:extLst>
                  <a:ext uri="{0D108BD9-81ED-4DB2-BD59-A6C34878D82A}">
                    <a16:rowId xmlns:a16="http://schemas.microsoft.com/office/drawing/2014/main" val="10001"/>
                  </a:ext>
                </a:extLst>
              </a:tr>
              <a:tr h="123618">
                <a:tc>
                  <a:txBody>
                    <a:bodyPr/>
                    <a:lstStyle/>
                    <a:p>
                      <a:pPr marL="0" marR="0" indent="0" algn="ctr" fontAlgn="base" latinLnBrk="0">
                        <a:lnSpc>
                          <a:spcPct val="120000"/>
                        </a:lnSpc>
                        <a:spcBef>
                          <a:spcPts val="0"/>
                        </a:spcBef>
                        <a:spcAft>
                          <a:spcPts val="0"/>
                        </a:spcAft>
                      </a:pPr>
                      <a:r>
                        <a:rPr lang="ko-KR" altLang="en-US" sz="1100" kern="1200" dirty="0">
                          <a:solidFill>
                            <a:schemeClr val="tx1"/>
                          </a:solidFill>
                          <a:latin typeface="+mn-lt"/>
                          <a:ea typeface="+mn-ea"/>
                          <a:cs typeface="+mn-cs"/>
                        </a:rPr>
                        <a:t>분리출원 </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法 </a:t>
                      </a:r>
                      <a:r>
                        <a:rPr lang="en-US" altLang="ko-KR" sz="1100" kern="1200" dirty="0">
                          <a:solidFill>
                            <a:schemeClr val="tx1"/>
                          </a:solidFill>
                          <a:latin typeface="+mn-lt"/>
                          <a:ea typeface="+mn-ea"/>
                          <a:cs typeface="+mn-cs"/>
                        </a:rPr>
                        <a:t>52</a:t>
                      </a:r>
                      <a:r>
                        <a:rPr lang="ko-KR" altLang="en-US" sz="1100" kern="1200" dirty="0">
                          <a:solidFill>
                            <a:schemeClr val="tx1"/>
                          </a:solidFill>
                          <a:latin typeface="+mn-lt"/>
                          <a:ea typeface="+mn-ea"/>
                          <a:cs typeface="+mn-cs"/>
                        </a:rPr>
                        <a:t>의</a:t>
                      </a:r>
                      <a:r>
                        <a:rPr lang="en-US" altLang="ko-KR" sz="1100" kern="1200" dirty="0">
                          <a:solidFill>
                            <a:schemeClr val="tx1"/>
                          </a:solidFill>
                          <a:latin typeface="+mn-lt"/>
                          <a:ea typeface="+mn-ea"/>
                          <a:cs typeface="+mn-cs"/>
                        </a:rPr>
                        <a:t>2</a:t>
                      </a:r>
                      <a:r>
                        <a:rPr lang="ko-KR" altLang="en-US" sz="1100" kern="1200" dirty="0">
                          <a:solidFill>
                            <a:schemeClr val="tx1"/>
                          </a:solidFill>
                          <a:latin typeface="+mn-lt"/>
                          <a:ea typeface="+mn-ea"/>
                          <a:cs typeface="+mn-cs"/>
                        </a:rPr>
                        <a:t>②</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 </a:t>
                      </a:r>
                    </a:p>
                  </a:txBody>
                  <a:tcPr marL="72000" marR="72000" marT="17907" marB="17907" anchor="ctr"/>
                </a:tc>
                <a:tc>
                  <a:txBody>
                    <a:bodyPr/>
                    <a:lstStyle/>
                    <a:p>
                      <a:pPr marL="17780" marR="17780" indent="0" algn="ctr" fontAlgn="base" latinLnBrk="0">
                        <a:lnSpc>
                          <a:spcPct val="130000"/>
                        </a:lnSpc>
                        <a:spcBef>
                          <a:spcPts val="0"/>
                        </a:spcBef>
                        <a:spcAft>
                          <a:spcPts val="0"/>
                        </a:spcAft>
                      </a:pPr>
                      <a:r>
                        <a:rPr lang="ko-KR" altLang="en-US" sz="1100" kern="1200" dirty="0">
                          <a:solidFill>
                            <a:schemeClr val="tx1"/>
                          </a:solidFill>
                          <a:latin typeface="+mn-lt"/>
                          <a:ea typeface="+mn-ea"/>
                          <a:cs typeface="+mn-cs"/>
                        </a:rPr>
                        <a:t>소급효 ○</a:t>
                      </a:r>
                    </a:p>
                  </a:txBody>
                  <a:tcPr marL="72000" marR="72000" marT="17907" marB="17907" anchor="ctr"/>
                </a:tc>
                <a:tc>
                  <a:txBody>
                    <a:bodyPr/>
                    <a:lstStyle/>
                    <a:p>
                      <a:pPr marL="17780" marR="17780" indent="0" algn="ctr" fontAlgn="base" latinLnBrk="0">
                        <a:lnSpc>
                          <a:spcPct val="130000"/>
                        </a:lnSpc>
                        <a:spcBef>
                          <a:spcPts val="0"/>
                        </a:spcBef>
                        <a:spcAft>
                          <a:spcPts val="0"/>
                        </a:spcAft>
                      </a:pPr>
                      <a:r>
                        <a:rPr lang="ko-KR" altLang="en-US" sz="1100" kern="1200" dirty="0">
                          <a:solidFill>
                            <a:schemeClr val="tx1"/>
                          </a:solidFill>
                          <a:latin typeface="+mn-lt"/>
                          <a:ea typeface="+mn-ea"/>
                          <a:cs typeface="+mn-cs"/>
                        </a:rPr>
                        <a:t>소급효 </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72000" marR="72000" marT="17907" marB="17907" anchor="ctr"/>
                </a:tc>
                <a:extLst>
                  <a:ext uri="{0D108BD9-81ED-4DB2-BD59-A6C34878D82A}">
                    <a16:rowId xmlns:a16="http://schemas.microsoft.com/office/drawing/2014/main" val="10002"/>
                  </a:ext>
                </a:extLst>
              </a:tr>
              <a:tr h="123618">
                <a:tc>
                  <a:txBody>
                    <a:bodyPr/>
                    <a:lstStyle/>
                    <a:p>
                      <a:pPr marL="0" marR="0" lvl="0" indent="0" algn="ctr" defTabSz="914400" rtl="0" eaLnBrk="1" fontAlgn="base" latinLnBrk="0" hangingPunct="1">
                        <a:lnSpc>
                          <a:spcPct val="120000"/>
                        </a:lnSpc>
                        <a:spcBef>
                          <a:spcPts val="0"/>
                        </a:spcBef>
                        <a:spcAft>
                          <a:spcPts val="0"/>
                        </a:spcAft>
                        <a:buClrTx/>
                        <a:buSzTx/>
                        <a:buFontTx/>
                        <a:buNone/>
                        <a:tabLst/>
                        <a:defRPr/>
                      </a:pPr>
                      <a:r>
                        <a:rPr lang="ko-KR" altLang="en-US" sz="1100" kern="1200" dirty="0">
                          <a:solidFill>
                            <a:schemeClr val="tx1"/>
                          </a:solidFill>
                          <a:latin typeface="+mn-lt"/>
                          <a:ea typeface="+mn-ea"/>
                          <a:cs typeface="+mn-cs"/>
                        </a:rPr>
                        <a:t>변경출원 </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法 </a:t>
                      </a:r>
                      <a:r>
                        <a:rPr lang="en-US" altLang="ko-KR" sz="1100" kern="1200" dirty="0">
                          <a:solidFill>
                            <a:schemeClr val="tx1"/>
                          </a:solidFill>
                          <a:latin typeface="+mn-lt"/>
                          <a:ea typeface="+mn-ea"/>
                          <a:cs typeface="+mn-cs"/>
                        </a:rPr>
                        <a:t>53</a:t>
                      </a:r>
                      <a:r>
                        <a:rPr lang="ko-KR" altLang="en-US" sz="1100" kern="1200" dirty="0">
                          <a:solidFill>
                            <a:schemeClr val="tx1"/>
                          </a:solidFill>
                          <a:latin typeface="+mn-lt"/>
                          <a:ea typeface="+mn-ea"/>
                          <a:cs typeface="+mn-cs"/>
                        </a:rPr>
                        <a:t>②</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72000" marR="72000" marT="17907" marB="17907" anchor="ctr"/>
                </a:tc>
                <a:tc>
                  <a:txBody>
                    <a:bodyPr/>
                    <a:lstStyle/>
                    <a:p>
                      <a:pPr marL="17780" marR="17780" lvl="0" indent="0" algn="ctr" defTabSz="914400" rtl="0" eaLnBrk="1" fontAlgn="base" latinLnBrk="0" hangingPunct="1">
                        <a:lnSpc>
                          <a:spcPct val="130000"/>
                        </a:lnSpc>
                        <a:spcBef>
                          <a:spcPts val="0"/>
                        </a:spcBef>
                        <a:spcAft>
                          <a:spcPts val="0"/>
                        </a:spcAft>
                        <a:buClrTx/>
                        <a:buSzTx/>
                        <a:buFontTx/>
                        <a:buNone/>
                        <a:tabLst/>
                        <a:defRPr/>
                      </a:pPr>
                      <a:r>
                        <a:rPr lang="ko-KR" altLang="en-US" sz="1100" kern="1200" dirty="0">
                          <a:solidFill>
                            <a:schemeClr val="tx1"/>
                          </a:solidFill>
                          <a:latin typeface="+mn-lt"/>
                          <a:ea typeface="+mn-ea"/>
                          <a:cs typeface="+mn-cs"/>
                        </a:rPr>
                        <a:t>소급효 ○</a:t>
                      </a:r>
                    </a:p>
                  </a:txBody>
                  <a:tcPr marL="72000" marR="72000" marT="17907" marB="17907" anchor="ctr"/>
                </a:tc>
                <a:tc>
                  <a:txBody>
                    <a:bodyPr/>
                    <a:lstStyle/>
                    <a:p>
                      <a:pPr marL="17780" marR="17780" lvl="0" indent="0" algn="ctr" defTabSz="914400" rtl="0" eaLnBrk="1" fontAlgn="base" latinLnBrk="0" hangingPunct="1">
                        <a:lnSpc>
                          <a:spcPct val="130000"/>
                        </a:lnSpc>
                        <a:spcBef>
                          <a:spcPts val="0"/>
                        </a:spcBef>
                        <a:spcAft>
                          <a:spcPts val="0"/>
                        </a:spcAft>
                        <a:buClrTx/>
                        <a:buSzTx/>
                        <a:buFontTx/>
                        <a:buNone/>
                        <a:tabLst/>
                        <a:defRPr/>
                      </a:pPr>
                      <a:r>
                        <a:rPr lang="ko-KR" altLang="en-US" sz="1100" kern="1200" dirty="0">
                          <a:solidFill>
                            <a:srgbClr val="FF0000"/>
                          </a:solidFill>
                          <a:latin typeface="+mn-lt"/>
                          <a:ea typeface="+mn-ea"/>
                          <a:cs typeface="+mn-cs"/>
                        </a:rPr>
                        <a:t>소급효 </a:t>
                      </a:r>
                      <a:r>
                        <a:rPr lang="en-US" altLang="ko-KR" sz="1100" kern="1200" dirty="0">
                          <a:solidFill>
                            <a:srgbClr val="FF0000"/>
                          </a:solidFill>
                          <a:latin typeface="+mn-lt"/>
                          <a:ea typeface="+mn-ea"/>
                          <a:cs typeface="+mn-cs"/>
                        </a:rPr>
                        <a:t>×</a:t>
                      </a:r>
                      <a:endParaRPr lang="ko-KR" altLang="en-US" sz="1100" kern="1200" dirty="0">
                        <a:solidFill>
                          <a:srgbClr val="FF0000"/>
                        </a:solidFill>
                        <a:latin typeface="+mn-lt"/>
                        <a:ea typeface="+mn-ea"/>
                        <a:cs typeface="+mn-cs"/>
                      </a:endParaRPr>
                    </a:p>
                  </a:txBody>
                  <a:tcPr marL="72000" marR="72000" marT="17907" marB="17907" anchor="ctr"/>
                </a:tc>
                <a:extLst>
                  <a:ext uri="{0D108BD9-81ED-4DB2-BD59-A6C34878D82A}">
                    <a16:rowId xmlns:a16="http://schemas.microsoft.com/office/drawing/2014/main" val="2367116551"/>
                  </a:ext>
                </a:extLst>
              </a:tr>
              <a:tr h="247236">
                <a:tc>
                  <a:txBody>
                    <a:bodyPr/>
                    <a:lstStyle/>
                    <a:p>
                      <a:pPr marL="0" marR="0" indent="0" algn="ctr" fontAlgn="base" latinLnBrk="0">
                        <a:lnSpc>
                          <a:spcPct val="120000"/>
                        </a:lnSpc>
                        <a:spcBef>
                          <a:spcPts val="0"/>
                        </a:spcBef>
                        <a:spcAft>
                          <a:spcPts val="0"/>
                        </a:spcAft>
                      </a:pPr>
                      <a:r>
                        <a:rPr lang="ko-KR" altLang="en-US" sz="1100" kern="1200" dirty="0">
                          <a:solidFill>
                            <a:schemeClr val="tx1"/>
                          </a:solidFill>
                          <a:latin typeface="+mn-lt"/>
                          <a:ea typeface="+mn-ea"/>
                          <a:cs typeface="+mn-cs"/>
                        </a:rPr>
                        <a:t>조약우선권주장출원 </a:t>
                      </a:r>
                      <a:r>
                        <a:rPr lang="en-US" altLang="ko-KR" sz="1100" kern="1200" dirty="0">
                          <a:solidFill>
                            <a:schemeClr val="tx1"/>
                          </a:solidFill>
                          <a:latin typeface="+mn-lt"/>
                          <a:ea typeface="+mn-ea"/>
                          <a:cs typeface="+mn-cs"/>
                        </a:rPr>
                        <a:t>(</a:t>
                      </a:r>
                      <a:r>
                        <a:rPr lang="ko-KR" altLang="en-US" sz="1100" kern="1200" dirty="0">
                          <a:solidFill>
                            <a:schemeClr val="tx1"/>
                          </a:solidFill>
                          <a:latin typeface="+mn-lt"/>
                          <a:ea typeface="+mn-ea"/>
                          <a:cs typeface="+mn-cs"/>
                        </a:rPr>
                        <a:t>法 </a:t>
                      </a:r>
                      <a:r>
                        <a:rPr lang="en-US" altLang="ko-KR" sz="1100" kern="1200" dirty="0">
                          <a:solidFill>
                            <a:schemeClr val="tx1"/>
                          </a:solidFill>
                          <a:latin typeface="+mn-lt"/>
                          <a:ea typeface="+mn-ea"/>
                          <a:cs typeface="+mn-cs"/>
                        </a:rPr>
                        <a:t>54</a:t>
                      </a:r>
                      <a:r>
                        <a:rPr lang="ko-KR" altLang="en-US" sz="1100" kern="1200" dirty="0">
                          <a:solidFill>
                            <a:schemeClr val="tx1"/>
                          </a:solidFill>
                          <a:latin typeface="+mn-lt"/>
                          <a:ea typeface="+mn-ea"/>
                          <a:cs typeface="+mn-cs"/>
                        </a:rPr>
                        <a:t>③</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72000" marR="72000" marT="17907" marB="17907" anchor="ctr"/>
                </a:tc>
                <a:tc>
                  <a:txBody>
                    <a:bodyPr/>
                    <a:lstStyle/>
                    <a:p>
                      <a:pPr marL="17780" marR="17780" indent="0" algn="ctr" fontAlgn="base" latinLnBrk="0">
                        <a:lnSpc>
                          <a:spcPct val="130000"/>
                        </a:lnSpc>
                        <a:spcBef>
                          <a:spcPts val="0"/>
                        </a:spcBef>
                        <a:spcAft>
                          <a:spcPts val="0"/>
                        </a:spcAft>
                      </a:pPr>
                      <a:r>
                        <a:rPr lang="ko-KR" altLang="en-US" sz="1100" kern="1200" dirty="0">
                          <a:solidFill>
                            <a:srgbClr val="FF0000"/>
                          </a:solidFill>
                          <a:latin typeface="+mn-lt"/>
                          <a:ea typeface="+mn-ea"/>
                          <a:cs typeface="+mn-cs"/>
                        </a:rPr>
                        <a:t>소급효 </a:t>
                      </a:r>
                      <a:r>
                        <a:rPr lang="en-US" altLang="ko-KR" sz="1100" kern="1200" dirty="0">
                          <a:solidFill>
                            <a:srgbClr val="FF0000"/>
                          </a:solidFill>
                          <a:latin typeface="+mn-lt"/>
                          <a:ea typeface="+mn-ea"/>
                          <a:cs typeface="+mn-cs"/>
                        </a:rPr>
                        <a:t>×(</a:t>
                      </a:r>
                      <a:r>
                        <a:rPr lang="ko-KR" altLang="en-US" sz="1100" kern="1200" dirty="0">
                          <a:solidFill>
                            <a:srgbClr val="FF0000"/>
                          </a:solidFill>
                          <a:latin typeface="+mn-lt"/>
                          <a:ea typeface="+mn-ea"/>
                          <a:cs typeface="+mn-cs"/>
                        </a:rPr>
                        <a:t>제</a:t>
                      </a:r>
                      <a:r>
                        <a:rPr lang="en-US" altLang="ko-KR" sz="1100" kern="1200" dirty="0">
                          <a:solidFill>
                            <a:srgbClr val="FF0000"/>
                          </a:solidFill>
                          <a:latin typeface="+mn-lt"/>
                          <a:ea typeface="+mn-ea"/>
                          <a:cs typeface="+mn-cs"/>
                        </a:rPr>
                        <a:t>30</a:t>
                      </a:r>
                      <a:r>
                        <a:rPr lang="ko-KR" altLang="en-US" sz="1100" kern="1200" dirty="0">
                          <a:solidFill>
                            <a:srgbClr val="FF0000"/>
                          </a:solidFill>
                          <a:latin typeface="+mn-lt"/>
                          <a:ea typeface="+mn-ea"/>
                          <a:cs typeface="+mn-cs"/>
                        </a:rPr>
                        <a:t>조제</a:t>
                      </a:r>
                      <a:r>
                        <a:rPr lang="en-US" altLang="ko-KR" sz="1100" kern="1200" dirty="0">
                          <a:solidFill>
                            <a:srgbClr val="FF0000"/>
                          </a:solidFill>
                          <a:latin typeface="+mn-lt"/>
                          <a:ea typeface="+mn-ea"/>
                          <a:cs typeface="+mn-cs"/>
                        </a:rPr>
                        <a:t>1</a:t>
                      </a:r>
                      <a:r>
                        <a:rPr lang="ko-KR" altLang="en-US" sz="1100" kern="1200" dirty="0">
                          <a:solidFill>
                            <a:srgbClr val="FF0000"/>
                          </a:solidFill>
                          <a:latin typeface="+mn-lt"/>
                          <a:ea typeface="+mn-ea"/>
                          <a:cs typeface="+mn-cs"/>
                        </a:rPr>
                        <a:t>항의 </a:t>
                      </a:r>
                      <a:r>
                        <a:rPr lang="en-US" altLang="ko-KR" sz="1100" kern="1200" dirty="0">
                          <a:solidFill>
                            <a:srgbClr val="FF0000"/>
                          </a:solidFill>
                          <a:latin typeface="+mn-lt"/>
                          <a:ea typeface="+mn-ea"/>
                          <a:cs typeface="+mn-cs"/>
                        </a:rPr>
                        <a:t>“</a:t>
                      </a:r>
                      <a:r>
                        <a:rPr lang="ko-KR" altLang="en-US" sz="1100" kern="1200" dirty="0">
                          <a:solidFill>
                            <a:srgbClr val="FF0000"/>
                          </a:solidFill>
                          <a:latin typeface="+mn-lt"/>
                          <a:ea typeface="+mn-ea"/>
                          <a:cs typeface="+mn-cs"/>
                        </a:rPr>
                        <a:t>특허출원</a:t>
                      </a:r>
                      <a:r>
                        <a:rPr lang="en-US" altLang="ko-KR" sz="1100" kern="1200" dirty="0">
                          <a:solidFill>
                            <a:srgbClr val="FF0000"/>
                          </a:solidFill>
                          <a:latin typeface="+mn-lt"/>
                          <a:ea typeface="+mn-ea"/>
                          <a:cs typeface="+mn-cs"/>
                        </a:rPr>
                        <a:t>＂</a:t>
                      </a:r>
                      <a:r>
                        <a:rPr lang="ko-KR" altLang="en-US" sz="1100" kern="1200" dirty="0">
                          <a:solidFill>
                            <a:srgbClr val="FF0000"/>
                          </a:solidFill>
                          <a:latin typeface="+mn-lt"/>
                          <a:ea typeface="+mn-ea"/>
                          <a:cs typeface="+mn-cs"/>
                        </a:rPr>
                        <a:t>을 국내출원으로 제한해석</a:t>
                      </a:r>
                      <a:r>
                        <a:rPr lang="en-US" altLang="ko-KR" sz="1100" kern="1200" dirty="0">
                          <a:solidFill>
                            <a:srgbClr val="FF0000"/>
                          </a:solidFill>
                          <a:latin typeface="+mn-lt"/>
                          <a:ea typeface="+mn-ea"/>
                          <a:cs typeface="+mn-cs"/>
                        </a:rPr>
                        <a:t>)</a:t>
                      </a:r>
                      <a:endParaRPr lang="ko-KR" altLang="en-US" sz="1100" kern="1200" dirty="0">
                        <a:solidFill>
                          <a:srgbClr val="FF0000"/>
                        </a:solidFill>
                        <a:latin typeface="+mn-lt"/>
                        <a:ea typeface="+mn-ea"/>
                        <a:cs typeface="+mn-cs"/>
                      </a:endParaRPr>
                    </a:p>
                  </a:txBody>
                  <a:tcPr marL="72000" marR="72000" marT="17907" marB="17907" anchor="ctr"/>
                </a:tc>
                <a:tc>
                  <a:txBody>
                    <a:bodyPr/>
                    <a:lstStyle/>
                    <a:p>
                      <a:pPr marL="17780" marR="17780" indent="0" algn="ctr" fontAlgn="base" latinLnBrk="0">
                        <a:lnSpc>
                          <a:spcPct val="130000"/>
                        </a:lnSpc>
                        <a:spcBef>
                          <a:spcPts val="0"/>
                        </a:spcBef>
                        <a:spcAft>
                          <a:spcPts val="0"/>
                        </a:spcAft>
                      </a:pPr>
                      <a:r>
                        <a:rPr lang="ko-KR" altLang="en-US" sz="1100" kern="1200" dirty="0">
                          <a:solidFill>
                            <a:schemeClr val="tx1"/>
                          </a:solidFill>
                          <a:latin typeface="+mn-lt"/>
                          <a:ea typeface="+mn-ea"/>
                          <a:cs typeface="+mn-cs"/>
                        </a:rPr>
                        <a:t>소급효 </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72000" marR="72000" marT="17907" marB="17907" anchor="ctr"/>
                </a:tc>
                <a:extLst>
                  <a:ext uri="{0D108BD9-81ED-4DB2-BD59-A6C34878D82A}">
                    <a16:rowId xmlns:a16="http://schemas.microsoft.com/office/drawing/2014/main" val="10003"/>
                  </a:ext>
                </a:extLst>
              </a:tr>
              <a:tr h="204628">
                <a:tc>
                  <a:txBody>
                    <a:bodyPr/>
                    <a:lstStyle/>
                    <a:p>
                      <a:pPr marL="0" marR="0" indent="0" algn="ctr" fontAlgn="base" latinLnBrk="0">
                        <a:lnSpc>
                          <a:spcPct val="120000"/>
                        </a:lnSpc>
                        <a:spcBef>
                          <a:spcPts val="0"/>
                        </a:spcBef>
                        <a:spcAft>
                          <a:spcPts val="0"/>
                        </a:spcAft>
                      </a:pPr>
                      <a:r>
                        <a:rPr lang="ko-KR" altLang="en-US" sz="1100" kern="1200" dirty="0">
                          <a:solidFill>
                            <a:schemeClr val="tx1"/>
                          </a:solidFill>
                          <a:latin typeface="+mn-lt"/>
                          <a:ea typeface="+mn-ea"/>
                          <a:cs typeface="+mn-cs"/>
                        </a:rPr>
                        <a:t>국내우선권주장출원 </a:t>
                      </a:r>
                      <a:r>
                        <a:rPr lang="en-US" altLang="ko-KR" sz="1100" kern="1200" dirty="0">
                          <a:solidFill>
                            <a:schemeClr val="tx1"/>
                          </a:solidFill>
                          <a:latin typeface="+mn-lt"/>
                          <a:ea typeface="+mn-ea"/>
                          <a:cs typeface="+mn-cs"/>
                        </a:rPr>
                        <a:t>(</a:t>
                      </a:r>
                      <a:r>
                        <a:rPr lang="ko-KR" altLang="en-US" sz="1100" kern="1200">
                          <a:solidFill>
                            <a:schemeClr val="tx1"/>
                          </a:solidFill>
                          <a:latin typeface="+mn-lt"/>
                          <a:ea typeface="+mn-ea"/>
                          <a:cs typeface="+mn-cs"/>
                        </a:rPr>
                        <a:t>法 </a:t>
                      </a:r>
                      <a:r>
                        <a:rPr lang="en-US" altLang="ko-KR" sz="1100" kern="1200" dirty="0">
                          <a:solidFill>
                            <a:schemeClr val="tx1"/>
                          </a:solidFill>
                          <a:latin typeface="+mn-lt"/>
                          <a:ea typeface="+mn-ea"/>
                          <a:cs typeface="+mn-cs"/>
                        </a:rPr>
                        <a:t>55</a:t>
                      </a:r>
                      <a:r>
                        <a:rPr lang="ko-KR" altLang="en-US" sz="1100" kern="1200">
                          <a:solidFill>
                            <a:schemeClr val="tx1"/>
                          </a:solidFill>
                          <a:latin typeface="+mn-lt"/>
                          <a:ea typeface="+mn-ea"/>
                          <a:cs typeface="+mn-cs"/>
                        </a:rPr>
                        <a:t>①</a:t>
                      </a:r>
                      <a:r>
                        <a:rPr lang="en-US" altLang="ko-KR" sz="1100" kern="1200" dirty="0">
                          <a:solidFill>
                            <a:schemeClr val="tx1"/>
                          </a:solidFill>
                          <a:latin typeface="+mn-lt"/>
                          <a:ea typeface="+mn-ea"/>
                          <a:cs typeface="+mn-cs"/>
                        </a:rPr>
                        <a:t>)</a:t>
                      </a:r>
                      <a:endParaRPr lang="ko-KR" altLang="en-US" sz="1100" kern="1200">
                        <a:solidFill>
                          <a:schemeClr val="tx1"/>
                        </a:solidFill>
                        <a:latin typeface="+mn-lt"/>
                        <a:ea typeface="+mn-ea"/>
                        <a:cs typeface="+mn-cs"/>
                      </a:endParaRPr>
                    </a:p>
                  </a:txBody>
                  <a:tcPr marL="72000" marR="72000" marT="17907" marB="17907" anchor="ctr"/>
                </a:tc>
                <a:tc>
                  <a:txBody>
                    <a:bodyPr/>
                    <a:lstStyle/>
                    <a:p>
                      <a:pPr marL="17780" marR="17780" indent="0" algn="ctr" fontAlgn="base" latinLnBrk="0">
                        <a:lnSpc>
                          <a:spcPct val="130000"/>
                        </a:lnSpc>
                        <a:spcBef>
                          <a:spcPts val="0"/>
                        </a:spcBef>
                        <a:spcAft>
                          <a:spcPts val="0"/>
                        </a:spcAft>
                      </a:pPr>
                      <a:r>
                        <a:rPr lang="ko-KR" altLang="en-US" sz="1100" kern="1200" dirty="0">
                          <a:solidFill>
                            <a:srgbClr val="FF0000"/>
                          </a:solidFill>
                          <a:latin typeface="+mn-lt"/>
                          <a:ea typeface="+mn-ea"/>
                          <a:cs typeface="+mn-cs"/>
                        </a:rPr>
                        <a:t>소급효 ○</a:t>
                      </a:r>
                      <a:r>
                        <a:rPr lang="en-US" altLang="ko-KR" sz="1100" kern="1200" dirty="0">
                          <a:solidFill>
                            <a:srgbClr val="FF0000"/>
                          </a:solidFill>
                          <a:latin typeface="+mn-lt"/>
                          <a:ea typeface="+mn-ea"/>
                          <a:cs typeface="+mn-cs"/>
                        </a:rPr>
                        <a:t>(</a:t>
                      </a:r>
                      <a:r>
                        <a:rPr lang="ko-KR" altLang="en-US" sz="1100" kern="1200" dirty="0">
                          <a:solidFill>
                            <a:srgbClr val="FF0000"/>
                          </a:solidFill>
                          <a:latin typeface="+mn-lt"/>
                          <a:ea typeface="+mn-ea"/>
                          <a:cs typeface="+mn-cs"/>
                        </a:rPr>
                        <a:t>단</a:t>
                      </a:r>
                      <a:r>
                        <a:rPr lang="en-US" altLang="ko-KR" sz="1100" kern="1200" dirty="0">
                          <a:solidFill>
                            <a:srgbClr val="FF0000"/>
                          </a:solidFill>
                          <a:latin typeface="+mn-lt"/>
                          <a:ea typeface="+mn-ea"/>
                          <a:cs typeface="+mn-cs"/>
                        </a:rPr>
                        <a:t>, </a:t>
                      </a:r>
                      <a:r>
                        <a:rPr lang="ko-KR" altLang="en-US" sz="1100" kern="1200" dirty="0">
                          <a:solidFill>
                            <a:srgbClr val="FF0000"/>
                          </a:solidFill>
                          <a:latin typeface="+mn-lt"/>
                          <a:ea typeface="+mn-ea"/>
                          <a:cs typeface="+mn-cs"/>
                        </a:rPr>
                        <a:t>판단시점의 소급효가 인정된 발명으로 제한</a:t>
                      </a:r>
                      <a:r>
                        <a:rPr lang="en-US" altLang="ko-KR" sz="1100" kern="1200" dirty="0">
                          <a:solidFill>
                            <a:srgbClr val="FF0000"/>
                          </a:solidFill>
                          <a:latin typeface="+mn-lt"/>
                          <a:ea typeface="+mn-ea"/>
                          <a:cs typeface="+mn-cs"/>
                        </a:rPr>
                        <a:t>)</a:t>
                      </a:r>
                      <a:endParaRPr lang="ko-KR" altLang="en-US" sz="1100" kern="1200" dirty="0">
                        <a:solidFill>
                          <a:srgbClr val="FF0000"/>
                        </a:solidFill>
                        <a:latin typeface="+mn-lt"/>
                        <a:ea typeface="+mn-ea"/>
                        <a:cs typeface="+mn-cs"/>
                      </a:endParaRPr>
                    </a:p>
                  </a:txBody>
                  <a:tcPr marL="72000" marR="72000" marT="17907" marB="17907" anchor="ctr"/>
                </a:tc>
                <a:tc>
                  <a:txBody>
                    <a:bodyPr/>
                    <a:lstStyle/>
                    <a:p>
                      <a:pPr marL="17780" marR="17780" indent="0" algn="ctr" fontAlgn="base" latinLnBrk="0">
                        <a:lnSpc>
                          <a:spcPct val="130000"/>
                        </a:lnSpc>
                        <a:spcBef>
                          <a:spcPts val="0"/>
                        </a:spcBef>
                        <a:spcAft>
                          <a:spcPts val="0"/>
                        </a:spcAft>
                      </a:pPr>
                      <a:r>
                        <a:rPr lang="ko-KR" altLang="en-US" sz="1100" kern="1200" dirty="0">
                          <a:solidFill>
                            <a:schemeClr val="tx1"/>
                          </a:solidFill>
                          <a:latin typeface="+mn-lt"/>
                          <a:ea typeface="+mn-ea"/>
                          <a:cs typeface="+mn-cs"/>
                        </a:rPr>
                        <a:t>소급효 </a:t>
                      </a:r>
                      <a:r>
                        <a:rPr lang="en-US" altLang="ko-KR" sz="1100" kern="1200" dirty="0">
                          <a:solidFill>
                            <a:schemeClr val="tx1"/>
                          </a:solidFill>
                          <a:latin typeface="+mn-lt"/>
                          <a:ea typeface="+mn-ea"/>
                          <a:cs typeface="+mn-cs"/>
                        </a:rPr>
                        <a:t>×</a:t>
                      </a:r>
                      <a:endParaRPr lang="ko-KR" altLang="en-US" sz="1100" kern="1200" dirty="0">
                        <a:solidFill>
                          <a:schemeClr val="tx1"/>
                        </a:solidFill>
                        <a:latin typeface="+mn-lt"/>
                        <a:ea typeface="+mn-ea"/>
                        <a:cs typeface="+mn-cs"/>
                      </a:endParaRPr>
                    </a:p>
                  </a:txBody>
                  <a:tcPr marL="72000" marR="72000" marT="17907" marB="17907" anchor="ctr"/>
                </a:tc>
                <a:extLst>
                  <a:ext uri="{0D108BD9-81ED-4DB2-BD59-A6C34878D82A}">
                    <a16:rowId xmlns:a16="http://schemas.microsoft.com/office/drawing/2014/main" val="10004"/>
                  </a:ext>
                </a:extLst>
              </a:tr>
            </a:tbl>
          </a:graphicData>
        </a:graphic>
      </p:graphicFrame>
      <p:sp>
        <p:nvSpPr>
          <p:cNvPr id="175" name="양쪽 모서리가 둥근 사각형 174"/>
          <p:cNvSpPr/>
          <p:nvPr/>
        </p:nvSpPr>
        <p:spPr>
          <a:xfrm rot="10800000">
            <a:off x="3732927" y="5660950"/>
            <a:ext cx="2161078" cy="304032"/>
          </a:xfrm>
          <a:prstGeom prst="round2SameRect">
            <a:avLst>
              <a:gd name="adj1" fmla="val 50000"/>
              <a:gd name="adj2" fmla="val 0"/>
            </a:avLst>
          </a:prstGeom>
          <a:pattFill prst="dkHorz">
            <a:fgClr>
              <a:schemeClr val="accent4"/>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77" name="양쪽 모서리가 둥근 사각형 176"/>
          <p:cNvSpPr/>
          <p:nvPr/>
        </p:nvSpPr>
        <p:spPr>
          <a:xfrm rot="10800000">
            <a:off x="6019668" y="3657639"/>
            <a:ext cx="1809881" cy="304032"/>
          </a:xfrm>
          <a:prstGeom prst="round2SameRect">
            <a:avLst>
              <a:gd name="adj1" fmla="val 50000"/>
              <a:gd name="adj2" fmla="val 0"/>
            </a:avLst>
          </a:prstGeom>
          <a:pattFill prst="wdDnDiag">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78" name="양쪽 모서리가 둥근 사각형 177"/>
          <p:cNvSpPr/>
          <p:nvPr/>
        </p:nvSpPr>
        <p:spPr>
          <a:xfrm rot="10800000">
            <a:off x="1722796" y="3657639"/>
            <a:ext cx="4220803" cy="304032"/>
          </a:xfrm>
          <a:prstGeom prst="round2SameRect">
            <a:avLst>
              <a:gd name="adj1" fmla="val 50000"/>
              <a:gd name="adj2" fmla="val 0"/>
            </a:avLst>
          </a:prstGeom>
          <a:pattFill prst="dotGrid">
            <a:fgClr>
              <a:schemeClr val="accent2">
                <a:lumMod val="50000"/>
              </a:schemeClr>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79" name="양쪽 모서리가 둥근 사각형 178"/>
          <p:cNvSpPr/>
          <p:nvPr/>
        </p:nvSpPr>
        <p:spPr>
          <a:xfrm>
            <a:off x="3657600" y="2836104"/>
            <a:ext cx="6742885" cy="836286"/>
          </a:xfrm>
          <a:prstGeom prst="round2SameRect">
            <a:avLst>
              <a:gd name="adj1" fmla="val 50000"/>
              <a:gd name="adj2" fmla="val 0"/>
            </a:avLst>
          </a:prstGeom>
          <a:pattFill prst="dkVert">
            <a:fgClr>
              <a:schemeClr val="accent3">
                <a:lumMod val="20000"/>
                <a:lumOff val="8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cxnSp>
        <p:nvCxnSpPr>
          <p:cNvPr id="180" name="직선 화살표 연결선 179"/>
          <p:cNvCxnSpPr/>
          <p:nvPr/>
        </p:nvCxnSpPr>
        <p:spPr>
          <a:xfrm>
            <a:off x="887767" y="3649124"/>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81" name="Rectangle 14"/>
          <p:cNvSpPr>
            <a:spLocks noChangeArrowheads="1"/>
          </p:cNvSpPr>
          <p:nvPr/>
        </p:nvSpPr>
        <p:spPr bwMode="auto">
          <a:xfrm>
            <a:off x="1108778" y="3506051"/>
            <a:ext cx="1228042" cy="268566"/>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a:latin typeface="+mn-ea"/>
              </a:rPr>
              <a:t>논문발표</a:t>
            </a:r>
          </a:p>
        </p:txBody>
      </p:sp>
      <p:sp>
        <p:nvSpPr>
          <p:cNvPr id="182" name="Rectangle 14"/>
          <p:cNvSpPr>
            <a:spLocks noChangeArrowheads="1"/>
          </p:cNvSpPr>
          <p:nvPr/>
        </p:nvSpPr>
        <p:spPr bwMode="auto">
          <a:xfrm>
            <a:off x="2957671" y="3513177"/>
            <a:ext cx="1418541" cy="268566"/>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err="1">
                <a:latin typeface="+mn-ea"/>
              </a:rPr>
              <a:t>일본출원</a:t>
            </a:r>
            <a:r>
              <a:rPr lang="en-US" altLang="ko-KR" sz="1200" b="0" dirty="0">
                <a:latin typeface="+mn-ea"/>
              </a:rPr>
              <a:t>(X)</a:t>
            </a:r>
            <a:endParaRPr lang="ko-KR" altLang="en-US" sz="1200" b="0" dirty="0">
              <a:latin typeface="+mn-ea"/>
            </a:endParaRPr>
          </a:p>
        </p:txBody>
      </p:sp>
      <p:sp>
        <p:nvSpPr>
          <p:cNvPr id="183" name="Rectangle 14"/>
          <p:cNvSpPr>
            <a:spLocks noChangeArrowheads="1"/>
          </p:cNvSpPr>
          <p:nvPr/>
        </p:nvSpPr>
        <p:spPr bwMode="auto">
          <a:xfrm>
            <a:off x="5212367" y="3513177"/>
            <a:ext cx="1418541" cy="268566"/>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err="1">
                <a:latin typeface="+mn-ea"/>
              </a:rPr>
              <a:t>한국</a:t>
            </a:r>
            <a:r>
              <a:rPr lang="ko-KR" altLang="en-US" sz="1200" b="0" dirty="0" err="1">
                <a:latin typeface="+mn-ea"/>
              </a:rPr>
              <a:t>출원</a:t>
            </a:r>
            <a:r>
              <a:rPr lang="en-US" altLang="ko-KR" sz="1200" b="0" dirty="0">
                <a:latin typeface="+mn-ea"/>
              </a:rPr>
              <a:t>(Y)</a:t>
            </a:r>
            <a:endParaRPr lang="ko-KR" altLang="en-US" sz="1200" b="0" dirty="0">
              <a:latin typeface="+mn-ea"/>
            </a:endParaRPr>
          </a:p>
        </p:txBody>
      </p:sp>
      <p:sp>
        <p:nvSpPr>
          <p:cNvPr id="184" name="Rectangle 14"/>
          <p:cNvSpPr>
            <a:spLocks noChangeArrowheads="1"/>
          </p:cNvSpPr>
          <p:nvPr/>
        </p:nvSpPr>
        <p:spPr bwMode="auto">
          <a:xfrm>
            <a:off x="5212367" y="2977709"/>
            <a:ext cx="1418541" cy="268566"/>
          </a:xfrm>
          <a:prstGeom prst="rect">
            <a:avLst/>
          </a:prstGeom>
          <a:solidFill>
            <a:schemeClr val="bg1">
              <a:lumMod val="75000"/>
            </a:schemeClr>
          </a:solidFill>
          <a:ln w="9525" algn="ctr">
            <a:solidFill>
              <a:schemeClr val="bg1">
                <a:lumMod val="50000"/>
              </a:schemeClr>
            </a:solidFill>
            <a:miter lim="800000"/>
            <a:headEnd/>
            <a:tailEnd/>
          </a:ln>
        </p:spPr>
        <p:txBody>
          <a:bodyPr wrap="none" anchor="ctr"/>
          <a:lstStyle/>
          <a:p>
            <a:pPr algn="ctr"/>
            <a:r>
              <a:rPr lang="en-US" altLang="ko-KR" sz="1200" b="0" dirty="0">
                <a:latin typeface="+mn-ea"/>
              </a:rPr>
              <a:t>X</a:t>
            </a:r>
            <a:r>
              <a:rPr lang="ko-KR" altLang="en-US" sz="1200" b="0" dirty="0">
                <a:latin typeface="+mn-ea"/>
              </a:rPr>
              <a:t>기초 </a:t>
            </a:r>
            <a:r>
              <a:rPr lang="ko-KR" altLang="en-US" sz="1200" b="0" dirty="0" err="1">
                <a:latin typeface="+mn-ea"/>
              </a:rPr>
              <a:t>우선권주장</a:t>
            </a:r>
            <a:endParaRPr lang="ko-KR" altLang="en-US" sz="1200" b="0" dirty="0">
              <a:latin typeface="+mn-ea"/>
            </a:endParaRPr>
          </a:p>
        </p:txBody>
      </p:sp>
      <p:sp>
        <p:nvSpPr>
          <p:cNvPr id="185" name="Rectangle 14"/>
          <p:cNvSpPr>
            <a:spLocks noChangeArrowheads="1"/>
          </p:cNvSpPr>
          <p:nvPr/>
        </p:nvSpPr>
        <p:spPr bwMode="auto">
          <a:xfrm>
            <a:off x="9786464" y="3514453"/>
            <a:ext cx="1228042" cy="268566"/>
          </a:xfrm>
          <a:prstGeom prst="rect">
            <a:avLst/>
          </a:prstGeom>
          <a:solidFill>
            <a:schemeClr val="bg1">
              <a:lumMod val="75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증명서류</a:t>
            </a:r>
            <a:endParaRPr lang="ko-KR" altLang="en-US" sz="1200" b="0" dirty="0">
              <a:latin typeface="+mn-ea"/>
            </a:endParaRPr>
          </a:p>
        </p:txBody>
      </p:sp>
      <p:sp>
        <p:nvSpPr>
          <p:cNvPr id="186" name="TextBox 185"/>
          <p:cNvSpPr txBox="1"/>
          <p:nvPr/>
        </p:nvSpPr>
        <p:spPr>
          <a:xfrm>
            <a:off x="3289535" y="3961670"/>
            <a:ext cx="886781" cy="261610"/>
          </a:xfrm>
          <a:prstGeom prst="rect">
            <a:avLst/>
          </a:prstGeom>
          <a:noFill/>
        </p:spPr>
        <p:txBody>
          <a:bodyPr wrap="none" rtlCol="0">
            <a:spAutoFit/>
          </a:bodyPr>
          <a:lstStyle/>
          <a:p>
            <a:r>
              <a:rPr lang="en-US" altLang="ko-KR" sz="1100" dirty="0">
                <a:solidFill>
                  <a:srgbClr val="FF0000"/>
                </a:solidFill>
              </a:rPr>
              <a:t>12</a:t>
            </a:r>
            <a:r>
              <a:rPr lang="ko-KR" altLang="en-US" sz="1100" dirty="0">
                <a:solidFill>
                  <a:srgbClr val="FF0000"/>
                </a:solidFill>
              </a:rPr>
              <a:t>개월 이내</a:t>
            </a:r>
          </a:p>
        </p:txBody>
      </p:sp>
      <p:sp>
        <p:nvSpPr>
          <p:cNvPr id="187" name="TextBox 186"/>
          <p:cNvSpPr txBox="1"/>
          <p:nvPr/>
        </p:nvSpPr>
        <p:spPr>
          <a:xfrm>
            <a:off x="6456516" y="3948365"/>
            <a:ext cx="760144" cy="261610"/>
          </a:xfrm>
          <a:prstGeom prst="rect">
            <a:avLst/>
          </a:prstGeom>
          <a:noFill/>
        </p:spPr>
        <p:txBody>
          <a:bodyPr wrap="none" rtlCol="0">
            <a:spAutoFit/>
          </a:bodyPr>
          <a:lstStyle/>
          <a:p>
            <a:r>
              <a:rPr lang="en-US" altLang="ko-KR" sz="1100" dirty="0"/>
              <a:t>30</a:t>
            </a:r>
            <a:r>
              <a:rPr lang="ko-KR" altLang="en-US" sz="1100" dirty="0"/>
              <a:t>일 이내</a:t>
            </a:r>
          </a:p>
        </p:txBody>
      </p:sp>
      <p:sp>
        <p:nvSpPr>
          <p:cNvPr id="188" name="TextBox 187"/>
          <p:cNvSpPr txBox="1"/>
          <p:nvPr/>
        </p:nvSpPr>
        <p:spPr>
          <a:xfrm>
            <a:off x="6385276" y="2611944"/>
            <a:ext cx="760144" cy="261610"/>
          </a:xfrm>
          <a:prstGeom prst="rect">
            <a:avLst/>
          </a:prstGeom>
          <a:noFill/>
        </p:spPr>
        <p:txBody>
          <a:bodyPr wrap="none" rtlCol="0">
            <a:spAutoFit/>
          </a:bodyPr>
          <a:lstStyle/>
          <a:p>
            <a:r>
              <a:rPr lang="en-US" altLang="ko-KR" sz="1100" dirty="0"/>
              <a:t>1</a:t>
            </a:r>
            <a:r>
              <a:rPr lang="ko-KR" altLang="en-US" sz="1100" dirty="0"/>
              <a:t>년 </a:t>
            </a:r>
            <a:r>
              <a:rPr lang="en-US" altLang="ko-KR" sz="1100" dirty="0"/>
              <a:t>4</a:t>
            </a:r>
            <a:r>
              <a:rPr lang="ko-KR" altLang="en-US" sz="1100" dirty="0"/>
              <a:t>개월</a:t>
            </a:r>
          </a:p>
        </p:txBody>
      </p:sp>
      <p:sp>
        <p:nvSpPr>
          <p:cNvPr id="189" name="Rectangle 14"/>
          <p:cNvSpPr>
            <a:spLocks noChangeArrowheads="1"/>
          </p:cNvSpPr>
          <p:nvPr/>
        </p:nvSpPr>
        <p:spPr bwMode="auto">
          <a:xfrm>
            <a:off x="5212367" y="3247940"/>
            <a:ext cx="1418541" cy="268566"/>
          </a:xfrm>
          <a:prstGeom prst="rect">
            <a:avLst/>
          </a:prstGeom>
          <a:solidFill>
            <a:schemeClr val="accent6">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공지예외적용주장</a:t>
            </a:r>
            <a:endParaRPr lang="ko-KR" altLang="en-US" sz="1200" b="0" dirty="0">
              <a:latin typeface="+mn-ea"/>
            </a:endParaRPr>
          </a:p>
        </p:txBody>
      </p:sp>
      <p:sp>
        <p:nvSpPr>
          <p:cNvPr id="190" name="Rectangle 14"/>
          <p:cNvSpPr>
            <a:spLocks noChangeArrowheads="1"/>
          </p:cNvSpPr>
          <p:nvPr/>
        </p:nvSpPr>
        <p:spPr bwMode="auto">
          <a:xfrm>
            <a:off x="7193418" y="3511583"/>
            <a:ext cx="1418541" cy="268566"/>
          </a:xfrm>
          <a:prstGeom prst="rect">
            <a:avLst/>
          </a:prstGeom>
          <a:solidFill>
            <a:schemeClr val="accent6">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증명서류</a:t>
            </a:r>
            <a:endParaRPr lang="ko-KR" altLang="en-US" sz="1200" b="0" dirty="0">
              <a:latin typeface="+mn-ea"/>
            </a:endParaRPr>
          </a:p>
        </p:txBody>
      </p:sp>
      <p:sp>
        <p:nvSpPr>
          <p:cNvPr id="191" name="양쪽 모서리가 둥근 사각형 190"/>
          <p:cNvSpPr/>
          <p:nvPr/>
        </p:nvSpPr>
        <p:spPr>
          <a:xfrm>
            <a:off x="3657601" y="4820408"/>
            <a:ext cx="5829300" cy="836286"/>
          </a:xfrm>
          <a:prstGeom prst="round2SameRect">
            <a:avLst>
              <a:gd name="adj1" fmla="val 50000"/>
              <a:gd name="adj2" fmla="val 0"/>
            </a:avLst>
          </a:prstGeom>
          <a:pattFill prst="dkVert">
            <a:fgClr>
              <a:schemeClr val="accent3">
                <a:lumMod val="20000"/>
                <a:lumOff val="8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92" name="TextBox 191"/>
          <p:cNvSpPr txBox="1"/>
          <p:nvPr/>
        </p:nvSpPr>
        <p:spPr>
          <a:xfrm>
            <a:off x="6385276" y="4558799"/>
            <a:ext cx="760144" cy="261610"/>
          </a:xfrm>
          <a:prstGeom prst="rect">
            <a:avLst/>
          </a:prstGeom>
          <a:noFill/>
        </p:spPr>
        <p:txBody>
          <a:bodyPr wrap="none" rtlCol="0">
            <a:spAutoFit/>
          </a:bodyPr>
          <a:lstStyle/>
          <a:p>
            <a:r>
              <a:rPr lang="en-US" altLang="ko-KR" sz="1100" dirty="0"/>
              <a:t>1</a:t>
            </a:r>
            <a:r>
              <a:rPr lang="ko-KR" altLang="en-US" sz="1100" dirty="0"/>
              <a:t>년 </a:t>
            </a:r>
            <a:r>
              <a:rPr lang="en-US" altLang="ko-KR" sz="1100" dirty="0"/>
              <a:t>3</a:t>
            </a:r>
            <a:r>
              <a:rPr lang="ko-KR" altLang="en-US" sz="1100" dirty="0"/>
              <a:t>개월</a:t>
            </a:r>
          </a:p>
        </p:txBody>
      </p:sp>
      <p:sp>
        <p:nvSpPr>
          <p:cNvPr id="193" name="양쪽 모서리가 둥근 사각형 192"/>
          <p:cNvSpPr/>
          <p:nvPr/>
        </p:nvSpPr>
        <p:spPr>
          <a:xfrm rot="10800000">
            <a:off x="6019668" y="5660950"/>
            <a:ext cx="1809881" cy="304032"/>
          </a:xfrm>
          <a:prstGeom prst="round2SameRect">
            <a:avLst>
              <a:gd name="adj1" fmla="val 50000"/>
              <a:gd name="adj2" fmla="val 0"/>
            </a:avLst>
          </a:prstGeom>
          <a:pattFill prst="wdDnDiag">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94" name="양쪽 모서리가 둥근 사각형 193"/>
          <p:cNvSpPr/>
          <p:nvPr/>
        </p:nvSpPr>
        <p:spPr>
          <a:xfrm rot="10800000">
            <a:off x="1722796" y="5660950"/>
            <a:ext cx="1849079" cy="304032"/>
          </a:xfrm>
          <a:prstGeom prst="round2SameRect">
            <a:avLst>
              <a:gd name="adj1" fmla="val 50000"/>
              <a:gd name="adj2" fmla="val 0"/>
            </a:avLst>
          </a:prstGeom>
          <a:pattFill prst="dotGrid">
            <a:fgClr>
              <a:schemeClr val="accent2">
                <a:lumMod val="50000"/>
              </a:schemeClr>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cxnSp>
        <p:nvCxnSpPr>
          <p:cNvPr id="195" name="직선 화살표 연결선 194"/>
          <p:cNvCxnSpPr/>
          <p:nvPr/>
        </p:nvCxnSpPr>
        <p:spPr>
          <a:xfrm>
            <a:off x="887767" y="5652435"/>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96" name="Rectangle 14"/>
          <p:cNvSpPr>
            <a:spLocks noChangeArrowheads="1"/>
          </p:cNvSpPr>
          <p:nvPr/>
        </p:nvSpPr>
        <p:spPr bwMode="auto">
          <a:xfrm>
            <a:off x="1108778" y="5509362"/>
            <a:ext cx="1228042" cy="268566"/>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a:latin typeface="+mn-ea"/>
              </a:rPr>
              <a:t>논문발표</a:t>
            </a:r>
          </a:p>
        </p:txBody>
      </p:sp>
      <p:sp>
        <p:nvSpPr>
          <p:cNvPr id="197" name="Rectangle 14"/>
          <p:cNvSpPr>
            <a:spLocks noChangeArrowheads="1"/>
          </p:cNvSpPr>
          <p:nvPr/>
        </p:nvSpPr>
        <p:spPr bwMode="auto">
          <a:xfrm>
            <a:off x="2957671" y="5516488"/>
            <a:ext cx="1418541" cy="268566"/>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err="1">
                <a:latin typeface="+mn-ea"/>
              </a:rPr>
              <a:t>한국</a:t>
            </a:r>
            <a:r>
              <a:rPr lang="ko-KR" altLang="en-US" sz="1200" b="0" dirty="0" err="1">
                <a:latin typeface="+mn-ea"/>
              </a:rPr>
              <a:t>출원</a:t>
            </a:r>
            <a:r>
              <a:rPr lang="en-US" altLang="ko-KR" sz="1200" b="0" dirty="0">
                <a:latin typeface="+mn-ea"/>
              </a:rPr>
              <a:t>(X)</a:t>
            </a:r>
            <a:endParaRPr lang="ko-KR" altLang="en-US" sz="1200" b="0" dirty="0">
              <a:latin typeface="+mn-ea"/>
            </a:endParaRPr>
          </a:p>
        </p:txBody>
      </p:sp>
      <p:sp>
        <p:nvSpPr>
          <p:cNvPr id="198" name="Rectangle 14"/>
          <p:cNvSpPr>
            <a:spLocks noChangeArrowheads="1"/>
          </p:cNvSpPr>
          <p:nvPr/>
        </p:nvSpPr>
        <p:spPr bwMode="auto">
          <a:xfrm>
            <a:off x="5212367" y="5516488"/>
            <a:ext cx="1418541" cy="268566"/>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err="1">
                <a:latin typeface="+mn-ea"/>
              </a:rPr>
              <a:t>한국</a:t>
            </a:r>
            <a:r>
              <a:rPr lang="ko-KR" altLang="en-US" sz="1200" b="0" dirty="0" err="1">
                <a:latin typeface="+mn-ea"/>
              </a:rPr>
              <a:t>출원</a:t>
            </a:r>
            <a:r>
              <a:rPr lang="en-US" altLang="ko-KR" sz="1200" b="0" dirty="0">
                <a:latin typeface="+mn-ea"/>
              </a:rPr>
              <a:t>(Y)</a:t>
            </a:r>
            <a:endParaRPr lang="ko-KR" altLang="en-US" sz="1200" b="0" dirty="0">
              <a:latin typeface="+mn-ea"/>
            </a:endParaRPr>
          </a:p>
        </p:txBody>
      </p:sp>
      <p:sp>
        <p:nvSpPr>
          <p:cNvPr id="199" name="Rectangle 14"/>
          <p:cNvSpPr>
            <a:spLocks noChangeArrowheads="1"/>
          </p:cNvSpPr>
          <p:nvPr/>
        </p:nvSpPr>
        <p:spPr bwMode="auto">
          <a:xfrm>
            <a:off x="5212367" y="4981020"/>
            <a:ext cx="1418541" cy="268566"/>
          </a:xfrm>
          <a:prstGeom prst="rect">
            <a:avLst/>
          </a:prstGeom>
          <a:solidFill>
            <a:schemeClr val="bg1">
              <a:lumMod val="75000"/>
            </a:schemeClr>
          </a:solidFill>
          <a:ln w="9525" algn="ctr">
            <a:solidFill>
              <a:schemeClr val="bg1">
                <a:lumMod val="50000"/>
              </a:schemeClr>
            </a:solidFill>
            <a:miter lim="800000"/>
            <a:headEnd/>
            <a:tailEnd/>
          </a:ln>
        </p:spPr>
        <p:txBody>
          <a:bodyPr wrap="none" anchor="ctr"/>
          <a:lstStyle/>
          <a:p>
            <a:pPr algn="ctr"/>
            <a:r>
              <a:rPr lang="en-US" altLang="ko-KR" sz="1200" b="0" dirty="0">
                <a:latin typeface="+mn-ea"/>
              </a:rPr>
              <a:t>X</a:t>
            </a:r>
            <a:r>
              <a:rPr lang="ko-KR" altLang="en-US" sz="1200" b="0" dirty="0">
                <a:latin typeface="+mn-ea"/>
              </a:rPr>
              <a:t>기초 </a:t>
            </a:r>
            <a:r>
              <a:rPr lang="ko-KR" altLang="en-US" sz="1200" b="0" dirty="0" err="1">
                <a:latin typeface="+mn-ea"/>
              </a:rPr>
              <a:t>우선권주장</a:t>
            </a:r>
            <a:endParaRPr lang="ko-KR" altLang="en-US" sz="1200" b="0" dirty="0">
              <a:latin typeface="+mn-ea"/>
            </a:endParaRPr>
          </a:p>
        </p:txBody>
      </p:sp>
      <p:sp>
        <p:nvSpPr>
          <p:cNvPr id="200" name="Rectangle 14"/>
          <p:cNvSpPr>
            <a:spLocks noChangeArrowheads="1"/>
          </p:cNvSpPr>
          <p:nvPr/>
        </p:nvSpPr>
        <p:spPr bwMode="auto">
          <a:xfrm>
            <a:off x="8891114" y="5517764"/>
            <a:ext cx="1228042" cy="268566"/>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err="1">
                <a:latin typeface="+mn-ea"/>
              </a:rPr>
              <a:t>취하간주</a:t>
            </a:r>
            <a:r>
              <a:rPr lang="en-US" altLang="ko-KR" sz="1200" dirty="0">
                <a:latin typeface="+mn-ea"/>
              </a:rPr>
              <a:t>(X)</a:t>
            </a:r>
            <a:endParaRPr lang="ko-KR" altLang="en-US" sz="1200" b="0" dirty="0">
              <a:latin typeface="+mn-ea"/>
            </a:endParaRPr>
          </a:p>
        </p:txBody>
      </p:sp>
      <p:sp>
        <p:nvSpPr>
          <p:cNvPr id="201" name="TextBox 200"/>
          <p:cNvSpPr txBox="1"/>
          <p:nvPr/>
        </p:nvSpPr>
        <p:spPr>
          <a:xfrm>
            <a:off x="2198042" y="5972545"/>
            <a:ext cx="886781" cy="261610"/>
          </a:xfrm>
          <a:prstGeom prst="rect">
            <a:avLst/>
          </a:prstGeom>
          <a:noFill/>
        </p:spPr>
        <p:txBody>
          <a:bodyPr wrap="none" rtlCol="0">
            <a:spAutoFit/>
          </a:bodyPr>
          <a:lstStyle/>
          <a:p>
            <a:r>
              <a:rPr lang="en-US" altLang="ko-KR" sz="1100" dirty="0">
                <a:solidFill>
                  <a:srgbClr val="FF0000"/>
                </a:solidFill>
              </a:rPr>
              <a:t>12</a:t>
            </a:r>
            <a:r>
              <a:rPr lang="ko-KR" altLang="en-US" sz="1100" dirty="0">
                <a:solidFill>
                  <a:srgbClr val="FF0000"/>
                </a:solidFill>
              </a:rPr>
              <a:t>개월 이내</a:t>
            </a:r>
          </a:p>
        </p:txBody>
      </p:sp>
      <p:sp>
        <p:nvSpPr>
          <p:cNvPr id="202" name="TextBox 201"/>
          <p:cNvSpPr txBox="1"/>
          <p:nvPr/>
        </p:nvSpPr>
        <p:spPr>
          <a:xfrm>
            <a:off x="6456516" y="5970725"/>
            <a:ext cx="760144" cy="261610"/>
          </a:xfrm>
          <a:prstGeom prst="rect">
            <a:avLst/>
          </a:prstGeom>
          <a:noFill/>
        </p:spPr>
        <p:txBody>
          <a:bodyPr wrap="none" rtlCol="0">
            <a:spAutoFit/>
          </a:bodyPr>
          <a:lstStyle/>
          <a:p>
            <a:r>
              <a:rPr lang="en-US" altLang="ko-KR" sz="1100" dirty="0"/>
              <a:t>30</a:t>
            </a:r>
            <a:r>
              <a:rPr lang="ko-KR" altLang="en-US" sz="1100" dirty="0"/>
              <a:t>일 이내</a:t>
            </a:r>
          </a:p>
        </p:txBody>
      </p:sp>
      <p:sp>
        <p:nvSpPr>
          <p:cNvPr id="203" name="Rectangle 14"/>
          <p:cNvSpPr>
            <a:spLocks noChangeArrowheads="1"/>
          </p:cNvSpPr>
          <p:nvPr/>
        </p:nvSpPr>
        <p:spPr bwMode="auto">
          <a:xfrm>
            <a:off x="5212367" y="5251251"/>
            <a:ext cx="1418541" cy="268566"/>
          </a:xfrm>
          <a:prstGeom prst="rect">
            <a:avLst/>
          </a:prstGeom>
          <a:solidFill>
            <a:schemeClr val="accent6">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공지예외적용주장</a:t>
            </a:r>
            <a:endParaRPr lang="ko-KR" altLang="en-US" sz="1200" b="0" dirty="0">
              <a:latin typeface="+mn-ea"/>
            </a:endParaRPr>
          </a:p>
        </p:txBody>
      </p:sp>
      <p:sp>
        <p:nvSpPr>
          <p:cNvPr id="204" name="Rectangle 14"/>
          <p:cNvSpPr>
            <a:spLocks noChangeArrowheads="1"/>
          </p:cNvSpPr>
          <p:nvPr/>
        </p:nvSpPr>
        <p:spPr bwMode="auto">
          <a:xfrm>
            <a:off x="7193418" y="5514894"/>
            <a:ext cx="1418541" cy="268566"/>
          </a:xfrm>
          <a:prstGeom prst="rect">
            <a:avLst/>
          </a:prstGeom>
          <a:solidFill>
            <a:schemeClr val="accent6">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증명서류</a:t>
            </a:r>
            <a:endParaRPr lang="ko-KR" altLang="en-US" sz="1200" b="0" dirty="0">
              <a:latin typeface="+mn-ea"/>
            </a:endParaRPr>
          </a:p>
        </p:txBody>
      </p:sp>
      <p:sp>
        <p:nvSpPr>
          <p:cNvPr id="205" name="TextBox 204"/>
          <p:cNvSpPr txBox="1"/>
          <p:nvPr/>
        </p:nvSpPr>
        <p:spPr>
          <a:xfrm>
            <a:off x="4376212" y="5972545"/>
            <a:ext cx="886781" cy="261610"/>
          </a:xfrm>
          <a:prstGeom prst="rect">
            <a:avLst/>
          </a:prstGeom>
          <a:noFill/>
        </p:spPr>
        <p:txBody>
          <a:bodyPr wrap="none" rtlCol="0">
            <a:spAutoFit/>
          </a:bodyPr>
          <a:lstStyle/>
          <a:p>
            <a:r>
              <a:rPr lang="en-US" altLang="ko-KR" sz="1100" dirty="0"/>
              <a:t>12</a:t>
            </a:r>
            <a:r>
              <a:rPr lang="ko-KR" altLang="en-US" sz="1100" dirty="0"/>
              <a:t>개월 이내</a:t>
            </a:r>
          </a:p>
        </p:txBody>
      </p:sp>
      <p:sp>
        <p:nvSpPr>
          <p:cNvPr id="206" name="직사각형 205"/>
          <p:cNvSpPr/>
          <p:nvPr/>
        </p:nvSpPr>
        <p:spPr>
          <a:xfrm>
            <a:off x="6167454" y="3788131"/>
            <a:ext cx="409086" cy="481222"/>
          </a:xfrm>
          <a:prstGeom prst="rect">
            <a:avLst/>
          </a:prstGeom>
        </p:spPr>
        <p:txBody>
          <a:bodyPr wrap="none">
            <a:spAutoFit/>
          </a:bodyPr>
          <a:lstStyle/>
          <a:p>
            <a:pPr algn="just" fontAlgn="base">
              <a:lnSpc>
                <a:spcPct val="160000"/>
              </a:lnSpc>
            </a:pPr>
            <a:r>
              <a:rPr lang="ko-KR" altLang="en-US" kern="0" dirty="0">
                <a:solidFill>
                  <a:srgbClr val="FF0000"/>
                </a:solidFill>
                <a:ea typeface="함초롬바탕" panose="02030504000101010101" pitchFamily="18" charset="-127"/>
              </a:rPr>
              <a:t>❸</a:t>
            </a:r>
            <a:endParaRPr lang="ko-KR" altLang="en-US" kern="0" dirty="0">
              <a:solidFill>
                <a:srgbClr val="FF0000"/>
              </a:solidFill>
            </a:endParaRPr>
          </a:p>
        </p:txBody>
      </p:sp>
      <p:sp>
        <p:nvSpPr>
          <p:cNvPr id="207" name="직사각형 206"/>
          <p:cNvSpPr/>
          <p:nvPr/>
        </p:nvSpPr>
        <p:spPr>
          <a:xfrm>
            <a:off x="3046958" y="3789306"/>
            <a:ext cx="409086" cy="481222"/>
          </a:xfrm>
          <a:prstGeom prst="rect">
            <a:avLst/>
          </a:prstGeom>
        </p:spPr>
        <p:txBody>
          <a:bodyPr wrap="none">
            <a:spAutoFit/>
          </a:bodyPr>
          <a:lstStyle/>
          <a:p>
            <a:pPr algn="just" fontAlgn="base">
              <a:lnSpc>
                <a:spcPct val="160000"/>
              </a:lnSpc>
            </a:pPr>
            <a:r>
              <a:rPr lang="ko-KR" altLang="en-US" kern="0" dirty="0">
                <a:solidFill>
                  <a:srgbClr val="FF0000"/>
                </a:solidFill>
                <a:ea typeface="함초롬바탕" panose="02030504000101010101" pitchFamily="18" charset="-127"/>
              </a:rPr>
              <a:t>❶</a:t>
            </a:r>
            <a:endParaRPr lang="ko-KR" altLang="en-US" kern="0" dirty="0">
              <a:solidFill>
                <a:srgbClr val="FF0000"/>
              </a:solidFill>
            </a:endParaRPr>
          </a:p>
        </p:txBody>
      </p:sp>
      <p:sp>
        <p:nvSpPr>
          <p:cNvPr id="208" name="직사각형 207"/>
          <p:cNvSpPr/>
          <p:nvPr/>
        </p:nvSpPr>
        <p:spPr>
          <a:xfrm>
            <a:off x="1927734" y="5803302"/>
            <a:ext cx="409086" cy="481222"/>
          </a:xfrm>
          <a:prstGeom prst="rect">
            <a:avLst/>
          </a:prstGeom>
        </p:spPr>
        <p:txBody>
          <a:bodyPr wrap="none">
            <a:spAutoFit/>
          </a:bodyPr>
          <a:lstStyle/>
          <a:p>
            <a:pPr algn="just" fontAlgn="base">
              <a:lnSpc>
                <a:spcPct val="160000"/>
              </a:lnSpc>
            </a:pPr>
            <a:r>
              <a:rPr lang="ko-KR" altLang="en-US" kern="0" dirty="0">
                <a:solidFill>
                  <a:srgbClr val="FF0000"/>
                </a:solidFill>
                <a:ea typeface="함초롬바탕" panose="02030504000101010101" pitchFamily="18" charset="-127"/>
              </a:rPr>
              <a:t>❶</a:t>
            </a:r>
            <a:endParaRPr lang="ko-KR" altLang="en-US" kern="0" dirty="0">
              <a:solidFill>
                <a:srgbClr val="FF0000"/>
              </a:solidFill>
            </a:endParaRPr>
          </a:p>
        </p:txBody>
      </p:sp>
      <p:sp>
        <p:nvSpPr>
          <p:cNvPr id="209" name="직사각형 208"/>
          <p:cNvSpPr/>
          <p:nvPr/>
        </p:nvSpPr>
        <p:spPr>
          <a:xfrm>
            <a:off x="4928067" y="3091800"/>
            <a:ext cx="409086" cy="481222"/>
          </a:xfrm>
          <a:prstGeom prst="rect">
            <a:avLst/>
          </a:prstGeom>
        </p:spPr>
        <p:txBody>
          <a:bodyPr wrap="none">
            <a:spAutoFit/>
          </a:bodyPr>
          <a:lstStyle/>
          <a:p>
            <a:pPr algn="just" fontAlgn="base">
              <a:lnSpc>
                <a:spcPct val="160000"/>
              </a:lnSpc>
            </a:pPr>
            <a:r>
              <a:rPr lang="ko-KR" altLang="en-US" kern="0" dirty="0">
                <a:solidFill>
                  <a:srgbClr val="FF0000"/>
                </a:solidFill>
                <a:ea typeface="함초롬바탕" panose="02030504000101010101" pitchFamily="18" charset="-127"/>
              </a:rPr>
              <a:t>❷</a:t>
            </a:r>
            <a:endParaRPr lang="ko-KR" altLang="en-US" kern="0" dirty="0">
              <a:solidFill>
                <a:srgbClr val="FF0000"/>
              </a:solidFill>
            </a:endParaRPr>
          </a:p>
        </p:txBody>
      </p:sp>
      <p:sp>
        <p:nvSpPr>
          <p:cNvPr id="210" name="직사각형 209"/>
          <p:cNvSpPr/>
          <p:nvPr/>
        </p:nvSpPr>
        <p:spPr>
          <a:xfrm>
            <a:off x="4928067" y="5118928"/>
            <a:ext cx="409086" cy="481222"/>
          </a:xfrm>
          <a:prstGeom prst="rect">
            <a:avLst/>
          </a:prstGeom>
        </p:spPr>
        <p:txBody>
          <a:bodyPr wrap="none">
            <a:spAutoFit/>
          </a:bodyPr>
          <a:lstStyle/>
          <a:p>
            <a:pPr algn="just" fontAlgn="base">
              <a:lnSpc>
                <a:spcPct val="160000"/>
              </a:lnSpc>
            </a:pPr>
            <a:r>
              <a:rPr lang="ko-KR" altLang="en-US" kern="0" dirty="0">
                <a:solidFill>
                  <a:srgbClr val="FF0000"/>
                </a:solidFill>
                <a:ea typeface="함초롬바탕" panose="02030504000101010101" pitchFamily="18" charset="-127"/>
              </a:rPr>
              <a:t>❷</a:t>
            </a:r>
            <a:endParaRPr lang="ko-KR" altLang="en-US" kern="0" dirty="0">
              <a:solidFill>
                <a:srgbClr val="FF0000"/>
              </a:solidFill>
            </a:endParaRPr>
          </a:p>
        </p:txBody>
      </p:sp>
      <p:sp>
        <p:nvSpPr>
          <p:cNvPr id="211" name="직사각형 210"/>
          <p:cNvSpPr/>
          <p:nvPr/>
        </p:nvSpPr>
        <p:spPr>
          <a:xfrm>
            <a:off x="6187708" y="5831087"/>
            <a:ext cx="409086" cy="481222"/>
          </a:xfrm>
          <a:prstGeom prst="rect">
            <a:avLst/>
          </a:prstGeom>
        </p:spPr>
        <p:txBody>
          <a:bodyPr wrap="none">
            <a:spAutoFit/>
          </a:bodyPr>
          <a:lstStyle/>
          <a:p>
            <a:pPr algn="just" fontAlgn="base">
              <a:lnSpc>
                <a:spcPct val="160000"/>
              </a:lnSpc>
            </a:pPr>
            <a:r>
              <a:rPr lang="ko-KR" altLang="en-US" kern="0" dirty="0">
                <a:solidFill>
                  <a:srgbClr val="FF0000"/>
                </a:solidFill>
                <a:ea typeface="함초롬바탕" panose="02030504000101010101" pitchFamily="18" charset="-127"/>
              </a:rPr>
              <a:t>❸</a:t>
            </a:r>
            <a:endParaRPr lang="ko-KR" altLang="en-US" kern="0" dirty="0">
              <a:solidFill>
                <a:srgbClr val="FF0000"/>
              </a:solidFill>
            </a:endParaRPr>
          </a:p>
        </p:txBody>
      </p:sp>
      <p:cxnSp>
        <p:nvCxnSpPr>
          <p:cNvPr id="212" name="직선 연결선 211"/>
          <p:cNvCxnSpPr/>
          <p:nvPr/>
        </p:nvCxnSpPr>
        <p:spPr>
          <a:xfrm flipV="1">
            <a:off x="314325" y="4362450"/>
            <a:ext cx="11594335" cy="952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224</a:t>
            </a:r>
            <a:endParaRPr lang="ko-KR" altLang="en-US"/>
          </a:p>
        </p:txBody>
      </p:sp>
      <p:sp>
        <p:nvSpPr>
          <p:cNvPr id="6" name="TextBox 5">
            <a:extLst>
              <a:ext uri="{FF2B5EF4-FFF2-40B4-BE49-F238E27FC236}">
                <a16:creationId xmlns:a16="http://schemas.microsoft.com/office/drawing/2014/main" id="{7ACD495C-BDCE-3714-EA56-E5D5BC4975CA}"/>
              </a:ext>
            </a:extLst>
          </p:cNvPr>
          <p:cNvSpPr txBox="1"/>
          <p:nvPr/>
        </p:nvSpPr>
        <p:spPr>
          <a:xfrm>
            <a:off x="3406661" y="6331722"/>
            <a:ext cx="886781" cy="261610"/>
          </a:xfrm>
          <a:prstGeom prst="rect">
            <a:avLst/>
          </a:prstGeom>
          <a:noFill/>
        </p:spPr>
        <p:txBody>
          <a:bodyPr wrap="none" rtlCol="0">
            <a:spAutoFit/>
          </a:bodyPr>
          <a:lstStyle/>
          <a:p>
            <a:r>
              <a:rPr lang="en-US" altLang="ko-KR" sz="1100" dirty="0">
                <a:solidFill>
                  <a:srgbClr val="FF0000"/>
                </a:solidFill>
              </a:rPr>
              <a:t>12</a:t>
            </a:r>
            <a:r>
              <a:rPr lang="ko-KR" altLang="en-US" sz="1100" dirty="0">
                <a:solidFill>
                  <a:srgbClr val="FF0000"/>
                </a:solidFill>
              </a:rPr>
              <a:t>개월 이내</a:t>
            </a:r>
          </a:p>
        </p:txBody>
      </p:sp>
      <p:sp>
        <p:nvSpPr>
          <p:cNvPr id="7" name="직사각형 6">
            <a:extLst>
              <a:ext uri="{FF2B5EF4-FFF2-40B4-BE49-F238E27FC236}">
                <a16:creationId xmlns:a16="http://schemas.microsoft.com/office/drawing/2014/main" id="{EC5F4F8D-E515-4534-A0D2-A8E9CAC53E61}"/>
              </a:ext>
            </a:extLst>
          </p:cNvPr>
          <p:cNvSpPr/>
          <p:nvPr/>
        </p:nvSpPr>
        <p:spPr>
          <a:xfrm>
            <a:off x="3136353" y="6162479"/>
            <a:ext cx="409086" cy="481222"/>
          </a:xfrm>
          <a:prstGeom prst="rect">
            <a:avLst/>
          </a:prstGeom>
        </p:spPr>
        <p:txBody>
          <a:bodyPr wrap="none">
            <a:spAutoFit/>
          </a:bodyPr>
          <a:lstStyle/>
          <a:p>
            <a:pPr algn="just" fontAlgn="base">
              <a:lnSpc>
                <a:spcPct val="160000"/>
              </a:lnSpc>
            </a:pPr>
            <a:r>
              <a:rPr lang="ko-KR" altLang="en-US" kern="0" dirty="0">
                <a:solidFill>
                  <a:srgbClr val="FF0000"/>
                </a:solidFill>
                <a:ea typeface="함초롬바탕" panose="02030504000101010101" pitchFamily="18" charset="-127"/>
              </a:rPr>
              <a:t>❶</a:t>
            </a:r>
            <a:endParaRPr lang="ko-KR" altLang="en-US" kern="0" dirty="0">
              <a:solidFill>
                <a:srgbClr val="FF0000"/>
              </a:solidFill>
            </a:endParaRPr>
          </a:p>
        </p:txBody>
      </p:sp>
      <p:sp>
        <p:nvSpPr>
          <p:cNvPr id="8" name="직사각형 7">
            <a:extLst>
              <a:ext uri="{FF2B5EF4-FFF2-40B4-BE49-F238E27FC236}">
                <a16:creationId xmlns:a16="http://schemas.microsoft.com/office/drawing/2014/main" id="{EE9DA660-33EC-2281-11B0-6DBE0124346C}"/>
              </a:ext>
            </a:extLst>
          </p:cNvPr>
          <p:cNvSpPr/>
          <p:nvPr/>
        </p:nvSpPr>
        <p:spPr>
          <a:xfrm>
            <a:off x="5000823" y="688903"/>
            <a:ext cx="409086" cy="481222"/>
          </a:xfrm>
          <a:prstGeom prst="rect">
            <a:avLst/>
          </a:prstGeom>
        </p:spPr>
        <p:txBody>
          <a:bodyPr wrap="none">
            <a:spAutoFit/>
          </a:bodyPr>
          <a:lstStyle/>
          <a:p>
            <a:pPr algn="just" fontAlgn="base">
              <a:lnSpc>
                <a:spcPct val="160000"/>
              </a:lnSpc>
            </a:pPr>
            <a:r>
              <a:rPr lang="ko-KR" altLang="en-US" kern="0" dirty="0">
                <a:solidFill>
                  <a:srgbClr val="FF0000"/>
                </a:solidFill>
                <a:ea typeface="함초롬바탕" panose="02030504000101010101" pitchFamily="18" charset="-127"/>
              </a:rPr>
              <a:t>❶</a:t>
            </a:r>
            <a:endParaRPr lang="ko-KR" altLang="en-US" kern="0" dirty="0">
              <a:solidFill>
                <a:srgbClr val="FF0000"/>
              </a:solidFill>
            </a:endParaRPr>
          </a:p>
        </p:txBody>
      </p:sp>
      <p:sp>
        <p:nvSpPr>
          <p:cNvPr id="9" name="직사각형 8">
            <a:extLst>
              <a:ext uri="{FF2B5EF4-FFF2-40B4-BE49-F238E27FC236}">
                <a16:creationId xmlns:a16="http://schemas.microsoft.com/office/drawing/2014/main" id="{6242DFDE-3C4B-FC22-58B9-BF810D106C80}"/>
              </a:ext>
            </a:extLst>
          </p:cNvPr>
          <p:cNvSpPr/>
          <p:nvPr/>
        </p:nvSpPr>
        <p:spPr>
          <a:xfrm>
            <a:off x="8362311" y="699573"/>
            <a:ext cx="633507" cy="926344"/>
          </a:xfrm>
          <a:prstGeom prst="rect">
            <a:avLst/>
          </a:prstGeom>
        </p:spPr>
        <p:txBody>
          <a:bodyPr wrap="none">
            <a:spAutoFit/>
          </a:bodyPr>
          <a:lstStyle/>
          <a:p>
            <a:pPr algn="just" fontAlgn="base">
              <a:lnSpc>
                <a:spcPct val="160000"/>
              </a:lnSpc>
            </a:pPr>
            <a:r>
              <a:rPr lang="ko-KR" altLang="en-US" kern="0" dirty="0">
                <a:solidFill>
                  <a:srgbClr val="FF0000"/>
                </a:solidFill>
                <a:ea typeface="함초롬바탕" panose="02030504000101010101" pitchFamily="18" charset="-127"/>
              </a:rPr>
              <a:t>❷❸</a:t>
            </a:r>
            <a:endParaRPr lang="ko-KR" altLang="en-US" kern="0" dirty="0">
              <a:solidFill>
                <a:srgbClr val="FF0000"/>
              </a:solidFill>
            </a:endParaRPr>
          </a:p>
          <a:p>
            <a:pPr algn="just" fontAlgn="base">
              <a:lnSpc>
                <a:spcPct val="160000"/>
              </a:lnSpc>
            </a:pPr>
            <a:endParaRPr lang="ko-KR" altLang="en-US" kern="0" dirty="0">
              <a:solidFill>
                <a:srgbClr val="FF0000"/>
              </a:solidFill>
            </a:endParaRPr>
          </a:p>
        </p:txBody>
      </p:sp>
    </p:spTree>
    <p:extLst>
      <p:ext uri="{BB962C8B-B14F-4D97-AF65-F5344CB8AC3E}">
        <p14:creationId xmlns:p14="http://schemas.microsoft.com/office/powerpoint/2010/main" val="2699474027"/>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양쪽 모서리가 둥근 사각형 92"/>
          <p:cNvSpPr/>
          <p:nvPr/>
        </p:nvSpPr>
        <p:spPr>
          <a:xfrm rot="10800000">
            <a:off x="5390966" y="5037810"/>
            <a:ext cx="3931096" cy="528720"/>
          </a:xfrm>
          <a:prstGeom prst="round2SameRect">
            <a:avLst>
              <a:gd name="adj1" fmla="val 50000"/>
              <a:gd name="adj2" fmla="val 0"/>
            </a:avLst>
          </a:prstGeom>
          <a:pattFill prst="dkVert">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2" name="양쪽 모서리가 둥근 사각형 91"/>
          <p:cNvSpPr/>
          <p:nvPr/>
        </p:nvSpPr>
        <p:spPr>
          <a:xfrm>
            <a:off x="1541824" y="4501964"/>
            <a:ext cx="7780238" cy="528720"/>
          </a:xfrm>
          <a:prstGeom prst="round2SameRect">
            <a:avLst>
              <a:gd name="adj1" fmla="val 50000"/>
              <a:gd name="adj2" fmla="val 0"/>
            </a:avLst>
          </a:prstGeom>
          <a:pattFill prst="wdDnDiag">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4" name="텍스트 개체 틀 3"/>
          <p:cNvSpPr>
            <a:spLocks noGrp="1"/>
          </p:cNvSpPr>
          <p:nvPr>
            <p:ph type="body" sz="quarter" idx="13"/>
          </p:nvPr>
        </p:nvSpPr>
        <p:spPr/>
        <p:txBody>
          <a:bodyPr/>
          <a:lstStyle/>
          <a:p>
            <a:r>
              <a:rPr lang="ko-KR" altLang="en-US" dirty="0"/>
              <a:t>우선권주장이 </a:t>
            </a:r>
            <a:r>
              <a:rPr lang="ko-KR" altLang="en-US" dirty="0" err="1"/>
              <a:t>부적법한</a:t>
            </a:r>
            <a:r>
              <a:rPr lang="ko-KR" altLang="en-US" dirty="0"/>
              <a:t> 경우의 취급</a:t>
            </a:r>
          </a:p>
        </p:txBody>
      </p:sp>
      <p:sp>
        <p:nvSpPr>
          <p:cNvPr id="26" name="TextBox 25"/>
          <p:cNvSpPr txBox="1"/>
          <p:nvPr/>
        </p:nvSpPr>
        <p:spPr>
          <a:xfrm>
            <a:off x="77875" y="986046"/>
            <a:ext cx="11936323" cy="738664"/>
          </a:xfrm>
          <a:prstGeom prst="rect">
            <a:avLst/>
          </a:prstGeom>
          <a:noFill/>
        </p:spPr>
        <p:txBody>
          <a:bodyPr wrap="square" rtlCol="0">
            <a:spAutoFit/>
          </a:bodyPr>
          <a:lstStyle/>
          <a:p>
            <a:pPr fontAlgn="base"/>
            <a:r>
              <a:rPr lang="ko-KR" altLang="en-US" sz="1400" dirty="0" err="1"/>
              <a:t>출원인이</a:t>
            </a:r>
            <a:r>
              <a:rPr lang="ko-KR" altLang="en-US" sz="1400" dirty="0"/>
              <a:t> 공지예외적용주장</a:t>
            </a:r>
            <a:r>
              <a:rPr lang="en-US" altLang="ko-KR" sz="1400" dirty="0"/>
              <a:t>/</a:t>
            </a:r>
            <a:r>
              <a:rPr lang="ko-KR" altLang="en-US" sz="1400" dirty="0"/>
              <a:t>우선권주장출원을 하였으나</a:t>
            </a:r>
            <a:r>
              <a:rPr lang="en-US" altLang="ko-KR" sz="1400" dirty="0"/>
              <a:t>, </a:t>
            </a:r>
            <a:r>
              <a:rPr lang="ko-KR" altLang="en-US" sz="1400" dirty="0"/>
              <a:t>공지예외적용주장</a:t>
            </a:r>
            <a:r>
              <a:rPr lang="en-US" altLang="ko-KR" sz="1400" dirty="0"/>
              <a:t>/</a:t>
            </a:r>
            <a:r>
              <a:rPr lang="ko-KR" altLang="en-US" sz="1400" dirty="0"/>
              <a:t>우선권주장이 방식에 위반된 경우 지식재산처장은 그 흠결을 지적하여 보정명령을 하고 보정명령에도 불구하고 보정하지 않거나 보정에 의하여 흠결이 치유되지 아니한 경우 그 보정명령을 한 절차인 </a:t>
            </a:r>
            <a:r>
              <a:rPr lang="ko-KR" altLang="en-US" sz="1400" dirty="0">
                <a:highlight>
                  <a:srgbClr val="FFFF00"/>
                </a:highlight>
              </a:rPr>
              <a:t>「공지예외적용주장</a:t>
            </a:r>
            <a:r>
              <a:rPr lang="en-US" altLang="ko-KR" sz="1400" dirty="0">
                <a:highlight>
                  <a:srgbClr val="FFFF00"/>
                </a:highlight>
              </a:rPr>
              <a:t>/</a:t>
            </a:r>
            <a:r>
              <a:rPr lang="ko-KR" altLang="en-US" sz="1400" dirty="0">
                <a:highlight>
                  <a:srgbClr val="FFFF00"/>
                </a:highlight>
              </a:rPr>
              <a:t>우선권주장」</a:t>
            </a:r>
            <a:r>
              <a:rPr lang="ko-KR" altLang="en-US" sz="1400" dirty="0"/>
              <a:t>을 무효로 할 수 있다</a:t>
            </a:r>
            <a:r>
              <a:rPr lang="en-US" altLang="ko-KR" sz="1400" dirty="0"/>
              <a:t>. </a:t>
            </a:r>
            <a:r>
              <a:rPr lang="ko-KR" altLang="en-US" sz="1400" dirty="0">
                <a:highlight>
                  <a:srgbClr val="FFFF00"/>
                </a:highlight>
              </a:rPr>
              <a:t>출원</a:t>
            </a:r>
            <a:r>
              <a:rPr lang="ko-KR" altLang="en-US" sz="1400" dirty="0"/>
              <a:t>은 공지예외적용주장</a:t>
            </a:r>
            <a:r>
              <a:rPr lang="en-US" altLang="ko-KR" sz="1400" dirty="0"/>
              <a:t>/</a:t>
            </a:r>
            <a:r>
              <a:rPr lang="ko-KR" altLang="en-US" sz="1400" dirty="0"/>
              <a:t>우선권주장을 하지 아니한 출원이 된다</a:t>
            </a:r>
            <a:r>
              <a:rPr lang="en-US" altLang="ko-KR" sz="1400" dirty="0"/>
              <a:t>.</a:t>
            </a:r>
            <a:endParaRPr lang="ko-KR" altLang="en-US" sz="1400" dirty="0"/>
          </a:p>
        </p:txBody>
      </p:sp>
      <p:cxnSp>
        <p:nvCxnSpPr>
          <p:cNvPr id="27" name="직선 연결선 26"/>
          <p:cNvCxnSpPr/>
          <p:nvPr/>
        </p:nvCxnSpPr>
        <p:spPr>
          <a:xfrm>
            <a:off x="0" y="172341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직사각형 4"/>
          <p:cNvSpPr/>
          <p:nvPr/>
        </p:nvSpPr>
        <p:spPr>
          <a:xfrm>
            <a:off x="885824" y="1789023"/>
            <a:ext cx="1038225" cy="33701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제</a:t>
            </a:r>
            <a:r>
              <a:rPr lang="en-US" altLang="ko-KR" sz="1400" dirty="0">
                <a:solidFill>
                  <a:schemeClr val="tx1"/>
                </a:solidFill>
              </a:rPr>
              <a:t>30</a:t>
            </a:r>
            <a:r>
              <a:rPr lang="ko-KR" altLang="en-US" sz="1400" dirty="0">
                <a:solidFill>
                  <a:schemeClr val="tx1"/>
                </a:solidFill>
              </a:rPr>
              <a:t>조</a:t>
            </a:r>
          </a:p>
        </p:txBody>
      </p:sp>
      <p:sp>
        <p:nvSpPr>
          <p:cNvPr id="37" name="직사각형 36"/>
          <p:cNvSpPr/>
          <p:nvPr/>
        </p:nvSpPr>
        <p:spPr>
          <a:xfrm>
            <a:off x="885824" y="2213661"/>
            <a:ext cx="1038225" cy="33701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제</a:t>
            </a:r>
            <a:r>
              <a:rPr lang="en-US" altLang="ko-KR" sz="1400" dirty="0">
                <a:solidFill>
                  <a:schemeClr val="tx1"/>
                </a:solidFill>
              </a:rPr>
              <a:t>54</a:t>
            </a:r>
            <a:r>
              <a:rPr lang="ko-KR" altLang="en-US" sz="1400" dirty="0">
                <a:solidFill>
                  <a:schemeClr val="tx1"/>
                </a:solidFill>
              </a:rPr>
              <a:t>조</a:t>
            </a:r>
          </a:p>
        </p:txBody>
      </p:sp>
      <p:sp>
        <p:nvSpPr>
          <p:cNvPr id="38" name="직사각형 37"/>
          <p:cNvSpPr/>
          <p:nvPr/>
        </p:nvSpPr>
        <p:spPr>
          <a:xfrm>
            <a:off x="885824" y="2624818"/>
            <a:ext cx="1038225" cy="33701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제</a:t>
            </a:r>
            <a:r>
              <a:rPr lang="en-US" altLang="ko-KR" sz="1400" dirty="0">
                <a:solidFill>
                  <a:schemeClr val="tx1"/>
                </a:solidFill>
              </a:rPr>
              <a:t>55</a:t>
            </a:r>
            <a:r>
              <a:rPr lang="ko-KR" altLang="en-US" sz="1400" dirty="0">
                <a:solidFill>
                  <a:schemeClr val="tx1"/>
                </a:solidFill>
              </a:rPr>
              <a:t>조</a:t>
            </a:r>
          </a:p>
        </p:txBody>
      </p:sp>
      <p:sp>
        <p:nvSpPr>
          <p:cNvPr id="41" name="직사각형 40"/>
          <p:cNvSpPr/>
          <p:nvPr/>
        </p:nvSpPr>
        <p:spPr>
          <a:xfrm>
            <a:off x="885824" y="3069676"/>
            <a:ext cx="1038225" cy="337014"/>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제</a:t>
            </a:r>
            <a:r>
              <a:rPr lang="en-US" altLang="ko-KR" sz="1400" dirty="0">
                <a:solidFill>
                  <a:schemeClr val="tx1"/>
                </a:solidFill>
              </a:rPr>
              <a:t>52</a:t>
            </a:r>
            <a:r>
              <a:rPr lang="ko-KR" altLang="en-US" sz="1400" dirty="0">
                <a:solidFill>
                  <a:schemeClr val="tx1"/>
                </a:solidFill>
              </a:rPr>
              <a:t>조</a:t>
            </a:r>
          </a:p>
        </p:txBody>
      </p:sp>
      <p:sp>
        <p:nvSpPr>
          <p:cNvPr id="44" name="직사각형 43"/>
          <p:cNvSpPr/>
          <p:nvPr/>
        </p:nvSpPr>
        <p:spPr>
          <a:xfrm>
            <a:off x="885824" y="3480833"/>
            <a:ext cx="1038225" cy="337014"/>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제</a:t>
            </a:r>
            <a:r>
              <a:rPr lang="en-US" altLang="ko-KR" sz="1400" dirty="0">
                <a:solidFill>
                  <a:schemeClr val="tx1"/>
                </a:solidFill>
              </a:rPr>
              <a:t>52</a:t>
            </a:r>
            <a:r>
              <a:rPr lang="ko-KR" altLang="en-US" sz="1400" dirty="0">
                <a:solidFill>
                  <a:schemeClr val="tx1"/>
                </a:solidFill>
              </a:rPr>
              <a:t>조의</a:t>
            </a:r>
            <a:r>
              <a:rPr lang="en-US" altLang="ko-KR" sz="1400" dirty="0">
                <a:solidFill>
                  <a:schemeClr val="tx1"/>
                </a:solidFill>
              </a:rPr>
              <a:t>2</a:t>
            </a:r>
            <a:endParaRPr lang="ko-KR" altLang="en-US" sz="1400" dirty="0">
              <a:solidFill>
                <a:schemeClr val="tx1"/>
              </a:solidFill>
            </a:endParaRPr>
          </a:p>
        </p:txBody>
      </p:sp>
      <p:sp>
        <p:nvSpPr>
          <p:cNvPr id="45" name="직사각형 44"/>
          <p:cNvSpPr/>
          <p:nvPr/>
        </p:nvSpPr>
        <p:spPr>
          <a:xfrm>
            <a:off x="5019674" y="2206920"/>
            <a:ext cx="2428876" cy="337014"/>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주장과 출원이 가분</a:t>
            </a:r>
          </a:p>
        </p:txBody>
      </p:sp>
      <p:sp>
        <p:nvSpPr>
          <p:cNvPr id="46" name="직사각형 45"/>
          <p:cNvSpPr/>
          <p:nvPr/>
        </p:nvSpPr>
        <p:spPr>
          <a:xfrm>
            <a:off x="2990849" y="3251664"/>
            <a:ext cx="1400176" cy="337014"/>
          </a:xfrm>
          <a:prstGeom prst="rect">
            <a:avLst/>
          </a:prstGeom>
          <a:solidFill>
            <a:schemeClr val="accent4">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a:solidFill>
                  <a:schemeClr val="bg1"/>
                </a:solidFill>
              </a:rPr>
              <a:t>주장 </a:t>
            </a:r>
            <a:r>
              <a:rPr lang="ko-KR" altLang="en-US" sz="1400" dirty="0" err="1">
                <a:solidFill>
                  <a:schemeClr val="bg1"/>
                </a:solidFill>
              </a:rPr>
              <a:t>부적법</a:t>
            </a:r>
            <a:endParaRPr lang="ko-KR" altLang="en-US" sz="1400" dirty="0">
              <a:solidFill>
                <a:schemeClr val="bg1"/>
              </a:solidFill>
            </a:endParaRPr>
          </a:p>
        </p:txBody>
      </p:sp>
      <p:sp>
        <p:nvSpPr>
          <p:cNvPr id="48" name="직사각형 47"/>
          <p:cNvSpPr/>
          <p:nvPr/>
        </p:nvSpPr>
        <p:spPr>
          <a:xfrm>
            <a:off x="2990849" y="2206920"/>
            <a:ext cx="1400176" cy="337014"/>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a:solidFill>
                  <a:schemeClr val="bg1"/>
                </a:solidFill>
              </a:rPr>
              <a:t>주장 </a:t>
            </a:r>
            <a:r>
              <a:rPr lang="ko-KR" altLang="en-US" sz="1400" dirty="0" err="1">
                <a:solidFill>
                  <a:schemeClr val="bg1"/>
                </a:solidFill>
              </a:rPr>
              <a:t>부적법</a:t>
            </a:r>
            <a:endParaRPr lang="ko-KR" altLang="en-US" sz="1400" dirty="0">
              <a:solidFill>
                <a:schemeClr val="bg1"/>
              </a:solidFill>
            </a:endParaRPr>
          </a:p>
        </p:txBody>
      </p:sp>
      <p:sp>
        <p:nvSpPr>
          <p:cNvPr id="52" name="직사각형 51"/>
          <p:cNvSpPr/>
          <p:nvPr/>
        </p:nvSpPr>
        <p:spPr>
          <a:xfrm>
            <a:off x="5019674" y="3251664"/>
            <a:ext cx="2371726" cy="337014"/>
          </a:xfrm>
          <a:prstGeom prst="rect">
            <a:avLst/>
          </a:prstGeom>
          <a:solidFill>
            <a:schemeClr val="accent4">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주장과 출원이 불가분</a:t>
            </a:r>
          </a:p>
        </p:txBody>
      </p:sp>
      <p:sp>
        <p:nvSpPr>
          <p:cNvPr id="55" name="직사각형 54"/>
          <p:cNvSpPr/>
          <p:nvPr/>
        </p:nvSpPr>
        <p:spPr>
          <a:xfrm>
            <a:off x="8077199" y="2206920"/>
            <a:ext cx="1400176" cy="337014"/>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주장 무효</a:t>
            </a:r>
          </a:p>
        </p:txBody>
      </p:sp>
      <p:sp>
        <p:nvSpPr>
          <p:cNvPr id="56" name="직사각형 55"/>
          <p:cNvSpPr/>
          <p:nvPr/>
        </p:nvSpPr>
        <p:spPr>
          <a:xfrm>
            <a:off x="8077199" y="3251664"/>
            <a:ext cx="1400176" cy="337014"/>
          </a:xfrm>
          <a:prstGeom prst="rect">
            <a:avLst/>
          </a:prstGeom>
          <a:solidFill>
            <a:schemeClr val="accent4">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출원 불수리</a:t>
            </a:r>
          </a:p>
        </p:txBody>
      </p:sp>
      <p:cxnSp>
        <p:nvCxnSpPr>
          <p:cNvPr id="7" name="꺾인 연결선 6"/>
          <p:cNvCxnSpPr>
            <a:stCxn id="5" idx="3"/>
            <a:endCxn id="48" idx="1"/>
          </p:cNvCxnSpPr>
          <p:nvPr/>
        </p:nvCxnSpPr>
        <p:spPr>
          <a:xfrm>
            <a:off x="1924049" y="1957530"/>
            <a:ext cx="1066800" cy="41789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꺾인 연결선 56"/>
          <p:cNvCxnSpPr>
            <a:stCxn id="41" idx="3"/>
            <a:endCxn id="46" idx="1"/>
          </p:cNvCxnSpPr>
          <p:nvPr/>
        </p:nvCxnSpPr>
        <p:spPr>
          <a:xfrm>
            <a:off x="1924049" y="3238183"/>
            <a:ext cx="1066800" cy="18198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꺾인 연결선 57"/>
          <p:cNvCxnSpPr>
            <a:stCxn id="44" idx="3"/>
            <a:endCxn id="46" idx="1"/>
          </p:cNvCxnSpPr>
          <p:nvPr/>
        </p:nvCxnSpPr>
        <p:spPr>
          <a:xfrm flipV="1">
            <a:off x="1924049" y="3420171"/>
            <a:ext cx="1066800" cy="22916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꺾인 연결선 58"/>
          <p:cNvCxnSpPr>
            <a:stCxn id="38" idx="3"/>
            <a:endCxn id="48" idx="1"/>
          </p:cNvCxnSpPr>
          <p:nvPr/>
        </p:nvCxnSpPr>
        <p:spPr>
          <a:xfrm flipV="1">
            <a:off x="1924049" y="2375427"/>
            <a:ext cx="1066800" cy="41789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꺾인 연결선 59"/>
          <p:cNvCxnSpPr>
            <a:stCxn id="37" idx="3"/>
            <a:endCxn id="48" idx="1"/>
          </p:cNvCxnSpPr>
          <p:nvPr/>
        </p:nvCxnSpPr>
        <p:spPr>
          <a:xfrm flipV="1">
            <a:off x="1924049" y="2375427"/>
            <a:ext cx="1066800" cy="674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직선 화살표 연결선 16"/>
          <p:cNvCxnSpPr>
            <a:stCxn id="45" idx="3"/>
            <a:endCxn id="55" idx="1"/>
          </p:cNvCxnSpPr>
          <p:nvPr/>
        </p:nvCxnSpPr>
        <p:spPr>
          <a:xfrm>
            <a:off x="7448550" y="2375427"/>
            <a:ext cx="628649"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 name="직선 연결선 18"/>
          <p:cNvCxnSpPr>
            <a:stCxn id="48" idx="3"/>
            <a:endCxn id="45" idx="1"/>
          </p:cNvCxnSpPr>
          <p:nvPr/>
        </p:nvCxnSpPr>
        <p:spPr>
          <a:xfrm>
            <a:off x="4391025" y="2375427"/>
            <a:ext cx="628649"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1" name="직선 연결선 20"/>
          <p:cNvCxnSpPr>
            <a:stCxn id="46" idx="3"/>
            <a:endCxn id="52" idx="1"/>
          </p:cNvCxnSpPr>
          <p:nvPr/>
        </p:nvCxnSpPr>
        <p:spPr>
          <a:xfrm>
            <a:off x="4391025" y="3420171"/>
            <a:ext cx="628649"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직선 연결선 24"/>
          <p:cNvCxnSpPr>
            <a:stCxn id="52" idx="3"/>
            <a:endCxn id="56" idx="1"/>
          </p:cNvCxnSpPr>
          <p:nvPr/>
        </p:nvCxnSpPr>
        <p:spPr>
          <a:xfrm>
            <a:off x="7391400" y="3420171"/>
            <a:ext cx="685799"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모서리가 둥근 사각형 설명선 61"/>
          <p:cNvSpPr/>
          <p:nvPr/>
        </p:nvSpPr>
        <p:spPr>
          <a:xfrm>
            <a:off x="9477375" y="1875621"/>
            <a:ext cx="2431285" cy="262871"/>
          </a:xfrm>
          <a:prstGeom prst="wedgeRoundRectCallout">
            <a:avLst>
              <a:gd name="adj1" fmla="val -56953"/>
              <a:gd name="adj2" fmla="val 46000"/>
              <a:gd name="adj3" fmla="val 16667"/>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주장을 수반하지 않은 출원만 존재</a:t>
            </a:r>
          </a:p>
        </p:txBody>
      </p:sp>
      <p:cxnSp>
        <p:nvCxnSpPr>
          <p:cNvPr id="64" name="직선 연결선 63"/>
          <p:cNvCxnSpPr/>
          <p:nvPr/>
        </p:nvCxnSpPr>
        <p:spPr>
          <a:xfrm flipV="1">
            <a:off x="314325" y="4349564"/>
            <a:ext cx="11594335" cy="952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직선 화살표 연결선 84"/>
          <p:cNvCxnSpPr/>
          <p:nvPr/>
        </p:nvCxnSpPr>
        <p:spPr>
          <a:xfrm>
            <a:off x="706792" y="5039474"/>
            <a:ext cx="105898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6" name="Rectangle 14"/>
          <p:cNvSpPr>
            <a:spLocks noChangeArrowheads="1"/>
          </p:cNvSpPr>
          <p:nvPr/>
        </p:nvSpPr>
        <p:spPr bwMode="auto">
          <a:xfrm>
            <a:off x="927803" y="4896401"/>
            <a:ext cx="1228042" cy="268566"/>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a:latin typeface="+mn-ea"/>
              </a:rPr>
              <a:t>미국출원</a:t>
            </a:r>
            <a:r>
              <a:rPr lang="en-US" altLang="ko-KR" sz="1200" b="0" dirty="0">
                <a:latin typeface="+mn-ea"/>
              </a:rPr>
              <a:t>(X)</a:t>
            </a:r>
            <a:endParaRPr lang="ko-KR" altLang="en-US" sz="1200" b="0" dirty="0">
              <a:latin typeface="+mn-ea"/>
            </a:endParaRPr>
          </a:p>
        </p:txBody>
      </p:sp>
      <p:sp>
        <p:nvSpPr>
          <p:cNvPr id="87" name="Rectangle 14"/>
          <p:cNvSpPr>
            <a:spLocks noChangeArrowheads="1"/>
          </p:cNvSpPr>
          <p:nvPr/>
        </p:nvSpPr>
        <p:spPr bwMode="auto">
          <a:xfrm>
            <a:off x="4681696" y="4903527"/>
            <a:ext cx="1418541" cy="268566"/>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a:latin typeface="+mn-ea"/>
              </a:rPr>
              <a:t>일본출원</a:t>
            </a:r>
            <a:r>
              <a:rPr lang="en-US" altLang="ko-KR" sz="1200" b="0" dirty="0">
                <a:latin typeface="+mn-ea"/>
              </a:rPr>
              <a:t>(Y)</a:t>
            </a:r>
            <a:endParaRPr lang="ko-KR" altLang="en-US" sz="1200" b="0" dirty="0">
              <a:latin typeface="+mn-ea"/>
            </a:endParaRPr>
          </a:p>
        </p:txBody>
      </p:sp>
      <p:sp>
        <p:nvSpPr>
          <p:cNvPr id="88" name="Rectangle 14"/>
          <p:cNvSpPr>
            <a:spLocks noChangeArrowheads="1"/>
          </p:cNvSpPr>
          <p:nvPr/>
        </p:nvSpPr>
        <p:spPr bwMode="auto">
          <a:xfrm>
            <a:off x="8685220" y="6017019"/>
            <a:ext cx="1418541" cy="268566"/>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한국</a:t>
            </a:r>
            <a:r>
              <a:rPr lang="ko-KR" altLang="en-US" sz="1200" b="0" dirty="0">
                <a:latin typeface="+mn-ea"/>
              </a:rPr>
              <a:t>출원</a:t>
            </a:r>
            <a:r>
              <a:rPr lang="en-US" altLang="ko-KR" sz="1200" b="0" dirty="0">
                <a:latin typeface="+mn-ea"/>
              </a:rPr>
              <a:t>(Z)</a:t>
            </a:r>
            <a:endParaRPr lang="ko-KR" altLang="en-US" sz="1200" b="0" dirty="0">
              <a:latin typeface="+mn-ea"/>
            </a:endParaRPr>
          </a:p>
        </p:txBody>
      </p:sp>
      <p:sp>
        <p:nvSpPr>
          <p:cNvPr id="96" name="Rectangle 14"/>
          <p:cNvSpPr>
            <a:spLocks noChangeArrowheads="1"/>
          </p:cNvSpPr>
          <p:nvPr/>
        </p:nvSpPr>
        <p:spPr bwMode="auto">
          <a:xfrm flipV="1">
            <a:off x="9249633" y="4969534"/>
            <a:ext cx="144858" cy="122299"/>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7" name="Rectangle 14"/>
          <p:cNvSpPr>
            <a:spLocks noChangeArrowheads="1"/>
          </p:cNvSpPr>
          <p:nvPr/>
        </p:nvSpPr>
        <p:spPr bwMode="auto">
          <a:xfrm>
            <a:off x="6919028" y="6017019"/>
            <a:ext cx="1228042" cy="268566"/>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200" b="0" dirty="0">
                <a:latin typeface="+mn-ea"/>
              </a:rPr>
              <a:t>X</a:t>
            </a:r>
            <a:r>
              <a:rPr lang="ko-KR" altLang="en-US" sz="1200" b="0" dirty="0">
                <a:latin typeface="+mn-ea"/>
              </a:rPr>
              <a:t>기초 우선권주장</a:t>
            </a:r>
          </a:p>
        </p:txBody>
      </p:sp>
      <p:sp>
        <p:nvSpPr>
          <p:cNvPr id="98" name="Rectangle 14"/>
          <p:cNvSpPr>
            <a:spLocks noChangeArrowheads="1"/>
          </p:cNvSpPr>
          <p:nvPr/>
        </p:nvSpPr>
        <p:spPr bwMode="auto">
          <a:xfrm>
            <a:off x="10682632" y="6017019"/>
            <a:ext cx="1228042" cy="268566"/>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en-US" altLang="ko-KR" sz="1200" b="0" dirty="0">
                <a:latin typeface="+mn-ea"/>
              </a:rPr>
              <a:t>Y</a:t>
            </a:r>
            <a:r>
              <a:rPr lang="ko-KR" altLang="en-US" sz="1200" b="0" dirty="0">
                <a:latin typeface="+mn-ea"/>
              </a:rPr>
              <a:t>기초 우선권주장</a:t>
            </a:r>
          </a:p>
        </p:txBody>
      </p:sp>
      <p:cxnSp>
        <p:nvCxnSpPr>
          <p:cNvPr id="100" name="직선 연결선 99"/>
          <p:cNvCxnSpPr>
            <a:stCxn id="97" idx="0"/>
            <a:endCxn id="96" idx="1"/>
          </p:cNvCxnSpPr>
          <p:nvPr/>
        </p:nvCxnSpPr>
        <p:spPr>
          <a:xfrm flipV="1">
            <a:off x="7533049" y="5073923"/>
            <a:ext cx="1737798" cy="943096"/>
          </a:xfrm>
          <a:prstGeom prst="line">
            <a:avLst/>
          </a:prstGeom>
          <a:ln w="38100">
            <a:solidFill>
              <a:schemeClr val="tx1">
                <a:lumMod val="95000"/>
                <a:lumOff val="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a:stCxn id="88" idx="0"/>
          </p:cNvCxnSpPr>
          <p:nvPr/>
        </p:nvCxnSpPr>
        <p:spPr>
          <a:xfrm flipH="1" flipV="1">
            <a:off x="9322062" y="5091833"/>
            <a:ext cx="72429" cy="925186"/>
          </a:xfrm>
          <a:prstGeom prst="line">
            <a:avLst/>
          </a:prstGeom>
          <a:ln w="38100">
            <a:solidFill>
              <a:schemeClr val="tx1">
                <a:lumMod val="95000"/>
                <a:lumOff val="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4" name="직선 연결선 103"/>
          <p:cNvCxnSpPr>
            <a:stCxn id="98" idx="0"/>
            <a:endCxn id="96" idx="7"/>
          </p:cNvCxnSpPr>
          <p:nvPr/>
        </p:nvCxnSpPr>
        <p:spPr>
          <a:xfrm flipH="1" flipV="1">
            <a:off x="9373277" y="5073923"/>
            <a:ext cx="1923376" cy="943096"/>
          </a:xfrm>
          <a:prstGeom prst="line">
            <a:avLst/>
          </a:prstGeom>
          <a:ln w="38100">
            <a:solidFill>
              <a:schemeClr val="tx1">
                <a:lumMod val="95000"/>
                <a:lumOff val="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7" name="직사각형 106"/>
          <p:cNvSpPr/>
          <p:nvPr/>
        </p:nvSpPr>
        <p:spPr>
          <a:xfrm>
            <a:off x="504824" y="5865552"/>
            <a:ext cx="5924551" cy="5715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600" dirty="0">
                <a:solidFill>
                  <a:schemeClr val="tx1"/>
                </a:solidFill>
              </a:rPr>
              <a:t>X</a:t>
            </a:r>
            <a:r>
              <a:rPr lang="ko-KR" altLang="en-US" sz="1600" dirty="0">
                <a:solidFill>
                  <a:schemeClr val="tx1"/>
                </a:solidFill>
              </a:rPr>
              <a:t>기초 우선권주장이 </a:t>
            </a:r>
            <a:r>
              <a:rPr lang="ko-KR" altLang="en-US" sz="1600" dirty="0" err="1">
                <a:solidFill>
                  <a:schemeClr val="tx1"/>
                </a:solidFill>
              </a:rPr>
              <a:t>부적법한</a:t>
            </a:r>
            <a:r>
              <a:rPr lang="ko-KR" altLang="en-US" sz="1600" dirty="0">
                <a:solidFill>
                  <a:schemeClr val="tx1"/>
                </a:solidFill>
              </a:rPr>
              <a:t> 경우 </a:t>
            </a:r>
            <a:r>
              <a:rPr lang="en-US" altLang="ko-KR" sz="1600" dirty="0">
                <a:solidFill>
                  <a:schemeClr val="tx1"/>
                </a:solidFill>
              </a:rPr>
              <a:t>X</a:t>
            </a:r>
            <a:r>
              <a:rPr lang="ko-KR" altLang="en-US" sz="1600" dirty="0">
                <a:solidFill>
                  <a:schemeClr val="tx1"/>
                </a:solidFill>
              </a:rPr>
              <a:t>기초 우선권주장을 무효로 할 수 있고</a:t>
            </a:r>
            <a:r>
              <a:rPr lang="en-US" altLang="ko-KR" sz="1600" dirty="0">
                <a:solidFill>
                  <a:schemeClr val="tx1"/>
                </a:solidFill>
              </a:rPr>
              <a:t>, </a:t>
            </a:r>
            <a:r>
              <a:rPr lang="ko-KR" altLang="en-US" sz="1600" dirty="0">
                <a:solidFill>
                  <a:schemeClr val="tx1"/>
                </a:solidFill>
              </a:rPr>
              <a:t>그 결과 </a:t>
            </a:r>
            <a:r>
              <a:rPr lang="en-US" altLang="ko-KR" sz="1600" dirty="0">
                <a:solidFill>
                  <a:schemeClr val="tx1"/>
                </a:solidFill>
              </a:rPr>
              <a:t>X</a:t>
            </a:r>
            <a:r>
              <a:rPr lang="ko-KR" altLang="en-US" sz="1600" dirty="0">
                <a:solidFill>
                  <a:schemeClr val="tx1"/>
                </a:solidFill>
              </a:rPr>
              <a:t>기초 우선권주장은 처음부터 없었던 것으로 간주</a:t>
            </a:r>
          </a:p>
        </p:txBody>
      </p:sp>
      <p:cxnSp>
        <p:nvCxnSpPr>
          <p:cNvPr id="109" name="직선 연결선 108"/>
          <p:cNvCxnSpPr>
            <a:stCxn id="107" idx="3"/>
            <a:endCxn id="97" idx="1"/>
          </p:cNvCxnSpPr>
          <p:nvPr/>
        </p:nvCxnSpPr>
        <p:spPr>
          <a:xfrm>
            <a:off x="6429375" y="6151302"/>
            <a:ext cx="489653"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0" name="곱셈 기호 109"/>
          <p:cNvSpPr/>
          <p:nvPr/>
        </p:nvSpPr>
        <p:spPr>
          <a:xfrm>
            <a:off x="6612492" y="6064345"/>
            <a:ext cx="744022" cy="763282"/>
          </a:xfrm>
          <a:prstGeom prst="mathMultiply">
            <a:avLst>
              <a:gd name="adj1" fmla="val 1530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1" name="도넛 110"/>
          <p:cNvSpPr/>
          <p:nvPr/>
        </p:nvSpPr>
        <p:spPr>
          <a:xfrm>
            <a:off x="8539686" y="6164391"/>
            <a:ext cx="566213" cy="545322"/>
          </a:xfrm>
          <a:prstGeom prst="donut">
            <a:avLst>
              <a:gd name="adj" fmla="val 15409"/>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rgbClr val="FF0000"/>
              </a:solidFill>
            </a:endParaRPr>
          </a:p>
        </p:txBody>
      </p:sp>
      <p:sp>
        <p:nvSpPr>
          <p:cNvPr id="112" name="도넛 111"/>
          <p:cNvSpPr/>
          <p:nvPr/>
        </p:nvSpPr>
        <p:spPr>
          <a:xfrm>
            <a:off x="10399525" y="6164391"/>
            <a:ext cx="566213" cy="545322"/>
          </a:xfrm>
          <a:prstGeom prst="donut">
            <a:avLst>
              <a:gd name="adj" fmla="val 15409"/>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rgbClr val="FF0000"/>
              </a:solidFill>
            </a:endParaRPr>
          </a:p>
        </p:txBody>
      </p:sp>
      <p:sp>
        <p:nvSpPr>
          <p:cNvPr id="2" name="슬라이드 번호 개체 틀 1"/>
          <p:cNvSpPr>
            <a:spLocks noGrp="1"/>
          </p:cNvSpPr>
          <p:nvPr>
            <p:ph type="sldNum" sz="quarter" idx="12"/>
          </p:nvPr>
        </p:nvSpPr>
        <p:spPr/>
        <p:txBody>
          <a:bodyPr/>
          <a:lstStyle/>
          <a:p>
            <a:r>
              <a:rPr lang="en-US" altLang="ko-KR"/>
              <a:t>225</a:t>
            </a:r>
            <a:endParaRPr lang="ko-KR" altLang="en-US"/>
          </a:p>
        </p:txBody>
      </p:sp>
      <p:sp>
        <p:nvSpPr>
          <p:cNvPr id="8" name="직사각형 7">
            <a:extLst>
              <a:ext uri="{FF2B5EF4-FFF2-40B4-BE49-F238E27FC236}">
                <a16:creationId xmlns:a16="http://schemas.microsoft.com/office/drawing/2014/main" id="{B8094994-3465-0256-75D1-4C4D84466B4A}"/>
              </a:ext>
            </a:extLst>
          </p:cNvPr>
          <p:cNvSpPr/>
          <p:nvPr/>
        </p:nvSpPr>
        <p:spPr>
          <a:xfrm>
            <a:off x="885824" y="3900967"/>
            <a:ext cx="1038225" cy="337014"/>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제</a:t>
            </a:r>
            <a:r>
              <a:rPr lang="en-US" altLang="ko-KR" sz="1400" dirty="0">
                <a:solidFill>
                  <a:schemeClr val="tx1"/>
                </a:solidFill>
              </a:rPr>
              <a:t>53</a:t>
            </a:r>
            <a:r>
              <a:rPr lang="ko-KR" altLang="en-US" sz="1400" dirty="0">
                <a:solidFill>
                  <a:schemeClr val="tx1"/>
                </a:solidFill>
              </a:rPr>
              <a:t>조</a:t>
            </a:r>
          </a:p>
        </p:txBody>
      </p:sp>
      <p:cxnSp>
        <p:nvCxnSpPr>
          <p:cNvPr id="9" name="꺾인 연결선 57">
            <a:extLst>
              <a:ext uri="{FF2B5EF4-FFF2-40B4-BE49-F238E27FC236}">
                <a16:creationId xmlns:a16="http://schemas.microsoft.com/office/drawing/2014/main" id="{B2C31A1A-619D-78E8-50C9-CE04A0CF72C9}"/>
              </a:ext>
            </a:extLst>
          </p:cNvPr>
          <p:cNvCxnSpPr>
            <a:cxnSpLocks/>
            <a:stCxn id="8" idx="3"/>
            <a:endCxn id="46" idx="1"/>
          </p:cNvCxnSpPr>
          <p:nvPr/>
        </p:nvCxnSpPr>
        <p:spPr>
          <a:xfrm flipV="1">
            <a:off x="1924049" y="3420171"/>
            <a:ext cx="1066800" cy="64930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0523359"/>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54</a:t>
            </a:r>
            <a:r>
              <a:rPr lang="ko-KR" altLang="en-US" dirty="0"/>
              <a:t>조</a:t>
            </a:r>
          </a:p>
        </p:txBody>
      </p:sp>
      <p:sp>
        <p:nvSpPr>
          <p:cNvPr id="5" name="텍스트 개체 틀 4"/>
          <p:cNvSpPr>
            <a:spLocks noGrp="1"/>
          </p:cNvSpPr>
          <p:nvPr>
            <p:ph type="body" sz="quarter" idx="13"/>
          </p:nvPr>
        </p:nvSpPr>
        <p:spPr/>
        <p:txBody>
          <a:bodyPr/>
          <a:lstStyle/>
          <a:p>
            <a:r>
              <a:rPr lang="ko-KR" altLang="en-US" dirty="0" err="1"/>
              <a:t>조약우선권주장출원의</a:t>
            </a:r>
            <a:r>
              <a:rPr lang="ko-KR" altLang="en-US" dirty="0"/>
              <a:t> 법조문</a:t>
            </a:r>
          </a:p>
        </p:txBody>
      </p:sp>
      <p:cxnSp>
        <p:nvCxnSpPr>
          <p:cNvPr id="60" name="직선 연결선 59"/>
          <p:cNvCxnSpPr/>
          <p:nvPr/>
        </p:nvCxnSpPr>
        <p:spPr>
          <a:xfrm>
            <a:off x="0" y="472274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77875" y="986046"/>
            <a:ext cx="12019532" cy="3754874"/>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54</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조약에 의한 우선권 주장</a:t>
            </a:r>
            <a:r>
              <a:rPr lang="en-US" altLang="ko-KR" sz="1400" b="1" dirty="0">
                <a:solidFill>
                  <a:schemeClr val="accent1"/>
                </a:solidFill>
              </a:rPr>
              <a:t>) </a:t>
            </a:r>
            <a:r>
              <a:rPr lang="ko-KR" altLang="en-US" sz="1400" dirty="0">
                <a:solidFill>
                  <a:schemeClr val="tx2"/>
                </a:solidFill>
              </a:rPr>
              <a:t>① 조약에 따라 다음 각 호의 어느 하나에 해당하는 경우에는 제</a:t>
            </a:r>
            <a:r>
              <a:rPr lang="en-US" altLang="ko-KR" sz="1400" dirty="0">
                <a:solidFill>
                  <a:schemeClr val="tx2"/>
                </a:solidFill>
              </a:rPr>
              <a:t>29</a:t>
            </a:r>
            <a:r>
              <a:rPr lang="ko-KR" altLang="en-US" sz="1400" dirty="0">
                <a:solidFill>
                  <a:schemeClr val="tx2"/>
                </a:solidFill>
              </a:rPr>
              <a:t>조 및 제</a:t>
            </a:r>
            <a:r>
              <a:rPr lang="en-US" altLang="ko-KR" sz="1400" dirty="0">
                <a:solidFill>
                  <a:schemeClr val="tx2"/>
                </a:solidFill>
              </a:rPr>
              <a:t>36</a:t>
            </a:r>
            <a:r>
              <a:rPr lang="ko-KR" altLang="en-US" sz="1400" dirty="0">
                <a:solidFill>
                  <a:schemeClr val="tx2"/>
                </a:solidFill>
              </a:rPr>
              <a:t>조를 적용할 때에 그 당사국에 출원한 날을 대한민국에 </a:t>
            </a:r>
            <a:r>
              <a:rPr lang="ko-KR" altLang="en-US" sz="1400" dirty="0" err="1">
                <a:solidFill>
                  <a:schemeClr val="tx2"/>
                </a:solidFill>
              </a:rPr>
              <a:t>특허출원한</a:t>
            </a:r>
            <a:r>
              <a:rPr lang="ko-KR" altLang="en-US" sz="1400" dirty="0">
                <a:solidFill>
                  <a:schemeClr val="tx2"/>
                </a:solidFill>
              </a:rPr>
              <a:t> 날로 본다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대한민국 국민에게 특허출원에 대한 우선권을 인정하는 당사국의 국민이 그 당사국 또는 다른 당사국에 </a:t>
            </a:r>
            <a:r>
              <a:rPr lang="ko-KR" altLang="en-US" sz="1400" dirty="0" err="1">
                <a:solidFill>
                  <a:schemeClr val="tx2"/>
                </a:solidFill>
              </a:rPr>
              <a:t>특허출원한</a:t>
            </a:r>
            <a:r>
              <a:rPr lang="ko-KR" altLang="en-US" sz="1400" dirty="0">
                <a:solidFill>
                  <a:schemeClr val="tx2"/>
                </a:solidFill>
              </a:rPr>
              <a:t> 후 동일한 발명을 대한민국에 </a:t>
            </a:r>
            <a:r>
              <a:rPr lang="ko-KR" altLang="en-US" sz="1400" dirty="0" err="1">
                <a:solidFill>
                  <a:schemeClr val="tx2"/>
                </a:solidFill>
              </a:rPr>
              <a:t>특허출원하여</a:t>
            </a:r>
            <a:r>
              <a:rPr lang="ko-KR" altLang="en-US" sz="1400" dirty="0">
                <a:solidFill>
                  <a:schemeClr val="tx2"/>
                </a:solidFill>
              </a:rPr>
              <a:t> 우선권을 주장하는 경우</a:t>
            </a:r>
          </a:p>
          <a:p>
            <a:pPr fontAlgn="base"/>
            <a:r>
              <a:rPr lang="en-US" altLang="ko-KR" sz="1400" dirty="0">
                <a:solidFill>
                  <a:schemeClr val="tx2"/>
                </a:solidFill>
              </a:rPr>
              <a:t>2. </a:t>
            </a:r>
            <a:r>
              <a:rPr lang="ko-KR" altLang="en-US" sz="1400" dirty="0">
                <a:solidFill>
                  <a:schemeClr val="tx2"/>
                </a:solidFill>
              </a:rPr>
              <a:t>대한민국 국민에게 특허출원에 대한 우선권을 인정하는 당사국에 대한민국 국민이 </a:t>
            </a:r>
            <a:r>
              <a:rPr lang="ko-KR" altLang="en-US" sz="1400" dirty="0" err="1">
                <a:solidFill>
                  <a:schemeClr val="tx2"/>
                </a:solidFill>
              </a:rPr>
              <a:t>특허출원한</a:t>
            </a:r>
            <a:r>
              <a:rPr lang="ko-KR" altLang="en-US" sz="1400" dirty="0">
                <a:solidFill>
                  <a:schemeClr val="tx2"/>
                </a:solidFill>
              </a:rPr>
              <a:t> 후 동일한 발명을 대한민국에 </a:t>
            </a:r>
            <a:r>
              <a:rPr lang="ko-KR" altLang="en-US" sz="1400" dirty="0" err="1">
                <a:solidFill>
                  <a:schemeClr val="tx2"/>
                </a:solidFill>
              </a:rPr>
              <a:t>특허출원하여</a:t>
            </a:r>
            <a:r>
              <a:rPr lang="ko-KR" altLang="en-US" sz="1400" dirty="0">
                <a:solidFill>
                  <a:schemeClr val="tx2"/>
                </a:solidFill>
              </a:rPr>
              <a:t> 우선권을 주장하는 경우</a:t>
            </a:r>
          </a:p>
          <a:p>
            <a:pPr fontAlgn="base"/>
            <a:r>
              <a:rPr lang="ko-KR" altLang="en-US" sz="1400" dirty="0">
                <a:solidFill>
                  <a:schemeClr val="tx2"/>
                </a:solidFill>
              </a:rPr>
              <a:t>② 제</a:t>
            </a:r>
            <a:r>
              <a:rPr lang="en-US" altLang="ko-KR" sz="1400" dirty="0">
                <a:solidFill>
                  <a:schemeClr val="tx2"/>
                </a:solidFill>
              </a:rPr>
              <a:t>1</a:t>
            </a:r>
            <a:r>
              <a:rPr lang="ko-KR" altLang="en-US" sz="1400" dirty="0">
                <a:solidFill>
                  <a:schemeClr val="tx2"/>
                </a:solidFill>
              </a:rPr>
              <a:t>항에 따라 우선권을 주장하려는 자는 우선권 주장의 기초가 되는 최초의 출원일부터 </a:t>
            </a:r>
            <a:r>
              <a:rPr lang="en-US" altLang="ko-KR" sz="1400" dirty="0">
                <a:solidFill>
                  <a:schemeClr val="tx2"/>
                </a:solidFill>
              </a:rPr>
              <a:t>1</a:t>
            </a:r>
            <a:r>
              <a:rPr lang="ko-KR" altLang="en-US" sz="1400" dirty="0">
                <a:solidFill>
                  <a:schemeClr val="tx2"/>
                </a:solidFill>
              </a:rPr>
              <a:t>년 이내에 특허출원을 하지 아니하면 우선권을 주장할 수 없다</a:t>
            </a:r>
            <a:r>
              <a:rPr lang="en-US" altLang="ko-KR" sz="1400" dirty="0">
                <a:solidFill>
                  <a:schemeClr val="tx2"/>
                </a:solidFill>
              </a:rPr>
              <a:t>.</a:t>
            </a:r>
          </a:p>
          <a:p>
            <a:pPr fontAlgn="base"/>
            <a:r>
              <a:rPr lang="en-US" altLang="ko-KR" sz="1400" dirty="0">
                <a:solidFill>
                  <a:schemeClr val="tx2"/>
                </a:solidFill>
              </a:rPr>
              <a:t>③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따라 우선권을 주장하려는 자는 특허출원을 할 때 </a:t>
            </a:r>
            <a:r>
              <a:rPr lang="ko-KR" altLang="en-US" sz="1400" dirty="0" err="1">
                <a:solidFill>
                  <a:schemeClr val="tx2"/>
                </a:solidFill>
              </a:rPr>
              <a:t>특허출원서에</a:t>
            </a:r>
            <a:r>
              <a:rPr lang="ko-KR" altLang="en-US" sz="1400" dirty="0">
                <a:solidFill>
                  <a:schemeClr val="tx2"/>
                </a:solidFill>
              </a:rPr>
              <a:t> 그 취지</a:t>
            </a:r>
            <a:r>
              <a:rPr lang="en-US" altLang="ko-KR" sz="1400" dirty="0">
                <a:solidFill>
                  <a:schemeClr val="tx2"/>
                </a:solidFill>
              </a:rPr>
              <a:t>, </a:t>
            </a:r>
            <a:r>
              <a:rPr lang="ko-KR" altLang="en-US" sz="1400" dirty="0">
                <a:solidFill>
                  <a:schemeClr val="tx2"/>
                </a:solidFill>
              </a:rPr>
              <a:t>최초로 출원한 </a:t>
            </a:r>
            <a:r>
              <a:rPr lang="ko-KR" altLang="en-US" sz="1400" dirty="0" err="1">
                <a:solidFill>
                  <a:schemeClr val="tx2"/>
                </a:solidFill>
              </a:rPr>
              <a:t>국가명</a:t>
            </a:r>
            <a:r>
              <a:rPr lang="ko-KR" altLang="en-US" sz="1400" dirty="0">
                <a:solidFill>
                  <a:schemeClr val="tx2"/>
                </a:solidFill>
              </a:rPr>
              <a:t> 및 출원의 연월일을 적어야 한다</a:t>
            </a:r>
            <a:r>
              <a:rPr lang="en-US" altLang="ko-KR" sz="1400" dirty="0">
                <a:solidFill>
                  <a:schemeClr val="tx2"/>
                </a:solidFill>
              </a:rPr>
              <a:t>.</a:t>
            </a:r>
          </a:p>
          <a:p>
            <a:pPr fontAlgn="base"/>
            <a:r>
              <a:rPr lang="en-US" altLang="ko-KR" sz="1400" dirty="0">
                <a:solidFill>
                  <a:schemeClr val="tx2"/>
                </a:solidFill>
              </a:rPr>
              <a:t>④ </a:t>
            </a:r>
            <a:r>
              <a:rPr lang="ko-KR" altLang="en-US" sz="1400" dirty="0">
                <a:solidFill>
                  <a:schemeClr val="tx2"/>
                </a:solidFill>
              </a:rPr>
              <a:t>제</a:t>
            </a:r>
            <a:r>
              <a:rPr lang="en-US" altLang="ko-KR" sz="1400" dirty="0">
                <a:solidFill>
                  <a:schemeClr val="tx2"/>
                </a:solidFill>
              </a:rPr>
              <a:t>3</a:t>
            </a:r>
            <a:r>
              <a:rPr lang="ko-KR" altLang="en-US" sz="1400" dirty="0">
                <a:solidFill>
                  <a:schemeClr val="tx2"/>
                </a:solidFill>
              </a:rPr>
              <a:t>항에 따라 우선권을 주장한 자는 제</a:t>
            </a:r>
            <a:r>
              <a:rPr lang="en-US" altLang="ko-KR" sz="1400" dirty="0">
                <a:solidFill>
                  <a:schemeClr val="tx2"/>
                </a:solidFill>
              </a:rPr>
              <a:t>1</a:t>
            </a:r>
            <a:r>
              <a:rPr lang="ko-KR" altLang="en-US" sz="1400" dirty="0">
                <a:solidFill>
                  <a:schemeClr val="tx2"/>
                </a:solidFill>
              </a:rPr>
              <a:t>호의 서류 또는 제</a:t>
            </a:r>
            <a:r>
              <a:rPr lang="en-US" altLang="ko-KR" sz="1400" dirty="0">
                <a:solidFill>
                  <a:schemeClr val="tx2"/>
                </a:solidFill>
              </a:rPr>
              <a:t>2</a:t>
            </a:r>
            <a:r>
              <a:rPr lang="ko-KR" altLang="en-US" sz="1400" dirty="0">
                <a:solidFill>
                  <a:schemeClr val="tx2"/>
                </a:solidFill>
              </a:rPr>
              <a:t>호의 서면을 지식재산처장에게 제출하여야 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호의 서면은 총리령으로 정하는 국가의 경우만 해당한다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최초로 출원한 국가의 정부가 인증하는 서류로서 특허출원의 연월일을 적은 서면</a:t>
            </a:r>
            <a:r>
              <a:rPr lang="en-US" altLang="ko-KR" sz="1400" dirty="0">
                <a:solidFill>
                  <a:schemeClr val="tx2"/>
                </a:solidFill>
              </a:rPr>
              <a:t>, </a:t>
            </a:r>
            <a:r>
              <a:rPr lang="ko-KR" altLang="en-US" sz="1400" dirty="0">
                <a:solidFill>
                  <a:schemeClr val="tx2"/>
                </a:solidFill>
              </a:rPr>
              <a:t>발명의 명세서 및 도면의 등본</a:t>
            </a:r>
          </a:p>
          <a:p>
            <a:pPr fontAlgn="base"/>
            <a:r>
              <a:rPr lang="en-US" altLang="ko-KR" sz="1400" dirty="0">
                <a:solidFill>
                  <a:schemeClr val="tx2"/>
                </a:solidFill>
              </a:rPr>
              <a:t>2. </a:t>
            </a:r>
            <a:r>
              <a:rPr lang="ko-KR" altLang="en-US" sz="1400" dirty="0">
                <a:solidFill>
                  <a:schemeClr val="tx2"/>
                </a:solidFill>
              </a:rPr>
              <a:t>최초로 출원한 국가의 특허출원의 출원번호 및 그 밖에 출원을 확인할 수 있는 정보 등 총리령으로 정하는 사항을 적은 서면</a:t>
            </a:r>
          </a:p>
          <a:p>
            <a:pPr fontAlgn="base"/>
            <a:r>
              <a:rPr lang="ko-KR" altLang="en-US" sz="1400" dirty="0">
                <a:solidFill>
                  <a:schemeClr val="tx2"/>
                </a:solidFill>
              </a:rPr>
              <a:t>⑤ 제</a:t>
            </a:r>
            <a:r>
              <a:rPr lang="en-US" altLang="ko-KR" sz="1400" dirty="0">
                <a:solidFill>
                  <a:schemeClr val="tx2"/>
                </a:solidFill>
              </a:rPr>
              <a:t>4</a:t>
            </a:r>
            <a:r>
              <a:rPr lang="ko-KR" altLang="en-US" sz="1400" dirty="0">
                <a:solidFill>
                  <a:schemeClr val="tx2"/>
                </a:solidFill>
              </a:rPr>
              <a:t>항에 따른 서류 또는 서면은 다음 각 호에 해당하는 날 중 최우선일</a:t>
            </a:r>
            <a:r>
              <a:rPr lang="en-US" altLang="ko-KR" sz="1400" dirty="0">
                <a:solidFill>
                  <a:schemeClr val="tx2"/>
                </a:solidFill>
              </a:rPr>
              <a:t>(</a:t>
            </a:r>
            <a:r>
              <a:rPr lang="ko-KR" altLang="en-US" sz="1400" dirty="0">
                <a:solidFill>
                  <a:schemeClr val="tx2"/>
                </a:solidFill>
              </a:rPr>
              <a:t>最優先日</a:t>
            </a:r>
            <a:r>
              <a:rPr lang="en-US" altLang="ko-KR" sz="1400" dirty="0">
                <a:solidFill>
                  <a:schemeClr val="tx2"/>
                </a:solidFill>
              </a:rPr>
              <a:t>)</a:t>
            </a:r>
            <a:r>
              <a:rPr lang="ko-KR" altLang="en-US" sz="1400" dirty="0">
                <a:solidFill>
                  <a:schemeClr val="tx2"/>
                </a:solidFill>
              </a:rPr>
              <a:t>부터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4</a:t>
            </a:r>
            <a:r>
              <a:rPr lang="ko-KR" altLang="en-US" sz="1400" dirty="0">
                <a:solidFill>
                  <a:schemeClr val="tx2"/>
                </a:solidFill>
              </a:rPr>
              <a:t>개월 이내에 제출하여야 한다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조약 당사국에 최초로 출원한 출원일</a:t>
            </a:r>
          </a:p>
          <a:p>
            <a:pPr fontAlgn="base"/>
            <a:r>
              <a:rPr lang="en-US" altLang="ko-KR" sz="1400" dirty="0">
                <a:solidFill>
                  <a:schemeClr val="tx2"/>
                </a:solidFill>
              </a:rPr>
              <a:t>2. </a:t>
            </a:r>
            <a:r>
              <a:rPr lang="ko-KR" altLang="en-US" sz="1400" dirty="0">
                <a:solidFill>
                  <a:schemeClr val="tx2"/>
                </a:solidFill>
              </a:rPr>
              <a:t>그 특허출원이 제</a:t>
            </a:r>
            <a:r>
              <a:rPr lang="en-US" altLang="ko-KR" sz="1400" dirty="0">
                <a:solidFill>
                  <a:schemeClr val="tx2"/>
                </a:solidFill>
              </a:rPr>
              <a:t>55</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우선권 주장을 수반하는 경우에는 그 우선권 주장의 기초가 되는 출원의 출원일</a:t>
            </a:r>
          </a:p>
          <a:p>
            <a:pPr fontAlgn="base"/>
            <a:r>
              <a:rPr lang="en-US" altLang="ko-KR" sz="1400" dirty="0">
                <a:solidFill>
                  <a:schemeClr val="tx2"/>
                </a:solidFill>
              </a:rPr>
              <a:t>3. </a:t>
            </a:r>
            <a:r>
              <a:rPr lang="ko-KR" altLang="en-US" sz="1400" dirty="0">
                <a:solidFill>
                  <a:schemeClr val="tx2"/>
                </a:solidFill>
              </a:rPr>
              <a:t>그 특허출원이 제</a:t>
            </a:r>
            <a:r>
              <a:rPr lang="en-US" altLang="ko-KR" sz="1400" dirty="0">
                <a:solidFill>
                  <a:schemeClr val="tx2"/>
                </a:solidFill>
              </a:rPr>
              <a:t>3</a:t>
            </a:r>
            <a:r>
              <a:rPr lang="ko-KR" altLang="en-US" sz="1400" dirty="0">
                <a:solidFill>
                  <a:schemeClr val="tx2"/>
                </a:solidFill>
              </a:rPr>
              <a:t>항에 따른 다른 우선권 주장을 수반하는 경우에는 그 우선권 주장의 기초가 되는 출원의 출원일</a:t>
            </a:r>
          </a:p>
          <a:p>
            <a:pPr fontAlgn="base"/>
            <a:r>
              <a:rPr lang="ko-KR" altLang="en-US" sz="1400" dirty="0">
                <a:solidFill>
                  <a:schemeClr val="tx2"/>
                </a:solidFill>
              </a:rPr>
              <a:t>⑥ 제</a:t>
            </a:r>
            <a:r>
              <a:rPr lang="en-US" altLang="ko-KR" sz="1400" dirty="0">
                <a:solidFill>
                  <a:schemeClr val="tx2"/>
                </a:solidFill>
              </a:rPr>
              <a:t>3</a:t>
            </a:r>
            <a:r>
              <a:rPr lang="ko-KR" altLang="en-US" sz="1400" dirty="0">
                <a:solidFill>
                  <a:schemeClr val="tx2"/>
                </a:solidFill>
              </a:rPr>
              <a:t>항에 따라 우선권을 주장한 자가 제</a:t>
            </a:r>
            <a:r>
              <a:rPr lang="en-US" altLang="ko-KR" sz="1400" dirty="0">
                <a:solidFill>
                  <a:schemeClr val="tx2"/>
                </a:solidFill>
              </a:rPr>
              <a:t>5</a:t>
            </a:r>
            <a:r>
              <a:rPr lang="ko-KR" altLang="en-US" sz="1400" dirty="0">
                <a:solidFill>
                  <a:schemeClr val="tx2"/>
                </a:solidFill>
              </a:rPr>
              <a:t>항의 기간에 제</a:t>
            </a:r>
            <a:r>
              <a:rPr lang="en-US" altLang="ko-KR" sz="1400" dirty="0">
                <a:solidFill>
                  <a:schemeClr val="tx2"/>
                </a:solidFill>
              </a:rPr>
              <a:t>4</a:t>
            </a:r>
            <a:r>
              <a:rPr lang="ko-KR" altLang="en-US" sz="1400" dirty="0">
                <a:solidFill>
                  <a:schemeClr val="tx2"/>
                </a:solidFill>
              </a:rPr>
              <a:t>항에 따른 서류를 제출하지 아니한 경우에는 그 우선권 주장은 효력을 상실한다</a:t>
            </a:r>
            <a:r>
              <a:rPr lang="en-US" altLang="ko-KR" sz="1400" dirty="0">
                <a:solidFill>
                  <a:schemeClr val="tx2"/>
                </a:solidFill>
              </a:rPr>
              <a:t>.</a:t>
            </a:r>
          </a:p>
          <a:p>
            <a:pPr fontAlgn="base"/>
            <a:r>
              <a:rPr lang="en-US" altLang="ko-KR" sz="1400" dirty="0">
                <a:solidFill>
                  <a:schemeClr val="tx2"/>
                </a:solidFill>
              </a:rPr>
              <a:t>⑦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따라 우선권 주장을 한 자 중 제</a:t>
            </a:r>
            <a:r>
              <a:rPr lang="en-US" altLang="ko-KR" sz="1400" dirty="0">
                <a:solidFill>
                  <a:schemeClr val="tx2"/>
                </a:solidFill>
              </a:rPr>
              <a:t>2</a:t>
            </a:r>
            <a:r>
              <a:rPr lang="ko-KR" altLang="en-US" sz="1400" dirty="0">
                <a:solidFill>
                  <a:schemeClr val="tx2"/>
                </a:solidFill>
              </a:rPr>
              <a:t>항의 요건을 갖춘 자는 제</a:t>
            </a:r>
            <a:r>
              <a:rPr lang="en-US" altLang="ko-KR" sz="1400" dirty="0">
                <a:solidFill>
                  <a:schemeClr val="tx2"/>
                </a:solidFill>
              </a:rPr>
              <a:t>5</a:t>
            </a:r>
            <a:r>
              <a:rPr lang="ko-KR" altLang="en-US" sz="1400" dirty="0">
                <a:solidFill>
                  <a:schemeClr val="tx2"/>
                </a:solidFill>
              </a:rPr>
              <a:t>항에 따른 최우선일부터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4</a:t>
            </a:r>
            <a:r>
              <a:rPr lang="ko-KR" altLang="en-US" sz="1400" dirty="0">
                <a:solidFill>
                  <a:schemeClr val="tx2"/>
                </a:solidFill>
              </a:rPr>
              <a:t>개월 이내에 해당 우선권 주장을 보정하거나 추가할 수 있다</a:t>
            </a:r>
            <a:r>
              <a:rPr lang="en-US" altLang="ko-KR" sz="1400" dirty="0">
                <a:solidFill>
                  <a:schemeClr val="tx2"/>
                </a:solidFill>
              </a:rPr>
              <a:t>.</a:t>
            </a:r>
          </a:p>
        </p:txBody>
      </p:sp>
      <p:sp>
        <p:nvSpPr>
          <p:cNvPr id="64" name="직사각형 63"/>
          <p:cNvSpPr/>
          <p:nvPr/>
        </p:nvSpPr>
        <p:spPr>
          <a:xfrm>
            <a:off x="3634381" y="5204885"/>
            <a:ext cx="3333979" cy="294127"/>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우선권주장의 요건 및 효과</a:t>
            </a:r>
            <a:r>
              <a:rPr lang="en-US" altLang="ko-KR" sz="1200" dirty="0">
                <a:solidFill>
                  <a:schemeClr val="tx1"/>
                </a:solidFill>
              </a:rPr>
              <a:t>(</a:t>
            </a:r>
            <a:r>
              <a:rPr lang="ko-KR" altLang="en-US" sz="1200" dirty="0">
                <a:solidFill>
                  <a:schemeClr val="tx1"/>
                </a:solidFill>
              </a:rPr>
              <a:t>제</a:t>
            </a:r>
            <a:r>
              <a:rPr lang="en-US" altLang="ko-KR" sz="1200" dirty="0">
                <a:solidFill>
                  <a:schemeClr val="tx1"/>
                </a:solidFill>
              </a:rPr>
              <a:t>1</a:t>
            </a:r>
            <a:r>
              <a:rPr lang="ko-KR" altLang="en-US" sz="1200" dirty="0">
                <a:solidFill>
                  <a:schemeClr val="tx1"/>
                </a:solidFill>
              </a:rPr>
              <a:t>항</a:t>
            </a:r>
            <a:r>
              <a:rPr lang="en-US" altLang="ko-KR" sz="1200" dirty="0">
                <a:solidFill>
                  <a:schemeClr val="tx1"/>
                </a:solidFill>
              </a:rPr>
              <a:t>)</a:t>
            </a:r>
            <a:endParaRPr lang="ko-KR" altLang="en-US" sz="1400" dirty="0">
              <a:solidFill>
                <a:schemeClr val="tx1"/>
              </a:solidFill>
            </a:endParaRPr>
          </a:p>
        </p:txBody>
      </p:sp>
      <p:sp>
        <p:nvSpPr>
          <p:cNvPr id="66" name="직사각형 65"/>
          <p:cNvSpPr/>
          <p:nvPr/>
        </p:nvSpPr>
        <p:spPr>
          <a:xfrm>
            <a:off x="3634381" y="5747389"/>
            <a:ext cx="3333979" cy="294127"/>
          </a:xfrm>
          <a:prstGeom prst="rect">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우선기간 </a:t>
            </a:r>
            <a:r>
              <a:rPr lang="en-US" altLang="ko-KR" sz="1200" dirty="0">
                <a:solidFill>
                  <a:schemeClr val="tx1"/>
                </a:solidFill>
              </a:rPr>
              <a:t>vs </a:t>
            </a:r>
            <a:r>
              <a:rPr lang="ko-KR" altLang="en-US" sz="1200" dirty="0">
                <a:solidFill>
                  <a:schemeClr val="tx1"/>
                </a:solidFill>
              </a:rPr>
              <a:t>우선권주장기간</a:t>
            </a:r>
            <a:r>
              <a:rPr lang="en-US" altLang="ko-KR" sz="1200" dirty="0">
                <a:solidFill>
                  <a:schemeClr val="tx1"/>
                </a:solidFill>
              </a:rPr>
              <a:t>(</a:t>
            </a:r>
            <a:r>
              <a:rPr lang="ko-KR" altLang="en-US" sz="1200" dirty="0">
                <a:solidFill>
                  <a:schemeClr val="tx1"/>
                </a:solidFill>
              </a:rPr>
              <a:t>제</a:t>
            </a:r>
            <a:r>
              <a:rPr lang="en-US" altLang="ko-KR" sz="1200" dirty="0">
                <a:solidFill>
                  <a:schemeClr val="tx1"/>
                </a:solidFill>
              </a:rPr>
              <a:t>2</a:t>
            </a:r>
            <a:r>
              <a:rPr lang="ko-KR" altLang="en-US" sz="1200" dirty="0">
                <a:solidFill>
                  <a:schemeClr val="tx1"/>
                </a:solidFill>
              </a:rPr>
              <a:t>항</a:t>
            </a:r>
            <a:r>
              <a:rPr lang="en-US" altLang="ko-KR" sz="1200" dirty="0">
                <a:solidFill>
                  <a:schemeClr val="tx1"/>
                </a:solidFill>
              </a:rPr>
              <a:t>, </a:t>
            </a: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항</a:t>
            </a:r>
            <a:r>
              <a:rPr lang="en-US" altLang="ko-KR" sz="1200" dirty="0">
                <a:solidFill>
                  <a:schemeClr val="tx1"/>
                </a:solidFill>
              </a:rPr>
              <a:t>, </a:t>
            </a:r>
            <a:r>
              <a:rPr lang="ko-KR" altLang="en-US" sz="1200" dirty="0">
                <a:solidFill>
                  <a:schemeClr val="tx1"/>
                </a:solidFill>
              </a:rPr>
              <a:t>제</a:t>
            </a:r>
            <a:r>
              <a:rPr lang="en-US" altLang="ko-KR" sz="1200" dirty="0">
                <a:solidFill>
                  <a:schemeClr val="tx1"/>
                </a:solidFill>
              </a:rPr>
              <a:t>7</a:t>
            </a:r>
            <a:r>
              <a:rPr lang="ko-KR" altLang="en-US" sz="1200" dirty="0">
                <a:solidFill>
                  <a:schemeClr val="tx1"/>
                </a:solidFill>
              </a:rPr>
              <a:t>항</a:t>
            </a:r>
            <a:r>
              <a:rPr lang="en-US" altLang="ko-KR" sz="1200" dirty="0">
                <a:solidFill>
                  <a:schemeClr val="tx1"/>
                </a:solidFill>
              </a:rPr>
              <a:t>)</a:t>
            </a:r>
            <a:endParaRPr lang="ko-KR" altLang="en-US" sz="1400" dirty="0">
              <a:solidFill>
                <a:schemeClr val="tx1"/>
              </a:solidFill>
            </a:endParaRPr>
          </a:p>
        </p:txBody>
      </p:sp>
      <p:sp>
        <p:nvSpPr>
          <p:cNvPr id="67" name="직사각형 66"/>
          <p:cNvSpPr/>
          <p:nvPr/>
        </p:nvSpPr>
        <p:spPr>
          <a:xfrm>
            <a:off x="3634381" y="6255504"/>
            <a:ext cx="3333979" cy="294127"/>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증명서류</a:t>
            </a:r>
            <a:r>
              <a:rPr lang="en-US" altLang="ko-KR" sz="1200" dirty="0">
                <a:solidFill>
                  <a:schemeClr val="tx1"/>
                </a:solidFill>
              </a:rPr>
              <a:t>(</a:t>
            </a:r>
            <a:r>
              <a:rPr lang="ko-KR" altLang="en-US" sz="1200" dirty="0">
                <a:solidFill>
                  <a:schemeClr val="tx1"/>
                </a:solidFill>
              </a:rPr>
              <a:t>제</a:t>
            </a:r>
            <a:r>
              <a:rPr lang="en-US" altLang="ko-KR" sz="1200" dirty="0">
                <a:solidFill>
                  <a:schemeClr val="tx1"/>
                </a:solidFill>
              </a:rPr>
              <a:t>4</a:t>
            </a:r>
            <a:r>
              <a:rPr lang="ko-KR" altLang="en-US" sz="1200" dirty="0">
                <a:solidFill>
                  <a:schemeClr val="tx1"/>
                </a:solidFill>
              </a:rPr>
              <a:t>항</a:t>
            </a:r>
            <a:r>
              <a:rPr lang="en-US" altLang="ko-KR" sz="1200" dirty="0">
                <a:solidFill>
                  <a:schemeClr val="tx1"/>
                </a:solidFill>
              </a:rPr>
              <a:t>, </a:t>
            </a:r>
            <a:r>
              <a:rPr lang="ko-KR" altLang="en-US" sz="1200" dirty="0">
                <a:solidFill>
                  <a:schemeClr val="tx1"/>
                </a:solidFill>
              </a:rPr>
              <a:t>제</a:t>
            </a:r>
            <a:r>
              <a:rPr lang="en-US" altLang="ko-KR" sz="1200" dirty="0">
                <a:solidFill>
                  <a:schemeClr val="tx1"/>
                </a:solidFill>
              </a:rPr>
              <a:t>5</a:t>
            </a:r>
            <a:r>
              <a:rPr lang="ko-KR" altLang="en-US" sz="1200" dirty="0">
                <a:solidFill>
                  <a:schemeClr val="tx1"/>
                </a:solidFill>
              </a:rPr>
              <a:t>항</a:t>
            </a:r>
            <a:r>
              <a:rPr lang="en-US" altLang="ko-KR" sz="1200" dirty="0">
                <a:solidFill>
                  <a:schemeClr val="tx1"/>
                </a:solidFill>
              </a:rPr>
              <a:t>, </a:t>
            </a:r>
            <a:r>
              <a:rPr lang="ko-KR" altLang="en-US" sz="1200" dirty="0">
                <a:solidFill>
                  <a:schemeClr val="tx1"/>
                </a:solidFill>
              </a:rPr>
              <a:t>제</a:t>
            </a:r>
            <a:r>
              <a:rPr lang="en-US" altLang="ko-KR" sz="1200" dirty="0">
                <a:solidFill>
                  <a:schemeClr val="tx1"/>
                </a:solidFill>
              </a:rPr>
              <a:t>6</a:t>
            </a:r>
            <a:r>
              <a:rPr lang="ko-KR" altLang="en-US" sz="1200" dirty="0">
                <a:solidFill>
                  <a:schemeClr val="tx1"/>
                </a:solidFill>
              </a:rPr>
              <a:t>항</a:t>
            </a:r>
            <a:r>
              <a:rPr lang="en-US" altLang="ko-KR" sz="1200" dirty="0">
                <a:solidFill>
                  <a:schemeClr val="tx1"/>
                </a:solidFill>
              </a:rPr>
              <a:t>)</a:t>
            </a:r>
            <a:endParaRPr lang="ko-KR" altLang="en-US" sz="1400" dirty="0">
              <a:solidFill>
                <a:schemeClr val="tx1"/>
              </a:solidFill>
            </a:endParaRPr>
          </a:p>
        </p:txBody>
      </p:sp>
      <p:cxnSp>
        <p:nvCxnSpPr>
          <p:cNvPr id="71" name="꺾인 연결선 70"/>
          <p:cNvCxnSpPr>
            <a:cxnSpLocks/>
            <a:stCxn id="76" idx="3"/>
            <a:endCxn id="67" idx="1"/>
          </p:cNvCxnSpPr>
          <p:nvPr/>
        </p:nvCxnSpPr>
        <p:spPr>
          <a:xfrm>
            <a:off x="2959986" y="5789247"/>
            <a:ext cx="674395" cy="613321"/>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꺾인 연결선 71"/>
          <p:cNvCxnSpPr>
            <a:cxnSpLocks/>
            <a:stCxn id="76" idx="3"/>
            <a:endCxn id="64" idx="1"/>
          </p:cNvCxnSpPr>
          <p:nvPr/>
        </p:nvCxnSpPr>
        <p:spPr>
          <a:xfrm flipV="1">
            <a:off x="2959986" y="5351949"/>
            <a:ext cx="674395" cy="437298"/>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꺾인 연결선 72"/>
          <p:cNvCxnSpPr>
            <a:cxnSpLocks/>
            <a:stCxn id="76" idx="3"/>
            <a:endCxn id="66" idx="1"/>
          </p:cNvCxnSpPr>
          <p:nvPr/>
        </p:nvCxnSpPr>
        <p:spPr>
          <a:xfrm>
            <a:off x="2959986" y="5789247"/>
            <a:ext cx="674395" cy="105206"/>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직사각형 75"/>
          <p:cNvSpPr/>
          <p:nvPr/>
        </p:nvSpPr>
        <p:spPr>
          <a:xfrm>
            <a:off x="651644" y="5485343"/>
            <a:ext cx="2308342" cy="607808"/>
          </a:xfrm>
          <a:prstGeom prst="rect">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bg1"/>
                </a:solidFill>
              </a:rPr>
              <a:t>조약우선권주장출원</a:t>
            </a:r>
            <a:endParaRPr lang="en-US" altLang="ko-KR" sz="1400" dirty="0">
              <a:solidFill>
                <a:schemeClr val="bg1"/>
              </a:solidFill>
            </a:endParaRPr>
          </a:p>
          <a:p>
            <a:pPr algn="ctr"/>
            <a:r>
              <a:rPr lang="en-US" altLang="ko-KR" sz="1400" dirty="0">
                <a:solidFill>
                  <a:schemeClr val="bg1"/>
                </a:solidFill>
              </a:rPr>
              <a:t>(</a:t>
            </a:r>
            <a:r>
              <a:rPr lang="ko-KR" altLang="en-US" sz="1400" dirty="0">
                <a:solidFill>
                  <a:schemeClr val="bg1"/>
                </a:solidFill>
              </a:rPr>
              <a:t>제</a:t>
            </a:r>
            <a:r>
              <a:rPr lang="en-US" altLang="ko-KR" sz="1400" dirty="0">
                <a:solidFill>
                  <a:schemeClr val="bg1"/>
                </a:solidFill>
              </a:rPr>
              <a:t>54</a:t>
            </a:r>
            <a:r>
              <a:rPr lang="ko-KR" altLang="en-US" sz="1400" dirty="0">
                <a:solidFill>
                  <a:schemeClr val="bg1"/>
                </a:solidFill>
              </a:rPr>
              <a:t>조</a:t>
            </a:r>
            <a:r>
              <a:rPr lang="en-US" altLang="ko-KR" sz="1400" dirty="0">
                <a:solidFill>
                  <a:schemeClr val="bg1"/>
                </a:solidFill>
              </a:rPr>
              <a:t>)</a:t>
            </a:r>
            <a:endParaRPr lang="ko-KR" altLang="en-US" sz="1400" dirty="0">
              <a:solidFill>
                <a:schemeClr val="bg1"/>
              </a:solidFill>
            </a:endParaRPr>
          </a:p>
        </p:txBody>
      </p:sp>
      <p:sp>
        <p:nvSpPr>
          <p:cNvPr id="2" name="슬라이드 번호 개체 틀 1"/>
          <p:cNvSpPr>
            <a:spLocks noGrp="1"/>
          </p:cNvSpPr>
          <p:nvPr>
            <p:ph type="sldNum" sz="quarter" idx="12"/>
          </p:nvPr>
        </p:nvSpPr>
        <p:spPr/>
        <p:txBody>
          <a:bodyPr/>
          <a:lstStyle/>
          <a:p>
            <a:r>
              <a:rPr lang="en-US" altLang="ko-KR"/>
              <a:t>226</a:t>
            </a:r>
            <a:endParaRPr lang="ko-KR" altLang="en-US"/>
          </a:p>
        </p:txBody>
      </p:sp>
      <p:sp>
        <p:nvSpPr>
          <p:cNvPr id="41" name="직사각형 40">
            <a:extLst>
              <a:ext uri="{FF2B5EF4-FFF2-40B4-BE49-F238E27FC236}">
                <a16:creationId xmlns:a16="http://schemas.microsoft.com/office/drawing/2014/main" id="{CAB681EB-6A05-449E-AEFE-913A1C1BBA9E}"/>
              </a:ext>
            </a:extLst>
          </p:cNvPr>
          <p:cNvSpPr/>
          <p:nvPr/>
        </p:nvSpPr>
        <p:spPr>
          <a:xfrm>
            <a:off x="7722905" y="4784472"/>
            <a:ext cx="3333979" cy="294127"/>
          </a:xfrm>
          <a:prstGeom prst="rect">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2</a:t>
            </a:r>
            <a:r>
              <a:rPr lang="ko-KR" altLang="en-US" sz="1200" dirty="0">
                <a:solidFill>
                  <a:schemeClr val="tx1"/>
                </a:solidFill>
              </a:rPr>
              <a:t>항</a:t>
            </a:r>
            <a:r>
              <a:rPr lang="en-US" altLang="ko-KR" sz="1200" dirty="0">
                <a:solidFill>
                  <a:schemeClr val="tx1"/>
                </a:solidFill>
              </a:rPr>
              <a:t>: </a:t>
            </a:r>
            <a:r>
              <a:rPr lang="ko-KR" altLang="en-US" sz="1200" dirty="0">
                <a:solidFill>
                  <a:schemeClr val="tx1"/>
                </a:solidFill>
              </a:rPr>
              <a:t>우선기간</a:t>
            </a:r>
            <a:endParaRPr lang="ko-KR" altLang="en-US" sz="1400" dirty="0">
              <a:solidFill>
                <a:schemeClr val="tx1"/>
              </a:solidFill>
            </a:endParaRPr>
          </a:p>
        </p:txBody>
      </p:sp>
      <p:sp>
        <p:nvSpPr>
          <p:cNvPr id="43" name="직사각형 42">
            <a:extLst>
              <a:ext uri="{FF2B5EF4-FFF2-40B4-BE49-F238E27FC236}">
                <a16:creationId xmlns:a16="http://schemas.microsoft.com/office/drawing/2014/main" id="{C39DF850-999B-4CB2-87EF-020EE38D2CB7}"/>
              </a:ext>
            </a:extLst>
          </p:cNvPr>
          <p:cNvSpPr/>
          <p:nvPr/>
        </p:nvSpPr>
        <p:spPr>
          <a:xfrm>
            <a:off x="7722905" y="5121232"/>
            <a:ext cx="3333979" cy="294127"/>
          </a:xfrm>
          <a:prstGeom prst="rect">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항</a:t>
            </a:r>
            <a:r>
              <a:rPr lang="en-US" altLang="ko-KR" sz="1200" dirty="0">
                <a:solidFill>
                  <a:schemeClr val="tx1"/>
                </a:solidFill>
              </a:rPr>
              <a:t>: </a:t>
            </a:r>
            <a:r>
              <a:rPr lang="ko-KR" altLang="en-US" sz="1200" dirty="0">
                <a:solidFill>
                  <a:schemeClr val="tx1"/>
                </a:solidFill>
              </a:rPr>
              <a:t>우선권주장기간</a:t>
            </a:r>
            <a:endParaRPr lang="ko-KR" altLang="en-US" sz="1400" dirty="0">
              <a:solidFill>
                <a:schemeClr val="tx1"/>
              </a:solidFill>
            </a:endParaRPr>
          </a:p>
        </p:txBody>
      </p:sp>
      <p:sp>
        <p:nvSpPr>
          <p:cNvPr id="45" name="직사각형 44">
            <a:extLst>
              <a:ext uri="{FF2B5EF4-FFF2-40B4-BE49-F238E27FC236}">
                <a16:creationId xmlns:a16="http://schemas.microsoft.com/office/drawing/2014/main" id="{82D59386-3BB1-407A-AFB2-4B2FB4F4F6CC}"/>
              </a:ext>
            </a:extLst>
          </p:cNvPr>
          <p:cNvSpPr/>
          <p:nvPr/>
        </p:nvSpPr>
        <p:spPr>
          <a:xfrm>
            <a:off x="7722905" y="5465868"/>
            <a:ext cx="3333979" cy="294127"/>
          </a:xfrm>
          <a:prstGeom prst="rect">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7</a:t>
            </a:r>
            <a:r>
              <a:rPr lang="ko-KR" altLang="en-US" sz="1200" dirty="0">
                <a:solidFill>
                  <a:schemeClr val="tx1"/>
                </a:solidFill>
              </a:rPr>
              <a:t>항</a:t>
            </a:r>
            <a:r>
              <a:rPr lang="en-US" altLang="ko-KR" sz="1200" dirty="0">
                <a:solidFill>
                  <a:schemeClr val="tx1"/>
                </a:solidFill>
              </a:rPr>
              <a:t>: </a:t>
            </a:r>
            <a:r>
              <a:rPr lang="ko-KR" altLang="en-US" sz="1200" dirty="0">
                <a:solidFill>
                  <a:schemeClr val="tx1"/>
                </a:solidFill>
              </a:rPr>
              <a:t>우선권주장의 보정 또는 추가</a:t>
            </a:r>
            <a:endParaRPr lang="ko-KR" altLang="en-US" sz="1400" dirty="0">
              <a:solidFill>
                <a:schemeClr val="tx1"/>
              </a:solidFill>
            </a:endParaRPr>
          </a:p>
        </p:txBody>
      </p:sp>
      <p:cxnSp>
        <p:nvCxnSpPr>
          <p:cNvPr id="48" name="꺾인 연결선 70">
            <a:extLst>
              <a:ext uri="{FF2B5EF4-FFF2-40B4-BE49-F238E27FC236}">
                <a16:creationId xmlns:a16="http://schemas.microsoft.com/office/drawing/2014/main" id="{1A0A1EA4-4624-47FE-8243-5E24ACBF42D4}"/>
              </a:ext>
            </a:extLst>
          </p:cNvPr>
          <p:cNvCxnSpPr>
            <a:cxnSpLocks/>
            <a:stCxn id="66" idx="3"/>
            <a:endCxn id="45" idx="1"/>
          </p:cNvCxnSpPr>
          <p:nvPr/>
        </p:nvCxnSpPr>
        <p:spPr>
          <a:xfrm flipV="1">
            <a:off x="6968360" y="5612932"/>
            <a:ext cx="754545" cy="281521"/>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꺾인 연결선 71">
            <a:extLst>
              <a:ext uri="{FF2B5EF4-FFF2-40B4-BE49-F238E27FC236}">
                <a16:creationId xmlns:a16="http://schemas.microsoft.com/office/drawing/2014/main" id="{E78D628E-D512-49B8-AF79-6ECED700C602}"/>
              </a:ext>
            </a:extLst>
          </p:cNvPr>
          <p:cNvCxnSpPr>
            <a:cxnSpLocks/>
            <a:stCxn id="66" idx="3"/>
            <a:endCxn id="41" idx="1"/>
          </p:cNvCxnSpPr>
          <p:nvPr/>
        </p:nvCxnSpPr>
        <p:spPr>
          <a:xfrm flipV="1">
            <a:off x="6968360" y="4931536"/>
            <a:ext cx="754545" cy="962917"/>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꺾인 연결선 72">
            <a:extLst>
              <a:ext uri="{FF2B5EF4-FFF2-40B4-BE49-F238E27FC236}">
                <a16:creationId xmlns:a16="http://schemas.microsoft.com/office/drawing/2014/main" id="{28737A70-7B21-485C-B9FD-A6138864350A}"/>
              </a:ext>
            </a:extLst>
          </p:cNvPr>
          <p:cNvCxnSpPr>
            <a:cxnSpLocks/>
            <a:stCxn id="66" idx="3"/>
            <a:endCxn id="43" idx="1"/>
          </p:cNvCxnSpPr>
          <p:nvPr/>
        </p:nvCxnSpPr>
        <p:spPr>
          <a:xfrm flipV="1">
            <a:off x="6968360" y="5268296"/>
            <a:ext cx="754545" cy="626157"/>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FECF79B8-29FD-4472-9BD0-11FA9C92CCF1}"/>
              </a:ext>
            </a:extLst>
          </p:cNvPr>
          <p:cNvSpPr/>
          <p:nvPr/>
        </p:nvSpPr>
        <p:spPr>
          <a:xfrm>
            <a:off x="7722905" y="5810827"/>
            <a:ext cx="3333979" cy="294127"/>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4</a:t>
            </a:r>
            <a:r>
              <a:rPr lang="ko-KR" altLang="en-US" sz="1200" dirty="0">
                <a:solidFill>
                  <a:schemeClr val="tx1"/>
                </a:solidFill>
              </a:rPr>
              <a:t>항</a:t>
            </a:r>
            <a:r>
              <a:rPr lang="en-US" altLang="ko-KR" sz="1200" dirty="0">
                <a:solidFill>
                  <a:schemeClr val="tx1"/>
                </a:solidFill>
              </a:rPr>
              <a:t>: </a:t>
            </a:r>
            <a:r>
              <a:rPr lang="ko-KR" altLang="en-US" sz="1200" dirty="0">
                <a:solidFill>
                  <a:schemeClr val="tx1"/>
                </a:solidFill>
              </a:rPr>
              <a:t>제출대상</a:t>
            </a:r>
            <a:endParaRPr lang="ko-KR" altLang="en-US" sz="1400" dirty="0">
              <a:solidFill>
                <a:schemeClr val="tx1"/>
              </a:solidFill>
            </a:endParaRPr>
          </a:p>
        </p:txBody>
      </p:sp>
      <p:sp>
        <p:nvSpPr>
          <p:cNvPr id="53" name="직사각형 52">
            <a:extLst>
              <a:ext uri="{FF2B5EF4-FFF2-40B4-BE49-F238E27FC236}">
                <a16:creationId xmlns:a16="http://schemas.microsoft.com/office/drawing/2014/main" id="{560B8D46-6A03-457A-919E-84105959F126}"/>
              </a:ext>
            </a:extLst>
          </p:cNvPr>
          <p:cNvSpPr/>
          <p:nvPr/>
        </p:nvSpPr>
        <p:spPr>
          <a:xfrm>
            <a:off x="7722905" y="6147587"/>
            <a:ext cx="3333979" cy="294127"/>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5</a:t>
            </a:r>
            <a:r>
              <a:rPr lang="ko-KR" altLang="en-US" sz="1200" dirty="0">
                <a:solidFill>
                  <a:schemeClr val="tx1"/>
                </a:solidFill>
              </a:rPr>
              <a:t>항</a:t>
            </a:r>
            <a:r>
              <a:rPr lang="en-US" altLang="ko-KR" sz="1200" dirty="0">
                <a:solidFill>
                  <a:schemeClr val="tx1"/>
                </a:solidFill>
              </a:rPr>
              <a:t>: </a:t>
            </a:r>
            <a:r>
              <a:rPr lang="ko-KR" altLang="en-US" sz="1200" dirty="0">
                <a:solidFill>
                  <a:schemeClr val="tx1"/>
                </a:solidFill>
              </a:rPr>
              <a:t>제출시기</a:t>
            </a:r>
            <a:endParaRPr lang="ko-KR" altLang="en-US" sz="1400" dirty="0">
              <a:solidFill>
                <a:schemeClr val="tx1"/>
              </a:solidFill>
            </a:endParaRPr>
          </a:p>
        </p:txBody>
      </p:sp>
      <p:sp>
        <p:nvSpPr>
          <p:cNvPr id="65" name="직사각형 64">
            <a:extLst>
              <a:ext uri="{FF2B5EF4-FFF2-40B4-BE49-F238E27FC236}">
                <a16:creationId xmlns:a16="http://schemas.microsoft.com/office/drawing/2014/main" id="{659B9B6E-9992-411F-A038-7B085387381B}"/>
              </a:ext>
            </a:extLst>
          </p:cNvPr>
          <p:cNvSpPr/>
          <p:nvPr/>
        </p:nvSpPr>
        <p:spPr>
          <a:xfrm>
            <a:off x="7722905" y="6492223"/>
            <a:ext cx="3333979" cy="294127"/>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6</a:t>
            </a:r>
            <a:r>
              <a:rPr lang="ko-KR" altLang="en-US" sz="1200" dirty="0">
                <a:solidFill>
                  <a:schemeClr val="tx1"/>
                </a:solidFill>
              </a:rPr>
              <a:t>황</a:t>
            </a:r>
            <a:r>
              <a:rPr lang="en-US" altLang="ko-KR" sz="1200" dirty="0">
                <a:solidFill>
                  <a:schemeClr val="tx1"/>
                </a:solidFill>
              </a:rPr>
              <a:t>: </a:t>
            </a:r>
            <a:r>
              <a:rPr lang="ko-KR" altLang="en-US" sz="1200" dirty="0" err="1">
                <a:solidFill>
                  <a:schemeClr val="tx1"/>
                </a:solidFill>
              </a:rPr>
              <a:t>부제출</a:t>
            </a:r>
            <a:r>
              <a:rPr lang="ko-KR" altLang="en-US" sz="1200" dirty="0">
                <a:solidFill>
                  <a:schemeClr val="tx1"/>
                </a:solidFill>
              </a:rPr>
              <a:t> 효과</a:t>
            </a:r>
            <a:endParaRPr lang="ko-KR" altLang="en-US" sz="1400" dirty="0">
              <a:solidFill>
                <a:schemeClr val="tx1"/>
              </a:solidFill>
            </a:endParaRPr>
          </a:p>
        </p:txBody>
      </p:sp>
      <p:cxnSp>
        <p:nvCxnSpPr>
          <p:cNvPr id="68" name="꺾인 연결선 70">
            <a:extLst>
              <a:ext uri="{FF2B5EF4-FFF2-40B4-BE49-F238E27FC236}">
                <a16:creationId xmlns:a16="http://schemas.microsoft.com/office/drawing/2014/main" id="{F83AB5FC-56FB-4850-BD8A-55EBBEA5C533}"/>
              </a:ext>
            </a:extLst>
          </p:cNvPr>
          <p:cNvCxnSpPr>
            <a:cxnSpLocks/>
            <a:stCxn id="67" idx="3"/>
            <a:endCxn id="65" idx="1"/>
          </p:cNvCxnSpPr>
          <p:nvPr/>
        </p:nvCxnSpPr>
        <p:spPr>
          <a:xfrm>
            <a:off x="6968360" y="6402568"/>
            <a:ext cx="754545" cy="236719"/>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꺾인 연결선 71">
            <a:extLst>
              <a:ext uri="{FF2B5EF4-FFF2-40B4-BE49-F238E27FC236}">
                <a16:creationId xmlns:a16="http://schemas.microsoft.com/office/drawing/2014/main" id="{10E9B0DE-A752-4FE2-ACAB-7E388642F9E8}"/>
              </a:ext>
            </a:extLst>
          </p:cNvPr>
          <p:cNvCxnSpPr>
            <a:cxnSpLocks/>
            <a:stCxn id="67" idx="3"/>
            <a:endCxn id="52" idx="1"/>
          </p:cNvCxnSpPr>
          <p:nvPr/>
        </p:nvCxnSpPr>
        <p:spPr>
          <a:xfrm flipV="1">
            <a:off x="6968360" y="5957891"/>
            <a:ext cx="754545" cy="444677"/>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72">
            <a:extLst>
              <a:ext uri="{FF2B5EF4-FFF2-40B4-BE49-F238E27FC236}">
                <a16:creationId xmlns:a16="http://schemas.microsoft.com/office/drawing/2014/main" id="{A2D27844-63BB-4DF2-A184-88B7F163DD2B}"/>
              </a:ext>
            </a:extLst>
          </p:cNvPr>
          <p:cNvCxnSpPr>
            <a:cxnSpLocks/>
            <a:stCxn id="67" idx="3"/>
            <a:endCxn id="53" idx="1"/>
          </p:cNvCxnSpPr>
          <p:nvPr/>
        </p:nvCxnSpPr>
        <p:spPr>
          <a:xfrm flipV="1">
            <a:off x="6968360" y="6294651"/>
            <a:ext cx="754545" cy="107917"/>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8091309"/>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55</a:t>
            </a:r>
            <a:r>
              <a:rPr lang="ko-KR" altLang="en-US" dirty="0"/>
              <a:t>조</a:t>
            </a:r>
            <a:r>
              <a:rPr lang="en-US" altLang="ko-KR" dirty="0"/>
              <a:t>, </a:t>
            </a:r>
            <a:r>
              <a:rPr lang="ko-KR" altLang="en-US" dirty="0"/>
              <a:t>제</a:t>
            </a:r>
            <a:r>
              <a:rPr lang="en-US" altLang="ko-KR" dirty="0"/>
              <a:t>56</a:t>
            </a:r>
            <a:r>
              <a:rPr lang="ko-KR" altLang="en-US" dirty="0"/>
              <a:t>조</a:t>
            </a:r>
          </a:p>
        </p:txBody>
      </p:sp>
      <p:sp>
        <p:nvSpPr>
          <p:cNvPr id="4" name="텍스트 개체 틀 3"/>
          <p:cNvSpPr>
            <a:spLocks noGrp="1"/>
          </p:cNvSpPr>
          <p:nvPr>
            <p:ph type="body" sz="quarter" idx="13"/>
          </p:nvPr>
        </p:nvSpPr>
        <p:spPr/>
        <p:txBody>
          <a:bodyPr/>
          <a:lstStyle/>
          <a:p>
            <a:r>
              <a:rPr lang="ko-KR" altLang="en-US" dirty="0"/>
              <a:t>국내우선권주장의 취지</a:t>
            </a:r>
          </a:p>
        </p:txBody>
      </p:sp>
      <p:sp>
        <p:nvSpPr>
          <p:cNvPr id="26" name="TextBox 25"/>
          <p:cNvSpPr txBox="1"/>
          <p:nvPr/>
        </p:nvSpPr>
        <p:spPr>
          <a:xfrm>
            <a:off x="77875" y="986046"/>
            <a:ext cx="11936323" cy="738664"/>
          </a:xfrm>
          <a:prstGeom prst="rect">
            <a:avLst/>
          </a:prstGeom>
          <a:noFill/>
        </p:spPr>
        <p:txBody>
          <a:bodyPr wrap="square" rtlCol="0">
            <a:spAutoFit/>
          </a:bodyPr>
          <a:lstStyle/>
          <a:p>
            <a:pPr fontAlgn="base"/>
            <a:r>
              <a:rPr lang="ko-KR" altLang="en-US" sz="1400" dirty="0"/>
              <a:t>국내우선권주장제도를 이용하는 경우 </a:t>
            </a:r>
            <a:r>
              <a:rPr lang="ko-KR" altLang="en-US" sz="1400" dirty="0" err="1"/>
              <a:t>선출원에</a:t>
            </a:r>
            <a:r>
              <a:rPr lang="ko-KR" altLang="en-US" sz="1400" dirty="0"/>
              <a:t> 포함된 </a:t>
            </a:r>
            <a:r>
              <a:rPr lang="ko-KR" altLang="en-US" sz="1400" dirty="0">
                <a:highlight>
                  <a:srgbClr val="FFFF00"/>
                </a:highlight>
              </a:rPr>
              <a:t>기본발명을 보다 구체화하거나 </a:t>
            </a:r>
            <a:r>
              <a:rPr lang="ko-KR" altLang="en-US" sz="1400" dirty="0" err="1">
                <a:highlight>
                  <a:srgbClr val="FFFF00"/>
                </a:highlight>
              </a:rPr>
              <a:t>개량ㆍ추가하는</a:t>
            </a:r>
            <a:r>
              <a:rPr lang="ko-KR" altLang="en-US" sz="1400" dirty="0">
                <a:highlight>
                  <a:srgbClr val="FFFF00"/>
                </a:highlight>
              </a:rPr>
              <a:t> 발명을 하였을 때 기본발명과 개량발명을 하나의 출원으로 보호함으로써 기술개발의 진전이 현저한 현 실정에 비추어 포괄적이고 </a:t>
            </a:r>
            <a:r>
              <a:rPr lang="ko-KR" altLang="en-US" sz="1400" dirty="0" err="1">
                <a:highlight>
                  <a:srgbClr val="FFFF00"/>
                </a:highlight>
              </a:rPr>
              <a:t>누락없이</a:t>
            </a:r>
            <a:r>
              <a:rPr lang="ko-KR" altLang="en-US" sz="1400" dirty="0">
                <a:highlight>
                  <a:srgbClr val="FFFF00"/>
                </a:highlight>
              </a:rPr>
              <a:t> 발명을 보호</a:t>
            </a:r>
            <a:r>
              <a:rPr lang="ko-KR" altLang="en-US" sz="1400" dirty="0"/>
              <a:t>할 수 있으며</a:t>
            </a:r>
            <a:r>
              <a:rPr lang="en-US" altLang="ko-KR" sz="1400" dirty="0"/>
              <a:t>, </a:t>
            </a:r>
            <a:r>
              <a:rPr lang="ko-KR" altLang="en-US" sz="1400" dirty="0"/>
              <a:t>출원절차의 간편 및 출원비용의 절감을 통한 출원인의 발명의욕을 고취시킬 수 있다</a:t>
            </a:r>
            <a:r>
              <a:rPr lang="en-US" altLang="ko-KR" sz="1400" dirty="0"/>
              <a:t>. </a:t>
            </a:r>
            <a:r>
              <a:rPr lang="ko-KR" altLang="en-US" sz="1400" dirty="0"/>
              <a:t>또한</a:t>
            </a:r>
            <a:r>
              <a:rPr lang="en-US" altLang="ko-KR" sz="1400" dirty="0"/>
              <a:t>, </a:t>
            </a:r>
            <a:r>
              <a:rPr lang="ko-KR" altLang="en-US" sz="1400" dirty="0">
                <a:highlight>
                  <a:srgbClr val="FFFF00"/>
                </a:highlight>
              </a:rPr>
              <a:t>기본발명의 출원심사청구기간 또는 특허권의 존속기간을 우선기간만큼 연장</a:t>
            </a:r>
            <a:r>
              <a:rPr lang="ko-KR" altLang="en-US" sz="1400" dirty="0"/>
              <a:t>할 수 있다</a:t>
            </a:r>
            <a:r>
              <a:rPr lang="en-US" altLang="ko-KR" sz="1400" dirty="0"/>
              <a:t>.</a:t>
            </a:r>
            <a:endParaRPr lang="ko-KR" altLang="en-US" sz="1400" dirty="0"/>
          </a:p>
        </p:txBody>
      </p:sp>
      <p:cxnSp>
        <p:nvCxnSpPr>
          <p:cNvPr id="27" name="직선 연결선 26"/>
          <p:cNvCxnSpPr/>
          <p:nvPr/>
        </p:nvCxnSpPr>
        <p:spPr>
          <a:xfrm>
            <a:off x="0" y="172341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직선 연결선 46"/>
          <p:cNvCxnSpPr/>
          <p:nvPr/>
        </p:nvCxnSpPr>
        <p:spPr>
          <a:xfrm>
            <a:off x="835934" y="3577997"/>
            <a:ext cx="10603591"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0" name="직선 화살표 연결선 49"/>
          <p:cNvCxnSpPr>
            <a:stCxn id="54" idx="1"/>
          </p:cNvCxnSpPr>
          <p:nvPr/>
        </p:nvCxnSpPr>
        <p:spPr>
          <a:xfrm flipH="1">
            <a:off x="2428875" y="4145127"/>
            <a:ext cx="2055772" cy="1543801"/>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3" name="양쪽 모서리가 둥근 사각형 62"/>
          <p:cNvSpPr/>
          <p:nvPr/>
        </p:nvSpPr>
        <p:spPr>
          <a:xfrm>
            <a:off x="1939074" y="3189832"/>
            <a:ext cx="3098839" cy="363303"/>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양쪽 모서리가 둥근 사각형 68"/>
          <p:cNvSpPr/>
          <p:nvPr/>
        </p:nvSpPr>
        <p:spPr>
          <a:xfrm>
            <a:off x="1939074" y="2870846"/>
            <a:ext cx="5737220" cy="682290"/>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양쪽 모서리가 둥근 사각형 69"/>
          <p:cNvSpPr/>
          <p:nvPr/>
        </p:nvSpPr>
        <p:spPr>
          <a:xfrm>
            <a:off x="1939076" y="2495550"/>
            <a:ext cx="7778634" cy="1057586"/>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Rectangle 29"/>
          <p:cNvSpPr>
            <a:spLocks noChangeArrowheads="1"/>
          </p:cNvSpPr>
          <p:nvPr/>
        </p:nvSpPr>
        <p:spPr bwMode="auto">
          <a:xfrm>
            <a:off x="2873666" y="2965987"/>
            <a:ext cx="1092319" cy="233941"/>
          </a:xfrm>
          <a:prstGeom prst="rect">
            <a:avLst/>
          </a:prstGeom>
          <a:noFill/>
          <a:ln w="9525">
            <a:noFill/>
            <a:miter lim="800000"/>
            <a:headEnd/>
            <a:tailEnd/>
          </a:ln>
        </p:spPr>
        <p:txBody>
          <a:bodyPr wrap="none" anchor="ctr"/>
          <a:lstStyle/>
          <a:p>
            <a:pPr algn="ctr">
              <a:defRPr/>
            </a:pPr>
            <a:r>
              <a:rPr lang="en-US" altLang="ko-KR" sz="1100">
                <a:solidFill>
                  <a:srgbClr val="000000"/>
                </a:solidFill>
                <a:latin typeface="+mn-ea"/>
              </a:rPr>
              <a:t>1</a:t>
            </a:r>
            <a:r>
              <a:rPr lang="ko-KR" altLang="en-US" sz="1100" dirty="0">
                <a:solidFill>
                  <a:srgbClr val="000000"/>
                </a:solidFill>
                <a:latin typeface="+mn-ea"/>
              </a:rPr>
              <a:t>년</a:t>
            </a:r>
          </a:p>
        </p:txBody>
      </p:sp>
      <p:sp>
        <p:nvSpPr>
          <p:cNvPr id="72" name="Rectangle 29"/>
          <p:cNvSpPr>
            <a:spLocks noChangeArrowheads="1"/>
          </p:cNvSpPr>
          <p:nvPr/>
        </p:nvSpPr>
        <p:spPr bwMode="auto">
          <a:xfrm>
            <a:off x="4118180" y="2639843"/>
            <a:ext cx="1092319" cy="233941"/>
          </a:xfrm>
          <a:prstGeom prst="rect">
            <a:avLst/>
          </a:prstGeom>
          <a:noFill/>
          <a:ln w="9525">
            <a:noFill/>
            <a:miter lim="800000"/>
            <a:headEnd/>
            <a:tailEnd/>
          </a:ln>
        </p:spPr>
        <p:txBody>
          <a:bodyPr wrap="none" anchor="ctr"/>
          <a:lstStyle/>
          <a:p>
            <a:pPr algn="ctr">
              <a:defRPr/>
            </a:pPr>
            <a:r>
              <a:rPr lang="en-US" altLang="ko-KR" sz="1100" dirty="0">
                <a:solidFill>
                  <a:srgbClr val="000000"/>
                </a:solidFill>
                <a:latin typeface="+mn-ea"/>
              </a:rPr>
              <a:t>1</a:t>
            </a:r>
            <a:r>
              <a:rPr lang="ko-KR" altLang="en-US" sz="1100" dirty="0">
                <a:solidFill>
                  <a:srgbClr val="000000"/>
                </a:solidFill>
                <a:latin typeface="+mn-ea"/>
              </a:rPr>
              <a:t>년 </a:t>
            </a:r>
            <a:r>
              <a:rPr lang="en-US" altLang="ko-KR" sz="1100" dirty="0">
                <a:solidFill>
                  <a:srgbClr val="000000"/>
                </a:solidFill>
                <a:latin typeface="+mn-ea"/>
              </a:rPr>
              <a:t>3</a:t>
            </a:r>
            <a:r>
              <a:rPr lang="ko-KR" altLang="en-US" sz="1100" dirty="0">
                <a:solidFill>
                  <a:srgbClr val="000000"/>
                </a:solidFill>
                <a:latin typeface="+mn-ea"/>
              </a:rPr>
              <a:t>개월</a:t>
            </a:r>
          </a:p>
        </p:txBody>
      </p:sp>
      <p:sp>
        <p:nvSpPr>
          <p:cNvPr id="73" name="Rectangle 29"/>
          <p:cNvSpPr>
            <a:spLocks noChangeArrowheads="1"/>
          </p:cNvSpPr>
          <p:nvPr/>
        </p:nvSpPr>
        <p:spPr bwMode="auto">
          <a:xfrm>
            <a:off x="5483164" y="2260353"/>
            <a:ext cx="1092319" cy="233941"/>
          </a:xfrm>
          <a:prstGeom prst="rect">
            <a:avLst/>
          </a:prstGeom>
          <a:noFill/>
          <a:ln w="9525">
            <a:noFill/>
            <a:miter lim="800000"/>
            <a:headEnd/>
            <a:tailEnd/>
          </a:ln>
        </p:spPr>
        <p:txBody>
          <a:bodyPr wrap="none" anchor="ctr"/>
          <a:lstStyle/>
          <a:p>
            <a:pPr algn="ctr">
              <a:defRPr/>
            </a:pPr>
            <a:r>
              <a:rPr lang="en-US" altLang="ko-KR" sz="1100" dirty="0">
                <a:solidFill>
                  <a:srgbClr val="000000"/>
                </a:solidFill>
                <a:latin typeface="+mn-ea"/>
              </a:rPr>
              <a:t>1</a:t>
            </a:r>
            <a:r>
              <a:rPr lang="ko-KR" altLang="en-US" sz="1100" dirty="0">
                <a:solidFill>
                  <a:srgbClr val="000000"/>
                </a:solidFill>
                <a:latin typeface="+mn-ea"/>
              </a:rPr>
              <a:t>년 </a:t>
            </a:r>
            <a:r>
              <a:rPr lang="en-US" altLang="ko-KR" sz="1100" dirty="0">
                <a:solidFill>
                  <a:srgbClr val="000000"/>
                </a:solidFill>
                <a:latin typeface="+mn-ea"/>
              </a:rPr>
              <a:t>6</a:t>
            </a:r>
            <a:r>
              <a:rPr lang="ko-KR" altLang="en-US" sz="1100" dirty="0">
                <a:solidFill>
                  <a:srgbClr val="000000"/>
                </a:solidFill>
                <a:latin typeface="+mn-ea"/>
              </a:rPr>
              <a:t>개월</a:t>
            </a:r>
          </a:p>
        </p:txBody>
      </p:sp>
      <p:cxnSp>
        <p:nvCxnSpPr>
          <p:cNvPr id="80" name="직선 연결선 79"/>
          <p:cNvCxnSpPr/>
          <p:nvPr/>
        </p:nvCxnSpPr>
        <p:spPr>
          <a:xfrm flipH="1">
            <a:off x="1928251" y="4163813"/>
            <a:ext cx="10822" cy="164516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직사각형 80"/>
          <p:cNvSpPr/>
          <p:nvPr/>
        </p:nvSpPr>
        <p:spPr>
          <a:xfrm>
            <a:off x="1176260" y="4030377"/>
            <a:ext cx="1525628"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82" name="직사각형 81"/>
          <p:cNvSpPr/>
          <p:nvPr/>
        </p:nvSpPr>
        <p:spPr>
          <a:xfrm>
            <a:off x="1176260" y="4259878"/>
            <a:ext cx="1525628" cy="22950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cxnSp>
        <p:nvCxnSpPr>
          <p:cNvPr id="83" name="직선 연결선 82"/>
          <p:cNvCxnSpPr>
            <a:stCxn id="82" idx="3"/>
            <a:endCxn id="54" idx="1"/>
          </p:cNvCxnSpPr>
          <p:nvPr/>
        </p:nvCxnSpPr>
        <p:spPr>
          <a:xfrm flipV="1">
            <a:off x="2701888" y="4145127"/>
            <a:ext cx="1782759" cy="229501"/>
          </a:xfrm>
          <a:prstGeom prst="line">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4" name="직선 연결선 83"/>
          <p:cNvCxnSpPr/>
          <p:nvPr/>
        </p:nvCxnSpPr>
        <p:spPr>
          <a:xfrm flipH="1">
            <a:off x="5027087" y="4163813"/>
            <a:ext cx="10822" cy="164516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Rectangle 29"/>
          <p:cNvSpPr>
            <a:spLocks noChangeArrowheads="1"/>
          </p:cNvSpPr>
          <p:nvPr/>
        </p:nvSpPr>
        <p:spPr bwMode="auto">
          <a:xfrm>
            <a:off x="1001208" y="5688928"/>
            <a:ext cx="1773220" cy="233941"/>
          </a:xfrm>
          <a:prstGeom prst="rect">
            <a:avLst/>
          </a:prstGeom>
          <a:solidFill>
            <a:schemeClr val="bg1"/>
          </a:solidFill>
          <a:ln w="9525">
            <a:noFill/>
            <a:miter lim="800000"/>
            <a:headEnd/>
            <a:tailEnd/>
          </a:ln>
        </p:spPr>
        <p:txBody>
          <a:bodyPr wrap="none" anchor="ctr"/>
          <a:lstStyle/>
          <a:p>
            <a:pPr algn="ctr">
              <a:defRPr/>
            </a:pPr>
            <a:r>
              <a:rPr lang="en-US" altLang="ko-KR" sz="1200" dirty="0">
                <a:solidFill>
                  <a:srgbClr val="FF0000"/>
                </a:solidFill>
                <a:latin typeface="+mn-ea"/>
              </a:rPr>
              <a:t>Y</a:t>
            </a:r>
            <a:r>
              <a:rPr lang="ko-KR" altLang="en-US" sz="1200" dirty="0">
                <a:solidFill>
                  <a:srgbClr val="FF0000"/>
                </a:solidFill>
                <a:latin typeface="+mn-ea"/>
              </a:rPr>
              <a:t>의 </a:t>
            </a:r>
            <a:r>
              <a:rPr lang="ko-KR" altLang="en-US" sz="1200" dirty="0" err="1">
                <a:solidFill>
                  <a:srgbClr val="FF0000"/>
                </a:solidFill>
                <a:latin typeface="+mn-ea"/>
              </a:rPr>
              <a:t>청구범위</a:t>
            </a:r>
            <a:r>
              <a:rPr lang="ko-KR" altLang="en-US" sz="1200" dirty="0">
                <a:solidFill>
                  <a:srgbClr val="FF0000"/>
                </a:solidFill>
                <a:latin typeface="+mn-ea"/>
              </a:rPr>
              <a:t> 中</a:t>
            </a:r>
            <a:endParaRPr lang="en-US" altLang="ko-KR" sz="1200" dirty="0">
              <a:solidFill>
                <a:srgbClr val="FF0000"/>
              </a:solidFill>
              <a:latin typeface="+mn-ea"/>
            </a:endParaRPr>
          </a:p>
          <a:p>
            <a:pPr algn="ctr">
              <a:defRPr/>
            </a:pPr>
            <a:r>
              <a:rPr lang="en-US" altLang="ko-KR" sz="1200" dirty="0">
                <a:solidFill>
                  <a:srgbClr val="FF0000"/>
                </a:solidFill>
                <a:latin typeface="+mn-ea"/>
              </a:rPr>
              <a:t>A</a:t>
            </a:r>
            <a:endParaRPr lang="ko-KR" altLang="en-US" sz="1200" dirty="0">
              <a:solidFill>
                <a:srgbClr val="FF0000"/>
              </a:solidFill>
              <a:latin typeface="+mn-ea"/>
            </a:endParaRPr>
          </a:p>
        </p:txBody>
      </p:sp>
      <p:sp>
        <p:nvSpPr>
          <p:cNvPr id="90" name="Rectangle 29"/>
          <p:cNvSpPr>
            <a:spLocks noChangeArrowheads="1"/>
          </p:cNvSpPr>
          <p:nvPr/>
        </p:nvSpPr>
        <p:spPr bwMode="auto">
          <a:xfrm>
            <a:off x="4158278" y="5688928"/>
            <a:ext cx="1773220" cy="233941"/>
          </a:xfrm>
          <a:prstGeom prst="rect">
            <a:avLst/>
          </a:prstGeom>
          <a:solidFill>
            <a:schemeClr val="bg1"/>
          </a:solidFill>
          <a:ln w="9525">
            <a:noFill/>
            <a:miter lim="800000"/>
            <a:headEnd/>
            <a:tailEnd/>
          </a:ln>
        </p:spPr>
        <p:txBody>
          <a:bodyPr wrap="none" anchor="ctr"/>
          <a:lstStyle/>
          <a:p>
            <a:pPr algn="ctr">
              <a:defRPr/>
            </a:pPr>
            <a:r>
              <a:rPr lang="en-US" altLang="ko-KR" sz="1200" dirty="0">
                <a:solidFill>
                  <a:srgbClr val="FF0000"/>
                </a:solidFill>
                <a:latin typeface="+mn-ea"/>
              </a:rPr>
              <a:t>Y</a:t>
            </a:r>
            <a:r>
              <a:rPr lang="ko-KR" altLang="en-US" sz="1200" dirty="0">
                <a:solidFill>
                  <a:srgbClr val="FF0000"/>
                </a:solidFill>
                <a:latin typeface="+mn-ea"/>
              </a:rPr>
              <a:t>의 </a:t>
            </a:r>
            <a:r>
              <a:rPr lang="ko-KR" altLang="en-US" sz="1200" dirty="0" err="1">
                <a:solidFill>
                  <a:srgbClr val="FF0000"/>
                </a:solidFill>
                <a:latin typeface="+mn-ea"/>
              </a:rPr>
              <a:t>청구범위</a:t>
            </a:r>
            <a:r>
              <a:rPr lang="ko-KR" altLang="en-US" sz="1200" dirty="0">
                <a:solidFill>
                  <a:srgbClr val="FF0000"/>
                </a:solidFill>
                <a:latin typeface="+mn-ea"/>
              </a:rPr>
              <a:t> 中</a:t>
            </a:r>
            <a:endParaRPr lang="en-US" altLang="ko-KR" sz="1200" dirty="0">
              <a:solidFill>
                <a:srgbClr val="FF0000"/>
              </a:solidFill>
              <a:latin typeface="+mn-ea"/>
            </a:endParaRPr>
          </a:p>
          <a:p>
            <a:pPr algn="ctr">
              <a:defRPr/>
            </a:pPr>
            <a:r>
              <a:rPr lang="en-US" altLang="ko-KR" sz="1200" dirty="0">
                <a:solidFill>
                  <a:srgbClr val="FF0000"/>
                </a:solidFill>
                <a:latin typeface="+mn-ea"/>
              </a:rPr>
              <a:t>C</a:t>
            </a:r>
            <a:endParaRPr lang="ko-KR" altLang="en-US" sz="1200" dirty="0">
              <a:solidFill>
                <a:srgbClr val="FF0000"/>
              </a:solidFill>
              <a:latin typeface="+mn-ea"/>
            </a:endParaRPr>
          </a:p>
        </p:txBody>
      </p:sp>
      <p:sp>
        <p:nvSpPr>
          <p:cNvPr id="91" name="TextBox 90"/>
          <p:cNvSpPr txBox="1"/>
          <p:nvPr/>
        </p:nvSpPr>
        <p:spPr>
          <a:xfrm>
            <a:off x="2842643" y="4694009"/>
            <a:ext cx="1024507" cy="584775"/>
          </a:xfrm>
          <a:prstGeom prst="rect">
            <a:avLst/>
          </a:prstGeom>
          <a:solidFill>
            <a:schemeClr val="bg1"/>
          </a:solidFill>
        </p:spPr>
        <p:txBody>
          <a:bodyPr wrap="square" rtlCol="0">
            <a:spAutoFit/>
          </a:bodyPr>
          <a:lstStyle/>
          <a:p>
            <a:pPr algn="ctr"/>
            <a:r>
              <a:rPr lang="ko-KR" altLang="en-US" sz="1600" dirty="0">
                <a:solidFill>
                  <a:srgbClr val="FF0000"/>
                </a:solidFill>
              </a:rPr>
              <a:t>판단시점 </a:t>
            </a:r>
            <a:endParaRPr lang="en-US" altLang="ko-KR" sz="1600" dirty="0">
              <a:solidFill>
                <a:srgbClr val="FF0000"/>
              </a:solidFill>
            </a:endParaRPr>
          </a:p>
          <a:p>
            <a:pPr algn="ctr"/>
            <a:r>
              <a:rPr lang="ko-KR" altLang="en-US" sz="1600" dirty="0">
                <a:solidFill>
                  <a:srgbClr val="FF0000"/>
                </a:solidFill>
              </a:rPr>
              <a:t>소급</a:t>
            </a:r>
          </a:p>
        </p:txBody>
      </p:sp>
      <p:sp>
        <p:nvSpPr>
          <p:cNvPr id="51" name="직사각형 50"/>
          <p:cNvSpPr/>
          <p:nvPr/>
        </p:nvSpPr>
        <p:spPr>
          <a:xfrm>
            <a:off x="4485283" y="3453722"/>
            <a:ext cx="1525628" cy="22950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한국출원</a:t>
            </a:r>
            <a:r>
              <a:rPr lang="en-US" altLang="ko-KR" sz="1100" dirty="0">
                <a:solidFill>
                  <a:schemeClr val="tx1"/>
                </a:solidFill>
              </a:rPr>
              <a:t>(Y)</a:t>
            </a:r>
            <a:endParaRPr lang="ko-KR" altLang="en-US" sz="1100" dirty="0">
              <a:solidFill>
                <a:schemeClr val="tx1"/>
              </a:solidFill>
            </a:endParaRPr>
          </a:p>
        </p:txBody>
      </p:sp>
      <p:sp>
        <p:nvSpPr>
          <p:cNvPr id="53" name="직사각형 52"/>
          <p:cNvSpPr/>
          <p:nvPr/>
        </p:nvSpPr>
        <p:spPr>
          <a:xfrm>
            <a:off x="4484647" y="3684478"/>
            <a:ext cx="1525628" cy="2295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X </a:t>
            </a:r>
            <a:r>
              <a:rPr lang="ko-KR" altLang="en-US" sz="1100" dirty="0">
                <a:solidFill>
                  <a:schemeClr val="tx1"/>
                </a:solidFill>
              </a:rPr>
              <a:t>기초 </a:t>
            </a:r>
            <a:r>
              <a:rPr lang="ko-KR" altLang="en-US" sz="1100" dirty="0" err="1">
                <a:solidFill>
                  <a:schemeClr val="tx1"/>
                </a:solidFill>
              </a:rPr>
              <a:t>우선권주장</a:t>
            </a:r>
            <a:endParaRPr lang="ko-KR" altLang="en-US" sz="1100" dirty="0">
              <a:solidFill>
                <a:schemeClr val="tx1"/>
              </a:solidFill>
            </a:endParaRPr>
          </a:p>
        </p:txBody>
      </p:sp>
      <p:sp>
        <p:nvSpPr>
          <p:cNvPr id="54" name="직사각형 53"/>
          <p:cNvSpPr/>
          <p:nvPr/>
        </p:nvSpPr>
        <p:spPr>
          <a:xfrm>
            <a:off x="4484647" y="4030377"/>
            <a:ext cx="1525628" cy="22950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C</a:t>
            </a:r>
            <a:endParaRPr lang="ko-KR" altLang="en-US" sz="1100" dirty="0">
              <a:solidFill>
                <a:schemeClr val="tx1"/>
              </a:solidFill>
            </a:endParaRPr>
          </a:p>
        </p:txBody>
      </p:sp>
      <p:sp>
        <p:nvSpPr>
          <p:cNvPr id="61" name="직사각형 60"/>
          <p:cNvSpPr/>
          <p:nvPr/>
        </p:nvSpPr>
        <p:spPr>
          <a:xfrm>
            <a:off x="4484647" y="4259878"/>
            <a:ext cx="1525628"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sp>
        <p:nvSpPr>
          <p:cNvPr id="67" name="직사각형 66"/>
          <p:cNvSpPr/>
          <p:nvPr/>
        </p:nvSpPr>
        <p:spPr>
          <a:xfrm>
            <a:off x="6989100" y="3465402"/>
            <a:ext cx="1354800" cy="23686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취하간주</a:t>
            </a:r>
            <a:r>
              <a:rPr lang="en-US" altLang="ko-KR" sz="1100" dirty="0">
                <a:solidFill>
                  <a:schemeClr val="tx1"/>
                </a:solidFill>
              </a:rPr>
              <a:t>(X)</a:t>
            </a:r>
            <a:endParaRPr lang="ko-KR" altLang="en-US" sz="1100" dirty="0">
              <a:solidFill>
                <a:schemeClr val="tx1"/>
              </a:solidFill>
            </a:endParaRPr>
          </a:p>
        </p:txBody>
      </p:sp>
      <p:sp>
        <p:nvSpPr>
          <p:cNvPr id="68" name="직사각형 67"/>
          <p:cNvSpPr/>
          <p:nvPr/>
        </p:nvSpPr>
        <p:spPr>
          <a:xfrm>
            <a:off x="9034120" y="3472772"/>
            <a:ext cx="1367180" cy="22950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출원공개</a:t>
            </a:r>
            <a:r>
              <a:rPr lang="en-US" altLang="ko-KR" sz="1100" dirty="0">
                <a:solidFill>
                  <a:schemeClr val="tx1"/>
                </a:solidFill>
              </a:rPr>
              <a:t>(Y)</a:t>
            </a:r>
            <a:endParaRPr lang="ko-KR" altLang="en-US" sz="1100" dirty="0">
              <a:solidFill>
                <a:schemeClr val="tx1"/>
              </a:solidFill>
            </a:endParaRPr>
          </a:p>
        </p:txBody>
      </p:sp>
      <p:sp>
        <p:nvSpPr>
          <p:cNvPr id="49" name="직사각형 48"/>
          <p:cNvSpPr/>
          <p:nvPr/>
        </p:nvSpPr>
        <p:spPr>
          <a:xfrm>
            <a:off x="1176260" y="3453722"/>
            <a:ext cx="1525628"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한국출원</a:t>
            </a:r>
            <a:r>
              <a:rPr lang="en-US" altLang="ko-KR" sz="1100" dirty="0">
                <a:solidFill>
                  <a:schemeClr val="tx1"/>
                </a:solidFill>
              </a:rPr>
              <a:t>(X)</a:t>
            </a:r>
            <a:endParaRPr lang="ko-KR" altLang="en-US" sz="1100" dirty="0">
              <a:solidFill>
                <a:schemeClr val="tx1"/>
              </a:solidFill>
            </a:endParaRPr>
          </a:p>
        </p:txBody>
      </p:sp>
      <p:sp>
        <p:nvSpPr>
          <p:cNvPr id="2" name="슬라이드 번호 개체 틀 1"/>
          <p:cNvSpPr>
            <a:spLocks noGrp="1"/>
          </p:cNvSpPr>
          <p:nvPr>
            <p:ph type="sldNum" sz="quarter" idx="12"/>
          </p:nvPr>
        </p:nvSpPr>
        <p:spPr/>
        <p:txBody>
          <a:bodyPr/>
          <a:lstStyle/>
          <a:p>
            <a:r>
              <a:rPr lang="en-US" altLang="ko-KR"/>
              <a:t>227</a:t>
            </a:r>
            <a:endParaRPr lang="ko-KR" altLang="en-US"/>
          </a:p>
        </p:txBody>
      </p:sp>
    </p:spTree>
    <p:extLst>
      <p:ext uri="{BB962C8B-B14F-4D97-AF65-F5344CB8AC3E}">
        <p14:creationId xmlns:p14="http://schemas.microsoft.com/office/powerpoint/2010/main" val="1660113656"/>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55</a:t>
            </a:r>
            <a:r>
              <a:rPr lang="ko-KR" altLang="en-US" dirty="0"/>
              <a:t>조</a:t>
            </a:r>
            <a:r>
              <a:rPr lang="en-US" altLang="ko-KR" dirty="0"/>
              <a:t>, </a:t>
            </a:r>
            <a:r>
              <a:rPr lang="ko-KR" altLang="en-US" dirty="0"/>
              <a:t>제</a:t>
            </a:r>
            <a:r>
              <a:rPr lang="en-US" altLang="ko-KR" dirty="0"/>
              <a:t>56</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solidFill>
                  <a:srgbClr val="525252"/>
                </a:solidFill>
              </a:rPr>
              <a:t>우선권주장을 할 수 있는 자</a:t>
            </a:r>
            <a:r>
              <a:rPr lang="en-US" altLang="ko-KR" dirty="0">
                <a:solidFill>
                  <a:srgbClr val="525252"/>
                </a:solidFill>
              </a:rPr>
              <a:t>(</a:t>
            </a:r>
            <a:r>
              <a:rPr lang="ko-KR" altLang="en-US" dirty="0">
                <a:solidFill>
                  <a:srgbClr val="525252"/>
                </a:solidFill>
              </a:rPr>
              <a:t>제</a:t>
            </a:r>
            <a:r>
              <a:rPr lang="en-US" altLang="ko-KR" dirty="0">
                <a:solidFill>
                  <a:srgbClr val="525252"/>
                </a:solidFill>
              </a:rPr>
              <a:t>55</a:t>
            </a:r>
            <a:r>
              <a:rPr lang="ko-KR" altLang="en-US" dirty="0">
                <a:solidFill>
                  <a:srgbClr val="525252"/>
                </a:solidFill>
              </a:rPr>
              <a:t>조제</a:t>
            </a:r>
            <a:r>
              <a:rPr lang="en-US" altLang="ko-KR" dirty="0">
                <a:solidFill>
                  <a:srgbClr val="525252"/>
                </a:solidFill>
              </a:rPr>
              <a:t>1</a:t>
            </a:r>
            <a:r>
              <a:rPr lang="ko-KR" altLang="en-US" dirty="0">
                <a:solidFill>
                  <a:srgbClr val="525252"/>
                </a:solidFill>
              </a:rPr>
              <a:t>항</a:t>
            </a:r>
            <a:r>
              <a:rPr lang="en-US" altLang="ko-KR" dirty="0">
                <a:solidFill>
                  <a:srgbClr val="525252"/>
                </a:solidFill>
              </a:rPr>
              <a:t>)</a:t>
            </a:r>
            <a:endParaRPr lang="ko-KR" altLang="en-US" dirty="0">
              <a:solidFill>
                <a:srgbClr val="525252"/>
              </a:solidFill>
            </a:endParaRPr>
          </a:p>
        </p:txBody>
      </p:sp>
      <p:sp>
        <p:nvSpPr>
          <p:cNvPr id="5" name="슬라이드 번호 개체 틀 4"/>
          <p:cNvSpPr>
            <a:spLocks noGrp="1"/>
          </p:cNvSpPr>
          <p:nvPr>
            <p:ph type="sldNum" sz="quarter" idx="4294967295"/>
          </p:nvPr>
        </p:nvSpPr>
        <p:spPr>
          <a:xfrm>
            <a:off x="11144250" y="3175"/>
            <a:ext cx="1047750" cy="714375"/>
          </a:xfrm>
        </p:spPr>
        <p:txBody>
          <a:bodyPr/>
          <a:lstStyle/>
          <a:p>
            <a:r>
              <a:rPr lang="en-US" altLang="ko-KR"/>
              <a:t>228</a:t>
            </a:r>
            <a:endParaRPr lang="ko-KR" altLang="en-US"/>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42" name="TextBox 41">
            <a:extLst>
              <a:ext uri="{FF2B5EF4-FFF2-40B4-BE49-F238E27FC236}">
                <a16:creationId xmlns:a16="http://schemas.microsoft.com/office/drawing/2014/main" id="{CC008379-E292-4BEB-8714-A1019DC5B169}"/>
              </a:ext>
            </a:extLst>
          </p:cNvPr>
          <p:cNvSpPr txBox="1"/>
          <p:nvPr/>
        </p:nvSpPr>
        <p:spPr>
          <a:xfrm>
            <a:off x="77875" y="1341693"/>
            <a:ext cx="11936323" cy="3693319"/>
          </a:xfrm>
          <a:prstGeom prst="rect">
            <a:avLst/>
          </a:prstGeom>
          <a:noFill/>
        </p:spPr>
        <p:txBody>
          <a:bodyPr wrap="square" rtlCol="0">
            <a:spAutoFit/>
          </a:bodyPr>
          <a:lstStyle/>
          <a:p>
            <a:pPr fontAlgn="base"/>
            <a:r>
              <a:rPr lang="en-US" altLang="ko-KR" sz="1300" dirty="0"/>
              <a:t>…(</a:t>
            </a:r>
            <a:r>
              <a:rPr lang="ko-KR" altLang="en-US" sz="1300" dirty="0"/>
              <a:t>중략</a:t>
            </a:r>
            <a:r>
              <a:rPr lang="en-US" altLang="ko-KR" sz="1300" dirty="0"/>
              <a:t>)…</a:t>
            </a:r>
            <a:r>
              <a:rPr lang="ko-KR" altLang="en-US" sz="1300" dirty="0"/>
              <a:t>이러한 국내우선권 제도의 취지는 기술개발이 지속적으로 이루어지는 점을 감안하여 발명자의 누적된 성과를 특허권으로 보호받을 수 있도록 하는 것이다</a:t>
            </a:r>
            <a:r>
              <a:rPr lang="en-US" altLang="ko-KR" sz="1300" dirty="0"/>
              <a:t>. </a:t>
            </a:r>
            <a:r>
              <a:rPr lang="ko-KR" altLang="en-US" sz="1300" dirty="0"/>
              <a:t>발명을 한 자 또는 그 승계인은 특허법에서 정하는 바에 의하여 특허를 받을 수 있는 권리를 갖고</a:t>
            </a:r>
            <a:r>
              <a:rPr lang="en-US" altLang="ko-KR" sz="1300" dirty="0"/>
              <a:t>(</a:t>
            </a:r>
            <a:r>
              <a:rPr lang="ko-KR" altLang="en-US" sz="1300" dirty="0"/>
              <a:t>특허법 제</a:t>
            </a:r>
            <a:r>
              <a:rPr lang="en-US" altLang="ko-KR" sz="1300" dirty="0"/>
              <a:t>33</a:t>
            </a:r>
            <a:r>
              <a:rPr lang="ko-KR" altLang="en-US" sz="1300" dirty="0"/>
              <a:t>조 제</a:t>
            </a:r>
            <a:r>
              <a:rPr lang="en-US" altLang="ko-KR" sz="1300" dirty="0"/>
              <a:t>1</a:t>
            </a:r>
            <a:r>
              <a:rPr lang="ko-KR" altLang="en-US" sz="1300" dirty="0"/>
              <a:t>항 본문</a:t>
            </a:r>
            <a:r>
              <a:rPr lang="en-US" altLang="ko-KR" sz="1300" dirty="0"/>
              <a:t>), </a:t>
            </a:r>
            <a:r>
              <a:rPr lang="ko-KR" altLang="en-US" sz="1300" dirty="0"/>
              <a:t>특허를 받을 수 있는 권리는 이전할 수 있으므로</a:t>
            </a:r>
            <a:r>
              <a:rPr lang="en-US" altLang="ko-KR" sz="1300" dirty="0"/>
              <a:t>(</a:t>
            </a:r>
            <a:r>
              <a:rPr lang="ko-KR" altLang="en-US" sz="1300" dirty="0"/>
              <a:t>특허법 제</a:t>
            </a:r>
            <a:r>
              <a:rPr lang="en-US" altLang="ko-KR" sz="1300" dirty="0"/>
              <a:t>37</a:t>
            </a:r>
            <a:r>
              <a:rPr lang="ko-KR" altLang="en-US" sz="1300" dirty="0"/>
              <a:t>조 제</a:t>
            </a:r>
            <a:r>
              <a:rPr lang="en-US" altLang="ko-KR" sz="1300" dirty="0"/>
              <a:t>1</a:t>
            </a:r>
            <a:r>
              <a:rPr lang="ko-KR" altLang="en-US" sz="1300" dirty="0"/>
              <a:t>항</a:t>
            </a:r>
            <a:r>
              <a:rPr lang="en-US" altLang="ko-KR" sz="1300" dirty="0"/>
              <a:t>), </a:t>
            </a:r>
            <a:r>
              <a:rPr lang="ko-KR" altLang="en-US" sz="1300" dirty="0"/>
              <a:t>후출원의 출원인이 </a:t>
            </a:r>
            <a:r>
              <a:rPr lang="ko-KR" altLang="en-US" sz="1300" dirty="0" err="1"/>
              <a:t>후출원</a:t>
            </a:r>
            <a:r>
              <a:rPr lang="ko-KR" altLang="en-US" sz="1300" dirty="0"/>
              <a:t> 시에 ‘특허를 받을 수 있는 </a:t>
            </a:r>
            <a:r>
              <a:rPr lang="ko-KR" altLang="en-US" sz="1300" dirty="0" err="1"/>
              <a:t>권리’를</a:t>
            </a:r>
            <a:r>
              <a:rPr lang="ko-KR" altLang="en-US" sz="1300" dirty="0"/>
              <a:t> 승계하였다면 우선권 주장을 할 수 있고</a:t>
            </a:r>
            <a:r>
              <a:rPr lang="en-US" altLang="ko-KR" sz="1300" dirty="0"/>
              <a:t>, </a:t>
            </a:r>
            <a:r>
              <a:rPr lang="ko-KR" altLang="en-US" sz="1300" dirty="0" err="1"/>
              <a:t>후출원</a:t>
            </a:r>
            <a:r>
              <a:rPr lang="ko-KR" altLang="en-US" sz="1300" dirty="0"/>
              <a:t> 시에 선출원에 대하여 </a:t>
            </a:r>
            <a:r>
              <a:rPr lang="ko-KR" altLang="en-US" sz="1300" dirty="0" err="1"/>
              <a:t>특허출원인변경신고를</a:t>
            </a:r>
            <a:r>
              <a:rPr lang="ko-KR" altLang="en-US" sz="1300" dirty="0"/>
              <a:t> 마쳐야만 하는 것은 아니다</a:t>
            </a:r>
            <a:r>
              <a:rPr lang="en-US" altLang="ko-KR" sz="1300" dirty="0"/>
              <a:t>. </a:t>
            </a:r>
            <a:r>
              <a:rPr lang="ko-KR" altLang="en-US" sz="1300" dirty="0">
                <a:highlight>
                  <a:srgbClr val="FFFF00"/>
                </a:highlight>
              </a:rPr>
              <a:t>특허출원 후 특허를 받을 수 있는 권리의 승계는 상속 기타 일반승계의 경우를 제외하고는 </a:t>
            </a:r>
            <a:r>
              <a:rPr lang="ko-KR" altLang="en-US" sz="1300" dirty="0" err="1">
                <a:highlight>
                  <a:srgbClr val="FFFF00"/>
                </a:highlight>
              </a:rPr>
              <a:t>특허출원인변경신고를</a:t>
            </a:r>
            <a:r>
              <a:rPr lang="ko-KR" altLang="en-US" sz="1300" dirty="0">
                <a:highlight>
                  <a:srgbClr val="FFFF00"/>
                </a:highlight>
              </a:rPr>
              <a:t> 하지 아니하면 그 효력이 발생하지 아니한다고 규정한 특허법 제</a:t>
            </a:r>
            <a:r>
              <a:rPr lang="en-US" altLang="ko-KR" sz="1300" dirty="0">
                <a:highlight>
                  <a:srgbClr val="FFFF00"/>
                </a:highlight>
              </a:rPr>
              <a:t>38</a:t>
            </a:r>
            <a:r>
              <a:rPr lang="ko-KR" altLang="en-US" sz="1300" dirty="0">
                <a:highlight>
                  <a:srgbClr val="FFFF00"/>
                </a:highlight>
              </a:rPr>
              <a:t>조 제</a:t>
            </a:r>
            <a:r>
              <a:rPr lang="en-US" altLang="ko-KR" sz="1300" dirty="0">
                <a:highlight>
                  <a:srgbClr val="FFFF00"/>
                </a:highlight>
              </a:rPr>
              <a:t>4</a:t>
            </a:r>
            <a:r>
              <a:rPr lang="ko-KR" altLang="en-US" sz="1300" dirty="0">
                <a:highlight>
                  <a:srgbClr val="FFFF00"/>
                </a:highlight>
              </a:rPr>
              <a:t>항은 특허에 관한 절차에서 참여자와 특허를 </a:t>
            </a:r>
            <a:r>
              <a:rPr lang="ko-KR" altLang="en-US" sz="1300" dirty="0" err="1">
                <a:highlight>
                  <a:srgbClr val="FFFF00"/>
                </a:highlight>
              </a:rPr>
              <a:t>등록받을</a:t>
            </a:r>
            <a:r>
              <a:rPr lang="ko-KR" altLang="en-US" sz="1300" dirty="0">
                <a:highlight>
                  <a:srgbClr val="FFFF00"/>
                </a:highlight>
              </a:rPr>
              <a:t> 자를 쉽게 확정함으로써 출원심사의 편의성 및 신속성을 추구하고자 하는 규정으로 우선권주장에 관한 절차에 적용된다고 볼 수 없다</a:t>
            </a:r>
            <a:r>
              <a:rPr lang="en-US" altLang="ko-KR" sz="1300" dirty="0">
                <a:highlight>
                  <a:srgbClr val="FFFF00"/>
                </a:highlight>
              </a:rPr>
              <a:t>. </a:t>
            </a:r>
            <a:r>
              <a:rPr lang="ko-KR" altLang="en-US" sz="1300" dirty="0">
                <a:highlight>
                  <a:srgbClr val="FFFF00"/>
                </a:highlight>
              </a:rPr>
              <a:t>따라서 후출원의 출원인이 선출원의 출원인과 다르더라도 특허를 받을 수 있는 권리를 </a:t>
            </a:r>
            <a:r>
              <a:rPr lang="ko-KR" altLang="en-US" sz="1300" dirty="0" err="1">
                <a:highlight>
                  <a:srgbClr val="FFFF00"/>
                </a:highlight>
              </a:rPr>
              <a:t>승계받았다면</a:t>
            </a:r>
            <a:r>
              <a:rPr lang="ko-KR" altLang="en-US" sz="1300" dirty="0">
                <a:highlight>
                  <a:srgbClr val="FFFF00"/>
                </a:highlight>
              </a:rPr>
              <a:t> 우선권 주장을 할 수 있다고 보아야 한다</a:t>
            </a:r>
            <a:r>
              <a:rPr lang="en-US" altLang="ko-KR" sz="1300" dirty="0">
                <a:highlight>
                  <a:srgbClr val="FFFF00"/>
                </a:highlight>
              </a:rPr>
              <a:t>.</a:t>
            </a:r>
          </a:p>
          <a:p>
            <a:pPr fontAlgn="base"/>
            <a:r>
              <a:rPr lang="en-US" altLang="ko-KR" sz="1300" dirty="0"/>
              <a:t>  ➀ PCT </a:t>
            </a:r>
            <a:r>
              <a:rPr lang="ko-KR" altLang="en-US" sz="1300" dirty="0"/>
              <a:t>자기지정출원 과정에서 </a:t>
            </a:r>
            <a:r>
              <a:rPr lang="ko-KR" altLang="en-US" sz="1300" dirty="0" err="1"/>
              <a:t>후출원인이</a:t>
            </a:r>
            <a:r>
              <a:rPr lang="ko-KR" altLang="en-US" sz="1300" dirty="0"/>
              <a:t> 선출원인으로부터 특허를 받을 수 있는 권리를 실질적으로 </a:t>
            </a:r>
            <a:r>
              <a:rPr lang="ko-KR" altLang="en-US" sz="1300" dirty="0" err="1"/>
              <a:t>승계받았는지</a:t>
            </a:r>
            <a:r>
              <a:rPr lang="ko-KR" altLang="en-US" sz="1300" dirty="0"/>
              <a:t> 여부에 대한 </a:t>
            </a:r>
            <a:r>
              <a:rPr lang="ko-KR" altLang="en-US" sz="1300" dirty="0">
                <a:highlight>
                  <a:srgbClr val="00FFFF"/>
                </a:highlight>
              </a:rPr>
              <a:t>실체심사는 </a:t>
            </a:r>
            <a:r>
              <a:rPr lang="en-US" altLang="ko-KR" sz="1300" dirty="0">
                <a:highlight>
                  <a:srgbClr val="00FFFF"/>
                </a:highlight>
              </a:rPr>
              <a:t>PCT </a:t>
            </a:r>
            <a:r>
              <a:rPr lang="ko-KR" altLang="en-US" sz="1300" dirty="0">
                <a:highlight>
                  <a:srgbClr val="00FFFF"/>
                </a:highlight>
              </a:rPr>
              <a:t>제</a:t>
            </a:r>
            <a:r>
              <a:rPr lang="en-US" altLang="ko-KR" sz="1300" dirty="0">
                <a:highlight>
                  <a:srgbClr val="00FFFF"/>
                </a:highlight>
              </a:rPr>
              <a:t>8</a:t>
            </a:r>
            <a:r>
              <a:rPr lang="ko-KR" altLang="en-US" sz="1300" dirty="0">
                <a:highlight>
                  <a:srgbClr val="00FFFF"/>
                </a:highlight>
              </a:rPr>
              <a:t>조 ⑵⒝에 따라 국내단계에 진입한 이후에 우리나라의 법령에 따라 해야 한다</a:t>
            </a:r>
            <a:r>
              <a:rPr lang="en-US" altLang="ko-KR" sz="1300" dirty="0">
                <a:highlight>
                  <a:srgbClr val="00FFFF"/>
                </a:highlight>
              </a:rPr>
              <a:t>. </a:t>
            </a:r>
            <a:r>
              <a:rPr lang="ko-KR" altLang="en-US" sz="1300" dirty="0"/>
              <a:t>지식재산처장은 특허를 받을 수 있는 권리를 승계한 자가 특허에 관한 절차를 밟고자 하는 경우에는 그 승계인임을 증명하는 서류를 제출하게 할 수 있으므로</a:t>
            </a:r>
            <a:r>
              <a:rPr lang="en-US" altLang="ko-KR" sz="1300" dirty="0"/>
              <a:t>(</a:t>
            </a:r>
            <a:r>
              <a:rPr lang="ko-KR" altLang="en-US" sz="1300" dirty="0"/>
              <a:t>특허법 시행규칙 제</a:t>
            </a:r>
            <a:r>
              <a:rPr lang="en-US" altLang="ko-KR" sz="1300" dirty="0"/>
              <a:t>7</a:t>
            </a:r>
            <a:r>
              <a:rPr lang="ko-KR" altLang="en-US" sz="1300" dirty="0"/>
              <a:t>조 제</a:t>
            </a:r>
            <a:r>
              <a:rPr lang="en-US" altLang="ko-KR" sz="1300" dirty="0"/>
              <a:t>1</a:t>
            </a:r>
            <a:r>
              <a:rPr lang="ko-KR" altLang="en-US" sz="1300" dirty="0"/>
              <a:t>항</a:t>
            </a:r>
            <a:r>
              <a:rPr lang="en-US" altLang="ko-KR" sz="1300" dirty="0"/>
              <a:t>), </a:t>
            </a:r>
            <a:r>
              <a:rPr lang="ko-KR" altLang="en-US" sz="1300" dirty="0"/>
              <a:t>필요한 경우 보완을 요구함으로써 권리의 승계 여부를 심사할 수 있다</a:t>
            </a:r>
            <a:r>
              <a:rPr lang="en-US" altLang="ko-KR" sz="1300" dirty="0"/>
              <a:t>. </a:t>
            </a:r>
            <a:r>
              <a:rPr lang="ko-KR" altLang="en-US" sz="1300" dirty="0"/>
              <a:t>그리고 </a:t>
            </a:r>
            <a:r>
              <a:rPr lang="ko-KR" altLang="en-US" sz="1300" dirty="0">
                <a:highlight>
                  <a:srgbClr val="00FFFF"/>
                </a:highlight>
              </a:rPr>
              <a:t>특허법 제</a:t>
            </a:r>
            <a:r>
              <a:rPr lang="en-US" altLang="ko-KR" sz="1300" dirty="0">
                <a:highlight>
                  <a:srgbClr val="00FFFF"/>
                </a:highlight>
              </a:rPr>
              <a:t>38</a:t>
            </a:r>
            <a:r>
              <a:rPr lang="ko-KR" altLang="en-US" sz="1300" dirty="0">
                <a:highlight>
                  <a:srgbClr val="00FFFF"/>
                </a:highlight>
              </a:rPr>
              <a:t>조 제</a:t>
            </a:r>
            <a:r>
              <a:rPr lang="en-US" altLang="ko-KR" sz="1300" dirty="0">
                <a:highlight>
                  <a:srgbClr val="00FFFF"/>
                </a:highlight>
              </a:rPr>
              <a:t>4</a:t>
            </a:r>
            <a:r>
              <a:rPr lang="ko-KR" altLang="en-US" sz="1300" dirty="0">
                <a:highlight>
                  <a:srgbClr val="00FFFF"/>
                </a:highlight>
              </a:rPr>
              <a:t>항을 특허를 받을 수 있는 권리를 승계한 </a:t>
            </a:r>
            <a:r>
              <a:rPr lang="ko-KR" altLang="en-US" sz="1300" dirty="0" err="1">
                <a:highlight>
                  <a:srgbClr val="00FFFF"/>
                </a:highlight>
              </a:rPr>
              <a:t>후출원인이</a:t>
            </a:r>
            <a:r>
              <a:rPr lang="ko-KR" altLang="en-US" sz="1300" dirty="0">
                <a:highlight>
                  <a:srgbClr val="00FFFF"/>
                </a:highlight>
              </a:rPr>
              <a:t> </a:t>
            </a:r>
            <a:r>
              <a:rPr lang="en-US" altLang="ko-KR" sz="1300" dirty="0">
                <a:highlight>
                  <a:srgbClr val="00FFFF"/>
                </a:highlight>
              </a:rPr>
              <a:t>PCT </a:t>
            </a:r>
            <a:r>
              <a:rPr lang="ko-KR" altLang="en-US" sz="1300" dirty="0">
                <a:highlight>
                  <a:srgbClr val="00FFFF"/>
                </a:highlight>
              </a:rPr>
              <a:t>국제출원을 하기 전에 그 </a:t>
            </a:r>
            <a:r>
              <a:rPr lang="ko-KR" altLang="en-US" sz="1300" dirty="0" err="1">
                <a:highlight>
                  <a:srgbClr val="00FFFF"/>
                </a:highlight>
              </a:rPr>
              <a:t>후출원인에게</a:t>
            </a:r>
            <a:r>
              <a:rPr lang="ko-KR" altLang="en-US" sz="1300" dirty="0">
                <a:highlight>
                  <a:srgbClr val="00FFFF"/>
                </a:highlight>
              </a:rPr>
              <a:t> 국내에서 </a:t>
            </a:r>
            <a:r>
              <a:rPr lang="ko-KR" altLang="en-US" sz="1300" dirty="0" err="1">
                <a:highlight>
                  <a:srgbClr val="00FFFF"/>
                </a:highlight>
              </a:rPr>
              <a:t>특허출원인변경신고를</a:t>
            </a:r>
            <a:r>
              <a:rPr lang="ko-KR" altLang="en-US" sz="1300" dirty="0">
                <a:highlight>
                  <a:srgbClr val="00FFFF"/>
                </a:highlight>
              </a:rPr>
              <a:t> 마칠 것을 요구하는 것으로 해석한다면</a:t>
            </a:r>
            <a:r>
              <a:rPr lang="en-US" altLang="ko-KR" sz="1300" dirty="0">
                <a:highlight>
                  <a:srgbClr val="00FFFF"/>
                </a:highlight>
              </a:rPr>
              <a:t>, </a:t>
            </a:r>
            <a:r>
              <a:rPr lang="ko-KR" altLang="en-US" sz="1300" dirty="0" err="1">
                <a:highlight>
                  <a:srgbClr val="00FFFF"/>
                </a:highlight>
              </a:rPr>
              <a:t>후출원인은</a:t>
            </a:r>
            <a:r>
              <a:rPr lang="ko-KR" altLang="en-US" sz="1300" dirty="0">
                <a:highlight>
                  <a:srgbClr val="00FFFF"/>
                </a:highlight>
              </a:rPr>
              <a:t> 국내단계에서 절차상 하자를 보완할 기회를 상실하게 되므로 국내우선권 제도의 취지에 부합된다고 볼 수 없다</a:t>
            </a:r>
            <a:r>
              <a:rPr lang="en-US" altLang="ko-KR" sz="1300" dirty="0">
                <a:highlight>
                  <a:srgbClr val="00FFFF"/>
                </a:highlight>
              </a:rPr>
              <a:t>.</a:t>
            </a:r>
            <a:r>
              <a:rPr lang="en-US" altLang="ko-KR" sz="1300" dirty="0"/>
              <a:t> </a:t>
            </a:r>
            <a:r>
              <a:rPr lang="ko-KR" altLang="en-US" sz="1300" dirty="0"/>
              <a:t>또한</a:t>
            </a:r>
            <a:r>
              <a:rPr lang="ko-KR" altLang="en-US" sz="1300" u="sng" dirty="0">
                <a:highlight>
                  <a:srgbClr val="00FF00"/>
                </a:highlight>
              </a:rPr>
              <a:t> </a:t>
            </a:r>
            <a:r>
              <a:rPr lang="ko-KR" altLang="en-US" sz="1300" dirty="0" err="1">
                <a:highlight>
                  <a:srgbClr val="00FF00"/>
                </a:highlight>
              </a:rPr>
              <a:t>선출원</a:t>
            </a:r>
            <a:r>
              <a:rPr lang="ko-KR" altLang="en-US" sz="1300" dirty="0">
                <a:highlight>
                  <a:srgbClr val="00FF00"/>
                </a:highlight>
              </a:rPr>
              <a:t> 발명을 개량하여 </a:t>
            </a:r>
            <a:r>
              <a:rPr lang="ko-KR" altLang="en-US" sz="1300" dirty="0" err="1">
                <a:highlight>
                  <a:srgbClr val="00FF00"/>
                </a:highlight>
              </a:rPr>
              <a:t>후출원</a:t>
            </a:r>
            <a:r>
              <a:rPr lang="ko-KR" altLang="en-US" sz="1300" dirty="0">
                <a:highlight>
                  <a:srgbClr val="00FF00"/>
                </a:highlight>
              </a:rPr>
              <a:t> 발명을 하는 과정에서 선출원의 출원인 중 일부만 후출원의 출원인에 포함되거나 선출원의 출원인과 후출원의 출원인이 달라질 수 있고</a:t>
            </a:r>
            <a:r>
              <a:rPr lang="en-US" altLang="ko-KR" sz="1300" dirty="0">
                <a:highlight>
                  <a:srgbClr val="00FF00"/>
                </a:highlight>
              </a:rPr>
              <a:t>, </a:t>
            </a:r>
            <a:r>
              <a:rPr lang="ko-KR" altLang="en-US" sz="1300" dirty="0" err="1">
                <a:highlight>
                  <a:srgbClr val="00FF00"/>
                </a:highlight>
              </a:rPr>
              <a:t>후출원</a:t>
            </a:r>
            <a:r>
              <a:rPr lang="ko-KR" altLang="en-US" sz="1300" dirty="0">
                <a:highlight>
                  <a:srgbClr val="00FF00"/>
                </a:highlight>
              </a:rPr>
              <a:t> 시에 </a:t>
            </a:r>
            <a:r>
              <a:rPr lang="ko-KR" altLang="en-US" sz="1300" dirty="0" err="1">
                <a:highlight>
                  <a:srgbClr val="00FF00"/>
                </a:highlight>
              </a:rPr>
              <a:t>출원인명의변경</a:t>
            </a:r>
            <a:r>
              <a:rPr lang="ko-KR" altLang="en-US" sz="1300" dirty="0">
                <a:highlight>
                  <a:srgbClr val="00FF00"/>
                </a:highlight>
              </a:rPr>
              <a:t> 절차를 정당하게 마칠 수 없는 경우도 생기게 된다</a:t>
            </a:r>
            <a:r>
              <a:rPr lang="en-US" altLang="ko-KR" sz="1300" dirty="0">
                <a:highlight>
                  <a:srgbClr val="00FF00"/>
                </a:highlight>
              </a:rPr>
              <a:t>. </a:t>
            </a:r>
            <a:r>
              <a:rPr lang="ko-KR" altLang="en-US" sz="1300" dirty="0">
                <a:highlight>
                  <a:srgbClr val="00FF00"/>
                </a:highlight>
              </a:rPr>
              <a:t>이러한 경우에도 선출원의 출원인과 후출원의 출원인이 다르다는 이유로 우선권 주장의 효력을 부정하는 것은 우선권 주장 제도의 취지에 반하게 된다</a:t>
            </a:r>
            <a:r>
              <a:rPr lang="en-US" altLang="ko-KR" sz="1300" dirty="0">
                <a:highlight>
                  <a:srgbClr val="FFFF00"/>
                </a:highlight>
              </a:rPr>
              <a:t>.</a:t>
            </a:r>
          </a:p>
          <a:p>
            <a:pPr fontAlgn="base"/>
            <a:r>
              <a:rPr lang="en-US" altLang="ko-KR" sz="1300" dirty="0"/>
              <a:t>  ➁ </a:t>
            </a:r>
            <a:r>
              <a:rPr lang="ko-KR" altLang="en-US" sz="1300" dirty="0">
                <a:highlight>
                  <a:srgbClr val="C0C0C0"/>
                </a:highlight>
              </a:rPr>
              <a:t>특허법 제</a:t>
            </a:r>
            <a:r>
              <a:rPr lang="en-US" altLang="ko-KR" sz="1300" dirty="0">
                <a:highlight>
                  <a:srgbClr val="C0C0C0"/>
                </a:highlight>
              </a:rPr>
              <a:t>55</a:t>
            </a:r>
            <a:r>
              <a:rPr lang="ko-KR" altLang="en-US" sz="1300" dirty="0">
                <a:highlight>
                  <a:srgbClr val="C0C0C0"/>
                </a:highlight>
              </a:rPr>
              <a:t>조 제</a:t>
            </a:r>
            <a:r>
              <a:rPr lang="en-US" altLang="ko-KR" sz="1300" dirty="0">
                <a:highlight>
                  <a:srgbClr val="C0C0C0"/>
                </a:highlight>
              </a:rPr>
              <a:t>1</a:t>
            </a:r>
            <a:r>
              <a:rPr lang="ko-KR" altLang="en-US" sz="1300" dirty="0">
                <a:highlight>
                  <a:srgbClr val="C0C0C0"/>
                </a:highlight>
              </a:rPr>
              <a:t>항은 우선권 주장을 할 수 있는 자는 ‘특허를 받으려는 자’라고 규정하고 있을 뿐이다</a:t>
            </a:r>
            <a:r>
              <a:rPr lang="en-US" altLang="ko-KR" sz="1300" dirty="0">
                <a:highlight>
                  <a:srgbClr val="C0C0C0"/>
                </a:highlight>
              </a:rPr>
              <a:t>. </a:t>
            </a:r>
            <a:r>
              <a:rPr lang="ko-KR" altLang="en-US" sz="1300" dirty="0">
                <a:highlight>
                  <a:srgbClr val="C0C0C0"/>
                </a:highlight>
              </a:rPr>
              <a:t>이는 특허법이 분할출원</a:t>
            </a:r>
            <a:r>
              <a:rPr lang="en-US" altLang="ko-KR" sz="1300" dirty="0">
                <a:highlight>
                  <a:srgbClr val="C0C0C0"/>
                </a:highlight>
              </a:rPr>
              <a:t>(</a:t>
            </a:r>
            <a:r>
              <a:rPr lang="ko-KR" altLang="en-US" sz="1300" dirty="0">
                <a:highlight>
                  <a:srgbClr val="C0C0C0"/>
                </a:highlight>
              </a:rPr>
              <a:t>제</a:t>
            </a:r>
            <a:r>
              <a:rPr lang="en-US" altLang="ko-KR" sz="1300" dirty="0">
                <a:highlight>
                  <a:srgbClr val="C0C0C0"/>
                </a:highlight>
              </a:rPr>
              <a:t>52</a:t>
            </a:r>
            <a:r>
              <a:rPr lang="ko-KR" altLang="en-US" sz="1300" dirty="0">
                <a:highlight>
                  <a:srgbClr val="C0C0C0"/>
                </a:highlight>
              </a:rPr>
              <a:t>조</a:t>
            </a:r>
            <a:r>
              <a:rPr lang="en-US" altLang="ko-KR" sz="1300" dirty="0">
                <a:highlight>
                  <a:srgbClr val="C0C0C0"/>
                </a:highlight>
              </a:rPr>
              <a:t>)</a:t>
            </a:r>
            <a:r>
              <a:rPr lang="ko-KR" altLang="en-US" sz="1300" dirty="0">
                <a:highlight>
                  <a:srgbClr val="C0C0C0"/>
                </a:highlight>
              </a:rPr>
              <a:t>과 실용신안등록출원의 변경출원</a:t>
            </a:r>
            <a:r>
              <a:rPr lang="en-US" altLang="ko-KR" sz="1300" dirty="0">
                <a:highlight>
                  <a:srgbClr val="C0C0C0"/>
                </a:highlight>
              </a:rPr>
              <a:t>(</a:t>
            </a:r>
            <a:r>
              <a:rPr lang="ko-KR" altLang="en-US" sz="1300" dirty="0">
                <a:highlight>
                  <a:srgbClr val="C0C0C0"/>
                </a:highlight>
              </a:rPr>
              <a:t>제</a:t>
            </a:r>
            <a:r>
              <a:rPr lang="en-US" altLang="ko-KR" sz="1300" dirty="0">
                <a:highlight>
                  <a:srgbClr val="C0C0C0"/>
                </a:highlight>
              </a:rPr>
              <a:t>53</a:t>
            </a:r>
            <a:r>
              <a:rPr lang="ko-KR" altLang="en-US" sz="1300" dirty="0">
                <a:highlight>
                  <a:srgbClr val="C0C0C0"/>
                </a:highlight>
              </a:rPr>
              <a:t>조</a:t>
            </a:r>
            <a:r>
              <a:rPr lang="en-US" altLang="ko-KR" sz="1300" dirty="0">
                <a:highlight>
                  <a:srgbClr val="C0C0C0"/>
                </a:highlight>
              </a:rPr>
              <a:t>)</a:t>
            </a:r>
            <a:r>
              <a:rPr lang="ko-KR" altLang="en-US" sz="1300" dirty="0">
                <a:highlight>
                  <a:srgbClr val="C0C0C0"/>
                </a:highlight>
              </a:rPr>
              <a:t>을 할 수 있는 자는 ‘</a:t>
            </a:r>
            <a:r>
              <a:rPr lang="ko-KR" altLang="en-US" sz="1300" dirty="0" err="1">
                <a:highlight>
                  <a:srgbClr val="C0C0C0"/>
                </a:highlight>
              </a:rPr>
              <a:t>출원인’이라고</a:t>
            </a:r>
            <a:r>
              <a:rPr lang="ko-KR" altLang="en-US" sz="1300" dirty="0">
                <a:highlight>
                  <a:srgbClr val="C0C0C0"/>
                </a:highlight>
              </a:rPr>
              <a:t> 규정함으로써 </a:t>
            </a:r>
            <a:r>
              <a:rPr lang="ko-KR" altLang="en-US" sz="1300" dirty="0" err="1">
                <a:highlight>
                  <a:srgbClr val="C0C0C0"/>
                </a:highlight>
              </a:rPr>
              <a:t>분할출원인</a:t>
            </a:r>
            <a:r>
              <a:rPr lang="ko-KR" altLang="en-US" sz="1300" dirty="0">
                <a:highlight>
                  <a:srgbClr val="C0C0C0"/>
                </a:highlight>
              </a:rPr>
              <a:t> 또는 변경출원의 명의인이 일치할 것을 요구하는 것과 대비된다</a:t>
            </a:r>
            <a:r>
              <a:rPr lang="en-US" altLang="ko-KR" sz="1300" dirty="0">
                <a:highlight>
                  <a:srgbClr val="C0C0C0"/>
                </a:highlight>
              </a:rPr>
              <a:t>.</a:t>
            </a:r>
            <a:r>
              <a:rPr lang="en-US" altLang="ko-KR" sz="1300" dirty="0">
                <a:solidFill>
                  <a:srgbClr val="FF0000"/>
                </a:solidFill>
              </a:rPr>
              <a:t> </a:t>
            </a:r>
            <a:r>
              <a:rPr lang="ko-KR" altLang="en-US" sz="1300" dirty="0"/>
              <a:t>발명을 한 자의 승계인도 특허를 받을 수 있는 권리를 가지므로</a:t>
            </a:r>
            <a:r>
              <a:rPr lang="en-US" altLang="ko-KR" sz="1300" dirty="0"/>
              <a:t>(</a:t>
            </a:r>
            <a:r>
              <a:rPr lang="ko-KR" altLang="en-US" sz="1300" dirty="0"/>
              <a:t>특허법 제</a:t>
            </a:r>
            <a:r>
              <a:rPr lang="en-US" altLang="ko-KR" sz="1300" dirty="0"/>
              <a:t>33</a:t>
            </a:r>
            <a:r>
              <a:rPr lang="ko-KR" altLang="en-US" sz="1300" dirty="0"/>
              <a:t>조 제</a:t>
            </a:r>
            <a:r>
              <a:rPr lang="en-US" altLang="ko-KR" sz="1300" dirty="0"/>
              <a:t>1</a:t>
            </a:r>
            <a:r>
              <a:rPr lang="ko-KR" altLang="en-US" sz="1300" dirty="0"/>
              <a:t>항</a:t>
            </a:r>
            <a:r>
              <a:rPr lang="en-US" altLang="ko-KR" sz="1300" dirty="0"/>
              <a:t>), </a:t>
            </a:r>
            <a:r>
              <a:rPr lang="ko-KR" altLang="en-US" sz="1300" dirty="0"/>
              <a:t>특허를 받을 수 있는 권리를 양수한 자는 특허법 제</a:t>
            </a:r>
            <a:r>
              <a:rPr lang="en-US" altLang="ko-KR" sz="1300" dirty="0"/>
              <a:t>55</a:t>
            </a:r>
            <a:r>
              <a:rPr lang="ko-KR" altLang="en-US" sz="1300" dirty="0"/>
              <a:t>조 제</a:t>
            </a:r>
            <a:r>
              <a:rPr lang="en-US" altLang="ko-KR" sz="1300" dirty="0"/>
              <a:t>1</a:t>
            </a:r>
            <a:r>
              <a:rPr lang="ko-KR" altLang="en-US" sz="1300" dirty="0"/>
              <a:t>항의 ‘특허를 받으려는 자’ 및 ‘자신이 특허를 받을 수 있는 권리를 가진 자’에 해당한다고 봄이 문리해석에 부합한다</a:t>
            </a:r>
            <a:r>
              <a:rPr lang="en-US" altLang="ko-KR" sz="1300" dirty="0"/>
              <a:t>. </a:t>
            </a:r>
            <a:r>
              <a:rPr lang="ko-KR" altLang="en-US" sz="1300" dirty="0" err="1"/>
              <a:t>특허출원인변경신고를</a:t>
            </a:r>
            <a:r>
              <a:rPr lang="ko-KR" altLang="en-US" sz="1300" dirty="0"/>
              <a:t> 특허등록 전까지 하도록 규정한 특허법 시행규칙 제</a:t>
            </a:r>
            <a:r>
              <a:rPr lang="en-US" altLang="ko-KR" sz="1300" dirty="0"/>
              <a:t>26</a:t>
            </a:r>
            <a:r>
              <a:rPr lang="ko-KR" altLang="en-US" sz="1300" dirty="0"/>
              <a:t>조 제</a:t>
            </a:r>
            <a:r>
              <a:rPr lang="en-US" altLang="ko-KR" sz="1300" dirty="0"/>
              <a:t>1</a:t>
            </a:r>
            <a:r>
              <a:rPr lang="ko-KR" altLang="en-US" sz="1300" dirty="0"/>
              <a:t>항도 이러한 해석을 뒷받침한다</a:t>
            </a:r>
            <a:r>
              <a:rPr lang="en-US" altLang="ko-KR" sz="1300" dirty="0"/>
              <a:t>.</a:t>
            </a:r>
            <a:endParaRPr lang="ko-KR" altLang="en-US" sz="1300" dirty="0"/>
          </a:p>
        </p:txBody>
      </p:sp>
      <p:sp>
        <p:nvSpPr>
          <p:cNvPr id="52" name="사각형: 둥근 모서리 51">
            <a:extLst>
              <a:ext uri="{FF2B5EF4-FFF2-40B4-BE49-F238E27FC236}">
                <a16:creationId xmlns:a16="http://schemas.microsoft.com/office/drawing/2014/main" id="{35183F3B-F554-4BD0-97F3-9D013B236D87}"/>
              </a:ext>
            </a:extLst>
          </p:cNvPr>
          <p:cNvSpPr/>
          <p:nvPr/>
        </p:nvSpPr>
        <p:spPr>
          <a:xfrm>
            <a:off x="113937" y="964867"/>
            <a:ext cx="5712031" cy="346234"/>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r>
              <a:rPr lang="ko-KR" altLang="en-US" sz="1600" dirty="0"/>
              <a:t>대법원 </a:t>
            </a:r>
            <a:r>
              <a:rPr lang="en-US" altLang="ko-KR" sz="1600" dirty="0"/>
              <a:t>2019. 10. 17. </a:t>
            </a:r>
            <a:r>
              <a:rPr lang="ko-KR" altLang="en-US" sz="1600" dirty="0"/>
              <a:t>선고 </a:t>
            </a:r>
            <a:r>
              <a:rPr lang="en-US" altLang="ko-KR" sz="1600" dirty="0"/>
              <a:t>2017</a:t>
            </a:r>
            <a:r>
              <a:rPr lang="ko-KR" altLang="en-US" sz="1600" dirty="0"/>
              <a:t>후</a:t>
            </a:r>
            <a:r>
              <a:rPr lang="en-US" altLang="ko-KR" sz="1600" dirty="0"/>
              <a:t>1274 </a:t>
            </a:r>
            <a:r>
              <a:rPr lang="ko-KR" altLang="en-US" sz="1600" dirty="0"/>
              <a:t>판결 </a:t>
            </a:r>
            <a:r>
              <a:rPr lang="en-US" altLang="ko-KR" sz="1600" dirty="0"/>
              <a:t>【</a:t>
            </a:r>
            <a:r>
              <a:rPr lang="ko-KR" altLang="en-US" sz="1600" dirty="0"/>
              <a:t>등록무효</a:t>
            </a:r>
            <a:r>
              <a:rPr lang="en-US" altLang="ko-KR" sz="1600" dirty="0"/>
              <a:t>(</a:t>
            </a:r>
            <a:r>
              <a:rPr lang="ko-KR" altLang="en-US" sz="1600" dirty="0" err="1"/>
              <a:t>특</a:t>
            </a:r>
            <a:r>
              <a:rPr lang="en-US" altLang="ko-KR" sz="1600" dirty="0"/>
              <a:t>)】</a:t>
            </a:r>
          </a:p>
        </p:txBody>
      </p:sp>
      <p:sp>
        <p:nvSpPr>
          <p:cNvPr id="9" name="직사각형 8">
            <a:extLst>
              <a:ext uri="{FF2B5EF4-FFF2-40B4-BE49-F238E27FC236}">
                <a16:creationId xmlns:a16="http://schemas.microsoft.com/office/drawing/2014/main" id="{9E62408A-5851-475D-B6CF-A565D8071C0A}"/>
              </a:ext>
            </a:extLst>
          </p:cNvPr>
          <p:cNvSpPr/>
          <p:nvPr/>
        </p:nvSpPr>
        <p:spPr>
          <a:xfrm>
            <a:off x="950375" y="5268464"/>
            <a:ext cx="402176" cy="336255"/>
          </a:xfrm>
          <a:prstGeom prst="rect">
            <a:avLst/>
          </a:prstGeom>
          <a:solidFill>
            <a:schemeClr val="accent3">
              <a:lumMod val="20000"/>
              <a:lumOff val="8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을</a:t>
            </a:r>
          </a:p>
        </p:txBody>
      </p:sp>
      <p:cxnSp>
        <p:nvCxnSpPr>
          <p:cNvPr id="14" name="직선 연결선 13">
            <a:extLst>
              <a:ext uri="{FF2B5EF4-FFF2-40B4-BE49-F238E27FC236}">
                <a16:creationId xmlns:a16="http://schemas.microsoft.com/office/drawing/2014/main" id="{C3947EEA-614E-468A-80D5-7C65BC0B0420}"/>
              </a:ext>
            </a:extLst>
          </p:cNvPr>
          <p:cNvCxnSpPr>
            <a:cxnSpLocks/>
          </p:cNvCxnSpPr>
          <p:nvPr/>
        </p:nvCxnSpPr>
        <p:spPr>
          <a:xfrm flipV="1">
            <a:off x="357537" y="5926547"/>
            <a:ext cx="11327342" cy="21559"/>
          </a:xfrm>
          <a:prstGeom prst="line">
            <a:avLst/>
          </a:prstGeom>
          <a:ln w="762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408A09CD-686E-442C-8C32-399879BD01F4}"/>
              </a:ext>
            </a:extLst>
          </p:cNvPr>
          <p:cNvSpPr/>
          <p:nvPr/>
        </p:nvSpPr>
        <p:spPr>
          <a:xfrm>
            <a:off x="5744934" y="6039728"/>
            <a:ext cx="1111100" cy="202221"/>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기초 우선권주장</a:t>
            </a:r>
          </a:p>
        </p:txBody>
      </p:sp>
      <p:sp>
        <p:nvSpPr>
          <p:cNvPr id="17" name="직사각형 16">
            <a:extLst>
              <a:ext uri="{FF2B5EF4-FFF2-40B4-BE49-F238E27FC236}">
                <a16:creationId xmlns:a16="http://schemas.microsoft.com/office/drawing/2014/main" id="{C98C3D62-B586-49EB-8DC3-2ECE6E6B3CFB}"/>
              </a:ext>
            </a:extLst>
          </p:cNvPr>
          <p:cNvSpPr/>
          <p:nvPr/>
        </p:nvSpPr>
        <p:spPr>
          <a:xfrm>
            <a:off x="595912" y="5847228"/>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a:t>
            </a:r>
            <a:r>
              <a:rPr lang="ko-KR" altLang="en-US" sz="1000" dirty="0">
                <a:solidFill>
                  <a:schemeClr val="tx1"/>
                </a:solidFill>
              </a:rPr>
              <a:t>한국출원</a:t>
            </a:r>
            <a:r>
              <a:rPr lang="en-US" altLang="ko-KR" sz="1000" dirty="0">
                <a:solidFill>
                  <a:schemeClr val="tx1"/>
                </a:solidFill>
              </a:rPr>
              <a:t>(X)</a:t>
            </a:r>
            <a:endParaRPr lang="ko-KR" altLang="en-US" sz="1000" dirty="0">
              <a:solidFill>
                <a:schemeClr val="tx1"/>
              </a:solidFill>
            </a:endParaRPr>
          </a:p>
        </p:txBody>
      </p:sp>
      <p:sp>
        <p:nvSpPr>
          <p:cNvPr id="18" name="직사각형 17">
            <a:extLst>
              <a:ext uri="{FF2B5EF4-FFF2-40B4-BE49-F238E27FC236}">
                <a16:creationId xmlns:a16="http://schemas.microsoft.com/office/drawing/2014/main" id="{0CBC1802-2DC3-4F1F-A40D-3BA708E88170}"/>
              </a:ext>
            </a:extLst>
          </p:cNvPr>
          <p:cNvSpPr/>
          <p:nvPr/>
        </p:nvSpPr>
        <p:spPr>
          <a:xfrm>
            <a:off x="5744933" y="5847228"/>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 A, B PCT </a:t>
            </a:r>
            <a:r>
              <a:rPr lang="ko-KR" altLang="en-US" sz="1000" dirty="0">
                <a:solidFill>
                  <a:schemeClr val="tx1"/>
                </a:solidFill>
              </a:rPr>
              <a:t>출원</a:t>
            </a:r>
            <a:r>
              <a:rPr lang="en-US" altLang="ko-KR" sz="1000" dirty="0">
                <a:solidFill>
                  <a:schemeClr val="tx1"/>
                </a:solidFill>
              </a:rPr>
              <a:t>(Y)</a:t>
            </a:r>
            <a:endParaRPr lang="ko-KR" altLang="en-US" sz="1000" dirty="0">
              <a:solidFill>
                <a:schemeClr val="tx1"/>
              </a:solidFill>
            </a:endParaRPr>
          </a:p>
        </p:txBody>
      </p:sp>
      <p:cxnSp>
        <p:nvCxnSpPr>
          <p:cNvPr id="24" name="직선 연결선 23">
            <a:extLst>
              <a:ext uri="{FF2B5EF4-FFF2-40B4-BE49-F238E27FC236}">
                <a16:creationId xmlns:a16="http://schemas.microsoft.com/office/drawing/2014/main" id="{76FE1044-DF53-4D05-BA58-67F8875F0B37}"/>
              </a:ext>
            </a:extLst>
          </p:cNvPr>
          <p:cNvCxnSpPr>
            <a:cxnSpLocks/>
            <a:stCxn id="9" idx="2"/>
            <a:endCxn id="17" idx="0"/>
          </p:cNvCxnSpPr>
          <p:nvPr/>
        </p:nvCxnSpPr>
        <p:spPr>
          <a:xfrm flipH="1">
            <a:off x="1151462" y="5604719"/>
            <a:ext cx="1" cy="242509"/>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9AD30E88-52FE-4986-BD08-56DE89580FF0}"/>
              </a:ext>
            </a:extLst>
          </p:cNvPr>
          <p:cNvCxnSpPr/>
          <p:nvPr/>
        </p:nvCxnSpPr>
        <p:spPr>
          <a:xfrm>
            <a:off x="0" y="5031989"/>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CE3B296A-2CAC-450C-905B-E08721ED8526}"/>
              </a:ext>
            </a:extLst>
          </p:cNvPr>
          <p:cNvSpPr/>
          <p:nvPr/>
        </p:nvSpPr>
        <p:spPr>
          <a:xfrm>
            <a:off x="1616727" y="5268464"/>
            <a:ext cx="4002404" cy="336255"/>
          </a:xfrm>
          <a:prstGeom prst="rect">
            <a:avLst/>
          </a:prstGeom>
          <a:solidFill>
            <a:schemeClr val="accent3">
              <a:lumMod val="20000"/>
              <a:lumOff val="8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갑이 을로부터 특허를 받을 수 있는 권리 양수 </a:t>
            </a:r>
            <a:r>
              <a:rPr lang="en-US" altLang="ko-KR" sz="1100" dirty="0">
                <a:solidFill>
                  <a:schemeClr val="tx1"/>
                </a:solidFill>
              </a:rPr>
              <a:t>&amp; </a:t>
            </a:r>
            <a:r>
              <a:rPr lang="ko-KR" altLang="en-US" sz="1100" dirty="0" err="1">
                <a:solidFill>
                  <a:schemeClr val="tx1"/>
                </a:solidFill>
              </a:rPr>
              <a:t>출원인변경신고</a:t>
            </a:r>
            <a:r>
              <a:rPr lang="en-US" altLang="ko-KR" sz="1100" dirty="0">
                <a:solidFill>
                  <a:schemeClr val="tx1"/>
                </a:solidFill>
              </a:rPr>
              <a:t>(X)</a:t>
            </a:r>
            <a:endParaRPr lang="ko-KR" altLang="en-US" sz="1100" dirty="0">
              <a:solidFill>
                <a:schemeClr val="tx1"/>
              </a:solidFill>
            </a:endParaRPr>
          </a:p>
        </p:txBody>
      </p:sp>
      <p:cxnSp>
        <p:nvCxnSpPr>
          <p:cNvPr id="38" name="직선 연결선 37">
            <a:extLst>
              <a:ext uri="{FF2B5EF4-FFF2-40B4-BE49-F238E27FC236}">
                <a16:creationId xmlns:a16="http://schemas.microsoft.com/office/drawing/2014/main" id="{5121F32D-4E01-4ECF-AC81-57F16A6E68BC}"/>
              </a:ext>
            </a:extLst>
          </p:cNvPr>
          <p:cNvCxnSpPr>
            <a:cxnSpLocks/>
            <a:stCxn id="37" idx="2"/>
          </p:cNvCxnSpPr>
          <p:nvPr/>
        </p:nvCxnSpPr>
        <p:spPr>
          <a:xfrm>
            <a:off x="3617929" y="5604719"/>
            <a:ext cx="0" cy="242509"/>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직사각형 38">
            <a:extLst>
              <a:ext uri="{FF2B5EF4-FFF2-40B4-BE49-F238E27FC236}">
                <a16:creationId xmlns:a16="http://schemas.microsoft.com/office/drawing/2014/main" id="{1F86E9EA-7843-431C-B4AD-C965CE38DEAB}"/>
              </a:ext>
            </a:extLst>
          </p:cNvPr>
          <p:cNvSpPr/>
          <p:nvPr/>
        </p:nvSpPr>
        <p:spPr>
          <a:xfrm>
            <a:off x="1880697" y="6368069"/>
            <a:ext cx="3787611" cy="372910"/>
          </a:xfrm>
          <a:prstGeom prst="rect">
            <a:avLst/>
          </a:prstGeom>
          <a:solidFill>
            <a:schemeClr val="accent3">
              <a:lumMod val="20000"/>
              <a:lumOff val="8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병이 </a:t>
            </a:r>
            <a:r>
              <a:rPr lang="ko-KR" altLang="en-US" sz="1100" dirty="0" err="1">
                <a:solidFill>
                  <a:schemeClr val="tx1"/>
                </a:solidFill>
              </a:rPr>
              <a:t>갑로부터</a:t>
            </a:r>
            <a:r>
              <a:rPr lang="ko-KR" altLang="en-US" sz="1100" dirty="0">
                <a:solidFill>
                  <a:schemeClr val="tx1"/>
                </a:solidFill>
              </a:rPr>
              <a:t> 특허를 받을 수 있는 권리</a:t>
            </a:r>
            <a:r>
              <a:rPr lang="en-US" altLang="ko-KR" sz="1100" dirty="0">
                <a:solidFill>
                  <a:schemeClr val="tx1"/>
                </a:solidFill>
              </a:rPr>
              <a:t>(X)</a:t>
            </a:r>
            <a:r>
              <a:rPr lang="ko-KR" altLang="en-US" sz="1100" dirty="0">
                <a:solidFill>
                  <a:schemeClr val="tx1"/>
                </a:solidFill>
              </a:rPr>
              <a:t> 및 </a:t>
            </a:r>
            <a:r>
              <a:rPr lang="ko-KR" altLang="en-US" sz="1100" dirty="0" err="1">
                <a:solidFill>
                  <a:schemeClr val="tx1"/>
                </a:solidFill>
              </a:rPr>
              <a:t>우선권주장하여</a:t>
            </a:r>
            <a:r>
              <a:rPr lang="ko-KR" altLang="en-US" sz="1100" dirty="0">
                <a:solidFill>
                  <a:schemeClr val="tx1"/>
                </a:solidFill>
              </a:rPr>
              <a:t> </a:t>
            </a:r>
            <a:r>
              <a:rPr lang="en-US" altLang="ko-KR" sz="1100" dirty="0">
                <a:solidFill>
                  <a:schemeClr val="tx1"/>
                </a:solidFill>
              </a:rPr>
              <a:t>PCT </a:t>
            </a:r>
            <a:r>
              <a:rPr lang="ko-KR" altLang="en-US" sz="1100" dirty="0" err="1">
                <a:solidFill>
                  <a:schemeClr val="tx1"/>
                </a:solidFill>
              </a:rPr>
              <a:t>국제출원할</a:t>
            </a:r>
            <a:r>
              <a:rPr lang="ko-KR" altLang="en-US" sz="1100" dirty="0">
                <a:solidFill>
                  <a:schemeClr val="tx1"/>
                </a:solidFill>
              </a:rPr>
              <a:t> 수 있는 권리 </a:t>
            </a:r>
            <a:r>
              <a:rPr lang="ko-KR" altLang="en-US" sz="1100" dirty="0" err="1">
                <a:solidFill>
                  <a:schemeClr val="tx1"/>
                </a:solidFill>
              </a:rPr>
              <a:t>이전받기로</a:t>
            </a:r>
            <a:r>
              <a:rPr lang="ko-KR" altLang="en-US" sz="1100" dirty="0">
                <a:solidFill>
                  <a:schemeClr val="tx1"/>
                </a:solidFill>
              </a:rPr>
              <a:t> 계약 체결</a:t>
            </a:r>
          </a:p>
        </p:txBody>
      </p:sp>
      <p:cxnSp>
        <p:nvCxnSpPr>
          <p:cNvPr id="40" name="직선 연결선 39">
            <a:extLst>
              <a:ext uri="{FF2B5EF4-FFF2-40B4-BE49-F238E27FC236}">
                <a16:creationId xmlns:a16="http://schemas.microsoft.com/office/drawing/2014/main" id="{44CF13BD-5950-4EEC-A3A6-39FC20BDDC68}"/>
              </a:ext>
            </a:extLst>
          </p:cNvPr>
          <p:cNvCxnSpPr>
            <a:cxnSpLocks/>
            <a:stCxn id="39" idx="0"/>
          </p:cNvCxnSpPr>
          <p:nvPr/>
        </p:nvCxnSpPr>
        <p:spPr>
          <a:xfrm flipV="1">
            <a:off x="3774503" y="5948106"/>
            <a:ext cx="0" cy="419963"/>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직사각형 44">
            <a:extLst>
              <a:ext uri="{FF2B5EF4-FFF2-40B4-BE49-F238E27FC236}">
                <a16:creationId xmlns:a16="http://schemas.microsoft.com/office/drawing/2014/main" id="{D8BA66FE-811C-450C-952C-7A1C1E1FCE7B}"/>
              </a:ext>
            </a:extLst>
          </p:cNvPr>
          <p:cNvSpPr/>
          <p:nvPr/>
        </p:nvSpPr>
        <p:spPr>
          <a:xfrm>
            <a:off x="6118498" y="5268464"/>
            <a:ext cx="402176" cy="336255"/>
          </a:xfrm>
          <a:prstGeom prst="rect">
            <a:avLst/>
          </a:prstGeom>
          <a:solidFill>
            <a:schemeClr val="accent3">
              <a:lumMod val="20000"/>
              <a:lumOff val="8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병</a:t>
            </a:r>
          </a:p>
        </p:txBody>
      </p:sp>
      <p:cxnSp>
        <p:nvCxnSpPr>
          <p:cNvPr id="46" name="직선 연결선 45">
            <a:extLst>
              <a:ext uri="{FF2B5EF4-FFF2-40B4-BE49-F238E27FC236}">
                <a16:creationId xmlns:a16="http://schemas.microsoft.com/office/drawing/2014/main" id="{90C66264-E401-4832-BD30-236F4A81E69F}"/>
              </a:ext>
            </a:extLst>
          </p:cNvPr>
          <p:cNvCxnSpPr>
            <a:cxnSpLocks/>
            <a:stCxn id="45" idx="2"/>
          </p:cNvCxnSpPr>
          <p:nvPr/>
        </p:nvCxnSpPr>
        <p:spPr>
          <a:xfrm flipH="1">
            <a:off x="6319585" y="5604719"/>
            <a:ext cx="1" cy="242509"/>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직사각형 46">
            <a:extLst>
              <a:ext uri="{FF2B5EF4-FFF2-40B4-BE49-F238E27FC236}">
                <a16:creationId xmlns:a16="http://schemas.microsoft.com/office/drawing/2014/main" id="{E71693E6-B997-4E2B-9AD1-6F8A1A4880A3}"/>
              </a:ext>
            </a:extLst>
          </p:cNvPr>
          <p:cNvSpPr/>
          <p:nvPr/>
        </p:nvSpPr>
        <p:spPr>
          <a:xfrm>
            <a:off x="7144766" y="5847228"/>
            <a:ext cx="1406714"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 국내단계 진입</a:t>
            </a:r>
            <a:r>
              <a:rPr lang="en-US" altLang="ko-KR" sz="1000" dirty="0">
                <a:solidFill>
                  <a:schemeClr val="tx1"/>
                </a:solidFill>
              </a:rPr>
              <a:t>(Y)</a:t>
            </a:r>
            <a:endParaRPr lang="ko-KR" altLang="en-US" sz="1000" dirty="0">
              <a:solidFill>
                <a:schemeClr val="tx1"/>
              </a:solidFill>
            </a:endParaRPr>
          </a:p>
        </p:txBody>
      </p:sp>
      <p:sp>
        <p:nvSpPr>
          <p:cNvPr id="48" name="직사각형 47">
            <a:extLst>
              <a:ext uri="{FF2B5EF4-FFF2-40B4-BE49-F238E27FC236}">
                <a16:creationId xmlns:a16="http://schemas.microsoft.com/office/drawing/2014/main" id="{2806E609-D735-48C3-939E-E971A81ED577}"/>
              </a:ext>
            </a:extLst>
          </p:cNvPr>
          <p:cNvSpPr/>
          <p:nvPr/>
        </p:nvSpPr>
        <p:spPr>
          <a:xfrm>
            <a:off x="8687816" y="5847228"/>
            <a:ext cx="873314"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설정등록</a:t>
            </a:r>
            <a:r>
              <a:rPr lang="en-US" altLang="ko-KR" sz="1000" dirty="0">
                <a:solidFill>
                  <a:schemeClr val="tx1"/>
                </a:solidFill>
              </a:rPr>
              <a:t>(Y)</a:t>
            </a:r>
            <a:endParaRPr lang="ko-KR" altLang="en-US" sz="1000" dirty="0">
              <a:solidFill>
                <a:schemeClr val="tx1"/>
              </a:solidFill>
            </a:endParaRPr>
          </a:p>
        </p:txBody>
      </p:sp>
      <p:sp>
        <p:nvSpPr>
          <p:cNvPr id="49" name="직사각형 48">
            <a:extLst>
              <a:ext uri="{FF2B5EF4-FFF2-40B4-BE49-F238E27FC236}">
                <a16:creationId xmlns:a16="http://schemas.microsoft.com/office/drawing/2014/main" id="{2036CEA4-AD12-427C-9354-8EE6A0220933}"/>
              </a:ext>
            </a:extLst>
          </p:cNvPr>
          <p:cNvSpPr/>
          <p:nvPr/>
        </p:nvSpPr>
        <p:spPr>
          <a:xfrm>
            <a:off x="9783190" y="5847229"/>
            <a:ext cx="1187639" cy="20222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무효심판청구</a:t>
            </a:r>
            <a:r>
              <a:rPr lang="en-US" altLang="ko-KR" sz="1000" dirty="0">
                <a:solidFill>
                  <a:schemeClr val="tx1"/>
                </a:solidFill>
              </a:rPr>
              <a:t>(Y)</a:t>
            </a:r>
            <a:endParaRPr lang="ko-KR" altLang="en-US" sz="1000" dirty="0">
              <a:solidFill>
                <a:schemeClr val="tx1"/>
              </a:solidFill>
            </a:endParaRPr>
          </a:p>
        </p:txBody>
      </p:sp>
      <p:sp>
        <p:nvSpPr>
          <p:cNvPr id="51" name="직사각형 50">
            <a:extLst>
              <a:ext uri="{FF2B5EF4-FFF2-40B4-BE49-F238E27FC236}">
                <a16:creationId xmlns:a16="http://schemas.microsoft.com/office/drawing/2014/main" id="{2E35B4A3-DD4F-4092-A88B-A5142C2A8EB7}"/>
              </a:ext>
            </a:extLst>
          </p:cNvPr>
          <p:cNvSpPr/>
          <p:nvPr/>
        </p:nvSpPr>
        <p:spPr>
          <a:xfrm>
            <a:off x="10216883" y="5268464"/>
            <a:ext cx="402176" cy="336255"/>
          </a:xfrm>
          <a:prstGeom prst="rect">
            <a:avLst/>
          </a:prstGeom>
          <a:solidFill>
            <a:schemeClr val="accent3">
              <a:lumMod val="20000"/>
              <a:lumOff val="8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무</a:t>
            </a:r>
          </a:p>
        </p:txBody>
      </p:sp>
      <p:cxnSp>
        <p:nvCxnSpPr>
          <p:cNvPr id="53" name="직선 연결선 52">
            <a:extLst>
              <a:ext uri="{FF2B5EF4-FFF2-40B4-BE49-F238E27FC236}">
                <a16:creationId xmlns:a16="http://schemas.microsoft.com/office/drawing/2014/main" id="{617A6FF1-94F0-41A6-B3C5-133D5D95BAEA}"/>
              </a:ext>
            </a:extLst>
          </p:cNvPr>
          <p:cNvCxnSpPr>
            <a:cxnSpLocks/>
            <a:stCxn id="51" idx="2"/>
          </p:cNvCxnSpPr>
          <p:nvPr/>
        </p:nvCxnSpPr>
        <p:spPr>
          <a:xfrm flipH="1">
            <a:off x="10417970" y="5604719"/>
            <a:ext cx="1" cy="242509"/>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37380BC8-FD37-46ED-9F17-8D09970BC2D1}"/>
              </a:ext>
            </a:extLst>
          </p:cNvPr>
          <p:cNvSpPr/>
          <p:nvPr/>
        </p:nvSpPr>
        <p:spPr>
          <a:xfrm>
            <a:off x="4194180" y="5857738"/>
            <a:ext cx="1111100" cy="202221"/>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rgbClr val="FFFF00"/>
                </a:solidFill>
              </a:rPr>
              <a:t> A </a:t>
            </a:r>
            <a:r>
              <a:rPr lang="ko-KR" altLang="en-US" sz="1000" dirty="0">
                <a:solidFill>
                  <a:srgbClr val="FFFF00"/>
                </a:solidFill>
              </a:rPr>
              <a:t>공지</a:t>
            </a:r>
          </a:p>
        </p:txBody>
      </p:sp>
      <p:sp>
        <p:nvSpPr>
          <p:cNvPr id="27" name="직사각형 26">
            <a:extLst>
              <a:ext uri="{FF2B5EF4-FFF2-40B4-BE49-F238E27FC236}">
                <a16:creationId xmlns:a16="http://schemas.microsoft.com/office/drawing/2014/main" id="{2C1F5EEC-F3DB-4048-8233-D3993C46EA78}"/>
              </a:ext>
            </a:extLst>
          </p:cNvPr>
          <p:cNvSpPr/>
          <p:nvPr/>
        </p:nvSpPr>
        <p:spPr>
          <a:xfrm>
            <a:off x="6757496" y="6378579"/>
            <a:ext cx="3932833" cy="259306"/>
          </a:xfrm>
          <a:prstGeom prst="rect">
            <a:avLst/>
          </a:prstGeom>
          <a:solidFill>
            <a:schemeClr val="accent3">
              <a:lumMod val="20000"/>
              <a:lumOff val="8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정이 병로부터 특허를 받을 수 있는 권리 양수 </a:t>
            </a:r>
            <a:r>
              <a:rPr lang="en-US" altLang="ko-KR" sz="1100" dirty="0">
                <a:solidFill>
                  <a:schemeClr val="tx1"/>
                </a:solidFill>
              </a:rPr>
              <a:t>&amp; </a:t>
            </a:r>
            <a:r>
              <a:rPr lang="ko-KR" altLang="en-US" sz="1100" dirty="0" err="1">
                <a:solidFill>
                  <a:schemeClr val="tx1"/>
                </a:solidFill>
              </a:rPr>
              <a:t>출원인변경신고</a:t>
            </a:r>
            <a:r>
              <a:rPr lang="en-US" altLang="ko-KR" sz="1100" dirty="0">
                <a:solidFill>
                  <a:schemeClr val="tx1"/>
                </a:solidFill>
              </a:rPr>
              <a:t>(Y)</a:t>
            </a:r>
            <a:endParaRPr lang="ko-KR" altLang="en-US" sz="1100" dirty="0">
              <a:solidFill>
                <a:schemeClr val="tx1"/>
              </a:solidFill>
            </a:endParaRPr>
          </a:p>
        </p:txBody>
      </p:sp>
      <p:cxnSp>
        <p:nvCxnSpPr>
          <p:cNvPr id="28" name="직선 연결선 27">
            <a:extLst>
              <a:ext uri="{FF2B5EF4-FFF2-40B4-BE49-F238E27FC236}">
                <a16:creationId xmlns:a16="http://schemas.microsoft.com/office/drawing/2014/main" id="{67E997A8-F4C2-4300-8DB5-FE8C597D44D8}"/>
              </a:ext>
            </a:extLst>
          </p:cNvPr>
          <p:cNvCxnSpPr>
            <a:cxnSpLocks/>
          </p:cNvCxnSpPr>
          <p:nvPr/>
        </p:nvCxnSpPr>
        <p:spPr>
          <a:xfrm flipH="1" flipV="1">
            <a:off x="6999231" y="5944326"/>
            <a:ext cx="9201" cy="417233"/>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3949230"/>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양쪽 모서리가 둥근 사각형 177">
            <a:extLst>
              <a:ext uri="{FF2B5EF4-FFF2-40B4-BE49-F238E27FC236}">
                <a16:creationId xmlns:a16="http://schemas.microsoft.com/office/drawing/2014/main" id="{071B5B67-90E7-FC76-CAB2-13BC7E680D45}"/>
              </a:ext>
            </a:extLst>
          </p:cNvPr>
          <p:cNvSpPr/>
          <p:nvPr/>
        </p:nvSpPr>
        <p:spPr>
          <a:xfrm rot="10800000">
            <a:off x="983522" y="2358514"/>
            <a:ext cx="5380625" cy="647018"/>
          </a:xfrm>
          <a:prstGeom prst="round2SameRect">
            <a:avLst>
              <a:gd name="adj1" fmla="val 50000"/>
              <a:gd name="adj2" fmla="val 0"/>
            </a:avLst>
          </a:prstGeom>
          <a:pattFill prst="dotGrid">
            <a:fgClr>
              <a:schemeClr val="accent2">
                <a:lumMod val="50000"/>
              </a:schemeClr>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4" name="제목 3"/>
          <p:cNvSpPr>
            <a:spLocks noGrp="1"/>
          </p:cNvSpPr>
          <p:nvPr>
            <p:ph type="title"/>
          </p:nvPr>
        </p:nvSpPr>
        <p:spPr/>
        <p:txBody>
          <a:bodyPr/>
          <a:lstStyle/>
          <a:p>
            <a:r>
              <a:rPr lang="ko-KR" altLang="en-US" dirty="0"/>
              <a:t>제</a:t>
            </a:r>
            <a:r>
              <a:rPr lang="en-US" altLang="ko-KR" dirty="0"/>
              <a:t>55</a:t>
            </a:r>
            <a:r>
              <a:rPr lang="ko-KR" altLang="en-US" dirty="0"/>
              <a:t>조</a:t>
            </a:r>
          </a:p>
        </p:txBody>
      </p:sp>
      <p:sp>
        <p:nvSpPr>
          <p:cNvPr id="5" name="텍스트 개체 틀 4"/>
          <p:cNvSpPr>
            <a:spLocks noGrp="1"/>
          </p:cNvSpPr>
          <p:nvPr>
            <p:ph type="body" sz="quarter" idx="13"/>
          </p:nvPr>
        </p:nvSpPr>
        <p:spPr/>
        <p:txBody>
          <a:bodyPr>
            <a:normAutofit/>
          </a:bodyPr>
          <a:lstStyle/>
          <a:p>
            <a:r>
              <a:rPr lang="ko-KR" altLang="en-US" sz="2300" dirty="0"/>
              <a:t>공지예외적용주장을 수반하는 </a:t>
            </a:r>
            <a:r>
              <a:rPr lang="ko-KR" altLang="en-US" sz="2300" dirty="0" err="1"/>
              <a:t>국내우선권주장출원</a:t>
            </a:r>
            <a:r>
              <a:rPr lang="en-US" altLang="ko-KR" sz="2300" dirty="0"/>
              <a:t>(</a:t>
            </a:r>
            <a:r>
              <a:rPr lang="ko-KR" altLang="en-US" sz="2300" dirty="0"/>
              <a:t>제</a:t>
            </a:r>
            <a:r>
              <a:rPr lang="en-US" altLang="ko-KR" sz="2300" dirty="0"/>
              <a:t>55</a:t>
            </a:r>
            <a:r>
              <a:rPr lang="ko-KR" altLang="en-US" sz="2300" dirty="0"/>
              <a:t>조제</a:t>
            </a:r>
            <a:r>
              <a:rPr lang="en-US" altLang="ko-KR" sz="2300" dirty="0"/>
              <a:t>3</a:t>
            </a:r>
            <a:r>
              <a:rPr lang="ko-KR" altLang="en-US" sz="2300" dirty="0"/>
              <a:t>항</a:t>
            </a:r>
            <a:r>
              <a:rPr lang="en-US" altLang="ko-KR" sz="2300" dirty="0"/>
              <a:t>)</a:t>
            </a:r>
            <a:endParaRPr lang="ko-KR" altLang="en-US" sz="2300" dirty="0"/>
          </a:p>
        </p:txBody>
      </p:sp>
      <p:sp>
        <p:nvSpPr>
          <p:cNvPr id="133" name="직사각형 132"/>
          <p:cNvSpPr/>
          <p:nvPr/>
        </p:nvSpPr>
        <p:spPr>
          <a:xfrm>
            <a:off x="8377402"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심</a:t>
            </a:r>
          </a:p>
        </p:txBody>
      </p:sp>
      <p:sp>
        <p:nvSpPr>
          <p:cNvPr id="134" name="직사각형 133"/>
          <p:cNvSpPr/>
          <p:nvPr/>
        </p:nvSpPr>
        <p:spPr>
          <a:xfrm>
            <a:off x="9004155" y="6181761"/>
            <a:ext cx="514350" cy="514350"/>
          </a:xfrm>
          <a:prstGeom prst="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공</a:t>
            </a:r>
          </a:p>
        </p:txBody>
      </p:sp>
      <p:sp>
        <p:nvSpPr>
          <p:cNvPr id="135" name="직사각형 134"/>
          <p:cNvSpPr/>
          <p:nvPr/>
        </p:nvSpPr>
        <p:spPr>
          <a:xfrm>
            <a:off x="9630908"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존</a:t>
            </a:r>
          </a:p>
        </p:txBody>
      </p:sp>
      <p:sp>
        <p:nvSpPr>
          <p:cNvPr id="136" name="직사각형 135"/>
          <p:cNvSpPr/>
          <p:nvPr/>
        </p:nvSpPr>
        <p:spPr>
          <a:xfrm>
            <a:off x="10246712"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재</a:t>
            </a:r>
          </a:p>
        </p:txBody>
      </p:sp>
      <p:sp>
        <p:nvSpPr>
          <p:cNvPr id="137" name="직사각형 136"/>
          <p:cNvSpPr/>
          <p:nvPr/>
        </p:nvSpPr>
        <p:spPr>
          <a:xfrm>
            <a:off x="10837262"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등</a:t>
            </a:r>
          </a:p>
        </p:txBody>
      </p:sp>
      <p:sp>
        <p:nvSpPr>
          <p:cNvPr id="175" name="양쪽 모서리가 둥근 사각형 174"/>
          <p:cNvSpPr/>
          <p:nvPr/>
        </p:nvSpPr>
        <p:spPr>
          <a:xfrm rot="10800000">
            <a:off x="3034426" y="2379417"/>
            <a:ext cx="3329722" cy="309775"/>
          </a:xfrm>
          <a:prstGeom prst="round2SameRect">
            <a:avLst>
              <a:gd name="adj1" fmla="val 50000"/>
              <a:gd name="adj2" fmla="val 0"/>
            </a:avLst>
          </a:prstGeom>
          <a:pattFill prst="dkHorz">
            <a:fgClr>
              <a:schemeClr val="accent4"/>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91" name="양쪽 모서리가 둥근 사각형 190"/>
          <p:cNvSpPr/>
          <p:nvPr/>
        </p:nvSpPr>
        <p:spPr>
          <a:xfrm>
            <a:off x="2959100" y="1311994"/>
            <a:ext cx="6973730" cy="1063167"/>
          </a:xfrm>
          <a:prstGeom prst="round2SameRect">
            <a:avLst>
              <a:gd name="adj1" fmla="val 50000"/>
              <a:gd name="adj2" fmla="val 0"/>
            </a:avLst>
          </a:prstGeom>
          <a:pattFill prst="dkVert">
            <a:fgClr>
              <a:schemeClr val="accent3">
                <a:lumMod val="20000"/>
                <a:lumOff val="8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92" name="TextBox 191"/>
          <p:cNvSpPr txBox="1"/>
          <p:nvPr/>
        </p:nvSpPr>
        <p:spPr>
          <a:xfrm>
            <a:off x="6033752" y="1019180"/>
            <a:ext cx="760144" cy="261610"/>
          </a:xfrm>
          <a:prstGeom prst="rect">
            <a:avLst/>
          </a:prstGeom>
          <a:noFill/>
        </p:spPr>
        <p:txBody>
          <a:bodyPr wrap="none" rtlCol="0">
            <a:spAutoFit/>
          </a:bodyPr>
          <a:lstStyle/>
          <a:p>
            <a:r>
              <a:rPr lang="en-US" altLang="ko-KR" sz="1100" dirty="0"/>
              <a:t>1</a:t>
            </a:r>
            <a:r>
              <a:rPr lang="ko-KR" altLang="en-US" sz="1100" dirty="0"/>
              <a:t>년 </a:t>
            </a:r>
            <a:r>
              <a:rPr lang="en-US" altLang="ko-KR" sz="1100" dirty="0"/>
              <a:t>3</a:t>
            </a:r>
            <a:r>
              <a:rPr lang="ko-KR" altLang="en-US" sz="1100" dirty="0"/>
              <a:t>개월</a:t>
            </a:r>
          </a:p>
        </p:txBody>
      </p:sp>
      <p:sp>
        <p:nvSpPr>
          <p:cNvPr id="193" name="양쪽 모서리가 둥근 사각형 192"/>
          <p:cNvSpPr/>
          <p:nvPr/>
        </p:nvSpPr>
        <p:spPr>
          <a:xfrm rot="10800000">
            <a:off x="6421313" y="2379418"/>
            <a:ext cx="1809881" cy="304032"/>
          </a:xfrm>
          <a:prstGeom prst="round2SameRect">
            <a:avLst>
              <a:gd name="adj1" fmla="val 50000"/>
              <a:gd name="adj2" fmla="val 0"/>
            </a:avLst>
          </a:prstGeom>
          <a:pattFill prst="wdDnDiag">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194" name="양쪽 모서리가 둥근 사각형 193"/>
          <p:cNvSpPr/>
          <p:nvPr/>
        </p:nvSpPr>
        <p:spPr>
          <a:xfrm rot="10800000">
            <a:off x="1024295" y="2379418"/>
            <a:ext cx="1849079" cy="304032"/>
          </a:xfrm>
          <a:prstGeom prst="round2SameRect">
            <a:avLst>
              <a:gd name="adj1" fmla="val 50000"/>
              <a:gd name="adj2" fmla="val 0"/>
            </a:avLst>
          </a:prstGeom>
          <a:pattFill prst="dotGrid">
            <a:fgClr>
              <a:schemeClr val="accent2">
                <a:lumMod val="50000"/>
              </a:schemeClr>
            </a:fgClr>
            <a:bgClr>
              <a:schemeClr val="bg1"/>
            </a:bgClr>
          </a:patt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cxnSp>
        <p:nvCxnSpPr>
          <p:cNvPr id="195" name="직선 화살표 연결선 194"/>
          <p:cNvCxnSpPr>
            <a:cxnSpLocks/>
          </p:cNvCxnSpPr>
          <p:nvPr/>
        </p:nvCxnSpPr>
        <p:spPr>
          <a:xfrm>
            <a:off x="189266" y="2370903"/>
            <a:ext cx="11752896"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96" name="Rectangle 14"/>
          <p:cNvSpPr>
            <a:spLocks noChangeArrowheads="1"/>
          </p:cNvSpPr>
          <p:nvPr/>
        </p:nvSpPr>
        <p:spPr bwMode="auto">
          <a:xfrm>
            <a:off x="410277" y="2227830"/>
            <a:ext cx="1228042" cy="268566"/>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a:latin typeface="+mn-ea"/>
              </a:rPr>
              <a:t>논문발표</a:t>
            </a:r>
          </a:p>
        </p:txBody>
      </p:sp>
      <p:sp>
        <p:nvSpPr>
          <p:cNvPr id="197" name="Rectangle 14"/>
          <p:cNvSpPr>
            <a:spLocks noChangeArrowheads="1"/>
          </p:cNvSpPr>
          <p:nvPr/>
        </p:nvSpPr>
        <p:spPr bwMode="auto">
          <a:xfrm>
            <a:off x="2259170" y="2234956"/>
            <a:ext cx="1418541" cy="268566"/>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err="1">
                <a:latin typeface="+mn-ea"/>
              </a:rPr>
              <a:t>한국</a:t>
            </a:r>
            <a:r>
              <a:rPr lang="ko-KR" altLang="en-US" sz="1200" b="0" dirty="0" err="1">
                <a:latin typeface="+mn-ea"/>
              </a:rPr>
              <a:t>출원</a:t>
            </a:r>
            <a:r>
              <a:rPr lang="en-US" altLang="ko-KR" sz="1200" b="0" dirty="0">
                <a:latin typeface="+mn-ea"/>
              </a:rPr>
              <a:t>(X)</a:t>
            </a:r>
            <a:endParaRPr lang="ko-KR" altLang="en-US" sz="1200" b="0" dirty="0">
              <a:latin typeface="+mn-ea"/>
            </a:endParaRPr>
          </a:p>
        </p:txBody>
      </p:sp>
      <p:sp>
        <p:nvSpPr>
          <p:cNvPr id="198" name="Rectangle 14"/>
          <p:cNvSpPr>
            <a:spLocks noChangeArrowheads="1"/>
          </p:cNvSpPr>
          <p:nvPr/>
        </p:nvSpPr>
        <p:spPr bwMode="auto">
          <a:xfrm>
            <a:off x="5614012" y="2234955"/>
            <a:ext cx="1701896" cy="292229"/>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err="1">
                <a:latin typeface="+mn-ea"/>
              </a:rPr>
              <a:t>한국</a:t>
            </a:r>
            <a:r>
              <a:rPr lang="ko-KR" altLang="en-US" sz="1200" b="0" dirty="0" err="1">
                <a:latin typeface="+mn-ea"/>
              </a:rPr>
              <a:t>출원</a:t>
            </a:r>
            <a:r>
              <a:rPr lang="en-US" altLang="ko-KR" sz="1200" b="0" dirty="0">
                <a:latin typeface="+mn-ea"/>
              </a:rPr>
              <a:t>(Y)</a:t>
            </a:r>
            <a:endParaRPr lang="ko-KR" altLang="en-US" sz="1200" b="0" dirty="0">
              <a:latin typeface="+mn-ea"/>
            </a:endParaRPr>
          </a:p>
        </p:txBody>
      </p:sp>
      <p:sp>
        <p:nvSpPr>
          <p:cNvPr id="199" name="Rectangle 14"/>
          <p:cNvSpPr>
            <a:spLocks noChangeArrowheads="1"/>
          </p:cNvSpPr>
          <p:nvPr/>
        </p:nvSpPr>
        <p:spPr bwMode="auto">
          <a:xfrm>
            <a:off x="5614012" y="1429761"/>
            <a:ext cx="1701896" cy="292229"/>
          </a:xfrm>
          <a:prstGeom prst="rect">
            <a:avLst/>
          </a:prstGeom>
          <a:solidFill>
            <a:schemeClr val="bg1">
              <a:lumMod val="75000"/>
            </a:schemeClr>
          </a:solidFill>
          <a:ln w="9525" algn="ctr">
            <a:solidFill>
              <a:schemeClr val="bg1">
                <a:lumMod val="50000"/>
              </a:schemeClr>
            </a:solidFill>
            <a:miter lim="800000"/>
            <a:headEnd/>
            <a:tailEnd/>
          </a:ln>
        </p:spPr>
        <p:txBody>
          <a:bodyPr wrap="none" anchor="ctr"/>
          <a:lstStyle/>
          <a:p>
            <a:pPr algn="ctr"/>
            <a:r>
              <a:rPr lang="en-US" altLang="ko-KR" sz="1200" b="0" dirty="0">
                <a:latin typeface="+mn-ea"/>
              </a:rPr>
              <a:t>X</a:t>
            </a:r>
            <a:r>
              <a:rPr lang="ko-KR" altLang="en-US" sz="1200" b="0" dirty="0">
                <a:latin typeface="+mn-ea"/>
              </a:rPr>
              <a:t>기초 </a:t>
            </a:r>
            <a:r>
              <a:rPr lang="ko-KR" altLang="en-US" sz="1200" b="0" dirty="0" err="1">
                <a:latin typeface="+mn-ea"/>
              </a:rPr>
              <a:t>우선권주장</a:t>
            </a:r>
            <a:endParaRPr lang="ko-KR" altLang="en-US" sz="1200" b="0" dirty="0">
              <a:latin typeface="+mn-ea"/>
            </a:endParaRPr>
          </a:p>
        </p:txBody>
      </p:sp>
      <p:sp>
        <p:nvSpPr>
          <p:cNvPr id="200" name="Rectangle 14"/>
          <p:cNvSpPr>
            <a:spLocks noChangeArrowheads="1"/>
          </p:cNvSpPr>
          <p:nvPr/>
        </p:nvSpPr>
        <p:spPr bwMode="auto">
          <a:xfrm>
            <a:off x="9292759" y="2236232"/>
            <a:ext cx="1228042" cy="268566"/>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err="1">
                <a:latin typeface="+mn-ea"/>
              </a:rPr>
              <a:t>취하간주</a:t>
            </a:r>
            <a:r>
              <a:rPr lang="en-US" altLang="ko-KR" sz="1200" dirty="0">
                <a:latin typeface="+mn-ea"/>
              </a:rPr>
              <a:t>(X)</a:t>
            </a:r>
            <a:endParaRPr lang="ko-KR" altLang="en-US" sz="1200" b="0" dirty="0">
              <a:latin typeface="+mn-ea"/>
            </a:endParaRPr>
          </a:p>
        </p:txBody>
      </p:sp>
      <p:sp>
        <p:nvSpPr>
          <p:cNvPr id="201" name="TextBox 200"/>
          <p:cNvSpPr txBox="1"/>
          <p:nvPr/>
        </p:nvSpPr>
        <p:spPr>
          <a:xfrm>
            <a:off x="1499541" y="2691013"/>
            <a:ext cx="886781" cy="261610"/>
          </a:xfrm>
          <a:prstGeom prst="rect">
            <a:avLst/>
          </a:prstGeom>
          <a:noFill/>
        </p:spPr>
        <p:txBody>
          <a:bodyPr wrap="none" rtlCol="0">
            <a:spAutoFit/>
          </a:bodyPr>
          <a:lstStyle/>
          <a:p>
            <a:r>
              <a:rPr lang="en-US" altLang="ko-KR" sz="1100" dirty="0">
                <a:solidFill>
                  <a:srgbClr val="FF0000"/>
                </a:solidFill>
              </a:rPr>
              <a:t>12</a:t>
            </a:r>
            <a:r>
              <a:rPr lang="ko-KR" altLang="en-US" sz="1100" dirty="0">
                <a:solidFill>
                  <a:srgbClr val="FF0000"/>
                </a:solidFill>
              </a:rPr>
              <a:t>개월 이내</a:t>
            </a:r>
          </a:p>
        </p:txBody>
      </p:sp>
      <p:sp>
        <p:nvSpPr>
          <p:cNvPr id="202" name="TextBox 201"/>
          <p:cNvSpPr txBox="1"/>
          <p:nvPr/>
        </p:nvSpPr>
        <p:spPr>
          <a:xfrm>
            <a:off x="6858161" y="2689193"/>
            <a:ext cx="760144" cy="261610"/>
          </a:xfrm>
          <a:prstGeom prst="rect">
            <a:avLst/>
          </a:prstGeom>
          <a:noFill/>
        </p:spPr>
        <p:txBody>
          <a:bodyPr wrap="none" rtlCol="0">
            <a:spAutoFit/>
          </a:bodyPr>
          <a:lstStyle/>
          <a:p>
            <a:r>
              <a:rPr lang="en-US" altLang="ko-KR" sz="1100" dirty="0"/>
              <a:t>30</a:t>
            </a:r>
            <a:r>
              <a:rPr lang="ko-KR" altLang="en-US" sz="1100" dirty="0"/>
              <a:t>일 이내</a:t>
            </a:r>
          </a:p>
        </p:txBody>
      </p:sp>
      <p:sp>
        <p:nvSpPr>
          <p:cNvPr id="203" name="Rectangle 14"/>
          <p:cNvSpPr>
            <a:spLocks noChangeArrowheads="1"/>
          </p:cNvSpPr>
          <p:nvPr/>
        </p:nvSpPr>
        <p:spPr bwMode="auto">
          <a:xfrm>
            <a:off x="5614012" y="1969718"/>
            <a:ext cx="1701896" cy="292229"/>
          </a:xfrm>
          <a:prstGeom prst="rect">
            <a:avLst/>
          </a:prstGeom>
          <a:solidFill>
            <a:schemeClr val="accent6">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err="1">
                <a:latin typeface="+mn-ea"/>
              </a:rPr>
              <a:t>공지예외적용주장</a:t>
            </a:r>
            <a:r>
              <a:rPr lang="en-US" altLang="ko-KR" sz="1200" dirty="0">
                <a:latin typeface="+mn-ea"/>
              </a:rPr>
              <a:t>(</a:t>
            </a:r>
            <a:r>
              <a:rPr lang="ko-KR" altLang="en-US" sz="1200" dirty="0">
                <a:latin typeface="+mn-ea"/>
              </a:rPr>
              <a:t>박람회</a:t>
            </a:r>
            <a:r>
              <a:rPr lang="en-US" altLang="ko-KR" sz="1200" dirty="0">
                <a:latin typeface="+mn-ea"/>
              </a:rPr>
              <a:t>)</a:t>
            </a:r>
            <a:endParaRPr lang="ko-KR" altLang="en-US" sz="1200" b="0" dirty="0">
              <a:latin typeface="+mn-ea"/>
            </a:endParaRPr>
          </a:p>
        </p:txBody>
      </p:sp>
      <p:sp>
        <p:nvSpPr>
          <p:cNvPr id="204" name="Rectangle 14"/>
          <p:cNvSpPr>
            <a:spLocks noChangeArrowheads="1"/>
          </p:cNvSpPr>
          <p:nvPr/>
        </p:nvSpPr>
        <p:spPr bwMode="auto">
          <a:xfrm>
            <a:off x="7595063" y="2233362"/>
            <a:ext cx="1418541" cy="268566"/>
          </a:xfrm>
          <a:prstGeom prst="rect">
            <a:avLst/>
          </a:prstGeom>
          <a:solidFill>
            <a:schemeClr val="accent6">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증명서류</a:t>
            </a:r>
            <a:r>
              <a:rPr lang="en-US" altLang="ko-KR" sz="1200" dirty="0">
                <a:latin typeface="+mn-ea"/>
              </a:rPr>
              <a:t>(</a:t>
            </a:r>
            <a:r>
              <a:rPr lang="ko-KR" altLang="en-US" sz="1200" dirty="0">
                <a:latin typeface="+mn-ea"/>
              </a:rPr>
              <a:t>박람회</a:t>
            </a:r>
            <a:r>
              <a:rPr lang="en-US" altLang="ko-KR" sz="1200" dirty="0">
                <a:latin typeface="+mn-ea"/>
              </a:rPr>
              <a:t>)</a:t>
            </a:r>
            <a:endParaRPr lang="ko-KR" altLang="en-US" sz="1200" b="0" dirty="0">
              <a:latin typeface="+mn-ea"/>
            </a:endParaRPr>
          </a:p>
        </p:txBody>
      </p:sp>
      <p:sp>
        <p:nvSpPr>
          <p:cNvPr id="205" name="TextBox 204"/>
          <p:cNvSpPr txBox="1"/>
          <p:nvPr/>
        </p:nvSpPr>
        <p:spPr>
          <a:xfrm>
            <a:off x="3677711" y="2691013"/>
            <a:ext cx="886781" cy="261610"/>
          </a:xfrm>
          <a:prstGeom prst="rect">
            <a:avLst/>
          </a:prstGeom>
          <a:noFill/>
        </p:spPr>
        <p:txBody>
          <a:bodyPr wrap="none" rtlCol="0">
            <a:spAutoFit/>
          </a:bodyPr>
          <a:lstStyle/>
          <a:p>
            <a:r>
              <a:rPr lang="en-US" altLang="ko-KR" sz="1100" dirty="0"/>
              <a:t>12</a:t>
            </a:r>
            <a:r>
              <a:rPr lang="ko-KR" altLang="en-US" sz="1100" dirty="0"/>
              <a:t>개월 이내</a:t>
            </a:r>
          </a:p>
        </p:txBody>
      </p:sp>
      <p:sp>
        <p:nvSpPr>
          <p:cNvPr id="208" name="직사각형 207"/>
          <p:cNvSpPr/>
          <p:nvPr/>
        </p:nvSpPr>
        <p:spPr>
          <a:xfrm>
            <a:off x="1229233" y="2521770"/>
            <a:ext cx="409086" cy="481222"/>
          </a:xfrm>
          <a:prstGeom prst="rect">
            <a:avLst/>
          </a:prstGeom>
        </p:spPr>
        <p:txBody>
          <a:bodyPr wrap="none">
            <a:spAutoFit/>
          </a:bodyPr>
          <a:lstStyle/>
          <a:p>
            <a:pPr algn="just" fontAlgn="base">
              <a:lnSpc>
                <a:spcPct val="160000"/>
              </a:lnSpc>
            </a:pPr>
            <a:r>
              <a:rPr lang="ko-KR" altLang="en-US" kern="0" dirty="0">
                <a:solidFill>
                  <a:srgbClr val="FF0000"/>
                </a:solidFill>
                <a:ea typeface="함초롬바탕" panose="02030504000101010101" pitchFamily="18" charset="-127"/>
              </a:rPr>
              <a:t>❶</a:t>
            </a:r>
            <a:endParaRPr lang="ko-KR" altLang="en-US" kern="0" dirty="0">
              <a:solidFill>
                <a:srgbClr val="FF0000"/>
              </a:solidFill>
            </a:endParaRPr>
          </a:p>
        </p:txBody>
      </p:sp>
      <p:sp>
        <p:nvSpPr>
          <p:cNvPr id="210" name="직사각형 209"/>
          <p:cNvSpPr/>
          <p:nvPr/>
        </p:nvSpPr>
        <p:spPr>
          <a:xfrm>
            <a:off x="5329711" y="1837396"/>
            <a:ext cx="490801" cy="481222"/>
          </a:xfrm>
          <a:prstGeom prst="rect">
            <a:avLst/>
          </a:prstGeom>
        </p:spPr>
        <p:txBody>
          <a:bodyPr wrap="square">
            <a:spAutoFit/>
          </a:bodyPr>
          <a:lstStyle/>
          <a:p>
            <a:pPr algn="just" fontAlgn="base">
              <a:lnSpc>
                <a:spcPct val="160000"/>
              </a:lnSpc>
            </a:pPr>
            <a:r>
              <a:rPr lang="ko-KR" altLang="en-US" kern="0" dirty="0">
                <a:solidFill>
                  <a:srgbClr val="FF0000"/>
                </a:solidFill>
                <a:ea typeface="함초롬바탕" panose="02030504000101010101" pitchFamily="18" charset="-127"/>
              </a:rPr>
              <a:t>❷</a:t>
            </a:r>
            <a:endParaRPr lang="ko-KR" altLang="en-US" kern="0" dirty="0">
              <a:solidFill>
                <a:srgbClr val="FF0000"/>
              </a:solidFill>
            </a:endParaRPr>
          </a:p>
        </p:txBody>
      </p:sp>
      <p:sp>
        <p:nvSpPr>
          <p:cNvPr id="211" name="직사각형 210"/>
          <p:cNvSpPr/>
          <p:nvPr/>
        </p:nvSpPr>
        <p:spPr>
          <a:xfrm>
            <a:off x="6589353" y="2549555"/>
            <a:ext cx="409086" cy="481222"/>
          </a:xfrm>
          <a:prstGeom prst="rect">
            <a:avLst/>
          </a:prstGeom>
        </p:spPr>
        <p:txBody>
          <a:bodyPr wrap="none">
            <a:spAutoFit/>
          </a:bodyPr>
          <a:lstStyle/>
          <a:p>
            <a:pPr algn="just" fontAlgn="base">
              <a:lnSpc>
                <a:spcPct val="160000"/>
              </a:lnSpc>
            </a:pPr>
            <a:r>
              <a:rPr lang="ko-KR" altLang="en-US" kern="0" dirty="0">
                <a:solidFill>
                  <a:srgbClr val="FF0000"/>
                </a:solidFill>
                <a:ea typeface="함초롬바탕" panose="02030504000101010101" pitchFamily="18" charset="-127"/>
              </a:rPr>
              <a:t>❸</a:t>
            </a:r>
            <a:endParaRPr lang="ko-KR" altLang="en-US" kern="0" dirty="0">
              <a:solidFill>
                <a:srgbClr val="FF0000"/>
              </a:solidFill>
            </a:endParaRPr>
          </a:p>
        </p:txBody>
      </p:sp>
      <p:sp>
        <p:nvSpPr>
          <p:cNvPr id="2" name="슬라이드 번호 개체 틀 1"/>
          <p:cNvSpPr>
            <a:spLocks noGrp="1"/>
          </p:cNvSpPr>
          <p:nvPr>
            <p:ph type="sldNum" sz="quarter" idx="12"/>
          </p:nvPr>
        </p:nvSpPr>
        <p:spPr/>
        <p:txBody>
          <a:bodyPr/>
          <a:lstStyle/>
          <a:p>
            <a:r>
              <a:rPr lang="en-US" altLang="ko-KR"/>
              <a:t>229</a:t>
            </a:r>
            <a:endParaRPr lang="ko-KR" altLang="en-US"/>
          </a:p>
        </p:txBody>
      </p:sp>
      <p:cxnSp>
        <p:nvCxnSpPr>
          <p:cNvPr id="6" name="직선 연결선 5">
            <a:extLst>
              <a:ext uri="{FF2B5EF4-FFF2-40B4-BE49-F238E27FC236}">
                <a16:creationId xmlns:a16="http://schemas.microsoft.com/office/drawing/2014/main" id="{374B56B1-68E6-4309-9D30-EE22FE279A10}"/>
              </a:ext>
            </a:extLst>
          </p:cNvPr>
          <p:cNvCxnSpPr>
            <a:cxnSpLocks/>
          </p:cNvCxnSpPr>
          <p:nvPr/>
        </p:nvCxnSpPr>
        <p:spPr>
          <a:xfrm>
            <a:off x="988435" y="2531434"/>
            <a:ext cx="18046" cy="153300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직사각형 6">
            <a:extLst>
              <a:ext uri="{FF2B5EF4-FFF2-40B4-BE49-F238E27FC236}">
                <a16:creationId xmlns:a16="http://schemas.microsoft.com/office/drawing/2014/main" id="{F880896C-09B6-4674-8745-D603F093CAF8}"/>
              </a:ext>
            </a:extLst>
          </p:cNvPr>
          <p:cNvSpPr/>
          <p:nvPr/>
        </p:nvSpPr>
        <p:spPr>
          <a:xfrm>
            <a:off x="577605" y="4149452"/>
            <a:ext cx="914400" cy="268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bg1">
                    <a:lumMod val="50000"/>
                  </a:schemeClr>
                </a:solidFill>
              </a:rPr>
              <a:t>A</a:t>
            </a:r>
            <a:endParaRPr lang="ko-KR" altLang="en-US" dirty="0">
              <a:solidFill>
                <a:schemeClr val="bg1">
                  <a:lumMod val="50000"/>
                </a:schemeClr>
              </a:solidFill>
            </a:endParaRPr>
          </a:p>
        </p:txBody>
      </p:sp>
      <p:cxnSp>
        <p:nvCxnSpPr>
          <p:cNvPr id="51" name="직선 연결선 50">
            <a:extLst>
              <a:ext uri="{FF2B5EF4-FFF2-40B4-BE49-F238E27FC236}">
                <a16:creationId xmlns:a16="http://schemas.microsoft.com/office/drawing/2014/main" id="{548A47AA-FEF6-4830-955B-230A86091D91}"/>
              </a:ext>
            </a:extLst>
          </p:cNvPr>
          <p:cNvCxnSpPr>
            <a:cxnSpLocks/>
            <a:stCxn id="197" idx="2"/>
            <a:endCxn id="52" idx="0"/>
          </p:cNvCxnSpPr>
          <p:nvPr/>
        </p:nvCxnSpPr>
        <p:spPr>
          <a:xfrm>
            <a:off x="2968441" y="2503522"/>
            <a:ext cx="3256" cy="1593359"/>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FC080B32-37F2-4FA7-B953-925960055DFC}"/>
              </a:ext>
            </a:extLst>
          </p:cNvPr>
          <p:cNvSpPr/>
          <p:nvPr/>
        </p:nvSpPr>
        <p:spPr>
          <a:xfrm>
            <a:off x="2514497" y="4096881"/>
            <a:ext cx="914400" cy="268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dirty="0">
                <a:solidFill>
                  <a:schemeClr val="bg1">
                    <a:lumMod val="50000"/>
                  </a:schemeClr>
                </a:solidFill>
              </a:rPr>
              <a:t>A</a:t>
            </a:r>
          </a:p>
          <a:p>
            <a:pPr algn="ctr"/>
            <a:r>
              <a:rPr lang="en-US" altLang="ko-KR" dirty="0">
                <a:solidFill>
                  <a:schemeClr val="bg1">
                    <a:lumMod val="50000"/>
                  </a:schemeClr>
                </a:solidFill>
              </a:rPr>
              <a:t>B</a:t>
            </a:r>
            <a:endParaRPr lang="ko-KR" altLang="en-US" dirty="0">
              <a:solidFill>
                <a:schemeClr val="bg1">
                  <a:lumMod val="50000"/>
                </a:schemeClr>
              </a:solidFill>
            </a:endParaRPr>
          </a:p>
        </p:txBody>
      </p:sp>
      <p:cxnSp>
        <p:nvCxnSpPr>
          <p:cNvPr id="53" name="직선 연결선 52">
            <a:extLst>
              <a:ext uri="{FF2B5EF4-FFF2-40B4-BE49-F238E27FC236}">
                <a16:creationId xmlns:a16="http://schemas.microsoft.com/office/drawing/2014/main" id="{AC83DD88-87CA-4FBD-8C6C-A85BB363AB7B}"/>
              </a:ext>
            </a:extLst>
          </p:cNvPr>
          <p:cNvCxnSpPr/>
          <p:nvPr/>
        </p:nvCxnSpPr>
        <p:spPr>
          <a:xfrm flipH="1">
            <a:off x="4780786" y="2359978"/>
            <a:ext cx="1" cy="168650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직사각형 53">
            <a:extLst>
              <a:ext uri="{FF2B5EF4-FFF2-40B4-BE49-F238E27FC236}">
                <a16:creationId xmlns:a16="http://schemas.microsoft.com/office/drawing/2014/main" id="{5191D3B5-E852-4AC6-BECC-9045D0CBEA10}"/>
              </a:ext>
            </a:extLst>
          </p:cNvPr>
          <p:cNvSpPr/>
          <p:nvPr/>
        </p:nvSpPr>
        <p:spPr>
          <a:xfrm>
            <a:off x="5930008" y="4096881"/>
            <a:ext cx="914400" cy="268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dirty="0">
                <a:solidFill>
                  <a:srgbClr val="FF0000"/>
                </a:solidFill>
              </a:rPr>
              <a:t>A</a:t>
            </a:r>
          </a:p>
          <a:p>
            <a:pPr algn="ctr"/>
            <a:r>
              <a:rPr lang="en-US" altLang="ko-KR" dirty="0">
                <a:solidFill>
                  <a:srgbClr val="FF0000"/>
                </a:solidFill>
              </a:rPr>
              <a:t>B</a:t>
            </a:r>
          </a:p>
          <a:p>
            <a:pPr algn="ctr"/>
            <a:endParaRPr lang="en-US" altLang="ko-KR" dirty="0">
              <a:solidFill>
                <a:srgbClr val="FF0000"/>
              </a:solidFill>
            </a:endParaRPr>
          </a:p>
          <a:p>
            <a:pPr algn="ctr"/>
            <a:r>
              <a:rPr lang="en-US" altLang="ko-KR" dirty="0">
                <a:solidFill>
                  <a:schemeClr val="accent1">
                    <a:lumMod val="50000"/>
                  </a:schemeClr>
                </a:solidFill>
              </a:rPr>
              <a:t>C</a:t>
            </a:r>
            <a:endParaRPr lang="ko-KR" altLang="en-US" dirty="0">
              <a:solidFill>
                <a:schemeClr val="accent1">
                  <a:lumMod val="50000"/>
                </a:schemeClr>
              </a:solidFill>
            </a:endParaRPr>
          </a:p>
        </p:txBody>
      </p:sp>
      <p:sp>
        <p:nvSpPr>
          <p:cNvPr id="8" name="말풍선: 모서리가 둥근 사각형 7">
            <a:extLst>
              <a:ext uri="{FF2B5EF4-FFF2-40B4-BE49-F238E27FC236}">
                <a16:creationId xmlns:a16="http://schemas.microsoft.com/office/drawing/2014/main" id="{5AB4770E-14CA-4CF1-8CEA-7F1D0BC37239}"/>
              </a:ext>
            </a:extLst>
          </p:cNvPr>
          <p:cNvSpPr/>
          <p:nvPr/>
        </p:nvSpPr>
        <p:spPr>
          <a:xfrm>
            <a:off x="624224" y="5629100"/>
            <a:ext cx="4270618" cy="1053694"/>
          </a:xfrm>
          <a:prstGeom prst="wedgeRoundRectCallout">
            <a:avLst>
              <a:gd name="adj1" fmla="val -1912"/>
              <a:gd name="adj2" fmla="val -72540"/>
              <a:gd name="adj3" fmla="val 16667"/>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Tx/>
              <a:buChar char="-"/>
            </a:pPr>
            <a:r>
              <a:rPr lang="en-US" altLang="ko-KR" sz="1400" dirty="0">
                <a:solidFill>
                  <a:schemeClr val="tx1"/>
                </a:solidFill>
              </a:rPr>
              <a:t>A, B</a:t>
            </a:r>
            <a:r>
              <a:rPr lang="ko-KR" altLang="en-US" sz="1400" dirty="0">
                <a:solidFill>
                  <a:schemeClr val="tx1"/>
                </a:solidFill>
              </a:rPr>
              <a:t>는 </a:t>
            </a:r>
            <a:r>
              <a:rPr lang="ko-KR" altLang="en-US" sz="1400" dirty="0" err="1">
                <a:solidFill>
                  <a:schemeClr val="tx1"/>
                </a:solidFill>
              </a:rPr>
              <a:t>한국출원일</a:t>
            </a:r>
            <a:r>
              <a:rPr lang="en-US" altLang="ko-KR" sz="1400" dirty="0">
                <a:solidFill>
                  <a:schemeClr val="tx1"/>
                </a:solidFill>
              </a:rPr>
              <a:t>(X)</a:t>
            </a:r>
            <a:r>
              <a:rPr lang="ko-KR" altLang="en-US" sz="1400" dirty="0">
                <a:solidFill>
                  <a:schemeClr val="tx1"/>
                </a:solidFill>
              </a:rPr>
              <a:t>을 기준으로 특허요건을 판단</a:t>
            </a:r>
            <a:endParaRPr lang="en-US" altLang="ko-KR" sz="1400" dirty="0">
              <a:solidFill>
                <a:schemeClr val="tx1"/>
              </a:solidFill>
            </a:endParaRPr>
          </a:p>
          <a:p>
            <a:pPr marL="285750" indent="-285750">
              <a:buFontTx/>
              <a:buChar char="-"/>
            </a:pPr>
            <a:r>
              <a:rPr lang="en-US" altLang="ko-KR" sz="1400" dirty="0">
                <a:solidFill>
                  <a:schemeClr val="tx1"/>
                </a:solidFill>
              </a:rPr>
              <a:t>A, B</a:t>
            </a:r>
            <a:r>
              <a:rPr lang="ko-KR" altLang="en-US" sz="1400" dirty="0">
                <a:solidFill>
                  <a:schemeClr val="tx1"/>
                </a:solidFill>
              </a:rPr>
              <a:t>는 논문발표일로부터 </a:t>
            </a:r>
            <a:r>
              <a:rPr lang="en-US" altLang="ko-KR" sz="1400" dirty="0">
                <a:solidFill>
                  <a:schemeClr val="tx1"/>
                </a:solidFill>
              </a:rPr>
              <a:t>12</a:t>
            </a:r>
            <a:r>
              <a:rPr lang="ko-KR" altLang="en-US" sz="1400" dirty="0">
                <a:solidFill>
                  <a:schemeClr val="tx1"/>
                </a:solidFill>
              </a:rPr>
              <a:t>개월 이내 출원하였기 때문에 논문발표 </a:t>
            </a:r>
            <a:r>
              <a:rPr lang="en-US" altLang="ko-KR" sz="1400" dirty="0">
                <a:solidFill>
                  <a:schemeClr val="tx1"/>
                </a:solidFill>
              </a:rPr>
              <a:t>A</a:t>
            </a:r>
            <a:r>
              <a:rPr lang="ko-KR" altLang="en-US" sz="1400" dirty="0">
                <a:solidFill>
                  <a:schemeClr val="tx1"/>
                </a:solidFill>
              </a:rPr>
              <a:t>를 공지 등이 되지 아니한 것으로 보고 심사를 진행</a:t>
            </a:r>
          </a:p>
        </p:txBody>
      </p:sp>
      <p:sp>
        <p:nvSpPr>
          <p:cNvPr id="56" name="말풍선: 모서리가 둥근 사각형 55">
            <a:extLst>
              <a:ext uri="{FF2B5EF4-FFF2-40B4-BE49-F238E27FC236}">
                <a16:creationId xmlns:a16="http://schemas.microsoft.com/office/drawing/2014/main" id="{9EEED185-ABE5-4F5E-8688-05E1491D0BDB}"/>
              </a:ext>
            </a:extLst>
          </p:cNvPr>
          <p:cNvSpPr/>
          <p:nvPr/>
        </p:nvSpPr>
        <p:spPr>
          <a:xfrm>
            <a:off x="7343774" y="4151132"/>
            <a:ext cx="4270621" cy="1890216"/>
          </a:xfrm>
          <a:prstGeom prst="wedgeRoundRectCallout">
            <a:avLst>
              <a:gd name="adj1" fmla="val -65957"/>
              <a:gd name="adj2" fmla="val 45860"/>
              <a:gd name="adj3" fmla="val 16667"/>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Tx/>
              <a:buChar char="-"/>
            </a:pPr>
            <a:r>
              <a:rPr lang="en-US" altLang="ko-KR" sz="1400" dirty="0">
                <a:solidFill>
                  <a:schemeClr val="tx1"/>
                </a:solidFill>
              </a:rPr>
              <a:t>C</a:t>
            </a:r>
            <a:r>
              <a:rPr lang="ko-KR" altLang="en-US" sz="1400" dirty="0">
                <a:solidFill>
                  <a:schemeClr val="tx1"/>
                </a:solidFill>
              </a:rPr>
              <a:t>는 </a:t>
            </a:r>
            <a:r>
              <a:rPr lang="ko-KR" altLang="en-US" sz="1400" dirty="0" err="1">
                <a:solidFill>
                  <a:schemeClr val="tx1"/>
                </a:solidFill>
              </a:rPr>
              <a:t>한국출원일</a:t>
            </a:r>
            <a:r>
              <a:rPr lang="en-US" altLang="ko-KR" sz="1400" dirty="0">
                <a:solidFill>
                  <a:schemeClr val="tx1"/>
                </a:solidFill>
              </a:rPr>
              <a:t>(Y)</a:t>
            </a:r>
            <a:r>
              <a:rPr lang="ko-KR" altLang="en-US" sz="1400" dirty="0">
                <a:solidFill>
                  <a:schemeClr val="tx1"/>
                </a:solidFill>
              </a:rPr>
              <a:t>을 기준으로 특허요건을 판단</a:t>
            </a:r>
            <a:endParaRPr lang="en-US" altLang="ko-KR" sz="1400" dirty="0">
              <a:solidFill>
                <a:schemeClr val="tx1"/>
              </a:solidFill>
            </a:endParaRPr>
          </a:p>
          <a:p>
            <a:pPr marL="285750" indent="-285750">
              <a:buFontTx/>
              <a:buChar char="-"/>
            </a:pPr>
            <a:r>
              <a:rPr lang="en-US" altLang="ko-KR" sz="1400" dirty="0">
                <a:solidFill>
                  <a:schemeClr val="tx1"/>
                </a:solidFill>
              </a:rPr>
              <a:t>C</a:t>
            </a:r>
            <a:r>
              <a:rPr lang="ko-KR" altLang="en-US" sz="1400" dirty="0">
                <a:solidFill>
                  <a:schemeClr val="tx1"/>
                </a:solidFill>
              </a:rPr>
              <a:t>는 </a:t>
            </a:r>
            <a:r>
              <a:rPr lang="ko-KR" altLang="en-US" sz="1400" dirty="0" err="1">
                <a:solidFill>
                  <a:schemeClr val="tx1"/>
                </a:solidFill>
              </a:rPr>
              <a:t>한국출원일</a:t>
            </a:r>
            <a:r>
              <a:rPr lang="en-US" altLang="ko-KR" sz="1400" dirty="0">
                <a:solidFill>
                  <a:schemeClr val="tx1"/>
                </a:solidFill>
              </a:rPr>
              <a:t>(Y)</a:t>
            </a:r>
            <a:r>
              <a:rPr lang="ko-KR" altLang="en-US" sz="1400" dirty="0">
                <a:solidFill>
                  <a:schemeClr val="tx1"/>
                </a:solidFill>
              </a:rPr>
              <a:t>이 논문발표일로부터 </a:t>
            </a:r>
            <a:r>
              <a:rPr lang="en-US" altLang="ko-KR" sz="1400" dirty="0">
                <a:solidFill>
                  <a:schemeClr val="tx1"/>
                </a:solidFill>
              </a:rPr>
              <a:t>1</a:t>
            </a:r>
            <a:r>
              <a:rPr lang="ko-KR" altLang="en-US" sz="1400" dirty="0">
                <a:solidFill>
                  <a:schemeClr val="tx1"/>
                </a:solidFill>
              </a:rPr>
              <a:t>년 이내이라면 논문발표 </a:t>
            </a:r>
            <a:r>
              <a:rPr lang="en-US" altLang="ko-KR" sz="1400" dirty="0">
                <a:solidFill>
                  <a:schemeClr val="tx1"/>
                </a:solidFill>
              </a:rPr>
              <a:t>A</a:t>
            </a:r>
            <a:r>
              <a:rPr lang="ko-KR" altLang="en-US" sz="1400" dirty="0">
                <a:solidFill>
                  <a:schemeClr val="tx1"/>
                </a:solidFill>
              </a:rPr>
              <a:t>를 공지 등이 되지 아니한 것으로 보고</a:t>
            </a:r>
            <a:r>
              <a:rPr lang="en-US" altLang="ko-KR" sz="1400" dirty="0">
                <a:solidFill>
                  <a:schemeClr val="tx1"/>
                </a:solidFill>
              </a:rPr>
              <a:t> </a:t>
            </a:r>
            <a:r>
              <a:rPr lang="ko-KR" altLang="en-US" sz="1400" dirty="0">
                <a:solidFill>
                  <a:schemeClr val="tx1"/>
                </a:solidFill>
              </a:rPr>
              <a:t>심사를 진행하지만</a:t>
            </a:r>
            <a:r>
              <a:rPr lang="en-US" altLang="ko-KR" sz="1400" dirty="0">
                <a:solidFill>
                  <a:schemeClr val="tx1"/>
                </a:solidFill>
              </a:rPr>
              <a:t>, 1</a:t>
            </a:r>
            <a:r>
              <a:rPr lang="ko-KR" altLang="en-US" sz="1400" dirty="0">
                <a:solidFill>
                  <a:schemeClr val="tx1"/>
                </a:solidFill>
              </a:rPr>
              <a:t>년이 지났다면 논문발표 </a:t>
            </a:r>
            <a:r>
              <a:rPr lang="en-US" altLang="ko-KR" sz="1400" dirty="0">
                <a:solidFill>
                  <a:schemeClr val="tx1"/>
                </a:solidFill>
              </a:rPr>
              <a:t>A</a:t>
            </a:r>
            <a:r>
              <a:rPr lang="ko-KR" altLang="en-US" sz="1400" dirty="0">
                <a:solidFill>
                  <a:schemeClr val="tx1"/>
                </a:solidFill>
              </a:rPr>
              <a:t>를 공지 등이 된 것으로 보고 심사를 진행</a:t>
            </a:r>
            <a:endParaRPr lang="en-US" altLang="ko-KR" sz="1400" dirty="0">
              <a:solidFill>
                <a:schemeClr val="tx1"/>
              </a:solidFill>
            </a:endParaRPr>
          </a:p>
          <a:p>
            <a:pPr marL="285750" indent="-285750">
              <a:buFontTx/>
              <a:buChar char="-"/>
            </a:pPr>
            <a:r>
              <a:rPr lang="en-US" altLang="ko-KR" sz="1400" dirty="0">
                <a:solidFill>
                  <a:schemeClr val="tx1"/>
                </a:solidFill>
              </a:rPr>
              <a:t>C</a:t>
            </a:r>
            <a:r>
              <a:rPr lang="ko-KR" altLang="en-US" sz="1400" dirty="0">
                <a:solidFill>
                  <a:schemeClr val="tx1"/>
                </a:solidFill>
              </a:rPr>
              <a:t>는 </a:t>
            </a:r>
            <a:r>
              <a:rPr lang="ko-KR" altLang="en-US" sz="1400" dirty="0" err="1">
                <a:solidFill>
                  <a:schemeClr val="tx1"/>
                </a:solidFill>
              </a:rPr>
              <a:t>한국출원일</a:t>
            </a:r>
            <a:r>
              <a:rPr lang="en-US" altLang="ko-KR" sz="1400" dirty="0">
                <a:solidFill>
                  <a:schemeClr val="tx1"/>
                </a:solidFill>
              </a:rPr>
              <a:t>(Y) </a:t>
            </a:r>
            <a:r>
              <a:rPr lang="ko-KR" altLang="en-US" sz="1400" dirty="0">
                <a:solidFill>
                  <a:schemeClr val="tx1"/>
                </a:solidFill>
              </a:rPr>
              <a:t>이 박람회 출품일로부터 </a:t>
            </a:r>
            <a:r>
              <a:rPr lang="en-US" altLang="ko-KR" sz="1400" dirty="0">
                <a:solidFill>
                  <a:schemeClr val="tx1"/>
                </a:solidFill>
              </a:rPr>
              <a:t>1</a:t>
            </a:r>
            <a:r>
              <a:rPr lang="ko-KR" altLang="en-US" sz="1400" dirty="0">
                <a:solidFill>
                  <a:schemeClr val="tx1"/>
                </a:solidFill>
              </a:rPr>
              <a:t>년 이내이기 때문에 박람회 출품 </a:t>
            </a:r>
            <a:r>
              <a:rPr lang="en-US" altLang="ko-KR" sz="1400" dirty="0">
                <a:solidFill>
                  <a:schemeClr val="tx1"/>
                </a:solidFill>
              </a:rPr>
              <a:t>C</a:t>
            </a:r>
            <a:r>
              <a:rPr lang="ko-KR" altLang="en-US" sz="1400" dirty="0">
                <a:solidFill>
                  <a:schemeClr val="tx1"/>
                </a:solidFill>
              </a:rPr>
              <a:t>를 공지 등이 되지 아니한 것으로 보고 심사를 진행 </a:t>
            </a:r>
          </a:p>
        </p:txBody>
      </p:sp>
      <p:sp>
        <p:nvSpPr>
          <p:cNvPr id="37" name="직사각형 36">
            <a:extLst>
              <a:ext uri="{FF2B5EF4-FFF2-40B4-BE49-F238E27FC236}">
                <a16:creationId xmlns:a16="http://schemas.microsoft.com/office/drawing/2014/main" id="{700E6C06-D35A-40DB-92AF-256E3A8EBA7C}"/>
              </a:ext>
            </a:extLst>
          </p:cNvPr>
          <p:cNvSpPr/>
          <p:nvPr/>
        </p:nvSpPr>
        <p:spPr>
          <a:xfrm>
            <a:off x="11427812"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이</a:t>
            </a:r>
          </a:p>
        </p:txBody>
      </p:sp>
      <p:sp>
        <p:nvSpPr>
          <p:cNvPr id="39" name="Rectangle 14">
            <a:extLst>
              <a:ext uri="{FF2B5EF4-FFF2-40B4-BE49-F238E27FC236}">
                <a16:creationId xmlns:a16="http://schemas.microsoft.com/office/drawing/2014/main" id="{C9706388-5E17-481F-AA16-1184CC3EA30B}"/>
              </a:ext>
            </a:extLst>
          </p:cNvPr>
          <p:cNvSpPr>
            <a:spLocks noChangeArrowheads="1"/>
          </p:cNvSpPr>
          <p:nvPr/>
        </p:nvSpPr>
        <p:spPr bwMode="auto">
          <a:xfrm>
            <a:off x="4125255" y="2227830"/>
            <a:ext cx="1228042" cy="268566"/>
          </a:xfrm>
          <a:prstGeom prst="rect">
            <a:avLst/>
          </a:prstGeom>
          <a:solidFill>
            <a:schemeClr val="accent6">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a:latin typeface="+mn-ea"/>
              </a:rPr>
              <a:t>박람회 출품</a:t>
            </a:r>
          </a:p>
        </p:txBody>
      </p:sp>
      <p:cxnSp>
        <p:nvCxnSpPr>
          <p:cNvPr id="40" name="직선 연결선 39">
            <a:extLst>
              <a:ext uri="{FF2B5EF4-FFF2-40B4-BE49-F238E27FC236}">
                <a16:creationId xmlns:a16="http://schemas.microsoft.com/office/drawing/2014/main" id="{344F6081-A3B0-4AF6-87D7-F7FDCB55B55B}"/>
              </a:ext>
            </a:extLst>
          </p:cNvPr>
          <p:cNvCxnSpPr>
            <a:cxnSpLocks/>
            <a:stCxn id="175" idx="2"/>
          </p:cNvCxnSpPr>
          <p:nvPr/>
        </p:nvCxnSpPr>
        <p:spPr>
          <a:xfrm>
            <a:off x="6364148" y="2534304"/>
            <a:ext cx="23062" cy="1512179"/>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직사각형 40">
            <a:extLst>
              <a:ext uri="{FF2B5EF4-FFF2-40B4-BE49-F238E27FC236}">
                <a16:creationId xmlns:a16="http://schemas.microsoft.com/office/drawing/2014/main" id="{98F445DF-E90A-4AC2-92C1-2068F310D33B}"/>
              </a:ext>
            </a:extLst>
          </p:cNvPr>
          <p:cNvSpPr/>
          <p:nvPr/>
        </p:nvSpPr>
        <p:spPr>
          <a:xfrm>
            <a:off x="4341435" y="4096881"/>
            <a:ext cx="914400" cy="268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dirty="0">
                <a:solidFill>
                  <a:schemeClr val="accent1">
                    <a:lumMod val="50000"/>
                  </a:schemeClr>
                </a:solidFill>
              </a:rPr>
              <a:t>C</a:t>
            </a:r>
            <a:endParaRPr lang="ko-KR" altLang="en-US" dirty="0">
              <a:solidFill>
                <a:schemeClr val="accent1">
                  <a:lumMod val="50000"/>
                </a:schemeClr>
              </a:solidFill>
            </a:endParaRPr>
          </a:p>
        </p:txBody>
      </p:sp>
      <p:sp>
        <p:nvSpPr>
          <p:cNvPr id="43" name="Rectangle 14">
            <a:extLst>
              <a:ext uri="{FF2B5EF4-FFF2-40B4-BE49-F238E27FC236}">
                <a16:creationId xmlns:a16="http://schemas.microsoft.com/office/drawing/2014/main" id="{12C650A0-E50D-4EB3-8417-891A1E3D3092}"/>
              </a:ext>
            </a:extLst>
          </p:cNvPr>
          <p:cNvSpPr>
            <a:spLocks noChangeArrowheads="1"/>
          </p:cNvSpPr>
          <p:nvPr/>
        </p:nvSpPr>
        <p:spPr bwMode="auto">
          <a:xfrm>
            <a:off x="5614012" y="1714647"/>
            <a:ext cx="1701896" cy="292229"/>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err="1">
                <a:latin typeface="+mn-ea"/>
              </a:rPr>
              <a:t>공지예외적용주장</a:t>
            </a:r>
            <a:r>
              <a:rPr lang="en-US" altLang="ko-KR" sz="1200" dirty="0">
                <a:latin typeface="+mn-ea"/>
              </a:rPr>
              <a:t>(</a:t>
            </a:r>
            <a:r>
              <a:rPr lang="ko-KR" altLang="en-US" sz="1200" dirty="0">
                <a:latin typeface="+mn-ea"/>
              </a:rPr>
              <a:t>논문</a:t>
            </a:r>
            <a:r>
              <a:rPr lang="en-US" altLang="ko-KR" sz="1200" dirty="0">
                <a:latin typeface="+mn-ea"/>
              </a:rPr>
              <a:t>)</a:t>
            </a:r>
            <a:endParaRPr lang="ko-KR" altLang="en-US" sz="1200" b="0" dirty="0">
              <a:latin typeface="+mn-ea"/>
            </a:endParaRPr>
          </a:p>
        </p:txBody>
      </p:sp>
      <p:sp>
        <p:nvSpPr>
          <p:cNvPr id="44" name="Rectangle 14">
            <a:extLst>
              <a:ext uri="{FF2B5EF4-FFF2-40B4-BE49-F238E27FC236}">
                <a16:creationId xmlns:a16="http://schemas.microsoft.com/office/drawing/2014/main" id="{A051999F-9E95-4519-BE4E-8AF69D0412B2}"/>
              </a:ext>
            </a:extLst>
          </p:cNvPr>
          <p:cNvSpPr>
            <a:spLocks noChangeArrowheads="1"/>
          </p:cNvSpPr>
          <p:nvPr/>
        </p:nvSpPr>
        <p:spPr bwMode="auto">
          <a:xfrm>
            <a:off x="7595063" y="1961925"/>
            <a:ext cx="1418541" cy="268566"/>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증명서류</a:t>
            </a:r>
            <a:r>
              <a:rPr lang="en-US" altLang="ko-KR" sz="1200" dirty="0">
                <a:latin typeface="+mn-ea"/>
              </a:rPr>
              <a:t>(</a:t>
            </a:r>
            <a:r>
              <a:rPr lang="ko-KR" altLang="en-US" sz="1200" dirty="0">
                <a:latin typeface="+mn-ea"/>
              </a:rPr>
              <a:t>논문</a:t>
            </a:r>
            <a:r>
              <a:rPr lang="en-US" altLang="ko-KR" sz="1200" dirty="0">
                <a:latin typeface="+mn-ea"/>
              </a:rPr>
              <a:t>)</a:t>
            </a:r>
            <a:endParaRPr lang="ko-KR" altLang="en-US" sz="1200" b="0" dirty="0">
              <a:latin typeface="+mn-ea"/>
            </a:endParaRPr>
          </a:p>
        </p:txBody>
      </p:sp>
      <p:sp>
        <p:nvSpPr>
          <p:cNvPr id="3" name="직사각형 2">
            <a:extLst>
              <a:ext uri="{FF2B5EF4-FFF2-40B4-BE49-F238E27FC236}">
                <a16:creationId xmlns:a16="http://schemas.microsoft.com/office/drawing/2014/main" id="{30950CBA-80BE-44A2-AA65-056284E41CE8}"/>
              </a:ext>
            </a:extLst>
          </p:cNvPr>
          <p:cNvSpPr/>
          <p:nvPr/>
        </p:nvSpPr>
        <p:spPr>
          <a:xfrm>
            <a:off x="6096000" y="4078653"/>
            <a:ext cx="565707" cy="6658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직사각형 44">
            <a:extLst>
              <a:ext uri="{FF2B5EF4-FFF2-40B4-BE49-F238E27FC236}">
                <a16:creationId xmlns:a16="http://schemas.microsoft.com/office/drawing/2014/main" id="{6D225098-8AB0-4AC7-BD98-EB48578025BE}"/>
              </a:ext>
            </a:extLst>
          </p:cNvPr>
          <p:cNvSpPr/>
          <p:nvPr/>
        </p:nvSpPr>
        <p:spPr>
          <a:xfrm>
            <a:off x="2514497" y="4865054"/>
            <a:ext cx="914400" cy="268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ko-KR" dirty="0">
                <a:solidFill>
                  <a:srgbClr val="FF0000"/>
                </a:solidFill>
              </a:rPr>
              <a:t>A</a:t>
            </a:r>
          </a:p>
          <a:p>
            <a:pPr algn="ctr"/>
            <a:r>
              <a:rPr lang="en-US" altLang="ko-KR" dirty="0">
                <a:solidFill>
                  <a:srgbClr val="FF0000"/>
                </a:solidFill>
              </a:rPr>
              <a:t>B</a:t>
            </a:r>
          </a:p>
          <a:p>
            <a:pPr algn="ctr"/>
            <a:endParaRPr lang="ko-KR" altLang="en-US" dirty="0">
              <a:solidFill>
                <a:schemeClr val="accent1">
                  <a:lumMod val="50000"/>
                </a:schemeClr>
              </a:solidFill>
            </a:endParaRPr>
          </a:p>
        </p:txBody>
      </p:sp>
      <p:sp>
        <p:nvSpPr>
          <p:cNvPr id="46" name="직사각형 45">
            <a:extLst>
              <a:ext uri="{FF2B5EF4-FFF2-40B4-BE49-F238E27FC236}">
                <a16:creationId xmlns:a16="http://schemas.microsoft.com/office/drawing/2014/main" id="{C42355A0-E55B-45D1-A445-1A77565489FB}"/>
              </a:ext>
            </a:extLst>
          </p:cNvPr>
          <p:cNvSpPr/>
          <p:nvPr/>
        </p:nvSpPr>
        <p:spPr>
          <a:xfrm>
            <a:off x="2680489" y="4846826"/>
            <a:ext cx="565707" cy="6658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 name="직선 화살표 연결선 9">
            <a:extLst>
              <a:ext uri="{FF2B5EF4-FFF2-40B4-BE49-F238E27FC236}">
                <a16:creationId xmlns:a16="http://schemas.microsoft.com/office/drawing/2014/main" id="{7763B11E-0704-478D-ABDB-DBA21251C09E}"/>
              </a:ext>
            </a:extLst>
          </p:cNvPr>
          <p:cNvCxnSpPr>
            <a:stCxn id="3" idx="1"/>
            <a:endCxn id="46" idx="3"/>
          </p:cNvCxnSpPr>
          <p:nvPr/>
        </p:nvCxnSpPr>
        <p:spPr>
          <a:xfrm flipH="1">
            <a:off x="3246196" y="4411591"/>
            <a:ext cx="2849804" cy="768173"/>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ED3E6A06-DF32-4534-B677-D19A3D9CB656}"/>
              </a:ext>
            </a:extLst>
          </p:cNvPr>
          <p:cNvSpPr/>
          <p:nvPr/>
        </p:nvSpPr>
        <p:spPr>
          <a:xfrm>
            <a:off x="6096000" y="4932077"/>
            <a:ext cx="565707" cy="29383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직사각형 49">
            <a:extLst>
              <a:ext uri="{FF2B5EF4-FFF2-40B4-BE49-F238E27FC236}">
                <a16:creationId xmlns:a16="http://schemas.microsoft.com/office/drawing/2014/main" id="{E2FF0D26-6022-49C3-A8D3-D06B348B5DDB}"/>
              </a:ext>
            </a:extLst>
          </p:cNvPr>
          <p:cNvSpPr/>
          <p:nvPr/>
        </p:nvSpPr>
        <p:spPr>
          <a:xfrm>
            <a:off x="6087122" y="5867488"/>
            <a:ext cx="565707" cy="29383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직사각형 54">
            <a:extLst>
              <a:ext uri="{FF2B5EF4-FFF2-40B4-BE49-F238E27FC236}">
                <a16:creationId xmlns:a16="http://schemas.microsoft.com/office/drawing/2014/main" id="{74CC3789-BE23-4D85-83AC-6EFB78F60287}"/>
              </a:ext>
            </a:extLst>
          </p:cNvPr>
          <p:cNvSpPr/>
          <p:nvPr/>
        </p:nvSpPr>
        <p:spPr>
          <a:xfrm>
            <a:off x="5930008" y="4730771"/>
            <a:ext cx="914400" cy="268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altLang="ko-KR" dirty="0">
              <a:solidFill>
                <a:srgbClr val="FF0000"/>
              </a:solidFill>
            </a:endParaRPr>
          </a:p>
          <a:p>
            <a:pPr algn="ctr"/>
            <a:endParaRPr lang="en-US" altLang="ko-KR" dirty="0">
              <a:solidFill>
                <a:schemeClr val="accent1">
                  <a:lumMod val="50000"/>
                </a:schemeClr>
              </a:solidFill>
            </a:endParaRPr>
          </a:p>
          <a:p>
            <a:pPr algn="ctr"/>
            <a:endParaRPr lang="en-US" altLang="ko-KR" dirty="0">
              <a:solidFill>
                <a:schemeClr val="accent1">
                  <a:lumMod val="50000"/>
                </a:schemeClr>
              </a:solidFill>
            </a:endParaRPr>
          </a:p>
          <a:p>
            <a:pPr algn="ctr"/>
            <a:endParaRPr lang="en-US" altLang="ko-KR" dirty="0">
              <a:solidFill>
                <a:schemeClr val="accent1">
                  <a:lumMod val="50000"/>
                </a:schemeClr>
              </a:solidFill>
            </a:endParaRPr>
          </a:p>
          <a:p>
            <a:pPr algn="ctr"/>
            <a:r>
              <a:rPr lang="en-US" altLang="ko-KR" dirty="0">
                <a:solidFill>
                  <a:schemeClr val="accent1">
                    <a:lumMod val="50000"/>
                  </a:schemeClr>
                </a:solidFill>
              </a:rPr>
              <a:t>C</a:t>
            </a:r>
            <a:endParaRPr lang="ko-KR" altLang="en-US" dirty="0">
              <a:solidFill>
                <a:schemeClr val="accent1">
                  <a:lumMod val="50000"/>
                </a:schemeClr>
              </a:solidFill>
            </a:endParaRPr>
          </a:p>
        </p:txBody>
      </p:sp>
      <p:cxnSp>
        <p:nvCxnSpPr>
          <p:cNvPr id="12" name="직선 화살표 연결선 11">
            <a:extLst>
              <a:ext uri="{FF2B5EF4-FFF2-40B4-BE49-F238E27FC236}">
                <a16:creationId xmlns:a16="http://schemas.microsoft.com/office/drawing/2014/main" id="{4CE2EB5C-D1BC-4DBC-A5E0-9B5454871FBD}"/>
              </a:ext>
            </a:extLst>
          </p:cNvPr>
          <p:cNvCxnSpPr>
            <a:cxnSpLocks/>
          </p:cNvCxnSpPr>
          <p:nvPr/>
        </p:nvCxnSpPr>
        <p:spPr>
          <a:xfrm>
            <a:off x="6364148" y="5225908"/>
            <a:ext cx="22079" cy="612912"/>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2391CA99-06ED-4F7A-8AE6-4925A10251BC}"/>
              </a:ext>
            </a:extLst>
          </p:cNvPr>
          <p:cNvSpPr txBox="1"/>
          <p:nvPr/>
        </p:nvSpPr>
        <p:spPr>
          <a:xfrm>
            <a:off x="3994604" y="4676171"/>
            <a:ext cx="736099" cy="646331"/>
          </a:xfrm>
          <a:prstGeom prst="rect">
            <a:avLst/>
          </a:prstGeom>
          <a:solidFill>
            <a:schemeClr val="bg1"/>
          </a:solidFill>
        </p:spPr>
        <p:txBody>
          <a:bodyPr wrap="none" rtlCol="0">
            <a:spAutoFit/>
          </a:bodyPr>
          <a:lstStyle/>
          <a:p>
            <a:r>
              <a:rPr lang="ko-KR" altLang="en-US" sz="1200" dirty="0">
                <a:solidFill>
                  <a:srgbClr val="FF0000"/>
                </a:solidFill>
              </a:rPr>
              <a:t>판단시점</a:t>
            </a:r>
            <a:endParaRPr lang="en-US" altLang="ko-KR" sz="1200" dirty="0">
              <a:solidFill>
                <a:srgbClr val="FF0000"/>
              </a:solidFill>
            </a:endParaRPr>
          </a:p>
          <a:p>
            <a:r>
              <a:rPr lang="ko-KR" altLang="en-US" sz="1200" dirty="0">
                <a:solidFill>
                  <a:srgbClr val="FF0000"/>
                </a:solidFill>
              </a:rPr>
              <a:t>소급효 </a:t>
            </a:r>
            <a:endParaRPr lang="en-US" altLang="ko-KR" sz="1200" dirty="0">
              <a:solidFill>
                <a:srgbClr val="FF0000"/>
              </a:solidFill>
            </a:endParaRPr>
          </a:p>
          <a:p>
            <a:r>
              <a:rPr lang="ko-KR" altLang="en-US" sz="1200" dirty="0">
                <a:solidFill>
                  <a:srgbClr val="FF0000"/>
                </a:solidFill>
              </a:rPr>
              <a:t>인정</a:t>
            </a:r>
          </a:p>
        </p:txBody>
      </p:sp>
      <p:sp>
        <p:nvSpPr>
          <p:cNvPr id="63" name="TextBox 62">
            <a:extLst>
              <a:ext uri="{FF2B5EF4-FFF2-40B4-BE49-F238E27FC236}">
                <a16:creationId xmlns:a16="http://schemas.microsoft.com/office/drawing/2014/main" id="{92938FD1-21F6-461C-B953-3BA380BE1EFC}"/>
              </a:ext>
            </a:extLst>
          </p:cNvPr>
          <p:cNvSpPr txBox="1"/>
          <p:nvPr/>
        </p:nvSpPr>
        <p:spPr>
          <a:xfrm>
            <a:off x="5028916" y="5374041"/>
            <a:ext cx="1815492" cy="276999"/>
          </a:xfrm>
          <a:prstGeom prst="rect">
            <a:avLst/>
          </a:prstGeom>
          <a:solidFill>
            <a:schemeClr val="bg1"/>
          </a:solidFill>
        </p:spPr>
        <p:txBody>
          <a:bodyPr wrap="square" rtlCol="0">
            <a:spAutoFit/>
          </a:bodyPr>
          <a:lstStyle/>
          <a:p>
            <a:r>
              <a:rPr lang="ko-KR" altLang="en-US" sz="1200" dirty="0">
                <a:solidFill>
                  <a:srgbClr val="FF0000"/>
                </a:solidFill>
              </a:rPr>
              <a:t>판단시점 소급효 불인정</a:t>
            </a:r>
          </a:p>
        </p:txBody>
      </p:sp>
      <p:sp>
        <p:nvSpPr>
          <p:cNvPr id="11" name="TextBox 10">
            <a:extLst>
              <a:ext uri="{FF2B5EF4-FFF2-40B4-BE49-F238E27FC236}">
                <a16:creationId xmlns:a16="http://schemas.microsoft.com/office/drawing/2014/main" id="{408A57CA-6F86-618C-1484-00AFC7455A2B}"/>
              </a:ext>
            </a:extLst>
          </p:cNvPr>
          <p:cNvSpPr txBox="1"/>
          <p:nvPr/>
        </p:nvSpPr>
        <p:spPr>
          <a:xfrm>
            <a:off x="2667392" y="3024945"/>
            <a:ext cx="1140273" cy="261610"/>
          </a:xfrm>
          <a:prstGeom prst="rect">
            <a:avLst/>
          </a:prstGeom>
          <a:noFill/>
        </p:spPr>
        <p:txBody>
          <a:bodyPr wrap="square" rtlCol="0">
            <a:spAutoFit/>
          </a:bodyPr>
          <a:lstStyle/>
          <a:p>
            <a:r>
              <a:rPr lang="en-US" altLang="ko-KR" sz="1100" dirty="0">
                <a:solidFill>
                  <a:srgbClr val="FF0000"/>
                </a:solidFill>
              </a:rPr>
              <a:t>12</a:t>
            </a:r>
            <a:r>
              <a:rPr lang="ko-KR" altLang="en-US" sz="1100" dirty="0">
                <a:solidFill>
                  <a:srgbClr val="FF0000"/>
                </a:solidFill>
              </a:rPr>
              <a:t>개월 이내</a:t>
            </a:r>
          </a:p>
        </p:txBody>
      </p:sp>
      <p:sp>
        <p:nvSpPr>
          <p:cNvPr id="13" name="직사각형 12">
            <a:extLst>
              <a:ext uri="{FF2B5EF4-FFF2-40B4-BE49-F238E27FC236}">
                <a16:creationId xmlns:a16="http://schemas.microsoft.com/office/drawing/2014/main" id="{11BAD09C-8E57-EF6D-0F42-298C8BF0CD9B}"/>
              </a:ext>
            </a:extLst>
          </p:cNvPr>
          <p:cNvSpPr/>
          <p:nvPr/>
        </p:nvSpPr>
        <p:spPr>
          <a:xfrm>
            <a:off x="2397084" y="2855702"/>
            <a:ext cx="526026" cy="481222"/>
          </a:xfrm>
          <a:prstGeom prst="rect">
            <a:avLst/>
          </a:prstGeom>
        </p:spPr>
        <p:txBody>
          <a:bodyPr wrap="square">
            <a:spAutoFit/>
          </a:bodyPr>
          <a:lstStyle/>
          <a:p>
            <a:pPr algn="just" fontAlgn="base">
              <a:lnSpc>
                <a:spcPct val="160000"/>
              </a:lnSpc>
            </a:pPr>
            <a:r>
              <a:rPr lang="ko-KR" altLang="en-US" kern="0" dirty="0">
                <a:solidFill>
                  <a:srgbClr val="FF0000"/>
                </a:solidFill>
                <a:ea typeface="함초롬바탕" panose="02030504000101010101" pitchFamily="18" charset="-127"/>
              </a:rPr>
              <a:t>❶</a:t>
            </a:r>
            <a:endParaRPr lang="ko-KR" altLang="en-US" kern="0" dirty="0">
              <a:solidFill>
                <a:srgbClr val="FF0000"/>
              </a:solidFill>
            </a:endParaRPr>
          </a:p>
        </p:txBody>
      </p:sp>
    </p:spTree>
    <p:extLst>
      <p:ext uri="{BB962C8B-B14F-4D97-AF65-F5344CB8AC3E}">
        <p14:creationId xmlns:p14="http://schemas.microsoft.com/office/powerpoint/2010/main" val="2833085309"/>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55</a:t>
            </a:r>
            <a:r>
              <a:rPr lang="ko-KR" altLang="en-US" dirty="0"/>
              <a:t>조</a:t>
            </a:r>
            <a:r>
              <a:rPr lang="en-US" altLang="ko-KR" dirty="0"/>
              <a:t>, </a:t>
            </a:r>
            <a:r>
              <a:rPr lang="ko-KR" altLang="en-US" dirty="0"/>
              <a:t>제</a:t>
            </a:r>
            <a:r>
              <a:rPr lang="en-US" altLang="ko-KR" dirty="0"/>
              <a:t>56</a:t>
            </a:r>
            <a:r>
              <a:rPr lang="ko-KR" altLang="en-US" dirty="0"/>
              <a:t>조</a:t>
            </a:r>
          </a:p>
        </p:txBody>
      </p:sp>
      <p:sp>
        <p:nvSpPr>
          <p:cNvPr id="5" name="텍스트 개체 틀 4"/>
          <p:cNvSpPr>
            <a:spLocks noGrp="1"/>
          </p:cNvSpPr>
          <p:nvPr>
            <p:ph type="body" sz="quarter" idx="13"/>
          </p:nvPr>
        </p:nvSpPr>
        <p:spPr/>
        <p:txBody>
          <a:bodyPr/>
          <a:lstStyle/>
          <a:p>
            <a:r>
              <a:rPr lang="ko-KR" altLang="en-US" dirty="0" err="1"/>
              <a:t>국내우선권주장출원의</a:t>
            </a:r>
            <a:r>
              <a:rPr lang="ko-KR" altLang="en-US" dirty="0"/>
              <a:t> 확대된 </a:t>
            </a:r>
            <a:r>
              <a:rPr lang="ko-KR" altLang="en-US" dirty="0" err="1"/>
              <a:t>선출원</a:t>
            </a:r>
            <a:r>
              <a:rPr lang="en-US" altLang="ko-KR" dirty="0"/>
              <a:t>(</a:t>
            </a:r>
            <a:r>
              <a:rPr lang="ko-KR" altLang="en-US" dirty="0"/>
              <a:t>제</a:t>
            </a:r>
            <a:r>
              <a:rPr lang="en-US" altLang="ko-KR" dirty="0"/>
              <a:t>55</a:t>
            </a:r>
            <a:r>
              <a:rPr lang="ko-KR" altLang="en-US" dirty="0"/>
              <a:t>조제</a:t>
            </a:r>
            <a:r>
              <a:rPr lang="en-US" altLang="ko-KR" dirty="0"/>
              <a:t>4</a:t>
            </a:r>
            <a:r>
              <a:rPr lang="ko-KR" altLang="en-US" dirty="0"/>
              <a:t>항</a:t>
            </a:r>
            <a:r>
              <a:rPr lang="en-US" altLang="ko-KR" dirty="0"/>
              <a:t>)</a:t>
            </a:r>
            <a:endParaRPr lang="ko-KR" altLang="en-US" dirty="0"/>
          </a:p>
        </p:txBody>
      </p:sp>
      <p:cxnSp>
        <p:nvCxnSpPr>
          <p:cNvPr id="56" name="직선 연결선 55"/>
          <p:cNvCxnSpPr/>
          <p:nvPr/>
        </p:nvCxnSpPr>
        <p:spPr>
          <a:xfrm>
            <a:off x="0" y="283149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77875" y="986046"/>
            <a:ext cx="11936323" cy="1815882"/>
          </a:xfrm>
          <a:prstGeom prst="rect">
            <a:avLst/>
          </a:prstGeom>
          <a:noFill/>
        </p:spPr>
        <p:txBody>
          <a:bodyPr wrap="square" rtlCol="0">
            <a:spAutoFit/>
          </a:bodyPr>
          <a:lstStyle/>
          <a:p>
            <a:pPr fontAlgn="base"/>
            <a:r>
              <a:rPr lang="ko-KR" altLang="en-US" sz="1400" dirty="0">
                <a:solidFill>
                  <a:schemeClr val="tx2"/>
                </a:solidFill>
              </a:rPr>
              <a:t>국내우선권주장을 수반하는 특허출원</a:t>
            </a:r>
            <a:r>
              <a:rPr lang="en-US" altLang="ko-KR" sz="1400" dirty="0">
                <a:solidFill>
                  <a:schemeClr val="tx2"/>
                </a:solidFill>
              </a:rPr>
              <a:t>(</a:t>
            </a:r>
            <a:r>
              <a:rPr lang="ko-KR" altLang="en-US" sz="1400" dirty="0" err="1">
                <a:solidFill>
                  <a:schemeClr val="tx2"/>
                </a:solidFill>
              </a:rPr>
              <a:t>후특허출원</a:t>
            </a:r>
            <a:r>
              <a:rPr lang="en-US" altLang="ko-KR" sz="1400" dirty="0">
                <a:solidFill>
                  <a:schemeClr val="tx2"/>
                </a:solidFill>
              </a:rPr>
              <a:t>)</a:t>
            </a:r>
            <a:r>
              <a:rPr lang="ko-KR" altLang="en-US" sz="1400" dirty="0">
                <a:solidFill>
                  <a:schemeClr val="tx2"/>
                </a:solidFill>
              </a:rPr>
              <a:t>의 </a:t>
            </a:r>
            <a:r>
              <a:rPr lang="ko-KR" altLang="en-US" sz="1400" dirty="0" err="1">
                <a:solidFill>
                  <a:schemeClr val="tx2"/>
                </a:solidFill>
              </a:rPr>
              <a:t>출원서에</a:t>
            </a:r>
            <a:r>
              <a:rPr lang="ko-KR" altLang="en-US" sz="1400" dirty="0">
                <a:solidFill>
                  <a:schemeClr val="tx2"/>
                </a:solidFill>
              </a:rPr>
              <a:t> 최초로 첨부한 명세서 또는 도면에 기재된 발명 중 해당 우선권주장의 기초가 된 </a:t>
            </a:r>
            <a:r>
              <a:rPr lang="ko-KR" altLang="en-US" sz="1400" dirty="0" err="1">
                <a:solidFill>
                  <a:schemeClr val="tx2"/>
                </a:solidFill>
              </a:rPr>
              <a:t>선출원의</a:t>
            </a:r>
            <a:r>
              <a:rPr lang="ko-KR" altLang="en-US" sz="1400" dirty="0">
                <a:solidFill>
                  <a:schemeClr val="tx2"/>
                </a:solidFill>
              </a:rPr>
              <a:t> </a:t>
            </a:r>
            <a:r>
              <a:rPr lang="ko-KR" altLang="en-US" sz="1400" dirty="0" err="1">
                <a:solidFill>
                  <a:schemeClr val="tx2"/>
                </a:solidFill>
              </a:rPr>
              <a:t>출원서에</a:t>
            </a:r>
            <a:r>
              <a:rPr lang="ko-KR" altLang="en-US" sz="1400" dirty="0">
                <a:solidFill>
                  <a:schemeClr val="tx2"/>
                </a:solidFill>
              </a:rPr>
              <a:t> 최초로 첨부한 명세서 또는 도면에 기재된 발명은 </a:t>
            </a:r>
            <a:r>
              <a:rPr lang="ko-KR" altLang="en-US" sz="1400" dirty="0">
                <a:solidFill>
                  <a:schemeClr val="accent3">
                    <a:lumMod val="50000"/>
                  </a:schemeClr>
                </a:solidFill>
                <a:highlight>
                  <a:srgbClr val="FFFF00"/>
                </a:highlight>
              </a:rPr>
              <a:t>그 특허출원</a:t>
            </a:r>
            <a:r>
              <a:rPr lang="en-US" altLang="ko-KR" sz="1400" dirty="0">
                <a:solidFill>
                  <a:schemeClr val="accent3">
                    <a:lumMod val="50000"/>
                  </a:schemeClr>
                </a:solidFill>
                <a:highlight>
                  <a:srgbClr val="FFFF00"/>
                </a:highlight>
              </a:rPr>
              <a:t>(</a:t>
            </a:r>
            <a:r>
              <a:rPr lang="ko-KR" altLang="en-US" sz="1400" dirty="0" err="1">
                <a:solidFill>
                  <a:schemeClr val="accent3">
                    <a:lumMod val="50000"/>
                  </a:schemeClr>
                </a:solidFill>
                <a:highlight>
                  <a:srgbClr val="FFFF00"/>
                </a:highlight>
              </a:rPr>
              <a:t>후특허출원</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이 출원공개되거나 </a:t>
            </a:r>
            <a:r>
              <a:rPr lang="ko-KR" altLang="en-US" sz="1400" dirty="0" err="1">
                <a:solidFill>
                  <a:schemeClr val="accent3">
                    <a:lumMod val="50000"/>
                  </a:schemeClr>
                </a:solidFill>
                <a:highlight>
                  <a:srgbClr val="FFFF00"/>
                </a:highlight>
              </a:rPr>
              <a:t>등록공고된</a:t>
            </a:r>
            <a:r>
              <a:rPr lang="ko-KR" altLang="en-US" sz="1400" dirty="0">
                <a:solidFill>
                  <a:schemeClr val="accent3">
                    <a:lumMod val="50000"/>
                  </a:schemeClr>
                </a:solidFill>
                <a:highlight>
                  <a:srgbClr val="FFFF00"/>
                </a:highlight>
              </a:rPr>
              <a:t> 때에 그 선출원에 관하여 출원공개가 된 것으로 보고</a:t>
            </a:r>
            <a:r>
              <a:rPr lang="ko-KR" altLang="en-US" sz="1400" dirty="0">
                <a:solidFill>
                  <a:srgbClr val="FF0000"/>
                </a:solidFill>
              </a:rPr>
              <a:t> </a:t>
            </a:r>
            <a:r>
              <a:rPr lang="ko-KR" altLang="en-US" sz="1400" dirty="0">
                <a:solidFill>
                  <a:schemeClr val="tx2"/>
                </a:solidFill>
              </a:rPr>
              <a:t>확대된 </a:t>
            </a:r>
            <a:r>
              <a:rPr lang="ko-KR" altLang="en-US" sz="1400" dirty="0" err="1">
                <a:solidFill>
                  <a:schemeClr val="tx2"/>
                </a:solidFill>
              </a:rPr>
              <a:t>선출원</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29③④</a:t>
            </a:r>
            <a:r>
              <a:rPr lang="ko-KR" altLang="en-US" sz="1400" dirty="0">
                <a:solidFill>
                  <a:schemeClr val="tx2"/>
                </a:solidFill>
              </a:rPr>
              <a:t>각 호 외의 부분 본문 또는 實用 </a:t>
            </a:r>
            <a:r>
              <a:rPr lang="en-US" altLang="ko-KR" sz="1400" dirty="0">
                <a:solidFill>
                  <a:schemeClr val="tx2"/>
                </a:solidFill>
              </a:rPr>
              <a:t>4③</a:t>
            </a:r>
            <a:r>
              <a:rPr lang="ko-KR" altLang="en-US" sz="1400" dirty="0">
                <a:solidFill>
                  <a:schemeClr val="tx2"/>
                </a:solidFill>
              </a:rPr>
              <a:t>각 호 외의 부분 본문</a:t>
            </a:r>
            <a:r>
              <a:rPr lang="en-US" altLang="ko-KR" sz="1400" dirty="0">
                <a:solidFill>
                  <a:schemeClr val="tx2"/>
                </a:solidFill>
              </a:rPr>
              <a:t>)</a:t>
            </a:r>
            <a:r>
              <a:rPr lang="ko-KR" altLang="en-US" sz="1400" dirty="0">
                <a:solidFill>
                  <a:schemeClr val="tx2"/>
                </a:solidFill>
              </a:rPr>
              <a:t>의 규정을 적용한다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55④). </a:t>
            </a:r>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우선권주장을 수반하는 특허출원의 출원서에 최초로 첨부한 명세서 또는 도면에 기재된 발명 중 해당 우선권주장의 기초가 된 선출원의 출원서에 최초로 첨부한 명세서 또는 도면에 기재되지 아니한 발명은 </a:t>
            </a:r>
            <a:r>
              <a:rPr lang="ko-KR" altLang="en-US" sz="1400" dirty="0" err="1">
                <a:solidFill>
                  <a:schemeClr val="tx2"/>
                </a:solidFill>
              </a:rPr>
              <a:t>우선권주장출원일의</a:t>
            </a:r>
            <a:r>
              <a:rPr lang="ko-KR" altLang="en-US" sz="1400" dirty="0">
                <a:solidFill>
                  <a:schemeClr val="tx2"/>
                </a:solidFill>
              </a:rPr>
              <a:t> 다음날로부터 우선권주장출원의 출원공개 또는 등록공고 전에 출원된 제</a:t>
            </a:r>
            <a:r>
              <a:rPr lang="en-US" altLang="ko-KR" sz="1400" dirty="0">
                <a:solidFill>
                  <a:schemeClr val="tx2"/>
                </a:solidFill>
              </a:rPr>
              <a:t>3</a:t>
            </a:r>
            <a:r>
              <a:rPr lang="ko-KR" altLang="en-US" sz="1400" dirty="0">
                <a:solidFill>
                  <a:schemeClr val="tx2"/>
                </a:solidFill>
              </a:rPr>
              <a:t>자의 발명에 대하여 확대된 선출원을 적용한다</a:t>
            </a:r>
            <a:r>
              <a:rPr lang="en-US" altLang="ko-KR" sz="1400" dirty="0">
                <a:solidFill>
                  <a:schemeClr val="tx2"/>
                </a:solidFill>
              </a:rPr>
              <a:t>. </a:t>
            </a:r>
            <a:r>
              <a:rPr lang="ko-KR" altLang="en-US" sz="1400" dirty="0">
                <a:solidFill>
                  <a:schemeClr val="tx2"/>
                </a:solidFill>
              </a:rPr>
              <a:t>국내우선권주장출원의 </a:t>
            </a:r>
            <a:r>
              <a:rPr lang="ko-KR" altLang="en-US" sz="1400" dirty="0" err="1">
                <a:solidFill>
                  <a:schemeClr val="tx2"/>
                </a:solidFill>
              </a:rPr>
              <a:t>선출원은</a:t>
            </a:r>
            <a:r>
              <a:rPr lang="ko-KR" altLang="en-US" sz="1400" dirty="0">
                <a:solidFill>
                  <a:schemeClr val="tx2"/>
                </a:solidFill>
              </a:rPr>
              <a:t> 그 출원일로부터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3</a:t>
            </a:r>
            <a:r>
              <a:rPr lang="ko-KR" altLang="en-US" sz="1400" dirty="0">
                <a:solidFill>
                  <a:schemeClr val="tx2"/>
                </a:solidFill>
              </a:rPr>
              <a:t>개월을 지난 때에 일반적으로 출원공개되지 않고 취하간주되기 때문에 </a:t>
            </a:r>
            <a:r>
              <a:rPr lang="ko-KR" altLang="en-US" sz="1400" dirty="0" err="1">
                <a:solidFill>
                  <a:schemeClr val="tx2"/>
                </a:solidFill>
              </a:rPr>
              <a:t>선출원의</a:t>
            </a:r>
            <a:r>
              <a:rPr lang="ko-KR" altLang="en-US" sz="1400" dirty="0">
                <a:solidFill>
                  <a:schemeClr val="tx2"/>
                </a:solidFill>
              </a:rPr>
              <a:t> 지위</a:t>
            </a:r>
            <a:r>
              <a:rPr lang="en-US" altLang="ko-KR" sz="1400" dirty="0">
                <a:solidFill>
                  <a:schemeClr val="tx2"/>
                </a:solidFill>
              </a:rPr>
              <a:t>, </a:t>
            </a:r>
            <a:r>
              <a:rPr lang="ko-KR" altLang="en-US" sz="1400" dirty="0">
                <a:solidFill>
                  <a:schemeClr val="tx2"/>
                </a:solidFill>
              </a:rPr>
              <a:t>확대된 </a:t>
            </a:r>
            <a:r>
              <a:rPr lang="ko-KR" altLang="en-US" sz="1400" dirty="0" err="1">
                <a:solidFill>
                  <a:schemeClr val="tx2"/>
                </a:solidFill>
              </a:rPr>
              <a:t>선출원의</a:t>
            </a:r>
            <a:r>
              <a:rPr lang="ko-KR" altLang="en-US" sz="1400" dirty="0">
                <a:solidFill>
                  <a:schemeClr val="tx2"/>
                </a:solidFill>
              </a:rPr>
              <a:t> 지위가 인정되지 아니한다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err="1">
                <a:solidFill>
                  <a:schemeClr val="tx2"/>
                </a:solidFill>
              </a:rPr>
              <a:t>후출원이</a:t>
            </a:r>
            <a:r>
              <a:rPr lang="ko-KR" altLang="en-US" sz="1400" dirty="0">
                <a:solidFill>
                  <a:schemeClr val="tx2"/>
                </a:solidFill>
              </a:rPr>
              <a:t> </a:t>
            </a:r>
            <a:r>
              <a:rPr lang="ko-KR" altLang="en-US" sz="1400" dirty="0" err="1">
                <a:solidFill>
                  <a:schemeClr val="tx2"/>
                </a:solidFill>
              </a:rPr>
              <a:t>출원공개</a:t>
            </a:r>
            <a:r>
              <a:rPr lang="ko-KR" altLang="en-US" sz="1400" dirty="0">
                <a:solidFill>
                  <a:schemeClr val="tx2"/>
                </a:solidFill>
              </a:rPr>
              <a:t> 또는 </a:t>
            </a:r>
            <a:r>
              <a:rPr lang="ko-KR" altLang="en-US" sz="1400" dirty="0" err="1">
                <a:solidFill>
                  <a:schemeClr val="tx2"/>
                </a:solidFill>
              </a:rPr>
              <a:t>설정등록된</a:t>
            </a:r>
            <a:r>
              <a:rPr lang="ko-KR" altLang="en-US" sz="1400" dirty="0">
                <a:solidFill>
                  <a:schemeClr val="tx2"/>
                </a:solidFill>
              </a:rPr>
              <a:t> 때에는 국내우선권주장출원의 적법성을 판단하기 위해서 </a:t>
            </a:r>
            <a:r>
              <a:rPr lang="ko-KR" altLang="en-US" sz="1400" dirty="0" err="1">
                <a:solidFill>
                  <a:schemeClr val="tx2"/>
                </a:solidFill>
              </a:rPr>
              <a:t>선출원의</a:t>
            </a:r>
            <a:r>
              <a:rPr lang="ko-KR" altLang="en-US" sz="1400" dirty="0">
                <a:solidFill>
                  <a:schemeClr val="tx2"/>
                </a:solidFill>
              </a:rPr>
              <a:t> 열람을 허가하고 있기 때문에</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216) </a:t>
            </a:r>
            <a:r>
              <a:rPr lang="ko-KR" altLang="en-US" sz="1400" dirty="0" err="1">
                <a:solidFill>
                  <a:schemeClr val="tx2"/>
                </a:solidFill>
              </a:rPr>
              <a:t>선출원의</a:t>
            </a:r>
            <a:r>
              <a:rPr lang="ko-KR" altLang="en-US" sz="1400" dirty="0">
                <a:solidFill>
                  <a:schemeClr val="tx2"/>
                </a:solidFill>
              </a:rPr>
              <a:t> 최초 명세서 또는 도면에 기재된 발명의 </a:t>
            </a:r>
            <a:r>
              <a:rPr lang="ko-KR" altLang="en-US" sz="1400" dirty="0" err="1">
                <a:solidFill>
                  <a:schemeClr val="tx2"/>
                </a:solidFill>
              </a:rPr>
              <a:t>공지기술의</a:t>
            </a:r>
            <a:r>
              <a:rPr lang="ko-KR" altLang="en-US" sz="1400" dirty="0">
                <a:solidFill>
                  <a:schemeClr val="tx2"/>
                </a:solidFill>
              </a:rPr>
              <a:t> 지위가 인정된다</a:t>
            </a:r>
            <a:r>
              <a:rPr lang="en-US" altLang="ko-KR" sz="1400" dirty="0">
                <a:solidFill>
                  <a:schemeClr val="tx2"/>
                </a:solidFill>
              </a:rPr>
              <a:t>.</a:t>
            </a:r>
            <a:endParaRPr lang="ko-KR" altLang="en-US" sz="1400" dirty="0">
              <a:solidFill>
                <a:schemeClr val="tx2"/>
              </a:solidFill>
            </a:endParaRPr>
          </a:p>
        </p:txBody>
      </p:sp>
      <p:grpSp>
        <p:nvGrpSpPr>
          <p:cNvPr id="6" name="그룹 5">
            <a:extLst>
              <a:ext uri="{FF2B5EF4-FFF2-40B4-BE49-F238E27FC236}">
                <a16:creationId xmlns:a16="http://schemas.microsoft.com/office/drawing/2014/main" id="{A182E911-68F2-201B-E0E6-CA1DC3A64E26}"/>
              </a:ext>
            </a:extLst>
          </p:cNvPr>
          <p:cNvGrpSpPr/>
          <p:nvPr/>
        </p:nvGrpSpPr>
        <p:grpSpPr>
          <a:xfrm>
            <a:off x="389467" y="3115127"/>
            <a:ext cx="11791482" cy="3664567"/>
            <a:chOff x="389467" y="2744411"/>
            <a:chExt cx="11791482" cy="4035284"/>
          </a:xfrm>
        </p:grpSpPr>
        <p:cxnSp>
          <p:nvCxnSpPr>
            <p:cNvPr id="77" name="직선 연결선 76"/>
            <p:cNvCxnSpPr/>
            <p:nvPr/>
          </p:nvCxnSpPr>
          <p:spPr>
            <a:xfrm flipV="1">
              <a:off x="4874987" y="3995767"/>
              <a:ext cx="0" cy="1019887"/>
            </a:xfrm>
            <a:prstGeom prst="line">
              <a:avLst/>
            </a:prstGeom>
            <a:ln w="2857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8" name="타원 67"/>
            <p:cNvSpPr/>
            <p:nvPr/>
          </p:nvSpPr>
          <p:spPr>
            <a:xfrm>
              <a:off x="2155607" y="5882655"/>
              <a:ext cx="533473" cy="897040"/>
            </a:xfrm>
            <a:prstGeom prst="ellipse">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TextBox 68"/>
            <p:cNvSpPr txBox="1"/>
            <p:nvPr/>
          </p:nvSpPr>
          <p:spPr>
            <a:xfrm>
              <a:off x="2246655" y="5025369"/>
              <a:ext cx="351378" cy="1754326"/>
            </a:xfrm>
            <a:prstGeom prst="rect">
              <a:avLst/>
            </a:prstGeom>
            <a:noFill/>
          </p:spPr>
          <p:txBody>
            <a:bodyPr wrap="none" rtlCol="0">
              <a:spAutoFit/>
            </a:bodyPr>
            <a:lstStyle/>
            <a:p>
              <a:pPr>
                <a:lnSpc>
                  <a:spcPct val="150000"/>
                </a:lnSpc>
              </a:pPr>
              <a:r>
                <a:rPr lang="en-US" altLang="ko-KR" dirty="0"/>
                <a:t>A</a:t>
              </a:r>
            </a:p>
            <a:p>
              <a:pPr>
                <a:lnSpc>
                  <a:spcPct val="150000"/>
                </a:lnSpc>
              </a:pPr>
              <a:r>
                <a:rPr lang="en-US" altLang="ko-KR" dirty="0"/>
                <a:t>B</a:t>
              </a:r>
            </a:p>
            <a:p>
              <a:pPr>
                <a:lnSpc>
                  <a:spcPct val="150000"/>
                </a:lnSpc>
              </a:pPr>
              <a:r>
                <a:rPr lang="en-US" altLang="ko-KR" dirty="0"/>
                <a:t>C</a:t>
              </a:r>
            </a:p>
            <a:p>
              <a:pPr>
                <a:lnSpc>
                  <a:spcPct val="150000"/>
                </a:lnSpc>
              </a:pPr>
              <a:r>
                <a:rPr lang="en-US" altLang="ko-KR" dirty="0"/>
                <a:t>D</a:t>
              </a:r>
              <a:endParaRPr lang="ko-KR" altLang="en-US" dirty="0"/>
            </a:p>
          </p:txBody>
        </p:sp>
        <p:sp>
          <p:nvSpPr>
            <p:cNvPr id="60" name="양쪽 모서리가 둥근 사각형 59"/>
            <p:cNvSpPr/>
            <p:nvPr/>
          </p:nvSpPr>
          <p:spPr>
            <a:xfrm rot="10800000">
              <a:off x="3108305" y="3988147"/>
              <a:ext cx="9014692" cy="421196"/>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양쪽 모서리가 둥근 사각형 58"/>
            <p:cNvSpPr/>
            <p:nvPr/>
          </p:nvSpPr>
          <p:spPr>
            <a:xfrm rot="10800000">
              <a:off x="593800" y="3995767"/>
              <a:ext cx="11529197" cy="764522"/>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2" name="직선 연결선 101"/>
            <p:cNvCxnSpPr/>
            <p:nvPr/>
          </p:nvCxnSpPr>
          <p:spPr>
            <a:xfrm>
              <a:off x="389467" y="3987916"/>
              <a:ext cx="1114735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직사각형 113"/>
            <p:cNvSpPr/>
            <p:nvPr/>
          </p:nvSpPr>
          <p:spPr>
            <a:xfrm>
              <a:off x="593659" y="2755591"/>
              <a:ext cx="1111099" cy="189244"/>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115" name="직사각형 114"/>
            <p:cNvSpPr/>
            <p:nvPr/>
          </p:nvSpPr>
          <p:spPr>
            <a:xfrm>
              <a:off x="593659" y="2944835"/>
              <a:ext cx="1111099" cy="189244"/>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D</a:t>
              </a:r>
              <a:endParaRPr lang="ko-KR" altLang="en-US" sz="1100" dirty="0">
                <a:solidFill>
                  <a:schemeClr val="tx1"/>
                </a:solidFill>
              </a:endParaRPr>
            </a:p>
          </p:txBody>
        </p:sp>
        <p:sp>
          <p:nvSpPr>
            <p:cNvPr id="116" name="직사각형 115"/>
            <p:cNvSpPr/>
            <p:nvPr/>
          </p:nvSpPr>
          <p:spPr>
            <a:xfrm>
              <a:off x="3108306" y="2755591"/>
              <a:ext cx="1111923" cy="189244"/>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C</a:t>
              </a:r>
              <a:endParaRPr lang="ko-KR" altLang="en-US" sz="1100" dirty="0">
                <a:solidFill>
                  <a:schemeClr val="tx1"/>
                </a:solidFill>
              </a:endParaRPr>
            </a:p>
          </p:txBody>
        </p:sp>
        <p:sp>
          <p:nvSpPr>
            <p:cNvPr id="117" name="직사각형 116"/>
            <p:cNvSpPr/>
            <p:nvPr/>
          </p:nvSpPr>
          <p:spPr>
            <a:xfrm>
              <a:off x="3108306" y="2944835"/>
              <a:ext cx="1111923" cy="189244"/>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cxnSp>
          <p:nvCxnSpPr>
            <p:cNvPr id="3" name="직선 연결선 2"/>
            <p:cNvCxnSpPr>
              <a:stCxn id="115" idx="2"/>
              <a:endCxn id="106" idx="0"/>
            </p:cNvCxnSpPr>
            <p:nvPr/>
          </p:nvCxnSpPr>
          <p:spPr>
            <a:xfrm flipH="1">
              <a:off x="1149208" y="3134078"/>
              <a:ext cx="1" cy="75627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2" name="직선 연결선 51"/>
            <p:cNvCxnSpPr>
              <a:stCxn id="117" idx="2"/>
              <a:endCxn id="107" idx="0"/>
            </p:cNvCxnSpPr>
            <p:nvPr/>
          </p:nvCxnSpPr>
          <p:spPr>
            <a:xfrm flipH="1">
              <a:off x="3663856" y="3134078"/>
              <a:ext cx="412" cy="77151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 name="양쪽 모서리가 둥근 사각형 7"/>
            <p:cNvSpPr/>
            <p:nvPr/>
          </p:nvSpPr>
          <p:spPr>
            <a:xfrm>
              <a:off x="1704758" y="3223395"/>
              <a:ext cx="6815399" cy="764522"/>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양쪽 모서리가 둥근 사각형 56"/>
            <p:cNvSpPr/>
            <p:nvPr/>
          </p:nvSpPr>
          <p:spPr>
            <a:xfrm>
              <a:off x="4219405" y="3573034"/>
              <a:ext cx="4300752" cy="414884"/>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양쪽 모서리가 둥근 사각형 57"/>
            <p:cNvSpPr/>
            <p:nvPr/>
          </p:nvSpPr>
          <p:spPr>
            <a:xfrm>
              <a:off x="8520158" y="3223395"/>
              <a:ext cx="3602840" cy="764522"/>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 name="직사각형 105"/>
            <p:cNvSpPr/>
            <p:nvPr/>
          </p:nvSpPr>
          <p:spPr>
            <a:xfrm>
              <a:off x="593658" y="3890350"/>
              <a:ext cx="1111100" cy="18031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한국출원</a:t>
              </a:r>
              <a:r>
                <a:rPr lang="en-US" altLang="ko-KR" sz="1000" dirty="0">
                  <a:solidFill>
                    <a:schemeClr val="tx1"/>
                  </a:solidFill>
                </a:rPr>
                <a:t>(X)</a:t>
              </a:r>
              <a:endParaRPr lang="ko-KR" altLang="en-US" sz="1000" dirty="0">
                <a:solidFill>
                  <a:schemeClr val="tx1"/>
                </a:solidFill>
              </a:endParaRPr>
            </a:p>
          </p:txBody>
        </p:sp>
        <p:sp>
          <p:nvSpPr>
            <p:cNvPr id="107" name="직사각형 106"/>
            <p:cNvSpPr/>
            <p:nvPr/>
          </p:nvSpPr>
          <p:spPr>
            <a:xfrm>
              <a:off x="3108306" y="3905591"/>
              <a:ext cx="1111100" cy="18031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(Y)</a:t>
              </a:r>
              <a:endParaRPr lang="ko-KR" altLang="en-US" sz="1000" dirty="0">
                <a:solidFill>
                  <a:schemeClr val="tx1"/>
                </a:solidFill>
              </a:endParaRPr>
            </a:p>
          </p:txBody>
        </p:sp>
        <p:sp>
          <p:nvSpPr>
            <p:cNvPr id="110" name="직사각형 109"/>
            <p:cNvSpPr/>
            <p:nvPr/>
          </p:nvSpPr>
          <p:spPr>
            <a:xfrm>
              <a:off x="3108306" y="4077234"/>
              <a:ext cx="1111100" cy="18031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기초 우선권주장</a:t>
              </a:r>
            </a:p>
          </p:txBody>
        </p:sp>
        <p:sp>
          <p:nvSpPr>
            <p:cNvPr id="168" name="직사각형 167"/>
            <p:cNvSpPr/>
            <p:nvPr/>
          </p:nvSpPr>
          <p:spPr>
            <a:xfrm>
              <a:off x="5706055" y="3912427"/>
              <a:ext cx="1111100" cy="18031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취하</a:t>
              </a:r>
              <a:r>
                <a:rPr lang="en-US" altLang="ko-KR" sz="1000" dirty="0">
                  <a:solidFill>
                    <a:schemeClr val="tx1"/>
                  </a:solidFill>
                </a:rPr>
                <a:t>(X)</a:t>
              </a:r>
              <a:endParaRPr lang="ko-KR" altLang="en-US" sz="1000" dirty="0">
                <a:solidFill>
                  <a:schemeClr val="tx1"/>
                </a:solidFill>
              </a:endParaRPr>
            </a:p>
          </p:txBody>
        </p:sp>
        <p:sp>
          <p:nvSpPr>
            <p:cNvPr id="172" name="직사각형 171"/>
            <p:cNvSpPr/>
            <p:nvPr/>
          </p:nvSpPr>
          <p:spPr>
            <a:xfrm>
              <a:off x="7864976" y="3905590"/>
              <a:ext cx="1111100" cy="18031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공개</a:t>
              </a:r>
              <a:r>
                <a:rPr lang="en-US" altLang="ko-KR" sz="1000" dirty="0">
                  <a:solidFill>
                    <a:schemeClr val="tx1"/>
                  </a:solidFill>
                </a:rPr>
                <a:t>(Y)</a:t>
              </a:r>
              <a:endParaRPr lang="ko-KR" altLang="en-US" sz="1000" dirty="0">
                <a:solidFill>
                  <a:schemeClr val="tx1"/>
                </a:solidFill>
              </a:endParaRPr>
            </a:p>
          </p:txBody>
        </p:sp>
        <p:sp>
          <p:nvSpPr>
            <p:cNvPr id="61" name="직사각형 60"/>
            <p:cNvSpPr/>
            <p:nvPr/>
          </p:nvSpPr>
          <p:spPr>
            <a:xfrm>
              <a:off x="4425564" y="3387487"/>
              <a:ext cx="3885735" cy="1892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Y</a:t>
              </a:r>
              <a:r>
                <a:rPr lang="ko-KR" altLang="en-US" sz="1100" dirty="0">
                  <a:solidFill>
                    <a:schemeClr val="tx1"/>
                  </a:solidFill>
                </a:rPr>
                <a:t>의 </a:t>
              </a:r>
              <a:r>
                <a:rPr lang="ko-KR" altLang="en-US" sz="1100" dirty="0" err="1">
                  <a:solidFill>
                    <a:schemeClr val="tx1"/>
                  </a:solidFill>
                </a:rPr>
                <a:t>최명도에</a:t>
              </a:r>
              <a:r>
                <a:rPr lang="ko-KR" altLang="en-US" sz="1100" dirty="0">
                  <a:solidFill>
                    <a:schemeClr val="tx1"/>
                  </a:solidFill>
                </a:rPr>
                <a:t> 기재된 발명 中 </a:t>
              </a:r>
              <a:r>
                <a:rPr lang="en-US" altLang="ko-KR" sz="1100" dirty="0">
                  <a:solidFill>
                    <a:schemeClr val="tx1"/>
                  </a:solidFill>
                </a:rPr>
                <a:t>X</a:t>
              </a:r>
              <a:r>
                <a:rPr lang="ko-KR" altLang="en-US" sz="1100" dirty="0">
                  <a:solidFill>
                    <a:schemeClr val="tx1"/>
                  </a:solidFill>
                </a:rPr>
                <a:t>의 </a:t>
              </a:r>
              <a:r>
                <a:rPr lang="ko-KR" altLang="en-US" sz="1100" dirty="0" err="1">
                  <a:solidFill>
                    <a:schemeClr val="tx1"/>
                  </a:solidFill>
                </a:rPr>
                <a:t>최명도에</a:t>
              </a:r>
              <a:r>
                <a:rPr lang="ko-KR" altLang="en-US" sz="1100" dirty="0">
                  <a:solidFill>
                    <a:schemeClr val="tx1"/>
                  </a:solidFill>
                </a:rPr>
                <a:t> 기재되지 않은 발명</a:t>
              </a:r>
              <a:r>
                <a:rPr lang="en-US" altLang="ko-KR" sz="1100" dirty="0">
                  <a:solidFill>
                    <a:schemeClr val="tx1"/>
                  </a:solidFill>
                </a:rPr>
                <a:t>(C)</a:t>
              </a:r>
              <a:endParaRPr lang="ko-KR" altLang="en-US" sz="1100" dirty="0">
                <a:solidFill>
                  <a:schemeClr val="tx1"/>
                </a:solidFill>
              </a:endParaRPr>
            </a:p>
          </p:txBody>
        </p:sp>
        <p:sp>
          <p:nvSpPr>
            <p:cNvPr id="62" name="직사각형 61"/>
            <p:cNvSpPr/>
            <p:nvPr/>
          </p:nvSpPr>
          <p:spPr>
            <a:xfrm>
              <a:off x="4289714" y="3045771"/>
              <a:ext cx="4172493" cy="1892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Y</a:t>
              </a:r>
              <a:r>
                <a:rPr lang="ko-KR" altLang="en-US" sz="1100" dirty="0">
                  <a:solidFill>
                    <a:schemeClr val="tx1"/>
                  </a:solidFill>
                </a:rPr>
                <a:t>의 </a:t>
              </a:r>
              <a:r>
                <a:rPr lang="ko-KR" altLang="en-US" sz="1100" dirty="0" err="1">
                  <a:solidFill>
                    <a:schemeClr val="tx1"/>
                  </a:solidFill>
                </a:rPr>
                <a:t>최명도에</a:t>
              </a:r>
              <a:r>
                <a:rPr lang="ko-KR" altLang="en-US" sz="1100" dirty="0">
                  <a:solidFill>
                    <a:schemeClr val="tx1"/>
                  </a:solidFill>
                </a:rPr>
                <a:t> 기재된 발명 中 </a:t>
              </a:r>
              <a:r>
                <a:rPr lang="en-US" altLang="ko-KR" sz="1100" dirty="0">
                  <a:solidFill>
                    <a:schemeClr val="tx1"/>
                  </a:solidFill>
                </a:rPr>
                <a:t>X</a:t>
              </a:r>
              <a:r>
                <a:rPr lang="ko-KR" altLang="en-US" sz="1100" dirty="0">
                  <a:solidFill>
                    <a:schemeClr val="tx1"/>
                  </a:solidFill>
                </a:rPr>
                <a:t>의 </a:t>
              </a:r>
              <a:r>
                <a:rPr lang="ko-KR" altLang="en-US" sz="1100" dirty="0" err="1">
                  <a:solidFill>
                    <a:schemeClr val="tx1"/>
                  </a:solidFill>
                </a:rPr>
                <a:t>최명도에</a:t>
              </a:r>
              <a:r>
                <a:rPr lang="ko-KR" altLang="en-US" sz="1100" dirty="0">
                  <a:solidFill>
                    <a:schemeClr val="tx1"/>
                  </a:solidFill>
                </a:rPr>
                <a:t> 기재된 발명</a:t>
              </a:r>
              <a:r>
                <a:rPr lang="en-US" altLang="ko-KR" sz="1100" dirty="0">
                  <a:solidFill>
                    <a:schemeClr val="tx1"/>
                  </a:solidFill>
                </a:rPr>
                <a:t>(A, B)</a:t>
              </a:r>
              <a:endParaRPr lang="ko-KR" altLang="en-US" sz="1100" dirty="0">
                <a:solidFill>
                  <a:schemeClr val="tx1"/>
                </a:solidFill>
              </a:endParaRPr>
            </a:p>
          </p:txBody>
        </p:sp>
        <p:sp>
          <p:nvSpPr>
            <p:cNvPr id="63" name="직사각형 62"/>
            <p:cNvSpPr/>
            <p:nvPr/>
          </p:nvSpPr>
          <p:spPr>
            <a:xfrm>
              <a:off x="8273879" y="3029522"/>
              <a:ext cx="3760423" cy="1892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X</a:t>
              </a:r>
              <a:r>
                <a:rPr lang="ko-KR" altLang="en-US" sz="1100" dirty="0">
                  <a:solidFill>
                    <a:schemeClr val="tx1"/>
                  </a:solidFill>
                </a:rPr>
                <a:t>의 </a:t>
              </a:r>
              <a:r>
                <a:rPr lang="ko-KR" altLang="en-US" sz="1100" dirty="0" err="1">
                  <a:solidFill>
                    <a:schemeClr val="tx1"/>
                  </a:solidFill>
                </a:rPr>
                <a:t>최명도에</a:t>
              </a:r>
              <a:r>
                <a:rPr lang="ko-KR" altLang="en-US" sz="1100" dirty="0">
                  <a:solidFill>
                    <a:schemeClr val="tx1"/>
                  </a:solidFill>
                </a:rPr>
                <a:t> 기재된 발명</a:t>
              </a:r>
              <a:r>
                <a:rPr lang="en-US" altLang="ko-KR" sz="1100" dirty="0">
                  <a:solidFill>
                    <a:schemeClr val="tx1"/>
                  </a:solidFill>
                </a:rPr>
                <a:t>(A, B, D): </a:t>
              </a:r>
              <a:r>
                <a:rPr lang="ko-KR" altLang="en-US" sz="1100" dirty="0">
                  <a:solidFill>
                    <a:srgbClr val="FF0000"/>
                  </a:solidFill>
                </a:rPr>
                <a:t>제</a:t>
              </a:r>
              <a:r>
                <a:rPr lang="en-US" altLang="ko-KR" sz="1100" dirty="0">
                  <a:solidFill>
                    <a:srgbClr val="FF0000"/>
                  </a:solidFill>
                </a:rPr>
                <a:t>216</a:t>
              </a:r>
              <a:r>
                <a:rPr lang="ko-KR" altLang="en-US" sz="1100" dirty="0">
                  <a:solidFill>
                    <a:srgbClr val="FF0000"/>
                  </a:solidFill>
                </a:rPr>
                <a:t>조</a:t>
              </a:r>
              <a:endParaRPr lang="en-US" altLang="ko-KR" sz="1100" dirty="0">
                <a:solidFill>
                  <a:srgbClr val="FF0000"/>
                </a:solidFill>
              </a:endParaRPr>
            </a:p>
          </p:txBody>
        </p:sp>
        <p:sp>
          <p:nvSpPr>
            <p:cNvPr id="64" name="직사각형 63"/>
            <p:cNvSpPr/>
            <p:nvPr/>
          </p:nvSpPr>
          <p:spPr>
            <a:xfrm>
              <a:off x="8420526" y="3235068"/>
              <a:ext cx="3760423" cy="1892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Y</a:t>
              </a:r>
              <a:r>
                <a:rPr lang="ko-KR" altLang="en-US" sz="1100" dirty="0">
                  <a:solidFill>
                    <a:schemeClr val="tx1"/>
                  </a:solidFill>
                </a:rPr>
                <a:t>의 </a:t>
              </a:r>
              <a:r>
                <a:rPr lang="ko-KR" altLang="en-US" sz="1100" dirty="0" err="1">
                  <a:solidFill>
                    <a:schemeClr val="tx1"/>
                  </a:solidFill>
                </a:rPr>
                <a:t>최명도에</a:t>
              </a:r>
              <a:r>
                <a:rPr lang="ko-KR" altLang="en-US" sz="1100" dirty="0">
                  <a:solidFill>
                    <a:schemeClr val="tx1"/>
                  </a:solidFill>
                </a:rPr>
                <a:t> 기재된 발명</a:t>
              </a:r>
              <a:r>
                <a:rPr lang="en-US" altLang="ko-KR" sz="1100" dirty="0">
                  <a:solidFill>
                    <a:schemeClr val="tx1"/>
                  </a:solidFill>
                </a:rPr>
                <a:t>(A, B, C)</a:t>
              </a:r>
            </a:p>
          </p:txBody>
        </p:sp>
        <p:sp>
          <p:nvSpPr>
            <p:cNvPr id="65" name="직사각형 64"/>
            <p:cNvSpPr/>
            <p:nvPr/>
          </p:nvSpPr>
          <p:spPr>
            <a:xfrm>
              <a:off x="4791043" y="4227721"/>
              <a:ext cx="4185033" cy="1892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Y</a:t>
              </a:r>
              <a:r>
                <a:rPr lang="ko-KR" altLang="en-US" sz="1100" dirty="0">
                  <a:solidFill>
                    <a:schemeClr val="tx1"/>
                  </a:solidFill>
                </a:rPr>
                <a:t>의 </a:t>
              </a:r>
              <a:r>
                <a:rPr lang="ko-KR" altLang="en-US" sz="1100" dirty="0" err="1">
                  <a:solidFill>
                    <a:schemeClr val="tx1"/>
                  </a:solidFill>
                </a:rPr>
                <a:t>청구범위에</a:t>
              </a:r>
              <a:r>
                <a:rPr lang="ko-KR" altLang="en-US" sz="1100" dirty="0">
                  <a:solidFill>
                    <a:schemeClr val="tx1"/>
                  </a:solidFill>
                </a:rPr>
                <a:t> 기재된 발명 中 </a:t>
              </a:r>
              <a:r>
                <a:rPr lang="en-US" altLang="ko-KR" sz="1100" dirty="0">
                  <a:solidFill>
                    <a:schemeClr val="tx1"/>
                  </a:solidFill>
                </a:rPr>
                <a:t>X</a:t>
              </a:r>
              <a:r>
                <a:rPr lang="ko-KR" altLang="en-US" sz="1100" dirty="0">
                  <a:solidFill>
                    <a:schemeClr val="tx1"/>
                  </a:solidFill>
                </a:rPr>
                <a:t>의 </a:t>
              </a:r>
              <a:r>
                <a:rPr lang="ko-KR" altLang="en-US" sz="1100" dirty="0" err="1">
                  <a:solidFill>
                    <a:schemeClr val="tx1"/>
                  </a:solidFill>
                </a:rPr>
                <a:t>최명도에</a:t>
              </a:r>
              <a:r>
                <a:rPr lang="ko-KR" altLang="en-US" sz="1100" dirty="0">
                  <a:solidFill>
                    <a:schemeClr val="tx1"/>
                  </a:solidFill>
                </a:rPr>
                <a:t> 기재되지 않은 발명</a:t>
              </a:r>
              <a:r>
                <a:rPr lang="en-US" altLang="ko-KR" sz="1100" dirty="0">
                  <a:solidFill>
                    <a:schemeClr val="tx1"/>
                  </a:solidFill>
                </a:rPr>
                <a:t>(C)</a:t>
              </a:r>
              <a:endParaRPr lang="ko-KR" altLang="en-US" sz="1100" dirty="0">
                <a:solidFill>
                  <a:schemeClr val="tx1"/>
                </a:solidFill>
              </a:endParaRPr>
            </a:p>
          </p:txBody>
        </p:sp>
        <p:sp>
          <p:nvSpPr>
            <p:cNvPr id="66" name="직사각형 65"/>
            <p:cNvSpPr/>
            <p:nvPr/>
          </p:nvSpPr>
          <p:spPr>
            <a:xfrm>
              <a:off x="4169088" y="4571047"/>
              <a:ext cx="4185033" cy="1892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Y</a:t>
              </a:r>
              <a:r>
                <a:rPr lang="ko-KR" altLang="en-US" sz="1100" dirty="0">
                  <a:solidFill>
                    <a:schemeClr val="tx1"/>
                  </a:solidFill>
                </a:rPr>
                <a:t>의 </a:t>
              </a:r>
              <a:r>
                <a:rPr lang="ko-KR" altLang="en-US" sz="1100" dirty="0" err="1">
                  <a:solidFill>
                    <a:schemeClr val="tx1"/>
                  </a:solidFill>
                </a:rPr>
                <a:t>청구범위에</a:t>
              </a:r>
              <a:r>
                <a:rPr lang="ko-KR" altLang="en-US" sz="1100" dirty="0">
                  <a:solidFill>
                    <a:schemeClr val="tx1"/>
                  </a:solidFill>
                </a:rPr>
                <a:t> 기재된 발명 中 </a:t>
              </a:r>
              <a:r>
                <a:rPr lang="en-US" altLang="ko-KR" sz="1100" dirty="0">
                  <a:solidFill>
                    <a:schemeClr val="tx1"/>
                  </a:solidFill>
                </a:rPr>
                <a:t>X</a:t>
              </a:r>
              <a:r>
                <a:rPr lang="ko-KR" altLang="en-US" sz="1100" dirty="0">
                  <a:solidFill>
                    <a:schemeClr val="tx1"/>
                  </a:solidFill>
                </a:rPr>
                <a:t>의 </a:t>
              </a:r>
              <a:r>
                <a:rPr lang="ko-KR" altLang="en-US" sz="1100" dirty="0" err="1">
                  <a:solidFill>
                    <a:schemeClr val="tx1"/>
                  </a:solidFill>
                </a:rPr>
                <a:t>최명도에</a:t>
              </a:r>
              <a:r>
                <a:rPr lang="ko-KR" altLang="en-US" sz="1100" dirty="0">
                  <a:solidFill>
                    <a:schemeClr val="tx1"/>
                  </a:solidFill>
                </a:rPr>
                <a:t> 기재된 발명</a:t>
              </a:r>
              <a:r>
                <a:rPr lang="en-US" altLang="ko-KR" sz="1100" dirty="0">
                  <a:solidFill>
                    <a:schemeClr val="tx1"/>
                  </a:solidFill>
                </a:rPr>
                <a:t>(A)</a:t>
              </a:r>
              <a:endParaRPr lang="ko-KR" altLang="en-US" sz="1100" dirty="0">
                <a:solidFill>
                  <a:schemeClr val="tx1"/>
                </a:solidFill>
              </a:endParaRPr>
            </a:p>
          </p:txBody>
        </p:sp>
        <p:sp>
          <p:nvSpPr>
            <p:cNvPr id="10" name="직사각형 9"/>
            <p:cNvSpPr/>
            <p:nvPr/>
          </p:nvSpPr>
          <p:spPr>
            <a:xfrm>
              <a:off x="11536822" y="2956871"/>
              <a:ext cx="644127" cy="210701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0" name="직선 연결선 69"/>
            <p:cNvCxnSpPr/>
            <p:nvPr/>
          </p:nvCxnSpPr>
          <p:spPr>
            <a:xfrm flipV="1">
              <a:off x="2422344" y="3995767"/>
              <a:ext cx="0" cy="1019887"/>
            </a:xfrm>
            <a:prstGeom prst="line">
              <a:avLst/>
            </a:prstGeom>
            <a:ln w="2857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직사각형 70"/>
            <p:cNvSpPr/>
            <p:nvPr/>
          </p:nvSpPr>
          <p:spPr>
            <a:xfrm>
              <a:off x="2594931" y="5097918"/>
              <a:ext cx="1307178"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Y-36, 29③</a:t>
              </a:r>
              <a:endParaRPr lang="ko-KR" altLang="en-US" sz="900" dirty="0">
                <a:solidFill>
                  <a:schemeClr val="bg1">
                    <a:lumMod val="50000"/>
                  </a:schemeClr>
                </a:solidFill>
              </a:endParaRPr>
            </a:p>
          </p:txBody>
        </p:sp>
        <p:sp>
          <p:nvSpPr>
            <p:cNvPr id="73" name="직사각형 72"/>
            <p:cNvSpPr/>
            <p:nvPr/>
          </p:nvSpPr>
          <p:spPr>
            <a:xfrm>
              <a:off x="2594931" y="5526579"/>
              <a:ext cx="1307178"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Y- 29③</a:t>
              </a:r>
              <a:endParaRPr lang="ko-KR" altLang="en-US" sz="900" dirty="0">
                <a:solidFill>
                  <a:schemeClr val="bg1">
                    <a:lumMod val="50000"/>
                  </a:schemeClr>
                </a:solidFill>
              </a:endParaRPr>
            </a:p>
          </p:txBody>
        </p:sp>
        <p:sp>
          <p:nvSpPr>
            <p:cNvPr id="76" name="TextBox 75"/>
            <p:cNvSpPr txBox="1"/>
            <p:nvPr/>
          </p:nvSpPr>
          <p:spPr>
            <a:xfrm>
              <a:off x="4699298" y="5025369"/>
              <a:ext cx="351378" cy="1754326"/>
            </a:xfrm>
            <a:prstGeom prst="rect">
              <a:avLst/>
            </a:prstGeom>
            <a:noFill/>
          </p:spPr>
          <p:txBody>
            <a:bodyPr wrap="none" rtlCol="0">
              <a:spAutoFit/>
            </a:bodyPr>
            <a:lstStyle/>
            <a:p>
              <a:pPr>
                <a:lnSpc>
                  <a:spcPct val="150000"/>
                </a:lnSpc>
              </a:pPr>
              <a:r>
                <a:rPr lang="en-US" altLang="ko-KR" dirty="0"/>
                <a:t>A</a:t>
              </a:r>
            </a:p>
            <a:p>
              <a:pPr>
                <a:lnSpc>
                  <a:spcPct val="150000"/>
                </a:lnSpc>
              </a:pPr>
              <a:r>
                <a:rPr lang="en-US" altLang="ko-KR" dirty="0"/>
                <a:t>B</a:t>
              </a:r>
            </a:p>
            <a:p>
              <a:pPr>
                <a:lnSpc>
                  <a:spcPct val="150000"/>
                </a:lnSpc>
              </a:pPr>
              <a:r>
                <a:rPr lang="en-US" altLang="ko-KR" dirty="0"/>
                <a:t>C</a:t>
              </a:r>
            </a:p>
            <a:p>
              <a:pPr>
                <a:lnSpc>
                  <a:spcPct val="150000"/>
                </a:lnSpc>
              </a:pPr>
              <a:r>
                <a:rPr lang="en-US" altLang="ko-KR" dirty="0"/>
                <a:t>D</a:t>
              </a:r>
              <a:endParaRPr lang="ko-KR" altLang="en-US" dirty="0"/>
            </a:p>
          </p:txBody>
        </p:sp>
        <p:sp>
          <p:nvSpPr>
            <p:cNvPr id="78" name="직사각형 77"/>
            <p:cNvSpPr/>
            <p:nvPr/>
          </p:nvSpPr>
          <p:spPr>
            <a:xfrm>
              <a:off x="5047574" y="5097918"/>
              <a:ext cx="1307178"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Y-36, 29③</a:t>
              </a:r>
              <a:endParaRPr lang="ko-KR" altLang="en-US" sz="900" dirty="0">
                <a:solidFill>
                  <a:schemeClr val="bg1">
                    <a:lumMod val="50000"/>
                  </a:schemeClr>
                </a:solidFill>
              </a:endParaRPr>
            </a:p>
          </p:txBody>
        </p:sp>
        <p:sp>
          <p:nvSpPr>
            <p:cNvPr id="79" name="직사각형 78"/>
            <p:cNvSpPr/>
            <p:nvPr/>
          </p:nvSpPr>
          <p:spPr>
            <a:xfrm>
              <a:off x="5047574" y="5526579"/>
              <a:ext cx="1307178"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Y- 29③</a:t>
              </a:r>
              <a:endParaRPr lang="ko-KR" altLang="en-US" sz="900" dirty="0">
                <a:solidFill>
                  <a:schemeClr val="bg1">
                    <a:lumMod val="50000"/>
                  </a:schemeClr>
                </a:solidFill>
              </a:endParaRPr>
            </a:p>
          </p:txBody>
        </p:sp>
        <p:sp>
          <p:nvSpPr>
            <p:cNvPr id="81" name="TextBox 80"/>
            <p:cNvSpPr txBox="1"/>
            <p:nvPr/>
          </p:nvSpPr>
          <p:spPr>
            <a:xfrm>
              <a:off x="10009558" y="5025369"/>
              <a:ext cx="351378" cy="1754326"/>
            </a:xfrm>
            <a:prstGeom prst="rect">
              <a:avLst/>
            </a:prstGeom>
            <a:noFill/>
          </p:spPr>
          <p:txBody>
            <a:bodyPr wrap="none" rtlCol="0">
              <a:spAutoFit/>
            </a:bodyPr>
            <a:lstStyle/>
            <a:p>
              <a:pPr>
                <a:lnSpc>
                  <a:spcPct val="150000"/>
                </a:lnSpc>
              </a:pPr>
              <a:r>
                <a:rPr lang="en-US" altLang="ko-KR" dirty="0"/>
                <a:t>A</a:t>
              </a:r>
            </a:p>
            <a:p>
              <a:pPr>
                <a:lnSpc>
                  <a:spcPct val="150000"/>
                </a:lnSpc>
              </a:pPr>
              <a:r>
                <a:rPr lang="en-US" altLang="ko-KR" dirty="0"/>
                <a:t>B</a:t>
              </a:r>
            </a:p>
            <a:p>
              <a:pPr>
                <a:lnSpc>
                  <a:spcPct val="150000"/>
                </a:lnSpc>
              </a:pPr>
              <a:r>
                <a:rPr lang="en-US" altLang="ko-KR" dirty="0"/>
                <a:t>C</a:t>
              </a:r>
            </a:p>
            <a:p>
              <a:pPr>
                <a:lnSpc>
                  <a:spcPct val="150000"/>
                </a:lnSpc>
              </a:pPr>
              <a:r>
                <a:rPr lang="en-US" altLang="ko-KR" dirty="0"/>
                <a:t>D</a:t>
              </a:r>
              <a:endParaRPr lang="ko-KR" altLang="en-US" dirty="0"/>
            </a:p>
          </p:txBody>
        </p:sp>
        <p:cxnSp>
          <p:nvCxnSpPr>
            <p:cNvPr id="82" name="직선 연결선 81"/>
            <p:cNvCxnSpPr/>
            <p:nvPr/>
          </p:nvCxnSpPr>
          <p:spPr>
            <a:xfrm flipV="1">
              <a:off x="10185247" y="3995767"/>
              <a:ext cx="0" cy="1019887"/>
            </a:xfrm>
            <a:prstGeom prst="line">
              <a:avLst/>
            </a:prstGeom>
            <a:ln w="28575">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3" name="직사각형 82"/>
            <p:cNvSpPr/>
            <p:nvPr/>
          </p:nvSpPr>
          <p:spPr>
            <a:xfrm>
              <a:off x="10357834" y="5097918"/>
              <a:ext cx="1307178"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X-29①/Y-36, 29①</a:t>
              </a:r>
              <a:endParaRPr lang="ko-KR" altLang="en-US" sz="900" dirty="0">
                <a:solidFill>
                  <a:schemeClr val="bg1">
                    <a:lumMod val="50000"/>
                  </a:schemeClr>
                </a:solidFill>
              </a:endParaRPr>
            </a:p>
          </p:txBody>
        </p:sp>
        <p:sp>
          <p:nvSpPr>
            <p:cNvPr id="84" name="직사각형 83"/>
            <p:cNvSpPr/>
            <p:nvPr/>
          </p:nvSpPr>
          <p:spPr>
            <a:xfrm>
              <a:off x="10357834" y="5526579"/>
              <a:ext cx="1307178"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X-29①/Y-29①</a:t>
              </a:r>
              <a:endParaRPr lang="ko-KR" altLang="en-US" sz="900" dirty="0">
                <a:solidFill>
                  <a:schemeClr val="bg1">
                    <a:lumMod val="50000"/>
                  </a:schemeClr>
                </a:solidFill>
              </a:endParaRPr>
            </a:p>
          </p:txBody>
        </p:sp>
        <p:sp>
          <p:nvSpPr>
            <p:cNvPr id="85" name="직사각형 84"/>
            <p:cNvSpPr/>
            <p:nvPr/>
          </p:nvSpPr>
          <p:spPr>
            <a:xfrm>
              <a:off x="5047574" y="5944057"/>
              <a:ext cx="1307178"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Y-36, 29③</a:t>
              </a:r>
              <a:endParaRPr lang="ko-KR" altLang="en-US" sz="900" dirty="0">
                <a:solidFill>
                  <a:schemeClr val="bg1">
                    <a:lumMod val="50000"/>
                  </a:schemeClr>
                </a:solidFill>
              </a:endParaRPr>
            </a:p>
          </p:txBody>
        </p:sp>
        <p:sp>
          <p:nvSpPr>
            <p:cNvPr id="86" name="타원 85"/>
            <p:cNvSpPr/>
            <p:nvPr/>
          </p:nvSpPr>
          <p:spPr>
            <a:xfrm>
              <a:off x="4608250" y="6300133"/>
              <a:ext cx="533474" cy="479562"/>
            </a:xfrm>
            <a:prstGeom prst="ellipse">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7" name="직사각형 86"/>
            <p:cNvSpPr/>
            <p:nvPr/>
          </p:nvSpPr>
          <p:spPr>
            <a:xfrm>
              <a:off x="10357834" y="5944057"/>
              <a:ext cx="1307178"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Y-36, 29①</a:t>
              </a:r>
              <a:endParaRPr lang="ko-KR" altLang="en-US" sz="900" dirty="0">
                <a:solidFill>
                  <a:schemeClr val="bg1">
                    <a:lumMod val="50000"/>
                  </a:schemeClr>
                </a:solidFill>
              </a:endParaRPr>
            </a:p>
          </p:txBody>
        </p:sp>
        <p:sp>
          <p:nvSpPr>
            <p:cNvPr id="88" name="직사각형 87"/>
            <p:cNvSpPr/>
            <p:nvPr/>
          </p:nvSpPr>
          <p:spPr>
            <a:xfrm>
              <a:off x="10357834" y="6382451"/>
              <a:ext cx="1307178" cy="3048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bg1">
                      <a:lumMod val="50000"/>
                    </a:schemeClr>
                  </a:solidFill>
                </a:rPr>
                <a:t>X-29①</a:t>
              </a:r>
              <a:endParaRPr lang="ko-KR" altLang="en-US" sz="900" dirty="0">
                <a:solidFill>
                  <a:schemeClr val="bg1">
                    <a:lumMod val="50000"/>
                  </a:schemeClr>
                </a:solidFill>
              </a:endParaRPr>
            </a:p>
          </p:txBody>
        </p:sp>
        <p:cxnSp>
          <p:nvCxnSpPr>
            <p:cNvPr id="89" name="직선 연결선 88"/>
            <p:cNvCxnSpPr>
              <a:stCxn id="115" idx="3"/>
              <a:endCxn id="117" idx="1"/>
            </p:cNvCxnSpPr>
            <p:nvPr/>
          </p:nvCxnSpPr>
          <p:spPr>
            <a:xfrm>
              <a:off x="1704758" y="3039457"/>
              <a:ext cx="1403548" cy="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2" name="직선 연결선 91"/>
            <p:cNvCxnSpPr>
              <a:stCxn id="115" idx="3"/>
            </p:cNvCxnSpPr>
            <p:nvPr/>
          </p:nvCxnSpPr>
          <p:spPr>
            <a:xfrm flipV="1">
              <a:off x="1704758" y="2825812"/>
              <a:ext cx="1403548" cy="213645"/>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4" name="직사각형 93"/>
            <p:cNvSpPr/>
            <p:nvPr/>
          </p:nvSpPr>
          <p:spPr>
            <a:xfrm>
              <a:off x="1877930" y="2744411"/>
              <a:ext cx="554239" cy="2567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제</a:t>
              </a:r>
              <a:r>
                <a:rPr lang="en-US" altLang="ko-KR" sz="1000" dirty="0">
                  <a:solidFill>
                    <a:schemeClr val="tx1"/>
                  </a:solidFill>
                </a:rPr>
                <a:t>55</a:t>
              </a:r>
              <a:r>
                <a:rPr lang="ko-KR" altLang="en-US" sz="1000" dirty="0">
                  <a:solidFill>
                    <a:schemeClr val="tx1"/>
                  </a:solidFill>
                </a:rPr>
                <a:t>조</a:t>
              </a:r>
              <a:endParaRPr lang="en-US" altLang="ko-KR" sz="1000" dirty="0">
                <a:solidFill>
                  <a:schemeClr val="tx1"/>
                </a:solidFill>
              </a:endParaRPr>
            </a:p>
            <a:p>
              <a:pPr algn="ctr"/>
              <a:r>
                <a:rPr lang="ko-KR" altLang="en-US" sz="1000" dirty="0">
                  <a:solidFill>
                    <a:schemeClr val="tx1"/>
                  </a:solidFill>
                </a:rPr>
                <a:t>제</a:t>
              </a:r>
              <a:r>
                <a:rPr lang="en-US" altLang="ko-KR" sz="1000" dirty="0">
                  <a:solidFill>
                    <a:schemeClr val="tx1"/>
                  </a:solidFill>
                </a:rPr>
                <a:t>3</a:t>
              </a:r>
              <a:r>
                <a:rPr lang="ko-KR" altLang="en-US" sz="1000" dirty="0">
                  <a:solidFill>
                    <a:schemeClr val="tx1"/>
                  </a:solidFill>
                </a:rPr>
                <a:t>항</a:t>
              </a:r>
            </a:p>
          </p:txBody>
        </p:sp>
        <p:sp>
          <p:nvSpPr>
            <p:cNvPr id="95" name="직사각형 94"/>
            <p:cNvSpPr/>
            <p:nvPr/>
          </p:nvSpPr>
          <p:spPr>
            <a:xfrm>
              <a:off x="2432415" y="2950678"/>
              <a:ext cx="554239" cy="2567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제</a:t>
              </a:r>
              <a:r>
                <a:rPr lang="en-US" altLang="ko-KR" sz="1000" dirty="0">
                  <a:solidFill>
                    <a:schemeClr val="tx1"/>
                  </a:solidFill>
                </a:rPr>
                <a:t>55</a:t>
              </a:r>
              <a:r>
                <a:rPr lang="ko-KR" altLang="en-US" sz="1000" dirty="0">
                  <a:solidFill>
                    <a:schemeClr val="tx1"/>
                  </a:solidFill>
                </a:rPr>
                <a:t>조</a:t>
              </a:r>
              <a:endParaRPr lang="en-US" altLang="ko-KR" sz="1000" dirty="0">
                <a:solidFill>
                  <a:schemeClr val="tx1"/>
                </a:solidFill>
              </a:endParaRPr>
            </a:p>
            <a:p>
              <a:pPr algn="ctr"/>
              <a:r>
                <a:rPr lang="ko-KR" altLang="en-US" sz="1000" dirty="0">
                  <a:solidFill>
                    <a:schemeClr val="tx1"/>
                  </a:solidFill>
                </a:rPr>
                <a:t>제</a:t>
              </a:r>
              <a:r>
                <a:rPr lang="en-US" altLang="ko-KR" sz="1000" dirty="0">
                  <a:solidFill>
                    <a:schemeClr val="tx1"/>
                  </a:solidFill>
                </a:rPr>
                <a:t>4</a:t>
              </a:r>
              <a:r>
                <a:rPr lang="ko-KR" altLang="en-US" sz="1000" dirty="0">
                  <a:solidFill>
                    <a:schemeClr val="tx1"/>
                  </a:solidFill>
                </a:rPr>
                <a:t>항</a:t>
              </a:r>
            </a:p>
          </p:txBody>
        </p:sp>
      </p:grpSp>
      <p:sp>
        <p:nvSpPr>
          <p:cNvPr id="2" name="슬라이드 번호 개체 틀 1"/>
          <p:cNvSpPr>
            <a:spLocks noGrp="1"/>
          </p:cNvSpPr>
          <p:nvPr>
            <p:ph type="sldNum" sz="quarter" idx="12"/>
          </p:nvPr>
        </p:nvSpPr>
        <p:spPr/>
        <p:txBody>
          <a:bodyPr/>
          <a:lstStyle/>
          <a:p>
            <a:r>
              <a:rPr lang="en-US" altLang="ko-KR"/>
              <a:t>230</a:t>
            </a:r>
            <a:endParaRPr lang="ko-KR" altLang="en-US"/>
          </a:p>
        </p:txBody>
      </p:sp>
    </p:spTree>
    <p:extLst>
      <p:ext uri="{BB962C8B-B14F-4D97-AF65-F5344CB8AC3E}">
        <p14:creationId xmlns:p14="http://schemas.microsoft.com/office/powerpoint/2010/main" val="1692466790"/>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55</a:t>
            </a:r>
            <a:r>
              <a:rPr lang="ko-KR" altLang="en-US" dirty="0"/>
              <a:t>조</a:t>
            </a:r>
            <a:r>
              <a:rPr lang="en-US" altLang="ko-KR" dirty="0"/>
              <a:t>, </a:t>
            </a:r>
            <a:r>
              <a:rPr lang="ko-KR" altLang="en-US" dirty="0"/>
              <a:t>제</a:t>
            </a:r>
            <a:r>
              <a:rPr lang="en-US" altLang="ko-KR" dirty="0"/>
              <a:t>56</a:t>
            </a:r>
            <a:r>
              <a:rPr lang="ko-KR" altLang="en-US" dirty="0"/>
              <a:t>조</a:t>
            </a:r>
          </a:p>
        </p:txBody>
      </p:sp>
      <p:sp>
        <p:nvSpPr>
          <p:cNvPr id="5" name="텍스트 개체 틀 4"/>
          <p:cNvSpPr>
            <a:spLocks noGrp="1"/>
          </p:cNvSpPr>
          <p:nvPr>
            <p:ph type="body" sz="quarter" idx="13"/>
          </p:nvPr>
        </p:nvSpPr>
        <p:spPr/>
        <p:txBody>
          <a:bodyPr/>
          <a:lstStyle/>
          <a:p>
            <a:r>
              <a:rPr lang="ko-KR" altLang="en-US" dirty="0" err="1"/>
              <a:t>이중우선권주장</a:t>
            </a:r>
            <a:r>
              <a:rPr lang="en-US" altLang="ko-KR" dirty="0"/>
              <a:t>(</a:t>
            </a:r>
            <a:r>
              <a:rPr lang="ko-KR" altLang="en-US" dirty="0"/>
              <a:t>제</a:t>
            </a:r>
            <a:r>
              <a:rPr lang="en-US" altLang="ko-KR" dirty="0"/>
              <a:t>55</a:t>
            </a:r>
            <a:r>
              <a:rPr lang="ko-KR" altLang="en-US" dirty="0"/>
              <a:t>조제</a:t>
            </a:r>
            <a:r>
              <a:rPr lang="en-US" altLang="ko-KR" dirty="0"/>
              <a:t>5</a:t>
            </a:r>
            <a:r>
              <a:rPr lang="ko-KR" altLang="en-US" dirty="0"/>
              <a:t>항</a:t>
            </a:r>
            <a:r>
              <a:rPr lang="en-US" altLang="ko-KR" dirty="0"/>
              <a:t>)</a:t>
            </a:r>
            <a:endParaRPr lang="ko-KR" altLang="en-US" dirty="0"/>
          </a:p>
        </p:txBody>
      </p:sp>
      <p:cxnSp>
        <p:nvCxnSpPr>
          <p:cNvPr id="56" name="직선 연결선 55"/>
          <p:cNvCxnSpPr/>
          <p:nvPr/>
        </p:nvCxnSpPr>
        <p:spPr>
          <a:xfrm>
            <a:off x="0" y="367082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77875" y="986046"/>
            <a:ext cx="11936323" cy="2677656"/>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55</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특허출원 등을 기초로 한 우선권 주장</a:t>
            </a:r>
            <a:r>
              <a:rPr lang="en-US" altLang="ko-KR" sz="1400" b="1" dirty="0">
                <a:solidFill>
                  <a:schemeClr val="accent1"/>
                </a:solidFill>
              </a:rPr>
              <a:t>) </a:t>
            </a:r>
            <a:r>
              <a:rPr lang="en-US" altLang="ko-KR" sz="1400" dirty="0">
                <a:solidFill>
                  <a:schemeClr val="tx2"/>
                </a:solidFill>
              </a:rPr>
              <a:t>③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따른 </a:t>
            </a:r>
            <a:r>
              <a:rPr lang="ko-KR" altLang="en-US" sz="1400" dirty="0">
                <a:solidFill>
                  <a:srgbClr val="FF0000"/>
                </a:solidFill>
              </a:rPr>
              <a:t>우선권 주장을 수반하는 </a:t>
            </a:r>
            <a:r>
              <a:rPr lang="ko-KR" altLang="en-US" sz="1400" dirty="0" err="1">
                <a:solidFill>
                  <a:srgbClr val="FF0000"/>
                </a:solidFill>
              </a:rPr>
              <a:t>특허출원된</a:t>
            </a:r>
            <a:r>
              <a:rPr lang="ko-KR" altLang="en-US" sz="1400" dirty="0">
                <a:solidFill>
                  <a:srgbClr val="FF0000"/>
                </a:solidFill>
              </a:rPr>
              <a:t> 발명 중 해당 우선권 주장의 기초가 된 </a:t>
            </a:r>
            <a:r>
              <a:rPr lang="ko-KR" altLang="en-US" sz="1400" dirty="0" err="1">
                <a:solidFill>
                  <a:srgbClr val="FF0000"/>
                </a:solidFill>
              </a:rPr>
              <a:t>선출원의</a:t>
            </a:r>
            <a:r>
              <a:rPr lang="ko-KR" altLang="en-US" sz="1400" dirty="0">
                <a:solidFill>
                  <a:srgbClr val="FF0000"/>
                </a:solidFill>
              </a:rPr>
              <a:t> </a:t>
            </a:r>
            <a:r>
              <a:rPr lang="ko-KR" altLang="en-US" sz="1400" dirty="0" err="1">
                <a:solidFill>
                  <a:srgbClr val="FF0000"/>
                </a:solidFill>
              </a:rPr>
              <a:t>출원서에</a:t>
            </a:r>
            <a:r>
              <a:rPr lang="ko-KR" altLang="en-US" sz="1400" dirty="0">
                <a:solidFill>
                  <a:srgbClr val="FF0000"/>
                </a:solidFill>
              </a:rPr>
              <a:t> 최초로 첨부된 명세서 또는 도면에 기재된 발명과 같은 발명</a:t>
            </a:r>
            <a:r>
              <a:rPr lang="ko-KR" altLang="en-US" sz="1400" dirty="0"/>
              <a:t>에 관하여</a:t>
            </a:r>
            <a:r>
              <a:rPr lang="ko-KR" altLang="en-US" sz="1400" dirty="0">
                <a:solidFill>
                  <a:srgbClr val="FF0000"/>
                </a:solidFill>
              </a:rPr>
              <a:t> </a:t>
            </a:r>
            <a:r>
              <a:rPr lang="ko-KR" altLang="en-US" sz="1400" dirty="0">
                <a:solidFill>
                  <a:schemeClr val="tx2"/>
                </a:solidFill>
              </a:rPr>
              <a:t>제</a:t>
            </a:r>
            <a:r>
              <a:rPr lang="en-US" altLang="ko-KR" sz="1400" dirty="0">
                <a:solidFill>
                  <a:schemeClr val="tx2"/>
                </a:solidFill>
              </a:rPr>
              <a:t>29</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항ㆍ제</a:t>
            </a:r>
            <a:r>
              <a:rPr lang="en-US" altLang="ko-KR" sz="1400" dirty="0">
                <a:solidFill>
                  <a:schemeClr val="tx2"/>
                </a:solidFill>
              </a:rPr>
              <a:t>2</a:t>
            </a:r>
            <a:r>
              <a:rPr lang="ko-KR" altLang="en-US" sz="1400" dirty="0">
                <a:solidFill>
                  <a:schemeClr val="tx2"/>
                </a:solidFill>
              </a:rPr>
              <a:t>항</a:t>
            </a:r>
            <a:r>
              <a:rPr lang="en-US" altLang="ko-KR" sz="1400" dirty="0">
                <a:solidFill>
                  <a:schemeClr val="tx2"/>
                </a:solidFill>
              </a:rPr>
              <a:t>, </a:t>
            </a:r>
            <a:r>
              <a:rPr lang="ko-KR" altLang="en-US" sz="1400" dirty="0">
                <a:solidFill>
                  <a:schemeClr val="tx2"/>
                </a:solidFill>
              </a:rPr>
              <a:t>같은 조 제</a:t>
            </a:r>
            <a:r>
              <a:rPr lang="en-US" altLang="ko-KR" sz="1400" dirty="0">
                <a:solidFill>
                  <a:schemeClr val="tx2"/>
                </a:solidFill>
              </a:rPr>
              <a:t>3</a:t>
            </a:r>
            <a:r>
              <a:rPr lang="ko-KR" altLang="en-US" sz="1400" dirty="0">
                <a:solidFill>
                  <a:schemeClr val="tx2"/>
                </a:solidFill>
              </a:rPr>
              <a:t>항 본문</a:t>
            </a:r>
            <a:r>
              <a:rPr lang="en-US" altLang="ko-KR" sz="1400" dirty="0">
                <a:solidFill>
                  <a:schemeClr val="tx2"/>
                </a:solidFill>
              </a:rPr>
              <a:t>, </a:t>
            </a:r>
            <a:r>
              <a:rPr lang="ko-KR" altLang="en-US" sz="1400" dirty="0">
                <a:solidFill>
                  <a:schemeClr val="tx2"/>
                </a:solidFill>
              </a:rPr>
              <a:t>같은 조 제</a:t>
            </a:r>
            <a:r>
              <a:rPr lang="en-US" altLang="ko-KR" sz="1400" dirty="0">
                <a:solidFill>
                  <a:schemeClr val="tx2"/>
                </a:solidFill>
              </a:rPr>
              <a:t>4</a:t>
            </a:r>
            <a:r>
              <a:rPr lang="ko-KR" altLang="en-US" sz="1400" dirty="0">
                <a:solidFill>
                  <a:schemeClr val="tx2"/>
                </a:solidFill>
              </a:rPr>
              <a:t>항 본문</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30</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36</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항부터 제</a:t>
            </a:r>
            <a:r>
              <a:rPr lang="en-US" altLang="ko-KR" sz="1400" dirty="0">
                <a:solidFill>
                  <a:schemeClr val="tx2"/>
                </a:solidFill>
              </a:rPr>
              <a:t>3</a:t>
            </a:r>
            <a:r>
              <a:rPr lang="ko-KR" altLang="en-US" sz="1400" dirty="0">
                <a:solidFill>
                  <a:schemeClr val="tx2"/>
                </a:solidFill>
              </a:rPr>
              <a:t>항까지</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96</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3</a:t>
            </a:r>
            <a:r>
              <a:rPr lang="ko-KR" altLang="en-US" sz="1400" dirty="0">
                <a:solidFill>
                  <a:schemeClr val="tx2"/>
                </a:solidFill>
              </a:rPr>
              <a:t>호</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98</a:t>
            </a:r>
            <a:r>
              <a:rPr lang="ko-KR" altLang="en-US" sz="1400" dirty="0">
                <a:solidFill>
                  <a:schemeClr val="tx2"/>
                </a:solidFill>
              </a:rPr>
              <a:t>조</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103</a:t>
            </a:r>
            <a:r>
              <a:rPr lang="ko-KR" altLang="en-US" sz="1400" dirty="0">
                <a:solidFill>
                  <a:schemeClr val="tx2"/>
                </a:solidFill>
              </a:rPr>
              <a:t>조</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105</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항ㆍ제</a:t>
            </a:r>
            <a:r>
              <a:rPr lang="en-US" altLang="ko-KR" sz="1400" dirty="0">
                <a:solidFill>
                  <a:schemeClr val="tx2"/>
                </a:solidFill>
              </a:rPr>
              <a:t>2</a:t>
            </a:r>
            <a:r>
              <a:rPr lang="ko-KR" altLang="en-US" sz="1400" dirty="0">
                <a:solidFill>
                  <a:schemeClr val="tx2"/>
                </a:solidFill>
              </a:rPr>
              <a:t>항</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129</a:t>
            </a:r>
            <a:r>
              <a:rPr lang="ko-KR" altLang="en-US" sz="1400" dirty="0">
                <a:solidFill>
                  <a:schemeClr val="tx2"/>
                </a:solidFill>
              </a:rPr>
              <a:t>조 및 제</a:t>
            </a:r>
            <a:r>
              <a:rPr lang="en-US" altLang="ko-KR" sz="1400" dirty="0">
                <a:solidFill>
                  <a:schemeClr val="tx2"/>
                </a:solidFill>
              </a:rPr>
              <a:t>136</a:t>
            </a:r>
            <a:r>
              <a:rPr lang="ko-KR" altLang="en-US" sz="1400" dirty="0">
                <a:solidFill>
                  <a:schemeClr val="tx2"/>
                </a:solidFill>
              </a:rPr>
              <a:t>조제</a:t>
            </a:r>
            <a:r>
              <a:rPr lang="en-US" altLang="ko-KR" sz="1400" dirty="0">
                <a:solidFill>
                  <a:schemeClr val="tx2"/>
                </a:solidFill>
              </a:rPr>
              <a:t>5</a:t>
            </a:r>
            <a:r>
              <a:rPr lang="ko-KR" altLang="en-US" sz="1400" dirty="0">
                <a:solidFill>
                  <a:schemeClr val="tx2"/>
                </a:solidFill>
              </a:rPr>
              <a:t>항</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132</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제</a:t>
            </a:r>
            <a:r>
              <a:rPr lang="en-US" altLang="ko-KR" sz="1400" dirty="0">
                <a:solidFill>
                  <a:schemeClr val="tx2"/>
                </a:solidFill>
              </a:rPr>
              <a:t>3</a:t>
            </a:r>
            <a:r>
              <a:rPr lang="ko-KR" altLang="en-US" sz="1400" dirty="0">
                <a:solidFill>
                  <a:schemeClr val="tx2"/>
                </a:solidFill>
              </a:rPr>
              <a:t>항 또는 제</a:t>
            </a:r>
            <a:r>
              <a:rPr lang="en-US" altLang="ko-KR" sz="1400" dirty="0">
                <a:solidFill>
                  <a:schemeClr val="tx2"/>
                </a:solidFill>
              </a:rPr>
              <a:t>133</a:t>
            </a:r>
            <a:r>
              <a:rPr lang="ko-KR" altLang="en-US" sz="1400" dirty="0">
                <a:solidFill>
                  <a:schemeClr val="tx2"/>
                </a:solidFill>
              </a:rPr>
              <a:t>조의</a:t>
            </a:r>
            <a:r>
              <a:rPr lang="en-US" altLang="ko-KR" sz="1400" dirty="0">
                <a:solidFill>
                  <a:schemeClr val="tx2"/>
                </a:solidFill>
              </a:rPr>
              <a:t>2</a:t>
            </a:r>
            <a:r>
              <a:rPr lang="ko-KR" altLang="en-US" sz="1400" dirty="0">
                <a:solidFill>
                  <a:schemeClr val="tx2"/>
                </a:solidFill>
              </a:rPr>
              <a:t>제</a:t>
            </a:r>
            <a:r>
              <a:rPr lang="en-US" altLang="ko-KR" sz="1400" dirty="0">
                <a:solidFill>
                  <a:schemeClr val="tx2"/>
                </a:solidFill>
              </a:rPr>
              <a:t>4</a:t>
            </a:r>
            <a:r>
              <a:rPr lang="ko-KR" altLang="en-US" sz="1400" dirty="0">
                <a:solidFill>
                  <a:schemeClr val="tx2"/>
                </a:solidFill>
              </a:rPr>
              <a:t>항에 따라 준용되는 경우를 포함한다</a:t>
            </a:r>
            <a:r>
              <a:rPr lang="en-US" altLang="ko-KR" sz="1400" dirty="0">
                <a:solidFill>
                  <a:schemeClr val="tx2"/>
                </a:solidFill>
              </a:rPr>
              <a:t>), </a:t>
            </a:r>
            <a:r>
              <a:rPr lang="ko-KR" altLang="en-US" sz="1400" dirty="0">
                <a:solidFill>
                  <a:schemeClr val="tx2"/>
                </a:solidFill>
              </a:rPr>
              <a:t>「</a:t>
            </a:r>
            <a:r>
              <a:rPr lang="ko-KR" altLang="en-US" sz="1400" dirty="0" err="1">
                <a:solidFill>
                  <a:schemeClr val="tx2"/>
                </a:solidFill>
              </a:rPr>
              <a:t>실용신안법</a:t>
            </a:r>
            <a:r>
              <a:rPr lang="ko-KR" altLang="en-US" sz="1400" dirty="0">
                <a:solidFill>
                  <a:schemeClr val="tx2"/>
                </a:solidFill>
              </a:rPr>
              <a:t>」 제</a:t>
            </a:r>
            <a:r>
              <a:rPr lang="en-US" altLang="ko-KR" sz="1400" dirty="0">
                <a:solidFill>
                  <a:schemeClr val="tx2"/>
                </a:solidFill>
              </a:rPr>
              <a:t>7</a:t>
            </a:r>
            <a:r>
              <a:rPr lang="ko-KR" altLang="en-US" sz="1400" dirty="0">
                <a:solidFill>
                  <a:schemeClr val="tx2"/>
                </a:solidFill>
              </a:rPr>
              <a:t>조제</a:t>
            </a:r>
            <a:r>
              <a:rPr lang="en-US" altLang="ko-KR" sz="1400" dirty="0">
                <a:solidFill>
                  <a:schemeClr val="tx2"/>
                </a:solidFill>
              </a:rPr>
              <a:t>3</a:t>
            </a:r>
            <a:r>
              <a:rPr lang="ko-KR" altLang="en-US" sz="1400" dirty="0" err="1">
                <a:solidFill>
                  <a:schemeClr val="tx2"/>
                </a:solidFill>
              </a:rPr>
              <a:t>항ㆍ제</a:t>
            </a:r>
            <a:r>
              <a:rPr lang="en-US" altLang="ko-KR" sz="1400" dirty="0">
                <a:solidFill>
                  <a:schemeClr val="tx2"/>
                </a:solidFill>
              </a:rPr>
              <a:t>4</a:t>
            </a:r>
            <a:r>
              <a:rPr lang="ko-KR" altLang="en-US" sz="1400" dirty="0">
                <a:solidFill>
                  <a:schemeClr val="tx2"/>
                </a:solidFill>
              </a:rPr>
              <a:t>항 및 제</a:t>
            </a:r>
            <a:r>
              <a:rPr lang="en-US" altLang="ko-KR" sz="1400" dirty="0">
                <a:solidFill>
                  <a:schemeClr val="tx2"/>
                </a:solidFill>
              </a:rPr>
              <a:t>25</a:t>
            </a:r>
            <a:r>
              <a:rPr lang="ko-KR" altLang="en-US" sz="1400" dirty="0">
                <a:solidFill>
                  <a:schemeClr val="tx2"/>
                </a:solidFill>
              </a:rPr>
              <a:t>조</a:t>
            </a:r>
            <a:r>
              <a:rPr lang="en-US" altLang="ko-KR" sz="1400" dirty="0">
                <a:solidFill>
                  <a:schemeClr val="tx2"/>
                </a:solidFill>
              </a:rPr>
              <a:t>, </a:t>
            </a:r>
            <a:r>
              <a:rPr lang="ko-KR" altLang="en-US" sz="1400" dirty="0">
                <a:solidFill>
                  <a:schemeClr val="tx2"/>
                </a:solidFill>
              </a:rPr>
              <a:t>「디자인보호법」 제</a:t>
            </a:r>
            <a:r>
              <a:rPr lang="en-US" altLang="ko-KR" sz="1400" dirty="0">
                <a:solidFill>
                  <a:schemeClr val="tx2"/>
                </a:solidFill>
              </a:rPr>
              <a:t>95</a:t>
            </a:r>
            <a:r>
              <a:rPr lang="ko-KR" altLang="en-US" sz="1400" dirty="0">
                <a:solidFill>
                  <a:schemeClr val="tx2"/>
                </a:solidFill>
              </a:rPr>
              <a:t>조 및 제</a:t>
            </a:r>
            <a:r>
              <a:rPr lang="en-US" altLang="ko-KR" sz="1400" dirty="0">
                <a:solidFill>
                  <a:schemeClr val="tx2"/>
                </a:solidFill>
              </a:rPr>
              <a:t>103</a:t>
            </a:r>
            <a:r>
              <a:rPr lang="ko-KR" altLang="en-US" sz="1400" dirty="0">
                <a:solidFill>
                  <a:schemeClr val="tx2"/>
                </a:solidFill>
              </a:rPr>
              <a:t>조제</a:t>
            </a:r>
            <a:r>
              <a:rPr lang="en-US" altLang="ko-KR" sz="1400" dirty="0">
                <a:solidFill>
                  <a:schemeClr val="tx2"/>
                </a:solidFill>
              </a:rPr>
              <a:t>3</a:t>
            </a:r>
            <a:r>
              <a:rPr lang="ko-KR" altLang="en-US" sz="1400" dirty="0">
                <a:solidFill>
                  <a:schemeClr val="tx2"/>
                </a:solidFill>
              </a:rPr>
              <a:t>항을 적용할 때에는 그 특허출원은 그 </a:t>
            </a:r>
            <a:r>
              <a:rPr lang="ko-KR" altLang="en-US" sz="1400" dirty="0" err="1">
                <a:solidFill>
                  <a:schemeClr val="tx2"/>
                </a:solidFill>
              </a:rPr>
              <a:t>선출원을</a:t>
            </a:r>
            <a:r>
              <a:rPr lang="ko-KR" altLang="en-US" sz="1400" dirty="0">
                <a:solidFill>
                  <a:schemeClr val="tx2"/>
                </a:solidFill>
              </a:rPr>
              <a:t> 한 때에 </a:t>
            </a:r>
            <a:r>
              <a:rPr lang="ko-KR" altLang="en-US" sz="1400" dirty="0" err="1">
                <a:solidFill>
                  <a:schemeClr val="tx2"/>
                </a:solidFill>
              </a:rPr>
              <a:t>특허출원한</a:t>
            </a:r>
            <a:r>
              <a:rPr lang="ko-KR" altLang="en-US" sz="1400" dirty="0">
                <a:solidFill>
                  <a:schemeClr val="tx2"/>
                </a:solidFill>
              </a:rPr>
              <a:t> 것으로 본다</a:t>
            </a:r>
            <a:r>
              <a:rPr lang="en-US" altLang="ko-KR" sz="1400" dirty="0">
                <a:solidFill>
                  <a:schemeClr val="tx2"/>
                </a:solidFill>
              </a:rPr>
              <a:t>. </a:t>
            </a:r>
          </a:p>
          <a:p>
            <a:pPr fontAlgn="base"/>
            <a:r>
              <a:rPr lang="en-US" altLang="ko-KR" sz="1400" dirty="0">
                <a:solidFill>
                  <a:schemeClr val="tx2"/>
                </a:solidFill>
              </a:rPr>
              <a:t>④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따른 </a:t>
            </a:r>
            <a:r>
              <a:rPr lang="ko-KR" altLang="en-US" sz="1400" dirty="0">
                <a:solidFill>
                  <a:srgbClr val="FF0000"/>
                </a:solidFill>
              </a:rPr>
              <a:t>우선권 주장을 수반하는 특허출원의 </a:t>
            </a:r>
            <a:r>
              <a:rPr lang="ko-KR" altLang="en-US" sz="1400" dirty="0" err="1">
                <a:solidFill>
                  <a:srgbClr val="FF0000"/>
                </a:solidFill>
              </a:rPr>
              <a:t>출원서에</a:t>
            </a:r>
            <a:r>
              <a:rPr lang="ko-KR" altLang="en-US" sz="1400" dirty="0">
                <a:solidFill>
                  <a:srgbClr val="FF0000"/>
                </a:solidFill>
              </a:rPr>
              <a:t> 최초로 첨부된 명세서 또는 도면에 기재된 발명 중 해당 우선권 주장의 기초가 된 </a:t>
            </a:r>
            <a:r>
              <a:rPr lang="ko-KR" altLang="en-US" sz="1400" dirty="0" err="1">
                <a:solidFill>
                  <a:srgbClr val="FF0000"/>
                </a:solidFill>
              </a:rPr>
              <a:t>선출원의</a:t>
            </a:r>
            <a:r>
              <a:rPr lang="ko-KR" altLang="en-US" sz="1400" dirty="0">
                <a:solidFill>
                  <a:srgbClr val="FF0000"/>
                </a:solidFill>
              </a:rPr>
              <a:t> </a:t>
            </a:r>
            <a:r>
              <a:rPr lang="ko-KR" altLang="en-US" sz="1400" dirty="0" err="1">
                <a:solidFill>
                  <a:srgbClr val="FF0000"/>
                </a:solidFill>
              </a:rPr>
              <a:t>출원서에</a:t>
            </a:r>
            <a:r>
              <a:rPr lang="ko-KR" altLang="en-US" sz="1400" dirty="0">
                <a:solidFill>
                  <a:srgbClr val="FF0000"/>
                </a:solidFill>
              </a:rPr>
              <a:t> 최초로 첨부된 명세서 또는 도면에 기재된 발명</a:t>
            </a:r>
            <a:r>
              <a:rPr lang="ko-KR" altLang="en-US" sz="1400" dirty="0">
                <a:solidFill>
                  <a:schemeClr val="tx2"/>
                </a:solidFill>
              </a:rPr>
              <a:t>과 같은 발명은 그 특허출원이 </a:t>
            </a:r>
            <a:r>
              <a:rPr lang="ko-KR" altLang="en-US" sz="1400" dirty="0" err="1">
                <a:solidFill>
                  <a:schemeClr val="tx2"/>
                </a:solidFill>
              </a:rPr>
              <a:t>출원공개되거나</a:t>
            </a:r>
            <a:r>
              <a:rPr lang="ko-KR" altLang="en-US" sz="1400" dirty="0">
                <a:solidFill>
                  <a:schemeClr val="tx2"/>
                </a:solidFill>
              </a:rPr>
              <a:t> 특허가 </a:t>
            </a:r>
            <a:r>
              <a:rPr lang="ko-KR" altLang="en-US" sz="1400" dirty="0" err="1">
                <a:solidFill>
                  <a:schemeClr val="tx2"/>
                </a:solidFill>
              </a:rPr>
              <a:t>등록공고되었을</a:t>
            </a:r>
            <a:r>
              <a:rPr lang="ko-KR" altLang="en-US" sz="1400" dirty="0">
                <a:solidFill>
                  <a:schemeClr val="tx2"/>
                </a:solidFill>
              </a:rPr>
              <a:t> 때에 해당 우선권 주장의 기초가 된 </a:t>
            </a:r>
            <a:r>
              <a:rPr lang="ko-KR" altLang="en-US" sz="1400" dirty="0" err="1">
                <a:solidFill>
                  <a:schemeClr val="tx2"/>
                </a:solidFill>
              </a:rPr>
              <a:t>선출원에</a:t>
            </a:r>
            <a:r>
              <a:rPr lang="ko-KR" altLang="en-US" sz="1400" dirty="0">
                <a:solidFill>
                  <a:schemeClr val="tx2"/>
                </a:solidFill>
              </a:rPr>
              <a:t> 관하여 출원공개가 된 것으로 보고 제</a:t>
            </a:r>
            <a:r>
              <a:rPr lang="en-US" altLang="ko-KR" sz="1400" dirty="0">
                <a:solidFill>
                  <a:schemeClr val="tx2"/>
                </a:solidFill>
              </a:rPr>
              <a:t>29</a:t>
            </a:r>
            <a:r>
              <a:rPr lang="ko-KR" altLang="en-US" sz="1400" dirty="0">
                <a:solidFill>
                  <a:schemeClr val="tx2"/>
                </a:solidFill>
              </a:rPr>
              <a:t>조제</a:t>
            </a:r>
            <a:r>
              <a:rPr lang="en-US" altLang="ko-KR" sz="1400" dirty="0">
                <a:solidFill>
                  <a:schemeClr val="tx2"/>
                </a:solidFill>
              </a:rPr>
              <a:t>3</a:t>
            </a:r>
            <a:r>
              <a:rPr lang="ko-KR" altLang="en-US" sz="1400" dirty="0">
                <a:solidFill>
                  <a:schemeClr val="tx2"/>
                </a:solidFill>
              </a:rPr>
              <a:t>항 본문</a:t>
            </a:r>
            <a:r>
              <a:rPr lang="en-US" altLang="ko-KR" sz="1400" dirty="0">
                <a:solidFill>
                  <a:schemeClr val="tx2"/>
                </a:solidFill>
              </a:rPr>
              <a:t>, </a:t>
            </a:r>
            <a:r>
              <a:rPr lang="ko-KR" altLang="en-US" sz="1400" dirty="0">
                <a:solidFill>
                  <a:schemeClr val="tx2"/>
                </a:solidFill>
              </a:rPr>
              <a:t>같은 조 제</a:t>
            </a:r>
            <a:r>
              <a:rPr lang="en-US" altLang="ko-KR" sz="1400" dirty="0">
                <a:solidFill>
                  <a:schemeClr val="tx2"/>
                </a:solidFill>
              </a:rPr>
              <a:t>4</a:t>
            </a:r>
            <a:r>
              <a:rPr lang="ko-KR" altLang="en-US" sz="1400" dirty="0">
                <a:solidFill>
                  <a:schemeClr val="tx2"/>
                </a:solidFill>
              </a:rPr>
              <a:t>항 본문 또는 「</a:t>
            </a:r>
            <a:r>
              <a:rPr lang="ko-KR" altLang="en-US" sz="1400" dirty="0" err="1">
                <a:solidFill>
                  <a:schemeClr val="tx2"/>
                </a:solidFill>
              </a:rPr>
              <a:t>실용신안법</a:t>
            </a:r>
            <a:r>
              <a:rPr lang="ko-KR" altLang="en-US" sz="1400" dirty="0">
                <a:solidFill>
                  <a:schemeClr val="tx2"/>
                </a:solidFill>
              </a:rPr>
              <a:t>」 제</a:t>
            </a:r>
            <a:r>
              <a:rPr lang="en-US" altLang="ko-KR" sz="1400" dirty="0">
                <a:solidFill>
                  <a:schemeClr val="tx2"/>
                </a:solidFill>
              </a:rPr>
              <a:t>4</a:t>
            </a:r>
            <a:r>
              <a:rPr lang="ko-KR" altLang="en-US" sz="1400" dirty="0">
                <a:solidFill>
                  <a:schemeClr val="tx2"/>
                </a:solidFill>
              </a:rPr>
              <a:t>조제</a:t>
            </a:r>
            <a:r>
              <a:rPr lang="en-US" altLang="ko-KR" sz="1400" dirty="0">
                <a:solidFill>
                  <a:schemeClr val="tx2"/>
                </a:solidFill>
              </a:rPr>
              <a:t>3</a:t>
            </a:r>
            <a:r>
              <a:rPr lang="ko-KR" altLang="en-US" sz="1400" dirty="0">
                <a:solidFill>
                  <a:schemeClr val="tx2"/>
                </a:solidFill>
              </a:rPr>
              <a:t>항 </a:t>
            </a:r>
            <a:r>
              <a:rPr lang="ko-KR" altLang="en-US" sz="1400" dirty="0" err="1">
                <a:solidFill>
                  <a:schemeClr val="tx2"/>
                </a:solidFill>
              </a:rPr>
              <a:t>본문ㆍ제</a:t>
            </a:r>
            <a:r>
              <a:rPr lang="en-US" altLang="ko-KR" sz="1400" dirty="0">
                <a:solidFill>
                  <a:schemeClr val="tx2"/>
                </a:solidFill>
              </a:rPr>
              <a:t>4</a:t>
            </a:r>
            <a:r>
              <a:rPr lang="ko-KR" altLang="en-US" sz="1400" dirty="0">
                <a:solidFill>
                  <a:schemeClr val="tx2"/>
                </a:solidFill>
              </a:rPr>
              <a:t>항 본문을 적용한다</a:t>
            </a:r>
            <a:r>
              <a:rPr lang="en-US" altLang="ko-KR" sz="1400" dirty="0">
                <a:solidFill>
                  <a:schemeClr val="tx2"/>
                </a:solidFill>
              </a:rPr>
              <a:t>.</a:t>
            </a:r>
          </a:p>
          <a:p>
            <a:pPr fontAlgn="base"/>
            <a:r>
              <a:rPr lang="en-US" altLang="ko-KR" sz="1400" dirty="0">
                <a:solidFill>
                  <a:schemeClr val="tx2"/>
                </a:solidFill>
              </a:rPr>
              <a:t>⑤ </a:t>
            </a:r>
            <a:r>
              <a:rPr lang="ko-KR" altLang="en-US" sz="1400" dirty="0" err="1">
                <a:solidFill>
                  <a:schemeClr val="tx2"/>
                </a:solidFill>
              </a:rPr>
              <a:t>선출원이</a:t>
            </a:r>
            <a:r>
              <a:rPr lang="ko-KR" altLang="en-US" sz="1400" dirty="0">
                <a:solidFill>
                  <a:schemeClr val="tx2"/>
                </a:solidFill>
              </a:rPr>
              <a:t> 다음 각 호의 어느 하나에 해당하면 </a:t>
            </a:r>
            <a:r>
              <a:rPr lang="ko-KR" altLang="en-US" sz="1400" dirty="0">
                <a:solidFill>
                  <a:srgbClr val="FF0000"/>
                </a:solidFill>
              </a:rPr>
              <a:t>그 </a:t>
            </a:r>
            <a:r>
              <a:rPr lang="ko-KR" altLang="en-US" sz="1400" dirty="0" err="1">
                <a:solidFill>
                  <a:srgbClr val="FF0000"/>
                </a:solidFill>
              </a:rPr>
              <a:t>선출원의</a:t>
            </a:r>
            <a:r>
              <a:rPr lang="ko-KR" altLang="en-US" sz="1400" dirty="0">
                <a:solidFill>
                  <a:srgbClr val="FF0000"/>
                </a:solidFill>
              </a:rPr>
              <a:t> </a:t>
            </a:r>
            <a:r>
              <a:rPr lang="ko-KR" altLang="en-US" sz="1400" dirty="0" err="1">
                <a:solidFill>
                  <a:srgbClr val="FF0000"/>
                </a:solidFill>
              </a:rPr>
              <a:t>출원서에</a:t>
            </a:r>
            <a:r>
              <a:rPr lang="ko-KR" altLang="en-US" sz="1400" dirty="0">
                <a:solidFill>
                  <a:srgbClr val="FF0000"/>
                </a:solidFill>
              </a:rPr>
              <a:t> 최초로 첨부된 명세서 또는 도면에 기재된 발명 중 그 </a:t>
            </a:r>
            <a:r>
              <a:rPr lang="ko-KR" altLang="en-US" sz="1400" dirty="0" err="1">
                <a:solidFill>
                  <a:srgbClr val="FF0000"/>
                </a:solidFill>
              </a:rPr>
              <a:t>선출원에</a:t>
            </a:r>
            <a:r>
              <a:rPr lang="ko-KR" altLang="en-US" sz="1400" dirty="0">
                <a:solidFill>
                  <a:srgbClr val="FF0000"/>
                </a:solidFill>
              </a:rPr>
              <a:t> 관하여 우선권 주장의 기초가 된 출원의 </a:t>
            </a:r>
            <a:r>
              <a:rPr lang="ko-KR" altLang="en-US" sz="1400" dirty="0" err="1">
                <a:solidFill>
                  <a:srgbClr val="FF0000"/>
                </a:solidFill>
              </a:rPr>
              <a:t>출원서에</a:t>
            </a:r>
            <a:r>
              <a:rPr lang="ko-KR" altLang="en-US" sz="1400" dirty="0">
                <a:solidFill>
                  <a:srgbClr val="FF0000"/>
                </a:solidFill>
              </a:rPr>
              <a:t> 최초로 첨부된 명세서 또는 도면에 기재된 발명</a:t>
            </a:r>
            <a:r>
              <a:rPr lang="ko-KR" altLang="en-US" sz="1400" dirty="0">
                <a:solidFill>
                  <a:schemeClr val="tx2"/>
                </a:solidFill>
              </a:rPr>
              <a:t>에 대해서는 제</a:t>
            </a:r>
            <a:r>
              <a:rPr lang="en-US" altLang="ko-KR" sz="1400" dirty="0">
                <a:solidFill>
                  <a:schemeClr val="tx2"/>
                </a:solidFill>
              </a:rPr>
              <a:t>3</a:t>
            </a:r>
            <a:r>
              <a:rPr lang="ko-KR" altLang="en-US" sz="1400" dirty="0">
                <a:solidFill>
                  <a:schemeClr val="tx2"/>
                </a:solidFill>
              </a:rPr>
              <a:t>항과 제</a:t>
            </a:r>
            <a:r>
              <a:rPr lang="en-US" altLang="ko-KR" sz="1400" dirty="0">
                <a:solidFill>
                  <a:schemeClr val="tx2"/>
                </a:solidFill>
              </a:rPr>
              <a:t>4</a:t>
            </a:r>
            <a:r>
              <a:rPr lang="ko-KR" altLang="en-US" sz="1400" dirty="0">
                <a:solidFill>
                  <a:schemeClr val="tx2"/>
                </a:solidFill>
              </a:rPr>
              <a:t>항을 적용하지 아니한다</a:t>
            </a:r>
            <a:r>
              <a:rPr lang="en-US" altLang="ko-KR" sz="1400" dirty="0">
                <a:solidFill>
                  <a:schemeClr val="tx2"/>
                </a:solidFill>
              </a:rPr>
              <a:t>.</a:t>
            </a:r>
          </a:p>
          <a:p>
            <a:pPr fontAlgn="base"/>
            <a:r>
              <a:rPr lang="en-US" altLang="ko-KR" sz="1400" dirty="0">
                <a:solidFill>
                  <a:schemeClr val="tx2"/>
                </a:solidFill>
              </a:rPr>
              <a:t>1. </a:t>
            </a:r>
            <a:r>
              <a:rPr lang="ko-KR" altLang="en-US" sz="1400" dirty="0" err="1">
                <a:solidFill>
                  <a:schemeClr val="tx2"/>
                </a:solidFill>
              </a:rPr>
              <a:t>선출원이</a:t>
            </a:r>
            <a:r>
              <a:rPr lang="ko-KR" altLang="en-US" sz="1400" dirty="0">
                <a:solidFill>
                  <a:schemeClr val="tx2"/>
                </a:solidFill>
              </a:rPr>
              <a:t> 제</a:t>
            </a:r>
            <a:r>
              <a:rPr lang="en-US" altLang="ko-KR" sz="1400" dirty="0">
                <a:solidFill>
                  <a:schemeClr val="tx2"/>
                </a:solidFill>
              </a:rPr>
              <a:t>1</a:t>
            </a:r>
            <a:r>
              <a:rPr lang="ko-KR" altLang="en-US" sz="1400" dirty="0">
                <a:solidFill>
                  <a:schemeClr val="tx2"/>
                </a:solidFill>
              </a:rPr>
              <a:t>항에 따른 우선권 주장을 수반하는 출원인 경우</a:t>
            </a:r>
          </a:p>
          <a:p>
            <a:pPr fontAlgn="base"/>
            <a:r>
              <a:rPr lang="en-US" altLang="ko-KR" sz="1400" dirty="0">
                <a:solidFill>
                  <a:schemeClr val="tx2"/>
                </a:solidFill>
              </a:rPr>
              <a:t>2. </a:t>
            </a:r>
            <a:r>
              <a:rPr lang="ko-KR" altLang="en-US" sz="1400" dirty="0" err="1">
                <a:solidFill>
                  <a:schemeClr val="tx2"/>
                </a:solidFill>
              </a:rPr>
              <a:t>선출원이</a:t>
            </a:r>
            <a:r>
              <a:rPr lang="ko-KR" altLang="en-US" sz="1400" dirty="0">
                <a:solidFill>
                  <a:schemeClr val="tx2"/>
                </a:solidFill>
              </a:rPr>
              <a:t> 「공업소유권의 보호를 위한 파리 협약」 제</a:t>
            </a:r>
            <a:r>
              <a:rPr lang="en-US" altLang="ko-KR" sz="1400" dirty="0">
                <a:solidFill>
                  <a:schemeClr val="tx2"/>
                </a:solidFill>
              </a:rPr>
              <a:t>4</a:t>
            </a:r>
            <a:r>
              <a:rPr lang="ko-KR" altLang="en-US" sz="1400" dirty="0">
                <a:solidFill>
                  <a:schemeClr val="tx2"/>
                </a:solidFill>
              </a:rPr>
              <a:t>조</a:t>
            </a:r>
            <a:r>
              <a:rPr lang="en-US" altLang="ko-KR" sz="1400" dirty="0">
                <a:solidFill>
                  <a:schemeClr val="tx2"/>
                </a:solidFill>
              </a:rPr>
              <a:t>D(1)</a:t>
            </a:r>
            <a:r>
              <a:rPr lang="ko-KR" altLang="en-US" sz="1400" dirty="0">
                <a:solidFill>
                  <a:schemeClr val="tx2"/>
                </a:solidFill>
              </a:rPr>
              <a:t>에 따른 우선권 주장을 수반하는 출원인 경우</a:t>
            </a:r>
          </a:p>
        </p:txBody>
      </p:sp>
      <p:cxnSp>
        <p:nvCxnSpPr>
          <p:cNvPr id="73" name="직선 연결선 72"/>
          <p:cNvCxnSpPr/>
          <p:nvPr/>
        </p:nvCxnSpPr>
        <p:spPr>
          <a:xfrm>
            <a:off x="6099756" y="3945467"/>
            <a:ext cx="0" cy="274108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4" name="양쪽 모서리가 둥근 사각형 83"/>
          <p:cNvSpPr/>
          <p:nvPr/>
        </p:nvSpPr>
        <p:spPr>
          <a:xfrm rot="10800000">
            <a:off x="3880984" y="4077987"/>
            <a:ext cx="1259964" cy="246421"/>
          </a:xfrm>
          <a:prstGeom prst="round2SameRect">
            <a:avLst>
              <a:gd name="adj1" fmla="val 50000"/>
              <a:gd name="adj2" fmla="val 0"/>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양쪽 모서리가 둥근 사각형 29"/>
          <p:cNvSpPr/>
          <p:nvPr/>
        </p:nvSpPr>
        <p:spPr>
          <a:xfrm>
            <a:off x="2534785" y="3750726"/>
            <a:ext cx="2606164" cy="315295"/>
          </a:xfrm>
          <a:prstGeom prst="round2SameRect">
            <a:avLst>
              <a:gd name="adj1" fmla="val 50000"/>
              <a:gd name="adj2" fmla="val 0"/>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4" name="직선 연결선 73"/>
          <p:cNvCxnSpPr/>
          <p:nvPr/>
        </p:nvCxnSpPr>
        <p:spPr>
          <a:xfrm>
            <a:off x="1828797" y="4066021"/>
            <a:ext cx="403664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Rectangle 14"/>
          <p:cNvSpPr>
            <a:spLocks noChangeArrowheads="1"/>
          </p:cNvSpPr>
          <p:nvPr/>
        </p:nvSpPr>
        <p:spPr bwMode="auto">
          <a:xfrm flipV="1">
            <a:off x="5068874" y="3996168"/>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6" name="Rectangle 14"/>
          <p:cNvSpPr>
            <a:spLocks noChangeArrowheads="1"/>
          </p:cNvSpPr>
          <p:nvPr/>
        </p:nvSpPr>
        <p:spPr bwMode="auto">
          <a:xfrm flipV="1">
            <a:off x="3775043" y="3996168"/>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7" name="Rectangle 14"/>
          <p:cNvSpPr>
            <a:spLocks noChangeArrowheads="1"/>
          </p:cNvSpPr>
          <p:nvPr/>
        </p:nvSpPr>
        <p:spPr bwMode="auto">
          <a:xfrm flipV="1">
            <a:off x="2462709" y="3996168"/>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 name="직사각형 8"/>
          <p:cNvSpPr/>
          <p:nvPr/>
        </p:nvSpPr>
        <p:spPr>
          <a:xfrm>
            <a:off x="1979234" y="4435164"/>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a:t>
            </a:r>
            <a:r>
              <a:rPr lang="en-US" altLang="ko-KR" sz="1000" dirty="0">
                <a:solidFill>
                  <a:schemeClr val="tx1"/>
                </a:solidFill>
              </a:rPr>
              <a:t>(X)</a:t>
            </a:r>
            <a:endParaRPr lang="ko-KR" altLang="en-US" sz="1000" dirty="0">
              <a:solidFill>
                <a:schemeClr val="tx1"/>
              </a:solidFill>
            </a:endParaRPr>
          </a:p>
        </p:txBody>
      </p:sp>
      <p:sp>
        <p:nvSpPr>
          <p:cNvPr id="78" name="직사각형 77"/>
          <p:cNvSpPr/>
          <p:nvPr/>
        </p:nvSpPr>
        <p:spPr>
          <a:xfrm>
            <a:off x="3291568" y="4435164"/>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a:t>
            </a:r>
            <a:r>
              <a:rPr lang="en-US" altLang="ko-KR" sz="1000" dirty="0">
                <a:solidFill>
                  <a:schemeClr val="tx1"/>
                </a:solidFill>
              </a:rPr>
              <a:t>(Y)</a:t>
            </a:r>
            <a:endParaRPr lang="ko-KR" altLang="en-US" sz="1000" dirty="0">
              <a:solidFill>
                <a:schemeClr val="tx1"/>
              </a:solidFill>
            </a:endParaRPr>
          </a:p>
        </p:txBody>
      </p:sp>
      <p:sp>
        <p:nvSpPr>
          <p:cNvPr id="79" name="직사각형 78"/>
          <p:cNvSpPr/>
          <p:nvPr/>
        </p:nvSpPr>
        <p:spPr>
          <a:xfrm>
            <a:off x="4585399" y="4435164"/>
            <a:ext cx="1111100" cy="2022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a:t>
            </a:r>
            <a:r>
              <a:rPr lang="en-US" altLang="ko-KR" sz="1000" dirty="0">
                <a:solidFill>
                  <a:schemeClr val="tx1"/>
                </a:solidFill>
              </a:rPr>
              <a:t>(Z)</a:t>
            </a:r>
            <a:endParaRPr lang="ko-KR" altLang="en-US" sz="1000" dirty="0">
              <a:solidFill>
                <a:schemeClr val="tx1"/>
              </a:solidFill>
            </a:endParaRPr>
          </a:p>
        </p:txBody>
      </p:sp>
      <p:sp>
        <p:nvSpPr>
          <p:cNvPr id="81" name="직사각형 80"/>
          <p:cNvSpPr/>
          <p:nvPr/>
        </p:nvSpPr>
        <p:spPr>
          <a:xfrm>
            <a:off x="4585399" y="4637386"/>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기초 우선권주장</a:t>
            </a:r>
          </a:p>
        </p:txBody>
      </p:sp>
      <p:sp>
        <p:nvSpPr>
          <p:cNvPr id="82" name="직사각형 81"/>
          <p:cNvSpPr/>
          <p:nvPr/>
        </p:nvSpPr>
        <p:spPr>
          <a:xfrm>
            <a:off x="4585399" y="4839607"/>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Y</a:t>
            </a:r>
            <a:r>
              <a:rPr lang="ko-KR" altLang="en-US" sz="1000" dirty="0">
                <a:solidFill>
                  <a:schemeClr val="tx1"/>
                </a:solidFill>
              </a:rPr>
              <a:t>기초 우선권주장</a:t>
            </a:r>
          </a:p>
        </p:txBody>
      </p:sp>
      <p:cxnSp>
        <p:nvCxnSpPr>
          <p:cNvPr id="12" name="직선 연결선 11"/>
          <p:cNvCxnSpPr>
            <a:stCxn id="9" idx="0"/>
          </p:cNvCxnSpPr>
          <p:nvPr/>
        </p:nvCxnSpPr>
        <p:spPr>
          <a:xfrm flipV="1">
            <a:off x="2534784" y="4213653"/>
            <a:ext cx="0" cy="22151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직선 연결선 26"/>
          <p:cNvCxnSpPr>
            <a:stCxn id="78" idx="0"/>
            <a:endCxn id="76" idx="0"/>
          </p:cNvCxnSpPr>
          <p:nvPr/>
        </p:nvCxnSpPr>
        <p:spPr>
          <a:xfrm flipV="1">
            <a:off x="3847118" y="4135873"/>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직선 연결선 28"/>
          <p:cNvCxnSpPr>
            <a:stCxn id="79" idx="0"/>
            <a:endCxn id="75" idx="0"/>
          </p:cNvCxnSpPr>
          <p:nvPr/>
        </p:nvCxnSpPr>
        <p:spPr>
          <a:xfrm flipV="1">
            <a:off x="5140949" y="4135873"/>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5" name="양쪽 모서리가 둥근 사각형 84"/>
          <p:cNvSpPr/>
          <p:nvPr/>
        </p:nvSpPr>
        <p:spPr>
          <a:xfrm rot="10800000">
            <a:off x="3880984" y="5534408"/>
            <a:ext cx="1259964" cy="246421"/>
          </a:xfrm>
          <a:prstGeom prst="round2SameRect">
            <a:avLst>
              <a:gd name="adj1" fmla="val 50000"/>
              <a:gd name="adj2" fmla="val 0"/>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86" name="양쪽 모서리가 둥근 사각형 85"/>
          <p:cNvSpPr/>
          <p:nvPr/>
        </p:nvSpPr>
        <p:spPr>
          <a:xfrm>
            <a:off x="2534785" y="5207147"/>
            <a:ext cx="1312333" cy="315295"/>
          </a:xfrm>
          <a:prstGeom prst="round2SameRect">
            <a:avLst>
              <a:gd name="adj1" fmla="val 50000"/>
              <a:gd name="adj2" fmla="val 0"/>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7" name="직선 연결선 86"/>
          <p:cNvCxnSpPr/>
          <p:nvPr/>
        </p:nvCxnSpPr>
        <p:spPr>
          <a:xfrm>
            <a:off x="1828797" y="5522442"/>
            <a:ext cx="403664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8" name="Rectangle 14"/>
          <p:cNvSpPr>
            <a:spLocks noChangeArrowheads="1"/>
          </p:cNvSpPr>
          <p:nvPr/>
        </p:nvSpPr>
        <p:spPr bwMode="auto">
          <a:xfrm flipV="1">
            <a:off x="5068874" y="5452589"/>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9" name="Rectangle 14"/>
          <p:cNvSpPr>
            <a:spLocks noChangeArrowheads="1"/>
          </p:cNvSpPr>
          <p:nvPr/>
        </p:nvSpPr>
        <p:spPr bwMode="auto">
          <a:xfrm flipV="1">
            <a:off x="3775043" y="5452589"/>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0" name="Rectangle 14"/>
          <p:cNvSpPr>
            <a:spLocks noChangeArrowheads="1"/>
          </p:cNvSpPr>
          <p:nvPr/>
        </p:nvSpPr>
        <p:spPr bwMode="auto">
          <a:xfrm flipV="1">
            <a:off x="2462709" y="5452589"/>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1" name="직사각형 90"/>
          <p:cNvSpPr/>
          <p:nvPr/>
        </p:nvSpPr>
        <p:spPr>
          <a:xfrm>
            <a:off x="1979234" y="5891585"/>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a:t>
            </a:r>
            <a:r>
              <a:rPr lang="en-US" altLang="ko-KR" sz="1000" dirty="0">
                <a:solidFill>
                  <a:schemeClr val="tx1"/>
                </a:solidFill>
              </a:rPr>
              <a:t>(X)</a:t>
            </a:r>
            <a:endParaRPr lang="ko-KR" altLang="en-US" sz="1000" dirty="0">
              <a:solidFill>
                <a:schemeClr val="tx1"/>
              </a:solidFill>
            </a:endParaRPr>
          </a:p>
        </p:txBody>
      </p:sp>
      <p:sp>
        <p:nvSpPr>
          <p:cNvPr id="92" name="직사각형 91"/>
          <p:cNvSpPr/>
          <p:nvPr/>
        </p:nvSpPr>
        <p:spPr>
          <a:xfrm>
            <a:off x="3291568" y="5891585"/>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a:t>
            </a:r>
            <a:r>
              <a:rPr lang="en-US" altLang="ko-KR" sz="1000" dirty="0">
                <a:solidFill>
                  <a:schemeClr val="tx1"/>
                </a:solidFill>
              </a:rPr>
              <a:t>(Y)</a:t>
            </a:r>
            <a:endParaRPr lang="ko-KR" altLang="en-US" sz="1000" dirty="0">
              <a:solidFill>
                <a:schemeClr val="tx1"/>
              </a:solidFill>
            </a:endParaRPr>
          </a:p>
        </p:txBody>
      </p:sp>
      <p:sp>
        <p:nvSpPr>
          <p:cNvPr id="93" name="직사각형 92"/>
          <p:cNvSpPr/>
          <p:nvPr/>
        </p:nvSpPr>
        <p:spPr>
          <a:xfrm>
            <a:off x="4585399" y="5891585"/>
            <a:ext cx="1111100" cy="2022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a:t>
            </a:r>
            <a:r>
              <a:rPr lang="en-US" altLang="ko-KR" sz="1000" dirty="0">
                <a:solidFill>
                  <a:schemeClr val="tx1"/>
                </a:solidFill>
              </a:rPr>
              <a:t>(Z)</a:t>
            </a:r>
            <a:endParaRPr lang="ko-KR" altLang="en-US" sz="1000" dirty="0">
              <a:solidFill>
                <a:schemeClr val="tx1"/>
              </a:solidFill>
            </a:endParaRPr>
          </a:p>
        </p:txBody>
      </p:sp>
      <p:sp>
        <p:nvSpPr>
          <p:cNvPr id="94" name="직사각형 93"/>
          <p:cNvSpPr/>
          <p:nvPr/>
        </p:nvSpPr>
        <p:spPr>
          <a:xfrm>
            <a:off x="4585399" y="6093807"/>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Y</a:t>
            </a:r>
            <a:r>
              <a:rPr lang="ko-KR" altLang="en-US" sz="1000" dirty="0">
                <a:solidFill>
                  <a:schemeClr val="tx1"/>
                </a:solidFill>
              </a:rPr>
              <a:t>기초 우선권주장</a:t>
            </a:r>
          </a:p>
        </p:txBody>
      </p:sp>
      <p:sp>
        <p:nvSpPr>
          <p:cNvPr id="95" name="직사각형 94"/>
          <p:cNvSpPr/>
          <p:nvPr/>
        </p:nvSpPr>
        <p:spPr>
          <a:xfrm>
            <a:off x="3291568" y="6084085"/>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기초 우선권주장</a:t>
            </a:r>
          </a:p>
        </p:txBody>
      </p:sp>
      <p:cxnSp>
        <p:nvCxnSpPr>
          <p:cNvPr id="96" name="직선 연결선 95"/>
          <p:cNvCxnSpPr>
            <a:stCxn id="91" idx="0"/>
          </p:cNvCxnSpPr>
          <p:nvPr/>
        </p:nvCxnSpPr>
        <p:spPr>
          <a:xfrm flipV="1">
            <a:off x="2534784" y="5670074"/>
            <a:ext cx="0" cy="22151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직선 연결선 96"/>
          <p:cNvCxnSpPr>
            <a:stCxn id="92" idx="0"/>
            <a:endCxn id="89" idx="0"/>
          </p:cNvCxnSpPr>
          <p:nvPr/>
        </p:nvCxnSpPr>
        <p:spPr>
          <a:xfrm flipV="1">
            <a:off x="3847118" y="5592294"/>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직선 연결선 97"/>
          <p:cNvCxnSpPr>
            <a:stCxn id="93" idx="0"/>
            <a:endCxn id="88" idx="0"/>
          </p:cNvCxnSpPr>
          <p:nvPr/>
        </p:nvCxnSpPr>
        <p:spPr>
          <a:xfrm flipV="1">
            <a:off x="5140949" y="5592294"/>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모서리가 둥근 직사각형 33"/>
          <p:cNvSpPr/>
          <p:nvPr/>
        </p:nvSpPr>
        <p:spPr>
          <a:xfrm>
            <a:off x="169333" y="3925347"/>
            <a:ext cx="1388534" cy="305280"/>
          </a:xfrm>
          <a:prstGeom prst="roundRect">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복합우선권주장</a:t>
            </a:r>
          </a:p>
        </p:txBody>
      </p:sp>
      <p:sp>
        <p:nvSpPr>
          <p:cNvPr id="99" name="모서리가 둥근 직사각형 98"/>
          <p:cNvSpPr/>
          <p:nvPr/>
        </p:nvSpPr>
        <p:spPr>
          <a:xfrm>
            <a:off x="169333" y="5369802"/>
            <a:ext cx="1388534" cy="305280"/>
          </a:xfrm>
          <a:prstGeom prst="roundRect">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t>누적적우선권주장</a:t>
            </a:r>
            <a:endParaRPr lang="ko-KR" altLang="en-US" sz="1200" dirty="0"/>
          </a:p>
        </p:txBody>
      </p:sp>
      <p:cxnSp>
        <p:nvCxnSpPr>
          <p:cNvPr id="36" name="직선 연결선 35"/>
          <p:cNvCxnSpPr/>
          <p:nvPr/>
        </p:nvCxnSpPr>
        <p:spPr>
          <a:xfrm>
            <a:off x="347133" y="5139265"/>
            <a:ext cx="5518307" cy="0"/>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모서리가 둥근 사각형 설명선 41"/>
          <p:cNvSpPr/>
          <p:nvPr/>
        </p:nvSpPr>
        <p:spPr>
          <a:xfrm>
            <a:off x="1202268" y="6477003"/>
            <a:ext cx="4174066" cy="277283"/>
          </a:xfrm>
          <a:prstGeom prst="wedgeRoundRectCallout">
            <a:avLst>
              <a:gd name="adj1" fmla="val 33818"/>
              <a:gd name="adj2" fmla="val -102386"/>
              <a:gd name="adj3" fmla="val 16667"/>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Y</a:t>
            </a:r>
            <a:r>
              <a:rPr lang="ko-KR" altLang="en-US" sz="1100" dirty="0">
                <a:solidFill>
                  <a:schemeClr val="tx1"/>
                </a:solidFill>
              </a:rPr>
              <a:t>기초 우선권주장이 국내우선권주장일 때 이를 이중우선권주장이라 함</a:t>
            </a:r>
          </a:p>
        </p:txBody>
      </p:sp>
      <p:cxnSp>
        <p:nvCxnSpPr>
          <p:cNvPr id="102" name="직선 연결선 101"/>
          <p:cNvCxnSpPr/>
          <p:nvPr/>
        </p:nvCxnSpPr>
        <p:spPr>
          <a:xfrm>
            <a:off x="6392333" y="4864021"/>
            <a:ext cx="562186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Rectangle 14"/>
          <p:cNvSpPr>
            <a:spLocks noChangeArrowheads="1"/>
          </p:cNvSpPr>
          <p:nvPr/>
        </p:nvSpPr>
        <p:spPr bwMode="auto">
          <a:xfrm flipV="1">
            <a:off x="11063313" y="4794168"/>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4" name="Rectangle 14"/>
          <p:cNvSpPr>
            <a:spLocks noChangeArrowheads="1"/>
          </p:cNvSpPr>
          <p:nvPr/>
        </p:nvSpPr>
        <p:spPr bwMode="auto">
          <a:xfrm flipV="1">
            <a:off x="9058254" y="4794168"/>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5" name="Rectangle 14"/>
          <p:cNvSpPr>
            <a:spLocks noChangeArrowheads="1"/>
          </p:cNvSpPr>
          <p:nvPr/>
        </p:nvSpPr>
        <p:spPr bwMode="auto">
          <a:xfrm flipV="1">
            <a:off x="7127829" y="4794168"/>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6" name="직사각형 105"/>
          <p:cNvSpPr/>
          <p:nvPr/>
        </p:nvSpPr>
        <p:spPr>
          <a:xfrm>
            <a:off x="6644354" y="5233164"/>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a:t>
            </a:r>
            <a:r>
              <a:rPr lang="en-US" altLang="ko-KR" sz="1000" dirty="0">
                <a:solidFill>
                  <a:schemeClr val="tx1"/>
                </a:solidFill>
              </a:rPr>
              <a:t>(X)</a:t>
            </a:r>
            <a:endParaRPr lang="ko-KR" altLang="en-US" sz="1000" dirty="0">
              <a:solidFill>
                <a:schemeClr val="tx1"/>
              </a:solidFill>
            </a:endParaRPr>
          </a:p>
        </p:txBody>
      </p:sp>
      <p:sp>
        <p:nvSpPr>
          <p:cNvPr id="107" name="직사각형 106"/>
          <p:cNvSpPr/>
          <p:nvPr/>
        </p:nvSpPr>
        <p:spPr>
          <a:xfrm>
            <a:off x="8574779" y="5233164"/>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(Y)</a:t>
            </a:r>
            <a:endParaRPr lang="ko-KR" altLang="en-US" sz="1000" dirty="0">
              <a:solidFill>
                <a:schemeClr val="tx1"/>
              </a:solidFill>
            </a:endParaRPr>
          </a:p>
        </p:txBody>
      </p:sp>
      <p:sp>
        <p:nvSpPr>
          <p:cNvPr id="108" name="직사각형 107"/>
          <p:cNvSpPr/>
          <p:nvPr/>
        </p:nvSpPr>
        <p:spPr>
          <a:xfrm>
            <a:off x="10579838" y="5233164"/>
            <a:ext cx="1111100" cy="2022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(Z)</a:t>
            </a:r>
            <a:endParaRPr lang="ko-KR" altLang="en-US" sz="1000" dirty="0">
              <a:solidFill>
                <a:schemeClr val="tx1"/>
              </a:solidFill>
            </a:endParaRPr>
          </a:p>
        </p:txBody>
      </p:sp>
      <p:sp>
        <p:nvSpPr>
          <p:cNvPr id="109" name="직사각형 108"/>
          <p:cNvSpPr/>
          <p:nvPr/>
        </p:nvSpPr>
        <p:spPr>
          <a:xfrm>
            <a:off x="10579838" y="5435386"/>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Y</a:t>
            </a:r>
            <a:r>
              <a:rPr lang="ko-KR" altLang="en-US" sz="1000" dirty="0">
                <a:solidFill>
                  <a:schemeClr val="tx1"/>
                </a:solidFill>
              </a:rPr>
              <a:t>기초 우선권주장</a:t>
            </a:r>
          </a:p>
        </p:txBody>
      </p:sp>
      <p:sp>
        <p:nvSpPr>
          <p:cNvPr id="110" name="직사각형 109"/>
          <p:cNvSpPr/>
          <p:nvPr/>
        </p:nvSpPr>
        <p:spPr>
          <a:xfrm>
            <a:off x="8574779" y="5425664"/>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기초 우선권주장</a:t>
            </a:r>
          </a:p>
        </p:txBody>
      </p:sp>
      <p:cxnSp>
        <p:nvCxnSpPr>
          <p:cNvPr id="111" name="직선 연결선 110"/>
          <p:cNvCxnSpPr>
            <a:stCxn id="106" idx="0"/>
          </p:cNvCxnSpPr>
          <p:nvPr/>
        </p:nvCxnSpPr>
        <p:spPr>
          <a:xfrm flipV="1">
            <a:off x="7199904" y="5011653"/>
            <a:ext cx="0" cy="22151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직선 연결선 111"/>
          <p:cNvCxnSpPr>
            <a:stCxn id="107" idx="0"/>
            <a:endCxn id="104" idx="0"/>
          </p:cNvCxnSpPr>
          <p:nvPr/>
        </p:nvCxnSpPr>
        <p:spPr>
          <a:xfrm flipV="1">
            <a:off x="9130329" y="4933873"/>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3" name="직선 연결선 112"/>
          <p:cNvCxnSpPr>
            <a:stCxn id="108" idx="0"/>
            <a:endCxn id="103" idx="0"/>
          </p:cNvCxnSpPr>
          <p:nvPr/>
        </p:nvCxnSpPr>
        <p:spPr>
          <a:xfrm flipV="1">
            <a:off x="11135388" y="4933873"/>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33" name="그룹 132"/>
          <p:cNvGrpSpPr/>
          <p:nvPr/>
        </p:nvGrpSpPr>
        <p:grpSpPr>
          <a:xfrm>
            <a:off x="6827028" y="3818361"/>
            <a:ext cx="4675206" cy="848959"/>
            <a:chOff x="6827028" y="4386126"/>
            <a:chExt cx="4675206" cy="459001"/>
          </a:xfrm>
        </p:grpSpPr>
        <p:sp>
          <p:nvSpPr>
            <p:cNvPr id="114" name="직사각형 113"/>
            <p:cNvSpPr/>
            <p:nvPr/>
          </p:nvSpPr>
          <p:spPr>
            <a:xfrm>
              <a:off x="6827028" y="4386126"/>
              <a:ext cx="733692"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115" name="직사각형 114"/>
            <p:cNvSpPr/>
            <p:nvPr/>
          </p:nvSpPr>
          <p:spPr>
            <a:xfrm>
              <a:off x="6827028" y="4615627"/>
              <a:ext cx="733692" cy="22950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116" name="직사각형 115"/>
            <p:cNvSpPr/>
            <p:nvPr/>
          </p:nvSpPr>
          <p:spPr>
            <a:xfrm>
              <a:off x="8763483" y="4386126"/>
              <a:ext cx="733692"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117" name="직사각형 116"/>
            <p:cNvSpPr/>
            <p:nvPr/>
          </p:nvSpPr>
          <p:spPr>
            <a:xfrm>
              <a:off x="8763483" y="4615627"/>
              <a:ext cx="733692" cy="22950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118" name="직사각형 117"/>
            <p:cNvSpPr/>
            <p:nvPr/>
          </p:nvSpPr>
          <p:spPr>
            <a:xfrm>
              <a:off x="10768542" y="4386126"/>
              <a:ext cx="733692" cy="22950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sp>
          <p:nvSpPr>
            <p:cNvPr id="119" name="직사각형 118"/>
            <p:cNvSpPr/>
            <p:nvPr/>
          </p:nvSpPr>
          <p:spPr>
            <a:xfrm>
              <a:off x="10768542" y="4615627"/>
              <a:ext cx="733692" cy="22950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grpSp>
      <p:cxnSp>
        <p:nvCxnSpPr>
          <p:cNvPr id="123" name="직선 연결선 122"/>
          <p:cNvCxnSpPr>
            <a:stCxn id="115" idx="3"/>
            <a:endCxn id="117" idx="1"/>
          </p:cNvCxnSpPr>
          <p:nvPr/>
        </p:nvCxnSpPr>
        <p:spPr>
          <a:xfrm>
            <a:off x="7560720" y="4455081"/>
            <a:ext cx="1202763" cy="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4" name="직선 연결선 123"/>
          <p:cNvCxnSpPr>
            <a:stCxn id="117" idx="3"/>
            <a:endCxn id="119" idx="1"/>
          </p:cNvCxnSpPr>
          <p:nvPr/>
        </p:nvCxnSpPr>
        <p:spPr>
          <a:xfrm>
            <a:off x="9497175" y="4455081"/>
            <a:ext cx="1271367" cy="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7" name="직선 연결선 126"/>
          <p:cNvCxnSpPr>
            <a:stCxn id="117" idx="3"/>
            <a:endCxn id="118" idx="1"/>
          </p:cNvCxnSpPr>
          <p:nvPr/>
        </p:nvCxnSpPr>
        <p:spPr>
          <a:xfrm flipV="1">
            <a:off x="9497175" y="4030601"/>
            <a:ext cx="1271367" cy="42448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0" name="직사각형 129"/>
          <p:cNvSpPr/>
          <p:nvPr/>
        </p:nvSpPr>
        <p:spPr>
          <a:xfrm>
            <a:off x="7937831" y="4325870"/>
            <a:ext cx="554239" cy="2567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제</a:t>
            </a:r>
            <a:r>
              <a:rPr lang="en-US" altLang="ko-KR" sz="1000" dirty="0">
                <a:solidFill>
                  <a:schemeClr val="tx1"/>
                </a:solidFill>
              </a:rPr>
              <a:t>55</a:t>
            </a:r>
            <a:r>
              <a:rPr lang="ko-KR" altLang="en-US" sz="1000" dirty="0">
                <a:solidFill>
                  <a:schemeClr val="tx1"/>
                </a:solidFill>
              </a:rPr>
              <a:t>조</a:t>
            </a:r>
            <a:endParaRPr lang="en-US" altLang="ko-KR" sz="1000" dirty="0">
              <a:solidFill>
                <a:schemeClr val="tx1"/>
              </a:solidFill>
            </a:endParaRPr>
          </a:p>
          <a:p>
            <a:pPr algn="ctr"/>
            <a:r>
              <a:rPr lang="ko-KR" altLang="en-US" sz="1000" dirty="0">
                <a:solidFill>
                  <a:schemeClr val="tx1"/>
                </a:solidFill>
              </a:rPr>
              <a:t>제</a:t>
            </a:r>
            <a:r>
              <a:rPr lang="en-US" altLang="ko-KR" sz="1000" dirty="0">
                <a:solidFill>
                  <a:schemeClr val="tx1"/>
                </a:solidFill>
              </a:rPr>
              <a:t>5</a:t>
            </a:r>
            <a:r>
              <a:rPr lang="ko-KR" altLang="en-US" sz="1000" dirty="0">
                <a:solidFill>
                  <a:schemeClr val="tx1"/>
                </a:solidFill>
              </a:rPr>
              <a:t>항</a:t>
            </a:r>
          </a:p>
        </p:txBody>
      </p:sp>
      <p:sp>
        <p:nvSpPr>
          <p:cNvPr id="131" name="직사각형 130"/>
          <p:cNvSpPr/>
          <p:nvPr/>
        </p:nvSpPr>
        <p:spPr>
          <a:xfrm>
            <a:off x="9906817" y="4423339"/>
            <a:ext cx="583719" cy="2567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제</a:t>
            </a:r>
            <a:r>
              <a:rPr lang="en-US" altLang="ko-KR" sz="1000" dirty="0">
                <a:solidFill>
                  <a:schemeClr val="tx1"/>
                </a:solidFill>
              </a:rPr>
              <a:t>55</a:t>
            </a:r>
            <a:r>
              <a:rPr lang="ko-KR" altLang="en-US" sz="1000" dirty="0">
                <a:solidFill>
                  <a:schemeClr val="tx1"/>
                </a:solidFill>
              </a:rPr>
              <a:t>조</a:t>
            </a:r>
            <a:endParaRPr lang="en-US" altLang="ko-KR" sz="1000" dirty="0">
              <a:solidFill>
                <a:schemeClr val="tx1"/>
              </a:solidFill>
            </a:endParaRPr>
          </a:p>
          <a:p>
            <a:pPr algn="ctr"/>
            <a:r>
              <a:rPr lang="ko-KR" altLang="en-US" sz="1000" dirty="0">
                <a:solidFill>
                  <a:schemeClr val="tx1"/>
                </a:solidFill>
              </a:rPr>
              <a:t>제</a:t>
            </a:r>
            <a:r>
              <a:rPr lang="en-US" altLang="ko-KR" sz="1000" dirty="0">
                <a:solidFill>
                  <a:schemeClr val="tx1"/>
                </a:solidFill>
              </a:rPr>
              <a:t>4</a:t>
            </a:r>
            <a:r>
              <a:rPr lang="ko-KR" altLang="en-US" sz="1000" dirty="0">
                <a:solidFill>
                  <a:schemeClr val="tx1"/>
                </a:solidFill>
              </a:rPr>
              <a:t>항</a:t>
            </a:r>
          </a:p>
        </p:txBody>
      </p:sp>
      <p:sp>
        <p:nvSpPr>
          <p:cNvPr id="132" name="직사각형 131"/>
          <p:cNvSpPr/>
          <p:nvPr/>
        </p:nvSpPr>
        <p:spPr>
          <a:xfrm>
            <a:off x="9910983" y="4098940"/>
            <a:ext cx="579553" cy="2567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제</a:t>
            </a:r>
            <a:r>
              <a:rPr lang="en-US" altLang="ko-KR" sz="1000" dirty="0">
                <a:solidFill>
                  <a:schemeClr val="tx1"/>
                </a:solidFill>
              </a:rPr>
              <a:t>55</a:t>
            </a:r>
            <a:r>
              <a:rPr lang="ko-KR" altLang="en-US" sz="1000" dirty="0">
                <a:solidFill>
                  <a:schemeClr val="tx1"/>
                </a:solidFill>
              </a:rPr>
              <a:t>조</a:t>
            </a:r>
            <a:endParaRPr lang="en-US" altLang="ko-KR" sz="1000" dirty="0">
              <a:solidFill>
                <a:schemeClr val="tx1"/>
              </a:solidFill>
            </a:endParaRPr>
          </a:p>
          <a:p>
            <a:pPr algn="ctr"/>
            <a:r>
              <a:rPr lang="ko-KR" altLang="en-US" sz="1000" dirty="0">
                <a:solidFill>
                  <a:schemeClr val="tx1"/>
                </a:solidFill>
              </a:rPr>
              <a:t>제</a:t>
            </a:r>
            <a:r>
              <a:rPr lang="en-US" altLang="ko-KR" sz="1000" dirty="0">
                <a:solidFill>
                  <a:schemeClr val="tx1"/>
                </a:solidFill>
              </a:rPr>
              <a:t>3</a:t>
            </a:r>
            <a:r>
              <a:rPr lang="ko-KR" altLang="en-US" sz="1000" dirty="0">
                <a:solidFill>
                  <a:schemeClr val="tx1"/>
                </a:solidFill>
              </a:rPr>
              <a:t>항</a:t>
            </a:r>
          </a:p>
        </p:txBody>
      </p:sp>
      <p:sp>
        <p:nvSpPr>
          <p:cNvPr id="64" name="직사각형 63"/>
          <p:cNvSpPr/>
          <p:nvPr/>
        </p:nvSpPr>
        <p:spPr>
          <a:xfrm>
            <a:off x="8519567"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심</a:t>
            </a:r>
          </a:p>
        </p:txBody>
      </p:sp>
      <p:sp>
        <p:nvSpPr>
          <p:cNvPr id="65" name="직사각형 64"/>
          <p:cNvSpPr/>
          <p:nvPr/>
        </p:nvSpPr>
        <p:spPr>
          <a:xfrm>
            <a:off x="9146320"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공</a:t>
            </a:r>
          </a:p>
        </p:txBody>
      </p:sp>
      <p:sp>
        <p:nvSpPr>
          <p:cNvPr id="66" name="직사각형 65"/>
          <p:cNvSpPr/>
          <p:nvPr/>
        </p:nvSpPr>
        <p:spPr>
          <a:xfrm>
            <a:off x="9773073"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존</a:t>
            </a:r>
          </a:p>
        </p:txBody>
      </p:sp>
      <p:sp>
        <p:nvSpPr>
          <p:cNvPr id="67" name="직사각형 66"/>
          <p:cNvSpPr/>
          <p:nvPr/>
        </p:nvSpPr>
        <p:spPr>
          <a:xfrm>
            <a:off x="10388877"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재</a:t>
            </a:r>
          </a:p>
        </p:txBody>
      </p:sp>
      <p:sp>
        <p:nvSpPr>
          <p:cNvPr id="68" name="직사각형 67"/>
          <p:cNvSpPr/>
          <p:nvPr/>
        </p:nvSpPr>
        <p:spPr>
          <a:xfrm>
            <a:off x="10979427"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등</a:t>
            </a:r>
          </a:p>
        </p:txBody>
      </p:sp>
      <p:sp>
        <p:nvSpPr>
          <p:cNvPr id="69" name="직사각형 68"/>
          <p:cNvSpPr/>
          <p:nvPr/>
        </p:nvSpPr>
        <p:spPr>
          <a:xfrm>
            <a:off x="11589028" y="6181761"/>
            <a:ext cx="514350" cy="514350"/>
          </a:xfrm>
          <a:prstGeom prst="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이</a:t>
            </a:r>
          </a:p>
        </p:txBody>
      </p:sp>
      <p:sp>
        <p:nvSpPr>
          <p:cNvPr id="2" name="슬라이드 번호 개체 틀 1"/>
          <p:cNvSpPr>
            <a:spLocks noGrp="1"/>
          </p:cNvSpPr>
          <p:nvPr>
            <p:ph type="sldNum" sz="quarter" idx="12"/>
          </p:nvPr>
        </p:nvSpPr>
        <p:spPr/>
        <p:txBody>
          <a:bodyPr/>
          <a:lstStyle/>
          <a:p>
            <a:r>
              <a:rPr lang="en-US" altLang="ko-KR"/>
              <a:t>231</a:t>
            </a:r>
            <a:endParaRPr lang="ko-KR" altLang="en-US"/>
          </a:p>
        </p:txBody>
      </p:sp>
    </p:spTree>
    <p:extLst>
      <p:ext uri="{BB962C8B-B14F-4D97-AF65-F5344CB8AC3E}">
        <p14:creationId xmlns:p14="http://schemas.microsoft.com/office/powerpoint/2010/main" val="2093248018"/>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7" name="직선 연결선 156"/>
          <p:cNvCxnSpPr/>
          <p:nvPr/>
        </p:nvCxnSpPr>
        <p:spPr>
          <a:xfrm>
            <a:off x="7765666" y="3965545"/>
            <a:ext cx="0" cy="280778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직선 연결선 155"/>
          <p:cNvCxnSpPr/>
          <p:nvPr/>
        </p:nvCxnSpPr>
        <p:spPr>
          <a:xfrm>
            <a:off x="5168328" y="3965545"/>
            <a:ext cx="0" cy="280778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직선 연결선 154"/>
          <p:cNvCxnSpPr>
            <a:stCxn id="106" idx="2"/>
          </p:cNvCxnSpPr>
          <p:nvPr/>
        </p:nvCxnSpPr>
        <p:spPr>
          <a:xfrm>
            <a:off x="2653269" y="3965545"/>
            <a:ext cx="0" cy="280778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제목 3"/>
          <p:cNvSpPr>
            <a:spLocks noGrp="1"/>
          </p:cNvSpPr>
          <p:nvPr>
            <p:ph type="title"/>
          </p:nvPr>
        </p:nvSpPr>
        <p:spPr/>
        <p:txBody>
          <a:bodyPr/>
          <a:lstStyle/>
          <a:p>
            <a:r>
              <a:rPr lang="ko-KR" altLang="en-US" dirty="0"/>
              <a:t>제</a:t>
            </a:r>
            <a:r>
              <a:rPr lang="en-US" altLang="ko-KR" dirty="0"/>
              <a:t>55</a:t>
            </a:r>
            <a:r>
              <a:rPr lang="ko-KR" altLang="en-US" dirty="0"/>
              <a:t>조</a:t>
            </a:r>
            <a:r>
              <a:rPr lang="en-US" altLang="ko-KR" dirty="0"/>
              <a:t>, </a:t>
            </a:r>
            <a:r>
              <a:rPr lang="ko-KR" altLang="en-US" dirty="0"/>
              <a:t>제</a:t>
            </a:r>
            <a:r>
              <a:rPr lang="en-US" altLang="ko-KR" dirty="0"/>
              <a:t>56</a:t>
            </a:r>
            <a:r>
              <a:rPr lang="ko-KR" altLang="en-US" dirty="0"/>
              <a:t>조</a:t>
            </a:r>
          </a:p>
        </p:txBody>
      </p:sp>
      <p:sp>
        <p:nvSpPr>
          <p:cNvPr id="5" name="텍스트 개체 틀 4"/>
          <p:cNvSpPr>
            <a:spLocks noGrp="1"/>
          </p:cNvSpPr>
          <p:nvPr>
            <p:ph type="body" sz="quarter" idx="13"/>
          </p:nvPr>
        </p:nvSpPr>
        <p:spPr/>
        <p:txBody>
          <a:bodyPr/>
          <a:lstStyle/>
          <a:p>
            <a:r>
              <a:rPr lang="ko-KR" altLang="en-US" dirty="0" err="1"/>
              <a:t>이중우선권주장의</a:t>
            </a:r>
            <a:r>
              <a:rPr lang="ko-KR" altLang="en-US" dirty="0"/>
              <a:t> </a:t>
            </a:r>
            <a:r>
              <a:rPr lang="en-US" altLang="ko-KR" dirty="0"/>
              <a:t>CASE</a:t>
            </a:r>
            <a:endParaRPr lang="ko-KR" altLang="en-US" dirty="0"/>
          </a:p>
        </p:txBody>
      </p:sp>
      <p:cxnSp>
        <p:nvCxnSpPr>
          <p:cNvPr id="56" name="직선 연결선 55"/>
          <p:cNvCxnSpPr/>
          <p:nvPr/>
        </p:nvCxnSpPr>
        <p:spPr>
          <a:xfrm>
            <a:off x="0" y="237579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77875" y="986046"/>
            <a:ext cx="11936323" cy="1384995"/>
          </a:xfrm>
          <a:prstGeom prst="rect">
            <a:avLst/>
          </a:prstGeom>
          <a:noFill/>
        </p:spPr>
        <p:txBody>
          <a:bodyPr wrap="square" rtlCol="0">
            <a:spAutoFit/>
          </a:bodyPr>
          <a:lstStyle/>
          <a:p>
            <a:pPr fontAlgn="base"/>
            <a:r>
              <a:rPr lang="en-US" altLang="ko-KR" sz="1400" dirty="0">
                <a:solidFill>
                  <a:schemeClr val="tx2"/>
                </a:solidFill>
              </a:rPr>
              <a:t>Z </a:t>
            </a:r>
            <a:r>
              <a:rPr lang="ko-KR" altLang="en-US" sz="1400" dirty="0">
                <a:solidFill>
                  <a:schemeClr val="tx2"/>
                </a:solidFill>
              </a:rPr>
              <a:t>출원은 </a:t>
            </a:r>
            <a:r>
              <a:rPr lang="en-US" altLang="ko-KR" sz="1400" dirty="0">
                <a:solidFill>
                  <a:schemeClr val="tx2"/>
                </a:solidFill>
              </a:rPr>
              <a:t>X </a:t>
            </a:r>
            <a:r>
              <a:rPr lang="ko-KR" altLang="en-US" sz="1400" dirty="0">
                <a:solidFill>
                  <a:schemeClr val="tx2"/>
                </a:solidFill>
              </a:rPr>
              <a:t>기초와 </a:t>
            </a:r>
            <a:r>
              <a:rPr lang="en-US" altLang="ko-KR" sz="1400" dirty="0">
                <a:solidFill>
                  <a:schemeClr val="tx2"/>
                </a:solidFill>
              </a:rPr>
              <a:t>Y </a:t>
            </a:r>
            <a:r>
              <a:rPr lang="ko-KR" altLang="en-US" sz="1400" dirty="0">
                <a:solidFill>
                  <a:schemeClr val="tx2"/>
                </a:solidFill>
              </a:rPr>
              <a:t>기초의 복합우선으로서 우선권주장에 의한 소급효 여부는 </a:t>
            </a:r>
            <a:r>
              <a:rPr lang="en-US" altLang="ko-KR" sz="1400" dirty="0">
                <a:solidFill>
                  <a:schemeClr val="tx2"/>
                </a:solidFill>
              </a:rPr>
              <a:t>X </a:t>
            </a:r>
            <a:r>
              <a:rPr lang="ko-KR" altLang="en-US" sz="1400" dirty="0">
                <a:solidFill>
                  <a:schemeClr val="tx2"/>
                </a:solidFill>
              </a:rPr>
              <a:t>기초에 의한 우선권주장과 </a:t>
            </a:r>
            <a:r>
              <a:rPr lang="en-US" altLang="ko-KR" sz="1400" dirty="0">
                <a:solidFill>
                  <a:schemeClr val="tx2"/>
                </a:solidFill>
              </a:rPr>
              <a:t>Y </a:t>
            </a:r>
            <a:r>
              <a:rPr lang="ko-KR" altLang="en-US" sz="1400" dirty="0">
                <a:solidFill>
                  <a:schemeClr val="tx2"/>
                </a:solidFill>
              </a:rPr>
              <a:t>기초에 의한 우선권주장을 각각 별도로 판단한 후 </a:t>
            </a:r>
            <a:r>
              <a:rPr lang="ko-KR" altLang="en-US" sz="1400" dirty="0" err="1">
                <a:solidFill>
                  <a:schemeClr val="tx2"/>
                </a:solidFill>
              </a:rPr>
              <a:t>출원인에게</a:t>
            </a:r>
            <a:r>
              <a:rPr lang="ko-KR" altLang="en-US" sz="1400" dirty="0">
                <a:solidFill>
                  <a:schemeClr val="tx2"/>
                </a:solidFill>
              </a:rPr>
              <a:t> 유리하게 해석하여야 한다</a:t>
            </a:r>
            <a:r>
              <a:rPr lang="en-US" altLang="ko-KR" sz="1400" dirty="0">
                <a:solidFill>
                  <a:schemeClr val="tx2"/>
                </a:solidFill>
              </a:rPr>
              <a:t>. </a:t>
            </a:r>
            <a:r>
              <a:rPr lang="ko-KR" altLang="en-US" sz="1400" dirty="0">
                <a:solidFill>
                  <a:schemeClr val="tx2"/>
                </a:solidFill>
              </a:rPr>
              <a:t>먼저</a:t>
            </a:r>
            <a:r>
              <a:rPr lang="en-US" altLang="ko-KR" sz="1400" dirty="0">
                <a:solidFill>
                  <a:schemeClr val="tx2"/>
                </a:solidFill>
              </a:rPr>
              <a:t>, X </a:t>
            </a:r>
            <a:r>
              <a:rPr lang="ko-KR" altLang="en-US" sz="1400" dirty="0">
                <a:solidFill>
                  <a:schemeClr val="tx2"/>
                </a:solidFill>
              </a:rPr>
              <a:t>기초의 우선권주장은 </a:t>
            </a:r>
            <a:r>
              <a:rPr lang="en-US" altLang="ko-KR" sz="1400" dirty="0">
                <a:solidFill>
                  <a:schemeClr val="tx2"/>
                </a:solidFill>
              </a:rPr>
              <a:t>Z</a:t>
            </a:r>
            <a:r>
              <a:rPr lang="ko-KR" altLang="en-US" sz="1400" dirty="0">
                <a:solidFill>
                  <a:schemeClr val="tx2"/>
                </a:solidFill>
              </a:rPr>
              <a:t>출원의 청구범위에 기재된 </a:t>
            </a:r>
            <a:r>
              <a:rPr lang="en-US" altLang="ko-KR" sz="1400" dirty="0">
                <a:solidFill>
                  <a:schemeClr val="tx2"/>
                </a:solidFill>
              </a:rPr>
              <a:t>A, B, C </a:t>
            </a:r>
            <a:r>
              <a:rPr lang="ko-KR" altLang="en-US" sz="1400" dirty="0">
                <a:solidFill>
                  <a:schemeClr val="tx2"/>
                </a:solidFill>
              </a:rPr>
              <a:t>발명 중 </a:t>
            </a:r>
            <a:r>
              <a:rPr lang="en-US" altLang="ko-KR" sz="1400" dirty="0">
                <a:solidFill>
                  <a:schemeClr val="tx2"/>
                </a:solidFill>
              </a:rPr>
              <a:t>X</a:t>
            </a:r>
            <a:r>
              <a:rPr lang="ko-KR" altLang="en-US" sz="1400" dirty="0">
                <a:solidFill>
                  <a:schemeClr val="tx2"/>
                </a:solidFill>
              </a:rPr>
              <a:t>출원의 최초 명세서 또는 도면에 기재된 </a:t>
            </a:r>
            <a:r>
              <a:rPr lang="en-US" altLang="ko-KR" sz="1400" dirty="0">
                <a:solidFill>
                  <a:schemeClr val="tx2"/>
                </a:solidFill>
              </a:rPr>
              <a:t>A </a:t>
            </a:r>
            <a:r>
              <a:rPr lang="ko-KR" altLang="en-US" sz="1400" dirty="0">
                <a:solidFill>
                  <a:schemeClr val="tx2"/>
                </a:solidFill>
              </a:rPr>
              <a:t>발명만 </a:t>
            </a:r>
            <a:r>
              <a:rPr lang="en-US" altLang="ko-KR" sz="1400" dirty="0">
                <a:solidFill>
                  <a:schemeClr val="tx2"/>
                </a:solidFill>
              </a:rPr>
              <a:t>X </a:t>
            </a:r>
            <a:r>
              <a:rPr lang="ko-KR" altLang="en-US" sz="1400" dirty="0">
                <a:solidFill>
                  <a:schemeClr val="tx2"/>
                </a:solidFill>
              </a:rPr>
              <a:t>출원일로 판단시점이 소급되고</a:t>
            </a:r>
            <a:r>
              <a:rPr lang="en-US" altLang="ko-KR" sz="1400" dirty="0">
                <a:solidFill>
                  <a:schemeClr val="tx2"/>
                </a:solidFill>
              </a:rPr>
              <a:t>, </a:t>
            </a:r>
            <a:r>
              <a:rPr lang="ko-KR" altLang="en-US" sz="1400" dirty="0">
                <a:solidFill>
                  <a:schemeClr val="tx2"/>
                </a:solidFill>
              </a:rPr>
              <a:t>그렇지 아니한 </a:t>
            </a:r>
            <a:r>
              <a:rPr lang="en-US" altLang="ko-KR" sz="1400" dirty="0">
                <a:solidFill>
                  <a:schemeClr val="tx2"/>
                </a:solidFill>
              </a:rPr>
              <a:t>B, C </a:t>
            </a:r>
            <a:r>
              <a:rPr lang="ko-KR" altLang="en-US" sz="1400" dirty="0">
                <a:solidFill>
                  <a:schemeClr val="tx2"/>
                </a:solidFill>
              </a:rPr>
              <a:t>발명은 판단시점이 소급되지 아니한다</a:t>
            </a:r>
            <a:r>
              <a:rPr lang="en-US" altLang="ko-KR" sz="1400" dirty="0">
                <a:solidFill>
                  <a:schemeClr val="tx2"/>
                </a:solidFill>
              </a:rPr>
              <a:t>. </a:t>
            </a:r>
            <a:r>
              <a:rPr lang="ko-KR" altLang="en-US" sz="1400" dirty="0">
                <a:solidFill>
                  <a:schemeClr val="tx2"/>
                </a:solidFill>
              </a:rPr>
              <a:t>다음으로</a:t>
            </a:r>
            <a:r>
              <a:rPr lang="en-US" altLang="ko-KR" sz="1400" dirty="0">
                <a:solidFill>
                  <a:schemeClr val="tx2"/>
                </a:solidFill>
              </a:rPr>
              <a:t>, Y </a:t>
            </a:r>
            <a:r>
              <a:rPr lang="ko-KR" altLang="en-US" sz="1400" dirty="0">
                <a:solidFill>
                  <a:schemeClr val="tx2"/>
                </a:solidFill>
              </a:rPr>
              <a:t>기초의 우선권주장은 </a:t>
            </a:r>
            <a:r>
              <a:rPr lang="en-US" altLang="ko-KR" sz="1400" dirty="0">
                <a:solidFill>
                  <a:schemeClr val="tx2"/>
                </a:solidFill>
              </a:rPr>
              <a:t>Z</a:t>
            </a:r>
            <a:r>
              <a:rPr lang="ko-KR" altLang="en-US" sz="1400" dirty="0">
                <a:solidFill>
                  <a:schemeClr val="tx2"/>
                </a:solidFill>
              </a:rPr>
              <a:t>출원의 청구범위에 기재된 </a:t>
            </a:r>
            <a:r>
              <a:rPr lang="en-US" altLang="ko-KR" sz="1400" dirty="0">
                <a:solidFill>
                  <a:schemeClr val="tx2"/>
                </a:solidFill>
              </a:rPr>
              <a:t>A, B, C </a:t>
            </a:r>
            <a:r>
              <a:rPr lang="ko-KR" altLang="en-US" sz="1400" dirty="0">
                <a:solidFill>
                  <a:schemeClr val="tx2"/>
                </a:solidFill>
              </a:rPr>
              <a:t>발명 중 </a:t>
            </a:r>
            <a:r>
              <a:rPr lang="en-US" altLang="ko-KR" sz="1400" dirty="0">
                <a:solidFill>
                  <a:schemeClr val="tx2"/>
                </a:solidFill>
              </a:rPr>
              <a:t>Y</a:t>
            </a:r>
            <a:r>
              <a:rPr lang="ko-KR" altLang="en-US" sz="1400" dirty="0">
                <a:solidFill>
                  <a:schemeClr val="tx2"/>
                </a:solidFill>
              </a:rPr>
              <a:t>출원의 최초 명세서 또는 도면에 기재된 </a:t>
            </a:r>
            <a:r>
              <a:rPr lang="en-US" altLang="ko-KR" sz="1400" dirty="0">
                <a:solidFill>
                  <a:schemeClr val="tx2"/>
                </a:solidFill>
              </a:rPr>
              <a:t>B </a:t>
            </a:r>
            <a:r>
              <a:rPr lang="ko-KR" altLang="en-US" sz="1400" dirty="0">
                <a:solidFill>
                  <a:schemeClr val="tx2"/>
                </a:solidFill>
              </a:rPr>
              <a:t>발명만</a:t>
            </a:r>
            <a:r>
              <a:rPr lang="en-US" altLang="ko-KR" sz="1400" dirty="0">
                <a:solidFill>
                  <a:schemeClr val="tx2"/>
                </a:solidFill>
              </a:rPr>
              <a:t>, Y </a:t>
            </a:r>
            <a:r>
              <a:rPr lang="ko-KR" altLang="en-US" sz="1400" dirty="0">
                <a:solidFill>
                  <a:schemeClr val="tx2"/>
                </a:solidFill>
              </a:rPr>
              <a:t>출원일로 판단시점이 소급되고 그렇지 아니한 </a:t>
            </a:r>
            <a:r>
              <a:rPr lang="en-US" altLang="ko-KR" sz="1400" dirty="0">
                <a:solidFill>
                  <a:schemeClr val="tx2"/>
                </a:solidFill>
              </a:rPr>
              <a:t>C </a:t>
            </a:r>
            <a:r>
              <a:rPr lang="ko-KR" altLang="en-US" sz="1400" dirty="0">
                <a:solidFill>
                  <a:schemeClr val="tx2"/>
                </a:solidFill>
              </a:rPr>
              <a:t>발명은 판단시점이 소급되지 아니한다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 </a:t>
            </a:r>
            <a:r>
              <a:rPr lang="ko-KR" altLang="en-US" sz="1400" dirty="0">
                <a:solidFill>
                  <a:schemeClr val="tx2"/>
                </a:solidFill>
              </a:rPr>
              <a:t>발명은 </a:t>
            </a:r>
            <a:r>
              <a:rPr lang="en-US" altLang="ko-KR" sz="1400" dirty="0">
                <a:solidFill>
                  <a:schemeClr val="tx2"/>
                </a:solidFill>
              </a:rPr>
              <a:t>Y </a:t>
            </a:r>
            <a:r>
              <a:rPr lang="ko-KR" altLang="en-US" sz="1400" dirty="0">
                <a:solidFill>
                  <a:schemeClr val="tx2"/>
                </a:solidFill>
              </a:rPr>
              <a:t>출원의 최초 명세서 또는 도면에 기재되어 있으나 제</a:t>
            </a:r>
            <a:r>
              <a:rPr lang="en-US" altLang="ko-KR" sz="1400" dirty="0">
                <a:solidFill>
                  <a:schemeClr val="tx2"/>
                </a:solidFill>
              </a:rPr>
              <a:t>55</a:t>
            </a:r>
            <a:r>
              <a:rPr lang="ko-KR" altLang="en-US" sz="1400" dirty="0">
                <a:solidFill>
                  <a:schemeClr val="tx2"/>
                </a:solidFill>
              </a:rPr>
              <a:t>조제</a:t>
            </a:r>
            <a:r>
              <a:rPr lang="en-US" altLang="ko-KR" sz="1400" dirty="0">
                <a:solidFill>
                  <a:schemeClr val="tx2"/>
                </a:solidFill>
              </a:rPr>
              <a:t>5</a:t>
            </a:r>
            <a:r>
              <a:rPr lang="ko-KR" altLang="en-US" sz="1400" dirty="0">
                <a:solidFill>
                  <a:schemeClr val="tx2"/>
                </a:solidFill>
              </a:rPr>
              <a:t>항의 이중우선으로 판단시점이 소급되지 아니한다</a:t>
            </a:r>
            <a:r>
              <a:rPr lang="en-US" altLang="ko-KR" sz="1400" dirty="0">
                <a:solidFill>
                  <a:schemeClr val="tx2"/>
                </a:solidFill>
              </a:rPr>
              <a:t>. </a:t>
            </a:r>
            <a:r>
              <a:rPr lang="ko-KR" altLang="en-US" sz="1400" dirty="0">
                <a:solidFill>
                  <a:schemeClr val="tx2"/>
                </a:solidFill>
              </a:rPr>
              <a:t>따라서 </a:t>
            </a:r>
            <a:r>
              <a:rPr lang="en-US" altLang="ko-KR" sz="1400" dirty="0">
                <a:solidFill>
                  <a:schemeClr val="tx2"/>
                </a:solidFill>
                <a:highlight>
                  <a:srgbClr val="FFFF00"/>
                </a:highlight>
              </a:rPr>
              <a:t>Z</a:t>
            </a:r>
            <a:r>
              <a:rPr lang="ko-KR" altLang="en-US" sz="1400" dirty="0">
                <a:solidFill>
                  <a:schemeClr val="tx2"/>
                </a:solidFill>
                <a:highlight>
                  <a:srgbClr val="FFFF00"/>
                </a:highlight>
              </a:rPr>
              <a:t>출원 발명의 특허요건은 </a:t>
            </a:r>
            <a:r>
              <a:rPr lang="en-US" altLang="ko-KR" sz="1400" dirty="0">
                <a:solidFill>
                  <a:schemeClr val="tx2"/>
                </a:solidFill>
                <a:highlight>
                  <a:srgbClr val="FFFF00"/>
                </a:highlight>
              </a:rPr>
              <a:t>A </a:t>
            </a:r>
            <a:r>
              <a:rPr lang="ko-KR" altLang="en-US" sz="1400" dirty="0">
                <a:solidFill>
                  <a:schemeClr val="tx2"/>
                </a:solidFill>
                <a:highlight>
                  <a:srgbClr val="FFFF00"/>
                </a:highlight>
              </a:rPr>
              <a:t>발명은 </a:t>
            </a:r>
            <a:r>
              <a:rPr lang="en-US" altLang="ko-KR" sz="1400" dirty="0">
                <a:solidFill>
                  <a:schemeClr val="tx2"/>
                </a:solidFill>
                <a:highlight>
                  <a:srgbClr val="FFFF00"/>
                </a:highlight>
              </a:rPr>
              <a:t>X </a:t>
            </a:r>
            <a:r>
              <a:rPr lang="ko-KR" altLang="en-US" sz="1400" dirty="0" err="1">
                <a:solidFill>
                  <a:schemeClr val="tx2"/>
                </a:solidFill>
                <a:highlight>
                  <a:srgbClr val="FFFF00"/>
                </a:highlight>
              </a:rPr>
              <a:t>출원일을</a:t>
            </a:r>
            <a:r>
              <a:rPr lang="ko-KR" altLang="en-US" sz="1400" dirty="0">
                <a:solidFill>
                  <a:schemeClr val="tx2"/>
                </a:solidFill>
                <a:highlight>
                  <a:srgbClr val="FFFF00"/>
                </a:highlight>
              </a:rPr>
              <a:t> 기준으로</a:t>
            </a:r>
            <a:r>
              <a:rPr lang="en-US" altLang="ko-KR" sz="1400" dirty="0">
                <a:solidFill>
                  <a:schemeClr val="tx2"/>
                </a:solidFill>
                <a:highlight>
                  <a:srgbClr val="FFFF00"/>
                </a:highlight>
              </a:rPr>
              <a:t>, B </a:t>
            </a:r>
            <a:r>
              <a:rPr lang="ko-KR" altLang="en-US" sz="1400" dirty="0">
                <a:solidFill>
                  <a:schemeClr val="tx2"/>
                </a:solidFill>
                <a:highlight>
                  <a:srgbClr val="FFFF00"/>
                </a:highlight>
              </a:rPr>
              <a:t>발명은 </a:t>
            </a:r>
            <a:r>
              <a:rPr lang="en-US" altLang="ko-KR" sz="1400" dirty="0">
                <a:solidFill>
                  <a:schemeClr val="tx2"/>
                </a:solidFill>
                <a:highlight>
                  <a:srgbClr val="FFFF00"/>
                </a:highlight>
              </a:rPr>
              <a:t>Y </a:t>
            </a:r>
            <a:r>
              <a:rPr lang="ko-KR" altLang="en-US" sz="1400" dirty="0" err="1">
                <a:solidFill>
                  <a:schemeClr val="tx2"/>
                </a:solidFill>
                <a:highlight>
                  <a:srgbClr val="FFFF00"/>
                </a:highlight>
              </a:rPr>
              <a:t>출원일을</a:t>
            </a:r>
            <a:r>
              <a:rPr lang="ko-KR" altLang="en-US" sz="1400" dirty="0">
                <a:solidFill>
                  <a:schemeClr val="tx2"/>
                </a:solidFill>
                <a:highlight>
                  <a:srgbClr val="FFFF00"/>
                </a:highlight>
              </a:rPr>
              <a:t> 기준으로</a:t>
            </a:r>
            <a:r>
              <a:rPr lang="en-US" altLang="ko-KR" sz="1400" dirty="0">
                <a:solidFill>
                  <a:schemeClr val="tx2"/>
                </a:solidFill>
                <a:highlight>
                  <a:srgbClr val="FFFF00"/>
                </a:highlight>
              </a:rPr>
              <a:t>, C </a:t>
            </a:r>
            <a:r>
              <a:rPr lang="ko-KR" altLang="en-US" sz="1400" dirty="0">
                <a:solidFill>
                  <a:schemeClr val="tx2"/>
                </a:solidFill>
                <a:highlight>
                  <a:srgbClr val="FFFF00"/>
                </a:highlight>
              </a:rPr>
              <a:t>발명은 </a:t>
            </a:r>
            <a:r>
              <a:rPr lang="en-US" altLang="ko-KR" sz="1400" dirty="0">
                <a:solidFill>
                  <a:schemeClr val="tx2"/>
                </a:solidFill>
                <a:highlight>
                  <a:srgbClr val="FFFF00"/>
                </a:highlight>
              </a:rPr>
              <a:t>Z </a:t>
            </a:r>
            <a:r>
              <a:rPr lang="ko-KR" altLang="en-US" sz="1400" dirty="0" err="1">
                <a:solidFill>
                  <a:schemeClr val="tx2"/>
                </a:solidFill>
                <a:highlight>
                  <a:srgbClr val="FFFF00"/>
                </a:highlight>
              </a:rPr>
              <a:t>출원일을</a:t>
            </a:r>
            <a:r>
              <a:rPr lang="ko-KR" altLang="en-US" sz="1400" dirty="0">
                <a:solidFill>
                  <a:schemeClr val="tx2"/>
                </a:solidFill>
                <a:highlight>
                  <a:srgbClr val="FFFF00"/>
                </a:highlight>
              </a:rPr>
              <a:t> 기준으로 판단</a:t>
            </a:r>
            <a:r>
              <a:rPr lang="ko-KR" altLang="en-US" sz="1400" dirty="0">
                <a:solidFill>
                  <a:schemeClr val="tx2"/>
                </a:solidFill>
              </a:rPr>
              <a:t>하게 된다</a:t>
            </a:r>
            <a:r>
              <a:rPr lang="en-US" altLang="ko-KR" sz="1400" dirty="0">
                <a:solidFill>
                  <a:schemeClr val="tx2"/>
                </a:solidFill>
              </a:rPr>
              <a:t>. </a:t>
            </a:r>
            <a:endParaRPr lang="ko-KR" altLang="en-US" sz="1400" dirty="0">
              <a:solidFill>
                <a:schemeClr val="tx2"/>
              </a:solidFill>
            </a:endParaRPr>
          </a:p>
        </p:txBody>
      </p:sp>
      <p:cxnSp>
        <p:nvCxnSpPr>
          <p:cNvPr id="102" name="직선 연결선 101"/>
          <p:cNvCxnSpPr/>
          <p:nvPr/>
        </p:nvCxnSpPr>
        <p:spPr>
          <a:xfrm>
            <a:off x="389467" y="3394181"/>
            <a:ext cx="11438466"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Rectangle 14"/>
          <p:cNvSpPr>
            <a:spLocks noChangeArrowheads="1"/>
          </p:cNvSpPr>
          <p:nvPr/>
        </p:nvSpPr>
        <p:spPr bwMode="auto">
          <a:xfrm flipV="1">
            <a:off x="7693591" y="3324328"/>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4" name="Rectangle 14"/>
          <p:cNvSpPr>
            <a:spLocks noChangeArrowheads="1"/>
          </p:cNvSpPr>
          <p:nvPr/>
        </p:nvSpPr>
        <p:spPr bwMode="auto">
          <a:xfrm flipV="1">
            <a:off x="5095842" y="3324328"/>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5" name="Rectangle 14"/>
          <p:cNvSpPr>
            <a:spLocks noChangeArrowheads="1"/>
          </p:cNvSpPr>
          <p:nvPr/>
        </p:nvSpPr>
        <p:spPr bwMode="auto">
          <a:xfrm flipV="1">
            <a:off x="2581194" y="3324328"/>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6" name="직사각형 105"/>
          <p:cNvSpPr/>
          <p:nvPr/>
        </p:nvSpPr>
        <p:spPr>
          <a:xfrm>
            <a:off x="2097719" y="3763324"/>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일본출원</a:t>
            </a:r>
            <a:r>
              <a:rPr lang="en-US" altLang="ko-KR" sz="1000" dirty="0">
                <a:solidFill>
                  <a:schemeClr val="tx1"/>
                </a:solidFill>
              </a:rPr>
              <a:t>(X)</a:t>
            </a:r>
            <a:endParaRPr lang="ko-KR" altLang="en-US" sz="1000" dirty="0">
              <a:solidFill>
                <a:schemeClr val="tx1"/>
              </a:solidFill>
            </a:endParaRPr>
          </a:p>
        </p:txBody>
      </p:sp>
      <p:sp>
        <p:nvSpPr>
          <p:cNvPr id="107" name="직사각형 106"/>
          <p:cNvSpPr/>
          <p:nvPr/>
        </p:nvSpPr>
        <p:spPr>
          <a:xfrm>
            <a:off x="4612367" y="3763324"/>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(Y)</a:t>
            </a:r>
            <a:endParaRPr lang="ko-KR" altLang="en-US" sz="1000" dirty="0">
              <a:solidFill>
                <a:schemeClr val="tx1"/>
              </a:solidFill>
            </a:endParaRPr>
          </a:p>
        </p:txBody>
      </p:sp>
      <p:sp>
        <p:nvSpPr>
          <p:cNvPr id="108" name="직사각형 107"/>
          <p:cNvSpPr/>
          <p:nvPr/>
        </p:nvSpPr>
        <p:spPr>
          <a:xfrm>
            <a:off x="7210116" y="3763324"/>
            <a:ext cx="1111100" cy="2022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(Z)</a:t>
            </a:r>
            <a:endParaRPr lang="ko-KR" altLang="en-US" sz="1000" dirty="0">
              <a:solidFill>
                <a:schemeClr val="tx1"/>
              </a:solidFill>
            </a:endParaRPr>
          </a:p>
        </p:txBody>
      </p:sp>
      <p:sp>
        <p:nvSpPr>
          <p:cNvPr id="109" name="직사각형 108"/>
          <p:cNvSpPr/>
          <p:nvPr/>
        </p:nvSpPr>
        <p:spPr>
          <a:xfrm>
            <a:off x="7210116" y="3965546"/>
            <a:ext cx="1111100" cy="202221"/>
          </a:xfrm>
          <a:prstGeom prst="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accent4"/>
                </a:solidFill>
              </a:rPr>
              <a:t>X</a:t>
            </a:r>
            <a:r>
              <a:rPr lang="ko-KR" altLang="en-US" sz="1000" dirty="0">
                <a:solidFill>
                  <a:schemeClr val="accent4"/>
                </a:solidFill>
              </a:rPr>
              <a:t>기초 우선권주장</a:t>
            </a:r>
          </a:p>
        </p:txBody>
      </p:sp>
      <p:sp>
        <p:nvSpPr>
          <p:cNvPr id="110" name="직사각형 109"/>
          <p:cNvSpPr/>
          <p:nvPr/>
        </p:nvSpPr>
        <p:spPr>
          <a:xfrm>
            <a:off x="4612367" y="3955824"/>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기초 우선권주장</a:t>
            </a:r>
          </a:p>
        </p:txBody>
      </p:sp>
      <p:cxnSp>
        <p:nvCxnSpPr>
          <p:cNvPr id="111" name="직선 연결선 110"/>
          <p:cNvCxnSpPr>
            <a:stCxn id="106" idx="0"/>
          </p:cNvCxnSpPr>
          <p:nvPr/>
        </p:nvCxnSpPr>
        <p:spPr>
          <a:xfrm flipV="1">
            <a:off x="2653269" y="3541813"/>
            <a:ext cx="0" cy="22151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직선 연결선 111"/>
          <p:cNvCxnSpPr>
            <a:stCxn id="107" idx="0"/>
            <a:endCxn id="104" idx="0"/>
          </p:cNvCxnSpPr>
          <p:nvPr/>
        </p:nvCxnSpPr>
        <p:spPr>
          <a:xfrm flipV="1">
            <a:off x="5167917" y="3464033"/>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3" name="직선 연결선 112"/>
          <p:cNvCxnSpPr>
            <a:stCxn id="108" idx="0"/>
            <a:endCxn id="103" idx="0"/>
          </p:cNvCxnSpPr>
          <p:nvPr/>
        </p:nvCxnSpPr>
        <p:spPr>
          <a:xfrm flipV="1">
            <a:off x="7765666" y="3464033"/>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직사각형 113"/>
          <p:cNvSpPr/>
          <p:nvPr/>
        </p:nvSpPr>
        <p:spPr>
          <a:xfrm>
            <a:off x="2097720" y="2806868"/>
            <a:ext cx="1111099" cy="21224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115" name="직사각형 114"/>
          <p:cNvSpPr/>
          <p:nvPr/>
        </p:nvSpPr>
        <p:spPr>
          <a:xfrm>
            <a:off x="2097720" y="3019108"/>
            <a:ext cx="1111099" cy="21224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116" name="직사각형 115"/>
          <p:cNvSpPr/>
          <p:nvPr/>
        </p:nvSpPr>
        <p:spPr>
          <a:xfrm>
            <a:off x="4612367" y="2806868"/>
            <a:ext cx="1111923" cy="21224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117" name="직사각형 116"/>
          <p:cNvSpPr/>
          <p:nvPr/>
        </p:nvSpPr>
        <p:spPr>
          <a:xfrm>
            <a:off x="4612367" y="3019108"/>
            <a:ext cx="1111923" cy="21224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118" name="직사각형 117"/>
          <p:cNvSpPr/>
          <p:nvPr/>
        </p:nvSpPr>
        <p:spPr>
          <a:xfrm>
            <a:off x="7210116" y="2806868"/>
            <a:ext cx="1111100" cy="21224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sp>
        <p:nvSpPr>
          <p:cNvPr id="119" name="직사각형 118"/>
          <p:cNvSpPr/>
          <p:nvPr/>
        </p:nvSpPr>
        <p:spPr>
          <a:xfrm>
            <a:off x="7210116" y="3019108"/>
            <a:ext cx="1111100" cy="21224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sp>
        <p:nvSpPr>
          <p:cNvPr id="137" name="직사각형 136"/>
          <p:cNvSpPr/>
          <p:nvPr/>
        </p:nvSpPr>
        <p:spPr>
          <a:xfrm>
            <a:off x="7210116" y="4168689"/>
            <a:ext cx="1111100" cy="202221"/>
          </a:xfrm>
          <a:prstGeom prst="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bg1">
                    <a:lumMod val="95000"/>
                  </a:schemeClr>
                </a:solidFill>
              </a:rPr>
              <a:t>Y</a:t>
            </a:r>
            <a:r>
              <a:rPr lang="ko-KR" altLang="en-US" sz="1000" dirty="0">
                <a:solidFill>
                  <a:schemeClr val="bg1">
                    <a:lumMod val="95000"/>
                  </a:schemeClr>
                </a:solidFill>
              </a:rPr>
              <a:t>기초 우선권주장</a:t>
            </a:r>
          </a:p>
        </p:txBody>
      </p:sp>
      <p:sp>
        <p:nvSpPr>
          <p:cNvPr id="141" name="모서리가 둥근 직사각형 140"/>
          <p:cNvSpPr/>
          <p:nvPr/>
        </p:nvSpPr>
        <p:spPr>
          <a:xfrm>
            <a:off x="1563868" y="6067111"/>
            <a:ext cx="8113532" cy="438150"/>
          </a:xfrm>
          <a:prstGeom prst="round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accent4"/>
              </a:solidFill>
            </a:endParaRPr>
          </a:p>
        </p:txBody>
      </p:sp>
      <p:sp>
        <p:nvSpPr>
          <p:cNvPr id="142" name="모서리가 둥근 직사각형 141"/>
          <p:cNvSpPr/>
          <p:nvPr/>
        </p:nvSpPr>
        <p:spPr>
          <a:xfrm>
            <a:off x="1563868" y="5255419"/>
            <a:ext cx="8113532" cy="438150"/>
          </a:xfrm>
          <a:prstGeom prst="round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accent4"/>
              </a:solidFill>
            </a:endParaRPr>
          </a:p>
        </p:txBody>
      </p:sp>
      <p:sp>
        <p:nvSpPr>
          <p:cNvPr id="143" name="모서리가 둥근 직사각형 142"/>
          <p:cNvSpPr/>
          <p:nvPr/>
        </p:nvSpPr>
        <p:spPr>
          <a:xfrm>
            <a:off x="1563868" y="4600575"/>
            <a:ext cx="8113532" cy="438150"/>
          </a:xfrm>
          <a:prstGeom prst="round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accent4"/>
              </a:solidFill>
            </a:endParaRPr>
          </a:p>
        </p:txBody>
      </p:sp>
      <p:sp>
        <p:nvSpPr>
          <p:cNvPr id="144" name="모서리가 둥근 직사각형 143"/>
          <p:cNvSpPr/>
          <p:nvPr/>
        </p:nvSpPr>
        <p:spPr>
          <a:xfrm>
            <a:off x="476250" y="4600575"/>
            <a:ext cx="1087618" cy="438150"/>
          </a:xfrm>
          <a:prstGeom prst="roundRect">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accent4"/>
                </a:solidFill>
              </a:rPr>
              <a:t>X</a:t>
            </a:r>
            <a:r>
              <a:rPr lang="ko-KR" altLang="en-US" sz="1200" dirty="0">
                <a:solidFill>
                  <a:schemeClr val="accent4"/>
                </a:solidFill>
              </a:rPr>
              <a:t>기초</a:t>
            </a:r>
            <a:endParaRPr lang="en-US" altLang="ko-KR" sz="1200" dirty="0">
              <a:solidFill>
                <a:schemeClr val="accent4"/>
              </a:solidFill>
            </a:endParaRPr>
          </a:p>
          <a:p>
            <a:pPr algn="ctr"/>
            <a:r>
              <a:rPr lang="ko-KR" altLang="en-US" sz="1200" dirty="0" err="1">
                <a:solidFill>
                  <a:schemeClr val="accent4"/>
                </a:solidFill>
              </a:rPr>
              <a:t>우선권주장</a:t>
            </a:r>
            <a:endParaRPr lang="ko-KR" altLang="en-US" sz="1200" dirty="0">
              <a:solidFill>
                <a:schemeClr val="accent4"/>
              </a:solidFill>
            </a:endParaRPr>
          </a:p>
        </p:txBody>
      </p:sp>
      <p:sp>
        <p:nvSpPr>
          <p:cNvPr id="145" name="모서리가 둥근 직사각형 144"/>
          <p:cNvSpPr/>
          <p:nvPr/>
        </p:nvSpPr>
        <p:spPr>
          <a:xfrm>
            <a:off x="2110485" y="4600575"/>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A</a:t>
            </a:r>
            <a:endParaRPr lang="ko-KR" altLang="en-US" sz="1200" dirty="0">
              <a:solidFill>
                <a:schemeClr val="tx1"/>
              </a:solidFill>
            </a:endParaRPr>
          </a:p>
        </p:txBody>
      </p:sp>
      <p:sp>
        <p:nvSpPr>
          <p:cNvPr id="146" name="모서리가 둥근 직사각형 145"/>
          <p:cNvSpPr/>
          <p:nvPr/>
        </p:nvSpPr>
        <p:spPr>
          <a:xfrm>
            <a:off x="7214073" y="4600575"/>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B, C</a:t>
            </a:r>
            <a:endParaRPr lang="ko-KR" altLang="en-US" sz="1200" dirty="0">
              <a:solidFill>
                <a:schemeClr val="tx1"/>
              </a:solidFill>
            </a:endParaRPr>
          </a:p>
        </p:txBody>
      </p:sp>
      <p:sp>
        <p:nvSpPr>
          <p:cNvPr id="147" name="모서리가 둥근 직사각형 146"/>
          <p:cNvSpPr/>
          <p:nvPr/>
        </p:nvSpPr>
        <p:spPr>
          <a:xfrm>
            <a:off x="476250" y="5245677"/>
            <a:ext cx="1087618" cy="438150"/>
          </a:xfrm>
          <a:prstGeom prst="round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accent3">
                    <a:lumMod val="20000"/>
                    <a:lumOff val="80000"/>
                  </a:schemeClr>
                </a:solidFill>
              </a:rPr>
              <a:t>Y</a:t>
            </a:r>
            <a:r>
              <a:rPr lang="ko-KR" altLang="en-US" sz="1200" dirty="0">
                <a:solidFill>
                  <a:schemeClr val="accent3">
                    <a:lumMod val="20000"/>
                    <a:lumOff val="80000"/>
                  </a:schemeClr>
                </a:solidFill>
              </a:rPr>
              <a:t>기초</a:t>
            </a:r>
            <a:endParaRPr lang="en-US" altLang="ko-KR" sz="1200" dirty="0">
              <a:solidFill>
                <a:schemeClr val="accent3">
                  <a:lumMod val="20000"/>
                  <a:lumOff val="80000"/>
                </a:schemeClr>
              </a:solidFill>
            </a:endParaRPr>
          </a:p>
          <a:p>
            <a:pPr algn="ctr"/>
            <a:r>
              <a:rPr lang="ko-KR" altLang="en-US" sz="1200" dirty="0" err="1">
                <a:solidFill>
                  <a:schemeClr val="accent3">
                    <a:lumMod val="20000"/>
                    <a:lumOff val="80000"/>
                  </a:schemeClr>
                </a:solidFill>
              </a:rPr>
              <a:t>우선권주장</a:t>
            </a:r>
            <a:endParaRPr lang="ko-KR" altLang="en-US" sz="1200" dirty="0">
              <a:solidFill>
                <a:schemeClr val="accent3">
                  <a:lumMod val="20000"/>
                  <a:lumOff val="80000"/>
                </a:schemeClr>
              </a:solidFill>
            </a:endParaRPr>
          </a:p>
        </p:txBody>
      </p:sp>
      <p:sp>
        <p:nvSpPr>
          <p:cNvPr id="148" name="모서리가 둥근 직사각형 147"/>
          <p:cNvSpPr/>
          <p:nvPr/>
        </p:nvSpPr>
        <p:spPr>
          <a:xfrm>
            <a:off x="4620871" y="5245677"/>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B</a:t>
            </a:r>
          </a:p>
        </p:txBody>
      </p:sp>
      <p:sp>
        <p:nvSpPr>
          <p:cNvPr id="149" name="모서리가 둥근 직사각형 148"/>
          <p:cNvSpPr/>
          <p:nvPr/>
        </p:nvSpPr>
        <p:spPr>
          <a:xfrm>
            <a:off x="7214073" y="5245677"/>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A, C</a:t>
            </a:r>
            <a:endParaRPr lang="ko-KR" altLang="en-US" sz="1200" dirty="0">
              <a:solidFill>
                <a:schemeClr val="tx1"/>
              </a:solidFill>
            </a:endParaRPr>
          </a:p>
        </p:txBody>
      </p:sp>
      <p:cxnSp>
        <p:nvCxnSpPr>
          <p:cNvPr id="150" name="직선 연결선 149"/>
          <p:cNvCxnSpPr/>
          <p:nvPr/>
        </p:nvCxnSpPr>
        <p:spPr>
          <a:xfrm>
            <a:off x="161925" y="5819775"/>
            <a:ext cx="9837208" cy="0"/>
          </a:xfrm>
          <a:prstGeom prst="line">
            <a:avLst/>
          </a:prstGeom>
          <a:ln w="28575">
            <a:solidFill>
              <a:srgbClr val="00B0F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1" name="모서리가 둥근 직사각형 150"/>
          <p:cNvSpPr/>
          <p:nvPr/>
        </p:nvSpPr>
        <p:spPr>
          <a:xfrm>
            <a:off x="2102018" y="6072188"/>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A</a:t>
            </a:r>
            <a:endParaRPr lang="ko-KR" altLang="en-US" sz="1200" dirty="0">
              <a:solidFill>
                <a:schemeClr val="tx1"/>
              </a:solidFill>
            </a:endParaRPr>
          </a:p>
        </p:txBody>
      </p:sp>
      <p:sp>
        <p:nvSpPr>
          <p:cNvPr id="152" name="모서리가 둥근 직사각형 151"/>
          <p:cNvSpPr/>
          <p:nvPr/>
        </p:nvSpPr>
        <p:spPr>
          <a:xfrm>
            <a:off x="4620871" y="6067111"/>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B</a:t>
            </a:r>
          </a:p>
        </p:txBody>
      </p:sp>
      <p:sp>
        <p:nvSpPr>
          <p:cNvPr id="153" name="모서리가 둥근 직사각형 152"/>
          <p:cNvSpPr/>
          <p:nvPr/>
        </p:nvSpPr>
        <p:spPr>
          <a:xfrm>
            <a:off x="7214073" y="6067111"/>
            <a:ext cx="1087618" cy="4381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Z</a:t>
            </a:r>
            <a:r>
              <a:rPr lang="ko-KR" altLang="en-US" sz="1200" dirty="0">
                <a:solidFill>
                  <a:schemeClr val="tx1"/>
                </a:solidFill>
              </a:rPr>
              <a:t>의 </a:t>
            </a:r>
            <a:r>
              <a:rPr lang="ko-KR" altLang="en-US" sz="1200" dirty="0" err="1">
                <a:solidFill>
                  <a:schemeClr val="tx1"/>
                </a:solidFill>
              </a:rPr>
              <a:t>청구범위</a:t>
            </a:r>
            <a:r>
              <a:rPr lang="ko-KR" altLang="en-US" sz="1200" dirty="0">
                <a:solidFill>
                  <a:schemeClr val="tx1"/>
                </a:solidFill>
              </a:rPr>
              <a:t> 중 </a:t>
            </a:r>
            <a:r>
              <a:rPr lang="en-US" altLang="ko-KR" sz="1200" dirty="0">
                <a:solidFill>
                  <a:schemeClr val="tx1"/>
                </a:solidFill>
              </a:rPr>
              <a:t>C</a:t>
            </a:r>
            <a:endParaRPr lang="ko-KR" altLang="en-US" sz="1200" dirty="0">
              <a:solidFill>
                <a:schemeClr val="tx1"/>
              </a:solidFill>
            </a:endParaRPr>
          </a:p>
        </p:txBody>
      </p:sp>
      <p:cxnSp>
        <p:nvCxnSpPr>
          <p:cNvPr id="159" name="직선 연결선 158"/>
          <p:cNvCxnSpPr>
            <a:stCxn id="115" idx="3"/>
            <a:endCxn id="117" idx="1"/>
          </p:cNvCxnSpPr>
          <p:nvPr/>
        </p:nvCxnSpPr>
        <p:spPr>
          <a:xfrm>
            <a:off x="3208819" y="3125228"/>
            <a:ext cx="1403548" cy="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2" name="직선 연결선 161"/>
          <p:cNvCxnSpPr>
            <a:stCxn id="117" idx="3"/>
            <a:endCxn id="118" idx="1"/>
          </p:cNvCxnSpPr>
          <p:nvPr/>
        </p:nvCxnSpPr>
        <p:spPr>
          <a:xfrm flipV="1">
            <a:off x="5724290" y="2912988"/>
            <a:ext cx="1485826" cy="21224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7" name="Rectangle 14"/>
          <p:cNvSpPr>
            <a:spLocks noChangeArrowheads="1"/>
          </p:cNvSpPr>
          <p:nvPr/>
        </p:nvSpPr>
        <p:spPr bwMode="auto">
          <a:xfrm flipV="1">
            <a:off x="9261442" y="3324328"/>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68" name="직사각형 167"/>
          <p:cNvSpPr/>
          <p:nvPr/>
        </p:nvSpPr>
        <p:spPr>
          <a:xfrm>
            <a:off x="8777967" y="3763324"/>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취하</a:t>
            </a:r>
            <a:r>
              <a:rPr lang="en-US" altLang="ko-KR" sz="1000" dirty="0">
                <a:solidFill>
                  <a:schemeClr val="tx1"/>
                </a:solidFill>
              </a:rPr>
              <a:t>(Y)</a:t>
            </a:r>
            <a:endParaRPr lang="ko-KR" altLang="en-US" sz="1000" dirty="0">
              <a:solidFill>
                <a:schemeClr val="tx1"/>
              </a:solidFill>
            </a:endParaRPr>
          </a:p>
        </p:txBody>
      </p:sp>
      <p:cxnSp>
        <p:nvCxnSpPr>
          <p:cNvPr id="170" name="직선 연결선 169"/>
          <p:cNvCxnSpPr>
            <a:stCxn id="168" idx="0"/>
            <a:endCxn id="167" idx="0"/>
          </p:cNvCxnSpPr>
          <p:nvPr/>
        </p:nvCxnSpPr>
        <p:spPr>
          <a:xfrm flipV="1">
            <a:off x="9333517" y="3464033"/>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1" name="Rectangle 14"/>
          <p:cNvSpPr>
            <a:spLocks noChangeArrowheads="1"/>
          </p:cNvSpPr>
          <p:nvPr/>
        </p:nvSpPr>
        <p:spPr bwMode="auto">
          <a:xfrm flipV="1">
            <a:off x="10775458" y="3324328"/>
            <a:ext cx="144150" cy="139705"/>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72" name="직사각형 171"/>
          <p:cNvSpPr/>
          <p:nvPr/>
        </p:nvSpPr>
        <p:spPr>
          <a:xfrm>
            <a:off x="10291983" y="3763324"/>
            <a:ext cx="1111100" cy="2022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공개</a:t>
            </a:r>
            <a:r>
              <a:rPr lang="en-US" altLang="ko-KR" sz="1000" dirty="0">
                <a:solidFill>
                  <a:schemeClr val="tx1"/>
                </a:solidFill>
              </a:rPr>
              <a:t>(Z)</a:t>
            </a:r>
            <a:endParaRPr lang="ko-KR" altLang="en-US" sz="1000" dirty="0">
              <a:solidFill>
                <a:schemeClr val="tx1"/>
              </a:solidFill>
            </a:endParaRPr>
          </a:p>
        </p:txBody>
      </p:sp>
      <p:cxnSp>
        <p:nvCxnSpPr>
          <p:cNvPr id="174" name="직선 연결선 173"/>
          <p:cNvCxnSpPr>
            <a:stCxn id="172" idx="0"/>
            <a:endCxn id="171" idx="0"/>
          </p:cNvCxnSpPr>
          <p:nvPr/>
        </p:nvCxnSpPr>
        <p:spPr>
          <a:xfrm flipV="1">
            <a:off x="10847533" y="3464033"/>
            <a:ext cx="0" cy="2992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1" name="자유형 180"/>
          <p:cNvSpPr/>
          <p:nvPr/>
        </p:nvSpPr>
        <p:spPr>
          <a:xfrm>
            <a:off x="1778000" y="2582335"/>
            <a:ext cx="5960533" cy="559828"/>
          </a:xfrm>
          <a:custGeom>
            <a:avLst/>
            <a:gdLst>
              <a:gd name="connsiteX0" fmla="*/ 5960533 w 5960533"/>
              <a:gd name="connsiteY0" fmla="*/ 228600 h 592667"/>
              <a:gd name="connsiteX1" fmla="*/ 5960533 w 5960533"/>
              <a:gd name="connsiteY1" fmla="*/ 0 h 592667"/>
              <a:gd name="connsiteX2" fmla="*/ 0 w 5960533"/>
              <a:gd name="connsiteY2" fmla="*/ 0 h 592667"/>
              <a:gd name="connsiteX3" fmla="*/ 0 w 5960533"/>
              <a:gd name="connsiteY3" fmla="*/ 592667 h 592667"/>
              <a:gd name="connsiteX4" fmla="*/ 338667 w 5960533"/>
              <a:gd name="connsiteY4" fmla="*/ 592667 h 592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0533" h="592667">
                <a:moveTo>
                  <a:pt x="5960533" y="228600"/>
                </a:moveTo>
                <a:lnTo>
                  <a:pt x="5960533" y="0"/>
                </a:lnTo>
                <a:lnTo>
                  <a:pt x="0" y="0"/>
                </a:lnTo>
                <a:lnTo>
                  <a:pt x="0" y="592667"/>
                </a:lnTo>
                <a:lnTo>
                  <a:pt x="338667" y="592667"/>
                </a:lnTo>
              </a:path>
            </a:pathLst>
          </a:custGeom>
          <a:ln w="38100">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 name="슬라이드 번호 개체 틀 1"/>
          <p:cNvSpPr>
            <a:spLocks noGrp="1"/>
          </p:cNvSpPr>
          <p:nvPr>
            <p:ph type="sldNum" sz="quarter" idx="12"/>
          </p:nvPr>
        </p:nvSpPr>
        <p:spPr/>
        <p:txBody>
          <a:bodyPr/>
          <a:lstStyle/>
          <a:p>
            <a:r>
              <a:rPr lang="en-US" altLang="ko-KR"/>
              <a:t>232</a:t>
            </a:r>
            <a:endParaRPr lang="ko-KR" altLang="en-US"/>
          </a:p>
        </p:txBody>
      </p:sp>
    </p:spTree>
    <p:extLst>
      <p:ext uri="{BB962C8B-B14F-4D97-AF65-F5344CB8AC3E}">
        <p14:creationId xmlns:p14="http://schemas.microsoft.com/office/powerpoint/2010/main" val="964459679"/>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42" name="직선 연결선 141"/>
          <p:cNvCxnSpPr/>
          <p:nvPr/>
        </p:nvCxnSpPr>
        <p:spPr>
          <a:xfrm>
            <a:off x="7492200" y="3820262"/>
            <a:ext cx="0" cy="282836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직선 연결선 146"/>
          <p:cNvCxnSpPr/>
          <p:nvPr/>
        </p:nvCxnSpPr>
        <p:spPr>
          <a:xfrm>
            <a:off x="2809274" y="3820262"/>
            <a:ext cx="0" cy="282836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7" name="양쪽 모서리가 둥근 사각형 136"/>
          <p:cNvSpPr/>
          <p:nvPr/>
        </p:nvSpPr>
        <p:spPr>
          <a:xfrm>
            <a:off x="5939743" y="3027676"/>
            <a:ext cx="5909128" cy="690520"/>
          </a:xfrm>
          <a:prstGeom prst="round2SameRect">
            <a:avLst>
              <a:gd name="adj1" fmla="val 50000"/>
              <a:gd name="adj2" fmla="val 0"/>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제목 3"/>
          <p:cNvSpPr>
            <a:spLocks noGrp="1"/>
          </p:cNvSpPr>
          <p:nvPr>
            <p:ph type="title"/>
          </p:nvPr>
        </p:nvSpPr>
        <p:spPr/>
        <p:txBody>
          <a:bodyPr/>
          <a:lstStyle/>
          <a:p>
            <a:r>
              <a:rPr lang="ko-KR" altLang="en-US" dirty="0"/>
              <a:t>제</a:t>
            </a:r>
            <a:r>
              <a:rPr lang="en-US" altLang="ko-KR" dirty="0"/>
              <a:t>55</a:t>
            </a:r>
            <a:r>
              <a:rPr lang="ko-KR" altLang="en-US" dirty="0"/>
              <a:t>조</a:t>
            </a:r>
            <a:r>
              <a:rPr lang="en-US" altLang="ko-KR" dirty="0"/>
              <a:t>, </a:t>
            </a:r>
            <a:r>
              <a:rPr lang="ko-KR" altLang="en-US" dirty="0"/>
              <a:t>제</a:t>
            </a:r>
            <a:r>
              <a:rPr lang="en-US" altLang="ko-KR" dirty="0"/>
              <a:t>56</a:t>
            </a:r>
            <a:r>
              <a:rPr lang="ko-KR" altLang="en-US" dirty="0"/>
              <a:t>조</a:t>
            </a:r>
          </a:p>
        </p:txBody>
      </p:sp>
      <p:sp>
        <p:nvSpPr>
          <p:cNvPr id="5" name="텍스트 개체 틀 4"/>
          <p:cNvSpPr>
            <a:spLocks noGrp="1"/>
          </p:cNvSpPr>
          <p:nvPr>
            <p:ph type="body" sz="quarter" idx="13"/>
          </p:nvPr>
        </p:nvSpPr>
        <p:spPr/>
        <p:txBody>
          <a:bodyPr/>
          <a:lstStyle/>
          <a:p>
            <a:r>
              <a:rPr lang="ko-KR" altLang="en-US" dirty="0"/>
              <a:t>이중우선권주장출원의 </a:t>
            </a:r>
            <a:r>
              <a:rPr lang="ko-KR" altLang="en-US" dirty="0" err="1"/>
              <a:t>등록금지적</a:t>
            </a:r>
            <a:r>
              <a:rPr lang="ko-KR" altLang="en-US" dirty="0"/>
              <a:t> 효력</a:t>
            </a:r>
            <a:r>
              <a:rPr lang="en-US" altLang="ko-KR" sz="2400" dirty="0"/>
              <a:t>(</a:t>
            </a:r>
            <a:r>
              <a:rPr lang="ko-KR" altLang="en-US" sz="2400" dirty="0"/>
              <a:t>다른 출원의 지위</a:t>
            </a:r>
            <a:r>
              <a:rPr lang="en-US" altLang="ko-KR" sz="2400" dirty="0"/>
              <a:t>)</a:t>
            </a:r>
            <a:endParaRPr lang="ko-KR" altLang="en-US" dirty="0"/>
          </a:p>
        </p:txBody>
      </p:sp>
      <p:sp>
        <p:nvSpPr>
          <p:cNvPr id="89" name="직사각형 88"/>
          <p:cNvSpPr/>
          <p:nvPr/>
        </p:nvSpPr>
        <p:spPr>
          <a:xfrm>
            <a:off x="354377" y="1354081"/>
            <a:ext cx="1111099" cy="212240"/>
          </a:xfrm>
          <a:prstGeom prst="rect">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90" name="직사각형 89"/>
          <p:cNvSpPr/>
          <p:nvPr/>
        </p:nvSpPr>
        <p:spPr>
          <a:xfrm>
            <a:off x="354377" y="1566321"/>
            <a:ext cx="1111099" cy="212240"/>
          </a:xfrm>
          <a:prstGeom prst="rect">
            <a:avLst/>
          </a:prstGeom>
          <a:solidFill>
            <a:schemeClr val="accent3">
              <a:lumMod val="20000"/>
              <a:lumOff val="8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91" name="직사각형 90"/>
          <p:cNvSpPr/>
          <p:nvPr/>
        </p:nvSpPr>
        <p:spPr>
          <a:xfrm>
            <a:off x="2253724" y="1354081"/>
            <a:ext cx="1111923" cy="212240"/>
          </a:xfrm>
          <a:prstGeom prst="rect">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92" name="직사각형 91"/>
          <p:cNvSpPr/>
          <p:nvPr/>
        </p:nvSpPr>
        <p:spPr>
          <a:xfrm>
            <a:off x="2253724" y="1566321"/>
            <a:ext cx="1111923" cy="212240"/>
          </a:xfrm>
          <a:prstGeom prst="rect">
            <a:avLst/>
          </a:prstGeom>
          <a:solidFill>
            <a:schemeClr val="accent3">
              <a:lumMod val="20000"/>
              <a:lumOff val="8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93" name="직사각형 92"/>
          <p:cNvSpPr/>
          <p:nvPr/>
        </p:nvSpPr>
        <p:spPr>
          <a:xfrm>
            <a:off x="6936650" y="1354081"/>
            <a:ext cx="1111100" cy="212240"/>
          </a:xfrm>
          <a:prstGeom prst="rect">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sp>
        <p:nvSpPr>
          <p:cNvPr id="94" name="직사각형 93"/>
          <p:cNvSpPr/>
          <p:nvPr/>
        </p:nvSpPr>
        <p:spPr>
          <a:xfrm>
            <a:off x="6936650" y="1566321"/>
            <a:ext cx="1111100" cy="212240"/>
          </a:xfrm>
          <a:prstGeom prst="rect">
            <a:avLst/>
          </a:prstGeom>
          <a:solidFill>
            <a:schemeClr val="accent3">
              <a:lumMod val="20000"/>
              <a:lumOff val="8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sp>
        <p:nvSpPr>
          <p:cNvPr id="120" name="양쪽 모서리가 둥근 사각형 119"/>
          <p:cNvSpPr/>
          <p:nvPr/>
        </p:nvSpPr>
        <p:spPr>
          <a:xfrm>
            <a:off x="1465476" y="2932839"/>
            <a:ext cx="4472531" cy="764522"/>
          </a:xfrm>
          <a:prstGeom prst="round2SameRect">
            <a:avLst>
              <a:gd name="adj1" fmla="val 50000"/>
              <a:gd name="adj2" fmla="val 0"/>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1" name="직사각형 120"/>
          <p:cNvSpPr/>
          <p:nvPr/>
        </p:nvSpPr>
        <p:spPr>
          <a:xfrm>
            <a:off x="3913974" y="2721700"/>
            <a:ext cx="803281" cy="2111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Y</a:t>
            </a:r>
            <a:r>
              <a:rPr lang="ko-KR" altLang="en-US" sz="1100" dirty="0">
                <a:solidFill>
                  <a:schemeClr val="tx1"/>
                </a:solidFill>
              </a:rPr>
              <a:t>의 </a:t>
            </a:r>
            <a:r>
              <a:rPr lang="en-US" altLang="ko-KR" sz="1100" dirty="0">
                <a:solidFill>
                  <a:schemeClr val="tx1"/>
                </a:solidFill>
              </a:rPr>
              <a:t>A</a:t>
            </a:r>
            <a:endParaRPr lang="ko-KR" altLang="en-US" sz="1100" dirty="0">
              <a:solidFill>
                <a:schemeClr val="tx1"/>
              </a:solidFill>
            </a:endParaRPr>
          </a:p>
        </p:txBody>
      </p:sp>
      <p:sp>
        <p:nvSpPr>
          <p:cNvPr id="123" name="직사각형 122"/>
          <p:cNvSpPr/>
          <p:nvPr/>
        </p:nvSpPr>
        <p:spPr>
          <a:xfrm>
            <a:off x="3971999" y="3077702"/>
            <a:ext cx="803281" cy="2111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Y</a:t>
            </a:r>
            <a:r>
              <a:rPr lang="ko-KR" altLang="en-US" sz="1100" dirty="0">
                <a:solidFill>
                  <a:schemeClr val="tx1"/>
                </a:solidFill>
              </a:rPr>
              <a:t>의 </a:t>
            </a:r>
            <a:r>
              <a:rPr lang="en-US" altLang="ko-KR" sz="1100" dirty="0">
                <a:solidFill>
                  <a:schemeClr val="tx1"/>
                </a:solidFill>
              </a:rPr>
              <a:t>B</a:t>
            </a:r>
            <a:endParaRPr lang="ko-KR" altLang="en-US" sz="1100" dirty="0">
              <a:solidFill>
                <a:schemeClr val="tx1"/>
              </a:solidFill>
            </a:endParaRPr>
          </a:p>
        </p:txBody>
      </p:sp>
      <p:sp>
        <p:nvSpPr>
          <p:cNvPr id="124" name="양쪽 모서리가 둥근 사각형 123"/>
          <p:cNvSpPr/>
          <p:nvPr/>
        </p:nvSpPr>
        <p:spPr>
          <a:xfrm>
            <a:off x="5939742" y="2941385"/>
            <a:ext cx="5909129" cy="764522"/>
          </a:xfrm>
          <a:prstGeom prst="round2SameRect">
            <a:avLst>
              <a:gd name="adj1" fmla="val 50000"/>
              <a:gd name="adj2" fmla="val 0"/>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5" name="직사각형 124"/>
          <p:cNvSpPr/>
          <p:nvPr/>
        </p:nvSpPr>
        <p:spPr>
          <a:xfrm>
            <a:off x="8586335" y="2721700"/>
            <a:ext cx="803281" cy="2111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Y</a:t>
            </a:r>
            <a:r>
              <a:rPr lang="ko-KR" altLang="en-US" sz="1100" dirty="0">
                <a:solidFill>
                  <a:schemeClr val="tx1"/>
                </a:solidFill>
              </a:rPr>
              <a:t>의 </a:t>
            </a:r>
            <a:r>
              <a:rPr lang="en-US" altLang="ko-KR" sz="1100" dirty="0">
                <a:solidFill>
                  <a:schemeClr val="tx1"/>
                </a:solidFill>
              </a:rPr>
              <a:t>A, B</a:t>
            </a:r>
            <a:endParaRPr lang="ko-KR" altLang="en-US" sz="1100" dirty="0">
              <a:solidFill>
                <a:schemeClr val="tx1"/>
              </a:solidFill>
            </a:endParaRPr>
          </a:p>
        </p:txBody>
      </p:sp>
      <p:sp>
        <p:nvSpPr>
          <p:cNvPr id="126" name="양쪽 모서리가 둥근 사각형 125"/>
          <p:cNvSpPr/>
          <p:nvPr/>
        </p:nvSpPr>
        <p:spPr>
          <a:xfrm rot="10800000">
            <a:off x="2253727" y="3705914"/>
            <a:ext cx="9664806" cy="1150708"/>
          </a:xfrm>
          <a:prstGeom prst="round2SameRect">
            <a:avLst>
              <a:gd name="adj1" fmla="val 50000"/>
              <a:gd name="adj2" fmla="val 0"/>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7" name="양쪽 모서리가 둥근 사각형 126"/>
          <p:cNvSpPr/>
          <p:nvPr/>
        </p:nvSpPr>
        <p:spPr>
          <a:xfrm>
            <a:off x="3364824" y="3288839"/>
            <a:ext cx="2573183" cy="408521"/>
          </a:xfrm>
          <a:prstGeom prst="round2SameRect">
            <a:avLst>
              <a:gd name="adj1" fmla="val 50000"/>
              <a:gd name="adj2" fmla="val 0"/>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8" name="양쪽 모서리가 둥근 사각형 127"/>
          <p:cNvSpPr/>
          <p:nvPr/>
        </p:nvSpPr>
        <p:spPr>
          <a:xfrm rot="10800000">
            <a:off x="6936648" y="3705910"/>
            <a:ext cx="4912224" cy="857881"/>
          </a:xfrm>
          <a:prstGeom prst="round2SameRect">
            <a:avLst>
              <a:gd name="adj1" fmla="val 50000"/>
              <a:gd name="adj2" fmla="val 0"/>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9" name="양쪽 모서리가 둥근 사각형 128"/>
          <p:cNvSpPr/>
          <p:nvPr/>
        </p:nvSpPr>
        <p:spPr>
          <a:xfrm>
            <a:off x="10511743" y="2602387"/>
            <a:ext cx="1332716" cy="1098044"/>
          </a:xfrm>
          <a:prstGeom prst="round2SameRect">
            <a:avLst>
              <a:gd name="adj1" fmla="val 31825"/>
              <a:gd name="adj2" fmla="val 0"/>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0" name="양쪽 모서리가 둥근 사각형 129"/>
          <p:cNvSpPr/>
          <p:nvPr/>
        </p:nvSpPr>
        <p:spPr>
          <a:xfrm>
            <a:off x="8046014" y="2593841"/>
            <a:ext cx="2463993" cy="1098044"/>
          </a:xfrm>
          <a:prstGeom prst="round2SameRect">
            <a:avLst>
              <a:gd name="adj1" fmla="val 44277"/>
              <a:gd name="adj2" fmla="val 0"/>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1" name="양쪽 모서리가 둥근 사각형 130"/>
          <p:cNvSpPr/>
          <p:nvPr/>
        </p:nvSpPr>
        <p:spPr>
          <a:xfrm>
            <a:off x="3363089" y="2131708"/>
            <a:ext cx="7146918" cy="1568723"/>
          </a:xfrm>
          <a:prstGeom prst="round2SameRect">
            <a:avLst>
              <a:gd name="adj1" fmla="val 44277"/>
              <a:gd name="adj2" fmla="val 0"/>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양쪽 모서리가 둥근 사각형 6"/>
          <p:cNvSpPr/>
          <p:nvPr/>
        </p:nvSpPr>
        <p:spPr>
          <a:xfrm>
            <a:off x="11442818" y="2584622"/>
            <a:ext cx="585000" cy="2827479"/>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2" name="직사각형 131"/>
          <p:cNvSpPr/>
          <p:nvPr/>
        </p:nvSpPr>
        <p:spPr>
          <a:xfrm>
            <a:off x="4579176" y="1912017"/>
            <a:ext cx="803281" cy="2111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Z</a:t>
            </a:r>
            <a:r>
              <a:rPr lang="ko-KR" altLang="en-US" sz="1100" dirty="0">
                <a:solidFill>
                  <a:schemeClr val="tx1"/>
                </a:solidFill>
              </a:rPr>
              <a:t>의 </a:t>
            </a:r>
            <a:r>
              <a:rPr lang="en-US" altLang="ko-KR" sz="1100" dirty="0">
                <a:solidFill>
                  <a:schemeClr val="tx1"/>
                </a:solidFill>
              </a:rPr>
              <a:t>B</a:t>
            </a:r>
            <a:endParaRPr lang="ko-KR" altLang="en-US" sz="1100" dirty="0">
              <a:solidFill>
                <a:schemeClr val="tx1"/>
              </a:solidFill>
            </a:endParaRPr>
          </a:p>
        </p:txBody>
      </p:sp>
      <p:sp>
        <p:nvSpPr>
          <p:cNvPr id="133" name="직사각형 132"/>
          <p:cNvSpPr/>
          <p:nvPr/>
        </p:nvSpPr>
        <p:spPr>
          <a:xfrm>
            <a:off x="8680365" y="2373484"/>
            <a:ext cx="803281" cy="2111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Z</a:t>
            </a:r>
            <a:r>
              <a:rPr lang="ko-KR" altLang="en-US" sz="1100" dirty="0">
                <a:solidFill>
                  <a:schemeClr val="tx1"/>
                </a:solidFill>
              </a:rPr>
              <a:t>의 </a:t>
            </a:r>
            <a:r>
              <a:rPr lang="en-US" altLang="ko-KR" sz="1100" dirty="0">
                <a:solidFill>
                  <a:schemeClr val="tx1"/>
                </a:solidFill>
              </a:rPr>
              <a:t>A, C</a:t>
            </a:r>
            <a:endParaRPr lang="ko-KR" altLang="en-US" sz="1100" dirty="0">
              <a:solidFill>
                <a:schemeClr val="tx1"/>
              </a:solidFill>
            </a:endParaRPr>
          </a:p>
        </p:txBody>
      </p:sp>
      <p:sp>
        <p:nvSpPr>
          <p:cNvPr id="134" name="직사각형 133"/>
          <p:cNvSpPr/>
          <p:nvPr/>
        </p:nvSpPr>
        <p:spPr>
          <a:xfrm>
            <a:off x="10727976" y="2373484"/>
            <a:ext cx="996852" cy="2111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Z</a:t>
            </a:r>
            <a:r>
              <a:rPr lang="ko-KR" altLang="en-US" sz="1100" dirty="0">
                <a:solidFill>
                  <a:schemeClr val="tx1"/>
                </a:solidFill>
              </a:rPr>
              <a:t>의 </a:t>
            </a:r>
            <a:r>
              <a:rPr lang="en-US" altLang="ko-KR" sz="1100" dirty="0">
                <a:solidFill>
                  <a:schemeClr val="tx1"/>
                </a:solidFill>
              </a:rPr>
              <a:t>A, B, C</a:t>
            </a:r>
            <a:endParaRPr lang="ko-KR" altLang="en-US" sz="1100" dirty="0">
              <a:solidFill>
                <a:schemeClr val="tx1"/>
              </a:solidFill>
            </a:endParaRPr>
          </a:p>
        </p:txBody>
      </p:sp>
      <p:sp>
        <p:nvSpPr>
          <p:cNvPr id="135" name="직사각형 134"/>
          <p:cNvSpPr/>
          <p:nvPr/>
        </p:nvSpPr>
        <p:spPr>
          <a:xfrm>
            <a:off x="5690276" y="4637201"/>
            <a:ext cx="803281" cy="2111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Z</a:t>
            </a:r>
            <a:r>
              <a:rPr lang="ko-KR" altLang="en-US" sz="1100" dirty="0">
                <a:solidFill>
                  <a:schemeClr val="tx1"/>
                </a:solidFill>
              </a:rPr>
              <a:t>의 </a:t>
            </a:r>
            <a:r>
              <a:rPr lang="en-US" altLang="ko-KR" sz="1100" dirty="0">
                <a:solidFill>
                  <a:schemeClr val="tx1"/>
                </a:solidFill>
              </a:rPr>
              <a:t>B</a:t>
            </a:r>
            <a:endParaRPr lang="ko-KR" altLang="en-US" sz="1100" dirty="0">
              <a:solidFill>
                <a:schemeClr val="tx1"/>
              </a:solidFill>
            </a:endParaRPr>
          </a:p>
        </p:txBody>
      </p:sp>
      <p:sp>
        <p:nvSpPr>
          <p:cNvPr id="136" name="직사각형 135"/>
          <p:cNvSpPr/>
          <p:nvPr/>
        </p:nvSpPr>
        <p:spPr>
          <a:xfrm>
            <a:off x="8987975" y="4356554"/>
            <a:ext cx="803281" cy="2111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Z</a:t>
            </a:r>
            <a:r>
              <a:rPr lang="ko-KR" altLang="en-US" sz="1100" dirty="0">
                <a:solidFill>
                  <a:schemeClr val="tx1"/>
                </a:solidFill>
              </a:rPr>
              <a:t>의 </a:t>
            </a:r>
            <a:r>
              <a:rPr lang="en-US" altLang="ko-KR" sz="1100" dirty="0">
                <a:solidFill>
                  <a:schemeClr val="tx1"/>
                </a:solidFill>
              </a:rPr>
              <a:t>A, C</a:t>
            </a:r>
            <a:endParaRPr lang="ko-KR" altLang="en-US" sz="1100" dirty="0">
              <a:solidFill>
                <a:schemeClr val="tx1"/>
              </a:solidFill>
            </a:endParaRPr>
          </a:p>
        </p:txBody>
      </p:sp>
      <p:cxnSp>
        <p:nvCxnSpPr>
          <p:cNvPr id="47" name="직선 연결선 46"/>
          <p:cNvCxnSpPr/>
          <p:nvPr/>
        </p:nvCxnSpPr>
        <p:spPr>
          <a:xfrm flipV="1">
            <a:off x="116001" y="3697361"/>
            <a:ext cx="11326817" cy="21558"/>
          </a:xfrm>
          <a:prstGeom prst="line">
            <a:avLst/>
          </a:prstGeom>
          <a:ln w="762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직사각형 54"/>
          <p:cNvSpPr/>
          <p:nvPr/>
        </p:nvSpPr>
        <p:spPr>
          <a:xfrm>
            <a:off x="6936650" y="3820263"/>
            <a:ext cx="1111100" cy="202221"/>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Y</a:t>
            </a:r>
            <a:r>
              <a:rPr lang="ko-KR" altLang="en-US" sz="1000" dirty="0">
                <a:solidFill>
                  <a:schemeClr val="tx1"/>
                </a:solidFill>
              </a:rPr>
              <a:t>기초 우선권주장</a:t>
            </a:r>
          </a:p>
        </p:txBody>
      </p:sp>
      <p:sp>
        <p:nvSpPr>
          <p:cNvPr id="67" name="직사각형 66"/>
          <p:cNvSpPr/>
          <p:nvPr/>
        </p:nvSpPr>
        <p:spPr>
          <a:xfrm>
            <a:off x="2253724" y="3810541"/>
            <a:ext cx="1111100" cy="202221"/>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기초 우선권주장</a:t>
            </a:r>
          </a:p>
        </p:txBody>
      </p:sp>
      <p:sp>
        <p:nvSpPr>
          <p:cNvPr id="51" name="직사각형 50"/>
          <p:cNvSpPr/>
          <p:nvPr/>
        </p:nvSpPr>
        <p:spPr>
          <a:xfrm>
            <a:off x="354376" y="3618041"/>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한국출원</a:t>
            </a:r>
            <a:r>
              <a:rPr lang="en-US" altLang="ko-KR" sz="1000" dirty="0">
                <a:solidFill>
                  <a:schemeClr val="tx1"/>
                </a:solidFill>
              </a:rPr>
              <a:t>(X)</a:t>
            </a:r>
            <a:endParaRPr lang="ko-KR" altLang="en-US" sz="1000" dirty="0">
              <a:solidFill>
                <a:schemeClr val="tx1"/>
              </a:solidFill>
            </a:endParaRPr>
          </a:p>
        </p:txBody>
      </p:sp>
      <p:sp>
        <p:nvSpPr>
          <p:cNvPr id="53" name="직사각형 52"/>
          <p:cNvSpPr/>
          <p:nvPr/>
        </p:nvSpPr>
        <p:spPr>
          <a:xfrm>
            <a:off x="2253724" y="3618041"/>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(Y)</a:t>
            </a:r>
            <a:endParaRPr lang="ko-KR" altLang="en-US" sz="1000" dirty="0">
              <a:solidFill>
                <a:schemeClr val="tx1"/>
              </a:solidFill>
            </a:endParaRPr>
          </a:p>
        </p:txBody>
      </p:sp>
      <p:sp>
        <p:nvSpPr>
          <p:cNvPr id="54" name="직사각형 53"/>
          <p:cNvSpPr/>
          <p:nvPr/>
        </p:nvSpPr>
        <p:spPr>
          <a:xfrm>
            <a:off x="6936650" y="3618041"/>
            <a:ext cx="1111100" cy="2022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(Z)</a:t>
            </a:r>
            <a:endParaRPr lang="ko-KR" altLang="en-US" sz="1000" dirty="0">
              <a:solidFill>
                <a:schemeClr val="tx1"/>
              </a:solidFill>
            </a:endParaRPr>
          </a:p>
        </p:txBody>
      </p:sp>
      <p:sp>
        <p:nvSpPr>
          <p:cNvPr id="99" name="직사각형 98"/>
          <p:cNvSpPr/>
          <p:nvPr/>
        </p:nvSpPr>
        <p:spPr>
          <a:xfrm>
            <a:off x="8504501" y="3618041"/>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취하</a:t>
            </a:r>
            <a:r>
              <a:rPr lang="en-US" altLang="ko-KR" sz="1000" dirty="0">
                <a:solidFill>
                  <a:schemeClr val="tx1"/>
                </a:solidFill>
              </a:rPr>
              <a:t>(Y)</a:t>
            </a:r>
            <a:endParaRPr lang="ko-KR" altLang="en-US" sz="1000" dirty="0">
              <a:solidFill>
                <a:schemeClr val="tx1"/>
              </a:solidFill>
            </a:endParaRPr>
          </a:p>
        </p:txBody>
      </p:sp>
      <p:sp>
        <p:nvSpPr>
          <p:cNvPr id="103" name="직사각형 102"/>
          <p:cNvSpPr/>
          <p:nvPr/>
        </p:nvSpPr>
        <p:spPr>
          <a:xfrm>
            <a:off x="10018517" y="3618041"/>
            <a:ext cx="1111100" cy="2022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공개</a:t>
            </a:r>
            <a:r>
              <a:rPr lang="en-US" altLang="ko-KR" sz="1000" dirty="0">
                <a:solidFill>
                  <a:schemeClr val="tx1"/>
                </a:solidFill>
              </a:rPr>
              <a:t>(Z)</a:t>
            </a:r>
            <a:endParaRPr lang="ko-KR" altLang="en-US" sz="1000" dirty="0">
              <a:solidFill>
                <a:schemeClr val="tx1"/>
              </a:solidFill>
            </a:endParaRPr>
          </a:p>
        </p:txBody>
      </p:sp>
      <p:sp>
        <p:nvSpPr>
          <p:cNvPr id="109" name="직사각형 108"/>
          <p:cNvSpPr/>
          <p:nvPr/>
        </p:nvSpPr>
        <p:spPr>
          <a:xfrm>
            <a:off x="3854128" y="3618041"/>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취하</a:t>
            </a:r>
            <a:r>
              <a:rPr lang="en-US" altLang="ko-KR" sz="1000" dirty="0">
                <a:solidFill>
                  <a:schemeClr val="tx1"/>
                </a:solidFill>
              </a:rPr>
              <a:t>(X)</a:t>
            </a:r>
            <a:endParaRPr lang="ko-KR" altLang="en-US" sz="1000" dirty="0">
              <a:solidFill>
                <a:schemeClr val="tx1"/>
              </a:solidFill>
            </a:endParaRPr>
          </a:p>
        </p:txBody>
      </p:sp>
      <p:sp>
        <p:nvSpPr>
          <p:cNvPr id="113" name="직사각형 112"/>
          <p:cNvSpPr/>
          <p:nvPr/>
        </p:nvSpPr>
        <p:spPr>
          <a:xfrm>
            <a:off x="5382457" y="3618041"/>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공개</a:t>
            </a:r>
            <a:r>
              <a:rPr lang="en-US" altLang="ko-KR" sz="1000" dirty="0">
                <a:solidFill>
                  <a:schemeClr val="tx1"/>
                </a:solidFill>
              </a:rPr>
              <a:t>(Y)</a:t>
            </a:r>
            <a:endParaRPr lang="ko-KR" altLang="en-US" sz="1000" dirty="0">
              <a:solidFill>
                <a:schemeClr val="tx1"/>
              </a:solidFill>
            </a:endParaRPr>
          </a:p>
        </p:txBody>
      </p:sp>
      <p:sp>
        <p:nvSpPr>
          <p:cNvPr id="138" name="직사각형 137"/>
          <p:cNvSpPr/>
          <p:nvPr/>
        </p:nvSpPr>
        <p:spPr>
          <a:xfrm>
            <a:off x="8586335" y="3029312"/>
            <a:ext cx="803281" cy="2111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rgbClr val="FF0000"/>
                </a:solidFill>
              </a:rPr>
              <a:t>X</a:t>
            </a:r>
            <a:r>
              <a:rPr lang="ko-KR" altLang="en-US" sz="1100" dirty="0">
                <a:solidFill>
                  <a:srgbClr val="FF0000"/>
                </a:solidFill>
              </a:rPr>
              <a:t>의 </a:t>
            </a:r>
            <a:r>
              <a:rPr lang="en-US" altLang="ko-KR" sz="1100" dirty="0">
                <a:solidFill>
                  <a:srgbClr val="FF0000"/>
                </a:solidFill>
              </a:rPr>
              <a:t>A</a:t>
            </a:r>
            <a:endParaRPr lang="ko-KR" altLang="en-US" sz="1100" dirty="0">
              <a:solidFill>
                <a:srgbClr val="FF0000"/>
              </a:solidFill>
            </a:endParaRPr>
          </a:p>
        </p:txBody>
      </p:sp>
      <p:cxnSp>
        <p:nvCxnSpPr>
          <p:cNvPr id="11" name="직선 연결선 10"/>
          <p:cNvCxnSpPr>
            <a:stCxn id="90" idx="2"/>
            <a:endCxn id="51" idx="0"/>
          </p:cNvCxnSpPr>
          <p:nvPr/>
        </p:nvCxnSpPr>
        <p:spPr>
          <a:xfrm flipH="1">
            <a:off x="909926" y="1778561"/>
            <a:ext cx="1" cy="1839480"/>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직선 연결선 12"/>
          <p:cNvCxnSpPr>
            <a:stCxn id="92" idx="2"/>
            <a:endCxn id="53" idx="0"/>
          </p:cNvCxnSpPr>
          <p:nvPr/>
        </p:nvCxnSpPr>
        <p:spPr>
          <a:xfrm flipH="1">
            <a:off x="2809274" y="1778561"/>
            <a:ext cx="412" cy="1839480"/>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직선 연결선 14"/>
          <p:cNvCxnSpPr>
            <a:stCxn id="94" idx="2"/>
            <a:endCxn id="54" idx="0"/>
          </p:cNvCxnSpPr>
          <p:nvPr/>
        </p:nvCxnSpPr>
        <p:spPr>
          <a:xfrm>
            <a:off x="7492200" y="1778561"/>
            <a:ext cx="0" cy="1839480"/>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직선 연결선 19"/>
          <p:cNvCxnSpPr>
            <a:stCxn id="51" idx="2"/>
          </p:cNvCxnSpPr>
          <p:nvPr/>
        </p:nvCxnSpPr>
        <p:spPr>
          <a:xfrm>
            <a:off x="909926" y="3820262"/>
            <a:ext cx="0" cy="282836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직선 연결선 139"/>
          <p:cNvCxnSpPr/>
          <p:nvPr/>
        </p:nvCxnSpPr>
        <p:spPr>
          <a:xfrm>
            <a:off x="4413701" y="3820262"/>
            <a:ext cx="0" cy="282836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1" name="직선 연결선 140"/>
          <p:cNvCxnSpPr/>
          <p:nvPr/>
        </p:nvCxnSpPr>
        <p:spPr>
          <a:xfrm>
            <a:off x="5938007" y="3820262"/>
            <a:ext cx="0" cy="282836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3" name="직선 연결선 142"/>
          <p:cNvCxnSpPr/>
          <p:nvPr/>
        </p:nvCxnSpPr>
        <p:spPr>
          <a:xfrm>
            <a:off x="9064626" y="3820262"/>
            <a:ext cx="0" cy="282836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직선 연결선 143"/>
          <p:cNvCxnSpPr/>
          <p:nvPr/>
        </p:nvCxnSpPr>
        <p:spPr>
          <a:xfrm>
            <a:off x="10510007" y="3820262"/>
            <a:ext cx="0" cy="282836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직선 연결선 21"/>
          <p:cNvCxnSpPr/>
          <p:nvPr/>
        </p:nvCxnSpPr>
        <p:spPr>
          <a:xfrm>
            <a:off x="909926" y="5136021"/>
            <a:ext cx="3503775" cy="0"/>
          </a:xfrm>
          <a:prstGeom prst="line">
            <a:avLst/>
          </a:prstGeom>
          <a:ln w="127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5" name="직선 연결선 144"/>
          <p:cNvCxnSpPr/>
          <p:nvPr/>
        </p:nvCxnSpPr>
        <p:spPr>
          <a:xfrm>
            <a:off x="909926" y="5477853"/>
            <a:ext cx="5028081" cy="0"/>
          </a:xfrm>
          <a:prstGeom prst="line">
            <a:avLst/>
          </a:prstGeom>
          <a:ln w="127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8" name="직선 연결선 147"/>
          <p:cNvCxnSpPr/>
          <p:nvPr/>
        </p:nvCxnSpPr>
        <p:spPr>
          <a:xfrm>
            <a:off x="2827288" y="5905143"/>
            <a:ext cx="6237338" cy="0"/>
          </a:xfrm>
          <a:prstGeom prst="line">
            <a:avLst/>
          </a:prstGeom>
          <a:ln w="127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9" name="직선 연결선 148"/>
          <p:cNvCxnSpPr/>
          <p:nvPr/>
        </p:nvCxnSpPr>
        <p:spPr>
          <a:xfrm>
            <a:off x="2827288" y="6298249"/>
            <a:ext cx="7682719" cy="0"/>
          </a:xfrm>
          <a:prstGeom prst="line">
            <a:avLst/>
          </a:prstGeom>
          <a:ln w="127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0" name="직사각형 149"/>
          <p:cNvSpPr/>
          <p:nvPr/>
        </p:nvSpPr>
        <p:spPr>
          <a:xfrm>
            <a:off x="1836037" y="5030452"/>
            <a:ext cx="803281" cy="211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1</a:t>
            </a:r>
            <a:r>
              <a:rPr lang="ko-KR" altLang="en-US" sz="1100" dirty="0">
                <a:solidFill>
                  <a:schemeClr val="tx1"/>
                </a:solidFill>
              </a:rPr>
              <a:t>년 </a:t>
            </a:r>
            <a:r>
              <a:rPr lang="en-US" altLang="ko-KR" sz="1100" dirty="0">
                <a:solidFill>
                  <a:schemeClr val="tx1"/>
                </a:solidFill>
              </a:rPr>
              <a:t>3</a:t>
            </a:r>
            <a:r>
              <a:rPr lang="ko-KR" altLang="en-US" sz="1100" dirty="0">
                <a:solidFill>
                  <a:schemeClr val="tx1"/>
                </a:solidFill>
              </a:rPr>
              <a:t>개월</a:t>
            </a:r>
          </a:p>
        </p:txBody>
      </p:sp>
      <p:sp>
        <p:nvSpPr>
          <p:cNvPr id="151" name="직사각형 150"/>
          <p:cNvSpPr/>
          <p:nvPr/>
        </p:nvSpPr>
        <p:spPr>
          <a:xfrm>
            <a:off x="1836037" y="5387204"/>
            <a:ext cx="803281" cy="211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1</a:t>
            </a:r>
            <a:r>
              <a:rPr lang="ko-KR" altLang="en-US" sz="1100" dirty="0">
                <a:solidFill>
                  <a:schemeClr val="tx1"/>
                </a:solidFill>
              </a:rPr>
              <a:t>년 </a:t>
            </a:r>
            <a:r>
              <a:rPr lang="en-US" altLang="ko-KR" sz="1100" dirty="0">
                <a:solidFill>
                  <a:schemeClr val="tx1"/>
                </a:solidFill>
              </a:rPr>
              <a:t>6</a:t>
            </a:r>
            <a:r>
              <a:rPr lang="ko-KR" altLang="en-US" sz="1100" dirty="0">
                <a:solidFill>
                  <a:schemeClr val="tx1"/>
                </a:solidFill>
              </a:rPr>
              <a:t>개월</a:t>
            </a:r>
          </a:p>
        </p:txBody>
      </p:sp>
      <p:sp>
        <p:nvSpPr>
          <p:cNvPr id="152" name="직사각형 151"/>
          <p:cNvSpPr/>
          <p:nvPr/>
        </p:nvSpPr>
        <p:spPr>
          <a:xfrm>
            <a:off x="6329543" y="5810792"/>
            <a:ext cx="803281" cy="211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1</a:t>
            </a:r>
            <a:r>
              <a:rPr lang="ko-KR" altLang="en-US" sz="1100" dirty="0">
                <a:solidFill>
                  <a:schemeClr val="tx1"/>
                </a:solidFill>
              </a:rPr>
              <a:t>년 </a:t>
            </a:r>
            <a:r>
              <a:rPr lang="en-US" altLang="ko-KR" sz="1100" dirty="0">
                <a:solidFill>
                  <a:schemeClr val="tx1"/>
                </a:solidFill>
              </a:rPr>
              <a:t>3</a:t>
            </a:r>
            <a:r>
              <a:rPr lang="ko-KR" altLang="en-US" sz="1100" dirty="0">
                <a:solidFill>
                  <a:schemeClr val="tx1"/>
                </a:solidFill>
              </a:rPr>
              <a:t>개월</a:t>
            </a:r>
          </a:p>
        </p:txBody>
      </p:sp>
      <p:sp>
        <p:nvSpPr>
          <p:cNvPr id="153" name="직사각형 152"/>
          <p:cNvSpPr/>
          <p:nvPr/>
        </p:nvSpPr>
        <p:spPr>
          <a:xfrm>
            <a:off x="6329543" y="6210274"/>
            <a:ext cx="803281" cy="211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1</a:t>
            </a:r>
            <a:r>
              <a:rPr lang="ko-KR" altLang="en-US" sz="1100" dirty="0">
                <a:solidFill>
                  <a:schemeClr val="tx1"/>
                </a:solidFill>
              </a:rPr>
              <a:t>년 </a:t>
            </a:r>
            <a:r>
              <a:rPr lang="en-US" altLang="ko-KR" sz="1100" dirty="0">
                <a:solidFill>
                  <a:schemeClr val="tx1"/>
                </a:solidFill>
              </a:rPr>
              <a:t>6</a:t>
            </a:r>
            <a:r>
              <a:rPr lang="ko-KR" altLang="en-US" sz="1100" dirty="0">
                <a:solidFill>
                  <a:schemeClr val="tx1"/>
                </a:solidFill>
              </a:rPr>
              <a:t>개월</a:t>
            </a:r>
          </a:p>
        </p:txBody>
      </p:sp>
      <p:sp>
        <p:nvSpPr>
          <p:cNvPr id="2" name="슬라이드 번호 개체 틀 1"/>
          <p:cNvSpPr>
            <a:spLocks noGrp="1"/>
          </p:cNvSpPr>
          <p:nvPr>
            <p:ph type="sldNum" sz="quarter" idx="12"/>
          </p:nvPr>
        </p:nvSpPr>
        <p:spPr/>
        <p:txBody>
          <a:bodyPr/>
          <a:lstStyle/>
          <a:p>
            <a:r>
              <a:rPr lang="en-US" altLang="ko-KR"/>
              <a:t>233</a:t>
            </a:r>
            <a:endParaRPr lang="ko-KR" altLang="en-US"/>
          </a:p>
        </p:txBody>
      </p:sp>
      <p:sp>
        <p:nvSpPr>
          <p:cNvPr id="3" name="말풍선: 모서리가 둥근 사각형 2">
            <a:extLst>
              <a:ext uri="{FF2B5EF4-FFF2-40B4-BE49-F238E27FC236}">
                <a16:creationId xmlns:a16="http://schemas.microsoft.com/office/drawing/2014/main" id="{67A6DF0C-89D0-4E64-8703-0EF3A32688B1}"/>
              </a:ext>
            </a:extLst>
          </p:cNvPr>
          <p:cNvSpPr/>
          <p:nvPr/>
        </p:nvSpPr>
        <p:spPr>
          <a:xfrm>
            <a:off x="9624751" y="5132942"/>
            <a:ext cx="1894579" cy="595196"/>
          </a:xfrm>
          <a:prstGeom prst="wedgeRoundRectCallout">
            <a:avLst>
              <a:gd name="adj1" fmla="val -60722"/>
              <a:gd name="adj2" fmla="val -144106"/>
              <a:gd name="adj3" fmla="val 16667"/>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accent2">
                    <a:lumMod val="50000"/>
                  </a:schemeClr>
                </a:solidFill>
              </a:rPr>
              <a:t>현재 </a:t>
            </a:r>
            <a:r>
              <a:rPr lang="en-US" altLang="ko-KR" sz="1200" dirty="0">
                <a:solidFill>
                  <a:schemeClr val="accent2">
                    <a:lumMod val="50000"/>
                  </a:schemeClr>
                </a:solidFill>
              </a:rPr>
              <a:t>A</a:t>
            </a:r>
            <a:r>
              <a:rPr lang="ko-KR" altLang="en-US" sz="1200" dirty="0">
                <a:solidFill>
                  <a:schemeClr val="accent2">
                    <a:lumMod val="50000"/>
                  </a:schemeClr>
                </a:solidFill>
              </a:rPr>
              <a:t>는 신규성 위반으로 선출원의 지위 불인정</a:t>
            </a:r>
          </a:p>
        </p:txBody>
      </p:sp>
    </p:spTree>
    <p:extLst>
      <p:ext uri="{BB962C8B-B14F-4D97-AF65-F5344CB8AC3E}">
        <p14:creationId xmlns:p14="http://schemas.microsoft.com/office/powerpoint/2010/main" val="3520701484"/>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44" name="직선 연결선 143"/>
          <p:cNvCxnSpPr/>
          <p:nvPr/>
        </p:nvCxnSpPr>
        <p:spPr>
          <a:xfrm>
            <a:off x="10751543" y="3991691"/>
            <a:ext cx="0" cy="282836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1" name="직선 연결선 140"/>
          <p:cNvCxnSpPr/>
          <p:nvPr/>
        </p:nvCxnSpPr>
        <p:spPr>
          <a:xfrm>
            <a:off x="6179543" y="3991691"/>
            <a:ext cx="0" cy="282836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2" name="직선 연결선 141"/>
          <p:cNvCxnSpPr/>
          <p:nvPr/>
        </p:nvCxnSpPr>
        <p:spPr>
          <a:xfrm>
            <a:off x="7733736" y="3991691"/>
            <a:ext cx="0" cy="282836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직선 연결선 146"/>
          <p:cNvCxnSpPr/>
          <p:nvPr/>
        </p:nvCxnSpPr>
        <p:spPr>
          <a:xfrm>
            <a:off x="3050810" y="3991691"/>
            <a:ext cx="0" cy="282836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제목 3"/>
          <p:cNvSpPr>
            <a:spLocks noGrp="1"/>
          </p:cNvSpPr>
          <p:nvPr>
            <p:ph type="title"/>
          </p:nvPr>
        </p:nvSpPr>
        <p:spPr/>
        <p:txBody>
          <a:bodyPr/>
          <a:lstStyle/>
          <a:p>
            <a:r>
              <a:rPr lang="ko-KR" altLang="en-US" dirty="0"/>
              <a:t>제</a:t>
            </a:r>
            <a:r>
              <a:rPr lang="en-US" altLang="ko-KR" dirty="0"/>
              <a:t>55</a:t>
            </a:r>
            <a:r>
              <a:rPr lang="ko-KR" altLang="en-US" dirty="0"/>
              <a:t>조</a:t>
            </a:r>
            <a:r>
              <a:rPr lang="en-US" altLang="ko-KR" dirty="0"/>
              <a:t>, </a:t>
            </a:r>
            <a:r>
              <a:rPr lang="ko-KR" altLang="en-US" dirty="0"/>
              <a:t>제</a:t>
            </a:r>
            <a:r>
              <a:rPr lang="en-US" altLang="ko-KR" dirty="0"/>
              <a:t>56</a:t>
            </a:r>
            <a:r>
              <a:rPr lang="ko-KR" altLang="en-US" dirty="0"/>
              <a:t>조</a:t>
            </a:r>
          </a:p>
        </p:txBody>
      </p:sp>
      <p:sp>
        <p:nvSpPr>
          <p:cNvPr id="5" name="텍스트 개체 틀 4"/>
          <p:cNvSpPr>
            <a:spLocks noGrp="1"/>
          </p:cNvSpPr>
          <p:nvPr>
            <p:ph type="body" sz="quarter" idx="13"/>
          </p:nvPr>
        </p:nvSpPr>
        <p:spPr/>
        <p:txBody>
          <a:bodyPr/>
          <a:lstStyle/>
          <a:p>
            <a:r>
              <a:rPr lang="ko-KR" altLang="en-US" dirty="0">
                <a:solidFill>
                  <a:srgbClr val="525252"/>
                </a:solidFill>
              </a:rPr>
              <a:t>누적적 우선권주장출원의 그 출원의 지위</a:t>
            </a:r>
          </a:p>
        </p:txBody>
      </p:sp>
      <p:sp>
        <p:nvSpPr>
          <p:cNvPr id="2" name="슬라이드 번호 개체 틀 1"/>
          <p:cNvSpPr>
            <a:spLocks noGrp="1"/>
          </p:cNvSpPr>
          <p:nvPr>
            <p:ph type="sldNum" sz="quarter" idx="4294967295"/>
          </p:nvPr>
        </p:nvSpPr>
        <p:spPr>
          <a:xfrm>
            <a:off x="11144250" y="3175"/>
            <a:ext cx="1047750" cy="714375"/>
          </a:xfrm>
        </p:spPr>
        <p:txBody>
          <a:bodyPr/>
          <a:lstStyle/>
          <a:p>
            <a:r>
              <a:rPr lang="en-US" altLang="ko-KR"/>
              <a:t>234</a:t>
            </a:r>
            <a:endParaRPr lang="ko-KR" altLang="en-US"/>
          </a:p>
        </p:txBody>
      </p:sp>
      <p:sp>
        <p:nvSpPr>
          <p:cNvPr id="89" name="직사각형 88"/>
          <p:cNvSpPr/>
          <p:nvPr/>
        </p:nvSpPr>
        <p:spPr>
          <a:xfrm>
            <a:off x="595913" y="3619264"/>
            <a:ext cx="1111099" cy="212240"/>
          </a:xfrm>
          <a:prstGeom prst="rect">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90" name="직사각형 89"/>
          <p:cNvSpPr/>
          <p:nvPr/>
        </p:nvSpPr>
        <p:spPr>
          <a:xfrm>
            <a:off x="595913" y="3831504"/>
            <a:ext cx="1111099" cy="212240"/>
          </a:xfrm>
          <a:prstGeom prst="rect">
            <a:avLst/>
          </a:prstGeom>
          <a:solidFill>
            <a:schemeClr val="accent3">
              <a:lumMod val="20000"/>
              <a:lumOff val="8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a:t>
            </a:r>
            <a:endParaRPr lang="ko-KR" altLang="en-US" sz="1100" dirty="0">
              <a:solidFill>
                <a:schemeClr val="tx1"/>
              </a:solidFill>
            </a:endParaRPr>
          </a:p>
        </p:txBody>
      </p:sp>
      <p:sp>
        <p:nvSpPr>
          <p:cNvPr id="91" name="직사각형 90"/>
          <p:cNvSpPr/>
          <p:nvPr/>
        </p:nvSpPr>
        <p:spPr>
          <a:xfrm>
            <a:off x="2495260" y="3619264"/>
            <a:ext cx="1111923" cy="212240"/>
          </a:xfrm>
          <a:prstGeom prst="rect">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92" name="직사각형 91"/>
          <p:cNvSpPr/>
          <p:nvPr/>
        </p:nvSpPr>
        <p:spPr>
          <a:xfrm>
            <a:off x="2495260" y="3831504"/>
            <a:ext cx="1111923" cy="212240"/>
          </a:xfrm>
          <a:prstGeom prst="rect">
            <a:avLst/>
          </a:prstGeom>
          <a:solidFill>
            <a:schemeClr val="accent3">
              <a:lumMod val="20000"/>
              <a:lumOff val="8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a:t>
            </a:r>
            <a:endParaRPr lang="ko-KR" altLang="en-US" sz="1100" dirty="0">
              <a:solidFill>
                <a:schemeClr val="tx1"/>
              </a:solidFill>
            </a:endParaRPr>
          </a:p>
        </p:txBody>
      </p:sp>
      <p:sp>
        <p:nvSpPr>
          <p:cNvPr id="93" name="직사각형 92"/>
          <p:cNvSpPr/>
          <p:nvPr/>
        </p:nvSpPr>
        <p:spPr>
          <a:xfrm>
            <a:off x="7178186" y="3619264"/>
            <a:ext cx="1111100" cy="212240"/>
          </a:xfrm>
          <a:prstGeom prst="rect">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sp>
        <p:nvSpPr>
          <p:cNvPr id="94" name="직사각형 93"/>
          <p:cNvSpPr/>
          <p:nvPr/>
        </p:nvSpPr>
        <p:spPr>
          <a:xfrm>
            <a:off x="7178186" y="3831504"/>
            <a:ext cx="1111100" cy="212240"/>
          </a:xfrm>
          <a:prstGeom prst="rect">
            <a:avLst/>
          </a:prstGeom>
          <a:solidFill>
            <a:schemeClr val="accent3">
              <a:lumMod val="20000"/>
              <a:lumOff val="8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A, B, C</a:t>
            </a:r>
            <a:endParaRPr lang="ko-KR" altLang="en-US" sz="1100" dirty="0">
              <a:solidFill>
                <a:schemeClr val="tx1"/>
              </a:solidFill>
            </a:endParaRPr>
          </a:p>
        </p:txBody>
      </p:sp>
      <p:sp>
        <p:nvSpPr>
          <p:cNvPr id="7" name="양쪽 모서리가 둥근 사각형 6"/>
          <p:cNvSpPr/>
          <p:nvPr/>
        </p:nvSpPr>
        <p:spPr>
          <a:xfrm>
            <a:off x="11477322" y="3771510"/>
            <a:ext cx="585000" cy="2827479"/>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7" name="직선 연결선 46"/>
          <p:cNvCxnSpPr/>
          <p:nvPr/>
        </p:nvCxnSpPr>
        <p:spPr>
          <a:xfrm flipV="1">
            <a:off x="357537" y="4365573"/>
            <a:ext cx="11326817" cy="21558"/>
          </a:xfrm>
          <a:prstGeom prst="line">
            <a:avLst/>
          </a:prstGeom>
          <a:ln w="762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직사각형 54"/>
          <p:cNvSpPr/>
          <p:nvPr/>
        </p:nvSpPr>
        <p:spPr>
          <a:xfrm>
            <a:off x="7178186" y="4488475"/>
            <a:ext cx="1111100" cy="202221"/>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Y</a:t>
            </a:r>
            <a:r>
              <a:rPr lang="ko-KR" altLang="en-US" sz="1000" dirty="0">
                <a:solidFill>
                  <a:schemeClr val="tx1"/>
                </a:solidFill>
              </a:rPr>
              <a:t>기초 우선권주장</a:t>
            </a:r>
          </a:p>
        </p:txBody>
      </p:sp>
      <p:sp>
        <p:nvSpPr>
          <p:cNvPr id="67" name="직사각형 66"/>
          <p:cNvSpPr/>
          <p:nvPr/>
        </p:nvSpPr>
        <p:spPr>
          <a:xfrm>
            <a:off x="2495260" y="4478753"/>
            <a:ext cx="1111100" cy="202221"/>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기초 우선권주장</a:t>
            </a:r>
          </a:p>
        </p:txBody>
      </p:sp>
      <p:sp>
        <p:nvSpPr>
          <p:cNvPr id="51" name="직사각형 50"/>
          <p:cNvSpPr/>
          <p:nvPr/>
        </p:nvSpPr>
        <p:spPr>
          <a:xfrm>
            <a:off x="595912" y="4286253"/>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한국출원</a:t>
            </a:r>
            <a:r>
              <a:rPr lang="en-US" altLang="ko-KR" sz="1000" dirty="0">
                <a:solidFill>
                  <a:schemeClr val="tx1"/>
                </a:solidFill>
              </a:rPr>
              <a:t>(X)</a:t>
            </a:r>
            <a:endParaRPr lang="ko-KR" altLang="en-US" sz="1000" dirty="0">
              <a:solidFill>
                <a:schemeClr val="tx1"/>
              </a:solidFill>
            </a:endParaRPr>
          </a:p>
        </p:txBody>
      </p:sp>
      <p:sp>
        <p:nvSpPr>
          <p:cNvPr id="53" name="직사각형 52"/>
          <p:cNvSpPr/>
          <p:nvPr/>
        </p:nvSpPr>
        <p:spPr>
          <a:xfrm>
            <a:off x="2495260" y="4286253"/>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(Y)</a:t>
            </a:r>
            <a:endParaRPr lang="ko-KR" altLang="en-US" sz="1000" dirty="0">
              <a:solidFill>
                <a:schemeClr val="tx1"/>
              </a:solidFill>
            </a:endParaRPr>
          </a:p>
        </p:txBody>
      </p:sp>
      <p:sp>
        <p:nvSpPr>
          <p:cNvPr id="54" name="직사각형 53"/>
          <p:cNvSpPr/>
          <p:nvPr/>
        </p:nvSpPr>
        <p:spPr>
          <a:xfrm>
            <a:off x="7178186" y="4286253"/>
            <a:ext cx="1111100" cy="2022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(Z)</a:t>
            </a:r>
            <a:endParaRPr lang="ko-KR" altLang="en-US" sz="1000" dirty="0">
              <a:solidFill>
                <a:schemeClr val="tx1"/>
              </a:solidFill>
            </a:endParaRPr>
          </a:p>
        </p:txBody>
      </p:sp>
      <p:sp>
        <p:nvSpPr>
          <p:cNvPr id="99" name="직사각형 98"/>
          <p:cNvSpPr/>
          <p:nvPr/>
        </p:nvSpPr>
        <p:spPr>
          <a:xfrm>
            <a:off x="8746037" y="4286253"/>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취하</a:t>
            </a:r>
            <a:r>
              <a:rPr lang="en-US" altLang="ko-KR" sz="1000" dirty="0">
                <a:solidFill>
                  <a:schemeClr val="tx1"/>
                </a:solidFill>
              </a:rPr>
              <a:t>(Y)</a:t>
            </a:r>
            <a:endParaRPr lang="ko-KR" altLang="en-US" sz="1000" dirty="0">
              <a:solidFill>
                <a:schemeClr val="tx1"/>
              </a:solidFill>
            </a:endParaRPr>
          </a:p>
        </p:txBody>
      </p:sp>
      <p:sp>
        <p:nvSpPr>
          <p:cNvPr id="103" name="직사각형 102"/>
          <p:cNvSpPr/>
          <p:nvPr/>
        </p:nvSpPr>
        <p:spPr>
          <a:xfrm>
            <a:off x="10260053" y="4286253"/>
            <a:ext cx="1111100" cy="2022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공개</a:t>
            </a:r>
            <a:r>
              <a:rPr lang="en-US" altLang="ko-KR" sz="1000" dirty="0">
                <a:solidFill>
                  <a:schemeClr val="tx1"/>
                </a:solidFill>
              </a:rPr>
              <a:t>(Z)</a:t>
            </a:r>
            <a:endParaRPr lang="ko-KR" altLang="en-US" sz="1000" dirty="0">
              <a:solidFill>
                <a:schemeClr val="tx1"/>
              </a:solidFill>
            </a:endParaRPr>
          </a:p>
        </p:txBody>
      </p:sp>
      <p:sp>
        <p:nvSpPr>
          <p:cNvPr id="109" name="직사각형 108"/>
          <p:cNvSpPr/>
          <p:nvPr/>
        </p:nvSpPr>
        <p:spPr>
          <a:xfrm>
            <a:off x="4095664" y="4286253"/>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취하</a:t>
            </a:r>
            <a:r>
              <a:rPr lang="en-US" altLang="ko-KR" sz="1000" dirty="0">
                <a:solidFill>
                  <a:schemeClr val="tx1"/>
                </a:solidFill>
              </a:rPr>
              <a:t>(X)</a:t>
            </a:r>
            <a:endParaRPr lang="ko-KR" altLang="en-US" sz="1000" dirty="0">
              <a:solidFill>
                <a:schemeClr val="tx1"/>
              </a:solidFill>
            </a:endParaRPr>
          </a:p>
        </p:txBody>
      </p:sp>
      <p:sp>
        <p:nvSpPr>
          <p:cNvPr id="113" name="직사각형 112"/>
          <p:cNvSpPr/>
          <p:nvPr/>
        </p:nvSpPr>
        <p:spPr>
          <a:xfrm>
            <a:off x="5623993" y="4286253"/>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공개</a:t>
            </a:r>
            <a:r>
              <a:rPr lang="en-US" altLang="ko-KR" sz="1000" dirty="0">
                <a:solidFill>
                  <a:schemeClr val="tx1"/>
                </a:solidFill>
              </a:rPr>
              <a:t>(Y)</a:t>
            </a:r>
            <a:endParaRPr lang="ko-KR" altLang="en-US" sz="1000" dirty="0">
              <a:solidFill>
                <a:schemeClr val="tx1"/>
              </a:solidFill>
            </a:endParaRPr>
          </a:p>
        </p:txBody>
      </p:sp>
      <p:cxnSp>
        <p:nvCxnSpPr>
          <p:cNvPr id="11" name="직선 연결선 10"/>
          <p:cNvCxnSpPr>
            <a:stCxn id="90" idx="2"/>
            <a:endCxn id="51" idx="0"/>
          </p:cNvCxnSpPr>
          <p:nvPr/>
        </p:nvCxnSpPr>
        <p:spPr>
          <a:xfrm flipH="1">
            <a:off x="1151462" y="4043744"/>
            <a:ext cx="1" cy="242509"/>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직선 연결선 12"/>
          <p:cNvCxnSpPr>
            <a:stCxn id="92" idx="2"/>
            <a:endCxn id="53" idx="0"/>
          </p:cNvCxnSpPr>
          <p:nvPr/>
        </p:nvCxnSpPr>
        <p:spPr>
          <a:xfrm flipH="1">
            <a:off x="3050810" y="4043744"/>
            <a:ext cx="412" cy="242509"/>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직선 연결선 14"/>
          <p:cNvCxnSpPr>
            <a:stCxn id="94" idx="2"/>
            <a:endCxn id="54" idx="0"/>
          </p:cNvCxnSpPr>
          <p:nvPr/>
        </p:nvCxnSpPr>
        <p:spPr>
          <a:xfrm>
            <a:off x="7733736" y="4043744"/>
            <a:ext cx="0" cy="242509"/>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직선 연결선 19"/>
          <p:cNvCxnSpPr>
            <a:cxnSpLocks/>
          </p:cNvCxnSpPr>
          <p:nvPr/>
        </p:nvCxnSpPr>
        <p:spPr>
          <a:xfrm>
            <a:off x="1151462" y="4479509"/>
            <a:ext cx="0" cy="234054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직선 연결선 63">
            <a:extLst>
              <a:ext uri="{FF2B5EF4-FFF2-40B4-BE49-F238E27FC236}">
                <a16:creationId xmlns:a16="http://schemas.microsoft.com/office/drawing/2014/main" id="{FEA6690C-26EA-4958-8466-5CCCB4C8591A}"/>
              </a:ext>
            </a:extLst>
          </p:cNvPr>
          <p:cNvCxnSpPr/>
          <p:nvPr/>
        </p:nvCxnSpPr>
        <p:spPr>
          <a:xfrm flipV="1">
            <a:off x="357537" y="5591598"/>
            <a:ext cx="11326817" cy="21558"/>
          </a:xfrm>
          <a:prstGeom prst="line">
            <a:avLst/>
          </a:prstGeom>
          <a:ln w="762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직사각형 64">
            <a:extLst>
              <a:ext uri="{FF2B5EF4-FFF2-40B4-BE49-F238E27FC236}">
                <a16:creationId xmlns:a16="http://schemas.microsoft.com/office/drawing/2014/main" id="{903D8541-A97C-46AA-B3C1-304598165688}"/>
              </a:ext>
            </a:extLst>
          </p:cNvPr>
          <p:cNvSpPr/>
          <p:nvPr/>
        </p:nvSpPr>
        <p:spPr>
          <a:xfrm>
            <a:off x="7178186" y="5714500"/>
            <a:ext cx="1111100" cy="202221"/>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Y</a:t>
            </a:r>
            <a:r>
              <a:rPr lang="ko-KR" altLang="en-US" sz="1000" dirty="0">
                <a:solidFill>
                  <a:schemeClr val="tx1"/>
                </a:solidFill>
              </a:rPr>
              <a:t>기초 우선권주장</a:t>
            </a:r>
          </a:p>
        </p:txBody>
      </p:sp>
      <p:sp>
        <p:nvSpPr>
          <p:cNvPr id="66" name="직사각형 65">
            <a:extLst>
              <a:ext uri="{FF2B5EF4-FFF2-40B4-BE49-F238E27FC236}">
                <a16:creationId xmlns:a16="http://schemas.microsoft.com/office/drawing/2014/main" id="{20ACDB6F-562B-4AF7-9C3E-6D984FC521ED}"/>
              </a:ext>
            </a:extLst>
          </p:cNvPr>
          <p:cNvSpPr/>
          <p:nvPr/>
        </p:nvSpPr>
        <p:spPr>
          <a:xfrm>
            <a:off x="2495260" y="5704778"/>
            <a:ext cx="1111100" cy="202221"/>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기초 우선권주장</a:t>
            </a:r>
          </a:p>
        </p:txBody>
      </p:sp>
      <p:sp>
        <p:nvSpPr>
          <p:cNvPr id="68" name="직사각형 67">
            <a:extLst>
              <a:ext uri="{FF2B5EF4-FFF2-40B4-BE49-F238E27FC236}">
                <a16:creationId xmlns:a16="http://schemas.microsoft.com/office/drawing/2014/main" id="{0BF41417-353C-4198-9A8E-351FFE840E78}"/>
              </a:ext>
            </a:extLst>
          </p:cNvPr>
          <p:cNvSpPr/>
          <p:nvPr/>
        </p:nvSpPr>
        <p:spPr>
          <a:xfrm>
            <a:off x="595912" y="5512278"/>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미국출원</a:t>
            </a:r>
            <a:r>
              <a:rPr lang="en-US" altLang="ko-KR" sz="1000" dirty="0">
                <a:solidFill>
                  <a:schemeClr val="tx1"/>
                </a:solidFill>
              </a:rPr>
              <a:t>(X)</a:t>
            </a:r>
            <a:endParaRPr lang="ko-KR" altLang="en-US" sz="1000" dirty="0">
              <a:solidFill>
                <a:schemeClr val="tx1"/>
              </a:solidFill>
            </a:endParaRPr>
          </a:p>
        </p:txBody>
      </p:sp>
      <p:sp>
        <p:nvSpPr>
          <p:cNvPr id="69" name="직사각형 68">
            <a:extLst>
              <a:ext uri="{FF2B5EF4-FFF2-40B4-BE49-F238E27FC236}">
                <a16:creationId xmlns:a16="http://schemas.microsoft.com/office/drawing/2014/main" id="{7766709C-C21A-48B2-9D27-0AA74ED2AD2B}"/>
              </a:ext>
            </a:extLst>
          </p:cNvPr>
          <p:cNvSpPr/>
          <p:nvPr/>
        </p:nvSpPr>
        <p:spPr>
          <a:xfrm>
            <a:off x="2495260" y="5512278"/>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일본출원</a:t>
            </a:r>
            <a:r>
              <a:rPr lang="en-US" altLang="ko-KR" sz="1000" dirty="0">
                <a:solidFill>
                  <a:schemeClr val="tx1"/>
                </a:solidFill>
              </a:rPr>
              <a:t>(Y)</a:t>
            </a:r>
            <a:endParaRPr lang="ko-KR" altLang="en-US" sz="1000" dirty="0">
              <a:solidFill>
                <a:schemeClr val="tx1"/>
              </a:solidFill>
            </a:endParaRPr>
          </a:p>
        </p:txBody>
      </p:sp>
      <p:sp>
        <p:nvSpPr>
          <p:cNvPr id="70" name="직사각형 69">
            <a:extLst>
              <a:ext uri="{FF2B5EF4-FFF2-40B4-BE49-F238E27FC236}">
                <a16:creationId xmlns:a16="http://schemas.microsoft.com/office/drawing/2014/main" id="{CED2544D-0090-422F-B9F2-293B65F24B1C}"/>
              </a:ext>
            </a:extLst>
          </p:cNvPr>
          <p:cNvSpPr/>
          <p:nvPr/>
        </p:nvSpPr>
        <p:spPr>
          <a:xfrm>
            <a:off x="7178186" y="5512278"/>
            <a:ext cx="1111100" cy="2022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(Z)</a:t>
            </a:r>
            <a:endParaRPr lang="ko-KR" altLang="en-US" sz="1000" dirty="0">
              <a:solidFill>
                <a:schemeClr val="tx1"/>
              </a:solidFill>
            </a:endParaRPr>
          </a:p>
        </p:txBody>
      </p:sp>
      <p:sp>
        <p:nvSpPr>
          <p:cNvPr id="72" name="직사각형 71">
            <a:extLst>
              <a:ext uri="{FF2B5EF4-FFF2-40B4-BE49-F238E27FC236}">
                <a16:creationId xmlns:a16="http://schemas.microsoft.com/office/drawing/2014/main" id="{043D6F48-BBA7-493D-91BC-CAC1460E72F6}"/>
              </a:ext>
            </a:extLst>
          </p:cNvPr>
          <p:cNvSpPr/>
          <p:nvPr/>
        </p:nvSpPr>
        <p:spPr>
          <a:xfrm>
            <a:off x="10260053" y="5512278"/>
            <a:ext cx="1111100" cy="20222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공개</a:t>
            </a:r>
            <a:r>
              <a:rPr lang="en-US" altLang="ko-KR" sz="1000" dirty="0">
                <a:solidFill>
                  <a:schemeClr val="tx1"/>
                </a:solidFill>
              </a:rPr>
              <a:t>(Z)</a:t>
            </a:r>
            <a:endParaRPr lang="ko-KR" altLang="en-US" sz="1000" dirty="0">
              <a:solidFill>
                <a:schemeClr val="tx1"/>
              </a:solidFill>
            </a:endParaRPr>
          </a:p>
        </p:txBody>
      </p:sp>
      <p:sp>
        <p:nvSpPr>
          <p:cNvPr id="74" name="직사각형 73">
            <a:extLst>
              <a:ext uri="{FF2B5EF4-FFF2-40B4-BE49-F238E27FC236}">
                <a16:creationId xmlns:a16="http://schemas.microsoft.com/office/drawing/2014/main" id="{5FD6DAB8-BAD2-4BA2-A7D8-CB808EE1AAF9}"/>
              </a:ext>
            </a:extLst>
          </p:cNvPr>
          <p:cNvSpPr/>
          <p:nvPr/>
        </p:nvSpPr>
        <p:spPr>
          <a:xfrm>
            <a:off x="5623993" y="5512278"/>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공개</a:t>
            </a:r>
            <a:r>
              <a:rPr lang="en-US" altLang="ko-KR" sz="1000" dirty="0">
                <a:solidFill>
                  <a:schemeClr val="tx1"/>
                </a:solidFill>
              </a:rPr>
              <a:t>(X)</a:t>
            </a:r>
            <a:endParaRPr lang="ko-KR" altLang="en-US" sz="1000" dirty="0">
              <a:solidFill>
                <a:schemeClr val="tx1"/>
              </a:solidFill>
            </a:endParaRPr>
          </a:p>
        </p:txBody>
      </p:sp>
      <p:sp>
        <p:nvSpPr>
          <p:cNvPr id="75" name="직사각형 74">
            <a:extLst>
              <a:ext uri="{FF2B5EF4-FFF2-40B4-BE49-F238E27FC236}">
                <a16:creationId xmlns:a16="http://schemas.microsoft.com/office/drawing/2014/main" id="{93ED9755-6D3E-4224-ADF3-9DCA6E71F3A1}"/>
              </a:ext>
            </a:extLst>
          </p:cNvPr>
          <p:cNvSpPr/>
          <p:nvPr/>
        </p:nvSpPr>
        <p:spPr>
          <a:xfrm>
            <a:off x="5623993" y="5714500"/>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공개</a:t>
            </a:r>
            <a:r>
              <a:rPr lang="en-US" altLang="ko-KR" sz="1000" dirty="0">
                <a:solidFill>
                  <a:schemeClr val="tx1"/>
                </a:solidFill>
              </a:rPr>
              <a:t>(Y)</a:t>
            </a:r>
            <a:endParaRPr lang="ko-KR" altLang="en-US" sz="1000" dirty="0">
              <a:solidFill>
                <a:schemeClr val="tx1"/>
              </a:solidFill>
            </a:endParaRPr>
          </a:p>
        </p:txBody>
      </p:sp>
      <p:sp>
        <p:nvSpPr>
          <p:cNvPr id="76" name="직사각형 75">
            <a:extLst>
              <a:ext uri="{FF2B5EF4-FFF2-40B4-BE49-F238E27FC236}">
                <a16:creationId xmlns:a16="http://schemas.microsoft.com/office/drawing/2014/main" id="{F6913CD9-1EAE-4782-A469-85A7B946B8B4}"/>
              </a:ext>
            </a:extLst>
          </p:cNvPr>
          <p:cNvSpPr/>
          <p:nvPr/>
        </p:nvSpPr>
        <p:spPr>
          <a:xfrm>
            <a:off x="2495260" y="4864784"/>
            <a:ext cx="1111100" cy="20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Z</a:t>
            </a:r>
            <a:r>
              <a:rPr lang="ko-KR" altLang="en-US" sz="1000" dirty="0">
                <a:solidFill>
                  <a:schemeClr val="tx1"/>
                </a:solidFill>
              </a:rPr>
              <a:t>의</a:t>
            </a:r>
            <a:r>
              <a:rPr lang="en-US" altLang="ko-KR" sz="1000" dirty="0">
                <a:solidFill>
                  <a:schemeClr val="tx1"/>
                </a:solidFill>
              </a:rPr>
              <a:t> B</a:t>
            </a:r>
            <a:endParaRPr lang="ko-KR" altLang="en-US" sz="1000" dirty="0">
              <a:solidFill>
                <a:schemeClr val="tx1"/>
              </a:solidFill>
            </a:endParaRPr>
          </a:p>
        </p:txBody>
      </p:sp>
      <p:sp>
        <p:nvSpPr>
          <p:cNvPr id="77" name="직사각형 76">
            <a:extLst>
              <a:ext uri="{FF2B5EF4-FFF2-40B4-BE49-F238E27FC236}">
                <a16:creationId xmlns:a16="http://schemas.microsoft.com/office/drawing/2014/main" id="{1416A8ED-535D-450B-A7BA-99F16FD2DEB9}"/>
              </a:ext>
            </a:extLst>
          </p:cNvPr>
          <p:cNvSpPr/>
          <p:nvPr/>
        </p:nvSpPr>
        <p:spPr>
          <a:xfrm>
            <a:off x="7178186" y="4864784"/>
            <a:ext cx="1111100" cy="202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Z</a:t>
            </a:r>
            <a:r>
              <a:rPr lang="ko-KR" altLang="en-US" sz="1000" dirty="0">
                <a:solidFill>
                  <a:schemeClr val="tx1"/>
                </a:solidFill>
              </a:rPr>
              <a:t>의</a:t>
            </a:r>
            <a:r>
              <a:rPr lang="en-US" altLang="ko-KR" sz="1000" dirty="0">
                <a:solidFill>
                  <a:schemeClr val="tx1"/>
                </a:solidFill>
              </a:rPr>
              <a:t> A </a:t>
            </a:r>
          </a:p>
        </p:txBody>
      </p:sp>
      <p:sp>
        <p:nvSpPr>
          <p:cNvPr id="78" name="직사각형 77">
            <a:extLst>
              <a:ext uri="{FF2B5EF4-FFF2-40B4-BE49-F238E27FC236}">
                <a16:creationId xmlns:a16="http://schemas.microsoft.com/office/drawing/2014/main" id="{7B6085B9-2EEB-4CC8-82A1-0912DE29AD09}"/>
              </a:ext>
            </a:extLst>
          </p:cNvPr>
          <p:cNvSpPr/>
          <p:nvPr/>
        </p:nvSpPr>
        <p:spPr>
          <a:xfrm>
            <a:off x="2495260" y="6074139"/>
            <a:ext cx="1111100" cy="20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Z</a:t>
            </a:r>
            <a:r>
              <a:rPr lang="ko-KR" altLang="en-US" sz="1000" dirty="0">
                <a:solidFill>
                  <a:schemeClr val="tx1"/>
                </a:solidFill>
              </a:rPr>
              <a:t>의</a:t>
            </a:r>
            <a:r>
              <a:rPr lang="en-US" altLang="ko-KR" sz="1000" dirty="0">
                <a:solidFill>
                  <a:schemeClr val="tx1"/>
                </a:solidFill>
              </a:rPr>
              <a:t> B</a:t>
            </a:r>
            <a:endParaRPr lang="ko-KR" altLang="en-US" sz="1000" dirty="0">
              <a:solidFill>
                <a:schemeClr val="tx1"/>
              </a:solidFill>
            </a:endParaRPr>
          </a:p>
        </p:txBody>
      </p:sp>
      <p:sp>
        <p:nvSpPr>
          <p:cNvPr id="80" name="직사각형 79">
            <a:extLst>
              <a:ext uri="{FF2B5EF4-FFF2-40B4-BE49-F238E27FC236}">
                <a16:creationId xmlns:a16="http://schemas.microsoft.com/office/drawing/2014/main" id="{E6BEBC72-00C6-44E5-97E5-2C4A357FB48B}"/>
              </a:ext>
            </a:extLst>
          </p:cNvPr>
          <p:cNvSpPr/>
          <p:nvPr/>
        </p:nvSpPr>
        <p:spPr>
          <a:xfrm>
            <a:off x="7178186" y="5130876"/>
            <a:ext cx="1111100" cy="20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Z</a:t>
            </a:r>
            <a:r>
              <a:rPr lang="ko-KR" altLang="en-US" sz="1000" dirty="0">
                <a:solidFill>
                  <a:schemeClr val="tx1"/>
                </a:solidFill>
              </a:rPr>
              <a:t>의</a:t>
            </a:r>
            <a:r>
              <a:rPr lang="en-US" altLang="ko-KR" sz="1000" dirty="0">
                <a:solidFill>
                  <a:schemeClr val="tx1"/>
                </a:solidFill>
              </a:rPr>
              <a:t> C </a:t>
            </a:r>
          </a:p>
        </p:txBody>
      </p:sp>
      <p:sp>
        <p:nvSpPr>
          <p:cNvPr id="81" name="사각형: 둥근 모서리 80">
            <a:extLst>
              <a:ext uri="{FF2B5EF4-FFF2-40B4-BE49-F238E27FC236}">
                <a16:creationId xmlns:a16="http://schemas.microsoft.com/office/drawing/2014/main" id="{8CDB0586-4EB2-4291-A64B-0273ABD7B209}"/>
              </a:ext>
            </a:extLst>
          </p:cNvPr>
          <p:cNvSpPr/>
          <p:nvPr/>
        </p:nvSpPr>
        <p:spPr>
          <a:xfrm>
            <a:off x="8607024" y="4864784"/>
            <a:ext cx="1111100" cy="202221"/>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bg1"/>
                </a:solidFill>
              </a:rPr>
              <a:t>이중우선권주장</a:t>
            </a:r>
            <a:endParaRPr lang="en-US" altLang="ko-KR" sz="1000" dirty="0">
              <a:solidFill>
                <a:schemeClr val="bg1"/>
              </a:solidFill>
            </a:endParaRPr>
          </a:p>
        </p:txBody>
      </p:sp>
      <p:cxnSp>
        <p:nvCxnSpPr>
          <p:cNvPr id="16" name="직선 화살표 연결선 15">
            <a:extLst>
              <a:ext uri="{FF2B5EF4-FFF2-40B4-BE49-F238E27FC236}">
                <a16:creationId xmlns:a16="http://schemas.microsoft.com/office/drawing/2014/main" id="{EC7258BB-E8E9-4149-B445-0B43D0772985}"/>
              </a:ext>
            </a:extLst>
          </p:cNvPr>
          <p:cNvCxnSpPr>
            <a:stCxn id="81" idx="1"/>
            <a:endCxn id="77" idx="3"/>
          </p:cNvCxnSpPr>
          <p:nvPr/>
        </p:nvCxnSpPr>
        <p:spPr>
          <a:xfrm flipH="1">
            <a:off x="8289286" y="4965895"/>
            <a:ext cx="317738"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3" name="직사각형 82">
            <a:extLst>
              <a:ext uri="{FF2B5EF4-FFF2-40B4-BE49-F238E27FC236}">
                <a16:creationId xmlns:a16="http://schemas.microsoft.com/office/drawing/2014/main" id="{C91C0E8C-B733-4E2D-9B71-65BC13A5669E}"/>
              </a:ext>
            </a:extLst>
          </p:cNvPr>
          <p:cNvSpPr/>
          <p:nvPr/>
        </p:nvSpPr>
        <p:spPr>
          <a:xfrm>
            <a:off x="7178186" y="6080653"/>
            <a:ext cx="1111100" cy="2022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Z</a:t>
            </a:r>
            <a:r>
              <a:rPr lang="ko-KR" altLang="en-US" sz="1000" dirty="0">
                <a:solidFill>
                  <a:schemeClr val="tx1"/>
                </a:solidFill>
              </a:rPr>
              <a:t>의</a:t>
            </a:r>
            <a:r>
              <a:rPr lang="en-US" altLang="ko-KR" sz="1000" dirty="0">
                <a:solidFill>
                  <a:schemeClr val="tx1"/>
                </a:solidFill>
              </a:rPr>
              <a:t> A </a:t>
            </a:r>
          </a:p>
        </p:txBody>
      </p:sp>
      <p:sp>
        <p:nvSpPr>
          <p:cNvPr id="84" name="직사각형 83">
            <a:extLst>
              <a:ext uri="{FF2B5EF4-FFF2-40B4-BE49-F238E27FC236}">
                <a16:creationId xmlns:a16="http://schemas.microsoft.com/office/drawing/2014/main" id="{8BA44715-DE98-48CA-9A08-AC36CF1A77F5}"/>
              </a:ext>
            </a:extLst>
          </p:cNvPr>
          <p:cNvSpPr/>
          <p:nvPr/>
        </p:nvSpPr>
        <p:spPr>
          <a:xfrm>
            <a:off x="7178186" y="6346745"/>
            <a:ext cx="1111100" cy="202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Z</a:t>
            </a:r>
            <a:r>
              <a:rPr lang="ko-KR" altLang="en-US" sz="1000" dirty="0">
                <a:solidFill>
                  <a:schemeClr val="tx1"/>
                </a:solidFill>
              </a:rPr>
              <a:t>의</a:t>
            </a:r>
            <a:r>
              <a:rPr lang="en-US" altLang="ko-KR" sz="1000" dirty="0">
                <a:solidFill>
                  <a:schemeClr val="tx1"/>
                </a:solidFill>
              </a:rPr>
              <a:t> C </a:t>
            </a:r>
          </a:p>
        </p:txBody>
      </p:sp>
      <p:sp>
        <p:nvSpPr>
          <p:cNvPr id="85" name="사각형: 둥근 모서리 84">
            <a:extLst>
              <a:ext uri="{FF2B5EF4-FFF2-40B4-BE49-F238E27FC236}">
                <a16:creationId xmlns:a16="http://schemas.microsoft.com/office/drawing/2014/main" id="{3026A202-8A7E-440A-9449-6A8825B30487}"/>
              </a:ext>
            </a:extLst>
          </p:cNvPr>
          <p:cNvSpPr/>
          <p:nvPr/>
        </p:nvSpPr>
        <p:spPr>
          <a:xfrm>
            <a:off x="8607024" y="6080653"/>
            <a:ext cx="1111100" cy="202221"/>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bg1"/>
                </a:solidFill>
              </a:rPr>
              <a:t>최선성</a:t>
            </a:r>
            <a:r>
              <a:rPr lang="ko-KR" altLang="en-US" sz="1000" dirty="0">
                <a:solidFill>
                  <a:schemeClr val="bg1"/>
                </a:solidFill>
              </a:rPr>
              <a:t> 불만족</a:t>
            </a:r>
            <a:endParaRPr lang="en-US" altLang="ko-KR" sz="1000" dirty="0">
              <a:solidFill>
                <a:schemeClr val="bg1"/>
              </a:solidFill>
            </a:endParaRPr>
          </a:p>
        </p:txBody>
      </p:sp>
      <p:cxnSp>
        <p:nvCxnSpPr>
          <p:cNvPr id="86" name="직선 화살표 연결선 85">
            <a:extLst>
              <a:ext uri="{FF2B5EF4-FFF2-40B4-BE49-F238E27FC236}">
                <a16:creationId xmlns:a16="http://schemas.microsoft.com/office/drawing/2014/main" id="{ACBC9F26-2D83-40CE-935B-0B0E1E103384}"/>
              </a:ext>
            </a:extLst>
          </p:cNvPr>
          <p:cNvCxnSpPr>
            <a:stCxn id="85" idx="1"/>
            <a:endCxn id="83" idx="3"/>
          </p:cNvCxnSpPr>
          <p:nvPr/>
        </p:nvCxnSpPr>
        <p:spPr>
          <a:xfrm flipH="1">
            <a:off x="8289286" y="6181764"/>
            <a:ext cx="317738"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7" name="직사각형 86">
            <a:extLst>
              <a:ext uri="{FF2B5EF4-FFF2-40B4-BE49-F238E27FC236}">
                <a16:creationId xmlns:a16="http://schemas.microsoft.com/office/drawing/2014/main" id="{F6F39FA7-81AF-4B2C-B6F7-0E624E102CA3}"/>
              </a:ext>
            </a:extLst>
          </p:cNvPr>
          <p:cNvSpPr/>
          <p:nvPr/>
        </p:nvSpPr>
        <p:spPr>
          <a:xfrm>
            <a:off x="232372" y="1269047"/>
            <a:ext cx="11681987" cy="2123658"/>
          </a:xfrm>
          <a:prstGeom prst="rect">
            <a:avLst/>
          </a:prstGeom>
        </p:spPr>
        <p:txBody>
          <a:bodyPr wrap="square">
            <a:spAutoFit/>
          </a:bodyPr>
          <a:lstStyle/>
          <a:p>
            <a:pPr fontAlgn="base"/>
            <a:r>
              <a:rPr lang="ko-KR" altLang="en-US" sz="1200" dirty="0"/>
              <a:t>특허법 제</a:t>
            </a:r>
            <a:r>
              <a:rPr lang="en-US" altLang="ko-KR" sz="1200" dirty="0"/>
              <a:t>54</a:t>
            </a:r>
            <a:r>
              <a:rPr lang="ko-KR" altLang="en-US" sz="1200" dirty="0"/>
              <a:t>조는 ‘① 조약에 의하여 대한민국 국민에게 특허출원에 대한 우선권을 인정하는 당사국 국민이 그 당사국 또는 다른 당사국에 특허출원을 한 후 동일발명을 대한민국에 </a:t>
            </a:r>
            <a:r>
              <a:rPr lang="ko-KR" altLang="en-US" sz="1200" dirty="0" err="1"/>
              <a:t>특허출원하여</a:t>
            </a:r>
            <a:r>
              <a:rPr lang="ko-KR" altLang="en-US" sz="1200" dirty="0"/>
              <a:t> 우선권을 주장하는 때에는 제</a:t>
            </a:r>
            <a:r>
              <a:rPr lang="en-US" altLang="ko-KR" sz="1200" dirty="0"/>
              <a:t>29</a:t>
            </a:r>
            <a:r>
              <a:rPr lang="ko-KR" altLang="en-US" sz="1200" dirty="0"/>
              <a:t>조 및 제</a:t>
            </a:r>
            <a:r>
              <a:rPr lang="en-US" altLang="ko-KR" sz="1200" dirty="0"/>
              <a:t>36</a:t>
            </a:r>
            <a:r>
              <a:rPr lang="ko-KR" altLang="en-US" sz="1200" dirty="0"/>
              <a:t>조의 규정을 적용함에 있어서 그 당사국에 출원한 날을 대한민국에 </a:t>
            </a:r>
            <a:r>
              <a:rPr lang="ko-KR" altLang="en-US" sz="1200" dirty="0" err="1"/>
              <a:t>특허출원한</a:t>
            </a:r>
            <a:r>
              <a:rPr lang="ko-KR" altLang="en-US" sz="1200" dirty="0"/>
              <a:t> 날로 본다</a:t>
            </a:r>
            <a:r>
              <a:rPr lang="en-US" altLang="ko-KR" sz="1200" dirty="0"/>
              <a:t>. ② </a:t>
            </a:r>
            <a:r>
              <a:rPr lang="ko-KR" altLang="en-US" sz="1200" dirty="0"/>
              <a:t>제</a:t>
            </a:r>
            <a:r>
              <a:rPr lang="en-US" altLang="ko-KR" sz="1200" dirty="0"/>
              <a:t>1</a:t>
            </a:r>
            <a:r>
              <a:rPr lang="ko-KR" altLang="en-US" sz="1200" dirty="0"/>
              <a:t>항의 규정에 의하여 우선권을 주장하고자 하는 자는 우선권 주장의 기초가 되는 최초의 출원일로부터 </a:t>
            </a:r>
            <a:r>
              <a:rPr lang="en-US" altLang="ko-KR" sz="1200" dirty="0"/>
              <a:t>1</a:t>
            </a:r>
            <a:r>
              <a:rPr lang="ko-KR" altLang="en-US" sz="1200" dirty="0"/>
              <a:t>년 이내에 </a:t>
            </a:r>
            <a:r>
              <a:rPr lang="ko-KR" altLang="en-US" sz="1200" dirty="0" err="1"/>
              <a:t>특허출원하지</a:t>
            </a:r>
            <a:r>
              <a:rPr lang="ko-KR" altLang="en-US" sz="1200" dirty="0"/>
              <a:t> 않으면 이를 주장할 수 </a:t>
            </a:r>
            <a:r>
              <a:rPr lang="ko-KR" altLang="en-US" sz="1200" dirty="0" err="1"/>
              <a:t>없다’고</a:t>
            </a:r>
            <a:r>
              <a:rPr lang="ko-KR" altLang="en-US" sz="1200" dirty="0"/>
              <a:t> 규정하고 있다</a:t>
            </a:r>
            <a:r>
              <a:rPr lang="en-US" altLang="ko-KR" sz="1200" dirty="0"/>
              <a:t>. </a:t>
            </a:r>
            <a:r>
              <a:rPr lang="ko-KR" altLang="en-US" sz="1200" dirty="0"/>
              <a:t>이러한 특허법의 관련 규정에 비추어 보면</a:t>
            </a:r>
            <a:r>
              <a:rPr lang="en-US" altLang="ko-KR" sz="1200" dirty="0"/>
              <a:t>, </a:t>
            </a:r>
            <a:r>
              <a:rPr lang="ko-KR" altLang="en-US" sz="1200" dirty="0"/>
              <a:t>조약에 의한 우선권 주장을 인정받기 위해서는 ① 제</a:t>
            </a:r>
            <a:r>
              <a:rPr lang="en-US" altLang="ko-KR" sz="1200" dirty="0"/>
              <a:t>1</a:t>
            </a:r>
            <a:r>
              <a:rPr lang="ko-KR" altLang="en-US" sz="1200" dirty="0"/>
              <a:t>국 출원이 정규의 최초의 출원이어야 할 것</a:t>
            </a:r>
            <a:r>
              <a:rPr lang="en-US" altLang="ko-KR" sz="1200" dirty="0"/>
              <a:t>, ② </a:t>
            </a:r>
            <a:r>
              <a:rPr lang="ko-KR" altLang="en-US" sz="1200" dirty="0"/>
              <a:t>제</a:t>
            </a:r>
            <a:r>
              <a:rPr lang="en-US" altLang="ko-KR" sz="1200" dirty="0"/>
              <a:t>1</a:t>
            </a:r>
            <a:r>
              <a:rPr lang="ko-KR" altLang="en-US" sz="1200" dirty="0"/>
              <a:t>국 출원과 제</a:t>
            </a:r>
            <a:r>
              <a:rPr lang="en-US" altLang="ko-KR" sz="1200" dirty="0"/>
              <a:t>2</a:t>
            </a:r>
            <a:r>
              <a:rPr lang="ko-KR" altLang="en-US" sz="1200" dirty="0"/>
              <a:t>국 출원이 동일한 발명이어야 할 것</a:t>
            </a:r>
            <a:r>
              <a:rPr lang="en-US" altLang="ko-KR" sz="1200" dirty="0"/>
              <a:t>, ③ </a:t>
            </a:r>
            <a:r>
              <a:rPr lang="ko-KR" altLang="en-US" sz="1200" dirty="0"/>
              <a:t>제</a:t>
            </a:r>
            <a:r>
              <a:rPr lang="en-US" altLang="ko-KR" sz="1200" dirty="0"/>
              <a:t>2</a:t>
            </a:r>
            <a:r>
              <a:rPr lang="ko-KR" altLang="en-US" sz="1200" dirty="0"/>
              <a:t>국 출원이 제</a:t>
            </a:r>
            <a:r>
              <a:rPr lang="en-US" altLang="ko-KR" sz="1200" dirty="0"/>
              <a:t>1</a:t>
            </a:r>
            <a:r>
              <a:rPr lang="ko-KR" altLang="en-US" sz="1200" dirty="0"/>
              <a:t>국 출원일로부터 </a:t>
            </a:r>
            <a:r>
              <a:rPr lang="en-US" altLang="ko-KR" sz="1200" dirty="0"/>
              <a:t>1</a:t>
            </a:r>
            <a:r>
              <a:rPr lang="ko-KR" altLang="en-US" sz="1200" dirty="0"/>
              <a:t>년 이내에 이루어져야 할 것 등의 요건을 모두 충족시켜야 하므로</a:t>
            </a:r>
            <a:r>
              <a:rPr lang="en-US" altLang="ko-KR" sz="1200" dirty="0"/>
              <a:t>, </a:t>
            </a:r>
            <a:r>
              <a:rPr lang="ko-KR" altLang="en-US" sz="1200" dirty="0"/>
              <a:t>조약에 의한 우선권 주장을 수반하는 제</a:t>
            </a:r>
            <a:r>
              <a:rPr lang="en-US" altLang="ko-KR" sz="1200" dirty="0"/>
              <a:t>2</a:t>
            </a:r>
            <a:r>
              <a:rPr lang="ko-KR" altLang="en-US" sz="1200" dirty="0"/>
              <a:t>국 출원일 경우에도 그 우선권 주장의 기초가 되는 제</a:t>
            </a:r>
            <a:r>
              <a:rPr lang="en-US" altLang="ko-KR" sz="1200" dirty="0"/>
              <a:t>1</a:t>
            </a:r>
            <a:r>
              <a:rPr lang="ko-KR" altLang="en-US" sz="1200" dirty="0"/>
              <a:t>국 출원이 최초의 출원이 아니거나</a:t>
            </a:r>
            <a:r>
              <a:rPr lang="en-US" altLang="ko-KR" sz="1200" dirty="0"/>
              <a:t>(</a:t>
            </a:r>
            <a:r>
              <a:rPr lang="ko-KR" altLang="en-US" sz="1200" dirty="0"/>
              <a:t>즉</a:t>
            </a:r>
            <a:r>
              <a:rPr lang="en-US" altLang="ko-KR" sz="1200" dirty="0"/>
              <a:t>, </a:t>
            </a:r>
            <a:r>
              <a:rPr lang="ko-KR" altLang="en-US" sz="1200" dirty="0"/>
              <a:t>제</a:t>
            </a:r>
            <a:r>
              <a:rPr lang="en-US" altLang="ko-KR" sz="1200" dirty="0"/>
              <a:t>1</a:t>
            </a:r>
            <a:r>
              <a:rPr lang="ko-KR" altLang="en-US" sz="1200" dirty="0"/>
              <a:t>국 출원이 이미 또 다른 당사국에 한 전출원을 기초로 하여 우선권을 주장하여 출원된 것이고</a:t>
            </a:r>
            <a:r>
              <a:rPr lang="en-US" altLang="ko-KR" sz="1200" dirty="0"/>
              <a:t>) </a:t>
            </a:r>
            <a:r>
              <a:rPr lang="ko-KR" altLang="en-US" sz="1200" dirty="0"/>
              <a:t>그 제</a:t>
            </a:r>
            <a:r>
              <a:rPr lang="en-US" altLang="ko-KR" sz="1200" dirty="0"/>
              <a:t>2</a:t>
            </a:r>
            <a:r>
              <a:rPr lang="ko-KR" altLang="en-US" sz="1200" dirty="0"/>
              <a:t>국 출원이 전출원일로부터 우선권 기간</a:t>
            </a:r>
            <a:r>
              <a:rPr lang="en-US" altLang="ko-KR" sz="1200" dirty="0"/>
              <a:t>(1</a:t>
            </a:r>
            <a:r>
              <a:rPr lang="ko-KR" altLang="en-US" sz="1200" dirty="0"/>
              <a:t>년</a:t>
            </a:r>
            <a:r>
              <a:rPr lang="en-US" altLang="ko-KR" sz="1200" dirty="0"/>
              <a:t>)</a:t>
            </a:r>
            <a:r>
              <a:rPr lang="ko-KR" altLang="en-US" sz="1200" dirty="0"/>
              <a:t>을 경과하여 이루어진 경우에는</a:t>
            </a:r>
            <a:r>
              <a:rPr lang="en-US" altLang="ko-KR" sz="1200" dirty="0">
                <a:solidFill>
                  <a:srgbClr val="FF0000"/>
                </a:solidFill>
              </a:rPr>
              <a:t>, </a:t>
            </a:r>
            <a:r>
              <a:rPr lang="ko-KR" altLang="en-US" sz="1200" dirty="0">
                <a:solidFill>
                  <a:schemeClr val="accent3">
                    <a:lumMod val="50000"/>
                  </a:schemeClr>
                </a:solidFill>
                <a:highlight>
                  <a:srgbClr val="FFFF00"/>
                </a:highlight>
              </a:rPr>
              <a:t>제</a:t>
            </a:r>
            <a:r>
              <a:rPr lang="en-US" altLang="ko-KR" sz="1200" dirty="0">
                <a:solidFill>
                  <a:schemeClr val="accent3">
                    <a:lumMod val="50000"/>
                  </a:schemeClr>
                </a:solidFill>
                <a:highlight>
                  <a:srgbClr val="FFFF00"/>
                </a:highlight>
              </a:rPr>
              <a:t>2</a:t>
            </a:r>
            <a:r>
              <a:rPr lang="ko-KR" altLang="en-US" sz="1200" dirty="0">
                <a:solidFill>
                  <a:schemeClr val="accent3">
                    <a:lumMod val="50000"/>
                  </a:schemeClr>
                </a:solidFill>
                <a:highlight>
                  <a:srgbClr val="FFFF00"/>
                </a:highlight>
              </a:rPr>
              <a:t>국 출원에 기재된 발명 중에 전출원과 제</a:t>
            </a:r>
            <a:r>
              <a:rPr lang="en-US" altLang="ko-KR" sz="1200" dirty="0">
                <a:solidFill>
                  <a:schemeClr val="accent3">
                    <a:lumMod val="50000"/>
                  </a:schemeClr>
                </a:solidFill>
                <a:highlight>
                  <a:srgbClr val="FFFF00"/>
                </a:highlight>
              </a:rPr>
              <a:t>1</a:t>
            </a:r>
            <a:r>
              <a:rPr lang="ko-KR" altLang="en-US" sz="1200" dirty="0">
                <a:solidFill>
                  <a:schemeClr val="accent3">
                    <a:lumMod val="50000"/>
                  </a:schemeClr>
                </a:solidFill>
                <a:highlight>
                  <a:srgbClr val="FFFF00"/>
                </a:highlight>
              </a:rPr>
              <a:t>국 출원의 명세서에 공통으로 포함된 발명에 대해서는 그 우선권 주장이 인정되지 않는데</a:t>
            </a:r>
            <a:r>
              <a:rPr lang="en-US" altLang="ko-KR" sz="1200" dirty="0">
                <a:solidFill>
                  <a:schemeClr val="accent3">
                    <a:lumMod val="50000"/>
                  </a:schemeClr>
                </a:solidFill>
                <a:highlight>
                  <a:srgbClr val="FFFF00"/>
                </a:highlight>
              </a:rPr>
              <a:t>, </a:t>
            </a:r>
            <a:r>
              <a:rPr lang="ko-KR" altLang="en-US" sz="1200" dirty="0">
                <a:solidFill>
                  <a:schemeClr val="accent3">
                    <a:lumMod val="50000"/>
                  </a:schemeClr>
                </a:solidFill>
                <a:highlight>
                  <a:srgbClr val="FFFF00"/>
                </a:highlight>
              </a:rPr>
              <a:t>이는 제</a:t>
            </a:r>
            <a:r>
              <a:rPr lang="en-US" altLang="ko-KR" sz="1200" dirty="0">
                <a:solidFill>
                  <a:schemeClr val="accent3">
                    <a:lumMod val="50000"/>
                  </a:schemeClr>
                </a:solidFill>
                <a:highlight>
                  <a:srgbClr val="FFFF00"/>
                </a:highlight>
              </a:rPr>
              <a:t>2</a:t>
            </a:r>
            <a:r>
              <a:rPr lang="ko-KR" altLang="en-US" sz="1200" dirty="0">
                <a:solidFill>
                  <a:schemeClr val="accent3">
                    <a:lumMod val="50000"/>
                  </a:schemeClr>
                </a:solidFill>
                <a:highlight>
                  <a:srgbClr val="FFFF00"/>
                </a:highlight>
              </a:rPr>
              <a:t>국 출원이 제</a:t>
            </a:r>
            <a:r>
              <a:rPr lang="en-US" altLang="ko-KR" sz="1200" dirty="0">
                <a:solidFill>
                  <a:schemeClr val="accent3">
                    <a:lumMod val="50000"/>
                  </a:schemeClr>
                </a:solidFill>
                <a:highlight>
                  <a:srgbClr val="FFFF00"/>
                </a:highlight>
              </a:rPr>
              <a:t>1</a:t>
            </a:r>
            <a:r>
              <a:rPr lang="ko-KR" altLang="en-US" sz="1200" dirty="0">
                <a:solidFill>
                  <a:schemeClr val="accent3">
                    <a:lumMod val="50000"/>
                  </a:schemeClr>
                </a:solidFill>
                <a:highlight>
                  <a:srgbClr val="FFFF00"/>
                </a:highlight>
              </a:rPr>
              <a:t>국 출원의 우선권 주장의 기초가 되었던 전출원에 기재되었던 발명에 대해서 중복하여 우선권이 허용되는 경우에는 실질적으로 우선권 기간이 연장되는 결과를 초래하는 것이므로</a:t>
            </a:r>
            <a:r>
              <a:rPr lang="en-US" altLang="ko-KR" sz="1200" dirty="0">
                <a:solidFill>
                  <a:schemeClr val="accent3">
                    <a:lumMod val="50000"/>
                  </a:schemeClr>
                </a:solidFill>
                <a:highlight>
                  <a:srgbClr val="FFFF00"/>
                </a:highlight>
              </a:rPr>
              <a:t>, </a:t>
            </a:r>
            <a:r>
              <a:rPr lang="ko-KR" altLang="en-US" sz="1200" dirty="0">
                <a:solidFill>
                  <a:schemeClr val="accent3">
                    <a:lumMod val="50000"/>
                  </a:schemeClr>
                </a:solidFill>
                <a:highlight>
                  <a:srgbClr val="FFFF00"/>
                </a:highlight>
              </a:rPr>
              <a:t>이와 같은 경우에는 우선일의 소급 효과를 인정하지 않고 제</a:t>
            </a:r>
            <a:r>
              <a:rPr lang="en-US" altLang="ko-KR" sz="1200" dirty="0">
                <a:solidFill>
                  <a:schemeClr val="accent3">
                    <a:lumMod val="50000"/>
                  </a:schemeClr>
                </a:solidFill>
                <a:highlight>
                  <a:srgbClr val="FFFF00"/>
                </a:highlight>
              </a:rPr>
              <a:t>1</a:t>
            </a:r>
            <a:r>
              <a:rPr lang="ko-KR" altLang="en-US" sz="1200" dirty="0">
                <a:solidFill>
                  <a:schemeClr val="accent3">
                    <a:lumMod val="50000"/>
                  </a:schemeClr>
                </a:solidFill>
                <a:highlight>
                  <a:srgbClr val="FFFF00"/>
                </a:highlight>
              </a:rPr>
              <a:t>국 출원에서 새로이 추가된 발명에 대해서만 우선권 주장의 효과를 인정할 수 있는 것이다</a:t>
            </a:r>
            <a:r>
              <a:rPr lang="en-US" altLang="ko-KR" sz="1200" dirty="0">
                <a:solidFill>
                  <a:schemeClr val="accent3">
                    <a:lumMod val="50000"/>
                  </a:schemeClr>
                </a:solidFill>
                <a:highlight>
                  <a:srgbClr val="FFFF00"/>
                </a:highlight>
              </a:rPr>
              <a:t>. </a:t>
            </a:r>
            <a:r>
              <a:rPr lang="ko-KR" altLang="en-US" sz="1200" dirty="0">
                <a:solidFill>
                  <a:schemeClr val="accent3">
                    <a:lumMod val="50000"/>
                  </a:schemeClr>
                </a:solidFill>
                <a:highlight>
                  <a:srgbClr val="FFFF00"/>
                </a:highlight>
              </a:rPr>
              <a:t>따라서</a:t>
            </a:r>
            <a:r>
              <a:rPr lang="en-US" altLang="ko-KR" sz="1200" dirty="0">
                <a:solidFill>
                  <a:schemeClr val="accent3">
                    <a:lumMod val="50000"/>
                  </a:schemeClr>
                </a:solidFill>
                <a:highlight>
                  <a:srgbClr val="FFFF00"/>
                </a:highlight>
              </a:rPr>
              <a:t>, </a:t>
            </a:r>
            <a:r>
              <a:rPr lang="ko-KR" altLang="en-US" sz="1200" dirty="0">
                <a:solidFill>
                  <a:schemeClr val="accent3">
                    <a:lumMod val="50000"/>
                  </a:schemeClr>
                </a:solidFill>
                <a:highlight>
                  <a:srgbClr val="FFFF00"/>
                </a:highlight>
              </a:rPr>
              <a:t>제</a:t>
            </a:r>
            <a:r>
              <a:rPr lang="en-US" altLang="ko-KR" sz="1200" dirty="0">
                <a:solidFill>
                  <a:schemeClr val="accent3">
                    <a:lumMod val="50000"/>
                  </a:schemeClr>
                </a:solidFill>
                <a:highlight>
                  <a:srgbClr val="FFFF00"/>
                </a:highlight>
              </a:rPr>
              <a:t>2</a:t>
            </a:r>
            <a:r>
              <a:rPr lang="ko-KR" altLang="en-US" sz="1200" dirty="0">
                <a:solidFill>
                  <a:schemeClr val="accent3">
                    <a:lumMod val="50000"/>
                  </a:schemeClr>
                </a:solidFill>
                <a:highlight>
                  <a:srgbClr val="FFFF00"/>
                </a:highlight>
              </a:rPr>
              <a:t>국 출원의 우선권 주장이 인정받지 못하고 그 우선권 주장의 기초가 된 제</a:t>
            </a:r>
            <a:r>
              <a:rPr lang="en-US" altLang="ko-KR" sz="1200" dirty="0">
                <a:solidFill>
                  <a:schemeClr val="accent3">
                    <a:lumMod val="50000"/>
                  </a:schemeClr>
                </a:solidFill>
                <a:highlight>
                  <a:srgbClr val="FFFF00"/>
                </a:highlight>
              </a:rPr>
              <a:t>1</a:t>
            </a:r>
            <a:r>
              <a:rPr lang="ko-KR" altLang="en-US" sz="1200" dirty="0">
                <a:solidFill>
                  <a:schemeClr val="accent3">
                    <a:lumMod val="50000"/>
                  </a:schemeClr>
                </a:solidFill>
                <a:highlight>
                  <a:srgbClr val="FFFF00"/>
                </a:highlight>
              </a:rPr>
              <a:t>국 출원이 제</a:t>
            </a:r>
            <a:r>
              <a:rPr lang="en-US" altLang="ko-KR" sz="1200" dirty="0">
                <a:solidFill>
                  <a:schemeClr val="accent3">
                    <a:lumMod val="50000"/>
                  </a:schemeClr>
                </a:solidFill>
                <a:highlight>
                  <a:srgbClr val="FFFF00"/>
                </a:highlight>
              </a:rPr>
              <a:t>2</a:t>
            </a:r>
            <a:r>
              <a:rPr lang="ko-KR" altLang="en-US" sz="1200" dirty="0">
                <a:solidFill>
                  <a:schemeClr val="accent3">
                    <a:lumMod val="50000"/>
                  </a:schemeClr>
                </a:solidFill>
                <a:highlight>
                  <a:srgbClr val="FFFF00"/>
                </a:highlight>
              </a:rPr>
              <a:t>국 출원일 이전에 공개되었을 경우에는</a:t>
            </a:r>
            <a:r>
              <a:rPr lang="en-US" altLang="ko-KR" sz="1200" dirty="0">
                <a:solidFill>
                  <a:schemeClr val="accent3">
                    <a:lumMod val="50000"/>
                  </a:schemeClr>
                </a:solidFill>
                <a:highlight>
                  <a:srgbClr val="FFFF00"/>
                </a:highlight>
              </a:rPr>
              <a:t>, </a:t>
            </a:r>
            <a:r>
              <a:rPr lang="ko-KR" altLang="en-US" sz="1200" dirty="0">
                <a:solidFill>
                  <a:schemeClr val="accent3">
                    <a:lumMod val="50000"/>
                  </a:schemeClr>
                </a:solidFill>
                <a:highlight>
                  <a:srgbClr val="FFFF00"/>
                </a:highlight>
              </a:rPr>
              <a:t>제</a:t>
            </a:r>
            <a:r>
              <a:rPr lang="en-US" altLang="ko-KR" sz="1200" dirty="0">
                <a:solidFill>
                  <a:schemeClr val="accent3">
                    <a:lumMod val="50000"/>
                  </a:schemeClr>
                </a:solidFill>
                <a:highlight>
                  <a:srgbClr val="FFFF00"/>
                </a:highlight>
              </a:rPr>
              <a:t>2</a:t>
            </a:r>
            <a:r>
              <a:rPr lang="ko-KR" altLang="en-US" sz="1200" dirty="0">
                <a:solidFill>
                  <a:schemeClr val="accent3">
                    <a:lumMod val="50000"/>
                  </a:schemeClr>
                </a:solidFill>
                <a:highlight>
                  <a:srgbClr val="FFFF00"/>
                </a:highlight>
              </a:rPr>
              <a:t>국 출원은 제</a:t>
            </a:r>
            <a:r>
              <a:rPr lang="en-US" altLang="ko-KR" sz="1200" dirty="0">
                <a:solidFill>
                  <a:schemeClr val="accent3">
                    <a:lumMod val="50000"/>
                  </a:schemeClr>
                </a:solidFill>
                <a:highlight>
                  <a:srgbClr val="FFFF00"/>
                </a:highlight>
              </a:rPr>
              <a:t>1</a:t>
            </a:r>
            <a:r>
              <a:rPr lang="ko-KR" altLang="en-US" sz="1200" dirty="0">
                <a:solidFill>
                  <a:schemeClr val="accent3">
                    <a:lumMod val="50000"/>
                  </a:schemeClr>
                </a:solidFill>
                <a:highlight>
                  <a:srgbClr val="FFFF00"/>
                </a:highlight>
              </a:rPr>
              <a:t>국 출원에 기재된 내용에 의하여 신규성을 상실하게 된다</a:t>
            </a:r>
            <a:r>
              <a:rPr lang="en-US" altLang="ko-KR" sz="1200" dirty="0">
                <a:solidFill>
                  <a:schemeClr val="accent3">
                    <a:lumMod val="50000"/>
                  </a:schemeClr>
                </a:solidFill>
                <a:highlight>
                  <a:srgbClr val="FFFF00"/>
                </a:highlight>
              </a:rPr>
              <a:t>.</a:t>
            </a:r>
          </a:p>
          <a:p>
            <a:pPr fontAlgn="base"/>
            <a:endParaRPr lang="en-US" altLang="ko-KR" sz="1200" dirty="0"/>
          </a:p>
        </p:txBody>
      </p:sp>
      <p:sp>
        <p:nvSpPr>
          <p:cNvPr id="88" name="사각형: 둥근 모서리 87">
            <a:extLst>
              <a:ext uri="{FF2B5EF4-FFF2-40B4-BE49-F238E27FC236}">
                <a16:creationId xmlns:a16="http://schemas.microsoft.com/office/drawing/2014/main" id="{277AFAD9-E0AC-45F1-87B6-80E372A8FF29}"/>
              </a:ext>
            </a:extLst>
          </p:cNvPr>
          <p:cNvSpPr/>
          <p:nvPr/>
        </p:nvSpPr>
        <p:spPr>
          <a:xfrm>
            <a:off x="113937" y="964867"/>
            <a:ext cx="4765205" cy="302955"/>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r>
              <a:rPr lang="ko-KR" altLang="en-US" sz="1400" dirty="0"/>
              <a:t>특허법원 </a:t>
            </a:r>
            <a:r>
              <a:rPr lang="en-US" altLang="ko-KR" sz="1400" dirty="0"/>
              <a:t>2006. 2. 9. </a:t>
            </a:r>
            <a:r>
              <a:rPr lang="ko-KR" altLang="en-US" sz="1400" dirty="0"/>
              <a:t>선고 </a:t>
            </a:r>
            <a:r>
              <a:rPr lang="en-US" altLang="ko-KR" sz="1400" dirty="0"/>
              <a:t>2004</a:t>
            </a:r>
            <a:r>
              <a:rPr lang="ko-KR" altLang="en-US" sz="1400" dirty="0"/>
              <a:t>허</a:t>
            </a:r>
            <a:r>
              <a:rPr lang="en-US" altLang="ko-KR" sz="1400" dirty="0"/>
              <a:t>8749 </a:t>
            </a:r>
            <a:r>
              <a:rPr lang="ko-KR" altLang="en-US" sz="1400" dirty="0"/>
              <a:t>판결 </a:t>
            </a:r>
            <a:r>
              <a:rPr lang="en-US" altLang="ko-KR" sz="1400" dirty="0"/>
              <a:t>【</a:t>
            </a:r>
            <a:r>
              <a:rPr lang="ko-KR" altLang="en-US" sz="1400" dirty="0"/>
              <a:t>등록무효</a:t>
            </a:r>
            <a:r>
              <a:rPr lang="en-US" altLang="ko-KR" sz="1400" dirty="0"/>
              <a:t>】</a:t>
            </a:r>
            <a:endParaRPr lang="ko-KR" altLang="en-US" sz="1400" dirty="0"/>
          </a:p>
        </p:txBody>
      </p:sp>
      <p:cxnSp>
        <p:nvCxnSpPr>
          <p:cNvPr id="95" name="직선 연결선 94">
            <a:extLst>
              <a:ext uri="{FF2B5EF4-FFF2-40B4-BE49-F238E27FC236}">
                <a16:creationId xmlns:a16="http://schemas.microsoft.com/office/drawing/2014/main" id="{ECE41AA2-2546-405F-8260-2678A68E181D}"/>
              </a:ext>
            </a:extLst>
          </p:cNvPr>
          <p:cNvCxnSpPr/>
          <p:nvPr/>
        </p:nvCxnSpPr>
        <p:spPr>
          <a:xfrm>
            <a:off x="0" y="3279389"/>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2C899B2A-3992-3948-E740-DFD537BB8465}"/>
              </a:ext>
            </a:extLst>
          </p:cNvPr>
          <p:cNvSpPr txBox="1"/>
          <p:nvPr/>
        </p:nvSpPr>
        <p:spPr>
          <a:xfrm>
            <a:off x="8395455" y="3417174"/>
            <a:ext cx="3607078" cy="584775"/>
          </a:xfrm>
          <a:prstGeom prst="rect">
            <a:avLst/>
          </a:prstGeom>
          <a:noFill/>
          <a:ln w="38100">
            <a:solidFill>
              <a:srgbClr val="FF0000"/>
            </a:solidFill>
          </a:ln>
        </p:spPr>
        <p:txBody>
          <a:bodyPr wrap="none" rtlCol="0">
            <a:spAutoFit/>
          </a:bodyPr>
          <a:lstStyle/>
          <a:p>
            <a:pPr algn="ctr"/>
            <a:r>
              <a:rPr lang="ko-KR" altLang="en-US" sz="1600" dirty="0">
                <a:solidFill>
                  <a:srgbClr val="FF0000"/>
                </a:solidFill>
              </a:rPr>
              <a:t>조약</a:t>
            </a:r>
            <a:r>
              <a:rPr lang="en-US" altLang="ko-KR" sz="1600" dirty="0">
                <a:solidFill>
                  <a:srgbClr val="FF0000"/>
                </a:solidFill>
              </a:rPr>
              <a:t>/</a:t>
            </a:r>
            <a:r>
              <a:rPr lang="ko-KR" altLang="en-US" sz="1600" dirty="0" err="1">
                <a:solidFill>
                  <a:srgbClr val="FF0000"/>
                </a:solidFill>
              </a:rPr>
              <a:t>국내우선권주장</a:t>
            </a:r>
            <a:r>
              <a:rPr lang="ko-KR" altLang="en-US" sz="1600" dirty="0">
                <a:solidFill>
                  <a:srgbClr val="FF0000"/>
                </a:solidFill>
              </a:rPr>
              <a:t> 상관없이</a:t>
            </a:r>
            <a:endParaRPr lang="en-US" altLang="ko-KR" sz="1600" dirty="0">
              <a:solidFill>
                <a:srgbClr val="FF0000"/>
              </a:solidFill>
            </a:endParaRPr>
          </a:p>
          <a:p>
            <a:pPr algn="ctr"/>
            <a:r>
              <a:rPr lang="ko-KR" altLang="en-US" sz="1600" dirty="0">
                <a:solidFill>
                  <a:srgbClr val="FF0000"/>
                </a:solidFill>
              </a:rPr>
              <a:t>누적적 우선권주장의 경우 소급효 불인정</a:t>
            </a:r>
          </a:p>
        </p:txBody>
      </p:sp>
    </p:spTree>
    <p:extLst>
      <p:ext uri="{BB962C8B-B14F-4D97-AF65-F5344CB8AC3E}">
        <p14:creationId xmlns:p14="http://schemas.microsoft.com/office/powerpoint/2010/main" val="3328405511"/>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양쪽 모서리가 둥근 사각형 48"/>
          <p:cNvSpPr/>
          <p:nvPr/>
        </p:nvSpPr>
        <p:spPr>
          <a:xfrm>
            <a:off x="6680200" y="2438399"/>
            <a:ext cx="4437139" cy="1139063"/>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72" name="양쪽 모서리가 둥근 사각형 71"/>
          <p:cNvSpPr/>
          <p:nvPr/>
        </p:nvSpPr>
        <p:spPr>
          <a:xfrm>
            <a:off x="7672233" y="2127364"/>
            <a:ext cx="4120374" cy="1448943"/>
          </a:xfrm>
          <a:prstGeom prst="round2Same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45" name="양쪽 모서리가 둥근 사각형 44"/>
          <p:cNvSpPr/>
          <p:nvPr/>
        </p:nvSpPr>
        <p:spPr>
          <a:xfrm>
            <a:off x="1576232" y="3081866"/>
            <a:ext cx="2249456" cy="495596"/>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4" name="제목 3"/>
          <p:cNvSpPr>
            <a:spLocks noGrp="1"/>
          </p:cNvSpPr>
          <p:nvPr>
            <p:ph type="title"/>
          </p:nvPr>
        </p:nvSpPr>
        <p:spPr/>
        <p:txBody>
          <a:bodyPr/>
          <a:lstStyle/>
          <a:p>
            <a:r>
              <a:rPr lang="ko-KR" altLang="en-US" dirty="0"/>
              <a:t>제</a:t>
            </a:r>
            <a:r>
              <a:rPr lang="en-US" altLang="ko-KR" dirty="0"/>
              <a:t>55</a:t>
            </a:r>
            <a:r>
              <a:rPr lang="ko-KR" altLang="en-US" dirty="0"/>
              <a:t>조</a:t>
            </a:r>
            <a:r>
              <a:rPr lang="en-US" altLang="ko-KR" dirty="0"/>
              <a:t>, </a:t>
            </a:r>
            <a:r>
              <a:rPr lang="ko-KR" altLang="en-US" dirty="0"/>
              <a:t>제</a:t>
            </a:r>
            <a:r>
              <a:rPr lang="en-US" altLang="ko-KR" dirty="0"/>
              <a:t>56</a:t>
            </a:r>
            <a:r>
              <a:rPr lang="ko-KR" altLang="en-US" dirty="0"/>
              <a:t>조</a:t>
            </a:r>
          </a:p>
        </p:txBody>
      </p:sp>
      <p:sp>
        <p:nvSpPr>
          <p:cNvPr id="5" name="텍스트 개체 틀 4"/>
          <p:cNvSpPr>
            <a:spLocks noGrp="1"/>
          </p:cNvSpPr>
          <p:nvPr>
            <p:ph type="body" sz="quarter" idx="13"/>
          </p:nvPr>
        </p:nvSpPr>
        <p:spPr/>
        <p:txBody>
          <a:bodyPr/>
          <a:lstStyle/>
          <a:p>
            <a:r>
              <a:rPr lang="ko-KR" altLang="en-US" dirty="0"/>
              <a:t>최우선일</a:t>
            </a:r>
            <a:r>
              <a:rPr lang="en-US" altLang="ko-KR" dirty="0"/>
              <a:t>(</a:t>
            </a:r>
            <a:r>
              <a:rPr lang="ko-KR" altLang="en-US" dirty="0"/>
              <a:t>제</a:t>
            </a:r>
            <a:r>
              <a:rPr lang="en-US" altLang="ko-KR" dirty="0"/>
              <a:t>54</a:t>
            </a:r>
            <a:r>
              <a:rPr lang="ko-KR" altLang="en-US" dirty="0"/>
              <a:t>조제</a:t>
            </a:r>
            <a:r>
              <a:rPr lang="en-US" altLang="ko-KR" dirty="0"/>
              <a:t>7</a:t>
            </a:r>
            <a:r>
              <a:rPr lang="ko-KR" altLang="en-US" dirty="0"/>
              <a:t>항</a:t>
            </a:r>
            <a:r>
              <a:rPr lang="en-US" altLang="ko-KR" dirty="0"/>
              <a:t>) vs </a:t>
            </a:r>
            <a:r>
              <a:rPr lang="ko-KR" altLang="en-US" dirty="0"/>
              <a:t>최선출원일</a:t>
            </a:r>
            <a:r>
              <a:rPr lang="en-US" altLang="ko-KR" dirty="0"/>
              <a:t>(</a:t>
            </a:r>
            <a:r>
              <a:rPr lang="ko-KR" altLang="en-US" dirty="0"/>
              <a:t>제</a:t>
            </a:r>
            <a:r>
              <a:rPr lang="en-US" altLang="ko-KR" dirty="0"/>
              <a:t>55</a:t>
            </a:r>
            <a:r>
              <a:rPr lang="ko-KR" altLang="en-US" dirty="0"/>
              <a:t>조제</a:t>
            </a:r>
            <a:r>
              <a:rPr lang="en-US" altLang="ko-KR" dirty="0"/>
              <a:t>7</a:t>
            </a:r>
            <a:r>
              <a:rPr lang="ko-KR" altLang="en-US" dirty="0"/>
              <a:t>항</a:t>
            </a:r>
            <a:r>
              <a:rPr lang="en-US" altLang="ko-KR" dirty="0"/>
              <a:t>)</a:t>
            </a:r>
          </a:p>
        </p:txBody>
      </p:sp>
      <p:sp>
        <p:nvSpPr>
          <p:cNvPr id="33" name="TextBox 32"/>
          <p:cNvSpPr txBox="1"/>
          <p:nvPr/>
        </p:nvSpPr>
        <p:spPr>
          <a:xfrm>
            <a:off x="77875" y="986046"/>
            <a:ext cx="5872235" cy="738664"/>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54</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조약에 의한 우선권 주장</a:t>
            </a:r>
            <a:r>
              <a:rPr lang="en-US" altLang="ko-KR" sz="1400" b="1" dirty="0">
                <a:solidFill>
                  <a:schemeClr val="accent1"/>
                </a:solidFill>
              </a:rPr>
              <a:t>) </a:t>
            </a:r>
            <a:r>
              <a:rPr lang="ko-KR" altLang="en-US" sz="1400" dirty="0">
                <a:solidFill>
                  <a:schemeClr val="tx2"/>
                </a:solidFill>
              </a:rPr>
              <a:t>⑦ 제</a:t>
            </a:r>
            <a:r>
              <a:rPr lang="en-US" altLang="ko-KR" sz="1400" dirty="0">
                <a:solidFill>
                  <a:schemeClr val="tx2"/>
                </a:solidFill>
              </a:rPr>
              <a:t>1</a:t>
            </a:r>
            <a:r>
              <a:rPr lang="ko-KR" altLang="en-US" sz="1400" dirty="0">
                <a:solidFill>
                  <a:schemeClr val="tx2"/>
                </a:solidFill>
              </a:rPr>
              <a:t>항에 따라 우선권 주장을 한 자 중 제</a:t>
            </a:r>
            <a:r>
              <a:rPr lang="en-US" altLang="ko-KR" sz="1400" dirty="0">
                <a:solidFill>
                  <a:schemeClr val="tx2"/>
                </a:solidFill>
              </a:rPr>
              <a:t>2</a:t>
            </a:r>
            <a:r>
              <a:rPr lang="ko-KR" altLang="en-US" sz="1400" dirty="0">
                <a:solidFill>
                  <a:schemeClr val="tx2"/>
                </a:solidFill>
              </a:rPr>
              <a:t>항의 요건을 갖춘 자는 제</a:t>
            </a:r>
            <a:r>
              <a:rPr lang="en-US" altLang="ko-KR" sz="1400" dirty="0">
                <a:solidFill>
                  <a:schemeClr val="tx2"/>
                </a:solidFill>
              </a:rPr>
              <a:t>5</a:t>
            </a:r>
            <a:r>
              <a:rPr lang="ko-KR" altLang="en-US" sz="1400" dirty="0">
                <a:solidFill>
                  <a:schemeClr val="tx2"/>
                </a:solidFill>
              </a:rPr>
              <a:t>항에 따른 </a:t>
            </a:r>
            <a:r>
              <a:rPr lang="ko-KR" altLang="en-US" sz="1400" dirty="0" err="1">
                <a:solidFill>
                  <a:srgbClr val="FF0000"/>
                </a:solidFill>
              </a:rPr>
              <a:t>최우선일</a:t>
            </a:r>
            <a:r>
              <a:rPr lang="ko-KR" altLang="en-US" sz="1400" dirty="0" err="1">
                <a:solidFill>
                  <a:schemeClr val="tx2"/>
                </a:solidFill>
              </a:rPr>
              <a:t>부터</a:t>
            </a:r>
            <a:r>
              <a:rPr lang="ko-KR" altLang="en-US" sz="1400" dirty="0">
                <a:solidFill>
                  <a:schemeClr val="tx2"/>
                </a:solidFill>
              </a:rPr>
              <a:t>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4</a:t>
            </a:r>
            <a:r>
              <a:rPr lang="ko-KR" altLang="en-US" sz="1400" dirty="0">
                <a:solidFill>
                  <a:schemeClr val="tx2"/>
                </a:solidFill>
              </a:rPr>
              <a:t>개월 이내에 해당 우선권 주장을 보정하거나 추가할 수 있다</a:t>
            </a:r>
            <a:r>
              <a:rPr lang="en-US" altLang="ko-KR" sz="1400" dirty="0">
                <a:solidFill>
                  <a:schemeClr val="tx2"/>
                </a:solidFill>
              </a:rPr>
              <a:t>.</a:t>
            </a:r>
          </a:p>
        </p:txBody>
      </p:sp>
      <p:cxnSp>
        <p:nvCxnSpPr>
          <p:cNvPr id="6" name="직선 연결선 5"/>
          <p:cNvCxnSpPr/>
          <p:nvPr/>
        </p:nvCxnSpPr>
        <p:spPr>
          <a:xfrm>
            <a:off x="6099756" y="1057275"/>
            <a:ext cx="0" cy="562927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6170119" y="986046"/>
            <a:ext cx="5875991" cy="738664"/>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55</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특허출원 등을 기초로 한 우선권 주장</a:t>
            </a:r>
            <a:r>
              <a:rPr lang="en-US" altLang="ko-KR" sz="1400" b="1" dirty="0">
                <a:solidFill>
                  <a:schemeClr val="accent1"/>
                </a:solidFill>
              </a:rPr>
              <a:t>) </a:t>
            </a:r>
            <a:r>
              <a:rPr lang="ko-KR" altLang="en-US" sz="1400" dirty="0">
                <a:solidFill>
                  <a:schemeClr val="tx2"/>
                </a:solidFill>
              </a:rPr>
              <a:t>⑦ 제</a:t>
            </a:r>
            <a:r>
              <a:rPr lang="en-US" altLang="ko-KR" sz="1400" dirty="0">
                <a:solidFill>
                  <a:schemeClr val="tx2"/>
                </a:solidFill>
              </a:rPr>
              <a:t>1</a:t>
            </a:r>
            <a:r>
              <a:rPr lang="ko-KR" altLang="en-US" sz="1400" dirty="0">
                <a:solidFill>
                  <a:schemeClr val="tx2"/>
                </a:solidFill>
              </a:rPr>
              <a:t>항에 따른 요건을 갖추어 우선권 주장을 한 자는 </a:t>
            </a:r>
            <a:r>
              <a:rPr lang="ko-KR" altLang="en-US" sz="1400" dirty="0" err="1">
                <a:solidFill>
                  <a:schemeClr val="tx2"/>
                </a:solidFill>
              </a:rPr>
              <a:t>선출원일</a:t>
            </a:r>
            <a:r>
              <a:rPr lang="en-US" altLang="ko-KR" sz="1400" dirty="0">
                <a:solidFill>
                  <a:schemeClr val="tx2"/>
                </a:solidFill>
              </a:rPr>
              <a:t>(</a:t>
            </a:r>
            <a:r>
              <a:rPr lang="ko-KR" altLang="en-US" sz="1400" dirty="0" err="1">
                <a:solidFill>
                  <a:schemeClr val="tx2"/>
                </a:solidFill>
              </a:rPr>
              <a:t>선출원이</a:t>
            </a:r>
            <a:r>
              <a:rPr lang="ko-KR" altLang="en-US" sz="1400" dirty="0">
                <a:solidFill>
                  <a:schemeClr val="tx2"/>
                </a:solidFill>
              </a:rPr>
              <a:t> 둘 이상인 경우에는 </a:t>
            </a:r>
            <a:r>
              <a:rPr lang="ko-KR" altLang="en-US" sz="1400" dirty="0" err="1">
                <a:solidFill>
                  <a:srgbClr val="FF0000"/>
                </a:solidFill>
              </a:rPr>
              <a:t>최선출원일</a:t>
            </a:r>
            <a:r>
              <a:rPr lang="ko-KR" altLang="en-US" sz="1400" dirty="0" err="1">
                <a:solidFill>
                  <a:schemeClr val="tx2"/>
                </a:solidFill>
              </a:rPr>
              <a:t>을</a:t>
            </a:r>
            <a:r>
              <a:rPr lang="ko-KR" altLang="en-US" sz="1400" dirty="0">
                <a:solidFill>
                  <a:schemeClr val="tx2"/>
                </a:solidFill>
              </a:rPr>
              <a:t> 말한다</a:t>
            </a:r>
            <a:r>
              <a:rPr lang="en-US" altLang="ko-KR" sz="1400" dirty="0">
                <a:solidFill>
                  <a:schemeClr val="tx2"/>
                </a:solidFill>
              </a:rPr>
              <a:t>)</a:t>
            </a:r>
            <a:r>
              <a:rPr lang="ko-KR" altLang="en-US" sz="1400" dirty="0">
                <a:solidFill>
                  <a:schemeClr val="tx2"/>
                </a:solidFill>
              </a:rPr>
              <a:t>부터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4</a:t>
            </a:r>
            <a:r>
              <a:rPr lang="ko-KR" altLang="en-US" sz="1400" dirty="0">
                <a:solidFill>
                  <a:schemeClr val="tx2"/>
                </a:solidFill>
              </a:rPr>
              <a:t>개월 이내에 그 우선권 주장을 보정하거나 추가할 수 있다</a:t>
            </a:r>
            <a:r>
              <a:rPr lang="en-US" altLang="ko-KR" sz="1400" dirty="0">
                <a:solidFill>
                  <a:schemeClr val="tx2"/>
                </a:solidFill>
              </a:rPr>
              <a:t>.</a:t>
            </a:r>
          </a:p>
        </p:txBody>
      </p:sp>
      <p:sp>
        <p:nvSpPr>
          <p:cNvPr id="13" name="양쪽 모서리가 둥근 사각형 12"/>
          <p:cNvSpPr/>
          <p:nvPr/>
        </p:nvSpPr>
        <p:spPr>
          <a:xfrm>
            <a:off x="583709" y="2760133"/>
            <a:ext cx="3241979" cy="817329"/>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14" name="양쪽 모서리가 둥근 사각형 13"/>
          <p:cNvSpPr/>
          <p:nvPr/>
        </p:nvSpPr>
        <p:spPr>
          <a:xfrm>
            <a:off x="583711" y="2438399"/>
            <a:ext cx="4640827" cy="1139063"/>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cxnSp>
        <p:nvCxnSpPr>
          <p:cNvPr id="15" name="직선 연결선 14"/>
          <p:cNvCxnSpPr>
            <a:stCxn id="16" idx="1"/>
          </p:cNvCxnSpPr>
          <p:nvPr/>
        </p:nvCxnSpPr>
        <p:spPr>
          <a:xfrm>
            <a:off x="124460" y="3577463"/>
            <a:ext cx="582565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 name="직사각형 15"/>
          <p:cNvSpPr/>
          <p:nvPr/>
        </p:nvSpPr>
        <p:spPr>
          <a:xfrm>
            <a:off x="124460" y="3435700"/>
            <a:ext cx="918503" cy="28352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한국출원</a:t>
            </a:r>
            <a:r>
              <a:rPr lang="en-US" altLang="ko-KR" sz="1000" dirty="0">
                <a:solidFill>
                  <a:schemeClr val="tx1"/>
                </a:solidFill>
              </a:rPr>
              <a:t>(X)</a:t>
            </a:r>
            <a:endParaRPr lang="ko-KR" altLang="en-US" sz="1000" dirty="0">
              <a:solidFill>
                <a:schemeClr val="tx1"/>
              </a:solidFill>
            </a:endParaRPr>
          </a:p>
        </p:txBody>
      </p:sp>
      <p:sp>
        <p:nvSpPr>
          <p:cNvPr id="17" name="직사각형 16"/>
          <p:cNvSpPr/>
          <p:nvPr/>
        </p:nvSpPr>
        <p:spPr>
          <a:xfrm>
            <a:off x="3184135" y="3435700"/>
            <a:ext cx="1283108" cy="28352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(W)</a:t>
            </a:r>
            <a:endParaRPr lang="ko-KR" altLang="en-US" sz="1000" dirty="0">
              <a:solidFill>
                <a:schemeClr val="tx1"/>
              </a:solidFill>
            </a:endParaRPr>
          </a:p>
        </p:txBody>
      </p:sp>
      <p:sp>
        <p:nvSpPr>
          <p:cNvPr id="18" name="직사각형 17"/>
          <p:cNvSpPr/>
          <p:nvPr/>
        </p:nvSpPr>
        <p:spPr>
          <a:xfrm>
            <a:off x="1116981" y="3435700"/>
            <a:ext cx="918503" cy="28352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일본출원</a:t>
            </a:r>
            <a:r>
              <a:rPr lang="en-US" altLang="ko-KR" sz="1000" dirty="0">
                <a:solidFill>
                  <a:schemeClr val="tx1"/>
                </a:solidFill>
              </a:rPr>
              <a:t>(Y)</a:t>
            </a:r>
            <a:endParaRPr lang="ko-KR" altLang="en-US" sz="1000" dirty="0">
              <a:solidFill>
                <a:schemeClr val="tx1"/>
              </a:solidFill>
            </a:endParaRPr>
          </a:p>
        </p:txBody>
      </p:sp>
      <p:sp>
        <p:nvSpPr>
          <p:cNvPr id="19" name="직사각형 18"/>
          <p:cNvSpPr/>
          <p:nvPr/>
        </p:nvSpPr>
        <p:spPr>
          <a:xfrm>
            <a:off x="3184135" y="3719226"/>
            <a:ext cx="1283108"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 </a:t>
            </a:r>
            <a:r>
              <a:rPr lang="ko-KR" altLang="en-US" sz="1000" dirty="0">
                <a:solidFill>
                  <a:schemeClr val="tx1"/>
                </a:solidFill>
              </a:rPr>
              <a:t>기초 </a:t>
            </a:r>
            <a:r>
              <a:rPr lang="ko-KR" altLang="en-US" sz="1000" dirty="0" err="1">
                <a:solidFill>
                  <a:schemeClr val="tx1"/>
                </a:solidFill>
              </a:rPr>
              <a:t>우선권주장</a:t>
            </a:r>
            <a:endParaRPr lang="ko-KR" altLang="en-US" sz="1000" dirty="0">
              <a:solidFill>
                <a:schemeClr val="tx1"/>
              </a:solidFill>
            </a:endParaRPr>
          </a:p>
        </p:txBody>
      </p:sp>
      <p:sp>
        <p:nvSpPr>
          <p:cNvPr id="20" name="직사각형 19"/>
          <p:cNvSpPr/>
          <p:nvPr/>
        </p:nvSpPr>
        <p:spPr>
          <a:xfrm>
            <a:off x="4765287" y="4014501"/>
            <a:ext cx="918503"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증명서류</a:t>
            </a:r>
            <a:r>
              <a:rPr lang="en-US" altLang="ko-KR" sz="1000" dirty="0">
                <a:solidFill>
                  <a:schemeClr val="tx1"/>
                </a:solidFill>
              </a:rPr>
              <a:t>(Y)</a:t>
            </a:r>
            <a:endParaRPr lang="ko-KR" altLang="en-US" sz="1000" dirty="0">
              <a:solidFill>
                <a:schemeClr val="tx1"/>
              </a:solidFill>
            </a:endParaRPr>
          </a:p>
        </p:txBody>
      </p:sp>
      <p:sp>
        <p:nvSpPr>
          <p:cNvPr id="21" name="직사각형 20"/>
          <p:cNvSpPr/>
          <p:nvPr/>
        </p:nvSpPr>
        <p:spPr>
          <a:xfrm>
            <a:off x="4765287" y="4298027"/>
            <a:ext cx="918503"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증명서류</a:t>
            </a:r>
            <a:r>
              <a:rPr lang="en-US" altLang="ko-KR" sz="1000" dirty="0">
                <a:solidFill>
                  <a:schemeClr val="tx1"/>
                </a:solidFill>
              </a:rPr>
              <a:t>(Z)</a:t>
            </a:r>
            <a:endParaRPr lang="ko-KR" altLang="en-US" sz="1000" dirty="0">
              <a:solidFill>
                <a:schemeClr val="tx1"/>
              </a:solidFill>
            </a:endParaRPr>
          </a:p>
        </p:txBody>
      </p:sp>
      <p:sp>
        <p:nvSpPr>
          <p:cNvPr id="22" name="Rectangle 14"/>
          <p:cNvSpPr>
            <a:spLocks noChangeArrowheads="1"/>
          </p:cNvSpPr>
          <p:nvPr/>
        </p:nvSpPr>
        <p:spPr bwMode="auto">
          <a:xfrm flipV="1">
            <a:off x="5153544" y="3501423"/>
            <a:ext cx="144150" cy="152080"/>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23" name="직선 연결선 22"/>
          <p:cNvCxnSpPr>
            <a:stCxn id="20" idx="0"/>
            <a:endCxn id="22" idx="0"/>
          </p:cNvCxnSpPr>
          <p:nvPr/>
        </p:nvCxnSpPr>
        <p:spPr>
          <a:xfrm flipV="1">
            <a:off x="5224539" y="3653503"/>
            <a:ext cx="1080" cy="36099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4" name="직사각형 23"/>
          <p:cNvSpPr/>
          <p:nvPr/>
        </p:nvSpPr>
        <p:spPr>
          <a:xfrm>
            <a:off x="1257854" y="2478833"/>
            <a:ext cx="918503"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a:t>
            </a:r>
          </a:p>
        </p:txBody>
      </p:sp>
      <p:sp>
        <p:nvSpPr>
          <p:cNvPr id="25" name="직사각형 24"/>
          <p:cNvSpPr/>
          <p:nvPr/>
        </p:nvSpPr>
        <p:spPr>
          <a:xfrm>
            <a:off x="1797549" y="2164265"/>
            <a:ext cx="918503"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b="1" dirty="0">
                <a:solidFill>
                  <a:srgbClr val="FF0000"/>
                </a:solidFill>
              </a:rPr>
              <a:t>1</a:t>
            </a:r>
            <a:r>
              <a:rPr lang="ko-KR" altLang="en-US" sz="1400" b="1" dirty="0">
                <a:solidFill>
                  <a:srgbClr val="FF0000"/>
                </a:solidFill>
              </a:rPr>
              <a:t>년 </a:t>
            </a:r>
            <a:r>
              <a:rPr lang="en-US" altLang="ko-KR" sz="1400" b="1" dirty="0">
                <a:solidFill>
                  <a:srgbClr val="FF0000"/>
                </a:solidFill>
              </a:rPr>
              <a:t>4</a:t>
            </a:r>
            <a:r>
              <a:rPr lang="ko-KR" altLang="en-US" sz="1400" b="1" dirty="0">
                <a:solidFill>
                  <a:srgbClr val="FF0000"/>
                </a:solidFill>
              </a:rPr>
              <a:t>개월</a:t>
            </a:r>
          </a:p>
        </p:txBody>
      </p:sp>
      <p:sp>
        <p:nvSpPr>
          <p:cNvPr id="37" name="직사각형 36"/>
          <p:cNvSpPr/>
          <p:nvPr/>
        </p:nvSpPr>
        <p:spPr>
          <a:xfrm>
            <a:off x="3742965" y="4944141"/>
            <a:ext cx="1766404" cy="283526"/>
          </a:xfrm>
          <a:prstGeom prst="rect">
            <a:avLst/>
          </a:prstGeom>
          <a:solidFill>
            <a:srgbClr val="00B0F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bg1"/>
                </a:solidFill>
              </a:rPr>
              <a:t>Y </a:t>
            </a:r>
            <a:r>
              <a:rPr lang="ko-KR" altLang="en-US" sz="1000" dirty="0">
                <a:solidFill>
                  <a:schemeClr val="bg1"/>
                </a:solidFill>
              </a:rPr>
              <a:t>기초 우선권주장의 추가</a:t>
            </a:r>
          </a:p>
        </p:txBody>
      </p:sp>
      <p:sp>
        <p:nvSpPr>
          <p:cNvPr id="38" name="Rectangle 14"/>
          <p:cNvSpPr>
            <a:spLocks noChangeArrowheads="1"/>
          </p:cNvSpPr>
          <p:nvPr/>
        </p:nvSpPr>
        <p:spPr bwMode="auto">
          <a:xfrm flipV="1">
            <a:off x="4555172" y="3501423"/>
            <a:ext cx="144150" cy="152080"/>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39" name="직선 연결선 38"/>
          <p:cNvCxnSpPr>
            <a:stCxn id="37" idx="0"/>
            <a:endCxn id="38" idx="0"/>
          </p:cNvCxnSpPr>
          <p:nvPr/>
        </p:nvCxnSpPr>
        <p:spPr>
          <a:xfrm flipV="1">
            <a:off x="4626167" y="3653503"/>
            <a:ext cx="1080" cy="129063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2176357" y="2940103"/>
            <a:ext cx="329336" cy="369332"/>
          </a:xfrm>
          <a:prstGeom prst="rect">
            <a:avLst/>
          </a:prstGeom>
          <a:noFill/>
        </p:spPr>
        <p:txBody>
          <a:bodyPr wrap="square" rtlCol="0">
            <a:spAutoFit/>
          </a:bodyPr>
          <a:lstStyle/>
          <a:p>
            <a:pPr fontAlgn="base"/>
            <a:r>
              <a:rPr lang="ko-KR" altLang="en-US" dirty="0">
                <a:solidFill>
                  <a:srgbClr val="FF0000"/>
                </a:solidFill>
              </a:rPr>
              <a:t>❷</a:t>
            </a:r>
          </a:p>
        </p:txBody>
      </p:sp>
      <p:sp>
        <p:nvSpPr>
          <p:cNvPr id="43" name="직사각형 42"/>
          <p:cNvSpPr/>
          <p:nvPr/>
        </p:nvSpPr>
        <p:spPr>
          <a:xfrm>
            <a:off x="2121471" y="3435700"/>
            <a:ext cx="918503" cy="283526"/>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미국출원</a:t>
            </a:r>
            <a:r>
              <a:rPr lang="en-US" altLang="ko-KR" sz="1000" dirty="0">
                <a:solidFill>
                  <a:schemeClr val="tx1"/>
                </a:solidFill>
              </a:rPr>
              <a:t>(Z)</a:t>
            </a:r>
            <a:endParaRPr lang="ko-KR" altLang="en-US" sz="1000" dirty="0">
              <a:solidFill>
                <a:schemeClr val="tx1"/>
              </a:solidFill>
            </a:endParaRPr>
          </a:p>
        </p:txBody>
      </p:sp>
      <p:sp>
        <p:nvSpPr>
          <p:cNvPr id="44" name="직사각형 43"/>
          <p:cNvSpPr/>
          <p:nvPr/>
        </p:nvSpPr>
        <p:spPr>
          <a:xfrm>
            <a:off x="3184135" y="4002752"/>
            <a:ext cx="1283108"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Z </a:t>
            </a:r>
            <a:r>
              <a:rPr lang="ko-KR" altLang="en-US" sz="1000" dirty="0">
                <a:solidFill>
                  <a:schemeClr val="tx1"/>
                </a:solidFill>
              </a:rPr>
              <a:t>기초 </a:t>
            </a:r>
            <a:r>
              <a:rPr lang="ko-KR" altLang="en-US" sz="1000" dirty="0" err="1">
                <a:solidFill>
                  <a:schemeClr val="tx1"/>
                </a:solidFill>
              </a:rPr>
              <a:t>우선권주장</a:t>
            </a:r>
            <a:endParaRPr lang="ko-KR" altLang="en-US" sz="1000" dirty="0">
              <a:solidFill>
                <a:schemeClr val="tx1"/>
              </a:solidFill>
            </a:endParaRPr>
          </a:p>
        </p:txBody>
      </p:sp>
      <p:sp>
        <p:nvSpPr>
          <p:cNvPr id="41" name="TextBox 40"/>
          <p:cNvSpPr txBox="1"/>
          <p:nvPr/>
        </p:nvSpPr>
        <p:spPr>
          <a:xfrm>
            <a:off x="3008602" y="4121880"/>
            <a:ext cx="329336" cy="369332"/>
          </a:xfrm>
          <a:prstGeom prst="rect">
            <a:avLst/>
          </a:prstGeom>
          <a:noFill/>
        </p:spPr>
        <p:txBody>
          <a:bodyPr wrap="square" rtlCol="0">
            <a:spAutoFit/>
          </a:bodyPr>
          <a:lstStyle/>
          <a:p>
            <a:pPr fontAlgn="base"/>
            <a:r>
              <a:rPr lang="ko-KR" altLang="en-US" dirty="0">
                <a:solidFill>
                  <a:srgbClr val="FF0000"/>
                </a:solidFill>
              </a:rPr>
              <a:t>❶</a:t>
            </a:r>
          </a:p>
        </p:txBody>
      </p:sp>
      <p:sp>
        <p:nvSpPr>
          <p:cNvPr id="46" name="직사각형 45"/>
          <p:cNvSpPr/>
          <p:nvPr/>
        </p:nvSpPr>
        <p:spPr>
          <a:xfrm>
            <a:off x="2207930" y="2798340"/>
            <a:ext cx="918503"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 이내</a:t>
            </a:r>
          </a:p>
        </p:txBody>
      </p:sp>
      <p:sp>
        <p:nvSpPr>
          <p:cNvPr id="47" name="양쪽 모서리가 둥근 사각형 46"/>
          <p:cNvSpPr/>
          <p:nvPr/>
        </p:nvSpPr>
        <p:spPr>
          <a:xfrm>
            <a:off x="7672232" y="3081866"/>
            <a:ext cx="2249456" cy="495596"/>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48" name="양쪽 모서리가 둥근 사각형 47"/>
          <p:cNvSpPr/>
          <p:nvPr/>
        </p:nvSpPr>
        <p:spPr>
          <a:xfrm>
            <a:off x="6679709" y="2760133"/>
            <a:ext cx="3241979" cy="817329"/>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cxnSp>
        <p:nvCxnSpPr>
          <p:cNvPr id="50" name="직선 연결선 49"/>
          <p:cNvCxnSpPr>
            <a:cxnSpLocks/>
            <a:stCxn id="51" idx="1"/>
          </p:cNvCxnSpPr>
          <p:nvPr/>
        </p:nvCxnSpPr>
        <p:spPr>
          <a:xfrm>
            <a:off x="6220460" y="3577463"/>
            <a:ext cx="582565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1" name="직사각형 50"/>
          <p:cNvSpPr/>
          <p:nvPr/>
        </p:nvSpPr>
        <p:spPr>
          <a:xfrm>
            <a:off x="6220460" y="3435700"/>
            <a:ext cx="918503" cy="28352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일본출원</a:t>
            </a:r>
            <a:r>
              <a:rPr lang="en-US" altLang="ko-KR" sz="1000" dirty="0">
                <a:solidFill>
                  <a:schemeClr val="tx1"/>
                </a:solidFill>
              </a:rPr>
              <a:t>(X)</a:t>
            </a:r>
            <a:endParaRPr lang="ko-KR" altLang="en-US" sz="1000" dirty="0">
              <a:solidFill>
                <a:schemeClr val="tx1"/>
              </a:solidFill>
            </a:endParaRPr>
          </a:p>
        </p:txBody>
      </p:sp>
      <p:sp>
        <p:nvSpPr>
          <p:cNvPr id="52" name="직사각형 51"/>
          <p:cNvSpPr/>
          <p:nvPr/>
        </p:nvSpPr>
        <p:spPr>
          <a:xfrm>
            <a:off x="9280135" y="3435700"/>
            <a:ext cx="1283108" cy="28352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(W)</a:t>
            </a:r>
            <a:endParaRPr lang="ko-KR" altLang="en-US" sz="1000" dirty="0">
              <a:solidFill>
                <a:schemeClr val="tx1"/>
              </a:solidFill>
            </a:endParaRPr>
          </a:p>
        </p:txBody>
      </p:sp>
      <p:sp>
        <p:nvSpPr>
          <p:cNvPr id="53" name="직사각형 52"/>
          <p:cNvSpPr/>
          <p:nvPr/>
        </p:nvSpPr>
        <p:spPr>
          <a:xfrm>
            <a:off x="7212981" y="3435700"/>
            <a:ext cx="918503" cy="28352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한국출원</a:t>
            </a:r>
            <a:r>
              <a:rPr lang="en-US" altLang="ko-KR" sz="1000" dirty="0">
                <a:solidFill>
                  <a:schemeClr val="tx1"/>
                </a:solidFill>
              </a:rPr>
              <a:t>(Y)</a:t>
            </a:r>
            <a:endParaRPr lang="ko-KR" altLang="en-US" sz="1000" dirty="0">
              <a:solidFill>
                <a:schemeClr val="tx1"/>
              </a:solidFill>
            </a:endParaRPr>
          </a:p>
        </p:txBody>
      </p:sp>
      <p:sp>
        <p:nvSpPr>
          <p:cNvPr id="54" name="직사각형 53"/>
          <p:cNvSpPr/>
          <p:nvPr/>
        </p:nvSpPr>
        <p:spPr>
          <a:xfrm>
            <a:off x="9280135" y="3719226"/>
            <a:ext cx="1283108"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 </a:t>
            </a:r>
            <a:r>
              <a:rPr lang="ko-KR" altLang="en-US" sz="1000" dirty="0">
                <a:solidFill>
                  <a:schemeClr val="tx1"/>
                </a:solidFill>
              </a:rPr>
              <a:t>기초 </a:t>
            </a:r>
            <a:r>
              <a:rPr lang="ko-KR" altLang="en-US" sz="1000" dirty="0" err="1">
                <a:solidFill>
                  <a:schemeClr val="tx1"/>
                </a:solidFill>
              </a:rPr>
              <a:t>우선권주장</a:t>
            </a:r>
            <a:endParaRPr lang="ko-KR" altLang="en-US" sz="1000" dirty="0">
              <a:solidFill>
                <a:schemeClr val="tx1"/>
              </a:solidFill>
            </a:endParaRPr>
          </a:p>
        </p:txBody>
      </p:sp>
      <p:sp>
        <p:nvSpPr>
          <p:cNvPr id="55" name="직사각형 54"/>
          <p:cNvSpPr/>
          <p:nvPr/>
        </p:nvSpPr>
        <p:spPr>
          <a:xfrm>
            <a:off x="10658087" y="4014501"/>
            <a:ext cx="918503"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증명서류</a:t>
            </a:r>
            <a:r>
              <a:rPr lang="en-US" altLang="ko-KR" sz="1000" dirty="0">
                <a:solidFill>
                  <a:schemeClr val="tx1"/>
                </a:solidFill>
              </a:rPr>
              <a:t>(X)</a:t>
            </a:r>
            <a:endParaRPr lang="ko-KR" altLang="en-US" sz="1000" dirty="0">
              <a:solidFill>
                <a:schemeClr val="tx1"/>
              </a:solidFill>
            </a:endParaRPr>
          </a:p>
        </p:txBody>
      </p:sp>
      <p:sp>
        <p:nvSpPr>
          <p:cNvPr id="57" name="Rectangle 14"/>
          <p:cNvSpPr>
            <a:spLocks noChangeArrowheads="1"/>
          </p:cNvSpPr>
          <p:nvPr/>
        </p:nvSpPr>
        <p:spPr bwMode="auto">
          <a:xfrm flipV="1">
            <a:off x="11046344" y="3501423"/>
            <a:ext cx="144150" cy="152080"/>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58" name="직선 연결선 57"/>
          <p:cNvCxnSpPr>
            <a:stCxn id="55" idx="0"/>
            <a:endCxn id="57" idx="0"/>
          </p:cNvCxnSpPr>
          <p:nvPr/>
        </p:nvCxnSpPr>
        <p:spPr>
          <a:xfrm flipV="1">
            <a:off x="11117339" y="3653503"/>
            <a:ext cx="1080" cy="36099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직사각형 58"/>
          <p:cNvSpPr/>
          <p:nvPr/>
        </p:nvSpPr>
        <p:spPr>
          <a:xfrm>
            <a:off x="6656927" y="2504234"/>
            <a:ext cx="918503"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a:t>
            </a:r>
          </a:p>
        </p:txBody>
      </p:sp>
      <p:sp>
        <p:nvSpPr>
          <p:cNvPr id="60" name="직사각형 59"/>
          <p:cNvSpPr/>
          <p:nvPr/>
        </p:nvSpPr>
        <p:spPr>
          <a:xfrm>
            <a:off x="8920462" y="2154873"/>
            <a:ext cx="918503"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rPr>
              <a:t>1</a:t>
            </a:r>
            <a:r>
              <a:rPr lang="ko-KR" altLang="en-US" sz="1050" dirty="0">
                <a:solidFill>
                  <a:schemeClr val="tx1"/>
                </a:solidFill>
              </a:rPr>
              <a:t>년 </a:t>
            </a:r>
            <a:r>
              <a:rPr lang="en-US" altLang="ko-KR" sz="1050" dirty="0">
                <a:solidFill>
                  <a:schemeClr val="tx1"/>
                </a:solidFill>
              </a:rPr>
              <a:t>4</a:t>
            </a:r>
            <a:r>
              <a:rPr lang="ko-KR" altLang="en-US" sz="1050" dirty="0">
                <a:solidFill>
                  <a:schemeClr val="tx1"/>
                </a:solidFill>
              </a:rPr>
              <a:t>개월</a:t>
            </a:r>
          </a:p>
        </p:txBody>
      </p:sp>
      <p:sp>
        <p:nvSpPr>
          <p:cNvPr id="61" name="직사각형 60"/>
          <p:cNvSpPr/>
          <p:nvPr/>
        </p:nvSpPr>
        <p:spPr>
          <a:xfrm>
            <a:off x="10201135" y="4944141"/>
            <a:ext cx="1766404" cy="283526"/>
          </a:xfrm>
          <a:prstGeom prst="rect">
            <a:avLst/>
          </a:prstGeom>
          <a:solidFill>
            <a:srgbClr val="00B0F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bg1"/>
                </a:solidFill>
              </a:rPr>
              <a:t>Y </a:t>
            </a:r>
            <a:r>
              <a:rPr lang="ko-KR" altLang="en-US" sz="1000" dirty="0">
                <a:solidFill>
                  <a:schemeClr val="bg1"/>
                </a:solidFill>
              </a:rPr>
              <a:t>기초 우선권주장의 추가</a:t>
            </a:r>
          </a:p>
        </p:txBody>
      </p:sp>
      <p:sp>
        <p:nvSpPr>
          <p:cNvPr id="62" name="Rectangle 14"/>
          <p:cNvSpPr>
            <a:spLocks noChangeArrowheads="1"/>
          </p:cNvSpPr>
          <p:nvPr/>
        </p:nvSpPr>
        <p:spPr bwMode="auto">
          <a:xfrm flipV="1">
            <a:off x="11572142" y="3501423"/>
            <a:ext cx="144150" cy="152080"/>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63" name="직선 연결선 62"/>
          <p:cNvCxnSpPr>
            <a:endCxn id="62" idx="0"/>
          </p:cNvCxnSpPr>
          <p:nvPr/>
        </p:nvCxnSpPr>
        <p:spPr>
          <a:xfrm flipV="1">
            <a:off x="11639904" y="3653503"/>
            <a:ext cx="4313" cy="129063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8272357" y="2940103"/>
            <a:ext cx="329336" cy="369332"/>
          </a:xfrm>
          <a:prstGeom prst="rect">
            <a:avLst/>
          </a:prstGeom>
          <a:noFill/>
        </p:spPr>
        <p:txBody>
          <a:bodyPr wrap="square" rtlCol="0">
            <a:spAutoFit/>
          </a:bodyPr>
          <a:lstStyle/>
          <a:p>
            <a:pPr fontAlgn="base"/>
            <a:r>
              <a:rPr lang="ko-KR" altLang="en-US" dirty="0">
                <a:solidFill>
                  <a:srgbClr val="FF0000"/>
                </a:solidFill>
              </a:rPr>
              <a:t>❷</a:t>
            </a:r>
          </a:p>
        </p:txBody>
      </p:sp>
      <p:sp>
        <p:nvSpPr>
          <p:cNvPr id="65" name="직사각형 64"/>
          <p:cNvSpPr/>
          <p:nvPr/>
        </p:nvSpPr>
        <p:spPr>
          <a:xfrm>
            <a:off x="8217471" y="3435700"/>
            <a:ext cx="918503" cy="283526"/>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한국출원</a:t>
            </a:r>
            <a:r>
              <a:rPr lang="en-US" altLang="ko-KR" sz="1000" dirty="0">
                <a:solidFill>
                  <a:schemeClr val="tx1"/>
                </a:solidFill>
              </a:rPr>
              <a:t>(Z)</a:t>
            </a:r>
            <a:endParaRPr lang="ko-KR" altLang="en-US" sz="1000" dirty="0">
              <a:solidFill>
                <a:schemeClr val="tx1"/>
              </a:solidFill>
            </a:endParaRPr>
          </a:p>
        </p:txBody>
      </p:sp>
      <p:sp>
        <p:nvSpPr>
          <p:cNvPr id="66" name="직사각형 65"/>
          <p:cNvSpPr/>
          <p:nvPr/>
        </p:nvSpPr>
        <p:spPr>
          <a:xfrm>
            <a:off x="9280135" y="4002752"/>
            <a:ext cx="1283108" cy="28352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Z </a:t>
            </a:r>
            <a:r>
              <a:rPr lang="ko-KR" altLang="en-US" sz="1000" dirty="0">
                <a:solidFill>
                  <a:schemeClr val="tx1"/>
                </a:solidFill>
              </a:rPr>
              <a:t>기초 </a:t>
            </a:r>
            <a:r>
              <a:rPr lang="ko-KR" altLang="en-US" sz="1000" dirty="0" err="1">
                <a:solidFill>
                  <a:schemeClr val="tx1"/>
                </a:solidFill>
              </a:rPr>
              <a:t>우선권주장</a:t>
            </a:r>
            <a:endParaRPr lang="ko-KR" altLang="en-US" sz="1000" dirty="0">
              <a:solidFill>
                <a:schemeClr val="tx1"/>
              </a:solidFill>
            </a:endParaRPr>
          </a:p>
        </p:txBody>
      </p:sp>
      <p:sp>
        <p:nvSpPr>
          <p:cNvPr id="67" name="TextBox 66"/>
          <p:cNvSpPr txBox="1"/>
          <p:nvPr/>
        </p:nvSpPr>
        <p:spPr>
          <a:xfrm>
            <a:off x="9104602" y="4121880"/>
            <a:ext cx="329336" cy="369332"/>
          </a:xfrm>
          <a:prstGeom prst="rect">
            <a:avLst/>
          </a:prstGeom>
          <a:noFill/>
        </p:spPr>
        <p:txBody>
          <a:bodyPr wrap="square" rtlCol="0">
            <a:spAutoFit/>
          </a:bodyPr>
          <a:lstStyle/>
          <a:p>
            <a:pPr fontAlgn="base"/>
            <a:r>
              <a:rPr lang="ko-KR" altLang="en-US" dirty="0">
                <a:solidFill>
                  <a:srgbClr val="FF0000"/>
                </a:solidFill>
              </a:rPr>
              <a:t>❶</a:t>
            </a:r>
          </a:p>
        </p:txBody>
      </p:sp>
      <p:sp>
        <p:nvSpPr>
          <p:cNvPr id="68" name="직사각형 67"/>
          <p:cNvSpPr/>
          <p:nvPr/>
        </p:nvSpPr>
        <p:spPr>
          <a:xfrm>
            <a:off x="8303930" y="2798340"/>
            <a:ext cx="918503"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 이내</a:t>
            </a:r>
          </a:p>
        </p:txBody>
      </p:sp>
      <p:sp>
        <p:nvSpPr>
          <p:cNvPr id="69" name="직사각형 68"/>
          <p:cNvSpPr/>
          <p:nvPr/>
        </p:nvSpPr>
        <p:spPr>
          <a:xfrm>
            <a:off x="6174433" y="5712424"/>
            <a:ext cx="5871677" cy="954107"/>
          </a:xfrm>
          <a:prstGeom prst="rect">
            <a:avLst/>
          </a:prstGeom>
          <a:solidFill>
            <a:schemeClr val="accent2">
              <a:lumMod val="20000"/>
              <a:lumOff val="80000"/>
            </a:schemeClr>
          </a:solidFill>
          <a:ln>
            <a:solidFill>
              <a:schemeClr val="bg1">
                <a:lumMod val="50000"/>
              </a:schemeClr>
            </a:solidFill>
          </a:ln>
        </p:spPr>
        <p:txBody>
          <a:bodyPr wrap="square">
            <a:spAutoFit/>
          </a:bodyPr>
          <a:lstStyle/>
          <a:p>
            <a:pPr fontAlgn="base"/>
            <a:r>
              <a:rPr lang="ko-KR" altLang="en-US" sz="1400" dirty="0"/>
              <a:t>제</a:t>
            </a:r>
            <a:r>
              <a:rPr lang="en-US" altLang="ko-KR" sz="1400" dirty="0"/>
              <a:t>55</a:t>
            </a:r>
            <a:r>
              <a:rPr lang="ko-KR" altLang="en-US" sz="1400" dirty="0"/>
              <a:t>조제</a:t>
            </a:r>
            <a:r>
              <a:rPr lang="en-US" altLang="ko-KR" sz="1400" dirty="0"/>
              <a:t>1</a:t>
            </a:r>
            <a:r>
              <a:rPr lang="ko-KR" altLang="en-US" sz="1400" dirty="0"/>
              <a:t>항의 요건 中 </a:t>
            </a:r>
            <a:r>
              <a:rPr lang="ko-KR" altLang="en-US" sz="1400" dirty="0">
                <a:solidFill>
                  <a:srgbClr val="FF0000"/>
                </a:solidFill>
              </a:rPr>
              <a:t>우선기간 </a:t>
            </a:r>
            <a:r>
              <a:rPr lang="en-US" altLang="ko-KR" sz="1400" dirty="0">
                <a:solidFill>
                  <a:srgbClr val="FF0000"/>
                </a:solidFill>
              </a:rPr>
              <a:t>1</a:t>
            </a:r>
            <a:r>
              <a:rPr lang="ko-KR" altLang="en-US" sz="1400" dirty="0">
                <a:solidFill>
                  <a:srgbClr val="FF0000"/>
                </a:solidFill>
              </a:rPr>
              <a:t>년</a:t>
            </a:r>
            <a:r>
              <a:rPr lang="ko-KR" altLang="en-US" sz="1400" dirty="0"/>
              <a:t>의 판단시점은 </a:t>
            </a:r>
            <a:r>
              <a:rPr lang="ko-KR" altLang="en-US" sz="1400" dirty="0" err="1"/>
              <a:t>후출원</a:t>
            </a:r>
            <a:r>
              <a:rPr lang="en-US" altLang="ko-KR" sz="1400" dirty="0"/>
              <a:t>(W)</a:t>
            </a:r>
            <a:r>
              <a:rPr lang="ko-KR" altLang="en-US" sz="1400" dirty="0"/>
              <a:t> 시이고</a:t>
            </a:r>
            <a:r>
              <a:rPr lang="en-US" altLang="ko-KR" sz="1400" dirty="0"/>
              <a:t>, </a:t>
            </a:r>
            <a:r>
              <a:rPr lang="ko-KR" altLang="en-US" sz="1400" dirty="0" err="1">
                <a:solidFill>
                  <a:srgbClr val="FF0000"/>
                </a:solidFill>
              </a:rPr>
              <a:t>우선권주장출원할</a:t>
            </a:r>
            <a:r>
              <a:rPr lang="ko-KR" altLang="en-US" sz="1400" dirty="0">
                <a:solidFill>
                  <a:srgbClr val="FF0000"/>
                </a:solidFill>
              </a:rPr>
              <a:t> 때에 선출원이 무효</a:t>
            </a:r>
            <a:r>
              <a:rPr lang="en-US" altLang="ko-KR" sz="1400" dirty="0">
                <a:solidFill>
                  <a:srgbClr val="FF0000"/>
                </a:solidFill>
              </a:rPr>
              <a:t>, </a:t>
            </a:r>
            <a:r>
              <a:rPr lang="ko-KR" altLang="en-US" sz="1400" dirty="0">
                <a:solidFill>
                  <a:srgbClr val="FF0000"/>
                </a:solidFill>
              </a:rPr>
              <a:t>취하 또는 포기되거나 설정등록</a:t>
            </a:r>
            <a:r>
              <a:rPr lang="en-US" altLang="ko-KR" sz="1400" dirty="0">
                <a:solidFill>
                  <a:srgbClr val="FF0000"/>
                </a:solidFill>
              </a:rPr>
              <a:t>, </a:t>
            </a:r>
            <a:r>
              <a:rPr lang="ko-KR" altLang="en-US" sz="1400" dirty="0">
                <a:solidFill>
                  <a:srgbClr val="FF0000"/>
                </a:solidFill>
              </a:rPr>
              <a:t>거절결정이 확정되지 아니하였을 것</a:t>
            </a:r>
            <a:r>
              <a:rPr lang="ko-KR" altLang="en-US" sz="1400" dirty="0"/>
              <a:t>은 국내우선권주장의 보정 또는 추가시를 기준으로 판단한다</a:t>
            </a:r>
          </a:p>
        </p:txBody>
      </p:sp>
      <p:sp>
        <p:nvSpPr>
          <p:cNvPr id="70" name="모서리가 둥근 사각형 설명선 69"/>
          <p:cNvSpPr/>
          <p:nvPr/>
        </p:nvSpPr>
        <p:spPr>
          <a:xfrm>
            <a:off x="807803" y="4419751"/>
            <a:ext cx="1818603" cy="1048780"/>
          </a:xfrm>
          <a:prstGeom prst="wedgeRoundRectCallout">
            <a:avLst>
              <a:gd name="adj1" fmla="val -56681"/>
              <a:gd name="adj2" fmla="val -115103"/>
              <a:gd name="adj3" fmla="val 16667"/>
            </a:avLst>
          </a:prstGeom>
          <a:solidFill>
            <a:schemeClr val="accent1">
              <a:lumMod val="5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sz="1400" b="1" dirty="0"/>
              <a:t>(</a:t>
            </a:r>
            <a:r>
              <a:rPr lang="ko-KR" altLang="en-US" sz="1400" b="1" dirty="0"/>
              <a:t>최우선일</a:t>
            </a:r>
            <a:r>
              <a:rPr lang="en-US" altLang="ko-KR" sz="1400" b="1" dirty="0"/>
              <a:t>) </a:t>
            </a:r>
            <a:r>
              <a:rPr lang="ko-KR" altLang="en-US" sz="1400" dirty="0"/>
              <a:t>조약</a:t>
            </a:r>
            <a:r>
              <a:rPr lang="en-US" altLang="ko-KR" sz="1400" dirty="0"/>
              <a:t>/</a:t>
            </a:r>
            <a:r>
              <a:rPr lang="ko-KR" altLang="en-US" sz="1400" dirty="0"/>
              <a:t>국내우선권주장의 기초출원 중 가장 빠른 출원</a:t>
            </a:r>
          </a:p>
        </p:txBody>
      </p:sp>
      <p:sp>
        <p:nvSpPr>
          <p:cNvPr id="71" name="모서리가 둥근 사각형 설명선 70"/>
          <p:cNvSpPr/>
          <p:nvPr/>
        </p:nvSpPr>
        <p:spPr>
          <a:xfrm>
            <a:off x="6398868" y="4419751"/>
            <a:ext cx="2202825" cy="1048780"/>
          </a:xfrm>
          <a:prstGeom prst="wedgeRoundRectCallout">
            <a:avLst>
              <a:gd name="adj1" fmla="val 8032"/>
              <a:gd name="adj2" fmla="val -116718"/>
              <a:gd name="adj3" fmla="val 16667"/>
            </a:avLst>
          </a:prstGeom>
          <a:solidFill>
            <a:schemeClr val="accent1">
              <a:lumMod val="5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sz="1400" b="1" dirty="0"/>
              <a:t>(</a:t>
            </a:r>
            <a:r>
              <a:rPr lang="ko-KR" altLang="en-US" sz="1400" b="1" dirty="0"/>
              <a:t>최선출원일</a:t>
            </a:r>
            <a:r>
              <a:rPr lang="en-US" altLang="ko-KR" sz="1400" b="1" dirty="0"/>
              <a:t>) </a:t>
            </a:r>
            <a:r>
              <a:rPr lang="ko-KR" altLang="en-US" sz="1400" b="1" dirty="0"/>
              <a:t>국내</a:t>
            </a:r>
            <a:r>
              <a:rPr lang="ko-KR" altLang="en-US" sz="1400" dirty="0"/>
              <a:t>우선권주장의 기초출원 중 가장 빠른 출원</a:t>
            </a:r>
          </a:p>
        </p:txBody>
      </p:sp>
      <p:sp>
        <p:nvSpPr>
          <p:cNvPr id="2" name="슬라이드 번호 개체 틀 1"/>
          <p:cNvSpPr>
            <a:spLocks noGrp="1"/>
          </p:cNvSpPr>
          <p:nvPr>
            <p:ph type="sldNum" sz="quarter" idx="12"/>
          </p:nvPr>
        </p:nvSpPr>
        <p:spPr/>
        <p:txBody>
          <a:bodyPr/>
          <a:lstStyle/>
          <a:p>
            <a:r>
              <a:rPr lang="en-US" altLang="ko-KR"/>
              <a:t>235</a:t>
            </a:r>
            <a:endParaRPr lang="ko-KR" altLang="en-US"/>
          </a:p>
        </p:txBody>
      </p:sp>
      <p:sp>
        <p:nvSpPr>
          <p:cNvPr id="73" name="직사각형 72"/>
          <p:cNvSpPr/>
          <p:nvPr/>
        </p:nvSpPr>
        <p:spPr>
          <a:xfrm>
            <a:off x="8920462" y="1824734"/>
            <a:ext cx="918503"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b="1" dirty="0">
                <a:solidFill>
                  <a:srgbClr val="FF0000"/>
                </a:solidFill>
              </a:rPr>
              <a:t>1</a:t>
            </a:r>
            <a:r>
              <a:rPr lang="ko-KR" altLang="en-US" sz="1400" b="1" dirty="0">
                <a:solidFill>
                  <a:srgbClr val="FF0000"/>
                </a:solidFill>
              </a:rPr>
              <a:t>년 </a:t>
            </a:r>
            <a:r>
              <a:rPr lang="en-US" altLang="ko-KR" sz="1400" b="1" dirty="0">
                <a:solidFill>
                  <a:srgbClr val="FF0000"/>
                </a:solidFill>
              </a:rPr>
              <a:t>4</a:t>
            </a:r>
            <a:r>
              <a:rPr lang="ko-KR" altLang="en-US" sz="1400" b="1" dirty="0">
                <a:solidFill>
                  <a:srgbClr val="FF0000"/>
                </a:solidFill>
              </a:rPr>
              <a:t>개월</a:t>
            </a:r>
          </a:p>
        </p:txBody>
      </p:sp>
    </p:spTree>
    <p:extLst>
      <p:ext uri="{BB962C8B-B14F-4D97-AF65-F5344CB8AC3E}">
        <p14:creationId xmlns:p14="http://schemas.microsoft.com/office/powerpoint/2010/main" val="2852521582"/>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 name="양쪽 모서리가 둥근 사각형 100">
            <a:extLst>
              <a:ext uri="{FF2B5EF4-FFF2-40B4-BE49-F238E27FC236}">
                <a16:creationId xmlns:a16="http://schemas.microsoft.com/office/drawing/2014/main" id="{12E46635-744F-44D5-A4E6-5AE0D0327225}"/>
              </a:ext>
            </a:extLst>
          </p:cNvPr>
          <p:cNvSpPr/>
          <p:nvPr/>
        </p:nvSpPr>
        <p:spPr>
          <a:xfrm>
            <a:off x="8271641" y="5389970"/>
            <a:ext cx="2205179" cy="399366"/>
          </a:xfrm>
          <a:prstGeom prst="round2SameRect">
            <a:avLst>
              <a:gd name="adj1" fmla="val 50000"/>
              <a:gd name="adj2" fmla="val 0"/>
            </a:avLst>
          </a:prstGeom>
          <a:pattFill prst="lgGrid">
            <a:fgClr>
              <a:schemeClr val="accent2"/>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5" name="직선 연결선 104">
            <a:extLst>
              <a:ext uri="{FF2B5EF4-FFF2-40B4-BE49-F238E27FC236}">
                <a16:creationId xmlns:a16="http://schemas.microsoft.com/office/drawing/2014/main" id="{607819A0-BF0A-46B9-9BEB-8631E4152337}"/>
              </a:ext>
            </a:extLst>
          </p:cNvPr>
          <p:cNvCxnSpPr>
            <a:cxnSpLocks/>
          </p:cNvCxnSpPr>
          <p:nvPr/>
        </p:nvCxnSpPr>
        <p:spPr>
          <a:xfrm>
            <a:off x="8471263" y="1667143"/>
            <a:ext cx="0" cy="2264242"/>
          </a:xfrm>
          <a:prstGeom prst="line">
            <a:avLst/>
          </a:prstGeom>
          <a:ln w="38100">
            <a:solidFill>
              <a:srgbClr val="FF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 name="양쪽 모서리가 둥근 사각형 48">
            <a:extLst>
              <a:ext uri="{FF2B5EF4-FFF2-40B4-BE49-F238E27FC236}">
                <a16:creationId xmlns:a16="http://schemas.microsoft.com/office/drawing/2014/main" id="{F9DACA7E-D11E-4803-8246-ACBE25D0EB42}"/>
              </a:ext>
            </a:extLst>
          </p:cNvPr>
          <p:cNvSpPr/>
          <p:nvPr/>
        </p:nvSpPr>
        <p:spPr>
          <a:xfrm>
            <a:off x="5616498" y="2172822"/>
            <a:ext cx="5443138" cy="879282"/>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4" name="제목 3"/>
          <p:cNvSpPr>
            <a:spLocks noGrp="1"/>
          </p:cNvSpPr>
          <p:nvPr>
            <p:ph type="title"/>
          </p:nvPr>
        </p:nvSpPr>
        <p:spPr/>
        <p:txBody>
          <a:bodyPr/>
          <a:lstStyle/>
          <a:p>
            <a:r>
              <a:rPr lang="ko-KR" altLang="en-US" dirty="0"/>
              <a:t>제</a:t>
            </a:r>
            <a:r>
              <a:rPr lang="en-US" altLang="ko-KR" dirty="0"/>
              <a:t>55</a:t>
            </a:r>
            <a:r>
              <a:rPr lang="ko-KR" altLang="en-US" dirty="0"/>
              <a:t>조</a:t>
            </a:r>
            <a:r>
              <a:rPr lang="en-US" altLang="ko-KR" dirty="0"/>
              <a:t>, </a:t>
            </a:r>
            <a:r>
              <a:rPr lang="ko-KR" altLang="en-US" dirty="0"/>
              <a:t>제</a:t>
            </a:r>
            <a:r>
              <a:rPr lang="en-US" altLang="ko-KR" dirty="0"/>
              <a:t>56</a:t>
            </a:r>
            <a:r>
              <a:rPr lang="ko-KR" altLang="en-US" dirty="0"/>
              <a:t>조</a:t>
            </a:r>
          </a:p>
        </p:txBody>
      </p:sp>
      <p:sp>
        <p:nvSpPr>
          <p:cNvPr id="5" name="텍스트 개체 틀 4"/>
          <p:cNvSpPr>
            <a:spLocks noGrp="1"/>
          </p:cNvSpPr>
          <p:nvPr>
            <p:ph type="body" sz="quarter" idx="13"/>
          </p:nvPr>
        </p:nvSpPr>
        <p:spPr/>
        <p:txBody>
          <a:bodyPr/>
          <a:lstStyle/>
          <a:p>
            <a:r>
              <a:rPr lang="ko-KR" altLang="en-US" dirty="0" err="1"/>
              <a:t>국내우선권주장의</a:t>
            </a:r>
            <a:r>
              <a:rPr lang="ko-KR" altLang="en-US" dirty="0"/>
              <a:t> 보정 또는 추가</a:t>
            </a:r>
            <a:r>
              <a:rPr lang="en-US" altLang="ko-KR" dirty="0"/>
              <a:t>(</a:t>
            </a:r>
            <a:r>
              <a:rPr lang="ko-KR" altLang="en-US" dirty="0"/>
              <a:t>제</a:t>
            </a:r>
            <a:r>
              <a:rPr lang="en-US" altLang="ko-KR" dirty="0"/>
              <a:t>55</a:t>
            </a:r>
            <a:r>
              <a:rPr lang="ko-KR" altLang="en-US" dirty="0"/>
              <a:t>조제</a:t>
            </a:r>
            <a:r>
              <a:rPr lang="en-US" altLang="ko-KR" dirty="0"/>
              <a:t>7</a:t>
            </a:r>
            <a:r>
              <a:rPr lang="ko-KR" altLang="en-US" dirty="0"/>
              <a:t>항</a:t>
            </a:r>
            <a:r>
              <a:rPr lang="en-US" altLang="ko-KR" dirty="0"/>
              <a:t>)</a:t>
            </a:r>
          </a:p>
        </p:txBody>
      </p:sp>
      <p:sp>
        <p:nvSpPr>
          <p:cNvPr id="2" name="슬라이드 번호 개체 틀 1"/>
          <p:cNvSpPr>
            <a:spLocks noGrp="1"/>
          </p:cNvSpPr>
          <p:nvPr>
            <p:ph type="sldNum" sz="quarter" idx="12"/>
          </p:nvPr>
        </p:nvSpPr>
        <p:spPr/>
        <p:txBody>
          <a:bodyPr/>
          <a:lstStyle/>
          <a:p>
            <a:r>
              <a:rPr lang="en-US" altLang="ko-KR"/>
              <a:t>236</a:t>
            </a:r>
            <a:endParaRPr lang="ko-KR" altLang="en-US"/>
          </a:p>
        </p:txBody>
      </p:sp>
      <p:sp>
        <p:nvSpPr>
          <p:cNvPr id="3" name="직사각형 2">
            <a:extLst>
              <a:ext uri="{FF2B5EF4-FFF2-40B4-BE49-F238E27FC236}">
                <a16:creationId xmlns:a16="http://schemas.microsoft.com/office/drawing/2014/main" id="{F6778AFF-AAB5-4F0E-9A4D-3E481F59579C}"/>
              </a:ext>
            </a:extLst>
          </p:cNvPr>
          <p:cNvSpPr/>
          <p:nvPr/>
        </p:nvSpPr>
        <p:spPr>
          <a:xfrm>
            <a:off x="272769" y="2673841"/>
            <a:ext cx="1482459" cy="50568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특허법 </a:t>
            </a:r>
            <a:endParaRPr lang="en-US" altLang="ko-KR" sz="1400" dirty="0">
              <a:solidFill>
                <a:schemeClr val="tx1"/>
              </a:solidFill>
            </a:endParaRPr>
          </a:p>
          <a:p>
            <a:pPr algn="ctr"/>
            <a:r>
              <a:rPr lang="ko-KR" altLang="en-US" sz="1400" dirty="0">
                <a:solidFill>
                  <a:schemeClr val="tx1"/>
                </a:solidFill>
              </a:rPr>
              <a:t>제</a:t>
            </a:r>
            <a:r>
              <a:rPr lang="en-US" altLang="ko-KR" sz="1400" dirty="0">
                <a:solidFill>
                  <a:schemeClr val="tx1"/>
                </a:solidFill>
              </a:rPr>
              <a:t>55</a:t>
            </a:r>
            <a:r>
              <a:rPr lang="ko-KR" altLang="en-US" sz="1400" dirty="0">
                <a:solidFill>
                  <a:schemeClr val="tx1"/>
                </a:solidFill>
              </a:rPr>
              <a:t>조제</a:t>
            </a:r>
            <a:r>
              <a:rPr lang="en-US" altLang="ko-KR" sz="1400" dirty="0">
                <a:solidFill>
                  <a:schemeClr val="tx1"/>
                </a:solidFill>
              </a:rPr>
              <a:t>7</a:t>
            </a:r>
            <a:r>
              <a:rPr lang="ko-KR" altLang="en-US" sz="1400" dirty="0">
                <a:solidFill>
                  <a:schemeClr val="tx1"/>
                </a:solidFill>
              </a:rPr>
              <a:t>항</a:t>
            </a:r>
          </a:p>
        </p:txBody>
      </p:sp>
      <p:sp>
        <p:nvSpPr>
          <p:cNvPr id="74" name="직사각형 73">
            <a:extLst>
              <a:ext uri="{FF2B5EF4-FFF2-40B4-BE49-F238E27FC236}">
                <a16:creationId xmlns:a16="http://schemas.microsoft.com/office/drawing/2014/main" id="{9D3BA783-E094-401A-BE40-D121301993E9}"/>
              </a:ext>
            </a:extLst>
          </p:cNvPr>
          <p:cNvSpPr/>
          <p:nvPr/>
        </p:nvSpPr>
        <p:spPr>
          <a:xfrm>
            <a:off x="2698126" y="1144906"/>
            <a:ext cx="1482459" cy="50568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특허법 </a:t>
            </a:r>
            <a:endParaRPr lang="en-US" altLang="ko-KR" sz="1400" dirty="0">
              <a:solidFill>
                <a:schemeClr val="tx1"/>
              </a:solidFill>
            </a:endParaRPr>
          </a:p>
          <a:p>
            <a:pPr algn="ctr"/>
            <a:r>
              <a:rPr lang="ko-KR" altLang="en-US" sz="1400" dirty="0">
                <a:solidFill>
                  <a:schemeClr val="tx1"/>
                </a:solidFill>
              </a:rPr>
              <a:t>제</a:t>
            </a:r>
            <a:r>
              <a:rPr lang="en-US" altLang="ko-KR" sz="1400" dirty="0">
                <a:solidFill>
                  <a:schemeClr val="tx1"/>
                </a:solidFill>
              </a:rPr>
              <a:t>54</a:t>
            </a:r>
            <a:r>
              <a:rPr lang="ko-KR" altLang="en-US" sz="1400" dirty="0">
                <a:solidFill>
                  <a:schemeClr val="tx1"/>
                </a:solidFill>
              </a:rPr>
              <a:t>조제</a:t>
            </a:r>
            <a:r>
              <a:rPr lang="en-US" altLang="ko-KR" sz="1400" dirty="0">
                <a:solidFill>
                  <a:schemeClr val="tx1"/>
                </a:solidFill>
              </a:rPr>
              <a:t>7</a:t>
            </a:r>
            <a:r>
              <a:rPr lang="ko-KR" altLang="en-US" sz="1400" dirty="0">
                <a:solidFill>
                  <a:schemeClr val="tx1"/>
                </a:solidFill>
              </a:rPr>
              <a:t>항</a:t>
            </a:r>
          </a:p>
        </p:txBody>
      </p:sp>
      <p:sp>
        <p:nvSpPr>
          <p:cNvPr id="75" name="직사각형 74">
            <a:extLst>
              <a:ext uri="{FF2B5EF4-FFF2-40B4-BE49-F238E27FC236}">
                <a16:creationId xmlns:a16="http://schemas.microsoft.com/office/drawing/2014/main" id="{7BE9AB4F-8E10-4B73-A596-D9ADC8992E54}"/>
              </a:ext>
            </a:extLst>
          </p:cNvPr>
          <p:cNvSpPr/>
          <p:nvPr/>
        </p:nvSpPr>
        <p:spPr>
          <a:xfrm>
            <a:off x="2698126" y="2270677"/>
            <a:ext cx="1482459" cy="50568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특허법 </a:t>
            </a:r>
            <a:endParaRPr lang="en-US" altLang="ko-KR" sz="1400" dirty="0">
              <a:solidFill>
                <a:schemeClr val="tx1"/>
              </a:solidFill>
            </a:endParaRPr>
          </a:p>
          <a:p>
            <a:pPr algn="ctr"/>
            <a:r>
              <a:rPr lang="ko-KR" altLang="en-US" sz="1400" dirty="0">
                <a:solidFill>
                  <a:schemeClr val="tx1"/>
                </a:solidFill>
              </a:rPr>
              <a:t>제</a:t>
            </a:r>
            <a:r>
              <a:rPr lang="en-US" altLang="ko-KR" sz="1400" dirty="0">
                <a:solidFill>
                  <a:schemeClr val="tx1"/>
                </a:solidFill>
              </a:rPr>
              <a:t>56</a:t>
            </a:r>
            <a:r>
              <a:rPr lang="ko-KR" altLang="en-US" sz="1400" dirty="0">
                <a:solidFill>
                  <a:schemeClr val="tx1"/>
                </a:solidFill>
              </a:rPr>
              <a:t>조제</a:t>
            </a:r>
            <a:r>
              <a:rPr lang="en-US" altLang="ko-KR" sz="1400" dirty="0">
                <a:solidFill>
                  <a:schemeClr val="tx1"/>
                </a:solidFill>
              </a:rPr>
              <a:t>2</a:t>
            </a:r>
            <a:r>
              <a:rPr lang="ko-KR" altLang="en-US" sz="1400" dirty="0">
                <a:solidFill>
                  <a:schemeClr val="tx1"/>
                </a:solidFill>
              </a:rPr>
              <a:t>항</a:t>
            </a:r>
          </a:p>
        </p:txBody>
      </p:sp>
      <p:sp>
        <p:nvSpPr>
          <p:cNvPr id="76" name="직사각형 75">
            <a:extLst>
              <a:ext uri="{FF2B5EF4-FFF2-40B4-BE49-F238E27FC236}">
                <a16:creationId xmlns:a16="http://schemas.microsoft.com/office/drawing/2014/main" id="{DAB4AC11-113A-4EE5-94DF-DE20B683DF4A}"/>
              </a:ext>
            </a:extLst>
          </p:cNvPr>
          <p:cNvSpPr/>
          <p:nvPr/>
        </p:nvSpPr>
        <p:spPr>
          <a:xfrm>
            <a:off x="2698126" y="4895586"/>
            <a:ext cx="1482459" cy="505680"/>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lumMod val="95000"/>
                  </a:schemeClr>
                </a:solidFill>
              </a:rPr>
              <a:t>특허법 </a:t>
            </a:r>
            <a:endParaRPr lang="en-US" altLang="ko-KR" sz="1400" dirty="0">
              <a:solidFill>
                <a:schemeClr val="bg1">
                  <a:lumMod val="95000"/>
                </a:schemeClr>
              </a:solidFill>
            </a:endParaRPr>
          </a:p>
          <a:p>
            <a:pPr algn="ctr"/>
            <a:r>
              <a:rPr lang="ko-KR" altLang="en-US" sz="1400" dirty="0">
                <a:solidFill>
                  <a:schemeClr val="bg1">
                    <a:lumMod val="95000"/>
                  </a:schemeClr>
                </a:solidFill>
              </a:rPr>
              <a:t>제</a:t>
            </a:r>
            <a:r>
              <a:rPr lang="en-US" altLang="ko-KR" sz="1400" dirty="0">
                <a:solidFill>
                  <a:schemeClr val="bg1">
                    <a:lumMod val="95000"/>
                  </a:schemeClr>
                </a:solidFill>
              </a:rPr>
              <a:t>55</a:t>
            </a:r>
            <a:r>
              <a:rPr lang="ko-KR" altLang="en-US" sz="1400" dirty="0">
                <a:solidFill>
                  <a:schemeClr val="bg1">
                    <a:lumMod val="95000"/>
                  </a:schemeClr>
                </a:solidFill>
              </a:rPr>
              <a:t>조제</a:t>
            </a:r>
            <a:r>
              <a:rPr lang="en-US" altLang="ko-KR" sz="1400" dirty="0">
                <a:solidFill>
                  <a:schemeClr val="bg1">
                    <a:lumMod val="95000"/>
                  </a:schemeClr>
                </a:solidFill>
              </a:rPr>
              <a:t>1</a:t>
            </a:r>
            <a:r>
              <a:rPr lang="ko-KR" altLang="en-US" sz="1400" dirty="0">
                <a:solidFill>
                  <a:schemeClr val="bg1">
                    <a:lumMod val="95000"/>
                  </a:schemeClr>
                </a:solidFill>
              </a:rPr>
              <a:t>항</a:t>
            </a:r>
          </a:p>
        </p:txBody>
      </p:sp>
      <p:cxnSp>
        <p:nvCxnSpPr>
          <p:cNvPr id="8" name="연결선: 꺾임 7">
            <a:extLst>
              <a:ext uri="{FF2B5EF4-FFF2-40B4-BE49-F238E27FC236}">
                <a16:creationId xmlns:a16="http://schemas.microsoft.com/office/drawing/2014/main" id="{3EEDC9E0-808A-43E6-89E2-39A492E818C6}"/>
              </a:ext>
            </a:extLst>
          </p:cNvPr>
          <p:cNvCxnSpPr>
            <a:stCxn id="3" idx="0"/>
            <a:endCxn id="74" idx="1"/>
          </p:cNvCxnSpPr>
          <p:nvPr/>
        </p:nvCxnSpPr>
        <p:spPr>
          <a:xfrm rot="5400000" flipH="1" flipV="1">
            <a:off x="1218015" y="1193731"/>
            <a:ext cx="1276095" cy="1684127"/>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연결선: 꺾임 9">
            <a:extLst>
              <a:ext uri="{FF2B5EF4-FFF2-40B4-BE49-F238E27FC236}">
                <a16:creationId xmlns:a16="http://schemas.microsoft.com/office/drawing/2014/main" id="{4D2CE42F-57EF-4A0F-986A-B2D54A438B37}"/>
              </a:ext>
            </a:extLst>
          </p:cNvPr>
          <p:cNvCxnSpPr>
            <a:stCxn id="3" idx="3"/>
            <a:endCxn id="75" idx="1"/>
          </p:cNvCxnSpPr>
          <p:nvPr/>
        </p:nvCxnSpPr>
        <p:spPr>
          <a:xfrm flipV="1">
            <a:off x="1755228" y="2523517"/>
            <a:ext cx="942898" cy="403164"/>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연결선: 꺾임 25">
            <a:extLst>
              <a:ext uri="{FF2B5EF4-FFF2-40B4-BE49-F238E27FC236}">
                <a16:creationId xmlns:a16="http://schemas.microsoft.com/office/drawing/2014/main" id="{6AFFC878-EA0E-436F-BC4B-0073901D8A94}"/>
              </a:ext>
            </a:extLst>
          </p:cNvPr>
          <p:cNvCxnSpPr>
            <a:stCxn id="3" idx="2"/>
            <a:endCxn id="76" idx="1"/>
          </p:cNvCxnSpPr>
          <p:nvPr/>
        </p:nvCxnSpPr>
        <p:spPr>
          <a:xfrm rot="16200000" flipH="1">
            <a:off x="871610" y="3321909"/>
            <a:ext cx="1968905" cy="1684127"/>
          </a:xfrm>
          <a:prstGeom prst="bentConnector2">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C1DB9230-061F-475D-B5B2-99E6559DFC69}"/>
              </a:ext>
            </a:extLst>
          </p:cNvPr>
          <p:cNvSpPr txBox="1"/>
          <p:nvPr/>
        </p:nvSpPr>
        <p:spPr>
          <a:xfrm>
            <a:off x="1788139" y="1020810"/>
            <a:ext cx="601447" cy="369332"/>
          </a:xfrm>
          <a:prstGeom prst="rect">
            <a:avLst/>
          </a:prstGeom>
          <a:noFill/>
        </p:spPr>
        <p:txBody>
          <a:bodyPr wrap="none" rtlCol="0">
            <a:spAutoFit/>
          </a:bodyPr>
          <a:lstStyle/>
          <a:p>
            <a:r>
              <a:rPr lang="ko-KR" altLang="en-US" dirty="0"/>
              <a:t>비교</a:t>
            </a:r>
          </a:p>
        </p:txBody>
      </p:sp>
      <p:sp>
        <p:nvSpPr>
          <p:cNvPr id="77" name="TextBox 76">
            <a:extLst>
              <a:ext uri="{FF2B5EF4-FFF2-40B4-BE49-F238E27FC236}">
                <a16:creationId xmlns:a16="http://schemas.microsoft.com/office/drawing/2014/main" id="{33A1A9B6-5303-43CB-9DB3-E5E0F7B8E2D3}"/>
              </a:ext>
            </a:extLst>
          </p:cNvPr>
          <p:cNvSpPr txBox="1"/>
          <p:nvPr/>
        </p:nvSpPr>
        <p:spPr>
          <a:xfrm>
            <a:off x="1795956" y="2098711"/>
            <a:ext cx="601447" cy="369332"/>
          </a:xfrm>
          <a:prstGeom prst="rect">
            <a:avLst/>
          </a:prstGeom>
          <a:noFill/>
        </p:spPr>
        <p:txBody>
          <a:bodyPr wrap="none" rtlCol="0">
            <a:spAutoFit/>
          </a:bodyPr>
          <a:lstStyle/>
          <a:p>
            <a:r>
              <a:rPr lang="ko-KR" altLang="en-US" dirty="0"/>
              <a:t>제한</a:t>
            </a:r>
          </a:p>
        </p:txBody>
      </p:sp>
      <p:sp>
        <p:nvSpPr>
          <p:cNvPr id="78" name="TextBox 77">
            <a:extLst>
              <a:ext uri="{FF2B5EF4-FFF2-40B4-BE49-F238E27FC236}">
                <a16:creationId xmlns:a16="http://schemas.microsoft.com/office/drawing/2014/main" id="{77E677BE-2E87-493B-9641-F215944443C9}"/>
              </a:ext>
            </a:extLst>
          </p:cNvPr>
          <p:cNvSpPr txBox="1"/>
          <p:nvPr/>
        </p:nvSpPr>
        <p:spPr>
          <a:xfrm>
            <a:off x="1115054" y="4480088"/>
            <a:ext cx="1642311" cy="646331"/>
          </a:xfrm>
          <a:prstGeom prst="rect">
            <a:avLst/>
          </a:prstGeom>
          <a:noFill/>
        </p:spPr>
        <p:txBody>
          <a:bodyPr wrap="square" rtlCol="0">
            <a:spAutoFit/>
          </a:bodyPr>
          <a:lstStyle/>
          <a:p>
            <a:r>
              <a:rPr lang="ko-KR" altLang="en-US" dirty="0"/>
              <a:t>보정</a:t>
            </a:r>
            <a:r>
              <a:rPr lang="en-US" altLang="ko-KR" dirty="0"/>
              <a:t>/</a:t>
            </a:r>
            <a:r>
              <a:rPr lang="ko-KR" altLang="en-US" dirty="0"/>
              <a:t>추가출원</a:t>
            </a:r>
            <a:endParaRPr lang="en-US" altLang="ko-KR" dirty="0"/>
          </a:p>
          <a:p>
            <a:r>
              <a:rPr lang="ko-KR" altLang="en-US" dirty="0"/>
              <a:t>제</a:t>
            </a:r>
            <a:r>
              <a:rPr lang="en-US" altLang="ko-KR" dirty="0"/>
              <a:t>1</a:t>
            </a:r>
            <a:r>
              <a:rPr lang="ko-KR" altLang="en-US" dirty="0" err="1"/>
              <a:t>항요건</a:t>
            </a:r>
            <a:r>
              <a:rPr lang="ko-KR" altLang="en-US" dirty="0"/>
              <a:t> 충족</a:t>
            </a:r>
          </a:p>
        </p:txBody>
      </p:sp>
      <p:sp>
        <p:nvSpPr>
          <p:cNvPr id="28" name="TextBox 27">
            <a:extLst>
              <a:ext uri="{FF2B5EF4-FFF2-40B4-BE49-F238E27FC236}">
                <a16:creationId xmlns:a16="http://schemas.microsoft.com/office/drawing/2014/main" id="{A954A141-62F8-4DD4-A2B5-C5A00ADC4423}"/>
              </a:ext>
            </a:extLst>
          </p:cNvPr>
          <p:cNvSpPr txBox="1"/>
          <p:nvPr/>
        </p:nvSpPr>
        <p:spPr>
          <a:xfrm>
            <a:off x="2626810" y="5799213"/>
            <a:ext cx="1407758" cy="830997"/>
          </a:xfrm>
          <a:prstGeom prst="wedgeRectCallout">
            <a:avLst>
              <a:gd name="adj1" fmla="val 6735"/>
              <a:gd name="adj2" fmla="val -92997"/>
            </a:avLst>
          </a:prstGeom>
          <a:noFill/>
          <a:ln>
            <a:solidFill>
              <a:schemeClr val="bg1">
                <a:lumMod val="50000"/>
              </a:schemeClr>
            </a:solidFill>
          </a:ln>
        </p:spPr>
        <p:txBody>
          <a:bodyPr wrap="none" rtlCol="0">
            <a:spAutoFit/>
          </a:bodyPr>
          <a:lstStyle/>
          <a:p>
            <a:r>
              <a:rPr lang="en-US" altLang="ko-KR" sz="1200" dirty="0"/>
              <a:t>1. </a:t>
            </a:r>
            <a:r>
              <a:rPr lang="ko-KR" altLang="en-US" sz="1200" dirty="0" err="1"/>
              <a:t>후출원시</a:t>
            </a:r>
            <a:endParaRPr lang="en-US" altLang="ko-KR" sz="1200" dirty="0"/>
          </a:p>
          <a:p>
            <a:r>
              <a:rPr lang="en-US" altLang="ko-KR" sz="1200" dirty="0"/>
              <a:t>2.</a:t>
            </a:r>
          </a:p>
          <a:p>
            <a:r>
              <a:rPr lang="en-US" altLang="ko-KR" sz="1200" dirty="0"/>
              <a:t>3. </a:t>
            </a:r>
            <a:r>
              <a:rPr lang="ko-KR" altLang="en-US" sz="1200" dirty="0"/>
              <a:t>보정 또는 </a:t>
            </a:r>
            <a:r>
              <a:rPr lang="ko-KR" altLang="en-US" sz="1200" dirty="0" err="1"/>
              <a:t>추가시</a:t>
            </a:r>
            <a:endParaRPr lang="en-US" altLang="ko-KR" sz="1200" dirty="0"/>
          </a:p>
          <a:p>
            <a:r>
              <a:rPr lang="en-US" altLang="ko-KR" sz="1200" dirty="0"/>
              <a:t>4. </a:t>
            </a:r>
            <a:r>
              <a:rPr lang="ko-KR" altLang="en-US" sz="1200" dirty="0"/>
              <a:t>보정 또는 </a:t>
            </a:r>
            <a:r>
              <a:rPr lang="ko-KR" altLang="en-US" sz="1200" dirty="0" err="1"/>
              <a:t>추가시</a:t>
            </a:r>
            <a:endParaRPr lang="ko-KR" altLang="en-US" sz="1200" dirty="0"/>
          </a:p>
        </p:txBody>
      </p:sp>
      <p:sp>
        <p:nvSpPr>
          <p:cNvPr id="81" name="양쪽 모서리가 둥근 사각형 46">
            <a:extLst>
              <a:ext uri="{FF2B5EF4-FFF2-40B4-BE49-F238E27FC236}">
                <a16:creationId xmlns:a16="http://schemas.microsoft.com/office/drawing/2014/main" id="{4EB8C2FF-4087-4180-A0CB-F4C30715C09C}"/>
              </a:ext>
            </a:extLst>
          </p:cNvPr>
          <p:cNvSpPr/>
          <p:nvPr/>
        </p:nvSpPr>
        <p:spPr>
          <a:xfrm>
            <a:off x="5612527" y="2557663"/>
            <a:ext cx="2858736" cy="495596"/>
          </a:xfrm>
          <a:prstGeom prst="round2Same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cxnSp>
        <p:nvCxnSpPr>
          <p:cNvPr id="83" name="직선 연결선 82">
            <a:extLst>
              <a:ext uri="{FF2B5EF4-FFF2-40B4-BE49-F238E27FC236}">
                <a16:creationId xmlns:a16="http://schemas.microsoft.com/office/drawing/2014/main" id="{66BC89F8-E5E7-43F7-812E-94CD8EDAE9F1}"/>
              </a:ext>
            </a:extLst>
          </p:cNvPr>
          <p:cNvCxnSpPr>
            <a:cxnSpLocks/>
          </p:cNvCxnSpPr>
          <p:nvPr/>
        </p:nvCxnSpPr>
        <p:spPr>
          <a:xfrm>
            <a:off x="4770035" y="3053260"/>
            <a:ext cx="704359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5" name="직사각형 84">
            <a:extLst>
              <a:ext uri="{FF2B5EF4-FFF2-40B4-BE49-F238E27FC236}">
                <a16:creationId xmlns:a16="http://schemas.microsoft.com/office/drawing/2014/main" id="{257C74FC-6935-4035-A040-8A7A08C7F3AD}"/>
              </a:ext>
            </a:extLst>
          </p:cNvPr>
          <p:cNvSpPr/>
          <p:nvPr/>
        </p:nvSpPr>
        <p:spPr>
          <a:xfrm>
            <a:off x="7829710" y="2911497"/>
            <a:ext cx="1283108" cy="34670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(Z)</a:t>
            </a:r>
            <a:endParaRPr lang="ko-KR" altLang="en-US" sz="1000" dirty="0">
              <a:solidFill>
                <a:schemeClr val="tx1"/>
              </a:solidFill>
            </a:endParaRPr>
          </a:p>
        </p:txBody>
      </p:sp>
      <p:sp>
        <p:nvSpPr>
          <p:cNvPr id="86" name="직사각형 85">
            <a:extLst>
              <a:ext uri="{FF2B5EF4-FFF2-40B4-BE49-F238E27FC236}">
                <a16:creationId xmlns:a16="http://schemas.microsoft.com/office/drawing/2014/main" id="{7ACC5971-4076-4AE3-9BA3-B47B5DBD2808}"/>
              </a:ext>
            </a:extLst>
          </p:cNvPr>
          <p:cNvSpPr/>
          <p:nvPr/>
        </p:nvSpPr>
        <p:spPr>
          <a:xfrm>
            <a:off x="5089895" y="2911497"/>
            <a:ext cx="918503" cy="346704"/>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한국출원</a:t>
            </a:r>
            <a:r>
              <a:rPr lang="en-US" altLang="ko-KR" sz="1000" dirty="0">
                <a:solidFill>
                  <a:schemeClr val="tx1"/>
                </a:solidFill>
              </a:rPr>
              <a:t>(X)</a:t>
            </a:r>
            <a:endParaRPr lang="ko-KR" altLang="en-US" sz="1000" dirty="0">
              <a:solidFill>
                <a:schemeClr val="tx1"/>
              </a:solidFill>
            </a:endParaRPr>
          </a:p>
        </p:txBody>
      </p:sp>
      <p:sp>
        <p:nvSpPr>
          <p:cNvPr id="87" name="직사각형 86">
            <a:extLst>
              <a:ext uri="{FF2B5EF4-FFF2-40B4-BE49-F238E27FC236}">
                <a16:creationId xmlns:a16="http://schemas.microsoft.com/office/drawing/2014/main" id="{F984A042-27CF-40B8-A452-B7D66A6DB916}"/>
              </a:ext>
            </a:extLst>
          </p:cNvPr>
          <p:cNvSpPr/>
          <p:nvPr/>
        </p:nvSpPr>
        <p:spPr>
          <a:xfrm>
            <a:off x="7829710" y="3258083"/>
            <a:ext cx="1283108" cy="34670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Y </a:t>
            </a:r>
            <a:r>
              <a:rPr lang="ko-KR" altLang="en-US" sz="1000" dirty="0">
                <a:solidFill>
                  <a:schemeClr val="tx1"/>
                </a:solidFill>
              </a:rPr>
              <a:t>기초 </a:t>
            </a:r>
            <a:r>
              <a:rPr lang="ko-KR" altLang="en-US" sz="1000" dirty="0" err="1">
                <a:solidFill>
                  <a:schemeClr val="tx1"/>
                </a:solidFill>
              </a:rPr>
              <a:t>우선권주장</a:t>
            </a:r>
            <a:endParaRPr lang="ko-KR" altLang="en-US" sz="1000" dirty="0">
              <a:solidFill>
                <a:schemeClr val="tx1"/>
              </a:solidFill>
            </a:endParaRPr>
          </a:p>
        </p:txBody>
      </p:sp>
      <p:sp>
        <p:nvSpPr>
          <p:cNvPr id="97" name="직사각형 96">
            <a:extLst>
              <a:ext uri="{FF2B5EF4-FFF2-40B4-BE49-F238E27FC236}">
                <a16:creationId xmlns:a16="http://schemas.microsoft.com/office/drawing/2014/main" id="{12503FE0-9AE0-4001-8B26-916348C050C3}"/>
              </a:ext>
            </a:extLst>
          </p:cNvPr>
          <p:cNvSpPr/>
          <p:nvPr/>
        </p:nvSpPr>
        <p:spPr>
          <a:xfrm>
            <a:off x="6441227" y="2911497"/>
            <a:ext cx="918503" cy="346704"/>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한국출원</a:t>
            </a:r>
            <a:r>
              <a:rPr lang="en-US" altLang="ko-KR" sz="1000" dirty="0">
                <a:solidFill>
                  <a:schemeClr val="tx1"/>
                </a:solidFill>
              </a:rPr>
              <a:t>(Y)</a:t>
            </a:r>
            <a:endParaRPr lang="ko-KR" altLang="en-US" sz="1000" dirty="0">
              <a:solidFill>
                <a:schemeClr val="tx1"/>
              </a:solidFill>
            </a:endParaRPr>
          </a:p>
        </p:txBody>
      </p:sp>
      <p:sp>
        <p:nvSpPr>
          <p:cNvPr id="100" name="직사각형 99">
            <a:extLst>
              <a:ext uri="{FF2B5EF4-FFF2-40B4-BE49-F238E27FC236}">
                <a16:creationId xmlns:a16="http://schemas.microsoft.com/office/drawing/2014/main" id="{DB70293C-85CF-4FBB-8C12-2B9A884F227F}"/>
              </a:ext>
            </a:extLst>
          </p:cNvPr>
          <p:cNvSpPr/>
          <p:nvPr/>
        </p:nvSpPr>
        <p:spPr>
          <a:xfrm>
            <a:off x="6853505" y="2274137"/>
            <a:ext cx="918503"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a:t>
            </a:r>
            <a:r>
              <a:rPr lang="ko-KR" altLang="en-US" sz="1000" dirty="0">
                <a:solidFill>
                  <a:schemeClr val="tx1"/>
                </a:solidFill>
              </a:rPr>
              <a:t>년 이내</a:t>
            </a:r>
          </a:p>
        </p:txBody>
      </p:sp>
      <p:sp>
        <p:nvSpPr>
          <p:cNvPr id="34" name="직사각형 33">
            <a:extLst>
              <a:ext uri="{FF2B5EF4-FFF2-40B4-BE49-F238E27FC236}">
                <a16:creationId xmlns:a16="http://schemas.microsoft.com/office/drawing/2014/main" id="{D0716111-3F96-4F6A-80D7-46FC93892EA3}"/>
              </a:ext>
            </a:extLst>
          </p:cNvPr>
          <p:cNvSpPr/>
          <p:nvPr/>
        </p:nvSpPr>
        <p:spPr>
          <a:xfrm>
            <a:off x="7916827" y="1889296"/>
            <a:ext cx="918503" cy="2835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rPr>
              <a:t>1</a:t>
            </a:r>
            <a:r>
              <a:rPr lang="ko-KR" altLang="en-US" sz="1050" dirty="0">
                <a:solidFill>
                  <a:schemeClr val="tx1"/>
                </a:solidFill>
              </a:rPr>
              <a:t>년 </a:t>
            </a:r>
            <a:r>
              <a:rPr lang="en-US" altLang="ko-KR" sz="1050" dirty="0">
                <a:solidFill>
                  <a:schemeClr val="tx1"/>
                </a:solidFill>
              </a:rPr>
              <a:t>4</a:t>
            </a:r>
            <a:r>
              <a:rPr lang="ko-KR" altLang="en-US" sz="1050" dirty="0">
                <a:solidFill>
                  <a:schemeClr val="tx1"/>
                </a:solidFill>
              </a:rPr>
              <a:t>개월</a:t>
            </a:r>
          </a:p>
        </p:txBody>
      </p:sp>
      <p:cxnSp>
        <p:nvCxnSpPr>
          <p:cNvPr id="107" name="직선 연결선 106">
            <a:extLst>
              <a:ext uri="{FF2B5EF4-FFF2-40B4-BE49-F238E27FC236}">
                <a16:creationId xmlns:a16="http://schemas.microsoft.com/office/drawing/2014/main" id="{95FEE975-3C6C-44D0-BDF5-79E5B7314286}"/>
              </a:ext>
            </a:extLst>
          </p:cNvPr>
          <p:cNvCxnSpPr>
            <a:cxnSpLocks/>
          </p:cNvCxnSpPr>
          <p:nvPr/>
        </p:nvCxnSpPr>
        <p:spPr>
          <a:xfrm>
            <a:off x="10142408" y="1667143"/>
            <a:ext cx="0" cy="2264242"/>
          </a:xfrm>
          <a:prstGeom prst="line">
            <a:avLst/>
          </a:prstGeom>
          <a:ln w="38100">
            <a:solidFill>
              <a:srgbClr val="FF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8" name="직사각형 107">
            <a:extLst>
              <a:ext uri="{FF2B5EF4-FFF2-40B4-BE49-F238E27FC236}">
                <a16:creationId xmlns:a16="http://schemas.microsoft.com/office/drawing/2014/main" id="{631C841A-0D7F-4B7C-B398-22258AD6E913}"/>
              </a:ext>
            </a:extLst>
          </p:cNvPr>
          <p:cNvSpPr/>
          <p:nvPr/>
        </p:nvSpPr>
        <p:spPr>
          <a:xfrm rot="10800000" flipV="1">
            <a:off x="7734657" y="1184252"/>
            <a:ext cx="1473214" cy="5809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rgbClr val="FF0000"/>
                </a:solidFill>
              </a:rPr>
              <a:t>Z </a:t>
            </a:r>
            <a:r>
              <a:rPr lang="ko-KR" altLang="en-US" sz="1200" dirty="0" err="1">
                <a:solidFill>
                  <a:srgbClr val="FF0000"/>
                </a:solidFill>
              </a:rPr>
              <a:t>출원시</a:t>
            </a:r>
            <a:r>
              <a:rPr lang="ko-KR" altLang="en-US" sz="1200" dirty="0">
                <a:solidFill>
                  <a:srgbClr val="FF0000"/>
                </a:solidFill>
              </a:rPr>
              <a:t> 제</a:t>
            </a:r>
            <a:r>
              <a:rPr lang="en-US" altLang="ko-KR" sz="1200" dirty="0">
                <a:solidFill>
                  <a:srgbClr val="FF0000"/>
                </a:solidFill>
              </a:rPr>
              <a:t>55</a:t>
            </a:r>
            <a:r>
              <a:rPr lang="ko-KR" altLang="en-US" sz="1200" dirty="0">
                <a:solidFill>
                  <a:srgbClr val="FF0000"/>
                </a:solidFill>
              </a:rPr>
              <a:t>조 제</a:t>
            </a:r>
            <a:r>
              <a:rPr lang="en-US" altLang="ko-KR" sz="1200" dirty="0">
                <a:solidFill>
                  <a:srgbClr val="FF0000"/>
                </a:solidFill>
              </a:rPr>
              <a:t>1</a:t>
            </a:r>
            <a:r>
              <a:rPr lang="ko-KR" altLang="en-US" sz="1200" dirty="0">
                <a:solidFill>
                  <a:srgbClr val="FF0000"/>
                </a:solidFill>
              </a:rPr>
              <a:t>항 제</a:t>
            </a:r>
            <a:r>
              <a:rPr lang="en-US" altLang="ko-KR" sz="1200" dirty="0">
                <a:solidFill>
                  <a:srgbClr val="FF0000"/>
                </a:solidFill>
              </a:rPr>
              <a:t>1</a:t>
            </a:r>
            <a:r>
              <a:rPr lang="ko-KR" altLang="en-US" sz="1200" dirty="0">
                <a:solidFill>
                  <a:srgbClr val="FF0000"/>
                </a:solidFill>
              </a:rPr>
              <a:t>호</a:t>
            </a:r>
            <a:r>
              <a:rPr lang="en-US" altLang="ko-KR" sz="1200" dirty="0">
                <a:solidFill>
                  <a:srgbClr val="FF0000"/>
                </a:solidFill>
              </a:rPr>
              <a:t> </a:t>
            </a:r>
            <a:r>
              <a:rPr lang="ko-KR" altLang="en-US" sz="1200" dirty="0">
                <a:solidFill>
                  <a:srgbClr val="FF0000"/>
                </a:solidFill>
              </a:rPr>
              <a:t>충족</a:t>
            </a:r>
          </a:p>
        </p:txBody>
      </p:sp>
      <p:sp>
        <p:nvSpPr>
          <p:cNvPr id="109" name="직사각형 108">
            <a:extLst>
              <a:ext uri="{FF2B5EF4-FFF2-40B4-BE49-F238E27FC236}">
                <a16:creationId xmlns:a16="http://schemas.microsoft.com/office/drawing/2014/main" id="{BB16AF8D-1495-4C40-A3A8-1193CDE59D5E}"/>
              </a:ext>
            </a:extLst>
          </p:cNvPr>
          <p:cNvSpPr/>
          <p:nvPr/>
        </p:nvSpPr>
        <p:spPr>
          <a:xfrm>
            <a:off x="9225188" y="1301371"/>
            <a:ext cx="1834440" cy="3467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rPr>
              <a:t>보정</a:t>
            </a:r>
            <a:r>
              <a:rPr lang="en-US" altLang="ko-KR" sz="1200" dirty="0">
                <a:solidFill>
                  <a:srgbClr val="FF0000"/>
                </a:solidFill>
              </a:rPr>
              <a:t>/</a:t>
            </a:r>
            <a:r>
              <a:rPr lang="ko-KR" altLang="en-US" sz="1200" dirty="0" err="1">
                <a:solidFill>
                  <a:srgbClr val="FF0000"/>
                </a:solidFill>
              </a:rPr>
              <a:t>추가시</a:t>
            </a:r>
            <a:r>
              <a:rPr lang="ko-KR" altLang="en-US" sz="1200" dirty="0">
                <a:solidFill>
                  <a:srgbClr val="FF0000"/>
                </a:solidFill>
              </a:rPr>
              <a:t> 제</a:t>
            </a:r>
            <a:r>
              <a:rPr lang="en-US" altLang="ko-KR" sz="1200" dirty="0">
                <a:solidFill>
                  <a:srgbClr val="FF0000"/>
                </a:solidFill>
              </a:rPr>
              <a:t>55</a:t>
            </a:r>
            <a:r>
              <a:rPr lang="ko-KR" altLang="en-US" sz="1200" dirty="0">
                <a:solidFill>
                  <a:srgbClr val="FF0000"/>
                </a:solidFill>
              </a:rPr>
              <a:t>조 </a:t>
            </a:r>
            <a:endParaRPr lang="en-US" altLang="ko-KR" sz="1200" dirty="0">
              <a:solidFill>
                <a:srgbClr val="FF0000"/>
              </a:solidFill>
            </a:endParaRPr>
          </a:p>
          <a:p>
            <a:pPr algn="ctr"/>
            <a:r>
              <a:rPr lang="ko-KR" altLang="en-US" sz="1200" dirty="0">
                <a:solidFill>
                  <a:srgbClr val="FF0000"/>
                </a:solidFill>
              </a:rPr>
              <a:t>제</a:t>
            </a:r>
            <a:r>
              <a:rPr lang="en-US" altLang="ko-KR" sz="1200" dirty="0">
                <a:solidFill>
                  <a:srgbClr val="FF0000"/>
                </a:solidFill>
              </a:rPr>
              <a:t>1</a:t>
            </a:r>
            <a:r>
              <a:rPr lang="ko-KR" altLang="en-US" sz="1200" dirty="0">
                <a:solidFill>
                  <a:srgbClr val="FF0000"/>
                </a:solidFill>
              </a:rPr>
              <a:t>항 제</a:t>
            </a:r>
            <a:r>
              <a:rPr lang="en-US" altLang="ko-KR" sz="1200" dirty="0">
                <a:solidFill>
                  <a:srgbClr val="FF0000"/>
                </a:solidFill>
              </a:rPr>
              <a:t>3</a:t>
            </a:r>
            <a:r>
              <a:rPr lang="ko-KR" altLang="en-US" sz="1200" dirty="0">
                <a:solidFill>
                  <a:srgbClr val="FF0000"/>
                </a:solidFill>
              </a:rPr>
              <a:t>호</a:t>
            </a:r>
            <a:r>
              <a:rPr lang="en-US" altLang="ko-KR" sz="1200" dirty="0">
                <a:solidFill>
                  <a:srgbClr val="FF0000"/>
                </a:solidFill>
              </a:rPr>
              <a:t>, </a:t>
            </a:r>
            <a:r>
              <a:rPr lang="ko-KR" altLang="en-US" sz="1200" dirty="0">
                <a:solidFill>
                  <a:srgbClr val="FF0000"/>
                </a:solidFill>
              </a:rPr>
              <a:t>제</a:t>
            </a:r>
            <a:r>
              <a:rPr lang="en-US" altLang="ko-KR" sz="1200" dirty="0">
                <a:solidFill>
                  <a:srgbClr val="FF0000"/>
                </a:solidFill>
              </a:rPr>
              <a:t>4</a:t>
            </a:r>
            <a:r>
              <a:rPr lang="ko-KR" altLang="en-US" sz="1200" dirty="0">
                <a:solidFill>
                  <a:srgbClr val="FF0000"/>
                </a:solidFill>
              </a:rPr>
              <a:t>호</a:t>
            </a:r>
            <a:r>
              <a:rPr lang="en-US" altLang="ko-KR" sz="1200" dirty="0">
                <a:solidFill>
                  <a:srgbClr val="FF0000"/>
                </a:solidFill>
              </a:rPr>
              <a:t> </a:t>
            </a:r>
            <a:r>
              <a:rPr lang="ko-KR" altLang="en-US" sz="1200" dirty="0">
                <a:solidFill>
                  <a:srgbClr val="FF0000"/>
                </a:solidFill>
              </a:rPr>
              <a:t>충족</a:t>
            </a:r>
          </a:p>
        </p:txBody>
      </p:sp>
      <p:cxnSp>
        <p:nvCxnSpPr>
          <p:cNvPr id="111" name="직선 연결선 110">
            <a:extLst>
              <a:ext uri="{FF2B5EF4-FFF2-40B4-BE49-F238E27FC236}">
                <a16:creationId xmlns:a16="http://schemas.microsoft.com/office/drawing/2014/main" id="{09E198EF-3046-4973-B7BA-4542A6E639F8}"/>
              </a:ext>
            </a:extLst>
          </p:cNvPr>
          <p:cNvCxnSpPr/>
          <p:nvPr/>
        </p:nvCxnSpPr>
        <p:spPr>
          <a:xfrm>
            <a:off x="4424855" y="861848"/>
            <a:ext cx="0" cy="5675586"/>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5" name="직사각형 124">
            <a:extLst>
              <a:ext uri="{FF2B5EF4-FFF2-40B4-BE49-F238E27FC236}">
                <a16:creationId xmlns:a16="http://schemas.microsoft.com/office/drawing/2014/main" id="{744E8311-F94E-4E26-94C0-8F078AD8848D}"/>
              </a:ext>
            </a:extLst>
          </p:cNvPr>
          <p:cNvSpPr/>
          <p:nvPr/>
        </p:nvSpPr>
        <p:spPr>
          <a:xfrm>
            <a:off x="4669126" y="4609075"/>
            <a:ext cx="7218074" cy="176935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6" name="Rectangle 5">
            <a:extLst>
              <a:ext uri="{FF2B5EF4-FFF2-40B4-BE49-F238E27FC236}">
                <a16:creationId xmlns:a16="http://schemas.microsoft.com/office/drawing/2014/main" id="{606CC2C7-94EB-41FE-9F73-A86EB3E588BF}"/>
              </a:ext>
            </a:extLst>
          </p:cNvPr>
          <p:cNvSpPr>
            <a:spLocks noChangeArrowheads="1"/>
          </p:cNvSpPr>
          <p:nvPr/>
        </p:nvSpPr>
        <p:spPr bwMode="auto">
          <a:xfrm>
            <a:off x="4850330" y="4442088"/>
            <a:ext cx="75288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400" b="0" dirty="0">
                <a:solidFill>
                  <a:schemeClr val="bg1"/>
                </a:solidFill>
                <a:latin typeface="+mj-ea"/>
                <a:ea typeface="+mj-ea"/>
              </a:rPr>
              <a:t> </a:t>
            </a:r>
            <a:r>
              <a:rPr lang="en-US" altLang="ko-KR" sz="1400" dirty="0">
                <a:solidFill>
                  <a:schemeClr val="bg1"/>
                </a:solidFill>
                <a:latin typeface="+mj-ea"/>
                <a:ea typeface="+mj-ea"/>
              </a:rPr>
              <a:t>CASE</a:t>
            </a:r>
            <a:endParaRPr lang="ko-KR" altLang="en-US" sz="1400" b="0" dirty="0">
              <a:solidFill>
                <a:schemeClr val="bg1"/>
              </a:solidFill>
              <a:latin typeface="+mj-ea"/>
              <a:ea typeface="+mj-ea"/>
            </a:endParaRPr>
          </a:p>
        </p:txBody>
      </p:sp>
      <p:cxnSp>
        <p:nvCxnSpPr>
          <p:cNvPr id="127" name="직선 연결선 126">
            <a:extLst>
              <a:ext uri="{FF2B5EF4-FFF2-40B4-BE49-F238E27FC236}">
                <a16:creationId xmlns:a16="http://schemas.microsoft.com/office/drawing/2014/main" id="{F5F2FF8E-9AC5-4018-8F37-B2A4AF0E0D2F}"/>
              </a:ext>
            </a:extLst>
          </p:cNvPr>
          <p:cNvCxnSpPr>
            <a:cxnSpLocks/>
          </p:cNvCxnSpPr>
          <p:nvPr/>
        </p:nvCxnSpPr>
        <p:spPr>
          <a:xfrm>
            <a:off x="4744721" y="5780975"/>
            <a:ext cx="704359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8" name="직사각형 127">
            <a:extLst>
              <a:ext uri="{FF2B5EF4-FFF2-40B4-BE49-F238E27FC236}">
                <a16:creationId xmlns:a16="http://schemas.microsoft.com/office/drawing/2014/main" id="{1FE16CD9-0308-44D4-BDE6-F870659B2188}"/>
              </a:ext>
            </a:extLst>
          </p:cNvPr>
          <p:cNvSpPr/>
          <p:nvPr/>
        </p:nvSpPr>
        <p:spPr>
          <a:xfrm>
            <a:off x="7804396" y="5607682"/>
            <a:ext cx="918503" cy="34670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(Z)</a:t>
            </a:r>
            <a:endParaRPr lang="ko-KR" altLang="en-US" sz="1000" dirty="0">
              <a:solidFill>
                <a:schemeClr val="tx1"/>
              </a:solidFill>
            </a:endParaRPr>
          </a:p>
        </p:txBody>
      </p:sp>
      <p:sp>
        <p:nvSpPr>
          <p:cNvPr id="129" name="직사각형 128">
            <a:extLst>
              <a:ext uri="{FF2B5EF4-FFF2-40B4-BE49-F238E27FC236}">
                <a16:creationId xmlns:a16="http://schemas.microsoft.com/office/drawing/2014/main" id="{34E80226-E418-49C8-A23F-D5899ED44412}"/>
              </a:ext>
            </a:extLst>
          </p:cNvPr>
          <p:cNvSpPr/>
          <p:nvPr/>
        </p:nvSpPr>
        <p:spPr>
          <a:xfrm>
            <a:off x="5064581" y="5607682"/>
            <a:ext cx="918503" cy="346704"/>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한국출원</a:t>
            </a:r>
            <a:r>
              <a:rPr lang="en-US" altLang="ko-KR" sz="1000" dirty="0">
                <a:solidFill>
                  <a:schemeClr val="tx1"/>
                </a:solidFill>
              </a:rPr>
              <a:t>(X)</a:t>
            </a:r>
            <a:endParaRPr lang="ko-KR" altLang="en-US" sz="1000" dirty="0">
              <a:solidFill>
                <a:schemeClr val="tx1"/>
              </a:solidFill>
            </a:endParaRPr>
          </a:p>
        </p:txBody>
      </p:sp>
      <p:sp>
        <p:nvSpPr>
          <p:cNvPr id="130" name="직사각형 129">
            <a:extLst>
              <a:ext uri="{FF2B5EF4-FFF2-40B4-BE49-F238E27FC236}">
                <a16:creationId xmlns:a16="http://schemas.microsoft.com/office/drawing/2014/main" id="{E4AD3278-DC02-4325-A5F1-ABF40C3428EA}"/>
              </a:ext>
            </a:extLst>
          </p:cNvPr>
          <p:cNvSpPr/>
          <p:nvPr/>
        </p:nvSpPr>
        <p:spPr>
          <a:xfrm>
            <a:off x="7804396" y="5954268"/>
            <a:ext cx="918503" cy="34670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Y </a:t>
            </a:r>
            <a:r>
              <a:rPr lang="ko-KR" altLang="en-US" sz="1000" dirty="0">
                <a:solidFill>
                  <a:schemeClr val="tx1"/>
                </a:solidFill>
              </a:rPr>
              <a:t>기초 </a:t>
            </a:r>
            <a:r>
              <a:rPr lang="ko-KR" altLang="en-US" sz="1000" dirty="0" err="1">
                <a:solidFill>
                  <a:schemeClr val="tx1"/>
                </a:solidFill>
              </a:rPr>
              <a:t>우선권주장</a:t>
            </a:r>
            <a:endParaRPr lang="ko-KR" altLang="en-US" sz="1000" dirty="0">
              <a:solidFill>
                <a:schemeClr val="tx1"/>
              </a:solidFill>
            </a:endParaRPr>
          </a:p>
        </p:txBody>
      </p:sp>
      <p:sp>
        <p:nvSpPr>
          <p:cNvPr id="131" name="직사각형 130">
            <a:extLst>
              <a:ext uri="{FF2B5EF4-FFF2-40B4-BE49-F238E27FC236}">
                <a16:creationId xmlns:a16="http://schemas.microsoft.com/office/drawing/2014/main" id="{D3B61D08-55AD-41CD-B1F3-20EFD5FFDB26}"/>
              </a:ext>
            </a:extLst>
          </p:cNvPr>
          <p:cNvSpPr/>
          <p:nvPr/>
        </p:nvSpPr>
        <p:spPr>
          <a:xfrm>
            <a:off x="10038481" y="5607682"/>
            <a:ext cx="818706" cy="346704"/>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취하</a:t>
            </a:r>
            <a:r>
              <a:rPr lang="en-US" altLang="ko-KR" sz="1000" dirty="0">
                <a:solidFill>
                  <a:schemeClr val="tx1"/>
                </a:solidFill>
              </a:rPr>
              <a:t>(X)</a:t>
            </a:r>
            <a:endParaRPr lang="ko-KR" altLang="en-US" sz="1000" dirty="0">
              <a:solidFill>
                <a:schemeClr val="tx1"/>
              </a:solidFill>
            </a:endParaRPr>
          </a:p>
        </p:txBody>
      </p:sp>
      <p:sp>
        <p:nvSpPr>
          <p:cNvPr id="132" name="직사각형 131">
            <a:extLst>
              <a:ext uri="{FF2B5EF4-FFF2-40B4-BE49-F238E27FC236}">
                <a16:creationId xmlns:a16="http://schemas.microsoft.com/office/drawing/2014/main" id="{EC5CDFEF-C55A-4EC8-86A3-387C4AA0B232}"/>
              </a:ext>
            </a:extLst>
          </p:cNvPr>
          <p:cNvSpPr/>
          <p:nvPr/>
        </p:nvSpPr>
        <p:spPr>
          <a:xfrm>
            <a:off x="6415913" y="5607682"/>
            <a:ext cx="918503" cy="346704"/>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 한국출원</a:t>
            </a:r>
            <a:r>
              <a:rPr lang="en-US" altLang="ko-KR" sz="1000" dirty="0">
                <a:solidFill>
                  <a:schemeClr val="tx1"/>
                </a:solidFill>
              </a:rPr>
              <a:t>(Y)</a:t>
            </a:r>
            <a:endParaRPr lang="ko-KR" altLang="en-US" sz="1000" dirty="0">
              <a:solidFill>
                <a:schemeClr val="tx1"/>
              </a:solidFill>
            </a:endParaRPr>
          </a:p>
        </p:txBody>
      </p:sp>
      <p:sp>
        <p:nvSpPr>
          <p:cNvPr id="133" name="직사각형 132">
            <a:extLst>
              <a:ext uri="{FF2B5EF4-FFF2-40B4-BE49-F238E27FC236}">
                <a16:creationId xmlns:a16="http://schemas.microsoft.com/office/drawing/2014/main" id="{A537036F-4F4A-4E5B-B7FA-060145439EF0}"/>
              </a:ext>
            </a:extLst>
          </p:cNvPr>
          <p:cNvSpPr/>
          <p:nvPr/>
        </p:nvSpPr>
        <p:spPr>
          <a:xfrm>
            <a:off x="6407377" y="5954268"/>
            <a:ext cx="927039" cy="346704"/>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 </a:t>
            </a:r>
            <a:r>
              <a:rPr lang="ko-KR" altLang="en-US" sz="1000" dirty="0">
                <a:solidFill>
                  <a:schemeClr val="tx1"/>
                </a:solidFill>
              </a:rPr>
              <a:t>기초 </a:t>
            </a:r>
            <a:r>
              <a:rPr lang="ko-KR" altLang="en-US" sz="1000" dirty="0" err="1">
                <a:solidFill>
                  <a:schemeClr val="tx1"/>
                </a:solidFill>
              </a:rPr>
              <a:t>우선권주장</a:t>
            </a:r>
            <a:endParaRPr lang="ko-KR" altLang="en-US" sz="1000" dirty="0">
              <a:solidFill>
                <a:schemeClr val="tx1"/>
              </a:solidFill>
            </a:endParaRPr>
          </a:p>
        </p:txBody>
      </p:sp>
      <p:sp>
        <p:nvSpPr>
          <p:cNvPr id="134" name="직사각형 133">
            <a:extLst>
              <a:ext uri="{FF2B5EF4-FFF2-40B4-BE49-F238E27FC236}">
                <a16:creationId xmlns:a16="http://schemas.microsoft.com/office/drawing/2014/main" id="{6BCD77F7-6571-493E-9EB3-0CDAB1C6AD8D}"/>
              </a:ext>
            </a:extLst>
          </p:cNvPr>
          <p:cNvSpPr/>
          <p:nvPr/>
        </p:nvSpPr>
        <p:spPr>
          <a:xfrm rot="10800000" flipV="1">
            <a:off x="4728365" y="4858865"/>
            <a:ext cx="4872974" cy="341377"/>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bg1">
                    <a:lumMod val="50000"/>
                  </a:schemeClr>
                </a:solidFill>
              </a:rPr>
              <a:t>Z</a:t>
            </a:r>
            <a:r>
              <a:rPr lang="ko-KR" altLang="en-US" sz="1400" dirty="0">
                <a:solidFill>
                  <a:schemeClr val="bg1">
                    <a:lumMod val="50000"/>
                  </a:schemeClr>
                </a:solidFill>
              </a:rPr>
              <a:t> 출원이 </a:t>
            </a:r>
            <a:r>
              <a:rPr lang="en-US" altLang="ko-KR" sz="1400" dirty="0">
                <a:solidFill>
                  <a:schemeClr val="bg1">
                    <a:lumMod val="50000"/>
                  </a:schemeClr>
                </a:solidFill>
              </a:rPr>
              <a:t>X</a:t>
            </a:r>
            <a:r>
              <a:rPr lang="ko-KR" altLang="en-US" sz="1400" dirty="0">
                <a:solidFill>
                  <a:schemeClr val="bg1">
                    <a:lumMod val="50000"/>
                  </a:schemeClr>
                </a:solidFill>
              </a:rPr>
              <a:t>기초 우선권주장을 보정 또는 추가할 수 있는 기간은</a:t>
            </a:r>
            <a:r>
              <a:rPr lang="en-US" altLang="ko-KR" sz="1400" dirty="0">
                <a:solidFill>
                  <a:schemeClr val="bg1">
                    <a:lumMod val="50000"/>
                  </a:schemeClr>
                </a:solidFill>
              </a:rPr>
              <a:t>?</a:t>
            </a:r>
            <a:endParaRPr lang="ko-KR" altLang="en-US" sz="1400" dirty="0">
              <a:solidFill>
                <a:schemeClr val="bg1">
                  <a:lumMod val="50000"/>
                </a:schemeClr>
              </a:solidFill>
            </a:endParaRPr>
          </a:p>
        </p:txBody>
      </p:sp>
      <p:sp>
        <p:nvSpPr>
          <p:cNvPr id="93" name="직사각형 92">
            <a:extLst>
              <a:ext uri="{FF2B5EF4-FFF2-40B4-BE49-F238E27FC236}">
                <a16:creationId xmlns:a16="http://schemas.microsoft.com/office/drawing/2014/main" id="{0FC05305-DB28-4F87-9202-D40019B20C03}"/>
              </a:ext>
            </a:extLst>
          </p:cNvPr>
          <p:cNvSpPr/>
          <p:nvPr/>
        </p:nvSpPr>
        <p:spPr>
          <a:xfrm>
            <a:off x="9601339" y="2911497"/>
            <a:ext cx="1140236" cy="346704"/>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 </a:t>
            </a:r>
            <a:r>
              <a:rPr lang="ko-KR" altLang="en-US" sz="1000" dirty="0">
                <a:solidFill>
                  <a:schemeClr val="tx1"/>
                </a:solidFill>
              </a:rPr>
              <a:t>기초 우선권주장의 추가</a:t>
            </a:r>
          </a:p>
        </p:txBody>
      </p:sp>
      <p:sp>
        <p:nvSpPr>
          <p:cNvPr id="45" name="직사각형 44">
            <a:extLst>
              <a:ext uri="{FF2B5EF4-FFF2-40B4-BE49-F238E27FC236}">
                <a16:creationId xmlns:a16="http://schemas.microsoft.com/office/drawing/2014/main" id="{ABEA7A33-96BB-49A5-BD05-6DD487AB7FD3}"/>
              </a:ext>
            </a:extLst>
          </p:cNvPr>
          <p:cNvSpPr/>
          <p:nvPr/>
        </p:nvSpPr>
        <p:spPr>
          <a:xfrm>
            <a:off x="2698126" y="3124144"/>
            <a:ext cx="1482459" cy="66192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특허법</a:t>
            </a:r>
            <a:endParaRPr lang="en-US" altLang="ko-KR" sz="1400" dirty="0">
              <a:solidFill>
                <a:schemeClr val="tx1"/>
              </a:solidFill>
            </a:endParaRPr>
          </a:p>
          <a:p>
            <a:pPr algn="ctr"/>
            <a:r>
              <a:rPr lang="ko-KR" altLang="en-US" sz="1400" dirty="0">
                <a:solidFill>
                  <a:schemeClr val="tx1"/>
                </a:solidFill>
              </a:rPr>
              <a:t>제</a:t>
            </a:r>
            <a:r>
              <a:rPr lang="en-US" altLang="ko-KR" sz="1400" dirty="0">
                <a:solidFill>
                  <a:schemeClr val="tx1"/>
                </a:solidFill>
              </a:rPr>
              <a:t>52</a:t>
            </a:r>
            <a:r>
              <a:rPr lang="ko-KR" altLang="en-US" sz="1400" dirty="0">
                <a:solidFill>
                  <a:schemeClr val="tx1"/>
                </a:solidFill>
              </a:rPr>
              <a:t>조제</a:t>
            </a:r>
            <a:r>
              <a:rPr lang="en-US" altLang="ko-KR" sz="1400" dirty="0">
                <a:solidFill>
                  <a:schemeClr val="tx1"/>
                </a:solidFill>
              </a:rPr>
              <a:t>5</a:t>
            </a:r>
            <a:r>
              <a:rPr lang="ko-KR" altLang="en-US" sz="1400" dirty="0">
                <a:solidFill>
                  <a:schemeClr val="tx1"/>
                </a:solidFill>
              </a:rPr>
              <a:t>항</a:t>
            </a:r>
            <a:endParaRPr lang="en-US" altLang="ko-KR" sz="1400" dirty="0">
              <a:solidFill>
                <a:schemeClr val="tx1"/>
              </a:solidFill>
            </a:endParaRPr>
          </a:p>
          <a:p>
            <a:pPr algn="ctr"/>
            <a:r>
              <a:rPr lang="ko-KR" altLang="en-US" sz="1400" dirty="0">
                <a:solidFill>
                  <a:schemeClr val="tx1"/>
                </a:solidFill>
              </a:rPr>
              <a:t>제</a:t>
            </a:r>
            <a:r>
              <a:rPr lang="en-US" altLang="ko-KR" sz="1400" dirty="0">
                <a:solidFill>
                  <a:schemeClr val="tx1"/>
                </a:solidFill>
              </a:rPr>
              <a:t>52</a:t>
            </a:r>
            <a:r>
              <a:rPr lang="ko-KR" altLang="en-US" sz="1400" dirty="0">
                <a:solidFill>
                  <a:schemeClr val="tx1"/>
                </a:solidFill>
              </a:rPr>
              <a:t>조의</a:t>
            </a:r>
            <a:r>
              <a:rPr lang="en-US" altLang="ko-KR" sz="1400" dirty="0">
                <a:solidFill>
                  <a:schemeClr val="tx1"/>
                </a:solidFill>
              </a:rPr>
              <a:t>2</a:t>
            </a:r>
            <a:r>
              <a:rPr lang="ko-KR" altLang="en-US" sz="1400" dirty="0">
                <a:solidFill>
                  <a:schemeClr val="tx1"/>
                </a:solidFill>
              </a:rPr>
              <a:t>제</a:t>
            </a:r>
            <a:r>
              <a:rPr lang="en-US" altLang="ko-KR" sz="1400" dirty="0">
                <a:solidFill>
                  <a:schemeClr val="tx1"/>
                </a:solidFill>
              </a:rPr>
              <a:t>2</a:t>
            </a:r>
            <a:r>
              <a:rPr lang="ko-KR" altLang="en-US" sz="1400" dirty="0">
                <a:solidFill>
                  <a:schemeClr val="tx1"/>
                </a:solidFill>
              </a:rPr>
              <a:t>항</a:t>
            </a:r>
          </a:p>
        </p:txBody>
      </p:sp>
      <p:cxnSp>
        <p:nvCxnSpPr>
          <p:cNvPr id="46" name="연결선: 꺾임 45">
            <a:extLst>
              <a:ext uri="{FF2B5EF4-FFF2-40B4-BE49-F238E27FC236}">
                <a16:creationId xmlns:a16="http://schemas.microsoft.com/office/drawing/2014/main" id="{F4FB7B58-D74C-4C52-A340-88D830BF4D1D}"/>
              </a:ext>
            </a:extLst>
          </p:cNvPr>
          <p:cNvCxnSpPr>
            <a:cxnSpLocks/>
            <a:stCxn id="3" idx="3"/>
            <a:endCxn id="45" idx="1"/>
          </p:cNvCxnSpPr>
          <p:nvPr/>
        </p:nvCxnSpPr>
        <p:spPr>
          <a:xfrm>
            <a:off x="1755228" y="2926681"/>
            <a:ext cx="942898" cy="528425"/>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931F8568-7AE9-48F9-86E6-CB1C30D6E72A}"/>
              </a:ext>
            </a:extLst>
          </p:cNvPr>
          <p:cNvSpPr txBox="1"/>
          <p:nvPr/>
        </p:nvSpPr>
        <p:spPr>
          <a:xfrm>
            <a:off x="1589526" y="3547574"/>
            <a:ext cx="1018227" cy="369332"/>
          </a:xfrm>
          <a:prstGeom prst="rect">
            <a:avLst/>
          </a:prstGeom>
          <a:noFill/>
        </p:spPr>
        <p:txBody>
          <a:bodyPr wrap="none" rtlCol="0">
            <a:spAutoFit/>
          </a:bodyPr>
          <a:lstStyle/>
          <a:p>
            <a:r>
              <a:rPr lang="ko-KR" altLang="en-US" dirty="0"/>
              <a:t>기간특례</a:t>
            </a:r>
          </a:p>
        </p:txBody>
      </p:sp>
    </p:spTree>
    <p:extLst>
      <p:ext uri="{BB962C8B-B14F-4D97-AF65-F5344CB8AC3E}">
        <p14:creationId xmlns:p14="http://schemas.microsoft.com/office/powerpoint/2010/main" val="2359664305"/>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55</a:t>
            </a:r>
            <a:r>
              <a:rPr lang="ko-KR" altLang="en-US" dirty="0"/>
              <a:t>조</a:t>
            </a:r>
            <a:r>
              <a:rPr lang="en-US" altLang="ko-KR" dirty="0"/>
              <a:t>, </a:t>
            </a:r>
            <a:r>
              <a:rPr lang="ko-KR" altLang="en-US" dirty="0"/>
              <a:t>제</a:t>
            </a:r>
            <a:r>
              <a:rPr lang="en-US" altLang="ko-KR" dirty="0"/>
              <a:t>56</a:t>
            </a:r>
            <a:r>
              <a:rPr lang="ko-KR" altLang="en-US" dirty="0"/>
              <a:t>조</a:t>
            </a:r>
          </a:p>
        </p:txBody>
      </p:sp>
      <p:sp>
        <p:nvSpPr>
          <p:cNvPr id="5" name="텍스트 개체 틀 4"/>
          <p:cNvSpPr>
            <a:spLocks noGrp="1"/>
          </p:cNvSpPr>
          <p:nvPr>
            <p:ph type="body" sz="quarter" idx="13"/>
          </p:nvPr>
        </p:nvSpPr>
        <p:spPr/>
        <p:txBody>
          <a:bodyPr/>
          <a:lstStyle/>
          <a:p>
            <a:r>
              <a:rPr lang="ko-KR" altLang="en-US" dirty="0"/>
              <a:t>제</a:t>
            </a:r>
            <a:r>
              <a:rPr lang="en-US" altLang="ko-KR" dirty="0"/>
              <a:t>56</a:t>
            </a:r>
            <a:r>
              <a:rPr lang="ko-KR" altLang="en-US" dirty="0"/>
              <a:t>조의 이해</a:t>
            </a:r>
          </a:p>
        </p:txBody>
      </p:sp>
      <p:cxnSp>
        <p:nvCxnSpPr>
          <p:cNvPr id="57" name="직선 연결선 56"/>
          <p:cNvCxnSpPr/>
          <p:nvPr/>
        </p:nvCxnSpPr>
        <p:spPr>
          <a:xfrm>
            <a:off x="0" y="258944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77875" y="986046"/>
            <a:ext cx="11936323" cy="1600438"/>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56</a:t>
            </a:r>
            <a:r>
              <a:rPr lang="ko-KR" altLang="en-US" sz="1400" b="1" dirty="0">
                <a:solidFill>
                  <a:schemeClr val="accent1"/>
                </a:solidFill>
              </a:rPr>
              <a:t>조</a:t>
            </a:r>
            <a:r>
              <a:rPr lang="en-US" altLang="ko-KR" sz="1400" b="1" dirty="0">
                <a:solidFill>
                  <a:schemeClr val="accent1"/>
                </a:solidFill>
              </a:rPr>
              <a:t>(</a:t>
            </a:r>
            <a:r>
              <a:rPr lang="ko-KR" altLang="en-US" sz="1400" b="1" dirty="0" err="1">
                <a:solidFill>
                  <a:schemeClr val="accent1"/>
                </a:solidFill>
              </a:rPr>
              <a:t>선출원의</a:t>
            </a:r>
            <a:r>
              <a:rPr lang="ko-KR" altLang="en-US" sz="1400" b="1" dirty="0">
                <a:solidFill>
                  <a:schemeClr val="accent1"/>
                </a:solidFill>
              </a:rPr>
              <a:t> 취하 등</a:t>
            </a:r>
            <a:r>
              <a:rPr lang="en-US" altLang="ko-KR" sz="1400" b="1" dirty="0">
                <a:solidFill>
                  <a:schemeClr val="accent1"/>
                </a:solidFill>
              </a:rPr>
              <a:t>)</a:t>
            </a:r>
            <a:r>
              <a:rPr lang="en-US" altLang="ko-KR" sz="1400" dirty="0">
                <a:solidFill>
                  <a:schemeClr val="tx2"/>
                </a:solidFill>
              </a:rPr>
              <a:t> ① </a:t>
            </a:r>
            <a:r>
              <a:rPr lang="ko-KR" altLang="en-US" sz="1400" dirty="0">
                <a:solidFill>
                  <a:schemeClr val="tx2"/>
                </a:solidFill>
              </a:rPr>
              <a:t>제</a:t>
            </a:r>
            <a:r>
              <a:rPr lang="en-US" altLang="ko-KR" sz="1400" dirty="0">
                <a:solidFill>
                  <a:schemeClr val="tx2"/>
                </a:solidFill>
              </a:rPr>
              <a:t>55</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우선권 주장의 기초가 된 </a:t>
            </a:r>
            <a:r>
              <a:rPr lang="ko-KR" altLang="en-US" sz="1400" dirty="0" err="1">
                <a:solidFill>
                  <a:schemeClr val="tx2"/>
                </a:solidFill>
              </a:rPr>
              <a:t>선출원은</a:t>
            </a:r>
            <a:r>
              <a:rPr lang="ko-KR" altLang="en-US" sz="1400" dirty="0">
                <a:solidFill>
                  <a:schemeClr val="tx2"/>
                </a:solidFill>
              </a:rPr>
              <a:t> 그 </a:t>
            </a:r>
            <a:r>
              <a:rPr lang="ko-KR" altLang="en-US" sz="1400" dirty="0" err="1">
                <a:solidFill>
                  <a:schemeClr val="tx2"/>
                </a:solidFill>
              </a:rPr>
              <a:t>출원일부터</a:t>
            </a:r>
            <a:r>
              <a:rPr lang="ko-KR" altLang="en-US" sz="1400" dirty="0">
                <a:solidFill>
                  <a:schemeClr val="tx2"/>
                </a:solidFill>
              </a:rPr>
              <a:t>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3</a:t>
            </a:r>
            <a:r>
              <a:rPr lang="ko-KR" altLang="en-US" sz="1400" dirty="0">
                <a:solidFill>
                  <a:schemeClr val="tx2"/>
                </a:solidFill>
              </a:rPr>
              <a:t>개월이 지난 때에 취하된 것으로 본다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그 </a:t>
            </a:r>
            <a:r>
              <a:rPr lang="ko-KR" altLang="en-US" sz="1400" dirty="0" err="1">
                <a:solidFill>
                  <a:schemeClr val="tx2"/>
                </a:solidFill>
              </a:rPr>
              <a:t>선출원이</a:t>
            </a:r>
            <a:r>
              <a:rPr lang="ko-KR" altLang="en-US" sz="1400" dirty="0">
                <a:solidFill>
                  <a:schemeClr val="tx2"/>
                </a:solidFill>
              </a:rPr>
              <a:t> 다음 각 호의 어느 하나에 해당하는 경우에는 그러하지 아니하다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포기</a:t>
            </a:r>
            <a:r>
              <a:rPr lang="en-US" altLang="ko-KR" sz="1400" dirty="0">
                <a:solidFill>
                  <a:schemeClr val="tx2"/>
                </a:solidFill>
              </a:rPr>
              <a:t>, </a:t>
            </a:r>
            <a:r>
              <a:rPr lang="ko-KR" altLang="en-US" sz="1400" dirty="0">
                <a:solidFill>
                  <a:schemeClr val="tx2"/>
                </a:solidFill>
              </a:rPr>
              <a:t>무효 또는 취하된 경우</a:t>
            </a:r>
          </a:p>
          <a:p>
            <a:pPr fontAlgn="base"/>
            <a:r>
              <a:rPr lang="en-US" altLang="ko-KR" sz="1400" dirty="0">
                <a:solidFill>
                  <a:schemeClr val="tx2"/>
                </a:solidFill>
              </a:rPr>
              <a:t>2. </a:t>
            </a:r>
            <a:r>
              <a:rPr lang="ko-KR" altLang="en-US" sz="1400" dirty="0" err="1">
                <a:solidFill>
                  <a:schemeClr val="tx2"/>
                </a:solidFill>
              </a:rPr>
              <a:t>설정등록되었거나</a:t>
            </a:r>
            <a:r>
              <a:rPr lang="ko-KR" altLang="en-US" sz="1400" dirty="0">
                <a:solidFill>
                  <a:schemeClr val="tx2"/>
                </a:solidFill>
              </a:rPr>
              <a:t> </a:t>
            </a:r>
            <a:r>
              <a:rPr lang="ko-KR" altLang="en-US" sz="1400" dirty="0" err="1">
                <a:solidFill>
                  <a:schemeClr val="tx2"/>
                </a:solidFill>
              </a:rPr>
              <a:t>특허거절결정</a:t>
            </a:r>
            <a:r>
              <a:rPr lang="en-US" altLang="ko-KR" sz="1400" dirty="0">
                <a:solidFill>
                  <a:schemeClr val="tx2"/>
                </a:solidFill>
              </a:rPr>
              <a:t>, </a:t>
            </a:r>
            <a:r>
              <a:rPr lang="ko-KR" altLang="en-US" sz="1400" dirty="0" err="1">
                <a:solidFill>
                  <a:schemeClr val="tx2"/>
                </a:solidFill>
              </a:rPr>
              <a:t>실용신안등록거절결정</a:t>
            </a:r>
            <a:r>
              <a:rPr lang="ko-KR" altLang="en-US" sz="1400" dirty="0">
                <a:solidFill>
                  <a:schemeClr val="tx2"/>
                </a:solidFill>
              </a:rPr>
              <a:t> 또는 거절한다는 취지의 </a:t>
            </a:r>
            <a:r>
              <a:rPr lang="ko-KR" altLang="en-US" sz="1400" dirty="0" err="1">
                <a:solidFill>
                  <a:schemeClr val="tx2"/>
                </a:solidFill>
              </a:rPr>
              <a:t>심결이</a:t>
            </a:r>
            <a:r>
              <a:rPr lang="ko-KR" altLang="en-US" sz="1400" dirty="0">
                <a:solidFill>
                  <a:schemeClr val="tx2"/>
                </a:solidFill>
              </a:rPr>
              <a:t> 확정된 경우</a:t>
            </a:r>
          </a:p>
          <a:p>
            <a:pPr fontAlgn="base"/>
            <a:r>
              <a:rPr lang="en-US" altLang="ko-KR" sz="1400" dirty="0">
                <a:solidFill>
                  <a:schemeClr val="tx2"/>
                </a:solidFill>
              </a:rPr>
              <a:t>3. </a:t>
            </a:r>
            <a:r>
              <a:rPr lang="ko-KR" altLang="en-US" sz="1400" dirty="0">
                <a:solidFill>
                  <a:schemeClr val="tx2"/>
                </a:solidFill>
              </a:rPr>
              <a:t>해당 </a:t>
            </a:r>
            <a:r>
              <a:rPr lang="ko-KR" altLang="en-US" sz="1400" dirty="0" err="1">
                <a:solidFill>
                  <a:schemeClr val="tx2"/>
                </a:solidFill>
              </a:rPr>
              <a:t>선출원을</a:t>
            </a:r>
            <a:r>
              <a:rPr lang="ko-KR" altLang="en-US" sz="1400" dirty="0">
                <a:solidFill>
                  <a:schemeClr val="tx2"/>
                </a:solidFill>
              </a:rPr>
              <a:t> 기초로 한 우선권 주장이 취하된 경우</a:t>
            </a:r>
          </a:p>
          <a:p>
            <a:pPr fontAlgn="base"/>
            <a:r>
              <a:rPr lang="ko-KR" altLang="en-US" sz="1400" dirty="0">
                <a:solidFill>
                  <a:schemeClr val="tx2"/>
                </a:solidFill>
              </a:rPr>
              <a:t>② 제</a:t>
            </a:r>
            <a:r>
              <a:rPr lang="en-US" altLang="ko-KR" sz="1400" dirty="0">
                <a:solidFill>
                  <a:schemeClr val="tx2"/>
                </a:solidFill>
              </a:rPr>
              <a:t>55</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우선권 주장을 수반하는 특허출원의 </a:t>
            </a:r>
            <a:r>
              <a:rPr lang="ko-KR" altLang="en-US" sz="1400" dirty="0" err="1">
                <a:solidFill>
                  <a:schemeClr val="tx2"/>
                </a:solidFill>
              </a:rPr>
              <a:t>출원인은</a:t>
            </a:r>
            <a:r>
              <a:rPr lang="ko-KR" altLang="en-US" sz="1400" dirty="0">
                <a:solidFill>
                  <a:schemeClr val="tx2"/>
                </a:solidFill>
              </a:rPr>
              <a:t> </a:t>
            </a:r>
            <a:r>
              <a:rPr lang="ko-KR" altLang="en-US" sz="1400" dirty="0" err="1">
                <a:solidFill>
                  <a:schemeClr val="tx2"/>
                </a:solidFill>
              </a:rPr>
              <a:t>선출원의</a:t>
            </a:r>
            <a:r>
              <a:rPr lang="ko-KR" altLang="en-US" sz="1400" dirty="0">
                <a:solidFill>
                  <a:schemeClr val="tx2"/>
                </a:solidFill>
              </a:rPr>
              <a:t> </a:t>
            </a:r>
            <a:r>
              <a:rPr lang="ko-KR" altLang="en-US" sz="1400" dirty="0" err="1">
                <a:solidFill>
                  <a:schemeClr val="tx2"/>
                </a:solidFill>
              </a:rPr>
              <a:t>출원일부터</a:t>
            </a:r>
            <a:r>
              <a:rPr lang="ko-KR" altLang="en-US" sz="1400" dirty="0">
                <a:solidFill>
                  <a:schemeClr val="tx2"/>
                </a:solidFill>
              </a:rPr>
              <a:t>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3</a:t>
            </a:r>
            <a:r>
              <a:rPr lang="ko-KR" altLang="en-US" sz="1400" dirty="0">
                <a:solidFill>
                  <a:schemeClr val="tx2"/>
                </a:solidFill>
              </a:rPr>
              <a:t>개월이 지난 후에는 그 우선권 주장을 취하할 수 없다</a:t>
            </a:r>
            <a:r>
              <a:rPr lang="en-US" altLang="ko-KR" sz="1400" dirty="0">
                <a:solidFill>
                  <a:schemeClr val="tx2"/>
                </a:solidFill>
              </a:rPr>
              <a:t>.</a:t>
            </a:r>
          </a:p>
          <a:p>
            <a:pPr fontAlgn="base"/>
            <a:r>
              <a:rPr lang="en-US" altLang="ko-KR" sz="1400" dirty="0">
                <a:solidFill>
                  <a:schemeClr val="tx2"/>
                </a:solidFill>
              </a:rPr>
              <a:t>③ </a:t>
            </a:r>
            <a:r>
              <a:rPr lang="ko-KR" altLang="en-US" sz="1400" dirty="0">
                <a:solidFill>
                  <a:schemeClr val="tx2"/>
                </a:solidFill>
              </a:rPr>
              <a:t>제</a:t>
            </a:r>
            <a:r>
              <a:rPr lang="en-US" altLang="ko-KR" sz="1400" dirty="0">
                <a:solidFill>
                  <a:schemeClr val="tx2"/>
                </a:solidFill>
              </a:rPr>
              <a:t>55</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우선권 주장을 수반하는 특허출원이 </a:t>
            </a:r>
            <a:r>
              <a:rPr lang="ko-KR" altLang="en-US" sz="1400" dirty="0" err="1">
                <a:solidFill>
                  <a:schemeClr val="tx2"/>
                </a:solidFill>
              </a:rPr>
              <a:t>선출원의</a:t>
            </a:r>
            <a:r>
              <a:rPr lang="ko-KR" altLang="en-US" sz="1400" dirty="0">
                <a:solidFill>
                  <a:schemeClr val="tx2"/>
                </a:solidFill>
              </a:rPr>
              <a:t> </a:t>
            </a:r>
            <a:r>
              <a:rPr lang="ko-KR" altLang="en-US" sz="1400" dirty="0" err="1">
                <a:solidFill>
                  <a:schemeClr val="tx2"/>
                </a:solidFill>
              </a:rPr>
              <a:t>출원일부터</a:t>
            </a:r>
            <a:r>
              <a:rPr lang="ko-KR" altLang="en-US" sz="1400" dirty="0">
                <a:solidFill>
                  <a:schemeClr val="tx2"/>
                </a:solidFill>
              </a:rPr>
              <a:t>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3</a:t>
            </a:r>
            <a:r>
              <a:rPr lang="ko-KR" altLang="en-US" sz="1400" dirty="0">
                <a:solidFill>
                  <a:schemeClr val="tx2"/>
                </a:solidFill>
              </a:rPr>
              <a:t>개월 이내에 취하된 때에는 그 우선권 주장도 동시에 취하된 것으로 본다</a:t>
            </a:r>
            <a:r>
              <a:rPr lang="en-US" altLang="ko-KR" sz="1400" dirty="0">
                <a:solidFill>
                  <a:schemeClr val="tx2"/>
                </a:solidFill>
              </a:rPr>
              <a:t>.</a:t>
            </a:r>
          </a:p>
        </p:txBody>
      </p:sp>
      <p:cxnSp>
        <p:nvCxnSpPr>
          <p:cNvPr id="61" name="직선 화살표 연결선 60"/>
          <p:cNvCxnSpPr/>
          <p:nvPr/>
        </p:nvCxnSpPr>
        <p:spPr>
          <a:xfrm flipV="1">
            <a:off x="1508002" y="4273581"/>
            <a:ext cx="9931523" cy="15930"/>
          </a:xfrm>
          <a:prstGeom prst="straightConnector1">
            <a:avLst/>
          </a:prstGeom>
          <a:ln w="2857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9" name="그룹 8"/>
          <p:cNvGrpSpPr/>
          <p:nvPr/>
        </p:nvGrpSpPr>
        <p:grpSpPr>
          <a:xfrm>
            <a:off x="952452" y="3774036"/>
            <a:ext cx="1111100" cy="356976"/>
            <a:chOff x="952452" y="2940373"/>
            <a:chExt cx="936104" cy="356976"/>
          </a:xfrm>
        </p:grpSpPr>
        <p:sp>
          <p:nvSpPr>
            <p:cNvPr id="62" name="순서도: 처리 61"/>
            <p:cNvSpPr/>
            <p:nvPr/>
          </p:nvSpPr>
          <p:spPr>
            <a:xfrm>
              <a:off x="952452" y="3117990"/>
              <a:ext cx="936104" cy="179359"/>
            </a:xfrm>
            <a:prstGeom prst="flowChartProcess">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rPr>
                <a:t>A, B</a:t>
              </a:r>
              <a:endParaRPr lang="ko-KR" altLang="en-US" sz="1050" dirty="0">
                <a:solidFill>
                  <a:schemeClr val="tx1"/>
                </a:solidFill>
              </a:endParaRPr>
            </a:p>
          </p:txBody>
        </p:sp>
        <p:sp>
          <p:nvSpPr>
            <p:cNvPr id="63" name="순서도: 처리 62"/>
            <p:cNvSpPr/>
            <p:nvPr/>
          </p:nvSpPr>
          <p:spPr>
            <a:xfrm>
              <a:off x="952452" y="2940373"/>
              <a:ext cx="936104" cy="179359"/>
            </a:xfrm>
            <a:prstGeom prst="flowChartProcess">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rPr>
                <a:t>A</a:t>
              </a:r>
              <a:endParaRPr lang="ko-KR" altLang="en-US" sz="1050" dirty="0">
                <a:solidFill>
                  <a:schemeClr val="tx1"/>
                </a:solidFill>
              </a:endParaRPr>
            </a:p>
          </p:txBody>
        </p:sp>
      </p:grpSp>
      <p:sp>
        <p:nvSpPr>
          <p:cNvPr id="72" name="직사각형 71"/>
          <p:cNvSpPr/>
          <p:nvPr/>
        </p:nvSpPr>
        <p:spPr>
          <a:xfrm flipV="1">
            <a:off x="4826162" y="4241813"/>
            <a:ext cx="2493976" cy="83128"/>
          </a:xfrm>
          <a:prstGeom prst="rect">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직사각형 72"/>
          <p:cNvSpPr/>
          <p:nvPr/>
        </p:nvSpPr>
        <p:spPr>
          <a:xfrm>
            <a:off x="6591428" y="3137365"/>
            <a:ext cx="1453502" cy="364928"/>
          </a:xfrm>
          <a:prstGeom prst="rect">
            <a:avLst/>
          </a:prstGeom>
          <a:solidFill>
            <a:schemeClr val="bg1">
              <a:lumMod val="95000"/>
            </a:schemeClr>
          </a:solidFill>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000" dirty="0"/>
              <a:t> </a:t>
            </a:r>
            <a:r>
              <a:rPr lang="ko-KR" altLang="en-US" sz="1000" dirty="0"/>
              <a:t>특정사유발생시 </a:t>
            </a:r>
            <a:r>
              <a:rPr lang="en-US" altLang="ko-KR" sz="1000" dirty="0"/>
              <a:t>X</a:t>
            </a:r>
            <a:r>
              <a:rPr lang="ko-KR" altLang="en-US" sz="1000" dirty="0"/>
              <a:t>출원 </a:t>
            </a:r>
            <a:endParaRPr lang="en-US" altLang="ko-KR" sz="1000" dirty="0"/>
          </a:p>
          <a:p>
            <a:pPr algn="ctr"/>
            <a:r>
              <a:rPr lang="ko-KR" altLang="en-US" sz="1000" dirty="0" err="1"/>
              <a:t>不취하간주</a:t>
            </a:r>
            <a:endParaRPr lang="ko-KR" altLang="en-US" sz="1000" dirty="0"/>
          </a:p>
        </p:txBody>
      </p:sp>
      <p:sp>
        <p:nvSpPr>
          <p:cNvPr id="75" name="직사각형 74"/>
          <p:cNvSpPr/>
          <p:nvPr/>
        </p:nvSpPr>
        <p:spPr>
          <a:xfrm>
            <a:off x="8271548" y="2786544"/>
            <a:ext cx="3375958" cy="274112"/>
          </a:xfrm>
          <a:prstGeom prst="rect">
            <a:avLst/>
          </a:prstGeom>
          <a:ln w="12700">
            <a:solidFill>
              <a:schemeClr val="bg1">
                <a:lumMod val="50000"/>
              </a:schemeClr>
            </a:solidFill>
            <a:prstDash val="solid"/>
          </a:ln>
        </p:spPr>
        <p:style>
          <a:lnRef idx="2">
            <a:schemeClr val="accent3"/>
          </a:lnRef>
          <a:fillRef idx="1">
            <a:schemeClr val="lt1"/>
          </a:fillRef>
          <a:effectRef idx="0">
            <a:schemeClr val="accent3"/>
          </a:effectRef>
          <a:fontRef idx="minor">
            <a:schemeClr val="dk1"/>
          </a:fontRef>
        </p:style>
        <p:txBody>
          <a:bodyPr rtlCol="0" anchor="ctr"/>
          <a:lstStyle/>
          <a:p>
            <a:r>
              <a:rPr lang="en-US" altLang="ko-KR" sz="1000" dirty="0"/>
              <a:t>X</a:t>
            </a:r>
            <a:r>
              <a:rPr lang="ko-KR" altLang="en-US" sz="1000" dirty="0"/>
              <a:t>출원이 </a:t>
            </a:r>
            <a:r>
              <a:rPr lang="ko-KR" altLang="en-US" sz="1000" dirty="0" err="1"/>
              <a:t>포기ㆍ무효</a:t>
            </a:r>
            <a:r>
              <a:rPr lang="ko-KR" altLang="en-US" sz="1000" dirty="0"/>
              <a:t> 또는 취하된 경우</a:t>
            </a:r>
            <a:r>
              <a:rPr lang="en-US" altLang="ko-KR" sz="1000" dirty="0"/>
              <a:t>(</a:t>
            </a:r>
            <a:r>
              <a:rPr lang="ko-KR" altLang="en-US" sz="1000" dirty="0"/>
              <a:t>法 </a:t>
            </a:r>
            <a:r>
              <a:rPr lang="en-US" altLang="ko-KR" sz="1000" dirty="0"/>
              <a:t>56①Ⅰ)</a:t>
            </a:r>
            <a:endParaRPr lang="ko-KR" altLang="en-US" sz="1000" dirty="0"/>
          </a:p>
        </p:txBody>
      </p:sp>
      <p:sp>
        <p:nvSpPr>
          <p:cNvPr id="77" name="직사각형 76"/>
          <p:cNvSpPr/>
          <p:nvPr/>
        </p:nvSpPr>
        <p:spPr>
          <a:xfrm>
            <a:off x="4995643" y="4693536"/>
            <a:ext cx="1374625" cy="216024"/>
          </a:xfrm>
          <a:prstGeom prst="rect">
            <a:avLst/>
          </a:prstGeom>
          <a:solidFill>
            <a:schemeClr val="bg1">
              <a:lumMod val="95000"/>
            </a:schemeClr>
          </a:solidFill>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ko-KR" altLang="en-US" sz="1000" dirty="0"/>
              <a:t>우선권주장의 </a:t>
            </a:r>
            <a:r>
              <a:rPr lang="ko-KR" altLang="en-US" sz="1000" dirty="0" err="1"/>
              <a:t>취하가능</a:t>
            </a:r>
            <a:endParaRPr lang="ko-KR" altLang="en-US" sz="1000" dirty="0"/>
          </a:p>
        </p:txBody>
      </p:sp>
      <p:sp>
        <p:nvSpPr>
          <p:cNvPr id="78" name="직사각형 77"/>
          <p:cNvSpPr/>
          <p:nvPr/>
        </p:nvSpPr>
        <p:spPr>
          <a:xfrm>
            <a:off x="3605844" y="4954119"/>
            <a:ext cx="2753590" cy="648072"/>
          </a:xfrm>
          <a:prstGeom prst="rect">
            <a:avLst/>
          </a:prstGeom>
          <a:ln w="12700">
            <a:solidFill>
              <a:schemeClr val="bg1">
                <a:lumMod val="50000"/>
              </a:schemeClr>
            </a:solidFill>
            <a:prstDash val="solid"/>
          </a:ln>
        </p:spPr>
        <p:style>
          <a:lnRef idx="2">
            <a:schemeClr val="accent3"/>
          </a:lnRef>
          <a:fillRef idx="1">
            <a:schemeClr val="lt1"/>
          </a:fillRef>
          <a:effectRef idx="0">
            <a:schemeClr val="accent3"/>
          </a:effectRef>
          <a:fontRef idx="minor">
            <a:schemeClr val="dk1"/>
          </a:fontRef>
        </p:style>
        <p:txBody>
          <a:bodyPr rtlCol="0" anchor="ctr"/>
          <a:lstStyle/>
          <a:p>
            <a:r>
              <a:rPr lang="ko-KR" altLang="en-US" sz="1000" dirty="0"/>
              <a:t>▪</a:t>
            </a:r>
            <a:r>
              <a:rPr lang="en-US" altLang="ko-KR" sz="1000" dirty="0"/>
              <a:t>Y</a:t>
            </a:r>
            <a:r>
              <a:rPr lang="ko-KR" altLang="en-US" sz="1000" dirty="0"/>
              <a:t>출원 판단시점 불소급</a:t>
            </a:r>
          </a:p>
          <a:p>
            <a:r>
              <a:rPr lang="ko-KR" altLang="en-US" sz="1000" dirty="0"/>
              <a:t>▪</a:t>
            </a:r>
            <a:r>
              <a:rPr lang="en-US" altLang="ko-KR" sz="1000" dirty="0"/>
              <a:t>X</a:t>
            </a:r>
            <a:r>
              <a:rPr lang="ko-KR" altLang="en-US" sz="1000" dirty="0"/>
              <a:t>출원 不취하간주 </a:t>
            </a:r>
            <a:r>
              <a:rPr lang="en-US" altLang="ko-KR" sz="1000" dirty="0">
                <a:solidFill>
                  <a:srgbClr val="FF0000"/>
                </a:solidFill>
              </a:rPr>
              <a:t>/ X </a:t>
            </a:r>
            <a:r>
              <a:rPr lang="ko-KR" altLang="en-US" sz="1000" dirty="0">
                <a:solidFill>
                  <a:srgbClr val="FF0000"/>
                </a:solidFill>
              </a:rPr>
              <a:t>출원은 설정등록 가능</a:t>
            </a:r>
          </a:p>
          <a:p>
            <a:r>
              <a:rPr lang="ko-KR" altLang="en-US" sz="1000" dirty="0"/>
              <a:t>▪</a:t>
            </a:r>
            <a:r>
              <a:rPr lang="en-US" altLang="ko-KR" sz="1000" dirty="0"/>
              <a:t>Y</a:t>
            </a:r>
            <a:r>
              <a:rPr lang="ko-KR" altLang="en-US" sz="1000" dirty="0"/>
              <a:t>출원에 포함된 </a:t>
            </a:r>
            <a:r>
              <a:rPr lang="ko-KR" altLang="en-US" sz="1000" dirty="0" err="1"/>
              <a:t>기본발명</a:t>
            </a:r>
            <a:r>
              <a:rPr lang="en-US" altLang="ko-KR" sz="1000" dirty="0"/>
              <a:t>(A)</a:t>
            </a:r>
            <a:r>
              <a:rPr lang="ko-KR" altLang="en-US" sz="1000" dirty="0"/>
              <a:t>은 선출원주의 위반</a:t>
            </a:r>
          </a:p>
        </p:txBody>
      </p:sp>
      <p:sp>
        <p:nvSpPr>
          <p:cNvPr id="83" name="직사각형 82"/>
          <p:cNvSpPr/>
          <p:nvPr/>
        </p:nvSpPr>
        <p:spPr>
          <a:xfrm>
            <a:off x="6212429" y="6015345"/>
            <a:ext cx="2110357" cy="432048"/>
          </a:xfrm>
          <a:prstGeom prst="rect">
            <a:avLst/>
          </a:prstGeom>
          <a:ln w="12700">
            <a:solidFill>
              <a:schemeClr val="tx1"/>
            </a:solidFill>
            <a:prstDash val="sysDot"/>
          </a:ln>
        </p:spPr>
        <p:style>
          <a:lnRef idx="2">
            <a:schemeClr val="accent3"/>
          </a:lnRef>
          <a:fillRef idx="1">
            <a:schemeClr val="lt1"/>
          </a:fillRef>
          <a:effectRef idx="0">
            <a:schemeClr val="accent3"/>
          </a:effectRef>
          <a:fontRef idx="minor">
            <a:schemeClr val="dk1"/>
          </a:fontRef>
        </p:style>
        <p:txBody>
          <a:bodyPr rtlCol="0" anchor="ctr"/>
          <a:lstStyle/>
          <a:p>
            <a:r>
              <a:rPr lang="ko-KR" altLang="en-US" sz="1000" dirty="0"/>
              <a:t>▪우선권주장의 취하간주</a:t>
            </a:r>
            <a:r>
              <a:rPr lang="en-US" altLang="ko-KR" sz="1000" dirty="0"/>
              <a:t>(</a:t>
            </a:r>
            <a:r>
              <a:rPr lang="ko-KR" altLang="en-US" sz="1000" dirty="0"/>
              <a:t>法 </a:t>
            </a:r>
            <a:r>
              <a:rPr lang="en-US" altLang="ko-KR" sz="1000" dirty="0"/>
              <a:t>56③)</a:t>
            </a:r>
            <a:endParaRPr lang="ko-KR" altLang="en-US" sz="1000" dirty="0"/>
          </a:p>
          <a:p>
            <a:r>
              <a:rPr lang="ko-KR" altLang="en-US" sz="1000" dirty="0"/>
              <a:t>▪</a:t>
            </a:r>
            <a:r>
              <a:rPr lang="en-US" altLang="ko-KR" sz="1000" dirty="0"/>
              <a:t>X</a:t>
            </a:r>
            <a:r>
              <a:rPr lang="ko-KR" altLang="en-US" sz="1000" dirty="0"/>
              <a:t>출원 </a:t>
            </a:r>
            <a:r>
              <a:rPr lang="ko-KR" altLang="en-US" sz="1000" dirty="0" err="1"/>
              <a:t>不취하간주</a:t>
            </a:r>
            <a:endParaRPr lang="ko-KR" altLang="en-US" sz="1000" dirty="0"/>
          </a:p>
        </p:txBody>
      </p:sp>
      <p:sp>
        <p:nvSpPr>
          <p:cNvPr id="86" name="직사각형 85"/>
          <p:cNvSpPr/>
          <p:nvPr/>
        </p:nvSpPr>
        <p:spPr>
          <a:xfrm>
            <a:off x="3715061" y="4387828"/>
            <a:ext cx="1111100" cy="202221"/>
          </a:xfrm>
          <a:prstGeom prst="rect">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기초 우선권주장</a:t>
            </a:r>
          </a:p>
        </p:txBody>
      </p:sp>
      <p:sp>
        <p:nvSpPr>
          <p:cNvPr id="87" name="직사각형 86"/>
          <p:cNvSpPr/>
          <p:nvPr/>
        </p:nvSpPr>
        <p:spPr>
          <a:xfrm>
            <a:off x="952452" y="4195504"/>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한국출원</a:t>
            </a:r>
            <a:r>
              <a:rPr lang="en-US" altLang="ko-KR" sz="1000" dirty="0">
                <a:solidFill>
                  <a:schemeClr val="tx1"/>
                </a:solidFill>
              </a:rPr>
              <a:t>(X)</a:t>
            </a:r>
            <a:endParaRPr lang="ko-KR" altLang="en-US" sz="1000" dirty="0">
              <a:solidFill>
                <a:schemeClr val="tx1"/>
              </a:solidFill>
            </a:endParaRPr>
          </a:p>
        </p:txBody>
      </p:sp>
      <p:sp>
        <p:nvSpPr>
          <p:cNvPr id="88" name="직사각형 87"/>
          <p:cNvSpPr/>
          <p:nvPr/>
        </p:nvSpPr>
        <p:spPr>
          <a:xfrm>
            <a:off x="3715061" y="4195328"/>
            <a:ext cx="1111100" cy="2022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한국출원</a:t>
            </a:r>
            <a:r>
              <a:rPr lang="en-US" altLang="ko-KR" sz="1000" dirty="0">
                <a:solidFill>
                  <a:schemeClr val="tx1"/>
                </a:solidFill>
              </a:rPr>
              <a:t>(Y)</a:t>
            </a:r>
            <a:endParaRPr lang="ko-KR" altLang="en-US" sz="1000" dirty="0">
              <a:solidFill>
                <a:schemeClr val="tx1"/>
              </a:solidFill>
            </a:endParaRPr>
          </a:p>
        </p:txBody>
      </p:sp>
      <p:grpSp>
        <p:nvGrpSpPr>
          <p:cNvPr id="95" name="그룹 94"/>
          <p:cNvGrpSpPr/>
          <p:nvPr/>
        </p:nvGrpSpPr>
        <p:grpSpPr>
          <a:xfrm>
            <a:off x="3715061" y="3774036"/>
            <a:ext cx="1111100" cy="356976"/>
            <a:chOff x="952452" y="2940373"/>
            <a:chExt cx="936104" cy="356976"/>
          </a:xfrm>
        </p:grpSpPr>
        <p:sp>
          <p:nvSpPr>
            <p:cNvPr id="96" name="순서도: 처리 95"/>
            <p:cNvSpPr/>
            <p:nvPr/>
          </p:nvSpPr>
          <p:spPr>
            <a:xfrm>
              <a:off x="952452" y="3117990"/>
              <a:ext cx="936104" cy="179359"/>
            </a:xfrm>
            <a:prstGeom prst="flowChartProcess">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rPr>
                <a:t>A, B, C</a:t>
              </a:r>
              <a:endParaRPr lang="ko-KR" altLang="en-US" sz="1050" dirty="0">
                <a:solidFill>
                  <a:schemeClr val="tx1"/>
                </a:solidFill>
              </a:endParaRPr>
            </a:p>
          </p:txBody>
        </p:sp>
        <p:sp>
          <p:nvSpPr>
            <p:cNvPr id="97" name="순서도: 처리 96"/>
            <p:cNvSpPr/>
            <p:nvPr/>
          </p:nvSpPr>
          <p:spPr>
            <a:xfrm>
              <a:off x="952452" y="2940373"/>
              <a:ext cx="936104" cy="179359"/>
            </a:xfrm>
            <a:prstGeom prst="flowChartProcess">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chemeClr val="tx1"/>
                  </a:solidFill>
                </a:rPr>
                <a:t>A, C</a:t>
              </a:r>
              <a:endParaRPr lang="ko-KR" altLang="en-US" sz="1050" dirty="0">
                <a:solidFill>
                  <a:schemeClr val="tx1"/>
                </a:solidFill>
              </a:endParaRPr>
            </a:p>
          </p:txBody>
        </p:sp>
      </p:grpSp>
      <p:sp>
        <p:nvSpPr>
          <p:cNvPr id="98" name="직사각형 97"/>
          <p:cNvSpPr/>
          <p:nvPr/>
        </p:nvSpPr>
        <p:spPr>
          <a:xfrm>
            <a:off x="7320137" y="4195328"/>
            <a:ext cx="1111100" cy="20222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취하간주예정</a:t>
            </a:r>
            <a:r>
              <a:rPr lang="en-US" altLang="ko-KR" sz="1000" dirty="0">
                <a:solidFill>
                  <a:schemeClr val="tx1"/>
                </a:solidFill>
              </a:rPr>
              <a:t>(X)</a:t>
            </a:r>
            <a:endParaRPr lang="ko-KR" altLang="en-US" sz="1000" dirty="0">
              <a:solidFill>
                <a:schemeClr val="tx1"/>
              </a:solidFill>
            </a:endParaRPr>
          </a:p>
        </p:txBody>
      </p:sp>
      <p:sp>
        <p:nvSpPr>
          <p:cNvPr id="100" name="직사각형 99"/>
          <p:cNvSpPr/>
          <p:nvPr/>
        </p:nvSpPr>
        <p:spPr>
          <a:xfrm>
            <a:off x="8271548" y="3102340"/>
            <a:ext cx="3375958" cy="440927"/>
          </a:xfrm>
          <a:prstGeom prst="rect">
            <a:avLst/>
          </a:prstGeom>
          <a:ln w="12700">
            <a:solidFill>
              <a:schemeClr val="bg1">
                <a:lumMod val="50000"/>
              </a:schemeClr>
            </a:solidFill>
            <a:prstDash val="solid"/>
          </a:ln>
        </p:spPr>
        <p:style>
          <a:lnRef idx="2">
            <a:schemeClr val="accent3"/>
          </a:lnRef>
          <a:fillRef idx="1">
            <a:schemeClr val="lt1"/>
          </a:fillRef>
          <a:effectRef idx="0">
            <a:schemeClr val="accent3"/>
          </a:effectRef>
          <a:fontRef idx="minor">
            <a:schemeClr val="dk1"/>
          </a:fontRef>
        </p:style>
        <p:txBody>
          <a:bodyPr rtlCol="0" anchor="ctr"/>
          <a:lstStyle/>
          <a:p>
            <a:r>
              <a:rPr lang="en-US" altLang="ko-KR" sz="1000" dirty="0"/>
              <a:t>X</a:t>
            </a:r>
            <a:r>
              <a:rPr lang="ko-KR" altLang="en-US" sz="1000" dirty="0"/>
              <a:t>출원의 설정등록</a:t>
            </a:r>
            <a:r>
              <a:rPr lang="en-US" altLang="ko-KR" sz="1000" dirty="0"/>
              <a:t>, </a:t>
            </a:r>
            <a:r>
              <a:rPr lang="ko-KR" altLang="en-US" sz="1000" dirty="0" err="1"/>
              <a:t>특허거절결정</a:t>
            </a:r>
            <a:r>
              <a:rPr lang="en-US" altLang="ko-KR" sz="1000" dirty="0"/>
              <a:t>, </a:t>
            </a:r>
            <a:r>
              <a:rPr lang="ko-KR" altLang="en-US" sz="1000" dirty="0" err="1"/>
              <a:t>실용신안등록거절결정</a:t>
            </a:r>
            <a:r>
              <a:rPr lang="ko-KR" altLang="en-US" sz="1000" dirty="0"/>
              <a:t> 또는 거절한다는 취지의 </a:t>
            </a:r>
            <a:r>
              <a:rPr lang="ko-KR" altLang="en-US" sz="1000" dirty="0" err="1"/>
              <a:t>심결이</a:t>
            </a:r>
            <a:r>
              <a:rPr lang="ko-KR" altLang="en-US" sz="1000" dirty="0"/>
              <a:t> 확정된 경우</a:t>
            </a:r>
            <a:r>
              <a:rPr lang="en-US" altLang="ko-KR" sz="1000" dirty="0"/>
              <a:t>(</a:t>
            </a:r>
            <a:r>
              <a:rPr lang="ko-KR" altLang="en-US" sz="1000" dirty="0"/>
              <a:t>法 </a:t>
            </a:r>
            <a:r>
              <a:rPr lang="en-US" altLang="ko-KR" sz="1000" dirty="0"/>
              <a:t>56①Ⅱ)</a:t>
            </a:r>
            <a:endParaRPr lang="ko-KR" altLang="en-US" sz="1000" dirty="0"/>
          </a:p>
        </p:txBody>
      </p:sp>
      <p:sp>
        <p:nvSpPr>
          <p:cNvPr id="101" name="직사각형 100"/>
          <p:cNvSpPr/>
          <p:nvPr/>
        </p:nvSpPr>
        <p:spPr>
          <a:xfrm>
            <a:off x="8271548" y="3599008"/>
            <a:ext cx="3375958" cy="250718"/>
          </a:xfrm>
          <a:prstGeom prst="rect">
            <a:avLst/>
          </a:prstGeom>
          <a:solidFill>
            <a:schemeClr val="accent1">
              <a:lumMod val="50000"/>
            </a:schemeClr>
          </a:solidFill>
          <a:ln w="12700">
            <a:solidFill>
              <a:schemeClr val="bg1">
                <a:lumMod val="50000"/>
              </a:schemeClr>
            </a:solidFill>
            <a:prstDash val="solid"/>
          </a:ln>
        </p:spPr>
        <p:style>
          <a:lnRef idx="2">
            <a:schemeClr val="accent3"/>
          </a:lnRef>
          <a:fillRef idx="1">
            <a:schemeClr val="lt1"/>
          </a:fillRef>
          <a:effectRef idx="0">
            <a:schemeClr val="accent3"/>
          </a:effectRef>
          <a:fontRef idx="minor">
            <a:schemeClr val="dk1"/>
          </a:fontRef>
        </p:style>
        <p:txBody>
          <a:bodyPr rtlCol="0" anchor="ctr"/>
          <a:lstStyle/>
          <a:p>
            <a:r>
              <a:rPr lang="ko-KR" altLang="en-US" sz="1000" dirty="0">
                <a:solidFill>
                  <a:schemeClr val="accent4"/>
                </a:solidFill>
              </a:rPr>
              <a:t>우선권주장의 취하</a:t>
            </a:r>
            <a:r>
              <a:rPr lang="en-US" altLang="ko-KR" sz="1000" dirty="0">
                <a:solidFill>
                  <a:schemeClr val="accent4"/>
                </a:solidFill>
              </a:rPr>
              <a:t>(</a:t>
            </a:r>
            <a:r>
              <a:rPr lang="ko-KR" altLang="en-US" sz="1000" dirty="0">
                <a:solidFill>
                  <a:schemeClr val="accent4"/>
                </a:solidFill>
              </a:rPr>
              <a:t>法 </a:t>
            </a:r>
            <a:r>
              <a:rPr lang="en-US" altLang="ko-KR" sz="1000" dirty="0">
                <a:solidFill>
                  <a:schemeClr val="accent4"/>
                </a:solidFill>
              </a:rPr>
              <a:t>56①Ⅲ)</a:t>
            </a:r>
            <a:endParaRPr lang="ko-KR" altLang="en-US" sz="1000" dirty="0">
              <a:solidFill>
                <a:schemeClr val="accent4"/>
              </a:solidFill>
            </a:endParaRPr>
          </a:p>
        </p:txBody>
      </p:sp>
      <p:cxnSp>
        <p:nvCxnSpPr>
          <p:cNvPr id="17" name="꺾인 연결선 16"/>
          <p:cNvCxnSpPr>
            <a:cxnSpLocks/>
            <a:stCxn id="73" idx="3"/>
            <a:endCxn id="75" idx="1"/>
          </p:cNvCxnSpPr>
          <p:nvPr/>
        </p:nvCxnSpPr>
        <p:spPr>
          <a:xfrm flipV="1">
            <a:off x="8044930" y="2923600"/>
            <a:ext cx="226618" cy="39622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cxnSpLocks/>
            <a:stCxn id="73" idx="3"/>
            <a:endCxn id="101" idx="1"/>
          </p:cNvCxnSpPr>
          <p:nvPr/>
        </p:nvCxnSpPr>
        <p:spPr>
          <a:xfrm>
            <a:off x="8044930" y="3319829"/>
            <a:ext cx="226618" cy="40453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cxnSpLocks/>
            <a:stCxn id="73" idx="3"/>
            <a:endCxn id="100" idx="1"/>
          </p:cNvCxnSpPr>
          <p:nvPr/>
        </p:nvCxnSpPr>
        <p:spPr>
          <a:xfrm>
            <a:off x="8044930" y="3319829"/>
            <a:ext cx="226618" cy="297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직선 연결선 106"/>
          <p:cNvCxnSpPr>
            <a:stCxn id="77" idx="0"/>
          </p:cNvCxnSpPr>
          <p:nvPr/>
        </p:nvCxnSpPr>
        <p:spPr>
          <a:xfrm flipV="1">
            <a:off x="5682956" y="4355362"/>
            <a:ext cx="1564" cy="33817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직사각형 113"/>
          <p:cNvSpPr/>
          <p:nvPr/>
        </p:nvSpPr>
        <p:spPr>
          <a:xfrm>
            <a:off x="8432211" y="4693536"/>
            <a:ext cx="1542370" cy="216024"/>
          </a:xfrm>
          <a:prstGeom prst="rect">
            <a:avLst/>
          </a:prstGeom>
          <a:solidFill>
            <a:schemeClr val="bg1">
              <a:lumMod val="95000"/>
            </a:schemeClr>
          </a:solidFill>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ko-KR" altLang="en-US" sz="1000" dirty="0"/>
              <a:t>우선권주장의 </a:t>
            </a:r>
            <a:r>
              <a:rPr lang="ko-KR" altLang="en-US" sz="1000" dirty="0" err="1"/>
              <a:t>취하不가능</a:t>
            </a:r>
            <a:endParaRPr lang="ko-KR" altLang="en-US" sz="1000" dirty="0"/>
          </a:p>
        </p:txBody>
      </p:sp>
      <p:cxnSp>
        <p:nvCxnSpPr>
          <p:cNvPr id="115" name="직선 연결선 114"/>
          <p:cNvCxnSpPr>
            <a:stCxn id="114" idx="0"/>
          </p:cNvCxnSpPr>
          <p:nvPr/>
        </p:nvCxnSpPr>
        <p:spPr>
          <a:xfrm flipV="1">
            <a:off x="9203396" y="4355362"/>
            <a:ext cx="1564" cy="33817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7" name="직사각형 116"/>
          <p:cNvSpPr/>
          <p:nvPr/>
        </p:nvSpPr>
        <p:spPr>
          <a:xfrm>
            <a:off x="6212429" y="5723703"/>
            <a:ext cx="1374625" cy="216024"/>
          </a:xfrm>
          <a:prstGeom prst="rect">
            <a:avLst/>
          </a:prstGeom>
          <a:solidFill>
            <a:schemeClr val="accent1">
              <a:lumMod val="20000"/>
              <a:lumOff val="80000"/>
            </a:schemeClr>
          </a:solidFill>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000" dirty="0"/>
              <a:t>Y</a:t>
            </a:r>
            <a:r>
              <a:rPr lang="ko-KR" altLang="en-US" sz="1000" dirty="0"/>
              <a:t>출원의 </a:t>
            </a:r>
            <a:r>
              <a:rPr lang="ko-KR" altLang="en-US" sz="1000" dirty="0" err="1"/>
              <a:t>취하가능</a:t>
            </a:r>
            <a:endParaRPr lang="ko-KR" altLang="en-US" sz="1000" dirty="0"/>
          </a:p>
        </p:txBody>
      </p:sp>
      <p:cxnSp>
        <p:nvCxnSpPr>
          <p:cNvPr id="118" name="직선 연결선 117"/>
          <p:cNvCxnSpPr>
            <a:stCxn id="117" idx="0"/>
          </p:cNvCxnSpPr>
          <p:nvPr/>
        </p:nvCxnSpPr>
        <p:spPr>
          <a:xfrm flipV="1">
            <a:off x="6899742" y="4366239"/>
            <a:ext cx="0" cy="135746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9" name="직사각형 118"/>
          <p:cNvSpPr/>
          <p:nvPr/>
        </p:nvSpPr>
        <p:spPr>
          <a:xfrm>
            <a:off x="9963045" y="5723703"/>
            <a:ext cx="1374625" cy="216024"/>
          </a:xfrm>
          <a:prstGeom prst="rect">
            <a:avLst/>
          </a:prstGeom>
          <a:solidFill>
            <a:schemeClr val="accent1">
              <a:lumMod val="20000"/>
              <a:lumOff val="80000"/>
            </a:schemeClr>
          </a:solidFill>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000" dirty="0"/>
              <a:t>Y</a:t>
            </a:r>
            <a:r>
              <a:rPr lang="ko-KR" altLang="en-US" sz="1000" dirty="0"/>
              <a:t>출원의 </a:t>
            </a:r>
            <a:r>
              <a:rPr lang="ko-KR" altLang="en-US" sz="1000" dirty="0" err="1"/>
              <a:t>취하가능</a:t>
            </a:r>
            <a:endParaRPr lang="ko-KR" altLang="en-US" sz="1000" dirty="0"/>
          </a:p>
        </p:txBody>
      </p:sp>
      <p:cxnSp>
        <p:nvCxnSpPr>
          <p:cNvPr id="122" name="직선 연결선 121"/>
          <p:cNvCxnSpPr>
            <a:stCxn id="119" idx="0"/>
          </p:cNvCxnSpPr>
          <p:nvPr/>
        </p:nvCxnSpPr>
        <p:spPr>
          <a:xfrm flipV="1">
            <a:off x="10650358" y="4366239"/>
            <a:ext cx="0" cy="135746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직선 화살표 연결선 31"/>
          <p:cNvCxnSpPr>
            <a:cxnSpLocks/>
            <a:stCxn id="77" idx="3"/>
          </p:cNvCxnSpPr>
          <p:nvPr/>
        </p:nvCxnSpPr>
        <p:spPr>
          <a:xfrm flipV="1">
            <a:off x="6370268" y="3870888"/>
            <a:ext cx="1984065" cy="930660"/>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9" name="직선 화살표 연결선 138"/>
          <p:cNvCxnSpPr>
            <a:cxnSpLocks/>
            <a:endCxn id="101" idx="2"/>
          </p:cNvCxnSpPr>
          <p:nvPr/>
        </p:nvCxnSpPr>
        <p:spPr>
          <a:xfrm flipV="1">
            <a:off x="7155402" y="3849726"/>
            <a:ext cx="2804125" cy="1873977"/>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6" name="모서리가 둥근 사각형 설명선 145"/>
          <p:cNvSpPr/>
          <p:nvPr/>
        </p:nvSpPr>
        <p:spPr>
          <a:xfrm>
            <a:off x="3019170" y="5970366"/>
            <a:ext cx="1619505" cy="477027"/>
          </a:xfrm>
          <a:prstGeom prst="wedgeRoundRectCallout">
            <a:avLst>
              <a:gd name="adj1" fmla="val -37"/>
              <a:gd name="adj2" fmla="val -121937"/>
              <a:gd name="adj3" fmla="val 16667"/>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우선권주장의 취하는 특별수권사항</a:t>
            </a:r>
          </a:p>
        </p:txBody>
      </p:sp>
      <p:sp>
        <p:nvSpPr>
          <p:cNvPr id="2" name="슬라이드 번호 개체 틀 1"/>
          <p:cNvSpPr>
            <a:spLocks noGrp="1"/>
          </p:cNvSpPr>
          <p:nvPr>
            <p:ph type="sldNum" sz="quarter" idx="12"/>
          </p:nvPr>
        </p:nvSpPr>
        <p:spPr/>
        <p:txBody>
          <a:bodyPr/>
          <a:lstStyle/>
          <a:p>
            <a:r>
              <a:rPr lang="en-US" altLang="ko-KR"/>
              <a:t>237</a:t>
            </a:r>
            <a:endParaRPr lang="ko-KR" altLang="en-US"/>
          </a:p>
        </p:txBody>
      </p:sp>
      <p:cxnSp>
        <p:nvCxnSpPr>
          <p:cNvPr id="16" name="연결선: 꺾임 15">
            <a:extLst>
              <a:ext uri="{FF2B5EF4-FFF2-40B4-BE49-F238E27FC236}">
                <a16:creationId xmlns:a16="http://schemas.microsoft.com/office/drawing/2014/main" id="{4838B202-7041-4BDD-AF50-25575AE07FC5}"/>
              </a:ext>
            </a:extLst>
          </p:cNvPr>
          <p:cNvCxnSpPr>
            <a:stCxn id="73" idx="2"/>
            <a:endCxn id="98" idx="0"/>
          </p:cNvCxnSpPr>
          <p:nvPr/>
        </p:nvCxnSpPr>
        <p:spPr>
          <a:xfrm rot="16200000" flipH="1">
            <a:off x="7250416" y="3570056"/>
            <a:ext cx="693035" cy="557508"/>
          </a:xfrm>
          <a:prstGeom prst="bentConnector3">
            <a:avLst>
              <a:gd name="adj1" fmla="val 50000"/>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0" name="직사각형 59">
            <a:extLst>
              <a:ext uri="{FF2B5EF4-FFF2-40B4-BE49-F238E27FC236}">
                <a16:creationId xmlns:a16="http://schemas.microsoft.com/office/drawing/2014/main" id="{6FE94E9D-C4D1-4093-8425-FE2C5EF0358C}"/>
              </a:ext>
            </a:extLst>
          </p:cNvPr>
          <p:cNvSpPr/>
          <p:nvPr/>
        </p:nvSpPr>
        <p:spPr>
          <a:xfrm>
            <a:off x="4995643" y="3611861"/>
            <a:ext cx="1374625" cy="216024"/>
          </a:xfrm>
          <a:prstGeom prst="rect">
            <a:avLst/>
          </a:prstGeom>
          <a:solidFill>
            <a:schemeClr val="bg1">
              <a:lumMod val="95000"/>
            </a:schemeClr>
          </a:solidFill>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000" dirty="0"/>
              <a:t>X</a:t>
            </a:r>
            <a:r>
              <a:rPr lang="ko-KR" altLang="en-US" sz="1000" dirty="0"/>
              <a:t>출원 설정등록불가</a:t>
            </a:r>
          </a:p>
        </p:txBody>
      </p:sp>
      <p:sp>
        <p:nvSpPr>
          <p:cNvPr id="64" name="직사각형 63">
            <a:extLst>
              <a:ext uri="{FF2B5EF4-FFF2-40B4-BE49-F238E27FC236}">
                <a16:creationId xmlns:a16="http://schemas.microsoft.com/office/drawing/2014/main" id="{22B8F4AB-AC77-41A9-A435-C680FE5732C0}"/>
              </a:ext>
            </a:extLst>
          </p:cNvPr>
          <p:cNvSpPr/>
          <p:nvPr/>
        </p:nvSpPr>
        <p:spPr>
          <a:xfrm>
            <a:off x="4995642" y="3143054"/>
            <a:ext cx="1381547" cy="438386"/>
          </a:xfrm>
          <a:prstGeom prst="rect">
            <a:avLst/>
          </a:prstGeom>
          <a:ln w="12700">
            <a:solidFill>
              <a:schemeClr val="bg1">
                <a:lumMod val="50000"/>
              </a:schemeClr>
            </a:solidFill>
            <a:prstDash val="solid"/>
          </a:ln>
        </p:spPr>
        <p:style>
          <a:lnRef idx="2">
            <a:schemeClr val="accent3"/>
          </a:lnRef>
          <a:fillRef idx="1">
            <a:schemeClr val="lt1"/>
          </a:fillRef>
          <a:effectRef idx="0">
            <a:schemeClr val="accent3"/>
          </a:effectRef>
          <a:fontRef idx="minor">
            <a:schemeClr val="dk1"/>
          </a:fontRef>
        </p:style>
        <p:txBody>
          <a:bodyPr rtlCol="0" anchor="ctr"/>
          <a:lstStyle/>
          <a:p>
            <a:r>
              <a:rPr lang="ko-KR" altLang="en-US" sz="1000" dirty="0"/>
              <a:t>단</a:t>
            </a:r>
            <a:r>
              <a:rPr lang="en-US" altLang="ko-KR" sz="1000" dirty="0"/>
              <a:t>, </a:t>
            </a:r>
            <a:r>
              <a:rPr lang="ko-KR" altLang="en-US" sz="1000" dirty="0"/>
              <a:t>우선권주장이 취하된 경우 가능</a:t>
            </a:r>
          </a:p>
        </p:txBody>
      </p:sp>
      <p:cxnSp>
        <p:nvCxnSpPr>
          <p:cNvPr id="65" name="직선 연결선 64">
            <a:extLst>
              <a:ext uri="{FF2B5EF4-FFF2-40B4-BE49-F238E27FC236}">
                <a16:creationId xmlns:a16="http://schemas.microsoft.com/office/drawing/2014/main" id="{762F51A1-0162-4C97-A274-C6FC5DA67D9F}"/>
              </a:ext>
            </a:extLst>
          </p:cNvPr>
          <p:cNvCxnSpPr>
            <a:cxnSpLocks/>
          </p:cNvCxnSpPr>
          <p:nvPr/>
        </p:nvCxnSpPr>
        <p:spPr>
          <a:xfrm>
            <a:off x="5863781" y="3827885"/>
            <a:ext cx="0" cy="36744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99183774"/>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55</a:t>
            </a:r>
            <a:r>
              <a:rPr lang="ko-KR" altLang="en-US" dirty="0"/>
              <a:t>조</a:t>
            </a:r>
            <a:r>
              <a:rPr lang="en-US" altLang="ko-KR" dirty="0"/>
              <a:t>, </a:t>
            </a:r>
            <a:r>
              <a:rPr lang="ko-KR" altLang="en-US" dirty="0"/>
              <a:t>제</a:t>
            </a:r>
            <a:r>
              <a:rPr lang="en-US" altLang="ko-KR" dirty="0"/>
              <a:t>56</a:t>
            </a:r>
            <a:r>
              <a:rPr lang="ko-KR" altLang="en-US" dirty="0"/>
              <a:t>조</a:t>
            </a:r>
          </a:p>
        </p:txBody>
      </p:sp>
      <p:sp>
        <p:nvSpPr>
          <p:cNvPr id="5" name="텍스트 개체 틀 4"/>
          <p:cNvSpPr>
            <a:spLocks noGrp="1"/>
          </p:cNvSpPr>
          <p:nvPr>
            <p:ph type="body" sz="quarter" idx="13"/>
          </p:nvPr>
        </p:nvSpPr>
        <p:spPr/>
        <p:txBody>
          <a:bodyPr/>
          <a:lstStyle/>
          <a:p>
            <a:r>
              <a:rPr lang="ko-KR" altLang="en-US" dirty="0"/>
              <a:t>제</a:t>
            </a:r>
            <a:r>
              <a:rPr lang="en-US" altLang="ko-KR" dirty="0"/>
              <a:t>55</a:t>
            </a:r>
            <a:r>
              <a:rPr lang="ko-KR" altLang="en-US" dirty="0"/>
              <a:t>조의 이해</a:t>
            </a:r>
          </a:p>
        </p:txBody>
      </p:sp>
      <p:sp>
        <p:nvSpPr>
          <p:cNvPr id="58" name="TextBox 57"/>
          <p:cNvSpPr txBox="1"/>
          <p:nvPr/>
        </p:nvSpPr>
        <p:spPr>
          <a:xfrm>
            <a:off x="77875" y="986046"/>
            <a:ext cx="11936323" cy="5909310"/>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55</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특허출원 등을 기초로 한 우선권 주장</a:t>
            </a:r>
            <a:r>
              <a:rPr lang="en-US" altLang="ko-KR" sz="1400" b="1" dirty="0">
                <a:solidFill>
                  <a:schemeClr val="accent1"/>
                </a:solidFill>
              </a:rPr>
              <a:t>) </a:t>
            </a:r>
            <a:r>
              <a:rPr lang="en-US" altLang="ko-KR" sz="1400" dirty="0">
                <a:solidFill>
                  <a:schemeClr val="tx2"/>
                </a:solidFill>
              </a:rPr>
              <a:t> </a:t>
            </a:r>
            <a:r>
              <a:rPr lang="ko-KR" altLang="en-US" sz="1400" dirty="0">
                <a:solidFill>
                  <a:schemeClr val="tx2"/>
                </a:solidFill>
              </a:rPr>
              <a:t>① 특허를 받으려는 자는 자신이 특허나 실용신안등록을 받을 수 있는 권리를 가진 특허출원 또는 실용신안등록출원으로 먼저 한 출원</a:t>
            </a:r>
            <a:r>
              <a:rPr lang="en-US" altLang="ko-KR" sz="1400" dirty="0">
                <a:solidFill>
                  <a:schemeClr val="tx2"/>
                </a:solidFill>
              </a:rPr>
              <a:t>(</a:t>
            </a:r>
            <a:r>
              <a:rPr lang="ko-KR" altLang="en-US" sz="1400" dirty="0">
                <a:solidFill>
                  <a:schemeClr val="tx2"/>
                </a:solidFill>
              </a:rPr>
              <a:t>이하 </a:t>
            </a:r>
            <a:r>
              <a:rPr lang="en-US" altLang="ko-KR" sz="1400" dirty="0">
                <a:solidFill>
                  <a:schemeClr val="tx2"/>
                </a:solidFill>
              </a:rPr>
              <a:t>"</a:t>
            </a:r>
            <a:r>
              <a:rPr lang="ko-KR" altLang="en-US" sz="1400" dirty="0" err="1">
                <a:solidFill>
                  <a:schemeClr val="tx2"/>
                </a:solidFill>
              </a:rPr>
              <a:t>선출원</a:t>
            </a:r>
            <a:r>
              <a:rPr lang="en-US" altLang="ko-KR" sz="1400" dirty="0">
                <a:solidFill>
                  <a:schemeClr val="tx2"/>
                </a:solidFill>
              </a:rPr>
              <a:t>"</a:t>
            </a:r>
            <a:r>
              <a:rPr lang="ko-KR" altLang="en-US" sz="1400" dirty="0">
                <a:solidFill>
                  <a:schemeClr val="tx2"/>
                </a:solidFill>
              </a:rPr>
              <a:t>이라 한다</a:t>
            </a:r>
            <a:r>
              <a:rPr lang="en-US" altLang="ko-KR" sz="1400" dirty="0">
                <a:solidFill>
                  <a:schemeClr val="tx2"/>
                </a:solidFill>
              </a:rPr>
              <a:t>)</a:t>
            </a:r>
            <a:r>
              <a:rPr lang="ko-KR" altLang="en-US" sz="1400" dirty="0">
                <a:solidFill>
                  <a:schemeClr val="tx2"/>
                </a:solidFill>
              </a:rPr>
              <a:t>의 출원서에 최초로 첨부한 명세서 또는 도면에 기재된 발명을 기초로 그 </a:t>
            </a:r>
            <a:r>
              <a:rPr lang="ko-KR" altLang="en-US" sz="1400" dirty="0" err="1">
                <a:solidFill>
                  <a:schemeClr val="tx2"/>
                </a:solidFill>
              </a:rPr>
              <a:t>특허출원한</a:t>
            </a:r>
            <a:r>
              <a:rPr lang="ko-KR" altLang="en-US" sz="1400" dirty="0">
                <a:solidFill>
                  <a:schemeClr val="tx2"/>
                </a:solidFill>
              </a:rPr>
              <a:t> 발명에 관하여 우선권을 주장할 수 있다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다음 각 호의 어느 하나에 해당하는 경우에는 그러하지 아니하다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그 특허출원이 선출원의 출원일부터 </a:t>
            </a:r>
            <a:r>
              <a:rPr lang="en-US" altLang="ko-KR" sz="1400" dirty="0">
                <a:solidFill>
                  <a:schemeClr val="tx2"/>
                </a:solidFill>
              </a:rPr>
              <a:t>1</a:t>
            </a:r>
            <a:r>
              <a:rPr lang="ko-KR" altLang="en-US" sz="1400" dirty="0">
                <a:solidFill>
                  <a:schemeClr val="tx2"/>
                </a:solidFill>
              </a:rPr>
              <a:t>년이 지난 후에 출원된 경우</a:t>
            </a:r>
          </a:p>
          <a:p>
            <a:pPr fontAlgn="base"/>
            <a:r>
              <a:rPr lang="en-US" altLang="ko-KR" sz="1400" dirty="0">
                <a:solidFill>
                  <a:schemeClr val="tx2"/>
                </a:solidFill>
              </a:rPr>
              <a:t>2. </a:t>
            </a:r>
            <a:r>
              <a:rPr lang="ko-KR" altLang="en-US" sz="1400" dirty="0">
                <a:solidFill>
                  <a:schemeClr val="tx2"/>
                </a:solidFill>
              </a:rPr>
              <a:t>선출원이 제</a:t>
            </a:r>
            <a:r>
              <a:rPr lang="en-US" altLang="ko-KR" sz="1400" dirty="0">
                <a:solidFill>
                  <a:schemeClr val="tx2"/>
                </a:solidFill>
              </a:rPr>
              <a:t>52</a:t>
            </a:r>
            <a:r>
              <a:rPr lang="ko-KR" altLang="en-US" sz="1400" dirty="0">
                <a:solidFill>
                  <a:schemeClr val="tx2"/>
                </a:solidFill>
              </a:rPr>
              <a:t>조제</a:t>
            </a:r>
            <a:r>
              <a:rPr lang="en-US" altLang="ko-KR" sz="1400" dirty="0">
                <a:solidFill>
                  <a:schemeClr val="tx2"/>
                </a:solidFill>
              </a:rPr>
              <a:t>2</a:t>
            </a:r>
            <a:r>
              <a:rPr lang="ko-KR" altLang="en-US" sz="1400" dirty="0">
                <a:solidFill>
                  <a:schemeClr val="tx2"/>
                </a:solidFill>
              </a:rPr>
              <a:t>항</a:t>
            </a:r>
            <a:r>
              <a:rPr lang="en-US" altLang="ko-KR" sz="1400" dirty="0">
                <a:solidFill>
                  <a:schemeClr val="tx2"/>
                </a:solidFill>
              </a:rPr>
              <a:t>(</a:t>
            </a:r>
            <a:r>
              <a:rPr lang="ko-KR" altLang="en-US" sz="1400" dirty="0">
                <a:solidFill>
                  <a:schemeClr val="tx2"/>
                </a:solidFill>
              </a:rPr>
              <a:t>「실용신안법」 제</a:t>
            </a:r>
            <a:r>
              <a:rPr lang="en-US" altLang="ko-KR" sz="1400" dirty="0">
                <a:solidFill>
                  <a:schemeClr val="tx2"/>
                </a:solidFill>
              </a:rPr>
              <a:t>11</a:t>
            </a:r>
            <a:r>
              <a:rPr lang="ko-KR" altLang="en-US" sz="1400" dirty="0">
                <a:solidFill>
                  <a:schemeClr val="tx2"/>
                </a:solidFill>
              </a:rPr>
              <a:t>조에 따라 준용되는 경우를 포함한다</a:t>
            </a:r>
            <a:r>
              <a:rPr lang="en-US" altLang="ko-KR" sz="1400" dirty="0">
                <a:solidFill>
                  <a:schemeClr val="tx2"/>
                </a:solidFill>
              </a:rPr>
              <a:t>)</a:t>
            </a:r>
            <a:r>
              <a:rPr lang="ko-KR" altLang="en-US" sz="1400" dirty="0">
                <a:solidFill>
                  <a:schemeClr val="tx2"/>
                </a:solidFill>
              </a:rPr>
              <a:t>에 따른 분할출원 또는 </a:t>
            </a:r>
            <a:r>
              <a:rPr lang="ko-KR" altLang="en-US" sz="1400" dirty="0">
                <a:solidFill>
                  <a:srgbClr val="FF0000"/>
                </a:solidFill>
              </a:rPr>
              <a:t>제</a:t>
            </a:r>
            <a:r>
              <a:rPr lang="en-US" altLang="ko-KR" sz="1400" dirty="0">
                <a:solidFill>
                  <a:srgbClr val="FF0000"/>
                </a:solidFill>
              </a:rPr>
              <a:t>52</a:t>
            </a:r>
            <a:r>
              <a:rPr lang="ko-KR" altLang="en-US" sz="1400" dirty="0">
                <a:solidFill>
                  <a:srgbClr val="FF0000"/>
                </a:solidFill>
              </a:rPr>
              <a:t>조의</a:t>
            </a:r>
            <a:r>
              <a:rPr lang="en-US" altLang="ko-KR" sz="1400" dirty="0">
                <a:solidFill>
                  <a:srgbClr val="FF0000"/>
                </a:solidFill>
              </a:rPr>
              <a:t>2</a:t>
            </a:r>
            <a:r>
              <a:rPr lang="ko-KR" altLang="en-US" sz="1400" dirty="0">
                <a:solidFill>
                  <a:srgbClr val="FF0000"/>
                </a:solidFill>
              </a:rPr>
              <a:t>제</a:t>
            </a:r>
            <a:r>
              <a:rPr lang="en-US" altLang="ko-KR" sz="1400" dirty="0">
                <a:solidFill>
                  <a:srgbClr val="FF0000"/>
                </a:solidFill>
              </a:rPr>
              <a:t>2</a:t>
            </a:r>
            <a:r>
              <a:rPr lang="ko-KR" altLang="en-US" sz="1400" dirty="0">
                <a:solidFill>
                  <a:srgbClr val="FF0000"/>
                </a:solidFill>
              </a:rPr>
              <a:t>항</a:t>
            </a:r>
            <a:r>
              <a:rPr lang="en-US" altLang="ko-KR" sz="1400" dirty="0">
                <a:solidFill>
                  <a:srgbClr val="FF0000"/>
                </a:solidFill>
              </a:rPr>
              <a:t>(</a:t>
            </a:r>
            <a:r>
              <a:rPr lang="ko-KR" altLang="en-US" sz="1400" dirty="0">
                <a:solidFill>
                  <a:srgbClr val="FF0000"/>
                </a:solidFill>
              </a:rPr>
              <a:t>「실용신안법」 제</a:t>
            </a:r>
            <a:r>
              <a:rPr lang="en-US" altLang="ko-KR" sz="1400" dirty="0">
                <a:solidFill>
                  <a:srgbClr val="FF0000"/>
                </a:solidFill>
              </a:rPr>
              <a:t>11</a:t>
            </a:r>
            <a:r>
              <a:rPr lang="ko-KR" altLang="en-US" sz="1400" dirty="0">
                <a:solidFill>
                  <a:srgbClr val="FF0000"/>
                </a:solidFill>
              </a:rPr>
              <a:t>조에 따라 준용되는 경우를 포함한다</a:t>
            </a:r>
            <a:r>
              <a:rPr lang="en-US" altLang="ko-KR" sz="1400" dirty="0">
                <a:solidFill>
                  <a:srgbClr val="FF0000"/>
                </a:solidFill>
              </a:rPr>
              <a:t>)</a:t>
            </a:r>
            <a:r>
              <a:rPr lang="ko-KR" altLang="en-US" sz="1400" dirty="0">
                <a:solidFill>
                  <a:srgbClr val="FF0000"/>
                </a:solidFill>
              </a:rPr>
              <a:t>에 따른 </a:t>
            </a:r>
            <a:r>
              <a:rPr lang="ko-KR" altLang="en-US" sz="1400" dirty="0" err="1">
                <a:solidFill>
                  <a:srgbClr val="FF0000"/>
                </a:solidFill>
              </a:rPr>
              <a:t>분리출원이거나</a:t>
            </a:r>
            <a:r>
              <a:rPr lang="ko-KR" altLang="en-US" sz="1400" dirty="0">
                <a:solidFill>
                  <a:srgbClr val="FF0000"/>
                </a:solidFill>
              </a:rPr>
              <a:t> </a:t>
            </a:r>
            <a:r>
              <a:rPr lang="ko-KR" altLang="en-US" sz="1400" dirty="0">
                <a:solidFill>
                  <a:schemeClr val="tx2"/>
                </a:solidFill>
              </a:rPr>
              <a:t>제</a:t>
            </a:r>
            <a:r>
              <a:rPr lang="en-US" altLang="ko-KR" sz="1400" dirty="0">
                <a:solidFill>
                  <a:schemeClr val="tx2"/>
                </a:solidFill>
              </a:rPr>
              <a:t>53</a:t>
            </a:r>
            <a:r>
              <a:rPr lang="ko-KR" altLang="en-US" sz="1400" dirty="0">
                <a:solidFill>
                  <a:schemeClr val="tx2"/>
                </a:solidFill>
              </a:rPr>
              <a:t>조제</a:t>
            </a:r>
            <a:r>
              <a:rPr lang="en-US" altLang="ko-KR" sz="1400" dirty="0">
                <a:solidFill>
                  <a:schemeClr val="tx2"/>
                </a:solidFill>
              </a:rPr>
              <a:t>2</a:t>
            </a:r>
            <a:r>
              <a:rPr lang="ko-KR" altLang="en-US" sz="1400" dirty="0">
                <a:solidFill>
                  <a:schemeClr val="tx2"/>
                </a:solidFill>
              </a:rPr>
              <a:t>항 또는 「실용신안법」 제</a:t>
            </a:r>
            <a:r>
              <a:rPr lang="en-US" altLang="ko-KR" sz="1400" dirty="0">
                <a:solidFill>
                  <a:schemeClr val="tx2"/>
                </a:solidFill>
              </a:rPr>
              <a:t>10</a:t>
            </a:r>
            <a:r>
              <a:rPr lang="ko-KR" altLang="en-US" sz="1400" dirty="0">
                <a:solidFill>
                  <a:schemeClr val="tx2"/>
                </a:solidFill>
              </a:rPr>
              <a:t>조제</a:t>
            </a:r>
            <a:r>
              <a:rPr lang="en-US" altLang="ko-KR" sz="1400" dirty="0">
                <a:solidFill>
                  <a:schemeClr val="tx2"/>
                </a:solidFill>
              </a:rPr>
              <a:t>2</a:t>
            </a:r>
            <a:r>
              <a:rPr lang="ko-KR" altLang="en-US" sz="1400" dirty="0">
                <a:solidFill>
                  <a:schemeClr val="tx2"/>
                </a:solidFill>
              </a:rPr>
              <a:t>항에 따른 </a:t>
            </a:r>
            <a:r>
              <a:rPr lang="ko-KR" altLang="en-US" sz="1400" dirty="0" err="1">
                <a:solidFill>
                  <a:schemeClr val="tx2"/>
                </a:solidFill>
              </a:rPr>
              <a:t>변경출원인</a:t>
            </a:r>
            <a:r>
              <a:rPr lang="ko-KR" altLang="en-US" sz="1400" dirty="0">
                <a:solidFill>
                  <a:schemeClr val="tx2"/>
                </a:solidFill>
              </a:rPr>
              <a:t> 경우</a:t>
            </a:r>
            <a:endParaRPr lang="en-US" altLang="ko-KR" sz="1400" dirty="0">
              <a:solidFill>
                <a:schemeClr val="tx2"/>
              </a:solidFill>
            </a:endParaRPr>
          </a:p>
          <a:p>
            <a:pPr fontAlgn="base"/>
            <a:r>
              <a:rPr lang="en-US" altLang="ko-KR" sz="1400" dirty="0">
                <a:solidFill>
                  <a:schemeClr val="tx2"/>
                </a:solidFill>
              </a:rPr>
              <a:t>3. </a:t>
            </a:r>
            <a:r>
              <a:rPr lang="ko-KR" altLang="en-US" sz="1400" dirty="0">
                <a:solidFill>
                  <a:schemeClr val="tx2"/>
                </a:solidFill>
              </a:rPr>
              <a:t>그 특허출원을 할 때에 선출원이 포기</a:t>
            </a:r>
            <a:r>
              <a:rPr lang="en-US" altLang="ko-KR" sz="1400" dirty="0">
                <a:solidFill>
                  <a:schemeClr val="tx2"/>
                </a:solidFill>
              </a:rPr>
              <a:t>·</a:t>
            </a:r>
            <a:r>
              <a:rPr lang="ko-KR" altLang="en-US" sz="1400" dirty="0">
                <a:solidFill>
                  <a:schemeClr val="tx2"/>
                </a:solidFill>
              </a:rPr>
              <a:t>무효 또는 취하된 경우</a:t>
            </a:r>
          </a:p>
          <a:p>
            <a:pPr fontAlgn="base"/>
            <a:r>
              <a:rPr lang="en-US" altLang="ko-KR" sz="1400" dirty="0">
                <a:solidFill>
                  <a:schemeClr val="tx2"/>
                </a:solidFill>
              </a:rPr>
              <a:t>4. </a:t>
            </a:r>
            <a:r>
              <a:rPr lang="ko-KR" altLang="en-US" sz="1400" dirty="0">
                <a:solidFill>
                  <a:schemeClr val="tx2"/>
                </a:solidFill>
              </a:rPr>
              <a:t>그 특허출원을 할 때에 선출원이 </a:t>
            </a:r>
            <a:r>
              <a:rPr lang="ko-KR" altLang="en-US" sz="1400" dirty="0" err="1">
                <a:solidFill>
                  <a:schemeClr val="tx2"/>
                </a:solidFill>
              </a:rPr>
              <a:t>설정등록되었거나</a:t>
            </a:r>
            <a:r>
              <a:rPr lang="ko-KR" altLang="en-US" sz="1400" dirty="0">
                <a:solidFill>
                  <a:schemeClr val="tx2"/>
                </a:solidFill>
              </a:rPr>
              <a:t> </a:t>
            </a:r>
            <a:r>
              <a:rPr lang="ko-KR" altLang="en-US" sz="1400" dirty="0" err="1">
                <a:solidFill>
                  <a:schemeClr val="tx2"/>
                </a:solidFill>
              </a:rPr>
              <a:t>특허거절결정</a:t>
            </a:r>
            <a:r>
              <a:rPr lang="en-US" altLang="ko-KR" sz="1400" dirty="0">
                <a:solidFill>
                  <a:schemeClr val="tx2"/>
                </a:solidFill>
              </a:rPr>
              <a:t>, </a:t>
            </a:r>
            <a:r>
              <a:rPr lang="ko-KR" altLang="en-US" sz="1400" dirty="0" err="1">
                <a:solidFill>
                  <a:schemeClr val="tx2"/>
                </a:solidFill>
              </a:rPr>
              <a:t>실용신안등록거절결정</a:t>
            </a:r>
            <a:r>
              <a:rPr lang="ko-KR" altLang="en-US" sz="1400" dirty="0">
                <a:solidFill>
                  <a:schemeClr val="tx2"/>
                </a:solidFill>
              </a:rPr>
              <a:t> 또는 거절한다는 취지의 </a:t>
            </a:r>
            <a:r>
              <a:rPr lang="ko-KR" altLang="en-US" sz="1400" dirty="0" err="1">
                <a:solidFill>
                  <a:schemeClr val="tx2"/>
                </a:solidFill>
              </a:rPr>
              <a:t>심결이</a:t>
            </a:r>
            <a:r>
              <a:rPr lang="ko-KR" altLang="en-US" sz="1400" dirty="0">
                <a:solidFill>
                  <a:schemeClr val="tx2"/>
                </a:solidFill>
              </a:rPr>
              <a:t> 확정된 경우</a:t>
            </a:r>
          </a:p>
          <a:p>
            <a:pPr fontAlgn="base"/>
            <a:r>
              <a:rPr lang="ko-KR" altLang="en-US" sz="1400" dirty="0">
                <a:solidFill>
                  <a:schemeClr val="tx2"/>
                </a:solidFill>
              </a:rPr>
              <a:t>② 제</a:t>
            </a:r>
            <a:r>
              <a:rPr lang="en-US" altLang="ko-KR" sz="1400" dirty="0">
                <a:solidFill>
                  <a:schemeClr val="tx2"/>
                </a:solidFill>
              </a:rPr>
              <a:t>1</a:t>
            </a:r>
            <a:r>
              <a:rPr lang="ko-KR" altLang="en-US" sz="1400" dirty="0">
                <a:solidFill>
                  <a:schemeClr val="tx2"/>
                </a:solidFill>
              </a:rPr>
              <a:t>항에 따른 우선권을 주장하려는 자는 특허출원을 할 때 </a:t>
            </a:r>
            <a:r>
              <a:rPr lang="ko-KR" altLang="en-US" sz="1400" dirty="0" err="1">
                <a:solidFill>
                  <a:schemeClr val="tx2"/>
                </a:solidFill>
              </a:rPr>
              <a:t>특허출원서에</a:t>
            </a:r>
            <a:r>
              <a:rPr lang="ko-KR" altLang="en-US" sz="1400" dirty="0">
                <a:solidFill>
                  <a:schemeClr val="tx2"/>
                </a:solidFill>
              </a:rPr>
              <a:t> 그 취지와 선출원의 표시를 하여야 한다</a:t>
            </a:r>
            <a:r>
              <a:rPr lang="en-US" altLang="ko-KR" sz="1400" dirty="0">
                <a:solidFill>
                  <a:schemeClr val="tx2"/>
                </a:solidFill>
              </a:rPr>
              <a:t>.</a:t>
            </a:r>
          </a:p>
          <a:p>
            <a:pPr fontAlgn="base"/>
            <a:r>
              <a:rPr lang="en-US" altLang="ko-KR" sz="1400" dirty="0">
                <a:solidFill>
                  <a:schemeClr val="tx2"/>
                </a:solidFill>
              </a:rPr>
              <a:t>③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따른 우선권 주장을 수반하는 </a:t>
            </a:r>
            <a:r>
              <a:rPr lang="ko-KR" altLang="en-US" sz="1400" dirty="0" err="1">
                <a:solidFill>
                  <a:schemeClr val="tx2"/>
                </a:solidFill>
              </a:rPr>
              <a:t>특허출원된</a:t>
            </a:r>
            <a:r>
              <a:rPr lang="ko-KR" altLang="en-US" sz="1400" dirty="0">
                <a:solidFill>
                  <a:schemeClr val="tx2"/>
                </a:solidFill>
              </a:rPr>
              <a:t> 발명 중 해당 우선권 주장의 기초가 된 선출원의 출원서에 최초로 첨부된 명세서 또는 도면에 기재된 발명과 같은 발명에 관하여 제</a:t>
            </a:r>
            <a:r>
              <a:rPr lang="en-US" altLang="ko-KR" sz="1400" dirty="0">
                <a:solidFill>
                  <a:schemeClr val="tx2"/>
                </a:solidFill>
              </a:rPr>
              <a:t>29</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a:t>
            </a:r>
            <a:r>
              <a:rPr lang="en-US" altLang="ko-KR" sz="1400" dirty="0">
                <a:solidFill>
                  <a:schemeClr val="tx2"/>
                </a:solidFill>
              </a:rPr>
              <a:t>, </a:t>
            </a:r>
            <a:r>
              <a:rPr lang="ko-KR" altLang="en-US" sz="1400" dirty="0">
                <a:solidFill>
                  <a:srgbClr val="FF0000"/>
                </a:solidFill>
              </a:rPr>
              <a:t>같은 조 제</a:t>
            </a:r>
            <a:r>
              <a:rPr lang="en-US" altLang="ko-KR" sz="1400" dirty="0">
                <a:solidFill>
                  <a:srgbClr val="FF0000"/>
                </a:solidFill>
              </a:rPr>
              <a:t>3</a:t>
            </a:r>
            <a:r>
              <a:rPr lang="ko-KR" altLang="en-US" sz="1400" dirty="0">
                <a:solidFill>
                  <a:srgbClr val="FF0000"/>
                </a:solidFill>
              </a:rPr>
              <a:t>항 본문</a:t>
            </a:r>
            <a:r>
              <a:rPr lang="en-US" altLang="ko-KR" sz="1400" dirty="0">
                <a:solidFill>
                  <a:srgbClr val="FF0000"/>
                </a:solidFill>
              </a:rPr>
              <a:t>, </a:t>
            </a:r>
            <a:r>
              <a:rPr lang="ko-KR" altLang="en-US" sz="1400" dirty="0">
                <a:solidFill>
                  <a:srgbClr val="FF0000"/>
                </a:solidFill>
              </a:rPr>
              <a:t>같은 조 제</a:t>
            </a:r>
            <a:r>
              <a:rPr lang="en-US" altLang="ko-KR" sz="1400" dirty="0">
                <a:solidFill>
                  <a:srgbClr val="FF0000"/>
                </a:solidFill>
              </a:rPr>
              <a:t>4</a:t>
            </a:r>
            <a:r>
              <a:rPr lang="ko-KR" altLang="en-US" sz="1400" dirty="0">
                <a:solidFill>
                  <a:srgbClr val="FF0000"/>
                </a:solidFill>
              </a:rPr>
              <a:t>항 본문</a:t>
            </a:r>
            <a:r>
              <a:rPr lang="en-US" altLang="ko-KR" sz="1400" dirty="0">
                <a:solidFill>
                  <a:schemeClr val="tx2"/>
                </a:solidFill>
              </a:rPr>
              <a:t>, </a:t>
            </a:r>
            <a:r>
              <a:rPr lang="ko-KR" altLang="en-US" sz="1400" dirty="0">
                <a:solidFill>
                  <a:srgbClr val="FF0000"/>
                </a:solidFill>
              </a:rPr>
              <a:t>제</a:t>
            </a:r>
            <a:r>
              <a:rPr lang="en-US" altLang="ko-KR" sz="1400" dirty="0">
                <a:solidFill>
                  <a:srgbClr val="FF0000"/>
                </a:solidFill>
              </a:rPr>
              <a:t>30</a:t>
            </a:r>
            <a:r>
              <a:rPr lang="ko-KR" altLang="en-US" sz="1400" dirty="0">
                <a:solidFill>
                  <a:srgbClr val="FF0000"/>
                </a:solidFill>
              </a:rPr>
              <a:t>조제</a:t>
            </a:r>
            <a:r>
              <a:rPr lang="en-US" altLang="ko-KR" sz="1400" dirty="0">
                <a:solidFill>
                  <a:srgbClr val="FF0000"/>
                </a:solidFill>
              </a:rPr>
              <a:t>1</a:t>
            </a:r>
            <a:r>
              <a:rPr lang="ko-KR" altLang="en-US" sz="1400" dirty="0">
                <a:solidFill>
                  <a:srgbClr val="FF0000"/>
                </a:solidFill>
              </a:rPr>
              <a:t>항</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36</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항부터 제</a:t>
            </a:r>
            <a:r>
              <a:rPr lang="en-US" altLang="ko-KR" sz="1400" dirty="0">
                <a:solidFill>
                  <a:schemeClr val="tx2"/>
                </a:solidFill>
              </a:rPr>
              <a:t>3</a:t>
            </a:r>
            <a:r>
              <a:rPr lang="ko-KR" altLang="en-US" sz="1400" dirty="0">
                <a:solidFill>
                  <a:schemeClr val="tx2"/>
                </a:solidFill>
              </a:rPr>
              <a:t>항까지</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96</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3</a:t>
            </a:r>
            <a:r>
              <a:rPr lang="ko-KR" altLang="en-US" sz="1400" dirty="0">
                <a:solidFill>
                  <a:schemeClr val="tx2"/>
                </a:solidFill>
              </a:rPr>
              <a:t>호</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98</a:t>
            </a:r>
            <a:r>
              <a:rPr lang="ko-KR" altLang="en-US" sz="1400" dirty="0">
                <a:solidFill>
                  <a:schemeClr val="tx2"/>
                </a:solidFill>
              </a:rPr>
              <a:t>조</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103</a:t>
            </a:r>
            <a:r>
              <a:rPr lang="ko-KR" altLang="en-US" sz="1400" dirty="0">
                <a:solidFill>
                  <a:schemeClr val="tx2"/>
                </a:solidFill>
              </a:rPr>
              <a:t>조</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105</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129</a:t>
            </a:r>
            <a:r>
              <a:rPr lang="ko-KR" altLang="en-US" sz="1400" dirty="0">
                <a:solidFill>
                  <a:schemeClr val="tx2"/>
                </a:solidFill>
              </a:rPr>
              <a:t>조 및 제</a:t>
            </a:r>
            <a:r>
              <a:rPr lang="en-US" altLang="ko-KR" sz="1400" dirty="0">
                <a:solidFill>
                  <a:schemeClr val="tx2"/>
                </a:solidFill>
              </a:rPr>
              <a:t>136</a:t>
            </a:r>
            <a:r>
              <a:rPr lang="ko-KR" altLang="en-US" sz="1400" dirty="0">
                <a:solidFill>
                  <a:schemeClr val="tx2"/>
                </a:solidFill>
              </a:rPr>
              <a:t>조제</a:t>
            </a:r>
            <a:r>
              <a:rPr lang="en-US" altLang="ko-KR" sz="1400" dirty="0">
                <a:solidFill>
                  <a:schemeClr val="tx2"/>
                </a:solidFill>
              </a:rPr>
              <a:t>5</a:t>
            </a:r>
            <a:r>
              <a:rPr lang="ko-KR" altLang="en-US" sz="1400" dirty="0">
                <a:solidFill>
                  <a:schemeClr val="tx2"/>
                </a:solidFill>
              </a:rPr>
              <a:t>항</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132</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제</a:t>
            </a:r>
            <a:r>
              <a:rPr lang="en-US" altLang="ko-KR" sz="1400" dirty="0">
                <a:solidFill>
                  <a:schemeClr val="tx2"/>
                </a:solidFill>
              </a:rPr>
              <a:t>3</a:t>
            </a:r>
            <a:r>
              <a:rPr lang="ko-KR" altLang="en-US" sz="1400" dirty="0">
                <a:solidFill>
                  <a:schemeClr val="tx2"/>
                </a:solidFill>
              </a:rPr>
              <a:t>항 또는 제</a:t>
            </a:r>
            <a:r>
              <a:rPr lang="en-US" altLang="ko-KR" sz="1400" dirty="0">
                <a:solidFill>
                  <a:schemeClr val="tx2"/>
                </a:solidFill>
              </a:rPr>
              <a:t>133</a:t>
            </a:r>
            <a:r>
              <a:rPr lang="ko-KR" altLang="en-US" sz="1400" dirty="0">
                <a:solidFill>
                  <a:schemeClr val="tx2"/>
                </a:solidFill>
              </a:rPr>
              <a:t>조의</a:t>
            </a:r>
            <a:r>
              <a:rPr lang="en-US" altLang="ko-KR" sz="1400" dirty="0">
                <a:solidFill>
                  <a:schemeClr val="tx2"/>
                </a:solidFill>
              </a:rPr>
              <a:t>2</a:t>
            </a:r>
            <a:r>
              <a:rPr lang="ko-KR" altLang="en-US" sz="1400" dirty="0">
                <a:solidFill>
                  <a:schemeClr val="tx2"/>
                </a:solidFill>
              </a:rPr>
              <a:t>제</a:t>
            </a:r>
            <a:r>
              <a:rPr lang="en-US" altLang="ko-KR" sz="1400" dirty="0">
                <a:solidFill>
                  <a:schemeClr val="tx2"/>
                </a:solidFill>
              </a:rPr>
              <a:t>4</a:t>
            </a:r>
            <a:r>
              <a:rPr lang="ko-KR" altLang="en-US" sz="1400" dirty="0">
                <a:solidFill>
                  <a:schemeClr val="tx2"/>
                </a:solidFill>
              </a:rPr>
              <a:t>항에 따라 준용되는 경우를 포함한다</a:t>
            </a:r>
            <a:r>
              <a:rPr lang="en-US" altLang="ko-KR" sz="1400" dirty="0">
                <a:solidFill>
                  <a:schemeClr val="tx2"/>
                </a:solidFill>
              </a:rPr>
              <a:t>), </a:t>
            </a:r>
            <a:r>
              <a:rPr lang="ko-KR" altLang="en-US" sz="1400" dirty="0">
                <a:solidFill>
                  <a:schemeClr val="tx2"/>
                </a:solidFill>
              </a:rPr>
              <a:t>「실용신안법」 제</a:t>
            </a:r>
            <a:r>
              <a:rPr lang="en-US" altLang="ko-KR" sz="1400" dirty="0">
                <a:solidFill>
                  <a:schemeClr val="tx2"/>
                </a:solidFill>
              </a:rPr>
              <a:t>7</a:t>
            </a:r>
            <a:r>
              <a:rPr lang="ko-KR" altLang="en-US" sz="1400" dirty="0">
                <a:solidFill>
                  <a:schemeClr val="tx2"/>
                </a:solidFill>
              </a:rPr>
              <a:t>조제</a:t>
            </a:r>
            <a:r>
              <a:rPr lang="en-US" altLang="ko-KR" sz="1400" dirty="0">
                <a:solidFill>
                  <a:schemeClr val="tx2"/>
                </a:solidFill>
              </a:rPr>
              <a:t>3</a:t>
            </a:r>
            <a:r>
              <a:rPr lang="ko-KR" altLang="en-US" sz="1400" dirty="0">
                <a:solidFill>
                  <a:schemeClr val="tx2"/>
                </a:solidFill>
              </a:rPr>
              <a:t>항</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4</a:t>
            </a:r>
            <a:r>
              <a:rPr lang="ko-KR" altLang="en-US" sz="1400" dirty="0">
                <a:solidFill>
                  <a:schemeClr val="tx2"/>
                </a:solidFill>
              </a:rPr>
              <a:t>항 및 제</a:t>
            </a:r>
            <a:r>
              <a:rPr lang="en-US" altLang="ko-KR" sz="1400" dirty="0">
                <a:solidFill>
                  <a:schemeClr val="tx2"/>
                </a:solidFill>
              </a:rPr>
              <a:t>25</a:t>
            </a:r>
            <a:r>
              <a:rPr lang="ko-KR" altLang="en-US" sz="1400" dirty="0">
                <a:solidFill>
                  <a:schemeClr val="tx2"/>
                </a:solidFill>
              </a:rPr>
              <a:t>조</a:t>
            </a:r>
            <a:r>
              <a:rPr lang="en-US" altLang="ko-KR" sz="1400" dirty="0">
                <a:solidFill>
                  <a:schemeClr val="tx2"/>
                </a:solidFill>
              </a:rPr>
              <a:t>, </a:t>
            </a:r>
            <a:r>
              <a:rPr lang="ko-KR" altLang="en-US" sz="1400" dirty="0">
                <a:solidFill>
                  <a:schemeClr val="tx2"/>
                </a:solidFill>
              </a:rPr>
              <a:t>「디자인보호법」 제</a:t>
            </a:r>
            <a:r>
              <a:rPr lang="en-US" altLang="ko-KR" sz="1400" dirty="0">
                <a:solidFill>
                  <a:schemeClr val="tx2"/>
                </a:solidFill>
              </a:rPr>
              <a:t>95</a:t>
            </a:r>
            <a:r>
              <a:rPr lang="ko-KR" altLang="en-US" sz="1400" dirty="0">
                <a:solidFill>
                  <a:schemeClr val="tx2"/>
                </a:solidFill>
              </a:rPr>
              <a:t>조 및 제</a:t>
            </a:r>
            <a:r>
              <a:rPr lang="en-US" altLang="ko-KR" sz="1400" dirty="0">
                <a:solidFill>
                  <a:schemeClr val="tx2"/>
                </a:solidFill>
              </a:rPr>
              <a:t>103</a:t>
            </a:r>
            <a:r>
              <a:rPr lang="ko-KR" altLang="en-US" sz="1400" dirty="0">
                <a:solidFill>
                  <a:schemeClr val="tx2"/>
                </a:solidFill>
              </a:rPr>
              <a:t>조제</a:t>
            </a:r>
            <a:r>
              <a:rPr lang="en-US" altLang="ko-KR" sz="1400" dirty="0">
                <a:solidFill>
                  <a:schemeClr val="tx2"/>
                </a:solidFill>
              </a:rPr>
              <a:t>3</a:t>
            </a:r>
            <a:r>
              <a:rPr lang="ko-KR" altLang="en-US" sz="1400" dirty="0">
                <a:solidFill>
                  <a:schemeClr val="tx2"/>
                </a:solidFill>
              </a:rPr>
              <a:t>항을 적용할 때에는 그 특허출원은 그 선출원을 한 때에 </a:t>
            </a:r>
            <a:r>
              <a:rPr lang="ko-KR" altLang="en-US" sz="1400" dirty="0" err="1">
                <a:solidFill>
                  <a:schemeClr val="tx2"/>
                </a:solidFill>
              </a:rPr>
              <a:t>특허출원한</a:t>
            </a:r>
            <a:r>
              <a:rPr lang="ko-KR" altLang="en-US" sz="1400" dirty="0">
                <a:solidFill>
                  <a:schemeClr val="tx2"/>
                </a:solidFill>
              </a:rPr>
              <a:t> 것으로 본다</a:t>
            </a:r>
            <a:r>
              <a:rPr lang="en-US" altLang="ko-KR" sz="1400" dirty="0">
                <a:solidFill>
                  <a:schemeClr val="tx2"/>
                </a:solidFill>
              </a:rPr>
              <a:t>.  </a:t>
            </a:r>
          </a:p>
          <a:p>
            <a:pPr fontAlgn="base"/>
            <a:r>
              <a:rPr lang="en-US" altLang="ko-KR" sz="1400" dirty="0">
                <a:solidFill>
                  <a:schemeClr val="tx2"/>
                </a:solidFill>
              </a:rPr>
              <a:t>④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따른 우선권 주장을 수반하는 특허출원의 출원서에 최초로 첨부한 명세서 또는 도면에 기재된 발명 중 해당 우선권 주장의 기초가 된 선출원의 출원서에 최초로 첨부한 명세서 또는 도면에 기재된 발명과 같은 발명은 그 특허출원이 </a:t>
            </a:r>
            <a:r>
              <a:rPr lang="ko-KR" altLang="en-US" sz="1400" dirty="0" err="1">
                <a:solidFill>
                  <a:schemeClr val="tx2"/>
                </a:solidFill>
              </a:rPr>
              <a:t>출원공개되거나</a:t>
            </a:r>
            <a:r>
              <a:rPr lang="ko-KR" altLang="en-US" sz="1400" dirty="0">
                <a:solidFill>
                  <a:schemeClr val="tx2"/>
                </a:solidFill>
              </a:rPr>
              <a:t> 특허가 </a:t>
            </a:r>
            <a:r>
              <a:rPr lang="ko-KR" altLang="en-US" sz="1400" dirty="0" err="1">
                <a:solidFill>
                  <a:schemeClr val="tx2"/>
                </a:solidFill>
              </a:rPr>
              <a:t>등록공고되었을</a:t>
            </a:r>
            <a:r>
              <a:rPr lang="ko-KR" altLang="en-US" sz="1400" dirty="0">
                <a:solidFill>
                  <a:schemeClr val="tx2"/>
                </a:solidFill>
              </a:rPr>
              <a:t> 때에 해당 우선권 주장의 기초가 된 선출원에 관하여 출원공개가 된 것으로 보고 제</a:t>
            </a:r>
            <a:r>
              <a:rPr lang="en-US" altLang="ko-KR" sz="1400" dirty="0">
                <a:solidFill>
                  <a:schemeClr val="tx2"/>
                </a:solidFill>
              </a:rPr>
              <a:t>29</a:t>
            </a:r>
            <a:r>
              <a:rPr lang="ko-KR" altLang="en-US" sz="1400" dirty="0">
                <a:solidFill>
                  <a:schemeClr val="tx2"/>
                </a:solidFill>
              </a:rPr>
              <a:t>조제</a:t>
            </a:r>
            <a:r>
              <a:rPr lang="en-US" altLang="ko-KR" sz="1400" dirty="0">
                <a:solidFill>
                  <a:schemeClr val="tx2"/>
                </a:solidFill>
              </a:rPr>
              <a:t>3</a:t>
            </a:r>
            <a:r>
              <a:rPr lang="ko-KR" altLang="en-US" sz="1400" dirty="0">
                <a:solidFill>
                  <a:schemeClr val="tx2"/>
                </a:solidFill>
              </a:rPr>
              <a:t>항 본문</a:t>
            </a:r>
            <a:r>
              <a:rPr lang="en-US" altLang="ko-KR" sz="1400" dirty="0">
                <a:solidFill>
                  <a:schemeClr val="tx2"/>
                </a:solidFill>
              </a:rPr>
              <a:t>, </a:t>
            </a:r>
            <a:r>
              <a:rPr lang="ko-KR" altLang="en-US" sz="1400" dirty="0">
                <a:solidFill>
                  <a:schemeClr val="tx2"/>
                </a:solidFill>
              </a:rPr>
              <a:t>같은 조 제</a:t>
            </a:r>
            <a:r>
              <a:rPr lang="en-US" altLang="ko-KR" sz="1400" dirty="0">
                <a:solidFill>
                  <a:schemeClr val="tx2"/>
                </a:solidFill>
              </a:rPr>
              <a:t>4</a:t>
            </a:r>
            <a:r>
              <a:rPr lang="ko-KR" altLang="en-US" sz="1400" dirty="0">
                <a:solidFill>
                  <a:schemeClr val="tx2"/>
                </a:solidFill>
              </a:rPr>
              <a:t>항 본문 또는 「실용신안법」 제</a:t>
            </a:r>
            <a:r>
              <a:rPr lang="en-US" altLang="ko-KR" sz="1400" dirty="0">
                <a:solidFill>
                  <a:schemeClr val="tx2"/>
                </a:solidFill>
              </a:rPr>
              <a:t>4</a:t>
            </a:r>
            <a:r>
              <a:rPr lang="ko-KR" altLang="en-US" sz="1400" dirty="0">
                <a:solidFill>
                  <a:schemeClr val="tx2"/>
                </a:solidFill>
              </a:rPr>
              <a:t>조제</a:t>
            </a:r>
            <a:r>
              <a:rPr lang="en-US" altLang="ko-KR" sz="1400" dirty="0">
                <a:solidFill>
                  <a:schemeClr val="tx2"/>
                </a:solidFill>
              </a:rPr>
              <a:t>3</a:t>
            </a:r>
            <a:r>
              <a:rPr lang="ko-KR" altLang="en-US" sz="1400" dirty="0">
                <a:solidFill>
                  <a:schemeClr val="tx2"/>
                </a:solidFill>
              </a:rPr>
              <a:t>항 본문</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4</a:t>
            </a:r>
            <a:r>
              <a:rPr lang="ko-KR" altLang="en-US" sz="1400" dirty="0">
                <a:solidFill>
                  <a:schemeClr val="tx2"/>
                </a:solidFill>
              </a:rPr>
              <a:t>항 본문을 적용한다</a:t>
            </a:r>
            <a:r>
              <a:rPr lang="en-US" altLang="ko-KR" sz="1400" dirty="0">
                <a:solidFill>
                  <a:schemeClr val="tx2"/>
                </a:solidFill>
              </a:rPr>
              <a:t>.</a:t>
            </a:r>
          </a:p>
          <a:p>
            <a:pPr fontAlgn="base"/>
            <a:r>
              <a:rPr lang="en-US" altLang="ko-KR" sz="1400" dirty="0">
                <a:solidFill>
                  <a:schemeClr val="tx2"/>
                </a:solidFill>
              </a:rPr>
              <a:t>⑤ </a:t>
            </a:r>
            <a:r>
              <a:rPr lang="ko-KR" altLang="en-US" sz="1400" dirty="0">
                <a:solidFill>
                  <a:schemeClr val="tx2"/>
                </a:solidFill>
              </a:rPr>
              <a:t>선출원이 다음 각 호의 어느 하나에 해당하면 그 선출원의 출원서에 최초로 첨부한 명세서 또는 도면에 기재된 발명 중 그 선출원에 관하여 우선권 주장의 기초가 된 출원의 출원서에 최초로 첨부한 명세서 또는 도면에 기재된 발명에 대해서는 제</a:t>
            </a:r>
            <a:r>
              <a:rPr lang="en-US" altLang="ko-KR" sz="1400" dirty="0">
                <a:solidFill>
                  <a:schemeClr val="tx2"/>
                </a:solidFill>
              </a:rPr>
              <a:t>3</a:t>
            </a:r>
            <a:r>
              <a:rPr lang="ko-KR" altLang="en-US" sz="1400" dirty="0">
                <a:solidFill>
                  <a:schemeClr val="tx2"/>
                </a:solidFill>
              </a:rPr>
              <a:t>항과 제</a:t>
            </a:r>
            <a:r>
              <a:rPr lang="en-US" altLang="ko-KR" sz="1400" dirty="0">
                <a:solidFill>
                  <a:schemeClr val="tx2"/>
                </a:solidFill>
              </a:rPr>
              <a:t>4</a:t>
            </a:r>
            <a:r>
              <a:rPr lang="ko-KR" altLang="en-US" sz="1400" dirty="0">
                <a:solidFill>
                  <a:schemeClr val="tx2"/>
                </a:solidFill>
              </a:rPr>
              <a:t>항을 적용하지 아니한다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선출원이 제</a:t>
            </a:r>
            <a:r>
              <a:rPr lang="en-US" altLang="ko-KR" sz="1400" dirty="0">
                <a:solidFill>
                  <a:schemeClr val="tx2"/>
                </a:solidFill>
              </a:rPr>
              <a:t>1</a:t>
            </a:r>
            <a:r>
              <a:rPr lang="ko-KR" altLang="en-US" sz="1400" dirty="0">
                <a:solidFill>
                  <a:schemeClr val="tx2"/>
                </a:solidFill>
              </a:rPr>
              <a:t>항에 따른 우선권 주장을 수반하는 출원인 경우</a:t>
            </a:r>
          </a:p>
          <a:p>
            <a:pPr fontAlgn="base"/>
            <a:r>
              <a:rPr lang="en-US" altLang="ko-KR" sz="1400" dirty="0">
                <a:solidFill>
                  <a:schemeClr val="tx2"/>
                </a:solidFill>
              </a:rPr>
              <a:t>2. </a:t>
            </a:r>
            <a:r>
              <a:rPr lang="ko-KR" altLang="en-US" sz="1400" dirty="0">
                <a:solidFill>
                  <a:schemeClr val="tx2"/>
                </a:solidFill>
              </a:rPr>
              <a:t>선출원이 「공업소유권의 보호를 위한 파리 협약」 제</a:t>
            </a:r>
            <a:r>
              <a:rPr lang="en-US" altLang="ko-KR" sz="1400" dirty="0">
                <a:solidFill>
                  <a:schemeClr val="tx2"/>
                </a:solidFill>
              </a:rPr>
              <a:t>4</a:t>
            </a:r>
            <a:r>
              <a:rPr lang="ko-KR" altLang="en-US" sz="1400" dirty="0">
                <a:solidFill>
                  <a:schemeClr val="tx2"/>
                </a:solidFill>
              </a:rPr>
              <a:t>조</a:t>
            </a:r>
            <a:r>
              <a:rPr lang="en-US" altLang="ko-KR" sz="1400" dirty="0">
                <a:solidFill>
                  <a:schemeClr val="tx2"/>
                </a:solidFill>
              </a:rPr>
              <a:t>D(1)</a:t>
            </a:r>
            <a:r>
              <a:rPr lang="ko-KR" altLang="en-US" sz="1400" dirty="0">
                <a:solidFill>
                  <a:schemeClr val="tx2"/>
                </a:solidFill>
              </a:rPr>
              <a:t>에 따른 우선권 주장을 수반하는 출원인 경우</a:t>
            </a:r>
          </a:p>
          <a:p>
            <a:pPr fontAlgn="base"/>
            <a:r>
              <a:rPr lang="ko-KR" altLang="en-US" sz="1400" dirty="0">
                <a:solidFill>
                  <a:schemeClr val="tx2"/>
                </a:solidFill>
              </a:rPr>
              <a:t>⑥ 제</a:t>
            </a:r>
            <a:r>
              <a:rPr lang="en-US" altLang="ko-KR" sz="1400" dirty="0">
                <a:solidFill>
                  <a:schemeClr val="tx2"/>
                </a:solidFill>
              </a:rPr>
              <a:t>4</a:t>
            </a:r>
            <a:r>
              <a:rPr lang="ko-KR" altLang="en-US" sz="1400" dirty="0">
                <a:solidFill>
                  <a:schemeClr val="tx2"/>
                </a:solidFill>
              </a:rPr>
              <a:t>항을 적용할 때 선출원이 다음 각 호의 어느 하나에 해당하더라도 제</a:t>
            </a:r>
            <a:r>
              <a:rPr lang="en-US" altLang="ko-KR" sz="1400" dirty="0">
                <a:solidFill>
                  <a:schemeClr val="tx2"/>
                </a:solidFill>
              </a:rPr>
              <a:t>29</a:t>
            </a:r>
            <a:r>
              <a:rPr lang="ko-KR" altLang="en-US" sz="1400" dirty="0">
                <a:solidFill>
                  <a:schemeClr val="tx2"/>
                </a:solidFill>
              </a:rPr>
              <a:t>조제</a:t>
            </a:r>
            <a:r>
              <a:rPr lang="en-US" altLang="ko-KR" sz="1400" dirty="0">
                <a:solidFill>
                  <a:schemeClr val="tx2"/>
                </a:solidFill>
              </a:rPr>
              <a:t>7</a:t>
            </a:r>
            <a:r>
              <a:rPr lang="ko-KR" altLang="en-US" sz="1400" dirty="0">
                <a:solidFill>
                  <a:schemeClr val="tx2"/>
                </a:solidFill>
              </a:rPr>
              <a:t>항을 적용하지 아니한다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선출원이 제</a:t>
            </a:r>
            <a:r>
              <a:rPr lang="en-US" altLang="ko-KR" sz="1400" dirty="0">
                <a:solidFill>
                  <a:schemeClr val="tx2"/>
                </a:solidFill>
              </a:rPr>
              <a:t>201</a:t>
            </a:r>
            <a:r>
              <a:rPr lang="ko-KR" altLang="en-US" sz="1400" dirty="0">
                <a:solidFill>
                  <a:schemeClr val="tx2"/>
                </a:solidFill>
              </a:rPr>
              <a:t>조제</a:t>
            </a:r>
            <a:r>
              <a:rPr lang="en-US" altLang="ko-KR" sz="1400" dirty="0">
                <a:solidFill>
                  <a:schemeClr val="tx2"/>
                </a:solidFill>
              </a:rPr>
              <a:t>4</a:t>
            </a:r>
            <a:r>
              <a:rPr lang="ko-KR" altLang="en-US" sz="1400" dirty="0">
                <a:solidFill>
                  <a:schemeClr val="tx2"/>
                </a:solidFill>
              </a:rPr>
              <a:t>항에 따라 취하한 것으로 보는 </a:t>
            </a:r>
            <a:r>
              <a:rPr lang="ko-KR" altLang="en-US" sz="1400" dirty="0" err="1">
                <a:solidFill>
                  <a:schemeClr val="tx2"/>
                </a:solidFill>
              </a:rPr>
              <a:t>국제특허출원인</a:t>
            </a:r>
            <a:r>
              <a:rPr lang="ko-KR" altLang="en-US" sz="1400" dirty="0">
                <a:solidFill>
                  <a:schemeClr val="tx2"/>
                </a:solidFill>
              </a:rPr>
              <a:t> 경우</a:t>
            </a:r>
          </a:p>
          <a:p>
            <a:pPr fontAlgn="base"/>
            <a:r>
              <a:rPr lang="en-US" altLang="ko-KR" sz="1400" dirty="0">
                <a:solidFill>
                  <a:schemeClr val="tx2"/>
                </a:solidFill>
              </a:rPr>
              <a:t>2. </a:t>
            </a:r>
            <a:r>
              <a:rPr lang="ko-KR" altLang="en-US" sz="1400" dirty="0">
                <a:solidFill>
                  <a:schemeClr val="tx2"/>
                </a:solidFill>
              </a:rPr>
              <a:t>선출원이 「실용신안법」 제</a:t>
            </a:r>
            <a:r>
              <a:rPr lang="en-US" altLang="ko-KR" sz="1400" dirty="0">
                <a:solidFill>
                  <a:schemeClr val="tx2"/>
                </a:solidFill>
              </a:rPr>
              <a:t>35</a:t>
            </a:r>
            <a:r>
              <a:rPr lang="ko-KR" altLang="en-US" sz="1400" dirty="0">
                <a:solidFill>
                  <a:schemeClr val="tx2"/>
                </a:solidFill>
              </a:rPr>
              <a:t>조제</a:t>
            </a:r>
            <a:r>
              <a:rPr lang="en-US" altLang="ko-KR" sz="1400" dirty="0">
                <a:solidFill>
                  <a:schemeClr val="tx2"/>
                </a:solidFill>
              </a:rPr>
              <a:t>4</a:t>
            </a:r>
            <a:r>
              <a:rPr lang="ko-KR" altLang="en-US" sz="1400" dirty="0">
                <a:solidFill>
                  <a:schemeClr val="tx2"/>
                </a:solidFill>
              </a:rPr>
              <a:t>항에 따라 취하한 것으로 보는 </a:t>
            </a:r>
            <a:r>
              <a:rPr lang="ko-KR" altLang="en-US" sz="1400" dirty="0" err="1">
                <a:solidFill>
                  <a:schemeClr val="tx2"/>
                </a:solidFill>
              </a:rPr>
              <a:t>국제실용신안등록출원인</a:t>
            </a:r>
            <a:r>
              <a:rPr lang="ko-KR" altLang="en-US" sz="1400" dirty="0">
                <a:solidFill>
                  <a:schemeClr val="tx2"/>
                </a:solidFill>
              </a:rPr>
              <a:t> 경우</a:t>
            </a:r>
          </a:p>
          <a:p>
            <a:pPr fontAlgn="base"/>
            <a:r>
              <a:rPr lang="ko-KR" altLang="en-US" sz="1400" dirty="0">
                <a:solidFill>
                  <a:schemeClr val="tx2"/>
                </a:solidFill>
              </a:rPr>
              <a:t>⑦ 제</a:t>
            </a:r>
            <a:r>
              <a:rPr lang="en-US" altLang="ko-KR" sz="1400" dirty="0">
                <a:solidFill>
                  <a:schemeClr val="tx2"/>
                </a:solidFill>
              </a:rPr>
              <a:t>1</a:t>
            </a:r>
            <a:r>
              <a:rPr lang="ko-KR" altLang="en-US" sz="1400" dirty="0">
                <a:solidFill>
                  <a:schemeClr val="tx2"/>
                </a:solidFill>
              </a:rPr>
              <a:t>항에 따른 요건을 갖추어 우선권 주장을 한 자는 선출원일</a:t>
            </a:r>
            <a:r>
              <a:rPr lang="en-US" altLang="ko-KR" sz="1400" dirty="0">
                <a:solidFill>
                  <a:schemeClr val="tx2"/>
                </a:solidFill>
              </a:rPr>
              <a:t>(</a:t>
            </a:r>
            <a:r>
              <a:rPr lang="ko-KR" altLang="en-US" sz="1400" dirty="0">
                <a:solidFill>
                  <a:schemeClr val="tx2"/>
                </a:solidFill>
              </a:rPr>
              <a:t>선출원이 둘 이상인 경우에는 최선출원일을 말한다</a:t>
            </a:r>
            <a:r>
              <a:rPr lang="en-US" altLang="ko-KR" sz="1400" dirty="0">
                <a:solidFill>
                  <a:schemeClr val="tx2"/>
                </a:solidFill>
              </a:rPr>
              <a:t>)</a:t>
            </a:r>
            <a:r>
              <a:rPr lang="ko-KR" altLang="en-US" sz="1400" dirty="0">
                <a:solidFill>
                  <a:schemeClr val="tx2"/>
                </a:solidFill>
              </a:rPr>
              <a:t>부터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4</a:t>
            </a:r>
            <a:r>
              <a:rPr lang="ko-KR" altLang="en-US" sz="1400" dirty="0">
                <a:solidFill>
                  <a:schemeClr val="tx2"/>
                </a:solidFill>
              </a:rPr>
              <a:t>개월 이내에 그 우선권 주장을 보정하거나 추가할 수 있다</a:t>
            </a:r>
            <a:r>
              <a:rPr lang="en-US" altLang="ko-KR" sz="1400" dirty="0">
                <a:solidFill>
                  <a:schemeClr val="tx2"/>
                </a:solidFill>
              </a:rPr>
              <a:t>.</a:t>
            </a:r>
          </a:p>
          <a:p>
            <a:pPr fontAlgn="base"/>
            <a:r>
              <a:rPr lang="ko-KR" altLang="en-US" sz="1400" dirty="0">
                <a:solidFill>
                  <a:schemeClr val="tx2"/>
                </a:solidFill>
              </a:rPr>
              <a:t>⑧ 제</a:t>
            </a:r>
            <a:r>
              <a:rPr lang="en-US" altLang="ko-KR" sz="1400" dirty="0">
                <a:solidFill>
                  <a:schemeClr val="tx2"/>
                </a:solidFill>
              </a:rPr>
              <a:t>1</a:t>
            </a:r>
            <a:r>
              <a:rPr lang="ko-KR" altLang="en-US" sz="1400" dirty="0">
                <a:solidFill>
                  <a:schemeClr val="tx2"/>
                </a:solidFill>
              </a:rPr>
              <a:t>항에 따른 우선권 주장의 기초가 된 선출원은 제</a:t>
            </a:r>
            <a:r>
              <a:rPr lang="en-US" altLang="ko-KR" sz="1400" dirty="0">
                <a:solidFill>
                  <a:schemeClr val="tx2"/>
                </a:solidFill>
              </a:rPr>
              <a:t>79</a:t>
            </a:r>
            <a:r>
              <a:rPr lang="ko-KR" altLang="en-US" sz="1400" dirty="0">
                <a:solidFill>
                  <a:schemeClr val="tx2"/>
                </a:solidFill>
              </a:rPr>
              <a:t>조에 따른 설정등록을 받을 수 없다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해당 선출원을 기초로 한 우선권 주장이 취하된 경우에는 그러하지 아니하다</a:t>
            </a:r>
            <a:r>
              <a:rPr lang="en-US" altLang="ko-KR" sz="1400" dirty="0">
                <a:solidFill>
                  <a:schemeClr val="tx2"/>
                </a:solidFill>
              </a:rPr>
              <a:t>. </a:t>
            </a:r>
          </a:p>
        </p:txBody>
      </p:sp>
      <p:sp>
        <p:nvSpPr>
          <p:cNvPr id="2" name="슬라이드 번호 개체 틀 1"/>
          <p:cNvSpPr>
            <a:spLocks noGrp="1"/>
          </p:cNvSpPr>
          <p:nvPr>
            <p:ph type="sldNum" sz="quarter" idx="12"/>
          </p:nvPr>
        </p:nvSpPr>
        <p:spPr/>
        <p:txBody>
          <a:bodyPr/>
          <a:lstStyle/>
          <a:p>
            <a:r>
              <a:rPr lang="en-US" altLang="ko-KR"/>
              <a:t>238</a:t>
            </a:r>
            <a:endParaRPr lang="ko-KR" altLang="en-US"/>
          </a:p>
        </p:txBody>
      </p:sp>
    </p:spTree>
    <p:extLst>
      <p:ext uri="{BB962C8B-B14F-4D97-AF65-F5344CB8AC3E}">
        <p14:creationId xmlns:p14="http://schemas.microsoft.com/office/powerpoint/2010/main" val="3194354222"/>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34</a:t>
            </a:r>
            <a:r>
              <a:rPr lang="ko-KR" altLang="en-US" dirty="0"/>
              <a:t>조</a:t>
            </a:r>
            <a:r>
              <a:rPr lang="en-US" altLang="ko-KR" dirty="0"/>
              <a:t>-</a:t>
            </a:r>
            <a:r>
              <a:rPr lang="ko-KR" altLang="en-US" dirty="0"/>
              <a:t>제</a:t>
            </a:r>
            <a:r>
              <a:rPr lang="en-US" altLang="ko-KR" dirty="0"/>
              <a:t>56</a:t>
            </a:r>
            <a:r>
              <a:rPr lang="ko-KR" altLang="en-US" dirty="0"/>
              <a:t>조</a:t>
            </a:r>
          </a:p>
        </p:txBody>
      </p:sp>
      <p:sp>
        <p:nvSpPr>
          <p:cNvPr id="5" name="텍스트 개체 틀 4"/>
          <p:cNvSpPr>
            <a:spLocks noGrp="1"/>
          </p:cNvSpPr>
          <p:nvPr>
            <p:ph type="body" sz="quarter" idx="13"/>
          </p:nvPr>
        </p:nvSpPr>
        <p:spPr/>
        <p:txBody>
          <a:bodyPr/>
          <a:lstStyle/>
          <a:p>
            <a:r>
              <a:rPr lang="ko-KR" altLang="en-US" dirty="0"/>
              <a:t>소급효의 예외와 기간의 특례</a:t>
            </a:r>
          </a:p>
        </p:txBody>
      </p:sp>
      <p:sp>
        <p:nvSpPr>
          <p:cNvPr id="2" name="슬라이드 번호 개체 틀 1"/>
          <p:cNvSpPr>
            <a:spLocks noGrp="1"/>
          </p:cNvSpPr>
          <p:nvPr>
            <p:ph type="sldNum" sz="quarter" idx="12"/>
          </p:nvPr>
        </p:nvSpPr>
        <p:spPr/>
        <p:txBody>
          <a:bodyPr/>
          <a:lstStyle/>
          <a:p>
            <a:r>
              <a:rPr lang="en-US" altLang="ko-KR"/>
              <a:t>239</a:t>
            </a:r>
            <a:endParaRPr lang="ko-KR" altLang="en-US"/>
          </a:p>
        </p:txBody>
      </p:sp>
      <p:graphicFrame>
        <p:nvGraphicFramePr>
          <p:cNvPr id="3" name="표 6">
            <a:extLst>
              <a:ext uri="{FF2B5EF4-FFF2-40B4-BE49-F238E27FC236}">
                <a16:creationId xmlns:a16="http://schemas.microsoft.com/office/drawing/2014/main" id="{19A20D4C-A459-7EDE-4A0F-FDFF08088BFF}"/>
              </a:ext>
            </a:extLst>
          </p:cNvPr>
          <p:cNvGraphicFramePr>
            <a:graphicFrameLocks noGrp="1"/>
          </p:cNvGraphicFramePr>
          <p:nvPr/>
        </p:nvGraphicFramePr>
        <p:xfrm>
          <a:off x="195541" y="1182418"/>
          <a:ext cx="11800918" cy="5318760"/>
        </p:xfrm>
        <a:graphic>
          <a:graphicData uri="http://schemas.openxmlformats.org/drawingml/2006/table">
            <a:tbl>
              <a:tblPr>
                <a:tableStyleId>{8799B23B-EC83-4686-B30A-512413B5E67A}</a:tableStyleId>
              </a:tblPr>
              <a:tblGrid>
                <a:gridCol w="2513907">
                  <a:extLst>
                    <a:ext uri="{9D8B030D-6E8A-4147-A177-3AD203B41FA5}">
                      <a16:colId xmlns:a16="http://schemas.microsoft.com/office/drawing/2014/main" val="977740950"/>
                    </a:ext>
                  </a:extLst>
                </a:gridCol>
                <a:gridCol w="636719">
                  <a:extLst>
                    <a:ext uri="{9D8B030D-6E8A-4147-A177-3AD203B41FA5}">
                      <a16:colId xmlns:a16="http://schemas.microsoft.com/office/drawing/2014/main" val="2856804863"/>
                    </a:ext>
                  </a:extLst>
                </a:gridCol>
                <a:gridCol w="945983">
                  <a:extLst>
                    <a:ext uri="{9D8B030D-6E8A-4147-A177-3AD203B41FA5}">
                      <a16:colId xmlns:a16="http://schemas.microsoft.com/office/drawing/2014/main" val="3898888419"/>
                    </a:ext>
                  </a:extLst>
                </a:gridCol>
                <a:gridCol w="765624">
                  <a:extLst>
                    <a:ext uri="{9D8B030D-6E8A-4147-A177-3AD203B41FA5}">
                      <a16:colId xmlns:a16="http://schemas.microsoft.com/office/drawing/2014/main" val="329637478"/>
                    </a:ext>
                  </a:extLst>
                </a:gridCol>
                <a:gridCol w="798888">
                  <a:extLst>
                    <a:ext uri="{9D8B030D-6E8A-4147-A177-3AD203B41FA5}">
                      <a16:colId xmlns:a16="http://schemas.microsoft.com/office/drawing/2014/main" val="2496932691"/>
                    </a:ext>
                  </a:extLst>
                </a:gridCol>
                <a:gridCol w="891407">
                  <a:extLst>
                    <a:ext uri="{9D8B030D-6E8A-4147-A177-3AD203B41FA5}">
                      <a16:colId xmlns:a16="http://schemas.microsoft.com/office/drawing/2014/main" val="1479428939"/>
                    </a:ext>
                  </a:extLst>
                </a:gridCol>
                <a:gridCol w="897686">
                  <a:extLst>
                    <a:ext uri="{9D8B030D-6E8A-4147-A177-3AD203B41FA5}">
                      <a16:colId xmlns:a16="http://schemas.microsoft.com/office/drawing/2014/main" val="2895490828"/>
                    </a:ext>
                  </a:extLst>
                </a:gridCol>
                <a:gridCol w="1693928">
                  <a:extLst>
                    <a:ext uri="{9D8B030D-6E8A-4147-A177-3AD203B41FA5}">
                      <a16:colId xmlns:a16="http://schemas.microsoft.com/office/drawing/2014/main" val="3478401952"/>
                    </a:ext>
                  </a:extLst>
                </a:gridCol>
                <a:gridCol w="664194">
                  <a:extLst>
                    <a:ext uri="{9D8B030D-6E8A-4147-A177-3AD203B41FA5}">
                      <a16:colId xmlns:a16="http://schemas.microsoft.com/office/drawing/2014/main" val="3871069447"/>
                    </a:ext>
                  </a:extLst>
                </a:gridCol>
                <a:gridCol w="664194">
                  <a:extLst>
                    <a:ext uri="{9D8B030D-6E8A-4147-A177-3AD203B41FA5}">
                      <a16:colId xmlns:a16="http://schemas.microsoft.com/office/drawing/2014/main" val="2984934703"/>
                    </a:ext>
                  </a:extLst>
                </a:gridCol>
                <a:gridCol w="664194">
                  <a:extLst>
                    <a:ext uri="{9D8B030D-6E8A-4147-A177-3AD203B41FA5}">
                      <a16:colId xmlns:a16="http://schemas.microsoft.com/office/drawing/2014/main" val="1355755654"/>
                    </a:ext>
                  </a:extLst>
                </a:gridCol>
                <a:gridCol w="664194">
                  <a:extLst>
                    <a:ext uri="{9D8B030D-6E8A-4147-A177-3AD203B41FA5}">
                      <a16:colId xmlns:a16="http://schemas.microsoft.com/office/drawing/2014/main" val="2857704563"/>
                    </a:ext>
                  </a:extLst>
                </a:gridCol>
              </a:tblGrid>
              <a:tr h="247151">
                <a:tc>
                  <a:txBody>
                    <a:bodyPr/>
                    <a:lstStyle/>
                    <a:p>
                      <a:pPr algn="ctr" latinLnBrk="1"/>
                      <a:r>
                        <a:rPr lang="ko-KR" altLang="en-US" sz="1050" dirty="0"/>
                        <a:t>소급효의 예외</a:t>
                      </a:r>
                    </a:p>
                  </a:txBody>
                  <a:tcPr marL="0" marR="0" anchor="ctr">
                    <a:lnL w="38100" cap="flat" cmpd="sng" algn="ctr">
                      <a:solidFill>
                        <a:schemeClr val="accent1"/>
                      </a:solidFill>
                      <a:prstDash val="solid"/>
                      <a:round/>
                      <a:headEnd type="none" w="med" len="med"/>
                      <a:tailEnd type="none" w="med" len="med"/>
                    </a:lnL>
                    <a:lnR w="38100" cap="flat" cmpd="sng" algn="ctr">
                      <a:solidFill>
                        <a:schemeClr val="accent1"/>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38100" cap="flat" cmpd="sng" algn="ctr">
                      <a:solidFill>
                        <a:schemeClr val="accent1"/>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제</a:t>
                      </a:r>
                      <a:r>
                        <a:rPr lang="en-US" altLang="ko-KR" sz="1050" dirty="0"/>
                        <a:t>34</a:t>
                      </a:r>
                      <a:r>
                        <a:rPr lang="ko-KR" altLang="en-US" sz="1050" dirty="0"/>
                        <a:t>조</a:t>
                      </a:r>
                      <a:r>
                        <a:rPr lang="en-US" altLang="ko-KR" sz="1050" dirty="0"/>
                        <a:t>, </a:t>
                      </a:r>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제</a:t>
                      </a:r>
                      <a:r>
                        <a:rPr lang="en-US" altLang="ko-KR" sz="1050" dirty="0"/>
                        <a:t>35</a:t>
                      </a:r>
                      <a:r>
                        <a:rPr lang="ko-KR" altLang="en-US" sz="1050" dirty="0"/>
                        <a:t>조</a:t>
                      </a:r>
                    </a:p>
                  </a:txBody>
                  <a:tcPr marL="0" marR="0" anchor="ctr">
                    <a:lnL w="38100" cap="flat" cmpd="sng" algn="ctr">
                      <a:solidFill>
                        <a:schemeClr val="accent1"/>
                      </a:solidFill>
                      <a:prstDash val="solid"/>
                      <a:round/>
                      <a:headEnd type="none" w="med" len="med"/>
                      <a:tailEnd type="none" w="med" len="med"/>
                    </a:lnL>
                    <a:lnT w="38100" cap="flat" cmpd="sng" algn="ctr">
                      <a:solidFill>
                        <a:schemeClr val="accent1"/>
                      </a:solidFill>
                      <a:prstDash val="solid"/>
                      <a:round/>
                      <a:headEnd type="none" w="med" len="med"/>
                      <a:tailEnd type="none" w="med" len="med"/>
                    </a:lnT>
                    <a:lnB w="38100" cap="flat" cmpd="sng" algn="ctr">
                      <a:solidFill>
                        <a:schemeClr val="accent1"/>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050" dirty="0"/>
                        <a:t>제</a:t>
                      </a:r>
                      <a:r>
                        <a:rPr lang="en-US" altLang="ko-KR" sz="1050" dirty="0"/>
                        <a:t>52</a:t>
                      </a:r>
                      <a:r>
                        <a:rPr lang="ko-KR" altLang="en-US" sz="1050" dirty="0"/>
                        <a:t>조</a:t>
                      </a:r>
                    </a:p>
                  </a:txBody>
                  <a:tcPr marL="0" marR="0" anchor="ctr">
                    <a:lnT w="38100" cap="flat" cmpd="sng" algn="ctr">
                      <a:solidFill>
                        <a:schemeClr val="accent1"/>
                      </a:solidFill>
                      <a:prstDash val="solid"/>
                      <a:round/>
                      <a:headEnd type="none" w="med" len="med"/>
                      <a:tailEnd type="none" w="med" len="med"/>
                    </a:lnT>
                    <a:lnB w="38100" cap="flat" cmpd="sng" algn="ctr">
                      <a:solidFill>
                        <a:schemeClr val="accent1"/>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050" dirty="0"/>
                        <a:t>제</a:t>
                      </a:r>
                      <a:r>
                        <a:rPr lang="en-US" altLang="ko-KR" sz="1050" dirty="0"/>
                        <a:t>52</a:t>
                      </a:r>
                      <a:r>
                        <a:rPr lang="ko-KR" altLang="en-US" sz="1050" dirty="0"/>
                        <a:t>조의</a:t>
                      </a:r>
                      <a:r>
                        <a:rPr lang="en-US" altLang="ko-KR" sz="1050" dirty="0"/>
                        <a:t>2</a:t>
                      </a:r>
                      <a:endParaRPr lang="ko-KR" altLang="en-US" sz="1050" dirty="0"/>
                    </a:p>
                  </a:txBody>
                  <a:tcPr marL="0" marR="0" anchor="ctr">
                    <a:lnT w="38100" cap="flat" cmpd="sng" algn="ctr">
                      <a:solidFill>
                        <a:schemeClr val="accent1"/>
                      </a:solidFill>
                      <a:prstDash val="solid"/>
                      <a:round/>
                      <a:headEnd type="none" w="med" len="med"/>
                      <a:tailEnd type="none" w="med" len="med"/>
                    </a:lnT>
                    <a:lnB w="38100" cap="flat" cmpd="sng" algn="ctr">
                      <a:solidFill>
                        <a:schemeClr val="accent1"/>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050" dirty="0"/>
                        <a:t>제</a:t>
                      </a:r>
                      <a:r>
                        <a:rPr lang="en-US" altLang="ko-KR" sz="1050" dirty="0"/>
                        <a:t>53</a:t>
                      </a:r>
                      <a:r>
                        <a:rPr lang="ko-KR" altLang="en-US" sz="1050" dirty="0"/>
                        <a:t>조</a:t>
                      </a:r>
                    </a:p>
                  </a:txBody>
                  <a:tcPr marL="0" marR="0" anchor="ctr">
                    <a:lnT w="38100" cap="flat" cmpd="sng" algn="ctr">
                      <a:solidFill>
                        <a:schemeClr val="accent1"/>
                      </a:solidFill>
                      <a:prstDash val="solid"/>
                      <a:round/>
                      <a:headEnd type="none" w="med" len="med"/>
                      <a:tailEnd type="none" w="med" len="med"/>
                    </a:lnT>
                    <a:lnB w="38100" cap="flat" cmpd="sng" algn="ctr">
                      <a:solidFill>
                        <a:schemeClr val="accent1"/>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050" dirty="0"/>
                        <a:t>제</a:t>
                      </a:r>
                      <a:r>
                        <a:rPr lang="en-US" altLang="ko-KR" sz="1050" dirty="0"/>
                        <a:t>54</a:t>
                      </a:r>
                      <a:r>
                        <a:rPr lang="ko-KR" altLang="en-US" sz="1050" dirty="0"/>
                        <a:t>조</a:t>
                      </a:r>
                    </a:p>
                  </a:txBody>
                  <a:tcPr marL="0" marR="0" anchor="ctr">
                    <a:lnT w="38100" cap="flat" cmpd="sng" algn="ctr">
                      <a:solidFill>
                        <a:schemeClr val="accent1"/>
                      </a:solidFill>
                      <a:prstDash val="solid"/>
                      <a:round/>
                      <a:headEnd type="none" w="med" len="med"/>
                      <a:tailEnd type="none" w="med" len="med"/>
                    </a:lnT>
                    <a:lnB w="38100" cap="flat" cmpd="sng" algn="ctr">
                      <a:solidFill>
                        <a:schemeClr val="accent1"/>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050" dirty="0"/>
                        <a:t>제</a:t>
                      </a:r>
                      <a:r>
                        <a:rPr lang="en-US" altLang="ko-KR" sz="1050" dirty="0"/>
                        <a:t>55</a:t>
                      </a:r>
                      <a:r>
                        <a:rPr lang="ko-KR" altLang="en-US" sz="1050" dirty="0"/>
                        <a:t>조</a:t>
                      </a:r>
                    </a:p>
                  </a:txBody>
                  <a:tcPr marL="0" marR="0" anchor="ctr">
                    <a:lnR w="38100" cap="flat" cmpd="sng" algn="ctr">
                      <a:solidFill>
                        <a:schemeClr val="accent2"/>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38100" cap="flat" cmpd="sng" algn="ctr">
                      <a:solidFill>
                        <a:schemeClr val="accent1"/>
                      </a:solidFill>
                      <a:prstDash val="solid"/>
                      <a:round/>
                      <a:headEnd type="none" w="med" len="med"/>
                      <a:tailEnd type="none" w="med" len="med"/>
                    </a:lnB>
                    <a:solidFill>
                      <a:schemeClr val="accent1">
                        <a:lumMod val="20000"/>
                        <a:lumOff val="80000"/>
                      </a:schemeClr>
                    </a:solidFill>
                  </a:tcPr>
                </a:tc>
                <a:tc>
                  <a:txBody>
                    <a:bodyPr/>
                    <a:lstStyle/>
                    <a:p>
                      <a:pPr algn="ctr" latinLnBrk="1"/>
                      <a:r>
                        <a:rPr lang="ko-KR" altLang="en-US" sz="1050" dirty="0"/>
                        <a:t>기간의 특례</a:t>
                      </a:r>
                    </a:p>
                  </a:txBody>
                  <a:tcPr marL="0" marR="0" anchor="ctr">
                    <a:lnL w="38100" cap="flat" cmpd="sng" algn="ctr">
                      <a:solidFill>
                        <a:schemeClr val="accent2"/>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제</a:t>
                      </a:r>
                      <a:r>
                        <a:rPr lang="en-US" altLang="ko-KR" sz="1050" dirty="0"/>
                        <a:t>34</a:t>
                      </a:r>
                      <a:r>
                        <a:rPr lang="ko-KR" altLang="en-US" sz="1050" dirty="0"/>
                        <a:t>조</a:t>
                      </a:r>
                      <a:r>
                        <a:rPr lang="en-US" altLang="ko-KR" sz="1050" dirty="0"/>
                        <a:t>, </a:t>
                      </a:r>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제</a:t>
                      </a:r>
                      <a:r>
                        <a:rPr lang="en-US" altLang="ko-KR" sz="1050" dirty="0"/>
                        <a:t>35</a:t>
                      </a:r>
                      <a:r>
                        <a:rPr lang="ko-KR" altLang="en-US" sz="1050" dirty="0"/>
                        <a:t>조</a:t>
                      </a:r>
                    </a:p>
                  </a:txBody>
                  <a:tcPr marL="0" marR="0" anchor="ctr">
                    <a:lnL w="38100" cap="flat" cmpd="sng" algn="ctr">
                      <a:solidFill>
                        <a:schemeClr val="accent2"/>
                      </a:solidFill>
                      <a:prstDash val="solid"/>
                      <a:round/>
                      <a:headEnd type="none" w="med" len="med"/>
                      <a:tailEnd type="none" w="med" len="med"/>
                    </a:lnL>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제</a:t>
                      </a:r>
                      <a:r>
                        <a:rPr lang="en-US" altLang="ko-KR" sz="1050" dirty="0"/>
                        <a:t>52</a:t>
                      </a:r>
                      <a:r>
                        <a:rPr lang="ko-KR" altLang="en-US" sz="1050" dirty="0"/>
                        <a:t>조</a:t>
                      </a:r>
                    </a:p>
                  </a:txBody>
                  <a:tcPr marL="0" marR="0" anchor="ct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제</a:t>
                      </a:r>
                      <a:r>
                        <a:rPr lang="en-US" altLang="ko-KR" sz="1050" dirty="0"/>
                        <a:t>52</a:t>
                      </a:r>
                      <a:r>
                        <a:rPr lang="ko-KR" altLang="en-US" sz="1050" dirty="0"/>
                        <a:t>조의</a:t>
                      </a:r>
                      <a:r>
                        <a:rPr lang="en-US" altLang="ko-KR" sz="1050" dirty="0"/>
                        <a:t>2</a:t>
                      </a:r>
                      <a:endParaRPr lang="ko-KR" altLang="en-US" sz="1050" dirty="0"/>
                    </a:p>
                  </a:txBody>
                  <a:tcPr marL="0" marR="0" anchor="ct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제</a:t>
                      </a:r>
                      <a:r>
                        <a:rPr lang="en-US" altLang="ko-KR" sz="1050" dirty="0"/>
                        <a:t>53</a:t>
                      </a:r>
                      <a:r>
                        <a:rPr lang="ko-KR" altLang="en-US" sz="1050" dirty="0"/>
                        <a:t>조</a:t>
                      </a:r>
                    </a:p>
                  </a:txBody>
                  <a:tcPr marL="0" marR="0" anchor="ctr">
                    <a:lnR w="38100" cap="flat" cmpd="sng" algn="ctr">
                      <a:solidFill>
                        <a:schemeClr val="accent2"/>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586403007"/>
                  </a:ext>
                </a:extLst>
              </a:tr>
              <a:tr h="291285">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a:solidFill>
                            <a:srgbClr val="FF0000"/>
                          </a:solidFill>
                        </a:rPr>
                        <a:t>확</a:t>
                      </a:r>
                      <a:r>
                        <a:rPr lang="ko-KR" altLang="en-US" sz="1050" dirty="0"/>
                        <a:t>대된 선출원에서 다른 출원의 지위</a:t>
                      </a:r>
                    </a:p>
                  </a:txBody>
                  <a:tcPr anchor="ctr">
                    <a:lnL w="38100" cap="flat" cmpd="sng" algn="ctr">
                      <a:solidFill>
                        <a:schemeClr val="accent1"/>
                      </a:solidFill>
                      <a:prstDash val="solid"/>
                      <a:round/>
                      <a:headEnd type="none" w="med" len="med"/>
                      <a:tailEnd type="none" w="med" len="med"/>
                    </a:lnL>
                    <a:lnR w="38100" cap="flat" cmpd="sng" algn="ctr">
                      <a:solidFill>
                        <a:schemeClr val="accent1"/>
                      </a:solidFill>
                      <a:prstDash val="solid"/>
                      <a:round/>
                      <a:headEnd type="none" w="med" len="med"/>
                      <a:tailEnd type="none" w="med" len="med"/>
                    </a:lnR>
                    <a:lnT w="38100" cap="flat" cmpd="sng" algn="ctr">
                      <a:solidFill>
                        <a:schemeClr val="accent1"/>
                      </a:solidFill>
                      <a:prstDash val="solid"/>
                      <a:round/>
                      <a:headEnd type="none" w="med" len="med"/>
                      <a:tailEnd type="none" w="med" len="med"/>
                    </a:lnT>
                    <a:solidFill>
                      <a:schemeClr val="bg1">
                        <a:lumMod val="95000"/>
                      </a:schemeClr>
                    </a:solidFill>
                  </a:tcPr>
                </a:tc>
                <a:tc>
                  <a:txBody>
                    <a:bodyPr/>
                    <a:lstStyle/>
                    <a:p>
                      <a:pPr algn="ctr" latinLnBrk="1"/>
                      <a:r>
                        <a:rPr lang="en-US" altLang="ko-KR" sz="900" dirty="0"/>
                        <a:t>X</a:t>
                      </a:r>
                      <a:endParaRPr lang="ko-KR" altLang="en-US" sz="900" dirty="0"/>
                    </a:p>
                  </a:txBody>
                  <a:tcPr anchor="ctr">
                    <a:lnL w="38100" cap="flat" cmpd="sng" algn="ctr">
                      <a:solidFill>
                        <a:schemeClr val="accent1"/>
                      </a:solidFill>
                      <a:prstDash val="solid"/>
                      <a:round/>
                      <a:headEnd type="none" w="med" len="med"/>
                      <a:tailEnd type="none" w="med" len="med"/>
                    </a:lnL>
                    <a:lnT w="38100" cap="flat" cmpd="sng" algn="ctr">
                      <a:solidFill>
                        <a:schemeClr val="accent1"/>
                      </a:solidFill>
                      <a:prstDash val="solid"/>
                      <a:round/>
                      <a:headEnd type="none" w="med" len="med"/>
                      <a:tailEnd type="none" w="med" len="med"/>
                    </a:lnT>
                  </a:tcPr>
                </a:tc>
                <a:tc>
                  <a:txBody>
                    <a:bodyPr/>
                    <a:lstStyle/>
                    <a:p>
                      <a:pPr algn="ctr" latinLnBrk="1"/>
                      <a:r>
                        <a:rPr lang="ko-KR" altLang="en-US" sz="900" dirty="0">
                          <a:latin typeface="Arial" panose="020B0604020202020204" pitchFamily="34" charset="0"/>
                          <a:cs typeface="Arial" panose="020B0604020202020204" pitchFamily="34" charset="0"/>
                        </a:rPr>
                        <a:t>○</a:t>
                      </a:r>
                      <a:endParaRPr lang="ko-KR" altLang="en-US" sz="900" dirty="0"/>
                    </a:p>
                  </a:txBody>
                  <a:tcPr marL="0" marR="0" anchor="ctr">
                    <a:lnT w="38100" cap="flat" cmpd="sng" algn="ctr">
                      <a:solidFill>
                        <a:schemeClr val="accent1"/>
                      </a:solidFill>
                      <a:prstDash val="solid"/>
                      <a:round/>
                      <a:headEnd type="none" w="med" len="med"/>
                      <a:tailEnd type="none" w="med" len="med"/>
                    </a:lnT>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marL="0" marR="0" anchor="ctr">
                    <a:lnT w="38100" cap="flat" cmpd="sng" algn="ctr">
                      <a:solidFill>
                        <a:schemeClr val="accent1"/>
                      </a:solidFill>
                      <a:prstDash val="solid"/>
                      <a:round/>
                      <a:headEnd type="none" w="med" len="med"/>
                      <a:tailEnd type="none" w="med" len="med"/>
                    </a:lnT>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marL="0" marR="0" anchor="ctr">
                    <a:lnT w="38100" cap="flat" cmpd="sng" algn="ctr">
                      <a:solidFill>
                        <a:schemeClr val="accent1"/>
                      </a:solidFill>
                      <a:prstDash val="solid"/>
                      <a:round/>
                      <a:headEnd type="none" w="med" len="med"/>
                      <a:tailEnd type="none" w="med" len="med"/>
                    </a:lnT>
                    <a:solidFill>
                      <a:schemeClr val="accent4">
                        <a:lumMod val="20000"/>
                        <a:lumOff val="80000"/>
                      </a:schemeClr>
                    </a:solidFill>
                  </a:tcPr>
                </a:tc>
                <a:tc rowSpan="5" gridSpan="2">
                  <a:txBody>
                    <a:bodyPr/>
                    <a:lstStyle/>
                    <a:p>
                      <a:pPr algn="ctr" latinLnBrk="1"/>
                      <a:endParaRPr lang="ko-KR" altLang="en-US" sz="900" dirty="0"/>
                    </a:p>
                  </a:txBody>
                  <a:tcPr anchor="ctr">
                    <a:lnR w="38100" cap="flat" cmpd="sng" algn="ctr">
                      <a:solidFill>
                        <a:schemeClr val="accent2"/>
                      </a:solidFill>
                      <a:prstDash val="solid"/>
                      <a:round/>
                      <a:headEnd type="none" w="med" len="med"/>
                      <a:tailEnd type="none" w="med" len="med"/>
                    </a:lnR>
                    <a:lnT w="38100" cap="flat" cmpd="sng" algn="ctr">
                      <a:solidFill>
                        <a:schemeClr val="accent1"/>
                      </a:solidFill>
                      <a:prstDash val="solid"/>
                      <a:round/>
                      <a:headEnd type="none" w="med" len="med"/>
                      <a:tailEnd type="none" w="med" len="med"/>
                    </a:lnT>
                    <a:lnB w="38100" cap="flat" cmpd="sng" algn="ctr">
                      <a:solidFill>
                        <a:schemeClr val="accent1"/>
                      </a:solidFill>
                      <a:prstDash val="solid"/>
                      <a:round/>
                      <a:headEnd type="none" w="med" len="med"/>
                      <a:tailEnd type="none" w="med" len="med"/>
                    </a:lnB>
                  </a:tcPr>
                </a:tc>
                <a:tc rowSpan="5" hMerge="1">
                  <a:txBody>
                    <a:bodyPr/>
                    <a:lstStyle/>
                    <a:p>
                      <a:pPr latinLnBrk="1"/>
                      <a:endParaRPr lang="ko-KR" altLang="en-US"/>
                    </a:p>
                  </a:txBody>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a:solidFill>
                            <a:srgbClr val="FF0000"/>
                          </a:solidFill>
                        </a:rPr>
                        <a:t>청</a:t>
                      </a:r>
                      <a:r>
                        <a:rPr lang="ko-KR" altLang="en-US" sz="1050" dirty="0">
                          <a:solidFill>
                            <a:schemeClr val="accent3">
                              <a:lumMod val="50000"/>
                            </a:schemeClr>
                          </a:solidFill>
                        </a:rPr>
                        <a:t>구범위 제출 유예기간의 특례</a:t>
                      </a:r>
                      <a:r>
                        <a:rPr lang="en-US" altLang="ko-KR" sz="1050" dirty="0">
                          <a:solidFill>
                            <a:schemeClr val="accent3">
                              <a:lumMod val="50000"/>
                            </a:schemeClr>
                          </a:solidFill>
                        </a:rPr>
                        <a:t>(30</a:t>
                      </a:r>
                      <a:r>
                        <a:rPr lang="ko-KR" altLang="en-US" sz="1050" dirty="0">
                          <a:solidFill>
                            <a:schemeClr val="accent3">
                              <a:lumMod val="50000"/>
                            </a:schemeClr>
                          </a:solidFill>
                        </a:rPr>
                        <a:t>일</a:t>
                      </a:r>
                      <a:r>
                        <a:rPr lang="en-US" altLang="ko-KR" sz="1050" dirty="0">
                          <a:solidFill>
                            <a:schemeClr val="accent3">
                              <a:lumMod val="50000"/>
                            </a:schemeClr>
                          </a:solidFill>
                        </a:rPr>
                        <a:t>)</a:t>
                      </a:r>
                    </a:p>
                  </a:txBody>
                  <a:tcPr anchor="ctr">
                    <a:lnL w="38100" cap="flat" cmpd="sng" algn="ctr">
                      <a:solidFill>
                        <a:schemeClr val="accent2"/>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38100" cap="flat" cmpd="sng" algn="ctr">
                      <a:solidFill>
                        <a:schemeClr val="accent2"/>
                      </a:solidFill>
                      <a:prstDash val="solid"/>
                      <a:round/>
                      <a:headEnd type="none" w="med" len="med"/>
                      <a:tailEnd type="none" w="med" len="med"/>
                    </a:lnT>
                    <a:solidFill>
                      <a:schemeClr val="bg1">
                        <a:lumMod val="95000"/>
                      </a:schemeClr>
                    </a:solidFill>
                  </a:tcPr>
                </a:tc>
                <a:tc>
                  <a:txBody>
                    <a:bodyPr/>
                    <a:lstStyle/>
                    <a:p>
                      <a:pPr algn="ctr" latinLnBrk="1"/>
                      <a:r>
                        <a:rPr lang="en-US" altLang="ko-KR" sz="900" dirty="0"/>
                        <a:t>X</a:t>
                      </a:r>
                      <a:endParaRPr lang="ko-KR" altLang="en-US" sz="900" dirty="0"/>
                    </a:p>
                  </a:txBody>
                  <a:tcPr anchor="ctr">
                    <a:lnL w="38100" cap="flat" cmpd="sng" algn="ctr">
                      <a:solidFill>
                        <a:schemeClr val="accent2"/>
                      </a:solidFill>
                      <a:prstDash val="solid"/>
                      <a:round/>
                      <a:headEnd type="none" w="med" len="med"/>
                      <a:tailEnd type="none" w="med" len="med"/>
                    </a:lnL>
                    <a:lnT w="38100" cap="flat" cmpd="sng" algn="ctr">
                      <a:solidFill>
                        <a:schemeClr val="accent2"/>
                      </a:solidFill>
                      <a:prstDash val="solid"/>
                      <a:round/>
                      <a:headEnd type="none" w="med" len="med"/>
                      <a:tailEnd type="none" w="med" len="med"/>
                    </a:lnT>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anchor="ctr">
                    <a:lnT w="38100" cap="flat" cmpd="sng" algn="ctr">
                      <a:solidFill>
                        <a:schemeClr val="accent2"/>
                      </a:solidFill>
                      <a:prstDash val="solid"/>
                      <a:round/>
                      <a:headEnd type="none" w="med" len="med"/>
                      <a:tailEnd type="none" w="med" len="med"/>
                    </a:lnT>
                    <a:solidFill>
                      <a:schemeClr val="accent4">
                        <a:lumMod val="20000"/>
                        <a:lumOff val="80000"/>
                      </a:schemeClr>
                    </a:solidFill>
                  </a:tcPr>
                </a:tc>
                <a:tc>
                  <a:txBody>
                    <a:bodyPr/>
                    <a:lstStyle/>
                    <a:p>
                      <a:pPr algn="ctr" latinLnBrk="1"/>
                      <a:r>
                        <a:rPr lang="en-US" altLang="ko-KR" sz="900" dirty="0"/>
                        <a:t>X</a:t>
                      </a:r>
                      <a:endParaRPr lang="ko-KR" altLang="en-US" sz="900" dirty="0"/>
                    </a:p>
                  </a:txBody>
                  <a:tcPr anchor="ctr">
                    <a:lnT w="38100" cap="flat" cmpd="sng" algn="ctr">
                      <a:solidFill>
                        <a:schemeClr val="accent2"/>
                      </a:solidFill>
                      <a:prstDash val="solid"/>
                      <a:round/>
                      <a:headEnd type="none" w="med" len="med"/>
                      <a:tailEnd type="none" w="med" len="med"/>
                    </a:lnT>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anchor="ctr">
                    <a:lnR w="38100" cap="flat" cmpd="sng" algn="ctr">
                      <a:solidFill>
                        <a:schemeClr val="accent2"/>
                      </a:solidFill>
                      <a:prstDash val="solid"/>
                      <a:round/>
                      <a:headEnd type="none" w="med" len="med"/>
                      <a:tailEnd type="none" w="med" len="med"/>
                    </a:lnR>
                    <a:lnT w="38100" cap="flat" cmpd="sng" algn="ctr">
                      <a:solidFill>
                        <a:schemeClr val="accent2"/>
                      </a:solidFill>
                      <a:prstDash val="solid"/>
                      <a:round/>
                      <a:headEnd type="none" w="med" len="med"/>
                      <a:tailEnd type="none" w="med" len="med"/>
                    </a:lnT>
                    <a:solidFill>
                      <a:schemeClr val="accent4">
                        <a:lumMod val="20000"/>
                        <a:lumOff val="80000"/>
                      </a:schemeClr>
                    </a:solidFill>
                  </a:tcPr>
                </a:tc>
                <a:extLst>
                  <a:ext uri="{0D108BD9-81ED-4DB2-BD59-A6C34878D82A}">
                    <a16:rowId xmlns:a16="http://schemas.microsoft.com/office/drawing/2014/main" val="3919057423"/>
                  </a:ext>
                </a:extLst>
              </a:tr>
              <a:tr h="370726">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err="1">
                          <a:solidFill>
                            <a:srgbClr val="FF0000"/>
                          </a:solidFill>
                        </a:rPr>
                        <a:t>공</a:t>
                      </a:r>
                      <a:r>
                        <a:rPr lang="ko-KR" altLang="en-US" sz="1050" dirty="0" err="1"/>
                        <a:t>지예외적용주장을</a:t>
                      </a:r>
                      <a:r>
                        <a:rPr lang="ko-KR" altLang="en-US" sz="1050" dirty="0"/>
                        <a:t> 수반하는 경우 </a:t>
                      </a:r>
                      <a:endParaRPr lang="en-US" altLang="ko-KR" sz="1050" dirty="0"/>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그 취지 및 증명서류</a:t>
                      </a:r>
                      <a:endParaRPr lang="en-US" altLang="ko-KR" sz="1050" dirty="0"/>
                    </a:p>
                  </a:txBody>
                  <a:tcPr anchor="ctr">
                    <a:lnL w="38100" cap="flat" cmpd="sng" algn="ctr">
                      <a:solidFill>
                        <a:schemeClr val="accent1"/>
                      </a:solidFill>
                      <a:prstDash val="solid"/>
                      <a:round/>
                      <a:headEnd type="none" w="med" len="med"/>
                      <a:tailEnd type="none" w="med" len="med"/>
                    </a:lnL>
                    <a:lnR w="38100" cap="flat" cmpd="sng" algn="ctr">
                      <a:solidFill>
                        <a:schemeClr val="accent1"/>
                      </a:solidFill>
                      <a:prstDash val="solid"/>
                      <a:round/>
                      <a:headEnd type="none" w="med" len="med"/>
                      <a:tailEnd type="none" w="med" len="med"/>
                    </a:lnR>
                    <a:solidFill>
                      <a:schemeClr val="bg1">
                        <a:lumMod val="95000"/>
                      </a:schemeClr>
                    </a:solidFill>
                  </a:tcPr>
                </a:tc>
                <a:tc>
                  <a:txBody>
                    <a:bodyPr/>
                    <a:lstStyle/>
                    <a:p>
                      <a:pPr algn="ctr" latinLnBrk="1"/>
                      <a:r>
                        <a:rPr lang="en-US" altLang="ko-KR" sz="900" dirty="0"/>
                        <a:t>X</a:t>
                      </a:r>
                      <a:endParaRPr lang="ko-KR" altLang="en-US" sz="900" dirty="0"/>
                    </a:p>
                  </a:txBody>
                  <a:tcPr anchor="ctr">
                    <a:lnL w="38100" cap="flat" cmpd="sng" algn="ctr">
                      <a:solidFill>
                        <a:schemeClr val="accent1"/>
                      </a:solidFill>
                      <a:prstDash val="solid"/>
                      <a:round/>
                      <a:headEnd type="none" w="med" len="med"/>
                      <a:tailEnd type="none" w="med" len="med"/>
                    </a:lnL>
                  </a:tcPr>
                </a:tc>
                <a:tc>
                  <a:txBody>
                    <a:bodyPr/>
                    <a:lstStyle/>
                    <a:p>
                      <a:pPr algn="ctr" latinLnBrk="1"/>
                      <a:r>
                        <a:rPr lang="ko-KR" altLang="en-US" sz="900" dirty="0">
                          <a:latin typeface="Arial" panose="020B0604020202020204" pitchFamily="34" charset="0"/>
                          <a:cs typeface="Arial" panose="020B0604020202020204" pitchFamily="34" charset="0"/>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(1</a:t>
                      </a:r>
                      <a:r>
                        <a:rPr lang="ko-KR" altLang="en-US" sz="900" dirty="0">
                          <a:latin typeface="Arial" panose="020B0604020202020204" pitchFamily="34" charset="0"/>
                          <a:cs typeface="Arial" panose="020B0604020202020204" pitchFamily="34" charset="0"/>
                        </a:rPr>
                        <a:t>년은 인정</a:t>
                      </a:r>
                      <a:r>
                        <a:rPr lang="en-US" altLang="ko-KR" sz="900" dirty="0">
                          <a:latin typeface="Arial" panose="020B0604020202020204" pitchFamily="34" charset="0"/>
                          <a:cs typeface="Arial" panose="020B0604020202020204" pitchFamily="34" charset="0"/>
                        </a:rPr>
                        <a:t>)</a:t>
                      </a:r>
                      <a:endParaRPr lang="ko-KR" altLang="en-US" sz="900" dirty="0"/>
                    </a:p>
                  </a:txBody>
                  <a:tcPr marL="0" marR="0" anchor="ctr">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(1</a:t>
                      </a:r>
                      <a:r>
                        <a:rPr lang="ko-KR" altLang="en-US" sz="900" dirty="0">
                          <a:latin typeface="Arial" panose="020B0604020202020204" pitchFamily="34" charset="0"/>
                          <a:cs typeface="Arial" panose="020B0604020202020204" pitchFamily="34" charset="0"/>
                        </a:rPr>
                        <a:t>년은 인정</a:t>
                      </a:r>
                      <a:r>
                        <a:rPr lang="en-US" altLang="ko-KR" sz="900" dirty="0">
                          <a:latin typeface="Arial" panose="020B0604020202020204" pitchFamily="34" charset="0"/>
                          <a:cs typeface="Arial" panose="020B0604020202020204" pitchFamily="34" charset="0"/>
                        </a:rPr>
                        <a:t>)</a:t>
                      </a:r>
                      <a:endParaRPr lang="ko-KR" altLang="en-US" sz="900" dirty="0"/>
                    </a:p>
                  </a:txBody>
                  <a:tcPr marL="0" marR="0" anchor="ctr">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t>(1</a:t>
                      </a:r>
                      <a:r>
                        <a:rPr lang="ko-KR" altLang="en-US" sz="900" dirty="0"/>
                        <a:t>년은 인정</a:t>
                      </a:r>
                      <a:r>
                        <a:rPr lang="en-US" altLang="ko-KR" sz="900" dirty="0"/>
                        <a:t>)</a:t>
                      </a:r>
                    </a:p>
                  </a:txBody>
                  <a:tcPr marL="0" marR="0" anchor="ctr">
                    <a:solidFill>
                      <a:schemeClr val="accent4">
                        <a:lumMod val="20000"/>
                        <a:lumOff val="80000"/>
                      </a:schemeClr>
                    </a:solidFill>
                  </a:tcPr>
                </a:tc>
                <a:tc gridSpan="2" vMerge="1">
                  <a:txBody>
                    <a:bodyPr/>
                    <a:lstStyle/>
                    <a:p>
                      <a:pPr latinLnBrk="1"/>
                      <a:endParaRPr lang="ko-KR" altLang="en-US" sz="1200" dirty="0"/>
                    </a:p>
                  </a:txBody>
                  <a:tcPr/>
                </a:tc>
                <a:tc hMerge="1" vMerge="1">
                  <a:txBody>
                    <a:bodyPr/>
                    <a:lstStyle/>
                    <a:p>
                      <a:pPr latinLnBrk="1"/>
                      <a:endParaRPr lang="ko-KR" altLang="en-US"/>
                    </a:p>
                  </a:txBody>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a:solidFill>
                            <a:srgbClr val="FF0000"/>
                          </a:solidFill>
                        </a:rPr>
                        <a:t>번</a:t>
                      </a:r>
                      <a:r>
                        <a:rPr lang="ko-KR" altLang="en-US" sz="1050" dirty="0">
                          <a:solidFill>
                            <a:schemeClr val="accent3">
                              <a:lumMod val="50000"/>
                            </a:schemeClr>
                          </a:solidFill>
                        </a:rPr>
                        <a:t>역문 제출기간의</a:t>
                      </a:r>
                      <a:endParaRPr lang="en-US" altLang="ko-KR" sz="1050" dirty="0">
                        <a:solidFill>
                          <a:schemeClr val="accent3">
                            <a:lumMod val="50000"/>
                          </a:schemeClr>
                        </a:solidFill>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solidFill>
                            <a:schemeClr val="accent3">
                              <a:lumMod val="50000"/>
                            </a:schemeClr>
                          </a:solidFill>
                        </a:rPr>
                        <a:t>특례</a:t>
                      </a:r>
                      <a:r>
                        <a:rPr lang="en-US" altLang="ko-KR" sz="1050" dirty="0">
                          <a:solidFill>
                            <a:schemeClr val="accent3">
                              <a:lumMod val="50000"/>
                            </a:schemeClr>
                          </a:solidFill>
                        </a:rPr>
                        <a:t>(30</a:t>
                      </a:r>
                      <a:r>
                        <a:rPr lang="ko-KR" altLang="en-US" sz="1050" dirty="0">
                          <a:solidFill>
                            <a:schemeClr val="accent3">
                              <a:lumMod val="50000"/>
                            </a:schemeClr>
                          </a:solidFill>
                        </a:rPr>
                        <a:t>일</a:t>
                      </a:r>
                      <a:r>
                        <a:rPr lang="en-US" altLang="ko-KR" sz="1050" dirty="0">
                          <a:solidFill>
                            <a:schemeClr val="accent3">
                              <a:lumMod val="50000"/>
                            </a:schemeClr>
                          </a:solidFill>
                        </a:rPr>
                        <a:t>)</a:t>
                      </a:r>
                    </a:p>
                  </a:txBody>
                  <a:tcPr anchor="ctr">
                    <a:lnL w="38100" cap="flat" cmpd="sng" algn="ctr">
                      <a:solidFill>
                        <a:schemeClr val="accent2"/>
                      </a:solidFill>
                      <a:prstDash val="solid"/>
                      <a:round/>
                      <a:headEnd type="none" w="med" len="med"/>
                      <a:tailEnd type="none" w="med" len="med"/>
                    </a:lnL>
                    <a:lnR w="38100" cap="flat" cmpd="sng" algn="ctr">
                      <a:solidFill>
                        <a:schemeClr val="accent2"/>
                      </a:solidFill>
                      <a:prstDash val="solid"/>
                      <a:round/>
                      <a:headEnd type="none" w="med" len="med"/>
                      <a:tailEnd type="none" w="med" len="med"/>
                    </a:lnR>
                    <a:solidFill>
                      <a:schemeClr val="bg1">
                        <a:lumMod val="95000"/>
                      </a:schemeClr>
                    </a:solidFill>
                  </a:tcPr>
                </a:tc>
                <a:tc>
                  <a:txBody>
                    <a:bodyPr/>
                    <a:lstStyle/>
                    <a:p>
                      <a:pPr algn="ctr" latinLnBrk="1"/>
                      <a:r>
                        <a:rPr lang="en-US" altLang="ko-KR" sz="900" dirty="0"/>
                        <a:t>X</a:t>
                      </a:r>
                      <a:endParaRPr lang="ko-KR" altLang="en-US" sz="900" dirty="0"/>
                    </a:p>
                  </a:txBody>
                  <a:tcPr anchor="ctr">
                    <a:lnL w="38100" cap="flat" cmpd="sng" algn="ctr">
                      <a:solidFill>
                        <a:schemeClr val="accent2"/>
                      </a:solidFill>
                      <a:prstDash val="solid"/>
                      <a:round/>
                      <a:headEnd type="none" w="med" len="med"/>
                      <a:tailEnd type="none" w="med" len="med"/>
                    </a:ln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anchor="ctr">
                    <a:solidFill>
                      <a:schemeClr val="accent4">
                        <a:lumMod val="20000"/>
                        <a:lumOff val="80000"/>
                      </a:schemeClr>
                    </a:solidFill>
                  </a:tcPr>
                </a:tc>
                <a:tc>
                  <a:txBody>
                    <a:bodyPr/>
                    <a:lstStyle/>
                    <a:p>
                      <a:pPr algn="ctr" latinLnBrk="1"/>
                      <a:r>
                        <a:rPr lang="en-US" altLang="ko-KR" sz="900" dirty="0"/>
                        <a:t>X</a:t>
                      </a:r>
                      <a:endParaRPr lang="ko-KR" altLang="en-US" sz="900" dirty="0"/>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anchor="ctr">
                    <a:lnR w="38100" cap="flat" cmpd="sng" algn="ctr">
                      <a:solidFill>
                        <a:schemeClr val="accent2"/>
                      </a:solidFill>
                      <a:prstDash val="solid"/>
                      <a:round/>
                      <a:headEnd type="none" w="med" len="med"/>
                      <a:tailEnd type="none" w="med" len="med"/>
                    </a:lnR>
                    <a:solidFill>
                      <a:schemeClr val="accent4">
                        <a:lumMod val="20000"/>
                        <a:lumOff val="80000"/>
                      </a:schemeClr>
                    </a:solidFill>
                  </a:tcPr>
                </a:tc>
                <a:extLst>
                  <a:ext uri="{0D108BD9-81ED-4DB2-BD59-A6C34878D82A}">
                    <a16:rowId xmlns:a16="http://schemas.microsoft.com/office/drawing/2014/main" val="4074789969"/>
                  </a:ext>
                </a:extLst>
              </a:tr>
              <a:tr h="344246">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err="1">
                          <a:solidFill>
                            <a:srgbClr val="FF0000"/>
                          </a:solidFill>
                        </a:rPr>
                        <a:t>조</a:t>
                      </a:r>
                      <a:r>
                        <a:rPr lang="ko-KR" altLang="en-US" sz="1050" dirty="0" err="1"/>
                        <a:t>약우선권주장을</a:t>
                      </a:r>
                      <a:r>
                        <a:rPr lang="ko-KR" altLang="en-US" sz="1050" dirty="0"/>
                        <a:t> 수반하는 경우 </a:t>
                      </a:r>
                      <a:endParaRPr lang="en-US" altLang="ko-KR" sz="1050" dirty="0"/>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그 취지</a:t>
                      </a:r>
                      <a:endParaRPr lang="en-US" altLang="ko-KR" sz="1050" dirty="0"/>
                    </a:p>
                  </a:txBody>
                  <a:tcPr anchor="ctr">
                    <a:lnL w="38100" cap="flat" cmpd="sng" algn="ctr">
                      <a:solidFill>
                        <a:schemeClr val="accent1"/>
                      </a:solidFill>
                      <a:prstDash val="solid"/>
                      <a:round/>
                      <a:headEnd type="none" w="med" len="med"/>
                      <a:tailEnd type="none" w="med" len="med"/>
                    </a:lnL>
                    <a:lnR w="38100" cap="flat" cmpd="sng" algn="ctr">
                      <a:solidFill>
                        <a:schemeClr val="accent1"/>
                      </a:solidFill>
                      <a:prstDash val="solid"/>
                      <a:round/>
                      <a:headEnd type="none" w="med" len="med"/>
                      <a:tailEnd type="none" w="med" len="med"/>
                    </a:lnR>
                    <a:solidFill>
                      <a:schemeClr val="bg1">
                        <a:lumMod val="95000"/>
                      </a:schemeClr>
                    </a:solidFill>
                  </a:tcPr>
                </a:tc>
                <a:tc>
                  <a:txBody>
                    <a:bodyPr/>
                    <a:lstStyle/>
                    <a:p>
                      <a:pPr algn="ctr" latinLnBrk="1"/>
                      <a:r>
                        <a:rPr lang="en-US" altLang="ko-KR" sz="900" dirty="0"/>
                        <a:t>X</a:t>
                      </a:r>
                      <a:endParaRPr lang="ko-KR" altLang="en-US" sz="900" dirty="0"/>
                    </a:p>
                  </a:txBody>
                  <a:tcPr anchor="ctr">
                    <a:lnL w="38100" cap="flat" cmpd="sng" algn="ctr">
                      <a:solidFill>
                        <a:schemeClr val="accent1"/>
                      </a:solidFill>
                      <a:prstDash val="solid"/>
                      <a:round/>
                      <a:headEnd type="none" w="med" len="med"/>
                      <a:tailEnd type="none" w="med" len="med"/>
                    </a:lnL>
                  </a:tcPr>
                </a:tc>
                <a:tc>
                  <a:txBody>
                    <a:bodyPr/>
                    <a:lstStyle/>
                    <a:p>
                      <a:pPr algn="ctr" latinLnBrk="1"/>
                      <a:r>
                        <a:rPr lang="ko-KR" altLang="en-US" sz="900" dirty="0">
                          <a:latin typeface="Arial" panose="020B0604020202020204" pitchFamily="34" charset="0"/>
                          <a:cs typeface="Arial" panose="020B0604020202020204" pitchFamily="34" charset="0"/>
                        </a:rPr>
                        <a:t>○</a:t>
                      </a:r>
                      <a:endParaRPr lang="en-US" altLang="ko-KR" sz="900" dirty="0">
                        <a:latin typeface="Arial" panose="020B0604020202020204" pitchFamily="34" charset="0"/>
                        <a:cs typeface="Arial" panose="020B0604020202020204" pitchFamily="34" charset="0"/>
                      </a:endParaRPr>
                    </a:p>
                    <a:p>
                      <a:pPr algn="ctr" latinLnBrk="1"/>
                      <a:r>
                        <a:rPr lang="en-US" altLang="ko-KR" sz="900" dirty="0">
                          <a:latin typeface="Arial" panose="020B0604020202020204" pitchFamily="34" charset="0"/>
                          <a:cs typeface="Arial" panose="020B0604020202020204" pitchFamily="34" charset="0"/>
                        </a:rPr>
                        <a:t>(1</a:t>
                      </a:r>
                      <a:r>
                        <a:rPr lang="ko-KR" altLang="en-US" sz="900" dirty="0">
                          <a:latin typeface="Arial" panose="020B0604020202020204" pitchFamily="34" charset="0"/>
                          <a:cs typeface="Arial" panose="020B0604020202020204" pitchFamily="34" charset="0"/>
                        </a:rPr>
                        <a:t>년은 인정</a:t>
                      </a:r>
                      <a:r>
                        <a:rPr lang="en-US" altLang="ko-KR" sz="900" dirty="0">
                          <a:latin typeface="Arial" panose="020B0604020202020204" pitchFamily="34" charset="0"/>
                          <a:cs typeface="Arial" panose="020B0604020202020204" pitchFamily="34" charset="0"/>
                        </a:rPr>
                        <a:t>)</a:t>
                      </a:r>
                    </a:p>
                    <a:p>
                      <a:pPr algn="ctr" latinLnBrk="1"/>
                      <a:r>
                        <a:rPr lang="en-US" altLang="ko-KR" sz="900" dirty="0">
                          <a:latin typeface="Arial" panose="020B0604020202020204" pitchFamily="34" charset="0"/>
                          <a:cs typeface="Arial" panose="020B0604020202020204" pitchFamily="34" charset="0"/>
                        </a:rPr>
                        <a:t>(</a:t>
                      </a:r>
                      <a:r>
                        <a:rPr lang="ko-KR" altLang="en-US" sz="900" dirty="0">
                          <a:latin typeface="Arial" panose="020B0604020202020204" pitchFamily="34" charset="0"/>
                          <a:cs typeface="Arial" panose="020B0604020202020204" pitchFamily="34" charset="0"/>
                        </a:rPr>
                        <a:t>자동간주</a:t>
                      </a:r>
                      <a:r>
                        <a:rPr lang="en-US" altLang="ko-KR" sz="900" dirty="0">
                          <a:latin typeface="Arial" panose="020B0604020202020204" pitchFamily="34" charset="0"/>
                          <a:cs typeface="Arial" panose="020B0604020202020204" pitchFamily="34" charset="0"/>
                        </a:rPr>
                        <a:t>)</a:t>
                      </a:r>
                      <a:endParaRPr lang="ko-KR" altLang="en-US" sz="900" dirty="0"/>
                    </a:p>
                  </a:txBody>
                  <a:tcPr marL="0" marR="0"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en-US" altLang="ko-KR" sz="900" dirty="0">
                        <a:latin typeface="Arial" panose="020B0604020202020204" pitchFamily="34" charset="0"/>
                        <a:cs typeface="Arial" panose="020B0604020202020204" pitchFamily="34" charset="0"/>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(1</a:t>
                      </a:r>
                      <a:r>
                        <a:rPr lang="ko-KR" altLang="en-US" sz="900" dirty="0">
                          <a:latin typeface="Arial" panose="020B0604020202020204" pitchFamily="34" charset="0"/>
                          <a:cs typeface="Arial" panose="020B0604020202020204" pitchFamily="34" charset="0"/>
                        </a:rPr>
                        <a:t>년은 </a:t>
                      </a:r>
                      <a:r>
                        <a:rPr lang="ko-KR" altLang="en-US" sz="900" dirty="0"/>
                        <a:t>인정</a:t>
                      </a:r>
                      <a:r>
                        <a:rPr lang="en-US" altLang="ko-KR" sz="900" dirty="0">
                          <a:latin typeface="Arial" panose="020B0604020202020204" pitchFamily="34" charset="0"/>
                          <a:cs typeface="Arial" panose="020B0604020202020204" pitchFamily="34" charset="0"/>
                        </a:rPr>
                        <a:t>)</a:t>
                      </a:r>
                      <a:endParaRPr lang="ko-KR" altLang="en-US" sz="900" dirty="0"/>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a:t>
                      </a:r>
                      <a:r>
                        <a:rPr lang="ko-KR" altLang="en-US" sz="900" dirty="0">
                          <a:latin typeface="Arial" panose="020B0604020202020204" pitchFamily="34" charset="0"/>
                          <a:cs typeface="Arial" panose="020B0604020202020204" pitchFamily="34" charset="0"/>
                        </a:rPr>
                        <a:t>자동간주</a:t>
                      </a:r>
                      <a:r>
                        <a:rPr lang="en-US" altLang="ko-KR" sz="900" dirty="0">
                          <a:latin typeface="Arial" panose="020B0604020202020204" pitchFamily="34" charset="0"/>
                          <a:cs typeface="Arial" panose="020B0604020202020204" pitchFamily="34" charset="0"/>
                        </a:rPr>
                        <a:t>)</a:t>
                      </a:r>
                      <a:endParaRPr lang="ko-KR" altLang="en-US" sz="900" dirty="0"/>
                    </a:p>
                  </a:txBody>
                  <a:tcPr marL="0" marR="0" anchor="ctr"/>
                </a:tc>
                <a:tc>
                  <a:txBody>
                    <a:bodyPr/>
                    <a:lstStyle/>
                    <a:p>
                      <a:pPr algn="ctr" latinLnBrk="1"/>
                      <a:r>
                        <a:rPr lang="ko-KR" altLang="en-US" sz="900" dirty="0">
                          <a:latin typeface="Arial" panose="020B0604020202020204" pitchFamily="34" charset="0"/>
                          <a:cs typeface="Arial" panose="020B0604020202020204" pitchFamily="34" charset="0"/>
                        </a:rPr>
                        <a:t>○</a:t>
                      </a:r>
                      <a:endParaRPr lang="en-US" altLang="ko-KR" sz="900" dirty="0">
                        <a:latin typeface="Arial" panose="020B0604020202020204" pitchFamily="34" charset="0"/>
                        <a:cs typeface="Arial" panose="020B0604020202020204" pitchFamily="34" charset="0"/>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(1</a:t>
                      </a:r>
                      <a:r>
                        <a:rPr lang="ko-KR" altLang="en-US" sz="900" dirty="0">
                          <a:latin typeface="Arial" panose="020B0604020202020204" pitchFamily="34" charset="0"/>
                          <a:cs typeface="Arial" panose="020B0604020202020204" pitchFamily="34" charset="0"/>
                        </a:rPr>
                        <a:t>년은 </a:t>
                      </a:r>
                      <a:r>
                        <a:rPr lang="ko-KR" altLang="en-US" sz="900" dirty="0"/>
                        <a:t>인정</a:t>
                      </a:r>
                      <a:r>
                        <a:rPr lang="en-US" altLang="ko-KR" sz="900" dirty="0">
                          <a:latin typeface="Arial" panose="020B0604020202020204" pitchFamily="34" charset="0"/>
                          <a:cs typeface="Arial" panose="020B0604020202020204" pitchFamily="34" charset="0"/>
                        </a:rPr>
                        <a:t>)</a:t>
                      </a:r>
                      <a:endParaRPr lang="ko-KR" altLang="en-US" sz="900" dirty="0"/>
                    </a:p>
                  </a:txBody>
                  <a:tcPr marL="0" marR="0" anchor="ctr"/>
                </a:tc>
                <a:tc gridSpan="2" vMerge="1">
                  <a:txBody>
                    <a:bodyPr/>
                    <a:lstStyle/>
                    <a:p>
                      <a:pPr latinLnBrk="1"/>
                      <a:endParaRPr lang="ko-KR" altLang="en-US" sz="1200"/>
                    </a:p>
                  </a:txBody>
                  <a:tcPr/>
                </a:tc>
                <a:tc hMerge="1" vMerge="1">
                  <a:txBody>
                    <a:bodyPr/>
                    <a:lstStyle/>
                    <a:p>
                      <a:pPr latinLnBrk="1"/>
                      <a:endParaRPr lang="ko-KR" altLang="en-US"/>
                    </a:p>
                  </a:txBody>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err="1">
                          <a:solidFill>
                            <a:srgbClr val="FF0000"/>
                          </a:solidFill>
                        </a:rPr>
                        <a:t>조</a:t>
                      </a:r>
                      <a:r>
                        <a:rPr lang="ko-KR" altLang="en-US" sz="1050" dirty="0" err="1">
                          <a:solidFill>
                            <a:schemeClr val="accent3">
                              <a:lumMod val="50000"/>
                            </a:schemeClr>
                          </a:solidFill>
                        </a:rPr>
                        <a:t>약우선권주장</a:t>
                      </a:r>
                      <a:r>
                        <a:rPr lang="ko-KR" altLang="en-US" sz="1050" dirty="0">
                          <a:solidFill>
                            <a:schemeClr val="accent3">
                              <a:lumMod val="50000"/>
                            </a:schemeClr>
                          </a:solidFill>
                        </a:rPr>
                        <a:t> 증명서류 제출기간의 특례</a:t>
                      </a:r>
                      <a:r>
                        <a:rPr lang="en-US" altLang="ko-KR" sz="1050" dirty="0">
                          <a:solidFill>
                            <a:schemeClr val="accent3">
                              <a:lumMod val="50000"/>
                            </a:schemeClr>
                          </a:solidFill>
                        </a:rPr>
                        <a:t>(3</a:t>
                      </a:r>
                      <a:r>
                        <a:rPr lang="ko-KR" altLang="en-US" sz="1050" dirty="0">
                          <a:solidFill>
                            <a:schemeClr val="accent3">
                              <a:lumMod val="50000"/>
                            </a:schemeClr>
                          </a:solidFill>
                        </a:rPr>
                        <a:t>월</a:t>
                      </a:r>
                      <a:r>
                        <a:rPr lang="en-US" altLang="ko-KR" sz="1050" dirty="0">
                          <a:solidFill>
                            <a:schemeClr val="accent3">
                              <a:lumMod val="50000"/>
                            </a:schemeClr>
                          </a:solidFill>
                        </a:rPr>
                        <a:t>)</a:t>
                      </a:r>
                    </a:p>
                  </a:txBody>
                  <a:tcPr anchor="ctr">
                    <a:lnL w="38100" cap="flat" cmpd="sng" algn="ctr">
                      <a:solidFill>
                        <a:schemeClr val="accent2"/>
                      </a:solidFill>
                      <a:prstDash val="solid"/>
                      <a:round/>
                      <a:headEnd type="none" w="med" len="med"/>
                      <a:tailEnd type="none" w="med" len="med"/>
                    </a:lnL>
                    <a:lnR w="38100" cap="flat" cmpd="sng" algn="ctr">
                      <a:solidFill>
                        <a:schemeClr val="accent2"/>
                      </a:solidFill>
                      <a:prstDash val="solid"/>
                      <a:round/>
                      <a:headEnd type="none" w="med" len="med"/>
                      <a:tailEnd type="none" w="med" len="med"/>
                    </a:lnR>
                    <a:solidFill>
                      <a:schemeClr val="bg1">
                        <a:lumMod val="95000"/>
                      </a:schemeClr>
                    </a:solidFill>
                  </a:tcPr>
                </a:tc>
                <a:tc>
                  <a:txBody>
                    <a:bodyPr/>
                    <a:lstStyle/>
                    <a:p>
                      <a:pPr algn="ctr" latinLnBrk="1"/>
                      <a:r>
                        <a:rPr lang="en-US" altLang="ko-KR" sz="900" dirty="0"/>
                        <a:t>X</a:t>
                      </a:r>
                      <a:endParaRPr lang="ko-KR" altLang="en-US" sz="900" dirty="0"/>
                    </a:p>
                  </a:txBody>
                  <a:tcPr anchor="ctr">
                    <a:lnL w="38100" cap="flat" cmpd="sng" algn="ctr">
                      <a:solidFill>
                        <a:schemeClr val="accent2"/>
                      </a:solidFill>
                      <a:prstDash val="solid"/>
                      <a:round/>
                      <a:headEnd type="none" w="med" len="med"/>
                      <a:tailEnd type="none" w="med" len="med"/>
                    </a:ln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p>
                      <a:pPr algn="ctr" latinLnBrk="1"/>
                      <a:r>
                        <a:rPr lang="en-US" altLang="ko-KR" sz="900" dirty="0"/>
                        <a:t>(</a:t>
                      </a:r>
                      <a:r>
                        <a:rPr lang="ko-KR" altLang="en-US" sz="900" dirty="0"/>
                        <a:t>단</a:t>
                      </a:r>
                      <a:r>
                        <a:rPr lang="en-US" altLang="ko-KR" sz="900" dirty="0"/>
                        <a:t>, </a:t>
                      </a:r>
                      <a:r>
                        <a:rPr lang="ko-KR" altLang="en-US" sz="900" dirty="0"/>
                        <a:t>자동간주</a:t>
                      </a:r>
                      <a:r>
                        <a:rPr lang="en-US" altLang="ko-KR" sz="900" dirty="0"/>
                        <a:t>)</a:t>
                      </a:r>
                      <a:endParaRPr lang="ko-KR" altLang="en-US" sz="900" dirty="0"/>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t>X</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t>(</a:t>
                      </a:r>
                      <a:r>
                        <a:rPr lang="ko-KR" altLang="en-US" sz="900" dirty="0"/>
                        <a:t>단</a:t>
                      </a:r>
                      <a:r>
                        <a:rPr lang="en-US" altLang="ko-KR" sz="900" dirty="0"/>
                        <a:t>, </a:t>
                      </a:r>
                      <a:r>
                        <a:rPr lang="ko-KR" altLang="en-US" sz="900" dirty="0"/>
                        <a:t>자동간주</a:t>
                      </a:r>
                      <a:r>
                        <a:rPr lang="en-US" altLang="ko-KR" sz="900" dirty="0"/>
                        <a:t>)</a:t>
                      </a:r>
                      <a:endParaRPr lang="ko-KR" altLang="en-US" sz="900" dirty="0"/>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p>
                      <a:pPr algn="ctr" latinLnBrk="1"/>
                      <a:endParaRPr lang="ko-KR" altLang="en-US" sz="900" dirty="0"/>
                    </a:p>
                  </a:txBody>
                  <a:tcPr anchor="ctr">
                    <a:lnR w="38100" cap="flat" cmpd="sng" algn="ctr">
                      <a:solidFill>
                        <a:schemeClr val="accent2"/>
                      </a:solidFill>
                      <a:prstDash val="solid"/>
                      <a:round/>
                      <a:headEnd type="none" w="med" len="med"/>
                      <a:tailEnd type="none" w="med" len="med"/>
                    </a:lnR>
                  </a:tcPr>
                </a:tc>
                <a:extLst>
                  <a:ext uri="{0D108BD9-81ED-4DB2-BD59-A6C34878D82A}">
                    <a16:rowId xmlns:a16="http://schemas.microsoft.com/office/drawing/2014/main" val="2574475219"/>
                  </a:ext>
                </a:extLst>
              </a:tr>
              <a:tr h="291285">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err="1">
                          <a:solidFill>
                            <a:srgbClr val="FF0000"/>
                          </a:solidFill>
                        </a:rPr>
                        <a:t>국</a:t>
                      </a:r>
                      <a:r>
                        <a:rPr lang="ko-KR" altLang="en-US" sz="1050" dirty="0" err="1"/>
                        <a:t>내우선권주장을</a:t>
                      </a:r>
                      <a:r>
                        <a:rPr lang="ko-KR" altLang="en-US" sz="1050" dirty="0"/>
                        <a:t> 수반하는 경우 </a:t>
                      </a:r>
                      <a:endParaRPr lang="en-US" altLang="ko-KR" sz="1050" dirty="0"/>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그 취지</a:t>
                      </a:r>
                      <a:endParaRPr lang="en-US" altLang="ko-KR" sz="1050" dirty="0"/>
                    </a:p>
                  </a:txBody>
                  <a:tcPr anchor="ctr">
                    <a:lnL w="38100" cap="flat" cmpd="sng" algn="ctr">
                      <a:solidFill>
                        <a:schemeClr val="accent1"/>
                      </a:solidFill>
                      <a:prstDash val="solid"/>
                      <a:round/>
                      <a:headEnd type="none" w="med" len="med"/>
                      <a:tailEnd type="none" w="med" len="med"/>
                    </a:lnL>
                    <a:lnR w="38100" cap="flat" cmpd="sng" algn="ctr">
                      <a:solidFill>
                        <a:schemeClr val="accent1"/>
                      </a:solidFill>
                      <a:prstDash val="solid"/>
                      <a:round/>
                      <a:headEnd type="none" w="med" len="med"/>
                      <a:tailEnd type="none" w="med" len="med"/>
                    </a:lnR>
                    <a:solidFill>
                      <a:schemeClr val="bg1">
                        <a:lumMod val="95000"/>
                      </a:schemeClr>
                    </a:solidFill>
                  </a:tcPr>
                </a:tc>
                <a:tc>
                  <a:txBody>
                    <a:bodyPr/>
                    <a:lstStyle/>
                    <a:p>
                      <a:pPr algn="ctr" latinLnBrk="1"/>
                      <a:r>
                        <a:rPr lang="en-US" altLang="ko-KR" sz="900" dirty="0"/>
                        <a:t>X</a:t>
                      </a:r>
                      <a:endParaRPr lang="ko-KR" altLang="en-US" sz="900" dirty="0"/>
                    </a:p>
                  </a:txBody>
                  <a:tcPr anchor="ctr">
                    <a:lnL w="38100" cap="flat" cmpd="sng" algn="ctr">
                      <a:solidFill>
                        <a:schemeClr val="accent1"/>
                      </a:solidFill>
                      <a:prstDash val="solid"/>
                      <a:round/>
                      <a:headEnd type="none" w="med" len="med"/>
                      <a:tailEnd type="none" w="med" len="med"/>
                    </a:ln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en-US" altLang="ko-KR" sz="900" dirty="0">
                        <a:latin typeface="Arial" panose="020B0604020202020204" pitchFamily="34" charset="0"/>
                        <a:cs typeface="Arial" panose="020B0604020202020204" pitchFamily="34" charset="0"/>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(1</a:t>
                      </a:r>
                      <a:r>
                        <a:rPr lang="ko-KR" altLang="en-US" sz="900" dirty="0">
                          <a:latin typeface="Arial" panose="020B0604020202020204" pitchFamily="34" charset="0"/>
                          <a:cs typeface="Arial" panose="020B0604020202020204" pitchFamily="34" charset="0"/>
                        </a:rPr>
                        <a:t>년은 인정</a:t>
                      </a:r>
                      <a:r>
                        <a:rPr lang="en-US" altLang="ko-KR" sz="900" dirty="0">
                          <a:latin typeface="Arial" panose="020B0604020202020204" pitchFamily="34" charset="0"/>
                          <a:cs typeface="Arial" panose="020B0604020202020204" pitchFamily="34" charset="0"/>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a:t>
                      </a:r>
                      <a:r>
                        <a:rPr lang="ko-KR" altLang="en-US" sz="900" dirty="0">
                          <a:latin typeface="Arial" panose="020B0604020202020204" pitchFamily="34" charset="0"/>
                          <a:cs typeface="Arial" panose="020B0604020202020204" pitchFamily="34" charset="0"/>
                        </a:rPr>
                        <a:t>자동간주</a:t>
                      </a:r>
                      <a:r>
                        <a:rPr lang="en-US" altLang="ko-KR" sz="900" dirty="0">
                          <a:latin typeface="Arial" panose="020B0604020202020204" pitchFamily="34" charset="0"/>
                          <a:cs typeface="Arial" panose="020B0604020202020204" pitchFamily="34" charset="0"/>
                        </a:rPr>
                        <a:t>)</a:t>
                      </a:r>
                      <a:endParaRPr lang="ko-KR" altLang="en-US" sz="900" dirty="0"/>
                    </a:p>
                  </a:txBody>
                  <a:tcPr marL="0" marR="0" anchor="ctr">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en-US" altLang="ko-KR" sz="900" dirty="0">
                        <a:latin typeface="Arial" panose="020B0604020202020204" pitchFamily="34" charset="0"/>
                        <a:cs typeface="Arial" panose="020B0604020202020204" pitchFamily="34" charset="0"/>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(1</a:t>
                      </a:r>
                      <a:r>
                        <a:rPr lang="ko-KR" altLang="en-US" sz="900" dirty="0">
                          <a:latin typeface="Arial" panose="020B0604020202020204" pitchFamily="34" charset="0"/>
                          <a:cs typeface="Arial" panose="020B0604020202020204" pitchFamily="34" charset="0"/>
                        </a:rPr>
                        <a:t>년은 인정</a:t>
                      </a:r>
                      <a:r>
                        <a:rPr lang="en-US" altLang="ko-KR" sz="900" dirty="0">
                          <a:latin typeface="Arial" panose="020B0604020202020204" pitchFamily="34" charset="0"/>
                          <a:cs typeface="Arial" panose="020B0604020202020204" pitchFamily="34" charset="0"/>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a:t>
                      </a:r>
                      <a:r>
                        <a:rPr lang="ko-KR" altLang="en-US" sz="900" dirty="0">
                          <a:latin typeface="Arial" panose="020B0604020202020204" pitchFamily="34" charset="0"/>
                          <a:cs typeface="Arial" panose="020B0604020202020204" pitchFamily="34" charset="0"/>
                        </a:rPr>
                        <a:t>자동간주</a:t>
                      </a:r>
                      <a:r>
                        <a:rPr lang="en-US" altLang="ko-KR" sz="900" dirty="0">
                          <a:latin typeface="Arial" panose="020B0604020202020204" pitchFamily="34" charset="0"/>
                          <a:cs typeface="Arial" panose="020B0604020202020204" pitchFamily="34" charset="0"/>
                        </a:rPr>
                        <a:t>)</a:t>
                      </a:r>
                      <a:endParaRPr lang="ko-KR" altLang="en-US" sz="900" dirty="0"/>
                    </a:p>
                  </a:txBody>
                  <a:tcPr marL="0" marR="0" anchor="ctr">
                    <a:solidFill>
                      <a:schemeClr val="accent4">
                        <a:lumMod val="20000"/>
                        <a:lumOff val="80000"/>
                      </a:schemeClr>
                    </a:solidFill>
                  </a:tcPr>
                </a:tc>
                <a:tc>
                  <a:txBody>
                    <a:bodyPr/>
                    <a:lstStyle/>
                    <a:p>
                      <a:pPr algn="ctr" latinLnBrk="1"/>
                      <a:r>
                        <a:rPr lang="ko-KR" altLang="en-US" sz="900" dirty="0">
                          <a:latin typeface="Arial" panose="020B0604020202020204" pitchFamily="34" charset="0"/>
                          <a:cs typeface="Arial" panose="020B0604020202020204" pitchFamily="34" charset="0"/>
                        </a:rPr>
                        <a:t>○</a:t>
                      </a:r>
                      <a:endParaRPr lang="en-US" altLang="ko-KR" sz="900" dirty="0">
                        <a:latin typeface="Arial" panose="020B0604020202020204" pitchFamily="34" charset="0"/>
                        <a:cs typeface="Arial" panose="020B0604020202020204" pitchFamily="34" charset="0"/>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latin typeface="Arial" panose="020B0604020202020204" pitchFamily="34" charset="0"/>
                          <a:cs typeface="Arial" panose="020B0604020202020204" pitchFamily="34" charset="0"/>
                        </a:rPr>
                        <a:t>(1</a:t>
                      </a:r>
                      <a:r>
                        <a:rPr lang="ko-KR" altLang="en-US" sz="900" dirty="0">
                          <a:latin typeface="Arial" panose="020B0604020202020204" pitchFamily="34" charset="0"/>
                          <a:cs typeface="Arial" panose="020B0604020202020204" pitchFamily="34" charset="0"/>
                        </a:rPr>
                        <a:t>년은 인정</a:t>
                      </a:r>
                      <a:r>
                        <a:rPr lang="en-US" altLang="ko-KR" sz="900" dirty="0">
                          <a:latin typeface="Arial" panose="020B0604020202020204" pitchFamily="34" charset="0"/>
                          <a:cs typeface="Arial" panose="020B0604020202020204" pitchFamily="34" charset="0"/>
                        </a:rPr>
                        <a:t>)</a:t>
                      </a:r>
                      <a:endParaRPr lang="ko-KR" altLang="en-US" sz="900" dirty="0"/>
                    </a:p>
                  </a:txBody>
                  <a:tcPr marL="0" marR="0" anchor="ctr">
                    <a:solidFill>
                      <a:schemeClr val="accent4">
                        <a:lumMod val="20000"/>
                        <a:lumOff val="80000"/>
                      </a:schemeClr>
                    </a:solidFill>
                  </a:tcPr>
                </a:tc>
                <a:tc gridSpan="2" vMerge="1">
                  <a:txBody>
                    <a:bodyPr/>
                    <a:lstStyle/>
                    <a:p>
                      <a:pPr latinLnBrk="1"/>
                      <a:endParaRPr lang="ko-KR" altLang="en-US" sz="1200"/>
                    </a:p>
                  </a:txBody>
                  <a:tcPr/>
                </a:tc>
                <a:tc hMerge="1" vMerge="1">
                  <a:txBody>
                    <a:bodyPr/>
                    <a:lstStyle/>
                    <a:p>
                      <a:pPr latinLnBrk="1"/>
                      <a:endParaRPr lang="ko-KR" altLang="en-US"/>
                    </a:p>
                  </a:txBody>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err="1">
                          <a:solidFill>
                            <a:srgbClr val="FF0000"/>
                          </a:solidFill>
                        </a:rPr>
                        <a:t>우</a:t>
                      </a:r>
                      <a:r>
                        <a:rPr lang="ko-KR" altLang="en-US" sz="1050" dirty="0" err="1">
                          <a:solidFill>
                            <a:schemeClr val="accent3">
                              <a:lumMod val="50000"/>
                            </a:schemeClr>
                          </a:solidFill>
                        </a:rPr>
                        <a:t>선권주장취하기간의</a:t>
                      </a:r>
                      <a:r>
                        <a:rPr lang="ko-KR" altLang="en-US" sz="1050" dirty="0">
                          <a:solidFill>
                            <a:schemeClr val="accent3">
                              <a:lumMod val="50000"/>
                            </a:schemeClr>
                          </a:solidFill>
                        </a:rPr>
                        <a:t> </a:t>
                      </a:r>
                      <a:endParaRPr lang="en-US" altLang="ko-KR" sz="1050" dirty="0">
                        <a:solidFill>
                          <a:schemeClr val="accent3">
                            <a:lumMod val="50000"/>
                          </a:schemeClr>
                        </a:solidFill>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solidFill>
                            <a:schemeClr val="accent3">
                              <a:lumMod val="50000"/>
                            </a:schemeClr>
                          </a:solidFill>
                        </a:rPr>
                        <a:t>특례</a:t>
                      </a:r>
                      <a:r>
                        <a:rPr lang="en-US" altLang="ko-KR" sz="1050" dirty="0">
                          <a:solidFill>
                            <a:schemeClr val="accent3">
                              <a:lumMod val="50000"/>
                            </a:schemeClr>
                          </a:solidFill>
                        </a:rPr>
                        <a:t>(30</a:t>
                      </a:r>
                      <a:r>
                        <a:rPr lang="ko-KR" altLang="en-US" sz="1050" dirty="0">
                          <a:solidFill>
                            <a:schemeClr val="accent3">
                              <a:lumMod val="50000"/>
                            </a:schemeClr>
                          </a:solidFill>
                        </a:rPr>
                        <a:t>일</a:t>
                      </a:r>
                      <a:r>
                        <a:rPr lang="en-US" altLang="ko-KR" sz="1050" dirty="0">
                          <a:solidFill>
                            <a:schemeClr val="accent3">
                              <a:lumMod val="50000"/>
                            </a:schemeClr>
                          </a:solidFill>
                        </a:rPr>
                        <a:t>)</a:t>
                      </a:r>
                      <a:endParaRPr lang="ko-KR" altLang="en-US" sz="1050" dirty="0">
                        <a:solidFill>
                          <a:schemeClr val="accent3">
                            <a:lumMod val="50000"/>
                          </a:schemeClr>
                        </a:solidFill>
                      </a:endParaRPr>
                    </a:p>
                  </a:txBody>
                  <a:tcPr anchor="ctr">
                    <a:lnL w="38100" cap="flat" cmpd="sng" algn="ctr">
                      <a:solidFill>
                        <a:schemeClr val="accent2"/>
                      </a:solidFill>
                      <a:prstDash val="solid"/>
                      <a:round/>
                      <a:headEnd type="none" w="med" len="med"/>
                      <a:tailEnd type="none" w="med" len="med"/>
                    </a:lnL>
                    <a:lnR w="38100" cap="flat" cmpd="sng" algn="ctr">
                      <a:solidFill>
                        <a:schemeClr val="accent2"/>
                      </a:solidFill>
                      <a:prstDash val="solid"/>
                      <a:round/>
                      <a:headEnd type="none" w="med" len="med"/>
                      <a:tailEnd type="none" w="med" len="med"/>
                    </a:lnR>
                    <a:solidFill>
                      <a:schemeClr val="bg1">
                        <a:lumMod val="95000"/>
                      </a:schemeClr>
                    </a:solidFill>
                  </a:tcPr>
                </a:tc>
                <a:tc>
                  <a:txBody>
                    <a:bodyPr/>
                    <a:lstStyle/>
                    <a:p>
                      <a:pPr algn="ctr" latinLnBrk="1"/>
                      <a:r>
                        <a:rPr lang="en-US" altLang="ko-KR" sz="900" dirty="0"/>
                        <a:t>X</a:t>
                      </a:r>
                      <a:endParaRPr lang="ko-KR" altLang="en-US" sz="900" dirty="0"/>
                    </a:p>
                  </a:txBody>
                  <a:tcPr anchor="ctr">
                    <a:lnL w="38100" cap="flat" cmpd="sng" algn="ctr">
                      <a:solidFill>
                        <a:schemeClr val="accent2"/>
                      </a:solidFill>
                      <a:prstDash val="solid"/>
                      <a:round/>
                      <a:headEnd type="none" w="med" len="med"/>
                      <a:tailEnd type="none" w="med" len="med"/>
                    </a:ln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anchor="ctr">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anchor="ctr">
                    <a:solidFill>
                      <a:schemeClr val="accent4">
                        <a:lumMod val="20000"/>
                        <a:lumOff val="80000"/>
                      </a:schemeClr>
                    </a:solidFill>
                  </a:tcPr>
                </a:tc>
                <a:tc>
                  <a:txBody>
                    <a:bodyPr/>
                    <a:lstStyle/>
                    <a:p>
                      <a:pPr algn="ctr" latinLnBrk="1"/>
                      <a:r>
                        <a:rPr lang="en-US" altLang="ko-KR" sz="900" dirty="0"/>
                        <a:t>X</a:t>
                      </a:r>
                      <a:endParaRPr lang="ko-KR" altLang="en-US" sz="900" dirty="0"/>
                    </a:p>
                  </a:txBody>
                  <a:tcPr anchor="ctr">
                    <a:lnR w="38100" cap="flat" cmpd="sng" algn="ctr">
                      <a:solidFill>
                        <a:schemeClr val="accent2"/>
                      </a:solidFill>
                      <a:prstDash val="solid"/>
                      <a:round/>
                      <a:headEnd type="none" w="med" len="med"/>
                      <a:tailEnd type="none" w="med" len="med"/>
                    </a:lnR>
                  </a:tcPr>
                </a:tc>
                <a:extLst>
                  <a:ext uri="{0D108BD9-81ED-4DB2-BD59-A6C34878D82A}">
                    <a16:rowId xmlns:a16="http://schemas.microsoft.com/office/drawing/2014/main" val="628734353"/>
                  </a:ext>
                </a:extLst>
              </a:tr>
              <a:tr h="291285">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a:solidFill>
                            <a:srgbClr val="FF0000"/>
                          </a:solidFill>
                        </a:rPr>
                        <a:t>등</a:t>
                      </a:r>
                      <a:r>
                        <a:rPr lang="ko-KR" altLang="en-US" sz="1050" dirty="0"/>
                        <a:t>록지연에 따른 존속기간연장의 경우</a:t>
                      </a:r>
                      <a:endParaRPr lang="en-US" altLang="ko-KR" sz="1050" dirty="0"/>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 출원일의 기산</a:t>
                      </a:r>
                      <a:endParaRPr lang="en-US" altLang="ko-KR" sz="1050" dirty="0"/>
                    </a:p>
                  </a:txBody>
                  <a:tcPr anchor="ctr">
                    <a:lnL w="38100" cap="flat" cmpd="sng" algn="ctr">
                      <a:solidFill>
                        <a:schemeClr val="accent1"/>
                      </a:solidFill>
                      <a:prstDash val="solid"/>
                      <a:round/>
                      <a:headEnd type="none" w="med" len="med"/>
                      <a:tailEnd type="none" w="med" len="med"/>
                    </a:lnL>
                    <a:lnR w="38100" cap="flat" cmpd="sng" algn="ctr">
                      <a:solidFill>
                        <a:schemeClr val="accent1"/>
                      </a:solidFill>
                      <a:prstDash val="solid"/>
                      <a:round/>
                      <a:headEnd type="none" w="med" len="med"/>
                      <a:tailEnd type="none" w="med" len="med"/>
                    </a:lnR>
                    <a:lnB w="38100" cap="flat" cmpd="sng" algn="ctr">
                      <a:solidFill>
                        <a:schemeClr val="accent1"/>
                      </a:solidFill>
                      <a:prstDash val="solid"/>
                      <a:round/>
                      <a:headEnd type="none" w="med" len="med"/>
                      <a:tailEnd type="none" w="med" len="med"/>
                    </a:lnB>
                    <a:solidFill>
                      <a:schemeClr val="bg1">
                        <a:lumMod val="95000"/>
                      </a:schemeClr>
                    </a:solidFill>
                  </a:tcPr>
                </a:tc>
                <a:tc>
                  <a:txBody>
                    <a:bodyPr/>
                    <a:lstStyle/>
                    <a:p>
                      <a:pPr algn="ctr" latinLnBrk="1"/>
                      <a:r>
                        <a:rPr lang="ko-KR" altLang="en-US" sz="900" dirty="0">
                          <a:latin typeface="Arial" panose="020B0604020202020204" pitchFamily="34" charset="0"/>
                          <a:cs typeface="Arial" panose="020B0604020202020204" pitchFamily="34" charset="0"/>
                        </a:rPr>
                        <a:t>○</a:t>
                      </a:r>
                      <a:endParaRPr lang="ko-KR" altLang="en-US" sz="900" dirty="0"/>
                    </a:p>
                  </a:txBody>
                  <a:tcPr anchor="ctr">
                    <a:lnL w="38100" cap="flat" cmpd="sng" algn="ctr">
                      <a:solidFill>
                        <a:schemeClr val="accent1"/>
                      </a:solidFill>
                      <a:prstDash val="solid"/>
                      <a:round/>
                      <a:headEnd type="none" w="med" len="med"/>
                      <a:tailEnd type="none" w="med" len="med"/>
                    </a:lnL>
                    <a:lnB w="38100" cap="flat" cmpd="sng" algn="ctr">
                      <a:solidFill>
                        <a:schemeClr val="accent1"/>
                      </a:solidFill>
                      <a:prstDash val="solid"/>
                      <a:round/>
                      <a:headEnd type="none" w="med" len="med"/>
                      <a:tailEnd type="none" w="med" len="med"/>
                    </a:lnB>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marL="0" marR="0" anchor="ctr">
                    <a:lnB w="38100" cap="flat" cmpd="sng" algn="ctr">
                      <a:solidFill>
                        <a:schemeClr val="accent1"/>
                      </a:solidFill>
                      <a:prstDash val="solid"/>
                      <a:round/>
                      <a:headEnd type="none" w="med" len="med"/>
                      <a:tailEnd type="none" w="med" len="med"/>
                    </a:lnB>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marL="0" marR="0" anchor="ctr">
                    <a:lnB w="38100" cap="flat" cmpd="sng" algn="ctr">
                      <a:solidFill>
                        <a:schemeClr val="accent1"/>
                      </a:solidFill>
                      <a:prstDash val="solid"/>
                      <a:round/>
                      <a:headEnd type="none" w="med" len="med"/>
                      <a:tailEnd type="none" w="med" len="med"/>
                    </a:lnB>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marL="0" marR="0" anchor="ctr">
                    <a:lnB w="38100" cap="flat" cmpd="sng" algn="ctr">
                      <a:solidFill>
                        <a:schemeClr val="accent1"/>
                      </a:solidFill>
                      <a:prstDash val="solid"/>
                      <a:round/>
                      <a:headEnd type="none" w="med" len="med"/>
                      <a:tailEnd type="none" w="med" len="med"/>
                    </a:lnB>
                    <a:solidFill>
                      <a:schemeClr val="accent4">
                        <a:lumMod val="20000"/>
                        <a:lumOff val="80000"/>
                      </a:schemeClr>
                    </a:solidFill>
                  </a:tcPr>
                </a:tc>
                <a:tc gridSpan="2" vMerge="1">
                  <a:txBody>
                    <a:bodyPr/>
                    <a:lstStyle/>
                    <a:p>
                      <a:pPr latinLnBrk="1"/>
                      <a:endParaRPr lang="ko-KR" altLang="en-US" sz="1200" dirty="0"/>
                    </a:p>
                  </a:txBody>
                  <a:tcPr/>
                </a:tc>
                <a:tc hMerge="1" vMerge="1">
                  <a:txBody>
                    <a:bodyPr/>
                    <a:lstStyle/>
                    <a:p>
                      <a:pPr latinLnBrk="1"/>
                      <a:endParaRPr lang="ko-KR" altLang="en-US"/>
                    </a:p>
                  </a:txBody>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a:solidFill>
                            <a:srgbClr val="FF0000"/>
                          </a:solidFill>
                        </a:rPr>
                        <a:t>심</a:t>
                      </a:r>
                      <a:r>
                        <a:rPr lang="ko-KR" altLang="en-US" sz="1050" dirty="0">
                          <a:solidFill>
                            <a:schemeClr val="accent3">
                              <a:lumMod val="50000"/>
                            </a:schemeClr>
                          </a:solidFill>
                        </a:rPr>
                        <a:t>사청구기간의 </a:t>
                      </a:r>
                      <a:endParaRPr lang="en-US" altLang="ko-KR" sz="1050" dirty="0">
                        <a:solidFill>
                          <a:schemeClr val="accent3">
                            <a:lumMod val="50000"/>
                          </a:schemeClr>
                        </a:solidFill>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solidFill>
                            <a:schemeClr val="accent3">
                              <a:lumMod val="50000"/>
                            </a:schemeClr>
                          </a:solidFill>
                        </a:rPr>
                        <a:t>특례</a:t>
                      </a:r>
                      <a:r>
                        <a:rPr lang="en-US" altLang="ko-KR" sz="1050" dirty="0">
                          <a:solidFill>
                            <a:schemeClr val="accent3">
                              <a:lumMod val="50000"/>
                            </a:schemeClr>
                          </a:solidFill>
                        </a:rPr>
                        <a:t>(30</a:t>
                      </a:r>
                      <a:r>
                        <a:rPr lang="ko-KR" altLang="en-US" sz="1050" dirty="0">
                          <a:solidFill>
                            <a:schemeClr val="accent3">
                              <a:lumMod val="50000"/>
                            </a:schemeClr>
                          </a:solidFill>
                        </a:rPr>
                        <a:t>일</a:t>
                      </a:r>
                      <a:r>
                        <a:rPr lang="en-US" altLang="ko-KR" sz="1050" dirty="0">
                          <a:solidFill>
                            <a:schemeClr val="accent3">
                              <a:lumMod val="50000"/>
                            </a:schemeClr>
                          </a:solidFill>
                        </a:rPr>
                        <a:t>)</a:t>
                      </a:r>
                    </a:p>
                  </a:txBody>
                  <a:tcPr anchor="ctr">
                    <a:lnL w="38100" cap="flat" cmpd="sng" algn="ctr">
                      <a:solidFill>
                        <a:schemeClr val="accent2"/>
                      </a:solidFill>
                      <a:prstDash val="solid"/>
                      <a:round/>
                      <a:headEnd type="none" w="med" len="med"/>
                      <a:tailEnd type="none" w="med" len="med"/>
                    </a:lnL>
                    <a:lnR w="38100" cap="flat" cmpd="sng" algn="ctr">
                      <a:solidFill>
                        <a:schemeClr val="accent2"/>
                      </a:solidFill>
                      <a:prstDash val="solid"/>
                      <a:round/>
                      <a:headEnd type="none" w="med" len="med"/>
                      <a:tailEnd type="none" w="med" len="med"/>
                    </a:lnR>
                    <a:lnB w="38100" cap="flat" cmpd="sng" algn="ctr">
                      <a:solidFill>
                        <a:schemeClr val="accent2"/>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anchor="ctr">
                    <a:lnL w="38100" cap="flat" cmpd="sng" algn="ctr">
                      <a:solidFill>
                        <a:schemeClr val="accent2"/>
                      </a:solidFill>
                      <a:prstDash val="solid"/>
                      <a:round/>
                      <a:headEnd type="none" w="med" len="med"/>
                      <a:tailEnd type="none" w="med" len="med"/>
                    </a:lnL>
                    <a:lnB w="38100" cap="flat" cmpd="sng" algn="ctr">
                      <a:solidFill>
                        <a:schemeClr val="accent2"/>
                      </a:solidFill>
                      <a:prstDash val="solid"/>
                      <a:round/>
                      <a:headEnd type="none" w="med" len="med"/>
                      <a:tailEnd type="none" w="med" len="med"/>
                    </a:lnB>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anchor="ctr">
                    <a:lnB w="38100" cap="flat" cmpd="sng" algn="ctr">
                      <a:solidFill>
                        <a:schemeClr val="accent2"/>
                      </a:solidFill>
                      <a:prstDash val="solid"/>
                      <a:round/>
                      <a:headEnd type="none" w="med" len="med"/>
                      <a:tailEnd type="none" w="med" len="med"/>
                    </a:lnB>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anchor="ctr">
                    <a:lnB w="38100" cap="flat" cmpd="sng" algn="ctr">
                      <a:solidFill>
                        <a:schemeClr val="accent2"/>
                      </a:solidFill>
                      <a:prstDash val="solid"/>
                      <a:round/>
                      <a:headEnd type="none" w="med" len="med"/>
                      <a:tailEnd type="none" w="med" len="med"/>
                    </a:lnB>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anchor="ctr">
                    <a:lnR w="38100" cap="flat" cmpd="sng" algn="ctr">
                      <a:solidFill>
                        <a:schemeClr val="accent2"/>
                      </a:solidFill>
                      <a:prstDash val="solid"/>
                      <a:round/>
                      <a:headEnd type="none" w="med" len="med"/>
                      <a:tailEnd type="none" w="med" len="med"/>
                    </a:lnR>
                    <a:lnB w="38100" cap="flat" cmpd="sng" algn="ctr">
                      <a:solidFill>
                        <a:schemeClr val="accent2"/>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630014445"/>
                  </a:ext>
                </a:extLst>
              </a:tr>
              <a:tr h="19419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err="1">
                          <a:solidFill>
                            <a:srgbClr val="FF0000"/>
                          </a:solidFill>
                        </a:rPr>
                        <a:t>심</a:t>
                      </a:r>
                      <a:r>
                        <a:rPr lang="ko-KR" altLang="en-US" sz="1050" dirty="0" err="1"/>
                        <a:t>사청구할</a:t>
                      </a:r>
                      <a:r>
                        <a:rPr lang="ko-KR" altLang="en-US" sz="1050" dirty="0"/>
                        <a:t> 때 출원일의 기산</a:t>
                      </a:r>
                    </a:p>
                  </a:txBody>
                  <a:tcPr anchor="ctr">
                    <a:lnL w="38100" cap="flat" cmpd="sng" algn="ctr">
                      <a:solidFill>
                        <a:schemeClr val="accent1"/>
                      </a:solidFill>
                      <a:prstDash val="solid"/>
                      <a:round/>
                      <a:headEnd type="none" w="med" len="med"/>
                      <a:tailEnd type="none" w="med" len="med"/>
                    </a:lnL>
                    <a:lnR w="38100" cap="flat" cmpd="sng" algn="ctr">
                      <a:solidFill>
                        <a:schemeClr val="accent1"/>
                      </a:solidFill>
                      <a:prstDash val="solid"/>
                      <a:round/>
                      <a:headEnd type="none" w="med" len="med"/>
                      <a:tailEnd type="none" w="med" len="med"/>
                    </a:lnR>
                    <a:lnT w="38100" cap="flat" cmpd="sng" algn="ctr">
                      <a:solidFill>
                        <a:schemeClr val="accent1"/>
                      </a:solidFill>
                      <a:prstDash val="solid"/>
                      <a:round/>
                      <a:headEnd type="none" w="med" len="med"/>
                      <a:tailEnd type="none" w="med" len="med"/>
                    </a:lnT>
                    <a:solidFill>
                      <a:schemeClr val="bg1">
                        <a:lumMod val="95000"/>
                      </a:schemeClr>
                    </a:solidFill>
                  </a:tcPr>
                </a:tc>
                <a:tc rowSpan="6" gridSpan="4">
                  <a:txBody>
                    <a:bodyPr/>
                    <a:lstStyle/>
                    <a:p>
                      <a:pPr algn="ctr" latinLnBrk="1"/>
                      <a:endParaRPr lang="ko-KR" altLang="en-US" sz="900" dirty="0"/>
                    </a:p>
                  </a:txBody>
                  <a:tcPr anchor="ctr">
                    <a:lnL w="38100" cap="flat" cmpd="sng" algn="ctr">
                      <a:solidFill>
                        <a:schemeClr val="accent1"/>
                      </a:solidFill>
                      <a:prstDash val="solid"/>
                      <a:round/>
                      <a:headEnd type="none" w="med" len="med"/>
                      <a:tailEnd type="none" w="med" len="med"/>
                    </a:lnL>
                    <a:lnT w="38100" cap="flat" cmpd="sng" algn="ctr">
                      <a:solidFill>
                        <a:schemeClr val="accent1"/>
                      </a:solidFill>
                      <a:prstDash val="solid"/>
                      <a:round/>
                      <a:headEnd type="none" w="med" len="med"/>
                      <a:tailEnd type="none" w="med" len="med"/>
                    </a:lnT>
                    <a:lnB w="38100" cap="flat" cmpd="sng" algn="ctr">
                      <a:solidFill>
                        <a:schemeClr val="accent1"/>
                      </a:solidFill>
                      <a:prstDash val="solid"/>
                      <a:round/>
                      <a:headEnd type="none" w="med" len="med"/>
                      <a:tailEnd type="none" w="med" len="med"/>
                    </a:lnB>
                  </a:tcPr>
                </a:tc>
                <a:tc rowSpan="6" hMerge="1">
                  <a:txBody>
                    <a:bodyPr/>
                    <a:lstStyle/>
                    <a:p>
                      <a:pPr latinLnBrk="1"/>
                      <a:endParaRPr lang="ko-KR" altLang="en-US" sz="1200" dirty="0"/>
                    </a:p>
                  </a:txBody>
                  <a:tcPr>
                    <a:lnT w="38100" cap="flat" cmpd="sng" algn="ctr">
                      <a:solidFill>
                        <a:schemeClr val="accent1"/>
                      </a:solidFill>
                      <a:prstDash val="solid"/>
                      <a:round/>
                      <a:headEnd type="none" w="med" len="med"/>
                      <a:tailEnd type="none" w="med" len="med"/>
                    </a:lnT>
                  </a:tcPr>
                </a:tc>
                <a:tc rowSpan="6" hMerge="1">
                  <a:txBody>
                    <a:bodyPr/>
                    <a:lstStyle/>
                    <a:p>
                      <a:pPr latinLnBrk="1"/>
                      <a:endParaRPr lang="ko-KR" altLang="en-US" sz="1200" dirty="0"/>
                    </a:p>
                  </a:txBody>
                  <a:tcPr>
                    <a:lnT w="38100" cap="flat" cmpd="sng" algn="ctr">
                      <a:solidFill>
                        <a:schemeClr val="accent1"/>
                      </a:solidFill>
                      <a:prstDash val="solid"/>
                      <a:round/>
                      <a:headEnd type="none" w="med" len="med"/>
                      <a:tailEnd type="none" w="med" len="med"/>
                    </a:lnT>
                  </a:tcPr>
                </a:tc>
                <a:tc rowSpan="6" hMerge="1">
                  <a:txBody>
                    <a:bodyPr/>
                    <a:lstStyle/>
                    <a:p>
                      <a:pPr latinLnBrk="1"/>
                      <a:endParaRPr lang="ko-KR" altLang="en-US" sz="1200" dirty="0"/>
                    </a:p>
                  </a:txBody>
                  <a:tcPr>
                    <a:lnT w="38100" cap="flat" cmpd="sng" algn="ctr">
                      <a:solidFill>
                        <a:schemeClr val="accent1"/>
                      </a:solidFill>
                      <a:prstDash val="solid"/>
                      <a:round/>
                      <a:headEnd type="none" w="med" len="med"/>
                      <a:tailEnd type="none" w="med" len="med"/>
                    </a:lnT>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anchor="ctr">
                    <a:lnR w="12700" cap="flat" cmpd="sng" algn="ctr">
                      <a:solidFill>
                        <a:schemeClr val="accent3"/>
                      </a:solidFill>
                      <a:prstDash val="solid"/>
                      <a:round/>
                      <a:headEnd type="none" w="med" len="med"/>
                      <a:tailEnd type="none" w="med" len="med"/>
                    </a:lnR>
                    <a:lnT w="38100" cap="flat" cmpd="sng" algn="ctr">
                      <a:solidFill>
                        <a:schemeClr val="accent1"/>
                      </a:solidFill>
                      <a:prstDash val="solid"/>
                      <a:round/>
                      <a:headEnd type="none" w="med" len="med"/>
                      <a:tailEnd type="none" w="med" len="med"/>
                    </a:lnT>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anchor="ctr">
                    <a:lnL w="12700" cap="flat" cmpd="sng" algn="ctr">
                      <a:solidFill>
                        <a:schemeClr val="accent3"/>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38100" cap="flat" cmpd="sng" algn="ctr">
                      <a:solidFill>
                        <a:schemeClr val="accent1"/>
                      </a:solidFill>
                      <a:prstDash val="solid"/>
                      <a:round/>
                      <a:headEnd type="none" w="med" len="med"/>
                      <a:tailEnd type="none" w="med" len="med"/>
                    </a:lnT>
                    <a:solidFill>
                      <a:schemeClr val="accent4">
                        <a:lumMod val="20000"/>
                        <a:lumOff val="80000"/>
                      </a:schemeClr>
                    </a:solidFill>
                  </a:tcPr>
                </a:tc>
                <a:tc rowSpan="6" gridSpan="5">
                  <a:txBody>
                    <a:bodyPr/>
                    <a:lstStyle/>
                    <a:p>
                      <a:pPr algn="ctr" latinLnBrk="1"/>
                      <a:endParaRPr lang="ko-KR" altLang="en-US" sz="1050" dirty="0"/>
                    </a:p>
                  </a:txBody>
                  <a:tcPr anchor="ctr">
                    <a:lnL w="38100" cap="flat" cmpd="sng" algn="ctr">
                      <a:solidFill>
                        <a:schemeClr val="accent2"/>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tcPr>
                </a:tc>
                <a:tc rowSpan="6" hMerge="1">
                  <a:txBody>
                    <a:bodyPr/>
                    <a:lstStyle/>
                    <a:p>
                      <a:pPr latinLnBrk="1"/>
                      <a:endParaRPr lang="ko-KR" altLang="en-US" sz="1200" dirty="0"/>
                    </a:p>
                  </a:txBody>
                  <a:tcPr/>
                </a:tc>
                <a:tc rowSpan="6" hMerge="1">
                  <a:txBody>
                    <a:bodyPr/>
                    <a:lstStyle/>
                    <a:p>
                      <a:pPr latinLnBrk="1"/>
                      <a:endParaRPr lang="ko-KR" altLang="en-US" sz="1200" dirty="0"/>
                    </a:p>
                  </a:txBody>
                  <a:tcPr/>
                </a:tc>
                <a:tc rowSpan="6" hMerge="1">
                  <a:txBody>
                    <a:bodyPr/>
                    <a:lstStyle/>
                    <a:p>
                      <a:pPr latinLnBrk="1"/>
                      <a:endParaRPr lang="ko-KR" altLang="en-US" sz="1200" dirty="0"/>
                    </a:p>
                  </a:txBody>
                  <a:tcPr/>
                </a:tc>
                <a:tc rowSpan="6" hMerge="1">
                  <a:txBody>
                    <a:bodyPr/>
                    <a:lstStyle/>
                    <a:p>
                      <a:pPr latinLnBrk="1"/>
                      <a:endParaRPr lang="ko-KR" altLang="en-US" sz="1200" dirty="0"/>
                    </a:p>
                  </a:txBody>
                  <a:tcPr/>
                </a:tc>
                <a:extLst>
                  <a:ext uri="{0D108BD9-81ED-4DB2-BD59-A6C34878D82A}">
                    <a16:rowId xmlns:a16="http://schemas.microsoft.com/office/drawing/2014/main" val="73468365"/>
                  </a:ext>
                </a:extLst>
              </a:tr>
              <a:tr h="327233">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err="1">
                          <a:solidFill>
                            <a:srgbClr val="FF0000"/>
                          </a:solidFill>
                        </a:rPr>
                        <a:t>공</a:t>
                      </a:r>
                      <a:r>
                        <a:rPr lang="ko-KR" altLang="en-US" sz="1050" dirty="0" err="1"/>
                        <a:t>지예외적용주장을</a:t>
                      </a:r>
                      <a:r>
                        <a:rPr lang="ko-KR" altLang="en-US" sz="1050" dirty="0"/>
                        <a:t> 수반하는 경우 </a:t>
                      </a:r>
                      <a:endParaRPr lang="en-US" altLang="ko-KR" sz="1050" dirty="0"/>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그 취지 및 증명서류</a:t>
                      </a:r>
                      <a:endParaRPr lang="en-US" altLang="ko-KR" sz="1050" dirty="0"/>
                    </a:p>
                  </a:txBody>
                  <a:tcPr anchor="ctr">
                    <a:lnL w="38100" cap="flat" cmpd="sng" algn="ctr">
                      <a:solidFill>
                        <a:schemeClr val="accent1"/>
                      </a:solidFill>
                      <a:prstDash val="solid"/>
                      <a:round/>
                      <a:headEnd type="none" w="med" len="med"/>
                      <a:tailEnd type="none" w="med" len="med"/>
                    </a:lnL>
                    <a:lnR w="38100" cap="flat" cmpd="sng" algn="ctr">
                      <a:solidFill>
                        <a:schemeClr val="accent1"/>
                      </a:solidFill>
                      <a:prstDash val="solid"/>
                      <a:round/>
                      <a:headEnd type="none" w="med" len="med"/>
                      <a:tailEnd type="none" w="med" len="med"/>
                    </a:lnR>
                    <a:solidFill>
                      <a:schemeClr val="bg1">
                        <a:lumMod val="95000"/>
                      </a:schemeClr>
                    </a:solidFill>
                  </a:tcPr>
                </a:tc>
                <a:tc gridSpan="4"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highlight>
                            <a:srgbClr val="FFFF00"/>
                          </a:highlight>
                          <a:latin typeface="Arial" panose="020B0604020202020204" pitchFamily="34" charset="0"/>
                          <a:cs typeface="Arial" panose="020B0604020202020204" pitchFamily="34" charset="0"/>
                        </a:rPr>
                        <a:t>(1</a:t>
                      </a:r>
                      <a:r>
                        <a:rPr lang="ko-KR" altLang="en-US" sz="900" dirty="0">
                          <a:highlight>
                            <a:srgbClr val="FFFF00"/>
                          </a:highlight>
                          <a:latin typeface="Arial" panose="020B0604020202020204" pitchFamily="34" charset="0"/>
                          <a:cs typeface="Arial" panose="020B0604020202020204" pitchFamily="34" charset="0"/>
                        </a:rPr>
                        <a:t>년도 불인정</a:t>
                      </a:r>
                      <a:r>
                        <a:rPr lang="en-US" altLang="ko-KR" sz="900" dirty="0">
                          <a:highlight>
                            <a:srgbClr val="FFFF00"/>
                          </a:highlight>
                          <a:latin typeface="Arial" panose="020B0604020202020204" pitchFamily="34" charset="0"/>
                          <a:cs typeface="Arial" panose="020B0604020202020204" pitchFamily="34" charset="0"/>
                        </a:rPr>
                        <a:t>)</a:t>
                      </a:r>
                      <a:endParaRPr lang="ko-KR" altLang="en-US" sz="900" dirty="0">
                        <a:highlight>
                          <a:srgbClr val="FFFF00"/>
                        </a:highlight>
                      </a:endParaRPr>
                    </a:p>
                  </a:txBody>
                  <a:tcPr marL="0" marR="0" anchor="ctr">
                    <a:lnB w="12700" cap="flat" cmpd="sng" algn="ctr">
                      <a:solidFill>
                        <a:schemeClr val="accent3"/>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highlight>
                            <a:srgbClr val="00FFFF"/>
                          </a:highlight>
                          <a:latin typeface="Arial" panose="020B0604020202020204" pitchFamily="34" charset="0"/>
                          <a:cs typeface="Arial" panose="020B0604020202020204" pitchFamily="34" charset="0"/>
                        </a:rPr>
                        <a:t>(1</a:t>
                      </a:r>
                      <a:r>
                        <a:rPr lang="ko-KR" altLang="en-US" sz="900" dirty="0">
                          <a:highlight>
                            <a:srgbClr val="00FFFF"/>
                          </a:highlight>
                          <a:latin typeface="Arial" panose="020B0604020202020204" pitchFamily="34" charset="0"/>
                          <a:cs typeface="Arial" panose="020B0604020202020204" pitchFamily="34" charset="0"/>
                        </a:rPr>
                        <a:t>년은 </a:t>
                      </a:r>
                      <a:endParaRPr lang="en-US" altLang="ko-KR" sz="900" dirty="0">
                        <a:highlight>
                          <a:srgbClr val="00FFFF"/>
                        </a:highlight>
                        <a:latin typeface="Arial" panose="020B0604020202020204" pitchFamily="34" charset="0"/>
                        <a:cs typeface="Arial" panose="020B0604020202020204" pitchFamily="34" charset="0"/>
                      </a:endParaRPr>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highlight>
                            <a:srgbClr val="00FFFF"/>
                          </a:highlight>
                          <a:latin typeface="Arial" panose="020B0604020202020204" pitchFamily="34" charset="0"/>
                          <a:cs typeface="Arial" panose="020B0604020202020204" pitchFamily="34" charset="0"/>
                        </a:rPr>
                        <a:t>발명단위로 인정</a:t>
                      </a:r>
                      <a:r>
                        <a:rPr lang="en-US" altLang="ko-KR" sz="900" dirty="0">
                          <a:highlight>
                            <a:srgbClr val="00FFFF"/>
                          </a:highlight>
                          <a:latin typeface="Arial" panose="020B0604020202020204" pitchFamily="34" charset="0"/>
                          <a:cs typeface="Arial" panose="020B0604020202020204" pitchFamily="34" charset="0"/>
                        </a:rPr>
                        <a:t>)</a:t>
                      </a:r>
                      <a:endParaRPr lang="ko-KR" altLang="en-US" sz="900" dirty="0">
                        <a:highlight>
                          <a:srgbClr val="00FFFF"/>
                        </a:highlight>
                      </a:endParaRPr>
                    </a:p>
                  </a:txBody>
                  <a:tcPr marL="0" marR="0" anchor="ctr">
                    <a:lnR w="38100" cap="flat" cmpd="sng" algn="ctr">
                      <a:solidFill>
                        <a:schemeClr val="accent2"/>
                      </a:solidFill>
                      <a:prstDash val="solid"/>
                      <a:round/>
                      <a:headEnd type="none" w="med" len="med"/>
                      <a:tailEnd type="none" w="med" len="med"/>
                    </a:lnR>
                    <a:lnB w="12700" cap="flat" cmpd="sng" algn="ctr">
                      <a:solidFill>
                        <a:schemeClr val="accent3"/>
                      </a:solidFill>
                      <a:prstDash val="solid"/>
                      <a:round/>
                      <a:headEnd type="none" w="med" len="med"/>
                      <a:tailEnd type="none" w="med" len="med"/>
                    </a:lnB>
                  </a:tcPr>
                </a:tc>
                <a:tc gridSpan="5" vMerge="1">
                  <a:txBody>
                    <a:bodyPr/>
                    <a:lstStyle/>
                    <a:p>
                      <a:pPr latinLnBrk="1"/>
                      <a:endParaRPr lang="ko-KR" altLang="en-US" sz="1200" dirty="0"/>
                    </a:p>
                  </a:txBody>
                  <a:tcPr>
                    <a:lnL w="38100" cap="flat" cmpd="sng" algn="ctr">
                      <a:solidFill>
                        <a:schemeClr val="accent1"/>
                      </a:solidFill>
                      <a:prstDash val="solid"/>
                      <a:round/>
                      <a:headEnd type="none" w="med" len="med"/>
                      <a:tailEnd type="none" w="med" len="med"/>
                    </a:lnL>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extLst>
                  <a:ext uri="{0D108BD9-81ED-4DB2-BD59-A6C34878D82A}">
                    <a16:rowId xmlns:a16="http://schemas.microsoft.com/office/drawing/2014/main" val="4147903708"/>
                  </a:ext>
                </a:extLst>
              </a:tr>
              <a:tr h="194190">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a:solidFill>
                            <a:srgbClr val="FF0000"/>
                          </a:solidFill>
                        </a:rPr>
                        <a:t>존</a:t>
                      </a:r>
                      <a:r>
                        <a:rPr lang="ko-KR" altLang="en-US" sz="1050"/>
                        <a:t>속기간 만료일의 </a:t>
                      </a:r>
                      <a:r>
                        <a:rPr lang="ko-KR" altLang="en-US" sz="1050" dirty="0"/>
                        <a:t>기산</a:t>
                      </a:r>
                      <a:endParaRPr lang="en-US" altLang="ko-KR" sz="1050" dirty="0"/>
                    </a:p>
                  </a:txBody>
                  <a:tcPr anchor="ctr">
                    <a:lnL w="38100" cap="flat" cmpd="sng" algn="ctr">
                      <a:solidFill>
                        <a:schemeClr val="accent1"/>
                      </a:solidFill>
                      <a:prstDash val="solid"/>
                      <a:round/>
                      <a:headEnd type="none" w="med" len="med"/>
                      <a:tailEnd type="none" w="med" len="med"/>
                    </a:lnL>
                    <a:lnR w="38100" cap="flat" cmpd="sng" algn="ctr">
                      <a:solidFill>
                        <a:schemeClr val="accent1"/>
                      </a:solidFill>
                      <a:prstDash val="solid"/>
                      <a:round/>
                      <a:headEnd type="none" w="med" len="med"/>
                      <a:tailEnd type="none" w="med" len="med"/>
                    </a:lnR>
                    <a:solidFill>
                      <a:schemeClr val="bg1">
                        <a:lumMod val="95000"/>
                      </a:schemeClr>
                    </a:solidFill>
                  </a:tcPr>
                </a:tc>
                <a:tc gridSpan="4"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p>
                  </a:txBody>
                  <a:tcPr marL="0" marR="0" anchor="ctr">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a:latin typeface="Arial" panose="020B0604020202020204" pitchFamily="34" charset="0"/>
                          <a:cs typeface="Arial" panose="020B0604020202020204" pitchFamily="34" charset="0"/>
                        </a:rPr>
                        <a:t>○</a:t>
                      </a:r>
                      <a:endParaRPr lang="ko-KR" altLang="en-US" sz="900" dirty="0">
                        <a:latin typeface="Arial" panose="020B0604020202020204" pitchFamily="34" charset="0"/>
                        <a:cs typeface="Arial" panose="020B0604020202020204" pitchFamily="34" charset="0"/>
                      </a:endParaRPr>
                    </a:p>
                  </a:txBody>
                  <a:tcPr marL="0" marR="0" anchor="ctr">
                    <a:lnL w="12700" cap="flat" cmpd="sng" algn="ctr">
                      <a:solidFill>
                        <a:schemeClr val="accent3"/>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12700" cap="flat" cmpd="sng" algn="ctr">
                      <a:solidFill>
                        <a:schemeClr val="accent3"/>
                      </a:solidFill>
                      <a:prstDash val="solid"/>
                      <a:round/>
                      <a:headEnd type="none" w="med" len="med"/>
                      <a:tailEnd type="none" w="med" len="med"/>
                    </a:lnT>
                    <a:solidFill>
                      <a:schemeClr val="accent4">
                        <a:lumMod val="20000"/>
                        <a:lumOff val="80000"/>
                      </a:schemeClr>
                    </a:solidFill>
                  </a:tcPr>
                </a:tc>
                <a:tc gridSpan="5" vMerge="1">
                  <a:txBody>
                    <a:bodyPr/>
                    <a:lstStyle/>
                    <a:p>
                      <a:pPr latinLnBrk="1"/>
                      <a:endParaRPr lang="ko-KR" altLang="en-US" sz="1200" dirty="0"/>
                    </a:p>
                  </a:txBody>
                  <a:tcPr>
                    <a:lnL w="38100" cap="flat" cmpd="sng" algn="ctr">
                      <a:solidFill>
                        <a:schemeClr val="accent1"/>
                      </a:solidFill>
                      <a:prstDash val="solid"/>
                      <a:round/>
                      <a:headEnd type="none" w="med" len="med"/>
                      <a:tailEnd type="none" w="med" len="med"/>
                    </a:lnL>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extLst>
                  <a:ext uri="{0D108BD9-81ED-4DB2-BD59-A6C34878D82A}">
                    <a16:rowId xmlns:a16="http://schemas.microsoft.com/office/drawing/2014/main" val="2537744475"/>
                  </a:ext>
                </a:extLst>
              </a:tr>
              <a:tr h="291285">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a:solidFill>
                            <a:srgbClr val="FF0000"/>
                          </a:solidFill>
                        </a:rPr>
                        <a:t>재</a:t>
                      </a:r>
                      <a:r>
                        <a:rPr lang="ko-KR" altLang="en-US" sz="1050" dirty="0"/>
                        <a:t>정에 있어서 </a:t>
                      </a:r>
                      <a:r>
                        <a:rPr lang="ko-KR" altLang="en-US" sz="1050" dirty="0" err="1"/>
                        <a:t>불실시</a:t>
                      </a:r>
                      <a:r>
                        <a:rPr lang="en-US" altLang="ko-KR" sz="1050" dirty="0"/>
                        <a:t>, </a:t>
                      </a:r>
                      <a:r>
                        <a:rPr lang="ko-KR" altLang="en-US" sz="1050" dirty="0"/>
                        <a:t>불충분실시의 </a:t>
                      </a:r>
                      <a:endParaRPr lang="en-US" altLang="ko-KR" sz="1050" dirty="0"/>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경우 출원일의 기산</a:t>
                      </a:r>
                      <a:endParaRPr lang="en-US" altLang="ko-KR" sz="1050" dirty="0"/>
                    </a:p>
                  </a:txBody>
                  <a:tcPr anchor="ctr">
                    <a:lnL w="38100" cap="flat" cmpd="sng" algn="ctr">
                      <a:solidFill>
                        <a:schemeClr val="accent1"/>
                      </a:solidFill>
                      <a:prstDash val="solid"/>
                      <a:round/>
                      <a:headEnd type="none" w="med" len="med"/>
                      <a:tailEnd type="none" w="med" len="med"/>
                    </a:lnL>
                    <a:lnR w="38100" cap="flat" cmpd="sng" algn="ctr">
                      <a:solidFill>
                        <a:schemeClr val="accent1"/>
                      </a:solidFill>
                      <a:prstDash val="solid"/>
                      <a:round/>
                      <a:headEnd type="none" w="med" len="med"/>
                      <a:tailEnd type="none" w="med" len="med"/>
                    </a:lnR>
                    <a:solidFill>
                      <a:schemeClr val="bg1">
                        <a:lumMod val="95000"/>
                      </a:schemeClr>
                    </a:solidFill>
                  </a:tcPr>
                </a:tc>
                <a:tc gridSpan="4"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marL="0" marR="0" anchor="ctr">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marL="0" marR="0" anchor="ctr">
                    <a:lnL w="12700" cap="flat" cmpd="sng" algn="ctr">
                      <a:solidFill>
                        <a:schemeClr val="accent3"/>
                      </a:solidFill>
                      <a:prstDash val="solid"/>
                      <a:round/>
                      <a:headEnd type="none" w="med" len="med"/>
                      <a:tailEnd type="none" w="med" len="med"/>
                    </a:lnL>
                    <a:lnR w="38100" cap="flat" cmpd="sng" algn="ctr">
                      <a:solidFill>
                        <a:schemeClr val="accent2"/>
                      </a:solidFill>
                      <a:prstDash val="solid"/>
                      <a:round/>
                      <a:headEnd type="none" w="med" len="med"/>
                      <a:tailEnd type="none" w="med" len="med"/>
                    </a:lnR>
                    <a:solidFill>
                      <a:schemeClr val="accent4">
                        <a:lumMod val="20000"/>
                        <a:lumOff val="80000"/>
                      </a:schemeClr>
                    </a:solidFill>
                  </a:tcPr>
                </a:tc>
                <a:tc gridSpan="5" vMerge="1">
                  <a:txBody>
                    <a:bodyPr/>
                    <a:lstStyle/>
                    <a:p>
                      <a:pPr latinLnBrk="1"/>
                      <a:endParaRPr lang="ko-KR" altLang="en-US" sz="1200" dirty="0"/>
                    </a:p>
                  </a:txBody>
                  <a:tcPr>
                    <a:lnL w="38100" cap="flat" cmpd="sng" algn="ctr">
                      <a:solidFill>
                        <a:schemeClr val="accent1"/>
                      </a:solidFill>
                      <a:prstDash val="solid"/>
                      <a:round/>
                      <a:headEnd type="none" w="med" len="med"/>
                      <a:tailEnd type="none" w="med" len="med"/>
                    </a:lnL>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extLst>
                  <a:ext uri="{0D108BD9-81ED-4DB2-BD59-A6C34878D82A}">
                    <a16:rowId xmlns:a16="http://schemas.microsoft.com/office/drawing/2014/main" val="309516143"/>
                  </a:ext>
                </a:extLst>
              </a:tr>
              <a:tr h="291285">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a:solidFill>
                            <a:srgbClr val="FF0000"/>
                          </a:solidFill>
                        </a:rPr>
                        <a:t>등</a:t>
                      </a:r>
                      <a:r>
                        <a:rPr lang="ko-KR" altLang="en-US" sz="1050" dirty="0"/>
                        <a:t>록지연에 따른 존속기간연장의 경우</a:t>
                      </a:r>
                      <a:endParaRPr lang="en-US" altLang="ko-KR" sz="1050" dirty="0"/>
                    </a:p>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050" dirty="0"/>
                        <a:t> 출원일의 기산</a:t>
                      </a:r>
                      <a:endParaRPr lang="en-US" altLang="ko-KR" sz="1050" dirty="0"/>
                    </a:p>
                  </a:txBody>
                  <a:tcPr anchor="ctr">
                    <a:lnL w="38100" cap="flat" cmpd="sng" algn="ctr">
                      <a:solidFill>
                        <a:schemeClr val="accent1"/>
                      </a:solidFill>
                      <a:prstDash val="solid"/>
                      <a:round/>
                      <a:headEnd type="none" w="med" len="med"/>
                      <a:tailEnd type="none" w="med" len="med"/>
                    </a:lnL>
                    <a:lnR w="38100" cap="flat" cmpd="sng" algn="ctr">
                      <a:solidFill>
                        <a:schemeClr val="accent1"/>
                      </a:solidFill>
                      <a:prstDash val="solid"/>
                      <a:round/>
                      <a:headEnd type="none" w="med" len="med"/>
                      <a:tailEnd type="none" w="med" len="med"/>
                    </a:lnR>
                    <a:solidFill>
                      <a:schemeClr val="bg1">
                        <a:lumMod val="95000"/>
                      </a:schemeClr>
                    </a:solidFill>
                  </a:tcPr>
                </a:tc>
                <a:tc gridSpan="4"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marL="0" marR="0" anchor="ctr">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B w="12700" cap="flat" cmpd="sng" algn="ctr">
                      <a:solidFill>
                        <a:schemeClr val="accent3"/>
                      </a:solidFill>
                      <a:prstDash val="solid"/>
                      <a:round/>
                      <a:headEnd type="none" w="med" len="med"/>
                      <a:tailEnd type="none" w="med" len="med"/>
                    </a:lnB>
                    <a:solidFill>
                      <a:schemeClr val="accent4">
                        <a:lumMod val="20000"/>
                        <a:lumOff val="80000"/>
                      </a:schemeClr>
                    </a:solidFill>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marL="0" marR="0" anchor="ctr">
                    <a:lnL w="12700" cap="flat" cmpd="sng" algn="ctr">
                      <a:solidFill>
                        <a:schemeClr val="accent3"/>
                      </a:solidFill>
                      <a:prstDash val="solid"/>
                      <a:round/>
                      <a:headEnd type="none" w="med" len="med"/>
                      <a:tailEnd type="none" w="med" len="med"/>
                    </a:lnL>
                    <a:lnR w="38100" cap="flat" cmpd="sng" algn="ctr">
                      <a:solidFill>
                        <a:schemeClr val="accent2"/>
                      </a:solidFill>
                      <a:prstDash val="solid"/>
                      <a:round/>
                      <a:headEnd type="none" w="med" len="med"/>
                      <a:tailEnd type="none" w="med" len="med"/>
                    </a:lnR>
                    <a:lnB w="12700" cap="flat" cmpd="sng" algn="ctr">
                      <a:solidFill>
                        <a:schemeClr val="accent3"/>
                      </a:solidFill>
                      <a:prstDash val="solid"/>
                      <a:round/>
                      <a:headEnd type="none" w="med" len="med"/>
                      <a:tailEnd type="none" w="med" len="med"/>
                    </a:lnB>
                    <a:solidFill>
                      <a:schemeClr val="accent4">
                        <a:lumMod val="20000"/>
                        <a:lumOff val="80000"/>
                      </a:schemeClr>
                    </a:solidFill>
                  </a:tcPr>
                </a:tc>
                <a:tc gridSpan="5" vMerge="1">
                  <a:txBody>
                    <a:bodyPr/>
                    <a:lstStyle/>
                    <a:p>
                      <a:pPr latinLnBrk="1"/>
                      <a:endParaRPr lang="ko-KR" altLang="en-US" sz="1200" dirty="0"/>
                    </a:p>
                  </a:txBody>
                  <a:tcPr>
                    <a:lnL w="38100" cap="flat" cmpd="sng" algn="ctr">
                      <a:solidFill>
                        <a:schemeClr val="accent1"/>
                      </a:solidFill>
                      <a:prstDash val="solid"/>
                      <a:round/>
                      <a:headEnd type="none" w="med" len="med"/>
                      <a:tailEnd type="none" w="med" len="med"/>
                    </a:lnL>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extLst>
                  <a:ext uri="{0D108BD9-81ED-4DB2-BD59-A6C34878D82A}">
                    <a16:rowId xmlns:a16="http://schemas.microsoft.com/office/drawing/2014/main" val="3950473473"/>
                  </a:ext>
                </a:extLst>
              </a:tr>
              <a:tr h="291285">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err="1">
                          <a:solidFill>
                            <a:srgbClr val="FF0000"/>
                          </a:solidFill>
                        </a:rPr>
                        <a:t>이</a:t>
                      </a:r>
                      <a:r>
                        <a:rPr lang="ko-KR" altLang="en-US" sz="1050" dirty="0" err="1">
                          <a:solidFill>
                            <a:schemeClr val="tx1"/>
                          </a:solidFill>
                        </a:rPr>
                        <a:t>중우선권주장된</a:t>
                      </a:r>
                      <a:r>
                        <a:rPr lang="ko-KR" altLang="en-US" sz="1050" dirty="0">
                          <a:solidFill>
                            <a:schemeClr val="tx1"/>
                          </a:solidFill>
                        </a:rPr>
                        <a:t> 발명의 소급효 및 확대된 선출원에서 다른 출원의 지위</a:t>
                      </a:r>
                    </a:p>
                  </a:txBody>
                  <a:tcPr anchor="ctr">
                    <a:lnL w="38100" cap="flat" cmpd="sng" algn="ctr">
                      <a:solidFill>
                        <a:schemeClr val="accent1"/>
                      </a:solidFill>
                      <a:prstDash val="solid"/>
                      <a:round/>
                      <a:headEnd type="none" w="med" len="med"/>
                      <a:tailEnd type="none" w="med" len="med"/>
                    </a:lnL>
                    <a:lnR w="38100" cap="flat" cmpd="sng" algn="ctr">
                      <a:solidFill>
                        <a:schemeClr val="accent1"/>
                      </a:solidFill>
                      <a:prstDash val="solid"/>
                      <a:round/>
                      <a:headEnd type="none" w="med" len="med"/>
                      <a:tailEnd type="none" w="med" len="med"/>
                    </a:lnR>
                    <a:lnB w="38100" cap="flat" cmpd="sng" algn="ctr">
                      <a:solidFill>
                        <a:schemeClr val="accent1"/>
                      </a:solidFill>
                      <a:prstDash val="solid"/>
                      <a:round/>
                      <a:headEnd type="none" w="med" len="med"/>
                      <a:tailEnd type="none" w="med" len="med"/>
                    </a:lnB>
                    <a:solidFill>
                      <a:schemeClr val="bg1">
                        <a:lumMod val="95000"/>
                      </a:schemeClr>
                    </a:solidFill>
                  </a:tcPr>
                </a:tc>
                <a:tc gridSpan="4" vMerge="1">
                  <a:txBody>
                    <a:bodyPr/>
                    <a:lstStyle/>
                    <a:p>
                      <a:pPr latinLnBrk="1"/>
                      <a:endParaRPr lang="ko-KR" altLang="en-US" sz="1200" dirty="0"/>
                    </a:p>
                  </a:txBody>
                  <a:tcPr>
                    <a:lnB w="38100" cap="flat" cmpd="sng" algn="ctr">
                      <a:solidFill>
                        <a:schemeClr val="accent1"/>
                      </a:solidFill>
                      <a:prstDash val="solid"/>
                      <a:round/>
                      <a:headEnd type="none" w="med" len="med"/>
                      <a:tailEnd type="none" w="med" len="med"/>
                    </a:lnB>
                  </a:tcPr>
                </a:tc>
                <a:tc hMerge="1" vMerge="1">
                  <a:txBody>
                    <a:bodyPr/>
                    <a:lstStyle/>
                    <a:p>
                      <a:pPr latinLnBrk="1"/>
                      <a:endParaRPr lang="ko-KR" altLang="en-US" sz="1200" dirty="0"/>
                    </a:p>
                  </a:txBody>
                  <a:tcPr>
                    <a:lnB w="38100" cap="flat" cmpd="sng" algn="ctr">
                      <a:solidFill>
                        <a:schemeClr val="accent1"/>
                      </a:solidFill>
                      <a:prstDash val="solid"/>
                      <a:round/>
                      <a:headEnd type="none" w="med" len="med"/>
                      <a:tailEnd type="none" w="med" len="med"/>
                    </a:lnB>
                  </a:tcPr>
                </a:tc>
                <a:tc hMerge="1" vMerge="1">
                  <a:txBody>
                    <a:bodyPr/>
                    <a:lstStyle/>
                    <a:p>
                      <a:pPr latinLnBrk="1"/>
                      <a:endParaRPr lang="ko-KR" altLang="en-US" sz="1200" dirty="0"/>
                    </a:p>
                  </a:txBody>
                  <a:tcPr>
                    <a:lnB w="38100" cap="flat" cmpd="sng" algn="ctr">
                      <a:solidFill>
                        <a:schemeClr val="accent1"/>
                      </a:solidFill>
                      <a:prstDash val="solid"/>
                      <a:round/>
                      <a:headEnd type="none" w="med" len="med"/>
                      <a:tailEnd type="none" w="med" len="med"/>
                    </a:lnB>
                  </a:tcPr>
                </a:tc>
                <a:tc hMerge="1" vMerge="1">
                  <a:txBody>
                    <a:bodyPr/>
                    <a:lstStyle/>
                    <a:p>
                      <a:pPr latinLnBrk="1"/>
                      <a:endParaRPr lang="ko-KR" altLang="en-US" sz="1200" dirty="0"/>
                    </a:p>
                  </a:txBody>
                  <a:tcPr>
                    <a:lnB w="38100" cap="flat" cmpd="sng" algn="ctr">
                      <a:solidFill>
                        <a:schemeClr val="accent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t>X</a:t>
                      </a:r>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900" dirty="0"/>
                        <a:t>(</a:t>
                      </a:r>
                      <a:r>
                        <a:rPr lang="ko-KR" altLang="en-US" sz="900" dirty="0" err="1"/>
                        <a:t>최선성</a:t>
                      </a:r>
                      <a:r>
                        <a:rPr lang="en-US" altLang="ko-KR" sz="900" dirty="0"/>
                        <a:t>)</a:t>
                      </a:r>
                      <a:endParaRPr lang="ko-KR" altLang="en-US" sz="900" dirty="0"/>
                    </a:p>
                  </a:txBody>
                  <a:tcPr marL="0" marR="0" anchor="ctr">
                    <a:lnT w="12700" cap="flat" cmpd="sng" algn="ctr">
                      <a:solidFill>
                        <a:schemeClr val="accent3"/>
                      </a:solidFill>
                      <a:prstDash val="solid"/>
                      <a:round/>
                      <a:headEnd type="none" w="med" len="med"/>
                      <a:tailEnd type="none" w="med" len="med"/>
                    </a:lnT>
                    <a:lnB w="38100" cap="flat" cmpd="sng" algn="ctr">
                      <a:solidFill>
                        <a:schemeClr val="accent1"/>
                      </a:solidFill>
                      <a:prstDash val="solid"/>
                      <a:round/>
                      <a:headEnd type="none" w="med" len="med"/>
                      <a:tailEnd type="none" w="med" len="med"/>
                    </a:lnB>
                  </a:tcP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900" dirty="0">
                          <a:latin typeface="Arial" panose="020B0604020202020204" pitchFamily="34" charset="0"/>
                          <a:cs typeface="Arial" panose="020B0604020202020204" pitchFamily="34" charset="0"/>
                        </a:rPr>
                        <a:t>○</a:t>
                      </a:r>
                      <a:endParaRPr lang="ko-KR" altLang="en-US" sz="900" dirty="0"/>
                    </a:p>
                  </a:txBody>
                  <a:tcPr marL="0" marR="0" anchor="ctr">
                    <a:lnR w="38100" cap="flat" cmpd="sng" algn="ctr">
                      <a:solidFill>
                        <a:schemeClr val="accent2"/>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38100" cap="flat" cmpd="sng" algn="ctr">
                      <a:solidFill>
                        <a:schemeClr val="accent1"/>
                      </a:solidFill>
                      <a:prstDash val="solid"/>
                      <a:round/>
                      <a:headEnd type="none" w="med" len="med"/>
                      <a:tailEnd type="none" w="med" len="med"/>
                    </a:lnB>
                  </a:tcPr>
                </a:tc>
                <a:tc gridSpan="5" vMerge="1">
                  <a:txBody>
                    <a:bodyPr/>
                    <a:lstStyle/>
                    <a:p>
                      <a:pPr latinLnBrk="1"/>
                      <a:endParaRPr lang="ko-KR" altLang="en-US" sz="1200" dirty="0"/>
                    </a:p>
                  </a:txBody>
                  <a:tcPr>
                    <a:lnL w="38100" cap="flat" cmpd="sng" algn="ctr">
                      <a:solidFill>
                        <a:schemeClr val="accent1"/>
                      </a:solidFill>
                      <a:prstDash val="solid"/>
                      <a:round/>
                      <a:headEnd type="none" w="med" len="med"/>
                      <a:tailEnd type="none" w="med" len="med"/>
                    </a:lnL>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tc hMerge="1" vMerge="1">
                  <a:txBody>
                    <a:bodyPr/>
                    <a:lstStyle/>
                    <a:p>
                      <a:pPr latinLnBrk="1"/>
                      <a:endParaRPr lang="ko-KR" altLang="en-US" sz="1200" dirty="0"/>
                    </a:p>
                  </a:txBody>
                  <a:tcPr/>
                </a:tc>
                <a:extLst>
                  <a:ext uri="{0D108BD9-81ED-4DB2-BD59-A6C34878D82A}">
                    <a16:rowId xmlns:a16="http://schemas.microsoft.com/office/drawing/2014/main" val="3539341279"/>
                  </a:ext>
                </a:extLst>
              </a:tr>
            </a:tbl>
          </a:graphicData>
        </a:graphic>
      </p:graphicFrame>
      <p:cxnSp>
        <p:nvCxnSpPr>
          <p:cNvPr id="8" name="직선 화살표 연결선 7">
            <a:extLst>
              <a:ext uri="{FF2B5EF4-FFF2-40B4-BE49-F238E27FC236}">
                <a16:creationId xmlns:a16="http://schemas.microsoft.com/office/drawing/2014/main" id="{44CC1111-2530-5C2C-3373-B619716E947C}"/>
              </a:ext>
            </a:extLst>
          </p:cNvPr>
          <p:cNvCxnSpPr>
            <a:cxnSpLocks/>
            <a:stCxn id="7" idx="3"/>
          </p:cNvCxnSpPr>
          <p:nvPr/>
        </p:nvCxnSpPr>
        <p:spPr>
          <a:xfrm>
            <a:off x="5065059" y="2931230"/>
            <a:ext cx="2725270" cy="349856"/>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 name="직사각형 6">
            <a:extLst>
              <a:ext uri="{FF2B5EF4-FFF2-40B4-BE49-F238E27FC236}">
                <a16:creationId xmlns:a16="http://schemas.microsoft.com/office/drawing/2014/main" id="{94F82177-4AC3-B944-FCFC-6881AE0E70C3}"/>
              </a:ext>
            </a:extLst>
          </p:cNvPr>
          <p:cNvSpPr/>
          <p:nvPr/>
        </p:nvSpPr>
        <p:spPr>
          <a:xfrm>
            <a:off x="3370729" y="2837334"/>
            <a:ext cx="1694330" cy="18779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직사각형 5">
            <a:extLst>
              <a:ext uri="{FF2B5EF4-FFF2-40B4-BE49-F238E27FC236}">
                <a16:creationId xmlns:a16="http://schemas.microsoft.com/office/drawing/2014/main" id="{BAE32328-3199-3E94-5DF3-C12E2B9327EB}"/>
              </a:ext>
            </a:extLst>
          </p:cNvPr>
          <p:cNvSpPr/>
          <p:nvPr/>
        </p:nvSpPr>
        <p:spPr>
          <a:xfrm>
            <a:off x="3370729" y="3346906"/>
            <a:ext cx="1694330" cy="18779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 name="직선 화살표 연결선 8">
            <a:extLst>
              <a:ext uri="{FF2B5EF4-FFF2-40B4-BE49-F238E27FC236}">
                <a16:creationId xmlns:a16="http://schemas.microsoft.com/office/drawing/2014/main" id="{89DECB28-80A1-D941-08EA-9D1344F77ADD}"/>
              </a:ext>
            </a:extLst>
          </p:cNvPr>
          <p:cNvCxnSpPr>
            <a:cxnSpLocks/>
            <a:stCxn id="6" idx="3"/>
          </p:cNvCxnSpPr>
          <p:nvPr/>
        </p:nvCxnSpPr>
        <p:spPr>
          <a:xfrm flipV="1">
            <a:off x="5065059" y="3381937"/>
            <a:ext cx="2725270" cy="58865"/>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76496904"/>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52</a:t>
            </a:r>
            <a:r>
              <a:rPr lang="ko-KR" altLang="en-US" dirty="0"/>
              <a:t>조</a:t>
            </a:r>
            <a:r>
              <a:rPr lang="en-US" altLang="ko-KR" dirty="0"/>
              <a:t>-</a:t>
            </a:r>
            <a:r>
              <a:rPr lang="ko-KR" altLang="en-US" dirty="0"/>
              <a:t>제</a:t>
            </a:r>
            <a:r>
              <a:rPr lang="en-US" altLang="ko-KR" dirty="0"/>
              <a:t>56</a:t>
            </a:r>
            <a:r>
              <a:rPr lang="ko-KR" altLang="en-US" dirty="0"/>
              <a:t>조</a:t>
            </a:r>
          </a:p>
        </p:txBody>
      </p:sp>
      <p:sp>
        <p:nvSpPr>
          <p:cNvPr id="5" name="텍스트 개체 틀 4"/>
          <p:cNvSpPr>
            <a:spLocks noGrp="1"/>
          </p:cNvSpPr>
          <p:nvPr>
            <p:ph type="body" sz="quarter" idx="13"/>
          </p:nvPr>
        </p:nvSpPr>
        <p:spPr/>
        <p:txBody>
          <a:bodyPr>
            <a:normAutofit/>
          </a:bodyPr>
          <a:lstStyle/>
          <a:p>
            <a:r>
              <a:rPr lang="ko-KR" altLang="en-US" sz="2200" dirty="0" err="1"/>
              <a:t>분할ㆍ분리ㆍ변경ㆍ조약우선권주장ㆍ국내우선권주장출원의</a:t>
            </a:r>
            <a:r>
              <a:rPr lang="ko-KR" altLang="en-US" sz="2200" dirty="0"/>
              <a:t> 적법성</a:t>
            </a:r>
          </a:p>
        </p:txBody>
      </p:sp>
      <p:sp>
        <p:nvSpPr>
          <p:cNvPr id="2" name="슬라이드 번호 개체 틀 1"/>
          <p:cNvSpPr>
            <a:spLocks noGrp="1"/>
          </p:cNvSpPr>
          <p:nvPr>
            <p:ph type="sldNum" sz="quarter" idx="12"/>
          </p:nvPr>
        </p:nvSpPr>
        <p:spPr/>
        <p:txBody>
          <a:bodyPr/>
          <a:lstStyle/>
          <a:p>
            <a:r>
              <a:rPr lang="en-US" altLang="ko-KR"/>
              <a:t>240</a:t>
            </a:r>
            <a:endParaRPr lang="ko-KR" altLang="en-US"/>
          </a:p>
        </p:txBody>
      </p:sp>
      <p:cxnSp>
        <p:nvCxnSpPr>
          <p:cNvPr id="87" name="직선 화살표 연결선 86">
            <a:extLst>
              <a:ext uri="{FF2B5EF4-FFF2-40B4-BE49-F238E27FC236}">
                <a16:creationId xmlns:a16="http://schemas.microsoft.com/office/drawing/2014/main" id="{F9ADB070-2108-4F38-9B8E-BCACD79A2647}"/>
              </a:ext>
            </a:extLst>
          </p:cNvPr>
          <p:cNvCxnSpPr>
            <a:cxnSpLocks/>
          </p:cNvCxnSpPr>
          <p:nvPr/>
        </p:nvCxnSpPr>
        <p:spPr>
          <a:xfrm>
            <a:off x="491706" y="1322024"/>
            <a:ext cx="10886536" cy="0"/>
          </a:xfrm>
          <a:prstGeom prst="straightConnector1">
            <a:avLst/>
          </a:prstGeom>
          <a:ln w="5715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0" name="직사각형 89">
            <a:extLst>
              <a:ext uri="{FF2B5EF4-FFF2-40B4-BE49-F238E27FC236}">
                <a16:creationId xmlns:a16="http://schemas.microsoft.com/office/drawing/2014/main" id="{2F8D41E8-0868-4FB8-8A75-68823DF269DD}"/>
              </a:ext>
            </a:extLst>
          </p:cNvPr>
          <p:cNvSpPr/>
          <p:nvPr/>
        </p:nvSpPr>
        <p:spPr>
          <a:xfrm>
            <a:off x="2263667" y="1143797"/>
            <a:ext cx="1111100" cy="37066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r>
              <a:rPr lang="en-US" altLang="ko-KR" sz="1200" dirty="0">
                <a:solidFill>
                  <a:schemeClr val="tx1"/>
                </a:solidFill>
              </a:rPr>
              <a:t>(X)</a:t>
            </a:r>
            <a:endParaRPr lang="ko-KR" altLang="en-US" sz="1200" dirty="0">
              <a:solidFill>
                <a:schemeClr val="tx1"/>
              </a:solidFill>
            </a:endParaRPr>
          </a:p>
        </p:txBody>
      </p:sp>
      <p:sp>
        <p:nvSpPr>
          <p:cNvPr id="91" name="직사각형 90">
            <a:extLst>
              <a:ext uri="{FF2B5EF4-FFF2-40B4-BE49-F238E27FC236}">
                <a16:creationId xmlns:a16="http://schemas.microsoft.com/office/drawing/2014/main" id="{B2297406-93DF-42CA-A446-B66E4EC738EA}"/>
              </a:ext>
            </a:extLst>
          </p:cNvPr>
          <p:cNvSpPr/>
          <p:nvPr/>
        </p:nvSpPr>
        <p:spPr>
          <a:xfrm>
            <a:off x="5594156" y="1143621"/>
            <a:ext cx="1111100" cy="370662"/>
          </a:xfrm>
          <a:prstGeom prst="rect">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r>
              <a:rPr lang="en-US" altLang="ko-KR" sz="1200" dirty="0">
                <a:solidFill>
                  <a:schemeClr val="tx1"/>
                </a:solidFill>
              </a:rPr>
              <a:t>(Y)</a:t>
            </a:r>
            <a:endParaRPr lang="ko-KR" altLang="en-US" sz="1200" dirty="0">
              <a:solidFill>
                <a:schemeClr val="tx1"/>
              </a:solidFill>
            </a:endParaRPr>
          </a:p>
        </p:txBody>
      </p:sp>
      <p:sp>
        <p:nvSpPr>
          <p:cNvPr id="97" name="직사각형 96">
            <a:extLst>
              <a:ext uri="{FF2B5EF4-FFF2-40B4-BE49-F238E27FC236}">
                <a16:creationId xmlns:a16="http://schemas.microsoft.com/office/drawing/2014/main" id="{BE55B757-1319-4090-AB64-30781DCB4BD4}"/>
              </a:ext>
            </a:extLst>
          </p:cNvPr>
          <p:cNvSpPr/>
          <p:nvPr/>
        </p:nvSpPr>
        <p:spPr>
          <a:xfrm>
            <a:off x="8924647" y="1143621"/>
            <a:ext cx="1111100" cy="370662"/>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r>
              <a:rPr lang="en-US" altLang="ko-KR" sz="1200" dirty="0">
                <a:solidFill>
                  <a:schemeClr val="tx1"/>
                </a:solidFill>
              </a:rPr>
              <a:t>(Z)</a:t>
            </a:r>
            <a:endParaRPr lang="ko-KR" altLang="en-US" sz="1200" dirty="0">
              <a:solidFill>
                <a:schemeClr val="tx1"/>
              </a:solidFill>
            </a:endParaRPr>
          </a:p>
        </p:txBody>
      </p:sp>
      <p:graphicFrame>
        <p:nvGraphicFramePr>
          <p:cNvPr id="7" name="표 6">
            <a:extLst>
              <a:ext uri="{FF2B5EF4-FFF2-40B4-BE49-F238E27FC236}">
                <a16:creationId xmlns:a16="http://schemas.microsoft.com/office/drawing/2014/main" id="{AEECB1AC-B8AD-46E5-9136-6DA48BEDE46F}"/>
              </a:ext>
            </a:extLst>
          </p:cNvPr>
          <p:cNvGraphicFramePr>
            <a:graphicFrameLocks noGrp="1"/>
          </p:cNvGraphicFramePr>
          <p:nvPr/>
        </p:nvGraphicFramePr>
        <p:xfrm>
          <a:off x="491706" y="1725291"/>
          <a:ext cx="11179834" cy="4075875"/>
        </p:xfrm>
        <a:graphic>
          <a:graphicData uri="http://schemas.openxmlformats.org/drawingml/2006/table">
            <a:tbl>
              <a:tblPr>
                <a:tableStyleId>{BC89EF96-8CEA-46FF-86C4-4CE0E7609802}</a:tableStyleId>
              </a:tblPr>
              <a:tblGrid>
                <a:gridCol w="1457864">
                  <a:extLst>
                    <a:ext uri="{9D8B030D-6E8A-4147-A177-3AD203B41FA5}">
                      <a16:colId xmlns:a16="http://schemas.microsoft.com/office/drawing/2014/main" val="4194579340"/>
                    </a:ext>
                  </a:extLst>
                </a:gridCol>
                <a:gridCol w="1759788">
                  <a:extLst>
                    <a:ext uri="{9D8B030D-6E8A-4147-A177-3AD203B41FA5}">
                      <a16:colId xmlns:a16="http://schemas.microsoft.com/office/drawing/2014/main" val="342669937"/>
                    </a:ext>
                  </a:extLst>
                </a:gridCol>
                <a:gridCol w="1526876">
                  <a:extLst>
                    <a:ext uri="{9D8B030D-6E8A-4147-A177-3AD203B41FA5}">
                      <a16:colId xmlns:a16="http://schemas.microsoft.com/office/drawing/2014/main" val="2817899823"/>
                    </a:ext>
                  </a:extLst>
                </a:gridCol>
                <a:gridCol w="1630392">
                  <a:extLst>
                    <a:ext uri="{9D8B030D-6E8A-4147-A177-3AD203B41FA5}">
                      <a16:colId xmlns:a16="http://schemas.microsoft.com/office/drawing/2014/main" val="3953379425"/>
                    </a:ext>
                  </a:extLst>
                </a:gridCol>
                <a:gridCol w="2234216">
                  <a:extLst>
                    <a:ext uri="{9D8B030D-6E8A-4147-A177-3AD203B41FA5}">
                      <a16:colId xmlns:a16="http://schemas.microsoft.com/office/drawing/2014/main" val="418615186"/>
                    </a:ext>
                  </a:extLst>
                </a:gridCol>
                <a:gridCol w="2570698">
                  <a:extLst>
                    <a:ext uri="{9D8B030D-6E8A-4147-A177-3AD203B41FA5}">
                      <a16:colId xmlns:a16="http://schemas.microsoft.com/office/drawing/2014/main" val="4266537111"/>
                    </a:ext>
                  </a:extLst>
                </a:gridCol>
              </a:tblGrid>
              <a:tr h="565819">
                <a:tc>
                  <a:txBody>
                    <a:bodyPr/>
                    <a:lstStyle/>
                    <a:p>
                      <a:pPr marL="0" marR="0" indent="0" algn="r" fontAlgn="base" latinLnBrk="0">
                        <a:lnSpc>
                          <a:spcPct val="120000"/>
                        </a:lnSpc>
                        <a:spcBef>
                          <a:spcPts val="0"/>
                        </a:spcBef>
                        <a:spcAft>
                          <a:spcPts val="0"/>
                        </a:spcAft>
                      </a:pPr>
                      <a:r>
                        <a:rPr lang="en-US" sz="1200" kern="100" spc="-50" dirty="0">
                          <a:solidFill>
                            <a:schemeClr val="bg2">
                              <a:lumMod val="50000"/>
                            </a:schemeClr>
                          </a:solidFill>
                          <a:effectLst/>
                        </a:rPr>
                        <a:t>Z </a:t>
                      </a:r>
                      <a:r>
                        <a:rPr lang="ko-KR" altLang="en-US" sz="1200" kern="100" spc="-50" dirty="0">
                          <a:solidFill>
                            <a:schemeClr val="bg2">
                              <a:lumMod val="50000"/>
                            </a:schemeClr>
                          </a:solidFill>
                          <a:effectLst/>
                        </a:rPr>
                        <a:t>출원</a:t>
                      </a:r>
                    </a:p>
                    <a:p>
                      <a:pPr marL="0" marR="0" indent="0" algn="l" fontAlgn="base" latinLnBrk="1">
                        <a:lnSpc>
                          <a:spcPct val="120000"/>
                        </a:lnSpc>
                        <a:spcBef>
                          <a:spcPts val="0"/>
                        </a:spcBef>
                        <a:spcAft>
                          <a:spcPts val="0"/>
                        </a:spcAft>
                      </a:pPr>
                      <a:r>
                        <a:rPr lang="en-US" sz="1200" kern="100" spc="-50" dirty="0">
                          <a:solidFill>
                            <a:schemeClr val="bg2">
                              <a:lumMod val="50000"/>
                            </a:schemeClr>
                          </a:solidFill>
                          <a:effectLst/>
                        </a:rPr>
                        <a:t>Y </a:t>
                      </a:r>
                      <a:r>
                        <a:rPr lang="ko-KR" altLang="en-US" sz="1200" kern="100" spc="-50" dirty="0">
                          <a:solidFill>
                            <a:schemeClr val="bg2">
                              <a:lumMod val="50000"/>
                            </a:schemeClr>
                          </a:solidFill>
                          <a:effectLst/>
                        </a:rPr>
                        <a:t>출원</a:t>
                      </a:r>
                      <a:endParaRPr lang="ko-KR" altLang="en-US" sz="1200" kern="100" spc="-5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lnTlToBr w="12700" cap="flat" cmpd="sng" algn="ctr">
                      <a:solidFill>
                        <a:schemeClr val="bg2">
                          <a:lumMod val="75000"/>
                        </a:schemeClr>
                      </a:solidFill>
                      <a:prstDash val="solid"/>
                      <a:round/>
                      <a:headEnd type="none" w="med" len="med"/>
                      <a:tailEnd type="none" w="med" len="med"/>
                    </a:lnTlToB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00" spc="-50">
                          <a:solidFill>
                            <a:schemeClr val="bg2">
                              <a:lumMod val="50000"/>
                            </a:schemeClr>
                          </a:solidFill>
                          <a:effectLst/>
                        </a:rPr>
                        <a:t>분할출원</a:t>
                      </a:r>
                      <a:endParaRPr lang="ko-KR" altLang="en-US" sz="1200" kern="100" spc="-5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00" spc="-50" dirty="0">
                          <a:solidFill>
                            <a:schemeClr val="bg2">
                              <a:lumMod val="50000"/>
                            </a:schemeClr>
                          </a:solidFill>
                          <a:effectLst/>
                        </a:rPr>
                        <a:t>분리출원</a:t>
                      </a:r>
                      <a:endParaRPr lang="ko-KR" altLang="en-US" sz="1200" kern="100" spc="-5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00" spc="-50" dirty="0">
                          <a:solidFill>
                            <a:schemeClr val="bg2">
                              <a:lumMod val="50000"/>
                            </a:schemeClr>
                          </a:solidFill>
                          <a:effectLst/>
                        </a:rPr>
                        <a:t>변경출원</a:t>
                      </a:r>
                      <a:endParaRPr lang="ko-KR" altLang="en-US" sz="1200" kern="100" spc="-5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00" spc="-50" dirty="0" err="1">
                          <a:solidFill>
                            <a:schemeClr val="bg2">
                              <a:lumMod val="50000"/>
                            </a:schemeClr>
                          </a:solidFill>
                          <a:effectLst/>
                        </a:rPr>
                        <a:t>조약우선권주장출원</a:t>
                      </a:r>
                      <a:endParaRPr lang="ko-KR" altLang="en-US" sz="1200" kern="100" spc="-5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00" spc="-50" dirty="0" err="1">
                          <a:solidFill>
                            <a:schemeClr val="bg2">
                              <a:lumMod val="50000"/>
                            </a:schemeClr>
                          </a:solidFill>
                          <a:effectLst/>
                        </a:rPr>
                        <a:t>국내우선권주장출원</a:t>
                      </a:r>
                      <a:endParaRPr lang="ko-KR" altLang="en-US" sz="1200" kern="100" spc="-5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212114172"/>
                  </a:ext>
                </a:extLst>
              </a:tr>
              <a:tr h="393328">
                <a:tc>
                  <a:txBody>
                    <a:bodyPr/>
                    <a:lstStyle/>
                    <a:p>
                      <a:pPr marL="0" marR="0" indent="0" algn="ctr" fontAlgn="base" latinLnBrk="0">
                        <a:lnSpc>
                          <a:spcPct val="120000"/>
                        </a:lnSpc>
                        <a:spcBef>
                          <a:spcPts val="0"/>
                        </a:spcBef>
                        <a:spcAft>
                          <a:spcPts val="0"/>
                        </a:spcAft>
                      </a:pPr>
                      <a:r>
                        <a:rPr lang="ko-KR" altLang="en-US" sz="1200" kern="100" spc="-50" dirty="0">
                          <a:solidFill>
                            <a:schemeClr val="bg2">
                              <a:lumMod val="50000"/>
                            </a:schemeClr>
                          </a:solidFill>
                          <a:effectLst/>
                        </a:rPr>
                        <a:t>분할출원</a:t>
                      </a:r>
                      <a:endParaRPr lang="ko-KR" altLang="en-US" sz="1200" kern="100" spc="-5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accent1">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2">
                              <a:lumMod val="50000"/>
                            </a:schemeClr>
                          </a:solidFill>
                          <a:effectLst/>
                        </a:rPr>
                        <a:t>가능*</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200" kern="0" spc="-70">
                          <a:solidFill>
                            <a:schemeClr val="bg2">
                              <a:lumMod val="50000"/>
                            </a:schemeClr>
                          </a:solidFill>
                          <a:effectLst/>
                        </a:rPr>
                        <a:t>가능*</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200" kern="0" spc="-70">
                          <a:solidFill>
                            <a:schemeClr val="bg2">
                              <a:lumMod val="50000"/>
                            </a:schemeClr>
                          </a:solidFill>
                          <a:effectLst/>
                        </a:rPr>
                        <a:t>가능*</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rowSpan="3">
                  <a:txBody>
                    <a:bodyPr/>
                    <a:lstStyle/>
                    <a:p>
                      <a:pPr marL="17780" marR="17780" indent="0" algn="ctr" fontAlgn="base" latinLnBrk="1">
                        <a:lnSpc>
                          <a:spcPct val="130000"/>
                        </a:lnSpc>
                        <a:spcBef>
                          <a:spcPts val="0"/>
                        </a:spcBef>
                        <a:spcAft>
                          <a:spcPts val="0"/>
                        </a:spcAft>
                      </a:pPr>
                      <a:r>
                        <a:rPr lang="ko-KR" altLang="en-US" sz="1200" kern="0" spc="-70">
                          <a:solidFill>
                            <a:schemeClr val="bg2">
                              <a:lumMod val="50000"/>
                            </a:schemeClr>
                          </a:solidFill>
                          <a:effectLst/>
                        </a:rPr>
                        <a:t>외국법이 국내법과 동일하지 아니하기 때문에 논의 실익 </a:t>
                      </a:r>
                      <a:r>
                        <a:rPr lang="en-US" altLang="ko-KR" sz="1200" kern="0" spc="-70">
                          <a:solidFill>
                            <a:schemeClr val="bg2">
                              <a:lumMod val="50000"/>
                            </a:schemeClr>
                          </a:solidFill>
                          <a:effectLst/>
                        </a:rPr>
                        <a:t>× </a:t>
                      </a:r>
                      <a:endParaRPr lang="ko-KR" altLang="en-US" sz="1200" kern="0" spc="-7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rowSpan="3">
                  <a:txBody>
                    <a:bodyPr/>
                    <a:lstStyle/>
                    <a:p>
                      <a:pPr marL="99060" marR="17780" indent="-99060" algn="ctr" fontAlgn="base" latinLnBrk="1">
                        <a:lnSpc>
                          <a:spcPct val="130000"/>
                        </a:lnSpc>
                        <a:spcBef>
                          <a:spcPts val="0"/>
                        </a:spcBef>
                        <a:spcAft>
                          <a:spcPts val="0"/>
                        </a:spcAft>
                      </a:pPr>
                      <a:r>
                        <a:rPr lang="ko-KR" altLang="en-US" sz="1200" kern="0" spc="-70" dirty="0">
                          <a:solidFill>
                            <a:schemeClr val="bg2">
                              <a:lumMod val="50000"/>
                            </a:schemeClr>
                          </a:solidFill>
                          <a:effectLst/>
                        </a:rPr>
                        <a:t>불가능</a:t>
                      </a:r>
                      <a:r>
                        <a:rPr lang="en-US" altLang="ko-KR" sz="1200" kern="0" spc="-70" dirty="0">
                          <a:solidFill>
                            <a:schemeClr val="bg2">
                              <a:lumMod val="50000"/>
                            </a:schemeClr>
                          </a:solidFill>
                          <a:effectLst/>
                        </a:rPr>
                        <a:t>(∵</a:t>
                      </a:r>
                      <a:r>
                        <a:rPr lang="ko-KR" altLang="en-US" sz="1200" kern="0" spc="-80" dirty="0">
                          <a:solidFill>
                            <a:schemeClr val="bg2">
                              <a:lumMod val="50000"/>
                            </a:schemeClr>
                          </a:solidFill>
                          <a:effectLst/>
                        </a:rPr>
                        <a:t>요건 불만족하여 무효처분</a:t>
                      </a:r>
                      <a:r>
                        <a:rPr lang="en-US" altLang="ko-KR" sz="1200" kern="0" spc="-80" dirty="0">
                          <a:solidFill>
                            <a:schemeClr val="bg2">
                              <a:lumMod val="50000"/>
                            </a:schemeClr>
                          </a:solidFill>
                          <a:effectLst/>
                        </a:rPr>
                        <a:t>)</a:t>
                      </a:r>
                      <a:endParaRPr lang="ko-KR" altLang="en-US" sz="1200" kern="0" spc="-80" dirty="0">
                        <a:solidFill>
                          <a:schemeClr val="bg2">
                            <a:lumMod val="50000"/>
                          </a:schemeClr>
                        </a:solidFill>
                        <a:effectLst/>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extLst>
                  <a:ext uri="{0D108BD9-81ED-4DB2-BD59-A6C34878D82A}">
                    <a16:rowId xmlns:a16="http://schemas.microsoft.com/office/drawing/2014/main" val="2582645376"/>
                  </a:ext>
                </a:extLst>
              </a:tr>
              <a:tr h="394387">
                <a:tc>
                  <a:txBody>
                    <a:bodyPr/>
                    <a:lstStyle/>
                    <a:p>
                      <a:pPr marL="0" marR="0" indent="0" algn="ctr" fontAlgn="base" latinLnBrk="0">
                        <a:lnSpc>
                          <a:spcPct val="120000"/>
                        </a:lnSpc>
                        <a:spcBef>
                          <a:spcPts val="0"/>
                        </a:spcBef>
                        <a:spcAft>
                          <a:spcPts val="0"/>
                        </a:spcAft>
                      </a:pPr>
                      <a:r>
                        <a:rPr lang="ko-KR" altLang="en-US" sz="1200" kern="100" spc="-50" dirty="0">
                          <a:solidFill>
                            <a:schemeClr val="bg2">
                              <a:lumMod val="50000"/>
                            </a:schemeClr>
                          </a:solidFill>
                          <a:effectLst/>
                        </a:rPr>
                        <a:t>분리출원</a:t>
                      </a:r>
                      <a:endParaRPr lang="ko-KR" altLang="en-US" sz="1200" kern="100" spc="-5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accent1">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2">
                              <a:lumMod val="50000"/>
                            </a:schemeClr>
                          </a:solidFill>
                          <a:effectLst/>
                        </a:rPr>
                        <a:t>불가능</a:t>
                      </a:r>
                      <a:r>
                        <a:rPr lang="en-US" altLang="ko-KR" sz="1200" kern="0" spc="-70" dirty="0">
                          <a:solidFill>
                            <a:schemeClr val="bg2">
                              <a:lumMod val="50000"/>
                            </a:schemeClr>
                          </a:solidFill>
                          <a:effectLst/>
                        </a:rPr>
                        <a:t>(</a:t>
                      </a:r>
                      <a:r>
                        <a:rPr lang="ko-KR" altLang="en-US" sz="1200" kern="0" spc="-70" dirty="0" err="1">
                          <a:solidFill>
                            <a:schemeClr val="bg2">
                              <a:lumMod val="50000"/>
                            </a:schemeClr>
                          </a:solidFill>
                          <a:effectLst/>
                        </a:rPr>
                        <a:t>불수리</a:t>
                      </a:r>
                      <a:r>
                        <a:rPr lang="en-US" altLang="ko-KR" sz="1200" kern="0" spc="-70" dirty="0">
                          <a:solidFill>
                            <a:schemeClr val="bg2">
                              <a:lumMod val="50000"/>
                            </a:schemeClr>
                          </a:solidFill>
                          <a:effectLst/>
                        </a:rPr>
                        <a:t>)</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2">
                              <a:lumMod val="50000"/>
                            </a:schemeClr>
                          </a:solidFill>
                          <a:effectLst/>
                        </a:rPr>
                        <a:t>불가능</a:t>
                      </a:r>
                      <a:r>
                        <a:rPr lang="en-US" altLang="ko-KR" sz="1200" kern="0" spc="-70" dirty="0">
                          <a:solidFill>
                            <a:schemeClr val="bg2">
                              <a:lumMod val="50000"/>
                            </a:schemeClr>
                          </a:solidFill>
                          <a:effectLst/>
                        </a:rPr>
                        <a:t>(</a:t>
                      </a:r>
                      <a:r>
                        <a:rPr lang="ko-KR" altLang="en-US" sz="1200" kern="0" spc="-70" dirty="0" err="1">
                          <a:solidFill>
                            <a:schemeClr val="bg2">
                              <a:lumMod val="50000"/>
                            </a:schemeClr>
                          </a:solidFill>
                          <a:effectLst/>
                        </a:rPr>
                        <a:t>불수리</a:t>
                      </a:r>
                      <a:r>
                        <a:rPr lang="en-US" altLang="ko-KR" sz="1200" kern="0" spc="-70" dirty="0">
                          <a:solidFill>
                            <a:schemeClr val="bg2">
                              <a:lumMod val="50000"/>
                            </a:schemeClr>
                          </a:solidFill>
                          <a:effectLst/>
                        </a:rPr>
                        <a:t>)</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200" kern="0" spc="-120" dirty="0">
                          <a:solidFill>
                            <a:schemeClr val="bg2">
                              <a:lumMod val="50000"/>
                            </a:schemeClr>
                          </a:solidFill>
                          <a:effectLst/>
                        </a:rPr>
                        <a:t>불가능</a:t>
                      </a:r>
                      <a:r>
                        <a:rPr lang="en-US" altLang="ko-KR" sz="1200" kern="0" spc="-120" dirty="0">
                          <a:solidFill>
                            <a:schemeClr val="bg2">
                              <a:lumMod val="50000"/>
                            </a:schemeClr>
                          </a:solidFill>
                          <a:effectLst/>
                        </a:rPr>
                        <a:t>(</a:t>
                      </a:r>
                      <a:r>
                        <a:rPr lang="ko-KR" altLang="en-US" sz="1200" kern="0" spc="-120" dirty="0" err="1">
                          <a:solidFill>
                            <a:schemeClr val="bg2">
                              <a:lumMod val="50000"/>
                            </a:schemeClr>
                          </a:solidFill>
                          <a:effectLst/>
                        </a:rPr>
                        <a:t>불수리</a:t>
                      </a:r>
                      <a:r>
                        <a:rPr lang="en-US" altLang="ko-KR" sz="1200" kern="0" spc="-120" dirty="0">
                          <a:solidFill>
                            <a:schemeClr val="bg2">
                              <a:lumMod val="50000"/>
                            </a:schemeClr>
                          </a:solidFill>
                          <a:effectLst/>
                        </a:rPr>
                        <a:t>)</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4228659909"/>
                  </a:ext>
                </a:extLst>
              </a:tr>
              <a:tr h="393328">
                <a:tc>
                  <a:txBody>
                    <a:bodyPr/>
                    <a:lstStyle/>
                    <a:p>
                      <a:pPr marL="0" marR="0" indent="0" algn="ctr" fontAlgn="base" latinLnBrk="0">
                        <a:lnSpc>
                          <a:spcPct val="120000"/>
                        </a:lnSpc>
                        <a:spcBef>
                          <a:spcPts val="0"/>
                        </a:spcBef>
                        <a:spcAft>
                          <a:spcPts val="0"/>
                        </a:spcAft>
                      </a:pPr>
                      <a:r>
                        <a:rPr lang="ko-KR" altLang="en-US" sz="1200" kern="100" spc="-50" dirty="0">
                          <a:solidFill>
                            <a:schemeClr val="bg2">
                              <a:lumMod val="50000"/>
                            </a:schemeClr>
                          </a:solidFill>
                          <a:effectLst/>
                        </a:rPr>
                        <a:t>변경출원</a:t>
                      </a:r>
                      <a:endParaRPr lang="ko-KR" altLang="en-US" sz="1200" kern="100" spc="-5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accent1">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2">
                              <a:lumMod val="50000"/>
                            </a:schemeClr>
                          </a:solidFill>
                          <a:effectLst/>
                        </a:rPr>
                        <a:t>가능*</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200" kern="0" spc="-70" dirty="0">
                          <a:solidFill>
                            <a:schemeClr val="bg2">
                              <a:lumMod val="50000"/>
                            </a:schemeClr>
                          </a:solidFill>
                          <a:effectLst/>
                        </a:rPr>
                        <a:t>가능*</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a:txBody>
                    <a:bodyPr/>
                    <a:lstStyle/>
                    <a:p>
                      <a:pPr marL="17780" marR="17780" indent="0" algn="ctr" fontAlgn="base" latinLnBrk="0">
                        <a:lnSpc>
                          <a:spcPct val="130000"/>
                        </a:lnSpc>
                        <a:spcBef>
                          <a:spcPts val="0"/>
                        </a:spcBef>
                        <a:spcAft>
                          <a:spcPts val="0"/>
                        </a:spcAft>
                      </a:pPr>
                      <a:r>
                        <a:rPr lang="ko-KR" altLang="en-US" sz="1200" kern="0" spc="-120" dirty="0">
                          <a:solidFill>
                            <a:schemeClr val="bg2">
                              <a:lumMod val="50000"/>
                            </a:schemeClr>
                          </a:solidFill>
                          <a:effectLst/>
                        </a:rPr>
                        <a:t>가능*</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290673849"/>
                  </a:ext>
                </a:extLst>
              </a:tr>
              <a:tr h="393328">
                <a:tc rowSpan="3">
                  <a:txBody>
                    <a:bodyPr/>
                    <a:lstStyle/>
                    <a:p>
                      <a:pPr marL="0" marR="0" indent="0" algn="ctr" fontAlgn="base" latinLnBrk="0">
                        <a:lnSpc>
                          <a:spcPct val="120000"/>
                        </a:lnSpc>
                        <a:spcBef>
                          <a:spcPts val="0"/>
                        </a:spcBef>
                        <a:spcAft>
                          <a:spcPts val="0"/>
                        </a:spcAft>
                      </a:pPr>
                      <a:r>
                        <a:rPr lang="ko-KR" altLang="en-US" sz="1200" kern="100" spc="-50" dirty="0">
                          <a:solidFill>
                            <a:schemeClr val="bg2">
                              <a:lumMod val="50000"/>
                            </a:schemeClr>
                          </a:solidFill>
                          <a:effectLst/>
                        </a:rPr>
                        <a:t>조약우선권</a:t>
                      </a:r>
                    </a:p>
                    <a:p>
                      <a:pPr marL="0" marR="0" indent="0" algn="ctr" fontAlgn="base" latinLnBrk="0">
                        <a:lnSpc>
                          <a:spcPct val="120000"/>
                        </a:lnSpc>
                        <a:spcBef>
                          <a:spcPts val="0"/>
                        </a:spcBef>
                        <a:spcAft>
                          <a:spcPts val="0"/>
                        </a:spcAft>
                      </a:pPr>
                      <a:r>
                        <a:rPr lang="ko-KR" altLang="en-US" sz="1200" kern="100" spc="-50" dirty="0">
                          <a:solidFill>
                            <a:schemeClr val="bg2">
                              <a:lumMod val="50000"/>
                            </a:schemeClr>
                          </a:solidFill>
                          <a:effectLst/>
                        </a:rPr>
                        <a:t>주장출원</a:t>
                      </a:r>
                      <a:endParaRPr lang="ko-KR" altLang="en-US" sz="1200" kern="100" spc="-5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accent1">
                        <a:lumMod val="20000"/>
                        <a:lumOff val="80000"/>
                      </a:schemeClr>
                    </a:solidFill>
                  </a:tcPr>
                </a:tc>
                <a:tc gridSpan="3">
                  <a:txBody>
                    <a:bodyPr/>
                    <a:lstStyle/>
                    <a:p>
                      <a:pPr marL="17780" marR="17780" indent="0" algn="ctr" fontAlgn="base" latinLnBrk="1">
                        <a:lnSpc>
                          <a:spcPct val="130000"/>
                        </a:lnSpc>
                        <a:spcBef>
                          <a:spcPts val="0"/>
                        </a:spcBef>
                        <a:spcAft>
                          <a:spcPts val="0"/>
                        </a:spcAft>
                      </a:pPr>
                      <a:r>
                        <a:rPr lang="ko-KR" altLang="en-US" sz="1200" kern="0" spc="-70">
                          <a:solidFill>
                            <a:schemeClr val="bg2">
                              <a:lumMod val="50000"/>
                            </a:schemeClr>
                          </a:solidFill>
                          <a:effectLst/>
                        </a:rPr>
                        <a:t>가능</a:t>
                      </a:r>
                      <a:r>
                        <a:rPr lang="en-US" altLang="ko-KR" sz="1200" kern="0" spc="-70">
                          <a:solidFill>
                            <a:schemeClr val="bg2">
                              <a:lumMod val="50000"/>
                            </a:schemeClr>
                          </a:solidFill>
                          <a:effectLst/>
                        </a:rPr>
                        <a:t>(</a:t>
                      </a:r>
                      <a:r>
                        <a:rPr lang="ko-KR" altLang="en-US" sz="1200" kern="0" spc="-70">
                          <a:solidFill>
                            <a:schemeClr val="bg2">
                              <a:lumMod val="50000"/>
                            </a:schemeClr>
                          </a:solidFill>
                          <a:effectLst/>
                        </a:rPr>
                        <a:t>우선기간</a:t>
                      </a:r>
                      <a:r>
                        <a:rPr lang="en-US" altLang="ko-KR" sz="1200" kern="0" spc="-70">
                          <a:solidFill>
                            <a:schemeClr val="bg2">
                              <a:lumMod val="50000"/>
                            </a:schemeClr>
                          </a:solidFill>
                          <a:effectLst/>
                        </a:rPr>
                        <a:t>(1</a:t>
                      </a:r>
                      <a:r>
                        <a:rPr lang="ko-KR" altLang="en-US" sz="1200" kern="0" spc="-70">
                          <a:solidFill>
                            <a:schemeClr val="bg2">
                              <a:lumMod val="50000"/>
                            </a:schemeClr>
                          </a:solidFill>
                          <a:effectLst/>
                        </a:rPr>
                        <a:t>년</a:t>
                      </a:r>
                      <a:r>
                        <a:rPr lang="en-US" altLang="ko-KR" sz="1200" kern="0" spc="-70">
                          <a:solidFill>
                            <a:schemeClr val="bg2">
                              <a:lumMod val="50000"/>
                            </a:schemeClr>
                          </a:solidFill>
                          <a:effectLst/>
                        </a:rPr>
                        <a:t>) - </a:t>
                      </a:r>
                      <a:r>
                        <a:rPr lang="ko-KR" altLang="en-US" sz="1200" kern="0" spc="-70">
                          <a:solidFill>
                            <a:schemeClr val="bg2">
                              <a:lumMod val="50000"/>
                            </a:schemeClr>
                          </a:solidFill>
                          <a:effectLst/>
                        </a:rPr>
                        <a:t>소급효 ○</a:t>
                      </a:r>
                      <a:r>
                        <a:rPr lang="en-US" altLang="ko-KR" sz="1200" kern="0" spc="-70">
                          <a:solidFill>
                            <a:schemeClr val="bg2">
                              <a:lumMod val="50000"/>
                            </a:schemeClr>
                          </a:solidFill>
                          <a:effectLst/>
                        </a:rPr>
                        <a:t>, </a:t>
                      </a:r>
                      <a:r>
                        <a:rPr lang="ko-KR" altLang="en-US" sz="1200" kern="0" spc="-70">
                          <a:solidFill>
                            <a:schemeClr val="bg2">
                              <a:lumMod val="50000"/>
                            </a:schemeClr>
                          </a:solidFill>
                          <a:effectLst/>
                        </a:rPr>
                        <a:t>취지 </a:t>
                      </a:r>
                      <a:r>
                        <a:rPr lang="en-US" altLang="ko-KR" sz="1200" kern="0" spc="-70">
                          <a:solidFill>
                            <a:schemeClr val="bg2">
                              <a:lumMod val="50000"/>
                            </a:schemeClr>
                          </a:solidFill>
                          <a:effectLst/>
                        </a:rPr>
                        <a:t>- </a:t>
                      </a:r>
                      <a:r>
                        <a:rPr lang="ko-KR" altLang="en-US" sz="1200" kern="0" spc="-70">
                          <a:solidFill>
                            <a:schemeClr val="bg2">
                              <a:lumMod val="50000"/>
                            </a:schemeClr>
                          </a:solidFill>
                          <a:effectLst/>
                        </a:rPr>
                        <a:t>소급효 </a:t>
                      </a:r>
                      <a:r>
                        <a:rPr lang="en-US" altLang="ko-KR" sz="1200" kern="0" spc="-70">
                          <a:solidFill>
                            <a:schemeClr val="bg2">
                              <a:lumMod val="50000"/>
                            </a:schemeClr>
                          </a:solidFill>
                          <a:effectLst/>
                        </a:rPr>
                        <a:t>×)</a:t>
                      </a:r>
                      <a:endParaRPr lang="ko-KR" altLang="en-US" sz="1200" kern="0" spc="-7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rowSpan="5">
                  <a:txBody>
                    <a:bodyPr/>
                    <a:lstStyle/>
                    <a:p>
                      <a:pPr marL="17780" marR="17780" indent="0" algn="ctr" fontAlgn="base" latinLnBrk="1">
                        <a:lnSpc>
                          <a:spcPct val="130000"/>
                        </a:lnSpc>
                        <a:spcBef>
                          <a:spcPts val="0"/>
                        </a:spcBef>
                        <a:spcAft>
                          <a:spcPts val="0"/>
                        </a:spcAft>
                      </a:pPr>
                      <a:r>
                        <a:rPr lang="ko-KR" altLang="en-US" sz="1200" kern="0" spc="-70" dirty="0" err="1">
                          <a:solidFill>
                            <a:schemeClr val="bg2">
                              <a:lumMod val="50000"/>
                            </a:schemeClr>
                          </a:solidFill>
                          <a:effectLst/>
                        </a:rPr>
                        <a:t>최선성</a:t>
                      </a:r>
                      <a:r>
                        <a:rPr lang="ko-KR" altLang="en-US" sz="1200" kern="0" spc="-70" dirty="0">
                          <a:solidFill>
                            <a:schemeClr val="bg2">
                              <a:lumMod val="50000"/>
                            </a:schemeClr>
                          </a:solidFill>
                          <a:effectLst/>
                        </a:rPr>
                        <a:t> 요건 불만족하여 무효처분</a:t>
                      </a:r>
                      <a:br>
                        <a:rPr lang="ko-KR" altLang="en-US" sz="1200" kern="0" spc="-70" dirty="0">
                          <a:solidFill>
                            <a:schemeClr val="bg2">
                              <a:lumMod val="50000"/>
                            </a:schemeClr>
                          </a:solidFill>
                          <a:effectLst/>
                        </a:rPr>
                      </a:br>
                      <a:r>
                        <a:rPr lang="en-US" altLang="ko-KR" sz="1200" kern="0" spc="-70" dirty="0">
                          <a:solidFill>
                            <a:schemeClr val="bg2">
                              <a:lumMod val="50000"/>
                            </a:schemeClr>
                          </a:solidFill>
                          <a:effectLst/>
                        </a:rPr>
                        <a:t>(</a:t>
                      </a:r>
                      <a:r>
                        <a:rPr lang="ko-KR" altLang="en-US" sz="1200" kern="0" spc="-70" dirty="0">
                          <a:solidFill>
                            <a:schemeClr val="bg2">
                              <a:lumMod val="50000"/>
                            </a:schemeClr>
                          </a:solidFill>
                          <a:effectLst/>
                        </a:rPr>
                        <a:t>∵ 우선기간의 </a:t>
                      </a:r>
                      <a:endParaRPr lang="en-US" altLang="ko-KR" sz="1200" kern="0" spc="-70" dirty="0">
                        <a:solidFill>
                          <a:schemeClr val="bg2">
                            <a:lumMod val="50000"/>
                          </a:schemeClr>
                        </a:solidFill>
                        <a:effectLst/>
                      </a:endParaRPr>
                    </a:p>
                    <a:p>
                      <a:pPr marL="17780" marR="17780" indent="0" algn="ctr" fontAlgn="base" latinLnBrk="1">
                        <a:lnSpc>
                          <a:spcPct val="130000"/>
                        </a:lnSpc>
                        <a:spcBef>
                          <a:spcPts val="0"/>
                        </a:spcBef>
                        <a:spcAft>
                          <a:spcPts val="0"/>
                        </a:spcAft>
                      </a:pPr>
                      <a:r>
                        <a:rPr lang="ko-KR" altLang="en-US" sz="1200" kern="0" spc="-70" dirty="0">
                          <a:solidFill>
                            <a:schemeClr val="bg2">
                              <a:lumMod val="50000"/>
                            </a:schemeClr>
                          </a:solidFill>
                          <a:effectLst/>
                        </a:rPr>
                        <a:t>실질적 연장을 방지</a:t>
                      </a:r>
                      <a:r>
                        <a:rPr lang="en-US" altLang="ko-KR" sz="1200" kern="0" spc="-70" dirty="0">
                          <a:solidFill>
                            <a:schemeClr val="bg2">
                              <a:lumMod val="50000"/>
                            </a:schemeClr>
                          </a:solidFill>
                          <a:effectLst/>
                        </a:rPr>
                        <a:t>)**</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rowSpan="5">
                  <a:txBody>
                    <a:bodyPr/>
                    <a:lstStyle/>
                    <a:p>
                      <a:pPr marL="17780" marR="17780" indent="0" algn="ctr" fontAlgn="base" latinLnBrk="1">
                        <a:lnSpc>
                          <a:spcPct val="130000"/>
                        </a:lnSpc>
                        <a:spcBef>
                          <a:spcPts val="0"/>
                        </a:spcBef>
                        <a:spcAft>
                          <a:spcPts val="0"/>
                        </a:spcAft>
                      </a:pPr>
                      <a:r>
                        <a:rPr lang="ko-KR" altLang="en-US" sz="1200" kern="0" spc="-70" dirty="0">
                          <a:solidFill>
                            <a:schemeClr val="bg2">
                              <a:lumMod val="50000"/>
                            </a:schemeClr>
                          </a:solidFill>
                          <a:effectLst/>
                        </a:rPr>
                        <a:t>요건 만족하지만 이중우선으로 소급효의 예외 인정</a:t>
                      </a:r>
                      <a:endParaRPr lang="en-US" altLang="ko-KR" sz="1200" kern="0" spc="-70" dirty="0">
                        <a:solidFill>
                          <a:schemeClr val="bg2">
                            <a:lumMod val="50000"/>
                          </a:schemeClr>
                        </a:solidFill>
                        <a:effectLst/>
                      </a:endParaRPr>
                    </a:p>
                    <a:p>
                      <a:pPr marL="17780" marR="17780" indent="0" algn="ctr" fontAlgn="base" latinLnBrk="1">
                        <a:lnSpc>
                          <a:spcPct val="130000"/>
                        </a:lnSpc>
                        <a:spcBef>
                          <a:spcPts val="0"/>
                        </a:spcBef>
                        <a:spcAft>
                          <a:spcPts val="0"/>
                        </a:spcAft>
                      </a:pPr>
                      <a:r>
                        <a:rPr lang="en-US" altLang="ko-KR" sz="1200" kern="0" spc="-70" dirty="0">
                          <a:solidFill>
                            <a:schemeClr val="bg2">
                              <a:lumMod val="50000"/>
                            </a:schemeClr>
                          </a:solidFill>
                          <a:effectLst/>
                        </a:rPr>
                        <a:t>(</a:t>
                      </a:r>
                      <a:r>
                        <a:rPr lang="ko-KR" altLang="en-US" sz="1200" kern="0" spc="-70" dirty="0">
                          <a:solidFill>
                            <a:schemeClr val="bg2">
                              <a:lumMod val="50000"/>
                            </a:schemeClr>
                          </a:solidFill>
                          <a:effectLst/>
                        </a:rPr>
                        <a:t>∵ 우선기간의 실질적 연장을 방지</a:t>
                      </a:r>
                      <a:r>
                        <a:rPr lang="en-US" altLang="ko-KR" sz="1200" kern="0" spc="-70" dirty="0">
                          <a:solidFill>
                            <a:schemeClr val="bg2">
                              <a:lumMod val="50000"/>
                            </a:schemeClr>
                          </a:solidFill>
                          <a:effectLst/>
                        </a:rPr>
                        <a:t>)</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extLst>
                  <a:ext uri="{0D108BD9-81ED-4DB2-BD59-A6C34878D82A}">
                    <a16:rowId xmlns:a16="http://schemas.microsoft.com/office/drawing/2014/main" val="3355987759"/>
                  </a:ext>
                </a:extLst>
              </a:tr>
              <a:tr h="394387">
                <a:tc vMerge="1">
                  <a:txBody>
                    <a:bodyPr/>
                    <a:lstStyle/>
                    <a:p>
                      <a:pPr latinLnBrk="1"/>
                      <a:endParaRPr lang="ko-KR" altLang="en-US"/>
                    </a:p>
                  </a:txBody>
                  <a:tcPr/>
                </a:tc>
                <a:tc>
                  <a:txBody>
                    <a:bodyPr/>
                    <a:lstStyle/>
                    <a:p>
                      <a:pPr marL="17780" marR="17780" indent="0" algn="ctr" fontAlgn="base" latinLnBrk="1">
                        <a:lnSpc>
                          <a:spcPct val="130000"/>
                        </a:lnSpc>
                        <a:spcBef>
                          <a:spcPts val="0"/>
                        </a:spcBef>
                        <a:spcAft>
                          <a:spcPts val="0"/>
                        </a:spcAft>
                      </a:pPr>
                      <a:r>
                        <a:rPr lang="ko-KR" altLang="en-US" sz="1200" kern="0" spc="-70" dirty="0">
                          <a:solidFill>
                            <a:schemeClr val="bg2">
                              <a:lumMod val="50000"/>
                            </a:schemeClr>
                          </a:solidFill>
                          <a:effectLst/>
                        </a:rPr>
                        <a:t>자동주장간주</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a:txBody>
                    <a:bodyPr/>
                    <a:lstStyle/>
                    <a:p>
                      <a:pPr marL="17780" marR="17780" indent="0" algn="ctr" fontAlgn="base" latinLnBrk="1">
                        <a:lnSpc>
                          <a:spcPct val="130000"/>
                        </a:lnSpc>
                        <a:spcBef>
                          <a:spcPts val="0"/>
                        </a:spcBef>
                        <a:spcAft>
                          <a:spcPts val="0"/>
                        </a:spcAft>
                      </a:pPr>
                      <a:r>
                        <a:rPr lang="ko-KR" altLang="en-US" sz="1200" kern="0" spc="-70" dirty="0">
                          <a:solidFill>
                            <a:schemeClr val="bg2">
                              <a:lumMod val="50000"/>
                            </a:schemeClr>
                          </a:solidFill>
                          <a:effectLst/>
                        </a:rPr>
                        <a:t>자동주장간주</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a:txBody>
                    <a:bodyPr/>
                    <a:lstStyle/>
                    <a:p>
                      <a:pPr marL="17780" marR="17780" indent="0" algn="ctr" fontAlgn="base" latinLnBrk="1">
                        <a:lnSpc>
                          <a:spcPct val="130000"/>
                        </a:lnSpc>
                        <a:spcBef>
                          <a:spcPts val="0"/>
                        </a:spcBef>
                        <a:spcAft>
                          <a:spcPts val="0"/>
                        </a:spcAft>
                      </a:pPr>
                      <a:r>
                        <a:rPr lang="ko-KR" altLang="en-US" sz="1200" kern="0" spc="-70">
                          <a:solidFill>
                            <a:schemeClr val="bg2">
                              <a:lumMod val="50000"/>
                            </a:schemeClr>
                          </a:solidFill>
                          <a:effectLst/>
                        </a:rPr>
                        <a:t>출원과 동시에 주장</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4159843503"/>
                  </a:ext>
                </a:extLst>
              </a:tr>
              <a:tr h="753583">
                <a:tc vMerge="1">
                  <a:txBody>
                    <a:bodyPr/>
                    <a:lstStyle/>
                    <a:p>
                      <a:pPr latinLnBrk="1"/>
                      <a:endParaRPr lang="ko-KR" altLang="en-US"/>
                    </a:p>
                  </a:txBody>
                  <a:tcPr/>
                </a:tc>
                <a:tc>
                  <a:txBody>
                    <a:bodyPr/>
                    <a:lstStyle/>
                    <a:p>
                      <a:pPr marL="17780" marR="17780" indent="0" algn="ctr" fontAlgn="base" latinLnBrk="1">
                        <a:lnSpc>
                          <a:spcPct val="130000"/>
                        </a:lnSpc>
                        <a:spcBef>
                          <a:spcPts val="0"/>
                        </a:spcBef>
                        <a:spcAft>
                          <a:spcPts val="0"/>
                        </a:spcAft>
                      </a:pPr>
                      <a:r>
                        <a:rPr lang="ko-KR" altLang="en-US" sz="1200" kern="0" spc="-70">
                          <a:solidFill>
                            <a:schemeClr val="bg2">
                              <a:lumMod val="50000"/>
                            </a:schemeClr>
                          </a:solidFill>
                          <a:effectLst/>
                        </a:rPr>
                        <a:t>자동증명서류제출간주</a:t>
                      </a:r>
                      <a:r>
                        <a:rPr lang="en-US" altLang="ko-KR" sz="1200" kern="0" spc="-70">
                          <a:solidFill>
                            <a:schemeClr val="bg2">
                              <a:lumMod val="50000"/>
                            </a:schemeClr>
                          </a:solidFill>
                          <a:effectLst/>
                        </a:rPr>
                        <a:t>/</a:t>
                      </a:r>
                      <a:endParaRPr lang="ko-KR" altLang="en-US" sz="1200" kern="0" spc="-70">
                        <a:solidFill>
                          <a:schemeClr val="bg2">
                            <a:lumMod val="50000"/>
                          </a:schemeClr>
                        </a:solidFill>
                        <a:effectLst/>
                      </a:endParaRPr>
                    </a:p>
                    <a:p>
                      <a:pPr marL="17780" marR="17780" indent="0" algn="ctr" fontAlgn="base" latinLnBrk="1">
                        <a:lnSpc>
                          <a:spcPct val="130000"/>
                        </a:lnSpc>
                        <a:spcBef>
                          <a:spcPts val="0"/>
                        </a:spcBef>
                        <a:spcAft>
                          <a:spcPts val="0"/>
                        </a:spcAft>
                      </a:pPr>
                      <a:r>
                        <a:rPr lang="ko-KR" altLang="en-US" sz="1200" kern="0" spc="-70">
                          <a:solidFill>
                            <a:schemeClr val="bg2">
                              <a:lumMod val="50000"/>
                            </a:schemeClr>
                          </a:solidFill>
                          <a:effectLst/>
                        </a:rPr>
                        <a:t>증명서류제출기간 특례</a:t>
                      </a:r>
                      <a:endParaRPr lang="ko-KR" altLang="en-US" sz="1200" kern="0" spc="-7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a:txBody>
                    <a:bodyPr/>
                    <a:lstStyle/>
                    <a:p>
                      <a:pPr marL="17780" marR="17780" indent="0" algn="ctr" fontAlgn="base" latinLnBrk="1">
                        <a:lnSpc>
                          <a:spcPct val="130000"/>
                        </a:lnSpc>
                        <a:spcBef>
                          <a:spcPts val="0"/>
                        </a:spcBef>
                        <a:spcAft>
                          <a:spcPts val="0"/>
                        </a:spcAft>
                      </a:pPr>
                      <a:r>
                        <a:rPr lang="ko-KR" altLang="en-US" sz="1200" kern="0" spc="-70" dirty="0" err="1">
                          <a:solidFill>
                            <a:schemeClr val="bg2">
                              <a:lumMod val="50000"/>
                            </a:schemeClr>
                          </a:solidFill>
                          <a:effectLst/>
                        </a:rPr>
                        <a:t>자동증명서류제출간주</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a:txBody>
                    <a:bodyPr/>
                    <a:lstStyle/>
                    <a:p>
                      <a:pPr marL="17780" marR="17780" indent="0" algn="ctr" fontAlgn="base" latinLnBrk="1">
                        <a:lnSpc>
                          <a:spcPct val="130000"/>
                        </a:lnSpc>
                        <a:spcBef>
                          <a:spcPts val="0"/>
                        </a:spcBef>
                        <a:spcAft>
                          <a:spcPts val="0"/>
                        </a:spcAft>
                      </a:pPr>
                      <a:r>
                        <a:rPr lang="ko-KR" altLang="en-US" sz="1200" kern="0" spc="-70" dirty="0">
                          <a:solidFill>
                            <a:schemeClr val="bg2">
                              <a:lumMod val="50000"/>
                            </a:schemeClr>
                          </a:solidFill>
                          <a:effectLst/>
                        </a:rPr>
                        <a:t>증명서류제출기간 특례</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3047700299"/>
                  </a:ext>
                </a:extLst>
              </a:tr>
              <a:tr h="393328">
                <a:tc rowSpan="2">
                  <a:txBody>
                    <a:bodyPr/>
                    <a:lstStyle/>
                    <a:p>
                      <a:pPr marL="0" marR="0" indent="0" algn="ctr" fontAlgn="base" latinLnBrk="0">
                        <a:lnSpc>
                          <a:spcPct val="120000"/>
                        </a:lnSpc>
                        <a:spcBef>
                          <a:spcPts val="0"/>
                        </a:spcBef>
                        <a:spcAft>
                          <a:spcPts val="0"/>
                        </a:spcAft>
                      </a:pPr>
                      <a:r>
                        <a:rPr lang="ko-KR" altLang="en-US" sz="1200" kern="100" spc="-50" dirty="0">
                          <a:solidFill>
                            <a:schemeClr val="bg2">
                              <a:lumMod val="50000"/>
                            </a:schemeClr>
                          </a:solidFill>
                          <a:effectLst/>
                        </a:rPr>
                        <a:t>국내우선권</a:t>
                      </a:r>
                    </a:p>
                    <a:p>
                      <a:pPr marL="0" marR="0" indent="0" algn="ctr" fontAlgn="base" latinLnBrk="0">
                        <a:lnSpc>
                          <a:spcPct val="120000"/>
                        </a:lnSpc>
                        <a:spcBef>
                          <a:spcPts val="0"/>
                        </a:spcBef>
                        <a:spcAft>
                          <a:spcPts val="0"/>
                        </a:spcAft>
                      </a:pPr>
                      <a:r>
                        <a:rPr lang="ko-KR" altLang="en-US" sz="1200" kern="100" spc="-50" dirty="0">
                          <a:solidFill>
                            <a:schemeClr val="bg2">
                              <a:lumMod val="50000"/>
                            </a:schemeClr>
                          </a:solidFill>
                          <a:effectLst/>
                        </a:rPr>
                        <a:t>주장출원</a:t>
                      </a:r>
                      <a:endParaRPr lang="ko-KR" altLang="en-US" sz="1200" kern="100" spc="-5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chemeClr val="accent1">
                        <a:lumMod val="20000"/>
                        <a:lumOff val="80000"/>
                      </a:schemeClr>
                    </a:solidFill>
                  </a:tcPr>
                </a:tc>
                <a:tc gridSpan="3">
                  <a:txBody>
                    <a:bodyPr/>
                    <a:lstStyle/>
                    <a:p>
                      <a:pPr marL="17780" marR="17780" indent="0" algn="ctr" fontAlgn="base" latinLnBrk="1">
                        <a:lnSpc>
                          <a:spcPct val="130000"/>
                        </a:lnSpc>
                        <a:spcBef>
                          <a:spcPts val="0"/>
                        </a:spcBef>
                        <a:spcAft>
                          <a:spcPts val="0"/>
                        </a:spcAft>
                      </a:pPr>
                      <a:r>
                        <a:rPr lang="ko-KR" altLang="en-US" sz="1200" kern="0" spc="-90" dirty="0">
                          <a:solidFill>
                            <a:schemeClr val="bg2">
                              <a:lumMod val="50000"/>
                            </a:schemeClr>
                          </a:solidFill>
                          <a:effectLst/>
                        </a:rPr>
                        <a:t>가능</a:t>
                      </a:r>
                      <a:r>
                        <a:rPr lang="en-US" altLang="ko-KR" sz="1200" kern="0" spc="-70" dirty="0">
                          <a:solidFill>
                            <a:schemeClr val="bg2">
                              <a:lumMod val="50000"/>
                            </a:schemeClr>
                          </a:solidFill>
                          <a:effectLst/>
                        </a:rPr>
                        <a:t>(</a:t>
                      </a:r>
                      <a:r>
                        <a:rPr lang="ko-KR" altLang="en-US" sz="1200" kern="0" spc="-90" dirty="0">
                          <a:solidFill>
                            <a:schemeClr val="bg2">
                              <a:lumMod val="50000"/>
                            </a:schemeClr>
                          </a:solidFill>
                          <a:effectLst/>
                        </a:rPr>
                        <a:t>우선기간</a:t>
                      </a:r>
                      <a:r>
                        <a:rPr lang="en-US" altLang="ko-KR" sz="1200" kern="0" spc="-70" dirty="0">
                          <a:solidFill>
                            <a:schemeClr val="bg2">
                              <a:lumMod val="50000"/>
                            </a:schemeClr>
                          </a:solidFill>
                          <a:effectLst/>
                        </a:rPr>
                        <a:t>(1</a:t>
                      </a:r>
                      <a:r>
                        <a:rPr lang="ko-KR" altLang="en-US" sz="1200" kern="0" spc="-90" dirty="0">
                          <a:solidFill>
                            <a:schemeClr val="bg2">
                              <a:lumMod val="50000"/>
                            </a:schemeClr>
                          </a:solidFill>
                          <a:effectLst/>
                        </a:rPr>
                        <a:t>년</a:t>
                      </a:r>
                      <a:r>
                        <a:rPr lang="en-US" altLang="ko-KR" sz="1200" kern="0" spc="-70" dirty="0">
                          <a:solidFill>
                            <a:schemeClr val="bg2">
                              <a:lumMod val="50000"/>
                            </a:schemeClr>
                          </a:solidFill>
                          <a:effectLst/>
                        </a:rPr>
                        <a:t>) - </a:t>
                      </a:r>
                      <a:r>
                        <a:rPr lang="ko-KR" altLang="en-US" sz="1200" kern="0" spc="-90" dirty="0">
                          <a:solidFill>
                            <a:schemeClr val="bg2">
                              <a:lumMod val="50000"/>
                            </a:schemeClr>
                          </a:solidFill>
                          <a:effectLst/>
                        </a:rPr>
                        <a:t>소급효 </a:t>
                      </a:r>
                      <a:r>
                        <a:rPr lang="ko-KR" altLang="en-US" sz="1200" kern="0" spc="-50" dirty="0">
                          <a:solidFill>
                            <a:schemeClr val="bg2">
                              <a:lumMod val="50000"/>
                            </a:schemeClr>
                          </a:solidFill>
                          <a:effectLst/>
                        </a:rPr>
                        <a:t>○</a:t>
                      </a:r>
                      <a:r>
                        <a:rPr lang="en-US" altLang="ko-KR" sz="1200" kern="0" spc="-70" dirty="0">
                          <a:solidFill>
                            <a:schemeClr val="bg2">
                              <a:lumMod val="50000"/>
                            </a:schemeClr>
                          </a:solidFill>
                          <a:effectLst/>
                        </a:rPr>
                        <a:t>, </a:t>
                      </a:r>
                      <a:r>
                        <a:rPr lang="ko-KR" altLang="en-US" sz="1200" kern="0" spc="-90" dirty="0">
                          <a:solidFill>
                            <a:schemeClr val="bg2">
                              <a:lumMod val="50000"/>
                            </a:schemeClr>
                          </a:solidFill>
                          <a:effectLst/>
                        </a:rPr>
                        <a:t>취지 </a:t>
                      </a:r>
                      <a:r>
                        <a:rPr lang="en-US" altLang="ko-KR" sz="1200" kern="0" spc="-70" dirty="0">
                          <a:solidFill>
                            <a:schemeClr val="bg2">
                              <a:lumMod val="50000"/>
                            </a:schemeClr>
                          </a:solidFill>
                          <a:effectLst/>
                        </a:rPr>
                        <a:t>- </a:t>
                      </a:r>
                      <a:r>
                        <a:rPr lang="ko-KR" altLang="en-US" sz="1200" kern="0" spc="-90" dirty="0">
                          <a:solidFill>
                            <a:schemeClr val="bg2">
                              <a:lumMod val="50000"/>
                            </a:schemeClr>
                          </a:solidFill>
                          <a:effectLst/>
                        </a:rPr>
                        <a:t>소급효 </a:t>
                      </a:r>
                      <a:r>
                        <a:rPr lang="en-US" altLang="ko-KR" sz="1200" kern="0" spc="-70" dirty="0">
                          <a:solidFill>
                            <a:schemeClr val="bg2">
                              <a:lumMod val="50000"/>
                            </a:schemeClr>
                          </a:solidFill>
                          <a:effectLst/>
                        </a:rPr>
                        <a:t>×)</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hMerge="1">
                  <a:txBody>
                    <a:bodyPr/>
                    <a:lstStyle/>
                    <a:p>
                      <a:pPr latinLnBrk="1"/>
                      <a:endParaRPr lang="ko-KR" altLang="en-US"/>
                    </a:p>
                  </a:txBody>
                  <a:tcPr/>
                </a:tc>
                <a:tc h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2443364015"/>
                  </a:ext>
                </a:extLst>
              </a:tr>
              <a:tr h="394387">
                <a:tc vMerge="1">
                  <a:txBody>
                    <a:bodyPr/>
                    <a:lstStyle/>
                    <a:p>
                      <a:pPr latinLnBrk="1"/>
                      <a:endParaRPr lang="ko-KR" altLang="en-US"/>
                    </a:p>
                  </a:txBody>
                  <a:tcPr/>
                </a:tc>
                <a:tc>
                  <a:txBody>
                    <a:bodyPr/>
                    <a:lstStyle/>
                    <a:p>
                      <a:pPr marL="17780" marR="17780" indent="0" algn="ctr" fontAlgn="base" latinLnBrk="1">
                        <a:lnSpc>
                          <a:spcPct val="130000"/>
                        </a:lnSpc>
                        <a:spcBef>
                          <a:spcPts val="0"/>
                        </a:spcBef>
                        <a:spcAft>
                          <a:spcPts val="0"/>
                        </a:spcAft>
                      </a:pPr>
                      <a:r>
                        <a:rPr lang="ko-KR" altLang="en-US" sz="1200" kern="0" spc="-70">
                          <a:solidFill>
                            <a:schemeClr val="bg2">
                              <a:lumMod val="50000"/>
                            </a:schemeClr>
                          </a:solidFill>
                          <a:effectLst/>
                        </a:rPr>
                        <a:t>자동주장간주</a:t>
                      </a:r>
                      <a:endParaRPr lang="ko-KR" altLang="en-US" sz="1200" kern="0" spc="-7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a:txBody>
                    <a:bodyPr/>
                    <a:lstStyle/>
                    <a:p>
                      <a:pPr marL="17780" marR="17780" indent="0" algn="ctr" fontAlgn="base" latinLnBrk="1">
                        <a:lnSpc>
                          <a:spcPct val="130000"/>
                        </a:lnSpc>
                        <a:spcBef>
                          <a:spcPts val="0"/>
                        </a:spcBef>
                        <a:spcAft>
                          <a:spcPts val="0"/>
                        </a:spcAft>
                      </a:pPr>
                      <a:r>
                        <a:rPr lang="ko-KR" altLang="en-US" sz="1200" kern="0" spc="-70" dirty="0">
                          <a:solidFill>
                            <a:schemeClr val="bg2">
                              <a:lumMod val="50000"/>
                            </a:schemeClr>
                          </a:solidFill>
                          <a:effectLst/>
                        </a:rPr>
                        <a:t>자동주장간주</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a:txBody>
                    <a:bodyPr/>
                    <a:lstStyle/>
                    <a:p>
                      <a:pPr marL="17780" marR="17780" indent="0" algn="ctr" fontAlgn="base" latinLnBrk="1">
                        <a:lnSpc>
                          <a:spcPct val="130000"/>
                        </a:lnSpc>
                        <a:spcBef>
                          <a:spcPts val="0"/>
                        </a:spcBef>
                        <a:spcAft>
                          <a:spcPts val="0"/>
                        </a:spcAft>
                      </a:pPr>
                      <a:r>
                        <a:rPr lang="ko-KR" altLang="en-US" sz="1200" kern="0" spc="-70" dirty="0">
                          <a:solidFill>
                            <a:schemeClr val="bg2">
                              <a:lumMod val="50000"/>
                            </a:schemeClr>
                          </a:solidFill>
                          <a:effectLst/>
                        </a:rPr>
                        <a:t>출원과 동시에 주장</a:t>
                      </a:r>
                      <a:endParaRPr lang="ko-KR" altLang="en-US" sz="1200" kern="0" spc="-70" dirty="0">
                        <a:solidFill>
                          <a:schemeClr val="bg2">
                            <a:lumMod val="50000"/>
                          </a:schemeClr>
                        </a:solidFill>
                        <a:effectLst/>
                        <a:latin typeface="+mn-ea"/>
                        <a:ea typeface="+mn-ea"/>
                      </a:endParaRPr>
                    </a:p>
                  </a:txBody>
                  <a:tcPr marL="72000" marR="72000" marT="20184" marB="20184" anchor="ctr">
                    <a:lnL w="12700" cap="flat" cmpd="sng" algn="ctr">
                      <a:solidFill>
                        <a:schemeClr val="bg2">
                          <a:lumMod val="75000"/>
                        </a:schemeClr>
                      </a:solidFill>
                      <a:prstDash val="solid"/>
                      <a:round/>
                      <a:headEnd type="none" w="med" len="med"/>
                      <a:tailEnd type="none" w="med" len="med"/>
                    </a:lnL>
                    <a:lnR w="12700" cap="flat" cmpd="sng" algn="ctr">
                      <a:solidFill>
                        <a:schemeClr val="bg2">
                          <a:lumMod val="75000"/>
                        </a:schemeClr>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613243806"/>
                  </a:ext>
                </a:extLst>
              </a:tr>
            </a:tbl>
          </a:graphicData>
        </a:graphic>
      </p:graphicFrame>
      <p:sp>
        <p:nvSpPr>
          <p:cNvPr id="109" name="TextBox 108">
            <a:extLst>
              <a:ext uri="{FF2B5EF4-FFF2-40B4-BE49-F238E27FC236}">
                <a16:creationId xmlns:a16="http://schemas.microsoft.com/office/drawing/2014/main" id="{DABE9BE7-2EAC-452C-9635-24CC1F87A90A}"/>
              </a:ext>
            </a:extLst>
          </p:cNvPr>
          <p:cNvSpPr txBox="1"/>
          <p:nvPr/>
        </p:nvSpPr>
        <p:spPr>
          <a:xfrm>
            <a:off x="416224" y="5846170"/>
            <a:ext cx="11263942" cy="769441"/>
          </a:xfrm>
          <a:prstGeom prst="rect">
            <a:avLst/>
          </a:prstGeom>
          <a:noFill/>
        </p:spPr>
        <p:txBody>
          <a:bodyPr wrap="square">
            <a:spAutoFit/>
          </a:bodyPr>
          <a:lstStyle/>
          <a:p>
            <a:pPr marL="88900" indent="-88900"/>
            <a:r>
              <a:rPr lang="ko-KR" altLang="en-US" sz="1100" dirty="0"/>
              <a:t>* </a:t>
            </a:r>
            <a:r>
              <a:rPr lang="en-US" altLang="ko-KR" sz="1100" dirty="0"/>
              <a:t>X </a:t>
            </a:r>
            <a:r>
              <a:rPr lang="ko-KR" altLang="en-US" sz="1100" dirty="0"/>
              <a:t>출원과 </a:t>
            </a:r>
            <a:r>
              <a:rPr lang="en-US" altLang="ko-KR" sz="1100" dirty="0"/>
              <a:t>Y </a:t>
            </a:r>
            <a:r>
              <a:rPr lang="ko-KR" altLang="en-US" sz="1100" dirty="0"/>
              <a:t>출원 사이에 분할</a:t>
            </a:r>
            <a:r>
              <a:rPr lang="en-US" altLang="ko-KR" sz="1100" dirty="0"/>
              <a:t>(</a:t>
            </a:r>
            <a:r>
              <a:rPr lang="ko-KR" altLang="en-US" sz="1100" dirty="0"/>
              <a:t>분리</a:t>
            </a:r>
            <a:r>
              <a:rPr lang="en-US" altLang="ko-KR" sz="1100" dirty="0"/>
              <a:t>, </a:t>
            </a:r>
            <a:r>
              <a:rPr lang="ko-KR" altLang="en-US" sz="1100" dirty="0"/>
              <a:t>변경</a:t>
            </a:r>
            <a:r>
              <a:rPr lang="en-US" altLang="ko-KR" sz="1100" dirty="0"/>
              <a:t>)</a:t>
            </a:r>
            <a:r>
              <a:rPr lang="ko-KR" altLang="en-US" sz="1100" dirty="0"/>
              <a:t>출원의 요건을 만족하고 </a:t>
            </a:r>
            <a:r>
              <a:rPr lang="en-US" altLang="ko-KR" sz="1100" dirty="0"/>
              <a:t>Y </a:t>
            </a:r>
            <a:r>
              <a:rPr lang="ko-KR" altLang="en-US" sz="1100" dirty="0"/>
              <a:t>출원과 </a:t>
            </a:r>
            <a:r>
              <a:rPr lang="en-US" altLang="ko-KR" sz="1100" dirty="0"/>
              <a:t>Z </a:t>
            </a:r>
            <a:r>
              <a:rPr lang="ko-KR" altLang="en-US" sz="1100" dirty="0"/>
              <a:t>출원 사이에 분할</a:t>
            </a:r>
            <a:r>
              <a:rPr lang="en-US" altLang="ko-KR" sz="1100" dirty="0"/>
              <a:t>(</a:t>
            </a:r>
            <a:r>
              <a:rPr lang="ko-KR" altLang="en-US" sz="1100" dirty="0"/>
              <a:t>분리</a:t>
            </a:r>
            <a:r>
              <a:rPr lang="en-US" altLang="ko-KR" sz="1100" dirty="0"/>
              <a:t>, </a:t>
            </a:r>
            <a:r>
              <a:rPr lang="ko-KR" altLang="en-US" sz="1100" dirty="0"/>
              <a:t>변경</a:t>
            </a:r>
            <a:r>
              <a:rPr lang="en-US" altLang="ko-KR" sz="1100" dirty="0"/>
              <a:t>)</a:t>
            </a:r>
            <a:r>
              <a:rPr lang="ko-KR" altLang="en-US" sz="1100" dirty="0"/>
              <a:t>출원의 요건을 만족하며</a:t>
            </a:r>
            <a:r>
              <a:rPr lang="en-US" altLang="ko-KR" sz="1100" dirty="0"/>
              <a:t>, Z </a:t>
            </a:r>
            <a:r>
              <a:rPr lang="ko-KR" altLang="en-US" sz="1100" dirty="0"/>
              <a:t>출원의 명세서 또는 도면에 기재된 발명이 </a:t>
            </a:r>
            <a:r>
              <a:rPr lang="en-US" altLang="ko-KR" sz="1100" dirty="0"/>
              <a:t>X </a:t>
            </a:r>
            <a:r>
              <a:rPr lang="ko-KR" altLang="en-US" sz="1100" dirty="0"/>
              <a:t>출원의 최초 명세서 또는 도면에 기재된 </a:t>
            </a:r>
            <a:r>
              <a:rPr lang="ko-KR" altLang="en-US" sz="1100" dirty="0" err="1"/>
              <a:t>범위이내이면</a:t>
            </a:r>
            <a:r>
              <a:rPr lang="en-US" altLang="ko-KR" sz="1100" dirty="0"/>
              <a:t>, Z </a:t>
            </a:r>
            <a:r>
              <a:rPr lang="ko-KR" altLang="en-US" sz="1100" dirty="0"/>
              <a:t>출원이 </a:t>
            </a:r>
            <a:r>
              <a:rPr lang="en-US" altLang="ko-KR" sz="1100" dirty="0"/>
              <a:t>X </a:t>
            </a:r>
            <a:r>
              <a:rPr lang="ko-KR" altLang="en-US" sz="1100" dirty="0"/>
              <a:t>출원의 출원일로 소급</a:t>
            </a:r>
          </a:p>
          <a:p>
            <a:pPr marL="180975" indent="-180975"/>
            <a:r>
              <a:rPr lang="ko-KR" altLang="en-US" sz="1100" dirty="0"/>
              <a:t>** 다만</a:t>
            </a:r>
            <a:r>
              <a:rPr lang="en-US" altLang="ko-KR" sz="1100" dirty="0"/>
              <a:t>, Z </a:t>
            </a:r>
            <a:r>
              <a:rPr lang="ko-KR" altLang="en-US" sz="1100" dirty="0"/>
              <a:t>출원에 포함된 발명 중 </a:t>
            </a:r>
            <a:r>
              <a:rPr lang="en-US" altLang="ko-KR" sz="1100" dirty="0"/>
              <a:t>X </a:t>
            </a:r>
            <a:r>
              <a:rPr lang="ko-KR" altLang="en-US" sz="1100" dirty="0"/>
              <a:t>출원에 기재되어 있지 않지만</a:t>
            </a:r>
            <a:r>
              <a:rPr lang="en-US" altLang="ko-KR" sz="1100" dirty="0"/>
              <a:t>, Y </a:t>
            </a:r>
            <a:r>
              <a:rPr lang="ko-KR" altLang="en-US" sz="1100" dirty="0"/>
              <a:t>출원에 새로이 추가된 발명이 있는 경우에는 그 추가된 발명은 최선성이 있기 때문에 우선권주장을 </a:t>
            </a:r>
            <a:r>
              <a:rPr lang="ko-KR" altLang="en-US" sz="1100" dirty="0" err="1"/>
              <a:t>무효처분하는</a:t>
            </a:r>
            <a:r>
              <a:rPr lang="ko-KR" altLang="en-US" sz="1100" dirty="0"/>
              <a:t> 것이 아니라  그 추가된 발명에 대해서만 우선권 주장의 효과를 인정</a:t>
            </a:r>
            <a:r>
              <a:rPr lang="en-US" altLang="ko-KR" sz="1100" dirty="0"/>
              <a:t>(2004</a:t>
            </a:r>
            <a:r>
              <a:rPr lang="ko-KR" altLang="en-US" sz="1100" dirty="0"/>
              <a:t>허</a:t>
            </a:r>
            <a:r>
              <a:rPr lang="en-US" altLang="ko-KR" sz="1100" dirty="0"/>
              <a:t>8749). </a:t>
            </a:r>
            <a:endParaRPr lang="ko-KR" altLang="en-US" sz="1100" dirty="0"/>
          </a:p>
        </p:txBody>
      </p:sp>
    </p:spTree>
    <p:extLst>
      <p:ext uri="{BB962C8B-B14F-4D97-AF65-F5344CB8AC3E}">
        <p14:creationId xmlns:p14="http://schemas.microsoft.com/office/powerpoint/2010/main" val="2507067231"/>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이익제도 체계</a:t>
            </a:r>
            <a:r>
              <a:rPr lang="en-US" altLang="ko-KR"/>
              <a:t>: </a:t>
            </a:r>
            <a:r>
              <a:rPr lang="ko-KR" altLang="en-US"/>
              <a:t>제</a:t>
            </a:r>
            <a:r>
              <a:rPr lang="en-US" altLang="ko-KR"/>
              <a:t>2</a:t>
            </a:r>
            <a:r>
              <a:rPr lang="ko-KR" altLang="en-US"/>
              <a:t>장</a:t>
            </a:r>
            <a:endParaRPr lang="ko-KR" altLang="en-US" dirty="0"/>
          </a:p>
        </p:txBody>
      </p:sp>
      <p:sp>
        <p:nvSpPr>
          <p:cNvPr id="31" name="직사각형 30"/>
          <p:cNvSpPr/>
          <p:nvPr/>
        </p:nvSpPr>
        <p:spPr>
          <a:xfrm>
            <a:off x="1801401" y="1267290"/>
            <a:ext cx="970795" cy="940625"/>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2400" dirty="0"/>
              <a:t>이익</a:t>
            </a:r>
            <a:endParaRPr lang="en-US" altLang="ko-KR" sz="2400" dirty="0"/>
          </a:p>
          <a:p>
            <a:pPr algn="ctr"/>
            <a:r>
              <a:rPr lang="ko-KR" altLang="en-US" sz="2400"/>
              <a:t>제도</a:t>
            </a:r>
          </a:p>
        </p:txBody>
      </p:sp>
      <p:sp>
        <p:nvSpPr>
          <p:cNvPr id="32" name="직사각형 31"/>
          <p:cNvSpPr/>
          <p:nvPr/>
        </p:nvSpPr>
        <p:spPr>
          <a:xfrm>
            <a:off x="6084565" y="2351931"/>
            <a:ext cx="4878710" cy="379904"/>
          </a:xfrm>
          <a:prstGeom prst="rect">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공지예외적용주장출원</a:t>
            </a:r>
            <a:r>
              <a:rPr lang="en-US" altLang="ko-KR" sz="1400" dirty="0">
                <a:solidFill>
                  <a:schemeClr val="tx1"/>
                </a:solidFill>
              </a:rPr>
              <a:t>(</a:t>
            </a:r>
            <a:r>
              <a:rPr lang="ko-KR" altLang="en-US" sz="1400" dirty="0">
                <a:solidFill>
                  <a:schemeClr val="tx1"/>
                </a:solidFill>
              </a:rPr>
              <a:t>法 </a:t>
            </a:r>
            <a:r>
              <a:rPr lang="en-US" altLang="ko-KR" sz="1400" dirty="0">
                <a:solidFill>
                  <a:schemeClr val="tx1"/>
                </a:solidFill>
              </a:rPr>
              <a:t>30)</a:t>
            </a:r>
            <a:endParaRPr lang="ko-KR" altLang="en-US" sz="1400" dirty="0">
              <a:solidFill>
                <a:schemeClr val="tx1"/>
              </a:solidFill>
            </a:endParaRPr>
          </a:p>
        </p:txBody>
      </p:sp>
      <p:sp>
        <p:nvSpPr>
          <p:cNvPr id="33" name="직사각형 32"/>
          <p:cNvSpPr/>
          <p:nvPr/>
        </p:nvSpPr>
        <p:spPr>
          <a:xfrm>
            <a:off x="6084565" y="3048422"/>
            <a:ext cx="4878710" cy="379904"/>
          </a:xfrm>
          <a:prstGeom prst="rect">
            <a:avLst/>
          </a:prstGeom>
          <a:solidFill>
            <a:schemeClr val="accent2">
              <a:lumMod val="20000"/>
              <a:lumOff val="8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400" dirty="0">
                <a:solidFill>
                  <a:schemeClr val="tx1"/>
                </a:solidFill>
              </a:rPr>
              <a:t>정당한 권리자의 보호</a:t>
            </a:r>
            <a:r>
              <a:rPr lang="en-US" altLang="ko-KR" sz="1400" dirty="0">
                <a:solidFill>
                  <a:schemeClr val="tx1"/>
                </a:solidFill>
              </a:rPr>
              <a:t>(</a:t>
            </a:r>
            <a:r>
              <a:rPr lang="ko-KR" altLang="en-US" sz="1400" dirty="0">
                <a:solidFill>
                  <a:schemeClr val="tx1"/>
                </a:solidFill>
              </a:rPr>
              <a:t>法 </a:t>
            </a:r>
            <a:r>
              <a:rPr lang="en-US" altLang="ko-KR" sz="1400" dirty="0">
                <a:solidFill>
                  <a:schemeClr val="tx1"/>
                </a:solidFill>
              </a:rPr>
              <a:t>34, 35, 99</a:t>
            </a:r>
            <a:r>
              <a:rPr lang="ko-KR" altLang="en-US" sz="1400" dirty="0">
                <a:solidFill>
                  <a:schemeClr val="tx1"/>
                </a:solidFill>
              </a:rPr>
              <a:t>의</a:t>
            </a:r>
            <a:r>
              <a:rPr lang="en-US" altLang="ko-KR" sz="1400" dirty="0">
                <a:solidFill>
                  <a:schemeClr val="tx1"/>
                </a:solidFill>
              </a:rPr>
              <a:t>2)</a:t>
            </a:r>
            <a:endParaRPr lang="ko-KR" altLang="en-US" sz="1400" dirty="0">
              <a:solidFill>
                <a:schemeClr val="tx1"/>
              </a:solidFill>
            </a:endParaRPr>
          </a:p>
        </p:txBody>
      </p:sp>
      <p:sp>
        <p:nvSpPr>
          <p:cNvPr id="34" name="직사각형 33"/>
          <p:cNvSpPr/>
          <p:nvPr/>
        </p:nvSpPr>
        <p:spPr>
          <a:xfrm>
            <a:off x="6084565" y="3554961"/>
            <a:ext cx="4878710" cy="379904"/>
          </a:xfrm>
          <a:prstGeom prst="rect">
            <a:avLst/>
          </a:prstGeom>
          <a:solidFill>
            <a:schemeClr val="accent2">
              <a:lumMod val="20000"/>
              <a:lumOff val="8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400" dirty="0">
                <a:solidFill>
                  <a:schemeClr val="tx1"/>
                </a:solidFill>
              </a:rPr>
              <a:t>보정</a:t>
            </a:r>
            <a:r>
              <a:rPr lang="en-US" altLang="ko-KR" sz="1400" dirty="0">
                <a:solidFill>
                  <a:schemeClr val="tx1"/>
                </a:solidFill>
              </a:rPr>
              <a:t>(</a:t>
            </a:r>
            <a:r>
              <a:rPr lang="ko-KR" altLang="en-US" sz="1400" dirty="0">
                <a:solidFill>
                  <a:schemeClr val="tx1"/>
                </a:solidFill>
              </a:rPr>
              <a:t>法 </a:t>
            </a:r>
            <a:r>
              <a:rPr lang="en-US" altLang="ko-KR" sz="1400" dirty="0">
                <a:solidFill>
                  <a:schemeClr val="tx1"/>
                </a:solidFill>
              </a:rPr>
              <a:t>46, 47, 51)</a:t>
            </a:r>
            <a:endParaRPr lang="ko-KR" altLang="en-US" sz="1400" dirty="0">
              <a:solidFill>
                <a:schemeClr val="tx1"/>
              </a:solidFill>
            </a:endParaRPr>
          </a:p>
        </p:txBody>
      </p:sp>
      <p:sp>
        <p:nvSpPr>
          <p:cNvPr id="35" name="직사각형 34"/>
          <p:cNvSpPr/>
          <p:nvPr/>
        </p:nvSpPr>
        <p:spPr>
          <a:xfrm>
            <a:off x="6084565" y="4061500"/>
            <a:ext cx="4878710" cy="379904"/>
          </a:xfrm>
          <a:prstGeom prst="rect">
            <a:avLst/>
          </a:prstGeom>
          <a:solidFill>
            <a:schemeClr val="accent2">
              <a:lumMod val="20000"/>
              <a:lumOff val="8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400" dirty="0" err="1">
                <a:solidFill>
                  <a:schemeClr val="tx1"/>
                </a:solidFill>
              </a:rPr>
              <a:t>분할출원</a:t>
            </a:r>
            <a:r>
              <a:rPr lang="en-US" altLang="ko-KR" sz="1400" dirty="0">
                <a:solidFill>
                  <a:schemeClr val="tx1"/>
                </a:solidFill>
              </a:rPr>
              <a:t>(</a:t>
            </a:r>
            <a:r>
              <a:rPr lang="ko-KR" altLang="en-US" sz="1400" dirty="0">
                <a:solidFill>
                  <a:schemeClr val="tx1"/>
                </a:solidFill>
              </a:rPr>
              <a:t>法 </a:t>
            </a:r>
            <a:r>
              <a:rPr lang="en-US" altLang="ko-KR" sz="1400" dirty="0">
                <a:solidFill>
                  <a:schemeClr val="tx1"/>
                </a:solidFill>
              </a:rPr>
              <a:t>52)</a:t>
            </a:r>
            <a:endParaRPr lang="ko-KR" altLang="en-US" sz="1400" dirty="0">
              <a:solidFill>
                <a:schemeClr val="tx1"/>
              </a:solidFill>
            </a:endParaRPr>
          </a:p>
        </p:txBody>
      </p:sp>
      <p:sp>
        <p:nvSpPr>
          <p:cNvPr id="36" name="직사각형 35"/>
          <p:cNvSpPr/>
          <p:nvPr/>
        </p:nvSpPr>
        <p:spPr>
          <a:xfrm>
            <a:off x="6084565" y="4983676"/>
            <a:ext cx="4878710" cy="379904"/>
          </a:xfrm>
          <a:prstGeom prst="rect">
            <a:avLst/>
          </a:prstGeom>
          <a:solidFill>
            <a:schemeClr val="accent2">
              <a:lumMod val="20000"/>
              <a:lumOff val="8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400" dirty="0" err="1">
                <a:solidFill>
                  <a:schemeClr val="tx1"/>
                </a:solidFill>
              </a:rPr>
              <a:t>변경출원</a:t>
            </a:r>
            <a:r>
              <a:rPr lang="en-US" altLang="ko-KR" sz="1400" dirty="0">
                <a:solidFill>
                  <a:schemeClr val="tx1"/>
                </a:solidFill>
              </a:rPr>
              <a:t>(</a:t>
            </a:r>
            <a:r>
              <a:rPr lang="ko-KR" altLang="en-US" sz="1400" dirty="0">
                <a:solidFill>
                  <a:schemeClr val="tx1"/>
                </a:solidFill>
              </a:rPr>
              <a:t>法 </a:t>
            </a:r>
            <a:r>
              <a:rPr lang="en-US" altLang="ko-KR" sz="1400" dirty="0">
                <a:solidFill>
                  <a:schemeClr val="tx1"/>
                </a:solidFill>
              </a:rPr>
              <a:t>53)</a:t>
            </a:r>
            <a:endParaRPr lang="ko-KR" altLang="en-US" sz="1400" dirty="0">
              <a:solidFill>
                <a:schemeClr val="tx1"/>
              </a:solidFill>
            </a:endParaRPr>
          </a:p>
        </p:txBody>
      </p:sp>
      <p:sp>
        <p:nvSpPr>
          <p:cNvPr id="37" name="직사각형 36"/>
          <p:cNvSpPr/>
          <p:nvPr/>
        </p:nvSpPr>
        <p:spPr>
          <a:xfrm>
            <a:off x="6084565" y="5516585"/>
            <a:ext cx="4878710" cy="379904"/>
          </a:xfrm>
          <a:prstGeom prst="rect">
            <a:avLst/>
          </a:prstGeom>
          <a:solidFill>
            <a:schemeClr val="accent3">
              <a:lumMod val="20000"/>
              <a:lumOff val="80000"/>
            </a:schemeClr>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solidFill>
                  <a:schemeClr val="tx1"/>
                </a:solidFill>
              </a:rPr>
              <a:t>조약우선권주장출원</a:t>
            </a:r>
            <a:r>
              <a:rPr lang="en-US" altLang="ko-KR" sz="1400" dirty="0">
                <a:solidFill>
                  <a:schemeClr val="tx1"/>
                </a:solidFill>
              </a:rPr>
              <a:t>(</a:t>
            </a:r>
            <a:r>
              <a:rPr lang="ko-KR" altLang="en-US" sz="1400" dirty="0">
                <a:solidFill>
                  <a:schemeClr val="tx1"/>
                </a:solidFill>
              </a:rPr>
              <a:t>法 </a:t>
            </a:r>
            <a:r>
              <a:rPr lang="en-US" altLang="ko-KR" sz="1400" dirty="0">
                <a:solidFill>
                  <a:schemeClr val="tx1"/>
                </a:solidFill>
              </a:rPr>
              <a:t>54)</a:t>
            </a:r>
            <a:endParaRPr lang="ko-KR" altLang="en-US" sz="1400" dirty="0">
              <a:solidFill>
                <a:schemeClr val="tx1"/>
              </a:solidFill>
            </a:endParaRPr>
          </a:p>
        </p:txBody>
      </p:sp>
      <p:sp>
        <p:nvSpPr>
          <p:cNvPr id="38" name="직사각형 37"/>
          <p:cNvSpPr/>
          <p:nvPr/>
        </p:nvSpPr>
        <p:spPr>
          <a:xfrm>
            <a:off x="6084565" y="6023124"/>
            <a:ext cx="4878710" cy="379904"/>
          </a:xfrm>
          <a:prstGeom prst="rect">
            <a:avLst/>
          </a:prstGeom>
          <a:solidFill>
            <a:schemeClr val="accent3">
              <a:lumMod val="20000"/>
              <a:lumOff val="80000"/>
            </a:schemeClr>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solidFill>
                  <a:schemeClr val="tx1"/>
                </a:solidFill>
              </a:rPr>
              <a:t>국내우선권주장출원</a:t>
            </a:r>
            <a:r>
              <a:rPr lang="en-US" altLang="ko-KR" sz="1400" dirty="0">
                <a:solidFill>
                  <a:schemeClr val="tx1"/>
                </a:solidFill>
              </a:rPr>
              <a:t>(</a:t>
            </a:r>
            <a:r>
              <a:rPr lang="ko-KR" altLang="en-US" sz="1400" dirty="0">
                <a:solidFill>
                  <a:schemeClr val="tx1"/>
                </a:solidFill>
              </a:rPr>
              <a:t>法 </a:t>
            </a:r>
            <a:r>
              <a:rPr lang="en-US" altLang="ko-KR" sz="1400" dirty="0">
                <a:solidFill>
                  <a:schemeClr val="tx1"/>
                </a:solidFill>
              </a:rPr>
              <a:t>55, 56)</a:t>
            </a:r>
            <a:endParaRPr lang="ko-KR" altLang="en-US" sz="1400" dirty="0">
              <a:solidFill>
                <a:schemeClr val="tx1"/>
              </a:solidFill>
            </a:endParaRPr>
          </a:p>
        </p:txBody>
      </p:sp>
      <p:sp>
        <p:nvSpPr>
          <p:cNvPr id="39" name="직사각형 38"/>
          <p:cNvSpPr/>
          <p:nvPr/>
        </p:nvSpPr>
        <p:spPr>
          <a:xfrm>
            <a:off x="3204245" y="3498743"/>
            <a:ext cx="1385106" cy="82312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400" dirty="0"/>
              <a:t>출원일</a:t>
            </a:r>
            <a:endParaRPr lang="en-US" altLang="ko-KR" sz="1400" dirty="0"/>
          </a:p>
          <a:p>
            <a:pPr algn="ctr"/>
            <a:r>
              <a:rPr lang="ko-KR" altLang="en-US" sz="1400" dirty="0"/>
              <a:t>소급제도</a:t>
            </a:r>
          </a:p>
        </p:txBody>
      </p:sp>
      <p:sp>
        <p:nvSpPr>
          <p:cNvPr id="40" name="직사각형 39"/>
          <p:cNvSpPr/>
          <p:nvPr/>
        </p:nvSpPr>
        <p:spPr>
          <a:xfrm>
            <a:off x="3204245" y="5579902"/>
            <a:ext cx="1385106" cy="823126"/>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판단시점</a:t>
            </a:r>
            <a:endParaRPr lang="en-US" altLang="ko-KR" sz="1400" dirty="0"/>
          </a:p>
          <a:p>
            <a:pPr algn="ctr"/>
            <a:r>
              <a:rPr lang="ko-KR" altLang="en-US" sz="1400"/>
              <a:t>소급제도</a:t>
            </a:r>
            <a:endParaRPr lang="ko-KR" altLang="en-US" sz="1400" dirty="0"/>
          </a:p>
        </p:txBody>
      </p:sp>
      <p:cxnSp>
        <p:nvCxnSpPr>
          <p:cNvPr id="41" name="꺾인 연결선 40"/>
          <p:cNvCxnSpPr>
            <a:stCxn id="31" idx="2"/>
            <a:endCxn id="32" idx="1"/>
          </p:cNvCxnSpPr>
          <p:nvPr/>
        </p:nvCxnSpPr>
        <p:spPr>
          <a:xfrm rot="16200000" flipH="1">
            <a:off x="4018698" y="476016"/>
            <a:ext cx="333968" cy="3797766"/>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31" idx="2"/>
            <a:endCxn id="40" idx="1"/>
          </p:cNvCxnSpPr>
          <p:nvPr/>
        </p:nvCxnSpPr>
        <p:spPr>
          <a:xfrm rot="16200000" flipH="1">
            <a:off x="853747" y="3640967"/>
            <a:ext cx="3783550" cy="917446"/>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31" idx="2"/>
            <a:endCxn id="39" idx="1"/>
          </p:cNvCxnSpPr>
          <p:nvPr/>
        </p:nvCxnSpPr>
        <p:spPr>
          <a:xfrm rot="16200000" flipH="1">
            <a:off x="1894327" y="2600387"/>
            <a:ext cx="1702391" cy="917446"/>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39" idx="3"/>
            <a:endCxn id="33" idx="1"/>
          </p:cNvCxnSpPr>
          <p:nvPr/>
        </p:nvCxnSpPr>
        <p:spPr>
          <a:xfrm flipV="1">
            <a:off x="4589351" y="3238374"/>
            <a:ext cx="1495214" cy="67193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39" idx="3"/>
            <a:endCxn id="36" idx="1"/>
          </p:cNvCxnSpPr>
          <p:nvPr/>
        </p:nvCxnSpPr>
        <p:spPr>
          <a:xfrm>
            <a:off x="4589351" y="3910306"/>
            <a:ext cx="1495214" cy="126332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39" idx="3"/>
            <a:endCxn id="34" idx="1"/>
          </p:cNvCxnSpPr>
          <p:nvPr/>
        </p:nvCxnSpPr>
        <p:spPr>
          <a:xfrm flipV="1">
            <a:off x="4589351" y="3744913"/>
            <a:ext cx="1495214" cy="16539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39" idx="3"/>
            <a:endCxn id="35" idx="1"/>
          </p:cNvCxnSpPr>
          <p:nvPr/>
        </p:nvCxnSpPr>
        <p:spPr>
          <a:xfrm>
            <a:off x="4589351" y="3910306"/>
            <a:ext cx="1495214" cy="34114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40" idx="3"/>
            <a:endCxn id="37" idx="1"/>
          </p:cNvCxnSpPr>
          <p:nvPr/>
        </p:nvCxnSpPr>
        <p:spPr>
          <a:xfrm flipV="1">
            <a:off x="4589351" y="5706537"/>
            <a:ext cx="1495214" cy="2849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꺾인 연결선 48"/>
          <p:cNvCxnSpPr>
            <a:stCxn id="40" idx="3"/>
            <a:endCxn id="38" idx="1"/>
          </p:cNvCxnSpPr>
          <p:nvPr/>
        </p:nvCxnSpPr>
        <p:spPr>
          <a:xfrm>
            <a:off x="4589351" y="5991465"/>
            <a:ext cx="1495214" cy="2216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241</a:t>
            </a:r>
            <a:endParaRPr lang="ko-KR" altLang="en-US"/>
          </a:p>
        </p:txBody>
      </p:sp>
      <p:sp>
        <p:nvSpPr>
          <p:cNvPr id="25" name="직사각형 24">
            <a:extLst>
              <a:ext uri="{FF2B5EF4-FFF2-40B4-BE49-F238E27FC236}">
                <a16:creationId xmlns:a16="http://schemas.microsoft.com/office/drawing/2014/main" id="{6AA04365-4156-45F1-AD14-0349733CE80A}"/>
              </a:ext>
            </a:extLst>
          </p:cNvPr>
          <p:cNvSpPr/>
          <p:nvPr/>
        </p:nvSpPr>
        <p:spPr>
          <a:xfrm>
            <a:off x="6084565" y="4536380"/>
            <a:ext cx="4878710" cy="379904"/>
          </a:xfrm>
          <a:prstGeom prst="rect">
            <a:avLst/>
          </a:prstGeom>
          <a:solidFill>
            <a:schemeClr val="accent2">
              <a:lumMod val="20000"/>
              <a:lumOff val="8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400" dirty="0">
                <a:solidFill>
                  <a:schemeClr val="tx1"/>
                </a:solidFill>
              </a:rPr>
              <a:t>분리출원</a:t>
            </a:r>
            <a:r>
              <a:rPr lang="en-US" altLang="ko-KR" sz="1400" dirty="0">
                <a:solidFill>
                  <a:schemeClr val="tx1"/>
                </a:solidFill>
              </a:rPr>
              <a:t>(</a:t>
            </a:r>
            <a:r>
              <a:rPr lang="ko-KR" altLang="en-US" sz="1400" dirty="0">
                <a:solidFill>
                  <a:schemeClr val="tx1"/>
                </a:solidFill>
              </a:rPr>
              <a:t>法 </a:t>
            </a:r>
            <a:r>
              <a:rPr lang="en-US" altLang="ko-KR" sz="1400" dirty="0">
                <a:solidFill>
                  <a:schemeClr val="tx1"/>
                </a:solidFill>
              </a:rPr>
              <a:t>52</a:t>
            </a:r>
            <a:r>
              <a:rPr lang="ko-KR" altLang="en-US" sz="1400" dirty="0">
                <a:solidFill>
                  <a:schemeClr val="tx1"/>
                </a:solidFill>
              </a:rPr>
              <a:t>의</a:t>
            </a:r>
            <a:r>
              <a:rPr lang="en-US" altLang="ko-KR" sz="1400" dirty="0">
                <a:solidFill>
                  <a:schemeClr val="tx1"/>
                </a:solidFill>
              </a:rPr>
              <a:t>2)</a:t>
            </a:r>
            <a:endParaRPr lang="ko-KR" altLang="en-US" sz="1400" dirty="0">
              <a:solidFill>
                <a:schemeClr val="tx1"/>
              </a:solidFill>
            </a:endParaRPr>
          </a:p>
        </p:txBody>
      </p:sp>
      <p:cxnSp>
        <p:nvCxnSpPr>
          <p:cNvPr id="26" name="꺾인 연결선 44">
            <a:extLst>
              <a:ext uri="{FF2B5EF4-FFF2-40B4-BE49-F238E27FC236}">
                <a16:creationId xmlns:a16="http://schemas.microsoft.com/office/drawing/2014/main" id="{74522B3E-A8D1-4060-8AD9-4E13884E5E78}"/>
              </a:ext>
            </a:extLst>
          </p:cNvPr>
          <p:cNvCxnSpPr>
            <a:cxnSpLocks/>
            <a:stCxn id="39" idx="3"/>
            <a:endCxn id="25" idx="1"/>
          </p:cNvCxnSpPr>
          <p:nvPr/>
        </p:nvCxnSpPr>
        <p:spPr>
          <a:xfrm>
            <a:off x="4589351" y="3910306"/>
            <a:ext cx="1495214" cy="81602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9670941"/>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err="1"/>
              <a:t>이익제도</a:t>
            </a:r>
            <a:r>
              <a:rPr lang="ko-KR" altLang="en-US" dirty="0"/>
              <a:t> 정리</a:t>
            </a:r>
          </a:p>
        </p:txBody>
      </p:sp>
      <p:graphicFrame>
        <p:nvGraphicFramePr>
          <p:cNvPr id="5" name="표 4"/>
          <p:cNvGraphicFramePr>
            <a:graphicFrameLocks noGrp="1"/>
          </p:cNvGraphicFramePr>
          <p:nvPr/>
        </p:nvGraphicFramePr>
        <p:xfrm>
          <a:off x="114299" y="1009047"/>
          <a:ext cx="11915776" cy="5728212"/>
        </p:xfrm>
        <a:graphic>
          <a:graphicData uri="http://schemas.openxmlformats.org/drawingml/2006/table">
            <a:tbl>
              <a:tblPr>
                <a:tableStyleId>{8799B23B-EC83-4686-B30A-512413B5E67A}</a:tableStyleId>
              </a:tblPr>
              <a:tblGrid>
                <a:gridCol w="480391">
                  <a:extLst>
                    <a:ext uri="{9D8B030D-6E8A-4147-A177-3AD203B41FA5}">
                      <a16:colId xmlns:a16="http://schemas.microsoft.com/office/drawing/2014/main" val="1214876107"/>
                    </a:ext>
                  </a:extLst>
                </a:gridCol>
                <a:gridCol w="409533">
                  <a:extLst>
                    <a:ext uri="{9D8B030D-6E8A-4147-A177-3AD203B41FA5}">
                      <a16:colId xmlns:a16="http://schemas.microsoft.com/office/drawing/2014/main" val="503493295"/>
                    </a:ext>
                  </a:extLst>
                </a:gridCol>
                <a:gridCol w="1960030">
                  <a:extLst>
                    <a:ext uri="{9D8B030D-6E8A-4147-A177-3AD203B41FA5}">
                      <a16:colId xmlns:a16="http://schemas.microsoft.com/office/drawing/2014/main" val="1247649556"/>
                    </a:ext>
                  </a:extLst>
                </a:gridCol>
                <a:gridCol w="2355089">
                  <a:extLst>
                    <a:ext uri="{9D8B030D-6E8A-4147-A177-3AD203B41FA5}">
                      <a16:colId xmlns:a16="http://schemas.microsoft.com/office/drawing/2014/main" val="2529376712"/>
                    </a:ext>
                  </a:extLst>
                </a:gridCol>
                <a:gridCol w="2236911">
                  <a:extLst>
                    <a:ext uri="{9D8B030D-6E8A-4147-A177-3AD203B41FA5}">
                      <a16:colId xmlns:a16="http://schemas.microsoft.com/office/drawing/2014/main" val="2874547347"/>
                    </a:ext>
                  </a:extLst>
                </a:gridCol>
                <a:gridCol w="2236911">
                  <a:extLst>
                    <a:ext uri="{9D8B030D-6E8A-4147-A177-3AD203B41FA5}">
                      <a16:colId xmlns:a16="http://schemas.microsoft.com/office/drawing/2014/main" val="3069846259"/>
                    </a:ext>
                  </a:extLst>
                </a:gridCol>
                <a:gridCol w="2236911">
                  <a:extLst>
                    <a:ext uri="{9D8B030D-6E8A-4147-A177-3AD203B41FA5}">
                      <a16:colId xmlns:a16="http://schemas.microsoft.com/office/drawing/2014/main" val="1461646051"/>
                    </a:ext>
                  </a:extLst>
                </a:gridCol>
              </a:tblGrid>
              <a:tr h="107211">
                <a:tc gridSpan="2">
                  <a:txBody>
                    <a:bodyPr/>
                    <a:lstStyle/>
                    <a:p>
                      <a:pPr marL="0" marR="0" indent="0" algn="ctr" fontAlgn="base" latinLnBrk="0">
                        <a:lnSpc>
                          <a:spcPct val="100000"/>
                        </a:lnSpc>
                        <a:spcBef>
                          <a:spcPts val="0"/>
                        </a:spcBef>
                        <a:spcAft>
                          <a:spcPts val="0"/>
                        </a:spcAft>
                      </a:pPr>
                      <a:r>
                        <a:rPr lang="ko-KR" altLang="en-US" sz="900" kern="1200" dirty="0">
                          <a:solidFill>
                            <a:schemeClr val="tx1"/>
                          </a:solidFill>
                          <a:latin typeface="+mn-lt"/>
                          <a:ea typeface="+mn-ea"/>
                          <a:cs typeface="+mn-cs"/>
                        </a:rPr>
                        <a:t>제 도　</a:t>
                      </a:r>
                    </a:p>
                  </a:txBody>
                  <a:tcPr marL="45699" marR="45699" marT="18000" marB="18000"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1200" dirty="0">
                          <a:solidFill>
                            <a:schemeClr val="tx1"/>
                          </a:solidFill>
                          <a:latin typeface="+mn-lt"/>
                          <a:ea typeface="+mn-ea"/>
                          <a:cs typeface="+mn-cs"/>
                        </a:rPr>
                        <a:t>法 </a:t>
                      </a:r>
                      <a:r>
                        <a:rPr lang="en-US" altLang="ko-KR" sz="900" kern="1200" dirty="0">
                          <a:solidFill>
                            <a:schemeClr val="tx1"/>
                          </a:solidFill>
                          <a:latin typeface="+mn-lt"/>
                          <a:ea typeface="+mn-ea"/>
                          <a:cs typeface="+mn-cs"/>
                        </a:rPr>
                        <a:t>30</a:t>
                      </a:r>
                      <a:endParaRPr lang="ko-KR" altLang="en-US" sz="900" kern="1200" dirty="0">
                        <a:solidFill>
                          <a:schemeClr val="tx1"/>
                        </a:solidFill>
                        <a:latin typeface="+mn-lt"/>
                        <a:ea typeface="+mn-ea"/>
                        <a:cs typeface="+mn-cs"/>
                      </a:endParaRPr>
                    </a:p>
                  </a:txBody>
                  <a:tcPr marL="45699" marR="45699" marT="18000" marB="1800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00" kern="1200" dirty="0">
                          <a:solidFill>
                            <a:schemeClr val="tx1"/>
                          </a:solidFill>
                          <a:latin typeface="+mn-lt"/>
                          <a:ea typeface="+mn-ea"/>
                          <a:cs typeface="+mn-cs"/>
                        </a:rPr>
                        <a:t>法 </a:t>
                      </a:r>
                      <a:r>
                        <a:rPr lang="en-US" altLang="ko-KR" sz="900" kern="1200" dirty="0">
                          <a:solidFill>
                            <a:schemeClr val="tx1"/>
                          </a:solidFill>
                          <a:latin typeface="+mn-lt"/>
                          <a:ea typeface="+mn-ea"/>
                          <a:cs typeface="+mn-cs"/>
                        </a:rPr>
                        <a:t>34, 35</a:t>
                      </a:r>
                      <a:endParaRPr lang="ko-KR" altLang="en-US" sz="900" kern="1200" dirty="0">
                        <a:solidFill>
                          <a:schemeClr val="tx1"/>
                        </a:solidFill>
                        <a:latin typeface="+mn-lt"/>
                        <a:ea typeface="+mn-ea"/>
                        <a:cs typeface="+mn-cs"/>
                      </a:endParaRPr>
                    </a:p>
                  </a:txBody>
                  <a:tcPr marL="45699" marR="45699" marT="18000" marB="1800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00" kern="1200" dirty="0">
                          <a:solidFill>
                            <a:schemeClr val="tx1"/>
                          </a:solidFill>
                          <a:latin typeface="+mn-lt"/>
                          <a:ea typeface="+mn-ea"/>
                          <a:cs typeface="+mn-cs"/>
                        </a:rPr>
                        <a:t>法 </a:t>
                      </a:r>
                      <a:r>
                        <a:rPr lang="en-US" altLang="ko-KR" sz="900" kern="1200" dirty="0">
                          <a:solidFill>
                            <a:schemeClr val="tx1"/>
                          </a:solidFill>
                          <a:latin typeface="+mn-lt"/>
                          <a:ea typeface="+mn-ea"/>
                          <a:cs typeface="+mn-cs"/>
                        </a:rPr>
                        <a:t>47, 51</a:t>
                      </a:r>
                      <a:endParaRPr lang="ko-KR" altLang="en-US" sz="900" kern="1200" dirty="0">
                        <a:solidFill>
                          <a:schemeClr val="tx1"/>
                        </a:solidFill>
                        <a:latin typeface="+mn-lt"/>
                        <a:ea typeface="+mn-ea"/>
                        <a:cs typeface="+mn-cs"/>
                      </a:endParaRPr>
                    </a:p>
                  </a:txBody>
                  <a:tcPr marL="45699" marR="45699" marT="18000" marB="1800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00" kern="1200" dirty="0">
                          <a:solidFill>
                            <a:schemeClr val="tx1"/>
                          </a:solidFill>
                          <a:latin typeface="+mn-lt"/>
                          <a:ea typeface="+mn-ea"/>
                          <a:cs typeface="+mn-cs"/>
                        </a:rPr>
                        <a:t>法 </a:t>
                      </a:r>
                      <a:r>
                        <a:rPr lang="en-US" altLang="ko-KR" sz="900" kern="1200" dirty="0">
                          <a:solidFill>
                            <a:schemeClr val="tx1"/>
                          </a:solidFill>
                          <a:latin typeface="+mn-lt"/>
                          <a:ea typeface="+mn-ea"/>
                          <a:cs typeface="+mn-cs"/>
                        </a:rPr>
                        <a:t>54</a:t>
                      </a:r>
                      <a:endParaRPr lang="ko-KR" altLang="en-US" sz="900" kern="1200" dirty="0">
                        <a:solidFill>
                          <a:schemeClr val="tx1"/>
                        </a:solidFill>
                        <a:latin typeface="+mn-lt"/>
                        <a:ea typeface="+mn-ea"/>
                        <a:cs typeface="+mn-cs"/>
                      </a:endParaRPr>
                    </a:p>
                  </a:txBody>
                  <a:tcPr marL="45699" marR="45699" marT="18000" marB="1800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00" kern="1200" dirty="0">
                          <a:solidFill>
                            <a:schemeClr val="tx1"/>
                          </a:solidFill>
                          <a:latin typeface="+mn-lt"/>
                          <a:ea typeface="+mn-ea"/>
                          <a:cs typeface="+mn-cs"/>
                        </a:rPr>
                        <a:t>法 </a:t>
                      </a:r>
                      <a:r>
                        <a:rPr lang="en-US" altLang="ko-KR" sz="900" kern="1200" dirty="0">
                          <a:solidFill>
                            <a:schemeClr val="tx1"/>
                          </a:solidFill>
                          <a:latin typeface="+mn-lt"/>
                          <a:ea typeface="+mn-ea"/>
                          <a:cs typeface="+mn-cs"/>
                        </a:rPr>
                        <a:t>55, 56</a:t>
                      </a:r>
                      <a:endParaRPr lang="ko-KR" altLang="en-US" sz="900" kern="1200" dirty="0">
                        <a:solidFill>
                          <a:schemeClr val="tx1"/>
                        </a:solidFill>
                        <a:latin typeface="+mn-lt"/>
                        <a:ea typeface="+mn-ea"/>
                        <a:cs typeface="+mn-cs"/>
                      </a:endParaRPr>
                    </a:p>
                  </a:txBody>
                  <a:tcPr marL="45699" marR="45699" marT="18000" marB="18000" anchor="ctr">
                    <a:solidFill>
                      <a:schemeClr val="accent1">
                        <a:lumMod val="20000"/>
                        <a:lumOff val="80000"/>
                      </a:schemeClr>
                    </a:solidFill>
                  </a:tcPr>
                </a:tc>
                <a:extLst>
                  <a:ext uri="{0D108BD9-81ED-4DB2-BD59-A6C34878D82A}">
                    <a16:rowId xmlns:a16="http://schemas.microsoft.com/office/drawing/2014/main" val="90793220"/>
                  </a:ext>
                </a:extLst>
              </a:tr>
              <a:tr h="446897">
                <a:tc rowSpan="3">
                  <a:txBody>
                    <a:bodyPr/>
                    <a:lstStyle/>
                    <a:p>
                      <a:pPr marL="0" marR="0" indent="0" algn="ctr" fontAlgn="base" latinLnBrk="0">
                        <a:lnSpc>
                          <a:spcPct val="100000"/>
                        </a:lnSpc>
                        <a:spcBef>
                          <a:spcPts val="0"/>
                        </a:spcBef>
                        <a:spcAft>
                          <a:spcPts val="0"/>
                        </a:spcAft>
                      </a:pPr>
                      <a:r>
                        <a:rPr lang="ko-KR" altLang="en-US" sz="900" kern="1200" dirty="0">
                          <a:solidFill>
                            <a:schemeClr val="tx1"/>
                          </a:solidFill>
                          <a:latin typeface="+mn-lt"/>
                          <a:ea typeface="+mn-ea"/>
                          <a:cs typeface="+mn-cs"/>
                        </a:rPr>
                        <a:t>요건</a:t>
                      </a:r>
                    </a:p>
                  </a:txBody>
                  <a:tcPr marL="45699" marR="45699" marT="18000" marB="18000" anchor="ctr"/>
                </a:tc>
                <a:tc>
                  <a:txBody>
                    <a:bodyPr/>
                    <a:lstStyle/>
                    <a:p>
                      <a:pPr marL="0" marR="0" indent="0" algn="ctr" fontAlgn="base" latinLnBrk="0">
                        <a:lnSpc>
                          <a:spcPct val="100000"/>
                        </a:lnSpc>
                        <a:spcBef>
                          <a:spcPts val="0"/>
                        </a:spcBef>
                        <a:spcAft>
                          <a:spcPts val="0"/>
                        </a:spcAft>
                      </a:pPr>
                      <a:r>
                        <a:rPr lang="ko-KR" altLang="en-US" sz="900" kern="1200" dirty="0">
                          <a:solidFill>
                            <a:schemeClr val="tx1"/>
                          </a:solidFill>
                          <a:latin typeface="+mn-lt"/>
                          <a:ea typeface="+mn-ea"/>
                          <a:cs typeface="+mn-cs"/>
                        </a:rPr>
                        <a:t>주체</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특허를 받을 수 있는 권리를 가진 자의 발명이 공지가 되었을 것</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err="1">
                          <a:solidFill>
                            <a:schemeClr val="tx1"/>
                          </a:solidFill>
                          <a:latin typeface="+mn-lt"/>
                          <a:ea typeface="+mn-ea"/>
                          <a:cs typeface="+mn-cs"/>
                        </a:rPr>
                        <a:t>무권리자의</a:t>
                      </a:r>
                      <a:r>
                        <a:rPr lang="ko-KR" altLang="en-US" sz="900" kern="1200" dirty="0">
                          <a:solidFill>
                            <a:schemeClr val="tx1"/>
                          </a:solidFill>
                          <a:latin typeface="+mn-lt"/>
                          <a:ea typeface="+mn-ea"/>
                          <a:cs typeface="+mn-cs"/>
                        </a:rPr>
                        <a:t> 출원</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특허</a:t>
                      </a: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a:solidFill>
                            <a:schemeClr val="tx1"/>
                          </a:solidFill>
                          <a:latin typeface="+mn-lt"/>
                          <a:ea typeface="+mn-ea"/>
                          <a:cs typeface="+mn-cs"/>
                        </a:rPr>
                        <a:t>1.</a:t>
                      </a:r>
                      <a:r>
                        <a:rPr lang="ko-KR" altLang="en-US" sz="900" kern="1200">
                          <a:solidFill>
                            <a:schemeClr val="tx1"/>
                          </a:solidFill>
                          <a:latin typeface="+mn-lt"/>
                          <a:ea typeface="+mn-ea"/>
                          <a:cs typeface="+mn-cs"/>
                        </a:rPr>
                        <a:t>공동출원의 경우 각자</a:t>
                      </a:r>
                    </a:p>
                    <a:p>
                      <a:pPr marL="72390" marR="0" indent="-72390" algn="just" fontAlgn="base" latinLnBrk="1">
                        <a:lnSpc>
                          <a:spcPct val="100000"/>
                        </a:lnSpc>
                        <a:spcBef>
                          <a:spcPts val="0"/>
                        </a:spcBef>
                        <a:spcAft>
                          <a:spcPts val="0"/>
                        </a:spcAft>
                      </a:pPr>
                      <a:r>
                        <a:rPr lang="en-US" altLang="ko-KR" sz="900" kern="1200">
                          <a:solidFill>
                            <a:schemeClr val="tx1"/>
                          </a:solidFill>
                          <a:latin typeface="+mn-lt"/>
                          <a:ea typeface="+mn-ea"/>
                          <a:cs typeface="+mn-cs"/>
                        </a:rPr>
                        <a:t>2.</a:t>
                      </a:r>
                      <a:r>
                        <a:rPr lang="ko-KR" altLang="en-US" sz="900" kern="1200">
                          <a:solidFill>
                            <a:schemeClr val="tx1"/>
                          </a:solidFill>
                          <a:latin typeface="+mn-lt"/>
                          <a:ea typeface="+mn-ea"/>
                          <a:cs typeface="+mn-cs"/>
                        </a:rPr>
                        <a:t>임의대리인은 특별히 권한 위임 不要</a:t>
                      </a:r>
                    </a:p>
                  </a:txBody>
                  <a:tcPr marL="45699" marR="45699" marT="18000" marB="18000" anchor="ctr"/>
                </a:tc>
                <a:tc>
                  <a:txBody>
                    <a:bodyPr/>
                    <a:lstStyle/>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대한민국 국민</a:t>
                      </a:r>
                      <a:r>
                        <a:rPr lang="en-US" altLang="ko-KR" sz="900" kern="1200" dirty="0">
                          <a:solidFill>
                            <a:schemeClr val="tx1"/>
                          </a:solidFill>
                          <a:latin typeface="+mn-lt"/>
                          <a:ea typeface="+mn-ea"/>
                          <a:cs typeface="+mn-cs"/>
                        </a:rPr>
                        <a:t>, </a:t>
                      </a:r>
                      <a:r>
                        <a:rPr lang="ko-KR" altLang="en-US" sz="900" kern="1200" dirty="0">
                          <a:solidFill>
                            <a:schemeClr val="tx1"/>
                          </a:solidFill>
                          <a:latin typeface="+mn-lt"/>
                          <a:ea typeface="+mn-ea"/>
                          <a:cs typeface="+mn-cs"/>
                        </a:rPr>
                        <a:t>조약당사국 국민</a:t>
                      </a:r>
                      <a:r>
                        <a:rPr lang="en-US" altLang="ko-KR"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준당사국</a:t>
                      </a:r>
                      <a:r>
                        <a:rPr lang="ko-KR" altLang="en-US" sz="900" kern="1200" dirty="0">
                          <a:solidFill>
                            <a:schemeClr val="tx1"/>
                          </a:solidFill>
                          <a:latin typeface="+mn-lt"/>
                          <a:ea typeface="+mn-ea"/>
                          <a:cs typeface="+mn-cs"/>
                        </a:rPr>
                        <a:t> 국민</a:t>
                      </a: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특허를 받을 수 있는 권리를 가지고 있다면 출원인의 동일성 불필요</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승계인은 우선권 별도로 승계</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txBody>
                  <a:tcPr marL="45699" marR="45699" marT="18000" marB="18000" anchor="ctr"/>
                </a:tc>
                <a:tc>
                  <a:txBody>
                    <a:bodyPr/>
                    <a:lstStyle/>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특허를 받을 수 있는 권리를 가지고 있다면 출원인의 동일성 불필요</a:t>
                      </a:r>
                    </a:p>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임의대리인은 특별히 권한 위임 要</a:t>
                      </a:r>
                    </a:p>
                  </a:txBody>
                  <a:tcPr marL="45699" marR="45699" marT="18000" marB="18000" anchor="ctr"/>
                </a:tc>
                <a:extLst>
                  <a:ext uri="{0D108BD9-81ED-4DB2-BD59-A6C34878D82A}">
                    <a16:rowId xmlns:a16="http://schemas.microsoft.com/office/drawing/2014/main" val="292602096"/>
                  </a:ext>
                </a:extLst>
              </a:tr>
              <a:tr h="701661">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1200">
                          <a:solidFill>
                            <a:schemeClr val="tx1"/>
                          </a:solidFill>
                          <a:latin typeface="+mn-lt"/>
                          <a:ea typeface="+mn-ea"/>
                          <a:cs typeface="+mn-cs"/>
                        </a:rPr>
                        <a:t>객체</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공지가 법 제</a:t>
                      </a:r>
                      <a:r>
                        <a:rPr lang="en-US" altLang="ko-KR" sz="900" kern="1200" dirty="0">
                          <a:solidFill>
                            <a:schemeClr val="tx1"/>
                          </a:solidFill>
                          <a:latin typeface="+mn-lt"/>
                          <a:ea typeface="+mn-ea"/>
                          <a:cs typeface="+mn-cs"/>
                        </a:rPr>
                        <a:t>30</a:t>
                      </a:r>
                      <a:r>
                        <a:rPr lang="ko-KR" altLang="en-US" sz="900" kern="1200" dirty="0">
                          <a:solidFill>
                            <a:schemeClr val="tx1"/>
                          </a:solidFill>
                          <a:latin typeface="+mn-lt"/>
                          <a:ea typeface="+mn-ea"/>
                          <a:cs typeface="+mn-cs"/>
                        </a:rPr>
                        <a:t>조 제</a:t>
                      </a: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항 각호에 해당</a:t>
                      </a:r>
                    </a:p>
                    <a:p>
                      <a:pPr marL="124460" marR="0" indent="-12446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①의사에 의한 공지</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단</a:t>
                      </a:r>
                      <a:r>
                        <a:rPr lang="en-US" altLang="ko-KR"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출원공개</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등록공고제외</a:t>
                      </a:r>
                      <a:r>
                        <a:rPr lang="en-US" altLang="ko-KR" sz="900" kern="1200" dirty="0">
                          <a:solidFill>
                            <a:schemeClr val="tx1"/>
                          </a:solidFill>
                          <a:latin typeface="+mn-lt"/>
                          <a:ea typeface="+mn-ea"/>
                          <a:cs typeface="+mn-cs"/>
                        </a:rPr>
                        <a:t>) </a:t>
                      </a:r>
                      <a:endParaRPr lang="ko-KR" altLang="en-US" sz="90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②의사</a:t>
                      </a:r>
                      <a:r>
                        <a:rPr lang="en-US" altLang="ko-KR" sz="900" kern="1200" dirty="0">
                          <a:solidFill>
                            <a:schemeClr val="tx1"/>
                          </a:solidFill>
                          <a:latin typeface="+mn-lt"/>
                          <a:ea typeface="+mn-ea"/>
                          <a:cs typeface="+mn-cs"/>
                        </a:rPr>
                        <a:t>1. 2</a:t>
                      </a:r>
                      <a:r>
                        <a:rPr lang="ko-KR" altLang="en-US" sz="900" kern="1200" dirty="0">
                          <a:solidFill>
                            <a:schemeClr val="tx1"/>
                          </a:solidFill>
                          <a:latin typeface="+mn-lt"/>
                          <a:ea typeface="+mn-ea"/>
                          <a:cs typeface="+mn-cs"/>
                        </a:rPr>
                        <a:t>에 반한 공지</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err="1">
                          <a:solidFill>
                            <a:schemeClr val="tx1"/>
                          </a:solidFill>
                          <a:latin typeface="Rix모던고딕 B" panose="02020603020101020101" pitchFamily="18" charset="-127"/>
                          <a:ea typeface="Rix모던고딕 B" panose="02020603020101020101" pitchFamily="18" charset="-127"/>
                          <a:cs typeface="+mn-cs"/>
                        </a:rPr>
                        <a:t>정ㆍ명ㆍ도가</a:t>
                      </a:r>
                      <a:r>
                        <a:rPr lang="ko-KR" altLang="en-US" sz="900" kern="1200" dirty="0">
                          <a:solidFill>
                            <a:schemeClr val="tx1"/>
                          </a:solidFill>
                          <a:latin typeface="Rix모던고딕 B" panose="02020603020101020101" pitchFamily="18" charset="-127"/>
                          <a:ea typeface="Rix모던고딕 B" panose="02020603020101020101" pitchFamily="18" charset="-127"/>
                          <a:cs typeface="+mn-cs"/>
                        </a:rPr>
                        <a:t> </a:t>
                      </a:r>
                      <a:r>
                        <a:rPr lang="ko-KR" altLang="en-US" sz="900" kern="1200" dirty="0" err="1">
                          <a:solidFill>
                            <a:schemeClr val="tx1"/>
                          </a:solidFill>
                          <a:latin typeface="Rix모던고딕 B" panose="02020603020101020101" pitchFamily="18" charset="-127"/>
                          <a:ea typeface="Rix모던고딕 B" panose="02020603020101020101" pitchFamily="18" charset="-127"/>
                          <a:cs typeface="+mn-cs"/>
                        </a:rPr>
                        <a:t>무ㆍ최ㆍ명ㆍ도에</a:t>
                      </a:r>
                      <a:r>
                        <a:rPr lang="ko-KR" altLang="en-US" sz="900" kern="1200" dirty="0">
                          <a:solidFill>
                            <a:schemeClr val="tx1"/>
                          </a:solidFill>
                          <a:latin typeface="Rix모던고딕 B" panose="02020603020101020101" pitchFamily="18" charset="-127"/>
                          <a:ea typeface="Rix모던고딕 B" panose="02020603020101020101" pitchFamily="18" charset="-127"/>
                          <a:cs typeface="+mn-cs"/>
                        </a:rPr>
                        <a:t> 기재된 </a:t>
                      </a:r>
                      <a:r>
                        <a:rPr lang="ko-KR" altLang="en-US" sz="900" kern="1200" dirty="0" err="1">
                          <a:solidFill>
                            <a:schemeClr val="tx1"/>
                          </a:solidFill>
                          <a:latin typeface="Rix모던고딕 B" panose="02020603020101020101" pitchFamily="18" charset="-127"/>
                          <a:ea typeface="Rix모던고딕 B" panose="02020603020101020101" pitchFamily="18" charset="-127"/>
                          <a:cs typeface="+mn-cs"/>
                        </a:rPr>
                        <a:t>범위이내일</a:t>
                      </a:r>
                      <a:r>
                        <a:rPr lang="ko-KR" altLang="en-US" sz="900" kern="1200" dirty="0">
                          <a:solidFill>
                            <a:schemeClr val="tx1"/>
                          </a:solidFill>
                          <a:latin typeface="Rix모던고딕 B" panose="02020603020101020101" pitchFamily="18" charset="-127"/>
                          <a:ea typeface="Rix모던고딕 B" panose="02020603020101020101" pitchFamily="18" charset="-127"/>
                          <a:cs typeface="+mn-cs"/>
                        </a:rPr>
                        <a:t> 것</a:t>
                      </a:r>
                      <a:endParaRPr lang="ko-KR" altLang="en-US" sz="900" kern="1200" dirty="0">
                        <a:solidFill>
                          <a:schemeClr val="tx1"/>
                        </a:solidFill>
                        <a:latin typeface="+mn-lt"/>
                        <a:ea typeface="+mn-ea"/>
                        <a:cs typeface="+mn-cs"/>
                      </a:endParaRPr>
                    </a:p>
                  </a:txBody>
                  <a:tcPr marL="45699" marR="45699" marT="18000" marB="18000" anchor="ctr"/>
                </a:tc>
                <a:tc>
                  <a:txBody>
                    <a:bodyPr/>
                    <a:lstStyle/>
                    <a:p>
                      <a:pPr marL="72390" marR="0" indent="-7239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법</a:t>
                      </a:r>
                      <a:r>
                        <a:rPr lang="en-US" altLang="ko-KR" sz="900" kern="1200" dirty="0">
                          <a:solidFill>
                            <a:schemeClr val="tx1"/>
                          </a:solidFill>
                          <a:latin typeface="+mn-lt"/>
                          <a:ea typeface="+mn-ea"/>
                          <a:cs typeface="+mn-cs"/>
                        </a:rPr>
                        <a:t>47</a:t>
                      </a:r>
                      <a:r>
                        <a:rPr lang="ko-KR" altLang="en-US" sz="900" kern="1200" dirty="0">
                          <a:solidFill>
                            <a:schemeClr val="tx1"/>
                          </a:solidFill>
                          <a:latin typeface="+mn-lt"/>
                          <a:ea typeface="+mn-ea"/>
                          <a:cs typeface="+mn-cs"/>
                        </a:rPr>
                        <a:t>①본</a:t>
                      </a:r>
                      <a:r>
                        <a:rPr lang="en-US" altLang="ko-KR" sz="900" kern="1200" dirty="0">
                          <a:solidFill>
                            <a:schemeClr val="tx1"/>
                          </a:solidFill>
                          <a:latin typeface="+mn-lt"/>
                          <a:ea typeface="+mn-ea"/>
                          <a:cs typeface="+mn-cs"/>
                        </a:rPr>
                        <a:t>,Ⅰ-</a:t>
                      </a:r>
                      <a:r>
                        <a:rPr lang="ko-KR" altLang="en-US" sz="900" kern="1200" dirty="0">
                          <a:solidFill>
                            <a:schemeClr val="tx1"/>
                          </a:solidFill>
                          <a:latin typeface="+mn-lt"/>
                          <a:ea typeface="+mn-ea"/>
                          <a:cs typeface="+mn-cs"/>
                        </a:rPr>
                        <a:t>신규사항추가금지</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法 </a:t>
                      </a:r>
                      <a:r>
                        <a:rPr lang="en-US" altLang="ko-KR" sz="900" kern="1200" dirty="0">
                          <a:solidFill>
                            <a:schemeClr val="tx1"/>
                          </a:solidFill>
                          <a:latin typeface="+mn-lt"/>
                          <a:ea typeface="+mn-ea"/>
                          <a:cs typeface="+mn-cs"/>
                        </a:rPr>
                        <a:t>47</a:t>
                      </a:r>
                      <a:r>
                        <a:rPr lang="ko-KR" altLang="en-US" sz="900" kern="1200" dirty="0">
                          <a:solidFill>
                            <a:schemeClr val="tx1"/>
                          </a:solidFill>
                          <a:latin typeface="+mn-lt"/>
                          <a:ea typeface="+mn-ea"/>
                          <a:cs typeface="+mn-cs"/>
                        </a:rPr>
                        <a:t>②</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법</a:t>
                      </a:r>
                      <a:r>
                        <a:rPr lang="en-US" altLang="ko-KR" sz="900" kern="1200" dirty="0">
                          <a:solidFill>
                            <a:schemeClr val="tx1"/>
                          </a:solidFill>
                          <a:latin typeface="+mn-lt"/>
                          <a:ea typeface="+mn-ea"/>
                          <a:cs typeface="+mn-cs"/>
                        </a:rPr>
                        <a:t>47</a:t>
                      </a:r>
                      <a:r>
                        <a:rPr lang="ko-KR" altLang="en-US" sz="900" kern="1200" dirty="0">
                          <a:solidFill>
                            <a:schemeClr val="tx1"/>
                          </a:solidFill>
                          <a:latin typeface="+mn-lt"/>
                          <a:ea typeface="+mn-ea"/>
                          <a:cs typeface="+mn-cs"/>
                        </a:rPr>
                        <a:t>①</a:t>
                      </a:r>
                      <a:r>
                        <a:rPr lang="en-US" altLang="ko-KR" sz="900" kern="1200" dirty="0" err="1">
                          <a:solidFill>
                            <a:schemeClr val="tx1"/>
                          </a:solidFill>
                          <a:latin typeface="+mn-lt"/>
                          <a:ea typeface="+mn-ea"/>
                          <a:cs typeface="+mn-cs"/>
                        </a:rPr>
                        <a:t>ⅡⅢ</a:t>
                      </a:r>
                      <a:endParaRPr lang="ko-KR" altLang="en-US" sz="900" kern="1200" dirty="0">
                        <a:solidFill>
                          <a:schemeClr val="tx1"/>
                        </a:solidFill>
                        <a:latin typeface="+mn-lt"/>
                        <a:ea typeface="+mn-ea"/>
                        <a:cs typeface="+mn-cs"/>
                      </a:endParaRPr>
                    </a:p>
                    <a:p>
                      <a:pPr marL="120650" marR="0" indent="-12065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①신규사항추가금지</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法 </a:t>
                      </a:r>
                      <a:r>
                        <a:rPr lang="en-US" altLang="ko-KR" sz="900" kern="1200" dirty="0">
                          <a:solidFill>
                            <a:schemeClr val="tx1"/>
                          </a:solidFill>
                          <a:latin typeface="+mn-lt"/>
                          <a:ea typeface="+mn-ea"/>
                          <a:cs typeface="+mn-cs"/>
                        </a:rPr>
                        <a:t>47</a:t>
                      </a:r>
                      <a:r>
                        <a:rPr lang="ko-KR" altLang="en-US" sz="900" kern="1200" dirty="0">
                          <a:solidFill>
                            <a:schemeClr val="tx1"/>
                          </a:solidFill>
                          <a:latin typeface="+mn-lt"/>
                          <a:ea typeface="+mn-ea"/>
                          <a:cs typeface="+mn-cs"/>
                        </a:rPr>
                        <a:t>②</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p>
                      <a:pPr marL="120650" marR="0" indent="-12065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②</a:t>
                      </a:r>
                      <a:r>
                        <a:rPr lang="ko-KR" altLang="en-US" sz="900" kern="1200" dirty="0" err="1">
                          <a:solidFill>
                            <a:schemeClr val="tx1"/>
                          </a:solidFill>
                          <a:latin typeface="+mn-lt"/>
                          <a:ea typeface="+mn-ea"/>
                          <a:cs typeface="+mn-cs"/>
                        </a:rPr>
                        <a:t>청구범위</a:t>
                      </a:r>
                      <a:r>
                        <a:rPr lang="ko-KR" altLang="en-US"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보정범위</a:t>
                      </a:r>
                      <a:r>
                        <a:rPr lang="ko-KR" altLang="en-US" sz="900" kern="1200" dirty="0">
                          <a:solidFill>
                            <a:schemeClr val="tx1"/>
                          </a:solidFill>
                          <a:latin typeface="+mn-lt"/>
                          <a:ea typeface="+mn-ea"/>
                          <a:cs typeface="+mn-cs"/>
                        </a:rPr>
                        <a:t> 제한</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法 </a:t>
                      </a:r>
                      <a:r>
                        <a:rPr lang="en-US" altLang="ko-KR" sz="900" kern="1200" dirty="0">
                          <a:solidFill>
                            <a:schemeClr val="tx1"/>
                          </a:solidFill>
                          <a:latin typeface="+mn-lt"/>
                          <a:ea typeface="+mn-ea"/>
                          <a:cs typeface="+mn-cs"/>
                        </a:rPr>
                        <a:t>47</a:t>
                      </a:r>
                      <a:r>
                        <a:rPr lang="ko-KR" altLang="en-US" sz="900" kern="1200" dirty="0">
                          <a:solidFill>
                            <a:schemeClr val="tx1"/>
                          </a:solidFill>
                          <a:latin typeface="+mn-lt"/>
                          <a:ea typeface="+mn-ea"/>
                          <a:cs typeface="+mn-cs"/>
                        </a:rPr>
                        <a:t>③</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p>
                      <a:pPr marL="107950" marR="0" indent="-10795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③보정에 의하여 새로운 거절이유 발생 </a:t>
                      </a:r>
                      <a:r>
                        <a:rPr lang="en-US" altLang="ko-KR" sz="900" kern="1200" dirty="0">
                          <a:solidFill>
                            <a:schemeClr val="tx1"/>
                          </a:solidFill>
                          <a:latin typeface="+mn-lt"/>
                          <a:ea typeface="+mn-ea"/>
                          <a:cs typeface="+mn-cs"/>
                        </a:rPr>
                        <a:t>X</a:t>
                      </a:r>
                      <a:endParaRPr lang="ko-KR" altLang="en-US" sz="900" kern="1200" dirty="0">
                        <a:solidFill>
                          <a:schemeClr val="tx1"/>
                        </a:solidFill>
                        <a:latin typeface="+mn-lt"/>
                        <a:ea typeface="+mn-ea"/>
                        <a:cs typeface="+mn-cs"/>
                      </a:endParaRP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err="1">
                          <a:solidFill>
                            <a:schemeClr val="tx1"/>
                          </a:solidFill>
                          <a:latin typeface="+mn-lt"/>
                          <a:ea typeface="+mn-ea"/>
                          <a:cs typeface="+mn-cs"/>
                        </a:rPr>
                        <a:t>선출원의</a:t>
                      </a:r>
                      <a:r>
                        <a:rPr lang="ko-KR" altLang="en-US" sz="900" kern="1200" dirty="0">
                          <a:solidFill>
                            <a:schemeClr val="tx1"/>
                          </a:solidFill>
                          <a:latin typeface="+mn-lt"/>
                          <a:ea typeface="+mn-ea"/>
                          <a:cs typeface="+mn-cs"/>
                        </a:rPr>
                        <a:t> 요건</a:t>
                      </a:r>
                    </a:p>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①</a:t>
                      </a:r>
                      <a:r>
                        <a:rPr lang="ko-KR" altLang="en-US" sz="900" kern="1200" dirty="0" err="1">
                          <a:solidFill>
                            <a:schemeClr val="tx1"/>
                          </a:solidFill>
                          <a:latin typeface="+mn-lt"/>
                          <a:ea typeface="+mn-ea"/>
                          <a:cs typeface="+mn-cs"/>
                        </a:rPr>
                        <a:t>최선성</a:t>
                      </a:r>
                      <a:endParaRPr lang="ko-KR" altLang="en-US" sz="90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②정규성</a:t>
                      </a:r>
                    </a:p>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③형식제한</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디자인○</a:t>
                      </a:r>
                    </a:p>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우선권출원의 요건</a:t>
                      </a:r>
                    </a:p>
                    <a:p>
                      <a:pPr marL="0" marR="0" indent="0" algn="just" fontAlgn="base" latinLnBrk="1">
                        <a:lnSpc>
                          <a:spcPct val="100000"/>
                        </a:lnSpc>
                        <a:spcBef>
                          <a:spcPts val="0"/>
                        </a:spcBef>
                        <a:spcAft>
                          <a:spcPts val="0"/>
                        </a:spcAft>
                      </a:pPr>
                      <a:r>
                        <a:rPr lang="ko-KR" altLang="en-US" sz="900" kern="1200" dirty="0" err="1">
                          <a:solidFill>
                            <a:schemeClr val="tx1"/>
                          </a:solidFill>
                          <a:latin typeface="Rix모던고딕 B" panose="02020603020101020101" pitchFamily="18" charset="-127"/>
                          <a:ea typeface="Rix모던고딕 B" panose="02020603020101020101" pitchFamily="18" charset="-127"/>
                          <a:cs typeface="+mn-cs"/>
                        </a:rPr>
                        <a:t>후ㆍ청구범위가</a:t>
                      </a:r>
                      <a:r>
                        <a:rPr lang="ko-KR" altLang="en-US" sz="900" kern="1200" dirty="0">
                          <a:solidFill>
                            <a:schemeClr val="tx1"/>
                          </a:solidFill>
                          <a:latin typeface="Rix모던고딕 B" panose="02020603020101020101" pitchFamily="18" charset="-127"/>
                          <a:ea typeface="Rix모던고딕 B" panose="02020603020101020101" pitchFamily="18" charset="-127"/>
                          <a:cs typeface="+mn-cs"/>
                        </a:rPr>
                        <a:t> </a:t>
                      </a:r>
                      <a:r>
                        <a:rPr lang="ko-KR" altLang="en-US" sz="900" kern="1200" dirty="0" err="1">
                          <a:solidFill>
                            <a:schemeClr val="tx1"/>
                          </a:solidFill>
                          <a:latin typeface="Rix모던고딕 B" panose="02020603020101020101" pitchFamily="18" charset="-127"/>
                          <a:ea typeface="Rix모던고딕 B" panose="02020603020101020101" pitchFamily="18" charset="-127"/>
                          <a:cs typeface="+mn-cs"/>
                        </a:rPr>
                        <a:t>선ㆍ최ㆍ명ㆍ도에</a:t>
                      </a:r>
                      <a:r>
                        <a:rPr lang="ko-KR" altLang="en-US" sz="900" kern="1200" dirty="0">
                          <a:solidFill>
                            <a:schemeClr val="tx1"/>
                          </a:solidFill>
                          <a:latin typeface="Rix모던고딕 B" panose="02020603020101020101" pitchFamily="18" charset="-127"/>
                          <a:ea typeface="Rix모던고딕 B" panose="02020603020101020101" pitchFamily="18" charset="-127"/>
                          <a:cs typeface="+mn-cs"/>
                        </a:rPr>
                        <a:t> 기재된 </a:t>
                      </a:r>
                      <a:r>
                        <a:rPr lang="ko-KR" altLang="en-US" sz="900" kern="1200" dirty="0" err="1">
                          <a:solidFill>
                            <a:schemeClr val="tx1"/>
                          </a:solidFill>
                          <a:latin typeface="Rix모던고딕 B" panose="02020603020101020101" pitchFamily="18" charset="-127"/>
                          <a:ea typeface="Rix모던고딕 B" panose="02020603020101020101" pitchFamily="18" charset="-127"/>
                          <a:cs typeface="+mn-cs"/>
                        </a:rPr>
                        <a:t>범위이내일</a:t>
                      </a:r>
                      <a:r>
                        <a:rPr lang="ko-KR" altLang="en-US" sz="900" kern="1200" dirty="0">
                          <a:solidFill>
                            <a:schemeClr val="tx1"/>
                          </a:solidFill>
                          <a:latin typeface="Rix모던고딕 B" panose="02020603020101020101" pitchFamily="18" charset="-127"/>
                          <a:ea typeface="Rix모던고딕 B" panose="02020603020101020101" pitchFamily="18" charset="-127"/>
                          <a:cs typeface="+mn-cs"/>
                        </a:rPr>
                        <a:t> 것</a:t>
                      </a: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err="1">
                          <a:solidFill>
                            <a:schemeClr val="tx1"/>
                          </a:solidFill>
                          <a:latin typeface="+mn-lt"/>
                          <a:ea typeface="+mn-ea"/>
                          <a:cs typeface="+mn-cs"/>
                        </a:rPr>
                        <a:t>선출원의</a:t>
                      </a:r>
                      <a:r>
                        <a:rPr lang="ko-KR" altLang="en-US" sz="900" kern="1200" dirty="0">
                          <a:solidFill>
                            <a:schemeClr val="tx1"/>
                          </a:solidFill>
                          <a:latin typeface="+mn-lt"/>
                          <a:ea typeface="+mn-ea"/>
                          <a:cs typeface="+mn-cs"/>
                        </a:rPr>
                        <a:t> 요건</a:t>
                      </a:r>
                    </a:p>
                    <a:p>
                      <a:pPr marL="124460" marR="0" indent="-12446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①</a:t>
                      </a:r>
                      <a:r>
                        <a:rPr lang="ko-KR" altLang="en-US" sz="900" kern="1200" dirty="0" err="1">
                          <a:solidFill>
                            <a:schemeClr val="tx1"/>
                          </a:solidFill>
                          <a:latin typeface="+mn-lt"/>
                          <a:ea typeface="+mn-ea"/>
                          <a:cs typeface="+mn-cs"/>
                        </a:rPr>
                        <a:t>후출원당시</a:t>
                      </a:r>
                      <a:r>
                        <a:rPr lang="ko-KR" altLang="en-US" sz="900" kern="1200" dirty="0">
                          <a:solidFill>
                            <a:schemeClr val="tx1"/>
                          </a:solidFill>
                          <a:latin typeface="+mn-lt"/>
                          <a:ea typeface="+mn-ea"/>
                          <a:cs typeface="+mn-cs"/>
                        </a:rPr>
                        <a:t> 선출원이 </a:t>
                      </a:r>
                      <a:r>
                        <a:rPr lang="ko-KR" altLang="en-US" sz="900" kern="1200" dirty="0" err="1">
                          <a:solidFill>
                            <a:schemeClr val="tx1"/>
                          </a:solidFill>
                          <a:latin typeface="+mn-lt"/>
                          <a:ea typeface="+mn-ea"/>
                          <a:cs typeface="+mn-cs"/>
                        </a:rPr>
                        <a:t>출원계속중일</a:t>
                      </a:r>
                      <a:r>
                        <a:rPr lang="ko-KR" altLang="en-US" sz="900" kern="1200" dirty="0">
                          <a:solidFill>
                            <a:schemeClr val="tx1"/>
                          </a:solidFill>
                          <a:latin typeface="+mn-lt"/>
                          <a:ea typeface="+mn-ea"/>
                          <a:cs typeface="+mn-cs"/>
                        </a:rPr>
                        <a:t> 것</a:t>
                      </a:r>
                      <a:endParaRPr lang="en-US" altLang="ko-KR" sz="900" kern="1200" dirty="0">
                        <a:solidFill>
                          <a:schemeClr val="tx1"/>
                        </a:solidFill>
                        <a:latin typeface="+mn-lt"/>
                        <a:ea typeface="+mn-ea"/>
                        <a:cs typeface="+mn-cs"/>
                      </a:endParaRPr>
                    </a:p>
                    <a:p>
                      <a:pPr marL="124460" marR="0" indent="-12446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②</a:t>
                      </a:r>
                      <a:r>
                        <a:rPr lang="ko-KR" altLang="en-US" sz="900" kern="1200" dirty="0" err="1">
                          <a:solidFill>
                            <a:schemeClr val="tx1"/>
                          </a:solidFill>
                          <a:latin typeface="+mn-lt"/>
                          <a:ea typeface="+mn-ea"/>
                          <a:cs typeface="+mn-cs"/>
                        </a:rPr>
                        <a:t>분할ㆍ분리ㆍ변경출원이</a:t>
                      </a:r>
                      <a:r>
                        <a:rPr lang="ko-KR" altLang="en-US" sz="900" kern="1200" dirty="0">
                          <a:solidFill>
                            <a:schemeClr val="tx1"/>
                          </a:solidFill>
                          <a:latin typeface="+mn-lt"/>
                          <a:ea typeface="+mn-ea"/>
                          <a:cs typeface="+mn-cs"/>
                        </a:rPr>
                        <a:t> 아닐 것</a:t>
                      </a:r>
                    </a:p>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③형식 제한 ○</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디자인 </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우선권출원의 요건</a:t>
                      </a:r>
                    </a:p>
                    <a:p>
                      <a:pPr marL="0" marR="0" indent="0" algn="just" fontAlgn="base" latinLnBrk="1">
                        <a:lnSpc>
                          <a:spcPct val="100000"/>
                        </a:lnSpc>
                        <a:spcBef>
                          <a:spcPts val="0"/>
                        </a:spcBef>
                        <a:spcAft>
                          <a:spcPts val="0"/>
                        </a:spcAft>
                      </a:pPr>
                      <a:r>
                        <a:rPr lang="ko-KR" altLang="en-US" sz="900" kern="1200" dirty="0" err="1">
                          <a:solidFill>
                            <a:schemeClr val="tx1"/>
                          </a:solidFill>
                          <a:latin typeface="Rix모던고딕 B" panose="02020603020101020101" pitchFamily="18" charset="-127"/>
                          <a:ea typeface="Rix모던고딕 B" panose="02020603020101020101" pitchFamily="18" charset="-127"/>
                          <a:cs typeface="+mn-cs"/>
                        </a:rPr>
                        <a:t>후ㆍ청구범위가</a:t>
                      </a:r>
                      <a:r>
                        <a:rPr lang="ko-KR" altLang="en-US" sz="900" kern="1200" dirty="0">
                          <a:solidFill>
                            <a:schemeClr val="tx1"/>
                          </a:solidFill>
                          <a:latin typeface="Rix모던고딕 B" panose="02020603020101020101" pitchFamily="18" charset="-127"/>
                          <a:ea typeface="Rix모던고딕 B" panose="02020603020101020101" pitchFamily="18" charset="-127"/>
                          <a:cs typeface="+mn-cs"/>
                        </a:rPr>
                        <a:t> </a:t>
                      </a:r>
                      <a:r>
                        <a:rPr lang="ko-KR" altLang="en-US" sz="900" kern="1200" dirty="0" err="1">
                          <a:solidFill>
                            <a:schemeClr val="tx1"/>
                          </a:solidFill>
                          <a:latin typeface="Rix모던고딕 B" panose="02020603020101020101" pitchFamily="18" charset="-127"/>
                          <a:ea typeface="Rix모던고딕 B" panose="02020603020101020101" pitchFamily="18" charset="-127"/>
                          <a:cs typeface="+mn-cs"/>
                        </a:rPr>
                        <a:t>선ㆍ최ㆍ명ㆍ도에</a:t>
                      </a:r>
                      <a:r>
                        <a:rPr lang="ko-KR" altLang="en-US" sz="900" kern="1200" dirty="0">
                          <a:solidFill>
                            <a:schemeClr val="tx1"/>
                          </a:solidFill>
                          <a:latin typeface="Rix모던고딕 B" panose="02020603020101020101" pitchFamily="18" charset="-127"/>
                          <a:ea typeface="Rix모던고딕 B" panose="02020603020101020101" pitchFamily="18" charset="-127"/>
                          <a:cs typeface="+mn-cs"/>
                        </a:rPr>
                        <a:t> 기재된 </a:t>
                      </a:r>
                      <a:r>
                        <a:rPr lang="ko-KR" altLang="en-US" sz="900" kern="1200" dirty="0" err="1">
                          <a:solidFill>
                            <a:schemeClr val="tx1"/>
                          </a:solidFill>
                          <a:latin typeface="Rix모던고딕 B" panose="02020603020101020101" pitchFamily="18" charset="-127"/>
                          <a:ea typeface="Rix모던고딕 B" panose="02020603020101020101" pitchFamily="18" charset="-127"/>
                          <a:cs typeface="+mn-cs"/>
                        </a:rPr>
                        <a:t>범위이내일</a:t>
                      </a:r>
                      <a:r>
                        <a:rPr lang="ko-KR" altLang="en-US" sz="900" kern="1200">
                          <a:solidFill>
                            <a:schemeClr val="tx1"/>
                          </a:solidFill>
                          <a:latin typeface="Rix모던고딕 B" panose="02020603020101020101" pitchFamily="18" charset="-127"/>
                          <a:ea typeface="Rix모던고딕 B" panose="02020603020101020101" pitchFamily="18" charset="-127"/>
                          <a:cs typeface="+mn-cs"/>
                        </a:rPr>
                        <a:t> 것</a:t>
                      </a:r>
                      <a:endParaRPr lang="ko-KR" altLang="en-US" sz="900" kern="1200" dirty="0">
                        <a:solidFill>
                          <a:schemeClr val="tx1"/>
                        </a:solidFill>
                        <a:latin typeface="Rix모던고딕 B" panose="02020603020101020101" pitchFamily="18" charset="-127"/>
                        <a:ea typeface="Rix모던고딕 B" panose="02020603020101020101" pitchFamily="18" charset="-127"/>
                        <a:cs typeface="+mn-cs"/>
                      </a:endParaRPr>
                    </a:p>
                  </a:txBody>
                  <a:tcPr marL="45699" marR="45699" marT="18000" marB="18000" anchor="ctr"/>
                </a:tc>
                <a:extLst>
                  <a:ext uri="{0D108BD9-81ED-4DB2-BD59-A6C34878D82A}">
                    <a16:rowId xmlns:a16="http://schemas.microsoft.com/office/drawing/2014/main" val="328944606"/>
                  </a:ext>
                </a:extLst>
              </a:tr>
              <a:tr h="446897">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1200">
                          <a:solidFill>
                            <a:schemeClr val="tx1"/>
                          </a:solidFill>
                          <a:latin typeface="+mn-lt"/>
                          <a:ea typeface="+mn-ea"/>
                          <a:cs typeface="+mn-cs"/>
                        </a:rPr>
                        <a:t>시기</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최선의 공지일로부터 </a:t>
                      </a:r>
                      <a:r>
                        <a:rPr lang="en-US" altLang="ko-KR" sz="900" kern="1200" dirty="0">
                          <a:solidFill>
                            <a:schemeClr val="tx1"/>
                          </a:solidFill>
                          <a:latin typeface="+mn-lt"/>
                          <a:ea typeface="+mn-ea"/>
                          <a:cs typeface="+mn-cs"/>
                        </a:rPr>
                        <a:t>12</a:t>
                      </a:r>
                      <a:r>
                        <a:rPr lang="ko-KR" altLang="en-US" sz="900" kern="1200" dirty="0">
                          <a:solidFill>
                            <a:schemeClr val="tx1"/>
                          </a:solidFill>
                          <a:latin typeface="+mn-lt"/>
                          <a:ea typeface="+mn-ea"/>
                          <a:cs typeface="+mn-cs"/>
                        </a:rPr>
                        <a:t>월 이내 출원</a:t>
                      </a:r>
                    </a:p>
                  </a:txBody>
                  <a:tcPr marL="45699" marR="45699" marT="18000" marB="18000" anchor="ctr"/>
                </a:tc>
                <a:tc>
                  <a:txBody>
                    <a:bodyPr/>
                    <a:lstStyle/>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특허를 받지 못한 경우</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法</a:t>
                      </a:r>
                      <a:r>
                        <a:rPr lang="en-US" altLang="ko-KR" sz="900" kern="1200" dirty="0">
                          <a:solidFill>
                            <a:schemeClr val="tx1"/>
                          </a:solidFill>
                          <a:latin typeface="+mn-lt"/>
                          <a:ea typeface="+mn-ea"/>
                          <a:cs typeface="+mn-cs"/>
                        </a:rPr>
                        <a:t>34)-</a:t>
                      </a:r>
                      <a:r>
                        <a:rPr lang="ko-KR" altLang="en-US" sz="900" kern="1200" dirty="0" err="1">
                          <a:solidFill>
                            <a:schemeClr val="tx1"/>
                          </a:solidFill>
                          <a:latin typeface="+mn-lt"/>
                          <a:ea typeface="+mn-ea"/>
                          <a:cs typeface="+mn-cs"/>
                        </a:rPr>
                        <a:t>무권리자의</a:t>
                      </a:r>
                      <a:r>
                        <a:rPr lang="ko-KR" altLang="en-US"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출원후</a:t>
                      </a:r>
                      <a:r>
                        <a:rPr lang="ko-KR" altLang="en-US"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거절결정이</a:t>
                      </a:r>
                      <a:r>
                        <a:rPr lang="ko-KR" altLang="en-US" sz="900" kern="1200" dirty="0">
                          <a:solidFill>
                            <a:schemeClr val="tx1"/>
                          </a:solidFill>
                          <a:latin typeface="+mn-lt"/>
                          <a:ea typeface="+mn-ea"/>
                          <a:cs typeface="+mn-cs"/>
                        </a:rPr>
                        <a:t> 확정된 날로부터 </a:t>
                      </a:r>
                      <a:r>
                        <a:rPr lang="en-US" altLang="ko-KR" sz="900" kern="1200" dirty="0">
                          <a:solidFill>
                            <a:schemeClr val="tx1"/>
                          </a:solidFill>
                          <a:latin typeface="+mn-lt"/>
                          <a:ea typeface="+mn-ea"/>
                          <a:cs typeface="+mn-cs"/>
                        </a:rPr>
                        <a:t>30</a:t>
                      </a:r>
                      <a:r>
                        <a:rPr lang="ko-KR" altLang="en-US" sz="900" kern="1200" dirty="0" err="1">
                          <a:solidFill>
                            <a:schemeClr val="tx1"/>
                          </a:solidFill>
                          <a:latin typeface="+mn-lt"/>
                          <a:ea typeface="+mn-ea"/>
                          <a:cs typeface="+mn-cs"/>
                        </a:rPr>
                        <a:t>일이내</a:t>
                      </a:r>
                      <a:endParaRPr lang="ko-KR" altLang="en-US" sz="900" kern="1200" dirty="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착오로 특허를 받은 경우</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法</a:t>
                      </a:r>
                      <a:r>
                        <a:rPr lang="en-US" altLang="ko-KR" sz="900" kern="1200" dirty="0">
                          <a:solidFill>
                            <a:schemeClr val="tx1"/>
                          </a:solidFill>
                          <a:latin typeface="+mn-lt"/>
                          <a:ea typeface="+mn-ea"/>
                          <a:cs typeface="+mn-cs"/>
                        </a:rPr>
                        <a:t>35)-</a:t>
                      </a:r>
                      <a:r>
                        <a:rPr lang="ko-KR" altLang="en-US" sz="900" kern="1200" dirty="0" err="1">
                          <a:solidFill>
                            <a:schemeClr val="tx1"/>
                          </a:solidFill>
                          <a:latin typeface="+mn-lt"/>
                          <a:ea typeface="+mn-ea"/>
                          <a:cs typeface="+mn-cs"/>
                        </a:rPr>
                        <a:t>무권리자의</a:t>
                      </a:r>
                      <a:r>
                        <a:rPr lang="ko-KR" altLang="en-US"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출원후</a:t>
                      </a:r>
                      <a:r>
                        <a:rPr lang="ko-KR" altLang="en-US"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무효심결</a:t>
                      </a:r>
                      <a:r>
                        <a:rPr lang="ko-KR" altLang="en-US" sz="900" kern="1200" dirty="0">
                          <a:solidFill>
                            <a:schemeClr val="tx1"/>
                          </a:solidFill>
                          <a:latin typeface="+mn-lt"/>
                          <a:ea typeface="+mn-ea"/>
                          <a:cs typeface="+mn-cs"/>
                        </a:rPr>
                        <a:t> 확정일로부터 </a:t>
                      </a:r>
                      <a:r>
                        <a:rPr lang="en-US" altLang="ko-KR" sz="900" kern="1200" dirty="0">
                          <a:solidFill>
                            <a:schemeClr val="tx1"/>
                          </a:solidFill>
                          <a:latin typeface="+mn-lt"/>
                          <a:ea typeface="+mn-ea"/>
                          <a:cs typeface="+mn-cs"/>
                        </a:rPr>
                        <a:t>30</a:t>
                      </a:r>
                      <a:r>
                        <a:rPr lang="ko-KR" altLang="en-US" sz="900" kern="1200" dirty="0" err="1">
                          <a:solidFill>
                            <a:schemeClr val="tx1"/>
                          </a:solidFill>
                          <a:latin typeface="+mn-lt"/>
                          <a:ea typeface="+mn-ea"/>
                          <a:cs typeface="+mn-cs"/>
                        </a:rPr>
                        <a:t>일이내</a:t>
                      </a:r>
                      <a:endParaRPr lang="ko-KR" altLang="en-US" sz="900" kern="1200" dirty="0">
                        <a:solidFill>
                          <a:schemeClr val="tx1"/>
                        </a:solidFill>
                        <a:latin typeface="+mn-lt"/>
                        <a:ea typeface="+mn-ea"/>
                        <a:cs typeface="+mn-cs"/>
                      </a:endParaRPr>
                    </a:p>
                  </a:txBody>
                  <a:tcPr marL="45699" marR="45699" marT="18000" marB="18000" anchor="ctr"/>
                </a:tc>
                <a:tc>
                  <a:txBody>
                    <a:bodyPr/>
                    <a:lstStyle/>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err="1">
                          <a:solidFill>
                            <a:schemeClr val="tx1"/>
                          </a:solidFill>
                          <a:latin typeface="+mn-lt"/>
                          <a:ea typeface="+mn-ea"/>
                          <a:cs typeface="+mn-cs"/>
                        </a:rPr>
                        <a:t>원칙→특허결정등본</a:t>
                      </a:r>
                      <a:r>
                        <a:rPr lang="ko-KR" altLang="en-US" sz="900" kern="1200" dirty="0">
                          <a:solidFill>
                            <a:schemeClr val="tx1"/>
                          </a:solidFill>
                          <a:latin typeface="+mn-lt"/>
                          <a:ea typeface="+mn-ea"/>
                          <a:cs typeface="+mn-cs"/>
                        </a:rPr>
                        <a:t> 송달 </a:t>
                      </a:r>
                      <a:r>
                        <a:rPr lang="ko-KR" altLang="en-US" sz="900" kern="1200" dirty="0" err="1">
                          <a:solidFill>
                            <a:schemeClr val="tx1"/>
                          </a:solidFill>
                          <a:latin typeface="+mn-lt"/>
                          <a:ea typeface="+mn-ea"/>
                          <a:cs typeface="+mn-cs"/>
                        </a:rPr>
                        <a:t>받기전</a:t>
                      </a:r>
                      <a:endParaRPr lang="ko-KR" altLang="en-US" sz="90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예외</a:t>
                      </a:r>
                    </a:p>
                    <a:p>
                      <a:pPr marL="120650" marR="0" indent="-12065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①</a:t>
                      </a:r>
                      <a:r>
                        <a:rPr lang="ko-KR" altLang="en-US" sz="900" kern="1200" dirty="0" err="1">
                          <a:solidFill>
                            <a:schemeClr val="tx1"/>
                          </a:solidFill>
                          <a:latin typeface="+mn-lt"/>
                          <a:ea typeface="+mn-ea"/>
                          <a:cs typeface="+mn-cs"/>
                        </a:rPr>
                        <a:t>최초거절이유통지받은</a:t>
                      </a:r>
                      <a:r>
                        <a:rPr lang="ko-KR" altLang="en-US" sz="900" kern="1200" dirty="0">
                          <a:solidFill>
                            <a:schemeClr val="tx1"/>
                          </a:solidFill>
                          <a:latin typeface="+mn-lt"/>
                          <a:ea typeface="+mn-ea"/>
                          <a:cs typeface="+mn-cs"/>
                        </a:rPr>
                        <a:t> 경우 의견서제출기간 </a:t>
                      </a:r>
                    </a:p>
                    <a:p>
                      <a:pPr marL="124460" marR="0" indent="-12446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②</a:t>
                      </a:r>
                      <a:r>
                        <a:rPr lang="ko-KR" altLang="en-US" sz="900" kern="1200" dirty="0" err="1">
                          <a:solidFill>
                            <a:schemeClr val="tx1"/>
                          </a:solidFill>
                          <a:latin typeface="+mn-lt"/>
                          <a:ea typeface="+mn-ea"/>
                          <a:cs typeface="+mn-cs"/>
                        </a:rPr>
                        <a:t>최후거절이유통지받은</a:t>
                      </a:r>
                      <a:r>
                        <a:rPr lang="ko-KR" altLang="en-US" sz="900" kern="1200" dirty="0">
                          <a:solidFill>
                            <a:schemeClr val="tx1"/>
                          </a:solidFill>
                          <a:latin typeface="+mn-lt"/>
                          <a:ea typeface="+mn-ea"/>
                          <a:cs typeface="+mn-cs"/>
                        </a:rPr>
                        <a:t> 경우 의견서제출기간 </a:t>
                      </a:r>
                    </a:p>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③재심사를 청구할 때</a:t>
                      </a:r>
                    </a:p>
                  </a:txBody>
                  <a:tcPr marL="45699" marR="45699" marT="18000" marB="18000" anchor="ctr"/>
                </a:tc>
                <a:tc>
                  <a:txBody>
                    <a:bodyPr/>
                    <a:lstStyle/>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동종우선</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제</a:t>
                      </a: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국 출원일로부터 </a:t>
                      </a:r>
                      <a:r>
                        <a:rPr lang="en-US" altLang="ko-KR" sz="900" kern="1200" dirty="0">
                          <a:solidFill>
                            <a:schemeClr val="tx1"/>
                          </a:solidFill>
                          <a:latin typeface="+mn-lt"/>
                          <a:ea typeface="+mn-ea"/>
                          <a:cs typeface="+mn-cs"/>
                        </a:rPr>
                        <a:t>1</a:t>
                      </a:r>
                      <a:r>
                        <a:rPr lang="ko-KR" altLang="en-US" sz="900" kern="1200" dirty="0" err="1">
                          <a:solidFill>
                            <a:schemeClr val="tx1"/>
                          </a:solidFill>
                          <a:latin typeface="+mn-lt"/>
                          <a:ea typeface="+mn-ea"/>
                          <a:cs typeface="+mn-cs"/>
                        </a:rPr>
                        <a:t>년이내</a:t>
                      </a:r>
                      <a:endParaRPr lang="ko-KR" altLang="en-US" sz="900" kern="1200" dirty="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이종우선</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제</a:t>
                      </a: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국 출원일로부터 </a:t>
                      </a:r>
                      <a:r>
                        <a:rPr lang="en-US" altLang="ko-KR" sz="900" kern="1200" dirty="0">
                          <a:solidFill>
                            <a:schemeClr val="tx1"/>
                          </a:solidFill>
                          <a:latin typeface="+mn-lt"/>
                          <a:ea typeface="+mn-ea"/>
                          <a:cs typeface="+mn-cs"/>
                        </a:rPr>
                        <a:t>6</a:t>
                      </a:r>
                      <a:r>
                        <a:rPr lang="ko-KR" altLang="en-US" sz="900" kern="1200" dirty="0">
                          <a:solidFill>
                            <a:schemeClr val="tx1"/>
                          </a:solidFill>
                          <a:latin typeface="+mn-lt"/>
                          <a:ea typeface="+mn-ea"/>
                          <a:cs typeface="+mn-cs"/>
                        </a:rPr>
                        <a:t>개월이내 </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err="1">
                          <a:solidFill>
                            <a:schemeClr val="tx1"/>
                          </a:solidFill>
                          <a:latin typeface="+mn-lt"/>
                          <a:ea typeface="+mn-ea"/>
                          <a:cs typeface="+mn-cs"/>
                        </a:rPr>
                        <a:t>선출원의</a:t>
                      </a:r>
                      <a:r>
                        <a:rPr lang="ko-KR" altLang="en-US" sz="900" kern="1200" dirty="0">
                          <a:solidFill>
                            <a:schemeClr val="tx1"/>
                          </a:solidFill>
                          <a:latin typeface="+mn-lt"/>
                          <a:ea typeface="+mn-ea"/>
                          <a:cs typeface="+mn-cs"/>
                        </a:rPr>
                        <a:t> 출원일로부터 </a:t>
                      </a:r>
                      <a:r>
                        <a:rPr lang="en-US" altLang="ko-KR" sz="900" kern="1200" dirty="0">
                          <a:solidFill>
                            <a:schemeClr val="tx1"/>
                          </a:solidFill>
                          <a:latin typeface="+mn-lt"/>
                          <a:ea typeface="+mn-ea"/>
                          <a:cs typeface="+mn-cs"/>
                        </a:rPr>
                        <a:t>1</a:t>
                      </a:r>
                      <a:r>
                        <a:rPr lang="ko-KR" altLang="en-US" sz="900" kern="1200" dirty="0" err="1">
                          <a:solidFill>
                            <a:schemeClr val="tx1"/>
                          </a:solidFill>
                          <a:latin typeface="+mn-lt"/>
                          <a:ea typeface="+mn-ea"/>
                          <a:cs typeface="+mn-cs"/>
                        </a:rPr>
                        <a:t>년이내</a:t>
                      </a:r>
                      <a:endParaRPr lang="ko-KR" altLang="en-US" sz="900" kern="1200" dirty="0">
                        <a:solidFill>
                          <a:schemeClr val="tx1"/>
                        </a:solidFill>
                        <a:latin typeface="+mn-lt"/>
                        <a:ea typeface="+mn-ea"/>
                        <a:cs typeface="+mn-cs"/>
                      </a:endParaRPr>
                    </a:p>
                  </a:txBody>
                  <a:tcPr marL="45699" marR="45699" marT="18000" marB="18000" anchor="ctr"/>
                </a:tc>
                <a:extLst>
                  <a:ext uri="{0D108BD9-81ED-4DB2-BD59-A6C34878D82A}">
                    <a16:rowId xmlns:a16="http://schemas.microsoft.com/office/drawing/2014/main" val="1402780529"/>
                  </a:ext>
                </a:extLst>
              </a:tr>
              <a:tr h="446897">
                <a:tc gridSpan="2">
                  <a:txBody>
                    <a:bodyPr/>
                    <a:lstStyle/>
                    <a:p>
                      <a:pPr marL="0" marR="0" indent="0" algn="ctr" fontAlgn="base" latinLnBrk="0">
                        <a:lnSpc>
                          <a:spcPct val="100000"/>
                        </a:lnSpc>
                        <a:spcBef>
                          <a:spcPts val="0"/>
                        </a:spcBef>
                        <a:spcAft>
                          <a:spcPts val="0"/>
                        </a:spcAft>
                      </a:pPr>
                      <a:r>
                        <a:rPr lang="ko-KR" altLang="en-US" sz="900" kern="1200" dirty="0">
                          <a:solidFill>
                            <a:schemeClr val="tx1"/>
                          </a:solidFill>
                          <a:latin typeface="+mn-lt"/>
                          <a:ea typeface="+mn-ea"/>
                          <a:cs typeface="+mn-cs"/>
                        </a:rPr>
                        <a:t>절차</a:t>
                      </a:r>
                    </a:p>
                  </a:txBody>
                  <a:tcPr marL="45699" marR="45699" marT="18000" marB="18000"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법</a:t>
                      </a:r>
                      <a:r>
                        <a:rPr lang="en-US" altLang="ko-KR" sz="900" kern="1200" dirty="0">
                          <a:solidFill>
                            <a:schemeClr val="tx1"/>
                          </a:solidFill>
                          <a:latin typeface="+mn-lt"/>
                          <a:ea typeface="+mn-ea"/>
                          <a:cs typeface="+mn-cs"/>
                        </a:rPr>
                        <a:t>30</a:t>
                      </a:r>
                      <a:r>
                        <a:rPr lang="ko-KR" altLang="en-US" sz="900" kern="1200" dirty="0">
                          <a:solidFill>
                            <a:schemeClr val="tx1"/>
                          </a:solidFill>
                          <a:latin typeface="+mn-lt"/>
                          <a:ea typeface="+mn-ea"/>
                          <a:cs typeface="+mn-cs"/>
                        </a:rPr>
                        <a:t>①</a:t>
                      </a:r>
                      <a:r>
                        <a:rPr lang="en-US" altLang="ko-KR" sz="900" kern="1200" dirty="0">
                          <a:solidFill>
                            <a:schemeClr val="tx1"/>
                          </a:solidFill>
                          <a:latin typeface="+mn-lt"/>
                          <a:ea typeface="+mn-ea"/>
                          <a:cs typeface="+mn-cs"/>
                        </a:rPr>
                        <a:t>Ⅰ</a:t>
                      </a:r>
                      <a:r>
                        <a:rPr lang="ko-KR" altLang="en-US" sz="900" kern="1200" dirty="0">
                          <a:solidFill>
                            <a:schemeClr val="tx1"/>
                          </a:solidFill>
                          <a:latin typeface="+mn-lt"/>
                          <a:ea typeface="+mn-ea"/>
                          <a:cs typeface="+mn-cs"/>
                        </a:rPr>
                        <a:t>의 경우 </a:t>
                      </a:r>
                      <a:r>
                        <a:rPr lang="ko-KR" altLang="en-US" sz="900" kern="1200" dirty="0" err="1">
                          <a:solidFill>
                            <a:schemeClr val="tx1"/>
                          </a:solidFill>
                          <a:latin typeface="+mn-lt"/>
                          <a:ea typeface="+mn-ea"/>
                          <a:cs typeface="+mn-cs"/>
                        </a:rPr>
                        <a:t>출원서에</a:t>
                      </a:r>
                      <a:r>
                        <a:rPr lang="ko-KR" altLang="en-US" sz="900" kern="1200" dirty="0">
                          <a:solidFill>
                            <a:schemeClr val="tx1"/>
                          </a:solidFill>
                          <a:latin typeface="+mn-lt"/>
                          <a:ea typeface="+mn-ea"/>
                          <a:cs typeface="+mn-cs"/>
                        </a:rPr>
                        <a:t> 취지 기재하고 출원일로부터 </a:t>
                      </a:r>
                      <a:r>
                        <a:rPr lang="en-US" altLang="ko-KR" sz="900" kern="1200" dirty="0">
                          <a:solidFill>
                            <a:schemeClr val="tx1"/>
                          </a:solidFill>
                          <a:latin typeface="+mn-lt"/>
                          <a:ea typeface="+mn-ea"/>
                          <a:cs typeface="+mn-cs"/>
                        </a:rPr>
                        <a:t>30</a:t>
                      </a:r>
                      <a:r>
                        <a:rPr lang="ko-KR" altLang="en-US" sz="900" kern="1200" dirty="0">
                          <a:solidFill>
                            <a:schemeClr val="tx1"/>
                          </a:solidFill>
                          <a:latin typeface="+mn-lt"/>
                          <a:ea typeface="+mn-ea"/>
                          <a:cs typeface="+mn-cs"/>
                        </a:rPr>
                        <a:t>일 이내 증명서류 제출</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다만</a:t>
                      </a:r>
                      <a:r>
                        <a:rPr lang="en-US" altLang="ko-KR" sz="900" kern="1200" dirty="0">
                          <a:solidFill>
                            <a:schemeClr val="tx1"/>
                          </a:solidFill>
                          <a:latin typeface="+mn-lt"/>
                          <a:ea typeface="+mn-ea"/>
                          <a:cs typeface="+mn-cs"/>
                        </a:rPr>
                        <a:t>, </a:t>
                      </a:r>
                      <a:r>
                        <a:rPr lang="ko-KR" altLang="en-US" sz="900" kern="1200" dirty="0">
                          <a:solidFill>
                            <a:schemeClr val="tx1"/>
                          </a:solidFill>
                          <a:latin typeface="+mn-lt"/>
                          <a:ea typeface="+mn-ea"/>
                          <a:cs typeface="+mn-cs"/>
                        </a:rPr>
                        <a:t>보완수수료를 납부한 경우 </a:t>
                      </a:r>
                      <a:r>
                        <a:rPr lang="ko-KR" altLang="en-US" sz="900" kern="1200" dirty="0" err="1">
                          <a:solidFill>
                            <a:schemeClr val="tx1"/>
                          </a:solidFill>
                          <a:latin typeface="+mn-lt"/>
                          <a:ea typeface="+mn-ea"/>
                          <a:cs typeface="+mn-cs"/>
                        </a:rPr>
                        <a:t>보정기간</a:t>
                      </a:r>
                      <a:r>
                        <a:rPr lang="ko-KR" altLang="en-US" sz="900" kern="1200" dirty="0">
                          <a:solidFill>
                            <a:schemeClr val="tx1"/>
                          </a:solidFill>
                          <a:latin typeface="+mn-lt"/>
                          <a:ea typeface="+mn-ea"/>
                          <a:cs typeface="+mn-cs"/>
                        </a:rPr>
                        <a:t> 또는 </a:t>
                      </a:r>
                      <a:r>
                        <a:rPr lang="ko-KR" altLang="en-US" sz="900" kern="1200" dirty="0" err="1">
                          <a:solidFill>
                            <a:schemeClr val="tx1"/>
                          </a:solidFill>
                          <a:latin typeface="+mn-lt"/>
                          <a:ea typeface="+mn-ea"/>
                          <a:cs typeface="+mn-cs"/>
                        </a:rPr>
                        <a:t>특허결정등본송달일로부터</a:t>
                      </a:r>
                      <a:r>
                        <a:rPr lang="ko-KR" altLang="en-US" sz="900" kern="1200" dirty="0">
                          <a:solidFill>
                            <a:schemeClr val="tx1"/>
                          </a:solidFill>
                          <a:latin typeface="+mn-lt"/>
                          <a:ea typeface="+mn-ea"/>
                          <a:cs typeface="+mn-cs"/>
                        </a:rPr>
                        <a:t> </a:t>
                      </a:r>
                      <a:r>
                        <a:rPr lang="en-US" altLang="ko-KR" sz="900" kern="1200" dirty="0">
                          <a:solidFill>
                            <a:schemeClr val="tx1"/>
                          </a:solidFill>
                          <a:latin typeface="+mn-lt"/>
                          <a:ea typeface="+mn-ea"/>
                          <a:cs typeface="+mn-cs"/>
                        </a:rPr>
                        <a:t>3</a:t>
                      </a:r>
                      <a:r>
                        <a:rPr lang="ko-KR" altLang="en-US" sz="900" kern="1200" dirty="0">
                          <a:solidFill>
                            <a:schemeClr val="tx1"/>
                          </a:solidFill>
                          <a:latin typeface="+mn-lt"/>
                          <a:ea typeface="+mn-ea"/>
                          <a:cs typeface="+mn-cs"/>
                        </a:rPr>
                        <a:t>개월이나 설정등록일까지</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a:solidFill>
                            <a:srgbClr val="FF0000"/>
                          </a:solidFill>
                          <a:latin typeface="+mn-lt"/>
                          <a:ea typeface="+mn-ea"/>
                          <a:cs typeface="+mn-cs"/>
                        </a:rPr>
                        <a:t>정당한 권리자임을 증명하는 서류 첨부</a:t>
                      </a: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err="1">
                          <a:solidFill>
                            <a:schemeClr val="tx1"/>
                          </a:solidFill>
                          <a:latin typeface="+mn-lt"/>
                          <a:ea typeface="+mn-ea"/>
                          <a:cs typeface="+mn-cs"/>
                        </a:rPr>
                        <a:t>보정서</a:t>
                      </a:r>
                      <a:r>
                        <a:rPr lang="ko-KR" altLang="en-US" sz="900" kern="1200" dirty="0">
                          <a:solidFill>
                            <a:schemeClr val="tx1"/>
                          </a:solidFill>
                          <a:latin typeface="+mn-lt"/>
                          <a:ea typeface="+mn-ea"/>
                          <a:cs typeface="+mn-cs"/>
                        </a:rPr>
                        <a:t> 제출</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수수료 납부</a:t>
                      </a: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최초</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최후거절이유통지에 대응한 의견서 </a:t>
                      </a:r>
                      <a:r>
                        <a:rPr lang="ko-KR" altLang="en-US" sz="900" kern="1200" dirty="0" err="1">
                          <a:solidFill>
                            <a:schemeClr val="tx1"/>
                          </a:solidFill>
                          <a:latin typeface="+mn-lt"/>
                          <a:ea typeface="+mn-ea"/>
                          <a:cs typeface="+mn-cs"/>
                        </a:rPr>
                        <a:t>제출기간에</a:t>
                      </a:r>
                      <a:r>
                        <a:rPr lang="ko-KR" altLang="en-US" sz="900" kern="1200" dirty="0">
                          <a:solidFill>
                            <a:schemeClr val="tx1"/>
                          </a:solidFill>
                          <a:latin typeface="+mn-lt"/>
                          <a:ea typeface="+mn-ea"/>
                          <a:cs typeface="+mn-cs"/>
                        </a:rPr>
                        <a:t> 보정을 하는 경우에는 각각의 보정절차에서 마지막 보정 전에 한 모든 보정은 취하</a:t>
                      </a:r>
                    </a:p>
                  </a:txBody>
                  <a:tcPr marL="45699" marR="45699" marT="18000" marB="18000" anchor="ctr"/>
                </a:tc>
                <a:tc>
                  <a:txBody>
                    <a:bodyPr/>
                    <a:lstStyle/>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출원과 동시에 취지</a:t>
                      </a:r>
                      <a:r>
                        <a:rPr lang="en-US" altLang="ko-KR"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출원국가명</a:t>
                      </a:r>
                      <a:r>
                        <a:rPr lang="en-US" altLang="ko-KR"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출원연월일</a:t>
                      </a:r>
                      <a:r>
                        <a:rPr lang="ko-KR" altLang="en-US" sz="900" kern="1200" dirty="0">
                          <a:solidFill>
                            <a:schemeClr val="tx1"/>
                          </a:solidFill>
                          <a:latin typeface="+mn-lt"/>
                          <a:ea typeface="+mn-ea"/>
                          <a:cs typeface="+mn-cs"/>
                        </a:rPr>
                        <a:t> 기재</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法</a:t>
                      </a:r>
                      <a:r>
                        <a:rPr lang="en-US" altLang="ko-KR" sz="900" kern="1200" dirty="0">
                          <a:solidFill>
                            <a:schemeClr val="tx1"/>
                          </a:solidFill>
                          <a:latin typeface="+mn-lt"/>
                          <a:ea typeface="+mn-ea"/>
                          <a:cs typeface="+mn-cs"/>
                        </a:rPr>
                        <a:t>54</a:t>
                      </a:r>
                      <a:r>
                        <a:rPr lang="ko-KR" altLang="en-US" sz="900" kern="1200" dirty="0">
                          <a:solidFill>
                            <a:schemeClr val="tx1"/>
                          </a:solidFill>
                          <a:latin typeface="+mn-lt"/>
                          <a:ea typeface="+mn-ea"/>
                          <a:cs typeface="+mn-cs"/>
                        </a:rPr>
                        <a:t>③</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우선권주장의 보정 또는 추가</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法</a:t>
                      </a:r>
                      <a:r>
                        <a:rPr lang="en-US" altLang="ko-KR" sz="900" kern="1200" dirty="0">
                          <a:solidFill>
                            <a:schemeClr val="tx1"/>
                          </a:solidFill>
                          <a:latin typeface="+mn-lt"/>
                          <a:ea typeface="+mn-ea"/>
                          <a:cs typeface="+mn-cs"/>
                        </a:rPr>
                        <a:t>54</a:t>
                      </a:r>
                      <a:r>
                        <a:rPr lang="ko-KR" altLang="en-US" sz="900" kern="1200" dirty="0">
                          <a:solidFill>
                            <a:schemeClr val="tx1"/>
                          </a:solidFill>
                          <a:latin typeface="+mn-lt"/>
                          <a:ea typeface="+mn-ea"/>
                          <a:cs typeface="+mn-cs"/>
                        </a:rPr>
                        <a:t>⑦</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3.</a:t>
                      </a:r>
                      <a:r>
                        <a:rPr lang="ko-KR" altLang="en-US" sz="900" kern="1200" dirty="0">
                          <a:solidFill>
                            <a:schemeClr val="tx1"/>
                          </a:solidFill>
                          <a:latin typeface="+mn-lt"/>
                          <a:ea typeface="+mn-ea"/>
                          <a:cs typeface="+mn-cs"/>
                        </a:rPr>
                        <a:t>우선권증명서류를 최우선일로부터 </a:t>
                      </a: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년 </a:t>
                      </a:r>
                      <a:r>
                        <a:rPr lang="en-US" altLang="ko-KR" sz="900" kern="1200" dirty="0">
                          <a:solidFill>
                            <a:schemeClr val="tx1"/>
                          </a:solidFill>
                          <a:latin typeface="+mn-lt"/>
                          <a:ea typeface="+mn-ea"/>
                          <a:cs typeface="+mn-cs"/>
                        </a:rPr>
                        <a:t>4</a:t>
                      </a:r>
                      <a:r>
                        <a:rPr lang="ko-KR" altLang="en-US" sz="900" kern="1200" dirty="0" err="1">
                          <a:solidFill>
                            <a:schemeClr val="tx1"/>
                          </a:solidFill>
                          <a:latin typeface="+mn-lt"/>
                          <a:ea typeface="+mn-ea"/>
                          <a:cs typeface="+mn-cs"/>
                        </a:rPr>
                        <a:t>월이내</a:t>
                      </a:r>
                      <a:r>
                        <a:rPr lang="ko-KR" altLang="en-US" sz="900" kern="1200" dirty="0">
                          <a:solidFill>
                            <a:schemeClr val="tx1"/>
                          </a:solidFill>
                          <a:latin typeface="+mn-lt"/>
                          <a:ea typeface="+mn-ea"/>
                          <a:cs typeface="+mn-cs"/>
                        </a:rPr>
                        <a:t> 제출</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法</a:t>
                      </a:r>
                      <a:r>
                        <a:rPr lang="en-US" altLang="ko-KR" sz="900" kern="1200" dirty="0">
                          <a:solidFill>
                            <a:schemeClr val="tx1"/>
                          </a:solidFill>
                          <a:latin typeface="+mn-lt"/>
                          <a:ea typeface="+mn-ea"/>
                          <a:cs typeface="+mn-cs"/>
                        </a:rPr>
                        <a:t>54</a:t>
                      </a:r>
                      <a:r>
                        <a:rPr lang="ko-KR" altLang="en-US" sz="900" kern="1200" dirty="0">
                          <a:solidFill>
                            <a:schemeClr val="tx1"/>
                          </a:solidFill>
                          <a:latin typeface="+mn-lt"/>
                          <a:ea typeface="+mn-ea"/>
                          <a:cs typeface="+mn-cs"/>
                        </a:rPr>
                        <a:t>④⑤⑥</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txBody>
                  <a:tcPr marL="45699" marR="45699" marT="18000" marB="18000" anchor="ctr"/>
                </a:tc>
                <a:tc>
                  <a:txBody>
                    <a:bodyPr/>
                    <a:lstStyle/>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출원과 동시에 취지</a:t>
                      </a:r>
                      <a:r>
                        <a:rPr lang="en-US" altLang="ko-KR"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선출원의</a:t>
                      </a:r>
                      <a:r>
                        <a:rPr lang="ko-KR" altLang="en-US" sz="900" kern="1200" dirty="0">
                          <a:solidFill>
                            <a:schemeClr val="tx1"/>
                          </a:solidFill>
                          <a:latin typeface="+mn-lt"/>
                          <a:ea typeface="+mn-ea"/>
                          <a:cs typeface="+mn-cs"/>
                        </a:rPr>
                        <a:t> 표시</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法</a:t>
                      </a:r>
                      <a:r>
                        <a:rPr lang="en-US" altLang="ko-KR" sz="900" kern="1200" dirty="0">
                          <a:solidFill>
                            <a:schemeClr val="tx1"/>
                          </a:solidFill>
                          <a:latin typeface="+mn-lt"/>
                          <a:ea typeface="+mn-ea"/>
                          <a:cs typeface="+mn-cs"/>
                        </a:rPr>
                        <a:t>55</a:t>
                      </a:r>
                      <a:r>
                        <a:rPr lang="ko-KR" altLang="en-US" sz="900" kern="1200" dirty="0">
                          <a:solidFill>
                            <a:schemeClr val="tx1"/>
                          </a:solidFill>
                          <a:latin typeface="+mn-lt"/>
                          <a:ea typeface="+mn-ea"/>
                          <a:cs typeface="+mn-cs"/>
                        </a:rPr>
                        <a:t>②</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우선권주장의 보정 또는 추가</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法</a:t>
                      </a:r>
                      <a:r>
                        <a:rPr lang="en-US" altLang="ko-KR" sz="900" kern="1200" dirty="0">
                          <a:solidFill>
                            <a:schemeClr val="tx1"/>
                          </a:solidFill>
                          <a:latin typeface="+mn-lt"/>
                          <a:ea typeface="+mn-ea"/>
                          <a:cs typeface="+mn-cs"/>
                        </a:rPr>
                        <a:t>55</a:t>
                      </a:r>
                      <a:r>
                        <a:rPr lang="ko-KR" altLang="en-US" sz="900" kern="1200" dirty="0">
                          <a:solidFill>
                            <a:schemeClr val="tx1"/>
                          </a:solidFill>
                          <a:latin typeface="Rix모던고딕 B" panose="02020603020101020101" pitchFamily="18" charset="-127"/>
                          <a:ea typeface="Rix모던고딕 B" panose="02020603020101020101" pitchFamily="18" charset="-127"/>
                          <a:cs typeface="+mn-cs"/>
                        </a:rPr>
                        <a:t>⑦</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단</a:t>
                      </a: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년</a:t>
                      </a:r>
                      <a:r>
                        <a:rPr lang="en-US" altLang="ko-KR" sz="900" kern="1200" dirty="0">
                          <a:solidFill>
                            <a:schemeClr val="tx1"/>
                          </a:solidFill>
                          <a:latin typeface="+mn-lt"/>
                          <a:ea typeface="+mn-ea"/>
                          <a:cs typeface="+mn-cs"/>
                        </a:rPr>
                        <a:t>3</a:t>
                      </a:r>
                      <a:r>
                        <a:rPr lang="ko-KR" altLang="en-US" sz="900" kern="1200" dirty="0">
                          <a:solidFill>
                            <a:schemeClr val="tx1"/>
                          </a:solidFill>
                          <a:latin typeface="+mn-lt"/>
                          <a:ea typeface="+mn-ea"/>
                          <a:cs typeface="+mn-cs"/>
                        </a:rPr>
                        <a:t>월 지난 후에는 우선권주장의 취하 不可</a:t>
                      </a:r>
                    </a:p>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3.</a:t>
                      </a:r>
                      <a:r>
                        <a:rPr lang="ko-KR" altLang="en-US" sz="900" kern="1200" dirty="0">
                          <a:solidFill>
                            <a:schemeClr val="tx1"/>
                          </a:solidFill>
                          <a:latin typeface="+mn-lt"/>
                          <a:ea typeface="+mn-ea"/>
                          <a:cs typeface="+mn-cs"/>
                        </a:rPr>
                        <a:t>증명서류제출 불요</a:t>
                      </a:r>
                    </a:p>
                  </a:txBody>
                  <a:tcPr marL="45699" marR="45699" marT="18000" marB="18000" anchor="ctr"/>
                </a:tc>
                <a:extLst>
                  <a:ext uri="{0D108BD9-81ED-4DB2-BD59-A6C34878D82A}">
                    <a16:rowId xmlns:a16="http://schemas.microsoft.com/office/drawing/2014/main" val="4081333889"/>
                  </a:ext>
                </a:extLst>
              </a:tr>
              <a:tr h="531818">
                <a:tc rowSpan="2">
                  <a:txBody>
                    <a:bodyPr/>
                    <a:lstStyle/>
                    <a:p>
                      <a:pPr marL="0" marR="0" indent="0" algn="ctr" fontAlgn="base" latinLnBrk="0">
                        <a:lnSpc>
                          <a:spcPct val="100000"/>
                        </a:lnSpc>
                        <a:spcBef>
                          <a:spcPts val="0"/>
                        </a:spcBef>
                        <a:spcAft>
                          <a:spcPts val="0"/>
                        </a:spcAft>
                      </a:pPr>
                      <a:r>
                        <a:rPr lang="ko-KR" altLang="en-US" sz="900" kern="1200" dirty="0">
                          <a:solidFill>
                            <a:schemeClr val="tx1"/>
                          </a:solidFill>
                          <a:latin typeface="+mn-lt"/>
                          <a:ea typeface="+mn-ea"/>
                          <a:cs typeface="+mn-cs"/>
                        </a:rPr>
                        <a:t>효과</a:t>
                      </a:r>
                    </a:p>
                  </a:txBody>
                  <a:tcPr marL="45699" marR="45699" marT="18000" marB="18000" anchor="ctr"/>
                </a:tc>
                <a:tc>
                  <a:txBody>
                    <a:bodyPr/>
                    <a:lstStyle/>
                    <a:p>
                      <a:pPr marL="0" marR="0" indent="0" algn="ctr" fontAlgn="base" latinLnBrk="0">
                        <a:lnSpc>
                          <a:spcPct val="100000"/>
                        </a:lnSpc>
                        <a:spcBef>
                          <a:spcPts val="0"/>
                        </a:spcBef>
                        <a:spcAft>
                          <a:spcPts val="0"/>
                        </a:spcAft>
                      </a:pPr>
                      <a:r>
                        <a:rPr lang="ko-KR" altLang="en-US" sz="900" kern="1200">
                          <a:solidFill>
                            <a:schemeClr val="tx1"/>
                          </a:solidFill>
                          <a:latin typeface="+mn-lt"/>
                          <a:ea typeface="+mn-ea"/>
                          <a:cs typeface="+mn-cs"/>
                        </a:rPr>
                        <a:t>적법</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공지 등이 되지 아니한 것으로 간주</a:t>
                      </a: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err="1">
                          <a:solidFill>
                            <a:schemeClr val="tx1"/>
                          </a:solidFill>
                          <a:latin typeface="+mn-lt"/>
                          <a:ea typeface="+mn-ea"/>
                          <a:cs typeface="+mn-cs"/>
                        </a:rPr>
                        <a:t>무권리자</a:t>
                      </a:r>
                      <a:r>
                        <a:rPr lang="ko-KR" altLang="en-US"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출원일로</a:t>
                      </a:r>
                      <a:r>
                        <a:rPr lang="ko-KR" altLang="en-US" sz="900" kern="1200" dirty="0">
                          <a:solidFill>
                            <a:schemeClr val="tx1"/>
                          </a:solidFill>
                          <a:latin typeface="+mn-lt"/>
                          <a:ea typeface="+mn-ea"/>
                          <a:cs typeface="+mn-cs"/>
                        </a:rPr>
                        <a:t> 소급</a:t>
                      </a: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단</a:t>
                      </a:r>
                      <a:r>
                        <a:rPr lang="en-US" altLang="ko-KR" sz="900" kern="1200" dirty="0">
                          <a:solidFill>
                            <a:schemeClr val="tx1"/>
                          </a:solidFill>
                          <a:latin typeface="+mn-lt"/>
                          <a:ea typeface="+mn-ea"/>
                          <a:cs typeface="+mn-cs"/>
                        </a:rPr>
                        <a:t>,</a:t>
                      </a:r>
                      <a:r>
                        <a:rPr lang="ko-KR" altLang="en-US" sz="900" kern="1200" dirty="0" err="1">
                          <a:solidFill>
                            <a:schemeClr val="tx1"/>
                          </a:solidFill>
                          <a:latin typeface="+mn-lt"/>
                          <a:ea typeface="+mn-ea"/>
                          <a:cs typeface="+mn-cs"/>
                        </a:rPr>
                        <a:t>등록지연에</a:t>
                      </a:r>
                      <a:r>
                        <a:rPr lang="ko-KR" altLang="en-US" sz="900" kern="1200" dirty="0">
                          <a:solidFill>
                            <a:schemeClr val="tx1"/>
                          </a:solidFill>
                          <a:latin typeface="+mn-lt"/>
                          <a:ea typeface="+mn-ea"/>
                          <a:cs typeface="+mn-cs"/>
                        </a:rPr>
                        <a:t> 따른 특허권의 존속기간의 </a:t>
                      </a:r>
                      <a:r>
                        <a:rPr lang="ko-KR" altLang="en-US" sz="900" kern="1200" dirty="0" err="1">
                          <a:solidFill>
                            <a:schemeClr val="tx1"/>
                          </a:solidFill>
                          <a:latin typeface="+mn-lt"/>
                          <a:ea typeface="+mn-ea"/>
                          <a:cs typeface="+mn-cs"/>
                        </a:rPr>
                        <a:t>연장시</a:t>
                      </a:r>
                      <a:r>
                        <a:rPr lang="ko-KR" altLang="en-US" sz="900" kern="1200" dirty="0">
                          <a:solidFill>
                            <a:schemeClr val="tx1"/>
                          </a:solidFill>
                          <a:latin typeface="+mn-lt"/>
                          <a:ea typeface="+mn-ea"/>
                          <a:cs typeface="+mn-cs"/>
                        </a:rPr>
                        <a:t> 특허출원일의 기산일은 불소급</a:t>
                      </a: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3.</a:t>
                      </a:r>
                      <a:r>
                        <a:rPr lang="ko-KR" altLang="en-US" sz="900" kern="1200" dirty="0">
                          <a:solidFill>
                            <a:schemeClr val="tx1"/>
                          </a:solidFill>
                          <a:latin typeface="+mn-lt"/>
                          <a:ea typeface="+mn-ea"/>
                          <a:cs typeface="+mn-cs"/>
                        </a:rPr>
                        <a:t>심사청구기간의 특례</a:t>
                      </a:r>
                      <a:r>
                        <a:rPr lang="en-US" altLang="ko-KR" sz="900" kern="1200" dirty="0">
                          <a:solidFill>
                            <a:schemeClr val="tx1"/>
                          </a:solidFill>
                          <a:latin typeface="+mn-lt"/>
                          <a:ea typeface="+mn-ea"/>
                          <a:cs typeface="+mn-cs"/>
                        </a:rPr>
                        <a:t>-</a:t>
                      </a:r>
                      <a:r>
                        <a:rPr lang="ko-KR" altLang="en-US" sz="900" kern="1200" dirty="0" err="1">
                          <a:solidFill>
                            <a:schemeClr val="tx1"/>
                          </a:solidFill>
                          <a:latin typeface="+mn-lt"/>
                          <a:ea typeface="+mn-ea"/>
                          <a:cs typeface="+mn-cs"/>
                        </a:rPr>
                        <a:t>무권리자</a:t>
                      </a:r>
                      <a:r>
                        <a:rPr lang="ko-KR" altLang="en-US" sz="900" kern="1200" dirty="0">
                          <a:solidFill>
                            <a:schemeClr val="tx1"/>
                          </a:solidFill>
                          <a:latin typeface="+mn-lt"/>
                          <a:ea typeface="+mn-ea"/>
                          <a:cs typeface="+mn-cs"/>
                        </a:rPr>
                        <a:t> 출원일로부터 </a:t>
                      </a:r>
                      <a:r>
                        <a:rPr lang="en-US" altLang="ko-KR" sz="900" kern="1200" dirty="0">
                          <a:solidFill>
                            <a:schemeClr val="tx1"/>
                          </a:solidFill>
                          <a:latin typeface="+mn-lt"/>
                          <a:ea typeface="+mn-ea"/>
                          <a:cs typeface="+mn-cs"/>
                        </a:rPr>
                        <a:t>3</a:t>
                      </a:r>
                      <a:r>
                        <a:rPr lang="ko-KR" altLang="en-US" sz="900" kern="1200" dirty="0">
                          <a:solidFill>
                            <a:schemeClr val="tx1"/>
                          </a:solidFill>
                          <a:latin typeface="+mn-lt"/>
                          <a:ea typeface="+mn-ea"/>
                          <a:cs typeface="+mn-cs"/>
                        </a:rPr>
                        <a:t>년 지난 경우 정당한 </a:t>
                      </a:r>
                      <a:r>
                        <a:rPr lang="ko-KR" altLang="en-US" sz="900" kern="1200" dirty="0" err="1">
                          <a:solidFill>
                            <a:schemeClr val="tx1"/>
                          </a:solidFill>
                          <a:latin typeface="+mn-lt"/>
                          <a:ea typeface="+mn-ea"/>
                          <a:cs typeface="+mn-cs"/>
                        </a:rPr>
                        <a:t>권리자출원일로부터</a:t>
                      </a:r>
                      <a:r>
                        <a:rPr lang="ko-KR" altLang="en-US" sz="900" kern="1200" dirty="0">
                          <a:solidFill>
                            <a:schemeClr val="tx1"/>
                          </a:solidFill>
                          <a:latin typeface="+mn-lt"/>
                          <a:ea typeface="+mn-ea"/>
                          <a:cs typeface="+mn-cs"/>
                        </a:rPr>
                        <a:t> </a:t>
                      </a:r>
                      <a:r>
                        <a:rPr lang="en-US" altLang="ko-KR" sz="900" kern="1200" dirty="0">
                          <a:solidFill>
                            <a:schemeClr val="tx1"/>
                          </a:solidFill>
                          <a:latin typeface="+mn-lt"/>
                          <a:ea typeface="+mn-ea"/>
                          <a:cs typeface="+mn-cs"/>
                        </a:rPr>
                        <a:t>30</a:t>
                      </a:r>
                      <a:r>
                        <a:rPr lang="ko-KR" altLang="en-US" sz="900" kern="1200" dirty="0" err="1">
                          <a:solidFill>
                            <a:schemeClr val="tx1"/>
                          </a:solidFill>
                          <a:latin typeface="+mn-lt"/>
                          <a:ea typeface="+mn-ea"/>
                          <a:cs typeface="+mn-cs"/>
                        </a:rPr>
                        <a:t>일이내</a:t>
                      </a:r>
                      <a:endParaRPr lang="ko-KR" altLang="en-US" sz="900" kern="1200" dirty="0">
                        <a:solidFill>
                          <a:schemeClr val="tx1"/>
                        </a:solidFill>
                        <a:latin typeface="+mn-lt"/>
                        <a:ea typeface="+mn-ea"/>
                        <a:cs typeface="+mn-cs"/>
                      </a:endParaRP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소급효</a:t>
                      </a: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err="1">
                          <a:solidFill>
                            <a:schemeClr val="tx1"/>
                          </a:solidFill>
                          <a:latin typeface="+mn-lt"/>
                          <a:ea typeface="+mn-ea"/>
                          <a:cs typeface="+mn-cs"/>
                        </a:rPr>
                        <a:t>판단시점의</a:t>
                      </a:r>
                      <a:r>
                        <a:rPr lang="ko-KR" altLang="en-US" sz="900" kern="1200" dirty="0">
                          <a:solidFill>
                            <a:schemeClr val="tx1"/>
                          </a:solidFill>
                          <a:latin typeface="+mn-lt"/>
                          <a:ea typeface="+mn-ea"/>
                          <a:cs typeface="+mn-cs"/>
                        </a:rPr>
                        <a:t> 소급효</a:t>
                      </a:r>
                      <a:r>
                        <a:rPr lang="en-US" altLang="ko-KR" sz="900" kern="1200" dirty="0">
                          <a:solidFill>
                            <a:schemeClr val="tx1"/>
                          </a:solidFill>
                          <a:latin typeface="+mn-lt"/>
                          <a:ea typeface="+mn-ea"/>
                          <a:cs typeface="+mn-cs"/>
                        </a:rPr>
                        <a:t>(</a:t>
                      </a:r>
                      <a:r>
                        <a:rPr lang="ko-KR" altLang="en-US" sz="900" kern="1200" dirty="0" err="1">
                          <a:solidFill>
                            <a:schemeClr val="tx1"/>
                          </a:solidFill>
                          <a:latin typeface="+mn-lt"/>
                          <a:ea typeface="+mn-ea"/>
                          <a:cs typeface="+mn-cs"/>
                        </a:rPr>
                        <a:t>심공존재등</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확대된 선출원의 적용은 국내우선권주장출원과 동일</a:t>
                      </a: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err="1">
                          <a:solidFill>
                            <a:schemeClr val="tx1"/>
                          </a:solidFill>
                          <a:latin typeface="+mn-lt"/>
                          <a:ea typeface="+mn-ea"/>
                          <a:cs typeface="+mn-cs"/>
                        </a:rPr>
                        <a:t>판단시점의</a:t>
                      </a:r>
                      <a:r>
                        <a:rPr lang="ko-KR" altLang="en-US" sz="900" kern="1200" dirty="0">
                          <a:solidFill>
                            <a:schemeClr val="tx1"/>
                          </a:solidFill>
                          <a:latin typeface="+mn-lt"/>
                          <a:ea typeface="+mn-ea"/>
                          <a:cs typeface="+mn-cs"/>
                        </a:rPr>
                        <a:t> 소급효</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심공존재등이</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확대된 </a:t>
                      </a:r>
                      <a:r>
                        <a:rPr lang="ko-KR" altLang="en-US" sz="900" kern="1200" dirty="0" err="1">
                          <a:solidFill>
                            <a:schemeClr val="tx1"/>
                          </a:solidFill>
                          <a:latin typeface="+mn-lt"/>
                          <a:ea typeface="+mn-ea"/>
                          <a:cs typeface="+mn-cs"/>
                        </a:rPr>
                        <a:t>선출원</a:t>
                      </a:r>
                      <a:endParaRPr lang="en-US" altLang="ko-KR" sz="900" kern="1200" dirty="0">
                        <a:solidFill>
                          <a:schemeClr val="tx1"/>
                        </a:solidFill>
                        <a:latin typeface="+mn-lt"/>
                        <a:ea typeface="+mn-ea"/>
                        <a:cs typeface="+mn-cs"/>
                      </a:endParaRPr>
                    </a:p>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3.</a:t>
                      </a:r>
                      <a:r>
                        <a:rPr lang="ko-KR" altLang="en-US" sz="900" kern="1200" dirty="0">
                          <a:solidFill>
                            <a:schemeClr val="tx1"/>
                          </a:solidFill>
                          <a:latin typeface="+mn-lt"/>
                          <a:ea typeface="+mn-ea"/>
                          <a:cs typeface="+mn-cs"/>
                        </a:rPr>
                        <a:t>우선권주장의 취하금지 및 간주</a:t>
                      </a:r>
                    </a:p>
                  </a:txBody>
                  <a:tcPr marL="45699" marR="45699" marT="18000" marB="18000" anchor="ctr"/>
                </a:tc>
                <a:extLst>
                  <a:ext uri="{0D108BD9-81ED-4DB2-BD59-A6C34878D82A}">
                    <a16:rowId xmlns:a16="http://schemas.microsoft.com/office/drawing/2014/main" val="1943930367"/>
                  </a:ext>
                </a:extLst>
              </a:tr>
              <a:tr h="361975">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1200" dirty="0" err="1">
                          <a:solidFill>
                            <a:schemeClr val="tx1"/>
                          </a:solidFill>
                          <a:latin typeface="+mn-lt"/>
                          <a:ea typeface="+mn-ea"/>
                          <a:cs typeface="+mn-cs"/>
                        </a:rPr>
                        <a:t>부적법</a:t>
                      </a:r>
                      <a:endParaRPr lang="ko-KR" altLang="en-US" sz="900" kern="1200" dirty="0">
                        <a:solidFill>
                          <a:schemeClr val="tx1"/>
                        </a:solidFill>
                        <a:latin typeface="+mn-lt"/>
                        <a:ea typeface="+mn-ea"/>
                        <a:cs typeface="+mn-cs"/>
                      </a:endParaRP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err="1">
                          <a:solidFill>
                            <a:schemeClr val="tx1"/>
                          </a:solidFill>
                          <a:latin typeface="+mn-lt"/>
                          <a:ea typeface="+mn-ea"/>
                          <a:cs typeface="+mn-cs"/>
                        </a:rPr>
                        <a:t>공지예외적용주장의</a:t>
                      </a:r>
                      <a:r>
                        <a:rPr lang="ko-KR" altLang="en-US" sz="900" kern="1200" dirty="0">
                          <a:solidFill>
                            <a:schemeClr val="tx1"/>
                          </a:solidFill>
                          <a:latin typeface="+mn-lt"/>
                          <a:ea typeface="+mn-ea"/>
                          <a:cs typeface="+mn-cs"/>
                        </a:rPr>
                        <a:t> 무효</a:t>
                      </a: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출원은 공지기술에 의하여 신규성</a:t>
                      </a:r>
                      <a:r>
                        <a:rPr lang="en-US" altLang="ko-KR" sz="900" kern="1200" dirty="0">
                          <a:solidFill>
                            <a:schemeClr val="tx1"/>
                          </a:solidFill>
                          <a:latin typeface="+mn-lt"/>
                          <a:ea typeface="+mn-ea"/>
                          <a:cs typeface="+mn-cs"/>
                        </a:rPr>
                        <a:t>, </a:t>
                      </a:r>
                      <a:r>
                        <a:rPr lang="ko-KR" altLang="en-US" sz="900" kern="1200" dirty="0">
                          <a:solidFill>
                            <a:schemeClr val="tx1"/>
                          </a:solidFill>
                          <a:latin typeface="+mn-lt"/>
                          <a:ea typeface="+mn-ea"/>
                          <a:cs typeface="+mn-cs"/>
                        </a:rPr>
                        <a:t>진보성 판단</a:t>
                      </a:r>
                    </a:p>
                  </a:txBody>
                  <a:tcPr marL="45699" marR="45699" marT="18000" marB="18000" anchor="ctr"/>
                </a:tc>
                <a:tc>
                  <a:txBody>
                    <a:bodyPr/>
                    <a:lstStyle/>
                    <a:p>
                      <a:pPr marL="72390" marR="0" indent="-7239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소급효 불인정</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단</a:t>
                      </a:r>
                      <a:r>
                        <a:rPr lang="en-US" altLang="ko-KR" sz="900" kern="1200" dirty="0">
                          <a:solidFill>
                            <a:schemeClr val="tx1"/>
                          </a:solidFill>
                          <a:latin typeface="+mn-lt"/>
                          <a:ea typeface="+mn-ea"/>
                          <a:cs typeface="+mn-cs"/>
                        </a:rPr>
                        <a:t>, </a:t>
                      </a:r>
                      <a:r>
                        <a:rPr lang="ko-KR" altLang="en-US" sz="900" kern="1200" dirty="0">
                          <a:solidFill>
                            <a:schemeClr val="tx1"/>
                          </a:solidFill>
                          <a:latin typeface="+mn-lt"/>
                          <a:ea typeface="+mn-ea"/>
                          <a:cs typeface="+mn-cs"/>
                        </a:rPr>
                        <a:t>무권리자의 출원에 의하여 </a:t>
                      </a:r>
                      <a:r>
                        <a:rPr lang="ko-KR" altLang="en-US" sz="900" kern="1200" dirty="0" err="1">
                          <a:solidFill>
                            <a:schemeClr val="tx1"/>
                          </a:solidFill>
                          <a:latin typeface="+mn-lt"/>
                          <a:ea typeface="+mn-ea"/>
                          <a:cs typeface="+mn-cs"/>
                        </a:rPr>
                        <a:t>거절결정되지</a:t>
                      </a:r>
                      <a:r>
                        <a:rPr lang="ko-KR" altLang="en-US" sz="900" kern="1200" dirty="0">
                          <a:solidFill>
                            <a:schemeClr val="tx1"/>
                          </a:solidFill>
                          <a:latin typeface="+mn-lt"/>
                          <a:ea typeface="+mn-ea"/>
                          <a:cs typeface="+mn-cs"/>
                        </a:rPr>
                        <a:t> 않음</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p>
                      <a:pPr marL="72390" marR="0" indent="-7239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청구범위제출유예기간 지난 경우 </a:t>
                      </a:r>
                      <a:r>
                        <a:rPr lang="ko-KR" altLang="en-US" sz="900" kern="1200" dirty="0" err="1">
                          <a:solidFill>
                            <a:schemeClr val="tx1"/>
                          </a:solidFill>
                          <a:latin typeface="+mn-lt"/>
                          <a:ea typeface="+mn-ea"/>
                          <a:cs typeface="+mn-cs"/>
                        </a:rPr>
                        <a:t>불수리</a:t>
                      </a:r>
                      <a:endParaRPr lang="ko-KR" altLang="en-US" sz="900" kern="1200" dirty="0">
                        <a:solidFill>
                          <a:schemeClr val="tx1"/>
                        </a:solidFill>
                        <a:latin typeface="+mn-lt"/>
                        <a:ea typeface="+mn-ea"/>
                        <a:cs typeface="+mn-cs"/>
                      </a:endParaRP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err="1">
                          <a:solidFill>
                            <a:schemeClr val="tx1"/>
                          </a:solidFill>
                          <a:latin typeface="+mn-lt"/>
                          <a:ea typeface="+mn-ea"/>
                          <a:cs typeface="+mn-cs"/>
                        </a:rPr>
                        <a:t>기간경과</a:t>
                      </a:r>
                      <a:r>
                        <a:rPr lang="en-US" altLang="ko-KR" sz="900" kern="1200" dirty="0">
                          <a:solidFill>
                            <a:schemeClr val="tx1"/>
                          </a:solidFill>
                          <a:latin typeface="+mn-lt"/>
                          <a:ea typeface="+mn-ea"/>
                          <a:cs typeface="+mn-cs"/>
                        </a:rPr>
                        <a:t>-</a:t>
                      </a:r>
                      <a:r>
                        <a:rPr lang="ko-KR" altLang="en-US" sz="900" kern="1200" dirty="0" err="1">
                          <a:solidFill>
                            <a:schemeClr val="tx1"/>
                          </a:solidFill>
                          <a:latin typeface="+mn-lt"/>
                          <a:ea typeface="+mn-ea"/>
                          <a:cs typeface="+mn-cs"/>
                        </a:rPr>
                        <a:t>불수리</a:t>
                      </a:r>
                      <a:endParaRPr lang="ko-KR" altLang="en-US" sz="900" kern="1200" dirty="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법</a:t>
                      </a:r>
                      <a:r>
                        <a:rPr lang="en-US" altLang="ko-KR" sz="900" kern="1200" dirty="0">
                          <a:solidFill>
                            <a:schemeClr val="tx1"/>
                          </a:solidFill>
                          <a:latin typeface="+mn-lt"/>
                          <a:ea typeface="+mn-ea"/>
                          <a:cs typeface="+mn-cs"/>
                        </a:rPr>
                        <a:t>47</a:t>
                      </a:r>
                      <a:r>
                        <a:rPr lang="ko-KR" altLang="en-US" sz="900" kern="1200" dirty="0">
                          <a:solidFill>
                            <a:schemeClr val="tx1"/>
                          </a:solidFill>
                          <a:latin typeface="+mn-lt"/>
                          <a:ea typeface="+mn-ea"/>
                          <a:cs typeface="+mn-cs"/>
                        </a:rPr>
                        <a:t>①본</a:t>
                      </a:r>
                      <a:r>
                        <a:rPr lang="en-US" altLang="ko-KR" sz="900" kern="1200" dirty="0">
                          <a:solidFill>
                            <a:schemeClr val="tx1"/>
                          </a:solidFill>
                          <a:latin typeface="+mn-lt"/>
                          <a:ea typeface="+mn-ea"/>
                          <a:cs typeface="+mn-cs"/>
                        </a:rPr>
                        <a:t>,Ⅰ</a:t>
                      </a:r>
                      <a:r>
                        <a:rPr lang="ko-KR" altLang="en-US" sz="900" kern="1200" dirty="0">
                          <a:solidFill>
                            <a:schemeClr val="tx1"/>
                          </a:solidFill>
                          <a:latin typeface="+mn-lt"/>
                          <a:ea typeface="+mn-ea"/>
                          <a:cs typeface="+mn-cs"/>
                        </a:rPr>
                        <a:t>시기 범위 위반</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거절이유</a:t>
                      </a: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3.</a:t>
                      </a:r>
                      <a:r>
                        <a:rPr lang="ko-KR" altLang="en-US" sz="900" kern="1200" dirty="0">
                          <a:solidFill>
                            <a:schemeClr val="tx1"/>
                          </a:solidFill>
                          <a:latin typeface="+mn-lt"/>
                          <a:ea typeface="+mn-ea"/>
                          <a:cs typeface="+mn-cs"/>
                        </a:rPr>
                        <a:t>법</a:t>
                      </a:r>
                      <a:r>
                        <a:rPr lang="en-US" altLang="ko-KR" sz="900" kern="1200" dirty="0">
                          <a:solidFill>
                            <a:schemeClr val="tx1"/>
                          </a:solidFill>
                          <a:latin typeface="+mn-lt"/>
                          <a:ea typeface="+mn-ea"/>
                          <a:cs typeface="+mn-cs"/>
                        </a:rPr>
                        <a:t>47</a:t>
                      </a:r>
                      <a:r>
                        <a:rPr lang="ko-KR" altLang="en-US" sz="900" kern="1200" dirty="0">
                          <a:solidFill>
                            <a:schemeClr val="tx1"/>
                          </a:solidFill>
                          <a:latin typeface="+mn-lt"/>
                          <a:ea typeface="+mn-ea"/>
                          <a:cs typeface="+mn-cs"/>
                        </a:rPr>
                        <a:t>①</a:t>
                      </a:r>
                      <a:r>
                        <a:rPr lang="en-US" altLang="ko-KR" sz="900" kern="1200" dirty="0" err="1">
                          <a:solidFill>
                            <a:schemeClr val="tx1"/>
                          </a:solidFill>
                          <a:latin typeface="+mn-lt"/>
                          <a:ea typeface="+mn-ea"/>
                          <a:cs typeface="+mn-cs"/>
                        </a:rPr>
                        <a:t>ⅡⅢ</a:t>
                      </a:r>
                      <a:r>
                        <a:rPr lang="ko-KR" altLang="en-US" sz="900" kern="1200" dirty="0">
                          <a:solidFill>
                            <a:schemeClr val="tx1"/>
                          </a:solidFill>
                          <a:latin typeface="+mn-lt"/>
                          <a:ea typeface="+mn-ea"/>
                          <a:cs typeface="+mn-cs"/>
                        </a:rPr>
                        <a:t>시기 범위 위반</a:t>
                      </a:r>
                      <a:r>
                        <a:rPr lang="en-US" altLang="ko-KR" sz="900" kern="1200" dirty="0">
                          <a:solidFill>
                            <a:schemeClr val="tx1"/>
                          </a:solidFill>
                          <a:latin typeface="+mn-lt"/>
                          <a:ea typeface="+mn-ea"/>
                          <a:cs typeface="+mn-cs"/>
                        </a:rPr>
                        <a:t>-</a:t>
                      </a:r>
                      <a:r>
                        <a:rPr lang="ko-KR" altLang="en-US" sz="900" kern="1200" dirty="0" err="1">
                          <a:solidFill>
                            <a:schemeClr val="tx1"/>
                          </a:solidFill>
                          <a:latin typeface="+mn-lt"/>
                          <a:ea typeface="+mn-ea"/>
                          <a:cs typeface="+mn-cs"/>
                        </a:rPr>
                        <a:t>보정각하</a:t>
                      </a:r>
                      <a:endParaRPr lang="en-US" altLang="ko-KR" sz="900" kern="1200" dirty="0">
                        <a:solidFill>
                          <a:schemeClr val="tx1"/>
                        </a:solidFill>
                        <a:latin typeface="+mn-lt"/>
                        <a:ea typeface="+mn-ea"/>
                        <a:cs typeface="+mn-cs"/>
                      </a:endParaRPr>
                    </a:p>
                    <a:p>
                      <a:pPr marL="73660" marR="0" indent="-7366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   (</a:t>
                      </a:r>
                      <a:r>
                        <a:rPr lang="ko-KR" altLang="en-US" sz="900" kern="1200" dirty="0">
                          <a:solidFill>
                            <a:schemeClr val="tx1"/>
                          </a:solidFill>
                          <a:latin typeface="+mn-lt"/>
                          <a:ea typeface="+mn-ea"/>
                          <a:cs typeface="+mn-cs"/>
                        </a:rPr>
                        <a:t>단</a:t>
                      </a:r>
                      <a:r>
                        <a:rPr lang="en-US" altLang="ko-KR" sz="900" kern="1200" dirty="0">
                          <a:solidFill>
                            <a:schemeClr val="tx1"/>
                          </a:solidFill>
                          <a:latin typeface="+mn-lt"/>
                          <a:ea typeface="+mn-ea"/>
                          <a:cs typeface="+mn-cs"/>
                        </a:rPr>
                        <a:t>, </a:t>
                      </a:r>
                      <a:r>
                        <a:rPr lang="ko-KR" altLang="en-US" sz="900" kern="1200" dirty="0">
                          <a:solidFill>
                            <a:schemeClr val="tx1"/>
                          </a:solidFill>
                          <a:latin typeface="+mn-lt"/>
                          <a:ea typeface="+mn-ea"/>
                          <a:cs typeface="+mn-cs"/>
                        </a:rPr>
                        <a:t>예외 존재</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txBody>
                  <a:tcPr marL="45699" marR="45699" marT="18000" marB="18000" anchor="ctr"/>
                </a:tc>
                <a:tc gridSpan="2">
                  <a:txBody>
                    <a:bodyPr/>
                    <a:lstStyle/>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우선권주장의 무효</a:t>
                      </a:r>
                    </a:p>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출원은 실제출원일을 기준으로 판단</a:t>
                      </a:r>
                    </a:p>
                  </a:txBody>
                  <a:tcPr marL="45699" marR="45699" marT="18000" marB="18000" anchor="ctr"/>
                </a:tc>
                <a:tc hMerge="1">
                  <a:txBody>
                    <a:bodyPr/>
                    <a:lstStyle/>
                    <a:p>
                      <a:pPr latinLnBrk="1"/>
                      <a:endParaRPr lang="ko-KR" altLang="en-US"/>
                    </a:p>
                  </a:txBody>
                  <a:tcPr/>
                </a:tc>
                <a:extLst>
                  <a:ext uri="{0D108BD9-81ED-4DB2-BD59-A6C34878D82A}">
                    <a16:rowId xmlns:a16="http://schemas.microsoft.com/office/drawing/2014/main" val="4267122286"/>
                  </a:ext>
                </a:extLst>
              </a:tr>
              <a:tr h="192132">
                <a:tc gridSpan="2">
                  <a:txBody>
                    <a:bodyPr/>
                    <a:lstStyle/>
                    <a:p>
                      <a:pPr marL="0" marR="0" indent="0" algn="ctr" fontAlgn="base" latinLnBrk="0">
                        <a:lnSpc>
                          <a:spcPct val="100000"/>
                        </a:lnSpc>
                        <a:spcBef>
                          <a:spcPts val="0"/>
                        </a:spcBef>
                        <a:spcAft>
                          <a:spcPts val="0"/>
                        </a:spcAft>
                      </a:pPr>
                      <a:r>
                        <a:rPr lang="ko-KR" altLang="en-US" sz="900" kern="1200" dirty="0" err="1">
                          <a:solidFill>
                            <a:schemeClr val="tx1"/>
                          </a:solidFill>
                          <a:latin typeface="+mn-lt"/>
                          <a:ea typeface="+mn-ea"/>
                          <a:cs typeface="+mn-cs"/>
                        </a:rPr>
                        <a:t>협의제</a:t>
                      </a:r>
                      <a:r>
                        <a:rPr lang="ko-KR" altLang="en-US" sz="900" kern="1200" dirty="0">
                          <a:solidFill>
                            <a:schemeClr val="tx1"/>
                          </a:solidFill>
                          <a:latin typeface="+mn-lt"/>
                          <a:ea typeface="+mn-ea"/>
                          <a:cs typeface="+mn-cs"/>
                        </a:rPr>
                        <a:t> 회피</a:t>
                      </a:r>
                    </a:p>
                  </a:txBody>
                  <a:tcPr marL="45699" marR="45699" marT="18000" marB="18000"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00" kern="1200">
                          <a:solidFill>
                            <a:schemeClr val="tx1"/>
                          </a:solidFill>
                          <a:latin typeface="+mn-lt"/>
                          <a:ea typeface="+mn-ea"/>
                          <a:cs typeface="+mn-cs"/>
                        </a:rPr>
                        <a:t>　</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a:solidFill>
                            <a:schemeClr val="tx1"/>
                          </a:solidFill>
                          <a:latin typeface="+mn-lt"/>
                          <a:ea typeface="+mn-ea"/>
                          <a:cs typeface="+mn-cs"/>
                        </a:rPr>
                        <a:t>무권리자 출원의 선출원 지위 불인정</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　</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err="1">
                          <a:solidFill>
                            <a:schemeClr val="tx1"/>
                          </a:solidFill>
                          <a:latin typeface="+mn-lt"/>
                          <a:ea typeface="+mn-ea"/>
                          <a:cs typeface="+mn-cs"/>
                        </a:rPr>
                        <a:t>선출원이</a:t>
                      </a:r>
                      <a:r>
                        <a:rPr lang="ko-KR" altLang="en-US"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외국출원이므로</a:t>
                      </a:r>
                      <a:r>
                        <a:rPr lang="ko-KR" altLang="en-US"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협의제</a:t>
                      </a:r>
                      <a:r>
                        <a:rPr lang="ko-KR" altLang="en-US" sz="900" kern="1200" dirty="0">
                          <a:solidFill>
                            <a:schemeClr val="tx1"/>
                          </a:solidFill>
                          <a:latin typeface="+mn-lt"/>
                          <a:ea typeface="+mn-ea"/>
                          <a:cs typeface="+mn-cs"/>
                        </a:rPr>
                        <a:t> 회피 不要</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선출원일로부터 </a:t>
                      </a: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년 </a:t>
                      </a:r>
                      <a:r>
                        <a:rPr lang="en-US" altLang="ko-KR" sz="900" kern="1200" dirty="0">
                          <a:solidFill>
                            <a:schemeClr val="tx1"/>
                          </a:solidFill>
                          <a:latin typeface="+mn-lt"/>
                          <a:ea typeface="+mn-ea"/>
                          <a:cs typeface="+mn-cs"/>
                        </a:rPr>
                        <a:t>3</a:t>
                      </a:r>
                      <a:r>
                        <a:rPr lang="ko-KR" altLang="en-US" sz="900" kern="1200" dirty="0">
                          <a:solidFill>
                            <a:schemeClr val="tx1"/>
                          </a:solidFill>
                          <a:latin typeface="+mn-lt"/>
                          <a:ea typeface="+mn-ea"/>
                          <a:cs typeface="+mn-cs"/>
                        </a:rPr>
                        <a:t>월 지난 후 </a:t>
                      </a:r>
                      <a:r>
                        <a:rPr lang="ko-KR" altLang="en-US" sz="900" kern="1200" dirty="0" err="1">
                          <a:solidFill>
                            <a:schemeClr val="tx1"/>
                          </a:solidFill>
                          <a:latin typeface="+mn-lt"/>
                          <a:ea typeface="+mn-ea"/>
                          <a:cs typeface="+mn-cs"/>
                        </a:rPr>
                        <a:t>선출원의</a:t>
                      </a:r>
                      <a:r>
                        <a:rPr lang="ko-KR" altLang="en-US" sz="900" kern="1200" dirty="0">
                          <a:solidFill>
                            <a:schemeClr val="tx1"/>
                          </a:solidFill>
                          <a:latin typeface="+mn-lt"/>
                          <a:ea typeface="+mn-ea"/>
                          <a:cs typeface="+mn-cs"/>
                        </a:rPr>
                        <a:t> </a:t>
                      </a:r>
                      <a:r>
                        <a:rPr lang="ko-KR" altLang="en-US" sz="900" kern="1200" dirty="0" err="1">
                          <a:solidFill>
                            <a:schemeClr val="tx1"/>
                          </a:solidFill>
                          <a:latin typeface="+mn-lt"/>
                          <a:ea typeface="+mn-ea"/>
                          <a:cs typeface="+mn-cs"/>
                        </a:rPr>
                        <a:t>취하간주</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단</a:t>
                      </a:r>
                      <a:r>
                        <a:rPr lang="en-US" altLang="ko-KR" sz="900" kern="1200" dirty="0">
                          <a:solidFill>
                            <a:schemeClr val="tx1"/>
                          </a:solidFill>
                          <a:latin typeface="+mn-lt"/>
                          <a:ea typeface="+mn-ea"/>
                          <a:cs typeface="+mn-cs"/>
                        </a:rPr>
                        <a:t>, </a:t>
                      </a:r>
                      <a:r>
                        <a:rPr lang="ko-KR" altLang="en-US" sz="900" kern="1200" dirty="0">
                          <a:solidFill>
                            <a:schemeClr val="tx1"/>
                          </a:solidFill>
                          <a:latin typeface="+mn-lt"/>
                          <a:ea typeface="+mn-ea"/>
                          <a:cs typeface="+mn-cs"/>
                        </a:rPr>
                        <a:t>예외 존재</a:t>
                      </a:r>
                      <a:r>
                        <a:rPr lang="en-US" altLang="ko-KR" sz="900" kern="1200" dirty="0">
                          <a:solidFill>
                            <a:schemeClr val="tx1"/>
                          </a:solidFill>
                          <a:latin typeface="+mn-lt"/>
                          <a:ea typeface="+mn-ea"/>
                          <a:cs typeface="+mn-cs"/>
                        </a:rPr>
                        <a:t>) / </a:t>
                      </a:r>
                      <a:r>
                        <a:rPr lang="ko-KR" altLang="en-US" sz="900" kern="1200" dirty="0">
                          <a:solidFill>
                            <a:schemeClr val="tx1"/>
                          </a:solidFill>
                          <a:latin typeface="+mn-lt"/>
                          <a:ea typeface="+mn-ea"/>
                          <a:cs typeface="+mn-cs"/>
                        </a:rPr>
                        <a:t>선출원등록불가</a:t>
                      </a:r>
                    </a:p>
                  </a:txBody>
                  <a:tcPr marL="45699" marR="45699" marT="18000" marB="18000" anchor="ctr"/>
                </a:tc>
                <a:extLst>
                  <a:ext uri="{0D108BD9-81ED-4DB2-BD59-A6C34878D82A}">
                    <a16:rowId xmlns:a16="http://schemas.microsoft.com/office/drawing/2014/main" val="1802766043"/>
                  </a:ext>
                </a:extLst>
              </a:tr>
              <a:tr h="192132">
                <a:tc gridSpan="2">
                  <a:txBody>
                    <a:bodyPr/>
                    <a:lstStyle/>
                    <a:p>
                      <a:pPr marL="0" marR="0" indent="0" algn="ctr" fontAlgn="base" latinLnBrk="0">
                        <a:lnSpc>
                          <a:spcPct val="100000"/>
                        </a:lnSpc>
                        <a:spcBef>
                          <a:spcPts val="0"/>
                        </a:spcBef>
                        <a:spcAft>
                          <a:spcPts val="0"/>
                        </a:spcAft>
                      </a:pPr>
                      <a:r>
                        <a:rPr lang="ko-KR" altLang="en-US" sz="900" kern="1200" dirty="0">
                          <a:solidFill>
                            <a:schemeClr val="tx1"/>
                          </a:solidFill>
                          <a:latin typeface="+mn-lt"/>
                          <a:ea typeface="+mn-ea"/>
                          <a:cs typeface="+mn-cs"/>
                        </a:rPr>
                        <a:t>외국어 출원</a:t>
                      </a:r>
                    </a:p>
                  </a:txBody>
                  <a:tcPr marL="45699" marR="45699" marT="18000" marB="18000"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endParaRPr lang="ko-KR" altLang="en-US" sz="900" kern="1200">
                        <a:solidFill>
                          <a:schemeClr val="tx1"/>
                        </a:solidFill>
                        <a:latin typeface="+mn-lt"/>
                        <a:ea typeface="+mn-ea"/>
                        <a:cs typeface="+mn-cs"/>
                      </a:endParaRPr>
                    </a:p>
                  </a:txBody>
                  <a:tcPr marL="45699" marR="45699" marT="18000" marB="18000" anchor="ctr"/>
                </a:tc>
                <a:tc>
                  <a:txBody>
                    <a:bodyPr/>
                    <a:lstStyle/>
                    <a:p>
                      <a:pPr marL="0" marR="0" indent="0" algn="just" fontAlgn="base" latinLnBrk="1">
                        <a:lnSpc>
                          <a:spcPct val="100000"/>
                        </a:lnSpc>
                        <a:spcBef>
                          <a:spcPts val="0"/>
                        </a:spcBef>
                        <a:spcAft>
                          <a:spcPts val="0"/>
                        </a:spcAft>
                      </a:pPr>
                      <a:endParaRPr lang="ko-KR" altLang="en-US" sz="900" kern="1200">
                        <a:solidFill>
                          <a:schemeClr val="tx1"/>
                        </a:solidFill>
                        <a:latin typeface="+mn-lt"/>
                        <a:ea typeface="+mn-ea"/>
                        <a:cs typeface="+mn-cs"/>
                      </a:endParaRPr>
                    </a:p>
                  </a:txBody>
                  <a:tcPr marL="45699" marR="45699" marT="18000" marB="18000" anchor="ctr"/>
                </a:tc>
                <a:tc>
                  <a:txBody>
                    <a:bodyPr/>
                    <a:lstStyle/>
                    <a:p>
                      <a:pPr marL="0" marR="0" indent="0" algn="just" fontAlgn="base" latinLnBrk="1">
                        <a:lnSpc>
                          <a:spcPct val="100000"/>
                        </a:lnSpc>
                        <a:spcBef>
                          <a:spcPts val="0"/>
                        </a:spcBef>
                        <a:spcAft>
                          <a:spcPts val="0"/>
                        </a:spcAft>
                      </a:pPr>
                      <a:endParaRPr lang="ko-KR" altLang="en-US" sz="900" kern="1200" dirty="0">
                        <a:solidFill>
                          <a:schemeClr val="tx1"/>
                        </a:solidFill>
                        <a:latin typeface="+mn-lt"/>
                        <a:ea typeface="+mn-ea"/>
                        <a:cs typeface="+mn-cs"/>
                      </a:endParaRPr>
                    </a:p>
                  </a:txBody>
                  <a:tcPr marL="45699" marR="45699" marT="18000" marB="18000" anchor="ctr"/>
                </a:tc>
                <a:tc>
                  <a:txBody>
                    <a:bodyPr/>
                    <a:lstStyle/>
                    <a:p>
                      <a:pPr marL="0" marR="0" indent="0" algn="just" fontAlgn="base" latinLnBrk="1">
                        <a:lnSpc>
                          <a:spcPct val="100000"/>
                        </a:lnSpc>
                        <a:spcBef>
                          <a:spcPts val="0"/>
                        </a:spcBef>
                        <a:spcAft>
                          <a:spcPts val="0"/>
                        </a:spcAft>
                      </a:pPr>
                      <a:endParaRPr lang="ko-KR" altLang="en-US" sz="900" kern="1200" dirty="0">
                        <a:solidFill>
                          <a:schemeClr val="tx1"/>
                        </a:solidFill>
                        <a:latin typeface="+mn-lt"/>
                        <a:ea typeface="+mn-ea"/>
                        <a:cs typeface="+mn-cs"/>
                      </a:endParaRPr>
                    </a:p>
                  </a:txBody>
                  <a:tcPr marL="45699" marR="45699" marT="18000" marB="18000" anchor="ctr"/>
                </a:tc>
                <a:tc>
                  <a:txBody>
                    <a:bodyPr/>
                    <a:lstStyle/>
                    <a:p>
                      <a:pPr marL="0" marR="0" indent="0" algn="just" fontAlgn="base" latinLnBrk="1">
                        <a:lnSpc>
                          <a:spcPct val="100000"/>
                        </a:lnSpc>
                        <a:spcBef>
                          <a:spcPts val="0"/>
                        </a:spcBef>
                        <a:spcAft>
                          <a:spcPts val="0"/>
                        </a:spcAft>
                      </a:pPr>
                      <a:endParaRPr lang="ko-KR" altLang="en-US" sz="900" kern="1200" dirty="0">
                        <a:solidFill>
                          <a:schemeClr val="tx1"/>
                        </a:solidFill>
                        <a:latin typeface="+mn-lt"/>
                        <a:ea typeface="+mn-ea"/>
                        <a:cs typeface="+mn-cs"/>
                      </a:endParaRPr>
                    </a:p>
                  </a:txBody>
                  <a:tcPr marL="45699" marR="45699" marT="18000" marB="18000" anchor="ctr"/>
                </a:tc>
                <a:extLst>
                  <a:ext uri="{0D108BD9-81ED-4DB2-BD59-A6C34878D82A}">
                    <a16:rowId xmlns:a16="http://schemas.microsoft.com/office/drawing/2014/main" val="307029644"/>
                  </a:ext>
                </a:extLst>
              </a:tr>
              <a:tr h="277054">
                <a:tc gridSpan="2">
                  <a:txBody>
                    <a:bodyPr/>
                    <a:lstStyle/>
                    <a:p>
                      <a:pPr marL="0" marR="0" indent="0" algn="ctr" fontAlgn="base" latinLnBrk="0">
                        <a:lnSpc>
                          <a:spcPct val="100000"/>
                        </a:lnSpc>
                        <a:spcBef>
                          <a:spcPts val="0"/>
                        </a:spcBef>
                        <a:spcAft>
                          <a:spcPts val="0"/>
                        </a:spcAft>
                      </a:pPr>
                      <a:r>
                        <a:rPr lang="ko-KR" altLang="en-US" sz="900" kern="1200">
                          <a:solidFill>
                            <a:schemeClr val="tx1"/>
                          </a:solidFill>
                          <a:latin typeface="+mn-lt"/>
                          <a:ea typeface="+mn-ea"/>
                          <a:cs typeface="+mn-cs"/>
                        </a:rPr>
                        <a:t>특례</a:t>
                      </a:r>
                    </a:p>
                  </a:txBody>
                  <a:tcPr marL="45699" marR="45699" marT="18000" marB="18000"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기준일 지난 후 </a:t>
                      </a:r>
                      <a:r>
                        <a:rPr lang="en-US" altLang="ko-KR" sz="900" kern="1200" dirty="0">
                          <a:solidFill>
                            <a:schemeClr val="tx1"/>
                          </a:solidFill>
                          <a:latin typeface="+mn-lt"/>
                          <a:ea typeface="+mn-ea"/>
                          <a:cs typeface="+mn-cs"/>
                        </a:rPr>
                        <a:t>30</a:t>
                      </a:r>
                      <a:r>
                        <a:rPr lang="ko-KR" altLang="en-US" sz="900" kern="1200" dirty="0">
                          <a:solidFill>
                            <a:schemeClr val="tx1"/>
                          </a:solidFill>
                          <a:latin typeface="+mn-lt"/>
                          <a:ea typeface="+mn-ea"/>
                          <a:cs typeface="+mn-cs"/>
                        </a:rPr>
                        <a:t>일 이내 취지 및 증명서류 제출</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a:solidFill>
                            <a:schemeClr val="tx1"/>
                          </a:solidFill>
                          <a:latin typeface="+mn-lt"/>
                          <a:ea typeface="+mn-ea"/>
                          <a:cs typeface="+mn-cs"/>
                        </a:rPr>
                        <a:t>　</a:t>
                      </a:r>
                    </a:p>
                  </a:txBody>
                  <a:tcPr marL="45699" marR="45699" marT="18000" marB="18000" anchor="ctr"/>
                </a:tc>
                <a:tc>
                  <a:txBody>
                    <a:bodyPr/>
                    <a:lstStyle/>
                    <a:p>
                      <a:pPr marL="74930" marR="0" indent="-7493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시기</a:t>
                      </a:r>
                      <a:r>
                        <a:rPr lang="en-US" altLang="ko-KR" sz="900" kern="1200" dirty="0">
                          <a:solidFill>
                            <a:schemeClr val="tx1"/>
                          </a:solidFill>
                          <a:latin typeface="+mn-lt"/>
                          <a:ea typeface="+mn-ea"/>
                          <a:cs typeface="+mn-cs"/>
                        </a:rPr>
                        <a:t>-</a:t>
                      </a:r>
                      <a:r>
                        <a:rPr lang="ko-KR" altLang="en-US" sz="900" kern="1200" dirty="0" err="1">
                          <a:solidFill>
                            <a:schemeClr val="tx1"/>
                          </a:solidFill>
                          <a:latin typeface="+mn-lt"/>
                          <a:ea typeface="+mn-ea"/>
                          <a:cs typeface="+mn-cs"/>
                        </a:rPr>
                        <a:t>수수료납부</a:t>
                      </a:r>
                      <a:r>
                        <a:rPr lang="en-US" altLang="ko-KR" sz="900" kern="1200" dirty="0">
                          <a:solidFill>
                            <a:schemeClr val="tx1"/>
                          </a:solidFill>
                          <a:latin typeface="+mn-lt"/>
                          <a:ea typeface="+mn-ea"/>
                          <a:cs typeface="+mn-cs"/>
                        </a:rPr>
                        <a:t>+</a:t>
                      </a:r>
                      <a:r>
                        <a:rPr lang="ko-KR" altLang="en-US" sz="900" kern="1200" dirty="0" err="1">
                          <a:solidFill>
                            <a:schemeClr val="tx1"/>
                          </a:solidFill>
                          <a:latin typeface="+mn-lt"/>
                          <a:ea typeface="+mn-ea"/>
                          <a:cs typeface="+mn-cs"/>
                        </a:rPr>
                        <a:t>번역문제출</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기준일 후</a:t>
                      </a:r>
                    </a:p>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2.</a:t>
                      </a:r>
                      <a:r>
                        <a:rPr lang="ko-KR" altLang="en-US" sz="900" kern="1200" dirty="0">
                          <a:solidFill>
                            <a:schemeClr val="tx1"/>
                          </a:solidFill>
                          <a:latin typeface="+mn-lt"/>
                          <a:ea typeface="+mn-ea"/>
                          <a:cs typeface="+mn-cs"/>
                        </a:rPr>
                        <a:t>범위</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원문</a:t>
                      </a:r>
                      <a:r>
                        <a:rPr lang="en-US" altLang="ko-KR" sz="900" kern="1200" dirty="0">
                          <a:solidFill>
                            <a:schemeClr val="tx1"/>
                          </a:solidFill>
                          <a:latin typeface="+mn-lt"/>
                          <a:ea typeface="+mn-ea"/>
                          <a:cs typeface="+mn-cs"/>
                        </a:rPr>
                        <a:t>&amp;</a:t>
                      </a:r>
                      <a:r>
                        <a:rPr lang="ko-KR" altLang="en-US" sz="900" kern="1200" dirty="0">
                          <a:solidFill>
                            <a:schemeClr val="tx1"/>
                          </a:solidFill>
                          <a:latin typeface="+mn-lt"/>
                          <a:ea typeface="+mn-ea"/>
                          <a:cs typeface="+mn-cs"/>
                        </a:rPr>
                        <a:t>번역문</a:t>
                      </a:r>
                      <a:r>
                        <a:rPr lang="en-US" altLang="ko-KR" sz="900" kern="1200" dirty="0">
                          <a:solidFill>
                            <a:schemeClr val="tx1"/>
                          </a:solidFill>
                          <a:latin typeface="+mn-lt"/>
                          <a:ea typeface="+mn-ea"/>
                          <a:cs typeface="+mn-cs"/>
                        </a:rPr>
                        <a:t>(</a:t>
                      </a:r>
                      <a:r>
                        <a:rPr lang="ko-KR" altLang="en-US" sz="900" kern="1200" dirty="0" err="1">
                          <a:solidFill>
                            <a:schemeClr val="tx1"/>
                          </a:solidFill>
                          <a:latin typeface="+mn-lt"/>
                          <a:ea typeface="+mn-ea"/>
                          <a:cs typeface="+mn-cs"/>
                        </a:rPr>
                        <a:t>오역정정이</a:t>
                      </a:r>
                      <a:r>
                        <a:rPr lang="ko-KR" altLang="en-US" sz="900" kern="1200" dirty="0">
                          <a:solidFill>
                            <a:schemeClr val="tx1"/>
                          </a:solidFill>
                          <a:latin typeface="+mn-lt"/>
                          <a:ea typeface="+mn-ea"/>
                          <a:cs typeface="+mn-cs"/>
                        </a:rPr>
                        <a:t> 있는 정정된 </a:t>
                      </a:r>
                      <a:r>
                        <a:rPr lang="ko-KR" altLang="en-US" sz="900" kern="1200" dirty="0" err="1">
                          <a:solidFill>
                            <a:schemeClr val="tx1"/>
                          </a:solidFill>
                          <a:latin typeface="+mn-lt"/>
                          <a:ea typeface="+mn-ea"/>
                          <a:cs typeface="+mn-cs"/>
                        </a:rPr>
                        <a:t>국어번역문</a:t>
                      </a:r>
                      <a:r>
                        <a:rPr lang="en-US" altLang="ko-KR" sz="900" kern="1200" dirty="0">
                          <a:solidFill>
                            <a:schemeClr val="tx1"/>
                          </a:solidFill>
                          <a:latin typeface="+mn-lt"/>
                          <a:ea typeface="+mn-ea"/>
                          <a:cs typeface="+mn-cs"/>
                        </a:rPr>
                        <a:t>) </a:t>
                      </a:r>
                      <a:r>
                        <a:rPr lang="ko-KR" altLang="en-US" sz="900" kern="1200" dirty="0">
                          <a:solidFill>
                            <a:schemeClr val="tx1"/>
                          </a:solidFill>
                          <a:latin typeface="+mn-lt"/>
                          <a:ea typeface="+mn-ea"/>
                          <a:cs typeface="+mn-cs"/>
                        </a:rPr>
                        <a:t>또는 도면</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설명</a:t>
                      </a:r>
                      <a:r>
                        <a:rPr lang="en-US" altLang="ko-KR" sz="900" kern="1200" dirty="0">
                          <a:solidFill>
                            <a:schemeClr val="tx1"/>
                          </a:solidFill>
                          <a:latin typeface="+mn-lt"/>
                          <a:ea typeface="+mn-ea"/>
                          <a:cs typeface="+mn-cs"/>
                        </a:rPr>
                        <a:t>X)</a:t>
                      </a:r>
                      <a:endParaRPr lang="ko-KR" altLang="en-US" sz="900" kern="1200" dirty="0">
                        <a:solidFill>
                          <a:schemeClr val="tx1"/>
                        </a:solidFill>
                        <a:latin typeface="+mn-lt"/>
                        <a:ea typeface="+mn-ea"/>
                        <a:cs typeface="+mn-cs"/>
                      </a:endParaRP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PCT </a:t>
                      </a:r>
                      <a:r>
                        <a:rPr lang="ko-KR" altLang="en-US" sz="900" kern="1200" dirty="0">
                          <a:solidFill>
                            <a:schemeClr val="tx1"/>
                          </a:solidFill>
                          <a:latin typeface="+mn-lt"/>
                          <a:ea typeface="+mn-ea"/>
                          <a:cs typeface="+mn-cs"/>
                        </a:rPr>
                        <a:t>제</a:t>
                      </a:r>
                      <a:r>
                        <a:rPr lang="en-US" altLang="ko-KR" sz="900" kern="1200" dirty="0">
                          <a:solidFill>
                            <a:schemeClr val="tx1"/>
                          </a:solidFill>
                          <a:latin typeface="+mn-lt"/>
                          <a:ea typeface="+mn-ea"/>
                          <a:cs typeface="+mn-cs"/>
                        </a:rPr>
                        <a:t>8</a:t>
                      </a:r>
                      <a:r>
                        <a:rPr lang="ko-KR" altLang="en-US" sz="900" kern="1200" dirty="0">
                          <a:solidFill>
                            <a:schemeClr val="tx1"/>
                          </a:solidFill>
                          <a:latin typeface="+mn-lt"/>
                          <a:ea typeface="+mn-ea"/>
                          <a:cs typeface="+mn-cs"/>
                        </a:rPr>
                        <a:t>조 </a:t>
                      </a:r>
                      <a:r>
                        <a:rPr lang="en-US" altLang="ko-KR" sz="900" kern="1200" dirty="0">
                          <a:solidFill>
                            <a:schemeClr val="tx1"/>
                          </a:solidFill>
                          <a:latin typeface="+mn-lt"/>
                          <a:ea typeface="+mn-ea"/>
                          <a:cs typeface="+mn-cs"/>
                        </a:rPr>
                        <a:t>(1),(2)(a)</a:t>
                      </a:r>
                      <a:r>
                        <a:rPr lang="ko-KR" altLang="en-US" sz="900" kern="1200" dirty="0">
                          <a:solidFill>
                            <a:schemeClr val="tx1"/>
                          </a:solidFill>
                          <a:latin typeface="+mn-lt"/>
                          <a:ea typeface="+mn-ea"/>
                          <a:cs typeface="+mn-cs"/>
                        </a:rPr>
                        <a:t>를 적용</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法 </a:t>
                      </a:r>
                      <a:r>
                        <a:rPr lang="en-US" altLang="ko-KR" sz="900" kern="1200" dirty="0">
                          <a:solidFill>
                            <a:schemeClr val="tx1"/>
                          </a:solidFill>
                          <a:latin typeface="+mn-lt"/>
                          <a:ea typeface="+mn-ea"/>
                          <a:cs typeface="+mn-cs"/>
                        </a:rPr>
                        <a:t>199</a:t>
                      </a:r>
                      <a:r>
                        <a:rPr lang="ko-KR" altLang="en-US" sz="900" kern="1200" dirty="0">
                          <a:solidFill>
                            <a:schemeClr val="tx1"/>
                          </a:solidFill>
                          <a:latin typeface="+mn-lt"/>
                          <a:ea typeface="+mn-ea"/>
                          <a:cs typeface="+mn-cs"/>
                        </a:rPr>
                        <a:t>②</a:t>
                      </a:r>
                      <a:r>
                        <a:rPr lang="en-US" altLang="ko-KR" sz="900" kern="1200" dirty="0">
                          <a:solidFill>
                            <a:schemeClr val="tx1"/>
                          </a:solidFill>
                          <a:latin typeface="+mn-lt"/>
                          <a:ea typeface="+mn-ea"/>
                          <a:cs typeface="+mn-cs"/>
                        </a:rPr>
                        <a:t>)</a:t>
                      </a:r>
                      <a:endParaRPr lang="ko-KR" altLang="en-US" sz="900" kern="1200" dirty="0">
                        <a:solidFill>
                          <a:schemeClr val="tx1"/>
                        </a:solidFill>
                        <a:latin typeface="+mn-lt"/>
                        <a:ea typeface="+mn-ea"/>
                        <a:cs typeface="+mn-cs"/>
                      </a:endParaRP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PCT </a:t>
                      </a:r>
                      <a:r>
                        <a:rPr lang="ko-KR" altLang="en-US" sz="900" kern="1200" dirty="0">
                          <a:solidFill>
                            <a:schemeClr val="tx1"/>
                          </a:solidFill>
                          <a:latin typeface="+mn-lt"/>
                          <a:ea typeface="+mn-ea"/>
                          <a:cs typeface="+mn-cs"/>
                        </a:rPr>
                        <a:t>제</a:t>
                      </a:r>
                      <a:r>
                        <a:rPr lang="en-US" altLang="ko-KR" sz="900" kern="1200" dirty="0">
                          <a:solidFill>
                            <a:schemeClr val="tx1"/>
                          </a:solidFill>
                          <a:latin typeface="+mn-lt"/>
                          <a:ea typeface="+mn-ea"/>
                          <a:cs typeface="+mn-cs"/>
                        </a:rPr>
                        <a:t>8</a:t>
                      </a:r>
                      <a:r>
                        <a:rPr lang="ko-KR" altLang="en-US" sz="900" kern="1200" dirty="0">
                          <a:solidFill>
                            <a:schemeClr val="tx1"/>
                          </a:solidFill>
                          <a:latin typeface="+mn-lt"/>
                          <a:ea typeface="+mn-ea"/>
                          <a:cs typeface="+mn-cs"/>
                        </a:rPr>
                        <a:t>조 </a:t>
                      </a:r>
                      <a:r>
                        <a:rPr lang="en-US" altLang="ko-KR" sz="900" kern="1200" dirty="0">
                          <a:solidFill>
                            <a:schemeClr val="tx1"/>
                          </a:solidFill>
                          <a:latin typeface="+mn-lt"/>
                          <a:ea typeface="+mn-ea"/>
                          <a:cs typeface="+mn-cs"/>
                        </a:rPr>
                        <a:t>(1),(2)(b)</a:t>
                      </a:r>
                      <a:r>
                        <a:rPr lang="ko-KR" altLang="en-US" sz="900" kern="1200" dirty="0">
                          <a:solidFill>
                            <a:schemeClr val="tx1"/>
                          </a:solidFill>
                          <a:latin typeface="+mn-lt"/>
                          <a:ea typeface="+mn-ea"/>
                          <a:cs typeface="+mn-cs"/>
                        </a:rPr>
                        <a:t>를 적용</a:t>
                      </a:r>
                      <a:r>
                        <a:rPr lang="en-US" altLang="ko-KR" sz="900" kern="1200" dirty="0">
                          <a:solidFill>
                            <a:schemeClr val="tx1"/>
                          </a:solidFill>
                          <a:latin typeface="+mn-lt"/>
                          <a:ea typeface="+mn-ea"/>
                          <a:cs typeface="+mn-cs"/>
                        </a:rPr>
                        <a:t>(</a:t>
                      </a:r>
                      <a:r>
                        <a:rPr lang="ko-KR" altLang="en-US" sz="900" kern="1200" dirty="0">
                          <a:solidFill>
                            <a:schemeClr val="tx1"/>
                          </a:solidFill>
                          <a:latin typeface="+mn-lt"/>
                          <a:ea typeface="+mn-ea"/>
                          <a:cs typeface="+mn-cs"/>
                        </a:rPr>
                        <a:t>法 </a:t>
                      </a:r>
                      <a:r>
                        <a:rPr lang="en-US" altLang="ko-KR" sz="900" kern="1200" dirty="0">
                          <a:solidFill>
                            <a:schemeClr val="tx1"/>
                          </a:solidFill>
                          <a:latin typeface="+mn-lt"/>
                          <a:ea typeface="+mn-ea"/>
                          <a:cs typeface="+mn-cs"/>
                        </a:rPr>
                        <a:t>55, 56, 202)</a:t>
                      </a:r>
                      <a:endParaRPr lang="ko-KR" altLang="en-US" sz="900" kern="1200" dirty="0">
                        <a:solidFill>
                          <a:schemeClr val="tx1"/>
                        </a:solidFill>
                        <a:latin typeface="+mn-lt"/>
                        <a:ea typeface="+mn-ea"/>
                        <a:cs typeface="+mn-cs"/>
                      </a:endParaRPr>
                    </a:p>
                  </a:txBody>
                  <a:tcPr marL="45699" marR="45699" marT="18000" marB="18000" anchor="ctr"/>
                </a:tc>
                <a:extLst>
                  <a:ext uri="{0D108BD9-81ED-4DB2-BD59-A6C34878D82A}">
                    <a16:rowId xmlns:a16="http://schemas.microsoft.com/office/drawing/2014/main" val="2280016456"/>
                  </a:ext>
                </a:extLst>
              </a:tr>
            </a:tbl>
          </a:graphicData>
        </a:graphic>
      </p:graphicFrame>
      <p:sp>
        <p:nvSpPr>
          <p:cNvPr id="2" name="슬라이드 번호 개체 틀 1"/>
          <p:cNvSpPr>
            <a:spLocks noGrp="1"/>
          </p:cNvSpPr>
          <p:nvPr>
            <p:ph type="sldNum" sz="quarter" idx="12"/>
          </p:nvPr>
        </p:nvSpPr>
        <p:spPr/>
        <p:txBody>
          <a:bodyPr/>
          <a:lstStyle/>
          <a:p>
            <a:r>
              <a:rPr lang="en-US" altLang="ko-KR"/>
              <a:t>242</a:t>
            </a:r>
            <a:endParaRPr lang="ko-KR" altLang="en-US"/>
          </a:p>
        </p:txBody>
      </p:sp>
    </p:spTree>
    <p:extLst>
      <p:ext uri="{BB962C8B-B14F-4D97-AF65-F5344CB8AC3E}">
        <p14:creationId xmlns:p14="http://schemas.microsoft.com/office/powerpoint/2010/main" val="2391262897"/>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err="1"/>
              <a:t>이익제도</a:t>
            </a:r>
            <a:r>
              <a:rPr lang="ko-KR" altLang="en-US" dirty="0"/>
              <a:t> 정리</a:t>
            </a:r>
          </a:p>
        </p:txBody>
      </p:sp>
      <p:graphicFrame>
        <p:nvGraphicFramePr>
          <p:cNvPr id="5" name="표 4"/>
          <p:cNvGraphicFramePr>
            <a:graphicFrameLocks noGrp="1"/>
          </p:cNvGraphicFramePr>
          <p:nvPr/>
        </p:nvGraphicFramePr>
        <p:xfrm>
          <a:off x="114299" y="997294"/>
          <a:ext cx="11830051" cy="5817240"/>
        </p:xfrm>
        <a:graphic>
          <a:graphicData uri="http://schemas.openxmlformats.org/drawingml/2006/table">
            <a:tbl>
              <a:tblPr>
                <a:tableStyleId>{8799B23B-EC83-4686-B30A-512413B5E67A}</a:tableStyleId>
              </a:tblPr>
              <a:tblGrid>
                <a:gridCol w="283634">
                  <a:extLst>
                    <a:ext uri="{9D8B030D-6E8A-4147-A177-3AD203B41FA5}">
                      <a16:colId xmlns:a16="http://schemas.microsoft.com/office/drawing/2014/main" val="1214876107"/>
                    </a:ext>
                  </a:extLst>
                </a:gridCol>
                <a:gridCol w="476708">
                  <a:extLst>
                    <a:ext uri="{9D8B030D-6E8A-4147-A177-3AD203B41FA5}">
                      <a16:colId xmlns:a16="http://schemas.microsoft.com/office/drawing/2014/main" val="20001"/>
                    </a:ext>
                  </a:extLst>
                </a:gridCol>
                <a:gridCol w="3564009">
                  <a:extLst>
                    <a:ext uri="{9D8B030D-6E8A-4147-A177-3AD203B41FA5}">
                      <a16:colId xmlns:a16="http://schemas.microsoft.com/office/drawing/2014/main" val="4263834630"/>
                    </a:ext>
                  </a:extLst>
                </a:gridCol>
                <a:gridCol w="3876675">
                  <a:extLst>
                    <a:ext uri="{9D8B030D-6E8A-4147-A177-3AD203B41FA5}">
                      <a16:colId xmlns:a16="http://schemas.microsoft.com/office/drawing/2014/main" val="3506241478"/>
                    </a:ext>
                  </a:extLst>
                </a:gridCol>
                <a:gridCol w="3629025">
                  <a:extLst>
                    <a:ext uri="{9D8B030D-6E8A-4147-A177-3AD203B41FA5}">
                      <a16:colId xmlns:a16="http://schemas.microsoft.com/office/drawing/2014/main" val="1529689091"/>
                    </a:ext>
                  </a:extLst>
                </a:gridCol>
              </a:tblGrid>
              <a:tr h="80340">
                <a:tc gridSpan="2">
                  <a:txBody>
                    <a:bodyPr/>
                    <a:lstStyle/>
                    <a:p>
                      <a:pPr marL="0" marR="0" indent="0" algn="ctr" fontAlgn="base" latinLnBrk="0">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　제 도</a:t>
                      </a:r>
                    </a:p>
                  </a:txBody>
                  <a:tcPr marL="45699" marR="45699" marT="18000" marB="18000"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法 </a:t>
                      </a:r>
                      <a:r>
                        <a:rPr lang="en-US" altLang="ko-KR" sz="900" kern="1200" dirty="0">
                          <a:solidFill>
                            <a:schemeClr val="accent3">
                              <a:lumMod val="50000"/>
                            </a:schemeClr>
                          </a:solidFill>
                          <a:latin typeface="+mn-lt"/>
                          <a:ea typeface="+mn-ea"/>
                          <a:cs typeface="+mn-cs"/>
                        </a:rPr>
                        <a:t>52</a:t>
                      </a:r>
                      <a:endParaRPr lang="ko-KR" altLang="en-US" sz="900" kern="1200" dirty="0">
                        <a:solidFill>
                          <a:schemeClr val="accent3">
                            <a:lumMod val="50000"/>
                          </a:schemeClr>
                        </a:solidFill>
                        <a:latin typeface="+mn-lt"/>
                        <a:ea typeface="+mn-ea"/>
                        <a:cs typeface="+mn-cs"/>
                      </a:endParaRPr>
                    </a:p>
                  </a:txBody>
                  <a:tcPr marL="45699" marR="45699" marT="18000" marB="18000" anchor="ctr">
                    <a:solidFill>
                      <a:schemeClr val="accent1">
                        <a:lumMod val="20000"/>
                        <a:lumOff val="80000"/>
                      </a:schemeClr>
                    </a:solidFill>
                  </a:tcPr>
                </a:tc>
                <a:tc>
                  <a:txBody>
                    <a:bodyPr/>
                    <a:lstStyle/>
                    <a:p>
                      <a:pPr algn="ctr" latinLnBrk="1"/>
                      <a:r>
                        <a:rPr lang="ko-KR" altLang="en-US" sz="900" kern="1200">
                          <a:solidFill>
                            <a:schemeClr val="accent3">
                              <a:lumMod val="50000"/>
                            </a:schemeClr>
                          </a:solidFill>
                          <a:latin typeface="+mn-lt"/>
                          <a:ea typeface="+mn-ea"/>
                          <a:cs typeface="+mn-cs"/>
                        </a:rPr>
                        <a:t>法 </a:t>
                      </a:r>
                      <a:r>
                        <a:rPr lang="en-US" altLang="ko-KR" sz="900" kern="1200">
                          <a:solidFill>
                            <a:schemeClr val="accent3">
                              <a:lumMod val="50000"/>
                            </a:schemeClr>
                          </a:solidFill>
                          <a:latin typeface="+mn-lt"/>
                          <a:ea typeface="+mn-ea"/>
                          <a:cs typeface="+mn-cs"/>
                        </a:rPr>
                        <a:t>52</a:t>
                      </a:r>
                      <a:r>
                        <a:rPr lang="ko-KR" altLang="en-US" sz="900" kern="1200">
                          <a:solidFill>
                            <a:schemeClr val="accent3">
                              <a:lumMod val="50000"/>
                            </a:schemeClr>
                          </a:solidFill>
                          <a:latin typeface="+mn-lt"/>
                          <a:ea typeface="+mn-ea"/>
                          <a:cs typeface="+mn-cs"/>
                        </a:rPr>
                        <a:t>의</a:t>
                      </a:r>
                      <a:r>
                        <a:rPr lang="en-US" altLang="ko-KR" sz="900" kern="1200">
                          <a:solidFill>
                            <a:schemeClr val="accent3">
                              <a:lumMod val="50000"/>
                            </a:schemeClr>
                          </a:solidFill>
                          <a:latin typeface="+mn-lt"/>
                          <a:ea typeface="+mn-ea"/>
                          <a:cs typeface="+mn-cs"/>
                        </a:rPr>
                        <a:t>2</a:t>
                      </a:r>
                      <a:endParaRPr lang="ko-KR" altLang="en-US" dirty="0">
                        <a:solidFill>
                          <a:schemeClr val="accent3">
                            <a:lumMod val="50000"/>
                          </a:schemeClr>
                        </a:solidFill>
                      </a:endParaRPr>
                    </a:p>
                  </a:txBody>
                  <a:tcPr marL="45699" marR="45699" marT="18000" marB="1800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00" kern="1200">
                          <a:solidFill>
                            <a:schemeClr val="accent3">
                              <a:lumMod val="50000"/>
                            </a:schemeClr>
                          </a:solidFill>
                          <a:latin typeface="+mn-lt"/>
                          <a:ea typeface="+mn-ea"/>
                          <a:cs typeface="+mn-cs"/>
                        </a:rPr>
                        <a:t>法 </a:t>
                      </a:r>
                      <a:r>
                        <a:rPr lang="en-US" altLang="ko-KR" sz="900" kern="1200">
                          <a:solidFill>
                            <a:schemeClr val="accent3">
                              <a:lumMod val="50000"/>
                            </a:schemeClr>
                          </a:solidFill>
                          <a:latin typeface="+mn-lt"/>
                          <a:ea typeface="+mn-ea"/>
                          <a:cs typeface="+mn-cs"/>
                        </a:rPr>
                        <a:t>53</a:t>
                      </a:r>
                      <a:endParaRPr lang="ko-KR" altLang="en-US" sz="900" kern="1200" dirty="0">
                        <a:solidFill>
                          <a:schemeClr val="accent3">
                            <a:lumMod val="50000"/>
                          </a:schemeClr>
                        </a:solidFill>
                        <a:latin typeface="+mn-lt"/>
                        <a:ea typeface="+mn-ea"/>
                        <a:cs typeface="+mn-cs"/>
                      </a:endParaRPr>
                    </a:p>
                  </a:txBody>
                  <a:tcPr marL="45699" marR="45699" marT="18000" marB="18000" anchor="ctr">
                    <a:solidFill>
                      <a:schemeClr val="accent1">
                        <a:lumMod val="20000"/>
                        <a:lumOff val="80000"/>
                      </a:schemeClr>
                    </a:solidFill>
                  </a:tcPr>
                </a:tc>
                <a:extLst>
                  <a:ext uri="{0D108BD9-81ED-4DB2-BD59-A6C34878D82A}">
                    <a16:rowId xmlns:a16="http://schemas.microsoft.com/office/drawing/2014/main" val="90793220"/>
                  </a:ext>
                </a:extLst>
              </a:tr>
              <a:tr h="143977">
                <a:tc rowSpan="3">
                  <a:txBody>
                    <a:bodyPr/>
                    <a:lstStyle/>
                    <a:p>
                      <a:pPr marL="0" marR="0" indent="0" algn="ctr" fontAlgn="base" latinLnBrk="0">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요건</a:t>
                      </a:r>
                    </a:p>
                  </a:txBody>
                  <a:tcPr marL="45699" marR="45699" marT="18000" marB="18000" anchor="ctr"/>
                </a:tc>
                <a:tc>
                  <a:txBody>
                    <a:bodyPr/>
                    <a:lstStyle/>
                    <a:p>
                      <a:pPr marL="0" marR="0" indent="0" algn="ctr" fontAlgn="base" latinLnBrk="0">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주체</a:t>
                      </a: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err="1">
                          <a:solidFill>
                            <a:schemeClr val="accent3">
                              <a:lumMod val="50000"/>
                            </a:schemeClr>
                          </a:solidFill>
                          <a:latin typeface="+mn-lt"/>
                          <a:ea typeface="+mn-ea"/>
                          <a:cs typeface="+mn-cs"/>
                        </a:rPr>
                        <a:t>분할출원당시</a:t>
                      </a:r>
                      <a:r>
                        <a:rPr lang="ko-KR" altLang="en-US" sz="900" kern="1200" dirty="0">
                          <a:solidFill>
                            <a:schemeClr val="accent3">
                              <a:lumMod val="50000"/>
                            </a:schemeClr>
                          </a:solidFill>
                          <a:latin typeface="+mn-lt"/>
                          <a:ea typeface="+mn-ea"/>
                          <a:cs typeface="+mn-cs"/>
                        </a:rPr>
                        <a:t> </a:t>
                      </a:r>
                      <a:r>
                        <a:rPr lang="ko-KR" altLang="en-US" sz="900" kern="1200" dirty="0" err="1">
                          <a:solidFill>
                            <a:schemeClr val="accent3">
                              <a:lumMod val="50000"/>
                            </a:schemeClr>
                          </a:solidFill>
                          <a:latin typeface="+mn-lt"/>
                          <a:ea typeface="+mn-ea"/>
                          <a:cs typeface="+mn-cs"/>
                        </a:rPr>
                        <a:t>원출원인</a:t>
                      </a:r>
                      <a:r>
                        <a:rPr lang="ko-KR" altLang="en-US" sz="900" kern="1200" dirty="0">
                          <a:solidFill>
                            <a:schemeClr val="accent3">
                              <a:lumMod val="50000"/>
                            </a:schemeClr>
                          </a:solidFill>
                          <a:latin typeface="+mn-lt"/>
                          <a:ea typeface="+mn-ea"/>
                          <a:cs typeface="+mn-cs"/>
                        </a:rPr>
                        <a:t> 또는 그 승계인과 </a:t>
                      </a:r>
                      <a:r>
                        <a:rPr lang="ko-KR" altLang="en-US" sz="900" kern="1200" dirty="0" err="1">
                          <a:solidFill>
                            <a:schemeClr val="accent3">
                              <a:lumMod val="50000"/>
                            </a:schemeClr>
                          </a:solidFill>
                          <a:latin typeface="+mn-lt"/>
                          <a:ea typeface="+mn-ea"/>
                          <a:cs typeface="+mn-cs"/>
                        </a:rPr>
                        <a:t>분할출원인이</a:t>
                      </a:r>
                      <a:r>
                        <a:rPr lang="ko-KR" altLang="en-US" sz="900" kern="1200" dirty="0">
                          <a:solidFill>
                            <a:schemeClr val="accent3">
                              <a:lumMod val="50000"/>
                            </a:schemeClr>
                          </a:solidFill>
                          <a:latin typeface="+mn-lt"/>
                          <a:ea typeface="+mn-ea"/>
                          <a:cs typeface="+mn-cs"/>
                        </a:rPr>
                        <a:t> 동일인</a:t>
                      </a:r>
                    </a:p>
                  </a:txBody>
                  <a:tcPr marL="45699" marR="45699" marT="18000" marB="18000" anchor="ctr"/>
                </a:tc>
                <a:tc>
                  <a:txBody>
                    <a:bodyPr/>
                    <a:lstStyle/>
                    <a:p>
                      <a:pPr latinLnBrk="1"/>
                      <a:r>
                        <a:rPr lang="ko-KR" altLang="en-US" sz="900" kern="1200" dirty="0" err="1">
                          <a:solidFill>
                            <a:schemeClr val="accent3">
                              <a:lumMod val="50000"/>
                            </a:schemeClr>
                          </a:solidFill>
                          <a:latin typeface="+mn-lt"/>
                          <a:ea typeface="+mn-ea"/>
                          <a:cs typeface="+mn-cs"/>
                        </a:rPr>
                        <a:t>분리출원당시</a:t>
                      </a:r>
                      <a:r>
                        <a:rPr lang="ko-KR" altLang="en-US" sz="900" kern="1200" dirty="0">
                          <a:solidFill>
                            <a:schemeClr val="accent3">
                              <a:lumMod val="50000"/>
                            </a:schemeClr>
                          </a:solidFill>
                          <a:latin typeface="+mn-lt"/>
                          <a:ea typeface="+mn-ea"/>
                          <a:cs typeface="+mn-cs"/>
                        </a:rPr>
                        <a:t> </a:t>
                      </a:r>
                      <a:r>
                        <a:rPr lang="ko-KR" altLang="en-US" sz="900" kern="1200" dirty="0" err="1">
                          <a:solidFill>
                            <a:schemeClr val="accent3">
                              <a:lumMod val="50000"/>
                            </a:schemeClr>
                          </a:solidFill>
                          <a:latin typeface="+mn-lt"/>
                          <a:ea typeface="+mn-ea"/>
                          <a:cs typeface="+mn-cs"/>
                        </a:rPr>
                        <a:t>원출원인</a:t>
                      </a:r>
                      <a:r>
                        <a:rPr lang="ko-KR" altLang="en-US" sz="900" kern="1200" dirty="0">
                          <a:solidFill>
                            <a:schemeClr val="accent3">
                              <a:lumMod val="50000"/>
                            </a:schemeClr>
                          </a:solidFill>
                          <a:latin typeface="+mn-lt"/>
                          <a:ea typeface="+mn-ea"/>
                          <a:cs typeface="+mn-cs"/>
                        </a:rPr>
                        <a:t> 또는 그 승계인과 </a:t>
                      </a:r>
                      <a:r>
                        <a:rPr lang="ko-KR" altLang="en-US" sz="900" kern="1200" dirty="0" err="1">
                          <a:solidFill>
                            <a:schemeClr val="accent3">
                              <a:lumMod val="50000"/>
                            </a:schemeClr>
                          </a:solidFill>
                          <a:latin typeface="+mn-lt"/>
                          <a:ea typeface="+mn-ea"/>
                          <a:cs typeface="+mn-cs"/>
                        </a:rPr>
                        <a:t>분리출원인이</a:t>
                      </a:r>
                      <a:r>
                        <a:rPr lang="ko-KR" altLang="en-US" sz="900" kern="1200" dirty="0">
                          <a:solidFill>
                            <a:schemeClr val="accent3">
                              <a:lumMod val="50000"/>
                            </a:schemeClr>
                          </a:solidFill>
                          <a:latin typeface="+mn-lt"/>
                          <a:ea typeface="+mn-ea"/>
                          <a:cs typeface="+mn-cs"/>
                        </a:rPr>
                        <a:t> 동일인</a:t>
                      </a:r>
                      <a:endParaRPr lang="ko-KR" altLang="en-US" dirty="0">
                        <a:solidFill>
                          <a:schemeClr val="accent3">
                            <a:lumMod val="50000"/>
                          </a:schemeClr>
                        </a:solidFill>
                      </a:endParaRPr>
                    </a:p>
                  </a:txBody>
                  <a:tcPr marL="45699" marR="45699" marT="18000" marB="18000" anchor="ctr"/>
                </a:tc>
                <a:tc>
                  <a:txBody>
                    <a:bodyPr/>
                    <a:lstStyle/>
                    <a:p>
                      <a:pPr marL="73660" marR="0" indent="-73660" algn="just" fontAlgn="base" latinLnBrk="1">
                        <a:lnSpc>
                          <a:spcPct val="100000"/>
                        </a:lnSpc>
                        <a:spcBef>
                          <a:spcPts val="0"/>
                        </a:spcBef>
                        <a:spcAft>
                          <a:spcPts val="0"/>
                        </a:spcAft>
                      </a:pPr>
                      <a:r>
                        <a:rPr lang="en-US" altLang="ko-KR" sz="900" kern="1200">
                          <a:solidFill>
                            <a:schemeClr val="accent3">
                              <a:lumMod val="50000"/>
                            </a:schemeClr>
                          </a:solidFill>
                          <a:latin typeface="+mn-lt"/>
                          <a:ea typeface="+mn-ea"/>
                          <a:cs typeface="+mn-cs"/>
                        </a:rPr>
                        <a:t>1.</a:t>
                      </a:r>
                      <a:r>
                        <a:rPr lang="ko-KR" altLang="en-US" sz="900" kern="1200">
                          <a:solidFill>
                            <a:schemeClr val="accent3">
                              <a:lumMod val="50000"/>
                            </a:schemeClr>
                          </a:solidFill>
                          <a:latin typeface="+mn-lt"/>
                          <a:ea typeface="+mn-ea"/>
                          <a:cs typeface="+mn-cs"/>
                        </a:rPr>
                        <a:t>변경출원당시 원출원인 또는 그 승계인과 변경출원인이 동일인</a:t>
                      </a:r>
                    </a:p>
                    <a:p>
                      <a:pPr marL="0" marR="0" indent="0" algn="just" fontAlgn="base" latinLnBrk="1">
                        <a:lnSpc>
                          <a:spcPct val="100000"/>
                        </a:lnSpc>
                        <a:spcBef>
                          <a:spcPts val="0"/>
                        </a:spcBef>
                        <a:spcAft>
                          <a:spcPts val="0"/>
                        </a:spcAft>
                      </a:pPr>
                      <a:r>
                        <a:rPr lang="en-US" altLang="ko-KR" sz="900" kern="1200">
                          <a:solidFill>
                            <a:schemeClr val="accent3">
                              <a:lumMod val="50000"/>
                            </a:schemeClr>
                          </a:solidFill>
                          <a:latin typeface="+mn-lt"/>
                          <a:ea typeface="+mn-ea"/>
                          <a:cs typeface="+mn-cs"/>
                        </a:rPr>
                        <a:t>2.</a:t>
                      </a:r>
                      <a:r>
                        <a:rPr lang="ko-KR" altLang="en-US" sz="900" kern="1200">
                          <a:solidFill>
                            <a:schemeClr val="accent3">
                              <a:lumMod val="50000"/>
                            </a:schemeClr>
                          </a:solidFill>
                          <a:latin typeface="+mn-lt"/>
                          <a:ea typeface="+mn-ea"/>
                          <a:cs typeface="+mn-cs"/>
                        </a:rPr>
                        <a:t>임의대리인은 특별수권 要</a:t>
                      </a:r>
                      <a:endParaRPr lang="ko-KR" altLang="en-US" sz="900" kern="1200" dirty="0">
                        <a:solidFill>
                          <a:schemeClr val="accent3">
                            <a:lumMod val="50000"/>
                          </a:schemeClr>
                        </a:solidFill>
                        <a:latin typeface="+mn-lt"/>
                        <a:ea typeface="+mn-ea"/>
                        <a:cs typeface="+mn-cs"/>
                      </a:endParaRPr>
                    </a:p>
                  </a:txBody>
                  <a:tcPr marL="45699" marR="45699" marT="18000" marB="18000" anchor="ctr"/>
                </a:tc>
                <a:extLst>
                  <a:ext uri="{0D108BD9-81ED-4DB2-BD59-A6C34878D82A}">
                    <a16:rowId xmlns:a16="http://schemas.microsoft.com/office/drawing/2014/main" val="292602096"/>
                  </a:ext>
                </a:extLst>
              </a:tr>
              <a:tr h="780347">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1200">
                          <a:solidFill>
                            <a:schemeClr val="accent3">
                              <a:lumMod val="50000"/>
                            </a:schemeClr>
                          </a:solidFill>
                          <a:latin typeface="+mn-lt"/>
                          <a:ea typeface="+mn-ea"/>
                          <a:cs typeface="+mn-cs"/>
                        </a:rPr>
                        <a:t>객체</a:t>
                      </a: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1.</a:t>
                      </a:r>
                      <a:r>
                        <a:rPr lang="ko-KR" altLang="en-US" sz="900" kern="1200" dirty="0" err="1">
                          <a:solidFill>
                            <a:schemeClr val="accent3">
                              <a:lumMod val="50000"/>
                            </a:schemeClr>
                          </a:solidFill>
                          <a:latin typeface="+mn-lt"/>
                          <a:ea typeface="+mn-ea"/>
                          <a:cs typeface="+mn-cs"/>
                        </a:rPr>
                        <a:t>원출원의</a:t>
                      </a:r>
                      <a:r>
                        <a:rPr lang="ko-KR" altLang="en-US" sz="900" kern="1200" dirty="0">
                          <a:solidFill>
                            <a:schemeClr val="accent3">
                              <a:lumMod val="50000"/>
                            </a:schemeClr>
                          </a:solidFill>
                          <a:latin typeface="+mn-lt"/>
                          <a:ea typeface="+mn-ea"/>
                          <a:cs typeface="+mn-cs"/>
                        </a:rPr>
                        <a:t> 요건</a:t>
                      </a:r>
                    </a:p>
                    <a:p>
                      <a:pPr marL="80010" marR="0" indent="-80010" algn="just" fontAlgn="base" latinLnBrk="1">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①</a:t>
                      </a:r>
                      <a:r>
                        <a:rPr lang="ko-KR" altLang="en-US" sz="900" kern="1200" dirty="0" err="1">
                          <a:solidFill>
                            <a:schemeClr val="accent3">
                              <a:lumMod val="50000"/>
                            </a:schemeClr>
                          </a:solidFill>
                          <a:latin typeface="+mn-lt"/>
                          <a:ea typeface="+mn-ea"/>
                          <a:cs typeface="+mn-cs"/>
                        </a:rPr>
                        <a:t>분할출원당시</a:t>
                      </a:r>
                      <a:r>
                        <a:rPr lang="ko-KR" altLang="en-US" sz="900" kern="1200" dirty="0">
                          <a:solidFill>
                            <a:schemeClr val="accent3">
                              <a:lumMod val="50000"/>
                            </a:schemeClr>
                          </a:solidFill>
                          <a:latin typeface="+mn-lt"/>
                          <a:ea typeface="+mn-ea"/>
                          <a:cs typeface="+mn-cs"/>
                        </a:rPr>
                        <a:t> 지식재산처에 적법하게 </a:t>
                      </a:r>
                      <a:r>
                        <a:rPr lang="ko-KR" altLang="en-US" sz="900" kern="1200" dirty="0" err="1">
                          <a:solidFill>
                            <a:schemeClr val="accent3">
                              <a:lumMod val="50000"/>
                            </a:schemeClr>
                          </a:solidFill>
                          <a:latin typeface="+mn-lt"/>
                          <a:ea typeface="+mn-ea"/>
                          <a:cs typeface="+mn-cs"/>
                        </a:rPr>
                        <a:t>계속중</a:t>
                      </a:r>
                      <a:endParaRPr lang="en-US" altLang="ko-KR" sz="900" kern="1200" dirty="0">
                        <a:solidFill>
                          <a:schemeClr val="accent3">
                            <a:lumMod val="50000"/>
                          </a:schemeClr>
                        </a:solidFill>
                        <a:latin typeface="+mn-lt"/>
                        <a:ea typeface="+mn-ea"/>
                        <a:cs typeface="+mn-cs"/>
                      </a:endParaRPr>
                    </a:p>
                    <a:p>
                      <a:pPr marL="80010" marR="0" indent="-80010" algn="just" fontAlgn="base" latinLnBrk="1">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②분리출원이 아닐 것</a:t>
                      </a:r>
                    </a:p>
                    <a:p>
                      <a:pPr marL="80010" marR="0" lvl="0" indent="-80010" algn="just" defTabSz="914400" rtl="0" eaLnBrk="1" fontAlgn="base" latinLnBrk="1" hangingPunct="1">
                        <a:lnSpc>
                          <a:spcPct val="100000"/>
                        </a:lnSpc>
                        <a:spcBef>
                          <a:spcPts val="0"/>
                        </a:spcBef>
                        <a:spcAft>
                          <a:spcPts val="0"/>
                        </a:spcAft>
                        <a:buClrTx/>
                        <a:buSzTx/>
                        <a:buFontTx/>
                        <a:buNone/>
                        <a:tabLst/>
                        <a:defRPr/>
                      </a:pPr>
                      <a:r>
                        <a:rPr lang="ko-KR" altLang="en-US" sz="900" kern="1200" dirty="0">
                          <a:solidFill>
                            <a:schemeClr val="accent3">
                              <a:lumMod val="50000"/>
                            </a:schemeClr>
                          </a:solidFill>
                          <a:effectLst/>
                          <a:latin typeface="+mn-lt"/>
                          <a:ea typeface="+mn-ea"/>
                          <a:cs typeface="+mn-cs"/>
                        </a:rPr>
                        <a:t>③</a:t>
                      </a:r>
                      <a:r>
                        <a:rPr lang="ko-KR" altLang="en-US" sz="900" kern="1200" dirty="0">
                          <a:solidFill>
                            <a:schemeClr val="accent3">
                              <a:lumMod val="50000"/>
                            </a:schemeClr>
                          </a:solidFill>
                          <a:latin typeface="+mn-lt"/>
                          <a:ea typeface="+mn-ea"/>
                          <a:cs typeface="+mn-cs"/>
                        </a:rPr>
                        <a:t>원출원의 </a:t>
                      </a:r>
                      <a:r>
                        <a:rPr lang="ko-KR" altLang="en-US" sz="900" kern="1200" dirty="0" err="1">
                          <a:solidFill>
                            <a:schemeClr val="accent3">
                              <a:lumMod val="50000"/>
                            </a:schemeClr>
                          </a:solidFill>
                          <a:latin typeface="+mn-lt"/>
                          <a:ea typeface="+mn-ea"/>
                          <a:cs typeface="+mn-cs"/>
                        </a:rPr>
                        <a:t>최ㆍ명ㆍ도에</a:t>
                      </a:r>
                      <a:r>
                        <a:rPr lang="ko-KR" altLang="en-US" sz="900" kern="1200" dirty="0">
                          <a:solidFill>
                            <a:schemeClr val="accent3">
                              <a:lumMod val="50000"/>
                            </a:schemeClr>
                          </a:solidFill>
                          <a:latin typeface="+mn-lt"/>
                          <a:ea typeface="+mn-ea"/>
                          <a:cs typeface="+mn-cs"/>
                        </a:rPr>
                        <a:t> </a:t>
                      </a:r>
                      <a:r>
                        <a:rPr lang="en-US" altLang="ko-KR" sz="900" kern="1200" dirty="0">
                          <a:solidFill>
                            <a:schemeClr val="accent3">
                              <a:lumMod val="50000"/>
                            </a:schemeClr>
                          </a:solidFill>
                          <a:latin typeface="+mn-lt"/>
                          <a:ea typeface="+mn-ea"/>
                          <a:cs typeface="+mn-cs"/>
                        </a:rPr>
                        <a:t>2</a:t>
                      </a:r>
                      <a:r>
                        <a:rPr lang="ko-KR" altLang="en-US" sz="900" kern="1200" dirty="0">
                          <a:solidFill>
                            <a:schemeClr val="accent3">
                              <a:lumMod val="50000"/>
                            </a:schemeClr>
                          </a:solidFill>
                          <a:latin typeface="+mn-lt"/>
                          <a:ea typeface="+mn-ea"/>
                          <a:cs typeface="+mn-cs"/>
                        </a:rPr>
                        <a:t>이상의 발명 포함</a:t>
                      </a:r>
                    </a:p>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2.</a:t>
                      </a:r>
                      <a:r>
                        <a:rPr lang="ko-KR" altLang="en-US" sz="900" kern="1200" dirty="0" err="1">
                          <a:solidFill>
                            <a:schemeClr val="accent3">
                              <a:lumMod val="50000"/>
                            </a:schemeClr>
                          </a:solidFill>
                          <a:latin typeface="+mn-lt"/>
                          <a:ea typeface="+mn-ea"/>
                          <a:cs typeface="+mn-cs"/>
                        </a:rPr>
                        <a:t>분할출원의</a:t>
                      </a:r>
                      <a:r>
                        <a:rPr lang="ko-KR" altLang="en-US" sz="900" kern="1200" dirty="0">
                          <a:solidFill>
                            <a:schemeClr val="accent3">
                              <a:lumMod val="50000"/>
                            </a:schemeClr>
                          </a:solidFill>
                          <a:latin typeface="+mn-lt"/>
                          <a:ea typeface="+mn-ea"/>
                          <a:cs typeface="+mn-cs"/>
                        </a:rPr>
                        <a:t> 요건</a:t>
                      </a:r>
                    </a:p>
                    <a:p>
                      <a:pPr marL="0" marR="0" indent="0" algn="just" fontAlgn="base" latinLnBrk="1">
                        <a:lnSpc>
                          <a:spcPct val="100000"/>
                        </a:lnSpc>
                        <a:spcBef>
                          <a:spcPts val="0"/>
                        </a:spcBef>
                        <a:spcAft>
                          <a:spcPts val="0"/>
                        </a:spcAft>
                      </a:pPr>
                      <a:r>
                        <a:rPr lang="ko-KR" altLang="en-US" sz="900" kern="1200" dirty="0" err="1">
                          <a:solidFill>
                            <a:schemeClr val="accent3">
                              <a:lumMod val="50000"/>
                            </a:schemeClr>
                          </a:solidFill>
                          <a:latin typeface="+mn-lt"/>
                          <a:ea typeface="+mn-ea"/>
                          <a:cs typeface="+mn-cs"/>
                        </a:rPr>
                        <a:t>분ㆍ명ㆍ도가</a:t>
                      </a:r>
                      <a:r>
                        <a:rPr lang="ko-KR" altLang="en-US" sz="900" kern="1200" dirty="0">
                          <a:solidFill>
                            <a:schemeClr val="accent3">
                              <a:lumMod val="50000"/>
                            </a:schemeClr>
                          </a:solidFill>
                          <a:latin typeface="+mn-lt"/>
                          <a:ea typeface="+mn-ea"/>
                          <a:cs typeface="+mn-cs"/>
                        </a:rPr>
                        <a:t> </a:t>
                      </a:r>
                      <a:r>
                        <a:rPr lang="ko-KR" altLang="en-US" sz="900" kern="1200" dirty="0" err="1">
                          <a:solidFill>
                            <a:schemeClr val="accent3">
                              <a:lumMod val="50000"/>
                            </a:schemeClr>
                          </a:solidFill>
                          <a:latin typeface="+mn-lt"/>
                          <a:ea typeface="+mn-ea"/>
                          <a:cs typeface="+mn-cs"/>
                        </a:rPr>
                        <a:t>원ㆍ최ㆍ명ㆍ도에</a:t>
                      </a:r>
                      <a:r>
                        <a:rPr lang="ko-KR" altLang="en-US" sz="900" kern="1200" dirty="0">
                          <a:solidFill>
                            <a:schemeClr val="accent3">
                              <a:lumMod val="50000"/>
                            </a:schemeClr>
                          </a:solidFill>
                          <a:latin typeface="+mn-lt"/>
                          <a:ea typeface="+mn-ea"/>
                          <a:cs typeface="+mn-cs"/>
                        </a:rPr>
                        <a:t> 기재된 </a:t>
                      </a:r>
                      <a:r>
                        <a:rPr lang="ko-KR" altLang="en-US" sz="900" kern="1200" dirty="0" err="1">
                          <a:solidFill>
                            <a:schemeClr val="accent3">
                              <a:lumMod val="50000"/>
                            </a:schemeClr>
                          </a:solidFill>
                          <a:latin typeface="+mn-lt"/>
                          <a:ea typeface="+mn-ea"/>
                          <a:cs typeface="+mn-cs"/>
                        </a:rPr>
                        <a:t>범위이내일</a:t>
                      </a:r>
                      <a:r>
                        <a:rPr lang="ko-KR" altLang="en-US" sz="900" kern="1200" dirty="0">
                          <a:solidFill>
                            <a:schemeClr val="accent3">
                              <a:lumMod val="50000"/>
                            </a:schemeClr>
                          </a:solidFill>
                          <a:latin typeface="+mn-lt"/>
                          <a:ea typeface="+mn-ea"/>
                          <a:cs typeface="+mn-cs"/>
                        </a:rPr>
                        <a:t> 것</a:t>
                      </a: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1.</a:t>
                      </a:r>
                      <a:r>
                        <a:rPr lang="ko-KR" altLang="en-US" sz="900" kern="1200" dirty="0">
                          <a:solidFill>
                            <a:schemeClr val="accent3">
                              <a:lumMod val="50000"/>
                            </a:schemeClr>
                          </a:solidFill>
                          <a:latin typeface="+mn-lt"/>
                          <a:ea typeface="+mn-ea"/>
                          <a:cs typeface="+mn-cs"/>
                        </a:rPr>
                        <a:t>원출원의 요건</a:t>
                      </a:r>
                    </a:p>
                    <a:p>
                      <a:pPr marL="0" marR="0" indent="0" algn="just" fontAlgn="base" latinLnBrk="1">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①</a:t>
                      </a:r>
                      <a:r>
                        <a:rPr lang="ko-KR" altLang="en-US" sz="900" kern="1200" dirty="0" err="1">
                          <a:solidFill>
                            <a:schemeClr val="accent3">
                              <a:lumMod val="50000"/>
                            </a:schemeClr>
                          </a:solidFill>
                          <a:latin typeface="+mn-lt"/>
                          <a:ea typeface="+mn-ea"/>
                          <a:cs typeface="+mn-cs"/>
                        </a:rPr>
                        <a:t>분리출원당시</a:t>
                      </a:r>
                      <a:r>
                        <a:rPr lang="ko-KR" altLang="en-US" sz="900" kern="1200" dirty="0">
                          <a:solidFill>
                            <a:schemeClr val="accent3">
                              <a:lumMod val="50000"/>
                            </a:schemeClr>
                          </a:solidFill>
                          <a:latin typeface="+mn-lt"/>
                          <a:ea typeface="+mn-ea"/>
                          <a:cs typeface="+mn-cs"/>
                        </a:rPr>
                        <a:t> 지식재산처에 적법하게 </a:t>
                      </a:r>
                      <a:r>
                        <a:rPr lang="ko-KR" altLang="en-US" sz="900" kern="1200" dirty="0" err="1">
                          <a:solidFill>
                            <a:schemeClr val="accent3">
                              <a:lumMod val="50000"/>
                            </a:schemeClr>
                          </a:solidFill>
                          <a:latin typeface="+mn-lt"/>
                          <a:ea typeface="+mn-ea"/>
                          <a:cs typeface="+mn-cs"/>
                        </a:rPr>
                        <a:t>계속중</a:t>
                      </a:r>
                      <a:endParaRPr lang="en-US" altLang="ko-KR" sz="900" kern="1200" dirty="0">
                        <a:solidFill>
                          <a:schemeClr val="accent3">
                            <a:lumMod val="50000"/>
                          </a:schemeClr>
                        </a:solidFill>
                        <a:latin typeface="+mn-lt"/>
                        <a:ea typeface="+mn-ea"/>
                        <a:cs typeface="+mn-cs"/>
                      </a:endParaRPr>
                    </a:p>
                    <a:p>
                      <a:pPr marL="0" marR="0" lvl="0" indent="0" algn="just" defTabSz="914400" rtl="0" eaLnBrk="1" fontAlgn="base" latinLnBrk="1" hangingPunct="1">
                        <a:lnSpc>
                          <a:spcPct val="100000"/>
                        </a:lnSpc>
                        <a:spcBef>
                          <a:spcPts val="0"/>
                        </a:spcBef>
                        <a:spcAft>
                          <a:spcPts val="0"/>
                        </a:spcAft>
                        <a:buClrTx/>
                        <a:buSzTx/>
                        <a:buFontTx/>
                        <a:buNone/>
                        <a:tabLst/>
                        <a:defRPr/>
                      </a:pPr>
                      <a:r>
                        <a:rPr lang="ko-KR" altLang="en-US" sz="900" kern="1200" dirty="0">
                          <a:solidFill>
                            <a:schemeClr val="accent3">
                              <a:lumMod val="50000"/>
                            </a:schemeClr>
                          </a:solidFill>
                          <a:latin typeface="+mn-lt"/>
                          <a:ea typeface="+mn-ea"/>
                          <a:cs typeface="+mn-cs"/>
                        </a:rPr>
                        <a:t>②분리출원이 아닐 것</a:t>
                      </a:r>
                    </a:p>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2.</a:t>
                      </a:r>
                      <a:r>
                        <a:rPr lang="ko-KR" altLang="en-US" sz="900" kern="1200" dirty="0">
                          <a:solidFill>
                            <a:schemeClr val="accent3">
                              <a:lumMod val="50000"/>
                            </a:schemeClr>
                          </a:solidFill>
                          <a:latin typeface="+mn-lt"/>
                          <a:ea typeface="+mn-ea"/>
                          <a:cs typeface="+mn-cs"/>
                        </a:rPr>
                        <a:t>분리출원의 요건</a:t>
                      </a:r>
                    </a:p>
                    <a:p>
                      <a:pPr marL="0" marR="0" indent="0" algn="just" fontAlgn="base" latinLnBrk="1">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①</a:t>
                      </a:r>
                      <a:r>
                        <a:rPr lang="ko-KR" altLang="en-US" sz="900" kern="1200" dirty="0" err="1">
                          <a:solidFill>
                            <a:schemeClr val="accent3">
                              <a:lumMod val="50000"/>
                            </a:schemeClr>
                          </a:solidFill>
                          <a:latin typeface="+mn-lt"/>
                          <a:ea typeface="+mn-ea"/>
                          <a:cs typeface="+mn-cs"/>
                        </a:rPr>
                        <a:t>분ㆍ명ㆍ도가</a:t>
                      </a:r>
                      <a:r>
                        <a:rPr lang="ko-KR" altLang="en-US" sz="900" kern="1200" dirty="0">
                          <a:solidFill>
                            <a:schemeClr val="accent3">
                              <a:lumMod val="50000"/>
                            </a:schemeClr>
                          </a:solidFill>
                          <a:latin typeface="+mn-lt"/>
                          <a:ea typeface="+mn-ea"/>
                          <a:cs typeface="+mn-cs"/>
                        </a:rPr>
                        <a:t> </a:t>
                      </a:r>
                      <a:r>
                        <a:rPr lang="ko-KR" altLang="en-US" sz="900" kern="1200" dirty="0" err="1">
                          <a:solidFill>
                            <a:schemeClr val="accent3">
                              <a:lumMod val="50000"/>
                            </a:schemeClr>
                          </a:solidFill>
                          <a:latin typeface="+mn-lt"/>
                          <a:ea typeface="+mn-ea"/>
                          <a:cs typeface="+mn-cs"/>
                        </a:rPr>
                        <a:t>원ㆍ최ㆍ명ㆍ도에</a:t>
                      </a:r>
                      <a:r>
                        <a:rPr lang="ko-KR" altLang="en-US" sz="900" kern="1200" dirty="0">
                          <a:solidFill>
                            <a:schemeClr val="accent3">
                              <a:lumMod val="50000"/>
                            </a:schemeClr>
                          </a:solidFill>
                          <a:latin typeface="+mn-lt"/>
                          <a:ea typeface="+mn-ea"/>
                          <a:cs typeface="+mn-cs"/>
                        </a:rPr>
                        <a:t> 기재된 </a:t>
                      </a:r>
                      <a:r>
                        <a:rPr lang="ko-KR" altLang="en-US" sz="900" kern="1200" dirty="0" err="1">
                          <a:solidFill>
                            <a:schemeClr val="accent3">
                              <a:lumMod val="50000"/>
                            </a:schemeClr>
                          </a:solidFill>
                          <a:latin typeface="+mn-lt"/>
                          <a:ea typeface="+mn-ea"/>
                          <a:cs typeface="+mn-cs"/>
                        </a:rPr>
                        <a:t>범위이내일</a:t>
                      </a:r>
                      <a:r>
                        <a:rPr lang="ko-KR" altLang="en-US" sz="900" kern="1200" dirty="0">
                          <a:solidFill>
                            <a:schemeClr val="accent3">
                              <a:lumMod val="50000"/>
                            </a:schemeClr>
                          </a:solidFill>
                          <a:latin typeface="+mn-lt"/>
                          <a:ea typeface="+mn-ea"/>
                          <a:cs typeface="+mn-cs"/>
                        </a:rPr>
                        <a:t> 것</a:t>
                      </a:r>
                      <a:endParaRPr lang="en-US" altLang="ko-KR" sz="900" kern="1200" dirty="0">
                        <a:solidFill>
                          <a:schemeClr val="accent3">
                            <a:lumMod val="50000"/>
                          </a:schemeClr>
                        </a:solidFill>
                        <a:latin typeface="+mn-lt"/>
                        <a:ea typeface="+mn-ea"/>
                        <a:cs typeface="+mn-cs"/>
                      </a:endParaRPr>
                    </a:p>
                    <a:p>
                      <a:pPr marL="0" marR="0" indent="0" algn="just" fontAlgn="base" latinLnBrk="1">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②분리출원의 경우 청구범위에 기재된 청구항이 다음의 </a:t>
                      </a:r>
                      <a:r>
                        <a:rPr lang="en-US" altLang="ko-KR" sz="900" kern="1200" dirty="0">
                          <a:solidFill>
                            <a:schemeClr val="accent3">
                              <a:lumMod val="50000"/>
                            </a:schemeClr>
                          </a:solidFill>
                          <a:latin typeface="+mn-lt"/>
                          <a:ea typeface="+mn-ea"/>
                          <a:cs typeface="+mn-cs"/>
                        </a:rPr>
                        <a:t>ⅰ) </a:t>
                      </a:r>
                      <a:r>
                        <a:rPr lang="ko-KR" altLang="en-US" sz="900" kern="1200" dirty="0">
                          <a:solidFill>
                            <a:schemeClr val="accent3">
                              <a:lumMod val="50000"/>
                            </a:schemeClr>
                          </a:solidFill>
                          <a:latin typeface="+mn-lt"/>
                          <a:ea typeface="+mn-ea"/>
                          <a:cs typeface="+mn-cs"/>
                        </a:rPr>
                        <a:t>내지 </a:t>
                      </a:r>
                      <a:r>
                        <a:rPr lang="en-US" altLang="ko-KR" sz="900" kern="1200" dirty="0">
                          <a:solidFill>
                            <a:schemeClr val="accent3">
                              <a:lumMod val="50000"/>
                            </a:schemeClr>
                          </a:solidFill>
                          <a:latin typeface="+mn-lt"/>
                          <a:ea typeface="+mn-ea"/>
                          <a:cs typeface="+mn-cs"/>
                        </a:rPr>
                        <a:t>ⅳ) </a:t>
                      </a:r>
                      <a:r>
                        <a:rPr lang="ko-KR" altLang="en-US" sz="900" kern="1200" dirty="0">
                          <a:solidFill>
                            <a:schemeClr val="accent3">
                              <a:lumMod val="50000"/>
                            </a:schemeClr>
                          </a:solidFill>
                          <a:latin typeface="+mn-lt"/>
                          <a:ea typeface="+mn-ea"/>
                          <a:cs typeface="+mn-cs"/>
                        </a:rPr>
                        <a:t>어느 하나에 해당할 것</a:t>
                      </a:r>
                    </a:p>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ⅰ) </a:t>
                      </a:r>
                      <a:r>
                        <a:rPr lang="ko-KR" altLang="en-US" sz="900" kern="1200" dirty="0" err="1">
                          <a:solidFill>
                            <a:schemeClr val="accent3">
                              <a:lumMod val="50000"/>
                            </a:schemeClr>
                          </a:solidFill>
                          <a:latin typeface="+mn-lt"/>
                          <a:ea typeface="+mn-ea"/>
                          <a:cs typeface="+mn-cs"/>
                        </a:rPr>
                        <a:t>특허거절결정에서</a:t>
                      </a:r>
                      <a:r>
                        <a:rPr lang="ko-KR" altLang="en-US" sz="900" kern="1200" dirty="0">
                          <a:solidFill>
                            <a:schemeClr val="accent3">
                              <a:lumMod val="50000"/>
                            </a:schemeClr>
                          </a:solidFill>
                          <a:latin typeface="+mn-lt"/>
                          <a:ea typeface="+mn-ea"/>
                          <a:cs typeface="+mn-cs"/>
                        </a:rPr>
                        <a:t> 거절되지 아니한 청구항</a:t>
                      </a:r>
                      <a:r>
                        <a:rPr lang="en-US" altLang="ko-KR" sz="900" kern="1200" dirty="0">
                          <a:solidFill>
                            <a:schemeClr val="accent3">
                              <a:lumMod val="50000"/>
                            </a:schemeClr>
                          </a:solidFill>
                          <a:latin typeface="+mn-lt"/>
                          <a:ea typeface="+mn-ea"/>
                          <a:cs typeface="+mn-cs"/>
                        </a:rPr>
                        <a:t>, ⅱ) </a:t>
                      </a:r>
                      <a:r>
                        <a:rPr lang="ko-KR" altLang="en-US" sz="900" kern="1200" dirty="0">
                          <a:solidFill>
                            <a:schemeClr val="accent3">
                              <a:lumMod val="50000"/>
                            </a:schemeClr>
                          </a:solidFill>
                          <a:latin typeface="+mn-lt"/>
                          <a:ea typeface="+mn-ea"/>
                          <a:cs typeface="+mn-cs"/>
                        </a:rPr>
                        <a:t>거절된 청구항에서 그 </a:t>
                      </a:r>
                      <a:r>
                        <a:rPr lang="ko-KR" altLang="en-US" sz="900" kern="1200" dirty="0" err="1">
                          <a:solidFill>
                            <a:schemeClr val="accent3">
                              <a:lumMod val="50000"/>
                            </a:schemeClr>
                          </a:solidFill>
                          <a:latin typeface="+mn-lt"/>
                          <a:ea typeface="+mn-ea"/>
                          <a:cs typeface="+mn-cs"/>
                        </a:rPr>
                        <a:t>특허거절결정의</a:t>
                      </a:r>
                      <a:r>
                        <a:rPr lang="ko-KR" altLang="en-US" sz="900" kern="1200" dirty="0">
                          <a:solidFill>
                            <a:schemeClr val="accent3">
                              <a:lumMod val="50000"/>
                            </a:schemeClr>
                          </a:solidFill>
                          <a:latin typeface="+mn-lt"/>
                          <a:ea typeface="+mn-ea"/>
                          <a:cs typeface="+mn-cs"/>
                        </a:rPr>
                        <a:t> 기초가 된 선택적 기재사항을 삭제한 청구항</a:t>
                      </a:r>
                      <a:r>
                        <a:rPr lang="en-US" altLang="ko-KR" sz="900" kern="1200" dirty="0">
                          <a:solidFill>
                            <a:schemeClr val="accent3">
                              <a:lumMod val="50000"/>
                            </a:schemeClr>
                          </a:solidFill>
                          <a:latin typeface="+mn-lt"/>
                          <a:ea typeface="+mn-ea"/>
                          <a:cs typeface="+mn-cs"/>
                        </a:rPr>
                        <a:t>, ⅲ) ⅰ) </a:t>
                      </a:r>
                      <a:r>
                        <a:rPr lang="ko-KR" altLang="en-US" sz="900" kern="1200" dirty="0">
                          <a:solidFill>
                            <a:schemeClr val="accent3">
                              <a:lumMod val="50000"/>
                            </a:schemeClr>
                          </a:solidFill>
                          <a:latin typeface="+mn-lt"/>
                          <a:ea typeface="+mn-ea"/>
                          <a:cs typeface="+mn-cs"/>
                        </a:rPr>
                        <a:t>또는 </a:t>
                      </a:r>
                      <a:r>
                        <a:rPr lang="en-US" altLang="ko-KR" sz="900" kern="1200" dirty="0">
                          <a:solidFill>
                            <a:schemeClr val="accent3">
                              <a:lumMod val="50000"/>
                            </a:schemeClr>
                          </a:solidFill>
                          <a:latin typeface="+mn-lt"/>
                          <a:ea typeface="+mn-ea"/>
                          <a:cs typeface="+mn-cs"/>
                        </a:rPr>
                        <a:t>ⅱ)</a:t>
                      </a:r>
                      <a:r>
                        <a:rPr lang="ko-KR" altLang="en-US" sz="900" kern="1200" dirty="0">
                          <a:solidFill>
                            <a:schemeClr val="accent3">
                              <a:lumMod val="50000"/>
                            </a:schemeClr>
                          </a:solidFill>
                          <a:latin typeface="+mn-lt"/>
                          <a:ea typeface="+mn-ea"/>
                          <a:cs typeface="+mn-cs"/>
                        </a:rPr>
                        <a:t>에 따른 청구항을 제</a:t>
                      </a:r>
                      <a:r>
                        <a:rPr lang="en-US" altLang="ko-KR" sz="900" kern="1200" dirty="0">
                          <a:solidFill>
                            <a:schemeClr val="accent3">
                              <a:lumMod val="50000"/>
                            </a:schemeClr>
                          </a:solidFill>
                          <a:latin typeface="+mn-lt"/>
                          <a:ea typeface="+mn-ea"/>
                          <a:cs typeface="+mn-cs"/>
                        </a:rPr>
                        <a:t>47</a:t>
                      </a:r>
                      <a:r>
                        <a:rPr lang="ko-KR" altLang="en-US" sz="900" kern="1200" dirty="0">
                          <a:solidFill>
                            <a:schemeClr val="accent3">
                              <a:lumMod val="50000"/>
                            </a:schemeClr>
                          </a:solidFill>
                          <a:latin typeface="+mn-lt"/>
                          <a:ea typeface="+mn-ea"/>
                          <a:cs typeface="+mn-cs"/>
                        </a:rPr>
                        <a:t>조제</a:t>
                      </a:r>
                      <a:r>
                        <a:rPr lang="en-US" altLang="ko-KR" sz="900" kern="1200" dirty="0">
                          <a:solidFill>
                            <a:schemeClr val="accent3">
                              <a:lumMod val="50000"/>
                            </a:schemeClr>
                          </a:solidFill>
                          <a:latin typeface="+mn-lt"/>
                          <a:ea typeface="+mn-ea"/>
                          <a:cs typeface="+mn-cs"/>
                        </a:rPr>
                        <a:t>3</a:t>
                      </a:r>
                      <a:r>
                        <a:rPr lang="ko-KR" altLang="en-US" sz="900" kern="1200" dirty="0">
                          <a:solidFill>
                            <a:schemeClr val="accent3">
                              <a:lumMod val="50000"/>
                            </a:schemeClr>
                          </a:solidFill>
                          <a:latin typeface="+mn-lt"/>
                          <a:ea typeface="+mn-ea"/>
                          <a:cs typeface="+mn-cs"/>
                        </a:rPr>
                        <a:t>항 각 호</a:t>
                      </a:r>
                      <a:r>
                        <a:rPr lang="en-US" altLang="ko-KR" sz="900" kern="1200" dirty="0">
                          <a:solidFill>
                            <a:schemeClr val="accent3">
                              <a:lumMod val="50000"/>
                            </a:schemeClr>
                          </a:solidFill>
                          <a:latin typeface="+mn-lt"/>
                          <a:ea typeface="+mn-ea"/>
                          <a:cs typeface="+mn-cs"/>
                        </a:rPr>
                        <a:t>(</a:t>
                      </a:r>
                      <a:r>
                        <a:rPr lang="ko-KR" altLang="en-US" sz="900" kern="1200" dirty="0">
                          <a:solidFill>
                            <a:schemeClr val="accent3">
                              <a:lumMod val="50000"/>
                            </a:schemeClr>
                          </a:solidFill>
                          <a:latin typeface="+mn-lt"/>
                          <a:ea typeface="+mn-ea"/>
                          <a:cs typeface="+mn-cs"/>
                        </a:rPr>
                        <a:t>같은 항 제</a:t>
                      </a:r>
                      <a:r>
                        <a:rPr lang="en-US" altLang="ko-KR" sz="900" kern="1200" dirty="0">
                          <a:solidFill>
                            <a:schemeClr val="accent3">
                              <a:lumMod val="50000"/>
                            </a:schemeClr>
                          </a:solidFill>
                          <a:latin typeface="+mn-lt"/>
                          <a:ea typeface="+mn-ea"/>
                          <a:cs typeface="+mn-cs"/>
                        </a:rPr>
                        <a:t>4</a:t>
                      </a:r>
                      <a:r>
                        <a:rPr lang="ko-KR" altLang="en-US" sz="900" kern="1200" dirty="0">
                          <a:solidFill>
                            <a:schemeClr val="accent3">
                              <a:lumMod val="50000"/>
                            </a:schemeClr>
                          </a:solidFill>
                          <a:latin typeface="+mn-lt"/>
                          <a:ea typeface="+mn-ea"/>
                          <a:cs typeface="+mn-cs"/>
                        </a:rPr>
                        <a:t>호는 제외한다</a:t>
                      </a:r>
                      <a:r>
                        <a:rPr lang="en-US" altLang="ko-KR" sz="900" kern="1200" dirty="0">
                          <a:solidFill>
                            <a:schemeClr val="accent3">
                              <a:lumMod val="50000"/>
                            </a:schemeClr>
                          </a:solidFill>
                          <a:latin typeface="+mn-lt"/>
                          <a:ea typeface="+mn-ea"/>
                          <a:cs typeface="+mn-cs"/>
                        </a:rPr>
                        <a:t>)</a:t>
                      </a:r>
                      <a:r>
                        <a:rPr lang="ko-KR" altLang="en-US" sz="900" kern="1200" dirty="0">
                          <a:solidFill>
                            <a:schemeClr val="accent3">
                              <a:lumMod val="50000"/>
                            </a:schemeClr>
                          </a:solidFill>
                          <a:latin typeface="+mn-lt"/>
                          <a:ea typeface="+mn-ea"/>
                          <a:cs typeface="+mn-cs"/>
                        </a:rPr>
                        <a:t>의 어느 하나에 해당하도록 적은 청구항</a:t>
                      </a:r>
                      <a:r>
                        <a:rPr lang="en-US" altLang="ko-KR" sz="900" kern="1200" dirty="0">
                          <a:solidFill>
                            <a:schemeClr val="accent3">
                              <a:lumMod val="50000"/>
                            </a:schemeClr>
                          </a:solidFill>
                          <a:latin typeface="+mn-lt"/>
                          <a:ea typeface="+mn-ea"/>
                          <a:cs typeface="+mn-cs"/>
                        </a:rPr>
                        <a:t>, ⅳ) ⅰ)</a:t>
                      </a:r>
                      <a:r>
                        <a:rPr lang="ko-KR" altLang="en-US" sz="900" kern="1200" dirty="0">
                          <a:solidFill>
                            <a:schemeClr val="accent3">
                              <a:lumMod val="50000"/>
                            </a:schemeClr>
                          </a:solidFill>
                          <a:latin typeface="+mn-lt"/>
                          <a:ea typeface="+mn-ea"/>
                          <a:cs typeface="+mn-cs"/>
                        </a:rPr>
                        <a:t>부터 </a:t>
                      </a:r>
                      <a:r>
                        <a:rPr lang="en-US" altLang="ko-KR" sz="900" kern="1200" dirty="0">
                          <a:solidFill>
                            <a:schemeClr val="accent3">
                              <a:lumMod val="50000"/>
                            </a:schemeClr>
                          </a:solidFill>
                          <a:latin typeface="+mn-lt"/>
                          <a:ea typeface="+mn-ea"/>
                          <a:cs typeface="+mn-cs"/>
                        </a:rPr>
                        <a:t>ⅲ)</a:t>
                      </a:r>
                      <a:r>
                        <a:rPr lang="ko-KR" altLang="en-US" sz="900" kern="1200" dirty="0">
                          <a:solidFill>
                            <a:schemeClr val="accent3">
                              <a:lumMod val="50000"/>
                            </a:schemeClr>
                          </a:solidFill>
                          <a:latin typeface="+mn-lt"/>
                          <a:ea typeface="+mn-ea"/>
                          <a:cs typeface="+mn-cs"/>
                        </a:rPr>
                        <a:t>까지 중 어느 하나의 청구항에서 원출원의 최초 명세서 또는 도면에 기재된 사항의 범위를 벗어난 부분을 삭제한 청구항</a:t>
                      </a:r>
                      <a:endParaRPr lang="ko-KR" altLang="en-US" dirty="0">
                        <a:solidFill>
                          <a:schemeClr val="accent3">
                            <a:lumMod val="50000"/>
                          </a:schemeClr>
                        </a:solidFill>
                      </a:endParaRPr>
                    </a:p>
                  </a:txBody>
                  <a:tcPr marL="45699" marR="45699" marT="18000" marB="18000" anchor="ctr"/>
                </a:tc>
                <a:tc>
                  <a:txBody>
                    <a:bodyPr/>
                    <a:lstStyle/>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1.</a:t>
                      </a:r>
                      <a:r>
                        <a:rPr lang="ko-KR" altLang="en-US" sz="900" kern="1200" dirty="0">
                          <a:solidFill>
                            <a:schemeClr val="accent3">
                              <a:lumMod val="50000"/>
                            </a:schemeClr>
                          </a:solidFill>
                          <a:latin typeface="+mn-lt"/>
                          <a:ea typeface="+mn-ea"/>
                          <a:cs typeface="+mn-cs"/>
                        </a:rPr>
                        <a:t>원출원의 요건</a:t>
                      </a:r>
                    </a:p>
                    <a:p>
                      <a:pPr marL="0" marR="0" indent="0" algn="just" fontAlgn="base" latinLnBrk="1">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①</a:t>
                      </a:r>
                      <a:r>
                        <a:rPr lang="ko-KR" altLang="en-US" sz="900" kern="1200" dirty="0" err="1">
                          <a:solidFill>
                            <a:schemeClr val="accent3">
                              <a:lumMod val="50000"/>
                            </a:schemeClr>
                          </a:solidFill>
                          <a:latin typeface="+mn-lt"/>
                          <a:ea typeface="+mn-ea"/>
                          <a:cs typeface="+mn-cs"/>
                        </a:rPr>
                        <a:t>변경출원당시</a:t>
                      </a:r>
                      <a:r>
                        <a:rPr lang="ko-KR" altLang="en-US" sz="900" kern="1200" dirty="0">
                          <a:solidFill>
                            <a:schemeClr val="accent3">
                              <a:lumMod val="50000"/>
                            </a:schemeClr>
                          </a:solidFill>
                          <a:latin typeface="+mn-lt"/>
                          <a:ea typeface="+mn-ea"/>
                          <a:cs typeface="+mn-cs"/>
                        </a:rPr>
                        <a:t> 지식재산처에 적법하게 </a:t>
                      </a:r>
                      <a:r>
                        <a:rPr lang="ko-KR" altLang="en-US" sz="900" kern="1200" dirty="0" err="1">
                          <a:solidFill>
                            <a:schemeClr val="accent3">
                              <a:lumMod val="50000"/>
                            </a:schemeClr>
                          </a:solidFill>
                          <a:latin typeface="+mn-lt"/>
                          <a:ea typeface="+mn-ea"/>
                          <a:cs typeface="+mn-cs"/>
                        </a:rPr>
                        <a:t>계속중</a:t>
                      </a:r>
                      <a:endParaRPr lang="en-US" altLang="ko-KR" sz="900" kern="1200" dirty="0">
                        <a:solidFill>
                          <a:schemeClr val="accent3">
                            <a:lumMod val="50000"/>
                          </a:schemeClr>
                        </a:solidFill>
                        <a:latin typeface="+mn-lt"/>
                        <a:ea typeface="+mn-ea"/>
                        <a:cs typeface="+mn-cs"/>
                      </a:endParaRPr>
                    </a:p>
                    <a:p>
                      <a:pPr marL="0" marR="0" lvl="0" indent="0" algn="just" defTabSz="914400" rtl="0" eaLnBrk="1" fontAlgn="base" latinLnBrk="1" hangingPunct="1">
                        <a:lnSpc>
                          <a:spcPct val="100000"/>
                        </a:lnSpc>
                        <a:spcBef>
                          <a:spcPts val="0"/>
                        </a:spcBef>
                        <a:spcAft>
                          <a:spcPts val="0"/>
                        </a:spcAft>
                        <a:buClrTx/>
                        <a:buSzTx/>
                        <a:buFontTx/>
                        <a:buNone/>
                        <a:tabLst/>
                        <a:defRPr/>
                      </a:pPr>
                      <a:r>
                        <a:rPr lang="ko-KR" altLang="en-US" sz="900" kern="1200" dirty="0">
                          <a:solidFill>
                            <a:schemeClr val="accent3">
                              <a:lumMod val="50000"/>
                            </a:schemeClr>
                          </a:solidFill>
                          <a:latin typeface="+mn-lt"/>
                          <a:ea typeface="+mn-ea"/>
                          <a:cs typeface="+mn-cs"/>
                        </a:rPr>
                        <a:t>②분리출원이 아닐 것</a:t>
                      </a:r>
                    </a:p>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2.</a:t>
                      </a:r>
                      <a:r>
                        <a:rPr lang="ko-KR" altLang="en-US" sz="900" kern="1200" dirty="0">
                          <a:solidFill>
                            <a:schemeClr val="accent3">
                              <a:lumMod val="50000"/>
                            </a:schemeClr>
                          </a:solidFill>
                          <a:latin typeface="+mn-lt"/>
                          <a:ea typeface="+mn-ea"/>
                          <a:cs typeface="+mn-cs"/>
                        </a:rPr>
                        <a:t>변경출원의 요건</a:t>
                      </a:r>
                    </a:p>
                    <a:p>
                      <a:pPr marL="0" marR="0" indent="0" algn="just" fontAlgn="base" latinLnBrk="1">
                        <a:lnSpc>
                          <a:spcPct val="100000"/>
                        </a:lnSpc>
                        <a:spcBef>
                          <a:spcPts val="0"/>
                        </a:spcBef>
                        <a:spcAft>
                          <a:spcPts val="0"/>
                        </a:spcAft>
                      </a:pPr>
                      <a:r>
                        <a:rPr lang="ko-KR" altLang="en-US" sz="900" kern="1200" dirty="0" err="1">
                          <a:solidFill>
                            <a:schemeClr val="accent3">
                              <a:lumMod val="50000"/>
                            </a:schemeClr>
                          </a:solidFill>
                          <a:latin typeface="+mn-lt"/>
                          <a:ea typeface="+mn-ea"/>
                          <a:cs typeface="+mn-cs"/>
                        </a:rPr>
                        <a:t>변ㆍ명ㆍ도가</a:t>
                      </a:r>
                      <a:r>
                        <a:rPr lang="ko-KR" altLang="en-US" sz="900" kern="1200" dirty="0">
                          <a:solidFill>
                            <a:schemeClr val="accent3">
                              <a:lumMod val="50000"/>
                            </a:schemeClr>
                          </a:solidFill>
                          <a:latin typeface="+mn-lt"/>
                          <a:ea typeface="+mn-ea"/>
                          <a:cs typeface="+mn-cs"/>
                        </a:rPr>
                        <a:t> </a:t>
                      </a:r>
                      <a:r>
                        <a:rPr lang="ko-KR" altLang="en-US" sz="900" kern="1200" dirty="0" err="1">
                          <a:solidFill>
                            <a:schemeClr val="accent3">
                              <a:lumMod val="50000"/>
                            </a:schemeClr>
                          </a:solidFill>
                          <a:latin typeface="+mn-lt"/>
                          <a:ea typeface="+mn-ea"/>
                          <a:cs typeface="+mn-cs"/>
                        </a:rPr>
                        <a:t>원ㆍ최ㆍ명ㆍ도에</a:t>
                      </a:r>
                      <a:r>
                        <a:rPr lang="ko-KR" altLang="en-US" sz="900" kern="1200" dirty="0">
                          <a:solidFill>
                            <a:schemeClr val="accent3">
                              <a:lumMod val="50000"/>
                            </a:schemeClr>
                          </a:solidFill>
                          <a:latin typeface="+mn-lt"/>
                          <a:ea typeface="+mn-ea"/>
                          <a:cs typeface="+mn-cs"/>
                        </a:rPr>
                        <a:t> 기재된 </a:t>
                      </a:r>
                      <a:r>
                        <a:rPr lang="ko-KR" altLang="en-US" sz="900" kern="1200" dirty="0" err="1">
                          <a:solidFill>
                            <a:schemeClr val="accent3">
                              <a:lumMod val="50000"/>
                            </a:schemeClr>
                          </a:solidFill>
                          <a:latin typeface="+mn-lt"/>
                          <a:ea typeface="+mn-ea"/>
                          <a:cs typeface="+mn-cs"/>
                        </a:rPr>
                        <a:t>범위이내일</a:t>
                      </a:r>
                      <a:r>
                        <a:rPr lang="ko-KR" altLang="en-US" sz="900" kern="1200" dirty="0">
                          <a:solidFill>
                            <a:schemeClr val="accent3">
                              <a:lumMod val="50000"/>
                            </a:schemeClr>
                          </a:solidFill>
                          <a:latin typeface="+mn-lt"/>
                          <a:ea typeface="+mn-ea"/>
                          <a:cs typeface="+mn-cs"/>
                        </a:rPr>
                        <a:t> 것</a:t>
                      </a:r>
                    </a:p>
                  </a:txBody>
                  <a:tcPr marL="45699" marR="45699" marT="18000" marB="18000" anchor="ctr"/>
                </a:tc>
                <a:extLst>
                  <a:ext uri="{0D108BD9-81ED-4DB2-BD59-A6C34878D82A}">
                    <a16:rowId xmlns:a16="http://schemas.microsoft.com/office/drawing/2014/main" val="328944606"/>
                  </a:ext>
                </a:extLst>
              </a:tr>
              <a:tr h="334888">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1200">
                          <a:solidFill>
                            <a:schemeClr val="accent3">
                              <a:lumMod val="50000"/>
                            </a:schemeClr>
                          </a:solidFill>
                          <a:latin typeface="+mn-lt"/>
                          <a:ea typeface="+mn-ea"/>
                          <a:cs typeface="+mn-cs"/>
                        </a:rPr>
                        <a:t>시기</a:t>
                      </a:r>
                    </a:p>
                  </a:txBody>
                  <a:tcPr marL="45699" marR="45699" marT="18000" marB="18000" anchor="ctr"/>
                </a:tc>
                <a:tc>
                  <a:txBody>
                    <a:bodyPr/>
                    <a:lstStyle/>
                    <a:p>
                      <a:pPr marL="73660" marR="0" indent="-7366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1.</a:t>
                      </a:r>
                      <a:r>
                        <a:rPr lang="ko-KR" altLang="en-US" sz="900" kern="1200" dirty="0">
                          <a:solidFill>
                            <a:schemeClr val="accent3">
                              <a:lumMod val="50000"/>
                            </a:schemeClr>
                          </a:solidFill>
                          <a:latin typeface="+mn-lt"/>
                          <a:ea typeface="+mn-ea"/>
                          <a:cs typeface="+mn-cs"/>
                        </a:rPr>
                        <a:t>법</a:t>
                      </a:r>
                      <a:r>
                        <a:rPr lang="en-US" altLang="ko-KR" sz="900" kern="1200" dirty="0">
                          <a:solidFill>
                            <a:schemeClr val="accent3">
                              <a:lumMod val="50000"/>
                            </a:schemeClr>
                          </a:solidFill>
                          <a:latin typeface="+mn-lt"/>
                          <a:ea typeface="+mn-ea"/>
                          <a:cs typeface="+mn-cs"/>
                        </a:rPr>
                        <a:t>47</a:t>
                      </a:r>
                      <a:r>
                        <a:rPr lang="ko-KR" altLang="en-US" sz="900" kern="1200" dirty="0">
                          <a:solidFill>
                            <a:schemeClr val="accent3">
                              <a:lumMod val="50000"/>
                            </a:schemeClr>
                          </a:solidFill>
                          <a:latin typeface="+mn-lt"/>
                          <a:ea typeface="+mn-ea"/>
                          <a:cs typeface="+mn-cs"/>
                        </a:rPr>
                        <a:t>①에 의하여 보정할 수 있는 기간</a:t>
                      </a:r>
                    </a:p>
                    <a:p>
                      <a:pPr marL="73660" marR="0" indent="-7366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2.</a:t>
                      </a:r>
                      <a:r>
                        <a:rPr lang="ko-KR" altLang="en-US" sz="900" kern="1200" dirty="0">
                          <a:solidFill>
                            <a:schemeClr val="accent3">
                              <a:lumMod val="50000"/>
                            </a:schemeClr>
                          </a:solidFill>
                          <a:latin typeface="+mn-lt"/>
                          <a:ea typeface="+mn-ea"/>
                          <a:cs typeface="+mn-cs"/>
                        </a:rPr>
                        <a:t>거절결정등본을 </a:t>
                      </a:r>
                      <a:r>
                        <a:rPr lang="ko-KR" altLang="en-US" sz="900" kern="1200" dirty="0" err="1">
                          <a:solidFill>
                            <a:schemeClr val="accent3">
                              <a:lumMod val="50000"/>
                            </a:schemeClr>
                          </a:solidFill>
                          <a:latin typeface="+mn-lt"/>
                          <a:ea typeface="+mn-ea"/>
                          <a:cs typeface="+mn-cs"/>
                        </a:rPr>
                        <a:t>송달받은</a:t>
                      </a:r>
                      <a:r>
                        <a:rPr lang="ko-KR" altLang="en-US" sz="900" kern="1200" dirty="0">
                          <a:solidFill>
                            <a:schemeClr val="accent3">
                              <a:lumMod val="50000"/>
                            </a:schemeClr>
                          </a:solidFill>
                          <a:latin typeface="+mn-lt"/>
                          <a:ea typeface="+mn-ea"/>
                          <a:cs typeface="+mn-cs"/>
                        </a:rPr>
                        <a:t> 날부터 </a:t>
                      </a:r>
                      <a:r>
                        <a:rPr lang="en-US" altLang="ko-KR" sz="900" kern="1200" dirty="0">
                          <a:solidFill>
                            <a:schemeClr val="accent3">
                              <a:lumMod val="50000"/>
                            </a:schemeClr>
                          </a:solidFill>
                          <a:latin typeface="+mn-lt"/>
                          <a:ea typeface="+mn-ea"/>
                          <a:cs typeface="+mn-cs"/>
                        </a:rPr>
                        <a:t>3</a:t>
                      </a:r>
                      <a:r>
                        <a:rPr lang="ko-KR" altLang="en-US" sz="900" kern="1200" dirty="0">
                          <a:solidFill>
                            <a:schemeClr val="accent3">
                              <a:lumMod val="50000"/>
                            </a:schemeClr>
                          </a:solidFill>
                          <a:latin typeface="+mn-lt"/>
                          <a:ea typeface="+mn-ea"/>
                          <a:cs typeface="+mn-cs"/>
                        </a:rPr>
                        <a:t>개월</a:t>
                      </a:r>
                      <a:r>
                        <a:rPr lang="en-US" altLang="ko-KR" sz="900" kern="1200" dirty="0">
                          <a:solidFill>
                            <a:schemeClr val="accent3">
                              <a:lumMod val="50000"/>
                            </a:schemeClr>
                          </a:solidFill>
                          <a:latin typeface="+mn-lt"/>
                          <a:ea typeface="+mn-ea"/>
                          <a:cs typeface="+mn-cs"/>
                        </a:rPr>
                        <a:t>(</a:t>
                      </a:r>
                      <a:r>
                        <a:rPr lang="ko-KR" altLang="en-US" sz="900" kern="1200" dirty="0">
                          <a:solidFill>
                            <a:schemeClr val="accent3">
                              <a:lumMod val="50000"/>
                            </a:schemeClr>
                          </a:solidFill>
                          <a:latin typeface="+mn-lt"/>
                          <a:ea typeface="+mn-ea"/>
                          <a:cs typeface="+mn-cs"/>
                        </a:rPr>
                        <a:t>연장된 경우에는 연장된 기간</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이내</a:t>
                      </a:r>
                    </a:p>
                    <a:p>
                      <a:pPr marL="73660" marR="0" indent="-7366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3.</a:t>
                      </a:r>
                      <a:r>
                        <a:rPr lang="ko-KR" altLang="en-US" sz="900" kern="1200" dirty="0">
                          <a:solidFill>
                            <a:schemeClr val="accent3">
                              <a:lumMod val="50000"/>
                            </a:schemeClr>
                          </a:solidFill>
                          <a:latin typeface="+mn-lt"/>
                          <a:ea typeface="+mn-ea"/>
                          <a:cs typeface="+mn-cs"/>
                        </a:rPr>
                        <a:t>특허결정등본을 </a:t>
                      </a:r>
                      <a:r>
                        <a:rPr lang="ko-KR" altLang="en-US" sz="900" kern="1200" dirty="0" err="1">
                          <a:solidFill>
                            <a:schemeClr val="accent3">
                              <a:lumMod val="50000"/>
                            </a:schemeClr>
                          </a:solidFill>
                          <a:latin typeface="+mn-lt"/>
                          <a:ea typeface="+mn-ea"/>
                          <a:cs typeface="+mn-cs"/>
                        </a:rPr>
                        <a:t>송달받은</a:t>
                      </a:r>
                      <a:r>
                        <a:rPr lang="ko-KR" altLang="en-US" sz="900" kern="1200" dirty="0">
                          <a:solidFill>
                            <a:schemeClr val="accent3">
                              <a:lumMod val="50000"/>
                            </a:schemeClr>
                          </a:solidFill>
                          <a:latin typeface="+mn-lt"/>
                          <a:ea typeface="+mn-ea"/>
                          <a:cs typeface="+mn-cs"/>
                        </a:rPr>
                        <a:t> 날부터 </a:t>
                      </a:r>
                      <a:r>
                        <a:rPr lang="en-US" altLang="ko-KR" sz="900" kern="1200" dirty="0">
                          <a:solidFill>
                            <a:schemeClr val="accent3">
                              <a:lumMod val="50000"/>
                            </a:schemeClr>
                          </a:solidFill>
                          <a:latin typeface="+mn-lt"/>
                          <a:ea typeface="+mn-ea"/>
                          <a:cs typeface="+mn-cs"/>
                        </a:rPr>
                        <a:t>3</a:t>
                      </a:r>
                      <a:r>
                        <a:rPr lang="ko-KR" altLang="en-US" sz="900" kern="1200" dirty="0">
                          <a:solidFill>
                            <a:schemeClr val="accent3">
                              <a:lumMod val="50000"/>
                            </a:schemeClr>
                          </a:solidFill>
                          <a:latin typeface="+mn-lt"/>
                          <a:ea typeface="+mn-ea"/>
                          <a:cs typeface="+mn-cs"/>
                        </a:rPr>
                        <a:t>개월 기간</a:t>
                      </a:r>
                      <a:r>
                        <a:rPr lang="en-US" altLang="ko-KR" sz="900" kern="1200" dirty="0">
                          <a:solidFill>
                            <a:schemeClr val="accent3">
                              <a:lumMod val="50000"/>
                            </a:schemeClr>
                          </a:solidFill>
                          <a:latin typeface="+mn-lt"/>
                          <a:ea typeface="+mn-ea"/>
                          <a:cs typeface="+mn-cs"/>
                        </a:rPr>
                        <a:t>(</a:t>
                      </a:r>
                      <a:r>
                        <a:rPr lang="ko-KR" altLang="en-US" sz="900" kern="1200" dirty="0">
                          <a:solidFill>
                            <a:schemeClr val="accent3">
                              <a:lumMod val="50000"/>
                            </a:schemeClr>
                          </a:solidFill>
                          <a:latin typeface="+mn-lt"/>
                          <a:ea typeface="+mn-ea"/>
                          <a:cs typeface="+mn-cs"/>
                        </a:rPr>
                        <a:t>다만</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설정등록을 받으려는 날이 </a:t>
                      </a:r>
                      <a:r>
                        <a:rPr lang="en-US" altLang="ko-KR" sz="900" kern="1200" dirty="0">
                          <a:solidFill>
                            <a:schemeClr val="accent3">
                              <a:lumMod val="50000"/>
                            </a:schemeClr>
                          </a:solidFill>
                          <a:latin typeface="+mn-lt"/>
                          <a:ea typeface="+mn-ea"/>
                          <a:cs typeface="+mn-cs"/>
                        </a:rPr>
                        <a:t>3</a:t>
                      </a:r>
                      <a:r>
                        <a:rPr lang="ko-KR" altLang="en-US" sz="900" kern="1200" dirty="0">
                          <a:solidFill>
                            <a:schemeClr val="accent3">
                              <a:lumMod val="50000"/>
                            </a:schemeClr>
                          </a:solidFill>
                          <a:latin typeface="+mn-lt"/>
                          <a:ea typeface="+mn-ea"/>
                          <a:cs typeface="+mn-cs"/>
                        </a:rPr>
                        <a:t>개월보다 짧은 경우에는 그 날까지의 기간</a:t>
                      </a:r>
                      <a:r>
                        <a:rPr lang="en-US" altLang="ko-KR" sz="900" kern="1200" dirty="0">
                          <a:solidFill>
                            <a:schemeClr val="accent3">
                              <a:lumMod val="50000"/>
                            </a:schemeClr>
                          </a:solidFill>
                          <a:latin typeface="+mn-lt"/>
                          <a:ea typeface="+mn-ea"/>
                          <a:cs typeface="+mn-cs"/>
                        </a:rPr>
                        <a:t>)</a:t>
                      </a:r>
                      <a:endParaRPr lang="ko-KR" altLang="en-US" sz="900" kern="1200" dirty="0">
                        <a:solidFill>
                          <a:schemeClr val="accent3">
                            <a:lumMod val="50000"/>
                          </a:schemeClr>
                        </a:solidFill>
                        <a:latin typeface="+mn-lt"/>
                        <a:ea typeface="+mn-ea"/>
                        <a:cs typeface="+mn-cs"/>
                      </a:endParaRPr>
                    </a:p>
                  </a:txBody>
                  <a:tcPr marL="45699" marR="45699" marT="18000" marB="18000" anchor="ctr"/>
                </a:tc>
                <a:tc>
                  <a:txBody>
                    <a:bodyPr/>
                    <a:lstStyle/>
                    <a:p>
                      <a:pPr latinLnBrk="1"/>
                      <a:r>
                        <a:rPr lang="ko-KR" altLang="en-US" sz="900" kern="1200" dirty="0">
                          <a:solidFill>
                            <a:schemeClr val="accent3">
                              <a:lumMod val="50000"/>
                            </a:schemeClr>
                          </a:solidFill>
                          <a:latin typeface="+mn-lt"/>
                          <a:ea typeface="+mn-ea"/>
                          <a:cs typeface="+mn-cs"/>
                        </a:rPr>
                        <a:t>거절결정불복심판청구가 기각된 경우 그 </a:t>
                      </a:r>
                      <a:r>
                        <a:rPr lang="ko-KR" altLang="en-US" sz="900" kern="1200" dirty="0" err="1">
                          <a:solidFill>
                            <a:schemeClr val="accent3">
                              <a:lumMod val="50000"/>
                            </a:schemeClr>
                          </a:solidFill>
                          <a:latin typeface="+mn-lt"/>
                          <a:ea typeface="+mn-ea"/>
                          <a:cs typeface="+mn-cs"/>
                        </a:rPr>
                        <a:t>심결의</a:t>
                      </a:r>
                      <a:r>
                        <a:rPr lang="ko-KR" altLang="en-US" sz="900" kern="1200" dirty="0">
                          <a:solidFill>
                            <a:schemeClr val="accent3">
                              <a:lumMod val="50000"/>
                            </a:schemeClr>
                          </a:solidFill>
                          <a:latin typeface="+mn-lt"/>
                          <a:ea typeface="+mn-ea"/>
                          <a:cs typeface="+mn-cs"/>
                        </a:rPr>
                        <a:t> 등본을 </a:t>
                      </a:r>
                      <a:r>
                        <a:rPr lang="ko-KR" altLang="en-US" sz="900" kern="1200" dirty="0" err="1">
                          <a:solidFill>
                            <a:schemeClr val="accent3">
                              <a:lumMod val="50000"/>
                            </a:schemeClr>
                          </a:solidFill>
                          <a:latin typeface="+mn-lt"/>
                          <a:ea typeface="+mn-ea"/>
                          <a:cs typeface="+mn-cs"/>
                        </a:rPr>
                        <a:t>송달받은</a:t>
                      </a:r>
                      <a:r>
                        <a:rPr lang="ko-KR" altLang="en-US" sz="900" kern="1200" dirty="0">
                          <a:solidFill>
                            <a:schemeClr val="accent3">
                              <a:lumMod val="50000"/>
                            </a:schemeClr>
                          </a:solidFill>
                          <a:latin typeface="+mn-lt"/>
                          <a:ea typeface="+mn-ea"/>
                          <a:cs typeface="+mn-cs"/>
                        </a:rPr>
                        <a:t> 날부터 </a:t>
                      </a:r>
                      <a:r>
                        <a:rPr lang="en-US" altLang="ko-KR" sz="900" kern="1200" dirty="0">
                          <a:solidFill>
                            <a:schemeClr val="accent3">
                              <a:lumMod val="50000"/>
                            </a:schemeClr>
                          </a:solidFill>
                          <a:latin typeface="+mn-lt"/>
                          <a:ea typeface="+mn-ea"/>
                          <a:cs typeface="+mn-cs"/>
                        </a:rPr>
                        <a:t>30</a:t>
                      </a:r>
                      <a:r>
                        <a:rPr lang="ko-KR" altLang="en-US" sz="900" kern="1200" dirty="0">
                          <a:solidFill>
                            <a:schemeClr val="accent3">
                              <a:lumMod val="50000"/>
                            </a:schemeClr>
                          </a:solidFill>
                          <a:latin typeface="+mn-lt"/>
                          <a:ea typeface="+mn-ea"/>
                          <a:cs typeface="+mn-cs"/>
                        </a:rPr>
                        <a:t>일</a:t>
                      </a:r>
                      <a:r>
                        <a:rPr lang="en-US" altLang="ko-KR" sz="900" kern="1200" dirty="0">
                          <a:solidFill>
                            <a:schemeClr val="accent3">
                              <a:lumMod val="50000"/>
                            </a:schemeClr>
                          </a:solidFill>
                          <a:latin typeface="+mn-lt"/>
                          <a:ea typeface="+mn-ea"/>
                          <a:cs typeface="+mn-cs"/>
                        </a:rPr>
                        <a:t>(</a:t>
                      </a:r>
                      <a:r>
                        <a:rPr lang="ko-KR" altLang="en-US" sz="900" kern="1200" dirty="0">
                          <a:solidFill>
                            <a:schemeClr val="accent3">
                              <a:lumMod val="50000"/>
                            </a:schemeClr>
                          </a:solidFill>
                          <a:latin typeface="+mn-lt"/>
                          <a:ea typeface="+mn-ea"/>
                          <a:cs typeface="+mn-cs"/>
                        </a:rPr>
                        <a:t>제</a:t>
                      </a:r>
                      <a:r>
                        <a:rPr lang="en-US" altLang="ko-KR" sz="900" kern="1200" dirty="0">
                          <a:solidFill>
                            <a:schemeClr val="accent3">
                              <a:lumMod val="50000"/>
                            </a:schemeClr>
                          </a:solidFill>
                          <a:latin typeface="+mn-lt"/>
                          <a:ea typeface="+mn-ea"/>
                          <a:cs typeface="+mn-cs"/>
                        </a:rPr>
                        <a:t>186</a:t>
                      </a:r>
                      <a:r>
                        <a:rPr lang="ko-KR" altLang="en-US" sz="900" kern="1200" dirty="0">
                          <a:solidFill>
                            <a:schemeClr val="accent3">
                              <a:lumMod val="50000"/>
                            </a:schemeClr>
                          </a:solidFill>
                          <a:latin typeface="+mn-lt"/>
                          <a:ea typeface="+mn-ea"/>
                          <a:cs typeface="+mn-cs"/>
                        </a:rPr>
                        <a:t>조제</a:t>
                      </a:r>
                      <a:r>
                        <a:rPr lang="en-US" altLang="ko-KR" sz="900" kern="1200" dirty="0">
                          <a:solidFill>
                            <a:schemeClr val="accent3">
                              <a:lumMod val="50000"/>
                            </a:schemeClr>
                          </a:solidFill>
                          <a:latin typeface="+mn-lt"/>
                          <a:ea typeface="+mn-ea"/>
                          <a:cs typeface="+mn-cs"/>
                        </a:rPr>
                        <a:t>5</a:t>
                      </a:r>
                      <a:r>
                        <a:rPr lang="ko-KR" altLang="en-US" sz="900" kern="1200" dirty="0">
                          <a:solidFill>
                            <a:schemeClr val="accent3">
                              <a:lumMod val="50000"/>
                            </a:schemeClr>
                          </a:solidFill>
                          <a:latin typeface="+mn-lt"/>
                          <a:ea typeface="+mn-ea"/>
                          <a:cs typeface="+mn-cs"/>
                        </a:rPr>
                        <a:t>항에 따라 심판장이 부가기간을 정한 경우에는 그 기간</a:t>
                      </a:r>
                      <a:r>
                        <a:rPr lang="en-US" altLang="ko-KR" sz="900" kern="1200" dirty="0">
                          <a:solidFill>
                            <a:schemeClr val="accent3">
                              <a:lumMod val="50000"/>
                            </a:schemeClr>
                          </a:solidFill>
                          <a:latin typeface="+mn-lt"/>
                          <a:ea typeface="+mn-ea"/>
                          <a:cs typeface="+mn-cs"/>
                        </a:rPr>
                        <a:t>)</a:t>
                      </a:r>
                      <a:endParaRPr lang="ko-KR" altLang="en-US" dirty="0">
                        <a:solidFill>
                          <a:schemeClr val="accent3">
                            <a:lumMod val="50000"/>
                          </a:schemeClr>
                        </a:solidFill>
                      </a:endParaRP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err="1">
                          <a:solidFill>
                            <a:schemeClr val="accent3">
                              <a:lumMod val="50000"/>
                            </a:schemeClr>
                          </a:solidFill>
                          <a:latin typeface="+mn-lt"/>
                          <a:ea typeface="+mn-ea"/>
                          <a:cs typeface="+mn-cs"/>
                        </a:rPr>
                        <a:t>실용신안등록출원후</a:t>
                      </a:r>
                      <a:r>
                        <a:rPr lang="ko-KR" altLang="en-US" sz="900" kern="1200" dirty="0">
                          <a:solidFill>
                            <a:schemeClr val="accent3">
                              <a:lumMod val="50000"/>
                            </a:schemeClr>
                          </a:solidFill>
                          <a:latin typeface="+mn-lt"/>
                          <a:ea typeface="+mn-ea"/>
                          <a:cs typeface="+mn-cs"/>
                        </a:rPr>
                        <a:t> 최초의 거절결정등본을 </a:t>
                      </a:r>
                      <a:r>
                        <a:rPr lang="ko-KR" altLang="en-US" sz="900" kern="1200" dirty="0" err="1">
                          <a:solidFill>
                            <a:schemeClr val="accent3">
                              <a:lumMod val="50000"/>
                            </a:schemeClr>
                          </a:solidFill>
                          <a:latin typeface="+mn-lt"/>
                          <a:ea typeface="+mn-ea"/>
                          <a:cs typeface="+mn-cs"/>
                        </a:rPr>
                        <a:t>송달받은</a:t>
                      </a:r>
                      <a:r>
                        <a:rPr lang="ko-KR" altLang="en-US" sz="900" kern="1200" dirty="0">
                          <a:solidFill>
                            <a:schemeClr val="accent3">
                              <a:lumMod val="50000"/>
                            </a:schemeClr>
                          </a:solidFill>
                          <a:latin typeface="+mn-lt"/>
                          <a:ea typeface="+mn-ea"/>
                          <a:cs typeface="+mn-cs"/>
                        </a:rPr>
                        <a:t> 날부터 </a:t>
                      </a:r>
                      <a:r>
                        <a:rPr lang="en-US" altLang="ko-KR" sz="900" kern="1200" dirty="0">
                          <a:solidFill>
                            <a:schemeClr val="accent3">
                              <a:lumMod val="50000"/>
                            </a:schemeClr>
                          </a:solidFill>
                          <a:latin typeface="+mn-lt"/>
                          <a:ea typeface="+mn-ea"/>
                          <a:cs typeface="+mn-cs"/>
                        </a:rPr>
                        <a:t>3</a:t>
                      </a:r>
                      <a:r>
                        <a:rPr lang="ko-KR" altLang="en-US" sz="900" kern="1200" dirty="0">
                          <a:solidFill>
                            <a:schemeClr val="accent3">
                              <a:lumMod val="50000"/>
                            </a:schemeClr>
                          </a:solidFill>
                          <a:latin typeface="+mn-lt"/>
                          <a:ea typeface="+mn-ea"/>
                          <a:cs typeface="+mn-cs"/>
                        </a:rPr>
                        <a:t>개월</a:t>
                      </a:r>
                      <a:r>
                        <a:rPr lang="en-US" altLang="ko-KR" sz="900" kern="1200" dirty="0">
                          <a:solidFill>
                            <a:schemeClr val="accent3">
                              <a:lumMod val="50000"/>
                            </a:schemeClr>
                          </a:solidFill>
                          <a:latin typeface="+mn-lt"/>
                          <a:ea typeface="+mn-ea"/>
                          <a:cs typeface="+mn-cs"/>
                        </a:rPr>
                        <a:t>(</a:t>
                      </a:r>
                      <a:r>
                        <a:rPr lang="ko-KR" altLang="en-US" sz="900" kern="1200" dirty="0">
                          <a:solidFill>
                            <a:schemeClr val="accent3">
                              <a:lumMod val="50000"/>
                            </a:schemeClr>
                          </a:solidFill>
                          <a:latin typeface="+mn-lt"/>
                          <a:ea typeface="+mn-ea"/>
                          <a:cs typeface="+mn-cs"/>
                        </a:rPr>
                        <a:t>연장된 경우에는 연장된 기간</a:t>
                      </a:r>
                      <a:r>
                        <a:rPr lang="en-US" altLang="ko-KR" sz="900" kern="1200" dirty="0">
                          <a:solidFill>
                            <a:schemeClr val="accent3">
                              <a:lumMod val="50000"/>
                            </a:schemeClr>
                          </a:solidFill>
                          <a:latin typeface="+mn-lt"/>
                          <a:ea typeface="+mn-ea"/>
                          <a:cs typeface="+mn-cs"/>
                        </a:rPr>
                        <a:t>)</a:t>
                      </a:r>
                      <a:endParaRPr lang="ko-KR" altLang="en-US" sz="900" kern="1200" dirty="0">
                        <a:solidFill>
                          <a:schemeClr val="accent3">
                            <a:lumMod val="50000"/>
                          </a:schemeClr>
                        </a:solidFill>
                        <a:latin typeface="+mn-lt"/>
                        <a:ea typeface="+mn-ea"/>
                        <a:cs typeface="+mn-cs"/>
                      </a:endParaRPr>
                    </a:p>
                  </a:txBody>
                  <a:tcPr marL="45699" marR="45699" marT="18000" marB="18000" anchor="ctr"/>
                </a:tc>
                <a:extLst>
                  <a:ext uri="{0D108BD9-81ED-4DB2-BD59-A6C34878D82A}">
                    <a16:rowId xmlns:a16="http://schemas.microsoft.com/office/drawing/2014/main" val="1402780529"/>
                  </a:ext>
                </a:extLst>
              </a:tr>
              <a:tr h="80340">
                <a:tc rowSpan="2" gridSpan="2">
                  <a:txBody>
                    <a:bodyPr/>
                    <a:lstStyle/>
                    <a:p>
                      <a:pPr marL="0" marR="0" indent="0" algn="ctr" fontAlgn="base" latinLnBrk="0">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절차</a:t>
                      </a:r>
                    </a:p>
                  </a:txBody>
                  <a:tcPr marL="45699" marR="45699" marT="18000" marB="18000" anchor="ctr"/>
                </a:tc>
                <a:tc rowSpan="2" hMerge="1">
                  <a:txBody>
                    <a:bodyPr/>
                    <a:lstStyle/>
                    <a:p>
                      <a:pPr latinLnBrk="1"/>
                      <a:endParaRPr lang="ko-KR" altLang="en-US"/>
                    </a:p>
                  </a:txBody>
                  <a:tcPr/>
                </a:tc>
                <a:tc gridSpan="3">
                  <a:txBody>
                    <a:bodyPr/>
                    <a:lstStyle/>
                    <a:p>
                      <a:pPr marL="0" marR="0" indent="0" algn="just" fontAlgn="base" latinLnBrk="1">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그 취지 및 </a:t>
                      </a:r>
                      <a:r>
                        <a:rPr lang="ko-KR" altLang="en-US" sz="900" kern="1200" dirty="0" err="1">
                          <a:solidFill>
                            <a:schemeClr val="accent3">
                              <a:lumMod val="50000"/>
                            </a:schemeClr>
                          </a:solidFill>
                          <a:latin typeface="+mn-lt"/>
                          <a:ea typeface="+mn-ea"/>
                          <a:cs typeface="+mn-cs"/>
                        </a:rPr>
                        <a:t>원출원</a:t>
                      </a:r>
                      <a:r>
                        <a:rPr lang="ko-KR" altLang="en-US" sz="900" kern="1200" dirty="0">
                          <a:solidFill>
                            <a:schemeClr val="accent3">
                              <a:lumMod val="50000"/>
                            </a:schemeClr>
                          </a:solidFill>
                          <a:latin typeface="+mn-lt"/>
                          <a:ea typeface="+mn-ea"/>
                          <a:cs typeface="+mn-cs"/>
                        </a:rPr>
                        <a:t> 표시를 한 </a:t>
                      </a:r>
                      <a:r>
                        <a:rPr lang="ko-KR" altLang="en-US" sz="900" kern="1200" dirty="0" err="1">
                          <a:solidFill>
                            <a:schemeClr val="accent3">
                              <a:lumMod val="50000"/>
                            </a:schemeClr>
                          </a:solidFill>
                          <a:latin typeface="+mn-lt"/>
                          <a:ea typeface="+mn-ea"/>
                          <a:cs typeface="+mn-cs"/>
                        </a:rPr>
                        <a:t>분할ㆍ분리ㆍ변경출원서와</a:t>
                      </a:r>
                      <a:r>
                        <a:rPr lang="ko-KR" altLang="en-US" sz="900" kern="1200" dirty="0">
                          <a:solidFill>
                            <a:schemeClr val="accent3">
                              <a:lumMod val="50000"/>
                            </a:schemeClr>
                          </a:solidFill>
                          <a:latin typeface="+mn-lt"/>
                          <a:ea typeface="+mn-ea"/>
                          <a:cs typeface="+mn-cs"/>
                        </a:rPr>
                        <a:t> 명세서</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필요한 도면 및 요약서 제출</a:t>
                      </a:r>
                    </a:p>
                  </a:txBody>
                  <a:tcPr marL="45699" marR="45699" marT="18000" marB="18000" anchor="ctr"/>
                </a:tc>
                <a:tc hMerge="1">
                  <a:txBody>
                    <a:bodyPr/>
                    <a:lstStyle/>
                    <a:p>
                      <a:pPr latinLnBrk="1"/>
                      <a:endParaRPr lang="ko-KR" altLang="en-US"/>
                    </a:p>
                  </a:txBody>
                  <a:tcPr/>
                </a:tc>
                <a:tc hMerge="1">
                  <a:txBody>
                    <a:bodyPr/>
                    <a:lstStyle/>
                    <a:p>
                      <a:pPr marL="0" marR="0" indent="0" algn="just" fontAlgn="base" latinLnBrk="1">
                        <a:lnSpc>
                          <a:spcPct val="100000"/>
                        </a:lnSpc>
                        <a:spcBef>
                          <a:spcPts val="0"/>
                        </a:spcBef>
                        <a:spcAft>
                          <a:spcPts val="0"/>
                        </a:spcAft>
                      </a:pPr>
                      <a:endParaRPr lang="ko-KR" altLang="en-US" sz="900" kern="1200" dirty="0">
                        <a:solidFill>
                          <a:schemeClr val="tx1"/>
                        </a:solidFill>
                        <a:latin typeface="+mn-lt"/>
                        <a:ea typeface="+mn-ea"/>
                        <a:cs typeface="+mn-cs"/>
                      </a:endParaRPr>
                    </a:p>
                  </a:txBody>
                  <a:tcPr marL="45699" marR="45699" marT="18000" marB="18000" anchor="ctr"/>
                </a:tc>
                <a:extLst>
                  <a:ext uri="{0D108BD9-81ED-4DB2-BD59-A6C34878D82A}">
                    <a16:rowId xmlns:a16="http://schemas.microsoft.com/office/drawing/2014/main" val="4081333889"/>
                  </a:ext>
                </a:extLst>
              </a:tr>
              <a:tr h="143977">
                <a:tc gridSpan="2" vMerge="1">
                  <a:txBody>
                    <a:bodyPr/>
                    <a:lstStyle/>
                    <a:p>
                      <a:pPr latinLnBrk="1"/>
                      <a:endParaRPr lang="ko-KR" altLang="en-US"/>
                    </a:p>
                  </a:txBody>
                  <a:tcPr/>
                </a:tc>
                <a:tc hMerge="1" vMerge="1">
                  <a:txBody>
                    <a:bodyPr/>
                    <a:lstStyle/>
                    <a:p>
                      <a:pPr latinLnBrk="1"/>
                      <a:endParaRPr lang="ko-KR" altLang="en-US"/>
                    </a:p>
                  </a:txBody>
                  <a:tcPr/>
                </a:tc>
                <a:tc gridSpan="2">
                  <a:txBody>
                    <a:bodyPr/>
                    <a:lstStyle/>
                    <a:p>
                      <a:pPr marL="0" marR="0" indent="0" algn="just" fontAlgn="base" latinLnBrk="1">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원출원이 우선권을 주장한 특허출원인 경우에는 자동 주장 간주하며</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원출원에 대하여 </a:t>
                      </a:r>
                      <a:r>
                        <a:rPr lang="ko-KR" altLang="en-US" sz="900" kern="1200" dirty="0" err="1">
                          <a:solidFill>
                            <a:schemeClr val="accent3">
                              <a:lumMod val="50000"/>
                            </a:schemeClr>
                          </a:solidFill>
                          <a:latin typeface="+mn-lt"/>
                          <a:ea typeface="+mn-ea"/>
                          <a:cs typeface="+mn-cs"/>
                        </a:rPr>
                        <a:t>조약우선권주장증명서류</a:t>
                      </a:r>
                      <a:r>
                        <a:rPr lang="ko-KR" altLang="en-US" sz="900" kern="1200" dirty="0">
                          <a:solidFill>
                            <a:schemeClr val="accent3">
                              <a:lumMod val="50000"/>
                            </a:schemeClr>
                          </a:solidFill>
                          <a:latin typeface="+mn-lt"/>
                          <a:ea typeface="+mn-ea"/>
                          <a:cs typeface="+mn-cs"/>
                        </a:rPr>
                        <a:t> 제출기간 내 증명서류 제출이 있는 자동 제출간주</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이 경우 우선권주장의 보정 또는 추가기간이 지난 후에도 </a:t>
                      </a:r>
                      <a:r>
                        <a:rPr lang="ko-KR" altLang="en-US" sz="900" kern="1200" dirty="0" err="1">
                          <a:solidFill>
                            <a:schemeClr val="accent3">
                              <a:lumMod val="50000"/>
                            </a:schemeClr>
                          </a:solidFill>
                          <a:latin typeface="+mn-lt"/>
                          <a:ea typeface="+mn-ea"/>
                          <a:cs typeface="+mn-cs"/>
                        </a:rPr>
                        <a:t>분할ㆍ분리출원을</a:t>
                      </a:r>
                      <a:r>
                        <a:rPr lang="ko-KR" altLang="en-US" sz="900" kern="1200" dirty="0">
                          <a:solidFill>
                            <a:schemeClr val="accent3">
                              <a:lumMod val="50000"/>
                            </a:schemeClr>
                          </a:solidFill>
                          <a:latin typeface="+mn-lt"/>
                          <a:ea typeface="+mn-ea"/>
                          <a:cs typeface="+mn-cs"/>
                        </a:rPr>
                        <a:t> 한 날부터 </a:t>
                      </a:r>
                      <a:r>
                        <a:rPr lang="en-US" altLang="ko-KR" sz="900" kern="1200" dirty="0">
                          <a:solidFill>
                            <a:schemeClr val="accent3">
                              <a:lumMod val="50000"/>
                            </a:schemeClr>
                          </a:solidFill>
                          <a:latin typeface="+mn-lt"/>
                          <a:ea typeface="+mn-ea"/>
                          <a:cs typeface="+mn-cs"/>
                        </a:rPr>
                        <a:t>30</a:t>
                      </a:r>
                      <a:r>
                        <a:rPr lang="ko-KR" altLang="en-US" sz="900" kern="1200" dirty="0">
                          <a:solidFill>
                            <a:schemeClr val="accent3">
                              <a:lumMod val="50000"/>
                            </a:schemeClr>
                          </a:solidFill>
                          <a:latin typeface="+mn-lt"/>
                          <a:ea typeface="+mn-ea"/>
                          <a:cs typeface="+mn-cs"/>
                        </a:rPr>
                        <a:t>일 이내 우선권 주장의 전부 또는 일부 취하가능</a:t>
                      </a:r>
                    </a:p>
                  </a:txBody>
                  <a:tcPr marL="45699" marR="45699" marT="18000" marB="18000" anchor="ctr"/>
                </a:tc>
                <a:tc hMerge="1">
                  <a:txBody>
                    <a:bodyPr/>
                    <a:lstStyle/>
                    <a:p>
                      <a:pPr marL="0" marR="0" indent="0" algn="just" fontAlgn="base" latinLnBrk="1">
                        <a:lnSpc>
                          <a:spcPct val="100000"/>
                        </a:lnSpc>
                        <a:spcBef>
                          <a:spcPts val="0"/>
                        </a:spcBef>
                        <a:spcAft>
                          <a:spcPts val="0"/>
                        </a:spcAft>
                      </a:pPr>
                      <a:endParaRPr lang="ko-KR" altLang="en-US" sz="900" kern="1200" dirty="0">
                        <a:solidFill>
                          <a:schemeClr val="tx1"/>
                        </a:solidFill>
                        <a:latin typeface="+mn-lt"/>
                        <a:ea typeface="+mn-ea"/>
                        <a:cs typeface="+mn-cs"/>
                      </a:endParaRPr>
                    </a:p>
                  </a:txBody>
                  <a:tcPr marL="45699" marR="45699" marT="18000" marB="18000" anchor="ctr"/>
                </a:tc>
                <a:tc>
                  <a:txBody>
                    <a:bodyPr/>
                    <a:lstStyle/>
                    <a:p>
                      <a:pPr marL="73660" marR="0" indent="-73660" algn="just" fontAlgn="base" latinLnBrk="1">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변경출원과 동시에 우선권주장을 하고 증명서류를 별도로 제출</a:t>
                      </a:r>
                    </a:p>
                  </a:txBody>
                  <a:tcPr marL="45699" marR="45699" marT="18000" marB="18000" anchor="ctr"/>
                </a:tc>
                <a:extLst>
                  <a:ext uri="{0D108BD9-81ED-4DB2-BD59-A6C34878D82A}">
                    <a16:rowId xmlns:a16="http://schemas.microsoft.com/office/drawing/2014/main" val="3244362237"/>
                  </a:ext>
                </a:extLst>
              </a:tr>
              <a:tr h="271251">
                <a:tc rowSpan="3">
                  <a:txBody>
                    <a:bodyPr/>
                    <a:lstStyle/>
                    <a:p>
                      <a:pPr marL="0" marR="0" indent="0" algn="ctr" fontAlgn="base" latinLnBrk="0">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효과</a:t>
                      </a:r>
                    </a:p>
                  </a:txBody>
                  <a:tcPr marL="45699" marR="45699" marT="18000" marB="18000" anchor="ctr"/>
                </a:tc>
                <a:tc rowSpan="2">
                  <a:txBody>
                    <a:bodyPr/>
                    <a:lstStyle/>
                    <a:p>
                      <a:pPr marL="0" marR="0" indent="0" algn="ctr" fontAlgn="base" latinLnBrk="0">
                        <a:lnSpc>
                          <a:spcPct val="100000"/>
                        </a:lnSpc>
                        <a:spcBef>
                          <a:spcPts val="0"/>
                        </a:spcBef>
                        <a:spcAft>
                          <a:spcPts val="0"/>
                        </a:spcAft>
                      </a:pPr>
                      <a:r>
                        <a:rPr lang="ko-KR" altLang="en-US" sz="900" kern="1200">
                          <a:solidFill>
                            <a:schemeClr val="accent3">
                              <a:lumMod val="50000"/>
                            </a:schemeClr>
                          </a:solidFill>
                          <a:latin typeface="+mn-lt"/>
                          <a:ea typeface="+mn-ea"/>
                          <a:cs typeface="+mn-cs"/>
                        </a:rPr>
                        <a:t>적법</a:t>
                      </a:r>
                    </a:p>
                  </a:txBody>
                  <a:tcPr marL="45699" marR="45699" marT="18000" marB="18000" anchor="ctr"/>
                </a:tc>
                <a:tc gridSpan="3">
                  <a:txBody>
                    <a:bodyPr/>
                    <a:lstStyle/>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1.</a:t>
                      </a:r>
                      <a:r>
                        <a:rPr lang="ko-KR" altLang="en-US" sz="900" kern="1200" dirty="0">
                          <a:solidFill>
                            <a:schemeClr val="accent3">
                              <a:lumMod val="50000"/>
                            </a:schemeClr>
                          </a:solidFill>
                          <a:latin typeface="+mn-lt"/>
                          <a:ea typeface="+mn-ea"/>
                          <a:cs typeface="+mn-cs"/>
                        </a:rPr>
                        <a:t>출원일의 소급효</a:t>
                      </a:r>
                      <a:r>
                        <a:rPr lang="en-US" altLang="ko-KR" sz="900" kern="1200" dirty="0">
                          <a:solidFill>
                            <a:schemeClr val="accent3">
                              <a:lumMod val="50000"/>
                            </a:schemeClr>
                          </a:solidFill>
                          <a:latin typeface="+mn-lt"/>
                          <a:ea typeface="+mn-ea"/>
                          <a:cs typeface="+mn-cs"/>
                        </a:rPr>
                        <a:t>(</a:t>
                      </a:r>
                      <a:r>
                        <a:rPr lang="ko-KR" altLang="en-US" sz="900" kern="1200" dirty="0" err="1">
                          <a:solidFill>
                            <a:schemeClr val="accent3">
                              <a:lumMod val="50000"/>
                            </a:schemeClr>
                          </a:solidFill>
                          <a:latin typeface="+mn-lt"/>
                          <a:ea typeface="+mn-ea"/>
                          <a:cs typeface="+mn-cs"/>
                        </a:rPr>
                        <a:t>확공조국등</a:t>
                      </a:r>
                      <a:r>
                        <a:rPr lang="en-US" altLang="ko-KR" sz="900" kern="1200" dirty="0">
                          <a:solidFill>
                            <a:schemeClr val="accent3">
                              <a:lumMod val="50000"/>
                            </a:schemeClr>
                          </a:solidFill>
                          <a:latin typeface="+mn-lt"/>
                          <a:ea typeface="+mn-ea"/>
                          <a:cs typeface="+mn-cs"/>
                        </a:rPr>
                        <a:t>)</a:t>
                      </a:r>
                    </a:p>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2. </a:t>
                      </a:r>
                      <a:r>
                        <a:rPr lang="ko-KR" altLang="en-US" sz="900" kern="1200" dirty="0">
                          <a:solidFill>
                            <a:schemeClr val="accent3">
                              <a:lumMod val="50000"/>
                            </a:schemeClr>
                          </a:solidFill>
                          <a:latin typeface="+mn-lt"/>
                          <a:ea typeface="+mn-ea"/>
                          <a:cs typeface="+mn-cs"/>
                        </a:rPr>
                        <a:t>원출원과의 독립성</a:t>
                      </a:r>
                      <a:r>
                        <a:rPr lang="en-US" altLang="ko-KR" sz="900" kern="1200" dirty="0">
                          <a:solidFill>
                            <a:schemeClr val="accent3">
                              <a:lumMod val="50000"/>
                            </a:schemeClr>
                          </a:solidFill>
                          <a:latin typeface="+mn-lt"/>
                          <a:ea typeface="+mn-ea"/>
                          <a:cs typeface="+mn-cs"/>
                        </a:rPr>
                        <a:t>. </a:t>
                      </a:r>
                      <a:r>
                        <a:rPr lang="ko-KR" altLang="en-US" sz="900" kern="1200" dirty="0">
                          <a:solidFill>
                            <a:srgbClr val="FF0000"/>
                          </a:solidFill>
                          <a:latin typeface="+mn-lt"/>
                          <a:ea typeface="+mn-ea"/>
                          <a:cs typeface="+mn-cs"/>
                        </a:rPr>
                        <a:t>단 심사순서는 지식재산처장이 정하는 바에 의함</a:t>
                      </a:r>
                      <a:r>
                        <a:rPr lang="ko-KR" altLang="en-US" sz="900" kern="1200" dirty="0">
                          <a:solidFill>
                            <a:schemeClr val="accent3">
                              <a:lumMod val="50000"/>
                            </a:schemeClr>
                          </a:solidFill>
                          <a:latin typeface="+mn-lt"/>
                          <a:ea typeface="+mn-ea"/>
                          <a:cs typeface="+mn-cs"/>
                        </a:rPr>
                        <a:t> </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원출원이 </a:t>
                      </a:r>
                      <a:r>
                        <a:rPr lang="ko-KR" altLang="en-US" sz="900" kern="1200" dirty="0" err="1">
                          <a:solidFill>
                            <a:schemeClr val="accent3">
                              <a:lumMod val="50000"/>
                            </a:schemeClr>
                          </a:solidFill>
                          <a:latin typeface="+mn-lt"/>
                          <a:ea typeface="+mn-ea"/>
                          <a:cs typeface="+mn-cs"/>
                        </a:rPr>
                        <a:t>우선권주장하지</a:t>
                      </a:r>
                      <a:r>
                        <a:rPr lang="ko-KR" altLang="en-US" sz="900" kern="1200" dirty="0">
                          <a:solidFill>
                            <a:schemeClr val="accent3">
                              <a:lumMod val="50000"/>
                            </a:schemeClr>
                          </a:solidFill>
                          <a:latin typeface="+mn-lt"/>
                          <a:ea typeface="+mn-ea"/>
                          <a:cs typeface="+mn-cs"/>
                        </a:rPr>
                        <a:t> 않은 경우 </a:t>
                      </a:r>
                      <a:r>
                        <a:rPr lang="ko-KR" altLang="en-US" sz="900" kern="1200" dirty="0" err="1">
                          <a:solidFill>
                            <a:schemeClr val="accent3">
                              <a:lumMod val="50000"/>
                            </a:schemeClr>
                          </a:solidFill>
                          <a:latin typeface="+mn-lt"/>
                          <a:ea typeface="+mn-ea"/>
                          <a:cs typeface="+mn-cs"/>
                        </a:rPr>
                        <a:t>분할ㆍ분리ㆍ변경출원도</a:t>
                      </a:r>
                      <a:r>
                        <a:rPr lang="ko-KR" altLang="en-US" sz="900" kern="1200" dirty="0">
                          <a:solidFill>
                            <a:schemeClr val="accent3">
                              <a:lumMod val="50000"/>
                            </a:schemeClr>
                          </a:solidFill>
                          <a:latin typeface="+mn-lt"/>
                          <a:ea typeface="+mn-ea"/>
                          <a:cs typeface="+mn-cs"/>
                        </a:rPr>
                        <a:t> 불가</a:t>
                      </a:r>
                      <a:endParaRPr lang="en-US" altLang="ko-KR" sz="900" kern="1200" dirty="0">
                        <a:solidFill>
                          <a:schemeClr val="accent3">
                            <a:lumMod val="50000"/>
                          </a:schemeClr>
                        </a:solidFill>
                        <a:latin typeface="+mn-lt"/>
                        <a:ea typeface="+mn-ea"/>
                        <a:cs typeface="+mn-cs"/>
                      </a:endParaRPr>
                    </a:p>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3. </a:t>
                      </a:r>
                      <a:r>
                        <a:rPr lang="ko-KR" altLang="en-US" sz="900" kern="1200" dirty="0">
                          <a:solidFill>
                            <a:schemeClr val="accent3">
                              <a:lumMod val="50000"/>
                            </a:schemeClr>
                          </a:solidFill>
                          <a:latin typeface="+mn-lt"/>
                          <a:ea typeface="+mn-ea"/>
                          <a:cs typeface="+mn-cs"/>
                        </a:rPr>
                        <a:t>심사청구기간의 특례 </a:t>
                      </a:r>
                      <a:r>
                        <a:rPr lang="en-US" altLang="ko-KR" sz="900" kern="1200" dirty="0">
                          <a:solidFill>
                            <a:schemeClr val="accent3">
                              <a:lumMod val="50000"/>
                            </a:schemeClr>
                          </a:solidFill>
                          <a:latin typeface="+mn-lt"/>
                          <a:ea typeface="+mn-ea"/>
                          <a:cs typeface="+mn-cs"/>
                        </a:rPr>
                        <a:t>– </a:t>
                      </a:r>
                      <a:r>
                        <a:rPr lang="ko-KR" altLang="en-US" sz="900" kern="1200" dirty="0" err="1">
                          <a:solidFill>
                            <a:schemeClr val="accent3">
                              <a:lumMod val="50000"/>
                            </a:schemeClr>
                          </a:solidFill>
                          <a:latin typeface="+mn-lt"/>
                          <a:ea typeface="+mn-ea"/>
                          <a:cs typeface="+mn-cs"/>
                        </a:rPr>
                        <a:t>원출원일로부터</a:t>
                      </a:r>
                      <a:r>
                        <a:rPr lang="ko-KR" altLang="en-US" sz="900" kern="1200" dirty="0">
                          <a:solidFill>
                            <a:schemeClr val="accent3">
                              <a:lumMod val="50000"/>
                            </a:schemeClr>
                          </a:solidFill>
                          <a:latin typeface="+mn-lt"/>
                          <a:ea typeface="+mn-ea"/>
                          <a:cs typeface="+mn-cs"/>
                        </a:rPr>
                        <a:t> </a:t>
                      </a:r>
                      <a:r>
                        <a:rPr lang="en-US" altLang="ko-KR" sz="900" kern="1200" dirty="0">
                          <a:solidFill>
                            <a:schemeClr val="accent3">
                              <a:lumMod val="50000"/>
                            </a:schemeClr>
                          </a:solidFill>
                          <a:latin typeface="+mn-lt"/>
                          <a:ea typeface="+mn-ea"/>
                          <a:cs typeface="+mn-cs"/>
                        </a:rPr>
                        <a:t>3</a:t>
                      </a:r>
                      <a:r>
                        <a:rPr lang="ko-KR" altLang="en-US" sz="900" kern="1200" dirty="0">
                          <a:solidFill>
                            <a:schemeClr val="accent3">
                              <a:lumMod val="50000"/>
                            </a:schemeClr>
                          </a:solidFill>
                          <a:latin typeface="+mn-lt"/>
                          <a:ea typeface="+mn-ea"/>
                          <a:cs typeface="+mn-cs"/>
                        </a:rPr>
                        <a:t>년 지난 후라도 분할출원</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분리출원</a:t>
                      </a:r>
                      <a:r>
                        <a:rPr lang="en-US" altLang="ko-KR" sz="900" kern="1200" dirty="0">
                          <a:solidFill>
                            <a:schemeClr val="accent3">
                              <a:lumMod val="50000"/>
                            </a:schemeClr>
                          </a:solidFill>
                          <a:latin typeface="+mn-lt"/>
                          <a:ea typeface="+mn-ea"/>
                          <a:cs typeface="+mn-cs"/>
                        </a:rPr>
                        <a:t>, </a:t>
                      </a:r>
                      <a:r>
                        <a:rPr lang="ko-KR" altLang="en-US" sz="900" kern="1200" dirty="0" err="1">
                          <a:solidFill>
                            <a:schemeClr val="accent3">
                              <a:lumMod val="50000"/>
                            </a:schemeClr>
                          </a:solidFill>
                          <a:latin typeface="+mn-lt"/>
                          <a:ea typeface="+mn-ea"/>
                          <a:cs typeface="+mn-cs"/>
                        </a:rPr>
                        <a:t>변경출원일로부터</a:t>
                      </a:r>
                      <a:r>
                        <a:rPr lang="ko-KR" altLang="en-US" sz="900" kern="1200" dirty="0">
                          <a:solidFill>
                            <a:schemeClr val="accent3">
                              <a:lumMod val="50000"/>
                            </a:schemeClr>
                          </a:solidFill>
                          <a:latin typeface="+mn-lt"/>
                          <a:ea typeface="+mn-ea"/>
                          <a:cs typeface="+mn-cs"/>
                        </a:rPr>
                        <a:t> </a:t>
                      </a:r>
                      <a:r>
                        <a:rPr lang="en-US" altLang="ko-KR" sz="900" kern="1200" dirty="0">
                          <a:solidFill>
                            <a:schemeClr val="accent3">
                              <a:lumMod val="50000"/>
                            </a:schemeClr>
                          </a:solidFill>
                          <a:latin typeface="+mn-lt"/>
                          <a:ea typeface="+mn-ea"/>
                          <a:cs typeface="+mn-cs"/>
                        </a:rPr>
                        <a:t>30</a:t>
                      </a:r>
                      <a:r>
                        <a:rPr lang="ko-KR" altLang="en-US" sz="900" kern="1200" dirty="0">
                          <a:solidFill>
                            <a:schemeClr val="accent3">
                              <a:lumMod val="50000"/>
                            </a:schemeClr>
                          </a:solidFill>
                          <a:latin typeface="+mn-lt"/>
                          <a:ea typeface="+mn-ea"/>
                          <a:cs typeface="+mn-cs"/>
                        </a:rPr>
                        <a:t>일 이내</a:t>
                      </a:r>
                    </a:p>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4. </a:t>
                      </a:r>
                      <a:r>
                        <a:rPr lang="ko-KR" altLang="en-US" sz="900" kern="1200" dirty="0" err="1">
                          <a:solidFill>
                            <a:schemeClr val="accent3">
                              <a:lumMod val="50000"/>
                            </a:schemeClr>
                          </a:solidFill>
                          <a:latin typeface="+mn-lt"/>
                          <a:ea typeface="+mn-ea"/>
                          <a:cs typeface="+mn-cs"/>
                        </a:rPr>
                        <a:t>국내우선권주장출원과의</a:t>
                      </a:r>
                      <a:r>
                        <a:rPr lang="ko-KR" altLang="en-US" sz="900" kern="1200" dirty="0">
                          <a:solidFill>
                            <a:schemeClr val="accent3">
                              <a:lumMod val="50000"/>
                            </a:schemeClr>
                          </a:solidFill>
                          <a:latin typeface="+mn-lt"/>
                          <a:ea typeface="+mn-ea"/>
                          <a:cs typeface="+mn-cs"/>
                        </a:rPr>
                        <a:t> 관계 </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분할출원</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분리출원</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변경출원은 </a:t>
                      </a:r>
                      <a:r>
                        <a:rPr lang="ko-KR" altLang="en-US" sz="900" kern="1200" dirty="0" err="1">
                          <a:solidFill>
                            <a:schemeClr val="accent3">
                              <a:lumMod val="50000"/>
                            </a:schemeClr>
                          </a:solidFill>
                          <a:latin typeface="+mn-lt"/>
                          <a:ea typeface="+mn-ea"/>
                          <a:cs typeface="+mn-cs"/>
                        </a:rPr>
                        <a:t>국내우선권주장출원의</a:t>
                      </a:r>
                      <a:r>
                        <a:rPr lang="ko-KR" altLang="en-US" sz="900" kern="1200" dirty="0">
                          <a:solidFill>
                            <a:schemeClr val="accent3">
                              <a:lumMod val="50000"/>
                            </a:schemeClr>
                          </a:solidFill>
                          <a:latin typeface="+mn-lt"/>
                          <a:ea typeface="+mn-ea"/>
                          <a:cs typeface="+mn-cs"/>
                        </a:rPr>
                        <a:t> </a:t>
                      </a:r>
                      <a:r>
                        <a:rPr lang="ko-KR" altLang="en-US" sz="900" kern="1200" dirty="0" err="1">
                          <a:solidFill>
                            <a:schemeClr val="accent3">
                              <a:lumMod val="50000"/>
                            </a:schemeClr>
                          </a:solidFill>
                          <a:latin typeface="+mn-lt"/>
                          <a:ea typeface="+mn-ea"/>
                          <a:cs typeface="+mn-cs"/>
                        </a:rPr>
                        <a:t>선출원</a:t>
                      </a:r>
                      <a:r>
                        <a:rPr lang="ko-KR" altLang="en-US" sz="900" kern="1200" dirty="0">
                          <a:solidFill>
                            <a:schemeClr val="accent3">
                              <a:lumMod val="50000"/>
                            </a:schemeClr>
                          </a:solidFill>
                          <a:latin typeface="+mn-lt"/>
                          <a:ea typeface="+mn-ea"/>
                          <a:cs typeface="+mn-cs"/>
                        </a:rPr>
                        <a:t> 불가</a:t>
                      </a:r>
                    </a:p>
                  </a:txBody>
                  <a:tcPr marL="45699" marR="45699" marT="18000" marB="18000" anchor="ctr"/>
                </a:tc>
                <a:tc hMerge="1">
                  <a:txBody>
                    <a:bodyPr/>
                    <a:lstStyle/>
                    <a:p>
                      <a:pPr latinLnBrk="1"/>
                      <a:endParaRPr lang="ko-KR" altLang="en-US"/>
                    </a:p>
                  </a:txBody>
                  <a:tcPr/>
                </a:tc>
                <a:tc hMerge="1">
                  <a:txBody>
                    <a:bodyPr/>
                    <a:lstStyle/>
                    <a:p>
                      <a:pPr marL="0" marR="0" indent="0" algn="just" fontAlgn="base" latinLnBrk="1">
                        <a:lnSpc>
                          <a:spcPct val="100000"/>
                        </a:lnSpc>
                        <a:spcBef>
                          <a:spcPts val="0"/>
                        </a:spcBef>
                        <a:spcAft>
                          <a:spcPts val="0"/>
                        </a:spcAft>
                      </a:pPr>
                      <a:endParaRPr lang="ko-KR" altLang="en-US" sz="900" kern="1200" dirty="0">
                        <a:solidFill>
                          <a:schemeClr val="tx1"/>
                        </a:solidFill>
                        <a:latin typeface="+mn-lt"/>
                        <a:ea typeface="+mn-ea"/>
                        <a:cs typeface="+mn-cs"/>
                      </a:endParaRPr>
                    </a:p>
                  </a:txBody>
                  <a:tcPr marL="45699" marR="45699" marT="18000" marB="18000" anchor="ctr"/>
                </a:tc>
                <a:extLst>
                  <a:ext uri="{0D108BD9-81ED-4DB2-BD59-A6C34878D82A}">
                    <a16:rowId xmlns:a16="http://schemas.microsoft.com/office/drawing/2014/main" val="1943930367"/>
                  </a:ext>
                </a:extLst>
              </a:tr>
              <a:tr h="271251">
                <a:tc vMerge="1">
                  <a:txBody>
                    <a:bodyPr/>
                    <a:lstStyle/>
                    <a:p>
                      <a:pPr latinLnBrk="1"/>
                      <a:endParaRPr lang="ko-KR" altLang="en-US"/>
                    </a:p>
                  </a:txBody>
                  <a:tcPr/>
                </a:tc>
                <a:tc vMerge="1">
                  <a:txBody>
                    <a:bodyPr/>
                    <a:lstStyle/>
                    <a:p>
                      <a:pPr latinLnBrk="1"/>
                      <a:endParaRPr lang="ko-KR" altLang="en-US"/>
                    </a:p>
                  </a:txBody>
                  <a:tcPr/>
                </a:tc>
                <a:tc>
                  <a:txBody>
                    <a:bodyPr/>
                    <a:lstStyle/>
                    <a:p>
                      <a:pPr marL="73660" marR="0" indent="-7366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5.</a:t>
                      </a:r>
                      <a:r>
                        <a:rPr lang="ko-KR" altLang="en-US" sz="900" kern="1200" dirty="0">
                          <a:solidFill>
                            <a:schemeClr val="accent3">
                              <a:lumMod val="50000"/>
                            </a:schemeClr>
                          </a:solidFill>
                          <a:latin typeface="+mn-lt"/>
                          <a:ea typeface="+mn-ea"/>
                          <a:cs typeface="+mn-cs"/>
                        </a:rPr>
                        <a:t>분할출원이 </a:t>
                      </a:r>
                      <a:r>
                        <a:rPr lang="ko-KR" altLang="en-US" sz="900" kern="1200" dirty="0" err="1">
                          <a:solidFill>
                            <a:schemeClr val="accent3">
                              <a:lumMod val="50000"/>
                            </a:schemeClr>
                          </a:solidFill>
                          <a:latin typeface="+mn-lt"/>
                          <a:ea typeface="+mn-ea"/>
                          <a:cs typeface="+mn-cs"/>
                        </a:rPr>
                        <a:t>조약우선권주장을</a:t>
                      </a:r>
                      <a:r>
                        <a:rPr lang="ko-KR" altLang="en-US" sz="900" kern="1200" dirty="0">
                          <a:solidFill>
                            <a:schemeClr val="accent3">
                              <a:lumMod val="50000"/>
                            </a:schemeClr>
                          </a:solidFill>
                          <a:latin typeface="+mn-lt"/>
                          <a:ea typeface="+mn-ea"/>
                          <a:cs typeface="+mn-cs"/>
                        </a:rPr>
                        <a:t> 수반하는 경우에는 최우선일로부터 </a:t>
                      </a:r>
                      <a:r>
                        <a:rPr lang="en-US" altLang="ko-KR" sz="900" kern="1200" dirty="0">
                          <a:solidFill>
                            <a:schemeClr val="accent3">
                              <a:lumMod val="50000"/>
                            </a:schemeClr>
                          </a:solidFill>
                          <a:latin typeface="+mn-lt"/>
                          <a:ea typeface="+mn-ea"/>
                          <a:cs typeface="+mn-cs"/>
                        </a:rPr>
                        <a:t>1</a:t>
                      </a:r>
                      <a:r>
                        <a:rPr lang="ko-KR" altLang="en-US" sz="900" kern="1200" dirty="0">
                          <a:solidFill>
                            <a:schemeClr val="accent3">
                              <a:lumMod val="50000"/>
                            </a:schemeClr>
                          </a:solidFill>
                          <a:latin typeface="+mn-lt"/>
                          <a:ea typeface="+mn-ea"/>
                          <a:cs typeface="+mn-cs"/>
                        </a:rPr>
                        <a:t>년 </a:t>
                      </a:r>
                      <a:r>
                        <a:rPr lang="en-US" altLang="ko-KR" sz="900" kern="1200" dirty="0">
                          <a:solidFill>
                            <a:schemeClr val="accent3">
                              <a:lumMod val="50000"/>
                            </a:schemeClr>
                          </a:solidFill>
                          <a:latin typeface="+mn-lt"/>
                          <a:ea typeface="+mn-ea"/>
                          <a:cs typeface="+mn-cs"/>
                        </a:rPr>
                        <a:t>4</a:t>
                      </a:r>
                      <a:r>
                        <a:rPr lang="ko-KR" altLang="en-US" sz="900" kern="1200" dirty="0">
                          <a:solidFill>
                            <a:schemeClr val="accent3">
                              <a:lumMod val="50000"/>
                            </a:schemeClr>
                          </a:solidFill>
                          <a:latin typeface="+mn-lt"/>
                          <a:ea typeface="+mn-ea"/>
                          <a:cs typeface="+mn-cs"/>
                        </a:rPr>
                        <a:t>개월의 기간이 지난 후에도 분할출원을 한 날부터 </a:t>
                      </a:r>
                      <a:r>
                        <a:rPr lang="en-US" altLang="ko-KR" sz="900" kern="1200" dirty="0">
                          <a:solidFill>
                            <a:schemeClr val="accent3">
                              <a:lumMod val="50000"/>
                            </a:schemeClr>
                          </a:solidFill>
                          <a:latin typeface="+mn-lt"/>
                          <a:ea typeface="+mn-ea"/>
                          <a:cs typeface="+mn-cs"/>
                        </a:rPr>
                        <a:t>3</a:t>
                      </a:r>
                      <a:r>
                        <a:rPr lang="ko-KR" altLang="en-US" sz="900" kern="1200" dirty="0">
                          <a:solidFill>
                            <a:schemeClr val="accent3">
                              <a:lumMod val="50000"/>
                            </a:schemeClr>
                          </a:solidFill>
                          <a:latin typeface="+mn-lt"/>
                          <a:ea typeface="+mn-ea"/>
                          <a:cs typeface="+mn-cs"/>
                        </a:rPr>
                        <a:t>개월 이내에 지식재산처장에게 증명서류 제출</a:t>
                      </a:r>
                      <a:endParaRPr lang="en-US" altLang="ko-KR" sz="900" kern="1200" dirty="0">
                        <a:solidFill>
                          <a:schemeClr val="accent3">
                            <a:lumMod val="50000"/>
                          </a:schemeClr>
                        </a:solidFill>
                        <a:latin typeface="+mn-lt"/>
                        <a:ea typeface="+mn-ea"/>
                        <a:cs typeface="+mn-cs"/>
                      </a:endParaRPr>
                    </a:p>
                    <a:p>
                      <a:pPr marL="73660" marR="0" indent="-7366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6.</a:t>
                      </a:r>
                      <a:r>
                        <a:rPr lang="ko-KR" altLang="en-US" sz="900" kern="1200" dirty="0">
                          <a:solidFill>
                            <a:schemeClr val="accent3">
                              <a:lumMod val="50000"/>
                            </a:schemeClr>
                          </a:solidFill>
                          <a:latin typeface="+mn-lt"/>
                          <a:ea typeface="+mn-ea"/>
                          <a:cs typeface="+mn-cs"/>
                        </a:rPr>
                        <a:t>청구범위제출유예기간이 지난 후라도 </a:t>
                      </a:r>
                      <a:r>
                        <a:rPr lang="ko-KR" altLang="en-US" sz="900" kern="1200" dirty="0" err="1">
                          <a:solidFill>
                            <a:schemeClr val="accent3">
                              <a:lumMod val="50000"/>
                            </a:schemeClr>
                          </a:solidFill>
                          <a:latin typeface="+mn-lt"/>
                          <a:ea typeface="+mn-ea"/>
                          <a:cs typeface="+mn-cs"/>
                        </a:rPr>
                        <a:t>분할출원일로부터</a:t>
                      </a:r>
                      <a:r>
                        <a:rPr lang="ko-KR" altLang="en-US" sz="900" kern="1200" dirty="0">
                          <a:solidFill>
                            <a:schemeClr val="accent3">
                              <a:lumMod val="50000"/>
                            </a:schemeClr>
                          </a:solidFill>
                          <a:latin typeface="+mn-lt"/>
                          <a:ea typeface="+mn-ea"/>
                          <a:cs typeface="+mn-cs"/>
                        </a:rPr>
                        <a:t> </a:t>
                      </a:r>
                      <a:r>
                        <a:rPr lang="en-US" altLang="ko-KR" sz="900" kern="1200" dirty="0">
                          <a:solidFill>
                            <a:schemeClr val="accent3">
                              <a:lumMod val="50000"/>
                            </a:schemeClr>
                          </a:solidFill>
                          <a:latin typeface="+mn-lt"/>
                          <a:ea typeface="+mn-ea"/>
                          <a:cs typeface="+mn-cs"/>
                        </a:rPr>
                        <a:t>30</a:t>
                      </a:r>
                      <a:r>
                        <a:rPr lang="ko-KR" altLang="en-US" sz="900" kern="1200" dirty="0">
                          <a:solidFill>
                            <a:schemeClr val="accent3">
                              <a:lumMod val="50000"/>
                            </a:schemeClr>
                          </a:solidFill>
                          <a:latin typeface="+mn-lt"/>
                          <a:ea typeface="+mn-ea"/>
                          <a:cs typeface="+mn-cs"/>
                        </a:rPr>
                        <a:t>일 이내 제출</a:t>
                      </a:r>
                    </a:p>
                  </a:txBody>
                  <a:tcPr marL="45699" marR="45699" marT="18000" marB="18000" anchor="ctr"/>
                </a:tc>
                <a:tc>
                  <a:txBody>
                    <a:bodyPr/>
                    <a:lstStyle/>
                    <a:p>
                      <a:pPr latinLnBrk="1"/>
                      <a:r>
                        <a:rPr lang="en-US" altLang="ko-KR" sz="900" dirty="0">
                          <a:solidFill>
                            <a:srgbClr val="FF0000"/>
                          </a:solidFill>
                        </a:rPr>
                        <a:t>5. </a:t>
                      </a:r>
                      <a:r>
                        <a:rPr lang="ko-KR" altLang="en-US" sz="900" dirty="0" err="1">
                          <a:solidFill>
                            <a:srgbClr val="FF0000"/>
                          </a:solidFill>
                        </a:rPr>
                        <a:t>우선권증명서류제출기간의</a:t>
                      </a:r>
                      <a:r>
                        <a:rPr lang="ko-KR" altLang="en-US" sz="900" dirty="0">
                          <a:solidFill>
                            <a:srgbClr val="FF0000"/>
                          </a:solidFill>
                        </a:rPr>
                        <a:t> 특례 불비</a:t>
                      </a:r>
                      <a:endParaRPr lang="en-US" altLang="ko-KR" sz="900" dirty="0">
                        <a:solidFill>
                          <a:srgbClr val="FF0000"/>
                        </a:solidFill>
                      </a:endParaRPr>
                    </a:p>
                    <a:p>
                      <a:pPr latinLnBrk="1"/>
                      <a:r>
                        <a:rPr lang="en-US" altLang="ko-KR" sz="900" dirty="0">
                          <a:solidFill>
                            <a:schemeClr val="accent3">
                              <a:lumMod val="50000"/>
                            </a:schemeClr>
                          </a:solidFill>
                        </a:rPr>
                        <a:t>6. </a:t>
                      </a:r>
                      <a:r>
                        <a:rPr lang="ko-KR" altLang="en-US" sz="900" dirty="0" err="1">
                          <a:solidFill>
                            <a:schemeClr val="accent3">
                              <a:lumMod val="50000"/>
                            </a:schemeClr>
                          </a:solidFill>
                        </a:rPr>
                        <a:t>청구범위제출유예제도</a:t>
                      </a:r>
                      <a:r>
                        <a:rPr lang="ko-KR" altLang="en-US" sz="900" dirty="0">
                          <a:solidFill>
                            <a:schemeClr val="accent3">
                              <a:lumMod val="50000"/>
                            </a:schemeClr>
                          </a:solidFill>
                        </a:rPr>
                        <a:t> 이용 불가</a:t>
                      </a:r>
                    </a:p>
                  </a:txBody>
                  <a:tcPr marL="45699" marR="45699" marT="18000" marB="18000" anchor="ctr"/>
                </a:tc>
                <a:tc>
                  <a:txBody>
                    <a:bodyPr/>
                    <a:lstStyle/>
                    <a:p>
                      <a:pPr marL="73660" marR="0" indent="-7366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5.</a:t>
                      </a:r>
                      <a:r>
                        <a:rPr lang="ko-KR" altLang="en-US" sz="900" kern="1200" dirty="0">
                          <a:solidFill>
                            <a:schemeClr val="accent3">
                              <a:lumMod val="50000"/>
                            </a:schemeClr>
                          </a:solidFill>
                          <a:latin typeface="+mn-lt"/>
                          <a:ea typeface="+mn-ea"/>
                          <a:cs typeface="+mn-cs"/>
                        </a:rPr>
                        <a:t>변경출원이 </a:t>
                      </a:r>
                      <a:r>
                        <a:rPr lang="ko-KR" altLang="en-US" sz="900" kern="1200" dirty="0" err="1">
                          <a:solidFill>
                            <a:schemeClr val="accent3">
                              <a:lumMod val="50000"/>
                            </a:schemeClr>
                          </a:solidFill>
                          <a:latin typeface="+mn-lt"/>
                          <a:ea typeface="+mn-ea"/>
                          <a:cs typeface="+mn-cs"/>
                        </a:rPr>
                        <a:t>조약우선권주장을</a:t>
                      </a:r>
                      <a:r>
                        <a:rPr lang="ko-KR" altLang="en-US" sz="900" kern="1200" dirty="0">
                          <a:solidFill>
                            <a:schemeClr val="accent3">
                              <a:lumMod val="50000"/>
                            </a:schemeClr>
                          </a:solidFill>
                          <a:latin typeface="+mn-lt"/>
                          <a:ea typeface="+mn-ea"/>
                          <a:cs typeface="+mn-cs"/>
                        </a:rPr>
                        <a:t> 수반하는 경우에는 최우선일로부터 </a:t>
                      </a:r>
                      <a:r>
                        <a:rPr lang="en-US" altLang="ko-KR" sz="900" kern="1200" dirty="0">
                          <a:solidFill>
                            <a:schemeClr val="accent3">
                              <a:lumMod val="50000"/>
                            </a:schemeClr>
                          </a:solidFill>
                          <a:latin typeface="+mn-lt"/>
                          <a:ea typeface="+mn-ea"/>
                          <a:cs typeface="+mn-cs"/>
                        </a:rPr>
                        <a:t>1</a:t>
                      </a:r>
                      <a:r>
                        <a:rPr lang="ko-KR" altLang="en-US" sz="900" kern="1200" dirty="0">
                          <a:solidFill>
                            <a:schemeClr val="accent3">
                              <a:lumMod val="50000"/>
                            </a:schemeClr>
                          </a:solidFill>
                          <a:latin typeface="+mn-lt"/>
                          <a:ea typeface="+mn-ea"/>
                          <a:cs typeface="+mn-cs"/>
                        </a:rPr>
                        <a:t>년 </a:t>
                      </a:r>
                      <a:r>
                        <a:rPr lang="en-US" altLang="ko-KR" sz="900" kern="1200" dirty="0">
                          <a:solidFill>
                            <a:schemeClr val="accent3">
                              <a:lumMod val="50000"/>
                            </a:schemeClr>
                          </a:solidFill>
                          <a:latin typeface="+mn-lt"/>
                          <a:ea typeface="+mn-ea"/>
                          <a:cs typeface="+mn-cs"/>
                        </a:rPr>
                        <a:t>4</a:t>
                      </a:r>
                      <a:r>
                        <a:rPr lang="ko-KR" altLang="en-US" sz="900" kern="1200" dirty="0">
                          <a:solidFill>
                            <a:schemeClr val="accent3">
                              <a:lumMod val="50000"/>
                            </a:schemeClr>
                          </a:solidFill>
                          <a:latin typeface="+mn-lt"/>
                          <a:ea typeface="+mn-ea"/>
                          <a:cs typeface="+mn-cs"/>
                        </a:rPr>
                        <a:t>개월의 기간이 지난 후에도 변경출원을 한 날부터 </a:t>
                      </a:r>
                      <a:r>
                        <a:rPr lang="en-US" altLang="ko-KR" sz="900" kern="1200" dirty="0">
                          <a:solidFill>
                            <a:schemeClr val="accent3">
                              <a:lumMod val="50000"/>
                            </a:schemeClr>
                          </a:solidFill>
                          <a:latin typeface="+mn-lt"/>
                          <a:ea typeface="+mn-ea"/>
                          <a:cs typeface="+mn-cs"/>
                        </a:rPr>
                        <a:t>3</a:t>
                      </a:r>
                      <a:r>
                        <a:rPr lang="ko-KR" altLang="en-US" sz="900" kern="1200" dirty="0">
                          <a:solidFill>
                            <a:schemeClr val="accent3">
                              <a:lumMod val="50000"/>
                            </a:schemeClr>
                          </a:solidFill>
                          <a:latin typeface="+mn-lt"/>
                          <a:ea typeface="+mn-ea"/>
                          <a:cs typeface="+mn-cs"/>
                        </a:rPr>
                        <a:t>개월 이내에 지식재산처장에게 증명서류 제출</a:t>
                      </a:r>
                    </a:p>
                    <a:p>
                      <a:pPr marL="73660" marR="0" indent="-7366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6.</a:t>
                      </a:r>
                      <a:r>
                        <a:rPr lang="ko-KR" altLang="en-US" sz="900" kern="1200" dirty="0">
                          <a:solidFill>
                            <a:schemeClr val="accent3">
                              <a:lumMod val="50000"/>
                            </a:schemeClr>
                          </a:solidFill>
                          <a:latin typeface="+mn-lt"/>
                          <a:ea typeface="+mn-ea"/>
                          <a:cs typeface="+mn-cs"/>
                        </a:rPr>
                        <a:t>청구범위제출유예기간이 지난 후라도 </a:t>
                      </a:r>
                      <a:r>
                        <a:rPr lang="ko-KR" altLang="en-US" sz="900" kern="1200" dirty="0" err="1">
                          <a:solidFill>
                            <a:schemeClr val="accent3">
                              <a:lumMod val="50000"/>
                            </a:schemeClr>
                          </a:solidFill>
                          <a:latin typeface="+mn-lt"/>
                          <a:ea typeface="+mn-ea"/>
                          <a:cs typeface="+mn-cs"/>
                        </a:rPr>
                        <a:t>변경출원일로부터</a:t>
                      </a:r>
                      <a:r>
                        <a:rPr lang="ko-KR" altLang="en-US" sz="900" kern="1200" dirty="0">
                          <a:solidFill>
                            <a:schemeClr val="accent3">
                              <a:lumMod val="50000"/>
                            </a:schemeClr>
                          </a:solidFill>
                          <a:latin typeface="+mn-lt"/>
                          <a:ea typeface="+mn-ea"/>
                          <a:cs typeface="+mn-cs"/>
                        </a:rPr>
                        <a:t> </a:t>
                      </a:r>
                      <a:r>
                        <a:rPr lang="en-US" altLang="ko-KR" sz="900" kern="1200" dirty="0">
                          <a:solidFill>
                            <a:schemeClr val="accent3">
                              <a:lumMod val="50000"/>
                            </a:schemeClr>
                          </a:solidFill>
                          <a:latin typeface="+mn-lt"/>
                          <a:ea typeface="+mn-ea"/>
                          <a:cs typeface="+mn-cs"/>
                        </a:rPr>
                        <a:t>30</a:t>
                      </a:r>
                      <a:r>
                        <a:rPr lang="ko-KR" altLang="en-US" sz="900" kern="1200" dirty="0">
                          <a:solidFill>
                            <a:schemeClr val="accent3">
                              <a:lumMod val="50000"/>
                            </a:schemeClr>
                          </a:solidFill>
                          <a:latin typeface="+mn-lt"/>
                          <a:ea typeface="+mn-ea"/>
                          <a:cs typeface="+mn-cs"/>
                        </a:rPr>
                        <a:t>일 이내 제출</a:t>
                      </a:r>
                    </a:p>
                  </a:txBody>
                  <a:tcPr marL="45699" marR="45699" marT="18000" marB="18000" anchor="ctr"/>
                </a:tc>
                <a:extLst>
                  <a:ext uri="{0D108BD9-81ED-4DB2-BD59-A6C34878D82A}">
                    <a16:rowId xmlns:a16="http://schemas.microsoft.com/office/drawing/2014/main" val="2331099691"/>
                  </a:ext>
                </a:extLst>
              </a:tr>
              <a:tr h="143977">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1200" dirty="0" err="1">
                          <a:solidFill>
                            <a:schemeClr val="accent3">
                              <a:lumMod val="50000"/>
                            </a:schemeClr>
                          </a:solidFill>
                          <a:latin typeface="+mn-lt"/>
                          <a:ea typeface="+mn-ea"/>
                          <a:cs typeface="+mn-cs"/>
                        </a:rPr>
                        <a:t>부적법</a:t>
                      </a:r>
                      <a:endParaRPr lang="ko-KR" altLang="en-US" sz="900" kern="1200" dirty="0">
                        <a:solidFill>
                          <a:schemeClr val="accent3">
                            <a:lumMod val="50000"/>
                          </a:schemeClr>
                        </a:solidFill>
                        <a:latin typeface="+mn-lt"/>
                        <a:ea typeface="+mn-ea"/>
                        <a:cs typeface="+mn-cs"/>
                      </a:endParaRPr>
                    </a:p>
                  </a:txBody>
                  <a:tcPr marL="45699" marR="45699" marT="18000" marB="18000" anchor="ctr"/>
                </a:tc>
                <a:tc gridSpan="3">
                  <a:txBody>
                    <a:bodyPr/>
                    <a:lstStyle/>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1.</a:t>
                      </a:r>
                      <a:r>
                        <a:rPr lang="ko-KR" altLang="en-US" sz="900" kern="1200" dirty="0" err="1">
                          <a:solidFill>
                            <a:schemeClr val="accent3">
                              <a:lumMod val="50000"/>
                            </a:schemeClr>
                          </a:solidFill>
                          <a:latin typeface="+mn-lt"/>
                          <a:ea typeface="+mn-ea"/>
                          <a:cs typeface="+mn-cs"/>
                        </a:rPr>
                        <a:t>일반요건</a:t>
                      </a:r>
                      <a:r>
                        <a:rPr lang="ko-KR" altLang="en-US" sz="900" kern="1200" dirty="0">
                          <a:solidFill>
                            <a:schemeClr val="accent3">
                              <a:lumMod val="50000"/>
                            </a:schemeClr>
                          </a:solidFill>
                          <a:latin typeface="+mn-lt"/>
                          <a:ea typeface="+mn-ea"/>
                          <a:cs typeface="+mn-cs"/>
                        </a:rPr>
                        <a:t> 불만족</a:t>
                      </a:r>
                      <a:r>
                        <a:rPr lang="en-US" altLang="ko-KR" sz="900" kern="1200" dirty="0">
                          <a:solidFill>
                            <a:schemeClr val="accent3">
                              <a:lumMod val="50000"/>
                            </a:schemeClr>
                          </a:solidFill>
                          <a:latin typeface="+mn-lt"/>
                          <a:ea typeface="+mn-ea"/>
                          <a:cs typeface="+mn-cs"/>
                        </a:rPr>
                        <a:t>-</a:t>
                      </a:r>
                      <a:r>
                        <a:rPr lang="ko-KR" altLang="en-US" sz="900" kern="1200" dirty="0" err="1">
                          <a:solidFill>
                            <a:schemeClr val="accent3">
                              <a:lumMod val="50000"/>
                            </a:schemeClr>
                          </a:solidFill>
                          <a:latin typeface="+mn-lt"/>
                          <a:ea typeface="+mn-ea"/>
                          <a:cs typeface="+mn-cs"/>
                        </a:rPr>
                        <a:t>불수리</a:t>
                      </a:r>
                      <a:endParaRPr lang="ko-KR" altLang="en-US" sz="900" kern="1200" dirty="0">
                        <a:solidFill>
                          <a:schemeClr val="accent3">
                            <a:lumMod val="50000"/>
                          </a:schemeClr>
                        </a:solidFill>
                        <a:latin typeface="+mn-lt"/>
                        <a:ea typeface="+mn-ea"/>
                        <a:cs typeface="+mn-cs"/>
                      </a:endParaRPr>
                    </a:p>
                    <a:p>
                      <a:pPr marL="0" marR="0" indent="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2.</a:t>
                      </a:r>
                      <a:r>
                        <a:rPr lang="ko-KR" altLang="en-US" sz="900" kern="1200" dirty="0">
                          <a:solidFill>
                            <a:schemeClr val="accent3">
                              <a:lumMod val="50000"/>
                            </a:schemeClr>
                          </a:solidFill>
                          <a:latin typeface="+mn-lt"/>
                          <a:ea typeface="+mn-ea"/>
                          <a:cs typeface="+mn-cs"/>
                        </a:rPr>
                        <a:t>명도가 원출원의 최명도에 기재된 범위 이내일 것 위반</a:t>
                      </a:r>
                      <a:r>
                        <a:rPr lang="en-US" altLang="ko-KR" sz="900" kern="1200" dirty="0">
                          <a:solidFill>
                            <a:schemeClr val="accent3">
                              <a:lumMod val="50000"/>
                            </a:schemeClr>
                          </a:solidFill>
                          <a:latin typeface="+mn-lt"/>
                          <a:ea typeface="+mn-ea"/>
                          <a:cs typeface="+mn-cs"/>
                        </a:rPr>
                        <a:t>-</a:t>
                      </a:r>
                      <a:r>
                        <a:rPr lang="ko-KR" altLang="en-US" sz="900" kern="1200" dirty="0">
                          <a:solidFill>
                            <a:schemeClr val="accent3">
                              <a:lumMod val="50000"/>
                            </a:schemeClr>
                          </a:solidFill>
                          <a:latin typeface="+mn-lt"/>
                          <a:ea typeface="+mn-ea"/>
                          <a:cs typeface="+mn-cs"/>
                        </a:rPr>
                        <a:t>거절이유</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정보제공사유</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무효사유</a:t>
                      </a:r>
                      <a:r>
                        <a:rPr lang="en-US" altLang="ko-KR" sz="900" kern="1200" dirty="0">
                          <a:solidFill>
                            <a:schemeClr val="accent3">
                              <a:lumMod val="50000"/>
                            </a:schemeClr>
                          </a:solidFill>
                          <a:latin typeface="Rix모던고딕 B" panose="02020603020101020101" pitchFamily="18" charset="-127"/>
                          <a:ea typeface="Rix모던고딕 B" panose="02020603020101020101" pitchFamily="18" charset="-127"/>
                          <a:cs typeface="+mn-cs"/>
                        </a:rPr>
                        <a:t> (</a:t>
                      </a:r>
                      <a:r>
                        <a:rPr lang="ko-KR" altLang="en-US" sz="900" kern="1200" dirty="0">
                          <a:solidFill>
                            <a:schemeClr val="accent3">
                              <a:lumMod val="50000"/>
                            </a:schemeClr>
                          </a:solidFill>
                          <a:latin typeface="Rix모던고딕 B" panose="02020603020101020101" pitchFamily="18" charset="-127"/>
                          <a:ea typeface="Rix모던고딕 B" panose="02020603020101020101" pitchFamily="18" charset="-127"/>
                          <a:cs typeface="+mn-cs"/>
                        </a:rPr>
                        <a:t>분리출원의 경우 청구범위의 요건을 만족하지 않은 경우 거절이유</a:t>
                      </a:r>
                      <a:r>
                        <a:rPr lang="en-US" altLang="ko-KR" sz="900" kern="1200" dirty="0">
                          <a:solidFill>
                            <a:schemeClr val="accent3">
                              <a:lumMod val="50000"/>
                            </a:schemeClr>
                          </a:solidFill>
                          <a:latin typeface="Rix모던고딕 B" panose="02020603020101020101" pitchFamily="18" charset="-127"/>
                          <a:ea typeface="Rix모던고딕 B" panose="02020603020101020101" pitchFamily="18" charset="-127"/>
                          <a:cs typeface="+mn-cs"/>
                        </a:rPr>
                        <a:t>, </a:t>
                      </a:r>
                      <a:r>
                        <a:rPr lang="ko-KR" altLang="en-US" sz="900" kern="1200" dirty="0">
                          <a:solidFill>
                            <a:schemeClr val="accent3">
                              <a:lumMod val="50000"/>
                            </a:schemeClr>
                          </a:solidFill>
                          <a:latin typeface="Rix모던고딕 B" panose="02020603020101020101" pitchFamily="18" charset="-127"/>
                          <a:ea typeface="Rix모던고딕 B" panose="02020603020101020101" pitchFamily="18" charset="-127"/>
                          <a:cs typeface="+mn-cs"/>
                        </a:rPr>
                        <a:t>정보제공사유</a:t>
                      </a:r>
                      <a:r>
                        <a:rPr lang="en-US" altLang="ko-KR" sz="900" kern="1200" dirty="0">
                          <a:solidFill>
                            <a:schemeClr val="accent3">
                              <a:lumMod val="50000"/>
                            </a:schemeClr>
                          </a:solidFill>
                          <a:latin typeface="Rix모던고딕 B" panose="02020603020101020101" pitchFamily="18" charset="-127"/>
                          <a:ea typeface="Rix모던고딕 B" panose="02020603020101020101" pitchFamily="18" charset="-127"/>
                          <a:cs typeface="+mn-cs"/>
                        </a:rPr>
                        <a:t>)</a:t>
                      </a:r>
                      <a:endParaRPr lang="ko-KR" altLang="en-US" sz="900" kern="1200" dirty="0">
                        <a:solidFill>
                          <a:schemeClr val="accent3">
                            <a:lumMod val="50000"/>
                          </a:schemeClr>
                        </a:solidFill>
                        <a:latin typeface="+mn-lt"/>
                        <a:ea typeface="+mn-ea"/>
                        <a:cs typeface="+mn-cs"/>
                      </a:endParaRPr>
                    </a:p>
                  </a:txBody>
                  <a:tcPr marL="45699" marR="45699" marT="18000" marB="18000" anchor="ctr"/>
                </a:tc>
                <a:tc hMerge="1">
                  <a:txBody>
                    <a:bodyPr/>
                    <a:lstStyle/>
                    <a:p>
                      <a:pPr marL="0" marR="0" indent="0" algn="just" fontAlgn="base" latinLnBrk="1">
                        <a:lnSpc>
                          <a:spcPct val="100000"/>
                        </a:lnSpc>
                        <a:spcBef>
                          <a:spcPts val="0"/>
                        </a:spcBef>
                        <a:spcAft>
                          <a:spcPts val="0"/>
                        </a:spcAft>
                      </a:pPr>
                      <a:endParaRPr lang="ko-KR" altLang="en-US" sz="900" kern="1200" dirty="0">
                        <a:solidFill>
                          <a:schemeClr val="tx1"/>
                        </a:solidFill>
                        <a:latin typeface="+mn-lt"/>
                        <a:ea typeface="+mn-ea"/>
                        <a:cs typeface="+mn-cs"/>
                      </a:endParaRPr>
                    </a:p>
                  </a:txBody>
                  <a:tcPr marL="45699" marR="45699" marT="18000" marB="18000" anchor="ctr"/>
                </a:tc>
                <a:tc hMerge="1">
                  <a:txBody>
                    <a:bodyPr/>
                    <a:lstStyle/>
                    <a:p>
                      <a:pPr marL="0" marR="0" indent="0" algn="just" fontAlgn="base" latinLnBrk="1">
                        <a:lnSpc>
                          <a:spcPct val="100000"/>
                        </a:lnSpc>
                        <a:spcBef>
                          <a:spcPts val="0"/>
                        </a:spcBef>
                        <a:spcAft>
                          <a:spcPts val="0"/>
                        </a:spcAft>
                      </a:pPr>
                      <a:endParaRPr lang="ko-KR" altLang="en-US" sz="900" kern="1200" dirty="0">
                        <a:solidFill>
                          <a:schemeClr val="tx1"/>
                        </a:solidFill>
                        <a:latin typeface="+mn-lt"/>
                        <a:ea typeface="+mn-ea"/>
                        <a:cs typeface="+mn-cs"/>
                      </a:endParaRPr>
                    </a:p>
                  </a:txBody>
                  <a:tcPr marL="45699" marR="45699" marT="18000" marB="18000" anchor="ctr"/>
                </a:tc>
                <a:extLst>
                  <a:ext uri="{0D108BD9-81ED-4DB2-BD59-A6C34878D82A}">
                    <a16:rowId xmlns:a16="http://schemas.microsoft.com/office/drawing/2014/main" val="4267122286"/>
                  </a:ext>
                </a:extLst>
              </a:tr>
              <a:tr h="80340">
                <a:tc gridSpan="2">
                  <a:txBody>
                    <a:bodyPr/>
                    <a:lstStyle/>
                    <a:p>
                      <a:pPr marL="0" marR="0" indent="0" algn="ctr" fontAlgn="base" latinLnBrk="0">
                        <a:lnSpc>
                          <a:spcPct val="100000"/>
                        </a:lnSpc>
                        <a:spcBef>
                          <a:spcPts val="0"/>
                        </a:spcBef>
                        <a:spcAft>
                          <a:spcPts val="0"/>
                        </a:spcAft>
                      </a:pPr>
                      <a:r>
                        <a:rPr lang="ko-KR" altLang="en-US" sz="900" kern="1200" dirty="0" err="1">
                          <a:solidFill>
                            <a:schemeClr val="accent3">
                              <a:lumMod val="50000"/>
                            </a:schemeClr>
                          </a:solidFill>
                          <a:latin typeface="+mn-lt"/>
                          <a:ea typeface="+mn-ea"/>
                          <a:cs typeface="+mn-cs"/>
                        </a:rPr>
                        <a:t>협의제</a:t>
                      </a:r>
                      <a:r>
                        <a:rPr lang="ko-KR" altLang="en-US" sz="900" kern="1200" dirty="0">
                          <a:solidFill>
                            <a:schemeClr val="accent3">
                              <a:lumMod val="50000"/>
                            </a:schemeClr>
                          </a:solidFill>
                          <a:latin typeface="+mn-lt"/>
                          <a:ea typeface="+mn-ea"/>
                          <a:cs typeface="+mn-cs"/>
                        </a:rPr>
                        <a:t> 회피</a:t>
                      </a:r>
                    </a:p>
                  </a:txBody>
                  <a:tcPr marL="45699" marR="45699" marT="18000" marB="18000" anchor="ctr"/>
                </a:tc>
                <a:tc hMerge="1">
                  <a:txBody>
                    <a:bodyPr/>
                    <a:lstStyle/>
                    <a:p>
                      <a:pPr latinLnBrk="1"/>
                      <a:endParaRPr lang="ko-KR" altLang="en-US"/>
                    </a:p>
                  </a:txBody>
                  <a:tcPr/>
                </a:tc>
                <a:tc gridSpan="2">
                  <a:txBody>
                    <a:bodyPr/>
                    <a:lstStyle/>
                    <a:p>
                      <a:pPr marL="0" marR="0" indent="0" algn="just" fontAlgn="base" latinLnBrk="1">
                        <a:lnSpc>
                          <a:spcPct val="100000"/>
                        </a:lnSpc>
                        <a:spcBef>
                          <a:spcPts val="0"/>
                        </a:spcBef>
                        <a:spcAft>
                          <a:spcPts val="0"/>
                        </a:spcAft>
                      </a:pPr>
                      <a:r>
                        <a:rPr lang="ko-KR" altLang="en-US" sz="900" dirty="0">
                          <a:solidFill>
                            <a:schemeClr val="accent3">
                              <a:lumMod val="50000"/>
                            </a:schemeClr>
                          </a:solidFill>
                        </a:rPr>
                        <a:t>원출원과 청구범위가 동일한 경우 회피 필요</a:t>
                      </a:r>
                    </a:p>
                  </a:txBody>
                  <a:tcPr marL="45699" marR="45699" marT="18000" marB="18000" anchor="ctr"/>
                </a:tc>
                <a:tc hMerge="1">
                  <a:txBody>
                    <a:bodyPr/>
                    <a:lstStyle/>
                    <a:p>
                      <a:pPr latinLnBrk="1"/>
                      <a:r>
                        <a:rPr lang="ko-KR" altLang="en-US" sz="900" kern="1200" dirty="0" err="1">
                          <a:solidFill>
                            <a:schemeClr val="tx1"/>
                          </a:solidFill>
                          <a:latin typeface="+mn-lt"/>
                          <a:ea typeface="+mn-ea"/>
                          <a:cs typeface="+mn-cs"/>
                        </a:rPr>
                        <a:t>변경출원시</a:t>
                      </a:r>
                      <a:r>
                        <a:rPr lang="ko-KR" altLang="en-US" sz="900" kern="1200" dirty="0">
                          <a:solidFill>
                            <a:schemeClr val="tx1"/>
                          </a:solidFill>
                          <a:latin typeface="+mn-lt"/>
                          <a:ea typeface="+mn-ea"/>
                          <a:cs typeface="+mn-cs"/>
                        </a:rPr>
                        <a:t> 원출원의 취하간주</a:t>
                      </a:r>
                      <a:endParaRPr lang="ko-KR" altLang="en-US" dirty="0"/>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변경출원과 동시에 원출원의 취하간주</a:t>
                      </a:r>
                    </a:p>
                  </a:txBody>
                  <a:tcPr marL="45699" marR="45699" marT="18000" marB="18000" anchor="ctr"/>
                </a:tc>
                <a:extLst>
                  <a:ext uri="{0D108BD9-81ED-4DB2-BD59-A6C34878D82A}">
                    <a16:rowId xmlns:a16="http://schemas.microsoft.com/office/drawing/2014/main" val="1802766043"/>
                  </a:ext>
                </a:extLst>
              </a:tr>
              <a:tr h="127394">
                <a:tc rowSpan="2" gridSpan="2">
                  <a:txBody>
                    <a:bodyPr/>
                    <a:lstStyle/>
                    <a:p>
                      <a:pPr marL="0" marR="0" indent="0" algn="ctr" fontAlgn="base" latinLnBrk="0">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외국어</a:t>
                      </a:r>
                    </a:p>
                    <a:p>
                      <a:pPr marL="0" marR="0" indent="0" algn="ctr" fontAlgn="base" latinLnBrk="0">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출원</a:t>
                      </a:r>
                    </a:p>
                  </a:txBody>
                  <a:tcPr marL="45699" marR="45699" marT="18000" marB="18000" anchor="ctr"/>
                </a:tc>
                <a:tc rowSpan="2" hMerge="1">
                  <a:txBody>
                    <a:bodyPr/>
                    <a:lstStyle/>
                    <a:p>
                      <a:pPr latinLnBrk="1"/>
                      <a:endParaRPr lang="ko-KR" altLang="en-US"/>
                    </a:p>
                  </a:txBody>
                  <a:tcPr/>
                </a:tc>
                <a:tc gridSpan="3">
                  <a:txBody>
                    <a:bodyPr/>
                    <a:lstStyle/>
                    <a:p>
                      <a:pPr marL="69850" marR="0" indent="-69850" algn="just" fontAlgn="base" latinLnBrk="1">
                        <a:lnSpc>
                          <a:spcPct val="100000"/>
                        </a:lnSpc>
                        <a:spcBef>
                          <a:spcPts val="0"/>
                        </a:spcBef>
                        <a:spcAft>
                          <a:spcPts val="0"/>
                        </a:spcAft>
                      </a:pPr>
                      <a:r>
                        <a:rPr lang="en-US" altLang="ko-KR" sz="900" kern="1200" dirty="0">
                          <a:solidFill>
                            <a:schemeClr val="accent3">
                              <a:lumMod val="50000"/>
                            </a:schemeClr>
                          </a:solidFill>
                          <a:latin typeface="+mn-lt"/>
                          <a:ea typeface="+mn-ea"/>
                          <a:cs typeface="+mn-cs"/>
                        </a:rPr>
                        <a:t>1.</a:t>
                      </a:r>
                      <a:r>
                        <a:rPr lang="ko-KR" altLang="en-US" sz="900" kern="1200" dirty="0">
                          <a:solidFill>
                            <a:schemeClr val="accent3">
                              <a:lumMod val="50000"/>
                            </a:schemeClr>
                          </a:solidFill>
                          <a:latin typeface="+mn-lt"/>
                          <a:ea typeface="+mn-ea"/>
                          <a:cs typeface="+mn-cs"/>
                        </a:rPr>
                        <a:t>원출원이 </a:t>
                      </a:r>
                      <a:r>
                        <a:rPr lang="ko-KR" altLang="en-US" sz="900" kern="1200" dirty="0" err="1">
                          <a:solidFill>
                            <a:schemeClr val="accent3">
                              <a:lumMod val="50000"/>
                            </a:schemeClr>
                          </a:solidFill>
                          <a:latin typeface="+mn-lt"/>
                          <a:ea typeface="+mn-ea"/>
                          <a:cs typeface="+mn-cs"/>
                        </a:rPr>
                        <a:t>외국어출원인</a:t>
                      </a:r>
                      <a:r>
                        <a:rPr lang="ko-KR" altLang="en-US" sz="900" kern="1200" dirty="0">
                          <a:solidFill>
                            <a:schemeClr val="accent3">
                              <a:lumMod val="50000"/>
                            </a:schemeClr>
                          </a:solidFill>
                          <a:latin typeface="+mn-lt"/>
                          <a:ea typeface="+mn-ea"/>
                          <a:cs typeface="+mn-cs"/>
                        </a:rPr>
                        <a:t> 경우에는 국어번역문이 제출된 경우에만 </a:t>
                      </a:r>
                      <a:r>
                        <a:rPr lang="ko-KR" altLang="en-US" sz="900" kern="1200" dirty="0" err="1">
                          <a:solidFill>
                            <a:schemeClr val="accent3">
                              <a:lumMod val="50000"/>
                            </a:schemeClr>
                          </a:solidFill>
                          <a:latin typeface="+mn-lt"/>
                          <a:ea typeface="+mn-ea"/>
                          <a:cs typeface="+mn-cs"/>
                        </a:rPr>
                        <a:t>분할ㆍ변경출원</a:t>
                      </a:r>
                      <a:r>
                        <a:rPr lang="ko-KR" altLang="en-US" sz="900" kern="1200" dirty="0">
                          <a:solidFill>
                            <a:schemeClr val="accent3">
                              <a:lumMod val="50000"/>
                            </a:schemeClr>
                          </a:solidFill>
                          <a:latin typeface="+mn-lt"/>
                          <a:ea typeface="+mn-ea"/>
                          <a:cs typeface="+mn-cs"/>
                        </a:rPr>
                        <a:t> 가능</a:t>
                      </a:r>
                      <a:r>
                        <a:rPr lang="en-US" altLang="ko-KR" sz="900" kern="1200" dirty="0">
                          <a:solidFill>
                            <a:schemeClr val="accent3">
                              <a:lumMod val="50000"/>
                            </a:schemeClr>
                          </a:solidFill>
                          <a:latin typeface="+mn-lt"/>
                          <a:ea typeface="+mn-ea"/>
                          <a:cs typeface="+mn-cs"/>
                        </a:rPr>
                        <a:t>(</a:t>
                      </a:r>
                      <a:r>
                        <a:rPr lang="ko-KR" altLang="en-US" sz="900" kern="1200" dirty="0">
                          <a:solidFill>
                            <a:schemeClr val="accent3">
                              <a:lumMod val="50000"/>
                            </a:schemeClr>
                          </a:solidFill>
                          <a:latin typeface="+mn-lt"/>
                          <a:ea typeface="+mn-ea"/>
                          <a:cs typeface="+mn-cs"/>
                        </a:rPr>
                        <a:t>분리출원도 마찬가지</a:t>
                      </a:r>
                      <a:r>
                        <a:rPr lang="en-US" altLang="ko-KR" sz="900" kern="1200" dirty="0">
                          <a:solidFill>
                            <a:schemeClr val="accent3">
                              <a:lumMod val="50000"/>
                            </a:schemeClr>
                          </a:solidFill>
                          <a:latin typeface="+mn-lt"/>
                          <a:ea typeface="+mn-ea"/>
                          <a:cs typeface="+mn-cs"/>
                        </a:rPr>
                        <a:t>)</a:t>
                      </a:r>
                      <a:endParaRPr lang="ko-KR" altLang="en-US" sz="900" kern="1200" dirty="0">
                        <a:solidFill>
                          <a:schemeClr val="accent3">
                            <a:lumMod val="50000"/>
                          </a:schemeClr>
                        </a:solidFill>
                        <a:latin typeface="+mn-lt"/>
                        <a:ea typeface="+mn-ea"/>
                        <a:cs typeface="+mn-cs"/>
                      </a:endParaRPr>
                    </a:p>
                  </a:txBody>
                  <a:tcPr marL="45699" marR="45699" marT="18000" marB="18000" anchor="ctr"/>
                </a:tc>
                <a:tc hMerge="1">
                  <a:txBody>
                    <a:bodyPr/>
                    <a:lstStyle/>
                    <a:p>
                      <a:pPr marL="71120" marR="0" indent="-71120" algn="just" fontAlgn="base" latinLnBrk="1">
                        <a:lnSpc>
                          <a:spcPct val="100000"/>
                        </a:lnSpc>
                        <a:spcBef>
                          <a:spcPts val="0"/>
                        </a:spcBef>
                        <a:spcAft>
                          <a:spcPts val="0"/>
                        </a:spcAft>
                      </a:pPr>
                      <a:endParaRPr lang="ko-KR" altLang="en-US" sz="900" kern="1200" dirty="0">
                        <a:solidFill>
                          <a:schemeClr val="tx1"/>
                        </a:solidFill>
                        <a:latin typeface="+mn-lt"/>
                        <a:ea typeface="+mn-ea"/>
                        <a:cs typeface="+mn-cs"/>
                      </a:endParaRPr>
                    </a:p>
                  </a:txBody>
                  <a:tcPr marL="45699" marR="45699" marT="18000" marB="18000" anchor="ctr"/>
                </a:tc>
                <a:tc hMerge="1">
                  <a:txBody>
                    <a:bodyPr/>
                    <a:lstStyle/>
                    <a:p>
                      <a:pPr marL="69850" marR="0" indent="-69850" algn="just" fontAlgn="base" latinLnBrk="1">
                        <a:lnSpc>
                          <a:spcPct val="100000"/>
                        </a:lnSpc>
                        <a:spcBef>
                          <a:spcPts val="0"/>
                        </a:spcBef>
                        <a:spcAft>
                          <a:spcPts val="0"/>
                        </a:spcAft>
                      </a:pPr>
                      <a:r>
                        <a:rPr lang="en-US" altLang="ko-KR" sz="900" kern="1200" dirty="0">
                          <a:solidFill>
                            <a:schemeClr val="tx1"/>
                          </a:solidFill>
                          <a:latin typeface="+mn-lt"/>
                          <a:ea typeface="+mn-ea"/>
                          <a:cs typeface="+mn-cs"/>
                        </a:rPr>
                        <a:t>1.</a:t>
                      </a:r>
                      <a:r>
                        <a:rPr lang="ko-KR" altLang="en-US" sz="900" kern="1200" dirty="0">
                          <a:solidFill>
                            <a:schemeClr val="tx1"/>
                          </a:solidFill>
                          <a:latin typeface="+mn-lt"/>
                          <a:ea typeface="+mn-ea"/>
                          <a:cs typeface="+mn-cs"/>
                        </a:rPr>
                        <a:t>원출원이 </a:t>
                      </a:r>
                      <a:r>
                        <a:rPr lang="ko-KR" altLang="en-US" sz="900" kern="1200" dirty="0" err="1">
                          <a:solidFill>
                            <a:schemeClr val="tx1"/>
                          </a:solidFill>
                          <a:latin typeface="+mn-lt"/>
                          <a:ea typeface="+mn-ea"/>
                          <a:cs typeface="+mn-cs"/>
                        </a:rPr>
                        <a:t>외국어출원인</a:t>
                      </a:r>
                      <a:r>
                        <a:rPr lang="ko-KR" altLang="en-US" sz="900" kern="1200" dirty="0">
                          <a:solidFill>
                            <a:schemeClr val="tx1"/>
                          </a:solidFill>
                          <a:latin typeface="+mn-lt"/>
                          <a:ea typeface="+mn-ea"/>
                          <a:cs typeface="+mn-cs"/>
                        </a:rPr>
                        <a:t> 경우에는 국어번역문이 제출된 경우에만 변경출원 가능</a:t>
                      </a:r>
                    </a:p>
                  </a:txBody>
                  <a:tcPr marL="45699" marR="45699" marT="18000" marB="18000" anchor="ctr"/>
                </a:tc>
                <a:extLst>
                  <a:ext uri="{0D108BD9-81ED-4DB2-BD59-A6C34878D82A}">
                    <a16:rowId xmlns:a16="http://schemas.microsoft.com/office/drawing/2014/main" val="307029644"/>
                  </a:ext>
                </a:extLst>
              </a:tr>
              <a:tr h="207614">
                <a:tc gridSpan="2" vMerge="1">
                  <a:txBody>
                    <a:bodyPr/>
                    <a:lstStyle/>
                    <a:p>
                      <a:pPr latinLnBrk="1"/>
                      <a:endParaRPr lang="ko-KR" altLang="en-US"/>
                    </a:p>
                  </a:txBody>
                  <a:tcPr/>
                </a:tc>
                <a:tc hMerge="1" vMerge="1">
                  <a:txBody>
                    <a:bodyPr/>
                    <a:lstStyle/>
                    <a:p>
                      <a:pPr latinLnBrk="1"/>
                      <a:endParaRPr lang="ko-KR" altLang="en-US"/>
                    </a:p>
                  </a:txBody>
                  <a:tcPr/>
                </a:tc>
                <a:tc>
                  <a:txBody>
                    <a:bodyPr/>
                    <a:lstStyle/>
                    <a:p>
                      <a:pPr marL="71120" marR="0" lvl="0" indent="-71120" algn="just" defTabSz="914400" rtl="0" eaLnBrk="1" fontAlgn="base" latinLnBrk="1" hangingPunct="1">
                        <a:lnSpc>
                          <a:spcPct val="100000"/>
                        </a:lnSpc>
                        <a:spcBef>
                          <a:spcPts val="0"/>
                        </a:spcBef>
                        <a:spcAft>
                          <a:spcPts val="0"/>
                        </a:spcAft>
                        <a:buClrTx/>
                        <a:buSzTx/>
                        <a:buFontTx/>
                        <a:buNone/>
                        <a:tabLst/>
                        <a:defRPr/>
                      </a:pPr>
                      <a:r>
                        <a:rPr lang="en-US" altLang="ko-KR" sz="900" kern="1200" dirty="0">
                          <a:solidFill>
                            <a:schemeClr val="accent3">
                              <a:lumMod val="50000"/>
                            </a:schemeClr>
                          </a:solidFill>
                          <a:latin typeface="+mn-lt"/>
                          <a:ea typeface="+mn-ea"/>
                          <a:cs typeface="+mn-cs"/>
                        </a:rPr>
                        <a:t>2.</a:t>
                      </a:r>
                      <a:r>
                        <a:rPr lang="ko-KR" altLang="en-US" sz="900" kern="1200" dirty="0">
                          <a:solidFill>
                            <a:schemeClr val="accent3">
                              <a:lumMod val="50000"/>
                            </a:schemeClr>
                          </a:solidFill>
                          <a:latin typeface="+mn-lt"/>
                          <a:ea typeface="+mn-ea"/>
                          <a:cs typeface="+mn-cs"/>
                        </a:rPr>
                        <a:t>분할출원이 </a:t>
                      </a:r>
                      <a:r>
                        <a:rPr lang="ko-KR" altLang="en-US" sz="900" kern="1200" dirty="0" err="1">
                          <a:solidFill>
                            <a:schemeClr val="accent3">
                              <a:lumMod val="50000"/>
                            </a:schemeClr>
                          </a:solidFill>
                          <a:latin typeface="+mn-lt"/>
                          <a:ea typeface="+mn-ea"/>
                          <a:cs typeface="+mn-cs"/>
                        </a:rPr>
                        <a:t>외국어출원인</a:t>
                      </a:r>
                      <a:r>
                        <a:rPr lang="ko-KR" altLang="en-US" sz="900" kern="1200" dirty="0">
                          <a:solidFill>
                            <a:schemeClr val="accent3">
                              <a:lumMod val="50000"/>
                            </a:schemeClr>
                          </a:solidFill>
                          <a:latin typeface="+mn-lt"/>
                          <a:ea typeface="+mn-ea"/>
                          <a:cs typeface="+mn-cs"/>
                        </a:rPr>
                        <a:t> 경우에는 국어번역문</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제출기간이 지난 후라도 </a:t>
                      </a:r>
                      <a:r>
                        <a:rPr lang="ko-KR" altLang="en-US" sz="900" kern="1200" dirty="0" err="1">
                          <a:solidFill>
                            <a:schemeClr val="accent3">
                              <a:lumMod val="50000"/>
                            </a:schemeClr>
                          </a:solidFill>
                          <a:latin typeface="+mn-lt"/>
                          <a:ea typeface="+mn-ea"/>
                          <a:cs typeface="+mn-cs"/>
                        </a:rPr>
                        <a:t>분할출원일로부터</a:t>
                      </a:r>
                      <a:r>
                        <a:rPr lang="ko-KR" altLang="en-US" sz="900" kern="1200" dirty="0">
                          <a:solidFill>
                            <a:schemeClr val="accent3">
                              <a:lumMod val="50000"/>
                            </a:schemeClr>
                          </a:solidFill>
                          <a:latin typeface="+mn-lt"/>
                          <a:ea typeface="+mn-ea"/>
                          <a:cs typeface="+mn-cs"/>
                        </a:rPr>
                        <a:t> </a:t>
                      </a:r>
                      <a:r>
                        <a:rPr lang="en-US" altLang="ko-KR" sz="900" kern="1200" dirty="0">
                          <a:solidFill>
                            <a:schemeClr val="accent3">
                              <a:lumMod val="50000"/>
                            </a:schemeClr>
                          </a:solidFill>
                          <a:latin typeface="+mn-lt"/>
                          <a:ea typeface="+mn-ea"/>
                          <a:cs typeface="+mn-cs"/>
                        </a:rPr>
                        <a:t>30</a:t>
                      </a:r>
                      <a:r>
                        <a:rPr lang="ko-KR" altLang="en-US" sz="900" kern="1200" dirty="0">
                          <a:solidFill>
                            <a:schemeClr val="accent3">
                              <a:lumMod val="50000"/>
                            </a:schemeClr>
                          </a:solidFill>
                          <a:latin typeface="+mn-lt"/>
                          <a:ea typeface="+mn-ea"/>
                          <a:cs typeface="+mn-cs"/>
                        </a:rPr>
                        <a:t>일 이내</a:t>
                      </a:r>
                      <a:r>
                        <a:rPr lang="en-US" altLang="ko-KR" sz="900" kern="1200" dirty="0">
                          <a:solidFill>
                            <a:schemeClr val="accent3">
                              <a:lumMod val="50000"/>
                            </a:schemeClr>
                          </a:solidFill>
                          <a:latin typeface="+mn-lt"/>
                          <a:ea typeface="+mn-ea"/>
                          <a:cs typeface="+mn-cs"/>
                        </a:rPr>
                        <a:t>(</a:t>
                      </a:r>
                      <a:r>
                        <a:rPr lang="ko-KR" altLang="en-US" sz="900" kern="1200" dirty="0">
                          <a:solidFill>
                            <a:schemeClr val="accent3">
                              <a:lumMod val="50000"/>
                            </a:schemeClr>
                          </a:solidFill>
                          <a:latin typeface="+mn-lt"/>
                          <a:ea typeface="+mn-ea"/>
                          <a:cs typeface="+mn-cs"/>
                        </a:rPr>
                        <a:t>다만</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보정하거나</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출원인이 심사청구한 경우 새로운 국어번역문 제출 불가</a:t>
                      </a:r>
                      <a:r>
                        <a:rPr lang="en-US" altLang="ko-KR" sz="900" kern="1200" dirty="0">
                          <a:solidFill>
                            <a:schemeClr val="accent3">
                              <a:lumMod val="50000"/>
                            </a:schemeClr>
                          </a:solidFill>
                          <a:latin typeface="+mn-lt"/>
                          <a:ea typeface="+mn-ea"/>
                          <a:cs typeface="+mn-cs"/>
                        </a:rPr>
                        <a:t>)</a:t>
                      </a:r>
                      <a:endParaRPr lang="ko-KR" altLang="en-US" sz="900" kern="1200" dirty="0">
                        <a:solidFill>
                          <a:schemeClr val="accent3">
                            <a:lumMod val="50000"/>
                          </a:schemeClr>
                        </a:solidFill>
                        <a:latin typeface="+mn-lt"/>
                        <a:ea typeface="+mn-ea"/>
                        <a:cs typeface="+mn-cs"/>
                      </a:endParaRPr>
                    </a:p>
                  </a:txBody>
                  <a:tcPr marL="45699" marR="45699" marT="18000" marB="18000" anchor="ctr"/>
                </a:tc>
                <a:tc>
                  <a:txBody>
                    <a:bodyPr/>
                    <a:lstStyle/>
                    <a:p>
                      <a:pPr marL="71120" marR="0" lvl="0" indent="-71120" algn="just" defTabSz="914400" rtl="0" eaLnBrk="1" fontAlgn="base" latinLnBrk="1" hangingPunct="1">
                        <a:lnSpc>
                          <a:spcPct val="100000"/>
                        </a:lnSpc>
                        <a:spcBef>
                          <a:spcPts val="0"/>
                        </a:spcBef>
                        <a:spcAft>
                          <a:spcPts val="0"/>
                        </a:spcAft>
                        <a:buClrTx/>
                        <a:buSzTx/>
                        <a:buFontTx/>
                        <a:buNone/>
                        <a:tabLst/>
                        <a:defRPr/>
                      </a:pPr>
                      <a:r>
                        <a:rPr lang="en-US" altLang="ko-KR" sz="900" kern="1200" dirty="0">
                          <a:solidFill>
                            <a:schemeClr val="accent3">
                              <a:lumMod val="50000"/>
                            </a:schemeClr>
                          </a:solidFill>
                          <a:latin typeface="+mn-lt"/>
                          <a:ea typeface="+mn-ea"/>
                          <a:cs typeface="+mn-cs"/>
                        </a:rPr>
                        <a:t>2.</a:t>
                      </a:r>
                      <a:r>
                        <a:rPr lang="ko-KR" altLang="en-US" sz="900" kern="1200" dirty="0">
                          <a:solidFill>
                            <a:schemeClr val="accent3">
                              <a:lumMod val="50000"/>
                            </a:schemeClr>
                          </a:solidFill>
                          <a:latin typeface="+mn-lt"/>
                          <a:ea typeface="+mn-ea"/>
                          <a:cs typeface="+mn-cs"/>
                        </a:rPr>
                        <a:t>분리출원은 외국어 출원 불가 </a:t>
                      </a:r>
                    </a:p>
                  </a:txBody>
                  <a:tcPr marL="45699" marR="45699" marT="18000" marB="18000" anchor="ctr"/>
                </a:tc>
                <a:tc>
                  <a:txBody>
                    <a:bodyPr/>
                    <a:lstStyle/>
                    <a:p>
                      <a:pPr marL="71120" marR="0" lvl="0" indent="-71120" algn="just" defTabSz="914400" rtl="0" eaLnBrk="1" fontAlgn="base" latinLnBrk="1" hangingPunct="1">
                        <a:lnSpc>
                          <a:spcPct val="100000"/>
                        </a:lnSpc>
                        <a:spcBef>
                          <a:spcPts val="0"/>
                        </a:spcBef>
                        <a:spcAft>
                          <a:spcPts val="0"/>
                        </a:spcAft>
                        <a:buClrTx/>
                        <a:buSzTx/>
                        <a:buFontTx/>
                        <a:buNone/>
                        <a:tabLst/>
                        <a:defRPr/>
                      </a:pPr>
                      <a:r>
                        <a:rPr lang="en-US" altLang="ko-KR" sz="900" kern="1200" dirty="0">
                          <a:solidFill>
                            <a:schemeClr val="accent3">
                              <a:lumMod val="50000"/>
                            </a:schemeClr>
                          </a:solidFill>
                          <a:latin typeface="+mn-lt"/>
                          <a:ea typeface="+mn-ea"/>
                          <a:cs typeface="+mn-cs"/>
                        </a:rPr>
                        <a:t>2.</a:t>
                      </a:r>
                      <a:r>
                        <a:rPr lang="ko-KR" altLang="en-US" sz="900" kern="1200" dirty="0">
                          <a:solidFill>
                            <a:schemeClr val="accent3">
                              <a:lumMod val="50000"/>
                            </a:schemeClr>
                          </a:solidFill>
                          <a:latin typeface="+mn-lt"/>
                          <a:ea typeface="+mn-ea"/>
                          <a:cs typeface="+mn-cs"/>
                        </a:rPr>
                        <a:t>변경출원이 </a:t>
                      </a:r>
                      <a:r>
                        <a:rPr lang="ko-KR" altLang="en-US" sz="900" kern="1200" dirty="0" err="1">
                          <a:solidFill>
                            <a:schemeClr val="accent3">
                              <a:lumMod val="50000"/>
                            </a:schemeClr>
                          </a:solidFill>
                          <a:latin typeface="+mn-lt"/>
                          <a:ea typeface="+mn-ea"/>
                          <a:cs typeface="+mn-cs"/>
                        </a:rPr>
                        <a:t>외국어출원인</a:t>
                      </a:r>
                      <a:r>
                        <a:rPr lang="ko-KR" altLang="en-US" sz="900" kern="1200" dirty="0">
                          <a:solidFill>
                            <a:schemeClr val="accent3">
                              <a:lumMod val="50000"/>
                            </a:schemeClr>
                          </a:solidFill>
                          <a:latin typeface="+mn-lt"/>
                          <a:ea typeface="+mn-ea"/>
                          <a:cs typeface="+mn-cs"/>
                        </a:rPr>
                        <a:t> 경우에는 국어번역문</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제출기간이 지난 후라도 </a:t>
                      </a:r>
                      <a:r>
                        <a:rPr lang="ko-KR" altLang="en-US" sz="900" kern="1200" dirty="0" err="1">
                          <a:solidFill>
                            <a:schemeClr val="accent3">
                              <a:lumMod val="50000"/>
                            </a:schemeClr>
                          </a:solidFill>
                          <a:latin typeface="+mn-lt"/>
                          <a:ea typeface="+mn-ea"/>
                          <a:cs typeface="+mn-cs"/>
                        </a:rPr>
                        <a:t>변경출원일로부터</a:t>
                      </a:r>
                      <a:r>
                        <a:rPr lang="ko-KR" altLang="en-US" sz="900" kern="1200" dirty="0">
                          <a:solidFill>
                            <a:schemeClr val="accent3">
                              <a:lumMod val="50000"/>
                            </a:schemeClr>
                          </a:solidFill>
                          <a:latin typeface="+mn-lt"/>
                          <a:ea typeface="+mn-ea"/>
                          <a:cs typeface="+mn-cs"/>
                        </a:rPr>
                        <a:t> </a:t>
                      </a:r>
                      <a:r>
                        <a:rPr lang="en-US" altLang="ko-KR" sz="900" kern="1200" dirty="0">
                          <a:solidFill>
                            <a:schemeClr val="accent3">
                              <a:lumMod val="50000"/>
                            </a:schemeClr>
                          </a:solidFill>
                          <a:latin typeface="+mn-lt"/>
                          <a:ea typeface="+mn-ea"/>
                          <a:cs typeface="+mn-cs"/>
                        </a:rPr>
                        <a:t>30</a:t>
                      </a:r>
                      <a:r>
                        <a:rPr lang="ko-KR" altLang="en-US" sz="900" kern="1200" dirty="0">
                          <a:solidFill>
                            <a:schemeClr val="accent3">
                              <a:lumMod val="50000"/>
                            </a:schemeClr>
                          </a:solidFill>
                          <a:latin typeface="+mn-lt"/>
                          <a:ea typeface="+mn-ea"/>
                          <a:cs typeface="+mn-cs"/>
                        </a:rPr>
                        <a:t>일 이내</a:t>
                      </a:r>
                      <a:r>
                        <a:rPr lang="en-US" altLang="ko-KR" sz="900" kern="1200" dirty="0">
                          <a:solidFill>
                            <a:schemeClr val="accent3">
                              <a:lumMod val="50000"/>
                            </a:schemeClr>
                          </a:solidFill>
                          <a:latin typeface="+mn-lt"/>
                          <a:ea typeface="+mn-ea"/>
                          <a:cs typeface="+mn-cs"/>
                        </a:rPr>
                        <a:t>(</a:t>
                      </a:r>
                      <a:r>
                        <a:rPr lang="ko-KR" altLang="en-US" sz="900" kern="1200" dirty="0">
                          <a:solidFill>
                            <a:schemeClr val="accent3">
                              <a:lumMod val="50000"/>
                            </a:schemeClr>
                          </a:solidFill>
                          <a:latin typeface="+mn-lt"/>
                          <a:ea typeface="+mn-ea"/>
                          <a:cs typeface="+mn-cs"/>
                        </a:rPr>
                        <a:t>다만</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보정하거나</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출원인이 심사청구한 경우 새로운 국어번역문 제출 불가</a:t>
                      </a:r>
                      <a:r>
                        <a:rPr lang="en-US" altLang="ko-KR" sz="900" kern="1200" dirty="0">
                          <a:solidFill>
                            <a:schemeClr val="accent3">
                              <a:lumMod val="50000"/>
                            </a:schemeClr>
                          </a:solidFill>
                          <a:latin typeface="+mn-lt"/>
                          <a:ea typeface="+mn-ea"/>
                          <a:cs typeface="+mn-cs"/>
                        </a:rPr>
                        <a:t>)</a:t>
                      </a:r>
                      <a:endParaRPr lang="ko-KR" altLang="en-US" sz="900" kern="1200" dirty="0">
                        <a:solidFill>
                          <a:schemeClr val="accent3">
                            <a:lumMod val="50000"/>
                          </a:schemeClr>
                        </a:solidFill>
                        <a:latin typeface="+mn-lt"/>
                        <a:ea typeface="+mn-ea"/>
                        <a:cs typeface="+mn-cs"/>
                      </a:endParaRPr>
                    </a:p>
                  </a:txBody>
                  <a:tcPr marL="45699" marR="45699" marT="18000" marB="18000" anchor="ctr"/>
                </a:tc>
                <a:extLst>
                  <a:ext uri="{0D108BD9-81ED-4DB2-BD59-A6C34878D82A}">
                    <a16:rowId xmlns:a16="http://schemas.microsoft.com/office/drawing/2014/main" val="3342575972"/>
                  </a:ext>
                </a:extLst>
              </a:tr>
              <a:tr h="80340">
                <a:tc gridSpan="2">
                  <a:txBody>
                    <a:bodyPr/>
                    <a:lstStyle/>
                    <a:p>
                      <a:pPr marL="0" marR="0" indent="0" algn="ctr" fontAlgn="base" latinLnBrk="0">
                        <a:lnSpc>
                          <a:spcPct val="100000"/>
                        </a:lnSpc>
                        <a:spcBef>
                          <a:spcPts val="0"/>
                        </a:spcBef>
                        <a:spcAft>
                          <a:spcPts val="0"/>
                        </a:spcAft>
                      </a:pPr>
                      <a:r>
                        <a:rPr lang="ko-KR" altLang="en-US" sz="900" kern="1200">
                          <a:solidFill>
                            <a:schemeClr val="accent3">
                              <a:lumMod val="50000"/>
                            </a:schemeClr>
                          </a:solidFill>
                          <a:latin typeface="+mn-lt"/>
                          <a:ea typeface="+mn-ea"/>
                          <a:cs typeface="+mn-cs"/>
                        </a:rPr>
                        <a:t>특례</a:t>
                      </a:r>
                    </a:p>
                  </a:txBody>
                  <a:tcPr marL="45699" marR="45699" marT="18000" marB="18000"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수수료 납부 </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번역문 제출 </a:t>
                      </a:r>
                      <a:r>
                        <a:rPr lang="en-US" altLang="ko-KR" sz="900" kern="1200" dirty="0">
                          <a:solidFill>
                            <a:schemeClr val="accent3">
                              <a:lumMod val="50000"/>
                            </a:schemeClr>
                          </a:solidFill>
                          <a:latin typeface="+mn-lt"/>
                          <a:ea typeface="+mn-ea"/>
                          <a:cs typeface="+mn-cs"/>
                        </a:rPr>
                        <a:t>+ </a:t>
                      </a:r>
                      <a:r>
                        <a:rPr lang="ko-KR" altLang="en-US" sz="900" kern="1200" dirty="0">
                          <a:solidFill>
                            <a:schemeClr val="accent3">
                              <a:lumMod val="50000"/>
                            </a:schemeClr>
                          </a:solidFill>
                          <a:latin typeface="+mn-lt"/>
                          <a:ea typeface="+mn-ea"/>
                          <a:cs typeface="+mn-cs"/>
                        </a:rPr>
                        <a:t>기준일 지난 후</a:t>
                      </a:r>
                    </a:p>
                  </a:txBody>
                  <a:tcPr marL="45699" marR="45699" marT="18000" marB="18000" anchor="ctr"/>
                </a:tc>
                <a:tc>
                  <a:txBody>
                    <a:bodyPr/>
                    <a:lstStyle/>
                    <a:p>
                      <a:pPr latinLnBrk="1"/>
                      <a:endParaRPr lang="ko-KR" altLang="en-US" sz="900" dirty="0">
                        <a:solidFill>
                          <a:schemeClr val="accent3">
                            <a:lumMod val="50000"/>
                          </a:schemeClr>
                        </a:solidFill>
                      </a:endParaRPr>
                    </a:p>
                  </a:txBody>
                  <a:tcPr marL="45699" marR="45699" marT="18000" marB="18000" anchor="ctr"/>
                </a:tc>
                <a:tc>
                  <a:txBody>
                    <a:bodyPr/>
                    <a:lstStyle/>
                    <a:p>
                      <a:pPr marL="0" marR="0" indent="0" algn="just" fontAlgn="base" latinLnBrk="1">
                        <a:lnSpc>
                          <a:spcPct val="100000"/>
                        </a:lnSpc>
                        <a:spcBef>
                          <a:spcPts val="0"/>
                        </a:spcBef>
                        <a:spcAft>
                          <a:spcPts val="0"/>
                        </a:spcAft>
                      </a:pPr>
                      <a:r>
                        <a:rPr lang="ko-KR" altLang="en-US" sz="900" kern="1200" dirty="0">
                          <a:solidFill>
                            <a:schemeClr val="accent3">
                              <a:lumMod val="50000"/>
                            </a:schemeClr>
                          </a:solidFill>
                          <a:latin typeface="+mn-lt"/>
                          <a:ea typeface="+mn-ea"/>
                          <a:cs typeface="+mn-cs"/>
                        </a:rPr>
                        <a:t>수수료 납부</a:t>
                      </a:r>
                      <a:r>
                        <a:rPr lang="en-US" altLang="ko-KR" sz="900" kern="1200" dirty="0">
                          <a:solidFill>
                            <a:schemeClr val="accent3">
                              <a:lumMod val="50000"/>
                            </a:schemeClr>
                          </a:solidFill>
                          <a:latin typeface="+mn-lt"/>
                          <a:ea typeface="+mn-ea"/>
                          <a:cs typeface="+mn-cs"/>
                        </a:rPr>
                        <a:t>+</a:t>
                      </a:r>
                      <a:r>
                        <a:rPr lang="ko-KR" altLang="en-US" sz="900" kern="1200" dirty="0">
                          <a:solidFill>
                            <a:schemeClr val="accent3">
                              <a:lumMod val="50000"/>
                            </a:schemeClr>
                          </a:solidFill>
                          <a:latin typeface="+mn-lt"/>
                          <a:ea typeface="+mn-ea"/>
                          <a:cs typeface="+mn-cs"/>
                        </a:rPr>
                        <a:t>번역문 제출 후</a:t>
                      </a:r>
                    </a:p>
                  </a:txBody>
                  <a:tcPr marL="45699" marR="45699" marT="18000" marB="18000" anchor="ctr"/>
                </a:tc>
                <a:extLst>
                  <a:ext uri="{0D108BD9-81ED-4DB2-BD59-A6C34878D82A}">
                    <a16:rowId xmlns:a16="http://schemas.microsoft.com/office/drawing/2014/main" val="2280016456"/>
                  </a:ext>
                </a:extLst>
              </a:tr>
            </a:tbl>
          </a:graphicData>
        </a:graphic>
      </p:graphicFrame>
      <p:sp>
        <p:nvSpPr>
          <p:cNvPr id="2" name="슬라이드 번호 개체 틀 1"/>
          <p:cNvSpPr>
            <a:spLocks noGrp="1"/>
          </p:cNvSpPr>
          <p:nvPr>
            <p:ph type="sldNum" sz="quarter" idx="12"/>
          </p:nvPr>
        </p:nvSpPr>
        <p:spPr/>
        <p:txBody>
          <a:bodyPr/>
          <a:lstStyle/>
          <a:p>
            <a:r>
              <a:rPr lang="en-US" altLang="ko-KR"/>
              <a:t>243</a:t>
            </a:r>
            <a:endParaRPr lang="ko-KR" altLang="en-US"/>
          </a:p>
        </p:txBody>
      </p:sp>
    </p:spTree>
    <p:extLst>
      <p:ext uri="{BB962C8B-B14F-4D97-AF65-F5344CB8AC3E}">
        <p14:creationId xmlns:p14="http://schemas.microsoft.com/office/powerpoint/2010/main" val="1852851159"/>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473249653"/>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3" name="직사각형 22"/>
          <p:cNvSpPr/>
          <p:nvPr/>
        </p:nvSpPr>
        <p:spPr>
          <a:xfrm>
            <a:off x="11153595" y="44623"/>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bg1"/>
                </a:solidFill>
              </a:rPr>
              <a:t>총칙</a:t>
            </a:r>
            <a:r>
              <a:rPr lang="en-US" altLang="ko-KR" sz="2000" b="1" dirty="0">
                <a:solidFill>
                  <a:schemeClr val="bg1"/>
                </a:solidFill>
              </a:rPr>
              <a:t>/</a:t>
            </a:r>
          </a:p>
          <a:p>
            <a:pPr algn="ctr"/>
            <a:r>
              <a:rPr lang="ko-KR" altLang="en-US" sz="2000" b="1" dirty="0" err="1">
                <a:solidFill>
                  <a:schemeClr val="bg1"/>
                </a:solidFill>
              </a:rPr>
              <a:t>보칙</a:t>
            </a:r>
            <a:endParaRPr lang="ko-KR" altLang="en-US" sz="2000" b="1" dirty="0">
              <a:solidFill>
                <a:schemeClr val="bg1"/>
              </a:solidFill>
            </a:endParaRPr>
          </a:p>
        </p:txBody>
      </p:sp>
      <p:sp>
        <p:nvSpPr>
          <p:cNvPr id="24" name="직사각형 23"/>
          <p:cNvSpPr/>
          <p:nvPr/>
        </p:nvSpPr>
        <p:spPr>
          <a:xfrm>
            <a:off x="11153595" y="1011588"/>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bg1"/>
                </a:solidFill>
              </a:rPr>
              <a:t>특허</a:t>
            </a:r>
            <a:endParaRPr lang="en-US" altLang="ko-KR" sz="2000" b="1" dirty="0">
              <a:solidFill>
                <a:schemeClr val="bg1"/>
              </a:solidFill>
            </a:endParaRPr>
          </a:p>
          <a:p>
            <a:pPr algn="ctr"/>
            <a:r>
              <a:rPr lang="ko-KR" altLang="en-US" sz="2000" b="1" dirty="0">
                <a:solidFill>
                  <a:schemeClr val="bg1"/>
                </a:solidFill>
              </a:rPr>
              <a:t>요건</a:t>
            </a:r>
          </a:p>
        </p:txBody>
      </p:sp>
      <p:sp>
        <p:nvSpPr>
          <p:cNvPr id="25" name="직사각형 24"/>
          <p:cNvSpPr/>
          <p:nvPr/>
        </p:nvSpPr>
        <p:spPr>
          <a:xfrm>
            <a:off x="11153595" y="1978552"/>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이익</a:t>
            </a:r>
            <a:endParaRPr lang="en-US" altLang="ko-KR" sz="2000" b="1" dirty="0"/>
          </a:p>
          <a:p>
            <a:pPr algn="ctr"/>
            <a:r>
              <a:rPr lang="ko-KR" altLang="en-US" sz="2000" b="1" dirty="0"/>
              <a:t>제도</a:t>
            </a:r>
          </a:p>
        </p:txBody>
      </p:sp>
      <p:sp>
        <p:nvSpPr>
          <p:cNvPr id="26" name="직사각형 25"/>
          <p:cNvSpPr/>
          <p:nvPr/>
        </p:nvSpPr>
        <p:spPr>
          <a:xfrm>
            <a:off x="11153595" y="2945517"/>
            <a:ext cx="1062789" cy="966965"/>
          </a:xfrm>
          <a:prstGeom prst="rect">
            <a:avLst/>
          </a:prstGeom>
          <a:solidFill>
            <a:schemeClr val="tx1">
              <a:lumMod val="65000"/>
              <a:lumOff val="3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accent4"/>
                </a:solidFill>
              </a:rPr>
              <a:t>심사</a:t>
            </a:r>
            <a:endParaRPr lang="en-US" altLang="ko-KR" sz="2000" b="1" dirty="0">
              <a:solidFill>
                <a:schemeClr val="accent4"/>
              </a:solidFill>
            </a:endParaRPr>
          </a:p>
          <a:p>
            <a:pPr algn="ctr"/>
            <a:r>
              <a:rPr lang="en-US" altLang="ko-KR" sz="2000" b="1" dirty="0">
                <a:solidFill>
                  <a:schemeClr val="accent4"/>
                </a:solidFill>
              </a:rPr>
              <a:t>(</a:t>
            </a:r>
            <a:r>
              <a:rPr lang="ko-KR" altLang="en-US" sz="2000" b="1" dirty="0">
                <a:solidFill>
                  <a:schemeClr val="accent4"/>
                </a:solidFill>
              </a:rPr>
              <a:t>제도</a:t>
            </a:r>
            <a:r>
              <a:rPr lang="en-US" altLang="ko-KR" sz="2000" b="1" dirty="0">
                <a:solidFill>
                  <a:schemeClr val="accent4"/>
                </a:solidFill>
              </a:rPr>
              <a:t>)</a:t>
            </a:r>
            <a:endParaRPr lang="ko-KR" altLang="en-US" sz="2000" b="1" dirty="0">
              <a:solidFill>
                <a:schemeClr val="accent4"/>
              </a:solidFill>
            </a:endParaRPr>
          </a:p>
        </p:txBody>
      </p:sp>
      <p:sp>
        <p:nvSpPr>
          <p:cNvPr id="27" name="직사각형 26"/>
          <p:cNvSpPr/>
          <p:nvPr/>
        </p:nvSpPr>
        <p:spPr>
          <a:xfrm>
            <a:off x="11153595" y="3912483"/>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특허권</a:t>
            </a:r>
          </a:p>
        </p:txBody>
      </p:sp>
      <p:sp>
        <p:nvSpPr>
          <p:cNvPr id="28" name="직사각형 27"/>
          <p:cNvSpPr/>
          <p:nvPr/>
        </p:nvSpPr>
        <p:spPr>
          <a:xfrm>
            <a:off x="11153595" y="4879448"/>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심판</a:t>
            </a:r>
            <a:r>
              <a:rPr lang="en-US" altLang="ko-KR" sz="2000" b="1" dirty="0"/>
              <a:t>/</a:t>
            </a:r>
          </a:p>
          <a:p>
            <a:pPr algn="ctr"/>
            <a:r>
              <a:rPr lang="ko-KR" altLang="en-US" sz="2000" b="1" dirty="0"/>
              <a:t>소송</a:t>
            </a:r>
          </a:p>
        </p:txBody>
      </p:sp>
      <p:sp>
        <p:nvSpPr>
          <p:cNvPr id="29" name="직사각형 28"/>
          <p:cNvSpPr/>
          <p:nvPr/>
        </p:nvSpPr>
        <p:spPr>
          <a:xfrm>
            <a:off x="11153595" y="5846412"/>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2000" b="1" dirty="0"/>
              <a:t>PCT</a:t>
            </a:r>
            <a:endParaRPr lang="ko-KR" altLang="en-US" sz="2000" b="1" dirty="0"/>
          </a:p>
        </p:txBody>
      </p:sp>
      <p:sp>
        <p:nvSpPr>
          <p:cNvPr id="2" name="제목 1">
            <a:extLst>
              <a:ext uri="{FF2B5EF4-FFF2-40B4-BE49-F238E27FC236}">
                <a16:creationId xmlns:a16="http://schemas.microsoft.com/office/drawing/2014/main" id="{7E5F9189-9815-B253-5283-822F207CC8B0}"/>
              </a:ext>
            </a:extLst>
          </p:cNvPr>
          <p:cNvSpPr txBox="1">
            <a:spLocks/>
          </p:cNvSpPr>
          <p:nvPr/>
        </p:nvSpPr>
        <p:spPr>
          <a:xfrm>
            <a:off x="1961128" y="1991045"/>
            <a:ext cx="7162800" cy="1193800"/>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2400" kern="1200">
                <a:solidFill>
                  <a:schemeClr val="accent4"/>
                </a:solidFill>
                <a:latin typeface="Rix모던명조 B" panose="02020603020101020101" pitchFamily="18" charset="-127"/>
                <a:ea typeface="Rix모던명조 B" panose="02020603020101020101" pitchFamily="18" charset="-127"/>
                <a:cs typeface="+mj-cs"/>
              </a:defRPr>
            </a:lvl1pPr>
          </a:lstStyle>
          <a:p>
            <a:r>
              <a:rPr lang="ko-KR" altLang="en-US" sz="8000" dirty="0">
                <a:solidFill>
                  <a:schemeClr val="tx1">
                    <a:lumMod val="50000"/>
                    <a:lumOff val="50000"/>
                  </a:schemeClr>
                </a:solidFill>
                <a:latin typeface="Rix모던고딕 EB" panose="02020603020101020101" pitchFamily="18" charset="-127"/>
                <a:ea typeface="Rix모던고딕 EB" panose="02020603020101020101" pitchFamily="18" charset="-127"/>
              </a:rPr>
              <a:t>특허법 강의노트</a:t>
            </a:r>
          </a:p>
        </p:txBody>
      </p:sp>
      <p:sp>
        <p:nvSpPr>
          <p:cNvPr id="3" name="제목 1">
            <a:extLst>
              <a:ext uri="{FF2B5EF4-FFF2-40B4-BE49-F238E27FC236}">
                <a16:creationId xmlns:a16="http://schemas.microsoft.com/office/drawing/2014/main" id="{D5DA03D1-03FC-3C47-2375-CA55F2B38505}"/>
              </a:ext>
            </a:extLst>
          </p:cNvPr>
          <p:cNvSpPr txBox="1">
            <a:spLocks/>
          </p:cNvSpPr>
          <p:nvPr/>
        </p:nvSpPr>
        <p:spPr>
          <a:xfrm>
            <a:off x="2185246" y="3197545"/>
            <a:ext cx="6684682" cy="104455"/>
          </a:xfrm>
          <a:prstGeom prst="rect">
            <a:avLst/>
          </a:prstGeom>
          <a:solidFill>
            <a:schemeClr val="bg2">
              <a:lumMod val="90000"/>
            </a:schemeClr>
          </a:solidFill>
        </p:spPr>
        <p:txBody>
          <a:bodyPr vert="horz" lIns="540000" tIns="0" rIns="54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pPr algn="dist"/>
            <a:endParaRPr lang="ko-KR" altLang="en-US" sz="4000" dirty="0">
              <a:solidFill>
                <a:schemeClr val="accent4"/>
              </a:solidFill>
              <a:latin typeface="+mn-ea"/>
              <a:ea typeface="+mn-ea"/>
              <a:cs typeface="Tahoma" panose="020B0604030504040204" pitchFamily="34" charset="0"/>
            </a:endParaRPr>
          </a:p>
        </p:txBody>
      </p:sp>
      <p:sp>
        <p:nvSpPr>
          <p:cNvPr id="4" name="제목 1">
            <a:extLst>
              <a:ext uri="{FF2B5EF4-FFF2-40B4-BE49-F238E27FC236}">
                <a16:creationId xmlns:a16="http://schemas.microsoft.com/office/drawing/2014/main" id="{A4CAA58B-1619-E030-C172-E88EE91D7148}"/>
              </a:ext>
            </a:extLst>
          </p:cNvPr>
          <p:cNvSpPr txBox="1">
            <a:spLocks/>
          </p:cNvSpPr>
          <p:nvPr/>
        </p:nvSpPr>
        <p:spPr>
          <a:xfrm>
            <a:off x="4565375" y="4873198"/>
            <a:ext cx="1954306" cy="649061"/>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r>
              <a:rPr lang="en-US" altLang="ko-KR" sz="3600" dirty="0">
                <a:solidFill>
                  <a:schemeClr val="tx1">
                    <a:lumMod val="50000"/>
                    <a:lumOff val="50000"/>
                  </a:schemeClr>
                </a:solidFill>
                <a:latin typeface="Rix모던고딕 EB" panose="02020603020101020101" pitchFamily="18" charset="-127"/>
                <a:ea typeface="Rix모던고딕 EB" panose="02020603020101020101" pitchFamily="18" charset="-127"/>
              </a:rPr>
              <a:t>2026</a:t>
            </a:r>
            <a:endParaRPr lang="ko-KR" altLang="en-US" sz="3600" dirty="0">
              <a:solidFill>
                <a:schemeClr val="tx1">
                  <a:lumMod val="50000"/>
                  <a:lumOff val="50000"/>
                </a:schemeClr>
              </a:solidFill>
              <a:latin typeface="Rix모던고딕 EB" panose="02020603020101020101" pitchFamily="18" charset="-127"/>
              <a:ea typeface="Rix모던고딕 EB" panose="02020603020101020101" pitchFamily="18" charset="-127"/>
            </a:endParaRPr>
          </a:p>
        </p:txBody>
      </p:sp>
      <p:sp>
        <p:nvSpPr>
          <p:cNvPr id="5" name="제목 1">
            <a:extLst>
              <a:ext uri="{FF2B5EF4-FFF2-40B4-BE49-F238E27FC236}">
                <a16:creationId xmlns:a16="http://schemas.microsoft.com/office/drawing/2014/main" id="{BC063A6E-D9A0-1BF8-B100-DA594D0D045A}"/>
              </a:ext>
            </a:extLst>
          </p:cNvPr>
          <p:cNvSpPr txBox="1">
            <a:spLocks/>
          </p:cNvSpPr>
          <p:nvPr/>
        </p:nvSpPr>
        <p:spPr>
          <a:xfrm>
            <a:off x="2185246" y="3467433"/>
            <a:ext cx="6684682" cy="545768"/>
          </a:xfrm>
          <a:prstGeom prst="roundRect">
            <a:avLst>
              <a:gd name="adj" fmla="val 50000"/>
            </a:avLst>
          </a:prstGeom>
          <a:solidFill>
            <a:schemeClr val="accent4"/>
          </a:solidFill>
        </p:spPr>
        <p:txBody>
          <a:bodyPr vert="horz" lIns="0" tIns="0" rIns="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r>
              <a:rPr lang="en-US" altLang="ko-KR" sz="2800" dirty="0" err="1">
                <a:solidFill>
                  <a:schemeClr val="bg1"/>
                </a:solidFill>
                <a:latin typeface="Rix모던고딕 EB" panose="02020603020101020101" pitchFamily="18" charset="-127"/>
                <a:ea typeface="Rix모던고딕 EB" panose="02020603020101020101" pitchFamily="18" charset="-127"/>
              </a:rPr>
              <a:t>Yim</a:t>
            </a:r>
            <a:r>
              <a:rPr lang="en-US" altLang="ko-KR" sz="2800" dirty="0">
                <a:solidFill>
                  <a:schemeClr val="bg1"/>
                </a:solidFill>
                <a:latin typeface="Rix모던고딕 EB" panose="02020603020101020101" pitchFamily="18" charset="-127"/>
                <a:ea typeface="Rix모던고딕 EB" panose="02020603020101020101" pitchFamily="18" charset="-127"/>
              </a:rPr>
              <a:t>, </a:t>
            </a:r>
            <a:r>
              <a:rPr lang="en-US" altLang="ko-KR" sz="2800" dirty="0" err="1">
                <a:solidFill>
                  <a:schemeClr val="bg1"/>
                </a:solidFill>
                <a:latin typeface="Rix모던고딕 EB" panose="02020603020101020101" pitchFamily="18" charset="-127"/>
                <a:ea typeface="Rix모던고딕 EB" panose="02020603020101020101" pitchFamily="18" charset="-127"/>
              </a:rPr>
              <a:t>Byung-Woong</a:t>
            </a:r>
            <a:r>
              <a:rPr lang="en-US" altLang="ko-KR" sz="2800" dirty="0">
                <a:solidFill>
                  <a:schemeClr val="bg1"/>
                </a:solidFill>
                <a:latin typeface="Rix모던고딕 EB" panose="02020603020101020101" pitchFamily="18" charset="-127"/>
                <a:ea typeface="Rix모던고딕 EB" panose="02020603020101020101" pitchFamily="18" charset="-127"/>
              </a:rPr>
              <a:t> All Rights Reserved.</a:t>
            </a:r>
            <a:endParaRPr lang="ko-KR" altLang="en-US" sz="2800" dirty="0">
              <a:solidFill>
                <a:schemeClr val="bg1"/>
              </a:solidFill>
              <a:latin typeface="Rix모던고딕 EB" panose="02020603020101020101" pitchFamily="18" charset="-127"/>
              <a:ea typeface="Rix모던고딕 EB" panose="02020603020101020101" pitchFamily="18" charset="-127"/>
            </a:endParaRPr>
          </a:p>
        </p:txBody>
      </p:sp>
    </p:spTree>
    <p:extLst>
      <p:ext uri="{BB962C8B-B14F-4D97-AF65-F5344CB8AC3E}">
        <p14:creationId xmlns:p14="http://schemas.microsoft.com/office/powerpoint/2010/main" val="1833478008"/>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147058"/>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r>
              <a:rPr lang="en-US" altLang="ko-KR"/>
              <a:t>245</a:t>
            </a:r>
            <a:endParaRPr lang="ko-KR" altLang="en-US" dirty="0"/>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6" name="직사각형 5"/>
          <p:cNvSpPr/>
          <p:nvPr/>
        </p:nvSpPr>
        <p:spPr>
          <a:xfrm>
            <a:off x="1244284" y="2152137"/>
            <a:ext cx="552862" cy="498328"/>
          </a:xfrm>
          <a:prstGeom prst="rect">
            <a:avLst/>
          </a:prstGeom>
          <a:ln w="6350"/>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t>총칙</a:t>
            </a:r>
            <a:r>
              <a:rPr lang="en-US" altLang="ko-KR" sz="1200" dirty="0"/>
              <a:t>/</a:t>
            </a:r>
          </a:p>
          <a:p>
            <a:pPr algn="ctr"/>
            <a:r>
              <a:rPr lang="ko-KR" altLang="en-US" sz="1200" dirty="0" err="1"/>
              <a:t>보칙</a:t>
            </a:r>
            <a:endParaRPr lang="ko-KR" altLang="en-US" sz="1200" dirty="0"/>
          </a:p>
        </p:txBody>
      </p:sp>
      <p:sp>
        <p:nvSpPr>
          <p:cNvPr id="7" name="직사각형 6"/>
          <p:cNvSpPr/>
          <p:nvPr/>
        </p:nvSpPr>
        <p:spPr>
          <a:xfrm>
            <a:off x="2118397" y="99429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목적</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a:t>
            </a:r>
            <a:endParaRPr lang="ko-KR" altLang="en-US" sz="1000" dirty="0">
              <a:solidFill>
                <a:schemeClr val="tx1"/>
              </a:solidFill>
            </a:endParaRPr>
          </a:p>
        </p:txBody>
      </p:sp>
      <p:sp>
        <p:nvSpPr>
          <p:cNvPr id="8" name="직사각형 7"/>
          <p:cNvSpPr/>
          <p:nvPr/>
        </p:nvSpPr>
        <p:spPr>
          <a:xfrm>
            <a:off x="2118397" y="12362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a:t>
            </a:r>
            <a:endParaRPr lang="ko-KR" altLang="en-US" sz="1000" dirty="0">
              <a:solidFill>
                <a:schemeClr val="tx1"/>
              </a:solidFill>
            </a:endParaRPr>
          </a:p>
        </p:txBody>
      </p:sp>
      <p:sp>
        <p:nvSpPr>
          <p:cNvPr id="9" name="직사각형 8"/>
          <p:cNvSpPr/>
          <p:nvPr/>
        </p:nvSpPr>
        <p:spPr>
          <a:xfrm>
            <a:off x="2118397" y="1471128"/>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행위능력</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3~5①)</a:t>
            </a:r>
            <a:endParaRPr lang="ko-KR" altLang="en-US" sz="1000" dirty="0">
              <a:solidFill>
                <a:schemeClr val="tx1"/>
              </a:solidFill>
            </a:endParaRPr>
          </a:p>
        </p:txBody>
      </p:sp>
      <p:sp>
        <p:nvSpPr>
          <p:cNvPr id="10" name="직사각형 9"/>
          <p:cNvSpPr/>
          <p:nvPr/>
        </p:nvSpPr>
        <p:spPr>
          <a:xfrm>
            <a:off x="2118397" y="1713120"/>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대리인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3②, 5②~10, 12)</a:t>
            </a:r>
            <a:endParaRPr lang="ko-KR" altLang="en-US" sz="1000" dirty="0">
              <a:solidFill>
                <a:schemeClr val="tx1"/>
              </a:solidFill>
            </a:endParaRPr>
          </a:p>
        </p:txBody>
      </p:sp>
      <p:sp>
        <p:nvSpPr>
          <p:cNvPr id="11" name="직사각형 10"/>
          <p:cNvSpPr/>
          <p:nvPr/>
        </p:nvSpPr>
        <p:spPr>
          <a:xfrm>
            <a:off x="2118397" y="1945643"/>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복수당사자 대표</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11)</a:t>
            </a:r>
            <a:endParaRPr lang="ko-KR" altLang="en-US" sz="1000" dirty="0">
              <a:solidFill>
                <a:schemeClr val="tx1"/>
              </a:solidFill>
            </a:endParaRPr>
          </a:p>
        </p:txBody>
      </p:sp>
      <p:sp>
        <p:nvSpPr>
          <p:cNvPr id="12" name="직사각형 11"/>
          <p:cNvSpPr/>
          <p:nvPr/>
        </p:nvSpPr>
        <p:spPr>
          <a:xfrm>
            <a:off x="2118397" y="218763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err="1">
                <a:solidFill>
                  <a:schemeClr val="tx1"/>
                </a:solidFill>
              </a:rPr>
              <a:t>재외자의</a:t>
            </a:r>
            <a:r>
              <a:rPr lang="ko-KR" altLang="en-US" sz="1000" dirty="0">
                <a:solidFill>
                  <a:schemeClr val="tx1"/>
                </a:solidFill>
              </a:rPr>
              <a:t> 재판관할</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13)</a:t>
            </a:r>
            <a:endParaRPr lang="ko-KR" altLang="en-US" sz="1000" dirty="0">
              <a:solidFill>
                <a:schemeClr val="tx1"/>
              </a:solidFill>
            </a:endParaRPr>
          </a:p>
        </p:txBody>
      </p:sp>
      <p:sp>
        <p:nvSpPr>
          <p:cNvPr id="13" name="직사각형 12"/>
          <p:cNvSpPr/>
          <p:nvPr/>
        </p:nvSpPr>
        <p:spPr>
          <a:xfrm>
            <a:off x="2118397" y="243841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기일과 기간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14, 15)</a:t>
            </a:r>
            <a:endParaRPr lang="ko-KR" altLang="en-US" sz="1000" dirty="0">
              <a:solidFill>
                <a:schemeClr val="tx1"/>
              </a:solidFill>
            </a:endParaRPr>
          </a:p>
        </p:txBody>
      </p:sp>
      <p:sp>
        <p:nvSpPr>
          <p:cNvPr id="14" name="직사각형 13"/>
          <p:cNvSpPr/>
          <p:nvPr/>
        </p:nvSpPr>
        <p:spPr>
          <a:xfrm>
            <a:off x="2118397" y="2670267"/>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특허에 관한 절차 일반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16, 28~28</a:t>
            </a:r>
            <a:r>
              <a:rPr lang="ko-KR" altLang="en-US" sz="1000" dirty="0">
                <a:solidFill>
                  <a:schemeClr val="tx1"/>
                </a:solidFill>
              </a:rPr>
              <a:t>의</a:t>
            </a:r>
            <a:r>
              <a:rPr lang="en-US" altLang="ko-KR" sz="1000" dirty="0">
                <a:solidFill>
                  <a:schemeClr val="tx1"/>
                </a:solidFill>
              </a:rPr>
              <a:t>5)</a:t>
            </a:r>
            <a:endParaRPr lang="ko-KR" altLang="en-US" sz="1000" dirty="0">
              <a:solidFill>
                <a:schemeClr val="tx1"/>
              </a:solidFill>
            </a:endParaRPr>
          </a:p>
        </p:txBody>
      </p:sp>
      <p:sp>
        <p:nvSpPr>
          <p:cNvPr id="15" name="직사각형 14"/>
          <p:cNvSpPr/>
          <p:nvPr/>
        </p:nvSpPr>
        <p:spPr>
          <a:xfrm>
            <a:off x="2118397" y="290844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추후보완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17, 67</a:t>
            </a:r>
            <a:r>
              <a:rPr lang="ko-KR" altLang="en-US" sz="1000" dirty="0">
                <a:solidFill>
                  <a:schemeClr val="tx1"/>
                </a:solidFill>
              </a:rPr>
              <a:t>의</a:t>
            </a:r>
            <a:r>
              <a:rPr lang="en-US" altLang="ko-KR" sz="1000">
                <a:solidFill>
                  <a:schemeClr val="tx1"/>
                </a:solidFill>
              </a:rPr>
              <a:t>3)</a:t>
            </a:r>
            <a:endParaRPr lang="ko-KR" altLang="en-US" sz="1000" dirty="0">
              <a:solidFill>
                <a:schemeClr val="tx1"/>
              </a:solidFill>
            </a:endParaRPr>
          </a:p>
        </p:txBody>
      </p:sp>
      <p:sp>
        <p:nvSpPr>
          <p:cNvPr id="16" name="직사각형 15"/>
          <p:cNvSpPr/>
          <p:nvPr/>
        </p:nvSpPr>
        <p:spPr>
          <a:xfrm>
            <a:off x="2118397" y="313988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절차의 효력의 승계 및 절차의 속행</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18, 19)</a:t>
            </a:r>
            <a:endParaRPr lang="ko-KR" altLang="en-US" sz="1000" dirty="0">
              <a:solidFill>
                <a:schemeClr val="tx1"/>
              </a:solidFill>
            </a:endParaRPr>
          </a:p>
        </p:txBody>
      </p:sp>
      <p:sp>
        <p:nvSpPr>
          <p:cNvPr id="17" name="직사각형 16"/>
          <p:cNvSpPr/>
          <p:nvPr/>
        </p:nvSpPr>
        <p:spPr>
          <a:xfrm>
            <a:off x="2118397" y="337173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절차의 정지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20~24, 78, 164)</a:t>
            </a:r>
            <a:endParaRPr lang="ko-KR" altLang="en-US" sz="1000" dirty="0">
              <a:solidFill>
                <a:schemeClr val="tx1"/>
              </a:solidFill>
            </a:endParaRPr>
          </a:p>
        </p:txBody>
      </p:sp>
      <p:cxnSp>
        <p:nvCxnSpPr>
          <p:cNvPr id="18" name="꺾인 연결선 17"/>
          <p:cNvCxnSpPr>
            <a:cxnSpLocks/>
            <a:stCxn id="6" idx="3"/>
            <a:endCxn id="7" idx="1"/>
          </p:cNvCxnSpPr>
          <p:nvPr/>
        </p:nvCxnSpPr>
        <p:spPr>
          <a:xfrm flipV="1">
            <a:off x="1797146" y="1085041"/>
            <a:ext cx="321251" cy="131626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cxnSpLocks/>
            <a:stCxn id="6" idx="3"/>
            <a:endCxn id="17" idx="1"/>
          </p:cNvCxnSpPr>
          <p:nvPr/>
        </p:nvCxnSpPr>
        <p:spPr>
          <a:xfrm>
            <a:off x="1797146" y="2401301"/>
            <a:ext cx="321251" cy="106118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cxnSpLocks/>
            <a:stCxn id="6" idx="3"/>
            <a:endCxn id="8" idx="1"/>
          </p:cNvCxnSpPr>
          <p:nvPr/>
        </p:nvCxnSpPr>
        <p:spPr>
          <a:xfrm flipV="1">
            <a:off x="1797146" y="1327033"/>
            <a:ext cx="321251" cy="107426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cxnSpLocks/>
            <a:stCxn id="6" idx="3"/>
            <a:endCxn id="9" idx="1"/>
          </p:cNvCxnSpPr>
          <p:nvPr/>
        </p:nvCxnSpPr>
        <p:spPr>
          <a:xfrm flipV="1">
            <a:off x="1797146" y="1561875"/>
            <a:ext cx="321251" cy="8394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꺾인 연결선 21"/>
          <p:cNvCxnSpPr>
            <a:cxnSpLocks/>
            <a:stCxn id="6" idx="3"/>
            <a:endCxn id="13" idx="1"/>
          </p:cNvCxnSpPr>
          <p:nvPr/>
        </p:nvCxnSpPr>
        <p:spPr>
          <a:xfrm>
            <a:off x="1797146" y="2401301"/>
            <a:ext cx="321251" cy="12786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cxnSpLocks/>
            <a:stCxn id="6" idx="3"/>
            <a:endCxn id="14" idx="1"/>
          </p:cNvCxnSpPr>
          <p:nvPr/>
        </p:nvCxnSpPr>
        <p:spPr>
          <a:xfrm>
            <a:off x="1797146" y="2401301"/>
            <a:ext cx="321251" cy="35971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cxnSpLocks/>
            <a:stCxn id="6" idx="3"/>
            <a:endCxn id="15" idx="1"/>
          </p:cNvCxnSpPr>
          <p:nvPr/>
        </p:nvCxnSpPr>
        <p:spPr>
          <a:xfrm>
            <a:off x="1797146" y="2401301"/>
            <a:ext cx="321251" cy="5978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cxnSpLocks/>
            <a:stCxn id="6" idx="3"/>
            <a:endCxn id="16" idx="1"/>
          </p:cNvCxnSpPr>
          <p:nvPr/>
        </p:nvCxnSpPr>
        <p:spPr>
          <a:xfrm>
            <a:off x="1797146" y="2401301"/>
            <a:ext cx="321251" cy="82933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cxnSpLocks/>
            <a:stCxn id="6" idx="3"/>
            <a:endCxn id="10" idx="1"/>
          </p:cNvCxnSpPr>
          <p:nvPr/>
        </p:nvCxnSpPr>
        <p:spPr>
          <a:xfrm flipV="1">
            <a:off x="1797146" y="1803867"/>
            <a:ext cx="321251" cy="59743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cxnSpLocks/>
            <a:stCxn id="6" idx="3"/>
            <a:endCxn id="11" idx="1"/>
          </p:cNvCxnSpPr>
          <p:nvPr/>
        </p:nvCxnSpPr>
        <p:spPr>
          <a:xfrm flipV="1">
            <a:off x="1797146" y="2036390"/>
            <a:ext cx="321251" cy="36491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cxnSpLocks/>
            <a:stCxn id="6" idx="3"/>
            <a:endCxn id="12" idx="1"/>
          </p:cNvCxnSpPr>
          <p:nvPr/>
        </p:nvCxnSpPr>
        <p:spPr>
          <a:xfrm flipV="1">
            <a:off x="1797146" y="2278382"/>
            <a:ext cx="321251" cy="122919"/>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 name="그룹 28"/>
          <p:cNvGrpSpPr/>
          <p:nvPr/>
        </p:nvGrpSpPr>
        <p:grpSpPr>
          <a:xfrm>
            <a:off x="6536267" y="1171792"/>
            <a:ext cx="4444979" cy="2279356"/>
            <a:chOff x="3987793" y="1037128"/>
            <a:chExt cx="3733785" cy="1752532"/>
          </a:xfrm>
        </p:grpSpPr>
        <p:sp>
          <p:nvSpPr>
            <p:cNvPr id="30" name="직사각형 29"/>
            <p:cNvSpPr/>
            <p:nvPr/>
          </p:nvSpPr>
          <p:spPr>
            <a:xfrm>
              <a:off x="3987793" y="1888138"/>
              <a:ext cx="398311" cy="385993"/>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특허</a:t>
              </a:r>
              <a:endParaRPr lang="en-US" altLang="ko-KR" sz="1200" dirty="0"/>
            </a:p>
            <a:p>
              <a:pPr algn="ctr"/>
              <a:r>
                <a:rPr lang="ko-KR" altLang="en-US" sz="1200" dirty="0"/>
                <a:t>요건</a:t>
              </a:r>
            </a:p>
          </p:txBody>
        </p:sp>
        <p:sp>
          <p:nvSpPr>
            <p:cNvPr id="31" name="직사각형 30"/>
            <p:cNvSpPr/>
            <p:nvPr/>
          </p:nvSpPr>
          <p:spPr>
            <a:xfrm>
              <a:off x="4546567" y="160536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없는 발명</a:t>
              </a:r>
            </a:p>
          </p:txBody>
        </p:sp>
        <p:sp>
          <p:nvSpPr>
            <p:cNvPr id="32" name="직사각형 31"/>
            <p:cNvSpPr/>
            <p:nvPr/>
          </p:nvSpPr>
          <p:spPr>
            <a:xfrm>
              <a:off x="4546568" y="1990474"/>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자</a:t>
              </a:r>
            </a:p>
          </p:txBody>
        </p:sp>
        <p:sp>
          <p:nvSpPr>
            <p:cNvPr id="33" name="직사각형 32"/>
            <p:cNvSpPr/>
            <p:nvPr/>
          </p:nvSpPr>
          <p:spPr>
            <a:xfrm>
              <a:off x="4546567" y="120511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발명</a:t>
              </a:r>
            </a:p>
          </p:txBody>
        </p:sp>
        <p:sp>
          <p:nvSpPr>
            <p:cNvPr id="34" name="직사각형 33"/>
            <p:cNvSpPr/>
            <p:nvPr/>
          </p:nvSpPr>
          <p:spPr>
            <a:xfrm>
              <a:off x="4546568" y="2378317"/>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출원</a:t>
              </a:r>
            </a:p>
          </p:txBody>
        </p:sp>
        <p:grpSp>
          <p:nvGrpSpPr>
            <p:cNvPr id="35" name="그룹 34"/>
            <p:cNvGrpSpPr/>
            <p:nvPr/>
          </p:nvGrpSpPr>
          <p:grpSpPr>
            <a:xfrm>
              <a:off x="5713090" y="1037128"/>
              <a:ext cx="2008488" cy="1752532"/>
              <a:chOff x="9836379" y="3177270"/>
              <a:chExt cx="2251744" cy="1752532"/>
            </a:xfrm>
            <a:solidFill>
              <a:schemeClr val="accent1">
                <a:lumMod val="20000"/>
                <a:lumOff val="80000"/>
              </a:schemeClr>
            </a:solidFill>
          </p:grpSpPr>
          <p:sp>
            <p:nvSpPr>
              <p:cNvPr id="49" name="직사각형 48"/>
              <p:cNvSpPr/>
              <p:nvPr/>
            </p:nvSpPr>
            <p:spPr>
              <a:xfrm>
                <a:off x="9836379" y="317727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협의의 특허요건</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29)</a:t>
                </a:r>
                <a:endParaRPr lang="ko-KR" altLang="en-US" sz="1000" dirty="0">
                  <a:solidFill>
                    <a:schemeClr val="tx1"/>
                  </a:solidFill>
                </a:endParaRPr>
              </a:p>
            </p:txBody>
          </p:sp>
          <p:sp>
            <p:nvSpPr>
              <p:cNvPr id="50" name="직사각형 49"/>
              <p:cNvSpPr/>
              <p:nvPr/>
            </p:nvSpPr>
            <p:spPr>
              <a:xfrm>
                <a:off x="9836379" y="338513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선출원주의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36)</a:t>
                </a:r>
                <a:endParaRPr lang="ko-KR" altLang="en-US" sz="1000" dirty="0">
                  <a:solidFill>
                    <a:schemeClr val="tx1"/>
                  </a:solidFill>
                </a:endParaRPr>
              </a:p>
            </p:txBody>
          </p:sp>
          <p:sp>
            <p:nvSpPr>
              <p:cNvPr id="51" name="직사각형 50"/>
              <p:cNvSpPr/>
              <p:nvPr/>
            </p:nvSpPr>
            <p:spPr>
              <a:xfrm>
                <a:off x="9836379" y="357434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불특허발명</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32)</a:t>
                </a:r>
                <a:endParaRPr lang="ko-KR" altLang="en-US" sz="1000" dirty="0">
                  <a:solidFill>
                    <a:schemeClr val="tx1"/>
                  </a:solidFill>
                </a:endParaRPr>
              </a:p>
            </p:txBody>
          </p:sp>
          <p:sp>
            <p:nvSpPr>
              <p:cNvPr id="52" name="직사각형 51"/>
              <p:cNvSpPr/>
              <p:nvPr/>
            </p:nvSpPr>
            <p:spPr>
              <a:xfrm>
                <a:off x="9836379" y="378220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국방상 필요한 발명</a:t>
                </a:r>
                <a:r>
                  <a:rPr lang="en-US" altLang="ko-KR" sz="1000" dirty="0">
                    <a:solidFill>
                      <a:schemeClr val="tx1"/>
                    </a:solidFill>
                  </a:rPr>
                  <a:t>(</a:t>
                </a:r>
                <a:r>
                  <a:rPr lang="ko-KR" altLang="en-US" sz="1000" dirty="0">
                    <a:solidFill>
                      <a:schemeClr val="tx1"/>
                    </a:solidFill>
                  </a:rPr>
                  <a:t>法</a:t>
                </a:r>
                <a:r>
                  <a:rPr lang="en-US" altLang="ko-KR" sz="1000" dirty="0">
                    <a:solidFill>
                      <a:schemeClr val="tx1"/>
                    </a:solidFill>
                  </a:rPr>
                  <a:t> 41, 106)</a:t>
                </a:r>
                <a:endParaRPr lang="ko-KR" altLang="en-US" sz="1000" dirty="0">
                  <a:solidFill>
                    <a:schemeClr val="tx1"/>
                  </a:solidFill>
                </a:endParaRPr>
              </a:p>
            </p:txBody>
          </p:sp>
          <p:sp>
            <p:nvSpPr>
              <p:cNvPr id="53" name="직사각형 52"/>
              <p:cNvSpPr/>
              <p:nvPr/>
            </p:nvSpPr>
            <p:spPr>
              <a:xfrm>
                <a:off x="9836379" y="3969271"/>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출원인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25, 33, 44)</a:t>
                </a:r>
                <a:endParaRPr lang="ko-KR" altLang="en-US" sz="1000" dirty="0">
                  <a:solidFill>
                    <a:schemeClr val="tx1"/>
                  </a:solidFill>
                </a:endParaRPr>
              </a:p>
            </p:txBody>
          </p:sp>
          <p:sp>
            <p:nvSpPr>
              <p:cNvPr id="54" name="직사각형 53"/>
              <p:cNvSpPr/>
              <p:nvPr/>
            </p:nvSpPr>
            <p:spPr>
              <a:xfrm>
                <a:off x="9836379" y="4160199"/>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있는 권리</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37, 38)</a:t>
                </a:r>
                <a:endParaRPr lang="ko-KR" altLang="en-US" sz="1000" dirty="0">
                  <a:solidFill>
                    <a:schemeClr val="tx1"/>
                  </a:solidFill>
                </a:endParaRPr>
              </a:p>
            </p:txBody>
          </p:sp>
          <p:sp>
            <p:nvSpPr>
              <p:cNvPr id="55" name="직사각형 54"/>
              <p:cNvSpPr/>
              <p:nvPr/>
            </p:nvSpPr>
            <p:spPr>
              <a:xfrm>
                <a:off x="9836379" y="435867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직무발명</a:t>
                </a:r>
                <a:r>
                  <a:rPr lang="en-US" altLang="ko-KR" sz="1000" dirty="0">
                    <a:solidFill>
                      <a:schemeClr val="tx1"/>
                    </a:solidFill>
                  </a:rPr>
                  <a:t>(</a:t>
                </a:r>
                <a:r>
                  <a:rPr lang="ko-KR" altLang="en-US" sz="1000" dirty="0" err="1">
                    <a:solidFill>
                      <a:schemeClr val="tx1"/>
                    </a:solidFill>
                  </a:rPr>
                  <a:t>발진법</a:t>
                </a:r>
                <a:r>
                  <a:rPr lang="ko-KR" altLang="en-US" sz="1000" dirty="0">
                    <a:solidFill>
                      <a:schemeClr val="tx1"/>
                    </a:solidFill>
                  </a:rPr>
                  <a:t> </a:t>
                </a:r>
                <a:r>
                  <a:rPr lang="en-US" altLang="ko-KR" sz="1000" dirty="0">
                    <a:solidFill>
                      <a:schemeClr val="tx1"/>
                    </a:solidFill>
                  </a:rPr>
                  <a:t>2, 10~19, 58)</a:t>
                </a:r>
                <a:endParaRPr lang="ko-KR" altLang="en-US" sz="1000" dirty="0">
                  <a:solidFill>
                    <a:schemeClr val="tx1"/>
                  </a:solidFill>
                </a:endParaRPr>
              </a:p>
            </p:txBody>
          </p:sp>
          <p:sp>
            <p:nvSpPr>
              <p:cNvPr id="56" name="직사각형 55"/>
              <p:cNvSpPr/>
              <p:nvPr/>
            </p:nvSpPr>
            <p:spPr>
              <a:xfrm>
                <a:off x="9836379" y="4558495"/>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42~42</a:t>
                </a:r>
                <a:r>
                  <a:rPr lang="ko-KR" altLang="en-US" sz="1000" dirty="0">
                    <a:solidFill>
                      <a:schemeClr val="tx1"/>
                    </a:solidFill>
                  </a:rPr>
                  <a:t>의</a:t>
                </a:r>
                <a:r>
                  <a:rPr lang="en-US" altLang="ko-KR" sz="1000" dirty="0">
                    <a:solidFill>
                      <a:schemeClr val="tx1"/>
                    </a:solidFill>
                  </a:rPr>
                  <a:t>3, 43)</a:t>
                </a:r>
                <a:endParaRPr lang="ko-KR" altLang="en-US" sz="1000" dirty="0">
                  <a:solidFill>
                    <a:schemeClr val="tx1"/>
                  </a:solidFill>
                </a:endParaRPr>
              </a:p>
            </p:txBody>
          </p:sp>
          <p:sp>
            <p:nvSpPr>
              <p:cNvPr id="57" name="직사각형 56"/>
              <p:cNvSpPr/>
              <p:nvPr/>
            </p:nvSpPr>
            <p:spPr>
              <a:xfrm>
                <a:off x="9836379" y="477390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하나의 특허출원의 범위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45)</a:t>
                </a:r>
                <a:endParaRPr lang="ko-KR" altLang="en-US" sz="1000" dirty="0">
                  <a:solidFill>
                    <a:schemeClr val="tx1"/>
                  </a:solidFill>
                </a:endParaRPr>
              </a:p>
            </p:txBody>
          </p:sp>
        </p:grpSp>
        <p:cxnSp>
          <p:nvCxnSpPr>
            <p:cNvPr id="36" name="꺾인 연결선 35"/>
            <p:cNvCxnSpPr>
              <a:stCxn id="30" idx="3"/>
              <a:endCxn id="33" idx="1"/>
            </p:cNvCxnSpPr>
            <p:nvPr/>
          </p:nvCxnSpPr>
          <p:spPr>
            <a:xfrm flipV="1">
              <a:off x="4386104" y="1374002"/>
              <a:ext cx="160463" cy="70713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30" idx="3"/>
              <a:endCxn id="34" idx="1"/>
            </p:cNvCxnSpPr>
            <p:nvPr/>
          </p:nvCxnSpPr>
          <p:spPr>
            <a:xfrm>
              <a:off x="4386104" y="2081135"/>
              <a:ext cx="160464" cy="46607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30" idx="3"/>
              <a:endCxn id="31" idx="1"/>
            </p:cNvCxnSpPr>
            <p:nvPr/>
          </p:nvCxnSpPr>
          <p:spPr>
            <a:xfrm flipV="1">
              <a:off x="4386104" y="1774252"/>
              <a:ext cx="160463" cy="30688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30" idx="3"/>
              <a:endCxn id="32" idx="1"/>
            </p:cNvCxnSpPr>
            <p:nvPr/>
          </p:nvCxnSpPr>
          <p:spPr>
            <a:xfrm>
              <a:off x="4386104" y="2081135"/>
              <a:ext cx="160464" cy="7822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33" idx="3"/>
              <a:endCxn id="49" idx="1"/>
            </p:cNvCxnSpPr>
            <p:nvPr/>
          </p:nvCxnSpPr>
          <p:spPr>
            <a:xfrm flipV="1">
              <a:off x="5496870" y="1115076"/>
              <a:ext cx="216220" cy="2589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33" idx="3"/>
              <a:endCxn id="50" idx="1"/>
            </p:cNvCxnSpPr>
            <p:nvPr/>
          </p:nvCxnSpPr>
          <p:spPr>
            <a:xfrm flipV="1">
              <a:off x="5496870" y="1322938"/>
              <a:ext cx="216220" cy="5106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31" idx="3"/>
              <a:endCxn id="51" idx="1"/>
            </p:cNvCxnSpPr>
            <p:nvPr/>
          </p:nvCxnSpPr>
          <p:spPr>
            <a:xfrm flipV="1">
              <a:off x="5496870" y="1512146"/>
              <a:ext cx="216220" cy="26210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31" idx="3"/>
              <a:endCxn id="52" idx="1"/>
            </p:cNvCxnSpPr>
            <p:nvPr/>
          </p:nvCxnSpPr>
          <p:spPr>
            <a:xfrm flipV="1">
              <a:off x="5496870" y="1720008"/>
              <a:ext cx="216220" cy="5424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32" idx="3"/>
              <a:endCxn id="53" idx="1"/>
            </p:cNvCxnSpPr>
            <p:nvPr/>
          </p:nvCxnSpPr>
          <p:spPr>
            <a:xfrm flipV="1">
              <a:off x="5496870" y="1907077"/>
              <a:ext cx="216220" cy="25228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32" idx="3"/>
              <a:endCxn id="54" idx="1"/>
            </p:cNvCxnSpPr>
            <p:nvPr/>
          </p:nvCxnSpPr>
          <p:spPr>
            <a:xfrm flipV="1">
              <a:off x="5496870" y="2098005"/>
              <a:ext cx="216220" cy="613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32" idx="3"/>
              <a:endCxn id="55" idx="1"/>
            </p:cNvCxnSpPr>
            <p:nvPr/>
          </p:nvCxnSpPr>
          <p:spPr>
            <a:xfrm>
              <a:off x="5496870" y="2159362"/>
              <a:ext cx="216220" cy="13712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34" idx="3"/>
              <a:endCxn id="56" idx="1"/>
            </p:cNvCxnSpPr>
            <p:nvPr/>
          </p:nvCxnSpPr>
          <p:spPr>
            <a:xfrm flipV="1">
              <a:off x="5496870" y="2496301"/>
              <a:ext cx="216220" cy="5090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34" idx="3"/>
              <a:endCxn id="57" idx="1"/>
            </p:cNvCxnSpPr>
            <p:nvPr/>
          </p:nvCxnSpPr>
          <p:spPr>
            <a:xfrm>
              <a:off x="5496870" y="2547205"/>
              <a:ext cx="216220" cy="16450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9" name="직사각형 58"/>
          <p:cNvSpPr/>
          <p:nvPr/>
        </p:nvSpPr>
        <p:spPr>
          <a:xfrm>
            <a:off x="906097" y="4898289"/>
            <a:ext cx="472526" cy="503727"/>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이익</a:t>
            </a:r>
            <a:endParaRPr lang="en-US" altLang="ko-KR" sz="1200" dirty="0"/>
          </a:p>
          <a:p>
            <a:pPr algn="ctr"/>
            <a:r>
              <a:rPr lang="ko-KR" altLang="en-US" sz="1200" dirty="0"/>
              <a:t>제도</a:t>
            </a:r>
          </a:p>
        </p:txBody>
      </p:sp>
      <p:sp>
        <p:nvSpPr>
          <p:cNvPr id="72" name="직사각형 71"/>
          <p:cNvSpPr/>
          <p:nvPr/>
        </p:nvSpPr>
        <p:spPr>
          <a:xfrm>
            <a:off x="2487992" y="422619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공지예외적용주장출원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30)</a:t>
            </a:r>
            <a:endParaRPr lang="ko-KR" altLang="en-US" sz="1000" dirty="0">
              <a:solidFill>
                <a:schemeClr val="tx1"/>
              </a:solidFill>
            </a:endParaRPr>
          </a:p>
        </p:txBody>
      </p:sp>
      <p:sp>
        <p:nvSpPr>
          <p:cNvPr id="73" name="직사각형 72"/>
          <p:cNvSpPr/>
          <p:nvPr/>
        </p:nvSpPr>
        <p:spPr>
          <a:xfrm>
            <a:off x="2487992" y="4599179"/>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정당한 권리자의 보호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34, 35, 99</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74" name="직사각형 73"/>
          <p:cNvSpPr/>
          <p:nvPr/>
        </p:nvSpPr>
        <p:spPr>
          <a:xfrm>
            <a:off x="2487992" y="48704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보정</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46, 47, 51)</a:t>
            </a:r>
            <a:endParaRPr lang="ko-KR" altLang="en-US" sz="1000" dirty="0">
              <a:solidFill>
                <a:schemeClr val="tx1"/>
              </a:solidFill>
            </a:endParaRPr>
          </a:p>
        </p:txBody>
      </p:sp>
      <p:sp>
        <p:nvSpPr>
          <p:cNvPr id="75" name="직사각형 74"/>
          <p:cNvSpPr/>
          <p:nvPr/>
        </p:nvSpPr>
        <p:spPr>
          <a:xfrm>
            <a:off x="2487992" y="5446506"/>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분리출원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52</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76" name="직사각형 75"/>
          <p:cNvSpPr/>
          <p:nvPr/>
        </p:nvSpPr>
        <p:spPr>
          <a:xfrm>
            <a:off x="2487992" y="571777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변경출원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53)</a:t>
            </a:r>
            <a:endParaRPr lang="ko-KR" altLang="en-US" sz="1000" dirty="0">
              <a:solidFill>
                <a:schemeClr val="tx1"/>
              </a:solidFill>
            </a:endParaRPr>
          </a:p>
        </p:txBody>
      </p:sp>
      <p:sp>
        <p:nvSpPr>
          <p:cNvPr id="77" name="직사각형 76"/>
          <p:cNvSpPr/>
          <p:nvPr/>
        </p:nvSpPr>
        <p:spPr>
          <a:xfrm>
            <a:off x="2487992" y="60229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조약우선권주장출원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54)</a:t>
            </a:r>
            <a:endParaRPr lang="ko-KR" altLang="en-US" sz="1000" dirty="0">
              <a:solidFill>
                <a:schemeClr val="tx1"/>
              </a:solidFill>
            </a:endParaRPr>
          </a:p>
        </p:txBody>
      </p:sp>
      <p:sp>
        <p:nvSpPr>
          <p:cNvPr id="78" name="직사각형 77"/>
          <p:cNvSpPr/>
          <p:nvPr/>
        </p:nvSpPr>
        <p:spPr>
          <a:xfrm>
            <a:off x="2487992" y="6294208"/>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국내우선권주장출원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55, 56)</a:t>
            </a:r>
            <a:endParaRPr lang="ko-KR" altLang="en-US" sz="1000" dirty="0">
              <a:solidFill>
                <a:schemeClr val="tx1"/>
              </a:solidFill>
            </a:endParaRPr>
          </a:p>
        </p:txBody>
      </p:sp>
      <p:sp>
        <p:nvSpPr>
          <p:cNvPr id="61" name="직사각형 60"/>
          <p:cNvSpPr/>
          <p:nvPr/>
        </p:nvSpPr>
        <p:spPr>
          <a:xfrm>
            <a:off x="1519197" y="5145136"/>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출원일</a:t>
            </a:r>
            <a:endParaRPr lang="en-US" altLang="ko-KR" sz="1000" dirty="0">
              <a:solidFill>
                <a:schemeClr val="tx1"/>
              </a:solidFill>
            </a:endParaRPr>
          </a:p>
          <a:p>
            <a:pPr algn="ctr"/>
            <a:r>
              <a:rPr lang="ko-KR" altLang="en-US" sz="1000" dirty="0">
                <a:solidFill>
                  <a:schemeClr val="tx1"/>
                </a:solidFill>
              </a:rPr>
              <a:t>소급제도</a:t>
            </a:r>
          </a:p>
        </p:txBody>
      </p:sp>
      <p:sp>
        <p:nvSpPr>
          <p:cNvPr id="62" name="직사각형 61"/>
          <p:cNvSpPr/>
          <p:nvPr/>
        </p:nvSpPr>
        <p:spPr>
          <a:xfrm>
            <a:off x="1519197" y="6056851"/>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판단시점</a:t>
            </a:r>
            <a:endParaRPr lang="en-US" altLang="ko-KR" sz="1000" dirty="0">
              <a:solidFill>
                <a:schemeClr val="tx1"/>
              </a:solidFill>
            </a:endParaRPr>
          </a:p>
          <a:p>
            <a:pPr algn="ctr"/>
            <a:r>
              <a:rPr lang="ko-KR" altLang="en-US" sz="1000">
                <a:solidFill>
                  <a:schemeClr val="tx1"/>
                </a:solidFill>
              </a:rPr>
              <a:t>소급제도</a:t>
            </a:r>
            <a:endParaRPr lang="ko-KR" altLang="en-US" sz="1000" dirty="0">
              <a:solidFill>
                <a:schemeClr val="tx1"/>
              </a:solidFill>
            </a:endParaRPr>
          </a:p>
        </p:txBody>
      </p:sp>
      <p:cxnSp>
        <p:nvCxnSpPr>
          <p:cNvPr id="63" name="꺾인 연결선 62"/>
          <p:cNvCxnSpPr>
            <a:stCxn id="59" idx="3"/>
            <a:endCxn id="72" idx="1"/>
          </p:cNvCxnSpPr>
          <p:nvPr/>
        </p:nvCxnSpPr>
        <p:spPr>
          <a:xfrm flipV="1">
            <a:off x="1378623" y="4327915"/>
            <a:ext cx="1109369" cy="822238"/>
          </a:xfrm>
          <a:prstGeom prst="bentConnector3">
            <a:avLst>
              <a:gd name="adj1" fmla="val 6212"/>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꺾인 연결선 63"/>
          <p:cNvCxnSpPr>
            <a:stCxn id="59" idx="3"/>
            <a:endCxn id="62" idx="1"/>
          </p:cNvCxnSpPr>
          <p:nvPr/>
        </p:nvCxnSpPr>
        <p:spPr>
          <a:xfrm>
            <a:off x="1378623" y="5150153"/>
            <a:ext cx="140574" cy="1127101"/>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꺾인 연결선 64"/>
          <p:cNvCxnSpPr>
            <a:stCxn id="59" idx="3"/>
            <a:endCxn id="61" idx="1"/>
          </p:cNvCxnSpPr>
          <p:nvPr/>
        </p:nvCxnSpPr>
        <p:spPr>
          <a:xfrm>
            <a:off x="1378623" y="5150153"/>
            <a:ext cx="140574" cy="215386"/>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61" idx="3"/>
            <a:endCxn id="73" idx="1"/>
          </p:cNvCxnSpPr>
          <p:nvPr/>
        </p:nvCxnSpPr>
        <p:spPr>
          <a:xfrm flipV="1">
            <a:off x="2241819" y="4700903"/>
            <a:ext cx="246173" cy="66463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꺾인 연결선 66"/>
          <p:cNvCxnSpPr>
            <a:stCxn id="61" idx="3"/>
            <a:endCxn id="76" idx="1"/>
          </p:cNvCxnSpPr>
          <p:nvPr/>
        </p:nvCxnSpPr>
        <p:spPr>
          <a:xfrm>
            <a:off x="2241819" y="5365539"/>
            <a:ext cx="246173" cy="4539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꺾인 연결선 67"/>
          <p:cNvCxnSpPr>
            <a:stCxn id="61" idx="3"/>
            <a:endCxn id="74" idx="1"/>
          </p:cNvCxnSpPr>
          <p:nvPr/>
        </p:nvCxnSpPr>
        <p:spPr>
          <a:xfrm flipV="1">
            <a:off x="2241819" y="4972167"/>
            <a:ext cx="246173" cy="393371"/>
          </a:xfrm>
          <a:prstGeom prst="bentConnector3">
            <a:avLst>
              <a:gd name="adj1" fmla="val 50001"/>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꺾인 연결선 68"/>
          <p:cNvCxnSpPr>
            <a:stCxn id="61" idx="3"/>
            <a:endCxn id="75" idx="1"/>
          </p:cNvCxnSpPr>
          <p:nvPr/>
        </p:nvCxnSpPr>
        <p:spPr>
          <a:xfrm>
            <a:off x="2241819" y="5365539"/>
            <a:ext cx="246173" cy="1826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69"/>
          <p:cNvCxnSpPr>
            <a:cxnSpLocks/>
            <a:stCxn id="62" idx="3"/>
            <a:endCxn id="77" idx="1"/>
          </p:cNvCxnSpPr>
          <p:nvPr/>
        </p:nvCxnSpPr>
        <p:spPr>
          <a:xfrm flipV="1">
            <a:off x="2241819" y="6124667"/>
            <a:ext cx="246173" cy="15258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cxnSpLocks/>
            <a:stCxn id="62" idx="3"/>
            <a:endCxn id="78" idx="1"/>
          </p:cNvCxnSpPr>
          <p:nvPr/>
        </p:nvCxnSpPr>
        <p:spPr>
          <a:xfrm>
            <a:off x="2241819" y="6277254"/>
            <a:ext cx="246173" cy="11867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9" name="그룹 78"/>
          <p:cNvGrpSpPr/>
          <p:nvPr/>
        </p:nvGrpSpPr>
        <p:grpSpPr>
          <a:xfrm>
            <a:off x="7001934" y="4076201"/>
            <a:ext cx="3979312" cy="2368895"/>
            <a:chOff x="7340600" y="4076201"/>
            <a:chExt cx="3640645" cy="2368895"/>
          </a:xfrm>
        </p:grpSpPr>
        <p:sp>
          <p:nvSpPr>
            <p:cNvPr id="80" name="직사각형 79"/>
            <p:cNvSpPr/>
            <p:nvPr/>
          </p:nvSpPr>
          <p:spPr>
            <a:xfrm>
              <a:off x="7340600" y="5011587"/>
              <a:ext cx="448769" cy="399529"/>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심사</a:t>
              </a:r>
              <a:endParaRPr lang="en-US" altLang="ko-KR" sz="1200" dirty="0"/>
            </a:p>
            <a:p>
              <a:pPr algn="ctr"/>
              <a:r>
                <a:rPr lang="en-US" altLang="ko-KR" sz="1200" dirty="0"/>
                <a:t>(</a:t>
              </a:r>
              <a:r>
                <a:rPr lang="ko-KR" altLang="en-US" sz="1200" dirty="0"/>
                <a:t>제도</a:t>
              </a:r>
              <a:r>
                <a:rPr lang="en-US" altLang="ko-KR" sz="1200" dirty="0"/>
                <a:t>)</a:t>
              </a:r>
              <a:endParaRPr lang="ko-KR" altLang="en-US" sz="1200" dirty="0"/>
            </a:p>
          </p:txBody>
        </p:sp>
        <p:grpSp>
          <p:nvGrpSpPr>
            <p:cNvPr id="81" name="그룹 80"/>
            <p:cNvGrpSpPr/>
            <p:nvPr/>
          </p:nvGrpSpPr>
          <p:grpSpPr>
            <a:xfrm>
              <a:off x="7967112" y="4305504"/>
              <a:ext cx="471444" cy="1770110"/>
              <a:chOff x="2707314" y="4441447"/>
              <a:chExt cx="786730" cy="1770110"/>
            </a:xfrm>
          </p:grpSpPr>
          <p:sp>
            <p:nvSpPr>
              <p:cNvPr id="108" name="직사각형 107"/>
              <p:cNvSpPr/>
              <p:nvPr/>
            </p:nvSpPr>
            <p:spPr>
              <a:xfrm>
                <a:off x="2707314" y="4441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주체</a:t>
                </a:r>
              </a:p>
            </p:txBody>
          </p:sp>
          <p:sp>
            <p:nvSpPr>
              <p:cNvPr id="109" name="직사각형 108"/>
              <p:cNvSpPr/>
              <p:nvPr/>
            </p:nvSpPr>
            <p:spPr>
              <a:xfrm>
                <a:off x="2707314" y="4839210"/>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청구</a:t>
                </a:r>
              </a:p>
            </p:txBody>
          </p:sp>
          <p:sp>
            <p:nvSpPr>
              <p:cNvPr id="110" name="직사각형 109"/>
              <p:cNvSpPr/>
              <p:nvPr/>
            </p:nvSpPr>
            <p:spPr>
              <a:xfrm>
                <a:off x="2707314" y="5258685"/>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진행</a:t>
                </a:r>
              </a:p>
            </p:txBody>
          </p:sp>
          <p:sp>
            <p:nvSpPr>
              <p:cNvPr id="111" name="직사각형 110"/>
              <p:cNvSpPr/>
              <p:nvPr/>
            </p:nvSpPr>
            <p:spPr>
              <a:xfrm>
                <a:off x="2707314" y="5656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종료</a:t>
                </a:r>
              </a:p>
            </p:txBody>
          </p:sp>
          <p:sp>
            <p:nvSpPr>
              <p:cNvPr id="112" name="직사각형 111"/>
              <p:cNvSpPr/>
              <p:nvPr/>
            </p:nvSpPr>
            <p:spPr>
              <a:xfrm>
                <a:off x="2707314" y="6036746"/>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관련</a:t>
                </a:r>
              </a:p>
            </p:txBody>
          </p:sp>
        </p:grpSp>
        <p:cxnSp>
          <p:nvCxnSpPr>
            <p:cNvPr id="82" name="꺾인 연결선 81"/>
            <p:cNvCxnSpPr>
              <a:stCxn id="80" idx="3"/>
              <a:endCxn id="108" idx="1"/>
            </p:cNvCxnSpPr>
            <p:nvPr/>
          </p:nvCxnSpPr>
          <p:spPr>
            <a:xfrm flipV="1">
              <a:off x="7789369" y="4392910"/>
              <a:ext cx="177743" cy="81844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꺾인 연결선 82"/>
            <p:cNvCxnSpPr>
              <a:stCxn id="80" idx="3"/>
              <a:endCxn id="112" idx="1"/>
            </p:cNvCxnSpPr>
            <p:nvPr/>
          </p:nvCxnSpPr>
          <p:spPr>
            <a:xfrm>
              <a:off x="7789369" y="5211352"/>
              <a:ext cx="177743" cy="77685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꺾인 연결선 83"/>
            <p:cNvCxnSpPr>
              <a:stCxn id="80" idx="3"/>
              <a:endCxn id="109" idx="1"/>
            </p:cNvCxnSpPr>
            <p:nvPr/>
          </p:nvCxnSpPr>
          <p:spPr>
            <a:xfrm flipV="1">
              <a:off x="7789369" y="4790673"/>
              <a:ext cx="177743" cy="42067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꺾인 연결선 84"/>
            <p:cNvCxnSpPr>
              <a:stCxn id="80" idx="3"/>
              <a:endCxn id="111" idx="1"/>
            </p:cNvCxnSpPr>
            <p:nvPr/>
          </p:nvCxnSpPr>
          <p:spPr>
            <a:xfrm>
              <a:off x="7789369" y="5211352"/>
              <a:ext cx="177743" cy="3965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80" idx="3"/>
              <a:endCxn id="110" idx="1"/>
            </p:cNvCxnSpPr>
            <p:nvPr/>
          </p:nvCxnSpPr>
          <p:spPr>
            <a:xfrm flipV="1">
              <a:off x="7789369" y="5210148"/>
              <a:ext cx="177743" cy="120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 name="그룹 86"/>
            <p:cNvGrpSpPr/>
            <p:nvPr/>
          </p:nvGrpSpPr>
          <p:grpSpPr>
            <a:xfrm>
              <a:off x="8563424" y="4076201"/>
              <a:ext cx="2417821" cy="2368895"/>
              <a:chOff x="3618912" y="4212144"/>
              <a:chExt cx="3438525" cy="2368895"/>
            </a:xfrm>
          </p:grpSpPr>
          <p:sp>
            <p:nvSpPr>
              <p:cNvPr id="98" name="직사각형 97"/>
              <p:cNvSpPr/>
              <p:nvPr/>
            </p:nvSpPr>
            <p:spPr>
              <a:xfrm>
                <a:off x="3618912" y="4212144"/>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57</a:t>
                </a:r>
                <a:r>
                  <a:rPr lang="en-US" altLang="ko-KR" sz="1000">
                    <a:solidFill>
                      <a:schemeClr val="tx1"/>
                    </a:solidFill>
                  </a:rPr>
                  <a:t>, 68)</a:t>
                </a:r>
                <a:endParaRPr lang="ko-KR" altLang="en-US" sz="1000" dirty="0">
                  <a:solidFill>
                    <a:schemeClr val="tx1"/>
                  </a:solidFill>
                </a:endParaRPr>
              </a:p>
            </p:txBody>
          </p:sp>
          <p:sp>
            <p:nvSpPr>
              <p:cNvPr id="99" name="직사각형 98"/>
              <p:cNvSpPr/>
              <p:nvPr/>
            </p:nvSpPr>
            <p:spPr>
              <a:xfrm>
                <a:off x="3618912" y="4435206"/>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전문기관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58, 58</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100" name="직사각형 99"/>
              <p:cNvSpPr/>
              <p:nvPr/>
            </p:nvSpPr>
            <p:spPr>
              <a:xfrm>
                <a:off x="3618912" y="547999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출원의 무효</a:t>
                </a:r>
                <a:r>
                  <a:rPr lang="en-US" altLang="ko-KR" sz="1000" dirty="0">
                    <a:solidFill>
                      <a:schemeClr val="tx1"/>
                    </a:solidFill>
                  </a:rPr>
                  <a:t>, </a:t>
                </a:r>
                <a:r>
                  <a:rPr lang="ko-KR" altLang="en-US" sz="1000" dirty="0">
                    <a:solidFill>
                      <a:schemeClr val="tx1"/>
                    </a:solidFill>
                  </a:rPr>
                  <a:t>취하</a:t>
                </a:r>
                <a:r>
                  <a:rPr lang="en-US" altLang="ko-KR" sz="1000" dirty="0">
                    <a:solidFill>
                      <a:schemeClr val="tx1"/>
                    </a:solidFill>
                  </a:rPr>
                  <a:t>, </a:t>
                </a:r>
                <a:r>
                  <a:rPr lang="ko-KR" altLang="en-US" sz="1000" dirty="0">
                    <a:solidFill>
                      <a:schemeClr val="tx1"/>
                    </a:solidFill>
                  </a:rPr>
                  <a:t>포기</a:t>
                </a:r>
                <a:r>
                  <a:rPr lang="en-US" altLang="ko-KR" sz="1000" dirty="0">
                    <a:solidFill>
                      <a:schemeClr val="tx1"/>
                    </a:solidFill>
                  </a:rPr>
                  <a:t>(</a:t>
                </a:r>
                <a:r>
                  <a:rPr lang="ko-KR" altLang="en-US" sz="1000" dirty="0">
                    <a:solidFill>
                      <a:schemeClr val="tx1"/>
                    </a:solidFill>
                  </a:rPr>
                  <a:t>제도</a:t>
                </a:r>
                <a:r>
                  <a:rPr lang="en-US" altLang="ko-KR" sz="1000" dirty="0">
                    <a:solidFill>
                      <a:schemeClr val="tx1"/>
                    </a:solidFill>
                  </a:rPr>
                  <a:t>)</a:t>
                </a:r>
                <a:endParaRPr lang="ko-KR" altLang="en-US" sz="1000" dirty="0">
                  <a:solidFill>
                    <a:schemeClr val="tx1"/>
                  </a:solidFill>
                </a:endParaRPr>
              </a:p>
            </p:txBody>
          </p:sp>
          <p:sp>
            <p:nvSpPr>
              <p:cNvPr id="101" name="직사각형 100"/>
              <p:cNvSpPr/>
              <p:nvPr/>
            </p:nvSpPr>
            <p:spPr>
              <a:xfrm>
                <a:off x="3618912" y="5703059"/>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특허여부결정</a:t>
                </a:r>
                <a:r>
                  <a:rPr lang="en-US" altLang="ko-KR" sz="1000" dirty="0">
                    <a:solidFill>
                      <a:schemeClr val="tx1"/>
                    </a:solidFill>
                  </a:rPr>
                  <a:t>(</a:t>
                </a:r>
                <a:r>
                  <a:rPr lang="ko-KR" altLang="en-US" sz="1000" dirty="0">
                    <a:solidFill>
                      <a:schemeClr val="tx1"/>
                    </a:solidFill>
                  </a:rPr>
                  <a:t>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62, 63, 66~67</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102" name="직사각형 101"/>
              <p:cNvSpPr/>
              <p:nvPr/>
            </p:nvSpPr>
            <p:spPr>
              <a:xfrm>
                <a:off x="3618912" y="466874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심사청구제도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59, 60)</a:t>
                </a:r>
                <a:endParaRPr lang="ko-KR" altLang="en-US" sz="1000" dirty="0">
                  <a:solidFill>
                    <a:schemeClr val="tx1"/>
                  </a:solidFill>
                </a:endParaRPr>
              </a:p>
            </p:txBody>
          </p:sp>
          <p:sp>
            <p:nvSpPr>
              <p:cNvPr id="103" name="직사각형 102"/>
              <p:cNvSpPr/>
              <p:nvPr/>
            </p:nvSpPr>
            <p:spPr>
              <a:xfrm>
                <a:off x="3618912" y="489180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우선심사제도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61)</a:t>
                </a:r>
                <a:endParaRPr lang="ko-KR" altLang="en-US" sz="1000" dirty="0">
                  <a:solidFill>
                    <a:schemeClr val="tx1"/>
                  </a:solidFill>
                </a:endParaRPr>
              </a:p>
            </p:txBody>
          </p:sp>
          <p:sp>
            <p:nvSpPr>
              <p:cNvPr id="104" name="직사각형 103"/>
              <p:cNvSpPr/>
              <p:nvPr/>
            </p:nvSpPr>
            <p:spPr>
              <a:xfrm>
                <a:off x="3618912" y="517897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심사의 진행</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62, 63, 63</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105" name="직사각형 104"/>
              <p:cNvSpPr/>
              <p:nvPr/>
            </p:nvSpPr>
            <p:spPr>
              <a:xfrm>
                <a:off x="3618912" y="5955831"/>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정보제공제도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63</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106" name="직사각형 105"/>
              <p:cNvSpPr/>
              <p:nvPr/>
            </p:nvSpPr>
            <p:spPr>
              <a:xfrm>
                <a:off x="3618912" y="617889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출원공개제도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64, 65)</a:t>
                </a:r>
                <a:endParaRPr lang="ko-KR" altLang="en-US" sz="1000" dirty="0">
                  <a:solidFill>
                    <a:schemeClr val="tx1"/>
                  </a:solidFill>
                </a:endParaRPr>
              </a:p>
            </p:txBody>
          </p:sp>
          <p:sp>
            <p:nvSpPr>
              <p:cNvPr id="107" name="직사각형 106"/>
              <p:cNvSpPr/>
              <p:nvPr/>
            </p:nvSpPr>
            <p:spPr>
              <a:xfrm>
                <a:off x="3618912" y="640622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타절차와의</a:t>
                </a:r>
                <a:r>
                  <a:rPr lang="ko-KR" altLang="en-US" sz="1000" dirty="0">
                    <a:solidFill>
                      <a:schemeClr val="tx1"/>
                    </a:solidFill>
                  </a:rPr>
                  <a:t> 관계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78)</a:t>
                </a:r>
                <a:endParaRPr lang="ko-KR" altLang="en-US" sz="1000" dirty="0">
                  <a:solidFill>
                    <a:schemeClr val="tx1"/>
                  </a:solidFill>
                </a:endParaRPr>
              </a:p>
            </p:txBody>
          </p:sp>
        </p:grpSp>
        <p:cxnSp>
          <p:nvCxnSpPr>
            <p:cNvPr id="88" name="꺾인 연결선 87"/>
            <p:cNvCxnSpPr>
              <a:stCxn id="108" idx="3"/>
              <a:endCxn id="98" idx="1"/>
            </p:cNvCxnSpPr>
            <p:nvPr/>
          </p:nvCxnSpPr>
          <p:spPr>
            <a:xfrm flipV="1">
              <a:off x="8438556" y="4163607"/>
              <a:ext cx="124868" cy="22930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꺾인 연결선 88"/>
            <p:cNvCxnSpPr>
              <a:stCxn id="108" idx="3"/>
              <a:endCxn id="99" idx="1"/>
            </p:cNvCxnSpPr>
            <p:nvPr/>
          </p:nvCxnSpPr>
          <p:spPr>
            <a:xfrm flipV="1">
              <a:off x="8438556" y="4386669"/>
              <a:ext cx="124868" cy="62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꺾인 연결선 89"/>
            <p:cNvCxnSpPr>
              <a:stCxn id="109" idx="3"/>
              <a:endCxn id="102" idx="1"/>
            </p:cNvCxnSpPr>
            <p:nvPr/>
          </p:nvCxnSpPr>
          <p:spPr>
            <a:xfrm flipV="1">
              <a:off x="8438556" y="4620206"/>
              <a:ext cx="124868" cy="1704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꺾인 연결선 90"/>
            <p:cNvCxnSpPr>
              <a:stCxn id="109" idx="3"/>
              <a:endCxn id="103" idx="1"/>
            </p:cNvCxnSpPr>
            <p:nvPr/>
          </p:nvCxnSpPr>
          <p:spPr>
            <a:xfrm>
              <a:off x="8438556" y="4790673"/>
              <a:ext cx="124868" cy="525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꺾인 연결선 91"/>
            <p:cNvCxnSpPr>
              <a:stCxn id="110" idx="3"/>
              <a:endCxn id="104" idx="1"/>
            </p:cNvCxnSpPr>
            <p:nvPr/>
          </p:nvCxnSpPr>
          <p:spPr>
            <a:xfrm flipV="1">
              <a:off x="8438556" y="5130438"/>
              <a:ext cx="124868" cy="797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꺾인 연결선 92"/>
            <p:cNvCxnSpPr>
              <a:stCxn id="111" idx="3"/>
              <a:endCxn id="100" idx="1"/>
            </p:cNvCxnSpPr>
            <p:nvPr/>
          </p:nvCxnSpPr>
          <p:spPr>
            <a:xfrm flipV="1">
              <a:off x="8438556" y="5431461"/>
              <a:ext cx="124868" cy="17644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꺾인 연결선 93"/>
            <p:cNvCxnSpPr>
              <a:stCxn id="111" idx="3"/>
              <a:endCxn id="101" idx="1"/>
            </p:cNvCxnSpPr>
            <p:nvPr/>
          </p:nvCxnSpPr>
          <p:spPr>
            <a:xfrm>
              <a:off x="8438556" y="5607910"/>
              <a:ext cx="124868" cy="466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꺾인 연결선 94"/>
            <p:cNvCxnSpPr>
              <a:stCxn id="112" idx="3"/>
              <a:endCxn id="105" idx="1"/>
            </p:cNvCxnSpPr>
            <p:nvPr/>
          </p:nvCxnSpPr>
          <p:spPr>
            <a:xfrm flipV="1">
              <a:off x="8438556" y="5907294"/>
              <a:ext cx="124868" cy="809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꺾인 연결선 95"/>
            <p:cNvCxnSpPr>
              <a:stCxn id="112" idx="3"/>
              <a:endCxn id="106" idx="1"/>
            </p:cNvCxnSpPr>
            <p:nvPr/>
          </p:nvCxnSpPr>
          <p:spPr>
            <a:xfrm>
              <a:off x="8438556" y="5988209"/>
              <a:ext cx="124868" cy="14214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꺾인 연결선 96"/>
            <p:cNvCxnSpPr>
              <a:stCxn id="112" idx="3"/>
              <a:endCxn id="107" idx="1"/>
            </p:cNvCxnSpPr>
            <p:nvPr/>
          </p:nvCxnSpPr>
          <p:spPr>
            <a:xfrm>
              <a:off x="8438556" y="5988209"/>
              <a:ext cx="124868" cy="36948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13" name="직사각형 112"/>
          <p:cNvSpPr/>
          <p:nvPr/>
        </p:nvSpPr>
        <p:spPr>
          <a:xfrm>
            <a:off x="5960556" y="3393490"/>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특허법</a:t>
            </a:r>
            <a:endParaRPr lang="en-US" altLang="ko-KR" dirty="0"/>
          </a:p>
          <a:p>
            <a:pPr algn="ctr"/>
            <a:r>
              <a:rPr lang="ko-KR" altLang="en-US" dirty="0"/>
              <a:t>체계도</a:t>
            </a:r>
          </a:p>
        </p:txBody>
      </p:sp>
      <p:sp>
        <p:nvSpPr>
          <p:cNvPr id="114" name="타원 113"/>
          <p:cNvSpPr/>
          <p:nvPr/>
        </p:nvSpPr>
        <p:spPr>
          <a:xfrm>
            <a:off x="880857" y="2219587"/>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115" name="타원 114"/>
          <p:cNvSpPr/>
          <p:nvPr/>
        </p:nvSpPr>
        <p:spPr>
          <a:xfrm>
            <a:off x="6163733" y="2366819"/>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116" name="타원 115"/>
          <p:cNvSpPr/>
          <p:nvPr/>
        </p:nvSpPr>
        <p:spPr>
          <a:xfrm>
            <a:off x="542670" y="5005703"/>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117" name="타원 116"/>
          <p:cNvSpPr/>
          <p:nvPr/>
        </p:nvSpPr>
        <p:spPr>
          <a:xfrm>
            <a:off x="6647019" y="5043860"/>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4</a:t>
            </a:r>
            <a:endParaRPr lang="ko-KR" altLang="en-US" dirty="0"/>
          </a:p>
        </p:txBody>
      </p:sp>
      <p:sp>
        <p:nvSpPr>
          <p:cNvPr id="118" name="자유형 117"/>
          <p:cNvSpPr/>
          <p:nvPr/>
        </p:nvSpPr>
        <p:spPr>
          <a:xfrm>
            <a:off x="1049867" y="2582332"/>
            <a:ext cx="4893733" cy="1423457"/>
          </a:xfrm>
          <a:custGeom>
            <a:avLst/>
            <a:gdLst>
              <a:gd name="connsiteX0" fmla="*/ 4893733 w 4893733"/>
              <a:gd name="connsiteY0" fmla="*/ 1295400 h 1295400"/>
              <a:gd name="connsiteX1" fmla="*/ 4893733 w 4893733"/>
              <a:gd name="connsiteY1" fmla="*/ 1295400 h 1295400"/>
              <a:gd name="connsiteX2" fmla="*/ 0 w 4893733"/>
              <a:gd name="connsiteY2" fmla="*/ 1295400 h 1295400"/>
              <a:gd name="connsiteX3" fmla="*/ 0 w 4893733"/>
              <a:gd name="connsiteY3" fmla="*/ 0 h 1295400"/>
            </a:gdLst>
            <a:ahLst/>
            <a:cxnLst>
              <a:cxn ang="0">
                <a:pos x="connsiteX0" y="connsiteY0"/>
              </a:cxn>
              <a:cxn ang="0">
                <a:pos x="connsiteX1" y="connsiteY1"/>
              </a:cxn>
              <a:cxn ang="0">
                <a:pos x="connsiteX2" y="connsiteY2"/>
              </a:cxn>
              <a:cxn ang="0">
                <a:pos x="connsiteX3" y="connsiteY3"/>
              </a:cxn>
            </a:cxnLst>
            <a:rect l="l" t="t" r="r" b="b"/>
            <a:pathLst>
              <a:path w="4893733" h="1295400">
                <a:moveTo>
                  <a:pt x="4893733" y="1295400"/>
                </a:moveTo>
                <a:lnTo>
                  <a:pt x="4893733" y="1295400"/>
                </a:lnTo>
                <a:lnTo>
                  <a:pt x="0" y="1295400"/>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19" name="자유형 118"/>
          <p:cNvSpPr/>
          <p:nvPr/>
        </p:nvSpPr>
        <p:spPr>
          <a:xfrm>
            <a:off x="718458" y="3993619"/>
            <a:ext cx="5233610" cy="997811"/>
          </a:xfrm>
          <a:custGeom>
            <a:avLst/>
            <a:gdLst>
              <a:gd name="connsiteX0" fmla="*/ 5215467 w 5215467"/>
              <a:gd name="connsiteY0" fmla="*/ 0 h 965200"/>
              <a:gd name="connsiteX1" fmla="*/ 0 w 5215467"/>
              <a:gd name="connsiteY1" fmla="*/ 0 h 965200"/>
              <a:gd name="connsiteX2" fmla="*/ 0 w 5215467"/>
              <a:gd name="connsiteY2" fmla="*/ 965200 h 965200"/>
            </a:gdLst>
            <a:ahLst/>
            <a:cxnLst>
              <a:cxn ang="0">
                <a:pos x="connsiteX0" y="connsiteY0"/>
              </a:cxn>
              <a:cxn ang="0">
                <a:pos x="connsiteX1" y="connsiteY1"/>
              </a:cxn>
              <a:cxn ang="0">
                <a:pos x="connsiteX2" y="connsiteY2"/>
              </a:cxn>
            </a:cxnLst>
            <a:rect l="l" t="t" r="r" b="b"/>
            <a:pathLst>
              <a:path w="5215467" h="965200">
                <a:moveTo>
                  <a:pt x="5215467" y="0"/>
                </a:moveTo>
                <a:lnTo>
                  <a:pt x="0" y="0"/>
                </a:lnTo>
                <a:lnTo>
                  <a:pt x="0" y="9652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0" name="자유형 119"/>
          <p:cNvSpPr/>
          <p:nvPr/>
        </p:nvSpPr>
        <p:spPr>
          <a:xfrm>
            <a:off x="6383867" y="2726267"/>
            <a:ext cx="0" cy="668866"/>
          </a:xfrm>
          <a:custGeom>
            <a:avLst/>
            <a:gdLst>
              <a:gd name="connsiteX0" fmla="*/ 0 w 0"/>
              <a:gd name="connsiteY0" fmla="*/ 668866 h 668866"/>
              <a:gd name="connsiteX1" fmla="*/ 0 w 0"/>
              <a:gd name="connsiteY1" fmla="*/ 0 h 668866"/>
            </a:gdLst>
            <a:ahLst/>
            <a:cxnLst>
              <a:cxn ang="0">
                <a:pos x="connsiteX0" y="connsiteY0"/>
              </a:cxn>
              <a:cxn ang="0">
                <a:pos x="connsiteX1" y="connsiteY1"/>
              </a:cxn>
            </a:cxnLst>
            <a:rect l="l" t="t" r="r" b="b"/>
            <a:pathLst>
              <a:path h="668866">
                <a:moveTo>
                  <a:pt x="0" y="668866"/>
                </a:move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cxnSp>
        <p:nvCxnSpPr>
          <p:cNvPr id="121" name="직선 연결선 120"/>
          <p:cNvCxnSpPr>
            <a:stCxn id="113" idx="2"/>
            <a:endCxn id="113" idx="2"/>
          </p:cNvCxnSpPr>
          <p:nvPr/>
        </p:nvCxnSpPr>
        <p:spPr>
          <a:xfrm>
            <a:off x="6417756" y="4307890"/>
            <a:ext cx="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2" name="자유형 121"/>
          <p:cNvSpPr/>
          <p:nvPr/>
        </p:nvSpPr>
        <p:spPr>
          <a:xfrm>
            <a:off x="6400800" y="4318000"/>
            <a:ext cx="262467" cy="897467"/>
          </a:xfrm>
          <a:custGeom>
            <a:avLst/>
            <a:gdLst>
              <a:gd name="connsiteX0" fmla="*/ 0 w 262467"/>
              <a:gd name="connsiteY0" fmla="*/ 0 h 897467"/>
              <a:gd name="connsiteX1" fmla="*/ 0 w 262467"/>
              <a:gd name="connsiteY1" fmla="*/ 0 h 897467"/>
              <a:gd name="connsiteX2" fmla="*/ 0 w 262467"/>
              <a:gd name="connsiteY2" fmla="*/ 897467 h 897467"/>
              <a:gd name="connsiteX3" fmla="*/ 262467 w 262467"/>
              <a:gd name="connsiteY3" fmla="*/ 897467 h 897467"/>
            </a:gdLst>
            <a:ahLst/>
            <a:cxnLst>
              <a:cxn ang="0">
                <a:pos x="connsiteX0" y="connsiteY0"/>
              </a:cxn>
              <a:cxn ang="0">
                <a:pos x="connsiteX1" y="connsiteY1"/>
              </a:cxn>
              <a:cxn ang="0">
                <a:pos x="connsiteX2" y="connsiteY2"/>
              </a:cxn>
              <a:cxn ang="0">
                <a:pos x="connsiteX3" y="connsiteY3"/>
              </a:cxn>
            </a:cxnLst>
            <a:rect l="l" t="t" r="r" b="b"/>
            <a:pathLst>
              <a:path w="262467" h="897467">
                <a:moveTo>
                  <a:pt x="0" y="0"/>
                </a:moveTo>
                <a:lnTo>
                  <a:pt x="0" y="0"/>
                </a:lnTo>
                <a:lnTo>
                  <a:pt x="0" y="897467"/>
                </a:lnTo>
                <a:lnTo>
                  <a:pt x="262467" y="897467"/>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5" name="직사각형 124">
            <a:extLst>
              <a:ext uri="{FF2B5EF4-FFF2-40B4-BE49-F238E27FC236}">
                <a16:creationId xmlns:a16="http://schemas.microsoft.com/office/drawing/2014/main" id="{9012F393-65ED-4311-A56D-1073EA0A0D99}"/>
              </a:ext>
            </a:extLst>
          </p:cNvPr>
          <p:cNvSpPr/>
          <p:nvPr/>
        </p:nvSpPr>
        <p:spPr>
          <a:xfrm>
            <a:off x="2487992" y="5160972"/>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분할출원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52)</a:t>
            </a:r>
            <a:endParaRPr lang="ko-KR" altLang="en-US" sz="1000" dirty="0">
              <a:solidFill>
                <a:schemeClr val="tx1"/>
              </a:solidFill>
            </a:endParaRPr>
          </a:p>
        </p:txBody>
      </p:sp>
      <p:cxnSp>
        <p:nvCxnSpPr>
          <p:cNvPr id="127" name="꺾인 연결선 67">
            <a:extLst>
              <a:ext uri="{FF2B5EF4-FFF2-40B4-BE49-F238E27FC236}">
                <a16:creationId xmlns:a16="http://schemas.microsoft.com/office/drawing/2014/main" id="{E6B18D36-32CC-497B-A148-E8CED33A916F}"/>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꺾인 연결선 68">
            <a:extLst>
              <a:ext uri="{FF2B5EF4-FFF2-40B4-BE49-F238E27FC236}">
                <a16:creationId xmlns:a16="http://schemas.microsoft.com/office/drawing/2014/main" id="{15731FFB-002A-4D1A-B931-E4E3AE5EC565}"/>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6" name="직사각형 135">
            <a:extLst>
              <a:ext uri="{FF2B5EF4-FFF2-40B4-BE49-F238E27FC236}">
                <a16:creationId xmlns:a16="http://schemas.microsoft.com/office/drawing/2014/main" id="{88952097-4047-B4C7-1974-88AE224120C6}"/>
              </a:ext>
            </a:extLst>
          </p:cNvPr>
          <p:cNvSpPr/>
          <p:nvPr/>
        </p:nvSpPr>
        <p:spPr>
          <a:xfrm>
            <a:off x="2118397" y="36224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err="1">
                <a:solidFill>
                  <a:schemeClr val="tx1"/>
                </a:solidFill>
              </a:rPr>
              <a:t>보칙</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215-224</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Tree>
    <p:extLst>
      <p:ext uri="{BB962C8B-B14F-4D97-AF65-F5344CB8AC3E}">
        <p14:creationId xmlns:p14="http://schemas.microsoft.com/office/powerpoint/2010/main" val="189369409"/>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r>
              <a:rPr lang="en-US" altLang="ko-KR"/>
              <a:t>246</a:t>
            </a:r>
            <a:endParaRPr lang="ko-KR" altLang="en-US" dirty="0"/>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124" name="직사각형 123"/>
          <p:cNvSpPr/>
          <p:nvPr/>
        </p:nvSpPr>
        <p:spPr>
          <a:xfrm>
            <a:off x="680604" y="2547021"/>
            <a:ext cx="545064" cy="552230"/>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a:t>특허권</a:t>
            </a:r>
            <a:endParaRPr lang="ko-KR" altLang="en-US" sz="1200" dirty="0"/>
          </a:p>
        </p:txBody>
      </p:sp>
      <p:sp>
        <p:nvSpPr>
          <p:cNvPr id="125" name="직사각형 124"/>
          <p:cNvSpPr/>
          <p:nvPr/>
        </p:nvSpPr>
        <p:spPr>
          <a:xfrm>
            <a:off x="1383335" y="123999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발생</a:t>
            </a:r>
          </a:p>
        </p:txBody>
      </p:sp>
      <p:sp>
        <p:nvSpPr>
          <p:cNvPr id="126" name="직사각형 125"/>
          <p:cNvSpPr/>
          <p:nvPr/>
        </p:nvSpPr>
        <p:spPr>
          <a:xfrm>
            <a:off x="1383335" y="1789781"/>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효력</a:t>
            </a:r>
          </a:p>
        </p:txBody>
      </p:sp>
      <p:sp>
        <p:nvSpPr>
          <p:cNvPr id="127" name="직사각형 126"/>
          <p:cNvSpPr/>
          <p:nvPr/>
        </p:nvSpPr>
        <p:spPr>
          <a:xfrm>
            <a:off x="1383335" y="2944739"/>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변동</a:t>
            </a:r>
          </a:p>
        </p:txBody>
      </p:sp>
      <p:sp>
        <p:nvSpPr>
          <p:cNvPr id="128" name="직사각형 127"/>
          <p:cNvSpPr/>
          <p:nvPr/>
        </p:nvSpPr>
        <p:spPr>
          <a:xfrm>
            <a:off x="1383335" y="366808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소멸</a:t>
            </a:r>
          </a:p>
        </p:txBody>
      </p:sp>
      <p:sp>
        <p:nvSpPr>
          <p:cNvPr id="129" name="직사각형 128"/>
          <p:cNvSpPr/>
          <p:nvPr/>
        </p:nvSpPr>
        <p:spPr>
          <a:xfrm>
            <a:off x="1383335" y="4175764"/>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관련</a:t>
            </a:r>
          </a:p>
        </p:txBody>
      </p:sp>
      <p:cxnSp>
        <p:nvCxnSpPr>
          <p:cNvPr id="130" name="꺾인 연결선 129"/>
          <p:cNvCxnSpPr>
            <a:stCxn id="124" idx="3"/>
            <a:endCxn id="125" idx="1"/>
          </p:cNvCxnSpPr>
          <p:nvPr/>
        </p:nvCxnSpPr>
        <p:spPr>
          <a:xfrm flipV="1">
            <a:off x="1225668" y="1360804"/>
            <a:ext cx="157667" cy="146233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꺾인 연결선 130"/>
          <p:cNvCxnSpPr>
            <a:stCxn id="124" idx="3"/>
            <a:endCxn id="129" idx="1"/>
          </p:cNvCxnSpPr>
          <p:nvPr/>
        </p:nvCxnSpPr>
        <p:spPr>
          <a:xfrm>
            <a:off x="1225668" y="2823136"/>
            <a:ext cx="157667" cy="147344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124" idx="3"/>
            <a:endCxn id="126" idx="1"/>
          </p:cNvCxnSpPr>
          <p:nvPr/>
        </p:nvCxnSpPr>
        <p:spPr>
          <a:xfrm flipV="1">
            <a:off x="1225668" y="1910593"/>
            <a:ext cx="157667" cy="9125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꺾인 연결선 132"/>
          <p:cNvCxnSpPr>
            <a:stCxn id="124" idx="3"/>
            <a:endCxn id="128" idx="1"/>
          </p:cNvCxnSpPr>
          <p:nvPr/>
        </p:nvCxnSpPr>
        <p:spPr>
          <a:xfrm>
            <a:off x="1225668" y="2823136"/>
            <a:ext cx="157667" cy="96575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stCxn id="124" idx="3"/>
            <a:endCxn id="127" idx="1"/>
          </p:cNvCxnSpPr>
          <p:nvPr/>
        </p:nvCxnSpPr>
        <p:spPr>
          <a:xfrm>
            <a:off x="1225668" y="2823136"/>
            <a:ext cx="157667" cy="2424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5" name="직사각형 134"/>
          <p:cNvSpPr/>
          <p:nvPr/>
        </p:nvSpPr>
        <p:spPr>
          <a:xfrm>
            <a:off x="1927293" y="1027643"/>
            <a:ext cx="1744315" cy="12863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특허료의 납부 등</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79~86)</a:t>
            </a:r>
            <a:endParaRPr lang="ko-KR" altLang="en-US" sz="1000" dirty="0">
              <a:solidFill>
                <a:schemeClr val="tx2"/>
              </a:solidFill>
            </a:endParaRPr>
          </a:p>
        </p:txBody>
      </p:sp>
      <p:sp>
        <p:nvSpPr>
          <p:cNvPr id="136" name="직사각형 135"/>
          <p:cNvSpPr/>
          <p:nvPr/>
        </p:nvSpPr>
        <p:spPr>
          <a:xfrm>
            <a:off x="1927294" y="1199840"/>
            <a:ext cx="1744314" cy="14679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설정등록 및 등록공고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87)</a:t>
            </a:r>
            <a:endParaRPr lang="ko-KR" altLang="en-US" sz="1000" dirty="0">
              <a:solidFill>
                <a:schemeClr val="tx2"/>
              </a:solidFill>
            </a:endParaRPr>
          </a:p>
        </p:txBody>
      </p:sp>
      <p:sp>
        <p:nvSpPr>
          <p:cNvPr id="137" name="직사각형 136"/>
          <p:cNvSpPr/>
          <p:nvPr/>
        </p:nvSpPr>
        <p:spPr>
          <a:xfrm>
            <a:off x="1927295" y="3385001"/>
            <a:ext cx="991185" cy="18765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질권</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121~123)</a:t>
            </a:r>
            <a:endParaRPr lang="ko-KR" altLang="en-US" sz="1000" dirty="0">
              <a:solidFill>
                <a:schemeClr val="tx2"/>
              </a:solidFill>
            </a:endParaRPr>
          </a:p>
        </p:txBody>
      </p:sp>
      <p:sp>
        <p:nvSpPr>
          <p:cNvPr id="138" name="직사각형 137"/>
          <p:cNvSpPr/>
          <p:nvPr/>
        </p:nvSpPr>
        <p:spPr>
          <a:xfrm>
            <a:off x="1931244" y="3908454"/>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효과</a:t>
            </a:r>
          </a:p>
        </p:txBody>
      </p:sp>
      <p:sp>
        <p:nvSpPr>
          <p:cNvPr id="139" name="직사각형 138"/>
          <p:cNvSpPr/>
          <p:nvPr/>
        </p:nvSpPr>
        <p:spPr>
          <a:xfrm>
            <a:off x="1927295" y="1600786"/>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범위</a:t>
            </a:r>
          </a:p>
        </p:txBody>
      </p:sp>
      <p:sp>
        <p:nvSpPr>
          <p:cNvPr id="140" name="직사각형 139"/>
          <p:cNvSpPr/>
          <p:nvPr/>
        </p:nvSpPr>
        <p:spPr>
          <a:xfrm>
            <a:off x="1927295" y="2235641"/>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내용</a:t>
            </a:r>
          </a:p>
        </p:txBody>
      </p:sp>
      <p:sp>
        <p:nvSpPr>
          <p:cNvPr id="141" name="직사각형 140"/>
          <p:cNvSpPr/>
          <p:nvPr/>
        </p:nvSpPr>
        <p:spPr>
          <a:xfrm>
            <a:off x="1927295" y="3187241"/>
            <a:ext cx="99118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000" dirty="0" err="1">
                <a:solidFill>
                  <a:schemeClr val="tx2"/>
                </a:solidFill>
              </a:rPr>
              <a:t>실시권</a:t>
            </a:r>
            <a:endParaRPr lang="ko-KR" altLang="en-US" sz="1000" dirty="0">
              <a:solidFill>
                <a:schemeClr val="tx2"/>
              </a:solidFill>
            </a:endParaRPr>
          </a:p>
        </p:txBody>
      </p:sp>
      <p:sp>
        <p:nvSpPr>
          <p:cNvPr id="142" name="직사각형 141"/>
          <p:cNvSpPr/>
          <p:nvPr/>
        </p:nvSpPr>
        <p:spPr>
          <a:xfrm>
            <a:off x="1926619" y="4143059"/>
            <a:ext cx="1355344" cy="15351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실시보고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125)</a:t>
            </a:r>
            <a:endParaRPr lang="ko-KR" altLang="en-US" sz="1000" dirty="0">
              <a:solidFill>
                <a:schemeClr val="tx2"/>
              </a:solidFill>
            </a:endParaRPr>
          </a:p>
        </p:txBody>
      </p:sp>
      <p:sp>
        <p:nvSpPr>
          <p:cNvPr id="143" name="직사각형 142"/>
          <p:cNvSpPr/>
          <p:nvPr/>
        </p:nvSpPr>
        <p:spPr>
          <a:xfrm>
            <a:off x="1926619" y="4320845"/>
            <a:ext cx="1355344" cy="13417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집행권원</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125</a:t>
            </a:r>
            <a:r>
              <a:rPr lang="ko-KR" altLang="en-US" sz="1000" dirty="0">
                <a:solidFill>
                  <a:schemeClr val="tx2"/>
                </a:solidFill>
              </a:rPr>
              <a:t>의</a:t>
            </a:r>
            <a:r>
              <a:rPr lang="en-US" altLang="ko-KR" sz="1000" dirty="0">
                <a:solidFill>
                  <a:schemeClr val="tx2"/>
                </a:solidFill>
              </a:rPr>
              <a:t>2)</a:t>
            </a:r>
            <a:endParaRPr lang="ko-KR" altLang="en-US" sz="1000" dirty="0">
              <a:solidFill>
                <a:schemeClr val="tx2"/>
              </a:solidFill>
            </a:endParaRPr>
          </a:p>
        </p:txBody>
      </p:sp>
      <p:cxnSp>
        <p:nvCxnSpPr>
          <p:cNvPr id="144" name="꺾인 연결선 143"/>
          <p:cNvCxnSpPr>
            <a:stCxn id="125" idx="3"/>
            <a:endCxn id="135" idx="1"/>
          </p:cNvCxnSpPr>
          <p:nvPr/>
        </p:nvCxnSpPr>
        <p:spPr>
          <a:xfrm flipV="1">
            <a:off x="1774346" y="1091961"/>
            <a:ext cx="152947" cy="26884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꺾인 연결선 144"/>
          <p:cNvCxnSpPr>
            <a:stCxn id="125" idx="3"/>
            <a:endCxn id="136" idx="1"/>
          </p:cNvCxnSpPr>
          <p:nvPr/>
        </p:nvCxnSpPr>
        <p:spPr>
          <a:xfrm flipV="1">
            <a:off x="1774346" y="1273240"/>
            <a:ext cx="152948" cy="875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꺾인 연결선 145"/>
          <p:cNvCxnSpPr>
            <a:stCxn id="126" idx="3"/>
            <a:endCxn id="139" idx="1"/>
          </p:cNvCxnSpPr>
          <p:nvPr/>
        </p:nvCxnSpPr>
        <p:spPr>
          <a:xfrm flipV="1">
            <a:off x="1774346" y="1680091"/>
            <a:ext cx="152949" cy="2305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꺾인 연결선 146"/>
          <p:cNvCxnSpPr>
            <a:stCxn id="126" idx="3"/>
            <a:endCxn id="140" idx="1"/>
          </p:cNvCxnSpPr>
          <p:nvPr/>
        </p:nvCxnSpPr>
        <p:spPr>
          <a:xfrm>
            <a:off x="1774346" y="1910593"/>
            <a:ext cx="152949" cy="4043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꺾인 연결선 147"/>
          <p:cNvCxnSpPr>
            <a:stCxn id="127" idx="3"/>
            <a:endCxn id="141" idx="1"/>
          </p:cNvCxnSpPr>
          <p:nvPr/>
        </p:nvCxnSpPr>
        <p:spPr>
          <a:xfrm>
            <a:off x="1774346" y="3065551"/>
            <a:ext cx="152949" cy="2009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꺾인 연결선 148"/>
          <p:cNvCxnSpPr>
            <a:stCxn id="128" idx="3"/>
            <a:endCxn id="138" idx="1"/>
          </p:cNvCxnSpPr>
          <p:nvPr/>
        </p:nvCxnSpPr>
        <p:spPr>
          <a:xfrm>
            <a:off x="1774346" y="3788895"/>
            <a:ext cx="156898" cy="1988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꺾인 연결선 149"/>
          <p:cNvCxnSpPr>
            <a:stCxn id="129" idx="3"/>
            <a:endCxn id="142" idx="1"/>
          </p:cNvCxnSpPr>
          <p:nvPr/>
        </p:nvCxnSpPr>
        <p:spPr>
          <a:xfrm flipV="1">
            <a:off x="1774346" y="4219817"/>
            <a:ext cx="152273" cy="767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1" name="꺾인 연결선 150"/>
          <p:cNvCxnSpPr>
            <a:stCxn id="129" idx="3"/>
            <a:endCxn id="143" idx="1"/>
          </p:cNvCxnSpPr>
          <p:nvPr/>
        </p:nvCxnSpPr>
        <p:spPr>
          <a:xfrm>
            <a:off x="1774346" y="4296575"/>
            <a:ext cx="152273" cy="913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2" name="직사각형 151"/>
          <p:cNvSpPr/>
          <p:nvPr/>
        </p:nvSpPr>
        <p:spPr>
          <a:xfrm>
            <a:off x="2490834" y="1502332"/>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시간적</a:t>
            </a:r>
          </a:p>
        </p:txBody>
      </p:sp>
      <p:sp>
        <p:nvSpPr>
          <p:cNvPr id="153" name="직사각형 152"/>
          <p:cNvSpPr/>
          <p:nvPr/>
        </p:nvSpPr>
        <p:spPr>
          <a:xfrm>
            <a:off x="2490834" y="1753955"/>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내용적</a:t>
            </a:r>
          </a:p>
        </p:txBody>
      </p:sp>
      <p:sp>
        <p:nvSpPr>
          <p:cNvPr id="154" name="직사각형 153"/>
          <p:cNvSpPr/>
          <p:nvPr/>
        </p:nvSpPr>
        <p:spPr>
          <a:xfrm>
            <a:off x="2490834" y="1966576"/>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지역적</a:t>
            </a:r>
          </a:p>
        </p:txBody>
      </p:sp>
      <p:sp>
        <p:nvSpPr>
          <p:cNvPr id="155" name="직사각형 154"/>
          <p:cNvSpPr/>
          <p:nvPr/>
        </p:nvSpPr>
        <p:spPr>
          <a:xfrm>
            <a:off x="3028012" y="1406769"/>
            <a:ext cx="1665788"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존속기간</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88)</a:t>
            </a:r>
            <a:endParaRPr lang="ko-KR" altLang="en-US" sz="1000" dirty="0">
              <a:solidFill>
                <a:schemeClr val="tx2"/>
              </a:solidFill>
            </a:endParaRPr>
          </a:p>
        </p:txBody>
      </p:sp>
      <p:sp>
        <p:nvSpPr>
          <p:cNvPr id="156" name="직사각형 155"/>
          <p:cNvSpPr/>
          <p:nvPr/>
        </p:nvSpPr>
        <p:spPr>
          <a:xfrm>
            <a:off x="3028012" y="1577847"/>
            <a:ext cx="1665790" cy="149257"/>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존속기간의 연장</a:t>
            </a:r>
            <a:r>
              <a:rPr lang="en-US" altLang="ko-KR" sz="800" dirty="0">
                <a:solidFill>
                  <a:schemeClr val="tx2"/>
                </a:solidFill>
              </a:rPr>
              <a:t>(</a:t>
            </a:r>
            <a:r>
              <a:rPr lang="ko-KR" altLang="en-US" sz="800" dirty="0">
                <a:solidFill>
                  <a:schemeClr val="tx2"/>
                </a:solidFill>
              </a:rPr>
              <a:t>法 </a:t>
            </a:r>
            <a:r>
              <a:rPr lang="en-US" altLang="ko-KR" sz="800" dirty="0">
                <a:solidFill>
                  <a:schemeClr val="tx2"/>
                </a:solidFill>
              </a:rPr>
              <a:t>89~93, 95)</a:t>
            </a:r>
            <a:endParaRPr lang="ko-KR" altLang="en-US" sz="800" dirty="0">
              <a:solidFill>
                <a:schemeClr val="tx2"/>
              </a:solidFill>
            </a:endParaRPr>
          </a:p>
        </p:txBody>
      </p:sp>
      <p:sp>
        <p:nvSpPr>
          <p:cNvPr id="157" name="직사각형 156"/>
          <p:cNvSpPr/>
          <p:nvPr/>
        </p:nvSpPr>
        <p:spPr>
          <a:xfrm>
            <a:off x="3028012" y="1745004"/>
            <a:ext cx="1665788" cy="18577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청구범위</a:t>
            </a:r>
          </a:p>
        </p:txBody>
      </p:sp>
      <p:sp>
        <p:nvSpPr>
          <p:cNvPr id="158" name="직사각형 157"/>
          <p:cNvSpPr/>
          <p:nvPr/>
        </p:nvSpPr>
        <p:spPr>
          <a:xfrm>
            <a:off x="3028011" y="1966575"/>
            <a:ext cx="1665789" cy="15861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속지주의</a:t>
            </a:r>
          </a:p>
        </p:txBody>
      </p:sp>
      <p:sp>
        <p:nvSpPr>
          <p:cNvPr id="159" name="직사각형 158"/>
          <p:cNvSpPr/>
          <p:nvPr/>
        </p:nvSpPr>
        <p:spPr>
          <a:xfrm>
            <a:off x="2500115" y="2247804"/>
            <a:ext cx="41836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의의</a:t>
            </a:r>
          </a:p>
        </p:txBody>
      </p:sp>
      <p:sp>
        <p:nvSpPr>
          <p:cNvPr id="160" name="직사각형 159"/>
          <p:cNvSpPr/>
          <p:nvPr/>
        </p:nvSpPr>
        <p:spPr>
          <a:xfrm>
            <a:off x="2500114" y="2523982"/>
            <a:ext cx="2193687" cy="16340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제한</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81</a:t>
            </a:r>
            <a:r>
              <a:rPr lang="ko-KR" altLang="en-US" sz="1000" dirty="0">
                <a:solidFill>
                  <a:schemeClr val="tx2"/>
                </a:solidFill>
              </a:rPr>
              <a:t>의</a:t>
            </a:r>
            <a:r>
              <a:rPr lang="en-US" altLang="ko-KR" sz="1000" dirty="0">
                <a:solidFill>
                  <a:schemeClr val="tx2"/>
                </a:solidFill>
              </a:rPr>
              <a:t>3④, 96, 181/98)</a:t>
            </a:r>
            <a:endParaRPr lang="ko-KR" altLang="en-US" sz="1000" dirty="0">
              <a:solidFill>
                <a:schemeClr val="tx2"/>
              </a:solidFill>
            </a:endParaRPr>
          </a:p>
        </p:txBody>
      </p:sp>
      <p:sp>
        <p:nvSpPr>
          <p:cNvPr id="161" name="직사각형 160"/>
          <p:cNvSpPr/>
          <p:nvPr/>
        </p:nvSpPr>
        <p:spPr>
          <a:xfrm>
            <a:off x="2500114" y="2714241"/>
            <a:ext cx="2193687"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확장</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127)</a:t>
            </a:r>
            <a:endParaRPr lang="ko-KR" altLang="en-US" sz="1000" dirty="0">
              <a:solidFill>
                <a:schemeClr val="tx2"/>
              </a:solidFill>
            </a:endParaRPr>
          </a:p>
        </p:txBody>
      </p:sp>
      <p:sp>
        <p:nvSpPr>
          <p:cNvPr id="162" name="직사각형 161"/>
          <p:cNvSpPr/>
          <p:nvPr/>
        </p:nvSpPr>
        <p:spPr>
          <a:xfrm>
            <a:off x="1927295" y="2927413"/>
            <a:ext cx="1564240" cy="19388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이전 및 공유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99, 99</a:t>
            </a:r>
            <a:r>
              <a:rPr lang="ko-KR" altLang="en-US" sz="1000" dirty="0">
                <a:solidFill>
                  <a:schemeClr val="tx2"/>
                </a:solidFill>
              </a:rPr>
              <a:t>의</a:t>
            </a:r>
            <a:r>
              <a:rPr lang="en-US" altLang="ko-KR" sz="1000" dirty="0">
                <a:solidFill>
                  <a:schemeClr val="tx2"/>
                </a:solidFill>
              </a:rPr>
              <a:t>2)</a:t>
            </a:r>
            <a:endParaRPr lang="ko-KR" altLang="en-US" sz="1000" dirty="0">
              <a:solidFill>
                <a:schemeClr val="tx2"/>
              </a:solidFill>
            </a:endParaRPr>
          </a:p>
        </p:txBody>
      </p:sp>
      <p:sp>
        <p:nvSpPr>
          <p:cNvPr id="163" name="직사각형 162"/>
          <p:cNvSpPr/>
          <p:nvPr/>
        </p:nvSpPr>
        <p:spPr>
          <a:xfrm>
            <a:off x="3109057" y="3518950"/>
            <a:ext cx="2829345" cy="133282"/>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강제실시권</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106</a:t>
            </a:r>
            <a:r>
              <a:rPr lang="ko-KR" altLang="en-US" sz="1000" dirty="0">
                <a:solidFill>
                  <a:schemeClr val="tx2"/>
                </a:solidFill>
              </a:rPr>
              <a:t>의</a:t>
            </a:r>
            <a:r>
              <a:rPr lang="en-US" altLang="ko-KR" sz="1000" dirty="0">
                <a:solidFill>
                  <a:schemeClr val="tx2"/>
                </a:solidFill>
              </a:rPr>
              <a:t>2, 107~115, 138)</a:t>
            </a:r>
            <a:endParaRPr lang="ko-KR" altLang="en-US" sz="1000" dirty="0">
              <a:solidFill>
                <a:schemeClr val="tx2"/>
              </a:solidFill>
            </a:endParaRPr>
          </a:p>
        </p:txBody>
      </p:sp>
      <p:sp>
        <p:nvSpPr>
          <p:cNvPr id="164" name="직사각형 163"/>
          <p:cNvSpPr/>
          <p:nvPr/>
        </p:nvSpPr>
        <p:spPr>
          <a:xfrm>
            <a:off x="3109057" y="3339094"/>
            <a:ext cx="2829345" cy="13973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법정실시권</a:t>
            </a:r>
            <a:r>
              <a:rPr lang="en-US" altLang="ko-KR" sz="800" dirty="0">
                <a:solidFill>
                  <a:schemeClr val="tx2"/>
                </a:solidFill>
              </a:rPr>
              <a:t>(</a:t>
            </a:r>
            <a:r>
              <a:rPr lang="ko-KR" altLang="en-US" sz="800" dirty="0">
                <a:solidFill>
                  <a:schemeClr val="tx2"/>
                </a:solidFill>
              </a:rPr>
              <a:t>法 </a:t>
            </a:r>
            <a:r>
              <a:rPr lang="en-US" altLang="ko-KR" sz="800" dirty="0">
                <a:solidFill>
                  <a:schemeClr val="tx2"/>
                </a:solidFill>
              </a:rPr>
              <a:t>81</a:t>
            </a:r>
            <a:r>
              <a:rPr lang="ko-KR" altLang="en-US" sz="800" dirty="0">
                <a:solidFill>
                  <a:schemeClr val="tx2"/>
                </a:solidFill>
              </a:rPr>
              <a:t>의</a:t>
            </a:r>
            <a:r>
              <a:rPr lang="en-US" altLang="ko-KR" sz="800" dirty="0">
                <a:solidFill>
                  <a:schemeClr val="tx2"/>
                </a:solidFill>
              </a:rPr>
              <a:t>3, 103~105, 122, 182,183, </a:t>
            </a:r>
            <a:r>
              <a:rPr lang="ko-KR" altLang="en-US" sz="800" dirty="0" err="1">
                <a:solidFill>
                  <a:schemeClr val="tx2"/>
                </a:solidFill>
              </a:rPr>
              <a:t>발진법</a:t>
            </a:r>
            <a:r>
              <a:rPr lang="en-US" altLang="ko-KR" sz="800" dirty="0">
                <a:solidFill>
                  <a:schemeClr val="tx2"/>
                </a:solidFill>
              </a:rPr>
              <a:t>10</a:t>
            </a:r>
            <a:r>
              <a:rPr lang="ko-KR" altLang="en-US" sz="800" dirty="0">
                <a:solidFill>
                  <a:schemeClr val="tx2"/>
                </a:solidFill>
              </a:rPr>
              <a:t>①</a:t>
            </a:r>
            <a:r>
              <a:rPr lang="en-US" altLang="ko-KR" sz="800" dirty="0">
                <a:solidFill>
                  <a:schemeClr val="tx2"/>
                </a:solidFill>
              </a:rPr>
              <a:t>)</a:t>
            </a:r>
            <a:endParaRPr lang="ko-KR" altLang="en-US" sz="800" dirty="0">
              <a:solidFill>
                <a:schemeClr val="tx2"/>
              </a:solidFill>
            </a:endParaRPr>
          </a:p>
        </p:txBody>
      </p:sp>
      <p:sp>
        <p:nvSpPr>
          <p:cNvPr id="165" name="직사각형 164"/>
          <p:cNvSpPr/>
          <p:nvPr/>
        </p:nvSpPr>
        <p:spPr>
          <a:xfrm>
            <a:off x="3109057" y="3151440"/>
            <a:ext cx="2829345"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일반론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100~102, 118)</a:t>
            </a:r>
            <a:endParaRPr lang="ko-KR" altLang="en-US" sz="1000" dirty="0">
              <a:solidFill>
                <a:schemeClr val="tx2"/>
              </a:solidFill>
            </a:endParaRPr>
          </a:p>
        </p:txBody>
      </p:sp>
      <p:sp>
        <p:nvSpPr>
          <p:cNvPr id="166" name="직사각형 165"/>
          <p:cNvSpPr/>
          <p:nvPr/>
        </p:nvSpPr>
        <p:spPr>
          <a:xfrm>
            <a:off x="1931244" y="3709590"/>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원인</a:t>
            </a:r>
          </a:p>
        </p:txBody>
      </p:sp>
      <p:sp>
        <p:nvSpPr>
          <p:cNvPr id="167" name="직사각형 166"/>
          <p:cNvSpPr/>
          <p:nvPr/>
        </p:nvSpPr>
        <p:spPr>
          <a:xfrm>
            <a:off x="2426794" y="3883877"/>
            <a:ext cx="1721991" cy="20938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장래소멸</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119, 120, 124)</a:t>
            </a:r>
            <a:endParaRPr lang="ko-KR" altLang="en-US" sz="1000" dirty="0">
              <a:solidFill>
                <a:schemeClr val="tx2"/>
              </a:solidFill>
            </a:endParaRPr>
          </a:p>
        </p:txBody>
      </p:sp>
      <p:sp>
        <p:nvSpPr>
          <p:cNvPr id="168" name="직사각형 167"/>
          <p:cNvSpPr/>
          <p:nvPr/>
        </p:nvSpPr>
        <p:spPr>
          <a:xfrm>
            <a:off x="2426794" y="3698412"/>
            <a:ext cx="1721991"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소급소멸</a:t>
            </a:r>
          </a:p>
        </p:txBody>
      </p:sp>
      <p:cxnSp>
        <p:nvCxnSpPr>
          <p:cNvPr id="169" name="꺾인 연결선 168"/>
          <p:cNvCxnSpPr>
            <a:stCxn id="139" idx="3"/>
            <a:endCxn id="152" idx="1"/>
          </p:cNvCxnSpPr>
          <p:nvPr/>
        </p:nvCxnSpPr>
        <p:spPr>
          <a:xfrm flipV="1">
            <a:off x="2314769" y="1581638"/>
            <a:ext cx="176065" cy="984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꺾인 연결선 169"/>
          <p:cNvCxnSpPr>
            <a:stCxn id="139" idx="3"/>
            <a:endCxn id="153" idx="1"/>
          </p:cNvCxnSpPr>
          <p:nvPr/>
        </p:nvCxnSpPr>
        <p:spPr>
          <a:xfrm>
            <a:off x="2314769" y="1680091"/>
            <a:ext cx="176065" cy="15316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꺾인 연결선 170"/>
          <p:cNvCxnSpPr>
            <a:stCxn id="139" idx="3"/>
            <a:endCxn id="154" idx="1"/>
          </p:cNvCxnSpPr>
          <p:nvPr/>
        </p:nvCxnSpPr>
        <p:spPr>
          <a:xfrm>
            <a:off x="2314769" y="1680091"/>
            <a:ext cx="176065" cy="36579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꺾인 연결선 171"/>
          <p:cNvCxnSpPr>
            <a:stCxn id="152" idx="3"/>
            <a:endCxn id="155" idx="1"/>
          </p:cNvCxnSpPr>
          <p:nvPr/>
        </p:nvCxnSpPr>
        <p:spPr>
          <a:xfrm flipV="1">
            <a:off x="2918481" y="1486075"/>
            <a:ext cx="109531" cy="9556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꺾인 연결선 172"/>
          <p:cNvCxnSpPr>
            <a:stCxn id="152" idx="3"/>
            <a:endCxn id="156" idx="1"/>
          </p:cNvCxnSpPr>
          <p:nvPr/>
        </p:nvCxnSpPr>
        <p:spPr>
          <a:xfrm>
            <a:off x="2918481" y="1581638"/>
            <a:ext cx="109531" cy="7083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직선 연결선 173"/>
          <p:cNvCxnSpPr>
            <a:stCxn id="153" idx="3"/>
            <a:endCxn id="157" idx="1"/>
          </p:cNvCxnSpPr>
          <p:nvPr/>
        </p:nvCxnSpPr>
        <p:spPr>
          <a:xfrm>
            <a:off x="2918481" y="1833260"/>
            <a:ext cx="109531" cy="4630"/>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직선 연결선 174"/>
          <p:cNvCxnSpPr>
            <a:stCxn id="154" idx="3"/>
            <a:endCxn id="158" idx="1"/>
          </p:cNvCxnSpPr>
          <p:nvPr/>
        </p:nvCxnSpPr>
        <p:spPr>
          <a:xfrm flipV="1">
            <a:off x="2918481" y="2045880"/>
            <a:ext cx="109530" cy="1"/>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꺾인 연결선 175"/>
          <p:cNvCxnSpPr>
            <a:stCxn id="140" idx="3"/>
            <a:endCxn id="161" idx="1"/>
          </p:cNvCxnSpPr>
          <p:nvPr/>
        </p:nvCxnSpPr>
        <p:spPr>
          <a:xfrm>
            <a:off x="2314769" y="2314946"/>
            <a:ext cx="185345" cy="4786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꺾인 연결선 176"/>
          <p:cNvCxnSpPr>
            <a:stCxn id="140" idx="3"/>
            <a:endCxn id="159" idx="1"/>
          </p:cNvCxnSpPr>
          <p:nvPr/>
        </p:nvCxnSpPr>
        <p:spPr>
          <a:xfrm>
            <a:off x="2314769" y="2314946"/>
            <a:ext cx="185346" cy="1216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꺾인 연결선 177"/>
          <p:cNvCxnSpPr>
            <a:stCxn id="140" idx="3"/>
            <a:endCxn id="160" idx="1"/>
          </p:cNvCxnSpPr>
          <p:nvPr/>
        </p:nvCxnSpPr>
        <p:spPr>
          <a:xfrm>
            <a:off x="2314769" y="2314946"/>
            <a:ext cx="185345" cy="2907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9" name="꺾인 연결선 178"/>
          <p:cNvCxnSpPr>
            <a:stCxn id="127" idx="3"/>
            <a:endCxn id="162" idx="1"/>
          </p:cNvCxnSpPr>
          <p:nvPr/>
        </p:nvCxnSpPr>
        <p:spPr>
          <a:xfrm flipV="1">
            <a:off x="1774346" y="3024355"/>
            <a:ext cx="152949" cy="411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꺾인 연결선 179"/>
          <p:cNvCxnSpPr>
            <a:stCxn id="127" idx="3"/>
            <a:endCxn id="137" idx="1"/>
          </p:cNvCxnSpPr>
          <p:nvPr/>
        </p:nvCxnSpPr>
        <p:spPr>
          <a:xfrm>
            <a:off x="1774346" y="3065551"/>
            <a:ext cx="152949" cy="4132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꺾인 연결선 180"/>
          <p:cNvCxnSpPr>
            <a:stCxn id="141" idx="3"/>
            <a:endCxn id="163" idx="1"/>
          </p:cNvCxnSpPr>
          <p:nvPr/>
        </p:nvCxnSpPr>
        <p:spPr>
          <a:xfrm>
            <a:off x="2918481" y="3266547"/>
            <a:ext cx="190576" cy="31904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꺾인 연결선 181"/>
          <p:cNvCxnSpPr>
            <a:stCxn id="141" idx="3"/>
            <a:endCxn id="165" idx="1"/>
          </p:cNvCxnSpPr>
          <p:nvPr/>
        </p:nvCxnSpPr>
        <p:spPr>
          <a:xfrm flipV="1">
            <a:off x="2918481" y="3230745"/>
            <a:ext cx="190576" cy="3580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3" name="꺾인 연결선 182"/>
          <p:cNvCxnSpPr>
            <a:stCxn id="141" idx="3"/>
            <a:endCxn id="164" idx="1"/>
          </p:cNvCxnSpPr>
          <p:nvPr/>
        </p:nvCxnSpPr>
        <p:spPr>
          <a:xfrm>
            <a:off x="2918481" y="3266547"/>
            <a:ext cx="190576" cy="14241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4" name="꺾인 연결선 183"/>
          <p:cNvCxnSpPr>
            <a:stCxn id="128" idx="3"/>
            <a:endCxn id="166" idx="1"/>
          </p:cNvCxnSpPr>
          <p:nvPr/>
        </p:nvCxnSpPr>
        <p:spPr>
          <a:xfrm>
            <a:off x="1774346" y="3788895"/>
            <a:ext cx="156898" cy="127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5" name="꺾인 연결선 184"/>
          <p:cNvCxnSpPr>
            <a:stCxn id="166" idx="3"/>
            <a:endCxn id="167" idx="1"/>
          </p:cNvCxnSpPr>
          <p:nvPr/>
        </p:nvCxnSpPr>
        <p:spPr>
          <a:xfrm>
            <a:off x="2314770" y="3788895"/>
            <a:ext cx="112024" cy="1996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6" name="꺾인 연결선 185"/>
          <p:cNvCxnSpPr>
            <a:stCxn id="166" idx="3"/>
            <a:endCxn id="168" idx="1"/>
          </p:cNvCxnSpPr>
          <p:nvPr/>
        </p:nvCxnSpPr>
        <p:spPr>
          <a:xfrm flipV="1">
            <a:off x="2314770" y="3777717"/>
            <a:ext cx="112024" cy="1117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7" name="직사각형 186"/>
          <p:cNvSpPr/>
          <p:nvPr/>
        </p:nvSpPr>
        <p:spPr>
          <a:xfrm>
            <a:off x="3281962" y="2158301"/>
            <a:ext cx="1411839" cy="16756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적극적 효력</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94)</a:t>
            </a:r>
            <a:endParaRPr lang="ko-KR" altLang="en-US" sz="1000" dirty="0">
              <a:solidFill>
                <a:schemeClr val="tx2"/>
              </a:solidFill>
            </a:endParaRPr>
          </a:p>
        </p:txBody>
      </p:sp>
      <p:sp>
        <p:nvSpPr>
          <p:cNvPr id="188" name="직사각형 187"/>
          <p:cNvSpPr/>
          <p:nvPr/>
        </p:nvSpPr>
        <p:spPr>
          <a:xfrm>
            <a:off x="3281962" y="2341797"/>
            <a:ext cx="1411839" cy="15393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소극적 효력</a:t>
            </a:r>
            <a:r>
              <a:rPr lang="en-US" altLang="ko-KR" sz="1000" dirty="0">
                <a:solidFill>
                  <a:schemeClr val="tx2"/>
                </a:solidFill>
              </a:rPr>
              <a:t>(</a:t>
            </a:r>
            <a:r>
              <a:rPr lang="ko-KR" altLang="en-US" sz="1000" dirty="0">
                <a:solidFill>
                  <a:schemeClr val="tx2"/>
                </a:solidFill>
              </a:rPr>
              <a:t>침해</a:t>
            </a:r>
            <a:r>
              <a:rPr lang="en-US" altLang="ko-KR" sz="1000" dirty="0">
                <a:solidFill>
                  <a:schemeClr val="tx2"/>
                </a:solidFill>
              </a:rPr>
              <a:t>)</a:t>
            </a:r>
            <a:endParaRPr lang="ko-KR" altLang="en-US" sz="1000" dirty="0">
              <a:solidFill>
                <a:schemeClr val="tx2"/>
              </a:solidFill>
            </a:endParaRPr>
          </a:p>
        </p:txBody>
      </p:sp>
      <p:cxnSp>
        <p:nvCxnSpPr>
          <p:cNvPr id="189" name="꺾인 연결선 188"/>
          <p:cNvCxnSpPr>
            <a:stCxn id="159" idx="3"/>
            <a:endCxn id="188" idx="1"/>
          </p:cNvCxnSpPr>
          <p:nvPr/>
        </p:nvCxnSpPr>
        <p:spPr>
          <a:xfrm>
            <a:off x="2918481" y="2327109"/>
            <a:ext cx="363481" cy="9165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0" name="꺾인 연결선 189"/>
          <p:cNvCxnSpPr>
            <a:stCxn id="159" idx="3"/>
            <a:endCxn id="187" idx="1"/>
          </p:cNvCxnSpPr>
          <p:nvPr/>
        </p:nvCxnSpPr>
        <p:spPr>
          <a:xfrm flipV="1">
            <a:off x="2918481" y="2242081"/>
            <a:ext cx="363481" cy="850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1" name="직사각형 190"/>
          <p:cNvSpPr/>
          <p:nvPr/>
        </p:nvSpPr>
        <p:spPr>
          <a:xfrm>
            <a:off x="4891070" y="1400340"/>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성립요건</a:t>
            </a:r>
          </a:p>
        </p:txBody>
      </p:sp>
      <p:sp>
        <p:nvSpPr>
          <p:cNvPr id="192" name="직사각형 191"/>
          <p:cNvSpPr/>
          <p:nvPr/>
        </p:nvSpPr>
        <p:spPr>
          <a:xfrm>
            <a:off x="4891070" y="1771241"/>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종류</a:t>
            </a:r>
          </a:p>
        </p:txBody>
      </p:sp>
      <p:sp>
        <p:nvSpPr>
          <p:cNvPr id="193" name="직사각형 192"/>
          <p:cNvSpPr/>
          <p:nvPr/>
        </p:nvSpPr>
        <p:spPr>
          <a:xfrm>
            <a:off x="4891070" y="2381537"/>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조치</a:t>
            </a:r>
          </a:p>
        </p:txBody>
      </p:sp>
      <p:cxnSp>
        <p:nvCxnSpPr>
          <p:cNvPr id="194" name="꺾인 연결선 193"/>
          <p:cNvCxnSpPr>
            <a:stCxn id="188" idx="3"/>
            <a:endCxn id="191" idx="1"/>
          </p:cNvCxnSpPr>
          <p:nvPr/>
        </p:nvCxnSpPr>
        <p:spPr>
          <a:xfrm flipV="1">
            <a:off x="4693801" y="1479645"/>
            <a:ext cx="197269" cy="939118"/>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꺾인 연결선 194"/>
          <p:cNvCxnSpPr>
            <a:stCxn id="188" idx="3"/>
            <a:endCxn id="193" idx="1"/>
          </p:cNvCxnSpPr>
          <p:nvPr/>
        </p:nvCxnSpPr>
        <p:spPr>
          <a:xfrm>
            <a:off x="4693801" y="2418763"/>
            <a:ext cx="197269" cy="42079"/>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꺾인 연결선 195"/>
          <p:cNvCxnSpPr>
            <a:stCxn id="188" idx="3"/>
            <a:endCxn id="192" idx="1"/>
          </p:cNvCxnSpPr>
          <p:nvPr/>
        </p:nvCxnSpPr>
        <p:spPr>
          <a:xfrm flipV="1">
            <a:off x="4693801" y="1850546"/>
            <a:ext cx="197269" cy="568217"/>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7" name="직사각형 196"/>
          <p:cNvSpPr/>
          <p:nvPr/>
        </p:nvSpPr>
        <p:spPr>
          <a:xfrm>
            <a:off x="5586610" y="1528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직접침해</a:t>
            </a:r>
            <a:endParaRPr lang="en-US" altLang="ko-KR" sz="1000" dirty="0">
              <a:solidFill>
                <a:schemeClr val="tx2"/>
              </a:solidFill>
            </a:endParaRPr>
          </a:p>
          <a:p>
            <a:pPr algn="ctr" fontAlgn="base"/>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97, 98)</a:t>
            </a:r>
            <a:endParaRPr lang="ko-KR" altLang="en-US" sz="1000" dirty="0">
              <a:solidFill>
                <a:schemeClr val="tx2"/>
              </a:solidFill>
            </a:endParaRPr>
          </a:p>
        </p:txBody>
      </p:sp>
      <p:sp>
        <p:nvSpPr>
          <p:cNvPr id="198" name="직사각형 197"/>
          <p:cNvSpPr/>
          <p:nvPr/>
        </p:nvSpPr>
        <p:spPr>
          <a:xfrm>
            <a:off x="5586610" y="1904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간접침해</a:t>
            </a:r>
            <a:endParaRPr lang="en-US" altLang="ko-KR" sz="1000" dirty="0">
              <a:solidFill>
                <a:schemeClr val="tx2"/>
              </a:solidFill>
            </a:endParaRPr>
          </a:p>
          <a:p>
            <a:pPr algn="ctr" fontAlgn="base"/>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127)</a:t>
            </a:r>
            <a:endParaRPr lang="ko-KR" altLang="en-US" sz="1000" dirty="0">
              <a:solidFill>
                <a:schemeClr val="tx2"/>
              </a:solidFill>
            </a:endParaRPr>
          </a:p>
        </p:txBody>
      </p:sp>
      <p:cxnSp>
        <p:nvCxnSpPr>
          <p:cNvPr id="199" name="꺾인 연결선 198"/>
          <p:cNvCxnSpPr>
            <a:stCxn id="192" idx="3"/>
            <a:endCxn id="197" idx="1"/>
          </p:cNvCxnSpPr>
          <p:nvPr/>
        </p:nvCxnSpPr>
        <p:spPr>
          <a:xfrm flipV="1">
            <a:off x="5452482" y="1689718"/>
            <a:ext cx="134128" cy="1608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0" name="꺾인 연결선 199"/>
          <p:cNvCxnSpPr>
            <a:stCxn id="192" idx="3"/>
            <a:endCxn id="198" idx="1"/>
          </p:cNvCxnSpPr>
          <p:nvPr/>
        </p:nvCxnSpPr>
        <p:spPr>
          <a:xfrm>
            <a:off x="5452482" y="1850546"/>
            <a:ext cx="134128" cy="21517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1" name="모서리가 둥근 직사각형 200"/>
          <p:cNvSpPr/>
          <p:nvPr/>
        </p:nvSpPr>
        <p:spPr>
          <a:xfrm>
            <a:off x="5586610" y="2318465"/>
            <a:ext cx="833380" cy="300825"/>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algn="ctr"/>
            <a:r>
              <a:rPr lang="ko-KR" altLang="en-US" sz="1000" dirty="0">
                <a:solidFill>
                  <a:schemeClr val="tx2"/>
                </a:solidFill>
              </a:rPr>
              <a:t>민사적 조치</a:t>
            </a:r>
            <a:endParaRPr lang="en-US" altLang="ko-KR" sz="1000" dirty="0">
              <a:solidFill>
                <a:schemeClr val="tx2"/>
              </a:solidFill>
            </a:endParaRPr>
          </a:p>
          <a:p>
            <a:pPr algn="ct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126-132)</a:t>
            </a:r>
            <a:endParaRPr lang="ko-KR" altLang="en-US" sz="1000" dirty="0">
              <a:solidFill>
                <a:schemeClr val="tx2"/>
              </a:solidFill>
            </a:endParaRPr>
          </a:p>
        </p:txBody>
      </p:sp>
      <p:sp>
        <p:nvSpPr>
          <p:cNvPr id="202" name="모서리가 둥근 직사각형 201"/>
          <p:cNvSpPr/>
          <p:nvPr/>
        </p:nvSpPr>
        <p:spPr>
          <a:xfrm>
            <a:off x="5586609" y="2663316"/>
            <a:ext cx="833381" cy="341821"/>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algn="ctr"/>
            <a:r>
              <a:rPr lang="ko-KR" altLang="en-US" sz="1000" dirty="0">
                <a:solidFill>
                  <a:schemeClr val="tx2"/>
                </a:solidFill>
              </a:rPr>
              <a:t>형사적 조치</a:t>
            </a:r>
            <a:endParaRPr lang="en-US" altLang="ko-KR" sz="1000" dirty="0">
              <a:solidFill>
                <a:schemeClr val="tx2"/>
              </a:solidFill>
            </a:endParaRPr>
          </a:p>
          <a:p>
            <a:pPr algn="ct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225-232)</a:t>
            </a:r>
            <a:endParaRPr lang="ko-KR" altLang="en-US" sz="1000" dirty="0">
              <a:solidFill>
                <a:schemeClr val="tx2"/>
              </a:solidFill>
            </a:endParaRPr>
          </a:p>
        </p:txBody>
      </p:sp>
      <p:cxnSp>
        <p:nvCxnSpPr>
          <p:cNvPr id="203" name="꺾인 연결선 202"/>
          <p:cNvCxnSpPr>
            <a:stCxn id="193" idx="3"/>
            <a:endCxn id="201" idx="1"/>
          </p:cNvCxnSpPr>
          <p:nvPr/>
        </p:nvCxnSpPr>
        <p:spPr>
          <a:xfrm>
            <a:off x="5452482" y="2460843"/>
            <a:ext cx="134128" cy="803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4" name="꺾인 연결선 203"/>
          <p:cNvCxnSpPr>
            <a:stCxn id="193" idx="3"/>
            <a:endCxn id="202" idx="1"/>
          </p:cNvCxnSpPr>
          <p:nvPr/>
        </p:nvCxnSpPr>
        <p:spPr>
          <a:xfrm>
            <a:off x="5452482" y="2460843"/>
            <a:ext cx="134127" cy="37338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5" name="직사각형 204"/>
          <p:cNvSpPr/>
          <p:nvPr/>
        </p:nvSpPr>
        <p:spPr>
          <a:xfrm>
            <a:off x="7780806" y="2184608"/>
            <a:ext cx="555844" cy="610645"/>
          </a:xfrm>
          <a:prstGeom prst="rect">
            <a:avLst/>
          </a:prstGeom>
          <a:solidFill>
            <a:schemeClr val="accent6">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solidFill>
                  <a:schemeClr val="bg1"/>
                </a:solidFill>
              </a:rPr>
              <a:t>심판절차 </a:t>
            </a:r>
            <a:endParaRPr lang="en-US" altLang="ko-KR" sz="1000" dirty="0">
              <a:solidFill>
                <a:schemeClr val="bg1"/>
              </a:solidFill>
            </a:endParaRPr>
          </a:p>
          <a:p>
            <a:pPr algn="ctr"/>
            <a:r>
              <a:rPr lang="ko-KR" altLang="en-US" sz="1000" dirty="0">
                <a:solidFill>
                  <a:schemeClr val="bg1"/>
                </a:solidFill>
              </a:rPr>
              <a:t>일반</a:t>
            </a:r>
            <a:endParaRPr lang="en-US" altLang="ko-KR" sz="1000" dirty="0">
              <a:solidFill>
                <a:schemeClr val="bg1"/>
              </a:solidFill>
            </a:endParaRPr>
          </a:p>
          <a:p>
            <a:pPr algn="ctr"/>
            <a:r>
              <a:rPr lang="en-US" altLang="ko-KR" sz="1000" dirty="0">
                <a:solidFill>
                  <a:schemeClr val="bg1"/>
                </a:solidFill>
              </a:rPr>
              <a:t>(</a:t>
            </a:r>
            <a:r>
              <a:rPr lang="ko-KR" altLang="en-US" sz="1000" dirty="0">
                <a:solidFill>
                  <a:schemeClr val="bg1"/>
                </a:solidFill>
              </a:rPr>
              <a:t>총론</a:t>
            </a:r>
            <a:r>
              <a:rPr lang="en-US" altLang="ko-KR" sz="1000" dirty="0">
                <a:solidFill>
                  <a:schemeClr val="bg1"/>
                </a:solidFill>
              </a:rPr>
              <a:t>)</a:t>
            </a:r>
            <a:endParaRPr lang="ko-KR" altLang="en-US" sz="1000" dirty="0">
              <a:solidFill>
                <a:schemeClr val="bg1"/>
              </a:solidFill>
            </a:endParaRPr>
          </a:p>
        </p:txBody>
      </p:sp>
      <p:sp>
        <p:nvSpPr>
          <p:cNvPr id="206" name="직사각형 205"/>
          <p:cNvSpPr/>
          <p:nvPr/>
        </p:nvSpPr>
        <p:spPr>
          <a:xfrm>
            <a:off x="7780806" y="4163272"/>
            <a:ext cx="555844" cy="610645"/>
          </a:xfrm>
          <a:prstGeom prst="rect">
            <a:avLst/>
          </a:prstGeom>
          <a:solidFill>
            <a:schemeClr val="accent5">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solidFill>
                  <a:schemeClr val="bg1"/>
                </a:solidFill>
              </a:rPr>
              <a:t>심판의</a:t>
            </a:r>
            <a:endParaRPr lang="en-US" altLang="ko-KR" sz="1000" dirty="0">
              <a:solidFill>
                <a:schemeClr val="bg1"/>
              </a:solidFill>
            </a:endParaRPr>
          </a:p>
          <a:p>
            <a:pPr algn="ctr"/>
            <a:r>
              <a:rPr lang="ko-KR" altLang="en-US" sz="1000" dirty="0">
                <a:solidFill>
                  <a:schemeClr val="bg1"/>
                </a:solidFill>
              </a:rPr>
              <a:t>종류</a:t>
            </a:r>
            <a:endParaRPr lang="en-US" altLang="ko-KR" sz="1000" dirty="0">
              <a:solidFill>
                <a:schemeClr val="bg1"/>
              </a:solidFill>
            </a:endParaRPr>
          </a:p>
          <a:p>
            <a:pPr algn="ctr"/>
            <a:r>
              <a:rPr lang="en-US" altLang="ko-KR" sz="1000" dirty="0">
                <a:solidFill>
                  <a:schemeClr val="bg1"/>
                </a:solidFill>
              </a:rPr>
              <a:t>(</a:t>
            </a:r>
            <a:r>
              <a:rPr lang="ko-KR" altLang="en-US" sz="1000" dirty="0">
                <a:solidFill>
                  <a:schemeClr val="bg1"/>
                </a:solidFill>
              </a:rPr>
              <a:t>각론</a:t>
            </a:r>
            <a:r>
              <a:rPr lang="en-US" altLang="ko-KR" sz="1000" dirty="0">
                <a:solidFill>
                  <a:schemeClr val="bg1"/>
                </a:solidFill>
              </a:rPr>
              <a:t>)</a:t>
            </a:r>
            <a:endParaRPr lang="ko-KR" altLang="en-US" sz="1000" dirty="0">
              <a:solidFill>
                <a:schemeClr val="bg1"/>
              </a:solidFill>
            </a:endParaRPr>
          </a:p>
        </p:txBody>
      </p:sp>
      <p:sp>
        <p:nvSpPr>
          <p:cNvPr id="207" name="직사각형 206"/>
          <p:cNvSpPr/>
          <p:nvPr/>
        </p:nvSpPr>
        <p:spPr>
          <a:xfrm>
            <a:off x="8500191" y="131308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a:t>주체</a:t>
            </a:r>
            <a:endParaRPr lang="ko-KR" altLang="en-US" sz="1000" dirty="0"/>
          </a:p>
        </p:txBody>
      </p:sp>
      <p:sp>
        <p:nvSpPr>
          <p:cNvPr id="208" name="직사각형 207"/>
          <p:cNvSpPr/>
          <p:nvPr/>
        </p:nvSpPr>
        <p:spPr>
          <a:xfrm>
            <a:off x="8500191" y="180459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청구</a:t>
            </a:r>
          </a:p>
        </p:txBody>
      </p:sp>
      <p:sp>
        <p:nvSpPr>
          <p:cNvPr id="209" name="직사각형 208"/>
          <p:cNvSpPr/>
          <p:nvPr/>
        </p:nvSpPr>
        <p:spPr>
          <a:xfrm>
            <a:off x="8500191" y="2449052"/>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진행</a:t>
            </a:r>
          </a:p>
        </p:txBody>
      </p:sp>
      <p:sp>
        <p:nvSpPr>
          <p:cNvPr id="210" name="직사각형 209"/>
          <p:cNvSpPr/>
          <p:nvPr/>
        </p:nvSpPr>
        <p:spPr>
          <a:xfrm>
            <a:off x="8500191" y="2977875"/>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종료</a:t>
            </a:r>
          </a:p>
        </p:txBody>
      </p:sp>
      <p:sp>
        <p:nvSpPr>
          <p:cNvPr id="211" name="직사각형 210"/>
          <p:cNvSpPr/>
          <p:nvPr/>
        </p:nvSpPr>
        <p:spPr>
          <a:xfrm>
            <a:off x="9363869" y="8056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심판원</a:t>
            </a:r>
            <a:r>
              <a:rPr lang="en-US" altLang="ko-KR" sz="1000" dirty="0"/>
              <a:t>(</a:t>
            </a:r>
            <a:r>
              <a:rPr lang="ko-KR" altLang="en-US" sz="1000" dirty="0"/>
              <a:t>法 </a:t>
            </a:r>
            <a:r>
              <a:rPr lang="en-US" altLang="ko-KR" sz="1000" dirty="0"/>
              <a:t>132</a:t>
            </a:r>
            <a:r>
              <a:rPr lang="ko-KR" altLang="en-US" sz="1000" dirty="0"/>
              <a:t>의</a:t>
            </a:r>
            <a:r>
              <a:rPr lang="en-US" altLang="ko-KR" sz="1000" dirty="0"/>
              <a:t>16, 143~153</a:t>
            </a:r>
            <a:r>
              <a:rPr lang="ko-KR" altLang="en-US" sz="1000" dirty="0"/>
              <a:t>의</a:t>
            </a:r>
            <a:r>
              <a:rPr lang="en-US" altLang="ko-KR" sz="1000" dirty="0"/>
              <a:t>2)</a:t>
            </a:r>
            <a:endParaRPr lang="ko-KR" altLang="en-US" sz="1000" dirty="0"/>
          </a:p>
        </p:txBody>
      </p:sp>
      <p:sp>
        <p:nvSpPr>
          <p:cNvPr id="212" name="직사각형 211"/>
          <p:cNvSpPr/>
          <p:nvPr/>
        </p:nvSpPr>
        <p:spPr>
          <a:xfrm>
            <a:off x="9363869" y="9962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당사자</a:t>
            </a:r>
            <a:r>
              <a:rPr lang="en-US" altLang="ko-KR" sz="1000" dirty="0"/>
              <a:t>(</a:t>
            </a:r>
            <a:r>
              <a:rPr lang="ko-KR" altLang="en-US" sz="1000" dirty="0"/>
              <a:t>法 </a:t>
            </a:r>
            <a:r>
              <a:rPr lang="en-US" altLang="ko-KR" sz="1000" dirty="0"/>
              <a:t>139)</a:t>
            </a:r>
            <a:endParaRPr lang="ko-KR" altLang="en-US" sz="1000" dirty="0"/>
          </a:p>
        </p:txBody>
      </p:sp>
      <p:sp>
        <p:nvSpPr>
          <p:cNvPr id="213" name="직사각형 212"/>
          <p:cNvSpPr/>
          <p:nvPr/>
        </p:nvSpPr>
        <p:spPr>
          <a:xfrm>
            <a:off x="9363869" y="118351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참가인</a:t>
            </a:r>
            <a:r>
              <a:rPr lang="en-US" altLang="ko-KR" sz="1000" dirty="0"/>
              <a:t>(</a:t>
            </a:r>
            <a:r>
              <a:rPr lang="ko-KR" altLang="en-US" sz="1000" dirty="0"/>
              <a:t>法 </a:t>
            </a:r>
            <a:r>
              <a:rPr lang="en-US" altLang="ko-KR" sz="1000" dirty="0"/>
              <a:t>155, 156)</a:t>
            </a:r>
            <a:endParaRPr lang="ko-KR" altLang="en-US" sz="1000" dirty="0"/>
          </a:p>
        </p:txBody>
      </p:sp>
      <p:sp>
        <p:nvSpPr>
          <p:cNvPr id="214" name="직사각형 213"/>
          <p:cNvSpPr/>
          <p:nvPr/>
        </p:nvSpPr>
        <p:spPr>
          <a:xfrm>
            <a:off x="9363869" y="1703773"/>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청구</a:t>
            </a:r>
            <a:r>
              <a:rPr lang="en-US" altLang="ko-KR" sz="1000" dirty="0"/>
              <a:t>(</a:t>
            </a:r>
            <a:r>
              <a:rPr lang="ko-KR" altLang="en-US" sz="1000" dirty="0"/>
              <a:t>法 </a:t>
            </a:r>
            <a:r>
              <a:rPr lang="en-US" altLang="ko-KR" sz="1000" dirty="0"/>
              <a:t>140, 140</a:t>
            </a:r>
            <a:r>
              <a:rPr lang="ko-KR" altLang="en-US" sz="1000" dirty="0"/>
              <a:t>의</a:t>
            </a:r>
            <a:r>
              <a:rPr lang="en-US" altLang="ko-KR" sz="1000" dirty="0"/>
              <a:t>2)</a:t>
            </a:r>
            <a:endParaRPr lang="ko-KR" altLang="en-US" sz="1000" dirty="0"/>
          </a:p>
        </p:txBody>
      </p:sp>
      <p:sp>
        <p:nvSpPr>
          <p:cNvPr id="215" name="직사각형 214"/>
          <p:cNvSpPr/>
          <p:nvPr/>
        </p:nvSpPr>
        <p:spPr>
          <a:xfrm>
            <a:off x="9363869" y="18943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심판청구서의 보정</a:t>
            </a:r>
            <a:r>
              <a:rPr lang="en-US" altLang="ko-KR" sz="1000" dirty="0"/>
              <a:t>(</a:t>
            </a:r>
            <a:r>
              <a:rPr lang="ko-KR" altLang="en-US" sz="1000" dirty="0"/>
              <a:t>法 </a:t>
            </a:r>
            <a:r>
              <a:rPr lang="en-US" altLang="ko-KR" sz="1000" dirty="0"/>
              <a:t>140②, 140</a:t>
            </a:r>
            <a:r>
              <a:rPr lang="ko-KR" altLang="en-US" sz="1000" dirty="0"/>
              <a:t>의</a:t>
            </a:r>
            <a:r>
              <a:rPr lang="en-US" altLang="ko-KR" sz="1000" dirty="0"/>
              <a:t>2②)</a:t>
            </a:r>
          </a:p>
        </p:txBody>
      </p:sp>
      <p:sp>
        <p:nvSpPr>
          <p:cNvPr id="216" name="직사각형 215"/>
          <p:cNvSpPr/>
          <p:nvPr/>
        </p:nvSpPr>
        <p:spPr>
          <a:xfrm>
            <a:off x="9363869" y="22698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방식심리</a:t>
            </a:r>
            <a:r>
              <a:rPr lang="en-US" altLang="ko-KR" sz="1000" dirty="0"/>
              <a:t>(</a:t>
            </a:r>
            <a:r>
              <a:rPr lang="ko-KR" altLang="en-US" sz="1000" dirty="0"/>
              <a:t>法 </a:t>
            </a:r>
            <a:r>
              <a:rPr lang="en-US" altLang="ko-KR" sz="1000" dirty="0"/>
              <a:t>141)</a:t>
            </a:r>
            <a:endParaRPr lang="ko-KR" altLang="en-US" sz="1000" dirty="0"/>
          </a:p>
        </p:txBody>
      </p:sp>
      <p:sp>
        <p:nvSpPr>
          <p:cNvPr id="217" name="직사각형 216"/>
          <p:cNvSpPr/>
          <p:nvPr/>
        </p:nvSpPr>
        <p:spPr>
          <a:xfrm>
            <a:off x="9363869" y="245801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적법성 심리</a:t>
            </a:r>
            <a:r>
              <a:rPr lang="en-US" altLang="ko-KR" sz="1000" dirty="0"/>
              <a:t>(</a:t>
            </a:r>
            <a:r>
              <a:rPr lang="ko-KR" altLang="en-US" sz="1000" dirty="0"/>
              <a:t>法 </a:t>
            </a:r>
            <a:r>
              <a:rPr lang="en-US" altLang="ko-KR" sz="1000" dirty="0"/>
              <a:t>142)</a:t>
            </a:r>
            <a:endParaRPr lang="ko-KR" altLang="en-US" sz="1000" dirty="0"/>
          </a:p>
        </p:txBody>
      </p:sp>
      <p:sp>
        <p:nvSpPr>
          <p:cNvPr id="218" name="직사각형 217"/>
          <p:cNvSpPr/>
          <p:nvPr/>
        </p:nvSpPr>
        <p:spPr>
          <a:xfrm>
            <a:off x="9363869" y="264666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본안심리</a:t>
            </a:r>
            <a:r>
              <a:rPr lang="en-US" altLang="ko-KR" sz="1000" dirty="0"/>
              <a:t>(</a:t>
            </a:r>
            <a:r>
              <a:rPr lang="ko-KR" altLang="en-US" sz="1000" dirty="0"/>
              <a:t>法 </a:t>
            </a:r>
            <a:r>
              <a:rPr lang="en-US" altLang="ko-KR" sz="1000" dirty="0"/>
              <a:t>154, 157-160)</a:t>
            </a:r>
            <a:endParaRPr lang="ko-KR" altLang="en-US" sz="1000" dirty="0"/>
          </a:p>
        </p:txBody>
      </p:sp>
      <p:sp>
        <p:nvSpPr>
          <p:cNvPr id="219" name="직사각형 218"/>
          <p:cNvSpPr/>
          <p:nvPr/>
        </p:nvSpPr>
        <p:spPr>
          <a:xfrm>
            <a:off x="9363869" y="288449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심판청구의 취하</a:t>
            </a:r>
            <a:r>
              <a:rPr lang="en-US" altLang="ko-KR" sz="1000" dirty="0"/>
              <a:t>(</a:t>
            </a:r>
            <a:r>
              <a:rPr lang="ko-KR" altLang="en-US" sz="1000" dirty="0"/>
              <a:t>法 </a:t>
            </a:r>
            <a:r>
              <a:rPr lang="en-US" altLang="ko-KR" sz="1000" dirty="0"/>
              <a:t>161)</a:t>
            </a:r>
            <a:endParaRPr lang="ko-KR" altLang="en-US" sz="1000" dirty="0"/>
          </a:p>
        </p:txBody>
      </p:sp>
      <p:sp>
        <p:nvSpPr>
          <p:cNvPr id="220" name="직사각형 219"/>
          <p:cNvSpPr/>
          <p:nvPr/>
        </p:nvSpPr>
        <p:spPr>
          <a:xfrm>
            <a:off x="9363869" y="307268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심결</a:t>
            </a:r>
            <a:r>
              <a:rPr lang="en-US" altLang="ko-KR" sz="1000" dirty="0"/>
              <a:t>(</a:t>
            </a:r>
            <a:r>
              <a:rPr lang="ko-KR" altLang="en-US" sz="1000" dirty="0"/>
              <a:t>法 </a:t>
            </a:r>
            <a:r>
              <a:rPr lang="en-US" altLang="ko-KR" sz="1000" dirty="0"/>
              <a:t>162, 163)</a:t>
            </a:r>
            <a:endParaRPr lang="ko-KR" altLang="en-US" sz="1000" dirty="0"/>
          </a:p>
        </p:txBody>
      </p:sp>
      <p:sp>
        <p:nvSpPr>
          <p:cNvPr id="221" name="직사각형 220"/>
          <p:cNvSpPr/>
          <p:nvPr/>
        </p:nvSpPr>
        <p:spPr>
          <a:xfrm>
            <a:off x="8500191" y="4104276"/>
            <a:ext cx="710030" cy="171015"/>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결정계</a:t>
            </a:r>
            <a:r>
              <a:rPr lang="ko-KR" altLang="en-US" sz="1000" dirty="0"/>
              <a:t> 심판</a:t>
            </a:r>
          </a:p>
        </p:txBody>
      </p:sp>
      <p:sp>
        <p:nvSpPr>
          <p:cNvPr id="222" name="직사각형 221"/>
          <p:cNvSpPr/>
          <p:nvPr/>
        </p:nvSpPr>
        <p:spPr>
          <a:xfrm>
            <a:off x="8500191" y="4475324"/>
            <a:ext cx="710030" cy="364286"/>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당사자계 </a:t>
            </a:r>
            <a:endParaRPr lang="en-US" altLang="ko-KR" sz="1000" dirty="0"/>
          </a:p>
          <a:p>
            <a:pPr algn="ctr"/>
            <a:r>
              <a:rPr lang="ko-KR" altLang="en-US" sz="1000" dirty="0"/>
              <a:t>심판</a:t>
            </a:r>
          </a:p>
        </p:txBody>
      </p:sp>
      <p:sp>
        <p:nvSpPr>
          <p:cNvPr id="223" name="직사각형 222"/>
          <p:cNvSpPr/>
          <p:nvPr/>
        </p:nvSpPr>
        <p:spPr>
          <a:xfrm>
            <a:off x="8500189" y="5251229"/>
            <a:ext cx="1308145"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재심</a:t>
            </a:r>
            <a:r>
              <a:rPr lang="en-US" altLang="ko-KR" sz="1000" dirty="0"/>
              <a:t>(</a:t>
            </a:r>
            <a:r>
              <a:rPr lang="ko-KR" altLang="en-US" sz="1000" dirty="0"/>
              <a:t>法 </a:t>
            </a:r>
            <a:r>
              <a:rPr lang="en-US" altLang="ko-KR" sz="1000" dirty="0"/>
              <a:t>178~185)</a:t>
            </a:r>
            <a:endParaRPr lang="ko-KR" altLang="en-US" sz="1000" dirty="0"/>
          </a:p>
        </p:txBody>
      </p:sp>
      <p:sp>
        <p:nvSpPr>
          <p:cNvPr id="224" name="직사각형 223"/>
          <p:cNvSpPr/>
          <p:nvPr/>
        </p:nvSpPr>
        <p:spPr>
          <a:xfrm>
            <a:off x="9363869" y="401219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거절결정불복심판</a:t>
            </a:r>
            <a:r>
              <a:rPr lang="en-US" altLang="ko-KR" sz="900" dirty="0"/>
              <a:t>(</a:t>
            </a:r>
            <a:r>
              <a:rPr lang="ko-KR" altLang="en-US" sz="900" dirty="0"/>
              <a:t>法 </a:t>
            </a:r>
            <a:r>
              <a:rPr lang="en-US" altLang="ko-KR" sz="900" dirty="0"/>
              <a:t>132</a:t>
            </a:r>
            <a:r>
              <a:rPr lang="ko-KR" altLang="en-US" sz="900" dirty="0"/>
              <a:t>의</a:t>
            </a:r>
            <a:r>
              <a:rPr lang="en-US" altLang="ko-KR" sz="900" dirty="0"/>
              <a:t>17, 170~172, 176)</a:t>
            </a:r>
            <a:endParaRPr lang="ko-KR" altLang="en-US" sz="900" dirty="0"/>
          </a:p>
        </p:txBody>
      </p:sp>
      <p:sp>
        <p:nvSpPr>
          <p:cNvPr id="225" name="직사각형 224"/>
          <p:cNvSpPr/>
          <p:nvPr/>
        </p:nvSpPr>
        <p:spPr>
          <a:xfrm>
            <a:off x="9363869" y="420277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정정심판</a:t>
            </a:r>
            <a:r>
              <a:rPr lang="en-US" altLang="ko-KR" sz="1000" dirty="0"/>
              <a:t>(</a:t>
            </a:r>
            <a:r>
              <a:rPr lang="ko-KR" altLang="en-US" sz="1000" dirty="0"/>
              <a:t>法 </a:t>
            </a:r>
            <a:r>
              <a:rPr lang="en-US" altLang="ko-KR" sz="1000" dirty="0"/>
              <a:t>136)</a:t>
            </a:r>
            <a:endParaRPr lang="ko-KR" altLang="en-US" sz="1000" dirty="0"/>
          </a:p>
        </p:txBody>
      </p:sp>
      <p:sp>
        <p:nvSpPr>
          <p:cNvPr id="226" name="직사각형 225"/>
          <p:cNvSpPr/>
          <p:nvPr/>
        </p:nvSpPr>
        <p:spPr>
          <a:xfrm>
            <a:off x="9363869" y="438375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무효심판</a:t>
            </a:r>
            <a:r>
              <a:rPr lang="en-US" altLang="ko-KR" sz="1000" dirty="0"/>
              <a:t>(</a:t>
            </a:r>
            <a:r>
              <a:rPr lang="ko-KR" altLang="en-US" sz="1000" dirty="0"/>
              <a:t>法 </a:t>
            </a:r>
            <a:r>
              <a:rPr lang="en-US" altLang="ko-KR" sz="1000" dirty="0"/>
              <a:t>133, 134, 137)</a:t>
            </a:r>
            <a:endParaRPr lang="ko-KR" altLang="en-US" sz="1000" dirty="0"/>
          </a:p>
        </p:txBody>
      </p:sp>
      <p:sp>
        <p:nvSpPr>
          <p:cNvPr id="227" name="직사각형 226"/>
          <p:cNvSpPr/>
          <p:nvPr/>
        </p:nvSpPr>
        <p:spPr>
          <a:xfrm>
            <a:off x="9363869" y="457975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권리범위확인심판</a:t>
            </a:r>
            <a:r>
              <a:rPr lang="en-US" altLang="ko-KR" sz="1000" dirty="0"/>
              <a:t>(</a:t>
            </a:r>
            <a:r>
              <a:rPr lang="ko-KR" altLang="en-US" sz="1000" dirty="0"/>
              <a:t>法 </a:t>
            </a:r>
            <a:r>
              <a:rPr lang="en-US" altLang="ko-KR" sz="1000" dirty="0"/>
              <a:t>135)</a:t>
            </a:r>
            <a:endParaRPr lang="ko-KR" altLang="en-US" sz="1000" dirty="0"/>
          </a:p>
        </p:txBody>
      </p:sp>
      <p:sp>
        <p:nvSpPr>
          <p:cNvPr id="228" name="직사각형 227"/>
          <p:cNvSpPr/>
          <p:nvPr/>
        </p:nvSpPr>
        <p:spPr>
          <a:xfrm>
            <a:off x="9363869" y="477033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통상실시권허락심판</a:t>
            </a:r>
            <a:r>
              <a:rPr lang="en-US" altLang="ko-KR" sz="1000" dirty="0"/>
              <a:t>(</a:t>
            </a:r>
            <a:r>
              <a:rPr lang="ko-KR" altLang="en-US" sz="1000" dirty="0"/>
              <a:t>法 </a:t>
            </a:r>
            <a:r>
              <a:rPr lang="en-US" altLang="ko-KR" sz="1000" dirty="0"/>
              <a:t>138)</a:t>
            </a:r>
            <a:endParaRPr lang="ko-KR" altLang="en-US" sz="1000" dirty="0"/>
          </a:p>
        </p:txBody>
      </p:sp>
      <p:cxnSp>
        <p:nvCxnSpPr>
          <p:cNvPr id="229" name="꺾인 연결선 228"/>
          <p:cNvCxnSpPr>
            <a:stCxn id="205" idx="1"/>
            <a:endCxn id="252" idx="3"/>
          </p:cNvCxnSpPr>
          <p:nvPr/>
        </p:nvCxnSpPr>
        <p:spPr>
          <a:xfrm rot="10800000" flipV="1">
            <a:off x="7557110" y="2489931"/>
            <a:ext cx="223697" cy="347276"/>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꺾인 연결선 229"/>
          <p:cNvCxnSpPr>
            <a:stCxn id="205" idx="3"/>
            <a:endCxn id="207" idx="1"/>
          </p:cNvCxnSpPr>
          <p:nvPr/>
        </p:nvCxnSpPr>
        <p:spPr>
          <a:xfrm flipV="1">
            <a:off x="8336650" y="1398592"/>
            <a:ext cx="163541" cy="10913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꺾인 연결선 230"/>
          <p:cNvCxnSpPr>
            <a:stCxn id="205" idx="3"/>
            <a:endCxn id="210" idx="1"/>
          </p:cNvCxnSpPr>
          <p:nvPr/>
        </p:nvCxnSpPr>
        <p:spPr>
          <a:xfrm>
            <a:off x="8336650" y="2489931"/>
            <a:ext cx="163541" cy="573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꺾인 연결선 231"/>
          <p:cNvCxnSpPr>
            <a:stCxn id="205" idx="3"/>
            <a:endCxn id="208" idx="1"/>
          </p:cNvCxnSpPr>
          <p:nvPr/>
        </p:nvCxnSpPr>
        <p:spPr>
          <a:xfrm flipV="1">
            <a:off x="8336650" y="1890102"/>
            <a:ext cx="163541" cy="5998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3" name="꺾인 연결선 232"/>
          <p:cNvCxnSpPr>
            <a:stCxn id="205" idx="3"/>
            <a:endCxn id="209" idx="1"/>
          </p:cNvCxnSpPr>
          <p:nvPr/>
        </p:nvCxnSpPr>
        <p:spPr>
          <a:xfrm>
            <a:off x="8336650" y="2489931"/>
            <a:ext cx="163541" cy="446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꺾인 연결선 233"/>
          <p:cNvCxnSpPr>
            <a:stCxn id="207" idx="3"/>
            <a:endCxn id="211" idx="1"/>
          </p:cNvCxnSpPr>
          <p:nvPr/>
        </p:nvCxnSpPr>
        <p:spPr>
          <a:xfrm flipV="1">
            <a:off x="9210221" y="874930"/>
            <a:ext cx="153648" cy="52366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5" name="꺾인 연결선 234"/>
          <p:cNvCxnSpPr>
            <a:stCxn id="207" idx="3"/>
            <a:endCxn id="213" idx="1"/>
          </p:cNvCxnSpPr>
          <p:nvPr/>
        </p:nvCxnSpPr>
        <p:spPr>
          <a:xfrm flipV="1">
            <a:off x="9210221" y="1252790"/>
            <a:ext cx="153648" cy="1458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6" name="꺾인 연결선 235"/>
          <p:cNvCxnSpPr>
            <a:cxnSpLocks/>
            <a:stCxn id="207" idx="3"/>
            <a:endCxn id="288" idx="1"/>
          </p:cNvCxnSpPr>
          <p:nvPr/>
        </p:nvCxnSpPr>
        <p:spPr>
          <a:xfrm>
            <a:off x="9210221" y="1398592"/>
            <a:ext cx="148622" cy="1108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7" name="꺾인 연결선 236"/>
          <p:cNvCxnSpPr>
            <a:stCxn id="208" idx="3"/>
            <a:endCxn id="214" idx="1"/>
          </p:cNvCxnSpPr>
          <p:nvPr/>
        </p:nvCxnSpPr>
        <p:spPr>
          <a:xfrm flipV="1">
            <a:off x="9210221" y="1773052"/>
            <a:ext cx="153648" cy="1170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8" name="꺾인 연결선 237"/>
          <p:cNvCxnSpPr>
            <a:stCxn id="208" idx="3"/>
            <a:endCxn id="215" idx="1"/>
          </p:cNvCxnSpPr>
          <p:nvPr/>
        </p:nvCxnSpPr>
        <p:spPr>
          <a:xfrm>
            <a:off x="9210221" y="1890102"/>
            <a:ext cx="153648" cy="735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9" name="꺾인 연결선 238"/>
          <p:cNvCxnSpPr>
            <a:stCxn id="209" idx="3"/>
            <a:endCxn id="216" idx="1"/>
          </p:cNvCxnSpPr>
          <p:nvPr/>
        </p:nvCxnSpPr>
        <p:spPr>
          <a:xfrm flipV="1">
            <a:off x="9210221" y="2339108"/>
            <a:ext cx="153648" cy="195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0" name="꺾인 연결선 239"/>
          <p:cNvCxnSpPr>
            <a:stCxn id="209" idx="3"/>
            <a:endCxn id="218" idx="1"/>
          </p:cNvCxnSpPr>
          <p:nvPr/>
        </p:nvCxnSpPr>
        <p:spPr>
          <a:xfrm>
            <a:off x="9210221" y="2534560"/>
            <a:ext cx="153648" cy="18138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1" name="꺾인 연결선 240"/>
          <p:cNvCxnSpPr>
            <a:stCxn id="209" idx="3"/>
            <a:endCxn id="217" idx="1"/>
          </p:cNvCxnSpPr>
          <p:nvPr/>
        </p:nvCxnSpPr>
        <p:spPr>
          <a:xfrm flipV="1">
            <a:off x="9210221" y="2527293"/>
            <a:ext cx="153648" cy="72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꺾인 연결선 241"/>
          <p:cNvCxnSpPr>
            <a:stCxn id="221" idx="1"/>
            <a:endCxn id="206" idx="3"/>
          </p:cNvCxnSpPr>
          <p:nvPr/>
        </p:nvCxnSpPr>
        <p:spPr>
          <a:xfrm rot="10800000" flipV="1">
            <a:off x="8336651" y="4189783"/>
            <a:ext cx="163541" cy="2788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3" name="꺾인 연결선 242"/>
          <p:cNvCxnSpPr>
            <a:stCxn id="206" idx="3"/>
            <a:endCxn id="223" idx="1"/>
          </p:cNvCxnSpPr>
          <p:nvPr/>
        </p:nvCxnSpPr>
        <p:spPr>
          <a:xfrm>
            <a:off x="8336650" y="4468595"/>
            <a:ext cx="163539" cy="86197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4" name="꺾인 연결선 243"/>
          <p:cNvCxnSpPr>
            <a:stCxn id="206" idx="3"/>
            <a:endCxn id="222" idx="1"/>
          </p:cNvCxnSpPr>
          <p:nvPr/>
        </p:nvCxnSpPr>
        <p:spPr>
          <a:xfrm>
            <a:off x="8336650" y="4468595"/>
            <a:ext cx="163541" cy="1888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꺾인 연결선 244"/>
          <p:cNvCxnSpPr>
            <a:stCxn id="210" idx="3"/>
            <a:endCxn id="219" idx="1"/>
          </p:cNvCxnSpPr>
          <p:nvPr/>
        </p:nvCxnSpPr>
        <p:spPr>
          <a:xfrm flipV="1">
            <a:off x="9210221" y="2953778"/>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꺾인 연결선 245"/>
          <p:cNvCxnSpPr>
            <a:stCxn id="210" idx="3"/>
            <a:endCxn id="220" idx="1"/>
          </p:cNvCxnSpPr>
          <p:nvPr/>
        </p:nvCxnSpPr>
        <p:spPr>
          <a:xfrm>
            <a:off x="9210221" y="3063383"/>
            <a:ext cx="153648" cy="7858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7" name="꺾인 연결선 246"/>
          <p:cNvCxnSpPr>
            <a:stCxn id="221" idx="3"/>
            <a:endCxn id="224" idx="1"/>
          </p:cNvCxnSpPr>
          <p:nvPr/>
        </p:nvCxnSpPr>
        <p:spPr>
          <a:xfrm flipV="1">
            <a:off x="9210221" y="4081472"/>
            <a:ext cx="153648" cy="1083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8" name="꺾인 연결선 247"/>
          <p:cNvCxnSpPr>
            <a:stCxn id="221" idx="3"/>
            <a:endCxn id="225" idx="1"/>
          </p:cNvCxnSpPr>
          <p:nvPr/>
        </p:nvCxnSpPr>
        <p:spPr>
          <a:xfrm>
            <a:off x="9210221" y="4189784"/>
            <a:ext cx="153648" cy="8226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9" name="꺾인 연결선 248"/>
          <p:cNvCxnSpPr>
            <a:stCxn id="222" idx="3"/>
            <a:endCxn id="226" idx="1"/>
          </p:cNvCxnSpPr>
          <p:nvPr/>
        </p:nvCxnSpPr>
        <p:spPr>
          <a:xfrm flipV="1">
            <a:off x="9210221" y="4453030"/>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0" name="꺾인 연결선 249"/>
          <p:cNvCxnSpPr>
            <a:stCxn id="222" idx="3"/>
            <a:endCxn id="227" idx="1"/>
          </p:cNvCxnSpPr>
          <p:nvPr/>
        </p:nvCxnSpPr>
        <p:spPr>
          <a:xfrm flipV="1">
            <a:off x="9210221" y="4649032"/>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1" name="꺾인 연결선 250"/>
          <p:cNvCxnSpPr>
            <a:stCxn id="222" idx="3"/>
            <a:endCxn id="228" idx="1"/>
          </p:cNvCxnSpPr>
          <p:nvPr/>
        </p:nvCxnSpPr>
        <p:spPr>
          <a:xfrm>
            <a:off x="9210221" y="4657467"/>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2" name="직사각형 251"/>
          <p:cNvSpPr/>
          <p:nvPr/>
        </p:nvSpPr>
        <p:spPr>
          <a:xfrm>
            <a:off x="7136327" y="2620124"/>
            <a:ext cx="420782" cy="434166"/>
          </a:xfrm>
          <a:prstGeom prst="rect">
            <a:avLst/>
          </a:prstGeom>
          <a:solidFill>
            <a:schemeClr val="accent5"/>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200" dirty="0">
                <a:solidFill>
                  <a:schemeClr val="bg1"/>
                </a:solidFill>
              </a:rPr>
              <a:t>심판</a:t>
            </a:r>
            <a:endParaRPr lang="en-US" altLang="ko-KR" sz="1200" dirty="0">
              <a:solidFill>
                <a:schemeClr val="bg1"/>
              </a:solidFill>
            </a:endParaRPr>
          </a:p>
          <a:p>
            <a:pPr algn="ctr"/>
            <a:r>
              <a:rPr lang="ko-KR" altLang="en-US" sz="1200" dirty="0">
                <a:solidFill>
                  <a:schemeClr val="bg1"/>
                </a:solidFill>
              </a:rPr>
              <a:t>제도</a:t>
            </a:r>
          </a:p>
        </p:txBody>
      </p:sp>
      <p:cxnSp>
        <p:nvCxnSpPr>
          <p:cNvPr id="253" name="꺾인 연결선 252"/>
          <p:cNvCxnSpPr>
            <a:stCxn id="252" idx="3"/>
            <a:endCxn id="206" idx="1"/>
          </p:cNvCxnSpPr>
          <p:nvPr/>
        </p:nvCxnSpPr>
        <p:spPr>
          <a:xfrm>
            <a:off x="7557109" y="2837207"/>
            <a:ext cx="223697" cy="163138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4" name="직사각형 253"/>
          <p:cNvSpPr/>
          <p:nvPr/>
        </p:nvSpPr>
        <p:spPr>
          <a:xfrm>
            <a:off x="8500189" y="5000342"/>
            <a:ext cx="2075729"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특허취소신청</a:t>
            </a:r>
            <a:r>
              <a:rPr lang="en-US" altLang="ko-KR" sz="1000" dirty="0"/>
              <a:t>(</a:t>
            </a:r>
            <a:r>
              <a:rPr lang="ko-KR" altLang="en-US" sz="1000" dirty="0"/>
              <a:t>法 </a:t>
            </a:r>
            <a:r>
              <a:rPr lang="en-US" altLang="ko-KR" sz="1000" dirty="0"/>
              <a:t>132</a:t>
            </a:r>
            <a:r>
              <a:rPr lang="ko-KR" altLang="en-US" sz="1000" dirty="0"/>
              <a:t>의</a:t>
            </a:r>
            <a:r>
              <a:rPr lang="en-US" altLang="ko-KR" sz="1000" dirty="0"/>
              <a:t>2~132</a:t>
            </a:r>
            <a:r>
              <a:rPr lang="ko-KR" altLang="en-US" sz="1000" dirty="0"/>
              <a:t>의</a:t>
            </a:r>
            <a:r>
              <a:rPr lang="en-US" altLang="ko-KR" sz="1000" dirty="0"/>
              <a:t>15)</a:t>
            </a:r>
            <a:endParaRPr lang="ko-KR" altLang="en-US" sz="1000" dirty="0"/>
          </a:p>
        </p:txBody>
      </p:sp>
      <p:cxnSp>
        <p:nvCxnSpPr>
          <p:cNvPr id="255" name="꺾인 연결선 254"/>
          <p:cNvCxnSpPr>
            <a:stCxn id="206" idx="3"/>
            <a:endCxn id="254" idx="1"/>
          </p:cNvCxnSpPr>
          <p:nvPr/>
        </p:nvCxnSpPr>
        <p:spPr>
          <a:xfrm>
            <a:off x="8336650" y="4468595"/>
            <a:ext cx="163539" cy="6110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6" name="직사각형 255"/>
          <p:cNvSpPr/>
          <p:nvPr/>
        </p:nvSpPr>
        <p:spPr>
          <a:xfrm>
            <a:off x="9363869" y="2079620"/>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중복심판청구금지</a:t>
            </a:r>
            <a:r>
              <a:rPr lang="en-US" altLang="ko-KR" sz="1000" dirty="0"/>
              <a:t>(</a:t>
            </a:r>
            <a:r>
              <a:rPr lang="ko-KR" altLang="en-US" sz="1000" dirty="0"/>
              <a:t>法 </a:t>
            </a:r>
            <a:r>
              <a:rPr lang="en-US" altLang="ko-KR" sz="1000" dirty="0"/>
              <a:t>154⑧ </a:t>
            </a:r>
            <a:r>
              <a:rPr lang="ko-KR" altLang="en-US" sz="1000" dirty="0"/>
              <a:t>준용</a:t>
            </a:r>
            <a:r>
              <a:rPr lang="en-US" altLang="ko-KR" sz="1000" dirty="0"/>
              <a:t> </a:t>
            </a:r>
            <a:r>
              <a:rPr lang="ko-KR" altLang="en-US" sz="1000" dirty="0"/>
              <a:t>민소</a:t>
            </a:r>
            <a:r>
              <a:rPr lang="en-US" altLang="ko-KR" sz="1000" dirty="0"/>
              <a:t>259)</a:t>
            </a:r>
          </a:p>
        </p:txBody>
      </p:sp>
      <p:sp>
        <p:nvSpPr>
          <p:cNvPr id="257" name="직사각형 256"/>
          <p:cNvSpPr/>
          <p:nvPr/>
        </p:nvSpPr>
        <p:spPr>
          <a:xfrm>
            <a:off x="8237008" y="5752000"/>
            <a:ext cx="420212"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en-US" altLang="ko-KR" sz="1200" dirty="0">
                <a:solidFill>
                  <a:schemeClr val="bg1"/>
                </a:solidFill>
              </a:rPr>
              <a:t>PCT</a:t>
            </a:r>
            <a:endParaRPr lang="ko-KR" altLang="en-US" sz="1200" dirty="0">
              <a:solidFill>
                <a:schemeClr val="bg1"/>
              </a:solidFill>
            </a:endParaRPr>
          </a:p>
        </p:txBody>
      </p:sp>
      <p:sp>
        <p:nvSpPr>
          <p:cNvPr id="258" name="직사각형 257"/>
          <p:cNvSpPr/>
          <p:nvPr/>
        </p:nvSpPr>
        <p:spPr>
          <a:xfrm>
            <a:off x="8810868" y="566042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특허출원절차</a:t>
            </a:r>
            <a:r>
              <a:rPr lang="en-US" altLang="ko-KR" sz="1000" dirty="0"/>
              <a:t>(</a:t>
            </a:r>
            <a:r>
              <a:rPr lang="ko-KR" altLang="en-US" sz="1000" dirty="0"/>
              <a:t>法 </a:t>
            </a:r>
            <a:r>
              <a:rPr lang="en-US" altLang="ko-KR" sz="1000" dirty="0"/>
              <a:t>192~198)</a:t>
            </a:r>
            <a:endParaRPr lang="ko-KR" altLang="en-US" sz="1000" dirty="0"/>
          </a:p>
        </p:txBody>
      </p:sp>
      <p:sp>
        <p:nvSpPr>
          <p:cNvPr id="259" name="직사각형 258"/>
          <p:cNvSpPr/>
          <p:nvPr/>
        </p:nvSpPr>
        <p:spPr>
          <a:xfrm>
            <a:off x="8810868" y="5856429"/>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국제조사 및 국제예비심사</a:t>
            </a:r>
            <a:r>
              <a:rPr lang="en-US" altLang="ko-KR" sz="1000" dirty="0"/>
              <a:t>(</a:t>
            </a:r>
            <a:r>
              <a:rPr lang="ko-KR" altLang="en-US" sz="1000" dirty="0"/>
              <a:t>法 </a:t>
            </a:r>
            <a:r>
              <a:rPr lang="en-US" altLang="ko-KR" sz="1000" dirty="0"/>
              <a:t>198</a:t>
            </a:r>
            <a:r>
              <a:rPr lang="ko-KR" altLang="en-US" sz="1000" dirty="0"/>
              <a:t>의</a:t>
            </a:r>
            <a:r>
              <a:rPr lang="en-US" altLang="ko-KR" sz="1000" dirty="0"/>
              <a:t>2)</a:t>
            </a:r>
            <a:endParaRPr lang="ko-KR" altLang="en-US" sz="1000" dirty="0"/>
          </a:p>
        </p:txBody>
      </p:sp>
      <p:sp>
        <p:nvSpPr>
          <p:cNvPr id="260" name="직사각형 259"/>
          <p:cNvSpPr/>
          <p:nvPr/>
        </p:nvSpPr>
        <p:spPr>
          <a:xfrm>
            <a:off x="8810868" y="604700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국제특허출원에 관한 특례</a:t>
            </a:r>
            <a:r>
              <a:rPr lang="en-US" altLang="ko-KR" sz="1000" dirty="0"/>
              <a:t>(</a:t>
            </a:r>
            <a:r>
              <a:rPr lang="ko-KR" altLang="en-US" sz="1000" dirty="0"/>
              <a:t>法 </a:t>
            </a:r>
            <a:r>
              <a:rPr lang="en-US" altLang="ko-KR" sz="1000" dirty="0"/>
              <a:t>199~214)</a:t>
            </a:r>
            <a:endParaRPr lang="ko-KR" altLang="en-US" sz="1000" dirty="0"/>
          </a:p>
        </p:txBody>
      </p:sp>
      <p:cxnSp>
        <p:nvCxnSpPr>
          <p:cNvPr id="261" name="꺾인 연결선 260"/>
          <p:cNvCxnSpPr>
            <a:stCxn id="257" idx="3"/>
            <a:endCxn id="258" idx="1"/>
          </p:cNvCxnSpPr>
          <p:nvPr/>
        </p:nvCxnSpPr>
        <p:spPr>
          <a:xfrm flipV="1">
            <a:off x="8657220" y="5729706"/>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꺾인 연결선 261"/>
          <p:cNvCxnSpPr>
            <a:stCxn id="257" idx="3"/>
            <a:endCxn id="259" idx="1"/>
          </p:cNvCxnSpPr>
          <p:nvPr/>
        </p:nvCxnSpPr>
        <p:spPr>
          <a:xfrm flipV="1">
            <a:off x="8657220" y="5925708"/>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꺾인 연결선 262"/>
          <p:cNvCxnSpPr>
            <a:stCxn id="257" idx="3"/>
            <a:endCxn id="260" idx="1"/>
          </p:cNvCxnSpPr>
          <p:nvPr/>
        </p:nvCxnSpPr>
        <p:spPr>
          <a:xfrm>
            <a:off x="8657220" y="5934143"/>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꺾인 연결선 263"/>
          <p:cNvCxnSpPr>
            <a:stCxn id="273" idx="3"/>
            <a:endCxn id="295" idx="1"/>
          </p:cNvCxnSpPr>
          <p:nvPr/>
        </p:nvCxnSpPr>
        <p:spPr>
          <a:xfrm flipV="1">
            <a:off x="4278775" y="4164703"/>
            <a:ext cx="168733" cy="44072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5" name="꺾인 연결선 264"/>
          <p:cNvCxnSpPr>
            <a:stCxn id="273" idx="3"/>
            <a:endCxn id="296" idx="1"/>
          </p:cNvCxnSpPr>
          <p:nvPr/>
        </p:nvCxnSpPr>
        <p:spPr>
          <a:xfrm flipV="1">
            <a:off x="4278775" y="4328505"/>
            <a:ext cx="168733" cy="27692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6" name="직사각형 265"/>
          <p:cNvSpPr/>
          <p:nvPr/>
        </p:nvSpPr>
        <p:spPr>
          <a:xfrm>
            <a:off x="612833" y="5324052"/>
            <a:ext cx="355015"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200" dirty="0">
                <a:solidFill>
                  <a:schemeClr val="bg1"/>
                </a:solidFill>
              </a:rPr>
              <a:t>소송</a:t>
            </a:r>
          </a:p>
        </p:txBody>
      </p:sp>
      <p:sp>
        <p:nvSpPr>
          <p:cNvPr id="267" name="직사각형 266"/>
          <p:cNvSpPr/>
          <p:nvPr/>
        </p:nvSpPr>
        <p:spPr>
          <a:xfrm>
            <a:off x="1121497" y="523247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err="1"/>
              <a:t>심결취소소송</a:t>
            </a:r>
            <a:r>
              <a:rPr lang="en-US" altLang="ko-KR" sz="1000" dirty="0"/>
              <a:t>(</a:t>
            </a:r>
            <a:r>
              <a:rPr lang="ko-KR" altLang="en-US" sz="1000" dirty="0"/>
              <a:t>法 </a:t>
            </a:r>
            <a:r>
              <a:rPr lang="en-US" altLang="ko-KR" sz="1000" dirty="0"/>
              <a:t>186~189)</a:t>
            </a:r>
            <a:endParaRPr lang="ko-KR" altLang="en-US" sz="1000" dirty="0"/>
          </a:p>
        </p:txBody>
      </p:sp>
      <p:sp>
        <p:nvSpPr>
          <p:cNvPr id="268" name="직사각형 267"/>
          <p:cNvSpPr/>
          <p:nvPr/>
        </p:nvSpPr>
        <p:spPr>
          <a:xfrm>
            <a:off x="1121497" y="5428481"/>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보상금</a:t>
            </a:r>
            <a:r>
              <a:rPr lang="en-US" altLang="ko-KR" sz="1000" dirty="0"/>
              <a:t>/</a:t>
            </a:r>
            <a:r>
              <a:rPr lang="ko-KR" altLang="en-US" sz="1000" dirty="0"/>
              <a:t>대가에 대한 소송</a:t>
            </a:r>
            <a:r>
              <a:rPr lang="en-US" altLang="ko-KR" sz="1000" dirty="0"/>
              <a:t>(</a:t>
            </a:r>
            <a:r>
              <a:rPr lang="ko-KR" altLang="en-US" sz="1000" dirty="0"/>
              <a:t>法 </a:t>
            </a:r>
            <a:r>
              <a:rPr lang="en-US" altLang="ko-KR" sz="1000" dirty="0"/>
              <a:t>190, 191)</a:t>
            </a:r>
            <a:endParaRPr lang="ko-KR" altLang="en-US" sz="1000" dirty="0"/>
          </a:p>
        </p:txBody>
      </p:sp>
      <p:sp>
        <p:nvSpPr>
          <p:cNvPr id="269" name="직사각형 268"/>
          <p:cNvSpPr/>
          <p:nvPr/>
        </p:nvSpPr>
        <p:spPr>
          <a:xfrm>
            <a:off x="1121497" y="561905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변리사 보수</a:t>
            </a:r>
            <a:r>
              <a:rPr lang="en-US" altLang="ko-KR" sz="1000" dirty="0"/>
              <a:t>(</a:t>
            </a:r>
            <a:r>
              <a:rPr lang="ko-KR" altLang="en-US" sz="1000" dirty="0"/>
              <a:t>法 </a:t>
            </a:r>
            <a:r>
              <a:rPr lang="en-US" altLang="ko-KR" sz="1000" dirty="0"/>
              <a:t>191</a:t>
            </a:r>
            <a:r>
              <a:rPr lang="ko-KR" altLang="en-US" sz="1000" dirty="0"/>
              <a:t>의</a:t>
            </a:r>
            <a:r>
              <a:rPr lang="en-US" altLang="ko-KR" sz="1000" dirty="0"/>
              <a:t>2)</a:t>
            </a:r>
            <a:endParaRPr lang="ko-KR" altLang="en-US" sz="1000" dirty="0"/>
          </a:p>
        </p:txBody>
      </p:sp>
      <p:cxnSp>
        <p:nvCxnSpPr>
          <p:cNvPr id="270" name="꺾인 연결선 269"/>
          <p:cNvCxnSpPr>
            <a:stCxn id="266" idx="3"/>
            <a:endCxn id="267" idx="1"/>
          </p:cNvCxnSpPr>
          <p:nvPr/>
        </p:nvCxnSpPr>
        <p:spPr>
          <a:xfrm flipV="1">
            <a:off x="967848" y="5301758"/>
            <a:ext cx="153649"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1" name="꺾인 연결선 270"/>
          <p:cNvCxnSpPr>
            <a:stCxn id="266" idx="3"/>
            <a:endCxn id="268" idx="1"/>
          </p:cNvCxnSpPr>
          <p:nvPr/>
        </p:nvCxnSpPr>
        <p:spPr>
          <a:xfrm flipV="1">
            <a:off x="967848" y="5497760"/>
            <a:ext cx="153649"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2" name="꺾인 연결선 271"/>
          <p:cNvCxnSpPr>
            <a:stCxn id="266" idx="3"/>
            <a:endCxn id="269" idx="1"/>
          </p:cNvCxnSpPr>
          <p:nvPr/>
        </p:nvCxnSpPr>
        <p:spPr>
          <a:xfrm>
            <a:off x="967848" y="5506195"/>
            <a:ext cx="153649"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3" name="직사각형 272"/>
          <p:cNvSpPr/>
          <p:nvPr/>
        </p:nvSpPr>
        <p:spPr>
          <a:xfrm>
            <a:off x="3609544" y="4480740"/>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accent3">
                    <a:lumMod val="50000"/>
                  </a:schemeClr>
                </a:solidFill>
              </a:rPr>
              <a:t>소송요건</a:t>
            </a:r>
            <a:endParaRPr lang="en-US" altLang="ko-KR" sz="1000" dirty="0">
              <a:solidFill>
                <a:schemeClr val="accent3">
                  <a:lumMod val="50000"/>
                </a:schemeClr>
              </a:solidFill>
            </a:endParaRPr>
          </a:p>
          <a:p>
            <a:pPr algn="ctr"/>
            <a:r>
              <a:rPr lang="en-US" altLang="ko-KR" sz="700" dirty="0">
                <a:solidFill>
                  <a:schemeClr val="accent3">
                    <a:lumMod val="50000"/>
                  </a:schemeClr>
                </a:solidFill>
              </a:rPr>
              <a:t>(</a:t>
            </a:r>
            <a:r>
              <a:rPr lang="ko-KR" altLang="en-US" sz="700" dirty="0">
                <a:solidFill>
                  <a:schemeClr val="accent3">
                    <a:lumMod val="50000"/>
                  </a:schemeClr>
                </a:solidFill>
              </a:rPr>
              <a:t>法 </a:t>
            </a:r>
            <a:r>
              <a:rPr lang="en-US" altLang="ko-KR" sz="700" dirty="0">
                <a:solidFill>
                  <a:schemeClr val="accent3">
                    <a:lumMod val="50000"/>
                  </a:schemeClr>
                </a:solidFill>
              </a:rPr>
              <a:t>186, 187)</a:t>
            </a:r>
            <a:endParaRPr lang="ko-KR" altLang="en-US" sz="700" dirty="0">
              <a:solidFill>
                <a:schemeClr val="accent3">
                  <a:lumMod val="50000"/>
                </a:schemeClr>
              </a:solidFill>
            </a:endParaRPr>
          </a:p>
        </p:txBody>
      </p:sp>
      <p:sp>
        <p:nvSpPr>
          <p:cNvPr id="274" name="직사각형 273"/>
          <p:cNvSpPr/>
          <p:nvPr/>
        </p:nvSpPr>
        <p:spPr>
          <a:xfrm>
            <a:off x="3609544" y="5109654"/>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소송제기</a:t>
            </a:r>
          </a:p>
        </p:txBody>
      </p:sp>
      <p:sp>
        <p:nvSpPr>
          <p:cNvPr id="275" name="직사각형 274"/>
          <p:cNvSpPr/>
          <p:nvPr/>
        </p:nvSpPr>
        <p:spPr>
          <a:xfrm>
            <a:off x="3609544" y="5640678"/>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소송심리</a:t>
            </a:r>
          </a:p>
        </p:txBody>
      </p:sp>
      <p:sp>
        <p:nvSpPr>
          <p:cNvPr id="276" name="직사각형 275"/>
          <p:cNvSpPr/>
          <p:nvPr/>
        </p:nvSpPr>
        <p:spPr>
          <a:xfrm>
            <a:off x="3609544" y="6249551"/>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소송종료</a:t>
            </a:r>
          </a:p>
        </p:txBody>
      </p:sp>
      <p:cxnSp>
        <p:nvCxnSpPr>
          <p:cNvPr id="277" name="꺾인 연결선 276"/>
          <p:cNvCxnSpPr>
            <a:stCxn id="267" idx="3"/>
            <a:endCxn id="273" idx="1"/>
          </p:cNvCxnSpPr>
          <p:nvPr/>
        </p:nvCxnSpPr>
        <p:spPr>
          <a:xfrm flipV="1">
            <a:off x="3454709" y="4605428"/>
            <a:ext cx="154835" cy="696330"/>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꺾인 연결선 277"/>
          <p:cNvCxnSpPr>
            <a:stCxn id="267" idx="3"/>
            <a:endCxn id="276" idx="1"/>
          </p:cNvCxnSpPr>
          <p:nvPr/>
        </p:nvCxnSpPr>
        <p:spPr>
          <a:xfrm>
            <a:off x="3454709" y="5301758"/>
            <a:ext cx="154835" cy="1072481"/>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꺾인 연결선 278"/>
          <p:cNvCxnSpPr>
            <a:stCxn id="267" idx="3"/>
            <a:endCxn id="274" idx="1"/>
          </p:cNvCxnSpPr>
          <p:nvPr/>
        </p:nvCxnSpPr>
        <p:spPr>
          <a:xfrm flipV="1">
            <a:off x="3454709" y="5234342"/>
            <a:ext cx="154835" cy="6741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꺾인 연결선 279"/>
          <p:cNvCxnSpPr>
            <a:stCxn id="267" idx="3"/>
            <a:endCxn id="275" idx="1"/>
          </p:cNvCxnSpPr>
          <p:nvPr/>
        </p:nvCxnSpPr>
        <p:spPr>
          <a:xfrm>
            <a:off x="3454709" y="5301758"/>
            <a:ext cx="154835" cy="46360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꺾인 연결선 280"/>
          <p:cNvCxnSpPr>
            <a:stCxn id="273" idx="3"/>
            <a:endCxn id="297" idx="1"/>
          </p:cNvCxnSpPr>
          <p:nvPr/>
        </p:nvCxnSpPr>
        <p:spPr>
          <a:xfrm flipV="1">
            <a:off x="4278775" y="4489475"/>
            <a:ext cx="168733" cy="1159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꺾인 연결선 281"/>
          <p:cNvCxnSpPr>
            <a:stCxn id="274" idx="3"/>
            <a:endCxn id="298" idx="1"/>
          </p:cNvCxnSpPr>
          <p:nvPr/>
        </p:nvCxnSpPr>
        <p:spPr>
          <a:xfrm flipV="1">
            <a:off x="4278775" y="5070329"/>
            <a:ext cx="168733" cy="16401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꺾인 연결선 282"/>
          <p:cNvCxnSpPr>
            <a:stCxn id="274" idx="3"/>
            <a:endCxn id="299" idx="1"/>
          </p:cNvCxnSpPr>
          <p:nvPr/>
        </p:nvCxnSpPr>
        <p:spPr>
          <a:xfrm flipV="1">
            <a:off x="4278775" y="5234131"/>
            <a:ext cx="168733" cy="2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4" name="꺾인 연결선 283"/>
          <p:cNvCxnSpPr>
            <a:stCxn id="275" idx="3"/>
            <a:endCxn id="300" idx="1"/>
          </p:cNvCxnSpPr>
          <p:nvPr/>
        </p:nvCxnSpPr>
        <p:spPr>
          <a:xfrm flipV="1">
            <a:off x="4278775" y="5762383"/>
            <a:ext cx="168733" cy="298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5" name="꺾인 연결선 284"/>
          <p:cNvCxnSpPr>
            <a:cxnSpLocks/>
            <a:stCxn id="275" idx="3"/>
            <a:endCxn id="301" idx="1"/>
          </p:cNvCxnSpPr>
          <p:nvPr/>
        </p:nvCxnSpPr>
        <p:spPr>
          <a:xfrm>
            <a:off x="4278775" y="5765366"/>
            <a:ext cx="168733" cy="2485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6" name="꺾인 연결선 285"/>
          <p:cNvCxnSpPr>
            <a:stCxn id="276" idx="3"/>
            <a:endCxn id="302" idx="1"/>
          </p:cNvCxnSpPr>
          <p:nvPr/>
        </p:nvCxnSpPr>
        <p:spPr>
          <a:xfrm flipV="1">
            <a:off x="4278775" y="6284664"/>
            <a:ext cx="168733" cy="895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7" name="꺾인 연결선 286"/>
          <p:cNvCxnSpPr>
            <a:cxnSpLocks/>
            <a:stCxn id="276" idx="3"/>
            <a:endCxn id="303" idx="1"/>
          </p:cNvCxnSpPr>
          <p:nvPr/>
        </p:nvCxnSpPr>
        <p:spPr>
          <a:xfrm>
            <a:off x="4278775" y="6374239"/>
            <a:ext cx="168733" cy="1744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9" name="직사각형 288"/>
          <p:cNvSpPr/>
          <p:nvPr/>
        </p:nvSpPr>
        <p:spPr>
          <a:xfrm>
            <a:off x="5954614" y="5228714"/>
            <a:ext cx="1396961" cy="32899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변론주의 원칙</a:t>
            </a:r>
            <a:endParaRPr lang="en-US" altLang="ko-KR" sz="1000" dirty="0"/>
          </a:p>
          <a:p>
            <a:pPr algn="ctr"/>
            <a:r>
              <a:rPr lang="en-US" altLang="ko-KR" sz="1000" dirty="0"/>
              <a:t>(</a:t>
            </a:r>
            <a:r>
              <a:rPr lang="ko-KR" altLang="en-US" sz="1000" dirty="0"/>
              <a:t>직권주의 가미</a:t>
            </a:r>
            <a:r>
              <a:rPr lang="en-US" altLang="ko-KR" sz="1000" dirty="0"/>
              <a:t>)</a:t>
            </a:r>
            <a:endParaRPr lang="ko-KR" altLang="en-US" sz="1000" dirty="0"/>
          </a:p>
        </p:txBody>
      </p:sp>
      <p:sp>
        <p:nvSpPr>
          <p:cNvPr id="290" name="직사각형 289"/>
          <p:cNvSpPr/>
          <p:nvPr/>
        </p:nvSpPr>
        <p:spPr>
          <a:xfrm>
            <a:off x="5954614" y="5591097"/>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위법판단의 기준시점</a:t>
            </a:r>
          </a:p>
        </p:txBody>
      </p:sp>
      <p:sp>
        <p:nvSpPr>
          <p:cNvPr id="291" name="직사각형 290"/>
          <p:cNvSpPr/>
          <p:nvPr/>
        </p:nvSpPr>
        <p:spPr>
          <a:xfrm>
            <a:off x="5954614" y="575324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심리범위</a:t>
            </a:r>
          </a:p>
        </p:txBody>
      </p:sp>
      <p:sp>
        <p:nvSpPr>
          <p:cNvPr id="292" name="직사각형 291"/>
          <p:cNvSpPr/>
          <p:nvPr/>
        </p:nvSpPr>
        <p:spPr>
          <a:xfrm>
            <a:off x="5954614" y="591100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주장증명책임</a:t>
            </a:r>
          </a:p>
        </p:txBody>
      </p:sp>
      <p:sp>
        <p:nvSpPr>
          <p:cNvPr id="293" name="직사각형 292"/>
          <p:cNvSpPr/>
          <p:nvPr/>
        </p:nvSpPr>
        <p:spPr>
          <a:xfrm>
            <a:off x="5954614" y="6071372"/>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자백</a:t>
            </a:r>
          </a:p>
        </p:txBody>
      </p:sp>
      <p:sp>
        <p:nvSpPr>
          <p:cNvPr id="295" name="직사각형 294"/>
          <p:cNvSpPr/>
          <p:nvPr/>
        </p:nvSpPr>
        <p:spPr>
          <a:xfrm>
            <a:off x="4447508" y="410052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err="1"/>
              <a:t>소송물</a:t>
            </a:r>
            <a:endParaRPr lang="ko-KR" altLang="en-US" sz="1000" dirty="0"/>
          </a:p>
        </p:txBody>
      </p:sp>
      <p:sp>
        <p:nvSpPr>
          <p:cNvPr id="296" name="직사각형 295"/>
          <p:cNvSpPr/>
          <p:nvPr/>
        </p:nvSpPr>
        <p:spPr>
          <a:xfrm>
            <a:off x="4447508" y="426432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소의 이익</a:t>
            </a:r>
          </a:p>
        </p:txBody>
      </p:sp>
      <p:sp>
        <p:nvSpPr>
          <p:cNvPr id="297" name="직사각형 296"/>
          <p:cNvSpPr/>
          <p:nvPr/>
        </p:nvSpPr>
        <p:spPr>
          <a:xfrm>
            <a:off x="4447508" y="442529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관할</a:t>
            </a:r>
          </a:p>
        </p:txBody>
      </p:sp>
      <p:sp>
        <p:nvSpPr>
          <p:cNvPr id="298" name="직사각형 297"/>
          <p:cNvSpPr/>
          <p:nvPr/>
        </p:nvSpPr>
        <p:spPr>
          <a:xfrm>
            <a:off x="4447508" y="5006153"/>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소장의 제출</a:t>
            </a:r>
          </a:p>
        </p:txBody>
      </p:sp>
      <p:sp>
        <p:nvSpPr>
          <p:cNvPr id="299" name="직사각형 298"/>
          <p:cNvSpPr/>
          <p:nvPr/>
        </p:nvSpPr>
        <p:spPr>
          <a:xfrm>
            <a:off x="4447508" y="516995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심판원장에게 통지</a:t>
            </a:r>
            <a:r>
              <a:rPr lang="en-US" altLang="ko-KR" sz="600" dirty="0">
                <a:solidFill>
                  <a:schemeClr val="tx1"/>
                </a:solidFill>
              </a:rPr>
              <a:t>(</a:t>
            </a:r>
            <a:r>
              <a:rPr lang="ko-KR" altLang="en-US" sz="600" dirty="0">
                <a:solidFill>
                  <a:schemeClr val="tx1"/>
                </a:solidFill>
              </a:rPr>
              <a:t>法 </a:t>
            </a:r>
            <a:r>
              <a:rPr lang="en-US" altLang="ko-KR" sz="600" dirty="0">
                <a:solidFill>
                  <a:schemeClr val="tx1"/>
                </a:solidFill>
              </a:rPr>
              <a:t>188)</a:t>
            </a:r>
            <a:endParaRPr lang="en-US" altLang="ko-KR" sz="1000" dirty="0">
              <a:solidFill>
                <a:schemeClr val="tx1"/>
              </a:solidFill>
            </a:endParaRPr>
          </a:p>
        </p:txBody>
      </p:sp>
      <p:sp>
        <p:nvSpPr>
          <p:cNvPr id="300" name="직사각형 299"/>
          <p:cNvSpPr/>
          <p:nvPr/>
        </p:nvSpPr>
        <p:spPr>
          <a:xfrm>
            <a:off x="4447508" y="569820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err="1"/>
              <a:t>본안심리</a:t>
            </a:r>
            <a:endParaRPr lang="ko-KR" altLang="en-US" sz="1000" dirty="0"/>
          </a:p>
        </p:txBody>
      </p:sp>
      <p:sp>
        <p:nvSpPr>
          <p:cNvPr id="301" name="직사각형 300"/>
          <p:cNvSpPr/>
          <p:nvPr/>
        </p:nvSpPr>
        <p:spPr>
          <a:xfrm>
            <a:off x="4447508" y="5859952"/>
            <a:ext cx="1380067" cy="30802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기술심리관의 관여</a:t>
            </a:r>
            <a:endParaRPr lang="en-US" altLang="ko-KR" sz="1000" dirty="0">
              <a:solidFill>
                <a:schemeClr val="tx1"/>
              </a:solidFill>
            </a:endParaRPr>
          </a:p>
          <a:p>
            <a:pPr algn="ctr"/>
            <a:r>
              <a:rPr lang="en-US" altLang="ko-KR" sz="800" dirty="0">
                <a:solidFill>
                  <a:schemeClr val="tx1"/>
                </a:solidFill>
              </a:rPr>
              <a:t>(</a:t>
            </a:r>
            <a:r>
              <a:rPr lang="ko-KR" altLang="en-US" sz="800" dirty="0">
                <a:solidFill>
                  <a:schemeClr val="tx1"/>
                </a:solidFill>
              </a:rPr>
              <a:t>法 </a:t>
            </a:r>
            <a:r>
              <a:rPr lang="en-US" altLang="ko-KR" sz="800" dirty="0">
                <a:solidFill>
                  <a:schemeClr val="tx1"/>
                </a:solidFill>
              </a:rPr>
              <a:t>188</a:t>
            </a:r>
            <a:r>
              <a:rPr lang="ko-KR" altLang="en-US" sz="800" dirty="0">
                <a:solidFill>
                  <a:schemeClr val="tx1"/>
                </a:solidFill>
              </a:rPr>
              <a:t>의</a:t>
            </a:r>
            <a:r>
              <a:rPr lang="en-US" altLang="ko-KR" sz="800" dirty="0">
                <a:solidFill>
                  <a:schemeClr val="tx1"/>
                </a:solidFill>
              </a:rPr>
              <a:t>2)</a:t>
            </a:r>
            <a:endParaRPr lang="ko-KR" altLang="en-US" sz="1000" dirty="0">
              <a:solidFill>
                <a:schemeClr val="tx1"/>
              </a:solidFill>
            </a:endParaRPr>
          </a:p>
        </p:txBody>
      </p:sp>
      <p:sp>
        <p:nvSpPr>
          <p:cNvPr id="302" name="직사각형 301"/>
          <p:cNvSpPr/>
          <p:nvPr/>
        </p:nvSpPr>
        <p:spPr>
          <a:xfrm>
            <a:off x="4447508" y="622048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당사자에 의한 종결</a:t>
            </a:r>
          </a:p>
        </p:txBody>
      </p:sp>
      <p:sp>
        <p:nvSpPr>
          <p:cNvPr id="303" name="직사각형 302"/>
          <p:cNvSpPr/>
          <p:nvPr/>
        </p:nvSpPr>
        <p:spPr>
          <a:xfrm>
            <a:off x="4447508" y="6382234"/>
            <a:ext cx="1380067" cy="33289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종국판결에 의한 종결</a:t>
            </a:r>
            <a:endParaRPr lang="en-US" altLang="ko-KR" sz="1000" dirty="0">
              <a:solidFill>
                <a:schemeClr val="tx1"/>
              </a:solidFill>
            </a:endParaRPr>
          </a:p>
          <a:p>
            <a:pPr algn="ctr"/>
            <a:r>
              <a:rPr lang="en-US" altLang="ko-KR" sz="800" dirty="0">
                <a:solidFill>
                  <a:schemeClr val="tx1"/>
                </a:solidFill>
              </a:rPr>
              <a:t>(</a:t>
            </a:r>
            <a:r>
              <a:rPr lang="ko-KR" altLang="en-US" sz="800" dirty="0">
                <a:solidFill>
                  <a:schemeClr val="tx1"/>
                </a:solidFill>
              </a:rPr>
              <a:t>法 </a:t>
            </a:r>
            <a:r>
              <a:rPr lang="en-US" altLang="ko-KR" sz="800" dirty="0">
                <a:solidFill>
                  <a:schemeClr val="tx1"/>
                </a:solidFill>
              </a:rPr>
              <a:t>189)</a:t>
            </a:r>
            <a:endParaRPr lang="ko-KR" altLang="en-US" sz="1000" dirty="0">
              <a:solidFill>
                <a:schemeClr val="tx1"/>
              </a:solidFill>
            </a:endParaRPr>
          </a:p>
        </p:txBody>
      </p:sp>
      <p:sp>
        <p:nvSpPr>
          <p:cNvPr id="304" name="직사각형 303"/>
          <p:cNvSpPr/>
          <p:nvPr/>
        </p:nvSpPr>
        <p:spPr>
          <a:xfrm>
            <a:off x="4447508" y="459403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당사자</a:t>
            </a:r>
          </a:p>
        </p:txBody>
      </p:sp>
      <p:sp>
        <p:nvSpPr>
          <p:cNvPr id="305" name="직사각형 304"/>
          <p:cNvSpPr/>
          <p:nvPr/>
        </p:nvSpPr>
        <p:spPr>
          <a:xfrm>
            <a:off x="4447508" y="554183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소송요건의 심리</a:t>
            </a:r>
            <a:endParaRPr lang="en-US" altLang="ko-KR" sz="1000" dirty="0"/>
          </a:p>
        </p:txBody>
      </p:sp>
      <p:sp>
        <p:nvSpPr>
          <p:cNvPr id="306" name="직사각형 305"/>
          <p:cNvSpPr/>
          <p:nvPr/>
        </p:nvSpPr>
        <p:spPr>
          <a:xfrm>
            <a:off x="4447508" y="5338441"/>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소장의 심사</a:t>
            </a:r>
            <a:endParaRPr lang="en-US" altLang="ko-KR" sz="1000" dirty="0"/>
          </a:p>
        </p:txBody>
      </p:sp>
      <p:sp>
        <p:nvSpPr>
          <p:cNvPr id="307" name="직사각형 306"/>
          <p:cNvSpPr/>
          <p:nvPr/>
        </p:nvSpPr>
        <p:spPr>
          <a:xfrm>
            <a:off x="4447508" y="476412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제소기간</a:t>
            </a:r>
          </a:p>
        </p:txBody>
      </p:sp>
      <p:cxnSp>
        <p:nvCxnSpPr>
          <p:cNvPr id="309" name="꺾인 연결선 308"/>
          <p:cNvCxnSpPr>
            <a:stCxn id="273" idx="3"/>
            <a:endCxn id="304" idx="1"/>
          </p:cNvCxnSpPr>
          <p:nvPr/>
        </p:nvCxnSpPr>
        <p:spPr>
          <a:xfrm>
            <a:off x="4278775" y="4605428"/>
            <a:ext cx="168733" cy="527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0" name="꺾인 연결선 309"/>
          <p:cNvCxnSpPr>
            <a:stCxn id="273" idx="3"/>
            <a:endCxn id="307" idx="1"/>
          </p:cNvCxnSpPr>
          <p:nvPr/>
        </p:nvCxnSpPr>
        <p:spPr>
          <a:xfrm>
            <a:off x="4278775" y="4605428"/>
            <a:ext cx="168733" cy="2228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꺾인 연결선 310"/>
          <p:cNvCxnSpPr>
            <a:stCxn id="274" idx="3"/>
            <a:endCxn id="306" idx="1"/>
          </p:cNvCxnSpPr>
          <p:nvPr/>
        </p:nvCxnSpPr>
        <p:spPr>
          <a:xfrm>
            <a:off x="4278775" y="5234342"/>
            <a:ext cx="168733" cy="1682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꺾인 연결선 311"/>
          <p:cNvCxnSpPr>
            <a:stCxn id="275" idx="3"/>
            <a:endCxn id="305" idx="1"/>
          </p:cNvCxnSpPr>
          <p:nvPr/>
        </p:nvCxnSpPr>
        <p:spPr>
          <a:xfrm flipV="1">
            <a:off x="4278775" y="5606011"/>
            <a:ext cx="168733" cy="15935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꺾인 연결선 312"/>
          <p:cNvCxnSpPr>
            <a:stCxn id="300" idx="3"/>
            <a:endCxn id="289" idx="1"/>
          </p:cNvCxnSpPr>
          <p:nvPr/>
        </p:nvCxnSpPr>
        <p:spPr>
          <a:xfrm flipV="1">
            <a:off x="5827575" y="5393209"/>
            <a:ext cx="127039" cy="36917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꺾인 연결선 313"/>
          <p:cNvCxnSpPr>
            <a:stCxn id="300" idx="3"/>
            <a:endCxn id="290" idx="1"/>
          </p:cNvCxnSpPr>
          <p:nvPr/>
        </p:nvCxnSpPr>
        <p:spPr>
          <a:xfrm flipV="1">
            <a:off x="5827575" y="5655273"/>
            <a:ext cx="127039" cy="1071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꺾인 연결선 314"/>
          <p:cNvCxnSpPr>
            <a:stCxn id="300" idx="3"/>
            <a:endCxn id="291" idx="1"/>
          </p:cNvCxnSpPr>
          <p:nvPr/>
        </p:nvCxnSpPr>
        <p:spPr>
          <a:xfrm>
            <a:off x="5827575" y="5762383"/>
            <a:ext cx="127039" cy="5503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6" name="꺾인 연결선 315"/>
          <p:cNvCxnSpPr>
            <a:stCxn id="300" idx="3"/>
            <a:endCxn id="292" idx="1"/>
          </p:cNvCxnSpPr>
          <p:nvPr/>
        </p:nvCxnSpPr>
        <p:spPr>
          <a:xfrm>
            <a:off x="5827575" y="5762383"/>
            <a:ext cx="127039" cy="21279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꺾인 연결선 316"/>
          <p:cNvCxnSpPr>
            <a:endCxn id="293" idx="1"/>
          </p:cNvCxnSpPr>
          <p:nvPr/>
        </p:nvCxnSpPr>
        <p:spPr>
          <a:xfrm rot="16200000" flipH="1">
            <a:off x="5802218" y="5983152"/>
            <a:ext cx="293982" cy="10810"/>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8" name="직사각형 317"/>
          <p:cNvSpPr/>
          <p:nvPr/>
        </p:nvSpPr>
        <p:spPr>
          <a:xfrm>
            <a:off x="6103431" y="3574465"/>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특허법</a:t>
            </a:r>
            <a:endParaRPr lang="en-US" altLang="ko-KR" dirty="0"/>
          </a:p>
          <a:p>
            <a:pPr algn="ctr"/>
            <a:r>
              <a:rPr lang="ko-KR" altLang="en-US" dirty="0"/>
              <a:t>체계도</a:t>
            </a:r>
          </a:p>
        </p:txBody>
      </p:sp>
      <p:sp>
        <p:nvSpPr>
          <p:cNvPr id="319" name="타원 318"/>
          <p:cNvSpPr/>
          <p:nvPr/>
        </p:nvSpPr>
        <p:spPr>
          <a:xfrm>
            <a:off x="322118" y="268689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5</a:t>
            </a:r>
            <a:endParaRPr lang="ko-KR" altLang="en-US" dirty="0"/>
          </a:p>
        </p:txBody>
      </p:sp>
      <p:sp>
        <p:nvSpPr>
          <p:cNvPr id="320" name="타원 319"/>
          <p:cNvSpPr/>
          <p:nvPr/>
        </p:nvSpPr>
        <p:spPr>
          <a:xfrm>
            <a:off x="262164" y="5316045"/>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7</a:t>
            </a:r>
            <a:endParaRPr lang="ko-KR" altLang="en-US" dirty="0"/>
          </a:p>
        </p:txBody>
      </p:sp>
      <p:sp>
        <p:nvSpPr>
          <p:cNvPr id="321" name="타원 320"/>
          <p:cNvSpPr/>
          <p:nvPr/>
        </p:nvSpPr>
        <p:spPr>
          <a:xfrm>
            <a:off x="7873581" y="5757616"/>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8</a:t>
            </a:r>
            <a:endParaRPr lang="ko-KR" altLang="en-US" dirty="0"/>
          </a:p>
        </p:txBody>
      </p:sp>
      <p:sp>
        <p:nvSpPr>
          <p:cNvPr id="322" name="타원 321"/>
          <p:cNvSpPr/>
          <p:nvPr/>
        </p:nvSpPr>
        <p:spPr>
          <a:xfrm>
            <a:off x="6772900" y="266696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6</a:t>
            </a:r>
            <a:endParaRPr lang="ko-KR" altLang="en-US" dirty="0"/>
          </a:p>
        </p:txBody>
      </p:sp>
      <p:sp>
        <p:nvSpPr>
          <p:cNvPr id="323" name="자유형 322"/>
          <p:cNvSpPr/>
          <p:nvPr/>
        </p:nvSpPr>
        <p:spPr>
          <a:xfrm>
            <a:off x="523875" y="3059642"/>
            <a:ext cx="5571067" cy="1845733"/>
          </a:xfrm>
          <a:custGeom>
            <a:avLst/>
            <a:gdLst>
              <a:gd name="connsiteX0" fmla="*/ 5571067 w 5571067"/>
              <a:gd name="connsiteY0" fmla="*/ 872066 h 1845733"/>
              <a:gd name="connsiteX1" fmla="*/ 3708400 w 5571067"/>
              <a:gd name="connsiteY1" fmla="*/ 872066 h 1845733"/>
              <a:gd name="connsiteX2" fmla="*/ 3708400 w 5571067"/>
              <a:gd name="connsiteY2" fmla="*/ 1244600 h 1845733"/>
              <a:gd name="connsiteX3" fmla="*/ 2853267 w 5571067"/>
              <a:gd name="connsiteY3" fmla="*/ 1244600 h 1845733"/>
              <a:gd name="connsiteX4" fmla="*/ 2853267 w 5571067"/>
              <a:gd name="connsiteY4" fmla="*/ 1845733 h 1845733"/>
              <a:gd name="connsiteX5" fmla="*/ 0 w 5571067"/>
              <a:gd name="connsiteY5" fmla="*/ 1845733 h 1845733"/>
              <a:gd name="connsiteX6" fmla="*/ 0 w 5571067"/>
              <a:gd name="connsiteY6" fmla="*/ 0 h 184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1067" h="1845733">
                <a:moveTo>
                  <a:pt x="5571067" y="872066"/>
                </a:moveTo>
                <a:lnTo>
                  <a:pt x="3708400" y="872066"/>
                </a:lnTo>
                <a:lnTo>
                  <a:pt x="3708400" y="1244600"/>
                </a:lnTo>
                <a:lnTo>
                  <a:pt x="2853267" y="1244600"/>
                </a:lnTo>
                <a:lnTo>
                  <a:pt x="2853267" y="1845733"/>
                </a:lnTo>
                <a:lnTo>
                  <a:pt x="0" y="1845733"/>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4" name="자유형 323"/>
          <p:cNvSpPr/>
          <p:nvPr/>
        </p:nvSpPr>
        <p:spPr>
          <a:xfrm>
            <a:off x="422275" y="4905375"/>
            <a:ext cx="84667" cy="397933"/>
          </a:xfrm>
          <a:custGeom>
            <a:avLst/>
            <a:gdLst>
              <a:gd name="connsiteX0" fmla="*/ 84667 w 84667"/>
              <a:gd name="connsiteY0" fmla="*/ 0 h 397933"/>
              <a:gd name="connsiteX1" fmla="*/ 0 w 84667"/>
              <a:gd name="connsiteY1" fmla="*/ 0 h 397933"/>
              <a:gd name="connsiteX2" fmla="*/ 0 w 84667"/>
              <a:gd name="connsiteY2" fmla="*/ 397933 h 397933"/>
            </a:gdLst>
            <a:ahLst/>
            <a:cxnLst>
              <a:cxn ang="0">
                <a:pos x="connsiteX0" y="connsiteY0"/>
              </a:cxn>
              <a:cxn ang="0">
                <a:pos x="connsiteX1" y="connsiteY1"/>
              </a:cxn>
              <a:cxn ang="0">
                <a:pos x="connsiteX2" y="connsiteY2"/>
              </a:cxn>
            </a:cxnLst>
            <a:rect l="l" t="t" r="r" b="b"/>
            <a:pathLst>
              <a:path w="84667" h="397933">
                <a:moveTo>
                  <a:pt x="84667" y="0"/>
                </a:moveTo>
                <a:lnTo>
                  <a:pt x="0" y="0"/>
                </a:lnTo>
                <a:lnTo>
                  <a:pt x="0" y="397933"/>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5" name="자유형 324"/>
          <p:cNvSpPr/>
          <p:nvPr/>
        </p:nvSpPr>
        <p:spPr>
          <a:xfrm>
            <a:off x="6569075" y="2839508"/>
            <a:ext cx="186267" cy="745067"/>
          </a:xfrm>
          <a:custGeom>
            <a:avLst/>
            <a:gdLst>
              <a:gd name="connsiteX0" fmla="*/ 0 w 186267"/>
              <a:gd name="connsiteY0" fmla="*/ 745067 h 745067"/>
              <a:gd name="connsiteX1" fmla="*/ 0 w 186267"/>
              <a:gd name="connsiteY1" fmla="*/ 745067 h 745067"/>
              <a:gd name="connsiteX2" fmla="*/ 0 w 186267"/>
              <a:gd name="connsiteY2" fmla="*/ 0 h 745067"/>
              <a:gd name="connsiteX3" fmla="*/ 186267 w 186267"/>
              <a:gd name="connsiteY3" fmla="*/ 0 h 745067"/>
            </a:gdLst>
            <a:ahLst/>
            <a:cxnLst>
              <a:cxn ang="0">
                <a:pos x="connsiteX0" y="connsiteY0"/>
              </a:cxn>
              <a:cxn ang="0">
                <a:pos x="connsiteX1" y="connsiteY1"/>
              </a:cxn>
              <a:cxn ang="0">
                <a:pos x="connsiteX2" y="connsiteY2"/>
              </a:cxn>
              <a:cxn ang="0">
                <a:pos x="connsiteX3" y="connsiteY3"/>
              </a:cxn>
            </a:cxnLst>
            <a:rect l="l" t="t" r="r" b="b"/>
            <a:pathLst>
              <a:path w="186267" h="745067">
                <a:moveTo>
                  <a:pt x="0" y="745067"/>
                </a:moveTo>
                <a:lnTo>
                  <a:pt x="0" y="745067"/>
                </a:lnTo>
                <a:lnTo>
                  <a:pt x="0" y="0"/>
                </a:lnTo>
                <a:lnTo>
                  <a:pt x="186267"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6" name="자유형 325"/>
          <p:cNvSpPr/>
          <p:nvPr/>
        </p:nvSpPr>
        <p:spPr>
          <a:xfrm>
            <a:off x="6577542" y="4498975"/>
            <a:ext cx="1498600" cy="1244600"/>
          </a:xfrm>
          <a:custGeom>
            <a:avLst/>
            <a:gdLst>
              <a:gd name="connsiteX0" fmla="*/ 0 w 1498600"/>
              <a:gd name="connsiteY0" fmla="*/ 0 h 1244600"/>
              <a:gd name="connsiteX1" fmla="*/ 0 w 1498600"/>
              <a:gd name="connsiteY1" fmla="*/ 423333 h 1244600"/>
              <a:gd name="connsiteX2" fmla="*/ 1498600 w 1498600"/>
              <a:gd name="connsiteY2" fmla="*/ 423333 h 1244600"/>
              <a:gd name="connsiteX3" fmla="*/ 1498600 w 1498600"/>
              <a:gd name="connsiteY3" fmla="*/ 1244600 h 1244600"/>
            </a:gdLst>
            <a:ahLst/>
            <a:cxnLst>
              <a:cxn ang="0">
                <a:pos x="connsiteX0" y="connsiteY0"/>
              </a:cxn>
              <a:cxn ang="0">
                <a:pos x="connsiteX1" y="connsiteY1"/>
              </a:cxn>
              <a:cxn ang="0">
                <a:pos x="connsiteX2" y="connsiteY2"/>
              </a:cxn>
              <a:cxn ang="0">
                <a:pos x="connsiteX3" y="connsiteY3"/>
              </a:cxn>
            </a:cxnLst>
            <a:rect l="l" t="t" r="r" b="b"/>
            <a:pathLst>
              <a:path w="1498600" h="1244600">
                <a:moveTo>
                  <a:pt x="0" y="0"/>
                </a:moveTo>
                <a:lnTo>
                  <a:pt x="0" y="423333"/>
                </a:lnTo>
                <a:lnTo>
                  <a:pt x="1498600" y="423333"/>
                </a:lnTo>
                <a:lnTo>
                  <a:pt x="1498600" y="12446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94" name="직사각형 293">
            <a:extLst>
              <a:ext uri="{FF2B5EF4-FFF2-40B4-BE49-F238E27FC236}">
                <a16:creationId xmlns:a16="http://schemas.microsoft.com/office/drawing/2014/main" id="{9B6DE0DF-BFFF-497F-9FD1-C58A8CA97621}"/>
              </a:ext>
            </a:extLst>
          </p:cNvPr>
          <p:cNvSpPr/>
          <p:nvPr/>
        </p:nvSpPr>
        <p:spPr>
          <a:xfrm>
            <a:off x="8500191" y="3384273"/>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관련</a:t>
            </a:r>
          </a:p>
        </p:txBody>
      </p:sp>
      <p:sp>
        <p:nvSpPr>
          <p:cNvPr id="327" name="직사각형 326">
            <a:extLst>
              <a:ext uri="{FF2B5EF4-FFF2-40B4-BE49-F238E27FC236}">
                <a16:creationId xmlns:a16="http://schemas.microsoft.com/office/drawing/2014/main" id="{A6BC253F-D9C4-4A98-984C-D8D62D28E8E9}"/>
              </a:ext>
            </a:extLst>
          </p:cNvPr>
          <p:cNvSpPr/>
          <p:nvPr/>
        </p:nvSpPr>
        <p:spPr>
          <a:xfrm>
            <a:off x="9363869" y="3290897"/>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타절차와의 관계</a:t>
            </a:r>
            <a:r>
              <a:rPr lang="en-US" altLang="ko-KR" sz="1000" dirty="0"/>
              <a:t>(</a:t>
            </a:r>
            <a:r>
              <a:rPr lang="ko-KR" altLang="en-US" sz="1000" dirty="0"/>
              <a:t>法 </a:t>
            </a:r>
            <a:r>
              <a:rPr lang="en-US" altLang="ko-KR" sz="1000" dirty="0"/>
              <a:t>164)</a:t>
            </a:r>
            <a:endParaRPr lang="ko-KR" altLang="en-US" sz="1000" dirty="0"/>
          </a:p>
        </p:txBody>
      </p:sp>
      <p:sp>
        <p:nvSpPr>
          <p:cNvPr id="328" name="직사각형 327">
            <a:extLst>
              <a:ext uri="{FF2B5EF4-FFF2-40B4-BE49-F238E27FC236}">
                <a16:creationId xmlns:a16="http://schemas.microsoft.com/office/drawing/2014/main" id="{855EA2A3-2862-42AE-AC8B-FB8E8761530B}"/>
              </a:ext>
            </a:extLst>
          </p:cNvPr>
          <p:cNvSpPr/>
          <p:nvPr/>
        </p:nvSpPr>
        <p:spPr>
          <a:xfrm>
            <a:off x="9363869" y="372062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심판비용</a:t>
            </a:r>
            <a:r>
              <a:rPr lang="en-US" altLang="ko-KR" sz="1000" dirty="0"/>
              <a:t>(</a:t>
            </a:r>
            <a:r>
              <a:rPr lang="ko-KR" altLang="en-US" sz="1000" dirty="0"/>
              <a:t>法 </a:t>
            </a:r>
            <a:r>
              <a:rPr lang="en-US" altLang="ko-KR" sz="1000" dirty="0"/>
              <a:t>165, 166)</a:t>
            </a:r>
            <a:endParaRPr lang="ko-KR" altLang="en-US" sz="1000" dirty="0"/>
          </a:p>
        </p:txBody>
      </p:sp>
      <p:cxnSp>
        <p:nvCxnSpPr>
          <p:cNvPr id="329" name="꺾인 연결선 244">
            <a:extLst>
              <a:ext uri="{FF2B5EF4-FFF2-40B4-BE49-F238E27FC236}">
                <a16:creationId xmlns:a16="http://schemas.microsoft.com/office/drawing/2014/main" id="{A54F89B3-B4E9-4E0A-BB23-C1DB0F7A25D8}"/>
              </a:ext>
            </a:extLst>
          </p:cNvPr>
          <p:cNvCxnSpPr>
            <a:cxnSpLocks/>
            <a:stCxn id="294" idx="3"/>
            <a:endCxn id="308" idx="1"/>
          </p:cNvCxnSpPr>
          <p:nvPr/>
        </p:nvCxnSpPr>
        <p:spPr>
          <a:xfrm>
            <a:off x="9210221" y="3469781"/>
            <a:ext cx="151225" cy="1077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0" name="꺾인 연결선 245">
            <a:extLst>
              <a:ext uri="{FF2B5EF4-FFF2-40B4-BE49-F238E27FC236}">
                <a16:creationId xmlns:a16="http://schemas.microsoft.com/office/drawing/2014/main" id="{48543D6B-7C92-4D3D-B213-6D84DC780C17}"/>
              </a:ext>
            </a:extLst>
          </p:cNvPr>
          <p:cNvCxnSpPr>
            <a:cxnSpLocks/>
            <a:stCxn id="294" idx="3"/>
            <a:endCxn id="328" idx="1"/>
          </p:cNvCxnSpPr>
          <p:nvPr/>
        </p:nvCxnSpPr>
        <p:spPr>
          <a:xfrm>
            <a:off x="9210221" y="3469781"/>
            <a:ext cx="153648" cy="32012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연결선: 꺾임 6">
            <a:extLst>
              <a:ext uri="{FF2B5EF4-FFF2-40B4-BE49-F238E27FC236}">
                <a16:creationId xmlns:a16="http://schemas.microsoft.com/office/drawing/2014/main" id="{B370871F-6F80-4244-8543-0634A44D09BD}"/>
              </a:ext>
            </a:extLst>
          </p:cNvPr>
          <p:cNvCxnSpPr>
            <a:stCxn id="205" idx="3"/>
            <a:endCxn id="294" idx="1"/>
          </p:cNvCxnSpPr>
          <p:nvPr/>
        </p:nvCxnSpPr>
        <p:spPr>
          <a:xfrm>
            <a:off x="8336650" y="2489931"/>
            <a:ext cx="163541" cy="9798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8" name="직사각형 287">
            <a:extLst>
              <a:ext uri="{FF2B5EF4-FFF2-40B4-BE49-F238E27FC236}">
                <a16:creationId xmlns:a16="http://schemas.microsoft.com/office/drawing/2014/main" id="{CCF75EB5-ACDA-45AD-A3D7-EAD9647556E3}"/>
              </a:ext>
            </a:extLst>
          </p:cNvPr>
          <p:cNvSpPr/>
          <p:nvPr/>
        </p:nvSpPr>
        <p:spPr>
          <a:xfrm>
            <a:off x="9358843" y="1365202"/>
            <a:ext cx="2333212" cy="288480"/>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국선대리인</a:t>
            </a:r>
            <a:r>
              <a:rPr lang="en-US" altLang="ko-KR" sz="1000" dirty="0">
                <a:solidFill>
                  <a:schemeClr val="tx1"/>
                </a:solidFill>
              </a:rPr>
              <a:t>, </a:t>
            </a:r>
            <a:r>
              <a:rPr lang="ko-KR" altLang="en-US" sz="1000" dirty="0">
                <a:solidFill>
                  <a:schemeClr val="tx1"/>
                </a:solidFill>
              </a:rPr>
              <a:t>전문심리위원 및 참고인</a:t>
            </a:r>
            <a:endParaRPr lang="en-US" altLang="ko-KR" sz="1000" dirty="0">
              <a:solidFill>
                <a:schemeClr val="tx1"/>
              </a:solidFill>
            </a:endParaRPr>
          </a:p>
          <a:p>
            <a:pPr algn="ctr"/>
            <a:r>
              <a:rPr lang="en-US" altLang="ko-KR" sz="900" dirty="0">
                <a:solidFill>
                  <a:schemeClr val="tx1"/>
                </a:solidFill>
              </a:rPr>
              <a:t>(</a:t>
            </a:r>
            <a:r>
              <a:rPr lang="ko-KR" altLang="en-US" sz="900" dirty="0">
                <a:solidFill>
                  <a:schemeClr val="tx1"/>
                </a:solidFill>
              </a:rPr>
              <a:t>法 </a:t>
            </a:r>
            <a:r>
              <a:rPr lang="en-US" altLang="ko-KR" sz="900" dirty="0">
                <a:solidFill>
                  <a:schemeClr val="tx1"/>
                </a:solidFill>
              </a:rPr>
              <a:t>139</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3)</a:t>
            </a:r>
            <a:endParaRPr lang="ko-KR" altLang="en-US" sz="1100" dirty="0">
              <a:solidFill>
                <a:schemeClr val="tx1"/>
              </a:solidFill>
            </a:endParaRPr>
          </a:p>
        </p:txBody>
      </p:sp>
      <p:sp>
        <p:nvSpPr>
          <p:cNvPr id="308" name="직사각형 307">
            <a:extLst>
              <a:ext uri="{FF2B5EF4-FFF2-40B4-BE49-F238E27FC236}">
                <a16:creationId xmlns:a16="http://schemas.microsoft.com/office/drawing/2014/main" id="{FBCE5317-4D8A-4C1C-92B6-ECD14431C289}"/>
              </a:ext>
            </a:extLst>
          </p:cNvPr>
          <p:cNvSpPr/>
          <p:nvPr/>
        </p:nvSpPr>
        <p:spPr>
          <a:xfrm>
            <a:off x="9361446" y="3486404"/>
            <a:ext cx="2330609" cy="182239"/>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조정위원회 회부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164</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cxnSp>
        <p:nvCxnSpPr>
          <p:cNvPr id="331" name="꺾인 연결선 245">
            <a:extLst>
              <a:ext uri="{FF2B5EF4-FFF2-40B4-BE49-F238E27FC236}">
                <a16:creationId xmlns:a16="http://schemas.microsoft.com/office/drawing/2014/main" id="{8272E89B-C399-461C-82CA-028F1E621707}"/>
              </a:ext>
            </a:extLst>
          </p:cNvPr>
          <p:cNvCxnSpPr>
            <a:cxnSpLocks/>
            <a:stCxn id="294" idx="3"/>
            <a:endCxn id="327" idx="1"/>
          </p:cNvCxnSpPr>
          <p:nvPr/>
        </p:nvCxnSpPr>
        <p:spPr>
          <a:xfrm flipV="1">
            <a:off x="9210221" y="3360176"/>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96471188"/>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68</a:t>
            </a:r>
            <a:r>
              <a:rPr lang="ko-KR" altLang="en-US" dirty="0"/>
              <a:t>조</a:t>
            </a:r>
          </a:p>
        </p:txBody>
      </p:sp>
      <p:sp>
        <p:nvSpPr>
          <p:cNvPr id="4" name="텍스트 개체 틀 3"/>
          <p:cNvSpPr>
            <a:spLocks noGrp="1"/>
          </p:cNvSpPr>
          <p:nvPr>
            <p:ph type="body" sz="quarter" idx="13"/>
          </p:nvPr>
        </p:nvSpPr>
        <p:spPr/>
        <p:txBody>
          <a:bodyPr/>
          <a:lstStyle/>
          <a:p>
            <a:r>
              <a:rPr lang="ko-KR" altLang="en-US" dirty="0"/>
              <a:t>심사관의 </a:t>
            </a:r>
            <a:r>
              <a:rPr lang="ko-KR" altLang="en-US" dirty="0" err="1"/>
              <a:t>제척사유</a:t>
            </a:r>
            <a:r>
              <a:rPr lang="ko-KR" altLang="en-US" dirty="0"/>
              <a:t> 中 </a:t>
            </a:r>
            <a:r>
              <a:rPr lang="ko-KR" altLang="en-US" dirty="0" err="1"/>
              <a:t>전심관여</a:t>
            </a:r>
            <a:endParaRPr lang="ko-KR" altLang="en-US" dirty="0"/>
          </a:p>
        </p:txBody>
      </p:sp>
      <p:sp>
        <p:nvSpPr>
          <p:cNvPr id="30" name="직사각형 29"/>
          <p:cNvSpPr/>
          <p:nvPr/>
        </p:nvSpPr>
        <p:spPr>
          <a:xfrm>
            <a:off x="3495517" y="3905387"/>
            <a:ext cx="7220913" cy="276136"/>
          </a:xfrm>
          <a:prstGeom prst="rect">
            <a:avLst/>
          </a:prstGeom>
          <a:solidFill>
            <a:schemeClr val="accent1">
              <a:lumMod val="20000"/>
              <a:lumOff val="8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지식재산처장</a:t>
            </a:r>
          </a:p>
        </p:txBody>
      </p:sp>
      <p:sp>
        <p:nvSpPr>
          <p:cNvPr id="31" name="직사각형 30"/>
          <p:cNvSpPr/>
          <p:nvPr/>
        </p:nvSpPr>
        <p:spPr>
          <a:xfrm>
            <a:off x="3495517" y="4428531"/>
            <a:ext cx="3514079" cy="276136"/>
          </a:xfrm>
          <a:prstGeom prst="rect">
            <a:avLst/>
          </a:prstGeom>
          <a:solidFill>
            <a:schemeClr val="accent3">
              <a:lumMod val="20000"/>
              <a:lumOff val="8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심사국</a:t>
            </a:r>
            <a:endParaRPr lang="ko-KR" altLang="en-US" sz="1400" dirty="0">
              <a:solidFill>
                <a:schemeClr val="tx1"/>
              </a:solidFill>
            </a:endParaRPr>
          </a:p>
        </p:txBody>
      </p:sp>
      <p:sp>
        <p:nvSpPr>
          <p:cNvPr id="32" name="직사각형 31"/>
          <p:cNvSpPr/>
          <p:nvPr/>
        </p:nvSpPr>
        <p:spPr>
          <a:xfrm>
            <a:off x="3495517" y="4710801"/>
            <a:ext cx="3514079" cy="1392341"/>
          </a:xfrm>
          <a:prstGeom prst="rect">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지식재산처장</a:t>
            </a:r>
          </a:p>
        </p:txBody>
      </p:sp>
      <p:sp>
        <p:nvSpPr>
          <p:cNvPr id="33" name="직사각형 32"/>
          <p:cNvSpPr/>
          <p:nvPr/>
        </p:nvSpPr>
        <p:spPr>
          <a:xfrm>
            <a:off x="7202351" y="4428531"/>
            <a:ext cx="3514079" cy="276136"/>
          </a:xfrm>
          <a:prstGeom prst="rect">
            <a:avLst/>
          </a:prstGeom>
          <a:solidFill>
            <a:schemeClr val="accent3">
              <a:lumMod val="20000"/>
              <a:lumOff val="8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특허심판원</a:t>
            </a:r>
          </a:p>
        </p:txBody>
      </p:sp>
      <p:sp>
        <p:nvSpPr>
          <p:cNvPr id="34" name="직사각형 33"/>
          <p:cNvSpPr/>
          <p:nvPr/>
        </p:nvSpPr>
        <p:spPr>
          <a:xfrm>
            <a:off x="7202351" y="4710801"/>
            <a:ext cx="3514079" cy="1392341"/>
          </a:xfrm>
          <a:prstGeom prst="rect">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지식재산처장</a:t>
            </a:r>
          </a:p>
        </p:txBody>
      </p:sp>
      <p:sp>
        <p:nvSpPr>
          <p:cNvPr id="35" name="모서리가 둥근 직사각형 34"/>
          <p:cNvSpPr/>
          <p:nvPr/>
        </p:nvSpPr>
        <p:spPr>
          <a:xfrm>
            <a:off x="4133094" y="5177167"/>
            <a:ext cx="2298238" cy="470653"/>
          </a:xfrm>
          <a:prstGeom prst="roundRect">
            <a:avLst/>
          </a:prstGeom>
          <a:solidFill>
            <a:schemeClr val="accent4">
              <a:lumMod val="20000"/>
              <a:lumOff val="8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심사관</a:t>
            </a:r>
            <a:endParaRPr lang="en-US" altLang="ko-KR" sz="1400" dirty="0">
              <a:solidFill>
                <a:schemeClr val="tx1"/>
              </a:solidFill>
            </a:endParaRPr>
          </a:p>
          <a:p>
            <a:pPr algn="ctr"/>
            <a:r>
              <a:rPr lang="en-US" altLang="ko-KR" sz="1400" dirty="0">
                <a:solidFill>
                  <a:schemeClr val="tx1"/>
                </a:solidFill>
              </a:rPr>
              <a:t>(</a:t>
            </a:r>
            <a:r>
              <a:rPr lang="ko-KR" altLang="en-US" sz="1400" dirty="0">
                <a:solidFill>
                  <a:schemeClr val="tx1"/>
                </a:solidFill>
              </a:rPr>
              <a:t>甲</a:t>
            </a:r>
            <a:r>
              <a:rPr lang="en-US" altLang="ko-KR" sz="1400" dirty="0">
                <a:solidFill>
                  <a:schemeClr val="tx1"/>
                </a:solidFill>
              </a:rPr>
              <a:t>)</a:t>
            </a:r>
            <a:endParaRPr lang="ko-KR" altLang="en-US" sz="1400" dirty="0">
              <a:solidFill>
                <a:schemeClr val="tx1"/>
              </a:solidFill>
            </a:endParaRPr>
          </a:p>
        </p:txBody>
      </p:sp>
      <p:sp>
        <p:nvSpPr>
          <p:cNvPr id="36" name="모서리가 둥근 직사각형 35"/>
          <p:cNvSpPr/>
          <p:nvPr/>
        </p:nvSpPr>
        <p:spPr>
          <a:xfrm>
            <a:off x="7810271" y="4800517"/>
            <a:ext cx="2298238" cy="294545"/>
          </a:xfrm>
          <a:prstGeom prst="roundRect">
            <a:avLst/>
          </a:prstGeom>
          <a:solidFill>
            <a:schemeClr val="accent4">
              <a:lumMod val="20000"/>
              <a:lumOff val="8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심판원장</a:t>
            </a:r>
            <a:endParaRPr lang="ko-KR" altLang="en-US" sz="1400" dirty="0">
              <a:solidFill>
                <a:schemeClr val="tx1"/>
              </a:solidFill>
            </a:endParaRPr>
          </a:p>
        </p:txBody>
      </p:sp>
      <p:sp>
        <p:nvSpPr>
          <p:cNvPr id="37" name="모서리가 둥근 직사각형 36"/>
          <p:cNvSpPr/>
          <p:nvPr/>
        </p:nvSpPr>
        <p:spPr>
          <a:xfrm>
            <a:off x="7810271" y="5535899"/>
            <a:ext cx="2298238" cy="444350"/>
          </a:xfrm>
          <a:prstGeom prst="roundRect">
            <a:avLst/>
          </a:prstGeom>
          <a:solidFill>
            <a:schemeClr val="accent4">
              <a:lumMod val="20000"/>
              <a:lumOff val="80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심판관합의체</a:t>
            </a:r>
            <a:r>
              <a:rPr lang="en-US" altLang="ko-KR" sz="1100" dirty="0">
                <a:solidFill>
                  <a:schemeClr val="tx1"/>
                </a:solidFill>
              </a:rPr>
              <a:t>(3</a:t>
            </a:r>
            <a:r>
              <a:rPr lang="ko-KR" altLang="en-US" sz="1100" dirty="0">
                <a:solidFill>
                  <a:schemeClr val="tx1"/>
                </a:solidFill>
              </a:rPr>
              <a:t>인</a:t>
            </a:r>
            <a:r>
              <a:rPr lang="en-US" altLang="ko-KR" sz="1100" dirty="0">
                <a:solidFill>
                  <a:schemeClr val="tx1"/>
                </a:solidFill>
              </a:rPr>
              <a:t> </a:t>
            </a:r>
            <a:r>
              <a:rPr lang="ko-KR" altLang="en-US" sz="1100" dirty="0">
                <a:solidFill>
                  <a:schemeClr val="tx1"/>
                </a:solidFill>
              </a:rPr>
              <a:t>또는 </a:t>
            </a:r>
            <a:r>
              <a:rPr lang="en-US" altLang="ko-KR" sz="1100" dirty="0">
                <a:solidFill>
                  <a:schemeClr val="tx1"/>
                </a:solidFill>
              </a:rPr>
              <a:t>5</a:t>
            </a:r>
            <a:r>
              <a:rPr lang="ko-KR" altLang="en-US" sz="1100" dirty="0">
                <a:solidFill>
                  <a:schemeClr val="tx1"/>
                </a:solidFill>
              </a:rPr>
              <a:t>인</a:t>
            </a:r>
            <a:r>
              <a:rPr lang="en-US" altLang="ko-KR" sz="1100" dirty="0">
                <a:solidFill>
                  <a:schemeClr val="tx1"/>
                </a:solidFill>
              </a:rPr>
              <a:t>)</a:t>
            </a:r>
          </a:p>
          <a:p>
            <a:pPr algn="ctr"/>
            <a:r>
              <a:rPr lang="en-US" altLang="ko-KR" sz="1400" dirty="0">
                <a:solidFill>
                  <a:schemeClr val="tx1"/>
                </a:solidFill>
              </a:rPr>
              <a:t>(</a:t>
            </a:r>
            <a:r>
              <a:rPr lang="ko-KR" altLang="en-US" sz="1400" dirty="0">
                <a:solidFill>
                  <a:schemeClr val="tx1"/>
                </a:solidFill>
              </a:rPr>
              <a:t>甲</a:t>
            </a:r>
            <a:r>
              <a:rPr lang="en-US" altLang="ko-KR" sz="1400" dirty="0">
                <a:solidFill>
                  <a:schemeClr val="tx1"/>
                </a:solidFill>
              </a:rPr>
              <a:t>, </a:t>
            </a:r>
            <a:r>
              <a:rPr lang="ko-KR" altLang="en-US" sz="1400" dirty="0">
                <a:solidFill>
                  <a:schemeClr val="tx1"/>
                </a:solidFill>
              </a:rPr>
              <a:t>乙</a:t>
            </a:r>
            <a:r>
              <a:rPr lang="en-US" altLang="ko-KR" sz="1400" dirty="0">
                <a:solidFill>
                  <a:schemeClr val="tx1"/>
                </a:solidFill>
              </a:rPr>
              <a:t>, </a:t>
            </a:r>
            <a:r>
              <a:rPr lang="ko-KR" altLang="en-US" sz="1400" dirty="0">
                <a:solidFill>
                  <a:schemeClr val="tx1"/>
                </a:solidFill>
              </a:rPr>
              <a:t>丙</a:t>
            </a:r>
            <a:r>
              <a:rPr lang="en-US" altLang="ko-KR" sz="1400" dirty="0">
                <a:solidFill>
                  <a:schemeClr val="tx1"/>
                </a:solidFill>
              </a:rPr>
              <a:t>)</a:t>
            </a:r>
            <a:endParaRPr lang="ko-KR" altLang="en-US" sz="1400" dirty="0">
              <a:solidFill>
                <a:schemeClr val="tx1"/>
              </a:solidFill>
            </a:endParaRPr>
          </a:p>
        </p:txBody>
      </p:sp>
      <p:cxnSp>
        <p:nvCxnSpPr>
          <p:cNvPr id="39" name="직선 연결선 38"/>
          <p:cNvCxnSpPr>
            <a:stCxn id="33" idx="0"/>
          </p:cNvCxnSpPr>
          <p:nvPr/>
        </p:nvCxnSpPr>
        <p:spPr>
          <a:xfrm flipV="1">
            <a:off x="8959391" y="4181523"/>
            <a:ext cx="0" cy="247007"/>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직선 연결선 39"/>
          <p:cNvCxnSpPr>
            <a:stCxn id="31" idx="0"/>
          </p:cNvCxnSpPr>
          <p:nvPr/>
        </p:nvCxnSpPr>
        <p:spPr>
          <a:xfrm flipV="1">
            <a:off x="5252558" y="4181523"/>
            <a:ext cx="0" cy="247007"/>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직선 연결선 40"/>
          <p:cNvCxnSpPr>
            <a:stCxn id="37" idx="0"/>
            <a:endCxn id="36" idx="2"/>
          </p:cNvCxnSpPr>
          <p:nvPr/>
        </p:nvCxnSpPr>
        <p:spPr>
          <a:xfrm flipV="1">
            <a:off x="8959390" y="5095061"/>
            <a:ext cx="0" cy="440838"/>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5195674" y="3294919"/>
            <a:ext cx="1018227" cy="369332"/>
          </a:xfrm>
          <a:prstGeom prst="rect">
            <a:avLst/>
          </a:prstGeom>
          <a:noFill/>
        </p:spPr>
        <p:txBody>
          <a:bodyPr wrap="none" rtlCol="0">
            <a:spAutoFit/>
          </a:bodyPr>
          <a:lstStyle/>
          <a:p>
            <a:pPr algn="ctr"/>
            <a:r>
              <a:rPr lang="ko-KR" altLang="en-US" dirty="0">
                <a:solidFill>
                  <a:schemeClr val="accent2">
                    <a:lumMod val="50000"/>
                  </a:schemeClr>
                </a:solidFill>
              </a:rPr>
              <a:t>심사청구</a:t>
            </a:r>
          </a:p>
        </p:txBody>
      </p:sp>
      <p:cxnSp>
        <p:nvCxnSpPr>
          <p:cNvPr id="15" name="직선 연결선 14"/>
          <p:cNvCxnSpPr>
            <a:stCxn id="13" idx="2"/>
          </p:cNvCxnSpPr>
          <p:nvPr/>
        </p:nvCxnSpPr>
        <p:spPr>
          <a:xfrm>
            <a:off x="5704788" y="3664251"/>
            <a:ext cx="4884" cy="235002"/>
          </a:xfrm>
          <a:prstGeom prst="line">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6" name="직선 연결선 55"/>
          <p:cNvCxnSpPr/>
          <p:nvPr/>
        </p:nvCxnSpPr>
        <p:spPr>
          <a:xfrm>
            <a:off x="5704789" y="4187658"/>
            <a:ext cx="0" cy="983376"/>
          </a:xfrm>
          <a:prstGeom prst="line">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5704787" y="4704747"/>
            <a:ext cx="994774" cy="252809"/>
          </a:xfrm>
          <a:prstGeom prst="rect">
            <a:avLst/>
          </a:prstGeom>
          <a:noFill/>
        </p:spPr>
        <p:txBody>
          <a:bodyPr wrap="none" rtlCol="0">
            <a:spAutoFit/>
          </a:bodyPr>
          <a:lstStyle/>
          <a:p>
            <a:r>
              <a:rPr lang="ko-KR" altLang="en-US" dirty="0">
                <a:solidFill>
                  <a:schemeClr val="accent2">
                    <a:lumMod val="50000"/>
                  </a:schemeClr>
                </a:solidFill>
              </a:rPr>
              <a:t>지정</a:t>
            </a:r>
          </a:p>
        </p:txBody>
      </p:sp>
      <p:sp>
        <p:nvSpPr>
          <p:cNvPr id="65" name="TextBox 64"/>
          <p:cNvSpPr txBox="1"/>
          <p:nvPr/>
        </p:nvSpPr>
        <p:spPr>
          <a:xfrm>
            <a:off x="2718733" y="5247740"/>
            <a:ext cx="1018227" cy="369332"/>
          </a:xfrm>
          <a:prstGeom prst="rect">
            <a:avLst/>
          </a:prstGeom>
          <a:noFill/>
        </p:spPr>
        <p:txBody>
          <a:bodyPr wrap="none" rtlCol="0">
            <a:spAutoFit/>
          </a:bodyPr>
          <a:lstStyle/>
          <a:p>
            <a:pPr algn="ctr"/>
            <a:r>
              <a:rPr lang="ko-KR" altLang="en-US" dirty="0" err="1">
                <a:solidFill>
                  <a:schemeClr val="accent2">
                    <a:lumMod val="50000"/>
                  </a:schemeClr>
                </a:solidFill>
              </a:rPr>
              <a:t>거절결정</a:t>
            </a:r>
            <a:endParaRPr lang="ko-KR" altLang="en-US" dirty="0">
              <a:solidFill>
                <a:schemeClr val="accent2">
                  <a:lumMod val="50000"/>
                </a:schemeClr>
              </a:solidFill>
            </a:endParaRPr>
          </a:p>
        </p:txBody>
      </p:sp>
      <p:sp>
        <p:nvSpPr>
          <p:cNvPr id="67" name="TextBox 66"/>
          <p:cNvSpPr txBox="1"/>
          <p:nvPr/>
        </p:nvSpPr>
        <p:spPr>
          <a:xfrm>
            <a:off x="3530648" y="3294919"/>
            <a:ext cx="1018227" cy="369332"/>
          </a:xfrm>
          <a:prstGeom prst="rect">
            <a:avLst/>
          </a:prstGeom>
          <a:noFill/>
        </p:spPr>
        <p:txBody>
          <a:bodyPr wrap="none" rtlCol="0">
            <a:spAutoFit/>
          </a:bodyPr>
          <a:lstStyle/>
          <a:p>
            <a:pPr algn="ctr"/>
            <a:r>
              <a:rPr lang="ko-KR" altLang="en-US" dirty="0">
                <a:solidFill>
                  <a:schemeClr val="accent2">
                    <a:lumMod val="50000"/>
                  </a:schemeClr>
                </a:solidFill>
              </a:rPr>
              <a:t>특허출원</a:t>
            </a:r>
          </a:p>
        </p:txBody>
      </p:sp>
      <p:cxnSp>
        <p:nvCxnSpPr>
          <p:cNvPr id="68" name="직선 연결선 67"/>
          <p:cNvCxnSpPr>
            <a:stCxn id="67" idx="2"/>
          </p:cNvCxnSpPr>
          <p:nvPr/>
        </p:nvCxnSpPr>
        <p:spPr>
          <a:xfrm>
            <a:off x="4039762" y="3664251"/>
            <a:ext cx="4883" cy="235002"/>
          </a:xfrm>
          <a:prstGeom prst="line">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꺾인 연결선 17"/>
          <p:cNvCxnSpPr>
            <a:stCxn id="65" idx="2"/>
            <a:endCxn id="36" idx="3"/>
          </p:cNvCxnSpPr>
          <p:nvPr/>
        </p:nvCxnSpPr>
        <p:spPr>
          <a:xfrm rot="5400000" flipH="1" flipV="1">
            <a:off x="6333537" y="1842100"/>
            <a:ext cx="669282" cy="6880662"/>
          </a:xfrm>
          <a:prstGeom prst="bentConnector4">
            <a:avLst>
              <a:gd name="adj1" fmla="val -116130"/>
              <a:gd name="adj2" fmla="val 103322"/>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TextBox 68"/>
          <p:cNvSpPr txBox="1"/>
          <p:nvPr/>
        </p:nvSpPr>
        <p:spPr>
          <a:xfrm>
            <a:off x="6699561" y="6385736"/>
            <a:ext cx="2541080" cy="369332"/>
          </a:xfrm>
          <a:prstGeom prst="rect">
            <a:avLst/>
          </a:prstGeom>
          <a:noFill/>
        </p:spPr>
        <p:txBody>
          <a:bodyPr wrap="none" rtlCol="0">
            <a:spAutoFit/>
          </a:bodyPr>
          <a:lstStyle/>
          <a:p>
            <a:r>
              <a:rPr lang="ko-KR" altLang="en-US" dirty="0">
                <a:solidFill>
                  <a:schemeClr val="accent2">
                    <a:lumMod val="50000"/>
                  </a:schemeClr>
                </a:solidFill>
              </a:rPr>
              <a:t>거절결정불복심판의 청구</a:t>
            </a:r>
          </a:p>
        </p:txBody>
      </p:sp>
      <p:cxnSp>
        <p:nvCxnSpPr>
          <p:cNvPr id="71" name="직선 연결선 70"/>
          <p:cNvCxnSpPr/>
          <p:nvPr/>
        </p:nvCxnSpPr>
        <p:spPr>
          <a:xfrm>
            <a:off x="9503740" y="5095061"/>
            <a:ext cx="0" cy="440838"/>
          </a:xfrm>
          <a:prstGeom prst="line">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TextBox 72"/>
          <p:cNvSpPr txBox="1"/>
          <p:nvPr/>
        </p:nvSpPr>
        <p:spPr>
          <a:xfrm>
            <a:off x="9496443" y="5184356"/>
            <a:ext cx="994774" cy="252809"/>
          </a:xfrm>
          <a:prstGeom prst="rect">
            <a:avLst/>
          </a:prstGeom>
          <a:noFill/>
        </p:spPr>
        <p:txBody>
          <a:bodyPr wrap="none" rtlCol="0">
            <a:spAutoFit/>
          </a:bodyPr>
          <a:lstStyle/>
          <a:p>
            <a:r>
              <a:rPr lang="ko-KR" altLang="en-US" dirty="0">
                <a:solidFill>
                  <a:schemeClr val="accent2">
                    <a:lumMod val="50000"/>
                  </a:schemeClr>
                </a:solidFill>
              </a:rPr>
              <a:t>지정</a:t>
            </a:r>
          </a:p>
        </p:txBody>
      </p:sp>
      <p:cxnSp>
        <p:nvCxnSpPr>
          <p:cNvPr id="75" name="직선 연결선 74"/>
          <p:cNvCxnSpPr>
            <a:stCxn id="35" idx="3"/>
          </p:cNvCxnSpPr>
          <p:nvPr/>
        </p:nvCxnSpPr>
        <p:spPr>
          <a:xfrm>
            <a:off x="6431332" y="5412494"/>
            <a:ext cx="1378938" cy="331176"/>
          </a:xfrm>
          <a:prstGeom prst="line">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TextBox 78"/>
          <p:cNvSpPr txBox="1"/>
          <p:nvPr/>
        </p:nvSpPr>
        <p:spPr>
          <a:xfrm>
            <a:off x="6575474" y="5265416"/>
            <a:ext cx="1684115" cy="252809"/>
          </a:xfrm>
          <a:prstGeom prst="rect">
            <a:avLst/>
          </a:prstGeom>
          <a:noFill/>
        </p:spPr>
        <p:txBody>
          <a:bodyPr wrap="none" rtlCol="0">
            <a:spAutoFit/>
          </a:bodyPr>
          <a:lstStyle/>
          <a:p>
            <a:r>
              <a:rPr lang="ko-KR" altLang="en-US">
                <a:solidFill>
                  <a:schemeClr val="accent2">
                    <a:lumMod val="50000"/>
                  </a:schemeClr>
                </a:solidFill>
              </a:rPr>
              <a:t>인사발령</a:t>
            </a:r>
            <a:endParaRPr lang="ko-KR" altLang="en-US" dirty="0">
              <a:solidFill>
                <a:schemeClr val="accent2">
                  <a:lumMod val="50000"/>
                </a:schemeClr>
              </a:solidFill>
            </a:endParaRPr>
          </a:p>
        </p:txBody>
      </p:sp>
      <p:cxnSp>
        <p:nvCxnSpPr>
          <p:cNvPr id="82" name="직선 연결선 81"/>
          <p:cNvCxnSpPr/>
          <p:nvPr/>
        </p:nvCxnSpPr>
        <p:spPr>
          <a:xfrm>
            <a:off x="0" y="302147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TextBox 99"/>
          <p:cNvSpPr txBox="1"/>
          <p:nvPr/>
        </p:nvSpPr>
        <p:spPr>
          <a:xfrm>
            <a:off x="77875" y="986046"/>
            <a:ext cx="11936323" cy="2031325"/>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68</a:t>
            </a:r>
            <a:r>
              <a:rPr lang="ko-KR" altLang="en-US" sz="1400" b="1" dirty="0">
                <a:solidFill>
                  <a:schemeClr val="accent1"/>
                </a:solidFill>
              </a:rPr>
              <a:t>조</a:t>
            </a:r>
            <a:r>
              <a:rPr lang="en-US" altLang="ko-KR" sz="1400" b="1" dirty="0">
                <a:solidFill>
                  <a:schemeClr val="accent1"/>
                </a:solidFill>
              </a:rPr>
              <a:t>(</a:t>
            </a:r>
            <a:r>
              <a:rPr lang="ko-KR" altLang="en-US" sz="1400" b="1" dirty="0" err="1">
                <a:solidFill>
                  <a:schemeClr val="accent1"/>
                </a:solidFill>
              </a:rPr>
              <a:t>심판규정의</a:t>
            </a:r>
            <a:r>
              <a:rPr lang="ko-KR" altLang="en-US" sz="1400" b="1" dirty="0">
                <a:solidFill>
                  <a:schemeClr val="accent1"/>
                </a:solidFill>
              </a:rPr>
              <a:t> 심사에의 준용</a:t>
            </a:r>
            <a:r>
              <a:rPr lang="en-US" altLang="ko-KR" sz="1400" b="1" dirty="0">
                <a:solidFill>
                  <a:schemeClr val="accent1"/>
                </a:solidFill>
              </a:rPr>
              <a:t>)</a:t>
            </a:r>
            <a:r>
              <a:rPr lang="en-US" altLang="ko-KR" sz="1400" dirty="0">
                <a:solidFill>
                  <a:schemeClr val="tx2"/>
                </a:solidFill>
              </a:rPr>
              <a:t> </a:t>
            </a:r>
            <a:r>
              <a:rPr lang="ko-KR" altLang="en-US" sz="1400" dirty="0">
                <a:solidFill>
                  <a:schemeClr val="tx2"/>
                </a:solidFill>
              </a:rPr>
              <a:t>특허출원의 심사에 관하여는 제</a:t>
            </a:r>
            <a:r>
              <a:rPr lang="en-US" altLang="ko-KR" sz="1400" dirty="0">
                <a:solidFill>
                  <a:schemeClr val="tx2"/>
                </a:solidFill>
              </a:rPr>
              <a:t>148</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호부터 제</a:t>
            </a:r>
            <a:r>
              <a:rPr lang="en-US" altLang="ko-KR" sz="1400" dirty="0">
                <a:solidFill>
                  <a:schemeClr val="tx2"/>
                </a:solidFill>
              </a:rPr>
              <a:t>5</a:t>
            </a:r>
            <a:r>
              <a:rPr lang="ko-KR" altLang="en-US" sz="1400" dirty="0">
                <a:solidFill>
                  <a:schemeClr val="tx2"/>
                </a:solidFill>
              </a:rPr>
              <a:t>호까지 및 제</a:t>
            </a:r>
            <a:r>
              <a:rPr lang="en-US" altLang="ko-KR" sz="1400" dirty="0">
                <a:solidFill>
                  <a:schemeClr val="tx2"/>
                </a:solidFill>
              </a:rPr>
              <a:t>7</a:t>
            </a:r>
            <a:r>
              <a:rPr lang="ko-KR" altLang="en-US" sz="1400" dirty="0">
                <a:solidFill>
                  <a:schemeClr val="tx2"/>
                </a:solidFill>
              </a:rPr>
              <a:t>호를 준용한다</a:t>
            </a:r>
            <a:r>
              <a:rPr lang="en-US" altLang="ko-KR" sz="1400" dirty="0">
                <a:solidFill>
                  <a:schemeClr val="tx2"/>
                </a:solidFill>
              </a:rPr>
              <a:t>.</a:t>
            </a:r>
          </a:p>
          <a:p>
            <a:pPr fontAlgn="base"/>
            <a:r>
              <a:rPr lang="ko-KR" altLang="en-US" sz="1400" b="1" dirty="0">
                <a:solidFill>
                  <a:schemeClr val="accent1"/>
                </a:solidFill>
              </a:rPr>
              <a:t>제</a:t>
            </a:r>
            <a:r>
              <a:rPr lang="en-US" altLang="ko-KR" sz="1400" b="1" dirty="0">
                <a:solidFill>
                  <a:schemeClr val="accent1"/>
                </a:solidFill>
              </a:rPr>
              <a:t>148</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심판관의 제척</a:t>
            </a:r>
            <a:r>
              <a:rPr lang="en-US" altLang="ko-KR" sz="1400" b="1" dirty="0">
                <a:solidFill>
                  <a:schemeClr val="accent1"/>
                </a:solidFill>
              </a:rPr>
              <a:t>)</a:t>
            </a:r>
            <a:r>
              <a:rPr lang="en-US" altLang="ko-KR" sz="1400" dirty="0">
                <a:solidFill>
                  <a:schemeClr val="tx2"/>
                </a:solidFill>
              </a:rPr>
              <a:t> </a:t>
            </a:r>
            <a:r>
              <a:rPr lang="ko-KR" altLang="en-US" sz="1400" dirty="0">
                <a:solidFill>
                  <a:schemeClr val="tx2"/>
                </a:solidFill>
              </a:rPr>
              <a:t>심판관은 다음 각 호의 어느 하나에 해당하는 경우에는 그 심판에서 제척된다</a:t>
            </a:r>
            <a:r>
              <a:rPr lang="en-US" altLang="ko-KR" sz="1400" dirty="0">
                <a:solidFill>
                  <a:schemeClr val="tx2"/>
                </a:solidFill>
              </a:rPr>
              <a:t>.  </a:t>
            </a:r>
          </a:p>
          <a:p>
            <a:pPr fontAlgn="base"/>
            <a:r>
              <a:rPr lang="en-US" altLang="ko-KR" sz="1400" dirty="0">
                <a:solidFill>
                  <a:schemeClr val="tx2"/>
                </a:solidFill>
              </a:rPr>
              <a:t>1. </a:t>
            </a:r>
            <a:r>
              <a:rPr lang="ko-KR" altLang="en-US" sz="1400" dirty="0">
                <a:solidFill>
                  <a:schemeClr val="tx2"/>
                </a:solidFill>
              </a:rPr>
              <a:t>심판관 또는 그 배우자이거나 </a:t>
            </a:r>
            <a:r>
              <a:rPr lang="ko-KR" altLang="en-US" sz="1400" dirty="0" err="1">
                <a:solidFill>
                  <a:schemeClr val="tx2"/>
                </a:solidFill>
              </a:rPr>
              <a:t>배우자이었던</a:t>
            </a:r>
            <a:r>
              <a:rPr lang="ko-KR" altLang="en-US" sz="1400" dirty="0">
                <a:solidFill>
                  <a:schemeClr val="tx2"/>
                </a:solidFill>
              </a:rPr>
              <a:t> 사람이 사건의 당사자</a:t>
            </a:r>
            <a:r>
              <a:rPr lang="en-US" altLang="ko-KR" sz="1400" dirty="0">
                <a:solidFill>
                  <a:schemeClr val="tx2"/>
                </a:solidFill>
              </a:rPr>
              <a:t>, </a:t>
            </a:r>
            <a:r>
              <a:rPr lang="ko-KR" altLang="en-US" sz="1400" dirty="0">
                <a:solidFill>
                  <a:schemeClr val="tx2"/>
                </a:solidFill>
              </a:rPr>
              <a:t>참가인 또는 특허취소신청인인 경우</a:t>
            </a:r>
          </a:p>
          <a:p>
            <a:pPr fontAlgn="base"/>
            <a:r>
              <a:rPr lang="en-US" altLang="ko-KR" sz="1400" dirty="0">
                <a:solidFill>
                  <a:schemeClr val="tx2"/>
                </a:solidFill>
              </a:rPr>
              <a:t>2. </a:t>
            </a:r>
            <a:r>
              <a:rPr lang="ko-KR" altLang="en-US" sz="1400" dirty="0">
                <a:solidFill>
                  <a:schemeClr val="tx2"/>
                </a:solidFill>
              </a:rPr>
              <a:t>심판관이 사건의 당사자</a:t>
            </a:r>
            <a:r>
              <a:rPr lang="en-US" altLang="ko-KR" sz="1400" dirty="0">
                <a:solidFill>
                  <a:schemeClr val="tx2"/>
                </a:solidFill>
              </a:rPr>
              <a:t>, </a:t>
            </a:r>
            <a:r>
              <a:rPr lang="ko-KR" altLang="en-US" sz="1400" dirty="0">
                <a:solidFill>
                  <a:schemeClr val="tx2"/>
                </a:solidFill>
              </a:rPr>
              <a:t>참가인 또는 특허취소신청인의 친족이거나 친족이었던 경우</a:t>
            </a:r>
          </a:p>
          <a:p>
            <a:pPr fontAlgn="base"/>
            <a:r>
              <a:rPr lang="en-US" altLang="ko-KR" sz="1400" dirty="0">
                <a:solidFill>
                  <a:schemeClr val="tx2"/>
                </a:solidFill>
              </a:rPr>
              <a:t>3. </a:t>
            </a:r>
            <a:r>
              <a:rPr lang="ko-KR" altLang="en-US" sz="1400" dirty="0">
                <a:solidFill>
                  <a:schemeClr val="tx2"/>
                </a:solidFill>
              </a:rPr>
              <a:t>심판관이 사건의 당사자</a:t>
            </a:r>
            <a:r>
              <a:rPr lang="en-US" altLang="ko-KR" sz="1400" dirty="0">
                <a:solidFill>
                  <a:schemeClr val="tx2"/>
                </a:solidFill>
              </a:rPr>
              <a:t>, </a:t>
            </a:r>
            <a:r>
              <a:rPr lang="ko-KR" altLang="en-US" sz="1400" dirty="0">
                <a:solidFill>
                  <a:schemeClr val="tx2"/>
                </a:solidFill>
              </a:rPr>
              <a:t>참가인 또는 특허취소신청인의 법정대리인이거나 법정대리인이었던 경우</a:t>
            </a:r>
          </a:p>
          <a:p>
            <a:pPr fontAlgn="base"/>
            <a:r>
              <a:rPr lang="en-US" altLang="ko-KR" sz="1400" dirty="0">
                <a:solidFill>
                  <a:schemeClr val="tx2"/>
                </a:solidFill>
              </a:rPr>
              <a:t>4. </a:t>
            </a:r>
            <a:r>
              <a:rPr lang="ko-KR" altLang="en-US" sz="1400" dirty="0">
                <a:solidFill>
                  <a:schemeClr val="tx2"/>
                </a:solidFill>
              </a:rPr>
              <a:t>심판관이 사건에 대한 증인</a:t>
            </a:r>
            <a:r>
              <a:rPr lang="en-US" altLang="ko-KR" sz="1400" dirty="0">
                <a:solidFill>
                  <a:schemeClr val="tx2"/>
                </a:solidFill>
              </a:rPr>
              <a:t>, </a:t>
            </a:r>
            <a:r>
              <a:rPr lang="ko-KR" altLang="en-US" sz="1400" dirty="0">
                <a:solidFill>
                  <a:schemeClr val="tx2"/>
                </a:solidFill>
              </a:rPr>
              <a:t>감정인이거나 감정인이었던 경우</a:t>
            </a:r>
          </a:p>
          <a:p>
            <a:pPr fontAlgn="base"/>
            <a:r>
              <a:rPr lang="en-US" altLang="ko-KR" sz="1400" dirty="0">
                <a:solidFill>
                  <a:schemeClr val="tx2"/>
                </a:solidFill>
              </a:rPr>
              <a:t>5. </a:t>
            </a:r>
            <a:r>
              <a:rPr lang="ko-KR" altLang="en-US" sz="1400" dirty="0">
                <a:solidFill>
                  <a:schemeClr val="tx2"/>
                </a:solidFill>
              </a:rPr>
              <a:t>심판관이 사건의 당사자</a:t>
            </a:r>
            <a:r>
              <a:rPr lang="en-US" altLang="ko-KR" sz="1400" dirty="0">
                <a:solidFill>
                  <a:schemeClr val="tx2"/>
                </a:solidFill>
              </a:rPr>
              <a:t>, </a:t>
            </a:r>
            <a:r>
              <a:rPr lang="ko-KR" altLang="en-US" sz="1400" dirty="0">
                <a:solidFill>
                  <a:schemeClr val="tx2"/>
                </a:solidFill>
              </a:rPr>
              <a:t>참가인 또는 특허취소신청인의 대리인이거나 대리인이었던 경우</a:t>
            </a:r>
          </a:p>
          <a:p>
            <a:pPr fontAlgn="base"/>
            <a:r>
              <a:rPr lang="en-US" altLang="ko-KR" sz="1400" dirty="0">
                <a:solidFill>
                  <a:srgbClr val="FF0000"/>
                </a:solidFill>
              </a:rPr>
              <a:t>6. </a:t>
            </a:r>
            <a:r>
              <a:rPr lang="ko-KR" altLang="en-US" sz="1400" dirty="0">
                <a:solidFill>
                  <a:srgbClr val="FF0000"/>
                </a:solidFill>
              </a:rPr>
              <a:t>심판관이 사건에 대하여 심사관 또는 심판관으로서 특허여부결정 또는 </a:t>
            </a:r>
            <a:r>
              <a:rPr lang="ko-KR" altLang="en-US" sz="1400" dirty="0" err="1">
                <a:solidFill>
                  <a:srgbClr val="FF0000"/>
                </a:solidFill>
              </a:rPr>
              <a:t>심결에</a:t>
            </a:r>
            <a:r>
              <a:rPr lang="ko-KR" altLang="en-US" sz="1400" dirty="0">
                <a:solidFill>
                  <a:srgbClr val="FF0000"/>
                </a:solidFill>
              </a:rPr>
              <a:t> 관여한 경우</a:t>
            </a:r>
          </a:p>
          <a:p>
            <a:pPr fontAlgn="base"/>
            <a:r>
              <a:rPr lang="en-US" altLang="ko-KR" sz="1400" dirty="0">
                <a:solidFill>
                  <a:schemeClr val="tx2"/>
                </a:solidFill>
              </a:rPr>
              <a:t>7. </a:t>
            </a:r>
            <a:r>
              <a:rPr lang="ko-KR" altLang="en-US" sz="1400" dirty="0">
                <a:solidFill>
                  <a:schemeClr val="tx2"/>
                </a:solidFill>
              </a:rPr>
              <a:t>심판관이 사건에 관하여 직접 이해관계를 가진 경우</a:t>
            </a:r>
            <a:endParaRPr lang="en-US" altLang="ko-KR" sz="1400" dirty="0">
              <a:solidFill>
                <a:schemeClr val="tx2"/>
              </a:solidFill>
            </a:endParaRPr>
          </a:p>
        </p:txBody>
      </p:sp>
      <p:sp>
        <p:nvSpPr>
          <p:cNvPr id="2" name="슬라이드 번호 개체 틀 1"/>
          <p:cNvSpPr>
            <a:spLocks noGrp="1"/>
          </p:cNvSpPr>
          <p:nvPr>
            <p:ph type="sldNum" sz="quarter" idx="12"/>
          </p:nvPr>
        </p:nvSpPr>
        <p:spPr/>
        <p:txBody>
          <a:bodyPr/>
          <a:lstStyle/>
          <a:p>
            <a:r>
              <a:rPr lang="en-US" altLang="ko-KR"/>
              <a:t>247</a:t>
            </a:r>
            <a:endParaRPr lang="ko-KR" altLang="en-US" dirty="0"/>
          </a:p>
        </p:txBody>
      </p:sp>
      <p:sp>
        <p:nvSpPr>
          <p:cNvPr id="5" name="사각형: 둥근 모서리 4">
            <a:extLst>
              <a:ext uri="{FF2B5EF4-FFF2-40B4-BE49-F238E27FC236}">
                <a16:creationId xmlns:a16="http://schemas.microsoft.com/office/drawing/2014/main" id="{F74C4B8D-384E-5BEB-6B83-3BA1B1985A39}"/>
              </a:ext>
            </a:extLst>
          </p:cNvPr>
          <p:cNvSpPr/>
          <p:nvPr/>
        </p:nvSpPr>
        <p:spPr>
          <a:xfrm>
            <a:off x="825245" y="4337001"/>
            <a:ext cx="1315224" cy="1241110"/>
          </a:xfrm>
          <a:prstGeom prst="roundRect">
            <a:avLst>
              <a:gd name="adj" fmla="val 50000"/>
            </a:avLst>
          </a:prstGeom>
          <a:solidFill>
            <a:schemeClr val="accent1">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ko-KR" altLang="en-US" dirty="0"/>
              <a:t>심판관</a:t>
            </a:r>
            <a:r>
              <a:rPr lang="en-US" altLang="ko-KR" dirty="0"/>
              <a:t>(</a:t>
            </a:r>
            <a:r>
              <a:rPr lang="ko-KR" altLang="en-US" dirty="0"/>
              <a:t>甲</a:t>
            </a:r>
            <a:r>
              <a:rPr lang="en-US" altLang="ko-KR" dirty="0"/>
              <a:t>)</a:t>
            </a:r>
          </a:p>
          <a:p>
            <a:pPr algn="ctr"/>
            <a:r>
              <a:rPr lang="ko-KR" altLang="en-US" dirty="0"/>
              <a:t>전심관여</a:t>
            </a:r>
          </a:p>
        </p:txBody>
      </p:sp>
    </p:spTree>
    <p:extLst>
      <p:ext uri="{BB962C8B-B14F-4D97-AF65-F5344CB8AC3E}">
        <p14:creationId xmlns:p14="http://schemas.microsoft.com/office/powerpoint/2010/main" val="2256962858"/>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직사각형 28"/>
          <p:cNvSpPr/>
          <p:nvPr/>
        </p:nvSpPr>
        <p:spPr>
          <a:xfrm>
            <a:off x="3794760" y="3393566"/>
            <a:ext cx="996696" cy="190891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3" name="직선 연결선 82"/>
          <p:cNvCxnSpPr/>
          <p:nvPr/>
        </p:nvCxnSpPr>
        <p:spPr>
          <a:xfrm flipV="1">
            <a:off x="3017520" y="4320716"/>
            <a:ext cx="1773936"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4" name="직선 연결선 83"/>
          <p:cNvCxnSpPr/>
          <p:nvPr/>
        </p:nvCxnSpPr>
        <p:spPr>
          <a:xfrm flipV="1">
            <a:off x="3017520" y="4702114"/>
            <a:ext cx="1773936"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직선 연결선 27"/>
          <p:cNvCxnSpPr>
            <a:stCxn id="54" idx="3"/>
          </p:cNvCxnSpPr>
          <p:nvPr/>
        </p:nvCxnSpPr>
        <p:spPr>
          <a:xfrm flipV="1">
            <a:off x="3017520" y="3563414"/>
            <a:ext cx="1773936"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59</a:t>
            </a:r>
            <a:r>
              <a:rPr lang="ko-KR" altLang="en-US" dirty="0"/>
              <a:t>조</a:t>
            </a:r>
            <a:r>
              <a:rPr lang="en-US" altLang="ko-KR" dirty="0"/>
              <a:t>, </a:t>
            </a:r>
            <a:r>
              <a:rPr lang="ko-KR" altLang="en-US" dirty="0"/>
              <a:t>제</a:t>
            </a:r>
            <a:r>
              <a:rPr lang="en-US" altLang="ko-KR" dirty="0"/>
              <a:t>60</a:t>
            </a:r>
            <a:r>
              <a:rPr lang="ko-KR" altLang="en-US" dirty="0"/>
              <a:t>조</a:t>
            </a:r>
          </a:p>
        </p:txBody>
      </p:sp>
      <p:sp>
        <p:nvSpPr>
          <p:cNvPr id="4" name="텍스트 개체 틀 3"/>
          <p:cNvSpPr>
            <a:spLocks noGrp="1"/>
          </p:cNvSpPr>
          <p:nvPr>
            <p:ph type="body" sz="quarter" idx="13"/>
          </p:nvPr>
        </p:nvSpPr>
        <p:spPr/>
        <p:txBody>
          <a:bodyPr/>
          <a:lstStyle/>
          <a:p>
            <a:r>
              <a:rPr lang="ko-KR" altLang="en-US" dirty="0"/>
              <a:t>심사청구기간</a:t>
            </a:r>
            <a:r>
              <a:rPr lang="en-US" altLang="ko-KR" dirty="0"/>
              <a:t>(</a:t>
            </a:r>
            <a:r>
              <a:rPr lang="ko-KR" altLang="en-US" dirty="0"/>
              <a:t>제</a:t>
            </a:r>
            <a:r>
              <a:rPr lang="en-US" altLang="ko-KR" dirty="0"/>
              <a:t>59</a:t>
            </a:r>
            <a:r>
              <a:rPr lang="ko-KR" altLang="en-US" dirty="0"/>
              <a:t>조제</a:t>
            </a:r>
            <a:r>
              <a:rPr lang="en-US" altLang="ko-KR" dirty="0"/>
              <a:t>2</a:t>
            </a:r>
            <a:r>
              <a:rPr lang="ko-KR" altLang="en-US" dirty="0"/>
              <a:t>항</a:t>
            </a:r>
            <a:r>
              <a:rPr lang="en-US" altLang="ko-KR" dirty="0"/>
              <a:t>, </a:t>
            </a:r>
            <a:r>
              <a:rPr lang="ko-KR" altLang="en-US" dirty="0"/>
              <a:t>제</a:t>
            </a:r>
            <a:r>
              <a:rPr lang="en-US" altLang="ko-KR" dirty="0"/>
              <a:t>3</a:t>
            </a:r>
            <a:r>
              <a:rPr lang="ko-KR" altLang="en-US" dirty="0"/>
              <a:t>항</a:t>
            </a:r>
            <a:r>
              <a:rPr lang="en-US" altLang="ko-KR" dirty="0"/>
              <a:t>)</a:t>
            </a:r>
            <a:endParaRPr lang="ko-KR" altLang="en-US" dirty="0"/>
          </a:p>
        </p:txBody>
      </p:sp>
      <p:cxnSp>
        <p:nvCxnSpPr>
          <p:cNvPr id="82" name="직선 연결선 81"/>
          <p:cNvCxnSpPr/>
          <p:nvPr/>
        </p:nvCxnSpPr>
        <p:spPr>
          <a:xfrm>
            <a:off x="0" y="236310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TextBox 99"/>
          <p:cNvSpPr txBox="1"/>
          <p:nvPr/>
        </p:nvSpPr>
        <p:spPr>
          <a:xfrm>
            <a:off x="77875" y="976902"/>
            <a:ext cx="11936323" cy="1384995"/>
          </a:xfrm>
          <a:prstGeom prst="rect">
            <a:avLst/>
          </a:prstGeom>
          <a:noFill/>
        </p:spPr>
        <p:txBody>
          <a:bodyPr wrap="square" rtlCol="0">
            <a:spAutoFit/>
          </a:bodyPr>
          <a:lstStyle/>
          <a:p>
            <a:pPr fontAlgn="base"/>
            <a:r>
              <a:rPr lang="ko-KR" altLang="en-US" sz="1400" dirty="0">
                <a:solidFill>
                  <a:schemeClr val="tx2"/>
                </a:solidFill>
              </a:rPr>
              <a:t>특허출원에 관한 심사의 청구는 </a:t>
            </a:r>
            <a:r>
              <a:rPr lang="ko-KR" altLang="en-US" sz="1400" dirty="0">
                <a:highlight>
                  <a:srgbClr val="FFFF00"/>
                </a:highlight>
              </a:rPr>
              <a:t>특허출원일로부터 </a:t>
            </a:r>
            <a:r>
              <a:rPr lang="en-US" altLang="ko-KR" sz="1400" dirty="0">
                <a:highlight>
                  <a:srgbClr val="FFFF00"/>
                </a:highlight>
              </a:rPr>
              <a:t>3</a:t>
            </a:r>
            <a:r>
              <a:rPr lang="ko-KR" altLang="en-US" sz="1400" dirty="0">
                <a:highlight>
                  <a:srgbClr val="FFFF00"/>
                </a:highlight>
              </a:rPr>
              <a:t>년</a:t>
            </a:r>
            <a:r>
              <a:rPr lang="ko-KR" altLang="en-US" sz="1400" dirty="0">
                <a:solidFill>
                  <a:schemeClr val="tx2"/>
                </a:solidFill>
              </a:rPr>
              <a:t> 이내에 할 수 있다</a:t>
            </a:r>
            <a:r>
              <a:rPr lang="en-US" altLang="ko-KR" sz="1400" dirty="0">
                <a:solidFill>
                  <a:schemeClr val="tx2"/>
                </a:solidFill>
              </a:rPr>
              <a:t>. </a:t>
            </a:r>
            <a:r>
              <a:rPr lang="ko-KR" altLang="en-US" sz="1400" dirty="0">
                <a:solidFill>
                  <a:schemeClr val="tx2"/>
                </a:solidFill>
              </a:rPr>
              <a:t>출원인의 입장에서 보면 </a:t>
            </a:r>
            <a:r>
              <a:rPr lang="ko-KR" altLang="en-US" sz="1400" dirty="0" err="1">
                <a:solidFill>
                  <a:schemeClr val="tx2"/>
                </a:solidFill>
              </a:rPr>
              <a:t>기술적ㆍ경제적으로</a:t>
            </a:r>
            <a:r>
              <a:rPr lang="ko-KR" altLang="en-US" sz="1400" dirty="0">
                <a:solidFill>
                  <a:schemeClr val="tx2"/>
                </a:solidFill>
              </a:rPr>
              <a:t> 무가치한 출원의 심사청구를 억제할 수 있도록 충분한 </a:t>
            </a:r>
            <a:r>
              <a:rPr lang="ko-KR" altLang="en-US" sz="1400" dirty="0" err="1">
                <a:solidFill>
                  <a:schemeClr val="tx2"/>
                </a:solidFill>
              </a:rPr>
              <a:t>고려기간이</a:t>
            </a:r>
            <a:r>
              <a:rPr lang="ko-KR" altLang="en-US" sz="1400" dirty="0">
                <a:solidFill>
                  <a:schemeClr val="tx2"/>
                </a:solidFill>
              </a:rPr>
              <a:t> 필요하다</a:t>
            </a:r>
            <a:r>
              <a:rPr lang="en-US" altLang="ko-KR" sz="1400" dirty="0">
                <a:solidFill>
                  <a:schemeClr val="tx2"/>
                </a:solidFill>
              </a:rPr>
              <a:t>. </a:t>
            </a:r>
            <a:r>
              <a:rPr lang="ko-KR" altLang="en-US" sz="1400" dirty="0">
                <a:solidFill>
                  <a:schemeClr val="tx2"/>
                </a:solidFill>
              </a:rPr>
              <a:t>그러나 그 심사청구기간을 너무 장기로 하게 되면 출원발명의 권리화 여부가 불확실해지게 되어 산업계의 불안정한 상태가 장기간 계속되는 문제점이 있기 때문에 출원일로부터 </a:t>
            </a:r>
            <a:r>
              <a:rPr lang="en-US" altLang="ko-KR" sz="1400" dirty="0">
                <a:solidFill>
                  <a:schemeClr val="tx2"/>
                </a:solidFill>
              </a:rPr>
              <a:t>3</a:t>
            </a:r>
            <a:r>
              <a:rPr lang="ko-KR" altLang="en-US" sz="1400" dirty="0">
                <a:solidFill>
                  <a:schemeClr val="tx2"/>
                </a:solidFill>
              </a:rPr>
              <a:t>년으로 규정하고 있다</a:t>
            </a:r>
            <a:r>
              <a:rPr lang="en-US" altLang="ko-KR" sz="1400" dirty="0">
                <a:solidFill>
                  <a:schemeClr val="tx2"/>
                </a:solidFill>
              </a:rPr>
              <a:t>. </a:t>
            </a:r>
            <a:r>
              <a:rPr lang="ko-KR" altLang="en-US" sz="1400" dirty="0">
                <a:solidFill>
                  <a:schemeClr val="tx2"/>
                </a:solidFill>
              </a:rPr>
              <a:t>출원인은</a:t>
            </a:r>
            <a:r>
              <a:rPr lang="en-US" altLang="ko-KR" sz="1400" dirty="0">
                <a:solidFill>
                  <a:schemeClr val="tx2"/>
                </a:solidFill>
              </a:rPr>
              <a:t> </a:t>
            </a:r>
            <a:r>
              <a:rPr lang="ko-KR" altLang="en-US" sz="1400" dirty="0">
                <a:solidFill>
                  <a:schemeClr val="tx2"/>
                </a:solidFill>
              </a:rPr>
              <a:t>라이프 사이클이 짧은 기술과 관련된 발명에 대해서는 심사청구를 하여 조기에 특허권을 확보해야 하겠지만</a:t>
            </a:r>
            <a:r>
              <a:rPr lang="en-US" altLang="ko-KR" sz="1400" dirty="0">
                <a:solidFill>
                  <a:schemeClr val="tx2"/>
                </a:solidFill>
              </a:rPr>
              <a:t>, </a:t>
            </a:r>
            <a:r>
              <a:rPr lang="ko-KR" altLang="en-US" sz="1400" dirty="0">
                <a:solidFill>
                  <a:schemeClr val="tx2"/>
                </a:solidFill>
              </a:rPr>
              <a:t>중장기적인 사업과 관련된 발명에 대해서는 심사청구시기를 늦출 필요가 있다</a:t>
            </a:r>
            <a:r>
              <a:rPr lang="en-US" altLang="ko-KR" sz="1400" dirty="0">
                <a:solidFill>
                  <a:schemeClr val="tx2"/>
                </a:solidFill>
              </a:rPr>
              <a:t>. </a:t>
            </a:r>
            <a:r>
              <a:rPr lang="ko-KR" altLang="en-US" sz="1400" dirty="0">
                <a:highlight>
                  <a:srgbClr val="FFFF00"/>
                </a:highlight>
              </a:rPr>
              <a:t>시간의 경과에 따라 자사</a:t>
            </a:r>
            <a:r>
              <a:rPr lang="en-US" altLang="ko-KR" sz="1400" dirty="0">
                <a:highlight>
                  <a:srgbClr val="FFFF00"/>
                </a:highlight>
              </a:rPr>
              <a:t>·</a:t>
            </a:r>
            <a:r>
              <a:rPr lang="ko-KR" altLang="en-US" sz="1400" dirty="0">
                <a:highlight>
                  <a:srgbClr val="FFFF00"/>
                </a:highlight>
              </a:rPr>
              <a:t>타사의 연구개발 상황이나 그 기술 분야 전체의 장래성 등의 정보가 갱신</a:t>
            </a:r>
            <a:r>
              <a:rPr lang="ko-KR" altLang="en-US" sz="1400" dirty="0">
                <a:solidFill>
                  <a:schemeClr val="tx2"/>
                </a:solidFill>
              </a:rPr>
              <a:t>되기 때문이다</a:t>
            </a:r>
            <a:r>
              <a:rPr lang="en-US" altLang="ko-KR" sz="1400" dirty="0">
                <a:solidFill>
                  <a:schemeClr val="tx2"/>
                </a:solidFill>
              </a:rPr>
              <a:t>. </a:t>
            </a:r>
            <a:r>
              <a:rPr lang="ko-KR" altLang="en-US" sz="1400" dirty="0">
                <a:solidFill>
                  <a:schemeClr val="tx2"/>
                </a:solidFill>
              </a:rPr>
              <a:t>또한</a:t>
            </a:r>
            <a:r>
              <a:rPr lang="en-US" altLang="ko-KR" sz="1400" dirty="0">
                <a:solidFill>
                  <a:schemeClr val="tx2"/>
                </a:solidFill>
              </a:rPr>
              <a:t>, </a:t>
            </a:r>
            <a:r>
              <a:rPr lang="ko-KR" altLang="en-US" sz="1400" dirty="0">
                <a:solidFill>
                  <a:schemeClr val="tx2"/>
                </a:solidFill>
              </a:rPr>
              <a:t>심사청구를 하여 실체심사 결과 특허등록이 되면 청구범위가 확정되어 보정하여 </a:t>
            </a:r>
            <a:r>
              <a:rPr lang="ko-KR" altLang="en-US" sz="1400" dirty="0">
                <a:highlight>
                  <a:srgbClr val="FFFF00"/>
                </a:highlight>
              </a:rPr>
              <a:t>권리범위를 재설계할 수 있는 기회를 상실하게 되고</a:t>
            </a:r>
            <a:r>
              <a:rPr lang="en-US" altLang="ko-KR" sz="1400" dirty="0">
                <a:highlight>
                  <a:srgbClr val="FFFF00"/>
                </a:highlight>
              </a:rPr>
              <a:t>, </a:t>
            </a:r>
            <a:r>
              <a:rPr lang="ko-KR" altLang="en-US" sz="1400" dirty="0">
                <a:highlight>
                  <a:srgbClr val="FFFF00"/>
                </a:highlight>
              </a:rPr>
              <a:t>특허료 등의 특허비용이 증가할 수 있다</a:t>
            </a:r>
            <a:r>
              <a:rPr lang="ko-KR" altLang="en-US" sz="1400" dirty="0"/>
              <a:t>는 것을 고려해야 한다</a:t>
            </a:r>
            <a:r>
              <a:rPr lang="en-US" altLang="ko-KR" sz="1400" dirty="0"/>
              <a:t>.</a:t>
            </a:r>
            <a:r>
              <a:rPr lang="en-US" altLang="ko-KR" sz="1400" dirty="0">
                <a:highlight>
                  <a:srgbClr val="FFFF00"/>
                </a:highlight>
              </a:rPr>
              <a:t> </a:t>
            </a:r>
            <a:endParaRPr lang="en-US" altLang="ko-KR" sz="1400" dirty="0">
              <a:solidFill>
                <a:schemeClr val="tx2"/>
              </a:solidFill>
            </a:endParaRPr>
          </a:p>
        </p:txBody>
      </p:sp>
      <p:sp>
        <p:nvSpPr>
          <p:cNvPr id="42" name="TextBox 41"/>
          <p:cNvSpPr txBox="1"/>
          <p:nvPr/>
        </p:nvSpPr>
        <p:spPr>
          <a:xfrm>
            <a:off x="743199" y="2597796"/>
            <a:ext cx="4233947" cy="584775"/>
          </a:xfrm>
          <a:prstGeom prst="rect">
            <a:avLst/>
          </a:prstGeom>
          <a:noFill/>
        </p:spPr>
        <p:txBody>
          <a:bodyPr wrap="square" rtlCol="0">
            <a:spAutoFit/>
          </a:bodyPr>
          <a:lstStyle/>
          <a:p>
            <a:r>
              <a:rPr lang="ko-KR" altLang="en-US" sz="3200" dirty="0"/>
              <a:t>특허출원일로부터 </a:t>
            </a:r>
            <a:r>
              <a:rPr lang="en-US" altLang="ko-KR" sz="3200" dirty="0"/>
              <a:t>3</a:t>
            </a:r>
            <a:r>
              <a:rPr lang="ko-KR" altLang="en-US" sz="3200" dirty="0"/>
              <a:t>년</a:t>
            </a:r>
          </a:p>
        </p:txBody>
      </p:sp>
      <p:cxnSp>
        <p:nvCxnSpPr>
          <p:cNvPr id="43" name="직선 연결선 42"/>
          <p:cNvCxnSpPr/>
          <p:nvPr/>
        </p:nvCxnSpPr>
        <p:spPr>
          <a:xfrm>
            <a:off x="839427" y="3184340"/>
            <a:ext cx="1794045"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직사각형 4"/>
          <p:cNvSpPr/>
          <p:nvPr/>
        </p:nvSpPr>
        <p:spPr>
          <a:xfrm>
            <a:off x="685800" y="3914775"/>
            <a:ext cx="795528" cy="438912"/>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t>소급제도</a:t>
            </a:r>
            <a:endParaRPr lang="en-US" altLang="ko-KR" sz="1100" dirty="0"/>
          </a:p>
          <a:p>
            <a:pPr algn="ctr"/>
            <a:r>
              <a:rPr lang="en-US" altLang="ko-KR" sz="1100" dirty="0"/>
              <a:t>(7</a:t>
            </a:r>
            <a:r>
              <a:rPr lang="ko-KR" altLang="en-US" sz="1100" dirty="0"/>
              <a:t>가지</a:t>
            </a:r>
            <a:r>
              <a:rPr lang="en-US" altLang="ko-KR" sz="1100" dirty="0"/>
              <a:t>)</a:t>
            </a:r>
            <a:endParaRPr lang="ko-KR" altLang="en-US" sz="1100" dirty="0"/>
          </a:p>
        </p:txBody>
      </p:sp>
      <p:sp>
        <p:nvSpPr>
          <p:cNvPr id="53" name="직사각형 52"/>
          <p:cNvSpPr/>
          <p:nvPr/>
        </p:nvSpPr>
        <p:spPr>
          <a:xfrm>
            <a:off x="685800" y="6023682"/>
            <a:ext cx="795528" cy="438912"/>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t>PCT</a:t>
            </a:r>
            <a:endParaRPr lang="ko-KR" altLang="en-US" sz="1100" dirty="0"/>
          </a:p>
        </p:txBody>
      </p:sp>
      <p:sp>
        <p:nvSpPr>
          <p:cNvPr id="54" name="직사각형 53"/>
          <p:cNvSpPr/>
          <p:nvPr/>
        </p:nvSpPr>
        <p:spPr>
          <a:xfrm>
            <a:off x="1831472" y="3393567"/>
            <a:ext cx="1186048" cy="33969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lumMod val="50000"/>
                  </a:schemeClr>
                </a:solidFill>
              </a:rPr>
              <a:t>제</a:t>
            </a:r>
            <a:r>
              <a:rPr lang="en-US" altLang="ko-KR" sz="1100" dirty="0">
                <a:solidFill>
                  <a:schemeClr val="bg1">
                    <a:lumMod val="50000"/>
                  </a:schemeClr>
                </a:solidFill>
              </a:rPr>
              <a:t>34</a:t>
            </a:r>
            <a:r>
              <a:rPr lang="ko-KR" altLang="en-US" sz="1100" dirty="0">
                <a:solidFill>
                  <a:schemeClr val="bg1">
                    <a:lumMod val="50000"/>
                  </a:schemeClr>
                </a:solidFill>
              </a:rPr>
              <a:t>조</a:t>
            </a:r>
            <a:r>
              <a:rPr lang="en-US" altLang="ko-KR" sz="1100" dirty="0">
                <a:solidFill>
                  <a:schemeClr val="bg1">
                    <a:lumMod val="50000"/>
                  </a:schemeClr>
                </a:solidFill>
              </a:rPr>
              <a:t>, </a:t>
            </a:r>
            <a:r>
              <a:rPr lang="ko-KR" altLang="en-US" sz="1100" dirty="0">
                <a:solidFill>
                  <a:schemeClr val="bg1">
                    <a:lumMod val="50000"/>
                  </a:schemeClr>
                </a:solidFill>
              </a:rPr>
              <a:t>제</a:t>
            </a:r>
            <a:r>
              <a:rPr lang="en-US" altLang="ko-KR" sz="1100" dirty="0">
                <a:solidFill>
                  <a:schemeClr val="bg1">
                    <a:lumMod val="50000"/>
                  </a:schemeClr>
                </a:solidFill>
              </a:rPr>
              <a:t>35</a:t>
            </a:r>
            <a:r>
              <a:rPr lang="ko-KR" altLang="en-US" sz="1100" dirty="0">
                <a:solidFill>
                  <a:schemeClr val="bg1">
                    <a:lumMod val="50000"/>
                  </a:schemeClr>
                </a:solidFill>
              </a:rPr>
              <a:t>조</a:t>
            </a:r>
            <a:endParaRPr lang="en-US" altLang="ko-KR" sz="1100" dirty="0">
              <a:solidFill>
                <a:schemeClr val="bg1">
                  <a:lumMod val="50000"/>
                </a:schemeClr>
              </a:solidFill>
            </a:endParaRPr>
          </a:p>
          <a:p>
            <a:pPr algn="ctr"/>
            <a:r>
              <a:rPr lang="en-US" altLang="ko-KR" sz="1100" dirty="0">
                <a:solidFill>
                  <a:schemeClr val="bg1">
                    <a:lumMod val="50000"/>
                  </a:schemeClr>
                </a:solidFill>
              </a:rPr>
              <a:t>(</a:t>
            </a:r>
            <a:r>
              <a:rPr lang="ko-KR" altLang="en-US" sz="1100" dirty="0">
                <a:solidFill>
                  <a:schemeClr val="bg1">
                    <a:lumMod val="50000"/>
                  </a:schemeClr>
                </a:solidFill>
              </a:rPr>
              <a:t>등</a:t>
            </a:r>
            <a:r>
              <a:rPr lang="en-US" altLang="ko-KR" sz="1100" dirty="0">
                <a:solidFill>
                  <a:schemeClr val="bg1">
                    <a:lumMod val="50000"/>
                  </a:schemeClr>
                </a:solidFill>
              </a:rPr>
              <a:t>)</a:t>
            </a:r>
            <a:endParaRPr lang="ko-KR" altLang="en-US" sz="1100" dirty="0">
              <a:solidFill>
                <a:schemeClr val="bg1">
                  <a:lumMod val="50000"/>
                </a:schemeClr>
              </a:solidFill>
            </a:endParaRPr>
          </a:p>
        </p:txBody>
      </p:sp>
      <p:sp>
        <p:nvSpPr>
          <p:cNvPr id="63" name="직사각형 62"/>
          <p:cNvSpPr/>
          <p:nvPr/>
        </p:nvSpPr>
        <p:spPr>
          <a:xfrm>
            <a:off x="1831472" y="4147263"/>
            <a:ext cx="1186048" cy="33969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lumMod val="50000"/>
                  </a:schemeClr>
                </a:solidFill>
              </a:rPr>
              <a:t>제</a:t>
            </a:r>
            <a:r>
              <a:rPr lang="en-US" altLang="ko-KR" sz="1100" dirty="0">
                <a:solidFill>
                  <a:schemeClr val="bg1">
                    <a:lumMod val="50000"/>
                  </a:schemeClr>
                </a:solidFill>
              </a:rPr>
              <a:t>52</a:t>
            </a:r>
            <a:r>
              <a:rPr lang="ko-KR" altLang="en-US" sz="1100" dirty="0">
                <a:solidFill>
                  <a:schemeClr val="bg1">
                    <a:lumMod val="50000"/>
                  </a:schemeClr>
                </a:solidFill>
              </a:rPr>
              <a:t>조</a:t>
            </a:r>
            <a:endParaRPr lang="en-US" altLang="ko-KR" sz="1100" dirty="0">
              <a:solidFill>
                <a:schemeClr val="bg1">
                  <a:lumMod val="50000"/>
                </a:schemeClr>
              </a:solidFill>
            </a:endParaRPr>
          </a:p>
          <a:p>
            <a:pPr algn="ctr"/>
            <a:r>
              <a:rPr lang="en-US" altLang="ko-KR" sz="1100" dirty="0">
                <a:solidFill>
                  <a:schemeClr val="bg1">
                    <a:lumMod val="50000"/>
                  </a:schemeClr>
                </a:solidFill>
              </a:rPr>
              <a:t>(</a:t>
            </a:r>
            <a:r>
              <a:rPr lang="ko-KR" altLang="en-US" sz="1100" dirty="0" err="1">
                <a:solidFill>
                  <a:schemeClr val="bg1">
                    <a:lumMod val="50000"/>
                  </a:schemeClr>
                </a:solidFill>
              </a:rPr>
              <a:t>확공조국등</a:t>
            </a:r>
            <a:r>
              <a:rPr lang="en-US" altLang="ko-KR" sz="1100" dirty="0">
                <a:solidFill>
                  <a:schemeClr val="bg1">
                    <a:lumMod val="50000"/>
                  </a:schemeClr>
                </a:solidFill>
              </a:rPr>
              <a:t>)</a:t>
            </a:r>
            <a:endParaRPr lang="ko-KR" altLang="en-US" sz="1100" dirty="0">
              <a:solidFill>
                <a:schemeClr val="bg1">
                  <a:lumMod val="50000"/>
                </a:schemeClr>
              </a:solidFill>
            </a:endParaRPr>
          </a:p>
        </p:txBody>
      </p:sp>
      <p:sp>
        <p:nvSpPr>
          <p:cNvPr id="64" name="직사각형 63"/>
          <p:cNvSpPr/>
          <p:nvPr/>
        </p:nvSpPr>
        <p:spPr>
          <a:xfrm>
            <a:off x="1831472" y="4526337"/>
            <a:ext cx="1186048" cy="33969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lumMod val="50000"/>
                  </a:schemeClr>
                </a:solidFill>
              </a:rPr>
              <a:t>제</a:t>
            </a:r>
            <a:r>
              <a:rPr lang="en-US" altLang="ko-KR" sz="1100" dirty="0">
                <a:solidFill>
                  <a:schemeClr val="bg1">
                    <a:lumMod val="50000"/>
                  </a:schemeClr>
                </a:solidFill>
              </a:rPr>
              <a:t>53</a:t>
            </a:r>
            <a:r>
              <a:rPr lang="ko-KR" altLang="en-US" sz="1100" dirty="0">
                <a:solidFill>
                  <a:schemeClr val="bg1">
                    <a:lumMod val="50000"/>
                  </a:schemeClr>
                </a:solidFill>
              </a:rPr>
              <a:t>조</a:t>
            </a:r>
            <a:endParaRPr lang="en-US" altLang="ko-KR" sz="1100" dirty="0">
              <a:solidFill>
                <a:schemeClr val="bg1">
                  <a:lumMod val="50000"/>
                </a:schemeClr>
              </a:solidFill>
            </a:endParaRPr>
          </a:p>
          <a:p>
            <a:pPr algn="ctr"/>
            <a:r>
              <a:rPr lang="en-US" altLang="ko-KR" sz="1100" dirty="0">
                <a:solidFill>
                  <a:schemeClr val="bg1">
                    <a:lumMod val="50000"/>
                  </a:schemeClr>
                </a:solidFill>
              </a:rPr>
              <a:t>(</a:t>
            </a:r>
            <a:r>
              <a:rPr lang="ko-KR" altLang="en-US" sz="1100" dirty="0" err="1">
                <a:solidFill>
                  <a:schemeClr val="bg1">
                    <a:lumMod val="50000"/>
                  </a:schemeClr>
                </a:solidFill>
              </a:rPr>
              <a:t>확공조국등</a:t>
            </a:r>
            <a:r>
              <a:rPr lang="en-US" altLang="ko-KR" sz="1100" dirty="0">
                <a:solidFill>
                  <a:schemeClr val="bg1">
                    <a:lumMod val="50000"/>
                  </a:schemeClr>
                </a:solidFill>
              </a:rPr>
              <a:t>)</a:t>
            </a:r>
            <a:endParaRPr lang="ko-KR" altLang="en-US" sz="1100" dirty="0">
              <a:solidFill>
                <a:schemeClr val="bg1">
                  <a:lumMod val="50000"/>
                </a:schemeClr>
              </a:solidFill>
            </a:endParaRPr>
          </a:p>
        </p:txBody>
      </p:sp>
      <p:sp>
        <p:nvSpPr>
          <p:cNvPr id="66" name="직사각형 65"/>
          <p:cNvSpPr/>
          <p:nvPr/>
        </p:nvSpPr>
        <p:spPr>
          <a:xfrm>
            <a:off x="1831472" y="3768189"/>
            <a:ext cx="1186048" cy="33969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lumMod val="50000"/>
                  </a:schemeClr>
                </a:solidFill>
              </a:rPr>
              <a:t>제</a:t>
            </a:r>
            <a:r>
              <a:rPr lang="en-US" altLang="ko-KR" sz="1100" dirty="0">
                <a:solidFill>
                  <a:schemeClr val="bg1">
                    <a:lumMod val="50000"/>
                  </a:schemeClr>
                </a:solidFill>
              </a:rPr>
              <a:t>47</a:t>
            </a:r>
            <a:r>
              <a:rPr lang="ko-KR" altLang="en-US" sz="1100" dirty="0">
                <a:solidFill>
                  <a:schemeClr val="bg1">
                    <a:lumMod val="50000"/>
                  </a:schemeClr>
                </a:solidFill>
              </a:rPr>
              <a:t>조</a:t>
            </a:r>
            <a:r>
              <a:rPr lang="en-US" altLang="ko-KR" sz="1100" dirty="0">
                <a:solidFill>
                  <a:schemeClr val="bg1">
                    <a:lumMod val="50000"/>
                  </a:schemeClr>
                </a:solidFill>
              </a:rPr>
              <a:t>, </a:t>
            </a:r>
            <a:r>
              <a:rPr lang="ko-KR" altLang="en-US" sz="1100" dirty="0">
                <a:solidFill>
                  <a:schemeClr val="bg1">
                    <a:lumMod val="50000"/>
                  </a:schemeClr>
                </a:solidFill>
              </a:rPr>
              <a:t>제</a:t>
            </a:r>
            <a:r>
              <a:rPr lang="en-US" altLang="ko-KR" sz="1100" dirty="0">
                <a:solidFill>
                  <a:schemeClr val="bg1">
                    <a:lumMod val="50000"/>
                  </a:schemeClr>
                </a:solidFill>
              </a:rPr>
              <a:t>51</a:t>
            </a:r>
            <a:r>
              <a:rPr lang="ko-KR" altLang="en-US" sz="1100" dirty="0">
                <a:solidFill>
                  <a:schemeClr val="bg1">
                    <a:lumMod val="50000"/>
                  </a:schemeClr>
                </a:solidFill>
              </a:rPr>
              <a:t>조</a:t>
            </a:r>
          </a:p>
        </p:txBody>
      </p:sp>
      <p:sp>
        <p:nvSpPr>
          <p:cNvPr id="70" name="직사각형 69"/>
          <p:cNvSpPr/>
          <p:nvPr/>
        </p:nvSpPr>
        <p:spPr>
          <a:xfrm>
            <a:off x="1831472" y="5302480"/>
            <a:ext cx="1186048" cy="33969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rgbClr val="FF0000"/>
                </a:solidFill>
              </a:rPr>
              <a:t>제</a:t>
            </a:r>
            <a:r>
              <a:rPr lang="en-US" altLang="ko-KR" sz="1100" dirty="0">
                <a:solidFill>
                  <a:srgbClr val="FF0000"/>
                </a:solidFill>
              </a:rPr>
              <a:t>54</a:t>
            </a:r>
            <a:r>
              <a:rPr lang="ko-KR" altLang="en-US" sz="1100" dirty="0">
                <a:solidFill>
                  <a:srgbClr val="FF0000"/>
                </a:solidFill>
              </a:rPr>
              <a:t>조</a:t>
            </a:r>
            <a:endParaRPr lang="en-US" altLang="ko-KR" sz="1100" dirty="0">
              <a:solidFill>
                <a:srgbClr val="FF0000"/>
              </a:solidFill>
            </a:endParaRPr>
          </a:p>
          <a:p>
            <a:pPr algn="ctr"/>
            <a:r>
              <a:rPr lang="en-US" altLang="ko-KR" sz="1100" dirty="0">
                <a:solidFill>
                  <a:schemeClr val="bg1">
                    <a:lumMod val="50000"/>
                  </a:schemeClr>
                </a:solidFill>
              </a:rPr>
              <a:t>(</a:t>
            </a:r>
            <a:r>
              <a:rPr lang="ko-KR" altLang="en-US" sz="1100" b="1" dirty="0" err="1">
                <a:solidFill>
                  <a:srgbClr val="FF0000"/>
                </a:solidFill>
              </a:rPr>
              <a:t>심</a:t>
            </a:r>
            <a:r>
              <a:rPr lang="ko-KR" altLang="en-US" sz="1100" dirty="0" err="1">
                <a:solidFill>
                  <a:schemeClr val="bg1">
                    <a:lumMod val="50000"/>
                  </a:schemeClr>
                </a:solidFill>
              </a:rPr>
              <a:t>공존재등</a:t>
            </a:r>
            <a:r>
              <a:rPr lang="en-US" altLang="ko-KR" sz="1100" dirty="0">
                <a:solidFill>
                  <a:schemeClr val="bg1">
                    <a:lumMod val="50000"/>
                  </a:schemeClr>
                </a:solidFill>
              </a:rPr>
              <a:t>)</a:t>
            </a:r>
            <a:endParaRPr lang="ko-KR" altLang="en-US" sz="1100" dirty="0">
              <a:solidFill>
                <a:schemeClr val="bg1">
                  <a:lumMod val="50000"/>
                </a:schemeClr>
              </a:solidFill>
            </a:endParaRPr>
          </a:p>
        </p:txBody>
      </p:sp>
      <p:sp>
        <p:nvSpPr>
          <p:cNvPr id="72" name="직사각형 71"/>
          <p:cNvSpPr/>
          <p:nvPr/>
        </p:nvSpPr>
        <p:spPr>
          <a:xfrm>
            <a:off x="1831472" y="5681554"/>
            <a:ext cx="1186048" cy="33969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rgbClr val="FF0000"/>
                </a:solidFill>
              </a:rPr>
              <a:t>제</a:t>
            </a:r>
            <a:r>
              <a:rPr lang="en-US" altLang="ko-KR" sz="1100" dirty="0">
                <a:solidFill>
                  <a:srgbClr val="FF0000"/>
                </a:solidFill>
              </a:rPr>
              <a:t>55</a:t>
            </a:r>
            <a:r>
              <a:rPr lang="ko-KR" altLang="en-US" sz="1100" dirty="0">
                <a:solidFill>
                  <a:srgbClr val="FF0000"/>
                </a:solidFill>
              </a:rPr>
              <a:t>조</a:t>
            </a:r>
            <a:r>
              <a:rPr lang="en-US" altLang="ko-KR" sz="1100" dirty="0">
                <a:solidFill>
                  <a:srgbClr val="FF0000"/>
                </a:solidFill>
              </a:rPr>
              <a:t>, </a:t>
            </a:r>
            <a:r>
              <a:rPr lang="ko-KR" altLang="en-US" sz="1100" dirty="0">
                <a:solidFill>
                  <a:srgbClr val="FF0000"/>
                </a:solidFill>
              </a:rPr>
              <a:t>제</a:t>
            </a:r>
            <a:r>
              <a:rPr lang="en-US" altLang="ko-KR" sz="1100" dirty="0">
                <a:solidFill>
                  <a:srgbClr val="FF0000"/>
                </a:solidFill>
              </a:rPr>
              <a:t>56</a:t>
            </a:r>
            <a:r>
              <a:rPr lang="ko-KR" altLang="en-US" sz="1100" dirty="0">
                <a:solidFill>
                  <a:srgbClr val="FF0000"/>
                </a:solidFill>
              </a:rPr>
              <a:t>조</a:t>
            </a:r>
            <a:endParaRPr lang="en-US" altLang="ko-KR" sz="1100" dirty="0">
              <a:solidFill>
                <a:srgbClr val="FF0000"/>
              </a:solidFill>
            </a:endParaRPr>
          </a:p>
          <a:p>
            <a:pPr algn="ctr"/>
            <a:r>
              <a:rPr lang="en-US" altLang="ko-KR" sz="1100" dirty="0">
                <a:solidFill>
                  <a:schemeClr val="bg1">
                    <a:lumMod val="50000"/>
                  </a:schemeClr>
                </a:solidFill>
              </a:rPr>
              <a:t>(</a:t>
            </a:r>
            <a:r>
              <a:rPr lang="ko-KR" altLang="en-US" sz="1100" b="1" dirty="0">
                <a:solidFill>
                  <a:srgbClr val="FF0000"/>
                </a:solidFill>
              </a:rPr>
              <a:t>심</a:t>
            </a:r>
            <a:r>
              <a:rPr lang="ko-KR" altLang="en-US" sz="1100" dirty="0">
                <a:solidFill>
                  <a:schemeClr val="bg1">
                    <a:lumMod val="50000"/>
                  </a:schemeClr>
                </a:solidFill>
              </a:rPr>
              <a:t>공존재등이</a:t>
            </a:r>
            <a:r>
              <a:rPr lang="en-US" altLang="ko-KR" sz="1100" dirty="0">
                <a:solidFill>
                  <a:schemeClr val="bg1">
                    <a:lumMod val="50000"/>
                  </a:schemeClr>
                </a:solidFill>
              </a:rPr>
              <a:t>)</a:t>
            </a:r>
            <a:endParaRPr lang="ko-KR" altLang="en-US" sz="1100" dirty="0">
              <a:solidFill>
                <a:schemeClr val="bg1">
                  <a:lumMod val="50000"/>
                </a:schemeClr>
              </a:solidFill>
            </a:endParaRPr>
          </a:p>
        </p:txBody>
      </p:sp>
      <p:sp>
        <p:nvSpPr>
          <p:cNvPr id="74" name="직사각형 73"/>
          <p:cNvSpPr/>
          <p:nvPr/>
        </p:nvSpPr>
        <p:spPr>
          <a:xfrm>
            <a:off x="1831472" y="6332924"/>
            <a:ext cx="1186048" cy="33969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lumMod val="50000"/>
                  </a:schemeClr>
                </a:solidFill>
              </a:rPr>
              <a:t>제</a:t>
            </a:r>
            <a:r>
              <a:rPr lang="en-US" altLang="ko-KR" sz="1100" dirty="0">
                <a:solidFill>
                  <a:schemeClr val="bg1">
                    <a:lumMod val="50000"/>
                  </a:schemeClr>
                </a:solidFill>
              </a:rPr>
              <a:t>210</a:t>
            </a:r>
            <a:r>
              <a:rPr lang="ko-KR" altLang="en-US" sz="1100" dirty="0">
                <a:solidFill>
                  <a:schemeClr val="bg1">
                    <a:lumMod val="50000"/>
                  </a:schemeClr>
                </a:solidFill>
              </a:rPr>
              <a:t>조</a:t>
            </a:r>
          </a:p>
        </p:txBody>
      </p:sp>
      <p:cxnSp>
        <p:nvCxnSpPr>
          <p:cNvPr id="7" name="꺾인 연결선 6"/>
          <p:cNvCxnSpPr>
            <a:stCxn id="5" idx="3"/>
            <a:endCxn id="54" idx="1"/>
          </p:cNvCxnSpPr>
          <p:nvPr/>
        </p:nvCxnSpPr>
        <p:spPr>
          <a:xfrm flipV="1">
            <a:off x="1481328" y="3563415"/>
            <a:ext cx="350144" cy="57081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꺾인 연결선 8"/>
          <p:cNvCxnSpPr>
            <a:stCxn id="5" idx="3"/>
            <a:endCxn id="72" idx="1"/>
          </p:cNvCxnSpPr>
          <p:nvPr/>
        </p:nvCxnSpPr>
        <p:spPr>
          <a:xfrm>
            <a:off x="1481328" y="4134231"/>
            <a:ext cx="350144" cy="171717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꺾인 연결선 10"/>
          <p:cNvCxnSpPr>
            <a:stCxn id="5" idx="3"/>
            <a:endCxn id="66" idx="1"/>
          </p:cNvCxnSpPr>
          <p:nvPr/>
        </p:nvCxnSpPr>
        <p:spPr>
          <a:xfrm flipV="1">
            <a:off x="1481328" y="3938037"/>
            <a:ext cx="350144" cy="19619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꺾인 연결선 13"/>
          <p:cNvCxnSpPr>
            <a:stCxn id="5" idx="3"/>
            <a:endCxn id="70" idx="1"/>
          </p:cNvCxnSpPr>
          <p:nvPr/>
        </p:nvCxnSpPr>
        <p:spPr>
          <a:xfrm>
            <a:off x="1481328" y="4134231"/>
            <a:ext cx="350144" cy="133809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꺾인 연결선 16"/>
          <p:cNvCxnSpPr>
            <a:stCxn id="5" idx="3"/>
            <a:endCxn id="63" idx="1"/>
          </p:cNvCxnSpPr>
          <p:nvPr/>
        </p:nvCxnSpPr>
        <p:spPr>
          <a:xfrm>
            <a:off x="1481328" y="4134231"/>
            <a:ext cx="350144" cy="18288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stCxn id="5" idx="3"/>
            <a:endCxn id="64" idx="1"/>
          </p:cNvCxnSpPr>
          <p:nvPr/>
        </p:nvCxnSpPr>
        <p:spPr>
          <a:xfrm>
            <a:off x="1481328" y="4134231"/>
            <a:ext cx="350144" cy="56195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꺾인 연결선 21"/>
          <p:cNvCxnSpPr>
            <a:stCxn id="53" idx="3"/>
            <a:endCxn id="74" idx="1"/>
          </p:cNvCxnSpPr>
          <p:nvPr/>
        </p:nvCxnSpPr>
        <p:spPr>
          <a:xfrm>
            <a:off x="1481328" y="6243138"/>
            <a:ext cx="350144" cy="25963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stCxn id="5" idx="1"/>
            <a:endCxn id="53" idx="1"/>
          </p:cNvCxnSpPr>
          <p:nvPr/>
        </p:nvCxnSpPr>
        <p:spPr>
          <a:xfrm rot="10800000" flipV="1">
            <a:off x="685800" y="4134230"/>
            <a:ext cx="12700" cy="2108907"/>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 name="자유형 24"/>
          <p:cNvSpPr/>
          <p:nvPr/>
        </p:nvSpPr>
        <p:spPr>
          <a:xfrm>
            <a:off x="347472" y="3201543"/>
            <a:ext cx="1188720" cy="1764792"/>
          </a:xfrm>
          <a:custGeom>
            <a:avLst/>
            <a:gdLst>
              <a:gd name="connsiteX0" fmla="*/ 1188720 w 1188720"/>
              <a:gd name="connsiteY0" fmla="*/ 0 h 1764792"/>
              <a:gd name="connsiteX1" fmla="*/ 1188720 w 1188720"/>
              <a:gd name="connsiteY1" fmla="*/ 265176 h 1764792"/>
              <a:gd name="connsiteX2" fmla="*/ 0 w 1188720"/>
              <a:gd name="connsiteY2" fmla="*/ 265176 h 1764792"/>
              <a:gd name="connsiteX3" fmla="*/ 0 w 1188720"/>
              <a:gd name="connsiteY3" fmla="*/ 374904 h 1764792"/>
              <a:gd name="connsiteX4" fmla="*/ 0 w 1188720"/>
              <a:gd name="connsiteY4" fmla="*/ 1764792 h 1764792"/>
              <a:gd name="connsiteX5" fmla="*/ 128016 w 1188720"/>
              <a:gd name="connsiteY5" fmla="*/ 1764792 h 176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8720" h="1764792">
                <a:moveTo>
                  <a:pt x="1188720" y="0"/>
                </a:moveTo>
                <a:lnTo>
                  <a:pt x="1188720" y="265176"/>
                </a:lnTo>
                <a:lnTo>
                  <a:pt x="0" y="265176"/>
                </a:lnTo>
                <a:lnTo>
                  <a:pt x="0" y="374904"/>
                </a:lnTo>
                <a:lnTo>
                  <a:pt x="0" y="1764792"/>
                </a:lnTo>
                <a:lnTo>
                  <a:pt x="128016" y="1764792"/>
                </a:lnTo>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6" name="직선 연결선 75"/>
          <p:cNvCxnSpPr/>
          <p:nvPr/>
        </p:nvCxnSpPr>
        <p:spPr>
          <a:xfrm>
            <a:off x="3794760" y="3184340"/>
            <a:ext cx="707921"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7" name="Rectangle 14"/>
          <p:cNvSpPr>
            <a:spLocks noChangeArrowheads="1"/>
          </p:cNvSpPr>
          <p:nvPr/>
        </p:nvSpPr>
        <p:spPr bwMode="auto">
          <a:xfrm flipV="1">
            <a:off x="4029720" y="3435931"/>
            <a:ext cx="238000" cy="254967"/>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8" name="Rectangle 14"/>
          <p:cNvSpPr>
            <a:spLocks noChangeArrowheads="1"/>
          </p:cNvSpPr>
          <p:nvPr/>
        </p:nvSpPr>
        <p:spPr bwMode="auto">
          <a:xfrm flipV="1">
            <a:off x="4029720" y="4189627"/>
            <a:ext cx="238000" cy="254967"/>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0" name="Rectangle 14"/>
          <p:cNvSpPr>
            <a:spLocks noChangeArrowheads="1"/>
          </p:cNvSpPr>
          <p:nvPr/>
        </p:nvSpPr>
        <p:spPr bwMode="auto">
          <a:xfrm flipV="1">
            <a:off x="4029720" y="4568701"/>
            <a:ext cx="238000" cy="254967"/>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86" name="직선 연결선 85"/>
          <p:cNvCxnSpPr/>
          <p:nvPr/>
        </p:nvCxnSpPr>
        <p:spPr>
          <a:xfrm flipV="1">
            <a:off x="5107081" y="2901544"/>
            <a:ext cx="0" cy="335280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248</a:t>
            </a:r>
            <a:endParaRPr lang="ko-KR" altLang="en-US" dirty="0"/>
          </a:p>
        </p:txBody>
      </p:sp>
      <p:cxnSp>
        <p:nvCxnSpPr>
          <p:cNvPr id="38" name="직선 연결선 37">
            <a:extLst>
              <a:ext uri="{FF2B5EF4-FFF2-40B4-BE49-F238E27FC236}">
                <a16:creationId xmlns:a16="http://schemas.microsoft.com/office/drawing/2014/main" id="{76EF2322-8D11-428E-BEA6-10AB40FF32FA}"/>
              </a:ext>
            </a:extLst>
          </p:cNvPr>
          <p:cNvCxnSpPr/>
          <p:nvPr/>
        </p:nvCxnSpPr>
        <p:spPr>
          <a:xfrm flipV="1">
            <a:off x="3017520" y="5081188"/>
            <a:ext cx="1773936"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직사각형 38">
            <a:extLst>
              <a:ext uri="{FF2B5EF4-FFF2-40B4-BE49-F238E27FC236}">
                <a16:creationId xmlns:a16="http://schemas.microsoft.com/office/drawing/2014/main" id="{32CC600F-2FFC-4BBC-8A43-8D80EBEAD357}"/>
              </a:ext>
            </a:extLst>
          </p:cNvPr>
          <p:cNvSpPr/>
          <p:nvPr/>
        </p:nvSpPr>
        <p:spPr>
          <a:xfrm>
            <a:off x="1831472" y="4905411"/>
            <a:ext cx="1186048" cy="33969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lumMod val="50000"/>
                  </a:schemeClr>
                </a:solidFill>
              </a:rPr>
              <a:t>제</a:t>
            </a:r>
            <a:r>
              <a:rPr lang="en-US" altLang="ko-KR" sz="1100" dirty="0">
                <a:solidFill>
                  <a:schemeClr val="bg1">
                    <a:lumMod val="50000"/>
                  </a:schemeClr>
                </a:solidFill>
              </a:rPr>
              <a:t>52</a:t>
            </a:r>
            <a:r>
              <a:rPr lang="ko-KR" altLang="en-US" sz="1100" dirty="0">
                <a:solidFill>
                  <a:schemeClr val="bg1">
                    <a:lumMod val="50000"/>
                  </a:schemeClr>
                </a:solidFill>
              </a:rPr>
              <a:t>조의</a:t>
            </a:r>
            <a:r>
              <a:rPr lang="en-US" altLang="ko-KR" sz="1100" dirty="0">
                <a:solidFill>
                  <a:schemeClr val="bg1">
                    <a:lumMod val="50000"/>
                  </a:schemeClr>
                </a:solidFill>
              </a:rPr>
              <a:t>2</a:t>
            </a:r>
          </a:p>
          <a:p>
            <a:pPr algn="ctr"/>
            <a:r>
              <a:rPr lang="en-US" altLang="ko-KR" sz="1100" dirty="0">
                <a:solidFill>
                  <a:schemeClr val="bg1">
                    <a:lumMod val="50000"/>
                  </a:schemeClr>
                </a:solidFill>
              </a:rPr>
              <a:t>(</a:t>
            </a:r>
            <a:r>
              <a:rPr lang="ko-KR" altLang="en-US" sz="1100" dirty="0" err="1">
                <a:solidFill>
                  <a:schemeClr val="bg1">
                    <a:lumMod val="50000"/>
                  </a:schemeClr>
                </a:solidFill>
              </a:rPr>
              <a:t>확공조국등</a:t>
            </a:r>
            <a:r>
              <a:rPr lang="en-US" altLang="ko-KR" sz="1100" dirty="0">
                <a:solidFill>
                  <a:schemeClr val="bg1">
                    <a:lumMod val="50000"/>
                  </a:schemeClr>
                </a:solidFill>
              </a:rPr>
              <a:t>)</a:t>
            </a:r>
            <a:endParaRPr lang="ko-KR" altLang="en-US" sz="1100" dirty="0">
              <a:solidFill>
                <a:schemeClr val="bg1">
                  <a:lumMod val="50000"/>
                </a:schemeClr>
              </a:solidFill>
            </a:endParaRPr>
          </a:p>
        </p:txBody>
      </p:sp>
      <p:sp>
        <p:nvSpPr>
          <p:cNvPr id="40" name="Rectangle 14">
            <a:extLst>
              <a:ext uri="{FF2B5EF4-FFF2-40B4-BE49-F238E27FC236}">
                <a16:creationId xmlns:a16="http://schemas.microsoft.com/office/drawing/2014/main" id="{35494A1B-2E26-499B-A327-789E2ED885EE}"/>
              </a:ext>
            </a:extLst>
          </p:cNvPr>
          <p:cNvSpPr>
            <a:spLocks noChangeArrowheads="1"/>
          </p:cNvSpPr>
          <p:nvPr/>
        </p:nvSpPr>
        <p:spPr bwMode="auto">
          <a:xfrm flipV="1">
            <a:off x="4029720" y="4947775"/>
            <a:ext cx="238000" cy="254967"/>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 name="TextBox 9">
            <a:extLst>
              <a:ext uri="{FF2B5EF4-FFF2-40B4-BE49-F238E27FC236}">
                <a16:creationId xmlns:a16="http://schemas.microsoft.com/office/drawing/2014/main" id="{3AAEB0A3-420D-4326-AA64-ECED40BF98A2}"/>
              </a:ext>
            </a:extLst>
          </p:cNvPr>
          <p:cNvSpPr txBox="1"/>
          <p:nvPr/>
        </p:nvSpPr>
        <p:spPr>
          <a:xfrm>
            <a:off x="3921553" y="3695193"/>
            <a:ext cx="545342" cy="307777"/>
          </a:xfrm>
          <a:prstGeom prst="rect">
            <a:avLst/>
          </a:prstGeom>
          <a:noFill/>
        </p:spPr>
        <p:txBody>
          <a:bodyPr wrap="none" rtlCol="0">
            <a:spAutoFit/>
          </a:bodyPr>
          <a:lstStyle/>
          <a:p>
            <a:r>
              <a:rPr lang="en-US" altLang="ko-KR" sz="1400" dirty="0"/>
              <a:t>30</a:t>
            </a:r>
            <a:r>
              <a:rPr lang="ko-KR" altLang="en-US" sz="1400" dirty="0"/>
              <a:t>일</a:t>
            </a:r>
          </a:p>
        </p:txBody>
      </p:sp>
      <p:graphicFrame>
        <p:nvGraphicFramePr>
          <p:cNvPr id="12" name="표 11">
            <a:extLst>
              <a:ext uri="{FF2B5EF4-FFF2-40B4-BE49-F238E27FC236}">
                <a16:creationId xmlns:a16="http://schemas.microsoft.com/office/drawing/2014/main" id="{C9AE2169-91D8-8323-804A-C79542F598B3}"/>
              </a:ext>
            </a:extLst>
          </p:cNvPr>
          <p:cNvGraphicFramePr>
            <a:graphicFrameLocks noGrp="1"/>
          </p:cNvGraphicFramePr>
          <p:nvPr/>
        </p:nvGraphicFramePr>
        <p:xfrm>
          <a:off x="5237017" y="2683627"/>
          <a:ext cx="6712933" cy="3887495"/>
        </p:xfrm>
        <a:graphic>
          <a:graphicData uri="http://schemas.openxmlformats.org/drawingml/2006/table">
            <a:tbl>
              <a:tblPr>
                <a:tableStyleId>{8799B23B-EC83-4686-B30A-512413B5E67A}</a:tableStyleId>
              </a:tblPr>
              <a:tblGrid>
                <a:gridCol w="371907">
                  <a:extLst>
                    <a:ext uri="{9D8B030D-6E8A-4147-A177-3AD203B41FA5}">
                      <a16:colId xmlns:a16="http://schemas.microsoft.com/office/drawing/2014/main" val="1461148948"/>
                    </a:ext>
                  </a:extLst>
                </a:gridCol>
                <a:gridCol w="595052">
                  <a:extLst>
                    <a:ext uri="{9D8B030D-6E8A-4147-A177-3AD203B41FA5}">
                      <a16:colId xmlns:a16="http://schemas.microsoft.com/office/drawing/2014/main" val="3582116031"/>
                    </a:ext>
                  </a:extLst>
                </a:gridCol>
                <a:gridCol w="576457">
                  <a:extLst>
                    <a:ext uri="{9D8B030D-6E8A-4147-A177-3AD203B41FA5}">
                      <a16:colId xmlns:a16="http://schemas.microsoft.com/office/drawing/2014/main" val="2206439343"/>
                    </a:ext>
                  </a:extLst>
                </a:gridCol>
                <a:gridCol w="576457">
                  <a:extLst>
                    <a:ext uri="{9D8B030D-6E8A-4147-A177-3AD203B41FA5}">
                      <a16:colId xmlns:a16="http://schemas.microsoft.com/office/drawing/2014/main" val="294787185"/>
                    </a:ext>
                  </a:extLst>
                </a:gridCol>
                <a:gridCol w="576457">
                  <a:extLst>
                    <a:ext uri="{9D8B030D-6E8A-4147-A177-3AD203B41FA5}">
                      <a16:colId xmlns:a16="http://schemas.microsoft.com/office/drawing/2014/main" val="2107582032"/>
                    </a:ext>
                  </a:extLst>
                </a:gridCol>
                <a:gridCol w="576457">
                  <a:extLst>
                    <a:ext uri="{9D8B030D-6E8A-4147-A177-3AD203B41FA5}">
                      <a16:colId xmlns:a16="http://schemas.microsoft.com/office/drawing/2014/main" val="3697112305"/>
                    </a:ext>
                  </a:extLst>
                </a:gridCol>
                <a:gridCol w="576457">
                  <a:extLst>
                    <a:ext uri="{9D8B030D-6E8A-4147-A177-3AD203B41FA5}">
                      <a16:colId xmlns:a16="http://schemas.microsoft.com/office/drawing/2014/main" val="3014905108"/>
                    </a:ext>
                  </a:extLst>
                </a:gridCol>
                <a:gridCol w="576457">
                  <a:extLst>
                    <a:ext uri="{9D8B030D-6E8A-4147-A177-3AD203B41FA5}">
                      <a16:colId xmlns:a16="http://schemas.microsoft.com/office/drawing/2014/main" val="2796026407"/>
                    </a:ext>
                  </a:extLst>
                </a:gridCol>
                <a:gridCol w="576457">
                  <a:extLst>
                    <a:ext uri="{9D8B030D-6E8A-4147-A177-3AD203B41FA5}">
                      <a16:colId xmlns:a16="http://schemas.microsoft.com/office/drawing/2014/main" val="2964672037"/>
                    </a:ext>
                  </a:extLst>
                </a:gridCol>
                <a:gridCol w="576457">
                  <a:extLst>
                    <a:ext uri="{9D8B030D-6E8A-4147-A177-3AD203B41FA5}">
                      <a16:colId xmlns:a16="http://schemas.microsoft.com/office/drawing/2014/main" val="3080475067"/>
                    </a:ext>
                  </a:extLst>
                </a:gridCol>
                <a:gridCol w="576457">
                  <a:extLst>
                    <a:ext uri="{9D8B030D-6E8A-4147-A177-3AD203B41FA5}">
                      <a16:colId xmlns:a16="http://schemas.microsoft.com/office/drawing/2014/main" val="3334660690"/>
                    </a:ext>
                  </a:extLst>
                </a:gridCol>
                <a:gridCol w="557861">
                  <a:extLst>
                    <a:ext uri="{9D8B030D-6E8A-4147-A177-3AD203B41FA5}">
                      <a16:colId xmlns:a16="http://schemas.microsoft.com/office/drawing/2014/main" val="460915898"/>
                    </a:ext>
                  </a:extLst>
                </a:gridCol>
              </a:tblGrid>
              <a:tr h="330821">
                <a:tc rowSpan="2">
                  <a:txBody>
                    <a:bodyPr/>
                    <a:lstStyle/>
                    <a:p>
                      <a:pPr algn="ctr" fontAlgn="b"/>
                      <a:r>
                        <a:rPr lang="ko-KR" altLang="en-US" sz="900" b="0" u="none" strike="noStrike" dirty="0">
                          <a:solidFill>
                            <a:srgbClr val="000000"/>
                          </a:solidFill>
                          <a:effectLst/>
                        </a:rPr>
                        <a:t>연도</a:t>
                      </a:r>
                      <a:endParaRPr lang="ko-KR" altLang="en-US" sz="900" b="0" i="0" u="none" strike="noStrike" dirty="0">
                        <a:solidFill>
                          <a:srgbClr val="000000"/>
                        </a:solidFill>
                        <a:effectLst/>
                        <a:latin typeface="+mn-ea"/>
                        <a:ea typeface="+mn-ea"/>
                      </a:endParaRPr>
                    </a:p>
                  </a:txBody>
                  <a:tcPr marL="9525" marR="9525" marT="9525" marB="0" anchor="ctr">
                    <a:solidFill>
                      <a:schemeClr val="bg1">
                        <a:lumMod val="95000"/>
                      </a:schemeClr>
                    </a:solidFill>
                  </a:tcPr>
                </a:tc>
                <a:tc rowSpan="2">
                  <a:txBody>
                    <a:bodyPr/>
                    <a:lstStyle/>
                    <a:p>
                      <a:pPr algn="ctr" fontAlgn="b"/>
                      <a:r>
                        <a:rPr lang="ko-KR" altLang="en-US" sz="900" b="0" u="none" strike="noStrike" dirty="0">
                          <a:solidFill>
                            <a:srgbClr val="000000"/>
                          </a:solidFill>
                          <a:effectLst/>
                        </a:rPr>
                        <a:t>출원건수</a:t>
                      </a:r>
                      <a:endParaRPr lang="ko-KR" altLang="en-US" sz="900" b="0" i="0" u="none" strike="noStrike" dirty="0">
                        <a:solidFill>
                          <a:srgbClr val="000000"/>
                        </a:solidFill>
                        <a:effectLst/>
                        <a:latin typeface="+mn-ea"/>
                        <a:ea typeface="+mn-ea"/>
                      </a:endParaRPr>
                    </a:p>
                  </a:txBody>
                  <a:tcPr marL="9525" marR="9525" marT="9525" marB="0" anchor="ctr">
                    <a:solidFill>
                      <a:schemeClr val="bg1">
                        <a:lumMod val="95000"/>
                      </a:schemeClr>
                    </a:solidFill>
                  </a:tcPr>
                </a:tc>
                <a:tc gridSpan="8">
                  <a:txBody>
                    <a:bodyPr/>
                    <a:lstStyle/>
                    <a:p>
                      <a:pPr algn="ctr" fontAlgn="ctr"/>
                      <a:r>
                        <a:rPr lang="ko-KR" altLang="en-US" sz="900" b="0" u="none" strike="noStrike" dirty="0">
                          <a:solidFill>
                            <a:srgbClr val="000000"/>
                          </a:solidFill>
                          <a:effectLst/>
                        </a:rPr>
                        <a:t>심사청구</a:t>
                      </a:r>
                      <a:endParaRPr lang="ko-KR" altLang="en-US" sz="900" b="0" i="0" u="none" strike="noStrike" dirty="0">
                        <a:solidFill>
                          <a:srgbClr val="000000"/>
                        </a:solidFill>
                        <a:effectLst/>
                        <a:latin typeface="+mn-ea"/>
                        <a:ea typeface="+mn-ea"/>
                      </a:endParaRPr>
                    </a:p>
                  </a:txBody>
                  <a:tcPr marL="9525" marR="9525" marT="9525" marB="0" anchor="ctr">
                    <a:solidFill>
                      <a:schemeClr val="bg1">
                        <a:lumMod val="95000"/>
                      </a:schemeClr>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900" b="0" u="none" strike="noStrike" dirty="0">
                          <a:solidFill>
                            <a:srgbClr val="000000"/>
                          </a:solidFill>
                          <a:effectLst/>
                        </a:rPr>
                        <a:t>출원연도별 </a:t>
                      </a:r>
                      <a:endParaRPr lang="en-US" altLang="ko-KR" sz="900" b="0" u="none" strike="noStrike" dirty="0">
                        <a:solidFill>
                          <a:srgbClr val="000000"/>
                        </a:solidFill>
                        <a:effectLst/>
                      </a:endParaRPr>
                    </a:p>
                    <a:p>
                      <a:pPr algn="ctr" fontAlgn="ctr"/>
                      <a:r>
                        <a:rPr lang="ko-KR" altLang="en-US" sz="900" b="0" u="none" strike="noStrike" dirty="0">
                          <a:solidFill>
                            <a:srgbClr val="000000"/>
                          </a:solidFill>
                          <a:effectLst/>
                        </a:rPr>
                        <a:t>심사청구</a:t>
                      </a:r>
                      <a:endParaRPr lang="ko-KR" altLang="en-US" sz="900" b="0" i="0" u="none" strike="noStrike" dirty="0">
                        <a:solidFill>
                          <a:srgbClr val="000000"/>
                        </a:solidFill>
                        <a:effectLst/>
                        <a:latin typeface="+mn-ea"/>
                        <a:ea typeface="+mn-ea"/>
                      </a:endParaRPr>
                    </a:p>
                  </a:txBody>
                  <a:tcPr marL="9525" marR="9525" marT="9525" marB="0" anchor="ctr">
                    <a:solidFill>
                      <a:schemeClr val="bg1">
                        <a:lumMod val="95000"/>
                      </a:schemeClr>
                    </a:solidFill>
                  </a:tcPr>
                </a:tc>
                <a:tc hMerge="1">
                  <a:txBody>
                    <a:bodyPr/>
                    <a:lstStyle/>
                    <a:p>
                      <a:pPr latinLnBrk="1"/>
                      <a:endParaRPr lang="ko-KR" altLang="en-US"/>
                    </a:p>
                  </a:txBody>
                  <a:tcPr/>
                </a:tc>
                <a:extLst>
                  <a:ext uri="{0D108BD9-81ED-4DB2-BD59-A6C34878D82A}">
                    <a16:rowId xmlns:a16="http://schemas.microsoft.com/office/drawing/2014/main" val="3496980850"/>
                  </a:ext>
                </a:extLst>
              </a:tr>
              <a:tr h="395186">
                <a:tc vMerge="1">
                  <a:txBody>
                    <a:bodyPr/>
                    <a:lstStyle/>
                    <a:p>
                      <a:pPr latinLnBrk="1"/>
                      <a:endParaRPr lang="ko-KR" altLang="en-US"/>
                    </a:p>
                  </a:txBody>
                  <a:tcPr/>
                </a:tc>
                <a:tc vMerge="1">
                  <a:txBody>
                    <a:bodyPr/>
                    <a:lstStyle/>
                    <a:p>
                      <a:pPr latinLnBrk="1"/>
                      <a:endParaRPr lang="ko-KR" altLang="en-US"/>
                    </a:p>
                  </a:txBody>
                  <a:tcPr/>
                </a:tc>
                <a:tc>
                  <a:txBody>
                    <a:bodyPr/>
                    <a:lstStyle/>
                    <a:p>
                      <a:pPr algn="ctr" fontAlgn="b"/>
                      <a:r>
                        <a:rPr lang="en-US" altLang="ko-KR" sz="900" b="0" u="none" strike="noStrike">
                          <a:solidFill>
                            <a:srgbClr val="000000"/>
                          </a:solidFill>
                          <a:effectLst/>
                        </a:rPr>
                        <a:t>2015</a:t>
                      </a:r>
                      <a:r>
                        <a:rPr lang="ko-KR" altLang="en-US" sz="900" b="0" u="none" strike="noStrike">
                          <a:solidFill>
                            <a:srgbClr val="000000"/>
                          </a:solidFill>
                          <a:effectLst/>
                        </a:rPr>
                        <a:t>년</a:t>
                      </a:r>
                      <a:endParaRPr lang="ko-KR" altLang="en-US" sz="900" b="0" i="0" u="none" strike="noStrike">
                        <a:solidFill>
                          <a:srgbClr val="000000"/>
                        </a:solidFill>
                        <a:effectLst/>
                        <a:latin typeface="+mn-ea"/>
                        <a:ea typeface="+mn-ea"/>
                      </a:endParaRPr>
                    </a:p>
                  </a:txBody>
                  <a:tcPr marL="9525" marR="9525" marT="9525" marB="0" anchor="ctr">
                    <a:solidFill>
                      <a:schemeClr val="bg1">
                        <a:lumMod val="95000"/>
                      </a:schemeClr>
                    </a:solidFill>
                  </a:tcPr>
                </a:tc>
                <a:tc>
                  <a:txBody>
                    <a:bodyPr/>
                    <a:lstStyle/>
                    <a:p>
                      <a:pPr algn="ctr" fontAlgn="b"/>
                      <a:r>
                        <a:rPr lang="en-US" altLang="ko-KR" sz="900" b="0" u="none" strike="noStrike">
                          <a:solidFill>
                            <a:srgbClr val="000000"/>
                          </a:solidFill>
                          <a:effectLst/>
                        </a:rPr>
                        <a:t>2016</a:t>
                      </a:r>
                      <a:r>
                        <a:rPr lang="ko-KR" altLang="en-US" sz="900" b="0" u="none" strike="noStrike">
                          <a:solidFill>
                            <a:srgbClr val="000000"/>
                          </a:solidFill>
                          <a:effectLst/>
                        </a:rPr>
                        <a:t>년</a:t>
                      </a:r>
                      <a:endParaRPr lang="ko-KR" altLang="en-US" sz="900" b="0" i="0" u="none" strike="noStrike">
                        <a:solidFill>
                          <a:srgbClr val="000000"/>
                        </a:solidFill>
                        <a:effectLst/>
                        <a:latin typeface="+mn-ea"/>
                        <a:ea typeface="+mn-ea"/>
                      </a:endParaRPr>
                    </a:p>
                  </a:txBody>
                  <a:tcPr marL="9525" marR="9525" marT="9525" marB="0" anchor="ctr">
                    <a:solidFill>
                      <a:schemeClr val="bg1">
                        <a:lumMod val="95000"/>
                      </a:schemeClr>
                    </a:solidFill>
                  </a:tcPr>
                </a:tc>
                <a:tc>
                  <a:txBody>
                    <a:bodyPr/>
                    <a:lstStyle/>
                    <a:p>
                      <a:pPr algn="ctr" fontAlgn="b"/>
                      <a:r>
                        <a:rPr lang="en-US" altLang="ko-KR" sz="900" b="0" u="none" strike="noStrike">
                          <a:solidFill>
                            <a:srgbClr val="000000"/>
                          </a:solidFill>
                          <a:effectLst/>
                        </a:rPr>
                        <a:t>2017</a:t>
                      </a:r>
                      <a:r>
                        <a:rPr lang="ko-KR" altLang="en-US" sz="900" b="0" u="none" strike="noStrike">
                          <a:solidFill>
                            <a:srgbClr val="000000"/>
                          </a:solidFill>
                          <a:effectLst/>
                        </a:rPr>
                        <a:t>년</a:t>
                      </a:r>
                      <a:endParaRPr lang="ko-KR" altLang="en-US" sz="900" b="0" i="0" u="none" strike="noStrike">
                        <a:solidFill>
                          <a:srgbClr val="000000"/>
                        </a:solidFill>
                        <a:effectLst/>
                        <a:latin typeface="+mn-ea"/>
                        <a:ea typeface="+mn-ea"/>
                      </a:endParaRPr>
                    </a:p>
                  </a:txBody>
                  <a:tcPr marL="9525" marR="9525" marT="9525" marB="0" anchor="ctr">
                    <a:solidFill>
                      <a:schemeClr val="bg1">
                        <a:lumMod val="95000"/>
                      </a:schemeClr>
                    </a:solidFill>
                  </a:tcPr>
                </a:tc>
                <a:tc>
                  <a:txBody>
                    <a:bodyPr/>
                    <a:lstStyle/>
                    <a:p>
                      <a:pPr algn="ctr" fontAlgn="b"/>
                      <a:r>
                        <a:rPr lang="en-US" altLang="ko-KR" sz="900" b="0" u="none" strike="noStrike">
                          <a:solidFill>
                            <a:srgbClr val="000000"/>
                          </a:solidFill>
                          <a:effectLst/>
                        </a:rPr>
                        <a:t>2018</a:t>
                      </a:r>
                      <a:r>
                        <a:rPr lang="ko-KR" altLang="en-US" sz="900" b="0" u="none" strike="noStrike">
                          <a:solidFill>
                            <a:srgbClr val="000000"/>
                          </a:solidFill>
                          <a:effectLst/>
                        </a:rPr>
                        <a:t>년</a:t>
                      </a:r>
                      <a:endParaRPr lang="ko-KR" altLang="en-US" sz="900" b="0" i="0" u="none" strike="noStrike">
                        <a:solidFill>
                          <a:srgbClr val="000000"/>
                        </a:solidFill>
                        <a:effectLst/>
                        <a:latin typeface="+mn-ea"/>
                        <a:ea typeface="+mn-ea"/>
                      </a:endParaRPr>
                    </a:p>
                  </a:txBody>
                  <a:tcPr marL="9525" marR="9525" marT="9525" marB="0" anchor="ctr">
                    <a:solidFill>
                      <a:schemeClr val="bg1">
                        <a:lumMod val="95000"/>
                      </a:schemeClr>
                    </a:solidFill>
                  </a:tcPr>
                </a:tc>
                <a:tc>
                  <a:txBody>
                    <a:bodyPr/>
                    <a:lstStyle/>
                    <a:p>
                      <a:pPr algn="ctr" fontAlgn="b"/>
                      <a:r>
                        <a:rPr lang="en-US" altLang="ko-KR" sz="900" b="0" u="none" strike="noStrike">
                          <a:solidFill>
                            <a:srgbClr val="000000"/>
                          </a:solidFill>
                          <a:effectLst/>
                        </a:rPr>
                        <a:t>2019</a:t>
                      </a:r>
                      <a:r>
                        <a:rPr lang="ko-KR" altLang="en-US" sz="900" b="0" u="none" strike="noStrike">
                          <a:solidFill>
                            <a:srgbClr val="000000"/>
                          </a:solidFill>
                          <a:effectLst/>
                        </a:rPr>
                        <a:t>년</a:t>
                      </a:r>
                      <a:endParaRPr lang="ko-KR" altLang="en-US" sz="900" b="0" i="0" u="none" strike="noStrike">
                        <a:solidFill>
                          <a:srgbClr val="000000"/>
                        </a:solidFill>
                        <a:effectLst/>
                        <a:latin typeface="+mn-ea"/>
                        <a:ea typeface="+mn-ea"/>
                      </a:endParaRPr>
                    </a:p>
                  </a:txBody>
                  <a:tcPr marL="9525" marR="9525" marT="9525" marB="0" anchor="ctr">
                    <a:solidFill>
                      <a:schemeClr val="bg1">
                        <a:lumMod val="95000"/>
                      </a:schemeClr>
                    </a:solidFill>
                  </a:tcPr>
                </a:tc>
                <a:tc>
                  <a:txBody>
                    <a:bodyPr/>
                    <a:lstStyle/>
                    <a:p>
                      <a:pPr algn="ctr" fontAlgn="b"/>
                      <a:r>
                        <a:rPr lang="en-US" altLang="ko-KR" sz="900" b="0" u="none" strike="noStrike">
                          <a:solidFill>
                            <a:srgbClr val="000000"/>
                          </a:solidFill>
                          <a:effectLst/>
                        </a:rPr>
                        <a:t>2020</a:t>
                      </a:r>
                      <a:r>
                        <a:rPr lang="ko-KR" altLang="en-US" sz="900" b="0" u="none" strike="noStrike">
                          <a:solidFill>
                            <a:srgbClr val="000000"/>
                          </a:solidFill>
                          <a:effectLst/>
                        </a:rPr>
                        <a:t>년</a:t>
                      </a:r>
                      <a:endParaRPr lang="ko-KR" altLang="en-US" sz="900" b="0" i="0" u="none" strike="noStrike">
                        <a:solidFill>
                          <a:srgbClr val="000000"/>
                        </a:solidFill>
                        <a:effectLst/>
                        <a:latin typeface="+mn-ea"/>
                        <a:ea typeface="+mn-ea"/>
                      </a:endParaRPr>
                    </a:p>
                  </a:txBody>
                  <a:tcPr marL="9525" marR="9525" marT="9525" marB="0" anchor="ctr">
                    <a:solidFill>
                      <a:schemeClr val="bg1">
                        <a:lumMod val="95000"/>
                      </a:schemeClr>
                    </a:solidFill>
                  </a:tcPr>
                </a:tc>
                <a:tc>
                  <a:txBody>
                    <a:bodyPr/>
                    <a:lstStyle/>
                    <a:p>
                      <a:pPr algn="ctr" fontAlgn="b"/>
                      <a:r>
                        <a:rPr lang="en-US" altLang="ko-KR" sz="900" b="0" u="none" strike="noStrike">
                          <a:solidFill>
                            <a:srgbClr val="000000"/>
                          </a:solidFill>
                          <a:effectLst/>
                        </a:rPr>
                        <a:t>2021</a:t>
                      </a:r>
                      <a:r>
                        <a:rPr lang="ko-KR" altLang="en-US" sz="900" b="0" u="none" strike="noStrike">
                          <a:solidFill>
                            <a:srgbClr val="000000"/>
                          </a:solidFill>
                          <a:effectLst/>
                        </a:rPr>
                        <a:t>년</a:t>
                      </a:r>
                      <a:endParaRPr lang="ko-KR" altLang="en-US" sz="900" b="0" i="0" u="none" strike="noStrike">
                        <a:solidFill>
                          <a:srgbClr val="000000"/>
                        </a:solidFill>
                        <a:effectLst/>
                        <a:latin typeface="+mn-ea"/>
                        <a:ea typeface="+mn-ea"/>
                      </a:endParaRPr>
                    </a:p>
                  </a:txBody>
                  <a:tcPr marL="9525" marR="9525" marT="9525" marB="0" anchor="ctr">
                    <a:solidFill>
                      <a:schemeClr val="bg1">
                        <a:lumMod val="95000"/>
                      </a:schemeClr>
                    </a:solidFill>
                  </a:tcPr>
                </a:tc>
                <a:tc>
                  <a:txBody>
                    <a:bodyPr/>
                    <a:lstStyle/>
                    <a:p>
                      <a:pPr algn="ctr" fontAlgn="b"/>
                      <a:r>
                        <a:rPr lang="en-US" altLang="ko-KR" sz="900" b="0" u="none" strike="noStrike">
                          <a:solidFill>
                            <a:srgbClr val="000000"/>
                          </a:solidFill>
                          <a:effectLst/>
                        </a:rPr>
                        <a:t>2022</a:t>
                      </a:r>
                      <a:r>
                        <a:rPr lang="ko-KR" altLang="en-US" sz="900" b="0" u="none" strike="noStrike">
                          <a:solidFill>
                            <a:srgbClr val="000000"/>
                          </a:solidFill>
                          <a:effectLst/>
                        </a:rPr>
                        <a:t>년</a:t>
                      </a:r>
                      <a:endParaRPr lang="ko-KR" altLang="en-US" sz="900" b="0" i="0" u="none" strike="noStrike">
                        <a:solidFill>
                          <a:srgbClr val="000000"/>
                        </a:solidFill>
                        <a:effectLst/>
                        <a:latin typeface="+mn-ea"/>
                        <a:ea typeface="+mn-ea"/>
                      </a:endParaRPr>
                    </a:p>
                  </a:txBody>
                  <a:tcPr marL="9525" marR="9525" marT="9525" marB="0" anchor="ctr">
                    <a:solidFill>
                      <a:schemeClr val="bg1">
                        <a:lumMod val="95000"/>
                      </a:schemeClr>
                    </a:solidFill>
                  </a:tcPr>
                </a:tc>
                <a:tc>
                  <a:txBody>
                    <a:bodyPr/>
                    <a:lstStyle/>
                    <a:p>
                      <a:pPr algn="ctr" fontAlgn="b"/>
                      <a:r>
                        <a:rPr lang="ko-KR" altLang="en-US" sz="900" b="0" u="none" strike="noStrike">
                          <a:solidFill>
                            <a:srgbClr val="000000"/>
                          </a:solidFill>
                          <a:effectLst/>
                        </a:rPr>
                        <a:t>건수</a:t>
                      </a:r>
                      <a:endParaRPr lang="ko-KR" altLang="en-US" sz="900" b="0" i="0" u="none" strike="noStrike">
                        <a:solidFill>
                          <a:srgbClr val="000000"/>
                        </a:solidFill>
                        <a:effectLst/>
                        <a:latin typeface="+mn-ea"/>
                        <a:ea typeface="+mn-ea"/>
                      </a:endParaRPr>
                    </a:p>
                  </a:txBody>
                  <a:tcPr marL="9525" marR="9525" marT="9525" marB="0" anchor="ctr">
                    <a:solidFill>
                      <a:schemeClr val="bg1">
                        <a:lumMod val="95000"/>
                      </a:schemeClr>
                    </a:solidFill>
                  </a:tcPr>
                </a:tc>
                <a:tc>
                  <a:txBody>
                    <a:bodyPr/>
                    <a:lstStyle/>
                    <a:p>
                      <a:pPr algn="ctr" fontAlgn="b"/>
                      <a:r>
                        <a:rPr lang="ko-KR" altLang="en-US" sz="900" b="0" u="none" strike="noStrike" dirty="0">
                          <a:solidFill>
                            <a:srgbClr val="000000"/>
                          </a:solidFill>
                          <a:effectLst/>
                        </a:rPr>
                        <a:t>비율</a:t>
                      </a:r>
                      <a:endParaRPr lang="ko-KR" altLang="en-US" sz="900" b="0" i="0" u="none" strike="noStrike" dirty="0">
                        <a:solidFill>
                          <a:srgbClr val="000000"/>
                        </a:solidFill>
                        <a:effectLst/>
                        <a:latin typeface="+mn-ea"/>
                        <a:ea typeface="+mn-ea"/>
                      </a:endParaRPr>
                    </a:p>
                  </a:txBody>
                  <a:tcPr marL="9525" marR="9525" marT="9525" marB="0" anchor="ctr">
                    <a:solidFill>
                      <a:schemeClr val="bg1">
                        <a:lumMod val="95000"/>
                      </a:schemeClr>
                    </a:solidFill>
                  </a:tcPr>
                </a:tc>
                <a:extLst>
                  <a:ext uri="{0D108BD9-81ED-4DB2-BD59-A6C34878D82A}">
                    <a16:rowId xmlns:a16="http://schemas.microsoft.com/office/drawing/2014/main" val="1909434422"/>
                  </a:ext>
                </a:extLst>
              </a:tr>
              <a:tr h="395186">
                <a:tc>
                  <a:txBody>
                    <a:bodyPr/>
                    <a:lstStyle/>
                    <a:p>
                      <a:pPr algn="ctr" fontAlgn="b"/>
                      <a:r>
                        <a:rPr lang="en-US" altLang="ko-KR" sz="900" b="0" u="none" strike="noStrike">
                          <a:solidFill>
                            <a:srgbClr val="000000"/>
                          </a:solidFill>
                          <a:effectLst/>
                        </a:rPr>
                        <a:t>2022</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237,633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144,049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144,049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ctr"/>
                      <a:r>
                        <a:rPr lang="en-US" altLang="ko-KR" sz="900" b="0" u="none" strike="noStrike">
                          <a:solidFill>
                            <a:srgbClr val="000000"/>
                          </a:solidFill>
                          <a:effectLst/>
                        </a:rPr>
                        <a:t>60.62%</a:t>
                      </a:r>
                      <a:endParaRPr lang="en-US" altLang="ko-KR" sz="900" b="0" i="0" u="none" strike="noStrike">
                        <a:solidFill>
                          <a:srgbClr val="000000"/>
                        </a:solidFill>
                        <a:effectLst/>
                        <a:latin typeface="+mn-ea"/>
                        <a:ea typeface="+mn-ea"/>
                      </a:endParaRPr>
                    </a:p>
                  </a:txBody>
                  <a:tcPr marL="9525" marR="9525" marT="9525" marB="0" anchor="ctr"/>
                </a:tc>
                <a:extLst>
                  <a:ext uri="{0D108BD9-81ED-4DB2-BD59-A6C34878D82A}">
                    <a16:rowId xmlns:a16="http://schemas.microsoft.com/office/drawing/2014/main" val="1846743824"/>
                  </a:ext>
                </a:extLst>
              </a:tr>
              <a:tr h="395186">
                <a:tc>
                  <a:txBody>
                    <a:bodyPr/>
                    <a:lstStyle/>
                    <a:p>
                      <a:pPr algn="ctr" fontAlgn="b"/>
                      <a:r>
                        <a:rPr lang="en-US" altLang="ko-KR" sz="900" b="0" u="none" strike="noStrike">
                          <a:solidFill>
                            <a:srgbClr val="000000"/>
                          </a:solidFill>
                          <a:effectLst/>
                        </a:rPr>
                        <a:t>2021</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237,998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dirty="0">
                          <a:solidFill>
                            <a:srgbClr val="000000"/>
                          </a:solidFill>
                          <a:effectLst/>
                        </a:rPr>
                        <a:t>　</a:t>
                      </a:r>
                      <a:endParaRPr lang="ko-KR" altLang="en-US" sz="900" b="0" i="0" u="none" strike="noStrike" dirty="0">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147,536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17,448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164,984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ctr"/>
                      <a:r>
                        <a:rPr lang="en-US" altLang="ko-KR" sz="900" b="0" u="none" strike="noStrike" dirty="0">
                          <a:solidFill>
                            <a:srgbClr val="000000"/>
                          </a:solidFill>
                          <a:effectLst/>
                        </a:rPr>
                        <a:t>69.32%</a:t>
                      </a:r>
                      <a:endParaRPr lang="en-US" altLang="ko-KR" sz="900" b="0" i="0" u="none" strike="noStrike" dirty="0">
                        <a:solidFill>
                          <a:srgbClr val="000000"/>
                        </a:solidFill>
                        <a:effectLst/>
                        <a:latin typeface="+mn-ea"/>
                        <a:ea typeface="+mn-ea"/>
                      </a:endParaRPr>
                    </a:p>
                  </a:txBody>
                  <a:tcPr marL="9525" marR="9525" marT="9525" marB="0" anchor="ctr"/>
                </a:tc>
                <a:extLst>
                  <a:ext uri="{0D108BD9-81ED-4DB2-BD59-A6C34878D82A}">
                    <a16:rowId xmlns:a16="http://schemas.microsoft.com/office/drawing/2014/main" val="1040094376"/>
                  </a:ext>
                </a:extLst>
              </a:tr>
              <a:tr h="395186">
                <a:tc>
                  <a:txBody>
                    <a:bodyPr/>
                    <a:lstStyle/>
                    <a:p>
                      <a:pPr algn="ctr" fontAlgn="b"/>
                      <a:r>
                        <a:rPr lang="en-US" altLang="ko-KR" sz="900" b="0" u="none" strike="noStrike">
                          <a:solidFill>
                            <a:srgbClr val="000000"/>
                          </a:solidFill>
                          <a:effectLst/>
                        </a:rPr>
                        <a:t>2020</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226,759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140,508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16,393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12,542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169,443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ctr"/>
                      <a:r>
                        <a:rPr lang="en-US" altLang="ko-KR" sz="900" b="0" u="none" strike="noStrike">
                          <a:solidFill>
                            <a:srgbClr val="000000"/>
                          </a:solidFill>
                          <a:effectLst/>
                        </a:rPr>
                        <a:t>74.72%</a:t>
                      </a:r>
                      <a:endParaRPr lang="en-US" altLang="ko-KR" sz="900" b="0" i="0" u="none" strike="noStrike">
                        <a:solidFill>
                          <a:srgbClr val="000000"/>
                        </a:solidFill>
                        <a:effectLst/>
                        <a:latin typeface="+mn-ea"/>
                        <a:ea typeface="+mn-ea"/>
                      </a:endParaRPr>
                    </a:p>
                  </a:txBody>
                  <a:tcPr marL="9525" marR="9525" marT="9525" marB="0" anchor="ctr"/>
                </a:tc>
                <a:extLst>
                  <a:ext uri="{0D108BD9-81ED-4DB2-BD59-A6C34878D82A}">
                    <a16:rowId xmlns:a16="http://schemas.microsoft.com/office/drawing/2014/main" val="2418556663"/>
                  </a:ext>
                </a:extLst>
              </a:tr>
              <a:tr h="395186">
                <a:tc>
                  <a:txBody>
                    <a:bodyPr/>
                    <a:lstStyle/>
                    <a:p>
                      <a:pPr algn="ctr" fontAlgn="b"/>
                      <a:r>
                        <a:rPr lang="en-US" altLang="ko-KR" sz="900" b="0" u="none" strike="noStrike">
                          <a:solidFill>
                            <a:srgbClr val="000000"/>
                          </a:solidFill>
                          <a:effectLst/>
                        </a:rPr>
                        <a:t>2019</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218,975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133,263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16,150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12,037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25,783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187,233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ctr"/>
                      <a:r>
                        <a:rPr lang="en-US" altLang="ko-KR" sz="900" b="0" u="none" strike="noStrike">
                          <a:solidFill>
                            <a:srgbClr val="000000"/>
                          </a:solidFill>
                          <a:effectLst/>
                        </a:rPr>
                        <a:t>85.50%</a:t>
                      </a:r>
                      <a:endParaRPr lang="en-US" altLang="ko-KR" sz="900" b="0" i="0" u="none" strike="noStrike">
                        <a:solidFill>
                          <a:srgbClr val="000000"/>
                        </a:solidFill>
                        <a:effectLst/>
                        <a:latin typeface="+mn-ea"/>
                        <a:ea typeface="+mn-ea"/>
                      </a:endParaRPr>
                    </a:p>
                  </a:txBody>
                  <a:tcPr marL="9525" marR="9525" marT="9525" marB="0" anchor="ctr"/>
                </a:tc>
                <a:extLst>
                  <a:ext uri="{0D108BD9-81ED-4DB2-BD59-A6C34878D82A}">
                    <a16:rowId xmlns:a16="http://schemas.microsoft.com/office/drawing/2014/main" val="666933058"/>
                  </a:ext>
                </a:extLst>
              </a:tr>
              <a:tr h="395186">
                <a:tc>
                  <a:txBody>
                    <a:bodyPr/>
                    <a:lstStyle/>
                    <a:p>
                      <a:pPr algn="ctr" fontAlgn="b"/>
                      <a:r>
                        <a:rPr lang="en-US" altLang="ko-KR" sz="900" b="0" u="none" strike="noStrike">
                          <a:solidFill>
                            <a:srgbClr val="000000"/>
                          </a:solidFill>
                          <a:effectLst/>
                        </a:rPr>
                        <a:t>2018</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209,992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129,951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5,688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10,721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32,615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1,182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180,157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ctr"/>
                      <a:r>
                        <a:rPr lang="en-US" altLang="ko-KR" sz="900" b="0" u="none" strike="noStrike">
                          <a:solidFill>
                            <a:srgbClr val="000000"/>
                          </a:solidFill>
                          <a:effectLst/>
                        </a:rPr>
                        <a:t>85.79%</a:t>
                      </a:r>
                      <a:endParaRPr lang="en-US" altLang="ko-KR" sz="900" b="0" i="0" u="none" strike="noStrike">
                        <a:solidFill>
                          <a:srgbClr val="000000"/>
                        </a:solidFill>
                        <a:effectLst/>
                        <a:latin typeface="+mn-ea"/>
                        <a:ea typeface="+mn-ea"/>
                      </a:endParaRPr>
                    </a:p>
                  </a:txBody>
                  <a:tcPr marL="9525" marR="9525" marT="9525" marB="0" anchor="ctr"/>
                </a:tc>
                <a:extLst>
                  <a:ext uri="{0D108BD9-81ED-4DB2-BD59-A6C34878D82A}">
                    <a16:rowId xmlns:a16="http://schemas.microsoft.com/office/drawing/2014/main" val="779797133"/>
                  </a:ext>
                </a:extLst>
              </a:tr>
              <a:tr h="395186">
                <a:tc>
                  <a:txBody>
                    <a:bodyPr/>
                    <a:lstStyle/>
                    <a:p>
                      <a:pPr algn="ctr" fontAlgn="b"/>
                      <a:r>
                        <a:rPr lang="en-US" altLang="ko-KR" sz="900" b="0" u="none" strike="noStrike">
                          <a:solidFill>
                            <a:srgbClr val="000000"/>
                          </a:solidFill>
                          <a:effectLst/>
                        </a:rPr>
                        <a:t>2017</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204,775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127,442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5,084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5,279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29,193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6,011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1,504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174,513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ctr"/>
                      <a:r>
                        <a:rPr lang="en-US" altLang="ko-KR" sz="900" b="0" u="none" strike="noStrike">
                          <a:solidFill>
                            <a:srgbClr val="000000"/>
                          </a:solidFill>
                          <a:effectLst/>
                        </a:rPr>
                        <a:t>85.22%</a:t>
                      </a:r>
                      <a:endParaRPr lang="en-US" altLang="ko-KR" sz="900" b="0" i="0" u="none" strike="noStrike">
                        <a:solidFill>
                          <a:srgbClr val="000000"/>
                        </a:solidFill>
                        <a:effectLst/>
                        <a:latin typeface="+mn-ea"/>
                        <a:ea typeface="+mn-ea"/>
                      </a:endParaRPr>
                    </a:p>
                  </a:txBody>
                  <a:tcPr marL="9525" marR="9525" marT="9525" marB="0" anchor="ctr"/>
                </a:tc>
                <a:extLst>
                  <a:ext uri="{0D108BD9-81ED-4DB2-BD59-A6C34878D82A}">
                    <a16:rowId xmlns:a16="http://schemas.microsoft.com/office/drawing/2014/main" val="1573592289"/>
                  </a:ext>
                </a:extLst>
              </a:tr>
              <a:tr h="395186">
                <a:tc>
                  <a:txBody>
                    <a:bodyPr/>
                    <a:lstStyle/>
                    <a:p>
                      <a:pPr algn="ctr" fontAlgn="b"/>
                      <a:r>
                        <a:rPr lang="en-US" altLang="ko-KR" sz="900" b="0" u="none" strike="noStrike">
                          <a:solidFill>
                            <a:srgbClr val="000000"/>
                          </a:solidFill>
                          <a:effectLst/>
                        </a:rPr>
                        <a:t>2016</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208,830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130,962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4,525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4,859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10,828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8,365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18,463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178,002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ctr"/>
                      <a:r>
                        <a:rPr lang="en-US" altLang="ko-KR" sz="900" b="0" u="none" strike="noStrike">
                          <a:solidFill>
                            <a:srgbClr val="000000"/>
                          </a:solidFill>
                          <a:effectLst/>
                        </a:rPr>
                        <a:t>85.24%</a:t>
                      </a:r>
                      <a:endParaRPr lang="en-US" altLang="ko-KR" sz="900" b="0" i="0" u="none" strike="noStrike">
                        <a:solidFill>
                          <a:srgbClr val="000000"/>
                        </a:solidFill>
                        <a:effectLst/>
                        <a:latin typeface="+mn-ea"/>
                        <a:ea typeface="+mn-ea"/>
                      </a:endParaRPr>
                    </a:p>
                  </a:txBody>
                  <a:tcPr marL="9525" marR="9525" marT="9525" marB="0" anchor="ctr"/>
                </a:tc>
                <a:extLst>
                  <a:ext uri="{0D108BD9-81ED-4DB2-BD59-A6C34878D82A}">
                    <a16:rowId xmlns:a16="http://schemas.microsoft.com/office/drawing/2014/main" val="2407697407"/>
                  </a:ext>
                </a:extLst>
              </a:tr>
              <a:tr h="395186">
                <a:tc>
                  <a:txBody>
                    <a:bodyPr/>
                    <a:lstStyle/>
                    <a:p>
                      <a:pPr algn="ctr" fontAlgn="b"/>
                      <a:r>
                        <a:rPr lang="en-US" altLang="ko-KR" sz="900" b="0" u="none" strike="noStrike">
                          <a:solidFill>
                            <a:srgbClr val="000000"/>
                          </a:solidFill>
                          <a:effectLst/>
                        </a:rPr>
                        <a:t>2015</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213,694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132,625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4,499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3,676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11,830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9,122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18,905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ko-KR" altLang="en-US" sz="900" b="0" u="none" strike="noStrike">
                          <a:solidFill>
                            <a:srgbClr val="000000"/>
                          </a:solidFill>
                          <a:effectLst/>
                        </a:rPr>
                        <a:t>　</a:t>
                      </a:r>
                      <a:endParaRPr lang="ko-KR" altLang="en-US" sz="900" b="0" i="0" u="none" strike="noStrike">
                        <a:solidFill>
                          <a:srgbClr val="000000"/>
                        </a:solidFill>
                        <a:effectLst/>
                        <a:latin typeface="+mn-ea"/>
                        <a:ea typeface="+mn-ea"/>
                      </a:endParaRPr>
                    </a:p>
                  </a:txBody>
                  <a:tcPr marL="9525" marR="9525" marT="9525" marB="0" anchor="ctr"/>
                </a:tc>
                <a:tc>
                  <a:txBody>
                    <a:bodyPr/>
                    <a:lstStyle/>
                    <a:p>
                      <a:pPr algn="ctr" fontAlgn="b"/>
                      <a:r>
                        <a:rPr lang="en-US" altLang="ko-KR" sz="900" b="0" u="none" strike="noStrike">
                          <a:solidFill>
                            <a:srgbClr val="000000"/>
                          </a:solidFill>
                          <a:effectLst/>
                        </a:rPr>
                        <a:t>180,657 </a:t>
                      </a:r>
                      <a:endParaRPr lang="en-US" altLang="ko-KR" sz="900" b="0" i="0" u="none" strike="noStrike">
                        <a:solidFill>
                          <a:srgbClr val="000000"/>
                        </a:solidFill>
                        <a:effectLst/>
                        <a:latin typeface="+mn-ea"/>
                        <a:ea typeface="+mn-ea"/>
                      </a:endParaRPr>
                    </a:p>
                  </a:txBody>
                  <a:tcPr marL="9525" marR="9525" marT="9525" marB="0" anchor="ctr"/>
                </a:tc>
                <a:tc>
                  <a:txBody>
                    <a:bodyPr/>
                    <a:lstStyle/>
                    <a:p>
                      <a:pPr algn="ctr" fontAlgn="ctr"/>
                      <a:r>
                        <a:rPr lang="en-US" altLang="ko-KR" sz="900" b="0" u="none" strike="noStrike" dirty="0">
                          <a:solidFill>
                            <a:srgbClr val="000000"/>
                          </a:solidFill>
                          <a:effectLst/>
                        </a:rPr>
                        <a:t>84.54%</a:t>
                      </a:r>
                      <a:endParaRPr lang="en-US" altLang="ko-KR" sz="900" b="0" i="0" u="none" strike="noStrike" dirty="0">
                        <a:solidFill>
                          <a:srgbClr val="000000"/>
                        </a:solidFill>
                        <a:effectLst/>
                        <a:latin typeface="+mn-ea"/>
                        <a:ea typeface="+mn-ea"/>
                      </a:endParaRPr>
                    </a:p>
                  </a:txBody>
                  <a:tcPr marL="9525" marR="9525" marT="9525" marB="0" anchor="ctr"/>
                </a:tc>
                <a:extLst>
                  <a:ext uri="{0D108BD9-81ED-4DB2-BD59-A6C34878D82A}">
                    <a16:rowId xmlns:a16="http://schemas.microsoft.com/office/drawing/2014/main" val="1996825238"/>
                  </a:ext>
                </a:extLst>
              </a:tr>
            </a:tbl>
          </a:graphicData>
        </a:graphic>
      </p:graphicFrame>
    </p:spTree>
    <p:extLst>
      <p:ext uri="{BB962C8B-B14F-4D97-AF65-F5344CB8AC3E}">
        <p14:creationId xmlns:p14="http://schemas.microsoft.com/office/powerpoint/2010/main" val="3678261808"/>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3" name="직선 연결선 22"/>
          <p:cNvCxnSpPr/>
          <p:nvPr/>
        </p:nvCxnSpPr>
        <p:spPr>
          <a:xfrm>
            <a:off x="1876550" y="1695450"/>
            <a:ext cx="0" cy="462048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59</a:t>
            </a:r>
            <a:r>
              <a:rPr lang="ko-KR" altLang="en-US" dirty="0"/>
              <a:t>조</a:t>
            </a:r>
            <a:r>
              <a:rPr lang="en-US" altLang="ko-KR" dirty="0"/>
              <a:t>, </a:t>
            </a:r>
            <a:r>
              <a:rPr lang="ko-KR" altLang="en-US" dirty="0"/>
              <a:t>제</a:t>
            </a:r>
            <a:r>
              <a:rPr lang="en-US" altLang="ko-KR" dirty="0"/>
              <a:t>60</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심사청구의 절차</a:t>
            </a:r>
            <a:r>
              <a:rPr lang="en-US" altLang="ko-KR" dirty="0">
                <a:solidFill>
                  <a:schemeClr val="tx1">
                    <a:lumMod val="65000"/>
                    <a:lumOff val="35000"/>
                  </a:schemeClr>
                </a:solidFill>
              </a:rPr>
              <a:t>(</a:t>
            </a:r>
            <a:r>
              <a:rPr lang="ko-KR" altLang="en-US" dirty="0">
                <a:solidFill>
                  <a:schemeClr val="tx1">
                    <a:lumMod val="65000"/>
                    <a:lumOff val="35000"/>
                  </a:schemeClr>
                </a:solidFill>
              </a:rPr>
              <a:t>제</a:t>
            </a:r>
            <a:r>
              <a:rPr lang="en-US" altLang="ko-KR" dirty="0">
                <a:solidFill>
                  <a:schemeClr val="tx1">
                    <a:lumMod val="65000"/>
                    <a:lumOff val="35000"/>
                  </a:schemeClr>
                </a:solidFill>
              </a:rPr>
              <a:t>60</a:t>
            </a:r>
            <a:r>
              <a:rPr lang="ko-KR" altLang="en-US" dirty="0">
                <a:solidFill>
                  <a:schemeClr val="tx1">
                    <a:lumMod val="65000"/>
                    <a:lumOff val="35000"/>
                  </a:schemeClr>
                </a:solidFill>
              </a:rPr>
              <a:t>조</a:t>
            </a:r>
            <a:r>
              <a:rPr lang="en-US" altLang="ko-KR" dirty="0">
                <a:solidFill>
                  <a:schemeClr val="tx1">
                    <a:lumMod val="65000"/>
                    <a:lumOff val="35000"/>
                  </a:schemeClr>
                </a:solidFill>
              </a:rPr>
              <a:t>)</a:t>
            </a:r>
            <a:endParaRPr lang="ko-KR" altLang="en-US" dirty="0">
              <a:solidFill>
                <a:schemeClr val="tx1">
                  <a:lumMod val="65000"/>
                  <a:lumOff val="35000"/>
                </a:schemeClr>
              </a:solidFill>
            </a:endParaRPr>
          </a:p>
        </p:txBody>
      </p:sp>
      <p:sp>
        <p:nvSpPr>
          <p:cNvPr id="37" name="TextBox 36"/>
          <p:cNvSpPr txBox="1"/>
          <p:nvPr/>
        </p:nvSpPr>
        <p:spPr>
          <a:xfrm>
            <a:off x="1048000" y="2152650"/>
            <a:ext cx="1657100" cy="595702"/>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400" dirty="0"/>
              <a:t>출원인의</a:t>
            </a:r>
            <a:endParaRPr lang="en-US" altLang="ko-KR" sz="1400" dirty="0"/>
          </a:p>
          <a:p>
            <a:pPr algn="ctr"/>
            <a:r>
              <a:rPr lang="ko-KR" altLang="en-US" sz="1400" dirty="0" err="1"/>
              <a:t>심사청구서</a:t>
            </a:r>
            <a:r>
              <a:rPr lang="ko-KR" altLang="en-US" sz="1400" dirty="0"/>
              <a:t> 제출</a:t>
            </a:r>
          </a:p>
        </p:txBody>
      </p:sp>
      <p:sp>
        <p:nvSpPr>
          <p:cNvPr id="38" name="TextBox 37"/>
          <p:cNvSpPr txBox="1"/>
          <p:nvPr/>
        </p:nvSpPr>
        <p:spPr>
          <a:xfrm>
            <a:off x="1048000" y="3052150"/>
            <a:ext cx="1657100" cy="324710"/>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dirty="0" err="1"/>
              <a:t>심사청구료</a:t>
            </a:r>
            <a:r>
              <a:rPr lang="ko-KR" altLang="en-US" sz="1400" dirty="0"/>
              <a:t> 납부</a:t>
            </a:r>
          </a:p>
        </p:txBody>
      </p:sp>
      <p:sp>
        <p:nvSpPr>
          <p:cNvPr id="39" name="TextBox 38"/>
          <p:cNvSpPr txBox="1"/>
          <p:nvPr/>
        </p:nvSpPr>
        <p:spPr>
          <a:xfrm>
            <a:off x="1048000" y="4139842"/>
            <a:ext cx="1657100" cy="324710"/>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dirty="0"/>
              <a:t>심사청구사실 게재</a:t>
            </a:r>
          </a:p>
        </p:txBody>
      </p:sp>
      <p:sp>
        <p:nvSpPr>
          <p:cNvPr id="59" name="TextBox 58"/>
          <p:cNvSpPr txBox="1"/>
          <p:nvPr/>
        </p:nvSpPr>
        <p:spPr>
          <a:xfrm>
            <a:off x="1048000" y="5590315"/>
            <a:ext cx="1657100" cy="324710"/>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dirty="0" err="1"/>
              <a:t>실체심사</a:t>
            </a:r>
            <a:endParaRPr lang="ko-KR" altLang="en-US" sz="1400" dirty="0"/>
          </a:p>
        </p:txBody>
      </p:sp>
      <p:cxnSp>
        <p:nvCxnSpPr>
          <p:cNvPr id="60" name="직선 연결선 59"/>
          <p:cNvCxnSpPr/>
          <p:nvPr/>
        </p:nvCxnSpPr>
        <p:spPr>
          <a:xfrm>
            <a:off x="9982325" y="1695450"/>
            <a:ext cx="0" cy="462048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TextBox 61"/>
          <p:cNvSpPr txBox="1"/>
          <p:nvPr/>
        </p:nvSpPr>
        <p:spPr>
          <a:xfrm>
            <a:off x="9153775" y="2152650"/>
            <a:ext cx="1657100" cy="595702"/>
          </a:xfrm>
          <a:prstGeom prst="rect">
            <a:avLst/>
          </a:prstGeom>
          <a:solidFill>
            <a:schemeClr val="tx2">
              <a:lumMod val="20000"/>
              <a:lumOff val="80000"/>
            </a:schemeClr>
          </a:solidFill>
          <a:ln>
            <a:solidFill>
              <a:schemeClr val="bg1">
                <a:lumMod val="50000"/>
              </a:schemeClr>
            </a:solidFill>
          </a:ln>
        </p:spPr>
        <p:txBody>
          <a:bodyPr wrap="square" rtlCol="0" anchor="ctr">
            <a:noAutofit/>
          </a:bodyPr>
          <a:lstStyle/>
          <a:p>
            <a:pPr algn="ctr"/>
            <a:r>
              <a:rPr lang="ko-KR" altLang="en-US" sz="1400" dirty="0"/>
              <a:t>제</a:t>
            </a:r>
            <a:r>
              <a:rPr lang="en-US" altLang="ko-KR" sz="1400" dirty="0"/>
              <a:t>3</a:t>
            </a:r>
            <a:r>
              <a:rPr lang="ko-KR" altLang="en-US" sz="1400" dirty="0"/>
              <a:t>자의</a:t>
            </a:r>
            <a:endParaRPr lang="en-US" altLang="ko-KR" sz="1400" dirty="0"/>
          </a:p>
          <a:p>
            <a:pPr algn="ctr"/>
            <a:r>
              <a:rPr lang="ko-KR" altLang="en-US" sz="1400" dirty="0" err="1"/>
              <a:t>심사청구서</a:t>
            </a:r>
            <a:r>
              <a:rPr lang="ko-KR" altLang="en-US" sz="1400" dirty="0"/>
              <a:t> 제출</a:t>
            </a:r>
          </a:p>
        </p:txBody>
      </p:sp>
      <p:sp>
        <p:nvSpPr>
          <p:cNvPr id="65" name="TextBox 64"/>
          <p:cNvSpPr txBox="1"/>
          <p:nvPr/>
        </p:nvSpPr>
        <p:spPr>
          <a:xfrm>
            <a:off x="9153775" y="3061675"/>
            <a:ext cx="1657100" cy="324710"/>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dirty="0" err="1"/>
              <a:t>심사청구료</a:t>
            </a:r>
            <a:r>
              <a:rPr lang="ko-KR" altLang="en-US" sz="1400" dirty="0"/>
              <a:t> 납부</a:t>
            </a:r>
          </a:p>
        </p:txBody>
      </p:sp>
      <p:sp>
        <p:nvSpPr>
          <p:cNvPr id="67" name="TextBox 66"/>
          <p:cNvSpPr txBox="1"/>
          <p:nvPr/>
        </p:nvSpPr>
        <p:spPr>
          <a:xfrm>
            <a:off x="9153775" y="4139842"/>
            <a:ext cx="1657100" cy="324710"/>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dirty="0"/>
              <a:t>심사청구사실 게재</a:t>
            </a:r>
          </a:p>
        </p:txBody>
      </p:sp>
      <p:sp>
        <p:nvSpPr>
          <p:cNvPr id="68" name="TextBox 67"/>
          <p:cNvSpPr txBox="1"/>
          <p:nvPr/>
        </p:nvSpPr>
        <p:spPr>
          <a:xfrm>
            <a:off x="9153775" y="4809265"/>
            <a:ext cx="1657100" cy="324710"/>
          </a:xfrm>
          <a:prstGeom prst="rect">
            <a:avLst/>
          </a:prstGeom>
          <a:solidFill>
            <a:schemeClr val="accent4"/>
          </a:solidFill>
          <a:ln>
            <a:solidFill>
              <a:schemeClr val="bg1">
                <a:lumMod val="50000"/>
              </a:schemeClr>
            </a:solidFill>
          </a:ln>
        </p:spPr>
        <p:txBody>
          <a:bodyPr wrap="square" rtlCol="0" anchor="ctr">
            <a:noAutofit/>
          </a:bodyPr>
          <a:lstStyle/>
          <a:p>
            <a:pPr algn="ctr"/>
            <a:r>
              <a:rPr lang="ko-KR" altLang="en-US" sz="1400" dirty="0"/>
              <a:t>심사청구사실 통지</a:t>
            </a:r>
          </a:p>
        </p:txBody>
      </p:sp>
      <p:sp>
        <p:nvSpPr>
          <p:cNvPr id="69" name="TextBox 68"/>
          <p:cNvSpPr txBox="1"/>
          <p:nvPr/>
        </p:nvSpPr>
        <p:spPr>
          <a:xfrm>
            <a:off x="9153775" y="5590315"/>
            <a:ext cx="1657100" cy="324710"/>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dirty="0" err="1"/>
              <a:t>실체심사</a:t>
            </a:r>
            <a:endParaRPr lang="ko-KR" altLang="en-US" sz="1400" dirty="0"/>
          </a:p>
        </p:txBody>
      </p:sp>
      <p:sp>
        <p:nvSpPr>
          <p:cNvPr id="71" name="TextBox 70"/>
          <p:cNvSpPr txBox="1"/>
          <p:nvPr/>
        </p:nvSpPr>
        <p:spPr>
          <a:xfrm>
            <a:off x="2930526" y="1531425"/>
            <a:ext cx="3060700" cy="826401"/>
          </a:xfrm>
          <a:prstGeom prst="rect">
            <a:avLst/>
          </a:prstGeom>
          <a:solidFill>
            <a:schemeClr val="bg1">
              <a:lumMod val="95000"/>
            </a:schemeClr>
          </a:solidFill>
          <a:ln>
            <a:solidFill>
              <a:schemeClr val="bg1">
                <a:lumMod val="50000"/>
              </a:schemeClr>
            </a:solidFill>
          </a:ln>
        </p:spPr>
        <p:txBody>
          <a:bodyPr wrap="square" rtlCol="0" anchor="ctr">
            <a:noAutofit/>
          </a:bodyPr>
          <a:lstStyle/>
          <a:p>
            <a:r>
              <a:rPr lang="en-US" altLang="ko-KR" sz="1200" dirty="0"/>
              <a:t>ⅰ) </a:t>
            </a:r>
            <a:r>
              <a:rPr lang="ko-KR" altLang="en-US" sz="1200" dirty="0"/>
              <a:t>명세서에 청구범위를 적지 아니한 경우 또는 </a:t>
            </a:r>
            <a:r>
              <a:rPr lang="en-US" altLang="ko-KR" sz="1200" dirty="0"/>
              <a:t>ⅱ) </a:t>
            </a:r>
            <a:r>
              <a:rPr lang="ko-KR" altLang="en-US" sz="1200" dirty="0" err="1"/>
              <a:t>국어번역문</a:t>
            </a:r>
            <a:r>
              <a:rPr lang="en-US" altLang="ko-KR" sz="1200" dirty="0"/>
              <a:t>(</a:t>
            </a:r>
            <a:r>
              <a:rPr lang="ko-KR" altLang="en-US" sz="1200" dirty="0"/>
              <a:t>法 </a:t>
            </a:r>
            <a:r>
              <a:rPr lang="en-US" altLang="ko-KR" sz="1200" dirty="0"/>
              <a:t>42</a:t>
            </a:r>
            <a:r>
              <a:rPr lang="ko-KR" altLang="en-US" sz="1200" dirty="0"/>
              <a:t>의</a:t>
            </a:r>
            <a:r>
              <a:rPr lang="en-US" altLang="ko-KR" sz="1200" dirty="0"/>
              <a:t>3</a:t>
            </a:r>
            <a:r>
              <a:rPr lang="ko-KR" altLang="en-US" sz="1200" dirty="0"/>
              <a:t>②</a:t>
            </a:r>
            <a:r>
              <a:rPr lang="en-US" altLang="ko-KR" sz="1200" dirty="0"/>
              <a:t>)</a:t>
            </a:r>
            <a:r>
              <a:rPr lang="ko-KR" altLang="en-US" sz="1200" dirty="0"/>
              <a:t>을 제출하지 아니한 경우</a:t>
            </a:r>
            <a:r>
              <a:rPr lang="en-US" altLang="ko-KR" sz="1200" dirty="0"/>
              <a:t>(</a:t>
            </a:r>
            <a:r>
              <a:rPr lang="ko-KR" altLang="en-US" sz="1200" dirty="0"/>
              <a:t>외국어특허출원의 경우로 한정한다</a:t>
            </a:r>
            <a:r>
              <a:rPr lang="en-US" altLang="ko-KR" sz="1200" dirty="0"/>
              <a:t>) </a:t>
            </a:r>
            <a:r>
              <a:rPr lang="ko-KR" altLang="en-US" sz="1200" dirty="0"/>
              <a:t>심사청구 不可</a:t>
            </a:r>
            <a:endParaRPr lang="ko-KR" altLang="en-US" sz="1050" dirty="0"/>
          </a:p>
        </p:txBody>
      </p:sp>
      <p:cxnSp>
        <p:nvCxnSpPr>
          <p:cNvPr id="30" name="직선 연결선 29"/>
          <p:cNvCxnSpPr>
            <a:stCxn id="71" idx="1"/>
          </p:cNvCxnSpPr>
          <p:nvPr/>
        </p:nvCxnSpPr>
        <p:spPr>
          <a:xfrm flipH="1">
            <a:off x="1876550" y="1944626"/>
            <a:ext cx="1053976"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TextBox 78"/>
          <p:cNvSpPr txBox="1"/>
          <p:nvPr/>
        </p:nvSpPr>
        <p:spPr>
          <a:xfrm>
            <a:off x="1048000" y="3624202"/>
            <a:ext cx="1657100" cy="324710"/>
          </a:xfrm>
          <a:prstGeom prst="rect">
            <a:avLst/>
          </a:prstGeom>
          <a:solidFill>
            <a:schemeClr val="bg1"/>
          </a:solidFill>
          <a:ln>
            <a:solidFill>
              <a:schemeClr val="bg1">
                <a:lumMod val="50000"/>
              </a:schemeClr>
            </a:solidFill>
            <a:prstDash val="sysDot"/>
          </a:ln>
        </p:spPr>
        <p:txBody>
          <a:bodyPr wrap="square" rtlCol="0" anchor="ctr">
            <a:noAutofit/>
          </a:bodyPr>
          <a:lstStyle/>
          <a:p>
            <a:pPr algn="ctr"/>
            <a:r>
              <a:rPr lang="ko-KR" altLang="en-US" sz="1400" dirty="0" err="1"/>
              <a:t>방식심사</a:t>
            </a:r>
            <a:endParaRPr lang="ko-KR" altLang="en-US" sz="1400" dirty="0"/>
          </a:p>
        </p:txBody>
      </p:sp>
      <p:sp>
        <p:nvSpPr>
          <p:cNvPr id="85" name="TextBox 84"/>
          <p:cNvSpPr txBox="1"/>
          <p:nvPr/>
        </p:nvSpPr>
        <p:spPr>
          <a:xfrm>
            <a:off x="9153775" y="3614677"/>
            <a:ext cx="1657100" cy="324710"/>
          </a:xfrm>
          <a:prstGeom prst="rect">
            <a:avLst/>
          </a:prstGeom>
          <a:solidFill>
            <a:schemeClr val="bg1"/>
          </a:solidFill>
          <a:ln>
            <a:solidFill>
              <a:schemeClr val="bg1">
                <a:lumMod val="50000"/>
              </a:schemeClr>
            </a:solidFill>
            <a:prstDash val="sysDot"/>
          </a:ln>
        </p:spPr>
        <p:txBody>
          <a:bodyPr wrap="square" rtlCol="0" anchor="ctr">
            <a:noAutofit/>
          </a:bodyPr>
          <a:lstStyle/>
          <a:p>
            <a:pPr algn="ctr"/>
            <a:r>
              <a:rPr lang="ko-KR" altLang="en-US" sz="1400" dirty="0" err="1"/>
              <a:t>방식심사</a:t>
            </a:r>
            <a:endParaRPr lang="ko-KR" altLang="en-US" sz="1400" dirty="0"/>
          </a:p>
        </p:txBody>
      </p:sp>
      <p:sp>
        <p:nvSpPr>
          <p:cNvPr id="41" name="모서리가 둥근 사각형 설명선 40"/>
          <p:cNvSpPr/>
          <p:nvPr/>
        </p:nvSpPr>
        <p:spPr>
          <a:xfrm>
            <a:off x="2968626" y="2601250"/>
            <a:ext cx="2670175" cy="395040"/>
          </a:xfrm>
          <a:prstGeom prst="wedgeRoundRectCallout">
            <a:avLst>
              <a:gd name="adj1" fmla="val -58429"/>
              <a:gd name="adj2" fmla="val -36357"/>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출원서에</a:t>
            </a:r>
            <a:r>
              <a:rPr lang="ko-KR" altLang="en-US" sz="1200" dirty="0">
                <a:solidFill>
                  <a:schemeClr val="tx1"/>
                </a:solidFill>
              </a:rPr>
              <a:t> 취지 기재하고 생략 가능</a:t>
            </a:r>
          </a:p>
        </p:txBody>
      </p:sp>
      <p:cxnSp>
        <p:nvCxnSpPr>
          <p:cNvPr id="51" name="꺾인 연결선 50"/>
          <p:cNvCxnSpPr>
            <a:stCxn id="37" idx="1"/>
            <a:endCxn id="59" idx="1"/>
          </p:cNvCxnSpPr>
          <p:nvPr/>
        </p:nvCxnSpPr>
        <p:spPr>
          <a:xfrm rot="10800000" flipV="1">
            <a:off x="1048000" y="2450500"/>
            <a:ext cx="12700" cy="3302169"/>
          </a:xfrm>
          <a:prstGeom prst="bentConnector3">
            <a:avLst>
              <a:gd name="adj1" fmla="val 3925717"/>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꺾인 연결선 87"/>
          <p:cNvCxnSpPr>
            <a:stCxn id="62" idx="3"/>
            <a:endCxn id="69" idx="3"/>
          </p:cNvCxnSpPr>
          <p:nvPr/>
        </p:nvCxnSpPr>
        <p:spPr>
          <a:xfrm>
            <a:off x="10810875" y="2450501"/>
            <a:ext cx="12700" cy="3302169"/>
          </a:xfrm>
          <a:prstGeom prst="bentConnector3">
            <a:avLst>
              <a:gd name="adj1" fmla="val 66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7" name="TextBox 86"/>
          <p:cNvSpPr txBox="1"/>
          <p:nvPr/>
        </p:nvSpPr>
        <p:spPr>
          <a:xfrm>
            <a:off x="11163174" y="4169332"/>
            <a:ext cx="952500" cy="419193"/>
          </a:xfrm>
          <a:prstGeom prst="rect">
            <a:avLst/>
          </a:prstGeom>
          <a:solidFill>
            <a:schemeClr val="bg1"/>
          </a:solidFill>
          <a:ln>
            <a:noFill/>
          </a:ln>
        </p:spPr>
        <p:txBody>
          <a:bodyPr wrap="square" rtlCol="0" anchor="ctr">
            <a:noAutofit/>
          </a:bodyPr>
          <a:lstStyle/>
          <a:p>
            <a:pPr algn="ctr"/>
            <a:r>
              <a:rPr lang="ko-KR" altLang="en-US" sz="1200" dirty="0"/>
              <a:t>심사청구</a:t>
            </a:r>
            <a:endParaRPr lang="en-US" altLang="ko-KR" sz="1200" dirty="0"/>
          </a:p>
          <a:p>
            <a:pPr algn="ctr"/>
            <a:r>
              <a:rPr lang="ko-KR" altLang="en-US" sz="1200" dirty="0"/>
              <a:t>순서</a:t>
            </a:r>
          </a:p>
        </p:txBody>
      </p:sp>
      <p:cxnSp>
        <p:nvCxnSpPr>
          <p:cNvPr id="89" name="꺾인 연결선 88"/>
          <p:cNvCxnSpPr>
            <a:stCxn id="68" idx="3"/>
            <a:endCxn id="69" idx="0"/>
          </p:cNvCxnSpPr>
          <p:nvPr/>
        </p:nvCxnSpPr>
        <p:spPr>
          <a:xfrm flipH="1">
            <a:off x="9982325" y="4971620"/>
            <a:ext cx="828550" cy="618695"/>
          </a:xfrm>
          <a:prstGeom prst="bentConnector4">
            <a:avLst>
              <a:gd name="adj1" fmla="val -27590"/>
              <a:gd name="adj2" fmla="val 6312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0" name="TextBox 89"/>
          <p:cNvSpPr txBox="1"/>
          <p:nvPr/>
        </p:nvSpPr>
        <p:spPr>
          <a:xfrm>
            <a:off x="10839450" y="5113311"/>
            <a:ext cx="609600" cy="183019"/>
          </a:xfrm>
          <a:prstGeom prst="rect">
            <a:avLst/>
          </a:prstGeom>
          <a:solidFill>
            <a:schemeClr val="bg1"/>
          </a:solidFill>
          <a:ln>
            <a:noFill/>
          </a:ln>
        </p:spPr>
        <p:txBody>
          <a:bodyPr wrap="square" rtlCol="0" anchor="ctr">
            <a:noAutofit/>
          </a:bodyPr>
          <a:lstStyle/>
          <a:p>
            <a:pPr algn="ctr"/>
            <a:r>
              <a:rPr lang="en-US" altLang="ko-KR" sz="1200"/>
              <a:t>3</a:t>
            </a:r>
            <a:r>
              <a:rPr lang="ko-KR" altLang="en-US" sz="1200" dirty="0"/>
              <a:t>개월</a:t>
            </a:r>
          </a:p>
        </p:txBody>
      </p:sp>
      <p:sp>
        <p:nvSpPr>
          <p:cNvPr id="92" name="TextBox 91"/>
          <p:cNvSpPr txBox="1"/>
          <p:nvPr/>
        </p:nvSpPr>
        <p:spPr>
          <a:xfrm>
            <a:off x="3405501" y="4617100"/>
            <a:ext cx="4919725" cy="1209496"/>
          </a:xfrm>
          <a:prstGeom prst="rect">
            <a:avLst/>
          </a:prstGeom>
          <a:solidFill>
            <a:schemeClr val="bg1">
              <a:lumMod val="95000"/>
            </a:schemeClr>
          </a:solidFill>
          <a:ln>
            <a:solidFill>
              <a:schemeClr val="bg1">
                <a:lumMod val="50000"/>
              </a:schemeClr>
            </a:solidFill>
          </a:ln>
        </p:spPr>
        <p:txBody>
          <a:bodyPr wrap="square" rtlCol="0" anchor="ctr">
            <a:noAutofit/>
          </a:bodyPr>
          <a:lstStyle/>
          <a:p>
            <a:r>
              <a:rPr lang="ko-KR" altLang="en-US" sz="1200" dirty="0"/>
              <a:t>명세서에 청구범위를 적지 아니하거나 국어번역문을 제출하지 아니한 경우</a:t>
            </a:r>
            <a:r>
              <a:rPr lang="en-US" altLang="ko-KR" sz="1200" dirty="0"/>
              <a:t>(</a:t>
            </a:r>
            <a:r>
              <a:rPr lang="ko-KR" altLang="en-US" sz="1200" dirty="0"/>
              <a:t>외국어특허출원의 경우로 한정한다</a:t>
            </a:r>
            <a:r>
              <a:rPr lang="en-US" altLang="ko-KR" sz="1200" dirty="0"/>
              <a:t>) </a:t>
            </a:r>
            <a:r>
              <a:rPr lang="ko-KR" altLang="en-US" sz="1200" dirty="0"/>
              <a:t>제</a:t>
            </a:r>
            <a:r>
              <a:rPr lang="en-US" altLang="ko-KR" sz="1200" dirty="0"/>
              <a:t>3</a:t>
            </a:r>
            <a:r>
              <a:rPr lang="ko-KR" altLang="en-US" sz="1200" dirty="0"/>
              <a:t>자의 </a:t>
            </a:r>
            <a:r>
              <a:rPr lang="ko-KR" altLang="en-US" sz="1200" dirty="0" err="1"/>
              <a:t>출원심사</a:t>
            </a:r>
            <a:r>
              <a:rPr lang="ko-KR" altLang="en-US" sz="1200" dirty="0"/>
              <a:t> 청구의 취지를 </a:t>
            </a:r>
            <a:r>
              <a:rPr lang="ko-KR" altLang="en-US" sz="1200" dirty="0" err="1"/>
              <a:t>통지받은</a:t>
            </a:r>
            <a:r>
              <a:rPr lang="ko-KR" altLang="en-US" sz="1200" dirty="0"/>
              <a:t> 날부터 </a:t>
            </a:r>
            <a:r>
              <a:rPr lang="en-US" altLang="ko-KR" sz="1200" dirty="0"/>
              <a:t>3</a:t>
            </a:r>
            <a:r>
              <a:rPr lang="ko-KR" altLang="en-US" sz="1200" dirty="0"/>
              <a:t>개월이 되는 날 또는 출원일</a:t>
            </a:r>
            <a:r>
              <a:rPr lang="en-US" altLang="ko-KR" sz="1200" dirty="0"/>
              <a:t>(</a:t>
            </a:r>
            <a:r>
              <a:rPr lang="ko-KR" altLang="en-US" sz="1200" dirty="0"/>
              <a:t>우선권주장의 경우 최우선일</a:t>
            </a:r>
            <a:r>
              <a:rPr lang="en-US" altLang="ko-KR" sz="1200" dirty="0"/>
              <a:t>)</a:t>
            </a:r>
            <a:r>
              <a:rPr lang="ko-KR" altLang="en-US" sz="1200" dirty="0"/>
              <a:t>로부터 </a:t>
            </a:r>
            <a:r>
              <a:rPr lang="en-US" altLang="ko-KR" sz="1200" dirty="0"/>
              <a:t>1</a:t>
            </a:r>
            <a:r>
              <a:rPr lang="ko-KR" altLang="en-US" sz="1200" dirty="0"/>
              <a:t>년 </a:t>
            </a:r>
            <a:r>
              <a:rPr lang="en-US" altLang="ko-KR" sz="1200" dirty="0"/>
              <a:t>2</a:t>
            </a:r>
            <a:r>
              <a:rPr lang="ko-KR" altLang="en-US" sz="1200" dirty="0"/>
              <a:t>개월이 되는 날 중 빠른 날까지 명세서에 청구범위를 적는 보정</a:t>
            </a:r>
            <a:r>
              <a:rPr lang="en-US" altLang="ko-KR" sz="1200" dirty="0"/>
              <a:t>(</a:t>
            </a:r>
            <a:r>
              <a:rPr lang="ko-KR" altLang="en-US" sz="1200" dirty="0"/>
              <a:t>法 </a:t>
            </a:r>
            <a:r>
              <a:rPr lang="en-US" altLang="ko-KR" sz="1200" dirty="0"/>
              <a:t>42</a:t>
            </a:r>
            <a:r>
              <a:rPr lang="ko-KR" altLang="en-US" sz="1200" dirty="0"/>
              <a:t>의</a:t>
            </a:r>
            <a:r>
              <a:rPr lang="en-US" altLang="ko-KR" sz="1200" dirty="0"/>
              <a:t>2</a:t>
            </a:r>
            <a:r>
              <a:rPr lang="ko-KR" altLang="en-US" sz="1200" dirty="0"/>
              <a:t>②</a:t>
            </a:r>
            <a:r>
              <a:rPr lang="en-US" altLang="ko-KR" sz="1200" dirty="0"/>
              <a:t>) /</a:t>
            </a:r>
            <a:r>
              <a:rPr lang="ko-KR" altLang="en-US" sz="1200" dirty="0" err="1"/>
              <a:t>국어번역문</a:t>
            </a:r>
            <a:r>
              <a:rPr lang="ko-KR" altLang="en-US" sz="1200" dirty="0"/>
              <a:t> 제출</a:t>
            </a:r>
            <a:r>
              <a:rPr lang="en-US" altLang="ko-KR" sz="1200" dirty="0"/>
              <a:t>(</a:t>
            </a:r>
            <a:r>
              <a:rPr lang="ko-KR" altLang="en-US" sz="1200" dirty="0"/>
              <a:t>法 </a:t>
            </a:r>
            <a:r>
              <a:rPr lang="en-US" altLang="ko-KR" sz="1200" dirty="0"/>
              <a:t>42</a:t>
            </a:r>
            <a:r>
              <a:rPr lang="ko-KR" altLang="en-US" sz="1200" dirty="0"/>
              <a:t>의</a:t>
            </a:r>
            <a:r>
              <a:rPr lang="en-US" altLang="ko-KR" sz="1200" dirty="0"/>
              <a:t>3</a:t>
            </a:r>
            <a:r>
              <a:rPr lang="ko-KR" altLang="en-US" sz="1200" dirty="0"/>
              <a:t>②</a:t>
            </a:r>
            <a:r>
              <a:rPr lang="en-US" altLang="ko-KR" sz="1200" dirty="0"/>
              <a:t>)</a:t>
            </a:r>
            <a:r>
              <a:rPr lang="ko-KR" altLang="en-US" sz="1200" dirty="0"/>
              <a:t>하지 않으면 출원 취하 간주</a:t>
            </a:r>
            <a:endParaRPr lang="ko-KR" altLang="en-US" sz="1050" dirty="0"/>
          </a:p>
        </p:txBody>
      </p:sp>
      <p:cxnSp>
        <p:nvCxnSpPr>
          <p:cNvPr id="93" name="직선 연결선 92"/>
          <p:cNvCxnSpPr>
            <a:stCxn id="92" idx="3"/>
          </p:cNvCxnSpPr>
          <p:nvPr/>
        </p:nvCxnSpPr>
        <p:spPr>
          <a:xfrm>
            <a:off x="8325226" y="5221848"/>
            <a:ext cx="1657099"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249</a:t>
            </a:r>
            <a:endParaRPr lang="ko-KR" altLang="en-US" dirty="0"/>
          </a:p>
        </p:txBody>
      </p:sp>
      <p:sp>
        <p:nvSpPr>
          <p:cNvPr id="28" name="TextBox 27">
            <a:extLst>
              <a:ext uri="{FF2B5EF4-FFF2-40B4-BE49-F238E27FC236}">
                <a16:creationId xmlns:a16="http://schemas.microsoft.com/office/drawing/2014/main" id="{3A356855-1012-48D4-8882-297DEB2148A1}"/>
              </a:ext>
            </a:extLst>
          </p:cNvPr>
          <p:cNvSpPr txBox="1"/>
          <p:nvPr/>
        </p:nvSpPr>
        <p:spPr>
          <a:xfrm>
            <a:off x="58304" y="3972048"/>
            <a:ext cx="952500" cy="419193"/>
          </a:xfrm>
          <a:prstGeom prst="rect">
            <a:avLst/>
          </a:prstGeom>
          <a:solidFill>
            <a:schemeClr val="bg1"/>
          </a:solidFill>
          <a:ln>
            <a:noFill/>
          </a:ln>
        </p:spPr>
        <p:txBody>
          <a:bodyPr wrap="square" rtlCol="0" anchor="ctr">
            <a:noAutofit/>
          </a:bodyPr>
          <a:lstStyle/>
          <a:p>
            <a:pPr algn="ctr"/>
            <a:r>
              <a:rPr lang="ko-KR" altLang="en-US" sz="1200" dirty="0"/>
              <a:t>심사청구</a:t>
            </a:r>
            <a:endParaRPr lang="en-US" altLang="ko-KR" sz="1200" dirty="0"/>
          </a:p>
          <a:p>
            <a:pPr algn="ctr"/>
            <a:r>
              <a:rPr lang="ko-KR" altLang="en-US" sz="1200" dirty="0"/>
              <a:t>순서</a:t>
            </a:r>
          </a:p>
        </p:txBody>
      </p:sp>
      <p:sp>
        <p:nvSpPr>
          <p:cNvPr id="5" name="TextBox 4">
            <a:extLst>
              <a:ext uri="{FF2B5EF4-FFF2-40B4-BE49-F238E27FC236}">
                <a16:creationId xmlns:a16="http://schemas.microsoft.com/office/drawing/2014/main" id="{AA4D7FEA-BFAD-09C0-BFA9-32F30FBAD3E7}"/>
              </a:ext>
            </a:extLst>
          </p:cNvPr>
          <p:cNvSpPr txBox="1"/>
          <p:nvPr/>
        </p:nvSpPr>
        <p:spPr>
          <a:xfrm>
            <a:off x="733412" y="1858647"/>
            <a:ext cx="1130438" cy="307777"/>
          </a:xfrm>
          <a:prstGeom prst="rect">
            <a:avLst/>
          </a:prstGeom>
          <a:noFill/>
        </p:spPr>
        <p:txBody>
          <a:bodyPr wrap="none" rtlCol="0">
            <a:spAutoFit/>
          </a:bodyPr>
          <a:lstStyle/>
          <a:p>
            <a:r>
              <a:rPr lang="ko-KR" altLang="en-US" sz="1400" dirty="0">
                <a:solidFill>
                  <a:srgbClr val="FF0000"/>
                </a:solidFill>
              </a:rPr>
              <a:t>제</a:t>
            </a:r>
            <a:r>
              <a:rPr lang="en-US" altLang="ko-KR" sz="1400" dirty="0">
                <a:solidFill>
                  <a:srgbClr val="FF0000"/>
                </a:solidFill>
              </a:rPr>
              <a:t>60</a:t>
            </a:r>
            <a:r>
              <a:rPr lang="ko-KR" altLang="en-US" sz="1400" dirty="0">
                <a:solidFill>
                  <a:srgbClr val="FF0000"/>
                </a:solidFill>
              </a:rPr>
              <a:t>조제</a:t>
            </a:r>
            <a:r>
              <a:rPr lang="en-US" altLang="ko-KR" sz="1400" dirty="0">
                <a:solidFill>
                  <a:srgbClr val="FF0000"/>
                </a:solidFill>
              </a:rPr>
              <a:t>1</a:t>
            </a:r>
            <a:r>
              <a:rPr lang="ko-KR" altLang="en-US" sz="1400" dirty="0">
                <a:solidFill>
                  <a:srgbClr val="FF0000"/>
                </a:solidFill>
              </a:rPr>
              <a:t>항</a:t>
            </a:r>
          </a:p>
        </p:txBody>
      </p:sp>
      <p:sp>
        <p:nvSpPr>
          <p:cNvPr id="6" name="TextBox 5">
            <a:extLst>
              <a:ext uri="{FF2B5EF4-FFF2-40B4-BE49-F238E27FC236}">
                <a16:creationId xmlns:a16="http://schemas.microsoft.com/office/drawing/2014/main" id="{4C07AF61-A5EA-DB48-8AB4-06C81572043E}"/>
              </a:ext>
            </a:extLst>
          </p:cNvPr>
          <p:cNvSpPr txBox="1"/>
          <p:nvPr/>
        </p:nvSpPr>
        <p:spPr>
          <a:xfrm>
            <a:off x="2717799" y="4017950"/>
            <a:ext cx="1130438" cy="307777"/>
          </a:xfrm>
          <a:prstGeom prst="rect">
            <a:avLst/>
          </a:prstGeom>
          <a:noFill/>
        </p:spPr>
        <p:txBody>
          <a:bodyPr wrap="none" rtlCol="0">
            <a:spAutoFit/>
          </a:bodyPr>
          <a:lstStyle/>
          <a:p>
            <a:r>
              <a:rPr lang="ko-KR" altLang="en-US" sz="1400" dirty="0">
                <a:solidFill>
                  <a:srgbClr val="FF0000"/>
                </a:solidFill>
              </a:rPr>
              <a:t>제</a:t>
            </a:r>
            <a:r>
              <a:rPr lang="en-US" altLang="ko-KR" sz="1400" dirty="0">
                <a:solidFill>
                  <a:srgbClr val="FF0000"/>
                </a:solidFill>
              </a:rPr>
              <a:t>60</a:t>
            </a:r>
            <a:r>
              <a:rPr lang="ko-KR" altLang="en-US" sz="1400" dirty="0">
                <a:solidFill>
                  <a:srgbClr val="FF0000"/>
                </a:solidFill>
              </a:rPr>
              <a:t>조제</a:t>
            </a:r>
            <a:r>
              <a:rPr lang="en-US" altLang="ko-KR" sz="1400" dirty="0">
                <a:solidFill>
                  <a:srgbClr val="FF0000"/>
                </a:solidFill>
              </a:rPr>
              <a:t>2</a:t>
            </a:r>
            <a:r>
              <a:rPr lang="ko-KR" altLang="en-US" sz="1400" dirty="0">
                <a:solidFill>
                  <a:srgbClr val="FF0000"/>
                </a:solidFill>
              </a:rPr>
              <a:t>항</a:t>
            </a:r>
          </a:p>
        </p:txBody>
      </p:sp>
      <p:sp>
        <p:nvSpPr>
          <p:cNvPr id="7" name="TextBox 6">
            <a:extLst>
              <a:ext uri="{FF2B5EF4-FFF2-40B4-BE49-F238E27FC236}">
                <a16:creationId xmlns:a16="http://schemas.microsoft.com/office/drawing/2014/main" id="{9C00FA0C-A2F3-C255-6F89-2136569906BE}"/>
              </a:ext>
            </a:extLst>
          </p:cNvPr>
          <p:cNvSpPr txBox="1"/>
          <p:nvPr/>
        </p:nvSpPr>
        <p:spPr>
          <a:xfrm>
            <a:off x="7986140" y="4017950"/>
            <a:ext cx="1130438" cy="307777"/>
          </a:xfrm>
          <a:prstGeom prst="rect">
            <a:avLst/>
          </a:prstGeom>
          <a:noFill/>
        </p:spPr>
        <p:txBody>
          <a:bodyPr wrap="none" rtlCol="0">
            <a:spAutoFit/>
          </a:bodyPr>
          <a:lstStyle/>
          <a:p>
            <a:r>
              <a:rPr lang="ko-KR" altLang="en-US" sz="1400" dirty="0">
                <a:solidFill>
                  <a:srgbClr val="FF0000"/>
                </a:solidFill>
              </a:rPr>
              <a:t>제</a:t>
            </a:r>
            <a:r>
              <a:rPr lang="en-US" altLang="ko-KR" sz="1400" dirty="0">
                <a:solidFill>
                  <a:srgbClr val="FF0000"/>
                </a:solidFill>
              </a:rPr>
              <a:t>60</a:t>
            </a:r>
            <a:r>
              <a:rPr lang="ko-KR" altLang="en-US" sz="1400" dirty="0">
                <a:solidFill>
                  <a:srgbClr val="FF0000"/>
                </a:solidFill>
              </a:rPr>
              <a:t>조제</a:t>
            </a:r>
            <a:r>
              <a:rPr lang="en-US" altLang="ko-KR" sz="1400" dirty="0">
                <a:solidFill>
                  <a:srgbClr val="FF0000"/>
                </a:solidFill>
              </a:rPr>
              <a:t>2</a:t>
            </a:r>
            <a:r>
              <a:rPr lang="ko-KR" altLang="en-US" sz="1400" dirty="0">
                <a:solidFill>
                  <a:srgbClr val="FF0000"/>
                </a:solidFill>
              </a:rPr>
              <a:t>항</a:t>
            </a:r>
          </a:p>
        </p:txBody>
      </p:sp>
      <p:sp>
        <p:nvSpPr>
          <p:cNvPr id="8" name="TextBox 7">
            <a:extLst>
              <a:ext uri="{FF2B5EF4-FFF2-40B4-BE49-F238E27FC236}">
                <a16:creationId xmlns:a16="http://schemas.microsoft.com/office/drawing/2014/main" id="{1D4CF62C-1CCD-AC82-E223-1E9B5CE48C58}"/>
              </a:ext>
            </a:extLst>
          </p:cNvPr>
          <p:cNvSpPr txBox="1"/>
          <p:nvPr/>
        </p:nvSpPr>
        <p:spPr>
          <a:xfrm>
            <a:off x="10428156" y="4493021"/>
            <a:ext cx="1130438" cy="307777"/>
          </a:xfrm>
          <a:prstGeom prst="rect">
            <a:avLst/>
          </a:prstGeom>
          <a:noFill/>
        </p:spPr>
        <p:txBody>
          <a:bodyPr wrap="none" rtlCol="0">
            <a:spAutoFit/>
          </a:bodyPr>
          <a:lstStyle/>
          <a:p>
            <a:r>
              <a:rPr lang="ko-KR" altLang="en-US" sz="1400" dirty="0">
                <a:solidFill>
                  <a:srgbClr val="FF0000"/>
                </a:solidFill>
              </a:rPr>
              <a:t>제</a:t>
            </a:r>
            <a:r>
              <a:rPr lang="en-US" altLang="ko-KR" sz="1400" dirty="0">
                <a:solidFill>
                  <a:srgbClr val="FF0000"/>
                </a:solidFill>
              </a:rPr>
              <a:t>60</a:t>
            </a:r>
            <a:r>
              <a:rPr lang="ko-KR" altLang="en-US" sz="1400" dirty="0">
                <a:solidFill>
                  <a:srgbClr val="FF0000"/>
                </a:solidFill>
              </a:rPr>
              <a:t>조제</a:t>
            </a:r>
            <a:r>
              <a:rPr lang="en-US" altLang="ko-KR" sz="1400" dirty="0">
                <a:solidFill>
                  <a:srgbClr val="FF0000"/>
                </a:solidFill>
              </a:rPr>
              <a:t>3</a:t>
            </a:r>
            <a:r>
              <a:rPr lang="ko-KR" altLang="en-US" sz="1400" dirty="0">
                <a:solidFill>
                  <a:srgbClr val="FF0000"/>
                </a:solidFill>
              </a:rPr>
              <a:t>항</a:t>
            </a:r>
          </a:p>
        </p:txBody>
      </p:sp>
    </p:spTree>
    <p:extLst>
      <p:ext uri="{BB962C8B-B14F-4D97-AF65-F5344CB8AC3E}">
        <p14:creationId xmlns:p14="http://schemas.microsoft.com/office/powerpoint/2010/main" val="4107170101"/>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양쪽 모서리가 둥근 사각형 60"/>
          <p:cNvSpPr/>
          <p:nvPr/>
        </p:nvSpPr>
        <p:spPr>
          <a:xfrm>
            <a:off x="1619250" y="3149301"/>
            <a:ext cx="5019675" cy="728813"/>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양쪽 모서리가 둥근 사각형 5"/>
          <p:cNvSpPr/>
          <p:nvPr/>
        </p:nvSpPr>
        <p:spPr>
          <a:xfrm>
            <a:off x="4997720" y="3883142"/>
            <a:ext cx="3450956" cy="519042"/>
          </a:xfrm>
          <a:prstGeom prst="round2SameRect">
            <a:avLst>
              <a:gd name="adj1" fmla="val 0"/>
              <a:gd name="adj2" fmla="val 50000"/>
            </a:avLst>
          </a:prstGeom>
          <a:pattFill prst="smConfetti">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59</a:t>
            </a:r>
            <a:r>
              <a:rPr lang="ko-KR" altLang="en-US" dirty="0"/>
              <a:t>조</a:t>
            </a:r>
            <a:r>
              <a:rPr lang="en-US" altLang="ko-KR" dirty="0"/>
              <a:t>, </a:t>
            </a:r>
            <a:r>
              <a:rPr lang="ko-KR" altLang="en-US" dirty="0"/>
              <a:t>제</a:t>
            </a:r>
            <a:r>
              <a:rPr lang="en-US" altLang="ko-KR" dirty="0"/>
              <a:t>60</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sz="2400" dirty="0"/>
              <a:t>확대된 선출원과 출원공개제도를 활용한 심사청구제도 운영</a:t>
            </a:r>
          </a:p>
        </p:txBody>
      </p:sp>
      <p:cxnSp>
        <p:nvCxnSpPr>
          <p:cNvPr id="27" name="직선 연결선 26"/>
          <p:cNvCxnSpPr/>
          <p:nvPr/>
        </p:nvCxnSpPr>
        <p:spPr>
          <a:xfrm>
            <a:off x="752475" y="3887200"/>
            <a:ext cx="107156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직사각형 27"/>
          <p:cNvSpPr/>
          <p:nvPr/>
        </p:nvSpPr>
        <p:spPr>
          <a:xfrm>
            <a:off x="2784962" y="3758044"/>
            <a:ext cx="1149061" cy="250195"/>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乙 출원</a:t>
            </a:r>
            <a:r>
              <a:rPr lang="en-US" altLang="ko-KR" sz="1200" dirty="0">
                <a:solidFill>
                  <a:schemeClr val="tx1"/>
                </a:solidFill>
              </a:rPr>
              <a:t>(Y)</a:t>
            </a:r>
            <a:endParaRPr lang="ko-KR" altLang="en-US" sz="1200" dirty="0">
              <a:solidFill>
                <a:schemeClr val="tx1"/>
              </a:solidFill>
            </a:endParaRPr>
          </a:p>
        </p:txBody>
      </p:sp>
      <p:sp>
        <p:nvSpPr>
          <p:cNvPr id="29" name="직사각형 28"/>
          <p:cNvSpPr/>
          <p:nvPr/>
        </p:nvSpPr>
        <p:spPr>
          <a:xfrm>
            <a:off x="2784963" y="3320973"/>
            <a:ext cx="1149059"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31" name="직사각형 30"/>
          <p:cNvSpPr/>
          <p:nvPr/>
        </p:nvSpPr>
        <p:spPr>
          <a:xfrm>
            <a:off x="2784963" y="3515891"/>
            <a:ext cx="1149059"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32" name="직사각형 31"/>
          <p:cNvSpPr/>
          <p:nvPr/>
        </p:nvSpPr>
        <p:spPr>
          <a:xfrm>
            <a:off x="6109115" y="3758044"/>
            <a:ext cx="1149061"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甲 공개</a:t>
            </a:r>
            <a:r>
              <a:rPr lang="en-US" altLang="ko-KR" sz="1200" dirty="0">
                <a:solidFill>
                  <a:schemeClr val="tx1"/>
                </a:solidFill>
              </a:rPr>
              <a:t>(X)</a:t>
            </a:r>
            <a:endParaRPr lang="ko-KR" altLang="en-US" sz="1200" dirty="0">
              <a:solidFill>
                <a:schemeClr val="tx1"/>
              </a:solidFill>
            </a:endParaRPr>
          </a:p>
        </p:txBody>
      </p:sp>
      <p:sp>
        <p:nvSpPr>
          <p:cNvPr id="35" name="직사각형 34"/>
          <p:cNvSpPr/>
          <p:nvPr/>
        </p:nvSpPr>
        <p:spPr>
          <a:xfrm>
            <a:off x="7813965" y="3758044"/>
            <a:ext cx="1149061" cy="250195"/>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乙 </a:t>
            </a:r>
            <a:r>
              <a:rPr lang="ko-KR" altLang="en-US" sz="1200" dirty="0" err="1">
                <a:solidFill>
                  <a:schemeClr val="tx1"/>
                </a:solidFill>
              </a:rPr>
              <a:t>실체심사</a:t>
            </a:r>
            <a:r>
              <a:rPr lang="en-US" altLang="ko-KR" sz="1200" dirty="0">
                <a:solidFill>
                  <a:schemeClr val="tx1"/>
                </a:solidFill>
              </a:rPr>
              <a:t>(Y)</a:t>
            </a:r>
            <a:endParaRPr lang="ko-KR" altLang="en-US" sz="1200" dirty="0">
              <a:solidFill>
                <a:schemeClr val="tx1"/>
              </a:solidFill>
            </a:endParaRPr>
          </a:p>
        </p:txBody>
      </p:sp>
      <p:sp>
        <p:nvSpPr>
          <p:cNvPr id="42" name="직사각형 41"/>
          <p:cNvSpPr/>
          <p:nvPr/>
        </p:nvSpPr>
        <p:spPr>
          <a:xfrm>
            <a:off x="4442365" y="3758044"/>
            <a:ext cx="1149061" cy="250195"/>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乙 심사청구</a:t>
            </a:r>
            <a:r>
              <a:rPr lang="en-US" altLang="ko-KR" sz="1200" dirty="0">
                <a:solidFill>
                  <a:schemeClr val="tx1"/>
                </a:solidFill>
              </a:rPr>
              <a:t>(Y)</a:t>
            </a:r>
            <a:endParaRPr lang="ko-KR" altLang="en-US" sz="1200" dirty="0">
              <a:solidFill>
                <a:schemeClr val="tx1"/>
              </a:solidFill>
            </a:endParaRPr>
          </a:p>
        </p:txBody>
      </p:sp>
      <p:sp>
        <p:nvSpPr>
          <p:cNvPr id="49" name="직사각형 48"/>
          <p:cNvSpPr/>
          <p:nvPr/>
        </p:nvSpPr>
        <p:spPr>
          <a:xfrm>
            <a:off x="1042012" y="3758044"/>
            <a:ext cx="1149061"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甲 출원</a:t>
            </a:r>
            <a:r>
              <a:rPr lang="en-US" altLang="ko-KR" sz="1200" dirty="0">
                <a:solidFill>
                  <a:schemeClr val="tx1"/>
                </a:solidFill>
              </a:rPr>
              <a:t>(X)</a:t>
            </a:r>
            <a:endParaRPr lang="ko-KR" altLang="en-US" sz="1200" dirty="0">
              <a:solidFill>
                <a:schemeClr val="tx1"/>
              </a:solidFill>
            </a:endParaRPr>
          </a:p>
        </p:txBody>
      </p:sp>
      <p:sp>
        <p:nvSpPr>
          <p:cNvPr id="50" name="직사각형 49"/>
          <p:cNvSpPr/>
          <p:nvPr/>
        </p:nvSpPr>
        <p:spPr>
          <a:xfrm>
            <a:off x="1042013" y="3320973"/>
            <a:ext cx="1149059"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a:t>
            </a:r>
            <a:endParaRPr lang="ko-KR" altLang="en-US" sz="1200" dirty="0">
              <a:solidFill>
                <a:schemeClr val="tx1"/>
              </a:solidFill>
            </a:endParaRPr>
          </a:p>
        </p:txBody>
      </p:sp>
      <p:sp>
        <p:nvSpPr>
          <p:cNvPr id="52" name="직사각형 51"/>
          <p:cNvSpPr/>
          <p:nvPr/>
        </p:nvSpPr>
        <p:spPr>
          <a:xfrm>
            <a:off x="1042013" y="3515891"/>
            <a:ext cx="1149059"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a:t>
            </a:r>
            <a:endParaRPr lang="ko-KR" altLang="en-US" sz="1200" dirty="0">
              <a:solidFill>
                <a:schemeClr val="tx1"/>
              </a:solidFill>
            </a:endParaRPr>
          </a:p>
        </p:txBody>
      </p:sp>
      <p:sp>
        <p:nvSpPr>
          <p:cNvPr id="55" name="직사각형 54"/>
          <p:cNvSpPr/>
          <p:nvPr/>
        </p:nvSpPr>
        <p:spPr>
          <a:xfrm>
            <a:off x="9518815" y="3758044"/>
            <a:ext cx="1149061"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甲 보정</a:t>
            </a:r>
            <a:r>
              <a:rPr lang="en-US" altLang="ko-KR" sz="1200" dirty="0">
                <a:solidFill>
                  <a:schemeClr val="tx1"/>
                </a:solidFill>
              </a:rPr>
              <a:t>(X)</a:t>
            </a:r>
            <a:endParaRPr lang="ko-KR" altLang="en-US" sz="1200" dirty="0">
              <a:solidFill>
                <a:schemeClr val="tx1"/>
              </a:solidFill>
            </a:endParaRPr>
          </a:p>
        </p:txBody>
      </p:sp>
      <p:sp>
        <p:nvSpPr>
          <p:cNvPr id="56" name="직사각형 55"/>
          <p:cNvSpPr/>
          <p:nvPr/>
        </p:nvSpPr>
        <p:spPr>
          <a:xfrm>
            <a:off x="9518816" y="3320973"/>
            <a:ext cx="1149059"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a:t>
            </a:r>
            <a:endParaRPr lang="ko-KR" altLang="en-US" sz="1200" dirty="0">
              <a:solidFill>
                <a:schemeClr val="tx1"/>
              </a:solidFill>
            </a:endParaRPr>
          </a:p>
        </p:txBody>
      </p:sp>
      <p:sp>
        <p:nvSpPr>
          <p:cNvPr id="57" name="직사각형 56"/>
          <p:cNvSpPr/>
          <p:nvPr/>
        </p:nvSpPr>
        <p:spPr>
          <a:xfrm>
            <a:off x="9518816" y="3515891"/>
            <a:ext cx="1149059"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a:t>
            </a:r>
            <a:endParaRPr lang="ko-KR" altLang="en-US" sz="1200" dirty="0">
              <a:solidFill>
                <a:schemeClr val="tx1"/>
              </a:solidFill>
            </a:endParaRPr>
          </a:p>
        </p:txBody>
      </p:sp>
      <p:sp>
        <p:nvSpPr>
          <p:cNvPr id="58" name="직사각형 57"/>
          <p:cNvSpPr/>
          <p:nvPr/>
        </p:nvSpPr>
        <p:spPr>
          <a:xfrm>
            <a:off x="6156939" y="4459334"/>
            <a:ext cx="1149059" cy="1949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심사청구순서</a:t>
            </a:r>
          </a:p>
        </p:txBody>
      </p:sp>
      <p:sp>
        <p:nvSpPr>
          <p:cNvPr id="63" name="직사각형 62"/>
          <p:cNvSpPr/>
          <p:nvPr/>
        </p:nvSpPr>
        <p:spPr>
          <a:xfrm>
            <a:off x="3554557" y="2907148"/>
            <a:ext cx="1149059" cy="1949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1</a:t>
            </a:r>
            <a:r>
              <a:rPr lang="ko-KR" altLang="en-US" sz="1200" dirty="0">
                <a:solidFill>
                  <a:schemeClr val="tx1"/>
                </a:solidFill>
              </a:rPr>
              <a:t>년 </a:t>
            </a:r>
            <a:r>
              <a:rPr lang="en-US" altLang="ko-KR" sz="1200" dirty="0">
                <a:solidFill>
                  <a:schemeClr val="tx1"/>
                </a:solidFill>
              </a:rPr>
              <a:t>6</a:t>
            </a:r>
            <a:r>
              <a:rPr lang="ko-KR" altLang="en-US" sz="1200" dirty="0">
                <a:solidFill>
                  <a:schemeClr val="tx1"/>
                </a:solidFill>
              </a:rPr>
              <a:t>개월</a:t>
            </a:r>
          </a:p>
        </p:txBody>
      </p:sp>
      <p:cxnSp>
        <p:nvCxnSpPr>
          <p:cNvPr id="64" name="직선 연결선 63"/>
          <p:cNvCxnSpPr/>
          <p:nvPr/>
        </p:nvCxnSpPr>
        <p:spPr>
          <a:xfrm>
            <a:off x="0" y="279989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77875" y="976902"/>
            <a:ext cx="11936323" cy="1815882"/>
          </a:xfrm>
          <a:prstGeom prst="rect">
            <a:avLst/>
          </a:prstGeom>
          <a:noFill/>
        </p:spPr>
        <p:txBody>
          <a:bodyPr wrap="square" rtlCol="0">
            <a:spAutoFit/>
          </a:bodyPr>
          <a:lstStyle/>
          <a:p>
            <a:pPr fontAlgn="base"/>
            <a:r>
              <a:rPr lang="ko-KR" altLang="en-US" sz="1400" dirty="0">
                <a:solidFill>
                  <a:schemeClr val="tx2"/>
                </a:solidFill>
              </a:rPr>
              <a:t>甲 출원</a:t>
            </a:r>
            <a:r>
              <a:rPr lang="en-US" altLang="ko-KR" sz="1400" dirty="0">
                <a:solidFill>
                  <a:schemeClr val="tx2"/>
                </a:solidFill>
              </a:rPr>
              <a:t>(X)</a:t>
            </a:r>
            <a:r>
              <a:rPr lang="ko-KR" altLang="en-US" sz="1400" dirty="0">
                <a:solidFill>
                  <a:schemeClr val="tx2"/>
                </a:solidFill>
              </a:rPr>
              <a:t>의 보정유무에 따라 乙 출원</a:t>
            </a:r>
            <a:r>
              <a:rPr lang="en-US" altLang="ko-KR" sz="1400" dirty="0">
                <a:solidFill>
                  <a:schemeClr val="tx2"/>
                </a:solidFill>
              </a:rPr>
              <a:t>(Y)</a:t>
            </a:r>
            <a:r>
              <a:rPr lang="ko-KR" altLang="en-US" sz="1400" dirty="0">
                <a:solidFill>
                  <a:schemeClr val="tx2"/>
                </a:solidFill>
              </a:rPr>
              <a:t>이 선출원주의에 위반되는지 상관없이 甲 출원</a:t>
            </a:r>
            <a:r>
              <a:rPr lang="en-US" altLang="ko-KR" sz="1400" dirty="0">
                <a:solidFill>
                  <a:schemeClr val="tx2"/>
                </a:solidFill>
              </a:rPr>
              <a:t>(X)</a:t>
            </a:r>
            <a:r>
              <a:rPr lang="ko-KR" altLang="en-US" sz="1400" dirty="0">
                <a:solidFill>
                  <a:schemeClr val="tx2"/>
                </a:solidFill>
              </a:rPr>
              <a:t>의 공개를 요건으로 甲 출원</a:t>
            </a:r>
            <a:r>
              <a:rPr lang="en-US" altLang="ko-KR" sz="1400" dirty="0">
                <a:solidFill>
                  <a:schemeClr val="tx2"/>
                </a:solidFill>
              </a:rPr>
              <a:t>(X)</a:t>
            </a:r>
            <a:r>
              <a:rPr lang="ko-KR" altLang="en-US" sz="1400" dirty="0">
                <a:solidFill>
                  <a:schemeClr val="tx2"/>
                </a:solidFill>
              </a:rPr>
              <a:t>의 출원일의 다음날부터 출원공개 전 사이에서 선출원의 범위를 청구범위</a:t>
            </a:r>
            <a:r>
              <a:rPr lang="en-US" altLang="ko-KR" sz="1400" dirty="0">
                <a:solidFill>
                  <a:schemeClr val="tx2"/>
                </a:solidFill>
              </a:rPr>
              <a:t>(A)</a:t>
            </a:r>
            <a:r>
              <a:rPr lang="ko-KR" altLang="en-US" sz="1400" dirty="0">
                <a:solidFill>
                  <a:schemeClr val="tx2"/>
                </a:solidFill>
              </a:rPr>
              <a:t>로부터 최초 명세서 또는 도면</a:t>
            </a:r>
            <a:r>
              <a:rPr lang="en-US" altLang="ko-KR" sz="1400" dirty="0">
                <a:solidFill>
                  <a:schemeClr val="tx2"/>
                </a:solidFill>
              </a:rPr>
              <a:t>(A, B)</a:t>
            </a:r>
            <a:r>
              <a:rPr lang="ko-KR" altLang="en-US" sz="1400" dirty="0">
                <a:solidFill>
                  <a:schemeClr val="tx2"/>
                </a:solidFill>
              </a:rPr>
              <a:t>의 범위로 확대하여 먼저 심사청구한 </a:t>
            </a:r>
            <a:r>
              <a:rPr lang="ko-KR" altLang="en-US" sz="1400" dirty="0" err="1">
                <a:solidFill>
                  <a:schemeClr val="tx2"/>
                </a:solidFill>
              </a:rPr>
              <a:t>후출원인</a:t>
            </a:r>
            <a:r>
              <a:rPr lang="ko-KR" altLang="en-US" sz="1400" dirty="0">
                <a:solidFill>
                  <a:schemeClr val="tx2"/>
                </a:solidFill>
              </a:rPr>
              <a:t> 乙 출원</a:t>
            </a:r>
            <a:r>
              <a:rPr lang="en-US" altLang="ko-KR" sz="1400" dirty="0">
                <a:solidFill>
                  <a:schemeClr val="tx2"/>
                </a:solidFill>
              </a:rPr>
              <a:t>(Y)</a:t>
            </a:r>
            <a:r>
              <a:rPr lang="ko-KR" altLang="en-US" sz="1400" dirty="0">
                <a:solidFill>
                  <a:schemeClr val="tx2"/>
                </a:solidFill>
              </a:rPr>
              <a:t>을 확대된 </a:t>
            </a:r>
            <a:r>
              <a:rPr lang="ko-KR" altLang="en-US" sz="1400" dirty="0" err="1">
                <a:solidFill>
                  <a:schemeClr val="tx2"/>
                </a:solidFill>
              </a:rPr>
              <a:t>선출원</a:t>
            </a:r>
            <a:r>
              <a:rPr lang="ko-KR" altLang="en-US" sz="1400" dirty="0">
                <a:solidFill>
                  <a:schemeClr val="tx2"/>
                </a:solidFill>
              </a:rPr>
              <a:t> 위반으로 </a:t>
            </a:r>
            <a:r>
              <a:rPr lang="ko-KR" altLang="en-US" sz="1400" dirty="0" err="1">
                <a:solidFill>
                  <a:schemeClr val="tx2"/>
                </a:solidFill>
              </a:rPr>
              <a:t>거절시킴으로써</a:t>
            </a:r>
            <a:r>
              <a:rPr lang="ko-KR" altLang="en-US" sz="1400" dirty="0">
                <a:solidFill>
                  <a:schemeClr val="tx2"/>
                </a:solidFill>
              </a:rPr>
              <a:t> 심사청구순서에 따라 실체심사를 진행한다는 </a:t>
            </a:r>
            <a:r>
              <a:rPr lang="ko-KR" altLang="en-US" sz="1400" dirty="0">
                <a:highlight>
                  <a:srgbClr val="FFFF00"/>
                </a:highlight>
              </a:rPr>
              <a:t>심사청구제도를 효율적으로 운용</a:t>
            </a:r>
            <a:r>
              <a:rPr lang="ko-KR" altLang="en-US" sz="1400" dirty="0">
                <a:solidFill>
                  <a:schemeClr val="tx2"/>
                </a:solidFill>
              </a:rPr>
              <a:t>할 수 있다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출원일로부터 </a:t>
            </a:r>
            <a:r>
              <a:rPr lang="en-US" altLang="ko-KR" sz="1400" dirty="0">
                <a:solidFill>
                  <a:schemeClr val="tx2"/>
                </a:solidFill>
              </a:rPr>
              <a:t>1</a:t>
            </a:r>
            <a:r>
              <a:rPr lang="ko-KR" altLang="en-US" sz="1400" dirty="0">
                <a:solidFill>
                  <a:schemeClr val="tx2"/>
                </a:solidFill>
              </a:rPr>
              <a:t>년이 되기 전 특허결정을 하는 경우 심사관은 특허결정을 하되</a:t>
            </a:r>
            <a:r>
              <a:rPr lang="en-US" altLang="ko-KR" sz="1400" dirty="0">
                <a:solidFill>
                  <a:schemeClr val="tx2"/>
                </a:solidFill>
              </a:rPr>
              <a:t>, </a:t>
            </a:r>
            <a:r>
              <a:rPr lang="ko-KR" altLang="en-US" sz="1400" dirty="0" err="1">
                <a:solidFill>
                  <a:schemeClr val="tx2"/>
                </a:solidFill>
              </a:rPr>
              <a:t>조약우선권주장출원의</a:t>
            </a:r>
            <a:r>
              <a:rPr lang="ko-KR" altLang="en-US" sz="1400" dirty="0">
                <a:solidFill>
                  <a:schemeClr val="tx2"/>
                </a:solidFill>
              </a:rPr>
              <a:t> 우선기간</a:t>
            </a:r>
            <a:r>
              <a:rPr lang="en-US" altLang="ko-KR" sz="1400" dirty="0">
                <a:solidFill>
                  <a:schemeClr val="tx2"/>
                </a:solidFill>
              </a:rPr>
              <a:t>(1</a:t>
            </a:r>
            <a:r>
              <a:rPr lang="ko-KR" altLang="en-US" sz="1400" dirty="0">
                <a:solidFill>
                  <a:schemeClr val="tx2"/>
                </a:solidFill>
              </a:rPr>
              <a:t>년</a:t>
            </a:r>
            <a:r>
              <a:rPr lang="en-US" altLang="ko-KR" sz="1400" dirty="0">
                <a:solidFill>
                  <a:schemeClr val="tx2"/>
                </a:solidFill>
              </a:rPr>
              <a:t>)</a:t>
            </a:r>
            <a:r>
              <a:rPr lang="ko-KR" altLang="en-US" sz="1400" dirty="0">
                <a:solidFill>
                  <a:schemeClr val="tx2"/>
                </a:solidFill>
              </a:rPr>
              <a:t>을 고려하여 선출원주의 위반 여부를 판단할 수 없다는 단서를 붙이고 있다</a:t>
            </a:r>
            <a:r>
              <a:rPr lang="en-US" altLang="ko-KR" sz="1400" dirty="0">
                <a:solidFill>
                  <a:schemeClr val="tx2"/>
                </a:solidFill>
              </a:rPr>
              <a:t>. </a:t>
            </a:r>
            <a:r>
              <a:rPr lang="ko-KR" altLang="en-US" sz="1400" dirty="0">
                <a:solidFill>
                  <a:schemeClr val="tx2"/>
                </a:solidFill>
              </a:rPr>
              <a:t>또한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6</a:t>
            </a:r>
            <a:r>
              <a:rPr lang="ko-KR" altLang="en-US" sz="1400" dirty="0">
                <a:solidFill>
                  <a:schemeClr val="tx2"/>
                </a:solidFill>
              </a:rPr>
              <a:t>개월이 되기 전 특허결정을 하는 경우에는 심사관은 선출원의 공개 여부가 불명확하기 때문에 확대된 </a:t>
            </a:r>
            <a:r>
              <a:rPr lang="ko-KR" altLang="en-US" sz="1400" dirty="0" err="1">
                <a:solidFill>
                  <a:schemeClr val="tx2"/>
                </a:solidFill>
              </a:rPr>
              <a:t>선출원</a:t>
            </a:r>
            <a:r>
              <a:rPr lang="ko-KR" altLang="en-US" sz="1400" dirty="0">
                <a:solidFill>
                  <a:schemeClr val="tx2"/>
                </a:solidFill>
              </a:rPr>
              <a:t> 위반을 판단할 수 없다는 단서를 붙이고 있다</a:t>
            </a:r>
            <a:r>
              <a:rPr lang="en-US" altLang="ko-KR" sz="1400" dirty="0">
                <a:solidFill>
                  <a:schemeClr val="tx2"/>
                </a:solidFill>
              </a:rPr>
              <a:t>. </a:t>
            </a:r>
            <a:r>
              <a:rPr lang="ko-KR" altLang="en-US" sz="1400" dirty="0">
                <a:solidFill>
                  <a:schemeClr val="tx2"/>
                </a:solidFill>
              </a:rPr>
              <a:t>즉</a:t>
            </a:r>
            <a:r>
              <a:rPr lang="en-US" altLang="ko-KR" sz="1400" dirty="0">
                <a:solidFill>
                  <a:schemeClr val="tx2"/>
                </a:solidFill>
              </a:rPr>
              <a:t>, </a:t>
            </a:r>
            <a:r>
              <a:rPr lang="en-US" altLang="ko-KR" sz="1400" dirty="0">
                <a:highlight>
                  <a:srgbClr val="FFFF00"/>
                </a:highlight>
              </a:rPr>
              <a:t>ⅰ) </a:t>
            </a:r>
            <a:r>
              <a:rPr lang="ko-KR" altLang="en-US" sz="1400" dirty="0">
                <a:highlight>
                  <a:srgbClr val="FFFF00"/>
                </a:highlight>
              </a:rPr>
              <a:t>출원일로부터 </a:t>
            </a:r>
            <a:r>
              <a:rPr lang="en-US" altLang="ko-KR" sz="1400" dirty="0">
                <a:highlight>
                  <a:srgbClr val="FFFF00"/>
                </a:highlight>
              </a:rPr>
              <a:t>1</a:t>
            </a:r>
            <a:r>
              <a:rPr lang="ko-KR" altLang="en-US" sz="1400" dirty="0">
                <a:highlight>
                  <a:srgbClr val="FFFF00"/>
                </a:highlight>
              </a:rPr>
              <a:t>년이 지나기 전 특허결정을 할 때는 선출원주의</a:t>
            </a:r>
            <a:r>
              <a:rPr lang="en-US" altLang="ko-KR" sz="1400" dirty="0">
                <a:highlight>
                  <a:srgbClr val="FFFF00"/>
                </a:highlight>
              </a:rPr>
              <a:t>, </a:t>
            </a:r>
            <a:r>
              <a:rPr lang="ko-KR" altLang="en-US" sz="1400" dirty="0">
                <a:highlight>
                  <a:srgbClr val="FFFF00"/>
                </a:highlight>
              </a:rPr>
              <a:t>확대된 </a:t>
            </a:r>
            <a:r>
              <a:rPr lang="ko-KR" altLang="en-US" sz="1400" dirty="0" err="1">
                <a:highlight>
                  <a:srgbClr val="FFFF00"/>
                </a:highlight>
              </a:rPr>
              <a:t>선출원</a:t>
            </a:r>
            <a:r>
              <a:rPr lang="ko-KR" altLang="en-US" sz="1400" dirty="0">
                <a:highlight>
                  <a:srgbClr val="FFFF00"/>
                </a:highlight>
              </a:rPr>
              <a:t> 위반 여부를 판단할 수 없다는</a:t>
            </a:r>
            <a:r>
              <a:rPr lang="en-US" altLang="ko-KR" sz="1400" dirty="0">
                <a:highlight>
                  <a:srgbClr val="FFFF00"/>
                </a:highlight>
              </a:rPr>
              <a:t>, ⅱ) </a:t>
            </a:r>
            <a:r>
              <a:rPr lang="ko-KR" altLang="en-US" sz="1400" dirty="0">
                <a:highlight>
                  <a:srgbClr val="FFFF00"/>
                </a:highlight>
              </a:rPr>
              <a:t>출원일로부터 </a:t>
            </a:r>
            <a:r>
              <a:rPr lang="en-US" altLang="ko-KR" sz="1400" dirty="0">
                <a:highlight>
                  <a:srgbClr val="FFFF00"/>
                </a:highlight>
              </a:rPr>
              <a:t>1</a:t>
            </a:r>
            <a:r>
              <a:rPr lang="ko-KR" altLang="en-US" sz="1400" dirty="0">
                <a:highlight>
                  <a:srgbClr val="FFFF00"/>
                </a:highlight>
              </a:rPr>
              <a:t>년이 지난 후 </a:t>
            </a:r>
            <a:r>
              <a:rPr lang="en-US" altLang="ko-KR" sz="1400" dirty="0">
                <a:highlight>
                  <a:srgbClr val="FFFF00"/>
                </a:highlight>
              </a:rPr>
              <a:t>1</a:t>
            </a:r>
            <a:r>
              <a:rPr lang="ko-KR" altLang="en-US" sz="1400" dirty="0">
                <a:highlight>
                  <a:srgbClr val="FFFF00"/>
                </a:highlight>
              </a:rPr>
              <a:t>년 </a:t>
            </a:r>
            <a:r>
              <a:rPr lang="en-US" altLang="ko-KR" sz="1400" dirty="0">
                <a:highlight>
                  <a:srgbClr val="FFFF00"/>
                </a:highlight>
              </a:rPr>
              <a:t>6</a:t>
            </a:r>
            <a:r>
              <a:rPr lang="ko-KR" altLang="en-US" sz="1400" dirty="0">
                <a:highlight>
                  <a:srgbClr val="FFFF00"/>
                </a:highlight>
              </a:rPr>
              <a:t>개월이 지나기 전 특허결정을 할 때는 확대된 </a:t>
            </a:r>
            <a:r>
              <a:rPr lang="ko-KR" altLang="en-US" sz="1400" dirty="0" err="1">
                <a:highlight>
                  <a:srgbClr val="FFFF00"/>
                </a:highlight>
              </a:rPr>
              <a:t>선출원</a:t>
            </a:r>
            <a:r>
              <a:rPr lang="ko-KR" altLang="en-US" sz="1400" dirty="0">
                <a:highlight>
                  <a:srgbClr val="FFFF00"/>
                </a:highlight>
              </a:rPr>
              <a:t> 위반 여부를 판단할 수 없다는 단서</a:t>
            </a:r>
            <a:r>
              <a:rPr lang="ko-KR" altLang="en-US" sz="1400" dirty="0">
                <a:solidFill>
                  <a:schemeClr val="tx2"/>
                </a:solidFill>
              </a:rPr>
              <a:t>를 붙이고 있다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심사관이 </a:t>
            </a:r>
            <a:r>
              <a:rPr lang="ko-KR" altLang="en-US" sz="1400" dirty="0" err="1">
                <a:solidFill>
                  <a:schemeClr val="tx2"/>
                </a:solidFill>
              </a:rPr>
              <a:t>선출원</a:t>
            </a:r>
            <a:r>
              <a:rPr lang="en-US" altLang="ko-KR" sz="1400" dirty="0">
                <a:solidFill>
                  <a:schemeClr val="tx2"/>
                </a:solidFill>
              </a:rPr>
              <a:t>(X)</a:t>
            </a:r>
            <a:r>
              <a:rPr lang="ko-KR" altLang="en-US" sz="1400" dirty="0">
                <a:solidFill>
                  <a:schemeClr val="tx2"/>
                </a:solidFill>
              </a:rPr>
              <a:t>이 있음을 발견한 경우에는 선출원이 출원공개 또는 </a:t>
            </a:r>
            <a:r>
              <a:rPr lang="ko-KR" altLang="en-US" sz="1400" dirty="0" err="1">
                <a:solidFill>
                  <a:schemeClr val="tx2"/>
                </a:solidFill>
              </a:rPr>
              <a:t>등록공고될</a:t>
            </a:r>
            <a:r>
              <a:rPr lang="ko-KR" altLang="en-US" sz="1400" dirty="0">
                <a:solidFill>
                  <a:schemeClr val="tx2"/>
                </a:solidFill>
              </a:rPr>
              <a:t> 때까지 심사를 보류하게 된다</a:t>
            </a:r>
            <a:r>
              <a:rPr lang="en-US" altLang="ko-KR" sz="1400" dirty="0">
                <a:solidFill>
                  <a:schemeClr val="tx2"/>
                </a:solidFill>
              </a:rPr>
              <a:t>(</a:t>
            </a:r>
            <a:r>
              <a:rPr lang="ko-KR" altLang="en-US" sz="1400" dirty="0">
                <a:solidFill>
                  <a:schemeClr val="tx2"/>
                </a:solidFill>
              </a:rPr>
              <a:t>施規 </a:t>
            </a:r>
            <a:r>
              <a:rPr lang="en-US" altLang="ko-KR" sz="1400" dirty="0">
                <a:solidFill>
                  <a:schemeClr val="tx2"/>
                </a:solidFill>
              </a:rPr>
              <a:t>40</a:t>
            </a:r>
            <a:r>
              <a:rPr lang="ko-KR" altLang="en-US" sz="1400" dirty="0">
                <a:solidFill>
                  <a:schemeClr val="tx2"/>
                </a:solidFill>
              </a:rPr>
              <a:t>본문</a:t>
            </a:r>
            <a:r>
              <a:rPr lang="en-US" altLang="ko-KR" sz="1400" dirty="0">
                <a:solidFill>
                  <a:schemeClr val="tx2"/>
                </a:solidFill>
              </a:rPr>
              <a:t>).</a:t>
            </a:r>
          </a:p>
        </p:txBody>
      </p:sp>
      <p:sp>
        <p:nvSpPr>
          <p:cNvPr id="2" name="슬라이드 번호 개체 틀 1"/>
          <p:cNvSpPr>
            <a:spLocks noGrp="1"/>
          </p:cNvSpPr>
          <p:nvPr>
            <p:ph type="sldNum" sz="quarter" idx="12"/>
          </p:nvPr>
        </p:nvSpPr>
        <p:spPr/>
        <p:txBody>
          <a:bodyPr/>
          <a:lstStyle/>
          <a:p>
            <a:r>
              <a:rPr lang="en-US" altLang="ko-KR"/>
              <a:t>250</a:t>
            </a:r>
            <a:endParaRPr lang="ko-KR" altLang="en-US" dirty="0"/>
          </a:p>
        </p:txBody>
      </p:sp>
      <p:cxnSp>
        <p:nvCxnSpPr>
          <p:cNvPr id="7" name="직선 연결선 6">
            <a:extLst>
              <a:ext uri="{FF2B5EF4-FFF2-40B4-BE49-F238E27FC236}">
                <a16:creationId xmlns:a16="http://schemas.microsoft.com/office/drawing/2014/main" id="{985EDDAB-C0AA-4F61-9050-F23FDE1ACF50}"/>
              </a:ext>
            </a:extLst>
          </p:cNvPr>
          <p:cNvCxnSpPr/>
          <p:nvPr/>
        </p:nvCxnSpPr>
        <p:spPr>
          <a:xfrm>
            <a:off x="77875" y="4728754"/>
            <a:ext cx="12114124"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양쪽 모서리가 둥근 사각형 60">
            <a:extLst>
              <a:ext uri="{FF2B5EF4-FFF2-40B4-BE49-F238E27FC236}">
                <a16:creationId xmlns:a16="http://schemas.microsoft.com/office/drawing/2014/main" id="{57C78D84-C23F-42A3-93B9-A7224F75E430}"/>
              </a:ext>
            </a:extLst>
          </p:cNvPr>
          <p:cNvSpPr/>
          <p:nvPr/>
        </p:nvSpPr>
        <p:spPr>
          <a:xfrm>
            <a:off x="1619250" y="5168673"/>
            <a:ext cx="8465276" cy="728813"/>
          </a:xfrm>
          <a:prstGeom prst="round2SameRect">
            <a:avLst>
              <a:gd name="adj1" fmla="val 50000"/>
              <a:gd name="adj2" fmla="val 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양쪽 모서리가 둥근 사각형 5">
            <a:extLst>
              <a:ext uri="{FF2B5EF4-FFF2-40B4-BE49-F238E27FC236}">
                <a16:creationId xmlns:a16="http://schemas.microsoft.com/office/drawing/2014/main" id="{EF12874C-A031-4B6C-8425-E2DD5F32D93A}"/>
              </a:ext>
            </a:extLst>
          </p:cNvPr>
          <p:cNvSpPr/>
          <p:nvPr/>
        </p:nvSpPr>
        <p:spPr>
          <a:xfrm>
            <a:off x="4997720" y="5902514"/>
            <a:ext cx="3450956" cy="519042"/>
          </a:xfrm>
          <a:prstGeom prst="round2SameRect">
            <a:avLst>
              <a:gd name="adj1" fmla="val 0"/>
              <a:gd name="adj2" fmla="val 50000"/>
            </a:avLst>
          </a:prstGeom>
          <a:pattFill prst="smConfetti">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3" name="직선 연결선 32">
            <a:extLst>
              <a:ext uri="{FF2B5EF4-FFF2-40B4-BE49-F238E27FC236}">
                <a16:creationId xmlns:a16="http://schemas.microsoft.com/office/drawing/2014/main" id="{21D625EB-1736-4C5A-928C-1D1DD26AEAA4}"/>
              </a:ext>
            </a:extLst>
          </p:cNvPr>
          <p:cNvCxnSpPr/>
          <p:nvPr/>
        </p:nvCxnSpPr>
        <p:spPr>
          <a:xfrm>
            <a:off x="752475" y="5906572"/>
            <a:ext cx="107156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직사각형 33">
            <a:extLst>
              <a:ext uri="{FF2B5EF4-FFF2-40B4-BE49-F238E27FC236}">
                <a16:creationId xmlns:a16="http://schemas.microsoft.com/office/drawing/2014/main" id="{8B64BB94-1BD9-4A73-83BE-86236623960B}"/>
              </a:ext>
            </a:extLst>
          </p:cNvPr>
          <p:cNvSpPr/>
          <p:nvPr/>
        </p:nvSpPr>
        <p:spPr>
          <a:xfrm>
            <a:off x="2784962" y="5777416"/>
            <a:ext cx="1149061" cy="250195"/>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乙 출원</a:t>
            </a:r>
            <a:r>
              <a:rPr lang="en-US" altLang="ko-KR" sz="1200" dirty="0">
                <a:solidFill>
                  <a:schemeClr val="tx1"/>
                </a:solidFill>
              </a:rPr>
              <a:t>(Y)</a:t>
            </a:r>
            <a:endParaRPr lang="ko-KR" altLang="en-US" sz="1200" dirty="0">
              <a:solidFill>
                <a:schemeClr val="tx1"/>
              </a:solidFill>
            </a:endParaRPr>
          </a:p>
        </p:txBody>
      </p:sp>
      <p:sp>
        <p:nvSpPr>
          <p:cNvPr id="36" name="직사각형 35">
            <a:extLst>
              <a:ext uri="{FF2B5EF4-FFF2-40B4-BE49-F238E27FC236}">
                <a16:creationId xmlns:a16="http://schemas.microsoft.com/office/drawing/2014/main" id="{F9FEDD09-D265-482C-B9F9-CCED5BF53268}"/>
              </a:ext>
            </a:extLst>
          </p:cNvPr>
          <p:cNvSpPr/>
          <p:nvPr/>
        </p:nvSpPr>
        <p:spPr>
          <a:xfrm>
            <a:off x="2784963" y="5340345"/>
            <a:ext cx="1149059"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37" name="직사각형 36">
            <a:extLst>
              <a:ext uri="{FF2B5EF4-FFF2-40B4-BE49-F238E27FC236}">
                <a16:creationId xmlns:a16="http://schemas.microsoft.com/office/drawing/2014/main" id="{3DD220C2-8876-4DAC-AA1D-ACF066FF1429}"/>
              </a:ext>
            </a:extLst>
          </p:cNvPr>
          <p:cNvSpPr/>
          <p:nvPr/>
        </p:nvSpPr>
        <p:spPr>
          <a:xfrm>
            <a:off x="2784963" y="5535263"/>
            <a:ext cx="1149059"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a:t>
            </a:r>
            <a:endParaRPr lang="ko-KR" altLang="en-US" sz="1200" dirty="0">
              <a:solidFill>
                <a:schemeClr val="tx1"/>
              </a:solidFill>
            </a:endParaRPr>
          </a:p>
        </p:txBody>
      </p:sp>
      <p:sp>
        <p:nvSpPr>
          <p:cNvPr id="38" name="직사각형 37">
            <a:extLst>
              <a:ext uri="{FF2B5EF4-FFF2-40B4-BE49-F238E27FC236}">
                <a16:creationId xmlns:a16="http://schemas.microsoft.com/office/drawing/2014/main" id="{D5D3F878-A60A-4C8B-8383-1E23AA0CC957}"/>
              </a:ext>
            </a:extLst>
          </p:cNvPr>
          <p:cNvSpPr/>
          <p:nvPr/>
        </p:nvSpPr>
        <p:spPr>
          <a:xfrm>
            <a:off x="9509995" y="5777416"/>
            <a:ext cx="1149061"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甲 공개</a:t>
            </a:r>
            <a:r>
              <a:rPr lang="en-US" altLang="ko-KR" sz="1200" dirty="0">
                <a:solidFill>
                  <a:schemeClr val="tx1"/>
                </a:solidFill>
              </a:rPr>
              <a:t>(X)</a:t>
            </a:r>
            <a:endParaRPr lang="ko-KR" altLang="en-US" sz="1200" dirty="0">
              <a:solidFill>
                <a:schemeClr val="tx1"/>
              </a:solidFill>
            </a:endParaRPr>
          </a:p>
        </p:txBody>
      </p:sp>
      <p:sp>
        <p:nvSpPr>
          <p:cNvPr id="39" name="직사각형 38">
            <a:extLst>
              <a:ext uri="{FF2B5EF4-FFF2-40B4-BE49-F238E27FC236}">
                <a16:creationId xmlns:a16="http://schemas.microsoft.com/office/drawing/2014/main" id="{4E1C9490-74DE-488A-8636-151995D0AFA4}"/>
              </a:ext>
            </a:extLst>
          </p:cNvPr>
          <p:cNvSpPr/>
          <p:nvPr/>
        </p:nvSpPr>
        <p:spPr>
          <a:xfrm>
            <a:off x="7813965" y="5777416"/>
            <a:ext cx="1149061" cy="250195"/>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乙 </a:t>
            </a:r>
            <a:r>
              <a:rPr lang="ko-KR" altLang="en-US" sz="1200" dirty="0" err="1">
                <a:solidFill>
                  <a:schemeClr val="tx1"/>
                </a:solidFill>
              </a:rPr>
              <a:t>실체심사</a:t>
            </a:r>
            <a:r>
              <a:rPr lang="en-US" altLang="ko-KR" sz="1200" dirty="0">
                <a:solidFill>
                  <a:schemeClr val="tx1"/>
                </a:solidFill>
              </a:rPr>
              <a:t>(Y)</a:t>
            </a:r>
            <a:endParaRPr lang="ko-KR" altLang="en-US" sz="1200" dirty="0">
              <a:solidFill>
                <a:schemeClr val="tx1"/>
              </a:solidFill>
            </a:endParaRPr>
          </a:p>
        </p:txBody>
      </p:sp>
      <p:sp>
        <p:nvSpPr>
          <p:cNvPr id="40" name="직사각형 39">
            <a:extLst>
              <a:ext uri="{FF2B5EF4-FFF2-40B4-BE49-F238E27FC236}">
                <a16:creationId xmlns:a16="http://schemas.microsoft.com/office/drawing/2014/main" id="{F500309D-F660-4A8D-88C6-2AA2CD5BE792}"/>
              </a:ext>
            </a:extLst>
          </p:cNvPr>
          <p:cNvSpPr/>
          <p:nvPr/>
        </p:nvSpPr>
        <p:spPr>
          <a:xfrm>
            <a:off x="4442365" y="5777416"/>
            <a:ext cx="1149061" cy="250195"/>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乙 심사청구</a:t>
            </a:r>
            <a:r>
              <a:rPr lang="en-US" altLang="ko-KR" sz="1200" dirty="0">
                <a:solidFill>
                  <a:schemeClr val="tx1"/>
                </a:solidFill>
              </a:rPr>
              <a:t>(Y)</a:t>
            </a:r>
            <a:endParaRPr lang="ko-KR" altLang="en-US" sz="1200" dirty="0">
              <a:solidFill>
                <a:schemeClr val="tx1"/>
              </a:solidFill>
            </a:endParaRPr>
          </a:p>
        </p:txBody>
      </p:sp>
      <p:sp>
        <p:nvSpPr>
          <p:cNvPr id="41" name="직사각형 40">
            <a:extLst>
              <a:ext uri="{FF2B5EF4-FFF2-40B4-BE49-F238E27FC236}">
                <a16:creationId xmlns:a16="http://schemas.microsoft.com/office/drawing/2014/main" id="{3397BA7F-827E-4D7A-90BA-6970CED5DD47}"/>
              </a:ext>
            </a:extLst>
          </p:cNvPr>
          <p:cNvSpPr/>
          <p:nvPr/>
        </p:nvSpPr>
        <p:spPr>
          <a:xfrm>
            <a:off x="1042012" y="5777416"/>
            <a:ext cx="1149061"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甲 출원</a:t>
            </a:r>
            <a:r>
              <a:rPr lang="en-US" altLang="ko-KR" sz="1200" dirty="0">
                <a:solidFill>
                  <a:schemeClr val="tx1"/>
                </a:solidFill>
              </a:rPr>
              <a:t>(X)</a:t>
            </a:r>
            <a:endParaRPr lang="ko-KR" altLang="en-US" sz="1200" dirty="0">
              <a:solidFill>
                <a:schemeClr val="tx1"/>
              </a:solidFill>
            </a:endParaRPr>
          </a:p>
        </p:txBody>
      </p:sp>
      <p:sp>
        <p:nvSpPr>
          <p:cNvPr id="43" name="직사각형 42">
            <a:extLst>
              <a:ext uri="{FF2B5EF4-FFF2-40B4-BE49-F238E27FC236}">
                <a16:creationId xmlns:a16="http://schemas.microsoft.com/office/drawing/2014/main" id="{D7C5BB15-845B-418A-B5CC-D4CA8BEF3387}"/>
              </a:ext>
            </a:extLst>
          </p:cNvPr>
          <p:cNvSpPr/>
          <p:nvPr/>
        </p:nvSpPr>
        <p:spPr>
          <a:xfrm>
            <a:off x="1042013" y="5340345"/>
            <a:ext cx="1149059"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a:t>
            </a:r>
            <a:endParaRPr lang="ko-KR" altLang="en-US" sz="1200" dirty="0">
              <a:solidFill>
                <a:schemeClr val="tx1"/>
              </a:solidFill>
            </a:endParaRPr>
          </a:p>
        </p:txBody>
      </p:sp>
      <p:sp>
        <p:nvSpPr>
          <p:cNvPr id="44" name="직사각형 43">
            <a:extLst>
              <a:ext uri="{FF2B5EF4-FFF2-40B4-BE49-F238E27FC236}">
                <a16:creationId xmlns:a16="http://schemas.microsoft.com/office/drawing/2014/main" id="{BCC6F9B6-7AF0-47F7-ABB0-7308DBF72E2D}"/>
              </a:ext>
            </a:extLst>
          </p:cNvPr>
          <p:cNvSpPr/>
          <p:nvPr/>
        </p:nvSpPr>
        <p:spPr>
          <a:xfrm>
            <a:off x="1042013" y="5535263"/>
            <a:ext cx="1149059" cy="194918"/>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a:t>
            </a:r>
            <a:endParaRPr lang="ko-KR" altLang="en-US" sz="1200" dirty="0">
              <a:solidFill>
                <a:schemeClr val="tx1"/>
              </a:solidFill>
            </a:endParaRPr>
          </a:p>
        </p:txBody>
      </p:sp>
      <p:sp>
        <p:nvSpPr>
          <p:cNvPr id="48" name="직사각형 47">
            <a:extLst>
              <a:ext uri="{FF2B5EF4-FFF2-40B4-BE49-F238E27FC236}">
                <a16:creationId xmlns:a16="http://schemas.microsoft.com/office/drawing/2014/main" id="{CB13A7AF-7415-4581-9DA3-5034AFB200A5}"/>
              </a:ext>
            </a:extLst>
          </p:cNvPr>
          <p:cNvSpPr/>
          <p:nvPr/>
        </p:nvSpPr>
        <p:spPr>
          <a:xfrm>
            <a:off x="6156939" y="6478706"/>
            <a:ext cx="1149059" cy="1949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심사청구순서</a:t>
            </a:r>
          </a:p>
        </p:txBody>
      </p:sp>
      <p:sp>
        <p:nvSpPr>
          <p:cNvPr id="51" name="직사각형 50">
            <a:extLst>
              <a:ext uri="{FF2B5EF4-FFF2-40B4-BE49-F238E27FC236}">
                <a16:creationId xmlns:a16="http://schemas.microsoft.com/office/drawing/2014/main" id="{662E8898-4897-4E3C-ACE6-BB9A31D91A1F}"/>
              </a:ext>
            </a:extLst>
          </p:cNvPr>
          <p:cNvSpPr/>
          <p:nvPr/>
        </p:nvSpPr>
        <p:spPr>
          <a:xfrm>
            <a:off x="5277358" y="4926447"/>
            <a:ext cx="1149059" cy="1949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1</a:t>
            </a:r>
            <a:r>
              <a:rPr lang="ko-KR" altLang="en-US" sz="1200" dirty="0">
                <a:solidFill>
                  <a:schemeClr val="tx1"/>
                </a:solidFill>
              </a:rPr>
              <a:t>년 </a:t>
            </a:r>
            <a:r>
              <a:rPr lang="en-US" altLang="ko-KR" sz="1200" dirty="0">
                <a:solidFill>
                  <a:schemeClr val="tx1"/>
                </a:solidFill>
              </a:rPr>
              <a:t>6</a:t>
            </a:r>
            <a:r>
              <a:rPr lang="ko-KR" altLang="en-US" sz="1200" dirty="0">
                <a:solidFill>
                  <a:schemeClr val="tx1"/>
                </a:solidFill>
              </a:rPr>
              <a:t>개월</a:t>
            </a:r>
          </a:p>
        </p:txBody>
      </p:sp>
      <p:sp>
        <p:nvSpPr>
          <p:cNvPr id="9" name="TextBox 8">
            <a:extLst>
              <a:ext uri="{FF2B5EF4-FFF2-40B4-BE49-F238E27FC236}">
                <a16:creationId xmlns:a16="http://schemas.microsoft.com/office/drawing/2014/main" id="{A9AA12A0-5DF7-4E62-B006-1DC626593609}"/>
              </a:ext>
            </a:extLst>
          </p:cNvPr>
          <p:cNvSpPr txBox="1"/>
          <p:nvPr/>
        </p:nvSpPr>
        <p:spPr>
          <a:xfrm>
            <a:off x="8564959" y="6149454"/>
            <a:ext cx="2899059" cy="646986"/>
          </a:xfrm>
          <a:prstGeom prst="wedgeRoundRectCallout">
            <a:avLst>
              <a:gd name="adj1" fmla="val -35819"/>
              <a:gd name="adj2" fmla="val -67167"/>
              <a:gd name="adj3" fmla="val 16667"/>
            </a:avLst>
          </a:prstGeom>
          <a:noFill/>
          <a:ln>
            <a:solidFill>
              <a:schemeClr val="bg1">
                <a:lumMod val="50000"/>
              </a:schemeClr>
            </a:solidFill>
          </a:ln>
        </p:spPr>
        <p:txBody>
          <a:bodyPr wrap="none" rtlCol="0">
            <a:spAutoFit/>
          </a:bodyPr>
          <a:lstStyle/>
          <a:p>
            <a:r>
              <a:rPr lang="ko-KR" altLang="en-US" sz="1600" dirty="0" err="1">
                <a:solidFill>
                  <a:srgbClr val="FF0000"/>
                </a:solidFill>
              </a:rPr>
              <a:t>선출원</a:t>
            </a:r>
            <a:r>
              <a:rPr lang="en-US" altLang="ko-KR" sz="1600" dirty="0">
                <a:solidFill>
                  <a:srgbClr val="FF0000"/>
                </a:solidFill>
              </a:rPr>
              <a:t>(X)</a:t>
            </a:r>
            <a:r>
              <a:rPr lang="ko-KR" altLang="en-US" sz="1600" dirty="0">
                <a:solidFill>
                  <a:srgbClr val="FF0000"/>
                </a:solidFill>
              </a:rPr>
              <a:t> 발견한 경우 심사보류</a:t>
            </a:r>
            <a:endParaRPr lang="en-US" altLang="ko-KR" sz="1600" dirty="0">
              <a:solidFill>
                <a:srgbClr val="FF0000"/>
              </a:solidFill>
            </a:endParaRPr>
          </a:p>
          <a:p>
            <a:r>
              <a:rPr lang="en-US" altLang="ko-KR" sz="1600" dirty="0">
                <a:solidFill>
                  <a:srgbClr val="FF0000"/>
                </a:solidFill>
              </a:rPr>
              <a:t>,</a:t>
            </a:r>
            <a:r>
              <a:rPr lang="ko-KR" altLang="en-US" sz="1600" dirty="0">
                <a:solidFill>
                  <a:srgbClr val="FF0000"/>
                </a:solidFill>
              </a:rPr>
              <a:t> 발견하지 못한 경우 특허결정</a:t>
            </a:r>
          </a:p>
        </p:txBody>
      </p:sp>
    </p:spTree>
    <p:extLst>
      <p:ext uri="{BB962C8B-B14F-4D97-AF65-F5344CB8AC3E}">
        <p14:creationId xmlns:p14="http://schemas.microsoft.com/office/powerpoint/2010/main" val="413931523"/>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61</a:t>
            </a:r>
            <a:r>
              <a:rPr lang="ko-KR" altLang="en-US" dirty="0"/>
              <a:t>조</a:t>
            </a:r>
          </a:p>
        </p:txBody>
      </p:sp>
      <p:sp>
        <p:nvSpPr>
          <p:cNvPr id="4" name="텍스트 개체 틀 3"/>
          <p:cNvSpPr>
            <a:spLocks noGrp="1"/>
          </p:cNvSpPr>
          <p:nvPr>
            <p:ph type="body" sz="quarter" idx="13"/>
          </p:nvPr>
        </p:nvSpPr>
        <p:spPr/>
        <p:txBody>
          <a:bodyPr/>
          <a:lstStyle/>
          <a:p>
            <a:r>
              <a:rPr lang="ko-KR" altLang="en-US" dirty="0"/>
              <a:t>우선심사신청사유</a:t>
            </a:r>
            <a:endParaRPr lang="ko-KR" altLang="en-US" sz="1800" kern="0" spc="0" dirty="0">
              <a:solidFill>
                <a:srgbClr val="000000"/>
              </a:solidFill>
              <a:effectLst/>
              <a:latin typeface="한양신명조" panose="02030600000101010101" pitchFamily="18" charset="-127"/>
            </a:endParaRPr>
          </a:p>
        </p:txBody>
      </p:sp>
      <p:sp>
        <p:nvSpPr>
          <p:cNvPr id="28" name="TextBox 27"/>
          <p:cNvSpPr txBox="1"/>
          <p:nvPr/>
        </p:nvSpPr>
        <p:spPr>
          <a:xfrm>
            <a:off x="77875" y="948974"/>
            <a:ext cx="5970500" cy="823302"/>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algn="just" fontAlgn="base"/>
            <a:r>
              <a:rPr lang="ko-KR" altLang="en-US" sz="950" b="1" dirty="0">
                <a:solidFill>
                  <a:schemeClr val="accent1"/>
                </a:solidFill>
              </a:rPr>
              <a:t>특허법 제</a:t>
            </a:r>
            <a:r>
              <a:rPr lang="en-US" altLang="ko-KR" sz="950" b="1" dirty="0">
                <a:solidFill>
                  <a:schemeClr val="accent1"/>
                </a:solidFill>
              </a:rPr>
              <a:t>61</a:t>
            </a:r>
            <a:r>
              <a:rPr lang="ko-KR" altLang="en-US" sz="950" b="1" dirty="0">
                <a:solidFill>
                  <a:schemeClr val="accent1"/>
                </a:solidFill>
              </a:rPr>
              <a:t>조</a:t>
            </a:r>
            <a:r>
              <a:rPr lang="en-US" altLang="ko-KR" sz="950" b="1" dirty="0">
                <a:solidFill>
                  <a:schemeClr val="accent1"/>
                </a:solidFill>
              </a:rPr>
              <a:t>(</a:t>
            </a:r>
            <a:r>
              <a:rPr lang="ko-KR" altLang="en-US" sz="950" b="1" dirty="0">
                <a:solidFill>
                  <a:schemeClr val="accent1"/>
                </a:solidFill>
              </a:rPr>
              <a:t>우선심사</a:t>
            </a:r>
            <a:r>
              <a:rPr lang="en-US" altLang="ko-KR" sz="950" b="1" dirty="0">
                <a:solidFill>
                  <a:schemeClr val="accent1"/>
                </a:solidFill>
              </a:rPr>
              <a:t>)</a:t>
            </a:r>
            <a:r>
              <a:rPr lang="en-US" altLang="ko-KR" sz="950" dirty="0">
                <a:solidFill>
                  <a:schemeClr val="accent1"/>
                </a:solidFill>
              </a:rPr>
              <a:t> </a:t>
            </a:r>
            <a:r>
              <a:rPr lang="ko-KR" altLang="en-US" sz="950" dirty="0">
                <a:solidFill>
                  <a:schemeClr val="tx2"/>
                </a:solidFill>
              </a:rPr>
              <a:t>지식재산처장은 다음 각 호의 어느 하나에 해당하는 특허출원에 대해서는 심사관에게 다른 특허출원에 우선하여 심사하게 할 수 있다</a:t>
            </a:r>
            <a:r>
              <a:rPr lang="en-US" altLang="ko-KR" sz="950" dirty="0">
                <a:solidFill>
                  <a:schemeClr val="tx2"/>
                </a:solidFill>
              </a:rPr>
              <a:t>.</a:t>
            </a:r>
          </a:p>
          <a:p>
            <a:pPr algn="just" fontAlgn="base"/>
            <a:r>
              <a:rPr lang="en-US" altLang="ko-KR" sz="950" dirty="0">
                <a:solidFill>
                  <a:schemeClr val="tx2"/>
                </a:solidFill>
              </a:rPr>
              <a:t>1. </a:t>
            </a:r>
            <a:r>
              <a:rPr lang="ko-KR" altLang="en-US" sz="950" dirty="0">
                <a:solidFill>
                  <a:schemeClr val="tx2"/>
                </a:solidFill>
              </a:rPr>
              <a:t>제</a:t>
            </a:r>
            <a:r>
              <a:rPr lang="en-US" altLang="ko-KR" sz="950" dirty="0">
                <a:solidFill>
                  <a:schemeClr val="tx2"/>
                </a:solidFill>
              </a:rPr>
              <a:t>64</a:t>
            </a:r>
            <a:r>
              <a:rPr lang="ko-KR" altLang="en-US" sz="950" dirty="0">
                <a:solidFill>
                  <a:schemeClr val="tx2"/>
                </a:solidFill>
              </a:rPr>
              <a:t>조에 따른 </a:t>
            </a:r>
            <a:r>
              <a:rPr lang="ko-KR" altLang="en-US" sz="950" dirty="0" err="1">
                <a:solidFill>
                  <a:schemeClr val="tx2"/>
                </a:solidFill>
              </a:rPr>
              <a:t>출원공개</a:t>
            </a:r>
            <a:r>
              <a:rPr lang="ko-KR" altLang="en-US" sz="950" dirty="0">
                <a:solidFill>
                  <a:schemeClr val="tx2"/>
                </a:solidFill>
              </a:rPr>
              <a:t> 후 특허출원인이 아닌 자가 업</a:t>
            </a:r>
            <a:r>
              <a:rPr lang="en-US" altLang="ko-KR" sz="950" dirty="0">
                <a:solidFill>
                  <a:schemeClr val="tx2"/>
                </a:solidFill>
              </a:rPr>
              <a:t>(</a:t>
            </a:r>
            <a:r>
              <a:rPr lang="ko-KR" altLang="en-US" sz="950" dirty="0">
                <a:solidFill>
                  <a:schemeClr val="tx2"/>
                </a:solidFill>
              </a:rPr>
              <a:t>業</a:t>
            </a:r>
            <a:r>
              <a:rPr lang="en-US" altLang="ko-KR" sz="950" dirty="0">
                <a:solidFill>
                  <a:schemeClr val="tx2"/>
                </a:solidFill>
              </a:rPr>
              <a:t>)</a:t>
            </a:r>
            <a:r>
              <a:rPr lang="ko-KR" altLang="en-US" sz="950" dirty="0">
                <a:solidFill>
                  <a:schemeClr val="tx2"/>
                </a:solidFill>
              </a:rPr>
              <a:t>으로서 </a:t>
            </a:r>
            <a:r>
              <a:rPr lang="ko-KR" altLang="en-US" sz="950" dirty="0" err="1">
                <a:solidFill>
                  <a:schemeClr val="tx2"/>
                </a:solidFill>
              </a:rPr>
              <a:t>특허출원된</a:t>
            </a:r>
            <a:r>
              <a:rPr lang="ko-KR" altLang="en-US" sz="950" dirty="0">
                <a:solidFill>
                  <a:schemeClr val="tx2"/>
                </a:solidFill>
              </a:rPr>
              <a:t> 발명을 실시하고 있다고 인정되는 경우</a:t>
            </a:r>
          </a:p>
          <a:p>
            <a:pPr algn="just" fontAlgn="base"/>
            <a:r>
              <a:rPr lang="en-US" altLang="ko-KR" sz="950" dirty="0">
                <a:solidFill>
                  <a:schemeClr val="tx2"/>
                </a:solidFill>
              </a:rPr>
              <a:t>2. </a:t>
            </a:r>
            <a:r>
              <a:rPr lang="ko-KR" altLang="en-US" sz="950" dirty="0">
                <a:solidFill>
                  <a:schemeClr val="tx2"/>
                </a:solidFill>
              </a:rPr>
              <a:t>대통령령으로 정하는 </a:t>
            </a:r>
            <a:r>
              <a:rPr lang="ko-KR" altLang="en-US" sz="950" dirty="0" err="1">
                <a:solidFill>
                  <a:schemeClr val="tx2"/>
                </a:solidFill>
              </a:rPr>
              <a:t>특허출원으로서</a:t>
            </a:r>
            <a:r>
              <a:rPr lang="ko-KR" altLang="en-US" sz="950" dirty="0">
                <a:solidFill>
                  <a:schemeClr val="tx2"/>
                </a:solidFill>
              </a:rPr>
              <a:t> 긴급하게 처리할 필요가 있다고 인정되는 경우 </a:t>
            </a:r>
            <a:endParaRPr lang="en-US" altLang="ko-KR" sz="950" dirty="0">
              <a:solidFill>
                <a:schemeClr val="tx2"/>
              </a:solidFill>
            </a:endParaRPr>
          </a:p>
          <a:p>
            <a:pPr algn="just" fontAlgn="base"/>
            <a:r>
              <a:rPr lang="en-US" altLang="ko-KR" sz="950" dirty="0">
                <a:solidFill>
                  <a:schemeClr val="tx2"/>
                </a:solidFill>
              </a:rPr>
              <a:t>3. </a:t>
            </a:r>
            <a:r>
              <a:rPr lang="ko-KR" altLang="en-US" sz="950" dirty="0">
                <a:solidFill>
                  <a:schemeClr val="tx2"/>
                </a:solidFill>
              </a:rPr>
              <a:t>대통령령으로 정하는 </a:t>
            </a:r>
            <a:r>
              <a:rPr lang="ko-KR" altLang="en-US" sz="950" dirty="0" err="1">
                <a:solidFill>
                  <a:schemeClr val="tx2"/>
                </a:solidFill>
              </a:rPr>
              <a:t>특허출원으로서</a:t>
            </a:r>
            <a:r>
              <a:rPr lang="ko-KR" altLang="en-US" sz="950" dirty="0">
                <a:solidFill>
                  <a:schemeClr val="tx2"/>
                </a:solidFill>
              </a:rPr>
              <a:t> 재난의 </a:t>
            </a:r>
            <a:r>
              <a:rPr lang="ko-KR" altLang="en-US" sz="950" dirty="0" err="1">
                <a:solidFill>
                  <a:schemeClr val="tx2"/>
                </a:solidFill>
              </a:rPr>
              <a:t>예방ㆍ대응ㆍ복구</a:t>
            </a:r>
            <a:r>
              <a:rPr lang="ko-KR" altLang="en-US" sz="950" dirty="0">
                <a:solidFill>
                  <a:schemeClr val="tx2"/>
                </a:solidFill>
              </a:rPr>
              <a:t> 등에 필요하다고 인정되는 경우</a:t>
            </a:r>
          </a:p>
        </p:txBody>
      </p:sp>
      <p:sp>
        <p:nvSpPr>
          <p:cNvPr id="30" name="TextBox 29"/>
          <p:cNvSpPr txBox="1"/>
          <p:nvPr/>
        </p:nvSpPr>
        <p:spPr>
          <a:xfrm>
            <a:off x="77875" y="1821327"/>
            <a:ext cx="5970500" cy="4770537"/>
          </a:xfrm>
          <a:prstGeom prst="rect">
            <a:avLst/>
          </a:prstGeom>
          <a:noFill/>
          <a:ln>
            <a:solidFill>
              <a:schemeClr val="bg1">
                <a:lumMod val="50000"/>
              </a:schemeClr>
            </a:solidFill>
          </a:ln>
        </p:spPr>
        <p:txBody>
          <a:bodyPr wrap="square" rtlCol="0">
            <a:spAutoFit/>
          </a:bodyPr>
          <a:lstStyle/>
          <a:p>
            <a:pPr lvl="0" algn="just" eaLnBrk="0" fontAlgn="base" latinLnBrk="0" hangingPunct="0">
              <a:spcBef>
                <a:spcPct val="0"/>
              </a:spcBef>
              <a:spcAft>
                <a:spcPct val="0"/>
              </a:spcAft>
            </a:pPr>
            <a:r>
              <a:rPr lang="ko-KR" altLang="en-US" sz="950" b="1" dirty="0">
                <a:solidFill>
                  <a:schemeClr val="accent1"/>
                </a:solidFill>
                <a:latin typeface="+mn-ea"/>
              </a:rPr>
              <a:t>시행령 </a:t>
            </a:r>
            <a:r>
              <a:rPr lang="ko-KR" altLang="ko-KR" sz="950" b="1" dirty="0">
                <a:solidFill>
                  <a:schemeClr val="accent1"/>
                </a:solidFill>
                <a:latin typeface="+mn-ea"/>
              </a:rPr>
              <a:t>제9조(우선심사의 대상)</a:t>
            </a:r>
            <a:r>
              <a:rPr lang="ko-KR" altLang="ko-KR" sz="950" dirty="0">
                <a:solidFill>
                  <a:schemeClr val="tx2"/>
                </a:solidFill>
                <a:latin typeface="+mn-ea"/>
              </a:rPr>
              <a:t> </a:t>
            </a:r>
            <a:r>
              <a:rPr lang="ko-KR" altLang="en-US" sz="950" dirty="0">
                <a:solidFill>
                  <a:schemeClr val="tx2"/>
                </a:solidFill>
                <a:latin typeface="+mn-ea"/>
              </a:rPr>
              <a:t>① </a:t>
            </a:r>
            <a:r>
              <a:rPr lang="ko-KR" altLang="ko-KR" sz="950" dirty="0">
                <a:solidFill>
                  <a:schemeClr val="tx2"/>
                </a:solidFill>
                <a:latin typeface="+mn-ea"/>
              </a:rPr>
              <a:t>법 제61조제2호에서 "대통령령으로 정하는 </a:t>
            </a:r>
            <a:r>
              <a:rPr lang="ko-KR" altLang="ko-KR" sz="950" dirty="0" err="1">
                <a:solidFill>
                  <a:schemeClr val="tx2"/>
                </a:solidFill>
                <a:latin typeface="+mn-ea"/>
              </a:rPr>
              <a:t>특허출원"이란</a:t>
            </a:r>
            <a:r>
              <a:rPr lang="ko-KR" altLang="ko-KR" sz="950" dirty="0">
                <a:solidFill>
                  <a:schemeClr val="tx2"/>
                </a:solidFill>
                <a:latin typeface="+mn-ea"/>
              </a:rPr>
              <a:t> 다음 각 호의 어느 하나에 해당하는 것으로서 </a:t>
            </a:r>
            <a:r>
              <a:rPr lang="ko-KR" altLang="en-US" sz="950" dirty="0">
                <a:solidFill>
                  <a:schemeClr val="tx2"/>
                </a:solidFill>
                <a:latin typeface="+mn-ea"/>
              </a:rPr>
              <a:t>지식재산처장이</a:t>
            </a:r>
            <a:r>
              <a:rPr lang="ko-KR" altLang="ko-KR" sz="950" dirty="0">
                <a:solidFill>
                  <a:schemeClr val="tx2"/>
                </a:solidFill>
                <a:latin typeface="+mn-ea"/>
              </a:rPr>
              <a:t> 정하는 특허출원을 말한다.  </a:t>
            </a:r>
            <a:endParaRPr lang="en-US" altLang="ko-KR" sz="950" dirty="0">
              <a:solidFill>
                <a:schemeClr val="tx2"/>
              </a:solidFill>
              <a:latin typeface="+mn-ea"/>
            </a:endParaRPr>
          </a:p>
          <a:p>
            <a:pPr lvl="0" algn="just" eaLnBrk="0" fontAlgn="base" latinLnBrk="0" hangingPunct="0">
              <a:spcBef>
                <a:spcPct val="0"/>
              </a:spcBef>
              <a:spcAft>
                <a:spcPct val="0"/>
              </a:spcAft>
            </a:pPr>
            <a:r>
              <a:rPr lang="ko-KR" altLang="ko-KR" sz="950" dirty="0">
                <a:solidFill>
                  <a:schemeClr val="tx2"/>
                </a:solidFill>
                <a:latin typeface="+mn-ea"/>
              </a:rPr>
              <a:t>1. </a:t>
            </a:r>
            <a:r>
              <a:rPr lang="ko-KR" altLang="ko-KR" sz="950" dirty="0">
                <a:solidFill>
                  <a:srgbClr val="FF0000"/>
                </a:solidFill>
                <a:latin typeface="+mn-ea"/>
              </a:rPr>
              <a:t>방</a:t>
            </a:r>
            <a:r>
              <a:rPr lang="ko-KR" altLang="ko-KR" sz="950" dirty="0">
                <a:solidFill>
                  <a:schemeClr val="tx2"/>
                </a:solidFill>
                <a:latin typeface="+mn-ea"/>
              </a:rPr>
              <a:t>위산업분야의 특허출원</a:t>
            </a:r>
          </a:p>
          <a:p>
            <a:pPr lvl="0" algn="just" eaLnBrk="0" fontAlgn="base" latinLnBrk="0" hangingPunct="0">
              <a:spcBef>
                <a:spcPct val="0"/>
              </a:spcBef>
              <a:spcAft>
                <a:spcPct val="0"/>
              </a:spcAft>
            </a:pPr>
            <a:r>
              <a:rPr lang="ko-KR" altLang="ko-KR" sz="950" dirty="0">
                <a:solidFill>
                  <a:schemeClr val="accent6">
                    <a:lumMod val="75000"/>
                  </a:schemeClr>
                </a:solidFill>
                <a:latin typeface="+mn-ea"/>
              </a:rPr>
              <a:t>2. </a:t>
            </a:r>
            <a:r>
              <a:rPr lang="ko-KR" altLang="en-US" sz="950" dirty="0">
                <a:solidFill>
                  <a:schemeClr val="accent6">
                    <a:lumMod val="75000"/>
                  </a:schemeClr>
                </a:solidFill>
                <a:latin typeface="+mn-ea"/>
              </a:rPr>
              <a:t>「기후위기 대응을 위한 </a:t>
            </a:r>
            <a:r>
              <a:rPr lang="ko-KR" altLang="en-US" sz="950" dirty="0" err="1">
                <a:solidFill>
                  <a:schemeClr val="accent6">
                    <a:lumMod val="75000"/>
                  </a:schemeClr>
                </a:solidFill>
                <a:latin typeface="+mn-ea"/>
              </a:rPr>
              <a:t>탄소중립ㆍ녹색성장</a:t>
            </a:r>
            <a:r>
              <a:rPr lang="ko-KR" altLang="en-US" sz="950" dirty="0">
                <a:solidFill>
                  <a:schemeClr val="accent6">
                    <a:lumMod val="75000"/>
                  </a:schemeClr>
                </a:solidFill>
                <a:latin typeface="+mn-ea"/>
              </a:rPr>
              <a:t> </a:t>
            </a:r>
            <a:r>
              <a:rPr lang="ko-KR" altLang="en-US" sz="950" dirty="0" err="1">
                <a:solidFill>
                  <a:schemeClr val="accent6">
                    <a:lumMod val="75000"/>
                  </a:schemeClr>
                </a:solidFill>
                <a:latin typeface="+mn-ea"/>
              </a:rPr>
              <a:t>기본법」에</a:t>
            </a:r>
            <a:r>
              <a:rPr lang="ko-KR" altLang="en-US" sz="950" dirty="0">
                <a:solidFill>
                  <a:schemeClr val="accent6">
                    <a:lumMod val="75000"/>
                  </a:schemeClr>
                </a:solidFill>
                <a:latin typeface="+mn-ea"/>
              </a:rPr>
              <a:t> 따른 </a:t>
            </a:r>
            <a:r>
              <a:rPr lang="ko-KR" altLang="en-US" sz="950" dirty="0">
                <a:solidFill>
                  <a:srgbClr val="FF0000"/>
                </a:solidFill>
                <a:latin typeface="+mn-ea"/>
              </a:rPr>
              <a:t>녹</a:t>
            </a:r>
            <a:r>
              <a:rPr lang="ko-KR" altLang="en-US" sz="950" dirty="0">
                <a:solidFill>
                  <a:schemeClr val="accent6">
                    <a:lumMod val="75000"/>
                  </a:schemeClr>
                </a:solidFill>
                <a:latin typeface="+mn-ea"/>
              </a:rPr>
              <a:t>색기술과 직접 관련된 특허출원</a:t>
            </a:r>
            <a:endParaRPr lang="en-US" altLang="ko-KR" sz="950" dirty="0">
              <a:solidFill>
                <a:schemeClr val="accent6">
                  <a:lumMod val="75000"/>
                </a:schemeClr>
              </a:solidFill>
              <a:latin typeface="+mn-ea"/>
            </a:endParaRPr>
          </a:p>
          <a:p>
            <a:pPr lvl="0" algn="just" eaLnBrk="0" fontAlgn="base" latinLnBrk="0" hangingPunct="0">
              <a:spcBef>
                <a:spcPct val="0"/>
              </a:spcBef>
              <a:spcAft>
                <a:spcPct val="0"/>
              </a:spcAft>
            </a:pPr>
            <a:r>
              <a:rPr lang="en-US" altLang="ko-KR" sz="950" dirty="0">
                <a:solidFill>
                  <a:schemeClr val="accent2"/>
                </a:solidFill>
                <a:latin typeface="+mn-ea"/>
              </a:rPr>
              <a:t>2</a:t>
            </a:r>
            <a:r>
              <a:rPr lang="ko-KR" altLang="en-US" sz="950" dirty="0">
                <a:solidFill>
                  <a:schemeClr val="accent2"/>
                </a:solidFill>
                <a:latin typeface="+mn-ea"/>
              </a:rPr>
              <a:t>의</a:t>
            </a:r>
            <a:r>
              <a:rPr lang="en-US" altLang="ko-KR" sz="950" dirty="0">
                <a:solidFill>
                  <a:schemeClr val="accent2"/>
                </a:solidFill>
                <a:latin typeface="+mn-ea"/>
              </a:rPr>
              <a:t>2. </a:t>
            </a:r>
            <a:r>
              <a:rPr lang="ko-KR" altLang="en-US" sz="950" dirty="0">
                <a:solidFill>
                  <a:schemeClr val="accent2"/>
                </a:solidFill>
                <a:latin typeface="+mn-ea"/>
              </a:rPr>
              <a:t>인공지능 또는 사물인터넷 등 </a:t>
            </a:r>
            <a:r>
              <a:rPr lang="en-US" altLang="ko-KR" sz="950" dirty="0">
                <a:solidFill>
                  <a:srgbClr val="FF0000"/>
                </a:solidFill>
                <a:latin typeface="+mn-ea"/>
              </a:rPr>
              <a:t>4</a:t>
            </a:r>
            <a:r>
              <a:rPr lang="ko-KR" altLang="en-US" sz="950" dirty="0">
                <a:solidFill>
                  <a:srgbClr val="FF0000"/>
                </a:solidFill>
                <a:latin typeface="+mn-ea"/>
              </a:rPr>
              <a:t>차</a:t>
            </a:r>
            <a:r>
              <a:rPr lang="ko-KR" altLang="en-US" sz="950" dirty="0">
                <a:solidFill>
                  <a:schemeClr val="accent2"/>
                </a:solidFill>
                <a:latin typeface="+mn-ea"/>
              </a:rPr>
              <a:t> 산업혁명과 관련된 기술을 활용한 특허출원</a:t>
            </a:r>
            <a:endParaRPr lang="en-US" altLang="ko-KR" sz="950" dirty="0">
              <a:solidFill>
                <a:schemeClr val="accent2"/>
              </a:solidFill>
              <a:latin typeface="+mn-ea"/>
            </a:endParaRPr>
          </a:p>
          <a:p>
            <a:pPr lvl="0" algn="just" eaLnBrk="0" fontAlgn="base" latinLnBrk="0" hangingPunct="0">
              <a:spcBef>
                <a:spcPct val="0"/>
              </a:spcBef>
              <a:spcAft>
                <a:spcPct val="0"/>
              </a:spcAft>
            </a:pPr>
            <a:r>
              <a:rPr lang="en-US" altLang="ko-KR" sz="950" dirty="0">
                <a:solidFill>
                  <a:schemeClr val="accent2"/>
                </a:solidFill>
                <a:latin typeface="+mn-ea"/>
              </a:rPr>
              <a:t>2</a:t>
            </a:r>
            <a:r>
              <a:rPr lang="ko-KR" altLang="en-US" sz="950" dirty="0">
                <a:solidFill>
                  <a:schemeClr val="accent2"/>
                </a:solidFill>
                <a:latin typeface="+mn-ea"/>
              </a:rPr>
              <a:t>의</a:t>
            </a:r>
            <a:r>
              <a:rPr lang="en-US" altLang="ko-KR" sz="950" dirty="0">
                <a:solidFill>
                  <a:schemeClr val="accent2"/>
                </a:solidFill>
                <a:latin typeface="+mn-ea"/>
              </a:rPr>
              <a:t>3. </a:t>
            </a:r>
            <a:r>
              <a:rPr lang="ko-KR" altLang="en-US" sz="950" dirty="0">
                <a:solidFill>
                  <a:schemeClr val="accent2"/>
                </a:solidFill>
                <a:latin typeface="+mn-ea"/>
              </a:rPr>
              <a:t>반도체 등 국민경제 및 국가경쟁력 강화에 중요한 </a:t>
            </a:r>
            <a:r>
              <a:rPr lang="ko-KR" altLang="en-US" sz="950" dirty="0">
                <a:solidFill>
                  <a:srgbClr val="FF0000"/>
                </a:solidFill>
                <a:latin typeface="+mn-ea"/>
              </a:rPr>
              <a:t>첨</a:t>
            </a:r>
            <a:r>
              <a:rPr lang="ko-KR" altLang="en-US" sz="950" dirty="0">
                <a:solidFill>
                  <a:schemeClr val="accent2"/>
                </a:solidFill>
                <a:latin typeface="+mn-ea"/>
              </a:rPr>
              <a:t>단기술과 관련된 특허출원</a:t>
            </a:r>
            <a:r>
              <a:rPr lang="en-US" altLang="ko-KR" sz="950" dirty="0">
                <a:solidFill>
                  <a:schemeClr val="accent2"/>
                </a:solidFill>
                <a:latin typeface="+mn-ea"/>
              </a:rPr>
              <a:t>(</a:t>
            </a:r>
            <a:r>
              <a:rPr lang="ko-KR" altLang="en-US" sz="950" dirty="0">
                <a:solidFill>
                  <a:schemeClr val="accent2"/>
                </a:solidFill>
                <a:latin typeface="+mn-ea"/>
              </a:rPr>
              <a:t>지식재산처장이 우선심사의 구체적인 대상과 신청 기간을 정하여 공고하는 특허출원으로 한정한다</a:t>
            </a:r>
            <a:r>
              <a:rPr lang="en-US" altLang="ko-KR" sz="950" dirty="0">
                <a:solidFill>
                  <a:schemeClr val="accent2"/>
                </a:solidFill>
                <a:latin typeface="+mn-ea"/>
              </a:rPr>
              <a:t>)</a:t>
            </a:r>
            <a:endParaRPr lang="ko-KR" altLang="ko-KR" sz="950" dirty="0">
              <a:solidFill>
                <a:schemeClr val="accent2"/>
              </a:solidFill>
              <a:latin typeface="+mn-ea"/>
            </a:endParaRPr>
          </a:p>
          <a:p>
            <a:pPr lvl="0" algn="just" eaLnBrk="0" fontAlgn="base" latinLnBrk="0" hangingPunct="0">
              <a:spcBef>
                <a:spcPct val="0"/>
              </a:spcBef>
              <a:spcAft>
                <a:spcPct val="0"/>
              </a:spcAft>
            </a:pPr>
            <a:r>
              <a:rPr lang="ko-KR" altLang="ko-KR" sz="950" dirty="0">
                <a:solidFill>
                  <a:schemeClr val="tx2"/>
                </a:solidFill>
                <a:latin typeface="+mn-ea"/>
              </a:rPr>
              <a:t>3. </a:t>
            </a:r>
            <a:r>
              <a:rPr lang="ko-KR" altLang="ko-KR" sz="950" dirty="0" err="1">
                <a:solidFill>
                  <a:srgbClr val="FF0000"/>
                </a:solidFill>
                <a:latin typeface="+mn-ea"/>
              </a:rPr>
              <a:t>수</a:t>
            </a:r>
            <a:r>
              <a:rPr lang="ko-KR" altLang="ko-KR" sz="950" dirty="0" err="1">
                <a:solidFill>
                  <a:schemeClr val="tx2"/>
                </a:solidFill>
                <a:latin typeface="+mn-ea"/>
              </a:rPr>
              <a:t>출촉진에</a:t>
            </a:r>
            <a:r>
              <a:rPr lang="ko-KR" altLang="ko-KR" sz="950" dirty="0">
                <a:solidFill>
                  <a:schemeClr val="tx2"/>
                </a:solidFill>
                <a:latin typeface="+mn-ea"/>
              </a:rPr>
              <a:t> 직접 관련된 특허출원</a:t>
            </a:r>
          </a:p>
          <a:p>
            <a:pPr lvl="0" algn="just" eaLnBrk="0" fontAlgn="base" latinLnBrk="0" hangingPunct="0">
              <a:spcBef>
                <a:spcPct val="0"/>
              </a:spcBef>
              <a:spcAft>
                <a:spcPct val="0"/>
              </a:spcAft>
            </a:pPr>
            <a:r>
              <a:rPr lang="ko-KR" altLang="ko-KR" sz="950" dirty="0">
                <a:solidFill>
                  <a:schemeClr val="tx2"/>
                </a:solidFill>
                <a:latin typeface="+mn-ea"/>
              </a:rPr>
              <a:t>4. </a:t>
            </a:r>
            <a:r>
              <a:rPr lang="ko-KR" altLang="ko-KR" sz="950" dirty="0">
                <a:solidFill>
                  <a:srgbClr val="FF0000"/>
                </a:solidFill>
                <a:latin typeface="+mn-ea"/>
              </a:rPr>
              <a:t>국</a:t>
            </a:r>
            <a:r>
              <a:rPr lang="ko-KR" altLang="ko-KR" sz="950" dirty="0">
                <a:solidFill>
                  <a:schemeClr val="tx2"/>
                </a:solidFill>
                <a:latin typeface="+mn-ea"/>
              </a:rPr>
              <a:t>가 또는 지방자치단체의 직무에 관한 특허출원(「</a:t>
            </a:r>
            <a:r>
              <a:rPr lang="ko-KR" altLang="ko-KR" sz="950" dirty="0" err="1">
                <a:solidFill>
                  <a:schemeClr val="tx2"/>
                </a:solidFill>
                <a:latin typeface="+mn-ea"/>
              </a:rPr>
              <a:t>고등교육법」에</a:t>
            </a:r>
            <a:r>
              <a:rPr lang="ko-KR" altLang="ko-KR" sz="950" dirty="0">
                <a:solidFill>
                  <a:schemeClr val="tx2"/>
                </a:solidFill>
                <a:latin typeface="+mn-ea"/>
              </a:rPr>
              <a:t> 따른 </a:t>
            </a:r>
            <a:r>
              <a:rPr lang="ko-KR" altLang="ko-KR" sz="950" dirty="0" err="1">
                <a:solidFill>
                  <a:schemeClr val="tx2"/>
                </a:solidFill>
                <a:latin typeface="+mn-ea"/>
              </a:rPr>
              <a:t>국·공립학교의</a:t>
            </a:r>
            <a:r>
              <a:rPr lang="ko-KR" altLang="ko-KR" sz="950" dirty="0">
                <a:solidFill>
                  <a:schemeClr val="tx2"/>
                </a:solidFill>
                <a:latin typeface="+mn-ea"/>
              </a:rPr>
              <a:t> 직무에 관한 </a:t>
            </a:r>
            <a:r>
              <a:rPr lang="ko-KR" altLang="ko-KR" sz="950" dirty="0" err="1">
                <a:solidFill>
                  <a:schemeClr val="tx2"/>
                </a:solidFill>
                <a:latin typeface="+mn-ea"/>
              </a:rPr>
              <a:t>특허출원으로서</a:t>
            </a:r>
            <a:r>
              <a:rPr lang="ko-KR" altLang="ko-KR" sz="950" dirty="0">
                <a:solidFill>
                  <a:schemeClr val="tx2"/>
                </a:solidFill>
                <a:latin typeface="+mn-ea"/>
              </a:rPr>
              <a:t> 「기술의 이전 및 사업화 촉진에 관한 법률」 제11조제1항에 따라 </a:t>
            </a:r>
            <a:r>
              <a:rPr lang="ko-KR" altLang="ko-KR" sz="950" dirty="0" err="1">
                <a:solidFill>
                  <a:schemeClr val="tx2"/>
                </a:solidFill>
                <a:latin typeface="+mn-ea"/>
              </a:rPr>
              <a:t>국·공립학교</a:t>
            </a:r>
            <a:r>
              <a:rPr lang="ko-KR" altLang="ko-KR" sz="950" dirty="0">
                <a:solidFill>
                  <a:schemeClr val="tx2"/>
                </a:solidFill>
                <a:latin typeface="+mn-ea"/>
              </a:rPr>
              <a:t> 안에 설치된 </a:t>
            </a:r>
            <a:r>
              <a:rPr lang="ko-KR" altLang="ko-KR" sz="950" dirty="0" err="1">
                <a:solidFill>
                  <a:schemeClr val="tx2"/>
                </a:solidFill>
                <a:latin typeface="+mn-ea"/>
              </a:rPr>
              <a:t>기술이전·사업화</a:t>
            </a:r>
            <a:r>
              <a:rPr lang="ko-KR" altLang="ko-KR" sz="950" dirty="0">
                <a:solidFill>
                  <a:schemeClr val="tx2"/>
                </a:solidFill>
                <a:latin typeface="+mn-ea"/>
              </a:rPr>
              <a:t> </a:t>
            </a:r>
            <a:r>
              <a:rPr lang="ko-KR" altLang="ko-KR" sz="950" dirty="0" err="1">
                <a:solidFill>
                  <a:schemeClr val="tx2"/>
                </a:solidFill>
                <a:latin typeface="+mn-ea"/>
              </a:rPr>
              <a:t>전담조직에</a:t>
            </a:r>
            <a:r>
              <a:rPr lang="ko-KR" altLang="ko-KR" sz="950" dirty="0">
                <a:solidFill>
                  <a:schemeClr val="tx2"/>
                </a:solidFill>
                <a:latin typeface="+mn-ea"/>
              </a:rPr>
              <a:t> 의한 특허출원을 포함한다)</a:t>
            </a:r>
          </a:p>
          <a:p>
            <a:pPr lvl="0" algn="just" eaLnBrk="0" fontAlgn="base" latinLnBrk="0" hangingPunct="0">
              <a:spcBef>
                <a:spcPct val="0"/>
              </a:spcBef>
              <a:spcAft>
                <a:spcPct val="0"/>
              </a:spcAft>
            </a:pPr>
            <a:r>
              <a:rPr lang="ko-KR" altLang="ko-KR" sz="950" dirty="0">
                <a:solidFill>
                  <a:schemeClr val="tx2"/>
                </a:solidFill>
                <a:latin typeface="+mn-ea"/>
              </a:rPr>
              <a:t>5. 「</a:t>
            </a:r>
            <a:r>
              <a:rPr lang="ko-KR" altLang="ko-KR" sz="950" dirty="0">
                <a:solidFill>
                  <a:srgbClr val="FF0000"/>
                </a:solidFill>
                <a:latin typeface="+mn-ea"/>
              </a:rPr>
              <a:t>벤</a:t>
            </a:r>
            <a:r>
              <a:rPr lang="ko-KR" altLang="ko-KR" sz="950" dirty="0">
                <a:solidFill>
                  <a:schemeClr val="tx2"/>
                </a:solidFill>
                <a:latin typeface="+mn-ea"/>
              </a:rPr>
              <a:t>처기업육성에 관한 특별법」 제25조에 따른 벤처기업의 확인을 받은 기업의 특허출원</a:t>
            </a:r>
          </a:p>
          <a:p>
            <a:pPr lvl="0" algn="just" eaLnBrk="0" fontAlgn="base" latinLnBrk="0" hangingPunct="0">
              <a:spcBef>
                <a:spcPct val="0"/>
              </a:spcBef>
              <a:spcAft>
                <a:spcPct val="0"/>
              </a:spcAft>
            </a:pPr>
            <a:r>
              <a:rPr lang="ko-KR" altLang="ko-KR" sz="950" dirty="0">
                <a:solidFill>
                  <a:schemeClr val="tx2"/>
                </a:solidFill>
                <a:latin typeface="+mn-ea"/>
              </a:rPr>
              <a:t>5의2. 「</a:t>
            </a:r>
            <a:r>
              <a:rPr lang="ko-KR" altLang="ko-KR" sz="950" dirty="0">
                <a:solidFill>
                  <a:srgbClr val="FF0000"/>
                </a:solidFill>
                <a:latin typeface="+mn-ea"/>
              </a:rPr>
              <a:t>중</a:t>
            </a:r>
            <a:r>
              <a:rPr lang="ko-KR" altLang="ko-KR" sz="950" dirty="0">
                <a:solidFill>
                  <a:schemeClr val="tx2"/>
                </a:solidFill>
                <a:latin typeface="+mn-ea"/>
              </a:rPr>
              <a:t>소기업기술혁신 촉진법」 제15조에 따라 </a:t>
            </a:r>
            <a:r>
              <a:rPr lang="ko-KR" altLang="ko-KR" sz="950" dirty="0" err="1">
                <a:solidFill>
                  <a:schemeClr val="tx2"/>
                </a:solidFill>
                <a:latin typeface="+mn-ea"/>
              </a:rPr>
              <a:t>기술혁신형</a:t>
            </a:r>
            <a:r>
              <a:rPr lang="ko-KR" altLang="ko-KR" sz="950" dirty="0">
                <a:solidFill>
                  <a:schemeClr val="tx2"/>
                </a:solidFill>
                <a:latin typeface="+mn-ea"/>
              </a:rPr>
              <a:t> 중소기업으로 선정된 기업의 특허출원</a:t>
            </a:r>
          </a:p>
          <a:p>
            <a:pPr lvl="0" algn="just" eaLnBrk="0" fontAlgn="base" latinLnBrk="0" hangingPunct="0">
              <a:spcBef>
                <a:spcPct val="0"/>
              </a:spcBef>
              <a:spcAft>
                <a:spcPct val="0"/>
              </a:spcAft>
            </a:pPr>
            <a:r>
              <a:rPr lang="ko-KR" altLang="ko-KR" sz="950" dirty="0">
                <a:solidFill>
                  <a:schemeClr val="tx2"/>
                </a:solidFill>
                <a:latin typeface="+mn-ea"/>
              </a:rPr>
              <a:t>5의3. 「발명진흥법」 제11조의2에 따라 </a:t>
            </a:r>
            <a:r>
              <a:rPr lang="ko-KR" altLang="ko-KR" sz="950" dirty="0">
                <a:solidFill>
                  <a:srgbClr val="FF0000"/>
                </a:solidFill>
                <a:latin typeface="+mn-ea"/>
              </a:rPr>
              <a:t>직</a:t>
            </a:r>
            <a:r>
              <a:rPr lang="ko-KR" altLang="ko-KR" sz="950" dirty="0">
                <a:solidFill>
                  <a:schemeClr val="tx2"/>
                </a:solidFill>
                <a:latin typeface="+mn-ea"/>
              </a:rPr>
              <a:t>무발명보상 우수기업으로 </a:t>
            </a:r>
            <a:r>
              <a:rPr lang="ko-KR" altLang="en-US" sz="950" dirty="0">
                <a:solidFill>
                  <a:schemeClr val="tx2"/>
                </a:solidFill>
                <a:latin typeface="+mn-ea"/>
              </a:rPr>
              <a:t>인증</a:t>
            </a:r>
            <a:r>
              <a:rPr lang="ko-KR" altLang="ko-KR" sz="950" dirty="0">
                <a:solidFill>
                  <a:schemeClr val="tx2"/>
                </a:solidFill>
                <a:latin typeface="+mn-ea"/>
              </a:rPr>
              <a:t>된 기업의 특허출원</a:t>
            </a:r>
          </a:p>
          <a:p>
            <a:pPr lvl="0" algn="just" eaLnBrk="0" fontAlgn="base" latinLnBrk="0" hangingPunct="0">
              <a:spcBef>
                <a:spcPct val="0"/>
              </a:spcBef>
              <a:spcAft>
                <a:spcPct val="0"/>
              </a:spcAft>
            </a:pPr>
            <a:r>
              <a:rPr lang="ko-KR" altLang="ko-KR" sz="950" dirty="0">
                <a:solidFill>
                  <a:schemeClr val="tx2"/>
                </a:solidFill>
                <a:latin typeface="+mn-ea"/>
              </a:rPr>
              <a:t>5의4. 「발명진흥법」 제24조의2에 따라 </a:t>
            </a:r>
            <a:r>
              <a:rPr lang="ko-KR" altLang="ko-KR" sz="950" dirty="0">
                <a:solidFill>
                  <a:srgbClr val="FF0000"/>
                </a:solidFill>
                <a:latin typeface="+mn-ea"/>
              </a:rPr>
              <a:t>지</a:t>
            </a:r>
            <a:r>
              <a:rPr lang="ko-KR" altLang="ko-KR" sz="950" dirty="0">
                <a:solidFill>
                  <a:schemeClr val="tx2"/>
                </a:solidFill>
                <a:latin typeface="+mn-ea"/>
              </a:rPr>
              <a:t>식재산 </a:t>
            </a:r>
            <a:r>
              <a:rPr lang="ko-KR" altLang="ko-KR" sz="950" dirty="0" err="1">
                <a:solidFill>
                  <a:schemeClr val="tx2"/>
                </a:solidFill>
                <a:latin typeface="+mn-ea"/>
              </a:rPr>
              <a:t>경영인증을</a:t>
            </a:r>
            <a:r>
              <a:rPr lang="ko-KR" altLang="ko-KR" sz="950" dirty="0">
                <a:solidFill>
                  <a:schemeClr val="tx2"/>
                </a:solidFill>
                <a:latin typeface="+mn-ea"/>
              </a:rPr>
              <a:t> 받은 중소기업의 특허출원</a:t>
            </a:r>
          </a:p>
          <a:p>
            <a:pPr lvl="0" algn="just" eaLnBrk="0" fontAlgn="base" latinLnBrk="0" hangingPunct="0">
              <a:spcBef>
                <a:spcPct val="0"/>
              </a:spcBef>
              <a:spcAft>
                <a:spcPct val="0"/>
              </a:spcAft>
            </a:pPr>
            <a:r>
              <a:rPr lang="ko-KR" altLang="ko-KR" sz="950" dirty="0">
                <a:solidFill>
                  <a:schemeClr val="tx2"/>
                </a:solidFill>
                <a:latin typeface="+mn-ea"/>
              </a:rPr>
              <a:t>6</a:t>
            </a:r>
            <a:r>
              <a:rPr lang="en-US" altLang="ko-KR" sz="950" dirty="0">
                <a:solidFill>
                  <a:schemeClr val="tx2"/>
                </a:solidFill>
                <a:latin typeface="+mn-ea"/>
              </a:rPr>
              <a:t>.</a:t>
            </a:r>
            <a:r>
              <a:rPr lang="ko-KR" altLang="en-US" sz="950" dirty="0">
                <a:solidFill>
                  <a:schemeClr val="tx2"/>
                </a:solidFill>
                <a:latin typeface="+mn-ea"/>
              </a:rPr>
              <a:t>「과학기술기본법」 제</a:t>
            </a:r>
            <a:r>
              <a:rPr lang="en-US" altLang="ko-KR" sz="950" dirty="0">
                <a:solidFill>
                  <a:schemeClr val="tx2"/>
                </a:solidFill>
                <a:latin typeface="+mn-ea"/>
              </a:rPr>
              <a:t>11</a:t>
            </a:r>
            <a:r>
              <a:rPr lang="ko-KR" altLang="en-US" sz="950" dirty="0">
                <a:solidFill>
                  <a:schemeClr val="tx2"/>
                </a:solidFill>
                <a:latin typeface="+mn-ea"/>
              </a:rPr>
              <a:t>조에 따른 </a:t>
            </a:r>
            <a:r>
              <a:rPr lang="ko-KR" altLang="en-US" sz="950" dirty="0">
                <a:solidFill>
                  <a:srgbClr val="FF0000"/>
                </a:solidFill>
                <a:latin typeface="+mn-ea"/>
              </a:rPr>
              <a:t>국</a:t>
            </a:r>
            <a:r>
              <a:rPr lang="ko-KR" altLang="en-US" sz="950" dirty="0">
                <a:solidFill>
                  <a:schemeClr val="tx2"/>
                </a:solidFill>
                <a:latin typeface="+mn-ea"/>
              </a:rPr>
              <a:t>가연구개발사업의 결과물에 관한 특허출원</a:t>
            </a:r>
            <a:endParaRPr lang="ko-KR" altLang="ko-KR" sz="950" dirty="0">
              <a:solidFill>
                <a:schemeClr val="tx2"/>
              </a:solidFill>
              <a:latin typeface="+mn-ea"/>
            </a:endParaRPr>
          </a:p>
          <a:p>
            <a:pPr lvl="0" algn="just" eaLnBrk="0" fontAlgn="base" latinLnBrk="0" hangingPunct="0">
              <a:spcBef>
                <a:spcPct val="0"/>
              </a:spcBef>
              <a:spcAft>
                <a:spcPct val="0"/>
              </a:spcAft>
            </a:pPr>
            <a:r>
              <a:rPr lang="ko-KR" altLang="ko-KR" sz="950" dirty="0">
                <a:solidFill>
                  <a:schemeClr val="tx2"/>
                </a:solidFill>
                <a:latin typeface="+mn-ea"/>
              </a:rPr>
              <a:t>7. </a:t>
            </a:r>
            <a:r>
              <a:rPr lang="ko-KR" altLang="ko-KR" sz="950" dirty="0">
                <a:solidFill>
                  <a:srgbClr val="FF0000"/>
                </a:solidFill>
                <a:latin typeface="+mn-ea"/>
              </a:rPr>
              <a:t>조</a:t>
            </a:r>
            <a:r>
              <a:rPr lang="ko-KR" altLang="ko-KR" sz="950" dirty="0">
                <a:solidFill>
                  <a:schemeClr val="tx2"/>
                </a:solidFill>
                <a:latin typeface="+mn-ea"/>
              </a:rPr>
              <a:t>약에 의한 우선권주장의 기초가 되는 특허출원(당해 특허출원을 기초로 하는 우선권주장에 의하여 외국</a:t>
            </a:r>
            <a:r>
              <a:rPr lang="en-US" altLang="ko-KR" sz="950" dirty="0">
                <a:solidFill>
                  <a:schemeClr val="tx2"/>
                </a:solidFill>
                <a:latin typeface="+mn-ea"/>
              </a:rPr>
              <a:t> </a:t>
            </a:r>
            <a:r>
              <a:rPr lang="ko-KR" altLang="en-US" sz="950" dirty="0">
                <a:solidFill>
                  <a:schemeClr val="tx2"/>
                </a:solidFill>
                <a:latin typeface="+mn-ea"/>
              </a:rPr>
              <a:t>특허담당 정부기관</a:t>
            </a:r>
            <a:r>
              <a:rPr lang="ko-KR" altLang="ko-KR" sz="950" dirty="0">
                <a:solidFill>
                  <a:schemeClr val="tx2"/>
                </a:solidFill>
                <a:latin typeface="+mn-ea"/>
              </a:rPr>
              <a:t>에서 특허에 관한 절차가 진행중인 것에 한정한다)</a:t>
            </a:r>
            <a:endParaRPr lang="en-US" altLang="ko-KR" sz="950" dirty="0">
              <a:solidFill>
                <a:schemeClr val="tx2"/>
              </a:solidFill>
              <a:latin typeface="+mn-ea"/>
            </a:endParaRPr>
          </a:p>
          <a:p>
            <a:pPr lvl="0" algn="just" eaLnBrk="0" fontAlgn="base" latinLnBrk="0" hangingPunct="0">
              <a:spcBef>
                <a:spcPct val="0"/>
              </a:spcBef>
              <a:spcAft>
                <a:spcPct val="0"/>
              </a:spcAft>
            </a:pPr>
            <a:r>
              <a:rPr lang="en-US" altLang="ko-KR" sz="950" dirty="0">
                <a:solidFill>
                  <a:schemeClr val="accent2"/>
                </a:solidFill>
                <a:latin typeface="+mn-ea"/>
              </a:rPr>
              <a:t>7</a:t>
            </a:r>
            <a:r>
              <a:rPr lang="ko-KR" altLang="en-US" sz="950" dirty="0">
                <a:solidFill>
                  <a:schemeClr val="accent2"/>
                </a:solidFill>
                <a:latin typeface="+mn-ea"/>
              </a:rPr>
              <a:t>의</a:t>
            </a:r>
            <a:r>
              <a:rPr lang="en-US" altLang="ko-KR" sz="950" dirty="0">
                <a:solidFill>
                  <a:schemeClr val="accent2"/>
                </a:solidFill>
                <a:latin typeface="+mn-ea"/>
              </a:rPr>
              <a:t>2. </a:t>
            </a:r>
            <a:r>
              <a:rPr lang="ko-KR" altLang="en-US" sz="950" dirty="0">
                <a:solidFill>
                  <a:schemeClr val="accent2"/>
                </a:solidFill>
                <a:latin typeface="+mn-ea"/>
              </a:rPr>
              <a:t>법 제</a:t>
            </a:r>
            <a:r>
              <a:rPr lang="en-US" altLang="ko-KR" sz="950" dirty="0">
                <a:solidFill>
                  <a:schemeClr val="accent2"/>
                </a:solidFill>
                <a:latin typeface="+mn-ea"/>
              </a:rPr>
              <a:t>198</a:t>
            </a:r>
            <a:r>
              <a:rPr lang="ko-KR" altLang="en-US" sz="950" dirty="0">
                <a:solidFill>
                  <a:schemeClr val="accent2"/>
                </a:solidFill>
                <a:latin typeface="+mn-ea"/>
              </a:rPr>
              <a:t>조의</a:t>
            </a:r>
            <a:r>
              <a:rPr lang="en-US" altLang="ko-KR" sz="950" dirty="0">
                <a:solidFill>
                  <a:schemeClr val="accent2"/>
                </a:solidFill>
                <a:latin typeface="+mn-ea"/>
              </a:rPr>
              <a:t>2</a:t>
            </a:r>
            <a:r>
              <a:rPr lang="ko-KR" altLang="en-US" sz="950" dirty="0">
                <a:solidFill>
                  <a:schemeClr val="accent2"/>
                </a:solidFill>
                <a:latin typeface="+mn-ea"/>
              </a:rPr>
              <a:t>에 따라 지식재산처가 「</a:t>
            </a:r>
            <a:r>
              <a:rPr lang="ko-KR" altLang="en-US" sz="950" dirty="0" err="1">
                <a:solidFill>
                  <a:schemeClr val="accent2"/>
                </a:solidFill>
                <a:latin typeface="+mn-ea"/>
              </a:rPr>
              <a:t>특허협력조약」에</a:t>
            </a:r>
            <a:r>
              <a:rPr lang="ko-KR" altLang="en-US" sz="950" dirty="0">
                <a:solidFill>
                  <a:schemeClr val="accent2"/>
                </a:solidFill>
                <a:latin typeface="+mn-ea"/>
              </a:rPr>
              <a:t> 따른 </a:t>
            </a:r>
            <a:r>
              <a:rPr lang="ko-KR" altLang="en-US" sz="950" dirty="0">
                <a:solidFill>
                  <a:srgbClr val="FF0000"/>
                </a:solidFill>
                <a:latin typeface="+mn-ea"/>
              </a:rPr>
              <a:t>국</a:t>
            </a:r>
            <a:r>
              <a:rPr lang="ko-KR" altLang="en-US" sz="950" dirty="0">
                <a:solidFill>
                  <a:schemeClr val="accent2"/>
                </a:solidFill>
                <a:latin typeface="+mn-ea"/>
              </a:rPr>
              <a:t>제조사기관으로서 국제조사를 수행한 </a:t>
            </a:r>
            <a:r>
              <a:rPr lang="ko-KR" altLang="en-US" sz="950" dirty="0" err="1">
                <a:solidFill>
                  <a:schemeClr val="accent2"/>
                </a:solidFill>
                <a:latin typeface="+mn-ea"/>
              </a:rPr>
              <a:t>국제특허출원</a:t>
            </a:r>
            <a:endParaRPr lang="ko-KR" altLang="ko-KR" sz="950" dirty="0">
              <a:solidFill>
                <a:schemeClr val="accent2"/>
              </a:solidFill>
              <a:latin typeface="+mn-ea"/>
            </a:endParaRPr>
          </a:p>
          <a:p>
            <a:pPr lvl="0" algn="just" eaLnBrk="0" fontAlgn="base" latinLnBrk="0" hangingPunct="0">
              <a:spcBef>
                <a:spcPct val="0"/>
              </a:spcBef>
              <a:spcAft>
                <a:spcPct val="0"/>
              </a:spcAft>
            </a:pPr>
            <a:r>
              <a:rPr lang="ko-KR" altLang="ko-KR" sz="950" dirty="0">
                <a:solidFill>
                  <a:schemeClr val="tx2"/>
                </a:solidFill>
                <a:latin typeface="+mn-ea"/>
              </a:rPr>
              <a:t>8. </a:t>
            </a:r>
            <a:r>
              <a:rPr lang="ko-KR" altLang="ko-KR" sz="950" dirty="0">
                <a:solidFill>
                  <a:srgbClr val="FF0000"/>
                </a:solidFill>
                <a:latin typeface="+mn-ea"/>
              </a:rPr>
              <a:t>특</a:t>
            </a:r>
            <a:r>
              <a:rPr lang="ko-KR" altLang="ko-KR" sz="950" dirty="0">
                <a:solidFill>
                  <a:schemeClr val="tx2"/>
                </a:solidFill>
                <a:latin typeface="+mn-ea"/>
              </a:rPr>
              <a:t>허출원인이 </a:t>
            </a:r>
            <a:r>
              <a:rPr lang="ko-KR" altLang="ko-KR" sz="950" dirty="0" err="1">
                <a:solidFill>
                  <a:schemeClr val="tx2"/>
                </a:solidFill>
                <a:latin typeface="+mn-ea"/>
              </a:rPr>
              <a:t>특허출원된</a:t>
            </a:r>
            <a:r>
              <a:rPr lang="ko-KR" altLang="ko-KR" sz="950" dirty="0">
                <a:solidFill>
                  <a:schemeClr val="tx2"/>
                </a:solidFill>
                <a:latin typeface="+mn-ea"/>
              </a:rPr>
              <a:t> 발명을 실시하고 있거나 실시준비중인 특허출원</a:t>
            </a:r>
          </a:p>
          <a:p>
            <a:pPr lvl="0" algn="just" eaLnBrk="0" fontAlgn="base" latinLnBrk="0" hangingPunct="0">
              <a:spcBef>
                <a:spcPct val="0"/>
              </a:spcBef>
              <a:spcAft>
                <a:spcPct val="0"/>
              </a:spcAft>
            </a:pPr>
            <a:r>
              <a:rPr lang="ko-KR" altLang="ko-KR" sz="950" dirty="0">
                <a:solidFill>
                  <a:schemeClr val="tx2"/>
                </a:solidFill>
                <a:latin typeface="+mn-ea"/>
              </a:rPr>
              <a:t>9</a:t>
            </a:r>
            <a:r>
              <a:rPr lang="ko-KR" altLang="ko-KR" sz="950" dirty="0">
                <a:solidFill>
                  <a:srgbClr val="FF0000"/>
                </a:solidFill>
                <a:latin typeface="+mn-ea"/>
              </a:rPr>
              <a:t>. </a:t>
            </a:r>
            <a:r>
              <a:rPr lang="ko-KR" altLang="en-US" sz="950" dirty="0">
                <a:solidFill>
                  <a:srgbClr val="FF0000"/>
                </a:solidFill>
                <a:latin typeface="+mn-ea"/>
              </a:rPr>
              <a:t>삭제</a:t>
            </a:r>
            <a:r>
              <a:rPr lang="en-US" altLang="ko-KR" sz="950" dirty="0">
                <a:solidFill>
                  <a:srgbClr val="FF0000"/>
                </a:solidFill>
                <a:latin typeface="+mn-ea"/>
              </a:rPr>
              <a:t>&lt;2019. 7. 9.&gt;</a:t>
            </a:r>
            <a:endParaRPr lang="ko-KR" altLang="ko-KR" sz="950" dirty="0">
              <a:solidFill>
                <a:schemeClr val="tx2"/>
              </a:solidFill>
              <a:latin typeface="+mn-ea"/>
            </a:endParaRPr>
          </a:p>
          <a:p>
            <a:pPr lvl="0" algn="just" eaLnBrk="0" fontAlgn="base" latinLnBrk="0" hangingPunct="0">
              <a:spcBef>
                <a:spcPct val="0"/>
              </a:spcBef>
              <a:spcAft>
                <a:spcPct val="0"/>
              </a:spcAft>
            </a:pPr>
            <a:r>
              <a:rPr lang="ko-KR" altLang="ko-KR" sz="950" dirty="0">
                <a:solidFill>
                  <a:schemeClr val="accent2"/>
                </a:solidFill>
                <a:latin typeface="+mn-ea"/>
              </a:rPr>
              <a:t>10. </a:t>
            </a:r>
            <a:r>
              <a:rPr lang="ko-KR" altLang="en-US" sz="950" dirty="0">
                <a:solidFill>
                  <a:srgbClr val="FF0000"/>
                </a:solidFill>
                <a:latin typeface="+mn-ea"/>
              </a:rPr>
              <a:t>지식재산처장이</a:t>
            </a:r>
            <a:r>
              <a:rPr lang="ko-KR" altLang="ko-KR" sz="950" dirty="0">
                <a:solidFill>
                  <a:schemeClr val="accent2"/>
                </a:solidFill>
                <a:latin typeface="+mn-ea"/>
              </a:rPr>
              <a:t> 외국</a:t>
            </a:r>
            <a:r>
              <a:rPr lang="en-US" altLang="ko-KR" sz="950" dirty="0">
                <a:solidFill>
                  <a:schemeClr val="accent2"/>
                </a:solidFill>
                <a:latin typeface="+mn-ea"/>
              </a:rPr>
              <a:t> </a:t>
            </a:r>
            <a:r>
              <a:rPr lang="ko-KR" altLang="ko-KR" sz="950">
                <a:solidFill>
                  <a:schemeClr val="accent2"/>
                </a:solidFill>
                <a:latin typeface="+mn-ea"/>
              </a:rPr>
              <a:t>특허</a:t>
            </a:r>
            <a:r>
              <a:rPr lang="ko-KR" altLang="en-US" sz="950">
                <a:solidFill>
                  <a:schemeClr val="accent2"/>
                </a:solidFill>
                <a:latin typeface="+mn-ea"/>
              </a:rPr>
              <a:t>담당 정부기관의 </a:t>
            </a:r>
            <a:r>
              <a:rPr lang="ko-KR" altLang="ko-KR" sz="950">
                <a:solidFill>
                  <a:schemeClr val="accent2"/>
                </a:solidFill>
                <a:latin typeface="+mn-ea"/>
              </a:rPr>
              <a:t>장과 </a:t>
            </a:r>
            <a:r>
              <a:rPr lang="ko-KR" altLang="ko-KR" sz="950" dirty="0">
                <a:solidFill>
                  <a:schemeClr val="accent2"/>
                </a:solidFill>
                <a:latin typeface="+mn-ea"/>
              </a:rPr>
              <a:t>우선심사하기로 합의한 특허출원</a:t>
            </a:r>
          </a:p>
          <a:p>
            <a:pPr lvl="0" algn="just" eaLnBrk="0" fontAlgn="base" latinLnBrk="0" hangingPunct="0">
              <a:spcBef>
                <a:spcPct val="0"/>
              </a:spcBef>
              <a:spcAft>
                <a:spcPct val="0"/>
              </a:spcAft>
            </a:pPr>
            <a:r>
              <a:rPr lang="ko-KR" altLang="ko-KR" sz="950" dirty="0">
                <a:solidFill>
                  <a:schemeClr val="tx2"/>
                </a:solidFill>
                <a:latin typeface="+mn-ea"/>
              </a:rPr>
              <a:t>11. </a:t>
            </a:r>
            <a:r>
              <a:rPr lang="ko-KR" altLang="en-US" sz="950" dirty="0">
                <a:solidFill>
                  <a:srgbClr val="FF0000"/>
                </a:solidFill>
                <a:latin typeface="+mn-ea"/>
              </a:rPr>
              <a:t>삭제</a:t>
            </a:r>
            <a:r>
              <a:rPr lang="en-US" altLang="ko-KR" sz="950" dirty="0">
                <a:solidFill>
                  <a:srgbClr val="FF0000"/>
                </a:solidFill>
                <a:latin typeface="+mn-ea"/>
              </a:rPr>
              <a:t>&lt;2023. 12. 19.&gt;</a:t>
            </a:r>
            <a:endParaRPr lang="ko-KR" altLang="ko-KR" sz="950" dirty="0">
              <a:solidFill>
                <a:schemeClr val="tx2"/>
              </a:solidFill>
              <a:latin typeface="+mn-ea"/>
            </a:endParaRPr>
          </a:p>
          <a:p>
            <a:pPr lvl="0" algn="just" eaLnBrk="0" fontAlgn="base" latinLnBrk="0" hangingPunct="0">
              <a:spcBef>
                <a:spcPct val="0"/>
              </a:spcBef>
              <a:spcAft>
                <a:spcPct val="0"/>
              </a:spcAft>
            </a:pPr>
            <a:r>
              <a:rPr lang="ko-KR" altLang="ko-KR" sz="950" dirty="0">
                <a:solidFill>
                  <a:schemeClr val="tx2"/>
                </a:solidFill>
                <a:latin typeface="+mn-ea"/>
              </a:rPr>
              <a:t>12. </a:t>
            </a:r>
            <a:r>
              <a:rPr lang="ko-KR" altLang="en-US" sz="950" dirty="0">
                <a:solidFill>
                  <a:srgbClr val="FF0000"/>
                </a:solidFill>
                <a:latin typeface="+mn-ea"/>
              </a:rPr>
              <a:t>삭제</a:t>
            </a:r>
            <a:r>
              <a:rPr lang="en-US" altLang="ko-KR" sz="950" dirty="0">
                <a:solidFill>
                  <a:srgbClr val="FF0000"/>
                </a:solidFill>
                <a:latin typeface="+mn-ea"/>
              </a:rPr>
              <a:t>&lt;2023. 12. 19.&gt; </a:t>
            </a:r>
          </a:p>
          <a:p>
            <a:pPr lvl="0" algn="just" eaLnBrk="0" fontAlgn="base" latinLnBrk="0" hangingPunct="0">
              <a:spcBef>
                <a:spcPct val="0"/>
              </a:spcBef>
              <a:spcAft>
                <a:spcPct val="0"/>
              </a:spcAft>
            </a:pPr>
            <a:r>
              <a:rPr lang="ko-KR" altLang="en-US" sz="950" dirty="0">
                <a:solidFill>
                  <a:schemeClr val="tx2"/>
                </a:solidFill>
                <a:latin typeface="+mn-ea"/>
              </a:rPr>
              <a:t>② 법 제</a:t>
            </a:r>
            <a:r>
              <a:rPr lang="en-US" altLang="ko-KR" sz="950" dirty="0">
                <a:solidFill>
                  <a:schemeClr val="tx2"/>
                </a:solidFill>
                <a:latin typeface="+mn-ea"/>
              </a:rPr>
              <a:t>61</a:t>
            </a:r>
            <a:r>
              <a:rPr lang="ko-KR" altLang="en-US" sz="950" dirty="0">
                <a:solidFill>
                  <a:schemeClr val="tx2"/>
                </a:solidFill>
                <a:latin typeface="+mn-ea"/>
              </a:rPr>
              <a:t>조제</a:t>
            </a:r>
            <a:r>
              <a:rPr lang="en-US" altLang="ko-KR" sz="950" dirty="0">
                <a:solidFill>
                  <a:schemeClr val="tx2"/>
                </a:solidFill>
                <a:latin typeface="+mn-ea"/>
              </a:rPr>
              <a:t>3</a:t>
            </a:r>
            <a:r>
              <a:rPr lang="ko-KR" altLang="en-US" sz="950" dirty="0">
                <a:solidFill>
                  <a:schemeClr val="tx2"/>
                </a:solidFill>
                <a:latin typeface="+mn-ea"/>
              </a:rPr>
              <a:t>호에서 “대통령령으로 정하는 </a:t>
            </a:r>
            <a:r>
              <a:rPr lang="ko-KR" altLang="en-US" sz="950" dirty="0" err="1">
                <a:solidFill>
                  <a:schemeClr val="tx2"/>
                </a:solidFill>
                <a:latin typeface="+mn-ea"/>
              </a:rPr>
              <a:t>특허출원”이란</a:t>
            </a:r>
            <a:r>
              <a:rPr lang="ko-KR" altLang="en-US" sz="950" dirty="0">
                <a:solidFill>
                  <a:schemeClr val="tx2"/>
                </a:solidFill>
                <a:latin typeface="+mn-ea"/>
              </a:rPr>
              <a:t> 다음 각 호의 어느 하나에 해당하는 특허출원을 말한다</a:t>
            </a:r>
            <a:r>
              <a:rPr lang="en-US" altLang="ko-KR" sz="950" dirty="0">
                <a:solidFill>
                  <a:schemeClr val="tx2"/>
                </a:solidFill>
                <a:latin typeface="+mn-ea"/>
              </a:rPr>
              <a:t>.  &lt;</a:t>
            </a:r>
            <a:r>
              <a:rPr lang="ko-KR" altLang="en-US" sz="950" dirty="0">
                <a:solidFill>
                  <a:schemeClr val="tx2"/>
                </a:solidFill>
                <a:latin typeface="+mn-ea"/>
              </a:rPr>
              <a:t>신설 </a:t>
            </a:r>
            <a:r>
              <a:rPr lang="en-US" altLang="ko-KR" sz="950" dirty="0">
                <a:solidFill>
                  <a:schemeClr val="tx2"/>
                </a:solidFill>
                <a:latin typeface="+mn-ea"/>
              </a:rPr>
              <a:t>2021. 6. 22.&gt;</a:t>
            </a:r>
          </a:p>
          <a:p>
            <a:pPr lvl="0" algn="just" eaLnBrk="0" fontAlgn="base" latinLnBrk="0" hangingPunct="0">
              <a:spcBef>
                <a:spcPct val="0"/>
              </a:spcBef>
              <a:spcAft>
                <a:spcPct val="0"/>
              </a:spcAft>
            </a:pPr>
            <a:r>
              <a:rPr lang="en-US" altLang="ko-KR" sz="950" dirty="0">
                <a:solidFill>
                  <a:schemeClr val="tx2"/>
                </a:solidFill>
                <a:latin typeface="+mn-ea"/>
              </a:rPr>
              <a:t> 1. </a:t>
            </a:r>
            <a:r>
              <a:rPr lang="ko-KR" altLang="en-US" sz="950" dirty="0">
                <a:solidFill>
                  <a:schemeClr val="tx2"/>
                </a:solidFill>
                <a:latin typeface="+mn-ea"/>
              </a:rPr>
              <a:t>다음 각 목의 어느 하나에 해당하는 것으로서 지식재산처장이 정하여 고시하는 특허출원</a:t>
            </a:r>
          </a:p>
          <a:p>
            <a:pPr lvl="0" algn="just" eaLnBrk="0" fontAlgn="base" latinLnBrk="0" hangingPunct="0">
              <a:spcBef>
                <a:spcPct val="0"/>
              </a:spcBef>
              <a:spcAft>
                <a:spcPct val="0"/>
              </a:spcAft>
            </a:pPr>
            <a:r>
              <a:rPr lang="ko-KR" altLang="en-US" sz="950" dirty="0">
                <a:solidFill>
                  <a:schemeClr val="tx2"/>
                </a:solidFill>
                <a:latin typeface="+mn-ea"/>
              </a:rPr>
              <a:t>    가</a:t>
            </a:r>
            <a:r>
              <a:rPr lang="en-US" altLang="ko-KR" sz="950" dirty="0">
                <a:solidFill>
                  <a:schemeClr val="tx2"/>
                </a:solidFill>
                <a:latin typeface="+mn-ea"/>
              </a:rPr>
              <a:t>. </a:t>
            </a:r>
            <a:r>
              <a:rPr lang="ko-KR" altLang="en-US" sz="950" dirty="0">
                <a:solidFill>
                  <a:schemeClr val="tx2"/>
                </a:solidFill>
                <a:latin typeface="+mn-ea"/>
              </a:rPr>
              <a:t>「감염병의 예방 및 관리에 관한 법률」 제</a:t>
            </a:r>
            <a:r>
              <a:rPr lang="en-US" altLang="ko-KR" sz="950" dirty="0">
                <a:solidFill>
                  <a:schemeClr val="tx2"/>
                </a:solidFill>
                <a:latin typeface="+mn-ea"/>
              </a:rPr>
              <a:t>2</a:t>
            </a:r>
            <a:r>
              <a:rPr lang="ko-KR" altLang="en-US" sz="950" dirty="0">
                <a:solidFill>
                  <a:schemeClr val="tx2"/>
                </a:solidFill>
                <a:latin typeface="+mn-ea"/>
              </a:rPr>
              <a:t>조제</a:t>
            </a:r>
            <a:r>
              <a:rPr lang="en-US" altLang="ko-KR" sz="950" dirty="0">
                <a:solidFill>
                  <a:schemeClr val="tx2"/>
                </a:solidFill>
                <a:latin typeface="+mn-ea"/>
              </a:rPr>
              <a:t>21</a:t>
            </a:r>
            <a:r>
              <a:rPr lang="ko-KR" altLang="en-US" sz="950" dirty="0">
                <a:solidFill>
                  <a:schemeClr val="tx2"/>
                </a:solidFill>
                <a:latin typeface="+mn-ea"/>
              </a:rPr>
              <a:t>호에 따른 </a:t>
            </a:r>
            <a:r>
              <a:rPr lang="ko-KR" altLang="en-US" sz="950" dirty="0" err="1">
                <a:solidFill>
                  <a:srgbClr val="FF0000"/>
                </a:solidFill>
                <a:latin typeface="+mn-ea"/>
              </a:rPr>
              <a:t>의료ㆍ방역</a:t>
            </a:r>
            <a:r>
              <a:rPr lang="ko-KR" altLang="en-US" sz="950" dirty="0">
                <a:solidFill>
                  <a:srgbClr val="FF0000"/>
                </a:solidFill>
                <a:latin typeface="+mn-ea"/>
              </a:rPr>
              <a:t> 물품</a:t>
            </a:r>
            <a:r>
              <a:rPr lang="ko-KR" altLang="en-US" sz="950" dirty="0">
                <a:solidFill>
                  <a:schemeClr val="tx2"/>
                </a:solidFill>
                <a:latin typeface="+mn-ea"/>
              </a:rPr>
              <a:t>과 직접 관련된 특허출원</a:t>
            </a:r>
          </a:p>
          <a:p>
            <a:pPr lvl="0" algn="just" eaLnBrk="0" fontAlgn="base" latinLnBrk="0" hangingPunct="0">
              <a:spcBef>
                <a:spcPct val="0"/>
              </a:spcBef>
              <a:spcAft>
                <a:spcPct val="0"/>
              </a:spcAft>
            </a:pPr>
            <a:r>
              <a:rPr lang="ko-KR" altLang="en-US" sz="950" dirty="0">
                <a:solidFill>
                  <a:schemeClr val="tx2"/>
                </a:solidFill>
                <a:latin typeface="+mn-ea"/>
              </a:rPr>
              <a:t>    나</a:t>
            </a:r>
            <a:r>
              <a:rPr lang="en-US" altLang="ko-KR" sz="950" dirty="0">
                <a:solidFill>
                  <a:schemeClr val="tx2"/>
                </a:solidFill>
                <a:latin typeface="+mn-ea"/>
              </a:rPr>
              <a:t>. </a:t>
            </a:r>
            <a:r>
              <a:rPr lang="ko-KR" altLang="en-US" sz="950" dirty="0">
                <a:solidFill>
                  <a:schemeClr val="tx2"/>
                </a:solidFill>
                <a:latin typeface="+mn-ea"/>
              </a:rPr>
              <a:t>「재난안전산업 진흥법」 제</a:t>
            </a:r>
            <a:r>
              <a:rPr lang="en-US" altLang="ko-KR" sz="950" dirty="0">
                <a:solidFill>
                  <a:schemeClr val="tx2"/>
                </a:solidFill>
                <a:latin typeface="+mn-ea"/>
              </a:rPr>
              <a:t>16</a:t>
            </a:r>
            <a:r>
              <a:rPr lang="ko-KR" altLang="en-US" sz="950" dirty="0">
                <a:solidFill>
                  <a:schemeClr val="tx2"/>
                </a:solidFill>
                <a:latin typeface="+mn-ea"/>
              </a:rPr>
              <a:t>조에 따라 인증을 받은 </a:t>
            </a:r>
            <a:r>
              <a:rPr lang="ko-KR" altLang="en-US" sz="950" dirty="0">
                <a:solidFill>
                  <a:srgbClr val="FF0000"/>
                </a:solidFill>
                <a:latin typeface="+mn-ea"/>
              </a:rPr>
              <a:t>재난안전제품</a:t>
            </a:r>
            <a:r>
              <a:rPr lang="ko-KR" altLang="en-US" sz="950" dirty="0">
                <a:solidFill>
                  <a:schemeClr val="tx2"/>
                </a:solidFill>
                <a:latin typeface="+mn-ea"/>
              </a:rPr>
              <a:t>과 직접 관련된 특허출원</a:t>
            </a:r>
          </a:p>
          <a:p>
            <a:pPr lvl="0" algn="just" eaLnBrk="0" fontAlgn="base" latinLnBrk="0" hangingPunct="0">
              <a:spcBef>
                <a:spcPct val="0"/>
              </a:spcBef>
              <a:spcAft>
                <a:spcPct val="0"/>
              </a:spcAft>
            </a:pPr>
            <a:r>
              <a:rPr lang="ko-KR" altLang="en-US" sz="950" dirty="0">
                <a:solidFill>
                  <a:schemeClr val="tx2"/>
                </a:solidFill>
                <a:latin typeface="+mn-ea"/>
              </a:rPr>
              <a:t> </a:t>
            </a:r>
            <a:r>
              <a:rPr lang="en-US" altLang="ko-KR" sz="950" dirty="0">
                <a:solidFill>
                  <a:schemeClr val="tx2"/>
                </a:solidFill>
                <a:latin typeface="+mn-ea"/>
              </a:rPr>
              <a:t>2. </a:t>
            </a:r>
            <a:r>
              <a:rPr lang="ko-KR" altLang="en-US" sz="950" dirty="0">
                <a:solidFill>
                  <a:schemeClr val="tx2"/>
                </a:solidFill>
                <a:latin typeface="+mn-ea"/>
              </a:rPr>
              <a:t>재난으로 인한 긴급한 상황에 대응하기 위해 지식재산처장이 우선심사 신청 기간을 정해 </a:t>
            </a:r>
            <a:r>
              <a:rPr lang="ko-KR" altLang="en-US" sz="950" dirty="0">
                <a:solidFill>
                  <a:srgbClr val="FF0000"/>
                </a:solidFill>
                <a:latin typeface="+mn-ea"/>
              </a:rPr>
              <a:t>공고</a:t>
            </a:r>
            <a:r>
              <a:rPr lang="ko-KR" altLang="en-US" sz="950" dirty="0">
                <a:solidFill>
                  <a:schemeClr val="tx2"/>
                </a:solidFill>
                <a:latin typeface="+mn-ea"/>
              </a:rPr>
              <a:t>한 대상에 해당하는 특허출원</a:t>
            </a:r>
            <a:endParaRPr lang="en-US" altLang="ko-KR" sz="950" dirty="0">
              <a:solidFill>
                <a:schemeClr val="tx2"/>
              </a:solidFill>
              <a:latin typeface="+mn-ea"/>
            </a:endParaRPr>
          </a:p>
        </p:txBody>
      </p:sp>
      <p:sp>
        <p:nvSpPr>
          <p:cNvPr id="7" name="직사각형 6"/>
          <p:cNvSpPr/>
          <p:nvPr/>
        </p:nvSpPr>
        <p:spPr>
          <a:xfrm>
            <a:off x="6122634" y="5761262"/>
            <a:ext cx="5970500" cy="677108"/>
          </a:xfrm>
          <a:prstGeom prst="rect">
            <a:avLst/>
          </a:prstGeom>
          <a:solidFill>
            <a:schemeClr val="accent1">
              <a:lumMod val="20000"/>
              <a:lumOff val="80000"/>
            </a:schemeClr>
          </a:solidFill>
          <a:ln>
            <a:solidFill>
              <a:schemeClr val="bg1">
                <a:lumMod val="50000"/>
              </a:schemeClr>
            </a:solidFill>
          </a:ln>
        </p:spPr>
        <p:txBody>
          <a:bodyPr wrap="square">
            <a:spAutoFit/>
          </a:bodyPr>
          <a:lstStyle/>
          <a:p>
            <a:r>
              <a:rPr lang="en-US" altLang="ko-KR" sz="950" dirty="0">
                <a:solidFill>
                  <a:schemeClr val="accent4">
                    <a:lumMod val="50000"/>
                  </a:schemeClr>
                </a:solidFill>
              </a:rPr>
              <a:t>1. </a:t>
            </a:r>
            <a:r>
              <a:rPr lang="ko-KR" altLang="en-US" sz="950" dirty="0">
                <a:solidFill>
                  <a:schemeClr val="accent4">
                    <a:lumMod val="50000"/>
                  </a:schemeClr>
                </a:solidFill>
              </a:rPr>
              <a:t>첨단</a:t>
            </a:r>
            <a:r>
              <a:rPr lang="ko-KR" altLang="en-US" sz="950" dirty="0">
                <a:solidFill>
                  <a:srgbClr val="FF0000"/>
                </a:solidFill>
              </a:rPr>
              <a:t>의</a:t>
            </a:r>
            <a:r>
              <a:rPr lang="ko-KR" altLang="en-US" sz="950" dirty="0">
                <a:solidFill>
                  <a:schemeClr val="accent4">
                    <a:lumMod val="50000"/>
                  </a:schemeClr>
                </a:solidFill>
              </a:rPr>
              <a:t>료복합단지 지정 및 지원에 관한 특별법 제</a:t>
            </a:r>
            <a:r>
              <a:rPr lang="en-US" altLang="ko-KR" sz="950" dirty="0">
                <a:solidFill>
                  <a:schemeClr val="accent4">
                    <a:lumMod val="50000"/>
                  </a:schemeClr>
                </a:solidFill>
              </a:rPr>
              <a:t>26</a:t>
            </a:r>
            <a:r>
              <a:rPr lang="ko-KR" altLang="en-US" sz="950" dirty="0">
                <a:solidFill>
                  <a:schemeClr val="accent4">
                    <a:lumMod val="50000"/>
                  </a:schemeClr>
                </a:solidFill>
              </a:rPr>
              <a:t>조에 따라 규제 특례가 적용되는 입주의료연구개발기관이 제출한 첨단의료복합단지 내 의료연구개발과 관련한 특허출원</a:t>
            </a:r>
          </a:p>
          <a:p>
            <a:r>
              <a:rPr lang="en-US" altLang="ko-KR" sz="950" dirty="0">
                <a:solidFill>
                  <a:schemeClr val="accent4">
                    <a:lumMod val="50000"/>
                  </a:schemeClr>
                </a:solidFill>
              </a:rPr>
              <a:t>2. </a:t>
            </a:r>
            <a:r>
              <a:rPr lang="ko-KR" altLang="en-US" sz="950" dirty="0">
                <a:solidFill>
                  <a:srgbClr val="FF0000"/>
                </a:solidFill>
              </a:rPr>
              <a:t>규</a:t>
            </a:r>
            <a:r>
              <a:rPr lang="ko-KR" altLang="en-US" sz="950" dirty="0">
                <a:solidFill>
                  <a:schemeClr val="accent4">
                    <a:lumMod val="50000"/>
                  </a:schemeClr>
                </a:solidFill>
              </a:rPr>
              <a:t>제자유특구 및 </a:t>
            </a:r>
            <a:r>
              <a:rPr lang="ko-KR" altLang="en-US" sz="950" dirty="0" err="1">
                <a:solidFill>
                  <a:schemeClr val="accent4">
                    <a:lumMod val="50000"/>
                  </a:schemeClr>
                </a:solidFill>
              </a:rPr>
              <a:t>지역특화발전특구에</a:t>
            </a:r>
            <a:r>
              <a:rPr lang="ko-KR" altLang="en-US" sz="950" dirty="0">
                <a:solidFill>
                  <a:schemeClr val="accent4">
                    <a:lumMod val="50000"/>
                  </a:schemeClr>
                </a:solidFill>
              </a:rPr>
              <a:t> 대한 규제특례법 제</a:t>
            </a:r>
            <a:r>
              <a:rPr lang="en-US" altLang="ko-KR" sz="950" dirty="0">
                <a:solidFill>
                  <a:schemeClr val="accent4">
                    <a:lumMod val="50000"/>
                  </a:schemeClr>
                </a:solidFill>
              </a:rPr>
              <a:t>36</a:t>
            </a:r>
            <a:r>
              <a:rPr lang="ko-KR" altLang="en-US" sz="950" dirty="0">
                <a:solidFill>
                  <a:schemeClr val="accent4">
                    <a:lumMod val="50000"/>
                  </a:schemeClr>
                </a:solidFill>
              </a:rPr>
              <a:t>조의</a:t>
            </a:r>
            <a:r>
              <a:rPr lang="en-US" altLang="ko-KR" sz="950" dirty="0">
                <a:solidFill>
                  <a:schemeClr val="accent4">
                    <a:lumMod val="50000"/>
                  </a:schemeClr>
                </a:solidFill>
              </a:rPr>
              <a:t>8</a:t>
            </a:r>
            <a:r>
              <a:rPr lang="ko-KR" altLang="en-US" sz="950" dirty="0">
                <a:solidFill>
                  <a:schemeClr val="accent4">
                    <a:lumMod val="50000"/>
                  </a:schemeClr>
                </a:solidFill>
              </a:rPr>
              <a:t>에 따라 </a:t>
            </a:r>
            <a:r>
              <a:rPr lang="ko-KR" altLang="en-US" sz="950" dirty="0" err="1">
                <a:solidFill>
                  <a:schemeClr val="accent4">
                    <a:lumMod val="50000"/>
                  </a:schemeClr>
                </a:solidFill>
              </a:rPr>
              <a:t>규제특례가</a:t>
            </a:r>
            <a:r>
              <a:rPr lang="ko-KR" altLang="en-US" sz="950" dirty="0">
                <a:solidFill>
                  <a:schemeClr val="accent4">
                    <a:lumMod val="50000"/>
                  </a:schemeClr>
                </a:solidFill>
              </a:rPr>
              <a:t> 적용된 </a:t>
            </a:r>
            <a:r>
              <a:rPr lang="ko-KR" altLang="en-US" sz="950" dirty="0" err="1">
                <a:solidFill>
                  <a:schemeClr val="accent4">
                    <a:lumMod val="50000"/>
                  </a:schemeClr>
                </a:solidFill>
              </a:rPr>
              <a:t>특화사업과</a:t>
            </a:r>
            <a:r>
              <a:rPr lang="ko-KR" altLang="en-US" sz="950" dirty="0">
                <a:solidFill>
                  <a:schemeClr val="accent4">
                    <a:lumMod val="50000"/>
                  </a:schemeClr>
                </a:solidFill>
              </a:rPr>
              <a:t> 직접 관련된 특허출원</a:t>
            </a:r>
          </a:p>
        </p:txBody>
      </p:sp>
      <p:sp>
        <p:nvSpPr>
          <p:cNvPr id="34" name="TextBox 33"/>
          <p:cNvSpPr txBox="1"/>
          <p:nvPr/>
        </p:nvSpPr>
        <p:spPr>
          <a:xfrm>
            <a:off x="6126250" y="948974"/>
            <a:ext cx="5970500" cy="823302"/>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just" fontAlgn="base"/>
            <a:r>
              <a:rPr lang="ko-KR" altLang="en-US" sz="950" b="1" dirty="0" err="1">
                <a:solidFill>
                  <a:schemeClr val="accent1"/>
                </a:solidFill>
              </a:rPr>
              <a:t>실용법</a:t>
            </a:r>
            <a:r>
              <a:rPr lang="ko-KR" altLang="en-US" sz="950" b="1" dirty="0">
                <a:solidFill>
                  <a:schemeClr val="accent1"/>
                </a:solidFill>
              </a:rPr>
              <a:t> 제</a:t>
            </a:r>
            <a:r>
              <a:rPr lang="en-US" altLang="ko-KR" sz="950" b="1" dirty="0">
                <a:solidFill>
                  <a:schemeClr val="accent1"/>
                </a:solidFill>
              </a:rPr>
              <a:t>15</a:t>
            </a:r>
            <a:r>
              <a:rPr lang="ko-KR" altLang="en-US" sz="950" b="1" dirty="0">
                <a:solidFill>
                  <a:schemeClr val="accent1"/>
                </a:solidFill>
              </a:rPr>
              <a:t>조</a:t>
            </a:r>
            <a:r>
              <a:rPr lang="en-US" altLang="ko-KR" sz="950" b="1" dirty="0">
                <a:solidFill>
                  <a:schemeClr val="accent1"/>
                </a:solidFill>
              </a:rPr>
              <a:t>(</a:t>
            </a:r>
            <a:r>
              <a:rPr lang="ko-KR" altLang="en-US" sz="950" b="1" dirty="0">
                <a:solidFill>
                  <a:schemeClr val="accent1"/>
                </a:solidFill>
              </a:rPr>
              <a:t>「</a:t>
            </a:r>
            <a:r>
              <a:rPr lang="ko-KR" altLang="en-US" sz="950" b="1" dirty="0" err="1">
                <a:solidFill>
                  <a:schemeClr val="accent1"/>
                </a:solidFill>
              </a:rPr>
              <a:t>특허법」의</a:t>
            </a:r>
            <a:r>
              <a:rPr lang="ko-KR" altLang="en-US" sz="950" b="1" dirty="0">
                <a:solidFill>
                  <a:schemeClr val="accent1"/>
                </a:solidFill>
              </a:rPr>
              <a:t> 준용</a:t>
            </a:r>
            <a:r>
              <a:rPr lang="en-US" altLang="ko-KR" sz="950" b="1" dirty="0">
                <a:solidFill>
                  <a:schemeClr val="accent1"/>
                </a:solidFill>
              </a:rPr>
              <a:t>) </a:t>
            </a:r>
            <a:r>
              <a:rPr lang="ko-KR" altLang="en-US" sz="950" dirty="0">
                <a:solidFill>
                  <a:schemeClr val="tx2"/>
                </a:solidFill>
              </a:rPr>
              <a:t>실용신안등록출원의 </a:t>
            </a:r>
            <a:r>
              <a:rPr lang="ko-KR" altLang="en-US" sz="950" dirty="0" err="1">
                <a:solidFill>
                  <a:schemeClr val="tx2"/>
                </a:solidFill>
              </a:rPr>
              <a:t>심사ㆍ결정에</a:t>
            </a:r>
            <a:r>
              <a:rPr lang="ko-KR" altLang="en-US" sz="950" dirty="0">
                <a:solidFill>
                  <a:schemeClr val="tx2"/>
                </a:solidFill>
              </a:rPr>
              <a:t> 관하여는 「특허법」 제</a:t>
            </a:r>
            <a:r>
              <a:rPr lang="en-US" altLang="ko-KR" sz="950" dirty="0">
                <a:solidFill>
                  <a:schemeClr val="tx2"/>
                </a:solidFill>
              </a:rPr>
              <a:t>57</a:t>
            </a:r>
            <a:r>
              <a:rPr lang="ko-KR" altLang="en-US" sz="950" dirty="0">
                <a:solidFill>
                  <a:schemeClr val="tx2"/>
                </a:solidFill>
              </a:rPr>
              <a:t>조</a:t>
            </a:r>
            <a:r>
              <a:rPr lang="en-US" altLang="ko-KR" sz="950" dirty="0">
                <a:solidFill>
                  <a:schemeClr val="tx2"/>
                </a:solidFill>
              </a:rPr>
              <a:t>, </a:t>
            </a:r>
            <a:r>
              <a:rPr lang="ko-KR" altLang="en-US" sz="950" dirty="0">
                <a:solidFill>
                  <a:schemeClr val="tx2"/>
                </a:solidFill>
              </a:rPr>
              <a:t>제</a:t>
            </a:r>
            <a:r>
              <a:rPr lang="en-US" altLang="ko-KR" sz="950" dirty="0">
                <a:solidFill>
                  <a:schemeClr val="tx2"/>
                </a:solidFill>
              </a:rPr>
              <a:t>58</a:t>
            </a:r>
            <a:r>
              <a:rPr lang="ko-KR" altLang="en-US" sz="950" dirty="0">
                <a:solidFill>
                  <a:schemeClr val="tx2"/>
                </a:solidFill>
              </a:rPr>
              <a:t>조</a:t>
            </a:r>
            <a:r>
              <a:rPr lang="en-US" altLang="ko-KR" sz="950" dirty="0">
                <a:solidFill>
                  <a:schemeClr val="tx2"/>
                </a:solidFill>
              </a:rPr>
              <a:t>, </a:t>
            </a:r>
            <a:r>
              <a:rPr lang="ko-KR" altLang="en-US" sz="950" dirty="0">
                <a:solidFill>
                  <a:schemeClr val="tx2"/>
                </a:solidFill>
              </a:rPr>
              <a:t>제</a:t>
            </a:r>
            <a:r>
              <a:rPr lang="en-US" altLang="ko-KR" sz="950" dirty="0">
                <a:solidFill>
                  <a:schemeClr val="tx2"/>
                </a:solidFill>
              </a:rPr>
              <a:t>58</a:t>
            </a:r>
            <a:r>
              <a:rPr lang="ko-KR" altLang="en-US" sz="950" dirty="0">
                <a:solidFill>
                  <a:schemeClr val="tx2"/>
                </a:solidFill>
              </a:rPr>
              <a:t>조의</a:t>
            </a:r>
            <a:r>
              <a:rPr lang="en-US" altLang="ko-KR" sz="950" dirty="0">
                <a:solidFill>
                  <a:schemeClr val="tx2"/>
                </a:solidFill>
              </a:rPr>
              <a:t>2, </a:t>
            </a:r>
            <a:r>
              <a:rPr lang="ko-KR" altLang="en-US" sz="950" dirty="0">
                <a:solidFill>
                  <a:schemeClr val="tx2"/>
                </a:solidFill>
              </a:rPr>
              <a:t>제</a:t>
            </a:r>
            <a:r>
              <a:rPr lang="en-US" altLang="ko-KR" sz="950" dirty="0">
                <a:solidFill>
                  <a:schemeClr val="tx2"/>
                </a:solidFill>
              </a:rPr>
              <a:t>60</a:t>
            </a:r>
            <a:r>
              <a:rPr lang="ko-KR" altLang="en-US" sz="950" dirty="0">
                <a:solidFill>
                  <a:schemeClr val="tx2"/>
                </a:solidFill>
              </a:rPr>
              <a:t>조</a:t>
            </a:r>
            <a:r>
              <a:rPr lang="en-US" altLang="ko-KR" sz="950" dirty="0">
                <a:solidFill>
                  <a:schemeClr val="tx2"/>
                </a:solidFill>
              </a:rPr>
              <a:t>, </a:t>
            </a:r>
            <a:r>
              <a:rPr lang="ko-KR" altLang="en-US" sz="950" dirty="0">
                <a:solidFill>
                  <a:schemeClr val="tx2"/>
                </a:solidFill>
              </a:rPr>
              <a:t>제</a:t>
            </a:r>
            <a:r>
              <a:rPr lang="en-US" altLang="ko-KR" sz="950" dirty="0">
                <a:solidFill>
                  <a:schemeClr val="tx2"/>
                </a:solidFill>
              </a:rPr>
              <a:t>61</a:t>
            </a:r>
            <a:r>
              <a:rPr lang="ko-KR" altLang="en-US" sz="950" dirty="0">
                <a:solidFill>
                  <a:schemeClr val="tx2"/>
                </a:solidFill>
              </a:rPr>
              <a:t>조</a:t>
            </a:r>
            <a:r>
              <a:rPr lang="en-US" altLang="ko-KR" sz="950" dirty="0">
                <a:solidFill>
                  <a:schemeClr val="tx2"/>
                </a:solidFill>
              </a:rPr>
              <a:t>, </a:t>
            </a:r>
            <a:r>
              <a:rPr lang="ko-KR" altLang="en-US" sz="950" dirty="0">
                <a:solidFill>
                  <a:schemeClr val="tx2"/>
                </a:solidFill>
              </a:rPr>
              <a:t>제</a:t>
            </a:r>
            <a:r>
              <a:rPr lang="en-US" altLang="ko-KR" sz="950" dirty="0">
                <a:solidFill>
                  <a:schemeClr val="tx2"/>
                </a:solidFill>
              </a:rPr>
              <a:t>63</a:t>
            </a:r>
            <a:r>
              <a:rPr lang="ko-KR" altLang="en-US" sz="950" dirty="0">
                <a:solidFill>
                  <a:schemeClr val="tx2"/>
                </a:solidFill>
              </a:rPr>
              <a:t>조의</a:t>
            </a:r>
            <a:r>
              <a:rPr lang="en-US" altLang="ko-KR" sz="950" dirty="0">
                <a:solidFill>
                  <a:schemeClr val="tx2"/>
                </a:solidFill>
              </a:rPr>
              <a:t>2, </a:t>
            </a:r>
            <a:r>
              <a:rPr lang="ko-KR" altLang="en-US" sz="950" dirty="0">
                <a:solidFill>
                  <a:schemeClr val="tx2"/>
                </a:solidFill>
              </a:rPr>
              <a:t>제</a:t>
            </a:r>
            <a:r>
              <a:rPr lang="en-US" altLang="ko-KR" sz="950" dirty="0">
                <a:solidFill>
                  <a:schemeClr val="tx2"/>
                </a:solidFill>
              </a:rPr>
              <a:t>63</a:t>
            </a:r>
            <a:r>
              <a:rPr lang="ko-KR" altLang="en-US" sz="950" dirty="0">
                <a:solidFill>
                  <a:schemeClr val="tx2"/>
                </a:solidFill>
              </a:rPr>
              <a:t>조의</a:t>
            </a:r>
            <a:r>
              <a:rPr lang="en-US" altLang="ko-KR" sz="950" dirty="0">
                <a:solidFill>
                  <a:schemeClr val="tx2"/>
                </a:solidFill>
              </a:rPr>
              <a:t>3, </a:t>
            </a:r>
            <a:r>
              <a:rPr lang="ko-KR" altLang="en-US" sz="950" dirty="0">
                <a:solidFill>
                  <a:schemeClr val="tx2"/>
                </a:solidFill>
              </a:rPr>
              <a:t>제</a:t>
            </a:r>
            <a:r>
              <a:rPr lang="en-US" altLang="ko-KR" sz="950" dirty="0">
                <a:solidFill>
                  <a:schemeClr val="tx2"/>
                </a:solidFill>
              </a:rPr>
              <a:t>64</a:t>
            </a:r>
            <a:r>
              <a:rPr lang="ko-KR" altLang="en-US" sz="950" dirty="0">
                <a:solidFill>
                  <a:schemeClr val="tx2"/>
                </a:solidFill>
              </a:rPr>
              <a:t>조부터 제</a:t>
            </a:r>
            <a:r>
              <a:rPr lang="en-US" altLang="ko-KR" sz="950" dirty="0">
                <a:solidFill>
                  <a:schemeClr val="tx2"/>
                </a:solidFill>
              </a:rPr>
              <a:t>66</a:t>
            </a:r>
            <a:r>
              <a:rPr lang="ko-KR" altLang="en-US" sz="950" dirty="0">
                <a:solidFill>
                  <a:schemeClr val="tx2"/>
                </a:solidFill>
              </a:rPr>
              <a:t>조까지</a:t>
            </a:r>
            <a:r>
              <a:rPr lang="en-US" altLang="ko-KR" sz="950" dirty="0">
                <a:solidFill>
                  <a:schemeClr val="tx2"/>
                </a:solidFill>
              </a:rPr>
              <a:t>, </a:t>
            </a:r>
            <a:r>
              <a:rPr lang="ko-KR" altLang="en-US" sz="950" dirty="0">
                <a:solidFill>
                  <a:schemeClr val="tx2"/>
                </a:solidFill>
              </a:rPr>
              <a:t>제</a:t>
            </a:r>
            <a:r>
              <a:rPr lang="en-US" altLang="ko-KR" sz="950" dirty="0">
                <a:solidFill>
                  <a:schemeClr val="tx2"/>
                </a:solidFill>
              </a:rPr>
              <a:t>66</a:t>
            </a:r>
            <a:r>
              <a:rPr lang="ko-KR" altLang="en-US" sz="950" dirty="0">
                <a:solidFill>
                  <a:schemeClr val="tx2"/>
                </a:solidFill>
              </a:rPr>
              <a:t>조의</a:t>
            </a:r>
            <a:r>
              <a:rPr lang="en-US" altLang="ko-KR" sz="950" dirty="0">
                <a:solidFill>
                  <a:schemeClr val="tx2"/>
                </a:solidFill>
              </a:rPr>
              <a:t>2, </a:t>
            </a:r>
            <a:r>
              <a:rPr lang="ko-KR" altLang="en-US" sz="950" dirty="0">
                <a:solidFill>
                  <a:schemeClr val="tx2"/>
                </a:solidFill>
              </a:rPr>
              <a:t>제</a:t>
            </a:r>
            <a:r>
              <a:rPr lang="en-US" altLang="ko-KR" sz="950" dirty="0">
                <a:solidFill>
                  <a:schemeClr val="tx2"/>
                </a:solidFill>
              </a:rPr>
              <a:t>66</a:t>
            </a:r>
            <a:r>
              <a:rPr lang="ko-KR" altLang="en-US" sz="950" dirty="0">
                <a:solidFill>
                  <a:schemeClr val="tx2"/>
                </a:solidFill>
              </a:rPr>
              <a:t>조의</a:t>
            </a:r>
            <a:r>
              <a:rPr lang="en-US" altLang="ko-KR" sz="950" dirty="0">
                <a:solidFill>
                  <a:schemeClr val="tx2"/>
                </a:solidFill>
              </a:rPr>
              <a:t>3, </a:t>
            </a:r>
            <a:r>
              <a:rPr lang="ko-KR" altLang="en-US" sz="950" dirty="0">
                <a:solidFill>
                  <a:schemeClr val="tx2"/>
                </a:solidFill>
              </a:rPr>
              <a:t>제</a:t>
            </a:r>
            <a:r>
              <a:rPr lang="en-US" altLang="ko-KR" sz="950" dirty="0">
                <a:solidFill>
                  <a:schemeClr val="tx2"/>
                </a:solidFill>
              </a:rPr>
              <a:t>67</a:t>
            </a:r>
            <a:r>
              <a:rPr lang="ko-KR" altLang="en-US" sz="950" dirty="0">
                <a:solidFill>
                  <a:schemeClr val="tx2"/>
                </a:solidFill>
              </a:rPr>
              <a:t>조</a:t>
            </a:r>
            <a:r>
              <a:rPr lang="en-US" altLang="ko-KR" sz="950" dirty="0">
                <a:solidFill>
                  <a:schemeClr val="tx2"/>
                </a:solidFill>
              </a:rPr>
              <a:t>, </a:t>
            </a:r>
            <a:r>
              <a:rPr lang="ko-KR" altLang="en-US" sz="950" dirty="0">
                <a:solidFill>
                  <a:schemeClr val="tx2"/>
                </a:solidFill>
              </a:rPr>
              <a:t>제</a:t>
            </a:r>
            <a:r>
              <a:rPr lang="en-US" altLang="ko-KR" sz="950" dirty="0">
                <a:solidFill>
                  <a:schemeClr val="tx2"/>
                </a:solidFill>
              </a:rPr>
              <a:t>67</a:t>
            </a:r>
            <a:r>
              <a:rPr lang="ko-KR" altLang="en-US" sz="950" dirty="0">
                <a:solidFill>
                  <a:schemeClr val="tx2"/>
                </a:solidFill>
              </a:rPr>
              <a:t>조의</a:t>
            </a:r>
            <a:r>
              <a:rPr lang="en-US" altLang="ko-KR" sz="950" dirty="0">
                <a:solidFill>
                  <a:schemeClr val="tx2"/>
                </a:solidFill>
              </a:rPr>
              <a:t>2, </a:t>
            </a:r>
            <a:r>
              <a:rPr lang="ko-KR" altLang="en-US" sz="950" dirty="0">
                <a:solidFill>
                  <a:schemeClr val="tx2"/>
                </a:solidFill>
              </a:rPr>
              <a:t>제</a:t>
            </a:r>
            <a:r>
              <a:rPr lang="en-US" altLang="ko-KR" sz="950" dirty="0">
                <a:solidFill>
                  <a:schemeClr val="tx2"/>
                </a:solidFill>
              </a:rPr>
              <a:t>67</a:t>
            </a:r>
            <a:r>
              <a:rPr lang="ko-KR" altLang="en-US" sz="950" dirty="0">
                <a:solidFill>
                  <a:schemeClr val="tx2"/>
                </a:solidFill>
              </a:rPr>
              <a:t>조의</a:t>
            </a:r>
            <a:r>
              <a:rPr lang="en-US" altLang="ko-KR" sz="950" dirty="0">
                <a:solidFill>
                  <a:schemeClr val="tx2"/>
                </a:solidFill>
              </a:rPr>
              <a:t>3, </a:t>
            </a:r>
            <a:r>
              <a:rPr lang="ko-KR" altLang="en-US" sz="950" dirty="0">
                <a:solidFill>
                  <a:schemeClr val="tx2"/>
                </a:solidFill>
              </a:rPr>
              <a:t>제</a:t>
            </a:r>
            <a:r>
              <a:rPr lang="en-US" altLang="ko-KR" sz="950" dirty="0">
                <a:solidFill>
                  <a:schemeClr val="tx2"/>
                </a:solidFill>
              </a:rPr>
              <a:t>68</a:t>
            </a:r>
            <a:r>
              <a:rPr lang="ko-KR" altLang="en-US" sz="950" dirty="0">
                <a:solidFill>
                  <a:schemeClr val="tx2"/>
                </a:solidFill>
              </a:rPr>
              <a:t>조 및 제</a:t>
            </a:r>
            <a:r>
              <a:rPr lang="en-US" altLang="ko-KR" sz="950" dirty="0">
                <a:solidFill>
                  <a:schemeClr val="tx2"/>
                </a:solidFill>
              </a:rPr>
              <a:t>78</a:t>
            </a:r>
            <a:r>
              <a:rPr lang="ko-KR" altLang="en-US" sz="950" dirty="0">
                <a:solidFill>
                  <a:schemeClr val="tx2"/>
                </a:solidFill>
              </a:rPr>
              <a:t>조를 준용한다</a:t>
            </a:r>
            <a:r>
              <a:rPr lang="en-US" altLang="ko-KR" sz="950" dirty="0">
                <a:solidFill>
                  <a:schemeClr val="tx2"/>
                </a:solidFill>
              </a:rPr>
              <a:t>.  </a:t>
            </a:r>
          </a:p>
        </p:txBody>
      </p:sp>
      <p:sp>
        <p:nvSpPr>
          <p:cNvPr id="35" name="TextBox 34"/>
          <p:cNvSpPr txBox="1"/>
          <p:nvPr/>
        </p:nvSpPr>
        <p:spPr>
          <a:xfrm>
            <a:off x="6126250" y="1820962"/>
            <a:ext cx="5970500" cy="3016210"/>
          </a:xfrm>
          <a:prstGeom prst="rect">
            <a:avLst/>
          </a:prstGeom>
          <a:noFill/>
          <a:ln>
            <a:solidFill>
              <a:schemeClr val="bg1">
                <a:lumMod val="50000"/>
              </a:schemeClr>
            </a:solidFill>
          </a:ln>
        </p:spPr>
        <p:txBody>
          <a:bodyPr wrap="square" rtlCol="0">
            <a:spAutoFit/>
          </a:bodyPr>
          <a:lstStyle/>
          <a:p>
            <a:pPr lvl="0" algn="just" eaLnBrk="0" fontAlgn="base" latinLnBrk="0" hangingPunct="0">
              <a:spcBef>
                <a:spcPct val="0"/>
              </a:spcBef>
              <a:spcAft>
                <a:spcPct val="0"/>
              </a:spcAft>
            </a:pPr>
            <a:r>
              <a:rPr lang="ko-KR" altLang="en-US" sz="950" b="1" dirty="0">
                <a:solidFill>
                  <a:schemeClr val="accent1"/>
                </a:solidFill>
                <a:latin typeface="+mn-ea"/>
              </a:rPr>
              <a:t>시행령 제</a:t>
            </a:r>
            <a:r>
              <a:rPr lang="en-US" altLang="ko-KR" sz="950" b="1" dirty="0">
                <a:solidFill>
                  <a:schemeClr val="accent1"/>
                </a:solidFill>
                <a:latin typeface="+mn-ea"/>
              </a:rPr>
              <a:t>5</a:t>
            </a:r>
            <a:r>
              <a:rPr lang="ko-KR" altLang="en-US" sz="950" b="1" dirty="0">
                <a:solidFill>
                  <a:schemeClr val="accent1"/>
                </a:solidFill>
                <a:latin typeface="+mn-ea"/>
              </a:rPr>
              <a:t>조</a:t>
            </a:r>
            <a:r>
              <a:rPr lang="en-US" altLang="ko-KR" sz="950" b="1" dirty="0">
                <a:solidFill>
                  <a:schemeClr val="accent1"/>
                </a:solidFill>
                <a:latin typeface="+mn-ea"/>
              </a:rPr>
              <a:t>(</a:t>
            </a:r>
            <a:r>
              <a:rPr lang="ko-KR" altLang="en-US" sz="950" b="1" dirty="0" err="1">
                <a:solidFill>
                  <a:schemeClr val="accent1"/>
                </a:solidFill>
                <a:latin typeface="+mn-ea"/>
              </a:rPr>
              <a:t>우선심사의</a:t>
            </a:r>
            <a:r>
              <a:rPr lang="ko-KR" altLang="en-US" sz="950" b="1" dirty="0">
                <a:solidFill>
                  <a:schemeClr val="accent1"/>
                </a:solidFill>
                <a:latin typeface="+mn-ea"/>
              </a:rPr>
              <a:t> 대상</a:t>
            </a:r>
            <a:r>
              <a:rPr lang="en-US" altLang="ko-KR" sz="950" b="1" dirty="0">
                <a:solidFill>
                  <a:schemeClr val="accent1"/>
                </a:solidFill>
                <a:latin typeface="+mn-ea"/>
              </a:rPr>
              <a:t>) </a:t>
            </a:r>
            <a:r>
              <a:rPr lang="ko-KR" altLang="en-US" sz="950" dirty="0">
                <a:solidFill>
                  <a:schemeClr val="tx2"/>
                </a:solidFill>
                <a:latin typeface="+mn-ea"/>
              </a:rPr>
              <a:t>법 제</a:t>
            </a:r>
            <a:r>
              <a:rPr lang="en-US" altLang="ko-KR" sz="950" dirty="0">
                <a:solidFill>
                  <a:schemeClr val="tx2"/>
                </a:solidFill>
                <a:latin typeface="+mn-ea"/>
              </a:rPr>
              <a:t>15</a:t>
            </a:r>
            <a:r>
              <a:rPr lang="ko-KR" altLang="en-US" sz="950" dirty="0">
                <a:solidFill>
                  <a:schemeClr val="tx2"/>
                </a:solidFill>
                <a:latin typeface="+mn-ea"/>
              </a:rPr>
              <a:t>조에서 준용하는 「특허법」 제</a:t>
            </a:r>
            <a:r>
              <a:rPr lang="en-US" altLang="ko-KR" sz="950" dirty="0">
                <a:solidFill>
                  <a:schemeClr val="tx2"/>
                </a:solidFill>
                <a:latin typeface="+mn-ea"/>
              </a:rPr>
              <a:t>61</a:t>
            </a:r>
            <a:r>
              <a:rPr lang="ko-KR" altLang="en-US" sz="950" dirty="0">
                <a:solidFill>
                  <a:schemeClr val="tx2"/>
                </a:solidFill>
                <a:latin typeface="+mn-ea"/>
              </a:rPr>
              <a:t>조제</a:t>
            </a:r>
            <a:r>
              <a:rPr lang="en-US" altLang="ko-KR" sz="950" dirty="0">
                <a:solidFill>
                  <a:schemeClr val="tx2"/>
                </a:solidFill>
                <a:latin typeface="+mn-ea"/>
              </a:rPr>
              <a:t>2</a:t>
            </a:r>
            <a:r>
              <a:rPr lang="ko-KR" altLang="en-US" sz="950" dirty="0">
                <a:solidFill>
                  <a:schemeClr val="tx2"/>
                </a:solidFill>
                <a:latin typeface="+mn-ea"/>
              </a:rPr>
              <a:t>호에서 </a:t>
            </a:r>
            <a:r>
              <a:rPr lang="en-US" altLang="ko-KR" sz="950" dirty="0">
                <a:solidFill>
                  <a:schemeClr val="tx2"/>
                </a:solidFill>
                <a:latin typeface="+mn-ea"/>
              </a:rPr>
              <a:t>"</a:t>
            </a:r>
            <a:r>
              <a:rPr lang="ko-KR" altLang="en-US" sz="950" dirty="0">
                <a:solidFill>
                  <a:schemeClr val="tx2"/>
                </a:solidFill>
                <a:latin typeface="+mn-ea"/>
              </a:rPr>
              <a:t>대통령령으로 정하는 특허출원</a:t>
            </a:r>
            <a:r>
              <a:rPr lang="en-US" altLang="ko-KR" sz="950" dirty="0">
                <a:solidFill>
                  <a:schemeClr val="tx2"/>
                </a:solidFill>
                <a:latin typeface="+mn-ea"/>
              </a:rPr>
              <a:t>"</a:t>
            </a:r>
            <a:r>
              <a:rPr lang="ko-KR" altLang="en-US" sz="950" dirty="0">
                <a:solidFill>
                  <a:schemeClr val="tx2"/>
                </a:solidFill>
                <a:latin typeface="+mn-ea"/>
              </a:rPr>
              <a:t>이란 다음 각 호의 어느 하나에 해당하는 것으로서 지식재산처장이 정하는 실용신안등록출원을 말한다</a:t>
            </a:r>
            <a:r>
              <a:rPr lang="en-US" altLang="ko-KR" sz="950" dirty="0">
                <a:solidFill>
                  <a:schemeClr val="tx2"/>
                </a:solidFill>
                <a:latin typeface="+mn-ea"/>
              </a:rPr>
              <a:t>.  </a:t>
            </a:r>
          </a:p>
          <a:p>
            <a:pPr lvl="0" algn="just" eaLnBrk="0" fontAlgn="base" latinLnBrk="0" hangingPunct="0">
              <a:spcBef>
                <a:spcPct val="0"/>
              </a:spcBef>
              <a:spcAft>
                <a:spcPct val="0"/>
              </a:spcAft>
            </a:pPr>
            <a:r>
              <a:rPr lang="en-US" altLang="ko-KR" sz="950" dirty="0">
                <a:solidFill>
                  <a:schemeClr val="tx2"/>
                </a:solidFill>
                <a:latin typeface="+mn-ea"/>
              </a:rPr>
              <a:t>1. </a:t>
            </a:r>
            <a:r>
              <a:rPr lang="ko-KR" altLang="en-US" sz="950" dirty="0">
                <a:solidFill>
                  <a:schemeClr val="tx2"/>
                </a:solidFill>
                <a:latin typeface="+mn-ea"/>
              </a:rPr>
              <a:t>방위산업분야의 실용신안등록출원</a:t>
            </a:r>
          </a:p>
          <a:p>
            <a:pPr lvl="0" algn="just" eaLnBrk="0" fontAlgn="base" latinLnBrk="0" hangingPunct="0">
              <a:spcBef>
                <a:spcPct val="0"/>
              </a:spcBef>
              <a:spcAft>
                <a:spcPct val="0"/>
              </a:spcAft>
            </a:pPr>
            <a:r>
              <a:rPr lang="en-US" altLang="ko-KR" sz="950" dirty="0">
                <a:solidFill>
                  <a:schemeClr val="accent6">
                    <a:lumMod val="75000"/>
                  </a:schemeClr>
                </a:solidFill>
                <a:latin typeface="+mn-ea"/>
              </a:rPr>
              <a:t>2. </a:t>
            </a:r>
            <a:r>
              <a:rPr lang="ko-KR" altLang="en-US" sz="950" dirty="0">
                <a:solidFill>
                  <a:schemeClr val="accent6">
                    <a:lumMod val="75000"/>
                  </a:schemeClr>
                </a:solidFill>
                <a:latin typeface="+mn-ea"/>
              </a:rPr>
              <a:t>공해방지에 유용한 실용신안등록출원</a:t>
            </a:r>
          </a:p>
          <a:p>
            <a:pPr lvl="0" algn="just" eaLnBrk="0" fontAlgn="base" latinLnBrk="0" hangingPunct="0">
              <a:spcBef>
                <a:spcPct val="0"/>
              </a:spcBef>
              <a:spcAft>
                <a:spcPct val="0"/>
              </a:spcAft>
            </a:pPr>
            <a:r>
              <a:rPr lang="en-US" altLang="ko-KR" sz="950" dirty="0">
                <a:solidFill>
                  <a:schemeClr val="tx2"/>
                </a:solidFill>
                <a:latin typeface="+mn-ea"/>
              </a:rPr>
              <a:t>3. </a:t>
            </a:r>
            <a:r>
              <a:rPr lang="ko-KR" altLang="en-US" sz="950" dirty="0" err="1">
                <a:solidFill>
                  <a:schemeClr val="tx2"/>
                </a:solidFill>
                <a:latin typeface="+mn-ea"/>
              </a:rPr>
              <a:t>수출촉진에</a:t>
            </a:r>
            <a:r>
              <a:rPr lang="ko-KR" altLang="en-US" sz="950" dirty="0">
                <a:solidFill>
                  <a:schemeClr val="tx2"/>
                </a:solidFill>
                <a:latin typeface="+mn-ea"/>
              </a:rPr>
              <a:t> 직접 관련된 실용신안등록출원</a:t>
            </a:r>
          </a:p>
          <a:p>
            <a:pPr lvl="0" algn="just" eaLnBrk="0" fontAlgn="base" latinLnBrk="0" hangingPunct="0">
              <a:spcBef>
                <a:spcPct val="0"/>
              </a:spcBef>
              <a:spcAft>
                <a:spcPct val="0"/>
              </a:spcAft>
            </a:pPr>
            <a:r>
              <a:rPr lang="en-US" altLang="ko-KR" sz="950" dirty="0">
                <a:solidFill>
                  <a:schemeClr val="tx2"/>
                </a:solidFill>
                <a:latin typeface="+mn-ea"/>
              </a:rPr>
              <a:t>4. </a:t>
            </a:r>
            <a:r>
              <a:rPr lang="ko-KR" altLang="en-US" sz="950" dirty="0">
                <a:solidFill>
                  <a:schemeClr val="tx2"/>
                </a:solidFill>
                <a:latin typeface="+mn-ea"/>
              </a:rPr>
              <a:t>국가 또는 지방자치단체의 직무에 관한 실용신안등록출원</a:t>
            </a:r>
            <a:r>
              <a:rPr lang="en-US" altLang="ko-KR" sz="950" dirty="0">
                <a:solidFill>
                  <a:schemeClr val="tx2"/>
                </a:solidFill>
                <a:latin typeface="+mn-ea"/>
              </a:rPr>
              <a:t>(</a:t>
            </a:r>
            <a:r>
              <a:rPr lang="ko-KR" altLang="en-US" sz="950" dirty="0">
                <a:solidFill>
                  <a:schemeClr val="tx2"/>
                </a:solidFill>
                <a:latin typeface="+mn-ea"/>
              </a:rPr>
              <a:t>「</a:t>
            </a:r>
            <a:r>
              <a:rPr lang="ko-KR" altLang="en-US" sz="950" dirty="0" err="1">
                <a:solidFill>
                  <a:schemeClr val="tx2"/>
                </a:solidFill>
                <a:latin typeface="+mn-ea"/>
              </a:rPr>
              <a:t>고등교육법」에</a:t>
            </a:r>
            <a:r>
              <a:rPr lang="ko-KR" altLang="en-US" sz="950" dirty="0">
                <a:solidFill>
                  <a:schemeClr val="tx2"/>
                </a:solidFill>
                <a:latin typeface="+mn-ea"/>
              </a:rPr>
              <a:t> 따른 국</a:t>
            </a:r>
            <a:r>
              <a:rPr lang="en-US" altLang="ko-KR" sz="950" dirty="0">
                <a:solidFill>
                  <a:schemeClr val="tx2"/>
                </a:solidFill>
                <a:latin typeface="+mn-ea"/>
              </a:rPr>
              <a:t>·</a:t>
            </a:r>
            <a:r>
              <a:rPr lang="ko-KR" altLang="en-US" sz="950" dirty="0">
                <a:solidFill>
                  <a:schemeClr val="tx2"/>
                </a:solidFill>
                <a:latin typeface="+mn-ea"/>
              </a:rPr>
              <a:t>공립학교의 직무에 관한 </a:t>
            </a:r>
            <a:r>
              <a:rPr lang="ko-KR" altLang="en-US" sz="950" dirty="0" err="1">
                <a:solidFill>
                  <a:schemeClr val="tx2"/>
                </a:solidFill>
                <a:latin typeface="+mn-ea"/>
              </a:rPr>
              <a:t>실용신안등록출원으로서</a:t>
            </a:r>
            <a:r>
              <a:rPr lang="ko-KR" altLang="en-US" sz="950" dirty="0">
                <a:solidFill>
                  <a:schemeClr val="tx2"/>
                </a:solidFill>
                <a:latin typeface="+mn-ea"/>
              </a:rPr>
              <a:t> 「기술의 이전 및 사업화 촉진에 관한 법률」 제</a:t>
            </a:r>
            <a:r>
              <a:rPr lang="en-US" altLang="ko-KR" sz="950" dirty="0">
                <a:solidFill>
                  <a:schemeClr val="tx2"/>
                </a:solidFill>
                <a:latin typeface="+mn-ea"/>
              </a:rPr>
              <a:t>11</a:t>
            </a:r>
            <a:r>
              <a:rPr lang="ko-KR" altLang="en-US" sz="950" dirty="0">
                <a:solidFill>
                  <a:schemeClr val="tx2"/>
                </a:solidFill>
                <a:latin typeface="+mn-ea"/>
              </a:rPr>
              <a:t>조제</a:t>
            </a:r>
            <a:r>
              <a:rPr lang="en-US" altLang="ko-KR" sz="950" dirty="0">
                <a:solidFill>
                  <a:schemeClr val="tx2"/>
                </a:solidFill>
                <a:latin typeface="+mn-ea"/>
              </a:rPr>
              <a:t>1</a:t>
            </a:r>
            <a:r>
              <a:rPr lang="ko-KR" altLang="en-US" sz="950" dirty="0">
                <a:solidFill>
                  <a:schemeClr val="tx2"/>
                </a:solidFill>
                <a:latin typeface="+mn-ea"/>
              </a:rPr>
              <a:t>항에 따라 국</a:t>
            </a:r>
            <a:r>
              <a:rPr lang="en-US" altLang="ko-KR" sz="950" dirty="0">
                <a:solidFill>
                  <a:schemeClr val="tx2"/>
                </a:solidFill>
                <a:latin typeface="+mn-ea"/>
              </a:rPr>
              <a:t>·</a:t>
            </a:r>
            <a:r>
              <a:rPr lang="ko-KR" altLang="en-US" sz="950" dirty="0">
                <a:solidFill>
                  <a:schemeClr val="tx2"/>
                </a:solidFill>
                <a:latin typeface="+mn-ea"/>
              </a:rPr>
              <a:t>공립학교 안에 설치된 기술이전</a:t>
            </a:r>
            <a:r>
              <a:rPr lang="en-US" altLang="ko-KR" sz="950" dirty="0">
                <a:solidFill>
                  <a:schemeClr val="tx2"/>
                </a:solidFill>
                <a:latin typeface="+mn-ea"/>
              </a:rPr>
              <a:t>·</a:t>
            </a:r>
            <a:r>
              <a:rPr lang="ko-KR" altLang="en-US" sz="950" dirty="0">
                <a:solidFill>
                  <a:schemeClr val="tx2"/>
                </a:solidFill>
                <a:latin typeface="+mn-ea"/>
              </a:rPr>
              <a:t>사업화 </a:t>
            </a:r>
            <a:r>
              <a:rPr lang="ko-KR" altLang="en-US" sz="950" dirty="0" err="1">
                <a:solidFill>
                  <a:schemeClr val="tx2"/>
                </a:solidFill>
                <a:latin typeface="+mn-ea"/>
              </a:rPr>
              <a:t>전담조직에</a:t>
            </a:r>
            <a:r>
              <a:rPr lang="ko-KR" altLang="en-US" sz="950" dirty="0">
                <a:solidFill>
                  <a:schemeClr val="tx2"/>
                </a:solidFill>
                <a:latin typeface="+mn-ea"/>
              </a:rPr>
              <a:t> 의한 실용신안등록출원을 포함한다</a:t>
            </a:r>
            <a:r>
              <a:rPr lang="en-US" altLang="ko-KR" sz="950" dirty="0">
                <a:solidFill>
                  <a:schemeClr val="tx2"/>
                </a:solidFill>
                <a:latin typeface="+mn-ea"/>
              </a:rPr>
              <a:t>)</a:t>
            </a:r>
          </a:p>
          <a:p>
            <a:pPr lvl="0" algn="just" eaLnBrk="0" fontAlgn="base" latinLnBrk="0" hangingPunct="0">
              <a:spcBef>
                <a:spcPct val="0"/>
              </a:spcBef>
              <a:spcAft>
                <a:spcPct val="0"/>
              </a:spcAft>
            </a:pPr>
            <a:r>
              <a:rPr lang="en-US" altLang="ko-KR" sz="950" dirty="0">
                <a:solidFill>
                  <a:schemeClr val="tx2"/>
                </a:solidFill>
                <a:latin typeface="+mn-ea"/>
              </a:rPr>
              <a:t>5. </a:t>
            </a:r>
            <a:r>
              <a:rPr lang="ko-KR" altLang="en-US" sz="950" dirty="0">
                <a:solidFill>
                  <a:schemeClr val="tx2"/>
                </a:solidFill>
                <a:latin typeface="+mn-ea"/>
              </a:rPr>
              <a:t>「벤처기업육성에 관한 특별법」 제</a:t>
            </a:r>
            <a:r>
              <a:rPr lang="en-US" altLang="ko-KR" sz="950" dirty="0">
                <a:solidFill>
                  <a:schemeClr val="tx2"/>
                </a:solidFill>
                <a:latin typeface="+mn-ea"/>
              </a:rPr>
              <a:t>25</a:t>
            </a:r>
            <a:r>
              <a:rPr lang="ko-KR" altLang="en-US" sz="950" dirty="0">
                <a:solidFill>
                  <a:schemeClr val="tx2"/>
                </a:solidFill>
                <a:latin typeface="+mn-ea"/>
              </a:rPr>
              <a:t>조에 따른 벤처기업의 확인을 받은 기업의 실용신안등록출원</a:t>
            </a:r>
          </a:p>
          <a:p>
            <a:pPr lvl="0" algn="just" eaLnBrk="0" fontAlgn="base" latinLnBrk="0" hangingPunct="0">
              <a:spcBef>
                <a:spcPct val="0"/>
              </a:spcBef>
              <a:spcAft>
                <a:spcPct val="0"/>
              </a:spcAft>
            </a:pPr>
            <a:r>
              <a:rPr lang="en-US" altLang="ko-KR" sz="950" dirty="0">
                <a:solidFill>
                  <a:schemeClr val="tx2"/>
                </a:solidFill>
                <a:latin typeface="+mn-ea"/>
              </a:rPr>
              <a:t>6. </a:t>
            </a:r>
            <a:r>
              <a:rPr lang="ko-KR" altLang="en-US" sz="950" dirty="0">
                <a:solidFill>
                  <a:schemeClr val="tx2"/>
                </a:solidFill>
                <a:latin typeface="+mn-ea"/>
              </a:rPr>
              <a:t>「중소기업기술혁신 촉진법」 제</a:t>
            </a:r>
            <a:r>
              <a:rPr lang="en-US" altLang="ko-KR" sz="950" dirty="0">
                <a:solidFill>
                  <a:schemeClr val="tx2"/>
                </a:solidFill>
                <a:latin typeface="+mn-ea"/>
              </a:rPr>
              <a:t>15</a:t>
            </a:r>
            <a:r>
              <a:rPr lang="ko-KR" altLang="en-US" sz="950" dirty="0">
                <a:solidFill>
                  <a:schemeClr val="tx2"/>
                </a:solidFill>
                <a:latin typeface="+mn-ea"/>
              </a:rPr>
              <a:t>조에 따라 </a:t>
            </a:r>
            <a:r>
              <a:rPr lang="ko-KR" altLang="en-US" sz="950" dirty="0" err="1">
                <a:solidFill>
                  <a:schemeClr val="tx2"/>
                </a:solidFill>
                <a:latin typeface="+mn-ea"/>
              </a:rPr>
              <a:t>기술혁신형</a:t>
            </a:r>
            <a:r>
              <a:rPr lang="ko-KR" altLang="en-US" sz="950" dirty="0">
                <a:solidFill>
                  <a:schemeClr val="tx2"/>
                </a:solidFill>
                <a:latin typeface="+mn-ea"/>
              </a:rPr>
              <a:t> 중소기업으로 선정된 기업의 실용신안등록출원</a:t>
            </a:r>
          </a:p>
          <a:p>
            <a:pPr lvl="0" algn="just" eaLnBrk="0" fontAlgn="base" latinLnBrk="0" hangingPunct="0">
              <a:spcBef>
                <a:spcPct val="0"/>
              </a:spcBef>
              <a:spcAft>
                <a:spcPct val="0"/>
              </a:spcAft>
            </a:pPr>
            <a:r>
              <a:rPr lang="en-US" altLang="ko-KR" sz="950" dirty="0">
                <a:solidFill>
                  <a:schemeClr val="tx2"/>
                </a:solidFill>
                <a:latin typeface="+mn-ea"/>
              </a:rPr>
              <a:t>6</a:t>
            </a:r>
            <a:r>
              <a:rPr lang="ko-KR" altLang="en-US" sz="950" dirty="0">
                <a:solidFill>
                  <a:schemeClr val="tx2"/>
                </a:solidFill>
                <a:latin typeface="+mn-ea"/>
              </a:rPr>
              <a:t>의</a:t>
            </a:r>
            <a:r>
              <a:rPr lang="en-US" altLang="ko-KR" sz="950" dirty="0">
                <a:solidFill>
                  <a:schemeClr val="tx2"/>
                </a:solidFill>
                <a:latin typeface="+mn-ea"/>
              </a:rPr>
              <a:t>2. </a:t>
            </a:r>
            <a:r>
              <a:rPr lang="ko-KR" altLang="en-US" sz="950" dirty="0">
                <a:solidFill>
                  <a:schemeClr val="tx2"/>
                </a:solidFill>
                <a:latin typeface="+mn-ea"/>
              </a:rPr>
              <a:t>「발명진흥법」 제</a:t>
            </a:r>
            <a:r>
              <a:rPr lang="en-US" altLang="ko-KR" sz="950" dirty="0">
                <a:solidFill>
                  <a:schemeClr val="tx2"/>
                </a:solidFill>
                <a:latin typeface="+mn-ea"/>
              </a:rPr>
              <a:t>11</a:t>
            </a:r>
            <a:r>
              <a:rPr lang="ko-KR" altLang="en-US" sz="950" dirty="0">
                <a:solidFill>
                  <a:schemeClr val="tx2"/>
                </a:solidFill>
                <a:latin typeface="+mn-ea"/>
              </a:rPr>
              <a:t>조의</a:t>
            </a:r>
            <a:r>
              <a:rPr lang="en-US" altLang="ko-KR" sz="950" dirty="0">
                <a:solidFill>
                  <a:schemeClr val="tx2"/>
                </a:solidFill>
                <a:latin typeface="+mn-ea"/>
              </a:rPr>
              <a:t>2</a:t>
            </a:r>
            <a:r>
              <a:rPr lang="ko-KR" altLang="en-US" sz="950" dirty="0">
                <a:solidFill>
                  <a:schemeClr val="tx2"/>
                </a:solidFill>
                <a:latin typeface="+mn-ea"/>
              </a:rPr>
              <a:t>에 따라 직무발명보상 우수기업으로 인증된 기업의 실용신안등록출원</a:t>
            </a:r>
          </a:p>
          <a:p>
            <a:pPr lvl="0" algn="just" eaLnBrk="0" fontAlgn="base" latinLnBrk="0" hangingPunct="0">
              <a:spcBef>
                <a:spcPct val="0"/>
              </a:spcBef>
              <a:spcAft>
                <a:spcPct val="0"/>
              </a:spcAft>
            </a:pPr>
            <a:r>
              <a:rPr lang="en-US" altLang="ko-KR" sz="950" dirty="0">
                <a:solidFill>
                  <a:schemeClr val="tx2"/>
                </a:solidFill>
                <a:latin typeface="+mn-ea"/>
              </a:rPr>
              <a:t>6</a:t>
            </a:r>
            <a:r>
              <a:rPr lang="ko-KR" altLang="en-US" sz="950" dirty="0">
                <a:solidFill>
                  <a:schemeClr val="tx2"/>
                </a:solidFill>
                <a:latin typeface="+mn-ea"/>
              </a:rPr>
              <a:t>의</a:t>
            </a:r>
            <a:r>
              <a:rPr lang="en-US" altLang="ko-KR" sz="950" dirty="0">
                <a:solidFill>
                  <a:schemeClr val="tx2"/>
                </a:solidFill>
                <a:latin typeface="+mn-ea"/>
              </a:rPr>
              <a:t>3. </a:t>
            </a:r>
            <a:r>
              <a:rPr lang="ko-KR" altLang="en-US" sz="950" dirty="0">
                <a:solidFill>
                  <a:schemeClr val="tx2"/>
                </a:solidFill>
                <a:latin typeface="+mn-ea"/>
              </a:rPr>
              <a:t>「발명진흥법」 제</a:t>
            </a:r>
            <a:r>
              <a:rPr lang="en-US" altLang="ko-KR" sz="950" dirty="0">
                <a:solidFill>
                  <a:schemeClr val="tx2"/>
                </a:solidFill>
                <a:latin typeface="+mn-ea"/>
              </a:rPr>
              <a:t>24</a:t>
            </a:r>
            <a:r>
              <a:rPr lang="ko-KR" altLang="en-US" sz="950" dirty="0">
                <a:solidFill>
                  <a:schemeClr val="tx2"/>
                </a:solidFill>
                <a:latin typeface="+mn-ea"/>
              </a:rPr>
              <a:t>조의</a:t>
            </a:r>
            <a:r>
              <a:rPr lang="en-US" altLang="ko-KR" sz="950" dirty="0">
                <a:solidFill>
                  <a:schemeClr val="tx2"/>
                </a:solidFill>
                <a:latin typeface="+mn-ea"/>
              </a:rPr>
              <a:t>2</a:t>
            </a:r>
            <a:r>
              <a:rPr lang="ko-KR" altLang="en-US" sz="950" dirty="0">
                <a:solidFill>
                  <a:schemeClr val="tx2"/>
                </a:solidFill>
                <a:latin typeface="+mn-ea"/>
              </a:rPr>
              <a:t>에 따라 지식재산 </a:t>
            </a:r>
            <a:r>
              <a:rPr lang="ko-KR" altLang="en-US" sz="950" dirty="0" err="1">
                <a:solidFill>
                  <a:schemeClr val="tx2"/>
                </a:solidFill>
                <a:latin typeface="+mn-ea"/>
              </a:rPr>
              <a:t>경영인증을</a:t>
            </a:r>
            <a:r>
              <a:rPr lang="ko-KR" altLang="en-US" sz="950" dirty="0">
                <a:solidFill>
                  <a:schemeClr val="tx2"/>
                </a:solidFill>
                <a:latin typeface="+mn-ea"/>
              </a:rPr>
              <a:t> 받은 중소기업의 실용신안등록출원</a:t>
            </a:r>
          </a:p>
          <a:p>
            <a:pPr lvl="0" algn="just" eaLnBrk="0" fontAlgn="base" latinLnBrk="0" hangingPunct="0">
              <a:spcBef>
                <a:spcPct val="0"/>
              </a:spcBef>
              <a:spcAft>
                <a:spcPct val="0"/>
              </a:spcAft>
            </a:pPr>
            <a:r>
              <a:rPr lang="en-US" altLang="ko-KR" sz="950" dirty="0">
                <a:solidFill>
                  <a:schemeClr val="tx2"/>
                </a:solidFill>
                <a:latin typeface="+mn-ea"/>
              </a:rPr>
              <a:t>7. </a:t>
            </a:r>
            <a:r>
              <a:rPr lang="ko-KR" altLang="en-US" sz="950" dirty="0">
                <a:solidFill>
                  <a:schemeClr val="tx2"/>
                </a:solidFill>
                <a:latin typeface="+mn-ea"/>
              </a:rPr>
              <a:t>「과학기술기본법」 제</a:t>
            </a:r>
            <a:r>
              <a:rPr lang="en-US" altLang="ko-KR" sz="950" dirty="0">
                <a:solidFill>
                  <a:schemeClr val="tx2"/>
                </a:solidFill>
                <a:latin typeface="+mn-ea"/>
              </a:rPr>
              <a:t>11</a:t>
            </a:r>
            <a:r>
              <a:rPr lang="ko-KR" altLang="en-US" sz="950" dirty="0">
                <a:solidFill>
                  <a:schemeClr val="tx2"/>
                </a:solidFill>
                <a:latin typeface="+mn-ea"/>
              </a:rPr>
              <a:t>조에 따른 국가연구개발사업의 결과물에 관한 실용신안등록출원</a:t>
            </a:r>
            <a:endParaRPr lang="en-US" altLang="ko-KR" sz="950" dirty="0">
              <a:solidFill>
                <a:schemeClr val="tx2"/>
              </a:solidFill>
              <a:latin typeface="+mn-ea"/>
            </a:endParaRPr>
          </a:p>
          <a:p>
            <a:pPr lvl="0" algn="just" eaLnBrk="0" fontAlgn="base" latinLnBrk="0" hangingPunct="0">
              <a:spcBef>
                <a:spcPct val="0"/>
              </a:spcBef>
              <a:spcAft>
                <a:spcPct val="0"/>
              </a:spcAft>
            </a:pPr>
            <a:r>
              <a:rPr lang="en-US" altLang="ko-KR" sz="950" dirty="0">
                <a:solidFill>
                  <a:schemeClr val="tx2"/>
                </a:solidFill>
                <a:latin typeface="+mn-ea"/>
              </a:rPr>
              <a:t>8. </a:t>
            </a:r>
            <a:r>
              <a:rPr lang="ko-KR" altLang="en-US" sz="950" dirty="0">
                <a:solidFill>
                  <a:schemeClr val="tx2"/>
                </a:solidFill>
                <a:latin typeface="+mn-ea"/>
              </a:rPr>
              <a:t>조약에 의한 우선권주장의 기초가 되는 실용신안등록출원</a:t>
            </a:r>
            <a:r>
              <a:rPr lang="en-US" altLang="ko-KR" sz="950" dirty="0">
                <a:solidFill>
                  <a:schemeClr val="tx2"/>
                </a:solidFill>
                <a:latin typeface="+mn-ea"/>
              </a:rPr>
              <a:t>(</a:t>
            </a:r>
            <a:r>
              <a:rPr lang="ko-KR" altLang="en-US" sz="950" dirty="0">
                <a:solidFill>
                  <a:schemeClr val="tx2"/>
                </a:solidFill>
                <a:latin typeface="+mn-ea"/>
              </a:rPr>
              <a:t>그 실용신안등록출원을 기초로 하는 우선권주장에 의하여 외국 특허담당 정부기관에서 특허출원 또는 실용신안등록출원에 관한 절차가 진행 중인 것에 한정한다</a:t>
            </a:r>
            <a:r>
              <a:rPr lang="en-US" altLang="ko-KR" sz="950" dirty="0">
                <a:solidFill>
                  <a:schemeClr val="tx2"/>
                </a:solidFill>
                <a:latin typeface="+mn-ea"/>
              </a:rPr>
              <a:t>)</a:t>
            </a:r>
          </a:p>
          <a:p>
            <a:pPr lvl="0" algn="just" eaLnBrk="0" fontAlgn="base" latinLnBrk="0" hangingPunct="0">
              <a:spcBef>
                <a:spcPct val="0"/>
              </a:spcBef>
              <a:spcAft>
                <a:spcPct val="0"/>
              </a:spcAft>
            </a:pPr>
            <a:r>
              <a:rPr lang="en-US" altLang="ko-KR" sz="950" dirty="0">
                <a:solidFill>
                  <a:schemeClr val="tx2"/>
                </a:solidFill>
                <a:latin typeface="+mn-ea"/>
              </a:rPr>
              <a:t>9. </a:t>
            </a:r>
            <a:r>
              <a:rPr lang="ko-KR" altLang="en-US" sz="950" dirty="0">
                <a:solidFill>
                  <a:schemeClr val="tx2"/>
                </a:solidFill>
                <a:latin typeface="+mn-ea"/>
              </a:rPr>
              <a:t>실용신안등록출원인이 </a:t>
            </a:r>
            <a:r>
              <a:rPr lang="ko-KR" altLang="en-US" sz="950" dirty="0" err="1">
                <a:solidFill>
                  <a:schemeClr val="tx2"/>
                </a:solidFill>
                <a:latin typeface="+mn-ea"/>
              </a:rPr>
              <a:t>실용신안등록출원된</a:t>
            </a:r>
            <a:r>
              <a:rPr lang="ko-KR" altLang="en-US" sz="950" dirty="0">
                <a:solidFill>
                  <a:schemeClr val="tx2"/>
                </a:solidFill>
                <a:latin typeface="+mn-ea"/>
              </a:rPr>
              <a:t> 고안을 실시하고 있거나 </a:t>
            </a:r>
            <a:r>
              <a:rPr lang="ko-KR" altLang="en-US" sz="950" dirty="0" err="1">
                <a:solidFill>
                  <a:schemeClr val="tx2"/>
                </a:solidFill>
                <a:latin typeface="+mn-ea"/>
              </a:rPr>
              <a:t>실시준비</a:t>
            </a:r>
            <a:r>
              <a:rPr lang="ko-KR" altLang="en-US" sz="950" dirty="0">
                <a:solidFill>
                  <a:schemeClr val="tx2"/>
                </a:solidFill>
                <a:latin typeface="+mn-ea"/>
              </a:rPr>
              <a:t> 중인 실용신안등록출원</a:t>
            </a:r>
          </a:p>
          <a:p>
            <a:pPr lvl="0" algn="just" eaLnBrk="0" fontAlgn="base" latinLnBrk="0" hangingPunct="0">
              <a:spcBef>
                <a:spcPct val="0"/>
              </a:spcBef>
              <a:spcAft>
                <a:spcPct val="0"/>
              </a:spcAft>
            </a:pPr>
            <a:r>
              <a:rPr lang="en-US" altLang="ko-KR" sz="950" dirty="0">
                <a:solidFill>
                  <a:srgbClr val="FF0000"/>
                </a:solidFill>
                <a:latin typeface="+mn-ea"/>
              </a:rPr>
              <a:t>10. </a:t>
            </a:r>
            <a:r>
              <a:rPr lang="ko-KR" altLang="en-US" sz="950" dirty="0">
                <a:solidFill>
                  <a:srgbClr val="FF0000"/>
                </a:solidFill>
                <a:latin typeface="+mn-ea"/>
              </a:rPr>
              <a:t>삭제</a:t>
            </a:r>
            <a:r>
              <a:rPr lang="en-US" altLang="ko-KR" sz="950" dirty="0">
                <a:solidFill>
                  <a:srgbClr val="FF0000"/>
                </a:solidFill>
                <a:latin typeface="+mn-ea"/>
              </a:rPr>
              <a:t> &lt;2019. 7. 9.&gt;</a:t>
            </a:r>
            <a:endParaRPr lang="ko-KR" altLang="en-US" sz="950" dirty="0">
              <a:solidFill>
                <a:srgbClr val="FF0000"/>
              </a:solidFill>
              <a:latin typeface="+mn-ea"/>
            </a:endParaRPr>
          </a:p>
          <a:p>
            <a:pPr lvl="0" algn="just" eaLnBrk="0" fontAlgn="base" latinLnBrk="0" hangingPunct="0">
              <a:spcBef>
                <a:spcPct val="0"/>
              </a:spcBef>
              <a:spcAft>
                <a:spcPct val="0"/>
              </a:spcAft>
            </a:pPr>
            <a:r>
              <a:rPr lang="en-US" altLang="ko-KR" sz="950" dirty="0">
                <a:solidFill>
                  <a:srgbClr val="FF0000"/>
                </a:solidFill>
                <a:latin typeface="+mn-ea"/>
              </a:rPr>
              <a:t>11. </a:t>
            </a:r>
            <a:r>
              <a:rPr lang="ko-KR" altLang="en-US" sz="950" dirty="0">
                <a:solidFill>
                  <a:srgbClr val="FF0000"/>
                </a:solidFill>
                <a:latin typeface="+mn-ea"/>
              </a:rPr>
              <a:t>삭제</a:t>
            </a:r>
            <a:r>
              <a:rPr lang="en-US" altLang="ko-KR" sz="950" dirty="0">
                <a:solidFill>
                  <a:srgbClr val="FF0000"/>
                </a:solidFill>
                <a:latin typeface="+mn-ea"/>
              </a:rPr>
              <a:t> &lt;2019. 7. 9.&gt;</a:t>
            </a:r>
            <a:endParaRPr lang="ko-KR" altLang="en-US" sz="950" dirty="0">
              <a:solidFill>
                <a:srgbClr val="FF0000"/>
              </a:solidFill>
              <a:latin typeface="+mn-ea"/>
            </a:endParaRPr>
          </a:p>
          <a:p>
            <a:pPr lvl="0" algn="just" eaLnBrk="0" fontAlgn="base" latinLnBrk="0" hangingPunct="0">
              <a:spcBef>
                <a:spcPct val="0"/>
              </a:spcBef>
              <a:spcAft>
                <a:spcPct val="0"/>
              </a:spcAft>
            </a:pPr>
            <a:r>
              <a:rPr lang="en-US" altLang="ko-KR" sz="950" dirty="0">
                <a:solidFill>
                  <a:schemeClr val="tx2"/>
                </a:solidFill>
                <a:latin typeface="+mn-ea"/>
              </a:rPr>
              <a:t>12. </a:t>
            </a:r>
            <a:r>
              <a:rPr lang="ko-KR" altLang="en-US" sz="950" dirty="0">
                <a:solidFill>
                  <a:srgbClr val="FF0000"/>
                </a:solidFill>
                <a:latin typeface="+mn-ea"/>
              </a:rPr>
              <a:t>삭제</a:t>
            </a:r>
            <a:r>
              <a:rPr lang="en-US" altLang="ko-KR" sz="950" dirty="0">
                <a:solidFill>
                  <a:srgbClr val="FF0000"/>
                </a:solidFill>
                <a:latin typeface="+mn-ea"/>
              </a:rPr>
              <a:t>&lt;2023. 12. 19.&gt; </a:t>
            </a:r>
          </a:p>
          <a:p>
            <a:pPr lvl="0" algn="just" eaLnBrk="0" fontAlgn="base" latinLnBrk="0" hangingPunct="0">
              <a:spcBef>
                <a:spcPct val="0"/>
              </a:spcBef>
              <a:spcAft>
                <a:spcPct val="0"/>
              </a:spcAft>
            </a:pPr>
            <a:r>
              <a:rPr lang="en-US" altLang="ko-KR" sz="950" dirty="0">
                <a:solidFill>
                  <a:schemeClr val="tx2"/>
                </a:solidFill>
                <a:latin typeface="+mn-ea"/>
              </a:rPr>
              <a:t>13. </a:t>
            </a:r>
            <a:r>
              <a:rPr lang="ko-KR" altLang="en-US" sz="950" dirty="0">
                <a:solidFill>
                  <a:srgbClr val="FF0000"/>
                </a:solidFill>
                <a:latin typeface="+mn-ea"/>
              </a:rPr>
              <a:t>삭제</a:t>
            </a:r>
            <a:r>
              <a:rPr lang="en-US" altLang="ko-KR" sz="950" dirty="0">
                <a:solidFill>
                  <a:srgbClr val="FF0000"/>
                </a:solidFill>
                <a:latin typeface="+mn-ea"/>
              </a:rPr>
              <a:t>&lt;2023. 12. 19.&gt;</a:t>
            </a:r>
            <a:endParaRPr lang="ko-KR" altLang="ko-KR" sz="950" dirty="0">
              <a:solidFill>
                <a:schemeClr val="tx2"/>
              </a:solidFill>
              <a:latin typeface="+mn-ea"/>
            </a:endParaRPr>
          </a:p>
        </p:txBody>
      </p:sp>
      <p:sp>
        <p:nvSpPr>
          <p:cNvPr id="6" name="슬라이드 번호 개체 틀 5"/>
          <p:cNvSpPr>
            <a:spLocks noGrp="1"/>
          </p:cNvSpPr>
          <p:nvPr>
            <p:ph type="sldNum" sz="quarter" idx="12"/>
          </p:nvPr>
        </p:nvSpPr>
        <p:spPr/>
        <p:txBody>
          <a:bodyPr/>
          <a:lstStyle/>
          <a:p>
            <a:r>
              <a:rPr lang="en-US" altLang="ko-KR"/>
              <a:t>251</a:t>
            </a:r>
            <a:endParaRPr lang="ko-KR" altLang="en-US" dirty="0"/>
          </a:p>
        </p:txBody>
      </p:sp>
      <p:sp>
        <p:nvSpPr>
          <p:cNvPr id="2" name="TextBox 1">
            <a:extLst>
              <a:ext uri="{FF2B5EF4-FFF2-40B4-BE49-F238E27FC236}">
                <a16:creationId xmlns:a16="http://schemas.microsoft.com/office/drawing/2014/main" id="{86E9B650-0D2C-48D0-800C-46D632E4F9D5}"/>
              </a:ext>
            </a:extLst>
          </p:cNvPr>
          <p:cNvSpPr txBox="1"/>
          <p:nvPr/>
        </p:nvSpPr>
        <p:spPr>
          <a:xfrm>
            <a:off x="6143626" y="5453212"/>
            <a:ext cx="2503224" cy="227216"/>
          </a:xfrm>
          <a:prstGeom prst="roundRect">
            <a:avLst>
              <a:gd name="adj" fmla="val 50000"/>
            </a:avLst>
          </a:prstGeom>
          <a:solidFill>
            <a:schemeClr val="accent4"/>
          </a:solidFill>
          <a:ln>
            <a:solidFill>
              <a:schemeClr val="bg1">
                <a:lumMod val="50000"/>
              </a:schemeClr>
            </a:solidFill>
          </a:ln>
        </p:spPr>
        <p:txBody>
          <a:bodyPr wrap="square" tIns="0" bIns="0" rtlCol="0">
            <a:spAutoFit/>
          </a:bodyPr>
          <a:lstStyle/>
          <a:p>
            <a:pPr algn="ctr"/>
            <a:r>
              <a:rPr lang="ko-KR" altLang="en-US" sz="1050" dirty="0"/>
              <a:t>타법에 의한 </a:t>
            </a:r>
            <a:r>
              <a:rPr lang="ko-KR" altLang="en-US" sz="1050"/>
              <a:t>특허법의 우선심사신청사유</a:t>
            </a:r>
            <a:endParaRPr lang="ko-KR" altLang="en-US" sz="1050" dirty="0"/>
          </a:p>
        </p:txBody>
      </p:sp>
      <p:sp>
        <p:nvSpPr>
          <p:cNvPr id="8" name="TextBox 7">
            <a:extLst>
              <a:ext uri="{FF2B5EF4-FFF2-40B4-BE49-F238E27FC236}">
                <a16:creationId xmlns:a16="http://schemas.microsoft.com/office/drawing/2014/main" id="{D386C190-E090-37CA-FF5F-8B9E1910C65C}"/>
              </a:ext>
            </a:extLst>
          </p:cNvPr>
          <p:cNvSpPr txBox="1"/>
          <p:nvPr/>
        </p:nvSpPr>
        <p:spPr>
          <a:xfrm>
            <a:off x="5822693" y="225585"/>
            <a:ext cx="3738750" cy="307777"/>
          </a:xfrm>
          <a:prstGeom prst="rect">
            <a:avLst/>
          </a:prstGeom>
          <a:noFill/>
          <a:ln w="28575">
            <a:solidFill>
              <a:srgbClr val="FF0000"/>
            </a:solidFill>
          </a:ln>
        </p:spPr>
        <p:txBody>
          <a:bodyPr wrap="square">
            <a:spAutoFit/>
          </a:bodyPr>
          <a:lstStyle/>
          <a:p>
            <a:pPr algn="ctr"/>
            <a:r>
              <a:rPr lang="ko-KR" altLang="en-US" sz="1400" kern="0" spc="0" dirty="0" err="1">
                <a:solidFill>
                  <a:srgbClr val="000000"/>
                </a:solidFill>
                <a:effectLst/>
                <a:latin typeface="+mn-ea"/>
              </a:rPr>
              <a:t>방</a:t>
            </a:r>
            <a:r>
              <a:rPr lang="ko-KR" altLang="en-US" sz="1400" kern="0" spc="0" dirty="0" err="1">
                <a:solidFill>
                  <a:schemeClr val="accent2"/>
                </a:solidFill>
                <a:effectLst/>
                <a:latin typeface="+mn-ea"/>
              </a:rPr>
              <a:t>녹</a:t>
            </a:r>
            <a:r>
              <a:rPr lang="en-US" altLang="ko-KR" sz="1400" kern="0" spc="0" dirty="0">
                <a:solidFill>
                  <a:schemeClr val="accent2"/>
                </a:solidFill>
                <a:effectLst/>
                <a:latin typeface="+mn-ea"/>
              </a:rPr>
              <a:t>4</a:t>
            </a:r>
            <a:r>
              <a:rPr lang="ko-KR" altLang="en-US" sz="1400" kern="0" spc="0" dirty="0" err="1">
                <a:solidFill>
                  <a:schemeClr val="accent2"/>
                </a:solidFill>
                <a:effectLst/>
                <a:latin typeface="+mn-ea"/>
              </a:rPr>
              <a:t>첨</a:t>
            </a:r>
            <a:r>
              <a:rPr lang="ko-KR" altLang="en-US" sz="1400" kern="0" spc="0" dirty="0" err="1">
                <a:solidFill>
                  <a:srgbClr val="000000"/>
                </a:solidFill>
                <a:effectLst/>
                <a:latin typeface="+mn-ea"/>
              </a:rPr>
              <a:t>수</a:t>
            </a:r>
            <a:r>
              <a:rPr lang="en-US" altLang="ko-KR" sz="1400" kern="0" spc="0" dirty="0">
                <a:solidFill>
                  <a:srgbClr val="000000"/>
                </a:solidFill>
                <a:effectLst/>
                <a:latin typeface="+mn-ea"/>
              </a:rPr>
              <a:t>/</a:t>
            </a:r>
            <a:r>
              <a:rPr lang="ko-KR" altLang="en-US" sz="1400" kern="0" spc="0" dirty="0" err="1">
                <a:solidFill>
                  <a:srgbClr val="000000"/>
                </a:solidFill>
                <a:effectLst/>
                <a:latin typeface="+mn-ea"/>
              </a:rPr>
              <a:t>국벤중직지</a:t>
            </a:r>
            <a:r>
              <a:rPr lang="en-US" altLang="ko-KR" sz="1400" kern="0" spc="0" dirty="0">
                <a:solidFill>
                  <a:srgbClr val="000000"/>
                </a:solidFill>
                <a:effectLst/>
                <a:latin typeface="+mn-ea"/>
              </a:rPr>
              <a:t>/</a:t>
            </a:r>
            <a:r>
              <a:rPr lang="ko-KR" altLang="en-US" sz="1400" kern="0" spc="0" dirty="0" err="1">
                <a:solidFill>
                  <a:srgbClr val="000000"/>
                </a:solidFill>
                <a:effectLst/>
                <a:latin typeface="+mn-ea"/>
              </a:rPr>
              <a:t>국조</a:t>
            </a:r>
            <a:r>
              <a:rPr lang="ko-KR" altLang="en-US" sz="1400" kern="0" spc="0" dirty="0" err="1">
                <a:solidFill>
                  <a:schemeClr val="accent2"/>
                </a:solidFill>
                <a:effectLst/>
                <a:latin typeface="+mn-ea"/>
              </a:rPr>
              <a:t>국</a:t>
            </a:r>
            <a:r>
              <a:rPr lang="ko-KR" altLang="en-US" sz="1400" kern="0" spc="0" dirty="0" err="1">
                <a:solidFill>
                  <a:srgbClr val="000000"/>
                </a:solidFill>
                <a:effectLst/>
                <a:latin typeface="+mn-ea"/>
              </a:rPr>
              <a:t>특</a:t>
            </a:r>
            <a:r>
              <a:rPr lang="ko-KR" altLang="en-US" sz="1400" kern="0" spc="0" dirty="0" err="1">
                <a:solidFill>
                  <a:schemeClr val="accent2"/>
                </a:solidFill>
                <a:effectLst/>
                <a:latin typeface="+mn-ea"/>
              </a:rPr>
              <a:t>특</a:t>
            </a:r>
            <a:r>
              <a:rPr lang="en-US" altLang="ko-KR" sz="1400" kern="0" spc="0" dirty="0">
                <a:solidFill>
                  <a:srgbClr val="000000"/>
                </a:solidFill>
                <a:effectLst/>
                <a:latin typeface="+mn-ea"/>
              </a:rPr>
              <a:t>/</a:t>
            </a:r>
            <a:r>
              <a:rPr lang="ko-KR" altLang="en-US" sz="1400" kern="0" spc="0" dirty="0" err="1">
                <a:solidFill>
                  <a:srgbClr val="000000"/>
                </a:solidFill>
                <a:effectLst/>
                <a:latin typeface="+mn-ea"/>
              </a:rPr>
              <a:t>의재공</a:t>
            </a:r>
            <a:r>
              <a:rPr lang="en-US" altLang="ko-KR" sz="1400" kern="0" spc="0" dirty="0">
                <a:solidFill>
                  <a:srgbClr val="000000"/>
                </a:solidFill>
                <a:effectLst/>
                <a:latin typeface="+mn-ea"/>
              </a:rPr>
              <a:t>/</a:t>
            </a:r>
            <a:r>
              <a:rPr lang="ko-KR" altLang="en-US" sz="1400" kern="0" spc="0" dirty="0">
                <a:solidFill>
                  <a:schemeClr val="accent2"/>
                </a:solidFill>
                <a:effectLst/>
                <a:latin typeface="+mn-ea"/>
              </a:rPr>
              <a:t>의규</a:t>
            </a:r>
            <a:endParaRPr lang="ko-KR" altLang="en-US" sz="1400" dirty="0">
              <a:solidFill>
                <a:schemeClr val="accent2"/>
              </a:solidFill>
              <a:latin typeface="+mn-ea"/>
            </a:endParaRPr>
          </a:p>
        </p:txBody>
      </p:sp>
    </p:spTree>
    <p:extLst>
      <p:ext uri="{BB962C8B-B14F-4D97-AF65-F5344CB8AC3E}">
        <p14:creationId xmlns:p14="http://schemas.microsoft.com/office/powerpoint/2010/main" val="2091951261"/>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59</a:t>
            </a:r>
            <a:r>
              <a:rPr lang="ko-KR" altLang="en-US" dirty="0"/>
              <a:t>조</a:t>
            </a:r>
            <a:r>
              <a:rPr lang="en-US" altLang="ko-KR" dirty="0"/>
              <a:t>, </a:t>
            </a:r>
            <a:r>
              <a:rPr lang="ko-KR" altLang="en-US" dirty="0"/>
              <a:t>제</a:t>
            </a:r>
            <a:r>
              <a:rPr lang="en-US" altLang="ko-KR" dirty="0"/>
              <a:t>60</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심사방법 및 순서</a:t>
            </a:r>
            <a:r>
              <a:rPr lang="en-US" altLang="ko-KR" dirty="0"/>
              <a:t>(</a:t>
            </a:r>
            <a:r>
              <a:rPr lang="ko-KR" altLang="en-US" dirty="0"/>
              <a:t>제</a:t>
            </a:r>
            <a:r>
              <a:rPr lang="en-US" altLang="ko-KR" dirty="0"/>
              <a:t>59</a:t>
            </a:r>
            <a:r>
              <a:rPr lang="ko-KR" altLang="en-US" dirty="0"/>
              <a:t>조제</a:t>
            </a:r>
            <a:r>
              <a:rPr lang="en-US" altLang="ko-KR" dirty="0"/>
              <a:t>1</a:t>
            </a:r>
            <a:r>
              <a:rPr lang="ko-KR" altLang="en-US" dirty="0"/>
              <a:t>항</a:t>
            </a:r>
            <a:r>
              <a:rPr lang="en-US" altLang="ko-KR" dirty="0"/>
              <a:t>)</a:t>
            </a:r>
            <a:endParaRPr lang="ko-KR" altLang="en-US" dirty="0"/>
          </a:p>
        </p:txBody>
      </p:sp>
      <p:cxnSp>
        <p:nvCxnSpPr>
          <p:cNvPr id="64" name="직선 연결선 63"/>
          <p:cNvCxnSpPr>
            <a:cxnSpLocks/>
          </p:cNvCxnSpPr>
          <p:nvPr/>
        </p:nvCxnSpPr>
        <p:spPr>
          <a:xfrm>
            <a:off x="6191794" y="4929793"/>
            <a:ext cx="419508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6191794" y="976902"/>
            <a:ext cx="5822404" cy="3808735"/>
          </a:xfrm>
          <a:prstGeom prst="rect">
            <a:avLst/>
          </a:prstGeom>
          <a:noFill/>
        </p:spPr>
        <p:txBody>
          <a:bodyPr wrap="square" rtlCol="0">
            <a:spAutoFit/>
          </a:bodyPr>
          <a:lstStyle/>
          <a:p>
            <a:pPr fontAlgn="base"/>
            <a:r>
              <a:rPr lang="ko-KR" altLang="en-US" sz="1150" b="1" dirty="0">
                <a:solidFill>
                  <a:schemeClr val="accent1"/>
                </a:solidFill>
              </a:rPr>
              <a:t>시행규칙 제</a:t>
            </a:r>
            <a:r>
              <a:rPr lang="en-US" altLang="ko-KR" sz="1150" b="1" dirty="0">
                <a:solidFill>
                  <a:schemeClr val="accent1"/>
                </a:solidFill>
              </a:rPr>
              <a:t>40</a:t>
            </a:r>
            <a:r>
              <a:rPr lang="ko-KR" altLang="en-US" sz="1150" b="1" dirty="0">
                <a:solidFill>
                  <a:schemeClr val="accent1"/>
                </a:solidFill>
              </a:rPr>
              <a:t>조의</a:t>
            </a:r>
            <a:r>
              <a:rPr lang="en-US" altLang="ko-KR" sz="1150" b="1" dirty="0">
                <a:solidFill>
                  <a:schemeClr val="accent1"/>
                </a:solidFill>
              </a:rPr>
              <a:t>3(</a:t>
            </a:r>
            <a:r>
              <a:rPr lang="ko-KR" altLang="en-US" sz="1150" b="1" dirty="0" err="1">
                <a:solidFill>
                  <a:schemeClr val="accent1"/>
                </a:solidFill>
              </a:rPr>
              <a:t>특허출원심사의</a:t>
            </a:r>
            <a:r>
              <a:rPr lang="ko-KR" altLang="en-US" sz="1150" b="1" dirty="0">
                <a:solidFill>
                  <a:schemeClr val="accent1"/>
                </a:solidFill>
              </a:rPr>
              <a:t> 유예</a:t>
            </a:r>
            <a:r>
              <a:rPr lang="en-US" altLang="ko-KR" sz="1150" b="1" dirty="0">
                <a:solidFill>
                  <a:schemeClr val="accent1"/>
                </a:solidFill>
              </a:rPr>
              <a:t>)</a:t>
            </a:r>
            <a:r>
              <a:rPr lang="en-US" altLang="ko-KR" sz="1150" dirty="0">
                <a:solidFill>
                  <a:schemeClr val="tx2"/>
                </a:solidFill>
              </a:rPr>
              <a:t> </a:t>
            </a:r>
            <a:r>
              <a:rPr lang="ko-KR" altLang="en-US" sz="1150" dirty="0">
                <a:solidFill>
                  <a:schemeClr val="tx2"/>
                </a:solidFill>
              </a:rPr>
              <a:t>① </a:t>
            </a:r>
            <a:r>
              <a:rPr lang="ko-KR" altLang="en-US" sz="1150" dirty="0" err="1">
                <a:solidFill>
                  <a:schemeClr val="tx2"/>
                </a:solidFill>
              </a:rPr>
              <a:t>특허출원인이</a:t>
            </a:r>
            <a:r>
              <a:rPr lang="ko-KR" altLang="en-US" sz="1150" dirty="0">
                <a:solidFill>
                  <a:schemeClr val="tx2"/>
                </a:solidFill>
              </a:rPr>
              <a:t> 출원심사의 청구를 한 경우로서 출원심사의 청구일부터 </a:t>
            </a:r>
            <a:r>
              <a:rPr lang="en-US" altLang="ko-KR" sz="1150" dirty="0">
                <a:solidFill>
                  <a:schemeClr val="tx2"/>
                </a:solidFill>
              </a:rPr>
              <a:t>24</a:t>
            </a:r>
            <a:r>
              <a:rPr lang="ko-KR" altLang="en-US" sz="1150" dirty="0">
                <a:solidFill>
                  <a:schemeClr val="tx2"/>
                </a:solidFill>
              </a:rPr>
              <a:t>개월이 지난 후에 특허출원에 대한 심사를 받으려면 출원심사의 청구일부터 </a:t>
            </a:r>
            <a:r>
              <a:rPr lang="en-US" altLang="ko-KR" sz="1150" dirty="0">
                <a:solidFill>
                  <a:schemeClr val="tx2"/>
                </a:solidFill>
              </a:rPr>
              <a:t>9</a:t>
            </a:r>
            <a:r>
              <a:rPr lang="ko-KR" altLang="en-US" sz="1150" dirty="0">
                <a:solidFill>
                  <a:schemeClr val="tx2"/>
                </a:solidFill>
              </a:rPr>
              <a:t>개월 이내에 심사를 받으려는 시점</a:t>
            </a:r>
            <a:r>
              <a:rPr lang="en-US" altLang="ko-KR" sz="1150" dirty="0">
                <a:solidFill>
                  <a:schemeClr val="tx2"/>
                </a:solidFill>
              </a:rPr>
              <a:t>(</a:t>
            </a:r>
            <a:r>
              <a:rPr lang="ko-KR" altLang="en-US" sz="1150" dirty="0">
                <a:solidFill>
                  <a:schemeClr val="tx2"/>
                </a:solidFill>
              </a:rPr>
              <a:t>출원일부터 </a:t>
            </a:r>
            <a:r>
              <a:rPr lang="en-US" altLang="ko-KR" sz="1150" dirty="0">
                <a:solidFill>
                  <a:schemeClr val="tx2"/>
                </a:solidFill>
              </a:rPr>
              <a:t>5</a:t>
            </a:r>
            <a:r>
              <a:rPr lang="ko-KR" altLang="en-US" sz="1150" dirty="0">
                <a:solidFill>
                  <a:schemeClr val="tx2"/>
                </a:solidFill>
              </a:rPr>
              <a:t>년 이내에 한정하며</a:t>
            </a:r>
            <a:r>
              <a:rPr lang="en-US" altLang="ko-KR" sz="1150" dirty="0">
                <a:solidFill>
                  <a:schemeClr val="tx2"/>
                </a:solidFill>
              </a:rPr>
              <a:t>, </a:t>
            </a:r>
            <a:r>
              <a:rPr lang="ko-KR" altLang="en-US" sz="1150" dirty="0">
                <a:solidFill>
                  <a:schemeClr val="tx2"/>
                </a:solidFill>
              </a:rPr>
              <a:t>이하 </a:t>
            </a:r>
            <a:r>
              <a:rPr lang="en-US" altLang="ko-KR" sz="1150" dirty="0">
                <a:solidFill>
                  <a:schemeClr val="tx2"/>
                </a:solidFill>
              </a:rPr>
              <a:t>"</a:t>
            </a:r>
            <a:r>
              <a:rPr lang="ko-KR" altLang="en-US" sz="1150" dirty="0">
                <a:solidFill>
                  <a:schemeClr val="tx2"/>
                </a:solidFill>
              </a:rPr>
              <a:t>유예희망시점</a:t>
            </a:r>
            <a:r>
              <a:rPr lang="en-US" altLang="ko-KR" sz="1150" dirty="0">
                <a:solidFill>
                  <a:schemeClr val="tx2"/>
                </a:solidFill>
              </a:rPr>
              <a:t>"</a:t>
            </a:r>
            <a:r>
              <a:rPr lang="ko-KR" altLang="en-US" sz="1150" dirty="0">
                <a:solidFill>
                  <a:schemeClr val="tx2"/>
                </a:solidFill>
              </a:rPr>
              <a:t>이라 한다</a:t>
            </a:r>
            <a:r>
              <a:rPr lang="en-US" altLang="ko-KR" sz="1150" dirty="0">
                <a:solidFill>
                  <a:schemeClr val="tx2"/>
                </a:solidFill>
              </a:rPr>
              <a:t>)</a:t>
            </a:r>
            <a:r>
              <a:rPr lang="ko-KR" altLang="en-US" sz="1150" dirty="0">
                <a:solidFill>
                  <a:schemeClr val="tx2"/>
                </a:solidFill>
              </a:rPr>
              <a:t>을 적은 별지 제</a:t>
            </a:r>
            <a:r>
              <a:rPr lang="en-US" altLang="ko-KR" sz="1150" dirty="0">
                <a:solidFill>
                  <a:schemeClr val="tx2"/>
                </a:solidFill>
              </a:rPr>
              <a:t>22</a:t>
            </a:r>
            <a:r>
              <a:rPr lang="ko-KR" altLang="en-US" sz="1150" dirty="0">
                <a:solidFill>
                  <a:schemeClr val="tx2"/>
                </a:solidFill>
              </a:rPr>
              <a:t>호의</a:t>
            </a:r>
            <a:r>
              <a:rPr lang="en-US" altLang="ko-KR" sz="1150" dirty="0">
                <a:solidFill>
                  <a:schemeClr val="tx2"/>
                </a:solidFill>
              </a:rPr>
              <a:t>2</a:t>
            </a:r>
            <a:r>
              <a:rPr lang="ko-KR" altLang="en-US" sz="1150" dirty="0">
                <a:solidFill>
                  <a:schemeClr val="tx2"/>
                </a:solidFill>
              </a:rPr>
              <a:t>서식의 심사유예신청서를 지식재산처장에게 제출할 수 있다</a:t>
            </a:r>
            <a:r>
              <a:rPr lang="en-US" altLang="ko-KR" sz="1150" dirty="0">
                <a:solidFill>
                  <a:schemeClr val="tx2"/>
                </a:solidFill>
              </a:rPr>
              <a:t>. </a:t>
            </a:r>
            <a:r>
              <a:rPr lang="ko-KR" altLang="en-US" sz="1150" dirty="0">
                <a:solidFill>
                  <a:schemeClr val="tx2"/>
                </a:solidFill>
              </a:rPr>
              <a:t>다만</a:t>
            </a:r>
            <a:r>
              <a:rPr lang="en-US" altLang="ko-KR" sz="1150" dirty="0">
                <a:solidFill>
                  <a:schemeClr val="tx2"/>
                </a:solidFill>
              </a:rPr>
              <a:t>, </a:t>
            </a:r>
            <a:r>
              <a:rPr lang="ko-KR" altLang="en-US" sz="1150" dirty="0">
                <a:solidFill>
                  <a:schemeClr val="tx2"/>
                </a:solidFill>
              </a:rPr>
              <a:t>다음 각 호에 따른 특허출원서 또는 심사청구서에 그 취지 및 유예희망시점을 적음으로써 그 신청서를 갈음할 수 있다</a:t>
            </a:r>
            <a:r>
              <a:rPr lang="en-US" altLang="ko-KR" sz="1150" dirty="0">
                <a:solidFill>
                  <a:schemeClr val="tx2"/>
                </a:solidFill>
              </a:rPr>
              <a:t>.  </a:t>
            </a:r>
          </a:p>
          <a:p>
            <a:pPr fontAlgn="base"/>
            <a:r>
              <a:rPr lang="en-US" altLang="ko-KR" sz="1150" dirty="0">
                <a:solidFill>
                  <a:schemeClr val="tx2"/>
                </a:solidFill>
              </a:rPr>
              <a:t>1. </a:t>
            </a:r>
            <a:r>
              <a:rPr lang="ko-KR" altLang="en-US" sz="1150" dirty="0">
                <a:solidFill>
                  <a:schemeClr val="tx2"/>
                </a:solidFill>
              </a:rPr>
              <a:t>제</a:t>
            </a:r>
            <a:r>
              <a:rPr lang="en-US" altLang="ko-KR" sz="1150" dirty="0">
                <a:solidFill>
                  <a:schemeClr val="tx2"/>
                </a:solidFill>
              </a:rPr>
              <a:t>37</a:t>
            </a:r>
            <a:r>
              <a:rPr lang="ko-KR" altLang="en-US" sz="1150" dirty="0">
                <a:solidFill>
                  <a:schemeClr val="tx2"/>
                </a:solidFill>
              </a:rPr>
              <a:t>조제</a:t>
            </a:r>
            <a:r>
              <a:rPr lang="en-US" altLang="ko-KR" sz="1150" dirty="0">
                <a:solidFill>
                  <a:schemeClr val="tx2"/>
                </a:solidFill>
              </a:rPr>
              <a:t>1</a:t>
            </a:r>
            <a:r>
              <a:rPr lang="ko-KR" altLang="en-US" sz="1150" dirty="0">
                <a:solidFill>
                  <a:schemeClr val="tx2"/>
                </a:solidFill>
              </a:rPr>
              <a:t>항 단서에 따라 특허출원과 동시에 심사청구를 하면서 심사유예신청도 같이 하는 경우에는 별지 제</a:t>
            </a:r>
            <a:r>
              <a:rPr lang="en-US" altLang="ko-KR" sz="1150" dirty="0">
                <a:solidFill>
                  <a:schemeClr val="tx2"/>
                </a:solidFill>
              </a:rPr>
              <a:t>14</a:t>
            </a:r>
            <a:r>
              <a:rPr lang="ko-KR" altLang="en-US" sz="1150" dirty="0">
                <a:solidFill>
                  <a:schemeClr val="tx2"/>
                </a:solidFill>
              </a:rPr>
              <a:t>호서식의 특허출원서</a:t>
            </a:r>
          </a:p>
          <a:p>
            <a:pPr fontAlgn="base"/>
            <a:r>
              <a:rPr lang="en-US" altLang="ko-KR" sz="1150" dirty="0">
                <a:solidFill>
                  <a:schemeClr val="tx2"/>
                </a:solidFill>
              </a:rPr>
              <a:t>2. </a:t>
            </a:r>
            <a:r>
              <a:rPr lang="ko-KR" altLang="en-US" sz="1150" dirty="0">
                <a:solidFill>
                  <a:schemeClr val="tx2"/>
                </a:solidFill>
              </a:rPr>
              <a:t>심사청구와 동시에 심사유예신청을 하는 경우</a:t>
            </a:r>
            <a:r>
              <a:rPr lang="en-US" altLang="ko-KR" sz="1150" dirty="0">
                <a:solidFill>
                  <a:schemeClr val="tx2"/>
                </a:solidFill>
              </a:rPr>
              <a:t>(</a:t>
            </a:r>
            <a:r>
              <a:rPr lang="ko-KR" altLang="en-US" sz="1150" dirty="0">
                <a:solidFill>
                  <a:schemeClr val="tx2"/>
                </a:solidFill>
              </a:rPr>
              <a:t>제</a:t>
            </a:r>
            <a:r>
              <a:rPr lang="en-US" altLang="ko-KR" sz="1150" dirty="0">
                <a:solidFill>
                  <a:schemeClr val="tx2"/>
                </a:solidFill>
              </a:rPr>
              <a:t>1</a:t>
            </a:r>
            <a:r>
              <a:rPr lang="ko-KR" altLang="en-US" sz="1150" dirty="0">
                <a:solidFill>
                  <a:schemeClr val="tx2"/>
                </a:solidFill>
              </a:rPr>
              <a:t>호의 경우는 제외한다</a:t>
            </a:r>
            <a:r>
              <a:rPr lang="en-US" altLang="ko-KR" sz="1150" dirty="0">
                <a:solidFill>
                  <a:schemeClr val="tx2"/>
                </a:solidFill>
              </a:rPr>
              <a:t>)</a:t>
            </a:r>
            <a:r>
              <a:rPr lang="ko-KR" altLang="en-US" sz="1150" dirty="0">
                <a:solidFill>
                  <a:schemeClr val="tx2"/>
                </a:solidFill>
              </a:rPr>
              <a:t>에는 별지 제</a:t>
            </a:r>
            <a:r>
              <a:rPr lang="en-US" altLang="ko-KR" sz="1150" dirty="0">
                <a:solidFill>
                  <a:schemeClr val="tx2"/>
                </a:solidFill>
              </a:rPr>
              <a:t>22</a:t>
            </a:r>
            <a:r>
              <a:rPr lang="ko-KR" altLang="en-US" sz="1150" dirty="0">
                <a:solidFill>
                  <a:schemeClr val="tx2"/>
                </a:solidFill>
              </a:rPr>
              <a:t>호서식의 심사청구서</a:t>
            </a:r>
          </a:p>
          <a:p>
            <a:pPr fontAlgn="base"/>
            <a:r>
              <a:rPr lang="ko-KR" altLang="en-US" sz="1150" dirty="0">
                <a:solidFill>
                  <a:schemeClr val="tx2"/>
                </a:solidFill>
              </a:rPr>
              <a:t>② </a:t>
            </a:r>
            <a:r>
              <a:rPr lang="ko-KR" altLang="en-US" sz="1150" dirty="0" err="1">
                <a:solidFill>
                  <a:schemeClr val="tx2"/>
                </a:solidFill>
              </a:rPr>
              <a:t>특허출원인이</a:t>
            </a:r>
            <a:r>
              <a:rPr lang="ko-KR" altLang="en-US" sz="1150" dirty="0">
                <a:solidFill>
                  <a:schemeClr val="tx2"/>
                </a:solidFill>
              </a:rPr>
              <a:t> 제</a:t>
            </a:r>
            <a:r>
              <a:rPr lang="en-US" altLang="ko-KR" sz="1150" dirty="0">
                <a:solidFill>
                  <a:schemeClr val="tx2"/>
                </a:solidFill>
              </a:rPr>
              <a:t>1</a:t>
            </a:r>
            <a:r>
              <a:rPr lang="ko-KR" altLang="en-US" sz="1150" dirty="0">
                <a:solidFill>
                  <a:schemeClr val="tx2"/>
                </a:solidFill>
              </a:rPr>
              <a:t>항에 따른 심사유예신청을 취하하거나 유예희망시점을 변경하려면 심사유예신청서를 제출한 날부터 </a:t>
            </a:r>
            <a:r>
              <a:rPr lang="en-US" altLang="ko-KR" sz="1150" dirty="0">
                <a:solidFill>
                  <a:schemeClr val="tx2"/>
                </a:solidFill>
              </a:rPr>
              <a:t>2</a:t>
            </a:r>
            <a:r>
              <a:rPr lang="ko-KR" altLang="en-US" sz="1150" dirty="0">
                <a:solidFill>
                  <a:schemeClr val="tx2"/>
                </a:solidFill>
              </a:rPr>
              <a:t>개월 이내에 별지 제</a:t>
            </a:r>
            <a:r>
              <a:rPr lang="en-US" altLang="ko-KR" sz="1150" dirty="0">
                <a:solidFill>
                  <a:schemeClr val="tx2"/>
                </a:solidFill>
              </a:rPr>
              <a:t>12</a:t>
            </a:r>
            <a:r>
              <a:rPr lang="ko-KR" altLang="en-US" sz="1150" dirty="0">
                <a:solidFill>
                  <a:schemeClr val="tx2"/>
                </a:solidFill>
              </a:rPr>
              <a:t>호서식의 취하서 또는 별지 제</a:t>
            </a:r>
            <a:r>
              <a:rPr lang="en-US" altLang="ko-KR" sz="1150" dirty="0">
                <a:solidFill>
                  <a:schemeClr val="tx2"/>
                </a:solidFill>
              </a:rPr>
              <a:t>9</a:t>
            </a:r>
            <a:r>
              <a:rPr lang="ko-KR" altLang="en-US" sz="1150" dirty="0">
                <a:solidFill>
                  <a:schemeClr val="tx2"/>
                </a:solidFill>
              </a:rPr>
              <a:t>호서식의 보정서를 제출하여야 한다</a:t>
            </a:r>
            <a:r>
              <a:rPr lang="en-US" altLang="ko-KR" sz="1150" dirty="0">
                <a:solidFill>
                  <a:schemeClr val="tx2"/>
                </a:solidFill>
              </a:rPr>
              <a:t>.</a:t>
            </a:r>
          </a:p>
          <a:p>
            <a:pPr fontAlgn="base"/>
            <a:r>
              <a:rPr lang="en-US" altLang="ko-KR" sz="1150" dirty="0">
                <a:solidFill>
                  <a:schemeClr val="tx2"/>
                </a:solidFill>
              </a:rPr>
              <a:t>③ </a:t>
            </a:r>
            <a:r>
              <a:rPr lang="ko-KR" altLang="en-US" sz="1150" dirty="0">
                <a:solidFill>
                  <a:schemeClr val="tx2"/>
                </a:solidFill>
              </a:rPr>
              <a:t>심사관은 제</a:t>
            </a:r>
            <a:r>
              <a:rPr lang="en-US" altLang="ko-KR" sz="1150" dirty="0">
                <a:solidFill>
                  <a:schemeClr val="tx2"/>
                </a:solidFill>
              </a:rPr>
              <a:t>1</a:t>
            </a:r>
            <a:r>
              <a:rPr lang="ko-KR" altLang="en-US" sz="1150" dirty="0">
                <a:solidFill>
                  <a:schemeClr val="tx2"/>
                </a:solidFill>
              </a:rPr>
              <a:t>항에 따른 심사유예신청이 있으면 유예희망시점까지 특허출원에 대한 심사를 유예할 수 있다</a:t>
            </a:r>
            <a:r>
              <a:rPr lang="en-US" altLang="ko-KR" sz="1150" dirty="0">
                <a:solidFill>
                  <a:schemeClr val="tx2"/>
                </a:solidFill>
              </a:rPr>
              <a:t>. </a:t>
            </a:r>
            <a:r>
              <a:rPr lang="ko-KR" altLang="en-US" sz="1150" dirty="0">
                <a:solidFill>
                  <a:schemeClr val="tx2"/>
                </a:solidFill>
              </a:rPr>
              <a:t>다만</a:t>
            </a:r>
            <a:r>
              <a:rPr lang="en-US" altLang="ko-KR" sz="1150" dirty="0">
                <a:solidFill>
                  <a:schemeClr val="tx2"/>
                </a:solidFill>
              </a:rPr>
              <a:t>, </a:t>
            </a:r>
            <a:r>
              <a:rPr lang="ko-KR" altLang="en-US" sz="1150" dirty="0">
                <a:solidFill>
                  <a:schemeClr val="tx2"/>
                </a:solidFill>
              </a:rPr>
              <a:t>다음 각 호의 어느 하나에 해당하는 경우에는 그러하지 아니하다</a:t>
            </a:r>
            <a:r>
              <a:rPr lang="en-US" altLang="ko-KR" sz="1150" dirty="0">
                <a:solidFill>
                  <a:schemeClr val="tx2"/>
                </a:solidFill>
              </a:rPr>
              <a:t>.</a:t>
            </a:r>
          </a:p>
          <a:p>
            <a:pPr fontAlgn="base"/>
            <a:r>
              <a:rPr lang="en-US" altLang="ko-KR" sz="1150" dirty="0">
                <a:solidFill>
                  <a:schemeClr val="tx2"/>
                </a:solidFill>
              </a:rPr>
              <a:t>1. </a:t>
            </a:r>
            <a:r>
              <a:rPr lang="ko-KR" altLang="en-US" sz="1150" dirty="0">
                <a:solidFill>
                  <a:schemeClr val="tx2"/>
                </a:solidFill>
              </a:rPr>
              <a:t>특허출원이 분리출원</a:t>
            </a:r>
            <a:r>
              <a:rPr lang="en-US" altLang="ko-KR" sz="1150" dirty="0">
                <a:solidFill>
                  <a:schemeClr val="tx2"/>
                </a:solidFill>
              </a:rPr>
              <a:t>, </a:t>
            </a:r>
            <a:r>
              <a:rPr lang="ko-KR" altLang="en-US" sz="1150" dirty="0">
                <a:solidFill>
                  <a:schemeClr val="tx2"/>
                </a:solidFill>
              </a:rPr>
              <a:t>변경출원 또는 정당한 권리자의 출원인 경우</a:t>
            </a:r>
          </a:p>
          <a:p>
            <a:pPr fontAlgn="base"/>
            <a:r>
              <a:rPr lang="en-US" altLang="ko-KR" sz="1150" dirty="0">
                <a:solidFill>
                  <a:schemeClr val="tx2"/>
                </a:solidFill>
              </a:rPr>
              <a:t>2. </a:t>
            </a:r>
            <a:r>
              <a:rPr lang="ko-KR" altLang="en-US" sz="1150" dirty="0">
                <a:solidFill>
                  <a:schemeClr val="tx2"/>
                </a:solidFill>
              </a:rPr>
              <a:t>특허출원에 대하여 우선심사결정을 한 경우</a:t>
            </a:r>
          </a:p>
          <a:p>
            <a:pPr fontAlgn="base"/>
            <a:r>
              <a:rPr lang="en-US" altLang="ko-KR" sz="1150" dirty="0">
                <a:solidFill>
                  <a:schemeClr val="tx2"/>
                </a:solidFill>
              </a:rPr>
              <a:t>3. </a:t>
            </a:r>
            <a:r>
              <a:rPr lang="ko-KR" altLang="en-US" sz="1150" dirty="0" err="1">
                <a:solidFill>
                  <a:schemeClr val="tx2"/>
                </a:solidFill>
              </a:rPr>
              <a:t>특허출원심사의</a:t>
            </a:r>
            <a:r>
              <a:rPr lang="ko-KR" altLang="en-US" sz="1150" dirty="0">
                <a:solidFill>
                  <a:schemeClr val="tx2"/>
                </a:solidFill>
              </a:rPr>
              <a:t> 유예신청이 있기 전에 이미 거절이유를 통지하거나 특허결정서를 통지한 경우</a:t>
            </a:r>
          </a:p>
          <a:p>
            <a:pPr fontAlgn="base"/>
            <a:r>
              <a:rPr lang="ko-KR" altLang="en-US" sz="1150" dirty="0">
                <a:solidFill>
                  <a:schemeClr val="tx2"/>
                </a:solidFill>
              </a:rPr>
              <a:t>④ 대리인에 의하여 절차를 밟는 경우에는 제</a:t>
            </a:r>
            <a:r>
              <a:rPr lang="en-US" altLang="ko-KR" sz="1150" dirty="0">
                <a:solidFill>
                  <a:schemeClr val="tx2"/>
                </a:solidFill>
              </a:rPr>
              <a:t>1</a:t>
            </a:r>
            <a:r>
              <a:rPr lang="ko-KR" altLang="en-US" sz="1150" dirty="0">
                <a:solidFill>
                  <a:schemeClr val="tx2"/>
                </a:solidFill>
              </a:rPr>
              <a:t>항에 따른 서식에 그 대리권을 증명하는 서류를 첨부하여야 한다</a:t>
            </a:r>
            <a:r>
              <a:rPr lang="en-US" altLang="ko-KR" sz="1150" dirty="0">
                <a:solidFill>
                  <a:schemeClr val="tx2"/>
                </a:solidFill>
              </a:rPr>
              <a:t>.</a:t>
            </a:r>
          </a:p>
        </p:txBody>
      </p:sp>
      <p:sp>
        <p:nvSpPr>
          <p:cNvPr id="2" name="슬라이드 번호 개체 틀 1"/>
          <p:cNvSpPr>
            <a:spLocks noGrp="1"/>
          </p:cNvSpPr>
          <p:nvPr>
            <p:ph type="sldNum" sz="quarter" idx="12"/>
          </p:nvPr>
        </p:nvSpPr>
        <p:spPr/>
        <p:txBody>
          <a:bodyPr/>
          <a:lstStyle/>
          <a:p>
            <a:r>
              <a:rPr lang="en-US" altLang="ko-KR"/>
              <a:t>252</a:t>
            </a:r>
            <a:endParaRPr lang="ko-KR" altLang="en-US" dirty="0"/>
          </a:p>
        </p:txBody>
      </p:sp>
      <p:sp>
        <p:nvSpPr>
          <p:cNvPr id="45" name="양쪽 모서리가 둥근 사각형 26">
            <a:extLst>
              <a:ext uri="{FF2B5EF4-FFF2-40B4-BE49-F238E27FC236}">
                <a16:creationId xmlns:a16="http://schemas.microsoft.com/office/drawing/2014/main" id="{D9185DCE-00F7-4643-BB4A-7340825912EC}"/>
              </a:ext>
            </a:extLst>
          </p:cNvPr>
          <p:cNvSpPr/>
          <p:nvPr/>
        </p:nvSpPr>
        <p:spPr>
          <a:xfrm>
            <a:off x="9163202" y="5556461"/>
            <a:ext cx="1913751" cy="716058"/>
          </a:xfrm>
          <a:prstGeom prst="round2SameRect">
            <a:avLst>
              <a:gd name="adj1" fmla="val 0"/>
              <a:gd name="adj2" fmla="val 50000"/>
            </a:avLst>
          </a:prstGeom>
          <a:pattFill prst="pct10">
            <a:fgClr>
              <a:schemeClr val="accent2">
                <a:lumMod val="75000"/>
              </a:schemeClr>
            </a:fgClr>
            <a:bgClr>
              <a:schemeClr val="bg1"/>
            </a:bgClr>
          </a:patt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양쪽 모서리가 둥근 사각형 88">
            <a:extLst>
              <a:ext uri="{FF2B5EF4-FFF2-40B4-BE49-F238E27FC236}">
                <a16:creationId xmlns:a16="http://schemas.microsoft.com/office/drawing/2014/main" id="{80C01EF2-E09B-4DFC-909E-0ADEF2DCFE64}"/>
              </a:ext>
            </a:extLst>
          </p:cNvPr>
          <p:cNvSpPr/>
          <p:nvPr/>
        </p:nvSpPr>
        <p:spPr>
          <a:xfrm>
            <a:off x="9775550" y="5214830"/>
            <a:ext cx="1033482" cy="340225"/>
          </a:xfrm>
          <a:prstGeom prst="round2SameRect">
            <a:avLst>
              <a:gd name="adj1" fmla="val 50000"/>
              <a:gd name="adj2" fmla="val 0"/>
            </a:avLst>
          </a:prstGeom>
          <a:pattFill prst="dotGrid">
            <a:fgClr>
              <a:schemeClr val="accent5">
                <a:lumMod val="75000"/>
              </a:schemeClr>
            </a:fgClr>
            <a:bgClr>
              <a:schemeClr val="bg1"/>
            </a:bgClr>
          </a:patt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7" name="양쪽 모서리가 둥근 사각형 88">
            <a:extLst>
              <a:ext uri="{FF2B5EF4-FFF2-40B4-BE49-F238E27FC236}">
                <a16:creationId xmlns:a16="http://schemas.microsoft.com/office/drawing/2014/main" id="{43A0F1E7-4C30-44B4-B457-4CD937B992BD}"/>
              </a:ext>
            </a:extLst>
          </p:cNvPr>
          <p:cNvSpPr/>
          <p:nvPr/>
        </p:nvSpPr>
        <p:spPr>
          <a:xfrm>
            <a:off x="7638635" y="5214830"/>
            <a:ext cx="1193046" cy="340225"/>
          </a:xfrm>
          <a:prstGeom prst="round2SameRect">
            <a:avLst>
              <a:gd name="adj1" fmla="val 50000"/>
              <a:gd name="adj2" fmla="val 0"/>
            </a:avLst>
          </a:prstGeom>
          <a:pattFill prst="lgGrid">
            <a:fgClr>
              <a:schemeClr val="accent4"/>
            </a:fgClr>
            <a:bgClr>
              <a:schemeClr val="bg1"/>
            </a:bgClr>
          </a:patt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54" name="직사각형 53">
            <a:extLst>
              <a:ext uri="{FF2B5EF4-FFF2-40B4-BE49-F238E27FC236}">
                <a16:creationId xmlns:a16="http://schemas.microsoft.com/office/drawing/2014/main" id="{E5B584C7-A600-47EF-8FCC-93CE1474A09B}"/>
              </a:ext>
            </a:extLst>
          </p:cNvPr>
          <p:cNvSpPr/>
          <p:nvPr/>
        </p:nvSpPr>
        <p:spPr>
          <a:xfrm>
            <a:off x="7549329" y="4953152"/>
            <a:ext cx="1434956" cy="3103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accent5">
                    <a:lumMod val="50000"/>
                  </a:schemeClr>
                </a:solidFill>
              </a:rPr>
              <a:t>9</a:t>
            </a:r>
            <a:r>
              <a:rPr lang="ko-KR" altLang="en-US" sz="1200" dirty="0">
                <a:solidFill>
                  <a:schemeClr val="accent5">
                    <a:lumMod val="50000"/>
                  </a:schemeClr>
                </a:solidFill>
              </a:rPr>
              <a:t>개월</a:t>
            </a:r>
          </a:p>
        </p:txBody>
      </p:sp>
      <p:sp>
        <p:nvSpPr>
          <p:cNvPr id="59" name="직사각형 58">
            <a:extLst>
              <a:ext uri="{FF2B5EF4-FFF2-40B4-BE49-F238E27FC236}">
                <a16:creationId xmlns:a16="http://schemas.microsoft.com/office/drawing/2014/main" id="{F720083E-0685-4C91-9194-2B2E51DA13B4}"/>
              </a:ext>
            </a:extLst>
          </p:cNvPr>
          <p:cNvSpPr/>
          <p:nvPr/>
        </p:nvSpPr>
        <p:spPr>
          <a:xfrm>
            <a:off x="7693471" y="5973196"/>
            <a:ext cx="1434956" cy="3103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accent5">
                    <a:lumMod val="50000"/>
                  </a:schemeClr>
                </a:solidFill>
              </a:rPr>
              <a:t>24</a:t>
            </a:r>
            <a:r>
              <a:rPr lang="ko-KR" altLang="en-US" sz="1200" dirty="0">
                <a:solidFill>
                  <a:schemeClr val="accent5">
                    <a:lumMod val="50000"/>
                  </a:schemeClr>
                </a:solidFill>
              </a:rPr>
              <a:t>개월</a:t>
            </a:r>
          </a:p>
        </p:txBody>
      </p:sp>
      <p:sp>
        <p:nvSpPr>
          <p:cNvPr id="60" name="직사각형 59">
            <a:extLst>
              <a:ext uri="{FF2B5EF4-FFF2-40B4-BE49-F238E27FC236}">
                <a16:creationId xmlns:a16="http://schemas.microsoft.com/office/drawing/2014/main" id="{D94F9EEB-8256-4DF4-A843-5BCCE6126787}"/>
              </a:ext>
            </a:extLst>
          </p:cNvPr>
          <p:cNvSpPr/>
          <p:nvPr/>
        </p:nvSpPr>
        <p:spPr>
          <a:xfrm>
            <a:off x="8235158" y="6429338"/>
            <a:ext cx="1434956" cy="3103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accent5">
                    <a:lumMod val="50000"/>
                  </a:schemeClr>
                </a:solidFill>
              </a:rPr>
              <a:t>5</a:t>
            </a:r>
            <a:r>
              <a:rPr lang="ko-KR" altLang="en-US" sz="1200" dirty="0">
                <a:solidFill>
                  <a:schemeClr val="accent5">
                    <a:lumMod val="50000"/>
                  </a:schemeClr>
                </a:solidFill>
              </a:rPr>
              <a:t>년</a:t>
            </a:r>
          </a:p>
        </p:txBody>
      </p:sp>
      <p:sp>
        <p:nvSpPr>
          <p:cNvPr id="62" name="직사각형 61">
            <a:extLst>
              <a:ext uri="{FF2B5EF4-FFF2-40B4-BE49-F238E27FC236}">
                <a16:creationId xmlns:a16="http://schemas.microsoft.com/office/drawing/2014/main" id="{1699868E-DA46-49AA-B4C9-B443F4432996}"/>
              </a:ext>
            </a:extLst>
          </p:cNvPr>
          <p:cNvSpPr/>
          <p:nvPr/>
        </p:nvSpPr>
        <p:spPr>
          <a:xfrm>
            <a:off x="8893191" y="5588521"/>
            <a:ext cx="1434956" cy="3103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accent5">
                    <a:lumMod val="50000"/>
                  </a:schemeClr>
                </a:solidFill>
              </a:rPr>
              <a:t>유예희망시점</a:t>
            </a:r>
          </a:p>
        </p:txBody>
      </p:sp>
      <p:sp>
        <p:nvSpPr>
          <p:cNvPr id="65" name="직사각형 64">
            <a:extLst>
              <a:ext uri="{FF2B5EF4-FFF2-40B4-BE49-F238E27FC236}">
                <a16:creationId xmlns:a16="http://schemas.microsoft.com/office/drawing/2014/main" id="{2C441162-1C38-4906-A0CF-D0C55043BEA1}"/>
              </a:ext>
            </a:extLst>
          </p:cNvPr>
          <p:cNvSpPr/>
          <p:nvPr/>
        </p:nvSpPr>
        <p:spPr>
          <a:xfrm>
            <a:off x="9523697" y="4953152"/>
            <a:ext cx="1434956" cy="3103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accent5">
                    <a:lumMod val="50000"/>
                  </a:schemeClr>
                </a:solidFill>
              </a:rPr>
              <a:t>12</a:t>
            </a:r>
            <a:r>
              <a:rPr lang="ko-KR" altLang="en-US" sz="1200" dirty="0">
                <a:solidFill>
                  <a:schemeClr val="accent5">
                    <a:lumMod val="50000"/>
                  </a:schemeClr>
                </a:solidFill>
              </a:rPr>
              <a:t>개월</a:t>
            </a:r>
          </a:p>
        </p:txBody>
      </p:sp>
      <p:sp>
        <p:nvSpPr>
          <p:cNvPr id="67" name="직사각형 66">
            <a:extLst>
              <a:ext uri="{FF2B5EF4-FFF2-40B4-BE49-F238E27FC236}">
                <a16:creationId xmlns:a16="http://schemas.microsoft.com/office/drawing/2014/main" id="{3C4AC9F8-8DBA-44E0-A94D-DFDADE8BDE21}"/>
              </a:ext>
            </a:extLst>
          </p:cNvPr>
          <p:cNvSpPr/>
          <p:nvPr/>
        </p:nvSpPr>
        <p:spPr>
          <a:xfrm>
            <a:off x="9438589" y="5937823"/>
            <a:ext cx="1539364" cy="3103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b="1" dirty="0">
                <a:solidFill>
                  <a:srgbClr val="FF0000"/>
                </a:solidFill>
              </a:rPr>
              <a:t>유예희망가능기간</a:t>
            </a:r>
          </a:p>
        </p:txBody>
      </p:sp>
      <p:sp>
        <p:nvSpPr>
          <p:cNvPr id="68" name="양쪽 모서리가 둥근 사각형 26">
            <a:extLst>
              <a:ext uri="{FF2B5EF4-FFF2-40B4-BE49-F238E27FC236}">
                <a16:creationId xmlns:a16="http://schemas.microsoft.com/office/drawing/2014/main" id="{8ADF112E-1B64-443D-87F6-42678426BC1C}"/>
              </a:ext>
            </a:extLst>
          </p:cNvPr>
          <p:cNvSpPr/>
          <p:nvPr/>
        </p:nvSpPr>
        <p:spPr>
          <a:xfrm>
            <a:off x="7638265" y="5556461"/>
            <a:ext cx="1524937" cy="385912"/>
          </a:xfrm>
          <a:prstGeom prst="round2SameRect">
            <a:avLst>
              <a:gd name="adj1" fmla="val 0"/>
              <a:gd name="adj2" fmla="val 50000"/>
            </a:avLst>
          </a:prstGeom>
          <a:noFill/>
          <a:ln w="19050">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양쪽 모서리가 둥근 사각형 26">
            <a:extLst>
              <a:ext uri="{FF2B5EF4-FFF2-40B4-BE49-F238E27FC236}">
                <a16:creationId xmlns:a16="http://schemas.microsoft.com/office/drawing/2014/main" id="{DD4F65EC-00AA-46E1-9B5E-7D4743E0F086}"/>
              </a:ext>
            </a:extLst>
          </p:cNvPr>
          <p:cNvSpPr/>
          <p:nvPr/>
        </p:nvSpPr>
        <p:spPr>
          <a:xfrm>
            <a:off x="6840011" y="5556462"/>
            <a:ext cx="4236942" cy="883166"/>
          </a:xfrm>
          <a:prstGeom prst="round2SameRect">
            <a:avLst>
              <a:gd name="adj1" fmla="val 0"/>
              <a:gd name="adj2" fmla="val 50000"/>
            </a:avLst>
          </a:prstGeom>
          <a:noFill/>
          <a:ln w="19050">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3" name="직선 화살표 연결선 52">
            <a:extLst>
              <a:ext uri="{FF2B5EF4-FFF2-40B4-BE49-F238E27FC236}">
                <a16:creationId xmlns:a16="http://schemas.microsoft.com/office/drawing/2014/main" id="{E9573D16-D7B4-448D-AB1A-512AE08AE741}"/>
              </a:ext>
            </a:extLst>
          </p:cNvPr>
          <p:cNvCxnSpPr>
            <a:cxnSpLocks/>
          </p:cNvCxnSpPr>
          <p:nvPr/>
        </p:nvCxnSpPr>
        <p:spPr>
          <a:xfrm>
            <a:off x="6662117" y="5559398"/>
            <a:ext cx="5129292"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4" name="타원 73">
            <a:extLst>
              <a:ext uri="{FF2B5EF4-FFF2-40B4-BE49-F238E27FC236}">
                <a16:creationId xmlns:a16="http://schemas.microsoft.com/office/drawing/2014/main" id="{15BD77FD-0D23-437C-87B7-C3449647C5EE}"/>
              </a:ext>
            </a:extLst>
          </p:cNvPr>
          <p:cNvSpPr/>
          <p:nvPr/>
        </p:nvSpPr>
        <p:spPr>
          <a:xfrm>
            <a:off x="9700541" y="5489297"/>
            <a:ext cx="137400" cy="13221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직사각형 69">
            <a:extLst>
              <a:ext uri="{FF2B5EF4-FFF2-40B4-BE49-F238E27FC236}">
                <a16:creationId xmlns:a16="http://schemas.microsoft.com/office/drawing/2014/main" id="{2792489D-E580-43BD-B4E3-BFE9BCAEB2D3}"/>
              </a:ext>
            </a:extLst>
          </p:cNvPr>
          <p:cNvSpPr/>
          <p:nvPr/>
        </p:nvSpPr>
        <p:spPr>
          <a:xfrm>
            <a:off x="6590545" y="5366856"/>
            <a:ext cx="467595" cy="371198"/>
          </a:xfrm>
          <a:prstGeom prst="rect">
            <a:avLst/>
          </a:prstGeom>
          <a:solidFill>
            <a:schemeClr val="accent1">
              <a:lumMod val="20000"/>
              <a:lumOff val="80000"/>
            </a:schemeClr>
          </a:solid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특허출원</a:t>
            </a:r>
          </a:p>
        </p:txBody>
      </p:sp>
      <p:sp>
        <p:nvSpPr>
          <p:cNvPr id="71" name="직사각형 70">
            <a:extLst>
              <a:ext uri="{FF2B5EF4-FFF2-40B4-BE49-F238E27FC236}">
                <a16:creationId xmlns:a16="http://schemas.microsoft.com/office/drawing/2014/main" id="{335A6ABC-B642-42C4-A06B-06B945D3AA30}"/>
              </a:ext>
            </a:extLst>
          </p:cNvPr>
          <p:cNvSpPr/>
          <p:nvPr/>
        </p:nvSpPr>
        <p:spPr>
          <a:xfrm>
            <a:off x="7404468" y="5366856"/>
            <a:ext cx="467595" cy="371198"/>
          </a:xfrm>
          <a:prstGeom prst="rect">
            <a:avLst/>
          </a:prstGeom>
          <a:solidFill>
            <a:schemeClr val="accent1">
              <a:lumMod val="20000"/>
              <a:lumOff val="80000"/>
            </a:schemeClr>
          </a:solid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심사청구</a:t>
            </a:r>
          </a:p>
        </p:txBody>
      </p:sp>
      <p:sp>
        <p:nvSpPr>
          <p:cNvPr id="73" name="직사각형 72">
            <a:extLst>
              <a:ext uri="{FF2B5EF4-FFF2-40B4-BE49-F238E27FC236}">
                <a16:creationId xmlns:a16="http://schemas.microsoft.com/office/drawing/2014/main" id="{DCEA1B41-4FE0-449E-A30E-7F4C4ECCD733}"/>
              </a:ext>
            </a:extLst>
          </p:cNvPr>
          <p:cNvSpPr/>
          <p:nvPr/>
        </p:nvSpPr>
        <p:spPr>
          <a:xfrm>
            <a:off x="8085170" y="5366856"/>
            <a:ext cx="471731" cy="371198"/>
          </a:xfrm>
          <a:prstGeom prst="rect">
            <a:avLst/>
          </a:prstGeom>
          <a:solidFill>
            <a:schemeClr val="accent2"/>
          </a:solid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유예신청</a:t>
            </a:r>
          </a:p>
        </p:txBody>
      </p:sp>
      <p:sp>
        <p:nvSpPr>
          <p:cNvPr id="72" name="직사각형 71">
            <a:extLst>
              <a:ext uri="{FF2B5EF4-FFF2-40B4-BE49-F238E27FC236}">
                <a16:creationId xmlns:a16="http://schemas.microsoft.com/office/drawing/2014/main" id="{3D0FE57C-6432-4C0F-AC79-D05FCFB98387}"/>
              </a:ext>
            </a:extLst>
          </p:cNvPr>
          <p:cNvSpPr/>
          <p:nvPr/>
        </p:nvSpPr>
        <p:spPr>
          <a:xfrm>
            <a:off x="10049923" y="5366856"/>
            <a:ext cx="467595" cy="371198"/>
          </a:xfrm>
          <a:prstGeom prst="rect">
            <a:avLst/>
          </a:prstGeom>
          <a:solidFill>
            <a:schemeClr val="accent5">
              <a:lumMod val="75000"/>
            </a:schemeClr>
          </a:solid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실체심사</a:t>
            </a:r>
          </a:p>
        </p:txBody>
      </p:sp>
      <p:cxnSp>
        <p:nvCxnSpPr>
          <p:cNvPr id="12" name="직선 연결선 11">
            <a:extLst>
              <a:ext uri="{FF2B5EF4-FFF2-40B4-BE49-F238E27FC236}">
                <a16:creationId xmlns:a16="http://schemas.microsoft.com/office/drawing/2014/main" id="{232F716A-04AB-49F1-9F8F-37876611E9D8}"/>
              </a:ext>
            </a:extLst>
          </p:cNvPr>
          <p:cNvCxnSpPr/>
          <p:nvPr/>
        </p:nvCxnSpPr>
        <p:spPr>
          <a:xfrm>
            <a:off x="6096000" y="809897"/>
            <a:ext cx="0" cy="590441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D245C62E-0269-4448-998A-2F353C5FF0C2}"/>
              </a:ext>
            </a:extLst>
          </p:cNvPr>
          <p:cNvSpPr txBox="1"/>
          <p:nvPr/>
        </p:nvSpPr>
        <p:spPr>
          <a:xfrm>
            <a:off x="156512" y="976902"/>
            <a:ext cx="5939483" cy="4162678"/>
          </a:xfrm>
          <a:prstGeom prst="rect">
            <a:avLst/>
          </a:prstGeom>
          <a:noFill/>
        </p:spPr>
        <p:txBody>
          <a:bodyPr wrap="square" rtlCol="0">
            <a:spAutoFit/>
          </a:bodyPr>
          <a:lstStyle/>
          <a:p>
            <a:pPr fontAlgn="base"/>
            <a:r>
              <a:rPr lang="ko-KR" altLang="en-US" sz="1150" b="1" dirty="0">
                <a:solidFill>
                  <a:schemeClr val="accent1"/>
                </a:solidFill>
              </a:rPr>
              <a:t>시행규칙 제</a:t>
            </a:r>
            <a:r>
              <a:rPr lang="en-US" altLang="ko-KR" sz="1150" b="1" dirty="0">
                <a:solidFill>
                  <a:schemeClr val="accent1"/>
                </a:solidFill>
              </a:rPr>
              <a:t>38</a:t>
            </a:r>
            <a:r>
              <a:rPr lang="ko-KR" altLang="en-US" sz="1150" b="1" dirty="0">
                <a:solidFill>
                  <a:schemeClr val="accent1"/>
                </a:solidFill>
              </a:rPr>
              <a:t>조</a:t>
            </a:r>
            <a:r>
              <a:rPr lang="en-US" altLang="ko-KR" sz="1150" b="1" dirty="0">
                <a:solidFill>
                  <a:schemeClr val="accent1"/>
                </a:solidFill>
              </a:rPr>
              <a:t>(</a:t>
            </a:r>
            <a:r>
              <a:rPr lang="ko-KR" altLang="en-US" sz="1150" b="1" dirty="0">
                <a:solidFill>
                  <a:schemeClr val="accent1"/>
                </a:solidFill>
              </a:rPr>
              <a:t>심사의 순위</a:t>
            </a:r>
            <a:r>
              <a:rPr lang="en-US" altLang="ko-KR" sz="1150" b="1" dirty="0">
                <a:solidFill>
                  <a:schemeClr val="accent1"/>
                </a:solidFill>
              </a:rPr>
              <a:t>) </a:t>
            </a:r>
            <a:r>
              <a:rPr lang="en-US" altLang="ko-KR" sz="1150" dirty="0">
                <a:solidFill>
                  <a:schemeClr val="tx2"/>
                </a:solidFill>
              </a:rPr>
              <a:t>① </a:t>
            </a:r>
            <a:r>
              <a:rPr lang="ko-KR" altLang="en-US" sz="1150" dirty="0">
                <a:solidFill>
                  <a:schemeClr val="tx2"/>
                </a:solidFill>
              </a:rPr>
              <a:t>특허출원에 대한 심사는 법 제</a:t>
            </a:r>
            <a:r>
              <a:rPr lang="en-US" altLang="ko-KR" sz="1150" dirty="0">
                <a:solidFill>
                  <a:schemeClr val="tx2"/>
                </a:solidFill>
              </a:rPr>
              <a:t>59</a:t>
            </a:r>
            <a:r>
              <a:rPr lang="ko-KR" altLang="en-US" sz="1150" dirty="0">
                <a:solidFill>
                  <a:schemeClr val="tx2"/>
                </a:solidFill>
              </a:rPr>
              <a:t>조제</a:t>
            </a:r>
            <a:r>
              <a:rPr lang="en-US" altLang="ko-KR" sz="1150" dirty="0">
                <a:solidFill>
                  <a:schemeClr val="tx2"/>
                </a:solidFill>
              </a:rPr>
              <a:t>1</a:t>
            </a:r>
            <a:r>
              <a:rPr lang="ko-KR" altLang="en-US" sz="1150" dirty="0">
                <a:solidFill>
                  <a:schemeClr val="tx2"/>
                </a:solidFill>
              </a:rPr>
              <a:t>항에 따른 출원심사의 청구순위에 따른다</a:t>
            </a:r>
            <a:r>
              <a:rPr lang="en-US" altLang="ko-KR" sz="1150" dirty="0">
                <a:solidFill>
                  <a:schemeClr val="tx2"/>
                </a:solidFill>
              </a:rPr>
              <a:t>.  </a:t>
            </a:r>
          </a:p>
          <a:p>
            <a:pPr fontAlgn="base"/>
            <a:r>
              <a:rPr lang="ko-KR" altLang="en-US" sz="1150" dirty="0">
                <a:solidFill>
                  <a:schemeClr val="tx2"/>
                </a:solidFill>
              </a:rPr>
              <a:t>② 제</a:t>
            </a:r>
            <a:r>
              <a:rPr lang="en-US" altLang="ko-KR" sz="1150" dirty="0">
                <a:solidFill>
                  <a:schemeClr val="tx2"/>
                </a:solidFill>
              </a:rPr>
              <a:t>1</a:t>
            </a:r>
            <a:r>
              <a:rPr lang="ko-KR" altLang="en-US" sz="1150" dirty="0">
                <a:solidFill>
                  <a:schemeClr val="tx2"/>
                </a:solidFill>
              </a:rPr>
              <a:t>항에도 불구하고 다음 각 호의 어느 하나에 해당하는 경우에는 </a:t>
            </a:r>
            <a:r>
              <a:rPr lang="ko-KR" altLang="en-US" sz="1150" dirty="0">
                <a:solidFill>
                  <a:srgbClr val="FF0000"/>
                </a:solidFill>
              </a:rPr>
              <a:t>지식재산처장이 정하는 바*에 </a:t>
            </a:r>
            <a:r>
              <a:rPr lang="ko-KR" altLang="en-US" sz="1150" dirty="0">
                <a:solidFill>
                  <a:schemeClr val="tx2"/>
                </a:solidFill>
              </a:rPr>
              <a:t>따라 심사한다</a:t>
            </a:r>
            <a:r>
              <a:rPr lang="en-US" altLang="ko-KR" sz="1150" dirty="0">
                <a:solidFill>
                  <a:schemeClr val="tx2"/>
                </a:solidFill>
              </a:rPr>
              <a:t>. </a:t>
            </a:r>
          </a:p>
          <a:p>
            <a:pPr fontAlgn="base"/>
            <a:r>
              <a:rPr lang="en-US" altLang="ko-KR" sz="1150" dirty="0">
                <a:solidFill>
                  <a:schemeClr val="tx2"/>
                </a:solidFill>
              </a:rPr>
              <a:t>  1. </a:t>
            </a:r>
            <a:r>
              <a:rPr lang="ko-KR" altLang="en-US" sz="1150" dirty="0" err="1">
                <a:solidFill>
                  <a:schemeClr val="tx2"/>
                </a:solidFill>
              </a:rPr>
              <a:t>심사청구된</a:t>
            </a:r>
            <a:r>
              <a:rPr lang="ko-KR" altLang="en-US" sz="1150" dirty="0">
                <a:solidFill>
                  <a:schemeClr val="tx2"/>
                </a:solidFill>
              </a:rPr>
              <a:t> 특허출원을 법 제</a:t>
            </a:r>
            <a:r>
              <a:rPr lang="en-US" altLang="ko-KR" sz="1150" dirty="0">
                <a:solidFill>
                  <a:schemeClr val="tx2"/>
                </a:solidFill>
              </a:rPr>
              <a:t>52</a:t>
            </a:r>
            <a:r>
              <a:rPr lang="ko-KR" altLang="en-US" sz="1150" dirty="0">
                <a:solidFill>
                  <a:schemeClr val="tx2"/>
                </a:solidFill>
              </a:rPr>
              <a:t>조에 따라 </a:t>
            </a:r>
            <a:r>
              <a:rPr lang="ko-KR" altLang="en-US" sz="1150" dirty="0" err="1">
                <a:solidFill>
                  <a:schemeClr val="tx2"/>
                </a:solidFill>
              </a:rPr>
              <a:t>분할출원하여</a:t>
            </a:r>
            <a:r>
              <a:rPr lang="ko-KR" altLang="en-US" sz="1150" dirty="0">
                <a:solidFill>
                  <a:schemeClr val="tx2"/>
                </a:solidFill>
              </a:rPr>
              <a:t> 심사청구한 경우</a:t>
            </a:r>
          </a:p>
          <a:p>
            <a:pPr fontAlgn="base"/>
            <a:r>
              <a:rPr lang="ko-KR" altLang="en-US" sz="1150" dirty="0">
                <a:solidFill>
                  <a:schemeClr val="tx2"/>
                </a:solidFill>
              </a:rPr>
              <a:t>  </a:t>
            </a:r>
            <a:r>
              <a:rPr lang="en-US" altLang="ko-KR" sz="1150" dirty="0">
                <a:solidFill>
                  <a:schemeClr val="tx2"/>
                </a:solidFill>
              </a:rPr>
              <a:t>2. </a:t>
            </a:r>
            <a:r>
              <a:rPr lang="ko-KR" altLang="en-US" sz="1150" dirty="0" err="1">
                <a:solidFill>
                  <a:schemeClr val="tx2"/>
                </a:solidFill>
              </a:rPr>
              <a:t>심사청구된</a:t>
            </a:r>
            <a:r>
              <a:rPr lang="ko-KR" altLang="en-US" sz="1150" dirty="0">
                <a:solidFill>
                  <a:schemeClr val="tx2"/>
                </a:solidFill>
              </a:rPr>
              <a:t> 특허출원을 법 제</a:t>
            </a:r>
            <a:r>
              <a:rPr lang="en-US" altLang="ko-KR" sz="1150" dirty="0">
                <a:solidFill>
                  <a:schemeClr val="tx2"/>
                </a:solidFill>
              </a:rPr>
              <a:t>52</a:t>
            </a:r>
            <a:r>
              <a:rPr lang="ko-KR" altLang="en-US" sz="1150" dirty="0">
                <a:solidFill>
                  <a:schemeClr val="tx2"/>
                </a:solidFill>
              </a:rPr>
              <a:t>조의</a:t>
            </a:r>
            <a:r>
              <a:rPr lang="en-US" altLang="ko-KR" sz="1150" dirty="0">
                <a:solidFill>
                  <a:schemeClr val="tx2"/>
                </a:solidFill>
              </a:rPr>
              <a:t>2</a:t>
            </a:r>
            <a:r>
              <a:rPr lang="ko-KR" altLang="en-US" sz="1150" dirty="0">
                <a:solidFill>
                  <a:schemeClr val="tx2"/>
                </a:solidFill>
              </a:rPr>
              <a:t>에 따라 </a:t>
            </a:r>
            <a:r>
              <a:rPr lang="ko-KR" altLang="en-US" sz="1150" dirty="0" err="1">
                <a:solidFill>
                  <a:schemeClr val="tx2"/>
                </a:solidFill>
              </a:rPr>
              <a:t>분리출원하여</a:t>
            </a:r>
            <a:r>
              <a:rPr lang="ko-KR" altLang="en-US" sz="1150" dirty="0">
                <a:solidFill>
                  <a:schemeClr val="tx2"/>
                </a:solidFill>
              </a:rPr>
              <a:t> 심사청구한 경우</a:t>
            </a:r>
          </a:p>
          <a:p>
            <a:pPr fontAlgn="base"/>
            <a:r>
              <a:rPr lang="ko-KR" altLang="en-US" sz="1150" dirty="0">
                <a:solidFill>
                  <a:schemeClr val="tx2"/>
                </a:solidFill>
              </a:rPr>
              <a:t>  </a:t>
            </a:r>
            <a:r>
              <a:rPr lang="en-US" altLang="ko-KR" sz="1150" dirty="0">
                <a:solidFill>
                  <a:schemeClr val="tx2"/>
                </a:solidFill>
              </a:rPr>
              <a:t>3. </a:t>
            </a:r>
            <a:r>
              <a:rPr lang="ko-KR" altLang="en-US" sz="1150" dirty="0" err="1">
                <a:solidFill>
                  <a:schemeClr val="tx2"/>
                </a:solidFill>
              </a:rPr>
              <a:t>심사청구된</a:t>
            </a:r>
            <a:r>
              <a:rPr lang="ko-KR" altLang="en-US" sz="1150" dirty="0">
                <a:solidFill>
                  <a:schemeClr val="tx2"/>
                </a:solidFill>
              </a:rPr>
              <a:t> 실용신안등록출원을 법 제</a:t>
            </a:r>
            <a:r>
              <a:rPr lang="en-US" altLang="ko-KR" sz="1150" dirty="0">
                <a:solidFill>
                  <a:schemeClr val="tx2"/>
                </a:solidFill>
              </a:rPr>
              <a:t>53</a:t>
            </a:r>
            <a:r>
              <a:rPr lang="ko-KR" altLang="en-US" sz="1150" dirty="0">
                <a:solidFill>
                  <a:schemeClr val="tx2"/>
                </a:solidFill>
              </a:rPr>
              <a:t>조에 따라 특허출원으로 </a:t>
            </a:r>
            <a:r>
              <a:rPr lang="ko-KR" altLang="en-US" sz="1150" dirty="0" err="1">
                <a:solidFill>
                  <a:schemeClr val="tx2"/>
                </a:solidFill>
              </a:rPr>
              <a:t>변경출원하여</a:t>
            </a:r>
            <a:r>
              <a:rPr lang="ko-KR" altLang="en-US" sz="1150" dirty="0">
                <a:solidFill>
                  <a:schemeClr val="tx2"/>
                </a:solidFill>
              </a:rPr>
              <a:t> 심사청구한 경우</a:t>
            </a:r>
            <a:r>
              <a:rPr lang="en-US" altLang="ko-KR" sz="1150" dirty="0">
                <a:solidFill>
                  <a:schemeClr val="tx2"/>
                </a:solidFill>
              </a:rPr>
              <a:t> </a:t>
            </a:r>
          </a:p>
          <a:p>
            <a:pPr fontAlgn="base"/>
            <a:r>
              <a:rPr lang="ko-KR" altLang="en-US" sz="1150" b="1" dirty="0">
                <a:solidFill>
                  <a:schemeClr val="accent1"/>
                </a:solidFill>
              </a:rPr>
              <a:t>시행규칙 제</a:t>
            </a:r>
            <a:r>
              <a:rPr lang="en-US" altLang="ko-KR" sz="1150" b="1" dirty="0">
                <a:solidFill>
                  <a:schemeClr val="accent1"/>
                </a:solidFill>
              </a:rPr>
              <a:t>40</a:t>
            </a:r>
            <a:r>
              <a:rPr lang="ko-KR" altLang="en-US" sz="1150" b="1" dirty="0">
                <a:solidFill>
                  <a:schemeClr val="accent1"/>
                </a:solidFill>
              </a:rPr>
              <a:t>조</a:t>
            </a:r>
            <a:r>
              <a:rPr lang="en-US" altLang="ko-KR" sz="1150" b="1" dirty="0">
                <a:solidFill>
                  <a:schemeClr val="accent1"/>
                </a:solidFill>
              </a:rPr>
              <a:t>(</a:t>
            </a:r>
            <a:r>
              <a:rPr lang="ko-KR" altLang="en-US" sz="1150" b="1" dirty="0">
                <a:solidFill>
                  <a:schemeClr val="accent1"/>
                </a:solidFill>
              </a:rPr>
              <a:t>동일출원의 심사</a:t>
            </a:r>
            <a:r>
              <a:rPr lang="en-US" altLang="ko-KR" sz="1150" b="1" dirty="0">
                <a:solidFill>
                  <a:schemeClr val="accent1"/>
                </a:solidFill>
              </a:rPr>
              <a:t>) </a:t>
            </a:r>
            <a:r>
              <a:rPr lang="en-US" altLang="ko-KR" sz="1150" dirty="0">
                <a:solidFill>
                  <a:schemeClr val="tx2"/>
                </a:solidFill>
              </a:rPr>
              <a:t>① </a:t>
            </a:r>
            <a:r>
              <a:rPr lang="ko-KR" altLang="en-US" sz="1150" dirty="0">
                <a:solidFill>
                  <a:schemeClr val="tx2"/>
                </a:solidFill>
              </a:rPr>
              <a:t>동일한 발명에 대하여 다른 날에 둘 이상의 특허출원이 있는 경우에는 선출원이 처리되거나 출원공개 또는 등록공고 될 때까지 후출원의 심사를 보류하여야 한다</a:t>
            </a:r>
            <a:r>
              <a:rPr lang="en-US" altLang="ko-KR" sz="1150" dirty="0">
                <a:solidFill>
                  <a:schemeClr val="tx2"/>
                </a:solidFill>
              </a:rPr>
              <a:t>. </a:t>
            </a:r>
            <a:r>
              <a:rPr lang="ko-KR" altLang="en-US" sz="1150" dirty="0">
                <a:solidFill>
                  <a:schemeClr val="tx2"/>
                </a:solidFill>
              </a:rPr>
              <a:t>다만</a:t>
            </a:r>
            <a:r>
              <a:rPr lang="en-US" altLang="ko-KR" sz="1150" dirty="0">
                <a:solidFill>
                  <a:schemeClr val="tx2"/>
                </a:solidFill>
              </a:rPr>
              <a:t>, </a:t>
            </a:r>
            <a:r>
              <a:rPr lang="ko-KR" altLang="en-US" sz="1150" dirty="0">
                <a:solidFill>
                  <a:schemeClr val="tx2"/>
                </a:solidFill>
              </a:rPr>
              <a:t>선출원을 거절할 이유와 동일한 이유에 의하여 후출원을 거절하는 경우에는 그러하지 아니하다</a:t>
            </a:r>
            <a:r>
              <a:rPr lang="en-US" altLang="ko-KR" sz="1150" dirty="0">
                <a:solidFill>
                  <a:schemeClr val="tx2"/>
                </a:solidFill>
              </a:rPr>
              <a:t>.  </a:t>
            </a:r>
          </a:p>
          <a:p>
            <a:pPr fontAlgn="base"/>
            <a:r>
              <a:rPr lang="en-US" altLang="ko-KR" sz="1150" dirty="0">
                <a:solidFill>
                  <a:schemeClr val="tx2"/>
                </a:solidFill>
              </a:rPr>
              <a:t>② </a:t>
            </a:r>
            <a:r>
              <a:rPr lang="ko-KR" altLang="en-US" sz="1150" dirty="0">
                <a:solidFill>
                  <a:schemeClr val="tx2"/>
                </a:solidFill>
              </a:rPr>
              <a:t>심사관이 제</a:t>
            </a:r>
            <a:r>
              <a:rPr lang="en-US" altLang="ko-KR" sz="1150" dirty="0">
                <a:solidFill>
                  <a:schemeClr val="tx2"/>
                </a:solidFill>
              </a:rPr>
              <a:t>1</a:t>
            </a:r>
            <a:r>
              <a:rPr lang="ko-KR" altLang="en-US" sz="1150" dirty="0">
                <a:solidFill>
                  <a:schemeClr val="tx2"/>
                </a:solidFill>
              </a:rPr>
              <a:t>항에 따라 심사를 보류하려는 경우에는 지식재산처장이 지정한 심사장의 확인을 받아야 한다</a:t>
            </a:r>
            <a:endParaRPr lang="en-US" altLang="ko-KR" sz="1150" dirty="0">
              <a:solidFill>
                <a:schemeClr val="tx2"/>
              </a:solidFill>
            </a:endParaRPr>
          </a:p>
          <a:p>
            <a:pPr fontAlgn="base"/>
            <a:r>
              <a:rPr lang="ko-KR" altLang="en-US" sz="1150" b="1" dirty="0">
                <a:solidFill>
                  <a:schemeClr val="accent1"/>
                </a:solidFill>
              </a:rPr>
              <a:t>시행규칙 제</a:t>
            </a:r>
            <a:r>
              <a:rPr lang="en-US" altLang="ko-KR" sz="1150" b="1" dirty="0">
                <a:solidFill>
                  <a:schemeClr val="accent1"/>
                </a:solidFill>
              </a:rPr>
              <a:t>40</a:t>
            </a:r>
            <a:r>
              <a:rPr lang="ko-KR" altLang="en-US" sz="1150" b="1" dirty="0">
                <a:solidFill>
                  <a:schemeClr val="accent1"/>
                </a:solidFill>
              </a:rPr>
              <a:t>조의</a:t>
            </a:r>
            <a:r>
              <a:rPr lang="en-US" altLang="ko-KR" sz="1150" b="1" dirty="0">
                <a:solidFill>
                  <a:schemeClr val="accent1"/>
                </a:solidFill>
              </a:rPr>
              <a:t>2(</a:t>
            </a:r>
            <a:r>
              <a:rPr lang="ko-KR" altLang="en-US" sz="1150" b="1" dirty="0">
                <a:solidFill>
                  <a:schemeClr val="accent1"/>
                </a:solidFill>
              </a:rPr>
              <a:t>특허여부결정의 보류</a:t>
            </a:r>
            <a:r>
              <a:rPr lang="en-US" altLang="ko-KR" sz="1150" b="1" dirty="0">
                <a:solidFill>
                  <a:schemeClr val="accent1"/>
                </a:solidFill>
              </a:rPr>
              <a:t>)</a:t>
            </a:r>
            <a:r>
              <a:rPr lang="en-US" altLang="ko-KR" sz="1150" dirty="0">
                <a:solidFill>
                  <a:schemeClr val="tx2"/>
                </a:solidFill>
              </a:rPr>
              <a:t> </a:t>
            </a:r>
            <a:r>
              <a:rPr lang="ko-KR" altLang="en-US" sz="1150" dirty="0">
                <a:solidFill>
                  <a:schemeClr val="tx2"/>
                </a:solidFill>
              </a:rPr>
              <a:t>① 심사관은 </a:t>
            </a:r>
            <a:r>
              <a:rPr lang="ko-KR" altLang="en-US" sz="1150" dirty="0" err="1">
                <a:solidFill>
                  <a:schemeClr val="tx2"/>
                </a:solidFill>
              </a:rPr>
              <a:t>특허출원심사의</a:t>
            </a:r>
            <a:r>
              <a:rPr lang="ko-KR" altLang="en-US" sz="1150" dirty="0">
                <a:solidFill>
                  <a:schemeClr val="tx2"/>
                </a:solidFill>
              </a:rPr>
              <a:t> 청구 후 출원인이 </a:t>
            </a:r>
            <a:r>
              <a:rPr lang="ko-KR" altLang="en-US" sz="1150" dirty="0" err="1">
                <a:solidFill>
                  <a:schemeClr val="tx2"/>
                </a:solidFill>
              </a:rPr>
              <a:t>특허출원일부터</a:t>
            </a:r>
            <a:r>
              <a:rPr lang="ko-KR" altLang="en-US" sz="1150" dirty="0">
                <a:solidFill>
                  <a:schemeClr val="tx2"/>
                </a:solidFill>
              </a:rPr>
              <a:t> </a:t>
            </a:r>
            <a:r>
              <a:rPr lang="en-US" altLang="ko-KR" sz="1150" dirty="0">
                <a:solidFill>
                  <a:schemeClr val="tx2"/>
                </a:solidFill>
              </a:rPr>
              <a:t>6</a:t>
            </a:r>
            <a:r>
              <a:rPr lang="ko-KR" altLang="en-US" sz="1150" dirty="0">
                <a:solidFill>
                  <a:schemeClr val="tx2"/>
                </a:solidFill>
              </a:rPr>
              <a:t>개월 이내에 별지 제</a:t>
            </a:r>
            <a:r>
              <a:rPr lang="en-US" altLang="ko-KR" sz="1150" dirty="0">
                <a:solidFill>
                  <a:schemeClr val="tx2"/>
                </a:solidFill>
              </a:rPr>
              <a:t>22</a:t>
            </a:r>
            <a:r>
              <a:rPr lang="ko-KR" altLang="en-US" sz="1150" dirty="0">
                <a:solidFill>
                  <a:schemeClr val="tx2"/>
                </a:solidFill>
              </a:rPr>
              <a:t>호의</a:t>
            </a:r>
            <a:r>
              <a:rPr lang="en-US" altLang="ko-KR" sz="1150" dirty="0">
                <a:solidFill>
                  <a:schemeClr val="tx2"/>
                </a:solidFill>
              </a:rPr>
              <a:t>2</a:t>
            </a:r>
            <a:r>
              <a:rPr lang="ko-KR" altLang="en-US" sz="1150" dirty="0">
                <a:solidFill>
                  <a:schemeClr val="tx2"/>
                </a:solidFill>
              </a:rPr>
              <a:t>서식의 결정 보류신청서를 지식재산처장에게 제출하는 경우에는 </a:t>
            </a:r>
            <a:r>
              <a:rPr lang="ko-KR" altLang="en-US" sz="1150" dirty="0" err="1">
                <a:solidFill>
                  <a:schemeClr val="tx2"/>
                </a:solidFill>
              </a:rPr>
              <a:t>특허출원일부터</a:t>
            </a:r>
            <a:r>
              <a:rPr lang="ko-KR" altLang="en-US" sz="1150" dirty="0">
                <a:solidFill>
                  <a:schemeClr val="tx2"/>
                </a:solidFill>
              </a:rPr>
              <a:t> </a:t>
            </a:r>
            <a:r>
              <a:rPr lang="en-US" altLang="ko-KR" sz="1150" dirty="0">
                <a:solidFill>
                  <a:schemeClr val="tx2"/>
                </a:solidFill>
              </a:rPr>
              <a:t>12</a:t>
            </a:r>
            <a:r>
              <a:rPr lang="ko-KR" altLang="en-US" sz="1150" dirty="0">
                <a:solidFill>
                  <a:schemeClr val="tx2"/>
                </a:solidFill>
              </a:rPr>
              <a:t>개월이 경과하기 전까지 특허여부결정을 보류할 수 있다</a:t>
            </a:r>
            <a:r>
              <a:rPr lang="en-US" altLang="ko-KR" sz="1150" dirty="0">
                <a:solidFill>
                  <a:schemeClr val="tx2"/>
                </a:solidFill>
              </a:rPr>
              <a:t>. </a:t>
            </a:r>
            <a:r>
              <a:rPr lang="ko-KR" altLang="en-US" sz="1150" dirty="0">
                <a:solidFill>
                  <a:schemeClr val="tx2"/>
                </a:solidFill>
              </a:rPr>
              <a:t>다만</a:t>
            </a:r>
            <a:r>
              <a:rPr lang="en-US" altLang="ko-KR" sz="1150" dirty="0">
                <a:solidFill>
                  <a:schemeClr val="tx2"/>
                </a:solidFill>
              </a:rPr>
              <a:t>, </a:t>
            </a:r>
            <a:r>
              <a:rPr lang="ko-KR" altLang="en-US" sz="1150" dirty="0">
                <a:solidFill>
                  <a:schemeClr val="tx2"/>
                </a:solidFill>
              </a:rPr>
              <a:t>다음 각 호의 어느 하나에 해당하는 경우에는 그러하지 아니하다</a:t>
            </a:r>
            <a:r>
              <a:rPr lang="en-US" altLang="ko-KR" sz="1150" dirty="0">
                <a:solidFill>
                  <a:schemeClr val="tx2"/>
                </a:solidFill>
              </a:rPr>
              <a:t>.  </a:t>
            </a:r>
            <a:br>
              <a:rPr lang="en-US" altLang="ko-KR" sz="1150" dirty="0">
                <a:solidFill>
                  <a:schemeClr val="tx2"/>
                </a:solidFill>
              </a:rPr>
            </a:br>
            <a:r>
              <a:rPr lang="en-US" altLang="ko-KR" sz="1150" dirty="0">
                <a:solidFill>
                  <a:schemeClr val="tx2"/>
                </a:solidFill>
              </a:rPr>
              <a:t>1. </a:t>
            </a:r>
            <a:r>
              <a:rPr lang="ko-KR" altLang="en-US" sz="1150" dirty="0">
                <a:solidFill>
                  <a:schemeClr val="tx2"/>
                </a:solidFill>
              </a:rPr>
              <a:t>특허출원이 분리출원 또는 </a:t>
            </a:r>
            <a:r>
              <a:rPr lang="ko-KR" altLang="en-US" sz="1150" dirty="0" err="1">
                <a:solidFill>
                  <a:schemeClr val="tx2"/>
                </a:solidFill>
              </a:rPr>
              <a:t>변경출원인</a:t>
            </a:r>
            <a:r>
              <a:rPr lang="ko-KR" altLang="en-US" sz="1150" dirty="0">
                <a:solidFill>
                  <a:schemeClr val="tx2"/>
                </a:solidFill>
              </a:rPr>
              <a:t> 경우</a:t>
            </a:r>
          </a:p>
          <a:p>
            <a:pPr fontAlgn="base"/>
            <a:r>
              <a:rPr lang="en-US" altLang="ko-KR" sz="1150" dirty="0">
                <a:solidFill>
                  <a:schemeClr val="tx2"/>
                </a:solidFill>
              </a:rPr>
              <a:t>2. </a:t>
            </a:r>
            <a:r>
              <a:rPr lang="ko-KR" altLang="en-US" sz="1150" dirty="0">
                <a:solidFill>
                  <a:schemeClr val="tx2"/>
                </a:solidFill>
              </a:rPr>
              <a:t>특허출원에 대하여 우선심사결정을 한 경우</a:t>
            </a:r>
          </a:p>
          <a:p>
            <a:pPr fontAlgn="base"/>
            <a:r>
              <a:rPr lang="en-US" altLang="ko-KR" sz="1150" dirty="0">
                <a:solidFill>
                  <a:schemeClr val="tx2"/>
                </a:solidFill>
              </a:rPr>
              <a:t>3. </a:t>
            </a:r>
            <a:r>
              <a:rPr lang="ko-KR" altLang="en-US" sz="1150" dirty="0">
                <a:solidFill>
                  <a:schemeClr val="tx2"/>
                </a:solidFill>
              </a:rPr>
              <a:t>특허여부결정의 보류신청이 있기 전에 이미 </a:t>
            </a:r>
            <a:r>
              <a:rPr lang="ko-KR" altLang="en-US" sz="1150" dirty="0" err="1">
                <a:solidFill>
                  <a:schemeClr val="tx2"/>
                </a:solidFill>
              </a:rPr>
              <a:t>특허거절결정서</a:t>
            </a:r>
            <a:r>
              <a:rPr lang="ko-KR" altLang="en-US" sz="1150" dirty="0">
                <a:solidFill>
                  <a:schemeClr val="tx2"/>
                </a:solidFill>
              </a:rPr>
              <a:t> 또는 특허결정서를 통지한 경우</a:t>
            </a:r>
          </a:p>
          <a:p>
            <a:pPr fontAlgn="base"/>
            <a:r>
              <a:rPr lang="ko-KR" altLang="en-US" sz="1150" dirty="0">
                <a:solidFill>
                  <a:schemeClr val="tx2"/>
                </a:solidFill>
              </a:rPr>
              <a:t>② 대리인에 의하여 절차를 밟는 경우에는 제</a:t>
            </a:r>
            <a:r>
              <a:rPr lang="en-US" altLang="ko-KR" sz="1150" dirty="0">
                <a:solidFill>
                  <a:schemeClr val="tx2"/>
                </a:solidFill>
              </a:rPr>
              <a:t>1</a:t>
            </a:r>
            <a:r>
              <a:rPr lang="ko-KR" altLang="en-US" sz="1150" dirty="0">
                <a:solidFill>
                  <a:schemeClr val="tx2"/>
                </a:solidFill>
              </a:rPr>
              <a:t>항에 따른 서식에 그 대리권을 증명하는 서류를 첨부하여야 한다</a:t>
            </a:r>
            <a:r>
              <a:rPr lang="en-US" altLang="ko-KR" sz="1150" dirty="0">
                <a:solidFill>
                  <a:schemeClr val="tx2"/>
                </a:solidFill>
              </a:rPr>
              <a:t>.</a:t>
            </a:r>
            <a:r>
              <a:rPr lang="ko-KR" altLang="en-US" sz="1150" dirty="0">
                <a:solidFill>
                  <a:schemeClr val="tx2"/>
                </a:solidFill>
              </a:rPr>
              <a:t> </a:t>
            </a:r>
            <a:endParaRPr lang="en-US" altLang="ko-KR" sz="1150" dirty="0">
              <a:solidFill>
                <a:schemeClr val="tx2"/>
              </a:solidFill>
            </a:endParaRPr>
          </a:p>
        </p:txBody>
      </p:sp>
      <p:sp>
        <p:nvSpPr>
          <p:cNvPr id="87" name="양쪽 모서리가 둥근 사각형 26">
            <a:extLst>
              <a:ext uri="{FF2B5EF4-FFF2-40B4-BE49-F238E27FC236}">
                <a16:creationId xmlns:a16="http://schemas.microsoft.com/office/drawing/2014/main" id="{6D5FA13D-2A71-4AC0-81D2-75C5B42BEC00}"/>
              </a:ext>
            </a:extLst>
          </p:cNvPr>
          <p:cNvSpPr/>
          <p:nvPr/>
        </p:nvSpPr>
        <p:spPr>
          <a:xfrm>
            <a:off x="804730" y="6218118"/>
            <a:ext cx="4236942" cy="366322"/>
          </a:xfrm>
          <a:prstGeom prst="round2SameRect">
            <a:avLst>
              <a:gd name="adj1" fmla="val 0"/>
              <a:gd name="adj2" fmla="val 50000"/>
            </a:avLst>
          </a:prstGeom>
          <a:noFill/>
          <a:ln w="19050">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8" name="직선 화살표 연결선 87">
            <a:extLst>
              <a:ext uri="{FF2B5EF4-FFF2-40B4-BE49-F238E27FC236}">
                <a16:creationId xmlns:a16="http://schemas.microsoft.com/office/drawing/2014/main" id="{9F31F703-0BB9-459A-9474-4BE4AE0223B1}"/>
              </a:ext>
            </a:extLst>
          </p:cNvPr>
          <p:cNvCxnSpPr>
            <a:cxnSpLocks/>
          </p:cNvCxnSpPr>
          <p:nvPr/>
        </p:nvCxnSpPr>
        <p:spPr>
          <a:xfrm>
            <a:off x="626836" y="6220323"/>
            <a:ext cx="5129292"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 name="화살표: 왼쪽/오른쪽 13">
            <a:extLst>
              <a:ext uri="{FF2B5EF4-FFF2-40B4-BE49-F238E27FC236}">
                <a16:creationId xmlns:a16="http://schemas.microsoft.com/office/drawing/2014/main" id="{71DE6C8A-B10F-4177-8B34-FD3496D13D1B}"/>
              </a:ext>
            </a:extLst>
          </p:cNvPr>
          <p:cNvSpPr/>
          <p:nvPr/>
        </p:nvSpPr>
        <p:spPr>
          <a:xfrm>
            <a:off x="3011593" y="6043104"/>
            <a:ext cx="2030067" cy="339675"/>
          </a:xfrm>
          <a:prstGeom prst="leftRightArrow">
            <a:avLst>
              <a:gd name="adj1" fmla="val 73094"/>
              <a:gd name="adj2" fmla="val 5000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5" name="직선 연결선 74">
            <a:extLst>
              <a:ext uri="{FF2B5EF4-FFF2-40B4-BE49-F238E27FC236}">
                <a16:creationId xmlns:a16="http://schemas.microsoft.com/office/drawing/2014/main" id="{62734EB7-7762-4727-AF1B-31C09C812FAB}"/>
              </a:ext>
            </a:extLst>
          </p:cNvPr>
          <p:cNvCxnSpPr>
            <a:cxnSpLocks/>
          </p:cNvCxnSpPr>
          <p:nvPr/>
        </p:nvCxnSpPr>
        <p:spPr>
          <a:xfrm>
            <a:off x="156513" y="5066236"/>
            <a:ext cx="419508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양쪽 모서리가 둥근 사각형 88">
            <a:extLst>
              <a:ext uri="{FF2B5EF4-FFF2-40B4-BE49-F238E27FC236}">
                <a16:creationId xmlns:a16="http://schemas.microsoft.com/office/drawing/2014/main" id="{958BF48C-545B-4F4E-963A-144057F0BE7A}"/>
              </a:ext>
            </a:extLst>
          </p:cNvPr>
          <p:cNvSpPr/>
          <p:nvPr/>
        </p:nvSpPr>
        <p:spPr>
          <a:xfrm>
            <a:off x="799591" y="5741443"/>
            <a:ext cx="1967675" cy="475620"/>
          </a:xfrm>
          <a:prstGeom prst="round2SameRect">
            <a:avLst>
              <a:gd name="adj1" fmla="val 50000"/>
              <a:gd name="adj2" fmla="val 0"/>
            </a:avLst>
          </a:prstGeom>
          <a:pattFill prst="lgGrid">
            <a:fgClr>
              <a:schemeClr val="accent4"/>
            </a:fgClr>
            <a:bgClr>
              <a:schemeClr val="bg1"/>
            </a:bgClr>
          </a:patt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80" name="직사각형 79">
            <a:extLst>
              <a:ext uri="{FF2B5EF4-FFF2-40B4-BE49-F238E27FC236}">
                <a16:creationId xmlns:a16="http://schemas.microsoft.com/office/drawing/2014/main" id="{54F97F9D-9982-4762-BA27-63B8C870C669}"/>
              </a:ext>
            </a:extLst>
          </p:cNvPr>
          <p:cNvSpPr/>
          <p:nvPr/>
        </p:nvSpPr>
        <p:spPr>
          <a:xfrm>
            <a:off x="1119304" y="5508508"/>
            <a:ext cx="1434956" cy="2329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accent5">
                    <a:lumMod val="50000"/>
                  </a:schemeClr>
                </a:solidFill>
              </a:rPr>
              <a:t>6</a:t>
            </a:r>
            <a:r>
              <a:rPr lang="ko-KR" altLang="en-US" sz="1200" dirty="0">
                <a:solidFill>
                  <a:schemeClr val="accent5">
                    <a:lumMod val="50000"/>
                  </a:schemeClr>
                </a:solidFill>
              </a:rPr>
              <a:t>개월 이내</a:t>
            </a:r>
          </a:p>
        </p:txBody>
      </p:sp>
      <p:sp>
        <p:nvSpPr>
          <p:cNvPr id="82" name="직사각형 81">
            <a:extLst>
              <a:ext uri="{FF2B5EF4-FFF2-40B4-BE49-F238E27FC236}">
                <a16:creationId xmlns:a16="http://schemas.microsoft.com/office/drawing/2014/main" id="{FDBA6701-79F4-4F0A-A0E0-EB521DDF0F3A}"/>
              </a:ext>
            </a:extLst>
          </p:cNvPr>
          <p:cNvSpPr/>
          <p:nvPr/>
        </p:nvSpPr>
        <p:spPr>
          <a:xfrm>
            <a:off x="2199877" y="6571293"/>
            <a:ext cx="1434956" cy="2329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accent5">
                    <a:lumMod val="50000"/>
                  </a:schemeClr>
                </a:solidFill>
              </a:rPr>
              <a:t>12</a:t>
            </a:r>
            <a:r>
              <a:rPr lang="ko-KR" altLang="en-US" sz="1200" dirty="0">
                <a:solidFill>
                  <a:schemeClr val="accent5">
                    <a:lumMod val="50000"/>
                  </a:schemeClr>
                </a:solidFill>
              </a:rPr>
              <a:t>개월</a:t>
            </a:r>
          </a:p>
        </p:txBody>
      </p:sp>
      <p:sp>
        <p:nvSpPr>
          <p:cNvPr id="85" name="직사각형 84">
            <a:extLst>
              <a:ext uri="{FF2B5EF4-FFF2-40B4-BE49-F238E27FC236}">
                <a16:creationId xmlns:a16="http://schemas.microsoft.com/office/drawing/2014/main" id="{7DAD960F-4FE4-4B41-B9E0-9E508C4F2666}"/>
              </a:ext>
            </a:extLst>
          </p:cNvPr>
          <p:cNvSpPr/>
          <p:nvPr/>
        </p:nvSpPr>
        <p:spPr>
          <a:xfrm>
            <a:off x="3232618" y="6097607"/>
            <a:ext cx="1539364" cy="2329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b="1" dirty="0">
                <a:solidFill>
                  <a:srgbClr val="FF0000"/>
                </a:solidFill>
              </a:rPr>
              <a:t>특허여부결정보류</a:t>
            </a:r>
          </a:p>
        </p:txBody>
      </p:sp>
      <p:sp>
        <p:nvSpPr>
          <p:cNvPr id="90" name="직사각형 89">
            <a:extLst>
              <a:ext uri="{FF2B5EF4-FFF2-40B4-BE49-F238E27FC236}">
                <a16:creationId xmlns:a16="http://schemas.microsoft.com/office/drawing/2014/main" id="{8C60889C-5599-45AF-ACD8-9183834047BC}"/>
              </a:ext>
            </a:extLst>
          </p:cNvPr>
          <p:cNvSpPr/>
          <p:nvPr/>
        </p:nvSpPr>
        <p:spPr>
          <a:xfrm>
            <a:off x="555264" y="5980223"/>
            <a:ext cx="467595" cy="469776"/>
          </a:xfrm>
          <a:prstGeom prst="rect">
            <a:avLst/>
          </a:prstGeom>
          <a:solidFill>
            <a:schemeClr val="accent1">
              <a:lumMod val="20000"/>
              <a:lumOff val="80000"/>
            </a:schemeClr>
          </a:solid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특허출원</a:t>
            </a:r>
          </a:p>
        </p:txBody>
      </p:sp>
      <p:sp>
        <p:nvSpPr>
          <p:cNvPr id="91" name="직사각형 90">
            <a:extLst>
              <a:ext uri="{FF2B5EF4-FFF2-40B4-BE49-F238E27FC236}">
                <a16:creationId xmlns:a16="http://schemas.microsoft.com/office/drawing/2014/main" id="{4C72445C-19BE-4869-97FF-319D55D46BD3}"/>
              </a:ext>
            </a:extLst>
          </p:cNvPr>
          <p:cNvSpPr/>
          <p:nvPr/>
        </p:nvSpPr>
        <p:spPr>
          <a:xfrm>
            <a:off x="1514192" y="5980223"/>
            <a:ext cx="467595" cy="469776"/>
          </a:xfrm>
          <a:prstGeom prst="rect">
            <a:avLst/>
          </a:prstGeom>
          <a:solidFill>
            <a:schemeClr val="accent1">
              <a:lumMod val="20000"/>
              <a:lumOff val="80000"/>
            </a:schemeClr>
          </a:solid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심사청구</a:t>
            </a:r>
          </a:p>
        </p:txBody>
      </p:sp>
      <p:sp>
        <p:nvSpPr>
          <p:cNvPr id="92" name="직사각형 91">
            <a:extLst>
              <a:ext uri="{FF2B5EF4-FFF2-40B4-BE49-F238E27FC236}">
                <a16:creationId xmlns:a16="http://schemas.microsoft.com/office/drawing/2014/main" id="{D64398C4-7DB0-41FE-9FA4-0A63E813A18B}"/>
              </a:ext>
            </a:extLst>
          </p:cNvPr>
          <p:cNvSpPr/>
          <p:nvPr/>
        </p:nvSpPr>
        <p:spPr>
          <a:xfrm>
            <a:off x="2519126" y="5980223"/>
            <a:ext cx="471731" cy="469776"/>
          </a:xfrm>
          <a:prstGeom prst="rect">
            <a:avLst/>
          </a:prstGeom>
          <a:solidFill>
            <a:schemeClr val="accent2"/>
          </a:solid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보류신청</a:t>
            </a:r>
          </a:p>
        </p:txBody>
      </p:sp>
      <p:sp>
        <p:nvSpPr>
          <p:cNvPr id="5" name="TextBox 4">
            <a:extLst>
              <a:ext uri="{FF2B5EF4-FFF2-40B4-BE49-F238E27FC236}">
                <a16:creationId xmlns:a16="http://schemas.microsoft.com/office/drawing/2014/main" id="{BDD271AB-7F8E-F00E-2DC7-BE01D44FC5B3}"/>
              </a:ext>
            </a:extLst>
          </p:cNvPr>
          <p:cNvSpPr txBox="1"/>
          <p:nvPr/>
        </p:nvSpPr>
        <p:spPr>
          <a:xfrm>
            <a:off x="90608" y="5078265"/>
            <a:ext cx="5939484" cy="400110"/>
          </a:xfrm>
          <a:prstGeom prst="rect">
            <a:avLst/>
          </a:prstGeom>
          <a:noFill/>
        </p:spPr>
        <p:txBody>
          <a:bodyPr wrap="square" rtlCol="0">
            <a:spAutoFit/>
          </a:bodyPr>
          <a:lstStyle/>
          <a:p>
            <a:pPr marL="88900" indent="-88900"/>
            <a:r>
              <a:rPr lang="ko-KR" altLang="en-US" sz="1000" dirty="0">
                <a:solidFill>
                  <a:srgbClr val="FF0000"/>
                </a:solidFill>
              </a:rPr>
              <a:t>* 분할출원은 분할출원의 심사청구순서</a:t>
            </a:r>
            <a:r>
              <a:rPr lang="en-US" altLang="ko-KR" sz="1000" dirty="0">
                <a:solidFill>
                  <a:srgbClr val="FF0000"/>
                </a:solidFill>
              </a:rPr>
              <a:t>, </a:t>
            </a:r>
            <a:r>
              <a:rPr lang="ko-KR" altLang="en-US" sz="1000" dirty="0">
                <a:solidFill>
                  <a:srgbClr val="FF0000"/>
                </a:solidFill>
              </a:rPr>
              <a:t>분리출원과 변경출원은 원출원의 심사청구순서에 의하여 심사</a:t>
            </a:r>
            <a:r>
              <a:rPr lang="en-US" altLang="ko-KR" sz="1000" dirty="0">
                <a:solidFill>
                  <a:srgbClr val="FF0000"/>
                </a:solidFill>
              </a:rPr>
              <a:t>(</a:t>
            </a:r>
            <a:r>
              <a:rPr lang="ko-KR" altLang="en-US" sz="1000" dirty="0">
                <a:solidFill>
                  <a:srgbClr val="FF0000"/>
                </a:solidFill>
              </a:rPr>
              <a:t>특허</a:t>
            </a:r>
            <a:r>
              <a:rPr lang="en-US" altLang="ko-KR" sz="1000" dirty="0">
                <a:solidFill>
                  <a:srgbClr val="FF0000"/>
                </a:solidFill>
              </a:rPr>
              <a:t>·</a:t>
            </a:r>
            <a:r>
              <a:rPr lang="ko-KR" altLang="en-US" sz="1000" dirty="0">
                <a:solidFill>
                  <a:srgbClr val="FF0000"/>
                </a:solidFill>
              </a:rPr>
              <a:t>실용신안 심사사무취급규정 제</a:t>
            </a:r>
            <a:r>
              <a:rPr lang="en-US" altLang="ko-KR" sz="1000" dirty="0">
                <a:solidFill>
                  <a:srgbClr val="FF0000"/>
                </a:solidFill>
              </a:rPr>
              <a:t>20</a:t>
            </a:r>
            <a:r>
              <a:rPr lang="ko-KR" altLang="en-US" sz="1000" dirty="0">
                <a:solidFill>
                  <a:srgbClr val="FF0000"/>
                </a:solidFill>
              </a:rPr>
              <a:t>조</a:t>
            </a:r>
          </a:p>
        </p:txBody>
      </p:sp>
    </p:spTree>
    <p:extLst>
      <p:ext uri="{BB962C8B-B14F-4D97-AF65-F5344CB8AC3E}">
        <p14:creationId xmlns:p14="http://schemas.microsoft.com/office/powerpoint/2010/main" val="1957505070"/>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lstStyle/>
          <a:p>
            <a:r>
              <a:rPr lang="ko-KR" altLang="en-US" dirty="0"/>
              <a:t>심사절차 일반</a:t>
            </a:r>
          </a:p>
        </p:txBody>
      </p:sp>
      <p:sp>
        <p:nvSpPr>
          <p:cNvPr id="6" name="슬라이드 번호 개체 틀 5"/>
          <p:cNvSpPr>
            <a:spLocks noGrp="1"/>
          </p:cNvSpPr>
          <p:nvPr>
            <p:ph type="sldNum" sz="quarter" idx="12"/>
          </p:nvPr>
        </p:nvSpPr>
        <p:spPr/>
        <p:txBody>
          <a:bodyPr/>
          <a:lstStyle/>
          <a:p>
            <a:r>
              <a:rPr lang="en-US" altLang="ko-KR"/>
              <a:t>253</a:t>
            </a:r>
            <a:endParaRPr lang="ko-KR" altLang="en-US" dirty="0"/>
          </a:p>
        </p:txBody>
      </p:sp>
      <p:sp>
        <p:nvSpPr>
          <p:cNvPr id="94" name="Rectangle 5">
            <a:extLst>
              <a:ext uri="{FF2B5EF4-FFF2-40B4-BE49-F238E27FC236}">
                <a16:creationId xmlns:a16="http://schemas.microsoft.com/office/drawing/2014/main" id="{7777D8A6-877A-4695-A8C3-4629458B7483}"/>
              </a:ext>
            </a:extLst>
          </p:cNvPr>
          <p:cNvSpPr>
            <a:spLocks noChangeArrowheads="1"/>
          </p:cNvSpPr>
          <p:nvPr/>
        </p:nvSpPr>
        <p:spPr bwMode="auto">
          <a:xfrm>
            <a:off x="1805666" y="1373037"/>
            <a:ext cx="1133475" cy="348102"/>
          </a:xfrm>
          <a:prstGeom prst="rect">
            <a:avLst/>
          </a:prstGeom>
          <a:solidFill>
            <a:schemeClr val="accent2"/>
          </a:solidFill>
          <a:ln w="9525" algn="ctr">
            <a:solidFill>
              <a:srgbClr val="5F5F5F"/>
            </a:solidFill>
            <a:miter lim="800000"/>
            <a:headEnd/>
            <a:tailEnd/>
          </a:ln>
        </p:spPr>
        <p:txBody>
          <a:bodyPr wrap="none" anchor="ctr"/>
          <a:lstStyle/>
          <a:p>
            <a:pPr algn="ctr"/>
            <a:r>
              <a:rPr lang="ko-KR" altLang="en-US" sz="1100" dirty="0">
                <a:latin typeface="+mj-ea"/>
                <a:ea typeface="+mj-ea"/>
              </a:rPr>
              <a:t>특허출원</a:t>
            </a:r>
            <a:endParaRPr lang="ko-KR" altLang="en-US" sz="1100" b="0" dirty="0">
              <a:solidFill>
                <a:schemeClr val="tx1"/>
              </a:solidFill>
              <a:latin typeface="+mj-ea"/>
              <a:ea typeface="+mj-ea"/>
            </a:endParaRPr>
          </a:p>
        </p:txBody>
      </p:sp>
      <p:cxnSp>
        <p:nvCxnSpPr>
          <p:cNvPr id="95" name="직선 화살표 연결선 14">
            <a:extLst>
              <a:ext uri="{FF2B5EF4-FFF2-40B4-BE49-F238E27FC236}">
                <a16:creationId xmlns:a16="http://schemas.microsoft.com/office/drawing/2014/main" id="{B310C67D-2E6C-4979-81E2-F86AAAC0E19A}"/>
              </a:ext>
            </a:extLst>
          </p:cNvPr>
          <p:cNvCxnSpPr>
            <a:cxnSpLocks noChangeShapeType="1"/>
            <a:stCxn id="94" idx="2"/>
          </p:cNvCxnSpPr>
          <p:nvPr/>
        </p:nvCxnSpPr>
        <p:spPr bwMode="auto">
          <a:xfrm flipH="1">
            <a:off x="2372403" y="1721139"/>
            <a:ext cx="1" cy="143844"/>
          </a:xfrm>
          <a:prstGeom prst="straightConnector1">
            <a:avLst/>
          </a:prstGeom>
          <a:noFill/>
          <a:ln w="19050">
            <a:solidFill>
              <a:schemeClr val="bg1"/>
            </a:solidFill>
            <a:round/>
            <a:headEnd/>
            <a:tailEnd type="arrow" w="med" len="med"/>
          </a:ln>
          <a:extLst>
            <a:ext uri="{909E8E84-426E-40DD-AFC4-6F175D3DCCD1}">
              <a14:hiddenFill xmlns:a14="http://schemas.microsoft.com/office/drawing/2010/main">
                <a:noFill/>
              </a14:hiddenFill>
            </a:ext>
          </a:extLst>
        </p:spPr>
      </p:cxnSp>
      <p:sp>
        <p:nvSpPr>
          <p:cNvPr id="96" name="Rectangle 5">
            <a:extLst>
              <a:ext uri="{FF2B5EF4-FFF2-40B4-BE49-F238E27FC236}">
                <a16:creationId xmlns:a16="http://schemas.microsoft.com/office/drawing/2014/main" id="{E3259C91-8AC3-4FDA-9469-0C1BC8B5DA6E}"/>
              </a:ext>
            </a:extLst>
          </p:cNvPr>
          <p:cNvSpPr>
            <a:spLocks noChangeArrowheads="1"/>
          </p:cNvSpPr>
          <p:nvPr/>
        </p:nvSpPr>
        <p:spPr bwMode="auto">
          <a:xfrm>
            <a:off x="1805666" y="2310632"/>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특허분류</a:t>
            </a:r>
            <a:endParaRPr lang="en-US" altLang="ko-KR" sz="1100" b="0" dirty="0">
              <a:solidFill>
                <a:schemeClr val="tx1"/>
              </a:solidFill>
              <a:latin typeface="+mj-ea"/>
              <a:ea typeface="+mj-ea"/>
            </a:endParaRPr>
          </a:p>
          <a:p>
            <a:pPr algn="ctr"/>
            <a:r>
              <a:rPr lang="en-US" altLang="ko-KR" sz="900" dirty="0">
                <a:latin typeface="+mj-ea"/>
                <a:ea typeface="+mj-ea"/>
              </a:rPr>
              <a:t>(IPC, CPC)</a:t>
            </a:r>
            <a:endParaRPr lang="ko-KR" altLang="en-US" sz="900" b="0" dirty="0">
              <a:solidFill>
                <a:schemeClr val="tx1"/>
              </a:solidFill>
              <a:latin typeface="+mj-ea"/>
              <a:ea typeface="+mj-ea"/>
            </a:endParaRPr>
          </a:p>
        </p:txBody>
      </p:sp>
      <p:sp>
        <p:nvSpPr>
          <p:cNvPr id="97" name="AutoShape 11">
            <a:extLst>
              <a:ext uri="{FF2B5EF4-FFF2-40B4-BE49-F238E27FC236}">
                <a16:creationId xmlns:a16="http://schemas.microsoft.com/office/drawing/2014/main" id="{71ED3626-7EB1-4D0D-9C5D-3F1EA47BDCDF}"/>
              </a:ext>
            </a:extLst>
          </p:cNvPr>
          <p:cNvSpPr>
            <a:spLocks noChangeArrowheads="1"/>
          </p:cNvSpPr>
          <p:nvPr/>
        </p:nvSpPr>
        <p:spPr bwMode="auto">
          <a:xfrm>
            <a:off x="1805664" y="3240883"/>
            <a:ext cx="1133478" cy="471808"/>
          </a:xfrm>
          <a:prstGeom prst="flowChartDecision">
            <a:avLst/>
          </a:prstGeom>
          <a:solidFill>
            <a:schemeClr val="accent5">
              <a:lumMod val="75000"/>
            </a:schemeClr>
          </a:solidFill>
          <a:ln>
            <a:solidFill>
              <a:schemeClr val="bg1">
                <a:lumMod val="50000"/>
              </a:schemeClr>
            </a:solidFill>
            <a:headEnd/>
            <a:tailEnd/>
          </a:ln>
          <a:effectLst/>
        </p:spPr>
        <p:style>
          <a:lnRef idx="1">
            <a:schemeClr val="accent5"/>
          </a:lnRef>
          <a:fillRef idx="3">
            <a:schemeClr val="accent5"/>
          </a:fillRef>
          <a:effectRef idx="2">
            <a:schemeClr val="accent5"/>
          </a:effectRef>
          <a:fontRef idx="minor">
            <a:schemeClr val="lt1"/>
          </a:fontRef>
        </p:style>
        <p:txBody>
          <a:bodyPr wrap="none" anchor="ctr"/>
          <a:lstStyle/>
          <a:p>
            <a:pPr algn="ctr">
              <a:defRPr/>
            </a:pPr>
            <a:r>
              <a:rPr lang="ko-KR" altLang="en-US" sz="1100" b="0" dirty="0">
                <a:solidFill>
                  <a:schemeClr val="bg1"/>
                </a:solidFill>
                <a:latin typeface="+mj-ea"/>
                <a:ea typeface="+mj-ea"/>
              </a:rPr>
              <a:t>실체심사</a:t>
            </a:r>
          </a:p>
        </p:txBody>
      </p:sp>
      <p:cxnSp>
        <p:nvCxnSpPr>
          <p:cNvPr id="98" name="직선 화살표 연결선 97">
            <a:extLst>
              <a:ext uri="{FF2B5EF4-FFF2-40B4-BE49-F238E27FC236}">
                <a16:creationId xmlns:a16="http://schemas.microsoft.com/office/drawing/2014/main" id="{6D0793C8-0DBA-417C-9CBE-0364B4578C84}"/>
              </a:ext>
            </a:extLst>
          </p:cNvPr>
          <p:cNvCxnSpPr>
            <a:stCxn id="94" idx="2"/>
            <a:endCxn id="96" idx="0"/>
          </p:cNvCxnSpPr>
          <p:nvPr/>
        </p:nvCxnSpPr>
        <p:spPr>
          <a:xfrm>
            <a:off x="2372404" y="1721139"/>
            <a:ext cx="0" cy="589493"/>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9" name="직선 화살표 연결선 98">
            <a:extLst>
              <a:ext uri="{FF2B5EF4-FFF2-40B4-BE49-F238E27FC236}">
                <a16:creationId xmlns:a16="http://schemas.microsoft.com/office/drawing/2014/main" id="{F5A92FC2-8291-4C32-A37C-5129B0E0C43B}"/>
              </a:ext>
            </a:extLst>
          </p:cNvPr>
          <p:cNvCxnSpPr>
            <a:stCxn id="96" idx="2"/>
            <a:endCxn id="97" idx="0"/>
          </p:cNvCxnSpPr>
          <p:nvPr/>
        </p:nvCxnSpPr>
        <p:spPr>
          <a:xfrm flipH="1">
            <a:off x="2372403" y="2658734"/>
            <a:ext cx="1" cy="582149"/>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1" name="꺾인 연결선 17">
            <a:extLst>
              <a:ext uri="{FF2B5EF4-FFF2-40B4-BE49-F238E27FC236}">
                <a16:creationId xmlns:a16="http://schemas.microsoft.com/office/drawing/2014/main" id="{C80DF191-AB23-4AAC-83E8-7120975EE8A6}"/>
              </a:ext>
            </a:extLst>
          </p:cNvPr>
          <p:cNvCxnSpPr>
            <a:stCxn id="94" idx="1"/>
          </p:cNvCxnSpPr>
          <p:nvPr/>
        </p:nvCxnSpPr>
        <p:spPr>
          <a:xfrm rot="10800000" flipH="1" flipV="1">
            <a:off x="1805666" y="1547087"/>
            <a:ext cx="566738" cy="1507779"/>
          </a:xfrm>
          <a:prstGeom prst="bentConnector4">
            <a:avLst>
              <a:gd name="adj1" fmla="val -161344"/>
              <a:gd name="adj2" fmla="val 100090"/>
            </a:avLst>
          </a:prstGeom>
          <a:ln>
            <a:solidFill>
              <a:schemeClr val="bg1">
                <a:lumMod val="50000"/>
              </a:schemeClr>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2" name="Rectangle 5">
            <a:extLst>
              <a:ext uri="{FF2B5EF4-FFF2-40B4-BE49-F238E27FC236}">
                <a16:creationId xmlns:a16="http://schemas.microsoft.com/office/drawing/2014/main" id="{C3D1505D-8135-4CA8-8D4A-ECE213C2D22A}"/>
              </a:ext>
            </a:extLst>
          </p:cNvPr>
          <p:cNvSpPr>
            <a:spLocks noChangeArrowheads="1"/>
          </p:cNvSpPr>
          <p:nvPr/>
        </p:nvSpPr>
        <p:spPr bwMode="auto">
          <a:xfrm>
            <a:off x="331993" y="1915050"/>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a:latin typeface="+mj-ea"/>
                <a:ea typeface="+mj-ea"/>
              </a:rPr>
              <a:t>출원공개</a:t>
            </a:r>
            <a:endParaRPr lang="en-US" altLang="ko-KR" sz="1000" dirty="0">
              <a:latin typeface="+mj-ea"/>
              <a:ea typeface="+mj-ea"/>
            </a:endParaRPr>
          </a:p>
          <a:p>
            <a:pPr algn="ctr"/>
            <a:r>
              <a:rPr lang="en-US" altLang="ko-KR" sz="900" b="0" dirty="0">
                <a:solidFill>
                  <a:schemeClr val="tx1"/>
                </a:solidFill>
                <a:latin typeface="+mj-ea"/>
                <a:ea typeface="+mj-ea"/>
              </a:rPr>
              <a:t>(</a:t>
            </a:r>
            <a:r>
              <a:rPr lang="ko-KR" altLang="en-US" sz="900" b="0" dirty="0">
                <a:solidFill>
                  <a:schemeClr val="tx1"/>
                </a:solidFill>
                <a:latin typeface="+mj-ea"/>
                <a:ea typeface="+mj-ea"/>
              </a:rPr>
              <a:t>조기공개신청</a:t>
            </a:r>
            <a:r>
              <a:rPr lang="en-US" altLang="ko-KR" sz="900" b="0" dirty="0">
                <a:solidFill>
                  <a:schemeClr val="tx1"/>
                </a:solidFill>
                <a:latin typeface="+mj-ea"/>
                <a:ea typeface="+mj-ea"/>
              </a:rPr>
              <a:t>)</a:t>
            </a:r>
            <a:endParaRPr lang="ko-KR" altLang="en-US" sz="900" b="0" dirty="0">
              <a:solidFill>
                <a:schemeClr val="tx1"/>
              </a:solidFill>
              <a:latin typeface="+mj-ea"/>
              <a:ea typeface="+mj-ea"/>
            </a:endParaRPr>
          </a:p>
        </p:txBody>
      </p:sp>
      <p:sp>
        <p:nvSpPr>
          <p:cNvPr id="103" name="Rectangle 5">
            <a:extLst>
              <a:ext uri="{FF2B5EF4-FFF2-40B4-BE49-F238E27FC236}">
                <a16:creationId xmlns:a16="http://schemas.microsoft.com/office/drawing/2014/main" id="{5C5299D3-A6EC-4580-9D60-8FD07D81B7B0}"/>
              </a:ext>
            </a:extLst>
          </p:cNvPr>
          <p:cNvSpPr>
            <a:spLocks noChangeArrowheads="1"/>
          </p:cNvSpPr>
          <p:nvPr/>
        </p:nvSpPr>
        <p:spPr bwMode="auto">
          <a:xfrm>
            <a:off x="331993" y="2487037"/>
            <a:ext cx="1133475" cy="348102"/>
          </a:xfrm>
          <a:prstGeom prst="rect">
            <a:avLst/>
          </a:prstGeom>
          <a:solidFill>
            <a:schemeClr val="bg1"/>
          </a:solidFill>
          <a:ln w="57150" algn="ctr">
            <a:solidFill>
              <a:srgbClr val="5F5F5F"/>
            </a:solidFill>
            <a:miter lim="800000"/>
            <a:headEnd/>
            <a:tailEnd/>
          </a:ln>
        </p:spPr>
        <p:txBody>
          <a:bodyPr wrap="none" anchor="ctr"/>
          <a:lstStyle/>
          <a:p>
            <a:pPr algn="ctr"/>
            <a:r>
              <a:rPr lang="ko-KR" altLang="en-US" sz="1100" dirty="0">
                <a:latin typeface="+mj-ea"/>
                <a:ea typeface="+mj-ea"/>
              </a:rPr>
              <a:t>심사청구</a:t>
            </a:r>
            <a:endParaRPr lang="en-US" altLang="ko-KR" sz="1100" dirty="0">
              <a:latin typeface="+mj-ea"/>
              <a:ea typeface="+mj-ea"/>
            </a:endParaRPr>
          </a:p>
          <a:p>
            <a:pPr algn="ctr"/>
            <a:r>
              <a:rPr lang="en-US" altLang="ko-KR" sz="900" b="0" dirty="0">
                <a:solidFill>
                  <a:schemeClr val="tx1"/>
                </a:solidFill>
                <a:latin typeface="+mj-ea"/>
                <a:ea typeface="+mj-ea"/>
              </a:rPr>
              <a:t>(</a:t>
            </a:r>
            <a:r>
              <a:rPr lang="ko-KR" altLang="en-US" sz="900" b="0" dirty="0">
                <a:solidFill>
                  <a:schemeClr val="tx1"/>
                </a:solidFill>
                <a:latin typeface="+mj-ea"/>
                <a:ea typeface="+mj-ea"/>
              </a:rPr>
              <a:t>우선심사신청</a:t>
            </a:r>
            <a:r>
              <a:rPr lang="en-US" altLang="ko-KR" sz="900" b="0" dirty="0">
                <a:solidFill>
                  <a:schemeClr val="tx1"/>
                </a:solidFill>
                <a:latin typeface="+mj-ea"/>
                <a:ea typeface="+mj-ea"/>
              </a:rPr>
              <a:t>)</a:t>
            </a:r>
            <a:endParaRPr lang="ko-KR" altLang="en-US" sz="900" b="0" dirty="0">
              <a:solidFill>
                <a:schemeClr val="tx1"/>
              </a:solidFill>
              <a:latin typeface="+mj-ea"/>
              <a:ea typeface="+mj-ea"/>
            </a:endParaRPr>
          </a:p>
        </p:txBody>
      </p:sp>
      <p:sp>
        <p:nvSpPr>
          <p:cNvPr id="104" name="Rectangle 5">
            <a:extLst>
              <a:ext uri="{FF2B5EF4-FFF2-40B4-BE49-F238E27FC236}">
                <a16:creationId xmlns:a16="http://schemas.microsoft.com/office/drawing/2014/main" id="{9E637D0A-709D-4222-9C93-24F1CC8AB505}"/>
              </a:ext>
            </a:extLst>
          </p:cNvPr>
          <p:cNvSpPr>
            <a:spLocks noChangeArrowheads="1"/>
          </p:cNvSpPr>
          <p:nvPr/>
        </p:nvSpPr>
        <p:spPr bwMode="auto">
          <a:xfrm>
            <a:off x="4843096" y="3684147"/>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특허결정</a:t>
            </a:r>
            <a:endParaRPr lang="en-US" altLang="ko-KR" sz="1100" b="0" dirty="0">
              <a:solidFill>
                <a:schemeClr val="tx1"/>
              </a:solidFill>
              <a:latin typeface="+mj-ea"/>
              <a:ea typeface="+mj-ea"/>
            </a:endParaRPr>
          </a:p>
          <a:p>
            <a:pPr algn="ctr"/>
            <a:r>
              <a:rPr lang="en-US" altLang="ko-KR" sz="900" b="0" dirty="0">
                <a:solidFill>
                  <a:schemeClr val="tx1"/>
                </a:solidFill>
                <a:latin typeface="+mj-ea"/>
                <a:ea typeface="+mj-ea"/>
              </a:rPr>
              <a:t>(</a:t>
            </a:r>
            <a:r>
              <a:rPr lang="ko-KR" altLang="en-US" sz="900" dirty="0">
                <a:latin typeface="+mj-ea"/>
                <a:ea typeface="+mj-ea"/>
              </a:rPr>
              <a:t>직권보정</a:t>
            </a:r>
            <a:r>
              <a:rPr lang="en-US" altLang="ko-KR" sz="900" b="0" dirty="0">
                <a:solidFill>
                  <a:schemeClr val="tx1"/>
                </a:solidFill>
                <a:latin typeface="+mj-ea"/>
                <a:ea typeface="+mj-ea"/>
              </a:rPr>
              <a:t>)</a:t>
            </a:r>
            <a:endParaRPr lang="ko-KR" altLang="en-US" sz="900" b="0" dirty="0">
              <a:solidFill>
                <a:schemeClr val="tx1"/>
              </a:solidFill>
              <a:latin typeface="+mj-ea"/>
              <a:ea typeface="+mj-ea"/>
            </a:endParaRPr>
          </a:p>
        </p:txBody>
      </p:sp>
      <p:sp>
        <p:nvSpPr>
          <p:cNvPr id="105" name="Rectangle 5">
            <a:extLst>
              <a:ext uri="{FF2B5EF4-FFF2-40B4-BE49-F238E27FC236}">
                <a16:creationId xmlns:a16="http://schemas.microsoft.com/office/drawing/2014/main" id="{5B6C5F05-F06B-44BA-8FC7-9BB285CCE882}"/>
              </a:ext>
            </a:extLst>
          </p:cNvPr>
          <p:cNvSpPr>
            <a:spLocks noChangeArrowheads="1"/>
          </p:cNvSpPr>
          <p:nvPr/>
        </p:nvSpPr>
        <p:spPr bwMode="auto">
          <a:xfrm>
            <a:off x="3252421" y="2709513"/>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거절이유통지</a:t>
            </a:r>
          </a:p>
        </p:txBody>
      </p:sp>
      <p:sp>
        <p:nvSpPr>
          <p:cNvPr id="106" name="Rectangle 5">
            <a:extLst>
              <a:ext uri="{FF2B5EF4-FFF2-40B4-BE49-F238E27FC236}">
                <a16:creationId xmlns:a16="http://schemas.microsoft.com/office/drawing/2014/main" id="{B1AAFCBC-BC9B-48E7-BA97-C3F6E9C2E9B6}"/>
              </a:ext>
            </a:extLst>
          </p:cNvPr>
          <p:cNvSpPr>
            <a:spLocks noChangeArrowheads="1"/>
          </p:cNvSpPr>
          <p:nvPr/>
        </p:nvSpPr>
        <p:spPr bwMode="auto">
          <a:xfrm>
            <a:off x="3252421" y="2053823"/>
            <a:ext cx="1133475" cy="348102"/>
          </a:xfrm>
          <a:prstGeom prst="rect">
            <a:avLst/>
          </a:prstGeom>
          <a:solidFill>
            <a:schemeClr val="accent2"/>
          </a:solidFill>
          <a:ln w="9525" algn="ctr">
            <a:solidFill>
              <a:srgbClr val="5F5F5F"/>
            </a:solidFill>
            <a:miter lim="800000"/>
            <a:headEnd/>
            <a:tailEnd/>
          </a:ln>
        </p:spPr>
        <p:txBody>
          <a:bodyPr wrap="none" anchor="ctr"/>
          <a:lstStyle/>
          <a:p>
            <a:pPr algn="ctr"/>
            <a:r>
              <a:rPr lang="ko-KR" altLang="en-US" sz="1100" dirty="0">
                <a:latin typeface="+mj-ea"/>
                <a:ea typeface="+mj-ea"/>
              </a:rPr>
              <a:t>의견서</a:t>
            </a:r>
            <a:r>
              <a:rPr lang="en-US" altLang="ko-KR" sz="1100" dirty="0">
                <a:latin typeface="+mj-ea"/>
                <a:ea typeface="+mj-ea"/>
              </a:rPr>
              <a:t>/</a:t>
            </a:r>
            <a:r>
              <a:rPr lang="ko-KR" altLang="en-US" sz="1100" dirty="0">
                <a:latin typeface="+mj-ea"/>
                <a:ea typeface="+mj-ea"/>
              </a:rPr>
              <a:t>보정서</a:t>
            </a:r>
            <a:endParaRPr lang="ko-KR" altLang="en-US" sz="1100" b="0" dirty="0">
              <a:solidFill>
                <a:schemeClr val="tx1"/>
              </a:solidFill>
              <a:latin typeface="+mj-ea"/>
              <a:ea typeface="+mj-ea"/>
            </a:endParaRPr>
          </a:p>
        </p:txBody>
      </p:sp>
      <p:sp>
        <p:nvSpPr>
          <p:cNvPr id="107" name="AutoShape 11">
            <a:extLst>
              <a:ext uri="{FF2B5EF4-FFF2-40B4-BE49-F238E27FC236}">
                <a16:creationId xmlns:a16="http://schemas.microsoft.com/office/drawing/2014/main" id="{A9464496-43D2-4D0B-9A58-3F66FFA15F98}"/>
              </a:ext>
            </a:extLst>
          </p:cNvPr>
          <p:cNvSpPr>
            <a:spLocks noChangeArrowheads="1"/>
          </p:cNvSpPr>
          <p:nvPr/>
        </p:nvSpPr>
        <p:spPr bwMode="auto">
          <a:xfrm>
            <a:off x="4844667" y="2802883"/>
            <a:ext cx="1133478" cy="471808"/>
          </a:xfrm>
          <a:prstGeom prst="flowChartDecision">
            <a:avLst/>
          </a:prstGeom>
          <a:solidFill>
            <a:schemeClr val="accent5">
              <a:lumMod val="75000"/>
            </a:schemeClr>
          </a:solidFill>
          <a:ln>
            <a:solidFill>
              <a:schemeClr val="bg1">
                <a:lumMod val="50000"/>
              </a:schemeClr>
            </a:solidFill>
            <a:headEnd/>
            <a:tailEnd/>
          </a:ln>
          <a:effectLst/>
        </p:spPr>
        <p:style>
          <a:lnRef idx="1">
            <a:schemeClr val="accent5"/>
          </a:lnRef>
          <a:fillRef idx="3">
            <a:schemeClr val="accent5"/>
          </a:fillRef>
          <a:effectRef idx="2">
            <a:schemeClr val="accent5"/>
          </a:effectRef>
          <a:fontRef idx="minor">
            <a:schemeClr val="lt1"/>
          </a:fontRef>
        </p:style>
        <p:txBody>
          <a:bodyPr wrap="none" anchor="ctr"/>
          <a:lstStyle/>
          <a:p>
            <a:pPr algn="ctr">
              <a:defRPr/>
            </a:pPr>
            <a:r>
              <a:rPr lang="ko-KR" altLang="en-US" sz="1100" b="0" dirty="0">
                <a:solidFill>
                  <a:schemeClr val="bg1"/>
                </a:solidFill>
                <a:latin typeface="+mj-ea"/>
                <a:ea typeface="+mj-ea"/>
              </a:rPr>
              <a:t>실체심사</a:t>
            </a:r>
          </a:p>
        </p:txBody>
      </p:sp>
      <p:cxnSp>
        <p:nvCxnSpPr>
          <p:cNvPr id="108" name="꺾인 연결선 24">
            <a:extLst>
              <a:ext uri="{FF2B5EF4-FFF2-40B4-BE49-F238E27FC236}">
                <a16:creationId xmlns:a16="http://schemas.microsoft.com/office/drawing/2014/main" id="{F01C332B-5AD0-4686-B323-E85775B1850E}"/>
              </a:ext>
            </a:extLst>
          </p:cNvPr>
          <p:cNvCxnSpPr>
            <a:stCxn id="97" idx="3"/>
            <a:endCxn id="105" idx="2"/>
          </p:cNvCxnSpPr>
          <p:nvPr/>
        </p:nvCxnSpPr>
        <p:spPr>
          <a:xfrm flipV="1">
            <a:off x="2939142" y="3057615"/>
            <a:ext cx="880017" cy="419172"/>
          </a:xfrm>
          <a:prstGeom prst="bentConnector2">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9" name="직선 화살표 연결선 108">
            <a:extLst>
              <a:ext uri="{FF2B5EF4-FFF2-40B4-BE49-F238E27FC236}">
                <a16:creationId xmlns:a16="http://schemas.microsoft.com/office/drawing/2014/main" id="{BDA91FDD-D833-4E99-BC61-4C86A46921E6}"/>
              </a:ext>
            </a:extLst>
          </p:cNvPr>
          <p:cNvCxnSpPr>
            <a:stCxn id="105" idx="0"/>
            <a:endCxn id="106" idx="2"/>
          </p:cNvCxnSpPr>
          <p:nvPr/>
        </p:nvCxnSpPr>
        <p:spPr>
          <a:xfrm flipV="1">
            <a:off x="3819159" y="2401925"/>
            <a:ext cx="0" cy="307588"/>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꺾인 연결선 26">
            <a:extLst>
              <a:ext uri="{FF2B5EF4-FFF2-40B4-BE49-F238E27FC236}">
                <a16:creationId xmlns:a16="http://schemas.microsoft.com/office/drawing/2014/main" id="{E6408383-E8DC-43CC-803B-DAFBE416949D}"/>
              </a:ext>
            </a:extLst>
          </p:cNvPr>
          <p:cNvCxnSpPr>
            <a:stCxn id="106" idx="0"/>
            <a:endCxn id="107" idx="1"/>
          </p:cNvCxnSpPr>
          <p:nvPr/>
        </p:nvCxnSpPr>
        <p:spPr>
          <a:xfrm rot="16200000" flipH="1">
            <a:off x="3839431" y="2033551"/>
            <a:ext cx="984964" cy="1025508"/>
          </a:xfrm>
          <a:prstGeom prst="bentConnector4">
            <a:avLst>
              <a:gd name="adj1" fmla="val -23209"/>
              <a:gd name="adj2" fmla="val 77632"/>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꺾인 연결선 28">
            <a:extLst>
              <a:ext uri="{FF2B5EF4-FFF2-40B4-BE49-F238E27FC236}">
                <a16:creationId xmlns:a16="http://schemas.microsoft.com/office/drawing/2014/main" id="{4FEE5C20-03C5-42D5-8FDD-4E90C0DD89FB}"/>
              </a:ext>
            </a:extLst>
          </p:cNvPr>
          <p:cNvCxnSpPr>
            <a:stCxn id="97" idx="2"/>
            <a:endCxn id="104" idx="1"/>
          </p:cNvCxnSpPr>
          <p:nvPr/>
        </p:nvCxnSpPr>
        <p:spPr>
          <a:xfrm rot="16200000" flipH="1">
            <a:off x="3534996" y="2550097"/>
            <a:ext cx="145507" cy="2470693"/>
          </a:xfrm>
          <a:prstGeom prst="bentConnector2">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Rectangle 5">
            <a:extLst>
              <a:ext uri="{FF2B5EF4-FFF2-40B4-BE49-F238E27FC236}">
                <a16:creationId xmlns:a16="http://schemas.microsoft.com/office/drawing/2014/main" id="{046F8658-A8BC-4C82-A17A-73A84FB3E2AB}"/>
              </a:ext>
            </a:extLst>
          </p:cNvPr>
          <p:cNvSpPr>
            <a:spLocks noChangeArrowheads="1"/>
          </p:cNvSpPr>
          <p:nvPr/>
        </p:nvSpPr>
        <p:spPr bwMode="auto">
          <a:xfrm>
            <a:off x="4843096" y="4344726"/>
            <a:ext cx="1133475" cy="348102"/>
          </a:xfrm>
          <a:prstGeom prst="rect">
            <a:avLst/>
          </a:prstGeom>
          <a:solidFill>
            <a:schemeClr val="bg1"/>
          </a:solidFill>
          <a:ln w="57150" algn="ctr">
            <a:solidFill>
              <a:schemeClr val="bg1">
                <a:lumMod val="50000"/>
              </a:schemeClr>
            </a:solidFill>
            <a:miter lim="800000"/>
            <a:headEnd/>
            <a:tailEnd/>
          </a:ln>
        </p:spPr>
        <p:txBody>
          <a:bodyPr wrap="none" anchor="ctr"/>
          <a:lstStyle/>
          <a:p>
            <a:pPr algn="ctr"/>
            <a:r>
              <a:rPr lang="ko-KR" altLang="en-US" sz="1100" b="0" dirty="0">
                <a:solidFill>
                  <a:schemeClr val="tx1"/>
                </a:solidFill>
                <a:latin typeface="+mj-ea"/>
                <a:ea typeface="+mj-ea"/>
              </a:rPr>
              <a:t>특허료 납부</a:t>
            </a:r>
          </a:p>
        </p:txBody>
      </p:sp>
      <p:sp>
        <p:nvSpPr>
          <p:cNvPr id="113" name="Rectangle 5">
            <a:extLst>
              <a:ext uri="{FF2B5EF4-FFF2-40B4-BE49-F238E27FC236}">
                <a16:creationId xmlns:a16="http://schemas.microsoft.com/office/drawing/2014/main" id="{EA6E2353-EEAD-41F4-A933-BF44D405F99D}"/>
              </a:ext>
            </a:extLst>
          </p:cNvPr>
          <p:cNvSpPr>
            <a:spLocks noChangeArrowheads="1"/>
          </p:cNvSpPr>
          <p:nvPr/>
        </p:nvSpPr>
        <p:spPr bwMode="auto">
          <a:xfrm>
            <a:off x="4843096" y="4887651"/>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설정등록</a:t>
            </a:r>
          </a:p>
        </p:txBody>
      </p:sp>
      <p:sp>
        <p:nvSpPr>
          <p:cNvPr id="114" name="Rectangle 5">
            <a:extLst>
              <a:ext uri="{FF2B5EF4-FFF2-40B4-BE49-F238E27FC236}">
                <a16:creationId xmlns:a16="http://schemas.microsoft.com/office/drawing/2014/main" id="{E52F730D-3E42-453B-A2A2-F8CD7AA2F3E7}"/>
              </a:ext>
            </a:extLst>
          </p:cNvPr>
          <p:cNvSpPr>
            <a:spLocks noChangeArrowheads="1"/>
          </p:cNvSpPr>
          <p:nvPr/>
        </p:nvSpPr>
        <p:spPr bwMode="auto">
          <a:xfrm>
            <a:off x="4843096" y="5422653"/>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a:latin typeface="+mj-ea"/>
                <a:ea typeface="+mj-ea"/>
              </a:rPr>
              <a:t>등록공고</a:t>
            </a:r>
            <a:endParaRPr lang="ko-KR" altLang="en-US" sz="1100" b="0" dirty="0">
              <a:solidFill>
                <a:schemeClr val="tx1"/>
              </a:solidFill>
              <a:latin typeface="+mj-ea"/>
              <a:ea typeface="+mj-ea"/>
            </a:endParaRPr>
          </a:p>
        </p:txBody>
      </p:sp>
      <p:cxnSp>
        <p:nvCxnSpPr>
          <p:cNvPr id="115" name="직선 화살표 연결선 114">
            <a:extLst>
              <a:ext uri="{FF2B5EF4-FFF2-40B4-BE49-F238E27FC236}">
                <a16:creationId xmlns:a16="http://schemas.microsoft.com/office/drawing/2014/main" id="{10BC86EB-0AA6-42B0-BB0F-C89D658DEDE6}"/>
              </a:ext>
            </a:extLst>
          </p:cNvPr>
          <p:cNvCxnSpPr>
            <a:stCxn id="107" idx="2"/>
            <a:endCxn id="104" idx="0"/>
          </p:cNvCxnSpPr>
          <p:nvPr/>
        </p:nvCxnSpPr>
        <p:spPr>
          <a:xfrm flipH="1">
            <a:off x="5409834" y="3274691"/>
            <a:ext cx="1572" cy="409456"/>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6" name="직선 화살표 연결선 115">
            <a:extLst>
              <a:ext uri="{FF2B5EF4-FFF2-40B4-BE49-F238E27FC236}">
                <a16:creationId xmlns:a16="http://schemas.microsoft.com/office/drawing/2014/main" id="{56A01480-776B-4B3C-8235-D96A3AE61A2C}"/>
              </a:ext>
            </a:extLst>
          </p:cNvPr>
          <p:cNvCxnSpPr>
            <a:stCxn id="104" idx="2"/>
            <a:endCxn id="112" idx="0"/>
          </p:cNvCxnSpPr>
          <p:nvPr/>
        </p:nvCxnSpPr>
        <p:spPr>
          <a:xfrm>
            <a:off x="5409834" y="4032249"/>
            <a:ext cx="0" cy="312477"/>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직선 화살표 연결선 116">
            <a:extLst>
              <a:ext uri="{FF2B5EF4-FFF2-40B4-BE49-F238E27FC236}">
                <a16:creationId xmlns:a16="http://schemas.microsoft.com/office/drawing/2014/main" id="{FA859292-3E17-4E9F-856B-23ED494C1E71}"/>
              </a:ext>
            </a:extLst>
          </p:cNvPr>
          <p:cNvCxnSpPr>
            <a:stCxn id="112" idx="2"/>
            <a:endCxn id="113" idx="0"/>
          </p:cNvCxnSpPr>
          <p:nvPr/>
        </p:nvCxnSpPr>
        <p:spPr>
          <a:xfrm>
            <a:off x="5409834" y="4692828"/>
            <a:ext cx="0" cy="194823"/>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8" name="직선 화살표 연결선 117">
            <a:extLst>
              <a:ext uri="{FF2B5EF4-FFF2-40B4-BE49-F238E27FC236}">
                <a16:creationId xmlns:a16="http://schemas.microsoft.com/office/drawing/2014/main" id="{F86C7467-C6ED-4B6D-A786-551AB2BF4AD1}"/>
              </a:ext>
            </a:extLst>
          </p:cNvPr>
          <p:cNvCxnSpPr>
            <a:stCxn id="113" idx="2"/>
            <a:endCxn id="114" idx="0"/>
          </p:cNvCxnSpPr>
          <p:nvPr/>
        </p:nvCxnSpPr>
        <p:spPr>
          <a:xfrm>
            <a:off x="5409834" y="5235753"/>
            <a:ext cx="0" cy="186900"/>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9" name="Rectangle 5">
            <a:extLst>
              <a:ext uri="{FF2B5EF4-FFF2-40B4-BE49-F238E27FC236}">
                <a16:creationId xmlns:a16="http://schemas.microsoft.com/office/drawing/2014/main" id="{B7F535C5-346A-41B0-9BC3-37907058E7B0}"/>
              </a:ext>
            </a:extLst>
          </p:cNvPr>
          <p:cNvSpPr>
            <a:spLocks noChangeArrowheads="1"/>
          </p:cNvSpPr>
          <p:nvPr/>
        </p:nvSpPr>
        <p:spPr bwMode="auto">
          <a:xfrm>
            <a:off x="6900496" y="1917460"/>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거절결정</a:t>
            </a:r>
          </a:p>
        </p:txBody>
      </p:sp>
      <p:sp>
        <p:nvSpPr>
          <p:cNvPr id="120" name="Rectangle 5">
            <a:extLst>
              <a:ext uri="{FF2B5EF4-FFF2-40B4-BE49-F238E27FC236}">
                <a16:creationId xmlns:a16="http://schemas.microsoft.com/office/drawing/2014/main" id="{538CC925-02CF-437F-8163-0AF36AB80E05}"/>
              </a:ext>
            </a:extLst>
          </p:cNvPr>
          <p:cNvSpPr>
            <a:spLocks noChangeArrowheads="1"/>
          </p:cNvSpPr>
          <p:nvPr/>
        </p:nvSpPr>
        <p:spPr bwMode="auto">
          <a:xfrm>
            <a:off x="6900496" y="2601706"/>
            <a:ext cx="1133475" cy="348102"/>
          </a:xfrm>
          <a:prstGeom prst="rect">
            <a:avLst/>
          </a:prstGeom>
          <a:solidFill>
            <a:schemeClr val="accent2"/>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재심사청구</a:t>
            </a:r>
            <a:r>
              <a:rPr lang="en-US" altLang="ko-KR" sz="1100" b="0" dirty="0">
                <a:solidFill>
                  <a:schemeClr val="tx1"/>
                </a:solidFill>
                <a:latin typeface="+mj-ea"/>
                <a:ea typeface="+mj-ea"/>
              </a:rPr>
              <a:t>(</a:t>
            </a:r>
            <a:r>
              <a:rPr lang="ko-KR" altLang="en-US" sz="1100" b="0" dirty="0">
                <a:solidFill>
                  <a:schemeClr val="tx1"/>
                </a:solidFill>
                <a:latin typeface="+mj-ea"/>
                <a:ea typeface="+mj-ea"/>
              </a:rPr>
              <a:t>보정</a:t>
            </a:r>
            <a:r>
              <a:rPr lang="en-US" altLang="ko-KR" sz="1100" b="0" dirty="0">
                <a:solidFill>
                  <a:schemeClr val="tx1"/>
                </a:solidFill>
                <a:latin typeface="+mj-ea"/>
                <a:ea typeface="+mj-ea"/>
              </a:rPr>
              <a:t>)</a:t>
            </a:r>
            <a:endParaRPr lang="ko-KR" altLang="en-US" sz="1100" b="0" dirty="0">
              <a:solidFill>
                <a:schemeClr val="tx1"/>
              </a:solidFill>
              <a:latin typeface="+mj-ea"/>
              <a:ea typeface="+mj-ea"/>
            </a:endParaRPr>
          </a:p>
        </p:txBody>
      </p:sp>
      <p:sp>
        <p:nvSpPr>
          <p:cNvPr id="121" name="AutoShape 11">
            <a:extLst>
              <a:ext uri="{FF2B5EF4-FFF2-40B4-BE49-F238E27FC236}">
                <a16:creationId xmlns:a16="http://schemas.microsoft.com/office/drawing/2014/main" id="{F9E68FE7-F537-401C-999C-624F0D141930}"/>
              </a:ext>
            </a:extLst>
          </p:cNvPr>
          <p:cNvSpPr>
            <a:spLocks noChangeArrowheads="1"/>
          </p:cNvSpPr>
          <p:nvPr/>
        </p:nvSpPr>
        <p:spPr bwMode="auto">
          <a:xfrm>
            <a:off x="6900496" y="3271417"/>
            <a:ext cx="1133478" cy="471808"/>
          </a:xfrm>
          <a:prstGeom prst="flowChartDecision">
            <a:avLst/>
          </a:prstGeom>
          <a:solidFill>
            <a:schemeClr val="accent5">
              <a:lumMod val="75000"/>
            </a:schemeClr>
          </a:solidFill>
          <a:ln>
            <a:solidFill>
              <a:schemeClr val="bg1">
                <a:lumMod val="50000"/>
              </a:schemeClr>
            </a:solidFill>
            <a:headEnd/>
            <a:tailEnd/>
          </a:ln>
          <a:effectLst/>
        </p:spPr>
        <p:style>
          <a:lnRef idx="1">
            <a:schemeClr val="accent5"/>
          </a:lnRef>
          <a:fillRef idx="3">
            <a:schemeClr val="accent5"/>
          </a:fillRef>
          <a:effectRef idx="2">
            <a:schemeClr val="accent5"/>
          </a:effectRef>
          <a:fontRef idx="minor">
            <a:schemeClr val="lt1"/>
          </a:fontRef>
        </p:style>
        <p:txBody>
          <a:bodyPr wrap="none" anchor="ctr"/>
          <a:lstStyle/>
          <a:p>
            <a:pPr algn="ctr">
              <a:defRPr/>
            </a:pPr>
            <a:r>
              <a:rPr lang="ko-KR" altLang="en-US" sz="1100" b="0" dirty="0">
                <a:solidFill>
                  <a:schemeClr val="bg1"/>
                </a:solidFill>
                <a:latin typeface="+mj-ea"/>
                <a:ea typeface="+mj-ea"/>
              </a:rPr>
              <a:t>실체심사</a:t>
            </a:r>
          </a:p>
        </p:txBody>
      </p:sp>
      <p:sp>
        <p:nvSpPr>
          <p:cNvPr id="122" name="Rectangle 5">
            <a:extLst>
              <a:ext uri="{FF2B5EF4-FFF2-40B4-BE49-F238E27FC236}">
                <a16:creationId xmlns:a16="http://schemas.microsoft.com/office/drawing/2014/main" id="{05A7DFC1-0577-4547-876D-1DF0B6532CEC}"/>
              </a:ext>
            </a:extLst>
          </p:cNvPr>
          <p:cNvSpPr>
            <a:spLocks noChangeArrowheads="1"/>
          </p:cNvSpPr>
          <p:nvPr/>
        </p:nvSpPr>
        <p:spPr bwMode="auto">
          <a:xfrm>
            <a:off x="6900496" y="4059619"/>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거절결정</a:t>
            </a:r>
          </a:p>
        </p:txBody>
      </p:sp>
      <p:sp>
        <p:nvSpPr>
          <p:cNvPr id="123" name="Rectangle 5">
            <a:extLst>
              <a:ext uri="{FF2B5EF4-FFF2-40B4-BE49-F238E27FC236}">
                <a16:creationId xmlns:a16="http://schemas.microsoft.com/office/drawing/2014/main" id="{B0E2BCCD-C890-463D-89D0-9277DD204C24}"/>
              </a:ext>
            </a:extLst>
          </p:cNvPr>
          <p:cNvSpPr>
            <a:spLocks noChangeArrowheads="1"/>
          </p:cNvSpPr>
          <p:nvPr/>
        </p:nvSpPr>
        <p:spPr bwMode="auto">
          <a:xfrm>
            <a:off x="8795971" y="2052308"/>
            <a:ext cx="1281479" cy="348102"/>
          </a:xfrm>
          <a:prstGeom prst="rect">
            <a:avLst/>
          </a:prstGeom>
          <a:solidFill>
            <a:schemeClr val="accent2"/>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거절결정불복심판청구</a:t>
            </a:r>
            <a:endParaRPr lang="en-US" altLang="ko-KR" sz="1100" b="0" dirty="0">
              <a:solidFill>
                <a:schemeClr val="tx1"/>
              </a:solidFill>
              <a:latin typeface="+mj-ea"/>
              <a:ea typeface="+mj-ea"/>
            </a:endParaRPr>
          </a:p>
          <a:p>
            <a:pPr algn="ctr"/>
            <a:r>
              <a:rPr lang="en-US" altLang="ko-KR" sz="900" dirty="0">
                <a:latin typeface="+mj-ea"/>
                <a:ea typeface="+mj-ea"/>
              </a:rPr>
              <a:t>(</a:t>
            </a:r>
            <a:r>
              <a:rPr lang="ko-KR" altLang="en-US" sz="900" dirty="0">
                <a:latin typeface="+mj-ea"/>
                <a:ea typeface="+mj-ea"/>
              </a:rPr>
              <a:t>특허심판원</a:t>
            </a:r>
            <a:r>
              <a:rPr lang="en-US" altLang="ko-KR" sz="900" dirty="0">
                <a:latin typeface="+mj-ea"/>
                <a:ea typeface="+mj-ea"/>
              </a:rPr>
              <a:t>)</a:t>
            </a:r>
            <a:endParaRPr lang="en-US" altLang="ko-KR" sz="900" b="0" dirty="0">
              <a:solidFill>
                <a:schemeClr val="tx1"/>
              </a:solidFill>
              <a:latin typeface="+mj-ea"/>
              <a:ea typeface="+mj-ea"/>
            </a:endParaRPr>
          </a:p>
        </p:txBody>
      </p:sp>
      <p:sp>
        <p:nvSpPr>
          <p:cNvPr id="124" name="Rectangle 5">
            <a:extLst>
              <a:ext uri="{FF2B5EF4-FFF2-40B4-BE49-F238E27FC236}">
                <a16:creationId xmlns:a16="http://schemas.microsoft.com/office/drawing/2014/main" id="{A249DBBE-7754-4AD1-B6EC-20B81717D32B}"/>
              </a:ext>
            </a:extLst>
          </p:cNvPr>
          <p:cNvSpPr>
            <a:spLocks noChangeArrowheads="1"/>
          </p:cNvSpPr>
          <p:nvPr/>
        </p:nvSpPr>
        <p:spPr bwMode="auto">
          <a:xfrm>
            <a:off x="10467551" y="2247258"/>
            <a:ext cx="800524"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err="1">
                <a:latin typeface="+mj-ea"/>
                <a:ea typeface="+mj-ea"/>
              </a:rPr>
              <a:t>인용심결</a:t>
            </a:r>
            <a:endParaRPr lang="en-US" altLang="ko-KR" sz="1100" dirty="0">
              <a:latin typeface="+mj-ea"/>
              <a:ea typeface="+mj-ea"/>
            </a:endParaRPr>
          </a:p>
          <a:p>
            <a:pPr algn="ctr"/>
            <a:r>
              <a:rPr lang="en-US" altLang="ko-KR" sz="900" dirty="0">
                <a:latin typeface="+mj-ea"/>
                <a:ea typeface="+mj-ea"/>
              </a:rPr>
              <a:t>(</a:t>
            </a:r>
            <a:r>
              <a:rPr lang="ko-KR" altLang="en-US" sz="900" dirty="0">
                <a:latin typeface="+mj-ea"/>
                <a:ea typeface="+mj-ea"/>
              </a:rPr>
              <a:t>거절결정취소</a:t>
            </a:r>
            <a:r>
              <a:rPr lang="en-US" altLang="ko-KR" sz="900" dirty="0">
                <a:latin typeface="+mj-ea"/>
                <a:ea typeface="+mj-ea"/>
              </a:rPr>
              <a:t>)</a:t>
            </a:r>
            <a:endParaRPr lang="ko-KR" altLang="en-US" sz="900" dirty="0">
              <a:latin typeface="+mj-ea"/>
              <a:ea typeface="+mj-ea"/>
            </a:endParaRPr>
          </a:p>
        </p:txBody>
      </p:sp>
      <p:sp>
        <p:nvSpPr>
          <p:cNvPr id="125" name="Rectangle 5">
            <a:extLst>
              <a:ext uri="{FF2B5EF4-FFF2-40B4-BE49-F238E27FC236}">
                <a16:creationId xmlns:a16="http://schemas.microsoft.com/office/drawing/2014/main" id="{99F2A70D-A05A-4AFE-86BE-77039241ABF1}"/>
              </a:ext>
            </a:extLst>
          </p:cNvPr>
          <p:cNvSpPr>
            <a:spLocks noChangeArrowheads="1"/>
          </p:cNvSpPr>
          <p:nvPr/>
        </p:nvSpPr>
        <p:spPr bwMode="auto">
          <a:xfrm>
            <a:off x="10467551" y="1820131"/>
            <a:ext cx="800524"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err="1">
                <a:latin typeface="+mj-ea"/>
                <a:ea typeface="+mj-ea"/>
              </a:rPr>
              <a:t>기각</a:t>
            </a:r>
            <a:r>
              <a:rPr lang="ko-KR" altLang="en-US" sz="1100" b="0" dirty="0" err="1">
                <a:solidFill>
                  <a:schemeClr val="tx1"/>
                </a:solidFill>
                <a:latin typeface="+mj-ea"/>
                <a:ea typeface="+mj-ea"/>
              </a:rPr>
              <a:t>심결</a:t>
            </a:r>
            <a:endParaRPr lang="ko-KR" altLang="en-US" sz="1100" b="0" dirty="0">
              <a:solidFill>
                <a:schemeClr val="tx1"/>
              </a:solidFill>
              <a:latin typeface="+mj-ea"/>
              <a:ea typeface="+mj-ea"/>
            </a:endParaRPr>
          </a:p>
        </p:txBody>
      </p:sp>
      <p:sp>
        <p:nvSpPr>
          <p:cNvPr id="126" name="Rectangle 5">
            <a:extLst>
              <a:ext uri="{FF2B5EF4-FFF2-40B4-BE49-F238E27FC236}">
                <a16:creationId xmlns:a16="http://schemas.microsoft.com/office/drawing/2014/main" id="{6CFBCD20-0883-4493-9373-0F999B9E30CB}"/>
              </a:ext>
            </a:extLst>
          </p:cNvPr>
          <p:cNvSpPr>
            <a:spLocks noChangeArrowheads="1"/>
          </p:cNvSpPr>
          <p:nvPr/>
        </p:nvSpPr>
        <p:spPr bwMode="auto">
          <a:xfrm>
            <a:off x="9977071" y="4045073"/>
            <a:ext cx="1281479" cy="348102"/>
          </a:xfrm>
          <a:prstGeom prst="rect">
            <a:avLst/>
          </a:prstGeom>
          <a:solidFill>
            <a:schemeClr val="bg1"/>
          </a:solidFill>
          <a:ln w="57150" algn="ctr">
            <a:solidFill>
              <a:srgbClr val="5F5F5F"/>
            </a:solidFill>
            <a:miter lim="800000"/>
            <a:headEnd/>
            <a:tailEnd/>
          </a:ln>
        </p:spPr>
        <p:txBody>
          <a:bodyPr wrap="none" anchor="ctr"/>
          <a:lstStyle/>
          <a:p>
            <a:pPr algn="ctr"/>
            <a:r>
              <a:rPr lang="ko-KR" altLang="en-US" sz="1100" dirty="0">
                <a:latin typeface="+mj-ea"/>
                <a:ea typeface="+mj-ea"/>
              </a:rPr>
              <a:t>소제기</a:t>
            </a:r>
            <a:endParaRPr lang="en-US" altLang="ko-KR" sz="1100" dirty="0">
              <a:latin typeface="+mj-ea"/>
              <a:ea typeface="+mj-ea"/>
            </a:endParaRPr>
          </a:p>
          <a:p>
            <a:pPr algn="ctr"/>
            <a:r>
              <a:rPr lang="en-US" altLang="ko-KR" sz="900" dirty="0">
                <a:latin typeface="+mj-ea"/>
                <a:ea typeface="+mj-ea"/>
              </a:rPr>
              <a:t>(</a:t>
            </a:r>
            <a:r>
              <a:rPr lang="ko-KR" altLang="en-US" sz="900" dirty="0">
                <a:latin typeface="+mj-ea"/>
                <a:ea typeface="+mj-ea"/>
              </a:rPr>
              <a:t>특허법원</a:t>
            </a:r>
            <a:r>
              <a:rPr lang="en-US" altLang="ko-KR" sz="900" dirty="0">
                <a:latin typeface="+mj-ea"/>
                <a:ea typeface="+mj-ea"/>
              </a:rPr>
              <a:t>)</a:t>
            </a:r>
            <a:endParaRPr lang="en-US" altLang="ko-KR" sz="900" b="0" dirty="0">
              <a:solidFill>
                <a:schemeClr val="tx1"/>
              </a:solidFill>
              <a:latin typeface="+mj-ea"/>
              <a:ea typeface="+mj-ea"/>
            </a:endParaRPr>
          </a:p>
        </p:txBody>
      </p:sp>
      <p:sp>
        <p:nvSpPr>
          <p:cNvPr id="127" name="Rectangle 5">
            <a:extLst>
              <a:ext uri="{FF2B5EF4-FFF2-40B4-BE49-F238E27FC236}">
                <a16:creationId xmlns:a16="http://schemas.microsoft.com/office/drawing/2014/main" id="{172F0175-F5FD-4D8D-B214-7461AC14A34E}"/>
              </a:ext>
            </a:extLst>
          </p:cNvPr>
          <p:cNvSpPr>
            <a:spLocks noChangeArrowheads="1"/>
          </p:cNvSpPr>
          <p:nvPr/>
        </p:nvSpPr>
        <p:spPr bwMode="auto">
          <a:xfrm>
            <a:off x="9977071" y="4846989"/>
            <a:ext cx="1281479" cy="348102"/>
          </a:xfrm>
          <a:prstGeom prst="rect">
            <a:avLst/>
          </a:prstGeom>
          <a:solidFill>
            <a:schemeClr val="bg1"/>
          </a:solidFill>
          <a:ln w="57150" algn="ctr">
            <a:solidFill>
              <a:srgbClr val="5F5F5F"/>
            </a:solidFill>
            <a:miter lim="800000"/>
            <a:headEnd/>
            <a:tailEnd/>
          </a:ln>
        </p:spPr>
        <p:txBody>
          <a:bodyPr wrap="none" anchor="ctr"/>
          <a:lstStyle/>
          <a:p>
            <a:pPr algn="ctr"/>
            <a:r>
              <a:rPr lang="ko-KR" altLang="en-US" sz="1100" dirty="0">
                <a:latin typeface="+mj-ea"/>
                <a:ea typeface="+mj-ea"/>
              </a:rPr>
              <a:t>상고</a:t>
            </a:r>
            <a:endParaRPr lang="en-US" altLang="ko-KR" sz="1100" dirty="0">
              <a:latin typeface="+mj-ea"/>
              <a:ea typeface="+mj-ea"/>
            </a:endParaRPr>
          </a:p>
          <a:p>
            <a:pPr algn="ctr"/>
            <a:r>
              <a:rPr lang="en-US" altLang="ko-KR" sz="900" dirty="0">
                <a:latin typeface="+mj-ea"/>
                <a:ea typeface="+mj-ea"/>
              </a:rPr>
              <a:t>(</a:t>
            </a:r>
            <a:r>
              <a:rPr lang="ko-KR" altLang="en-US" sz="900" dirty="0">
                <a:latin typeface="+mj-ea"/>
                <a:ea typeface="+mj-ea"/>
              </a:rPr>
              <a:t>대법원</a:t>
            </a:r>
            <a:r>
              <a:rPr lang="en-US" altLang="ko-KR" sz="900" dirty="0">
                <a:latin typeface="+mj-ea"/>
                <a:ea typeface="+mj-ea"/>
              </a:rPr>
              <a:t>)</a:t>
            </a:r>
            <a:endParaRPr lang="en-US" altLang="ko-KR" sz="900" b="0" dirty="0">
              <a:solidFill>
                <a:schemeClr val="tx1"/>
              </a:solidFill>
              <a:latin typeface="+mj-ea"/>
              <a:ea typeface="+mj-ea"/>
            </a:endParaRPr>
          </a:p>
        </p:txBody>
      </p:sp>
      <p:sp>
        <p:nvSpPr>
          <p:cNvPr id="128" name="Rectangle 5">
            <a:extLst>
              <a:ext uri="{FF2B5EF4-FFF2-40B4-BE49-F238E27FC236}">
                <a16:creationId xmlns:a16="http://schemas.microsoft.com/office/drawing/2014/main" id="{D08990CB-2836-48B0-946D-72F5F408F683}"/>
              </a:ext>
            </a:extLst>
          </p:cNvPr>
          <p:cNvSpPr>
            <a:spLocks noChangeArrowheads="1"/>
          </p:cNvSpPr>
          <p:nvPr/>
        </p:nvSpPr>
        <p:spPr bwMode="auto">
          <a:xfrm>
            <a:off x="6624271" y="5144533"/>
            <a:ext cx="1281479" cy="348102"/>
          </a:xfrm>
          <a:prstGeom prst="rect">
            <a:avLst/>
          </a:prstGeom>
          <a:solidFill>
            <a:schemeClr val="accent4"/>
          </a:solidFill>
          <a:ln w="9525" algn="ctr">
            <a:solidFill>
              <a:srgbClr val="5F5F5F"/>
            </a:solidFill>
            <a:miter lim="800000"/>
            <a:headEnd/>
            <a:tailEnd/>
          </a:ln>
        </p:spPr>
        <p:txBody>
          <a:bodyPr wrap="none" anchor="ctr"/>
          <a:lstStyle/>
          <a:p>
            <a:pPr algn="ctr"/>
            <a:r>
              <a:rPr lang="ko-KR" altLang="en-US" sz="1100" dirty="0">
                <a:latin typeface="+mj-ea"/>
                <a:ea typeface="+mj-ea"/>
              </a:rPr>
              <a:t>특허취소신청</a:t>
            </a:r>
            <a:endParaRPr lang="en-US" altLang="ko-KR" sz="1100" dirty="0">
              <a:latin typeface="+mj-ea"/>
              <a:ea typeface="+mj-ea"/>
            </a:endParaRPr>
          </a:p>
          <a:p>
            <a:pPr algn="ctr"/>
            <a:r>
              <a:rPr lang="en-US" altLang="ko-KR" sz="900" dirty="0">
                <a:latin typeface="+mj-ea"/>
                <a:ea typeface="+mj-ea"/>
              </a:rPr>
              <a:t>(</a:t>
            </a:r>
            <a:r>
              <a:rPr lang="ko-KR" altLang="en-US" sz="900" dirty="0">
                <a:latin typeface="+mj-ea"/>
                <a:ea typeface="+mj-ea"/>
              </a:rPr>
              <a:t>특허심판원</a:t>
            </a:r>
            <a:r>
              <a:rPr lang="en-US" altLang="ko-KR" sz="900" dirty="0">
                <a:latin typeface="+mj-ea"/>
                <a:ea typeface="+mj-ea"/>
              </a:rPr>
              <a:t>)</a:t>
            </a:r>
            <a:endParaRPr lang="en-US" altLang="ko-KR" sz="900" b="0" dirty="0">
              <a:solidFill>
                <a:schemeClr val="tx1"/>
              </a:solidFill>
              <a:latin typeface="+mj-ea"/>
              <a:ea typeface="+mj-ea"/>
            </a:endParaRPr>
          </a:p>
        </p:txBody>
      </p:sp>
      <p:sp>
        <p:nvSpPr>
          <p:cNvPr id="129" name="Rectangle 5">
            <a:extLst>
              <a:ext uri="{FF2B5EF4-FFF2-40B4-BE49-F238E27FC236}">
                <a16:creationId xmlns:a16="http://schemas.microsoft.com/office/drawing/2014/main" id="{158C08EB-E437-4993-9141-F1DC4CD3BBBB}"/>
              </a:ext>
            </a:extLst>
          </p:cNvPr>
          <p:cNvSpPr>
            <a:spLocks noChangeArrowheads="1"/>
          </p:cNvSpPr>
          <p:nvPr/>
        </p:nvSpPr>
        <p:spPr bwMode="auto">
          <a:xfrm>
            <a:off x="8252622" y="4947402"/>
            <a:ext cx="800524"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a:latin typeface="+mj-ea"/>
                <a:ea typeface="+mj-ea"/>
              </a:rPr>
              <a:t>취소</a:t>
            </a:r>
            <a:r>
              <a:rPr lang="ko-KR" altLang="en-US" sz="1100" b="0" dirty="0">
                <a:solidFill>
                  <a:schemeClr val="tx1"/>
                </a:solidFill>
                <a:latin typeface="+mj-ea"/>
                <a:ea typeface="+mj-ea"/>
              </a:rPr>
              <a:t>결정</a:t>
            </a:r>
          </a:p>
        </p:txBody>
      </p:sp>
      <p:sp>
        <p:nvSpPr>
          <p:cNvPr id="130" name="Rectangle 5">
            <a:extLst>
              <a:ext uri="{FF2B5EF4-FFF2-40B4-BE49-F238E27FC236}">
                <a16:creationId xmlns:a16="http://schemas.microsoft.com/office/drawing/2014/main" id="{F9CA1CEC-E7AD-4F33-9F99-BC58AD46A3E1}"/>
              </a:ext>
            </a:extLst>
          </p:cNvPr>
          <p:cNvSpPr>
            <a:spLocks noChangeArrowheads="1"/>
          </p:cNvSpPr>
          <p:nvPr/>
        </p:nvSpPr>
        <p:spPr bwMode="auto">
          <a:xfrm>
            <a:off x="8252622" y="5341857"/>
            <a:ext cx="800524"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a:latin typeface="+mj-ea"/>
                <a:ea typeface="+mj-ea"/>
              </a:rPr>
              <a:t>기각</a:t>
            </a:r>
            <a:r>
              <a:rPr lang="ko-KR" altLang="en-US" sz="1100" b="0" dirty="0">
                <a:solidFill>
                  <a:schemeClr val="tx1"/>
                </a:solidFill>
                <a:latin typeface="+mj-ea"/>
                <a:ea typeface="+mj-ea"/>
              </a:rPr>
              <a:t>결정</a:t>
            </a:r>
            <a:endParaRPr lang="en-US" altLang="ko-KR" sz="1100" b="0" dirty="0">
              <a:solidFill>
                <a:schemeClr val="tx1"/>
              </a:solidFill>
              <a:latin typeface="+mj-ea"/>
              <a:ea typeface="+mj-ea"/>
            </a:endParaRPr>
          </a:p>
        </p:txBody>
      </p:sp>
      <p:sp>
        <p:nvSpPr>
          <p:cNvPr id="131" name="Rectangle 5">
            <a:extLst>
              <a:ext uri="{FF2B5EF4-FFF2-40B4-BE49-F238E27FC236}">
                <a16:creationId xmlns:a16="http://schemas.microsoft.com/office/drawing/2014/main" id="{AB6FCBF0-141A-4566-B315-F9707A5A254A}"/>
              </a:ext>
            </a:extLst>
          </p:cNvPr>
          <p:cNvSpPr>
            <a:spLocks noChangeArrowheads="1"/>
          </p:cNvSpPr>
          <p:nvPr/>
        </p:nvSpPr>
        <p:spPr bwMode="auto">
          <a:xfrm>
            <a:off x="6624271" y="5983939"/>
            <a:ext cx="1281479" cy="348102"/>
          </a:xfrm>
          <a:prstGeom prst="rect">
            <a:avLst/>
          </a:prstGeom>
          <a:solidFill>
            <a:schemeClr val="accent4"/>
          </a:solidFill>
          <a:ln w="9525" algn="ctr">
            <a:solidFill>
              <a:srgbClr val="5F5F5F"/>
            </a:solidFill>
            <a:miter lim="800000"/>
            <a:headEnd/>
            <a:tailEnd/>
          </a:ln>
        </p:spPr>
        <p:txBody>
          <a:bodyPr wrap="none" anchor="ctr"/>
          <a:lstStyle/>
          <a:p>
            <a:pPr algn="ctr"/>
            <a:r>
              <a:rPr lang="ko-KR" altLang="en-US" sz="1100" dirty="0">
                <a:latin typeface="+mj-ea"/>
                <a:ea typeface="+mj-ea"/>
              </a:rPr>
              <a:t>특허무효심판청구</a:t>
            </a:r>
            <a:endParaRPr lang="en-US" altLang="ko-KR" sz="1100" dirty="0">
              <a:latin typeface="+mj-ea"/>
              <a:ea typeface="+mj-ea"/>
            </a:endParaRPr>
          </a:p>
          <a:p>
            <a:pPr algn="ctr"/>
            <a:r>
              <a:rPr lang="en-US" altLang="ko-KR" sz="900" dirty="0">
                <a:latin typeface="+mj-ea"/>
                <a:ea typeface="+mj-ea"/>
              </a:rPr>
              <a:t>(</a:t>
            </a:r>
            <a:r>
              <a:rPr lang="ko-KR" altLang="en-US" sz="900" dirty="0">
                <a:latin typeface="+mj-ea"/>
                <a:ea typeface="+mj-ea"/>
              </a:rPr>
              <a:t>특허심판원</a:t>
            </a:r>
            <a:r>
              <a:rPr lang="en-US" altLang="ko-KR" sz="900" dirty="0">
                <a:latin typeface="+mj-ea"/>
                <a:ea typeface="+mj-ea"/>
              </a:rPr>
              <a:t>)</a:t>
            </a:r>
            <a:endParaRPr lang="en-US" altLang="ko-KR" sz="900" b="0" dirty="0">
              <a:solidFill>
                <a:schemeClr val="tx1"/>
              </a:solidFill>
              <a:latin typeface="+mj-ea"/>
              <a:ea typeface="+mj-ea"/>
            </a:endParaRPr>
          </a:p>
        </p:txBody>
      </p:sp>
      <p:sp>
        <p:nvSpPr>
          <p:cNvPr id="132" name="Rectangle 5">
            <a:extLst>
              <a:ext uri="{FF2B5EF4-FFF2-40B4-BE49-F238E27FC236}">
                <a16:creationId xmlns:a16="http://schemas.microsoft.com/office/drawing/2014/main" id="{E06B82C9-6C14-4EF2-B26A-A005A8626DF3}"/>
              </a:ext>
            </a:extLst>
          </p:cNvPr>
          <p:cNvSpPr>
            <a:spLocks noChangeArrowheads="1"/>
          </p:cNvSpPr>
          <p:nvPr/>
        </p:nvSpPr>
        <p:spPr bwMode="auto">
          <a:xfrm>
            <a:off x="8252622" y="5786808"/>
            <a:ext cx="800524"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dirty="0" err="1">
                <a:latin typeface="+mj-ea"/>
                <a:ea typeface="+mj-ea"/>
              </a:rPr>
              <a:t>인용</a:t>
            </a:r>
            <a:r>
              <a:rPr lang="ko-KR" altLang="en-US" sz="1100" b="0" dirty="0" err="1">
                <a:solidFill>
                  <a:schemeClr val="tx1"/>
                </a:solidFill>
                <a:latin typeface="+mj-ea"/>
                <a:ea typeface="+mj-ea"/>
              </a:rPr>
              <a:t>심결</a:t>
            </a:r>
            <a:endParaRPr lang="ko-KR" altLang="en-US" sz="1100" b="0" dirty="0">
              <a:solidFill>
                <a:schemeClr val="tx1"/>
              </a:solidFill>
              <a:latin typeface="+mj-ea"/>
              <a:ea typeface="+mj-ea"/>
            </a:endParaRPr>
          </a:p>
        </p:txBody>
      </p:sp>
      <p:sp>
        <p:nvSpPr>
          <p:cNvPr id="133" name="Rectangle 5">
            <a:extLst>
              <a:ext uri="{FF2B5EF4-FFF2-40B4-BE49-F238E27FC236}">
                <a16:creationId xmlns:a16="http://schemas.microsoft.com/office/drawing/2014/main" id="{6BBBB7FA-AA77-4FD0-8C33-48F1C6A84067}"/>
              </a:ext>
            </a:extLst>
          </p:cNvPr>
          <p:cNvSpPr>
            <a:spLocks noChangeArrowheads="1"/>
          </p:cNvSpPr>
          <p:nvPr/>
        </p:nvSpPr>
        <p:spPr bwMode="auto">
          <a:xfrm>
            <a:off x="8252622" y="6181263"/>
            <a:ext cx="800524"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err="1">
                <a:solidFill>
                  <a:schemeClr val="tx1"/>
                </a:solidFill>
                <a:latin typeface="+mj-ea"/>
                <a:ea typeface="+mj-ea"/>
              </a:rPr>
              <a:t>기각심결</a:t>
            </a:r>
            <a:endParaRPr lang="en-US" altLang="ko-KR" sz="1100" b="0" dirty="0">
              <a:solidFill>
                <a:schemeClr val="tx1"/>
              </a:solidFill>
              <a:latin typeface="+mj-ea"/>
              <a:ea typeface="+mj-ea"/>
            </a:endParaRPr>
          </a:p>
        </p:txBody>
      </p:sp>
      <p:sp>
        <p:nvSpPr>
          <p:cNvPr id="134" name="Rectangle 5">
            <a:extLst>
              <a:ext uri="{FF2B5EF4-FFF2-40B4-BE49-F238E27FC236}">
                <a16:creationId xmlns:a16="http://schemas.microsoft.com/office/drawing/2014/main" id="{81E28A1C-CF02-4DAF-AA63-500D680529F2}"/>
              </a:ext>
            </a:extLst>
          </p:cNvPr>
          <p:cNvSpPr>
            <a:spLocks noChangeArrowheads="1"/>
          </p:cNvSpPr>
          <p:nvPr/>
        </p:nvSpPr>
        <p:spPr bwMode="auto">
          <a:xfrm>
            <a:off x="2723784" y="3198619"/>
            <a:ext cx="1133475"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거절이유 있음</a:t>
            </a:r>
          </a:p>
        </p:txBody>
      </p:sp>
      <p:sp>
        <p:nvSpPr>
          <p:cNvPr id="135" name="Rectangle 5">
            <a:extLst>
              <a:ext uri="{FF2B5EF4-FFF2-40B4-BE49-F238E27FC236}">
                <a16:creationId xmlns:a16="http://schemas.microsoft.com/office/drawing/2014/main" id="{5983A1F6-D746-47E2-BAF0-7F361080D828}"/>
              </a:ext>
            </a:extLst>
          </p:cNvPr>
          <p:cNvSpPr>
            <a:spLocks noChangeArrowheads="1"/>
          </p:cNvSpPr>
          <p:nvPr/>
        </p:nvSpPr>
        <p:spPr bwMode="auto">
          <a:xfrm>
            <a:off x="2491099" y="3582818"/>
            <a:ext cx="1133475"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거절이유 없음</a:t>
            </a:r>
          </a:p>
        </p:txBody>
      </p:sp>
      <p:sp>
        <p:nvSpPr>
          <p:cNvPr id="136" name="Rectangle 5">
            <a:extLst>
              <a:ext uri="{FF2B5EF4-FFF2-40B4-BE49-F238E27FC236}">
                <a16:creationId xmlns:a16="http://schemas.microsoft.com/office/drawing/2014/main" id="{78596D95-232D-4991-872B-FE8F6905F981}"/>
              </a:ext>
            </a:extLst>
          </p:cNvPr>
          <p:cNvSpPr>
            <a:spLocks noChangeArrowheads="1"/>
          </p:cNvSpPr>
          <p:nvPr/>
        </p:nvSpPr>
        <p:spPr bwMode="auto">
          <a:xfrm>
            <a:off x="3057836" y="4034218"/>
            <a:ext cx="1133475" cy="348102"/>
          </a:xfrm>
          <a:prstGeom prst="rect">
            <a:avLst/>
          </a:prstGeom>
          <a:solidFill>
            <a:schemeClr val="bg1"/>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직권재심사</a:t>
            </a:r>
          </a:p>
        </p:txBody>
      </p:sp>
      <p:cxnSp>
        <p:nvCxnSpPr>
          <p:cNvPr id="137" name="꺾인 연결선 57">
            <a:extLst>
              <a:ext uri="{FF2B5EF4-FFF2-40B4-BE49-F238E27FC236}">
                <a16:creationId xmlns:a16="http://schemas.microsoft.com/office/drawing/2014/main" id="{0D2B120E-8D4D-4D22-9F6B-655808936EF7}"/>
              </a:ext>
            </a:extLst>
          </p:cNvPr>
          <p:cNvCxnSpPr>
            <a:stCxn id="104" idx="2"/>
            <a:endCxn id="136" idx="3"/>
          </p:cNvCxnSpPr>
          <p:nvPr/>
        </p:nvCxnSpPr>
        <p:spPr>
          <a:xfrm rot="5400000">
            <a:off x="4712563" y="3510998"/>
            <a:ext cx="176020" cy="1218523"/>
          </a:xfrm>
          <a:prstGeom prst="bentConnector2">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8" name="꺾인 연결선 58">
            <a:extLst>
              <a:ext uri="{FF2B5EF4-FFF2-40B4-BE49-F238E27FC236}">
                <a16:creationId xmlns:a16="http://schemas.microsoft.com/office/drawing/2014/main" id="{02756BF9-C4BC-4961-8CC0-C6232409756D}"/>
              </a:ext>
            </a:extLst>
          </p:cNvPr>
          <p:cNvCxnSpPr>
            <a:stCxn id="136" idx="1"/>
            <a:endCxn id="97" idx="1"/>
          </p:cNvCxnSpPr>
          <p:nvPr/>
        </p:nvCxnSpPr>
        <p:spPr>
          <a:xfrm rot="10800000">
            <a:off x="1805664" y="3476787"/>
            <a:ext cx="1252172" cy="731482"/>
          </a:xfrm>
          <a:prstGeom prst="bentConnector3">
            <a:avLst>
              <a:gd name="adj1" fmla="val 118256"/>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9" name="Rectangle 5">
            <a:extLst>
              <a:ext uri="{FF2B5EF4-FFF2-40B4-BE49-F238E27FC236}">
                <a16:creationId xmlns:a16="http://schemas.microsoft.com/office/drawing/2014/main" id="{8CB6D69D-05FC-4F5E-A517-8ADC84E50379}"/>
              </a:ext>
            </a:extLst>
          </p:cNvPr>
          <p:cNvSpPr>
            <a:spLocks noChangeArrowheads="1"/>
          </p:cNvSpPr>
          <p:nvPr/>
        </p:nvSpPr>
        <p:spPr bwMode="auto">
          <a:xfrm>
            <a:off x="5243825" y="3246116"/>
            <a:ext cx="1004576"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거절이유 </a:t>
            </a:r>
            <a:endParaRPr lang="en-US" altLang="ko-KR" sz="1050" b="0" dirty="0">
              <a:solidFill>
                <a:schemeClr val="tx1"/>
              </a:solidFill>
              <a:latin typeface="+mj-ea"/>
              <a:ea typeface="+mj-ea"/>
            </a:endParaRPr>
          </a:p>
          <a:p>
            <a:pPr algn="ctr"/>
            <a:r>
              <a:rPr lang="ko-KR" altLang="en-US" sz="1050" b="0" dirty="0">
                <a:solidFill>
                  <a:schemeClr val="tx1"/>
                </a:solidFill>
                <a:latin typeface="+mj-ea"/>
                <a:ea typeface="+mj-ea"/>
              </a:rPr>
              <a:t>해소</a:t>
            </a:r>
          </a:p>
        </p:txBody>
      </p:sp>
      <p:cxnSp>
        <p:nvCxnSpPr>
          <p:cNvPr id="140" name="꺾인 연결선 60">
            <a:extLst>
              <a:ext uri="{FF2B5EF4-FFF2-40B4-BE49-F238E27FC236}">
                <a16:creationId xmlns:a16="http://schemas.microsoft.com/office/drawing/2014/main" id="{125718C8-9D04-4F6B-B5BE-B190E88756AE}"/>
              </a:ext>
            </a:extLst>
          </p:cNvPr>
          <p:cNvCxnSpPr>
            <a:stCxn id="107" idx="3"/>
            <a:endCxn id="119" idx="0"/>
          </p:cNvCxnSpPr>
          <p:nvPr/>
        </p:nvCxnSpPr>
        <p:spPr>
          <a:xfrm flipV="1">
            <a:off x="5978145" y="1917460"/>
            <a:ext cx="1489089" cy="1121327"/>
          </a:xfrm>
          <a:prstGeom prst="bentConnector4">
            <a:avLst>
              <a:gd name="adj1" fmla="val 30970"/>
              <a:gd name="adj2" fmla="val 120387"/>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1" name="Rectangle 5">
            <a:extLst>
              <a:ext uri="{FF2B5EF4-FFF2-40B4-BE49-F238E27FC236}">
                <a16:creationId xmlns:a16="http://schemas.microsoft.com/office/drawing/2014/main" id="{CD31F2D9-BB45-4CC1-A3BD-DB754302D4AE}"/>
              </a:ext>
            </a:extLst>
          </p:cNvPr>
          <p:cNvSpPr>
            <a:spLocks noChangeArrowheads="1"/>
          </p:cNvSpPr>
          <p:nvPr/>
        </p:nvSpPr>
        <p:spPr bwMode="auto">
          <a:xfrm>
            <a:off x="5671716" y="2658734"/>
            <a:ext cx="1004576"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거절이유 </a:t>
            </a:r>
            <a:endParaRPr lang="en-US" altLang="ko-KR" sz="1050" b="0" dirty="0">
              <a:solidFill>
                <a:schemeClr val="tx1"/>
              </a:solidFill>
              <a:latin typeface="+mj-ea"/>
              <a:ea typeface="+mj-ea"/>
            </a:endParaRPr>
          </a:p>
          <a:p>
            <a:pPr algn="ctr"/>
            <a:r>
              <a:rPr lang="ko-KR" altLang="en-US" sz="1050" b="0" dirty="0" err="1">
                <a:solidFill>
                  <a:schemeClr val="tx1"/>
                </a:solidFill>
                <a:latin typeface="+mj-ea"/>
                <a:ea typeface="+mj-ea"/>
              </a:rPr>
              <a:t>미해소</a:t>
            </a:r>
            <a:endParaRPr lang="ko-KR" altLang="en-US" sz="1050" b="0" dirty="0">
              <a:solidFill>
                <a:schemeClr val="tx1"/>
              </a:solidFill>
              <a:latin typeface="+mj-ea"/>
              <a:ea typeface="+mj-ea"/>
            </a:endParaRPr>
          </a:p>
        </p:txBody>
      </p:sp>
      <p:cxnSp>
        <p:nvCxnSpPr>
          <p:cNvPr id="142" name="꺾인 연결선 62">
            <a:extLst>
              <a:ext uri="{FF2B5EF4-FFF2-40B4-BE49-F238E27FC236}">
                <a16:creationId xmlns:a16="http://schemas.microsoft.com/office/drawing/2014/main" id="{55522E41-F5DF-408A-94E0-1A01BBD3B174}"/>
              </a:ext>
            </a:extLst>
          </p:cNvPr>
          <p:cNvCxnSpPr>
            <a:stCxn id="119" idx="3"/>
            <a:endCxn id="123" idx="0"/>
          </p:cNvCxnSpPr>
          <p:nvPr/>
        </p:nvCxnSpPr>
        <p:spPr>
          <a:xfrm flipV="1">
            <a:off x="8033971" y="2052308"/>
            <a:ext cx="1402740" cy="39203"/>
          </a:xfrm>
          <a:prstGeom prst="bentConnector4">
            <a:avLst>
              <a:gd name="adj1" fmla="val 27161"/>
              <a:gd name="adj2" fmla="val 1027092"/>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3" name="직선 화살표 연결선 142">
            <a:extLst>
              <a:ext uri="{FF2B5EF4-FFF2-40B4-BE49-F238E27FC236}">
                <a16:creationId xmlns:a16="http://schemas.microsoft.com/office/drawing/2014/main" id="{A6EF0C9D-93F2-4127-8342-3EF6A7E3CEDB}"/>
              </a:ext>
            </a:extLst>
          </p:cNvPr>
          <p:cNvCxnSpPr>
            <a:stCxn id="119" idx="2"/>
            <a:endCxn id="120" idx="0"/>
          </p:cNvCxnSpPr>
          <p:nvPr/>
        </p:nvCxnSpPr>
        <p:spPr>
          <a:xfrm>
            <a:off x="7467234" y="2265562"/>
            <a:ext cx="0" cy="336144"/>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4" name="직선 화살표 연결선 143">
            <a:extLst>
              <a:ext uri="{FF2B5EF4-FFF2-40B4-BE49-F238E27FC236}">
                <a16:creationId xmlns:a16="http://schemas.microsoft.com/office/drawing/2014/main" id="{8BDD4E89-81ED-4E4F-8F2E-788AFACC71E2}"/>
              </a:ext>
            </a:extLst>
          </p:cNvPr>
          <p:cNvCxnSpPr>
            <a:stCxn id="120" idx="2"/>
            <a:endCxn id="121" idx="0"/>
          </p:cNvCxnSpPr>
          <p:nvPr/>
        </p:nvCxnSpPr>
        <p:spPr>
          <a:xfrm>
            <a:off x="7467234" y="2949808"/>
            <a:ext cx="1" cy="321609"/>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5" name="직선 화살표 연결선 144">
            <a:extLst>
              <a:ext uri="{FF2B5EF4-FFF2-40B4-BE49-F238E27FC236}">
                <a16:creationId xmlns:a16="http://schemas.microsoft.com/office/drawing/2014/main" id="{F34D6503-80B6-4AA8-8844-8DD0485F7BEE}"/>
              </a:ext>
            </a:extLst>
          </p:cNvPr>
          <p:cNvCxnSpPr>
            <a:stCxn id="121" idx="2"/>
            <a:endCxn id="122" idx="0"/>
          </p:cNvCxnSpPr>
          <p:nvPr/>
        </p:nvCxnSpPr>
        <p:spPr>
          <a:xfrm flipH="1">
            <a:off x="7467234" y="3743225"/>
            <a:ext cx="1" cy="316394"/>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6" name="꺾인 연결선 66">
            <a:extLst>
              <a:ext uri="{FF2B5EF4-FFF2-40B4-BE49-F238E27FC236}">
                <a16:creationId xmlns:a16="http://schemas.microsoft.com/office/drawing/2014/main" id="{4DA57264-F8F3-4A4A-A23D-438E92045104}"/>
              </a:ext>
            </a:extLst>
          </p:cNvPr>
          <p:cNvCxnSpPr>
            <a:stCxn id="122" idx="3"/>
            <a:endCxn id="123" idx="1"/>
          </p:cNvCxnSpPr>
          <p:nvPr/>
        </p:nvCxnSpPr>
        <p:spPr>
          <a:xfrm flipV="1">
            <a:off x="8033971" y="2226359"/>
            <a:ext cx="762000" cy="2007311"/>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7" name="꺾인 연결선 67">
            <a:extLst>
              <a:ext uri="{FF2B5EF4-FFF2-40B4-BE49-F238E27FC236}">
                <a16:creationId xmlns:a16="http://schemas.microsoft.com/office/drawing/2014/main" id="{99010036-EBA4-406F-B003-84991F4E90C2}"/>
              </a:ext>
            </a:extLst>
          </p:cNvPr>
          <p:cNvCxnSpPr>
            <a:stCxn id="123" idx="3"/>
            <a:endCxn id="125" idx="1"/>
          </p:cNvCxnSpPr>
          <p:nvPr/>
        </p:nvCxnSpPr>
        <p:spPr>
          <a:xfrm flipV="1">
            <a:off x="10077450" y="1994182"/>
            <a:ext cx="390101" cy="232177"/>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8" name="꺾인 연결선 68">
            <a:extLst>
              <a:ext uri="{FF2B5EF4-FFF2-40B4-BE49-F238E27FC236}">
                <a16:creationId xmlns:a16="http://schemas.microsoft.com/office/drawing/2014/main" id="{E51DD8D2-5687-4E1E-9178-4AE94915B5DB}"/>
              </a:ext>
            </a:extLst>
          </p:cNvPr>
          <p:cNvCxnSpPr>
            <a:stCxn id="123" idx="3"/>
            <a:endCxn id="124" idx="1"/>
          </p:cNvCxnSpPr>
          <p:nvPr/>
        </p:nvCxnSpPr>
        <p:spPr>
          <a:xfrm>
            <a:off x="10077450" y="2226359"/>
            <a:ext cx="390101" cy="194950"/>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9" name="꺾인 연결선 69">
            <a:extLst>
              <a:ext uri="{FF2B5EF4-FFF2-40B4-BE49-F238E27FC236}">
                <a16:creationId xmlns:a16="http://schemas.microsoft.com/office/drawing/2014/main" id="{CE946CDF-C2B7-4D4B-AFB0-F25CFCE59E29}"/>
              </a:ext>
            </a:extLst>
          </p:cNvPr>
          <p:cNvCxnSpPr>
            <a:stCxn id="124" idx="3"/>
            <a:endCxn id="97" idx="1"/>
          </p:cNvCxnSpPr>
          <p:nvPr/>
        </p:nvCxnSpPr>
        <p:spPr>
          <a:xfrm flipH="1">
            <a:off x="1805664" y="2421309"/>
            <a:ext cx="9462411" cy="1055478"/>
          </a:xfrm>
          <a:prstGeom prst="bentConnector5">
            <a:avLst>
              <a:gd name="adj1" fmla="val -2416"/>
              <a:gd name="adj2" fmla="val 403532"/>
              <a:gd name="adj3" fmla="val 102416"/>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0" name="직선 화살표 연결선 149">
            <a:extLst>
              <a:ext uri="{FF2B5EF4-FFF2-40B4-BE49-F238E27FC236}">
                <a16:creationId xmlns:a16="http://schemas.microsoft.com/office/drawing/2014/main" id="{23B52505-9F10-4919-94F3-0D37CA6B516E}"/>
              </a:ext>
            </a:extLst>
          </p:cNvPr>
          <p:cNvCxnSpPr>
            <a:stCxn id="126" idx="2"/>
            <a:endCxn id="127" idx="0"/>
          </p:cNvCxnSpPr>
          <p:nvPr/>
        </p:nvCxnSpPr>
        <p:spPr>
          <a:xfrm>
            <a:off x="10617811" y="4393175"/>
            <a:ext cx="0" cy="453814"/>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1" name="꺾인 연결선 71">
            <a:extLst>
              <a:ext uri="{FF2B5EF4-FFF2-40B4-BE49-F238E27FC236}">
                <a16:creationId xmlns:a16="http://schemas.microsoft.com/office/drawing/2014/main" id="{A43AA581-D53A-4300-AB66-9A625ED9851E}"/>
              </a:ext>
            </a:extLst>
          </p:cNvPr>
          <p:cNvCxnSpPr>
            <a:stCxn id="121" idx="1"/>
            <a:endCxn id="104" idx="3"/>
          </p:cNvCxnSpPr>
          <p:nvPr/>
        </p:nvCxnSpPr>
        <p:spPr>
          <a:xfrm rot="10800000" flipV="1">
            <a:off x="5976572" y="3507320"/>
            <a:ext cx="923925" cy="350877"/>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2" name="Rectangle 5">
            <a:extLst>
              <a:ext uri="{FF2B5EF4-FFF2-40B4-BE49-F238E27FC236}">
                <a16:creationId xmlns:a16="http://schemas.microsoft.com/office/drawing/2014/main" id="{8782D930-E9C4-4572-85B4-6D2D1552B7AE}"/>
              </a:ext>
            </a:extLst>
          </p:cNvPr>
          <p:cNvSpPr>
            <a:spLocks noChangeArrowheads="1"/>
          </p:cNvSpPr>
          <p:nvPr/>
        </p:nvSpPr>
        <p:spPr bwMode="auto">
          <a:xfrm>
            <a:off x="7284060" y="3695641"/>
            <a:ext cx="1004576"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거절이유 </a:t>
            </a:r>
            <a:endParaRPr lang="en-US" altLang="ko-KR" sz="1050" b="0" dirty="0">
              <a:solidFill>
                <a:schemeClr val="tx1"/>
              </a:solidFill>
              <a:latin typeface="+mj-ea"/>
              <a:ea typeface="+mj-ea"/>
            </a:endParaRPr>
          </a:p>
          <a:p>
            <a:pPr algn="ctr"/>
            <a:r>
              <a:rPr lang="ko-KR" altLang="en-US" sz="1050" b="0" dirty="0" err="1">
                <a:solidFill>
                  <a:schemeClr val="tx1"/>
                </a:solidFill>
                <a:latin typeface="+mj-ea"/>
                <a:ea typeface="+mj-ea"/>
              </a:rPr>
              <a:t>미해소</a:t>
            </a:r>
            <a:endParaRPr lang="ko-KR" altLang="en-US" sz="1050" b="0" dirty="0">
              <a:solidFill>
                <a:schemeClr val="tx1"/>
              </a:solidFill>
              <a:latin typeface="+mj-ea"/>
              <a:ea typeface="+mj-ea"/>
            </a:endParaRPr>
          </a:p>
        </p:txBody>
      </p:sp>
      <p:sp>
        <p:nvSpPr>
          <p:cNvPr id="153" name="Rectangle 5">
            <a:extLst>
              <a:ext uri="{FF2B5EF4-FFF2-40B4-BE49-F238E27FC236}">
                <a16:creationId xmlns:a16="http://schemas.microsoft.com/office/drawing/2014/main" id="{1AC501F1-8BE9-4873-B2E2-90B6C8D746E2}"/>
              </a:ext>
            </a:extLst>
          </p:cNvPr>
          <p:cNvSpPr>
            <a:spLocks noChangeArrowheads="1"/>
          </p:cNvSpPr>
          <p:nvPr/>
        </p:nvSpPr>
        <p:spPr bwMode="auto">
          <a:xfrm>
            <a:off x="6212104" y="3150367"/>
            <a:ext cx="1004576"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거절이유 </a:t>
            </a:r>
            <a:endParaRPr lang="en-US" altLang="ko-KR" sz="1050" b="0" dirty="0">
              <a:solidFill>
                <a:schemeClr val="tx1"/>
              </a:solidFill>
              <a:latin typeface="+mj-ea"/>
              <a:ea typeface="+mj-ea"/>
            </a:endParaRPr>
          </a:p>
          <a:p>
            <a:pPr algn="ctr"/>
            <a:r>
              <a:rPr lang="ko-KR" altLang="en-US" sz="1050" b="0" dirty="0">
                <a:solidFill>
                  <a:schemeClr val="tx1"/>
                </a:solidFill>
                <a:latin typeface="+mj-ea"/>
                <a:ea typeface="+mj-ea"/>
              </a:rPr>
              <a:t>해소</a:t>
            </a:r>
          </a:p>
        </p:txBody>
      </p:sp>
      <p:cxnSp>
        <p:nvCxnSpPr>
          <p:cNvPr id="154" name="꺾인 연결선 74">
            <a:extLst>
              <a:ext uri="{FF2B5EF4-FFF2-40B4-BE49-F238E27FC236}">
                <a16:creationId xmlns:a16="http://schemas.microsoft.com/office/drawing/2014/main" id="{953F9F76-5D31-404A-8A1A-102F18598D14}"/>
              </a:ext>
            </a:extLst>
          </p:cNvPr>
          <p:cNvCxnSpPr>
            <a:stCxn id="114" idx="3"/>
            <a:endCxn id="128" idx="1"/>
          </p:cNvCxnSpPr>
          <p:nvPr/>
        </p:nvCxnSpPr>
        <p:spPr>
          <a:xfrm flipV="1">
            <a:off x="5976571" y="5318584"/>
            <a:ext cx="647700" cy="278120"/>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5" name="꺾인 연결선 75">
            <a:extLst>
              <a:ext uri="{FF2B5EF4-FFF2-40B4-BE49-F238E27FC236}">
                <a16:creationId xmlns:a16="http://schemas.microsoft.com/office/drawing/2014/main" id="{FE027324-5794-4847-852C-0C3C6F767E92}"/>
              </a:ext>
            </a:extLst>
          </p:cNvPr>
          <p:cNvCxnSpPr>
            <a:stCxn id="114" idx="2"/>
            <a:endCxn id="131" idx="1"/>
          </p:cNvCxnSpPr>
          <p:nvPr/>
        </p:nvCxnSpPr>
        <p:spPr>
          <a:xfrm rot="16200000" flipH="1">
            <a:off x="5823435" y="5357153"/>
            <a:ext cx="387235" cy="1214437"/>
          </a:xfrm>
          <a:prstGeom prst="bentConnector2">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6" name="꺾인 연결선 76">
            <a:extLst>
              <a:ext uri="{FF2B5EF4-FFF2-40B4-BE49-F238E27FC236}">
                <a16:creationId xmlns:a16="http://schemas.microsoft.com/office/drawing/2014/main" id="{5FF6C5C7-55E8-41C3-9897-0DF1C70906F2}"/>
              </a:ext>
            </a:extLst>
          </p:cNvPr>
          <p:cNvCxnSpPr>
            <a:stCxn id="128" idx="3"/>
            <a:endCxn id="129" idx="1"/>
          </p:cNvCxnSpPr>
          <p:nvPr/>
        </p:nvCxnSpPr>
        <p:spPr>
          <a:xfrm flipV="1">
            <a:off x="7905750" y="5121453"/>
            <a:ext cx="346872" cy="197131"/>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7" name="꺾인 연결선 77">
            <a:extLst>
              <a:ext uri="{FF2B5EF4-FFF2-40B4-BE49-F238E27FC236}">
                <a16:creationId xmlns:a16="http://schemas.microsoft.com/office/drawing/2014/main" id="{EA350F71-52A9-45BD-8DFA-74151597AE55}"/>
              </a:ext>
            </a:extLst>
          </p:cNvPr>
          <p:cNvCxnSpPr>
            <a:stCxn id="131" idx="3"/>
            <a:endCxn id="132" idx="1"/>
          </p:cNvCxnSpPr>
          <p:nvPr/>
        </p:nvCxnSpPr>
        <p:spPr>
          <a:xfrm flipV="1">
            <a:off x="7905750" y="5960859"/>
            <a:ext cx="346872" cy="197131"/>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8" name="꺾인 연결선 78">
            <a:extLst>
              <a:ext uri="{FF2B5EF4-FFF2-40B4-BE49-F238E27FC236}">
                <a16:creationId xmlns:a16="http://schemas.microsoft.com/office/drawing/2014/main" id="{A8DD8A48-BFAA-4A27-AFA5-B298BF43E605}"/>
              </a:ext>
            </a:extLst>
          </p:cNvPr>
          <p:cNvCxnSpPr>
            <a:stCxn id="131" idx="3"/>
            <a:endCxn id="133" idx="1"/>
          </p:cNvCxnSpPr>
          <p:nvPr/>
        </p:nvCxnSpPr>
        <p:spPr>
          <a:xfrm>
            <a:off x="7905750" y="6157990"/>
            <a:ext cx="346872" cy="197324"/>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9" name="꺾인 연결선 79">
            <a:extLst>
              <a:ext uri="{FF2B5EF4-FFF2-40B4-BE49-F238E27FC236}">
                <a16:creationId xmlns:a16="http://schemas.microsoft.com/office/drawing/2014/main" id="{62A6EA70-D85F-487B-AF20-585187D5AE72}"/>
              </a:ext>
            </a:extLst>
          </p:cNvPr>
          <p:cNvCxnSpPr>
            <a:stCxn id="128" idx="3"/>
            <a:endCxn id="130" idx="1"/>
          </p:cNvCxnSpPr>
          <p:nvPr/>
        </p:nvCxnSpPr>
        <p:spPr>
          <a:xfrm>
            <a:off x="7905750" y="5318584"/>
            <a:ext cx="346872" cy="197324"/>
          </a:xfrm>
          <a:prstGeom prst="bentConnector3">
            <a:avLst>
              <a:gd name="adj1" fmla="val 5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0" name="꺾인 연결선 80">
            <a:extLst>
              <a:ext uri="{FF2B5EF4-FFF2-40B4-BE49-F238E27FC236}">
                <a16:creationId xmlns:a16="http://schemas.microsoft.com/office/drawing/2014/main" id="{0670808F-4EC8-43DE-8692-DB431638F109}"/>
              </a:ext>
            </a:extLst>
          </p:cNvPr>
          <p:cNvCxnSpPr>
            <a:stCxn id="129" idx="3"/>
            <a:endCxn id="126" idx="0"/>
          </p:cNvCxnSpPr>
          <p:nvPr/>
        </p:nvCxnSpPr>
        <p:spPr>
          <a:xfrm flipV="1">
            <a:off x="9053146" y="4045073"/>
            <a:ext cx="1564665" cy="1076380"/>
          </a:xfrm>
          <a:prstGeom prst="bentConnector4">
            <a:avLst>
              <a:gd name="adj1" fmla="val 29525"/>
              <a:gd name="adj2" fmla="val 121238"/>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1" name="꺾인 연결선 81">
            <a:extLst>
              <a:ext uri="{FF2B5EF4-FFF2-40B4-BE49-F238E27FC236}">
                <a16:creationId xmlns:a16="http://schemas.microsoft.com/office/drawing/2014/main" id="{C0711372-F15C-459A-A6BD-A1B9C18AFD49}"/>
              </a:ext>
            </a:extLst>
          </p:cNvPr>
          <p:cNvCxnSpPr>
            <a:stCxn id="132" idx="3"/>
            <a:endCxn id="126" idx="1"/>
          </p:cNvCxnSpPr>
          <p:nvPr/>
        </p:nvCxnSpPr>
        <p:spPr>
          <a:xfrm flipV="1">
            <a:off x="9053146" y="4219124"/>
            <a:ext cx="923925" cy="1741735"/>
          </a:xfrm>
          <a:prstGeom prst="bentConnector3">
            <a:avLst>
              <a:gd name="adj1" fmla="val 75773"/>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2" name="꺾인 연결선 82">
            <a:extLst>
              <a:ext uri="{FF2B5EF4-FFF2-40B4-BE49-F238E27FC236}">
                <a16:creationId xmlns:a16="http://schemas.microsoft.com/office/drawing/2014/main" id="{2C29B1C6-00DE-4AFB-9CE6-26A9C0BA64B5}"/>
              </a:ext>
            </a:extLst>
          </p:cNvPr>
          <p:cNvCxnSpPr>
            <a:stCxn id="133" idx="3"/>
            <a:endCxn id="126" idx="1"/>
          </p:cNvCxnSpPr>
          <p:nvPr/>
        </p:nvCxnSpPr>
        <p:spPr>
          <a:xfrm flipV="1">
            <a:off x="9053146" y="4219124"/>
            <a:ext cx="923925" cy="2136190"/>
          </a:xfrm>
          <a:prstGeom prst="bentConnector3">
            <a:avLst>
              <a:gd name="adj1" fmla="val 75773"/>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3" name="꺾인 연결선 83">
            <a:extLst>
              <a:ext uri="{FF2B5EF4-FFF2-40B4-BE49-F238E27FC236}">
                <a16:creationId xmlns:a16="http://schemas.microsoft.com/office/drawing/2014/main" id="{28328006-171D-4845-8BA7-5234F9434BF4}"/>
              </a:ext>
            </a:extLst>
          </p:cNvPr>
          <p:cNvCxnSpPr>
            <a:stCxn id="125" idx="3"/>
            <a:endCxn id="126" idx="3"/>
          </p:cNvCxnSpPr>
          <p:nvPr/>
        </p:nvCxnSpPr>
        <p:spPr>
          <a:xfrm flipH="1">
            <a:off x="11258550" y="1994182"/>
            <a:ext cx="9525" cy="2224942"/>
          </a:xfrm>
          <a:prstGeom prst="bentConnector3">
            <a:avLst>
              <a:gd name="adj1" fmla="val -5300000"/>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4" name="Rectangle 5">
            <a:extLst>
              <a:ext uri="{FF2B5EF4-FFF2-40B4-BE49-F238E27FC236}">
                <a16:creationId xmlns:a16="http://schemas.microsoft.com/office/drawing/2014/main" id="{BBE4648B-F802-45ED-ABD1-E71106F6F323}"/>
              </a:ext>
            </a:extLst>
          </p:cNvPr>
          <p:cNvSpPr>
            <a:spLocks noChangeArrowheads="1"/>
          </p:cNvSpPr>
          <p:nvPr/>
        </p:nvSpPr>
        <p:spPr bwMode="auto">
          <a:xfrm>
            <a:off x="10951285" y="2130133"/>
            <a:ext cx="1004576" cy="348102"/>
          </a:xfrm>
          <a:prstGeom prst="rect">
            <a:avLst/>
          </a:prstGeom>
          <a:noFill/>
          <a:ln w="9525" algn="ctr">
            <a:noFill/>
            <a:miter lim="800000"/>
            <a:headEnd/>
            <a:tailEnd/>
          </a:ln>
        </p:spPr>
        <p:txBody>
          <a:bodyPr wrap="none" anchor="ctr"/>
          <a:lstStyle/>
          <a:p>
            <a:pPr algn="ctr"/>
            <a:r>
              <a:rPr lang="ko-KR" altLang="en-US" sz="1050" b="0">
                <a:solidFill>
                  <a:schemeClr val="tx1"/>
                </a:solidFill>
                <a:latin typeface="+mj-ea"/>
                <a:ea typeface="+mj-ea"/>
              </a:rPr>
              <a:t>환송</a:t>
            </a:r>
            <a:endParaRPr lang="ko-KR" altLang="en-US" sz="1050" b="0" dirty="0">
              <a:solidFill>
                <a:schemeClr val="tx1"/>
              </a:solidFill>
              <a:latin typeface="+mj-ea"/>
              <a:ea typeface="+mj-ea"/>
            </a:endParaRPr>
          </a:p>
        </p:txBody>
      </p:sp>
      <p:sp>
        <p:nvSpPr>
          <p:cNvPr id="165" name="자유형 85">
            <a:extLst>
              <a:ext uri="{FF2B5EF4-FFF2-40B4-BE49-F238E27FC236}">
                <a16:creationId xmlns:a16="http://schemas.microsoft.com/office/drawing/2014/main" id="{1E1B47D2-6522-4A3D-AA33-3D6F4BC5EC06}"/>
              </a:ext>
            </a:extLst>
          </p:cNvPr>
          <p:cNvSpPr/>
          <p:nvPr/>
        </p:nvSpPr>
        <p:spPr>
          <a:xfrm>
            <a:off x="5972175" y="2600324"/>
            <a:ext cx="4886325" cy="2189915"/>
          </a:xfrm>
          <a:custGeom>
            <a:avLst/>
            <a:gdLst>
              <a:gd name="connsiteX0" fmla="*/ 4886325 w 4886325"/>
              <a:gd name="connsiteY0" fmla="*/ 0 h 2019300"/>
              <a:gd name="connsiteX1" fmla="*/ 4886325 w 4886325"/>
              <a:gd name="connsiteY1" fmla="*/ 457200 h 2019300"/>
              <a:gd name="connsiteX2" fmla="*/ 2952750 w 4886325"/>
              <a:gd name="connsiteY2" fmla="*/ 457200 h 2019300"/>
              <a:gd name="connsiteX3" fmla="*/ 2952750 w 4886325"/>
              <a:gd name="connsiteY3" fmla="*/ 2019300 h 2019300"/>
              <a:gd name="connsiteX4" fmla="*/ 428625 w 4886325"/>
              <a:gd name="connsiteY4" fmla="*/ 2019300 h 2019300"/>
              <a:gd name="connsiteX5" fmla="*/ 428625 w 4886325"/>
              <a:gd name="connsiteY5" fmla="*/ 1219200 h 2019300"/>
              <a:gd name="connsiteX6" fmla="*/ 0 w 4886325"/>
              <a:gd name="connsiteY6" fmla="*/ 1219200 h 2019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86325" h="2019300">
                <a:moveTo>
                  <a:pt x="4886325" y="0"/>
                </a:moveTo>
                <a:lnTo>
                  <a:pt x="4886325" y="457200"/>
                </a:lnTo>
                <a:lnTo>
                  <a:pt x="2952750" y="457200"/>
                </a:lnTo>
                <a:lnTo>
                  <a:pt x="2952750" y="2019300"/>
                </a:lnTo>
                <a:lnTo>
                  <a:pt x="428625" y="2019300"/>
                </a:lnTo>
                <a:lnTo>
                  <a:pt x="428625" y="1219200"/>
                </a:lnTo>
                <a:lnTo>
                  <a:pt x="0" y="1219200"/>
                </a:lnTo>
              </a:path>
            </a:pathLst>
          </a:cu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400"/>
          </a:p>
        </p:txBody>
      </p:sp>
      <p:sp>
        <p:nvSpPr>
          <p:cNvPr id="166" name="Rectangle 5">
            <a:extLst>
              <a:ext uri="{FF2B5EF4-FFF2-40B4-BE49-F238E27FC236}">
                <a16:creationId xmlns:a16="http://schemas.microsoft.com/office/drawing/2014/main" id="{DE4626D7-EFEB-4487-A904-5B90E5367BDE}"/>
              </a:ext>
            </a:extLst>
          </p:cNvPr>
          <p:cNvSpPr>
            <a:spLocks noChangeArrowheads="1"/>
          </p:cNvSpPr>
          <p:nvPr/>
        </p:nvSpPr>
        <p:spPr bwMode="auto">
          <a:xfrm>
            <a:off x="10182198" y="2588592"/>
            <a:ext cx="1004576" cy="348102"/>
          </a:xfrm>
          <a:prstGeom prst="rect">
            <a:avLst/>
          </a:prstGeom>
          <a:noFill/>
          <a:ln w="9525" algn="ctr">
            <a:noFill/>
            <a:miter lim="800000"/>
            <a:headEnd/>
            <a:tailEnd/>
          </a:ln>
        </p:spPr>
        <p:txBody>
          <a:bodyPr wrap="none" anchor="ctr"/>
          <a:lstStyle/>
          <a:p>
            <a:pPr algn="ctr"/>
            <a:r>
              <a:rPr lang="ko-KR" altLang="en-US" sz="1050" b="0" dirty="0">
                <a:solidFill>
                  <a:schemeClr val="tx1"/>
                </a:solidFill>
                <a:latin typeface="+mj-ea"/>
                <a:ea typeface="+mj-ea"/>
              </a:rPr>
              <a:t>자판</a:t>
            </a:r>
          </a:p>
        </p:txBody>
      </p:sp>
      <p:sp>
        <p:nvSpPr>
          <p:cNvPr id="167" name="Rectangle 5">
            <a:extLst>
              <a:ext uri="{FF2B5EF4-FFF2-40B4-BE49-F238E27FC236}">
                <a16:creationId xmlns:a16="http://schemas.microsoft.com/office/drawing/2014/main" id="{10586C07-8A4A-4698-92BF-D4D64C29CD6F}"/>
              </a:ext>
            </a:extLst>
          </p:cNvPr>
          <p:cNvSpPr>
            <a:spLocks noChangeArrowheads="1"/>
          </p:cNvSpPr>
          <p:nvPr/>
        </p:nvSpPr>
        <p:spPr bwMode="auto">
          <a:xfrm>
            <a:off x="5671716" y="1071260"/>
            <a:ext cx="1133475" cy="348102"/>
          </a:xfrm>
          <a:prstGeom prst="rect">
            <a:avLst/>
          </a:prstGeom>
          <a:solidFill>
            <a:schemeClr val="accent4"/>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정보제공</a:t>
            </a:r>
          </a:p>
        </p:txBody>
      </p:sp>
      <p:cxnSp>
        <p:nvCxnSpPr>
          <p:cNvPr id="168" name="직선 화살표 연결선 167">
            <a:extLst>
              <a:ext uri="{FF2B5EF4-FFF2-40B4-BE49-F238E27FC236}">
                <a16:creationId xmlns:a16="http://schemas.microsoft.com/office/drawing/2014/main" id="{7840DCE1-4F8B-4217-858E-ED5FFD0503AF}"/>
              </a:ext>
            </a:extLst>
          </p:cNvPr>
          <p:cNvCxnSpPr>
            <a:stCxn id="167" idx="2"/>
          </p:cNvCxnSpPr>
          <p:nvPr/>
        </p:nvCxnSpPr>
        <p:spPr>
          <a:xfrm flipH="1">
            <a:off x="2581275" y="1419362"/>
            <a:ext cx="3657179" cy="1855329"/>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69" name="직선 화살표 연결선 168">
            <a:extLst>
              <a:ext uri="{FF2B5EF4-FFF2-40B4-BE49-F238E27FC236}">
                <a16:creationId xmlns:a16="http://schemas.microsoft.com/office/drawing/2014/main" id="{10575F99-5281-41EC-9F1B-D839A39B8528}"/>
              </a:ext>
            </a:extLst>
          </p:cNvPr>
          <p:cNvCxnSpPr>
            <a:stCxn id="167" idx="2"/>
            <a:endCxn id="107" idx="0"/>
          </p:cNvCxnSpPr>
          <p:nvPr/>
        </p:nvCxnSpPr>
        <p:spPr>
          <a:xfrm flipH="1">
            <a:off x="5411406" y="1419362"/>
            <a:ext cx="827048" cy="1383521"/>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70" name="직선 화살표 연결선 169">
            <a:extLst>
              <a:ext uri="{FF2B5EF4-FFF2-40B4-BE49-F238E27FC236}">
                <a16:creationId xmlns:a16="http://schemas.microsoft.com/office/drawing/2014/main" id="{B96D1527-23B4-4E30-8F4A-EA479EB15404}"/>
              </a:ext>
            </a:extLst>
          </p:cNvPr>
          <p:cNvCxnSpPr>
            <a:stCxn id="167" idx="2"/>
          </p:cNvCxnSpPr>
          <p:nvPr/>
        </p:nvCxnSpPr>
        <p:spPr>
          <a:xfrm>
            <a:off x="6238454" y="1419362"/>
            <a:ext cx="1045606" cy="1905056"/>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71" name="직선 화살표 연결선 170">
            <a:extLst>
              <a:ext uri="{FF2B5EF4-FFF2-40B4-BE49-F238E27FC236}">
                <a16:creationId xmlns:a16="http://schemas.microsoft.com/office/drawing/2014/main" id="{49CC9522-6DA9-423A-B961-9C551671EB7F}"/>
              </a:ext>
            </a:extLst>
          </p:cNvPr>
          <p:cNvCxnSpPr>
            <a:stCxn id="167" idx="2"/>
          </p:cNvCxnSpPr>
          <p:nvPr/>
        </p:nvCxnSpPr>
        <p:spPr>
          <a:xfrm>
            <a:off x="6238454" y="1419362"/>
            <a:ext cx="2557517" cy="634461"/>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72" name="Rectangle 5">
            <a:extLst>
              <a:ext uri="{FF2B5EF4-FFF2-40B4-BE49-F238E27FC236}">
                <a16:creationId xmlns:a16="http://schemas.microsoft.com/office/drawing/2014/main" id="{E5F608B0-E670-4733-AF2E-F2A6D00CA9B0}"/>
              </a:ext>
            </a:extLst>
          </p:cNvPr>
          <p:cNvSpPr>
            <a:spLocks noChangeArrowheads="1"/>
          </p:cNvSpPr>
          <p:nvPr/>
        </p:nvSpPr>
        <p:spPr bwMode="auto">
          <a:xfrm>
            <a:off x="3057836" y="4543012"/>
            <a:ext cx="1133475" cy="348102"/>
          </a:xfrm>
          <a:prstGeom prst="rect">
            <a:avLst/>
          </a:prstGeom>
          <a:solidFill>
            <a:schemeClr val="accent2"/>
          </a:solidFill>
          <a:ln w="9525" algn="ctr">
            <a:solidFill>
              <a:srgbClr val="5F5F5F"/>
            </a:solidFill>
            <a:miter lim="800000"/>
            <a:headEnd/>
            <a:tailEnd/>
          </a:ln>
        </p:spPr>
        <p:txBody>
          <a:bodyPr wrap="none" anchor="ctr"/>
          <a:lstStyle/>
          <a:p>
            <a:pPr algn="ctr"/>
            <a:r>
              <a:rPr lang="ko-KR" altLang="en-US" sz="1100" b="0" dirty="0">
                <a:solidFill>
                  <a:schemeClr val="tx1"/>
                </a:solidFill>
                <a:latin typeface="+mj-ea"/>
                <a:ea typeface="+mj-ea"/>
              </a:rPr>
              <a:t>재심사청구</a:t>
            </a:r>
            <a:r>
              <a:rPr lang="en-US" altLang="ko-KR" sz="1100" b="0" dirty="0">
                <a:solidFill>
                  <a:schemeClr val="tx1"/>
                </a:solidFill>
                <a:latin typeface="+mj-ea"/>
                <a:ea typeface="+mj-ea"/>
              </a:rPr>
              <a:t>(</a:t>
            </a:r>
            <a:r>
              <a:rPr lang="ko-KR" altLang="en-US" sz="1100" b="0" dirty="0">
                <a:solidFill>
                  <a:schemeClr val="tx1"/>
                </a:solidFill>
                <a:latin typeface="+mj-ea"/>
                <a:ea typeface="+mj-ea"/>
              </a:rPr>
              <a:t>보정</a:t>
            </a:r>
            <a:r>
              <a:rPr lang="en-US" altLang="ko-KR" sz="1100" b="0" dirty="0">
                <a:solidFill>
                  <a:schemeClr val="tx1"/>
                </a:solidFill>
                <a:latin typeface="+mj-ea"/>
                <a:ea typeface="+mj-ea"/>
              </a:rPr>
              <a:t>)</a:t>
            </a:r>
            <a:endParaRPr lang="ko-KR" altLang="en-US" sz="1100" b="0" dirty="0">
              <a:solidFill>
                <a:schemeClr val="tx1"/>
              </a:solidFill>
              <a:latin typeface="+mj-ea"/>
              <a:ea typeface="+mj-ea"/>
            </a:endParaRPr>
          </a:p>
        </p:txBody>
      </p:sp>
      <p:cxnSp>
        <p:nvCxnSpPr>
          <p:cNvPr id="173" name="연결선: 꺾임 172">
            <a:extLst>
              <a:ext uri="{FF2B5EF4-FFF2-40B4-BE49-F238E27FC236}">
                <a16:creationId xmlns:a16="http://schemas.microsoft.com/office/drawing/2014/main" id="{21EF4337-CFD6-48B2-91D0-D10F8055FE74}"/>
              </a:ext>
            </a:extLst>
          </p:cNvPr>
          <p:cNvCxnSpPr>
            <a:cxnSpLocks/>
            <a:stCxn id="172" idx="1"/>
            <a:endCxn id="121" idx="3"/>
          </p:cNvCxnSpPr>
          <p:nvPr/>
        </p:nvCxnSpPr>
        <p:spPr>
          <a:xfrm rot="10800000" flipH="1">
            <a:off x="3057836" y="3507321"/>
            <a:ext cx="4976138" cy="1209742"/>
          </a:xfrm>
          <a:prstGeom prst="bentConnector5">
            <a:avLst>
              <a:gd name="adj1" fmla="val -4594"/>
              <a:gd name="adj2" fmla="val -169586"/>
              <a:gd name="adj3" fmla="val 124607"/>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74" name="자유형: 도형 173">
            <a:extLst>
              <a:ext uri="{FF2B5EF4-FFF2-40B4-BE49-F238E27FC236}">
                <a16:creationId xmlns:a16="http://schemas.microsoft.com/office/drawing/2014/main" id="{E166B53F-8F70-4894-BCD5-1A4A5017F73B}"/>
              </a:ext>
            </a:extLst>
          </p:cNvPr>
          <p:cNvSpPr/>
          <p:nvPr/>
        </p:nvSpPr>
        <p:spPr>
          <a:xfrm>
            <a:off x="4190260" y="4208016"/>
            <a:ext cx="337352" cy="523782"/>
          </a:xfrm>
          <a:custGeom>
            <a:avLst/>
            <a:gdLst>
              <a:gd name="connsiteX0" fmla="*/ 337352 w 337352"/>
              <a:gd name="connsiteY0" fmla="*/ 0 h 523782"/>
              <a:gd name="connsiteX1" fmla="*/ 337352 w 337352"/>
              <a:gd name="connsiteY1" fmla="*/ 523782 h 523782"/>
              <a:gd name="connsiteX2" fmla="*/ 0 w 337352"/>
              <a:gd name="connsiteY2" fmla="*/ 523782 h 523782"/>
            </a:gdLst>
            <a:ahLst/>
            <a:cxnLst>
              <a:cxn ang="0">
                <a:pos x="connsiteX0" y="connsiteY0"/>
              </a:cxn>
              <a:cxn ang="0">
                <a:pos x="connsiteX1" y="connsiteY1"/>
              </a:cxn>
              <a:cxn ang="0">
                <a:pos x="connsiteX2" y="connsiteY2"/>
              </a:cxn>
            </a:cxnLst>
            <a:rect l="l" t="t" r="r" b="b"/>
            <a:pathLst>
              <a:path w="337352" h="523782">
                <a:moveTo>
                  <a:pt x="337352" y="0"/>
                </a:moveTo>
                <a:lnTo>
                  <a:pt x="337352" y="523782"/>
                </a:lnTo>
                <a:lnTo>
                  <a:pt x="0" y="523782"/>
                </a:lnTo>
              </a:path>
            </a:pathLst>
          </a:custGeom>
          <a:noFill/>
          <a:ln>
            <a:solidFill>
              <a:schemeClr val="bg1">
                <a:lumMod val="50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Tree>
    <p:extLst>
      <p:ext uri="{BB962C8B-B14F-4D97-AF65-F5344CB8AC3E}">
        <p14:creationId xmlns:p14="http://schemas.microsoft.com/office/powerpoint/2010/main" val="2883767863"/>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lstStyle/>
          <a:p>
            <a:r>
              <a:rPr lang="ko-KR" altLang="en-US" dirty="0" err="1"/>
              <a:t>실체심사의</a:t>
            </a:r>
            <a:r>
              <a:rPr lang="ko-KR" altLang="en-US" dirty="0"/>
              <a:t> 개략적인 흐름도</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115" name="Rectangle 13"/>
          <p:cNvSpPr>
            <a:spLocks noChangeArrowheads="1"/>
          </p:cNvSpPr>
          <p:nvPr/>
        </p:nvSpPr>
        <p:spPr bwMode="auto">
          <a:xfrm>
            <a:off x="4828910" y="1092052"/>
            <a:ext cx="1350963" cy="327025"/>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000" b="0" dirty="0">
                <a:solidFill>
                  <a:schemeClr val="tx1"/>
                </a:solidFill>
                <a:latin typeface="+mj-ea"/>
                <a:ea typeface="+mj-ea"/>
              </a:rPr>
              <a:t>출원</a:t>
            </a:r>
          </a:p>
        </p:txBody>
      </p:sp>
      <p:cxnSp>
        <p:nvCxnSpPr>
          <p:cNvPr id="117" name="AutoShape 17"/>
          <p:cNvCxnSpPr>
            <a:cxnSpLocks noChangeShapeType="1"/>
            <a:stCxn id="115" idx="2"/>
            <a:endCxn id="140" idx="0"/>
          </p:cNvCxnSpPr>
          <p:nvPr/>
        </p:nvCxnSpPr>
        <p:spPr bwMode="auto">
          <a:xfrm>
            <a:off x="5504392" y="1419077"/>
            <a:ext cx="0" cy="975593"/>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sp>
        <p:nvSpPr>
          <p:cNvPr id="119" name="Rectangle 14"/>
          <p:cNvSpPr>
            <a:spLocks noChangeArrowheads="1"/>
          </p:cNvSpPr>
          <p:nvPr/>
        </p:nvSpPr>
        <p:spPr bwMode="auto">
          <a:xfrm>
            <a:off x="4828910" y="2954090"/>
            <a:ext cx="1350963" cy="325438"/>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000" dirty="0">
                <a:solidFill>
                  <a:schemeClr val="tx2"/>
                </a:solidFill>
                <a:latin typeface="+mj-ea"/>
                <a:ea typeface="+mj-ea"/>
              </a:rPr>
              <a:t>최초거절이유통지</a:t>
            </a:r>
            <a:endParaRPr lang="ko-KR" altLang="en-US" sz="1000" b="0" dirty="0">
              <a:solidFill>
                <a:schemeClr val="tx2"/>
              </a:solidFill>
              <a:latin typeface="+mj-ea"/>
              <a:ea typeface="+mj-ea"/>
            </a:endParaRPr>
          </a:p>
        </p:txBody>
      </p:sp>
      <p:sp>
        <p:nvSpPr>
          <p:cNvPr id="120" name="AutoShape 15"/>
          <p:cNvSpPr>
            <a:spLocks noChangeArrowheads="1"/>
          </p:cNvSpPr>
          <p:nvPr/>
        </p:nvSpPr>
        <p:spPr bwMode="auto">
          <a:xfrm>
            <a:off x="4824148" y="4961992"/>
            <a:ext cx="1368425" cy="520700"/>
          </a:xfrm>
          <a:prstGeom prst="flowChartDecision">
            <a:avLst/>
          </a:prstGeom>
          <a:solidFill>
            <a:schemeClr val="accent4"/>
          </a:solidFill>
          <a:ln>
            <a:solidFill>
              <a:schemeClr val="bg1">
                <a:lumMod val="50000"/>
              </a:schemeClr>
            </a:solidFill>
            <a:headEnd/>
            <a:tailEnd/>
          </a:ln>
        </p:spPr>
        <p:style>
          <a:lnRef idx="1">
            <a:schemeClr val="accent5"/>
          </a:lnRef>
          <a:fillRef idx="3">
            <a:schemeClr val="accent5"/>
          </a:fillRef>
          <a:effectRef idx="2">
            <a:schemeClr val="accent5"/>
          </a:effectRef>
          <a:fontRef idx="minor">
            <a:schemeClr val="lt1"/>
          </a:fontRef>
        </p:style>
        <p:txBody>
          <a:bodyPr wrap="none" anchor="ctr"/>
          <a:lstStyle/>
          <a:p>
            <a:pPr algn="ctr">
              <a:defRPr/>
            </a:pPr>
            <a:r>
              <a:rPr lang="ko-KR" altLang="en-US" sz="1000" b="0" dirty="0">
                <a:solidFill>
                  <a:schemeClr val="tx2"/>
                </a:solidFill>
                <a:latin typeface="+mj-ea"/>
                <a:ea typeface="+mj-ea"/>
              </a:rPr>
              <a:t>보정의 </a:t>
            </a:r>
            <a:endParaRPr lang="en-US" altLang="ko-KR" sz="1000" b="0" dirty="0">
              <a:solidFill>
                <a:schemeClr val="tx2"/>
              </a:solidFill>
              <a:latin typeface="+mj-ea"/>
              <a:ea typeface="+mj-ea"/>
            </a:endParaRPr>
          </a:p>
          <a:p>
            <a:pPr algn="ctr">
              <a:defRPr/>
            </a:pPr>
            <a:r>
              <a:rPr lang="ko-KR" altLang="en-US" sz="1000" dirty="0">
                <a:solidFill>
                  <a:schemeClr val="tx2"/>
                </a:solidFill>
                <a:latin typeface="+mj-ea"/>
                <a:ea typeface="+mj-ea"/>
              </a:rPr>
              <a:t>적합여부</a:t>
            </a:r>
            <a:endParaRPr lang="ko-KR" altLang="en-US" sz="1000" b="0" dirty="0">
              <a:solidFill>
                <a:schemeClr val="tx2"/>
              </a:solidFill>
              <a:latin typeface="+mj-ea"/>
              <a:ea typeface="+mj-ea"/>
            </a:endParaRPr>
          </a:p>
        </p:txBody>
      </p:sp>
      <p:sp>
        <p:nvSpPr>
          <p:cNvPr id="121" name="Rectangle 13"/>
          <p:cNvSpPr>
            <a:spLocks noChangeArrowheads="1"/>
          </p:cNvSpPr>
          <p:nvPr/>
        </p:nvSpPr>
        <p:spPr bwMode="auto">
          <a:xfrm>
            <a:off x="3181036" y="1951881"/>
            <a:ext cx="1350963" cy="327025"/>
          </a:xfrm>
          <a:prstGeom prst="roundRect">
            <a:avLst/>
          </a:prstGeom>
          <a:solidFill>
            <a:schemeClr val="accent3">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000" b="0" dirty="0">
                <a:solidFill>
                  <a:schemeClr val="tx1"/>
                </a:solidFill>
                <a:latin typeface="+mj-ea"/>
                <a:ea typeface="+mj-ea"/>
              </a:rPr>
              <a:t>자진보정서</a:t>
            </a:r>
          </a:p>
        </p:txBody>
      </p:sp>
      <p:cxnSp>
        <p:nvCxnSpPr>
          <p:cNvPr id="122" name="직선 화살표 연결선 121"/>
          <p:cNvCxnSpPr/>
          <p:nvPr/>
        </p:nvCxnSpPr>
        <p:spPr>
          <a:xfrm flipV="1">
            <a:off x="4531999" y="2115393"/>
            <a:ext cx="972392" cy="1"/>
          </a:xfrm>
          <a:prstGeom prst="straightConnector1">
            <a:avLst/>
          </a:prstGeom>
          <a:ln w="3175">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1" name="Rectangle 14"/>
          <p:cNvSpPr>
            <a:spLocks noChangeArrowheads="1"/>
          </p:cNvSpPr>
          <p:nvPr/>
        </p:nvSpPr>
        <p:spPr bwMode="auto">
          <a:xfrm>
            <a:off x="1713467" y="6064274"/>
            <a:ext cx="1350963" cy="325438"/>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000" dirty="0">
                <a:solidFill>
                  <a:schemeClr val="tx2"/>
                </a:solidFill>
                <a:latin typeface="+mj-ea"/>
                <a:ea typeface="+mj-ea"/>
              </a:rPr>
              <a:t>특허결정</a:t>
            </a:r>
            <a:endParaRPr lang="ko-KR" altLang="en-US" sz="1000" b="0" dirty="0">
              <a:solidFill>
                <a:schemeClr val="tx2"/>
              </a:solidFill>
              <a:latin typeface="+mj-ea"/>
              <a:ea typeface="+mj-ea"/>
            </a:endParaRPr>
          </a:p>
        </p:txBody>
      </p:sp>
      <p:sp>
        <p:nvSpPr>
          <p:cNvPr id="132" name="Rectangle 14"/>
          <p:cNvSpPr>
            <a:spLocks noChangeArrowheads="1"/>
          </p:cNvSpPr>
          <p:nvPr/>
        </p:nvSpPr>
        <p:spPr bwMode="auto">
          <a:xfrm>
            <a:off x="9010228" y="6064274"/>
            <a:ext cx="1350963" cy="325438"/>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000" b="0" dirty="0">
                <a:solidFill>
                  <a:schemeClr val="tx2"/>
                </a:solidFill>
                <a:latin typeface="+mj-ea"/>
                <a:ea typeface="+mj-ea"/>
              </a:rPr>
              <a:t>거절결정</a:t>
            </a:r>
          </a:p>
        </p:txBody>
      </p:sp>
      <p:cxnSp>
        <p:nvCxnSpPr>
          <p:cNvPr id="133" name="꺾인 연결선 132"/>
          <p:cNvCxnSpPr>
            <a:stCxn id="140" idx="1"/>
            <a:endCxn id="131" idx="0"/>
          </p:cNvCxnSpPr>
          <p:nvPr/>
        </p:nvCxnSpPr>
        <p:spPr>
          <a:xfrm rot="10800000" flipV="1">
            <a:off x="2388950" y="2557388"/>
            <a:ext cx="2439961" cy="3506885"/>
          </a:xfrm>
          <a:prstGeom prst="bentConnector2">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9" name="TextBox 138"/>
          <p:cNvSpPr txBox="1"/>
          <p:nvPr/>
        </p:nvSpPr>
        <p:spPr>
          <a:xfrm>
            <a:off x="4129324" y="2311258"/>
            <a:ext cx="716863" cy="230832"/>
          </a:xfrm>
          <a:prstGeom prst="rect">
            <a:avLst/>
          </a:prstGeom>
          <a:noFill/>
          <a:ln>
            <a:noFill/>
          </a:ln>
        </p:spPr>
        <p:txBody>
          <a:bodyPr wrap="none" rtlCol="0">
            <a:spAutoFit/>
          </a:bodyPr>
          <a:lstStyle/>
          <a:p>
            <a:r>
              <a:rPr lang="ko-KR" altLang="en-US" sz="900" dirty="0"/>
              <a:t>거절이유</a:t>
            </a:r>
            <a:r>
              <a:rPr lang="en-US" altLang="ko-KR" sz="900" dirty="0"/>
              <a:t>×</a:t>
            </a:r>
            <a:endParaRPr lang="ko-KR" altLang="en-US" sz="900" dirty="0"/>
          </a:p>
        </p:txBody>
      </p:sp>
      <p:sp>
        <p:nvSpPr>
          <p:cNvPr id="140" name="Rectangle 14"/>
          <p:cNvSpPr>
            <a:spLocks noChangeArrowheads="1"/>
          </p:cNvSpPr>
          <p:nvPr/>
        </p:nvSpPr>
        <p:spPr bwMode="auto">
          <a:xfrm>
            <a:off x="4828910" y="2394670"/>
            <a:ext cx="1350963" cy="325438"/>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000" b="0" dirty="0">
                <a:solidFill>
                  <a:schemeClr val="tx2"/>
                </a:solidFill>
                <a:latin typeface="+mj-ea"/>
                <a:ea typeface="+mj-ea"/>
              </a:rPr>
              <a:t>심사</a:t>
            </a:r>
            <a:r>
              <a:rPr lang="en-US" altLang="ko-KR" sz="1000" dirty="0">
                <a:solidFill>
                  <a:schemeClr val="tx2"/>
                </a:solidFill>
                <a:latin typeface="+mj-ea"/>
                <a:ea typeface="+mj-ea"/>
              </a:rPr>
              <a:t> I</a:t>
            </a:r>
            <a:endParaRPr lang="ko-KR" altLang="en-US" sz="1000" b="0" dirty="0">
              <a:solidFill>
                <a:schemeClr val="tx2"/>
              </a:solidFill>
              <a:latin typeface="+mj-ea"/>
              <a:ea typeface="+mj-ea"/>
            </a:endParaRPr>
          </a:p>
        </p:txBody>
      </p:sp>
      <p:sp>
        <p:nvSpPr>
          <p:cNvPr id="141" name="Rectangle 14"/>
          <p:cNvSpPr>
            <a:spLocks noChangeArrowheads="1"/>
          </p:cNvSpPr>
          <p:nvPr/>
        </p:nvSpPr>
        <p:spPr bwMode="auto">
          <a:xfrm>
            <a:off x="4828910" y="3563958"/>
            <a:ext cx="1350963" cy="325438"/>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000" b="0" dirty="0">
                <a:solidFill>
                  <a:schemeClr val="tx2"/>
                </a:solidFill>
                <a:latin typeface="+mj-ea"/>
                <a:ea typeface="+mj-ea"/>
              </a:rPr>
              <a:t>심사 </a:t>
            </a:r>
            <a:r>
              <a:rPr lang="en-US" altLang="ko-KR" sz="1000" b="0" dirty="0">
                <a:solidFill>
                  <a:schemeClr val="tx2"/>
                </a:solidFill>
                <a:latin typeface="+mj-ea"/>
                <a:ea typeface="+mj-ea"/>
              </a:rPr>
              <a:t>II</a:t>
            </a:r>
            <a:endParaRPr lang="ko-KR" altLang="en-US" sz="1000" b="0" dirty="0">
              <a:solidFill>
                <a:schemeClr val="tx2"/>
              </a:solidFill>
              <a:latin typeface="+mj-ea"/>
              <a:ea typeface="+mj-ea"/>
            </a:endParaRPr>
          </a:p>
        </p:txBody>
      </p:sp>
      <p:sp>
        <p:nvSpPr>
          <p:cNvPr id="142" name="Rectangle 14"/>
          <p:cNvSpPr>
            <a:spLocks noChangeArrowheads="1"/>
          </p:cNvSpPr>
          <p:nvPr/>
        </p:nvSpPr>
        <p:spPr bwMode="auto">
          <a:xfrm>
            <a:off x="4828910" y="4313920"/>
            <a:ext cx="1350963" cy="325438"/>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000" dirty="0">
                <a:solidFill>
                  <a:schemeClr val="tx2"/>
                </a:solidFill>
                <a:latin typeface="+mj-ea"/>
                <a:ea typeface="+mj-ea"/>
              </a:rPr>
              <a:t>최후거절이유통지</a:t>
            </a:r>
            <a:endParaRPr lang="ko-KR" altLang="en-US" sz="1000" b="0" dirty="0">
              <a:solidFill>
                <a:schemeClr val="tx2"/>
              </a:solidFill>
              <a:latin typeface="+mj-ea"/>
              <a:ea typeface="+mj-ea"/>
            </a:endParaRPr>
          </a:p>
        </p:txBody>
      </p:sp>
      <p:sp>
        <p:nvSpPr>
          <p:cNvPr id="143" name="Rectangle 14"/>
          <p:cNvSpPr>
            <a:spLocks noChangeArrowheads="1"/>
          </p:cNvSpPr>
          <p:nvPr/>
        </p:nvSpPr>
        <p:spPr bwMode="auto">
          <a:xfrm>
            <a:off x="4828910" y="5679268"/>
            <a:ext cx="1350963" cy="325438"/>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000" b="0" dirty="0">
                <a:solidFill>
                  <a:schemeClr val="tx2"/>
                </a:solidFill>
                <a:latin typeface="+mj-ea"/>
                <a:ea typeface="+mj-ea"/>
              </a:rPr>
              <a:t>심사 </a:t>
            </a:r>
            <a:r>
              <a:rPr lang="en-US" altLang="ko-KR" sz="1000" b="0" dirty="0">
                <a:solidFill>
                  <a:schemeClr val="tx2"/>
                </a:solidFill>
                <a:latin typeface="+mj-ea"/>
                <a:ea typeface="+mj-ea"/>
              </a:rPr>
              <a:t>III</a:t>
            </a:r>
            <a:endParaRPr lang="ko-KR" altLang="en-US" sz="1000" b="0" dirty="0">
              <a:solidFill>
                <a:schemeClr val="tx2"/>
              </a:solidFill>
              <a:latin typeface="+mj-ea"/>
              <a:ea typeface="+mj-ea"/>
            </a:endParaRPr>
          </a:p>
        </p:txBody>
      </p:sp>
      <p:cxnSp>
        <p:nvCxnSpPr>
          <p:cNvPr id="144" name="AutoShape 17"/>
          <p:cNvCxnSpPr>
            <a:cxnSpLocks noChangeShapeType="1"/>
            <a:stCxn id="140" idx="2"/>
            <a:endCxn id="119" idx="0"/>
          </p:cNvCxnSpPr>
          <p:nvPr/>
        </p:nvCxnSpPr>
        <p:spPr bwMode="auto">
          <a:xfrm>
            <a:off x="5504392" y="2720108"/>
            <a:ext cx="0" cy="233982"/>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cxnSp>
        <p:nvCxnSpPr>
          <p:cNvPr id="145" name="AutoShape 17"/>
          <p:cNvCxnSpPr>
            <a:cxnSpLocks noChangeShapeType="1"/>
            <a:stCxn id="119" idx="2"/>
            <a:endCxn id="141" idx="0"/>
          </p:cNvCxnSpPr>
          <p:nvPr/>
        </p:nvCxnSpPr>
        <p:spPr bwMode="auto">
          <a:xfrm>
            <a:off x="5504392" y="3279528"/>
            <a:ext cx="0" cy="284430"/>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cxnSp>
        <p:nvCxnSpPr>
          <p:cNvPr id="146" name="AutoShape 17"/>
          <p:cNvCxnSpPr>
            <a:cxnSpLocks noChangeShapeType="1"/>
            <a:stCxn id="142" idx="2"/>
            <a:endCxn id="120" idx="0"/>
          </p:cNvCxnSpPr>
          <p:nvPr/>
        </p:nvCxnSpPr>
        <p:spPr bwMode="auto">
          <a:xfrm>
            <a:off x="5504392" y="4639358"/>
            <a:ext cx="3969" cy="322634"/>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cxnSp>
        <p:nvCxnSpPr>
          <p:cNvPr id="147" name="AutoShape 17"/>
          <p:cNvCxnSpPr>
            <a:cxnSpLocks noChangeShapeType="1"/>
            <a:stCxn id="120" idx="2"/>
            <a:endCxn id="143" idx="0"/>
          </p:cNvCxnSpPr>
          <p:nvPr/>
        </p:nvCxnSpPr>
        <p:spPr bwMode="auto">
          <a:xfrm flipH="1">
            <a:off x="5504392" y="5482692"/>
            <a:ext cx="3969" cy="196576"/>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sp>
        <p:nvSpPr>
          <p:cNvPr id="148" name="Rectangle 14"/>
          <p:cNvSpPr>
            <a:spLocks noChangeArrowheads="1"/>
          </p:cNvSpPr>
          <p:nvPr/>
        </p:nvSpPr>
        <p:spPr bwMode="auto">
          <a:xfrm>
            <a:off x="3136792" y="5059623"/>
            <a:ext cx="1350963" cy="325438"/>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000" dirty="0" err="1">
                <a:solidFill>
                  <a:schemeClr val="tx2"/>
                </a:solidFill>
                <a:latin typeface="+mj-ea"/>
                <a:ea typeface="+mj-ea"/>
              </a:rPr>
              <a:t>보정각하</a:t>
            </a:r>
            <a:endParaRPr lang="ko-KR" altLang="en-US" sz="1000" b="0" dirty="0">
              <a:solidFill>
                <a:schemeClr val="tx2"/>
              </a:solidFill>
              <a:latin typeface="+mj-ea"/>
              <a:ea typeface="+mj-ea"/>
            </a:endParaRPr>
          </a:p>
        </p:txBody>
      </p:sp>
      <p:sp>
        <p:nvSpPr>
          <p:cNvPr id="149" name="Rectangle 13"/>
          <p:cNvSpPr>
            <a:spLocks noChangeArrowheads="1"/>
          </p:cNvSpPr>
          <p:nvPr/>
        </p:nvSpPr>
        <p:spPr bwMode="auto">
          <a:xfrm>
            <a:off x="3181036" y="3236933"/>
            <a:ext cx="1350963" cy="327025"/>
          </a:xfrm>
          <a:prstGeom prst="roundRect">
            <a:avLst/>
          </a:prstGeom>
          <a:solidFill>
            <a:schemeClr val="accent3">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000" b="0" dirty="0">
                <a:solidFill>
                  <a:schemeClr val="tx1"/>
                </a:solidFill>
                <a:latin typeface="+mj-ea"/>
                <a:ea typeface="+mj-ea"/>
              </a:rPr>
              <a:t>의견서</a:t>
            </a:r>
            <a:r>
              <a:rPr lang="en-US" altLang="ko-KR" sz="1000" b="0" dirty="0">
                <a:solidFill>
                  <a:schemeClr val="tx1"/>
                </a:solidFill>
                <a:latin typeface="+mj-ea"/>
                <a:ea typeface="+mj-ea"/>
              </a:rPr>
              <a:t>/</a:t>
            </a:r>
            <a:r>
              <a:rPr lang="ko-KR" altLang="en-US" sz="1000" b="0" dirty="0">
                <a:solidFill>
                  <a:schemeClr val="tx1"/>
                </a:solidFill>
                <a:latin typeface="+mj-ea"/>
                <a:ea typeface="+mj-ea"/>
              </a:rPr>
              <a:t>보정 </a:t>
            </a:r>
            <a:r>
              <a:rPr lang="en-US" altLang="ko-KR" sz="1000" b="0" dirty="0">
                <a:solidFill>
                  <a:schemeClr val="tx1"/>
                </a:solidFill>
                <a:latin typeface="+mj-ea"/>
                <a:ea typeface="+mj-ea"/>
              </a:rPr>
              <a:t>I</a:t>
            </a:r>
            <a:endParaRPr lang="ko-KR" altLang="en-US" sz="1000" b="0" dirty="0">
              <a:solidFill>
                <a:schemeClr val="tx1"/>
              </a:solidFill>
              <a:latin typeface="+mj-ea"/>
              <a:ea typeface="+mj-ea"/>
            </a:endParaRPr>
          </a:p>
        </p:txBody>
      </p:sp>
      <p:cxnSp>
        <p:nvCxnSpPr>
          <p:cNvPr id="150" name="직선 화살표 연결선 149"/>
          <p:cNvCxnSpPr/>
          <p:nvPr/>
        </p:nvCxnSpPr>
        <p:spPr>
          <a:xfrm flipV="1">
            <a:off x="4531999" y="3400445"/>
            <a:ext cx="972392" cy="1"/>
          </a:xfrm>
          <a:prstGeom prst="straightConnector1">
            <a:avLst/>
          </a:prstGeom>
          <a:ln w="3175">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1" name="Rectangle 13"/>
          <p:cNvSpPr>
            <a:spLocks noChangeArrowheads="1"/>
          </p:cNvSpPr>
          <p:nvPr/>
        </p:nvSpPr>
        <p:spPr bwMode="auto">
          <a:xfrm>
            <a:off x="3181036" y="4588582"/>
            <a:ext cx="1350963" cy="327025"/>
          </a:xfrm>
          <a:prstGeom prst="roundRect">
            <a:avLst/>
          </a:prstGeom>
          <a:solidFill>
            <a:schemeClr val="accent3">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000" dirty="0">
                <a:latin typeface="+mj-ea"/>
                <a:ea typeface="+mj-ea"/>
              </a:rPr>
              <a:t>의견서</a:t>
            </a:r>
            <a:r>
              <a:rPr lang="en-US" altLang="ko-KR" sz="1000" dirty="0">
                <a:latin typeface="+mj-ea"/>
                <a:ea typeface="+mj-ea"/>
              </a:rPr>
              <a:t>/</a:t>
            </a:r>
            <a:r>
              <a:rPr lang="ko-KR" altLang="en-US" sz="1000" dirty="0">
                <a:latin typeface="+mj-ea"/>
                <a:ea typeface="+mj-ea"/>
              </a:rPr>
              <a:t>보정 </a:t>
            </a:r>
            <a:r>
              <a:rPr lang="en-US" altLang="ko-KR" sz="1000" dirty="0">
                <a:latin typeface="+mj-ea"/>
                <a:ea typeface="+mj-ea"/>
              </a:rPr>
              <a:t>II</a:t>
            </a:r>
            <a:endParaRPr lang="ko-KR" altLang="en-US" sz="1000" b="0" dirty="0">
              <a:solidFill>
                <a:schemeClr val="tx1"/>
              </a:solidFill>
              <a:latin typeface="+mj-ea"/>
              <a:ea typeface="+mj-ea"/>
            </a:endParaRPr>
          </a:p>
        </p:txBody>
      </p:sp>
      <p:cxnSp>
        <p:nvCxnSpPr>
          <p:cNvPr id="152" name="직선 화살표 연결선 151"/>
          <p:cNvCxnSpPr/>
          <p:nvPr/>
        </p:nvCxnSpPr>
        <p:spPr>
          <a:xfrm flipV="1">
            <a:off x="4531999" y="4752094"/>
            <a:ext cx="972392" cy="1"/>
          </a:xfrm>
          <a:prstGeom prst="straightConnector1">
            <a:avLst/>
          </a:prstGeom>
          <a:ln w="3175">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3" name="TextBox 152"/>
          <p:cNvSpPr txBox="1"/>
          <p:nvPr/>
        </p:nvSpPr>
        <p:spPr>
          <a:xfrm>
            <a:off x="5505186" y="2731759"/>
            <a:ext cx="712054" cy="230832"/>
          </a:xfrm>
          <a:prstGeom prst="rect">
            <a:avLst/>
          </a:prstGeom>
          <a:noFill/>
          <a:ln>
            <a:noFill/>
          </a:ln>
        </p:spPr>
        <p:txBody>
          <a:bodyPr wrap="none" rtlCol="0">
            <a:spAutoFit/>
          </a:bodyPr>
          <a:lstStyle/>
          <a:p>
            <a:r>
              <a:rPr lang="ko-KR" altLang="en-US" sz="900" dirty="0"/>
              <a:t>거절이유</a:t>
            </a:r>
            <a:r>
              <a:rPr lang="az-Cyrl-AZ" altLang="ko-KR" sz="900" dirty="0"/>
              <a:t>О</a:t>
            </a:r>
            <a:endParaRPr lang="ko-KR" altLang="en-US" sz="900" dirty="0"/>
          </a:p>
        </p:txBody>
      </p:sp>
      <p:sp>
        <p:nvSpPr>
          <p:cNvPr id="154" name="AutoShape 15"/>
          <p:cNvSpPr>
            <a:spLocks noChangeArrowheads="1"/>
          </p:cNvSpPr>
          <p:nvPr/>
        </p:nvSpPr>
        <p:spPr bwMode="auto">
          <a:xfrm>
            <a:off x="7025522" y="5580980"/>
            <a:ext cx="1368425" cy="520700"/>
          </a:xfrm>
          <a:prstGeom prst="flowChartDecision">
            <a:avLst/>
          </a:prstGeom>
          <a:solidFill>
            <a:schemeClr val="accent4"/>
          </a:solidFill>
          <a:ln>
            <a:solidFill>
              <a:schemeClr val="bg1">
                <a:lumMod val="50000"/>
              </a:schemeClr>
            </a:solidFill>
            <a:headEnd/>
            <a:tailEnd/>
          </a:ln>
        </p:spPr>
        <p:style>
          <a:lnRef idx="1">
            <a:schemeClr val="accent5"/>
          </a:lnRef>
          <a:fillRef idx="3">
            <a:schemeClr val="accent5"/>
          </a:fillRef>
          <a:effectRef idx="2">
            <a:schemeClr val="accent5"/>
          </a:effectRef>
          <a:fontRef idx="minor">
            <a:schemeClr val="lt1"/>
          </a:fontRef>
        </p:style>
        <p:txBody>
          <a:bodyPr wrap="none" anchor="ctr"/>
          <a:lstStyle/>
          <a:p>
            <a:pPr algn="ctr">
              <a:defRPr/>
            </a:pPr>
            <a:r>
              <a:rPr lang="ko-KR" altLang="en-US" sz="1000" b="0" dirty="0">
                <a:solidFill>
                  <a:schemeClr val="tx2"/>
                </a:solidFill>
                <a:latin typeface="+mj-ea"/>
                <a:ea typeface="+mj-ea"/>
              </a:rPr>
              <a:t>기 통지한</a:t>
            </a:r>
            <a:endParaRPr lang="en-US" altLang="ko-KR" sz="1000" b="0" dirty="0">
              <a:solidFill>
                <a:schemeClr val="tx2"/>
              </a:solidFill>
              <a:latin typeface="+mj-ea"/>
              <a:ea typeface="+mj-ea"/>
            </a:endParaRPr>
          </a:p>
          <a:p>
            <a:pPr algn="ctr">
              <a:defRPr/>
            </a:pPr>
            <a:r>
              <a:rPr lang="ko-KR" altLang="en-US" sz="1000" dirty="0">
                <a:solidFill>
                  <a:schemeClr val="tx2"/>
                </a:solidFill>
                <a:latin typeface="+mj-ea"/>
                <a:ea typeface="+mj-ea"/>
              </a:rPr>
              <a:t>거절이유</a:t>
            </a:r>
            <a:endParaRPr lang="ko-KR" altLang="en-US" sz="1000" b="0" dirty="0">
              <a:solidFill>
                <a:schemeClr val="tx2"/>
              </a:solidFill>
              <a:latin typeface="+mj-ea"/>
              <a:ea typeface="+mj-ea"/>
            </a:endParaRPr>
          </a:p>
        </p:txBody>
      </p:sp>
      <p:sp>
        <p:nvSpPr>
          <p:cNvPr id="155" name="AutoShape 15"/>
          <p:cNvSpPr>
            <a:spLocks noChangeArrowheads="1"/>
          </p:cNvSpPr>
          <p:nvPr/>
        </p:nvSpPr>
        <p:spPr bwMode="auto">
          <a:xfrm>
            <a:off x="7025522" y="4216289"/>
            <a:ext cx="1368425" cy="520700"/>
          </a:xfrm>
          <a:prstGeom prst="flowChartDecision">
            <a:avLst/>
          </a:prstGeom>
          <a:solidFill>
            <a:schemeClr val="accent4"/>
          </a:solidFill>
          <a:ln>
            <a:solidFill>
              <a:schemeClr val="bg1">
                <a:lumMod val="50000"/>
              </a:schemeClr>
            </a:solidFill>
            <a:headEnd/>
            <a:tailEnd/>
          </a:ln>
        </p:spPr>
        <p:style>
          <a:lnRef idx="1">
            <a:schemeClr val="accent5"/>
          </a:lnRef>
          <a:fillRef idx="3">
            <a:schemeClr val="accent5"/>
          </a:fillRef>
          <a:effectRef idx="2">
            <a:schemeClr val="accent5"/>
          </a:effectRef>
          <a:fontRef idx="minor">
            <a:schemeClr val="lt1"/>
          </a:fontRef>
        </p:style>
        <p:txBody>
          <a:bodyPr wrap="none" anchor="ctr"/>
          <a:lstStyle/>
          <a:p>
            <a:pPr algn="ctr">
              <a:defRPr/>
            </a:pPr>
            <a:r>
              <a:rPr lang="ko-KR" altLang="en-US" sz="1000" b="0" dirty="0">
                <a:solidFill>
                  <a:schemeClr val="tx2"/>
                </a:solidFill>
                <a:latin typeface="+mj-ea"/>
                <a:ea typeface="+mj-ea"/>
              </a:rPr>
              <a:t>보정 </a:t>
            </a:r>
            <a:r>
              <a:rPr lang="en-US" altLang="ko-KR" sz="1000" dirty="0">
                <a:solidFill>
                  <a:schemeClr val="tx2"/>
                </a:solidFill>
                <a:latin typeface="+mj-ea"/>
                <a:ea typeface="+mj-ea"/>
              </a:rPr>
              <a:t>I</a:t>
            </a:r>
            <a:r>
              <a:rPr lang="ko-KR" altLang="en-US" sz="1000" dirty="0">
                <a:solidFill>
                  <a:schemeClr val="tx2"/>
                </a:solidFill>
                <a:latin typeface="+mj-ea"/>
                <a:ea typeface="+mj-ea"/>
              </a:rPr>
              <a:t>에 의한</a:t>
            </a:r>
            <a:endParaRPr lang="en-US" altLang="ko-KR" sz="1000" dirty="0">
              <a:solidFill>
                <a:schemeClr val="tx2"/>
              </a:solidFill>
              <a:latin typeface="+mj-ea"/>
              <a:ea typeface="+mj-ea"/>
            </a:endParaRPr>
          </a:p>
          <a:p>
            <a:pPr algn="ctr">
              <a:defRPr/>
            </a:pPr>
            <a:r>
              <a:rPr lang="ko-KR" altLang="en-US" sz="1000" b="0" dirty="0">
                <a:solidFill>
                  <a:schemeClr val="tx2"/>
                </a:solidFill>
                <a:latin typeface="+mj-ea"/>
                <a:ea typeface="+mj-ea"/>
              </a:rPr>
              <a:t>거절이유</a:t>
            </a:r>
          </a:p>
        </p:txBody>
      </p:sp>
      <p:sp>
        <p:nvSpPr>
          <p:cNvPr id="156" name="AutoShape 15"/>
          <p:cNvSpPr>
            <a:spLocks noChangeArrowheads="1"/>
          </p:cNvSpPr>
          <p:nvPr/>
        </p:nvSpPr>
        <p:spPr bwMode="auto">
          <a:xfrm>
            <a:off x="7025522" y="3466431"/>
            <a:ext cx="1368425" cy="520700"/>
          </a:xfrm>
          <a:prstGeom prst="flowChartDecision">
            <a:avLst/>
          </a:prstGeom>
          <a:solidFill>
            <a:schemeClr val="accent4"/>
          </a:solidFill>
          <a:ln>
            <a:solidFill>
              <a:schemeClr val="bg1">
                <a:lumMod val="50000"/>
              </a:schemeClr>
            </a:solidFill>
            <a:headEnd/>
            <a:tailEnd/>
          </a:ln>
        </p:spPr>
        <p:style>
          <a:lnRef idx="1">
            <a:schemeClr val="accent5"/>
          </a:lnRef>
          <a:fillRef idx="3">
            <a:schemeClr val="accent5"/>
          </a:fillRef>
          <a:effectRef idx="2">
            <a:schemeClr val="accent5"/>
          </a:effectRef>
          <a:fontRef idx="minor">
            <a:schemeClr val="lt1"/>
          </a:fontRef>
        </p:style>
        <p:txBody>
          <a:bodyPr wrap="none" anchor="ctr"/>
          <a:lstStyle/>
          <a:p>
            <a:pPr algn="ctr">
              <a:defRPr/>
            </a:pPr>
            <a:r>
              <a:rPr lang="ko-KR" altLang="en-US" sz="1000" b="0" dirty="0">
                <a:solidFill>
                  <a:schemeClr val="tx2"/>
                </a:solidFill>
                <a:latin typeface="+mj-ea"/>
                <a:ea typeface="+mj-ea"/>
              </a:rPr>
              <a:t>기 통지한</a:t>
            </a:r>
            <a:endParaRPr lang="en-US" altLang="ko-KR" sz="1000" b="0" dirty="0">
              <a:solidFill>
                <a:schemeClr val="tx2"/>
              </a:solidFill>
              <a:latin typeface="+mj-ea"/>
              <a:ea typeface="+mj-ea"/>
            </a:endParaRPr>
          </a:p>
          <a:p>
            <a:pPr algn="ctr">
              <a:defRPr/>
            </a:pPr>
            <a:r>
              <a:rPr lang="ko-KR" altLang="en-US" sz="1000" dirty="0">
                <a:solidFill>
                  <a:schemeClr val="tx2"/>
                </a:solidFill>
                <a:latin typeface="+mj-ea"/>
                <a:ea typeface="+mj-ea"/>
              </a:rPr>
              <a:t>거절이유</a:t>
            </a:r>
            <a:endParaRPr lang="ko-KR" altLang="en-US" sz="1000" b="0" dirty="0">
              <a:solidFill>
                <a:schemeClr val="tx2"/>
              </a:solidFill>
              <a:latin typeface="+mj-ea"/>
              <a:ea typeface="+mj-ea"/>
            </a:endParaRPr>
          </a:p>
        </p:txBody>
      </p:sp>
      <p:cxnSp>
        <p:nvCxnSpPr>
          <p:cNvPr id="157" name="직선 화살표 연결선 156"/>
          <p:cNvCxnSpPr>
            <a:stCxn id="141" idx="3"/>
            <a:endCxn id="156" idx="1"/>
          </p:cNvCxnSpPr>
          <p:nvPr/>
        </p:nvCxnSpPr>
        <p:spPr>
          <a:xfrm>
            <a:off x="6179873" y="3726677"/>
            <a:ext cx="845649" cy="104"/>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8" name="직선 화살표 연결선 157"/>
          <p:cNvCxnSpPr>
            <a:stCxn id="141" idx="1"/>
          </p:cNvCxnSpPr>
          <p:nvPr/>
        </p:nvCxnSpPr>
        <p:spPr>
          <a:xfrm flipH="1">
            <a:off x="2388949" y="3726677"/>
            <a:ext cx="2439961" cy="104"/>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9" name="TextBox 158"/>
          <p:cNvSpPr txBox="1"/>
          <p:nvPr/>
        </p:nvSpPr>
        <p:spPr>
          <a:xfrm>
            <a:off x="4129324" y="3726677"/>
            <a:ext cx="716863" cy="230832"/>
          </a:xfrm>
          <a:prstGeom prst="rect">
            <a:avLst/>
          </a:prstGeom>
          <a:noFill/>
          <a:ln>
            <a:noFill/>
          </a:ln>
        </p:spPr>
        <p:txBody>
          <a:bodyPr wrap="none" rtlCol="0">
            <a:spAutoFit/>
          </a:bodyPr>
          <a:lstStyle/>
          <a:p>
            <a:r>
              <a:rPr lang="ko-KR" altLang="en-US" sz="900" dirty="0"/>
              <a:t>거절이유</a:t>
            </a:r>
            <a:r>
              <a:rPr lang="en-US" altLang="ko-KR" sz="900" dirty="0"/>
              <a:t>×</a:t>
            </a:r>
            <a:endParaRPr lang="ko-KR" altLang="en-US" sz="900" dirty="0"/>
          </a:p>
        </p:txBody>
      </p:sp>
      <p:sp>
        <p:nvSpPr>
          <p:cNvPr id="160" name="TextBox 159"/>
          <p:cNvSpPr txBox="1"/>
          <p:nvPr/>
        </p:nvSpPr>
        <p:spPr>
          <a:xfrm>
            <a:off x="6173653" y="3495949"/>
            <a:ext cx="712054" cy="230832"/>
          </a:xfrm>
          <a:prstGeom prst="rect">
            <a:avLst/>
          </a:prstGeom>
          <a:noFill/>
          <a:ln>
            <a:noFill/>
          </a:ln>
        </p:spPr>
        <p:txBody>
          <a:bodyPr wrap="none" rtlCol="0">
            <a:spAutoFit/>
          </a:bodyPr>
          <a:lstStyle/>
          <a:p>
            <a:r>
              <a:rPr lang="ko-KR" altLang="en-US" sz="900" dirty="0"/>
              <a:t>거절이유</a:t>
            </a:r>
            <a:r>
              <a:rPr lang="az-Cyrl-AZ" altLang="ko-KR" sz="900" dirty="0"/>
              <a:t>О</a:t>
            </a:r>
            <a:endParaRPr lang="ko-KR" altLang="en-US" sz="900" dirty="0"/>
          </a:p>
        </p:txBody>
      </p:sp>
      <p:cxnSp>
        <p:nvCxnSpPr>
          <p:cNvPr id="161" name="AutoShape 17"/>
          <p:cNvCxnSpPr>
            <a:cxnSpLocks noChangeShapeType="1"/>
            <a:stCxn id="156" idx="2"/>
            <a:endCxn id="155" idx="0"/>
          </p:cNvCxnSpPr>
          <p:nvPr/>
        </p:nvCxnSpPr>
        <p:spPr bwMode="auto">
          <a:xfrm>
            <a:off x="7709735" y="3987131"/>
            <a:ext cx="0" cy="229158"/>
          </a:xfrm>
          <a:prstGeom prst="straightConnector1">
            <a:avLst/>
          </a:prstGeom>
          <a:noFill/>
          <a:ln w="9525">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cxnSp>
        <p:nvCxnSpPr>
          <p:cNvPr id="162" name="꺾인 연결선 161"/>
          <p:cNvCxnSpPr>
            <a:stCxn id="156" idx="3"/>
            <a:endCxn id="132" idx="0"/>
          </p:cNvCxnSpPr>
          <p:nvPr/>
        </p:nvCxnSpPr>
        <p:spPr>
          <a:xfrm>
            <a:off x="8393947" y="3726781"/>
            <a:ext cx="1291763" cy="2337493"/>
          </a:xfrm>
          <a:prstGeom prst="bentConnector2">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3" name="TextBox 162"/>
          <p:cNvSpPr txBox="1"/>
          <p:nvPr/>
        </p:nvSpPr>
        <p:spPr>
          <a:xfrm>
            <a:off x="8393947" y="3495845"/>
            <a:ext cx="369012" cy="230832"/>
          </a:xfrm>
          <a:prstGeom prst="rect">
            <a:avLst/>
          </a:prstGeom>
          <a:noFill/>
          <a:ln>
            <a:noFill/>
          </a:ln>
        </p:spPr>
        <p:txBody>
          <a:bodyPr wrap="none" rtlCol="0">
            <a:spAutoFit/>
          </a:bodyPr>
          <a:lstStyle/>
          <a:p>
            <a:r>
              <a:rPr lang="en-US" altLang="ko-KR" sz="900" dirty="0"/>
              <a:t>Yes</a:t>
            </a:r>
            <a:endParaRPr lang="ko-KR" altLang="en-US" sz="900" dirty="0"/>
          </a:p>
        </p:txBody>
      </p:sp>
      <p:sp>
        <p:nvSpPr>
          <p:cNvPr id="164" name="TextBox 163"/>
          <p:cNvSpPr txBox="1"/>
          <p:nvPr/>
        </p:nvSpPr>
        <p:spPr>
          <a:xfrm>
            <a:off x="7714084" y="3975780"/>
            <a:ext cx="336952" cy="230832"/>
          </a:xfrm>
          <a:prstGeom prst="rect">
            <a:avLst/>
          </a:prstGeom>
          <a:noFill/>
          <a:ln>
            <a:noFill/>
          </a:ln>
        </p:spPr>
        <p:txBody>
          <a:bodyPr wrap="none" rtlCol="0">
            <a:spAutoFit/>
          </a:bodyPr>
          <a:lstStyle/>
          <a:p>
            <a:r>
              <a:rPr lang="en-US" altLang="ko-KR" sz="900" dirty="0"/>
              <a:t>No</a:t>
            </a:r>
            <a:endParaRPr lang="ko-KR" altLang="en-US" sz="900" dirty="0"/>
          </a:p>
        </p:txBody>
      </p:sp>
      <p:cxnSp>
        <p:nvCxnSpPr>
          <p:cNvPr id="165" name="직선 화살표 연결선 164"/>
          <p:cNvCxnSpPr>
            <a:stCxn id="155" idx="1"/>
            <a:endCxn id="142" idx="3"/>
          </p:cNvCxnSpPr>
          <p:nvPr/>
        </p:nvCxnSpPr>
        <p:spPr>
          <a:xfrm flipH="1">
            <a:off x="6179873" y="4476639"/>
            <a:ext cx="845649" cy="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6" name="TextBox 165"/>
          <p:cNvSpPr txBox="1"/>
          <p:nvPr/>
        </p:nvSpPr>
        <p:spPr>
          <a:xfrm>
            <a:off x="6701201" y="4259312"/>
            <a:ext cx="369012" cy="230832"/>
          </a:xfrm>
          <a:prstGeom prst="rect">
            <a:avLst/>
          </a:prstGeom>
          <a:noFill/>
          <a:ln>
            <a:noFill/>
          </a:ln>
        </p:spPr>
        <p:txBody>
          <a:bodyPr wrap="none" rtlCol="0">
            <a:spAutoFit/>
          </a:bodyPr>
          <a:lstStyle/>
          <a:p>
            <a:r>
              <a:rPr lang="en-US" altLang="ko-KR" sz="900" dirty="0"/>
              <a:t>Yes</a:t>
            </a:r>
            <a:endParaRPr lang="ko-KR" altLang="en-US" sz="900" dirty="0"/>
          </a:p>
        </p:txBody>
      </p:sp>
      <p:cxnSp>
        <p:nvCxnSpPr>
          <p:cNvPr id="167" name="꺾인 연결선 166"/>
          <p:cNvCxnSpPr>
            <a:stCxn id="155" idx="3"/>
            <a:endCxn id="119" idx="3"/>
          </p:cNvCxnSpPr>
          <p:nvPr/>
        </p:nvCxnSpPr>
        <p:spPr>
          <a:xfrm flipH="1" flipV="1">
            <a:off x="6179873" y="3116809"/>
            <a:ext cx="2214074" cy="1359830"/>
          </a:xfrm>
          <a:prstGeom prst="bentConnector3">
            <a:avLst>
              <a:gd name="adj1" fmla="val -38202"/>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8" name="TextBox 167"/>
          <p:cNvSpPr txBox="1"/>
          <p:nvPr/>
        </p:nvSpPr>
        <p:spPr>
          <a:xfrm>
            <a:off x="8409977" y="4251567"/>
            <a:ext cx="336952" cy="230832"/>
          </a:xfrm>
          <a:prstGeom prst="rect">
            <a:avLst/>
          </a:prstGeom>
          <a:noFill/>
          <a:ln>
            <a:noFill/>
          </a:ln>
        </p:spPr>
        <p:txBody>
          <a:bodyPr wrap="none" rtlCol="0">
            <a:spAutoFit/>
          </a:bodyPr>
          <a:lstStyle/>
          <a:p>
            <a:r>
              <a:rPr lang="en-US" altLang="ko-KR" sz="900" dirty="0"/>
              <a:t>No</a:t>
            </a:r>
            <a:endParaRPr lang="ko-KR" altLang="en-US" sz="900" dirty="0"/>
          </a:p>
        </p:txBody>
      </p:sp>
      <p:cxnSp>
        <p:nvCxnSpPr>
          <p:cNvPr id="169" name="직선 화살표 연결선 168"/>
          <p:cNvCxnSpPr>
            <a:stCxn id="120" idx="1"/>
            <a:endCxn id="148" idx="3"/>
          </p:cNvCxnSpPr>
          <p:nvPr/>
        </p:nvCxnSpPr>
        <p:spPr>
          <a:xfrm flipH="1">
            <a:off x="4487755" y="5222342"/>
            <a:ext cx="336393" cy="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0" name="TextBox 169"/>
          <p:cNvSpPr txBox="1"/>
          <p:nvPr/>
        </p:nvSpPr>
        <p:spPr>
          <a:xfrm>
            <a:off x="4493447" y="4983622"/>
            <a:ext cx="336952" cy="230832"/>
          </a:xfrm>
          <a:prstGeom prst="rect">
            <a:avLst/>
          </a:prstGeom>
          <a:noFill/>
          <a:ln>
            <a:noFill/>
          </a:ln>
        </p:spPr>
        <p:txBody>
          <a:bodyPr wrap="none" rtlCol="0">
            <a:spAutoFit/>
          </a:bodyPr>
          <a:lstStyle/>
          <a:p>
            <a:r>
              <a:rPr lang="en-US" altLang="ko-KR" sz="900" dirty="0"/>
              <a:t>No</a:t>
            </a:r>
            <a:endParaRPr lang="ko-KR" altLang="en-US" sz="900" dirty="0"/>
          </a:p>
        </p:txBody>
      </p:sp>
      <p:sp>
        <p:nvSpPr>
          <p:cNvPr id="171" name="TextBox 170"/>
          <p:cNvSpPr txBox="1"/>
          <p:nvPr/>
        </p:nvSpPr>
        <p:spPr>
          <a:xfrm>
            <a:off x="5508361" y="5445503"/>
            <a:ext cx="369012" cy="230832"/>
          </a:xfrm>
          <a:prstGeom prst="rect">
            <a:avLst/>
          </a:prstGeom>
          <a:noFill/>
          <a:ln>
            <a:noFill/>
          </a:ln>
        </p:spPr>
        <p:txBody>
          <a:bodyPr wrap="none" rtlCol="0">
            <a:spAutoFit/>
          </a:bodyPr>
          <a:lstStyle/>
          <a:p>
            <a:r>
              <a:rPr lang="en-US" altLang="ko-KR" sz="900" dirty="0"/>
              <a:t>Yes</a:t>
            </a:r>
            <a:endParaRPr lang="ko-KR" altLang="en-US" sz="900" dirty="0"/>
          </a:p>
        </p:txBody>
      </p:sp>
      <p:cxnSp>
        <p:nvCxnSpPr>
          <p:cNvPr id="172" name="직선 화살표 연결선 171"/>
          <p:cNvCxnSpPr/>
          <p:nvPr/>
        </p:nvCxnSpPr>
        <p:spPr>
          <a:xfrm flipH="1">
            <a:off x="2388949" y="5833442"/>
            <a:ext cx="2439961" cy="104"/>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TextBox 172"/>
          <p:cNvSpPr txBox="1"/>
          <p:nvPr/>
        </p:nvSpPr>
        <p:spPr>
          <a:xfrm>
            <a:off x="4129324" y="5833442"/>
            <a:ext cx="716863" cy="230832"/>
          </a:xfrm>
          <a:prstGeom prst="rect">
            <a:avLst/>
          </a:prstGeom>
          <a:noFill/>
          <a:ln>
            <a:noFill/>
          </a:ln>
        </p:spPr>
        <p:txBody>
          <a:bodyPr wrap="none" rtlCol="0">
            <a:spAutoFit/>
          </a:bodyPr>
          <a:lstStyle/>
          <a:p>
            <a:r>
              <a:rPr lang="ko-KR" altLang="en-US" sz="900" dirty="0"/>
              <a:t>거절이유</a:t>
            </a:r>
            <a:r>
              <a:rPr lang="en-US" altLang="ko-KR" sz="900" dirty="0"/>
              <a:t>×</a:t>
            </a:r>
            <a:endParaRPr lang="ko-KR" altLang="en-US" sz="900" dirty="0"/>
          </a:p>
        </p:txBody>
      </p:sp>
      <p:cxnSp>
        <p:nvCxnSpPr>
          <p:cNvPr id="174" name="직선 화살표 연결선 173"/>
          <p:cNvCxnSpPr>
            <a:stCxn id="143" idx="3"/>
            <a:endCxn id="154" idx="1"/>
          </p:cNvCxnSpPr>
          <p:nvPr/>
        </p:nvCxnSpPr>
        <p:spPr>
          <a:xfrm flipV="1">
            <a:off x="6179873" y="5841330"/>
            <a:ext cx="845649" cy="657"/>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5" name="TextBox 174"/>
          <p:cNvSpPr txBox="1"/>
          <p:nvPr/>
        </p:nvSpPr>
        <p:spPr>
          <a:xfrm>
            <a:off x="6173653" y="5602714"/>
            <a:ext cx="712054" cy="230832"/>
          </a:xfrm>
          <a:prstGeom prst="rect">
            <a:avLst/>
          </a:prstGeom>
          <a:noFill/>
          <a:ln>
            <a:noFill/>
          </a:ln>
        </p:spPr>
        <p:txBody>
          <a:bodyPr wrap="none" rtlCol="0">
            <a:spAutoFit/>
          </a:bodyPr>
          <a:lstStyle/>
          <a:p>
            <a:r>
              <a:rPr lang="ko-KR" altLang="en-US" sz="900" dirty="0"/>
              <a:t>거절이유</a:t>
            </a:r>
            <a:r>
              <a:rPr lang="az-Cyrl-AZ" altLang="ko-KR" sz="900" dirty="0"/>
              <a:t>О</a:t>
            </a:r>
            <a:endParaRPr lang="ko-KR" altLang="en-US" sz="900" dirty="0"/>
          </a:p>
        </p:txBody>
      </p:sp>
      <p:cxnSp>
        <p:nvCxnSpPr>
          <p:cNvPr id="176" name="꺾인 연결선 175"/>
          <p:cNvCxnSpPr>
            <a:stCxn id="148" idx="2"/>
          </p:cNvCxnSpPr>
          <p:nvPr/>
        </p:nvCxnSpPr>
        <p:spPr>
          <a:xfrm rot="16200000" flipH="1">
            <a:off x="4151676" y="5045659"/>
            <a:ext cx="333071" cy="1011874"/>
          </a:xfrm>
          <a:prstGeom prst="bentConnector2">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7" name="직선 화살표 연결선 176"/>
          <p:cNvCxnSpPr>
            <a:stCxn id="154" idx="3"/>
          </p:cNvCxnSpPr>
          <p:nvPr/>
        </p:nvCxnSpPr>
        <p:spPr>
          <a:xfrm flipV="1">
            <a:off x="8393947" y="5833442"/>
            <a:ext cx="1291763" cy="7888"/>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8" name="TextBox 177"/>
          <p:cNvSpPr txBox="1"/>
          <p:nvPr/>
        </p:nvSpPr>
        <p:spPr>
          <a:xfrm>
            <a:off x="8377917" y="5601750"/>
            <a:ext cx="369012" cy="230832"/>
          </a:xfrm>
          <a:prstGeom prst="rect">
            <a:avLst/>
          </a:prstGeom>
          <a:noFill/>
          <a:ln>
            <a:noFill/>
          </a:ln>
        </p:spPr>
        <p:txBody>
          <a:bodyPr wrap="none" rtlCol="0">
            <a:spAutoFit/>
          </a:bodyPr>
          <a:lstStyle/>
          <a:p>
            <a:r>
              <a:rPr lang="en-US" altLang="ko-KR" sz="900" dirty="0"/>
              <a:t>Yes</a:t>
            </a:r>
            <a:endParaRPr lang="ko-KR" altLang="en-US" sz="900" dirty="0"/>
          </a:p>
        </p:txBody>
      </p:sp>
      <p:cxnSp>
        <p:nvCxnSpPr>
          <p:cNvPr id="179" name="직선 화살표 연결선 178"/>
          <p:cNvCxnSpPr>
            <a:stCxn id="154" idx="0"/>
            <a:endCxn id="155" idx="2"/>
          </p:cNvCxnSpPr>
          <p:nvPr/>
        </p:nvCxnSpPr>
        <p:spPr>
          <a:xfrm flipV="1">
            <a:off x="7709735" y="4736989"/>
            <a:ext cx="0" cy="84399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0" name="TextBox 179"/>
          <p:cNvSpPr txBox="1"/>
          <p:nvPr/>
        </p:nvSpPr>
        <p:spPr>
          <a:xfrm>
            <a:off x="7714084" y="5349755"/>
            <a:ext cx="336952" cy="230832"/>
          </a:xfrm>
          <a:prstGeom prst="rect">
            <a:avLst/>
          </a:prstGeom>
          <a:noFill/>
          <a:ln>
            <a:noFill/>
          </a:ln>
        </p:spPr>
        <p:txBody>
          <a:bodyPr wrap="none" rtlCol="0">
            <a:spAutoFit/>
          </a:bodyPr>
          <a:lstStyle/>
          <a:p>
            <a:r>
              <a:rPr lang="en-US" altLang="ko-KR" sz="900" dirty="0"/>
              <a:t>No</a:t>
            </a:r>
            <a:endParaRPr lang="ko-KR" altLang="en-US" sz="900" dirty="0"/>
          </a:p>
        </p:txBody>
      </p:sp>
      <p:sp>
        <p:nvSpPr>
          <p:cNvPr id="181" name="Rectangle 13"/>
          <p:cNvSpPr>
            <a:spLocks noChangeArrowheads="1"/>
          </p:cNvSpPr>
          <p:nvPr/>
        </p:nvSpPr>
        <p:spPr bwMode="auto">
          <a:xfrm>
            <a:off x="6771961" y="1618685"/>
            <a:ext cx="1350963" cy="327025"/>
          </a:xfrm>
          <a:prstGeom prst="roundRect">
            <a:avLst/>
          </a:prstGeom>
          <a:solidFill>
            <a:schemeClr val="accent3">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000" b="0" dirty="0">
                <a:solidFill>
                  <a:schemeClr val="tx1"/>
                </a:solidFill>
                <a:latin typeface="+mj-ea"/>
                <a:ea typeface="+mj-ea"/>
              </a:rPr>
              <a:t>심사청구</a:t>
            </a:r>
            <a:endParaRPr lang="en-US" altLang="ko-KR" sz="1000" b="0" dirty="0">
              <a:solidFill>
                <a:schemeClr val="tx1"/>
              </a:solidFill>
              <a:latin typeface="+mj-ea"/>
              <a:ea typeface="+mj-ea"/>
            </a:endParaRPr>
          </a:p>
          <a:p>
            <a:pPr algn="ctr"/>
            <a:r>
              <a:rPr lang="en-US" altLang="ko-KR" sz="1000" b="0" dirty="0">
                <a:solidFill>
                  <a:schemeClr val="tx1"/>
                </a:solidFill>
                <a:latin typeface="+mj-ea"/>
                <a:ea typeface="+mj-ea"/>
              </a:rPr>
              <a:t>(</a:t>
            </a:r>
            <a:r>
              <a:rPr lang="ko-KR" altLang="en-US" sz="1000" b="0" dirty="0">
                <a:solidFill>
                  <a:schemeClr val="tx1"/>
                </a:solidFill>
                <a:latin typeface="+mj-ea"/>
                <a:ea typeface="+mj-ea"/>
              </a:rPr>
              <a:t>우선심사신청</a:t>
            </a:r>
            <a:r>
              <a:rPr lang="en-US" altLang="ko-KR" sz="1000" b="0" dirty="0">
                <a:solidFill>
                  <a:schemeClr val="tx1"/>
                </a:solidFill>
                <a:latin typeface="+mj-ea"/>
                <a:ea typeface="+mj-ea"/>
              </a:rPr>
              <a:t>)</a:t>
            </a:r>
            <a:endParaRPr lang="ko-KR" altLang="en-US" sz="1000" b="0" dirty="0">
              <a:solidFill>
                <a:schemeClr val="tx1"/>
              </a:solidFill>
              <a:latin typeface="+mj-ea"/>
              <a:ea typeface="+mj-ea"/>
            </a:endParaRPr>
          </a:p>
        </p:txBody>
      </p:sp>
      <p:cxnSp>
        <p:nvCxnSpPr>
          <p:cNvPr id="182" name="직선 화살표 연결선 181"/>
          <p:cNvCxnSpPr>
            <a:stCxn id="181" idx="1"/>
          </p:cNvCxnSpPr>
          <p:nvPr/>
        </p:nvCxnSpPr>
        <p:spPr>
          <a:xfrm flipH="1">
            <a:off x="5581650" y="1782198"/>
            <a:ext cx="1190311" cy="0"/>
          </a:xfrm>
          <a:prstGeom prst="straightConnector1">
            <a:avLst/>
          </a:prstGeom>
          <a:ln w="3175">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 name="슬라이드 번호 개체 틀 5"/>
          <p:cNvSpPr>
            <a:spLocks noGrp="1"/>
          </p:cNvSpPr>
          <p:nvPr>
            <p:ph type="sldNum" sz="quarter" idx="12"/>
          </p:nvPr>
        </p:nvSpPr>
        <p:spPr/>
        <p:txBody>
          <a:bodyPr/>
          <a:lstStyle/>
          <a:p>
            <a:r>
              <a:rPr lang="en-US" altLang="ko-KR"/>
              <a:t>254</a:t>
            </a:r>
            <a:endParaRPr lang="ko-KR" altLang="en-US" dirty="0"/>
          </a:p>
        </p:txBody>
      </p:sp>
    </p:spTree>
    <p:extLst>
      <p:ext uri="{BB962C8B-B14F-4D97-AF65-F5344CB8AC3E}">
        <p14:creationId xmlns:p14="http://schemas.microsoft.com/office/powerpoint/2010/main" val="1310027536"/>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Rectangle 1"/>
          <p:cNvSpPr>
            <a:spLocks noChangeArrowheads="1"/>
          </p:cNvSpPr>
          <p:nvPr/>
        </p:nvSpPr>
        <p:spPr bwMode="auto">
          <a:xfrm>
            <a:off x="6496050" y="2302969"/>
            <a:ext cx="5438775" cy="2742289"/>
          </a:xfrm>
          <a:prstGeom prst="rect">
            <a:avLst/>
          </a:prstGeom>
          <a:solidFill>
            <a:schemeClr val="bg1">
              <a:lumMod val="95000"/>
            </a:schemeClr>
          </a:solidFill>
          <a:ln w="9525">
            <a:solidFill>
              <a:schemeClr val="tx1"/>
            </a:solidFill>
            <a:miter lim="800000"/>
            <a:headEnd/>
            <a:tailEnd/>
          </a:ln>
          <a:effectLst/>
        </p:spPr>
        <p:txBody>
          <a:bodyPr vert="horz" wrap="square" lIns="91440" tIns="45720" rIns="91440" bIns="45720" numCol="1" anchor="t" anchorCtr="0" compatLnSpc="1">
            <a:prstTxWarp prst="textNoShape">
              <a:avLst/>
            </a:prstTxWarp>
            <a:spAutoFit/>
          </a:bodyPr>
          <a:lstStyle/>
          <a:p>
            <a:pPr marL="0" marR="0" lvl="0" indent="0" algn="just" defTabSz="914400" rtl="0" eaLnBrk="1" fontAlgn="base" latinLnBrk="1" hangingPunct="1">
              <a:lnSpc>
                <a:spcPct val="100000"/>
              </a:lnSpc>
              <a:spcBef>
                <a:spcPct val="0"/>
              </a:spcBef>
              <a:spcAft>
                <a:spcPct val="0"/>
              </a:spcAft>
              <a:buClrTx/>
              <a:buSzTx/>
              <a:buFontTx/>
              <a:buNone/>
              <a:tabLst>
                <a:tab pos="187325" algn="l"/>
                <a:tab pos="320675" algn="l"/>
              </a:tabLst>
            </a:pPr>
            <a:r>
              <a:rPr lang="ko-KR" altLang="ko-KR" sz="1200" dirty="0">
                <a:solidFill>
                  <a:schemeClr val="tx2"/>
                </a:solidFill>
                <a:latin typeface="+mn-ea"/>
              </a:rPr>
              <a:t>【</a:t>
            </a:r>
            <a:r>
              <a:rPr lang="ko-KR" sz="1200" dirty="0">
                <a:solidFill>
                  <a:schemeClr val="tx2"/>
                </a:solidFill>
                <a:latin typeface="+mn-ea"/>
              </a:rPr>
              <a:t>예</a:t>
            </a:r>
            <a:r>
              <a:rPr lang="en-US" altLang="ko-KR" sz="1200" dirty="0">
                <a:solidFill>
                  <a:schemeClr val="tx2"/>
                </a:solidFill>
                <a:latin typeface="+mn-ea"/>
              </a:rPr>
              <a:t>1】</a:t>
            </a:r>
            <a:r>
              <a:rPr lang="ko-KR" altLang="en-US" sz="1200" dirty="0">
                <a:solidFill>
                  <a:schemeClr val="tx2"/>
                </a:solidFill>
                <a:latin typeface="+mn-ea"/>
              </a:rPr>
              <a:t>아래의 사례에서 심사관이 최초거절이유를 통지한 후 경미한 기재불비</a:t>
            </a:r>
            <a:r>
              <a:rPr lang="en-US" altLang="ko-KR" sz="1200" dirty="0">
                <a:solidFill>
                  <a:schemeClr val="tx2"/>
                </a:solidFill>
                <a:latin typeface="+mn-ea"/>
              </a:rPr>
              <a:t>(</a:t>
            </a:r>
            <a:r>
              <a:rPr lang="ko-KR" altLang="en-US" sz="1200" dirty="0">
                <a:solidFill>
                  <a:schemeClr val="tx2"/>
                </a:solidFill>
                <a:latin typeface="+mn-ea"/>
              </a:rPr>
              <a:t>명세서 등을 참고 할 때 </a:t>
            </a:r>
            <a:r>
              <a:rPr lang="en-US" altLang="ko-KR" sz="1200" dirty="0">
                <a:solidFill>
                  <a:schemeClr val="tx2"/>
                </a:solidFill>
                <a:latin typeface="+mn-ea"/>
              </a:rPr>
              <a:t>A' </a:t>
            </a:r>
            <a:r>
              <a:rPr lang="ko-KR" altLang="en-US" sz="1200" dirty="0">
                <a:solidFill>
                  <a:schemeClr val="tx2"/>
                </a:solidFill>
                <a:latin typeface="+mn-ea"/>
              </a:rPr>
              <a:t>은 </a:t>
            </a:r>
            <a:r>
              <a:rPr lang="en-US" altLang="ko-KR" sz="1200" dirty="0">
                <a:solidFill>
                  <a:schemeClr val="tx2"/>
                </a:solidFill>
                <a:latin typeface="+mn-ea"/>
              </a:rPr>
              <a:t>A</a:t>
            </a:r>
            <a:r>
              <a:rPr lang="ko-KR" altLang="en-US" sz="1200" dirty="0">
                <a:solidFill>
                  <a:schemeClr val="tx2"/>
                </a:solidFill>
                <a:latin typeface="+mn-ea"/>
              </a:rPr>
              <a:t>가 되어야 할 것으로 인정</a:t>
            </a:r>
            <a:r>
              <a:rPr lang="en-US" altLang="ko-KR" sz="1200" dirty="0">
                <a:solidFill>
                  <a:schemeClr val="tx2"/>
                </a:solidFill>
                <a:latin typeface="+mn-ea"/>
              </a:rPr>
              <a:t>)</a:t>
            </a:r>
            <a:r>
              <a:rPr lang="ko-KR" altLang="en-US" sz="1200" dirty="0">
                <a:solidFill>
                  <a:schemeClr val="tx2"/>
                </a:solidFill>
                <a:latin typeface="+mn-ea"/>
              </a:rPr>
              <a:t>를 보정한 </a:t>
            </a:r>
            <a:r>
              <a:rPr lang="ko-KR" altLang="en-US" sz="1200" dirty="0" err="1">
                <a:solidFill>
                  <a:schemeClr val="tx2"/>
                </a:solidFill>
                <a:latin typeface="+mn-ea"/>
              </a:rPr>
              <a:t>청구항에</a:t>
            </a:r>
            <a:r>
              <a:rPr lang="ko-KR" altLang="en-US" sz="1200" dirty="0">
                <a:solidFill>
                  <a:schemeClr val="tx2"/>
                </a:solidFill>
                <a:latin typeface="+mn-ea"/>
              </a:rPr>
              <a:t> 대하여 다시 심사한 결과 구성요소 </a:t>
            </a:r>
            <a:r>
              <a:rPr lang="en-US" altLang="ko-KR" sz="1200" dirty="0">
                <a:solidFill>
                  <a:schemeClr val="tx2"/>
                </a:solidFill>
                <a:latin typeface="+mn-ea"/>
              </a:rPr>
              <a:t>A+C</a:t>
            </a:r>
            <a:r>
              <a:rPr lang="ko-KR" altLang="en-US" sz="1200" dirty="0">
                <a:solidFill>
                  <a:schemeClr val="tx2"/>
                </a:solidFill>
                <a:latin typeface="+mn-ea"/>
              </a:rPr>
              <a:t>로 된 장치에 관한 선행기술을 발견하여 거절이유를 통지하려는 경우</a:t>
            </a:r>
            <a:r>
              <a:rPr lang="en-US" altLang="ko-KR" sz="1200" dirty="0">
                <a:solidFill>
                  <a:schemeClr val="tx2"/>
                </a:solidFill>
                <a:latin typeface="+mn-ea"/>
              </a:rPr>
              <a:t>, </a:t>
            </a:r>
            <a:r>
              <a:rPr lang="ko-KR" altLang="en-US" sz="1200" dirty="0">
                <a:solidFill>
                  <a:schemeClr val="tx2"/>
                </a:solidFill>
                <a:latin typeface="+mn-ea"/>
              </a:rPr>
              <a:t>이는 보정 전 </a:t>
            </a:r>
            <a:r>
              <a:rPr lang="ko-KR" altLang="en-US" sz="1200" dirty="0" err="1">
                <a:solidFill>
                  <a:schemeClr val="tx2"/>
                </a:solidFill>
                <a:latin typeface="+mn-ea"/>
              </a:rPr>
              <a:t>청구항에</a:t>
            </a:r>
            <a:r>
              <a:rPr lang="ko-KR" altLang="en-US" sz="1200" dirty="0">
                <a:solidFill>
                  <a:schemeClr val="tx2"/>
                </a:solidFill>
                <a:latin typeface="+mn-ea"/>
              </a:rPr>
              <a:t> 기재된 발명에도 존재했던 </a:t>
            </a:r>
            <a:r>
              <a:rPr lang="ko-KR" altLang="en-US" sz="1200" dirty="0" err="1">
                <a:solidFill>
                  <a:schemeClr val="tx2"/>
                </a:solidFill>
                <a:latin typeface="+mn-ea"/>
              </a:rPr>
              <a:t>신규성</a:t>
            </a:r>
            <a:r>
              <a:rPr lang="ko-KR" altLang="en-US" sz="1200" dirty="0">
                <a:solidFill>
                  <a:schemeClr val="tx2"/>
                </a:solidFill>
                <a:latin typeface="+mn-ea"/>
              </a:rPr>
              <a:t> 또는 진보성의 거절이유이므로 최초거절이유를 통지한다</a:t>
            </a:r>
            <a:r>
              <a:rPr lang="en-US" altLang="ko-KR" sz="1200" dirty="0">
                <a:solidFill>
                  <a:schemeClr val="tx2"/>
                </a:solidFill>
                <a:latin typeface="+mn-ea"/>
              </a:rPr>
              <a:t>.</a:t>
            </a:r>
          </a:p>
          <a:p>
            <a:pPr marL="0" marR="0" lvl="0" indent="0" algn="just" defTabSz="914400" rtl="0" eaLnBrk="1" fontAlgn="base" latinLnBrk="1" hangingPunct="1">
              <a:lnSpc>
                <a:spcPct val="100000"/>
              </a:lnSpc>
              <a:spcBef>
                <a:spcPct val="0"/>
              </a:spcBef>
              <a:spcAft>
                <a:spcPct val="0"/>
              </a:spcAft>
              <a:buClrTx/>
              <a:buSzTx/>
              <a:buFontTx/>
              <a:buNone/>
              <a:tabLst>
                <a:tab pos="187325" algn="l"/>
                <a:tab pos="320675" algn="l"/>
              </a:tabLst>
            </a:pPr>
            <a:endParaRPr lang="en-US" altLang="ko-KR" sz="1200" dirty="0">
              <a:solidFill>
                <a:schemeClr val="tx2"/>
              </a:solidFill>
              <a:latin typeface="+mn-ea"/>
            </a:endParaRPr>
          </a:p>
          <a:p>
            <a:pPr marL="0" marR="0" lvl="0" indent="0" algn="just" defTabSz="914400" rtl="0" eaLnBrk="1" fontAlgn="base" latinLnBrk="1" hangingPunct="1">
              <a:lnSpc>
                <a:spcPct val="100000"/>
              </a:lnSpc>
              <a:spcBef>
                <a:spcPct val="0"/>
              </a:spcBef>
              <a:spcAft>
                <a:spcPct val="0"/>
              </a:spcAft>
              <a:buClrTx/>
              <a:buSzTx/>
              <a:buFontTx/>
              <a:buNone/>
              <a:tabLst>
                <a:tab pos="187325" algn="l"/>
                <a:tab pos="320675" algn="l"/>
              </a:tabLst>
            </a:pPr>
            <a:endParaRPr lang="en-US" altLang="ko-KR" sz="1200" dirty="0">
              <a:solidFill>
                <a:schemeClr val="tx2"/>
              </a:solidFill>
              <a:latin typeface="+mn-ea"/>
            </a:endParaRPr>
          </a:p>
          <a:p>
            <a:pPr marL="0" marR="0" lvl="0" indent="0" algn="just" defTabSz="914400" rtl="0" eaLnBrk="1" fontAlgn="base" latinLnBrk="1" hangingPunct="1">
              <a:lnSpc>
                <a:spcPct val="100000"/>
              </a:lnSpc>
              <a:spcBef>
                <a:spcPct val="0"/>
              </a:spcBef>
              <a:spcAft>
                <a:spcPct val="0"/>
              </a:spcAft>
              <a:buClrTx/>
              <a:buSzTx/>
              <a:buFontTx/>
              <a:buNone/>
              <a:tabLst>
                <a:tab pos="187325" algn="l"/>
                <a:tab pos="320675" algn="l"/>
              </a:tabLst>
            </a:pPr>
            <a:endParaRPr lang="en-US" altLang="ko-KR" sz="1200" dirty="0">
              <a:solidFill>
                <a:schemeClr val="tx2"/>
              </a:solidFill>
              <a:latin typeface="+mn-ea"/>
            </a:endParaRPr>
          </a:p>
          <a:p>
            <a:pPr marL="0" marR="0" lvl="0" indent="0" algn="just" defTabSz="914400" rtl="0" eaLnBrk="1" fontAlgn="base" latinLnBrk="1" hangingPunct="1">
              <a:lnSpc>
                <a:spcPct val="100000"/>
              </a:lnSpc>
              <a:spcBef>
                <a:spcPct val="0"/>
              </a:spcBef>
              <a:spcAft>
                <a:spcPct val="0"/>
              </a:spcAft>
              <a:buClrTx/>
              <a:buSzTx/>
              <a:buFontTx/>
              <a:buNone/>
              <a:tabLst>
                <a:tab pos="187325" algn="l"/>
                <a:tab pos="320675" algn="l"/>
              </a:tabLst>
            </a:pPr>
            <a:endParaRPr lang="en-US" altLang="ko-KR" sz="1200" dirty="0">
              <a:solidFill>
                <a:schemeClr val="tx2"/>
              </a:solidFill>
              <a:latin typeface="+mn-ea"/>
            </a:endParaRPr>
          </a:p>
          <a:p>
            <a:pPr marL="0" marR="0" lvl="0" indent="0" algn="just" defTabSz="914400" rtl="0" eaLnBrk="1" fontAlgn="base" latinLnBrk="1" hangingPunct="1">
              <a:lnSpc>
                <a:spcPct val="100000"/>
              </a:lnSpc>
              <a:spcBef>
                <a:spcPct val="0"/>
              </a:spcBef>
              <a:spcAft>
                <a:spcPct val="0"/>
              </a:spcAft>
              <a:buClrTx/>
              <a:buSzTx/>
              <a:buFontTx/>
              <a:buNone/>
              <a:tabLst>
                <a:tab pos="187325" algn="l"/>
                <a:tab pos="320675" algn="l"/>
              </a:tabLst>
            </a:pPr>
            <a:endParaRPr lang="en-US" altLang="ko-KR" sz="1200" dirty="0">
              <a:solidFill>
                <a:schemeClr val="tx2"/>
              </a:solidFill>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tab pos="187325" algn="l"/>
                <a:tab pos="320675" algn="l"/>
              </a:tabLst>
            </a:pPr>
            <a:r>
              <a:rPr lang="en-US" altLang="ko-KR" sz="1200" dirty="0">
                <a:solidFill>
                  <a:schemeClr val="tx2"/>
                </a:solidFill>
                <a:latin typeface="+mn-ea"/>
              </a:rPr>
              <a:t>【</a:t>
            </a:r>
            <a:r>
              <a:rPr lang="ko-KR" altLang="en-US" sz="1200" dirty="0">
                <a:solidFill>
                  <a:schemeClr val="tx2"/>
                </a:solidFill>
                <a:latin typeface="+mn-ea"/>
              </a:rPr>
              <a:t>예</a:t>
            </a:r>
            <a:r>
              <a:rPr lang="en-US" altLang="ko-KR" sz="1200" dirty="0">
                <a:solidFill>
                  <a:schemeClr val="tx2"/>
                </a:solidFill>
                <a:latin typeface="+mn-ea"/>
              </a:rPr>
              <a:t>2】</a:t>
            </a:r>
            <a:r>
              <a:rPr lang="ko-KR" altLang="en-US" sz="1200" dirty="0">
                <a:solidFill>
                  <a:schemeClr val="tx2"/>
                </a:solidFill>
                <a:latin typeface="+mn-ea"/>
              </a:rPr>
              <a:t>하나의 </a:t>
            </a:r>
            <a:r>
              <a:rPr lang="ko-KR" altLang="en-US" sz="1200" dirty="0" err="1">
                <a:solidFill>
                  <a:schemeClr val="tx2"/>
                </a:solidFill>
                <a:latin typeface="+mn-ea"/>
              </a:rPr>
              <a:t>청구항에</a:t>
            </a:r>
            <a:r>
              <a:rPr lang="ko-KR" altLang="en-US" sz="1200" dirty="0">
                <a:solidFill>
                  <a:schemeClr val="tx2"/>
                </a:solidFill>
                <a:latin typeface="+mn-ea"/>
              </a:rPr>
              <a:t> 기재된 둘 이상의 발명 중 일부에 대하여만 거절이유를 통지하였다가 나머지 발명에 대하여 거절이유를 통지하는 경우 그 </a:t>
            </a:r>
            <a:r>
              <a:rPr lang="ko-KR" altLang="en-US" sz="1200" dirty="0" err="1">
                <a:solidFill>
                  <a:schemeClr val="tx2"/>
                </a:solidFill>
                <a:latin typeface="+mn-ea"/>
              </a:rPr>
              <a:t>청구항이</a:t>
            </a:r>
            <a:r>
              <a:rPr lang="ko-KR" altLang="en-US" sz="1200" dirty="0">
                <a:solidFill>
                  <a:schemeClr val="tx2"/>
                </a:solidFill>
                <a:latin typeface="+mn-ea"/>
              </a:rPr>
              <a:t> 거절이유통지에 따라 보정되었더라도 최초거절이유를 통지하여야 한다</a:t>
            </a:r>
            <a:r>
              <a:rPr lang="en-US" altLang="ko-KR" sz="1200" dirty="0">
                <a:solidFill>
                  <a:schemeClr val="tx2"/>
                </a:solidFill>
                <a:latin typeface="+mn-ea"/>
              </a:rPr>
              <a:t>. </a:t>
            </a:r>
          </a:p>
        </p:txBody>
      </p:sp>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최초거절이유통지</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63" name="TextBox 62"/>
          <p:cNvSpPr txBox="1"/>
          <p:nvPr/>
        </p:nvSpPr>
        <p:spPr>
          <a:xfrm>
            <a:off x="184731" y="2270575"/>
            <a:ext cx="5749344" cy="305468"/>
          </a:xfrm>
          <a:prstGeom prst="rect">
            <a:avLst/>
          </a:prstGeom>
          <a:solidFill>
            <a:schemeClr val="bg1"/>
          </a:solidFill>
          <a:ln>
            <a:solidFill>
              <a:schemeClr val="accent6">
                <a:lumMod val="50000"/>
              </a:schemeClr>
            </a:solidFill>
          </a:ln>
        </p:spPr>
        <p:txBody>
          <a:bodyPr wrap="square" rtlCol="0" anchor="ctr">
            <a:noAutofit/>
          </a:bodyPr>
          <a:lstStyle/>
          <a:p>
            <a:r>
              <a:rPr lang="ko-KR" altLang="en-US" sz="1200" dirty="0">
                <a:solidFill>
                  <a:schemeClr val="tx2"/>
                </a:solidFill>
                <a:latin typeface="+mn-ea"/>
              </a:rPr>
              <a:t>자진보정이 있었는지 여부에 관계없이 심사가 착수된 이후 첫 번째의 거절이유통지인 경우</a:t>
            </a:r>
            <a:endParaRPr lang="en-US" altLang="ko-KR" sz="1200" dirty="0">
              <a:solidFill>
                <a:schemeClr val="tx2"/>
              </a:solidFill>
              <a:latin typeface="+mn-ea"/>
            </a:endParaRPr>
          </a:p>
        </p:txBody>
      </p:sp>
      <p:sp>
        <p:nvSpPr>
          <p:cNvPr id="64" name="TextBox 63"/>
          <p:cNvSpPr txBox="1"/>
          <p:nvPr/>
        </p:nvSpPr>
        <p:spPr>
          <a:xfrm>
            <a:off x="184731" y="2635600"/>
            <a:ext cx="5749344" cy="461247"/>
          </a:xfrm>
          <a:prstGeom prst="rect">
            <a:avLst/>
          </a:prstGeom>
          <a:solidFill>
            <a:schemeClr val="bg1"/>
          </a:solidFill>
          <a:ln>
            <a:solidFill>
              <a:schemeClr val="accent6">
                <a:lumMod val="50000"/>
              </a:schemeClr>
            </a:solidFill>
          </a:ln>
        </p:spPr>
        <p:txBody>
          <a:bodyPr wrap="square" rtlCol="0" anchor="ctr">
            <a:noAutofit/>
          </a:bodyPr>
          <a:lstStyle/>
          <a:p>
            <a:r>
              <a:rPr lang="ko-KR" altLang="en-US" sz="1200" dirty="0">
                <a:solidFill>
                  <a:schemeClr val="tx2"/>
                </a:solidFill>
                <a:latin typeface="+mn-ea"/>
              </a:rPr>
              <a:t>보정되지 아니한 보정식별항목</a:t>
            </a:r>
            <a:r>
              <a:rPr lang="en-US" altLang="ko-KR" sz="1200" dirty="0">
                <a:solidFill>
                  <a:schemeClr val="tx2"/>
                </a:solidFill>
                <a:latin typeface="+mn-ea"/>
              </a:rPr>
              <a:t>(</a:t>
            </a:r>
            <a:r>
              <a:rPr lang="ko-KR" altLang="en-US" sz="1200" dirty="0">
                <a:solidFill>
                  <a:schemeClr val="tx2"/>
                </a:solidFill>
                <a:latin typeface="+mn-ea"/>
              </a:rPr>
              <a:t>특허법 시행규칙 별지 제</a:t>
            </a:r>
            <a:r>
              <a:rPr lang="en-US" altLang="ko-KR" sz="1200" dirty="0">
                <a:solidFill>
                  <a:schemeClr val="tx2"/>
                </a:solidFill>
                <a:latin typeface="+mn-ea"/>
              </a:rPr>
              <a:t>9</a:t>
            </a:r>
            <a:r>
              <a:rPr lang="ko-KR" altLang="en-US" sz="1200" dirty="0" err="1">
                <a:solidFill>
                  <a:schemeClr val="tx2"/>
                </a:solidFill>
                <a:latin typeface="+mn-ea"/>
              </a:rPr>
              <a:t>호서식</a:t>
            </a:r>
            <a:r>
              <a:rPr lang="ko-KR" altLang="en-US" sz="1200" dirty="0">
                <a:solidFill>
                  <a:schemeClr val="tx2"/>
                </a:solidFill>
                <a:latin typeface="+mn-ea"/>
              </a:rPr>
              <a:t> 기재요령의 식별항목으로서 식별번호 등을 말한다</a:t>
            </a:r>
            <a:r>
              <a:rPr lang="en-US" altLang="ko-KR" sz="1200" dirty="0">
                <a:solidFill>
                  <a:schemeClr val="tx2"/>
                </a:solidFill>
                <a:latin typeface="+mn-ea"/>
              </a:rPr>
              <a:t>. </a:t>
            </a:r>
            <a:r>
              <a:rPr lang="ko-KR" altLang="en-US" sz="1200" dirty="0">
                <a:solidFill>
                  <a:schemeClr val="tx2"/>
                </a:solidFill>
                <a:latin typeface="+mn-ea"/>
              </a:rPr>
              <a:t>이하 같다</a:t>
            </a:r>
            <a:r>
              <a:rPr lang="en-US" altLang="ko-KR" sz="1200" dirty="0">
                <a:solidFill>
                  <a:schemeClr val="tx2"/>
                </a:solidFill>
                <a:latin typeface="+mn-ea"/>
              </a:rPr>
              <a:t>)</a:t>
            </a:r>
            <a:r>
              <a:rPr lang="ko-KR" altLang="en-US" sz="1200" dirty="0">
                <a:solidFill>
                  <a:schemeClr val="tx2"/>
                </a:solidFill>
                <a:latin typeface="+mn-ea"/>
              </a:rPr>
              <a:t>에 거절이유가 있는 경우</a:t>
            </a:r>
            <a:endParaRPr lang="en-US" altLang="ko-KR" sz="1200" dirty="0">
              <a:solidFill>
                <a:schemeClr val="tx2"/>
              </a:solidFill>
              <a:latin typeface="+mn-ea"/>
            </a:endParaRPr>
          </a:p>
        </p:txBody>
      </p:sp>
      <p:sp>
        <p:nvSpPr>
          <p:cNvPr id="65" name="TextBox 64"/>
          <p:cNvSpPr txBox="1"/>
          <p:nvPr/>
        </p:nvSpPr>
        <p:spPr>
          <a:xfrm>
            <a:off x="184731" y="3153094"/>
            <a:ext cx="5749344" cy="631927"/>
          </a:xfrm>
          <a:prstGeom prst="rect">
            <a:avLst/>
          </a:prstGeom>
          <a:solidFill>
            <a:schemeClr val="bg1">
              <a:lumMod val="95000"/>
            </a:schemeClr>
          </a:solidFill>
          <a:ln>
            <a:solidFill>
              <a:schemeClr val="accent6">
                <a:lumMod val="50000"/>
              </a:schemeClr>
            </a:solidFill>
          </a:ln>
        </p:spPr>
        <p:txBody>
          <a:bodyPr wrap="square" rtlCol="0" anchor="ctr">
            <a:noAutofit/>
          </a:bodyPr>
          <a:lstStyle/>
          <a:p>
            <a:r>
              <a:rPr lang="ko-KR" altLang="en-US" sz="1200" dirty="0">
                <a:solidFill>
                  <a:schemeClr val="tx2"/>
                </a:solidFill>
                <a:latin typeface="+mn-ea"/>
              </a:rPr>
              <a:t>거절이유통지 후 보정된 발명의 설명 또는 청구범위에 존재하는 거절이유라고 하더라도 그 거절이유가 보정에 의하여 발생된 것이 아니라 </a:t>
            </a:r>
            <a:r>
              <a:rPr lang="ko-KR" altLang="en-US" sz="1200" dirty="0" err="1">
                <a:solidFill>
                  <a:schemeClr val="tx2"/>
                </a:solidFill>
                <a:latin typeface="+mn-ea"/>
              </a:rPr>
              <a:t>최초거절이유통지시에도</a:t>
            </a:r>
            <a:r>
              <a:rPr lang="ko-KR" altLang="en-US" sz="1200" dirty="0">
                <a:solidFill>
                  <a:schemeClr val="tx2"/>
                </a:solidFill>
                <a:latin typeface="+mn-ea"/>
              </a:rPr>
              <a:t> 발명의 설명 또는 청구범위에 존재하던 거절이유인 경우</a:t>
            </a:r>
            <a:endParaRPr lang="en-US" altLang="ko-KR" sz="1200" dirty="0">
              <a:solidFill>
                <a:schemeClr val="tx2"/>
              </a:solidFill>
              <a:latin typeface="+mn-ea"/>
            </a:endParaRPr>
          </a:p>
        </p:txBody>
      </p:sp>
      <p:cxnSp>
        <p:nvCxnSpPr>
          <p:cNvPr id="66" name="직선 연결선 65"/>
          <p:cNvCxnSpPr/>
          <p:nvPr/>
        </p:nvCxnSpPr>
        <p:spPr>
          <a:xfrm>
            <a:off x="65" y="215529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77875" y="976902"/>
            <a:ext cx="11936323" cy="1169551"/>
          </a:xfrm>
          <a:prstGeom prst="rect">
            <a:avLst/>
          </a:prstGeom>
          <a:noFill/>
        </p:spPr>
        <p:txBody>
          <a:bodyPr wrap="square" rtlCol="0">
            <a:spAutoFit/>
          </a:bodyPr>
          <a:lstStyle/>
          <a:p>
            <a:r>
              <a:rPr lang="ko-KR" altLang="en-US" sz="1400" dirty="0">
                <a:solidFill>
                  <a:schemeClr val="tx2"/>
                </a:solidFill>
                <a:latin typeface="+mn-ea"/>
              </a:rPr>
              <a:t>「 </a:t>
            </a:r>
            <a:r>
              <a:rPr lang="ko-KR" altLang="en-US" sz="1400" dirty="0" err="1">
                <a:solidFill>
                  <a:schemeClr val="tx2"/>
                </a:solidFill>
                <a:latin typeface="+mn-ea"/>
              </a:rPr>
              <a:t>최초거절이유통지」란</a:t>
            </a:r>
            <a:r>
              <a:rPr lang="ko-KR" altLang="en-US" sz="1400" dirty="0">
                <a:solidFill>
                  <a:schemeClr val="tx2"/>
                </a:solidFill>
                <a:latin typeface="+mn-ea"/>
              </a:rPr>
              <a:t> 제</a:t>
            </a:r>
            <a:r>
              <a:rPr lang="en-US" altLang="ko-KR" sz="1400" dirty="0">
                <a:solidFill>
                  <a:schemeClr val="tx2"/>
                </a:solidFill>
                <a:latin typeface="+mn-ea"/>
              </a:rPr>
              <a:t>63</a:t>
            </a:r>
            <a:r>
              <a:rPr lang="ko-KR" altLang="en-US" sz="1400" dirty="0">
                <a:solidFill>
                  <a:schemeClr val="tx2"/>
                </a:solidFill>
                <a:latin typeface="+mn-ea"/>
              </a:rPr>
              <a:t>조에 따라 </a:t>
            </a:r>
            <a:r>
              <a:rPr lang="ko-KR" altLang="en-US" sz="1400" dirty="0" err="1">
                <a:solidFill>
                  <a:schemeClr val="tx2"/>
                </a:solidFill>
                <a:latin typeface="+mn-ea"/>
              </a:rPr>
              <a:t>거절이유통지를</a:t>
            </a:r>
            <a:r>
              <a:rPr lang="ko-KR" altLang="en-US" sz="1400" dirty="0">
                <a:solidFill>
                  <a:schemeClr val="tx2"/>
                </a:solidFill>
                <a:latin typeface="+mn-ea"/>
              </a:rPr>
              <a:t> 최초로 받거나 </a:t>
            </a:r>
            <a:r>
              <a:rPr lang="ko-KR" altLang="en-US" sz="1400" dirty="0" err="1">
                <a:solidFill>
                  <a:schemeClr val="tx2"/>
                </a:solidFill>
                <a:latin typeface="+mn-ea"/>
              </a:rPr>
              <a:t>최후거절이유통지가</a:t>
            </a:r>
            <a:r>
              <a:rPr lang="ko-KR" altLang="en-US" sz="1400" dirty="0">
                <a:solidFill>
                  <a:schemeClr val="tx2"/>
                </a:solidFill>
                <a:latin typeface="+mn-ea"/>
              </a:rPr>
              <a:t> 아닌 </a:t>
            </a:r>
            <a:r>
              <a:rPr lang="ko-KR" altLang="en-US" sz="1400" dirty="0" err="1">
                <a:solidFill>
                  <a:schemeClr val="tx2"/>
                </a:solidFill>
                <a:latin typeface="+mn-ea"/>
              </a:rPr>
              <a:t>거절이유통지를</a:t>
            </a:r>
            <a:r>
              <a:rPr lang="ko-KR" altLang="en-US" sz="1400" dirty="0">
                <a:solidFill>
                  <a:schemeClr val="tx2"/>
                </a:solidFill>
                <a:latin typeface="+mn-ea"/>
              </a:rPr>
              <a:t> 말한다</a:t>
            </a:r>
            <a:r>
              <a:rPr lang="en-US" altLang="ko-KR" sz="1400" dirty="0">
                <a:solidFill>
                  <a:schemeClr val="tx2"/>
                </a:solidFill>
                <a:latin typeface="+mn-ea"/>
              </a:rPr>
              <a:t>. </a:t>
            </a:r>
            <a:r>
              <a:rPr lang="ko-KR" altLang="en-US" sz="1400" dirty="0">
                <a:solidFill>
                  <a:schemeClr val="tx2"/>
                </a:solidFill>
                <a:latin typeface="+mn-ea"/>
              </a:rPr>
              <a:t>「</a:t>
            </a:r>
            <a:r>
              <a:rPr lang="ko-KR" altLang="en-US" sz="1400" dirty="0" err="1">
                <a:solidFill>
                  <a:schemeClr val="tx2"/>
                </a:solidFill>
                <a:latin typeface="+mn-ea"/>
              </a:rPr>
              <a:t>최후거절이유통지가</a:t>
            </a:r>
            <a:r>
              <a:rPr lang="ko-KR" altLang="en-US" sz="1400" dirty="0">
                <a:solidFill>
                  <a:schemeClr val="tx2"/>
                </a:solidFill>
                <a:latin typeface="+mn-ea"/>
              </a:rPr>
              <a:t> 아닌 </a:t>
            </a:r>
            <a:r>
              <a:rPr lang="ko-KR" altLang="en-US" sz="1400" dirty="0" err="1">
                <a:solidFill>
                  <a:schemeClr val="tx2"/>
                </a:solidFill>
                <a:latin typeface="+mn-ea"/>
              </a:rPr>
              <a:t>거절이유통지」란</a:t>
            </a:r>
            <a:r>
              <a:rPr lang="ko-KR" altLang="en-US" sz="1400" dirty="0">
                <a:solidFill>
                  <a:schemeClr val="tx2"/>
                </a:solidFill>
                <a:latin typeface="+mn-ea"/>
              </a:rPr>
              <a:t> </a:t>
            </a:r>
            <a:r>
              <a:rPr lang="en-US" altLang="ko-KR" sz="1400" dirty="0">
                <a:solidFill>
                  <a:schemeClr val="tx2"/>
                </a:solidFill>
                <a:latin typeface="+mn-ea"/>
              </a:rPr>
              <a:t>ⅰ) </a:t>
            </a:r>
            <a:r>
              <a:rPr lang="ko-KR" altLang="en-US" sz="1400" dirty="0" err="1">
                <a:solidFill>
                  <a:schemeClr val="tx2"/>
                </a:solidFill>
                <a:latin typeface="+mn-ea"/>
              </a:rPr>
              <a:t>특허출원한</a:t>
            </a:r>
            <a:r>
              <a:rPr lang="ko-KR" altLang="en-US" sz="1400" dirty="0">
                <a:solidFill>
                  <a:schemeClr val="tx2"/>
                </a:solidFill>
                <a:latin typeface="+mn-ea"/>
              </a:rPr>
              <a:t> 발명에 원시적으로 거절이유가 존재하였는데 심사관이 간과한 후 나중에 이를 발견한 경우에 그 거절이유에 대한 </a:t>
            </a:r>
            <a:r>
              <a:rPr lang="ko-KR" altLang="en-US" sz="1400" dirty="0" err="1">
                <a:solidFill>
                  <a:schemeClr val="tx2"/>
                </a:solidFill>
                <a:latin typeface="+mn-ea"/>
              </a:rPr>
              <a:t>거절이유통지</a:t>
            </a:r>
            <a:r>
              <a:rPr lang="en-US" altLang="ko-KR" sz="1400" dirty="0">
                <a:solidFill>
                  <a:schemeClr val="tx2"/>
                </a:solidFill>
                <a:latin typeface="+mn-ea"/>
              </a:rPr>
              <a:t>, ⅱ) </a:t>
            </a:r>
            <a:r>
              <a:rPr lang="ko-KR" altLang="en-US" sz="1400" dirty="0">
                <a:solidFill>
                  <a:schemeClr val="tx2"/>
                </a:solidFill>
                <a:latin typeface="+mn-ea"/>
              </a:rPr>
              <a:t>심사관이 직권 재심사를 하려고 </a:t>
            </a:r>
            <a:r>
              <a:rPr lang="ko-KR" altLang="en-US" sz="1400" dirty="0" err="1">
                <a:solidFill>
                  <a:schemeClr val="tx2"/>
                </a:solidFill>
                <a:latin typeface="+mn-ea"/>
              </a:rPr>
              <a:t>특허출원인에게</a:t>
            </a:r>
            <a:r>
              <a:rPr lang="ko-KR" altLang="en-US" sz="1400" dirty="0">
                <a:solidFill>
                  <a:schemeClr val="tx2"/>
                </a:solidFill>
                <a:latin typeface="+mn-ea"/>
              </a:rPr>
              <a:t> 특허결정을 취소한다는 사실을 통지한 경우에</a:t>
            </a:r>
            <a:r>
              <a:rPr lang="en-US" altLang="ko-KR" sz="1400" dirty="0">
                <a:solidFill>
                  <a:schemeClr val="tx2"/>
                </a:solidFill>
                <a:latin typeface="+mn-ea"/>
              </a:rPr>
              <a:t>(</a:t>
            </a:r>
            <a:r>
              <a:rPr lang="ko-KR" altLang="en-US" sz="1400" dirty="0">
                <a:solidFill>
                  <a:schemeClr val="tx2"/>
                </a:solidFill>
                <a:latin typeface="+mn-ea"/>
              </a:rPr>
              <a:t>法 </a:t>
            </a:r>
            <a:r>
              <a:rPr lang="en-US" altLang="ko-KR" sz="1400" dirty="0">
                <a:solidFill>
                  <a:schemeClr val="tx2"/>
                </a:solidFill>
                <a:latin typeface="+mn-ea"/>
              </a:rPr>
              <a:t>66</a:t>
            </a:r>
            <a:r>
              <a:rPr lang="ko-KR" altLang="en-US" sz="1400" dirty="0">
                <a:solidFill>
                  <a:schemeClr val="tx2"/>
                </a:solidFill>
                <a:latin typeface="+mn-ea"/>
              </a:rPr>
              <a:t>의</a:t>
            </a:r>
            <a:r>
              <a:rPr lang="en-US" altLang="ko-KR" sz="1400" dirty="0">
                <a:solidFill>
                  <a:schemeClr val="tx2"/>
                </a:solidFill>
                <a:latin typeface="+mn-ea"/>
              </a:rPr>
              <a:t>3②) </a:t>
            </a:r>
            <a:r>
              <a:rPr lang="ko-KR" altLang="en-US" sz="1400" dirty="0">
                <a:solidFill>
                  <a:schemeClr val="tx2"/>
                </a:solidFill>
                <a:latin typeface="+mn-ea"/>
              </a:rPr>
              <a:t>그 통지 전의 </a:t>
            </a:r>
            <a:r>
              <a:rPr lang="ko-KR" altLang="en-US" sz="1400" dirty="0" err="1">
                <a:solidFill>
                  <a:schemeClr val="tx2"/>
                </a:solidFill>
                <a:latin typeface="+mn-ea"/>
              </a:rPr>
              <a:t>거절이유통지에</a:t>
            </a:r>
            <a:r>
              <a:rPr lang="ko-KR" altLang="en-US" sz="1400" dirty="0">
                <a:solidFill>
                  <a:schemeClr val="tx2"/>
                </a:solidFill>
                <a:latin typeface="+mn-ea"/>
              </a:rPr>
              <a:t> 대한 보정에 따라 발생한 거절이유에 대한 </a:t>
            </a:r>
            <a:r>
              <a:rPr lang="ko-KR" altLang="en-US" sz="1400" dirty="0" err="1">
                <a:solidFill>
                  <a:schemeClr val="tx2"/>
                </a:solidFill>
                <a:latin typeface="+mn-ea"/>
              </a:rPr>
              <a:t>거절이유통지</a:t>
            </a:r>
            <a:r>
              <a:rPr lang="ko-KR" altLang="en-US" sz="1400" dirty="0">
                <a:solidFill>
                  <a:schemeClr val="tx2"/>
                </a:solidFill>
                <a:latin typeface="+mn-ea"/>
              </a:rPr>
              <a:t> 또는 </a:t>
            </a:r>
            <a:r>
              <a:rPr lang="en-US" altLang="ko-KR" sz="1400" dirty="0">
                <a:solidFill>
                  <a:schemeClr val="tx2"/>
                </a:solidFill>
                <a:latin typeface="+mn-ea"/>
              </a:rPr>
              <a:t>ⅲ) </a:t>
            </a:r>
            <a:r>
              <a:rPr lang="ko-KR" altLang="en-US" sz="1400" dirty="0">
                <a:solidFill>
                  <a:schemeClr val="tx2"/>
                </a:solidFill>
                <a:latin typeface="+mn-ea"/>
              </a:rPr>
              <a:t>거절결정불복심판에서 </a:t>
            </a:r>
            <a:r>
              <a:rPr lang="ko-KR" altLang="en-US" sz="1400" dirty="0" err="1">
                <a:solidFill>
                  <a:schemeClr val="tx2"/>
                </a:solidFill>
                <a:latin typeface="+mn-ea"/>
              </a:rPr>
              <a:t>취소환송되었는데</a:t>
            </a:r>
            <a:r>
              <a:rPr lang="ko-KR" altLang="en-US" sz="1400" dirty="0">
                <a:solidFill>
                  <a:schemeClr val="tx2"/>
                </a:solidFill>
                <a:latin typeface="+mn-ea"/>
              </a:rPr>
              <a:t> </a:t>
            </a:r>
            <a:r>
              <a:rPr lang="ko-KR" altLang="en-US" sz="1400" dirty="0" err="1">
                <a:solidFill>
                  <a:schemeClr val="tx2"/>
                </a:solidFill>
                <a:latin typeface="+mn-ea"/>
              </a:rPr>
              <a:t>취소환송</a:t>
            </a:r>
            <a:r>
              <a:rPr lang="ko-KR" altLang="en-US" sz="1400" dirty="0">
                <a:solidFill>
                  <a:schemeClr val="tx2"/>
                </a:solidFill>
                <a:latin typeface="+mn-ea"/>
              </a:rPr>
              <a:t> 전의 </a:t>
            </a:r>
            <a:r>
              <a:rPr lang="ko-KR" altLang="en-US" sz="1400" dirty="0" err="1">
                <a:solidFill>
                  <a:schemeClr val="tx2"/>
                </a:solidFill>
                <a:latin typeface="+mn-ea"/>
              </a:rPr>
              <a:t>거절이유통지에</a:t>
            </a:r>
            <a:r>
              <a:rPr lang="ko-KR" altLang="en-US" sz="1400" dirty="0">
                <a:solidFill>
                  <a:schemeClr val="tx2"/>
                </a:solidFill>
                <a:latin typeface="+mn-ea"/>
              </a:rPr>
              <a:t> 대한 보정에 따라 발생한 거절이유에 대한 </a:t>
            </a:r>
            <a:r>
              <a:rPr lang="ko-KR" altLang="en-US" sz="1400" dirty="0" err="1">
                <a:solidFill>
                  <a:schemeClr val="tx2"/>
                </a:solidFill>
                <a:latin typeface="+mn-ea"/>
              </a:rPr>
              <a:t>거절이유통지를</a:t>
            </a:r>
            <a:r>
              <a:rPr lang="ko-KR" altLang="en-US" sz="1400" dirty="0">
                <a:solidFill>
                  <a:schemeClr val="tx2"/>
                </a:solidFill>
                <a:latin typeface="+mn-ea"/>
              </a:rPr>
              <a:t> 말한다</a:t>
            </a:r>
            <a:r>
              <a:rPr lang="en-US" altLang="ko-KR" sz="1400" dirty="0">
                <a:solidFill>
                  <a:schemeClr val="tx2"/>
                </a:solidFill>
                <a:latin typeface="+mn-ea"/>
              </a:rPr>
              <a:t>. </a:t>
            </a:r>
          </a:p>
        </p:txBody>
      </p:sp>
      <p:sp>
        <p:nvSpPr>
          <p:cNvPr id="68" name="TextBox 67"/>
          <p:cNvSpPr txBox="1"/>
          <p:nvPr/>
        </p:nvSpPr>
        <p:spPr>
          <a:xfrm>
            <a:off x="184731" y="3861191"/>
            <a:ext cx="5749344" cy="350968"/>
          </a:xfrm>
          <a:prstGeom prst="rect">
            <a:avLst/>
          </a:prstGeom>
          <a:solidFill>
            <a:schemeClr val="accent4">
              <a:lumMod val="20000"/>
              <a:lumOff val="80000"/>
            </a:schemeClr>
          </a:solidFill>
          <a:ln>
            <a:solidFill>
              <a:schemeClr val="accent6">
                <a:lumMod val="50000"/>
              </a:schemeClr>
            </a:solidFill>
          </a:ln>
        </p:spPr>
        <p:txBody>
          <a:bodyPr wrap="square" rtlCol="0" anchor="ctr">
            <a:noAutofit/>
          </a:bodyPr>
          <a:lstStyle/>
          <a:p>
            <a:r>
              <a:rPr lang="ko-KR" altLang="en-US" sz="1200" dirty="0">
                <a:solidFill>
                  <a:schemeClr val="tx2"/>
                </a:solidFill>
                <a:latin typeface="+mn-ea"/>
              </a:rPr>
              <a:t>보정 외적인 요인에 의하여 거절이유가 발생한 경우</a:t>
            </a:r>
            <a:endParaRPr lang="en-US" altLang="ko-KR" sz="1200" dirty="0">
              <a:solidFill>
                <a:schemeClr val="tx2"/>
              </a:solidFill>
              <a:latin typeface="+mn-ea"/>
            </a:endParaRPr>
          </a:p>
        </p:txBody>
      </p:sp>
      <p:sp>
        <p:nvSpPr>
          <p:cNvPr id="69" name="TextBox 68"/>
          <p:cNvSpPr txBox="1"/>
          <p:nvPr/>
        </p:nvSpPr>
        <p:spPr>
          <a:xfrm>
            <a:off x="184731" y="4288845"/>
            <a:ext cx="5749344" cy="551557"/>
          </a:xfrm>
          <a:prstGeom prst="rect">
            <a:avLst/>
          </a:prstGeom>
          <a:solidFill>
            <a:schemeClr val="bg1"/>
          </a:solidFill>
          <a:ln>
            <a:solidFill>
              <a:schemeClr val="accent6">
                <a:lumMod val="50000"/>
              </a:schemeClr>
            </a:solidFill>
          </a:ln>
        </p:spPr>
        <p:txBody>
          <a:bodyPr wrap="square" rtlCol="0" anchor="ctr">
            <a:noAutofit/>
          </a:bodyPr>
          <a:lstStyle/>
          <a:p>
            <a:r>
              <a:rPr lang="ko-KR" altLang="en-US" sz="1200" dirty="0">
                <a:solidFill>
                  <a:schemeClr val="tx2"/>
                </a:solidFill>
                <a:latin typeface="+mn-ea"/>
              </a:rPr>
              <a:t>직권 재심사를 하려고 </a:t>
            </a:r>
            <a:r>
              <a:rPr lang="ko-KR" altLang="en-US" sz="1200" dirty="0" err="1">
                <a:solidFill>
                  <a:schemeClr val="tx2"/>
                </a:solidFill>
                <a:latin typeface="+mn-ea"/>
              </a:rPr>
              <a:t>특허출원인에게</a:t>
            </a:r>
            <a:r>
              <a:rPr lang="ko-KR" altLang="en-US" sz="1200" dirty="0">
                <a:solidFill>
                  <a:schemeClr val="tx2"/>
                </a:solidFill>
                <a:latin typeface="+mn-ea"/>
              </a:rPr>
              <a:t> 특허결정을 취소한다는 사실을 통지한 후 그 통지 전의 거절이유통지에 대한 보정에 따라 발생한 거절이유를 발견한 경우</a:t>
            </a:r>
            <a:endParaRPr lang="en-US" altLang="ko-KR" sz="1200" dirty="0">
              <a:solidFill>
                <a:schemeClr val="tx2"/>
              </a:solidFill>
              <a:latin typeface="+mn-ea"/>
            </a:endParaRPr>
          </a:p>
        </p:txBody>
      </p:sp>
      <p:sp>
        <p:nvSpPr>
          <p:cNvPr id="70" name="TextBox 69"/>
          <p:cNvSpPr txBox="1"/>
          <p:nvPr/>
        </p:nvSpPr>
        <p:spPr>
          <a:xfrm>
            <a:off x="184731" y="4907970"/>
            <a:ext cx="5749344" cy="551557"/>
          </a:xfrm>
          <a:prstGeom prst="rect">
            <a:avLst/>
          </a:prstGeom>
          <a:solidFill>
            <a:schemeClr val="bg1"/>
          </a:solidFill>
          <a:ln>
            <a:solidFill>
              <a:schemeClr val="accent6">
                <a:lumMod val="50000"/>
              </a:schemeClr>
            </a:solidFill>
          </a:ln>
        </p:spPr>
        <p:txBody>
          <a:bodyPr wrap="square" rtlCol="0" anchor="ctr">
            <a:noAutofit/>
          </a:bodyPr>
          <a:lstStyle/>
          <a:p>
            <a:r>
              <a:rPr lang="ko-KR" altLang="en-US" sz="1200" dirty="0">
                <a:solidFill>
                  <a:schemeClr val="tx2"/>
                </a:solidFill>
                <a:latin typeface="+mn-ea"/>
              </a:rPr>
              <a:t>거절결정불복심판에서 </a:t>
            </a:r>
            <a:r>
              <a:rPr lang="ko-KR" altLang="en-US" sz="1200" dirty="0" err="1">
                <a:solidFill>
                  <a:schemeClr val="tx2"/>
                </a:solidFill>
                <a:latin typeface="+mn-ea"/>
              </a:rPr>
              <a:t>취소환송된</a:t>
            </a:r>
            <a:r>
              <a:rPr lang="ko-KR" altLang="en-US" sz="1200" dirty="0">
                <a:solidFill>
                  <a:schemeClr val="tx2"/>
                </a:solidFill>
                <a:latin typeface="+mn-ea"/>
              </a:rPr>
              <a:t> 출원은 취소환송 전의 거절이유통지에 대한 보정에 따라 발생한 거절이유를 발견한 경우 </a:t>
            </a:r>
            <a:endParaRPr lang="en-US" altLang="ko-KR" sz="1200" dirty="0">
              <a:solidFill>
                <a:schemeClr val="tx2"/>
              </a:solidFill>
              <a:latin typeface="+mn-ea"/>
            </a:endParaRPr>
          </a:p>
        </p:txBody>
      </p:sp>
      <p:graphicFrame>
        <p:nvGraphicFramePr>
          <p:cNvPr id="71" name="표 70"/>
          <p:cNvGraphicFramePr>
            <a:graphicFrameLocks noGrp="1"/>
          </p:cNvGraphicFramePr>
          <p:nvPr/>
        </p:nvGraphicFramePr>
        <p:xfrm>
          <a:off x="6665594" y="3341243"/>
          <a:ext cx="5107305" cy="761226"/>
        </p:xfrm>
        <a:graphic>
          <a:graphicData uri="http://schemas.openxmlformats.org/drawingml/2006/table">
            <a:tbl>
              <a:tblPr>
                <a:tableStyleId>{8799B23B-EC83-4686-B30A-512413B5E67A}</a:tableStyleId>
              </a:tblPr>
              <a:tblGrid>
                <a:gridCol w="2581312">
                  <a:extLst>
                    <a:ext uri="{9D8B030D-6E8A-4147-A177-3AD203B41FA5}">
                      <a16:colId xmlns:a16="http://schemas.microsoft.com/office/drawing/2014/main" val="20000"/>
                    </a:ext>
                  </a:extLst>
                </a:gridCol>
                <a:gridCol w="2525993">
                  <a:extLst>
                    <a:ext uri="{9D8B030D-6E8A-4147-A177-3AD203B41FA5}">
                      <a16:colId xmlns:a16="http://schemas.microsoft.com/office/drawing/2014/main" val="20001"/>
                    </a:ext>
                  </a:extLst>
                </a:gridCol>
              </a:tblGrid>
              <a:tr h="260401">
                <a:tc>
                  <a:txBody>
                    <a:bodyPr/>
                    <a:lstStyle/>
                    <a:p>
                      <a:pPr marL="17780" marR="17780" indent="0" algn="ctr" fontAlgn="base" latinLnBrk="0">
                        <a:lnSpc>
                          <a:spcPct val="130000"/>
                        </a:lnSpc>
                        <a:spcBef>
                          <a:spcPts val="0"/>
                        </a:spcBef>
                        <a:spcAft>
                          <a:spcPts val="0"/>
                        </a:spcAft>
                      </a:pPr>
                      <a:r>
                        <a:rPr lang="ko-KR" altLang="en-US" sz="1200" kern="1200" dirty="0"/>
                        <a:t>보정 전</a:t>
                      </a:r>
                      <a:endParaRPr lang="ko-KR" altLang="en-US" sz="1200" kern="1200" dirty="0">
                        <a:solidFill>
                          <a:schemeClr val="tx2"/>
                        </a:solidFill>
                        <a:latin typeface="+mn-ea"/>
                        <a:ea typeface="+mn-ea"/>
                        <a:cs typeface="+mn-cs"/>
                      </a:endParaRPr>
                    </a:p>
                  </a:txBody>
                  <a:tcPr marL="17907" marR="17907" marT="19698" marB="19698" anchor="ctr">
                    <a:solidFill>
                      <a:schemeClr val="accent1">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200" kern="1200" dirty="0"/>
                        <a:t>보정 후</a:t>
                      </a:r>
                      <a:endParaRPr lang="ko-KR" altLang="en-US" sz="1200" kern="1200" dirty="0">
                        <a:solidFill>
                          <a:schemeClr val="tx2"/>
                        </a:solidFill>
                        <a:latin typeface="+mn-ea"/>
                        <a:ea typeface="+mn-ea"/>
                        <a:cs typeface="+mn-cs"/>
                      </a:endParaRPr>
                    </a:p>
                  </a:txBody>
                  <a:tcPr marL="17907" marR="17907" marT="19698" marB="19698" anchor="ctr">
                    <a:solidFill>
                      <a:schemeClr val="accent1">
                        <a:lumMod val="20000"/>
                        <a:lumOff val="80000"/>
                      </a:schemeClr>
                    </a:solidFill>
                  </a:tcPr>
                </a:tc>
                <a:extLst>
                  <a:ext uri="{0D108BD9-81ED-4DB2-BD59-A6C34878D82A}">
                    <a16:rowId xmlns:a16="http://schemas.microsoft.com/office/drawing/2014/main" val="10000"/>
                  </a:ext>
                </a:extLst>
              </a:tr>
              <a:tr h="500825">
                <a:tc>
                  <a:txBody>
                    <a:bodyPr/>
                    <a:lstStyle/>
                    <a:p>
                      <a:pPr marL="17780" marR="17780" indent="0" algn="just" fontAlgn="base" latinLnBrk="1">
                        <a:lnSpc>
                          <a:spcPct val="130000"/>
                        </a:lnSpc>
                        <a:spcBef>
                          <a:spcPts val="0"/>
                        </a:spcBef>
                        <a:spcAft>
                          <a:spcPts val="0"/>
                        </a:spcAft>
                      </a:pPr>
                      <a:r>
                        <a:rPr lang="ko-KR" altLang="en-US" sz="1200" kern="1200" dirty="0"/>
                        <a:t>청구항 </a:t>
                      </a:r>
                      <a:r>
                        <a:rPr lang="en-US" altLang="ko-KR" sz="1200" kern="1200" dirty="0"/>
                        <a:t>1: </a:t>
                      </a:r>
                      <a:r>
                        <a:rPr lang="ko-KR" altLang="en-US" sz="1200" kern="1200" dirty="0"/>
                        <a:t>구성요소 </a:t>
                      </a:r>
                      <a:r>
                        <a:rPr lang="en-US" altLang="ko-KR" sz="1200" kern="1200" dirty="0"/>
                        <a:t>A' </a:t>
                      </a:r>
                      <a:r>
                        <a:rPr lang="ko-KR" altLang="en-US" sz="1200" kern="1200" dirty="0"/>
                        <a:t>또는 </a:t>
                      </a:r>
                      <a:r>
                        <a:rPr lang="en-US" altLang="ko-KR" sz="1200" kern="1200" dirty="0"/>
                        <a:t>B</a:t>
                      </a:r>
                      <a:r>
                        <a:rPr lang="ko-KR" altLang="en-US" sz="1200" kern="1200" dirty="0"/>
                        <a:t>에 </a:t>
                      </a:r>
                      <a:r>
                        <a:rPr lang="en-US" altLang="ko-KR" sz="1200" kern="1200" dirty="0"/>
                        <a:t>C</a:t>
                      </a:r>
                      <a:r>
                        <a:rPr lang="ko-KR" altLang="en-US" sz="1200" kern="1200" dirty="0"/>
                        <a:t>를 부가한 장치</a:t>
                      </a:r>
                      <a:endParaRPr lang="ko-KR" altLang="en-US" sz="1200" kern="1200" dirty="0">
                        <a:solidFill>
                          <a:schemeClr val="tx2"/>
                        </a:solidFill>
                        <a:latin typeface="+mn-ea"/>
                        <a:ea typeface="+mn-ea"/>
                        <a:cs typeface="+mn-cs"/>
                      </a:endParaRPr>
                    </a:p>
                  </a:txBody>
                  <a:tcPr marL="17907" marR="17907" marT="19698" marB="19698" anchor="ctr"/>
                </a:tc>
                <a:tc>
                  <a:txBody>
                    <a:bodyPr/>
                    <a:lstStyle/>
                    <a:p>
                      <a:pPr marL="17780" marR="17780" indent="0" algn="just" fontAlgn="base" latinLnBrk="1">
                        <a:lnSpc>
                          <a:spcPct val="130000"/>
                        </a:lnSpc>
                        <a:spcBef>
                          <a:spcPts val="0"/>
                        </a:spcBef>
                        <a:spcAft>
                          <a:spcPts val="0"/>
                        </a:spcAft>
                      </a:pPr>
                      <a:r>
                        <a:rPr lang="ko-KR" altLang="en-US" sz="1200" kern="1200" dirty="0" err="1"/>
                        <a:t>청구항</a:t>
                      </a:r>
                      <a:r>
                        <a:rPr lang="ko-KR" altLang="en-US" sz="1200" kern="1200" dirty="0"/>
                        <a:t> </a:t>
                      </a:r>
                      <a:r>
                        <a:rPr lang="en-US" altLang="ko-KR" sz="1200" kern="1200" dirty="0"/>
                        <a:t>1: </a:t>
                      </a:r>
                      <a:r>
                        <a:rPr lang="ko-KR" altLang="en-US" sz="1200" kern="1200" dirty="0"/>
                        <a:t>구성요소 </a:t>
                      </a:r>
                      <a:r>
                        <a:rPr lang="en-US" altLang="ko-KR" sz="1200" kern="1200" dirty="0"/>
                        <a:t>A </a:t>
                      </a:r>
                      <a:r>
                        <a:rPr lang="ko-KR" altLang="en-US" sz="1200" kern="1200" dirty="0"/>
                        <a:t>또는 </a:t>
                      </a:r>
                      <a:r>
                        <a:rPr lang="en-US" altLang="ko-KR" sz="1200" kern="1200" dirty="0"/>
                        <a:t>B</a:t>
                      </a:r>
                      <a:r>
                        <a:rPr lang="ko-KR" altLang="en-US" sz="1200" kern="1200" dirty="0"/>
                        <a:t>에 </a:t>
                      </a:r>
                      <a:r>
                        <a:rPr lang="en-US" altLang="ko-KR" sz="1200" kern="1200" dirty="0"/>
                        <a:t>C</a:t>
                      </a:r>
                      <a:r>
                        <a:rPr lang="ko-KR" altLang="en-US" sz="1200" kern="1200" dirty="0"/>
                        <a:t>를 부가한 장치</a:t>
                      </a:r>
                      <a:endParaRPr lang="ko-KR" altLang="en-US" sz="1200" kern="1200" dirty="0">
                        <a:solidFill>
                          <a:schemeClr val="tx2"/>
                        </a:solidFill>
                        <a:latin typeface="+mn-ea"/>
                        <a:ea typeface="+mn-ea"/>
                        <a:cs typeface="+mn-cs"/>
                      </a:endParaRPr>
                    </a:p>
                  </a:txBody>
                  <a:tcPr marL="17907" marR="17907" marT="19698" marB="19698" anchor="ctr"/>
                </a:tc>
                <a:extLst>
                  <a:ext uri="{0D108BD9-81ED-4DB2-BD59-A6C34878D82A}">
                    <a16:rowId xmlns:a16="http://schemas.microsoft.com/office/drawing/2014/main" val="10001"/>
                  </a:ext>
                </a:extLst>
              </a:tr>
            </a:tbl>
          </a:graphicData>
        </a:graphic>
      </p:graphicFrame>
      <p:sp>
        <p:nvSpPr>
          <p:cNvPr id="73" name="Rectangle 1"/>
          <p:cNvSpPr>
            <a:spLocks noChangeArrowheads="1"/>
          </p:cNvSpPr>
          <p:nvPr/>
        </p:nvSpPr>
        <p:spPr bwMode="auto">
          <a:xfrm>
            <a:off x="6496050" y="5091516"/>
            <a:ext cx="5438775" cy="830997"/>
          </a:xfrm>
          <a:prstGeom prst="rect">
            <a:avLst/>
          </a:prstGeom>
          <a:solidFill>
            <a:schemeClr val="accent4">
              <a:lumMod val="20000"/>
              <a:lumOff val="80000"/>
            </a:schemeClr>
          </a:solidFill>
          <a:ln w="9525">
            <a:solidFill>
              <a:schemeClr val="tx1"/>
            </a:solidFill>
            <a:miter lim="800000"/>
            <a:headEnd/>
            <a:tailEnd/>
          </a:ln>
          <a:effectLst/>
        </p:spPr>
        <p:txBody>
          <a:bodyPr vert="horz" wrap="square" lIns="91440" tIns="45720" rIns="91440" bIns="45720" numCol="1" anchor="t" anchorCtr="0" compatLnSpc="1">
            <a:prstTxWarp prst="textNoShape">
              <a:avLst/>
            </a:prstTxWarp>
            <a:spAutoFit/>
          </a:bodyPr>
          <a:lstStyle/>
          <a:p>
            <a:pPr lvl="0" algn="just" fontAlgn="base">
              <a:spcBef>
                <a:spcPct val="0"/>
              </a:spcBef>
              <a:spcAft>
                <a:spcPct val="0"/>
              </a:spcAft>
              <a:tabLst>
                <a:tab pos="187325" algn="l"/>
                <a:tab pos="320675" algn="l"/>
              </a:tabLst>
            </a:pPr>
            <a:r>
              <a:rPr lang="ko-KR" altLang="en-US" sz="1200" dirty="0">
                <a:solidFill>
                  <a:schemeClr val="tx2"/>
                </a:solidFill>
                <a:latin typeface="+mn-ea"/>
              </a:rPr>
              <a:t>심사에 착수하여 최초거절이유를 통지할 때에는 외국인으로서 권리능력에 관한 흠결이 없었으나 보정 이후 제</a:t>
            </a:r>
            <a:r>
              <a:rPr lang="en-US" altLang="ko-KR" sz="1200" dirty="0">
                <a:solidFill>
                  <a:schemeClr val="tx2"/>
                </a:solidFill>
                <a:latin typeface="+mn-ea"/>
              </a:rPr>
              <a:t>25</a:t>
            </a:r>
            <a:r>
              <a:rPr lang="ko-KR" altLang="en-US" sz="1200" dirty="0">
                <a:solidFill>
                  <a:schemeClr val="tx2"/>
                </a:solidFill>
                <a:latin typeface="+mn-ea"/>
              </a:rPr>
              <a:t>조에 따라 특허에 관한 권리를 누릴 수 없게 된 경우</a:t>
            </a:r>
            <a:r>
              <a:rPr lang="en-US" altLang="ko-KR" sz="1200" dirty="0">
                <a:solidFill>
                  <a:schemeClr val="tx2"/>
                </a:solidFill>
                <a:latin typeface="+mn-ea"/>
              </a:rPr>
              <a:t>, </a:t>
            </a:r>
            <a:r>
              <a:rPr lang="ko-KR" altLang="en-US" sz="1200" dirty="0">
                <a:solidFill>
                  <a:schemeClr val="tx2"/>
                </a:solidFill>
                <a:latin typeface="+mn-ea"/>
              </a:rPr>
              <a:t>해당 거절이유는 거절이유통지에 대한 보정에 따라 발생한 거절이유가 아니므로 최초거절이유를 통지한다</a:t>
            </a:r>
            <a:r>
              <a:rPr lang="en-US" altLang="ko-KR" sz="1200" dirty="0">
                <a:solidFill>
                  <a:schemeClr val="tx2"/>
                </a:solidFill>
                <a:latin typeface="+mn-ea"/>
              </a:rPr>
              <a:t>.</a:t>
            </a:r>
          </a:p>
        </p:txBody>
      </p:sp>
      <p:cxnSp>
        <p:nvCxnSpPr>
          <p:cNvPr id="75" name="꺾인 연결선 74"/>
          <p:cNvCxnSpPr>
            <a:stCxn id="65" idx="3"/>
            <a:endCxn id="72" idx="1"/>
          </p:cNvCxnSpPr>
          <p:nvPr/>
        </p:nvCxnSpPr>
        <p:spPr>
          <a:xfrm>
            <a:off x="5934075" y="3469058"/>
            <a:ext cx="561975" cy="205056"/>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7" name="꺾인 연결선 76"/>
          <p:cNvCxnSpPr>
            <a:stCxn id="68" idx="3"/>
            <a:endCxn id="73" idx="1"/>
          </p:cNvCxnSpPr>
          <p:nvPr/>
        </p:nvCxnSpPr>
        <p:spPr>
          <a:xfrm>
            <a:off x="5934075" y="4036675"/>
            <a:ext cx="561975" cy="1470340"/>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 name="슬라이드 번호 개체 틀 5"/>
          <p:cNvSpPr>
            <a:spLocks noGrp="1"/>
          </p:cNvSpPr>
          <p:nvPr>
            <p:ph type="sldNum" sz="quarter" idx="12"/>
          </p:nvPr>
        </p:nvSpPr>
        <p:spPr/>
        <p:txBody>
          <a:bodyPr/>
          <a:lstStyle/>
          <a:p>
            <a:r>
              <a:rPr lang="en-US" altLang="ko-KR"/>
              <a:t>255</a:t>
            </a:r>
            <a:endParaRPr lang="ko-KR" altLang="en-US" dirty="0"/>
          </a:p>
        </p:txBody>
      </p:sp>
    </p:spTree>
    <p:extLst>
      <p:ext uri="{BB962C8B-B14F-4D97-AF65-F5344CB8AC3E}">
        <p14:creationId xmlns:p14="http://schemas.microsoft.com/office/powerpoint/2010/main" val="1530663247"/>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Rectangle 1"/>
          <p:cNvSpPr>
            <a:spLocks noChangeArrowheads="1"/>
          </p:cNvSpPr>
          <p:nvPr/>
        </p:nvSpPr>
        <p:spPr bwMode="auto">
          <a:xfrm>
            <a:off x="6496050" y="2203337"/>
            <a:ext cx="5438775" cy="3231654"/>
          </a:xfrm>
          <a:prstGeom prst="rect">
            <a:avLst/>
          </a:prstGeom>
          <a:solidFill>
            <a:schemeClr val="bg1">
              <a:lumMod val="95000"/>
            </a:schemeClr>
          </a:solidFill>
          <a:ln w="9525">
            <a:solidFill>
              <a:schemeClr val="tx1"/>
            </a:solidFill>
            <a:miter lim="800000"/>
            <a:headEnd/>
            <a:tailEnd/>
          </a:ln>
          <a:effectLst/>
        </p:spPr>
        <p:txBody>
          <a:bodyPr vert="horz" wrap="square" lIns="91440" tIns="45720" rIns="91440" bIns="45720" numCol="1" anchor="t" anchorCtr="0" compatLnSpc="1">
            <a:prstTxWarp prst="textNoShape">
              <a:avLst/>
            </a:prstTxWarp>
            <a:spAutoFit/>
          </a:bodyPr>
          <a:lstStyle/>
          <a:p>
            <a:pPr lvl="0" algn="just" fontAlgn="base">
              <a:spcBef>
                <a:spcPct val="0"/>
              </a:spcBef>
              <a:spcAft>
                <a:spcPct val="0"/>
              </a:spcAft>
              <a:tabLst>
                <a:tab pos="187325" algn="l"/>
                <a:tab pos="320675" algn="l"/>
              </a:tabLst>
            </a:pPr>
            <a:r>
              <a:rPr lang="en-US" altLang="ko-KR" sz="1200" dirty="0">
                <a:solidFill>
                  <a:schemeClr val="tx2"/>
                </a:solidFill>
                <a:latin typeface="+mn-ea"/>
              </a:rPr>
              <a:t>【</a:t>
            </a:r>
            <a:r>
              <a:rPr lang="ko-KR" altLang="en-US" sz="1200" dirty="0">
                <a:solidFill>
                  <a:schemeClr val="tx2"/>
                </a:solidFill>
                <a:latin typeface="+mn-ea"/>
              </a:rPr>
              <a:t>예</a:t>
            </a:r>
            <a:r>
              <a:rPr lang="en-US" altLang="ko-KR" sz="1200" dirty="0">
                <a:solidFill>
                  <a:schemeClr val="tx2"/>
                </a:solidFill>
                <a:latin typeface="+mn-ea"/>
              </a:rPr>
              <a:t>1】</a:t>
            </a:r>
            <a:r>
              <a:rPr lang="ko-KR" altLang="en-US" sz="1200" dirty="0">
                <a:solidFill>
                  <a:schemeClr val="tx2"/>
                </a:solidFill>
                <a:latin typeface="+mn-ea"/>
              </a:rPr>
              <a:t>아래 사례에서 </a:t>
            </a:r>
            <a:r>
              <a:rPr lang="ko-KR" altLang="en-US" sz="1200" dirty="0" err="1">
                <a:solidFill>
                  <a:schemeClr val="tx2"/>
                </a:solidFill>
                <a:latin typeface="+mn-ea"/>
              </a:rPr>
              <a:t>신규성</a:t>
            </a:r>
            <a:r>
              <a:rPr lang="ko-KR" altLang="en-US" sz="1200" dirty="0">
                <a:solidFill>
                  <a:schemeClr val="tx2"/>
                </a:solidFill>
                <a:latin typeface="+mn-ea"/>
              </a:rPr>
              <a:t> 또는 진보성을 위반으로 거절이유를 통지한 </a:t>
            </a:r>
            <a:r>
              <a:rPr lang="ko-KR" altLang="en-US" sz="1200" dirty="0" err="1">
                <a:solidFill>
                  <a:schemeClr val="tx2"/>
                </a:solidFill>
                <a:latin typeface="+mn-ea"/>
              </a:rPr>
              <a:t>청구항</a:t>
            </a:r>
            <a:r>
              <a:rPr lang="ko-KR" altLang="en-US" sz="1200" dirty="0">
                <a:solidFill>
                  <a:schemeClr val="tx2"/>
                </a:solidFill>
                <a:latin typeface="+mn-ea"/>
              </a:rPr>
              <a:t> </a:t>
            </a:r>
            <a:r>
              <a:rPr lang="en-US" altLang="ko-KR" sz="1200" dirty="0">
                <a:solidFill>
                  <a:schemeClr val="tx2"/>
                </a:solidFill>
                <a:latin typeface="+mn-ea"/>
              </a:rPr>
              <a:t>1</a:t>
            </a:r>
            <a:r>
              <a:rPr lang="ko-KR" altLang="en-US" sz="1200" dirty="0">
                <a:solidFill>
                  <a:schemeClr val="tx2"/>
                </a:solidFill>
                <a:latin typeface="+mn-ea"/>
              </a:rPr>
              <a:t>을 보정하여 종전의 </a:t>
            </a:r>
            <a:r>
              <a:rPr lang="ko-KR" altLang="en-US" sz="1200" dirty="0" err="1">
                <a:solidFill>
                  <a:schemeClr val="tx2"/>
                </a:solidFill>
                <a:latin typeface="+mn-ea"/>
              </a:rPr>
              <a:t>신규성이나</a:t>
            </a:r>
            <a:r>
              <a:rPr lang="ko-KR" altLang="en-US" sz="1200" dirty="0">
                <a:solidFill>
                  <a:schemeClr val="tx2"/>
                </a:solidFill>
                <a:latin typeface="+mn-ea"/>
              </a:rPr>
              <a:t> 진보성 거절이유를 해소하였으나</a:t>
            </a:r>
            <a:r>
              <a:rPr lang="en-US" altLang="ko-KR" sz="1200" dirty="0">
                <a:solidFill>
                  <a:schemeClr val="tx2"/>
                </a:solidFill>
                <a:latin typeface="+mn-ea"/>
              </a:rPr>
              <a:t>, </a:t>
            </a:r>
            <a:r>
              <a:rPr lang="ko-KR" altLang="en-US" sz="1200" dirty="0">
                <a:solidFill>
                  <a:schemeClr val="tx2"/>
                </a:solidFill>
                <a:latin typeface="+mn-ea"/>
              </a:rPr>
              <a:t>구성 </a:t>
            </a:r>
            <a:r>
              <a:rPr lang="en-US" altLang="ko-KR" sz="1200" dirty="0">
                <a:solidFill>
                  <a:schemeClr val="tx2"/>
                </a:solidFill>
                <a:latin typeface="+mn-ea"/>
              </a:rPr>
              <a:t>D</a:t>
            </a:r>
            <a:r>
              <a:rPr lang="ko-KR" altLang="en-US" sz="1200" dirty="0">
                <a:solidFill>
                  <a:schemeClr val="tx2"/>
                </a:solidFill>
                <a:latin typeface="+mn-ea"/>
              </a:rPr>
              <a:t>를 부가함으로써 </a:t>
            </a:r>
            <a:r>
              <a:rPr lang="en-US" altLang="ko-KR" sz="1200" dirty="0">
                <a:solidFill>
                  <a:schemeClr val="tx2"/>
                </a:solidFill>
                <a:latin typeface="+mn-ea"/>
              </a:rPr>
              <a:t>D</a:t>
            </a:r>
            <a:r>
              <a:rPr lang="ko-KR" altLang="en-US" sz="1200" dirty="0">
                <a:solidFill>
                  <a:schemeClr val="tx2"/>
                </a:solidFill>
                <a:latin typeface="+mn-ea"/>
              </a:rPr>
              <a:t>를 포함하는 선행기술을 추가로 인용할 필요가 생겼다면 이는 보정에 의하여 발생한 거절이유이므로 최후거절이유를 통지한다</a:t>
            </a:r>
            <a:r>
              <a:rPr lang="en-US" altLang="ko-KR" sz="1200" dirty="0">
                <a:solidFill>
                  <a:schemeClr val="tx2"/>
                </a:solidFill>
                <a:latin typeface="+mn-ea"/>
              </a:rPr>
              <a:t>. </a:t>
            </a:r>
            <a:r>
              <a:rPr lang="ko-KR" altLang="en-US" sz="1200" dirty="0">
                <a:solidFill>
                  <a:schemeClr val="tx2"/>
                </a:solidFill>
                <a:latin typeface="+mn-ea"/>
              </a:rPr>
              <a:t>만일 ‘</a:t>
            </a:r>
            <a:r>
              <a:rPr lang="en-US" altLang="ko-KR" sz="1200" dirty="0">
                <a:solidFill>
                  <a:schemeClr val="tx2"/>
                </a:solidFill>
                <a:latin typeface="+mn-ea"/>
              </a:rPr>
              <a:t>A </a:t>
            </a:r>
            <a:r>
              <a:rPr lang="ko-KR" altLang="en-US" sz="1200" dirty="0">
                <a:solidFill>
                  <a:schemeClr val="tx2"/>
                </a:solidFill>
                <a:latin typeface="+mn-ea"/>
              </a:rPr>
              <a:t>및 </a:t>
            </a:r>
            <a:r>
              <a:rPr lang="en-US" altLang="ko-KR" sz="1200" dirty="0">
                <a:solidFill>
                  <a:schemeClr val="tx2"/>
                </a:solidFill>
                <a:latin typeface="+mn-ea"/>
              </a:rPr>
              <a:t>B’</a:t>
            </a:r>
            <a:r>
              <a:rPr lang="ko-KR" altLang="en-US" sz="1200" dirty="0">
                <a:solidFill>
                  <a:schemeClr val="tx2"/>
                </a:solidFill>
                <a:latin typeface="+mn-ea"/>
              </a:rPr>
              <a:t>라는 표현이 구성요소를 선택적으로 적지 아니하여 발명의 구성이 불분명하다는 거절이유가 있었다면</a:t>
            </a:r>
            <a:r>
              <a:rPr lang="en-US" altLang="ko-KR" sz="1200" dirty="0">
                <a:solidFill>
                  <a:schemeClr val="tx2"/>
                </a:solidFill>
                <a:latin typeface="+mn-ea"/>
              </a:rPr>
              <a:t>, </a:t>
            </a:r>
            <a:r>
              <a:rPr lang="ko-KR" altLang="en-US" sz="1200" dirty="0">
                <a:solidFill>
                  <a:schemeClr val="tx2"/>
                </a:solidFill>
                <a:latin typeface="+mn-ea"/>
              </a:rPr>
              <a:t>이는 구성 </a:t>
            </a:r>
            <a:r>
              <a:rPr lang="en-US" altLang="ko-KR" sz="1200" dirty="0">
                <a:solidFill>
                  <a:schemeClr val="tx2"/>
                </a:solidFill>
                <a:latin typeface="+mn-ea"/>
              </a:rPr>
              <a:t>D</a:t>
            </a:r>
            <a:r>
              <a:rPr lang="ko-KR" altLang="en-US" sz="1200" dirty="0">
                <a:solidFill>
                  <a:schemeClr val="tx2"/>
                </a:solidFill>
                <a:latin typeface="+mn-ea"/>
              </a:rPr>
              <a:t>를 부가한 것과 관계없이 보정 전 </a:t>
            </a:r>
            <a:r>
              <a:rPr lang="ko-KR" altLang="en-US" sz="1200" dirty="0" err="1">
                <a:solidFill>
                  <a:schemeClr val="tx2"/>
                </a:solidFill>
                <a:latin typeface="+mn-ea"/>
              </a:rPr>
              <a:t>청구항에</a:t>
            </a:r>
            <a:r>
              <a:rPr lang="ko-KR" altLang="en-US" sz="1200" dirty="0">
                <a:solidFill>
                  <a:schemeClr val="tx2"/>
                </a:solidFill>
                <a:latin typeface="+mn-ea"/>
              </a:rPr>
              <a:t> 존재하던 거절이유로서 보정에 의하여 발생한 거절이유가 아니므로 최후거절이유통지 대상이 아니다</a:t>
            </a:r>
            <a:r>
              <a:rPr lang="en-US" altLang="ko-KR" sz="1200" dirty="0">
                <a:solidFill>
                  <a:schemeClr val="tx2"/>
                </a:solidFill>
                <a:latin typeface="+mn-ea"/>
              </a:rPr>
              <a:t>.</a:t>
            </a:r>
          </a:p>
          <a:p>
            <a:pPr lvl="0" algn="just" fontAlgn="base">
              <a:spcBef>
                <a:spcPct val="0"/>
              </a:spcBef>
              <a:spcAft>
                <a:spcPct val="0"/>
              </a:spcAft>
              <a:tabLst>
                <a:tab pos="187325" algn="l"/>
                <a:tab pos="320675" algn="l"/>
              </a:tabLst>
            </a:pPr>
            <a:endParaRPr lang="en-US" altLang="ko-KR" sz="1200" dirty="0">
              <a:solidFill>
                <a:schemeClr val="tx2"/>
              </a:solidFill>
              <a:latin typeface="+mn-ea"/>
            </a:endParaRPr>
          </a:p>
          <a:p>
            <a:pPr lvl="0" algn="just" fontAlgn="base">
              <a:spcBef>
                <a:spcPct val="0"/>
              </a:spcBef>
              <a:spcAft>
                <a:spcPct val="0"/>
              </a:spcAft>
              <a:tabLst>
                <a:tab pos="187325" algn="l"/>
                <a:tab pos="320675" algn="l"/>
              </a:tabLst>
            </a:pPr>
            <a:endParaRPr lang="en-US" altLang="ko-KR" sz="1200" dirty="0">
              <a:solidFill>
                <a:schemeClr val="tx2"/>
              </a:solidFill>
              <a:latin typeface="+mn-ea"/>
            </a:endParaRPr>
          </a:p>
          <a:p>
            <a:pPr lvl="0" algn="just" fontAlgn="base">
              <a:spcBef>
                <a:spcPct val="0"/>
              </a:spcBef>
              <a:spcAft>
                <a:spcPct val="0"/>
              </a:spcAft>
              <a:tabLst>
                <a:tab pos="187325" algn="l"/>
                <a:tab pos="320675" algn="l"/>
              </a:tabLst>
            </a:pPr>
            <a:endParaRPr lang="en-US" altLang="ko-KR" sz="1200" dirty="0">
              <a:solidFill>
                <a:schemeClr val="tx2"/>
              </a:solidFill>
              <a:latin typeface="+mn-ea"/>
            </a:endParaRPr>
          </a:p>
          <a:p>
            <a:pPr lvl="0" algn="just" fontAlgn="base">
              <a:spcBef>
                <a:spcPct val="0"/>
              </a:spcBef>
              <a:spcAft>
                <a:spcPct val="0"/>
              </a:spcAft>
              <a:tabLst>
                <a:tab pos="187325" algn="l"/>
                <a:tab pos="320675" algn="l"/>
              </a:tabLst>
            </a:pPr>
            <a:endParaRPr lang="en-US" altLang="ko-KR" sz="1200" dirty="0">
              <a:solidFill>
                <a:schemeClr val="tx2"/>
              </a:solidFill>
              <a:latin typeface="+mn-ea"/>
            </a:endParaRPr>
          </a:p>
          <a:p>
            <a:pPr lvl="0" algn="just" fontAlgn="base">
              <a:spcBef>
                <a:spcPct val="0"/>
              </a:spcBef>
              <a:spcAft>
                <a:spcPct val="0"/>
              </a:spcAft>
              <a:tabLst>
                <a:tab pos="187325" algn="l"/>
                <a:tab pos="320675" algn="l"/>
              </a:tabLst>
            </a:pPr>
            <a:endParaRPr lang="en-US" altLang="ko-KR" sz="1200" dirty="0">
              <a:solidFill>
                <a:schemeClr val="tx2"/>
              </a:solidFill>
              <a:latin typeface="+mn-ea"/>
            </a:endParaRPr>
          </a:p>
          <a:p>
            <a:pPr lvl="0" algn="just" fontAlgn="base">
              <a:spcBef>
                <a:spcPct val="0"/>
              </a:spcBef>
              <a:spcAft>
                <a:spcPct val="0"/>
              </a:spcAft>
              <a:tabLst>
                <a:tab pos="187325" algn="l"/>
                <a:tab pos="320675" algn="l"/>
              </a:tabLst>
            </a:pPr>
            <a:endParaRPr lang="en-US" altLang="ko-KR" sz="1200" dirty="0">
              <a:solidFill>
                <a:schemeClr val="tx2"/>
              </a:solidFill>
              <a:latin typeface="+mn-ea"/>
            </a:endParaRPr>
          </a:p>
          <a:p>
            <a:pPr lvl="0" algn="just" fontAlgn="base">
              <a:spcBef>
                <a:spcPct val="0"/>
              </a:spcBef>
              <a:spcAft>
                <a:spcPct val="0"/>
              </a:spcAft>
              <a:tabLst>
                <a:tab pos="187325" algn="l"/>
                <a:tab pos="320675" algn="l"/>
              </a:tabLst>
            </a:pPr>
            <a:r>
              <a:rPr lang="en-US" altLang="ko-KR" sz="1200" dirty="0">
                <a:solidFill>
                  <a:schemeClr val="tx2"/>
                </a:solidFill>
                <a:latin typeface="+mn-ea"/>
              </a:rPr>
              <a:t>【</a:t>
            </a:r>
            <a:r>
              <a:rPr lang="ko-KR" altLang="en-US" sz="1200" dirty="0">
                <a:solidFill>
                  <a:schemeClr val="tx2"/>
                </a:solidFill>
                <a:latin typeface="+mn-ea"/>
              </a:rPr>
              <a:t>예</a:t>
            </a:r>
            <a:r>
              <a:rPr lang="en-US" altLang="ko-KR" sz="1200" dirty="0">
                <a:solidFill>
                  <a:schemeClr val="tx2"/>
                </a:solidFill>
                <a:latin typeface="+mn-ea"/>
              </a:rPr>
              <a:t>2】</a:t>
            </a:r>
            <a:r>
              <a:rPr lang="ko-KR" altLang="en-US" sz="1200" dirty="0">
                <a:solidFill>
                  <a:schemeClr val="tx2"/>
                </a:solidFill>
                <a:latin typeface="+mn-ea"/>
              </a:rPr>
              <a:t>기재불비만으로 통지한 거절이유에 대한 보정으로 </a:t>
            </a:r>
            <a:r>
              <a:rPr lang="ko-KR" altLang="en-US" sz="1200" dirty="0" err="1">
                <a:solidFill>
                  <a:schemeClr val="tx2"/>
                </a:solidFill>
                <a:latin typeface="+mn-ea"/>
              </a:rPr>
              <a:t>청구항이</a:t>
            </a:r>
            <a:r>
              <a:rPr lang="ko-KR" altLang="en-US" sz="1200" dirty="0">
                <a:solidFill>
                  <a:schemeClr val="tx2"/>
                </a:solidFill>
                <a:latin typeface="+mn-ea"/>
              </a:rPr>
              <a:t> 확장됨으로써 </a:t>
            </a:r>
            <a:r>
              <a:rPr lang="ko-KR" altLang="en-US" sz="1200" dirty="0" err="1">
                <a:solidFill>
                  <a:schemeClr val="tx2"/>
                </a:solidFill>
                <a:latin typeface="+mn-ea"/>
              </a:rPr>
              <a:t>신규성</a:t>
            </a:r>
            <a:r>
              <a:rPr lang="ko-KR" altLang="en-US" sz="1200" dirty="0">
                <a:solidFill>
                  <a:schemeClr val="tx2"/>
                </a:solidFill>
                <a:latin typeface="+mn-ea"/>
              </a:rPr>
              <a:t> 또는 진보성의 거절이유가 발생한 경우 보정에 의하여 선행기술을 다시 찾아 심사하여야 하기 때문에 그 거절이유가 같은 </a:t>
            </a:r>
            <a:r>
              <a:rPr lang="ko-KR" altLang="en-US" sz="1200" dirty="0" err="1">
                <a:solidFill>
                  <a:schemeClr val="tx2"/>
                </a:solidFill>
                <a:latin typeface="+mn-ea"/>
              </a:rPr>
              <a:t>청구항</a:t>
            </a:r>
            <a:r>
              <a:rPr lang="ko-KR" altLang="en-US" sz="1200" dirty="0">
                <a:solidFill>
                  <a:schemeClr val="tx2"/>
                </a:solidFill>
                <a:latin typeface="+mn-ea"/>
              </a:rPr>
              <a:t> 번호에 존재하는 거절이유라도 최후거절이유를 통지하여야 한다</a:t>
            </a:r>
            <a:r>
              <a:rPr lang="en-US" altLang="ko-KR" sz="1200" dirty="0">
                <a:solidFill>
                  <a:schemeClr val="tx2"/>
                </a:solidFill>
                <a:latin typeface="+mn-ea"/>
              </a:rPr>
              <a:t>.</a:t>
            </a:r>
          </a:p>
        </p:txBody>
      </p:sp>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lstStyle/>
          <a:p>
            <a:r>
              <a:rPr lang="ko-KR" altLang="en-US" dirty="0"/>
              <a:t>최후거절이유통지</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63" name="TextBox 62"/>
          <p:cNvSpPr txBox="1"/>
          <p:nvPr/>
        </p:nvSpPr>
        <p:spPr>
          <a:xfrm>
            <a:off x="184731" y="1666875"/>
            <a:ext cx="5749344" cy="671002"/>
          </a:xfrm>
          <a:prstGeom prst="rect">
            <a:avLst/>
          </a:prstGeom>
          <a:solidFill>
            <a:schemeClr val="bg1"/>
          </a:solidFill>
          <a:ln>
            <a:solidFill>
              <a:schemeClr val="accent6">
                <a:lumMod val="50000"/>
              </a:schemeClr>
            </a:solidFill>
          </a:ln>
        </p:spPr>
        <p:txBody>
          <a:bodyPr wrap="square" rtlCol="0" anchor="ctr">
            <a:noAutofit/>
          </a:bodyPr>
          <a:lstStyle/>
          <a:p>
            <a:r>
              <a:rPr lang="ko-KR" altLang="en-US" sz="1200" dirty="0">
                <a:solidFill>
                  <a:schemeClr val="tx2"/>
                </a:solidFill>
                <a:latin typeface="+mn-ea"/>
              </a:rPr>
              <a:t>명세서 또는 도면을 보정하여 신규사항이 추가된 경우</a:t>
            </a:r>
            <a:r>
              <a:rPr lang="en-US" altLang="ko-KR" sz="1200" dirty="0">
                <a:solidFill>
                  <a:schemeClr val="tx2"/>
                </a:solidFill>
                <a:latin typeface="+mn-ea"/>
              </a:rPr>
              <a:t>, </a:t>
            </a:r>
            <a:r>
              <a:rPr lang="ko-KR" altLang="en-US" sz="1200" dirty="0">
                <a:solidFill>
                  <a:schemeClr val="tx2"/>
                </a:solidFill>
                <a:latin typeface="+mn-ea"/>
              </a:rPr>
              <a:t>기재불비가 새롭게 발생한 경우</a:t>
            </a:r>
            <a:r>
              <a:rPr lang="en-US" altLang="ko-KR" sz="1200" dirty="0">
                <a:solidFill>
                  <a:schemeClr val="tx2"/>
                </a:solidFill>
                <a:latin typeface="+mn-ea"/>
              </a:rPr>
              <a:t>, </a:t>
            </a:r>
            <a:r>
              <a:rPr lang="ko-KR" altLang="en-US" sz="1200" dirty="0">
                <a:solidFill>
                  <a:schemeClr val="tx2"/>
                </a:solidFill>
                <a:latin typeface="+mn-ea"/>
              </a:rPr>
              <a:t>분할출원</a:t>
            </a:r>
            <a:r>
              <a:rPr lang="en-US" altLang="ko-KR" sz="1200" dirty="0">
                <a:solidFill>
                  <a:schemeClr val="tx2"/>
                </a:solidFill>
                <a:latin typeface="+mn-ea"/>
              </a:rPr>
              <a:t>, </a:t>
            </a:r>
            <a:r>
              <a:rPr lang="ko-KR" altLang="en-US" sz="1200" dirty="0">
                <a:solidFill>
                  <a:schemeClr val="tx2"/>
                </a:solidFill>
                <a:latin typeface="+mn-ea"/>
              </a:rPr>
              <a:t>분리출원 또는 변경출원의 범위를 벗어나게 된 경우</a:t>
            </a:r>
            <a:endParaRPr lang="en-US" altLang="ko-KR" sz="1200" dirty="0">
              <a:solidFill>
                <a:schemeClr val="tx2"/>
              </a:solidFill>
              <a:latin typeface="+mn-ea"/>
            </a:endParaRPr>
          </a:p>
        </p:txBody>
      </p:sp>
      <p:sp>
        <p:nvSpPr>
          <p:cNvPr id="64" name="TextBox 63"/>
          <p:cNvSpPr txBox="1"/>
          <p:nvPr/>
        </p:nvSpPr>
        <p:spPr>
          <a:xfrm>
            <a:off x="184731" y="2432285"/>
            <a:ext cx="5749344" cy="634765"/>
          </a:xfrm>
          <a:prstGeom prst="rect">
            <a:avLst/>
          </a:prstGeom>
          <a:solidFill>
            <a:schemeClr val="bg1">
              <a:lumMod val="95000"/>
            </a:schemeClr>
          </a:solidFill>
          <a:ln>
            <a:solidFill>
              <a:schemeClr val="accent6">
                <a:lumMod val="50000"/>
              </a:schemeClr>
            </a:solidFill>
          </a:ln>
        </p:spPr>
        <p:txBody>
          <a:bodyPr wrap="square" rtlCol="0" anchor="ctr">
            <a:noAutofit/>
          </a:bodyPr>
          <a:lstStyle/>
          <a:p>
            <a:pPr fontAlgn="base"/>
            <a:r>
              <a:rPr lang="ko-KR" altLang="en-US" sz="1200" dirty="0">
                <a:solidFill>
                  <a:schemeClr val="tx2"/>
                </a:solidFill>
              </a:rPr>
              <a:t>심사가 이루어진 </a:t>
            </a:r>
            <a:r>
              <a:rPr lang="ko-KR" altLang="en-US" sz="1200" dirty="0" err="1">
                <a:solidFill>
                  <a:schemeClr val="tx2"/>
                </a:solidFill>
              </a:rPr>
              <a:t>청구항을</a:t>
            </a:r>
            <a:r>
              <a:rPr lang="ko-KR" altLang="en-US" sz="1200" dirty="0">
                <a:solidFill>
                  <a:schemeClr val="tx2"/>
                </a:solidFill>
              </a:rPr>
              <a:t> 보정하여 새롭게 </a:t>
            </a:r>
            <a:r>
              <a:rPr lang="ko-KR" altLang="en-US" sz="1200" dirty="0" err="1">
                <a:solidFill>
                  <a:schemeClr val="tx2"/>
                </a:solidFill>
              </a:rPr>
              <a:t>신규성</a:t>
            </a:r>
            <a:r>
              <a:rPr lang="en-US" altLang="ko-KR" sz="1200" dirty="0">
                <a:solidFill>
                  <a:schemeClr val="tx2"/>
                </a:solidFill>
              </a:rPr>
              <a:t>, </a:t>
            </a:r>
            <a:r>
              <a:rPr lang="ko-KR" altLang="en-US" sz="1200" dirty="0">
                <a:solidFill>
                  <a:schemeClr val="tx2"/>
                </a:solidFill>
              </a:rPr>
              <a:t>진보성 등에 관한 거절이유를 통지하게 된 경우</a:t>
            </a:r>
            <a:r>
              <a:rPr lang="en-US" altLang="ko-KR" sz="1200" dirty="0">
                <a:solidFill>
                  <a:schemeClr val="tx2"/>
                </a:solidFill>
              </a:rPr>
              <a:t>(</a:t>
            </a:r>
            <a:r>
              <a:rPr lang="ko-KR" altLang="en-US" sz="1200" dirty="0">
                <a:solidFill>
                  <a:schemeClr val="tx2"/>
                </a:solidFill>
              </a:rPr>
              <a:t>다만</a:t>
            </a:r>
            <a:r>
              <a:rPr lang="en-US" altLang="ko-KR" sz="1200" dirty="0">
                <a:solidFill>
                  <a:schemeClr val="tx2"/>
                </a:solidFill>
              </a:rPr>
              <a:t>, </a:t>
            </a:r>
            <a:r>
              <a:rPr lang="ko-KR" altLang="en-US" sz="1200" dirty="0">
                <a:solidFill>
                  <a:schemeClr val="tx2"/>
                </a:solidFill>
              </a:rPr>
              <a:t>보정된 청구항의 발명이 그 </a:t>
            </a:r>
            <a:r>
              <a:rPr lang="ko-KR" altLang="en-US" sz="1200" dirty="0" err="1">
                <a:solidFill>
                  <a:schemeClr val="tx2"/>
                </a:solidFill>
              </a:rPr>
              <a:t>청구항</a:t>
            </a:r>
            <a:r>
              <a:rPr lang="ko-KR" altLang="en-US" sz="1200" dirty="0">
                <a:solidFill>
                  <a:schemeClr val="tx2"/>
                </a:solidFill>
              </a:rPr>
              <a:t> 외의 다른 </a:t>
            </a:r>
            <a:r>
              <a:rPr lang="ko-KR" altLang="en-US" sz="1200" dirty="0" err="1">
                <a:solidFill>
                  <a:schemeClr val="tx2"/>
                </a:solidFill>
              </a:rPr>
              <a:t>청구항에</a:t>
            </a:r>
            <a:r>
              <a:rPr lang="ko-KR" altLang="en-US" sz="1200" dirty="0">
                <a:solidFill>
                  <a:schemeClr val="tx2"/>
                </a:solidFill>
              </a:rPr>
              <a:t> 원래부터 기재되어 있던 발명이었음에도 해당 거절이유를 통지하지 않았던 경우에는 최초거절이유를 통지한다</a:t>
            </a:r>
            <a:r>
              <a:rPr lang="en-US" altLang="ko-KR" sz="1200" dirty="0">
                <a:solidFill>
                  <a:schemeClr val="tx2"/>
                </a:solidFill>
              </a:rPr>
              <a:t>.</a:t>
            </a:r>
            <a:endParaRPr lang="ko-KR" altLang="en-US" sz="1200" dirty="0">
              <a:solidFill>
                <a:schemeClr val="tx2"/>
              </a:solidFill>
            </a:endParaRPr>
          </a:p>
        </p:txBody>
      </p:sp>
      <p:sp>
        <p:nvSpPr>
          <p:cNvPr id="65" name="TextBox 64"/>
          <p:cNvSpPr txBox="1"/>
          <p:nvPr/>
        </p:nvSpPr>
        <p:spPr>
          <a:xfrm>
            <a:off x="184731" y="3233762"/>
            <a:ext cx="5749344" cy="574479"/>
          </a:xfrm>
          <a:prstGeom prst="rect">
            <a:avLst/>
          </a:prstGeom>
          <a:noFill/>
          <a:ln>
            <a:solidFill>
              <a:schemeClr val="accent6">
                <a:lumMod val="50000"/>
              </a:schemeClr>
            </a:solidFill>
          </a:ln>
        </p:spPr>
        <p:txBody>
          <a:bodyPr wrap="square" rtlCol="0" anchor="ctr">
            <a:noAutofit/>
          </a:bodyPr>
          <a:lstStyle/>
          <a:p>
            <a:r>
              <a:rPr lang="ko-KR" altLang="en-US" sz="1200" dirty="0">
                <a:solidFill>
                  <a:schemeClr val="tx2"/>
                </a:solidFill>
                <a:latin typeface="+mn-ea"/>
              </a:rPr>
              <a:t>신설되거나 실질적으로 신설에 준하는 정도로 바뀐 </a:t>
            </a:r>
            <a:r>
              <a:rPr lang="ko-KR" altLang="en-US" sz="1200" dirty="0" err="1">
                <a:solidFill>
                  <a:schemeClr val="tx2"/>
                </a:solidFill>
                <a:latin typeface="+mn-ea"/>
              </a:rPr>
              <a:t>청구항에</a:t>
            </a:r>
            <a:r>
              <a:rPr lang="ko-KR" altLang="en-US" sz="1200" dirty="0">
                <a:solidFill>
                  <a:schemeClr val="tx2"/>
                </a:solidFill>
                <a:latin typeface="+mn-ea"/>
              </a:rPr>
              <a:t> </a:t>
            </a:r>
            <a:r>
              <a:rPr lang="ko-KR" altLang="en-US" sz="1200" dirty="0" err="1">
                <a:solidFill>
                  <a:schemeClr val="tx2"/>
                </a:solidFill>
                <a:latin typeface="+mn-ea"/>
              </a:rPr>
              <a:t>신규성</a:t>
            </a:r>
            <a:r>
              <a:rPr lang="en-US" altLang="ko-KR" sz="1200" dirty="0">
                <a:solidFill>
                  <a:schemeClr val="tx2"/>
                </a:solidFill>
                <a:latin typeface="+mn-ea"/>
              </a:rPr>
              <a:t>, </a:t>
            </a:r>
            <a:r>
              <a:rPr lang="ko-KR" altLang="en-US" sz="1200" dirty="0">
                <a:solidFill>
                  <a:schemeClr val="tx2"/>
                </a:solidFill>
                <a:latin typeface="+mn-ea"/>
              </a:rPr>
              <a:t>진보성의 거절이유가 있는 경우</a:t>
            </a:r>
            <a:r>
              <a:rPr lang="en-US" altLang="ko-KR" sz="1200" dirty="0">
                <a:solidFill>
                  <a:schemeClr val="tx2"/>
                </a:solidFill>
                <a:latin typeface="+mn-ea"/>
              </a:rPr>
              <a:t>(</a:t>
            </a:r>
            <a:r>
              <a:rPr lang="ko-KR" altLang="en-US" sz="1200" dirty="0">
                <a:solidFill>
                  <a:schemeClr val="tx2"/>
                </a:solidFill>
                <a:latin typeface="+mn-ea"/>
              </a:rPr>
              <a:t>다만</a:t>
            </a:r>
            <a:r>
              <a:rPr lang="en-US" altLang="ko-KR" sz="1200" dirty="0">
                <a:solidFill>
                  <a:schemeClr val="tx2"/>
                </a:solidFill>
                <a:latin typeface="+mn-ea"/>
              </a:rPr>
              <a:t>, </a:t>
            </a:r>
            <a:r>
              <a:rPr lang="ko-KR" altLang="en-US" sz="1200" dirty="0">
                <a:solidFill>
                  <a:schemeClr val="tx2"/>
                </a:solidFill>
                <a:latin typeface="+mn-ea"/>
              </a:rPr>
              <a:t>그 </a:t>
            </a:r>
            <a:r>
              <a:rPr lang="ko-KR" altLang="en-US" sz="1200" dirty="0" err="1">
                <a:solidFill>
                  <a:schemeClr val="tx2"/>
                </a:solidFill>
                <a:latin typeface="+mn-ea"/>
              </a:rPr>
              <a:t>청구항이</a:t>
            </a:r>
            <a:r>
              <a:rPr lang="ko-KR" altLang="en-US" sz="1200" dirty="0">
                <a:solidFill>
                  <a:schemeClr val="tx2"/>
                </a:solidFill>
                <a:latin typeface="+mn-ea"/>
              </a:rPr>
              <a:t> 거절이유를 </a:t>
            </a:r>
            <a:r>
              <a:rPr lang="ko-KR" altLang="en-US" sz="1200" dirty="0" err="1">
                <a:solidFill>
                  <a:schemeClr val="tx2"/>
                </a:solidFill>
                <a:latin typeface="+mn-ea"/>
              </a:rPr>
              <a:t>통지받지</a:t>
            </a:r>
            <a:r>
              <a:rPr lang="ko-KR" altLang="en-US" sz="1200" dirty="0">
                <a:solidFill>
                  <a:schemeClr val="tx2"/>
                </a:solidFill>
                <a:latin typeface="+mn-ea"/>
              </a:rPr>
              <a:t> 아니한 청구항의 발명으로 보정된 경우에는 최초거절이유를 통지한다</a:t>
            </a:r>
            <a:r>
              <a:rPr lang="en-US" altLang="ko-KR" sz="1200" dirty="0">
                <a:solidFill>
                  <a:schemeClr val="tx2"/>
                </a:solidFill>
                <a:latin typeface="+mn-ea"/>
              </a:rPr>
              <a:t>.)</a:t>
            </a:r>
          </a:p>
        </p:txBody>
      </p:sp>
      <p:cxnSp>
        <p:nvCxnSpPr>
          <p:cNvPr id="66" name="직선 연결선 65"/>
          <p:cNvCxnSpPr/>
          <p:nvPr/>
        </p:nvCxnSpPr>
        <p:spPr>
          <a:xfrm>
            <a:off x="65" y="128330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77875" y="976902"/>
            <a:ext cx="11936323" cy="307777"/>
          </a:xfrm>
          <a:prstGeom prst="rect">
            <a:avLst/>
          </a:prstGeom>
          <a:noFill/>
        </p:spPr>
        <p:txBody>
          <a:bodyPr wrap="square" rtlCol="0">
            <a:spAutoFit/>
          </a:bodyPr>
          <a:lstStyle/>
          <a:p>
            <a:r>
              <a:rPr lang="ko-KR" altLang="en-US" sz="1400" dirty="0">
                <a:solidFill>
                  <a:schemeClr val="tx2"/>
                </a:solidFill>
                <a:latin typeface="+mn-ea"/>
              </a:rPr>
              <a:t>「최후거절이유통지」란 최초거절이유통지에 대한 보정에 따라 발생한 새로운 거절이유에 대한 거절이유통지를 말한다</a:t>
            </a:r>
            <a:r>
              <a:rPr lang="en-US" altLang="ko-KR" sz="1400" dirty="0">
                <a:solidFill>
                  <a:schemeClr val="tx2"/>
                </a:solidFill>
                <a:latin typeface="+mn-ea"/>
              </a:rPr>
              <a:t>.</a:t>
            </a:r>
          </a:p>
        </p:txBody>
      </p:sp>
      <p:sp>
        <p:nvSpPr>
          <p:cNvPr id="68" name="TextBox 67"/>
          <p:cNvSpPr txBox="1"/>
          <p:nvPr/>
        </p:nvSpPr>
        <p:spPr>
          <a:xfrm>
            <a:off x="184731" y="3929087"/>
            <a:ext cx="5749344" cy="671487"/>
          </a:xfrm>
          <a:prstGeom prst="rect">
            <a:avLst/>
          </a:prstGeom>
          <a:noFill/>
          <a:ln>
            <a:solidFill>
              <a:schemeClr val="accent6">
                <a:lumMod val="50000"/>
              </a:schemeClr>
            </a:solidFill>
          </a:ln>
        </p:spPr>
        <p:txBody>
          <a:bodyPr wrap="square" rtlCol="0" anchor="ctr">
            <a:noAutofit/>
          </a:bodyPr>
          <a:lstStyle/>
          <a:p>
            <a:r>
              <a:rPr lang="ko-KR" altLang="en-US" sz="1200" dirty="0" err="1">
                <a:solidFill>
                  <a:schemeClr val="tx2"/>
                </a:solidFill>
                <a:latin typeface="+mn-ea"/>
              </a:rPr>
              <a:t>청구항</a:t>
            </a:r>
            <a:r>
              <a:rPr lang="ko-KR" altLang="en-US" sz="1200" dirty="0">
                <a:solidFill>
                  <a:schemeClr val="tx2"/>
                </a:solidFill>
                <a:latin typeface="+mn-ea"/>
              </a:rPr>
              <a:t> 기재의 현저한 기재불비 또는 신규사항의 추가 등으로 </a:t>
            </a:r>
            <a:r>
              <a:rPr lang="ko-KR" altLang="en-US" sz="1200" dirty="0" err="1">
                <a:solidFill>
                  <a:schemeClr val="tx2"/>
                </a:solidFill>
                <a:latin typeface="+mn-ea"/>
              </a:rPr>
              <a:t>신규성</a:t>
            </a:r>
            <a:r>
              <a:rPr lang="ko-KR" altLang="en-US" sz="1200" dirty="0">
                <a:solidFill>
                  <a:schemeClr val="tx2"/>
                </a:solidFill>
                <a:latin typeface="+mn-ea"/>
              </a:rPr>
              <a:t> 또는 진보성 등과 관련된 심사가 불가능했던 </a:t>
            </a:r>
            <a:r>
              <a:rPr lang="ko-KR" altLang="en-US" sz="1200" dirty="0" err="1">
                <a:solidFill>
                  <a:schemeClr val="tx2"/>
                </a:solidFill>
                <a:latin typeface="+mn-ea"/>
              </a:rPr>
              <a:t>청구항을</a:t>
            </a:r>
            <a:r>
              <a:rPr lang="ko-KR" altLang="en-US" sz="1200" dirty="0">
                <a:solidFill>
                  <a:schemeClr val="tx2"/>
                </a:solidFill>
                <a:latin typeface="+mn-ea"/>
              </a:rPr>
              <a:t> 보정한 후 다시 심사한 결과 </a:t>
            </a:r>
            <a:r>
              <a:rPr lang="ko-KR" altLang="en-US" sz="1200" dirty="0" err="1">
                <a:solidFill>
                  <a:schemeClr val="tx2"/>
                </a:solidFill>
                <a:latin typeface="+mn-ea"/>
              </a:rPr>
              <a:t>신규성이나</a:t>
            </a:r>
            <a:r>
              <a:rPr lang="ko-KR" altLang="en-US" sz="1200" dirty="0">
                <a:solidFill>
                  <a:schemeClr val="tx2"/>
                </a:solidFill>
                <a:latin typeface="+mn-ea"/>
              </a:rPr>
              <a:t> 진보성에 관한 거절이유를 발견한 경우</a:t>
            </a:r>
          </a:p>
        </p:txBody>
      </p:sp>
      <p:cxnSp>
        <p:nvCxnSpPr>
          <p:cNvPr id="75" name="꺾인 연결선 74"/>
          <p:cNvCxnSpPr>
            <a:stCxn id="64" idx="3"/>
            <a:endCxn id="72" idx="1"/>
          </p:cNvCxnSpPr>
          <p:nvPr/>
        </p:nvCxnSpPr>
        <p:spPr>
          <a:xfrm>
            <a:off x="5934075" y="2749668"/>
            <a:ext cx="561975" cy="1069496"/>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aphicFrame>
        <p:nvGraphicFramePr>
          <p:cNvPr id="8" name="표 7"/>
          <p:cNvGraphicFramePr>
            <a:graphicFrameLocks noGrp="1"/>
          </p:cNvGraphicFramePr>
          <p:nvPr/>
        </p:nvGraphicFramePr>
        <p:xfrm>
          <a:off x="6694169" y="3657799"/>
          <a:ext cx="5164455" cy="748475"/>
        </p:xfrm>
        <a:graphic>
          <a:graphicData uri="http://schemas.openxmlformats.org/drawingml/2006/table">
            <a:tbl>
              <a:tblPr>
                <a:tableStyleId>{8799B23B-EC83-4686-B30A-512413B5E67A}</a:tableStyleId>
              </a:tblPr>
              <a:tblGrid>
                <a:gridCol w="2610196">
                  <a:extLst>
                    <a:ext uri="{9D8B030D-6E8A-4147-A177-3AD203B41FA5}">
                      <a16:colId xmlns:a16="http://schemas.microsoft.com/office/drawing/2014/main" val="20000"/>
                    </a:ext>
                  </a:extLst>
                </a:gridCol>
                <a:gridCol w="2554259">
                  <a:extLst>
                    <a:ext uri="{9D8B030D-6E8A-4147-A177-3AD203B41FA5}">
                      <a16:colId xmlns:a16="http://schemas.microsoft.com/office/drawing/2014/main" val="20001"/>
                    </a:ext>
                  </a:extLst>
                </a:gridCol>
              </a:tblGrid>
              <a:tr h="195866">
                <a:tc>
                  <a:txBody>
                    <a:bodyPr/>
                    <a:lstStyle/>
                    <a:p>
                      <a:pPr marL="17780" marR="17780" indent="0" algn="ctr" fontAlgn="base" latinLnBrk="0">
                        <a:lnSpc>
                          <a:spcPct val="130000"/>
                        </a:lnSpc>
                        <a:spcBef>
                          <a:spcPts val="0"/>
                        </a:spcBef>
                        <a:spcAft>
                          <a:spcPts val="0"/>
                        </a:spcAft>
                      </a:pPr>
                      <a:r>
                        <a:rPr lang="ko-KR" altLang="en-US" sz="1200" kern="1200" dirty="0"/>
                        <a:t>보정 전</a:t>
                      </a:r>
                      <a:endParaRPr lang="ko-KR" altLang="en-US" sz="1200" kern="1200" dirty="0">
                        <a:solidFill>
                          <a:schemeClr val="tx2"/>
                        </a:solidFill>
                        <a:latin typeface="+mn-ea"/>
                        <a:ea typeface="+mn-ea"/>
                        <a:cs typeface="+mn-cs"/>
                      </a:endParaRPr>
                    </a:p>
                  </a:txBody>
                  <a:tcPr marL="17907" marR="17907" marT="17907" marB="17907" anchor="ctr">
                    <a:solidFill>
                      <a:schemeClr val="accent1">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200" kern="1200" dirty="0"/>
                        <a:t>보정 후</a:t>
                      </a:r>
                      <a:endParaRPr lang="ko-KR" altLang="en-US" sz="1200" kern="1200" dirty="0">
                        <a:solidFill>
                          <a:schemeClr val="tx2"/>
                        </a:solidFill>
                        <a:latin typeface="+mn-ea"/>
                        <a:ea typeface="+mn-ea"/>
                        <a:cs typeface="+mn-cs"/>
                      </a:endParaRPr>
                    </a:p>
                  </a:txBody>
                  <a:tcPr marL="17907" marR="17907" marT="17907" marB="17907" anchor="ctr">
                    <a:solidFill>
                      <a:schemeClr val="accent1">
                        <a:lumMod val="20000"/>
                        <a:lumOff val="80000"/>
                      </a:schemeClr>
                    </a:solidFill>
                  </a:tcPr>
                </a:tc>
                <a:extLst>
                  <a:ext uri="{0D108BD9-81ED-4DB2-BD59-A6C34878D82A}">
                    <a16:rowId xmlns:a16="http://schemas.microsoft.com/office/drawing/2014/main" val="10000"/>
                  </a:ext>
                </a:extLst>
              </a:tr>
              <a:tr h="167005">
                <a:tc>
                  <a:txBody>
                    <a:bodyPr/>
                    <a:lstStyle/>
                    <a:p>
                      <a:pPr marL="17780" marR="17780" indent="0" algn="just" fontAlgn="base" latinLnBrk="1">
                        <a:lnSpc>
                          <a:spcPct val="130000"/>
                        </a:lnSpc>
                        <a:spcBef>
                          <a:spcPts val="0"/>
                        </a:spcBef>
                        <a:spcAft>
                          <a:spcPts val="0"/>
                        </a:spcAft>
                      </a:pPr>
                      <a:r>
                        <a:rPr lang="ko-KR" altLang="en-US" sz="1200" kern="1200" dirty="0" err="1"/>
                        <a:t>청구항</a:t>
                      </a:r>
                      <a:r>
                        <a:rPr lang="ko-KR" altLang="en-US" sz="1200" kern="1200" dirty="0"/>
                        <a:t> </a:t>
                      </a:r>
                      <a:r>
                        <a:rPr lang="en-US" altLang="ko-KR" sz="1200" kern="1200" dirty="0"/>
                        <a:t>1: </a:t>
                      </a:r>
                      <a:r>
                        <a:rPr lang="ko-KR" altLang="en-US" sz="1200" kern="1200" dirty="0"/>
                        <a:t>구성요소 </a:t>
                      </a:r>
                      <a:r>
                        <a:rPr lang="en-US" altLang="ko-KR" sz="1200" kern="1200" dirty="0"/>
                        <a:t>A </a:t>
                      </a:r>
                      <a:r>
                        <a:rPr lang="ko-KR" altLang="en-US" sz="1200" kern="1200" dirty="0"/>
                        <a:t>및 </a:t>
                      </a:r>
                      <a:r>
                        <a:rPr lang="en-US" altLang="ko-KR" sz="1200" kern="1200" dirty="0"/>
                        <a:t>B</a:t>
                      </a:r>
                      <a:r>
                        <a:rPr lang="ko-KR" altLang="en-US" sz="1200" kern="1200" dirty="0"/>
                        <a:t>에 </a:t>
                      </a:r>
                      <a:r>
                        <a:rPr lang="en-US" altLang="ko-KR" sz="1200" kern="1200" dirty="0"/>
                        <a:t>C</a:t>
                      </a:r>
                      <a:r>
                        <a:rPr lang="ko-KR" altLang="en-US" sz="1200" kern="1200" dirty="0"/>
                        <a:t>를 부가한 장치</a:t>
                      </a:r>
                      <a:endParaRPr lang="ko-KR" altLang="en-US" sz="1200" kern="1200" dirty="0">
                        <a:solidFill>
                          <a:schemeClr val="tx2"/>
                        </a:solidFill>
                        <a:latin typeface="+mn-ea"/>
                        <a:ea typeface="+mn-ea"/>
                        <a:cs typeface="+mn-cs"/>
                      </a:endParaRPr>
                    </a:p>
                  </a:txBody>
                  <a:tcPr marL="17907" marR="17907" marT="17907" marB="17907" anchor="ctr"/>
                </a:tc>
                <a:tc>
                  <a:txBody>
                    <a:bodyPr/>
                    <a:lstStyle/>
                    <a:p>
                      <a:pPr marL="17780" marR="17780" indent="0" algn="just" fontAlgn="base" latinLnBrk="1">
                        <a:lnSpc>
                          <a:spcPct val="130000"/>
                        </a:lnSpc>
                        <a:spcBef>
                          <a:spcPts val="0"/>
                        </a:spcBef>
                        <a:spcAft>
                          <a:spcPts val="0"/>
                        </a:spcAft>
                      </a:pPr>
                      <a:r>
                        <a:rPr lang="ko-KR" altLang="en-US" sz="1200" kern="1200" dirty="0" err="1"/>
                        <a:t>청구항</a:t>
                      </a:r>
                      <a:r>
                        <a:rPr lang="ko-KR" altLang="en-US" sz="1200" kern="1200" dirty="0"/>
                        <a:t> </a:t>
                      </a:r>
                      <a:r>
                        <a:rPr lang="en-US" altLang="ko-KR" sz="1200" kern="1200" dirty="0"/>
                        <a:t>1: </a:t>
                      </a:r>
                      <a:r>
                        <a:rPr lang="ko-KR" altLang="en-US" sz="1200" kern="1200" dirty="0"/>
                        <a:t>구성요소 </a:t>
                      </a:r>
                      <a:r>
                        <a:rPr lang="en-US" altLang="ko-KR" sz="1200" kern="1200" dirty="0"/>
                        <a:t>A </a:t>
                      </a:r>
                      <a:r>
                        <a:rPr lang="ko-KR" altLang="en-US" sz="1200" kern="1200" dirty="0"/>
                        <a:t>및 </a:t>
                      </a:r>
                      <a:r>
                        <a:rPr lang="en-US" altLang="ko-KR" sz="1200" kern="1200" dirty="0"/>
                        <a:t>B</a:t>
                      </a:r>
                      <a:r>
                        <a:rPr lang="ko-KR" altLang="en-US" sz="1200" kern="1200" dirty="0"/>
                        <a:t>에 </a:t>
                      </a:r>
                      <a:r>
                        <a:rPr lang="en-US" altLang="ko-KR" sz="1200" kern="1200" dirty="0"/>
                        <a:t>D</a:t>
                      </a:r>
                      <a:r>
                        <a:rPr lang="ko-KR" altLang="en-US" sz="1200" kern="1200" dirty="0"/>
                        <a:t>를 부가한 장치</a:t>
                      </a:r>
                      <a:endParaRPr lang="ko-KR" altLang="en-US" sz="1200" kern="1200" dirty="0">
                        <a:solidFill>
                          <a:schemeClr val="tx2"/>
                        </a:solidFill>
                        <a:latin typeface="+mn-ea"/>
                        <a:ea typeface="+mn-ea"/>
                        <a:cs typeface="+mn-cs"/>
                      </a:endParaRPr>
                    </a:p>
                  </a:txBody>
                  <a:tcPr marL="17907" marR="17907" marT="17907" marB="17907" anchor="ctr"/>
                </a:tc>
                <a:extLst>
                  <a:ext uri="{0D108BD9-81ED-4DB2-BD59-A6C34878D82A}">
                    <a16:rowId xmlns:a16="http://schemas.microsoft.com/office/drawing/2014/main" val="10001"/>
                  </a:ext>
                </a:extLst>
              </a:tr>
            </a:tbl>
          </a:graphicData>
        </a:graphic>
      </p:graphicFrame>
      <p:sp>
        <p:nvSpPr>
          <p:cNvPr id="6" name="슬라이드 번호 개체 틀 5"/>
          <p:cNvSpPr>
            <a:spLocks noGrp="1"/>
          </p:cNvSpPr>
          <p:nvPr>
            <p:ph type="sldNum" sz="quarter" idx="12"/>
          </p:nvPr>
        </p:nvSpPr>
        <p:spPr/>
        <p:txBody>
          <a:bodyPr/>
          <a:lstStyle/>
          <a:p>
            <a:r>
              <a:rPr lang="en-US" altLang="ko-KR"/>
              <a:t>256</a:t>
            </a:r>
            <a:endParaRPr lang="ko-KR" altLang="en-US" dirty="0"/>
          </a:p>
        </p:txBody>
      </p:sp>
    </p:spTree>
    <p:extLst>
      <p:ext uri="{BB962C8B-B14F-4D97-AF65-F5344CB8AC3E}">
        <p14:creationId xmlns:p14="http://schemas.microsoft.com/office/powerpoint/2010/main" val="2667733036"/>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solidFill>
                  <a:srgbClr val="525252"/>
                </a:solidFill>
              </a:rPr>
              <a:t>원거절이유의</a:t>
            </a:r>
            <a:r>
              <a:rPr lang="ko-KR" altLang="en-US" dirty="0">
                <a:solidFill>
                  <a:srgbClr val="525252"/>
                </a:solidFill>
              </a:rPr>
              <a:t> 해소 여부</a:t>
            </a:r>
            <a:r>
              <a:rPr lang="en-US" altLang="ko-KR" sz="2000" dirty="0">
                <a:solidFill>
                  <a:srgbClr val="525252"/>
                </a:solidFill>
              </a:rPr>
              <a:t>(</a:t>
            </a:r>
            <a:r>
              <a:rPr lang="ko-KR" altLang="en-US" sz="2000" dirty="0" err="1">
                <a:solidFill>
                  <a:srgbClr val="525252"/>
                </a:solidFill>
              </a:rPr>
              <a:t>거절이유통지와</a:t>
            </a:r>
            <a:r>
              <a:rPr lang="ko-KR" altLang="en-US" sz="2000" dirty="0">
                <a:solidFill>
                  <a:srgbClr val="525252"/>
                </a:solidFill>
              </a:rPr>
              <a:t> 거절결정과의 관계</a:t>
            </a:r>
            <a:r>
              <a:rPr lang="en-US" altLang="ko-KR" sz="2000" dirty="0">
                <a:solidFill>
                  <a:srgbClr val="525252"/>
                </a:solidFill>
              </a:rPr>
              <a:t>)</a:t>
            </a:r>
            <a:endParaRPr lang="ko-KR" altLang="en-US" dirty="0">
              <a:solidFill>
                <a:srgbClr val="525252"/>
              </a:solidFill>
            </a:endParaRPr>
          </a:p>
        </p:txBody>
      </p:sp>
      <p:sp>
        <p:nvSpPr>
          <p:cNvPr id="5" name="슬라이드 번호 개체 틀 4"/>
          <p:cNvSpPr>
            <a:spLocks noGrp="1"/>
          </p:cNvSpPr>
          <p:nvPr>
            <p:ph type="sldNum" sz="quarter" idx="4294967295"/>
          </p:nvPr>
        </p:nvSpPr>
        <p:spPr>
          <a:xfrm>
            <a:off x="11144250" y="3175"/>
            <a:ext cx="1047750" cy="714375"/>
          </a:xfrm>
        </p:spPr>
        <p:txBody>
          <a:bodyPr/>
          <a:lstStyle/>
          <a:p>
            <a:r>
              <a:rPr lang="en-US" altLang="ko-KR"/>
              <a:t>257</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5" name="TextBox 54"/>
          <p:cNvSpPr txBox="1"/>
          <p:nvPr/>
        </p:nvSpPr>
        <p:spPr>
          <a:xfrm>
            <a:off x="77875" y="986046"/>
            <a:ext cx="11936323" cy="954107"/>
          </a:xfrm>
          <a:prstGeom prst="rect">
            <a:avLst/>
          </a:prstGeom>
          <a:noFill/>
        </p:spPr>
        <p:txBody>
          <a:bodyPr wrap="square" rtlCol="0">
            <a:spAutoFit/>
          </a:bodyPr>
          <a:lstStyle/>
          <a:p>
            <a:pPr fontAlgn="base"/>
            <a:r>
              <a:rPr lang="ko-KR" altLang="en-US" sz="1400" dirty="0">
                <a:solidFill>
                  <a:schemeClr val="tx2"/>
                </a:solidFill>
              </a:rPr>
              <a:t>심사관은 거절이유통지에 따라 제출된 </a:t>
            </a:r>
            <a:r>
              <a:rPr lang="ko-KR" altLang="en-US" sz="1400" dirty="0" err="1">
                <a:solidFill>
                  <a:schemeClr val="tx2"/>
                </a:solidFill>
              </a:rPr>
              <a:t>의견서ㆍ보정서에</a:t>
            </a:r>
            <a:r>
              <a:rPr lang="ko-KR" altLang="en-US" sz="1400" dirty="0">
                <a:solidFill>
                  <a:schemeClr val="tx2"/>
                </a:solidFill>
              </a:rPr>
              <a:t> 의해서도 이미 통지한 거절이유가 해소되지 아니하고 동일한 경우에는 다른 거절이유가 있더라도 다시 거절이유를 통지하지 아니하고 특허거절결정을 한다</a:t>
            </a:r>
            <a:r>
              <a:rPr lang="en-US" altLang="ko-KR" sz="1400" dirty="0">
                <a:solidFill>
                  <a:schemeClr val="tx2"/>
                </a:solidFill>
              </a:rPr>
              <a:t>. </a:t>
            </a:r>
            <a:r>
              <a:rPr lang="ko-KR" altLang="en-US" sz="1400" dirty="0">
                <a:solidFill>
                  <a:schemeClr val="tx2"/>
                </a:solidFill>
              </a:rPr>
              <a:t>「거절이유가 이미 통지한 </a:t>
            </a:r>
            <a:r>
              <a:rPr lang="ko-KR" altLang="en-US" sz="1400" dirty="0" err="1">
                <a:solidFill>
                  <a:schemeClr val="tx2"/>
                </a:solidFill>
              </a:rPr>
              <a:t>거절이유와</a:t>
            </a:r>
            <a:r>
              <a:rPr lang="ko-KR" altLang="en-US" sz="1400" dirty="0">
                <a:solidFill>
                  <a:schemeClr val="tx2"/>
                </a:solidFill>
              </a:rPr>
              <a:t> 동일한 </a:t>
            </a:r>
            <a:r>
              <a:rPr lang="ko-KR" altLang="en-US" sz="1400" dirty="0" err="1">
                <a:solidFill>
                  <a:schemeClr val="tx2"/>
                </a:solidFill>
              </a:rPr>
              <a:t>경우」란</a:t>
            </a:r>
            <a:r>
              <a:rPr lang="ko-KR" altLang="en-US" sz="1400" dirty="0">
                <a:solidFill>
                  <a:schemeClr val="tx2"/>
                </a:solidFill>
              </a:rPr>
              <a:t> 해당 거절이유가 앞서 통지된 거절이유통지에서 지적한 </a:t>
            </a:r>
            <a:r>
              <a:rPr lang="ko-KR" altLang="en-US" sz="1400" dirty="0" err="1">
                <a:solidFill>
                  <a:schemeClr val="tx2"/>
                </a:solidFill>
              </a:rPr>
              <a:t>거절이유와</a:t>
            </a:r>
            <a:r>
              <a:rPr lang="ko-KR" altLang="en-US" sz="1400" dirty="0">
                <a:solidFill>
                  <a:schemeClr val="tx2"/>
                </a:solidFill>
              </a:rPr>
              <a:t> 주지</a:t>
            </a:r>
            <a:r>
              <a:rPr lang="en-US" altLang="ko-KR" sz="1400" dirty="0">
                <a:solidFill>
                  <a:schemeClr val="tx2"/>
                </a:solidFill>
              </a:rPr>
              <a:t>(</a:t>
            </a:r>
            <a:r>
              <a:rPr lang="ko-KR" altLang="en-US" sz="1400" dirty="0">
                <a:solidFill>
                  <a:schemeClr val="tx2"/>
                </a:solidFill>
              </a:rPr>
              <a:t>主旨</a:t>
            </a:r>
            <a:r>
              <a:rPr lang="en-US" altLang="ko-KR" sz="1400" dirty="0">
                <a:solidFill>
                  <a:schemeClr val="tx2"/>
                </a:solidFill>
              </a:rPr>
              <a:t>)</a:t>
            </a:r>
            <a:r>
              <a:rPr lang="ko-KR" altLang="en-US" sz="1400" dirty="0">
                <a:solidFill>
                  <a:schemeClr val="tx2"/>
                </a:solidFill>
              </a:rPr>
              <a:t>에 있어서 부합되는 경우를 말하는 것으로</a:t>
            </a:r>
            <a:r>
              <a:rPr lang="en-US" altLang="ko-KR" sz="1400" dirty="0">
                <a:solidFill>
                  <a:schemeClr val="tx2"/>
                </a:solidFill>
              </a:rPr>
              <a:t>, </a:t>
            </a:r>
            <a:r>
              <a:rPr lang="ko-KR" altLang="en-US" sz="1400" dirty="0">
                <a:solidFill>
                  <a:schemeClr val="tx2"/>
                </a:solidFill>
              </a:rPr>
              <a:t>주지가 부합되는지 여부는 일부의 문구나 표현에 구애되어서는 아니 되고 </a:t>
            </a:r>
            <a:r>
              <a:rPr lang="ko-KR" altLang="en-US" sz="1400" dirty="0" err="1">
                <a:solidFill>
                  <a:schemeClr val="tx2"/>
                </a:solidFill>
              </a:rPr>
              <a:t>출원인에게</a:t>
            </a:r>
            <a:r>
              <a:rPr lang="ko-KR" altLang="en-US" sz="1400" dirty="0">
                <a:solidFill>
                  <a:schemeClr val="tx2"/>
                </a:solidFill>
              </a:rPr>
              <a:t> 의견을 제출할 기회가 실질적으로 부여되었는지 여부의 관점에서 평가되어야 한다</a:t>
            </a:r>
            <a:r>
              <a:rPr lang="en-US" altLang="ko-KR" sz="1400" dirty="0">
                <a:solidFill>
                  <a:schemeClr val="tx2"/>
                </a:solidFill>
              </a:rPr>
              <a:t>. </a:t>
            </a:r>
            <a:endParaRPr lang="en-US" altLang="ko-KR" sz="1400" dirty="0">
              <a:solidFill>
                <a:srgbClr val="FF0000"/>
              </a:solidFill>
            </a:endParaRPr>
          </a:p>
        </p:txBody>
      </p:sp>
      <p:cxnSp>
        <p:nvCxnSpPr>
          <p:cNvPr id="56" name="직선 연결선 55"/>
          <p:cNvCxnSpPr/>
          <p:nvPr/>
        </p:nvCxnSpPr>
        <p:spPr>
          <a:xfrm>
            <a:off x="0" y="195066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FE9A4C4-2ED9-4E04-9EB1-37F3054EBB5F}"/>
              </a:ext>
            </a:extLst>
          </p:cNvPr>
          <p:cNvSpPr txBox="1"/>
          <p:nvPr/>
        </p:nvSpPr>
        <p:spPr>
          <a:xfrm>
            <a:off x="1599794" y="2040192"/>
            <a:ext cx="2217683" cy="400110"/>
          </a:xfrm>
          <a:prstGeom prst="rect">
            <a:avLst/>
          </a:prstGeom>
          <a:solidFill>
            <a:schemeClr val="tx2">
              <a:lumMod val="20000"/>
              <a:lumOff val="80000"/>
            </a:schemeClr>
          </a:solidFill>
          <a:ln>
            <a:solidFill>
              <a:schemeClr val="bg2">
                <a:lumMod val="50000"/>
              </a:schemeClr>
            </a:solidFill>
          </a:ln>
        </p:spPr>
        <p:txBody>
          <a:bodyPr wrap="square" rtlCol="0">
            <a:spAutoFit/>
          </a:bodyPr>
          <a:lstStyle/>
          <a:p>
            <a:pPr algn="ctr"/>
            <a:r>
              <a:rPr lang="ko-KR" altLang="en-US" sz="2000" dirty="0" err="1"/>
              <a:t>거절이유통지</a:t>
            </a:r>
            <a:endParaRPr lang="ko-KR" altLang="en-US" sz="2000" dirty="0"/>
          </a:p>
        </p:txBody>
      </p:sp>
      <p:sp>
        <p:nvSpPr>
          <p:cNvPr id="28" name="TextBox 27">
            <a:extLst>
              <a:ext uri="{FF2B5EF4-FFF2-40B4-BE49-F238E27FC236}">
                <a16:creationId xmlns:a16="http://schemas.microsoft.com/office/drawing/2014/main" id="{8A2E51E6-4BFC-4D42-85A1-5D4CE59C7190}"/>
              </a:ext>
            </a:extLst>
          </p:cNvPr>
          <p:cNvSpPr txBox="1"/>
          <p:nvPr/>
        </p:nvSpPr>
        <p:spPr>
          <a:xfrm>
            <a:off x="8166539" y="2040192"/>
            <a:ext cx="2217683" cy="400110"/>
          </a:xfrm>
          <a:prstGeom prst="rect">
            <a:avLst/>
          </a:prstGeom>
          <a:solidFill>
            <a:schemeClr val="tx2">
              <a:lumMod val="20000"/>
              <a:lumOff val="80000"/>
            </a:schemeClr>
          </a:solidFill>
          <a:ln>
            <a:solidFill>
              <a:schemeClr val="bg2">
                <a:lumMod val="50000"/>
              </a:schemeClr>
            </a:solidFill>
          </a:ln>
        </p:spPr>
        <p:txBody>
          <a:bodyPr wrap="square" rtlCol="0">
            <a:spAutoFit/>
          </a:bodyPr>
          <a:lstStyle/>
          <a:p>
            <a:pPr algn="ctr"/>
            <a:r>
              <a:rPr lang="ko-KR" altLang="en-US" sz="2000" dirty="0"/>
              <a:t>거절결정</a:t>
            </a:r>
          </a:p>
        </p:txBody>
      </p:sp>
      <p:cxnSp>
        <p:nvCxnSpPr>
          <p:cNvPr id="12" name="직선 화살표 연결선 11">
            <a:extLst>
              <a:ext uri="{FF2B5EF4-FFF2-40B4-BE49-F238E27FC236}">
                <a16:creationId xmlns:a16="http://schemas.microsoft.com/office/drawing/2014/main" id="{95576843-71C2-4938-A5B9-EA0AF903FB1F}"/>
              </a:ext>
            </a:extLst>
          </p:cNvPr>
          <p:cNvCxnSpPr>
            <a:cxnSpLocks/>
            <a:stCxn id="6" idx="3"/>
            <a:endCxn id="26" idx="1"/>
          </p:cNvCxnSpPr>
          <p:nvPr/>
        </p:nvCxnSpPr>
        <p:spPr>
          <a:xfrm>
            <a:off x="3217748" y="2682362"/>
            <a:ext cx="5252684" cy="0"/>
          </a:xfrm>
          <a:prstGeom prst="straightConnector1">
            <a:avLst/>
          </a:prstGeom>
          <a:ln>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58284E3B-69D5-4330-9DB7-6A44B200FC8E}"/>
              </a:ext>
            </a:extLst>
          </p:cNvPr>
          <p:cNvSpPr txBox="1"/>
          <p:nvPr/>
        </p:nvSpPr>
        <p:spPr>
          <a:xfrm>
            <a:off x="4313117" y="2012595"/>
            <a:ext cx="3076483" cy="584775"/>
          </a:xfrm>
          <a:prstGeom prst="rect">
            <a:avLst/>
          </a:prstGeom>
          <a:noFill/>
        </p:spPr>
        <p:txBody>
          <a:bodyPr wrap="none" rtlCol="0">
            <a:spAutoFit/>
          </a:bodyPr>
          <a:lstStyle/>
          <a:p>
            <a:pPr algn="ctr"/>
            <a:r>
              <a:rPr lang="ko-KR" altLang="en-US" sz="1600" dirty="0"/>
              <a:t>주지가 부합</a:t>
            </a:r>
            <a:endParaRPr lang="en-US" altLang="ko-KR" sz="1600" dirty="0"/>
          </a:p>
          <a:p>
            <a:pPr algn="ctr"/>
            <a:r>
              <a:rPr lang="en-US" altLang="ko-KR" sz="1600" dirty="0"/>
              <a:t>(</a:t>
            </a:r>
            <a:r>
              <a:rPr lang="ko-KR" altLang="en-US" sz="1600" dirty="0"/>
              <a:t>출원인에게 실질적 대응기회 부여</a:t>
            </a:r>
            <a:r>
              <a:rPr lang="en-US" altLang="ko-KR" sz="1600" dirty="0"/>
              <a:t>)</a:t>
            </a:r>
            <a:endParaRPr lang="ko-KR" altLang="en-US" sz="1600" dirty="0"/>
          </a:p>
        </p:txBody>
      </p:sp>
      <p:sp>
        <p:nvSpPr>
          <p:cNvPr id="16" name="TextBox 15">
            <a:extLst>
              <a:ext uri="{FF2B5EF4-FFF2-40B4-BE49-F238E27FC236}">
                <a16:creationId xmlns:a16="http://schemas.microsoft.com/office/drawing/2014/main" id="{BCD21DD2-F1E4-4438-A98E-CD0580EA089D}"/>
              </a:ext>
            </a:extLst>
          </p:cNvPr>
          <p:cNvSpPr txBox="1"/>
          <p:nvPr/>
        </p:nvSpPr>
        <p:spPr>
          <a:xfrm>
            <a:off x="798787" y="3000874"/>
            <a:ext cx="8810760" cy="523220"/>
          </a:xfrm>
          <a:prstGeom prst="rect">
            <a:avLst/>
          </a:prstGeom>
          <a:noFill/>
        </p:spPr>
        <p:txBody>
          <a:bodyPr wrap="square" rtlCol="0">
            <a:spAutoFit/>
          </a:bodyPr>
          <a:lstStyle/>
          <a:p>
            <a:r>
              <a:rPr lang="ko-KR" altLang="en-US" sz="1400" dirty="0"/>
              <a:t>다른 </a:t>
            </a:r>
            <a:r>
              <a:rPr lang="ko-KR" altLang="en-US" sz="1400" dirty="0" err="1"/>
              <a:t>거절이유통지하고</a:t>
            </a:r>
            <a:r>
              <a:rPr lang="ko-KR" altLang="en-US" sz="1400" dirty="0"/>
              <a:t> 거절결정해서는 안 된다</a:t>
            </a:r>
            <a:r>
              <a:rPr lang="en-US" altLang="ko-KR" sz="1400" dirty="0"/>
              <a:t>.</a:t>
            </a:r>
          </a:p>
          <a:p>
            <a:r>
              <a:rPr lang="en-US" altLang="ko-KR" sz="1400" dirty="0"/>
              <a:t>(</a:t>
            </a:r>
            <a:r>
              <a:rPr lang="ko-KR" altLang="en-US" sz="1400" dirty="0">
                <a:solidFill>
                  <a:srgbClr val="FF0000"/>
                </a:solidFill>
              </a:rPr>
              <a:t>우선 법조문을 달리 한다면 거절이유를 달리하며</a:t>
            </a:r>
            <a:r>
              <a:rPr lang="en-US" altLang="ko-KR" sz="1400" dirty="0">
                <a:solidFill>
                  <a:srgbClr val="FF0000"/>
                </a:solidFill>
              </a:rPr>
              <a:t>, </a:t>
            </a:r>
            <a:r>
              <a:rPr lang="ko-KR" altLang="en-US" sz="1400" dirty="0">
                <a:solidFill>
                  <a:srgbClr val="FF0000"/>
                </a:solidFill>
              </a:rPr>
              <a:t>법조문을 같이 하더라도 사실을 달리 한다면 거절이유를 달리한다</a:t>
            </a:r>
            <a:r>
              <a:rPr lang="en-US" altLang="ko-KR" sz="1400" dirty="0">
                <a:solidFill>
                  <a:srgbClr val="FF0000"/>
                </a:solidFill>
              </a:rPr>
              <a:t>.)</a:t>
            </a:r>
            <a:endParaRPr lang="ko-KR" altLang="en-US" sz="1400" dirty="0"/>
          </a:p>
        </p:txBody>
      </p:sp>
      <p:sp>
        <p:nvSpPr>
          <p:cNvPr id="36" name="TextBox 35">
            <a:extLst>
              <a:ext uri="{FF2B5EF4-FFF2-40B4-BE49-F238E27FC236}">
                <a16:creationId xmlns:a16="http://schemas.microsoft.com/office/drawing/2014/main" id="{90169D22-EC80-45D7-B146-6FB6C25F5563}"/>
              </a:ext>
            </a:extLst>
          </p:cNvPr>
          <p:cNvSpPr txBox="1"/>
          <p:nvPr/>
        </p:nvSpPr>
        <p:spPr>
          <a:xfrm>
            <a:off x="758529" y="3506497"/>
            <a:ext cx="11134833" cy="523220"/>
          </a:xfrm>
          <a:prstGeom prst="rect">
            <a:avLst/>
          </a:prstGeom>
          <a:noFill/>
        </p:spPr>
        <p:txBody>
          <a:bodyPr wrap="square" rtlCol="0">
            <a:spAutoFit/>
          </a:bodyPr>
          <a:lstStyle/>
          <a:p>
            <a:r>
              <a:rPr lang="ko-KR" altLang="en-US" sz="1400" dirty="0" err="1"/>
              <a:t>거절이유통지가</a:t>
            </a:r>
            <a:r>
              <a:rPr lang="ko-KR" altLang="en-US" sz="1400" dirty="0"/>
              <a:t> 어느 정도 추상적이나 개괄적으로 기재되어 있다고 하더라도 통상의 기술자가 전체적으로 그 취지를 이해할 수 있을 정도로 기재되어 있으면 충분하다</a:t>
            </a:r>
            <a:r>
              <a:rPr lang="en-US" altLang="ko-KR" sz="1400" dirty="0"/>
              <a:t>(</a:t>
            </a:r>
            <a:r>
              <a:rPr lang="ko-KR" altLang="en-US" sz="1400" dirty="0"/>
              <a:t>대법원 </a:t>
            </a:r>
            <a:r>
              <a:rPr lang="en-US" altLang="ko-KR" sz="1400" dirty="0"/>
              <a:t>2008. 12. 24. </a:t>
            </a:r>
            <a:r>
              <a:rPr lang="ko-KR" altLang="en-US" sz="1400" dirty="0"/>
              <a:t>선고 </a:t>
            </a:r>
            <a:r>
              <a:rPr lang="en-US" altLang="ko-KR" sz="1400" dirty="0"/>
              <a:t>2007</a:t>
            </a:r>
            <a:r>
              <a:rPr lang="ko-KR" altLang="en-US" sz="1400" dirty="0"/>
              <a:t>후</a:t>
            </a:r>
            <a:r>
              <a:rPr lang="en-US" altLang="ko-KR" sz="1400" dirty="0"/>
              <a:t>265 </a:t>
            </a:r>
            <a:r>
              <a:rPr lang="ko-KR" altLang="en-US" sz="1400" dirty="0"/>
              <a:t>등</a:t>
            </a:r>
            <a:r>
              <a:rPr lang="en-US" altLang="ko-KR" sz="1400" dirty="0"/>
              <a:t>)</a:t>
            </a:r>
            <a:endParaRPr lang="ko-KR" altLang="en-US" sz="1400" dirty="0"/>
          </a:p>
        </p:txBody>
      </p:sp>
      <p:sp>
        <p:nvSpPr>
          <p:cNvPr id="38" name="TextBox 37">
            <a:extLst>
              <a:ext uri="{FF2B5EF4-FFF2-40B4-BE49-F238E27FC236}">
                <a16:creationId xmlns:a16="http://schemas.microsoft.com/office/drawing/2014/main" id="{F2B4B794-80FF-4722-BBFF-73FDDF6B8C26}"/>
              </a:ext>
            </a:extLst>
          </p:cNvPr>
          <p:cNvSpPr txBox="1"/>
          <p:nvPr/>
        </p:nvSpPr>
        <p:spPr>
          <a:xfrm>
            <a:off x="758529" y="4008215"/>
            <a:ext cx="11134833" cy="523220"/>
          </a:xfrm>
          <a:prstGeom prst="rect">
            <a:avLst/>
          </a:prstGeom>
          <a:noFill/>
        </p:spPr>
        <p:txBody>
          <a:bodyPr wrap="square" rtlCol="0">
            <a:spAutoFit/>
          </a:bodyPr>
          <a:lstStyle/>
          <a:p>
            <a:pPr fontAlgn="base"/>
            <a:r>
              <a:rPr lang="ko-KR" altLang="en-US" sz="1400" dirty="0"/>
              <a:t>출원발명에 대하여 우선권주장의 불인정으로 거절이유가 생긴 경우에는 </a:t>
            </a:r>
            <a:r>
              <a:rPr lang="ko-KR" altLang="en-US" sz="1400" dirty="0">
                <a:solidFill>
                  <a:srgbClr val="FF0000"/>
                </a:solidFill>
              </a:rPr>
              <a:t>우선권주장의 불인정은 거절이유 일부를 구성</a:t>
            </a:r>
            <a:r>
              <a:rPr lang="ko-KR" altLang="en-US" sz="1400" dirty="0"/>
              <a:t>하는 것이므로</a:t>
            </a:r>
            <a:r>
              <a:rPr lang="en-US" altLang="ko-KR" sz="1400" dirty="0"/>
              <a:t>, </a:t>
            </a:r>
            <a:r>
              <a:rPr lang="ko-KR" altLang="en-US" sz="1400" dirty="0"/>
              <a:t>우선권주장이 인정되지 아니한다는 취지 및 그 이유를 </a:t>
            </a:r>
            <a:r>
              <a:rPr lang="ko-KR" altLang="en-US" sz="1400" dirty="0" err="1"/>
              <a:t>거절이유통지서에</a:t>
            </a:r>
            <a:r>
              <a:rPr lang="ko-KR" altLang="en-US" sz="1400" dirty="0"/>
              <a:t> 포함하여야 한다</a:t>
            </a:r>
            <a:r>
              <a:rPr lang="en-US" altLang="ko-KR" sz="1400" dirty="0"/>
              <a:t>(</a:t>
            </a:r>
            <a:r>
              <a:rPr lang="ko-KR" altLang="en-US" sz="1400" dirty="0"/>
              <a:t>대법원 </a:t>
            </a:r>
            <a:r>
              <a:rPr lang="en-US" altLang="ko-KR" sz="1400" dirty="0"/>
              <a:t>2011. 9. 8. </a:t>
            </a:r>
            <a:r>
              <a:rPr lang="ko-KR" altLang="en-US" sz="1400" dirty="0"/>
              <a:t>선고 </a:t>
            </a:r>
            <a:r>
              <a:rPr lang="en-US" altLang="ko-KR" sz="1400" dirty="0"/>
              <a:t>2009</a:t>
            </a:r>
            <a:r>
              <a:rPr lang="ko-KR" altLang="en-US" sz="1400" dirty="0"/>
              <a:t>후</a:t>
            </a:r>
            <a:r>
              <a:rPr lang="en-US" altLang="ko-KR" sz="1400" dirty="0"/>
              <a:t>2371).</a:t>
            </a:r>
            <a:endParaRPr lang="ko-KR" altLang="en-US" sz="1400" dirty="0"/>
          </a:p>
        </p:txBody>
      </p:sp>
      <p:sp>
        <p:nvSpPr>
          <p:cNvPr id="18" name="직사각형 17">
            <a:extLst>
              <a:ext uri="{FF2B5EF4-FFF2-40B4-BE49-F238E27FC236}">
                <a16:creationId xmlns:a16="http://schemas.microsoft.com/office/drawing/2014/main" id="{E15EC0F2-B8E4-4590-8A28-1A52915A1353}"/>
              </a:ext>
            </a:extLst>
          </p:cNvPr>
          <p:cNvSpPr/>
          <p:nvPr/>
        </p:nvSpPr>
        <p:spPr>
          <a:xfrm>
            <a:off x="92365" y="2937778"/>
            <a:ext cx="11921833" cy="386007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cxnSp>
        <p:nvCxnSpPr>
          <p:cNvPr id="20" name="연결선: 꺾임 19">
            <a:extLst>
              <a:ext uri="{FF2B5EF4-FFF2-40B4-BE49-F238E27FC236}">
                <a16:creationId xmlns:a16="http://schemas.microsoft.com/office/drawing/2014/main" id="{324E418E-F82F-43E1-90C6-9AB59DBC8167}"/>
              </a:ext>
            </a:extLst>
          </p:cNvPr>
          <p:cNvCxnSpPr>
            <a:cxnSpLocks/>
            <a:stCxn id="13" idx="2"/>
            <a:endCxn id="18" idx="0"/>
          </p:cNvCxnSpPr>
          <p:nvPr/>
        </p:nvCxnSpPr>
        <p:spPr>
          <a:xfrm rot="16200000" flipH="1">
            <a:off x="5782116" y="2666612"/>
            <a:ext cx="340408" cy="201923"/>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타원 14">
            <a:extLst>
              <a:ext uri="{FF2B5EF4-FFF2-40B4-BE49-F238E27FC236}">
                <a16:creationId xmlns:a16="http://schemas.microsoft.com/office/drawing/2014/main" id="{F0F5B3AB-5332-4CE3-ABAB-ACA9FB9D9941}"/>
              </a:ext>
            </a:extLst>
          </p:cNvPr>
          <p:cNvSpPr/>
          <p:nvPr/>
        </p:nvSpPr>
        <p:spPr>
          <a:xfrm>
            <a:off x="298639" y="3002889"/>
            <a:ext cx="416064" cy="415212"/>
          </a:xfrm>
          <a:prstGeom prst="ellipse">
            <a:avLst/>
          </a:prstGeom>
          <a:solidFill>
            <a:schemeClr val="accent2">
              <a:lumMod val="40000"/>
              <a:lumOff val="6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1</a:t>
            </a:r>
            <a:endParaRPr lang="ko-KR" altLang="en-US" sz="1400" dirty="0"/>
          </a:p>
        </p:txBody>
      </p:sp>
      <p:sp>
        <p:nvSpPr>
          <p:cNvPr id="35" name="타원 34">
            <a:extLst>
              <a:ext uri="{FF2B5EF4-FFF2-40B4-BE49-F238E27FC236}">
                <a16:creationId xmlns:a16="http://schemas.microsoft.com/office/drawing/2014/main" id="{FCEA7E38-4AD7-4C63-B3A6-E163E98AFA19}"/>
              </a:ext>
            </a:extLst>
          </p:cNvPr>
          <p:cNvSpPr/>
          <p:nvPr/>
        </p:nvSpPr>
        <p:spPr>
          <a:xfrm>
            <a:off x="298639" y="3532935"/>
            <a:ext cx="416064" cy="415212"/>
          </a:xfrm>
          <a:prstGeom prst="ellipse">
            <a:avLst/>
          </a:prstGeom>
          <a:solidFill>
            <a:schemeClr val="accent2">
              <a:lumMod val="60000"/>
              <a:lumOff val="4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2</a:t>
            </a:r>
            <a:endParaRPr lang="ko-KR" altLang="en-US" sz="1400" dirty="0"/>
          </a:p>
        </p:txBody>
      </p:sp>
      <p:sp>
        <p:nvSpPr>
          <p:cNvPr id="37" name="타원 36">
            <a:extLst>
              <a:ext uri="{FF2B5EF4-FFF2-40B4-BE49-F238E27FC236}">
                <a16:creationId xmlns:a16="http://schemas.microsoft.com/office/drawing/2014/main" id="{9566ADC7-73C4-4E7B-A20E-ED49B53CA103}"/>
              </a:ext>
            </a:extLst>
          </p:cNvPr>
          <p:cNvSpPr/>
          <p:nvPr/>
        </p:nvSpPr>
        <p:spPr>
          <a:xfrm>
            <a:off x="298639" y="4005829"/>
            <a:ext cx="416064" cy="415212"/>
          </a:xfrm>
          <a:prstGeom prst="ellipse">
            <a:avLst/>
          </a:prstGeom>
          <a:solidFill>
            <a:schemeClr val="accent2">
              <a:lumMod val="75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3</a:t>
            </a:r>
            <a:endParaRPr lang="ko-KR" altLang="en-US" sz="1400" dirty="0"/>
          </a:p>
        </p:txBody>
      </p:sp>
      <p:sp>
        <p:nvSpPr>
          <p:cNvPr id="22" name="타원 21">
            <a:extLst>
              <a:ext uri="{FF2B5EF4-FFF2-40B4-BE49-F238E27FC236}">
                <a16:creationId xmlns:a16="http://schemas.microsoft.com/office/drawing/2014/main" id="{660C2536-EE96-4989-AAA2-83B7499FD36A}"/>
              </a:ext>
            </a:extLst>
          </p:cNvPr>
          <p:cNvSpPr/>
          <p:nvPr/>
        </p:nvSpPr>
        <p:spPr>
          <a:xfrm>
            <a:off x="298639" y="4490626"/>
            <a:ext cx="416064" cy="415212"/>
          </a:xfrm>
          <a:prstGeom prst="ellipse">
            <a:avLst/>
          </a:prstGeom>
          <a:solidFill>
            <a:schemeClr val="accent2">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4</a:t>
            </a:r>
            <a:endParaRPr lang="ko-KR" altLang="en-US" sz="1400" dirty="0"/>
          </a:p>
        </p:txBody>
      </p:sp>
      <p:sp>
        <p:nvSpPr>
          <p:cNvPr id="23" name="TextBox 22">
            <a:extLst>
              <a:ext uri="{FF2B5EF4-FFF2-40B4-BE49-F238E27FC236}">
                <a16:creationId xmlns:a16="http://schemas.microsoft.com/office/drawing/2014/main" id="{A0E8FB2C-6913-43CE-A027-F6AF21B041BE}"/>
              </a:ext>
            </a:extLst>
          </p:cNvPr>
          <p:cNvSpPr txBox="1"/>
          <p:nvPr/>
        </p:nvSpPr>
        <p:spPr>
          <a:xfrm>
            <a:off x="758529" y="4493012"/>
            <a:ext cx="11134833" cy="1384995"/>
          </a:xfrm>
          <a:prstGeom prst="rect">
            <a:avLst/>
          </a:prstGeom>
          <a:noFill/>
        </p:spPr>
        <p:txBody>
          <a:bodyPr wrap="square" rtlCol="0">
            <a:spAutoFit/>
          </a:bodyPr>
          <a:lstStyle/>
          <a:p>
            <a:pPr fontAlgn="base"/>
            <a:r>
              <a:rPr lang="ko-KR" altLang="en-US" sz="1400" dirty="0"/>
              <a:t>기통지한 거절이유에서 선행기술로 인용된 자료가 특허공보와 같이 하나의 기술에 관한 것이거나 여러 </a:t>
            </a:r>
            <a:r>
              <a:rPr lang="ko-KR" altLang="en-US" sz="1400" dirty="0" err="1"/>
              <a:t>실시태양을</a:t>
            </a:r>
            <a:r>
              <a:rPr lang="ko-KR" altLang="en-US" sz="1400" dirty="0"/>
              <a:t> 개시하고 있지만 동일 또는 밀접한 기술사상에 대한 문헌인 경우에는 </a:t>
            </a:r>
            <a:r>
              <a:rPr lang="ko-KR" altLang="en-US" sz="1400" dirty="0">
                <a:solidFill>
                  <a:srgbClr val="FF0000"/>
                </a:solidFill>
              </a:rPr>
              <a:t>그 문헌 전체</a:t>
            </a:r>
            <a:r>
              <a:rPr lang="ko-KR" altLang="en-US" sz="1400" dirty="0"/>
              <a:t>에 대하여 </a:t>
            </a:r>
            <a:r>
              <a:rPr lang="ko-KR" altLang="en-US" sz="1400" dirty="0" err="1"/>
              <a:t>거절이유통지가</a:t>
            </a:r>
            <a:r>
              <a:rPr lang="ko-KR" altLang="en-US" sz="1400" dirty="0"/>
              <a:t> 있었다고 봄이 상당하므로</a:t>
            </a:r>
            <a:r>
              <a:rPr lang="en-US" altLang="ko-KR" sz="1400" dirty="0"/>
              <a:t>, </a:t>
            </a:r>
            <a:r>
              <a:rPr lang="ko-KR" altLang="en-US" sz="1400" dirty="0"/>
              <a:t>추가적인 </a:t>
            </a:r>
            <a:r>
              <a:rPr lang="ko-KR" altLang="en-US" sz="1400" dirty="0" err="1"/>
              <a:t>거절이유통지</a:t>
            </a:r>
            <a:r>
              <a:rPr lang="ko-KR" altLang="en-US" sz="1400" dirty="0"/>
              <a:t> 없이 기통지한 거절이유에서 위 문헌 중 직접 인용하지 않았던 부분을 들어 바로 </a:t>
            </a:r>
            <a:r>
              <a:rPr lang="ko-KR" altLang="en-US" sz="1400" dirty="0" err="1"/>
              <a:t>거절결정할</a:t>
            </a:r>
            <a:r>
              <a:rPr lang="ko-KR" altLang="en-US" sz="1400" dirty="0"/>
              <a:t> 수 있다</a:t>
            </a:r>
            <a:r>
              <a:rPr lang="en-US" altLang="ko-KR" sz="1400" dirty="0"/>
              <a:t>. </a:t>
            </a:r>
            <a:r>
              <a:rPr lang="ko-KR" altLang="en-US" sz="1400" dirty="0"/>
              <a:t>다만</a:t>
            </a:r>
            <a:r>
              <a:rPr lang="en-US" altLang="ko-KR" sz="1400" dirty="0"/>
              <a:t>, </a:t>
            </a:r>
            <a:r>
              <a:rPr lang="ko-KR" altLang="en-US" sz="1400" dirty="0"/>
              <a:t>그 인용된 자료가 서적 등과 같이 방대하거나 여러 개의 기술에 관한 기재가 있는 것인데</a:t>
            </a:r>
            <a:r>
              <a:rPr lang="en-US" altLang="ko-KR" sz="1400" dirty="0"/>
              <a:t>, </a:t>
            </a:r>
            <a:r>
              <a:rPr lang="ko-KR" altLang="en-US" sz="1400" dirty="0" err="1"/>
              <a:t>거절이유통지에서는</a:t>
            </a:r>
            <a:r>
              <a:rPr lang="ko-KR" altLang="en-US" sz="1400" dirty="0"/>
              <a:t> 그 중 일부 기술만을 사본하여 첨부하거나 적시한 경우라면 인용되지 않은 부분을 새로운 거절이유로 볼 여지가 있으므로</a:t>
            </a:r>
            <a:r>
              <a:rPr lang="en-US" altLang="ko-KR" sz="1400" dirty="0"/>
              <a:t>, </a:t>
            </a:r>
            <a:r>
              <a:rPr lang="ko-KR" altLang="en-US" sz="1400" dirty="0"/>
              <a:t>가급적 다시 거절이유를 통지하여 출원인에게 </a:t>
            </a:r>
            <a:r>
              <a:rPr lang="ko-KR" altLang="en-US" sz="1400" dirty="0" err="1"/>
              <a:t>의견제출할</a:t>
            </a:r>
            <a:r>
              <a:rPr lang="ko-KR" altLang="en-US" sz="1400" dirty="0"/>
              <a:t> 기회를 부여하도록 한다</a:t>
            </a:r>
            <a:r>
              <a:rPr lang="en-US" altLang="ko-KR" sz="1400" dirty="0"/>
              <a:t>(</a:t>
            </a:r>
            <a:r>
              <a:rPr lang="ko-KR" altLang="en-US" sz="1400" dirty="0"/>
              <a:t>특허법원 </a:t>
            </a:r>
            <a:r>
              <a:rPr lang="en-US" altLang="ko-KR" sz="1400" dirty="0"/>
              <a:t>2011. 4. 27. </a:t>
            </a:r>
            <a:r>
              <a:rPr lang="ko-KR" altLang="en-US" sz="1400" dirty="0"/>
              <a:t>선고 </a:t>
            </a:r>
            <a:r>
              <a:rPr lang="en-US" altLang="ko-KR" sz="1400" dirty="0"/>
              <a:t>2010</a:t>
            </a:r>
            <a:r>
              <a:rPr lang="ko-KR" altLang="en-US" sz="1400" dirty="0"/>
              <a:t>허</a:t>
            </a:r>
            <a:r>
              <a:rPr lang="en-US" altLang="ko-KR" sz="1400" dirty="0"/>
              <a:t>2612; 2012. 6. 20. </a:t>
            </a:r>
            <a:r>
              <a:rPr lang="ko-KR" altLang="en-US" sz="1400" dirty="0"/>
              <a:t>선고 </a:t>
            </a:r>
            <a:r>
              <a:rPr lang="en-US" altLang="ko-KR" sz="1400" dirty="0"/>
              <a:t>2011</a:t>
            </a:r>
            <a:r>
              <a:rPr lang="ko-KR" altLang="en-US" sz="1400" dirty="0"/>
              <a:t>허</a:t>
            </a:r>
            <a:r>
              <a:rPr lang="en-US" altLang="ko-KR" sz="1400" dirty="0"/>
              <a:t>10306).</a:t>
            </a:r>
            <a:endParaRPr lang="ko-KR" altLang="en-US" sz="1400" dirty="0"/>
          </a:p>
        </p:txBody>
      </p:sp>
      <p:sp>
        <p:nvSpPr>
          <p:cNvPr id="25" name="타원 24">
            <a:extLst>
              <a:ext uri="{FF2B5EF4-FFF2-40B4-BE49-F238E27FC236}">
                <a16:creationId xmlns:a16="http://schemas.microsoft.com/office/drawing/2014/main" id="{A9C3BE4C-6269-4DA1-B498-6257E9661FB2}"/>
              </a:ext>
            </a:extLst>
          </p:cNvPr>
          <p:cNvSpPr/>
          <p:nvPr/>
        </p:nvSpPr>
        <p:spPr>
          <a:xfrm>
            <a:off x="298639" y="5914553"/>
            <a:ext cx="416064" cy="415212"/>
          </a:xfrm>
          <a:prstGeom prst="ellipse">
            <a:avLst/>
          </a:prstGeom>
          <a:solidFill>
            <a:schemeClr val="tx2">
              <a:lumMod val="75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5</a:t>
            </a:r>
            <a:endParaRPr lang="ko-KR" altLang="en-US" sz="1400" dirty="0"/>
          </a:p>
        </p:txBody>
      </p:sp>
      <p:sp>
        <p:nvSpPr>
          <p:cNvPr id="11" name="직사각형 10">
            <a:extLst>
              <a:ext uri="{FF2B5EF4-FFF2-40B4-BE49-F238E27FC236}">
                <a16:creationId xmlns:a16="http://schemas.microsoft.com/office/drawing/2014/main" id="{22C8F76C-5DA2-4A0B-B260-2EE529C71750}"/>
              </a:ext>
            </a:extLst>
          </p:cNvPr>
          <p:cNvSpPr/>
          <p:nvPr/>
        </p:nvSpPr>
        <p:spPr>
          <a:xfrm>
            <a:off x="714703" y="5846137"/>
            <a:ext cx="11178658" cy="954107"/>
          </a:xfrm>
          <a:prstGeom prst="rect">
            <a:avLst/>
          </a:prstGeom>
        </p:spPr>
        <p:txBody>
          <a:bodyPr wrap="square">
            <a:spAutoFit/>
          </a:bodyPr>
          <a:lstStyle/>
          <a:p>
            <a:r>
              <a:rPr lang="ko-KR" altLang="en-US" sz="1400" dirty="0"/>
              <a:t>진보성 위반을 이유로 한 거절이유에 기재된 </a:t>
            </a:r>
            <a:r>
              <a:rPr lang="ko-KR" altLang="en-US" sz="1400" dirty="0">
                <a:solidFill>
                  <a:srgbClr val="FF0000"/>
                </a:solidFill>
              </a:rPr>
              <a:t>주선행발명을 다른 선행발명으로 변경</a:t>
            </a:r>
            <a:r>
              <a:rPr lang="ko-KR" altLang="en-US" sz="1400" dirty="0"/>
              <a:t>하는 경우에는</a:t>
            </a:r>
            <a:r>
              <a:rPr lang="en-US" altLang="ko-KR" sz="1400" dirty="0"/>
              <a:t>, </a:t>
            </a:r>
            <a:r>
              <a:rPr lang="ko-KR" altLang="en-US" sz="1400" dirty="0"/>
              <a:t>일반적으로 출원발명과의 공통점 및 차이점의 인정과 그러한 차이점을 극복하여 출원발명을 쉽게 발명할 수 있는지에 대한 판단 내용이 달라지므로</a:t>
            </a:r>
            <a:r>
              <a:rPr lang="en-US" altLang="ko-KR" sz="1400" dirty="0"/>
              <a:t>, </a:t>
            </a:r>
            <a:r>
              <a:rPr lang="ko-KR" altLang="en-US" sz="1400" dirty="0"/>
              <a:t>출원인에게 이에 대해 실질적으로 의견제출의 기회가 주어졌다고 볼 수 있는 등의 특별한 사정이 없는 한 이미 통지된 거절이유와 주요한 취지가 부합하지 아니하는 새로운 거절이유에 해당한다</a:t>
            </a:r>
            <a:r>
              <a:rPr lang="en-US" altLang="ko-KR" sz="1400" dirty="0"/>
              <a:t>(</a:t>
            </a:r>
            <a:r>
              <a:rPr lang="ko-KR" altLang="en-US" sz="1400" dirty="0"/>
              <a:t>대법원 </a:t>
            </a:r>
            <a:r>
              <a:rPr lang="en-US" altLang="ko-KR" sz="1400" dirty="0"/>
              <a:t>2019. 10. 31. </a:t>
            </a:r>
            <a:r>
              <a:rPr lang="ko-KR" altLang="en-US" sz="1400" dirty="0"/>
              <a:t>선고 </a:t>
            </a:r>
            <a:r>
              <a:rPr lang="en-US" altLang="ko-KR" sz="1400" dirty="0"/>
              <a:t>2015</a:t>
            </a:r>
            <a:r>
              <a:rPr lang="ko-KR" altLang="en-US" sz="1400" dirty="0"/>
              <a:t>후</a:t>
            </a:r>
            <a:r>
              <a:rPr lang="en-US" altLang="ko-KR" sz="1400" dirty="0"/>
              <a:t>2341).</a:t>
            </a:r>
            <a:endParaRPr lang="ko-KR" altLang="en-US" sz="1400" dirty="0"/>
          </a:p>
        </p:txBody>
      </p:sp>
      <p:sp>
        <p:nvSpPr>
          <p:cNvPr id="6" name="TextBox 5">
            <a:extLst>
              <a:ext uri="{FF2B5EF4-FFF2-40B4-BE49-F238E27FC236}">
                <a16:creationId xmlns:a16="http://schemas.microsoft.com/office/drawing/2014/main" id="{7E7C339C-C135-42CB-90BC-2B726740C48E}"/>
              </a:ext>
            </a:extLst>
          </p:cNvPr>
          <p:cNvSpPr txBox="1"/>
          <p:nvPr/>
        </p:nvSpPr>
        <p:spPr>
          <a:xfrm>
            <a:off x="2199521" y="2497696"/>
            <a:ext cx="1018227" cy="369332"/>
          </a:xfrm>
          <a:prstGeom prst="rect">
            <a:avLst/>
          </a:prstGeom>
          <a:solidFill>
            <a:schemeClr val="accent1"/>
          </a:solidFill>
        </p:spPr>
        <p:txBody>
          <a:bodyPr wrap="none" rtlCol="0">
            <a:spAutoFit/>
          </a:bodyPr>
          <a:lstStyle/>
          <a:p>
            <a:r>
              <a:rPr lang="ko-KR" altLang="en-US" dirty="0">
                <a:solidFill>
                  <a:srgbClr val="FFFF00"/>
                </a:solidFill>
              </a:rPr>
              <a:t>거절이유</a:t>
            </a:r>
          </a:p>
        </p:txBody>
      </p:sp>
      <p:sp>
        <p:nvSpPr>
          <p:cNvPr id="26" name="TextBox 25">
            <a:extLst>
              <a:ext uri="{FF2B5EF4-FFF2-40B4-BE49-F238E27FC236}">
                <a16:creationId xmlns:a16="http://schemas.microsoft.com/office/drawing/2014/main" id="{F1F53421-819F-40DF-817B-6FA0AA693595}"/>
              </a:ext>
            </a:extLst>
          </p:cNvPr>
          <p:cNvSpPr txBox="1"/>
          <p:nvPr/>
        </p:nvSpPr>
        <p:spPr>
          <a:xfrm>
            <a:off x="8470432" y="2497696"/>
            <a:ext cx="1707519" cy="369332"/>
          </a:xfrm>
          <a:prstGeom prst="rect">
            <a:avLst/>
          </a:prstGeom>
          <a:solidFill>
            <a:schemeClr val="accent1"/>
          </a:solidFill>
        </p:spPr>
        <p:txBody>
          <a:bodyPr wrap="none" rtlCol="0">
            <a:spAutoFit/>
          </a:bodyPr>
          <a:lstStyle/>
          <a:p>
            <a:r>
              <a:rPr lang="ko-KR" altLang="en-US" dirty="0">
                <a:solidFill>
                  <a:srgbClr val="FFFF00"/>
                </a:solidFill>
              </a:rPr>
              <a:t>거절결정의 이유</a:t>
            </a:r>
          </a:p>
        </p:txBody>
      </p:sp>
    </p:spTree>
    <p:extLst>
      <p:ext uri="{BB962C8B-B14F-4D97-AF65-F5344CB8AC3E}">
        <p14:creationId xmlns:p14="http://schemas.microsoft.com/office/powerpoint/2010/main" val="321245411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solidFill>
                  <a:srgbClr val="525252"/>
                </a:solidFill>
              </a:rPr>
              <a:t>거절이유통지의</a:t>
            </a:r>
            <a:r>
              <a:rPr lang="ko-KR" altLang="en-US" dirty="0">
                <a:solidFill>
                  <a:srgbClr val="525252"/>
                </a:solidFill>
              </a:rPr>
              <a:t> 적법성 판단 </a:t>
            </a:r>
            <a:r>
              <a:rPr lang="en-US" altLang="ko-KR" dirty="0">
                <a:solidFill>
                  <a:srgbClr val="525252"/>
                </a:solidFill>
              </a:rPr>
              <a:t>CASE</a:t>
            </a:r>
            <a:endParaRPr lang="ko-KR" altLang="en-US" dirty="0">
              <a:solidFill>
                <a:srgbClr val="525252"/>
              </a:solidFill>
            </a:endParaRPr>
          </a:p>
        </p:txBody>
      </p:sp>
      <p:sp>
        <p:nvSpPr>
          <p:cNvPr id="5" name="슬라이드 번호 개체 틀 4"/>
          <p:cNvSpPr>
            <a:spLocks noGrp="1"/>
          </p:cNvSpPr>
          <p:nvPr>
            <p:ph type="sldNum" sz="quarter" idx="4294967295"/>
          </p:nvPr>
        </p:nvSpPr>
        <p:spPr>
          <a:xfrm>
            <a:off x="11144250" y="3175"/>
            <a:ext cx="1047750" cy="714375"/>
          </a:xfrm>
        </p:spPr>
        <p:txBody>
          <a:bodyPr/>
          <a:lstStyle/>
          <a:p>
            <a:r>
              <a:rPr lang="en-US" altLang="ko-KR"/>
              <a:t>258</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5" name="TextBox 54"/>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심사관은 거절이유통지에 따라 제출된 </a:t>
            </a:r>
            <a:r>
              <a:rPr lang="ko-KR" altLang="en-US" sz="1400" dirty="0" err="1">
                <a:solidFill>
                  <a:schemeClr val="tx2"/>
                </a:solidFill>
              </a:rPr>
              <a:t>의견서ㆍ보정서에</a:t>
            </a:r>
            <a:r>
              <a:rPr lang="ko-KR" altLang="en-US" sz="1400" dirty="0">
                <a:solidFill>
                  <a:schemeClr val="tx2"/>
                </a:solidFill>
              </a:rPr>
              <a:t> 의해서도 이미 통지한 거절이유가 해소되지 아니하고 동일한 경우에는 다른 거절이유가 있더라도 다시 거절이유를 통지하지 아니하고 특허거절결정을 한다</a:t>
            </a:r>
            <a:r>
              <a:rPr lang="en-US" altLang="ko-KR" sz="1400" dirty="0">
                <a:solidFill>
                  <a:schemeClr val="tx2"/>
                </a:solidFill>
              </a:rPr>
              <a:t>. </a:t>
            </a:r>
            <a:r>
              <a:rPr lang="ko-KR" altLang="en-US" sz="1400" dirty="0">
                <a:solidFill>
                  <a:schemeClr val="tx2"/>
                </a:solidFill>
              </a:rPr>
              <a:t>「이미 통지한 거절이유와 동일한 </a:t>
            </a:r>
            <a:r>
              <a:rPr lang="ko-KR" altLang="en-US" sz="1400" dirty="0" err="1">
                <a:solidFill>
                  <a:schemeClr val="tx2"/>
                </a:solidFill>
              </a:rPr>
              <a:t>경우」란</a:t>
            </a:r>
            <a:r>
              <a:rPr lang="ko-KR" altLang="en-US" sz="1400" dirty="0">
                <a:solidFill>
                  <a:schemeClr val="tx2"/>
                </a:solidFill>
              </a:rPr>
              <a:t> 해당 거절결정의 이유가 앞서 통지된 거절이유통지에서 지적한 거절이유와 주지</a:t>
            </a:r>
            <a:r>
              <a:rPr lang="en-US" altLang="ko-KR" sz="1400" dirty="0">
                <a:solidFill>
                  <a:schemeClr val="tx2"/>
                </a:solidFill>
              </a:rPr>
              <a:t>(</a:t>
            </a:r>
            <a:r>
              <a:rPr lang="ko-KR" altLang="en-US" sz="1400" dirty="0">
                <a:solidFill>
                  <a:schemeClr val="tx2"/>
                </a:solidFill>
              </a:rPr>
              <a:t>主旨</a:t>
            </a:r>
            <a:r>
              <a:rPr lang="en-US" altLang="ko-KR" sz="1400" dirty="0">
                <a:solidFill>
                  <a:schemeClr val="tx2"/>
                </a:solidFill>
              </a:rPr>
              <a:t>)</a:t>
            </a:r>
            <a:r>
              <a:rPr lang="ko-KR" altLang="en-US" sz="1400" dirty="0">
                <a:solidFill>
                  <a:schemeClr val="tx2"/>
                </a:solidFill>
              </a:rPr>
              <a:t>에 있어서 부합되는 경우를 말하는 것으로</a:t>
            </a:r>
            <a:r>
              <a:rPr lang="en-US" altLang="ko-KR" sz="1400" dirty="0">
                <a:solidFill>
                  <a:schemeClr val="tx2"/>
                </a:solidFill>
              </a:rPr>
              <a:t>, </a:t>
            </a:r>
            <a:r>
              <a:rPr lang="ko-KR" altLang="en-US" sz="1400" dirty="0">
                <a:solidFill>
                  <a:schemeClr val="tx2"/>
                </a:solidFill>
              </a:rPr>
              <a:t>주지가 부합되는지 여부는 일부의 문구나 표현에 구애되어서는 아니 되고 </a:t>
            </a:r>
            <a:r>
              <a:rPr lang="ko-KR" altLang="en-US" sz="1400" dirty="0" err="1">
                <a:solidFill>
                  <a:schemeClr val="tx2"/>
                </a:solidFill>
              </a:rPr>
              <a:t>출원인에게</a:t>
            </a:r>
            <a:r>
              <a:rPr lang="ko-KR" altLang="en-US" sz="1400" dirty="0">
                <a:solidFill>
                  <a:schemeClr val="tx2"/>
                </a:solidFill>
              </a:rPr>
              <a:t> 의견을 제출할 기회가 실질적으로 부여되었는지 여부의 관점에서 평가되어야 한다</a:t>
            </a:r>
            <a:r>
              <a:rPr lang="en-US" altLang="ko-KR" sz="1400" dirty="0">
                <a:solidFill>
                  <a:schemeClr val="tx2"/>
                </a:solidFill>
              </a:rPr>
              <a:t>. </a:t>
            </a:r>
            <a:r>
              <a:rPr lang="ko-KR" altLang="en-US" sz="1400" dirty="0">
                <a:solidFill>
                  <a:schemeClr val="tx2"/>
                </a:solidFill>
              </a:rPr>
              <a:t>구체적으로 </a:t>
            </a:r>
            <a:r>
              <a:rPr lang="ko-KR" altLang="en-US" sz="1400" dirty="0">
                <a:solidFill>
                  <a:schemeClr val="accent3">
                    <a:lumMod val="50000"/>
                  </a:schemeClr>
                </a:solidFill>
                <a:highlight>
                  <a:srgbClr val="FFFF00"/>
                </a:highlight>
              </a:rPr>
              <a:t>우선 법조문을 달리 한다면 거절이유를 달리 하며</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법조문을 같이 하더라도 사실을 달리 한다면 거절이유를 달리 한다</a:t>
            </a:r>
            <a:r>
              <a:rPr lang="en-US" altLang="ko-KR" sz="1400" dirty="0">
                <a:solidFill>
                  <a:schemeClr val="accent3">
                    <a:lumMod val="50000"/>
                  </a:schemeClr>
                </a:solidFill>
                <a:highlight>
                  <a:srgbClr val="FFFF00"/>
                </a:highlight>
              </a:rPr>
              <a:t>.</a:t>
            </a:r>
          </a:p>
        </p:txBody>
      </p:sp>
      <p:cxnSp>
        <p:nvCxnSpPr>
          <p:cNvPr id="56" name="직선 연결선 55"/>
          <p:cNvCxnSpPr/>
          <p:nvPr/>
        </p:nvCxnSpPr>
        <p:spPr>
          <a:xfrm>
            <a:off x="0" y="214205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 name="그룹 6">
            <a:extLst>
              <a:ext uri="{FF2B5EF4-FFF2-40B4-BE49-F238E27FC236}">
                <a16:creationId xmlns:a16="http://schemas.microsoft.com/office/drawing/2014/main" id="{B1799F66-476C-40A5-8BC5-E124759A3707}"/>
              </a:ext>
            </a:extLst>
          </p:cNvPr>
          <p:cNvGrpSpPr/>
          <p:nvPr/>
        </p:nvGrpSpPr>
        <p:grpSpPr>
          <a:xfrm>
            <a:off x="184731" y="3585267"/>
            <a:ext cx="3926441" cy="2948318"/>
            <a:chOff x="184731" y="3431910"/>
            <a:chExt cx="3926441" cy="3231065"/>
          </a:xfrm>
        </p:grpSpPr>
        <p:sp>
          <p:nvSpPr>
            <p:cNvPr id="40" name="다이아몬드 39"/>
            <p:cNvSpPr/>
            <p:nvPr/>
          </p:nvSpPr>
          <p:spPr>
            <a:xfrm>
              <a:off x="2719211" y="3902817"/>
              <a:ext cx="1391961" cy="589859"/>
            </a:xfrm>
            <a:prstGeom prst="diamond">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법조문 </a:t>
              </a:r>
              <a:endParaRPr lang="en-US" altLang="ko-KR" sz="1400" dirty="0">
                <a:solidFill>
                  <a:schemeClr val="tx1"/>
                </a:solidFill>
              </a:endParaRPr>
            </a:p>
            <a:p>
              <a:pPr algn="ctr"/>
              <a:r>
                <a:rPr lang="ko-KR" altLang="en-US" sz="1400" dirty="0">
                  <a:solidFill>
                    <a:schemeClr val="tx1"/>
                  </a:solidFill>
                </a:rPr>
                <a:t>동일</a:t>
              </a:r>
            </a:p>
          </p:txBody>
        </p:sp>
        <p:sp>
          <p:nvSpPr>
            <p:cNvPr id="41" name="다이아몬드 40"/>
            <p:cNvSpPr/>
            <p:nvPr/>
          </p:nvSpPr>
          <p:spPr>
            <a:xfrm>
              <a:off x="2719211" y="5103800"/>
              <a:ext cx="1391961" cy="589859"/>
            </a:xfrm>
            <a:prstGeom prst="diamond">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사실 </a:t>
              </a:r>
              <a:endParaRPr lang="en-US" altLang="ko-KR" sz="1400" dirty="0">
                <a:solidFill>
                  <a:schemeClr val="tx1"/>
                </a:solidFill>
              </a:endParaRPr>
            </a:p>
            <a:p>
              <a:pPr algn="ctr"/>
              <a:r>
                <a:rPr lang="ko-KR" altLang="en-US" sz="1400" dirty="0">
                  <a:solidFill>
                    <a:schemeClr val="tx1"/>
                  </a:solidFill>
                </a:rPr>
                <a:t>동일</a:t>
              </a:r>
            </a:p>
          </p:txBody>
        </p:sp>
        <p:sp>
          <p:nvSpPr>
            <p:cNvPr id="42" name="직사각형 41"/>
            <p:cNvSpPr/>
            <p:nvPr/>
          </p:nvSpPr>
          <p:spPr>
            <a:xfrm>
              <a:off x="623838" y="3982181"/>
              <a:ext cx="1129102" cy="44617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다른 </a:t>
              </a:r>
              <a:endParaRPr lang="en-US" altLang="ko-KR" sz="1400" dirty="0">
                <a:solidFill>
                  <a:schemeClr val="tx1"/>
                </a:solidFill>
              </a:endParaRPr>
            </a:p>
            <a:p>
              <a:pPr algn="ctr"/>
              <a:r>
                <a:rPr lang="ko-KR" altLang="en-US" sz="1400" dirty="0">
                  <a:solidFill>
                    <a:schemeClr val="tx1"/>
                  </a:solidFill>
                </a:rPr>
                <a:t>거절이유</a:t>
              </a:r>
            </a:p>
          </p:txBody>
        </p:sp>
        <p:cxnSp>
          <p:nvCxnSpPr>
            <p:cNvPr id="44" name="직선 화살표 연결선 43"/>
            <p:cNvCxnSpPr>
              <a:stCxn id="40" idx="1"/>
              <a:endCxn id="42" idx="3"/>
            </p:cNvCxnSpPr>
            <p:nvPr/>
          </p:nvCxnSpPr>
          <p:spPr>
            <a:xfrm flipH="1">
              <a:off x="1752940" y="4197747"/>
              <a:ext cx="966271" cy="7522"/>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6" name="직사각형 45"/>
            <p:cNvSpPr/>
            <p:nvPr/>
          </p:nvSpPr>
          <p:spPr>
            <a:xfrm>
              <a:off x="2850637" y="6182711"/>
              <a:ext cx="1129102" cy="480264"/>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동일한 </a:t>
              </a:r>
              <a:endParaRPr lang="en-US" altLang="ko-KR" sz="1400" dirty="0">
                <a:solidFill>
                  <a:schemeClr val="tx1"/>
                </a:solidFill>
              </a:endParaRPr>
            </a:p>
            <a:p>
              <a:pPr algn="ctr"/>
              <a:r>
                <a:rPr lang="ko-KR" altLang="en-US" sz="1400" dirty="0">
                  <a:solidFill>
                    <a:schemeClr val="tx1"/>
                  </a:solidFill>
                </a:rPr>
                <a:t>거절이유</a:t>
              </a:r>
            </a:p>
          </p:txBody>
        </p:sp>
        <p:cxnSp>
          <p:nvCxnSpPr>
            <p:cNvPr id="49" name="직선 화살표 연결선 48"/>
            <p:cNvCxnSpPr>
              <a:stCxn id="40" idx="2"/>
              <a:endCxn id="41" idx="0"/>
            </p:cNvCxnSpPr>
            <p:nvPr/>
          </p:nvCxnSpPr>
          <p:spPr>
            <a:xfrm>
              <a:off x="3415192" y="4492676"/>
              <a:ext cx="0" cy="611124"/>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0" name="직선 화살표 연결선 49"/>
            <p:cNvCxnSpPr>
              <a:stCxn id="41" idx="2"/>
              <a:endCxn id="46" idx="0"/>
            </p:cNvCxnSpPr>
            <p:nvPr/>
          </p:nvCxnSpPr>
          <p:spPr>
            <a:xfrm flipH="1">
              <a:off x="3415188" y="5693659"/>
              <a:ext cx="4" cy="489052"/>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1" name="TextBox 50"/>
            <p:cNvSpPr txBox="1"/>
            <p:nvPr/>
          </p:nvSpPr>
          <p:spPr>
            <a:xfrm>
              <a:off x="3418180" y="4492671"/>
              <a:ext cx="534682" cy="261610"/>
            </a:xfrm>
            <a:prstGeom prst="rect">
              <a:avLst/>
            </a:prstGeom>
            <a:noFill/>
          </p:spPr>
          <p:txBody>
            <a:bodyPr wrap="square" rtlCol="0">
              <a:spAutoFit/>
            </a:bodyPr>
            <a:lstStyle/>
            <a:p>
              <a:r>
                <a:rPr lang="en-US" altLang="ko-KR" sz="1100" dirty="0"/>
                <a:t>Yes</a:t>
              </a:r>
              <a:endParaRPr lang="ko-KR" altLang="en-US" sz="1100" dirty="0"/>
            </a:p>
          </p:txBody>
        </p:sp>
        <p:sp>
          <p:nvSpPr>
            <p:cNvPr id="52" name="TextBox 51"/>
            <p:cNvSpPr txBox="1"/>
            <p:nvPr/>
          </p:nvSpPr>
          <p:spPr>
            <a:xfrm>
              <a:off x="3418180" y="5697348"/>
              <a:ext cx="461611" cy="261610"/>
            </a:xfrm>
            <a:prstGeom prst="rect">
              <a:avLst/>
            </a:prstGeom>
            <a:noFill/>
          </p:spPr>
          <p:txBody>
            <a:bodyPr wrap="square" rtlCol="0">
              <a:spAutoFit/>
            </a:bodyPr>
            <a:lstStyle/>
            <a:p>
              <a:r>
                <a:rPr lang="en-US" altLang="ko-KR" sz="1100" dirty="0"/>
                <a:t>Yes</a:t>
              </a:r>
              <a:endParaRPr lang="ko-KR" altLang="en-US" sz="1100" dirty="0"/>
            </a:p>
          </p:txBody>
        </p:sp>
        <p:sp>
          <p:nvSpPr>
            <p:cNvPr id="57" name="TextBox 56"/>
            <p:cNvSpPr txBox="1"/>
            <p:nvPr/>
          </p:nvSpPr>
          <p:spPr>
            <a:xfrm>
              <a:off x="2358192" y="3985441"/>
              <a:ext cx="483899" cy="261610"/>
            </a:xfrm>
            <a:prstGeom prst="rect">
              <a:avLst/>
            </a:prstGeom>
            <a:noFill/>
          </p:spPr>
          <p:txBody>
            <a:bodyPr wrap="square" rtlCol="0">
              <a:spAutoFit/>
            </a:bodyPr>
            <a:lstStyle/>
            <a:p>
              <a:r>
                <a:rPr lang="en-US" altLang="ko-KR" sz="1100" dirty="0"/>
                <a:t>No</a:t>
              </a:r>
              <a:endParaRPr lang="ko-KR" altLang="en-US" sz="1100" dirty="0"/>
            </a:p>
          </p:txBody>
        </p:sp>
        <p:sp>
          <p:nvSpPr>
            <p:cNvPr id="58" name="TextBox 57"/>
            <p:cNvSpPr txBox="1"/>
            <p:nvPr/>
          </p:nvSpPr>
          <p:spPr>
            <a:xfrm>
              <a:off x="2342750" y="5147890"/>
              <a:ext cx="407658" cy="261610"/>
            </a:xfrm>
            <a:prstGeom prst="rect">
              <a:avLst/>
            </a:prstGeom>
            <a:noFill/>
          </p:spPr>
          <p:txBody>
            <a:bodyPr wrap="square" rtlCol="0">
              <a:spAutoFit/>
            </a:bodyPr>
            <a:lstStyle/>
            <a:p>
              <a:r>
                <a:rPr lang="en-US" altLang="ko-KR" sz="1100" dirty="0"/>
                <a:t>No</a:t>
              </a:r>
              <a:endParaRPr lang="ko-KR" altLang="en-US" sz="1100" dirty="0"/>
            </a:p>
          </p:txBody>
        </p:sp>
        <p:cxnSp>
          <p:nvCxnSpPr>
            <p:cNvPr id="6" name="꺾인 연결선 5"/>
            <p:cNvCxnSpPr>
              <a:stCxn id="41" idx="1"/>
              <a:endCxn id="42" idx="2"/>
            </p:cNvCxnSpPr>
            <p:nvPr/>
          </p:nvCxnSpPr>
          <p:spPr>
            <a:xfrm rot="10800000">
              <a:off x="1188389" y="4428358"/>
              <a:ext cx="1530822" cy="970373"/>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7" name="모서리가 둥근 사각형 설명선 16"/>
            <p:cNvSpPr/>
            <p:nvPr/>
          </p:nvSpPr>
          <p:spPr>
            <a:xfrm>
              <a:off x="1752940" y="3431910"/>
              <a:ext cx="2058484" cy="291312"/>
            </a:xfrm>
            <a:prstGeom prst="wedgeRoundRectCallout">
              <a:avLst>
                <a:gd name="adj1" fmla="val -12945"/>
                <a:gd name="adj2" fmla="val 142573"/>
                <a:gd name="adj3" fmla="val 16667"/>
              </a:avLst>
            </a:prstGeom>
            <a:no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29</a:t>
              </a:r>
              <a:r>
                <a:rPr lang="ko-KR" altLang="en-US" sz="1050" dirty="0">
                  <a:solidFill>
                    <a:schemeClr val="tx1"/>
                  </a:solidFill>
                </a:rPr>
                <a:t>조제</a:t>
              </a:r>
              <a:r>
                <a:rPr lang="en-US" altLang="ko-KR" sz="1050" dirty="0">
                  <a:solidFill>
                    <a:schemeClr val="tx1"/>
                  </a:solidFill>
                </a:rPr>
                <a:t>1</a:t>
              </a:r>
              <a:r>
                <a:rPr lang="ko-KR" altLang="en-US" sz="1050" dirty="0">
                  <a:solidFill>
                    <a:schemeClr val="tx1"/>
                  </a:solidFill>
                </a:rPr>
                <a:t>항 </a:t>
              </a:r>
              <a:r>
                <a:rPr lang="en-US" altLang="ko-KR" sz="1050" dirty="0">
                  <a:solidFill>
                    <a:schemeClr val="tx1"/>
                  </a:solidFill>
                </a:rPr>
                <a:t>vs </a:t>
              </a:r>
              <a:r>
                <a:rPr lang="ko-KR" altLang="en-US" sz="1050" dirty="0">
                  <a:solidFill>
                    <a:schemeClr val="tx1"/>
                  </a:solidFill>
                </a:rPr>
                <a:t>제</a:t>
              </a:r>
              <a:r>
                <a:rPr lang="en-US" altLang="ko-KR" sz="1050" dirty="0">
                  <a:solidFill>
                    <a:schemeClr val="tx1"/>
                  </a:solidFill>
                </a:rPr>
                <a:t>29</a:t>
              </a:r>
              <a:r>
                <a:rPr lang="ko-KR" altLang="en-US" sz="1050" dirty="0">
                  <a:solidFill>
                    <a:schemeClr val="tx1"/>
                  </a:solidFill>
                </a:rPr>
                <a:t>조제</a:t>
              </a:r>
              <a:r>
                <a:rPr lang="en-US" altLang="ko-KR" sz="1050" dirty="0">
                  <a:solidFill>
                    <a:schemeClr val="tx1"/>
                  </a:solidFill>
                </a:rPr>
                <a:t>2</a:t>
              </a:r>
              <a:r>
                <a:rPr lang="ko-KR" altLang="en-US" sz="1050" dirty="0">
                  <a:solidFill>
                    <a:schemeClr val="tx1"/>
                  </a:solidFill>
                </a:rPr>
                <a:t>항</a:t>
              </a:r>
            </a:p>
          </p:txBody>
        </p:sp>
        <p:sp>
          <p:nvSpPr>
            <p:cNvPr id="68" name="모서리가 둥근 사각형 설명선 67"/>
            <p:cNvSpPr/>
            <p:nvPr/>
          </p:nvSpPr>
          <p:spPr>
            <a:xfrm>
              <a:off x="184731" y="5693659"/>
              <a:ext cx="2665906" cy="489052"/>
            </a:xfrm>
            <a:prstGeom prst="wedgeRoundRectCallout">
              <a:avLst>
                <a:gd name="adj1" fmla="val 35460"/>
                <a:gd name="adj2" fmla="val -120837"/>
                <a:gd name="adj3" fmla="val 16667"/>
              </a:avLst>
            </a:prstGeom>
            <a:no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제</a:t>
              </a:r>
              <a:r>
                <a:rPr lang="en-US" altLang="ko-KR" sz="1050" dirty="0">
                  <a:solidFill>
                    <a:schemeClr val="tx1"/>
                  </a:solidFill>
                </a:rPr>
                <a:t>29</a:t>
              </a:r>
              <a:r>
                <a:rPr lang="ko-KR" altLang="en-US" sz="1050" dirty="0">
                  <a:solidFill>
                    <a:schemeClr val="tx1"/>
                  </a:solidFill>
                </a:rPr>
                <a:t>조제</a:t>
              </a:r>
              <a:r>
                <a:rPr lang="en-US" altLang="ko-KR" sz="1050" dirty="0">
                  <a:solidFill>
                    <a:schemeClr val="tx1"/>
                  </a:solidFill>
                </a:rPr>
                <a:t>1</a:t>
              </a:r>
              <a:r>
                <a:rPr lang="ko-KR" altLang="en-US" sz="1050" dirty="0">
                  <a:solidFill>
                    <a:schemeClr val="tx1"/>
                  </a:solidFill>
                </a:rPr>
                <a:t>항 </a:t>
              </a:r>
              <a:r>
                <a:rPr lang="en-US" altLang="ko-KR" sz="1050" dirty="0">
                  <a:solidFill>
                    <a:schemeClr val="tx1"/>
                  </a:solidFill>
                </a:rPr>
                <a:t>by </a:t>
              </a:r>
              <a:r>
                <a:rPr lang="ko-KR" altLang="en-US" sz="1050" dirty="0" err="1">
                  <a:solidFill>
                    <a:schemeClr val="tx1"/>
                  </a:solidFill>
                </a:rPr>
                <a:t>공지기술</a:t>
              </a:r>
              <a:r>
                <a:rPr lang="ko-KR" altLang="en-US" sz="1050" dirty="0">
                  <a:solidFill>
                    <a:schemeClr val="tx1"/>
                  </a:solidFill>
                </a:rPr>
                <a:t> </a:t>
              </a:r>
              <a:r>
                <a:rPr lang="en-US" altLang="ko-KR" sz="1050" dirty="0">
                  <a:solidFill>
                    <a:schemeClr val="tx1"/>
                  </a:solidFill>
                </a:rPr>
                <a:t>A</a:t>
              </a:r>
              <a:r>
                <a:rPr lang="ko-KR" altLang="en-US" sz="1050" dirty="0">
                  <a:solidFill>
                    <a:schemeClr val="tx1"/>
                  </a:solidFill>
                </a:rPr>
                <a:t> </a:t>
              </a:r>
              <a:endParaRPr lang="en-US" altLang="ko-KR" sz="1050" dirty="0">
                <a:solidFill>
                  <a:schemeClr val="tx1"/>
                </a:solidFill>
              </a:endParaRPr>
            </a:p>
            <a:p>
              <a:pPr algn="ctr"/>
              <a:r>
                <a:rPr lang="en-US" altLang="ko-KR" sz="1050" dirty="0">
                  <a:solidFill>
                    <a:schemeClr val="tx1"/>
                  </a:solidFill>
                </a:rPr>
                <a:t>vs </a:t>
              </a:r>
              <a:r>
                <a:rPr lang="ko-KR" altLang="en-US" sz="1050" dirty="0">
                  <a:solidFill>
                    <a:schemeClr val="tx1"/>
                  </a:solidFill>
                </a:rPr>
                <a:t>제</a:t>
              </a:r>
              <a:r>
                <a:rPr lang="en-US" altLang="ko-KR" sz="1050" dirty="0">
                  <a:solidFill>
                    <a:schemeClr val="tx1"/>
                  </a:solidFill>
                </a:rPr>
                <a:t>29</a:t>
              </a:r>
              <a:r>
                <a:rPr lang="ko-KR" altLang="en-US" sz="1050" dirty="0">
                  <a:solidFill>
                    <a:schemeClr val="tx1"/>
                  </a:solidFill>
                </a:rPr>
                <a:t>조제</a:t>
              </a:r>
              <a:r>
                <a:rPr lang="en-US" altLang="ko-KR" sz="1050" dirty="0">
                  <a:solidFill>
                    <a:schemeClr val="tx1"/>
                  </a:solidFill>
                </a:rPr>
                <a:t>1</a:t>
              </a:r>
              <a:r>
                <a:rPr lang="ko-KR" altLang="en-US" sz="1050" dirty="0">
                  <a:solidFill>
                    <a:schemeClr val="tx1"/>
                  </a:solidFill>
                </a:rPr>
                <a:t>항 </a:t>
              </a:r>
              <a:r>
                <a:rPr lang="en-US" altLang="ko-KR" sz="1050" dirty="0">
                  <a:solidFill>
                    <a:schemeClr val="tx1"/>
                  </a:solidFill>
                </a:rPr>
                <a:t>by </a:t>
              </a:r>
              <a:r>
                <a:rPr lang="ko-KR" altLang="en-US" sz="1050" dirty="0" err="1">
                  <a:solidFill>
                    <a:schemeClr val="tx1"/>
                  </a:solidFill>
                </a:rPr>
                <a:t>공지기술</a:t>
              </a:r>
              <a:r>
                <a:rPr lang="ko-KR" altLang="en-US" sz="1050" dirty="0">
                  <a:solidFill>
                    <a:schemeClr val="tx1"/>
                  </a:solidFill>
                </a:rPr>
                <a:t> </a:t>
              </a:r>
              <a:r>
                <a:rPr lang="en-US" altLang="ko-KR" sz="1050" dirty="0">
                  <a:solidFill>
                    <a:schemeClr val="tx1"/>
                  </a:solidFill>
                </a:rPr>
                <a:t>B</a:t>
              </a:r>
              <a:endParaRPr lang="ko-KR" altLang="en-US" sz="1050" dirty="0">
                <a:solidFill>
                  <a:schemeClr val="tx1"/>
                </a:solidFill>
              </a:endParaRPr>
            </a:p>
          </p:txBody>
        </p:sp>
      </p:grpSp>
      <p:cxnSp>
        <p:nvCxnSpPr>
          <p:cNvPr id="74" name="직선 연결선 73"/>
          <p:cNvCxnSpPr>
            <a:cxnSpLocks/>
          </p:cNvCxnSpPr>
          <p:nvPr/>
        </p:nvCxnSpPr>
        <p:spPr>
          <a:xfrm flipV="1">
            <a:off x="4672859" y="3416065"/>
            <a:ext cx="0" cy="316339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22" name="표 21"/>
          <p:cNvGraphicFramePr>
            <a:graphicFrameLocks noGrp="1"/>
          </p:cNvGraphicFramePr>
          <p:nvPr/>
        </p:nvGraphicFramePr>
        <p:xfrm>
          <a:off x="5085393" y="3533511"/>
          <a:ext cx="6793172" cy="3012736"/>
        </p:xfrm>
        <a:graphic>
          <a:graphicData uri="http://schemas.openxmlformats.org/drawingml/2006/table">
            <a:tbl>
              <a:tblPr>
                <a:tableStyleId>{8799B23B-EC83-4686-B30A-512413B5E67A}</a:tableStyleId>
              </a:tblPr>
              <a:tblGrid>
                <a:gridCol w="3643455">
                  <a:extLst>
                    <a:ext uri="{9D8B030D-6E8A-4147-A177-3AD203B41FA5}">
                      <a16:colId xmlns:a16="http://schemas.microsoft.com/office/drawing/2014/main" val="2363782007"/>
                    </a:ext>
                  </a:extLst>
                </a:gridCol>
                <a:gridCol w="3149717">
                  <a:extLst>
                    <a:ext uri="{9D8B030D-6E8A-4147-A177-3AD203B41FA5}">
                      <a16:colId xmlns:a16="http://schemas.microsoft.com/office/drawing/2014/main" val="257762263"/>
                    </a:ext>
                  </a:extLst>
                </a:gridCol>
              </a:tblGrid>
              <a:tr h="100017">
                <a:tc>
                  <a:txBody>
                    <a:bodyPr/>
                    <a:lstStyle/>
                    <a:p>
                      <a:pPr marL="0" marR="0" indent="0" algn="ctr" fontAlgn="base" latinLnBrk="0">
                        <a:lnSpc>
                          <a:spcPct val="130000"/>
                        </a:lnSpc>
                        <a:spcBef>
                          <a:spcPts val="0"/>
                        </a:spcBef>
                        <a:spcAft>
                          <a:spcPts val="0"/>
                        </a:spcAft>
                      </a:pPr>
                      <a:r>
                        <a:rPr lang="ko-KR" altLang="en-US" sz="1150" kern="1200" dirty="0"/>
                        <a:t>구체적 예</a:t>
                      </a:r>
                      <a:endParaRPr lang="ko-KR" altLang="en-US" sz="1150" kern="1200" dirty="0">
                        <a:solidFill>
                          <a:schemeClr val="tx2"/>
                        </a:solidFill>
                        <a:latin typeface="+mn-lt"/>
                        <a:ea typeface="+mn-ea"/>
                        <a:cs typeface="+mn-cs"/>
                      </a:endParaRPr>
                    </a:p>
                  </a:txBody>
                  <a:tcPr marL="72000" marR="72000" marT="15903" marB="15903"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150" kern="1200" dirty="0"/>
                        <a:t>설 명</a:t>
                      </a:r>
                      <a:endParaRPr lang="ko-KR" altLang="en-US" sz="1150" kern="1200" dirty="0">
                        <a:solidFill>
                          <a:schemeClr val="tx2"/>
                        </a:solidFill>
                        <a:latin typeface="+mn-lt"/>
                        <a:ea typeface="+mn-ea"/>
                        <a:cs typeface="+mn-cs"/>
                      </a:endParaRPr>
                    </a:p>
                  </a:txBody>
                  <a:tcPr marL="72000" marR="72000" marT="15903" marB="15903" anchor="ctr">
                    <a:solidFill>
                      <a:schemeClr val="accent1">
                        <a:lumMod val="20000"/>
                        <a:lumOff val="80000"/>
                      </a:schemeClr>
                    </a:solidFill>
                  </a:tcPr>
                </a:tc>
                <a:extLst>
                  <a:ext uri="{0D108BD9-81ED-4DB2-BD59-A6C34878D82A}">
                    <a16:rowId xmlns:a16="http://schemas.microsoft.com/office/drawing/2014/main" val="2799617664"/>
                  </a:ext>
                </a:extLst>
              </a:tr>
              <a:tr h="706667">
                <a:tc>
                  <a:txBody>
                    <a:bodyPr/>
                    <a:lstStyle/>
                    <a:p>
                      <a:pPr marL="17780" marR="17780" indent="0" algn="just" fontAlgn="base" latinLnBrk="1">
                        <a:lnSpc>
                          <a:spcPct val="120000"/>
                        </a:lnSpc>
                        <a:spcBef>
                          <a:spcPts val="0"/>
                        </a:spcBef>
                        <a:spcAft>
                          <a:spcPts val="0"/>
                        </a:spcAft>
                      </a:pPr>
                      <a:r>
                        <a:rPr lang="ko-KR" altLang="en-US" sz="1150" kern="1200" dirty="0" err="1"/>
                        <a:t>청구항</a:t>
                      </a:r>
                      <a:r>
                        <a:rPr lang="ko-KR" altLang="en-US" sz="1150" kern="1200" dirty="0"/>
                        <a:t> </a:t>
                      </a:r>
                      <a:r>
                        <a:rPr lang="en-US" altLang="ko-KR" sz="1150" kern="1200" dirty="0"/>
                        <a:t>1 : A+B</a:t>
                      </a:r>
                      <a:r>
                        <a:rPr lang="ko-KR" altLang="en-US" sz="1150" kern="1200" dirty="0"/>
                        <a:t>로 이루어진 장치</a:t>
                      </a:r>
                    </a:p>
                    <a:p>
                      <a:pPr marL="17780" marR="17780" indent="0" algn="just" fontAlgn="base" latinLnBrk="1">
                        <a:lnSpc>
                          <a:spcPct val="120000"/>
                        </a:lnSpc>
                        <a:spcBef>
                          <a:spcPts val="0"/>
                        </a:spcBef>
                        <a:spcAft>
                          <a:spcPts val="0"/>
                        </a:spcAft>
                      </a:pPr>
                      <a:r>
                        <a:rPr lang="en-US" altLang="ko-KR" sz="1150" kern="1200" dirty="0"/>
                        <a:t>【</a:t>
                      </a:r>
                      <a:r>
                        <a:rPr lang="ko-KR" altLang="en-US" sz="1150" kern="1200" dirty="0"/>
                        <a:t>최후거절이유통지</a:t>
                      </a:r>
                      <a:r>
                        <a:rPr lang="en-US" altLang="ko-KR" sz="1150" kern="1200" dirty="0"/>
                        <a:t>】</a:t>
                      </a:r>
                      <a:r>
                        <a:rPr lang="ko-KR" altLang="en-US" sz="1150" kern="1200" dirty="0" err="1"/>
                        <a:t>청구항</a:t>
                      </a:r>
                      <a:r>
                        <a:rPr lang="ko-KR" altLang="en-US" sz="1150" kern="1200" dirty="0"/>
                        <a:t> </a:t>
                      </a:r>
                      <a:r>
                        <a:rPr lang="en-US" altLang="ko-KR" sz="1150" kern="1200" dirty="0"/>
                        <a:t>1</a:t>
                      </a:r>
                      <a:r>
                        <a:rPr lang="ko-KR" altLang="en-US" sz="1150" kern="1200" dirty="0"/>
                        <a:t>이 </a:t>
                      </a:r>
                      <a:r>
                        <a:rPr lang="ko-KR" altLang="en-US" sz="1150" kern="1200" dirty="0" err="1"/>
                        <a:t>인용대상</a:t>
                      </a:r>
                      <a:r>
                        <a:rPr lang="ko-KR" altLang="en-US" sz="1150" kern="1200" dirty="0"/>
                        <a:t> </a:t>
                      </a:r>
                      <a:r>
                        <a:rPr lang="en-US" altLang="ko-KR" sz="1150" kern="1200" dirty="0"/>
                        <a:t>1</a:t>
                      </a:r>
                      <a:r>
                        <a:rPr lang="ko-KR" altLang="en-US" sz="1150" kern="1200" dirty="0"/>
                        <a:t>에 의하여 진보성 없음</a:t>
                      </a:r>
                      <a:r>
                        <a:rPr lang="en-US" altLang="ko-KR" sz="1150" kern="1200" dirty="0"/>
                        <a:t>.</a:t>
                      </a:r>
                      <a:endParaRPr lang="ko-KR" altLang="en-US" sz="1150" kern="1200" dirty="0"/>
                    </a:p>
                    <a:p>
                      <a:pPr marL="17780" marR="17780" indent="0" algn="just" fontAlgn="base" latinLnBrk="1">
                        <a:lnSpc>
                          <a:spcPct val="120000"/>
                        </a:lnSpc>
                        <a:spcBef>
                          <a:spcPts val="0"/>
                        </a:spcBef>
                        <a:spcAft>
                          <a:spcPts val="0"/>
                        </a:spcAft>
                      </a:pPr>
                      <a:r>
                        <a:rPr lang="en-US" altLang="ko-KR" sz="1150" kern="1200" dirty="0"/>
                        <a:t>【</a:t>
                      </a:r>
                      <a:r>
                        <a:rPr lang="ko-KR" altLang="en-US" sz="1150" kern="1200" dirty="0" err="1"/>
                        <a:t>최후보정</a:t>
                      </a:r>
                      <a:r>
                        <a:rPr lang="ko-KR" altLang="en-US" sz="1150" kern="1200" dirty="0"/>
                        <a:t> 후의 명세서</a:t>
                      </a:r>
                      <a:r>
                        <a:rPr lang="en-US" altLang="ko-KR" sz="1150" kern="1200" dirty="0"/>
                        <a:t>】</a:t>
                      </a:r>
                      <a:endParaRPr lang="ko-KR" altLang="en-US" sz="1150" kern="1200" dirty="0"/>
                    </a:p>
                    <a:p>
                      <a:pPr marL="17780" marR="17780" indent="0" algn="just" fontAlgn="base" latinLnBrk="1">
                        <a:lnSpc>
                          <a:spcPct val="120000"/>
                        </a:lnSpc>
                        <a:spcBef>
                          <a:spcPts val="0"/>
                        </a:spcBef>
                        <a:spcAft>
                          <a:spcPts val="0"/>
                        </a:spcAft>
                      </a:pPr>
                      <a:r>
                        <a:rPr lang="ko-KR" altLang="en-US" sz="1150" kern="1200" dirty="0" err="1"/>
                        <a:t>청구항</a:t>
                      </a:r>
                      <a:r>
                        <a:rPr lang="ko-KR" altLang="en-US" sz="1150" kern="1200" dirty="0"/>
                        <a:t> </a:t>
                      </a:r>
                      <a:r>
                        <a:rPr lang="en-US" altLang="ko-KR" sz="1150" kern="1200" dirty="0"/>
                        <a:t>1 : A+B+C</a:t>
                      </a:r>
                      <a:r>
                        <a:rPr lang="ko-KR" altLang="en-US" sz="1150" kern="1200" dirty="0"/>
                        <a:t>로 이루어진 장치</a:t>
                      </a:r>
                      <a:r>
                        <a:rPr lang="en-US" altLang="ko-KR" sz="1150" kern="1200" dirty="0"/>
                        <a:t>(</a:t>
                      </a:r>
                      <a:r>
                        <a:rPr lang="ko-KR" altLang="en-US" sz="1150" kern="1200" dirty="0" err="1"/>
                        <a:t>인용대상</a:t>
                      </a:r>
                      <a:r>
                        <a:rPr lang="ko-KR" altLang="en-US" sz="1150" kern="1200" dirty="0"/>
                        <a:t> </a:t>
                      </a:r>
                      <a:r>
                        <a:rPr lang="en-US" altLang="ko-KR" sz="1150" kern="1200" dirty="0"/>
                        <a:t>1</a:t>
                      </a:r>
                      <a:r>
                        <a:rPr lang="ko-KR" altLang="en-US" sz="1150" kern="1200" dirty="0"/>
                        <a:t>에 대해서는 진보성이 인정되나 </a:t>
                      </a:r>
                      <a:r>
                        <a:rPr lang="ko-KR" altLang="en-US" sz="1150" kern="1200" dirty="0" err="1"/>
                        <a:t>인용대상</a:t>
                      </a:r>
                      <a:r>
                        <a:rPr lang="ko-KR" altLang="en-US" sz="1150" kern="1200" dirty="0"/>
                        <a:t> </a:t>
                      </a:r>
                      <a:r>
                        <a:rPr lang="en-US" altLang="ko-KR" sz="1150" kern="1200" dirty="0"/>
                        <a:t>1 </a:t>
                      </a:r>
                      <a:r>
                        <a:rPr lang="ko-KR" altLang="en-US" sz="1150" kern="1200" dirty="0"/>
                        <a:t>및 </a:t>
                      </a:r>
                      <a:r>
                        <a:rPr lang="ko-KR" altLang="en-US" sz="1150" kern="1200" dirty="0" err="1"/>
                        <a:t>인용대상</a:t>
                      </a:r>
                      <a:r>
                        <a:rPr lang="ko-KR" altLang="en-US" sz="1150" kern="1200" dirty="0"/>
                        <a:t> </a:t>
                      </a:r>
                      <a:r>
                        <a:rPr lang="en-US" altLang="ko-KR" sz="1150" kern="1200" dirty="0"/>
                        <a:t>2</a:t>
                      </a:r>
                      <a:r>
                        <a:rPr lang="ko-KR" altLang="en-US" sz="1150" kern="1200" dirty="0"/>
                        <a:t>에 의하여 진보성 없음</a:t>
                      </a:r>
                      <a:r>
                        <a:rPr lang="en-US" altLang="ko-KR" sz="1150" kern="1200" dirty="0"/>
                        <a:t>. </a:t>
                      </a:r>
                      <a:r>
                        <a:rPr lang="ko-KR" altLang="en-US" sz="1150" kern="1200" dirty="0" err="1"/>
                        <a:t>인용대상</a:t>
                      </a:r>
                      <a:r>
                        <a:rPr lang="ko-KR" altLang="en-US" sz="1150" kern="1200" dirty="0"/>
                        <a:t> </a:t>
                      </a:r>
                      <a:r>
                        <a:rPr lang="en-US" altLang="ko-KR" sz="1150" kern="1200" dirty="0"/>
                        <a:t>2</a:t>
                      </a:r>
                      <a:r>
                        <a:rPr lang="ko-KR" altLang="en-US" sz="1150" kern="1200" dirty="0"/>
                        <a:t>는 </a:t>
                      </a:r>
                      <a:r>
                        <a:rPr lang="en-US" altLang="ko-KR" sz="1150" kern="1200" dirty="0"/>
                        <a:t>C</a:t>
                      </a:r>
                      <a:r>
                        <a:rPr lang="ko-KR" altLang="en-US" sz="1150" kern="1200" dirty="0"/>
                        <a:t>의 부가로 인해 추가로 필요</a:t>
                      </a:r>
                      <a:r>
                        <a:rPr lang="en-US" altLang="ko-KR" sz="1150" kern="1200" dirty="0"/>
                        <a:t>)</a:t>
                      </a:r>
                      <a:endParaRPr lang="ko-KR" altLang="en-US" sz="1150" kern="1200" dirty="0">
                        <a:solidFill>
                          <a:schemeClr val="tx2"/>
                        </a:solidFill>
                        <a:latin typeface="+mn-lt"/>
                        <a:ea typeface="+mn-ea"/>
                        <a:cs typeface="+mn-cs"/>
                      </a:endParaRPr>
                    </a:p>
                  </a:txBody>
                  <a:tcPr marL="72000" marR="72000" marT="15903" marB="15903" anchor="ctr"/>
                </a:tc>
                <a:tc>
                  <a:txBody>
                    <a:bodyPr/>
                    <a:lstStyle/>
                    <a:p>
                      <a:pPr marL="17780" marR="17780" indent="0" algn="just" fontAlgn="base" latinLnBrk="1">
                        <a:lnSpc>
                          <a:spcPct val="120000"/>
                        </a:lnSpc>
                        <a:spcBef>
                          <a:spcPts val="0"/>
                        </a:spcBef>
                        <a:spcAft>
                          <a:spcPts val="0"/>
                        </a:spcAft>
                      </a:pPr>
                      <a:r>
                        <a:rPr lang="en-US" altLang="ko-KR" sz="1150" kern="1200" dirty="0"/>
                        <a:t>【</a:t>
                      </a:r>
                      <a:r>
                        <a:rPr lang="ko-KR" altLang="en-US" sz="1150" kern="1200" dirty="0" err="1"/>
                        <a:t>보정각하</a:t>
                      </a:r>
                      <a:r>
                        <a:rPr lang="en-US" altLang="ko-KR" sz="1150" kern="1200" dirty="0"/>
                        <a:t>】</a:t>
                      </a:r>
                      <a:r>
                        <a:rPr lang="ko-KR" altLang="en-US" sz="1150" kern="1200" dirty="0" err="1"/>
                        <a:t>청구항</a:t>
                      </a:r>
                      <a:r>
                        <a:rPr lang="ko-KR" altLang="en-US" sz="1150" kern="1200" dirty="0"/>
                        <a:t> </a:t>
                      </a:r>
                      <a:r>
                        <a:rPr lang="en-US" altLang="ko-KR" sz="1150" kern="1200" dirty="0"/>
                        <a:t>1</a:t>
                      </a:r>
                      <a:r>
                        <a:rPr lang="ko-KR" altLang="en-US" sz="1150" kern="1200" dirty="0"/>
                        <a:t>의 보정에 따라 보정 전에 없던 새로운 거절이유가 발생하였기 때문에 </a:t>
                      </a:r>
                      <a:r>
                        <a:rPr lang="ko-KR" altLang="en-US" sz="1150" kern="1200" dirty="0" err="1"/>
                        <a:t>보정각하함</a:t>
                      </a:r>
                      <a:r>
                        <a:rPr lang="en-US" altLang="ko-KR" sz="1150" kern="1200" dirty="0"/>
                        <a:t>.</a:t>
                      </a:r>
                      <a:endParaRPr lang="ko-KR" altLang="en-US" sz="1150" kern="1200" dirty="0"/>
                    </a:p>
                    <a:p>
                      <a:pPr marL="17780" marR="17780" indent="0" algn="just" fontAlgn="base" latinLnBrk="1">
                        <a:lnSpc>
                          <a:spcPct val="130000"/>
                        </a:lnSpc>
                        <a:spcBef>
                          <a:spcPts val="0"/>
                        </a:spcBef>
                        <a:spcAft>
                          <a:spcPts val="0"/>
                        </a:spcAft>
                      </a:pPr>
                      <a:r>
                        <a:rPr lang="en-US" altLang="ko-KR" sz="1150" kern="1200" dirty="0"/>
                        <a:t>【</a:t>
                      </a:r>
                      <a:r>
                        <a:rPr lang="ko-KR" altLang="en-US" sz="1150" kern="1200" dirty="0"/>
                        <a:t>특허거절결정</a:t>
                      </a:r>
                      <a:r>
                        <a:rPr lang="en-US" altLang="ko-KR" sz="1150" kern="1200" dirty="0"/>
                        <a:t>】</a:t>
                      </a:r>
                      <a:r>
                        <a:rPr lang="ko-KR" altLang="en-US" sz="1150" kern="1200" dirty="0" err="1"/>
                        <a:t>청구항</a:t>
                      </a:r>
                      <a:r>
                        <a:rPr lang="ko-KR" altLang="en-US" sz="1150" kern="1200" dirty="0"/>
                        <a:t> </a:t>
                      </a:r>
                      <a:r>
                        <a:rPr lang="en-US" altLang="ko-KR" sz="1150" kern="1200" dirty="0"/>
                        <a:t>1(A+B)</a:t>
                      </a:r>
                      <a:r>
                        <a:rPr lang="ko-KR" altLang="en-US" sz="1150" kern="1200" dirty="0"/>
                        <a:t>은 </a:t>
                      </a:r>
                      <a:r>
                        <a:rPr lang="ko-KR" altLang="en-US" sz="1150" kern="1200" dirty="0" err="1"/>
                        <a:t>인용대상</a:t>
                      </a:r>
                      <a:r>
                        <a:rPr lang="ko-KR" altLang="en-US" sz="1150" kern="1200" dirty="0"/>
                        <a:t> </a:t>
                      </a:r>
                      <a:r>
                        <a:rPr lang="en-US" altLang="ko-KR" sz="1150" kern="1200" dirty="0"/>
                        <a:t>1</a:t>
                      </a:r>
                      <a:r>
                        <a:rPr lang="ko-KR" altLang="en-US" sz="1150" kern="1200" dirty="0"/>
                        <a:t>에 의하여 진보성이 없으므로 특허거절결정함</a:t>
                      </a:r>
                      <a:r>
                        <a:rPr lang="en-US" altLang="ko-KR" sz="1150" kern="1200" dirty="0"/>
                        <a:t>.</a:t>
                      </a:r>
                      <a:endParaRPr lang="ko-KR" altLang="en-US" sz="1150" kern="1200" dirty="0">
                        <a:solidFill>
                          <a:schemeClr val="tx2"/>
                        </a:solidFill>
                        <a:latin typeface="+mn-lt"/>
                        <a:ea typeface="+mn-ea"/>
                        <a:cs typeface="+mn-cs"/>
                      </a:endParaRPr>
                    </a:p>
                  </a:txBody>
                  <a:tcPr marL="72000" marR="72000" marT="15903" marB="15903" anchor="ctr"/>
                </a:tc>
                <a:extLst>
                  <a:ext uri="{0D108BD9-81ED-4DB2-BD59-A6C34878D82A}">
                    <a16:rowId xmlns:a16="http://schemas.microsoft.com/office/drawing/2014/main" val="481683276"/>
                  </a:ext>
                </a:extLst>
              </a:tr>
              <a:tr h="531777">
                <a:tc>
                  <a:txBody>
                    <a:bodyPr/>
                    <a:lstStyle/>
                    <a:p>
                      <a:pPr marL="17780" marR="17780" indent="0" algn="just" fontAlgn="base" latinLnBrk="1">
                        <a:lnSpc>
                          <a:spcPct val="120000"/>
                        </a:lnSpc>
                        <a:spcBef>
                          <a:spcPts val="0"/>
                        </a:spcBef>
                        <a:spcAft>
                          <a:spcPts val="0"/>
                        </a:spcAft>
                      </a:pPr>
                      <a:r>
                        <a:rPr lang="ko-KR" altLang="en-US" sz="1150" kern="1200" dirty="0"/>
                        <a:t>청구항 </a:t>
                      </a:r>
                      <a:r>
                        <a:rPr lang="en-US" altLang="ko-KR" sz="1150" kern="1200" dirty="0"/>
                        <a:t>1 : A</a:t>
                      </a:r>
                      <a:r>
                        <a:rPr lang="ko-KR" altLang="en-US" sz="1150" kern="1200" dirty="0"/>
                        <a:t>로 이루어진 장치</a:t>
                      </a:r>
                    </a:p>
                    <a:p>
                      <a:pPr marL="17780" marR="17780" indent="0" algn="just" fontAlgn="base" latinLnBrk="1">
                        <a:lnSpc>
                          <a:spcPct val="120000"/>
                        </a:lnSpc>
                        <a:spcBef>
                          <a:spcPts val="0"/>
                        </a:spcBef>
                        <a:spcAft>
                          <a:spcPts val="0"/>
                        </a:spcAft>
                      </a:pPr>
                      <a:r>
                        <a:rPr lang="en-US" altLang="ko-KR" sz="1150" kern="1200" dirty="0"/>
                        <a:t>【</a:t>
                      </a:r>
                      <a:r>
                        <a:rPr lang="ko-KR" altLang="en-US" sz="1150" kern="1200" dirty="0" err="1"/>
                        <a:t>최후거절이유통지</a:t>
                      </a:r>
                      <a:r>
                        <a:rPr lang="en-US" altLang="ko-KR" sz="1150" kern="1200" dirty="0"/>
                        <a:t>】</a:t>
                      </a:r>
                      <a:r>
                        <a:rPr lang="ko-KR" altLang="en-US" sz="1150" kern="1200" dirty="0"/>
                        <a:t>청구항 </a:t>
                      </a:r>
                      <a:r>
                        <a:rPr lang="en-US" altLang="ko-KR" sz="1150" kern="1200" dirty="0"/>
                        <a:t>1</a:t>
                      </a:r>
                      <a:r>
                        <a:rPr lang="ko-KR" altLang="en-US" sz="1150" kern="1200" dirty="0"/>
                        <a:t>이 </a:t>
                      </a:r>
                      <a:r>
                        <a:rPr lang="ko-KR" altLang="en-US" sz="1150" kern="1200" dirty="0">
                          <a:highlight>
                            <a:srgbClr val="FFFF00"/>
                          </a:highlight>
                        </a:rPr>
                        <a:t>인용대상 </a:t>
                      </a:r>
                      <a:r>
                        <a:rPr lang="en-US" altLang="ko-KR" sz="1150" kern="1200" dirty="0">
                          <a:highlight>
                            <a:srgbClr val="FFFF00"/>
                          </a:highlight>
                        </a:rPr>
                        <a:t>1</a:t>
                      </a:r>
                      <a:r>
                        <a:rPr lang="ko-KR" altLang="en-US" sz="1150" kern="1200" dirty="0"/>
                        <a:t>에 의하여 진보성 없음</a:t>
                      </a:r>
                      <a:r>
                        <a:rPr lang="en-US" altLang="ko-KR" sz="1150" kern="1200" dirty="0"/>
                        <a:t>.</a:t>
                      </a:r>
                      <a:endParaRPr lang="ko-KR" altLang="en-US" sz="1150" kern="1200" dirty="0"/>
                    </a:p>
                    <a:p>
                      <a:pPr marL="17780" marR="17780" indent="0" algn="just" fontAlgn="base" latinLnBrk="1">
                        <a:lnSpc>
                          <a:spcPct val="120000"/>
                        </a:lnSpc>
                        <a:spcBef>
                          <a:spcPts val="0"/>
                        </a:spcBef>
                        <a:spcAft>
                          <a:spcPts val="0"/>
                        </a:spcAft>
                      </a:pPr>
                      <a:r>
                        <a:rPr lang="en-US" altLang="ko-KR" sz="1150" kern="1200" dirty="0"/>
                        <a:t>【</a:t>
                      </a:r>
                      <a:r>
                        <a:rPr lang="ko-KR" altLang="en-US" sz="1150" kern="1200" dirty="0"/>
                        <a:t>최후보정 후의 명세서</a:t>
                      </a:r>
                      <a:r>
                        <a:rPr lang="en-US" altLang="ko-KR" sz="1150" kern="1200" dirty="0"/>
                        <a:t>】</a:t>
                      </a:r>
                      <a:endParaRPr lang="ko-KR" altLang="en-US" sz="1150" kern="1200" dirty="0"/>
                    </a:p>
                    <a:p>
                      <a:pPr marL="17780" marR="17780" indent="0" algn="just" fontAlgn="base" latinLnBrk="1">
                        <a:lnSpc>
                          <a:spcPct val="120000"/>
                        </a:lnSpc>
                        <a:spcBef>
                          <a:spcPts val="0"/>
                        </a:spcBef>
                        <a:spcAft>
                          <a:spcPts val="0"/>
                        </a:spcAft>
                      </a:pPr>
                      <a:r>
                        <a:rPr lang="ko-KR" altLang="en-US" sz="1150" kern="1200" dirty="0"/>
                        <a:t>청구항 </a:t>
                      </a:r>
                      <a:r>
                        <a:rPr lang="en-US" altLang="ko-KR" sz="1150" kern="1200" dirty="0"/>
                        <a:t>1 : A+B</a:t>
                      </a:r>
                      <a:r>
                        <a:rPr lang="ko-KR" altLang="en-US" sz="1150" kern="1200" dirty="0"/>
                        <a:t>로 이루어진 장치</a:t>
                      </a:r>
                      <a:r>
                        <a:rPr lang="en-US" altLang="ko-KR" sz="1150" kern="1200" dirty="0"/>
                        <a:t>(</a:t>
                      </a:r>
                      <a:r>
                        <a:rPr lang="ko-KR" altLang="en-US" sz="1150" kern="1200" dirty="0">
                          <a:highlight>
                            <a:srgbClr val="FFFF00"/>
                          </a:highlight>
                        </a:rPr>
                        <a:t>인용대상 </a:t>
                      </a:r>
                      <a:r>
                        <a:rPr lang="en-US" altLang="ko-KR" sz="1150" kern="1200" dirty="0">
                          <a:highlight>
                            <a:srgbClr val="FFFF00"/>
                          </a:highlight>
                        </a:rPr>
                        <a:t>1</a:t>
                      </a:r>
                      <a:r>
                        <a:rPr lang="ko-KR" altLang="en-US" sz="1150" kern="1200" dirty="0">
                          <a:highlight>
                            <a:srgbClr val="FFFF00"/>
                          </a:highlight>
                        </a:rPr>
                        <a:t>에 </a:t>
                      </a:r>
                      <a:r>
                        <a:rPr lang="en-US" altLang="ko-KR" sz="1150" kern="1200" dirty="0">
                          <a:highlight>
                            <a:srgbClr val="FFFF00"/>
                          </a:highlight>
                        </a:rPr>
                        <a:t>B</a:t>
                      </a:r>
                      <a:r>
                        <a:rPr lang="ko-KR" altLang="en-US" sz="1150" kern="1200" dirty="0">
                          <a:highlight>
                            <a:srgbClr val="FFFF00"/>
                          </a:highlight>
                        </a:rPr>
                        <a:t>도 개시되어 있어 여전히 진보성이 부정됨</a:t>
                      </a:r>
                      <a:r>
                        <a:rPr lang="en-US" altLang="ko-KR" sz="1150" kern="1200" dirty="0"/>
                        <a:t>)</a:t>
                      </a:r>
                      <a:endParaRPr lang="ko-KR" altLang="en-US" sz="1150" kern="1200" dirty="0">
                        <a:solidFill>
                          <a:schemeClr val="tx2"/>
                        </a:solidFill>
                        <a:latin typeface="+mn-lt"/>
                        <a:ea typeface="+mn-ea"/>
                        <a:cs typeface="+mn-cs"/>
                      </a:endParaRPr>
                    </a:p>
                  </a:txBody>
                  <a:tcPr marL="72000" marR="72000" marT="15903" marB="15903" anchor="ctr"/>
                </a:tc>
                <a:tc>
                  <a:txBody>
                    <a:bodyPr/>
                    <a:lstStyle/>
                    <a:p>
                      <a:pPr marL="17780" marR="17780" indent="0" algn="just" fontAlgn="base" latinLnBrk="1">
                        <a:lnSpc>
                          <a:spcPct val="120000"/>
                        </a:lnSpc>
                        <a:spcBef>
                          <a:spcPts val="0"/>
                        </a:spcBef>
                        <a:spcAft>
                          <a:spcPts val="0"/>
                        </a:spcAft>
                      </a:pPr>
                      <a:r>
                        <a:rPr lang="en-US" altLang="ko-KR" sz="1150" kern="1200" dirty="0"/>
                        <a:t>【</a:t>
                      </a:r>
                      <a:r>
                        <a:rPr lang="ko-KR" altLang="en-US" sz="1150" kern="1200" dirty="0" err="1"/>
                        <a:t>보정인정</a:t>
                      </a:r>
                      <a:r>
                        <a:rPr lang="en-US" altLang="ko-KR" sz="1150" kern="1200" dirty="0"/>
                        <a:t>】</a:t>
                      </a:r>
                      <a:r>
                        <a:rPr lang="ko-KR" altLang="en-US" sz="1150" kern="1200" dirty="0" err="1"/>
                        <a:t>청구항</a:t>
                      </a:r>
                      <a:r>
                        <a:rPr lang="ko-KR" altLang="en-US" sz="1150" kern="1200" dirty="0"/>
                        <a:t> </a:t>
                      </a:r>
                      <a:r>
                        <a:rPr lang="en-US" altLang="ko-KR" sz="1150" kern="1200" dirty="0"/>
                        <a:t>1</a:t>
                      </a:r>
                      <a:r>
                        <a:rPr lang="ko-KR" altLang="en-US" sz="1150" kern="1200" dirty="0"/>
                        <a:t>에 기재된 발명이 </a:t>
                      </a:r>
                      <a:r>
                        <a:rPr lang="ko-KR" altLang="en-US" sz="1150" kern="1200" dirty="0" err="1"/>
                        <a:t>인용대상</a:t>
                      </a:r>
                      <a:r>
                        <a:rPr lang="ko-KR" altLang="en-US" sz="1150" kern="1200" dirty="0"/>
                        <a:t> </a:t>
                      </a:r>
                      <a:r>
                        <a:rPr lang="en-US" altLang="ko-KR" sz="1150" kern="1200" dirty="0"/>
                        <a:t>1</a:t>
                      </a:r>
                      <a:r>
                        <a:rPr lang="ko-KR" altLang="en-US" sz="1150" kern="1200" dirty="0"/>
                        <a:t>로부터 진보성이 부정된다는 </a:t>
                      </a:r>
                      <a:r>
                        <a:rPr lang="ko-KR" altLang="en-US" sz="1150" kern="1200" dirty="0" err="1"/>
                        <a:t>거절이유는</a:t>
                      </a:r>
                      <a:r>
                        <a:rPr lang="ko-KR" altLang="en-US" sz="1150" kern="1200" dirty="0"/>
                        <a:t> 기 통지되었던 </a:t>
                      </a:r>
                      <a:r>
                        <a:rPr lang="ko-KR" altLang="en-US" sz="1150" kern="1200" dirty="0" err="1"/>
                        <a:t>거절이유이므로</a:t>
                      </a:r>
                      <a:r>
                        <a:rPr lang="ko-KR" altLang="en-US" sz="1150" kern="1200" dirty="0"/>
                        <a:t> 보정에 따라 새로운 거절이유가 발생하지 아니하여 보정 인정함</a:t>
                      </a:r>
                      <a:r>
                        <a:rPr lang="en-US" altLang="ko-KR" sz="1150" kern="1200" dirty="0"/>
                        <a:t>.</a:t>
                      </a:r>
                      <a:endParaRPr lang="ko-KR" altLang="en-US" sz="1150" kern="1200" dirty="0"/>
                    </a:p>
                    <a:p>
                      <a:pPr marL="17780" marR="17780" indent="0" algn="just" fontAlgn="base" latinLnBrk="1">
                        <a:lnSpc>
                          <a:spcPct val="120000"/>
                        </a:lnSpc>
                        <a:spcBef>
                          <a:spcPts val="0"/>
                        </a:spcBef>
                        <a:spcAft>
                          <a:spcPts val="0"/>
                        </a:spcAft>
                      </a:pPr>
                      <a:r>
                        <a:rPr lang="en-US" altLang="ko-KR" sz="1150" kern="1200" dirty="0"/>
                        <a:t>【</a:t>
                      </a:r>
                      <a:r>
                        <a:rPr lang="ko-KR" altLang="en-US" sz="1150" kern="1200" dirty="0"/>
                        <a:t>특허거절결정</a:t>
                      </a:r>
                      <a:r>
                        <a:rPr lang="en-US" altLang="ko-KR" sz="1150" kern="1200" dirty="0"/>
                        <a:t>】</a:t>
                      </a:r>
                      <a:r>
                        <a:rPr lang="ko-KR" altLang="en-US" sz="1150" kern="1200" dirty="0" err="1"/>
                        <a:t>청구항</a:t>
                      </a:r>
                      <a:r>
                        <a:rPr lang="ko-KR" altLang="en-US" sz="1150" kern="1200" dirty="0"/>
                        <a:t> </a:t>
                      </a:r>
                      <a:r>
                        <a:rPr lang="en-US" altLang="ko-KR" sz="1150" kern="1200" dirty="0"/>
                        <a:t>1(A+B)</a:t>
                      </a:r>
                      <a:r>
                        <a:rPr lang="ko-KR" altLang="en-US" sz="1150" kern="1200" dirty="0"/>
                        <a:t>은 </a:t>
                      </a:r>
                      <a:r>
                        <a:rPr lang="ko-KR" altLang="en-US" sz="1150" kern="1200" dirty="0" err="1"/>
                        <a:t>인용대상</a:t>
                      </a:r>
                      <a:r>
                        <a:rPr lang="ko-KR" altLang="en-US" sz="1150" kern="1200" dirty="0"/>
                        <a:t> </a:t>
                      </a:r>
                      <a:r>
                        <a:rPr lang="en-US" altLang="ko-KR" sz="1150" kern="1200" dirty="0"/>
                        <a:t>1</a:t>
                      </a:r>
                      <a:r>
                        <a:rPr lang="ko-KR" altLang="en-US" sz="1150" kern="1200" dirty="0"/>
                        <a:t>에 의하여 진보성이 없으므로 특허거절결정함</a:t>
                      </a:r>
                      <a:r>
                        <a:rPr lang="en-US" altLang="ko-KR" sz="1150" kern="1200" dirty="0"/>
                        <a:t>.</a:t>
                      </a:r>
                      <a:endParaRPr lang="ko-KR" altLang="en-US" sz="1150" kern="1200" dirty="0">
                        <a:solidFill>
                          <a:schemeClr val="tx2"/>
                        </a:solidFill>
                        <a:latin typeface="+mn-lt"/>
                        <a:ea typeface="+mn-ea"/>
                        <a:cs typeface="+mn-cs"/>
                      </a:endParaRPr>
                    </a:p>
                  </a:txBody>
                  <a:tcPr marL="72000" marR="72000" marT="15903" marB="15903" anchor="ctr"/>
                </a:tc>
                <a:extLst>
                  <a:ext uri="{0D108BD9-81ED-4DB2-BD59-A6C34878D82A}">
                    <a16:rowId xmlns:a16="http://schemas.microsoft.com/office/drawing/2014/main" val="144936386"/>
                  </a:ext>
                </a:extLst>
              </a:tr>
            </a:tbl>
          </a:graphicData>
        </a:graphic>
      </p:graphicFrame>
      <p:sp>
        <p:nvSpPr>
          <p:cNvPr id="8" name="직사각형 7">
            <a:extLst>
              <a:ext uri="{FF2B5EF4-FFF2-40B4-BE49-F238E27FC236}">
                <a16:creationId xmlns:a16="http://schemas.microsoft.com/office/drawing/2014/main" id="{20CD2D18-E252-46A1-B3EB-E3196DDA0081}"/>
              </a:ext>
            </a:extLst>
          </p:cNvPr>
          <p:cNvSpPr/>
          <p:nvPr/>
        </p:nvSpPr>
        <p:spPr>
          <a:xfrm>
            <a:off x="77874" y="2134427"/>
            <a:ext cx="11936315" cy="1169551"/>
          </a:xfrm>
          <a:prstGeom prst="rect">
            <a:avLst/>
          </a:prstGeom>
        </p:spPr>
        <p:txBody>
          <a:bodyPr wrap="square">
            <a:spAutoFit/>
          </a:bodyPr>
          <a:lstStyle/>
          <a:p>
            <a:pPr fontAlgn="base"/>
            <a:r>
              <a:rPr lang="ko-KR" altLang="en-US" sz="1400" dirty="0">
                <a:solidFill>
                  <a:schemeClr val="accent1">
                    <a:lumMod val="50000"/>
                  </a:schemeClr>
                </a:solidFill>
              </a:rPr>
              <a:t>기통지한 거절이유에서 선행기술로 인용된 자료가 특허공보와 같이 하나의 기술에 관한 것이거나 여러 </a:t>
            </a:r>
            <a:r>
              <a:rPr lang="ko-KR" altLang="en-US" sz="1400" dirty="0" err="1">
                <a:solidFill>
                  <a:schemeClr val="accent1">
                    <a:lumMod val="50000"/>
                  </a:schemeClr>
                </a:solidFill>
              </a:rPr>
              <a:t>실시태양을</a:t>
            </a:r>
            <a:r>
              <a:rPr lang="ko-KR" altLang="en-US" sz="1400" dirty="0">
                <a:solidFill>
                  <a:schemeClr val="accent1">
                    <a:lumMod val="50000"/>
                  </a:schemeClr>
                </a:solidFill>
              </a:rPr>
              <a:t> 개시하고 있지만 동일 또는 밀접한 기술사상에 대한 문헌인 경우에는 </a:t>
            </a:r>
            <a:r>
              <a:rPr lang="ko-KR" altLang="en-US" sz="1400" dirty="0">
                <a:solidFill>
                  <a:schemeClr val="accent3">
                    <a:lumMod val="50000"/>
                  </a:schemeClr>
                </a:solidFill>
                <a:highlight>
                  <a:srgbClr val="FFFF00"/>
                </a:highlight>
              </a:rPr>
              <a:t>그 문헌 전체에 대하여 </a:t>
            </a:r>
            <a:r>
              <a:rPr lang="ko-KR" altLang="en-US" sz="1400" dirty="0" err="1">
                <a:solidFill>
                  <a:schemeClr val="accent3">
                    <a:lumMod val="50000"/>
                  </a:schemeClr>
                </a:solidFill>
                <a:highlight>
                  <a:srgbClr val="FFFF00"/>
                </a:highlight>
              </a:rPr>
              <a:t>거절이유통지가</a:t>
            </a:r>
            <a:r>
              <a:rPr lang="ko-KR" altLang="en-US" sz="1400" dirty="0">
                <a:solidFill>
                  <a:schemeClr val="accent3">
                    <a:lumMod val="50000"/>
                  </a:schemeClr>
                </a:solidFill>
                <a:highlight>
                  <a:srgbClr val="FFFF00"/>
                </a:highlight>
              </a:rPr>
              <a:t> 있었다고 봄이 상당</a:t>
            </a:r>
            <a:r>
              <a:rPr lang="ko-KR" altLang="en-US" sz="1400" dirty="0">
                <a:solidFill>
                  <a:schemeClr val="accent1">
                    <a:lumMod val="50000"/>
                  </a:schemeClr>
                </a:solidFill>
              </a:rPr>
              <a:t>하므로</a:t>
            </a:r>
            <a:r>
              <a:rPr lang="en-US" altLang="ko-KR" sz="1400" dirty="0">
                <a:solidFill>
                  <a:schemeClr val="accent1">
                    <a:lumMod val="50000"/>
                  </a:schemeClr>
                </a:solidFill>
              </a:rPr>
              <a:t>, </a:t>
            </a:r>
            <a:r>
              <a:rPr lang="ko-KR" altLang="en-US" sz="1400" dirty="0">
                <a:solidFill>
                  <a:schemeClr val="accent1">
                    <a:lumMod val="50000"/>
                  </a:schemeClr>
                </a:solidFill>
              </a:rPr>
              <a:t>추가적인 </a:t>
            </a:r>
            <a:r>
              <a:rPr lang="ko-KR" altLang="en-US" sz="1400" dirty="0" err="1">
                <a:solidFill>
                  <a:schemeClr val="accent1">
                    <a:lumMod val="50000"/>
                  </a:schemeClr>
                </a:solidFill>
              </a:rPr>
              <a:t>거절이유통지</a:t>
            </a:r>
            <a:r>
              <a:rPr lang="ko-KR" altLang="en-US" sz="1400" dirty="0">
                <a:solidFill>
                  <a:schemeClr val="accent1">
                    <a:lumMod val="50000"/>
                  </a:schemeClr>
                </a:solidFill>
              </a:rPr>
              <a:t> 없이 기통지한 거절이유에서 위 문헌 중 직접 인용하지 않았던 부분을 들어 바로 </a:t>
            </a:r>
            <a:r>
              <a:rPr lang="ko-KR" altLang="en-US" sz="1400" dirty="0" err="1">
                <a:solidFill>
                  <a:schemeClr val="accent1">
                    <a:lumMod val="50000"/>
                  </a:schemeClr>
                </a:solidFill>
              </a:rPr>
              <a:t>거절결정할</a:t>
            </a:r>
            <a:r>
              <a:rPr lang="ko-KR" altLang="en-US" sz="1400" dirty="0">
                <a:solidFill>
                  <a:schemeClr val="accent1">
                    <a:lumMod val="50000"/>
                  </a:schemeClr>
                </a:solidFill>
              </a:rPr>
              <a:t> 수 있다</a:t>
            </a:r>
            <a:r>
              <a:rPr lang="en-US" altLang="ko-KR" sz="1400" dirty="0">
                <a:solidFill>
                  <a:schemeClr val="accent1">
                    <a:lumMod val="50000"/>
                  </a:schemeClr>
                </a:solidFill>
              </a:rPr>
              <a:t>. </a:t>
            </a:r>
            <a:r>
              <a:rPr lang="ko-KR" altLang="en-US" sz="1400" dirty="0">
                <a:solidFill>
                  <a:schemeClr val="accent1">
                    <a:lumMod val="50000"/>
                  </a:schemeClr>
                </a:solidFill>
              </a:rPr>
              <a:t>다만</a:t>
            </a:r>
            <a:r>
              <a:rPr lang="en-US" altLang="ko-KR" sz="1400" dirty="0">
                <a:solidFill>
                  <a:schemeClr val="accent1">
                    <a:lumMod val="50000"/>
                  </a:schemeClr>
                </a:solidFill>
              </a:rPr>
              <a:t>, </a:t>
            </a:r>
            <a:r>
              <a:rPr lang="ko-KR" altLang="en-US" sz="1400" dirty="0">
                <a:solidFill>
                  <a:schemeClr val="accent1">
                    <a:lumMod val="50000"/>
                  </a:schemeClr>
                </a:solidFill>
              </a:rPr>
              <a:t>그 인용된 자료가 서적 등과 같이 방대하거나 여러 개의 기술에 관한 기재가 있는 것인데</a:t>
            </a:r>
            <a:r>
              <a:rPr lang="en-US" altLang="ko-KR" sz="1400" dirty="0">
                <a:solidFill>
                  <a:schemeClr val="accent1">
                    <a:lumMod val="50000"/>
                  </a:schemeClr>
                </a:solidFill>
              </a:rPr>
              <a:t>, </a:t>
            </a:r>
            <a:r>
              <a:rPr lang="ko-KR" altLang="en-US" sz="1400" dirty="0" err="1">
                <a:solidFill>
                  <a:schemeClr val="accent1">
                    <a:lumMod val="50000"/>
                  </a:schemeClr>
                </a:solidFill>
              </a:rPr>
              <a:t>거절이유통지에서는</a:t>
            </a:r>
            <a:r>
              <a:rPr lang="ko-KR" altLang="en-US" sz="1400" dirty="0">
                <a:solidFill>
                  <a:schemeClr val="accent1">
                    <a:lumMod val="50000"/>
                  </a:schemeClr>
                </a:solidFill>
              </a:rPr>
              <a:t> 그 중 일부 기술만을 사본하여 첨부하거나 적시한 경우라면 인용되지 않은 부분을 새로운 거절이유로 볼 여지가 있으므로</a:t>
            </a:r>
            <a:r>
              <a:rPr lang="en-US" altLang="ko-KR" sz="1400" dirty="0">
                <a:solidFill>
                  <a:schemeClr val="accent1">
                    <a:lumMod val="50000"/>
                  </a:schemeClr>
                </a:solidFill>
              </a:rPr>
              <a:t>, </a:t>
            </a:r>
            <a:r>
              <a:rPr lang="ko-KR" altLang="en-US" sz="1400" dirty="0">
                <a:solidFill>
                  <a:schemeClr val="accent1">
                    <a:lumMod val="50000"/>
                  </a:schemeClr>
                </a:solidFill>
              </a:rPr>
              <a:t>가급적 다시 거절이유를 통지하여 출원인에게 </a:t>
            </a:r>
            <a:r>
              <a:rPr lang="ko-KR" altLang="en-US" sz="1400" dirty="0" err="1">
                <a:solidFill>
                  <a:schemeClr val="accent1">
                    <a:lumMod val="50000"/>
                  </a:schemeClr>
                </a:solidFill>
              </a:rPr>
              <a:t>의견제출할</a:t>
            </a:r>
            <a:r>
              <a:rPr lang="ko-KR" altLang="en-US" sz="1400" dirty="0">
                <a:solidFill>
                  <a:schemeClr val="accent1">
                    <a:lumMod val="50000"/>
                  </a:schemeClr>
                </a:solidFill>
              </a:rPr>
              <a:t> 기회를 부여하도록 한다</a:t>
            </a:r>
            <a:r>
              <a:rPr lang="en-US" altLang="ko-KR" sz="1400" dirty="0">
                <a:solidFill>
                  <a:schemeClr val="accent1">
                    <a:lumMod val="50000"/>
                  </a:schemeClr>
                </a:solidFill>
              </a:rPr>
              <a:t>(</a:t>
            </a:r>
            <a:r>
              <a:rPr lang="ko-KR" altLang="en-US" sz="1400" dirty="0">
                <a:solidFill>
                  <a:schemeClr val="accent1">
                    <a:lumMod val="50000"/>
                  </a:schemeClr>
                </a:solidFill>
              </a:rPr>
              <a:t>특허법원 </a:t>
            </a:r>
            <a:r>
              <a:rPr lang="en-US" altLang="ko-KR" sz="1400" dirty="0">
                <a:solidFill>
                  <a:schemeClr val="accent1">
                    <a:lumMod val="50000"/>
                  </a:schemeClr>
                </a:solidFill>
              </a:rPr>
              <a:t>2011. 4. 27. </a:t>
            </a:r>
            <a:r>
              <a:rPr lang="ko-KR" altLang="en-US" sz="1400" dirty="0">
                <a:solidFill>
                  <a:schemeClr val="accent1">
                    <a:lumMod val="50000"/>
                  </a:schemeClr>
                </a:solidFill>
              </a:rPr>
              <a:t>선고 </a:t>
            </a:r>
            <a:r>
              <a:rPr lang="en-US" altLang="ko-KR" sz="1400" dirty="0">
                <a:solidFill>
                  <a:schemeClr val="accent1">
                    <a:lumMod val="50000"/>
                  </a:schemeClr>
                </a:solidFill>
              </a:rPr>
              <a:t>2010</a:t>
            </a:r>
            <a:r>
              <a:rPr lang="ko-KR" altLang="en-US" sz="1400" dirty="0">
                <a:solidFill>
                  <a:schemeClr val="accent1">
                    <a:lumMod val="50000"/>
                  </a:schemeClr>
                </a:solidFill>
              </a:rPr>
              <a:t>허</a:t>
            </a:r>
            <a:r>
              <a:rPr lang="en-US" altLang="ko-KR" sz="1400" dirty="0">
                <a:solidFill>
                  <a:schemeClr val="accent1">
                    <a:lumMod val="50000"/>
                  </a:schemeClr>
                </a:solidFill>
              </a:rPr>
              <a:t>2612; 2012. 6. 20. </a:t>
            </a:r>
            <a:r>
              <a:rPr lang="ko-KR" altLang="en-US" sz="1400" dirty="0">
                <a:solidFill>
                  <a:schemeClr val="accent1">
                    <a:lumMod val="50000"/>
                  </a:schemeClr>
                </a:solidFill>
              </a:rPr>
              <a:t>선고 </a:t>
            </a:r>
            <a:r>
              <a:rPr lang="en-US" altLang="ko-KR" sz="1400" dirty="0">
                <a:solidFill>
                  <a:schemeClr val="accent1">
                    <a:lumMod val="50000"/>
                  </a:schemeClr>
                </a:solidFill>
              </a:rPr>
              <a:t>2011</a:t>
            </a:r>
            <a:r>
              <a:rPr lang="ko-KR" altLang="en-US" sz="1400" dirty="0">
                <a:solidFill>
                  <a:schemeClr val="accent1">
                    <a:lumMod val="50000"/>
                  </a:schemeClr>
                </a:solidFill>
              </a:rPr>
              <a:t>허</a:t>
            </a:r>
            <a:r>
              <a:rPr lang="en-US" altLang="ko-KR" sz="1400" dirty="0">
                <a:solidFill>
                  <a:schemeClr val="accent1">
                    <a:lumMod val="50000"/>
                  </a:schemeClr>
                </a:solidFill>
              </a:rPr>
              <a:t>10306).</a:t>
            </a:r>
            <a:endParaRPr lang="ko-KR" altLang="en-US" sz="1400" dirty="0">
              <a:solidFill>
                <a:schemeClr val="accent1">
                  <a:lumMod val="50000"/>
                </a:schemeClr>
              </a:solidFill>
            </a:endParaRPr>
          </a:p>
        </p:txBody>
      </p:sp>
      <p:cxnSp>
        <p:nvCxnSpPr>
          <p:cNvPr id="27" name="직선 연결선 26">
            <a:extLst>
              <a:ext uri="{FF2B5EF4-FFF2-40B4-BE49-F238E27FC236}">
                <a16:creationId xmlns:a16="http://schemas.microsoft.com/office/drawing/2014/main" id="{C4BB119F-0C9A-453E-BC3E-5001629EB4CC}"/>
              </a:ext>
            </a:extLst>
          </p:cNvPr>
          <p:cNvCxnSpPr/>
          <p:nvPr/>
        </p:nvCxnSpPr>
        <p:spPr>
          <a:xfrm>
            <a:off x="0" y="331354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85394198"/>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lstStyle/>
          <a:p>
            <a:r>
              <a:rPr lang="ko-KR" altLang="en-US" dirty="0" err="1">
                <a:solidFill>
                  <a:srgbClr val="525252"/>
                </a:solidFill>
              </a:rPr>
              <a:t>거절이유통지의</a:t>
            </a:r>
            <a:r>
              <a:rPr lang="ko-KR" altLang="en-US" dirty="0">
                <a:solidFill>
                  <a:srgbClr val="525252"/>
                </a:solidFill>
              </a:rPr>
              <a:t> 적법성 판단 </a:t>
            </a:r>
            <a:r>
              <a:rPr lang="en-US" altLang="ko-KR" dirty="0">
                <a:solidFill>
                  <a:srgbClr val="525252"/>
                </a:solidFill>
              </a:rPr>
              <a:t>CASE</a:t>
            </a:r>
            <a:endParaRPr lang="ko-KR" altLang="en-US" dirty="0">
              <a:solidFill>
                <a:srgbClr val="525252"/>
              </a:solidFill>
            </a:endParaRPr>
          </a:p>
        </p:txBody>
      </p:sp>
      <p:sp>
        <p:nvSpPr>
          <p:cNvPr id="2" name="슬라이드 번호 개체 틀 1"/>
          <p:cNvSpPr>
            <a:spLocks noGrp="1"/>
          </p:cNvSpPr>
          <p:nvPr>
            <p:ph type="sldNum" sz="quarter" idx="4294967295"/>
          </p:nvPr>
        </p:nvSpPr>
        <p:spPr>
          <a:xfrm>
            <a:off x="11144250" y="3175"/>
            <a:ext cx="1047750" cy="714375"/>
          </a:xfrm>
        </p:spPr>
        <p:txBody>
          <a:bodyPr/>
          <a:lstStyle/>
          <a:p>
            <a:r>
              <a:rPr lang="en-US" altLang="ko-KR"/>
              <a:t>259</a:t>
            </a:r>
            <a:endParaRPr lang="ko-KR" altLang="en-US" dirty="0"/>
          </a:p>
        </p:txBody>
      </p:sp>
      <p:sp>
        <p:nvSpPr>
          <p:cNvPr id="47" name="TextBox 46">
            <a:extLst>
              <a:ext uri="{FF2B5EF4-FFF2-40B4-BE49-F238E27FC236}">
                <a16:creationId xmlns:a16="http://schemas.microsoft.com/office/drawing/2014/main" id="{3B4ABF71-AF71-4AD1-B4A4-FDCE62B8EA69}"/>
              </a:ext>
            </a:extLst>
          </p:cNvPr>
          <p:cNvSpPr txBox="1"/>
          <p:nvPr/>
        </p:nvSpPr>
        <p:spPr>
          <a:xfrm>
            <a:off x="77875" y="986046"/>
            <a:ext cx="11936323" cy="1169551"/>
          </a:xfrm>
          <a:prstGeom prst="rect">
            <a:avLst/>
          </a:prstGeom>
          <a:noFill/>
        </p:spPr>
        <p:txBody>
          <a:bodyPr wrap="square" rtlCol="0">
            <a:spAutoFit/>
          </a:bodyPr>
          <a:lstStyle/>
          <a:p>
            <a:r>
              <a:rPr lang="ko-KR" altLang="en-US" sz="1400" dirty="0"/>
              <a:t>제</a:t>
            </a:r>
            <a:r>
              <a:rPr lang="en-US" altLang="ko-KR" sz="1400" dirty="0"/>
              <a:t>63</a:t>
            </a:r>
            <a:r>
              <a:rPr lang="ko-KR" altLang="en-US" sz="1400" dirty="0"/>
              <a:t>조 본문에 의하면</a:t>
            </a:r>
            <a:r>
              <a:rPr lang="en-US" altLang="ko-KR" sz="1400" dirty="0"/>
              <a:t>, </a:t>
            </a:r>
            <a:r>
              <a:rPr lang="ko-KR" altLang="en-US" sz="1400" dirty="0"/>
              <a:t>심사관은 제</a:t>
            </a:r>
            <a:r>
              <a:rPr lang="en-US" altLang="ko-KR" sz="1400" dirty="0"/>
              <a:t>62</a:t>
            </a:r>
            <a:r>
              <a:rPr lang="ko-KR" altLang="en-US" sz="1400" dirty="0"/>
              <a:t>조에 따라 </a:t>
            </a:r>
            <a:r>
              <a:rPr lang="ko-KR" altLang="en-US" sz="1400" dirty="0" err="1"/>
              <a:t>특허거절결정을</a:t>
            </a:r>
            <a:r>
              <a:rPr lang="ko-KR" altLang="en-US" sz="1400" dirty="0"/>
              <a:t> 하려면 </a:t>
            </a:r>
            <a:r>
              <a:rPr lang="ko-KR" altLang="en-US" sz="1400" dirty="0" err="1"/>
              <a:t>특허출원인에게</a:t>
            </a:r>
            <a:r>
              <a:rPr lang="ko-KR" altLang="en-US" sz="1400" dirty="0"/>
              <a:t> 거절이유를 통지하고 기간을 정하여 의견서를 제출할 수 있는 기회를 주어야 한다고 규정하고 있는데</a:t>
            </a:r>
            <a:r>
              <a:rPr lang="en-US" altLang="ko-KR" sz="1400" dirty="0"/>
              <a:t>, </a:t>
            </a:r>
            <a:r>
              <a:rPr lang="ko-KR" altLang="en-US" sz="1400" dirty="0"/>
              <a:t>출원발명에 대하여 우선권주장의 불인정으로 거절이유가 생긴 경우에는 </a:t>
            </a:r>
            <a:r>
              <a:rPr lang="ko-KR" altLang="en-US" sz="1400" dirty="0">
                <a:highlight>
                  <a:srgbClr val="FFFF00"/>
                </a:highlight>
              </a:rPr>
              <a:t>우선권주장의 불인정은 거절이유 일부를 구성</a:t>
            </a:r>
            <a:r>
              <a:rPr lang="ko-KR" altLang="en-US" sz="1400" dirty="0"/>
              <a:t>하는 것이므로</a:t>
            </a:r>
            <a:r>
              <a:rPr lang="en-US" altLang="ko-KR" sz="1400" dirty="0"/>
              <a:t>, </a:t>
            </a:r>
            <a:r>
              <a:rPr lang="ko-KR" altLang="en-US" sz="1400" dirty="0"/>
              <a:t>우선권주장이 인정되지 아니한다는 취지 및 그 이유가 포함된 거절이유를 통지하지 아니한 채 우선권주장의 불인정으로 인하여 생긴 거절이유를 들어 </a:t>
            </a:r>
            <a:r>
              <a:rPr lang="ko-KR" altLang="en-US" sz="1400" dirty="0" err="1"/>
              <a:t>특허거절결정을</a:t>
            </a:r>
            <a:r>
              <a:rPr lang="ko-KR" altLang="en-US" sz="1400" dirty="0"/>
              <a:t> 하는 것은 제</a:t>
            </a:r>
            <a:r>
              <a:rPr lang="en-US" altLang="ko-KR" sz="1400" dirty="0"/>
              <a:t>63</a:t>
            </a:r>
            <a:r>
              <a:rPr lang="ko-KR" altLang="en-US" sz="1400" dirty="0"/>
              <a:t>조 본문에 위반되어 위법하다</a:t>
            </a:r>
            <a:r>
              <a:rPr lang="en-US" altLang="ko-KR" sz="1400" dirty="0"/>
              <a:t>. </a:t>
            </a:r>
            <a:r>
              <a:rPr lang="ko-KR" altLang="en-US" sz="1400" dirty="0"/>
              <a:t>그리고 거절이유 통지에 위와 같은 우선권주장 불인정에 관한 이유가 포함되어 있었는지는 </a:t>
            </a:r>
            <a:r>
              <a:rPr lang="ko-KR" altLang="en-US" sz="1400" dirty="0">
                <a:highlight>
                  <a:srgbClr val="FFFF00"/>
                </a:highlight>
              </a:rPr>
              <a:t>출원인에게 실질적으로 의견서 제출 및 보정의 기회를 부여</a:t>
            </a:r>
            <a:r>
              <a:rPr lang="ko-KR" altLang="en-US" sz="1400" dirty="0"/>
              <a:t>하였다고 볼 수 있을 정도로 그 취지와 이유가 명시되었는지 관점에서 판단되어야 한다</a:t>
            </a:r>
            <a:r>
              <a:rPr lang="en-US" altLang="ko-KR" sz="1400" dirty="0"/>
              <a:t>(</a:t>
            </a:r>
            <a:r>
              <a:rPr lang="ko-KR" altLang="en-US" sz="1400" dirty="0"/>
              <a:t>대법원 </a:t>
            </a:r>
            <a:r>
              <a:rPr lang="en-US" altLang="ko-KR" sz="1400" dirty="0"/>
              <a:t>2011. 9. 8. </a:t>
            </a:r>
            <a:r>
              <a:rPr lang="ko-KR" altLang="en-US" sz="1400" dirty="0"/>
              <a:t>선고 </a:t>
            </a:r>
            <a:r>
              <a:rPr lang="en-US" altLang="ko-KR" sz="1400" dirty="0"/>
              <a:t>2009</a:t>
            </a:r>
            <a:r>
              <a:rPr lang="ko-KR" altLang="en-US" sz="1400" dirty="0"/>
              <a:t>후</a:t>
            </a:r>
            <a:r>
              <a:rPr lang="en-US" altLang="ko-KR" sz="1400" dirty="0"/>
              <a:t>2371).</a:t>
            </a:r>
            <a:endParaRPr lang="ko-KR" altLang="en-US" sz="1400" dirty="0"/>
          </a:p>
        </p:txBody>
      </p:sp>
      <p:cxnSp>
        <p:nvCxnSpPr>
          <p:cNvPr id="49" name="직선 연결선 48">
            <a:extLst>
              <a:ext uri="{FF2B5EF4-FFF2-40B4-BE49-F238E27FC236}">
                <a16:creationId xmlns:a16="http://schemas.microsoft.com/office/drawing/2014/main" id="{E8BD05C4-53FC-48F0-9895-C75C756AD023}"/>
              </a:ext>
            </a:extLst>
          </p:cNvPr>
          <p:cNvCxnSpPr/>
          <p:nvPr/>
        </p:nvCxnSpPr>
        <p:spPr>
          <a:xfrm>
            <a:off x="0" y="217885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DB91A147-3B03-4508-81FC-31B7B991187B}"/>
              </a:ext>
            </a:extLst>
          </p:cNvPr>
          <p:cNvCxnSpPr>
            <a:cxnSpLocks/>
          </p:cNvCxnSpPr>
          <p:nvPr/>
        </p:nvCxnSpPr>
        <p:spPr>
          <a:xfrm>
            <a:off x="835934" y="4763226"/>
            <a:ext cx="1117826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AE395994-D854-49A7-9473-E0500983A03E}"/>
              </a:ext>
            </a:extLst>
          </p:cNvPr>
          <p:cNvSpPr/>
          <p:nvPr/>
        </p:nvSpPr>
        <p:spPr>
          <a:xfrm>
            <a:off x="3123129" y="5296244"/>
            <a:ext cx="1525628" cy="22950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한국출원</a:t>
            </a:r>
            <a:r>
              <a:rPr lang="en-US" altLang="ko-KR" sz="1100" dirty="0">
                <a:solidFill>
                  <a:schemeClr val="tx1"/>
                </a:solidFill>
              </a:rPr>
              <a:t>(Y)</a:t>
            </a:r>
            <a:endParaRPr lang="ko-KR" altLang="en-US" sz="1100" dirty="0">
              <a:solidFill>
                <a:schemeClr val="tx1"/>
              </a:solidFill>
            </a:endParaRPr>
          </a:p>
        </p:txBody>
      </p:sp>
      <p:sp>
        <p:nvSpPr>
          <p:cNvPr id="123" name="직사각형 122">
            <a:extLst>
              <a:ext uri="{FF2B5EF4-FFF2-40B4-BE49-F238E27FC236}">
                <a16:creationId xmlns:a16="http://schemas.microsoft.com/office/drawing/2014/main" id="{721D3DB8-83DD-40A0-9F78-8772125639CC}"/>
              </a:ext>
            </a:extLst>
          </p:cNvPr>
          <p:cNvSpPr/>
          <p:nvPr/>
        </p:nvSpPr>
        <p:spPr>
          <a:xfrm>
            <a:off x="3122493" y="5527000"/>
            <a:ext cx="1525628" cy="2295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100" dirty="0">
                <a:solidFill>
                  <a:schemeClr val="tx1"/>
                </a:solidFill>
              </a:rPr>
              <a:t>X </a:t>
            </a:r>
            <a:r>
              <a:rPr lang="ko-KR" altLang="en-US" sz="1100" dirty="0">
                <a:solidFill>
                  <a:schemeClr val="tx1"/>
                </a:solidFill>
              </a:rPr>
              <a:t>기초 </a:t>
            </a:r>
            <a:r>
              <a:rPr lang="ko-KR" altLang="en-US" sz="1100" dirty="0" err="1">
                <a:solidFill>
                  <a:schemeClr val="tx1"/>
                </a:solidFill>
              </a:rPr>
              <a:t>우선권주장</a:t>
            </a:r>
            <a:endParaRPr lang="ko-KR" altLang="en-US" sz="1100" dirty="0">
              <a:solidFill>
                <a:schemeClr val="tx1"/>
              </a:solidFill>
            </a:endParaRPr>
          </a:p>
        </p:txBody>
      </p:sp>
      <p:sp>
        <p:nvSpPr>
          <p:cNvPr id="128" name="직사각형 127">
            <a:extLst>
              <a:ext uri="{FF2B5EF4-FFF2-40B4-BE49-F238E27FC236}">
                <a16:creationId xmlns:a16="http://schemas.microsoft.com/office/drawing/2014/main" id="{6ACD1042-8D80-42C0-A97D-302F8CB13A99}"/>
              </a:ext>
            </a:extLst>
          </p:cNvPr>
          <p:cNvSpPr/>
          <p:nvPr/>
        </p:nvSpPr>
        <p:spPr>
          <a:xfrm>
            <a:off x="1176260" y="4000708"/>
            <a:ext cx="1525628"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한국출원</a:t>
            </a:r>
            <a:r>
              <a:rPr lang="en-US" altLang="ko-KR" sz="1100" dirty="0">
                <a:solidFill>
                  <a:schemeClr val="tx1"/>
                </a:solidFill>
              </a:rPr>
              <a:t>(X)</a:t>
            </a:r>
            <a:endParaRPr lang="ko-KR" altLang="en-US" sz="1100" dirty="0">
              <a:solidFill>
                <a:schemeClr val="tx1"/>
              </a:solidFill>
            </a:endParaRPr>
          </a:p>
        </p:txBody>
      </p:sp>
      <p:sp>
        <p:nvSpPr>
          <p:cNvPr id="130" name="직사각형 129">
            <a:extLst>
              <a:ext uri="{FF2B5EF4-FFF2-40B4-BE49-F238E27FC236}">
                <a16:creationId xmlns:a16="http://schemas.microsoft.com/office/drawing/2014/main" id="{7E77DCA4-8C23-4C59-A7F0-766991ED78CB}"/>
              </a:ext>
            </a:extLst>
          </p:cNvPr>
          <p:cNvSpPr/>
          <p:nvPr/>
        </p:nvSpPr>
        <p:spPr>
          <a:xfrm>
            <a:off x="6793053" y="5296244"/>
            <a:ext cx="1525628" cy="22950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거절이유통지</a:t>
            </a:r>
            <a:r>
              <a:rPr lang="en-US" altLang="ko-KR" sz="1100" dirty="0">
                <a:solidFill>
                  <a:schemeClr val="tx1"/>
                </a:solidFill>
              </a:rPr>
              <a:t>(Y)</a:t>
            </a:r>
            <a:endParaRPr lang="ko-KR" altLang="en-US" sz="1100" dirty="0">
              <a:solidFill>
                <a:schemeClr val="tx1"/>
              </a:solidFill>
            </a:endParaRPr>
          </a:p>
        </p:txBody>
      </p:sp>
      <p:cxnSp>
        <p:nvCxnSpPr>
          <p:cNvPr id="9" name="직선 화살표 연결선 8">
            <a:extLst>
              <a:ext uri="{FF2B5EF4-FFF2-40B4-BE49-F238E27FC236}">
                <a16:creationId xmlns:a16="http://schemas.microsoft.com/office/drawing/2014/main" id="{BD22A012-880B-4480-82D3-FF4A4CD8AEDE}"/>
              </a:ext>
            </a:extLst>
          </p:cNvPr>
          <p:cNvCxnSpPr>
            <a:stCxn id="128" idx="2"/>
          </p:cNvCxnSpPr>
          <p:nvPr/>
        </p:nvCxnSpPr>
        <p:spPr>
          <a:xfrm>
            <a:off x="1939074" y="4230208"/>
            <a:ext cx="5340" cy="533018"/>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1" name="직사각형 130">
            <a:extLst>
              <a:ext uri="{FF2B5EF4-FFF2-40B4-BE49-F238E27FC236}">
                <a16:creationId xmlns:a16="http://schemas.microsoft.com/office/drawing/2014/main" id="{BE28471D-DFA7-4DEB-AA3A-6CBB8E748328}"/>
              </a:ext>
            </a:extLst>
          </p:cNvPr>
          <p:cNvSpPr/>
          <p:nvPr/>
        </p:nvSpPr>
        <p:spPr>
          <a:xfrm>
            <a:off x="4570372" y="4000708"/>
            <a:ext cx="1525628"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취하간주</a:t>
            </a:r>
            <a:r>
              <a:rPr lang="en-US" altLang="ko-KR" sz="1100" dirty="0">
                <a:solidFill>
                  <a:schemeClr val="tx1"/>
                </a:solidFill>
              </a:rPr>
              <a:t>(X)</a:t>
            </a:r>
            <a:endParaRPr lang="ko-KR" altLang="en-US" sz="1100" dirty="0">
              <a:solidFill>
                <a:schemeClr val="tx1"/>
              </a:solidFill>
            </a:endParaRPr>
          </a:p>
        </p:txBody>
      </p:sp>
      <p:cxnSp>
        <p:nvCxnSpPr>
          <p:cNvPr id="132" name="직선 화살표 연결선 131">
            <a:extLst>
              <a:ext uri="{FF2B5EF4-FFF2-40B4-BE49-F238E27FC236}">
                <a16:creationId xmlns:a16="http://schemas.microsoft.com/office/drawing/2014/main" id="{000134DE-F858-4D56-9CAF-CE0EB44C6E80}"/>
              </a:ext>
            </a:extLst>
          </p:cNvPr>
          <p:cNvCxnSpPr>
            <a:stCxn id="131" idx="2"/>
          </p:cNvCxnSpPr>
          <p:nvPr/>
        </p:nvCxnSpPr>
        <p:spPr>
          <a:xfrm>
            <a:off x="5333186" y="4230208"/>
            <a:ext cx="5340" cy="533018"/>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3" name="직사각형 132">
            <a:extLst>
              <a:ext uri="{FF2B5EF4-FFF2-40B4-BE49-F238E27FC236}">
                <a16:creationId xmlns:a16="http://schemas.microsoft.com/office/drawing/2014/main" id="{9B45A73A-A1DA-45EA-BAB6-A880EBBB9A8C}"/>
              </a:ext>
            </a:extLst>
          </p:cNvPr>
          <p:cNvSpPr/>
          <p:nvPr/>
        </p:nvSpPr>
        <p:spPr>
          <a:xfrm>
            <a:off x="5086625" y="5296244"/>
            <a:ext cx="1525628" cy="22950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출원공개</a:t>
            </a:r>
            <a:r>
              <a:rPr lang="en-US" altLang="ko-KR" sz="1100" dirty="0">
                <a:solidFill>
                  <a:schemeClr val="tx1"/>
                </a:solidFill>
              </a:rPr>
              <a:t>(Y)</a:t>
            </a:r>
            <a:endParaRPr lang="ko-KR" altLang="en-US" sz="1100" dirty="0">
              <a:solidFill>
                <a:schemeClr val="tx1"/>
              </a:solidFill>
            </a:endParaRPr>
          </a:p>
        </p:txBody>
      </p:sp>
      <p:sp>
        <p:nvSpPr>
          <p:cNvPr id="134" name="직사각형 133">
            <a:extLst>
              <a:ext uri="{FF2B5EF4-FFF2-40B4-BE49-F238E27FC236}">
                <a16:creationId xmlns:a16="http://schemas.microsoft.com/office/drawing/2014/main" id="{AD094C3E-BDEE-4826-A38F-EE1318266360}"/>
              </a:ext>
            </a:extLst>
          </p:cNvPr>
          <p:cNvSpPr/>
          <p:nvPr/>
        </p:nvSpPr>
        <p:spPr>
          <a:xfrm>
            <a:off x="10044874" y="5296244"/>
            <a:ext cx="1525628" cy="22950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거절결정</a:t>
            </a:r>
            <a:r>
              <a:rPr lang="en-US" altLang="ko-KR" sz="1100" dirty="0">
                <a:solidFill>
                  <a:schemeClr val="tx1"/>
                </a:solidFill>
              </a:rPr>
              <a:t>(Y)</a:t>
            </a:r>
            <a:endParaRPr lang="ko-KR" altLang="en-US" sz="1100" dirty="0">
              <a:solidFill>
                <a:schemeClr val="tx1"/>
              </a:solidFill>
            </a:endParaRPr>
          </a:p>
        </p:txBody>
      </p:sp>
      <p:cxnSp>
        <p:nvCxnSpPr>
          <p:cNvPr id="16" name="직선 화살표 연결선 15">
            <a:extLst>
              <a:ext uri="{FF2B5EF4-FFF2-40B4-BE49-F238E27FC236}">
                <a16:creationId xmlns:a16="http://schemas.microsoft.com/office/drawing/2014/main" id="{7488E3D0-B5D5-4FAD-97B2-B51D725230AD}"/>
              </a:ext>
            </a:extLst>
          </p:cNvPr>
          <p:cNvCxnSpPr>
            <a:cxnSpLocks/>
            <a:stCxn id="122" idx="0"/>
          </p:cNvCxnSpPr>
          <p:nvPr/>
        </p:nvCxnSpPr>
        <p:spPr>
          <a:xfrm flipV="1">
            <a:off x="3885943" y="4786484"/>
            <a:ext cx="0" cy="50976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직선 화살표 연결선 17">
            <a:extLst>
              <a:ext uri="{FF2B5EF4-FFF2-40B4-BE49-F238E27FC236}">
                <a16:creationId xmlns:a16="http://schemas.microsoft.com/office/drawing/2014/main" id="{350CA3F9-8F7B-4C0A-BCEF-7784B2BADC84}"/>
              </a:ext>
            </a:extLst>
          </p:cNvPr>
          <p:cNvCxnSpPr>
            <a:cxnSpLocks/>
            <a:stCxn id="133" idx="0"/>
          </p:cNvCxnSpPr>
          <p:nvPr/>
        </p:nvCxnSpPr>
        <p:spPr>
          <a:xfrm flipV="1">
            <a:off x="5849439" y="4786484"/>
            <a:ext cx="0" cy="50976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 name="직선 화살표 연결선 19">
            <a:extLst>
              <a:ext uri="{FF2B5EF4-FFF2-40B4-BE49-F238E27FC236}">
                <a16:creationId xmlns:a16="http://schemas.microsoft.com/office/drawing/2014/main" id="{12AA3555-23DF-45BA-8FAD-7594A17E4570}"/>
              </a:ext>
            </a:extLst>
          </p:cNvPr>
          <p:cNvCxnSpPr>
            <a:cxnSpLocks/>
            <a:stCxn id="130" idx="0"/>
          </p:cNvCxnSpPr>
          <p:nvPr/>
        </p:nvCxnSpPr>
        <p:spPr>
          <a:xfrm flipV="1">
            <a:off x="7555867" y="4786484"/>
            <a:ext cx="0" cy="50976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B9AA18FA-870F-40B1-98E5-66439D759309}"/>
              </a:ext>
            </a:extLst>
          </p:cNvPr>
          <p:cNvCxnSpPr>
            <a:cxnSpLocks/>
            <a:stCxn id="134" idx="0"/>
          </p:cNvCxnSpPr>
          <p:nvPr/>
        </p:nvCxnSpPr>
        <p:spPr>
          <a:xfrm flipV="1">
            <a:off x="10807688" y="4786484"/>
            <a:ext cx="0" cy="50976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9" name="직선 화살표 연결선 138">
            <a:extLst>
              <a:ext uri="{FF2B5EF4-FFF2-40B4-BE49-F238E27FC236}">
                <a16:creationId xmlns:a16="http://schemas.microsoft.com/office/drawing/2014/main" id="{932D70EA-5942-4D54-8341-AFB0D89717A0}"/>
              </a:ext>
            </a:extLst>
          </p:cNvPr>
          <p:cNvCxnSpPr>
            <a:cxnSpLocks/>
          </p:cNvCxnSpPr>
          <p:nvPr/>
        </p:nvCxnSpPr>
        <p:spPr>
          <a:xfrm>
            <a:off x="3127833" y="3581813"/>
            <a:ext cx="0" cy="1181413"/>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3" name="직사각형 142">
            <a:extLst>
              <a:ext uri="{FF2B5EF4-FFF2-40B4-BE49-F238E27FC236}">
                <a16:creationId xmlns:a16="http://schemas.microsoft.com/office/drawing/2014/main" id="{360F6971-7824-457E-ADFB-F67EE45495BA}"/>
              </a:ext>
            </a:extLst>
          </p:cNvPr>
          <p:cNvSpPr/>
          <p:nvPr/>
        </p:nvSpPr>
        <p:spPr>
          <a:xfrm>
            <a:off x="2360315" y="3351057"/>
            <a:ext cx="1525628" cy="2295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공지기술</a:t>
            </a:r>
          </a:p>
        </p:txBody>
      </p:sp>
      <p:sp>
        <p:nvSpPr>
          <p:cNvPr id="146" name="TextBox 145">
            <a:extLst>
              <a:ext uri="{FF2B5EF4-FFF2-40B4-BE49-F238E27FC236}">
                <a16:creationId xmlns:a16="http://schemas.microsoft.com/office/drawing/2014/main" id="{ADA12472-F960-4871-8B8B-63C3C96C22B5}"/>
              </a:ext>
            </a:extLst>
          </p:cNvPr>
          <p:cNvSpPr txBox="1"/>
          <p:nvPr/>
        </p:nvSpPr>
        <p:spPr>
          <a:xfrm>
            <a:off x="1385877" y="3607627"/>
            <a:ext cx="1106393" cy="338554"/>
          </a:xfrm>
          <a:prstGeom prst="rect">
            <a:avLst/>
          </a:prstGeom>
          <a:noFill/>
        </p:spPr>
        <p:txBody>
          <a:bodyPr wrap="none" rtlCol="0">
            <a:spAutoFit/>
          </a:bodyPr>
          <a:lstStyle/>
          <a:p>
            <a:r>
              <a:rPr lang="ko-KR" altLang="en-US" sz="1600" dirty="0" err="1"/>
              <a:t>패들교반기</a:t>
            </a:r>
            <a:endParaRPr lang="ko-KR" altLang="en-US" sz="1600" dirty="0"/>
          </a:p>
        </p:txBody>
      </p:sp>
      <p:sp>
        <p:nvSpPr>
          <p:cNvPr id="147" name="TextBox 146">
            <a:extLst>
              <a:ext uri="{FF2B5EF4-FFF2-40B4-BE49-F238E27FC236}">
                <a16:creationId xmlns:a16="http://schemas.microsoft.com/office/drawing/2014/main" id="{C39C9D85-7DCF-406F-91DC-110BC8F0F1AB}"/>
              </a:ext>
            </a:extLst>
          </p:cNvPr>
          <p:cNvSpPr txBox="1"/>
          <p:nvPr/>
        </p:nvSpPr>
        <p:spPr>
          <a:xfrm>
            <a:off x="2720067" y="2953089"/>
            <a:ext cx="851515" cy="338554"/>
          </a:xfrm>
          <a:prstGeom prst="rect">
            <a:avLst/>
          </a:prstGeom>
          <a:noFill/>
        </p:spPr>
        <p:txBody>
          <a:bodyPr wrap="none" rtlCol="0">
            <a:spAutoFit/>
          </a:bodyPr>
          <a:lstStyle/>
          <a:p>
            <a:pPr algn="ctr"/>
            <a:r>
              <a:rPr lang="ko-KR" altLang="en-US" sz="1600" dirty="0" err="1"/>
              <a:t>교반기</a:t>
            </a:r>
            <a:r>
              <a:rPr lang="en-US" altLang="ko-KR" sz="1600" dirty="0"/>
              <a:t>1</a:t>
            </a:r>
            <a:endParaRPr lang="ko-KR" altLang="en-US" sz="1600" dirty="0"/>
          </a:p>
        </p:txBody>
      </p:sp>
      <p:sp>
        <p:nvSpPr>
          <p:cNvPr id="148" name="TextBox 147">
            <a:extLst>
              <a:ext uri="{FF2B5EF4-FFF2-40B4-BE49-F238E27FC236}">
                <a16:creationId xmlns:a16="http://schemas.microsoft.com/office/drawing/2014/main" id="{DA9087B7-6A7C-4306-BF4A-4B943E17C51C}"/>
              </a:ext>
            </a:extLst>
          </p:cNvPr>
          <p:cNvSpPr txBox="1"/>
          <p:nvPr/>
        </p:nvSpPr>
        <p:spPr>
          <a:xfrm>
            <a:off x="3516455" y="5807322"/>
            <a:ext cx="737702" cy="338554"/>
          </a:xfrm>
          <a:prstGeom prst="rect">
            <a:avLst/>
          </a:prstGeom>
          <a:noFill/>
        </p:spPr>
        <p:txBody>
          <a:bodyPr wrap="none" rtlCol="0">
            <a:spAutoFit/>
          </a:bodyPr>
          <a:lstStyle/>
          <a:p>
            <a:pPr algn="ctr"/>
            <a:r>
              <a:rPr lang="ko-KR" altLang="en-US" sz="1600" dirty="0" err="1"/>
              <a:t>교반기</a:t>
            </a:r>
            <a:endParaRPr lang="ko-KR" altLang="en-US" sz="1600" dirty="0"/>
          </a:p>
        </p:txBody>
      </p:sp>
      <p:sp>
        <p:nvSpPr>
          <p:cNvPr id="149" name="TextBox 148">
            <a:extLst>
              <a:ext uri="{FF2B5EF4-FFF2-40B4-BE49-F238E27FC236}">
                <a16:creationId xmlns:a16="http://schemas.microsoft.com/office/drawing/2014/main" id="{486AD8E1-831A-4F02-BB21-C1477FA8B15A}"/>
              </a:ext>
            </a:extLst>
          </p:cNvPr>
          <p:cNvSpPr txBox="1"/>
          <p:nvPr/>
        </p:nvSpPr>
        <p:spPr>
          <a:xfrm>
            <a:off x="6668444" y="5984698"/>
            <a:ext cx="1774846" cy="584775"/>
          </a:xfrm>
          <a:prstGeom prst="rect">
            <a:avLst/>
          </a:prstGeom>
          <a:noFill/>
          <a:ln>
            <a:solidFill>
              <a:schemeClr val="bg1">
                <a:lumMod val="65000"/>
              </a:schemeClr>
            </a:solidFill>
          </a:ln>
        </p:spPr>
        <p:txBody>
          <a:bodyPr wrap="none" rtlCol="0">
            <a:spAutoFit/>
          </a:bodyPr>
          <a:lstStyle/>
          <a:p>
            <a:pPr algn="ctr"/>
            <a:r>
              <a:rPr lang="ko-KR" altLang="en-US" sz="1600" dirty="0"/>
              <a:t>공지기술에 의하여 </a:t>
            </a:r>
            <a:endParaRPr lang="en-US" altLang="ko-KR" sz="1600" dirty="0"/>
          </a:p>
          <a:p>
            <a:pPr algn="ctr"/>
            <a:r>
              <a:rPr lang="ko-KR" altLang="en-US" sz="1600" dirty="0"/>
              <a:t>진보성 위반</a:t>
            </a:r>
          </a:p>
        </p:txBody>
      </p:sp>
      <p:cxnSp>
        <p:nvCxnSpPr>
          <p:cNvPr id="151" name="직선 화살표 연결선 150">
            <a:extLst>
              <a:ext uri="{FF2B5EF4-FFF2-40B4-BE49-F238E27FC236}">
                <a16:creationId xmlns:a16="http://schemas.microsoft.com/office/drawing/2014/main" id="{B95C2D1B-E8C2-4A39-8039-98A8C2D31D78}"/>
              </a:ext>
            </a:extLst>
          </p:cNvPr>
          <p:cNvCxnSpPr>
            <a:stCxn id="146" idx="3"/>
            <a:endCxn id="148" idx="1"/>
          </p:cNvCxnSpPr>
          <p:nvPr/>
        </p:nvCxnSpPr>
        <p:spPr>
          <a:xfrm>
            <a:off x="2492270" y="3776904"/>
            <a:ext cx="1024185" cy="2199695"/>
          </a:xfrm>
          <a:prstGeom prst="straightConnector1">
            <a:avLst/>
          </a:prstGeom>
          <a:ln w="38100">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2" name="TextBox 151">
            <a:extLst>
              <a:ext uri="{FF2B5EF4-FFF2-40B4-BE49-F238E27FC236}">
                <a16:creationId xmlns:a16="http://schemas.microsoft.com/office/drawing/2014/main" id="{7C8DDD22-0AA0-409E-872E-6D6CC26AD643}"/>
              </a:ext>
            </a:extLst>
          </p:cNvPr>
          <p:cNvSpPr txBox="1"/>
          <p:nvPr/>
        </p:nvSpPr>
        <p:spPr>
          <a:xfrm>
            <a:off x="2438849" y="4475904"/>
            <a:ext cx="737702" cy="584775"/>
          </a:xfrm>
          <a:prstGeom prst="rect">
            <a:avLst/>
          </a:prstGeom>
          <a:noFill/>
        </p:spPr>
        <p:txBody>
          <a:bodyPr wrap="none" rtlCol="0">
            <a:spAutoFit/>
          </a:bodyPr>
          <a:lstStyle/>
          <a:p>
            <a:pPr algn="ctr"/>
            <a:r>
              <a:rPr lang="ko-KR" altLang="en-US" sz="1600" dirty="0">
                <a:solidFill>
                  <a:srgbClr val="FF0000"/>
                </a:solidFill>
              </a:rPr>
              <a:t>동일성</a:t>
            </a:r>
            <a:endParaRPr lang="en-US" altLang="ko-KR" sz="1600" dirty="0">
              <a:solidFill>
                <a:srgbClr val="FF0000"/>
              </a:solidFill>
            </a:endParaRPr>
          </a:p>
          <a:p>
            <a:pPr algn="ctr"/>
            <a:r>
              <a:rPr lang="ko-KR" altLang="en-US" sz="1600" dirty="0">
                <a:solidFill>
                  <a:srgbClr val="FF0000"/>
                </a:solidFill>
              </a:rPr>
              <a:t>불인정</a:t>
            </a:r>
            <a:endParaRPr lang="en-US" altLang="ko-KR" sz="1600" dirty="0">
              <a:solidFill>
                <a:srgbClr val="FF0000"/>
              </a:solidFill>
            </a:endParaRPr>
          </a:p>
        </p:txBody>
      </p:sp>
      <p:sp>
        <p:nvSpPr>
          <p:cNvPr id="153" name="말풍선: 모서리가 둥근 사각형 152">
            <a:extLst>
              <a:ext uri="{FF2B5EF4-FFF2-40B4-BE49-F238E27FC236}">
                <a16:creationId xmlns:a16="http://schemas.microsoft.com/office/drawing/2014/main" id="{9B483978-CB8C-4CAC-A8DB-D67000C649B5}"/>
              </a:ext>
            </a:extLst>
          </p:cNvPr>
          <p:cNvSpPr/>
          <p:nvPr/>
        </p:nvSpPr>
        <p:spPr>
          <a:xfrm>
            <a:off x="8521748" y="2357151"/>
            <a:ext cx="2522483" cy="612648"/>
          </a:xfrm>
          <a:prstGeom prst="wedgeRoundRectCallout">
            <a:avLst>
              <a:gd name="adj1" fmla="val -25425"/>
              <a:gd name="adj2" fmla="val 125220"/>
              <a:gd name="adj3" fmla="val 16667"/>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출원인에게 실질적 </a:t>
            </a:r>
            <a:endParaRPr lang="en-US" altLang="ko-KR" sz="1600" dirty="0"/>
          </a:p>
          <a:p>
            <a:pPr algn="ctr"/>
            <a:r>
              <a:rPr lang="ko-KR" altLang="en-US" sz="1600" dirty="0"/>
              <a:t>대응기회가 주어졌는가</a:t>
            </a:r>
            <a:r>
              <a:rPr lang="en-US" altLang="ko-KR" sz="1600" dirty="0"/>
              <a:t>?</a:t>
            </a:r>
            <a:endParaRPr lang="ko-KR" altLang="en-US" sz="1600" dirty="0"/>
          </a:p>
        </p:txBody>
      </p:sp>
      <p:sp>
        <p:nvSpPr>
          <p:cNvPr id="5" name="말풍선: 모서리가 둥근 사각형 4">
            <a:extLst>
              <a:ext uri="{FF2B5EF4-FFF2-40B4-BE49-F238E27FC236}">
                <a16:creationId xmlns:a16="http://schemas.microsoft.com/office/drawing/2014/main" id="{5330337D-AF9A-4EFF-9F32-7339A9F56A2E}"/>
              </a:ext>
            </a:extLst>
          </p:cNvPr>
          <p:cNvSpPr/>
          <p:nvPr/>
        </p:nvSpPr>
        <p:spPr>
          <a:xfrm>
            <a:off x="835934" y="3165177"/>
            <a:ext cx="851515" cy="263810"/>
          </a:xfrm>
          <a:prstGeom prst="wedgeRoundRectCallout">
            <a:avLst>
              <a:gd name="adj1" fmla="val 44714"/>
              <a:gd name="adj2" fmla="val 115979"/>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2">
                    <a:lumMod val="50000"/>
                  </a:schemeClr>
                </a:solidFill>
              </a:rPr>
              <a:t>하위개념</a:t>
            </a:r>
          </a:p>
        </p:txBody>
      </p:sp>
      <p:sp>
        <p:nvSpPr>
          <p:cNvPr id="32" name="말풍선: 모서리가 둥근 사각형 31">
            <a:extLst>
              <a:ext uri="{FF2B5EF4-FFF2-40B4-BE49-F238E27FC236}">
                <a16:creationId xmlns:a16="http://schemas.microsoft.com/office/drawing/2014/main" id="{C43AB606-C646-41CA-BE42-561C74053270}"/>
              </a:ext>
            </a:extLst>
          </p:cNvPr>
          <p:cNvSpPr/>
          <p:nvPr/>
        </p:nvSpPr>
        <p:spPr>
          <a:xfrm>
            <a:off x="2533342" y="6179110"/>
            <a:ext cx="851515" cy="263810"/>
          </a:xfrm>
          <a:prstGeom prst="wedgeRoundRectCallout">
            <a:avLst>
              <a:gd name="adj1" fmla="val 79579"/>
              <a:gd name="adj2" fmla="val -77584"/>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2">
                    <a:lumMod val="50000"/>
                  </a:schemeClr>
                </a:solidFill>
              </a:rPr>
              <a:t>상위개념</a:t>
            </a:r>
          </a:p>
        </p:txBody>
      </p:sp>
      <p:sp>
        <p:nvSpPr>
          <p:cNvPr id="6" name="직사각형 5">
            <a:extLst>
              <a:ext uri="{FF2B5EF4-FFF2-40B4-BE49-F238E27FC236}">
                <a16:creationId xmlns:a16="http://schemas.microsoft.com/office/drawing/2014/main" id="{773CEE39-DD43-4DE4-A902-FF0B2040899B}"/>
              </a:ext>
            </a:extLst>
          </p:cNvPr>
          <p:cNvSpPr/>
          <p:nvPr/>
        </p:nvSpPr>
        <p:spPr>
          <a:xfrm>
            <a:off x="329784" y="2521470"/>
            <a:ext cx="4636862" cy="4149146"/>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직사각형 7">
            <a:extLst>
              <a:ext uri="{FF2B5EF4-FFF2-40B4-BE49-F238E27FC236}">
                <a16:creationId xmlns:a16="http://schemas.microsoft.com/office/drawing/2014/main" id="{E30340BD-E95D-4864-9D7B-1984ED597382}"/>
              </a:ext>
            </a:extLst>
          </p:cNvPr>
          <p:cNvSpPr/>
          <p:nvPr/>
        </p:nvSpPr>
        <p:spPr>
          <a:xfrm>
            <a:off x="553731" y="2330534"/>
            <a:ext cx="4188967" cy="553998"/>
          </a:xfrm>
          <a:prstGeom prst="rect">
            <a:avLst/>
          </a:prstGeom>
          <a:solidFill>
            <a:schemeClr val="bg1"/>
          </a:solidFill>
        </p:spPr>
        <p:txBody>
          <a:bodyPr wrap="none">
            <a:spAutoFit/>
          </a:bodyPr>
          <a:lstStyle/>
          <a:p>
            <a:pPr algn="ctr"/>
            <a:r>
              <a:rPr lang="ko-KR" altLang="en-US" dirty="0"/>
              <a:t>특허법원 </a:t>
            </a:r>
            <a:r>
              <a:rPr lang="en-US" altLang="ko-KR" dirty="0"/>
              <a:t>2009. 7. 1. </a:t>
            </a:r>
            <a:r>
              <a:rPr lang="ko-KR" altLang="en-US" dirty="0"/>
              <a:t>선고 </a:t>
            </a:r>
            <a:r>
              <a:rPr lang="en-US" altLang="ko-KR" dirty="0"/>
              <a:t>2008</a:t>
            </a:r>
            <a:r>
              <a:rPr lang="ko-KR" altLang="en-US" dirty="0"/>
              <a:t>허</a:t>
            </a:r>
            <a:r>
              <a:rPr lang="en-US" altLang="ko-KR" dirty="0"/>
              <a:t>7706 </a:t>
            </a:r>
            <a:r>
              <a:rPr lang="ko-KR" altLang="en-US" dirty="0"/>
              <a:t>판결</a:t>
            </a:r>
            <a:endParaRPr lang="en-US" altLang="ko-KR" dirty="0"/>
          </a:p>
          <a:p>
            <a:pPr algn="ctr"/>
            <a:r>
              <a:rPr lang="en-US" altLang="ko-KR" sz="1200" dirty="0"/>
              <a:t>(</a:t>
            </a:r>
            <a:r>
              <a:rPr lang="ko-KR" altLang="en-US" sz="1200" dirty="0" err="1"/>
              <a:t>국내우선권주장출원의</a:t>
            </a:r>
            <a:r>
              <a:rPr lang="ko-KR" altLang="en-US" sz="1200" dirty="0"/>
              <a:t> </a:t>
            </a:r>
            <a:r>
              <a:rPr lang="ko-KR" altLang="en-US" sz="1200" dirty="0" err="1"/>
              <a:t>패들타입</a:t>
            </a:r>
            <a:r>
              <a:rPr lang="ko-KR" altLang="en-US" sz="1200" dirty="0"/>
              <a:t> </a:t>
            </a:r>
            <a:r>
              <a:rPr lang="ko-KR" altLang="en-US" sz="1200" dirty="0" err="1"/>
              <a:t>교반기</a:t>
            </a:r>
            <a:r>
              <a:rPr lang="ko-KR" altLang="en-US" sz="1200" dirty="0"/>
              <a:t> 사건</a:t>
            </a:r>
            <a:r>
              <a:rPr lang="en-US" altLang="ko-KR" sz="1200" dirty="0"/>
              <a:t>)</a:t>
            </a:r>
            <a:endParaRPr lang="ko-KR" altLang="en-US" sz="1200" dirty="0"/>
          </a:p>
        </p:txBody>
      </p:sp>
      <p:cxnSp>
        <p:nvCxnSpPr>
          <p:cNvPr id="10" name="연결선: 꺾임 9">
            <a:extLst>
              <a:ext uri="{FF2B5EF4-FFF2-40B4-BE49-F238E27FC236}">
                <a16:creationId xmlns:a16="http://schemas.microsoft.com/office/drawing/2014/main" id="{04BEE286-9121-4097-A6BB-AC7FEFF4CC8D}"/>
              </a:ext>
            </a:extLst>
          </p:cNvPr>
          <p:cNvCxnSpPr>
            <a:stCxn id="149" idx="0"/>
            <a:endCxn id="130" idx="2"/>
          </p:cNvCxnSpPr>
          <p:nvPr/>
        </p:nvCxnSpPr>
        <p:spPr>
          <a:xfrm rot="5400000" flipH="1" flipV="1">
            <a:off x="7326390" y="5755221"/>
            <a:ext cx="458954" cy="12700"/>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7" name="직사각형 36">
            <a:extLst>
              <a:ext uri="{FF2B5EF4-FFF2-40B4-BE49-F238E27FC236}">
                <a16:creationId xmlns:a16="http://schemas.microsoft.com/office/drawing/2014/main" id="{7922A387-9A84-4694-BF07-EB9E6B0520A8}"/>
              </a:ext>
            </a:extLst>
          </p:cNvPr>
          <p:cNvSpPr/>
          <p:nvPr/>
        </p:nvSpPr>
        <p:spPr>
          <a:xfrm>
            <a:off x="8377202" y="5296244"/>
            <a:ext cx="1525628" cy="229500"/>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의견서</a:t>
            </a:r>
            <a:r>
              <a:rPr lang="en-US" altLang="ko-KR" sz="1100" dirty="0">
                <a:solidFill>
                  <a:schemeClr val="tx1"/>
                </a:solidFill>
              </a:rPr>
              <a:t>(Y)</a:t>
            </a:r>
            <a:endParaRPr lang="ko-KR" altLang="en-US" sz="1100" dirty="0">
              <a:solidFill>
                <a:schemeClr val="tx1"/>
              </a:solidFill>
            </a:endParaRPr>
          </a:p>
        </p:txBody>
      </p:sp>
      <p:cxnSp>
        <p:nvCxnSpPr>
          <p:cNvPr id="38" name="직선 화살표 연결선 37">
            <a:extLst>
              <a:ext uri="{FF2B5EF4-FFF2-40B4-BE49-F238E27FC236}">
                <a16:creationId xmlns:a16="http://schemas.microsoft.com/office/drawing/2014/main" id="{F77EE66B-109E-4CDE-8F48-FC3F77AD59C6}"/>
              </a:ext>
            </a:extLst>
          </p:cNvPr>
          <p:cNvCxnSpPr>
            <a:cxnSpLocks/>
            <a:stCxn id="37" idx="0"/>
          </p:cNvCxnSpPr>
          <p:nvPr/>
        </p:nvCxnSpPr>
        <p:spPr>
          <a:xfrm flipV="1">
            <a:off x="9140016" y="4786484"/>
            <a:ext cx="0" cy="509760"/>
          </a:xfrm>
          <a:prstGeom prst="straightConnector1">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2866C1E8-BC02-4204-96DB-1302F95419A3}"/>
              </a:ext>
            </a:extLst>
          </p:cNvPr>
          <p:cNvSpPr txBox="1"/>
          <p:nvPr/>
        </p:nvSpPr>
        <p:spPr>
          <a:xfrm>
            <a:off x="8521748" y="5984698"/>
            <a:ext cx="3175697" cy="584775"/>
          </a:xfrm>
          <a:prstGeom prst="rect">
            <a:avLst/>
          </a:prstGeom>
          <a:noFill/>
          <a:ln>
            <a:solidFill>
              <a:schemeClr val="bg1">
                <a:lumMod val="65000"/>
              </a:schemeClr>
            </a:solidFill>
          </a:ln>
        </p:spPr>
        <p:txBody>
          <a:bodyPr wrap="square" rtlCol="0">
            <a:spAutoFit/>
          </a:bodyPr>
          <a:lstStyle/>
          <a:p>
            <a:r>
              <a:rPr lang="ko-KR" altLang="en-US" sz="1600" dirty="0"/>
              <a:t>한국출원</a:t>
            </a:r>
            <a:r>
              <a:rPr lang="en-US" altLang="ko-KR" sz="1600" dirty="0"/>
              <a:t>(X)</a:t>
            </a:r>
            <a:r>
              <a:rPr lang="ko-KR" altLang="en-US" sz="1600" dirty="0"/>
              <a:t>의 출원일로 판단시점이 </a:t>
            </a:r>
            <a:endParaRPr lang="en-US" altLang="ko-KR" sz="1600" dirty="0"/>
          </a:p>
          <a:p>
            <a:r>
              <a:rPr lang="ko-KR" altLang="en-US" sz="1600" dirty="0"/>
              <a:t>소급하여 진보성 위반이 아님</a:t>
            </a:r>
          </a:p>
        </p:txBody>
      </p:sp>
      <p:cxnSp>
        <p:nvCxnSpPr>
          <p:cNvPr id="40" name="연결선: 꺾임 39">
            <a:extLst>
              <a:ext uri="{FF2B5EF4-FFF2-40B4-BE49-F238E27FC236}">
                <a16:creationId xmlns:a16="http://schemas.microsoft.com/office/drawing/2014/main" id="{BDF5E7A2-76AB-47F8-B0B9-2365BC657B5B}"/>
              </a:ext>
            </a:extLst>
          </p:cNvPr>
          <p:cNvCxnSpPr>
            <a:cxnSpLocks/>
            <a:stCxn id="39" idx="0"/>
            <a:endCxn id="37" idx="2"/>
          </p:cNvCxnSpPr>
          <p:nvPr/>
        </p:nvCxnSpPr>
        <p:spPr>
          <a:xfrm rot="16200000" flipV="1">
            <a:off x="9395330" y="5270430"/>
            <a:ext cx="458954" cy="969581"/>
          </a:xfrm>
          <a:prstGeom prst="bentConnector3">
            <a:avLst/>
          </a:prstGeom>
          <a:ln>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 name="사각형: 둥근 모서리 6">
            <a:extLst>
              <a:ext uri="{FF2B5EF4-FFF2-40B4-BE49-F238E27FC236}">
                <a16:creationId xmlns:a16="http://schemas.microsoft.com/office/drawing/2014/main" id="{8ECD395C-8BA0-867F-7007-62F1D31BFE02}"/>
              </a:ext>
            </a:extLst>
          </p:cNvPr>
          <p:cNvSpPr/>
          <p:nvPr/>
        </p:nvSpPr>
        <p:spPr>
          <a:xfrm>
            <a:off x="6793053" y="3351057"/>
            <a:ext cx="1584149" cy="706491"/>
          </a:xfrm>
          <a:prstGeom prst="roundRect">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거절이유</a:t>
            </a:r>
            <a:r>
              <a:rPr lang="en-US" altLang="ko-KR" sz="1200" dirty="0"/>
              <a:t>:</a:t>
            </a:r>
          </a:p>
          <a:p>
            <a:pPr algn="ctr"/>
            <a:r>
              <a:rPr lang="ko-KR" altLang="en-US" sz="1200" dirty="0"/>
              <a:t>우선권주장 불인정 </a:t>
            </a:r>
            <a:endParaRPr lang="en-US" altLang="ko-KR" sz="1200" dirty="0"/>
          </a:p>
          <a:p>
            <a:pPr algn="ctr"/>
            <a:r>
              <a:rPr lang="ko-KR" altLang="en-US" sz="1200" dirty="0" err="1"/>
              <a:t>불포함</a:t>
            </a:r>
            <a:endParaRPr lang="ko-KR" altLang="en-US" sz="1200" dirty="0"/>
          </a:p>
        </p:txBody>
      </p:sp>
      <p:sp>
        <p:nvSpPr>
          <p:cNvPr id="11" name="사각형: 둥근 모서리 10">
            <a:extLst>
              <a:ext uri="{FF2B5EF4-FFF2-40B4-BE49-F238E27FC236}">
                <a16:creationId xmlns:a16="http://schemas.microsoft.com/office/drawing/2014/main" id="{56A223AB-4AD1-AC0C-F058-5615EFBF9E89}"/>
              </a:ext>
            </a:extLst>
          </p:cNvPr>
          <p:cNvSpPr/>
          <p:nvPr/>
        </p:nvSpPr>
        <p:spPr>
          <a:xfrm>
            <a:off x="10014048" y="3351057"/>
            <a:ext cx="1584149" cy="706491"/>
          </a:xfrm>
          <a:prstGeom prst="round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거절결정의 이유</a:t>
            </a:r>
            <a:r>
              <a:rPr lang="en-US" altLang="ko-KR" sz="1200" dirty="0"/>
              <a:t>:</a:t>
            </a:r>
          </a:p>
          <a:p>
            <a:pPr algn="ctr"/>
            <a:r>
              <a:rPr lang="ko-KR" altLang="en-US" sz="1200" dirty="0"/>
              <a:t>우선권주장 불인정 </a:t>
            </a:r>
            <a:endParaRPr lang="en-US" altLang="ko-KR" sz="1200" dirty="0"/>
          </a:p>
          <a:p>
            <a:pPr algn="ctr"/>
            <a:r>
              <a:rPr lang="ko-KR" altLang="en-US" sz="1200" dirty="0"/>
              <a:t>포함</a:t>
            </a:r>
          </a:p>
        </p:txBody>
      </p:sp>
      <p:cxnSp>
        <p:nvCxnSpPr>
          <p:cNvPr id="13" name="직선 화살표 연결선 12">
            <a:extLst>
              <a:ext uri="{FF2B5EF4-FFF2-40B4-BE49-F238E27FC236}">
                <a16:creationId xmlns:a16="http://schemas.microsoft.com/office/drawing/2014/main" id="{FBE1C176-6ADD-77CC-354E-FB5DEB941087}"/>
              </a:ext>
            </a:extLst>
          </p:cNvPr>
          <p:cNvCxnSpPr/>
          <p:nvPr/>
        </p:nvCxnSpPr>
        <p:spPr>
          <a:xfrm flipV="1">
            <a:off x="11144250" y="4115458"/>
            <a:ext cx="0" cy="1180786"/>
          </a:xfrm>
          <a:prstGeom prst="straightConnector1">
            <a:avLst/>
          </a:prstGeom>
          <a:ln w="2857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D76A8376-9806-BDDF-7414-B1A9DB1FFEAD}"/>
              </a:ext>
            </a:extLst>
          </p:cNvPr>
          <p:cNvCxnSpPr/>
          <p:nvPr/>
        </p:nvCxnSpPr>
        <p:spPr>
          <a:xfrm flipV="1">
            <a:off x="7800415" y="4115458"/>
            <a:ext cx="0" cy="1180786"/>
          </a:xfrm>
          <a:prstGeom prst="straightConnector1">
            <a:avLst/>
          </a:prstGeom>
          <a:ln w="28575">
            <a:solidFill>
              <a:schemeClr val="accent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 name="화살표: 왼쪽/오른쪽 14">
            <a:extLst>
              <a:ext uri="{FF2B5EF4-FFF2-40B4-BE49-F238E27FC236}">
                <a16:creationId xmlns:a16="http://schemas.microsoft.com/office/drawing/2014/main" id="{A7278D97-D95B-E53C-B57F-4DFE599F5984}"/>
              </a:ext>
            </a:extLst>
          </p:cNvPr>
          <p:cNvSpPr/>
          <p:nvPr/>
        </p:nvSpPr>
        <p:spPr>
          <a:xfrm>
            <a:off x="8377202" y="3478999"/>
            <a:ext cx="1636846" cy="430803"/>
          </a:xfrm>
          <a:prstGeom prst="leftRightArrow">
            <a:avLst>
              <a:gd name="adj1" fmla="val 80238"/>
              <a:gd name="adj2" fmla="val 50000"/>
            </a:avLst>
          </a:prstGeom>
          <a:solidFill>
            <a:schemeClr val="tx2">
              <a:lumMod val="20000"/>
              <a:lumOff val="8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lumMod val="95000"/>
                    <a:lumOff val="5000"/>
                  </a:schemeClr>
                </a:solidFill>
              </a:rPr>
              <a:t>주지 부합</a:t>
            </a:r>
            <a:r>
              <a:rPr lang="en-US" altLang="ko-KR" sz="1200" dirty="0">
                <a:solidFill>
                  <a:schemeClr val="tx1">
                    <a:lumMod val="95000"/>
                    <a:lumOff val="5000"/>
                  </a:schemeClr>
                </a:solidFill>
              </a:rPr>
              <a:t>X</a:t>
            </a:r>
            <a:endParaRPr lang="ko-KR" altLang="en-US" sz="1200" dirty="0">
              <a:solidFill>
                <a:schemeClr val="tx1">
                  <a:lumMod val="95000"/>
                  <a:lumOff val="5000"/>
                </a:schemeClr>
              </a:solidFill>
            </a:endParaRPr>
          </a:p>
        </p:txBody>
      </p:sp>
    </p:spTree>
    <p:extLst>
      <p:ext uri="{BB962C8B-B14F-4D97-AF65-F5344CB8AC3E}">
        <p14:creationId xmlns:p14="http://schemas.microsoft.com/office/powerpoint/2010/main" val="3481447120"/>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lstStyle/>
          <a:p>
            <a:r>
              <a:rPr lang="ko-KR" altLang="en-US" dirty="0" err="1">
                <a:solidFill>
                  <a:srgbClr val="525252"/>
                </a:solidFill>
              </a:rPr>
              <a:t>거절이유통지의</a:t>
            </a:r>
            <a:r>
              <a:rPr lang="ko-KR" altLang="en-US" dirty="0">
                <a:solidFill>
                  <a:srgbClr val="525252"/>
                </a:solidFill>
              </a:rPr>
              <a:t> 적법성 판단 </a:t>
            </a:r>
            <a:r>
              <a:rPr lang="en-US" altLang="ko-KR" dirty="0">
                <a:solidFill>
                  <a:srgbClr val="525252"/>
                </a:solidFill>
              </a:rPr>
              <a:t>CASE</a:t>
            </a:r>
            <a:endParaRPr lang="ko-KR" altLang="en-US" dirty="0">
              <a:solidFill>
                <a:srgbClr val="525252"/>
              </a:solidFill>
            </a:endParaRPr>
          </a:p>
        </p:txBody>
      </p:sp>
      <p:sp>
        <p:nvSpPr>
          <p:cNvPr id="2" name="슬라이드 번호 개체 틀 1"/>
          <p:cNvSpPr>
            <a:spLocks noGrp="1"/>
          </p:cNvSpPr>
          <p:nvPr>
            <p:ph type="sldNum" sz="quarter" idx="4294967295"/>
          </p:nvPr>
        </p:nvSpPr>
        <p:spPr>
          <a:xfrm>
            <a:off x="11144250" y="3175"/>
            <a:ext cx="1047750" cy="714375"/>
          </a:xfrm>
        </p:spPr>
        <p:txBody>
          <a:bodyPr/>
          <a:lstStyle/>
          <a:p>
            <a:r>
              <a:rPr lang="en-US" altLang="ko-KR"/>
              <a:t>260</a:t>
            </a:r>
            <a:endParaRPr lang="ko-KR" altLang="en-US" dirty="0"/>
          </a:p>
        </p:txBody>
      </p:sp>
      <p:sp>
        <p:nvSpPr>
          <p:cNvPr id="47" name="TextBox 46">
            <a:extLst>
              <a:ext uri="{FF2B5EF4-FFF2-40B4-BE49-F238E27FC236}">
                <a16:creationId xmlns:a16="http://schemas.microsoft.com/office/drawing/2014/main" id="{3B4ABF71-AF71-4AD1-B4A4-FDCE62B8EA69}"/>
              </a:ext>
            </a:extLst>
          </p:cNvPr>
          <p:cNvSpPr txBox="1"/>
          <p:nvPr/>
        </p:nvSpPr>
        <p:spPr>
          <a:xfrm>
            <a:off x="77875" y="986046"/>
            <a:ext cx="11936323" cy="738664"/>
          </a:xfrm>
          <a:prstGeom prst="rect">
            <a:avLst/>
          </a:prstGeom>
          <a:noFill/>
        </p:spPr>
        <p:txBody>
          <a:bodyPr wrap="square" rtlCol="0">
            <a:spAutoFit/>
          </a:bodyPr>
          <a:lstStyle/>
          <a:p>
            <a:r>
              <a:rPr lang="ko-KR" altLang="en-US" sz="1400" dirty="0"/>
              <a:t>진보성 위반을 이유로 한 거절이유에 기재된 주선행발명을 다른 선행발명으로 변경하는 경우에는</a:t>
            </a:r>
            <a:r>
              <a:rPr lang="en-US" altLang="ko-KR" sz="1400" dirty="0"/>
              <a:t>, </a:t>
            </a:r>
            <a:r>
              <a:rPr lang="ko-KR" altLang="en-US" sz="1400" dirty="0"/>
              <a:t>일반적으로 출원발명과의 공통점 및 차이점의 인정과 그러한 차이점을 극복하여 출원발명을 쉽게 발명할 수 있는지에 대한 판단 내용이 달라지므로</a:t>
            </a:r>
            <a:r>
              <a:rPr lang="en-US" altLang="ko-KR" sz="1400" dirty="0"/>
              <a:t>, </a:t>
            </a:r>
            <a:r>
              <a:rPr lang="ko-KR" altLang="en-US" sz="1400" dirty="0"/>
              <a:t>출원인에게 이에 대해 실질적으로 의견제출의 기회가 주어졌다고 볼 수 있는 등의 특별한 사정이 없는 한 이미 통지된 거절이유와 주요한 취지가 부합하지 아니하는 새로운 거절이유에 해당한다</a:t>
            </a:r>
            <a:r>
              <a:rPr lang="en-US" altLang="ko-KR" sz="1400" dirty="0"/>
              <a:t>(</a:t>
            </a:r>
            <a:r>
              <a:rPr lang="ko-KR" altLang="en-US" sz="1400" dirty="0"/>
              <a:t>대법원 </a:t>
            </a:r>
            <a:r>
              <a:rPr lang="en-US" altLang="ko-KR" sz="1400" dirty="0"/>
              <a:t>2019. 10. 31. </a:t>
            </a:r>
            <a:r>
              <a:rPr lang="ko-KR" altLang="en-US" sz="1400" dirty="0"/>
              <a:t>선고 </a:t>
            </a:r>
            <a:r>
              <a:rPr lang="en-US" altLang="ko-KR" sz="1400" dirty="0"/>
              <a:t>2015</a:t>
            </a:r>
            <a:r>
              <a:rPr lang="ko-KR" altLang="en-US" sz="1400" dirty="0"/>
              <a:t>후</a:t>
            </a:r>
            <a:r>
              <a:rPr lang="en-US" altLang="ko-KR" sz="1400" dirty="0"/>
              <a:t>2341).</a:t>
            </a:r>
            <a:endParaRPr lang="ko-KR" altLang="en-US" sz="1400" dirty="0"/>
          </a:p>
        </p:txBody>
      </p:sp>
      <p:cxnSp>
        <p:nvCxnSpPr>
          <p:cNvPr id="49" name="직선 연결선 48">
            <a:extLst>
              <a:ext uri="{FF2B5EF4-FFF2-40B4-BE49-F238E27FC236}">
                <a16:creationId xmlns:a16="http://schemas.microsoft.com/office/drawing/2014/main" id="{E8BD05C4-53FC-48F0-9895-C75C756AD023}"/>
              </a:ext>
            </a:extLst>
          </p:cNvPr>
          <p:cNvCxnSpPr/>
          <p:nvPr/>
        </p:nvCxnSpPr>
        <p:spPr>
          <a:xfrm>
            <a:off x="0" y="175558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직선 화살표 연결선 40">
            <a:extLst>
              <a:ext uri="{FF2B5EF4-FFF2-40B4-BE49-F238E27FC236}">
                <a16:creationId xmlns:a16="http://schemas.microsoft.com/office/drawing/2014/main" id="{635B976A-DE4C-42E4-857B-BE387D5921AB}"/>
              </a:ext>
            </a:extLst>
          </p:cNvPr>
          <p:cNvCxnSpPr>
            <a:cxnSpLocks/>
          </p:cNvCxnSpPr>
          <p:nvPr/>
        </p:nvCxnSpPr>
        <p:spPr>
          <a:xfrm>
            <a:off x="327804" y="2279448"/>
            <a:ext cx="1161978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Rectangle 14">
            <a:extLst>
              <a:ext uri="{FF2B5EF4-FFF2-40B4-BE49-F238E27FC236}">
                <a16:creationId xmlns:a16="http://schemas.microsoft.com/office/drawing/2014/main" id="{639DFE03-AB5F-4537-BE94-4D57E79C28E6}"/>
              </a:ext>
            </a:extLst>
          </p:cNvPr>
          <p:cNvSpPr>
            <a:spLocks noChangeArrowheads="1"/>
          </p:cNvSpPr>
          <p:nvPr/>
        </p:nvSpPr>
        <p:spPr bwMode="auto">
          <a:xfrm>
            <a:off x="3974214" y="2099946"/>
            <a:ext cx="925579"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n-ea"/>
              </a:rPr>
              <a:t>출원</a:t>
            </a:r>
            <a:r>
              <a:rPr lang="en-US" altLang="ko-KR" sz="1200" dirty="0">
                <a:latin typeface="+mn-ea"/>
              </a:rPr>
              <a:t>(X)</a:t>
            </a:r>
            <a:endParaRPr lang="ko-KR" altLang="en-US" sz="1200" b="0" dirty="0">
              <a:latin typeface="+mn-ea"/>
            </a:endParaRPr>
          </a:p>
        </p:txBody>
      </p:sp>
      <p:sp>
        <p:nvSpPr>
          <p:cNvPr id="63" name="Rectangle 14">
            <a:extLst>
              <a:ext uri="{FF2B5EF4-FFF2-40B4-BE49-F238E27FC236}">
                <a16:creationId xmlns:a16="http://schemas.microsoft.com/office/drawing/2014/main" id="{B31DC284-8B34-4153-8B19-16B686F62241}"/>
              </a:ext>
            </a:extLst>
          </p:cNvPr>
          <p:cNvSpPr>
            <a:spLocks noChangeArrowheads="1"/>
          </p:cNvSpPr>
          <p:nvPr/>
        </p:nvSpPr>
        <p:spPr bwMode="auto">
          <a:xfrm>
            <a:off x="7860072" y="2099946"/>
            <a:ext cx="925579"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a:latin typeface="+mn-ea"/>
              </a:rPr>
              <a:t>심판청구</a:t>
            </a:r>
          </a:p>
        </p:txBody>
      </p:sp>
      <p:sp>
        <p:nvSpPr>
          <p:cNvPr id="65" name="Rectangle 14">
            <a:extLst>
              <a:ext uri="{FF2B5EF4-FFF2-40B4-BE49-F238E27FC236}">
                <a16:creationId xmlns:a16="http://schemas.microsoft.com/office/drawing/2014/main" id="{4B432D29-50EE-4FEF-90C2-9C240D8040B4}"/>
              </a:ext>
            </a:extLst>
          </p:cNvPr>
          <p:cNvSpPr>
            <a:spLocks noChangeArrowheads="1"/>
          </p:cNvSpPr>
          <p:nvPr/>
        </p:nvSpPr>
        <p:spPr bwMode="auto">
          <a:xfrm>
            <a:off x="4944808" y="2099947"/>
            <a:ext cx="925579" cy="359004"/>
          </a:xfrm>
          <a:prstGeom prst="rect">
            <a:avLst/>
          </a:prstGeom>
          <a:solidFill>
            <a:schemeClr val="accent3">
              <a:lumMod val="50000"/>
            </a:schemeClr>
          </a:solidFill>
          <a:ln w="9525" algn="ctr">
            <a:solidFill>
              <a:schemeClr val="bg1">
                <a:lumMod val="50000"/>
              </a:schemeClr>
            </a:solidFill>
            <a:miter lim="800000"/>
            <a:headEnd/>
            <a:tailEnd/>
          </a:ln>
        </p:spPr>
        <p:txBody>
          <a:bodyPr wrap="none" anchor="ctr"/>
          <a:lstStyle/>
          <a:p>
            <a:pPr algn="ctr"/>
            <a:r>
              <a:rPr lang="ko-KR" altLang="en-US" sz="1200" b="0">
                <a:solidFill>
                  <a:schemeClr val="accent4"/>
                </a:solidFill>
                <a:latin typeface="+mn-ea"/>
              </a:rPr>
              <a:t>거절이유통지</a:t>
            </a:r>
            <a:endParaRPr lang="ko-KR" altLang="en-US" sz="1200" b="0" dirty="0">
              <a:solidFill>
                <a:schemeClr val="accent4"/>
              </a:solidFill>
              <a:latin typeface="+mn-ea"/>
            </a:endParaRPr>
          </a:p>
        </p:txBody>
      </p:sp>
      <p:sp>
        <p:nvSpPr>
          <p:cNvPr id="7" name="TextBox 6">
            <a:extLst>
              <a:ext uri="{FF2B5EF4-FFF2-40B4-BE49-F238E27FC236}">
                <a16:creationId xmlns:a16="http://schemas.microsoft.com/office/drawing/2014/main" id="{C7B81395-0D73-43E4-B056-0E8FB958F764}"/>
              </a:ext>
            </a:extLst>
          </p:cNvPr>
          <p:cNvSpPr txBox="1"/>
          <p:nvPr/>
        </p:nvSpPr>
        <p:spPr>
          <a:xfrm>
            <a:off x="3776312" y="3782683"/>
            <a:ext cx="1838965" cy="276999"/>
          </a:xfrm>
          <a:prstGeom prst="rect">
            <a:avLst/>
          </a:prstGeom>
          <a:noFill/>
          <a:ln>
            <a:solidFill>
              <a:schemeClr val="bg1">
                <a:lumMod val="65000"/>
              </a:schemeClr>
            </a:solidFill>
          </a:ln>
        </p:spPr>
        <p:txBody>
          <a:bodyPr wrap="none" rtlCol="0">
            <a:spAutoFit/>
          </a:bodyPr>
          <a:lstStyle/>
          <a:p>
            <a:r>
              <a:rPr lang="en-US" altLang="ko-KR" sz="1200" dirty="0"/>
              <a:t>a, b, c. </a:t>
            </a:r>
            <a:r>
              <a:rPr lang="en-US" altLang="ko-KR" sz="1200"/>
              <a:t>d</a:t>
            </a:r>
            <a:r>
              <a:rPr lang="ko-KR" altLang="en-US" sz="1200"/>
              <a:t>를 </a:t>
            </a:r>
            <a:r>
              <a:rPr lang="ko-KR" altLang="en-US" sz="1200" dirty="0"/>
              <a:t>포함하는 발명</a:t>
            </a:r>
          </a:p>
        </p:txBody>
      </p:sp>
      <p:sp>
        <p:nvSpPr>
          <p:cNvPr id="69" name="Rectangle 14">
            <a:extLst>
              <a:ext uri="{FF2B5EF4-FFF2-40B4-BE49-F238E27FC236}">
                <a16:creationId xmlns:a16="http://schemas.microsoft.com/office/drawing/2014/main" id="{B934E805-F7DD-4B9C-B15C-2FB2A85EB23D}"/>
              </a:ext>
            </a:extLst>
          </p:cNvPr>
          <p:cNvSpPr>
            <a:spLocks noChangeArrowheads="1"/>
          </p:cNvSpPr>
          <p:nvPr/>
        </p:nvSpPr>
        <p:spPr bwMode="auto">
          <a:xfrm>
            <a:off x="564221" y="2099946"/>
            <a:ext cx="925579" cy="359005"/>
          </a:xfrm>
          <a:prstGeom prst="rect">
            <a:avLst/>
          </a:prstGeom>
          <a:solidFill>
            <a:schemeClr val="accent2">
              <a:lumMod val="75000"/>
            </a:schemeClr>
          </a:solidFill>
          <a:ln w="9525" algn="ctr">
            <a:solidFill>
              <a:schemeClr val="bg1">
                <a:lumMod val="50000"/>
              </a:schemeClr>
            </a:solidFill>
            <a:miter lim="800000"/>
            <a:headEnd/>
            <a:tailEnd/>
          </a:ln>
        </p:spPr>
        <p:txBody>
          <a:bodyPr wrap="none" anchor="ctr"/>
          <a:lstStyle/>
          <a:p>
            <a:pPr algn="ctr"/>
            <a:r>
              <a:rPr lang="ko-KR" altLang="en-US" sz="1200" b="0" dirty="0">
                <a:solidFill>
                  <a:schemeClr val="bg1"/>
                </a:solidFill>
                <a:latin typeface="+mn-ea"/>
              </a:rPr>
              <a:t>선행기술 </a:t>
            </a:r>
            <a:r>
              <a:rPr lang="en-US" altLang="ko-KR" sz="1200" b="0" dirty="0">
                <a:solidFill>
                  <a:schemeClr val="bg1"/>
                </a:solidFill>
                <a:latin typeface="+mn-ea"/>
              </a:rPr>
              <a:t>1</a:t>
            </a:r>
            <a:endParaRPr lang="ko-KR" altLang="en-US" sz="1200" b="0" dirty="0">
              <a:solidFill>
                <a:schemeClr val="bg1"/>
              </a:solidFill>
              <a:latin typeface="+mn-ea"/>
            </a:endParaRPr>
          </a:p>
        </p:txBody>
      </p:sp>
      <p:sp>
        <p:nvSpPr>
          <p:cNvPr id="70" name="Rectangle 14">
            <a:extLst>
              <a:ext uri="{FF2B5EF4-FFF2-40B4-BE49-F238E27FC236}">
                <a16:creationId xmlns:a16="http://schemas.microsoft.com/office/drawing/2014/main" id="{03C93EA7-B683-4141-B6F2-9824FA8E8146}"/>
              </a:ext>
            </a:extLst>
          </p:cNvPr>
          <p:cNvSpPr>
            <a:spLocks noChangeArrowheads="1"/>
          </p:cNvSpPr>
          <p:nvPr/>
        </p:nvSpPr>
        <p:spPr bwMode="auto">
          <a:xfrm>
            <a:off x="1694044" y="2099946"/>
            <a:ext cx="925579" cy="359005"/>
          </a:xfrm>
          <a:prstGeom prst="rect">
            <a:avLst/>
          </a:prstGeom>
          <a:solidFill>
            <a:schemeClr val="accent2">
              <a:lumMod val="75000"/>
            </a:schemeClr>
          </a:solidFill>
          <a:ln w="9525" algn="ctr">
            <a:solidFill>
              <a:schemeClr val="bg1">
                <a:lumMod val="50000"/>
              </a:schemeClr>
            </a:solidFill>
            <a:miter lim="800000"/>
            <a:headEnd/>
            <a:tailEnd/>
          </a:ln>
        </p:spPr>
        <p:txBody>
          <a:bodyPr wrap="none" anchor="ctr"/>
          <a:lstStyle/>
          <a:p>
            <a:pPr algn="ctr"/>
            <a:r>
              <a:rPr lang="ko-KR" altLang="en-US" sz="1200" b="0" dirty="0">
                <a:solidFill>
                  <a:schemeClr val="bg1"/>
                </a:solidFill>
                <a:latin typeface="+mn-ea"/>
              </a:rPr>
              <a:t>선행기술 </a:t>
            </a:r>
            <a:r>
              <a:rPr lang="en-US" altLang="ko-KR" sz="1200" b="0" dirty="0">
                <a:solidFill>
                  <a:schemeClr val="bg1"/>
                </a:solidFill>
                <a:latin typeface="+mn-ea"/>
              </a:rPr>
              <a:t>2</a:t>
            </a:r>
            <a:endParaRPr lang="ko-KR" altLang="en-US" sz="1200" b="0" dirty="0">
              <a:solidFill>
                <a:schemeClr val="bg1"/>
              </a:solidFill>
              <a:latin typeface="+mn-ea"/>
            </a:endParaRPr>
          </a:p>
        </p:txBody>
      </p:sp>
      <p:sp>
        <p:nvSpPr>
          <p:cNvPr id="71" name="Rectangle 14">
            <a:extLst>
              <a:ext uri="{FF2B5EF4-FFF2-40B4-BE49-F238E27FC236}">
                <a16:creationId xmlns:a16="http://schemas.microsoft.com/office/drawing/2014/main" id="{C98ED84B-642B-4967-B4A3-8F1BE7D1D948}"/>
              </a:ext>
            </a:extLst>
          </p:cNvPr>
          <p:cNvSpPr>
            <a:spLocks noChangeArrowheads="1"/>
          </p:cNvSpPr>
          <p:nvPr/>
        </p:nvSpPr>
        <p:spPr bwMode="auto">
          <a:xfrm>
            <a:off x="2799621" y="2099946"/>
            <a:ext cx="925579" cy="359005"/>
          </a:xfrm>
          <a:prstGeom prst="rect">
            <a:avLst/>
          </a:prstGeom>
          <a:solidFill>
            <a:schemeClr val="accent2">
              <a:lumMod val="75000"/>
            </a:schemeClr>
          </a:solidFill>
          <a:ln w="9525" algn="ctr">
            <a:solidFill>
              <a:schemeClr val="bg1">
                <a:lumMod val="50000"/>
              </a:schemeClr>
            </a:solidFill>
            <a:miter lim="800000"/>
            <a:headEnd/>
            <a:tailEnd/>
          </a:ln>
        </p:spPr>
        <p:txBody>
          <a:bodyPr wrap="none" anchor="ctr"/>
          <a:lstStyle/>
          <a:p>
            <a:pPr algn="ctr"/>
            <a:r>
              <a:rPr lang="ko-KR" altLang="en-US" sz="1200" b="0" dirty="0">
                <a:solidFill>
                  <a:schemeClr val="bg1"/>
                </a:solidFill>
                <a:latin typeface="+mn-ea"/>
              </a:rPr>
              <a:t>선행기술 </a:t>
            </a:r>
            <a:r>
              <a:rPr lang="en-US" altLang="ko-KR" sz="1200" b="0" dirty="0">
                <a:solidFill>
                  <a:schemeClr val="bg1"/>
                </a:solidFill>
                <a:latin typeface="+mn-ea"/>
              </a:rPr>
              <a:t>3</a:t>
            </a:r>
            <a:endParaRPr lang="ko-KR" altLang="en-US" sz="1200" b="0" dirty="0">
              <a:solidFill>
                <a:schemeClr val="bg1"/>
              </a:solidFill>
              <a:latin typeface="+mn-ea"/>
            </a:endParaRPr>
          </a:p>
        </p:txBody>
      </p:sp>
      <p:sp>
        <p:nvSpPr>
          <p:cNvPr id="72" name="TextBox 71">
            <a:extLst>
              <a:ext uri="{FF2B5EF4-FFF2-40B4-BE49-F238E27FC236}">
                <a16:creationId xmlns:a16="http://schemas.microsoft.com/office/drawing/2014/main" id="{4D376DB5-4C6E-42DE-B57E-FA0BF120C81C}"/>
              </a:ext>
            </a:extLst>
          </p:cNvPr>
          <p:cNvSpPr txBox="1"/>
          <p:nvPr/>
        </p:nvSpPr>
        <p:spPr>
          <a:xfrm>
            <a:off x="191710" y="2651116"/>
            <a:ext cx="1502334" cy="276999"/>
          </a:xfrm>
          <a:prstGeom prst="rect">
            <a:avLst/>
          </a:prstGeom>
          <a:noFill/>
          <a:ln>
            <a:solidFill>
              <a:schemeClr val="bg1">
                <a:lumMod val="65000"/>
              </a:schemeClr>
            </a:solidFill>
          </a:ln>
        </p:spPr>
        <p:txBody>
          <a:bodyPr wrap="none" rtlCol="0">
            <a:spAutoFit/>
          </a:bodyPr>
          <a:lstStyle/>
          <a:p>
            <a:r>
              <a:rPr lang="en-US" altLang="ko-KR" sz="1200" dirty="0"/>
              <a:t>a, b</a:t>
            </a:r>
            <a:r>
              <a:rPr lang="ko-KR" altLang="en-US" sz="1200" dirty="0"/>
              <a:t>를 포함하는 발명</a:t>
            </a:r>
          </a:p>
        </p:txBody>
      </p:sp>
      <p:sp>
        <p:nvSpPr>
          <p:cNvPr id="73" name="TextBox 72">
            <a:extLst>
              <a:ext uri="{FF2B5EF4-FFF2-40B4-BE49-F238E27FC236}">
                <a16:creationId xmlns:a16="http://schemas.microsoft.com/office/drawing/2014/main" id="{0C83E11A-0D78-40F2-9538-9F71587FE7CD}"/>
              </a:ext>
            </a:extLst>
          </p:cNvPr>
          <p:cNvSpPr txBox="1"/>
          <p:nvPr/>
        </p:nvSpPr>
        <p:spPr>
          <a:xfrm>
            <a:off x="1297287" y="3022783"/>
            <a:ext cx="1476686" cy="276999"/>
          </a:xfrm>
          <a:prstGeom prst="rect">
            <a:avLst/>
          </a:prstGeom>
          <a:noFill/>
          <a:ln>
            <a:solidFill>
              <a:schemeClr val="bg1">
                <a:lumMod val="65000"/>
              </a:schemeClr>
            </a:solidFill>
          </a:ln>
        </p:spPr>
        <p:txBody>
          <a:bodyPr wrap="none" rtlCol="0">
            <a:spAutoFit/>
          </a:bodyPr>
          <a:lstStyle/>
          <a:p>
            <a:r>
              <a:rPr lang="en-US" altLang="ko-KR" sz="1200" dirty="0"/>
              <a:t>c, e</a:t>
            </a:r>
            <a:r>
              <a:rPr lang="ko-KR" altLang="en-US" sz="1200" dirty="0"/>
              <a:t>를 포함하는 발명</a:t>
            </a:r>
          </a:p>
        </p:txBody>
      </p:sp>
      <p:sp>
        <p:nvSpPr>
          <p:cNvPr id="74" name="TextBox 73">
            <a:extLst>
              <a:ext uri="{FF2B5EF4-FFF2-40B4-BE49-F238E27FC236}">
                <a16:creationId xmlns:a16="http://schemas.microsoft.com/office/drawing/2014/main" id="{420045DF-AFA5-4846-A365-6D0F4091BBBF}"/>
              </a:ext>
            </a:extLst>
          </p:cNvPr>
          <p:cNvSpPr txBox="1"/>
          <p:nvPr/>
        </p:nvSpPr>
        <p:spPr>
          <a:xfrm>
            <a:off x="2358336" y="3429000"/>
            <a:ext cx="1657826" cy="276999"/>
          </a:xfrm>
          <a:prstGeom prst="rect">
            <a:avLst/>
          </a:prstGeom>
          <a:noFill/>
          <a:ln>
            <a:solidFill>
              <a:schemeClr val="bg1">
                <a:lumMod val="65000"/>
              </a:schemeClr>
            </a:solidFill>
          </a:ln>
        </p:spPr>
        <p:txBody>
          <a:bodyPr wrap="none" rtlCol="0">
            <a:spAutoFit/>
          </a:bodyPr>
          <a:lstStyle/>
          <a:p>
            <a:r>
              <a:rPr lang="en-US" altLang="ko-KR" sz="1200" dirty="0"/>
              <a:t>b, d, f</a:t>
            </a:r>
            <a:r>
              <a:rPr lang="ko-KR" altLang="en-US" sz="1200" dirty="0"/>
              <a:t>를 포함하는 발명</a:t>
            </a:r>
          </a:p>
        </p:txBody>
      </p:sp>
      <p:cxnSp>
        <p:nvCxnSpPr>
          <p:cNvPr id="15" name="연결선: 꺾임 14">
            <a:extLst>
              <a:ext uri="{FF2B5EF4-FFF2-40B4-BE49-F238E27FC236}">
                <a16:creationId xmlns:a16="http://schemas.microsoft.com/office/drawing/2014/main" id="{374E377D-C85B-41A9-A457-09DFF0125A50}"/>
              </a:ext>
            </a:extLst>
          </p:cNvPr>
          <p:cNvCxnSpPr>
            <a:stCxn id="69" idx="2"/>
            <a:endCxn id="72" idx="0"/>
          </p:cNvCxnSpPr>
          <p:nvPr/>
        </p:nvCxnSpPr>
        <p:spPr>
          <a:xfrm rot="5400000">
            <a:off x="888862" y="2512966"/>
            <a:ext cx="192165" cy="8413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연결선: 꺾임 18">
            <a:extLst>
              <a:ext uri="{FF2B5EF4-FFF2-40B4-BE49-F238E27FC236}">
                <a16:creationId xmlns:a16="http://schemas.microsoft.com/office/drawing/2014/main" id="{FDB4262A-8C21-451D-96BD-E63262C00DD7}"/>
              </a:ext>
            </a:extLst>
          </p:cNvPr>
          <p:cNvCxnSpPr>
            <a:stCxn id="70" idx="2"/>
            <a:endCxn id="73" idx="0"/>
          </p:cNvCxnSpPr>
          <p:nvPr/>
        </p:nvCxnSpPr>
        <p:spPr>
          <a:xfrm rot="5400000">
            <a:off x="1814316" y="2680265"/>
            <a:ext cx="563832" cy="12120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연결선: 꺾임 22">
            <a:extLst>
              <a:ext uri="{FF2B5EF4-FFF2-40B4-BE49-F238E27FC236}">
                <a16:creationId xmlns:a16="http://schemas.microsoft.com/office/drawing/2014/main" id="{122BCCAC-84A5-4B97-AC72-E88B469DE841}"/>
              </a:ext>
            </a:extLst>
          </p:cNvPr>
          <p:cNvCxnSpPr>
            <a:stCxn id="71" idx="2"/>
            <a:endCxn id="74" idx="0"/>
          </p:cNvCxnSpPr>
          <p:nvPr/>
        </p:nvCxnSpPr>
        <p:spPr>
          <a:xfrm rot="5400000">
            <a:off x="2739806" y="2906394"/>
            <a:ext cx="970049" cy="7516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연결선: 꺾임 26">
            <a:extLst>
              <a:ext uri="{FF2B5EF4-FFF2-40B4-BE49-F238E27FC236}">
                <a16:creationId xmlns:a16="http://schemas.microsoft.com/office/drawing/2014/main" id="{05B07D72-0677-4D26-87C7-E6EF547D97D1}"/>
              </a:ext>
            </a:extLst>
          </p:cNvPr>
          <p:cNvCxnSpPr>
            <a:stCxn id="7" idx="0"/>
            <a:endCxn id="42" idx="2"/>
          </p:cNvCxnSpPr>
          <p:nvPr/>
        </p:nvCxnSpPr>
        <p:spPr>
          <a:xfrm rot="16200000" flipV="1">
            <a:off x="3904534" y="2991421"/>
            <a:ext cx="1323732" cy="25879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1FAE1A53-2375-47FD-8C7A-E849A54C4F98}"/>
              </a:ext>
            </a:extLst>
          </p:cNvPr>
          <p:cNvSpPr txBox="1"/>
          <p:nvPr/>
        </p:nvSpPr>
        <p:spPr>
          <a:xfrm>
            <a:off x="3092729" y="4286477"/>
            <a:ext cx="5755122" cy="904017"/>
          </a:xfrm>
          <a:prstGeom prst="rect">
            <a:avLst/>
          </a:prstGeom>
          <a:noFill/>
          <a:ln>
            <a:solidFill>
              <a:schemeClr val="bg1">
                <a:lumMod val="65000"/>
              </a:schemeClr>
            </a:solidFill>
          </a:ln>
        </p:spPr>
        <p:txBody>
          <a:bodyPr wrap="square" rtlCol="0">
            <a:noAutofit/>
          </a:bodyPr>
          <a:lstStyle/>
          <a:p>
            <a:r>
              <a:rPr lang="ko-KR" altLang="en-US" sz="1200" dirty="0"/>
              <a:t>본원발명은 선행기술 </a:t>
            </a:r>
            <a:r>
              <a:rPr lang="en-US" altLang="ko-KR" sz="1200" dirty="0"/>
              <a:t>1</a:t>
            </a:r>
            <a:r>
              <a:rPr lang="ko-KR" altLang="en-US" sz="1200" dirty="0"/>
              <a:t>과 비교하여</a:t>
            </a:r>
            <a:r>
              <a:rPr lang="en-US" altLang="ko-KR" sz="1200" dirty="0"/>
              <a:t>, a, b</a:t>
            </a:r>
            <a:r>
              <a:rPr lang="ko-KR" altLang="en-US" sz="1200" dirty="0"/>
              <a:t>가 동일하고 </a:t>
            </a:r>
            <a:r>
              <a:rPr lang="en-US" altLang="ko-KR" sz="1200" dirty="0"/>
              <a:t>c, d</a:t>
            </a:r>
            <a:r>
              <a:rPr lang="ko-KR" altLang="en-US" sz="1200" dirty="0"/>
              <a:t>에 차이가 있지만</a:t>
            </a:r>
            <a:r>
              <a:rPr lang="en-US" altLang="ko-KR" sz="1200" dirty="0"/>
              <a:t>, </a:t>
            </a:r>
          </a:p>
          <a:p>
            <a:r>
              <a:rPr lang="en-US" altLang="ko-KR" sz="1200" dirty="0"/>
              <a:t>c</a:t>
            </a:r>
            <a:r>
              <a:rPr lang="ko-KR" altLang="en-US" sz="1200" dirty="0"/>
              <a:t>는 선행기술</a:t>
            </a:r>
            <a:r>
              <a:rPr lang="en-US" altLang="ko-KR" sz="1200" dirty="0"/>
              <a:t>2</a:t>
            </a:r>
            <a:r>
              <a:rPr lang="ko-KR" altLang="en-US" sz="1200" dirty="0"/>
              <a:t>에 기재된 </a:t>
            </a:r>
            <a:r>
              <a:rPr lang="en-US" altLang="ko-KR" sz="1200" dirty="0"/>
              <a:t>c</a:t>
            </a:r>
            <a:r>
              <a:rPr lang="ko-KR" altLang="en-US" sz="1200" dirty="0"/>
              <a:t>로부터 통상의 기술자가 쉽게 발명할 수 있고</a:t>
            </a:r>
            <a:r>
              <a:rPr lang="en-US" altLang="ko-KR" sz="1200" dirty="0"/>
              <a:t>,</a:t>
            </a:r>
            <a:r>
              <a:rPr lang="ko-KR" altLang="en-US" sz="1200" dirty="0"/>
              <a:t> </a:t>
            </a:r>
            <a:endParaRPr lang="en-US" altLang="ko-KR" sz="1200" dirty="0"/>
          </a:p>
          <a:p>
            <a:r>
              <a:rPr lang="en-US" altLang="ko-KR" sz="1200" dirty="0"/>
              <a:t>d</a:t>
            </a:r>
            <a:r>
              <a:rPr lang="ko-KR" altLang="en-US" sz="1200" dirty="0"/>
              <a:t>는 선행기술</a:t>
            </a:r>
            <a:r>
              <a:rPr lang="en-US" altLang="ko-KR" sz="1200" dirty="0"/>
              <a:t>3</a:t>
            </a:r>
            <a:r>
              <a:rPr lang="ko-KR" altLang="en-US" sz="1200" dirty="0"/>
              <a:t>에 기재된 </a:t>
            </a:r>
            <a:r>
              <a:rPr lang="en-US" altLang="ko-KR" sz="1200" dirty="0"/>
              <a:t>d</a:t>
            </a:r>
            <a:r>
              <a:rPr lang="ko-KR" altLang="en-US" sz="1200" dirty="0"/>
              <a:t>로부터 통상의 기술자가 쉽게 발명할 수 있기 때문에 결국 진보성 위반이다</a:t>
            </a:r>
            <a:r>
              <a:rPr lang="en-US" altLang="ko-KR" sz="1200" dirty="0"/>
              <a:t>.</a:t>
            </a:r>
            <a:endParaRPr lang="ko-KR" altLang="en-US" sz="1200" dirty="0"/>
          </a:p>
        </p:txBody>
      </p:sp>
      <p:sp>
        <p:nvSpPr>
          <p:cNvPr id="87" name="Rectangle 14">
            <a:extLst>
              <a:ext uri="{FF2B5EF4-FFF2-40B4-BE49-F238E27FC236}">
                <a16:creationId xmlns:a16="http://schemas.microsoft.com/office/drawing/2014/main" id="{736FC315-D79E-44E9-A8E2-2370C93419C1}"/>
              </a:ext>
            </a:extLst>
          </p:cNvPr>
          <p:cNvSpPr>
            <a:spLocks noChangeArrowheads="1"/>
          </p:cNvSpPr>
          <p:nvPr/>
        </p:nvSpPr>
        <p:spPr bwMode="auto">
          <a:xfrm>
            <a:off x="6889478" y="2099947"/>
            <a:ext cx="925579" cy="35900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a:latin typeface="+mn-ea"/>
              </a:rPr>
              <a:t>거절결정</a:t>
            </a:r>
            <a:endParaRPr lang="ko-KR" altLang="en-US" sz="1200" b="0" dirty="0">
              <a:latin typeface="+mn-ea"/>
            </a:endParaRPr>
          </a:p>
        </p:txBody>
      </p:sp>
      <p:sp>
        <p:nvSpPr>
          <p:cNvPr id="88" name="Rectangle 14">
            <a:extLst>
              <a:ext uri="{FF2B5EF4-FFF2-40B4-BE49-F238E27FC236}">
                <a16:creationId xmlns:a16="http://schemas.microsoft.com/office/drawing/2014/main" id="{A7D2C602-EB9E-4097-976D-D1DFEBA6067A}"/>
              </a:ext>
            </a:extLst>
          </p:cNvPr>
          <p:cNvSpPr>
            <a:spLocks noChangeArrowheads="1"/>
          </p:cNvSpPr>
          <p:nvPr/>
        </p:nvSpPr>
        <p:spPr bwMode="auto">
          <a:xfrm>
            <a:off x="5918884" y="2099946"/>
            <a:ext cx="925579" cy="359004"/>
          </a:xfrm>
          <a:prstGeom prst="rect">
            <a:avLst/>
          </a:prstGeom>
          <a:solidFill>
            <a:schemeClr val="tx2"/>
          </a:solidFill>
          <a:ln w="9525" algn="ctr">
            <a:solidFill>
              <a:schemeClr val="bg1">
                <a:lumMod val="50000"/>
              </a:schemeClr>
            </a:solidFill>
            <a:miter lim="800000"/>
            <a:headEnd/>
            <a:tailEnd/>
          </a:ln>
        </p:spPr>
        <p:txBody>
          <a:bodyPr wrap="none" anchor="ctr"/>
          <a:lstStyle/>
          <a:p>
            <a:pPr algn="ctr"/>
            <a:r>
              <a:rPr lang="ko-KR" altLang="en-US" sz="1200" dirty="0">
                <a:solidFill>
                  <a:schemeClr val="bg1"/>
                </a:solidFill>
                <a:latin typeface="+mn-ea"/>
              </a:rPr>
              <a:t>의견서</a:t>
            </a:r>
            <a:endParaRPr lang="ko-KR" altLang="en-US" sz="1200" b="0" dirty="0">
              <a:solidFill>
                <a:schemeClr val="bg1"/>
              </a:solidFill>
              <a:latin typeface="+mn-ea"/>
            </a:endParaRPr>
          </a:p>
        </p:txBody>
      </p:sp>
      <p:sp>
        <p:nvSpPr>
          <p:cNvPr id="89" name="TextBox 88">
            <a:extLst>
              <a:ext uri="{FF2B5EF4-FFF2-40B4-BE49-F238E27FC236}">
                <a16:creationId xmlns:a16="http://schemas.microsoft.com/office/drawing/2014/main" id="{FFD9F382-2F5F-48DE-9F28-240555AA2CD9}"/>
              </a:ext>
            </a:extLst>
          </p:cNvPr>
          <p:cNvSpPr txBox="1"/>
          <p:nvPr/>
        </p:nvSpPr>
        <p:spPr>
          <a:xfrm>
            <a:off x="6099683" y="5745233"/>
            <a:ext cx="5840083" cy="857933"/>
          </a:xfrm>
          <a:prstGeom prst="rect">
            <a:avLst/>
          </a:prstGeom>
          <a:noFill/>
          <a:ln>
            <a:solidFill>
              <a:schemeClr val="bg1">
                <a:lumMod val="65000"/>
              </a:schemeClr>
            </a:solidFill>
          </a:ln>
        </p:spPr>
        <p:txBody>
          <a:bodyPr wrap="square" rtlCol="0" anchor="b">
            <a:noAutofit/>
          </a:bodyPr>
          <a:lstStyle/>
          <a:p>
            <a:r>
              <a:rPr lang="ko-KR" altLang="en-US" sz="1200" dirty="0"/>
              <a:t>본원발명은 선행기술 </a:t>
            </a:r>
            <a:r>
              <a:rPr lang="en-US" altLang="ko-KR" sz="1200" dirty="0"/>
              <a:t>3</a:t>
            </a:r>
            <a:r>
              <a:rPr lang="ko-KR" altLang="en-US" sz="1200" dirty="0"/>
              <a:t>과 비교하여</a:t>
            </a:r>
            <a:r>
              <a:rPr lang="en-US" altLang="ko-KR" sz="1200" dirty="0"/>
              <a:t>, b, d</a:t>
            </a:r>
            <a:r>
              <a:rPr lang="ko-KR" altLang="en-US" sz="1200" dirty="0"/>
              <a:t>가 동일하고 </a:t>
            </a:r>
            <a:r>
              <a:rPr lang="en-US" altLang="ko-KR" sz="1200" dirty="0"/>
              <a:t>a, c</a:t>
            </a:r>
            <a:r>
              <a:rPr lang="ko-KR" altLang="en-US" sz="1200" dirty="0"/>
              <a:t>에 차이가 있지만</a:t>
            </a:r>
            <a:r>
              <a:rPr lang="en-US" altLang="ko-KR" sz="1200" dirty="0"/>
              <a:t>, </a:t>
            </a:r>
          </a:p>
          <a:p>
            <a:r>
              <a:rPr lang="en-US" altLang="ko-KR" sz="1200" dirty="0"/>
              <a:t>c</a:t>
            </a:r>
            <a:r>
              <a:rPr lang="ko-KR" altLang="en-US" sz="1200" dirty="0"/>
              <a:t>는 선행기술</a:t>
            </a:r>
            <a:r>
              <a:rPr lang="en-US" altLang="ko-KR" sz="1200" dirty="0"/>
              <a:t>2</a:t>
            </a:r>
            <a:r>
              <a:rPr lang="ko-KR" altLang="en-US" sz="1200" dirty="0"/>
              <a:t>로부터 통상의 기술자가 쉽게 발명할 수 있고</a:t>
            </a:r>
            <a:r>
              <a:rPr lang="en-US" altLang="ko-KR" sz="1200" dirty="0"/>
              <a:t>,</a:t>
            </a:r>
            <a:r>
              <a:rPr lang="ko-KR" altLang="en-US" sz="1200" dirty="0"/>
              <a:t> </a:t>
            </a:r>
            <a:endParaRPr lang="en-US" altLang="ko-KR" sz="1200" dirty="0"/>
          </a:p>
          <a:p>
            <a:r>
              <a:rPr lang="en-US" altLang="ko-KR" sz="1200" dirty="0"/>
              <a:t>a</a:t>
            </a:r>
            <a:r>
              <a:rPr lang="ko-KR" altLang="en-US" sz="1200" dirty="0"/>
              <a:t>는 선행기술</a:t>
            </a:r>
            <a:r>
              <a:rPr lang="en-US" altLang="ko-KR" sz="1200" dirty="0"/>
              <a:t>1</a:t>
            </a:r>
            <a:r>
              <a:rPr lang="ko-KR" altLang="en-US" sz="1200" dirty="0"/>
              <a:t>으로부터 통상의 기술자가 쉽게 발명할 수 있기 때문에 결국 진보성 위반이다</a:t>
            </a:r>
            <a:r>
              <a:rPr lang="en-US" altLang="ko-KR" sz="1200" dirty="0"/>
              <a:t>.</a:t>
            </a:r>
            <a:endParaRPr lang="ko-KR" altLang="en-US" sz="1200" dirty="0"/>
          </a:p>
        </p:txBody>
      </p:sp>
      <p:sp>
        <p:nvSpPr>
          <p:cNvPr id="26" name="Rectangle 14">
            <a:extLst>
              <a:ext uri="{FF2B5EF4-FFF2-40B4-BE49-F238E27FC236}">
                <a16:creationId xmlns:a16="http://schemas.microsoft.com/office/drawing/2014/main" id="{4B95A30D-A9B7-4B2A-8DA5-AB3EED883093}"/>
              </a:ext>
            </a:extLst>
          </p:cNvPr>
          <p:cNvSpPr>
            <a:spLocks noChangeArrowheads="1"/>
          </p:cNvSpPr>
          <p:nvPr/>
        </p:nvSpPr>
        <p:spPr bwMode="auto">
          <a:xfrm>
            <a:off x="8831663" y="2099946"/>
            <a:ext cx="925579"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err="1">
                <a:latin typeface="+mn-ea"/>
              </a:rPr>
              <a:t>기각심결</a:t>
            </a:r>
            <a:endParaRPr lang="ko-KR" altLang="en-US" sz="1200" b="0" dirty="0">
              <a:latin typeface="+mn-ea"/>
            </a:endParaRPr>
          </a:p>
        </p:txBody>
      </p:sp>
      <p:sp>
        <p:nvSpPr>
          <p:cNvPr id="28" name="Rectangle 14">
            <a:extLst>
              <a:ext uri="{FF2B5EF4-FFF2-40B4-BE49-F238E27FC236}">
                <a16:creationId xmlns:a16="http://schemas.microsoft.com/office/drawing/2014/main" id="{47E83A2F-9CF1-4D16-8474-DD73EC4423E6}"/>
              </a:ext>
            </a:extLst>
          </p:cNvPr>
          <p:cNvSpPr>
            <a:spLocks noChangeArrowheads="1"/>
          </p:cNvSpPr>
          <p:nvPr/>
        </p:nvSpPr>
        <p:spPr bwMode="auto">
          <a:xfrm>
            <a:off x="9797334" y="2099946"/>
            <a:ext cx="925579" cy="35900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a:latin typeface="+mn-ea"/>
              </a:rPr>
              <a:t>소제기</a:t>
            </a:r>
          </a:p>
        </p:txBody>
      </p:sp>
      <p:sp>
        <p:nvSpPr>
          <p:cNvPr id="29" name="Rectangle 14">
            <a:extLst>
              <a:ext uri="{FF2B5EF4-FFF2-40B4-BE49-F238E27FC236}">
                <a16:creationId xmlns:a16="http://schemas.microsoft.com/office/drawing/2014/main" id="{6A2BF9A6-A43A-4A64-B4DF-40A1B644A1E7}"/>
              </a:ext>
            </a:extLst>
          </p:cNvPr>
          <p:cNvSpPr>
            <a:spLocks noChangeArrowheads="1"/>
          </p:cNvSpPr>
          <p:nvPr/>
        </p:nvSpPr>
        <p:spPr bwMode="auto">
          <a:xfrm>
            <a:off x="10789302" y="2099946"/>
            <a:ext cx="925579" cy="359005"/>
          </a:xfrm>
          <a:prstGeom prst="rect">
            <a:avLst/>
          </a:prstGeom>
          <a:solidFill>
            <a:schemeClr val="accent3">
              <a:lumMod val="50000"/>
            </a:schemeClr>
          </a:solidFill>
          <a:ln w="9525" algn="ctr">
            <a:solidFill>
              <a:schemeClr val="bg1">
                <a:lumMod val="50000"/>
              </a:schemeClr>
            </a:solidFill>
            <a:miter lim="800000"/>
            <a:headEnd/>
            <a:tailEnd/>
          </a:ln>
        </p:spPr>
        <p:txBody>
          <a:bodyPr wrap="none" anchor="ctr"/>
          <a:lstStyle/>
          <a:p>
            <a:pPr algn="ctr"/>
            <a:r>
              <a:rPr lang="ko-KR" altLang="en-US" sz="1200" b="0" dirty="0">
                <a:solidFill>
                  <a:schemeClr val="accent4"/>
                </a:solidFill>
                <a:latin typeface="+mn-ea"/>
              </a:rPr>
              <a:t>피고</a:t>
            </a:r>
            <a:r>
              <a:rPr lang="ko-KR" altLang="en-US" sz="1200" dirty="0">
                <a:solidFill>
                  <a:schemeClr val="accent4"/>
                </a:solidFill>
                <a:latin typeface="+mn-ea"/>
              </a:rPr>
              <a:t> 주장</a:t>
            </a:r>
            <a:endParaRPr lang="en-US" altLang="ko-KR" sz="1200" b="0" dirty="0">
              <a:solidFill>
                <a:schemeClr val="accent4"/>
              </a:solidFill>
              <a:latin typeface="+mn-ea"/>
            </a:endParaRPr>
          </a:p>
        </p:txBody>
      </p:sp>
      <p:sp>
        <p:nvSpPr>
          <p:cNvPr id="30" name="TextBox 29">
            <a:extLst>
              <a:ext uri="{FF2B5EF4-FFF2-40B4-BE49-F238E27FC236}">
                <a16:creationId xmlns:a16="http://schemas.microsoft.com/office/drawing/2014/main" id="{4786FBC4-EDEE-4E97-A957-4F8E08CA3ABB}"/>
              </a:ext>
            </a:extLst>
          </p:cNvPr>
          <p:cNvSpPr txBox="1"/>
          <p:nvPr/>
        </p:nvSpPr>
        <p:spPr>
          <a:xfrm>
            <a:off x="6469296" y="3276540"/>
            <a:ext cx="2068004" cy="461665"/>
          </a:xfrm>
          <a:prstGeom prst="rect">
            <a:avLst/>
          </a:prstGeom>
          <a:noFill/>
          <a:ln>
            <a:solidFill>
              <a:schemeClr val="bg1">
                <a:lumMod val="65000"/>
              </a:schemeClr>
            </a:solidFill>
          </a:ln>
        </p:spPr>
        <p:txBody>
          <a:bodyPr wrap="square" rtlCol="0">
            <a:spAutoFit/>
          </a:bodyPr>
          <a:lstStyle/>
          <a:p>
            <a:r>
              <a:rPr lang="en-US" altLang="ko-KR" sz="1200" dirty="0"/>
              <a:t>c</a:t>
            </a:r>
            <a:r>
              <a:rPr lang="ko-KR" altLang="en-US" sz="1200" dirty="0"/>
              <a:t>와 </a:t>
            </a:r>
            <a:r>
              <a:rPr lang="en-US" altLang="ko-KR" sz="1200" dirty="0"/>
              <a:t>d</a:t>
            </a:r>
            <a:r>
              <a:rPr lang="ko-KR" altLang="en-US" sz="1200" dirty="0"/>
              <a:t>는 선행기술</a:t>
            </a:r>
            <a:r>
              <a:rPr lang="en-US" altLang="ko-KR" sz="1200" dirty="0"/>
              <a:t>2, </a:t>
            </a:r>
            <a:r>
              <a:rPr lang="ko-KR" altLang="en-US" sz="1200" dirty="0"/>
              <a:t>선행기술</a:t>
            </a:r>
            <a:r>
              <a:rPr lang="en-US" altLang="ko-KR" sz="1200" dirty="0"/>
              <a:t>3</a:t>
            </a:r>
            <a:r>
              <a:rPr lang="ko-KR" altLang="en-US" sz="1200" dirty="0"/>
              <a:t>으로부터 쉽게 발명할 수 없다</a:t>
            </a:r>
            <a:r>
              <a:rPr lang="en-US" altLang="ko-KR" sz="1200" dirty="0"/>
              <a:t>.</a:t>
            </a:r>
            <a:endParaRPr lang="ko-KR" altLang="en-US" sz="1200" dirty="0"/>
          </a:p>
        </p:txBody>
      </p:sp>
      <p:cxnSp>
        <p:nvCxnSpPr>
          <p:cNvPr id="8" name="연결선: 꺾임 7">
            <a:extLst>
              <a:ext uri="{FF2B5EF4-FFF2-40B4-BE49-F238E27FC236}">
                <a16:creationId xmlns:a16="http://schemas.microsoft.com/office/drawing/2014/main" id="{C7079D9B-AE76-4177-ACBF-32FEDA7229B6}"/>
              </a:ext>
            </a:extLst>
          </p:cNvPr>
          <p:cNvCxnSpPr>
            <a:cxnSpLocks/>
            <a:stCxn id="65" idx="2"/>
            <a:endCxn id="86" idx="0"/>
          </p:cNvCxnSpPr>
          <p:nvPr/>
        </p:nvCxnSpPr>
        <p:spPr>
          <a:xfrm rot="16200000" flipH="1">
            <a:off x="4775181" y="3091368"/>
            <a:ext cx="1827526" cy="56269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연결선: 꺾임 11">
            <a:extLst>
              <a:ext uri="{FF2B5EF4-FFF2-40B4-BE49-F238E27FC236}">
                <a16:creationId xmlns:a16="http://schemas.microsoft.com/office/drawing/2014/main" id="{0F97D61C-F605-4F38-B0C5-9B73485C5FCB}"/>
              </a:ext>
            </a:extLst>
          </p:cNvPr>
          <p:cNvCxnSpPr>
            <a:cxnSpLocks/>
            <a:stCxn id="29" idx="2"/>
            <a:endCxn id="89" idx="0"/>
          </p:cNvCxnSpPr>
          <p:nvPr/>
        </p:nvCxnSpPr>
        <p:spPr>
          <a:xfrm rot="5400000">
            <a:off x="8492768" y="2985909"/>
            <a:ext cx="3286282" cy="2232367"/>
          </a:xfrm>
          <a:prstGeom prst="bentConnector3">
            <a:avLst>
              <a:gd name="adj1" fmla="val 79189"/>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연결선: 꺾임 13">
            <a:extLst>
              <a:ext uri="{FF2B5EF4-FFF2-40B4-BE49-F238E27FC236}">
                <a16:creationId xmlns:a16="http://schemas.microsoft.com/office/drawing/2014/main" id="{39CA05A6-39B3-43DD-BF2E-8F70ED4C152F}"/>
              </a:ext>
            </a:extLst>
          </p:cNvPr>
          <p:cNvCxnSpPr>
            <a:stCxn id="88" idx="2"/>
            <a:endCxn id="30" idx="0"/>
          </p:cNvCxnSpPr>
          <p:nvPr/>
        </p:nvCxnSpPr>
        <p:spPr>
          <a:xfrm rot="16200000" flipH="1">
            <a:off x="6533691" y="2306933"/>
            <a:ext cx="817590" cy="112162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직사각형 4">
            <a:extLst>
              <a:ext uri="{FF2B5EF4-FFF2-40B4-BE49-F238E27FC236}">
                <a16:creationId xmlns:a16="http://schemas.microsoft.com/office/drawing/2014/main" id="{844FF4C2-2AD9-4259-A800-F8C916402FC3}"/>
              </a:ext>
            </a:extLst>
          </p:cNvPr>
          <p:cNvSpPr/>
          <p:nvPr/>
        </p:nvSpPr>
        <p:spPr>
          <a:xfrm>
            <a:off x="339566" y="5597703"/>
            <a:ext cx="2369069" cy="1005464"/>
          </a:xfrm>
          <a:prstGeom prst="rect">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ko-KR" altLang="en-US" sz="1200" dirty="0">
                <a:solidFill>
                  <a:schemeClr val="accent4">
                    <a:lumMod val="50000"/>
                  </a:schemeClr>
                </a:solidFill>
              </a:rPr>
              <a:t>가장 가까운 인용대상으로부터 청구항에 기재된 발명에 이르는 것이 통상의 기술자에게 용이한지 여부를 다른 인용대상과 출원전의 기술상식 및 </a:t>
            </a:r>
            <a:r>
              <a:rPr lang="ko-KR" altLang="en-US" sz="1200" dirty="0" err="1">
                <a:solidFill>
                  <a:schemeClr val="accent4">
                    <a:lumMod val="50000"/>
                  </a:schemeClr>
                </a:solidFill>
              </a:rPr>
              <a:t>경험칙에</a:t>
            </a:r>
            <a:r>
              <a:rPr lang="ko-KR" altLang="en-US" sz="1200" dirty="0">
                <a:solidFill>
                  <a:schemeClr val="accent4">
                    <a:lumMod val="50000"/>
                  </a:schemeClr>
                </a:solidFill>
              </a:rPr>
              <a:t> 의하여 판단</a:t>
            </a:r>
          </a:p>
        </p:txBody>
      </p:sp>
      <p:sp>
        <p:nvSpPr>
          <p:cNvPr id="34" name="직사각형 33">
            <a:extLst>
              <a:ext uri="{FF2B5EF4-FFF2-40B4-BE49-F238E27FC236}">
                <a16:creationId xmlns:a16="http://schemas.microsoft.com/office/drawing/2014/main" id="{550DB238-135C-457E-9E53-B70622DC75A3}"/>
              </a:ext>
            </a:extLst>
          </p:cNvPr>
          <p:cNvSpPr/>
          <p:nvPr/>
        </p:nvSpPr>
        <p:spPr>
          <a:xfrm>
            <a:off x="339566" y="4659255"/>
            <a:ext cx="2369069" cy="830997"/>
          </a:xfrm>
          <a:prstGeom prst="rect">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base" latinLnBrk="0"/>
            <a:r>
              <a:rPr lang="ko-KR" altLang="en-US" sz="1200" dirty="0">
                <a:solidFill>
                  <a:schemeClr val="accent4">
                    <a:lumMod val="50000"/>
                  </a:schemeClr>
                </a:solidFill>
              </a:rPr>
              <a:t>청구항에 기재된 발명과 가장 가까운 인용대상</a:t>
            </a:r>
            <a:r>
              <a:rPr lang="en-US" altLang="ko-KR" sz="1200" dirty="0">
                <a:solidFill>
                  <a:schemeClr val="accent4">
                    <a:lumMod val="50000"/>
                  </a:schemeClr>
                </a:solidFill>
              </a:rPr>
              <a:t>(</a:t>
            </a:r>
            <a:r>
              <a:rPr lang="ko-KR" altLang="en-US" sz="1200" dirty="0">
                <a:solidFill>
                  <a:schemeClr val="accent4">
                    <a:lumMod val="50000"/>
                  </a:schemeClr>
                </a:solidFill>
              </a:rPr>
              <a:t>주선행발명</a:t>
            </a:r>
            <a:r>
              <a:rPr lang="en-US" altLang="ko-KR" sz="1200" dirty="0">
                <a:solidFill>
                  <a:schemeClr val="accent4">
                    <a:lumMod val="50000"/>
                  </a:schemeClr>
                </a:solidFill>
              </a:rPr>
              <a:t>)</a:t>
            </a:r>
            <a:r>
              <a:rPr lang="ko-KR" altLang="en-US" sz="1200" dirty="0">
                <a:solidFill>
                  <a:schemeClr val="accent4">
                    <a:lumMod val="50000"/>
                  </a:schemeClr>
                </a:solidFill>
              </a:rPr>
              <a:t>을 선택하고 양자를 대비하여 차이점 파악</a:t>
            </a:r>
          </a:p>
        </p:txBody>
      </p:sp>
      <p:sp>
        <p:nvSpPr>
          <p:cNvPr id="35" name="직사각형 34">
            <a:extLst>
              <a:ext uri="{FF2B5EF4-FFF2-40B4-BE49-F238E27FC236}">
                <a16:creationId xmlns:a16="http://schemas.microsoft.com/office/drawing/2014/main" id="{C581F4F9-01A8-43A6-8E64-299EF8328B13}"/>
              </a:ext>
            </a:extLst>
          </p:cNvPr>
          <p:cNvSpPr/>
          <p:nvPr/>
        </p:nvSpPr>
        <p:spPr>
          <a:xfrm>
            <a:off x="339566" y="4274805"/>
            <a:ext cx="2369069" cy="276999"/>
          </a:xfrm>
          <a:prstGeom prst="rect">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base" latinLnBrk="0"/>
            <a:r>
              <a:rPr lang="ko-KR" altLang="en-US" sz="1200" dirty="0">
                <a:solidFill>
                  <a:schemeClr val="accent4">
                    <a:lumMod val="50000"/>
                  </a:schemeClr>
                </a:solidFill>
              </a:rPr>
              <a:t>인용대상의 특정</a:t>
            </a:r>
          </a:p>
        </p:txBody>
      </p:sp>
      <p:sp>
        <p:nvSpPr>
          <p:cNvPr id="36" name="직사각형 35">
            <a:extLst>
              <a:ext uri="{FF2B5EF4-FFF2-40B4-BE49-F238E27FC236}">
                <a16:creationId xmlns:a16="http://schemas.microsoft.com/office/drawing/2014/main" id="{D698E7D5-09EF-45B9-B197-238783A3B086}"/>
              </a:ext>
            </a:extLst>
          </p:cNvPr>
          <p:cNvSpPr/>
          <p:nvPr/>
        </p:nvSpPr>
        <p:spPr>
          <a:xfrm>
            <a:off x="339566" y="3897406"/>
            <a:ext cx="2369069" cy="276999"/>
          </a:xfrm>
          <a:prstGeom prst="rect">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fontAlgn="base" latinLnBrk="0"/>
            <a:r>
              <a:rPr lang="ko-KR" altLang="en-US" sz="1200" dirty="0">
                <a:solidFill>
                  <a:schemeClr val="accent4">
                    <a:lumMod val="50000"/>
                  </a:schemeClr>
                </a:solidFill>
              </a:rPr>
              <a:t>청구항에 기재된 발명의 특정</a:t>
            </a:r>
          </a:p>
        </p:txBody>
      </p:sp>
      <p:cxnSp>
        <p:nvCxnSpPr>
          <p:cNvPr id="9" name="직선 연결선 8">
            <a:extLst>
              <a:ext uri="{FF2B5EF4-FFF2-40B4-BE49-F238E27FC236}">
                <a16:creationId xmlns:a16="http://schemas.microsoft.com/office/drawing/2014/main" id="{29C6C1C2-4930-4368-97F3-9E7C21E9A7F6}"/>
              </a:ext>
            </a:extLst>
          </p:cNvPr>
          <p:cNvCxnSpPr>
            <a:stCxn id="36" idx="2"/>
            <a:endCxn id="35" idx="0"/>
          </p:cNvCxnSpPr>
          <p:nvPr/>
        </p:nvCxnSpPr>
        <p:spPr>
          <a:xfrm>
            <a:off x="1524101" y="4174405"/>
            <a:ext cx="0" cy="10040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76DC189F-105C-4E68-9FC5-C1008309DBBD}"/>
              </a:ext>
            </a:extLst>
          </p:cNvPr>
          <p:cNvCxnSpPr>
            <a:cxnSpLocks/>
            <a:stCxn id="35" idx="2"/>
          </p:cNvCxnSpPr>
          <p:nvPr/>
        </p:nvCxnSpPr>
        <p:spPr>
          <a:xfrm>
            <a:off x="1524101" y="4551804"/>
            <a:ext cx="0" cy="9885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직선 연결선 15">
            <a:extLst>
              <a:ext uri="{FF2B5EF4-FFF2-40B4-BE49-F238E27FC236}">
                <a16:creationId xmlns:a16="http://schemas.microsoft.com/office/drawing/2014/main" id="{4193CA80-E58A-450D-813F-747CBE0802C5}"/>
              </a:ext>
            </a:extLst>
          </p:cNvPr>
          <p:cNvCxnSpPr>
            <a:cxnSpLocks/>
            <a:stCxn id="34" idx="2"/>
            <a:endCxn id="5" idx="0"/>
          </p:cNvCxnSpPr>
          <p:nvPr/>
        </p:nvCxnSpPr>
        <p:spPr>
          <a:xfrm>
            <a:off x="1524101" y="5490252"/>
            <a:ext cx="0" cy="10745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 name="사각형: 둥근 모서리 17">
            <a:extLst>
              <a:ext uri="{FF2B5EF4-FFF2-40B4-BE49-F238E27FC236}">
                <a16:creationId xmlns:a16="http://schemas.microsoft.com/office/drawing/2014/main" id="{36EA515B-8399-ED04-70BC-57D8BBFD5EFB}"/>
              </a:ext>
            </a:extLst>
          </p:cNvPr>
          <p:cNvSpPr/>
          <p:nvPr/>
        </p:nvSpPr>
        <p:spPr>
          <a:xfrm>
            <a:off x="5116003" y="5045741"/>
            <a:ext cx="1025348" cy="289505"/>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거절이유</a:t>
            </a:r>
          </a:p>
        </p:txBody>
      </p:sp>
      <p:sp>
        <p:nvSpPr>
          <p:cNvPr id="20" name="사각형: 둥근 모서리 19">
            <a:extLst>
              <a:ext uri="{FF2B5EF4-FFF2-40B4-BE49-F238E27FC236}">
                <a16:creationId xmlns:a16="http://schemas.microsoft.com/office/drawing/2014/main" id="{5AC8C7E9-B0E5-8FE8-DFED-0C159E4A2E5F}"/>
              </a:ext>
            </a:extLst>
          </p:cNvPr>
          <p:cNvSpPr/>
          <p:nvPr/>
        </p:nvSpPr>
        <p:spPr>
          <a:xfrm>
            <a:off x="7547352" y="5594013"/>
            <a:ext cx="1025348" cy="289505"/>
          </a:xfrm>
          <a:prstGeom prst="roundRect">
            <a:avLst>
              <a:gd name="adj" fmla="val 50000"/>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거절이유</a:t>
            </a:r>
          </a:p>
        </p:txBody>
      </p:sp>
      <p:cxnSp>
        <p:nvCxnSpPr>
          <p:cNvPr id="24" name="연결선: 꺾임 23">
            <a:extLst>
              <a:ext uri="{FF2B5EF4-FFF2-40B4-BE49-F238E27FC236}">
                <a16:creationId xmlns:a16="http://schemas.microsoft.com/office/drawing/2014/main" id="{0F2DA29B-30FD-B7B7-B759-B8A7E01D2F5D}"/>
              </a:ext>
            </a:extLst>
          </p:cNvPr>
          <p:cNvCxnSpPr>
            <a:stCxn id="18" idx="2"/>
            <a:endCxn id="20" idx="0"/>
          </p:cNvCxnSpPr>
          <p:nvPr/>
        </p:nvCxnSpPr>
        <p:spPr>
          <a:xfrm rot="16200000" flipH="1">
            <a:off x="6714968" y="4248954"/>
            <a:ext cx="258767" cy="2431349"/>
          </a:xfrm>
          <a:prstGeom prst="bentConnector3">
            <a:avLst/>
          </a:prstGeom>
          <a:ln w="28575">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2C500907-BFF4-C771-D91C-06E25AD12FE1}"/>
              </a:ext>
            </a:extLst>
          </p:cNvPr>
          <p:cNvSpPr txBox="1"/>
          <p:nvPr/>
        </p:nvSpPr>
        <p:spPr>
          <a:xfrm>
            <a:off x="6446222" y="5326278"/>
            <a:ext cx="1002197" cy="307777"/>
          </a:xfrm>
          <a:prstGeom prst="rect">
            <a:avLst/>
          </a:prstGeom>
          <a:solidFill>
            <a:schemeClr val="bg1"/>
          </a:solidFill>
          <a:ln w="28575">
            <a:solidFill>
              <a:srgbClr val="FF0000"/>
            </a:solidFill>
          </a:ln>
        </p:spPr>
        <p:txBody>
          <a:bodyPr wrap="none" rtlCol="0">
            <a:spAutoFit/>
          </a:bodyPr>
          <a:lstStyle/>
          <a:p>
            <a:r>
              <a:rPr lang="ko-KR" altLang="en-US" sz="1400" dirty="0"/>
              <a:t>주지 부합</a:t>
            </a:r>
            <a:r>
              <a:rPr lang="en-US" altLang="ko-KR" sz="1400" dirty="0"/>
              <a:t>X</a:t>
            </a:r>
            <a:endParaRPr lang="ko-KR" altLang="en-US" sz="1400" dirty="0"/>
          </a:p>
        </p:txBody>
      </p:sp>
      <p:cxnSp>
        <p:nvCxnSpPr>
          <p:cNvPr id="31" name="연결선: 꺾임 30">
            <a:extLst>
              <a:ext uri="{FF2B5EF4-FFF2-40B4-BE49-F238E27FC236}">
                <a16:creationId xmlns:a16="http://schemas.microsoft.com/office/drawing/2014/main" id="{EB685589-F632-1DA8-D49D-3C3AD7E6D3E6}"/>
              </a:ext>
            </a:extLst>
          </p:cNvPr>
          <p:cNvCxnSpPr>
            <a:stCxn id="87" idx="2"/>
            <a:endCxn id="86" idx="3"/>
          </p:cNvCxnSpPr>
          <p:nvPr/>
        </p:nvCxnSpPr>
        <p:spPr>
          <a:xfrm rot="16200000" flipH="1">
            <a:off x="6960292" y="2850926"/>
            <a:ext cx="2279535" cy="1495583"/>
          </a:xfrm>
          <a:prstGeom prst="bentConnector4">
            <a:avLst>
              <a:gd name="adj1" fmla="val 9410"/>
              <a:gd name="adj2" fmla="val 106294"/>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연결선: 꺾임 39">
            <a:extLst>
              <a:ext uri="{FF2B5EF4-FFF2-40B4-BE49-F238E27FC236}">
                <a16:creationId xmlns:a16="http://schemas.microsoft.com/office/drawing/2014/main" id="{51DE4CD7-DED2-4D75-B4DC-5A1C825E7D55}"/>
              </a:ext>
            </a:extLst>
          </p:cNvPr>
          <p:cNvCxnSpPr>
            <a:cxnSpLocks/>
            <a:stCxn id="26" idx="2"/>
            <a:endCxn id="86" idx="3"/>
          </p:cNvCxnSpPr>
          <p:nvPr/>
        </p:nvCxnSpPr>
        <p:spPr>
          <a:xfrm rot="5400000">
            <a:off x="7931385" y="3375417"/>
            <a:ext cx="2279535" cy="446602"/>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6" name="표 5">
            <a:extLst>
              <a:ext uri="{FF2B5EF4-FFF2-40B4-BE49-F238E27FC236}">
                <a16:creationId xmlns:a16="http://schemas.microsoft.com/office/drawing/2014/main" id="{D64497DF-1DDB-B1B9-F78A-C6FB06D13C7B}"/>
              </a:ext>
            </a:extLst>
          </p:cNvPr>
          <p:cNvGraphicFramePr>
            <a:graphicFrameLocks noGrp="1"/>
          </p:cNvGraphicFramePr>
          <p:nvPr/>
        </p:nvGraphicFramePr>
        <p:xfrm>
          <a:off x="2880509" y="5561874"/>
          <a:ext cx="2956130" cy="1143000"/>
        </p:xfrm>
        <a:graphic>
          <a:graphicData uri="http://schemas.openxmlformats.org/drawingml/2006/table">
            <a:tbl>
              <a:tblPr>
                <a:tableStyleId>{8799B23B-EC83-4686-B30A-512413B5E67A}</a:tableStyleId>
              </a:tblPr>
              <a:tblGrid>
                <a:gridCol w="591226">
                  <a:extLst>
                    <a:ext uri="{9D8B030D-6E8A-4147-A177-3AD203B41FA5}">
                      <a16:colId xmlns:a16="http://schemas.microsoft.com/office/drawing/2014/main" val="1620216613"/>
                    </a:ext>
                  </a:extLst>
                </a:gridCol>
                <a:gridCol w="591226">
                  <a:extLst>
                    <a:ext uri="{9D8B030D-6E8A-4147-A177-3AD203B41FA5}">
                      <a16:colId xmlns:a16="http://schemas.microsoft.com/office/drawing/2014/main" val="550105099"/>
                    </a:ext>
                  </a:extLst>
                </a:gridCol>
                <a:gridCol w="591226">
                  <a:extLst>
                    <a:ext uri="{9D8B030D-6E8A-4147-A177-3AD203B41FA5}">
                      <a16:colId xmlns:a16="http://schemas.microsoft.com/office/drawing/2014/main" val="390291616"/>
                    </a:ext>
                  </a:extLst>
                </a:gridCol>
                <a:gridCol w="591226">
                  <a:extLst>
                    <a:ext uri="{9D8B030D-6E8A-4147-A177-3AD203B41FA5}">
                      <a16:colId xmlns:a16="http://schemas.microsoft.com/office/drawing/2014/main" val="3014985931"/>
                    </a:ext>
                  </a:extLst>
                </a:gridCol>
                <a:gridCol w="591226">
                  <a:extLst>
                    <a:ext uri="{9D8B030D-6E8A-4147-A177-3AD203B41FA5}">
                      <a16:colId xmlns:a16="http://schemas.microsoft.com/office/drawing/2014/main" val="299575125"/>
                    </a:ext>
                  </a:extLst>
                </a:gridCol>
              </a:tblGrid>
              <a:tr h="127711">
                <a:tc>
                  <a:txBody>
                    <a:bodyPr/>
                    <a:lstStyle/>
                    <a:p>
                      <a:pPr algn="ctr" latinLnBrk="1"/>
                      <a:r>
                        <a:rPr lang="ko-KR" altLang="en-US" sz="900" dirty="0"/>
                        <a:t>출원</a:t>
                      </a:r>
                    </a:p>
                  </a:txBody>
                  <a:tcPr/>
                </a:tc>
                <a:tc>
                  <a:txBody>
                    <a:bodyPr/>
                    <a:lstStyle/>
                    <a:p>
                      <a:pPr algn="ctr" latinLnBrk="1"/>
                      <a:r>
                        <a:rPr lang="ko-KR" altLang="en-US" sz="900" dirty="0"/>
                        <a:t>선행</a:t>
                      </a:r>
                      <a:r>
                        <a:rPr lang="en-US" altLang="ko-KR" sz="900" dirty="0"/>
                        <a:t>1</a:t>
                      </a:r>
                      <a:endParaRPr lang="ko-KR" altLang="en-US" sz="900" dirty="0"/>
                    </a:p>
                  </a:txBody>
                  <a:tcPr/>
                </a:tc>
                <a:tc>
                  <a:txBody>
                    <a:bodyPr/>
                    <a:lstStyle/>
                    <a:p>
                      <a:pPr algn="ctr" latinLnBrk="1"/>
                      <a:r>
                        <a:rPr lang="ko-KR" altLang="en-US" sz="900" dirty="0"/>
                        <a:t>선행</a:t>
                      </a:r>
                      <a:r>
                        <a:rPr lang="en-US" altLang="ko-KR" sz="900" dirty="0"/>
                        <a:t>2</a:t>
                      </a:r>
                      <a:endParaRPr lang="ko-KR" altLang="en-US" sz="900" dirty="0"/>
                    </a:p>
                  </a:txBody>
                  <a:tcPr/>
                </a:tc>
                <a:tc>
                  <a:txBody>
                    <a:bodyPr/>
                    <a:lstStyle/>
                    <a:p>
                      <a:pPr algn="ctr" latinLnBrk="1"/>
                      <a:r>
                        <a:rPr lang="ko-KR" altLang="en-US" sz="900" dirty="0"/>
                        <a:t>선행</a:t>
                      </a:r>
                      <a:r>
                        <a:rPr lang="en-US" altLang="ko-KR" sz="900" dirty="0"/>
                        <a:t>3</a:t>
                      </a:r>
                      <a:endParaRPr lang="ko-KR" altLang="en-US" sz="900" dirty="0"/>
                    </a:p>
                  </a:txBody>
                  <a:tcPr/>
                </a:tc>
                <a:tc>
                  <a:txBody>
                    <a:bodyPr/>
                    <a:lstStyle/>
                    <a:p>
                      <a:pPr algn="ctr" latinLnBrk="1"/>
                      <a:r>
                        <a:rPr lang="en-US" altLang="ko-KR" sz="900" dirty="0"/>
                        <a:t>OR</a:t>
                      </a:r>
                      <a:endParaRPr lang="ko-KR" altLang="en-US" sz="900" dirty="0"/>
                    </a:p>
                  </a:txBody>
                  <a:tcPr/>
                </a:tc>
                <a:extLst>
                  <a:ext uri="{0D108BD9-81ED-4DB2-BD59-A6C34878D82A}">
                    <a16:rowId xmlns:a16="http://schemas.microsoft.com/office/drawing/2014/main" val="4193343562"/>
                  </a:ext>
                </a:extLst>
              </a:tr>
              <a:tr h="127711">
                <a:tc>
                  <a:txBody>
                    <a:bodyPr/>
                    <a:lstStyle/>
                    <a:p>
                      <a:pPr algn="ctr" latinLnBrk="1"/>
                      <a:r>
                        <a:rPr lang="en-US" altLang="ko-KR" sz="900" dirty="0"/>
                        <a:t>a</a:t>
                      </a:r>
                      <a:endParaRPr lang="ko-KR" altLang="en-US" sz="900" dirty="0"/>
                    </a:p>
                  </a:txBody>
                  <a:tcPr/>
                </a:tc>
                <a:tc>
                  <a:txBody>
                    <a:bodyPr/>
                    <a:lstStyle/>
                    <a:p>
                      <a:pPr algn="ctr" latinLnBrk="1"/>
                      <a:r>
                        <a:rPr lang="ko-KR" altLang="en-US" sz="900" dirty="0"/>
                        <a:t>○</a:t>
                      </a:r>
                    </a:p>
                  </a:txBody>
                  <a:tcPr/>
                </a:tc>
                <a:tc>
                  <a:txBody>
                    <a:bodyPr/>
                    <a:lstStyle/>
                    <a:p>
                      <a:pPr algn="ctr" latinLnBrk="1"/>
                      <a:endParaRPr lang="ko-KR" altLang="en-US" sz="900" dirty="0"/>
                    </a:p>
                  </a:txBody>
                  <a:tcPr/>
                </a:tc>
                <a:tc>
                  <a:txBody>
                    <a:bodyPr/>
                    <a:lstStyle/>
                    <a:p>
                      <a:pPr algn="ctr" latinLnBrk="1"/>
                      <a:endParaRPr lang="ko-KR" altLang="en-US" sz="900" dirty="0"/>
                    </a:p>
                  </a:txBody>
                  <a:tcPr/>
                </a:tc>
                <a:tc>
                  <a:txBody>
                    <a:bodyPr/>
                    <a:lstStyle/>
                    <a:p>
                      <a:pPr algn="ctr" latinLnBrk="1"/>
                      <a:r>
                        <a:rPr lang="ko-KR" altLang="en-US" sz="900" dirty="0"/>
                        <a:t>○</a:t>
                      </a:r>
                    </a:p>
                  </a:txBody>
                  <a:tcPr/>
                </a:tc>
                <a:extLst>
                  <a:ext uri="{0D108BD9-81ED-4DB2-BD59-A6C34878D82A}">
                    <a16:rowId xmlns:a16="http://schemas.microsoft.com/office/drawing/2014/main" val="509723462"/>
                  </a:ext>
                </a:extLst>
              </a:tr>
              <a:tr h="127711">
                <a:tc>
                  <a:txBody>
                    <a:bodyPr/>
                    <a:lstStyle/>
                    <a:p>
                      <a:pPr algn="ctr" latinLnBrk="1"/>
                      <a:r>
                        <a:rPr lang="en-US" altLang="ko-KR" sz="900" dirty="0"/>
                        <a:t>b</a:t>
                      </a:r>
                      <a:endParaRPr lang="ko-KR" altLang="en-US" sz="900" dirty="0"/>
                    </a:p>
                  </a:txBody>
                  <a:tcPr/>
                </a:tc>
                <a:tc>
                  <a:txBody>
                    <a:bodyPr/>
                    <a:lstStyle/>
                    <a:p>
                      <a:pPr algn="ctr" latinLnBrk="1"/>
                      <a:r>
                        <a:rPr lang="ko-KR" altLang="en-US" sz="900" dirty="0"/>
                        <a:t>○</a:t>
                      </a:r>
                    </a:p>
                  </a:txBody>
                  <a:tcPr/>
                </a:tc>
                <a:tc>
                  <a:txBody>
                    <a:bodyPr/>
                    <a:lstStyle/>
                    <a:p>
                      <a:pPr algn="ctr" latinLnBrk="1"/>
                      <a:endParaRPr lang="ko-KR" altLang="en-US" sz="900"/>
                    </a:p>
                  </a:txBody>
                  <a:tcPr/>
                </a:tc>
                <a:tc>
                  <a:txBody>
                    <a:bodyPr/>
                    <a:lstStyle/>
                    <a:p>
                      <a:pPr algn="ctr" latinLnBrk="1"/>
                      <a:r>
                        <a:rPr lang="ko-KR" altLang="en-US" sz="900" dirty="0"/>
                        <a:t>○</a:t>
                      </a:r>
                    </a:p>
                  </a:txBody>
                  <a:tcPr/>
                </a:tc>
                <a:tc>
                  <a:txBody>
                    <a:bodyPr/>
                    <a:lstStyle/>
                    <a:p>
                      <a:pPr algn="ctr" latinLnBrk="1"/>
                      <a:r>
                        <a:rPr lang="ko-KR" altLang="en-US" sz="900" dirty="0"/>
                        <a:t>○</a:t>
                      </a:r>
                    </a:p>
                  </a:txBody>
                  <a:tcPr/>
                </a:tc>
                <a:extLst>
                  <a:ext uri="{0D108BD9-81ED-4DB2-BD59-A6C34878D82A}">
                    <a16:rowId xmlns:a16="http://schemas.microsoft.com/office/drawing/2014/main" val="2100593758"/>
                  </a:ext>
                </a:extLst>
              </a:tr>
              <a:tr h="127711">
                <a:tc>
                  <a:txBody>
                    <a:bodyPr/>
                    <a:lstStyle/>
                    <a:p>
                      <a:pPr algn="ctr" latinLnBrk="1"/>
                      <a:r>
                        <a:rPr lang="en-US" altLang="ko-KR" sz="900" dirty="0"/>
                        <a:t>c</a:t>
                      </a:r>
                      <a:endParaRPr lang="ko-KR" altLang="en-US" sz="900" dirty="0"/>
                    </a:p>
                  </a:txBody>
                  <a:tcPr/>
                </a:tc>
                <a:tc>
                  <a:txBody>
                    <a:bodyPr/>
                    <a:lstStyle/>
                    <a:p>
                      <a:pPr algn="ctr" latinLnBrk="1"/>
                      <a:endParaRPr lang="ko-KR" altLang="en-US" sz="900" dirty="0"/>
                    </a:p>
                  </a:txBody>
                  <a:tcPr/>
                </a:tc>
                <a:tc>
                  <a:txBody>
                    <a:bodyPr/>
                    <a:lstStyle/>
                    <a:p>
                      <a:pPr algn="ctr" latinLnBrk="1"/>
                      <a:r>
                        <a:rPr lang="ko-KR" altLang="en-US" sz="900" dirty="0"/>
                        <a:t>○</a:t>
                      </a:r>
                    </a:p>
                  </a:txBody>
                  <a:tcPr/>
                </a:tc>
                <a:tc>
                  <a:txBody>
                    <a:bodyPr/>
                    <a:lstStyle/>
                    <a:p>
                      <a:pPr algn="ctr" latinLnBrk="1"/>
                      <a:endParaRPr lang="ko-KR" altLang="en-US" sz="900" dirty="0"/>
                    </a:p>
                  </a:txBody>
                  <a:tcPr/>
                </a:tc>
                <a:tc>
                  <a:txBody>
                    <a:bodyPr/>
                    <a:lstStyle/>
                    <a:p>
                      <a:pPr algn="ctr" latinLnBrk="1"/>
                      <a:r>
                        <a:rPr lang="ko-KR" altLang="en-US" sz="900" dirty="0"/>
                        <a:t>○</a:t>
                      </a:r>
                    </a:p>
                  </a:txBody>
                  <a:tcPr/>
                </a:tc>
                <a:extLst>
                  <a:ext uri="{0D108BD9-81ED-4DB2-BD59-A6C34878D82A}">
                    <a16:rowId xmlns:a16="http://schemas.microsoft.com/office/drawing/2014/main" val="1821696569"/>
                  </a:ext>
                </a:extLst>
              </a:tr>
              <a:tr h="127711">
                <a:tc>
                  <a:txBody>
                    <a:bodyPr/>
                    <a:lstStyle/>
                    <a:p>
                      <a:pPr algn="ctr" latinLnBrk="1"/>
                      <a:r>
                        <a:rPr lang="en-US" altLang="ko-KR" sz="900" dirty="0"/>
                        <a:t>d</a:t>
                      </a:r>
                      <a:endParaRPr lang="ko-KR" altLang="en-US" sz="900" dirty="0"/>
                    </a:p>
                  </a:txBody>
                  <a:tcPr/>
                </a:tc>
                <a:tc>
                  <a:txBody>
                    <a:bodyPr/>
                    <a:lstStyle/>
                    <a:p>
                      <a:pPr algn="ctr" latinLnBrk="1"/>
                      <a:endParaRPr lang="ko-KR" altLang="en-US" sz="900" dirty="0"/>
                    </a:p>
                  </a:txBody>
                  <a:tcPr/>
                </a:tc>
                <a:tc>
                  <a:txBody>
                    <a:bodyPr/>
                    <a:lstStyle/>
                    <a:p>
                      <a:pPr algn="ctr" latinLnBrk="1"/>
                      <a:endParaRPr lang="ko-KR" altLang="en-US" sz="900" dirty="0"/>
                    </a:p>
                  </a:txBody>
                  <a:tcPr/>
                </a:tc>
                <a:tc>
                  <a:txBody>
                    <a:bodyPr/>
                    <a:lstStyle/>
                    <a:p>
                      <a:pPr algn="ctr" latinLnBrk="1"/>
                      <a:r>
                        <a:rPr lang="ko-KR" altLang="en-US" sz="900" dirty="0"/>
                        <a:t>○</a:t>
                      </a:r>
                    </a:p>
                  </a:txBody>
                  <a:tcPr/>
                </a:tc>
                <a:tc>
                  <a:txBody>
                    <a:bodyPr/>
                    <a:lstStyle/>
                    <a:p>
                      <a:pPr algn="ctr" latinLnBrk="1"/>
                      <a:r>
                        <a:rPr lang="ko-KR" altLang="en-US" sz="900" dirty="0"/>
                        <a:t>○</a:t>
                      </a:r>
                    </a:p>
                  </a:txBody>
                  <a:tcPr/>
                </a:tc>
                <a:extLst>
                  <a:ext uri="{0D108BD9-81ED-4DB2-BD59-A6C34878D82A}">
                    <a16:rowId xmlns:a16="http://schemas.microsoft.com/office/drawing/2014/main" val="2623082673"/>
                  </a:ext>
                </a:extLst>
              </a:tr>
            </a:tbl>
          </a:graphicData>
        </a:graphic>
      </p:graphicFrame>
    </p:spTree>
    <p:extLst>
      <p:ext uri="{BB962C8B-B14F-4D97-AF65-F5344CB8AC3E}">
        <p14:creationId xmlns:p14="http://schemas.microsoft.com/office/powerpoint/2010/main" val="2881180688"/>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lstStyle/>
          <a:p>
            <a:r>
              <a:rPr lang="ko-KR" altLang="en-US" dirty="0"/>
              <a:t>거절이유통지를 받은 출원인의 대응방안</a:t>
            </a:r>
          </a:p>
        </p:txBody>
      </p:sp>
      <p:sp>
        <p:nvSpPr>
          <p:cNvPr id="31" name="순서도: 판단 30"/>
          <p:cNvSpPr/>
          <p:nvPr/>
        </p:nvSpPr>
        <p:spPr bwMode="auto">
          <a:xfrm>
            <a:off x="2702261" y="2459750"/>
            <a:ext cx="1920213" cy="760764"/>
          </a:xfrm>
          <a:prstGeom prst="flowChartDecision">
            <a:avLst/>
          </a:prstGeom>
          <a:solidFill>
            <a:schemeClr val="accent1">
              <a:lumMod val="20000"/>
              <a:lumOff val="80000"/>
            </a:schemeClr>
          </a:solidFill>
          <a:ln>
            <a:solidFill>
              <a:schemeClr val="bg1">
                <a:lumMod val="50000"/>
              </a:schemeClr>
            </a:solidFill>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0" tIns="46800" rIns="0" bIns="4680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ko-KR" altLang="en-US" sz="1400" b="0" i="0" u="none" strike="noStrike" cap="none" normalizeH="0" baseline="0" dirty="0">
                <a:ln>
                  <a:noFill/>
                </a:ln>
                <a:solidFill>
                  <a:schemeClr val="tx2"/>
                </a:solidFill>
                <a:effectLst/>
                <a:latin typeface="+mn-ea"/>
              </a:rPr>
              <a:t>거절이유의 </a:t>
            </a:r>
            <a:endParaRPr kumimoji="1" lang="en-US" altLang="ko-KR" sz="1400" b="0" i="0" u="none" strike="noStrike" cap="none" normalizeH="0" baseline="0" dirty="0">
              <a:ln>
                <a:noFill/>
              </a:ln>
              <a:solidFill>
                <a:schemeClr val="tx2"/>
              </a:solidFill>
              <a:effectLst/>
              <a:latin typeface="+mn-ea"/>
            </a:endParaRPr>
          </a:p>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ko-KR" altLang="en-US" sz="1400" b="0" i="0" u="none" strike="noStrike" cap="none" normalizeH="0" baseline="0" dirty="0">
                <a:ln>
                  <a:noFill/>
                </a:ln>
                <a:solidFill>
                  <a:schemeClr val="tx2"/>
                </a:solidFill>
                <a:effectLst/>
                <a:latin typeface="+mn-ea"/>
              </a:rPr>
              <a:t>타당성</a:t>
            </a:r>
          </a:p>
        </p:txBody>
      </p:sp>
      <p:sp>
        <p:nvSpPr>
          <p:cNvPr id="32" name="순서도: 판단 31"/>
          <p:cNvSpPr/>
          <p:nvPr/>
        </p:nvSpPr>
        <p:spPr bwMode="auto">
          <a:xfrm>
            <a:off x="2702261" y="3636026"/>
            <a:ext cx="1920213" cy="760764"/>
          </a:xfrm>
          <a:prstGeom prst="flowChartDecision">
            <a:avLst/>
          </a:prstGeom>
          <a:solidFill>
            <a:schemeClr val="accent4">
              <a:lumMod val="20000"/>
              <a:lumOff val="80000"/>
            </a:schemeClr>
          </a:solidFill>
          <a:ln>
            <a:solidFill>
              <a:schemeClr val="bg1">
                <a:lumMod val="50000"/>
              </a:schemeClr>
            </a:solidFill>
            <a:headEnd type="none" w="med" len="med"/>
            <a:tailEnd type="none" w="med" len="med"/>
          </a:ln>
        </p:spPr>
        <p:style>
          <a:lnRef idx="2">
            <a:schemeClr val="accent6">
              <a:shade val="50000"/>
            </a:schemeClr>
          </a:lnRef>
          <a:fillRef idx="1">
            <a:schemeClr val="accent6"/>
          </a:fillRef>
          <a:effectRef idx="0">
            <a:schemeClr val="accent6"/>
          </a:effectRef>
          <a:fontRef idx="minor">
            <a:schemeClr val="lt1"/>
          </a:fontRef>
        </p:style>
        <p:txBody>
          <a:bodyPr vert="horz" wrap="square" lIns="0" tIns="46800" rIns="0" bIns="4680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ko-KR" altLang="en-US" sz="1400" b="0" i="0" u="none" strike="noStrike" cap="none" normalizeH="0" baseline="0" dirty="0">
                <a:ln>
                  <a:noFill/>
                </a:ln>
                <a:solidFill>
                  <a:schemeClr val="tx2"/>
                </a:solidFill>
                <a:effectLst/>
                <a:latin typeface="+mn-ea"/>
              </a:rPr>
              <a:t>극복가능성</a:t>
            </a:r>
          </a:p>
        </p:txBody>
      </p:sp>
      <p:cxnSp>
        <p:nvCxnSpPr>
          <p:cNvPr id="34" name="직선 화살표 연결선 33"/>
          <p:cNvCxnSpPr>
            <a:stCxn id="31" idx="2"/>
            <a:endCxn id="32" idx="0"/>
          </p:cNvCxnSpPr>
          <p:nvPr/>
        </p:nvCxnSpPr>
        <p:spPr bwMode="auto">
          <a:xfrm>
            <a:off x="3662368" y="3220514"/>
            <a:ext cx="0" cy="415512"/>
          </a:xfrm>
          <a:prstGeom prst="straightConnector1">
            <a:avLst/>
          </a:prstGeom>
          <a:ln w="28575">
            <a:solidFill>
              <a:schemeClr val="bg1">
                <a:lumMod val="50000"/>
              </a:schemeClr>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39" name="TextBox 38"/>
          <p:cNvSpPr txBox="1"/>
          <p:nvPr/>
        </p:nvSpPr>
        <p:spPr>
          <a:xfrm>
            <a:off x="5541438" y="2097432"/>
            <a:ext cx="3191500" cy="285851"/>
          </a:xfrm>
          <a:prstGeom prst="rect">
            <a:avLst/>
          </a:prstGeom>
          <a:noFill/>
          <a:ln>
            <a:solidFill>
              <a:schemeClr val="bg1">
                <a:lumMod val="50000"/>
              </a:schemeClr>
            </a:solidFill>
          </a:ln>
        </p:spPr>
        <p:txBody>
          <a:bodyPr wrap="none" rtlCol="0" anchor="ctr">
            <a:noAutofit/>
          </a:bodyPr>
          <a:lstStyle/>
          <a:p>
            <a:r>
              <a:rPr lang="ko-KR" altLang="en-US" sz="1400" b="0" dirty="0">
                <a:solidFill>
                  <a:schemeClr val="tx1"/>
                </a:solidFill>
                <a:latin typeface="+mn-ea"/>
              </a:rPr>
              <a:t>의견서 제출</a:t>
            </a:r>
            <a:endParaRPr lang="en-US" altLang="ko-KR" sz="1400" b="0" dirty="0">
              <a:solidFill>
                <a:schemeClr val="tx1"/>
              </a:solidFill>
              <a:latin typeface="+mn-ea"/>
            </a:endParaRPr>
          </a:p>
        </p:txBody>
      </p:sp>
      <p:cxnSp>
        <p:nvCxnSpPr>
          <p:cNvPr id="41" name="직선 화살표 연결선 40"/>
          <p:cNvCxnSpPr>
            <a:stCxn id="31" idx="3"/>
          </p:cNvCxnSpPr>
          <p:nvPr/>
        </p:nvCxnSpPr>
        <p:spPr bwMode="auto">
          <a:xfrm>
            <a:off x="4622474" y="2840132"/>
            <a:ext cx="749626" cy="0"/>
          </a:xfrm>
          <a:prstGeom prst="straightConnector1">
            <a:avLst/>
          </a:prstGeom>
          <a:ln w="28575">
            <a:solidFill>
              <a:schemeClr val="bg1">
                <a:lumMod val="50000"/>
              </a:schemeClr>
            </a:solidFill>
            <a:headEnd type="none" w="med" len="med"/>
            <a:tailEnd type="triangle" w="med" len="med"/>
          </a:ln>
        </p:spPr>
        <p:style>
          <a:lnRef idx="1">
            <a:schemeClr val="dk1"/>
          </a:lnRef>
          <a:fillRef idx="0">
            <a:schemeClr val="dk1"/>
          </a:fillRef>
          <a:effectRef idx="0">
            <a:schemeClr val="dk1"/>
          </a:effectRef>
          <a:fontRef idx="minor">
            <a:schemeClr val="tx1"/>
          </a:fontRef>
        </p:style>
      </p:cxnSp>
      <p:cxnSp>
        <p:nvCxnSpPr>
          <p:cNvPr id="46" name="직선 화살표 연결선 45"/>
          <p:cNvCxnSpPr/>
          <p:nvPr/>
        </p:nvCxnSpPr>
        <p:spPr bwMode="auto">
          <a:xfrm flipV="1">
            <a:off x="4622474" y="4025197"/>
            <a:ext cx="749626" cy="1"/>
          </a:xfrm>
          <a:prstGeom prst="straightConnector1">
            <a:avLst/>
          </a:prstGeom>
          <a:ln w="28575">
            <a:solidFill>
              <a:schemeClr val="bg1">
                <a:lumMod val="50000"/>
              </a:schemeClr>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47" name="TextBox 46"/>
          <p:cNvSpPr txBox="1"/>
          <p:nvPr/>
        </p:nvSpPr>
        <p:spPr>
          <a:xfrm>
            <a:off x="3758033" y="3185067"/>
            <a:ext cx="423899" cy="276999"/>
          </a:xfrm>
          <a:prstGeom prst="rect">
            <a:avLst/>
          </a:prstGeom>
          <a:noFill/>
          <a:ln>
            <a:noFill/>
          </a:ln>
        </p:spPr>
        <p:txBody>
          <a:bodyPr wrap="none" rtlCol="0">
            <a:spAutoFit/>
          </a:bodyPr>
          <a:lstStyle/>
          <a:p>
            <a:pPr algn="ctr"/>
            <a:r>
              <a:rPr lang="en-US" altLang="ko-KR" sz="1200" b="0" dirty="0">
                <a:solidFill>
                  <a:schemeClr val="tx1"/>
                </a:solidFill>
                <a:latin typeface="+mn-ea"/>
              </a:rPr>
              <a:t>Yes</a:t>
            </a:r>
            <a:endParaRPr lang="ko-KR" altLang="en-US" sz="1200" b="0" dirty="0">
              <a:solidFill>
                <a:schemeClr val="tx1"/>
              </a:solidFill>
              <a:latin typeface="+mn-ea"/>
            </a:endParaRPr>
          </a:p>
        </p:txBody>
      </p:sp>
      <p:sp>
        <p:nvSpPr>
          <p:cNvPr id="50" name="TextBox 49"/>
          <p:cNvSpPr txBox="1"/>
          <p:nvPr/>
        </p:nvSpPr>
        <p:spPr>
          <a:xfrm>
            <a:off x="3758033" y="4396791"/>
            <a:ext cx="423899" cy="276999"/>
          </a:xfrm>
          <a:prstGeom prst="rect">
            <a:avLst/>
          </a:prstGeom>
          <a:noFill/>
          <a:ln>
            <a:noFill/>
          </a:ln>
        </p:spPr>
        <p:txBody>
          <a:bodyPr wrap="none" rtlCol="0">
            <a:spAutoFit/>
          </a:bodyPr>
          <a:lstStyle/>
          <a:p>
            <a:pPr algn="ctr"/>
            <a:r>
              <a:rPr lang="en-US" altLang="ko-KR" sz="1200" b="0" dirty="0">
                <a:solidFill>
                  <a:schemeClr val="tx1"/>
                </a:solidFill>
                <a:latin typeface="+mn-ea"/>
              </a:rPr>
              <a:t>Yes</a:t>
            </a:r>
            <a:endParaRPr lang="ko-KR" altLang="en-US" sz="1200" b="0" dirty="0">
              <a:solidFill>
                <a:schemeClr val="tx1"/>
              </a:solidFill>
              <a:latin typeface="+mn-ea"/>
            </a:endParaRPr>
          </a:p>
        </p:txBody>
      </p:sp>
      <p:sp>
        <p:nvSpPr>
          <p:cNvPr id="53" name="TextBox 52"/>
          <p:cNvSpPr txBox="1"/>
          <p:nvPr/>
        </p:nvSpPr>
        <p:spPr>
          <a:xfrm>
            <a:off x="4552950" y="2569048"/>
            <a:ext cx="380232" cy="276999"/>
          </a:xfrm>
          <a:prstGeom prst="rect">
            <a:avLst/>
          </a:prstGeom>
          <a:noFill/>
          <a:ln>
            <a:noFill/>
          </a:ln>
        </p:spPr>
        <p:txBody>
          <a:bodyPr wrap="none" rtlCol="0">
            <a:spAutoFit/>
          </a:bodyPr>
          <a:lstStyle/>
          <a:p>
            <a:pPr algn="ctr"/>
            <a:r>
              <a:rPr lang="en-US" altLang="ko-KR" sz="1200" b="0" dirty="0">
                <a:solidFill>
                  <a:schemeClr val="tx1"/>
                </a:solidFill>
                <a:latin typeface="+mn-ea"/>
              </a:rPr>
              <a:t>No</a:t>
            </a:r>
            <a:endParaRPr lang="ko-KR" altLang="en-US" sz="1200" b="0" dirty="0">
              <a:solidFill>
                <a:schemeClr val="tx1"/>
              </a:solidFill>
              <a:latin typeface="+mn-ea"/>
            </a:endParaRPr>
          </a:p>
        </p:txBody>
      </p:sp>
      <p:sp>
        <p:nvSpPr>
          <p:cNvPr id="54" name="TextBox 53"/>
          <p:cNvSpPr txBox="1"/>
          <p:nvPr/>
        </p:nvSpPr>
        <p:spPr>
          <a:xfrm>
            <a:off x="4595591" y="3750326"/>
            <a:ext cx="380232" cy="276999"/>
          </a:xfrm>
          <a:prstGeom prst="rect">
            <a:avLst/>
          </a:prstGeom>
          <a:noFill/>
          <a:ln>
            <a:noFill/>
          </a:ln>
        </p:spPr>
        <p:txBody>
          <a:bodyPr wrap="none" rtlCol="0">
            <a:spAutoFit/>
          </a:bodyPr>
          <a:lstStyle/>
          <a:p>
            <a:pPr algn="ctr"/>
            <a:r>
              <a:rPr lang="en-US" altLang="ko-KR" sz="1200" b="0" dirty="0">
                <a:solidFill>
                  <a:schemeClr val="tx1"/>
                </a:solidFill>
                <a:latin typeface="+mn-ea"/>
              </a:rPr>
              <a:t>No</a:t>
            </a:r>
            <a:endParaRPr lang="ko-KR" altLang="en-US" sz="1200" b="0" dirty="0">
              <a:solidFill>
                <a:schemeClr val="tx1"/>
              </a:solidFill>
              <a:latin typeface="+mn-ea"/>
            </a:endParaRPr>
          </a:p>
        </p:txBody>
      </p:sp>
      <p:sp>
        <p:nvSpPr>
          <p:cNvPr id="55" name="Rectangle 13"/>
          <p:cNvSpPr>
            <a:spLocks noChangeArrowheads="1"/>
          </p:cNvSpPr>
          <p:nvPr/>
        </p:nvSpPr>
        <p:spPr bwMode="auto">
          <a:xfrm>
            <a:off x="533135" y="1330177"/>
            <a:ext cx="1657615" cy="450998"/>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j-ea"/>
                <a:ea typeface="+mj-ea"/>
              </a:rPr>
              <a:t>거절이유통지</a:t>
            </a:r>
            <a:r>
              <a:rPr lang="en-US" altLang="ko-KR" sz="1400" dirty="0">
                <a:latin typeface="+mj-ea"/>
                <a:ea typeface="+mj-ea"/>
              </a:rPr>
              <a:t>(</a:t>
            </a:r>
            <a:r>
              <a:rPr lang="ko-KR" altLang="en-US" sz="1400" dirty="0">
                <a:latin typeface="+mj-ea"/>
                <a:ea typeface="+mj-ea"/>
              </a:rPr>
              <a:t>자극</a:t>
            </a:r>
            <a:r>
              <a:rPr lang="en-US" altLang="ko-KR" sz="1400" dirty="0">
                <a:latin typeface="+mj-ea"/>
                <a:ea typeface="+mj-ea"/>
              </a:rPr>
              <a:t>)</a:t>
            </a:r>
          </a:p>
        </p:txBody>
      </p:sp>
      <p:sp>
        <p:nvSpPr>
          <p:cNvPr id="56" name="Rectangle 13"/>
          <p:cNvSpPr>
            <a:spLocks noChangeArrowheads="1"/>
          </p:cNvSpPr>
          <p:nvPr/>
        </p:nvSpPr>
        <p:spPr bwMode="auto">
          <a:xfrm>
            <a:off x="2855388" y="1330177"/>
            <a:ext cx="1668987" cy="450998"/>
          </a:xfrm>
          <a:prstGeom prst="rect">
            <a:avLst/>
          </a:prstGeom>
          <a:solidFill>
            <a:schemeClr val="accent2"/>
          </a:solidFill>
          <a:ln w="9525" algn="ctr">
            <a:solidFill>
              <a:schemeClr val="bg1">
                <a:lumMod val="50000"/>
              </a:schemeClr>
            </a:solidFill>
            <a:miter lim="800000"/>
            <a:headEnd/>
            <a:tailEnd/>
          </a:ln>
        </p:spPr>
        <p:txBody>
          <a:bodyPr wrap="none" anchor="ctr"/>
          <a:lstStyle/>
          <a:p>
            <a:pPr algn="ctr"/>
            <a:r>
              <a:rPr lang="ko-KR" altLang="en-US" sz="1400" dirty="0">
                <a:latin typeface="+mj-ea"/>
                <a:ea typeface="+mj-ea"/>
              </a:rPr>
              <a:t>거절이유통지</a:t>
            </a:r>
            <a:r>
              <a:rPr lang="en-US" altLang="ko-KR" sz="1400" dirty="0">
                <a:latin typeface="+mj-ea"/>
                <a:ea typeface="+mj-ea"/>
              </a:rPr>
              <a:t>(</a:t>
            </a:r>
            <a:r>
              <a:rPr lang="ko-KR" altLang="en-US" sz="1400" dirty="0">
                <a:latin typeface="+mj-ea"/>
                <a:ea typeface="+mj-ea"/>
              </a:rPr>
              <a:t>판단</a:t>
            </a:r>
            <a:r>
              <a:rPr lang="en-US" altLang="ko-KR" sz="1400" dirty="0">
                <a:latin typeface="+mj-ea"/>
                <a:ea typeface="+mj-ea"/>
              </a:rPr>
              <a:t>)</a:t>
            </a:r>
          </a:p>
        </p:txBody>
      </p:sp>
      <p:sp>
        <p:nvSpPr>
          <p:cNvPr id="58" name="Rectangle 13"/>
          <p:cNvSpPr>
            <a:spLocks noChangeArrowheads="1"/>
          </p:cNvSpPr>
          <p:nvPr/>
        </p:nvSpPr>
        <p:spPr bwMode="auto">
          <a:xfrm>
            <a:off x="5541439" y="1330177"/>
            <a:ext cx="5526612" cy="450998"/>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j-ea"/>
                <a:ea typeface="+mj-ea"/>
              </a:rPr>
              <a:t>대응방안</a:t>
            </a:r>
            <a:r>
              <a:rPr lang="en-US" altLang="ko-KR" sz="1400" dirty="0">
                <a:latin typeface="+mj-ea"/>
                <a:ea typeface="+mj-ea"/>
              </a:rPr>
              <a:t>(</a:t>
            </a:r>
            <a:r>
              <a:rPr lang="ko-KR" altLang="en-US" sz="1400" dirty="0">
                <a:latin typeface="+mj-ea"/>
                <a:ea typeface="+mj-ea"/>
              </a:rPr>
              <a:t>반응</a:t>
            </a:r>
            <a:r>
              <a:rPr lang="en-US" altLang="ko-KR" sz="1400" dirty="0">
                <a:latin typeface="+mj-ea"/>
                <a:ea typeface="+mj-ea"/>
              </a:rPr>
              <a:t>)</a:t>
            </a:r>
          </a:p>
        </p:txBody>
      </p:sp>
      <p:cxnSp>
        <p:nvCxnSpPr>
          <p:cNvPr id="5" name="직선 연결선 4"/>
          <p:cNvCxnSpPr>
            <a:stCxn id="55" idx="3"/>
            <a:endCxn id="56" idx="1"/>
          </p:cNvCxnSpPr>
          <p:nvPr/>
        </p:nvCxnSpPr>
        <p:spPr>
          <a:xfrm>
            <a:off x="2190750" y="1555676"/>
            <a:ext cx="664638"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 name="직선 연결선 6"/>
          <p:cNvCxnSpPr>
            <a:stCxn id="56" idx="3"/>
            <a:endCxn id="58" idx="1"/>
          </p:cNvCxnSpPr>
          <p:nvPr/>
        </p:nvCxnSpPr>
        <p:spPr>
          <a:xfrm>
            <a:off x="4524375" y="1555676"/>
            <a:ext cx="1017064"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TextBox 61"/>
          <p:cNvSpPr txBox="1"/>
          <p:nvPr/>
        </p:nvSpPr>
        <p:spPr>
          <a:xfrm>
            <a:off x="5532764" y="2442875"/>
            <a:ext cx="3204835" cy="319474"/>
          </a:xfrm>
          <a:prstGeom prst="rect">
            <a:avLst/>
          </a:prstGeom>
          <a:noFill/>
          <a:ln>
            <a:solidFill>
              <a:schemeClr val="bg1">
                <a:lumMod val="50000"/>
              </a:schemeClr>
            </a:solidFill>
          </a:ln>
        </p:spPr>
        <p:txBody>
          <a:bodyPr wrap="none" rtlCol="0" anchor="ctr">
            <a:noAutofit/>
          </a:bodyPr>
          <a:lstStyle/>
          <a:p>
            <a:r>
              <a:rPr lang="ko-KR" altLang="en-US" sz="1400" b="0" dirty="0">
                <a:solidFill>
                  <a:schemeClr val="tx1"/>
                </a:solidFill>
                <a:latin typeface="+mn-ea"/>
              </a:rPr>
              <a:t>불복심판청구</a:t>
            </a:r>
            <a:r>
              <a:rPr lang="en-US" altLang="ko-KR" sz="1400" b="0" dirty="0">
                <a:solidFill>
                  <a:schemeClr val="tx1"/>
                </a:solidFill>
                <a:latin typeface="+mn-ea"/>
              </a:rPr>
              <a:t>/</a:t>
            </a:r>
            <a:r>
              <a:rPr lang="ko-KR" altLang="en-US" sz="1400" b="0" dirty="0">
                <a:solidFill>
                  <a:schemeClr val="tx1"/>
                </a:solidFill>
                <a:latin typeface="+mn-ea"/>
              </a:rPr>
              <a:t>재심사청구</a:t>
            </a:r>
            <a:endParaRPr lang="en-US" altLang="ko-KR" sz="1400" b="0" dirty="0">
              <a:solidFill>
                <a:schemeClr val="tx1"/>
              </a:solidFill>
              <a:latin typeface="+mn-ea"/>
            </a:endParaRPr>
          </a:p>
        </p:txBody>
      </p:sp>
      <p:sp>
        <p:nvSpPr>
          <p:cNvPr id="63" name="TextBox 62"/>
          <p:cNvSpPr txBox="1"/>
          <p:nvPr/>
        </p:nvSpPr>
        <p:spPr>
          <a:xfrm>
            <a:off x="5532764" y="2823117"/>
            <a:ext cx="3204835" cy="319474"/>
          </a:xfrm>
          <a:prstGeom prst="rect">
            <a:avLst/>
          </a:prstGeom>
          <a:noFill/>
          <a:ln>
            <a:solidFill>
              <a:schemeClr val="bg1">
                <a:lumMod val="50000"/>
              </a:schemeClr>
            </a:solidFill>
          </a:ln>
        </p:spPr>
        <p:txBody>
          <a:bodyPr wrap="none" rtlCol="0" anchor="ctr">
            <a:noAutofit/>
          </a:bodyPr>
          <a:lstStyle/>
          <a:p>
            <a:r>
              <a:rPr lang="ko-KR" altLang="en-US" sz="1400" b="0" dirty="0" err="1">
                <a:solidFill>
                  <a:schemeClr val="accent3">
                    <a:lumMod val="50000"/>
                  </a:schemeClr>
                </a:solidFill>
                <a:latin typeface="+mn-ea"/>
              </a:rPr>
              <a:t>심결취소의</a:t>
            </a:r>
            <a:r>
              <a:rPr lang="ko-KR" altLang="en-US" sz="1400" b="0" dirty="0">
                <a:solidFill>
                  <a:schemeClr val="accent3">
                    <a:lumMod val="50000"/>
                  </a:schemeClr>
                </a:solidFill>
                <a:latin typeface="+mn-ea"/>
              </a:rPr>
              <a:t> 소 제기</a:t>
            </a:r>
            <a:r>
              <a:rPr lang="en-US" altLang="ko-KR" sz="1400" b="0" dirty="0">
                <a:solidFill>
                  <a:schemeClr val="accent3">
                    <a:lumMod val="50000"/>
                  </a:schemeClr>
                </a:solidFill>
                <a:latin typeface="+mn-ea"/>
              </a:rPr>
              <a:t>/</a:t>
            </a:r>
            <a:r>
              <a:rPr lang="ko-KR" altLang="en-US" sz="1400" b="0" dirty="0">
                <a:solidFill>
                  <a:schemeClr val="accent3">
                    <a:lumMod val="50000"/>
                  </a:schemeClr>
                </a:solidFill>
                <a:latin typeface="+mn-ea"/>
              </a:rPr>
              <a:t>분리출원</a:t>
            </a:r>
            <a:r>
              <a:rPr lang="en-US" altLang="ko-KR" sz="1400" b="0" dirty="0">
                <a:solidFill>
                  <a:schemeClr val="accent3">
                    <a:lumMod val="50000"/>
                  </a:schemeClr>
                </a:solidFill>
                <a:latin typeface="+mn-ea"/>
              </a:rPr>
              <a:t>(</a:t>
            </a:r>
            <a:r>
              <a:rPr lang="ko-KR" altLang="en-US" sz="1400" b="0" dirty="0">
                <a:solidFill>
                  <a:schemeClr val="accent3">
                    <a:lumMod val="50000"/>
                  </a:schemeClr>
                </a:solidFill>
                <a:latin typeface="+mn-ea"/>
              </a:rPr>
              <a:t>제</a:t>
            </a:r>
            <a:r>
              <a:rPr lang="en-US" altLang="ko-KR" sz="1400" b="0" dirty="0">
                <a:solidFill>
                  <a:schemeClr val="accent3">
                    <a:lumMod val="50000"/>
                  </a:schemeClr>
                </a:solidFill>
                <a:latin typeface="+mn-ea"/>
              </a:rPr>
              <a:t>52</a:t>
            </a:r>
            <a:r>
              <a:rPr lang="ko-KR" altLang="en-US" sz="1400" b="0" dirty="0">
                <a:solidFill>
                  <a:schemeClr val="accent3">
                    <a:lumMod val="50000"/>
                  </a:schemeClr>
                </a:solidFill>
                <a:latin typeface="+mn-ea"/>
              </a:rPr>
              <a:t>조의</a:t>
            </a:r>
            <a:r>
              <a:rPr lang="en-US" altLang="ko-KR" sz="1400" b="0" dirty="0">
                <a:solidFill>
                  <a:schemeClr val="accent3">
                    <a:lumMod val="50000"/>
                  </a:schemeClr>
                </a:solidFill>
                <a:latin typeface="+mn-ea"/>
              </a:rPr>
              <a:t>2)</a:t>
            </a:r>
          </a:p>
        </p:txBody>
      </p:sp>
      <p:sp>
        <p:nvSpPr>
          <p:cNvPr id="64" name="TextBox 63"/>
          <p:cNvSpPr txBox="1"/>
          <p:nvPr/>
        </p:nvSpPr>
        <p:spPr>
          <a:xfrm>
            <a:off x="5532764" y="3198028"/>
            <a:ext cx="3204835" cy="319474"/>
          </a:xfrm>
          <a:prstGeom prst="rect">
            <a:avLst/>
          </a:prstGeom>
          <a:noFill/>
          <a:ln>
            <a:solidFill>
              <a:schemeClr val="bg1">
                <a:lumMod val="50000"/>
              </a:schemeClr>
            </a:solidFill>
          </a:ln>
        </p:spPr>
        <p:txBody>
          <a:bodyPr wrap="none" rtlCol="0" anchor="ctr">
            <a:noAutofit/>
          </a:bodyPr>
          <a:lstStyle/>
          <a:p>
            <a:r>
              <a:rPr lang="ko-KR" altLang="en-US" sz="1400" b="0" dirty="0">
                <a:solidFill>
                  <a:schemeClr val="tx1"/>
                </a:solidFill>
                <a:latin typeface="+mn-ea"/>
              </a:rPr>
              <a:t>상고</a:t>
            </a:r>
            <a:endParaRPr lang="en-US" altLang="ko-KR" sz="1400" b="0" dirty="0">
              <a:solidFill>
                <a:schemeClr val="tx1"/>
              </a:solidFill>
              <a:latin typeface="+mn-ea"/>
            </a:endParaRPr>
          </a:p>
        </p:txBody>
      </p:sp>
      <p:sp>
        <p:nvSpPr>
          <p:cNvPr id="65" name="TextBox 64"/>
          <p:cNvSpPr txBox="1"/>
          <p:nvPr/>
        </p:nvSpPr>
        <p:spPr>
          <a:xfrm>
            <a:off x="5541438" y="3774525"/>
            <a:ext cx="3191500" cy="349800"/>
          </a:xfrm>
          <a:prstGeom prst="rect">
            <a:avLst/>
          </a:prstGeom>
          <a:noFill/>
          <a:ln>
            <a:solidFill>
              <a:schemeClr val="bg1">
                <a:lumMod val="50000"/>
              </a:schemeClr>
            </a:solidFill>
          </a:ln>
        </p:spPr>
        <p:txBody>
          <a:bodyPr wrap="none" rtlCol="0" anchor="ctr">
            <a:noAutofit/>
          </a:bodyPr>
          <a:lstStyle/>
          <a:p>
            <a:r>
              <a:rPr lang="ko-KR" altLang="en-US" sz="1400" b="0" dirty="0">
                <a:solidFill>
                  <a:schemeClr val="tx1"/>
                </a:solidFill>
                <a:latin typeface="+mn-ea"/>
              </a:rPr>
              <a:t>출원의 취하</a:t>
            </a:r>
            <a:r>
              <a:rPr lang="en-US" altLang="ko-KR" sz="1400" b="0" dirty="0">
                <a:solidFill>
                  <a:schemeClr val="tx1"/>
                </a:solidFill>
                <a:latin typeface="+mn-ea"/>
              </a:rPr>
              <a:t>/</a:t>
            </a:r>
            <a:r>
              <a:rPr lang="ko-KR" altLang="en-US" sz="1400" b="0" dirty="0">
                <a:solidFill>
                  <a:schemeClr val="tx1"/>
                </a:solidFill>
                <a:latin typeface="+mn-ea"/>
              </a:rPr>
              <a:t>포기</a:t>
            </a:r>
            <a:endParaRPr lang="en-US" altLang="ko-KR" sz="1400" b="0" dirty="0">
              <a:solidFill>
                <a:schemeClr val="tx1"/>
              </a:solidFill>
              <a:latin typeface="+mn-ea"/>
            </a:endParaRPr>
          </a:p>
        </p:txBody>
      </p:sp>
      <p:sp>
        <p:nvSpPr>
          <p:cNvPr id="66" name="TextBox 65"/>
          <p:cNvSpPr txBox="1"/>
          <p:nvPr/>
        </p:nvSpPr>
        <p:spPr>
          <a:xfrm>
            <a:off x="5541438" y="4185490"/>
            <a:ext cx="3191500" cy="349800"/>
          </a:xfrm>
          <a:prstGeom prst="rect">
            <a:avLst/>
          </a:prstGeom>
          <a:noFill/>
          <a:ln>
            <a:solidFill>
              <a:schemeClr val="bg1">
                <a:lumMod val="50000"/>
              </a:schemeClr>
            </a:solidFill>
          </a:ln>
        </p:spPr>
        <p:txBody>
          <a:bodyPr wrap="none" rtlCol="0" anchor="ctr">
            <a:noAutofit/>
          </a:bodyPr>
          <a:lstStyle/>
          <a:p>
            <a:r>
              <a:rPr lang="ko-KR" altLang="en-US" sz="1400" b="0" dirty="0">
                <a:solidFill>
                  <a:schemeClr val="tx1"/>
                </a:solidFill>
                <a:latin typeface="+mn-ea"/>
              </a:rPr>
              <a:t>방치</a:t>
            </a:r>
            <a:endParaRPr lang="en-US" altLang="ko-KR" sz="1400" b="0" dirty="0">
              <a:solidFill>
                <a:schemeClr val="tx1"/>
              </a:solidFill>
              <a:latin typeface="+mn-ea"/>
            </a:endParaRPr>
          </a:p>
        </p:txBody>
      </p:sp>
      <p:sp>
        <p:nvSpPr>
          <p:cNvPr id="68" name="TextBox 67"/>
          <p:cNvSpPr txBox="1"/>
          <p:nvPr/>
        </p:nvSpPr>
        <p:spPr>
          <a:xfrm>
            <a:off x="5541438" y="4821617"/>
            <a:ext cx="3191500" cy="349800"/>
          </a:xfrm>
          <a:prstGeom prst="rect">
            <a:avLst/>
          </a:prstGeom>
          <a:solidFill>
            <a:srgbClr val="00B0F0"/>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출원인의 이익제도 활용</a:t>
            </a:r>
            <a:endParaRPr lang="en-US" altLang="ko-KR" sz="1400" b="0" dirty="0">
              <a:solidFill>
                <a:schemeClr val="tx1"/>
              </a:solidFill>
              <a:latin typeface="+mn-ea"/>
            </a:endParaRPr>
          </a:p>
        </p:txBody>
      </p:sp>
      <p:sp>
        <p:nvSpPr>
          <p:cNvPr id="69" name="TextBox 68"/>
          <p:cNvSpPr txBox="1"/>
          <p:nvPr/>
        </p:nvSpPr>
        <p:spPr>
          <a:xfrm>
            <a:off x="5541438" y="5245807"/>
            <a:ext cx="3191500" cy="349800"/>
          </a:xfrm>
          <a:prstGeom prst="rect">
            <a:avLst/>
          </a:prstGeom>
          <a:noFill/>
          <a:ln>
            <a:solidFill>
              <a:schemeClr val="bg1">
                <a:lumMod val="50000"/>
              </a:schemeClr>
            </a:solidFill>
          </a:ln>
        </p:spPr>
        <p:txBody>
          <a:bodyPr wrap="none" rtlCol="0" anchor="ctr">
            <a:noAutofit/>
          </a:bodyPr>
          <a:lstStyle/>
          <a:p>
            <a:r>
              <a:rPr lang="ko-KR" altLang="en-US" sz="1400" b="0" dirty="0">
                <a:solidFill>
                  <a:schemeClr val="tx1"/>
                </a:solidFill>
                <a:latin typeface="+mn-ea"/>
              </a:rPr>
              <a:t>의견서 제출</a:t>
            </a:r>
            <a:endParaRPr lang="en-US" altLang="ko-KR" sz="1400" b="0" dirty="0">
              <a:solidFill>
                <a:schemeClr val="tx1"/>
              </a:solidFill>
              <a:latin typeface="+mn-ea"/>
            </a:endParaRPr>
          </a:p>
        </p:txBody>
      </p:sp>
      <p:cxnSp>
        <p:nvCxnSpPr>
          <p:cNvPr id="18" name="꺾인 연결선 17"/>
          <p:cNvCxnSpPr>
            <a:stCxn id="32" idx="2"/>
          </p:cNvCxnSpPr>
          <p:nvPr/>
        </p:nvCxnSpPr>
        <p:spPr>
          <a:xfrm rot="16200000" flipH="1">
            <a:off x="4092726" y="3966432"/>
            <a:ext cx="849017" cy="1709732"/>
          </a:xfrm>
          <a:prstGeom prst="bentConnector2">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9402619" y="3542215"/>
            <a:ext cx="1576925" cy="285851"/>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b="0" dirty="0">
                <a:solidFill>
                  <a:schemeClr val="tx1"/>
                </a:solidFill>
                <a:latin typeface="+mn-ea"/>
              </a:rPr>
              <a:t>30</a:t>
            </a:r>
            <a:r>
              <a:rPr lang="ko-KR" altLang="en-US" sz="1400" b="0" dirty="0">
                <a:solidFill>
                  <a:schemeClr val="tx1"/>
                </a:solidFill>
                <a:latin typeface="+mn-ea"/>
              </a:rPr>
              <a:t>조</a:t>
            </a:r>
            <a:endParaRPr lang="en-US" altLang="ko-KR" sz="1400" b="0" dirty="0">
              <a:solidFill>
                <a:schemeClr val="tx1"/>
              </a:solidFill>
              <a:latin typeface="+mn-ea"/>
            </a:endParaRPr>
          </a:p>
        </p:txBody>
      </p:sp>
      <p:sp>
        <p:nvSpPr>
          <p:cNvPr id="71" name="TextBox 70"/>
          <p:cNvSpPr txBox="1"/>
          <p:nvPr/>
        </p:nvSpPr>
        <p:spPr>
          <a:xfrm>
            <a:off x="9396030" y="3887658"/>
            <a:ext cx="1583514" cy="319474"/>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b="0" dirty="0">
                <a:solidFill>
                  <a:schemeClr val="tx1"/>
                </a:solidFill>
                <a:latin typeface="+mn-ea"/>
              </a:rPr>
              <a:t>34</a:t>
            </a:r>
            <a:r>
              <a:rPr lang="ko-KR" altLang="en-US" sz="1400" b="0" dirty="0">
                <a:solidFill>
                  <a:schemeClr val="tx1"/>
                </a:solidFill>
                <a:latin typeface="+mn-ea"/>
              </a:rPr>
              <a:t>조</a:t>
            </a:r>
            <a:r>
              <a:rPr lang="en-US" altLang="ko-KR" sz="1400" b="0" dirty="0">
                <a:solidFill>
                  <a:schemeClr val="tx1"/>
                </a:solidFill>
                <a:latin typeface="+mn-ea"/>
              </a:rPr>
              <a:t>, </a:t>
            </a:r>
            <a:r>
              <a:rPr lang="ko-KR" altLang="en-US" sz="1400" b="0" dirty="0">
                <a:solidFill>
                  <a:schemeClr val="tx1"/>
                </a:solidFill>
                <a:latin typeface="+mn-ea"/>
              </a:rPr>
              <a:t>제</a:t>
            </a:r>
            <a:r>
              <a:rPr lang="en-US" altLang="ko-KR" sz="1400" b="0" dirty="0">
                <a:solidFill>
                  <a:schemeClr val="tx1"/>
                </a:solidFill>
                <a:latin typeface="+mn-ea"/>
              </a:rPr>
              <a:t>35</a:t>
            </a:r>
            <a:r>
              <a:rPr lang="ko-KR" altLang="en-US" sz="1400" b="0" dirty="0">
                <a:solidFill>
                  <a:schemeClr val="tx1"/>
                </a:solidFill>
                <a:latin typeface="+mn-ea"/>
              </a:rPr>
              <a:t>조</a:t>
            </a:r>
            <a:endParaRPr lang="en-US" altLang="ko-KR" sz="1400" b="0" dirty="0">
              <a:solidFill>
                <a:schemeClr val="tx1"/>
              </a:solidFill>
              <a:latin typeface="+mn-ea"/>
            </a:endParaRPr>
          </a:p>
        </p:txBody>
      </p:sp>
      <p:sp>
        <p:nvSpPr>
          <p:cNvPr id="72" name="TextBox 71"/>
          <p:cNvSpPr txBox="1"/>
          <p:nvPr/>
        </p:nvSpPr>
        <p:spPr>
          <a:xfrm>
            <a:off x="9396030" y="4267900"/>
            <a:ext cx="1583514" cy="319474"/>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b="0" dirty="0">
                <a:solidFill>
                  <a:schemeClr val="tx1"/>
                </a:solidFill>
                <a:latin typeface="+mn-ea"/>
              </a:rPr>
              <a:t>47</a:t>
            </a:r>
            <a:r>
              <a:rPr lang="ko-KR" altLang="en-US" sz="1400" b="0" dirty="0">
                <a:solidFill>
                  <a:schemeClr val="tx1"/>
                </a:solidFill>
                <a:latin typeface="+mn-ea"/>
              </a:rPr>
              <a:t>조</a:t>
            </a:r>
            <a:endParaRPr lang="en-US" altLang="ko-KR" sz="1400" b="0" dirty="0">
              <a:solidFill>
                <a:schemeClr val="tx1"/>
              </a:solidFill>
              <a:latin typeface="+mn-ea"/>
            </a:endParaRPr>
          </a:p>
        </p:txBody>
      </p:sp>
      <p:sp>
        <p:nvSpPr>
          <p:cNvPr id="73" name="TextBox 72"/>
          <p:cNvSpPr txBox="1"/>
          <p:nvPr/>
        </p:nvSpPr>
        <p:spPr>
          <a:xfrm>
            <a:off x="9396030" y="4642811"/>
            <a:ext cx="1583514" cy="319474"/>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b="0" dirty="0">
                <a:solidFill>
                  <a:schemeClr val="tx1"/>
                </a:solidFill>
                <a:latin typeface="+mn-ea"/>
              </a:rPr>
              <a:t>52</a:t>
            </a:r>
            <a:r>
              <a:rPr lang="ko-KR" altLang="en-US" sz="1400" b="0" dirty="0">
                <a:solidFill>
                  <a:schemeClr val="tx1"/>
                </a:solidFill>
                <a:latin typeface="+mn-ea"/>
              </a:rPr>
              <a:t>조</a:t>
            </a:r>
            <a:endParaRPr lang="en-US" altLang="ko-KR" sz="1400" b="0" dirty="0">
              <a:solidFill>
                <a:schemeClr val="tx1"/>
              </a:solidFill>
              <a:latin typeface="+mn-ea"/>
            </a:endParaRPr>
          </a:p>
        </p:txBody>
      </p:sp>
      <p:sp>
        <p:nvSpPr>
          <p:cNvPr id="74" name="TextBox 73"/>
          <p:cNvSpPr txBox="1"/>
          <p:nvPr/>
        </p:nvSpPr>
        <p:spPr>
          <a:xfrm>
            <a:off x="9396030" y="5041571"/>
            <a:ext cx="1583514" cy="319474"/>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b="0" dirty="0">
                <a:solidFill>
                  <a:schemeClr val="tx1"/>
                </a:solidFill>
                <a:latin typeface="+mn-ea"/>
              </a:rPr>
              <a:t>53</a:t>
            </a:r>
            <a:r>
              <a:rPr lang="ko-KR" altLang="en-US" sz="1400" b="0" dirty="0">
                <a:solidFill>
                  <a:schemeClr val="tx1"/>
                </a:solidFill>
                <a:latin typeface="+mn-ea"/>
              </a:rPr>
              <a:t>조</a:t>
            </a:r>
            <a:endParaRPr lang="en-US" altLang="ko-KR" sz="1400" b="0" dirty="0">
              <a:solidFill>
                <a:schemeClr val="tx1"/>
              </a:solidFill>
              <a:latin typeface="+mn-ea"/>
            </a:endParaRPr>
          </a:p>
        </p:txBody>
      </p:sp>
      <p:sp>
        <p:nvSpPr>
          <p:cNvPr id="75" name="TextBox 74"/>
          <p:cNvSpPr txBox="1"/>
          <p:nvPr/>
        </p:nvSpPr>
        <p:spPr>
          <a:xfrm>
            <a:off x="9396030" y="5421813"/>
            <a:ext cx="1583514" cy="319474"/>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b="0" dirty="0">
                <a:solidFill>
                  <a:schemeClr val="tx1"/>
                </a:solidFill>
                <a:latin typeface="+mn-ea"/>
              </a:rPr>
              <a:t>54</a:t>
            </a:r>
            <a:r>
              <a:rPr lang="ko-KR" altLang="en-US" sz="1400" b="0" dirty="0">
                <a:solidFill>
                  <a:schemeClr val="tx1"/>
                </a:solidFill>
                <a:latin typeface="+mn-ea"/>
              </a:rPr>
              <a:t>조</a:t>
            </a:r>
            <a:endParaRPr lang="en-US" altLang="ko-KR" sz="1400" b="0" dirty="0">
              <a:solidFill>
                <a:schemeClr val="tx1"/>
              </a:solidFill>
              <a:latin typeface="+mn-ea"/>
            </a:endParaRPr>
          </a:p>
        </p:txBody>
      </p:sp>
      <p:sp>
        <p:nvSpPr>
          <p:cNvPr id="76" name="TextBox 75"/>
          <p:cNvSpPr txBox="1"/>
          <p:nvPr/>
        </p:nvSpPr>
        <p:spPr>
          <a:xfrm>
            <a:off x="9396030" y="5796724"/>
            <a:ext cx="1583514" cy="319474"/>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dirty="0">
                <a:latin typeface="+mn-ea"/>
              </a:rPr>
              <a:t>55</a:t>
            </a:r>
            <a:r>
              <a:rPr lang="ko-KR" altLang="en-US" sz="1400" dirty="0">
                <a:latin typeface="+mn-ea"/>
              </a:rPr>
              <a:t>조</a:t>
            </a:r>
            <a:endParaRPr lang="en-US" altLang="ko-KR" sz="1400" b="0" dirty="0">
              <a:solidFill>
                <a:schemeClr val="tx1"/>
              </a:solidFill>
              <a:latin typeface="+mn-ea"/>
            </a:endParaRPr>
          </a:p>
        </p:txBody>
      </p:sp>
      <p:cxnSp>
        <p:nvCxnSpPr>
          <p:cNvPr id="23" name="꺾인 연결선 22"/>
          <p:cNvCxnSpPr>
            <a:cxnSpLocks/>
            <a:stCxn id="68" idx="3"/>
            <a:endCxn id="70" idx="1"/>
          </p:cNvCxnSpPr>
          <p:nvPr/>
        </p:nvCxnSpPr>
        <p:spPr>
          <a:xfrm flipV="1">
            <a:off x="8732938" y="3685141"/>
            <a:ext cx="669681" cy="131137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cxnSpLocks/>
            <a:stCxn id="68" idx="3"/>
            <a:endCxn id="76" idx="1"/>
          </p:cNvCxnSpPr>
          <p:nvPr/>
        </p:nvCxnSpPr>
        <p:spPr>
          <a:xfrm>
            <a:off x="8732938" y="4996517"/>
            <a:ext cx="663092" cy="95994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꺾인 연결선 77"/>
          <p:cNvCxnSpPr>
            <a:cxnSpLocks/>
            <a:stCxn id="68" idx="3"/>
            <a:endCxn id="71" idx="1"/>
          </p:cNvCxnSpPr>
          <p:nvPr/>
        </p:nvCxnSpPr>
        <p:spPr>
          <a:xfrm flipV="1">
            <a:off x="8732938" y="4047395"/>
            <a:ext cx="663092" cy="94912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꺾인 연결선 79"/>
          <p:cNvCxnSpPr>
            <a:cxnSpLocks/>
            <a:stCxn id="68" idx="3"/>
            <a:endCxn id="75" idx="1"/>
          </p:cNvCxnSpPr>
          <p:nvPr/>
        </p:nvCxnSpPr>
        <p:spPr>
          <a:xfrm>
            <a:off x="8732938" y="4996517"/>
            <a:ext cx="663092" cy="58503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꺾인 연결선 81"/>
          <p:cNvCxnSpPr>
            <a:cxnSpLocks/>
            <a:stCxn id="68" idx="3"/>
            <a:endCxn id="72" idx="1"/>
          </p:cNvCxnSpPr>
          <p:nvPr/>
        </p:nvCxnSpPr>
        <p:spPr>
          <a:xfrm flipV="1">
            <a:off x="8732938" y="4427637"/>
            <a:ext cx="663092" cy="56888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꺾인 연결선 83"/>
          <p:cNvCxnSpPr>
            <a:cxnSpLocks/>
            <a:stCxn id="68" idx="3"/>
            <a:endCxn id="73" idx="1"/>
          </p:cNvCxnSpPr>
          <p:nvPr/>
        </p:nvCxnSpPr>
        <p:spPr>
          <a:xfrm flipV="1">
            <a:off x="8732938" y="4802548"/>
            <a:ext cx="663092" cy="19396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cxnSpLocks/>
            <a:stCxn id="68" idx="3"/>
            <a:endCxn id="74" idx="1"/>
          </p:cNvCxnSpPr>
          <p:nvPr/>
        </p:nvCxnSpPr>
        <p:spPr>
          <a:xfrm>
            <a:off x="8732938" y="4996517"/>
            <a:ext cx="663092" cy="20479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직선 연결선 89"/>
          <p:cNvCxnSpPr/>
          <p:nvPr/>
        </p:nvCxnSpPr>
        <p:spPr>
          <a:xfrm>
            <a:off x="5114925" y="1057275"/>
            <a:ext cx="0" cy="55054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직선 연결선 93"/>
          <p:cNvCxnSpPr/>
          <p:nvPr/>
        </p:nvCxnSpPr>
        <p:spPr>
          <a:xfrm>
            <a:off x="2523069" y="1057275"/>
            <a:ext cx="0" cy="55054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261</a:t>
            </a:r>
            <a:endParaRPr lang="ko-KR" altLang="en-US" dirty="0"/>
          </a:p>
        </p:txBody>
      </p:sp>
    </p:spTree>
    <p:extLst>
      <p:ext uri="{BB962C8B-B14F-4D97-AF65-F5344CB8AC3E}">
        <p14:creationId xmlns:p14="http://schemas.microsoft.com/office/powerpoint/2010/main" val="443039829"/>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직사각형 28"/>
          <p:cNvSpPr/>
          <p:nvPr/>
        </p:nvSpPr>
        <p:spPr>
          <a:xfrm>
            <a:off x="933450" y="2023499"/>
            <a:ext cx="10191750" cy="2771775"/>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7" name="양쪽 모서리가 둥근 사각형 26"/>
          <p:cNvSpPr/>
          <p:nvPr/>
        </p:nvSpPr>
        <p:spPr>
          <a:xfrm>
            <a:off x="2080054" y="3923737"/>
            <a:ext cx="3282521" cy="381000"/>
          </a:xfrm>
          <a:prstGeom prst="round2SameRect">
            <a:avLst>
              <a:gd name="adj1" fmla="val 16667"/>
              <a:gd name="adj2" fmla="val 50000"/>
            </a:avLst>
          </a:prstGeom>
          <a:pattFill prst="dkVert">
            <a:fgClr>
              <a:schemeClr val="accent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3" name="양쪽 모서리가 둥근 사각형 82"/>
          <p:cNvSpPr/>
          <p:nvPr/>
        </p:nvSpPr>
        <p:spPr>
          <a:xfrm>
            <a:off x="5362576" y="3923737"/>
            <a:ext cx="2148840" cy="381000"/>
          </a:xfrm>
          <a:prstGeom prst="round2SameRect">
            <a:avLst>
              <a:gd name="adj1" fmla="val 16667"/>
              <a:gd name="adj2" fmla="val 50000"/>
            </a:avLst>
          </a:prstGeom>
          <a:pattFill prst="wdUpDiag">
            <a:fgClr>
              <a:schemeClr val="accent4"/>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양쪽 모서리가 둥근 사각형 84"/>
          <p:cNvSpPr/>
          <p:nvPr/>
        </p:nvSpPr>
        <p:spPr>
          <a:xfrm>
            <a:off x="7505832" y="3923737"/>
            <a:ext cx="2148840" cy="381000"/>
          </a:xfrm>
          <a:prstGeom prst="round2SameRect">
            <a:avLst>
              <a:gd name="adj1" fmla="val 16667"/>
              <a:gd name="adj2" fmla="val 50000"/>
            </a:avLst>
          </a:prstGeom>
          <a:pattFill prst="lgGrid">
            <a:fgClr>
              <a:schemeClr val="accent2"/>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lstStyle/>
          <a:p>
            <a:r>
              <a:rPr lang="ko-KR" altLang="en-US" dirty="0"/>
              <a:t>발명의 </a:t>
            </a:r>
            <a:r>
              <a:rPr lang="ko-KR" altLang="en-US" dirty="0" err="1"/>
              <a:t>성립성</a:t>
            </a:r>
            <a:r>
              <a:rPr lang="ko-KR" altLang="en-US" dirty="0"/>
              <a:t> 위반 </a:t>
            </a:r>
            <a:r>
              <a:rPr lang="en-US" altLang="ko-KR" dirty="0"/>
              <a:t>vs </a:t>
            </a:r>
            <a:r>
              <a:rPr lang="ko-KR" altLang="en-US" dirty="0"/>
              <a:t>제한열거적인 거절이유</a:t>
            </a:r>
          </a:p>
        </p:txBody>
      </p:sp>
      <p:sp>
        <p:nvSpPr>
          <p:cNvPr id="2" name="슬라이드 번호 개체 틀 1"/>
          <p:cNvSpPr>
            <a:spLocks noGrp="1"/>
          </p:cNvSpPr>
          <p:nvPr>
            <p:ph type="sldNum" sz="quarter" idx="4294967295"/>
          </p:nvPr>
        </p:nvSpPr>
        <p:spPr>
          <a:xfrm>
            <a:off x="11125200" y="0"/>
            <a:ext cx="1066800" cy="673100"/>
          </a:xfrm>
        </p:spPr>
        <p:txBody>
          <a:bodyPr/>
          <a:lstStyle/>
          <a:p>
            <a:r>
              <a:rPr lang="en-US" altLang="ko-KR"/>
              <a:t>262</a:t>
            </a:r>
            <a:endParaRPr lang="ko-KR" altLang="en-US" dirty="0"/>
          </a:p>
        </p:txBody>
      </p:sp>
      <p:cxnSp>
        <p:nvCxnSpPr>
          <p:cNvPr id="44" name="직선 연결선 43"/>
          <p:cNvCxnSpPr/>
          <p:nvPr/>
        </p:nvCxnSpPr>
        <p:spPr>
          <a:xfrm>
            <a:off x="65" y="193100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77875" y="976902"/>
            <a:ext cx="11936323" cy="954107"/>
          </a:xfrm>
          <a:prstGeom prst="rect">
            <a:avLst/>
          </a:prstGeom>
          <a:noFill/>
        </p:spPr>
        <p:txBody>
          <a:bodyPr wrap="square" rtlCol="0">
            <a:spAutoFit/>
          </a:bodyPr>
          <a:lstStyle/>
          <a:p>
            <a:r>
              <a:rPr lang="ko-KR" altLang="en-US" sz="1400" dirty="0">
                <a:solidFill>
                  <a:schemeClr val="accent3">
                    <a:lumMod val="50000"/>
                  </a:schemeClr>
                </a:solidFill>
                <a:highlight>
                  <a:srgbClr val="FFFF00"/>
                </a:highlight>
                <a:latin typeface="+mn-ea"/>
              </a:rPr>
              <a:t>거절이유는 제한열거적</a:t>
            </a:r>
            <a:r>
              <a:rPr lang="ko-KR" altLang="en-US" sz="1400" dirty="0">
                <a:solidFill>
                  <a:schemeClr val="tx2"/>
                </a:solidFill>
                <a:latin typeface="+mn-ea"/>
              </a:rPr>
              <a:t>이기 때문에 심사관은 제</a:t>
            </a:r>
            <a:r>
              <a:rPr lang="en-US" altLang="ko-KR" sz="1400" dirty="0">
                <a:solidFill>
                  <a:schemeClr val="tx2"/>
                </a:solidFill>
                <a:latin typeface="+mn-ea"/>
              </a:rPr>
              <a:t>62</a:t>
            </a:r>
            <a:r>
              <a:rPr lang="ko-KR" altLang="en-US" sz="1400" dirty="0">
                <a:solidFill>
                  <a:schemeClr val="tx2"/>
                </a:solidFill>
                <a:latin typeface="+mn-ea"/>
              </a:rPr>
              <a:t>조 각 호의 거절이유에 명시되지 아니한 사항을 이유로 특허거절결정을 할 수 없으며</a:t>
            </a:r>
            <a:r>
              <a:rPr lang="en-US" altLang="ko-KR" sz="1400" dirty="0">
                <a:solidFill>
                  <a:schemeClr val="tx2"/>
                </a:solidFill>
                <a:latin typeface="+mn-ea"/>
              </a:rPr>
              <a:t>, </a:t>
            </a:r>
            <a:r>
              <a:rPr lang="ko-KR" altLang="en-US" sz="1400" dirty="0">
                <a:solidFill>
                  <a:schemeClr val="tx2"/>
                </a:solidFill>
                <a:latin typeface="+mn-ea"/>
              </a:rPr>
              <a:t>특허출원이 거절이유에 해당될 때에는 반드시 특허거절결정을 하여야 하며</a:t>
            </a:r>
            <a:r>
              <a:rPr lang="en-US" altLang="ko-KR" sz="1400" dirty="0">
                <a:solidFill>
                  <a:schemeClr val="tx2"/>
                </a:solidFill>
                <a:latin typeface="+mn-ea"/>
              </a:rPr>
              <a:t>, </a:t>
            </a:r>
            <a:r>
              <a:rPr lang="ko-KR" altLang="en-US" sz="1400" dirty="0">
                <a:solidFill>
                  <a:schemeClr val="tx2"/>
                </a:solidFill>
                <a:latin typeface="+mn-ea"/>
              </a:rPr>
              <a:t>심사관의 재량은 인정되지 아니한다</a:t>
            </a:r>
            <a:r>
              <a:rPr lang="en-US" altLang="ko-KR" sz="1400" dirty="0">
                <a:solidFill>
                  <a:schemeClr val="tx2"/>
                </a:solidFill>
                <a:latin typeface="+mn-ea"/>
              </a:rPr>
              <a:t>. </a:t>
            </a:r>
            <a:r>
              <a:rPr lang="ko-KR" altLang="en-US" sz="1400" dirty="0">
                <a:solidFill>
                  <a:schemeClr val="tx2"/>
                </a:solidFill>
                <a:latin typeface="+mn-ea"/>
              </a:rPr>
              <a:t>그 결과</a:t>
            </a:r>
            <a:r>
              <a:rPr lang="en-US" altLang="ko-KR" sz="1400" dirty="0">
                <a:solidFill>
                  <a:schemeClr val="tx2"/>
                </a:solidFill>
                <a:latin typeface="+mn-ea"/>
              </a:rPr>
              <a:t>, </a:t>
            </a:r>
            <a:r>
              <a:rPr lang="ko-KR" altLang="en-US" sz="1400" dirty="0">
                <a:solidFill>
                  <a:schemeClr val="accent3">
                    <a:lumMod val="50000"/>
                  </a:schemeClr>
                </a:solidFill>
                <a:highlight>
                  <a:srgbClr val="FFFF00"/>
                </a:highlight>
                <a:latin typeface="+mn-ea"/>
              </a:rPr>
              <a:t>심사관은 발명의 성립성이 결여되어 있는 경우에 발명의 정의 규정</a:t>
            </a:r>
            <a:r>
              <a:rPr lang="en-US" altLang="ko-KR" sz="1400" dirty="0">
                <a:solidFill>
                  <a:schemeClr val="accent3">
                    <a:lumMod val="50000"/>
                  </a:schemeClr>
                </a:solidFill>
                <a:highlight>
                  <a:srgbClr val="FFFF00"/>
                </a:highlight>
                <a:latin typeface="+mn-ea"/>
              </a:rPr>
              <a:t>(</a:t>
            </a:r>
            <a:r>
              <a:rPr lang="ko-KR" altLang="en-US" sz="1400" dirty="0">
                <a:solidFill>
                  <a:schemeClr val="accent3">
                    <a:lumMod val="50000"/>
                  </a:schemeClr>
                </a:solidFill>
                <a:highlight>
                  <a:srgbClr val="FFFF00"/>
                </a:highlight>
                <a:latin typeface="+mn-ea"/>
              </a:rPr>
              <a:t>法 </a:t>
            </a:r>
            <a:r>
              <a:rPr lang="en-US" altLang="ko-KR" sz="1400" dirty="0">
                <a:solidFill>
                  <a:schemeClr val="accent3">
                    <a:lumMod val="50000"/>
                  </a:schemeClr>
                </a:solidFill>
                <a:highlight>
                  <a:srgbClr val="FFFF00"/>
                </a:highlight>
                <a:latin typeface="+mn-ea"/>
              </a:rPr>
              <a:t>2Ⅰ)</a:t>
            </a:r>
            <a:r>
              <a:rPr lang="ko-KR" altLang="en-US" sz="1400" dirty="0">
                <a:solidFill>
                  <a:schemeClr val="accent3">
                    <a:lumMod val="50000"/>
                  </a:schemeClr>
                </a:solidFill>
                <a:highlight>
                  <a:srgbClr val="FFFF00"/>
                </a:highlight>
                <a:latin typeface="+mn-ea"/>
              </a:rPr>
              <a:t>이 제</a:t>
            </a:r>
            <a:r>
              <a:rPr lang="en-US" altLang="ko-KR" sz="1400" dirty="0">
                <a:solidFill>
                  <a:schemeClr val="accent3">
                    <a:lumMod val="50000"/>
                  </a:schemeClr>
                </a:solidFill>
                <a:highlight>
                  <a:srgbClr val="FFFF00"/>
                </a:highlight>
                <a:latin typeface="+mn-ea"/>
              </a:rPr>
              <a:t>62</a:t>
            </a:r>
            <a:r>
              <a:rPr lang="ko-KR" altLang="en-US" sz="1400" dirty="0">
                <a:solidFill>
                  <a:schemeClr val="accent3">
                    <a:lumMod val="50000"/>
                  </a:schemeClr>
                </a:solidFill>
                <a:highlight>
                  <a:srgbClr val="FFFF00"/>
                </a:highlight>
                <a:latin typeface="+mn-ea"/>
              </a:rPr>
              <a:t>조의 거절이유에 명시되지 있지 않기 때문에 우회적으로 제</a:t>
            </a:r>
            <a:r>
              <a:rPr lang="en-US" altLang="ko-KR" sz="1400" dirty="0">
                <a:solidFill>
                  <a:schemeClr val="accent3">
                    <a:lumMod val="50000"/>
                  </a:schemeClr>
                </a:solidFill>
                <a:highlight>
                  <a:srgbClr val="FFFF00"/>
                </a:highlight>
                <a:latin typeface="+mn-ea"/>
              </a:rPr>
              <a:t>29</a:t>
            </a:r>
            <a:r>
              <a:rPr lang="ko-KR" altLang="en-US" sz="1400" dirty="0">
                <a:solidFill>
                  <a:schemeClr val="accent3">
                    <a:lumMod val="50000"/>
                  </a:schemeClr>
                </a:solidFill>
                <a:highlight>
                  <a:srgbClr val="FFFF00"/>
                </a:highlight>
                <a:latin typeface="+mn-ea"/>
              </a:rPr>
              <a:t>조제</a:t>
            </a:r>
            <a:r>
              <a:rPr lang="en-US" altLang="ko-KR" sz="1400" dirty="0">
                <a:solidFill>
                  <a:schemeClr val="accent3">
                    <a:lumMod val="50000"/>
                  </a:schemeClr>
                </a:solidFill>
                <a:highlight>
                  <a:srgbClr val="FFFF00"/>
                </a:highlight>
                <a:latin typeface="+mn-ea"/>
              </a:rPr>
              <a:t>1</a:t>
            </a:r>
            <a:r>
              <a:rPr lang="ko-KR" altLang="en-US" sz="1400" dirty="0">
                <a:solidFill>
                  <a:schemeClr val="accent3">
                    <a:lumMod val="50000"/>
                  </a:schemeClr>
                </a:solidFill>
                <a:highlight>
                  <a:srgbClr val="FFFF00"/>
                </a:highlight>
                <a:latin typeface="+mn-ea"/>
              </a:rPr>
              <a:t>항 본문의 산업상 이용할 수 있는 발명 또는 제</a:t>
            </a:r>
            <a:r>
              <a:rPr lang="en-US" altLang="ko-KR" sz="1400" dirty="0">
                <a:solidFill>
                  <a:schemeClr val="accent3">
                    <a:lumMod val="50000"/>
                  </a:schemeClr>
                </a:solidFill>
                <a:highlight>
                  <a:srgbClr val="FFFF00"/>
                </a:highlight>
                <a:latin typeface="+mn-ea"/>
              </a:rPr>
              <a:t>42</a:t>
            </a:r>
            <a:r>
              <a:rPr lang="ko-KR" altLang="en-US" sz="1400" dirty="0">
                <a:solidFill>
                  <a:schemeClr val="accent3">
                    <a:lumMod val="50000"/>
                  </a:schemeClr>
                </a:solidFill>
                <a:highlight>
                  <a:srgbClr val="FFFF00"/>
                </a:highlight>
                <a:latin typeface="+mn-ea"/>
              </a:rPr>
              <a:t>조제</a:t>
            </a:r>
            <a:r>
              <a:rPr lang="en-US" altLang="ko-KR" sz="1400" dirty="0">
                <a:solidFill>
                  <a:schemeClr val="accent3">
                    <a:lumMod val="50000"/>
                  </a:schemeClr>
                </a:solidFill>
                <a:highlight>
                  <a:srgbClr val="FFFF00"/>
                </a:highlight>
                <a:latin typeface="+mn-ea"/>
              </a:rPr>
              <a:t>3</a:t>
            </a:r>
            <a:r>
              <a:rPr lang="ko-KR" altLang="en-US" sz="1400" dirty="0" err="1">
                <a:solidFill>
                  <a:schemeClr val="accent3">
                    <a:lumMod val="50000"/>
                  </a:schemeClr>
                </a:solidFill>
                <a:highlight>
                  <a:srgbClr val="FFFF00"/>
                </a:highlight>
                <a:latin typeface="+mn-ea"/>
              </a:rPr>
              <a:t>항제</a:t>
            </a:r>
            <a:r>
              <a:rPr lang="en-US" altLang="ko-KR" sz="1400" dirty="0">
                <a:solidFill>
                  <a:schemeClr val="accent3">
                    <a:lumMod val="50000"/>
                  </a:schemeClr>
                </a:solidFill>
                <a:highlight>
                  <a:srgbClr val="FFFF00"/>
                </a:highlight>
                <a:latin typeface="+mn-ea"/>
              </a:rPr>
              <a:t>1</a:t>
            </a:r>
            <a:r>
              <a:rPr lang="ko-KR" altLang="en-US" sz="1400" dirty="0">
                <a:solidFill>
                  <a:schemeClr val="accent3">
                    <a:lumMod val="50000"/>
                  </a:schemeClr>
                </a:solidFill>
                <a:highlight>
                  <a:srgbClr val="FFFF00"/>
                </a:highlight>
                <a:latin typeface="+mn-ea"/>
              </a:rPr>
              <a:t>호의 발명의 설명 기재의 위반</a:t>
            </a:r>
            <a:r>
              <a:rPr lang="ko-KR" altLang="en-US" sz="1400" dirty="0">
                <a:solidFill>
                  <a:schemeClr val="tx2"/>
                </a:solidFill>
                <a:latin typeface="+mn-ea"/>
              </a:rPr>
              <a:t>으로 특허거절결정하고 있다</a:t>
            </a:r>
            <a:r>
              <a:rPr lang="en-US" altLang="ko-KR" sz="1400" dirty="0">
                <a:solidFill>
                  <a:schemeClr val="tx2"/>
                </a:solidFill>
                <a:latin typeface="+mn-ea"/>
              </a:rPr>
              <a:t>. </a:t>
            </a:r>
          </a:p>
        </p:txBody>
      </p:sp>
      <p:cxnSp>
        <p:nvCxnSpPr>
          <p:cNvPr id="6" name="직선 연결선 5"/>
          <p:cNvCxnSpPr>
            <a:endCxn id="14" idx="2"/>
          </p:cNvCxnSpPr>
          <p:nvPr/>
        </p:nvCxnSpPr>
        <p:spPr>
          <a:xfrm flipV="1">
            <a:off x="2076450" y="3897067"/>
            <a:ext cx="7086600" cy="7620"/>
          </a:xfrm>
          <a:prstGeom prst="line">
            <a:avLst/>
          </a:prstGeom>
          <a:ln w="381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1364829" y="2155846"/>
            <a:ext cx="1392762" cy="285851"/>
          </a:xfrm>
          <a:prstGeom prst="rect">
            <a:avLst/>
          </a:prstGeom>
          <a:solidFill>
            <a:schemeClr val="accent1">
              <a:lumMod val="50000"/>
            </a:schemeClr>
          </a:solidFill>
          <a:ln>
            <a:solidFill>
              <a:schemeClr val="bg1">
                <a:lumMod val="50000"/>
              </a:schemeClr>
            </a:solidFill>
          </a:ln>
        </p:spPr>
        <p:txBody>
          <a:bodyPr wrap="none" rtlCol="0" anchor="ctr">
            <a:noAutofit/>
          </a:bodyPr>
          <a:lstStyle/>
          <a:p>
            <a:r>
              <a:rPr lang="ko-KR" altLang="en-US" sz="1400" b="0" dirty="0">
                <a:solidFill>
                  <a:schemeClr val="accent4"/>
                </a:solidFill>
                <a:latin typeface="+mn-ea"/>
              </a:rPr>
              <a:t>발명 미완성 정도</a:t>
            </a:r>
            <a:endParaRPr lang="en-US" altLang="ko-KR" sz="1400" b="0" dirty="0">
              <a:solidFill>
                <a:schemeClr val="accent4"/>
              </a:solidFill>
              <a:latin typeface="+mn-ea"/>
            </a:endParaRPr>
          </a:p>
        </p:txBody>
      </p:sp>
      <p:cxnSp>
        <p:nvCxnSpPr>
          <p:cNvPr id="12" name="직선 연결선 11"/>
          <p:cNvCxnSpPr>
            <a:endCxn id="59" idx="0"/>
          </p:cNvCxnSpPr>
          <p:nvPr/>
        </p:nvCxnSpPr>
        <p:spPr>
          <a:xfrm>
            <a:off x="5362575" y="2447362"/>
            <a:ext cx="0" cy="152233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직선 연결선 66"/>
          <p:cNvCxnSpPr>
            <a:endCxn id="77" idx="0"/>
          </p:cNvCxnSpPr>
          <p:nvPr/>
        </p:nvCxnSpPr>
        <p:spPr>
          <a:xfrm>
            <a:off x="7511415" y="2447362"/>
            <a:ext cx="0" cy="152233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1781574" y="3900877"/>
            <a:ext cx="298480" cy="338554"/>
          </a:xfrm>
          <a:prstGeom prst="rect">
            <a:avLst/>
          </a:prstGeom>
          <a:noFill/>
        </p:spPr>
        <p:txBody>
          <a:bodyPr wrap="none" rtlCol="0">
            <a:spAutoFit/>
          </a:bodyPr>
          <a:lstStyle/>
          <a:p>
            <a:r>
              <a:rPr lang="en-US" altLang="ko-KR" sz="1600" dirty="0"/>
              <a:t>0</a:t>
            </a:r>
            <a:endParaRPr lang="ko-KR" altLang="en-US" sz="1600" dirty="0"/>
          </a:p>
        </p:txBody>
      </p:sp>
      <p:sp>
        <p:nvSpPr>
          <p:cNvPr id="79" name="TextBox 78"/>
          <p:cNvSpPr txBox="1"/>
          <p:nvPr/>
        </p:nvSpPr>
        <p:spPr>
          <a:xfrm>
            <a:off x="6526237" y="3423207"/>
            <a:ext cx="2385589" cy="338554"/>
          </a:xfrm>
          <a:prstGeom prst="rect">
            <a:avLst/>
          </a:prstGeom>
          <a:noFill/>
        </p:spPr>
        <p:txBody>
          <a:bodyPr wrap="none" rtlCol="0">
            <a:spAutoFit/>
          </a:bodyPr>
          <a:lstStyle/>
          <a:p>
            <a:r>
              <a:rPr lang="ko-KR" altLang="en-US" sz="1600" dirty="0"/>
              <a:t>발명의 설명 기재요건 충족</a:t>
            </a:r>
          </a:p>
        </p:txBody>
      </p:sp>
      <p:sp>
        <p:nvSpPr>
          <p:cNvPr id="14" name="자유형 13"/>
          <p:cNvSpPr/>
          <p:nvPr/>
        </p:nvSpPr>
        <p:spPr>
          <a:xfrm>
            <a:off x="2053590" y="2921707"/>
            <a:ext cx="7109460" cy="975360"/>
          </a:xfrm>
          <a:custGeom>
            <a:avLst/>
            <a:gdLst>
              <a:gd name="connsiteX0" fmla="*/ 0 w 7109460"/>
              <a:gd name="connsiteY0" fmla="*/ 0 h 975360"/>
              <a:gd name="connsiteX1" fmla="*/ 3329940 w 7109460"/>
              <a:gd name="connsiteY1" fmla="*/ 975360 h 975360"/>
              <a:gd name="connsiteX2" fmla="*/ 7109460 w 7109460"/>
              <a:gd name="connsiteY2" fmla="*/ 975360 h 975360"/>
            </a:gdLst>
            <a:ahLst/>
            <a:cxnLst>
              <a:cxn ang="0">
                <a:pos x="connsiteX0" y="connsiteY0"/>
              </a:cxn>
              <a:cxn ang="0">
                <a:pos x="connsiteX1" y="connsiteY1"/>
              </a:cxn>
              <a:cxn ang="0">
                <a:pos x="connsiteX2" y="connsiteY2"/>
              </a:cxn>
            </a:cxnLst>
            <a:rect l="l" t="t" r="r" b="b"/>
            <a:pathLst>
              <a:path w="7109460" h="975360">
                <a:moveTo>
                  <a:pt x="0" y="0"/>
                </a:moveTo>
                <a:lnTo>
                  <a:pt x="3329940" y="975360"/>
                </a:lnTo>
                <a:lnTo>
                  <a:pt x="7109460" y="975360"/>
                </a:lnTo>
              </a:path>
            </a:pathLst>
          </a:custGeom>
          <a:ln w="57150">
            <a:solidFill>
              <a:srgbClr val="00B0F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59" name="Rectangle 14"/>
          <p:cNvSpPr>
            <a:spLocks noChangeArrowheads="1"/>
          </p:cNvSpPr>
          <p:nvPr/>
        </p:nvSpPr>
        <p:spPr bwMode="auto">
          <a:xfrm flipV="1">
            <a:off x="5291137" y="3816633"/>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7" name="Rectangle 14"/>
          <p:cNvSpPr>
            <a:spLocks noChangeArrowheads="1"/>
          </p:cNvSpPr>
          <p:nvPr/>
        </p:nvSpPr>
        <p:spPr bwMode="auto">
          <a:xfrm flipV="1">
            <a:off x="7439977" y="3816633"/>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1" name="TextBox 80"/>
          <p:cNvSpPr txBox="1"/>
          <p:nvPr/>
        </p:nvSpPr>
        <p:spPr>
          <a:xfrm>
            <a:off x="1312294" y="2752430"/>
            <a:ext cx="731290" cy="338554"/>
          </a:xfrm>
          <a:prstGeom prst="rect">
            <a:avLst/>
          </a:prstGeom>
          <a:noFill/>
        </p:spPr>
        <p:txBody>
          <a:bodyPr wrap="none" rtlCol="0">
            <a:spAutoFit/>
          </a:bodyPr>
          <a:lstStyle/>
          <a:p>
            <a:r>
              <a:rPr lang="en-US" altLang="ko-KR" sz="1600" dirty="0"/>
              <a:t>100%</a:t>
            </a:r>
            <a:endParaRPr lang="ko-KR" altLang="en-US" sz="1600" dirty="0"/>
          </a:p>
        </p:txBody>
      </p:sp>
      <p:cxnSp>
        <p:nvCxnSpPr>
          <p:cNvPr id="49" name="직선 연결선 48"/>
          <p:cNvCxnSpPr/>
          <p:nvPr/>
        </p:nvCxnSpPr>
        <p:spPr>
          <a:xfrm flipV="1">
            <a:off x="2064814" y="2523614"/>
            <a:ext cx="0" cy="1400123"/>
          </a:xfrm>
          <a:prstGeom prst="line">
            <a:avLst/>
          </a:prstGeom>
          <a:ln w="381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직사각형 27"/>
          <p:cNvSpPr/>
          <p:nvPr/>
        </p:nvSpPr>
        <p:spPr>
          <a:xfrm>
            <a:off x="9163050" y="3893164"/>
            <a:ext cx="818095" cy="4867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TextBox 47"/>
          <p:cNvSpPr txBox="1"/>
          <p:nvPr/>
        </p:nvSpPr>
        <p:spPr>
          <a:xfrm>
            <a:off x="9284764" y="3761761"/>
            <a:ext cx="1722542" cy="285851"/>
          </a:xfrm>
          <a:prstGeom prst="rect">
            <a:avLst/>
          </a:prstGeom>
          <a:solidFill>
            <a:schemeClr val="accent1">
              <a:lumMod val="50000"/>
            </a:schemeClr>
          </a:solidFill>
          <a:ln>
            <a:solidFill>
              <a:schemeClr val="bg1">
                <a:lumMod val="50000"/>
              </a:schemeClr>
            </a:solidFill>
          </a:ln>
        </p:spPr>
        <p:txBody>
          <a:bodyPr wrap="none" rtlCol="0" anchor="ctr">
            <a:noAutofit/>
          </a:bodyPr>
          <a:lstStyle/>
          <a:p>
            <a:r>
              <a:rPr lang="ko-KR" altLang="en-US" sz="1400" b="0">
                <a:solidFill>
                  <a:schemeClr val="accent4"/>
                </a:solidFill>
                <a:latin typeface="+mn-ea"/>
              </a:rPr>
              <a:t>발명의 설명 </a:t>
            </a:r>
            <a:r>
              <a:rPr lang="ko-KR" altLang="en-US" sz="1400" b="0" dirty="0">
                <a:solidFill>
                  <a:schemeClr val="accent4"/>
                </a:solidFill>
                <a:latin typeface="+mn-ea"/>
              </a:rPr>
              <a:t>기재 정도</a:t>
            </a:r>
            <a:endParaRPr lang="en-US" altLang="ko-KR" sz="1400" b="0" dirty="0">
              <a:solidFill>
                <a:schemeClr val="accent4"/>
              </a:solidFill>
              <a:latin typeface="+mn-ea"/>
            </a:endParaRPr>
          </a:p>
        </p:txBody>
      </p:sp>
      <p:sp>
        <p:nvSpPr>
          <p:cNvPr id="87" name="TextBox 86"/>
          <p:cNvSpPr txBox="1"/>
          <p:nvPr/>
        </p:nvSpPr>
        <p:spPr>
          <a:xfrm>
            <a:off x="3355669" y="4294646"/>
            <a:ext cx="896399" cy="338554"/>
          </a:xfrm>
          <a:prstGeom prst="rect">
            <a:avLst/>
          </a:prstGeom>
          <a:noFill/>
        </p:spPr>
        <p:txBody>
          <a:bodyPr wrap="none" rtlCol="0">
            <a:spAutoFit/>
          </a:bodyPr>
          <a:lstStyle/>
          <a:p>
            <a:r>
              <a:rPr lang="en-US" altLang="ko-KR" sz="1600" dirty="0"/>
              <a:t>(A) </a:t>
            </a:r>
            <a:r>
              <a:rPr lang="ko-KR" altLang="en-US" sz="1600" dirty="0"/>
              <a:t>영역</a:t>
            </a:r>
          </a:p>
        </p:txBody>
      </p:sp>
      <p:sp>
        <p:nvSpPr>
          <p:cNvPr id="88" name="TextBox 87"/>
          <p:cNvSpPr txBox="1"/>
          <p:nvPr/>
        </p:nvSpPr>
        <p:spPr>
          <a:xfrm>
            <a:off x="6080570" y="4294646"/>
            <a:ext cx="862737" cy="338554"/>
          </a:xfrm>
          <a:prstGeom prst="rect">
            <a:avLst/>
          </a:prstGeom>
          <a:noFill/>
        </p:spPr>
        <p:txBody>
          <a:bodyPr wrap="none" rtlCol="0">
            <a:spAutoFit/>
          </a:bodyPr>
          <a:lstStyle/>
          <a:p>
            <a:r>
              <a:rPr lang="en-US" altLang="ko-KR" sz="1600" dirty="0"/>
              <a:t>(E) </a:t>
            </a:r>
            <a:r>
              <a:rPr lang="ko-KR" altLang="en-US" sz="1600" dirty="0"/>
              <a:t>영역</a:t>
            </a:r>
          </a:p>
        </p:txBody>
      </p:sp>
      <p:sp>
        <p:nvSpPr>
          <p:cNvPr id="89" name="TextBox 88"/>
          <p:cNvSpPr txBox="1"/>
          <p:nvPr/>
        </p:nvSpPr>
        <p:spPr>
          <a:xfrm>
            <a:off x="7966520" y="4294646"/>
            <a:ext cx="896399" cy="338554"/>
          </a:xfrm>
          <a:prstGeom prst="rect">
            <a:avLst/>
          </a:prstGeom>
          <a:noFill/>
        </p:spPr>
        <p:txBody>
          <a:bodyPr wrap="none" rtlCol="0">
            <a:spAutoFit/>
          </a:bodyPr>
          <a:lstStyle/>
          <a:p>
            <a:r>
              <a:rPr lang="en-US" altLang="ko-KR" sz="1600" dirty="0"/>
              <a:t>(D) </a:t>
            </a:r>
            <a:r>
              <a:rPr lang="ko-KR" altLang="en-US" sz="1600" dirty="0"/>
              <a:t>영역</a:t>
            </a:r>
          </a:p>
        </p:txBody>
      </p:sp>
      <p:sp>
        <p:nvSpPr>
          <p:cNvPr id="91" name="TextBox 90"/>
          <p:cNvSpPr txBox="1"/>
          <p:nvPr/>
        </p:nvSpPr>
        <p:spPr>
          <a:xfrm>
            <a:off x="4887805" y="3423207"/>
            <a:ext cx="979755" cy="338554"/>
          </a:xfrm>
          <a:prstGeom prst="rect">
            <a:avLst/>
          </a:prstGeom>
          <a:noFill/>
        </p:spPr>
        <p:txBody>
          <a:bodyPr wrap="none" rtlCol="0">
            <a:spAutoFit/>
          </a:bodyPr>
          <a:lstStyle/>
          <a:p>
            <a:r>
              <a:rPr lang="ko-KR" altLang="en-US" sz="1600" dirty="0"/>
              <a:t>발명 완성</a:t>
            </a:r>
          </a:p>
        </p:txBody>
      </p:sp>
      <p:graphicFrame>
        <p:nvGraphicFramePr>
          <p:cNvPr id="30" name="표 29"/>
          <p:cNvGraphicFramePr>
            <a:graphicFrameLocks noGrp="1"/>
          </p:cNvGraphicFramePr>
          <p:nvPr/>
        </p:nvGraphicFramePr>
        <p:xfrm>
          <a:off x="935810" y="4832871"/>
          <a:ext cx="10191752" cy="1341120"/>
        </p:xfrm>
        <a:graphic>
          <a:graphicData uri="http://schemas.openxmlformats.org/drawingml/2006/table">
            <a:tbl>
              <a:tblPr>
                <a:tableStyleId>{8799B23B-EC83-4686-B30A-512413B5E67A}</a:tableStyleId>
              </a:tblPr>
              <a:tblGrid>
                <a:gridCol w="2547938">
                  <a:extLst>
                    <a:ext uri="{9D8B030D-6E8A-4147-A177-3AD203B41FA5}">
                      <a16:colId xmlns:a16="http://schemas.microsoft.com/office/drawing/2014/main" val="20000"/>
                    </a:ext>
                  </a:extLst>
                </a:gridCol>
                <a:gridCol w="2547938">
                  <a:extLst>
                    <a:ext uri="{9D8B030D-6E8A-4147-A177-3AD203B41FA5}">
                      <a16:colId xmlns:a16="http://schemas.microsoft.com/office/drawing/2014/main" val="20001"/>
                    </a:ext>
                  </a:extLst>
                </a:gridCol>
                <a:gridCol w="2547938">
                  <a:extLst>
                    <a:ext uri="{9D8B030D-6E8A-4147-A177-3AD203B41FA5}">
                      <a16:colId xmlns:a16="http://schemas.microsoft.com/office/drawing/2014/main" val="20002"/>
                    </a:ext>
                  </a:extLst>
                </a:gridCol>
                <a:gridCol w="2547938">
                  <a:extLst>
                    <a:ext uri="{9D8B030D-6E8A-4147-A177-3AD203B41FA5}">
                      <a16:colId xmlns:a16="http://schemas.microsoft.com/office/drawing/2014/main" val="20003"/>
                    </a:ext>
                  </a:extLst>
                </a:gridCol>
              </a:tblGrid>
              <a:tr h="0">
                <a:tc>
                  <a:txBody>
                    <a:bodyPr/>
                    <a:lstStyle/>
                    <a:p>
                      <a:pPr algn="ctr" latinLnBrk="1"/>
                      <a:endParaRPr lang="ko-KR" altLang="en-US" sz="1400" dirty="0"/>
                    </a:p>
                  </a:txBody>
                  <a:tcPr>
                    <a:solidFill>
                      <a:schemeClr val="accent1">
                        <a:lumMod val="20000"/>
                        <a:lumOff val="80000"/>
                      </a:schemeClr>
                    </a:solidFill>
                  </a:tcPr>
                </a:tc>
                <a:tc>
                  <a:txBody>
                    <a:bodyPr/>
                    <a:lstStyle/>
                    <a:p>
                      <a:pPr marL="342900" indent="-342900" algn="ctr" latinLnBrk="1">
                        <a:buAutoNum type="alphaUcParenBoth"/>
                      </a:pPr>
                      <a:r>
                        <a:rPr lang="ko-KR" altLang="en-US" sz="1400" baseline="0" dirty="0"/>
                        <a:t>영역</a:t>
                      </a:r>
                      <a:endParaRPr lang="ko-KR" altLang="en-US" sz="1400" dirty="0"/>
                    </a:p>
                  </a:txBody>
                  <a:tcPr>
                    <a:solidFill>
                      <a:schemeClr val="accent1">
                        <a:lumMod val="20000"/>
                        <a:lumOff val="80000"/>
                      </a:schemeClr>
                    </a:solidFill>
                  </a:tcPr>
                </a:tc>
                <a:tc>
                  <a:txBody>
                    <a:bodyPr/>
                    <a:lstStyle/>
                    <a:p>
                      <a:pPr algn="ctr" latinLnBrk="1"/>
                      <a:r>
                        <a:rPr lang="en-US" altLang="ko-KR" sz="1400" dirty="0"/>
                        <a:t>(E)</a:t>
                      </a:r>
                      <a:r>
                        <a:rPr lang="en-US" altLang="ko-KR" sz="1400" baseline="0" dirty="0"/>
                        <a:t> </a:t>
                      </a:r>
                      <a:r>
                        <a:rPr lang="ko-KR" altLang="en-US" sz="1400" baseline="0" dirty="0"/>
                        <a:t>영역</a:t>
                      </a:r>
                      <a:endParaRPr lang="ko-KR" altLang="en-US" sz="1400" dirty="0"/>
                    </a:p>
                  </a:txBody>
                  <a:tcPr>
                    <a:solidFill>
                      <a:schemeClr val="accent1">
                        <a:lumMod val="20000"/>
                        <a:lumOff val="80000"/>
                      </a:schemeClr>
                    </a:solidFill>
                  </a:tcPr>
                </a:tc>
                <a:tc>
                  <a:txBody>
                    <a:bodyPr/>
                    <a:lstStyle/>
                    <a:p>
                      <a:pPr algn="ctr" latinLnBrk="1"/>
                      <a:r>
                        <a:rPr lang="en-US" altLang="ko-KR" sz="1400" dirty="0"/>
                        <a:t>(D) </a:t>
                      </a:r>
                      <a:r>
                        <a:rPr lang="ko-KR" altLang="en-US" sz="1400" dirty="0"/>
                        <a:t>영역</a:t>
                      </a:r>
                    </a:p>
                  </a:txBody>
                  <a:tcPr>
                    <a:solidFill>
                      <a:schemeClr val="accent1">
                        <a:lumMod val="20000"/>
                        <a:lumOff val="80000"/>
                      </a:schemeClr>
                    </a:solidFill>
                  </a:tcPr>
                </a:tc>
                <a:extLst>
                  <a:ext uri="{0D108BD9-81ED-4DB2-BD59-A6C34878D82A}">
                    <a16:rowId xmlns:a16="http://schemas.microsoft.com/office/drawing/2014/main" val="10000"/>
                  </a:ext>
                </a:extLst>
              </a:tr>
              <a:tr h="0">
                <a:tc>
                  <a:txBody>
                    <a:bodyPr/>
                    <a:lstStyle/>
                    <a:p>
                      <a:pPr algn="ctr" latinLnBrk="1"/>
                      <a:r>
                        <a:rPr lang="ko-KR" altLang="en-US" sz="1400" dirty="0"/>
                        <a:t>발명의 </a:t>
                      </a:r>
                      <a:r>
                        <a:rPr lang="ko-KR" altLang="en-US" sz="1400" dirty="0" err="1"/>
                        <a:t>성립성</a:t>
                      </a:r>
                      <a:r>
                        <a:rPr lang="ko-KR" altLang="en-US" sz="1400" dirty="0"/>
                        <a:t> 위반</a:t>
                      </a:r>
                      <a:endParaRPr lang="en-US" altLang="ko-KR" sz="1400" dirty="0"/>
                    </a:p>
                    <a:p>
                      <a:pPr algn="ctr" latinLnBrk="1"/>
                      <a:r>
                        <a:rPr lang="en-US" altLang="ko-KR" sz="1400" dirty="0">
                          <a:solidFill>
                            <a:srgbClr val="FF0000"/>
                          </a:solidFill>
                        </a:rPr>
                        <a:t>(</a:t>
                      </a:r>
                      <a:r>
                        <a:rPr lang="ko-KR" altLang="en-US" sz="1400" dirty="0">
                          <a:solidFill>
                            <a:srgbClr val="FF0000"/>
                          </a:solidFill>
                        </a:rPr>
                        <a:t>제</a:t>
                      </a:r>
                      <a:r>
                        <a:rPr lang="en-US" altLang="ko-KR" sz="1400" dirty="0">
                          <a:solidFill>
                            <a:srgbClr val="FF0000"/>
                          </a:solidFill>
                        </a:rPr>
                        <a:t>29</a:t>
                      </a:r>
                      <a:r>
                        <a:rPr lang="ko-KR" altLang="en-US" sz="1400" dirty="0">
                          <a:solidFill>
                            <a:srgbClr val="FF0000"/>
                          </a:solidFill>
                        </a:rPr>
                        <a:t>조제</a:t>
                      </a:r>
                      <a:r>
                        <a:rPr lang="en-US" altLang="ko-KR" sz="1400" dirty="0">
                          <a:solidFill>
                            <a:srgbClr val="FF0000"/>
                          </a:solidFill>
                        </a:rPr>
                        <a:t>1</a:t>
                      </a:r>
                      <a:r>
                        <a:rPr lang="ko-KR" altLang="en-US" sz="1400" dirty="0" err="1">
                          <a:solidFill>
                            <a:srgbClr val="FF0000"/>
                          </a:solidFill>
                        </a:rPr>
                        <a:t>항본문</a:t>
                      </a:r>
                      <a:r>
                        <a:rPr lang="ko-KR" altLang="en-US" sz="1400" dirty="0">
                          <a:solidFill>
                            <a:srgbClr val="FF0000"/>
                          </a:solidFill>
                        </a:rPr>
                        <a:t> 위반</a:t>
                      </a:r>
                      <a:r>
                        <a:rPr lang="en-US" altLang="ko-KR" sz="1400" dirty="0">
                          <a:solidFill>
                            <a:srgbClr val="FF0000"/>
                          </a:solidFill>
                        </a:rPr>
                        <a:t>)</a:t>
                      </a:r>
                      <a:endParaRPr lang="ko-KR" altLang="en-US" sz="1400" dirty="0">
                        <a:solidFill>
                          <a:srgbClr val="FF0000"/>
                        </a:solidFill>
                      </a:endParaRP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tx1"/>
                          </a:solidFill>
                          <a:effectLst/>
                          <a:latin typeface="+mn-lt"/>
                          <a:ea typeface="+mn-ea"/>
                          <a:cs typeface="+mn-cs"/>
                        </a:rPr>
                        <a:t>○</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kern="1200" dirty="0">
                          <a:solidFill>
                            <a:schemeClr val="tx1"/>
                          </a:solidFill>
                          <a:effectLst/>
                          <a:latin typeface="+mn-lt"/>
                          <a:ea typeface="+mn-ea"/>
                          <a:cs typeface="+mn-cs"/>
                        </a:rPr>
                        <a:t>×</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kern="1200" dirty="0">
                          <a:solidFill>
                            <a:schemeClr val="tx1"/>
                          </a:solidFill>
                          <a:effectLst/>
                          <a:latin typeface="+mn-lt"/>
                          <a:ea typeface="+mn-ea"/>
                          <a:cs typeface="+mn-cs"/>
                        </a:rPr>
                        <a:t>×</a:t>
                      </a:r>
                    </a:p>
                  </a:txBody>
                  <a:tcPr anchor="ctr"/>
                </a:tc>
                <a:extLst>
                  <a:ext uri="{0D108BD9-81ED-4DB2-BD59-A6C34878D82A}">
                    <a16:rowId xmlns:a16="http://schemas.microsoft.com/office/drawing/2014/main" val="10001"/>
                  </a:ext>
                </a:extLst>
              </a:tr>
              <a:tr h="0">
                <a:tc>
                  <a:txBody>
                    <a:bodyPr/>
                    <a:lstStyle/>
                    <a:p>
                      <a:pPr algn="ctr" latinLnBrk="1"/>
                      <a:r>
                        <a:rPr lang="ko-KR" altLang="en-US" sz="1400" dirty="0"/>
                        <a:t>발명의 설명 </a:t>
                      </a:r>
                      <a:r>
                        <a:rPr lang="ko-KR" altLang="en-US" sz="1400" dirty="0" err="1"/>
                        <a:t>기재불비</a:t>
                      </a:r>
                      <a:endParaRPr lang="en-US" altLang="ko-KR" sz="1400" dirty="0"/>
                    </a:p>
                    <a:p>
                      <a:pPr algn="ctr" latinLnBrk="1"/>
                      <a:r>
                        <a:rPr lang="en-US" altLang="ko-KR" sz="1400" dirty="0"/>
                        <a:t>(</a:t>
                      </a:r>
                      <a:r>
                        <a:rPr lang="ko-KR" altLang="en-US" sz="1400" dirty="0"/>
                        <a:t>제</a:t>
                      </a:r>
                      <a:r>
                        <a:rPr lang="en-US" altLang="ko-KR" sz="1400" dirty="0"/>
                        <a:t>42</a:t>
                      </a:r>
                      <a:r>
                        <a:rPr lang="ko-KR" altLang="en-US" sz="1400" dirty="0"/>
                        <a:t>조제</a:t>
                      </a:r>
                      <a:r>
                        <a:rPr lang="en-US" altLang="ko-KR" sz="1400" dirty="0"/>
                        <a:t>3</a:t>
                      </a:r>
                      <a:r>
                        <a:rPr lang="ko-KR" altLang="en-US" sz="1400" dirty="0" err="1"/>
                        <a:t>항제</a:t>
                      </a:r>
                      <a:r>
                        <a:rPr lang="en-US" altLang="ko-KR" sz="1400" dirty="0"/>
                        <a:t>1</a:t>
                      </a:r>
                      <a:r>
                        <a:rPr lang="ko-KR" altLang="en-US" sz="1400" dirty="0"/>
                        <a:t>호 위반</a:t>
                      </a:r>
                      <a:r>
                        <a:rPr lang="en-US" altLang="ko-KR" sz="1400" dirty="0"/>
                        <a:t>)</a:t>
                      </a:r>
                      <a:endParaRPr lang="ko-KR" altLang="en-US" sz="14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tx1"/>
                          </a:solidFill>
                          <a:effectLst/>
                          <a:latin typeface="+mn-lt"/>
                          <a:ea typeface="+mn-ea"/>
                          <a:cs typeface="+mn-cs"/>
                        </a:rPr>
                        <a:t>○</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kern="1200" dirty="0">
                          <a:solidFill>
                            <a:schemeClr val="tx1"/>
                          </a:solidFill>
                          <a:effectLst/>
                          <a:latin typeface="+mn-lt"/>
                          <a:ea typeface="+mn-ea"/>
                          <a:cs typeface="+mn-cs"/>
                        </a:rPr>
                        <a:t>○</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kern="1200" dirty="0">
                          <a:solidFill>
                            <a:schemeClr val="tx1"/>
                          </a:solidFill>
                          <a:effectLst/>
                          <a:latin typeface="+mn-lt"/>
                          <a:ea typeface="+mn-ea"/>
                          <a:cs typeface="+mn-cs"/>
                        </a:rPr>
                        <a:t>×</a:t>
                      </a:r>
                    </a:p>
                  </a:txBody>
                  <a:tcPr anchor="ctr"/>
                </a:tc>
                <a:extLst>
                  <a:ext uri="{0D108BD9-81ED-4DB2-BD59-A6C34878D82A}">
                    <a16:rowId xmlns:a16="http://schemas.microsoft.com/office/drawing/2014/main" val="10002"/>
                  </a:ext>
                </a:extLst>
              </a:tr>
            </a:tbl>
          </a:graphicData>
        </a:graphic>
      </p:graphicFrame>
      <p:cxnSp>
        <p:nvCxnSpPr>
          <p:cNvPr id="35" name="직선 연결선 34"/>
          <p:cNvCxnSpPr/>
          <p:nvPr/>
        </p:nvCxnSpPr>
        <p:spPr>
          <a:xfrm>
            <a:off x="4764860" y="5484805"/>
            <a:ext cx="0" cy="333375"/>
          </a:xfrm>
          <a:prstGeom prst="line">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2" name="직선 연결선 91"/>
          <p:cNvCxnSpPr/>
          <p:nvPr/>
        </p:nvCxnSpPr>
        <p:spPr>
          <a:xfrm flipV="1">
            <a:off x="7288985" y="5484805"/>
            <a:ext cx="0" cy="333375"/>
          </a:xfrm>
          <a:prstGeom prst="line">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직사각형 92"/>
          <p:cNvSpPr/>
          <p:nvPr/>
        </p:nvSpPr>
        <p:spPr>
          <a:xfrm>
            <a:off x="4809306" y="5448848"/>
            <a:ext cx="415498" cy="369332"/>
          </a:xfrm>
          <a:prstGeom prst="rect">
            <a:avLst/>
          </a:prstGeom>
        </p:spPr>
        <p:txBody>
          <a:bodyPr wrap="none">
            <a:spAutoFit/>
          </a:bodyPr>
          <a:lstStyle/>
          <a:p>
            <a:pPr fontAlgn="base"/>
            <a:r>
              <a:rPr lang="ko-KR" altLang="en-US" dirty="0">
                <a:solidFill>
                  <a:srgbClr val="FF0000"/>
                </a:solidFill>
              </a:rPr>
              <a:t>❶</a:t>
            </a:r>
          </a:p>
        </p:txBody>
      </p:sp>
      <p:sp>
        <p:nvSpPr>
          <p:cNvPr id="95" name="직사각형 94"/>
          <p:cNvSpPr/>
          <p:nvPr/>
        </p:nvSpPr>
        <p:spPr>
          <a:xfrm>
            <a:off x="7356612" y="5484805"/>
            <a:ext cx="415498" cy="369332"/>
          </a:xfrm>
          <a:prstGeom prst="rect">
            <a:avLst/>
          </a:prstGeom>
        </p:spPr>
        <p:txBody>
          <a:bodyPr wrap="none">
            <a:spAutoFit/>
          </a:bodyPr>
          <a:lstStyle/>
          <a:p>
            <a:pPr fontAlgn="base"/>
            <a:r>
              <a:rPr lang="ko-KR" altLang="en-US" dirty="0">
                <a:solidFill>
                  <a:srgbClr val="FF0000"/>
                </a:solidFill>
              </a:rPr>
              <a:t>❷</a:t>
            </a:r>
          </a:p>
        </p:txBody>
      </p:sp>
      <p:sp>
        <p:nvSpPr>
          <p:cNvPr id="7" name="직사각형 6">
            <a:extLst>
              <a:ext uri="{FF2B5EF4-FFF2-40B4-BE49-F238E27FC236}">
                <a16:creationId xmlns:a16="http://schemas.microsoft.com/office/drawing/2014/main" id="{5D1FC297-83B2-4C78-96A7-E3E6A1576525}"/>
              </a:ext>
            </a:extLst>
          </p:cNvPr>
          <p:cNvSpPr/>
          <p:nvPr/>
        </p:nvSpPr>
        <p:spPr>
          <a:xfrm>
            <a:off x="4401446" y="2357282"/>
            <a:ext cx="1944862" cy="509554"/>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기술적 효과의 달성 가능성을 예상할 수 있을 정도까지 기재</a:t>
            </a:r>
          </a:p>
        </p:txBody>
      </p:sp>
      <p:sp>
        <p:nvSpPr>
          <p:cNvPr id="36" name="직사각형 35">
            <a:extLst>
              <a:ext uri="{FF2B5EF4-FFF2-40B4-BE49-F238E27FC236}">
                <a16:creationId xmlns:a16="http://schemas.microsoft.com/office/drawing/2014/main" id="{D80C7D09-6BE8-4DA1-A5B4-08A54C1FF0A4}"/>
              </a:ext>
            </a:extLst>
          </p:cNvPr>
          <p:cNvSpPr/>
          <p:nvPr/>
        </p:nvSpPr>
        <p:spPr>
          <a:xfrm>
            <a:off x="6533400" y="2357282"/>
            <a:ext cx="2503023" cy="509554"/>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기술적 효과를 얻을 수 </a:t>
            </a:r>
            <a:endParaRPr lang="en-US" altLang="ko-KR" sz="1100" dirty="0">
              <a:solidFill>
                <a:schemeClr val="tx1"/>
              </a:solidFill>
            </a:endParaRPr>
          </a:p>
          <a:p>
            <a:pPr algn="ctr"/>
            <a:r>
              <a:rPr lang="ko-KR" altLang="en-US" sz="1100" dirty="0">
                <a:solidFill>
                  <a:schemeClr val="tx1"/>
                </a:solidFill>
              </a:rPr>
              <a:t>있을 정도까지 기재</a:t>
            </a:r>
            <a:r>
              <a:rPr lang="en-US" altLang="ko-KR" sz="1100" dirty="0">
                <a:solidFill>
                  <a:srgbClr val="FF0000"/>
                </a:solidFill>
              </a:rPr>
              <a:t>(</a:t>
            </a:r>
            <a:r>
              <a:rPr lang="ko-KR" altLang="en-US" sz="1100" dirty="0">
                <a:solidFill>
                  <a:srgbClr val="FF0000"/>
                </a:solidFill>
              </a:rPr>
              <a:t>실질적 </a:t>
            </a:r>
            <a:r>
              <a:rPr lang="ko-KR" altLang="en-US" sz="1100" dirty="0" err="1">
                <a:solidFill>
                  <a:srgbClr val="FF0000"/>
                </a:solidFill>
              </a:rPr>
              <a:t>재현설</a:t>
            </a:r>
            <a:r>
              <a:rPr lang="en-US" altLang="ko-KR" sz="1100" dirty="0">
                <a:solidFill>
                  <a:srgbClr val="FF0000"/>
                </a:solidFill>
              </a:rPr>
              <a:t>)</a:t>
            </a:r>
          </a:p>
        </p:txBody>
      </p:sp>
      <p:sp>
        <p:nvSpPr>
          <p:cNvPr id="5" name="직사각형 4">
            <a:extLst>
              <a:ext uri="{FF2B5EF4-FFF2-40B4-BE49-F238E27FC236}">
                <a16:creationId xmlns:a16="http://schemas.microsoft.com/office/drawing/2014/main" id="{F9BAEF8D-CFA1-30B6-7058-773FE4BDCF22}"/>
              </a:ext>
            </a:extLst>
          </p:cNvPr>
          <p:cNvSpPr/>
          <p:nvPr/>
        </p:nvSpPr>
        <p:spPr>
          <a:xfrm>
            <a:off x="896796" y="6157798"/>
            <a:ext cx="415498" cy="369332"/>
          </a:xfrm>
          <a:prstGeom prst="rect">
            <a:avLst/>
          </a:prstGeom>
        </p:spPr>
        <p:txBody>
          <a:bodyPr wrap="none">
            <a:spAutoFit/>
          </a:bodyPr>
          <a:lstStyle/>
          <a:p>
            <a:pPr fontAlgn="base"/>
            <a:r>
              <a:rPr lang="ko-KR" altLang="en-US" dirty="0">
                <a:solidFill>
                  <a:srgbClr val="FF0000"/>
                </a:solidFill>
              </a:rPr>
              <a:t>❶</a:t>
            </a:r>
          </a:p>
        </p:txBody>
      </p:sp>
      <p:sp>
        <p:nvSpPr>
          <p:cNvPr id="8" name="TextBox 7">
            <a:extLst>
              <a:ext uri="{FF2B5EF4-FFF2-40B4-BE49-F238E27FC236}">
                <a16:creationId xmlns:a16="http://schemas.microsoft.com/office/drawing/2014/main" id="{8473AC0C-F86A-2EFD-903F-675E095CBAF9}"/>
              </a:ext>
            </a:extLst>
          </p:cNvPr>
          <p:cNvSpPr txBox="1"/>
          <p:nvPr/>
        </p:nvSpPr>
        <p:spPr>
          <a:xfrm>
            <a:off x="1224674" y="6200664"/>
            <a:ext cx="3347391" cy="307777"/>
          </a:xfrm>
          <a:prstGeom prst="rect">
            <a:avLst/>
          </a:prstGeom>
          <a:noFill/>
        </p:spPr>
        <p:txBody>
          <a:bodyPr wrap="none" rtlCol="0">
            <a:spAutoFit/>
          </a:bodyPr>
          <a:lstStyle/>
          <a:p>
            <a:r>
              <a:rPr lang="ko-KR" altLang="en-US" sz="1400" dirty="0"/>
              <a:t>발명의 </a:t>
            </a:r>
            <a:r>
              <a:rPr lang="ko-KR" altLang="en-US" sz="1400" dirty="0" err="1"/>
              <a:t>성립성</a:t>
            </a:r>
            <a:r>
              <a:rPr lang="ko-KR" altLang="en-US" sz="1400" dirty="0"/>
              <a:t> 위반은 </a:t>
            </a:r>
            <a:r>
              <a:rPr lang="ko-KR" altLang="en-US" sz="1400" dirty="0" err="1"/>
              <a:t>기재불비이기도</a:t>
            </a:r>
            <a:r>
              <a:rPr lang="ko-KR" altLang="en-US" sz="1400" dirty="0"/>
              <a:t> 하다</a:t>
            </a:r>
            <a:r>
              <a:rPr lang="en-US" altLang="ko-KR" sz="1400" dirty="0"/>
              <a:t>.</a:t>
            </a:r>
            <a:endParaRPr lang="ko-KR" altLang="en-US" sz="1400" dirty="0"/>
          </a:p>
        </p:txBody>
      </p:sp>
      <p:sp>
        <p:nvSpPr>
          <p:cNvPr id="10" name="TextBox 9">
            <a:extLst>
              <a:ext uri="{FF2B5EF4-FFF2-40B4-BE49-F238E27FC236}">
                <a16:creationId xmlns:a16="http://schemas.microsoft.com/office/drawing/2014/main" id="{80B2788A-5EA8-2020-E919-2F3D2B889F99}"/>
              </a:ext>
            </a:extLst>
          </p:cNvPr>
          <p:cNvSpPr txBox="1"/>
          <p:nvPr/>
        </p:nvSpPr>
        <p:spPr>
          <a:xfrm>
            <a:off x="1224674" y="6514596"/>
            <a:ext cx="4355680" cy="307777"/>
          </a:xfrm>
          <a:prstGeom prst="rect">
            <a:avLst/>
          </a:prstGeom>
          <a:noFill/>
        </p:spPr>
        <p:txBody>
          <a:bodyPr wrap="none" rtlCol="0">
            <a:spAutoFit/>
          </a:bodyPr>
          <a:lstStyle/>
          <a:p>
            <a:r>
              <a:rPr lang="ko-KR" altLang="en-US" sz="1400" dirty="0" err="1"/>
              <a:t>기재불비라고</a:t>
            </a:r>
            <a:r>
              <a:rPr lang="ko-KR" altLang="en-US" sz="1400" dirty="0"/>
              <a:t> 하여</a:t>
            </a:r>
            <a:r>
              <a:rPr lang="en-US" altLang="ko-KR" sz="1400" dirty="0"/>
              <a:t>, </a:t>
            </a:r>
            <a:r>
              <a:rPr lang="ko-KR" altLang="en-US" sz="1400" dirty="0"/>
              <a:t>반드시 발명의 </a:t>
            </a:r>
            <a:r>
              <a:rPr lang="ko-KR" altLang="en-US" sz="1400" dirty="0" err="1"/>
              <a:t>성립성</a:t>
            </a:r>
            <a:r>
              <a:rPr lang="ko-KR" altLang="en-US" sz="1400" dirty="0"/>
              <a:t> 위반은 아니다</a:t>
            </a:r>
            <a:r>
              <a:rPr lang="en-US" altLang="ko-KR" sz="1400" dirty="0"/>
              <a:t>. </a:t>
            </a:r>
            <a:endParaRPr lang="ko-KR" altLang="en-US" sz="1400" dirty="0"/>
          </a:p>
        </p:txBody>
      </p:sp>
      <p:sp>
        <p:nvSpPr>
          <p:cNvPr id="11" name="직사각형 10">
            <a:extLst>
              <a:ext uri="{FF2B5EF4-FFF2-40B4-BE49-F238E27FC236}">
                <a16:creationId xmlns:a16="http://schemas.microsoft.com/office/drawing/2014/main" id="{FF16AB7F-96EE-5206-083E-82C3A4586453}"/>
              </a:ext>
            </a:extLst>
          </p:cNvPr>
          <p:cNvSpPr/>
          <p:nvPr/>
        </p:nvSpPr>
        <p:spPr>
          <a:xfrm>
            <a:off x="894274" y="6476717"/>
            <a:ext cx="415498" cy="369332"/>
          </a:xfrm>
          <a:prstGeom prst="rect">
            <a:avLst/>
          </a:prstGeom>
        </p:spPr>
        <p:txBody>
          <a:bodyPr wrap="none">
            <a:spAutoFit/>
          </a:bodyPr>
          <a:lstStyle/>
          <a:p>
            <a:pPr fontAlgn="base"/>
            <a:r>
              <a:rPr lang="ko-KR" altLang="en-US" dirty="0">
                <a:solidFill>
                  <a:srgbClr val="FF0000"/>
                </a:solidFill>
              </a:rPr>
              <a:t>❷</a:t>
            </a:r>
          </a:p>
        </p:txBody>
      </p:sp>
      <p:sp>
        <p:nvSpPr>
          <p:cNvPr id="9" name="TextBox 8">
            <a:extLst>
              <a:ext uri="{FF2B5EF4-FFF2-40B4-BE49-F238E27FC236}">
                <a16:creationId xmlns:a16="http://schemas.microsoft.com/office/drawing/2014/main" id="{7ED86400-2D6D-10CC-342F-8FEA7DA558C1}"/>
              </a:ext>
            </a:extLst>
          </p:cNvPr>
          <p:cNvSpPr txBox="1"/>
          <p:nvPr/>
        </p:nvSpPr>
        <p:spPr>
          <a:xfrm>
            <a:off x="6096000" y="6265520"/>
            <a:ext cx="4256293" cy="523220"/>
          </a:xfrm>
          <a:prstGeom prst="rect">
            <a:avLst/>
          </a:prstGeom>
          <a:noFill/>
          <a:ln w="28575">
            <a:solidFill>
              <a:srgbClr val="FF0000"/>
            </a:solidFill>
          </a:ln>
        </p:spPr>
        <p:txBody>
          <a:bodyPr wrap="none" rtlCol="0">
            <a:spAutoFit/>
          </a:bodyPr>
          <a:lstStyle/>
          <a:p>
            <a:r>
              <a:rPr lang="ko-KR" altLang="en-US" sz="1400" dirty="0">
                <a:solidFill>
                  <a:srgbClr val="FF0000"/>
                </a:solidFill>
              </a:rPr>
              <a:t>거절이유에 따라 </a:t>
            </a:r>
            <a:r>
              <a:rPr lang="ko-KR" altLang="en-US" sz="1400" dirty="0" err="1">
                <a:solidFill>
                  <a:srgbClr val="FF0000"/>
                </a:solidFill>
              </a:rPr>
              <a:t>확선</a:t>
            </a:r>
            <a:r>
              <a:rPr lang="ko-KR" altLang="en-US" sz="1400" dirty="0">
                <a:solidFill>
                  <a:srgbClr val="FF0000"/>
                </a:solidFill>
              </a:rPr>
              <a:t> 위반 여부가 달라져서 구분해야 함</a:t>
            </a:r>
            <a:endParaRPr lang="en-US" altLang="ko-KR" sz="1400" dirty="0">
              <a:solidFill>
                <a:srgbClr val="FF0000"/>
              </a:solidFill>
            </a:endParaRPr>
          </a:p>
          <a:p>
            <a:r>
              <a:rPr lang="en-US" altLang="ko-KR" sz="1400" dirty="0">
                <a:solidFill>
                  <a:srgbClr val="FF0000"/>
                </a:solidFill>
              </a:rPr>
              <a:t>(</a:t>
            </a:r>
            <a:r>
              <a:rPr lang="ko-KR" altLang="en-US" sz="1400" dirty="0">
                <a:solidFill>
                  <a:srgbClr val="FF0000"/>
                </a:solidFill>
              </a:rPr>
              <a:t>발명의 </a:t>
            </a:r>
            <a:r>
              <a:rPr lang="ko-KR" altLang="en-US" sz="1400" dirty="0" err="1">
                <a:solidFill>
                  <a:srgbClr val="FF0000"/>
                </a:solidFill>
              </a:rPr>
              <a:t>성립성</a:t>
            </a:r>
            <a:r>
              <a:rPr lang="ko-KR" altLang="en-US" sz="1400" dirty="0">
                <a:solidFill>
                  <a:srgbClr val="FF0000"/>
                </a:solidFill>
              </a:rPr>
              <a:t> 위반이 타당</a:t>
            </a:r>
            <a:r>
              <a:rPr lang="en-US" altLang="ko-KR" sz="1400" dirty="0">
                <a:solidFill>
                  <a:srgbClr val="FF0000"/>
                </a:solidFill>
              </a:rPr>
              <a:t>)</a:t>
            </a:r>
            <a:endParaRPr lang="ko-KR" altLang="en-US" sz="1400" dirty="0">
              <a:solidFill>
                <a:srgbClr val="FF0000"/>
              </a:solidFill>
            </a:endParaRPr>
          </a:p>
        </p:txBody>
      </p:sp>
      <p:cxnSp>
        <p:nvCxnSpPr>
          <p:cNvPr id="16" name="연결선: 꺾임 15">
            <a:extLst>
              <a:ext uri="{FF2B5EF4-FFF2-40B4-BE49-F238E27FC236}">
                <a16:creationId xmlns:a16="http://schemas.microsoft.com/office/drawing/2014/main" id="{7B7FBC4F-A9D1-8DB2-8CD3-B22F73D2CFDE}"/>
              </a:ext>
            </a:extLst>
          </p:cNvPr>
          <p:cNvCxnSpPr>
            <a:stCxn id="9" idx="1"/>
            <a:endCxn id="8" idx="3"/>
          </p:cNvCxnSpPr>
          <p:nvPr/>
        </p:nvCxnSpPr>
        <p:spPr>
          <a:xfrm rot="10800000">
            <a:off x="4572066" y="6354554"/>
            <a:ext cx="1523935" cy="172577"/>
          </a:xfrm>
          <a:prstGeom prst="bentConnector3">
            <a:avLst/>
          </a:prstGeom>
          <a:ln w="28575">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6872671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lstStyle/>
          <a:p>
            <a:r>
              <a:rPr lang="ko-KR" altLang="en-US" dirty="0"/>
              <a:t>거절결정등본을 </a:t>
            </a:r>
            <a:r>
              <a:rPr lang="ko-KR" altLang="en-US" dirty="0" err="1"/>
              <a:t>송달받은</a:t>
            </a:r>
            <a:r>
              <a:rPr lang="ko-KR" altLang="en-US" dirty="0"/>
              <a:t> 출원인의 대응방안</a:t>
            </a:r>
          </a:p>
        </p:txBody>
      </p:sp>
      <p:sp>
        <p:nvSpPr>
          <p:cNvPr id="32" name="순서도: 판단 31"/>
          <p:cNvSpPr/>
          <p:nvPr/>
        </p:nvSpPr>
        <p:spPr bwMode="auto">
          <a:xfrm>
            <a:off x="2702261" y="2459750"/>
            <a:ext cx="1920213" cy="760764"/>
          </a:xfrm>
          <a:prstGeom prst="flowChartDecision">
            <a:avLst/>
          </a:prstGeom>
          <a:solidFill>
            <a:schemeClr val="accent1">
              <a:lumMod val="20000"/>
              <a:lumOff val="80000"/>
            </a:schemeClr>
          </a:solidFill>
          <a:ln>
            <a:solidFill>
              <a:schemeClr val="bg1">
                <a:lumMod val="50000"/>
              </a:schemeClr>
            </a:solidFill>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0" tIns="46800" rIns="0" bIns="4680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ko-KR" altLang="en-US" sz="1400" b="0" i="0" u="none" strike="noStrike" cap="none" normalizeH="0" baseline="0" dirty="0">
                <a:ln>
                  <a:noFill/>
                </a:ln>
                <a:solidFill>
                  <a:schemeClr val="tx2"/>
                </a:solidFill>
                <a:effectLst/>
                <a:latin typeface="+mn-ea"/>
              </a:rPr>
              <a:t>거절이유의 </a:t>
            </a:r>
            <a:endParaRPr kumimoji="1" lang="en-US" altLang="ko-KR" sz="1400" b="0" i="0" u="none" strike="noStrike" cap="none" normalizeH="0" baseline="0" dirty="0">
              <a:ln>
                <a:noFill/>
              </a:ln>
              <a:solidFill>
                <a:schemeClr val="tx2"/>
              </a:solidFill>
              <a:effectLst/>
              <a:latin typeface="+mn-ea"/>
            </a:endParaRPr>
          </a:p>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ko-KR" altLang="en-US" sz="1400" b="0" i="0" u="none" strike="noStrike" cap="none" normalizeH="0" baseline="0" dirty="0">
                <a:ln>
                  <a:noFill/>
                </a:ln>
                <a:solidFill>
                  <a:schemeClr val="tx2"/>
                </a:solidFill>
                <a:effectLst/>
                <a:latin typeface="+mn-ea"/>
              </a:rPr>
              <a:t>타당성</a:t>
            </a:r>
          </a:p>
        </p:txBody>
      </p:sp>
      <p:sp>
        <p:nvSpPr>
          <p:cNvPr id="33" name="순서도: 판단 32"/>
          <p:cNvSpPr/>
          <p:nvPr/>
        </p:nvSpPr>
        <p:spPr bwMode="auto">
          <a:xfrm>
            <a:off x="2702261" y="3636026"/>
            <a:ext cx="1920213" cy="760764"/>
          </a:xfrm>
          <a:prstGeom prst="flowChartDecision">
            <a:avLst/>
          </a:prstGeom>
          <a:solidFill>
            <a:schemeClr val="accent4">
              <a:lumMod val="20000"/>
              <a:lumOff val="80000"/>
            </a:schemeClr>
          </a:solidFill>
          <a:ln>
            <a:solidFill>
              <a:schemeClr val="bg1">
                <a:lumMod val="50000"/>
              </a:schemeClr>
            </a:solidFill>
            <a:headEnd type="none" w="med" len="med"/>
            <a:tailEnd type="none" w="med" len="med"/>
          </a:ln>
        </p:spPr>
        <p:style>
          <a:lnRef idx="2">
            <a:schemeClr val="accent6">
              <a:shade val="50000"/>
            </a:schemeClr>
          </a:lnRef>
          <a:fillRef idx="1">
            <a:schemeClr val="accent6"/>
          </a:fillRef>
          <a:effectRef idx="0">
            <a:schemeClr val="accent6"/>
          </a:effectRef>
          <a:fontRef idx="minor">
            <a:schemeClr val="lt1"/>
          </a:fontRef>
        </p:style>
        <p:txBody>
          <a:bodyPr vert="horz" wrap="square" lIns="0" tIns="46800" rIns="0" bIns="4680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ko-KR" altLang="en-US" sz="1400" b="0" i="0" u="none" strike="noStrike" cap="none" normalizeH="0" baseline="0" dirty="0">
                <a:ln>
                  <a:noFill/>
                </a:ln>
                <a:solidFill>
                  <a:schemeClr val="tx2"/>
                </a:solidFill>
                <a:effectLst/>
                <a:latin typeface="+mn-ea"/>
              </a:rPr>
              <a:t>극복가능성</a:t>
            </a:r>
          </a:p>
        </p:txBody>
      </p:sp>
      <p:cxnSp>
        <p:nvCxnSpPr>
          <p:cNvPr id="34" name="직선 화살표 연결선 33"/>
          <p:cNvCxnSpPr>
            <a:stCxn id="32" idx="2"/>
            <a:endCxn id="33" idx="0"/>
          </p:cNvCxnSpPr>
          <p:nvPr/>
        </p:nvCxnSpPr>
        <p:spPr bwMode="auto">
          <a:xfrm>
            <a:off x="3662368" y="3220514"/>
            <a:ext cx="0" cy="415512"/>
          </a:xfrm>
          <a:prstGeom prst="straightConnector1">
            <a:avLst/>
          </a:prstGeom>
          <a:ln w="28575">
            <a:solidFill>
              <a:schemeClr val="bg1">
                <a:lumMod val="50000"/>
              </a:schemeClr>
            </a:solidFill>
            <a:headEnd type="none" w="med" len="med"/>
            <a:tailEnd type="triangle" w="med" len="med"/>
          </a:ln>
        </p:spPr>
        <p:style>
          <a:lnRef idx="1">
            <a:schemeClr val="dk1"/>
          </a:lnRef>
          <a:fillRef idx="0">
            <a:schemeClr val="dk1"/>
          </a:fillRef>
          <a:effectRef idx="0">
            <a:schemeClr val="dk1"/>
          </a:effectRef>
          <a:fontRef idx="minor">
            <a:schemeClr val="tx1"/>
          </a:fontRef>
        </p:style>
      </p:cxnSp>
      <p:cxnSp>
        <p:nvCxnSpPr>
          <p:cNvPr id="37" name="직선 화살표 연결선 36"/>
          <p:cNvCxnSpPr>
            <a:stCxn id="32" idx="3"/>
          </p:cNvCxnSpPr>
          <p:nvPr/>
        </p:nvCxnSpPr>
        <p:spPr bwMode="auto">
          <a:xfrm>
            <a:off x="4622474" y="2840132"/>
            <a:ext cx="749626" cy="0"/>
          </a:xfrm>
          <a:prstGeom prst="straightConnector1">
            <a:avLst/>
          </a:prstGeom>
          <a:ln w="28575">
            <a:solidFill>
              <a:schemeClr val="bg1">
                <a:lumMod val="50000"/>
              </a:schemeClr>
            </a:solidFill>
            <a:headEnd type="none" w="med" len="med"/>
            <a:tailEnd type="triangle" w="med" len="med"/>
          </a:ln>
        </p:spPr>
        <p:style>
          <a:lnRef idx="1">
            <a:schemeClr val="dk1"/>
          </a:lnRef>
          <a:fillRef idx="0">
            <a:schemeClr val="dk1"/>
          </a:fillRef>
          <a:effectRef idx="0">
            <a:schemeClr val="dk1"/>
          </a:effectRef>
          <a:fontRef idx="minor">
            <a:schemeClr val="tx1"/>
          </a:fontRef>
        </p:style>
      </p:cxnSp>
      <p:cxnSp>
        <p:nvCxnSpPr>
          <p:cNvPr id="38" name="직선 화살표 연결선 37"/>
          <p:cNvCxnSpPr/>
          <p:nvPr/>
        </p:nvCxnSpPr>
        <p:spPr bwMode="auto">
          <a:xfrm flipV="1">
            <a:off x="4622474" y="4025197"/>
            <a:ext cx="749626" cy="1"/>
          </a:xfrm>
          <a:prstGeom prst="straightConnector1">
            <a:avLst/>
          </a:prstGeom>
          <a:ln w="28575">
            <a:solidFill>
              <a:schemeClr val="bg1">
                <a:lumMod val="50000"/>
              </a:schemeClr>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39" name="TextBox 38"/>
          <p:cNvSpPr txBox="1"/>
          <p:nvPr/>
        </p:nvSpPr>
        <p:spPr>
          <a:xfrm>
            <a:off x="3758033" y="3185067"/>
            <a:ext cx="423899" cy="276999"/>
          </a:xfrm>
          <a:prstGeom prst="rect">
            <a:avLst/>
          </a:prstGeom>
          <a:noFill/>
          <a:ln>
            <a:noFill/>
          </a:ln>
        </p:spPr>
        <p:txBody>
          <a:bodyPr wrap="none" rtlCol="0">
            <a:spAutoFit/>
          </a:bodyPr>
          <a:lstStyle/>
          <a:p>
            <a:pPr algn="ctr"/>
            <a:r>
              <a:rPr lang="en-US" altLang="ko-KR" sz="1200" b="0" dirty="0">
                <a:solidFill>
                  <a:schemeClr val="tx1"/>
                </a:solidFill>
                <a:latin typeface="+mn-ea"/>
              </a:rPr>
              <a:t>Yes</a:t>
            </a:r>
            <a:endParaRPr lang="ko-KR" altLang="en-US" sz="1200" b="0" dirty="0">
              <a:solidFill>
                <a:schemeClr val="tx1"/>
              </a:solidFill>
              <a:latin typeface="+mn-ea"/>
            </a:endParaRPr>
          </a:p>
        </p:txBody>
      </p:sp>
      <p:sp>
        <p:nvSpPr>
          <p:cNvPr id="40" name="TextBox 39"/>
          <p:cNvSpPr txBox="1"/>
          <p:nvPr/>
        </p:nvSpPr>
        <p:spPr>
          <a:xfrm>
            <a:off x="3758033" y="4396791"/>
            <a:ext cx="423899" cy="276999"/>
          </a:xfrm>
          <a:prstGeom prst="rect">
            <a:avLst/>
          </a:prstGeom>
          <a:noFill/>
          <a:ln>
            <a:noFill/>
          </a:ln>
        </p:spPr>
        <p:txBody>
          <a:bodyPr wrap="none" rtlCol="0">
            <a:spAutoFit/>
          </a:bodyPr>
          <a:lstStyle/>
          <a:p>
            <a:pPr algn="ctr"/>
            <a:r>
              <a:rPr lang="en-US" altLang="ko-KR" sz="1200" b="0" dirty="0">
                <a:solidFill>
                  <a:schemeClr val="tx1"/>
                </a:solidFill>
                <a:latin typeface="+mn-ea"/>
              </a:rPr>
              <a:t>Yes</a:t>
            </a:r>
            <a:endParaRPr lang="ko-KR" altLang="en-US" sz="1200" b="0" dirty="0">
              <a:solidFill>
                <a:schemeClr val="tx1"/>
              </a:solidFill>
              <a:latin typeface="+mn-ea"/>
            </a:endParaRPr>
          </a:p>
        </p:txBody>
      </p:sp>
      <p:sp>
        <p:nvSpPr>
          <p:cNvPr id="41" name="TextBox 40"/>
          <p:cNvSpPr txBox="1"/>
          <p:nvPr/>
        </p:nvSpPr>
        <p:spPr>
          <a:xfrm>
            <a:off x="4552950" y="2569048"/>
            <a:ext cx="380232" cy="276999"/>
          </a:xfrm>
          <a:prstGeom prst="rect">
            <a:avLst/>
          </a:prstGeom>
          <a:noFill/>
          <a:ln>
            <a:noFill/>
          </a:ln>
        </p:spPr>
        <p:txBody>
          <a:bodyPr wrap="none" rtlCol="0">
            <a:spAutoFit/>
          </a:bodyPr>
          <a:lstStyle/>
          <a:p>
            <a:pPr algn="ctr"/>
            <a:r>
              <a:rPr lang="en-US" altLang="ko-KR" sz="1200" b="0" dirty="0">
                <a:solidFill>
                  <a:schemeClr val="tx1"/>
                </a:solidFill>
                <a:latin typeface="+mn-ea"/>
              </a:rPr>
              <a:t>No</a:t>
            </a:r>
            <a:endParaRPr lang="ko-KR" altLang="en-US" sz="1200" b="0" dirty="0">
              <a:solidFill>
                <a:schemeClr val="tx1"/>
              </a:solidFill>
              <a:latin typeface="+mn-ea"/>
            </a:endParaRPr>
          </a:p>
        </p:txBody>
      </p:sp>
      <p:sp>
        <p:nvSpPr>
          <p:cNvPr id="42" name="TextBox 41"/>
          <p:cNvSpPr txBox="1"/>
          <p:nvPr/>
        </p:nvSpPr>
        <p:spPr>
          <a:xfrm>
            <a:off x="4595591" y="3750326"/>
            <a:ext cx="380232" cy="276999"/>
          </a:xfrm>
          <a:prstGeom prst="rect">
            <a:avLst/>
          </a:prstGeom>
          <a:noFill/>
          <a:ln>
            <a:noFill/>
          </a:ln>
        </p:spPr>
        <p:txBody>
          <a:bodyPr wrap="none" rtlCol="0">
            <a:spAutoFit/>
          </a:bodyPr>
          <a:lstStyle/>
          <a:p>
            <a:pPr algn="ctr"/>
            <a:r>
              <a:rPr lang="en-US" altLang="ko-KR" sz="1200" b="0" dirty="0">
                <a:solidFill>
                  <a:schemeClr val="tx1"/>
                </a:solidFill>
                <a:latin typeface="+mn-ea"/>
              </a:rPr>
              <a:t>No</a:t>
            </a:r>
            <a:endParaRPr lang="ko-KR" altLang="en-US" sz="1200" b="0" dirty="0">
              <a:solidFill>
                <a:schemeClr val="tx1"/>
              </a:solidFill>
              <a:latin typeface="+mn-ea"/>
            </a:endParaRPr>
          </a:p>
        </p:txBody>
      </p:sp>
      <p:sp>
        <p:nvSpPr>
          <p:cNvPr id="43" name="Rectangle 13"/>
          <p:cNvSpPr>
            <a:spLocks noChangeArrowheads="1"/>
          </p:cNvSpPr>
          <p:nvPr/>
        </p:nvSpPr>
        <p:spPr bwMode="auto">
          <a:xfrm>
            <a:off x="533135" y="1330177"/>
            <a:ext cx="1657615" cy="450998"/>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j-ea"/>
                <a:ea typeface="+mj-ea"/>
              </a:rPr>
              <a:t>거절결정</a:t>
            </a:r>
            <a:endParaRPr lang="en-US" altLang="ko-KR" sz="1400" dirty="0">
              <a:latin typeface="+mj-ea"/>
              <a:ea typeface="+mj-ea"/>
            </a:endParaRPr>
          </a:p>
          <a:p>
            <a:pPr algn="ctr"/>
            <a:r>
              <a:rPr lang="ko-KR" altLang="en-US" sz="1400" dirty="0">
                <a:latin typeface="+mj-ea"/>
                <a:ea typeface="+mj-ea"/>
              </a:rPr>
              <a:t>등본송달</a:t>
            </a:r>
            <a:r>
              <a:rPr lang="en-US" altLang="ko-KR" sz="1400" dirty="0">
                <a:latin typeface="+mj-ea"/>
                <a:ea typeface="+mj-ea"/>
              </a:rPr>
              <a:t>(</a:t>
            </a:r>
            <a:r>
              <a:rPr lang="ko-KR" altLang="en-US" sz="1400" dirty="0">
                <a:latin typeface="+mj-ea"/>
                <a:ea typeface="+mj-ea"/>
              </a:rPr>
              <a:t>자극</a:t>
            </a:r>
            <a:r>
              <a:rPr lang="en-US" altLang="ko-KR" sz="1400" dirty="0">
                <a:latin typeface="+mj-ea"/>
                <a:ea typeface="+mj-ea"/>
              </a:rPr>
              <a:t>)</a:t>
            </a:r>
          </a:p>
        </p:txBody>
      </p:sp>
      <p:sp>
        <p:nvSpPr>
          <p:cNvPr id="46" name="Rectangle 13"/>
          <p:cNvSpPr>
            <a:spLocks noChangeArrowheads="1"/>
          </p:cNvSpPr>
          <p:nvPr/>
        </p:nvSpPr>
        <p:spPr bwMode="auto">
          <a:xfrm>
            <a:off x="2855388" y="1330177"/>
            <a:ext cx="1668987" cy="450998"/>
          </a:xfrm>
          <a:prstGeom prst="rect">
            <a:avLst/>
          </a:prstGeom>
          <a:solidFill>
            <a:schemeClr val="accent2"/>
          </a:solidFill>
          <a:ln w="9525" algn="ctr">
            <a:solidFill>
              <a:schemeClr val="bg1">
                <a:lumMod val="50000"/>
              </a:schemeClr>
            </a:solidFill>
            <a:miter lim="800000"/>
            <a:headEnd/>
            <a:tailEnd/>
          </a:ln>
        </p:spPr>
        <p:txBody>
          <a:bodyPr wrap="none" anchor="ctr"/>
          <a:lstStyle/>
          <a:p>
            <a:pPr algn="ctr"/>
            <a:r>
              <a:rPr lang="ko-KR" altLang="en-US" sz="1400" dirty="0">
                <a:latin typeface="+mj-ea"/>
                <a:ea typeface="+mj-ea"/>
              </a:rPr>
              <a:t>거절결정</a:t>
            </a:r>
            <a:r>
              <a:rPr lang="en-US" altLang="ko-KR" sz="1400" dirty="0">
                <a:latin typeface="+mj-ea"/>
                <a:ea typeface="+mj-ea"/>
              </a:rPr>
              <a:t>(</a:t>
            </a:r>
            <a:r>
              <a:rPr lang="ko-KR" altLang="en-US" sz="1400" dirty="0">
                <a:latin typeface="+mj-ea"/>
                <a:ea typeface="+mj-ea"/>
              </a:rPr>
              <a:t>판단</a:t>
            </a:r>
            <a:r>
              <a:rPr lang="en-US" altLang="ko-KR" sz="1400" dirty="0">
                <a:latin typeface="+mj-ea"/>
                <a:ea typeface="+mj-ea"/>
              </a:rPr>
              <a:t>)</a:t>
            </a:r>
          </a:p>
        </p:txBody>
      </p:sp>
      <p:sp>
        <p:nvSpPr>
          <p:cNvPr id="47" name="Rectangle 13"/>
          <p:cNvSpPr>
            <a:spLocks noChangeArrowheads="1"/>
          </p:cNvSpPr>
          <p:nvPr/>
        </p:nvSpPr>
        <p:spPr bwMode="auto">
          <a:xfrm>
            <a:off x="5541439" y="1330177"/>
            <a:ext cx="5526612" cy="450998"/>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j-ea"/>
                <a:ea typeface="+mj-ea"/>
              </a:rPr>
              <a:t>대응방안</a:t>
            </a:r>
            <a:r>
              <a:rPr lang="en-US" altLang="ko-KR" sz="1400" dirty="0">
                <a:latin typeface="+mj-ea"/>
                <a:ea typeface="+mj-ea"/>
              </a:rPr>
              <a:t>(</a:t>
            </a:r>
            <a:r>
              <a:rPr lang="ko-KR" altLang="en-US" sz="1400" dirty="0">
                <a:latin typeface="+mj-ea"/>
                <a:ea typeface="+mj-ea"/>
              </a:rPr>
              <a:t>반응</a:t>
            </a:r>
            <a:r>
              <a:rPr lang="en-US" altLang="ko-KR" sz="1400" dirty="0">
                <a:latin typeface="+mj-ea"/>
                <a:ea typeface="+mj-ea"/>
              </a:rPr>
              <a:t>)</a:t>
            </a:r>
          </a:p>
        </p:txBody>
      </p:sp>
      <p:cxnSp>
        <p:nvCxnSpPr>
          <p:cNvPr id="50" name="직선 연결선 49"/>
          <p:cNvCxnSpPr>
            <a:stCxn id="43" idx="3"/>
            <a:endCxn id="46" idx="1"/>
          </p:cNvCxnSpPr>
          <p:nvPr/>
        </p:nvCxnSpPr>
        <p:spPr>
          <a:xfrm>
            <a:off x="2190750" y="1555676"/>
            <a:ext cx="664638"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1" name="직선 연결선 50"/>
          <p:cNvCxnSpPr>
            <a:stCxn id="46" idx="3"/>
            <a:endCxn id="47" idx="1"/>
          </p:cNvCxnSpPr>
          <p:nvPr/>
        </p:nvCxnSpPr>
        <p:spPr>
          <a:xfrm>
            <a:off x="4524375" y="1555676"/>
            <a:ext cx="1017064"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5532764" y="2442875"/>
            <a:ext cx="3269487" cy="319474"/>
          </a:xfrm>
          <a:prstGeom prst="rect">
            <a:avLst/>
          </a:prstGeom>
          <a:solidFill>
            <a:schemeClr val="bg1">
              <a:lumMod val="85000"/>
            </a:scheme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불복심판청구</a:t>
            </a:r>
            <a:endParaRPr lang="en-US" altLang="ko-KR" sz="1400" b="0" dirty="0">
              <a:solidFill>
                <a:schemeClr val="tx1"/>
              </a:solidFill>
              <a:latin typeface="+mn-ea"/>
            </a:endParaRPr>
          </a:p>
        </p:txBody>
      </p:sp>
      <p:sp>
        <p:nvSpPr>
          <p:cNvPr id="53" name="TextBox 52"/>
          <p:cNvSpPr txBox="1"/>
          <p:nvPr/>
        </p:nvSpPr>
        <p:spPr>
          <a:xfrm>
            <a:off x="5532764" y="2823117"/>
            <a:ext cx="3269487" cy="319474"/>
          </a:xfrm>
          <a:prstGeom prst="rect">
            <a:avLst/>
          </a:prstGeom>
          <a:noFill/>
          <a:ln>
            <a:solidFill>
              <a:schemeClr val="bg1">
                <a:lumMod val="50000"/>
              </a:schemeClr>
            </a:solidFill>
          </a:ln>
        </p:spPr>
        <p:txBody>
          <a:bodyPr wrap="none" rtlCol="0" anchor="ctr">
            <a:noAutofit/>
          </a:bodyPr>
          <a:lstStyle/>
          <a:p>
            <a:r>
              <a:rPr lang="ko-KR" altLang="en-US" sz="1400" b="0" dirty="0" err="1">
                <a:solidFill>
                  <a:schemeClr val="accent3">
                    <a:lumMod val="50000"/>
                  </a:schemeClr>
                </a:solidFill>
                <a:latin typeface="+mn-ea"/>
              </a:rPr>
              <a:t>심결취소의</a:t>
            </a:r>
            <a:r>
              <a:rPr lang="ko-KR" altLang="en-US" sz="1400" b="0" dirty="0">
                <a:solidFill>
                  <a:schemeClr val="accent3">
                    <a:lumMod val="50000"/>
                  </a:schemeClr>
                </a:solidFill>
                <a:latin typeface="+mn-ea"/>
              </a:rPr>
              <a:t> 소 제기</a:t>
            </a:r>
            <a:r>
              <a:rPr lang="en-US" altLang="ko-KR" sz="1400" b="0" dirty="0">
                <a:solidFill>
                  <a:schemeClr val="accent3">
                    <a:lumMod val="50000"/>
                  </a:schemeClr>
                </a:solidFill>
                <a:latin typeface="+mn-ea"/>
              </a:rPr>
              <a:t> / </a:t>
            </a:r>
            <a:r>
              <a:rPr lang="ko-KR" altLang="en-US" sz="1400" b="0" dirty="0">
                <a:solidFill>
                  <a:schemeClr val="accent3">
                    <a:lumMod val="50000"/>
                  </a:schemeClr>
                </a:solidFill>
                <a:latin typeface="+mn-ea"/>
              </a:rPr>
              <a:t>분리출원</a:t>
            </a:r>
            <a:r>
              <a:rPr lang="en-US" altLang="ko-KR" sz="1400" b="0" dirty="0">
                <a:solidFill>
                  <a:schemeClr val="accent3">
                    <a:lumMod val="50000"/>
                  </a:schemeClr>
                </a:solidFill>
                <a:latin typeface="+mn-ea"/>
              </a:rPr>
              <a:t>(</a:t>
            </a:r>
            <a:r>
              <a:rPr lang="ko-KR" altLang="en-US" sz="1400" b="0" dirty="0">
                <a:solidFill>
                  <a:schemeClr val="accent3">
                    <a:lumMod val="50000"/>
                  </a:schemeClr>
                </a:solidFill>
                <a:latin typeface="+mn-ea"/>
              </a:rPr>
              <a:t>제</a:t>
            </a:r>
            <a:r>
              <a:rPr lang="en-US" altLang="ko-KR" sz="1400" b="0" dirty="0">
                <a:solidFill>
                  <a:schemeClr val="accent3">
                    <a:lumMod val="50000"/>
                  </a:schemeClr>
                </a:solidFill>
                <a:latin typeface="+mn-ea"/>
              </a:rPr>
              <a:t>52</a:t>
            </a:r>
            <a:r>
              <a:rPr lang="ko-KR" altLang="en-US" sz="1400" b="0" dirty="0">
                <a:solidFill>
                  <a:schemeClr val="accent3">
                    <a:lumMod val="50000"/>
                  </a:schemeClr>
                </a:solidFill>
                <a:latin typeface="+mn-ea"/>
              </a:rPr>
              <a:t>조의</a:t>
            </a:r>
            <a:r>
              <a:rPr lang="en-US" altLang="ko-KR" sz="1400" b="0" dirty="0">
                <a:solidFill>
                  <a:schemeClr val="accent3">
                    <a:lumMod val="50000"/>
                  </a:schemeClr>
                </a:solidFill>
                <a:latin typeface="+mn-ea"/>
              </a:rPr>
              <a:t>2)</a:t>
            </a:r>
          </a:p>
        </p:txBody>
      </p:sp>
      <p:sp>
        <p:nvSpPr>
          <p:cNvPr id="54" name="TextBox 53"/>
          <p:cNvSpPr txBox="1"/>
          <p:nvPr/>
        </p:nvSpPr>
        <p:spPr>
          <a:xfrm>
            <a:off x="5532764" y="3198028"/>
            <a:ext cx="3269487" cy="319474"/>
          </a:xfrm>
          <a:prstGeom prst="rect">
            <a:avLst/>
          </a:prstGeom>
          <a:noFill/>
          <a:ln>
            <a:solidFill>
              <a:schemeClr val="bg1">
                <a:lumMod val="50000"/>
              </a:schemeClr>
            </a:solidFill>
          </a:ln>
        </p:spPr>
        <p:txBody>
          <a:bodyPr wrap="none" rtlCol="0" anchor="ctr">
            <a:noAutofit/>
          </a:bodyPr>
          <a:lstStyle/>
          <a:p>
            <a:r>
              <a:rPr lang="ko-KR" altLang="en-US" sz="1400" b="0" dirty="0">
                <a:solidFill>
                  <a:schemeClr val="tx1"/>
                </a:solidFill>
                <a:latin typeface="+mn-ea"/>
              </a:rPr>
              <a:t>상고</a:t>
            </a:r>
            <a:endParaRPr lang="en-US" altLang="ko-KR" sz="1400" b="0" dirty="0">
              <a:solidFill>
                <a:schemeClr val="tx1"/>
              </a:solidFill>
              <a:latin typeface="+mn-ea"/>
            </a:endParaRPr>
          </a:p>
        </p:txBody>
      </p:sp>
      <p:sp>
        <p:nvSpPr>
          <p:cNvPr id="55" name="TextBox 54"/>
          <p:cNvSpPr txBox="1"/>
          <p:nvPr/>
        </p:nvSpPr>
        <p:spPr>
          <a:xfrm>
            <a:off x="5541438" y="3774525"/>
            <a:ext cx="3255883" cy="349800"/>
          </a:xfrm>
          <a:prstGeom prst="rect">
            <a:avLst/>
          </a:prstGeom>
          <a:noFill/>
          <a:ln>
            <a:solidFill>
              <a:schemeClr val="bg1">
                <a:lumMod val="50000"/>
              </a:schemeClr>
            </a:solidFill>
          </a:ln>
        </p:spPr>
        <p:txBody>
          <a:bodyPr wrap="none" rtlCol="0" anchor="ctr">
            <a:noAutofit/>
          </a:bodyPr>
          <a:lstStyle/>
          <a:p>
            <a:r>
              <a:rPr lang="ko-KR" altLang="en-US" sz="1400" b="0" dirty="0">
                <a:solidFill>
                  <a:schemeClr val="tx1"/>
                </a:solidFill>
                <a:latin typeface="+mn-ea"/>
              </a:rPr>
              <a:t>출원의 취하</a:t>
            </a:r>
            <a:r>
              <a:rPr lang="en-US" altLang="ko-KR" sz="1400" b="0" dirty="0">
                <a:solidFill>
                  <a:schemeClr val="tx1"/>
                </a:solidFill>
                <a:latin typeface="+mn-ea"/>
              </a:rPr>
              <a:t>/</a:t>
            </a:r>
            <a:r>
              <a:rPr lang="ko-KR" altLang="en-US" sz="1400" b="0" dirty="0">
                <a:solidFill>
                  <a:schemeClr val="tx1"/>
                </a:solidFill>
                <a:latin typeface="+mn-ea"/>
              </a:rPr>
              <a:t>포기</a:t>
            </a:r>
            <a:endParaRPr lang="en-US" altLang="ko-KR" sz="1400" b="0" dirty="0">
              <a:solidFill>
                <a:schemeClr val="tx1"/>
              </a:solidFill>
              <a:latin typeface="+mn-ea"/>
            </a:endParaRPr>
          </a:p>
        </p:txBody>
      </p:sp>
      <p:sp>
        <p:nvSpPr>
          <p:cNvPr id="56" name="TextBox 55"/>
          <p:cNvSpPr txBox="1"/>
          <p:nvPr/>
        </p:nvSpPr>
        <p:spPr>
          <a:xfrm>
            <a:off x="5541438" y="4185490"/>
            <a:ext cx="3255883" cy="349800"/>
          </a:xfrm>
          <a:prstGeom prst="rect">
            <a:avLst/>
          </a:prstGeom>
          <a:noFill/>
          <a:ln>
            <a:solidFill>
              <a:schemeClr val="bg1">
                <a:lumMod val="50000"/>
              </a:schemeClr>
            </a:solidFill>
          </a:ln>
        </p:spPr>
        <p:txBody>
          <a:bodyPr wrap="none" rtlCol="0" anchor="ctr">
            <a:noAutofit/>
          </a:bodyPr>
          <a:lstStyle/>
          <a:p>
            <a:r>
              <a:rPr lang="ko-KR" altLang="en-US" sz="1400" b="0" dirty="0">
                <a:solidFill>
                  <a:schemeClr val="tx1"/>
                </a:solidFill>
                <a:latin typeface="+mn-ea"/>
              </a:rPr>
              <a:t>방치</a:t>
            </a:r>
            <a:endParaRPr lang="en-US" altLang="ko-KR" sz="1400" b="0" dirty="0">
              <a:solidFill>
                <a:schemeClr val="tx1"/>
              </a:solidFill>
              <a:latin typeface="+mn-ea"/>
            </a:endParaRPr>
          </a:p>
        </p:txBody>
      </p:sp>
      <p:sp>
        <p:nvSpPr>
          <p:cNvPr id="58" name="TextBox 57"/>
          <p:cNvSpPr txBox="1"/>
          <p:nvPr/>
        </p:nvSpPr>
        <p:spPr>
          <a:xfrm>
            <a:off x="5541438" y="4821617"/>
            <a:ext cx="3255883" cy="349800"/>
          </a:xfrm>
          <a:prstGeom prst="rect">
            <a:avLst/>
          </a:prstGeom>
          <a:solidFill>
            <a:srgbClr val="00B0F0"/>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출원인의 이익제도 활용</a:t>
            </a:r>
            <a:endParaRPr lang="en-US" altLang="ko-KR" sz="1400" b="0" dirty="0">
              <a:solidFill>
                <a:schemeClr val="tx1"/>
              </a:solidFill>
              <a:latin typeface="+mn-ea"/>
            </a:endParaRPr>
          </a:p>
        </p:txBody>
      </p:sp>
      <p:sp>
        <p:nvSpPr>
          <p:cNvPr id="60" name="TextBox 59"/>
          <p:cNvSpPr txBox="1"/>
          <p:nvPr/>
        </p:nvSpPr>
        <p:spPr>
          <a:xfrm>
            <a:off x="5541438" y="5245807"/>
            <a:ext cx="3255883" cy="349800"/>
          </a:xfrm>
          <a:prstGeom prst="rect">
            <a:avLst/>
          </a:prstGeom>
          <a:noFill/>
          <a:ln>
            <a:solidFill>
              <a:schemeClr val="bg1">
                <a:lumMod val="50000"/>
              </a:schemeClr>
            </a:solidFill>
          </a:ln>
        </p:spPr>
        <p:txBody>
          <a:bodyPr wrap="none" rtlCol="0" anchor="ctr">
            <a:noAutofit/>
          </a:bodyPr>
          <a:lstStyle/>
          <a:p>
            <a:r>
              <a:rPr lang="ko-KR" altLang="en-US" sz="1400" b="0" dirty="0">
                <a:solidFill>
                  <a:schemeClr val="tx1"/>
                </a:solidFill>
                <a:latin typeface="+mn-ea"/>
              </a:rPr>
              <a:t>의견서 제출</a:t>
            </a:r>
            <a:endParaRPr lang="en-US" altLang="ko-KR" sz="1400" b="0" dirty="0">
              <a:solidFill>
                <a:schemeClr val="tx1"/>
              </a:solidFill>
              <a:latin typeface="+mn-ea"/>
            </a:endParaRPr>
          </a:p>
        </p:txBody>
      </p:sp>
      <p:cxnSp>
        <p:nvCxnSpPr>
          <p:cNvPr id="61" name="꺾인 연결선 60"/>
          <p:cNvCxnSpPr>
            <a:stCxn id="33" idx="2"/>
          </p:cNvCxnSpPr>
          <p:nvPr/>
        </p:nvCxnSpPr>
        <p:spPr>
          <a:xfrm rot="16200000" flipH="1">
            <a:off x="4092726" y="3966432"/>
            <a:ext cx="849017" cy="1709732"/>
          </a:xfrm>
          <a:prstGeom prst="bentConnector2">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TextBox 61"/>
          <p:cNvSpPr txBox="1"/>
          <p:nvPr/>
        </p:nvSpPr>
        <p:spPr>
          <a:xfrm>
            <a:off x="9347204" y="3542215"/>
            <a:ext cx="1632340" cy="285851"/>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b="0" dirty="0">
                <a:solidFill>
                  <a:schemeClr val="tx1"/>
                </a:solidFill>
                <a:latin typeface="+mn-ea"/>
              </a:rPr>
              <a:t>30</a:t>
            </a:r>
            <a:r>
              <a:rPr lang="ko-KR" altLang="en-US" sz="1400" b="0" dirty="0">
                <a:solidFill>
                  <a:schemeClr val="tx1"/>
                </a:solidFill>
                <a:latin typeface="+mn-ea"/>
              </a:rPr>
              <a:t>조</a:t>
            </a:r>
            <a:endParaRPr lang="en-US" altLang="ko-KR" sz="1400" b="0" dirty="0">
              <a:solidFill>
                <a:schemeClr val="tx1"/>
              </a:solidFill>
              <a:latin typeface="+mn-ea"/>
            </a:endParaRPr>
          </a:p>
        </p:txBody>
      </p:sp>
      <p:sp>
        <p:nvSpPr>
          <p:cNvPr id="63" name="TextBox 62"/>
          <p:cNvSpPr txBox="1"/>
          <p:nvPr/>
        </p:nvSpPr>
        <p:spPr>
          <a:xfrm>
            <a:off x="9340384" y="3887658"/>
            <a:ext cx="1639160" cy="319474"/>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b="0" dirty="0">
                <a:solidFill>
                  <a:schemeClr val="tx1"/>
                </a:solidFill>
                <a:latin typeface="+mn-ea"/>
              </a:rPr>
              <a:t>34</a:t>
            </a:r>
            <a:r>
              <a:rPr lang="ko-KR" altLang="en-US" sz="1400" b="0" dirty="0">
                <a:solidFill>
                  <a:schemeClr val="tx1"/>
                </a:solidFill>
                <a:latin typeface="+mn-ea"/>
              </a:rPr>
              <a:t>조</a:t>
            </a:r>
            <a:r>
              <a:rPr lang="en-US" altLang="ko-KR" sz="1400" b="0" dirty="0">
                <a:solidFill>
                  <a:schemeClr val="tx1"/>
                </a:solidFill>
                <a:latin typeface="+mn-ea"/>
              </a:rPr>
              <a:t>, </a:t>
            </a:r>
            <a:r>
              <a:rPr lang="ko-KR" altLang="en-US" sz="1400" b="0" dirty="0">
                <a:solidFill>
                  <a:schemeClr val="tx1"/>
                </a:solidFill>
                <a:latin typeface="+mn-ea"/>
              </a:rPr>
              <a:t>제</a:t>
            </a:r>
            <a:r>
              <a:rPr lang="en-US" altLang="ko-KR" sz="1400" b="0" dirty="0">
                <a:solidFill>
                  <a:schemeClr val="tx1"/>
                </a:solidFill>
                <a:latin typeface="+mn-ea"/>
              </a:rPr>
              <a:t>35</a:t>
            </a:r>
            <a:r>
              <a:rPr lang="ko-KR" altLang="en-US" sz="1400" b="0" dirty="0">
                <a:solidFill>
                  <a:schemeClr val="tx1"/>
                </a:solidFill>
                <a:latin typeface="+mn-ea"/>
              </a:rPr>
              <a:t>조</a:t>
            </a:r>
            <a:endParaRPr lang="en-US" altLang="ko-KR" sz="1400" b="0" dirty="0">
              <a:solidFill>
                <a:schemeClr val="tx1"/>
              </a:solidFill>
              <a:latin typeface="+mn-ea"/>
            </a:endParaRPr>
          </a:p>
        </p:txBody>
      </p:sp>
      <p:sp>
        <p:nvSpPr>
          <p:cNvPr id="64" name="TextBox 63"/>
          <p:cNvSpPr txBox="1"/>
          <p:nvPr/>
        </p:nvSpPr>
        <p:spPr>
          <a:xfrm>
            <a:off x="9340384" y="4267900"/>
            <a:ext cx="1639160" cy="319474"/>
          </a:xfrm>
          <a:prstGeom prst="rect">
            <a:avLst/>
          </a:prstGeom>
          <a:solidFill>
            <a:schemeClr val="bg1">
              <a:lumMod val="50000"/>
              <a:alpha val="20000"/>
            </a:scheme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b="0" dirty="0">
                <a:solidFill>
                  <a:schemeClr val="tx1"/>
                </a:solidFill>
                <a:latin typeface="+mn-ea"/>
              </a:rPr>
              <a:t>47</a:t>
            </a:r>
            <a:r>
              <a:rPr lang="ko-KR" altLang="en-US" sz="1400" b="0" dirty="0">
                <a:solidFill>
                  <a:schemeClr val="tx1"/>
                </a:solidFill>
                <a:latin typeface="+mn-ea"/>
              </a:rPr>
              <a:t>조</a:t>
            </a:r>
            <a:r>
              <a:rPr lang="en-US" altLang="ko-KR" sz="1400" b="0" dirty="0">
                <a:solidFill>
                  <a:schemeClr val="tx1"/>
                </a:solidFill>
                <a:latin typeface="+mn-ea"/>
              </a:rPr>
              <a:t>(</a:t>
            </a:r>
            <a:r>
              <a:rPr lang="ko-KR" altLang="en-US" sz="1400" b="0" dirty="0">
                <a:solidFill>
                  <a:schemeClr val="tx1"/>
                </a:solidFill>
                <a:latin typeface="+mn-ea"/>
              </a:rPr>
              <a:t>재심사청구</a:t>
            </a:r>
            <a:r>
              <a:rPr lang="en-US" altLang="ko-KR" sz="1400" b="0" dirty="0">
                <a:solidFill>
                  <a:schemeClr val="tx1"/>
                </a:solidFill>
                <a:latin typeface="+mn-ea"/>
              </a:rPr>
              <a:t>)</a:t>
            </a:r>
          </a:p>
        </p:txBody>
      </p:sp>
      <p:sp>
        <p:nvSpPr>
          <p:cNvPr id="65" name="TextBox 64"/>
          <p:cNvSpPr txBox="1"/>
          <p:nvPr/>
        </p:nvSpPr>
        <p:spPr>
          <a:xfrm>
            <a:off x="9340384" y="4642811"/>
            <a:ext cx="1639160" cy="319474"/>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b="0" dirty="0">
                <a:solidFill>
                  <a:schemeClr val="tx1"/>
                </a:solidFill>
                <a:latin typeface="+mn-ea"/>
              </a:rPr>
              <a:t>52</a:t>
            </a:r>
            <a:r>
              <a:rPr lang="ko-KR" altLang="en-US" sz="1400" b="0" dirty="0">
                <a:solidFill>
                  <a:schemeClr val="tx1"/>
                </a:solidFill>
                <a:latin typeface="+mn-ea"/>
              </a:rPr>
              <a:t>조</a:t>
            </a:r>
            <a:endParaRPr lang="en-US" altLang="ko-KR" sz="1400" b="0" dirty="0">
              <a:solidFill>
                <a:schemeClr val="tx1"/>
              </a:solidFill>
              <a:latin typeface="+mn-ea"/>
            </a:endParaRPr>
          </a:p>
        </p:txBody>
      </p:sp>
      <p:sp>
        <p:nvSpPr>
          <p:cNvPr id="66" name="TextBox 65"/>
          <p:cNvSpPr txBox="1"/>
          <p:nvPr/>
        </p:nvSpPr>
        <p:spPr>
          <a:xfrm>
            <a:off x="9340384" y="5041571"/>
            <a:ext cx="1639160" cy="319474"/>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b="0" dirty="0">
                <a:solidFill>
                  <a:schemeClr val="tx1"/>
                </a:solidFill>
                <a:latin typeface="+mn-ea"/>
              </a:rPr>
              <a:t>53</a:t>
            </a:r>
            <a:r>
              <a:rPr lang="ko-KR" altLang="en-US" sz="1400" b="0" dirty="0">
                <a:solidFill>
                  <a:schemeClr val="tx1"/>
                </a:solidFill>
                <a:latin typeface="+mn-ea"/>
              </a:rPr>
              <a:t>조</a:t>
            </a:r>
            <a:endParaRPr lang="en-US" altLang="ko-KR" sz="1400" b="0" dirty="0">
              <a:solidFill>
                <a:schemeClr val="tx1"/>
              </a:solidFill>
              <a:latin typeface="+mn-ea"/>
            </a:endParaRPr>
          </a:p>
        </p:txBody>
      </p:sp>
      <p:sp>
        <p:nvSpPr>
          <p:cNvPr id="68" name="TextBox 67"/>
          <p:cNvSpPr txBox="1"/>
          <p:nvPr/>
        </p:nvSpPr>
        <p:spPr>
          <a:xfrm>
            <a:off x="9340384" y="5421813"/>
            <a:ext cx="1639160" cy="319474"/>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b="0" dirty="0">
                <a:solidFill>
                  <a:schemeClr val="tx1"/>
                </a:solidFill>
                <a:latin typeface="+mn-ea"/>
              </a:rPr>
              <a:t>54</a:t>
            </a:r>
            <a:r>
              <a:rPr lang="ko-KR" altLang="en-US" sz="1400" b="0" dirty="0">
                <a:solidFill>
                  <a:schemeClr val="tx1"/>
                </a:solidFill>
                <a:latin typeface="+mn-ea"/>
              </a:rPr>
              <a:t>조</a:t>
            </a:r>
            <a:endParaRPr lang="en-US" altLang="ko-KR" sz="1400" b="0" dirty="0">
              <a:solidFill>
                <a:schemeClr val="tx1"/>
              </a:solidFill>
              <a:latin typeface="+mn-ea"/>
            </a:endParaRPr>
          </a:p>
        </p:txBody>
      </p:sp>
      <p:sp>
        <p:nvSpPr>
          <p:cNvPr id="69" name="TextBox 68"/>
          <p:cNvSpPr txBox="1"/>
          <p:nvPr/>
        </p:nvSpPr>
        <p:spPr>
          <a:xfrm>
            <a:off x="9340384" y="5796724"/>
            <a:ext cx="1639160" cy="319474"/>
          </a:xfrm>
          <a:prstGeom prst="rect">
            <a:avLst/>
          </a:prstGeom>
          <a:solidFill>
            <a:srgbClr val="00B0F0">
              <a:alpha val="20000"/>
            </a:srgbClr>
          </a:solidFill>
          <a:ln>
            <a:solidFill>
              <a:schemeClr val="bg1">
                <a:lumMod val="50000"/>
              </a:schemeClr>
            </a:solidFill>
          </a:ln>
        </p:spPr>
        <p:txBody>
          <a:bodyPr wrap="none" rtlCol="0" anchor="ctr">
            <a:noAutofit/>
          </a:bodyPr>
          <a:lstStyle/>
          <a:p>
            <a:r>
              <a:rPr lang="ko-KR" altLang="en-US" sz="1400" b="0" dirty="0">
                <a:solidFill>
                  <a:schemeClr val="tx1"/>
                </a:solidFill>
                <a:latin typeface="+mn-ea"/>
              </a:rPr>
              <a:t>제</a:t>
            </a:r>
            <a:r>
              <a:rPr lang="en-US" altLang="ko-KR" sz="1400" dirty="0">
                <a:latin typeface="+mn-ea"/>
              </a:rPr>
              <a:t>55</a:t>
            </a:r>
            <a:r>
              <a:rPr lang="ko-KR" altLang="en-US" sz="1400" dirty="0">
                <a:latin typeface="+mn-ea"/>
              </a:rPr>
              <a:t>조</a:t>
            </a:r>
            <a:endParaRPr lang="en-US" altLang="ko-KR" sz="1400" b="0" dirty="0">
              <a:solidFill>
                <a:schemeClr val="tx1"/>
              </a:solidFill>
              <a:latin typeface="+mn-ea"/>
            </a:endParaRPr>
          </a:p>
        </p:txBody>
      </p:sp>
      <p:cxnSp>
        <p:nvCxnSpPr>
          <p:cNvPr id="70" name="꺾인 연결선 69"/>
          <p:cNvCxnSpPr>
            <a:cxnSpLocks/>
            <a:stCxn id="58" idx="3"/>
            <a:endCxn id="62" idx="1"/>
          </p:cNvCxnSpPr>
          <p:nvPr/>
        </p:nvCxnSpPr>
        <p:spPr>
          <a:xfrm flipV="1">
            <a:off x="8797321" y="3685141"/>
            <a:ext cx="549883" cy="131137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cxnSpLocks/>
            <a:stCxn id="58" idx="3"/>
            <a:endCxn id="69" idx="1"/>
          </p:cNvCxnSpPr>
          <p:nvPr/>
        </p:nvCxnSpPr>
        <p:spPr>
          <a:xfrm>
            <a:off x="8797321" y="4996517"/>
            <a:ext cx="543063" cy="95994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꺾인 연결선 71"/>
          <p:cNvCxnSpPr>
            <a:cxnSpLocks/>
            <a:stCxn id="58" idx="3"/>
            <a:endCxn id="63" idx="1"/>
          </p:cNvCxnSpPr>
          <p:nvPr/>
        </p:nvCxnSpPr>
        <p:spPr>
          <a:xfrm flipV="1">
            <a:off x="8797321" y="4047395"/>
            <a:ext cx="543063" cy="94912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꺾인 연결선 72"/>
          <p:cNvCxnSpPr>
            <a:cxnSpLocks/>
            <a:stCxn id="58" idx="3"/>
            <a:endCxn id="68" idx="1"/>
          </p:cNvCxnSpPr>
          <p:nvPr/>
        </p:nvCxnSpPr>
        <p:spPr>
          <a:xfrm>
            <a:off x="8797321" y="4996517"/>
            <a:ext cx="543063" cy="58503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꺾인 연결선 73"/>
          <p:cNvCxnSpPr>
            <a:cxnSpLocks/>
            <a:stCxn id="58" idx="3"/>
            <a:endCxn id="64" idx="1"/>
          </p:cNvCxnSpPr>
          <p:nvPr/>
        </p:nvCxnSpPr>
        <p:spPr>
          <a:xfrm flipV="1">
            <a:off x="8797321" y="4427637"/>
            <a:ext cx="543063" cy="56888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꺾인 연결선 74"/>
          <p:cNvCxnSpPr>
            <a:cxnSpLocks/>
            <a:stCxn id="58" idx="3"/>
            <a:endCxn id="65" idx="1"/>
          </p:cNvCxnSpPr>
          <p:nvPr/>
        </p:nvCxnSpPr>
        <p:spPr>
          <a:xfrm flipV="1">
            <a:off x="8797321" y="4802548"/>
            <a:ext cx="543063" cy="19396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꺾인 연결선 75"/>
          <p:cNvCxnSpPr>
            <a:cxnSpLocks/>
            <a:stCxn id="58" idx="3"/>
            <a:endCxn id="66" idx="1"/>
          </p:cNvCxnSpPr>
          <p:nvPr/>
        </p:nvCxnSpPr>
        <p:spPr>
          <a:xfrm>
            <a:off x="8797321" y="4996517"/>
            <a:ext cx="543063" cy="20479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직선 연결선 77"/>
          <p:cNvCxnSpPr/>
          <p:nvPr/>
        </p:nvCxnSpPr>
        <p:spPr>
          <a:xfrm>
            <a:off x="5114925" y="1057275"/>
            <a:ext cx="0" cy="55054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직선 연결선 79"/>
          <p:cNvCxnSpPr/>
          <p:nvPr/>
        </p:nvCxnSpPr>
        <p:spPr>
          <a:xfrm>
            <a:off x="2523069" y="1057275"/>
            <a:ext cx="0" cy="55054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263</a:t>
            </a:r>
            <a:endParaRPr lang="ko-KR" altLang="en-US" dirty="0"/>
          </a:p>
        </p:txBody>
      </p:sp>
    </p:spTree>
    <p:extLst>
      <p:ext uri="{BB962C8B-B14F-4D97-AF65-F5344CB8AC3E}">
        <p14:creationId xmlns:p14="http://schemas.microsoft.com/office/powerpoint/2010/main" val="1942986640"/>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lstStyle/>
          <a:p>
            <a:r>
              <a:rPr lang="ko-KR" altLang="en-US" dirty="0"/>
              <a:t>거절결정의 확정</a:t>
            </a:r>
          </a:p>
        </p:txBody>
      </p:sp>
      <p:cxnSp>
        <p:nvCxnSpPr>
          <p:cNvPr id="28" name="직선 연결선 27"/>
          <p:cNvCxnSpPr/>
          <p:nvPr/>
        </p:nvCxnSpPr>
        <p:spPr>
          <a:xfrm>
            <a:off x="65" y="149970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77875" y="976902"/>
            <a:ext cx="11936323" cy="523220"/>
          </a:xfrm>
          <a:prstGeom prst="rect">
            <a:avLst/>
          </a:prstGeom>
          <a:noFill/>
        </p:spPr>
        <p:txBody>
          <a:bodyPr wrap="square" rtlCol="0">
            <a:spAutoFit/>
          </a:bodyPr>
          <a:lstStyle/>
          <a:p>
            <a:r>
              <a:rPr lang="ko-KR" altLang="en-US" sz="1400" dirty="0">
                <a:solidFill>
                  <a:srgbClr val="FF0000"/>
                </a:solidFill>
                <a:latin typeface="+mn-ea"/>
              </a:rPr>
              <a:t> </a:t>
            </a:r>
            <a:r>
              <a:rPr lang="ko-KR" altLang="en-US" sz="1400" dirty="0">
                <a:solidFill>
                  <a:schemeClr val="accent3">
                    <a:lumMod val="50000"/>
                  </a:schemeClr>
                </a:solidFill>
                <a:highlight>
                  <a:srgbClr val="FFFF00"/>
                </a:highlight>
                <a:latin typeface="+mn-ea"/>
              </a:rPr>
              <a:t>확정이란 통상적인 불복방법으로는 더 이상 불복할 수 없는 상태에 이른 것</a:t>
            </a:r>
            <a:r>
              <a:rPr lang="ko-KR" altLang="en-US" sz="1400" dirty="0">
                <a:solidFill>
                  <a:schemeClr val="tx2"/>
                </a:solidFill>
                <a:latin typeface="+mn-ea"/>
              </a:rPr>
              <a:t>을 말한다</a:t>
            </a:r>
            <a:r>
              <a:rPr lang="en-US" altLang="ko-KR" sz="1400" dirty="0">
                <a:solidFill>
                  <a:schemeClr val="tx2"/>
                </a:solidFill>
                <a:latin typeface="+mn-ea"/>
              </a:rPr>
              <a:t>. </a:t>
            </a:r>
            <a:r>
              <a:rPr lang="ko-KR" altLang="en-US" sz="1400" dirty="0">
                <a:solidFill>
                  <a:schemeClr val="tx2"/>
                </a:solidFill>
                <a:latin typeface="+mn-ea"/>
              </a:rPr>
              <a:t>특허거절결정은 심사국은 물론 심판원</a:t>
            </a:r>
            <a:r>
              <a:rPr lang="en-US" altLang="ko-KR" sz="1400" dirty="0">
                <a:solidFill>
                  <a:schemeClr val="tx2"/>
                </a:solidFill>
                <a:latin typeface="+mn-ea"/>
              </a:rPr>
              <a:t>, </a:t>
            </a:r>
            <a:r>
              <a:rPr lang="ko-KR" altLang="en-US" sz="1400" dirty="0">
                <a:solidFill>
                  <a:schemeClr val="tx2"/>
                </a:solidFill>
                <a:latin typeface="+mn-ea"/>
              </a:rPr>
              <a:t>특허법원 또는 대법원에서도 확정될 수 있으며</a:t>
            </a:r>
            <a:r>
              <a:rPr lang="en-US" altLang="ko-KR" sz="1400" dirty="0">
                <a:solidFill>
                  <a:schemeClr val="tx2"/>
                </a:solidFill>
                <a:latin typeface="+mn-ea"/>
              </a:rPr>
              <a:t>, </a:t>
            </a:r>
            <a:r>
              <a:rPr lang="ko-KR" altLang="en-US" sz="1400" dirty="0">
                <a:solidFill>
                  <a:schemeClr val="tx2"/>
                </a:solidFill>
                <a:latin typeface="+mn-ea"/>
              </a:rPr>
              <a:t>심판원 이후 특허거절결정이 확정된 경우에 이를 거절한다는 취지의 </a:t>
            </a:r>
            <a:r>
              <a:rPr lang="ko-KR" altLang="en-US" sz="1400" dirty="0" err="1">
                <a:solidFill>
                  <a:schemeClr val="tx2"/>
                </a:solidFill>
                <a:latin typeface="+mn-ea"/>
              </a:rPr>
              <a:t>심결이</a:t>
            </a:r>
            <a:r>
              <a:rPr lang="ko-KR" altLang="en-US" sz="1400" dirty="0">
                <a:solidFill>
                  <a:schemeClr val="tx2"/>
                </a:solidFill>
                <a:latin typeface="+mn-ea"/>
              </a:rPr>
              <a:t> 확정되었다고 표현한다</a:t>
            </a:r>
            <a:r>
              <a:rPr lang="en-US" altLang="ko-KR" sz="1400" dirty="0">
                <a:solidFill>
                  <a:schemeClr val="tx2"/>
                </a:solidFill>
                <a:latin typeface="+mn-ea"/>
              </a:rPr>
              <a:t>.</a:t>
            </a:r>
          </a:p>
        </p:txBody>
      </p:sp>
      <p:grpSp>
        <p:nvGrpSpPr>
          <p:cNvPr id="2" name="그룹 1"/>
          <p:cNvGrpSpPr/>
          <p:nvPr/>
        </p:nvGrpSpPr>
        <p:grpSpPr>
          <a:xfrm>
            <a:off x="836766" y="2194768"/>
            <a:ext cx="10228869" cy="3250457"/>
            <a:chOff x="88419" y="2194768"/>
            <a:chExt cx="11672211" cy="3250457"/>
          </a:xfrm>
        </p:grpSpPr>
        <p:sp>
          <p:nvSpPr>
            <p:cNvPr id="41" name="Rectangle 13"/>
            <p:cNvSpPr>
              <a:spLocks noChangeArrowheads="1"/>
            </p:cNvSpPr>
            <p:nvPr/>
          </p:nvSpPr>
          <p:spPr bwMode="auto">
            <a:xfrm>
              <a:off x="1041102" y="2194768"/>
              <a:ext cx="1801284" cy="327025"/>
            </a:xfrm>
            <a:prstGeom prst="roundRect">
              <a:avLst>
                <a:gd name="adj" fmla="val 50000"/>
              </a:avLst>
            </a:prstGeom>
            <a:solidFill>
              <a:schemeClr val="accent4">
                <a:lumMod val="20000"/>
                <a:lumOff val="80000"/>
              </a:schemeClr>
            </a:solidFill>
            <a:ln w="28575">
              <a:solidFill>
                <a:schemeClr val="bg1">
                  <a:lumMod val="50000"/>
                </a:schemeClr>
              </a:solidFill>
              <a:headEnd/>
              <a:tailEnd/>
            </a:ln>
          </p:spPr>
          <p:style>
            <a:lnRef idx="2">
              <a:schemeClr val="accent4">
                <a:shade val="50000"/>
              </a:schemeClr>
            </a:lnRef>
            <a:fillRef idx="1">
              <a:schemeClr val="accent4"/>
            </a:fillRef>
            <a:effectRef idx="0">
              <a:schemeClr val="accent4"/>
            </a:effectRef>
            <a:fontRef idx="minor">
              <a:schemeClr val="lt1"/>
            </a:fontRef>
          </p:style>
          <p:txBody>
            <a:bodyPr wrap="none" anchor="ctr"/>
            <a:lstStyle/>
            <a:p>
              <a:pPr algn="ctr"/>
              <a:r>
                <a:rPr lang="ko-KR" altLang="en-US" sz="1600" b="0" dirty="0" err="1">
                  <a:solidFill>
                    <a:schemeClr val="tx1"/>
                  </a:solidFill>
                  <a:latin typeface="+mn-ea"/>
                </a:rPr>
                <a:t>심사국</a:t>
              </a:r>
              <a:endParaRPr lang="ko-KR" altLang="en-US" sz="1600" b="0" dirty="0">
                <a:solidFill>
                  <a:schemeClr val="tx1"/>
                </a:solidFill>
                <a:latin typeface="+mn-ea"/>
              </a:endParaRPr>
            </a:p>
          </p:txBody>
        </p:sp>
        <p:sp>
          <p:nvSpPr>
            <p:cNvPr id="42" name="Rectangle 14"/>
            <p:cNvSpPr>
              <a:spLocks noChangeArrowheads="1"/>
            </p:cNvSpPr>
            <p:nvPr/>
          </p:nvSpPr>
          <p:spPr bwMode="auto">
            <a:xfrm>
              <a:off x="1594247" y="3490911"/>
              <a:ext cx="694995" cy="325438"/>
            </a:xfrm>
            <a:prstGeom prst="rect">
              <a:avLst/>
            </a:prstGeom>
            <a:solidFill>
              <a:schemeClr val="tx1">
                <a:lumMod val="50000"/>
                <a:lumOff val="50000"/>
              </a:schemeClr>
            </a:solidFill>
            <a:ln w="9525" algn="ctr">
              <a:solidFill>
                <a:srgbClr val="5F5F5F"/>
              </a:solidFill>
              <a:miter lim="800000"/>
              <a:headEnd/>
              <a:tailEnd/>
            </a:ln>
          </p:spPr>
          <p:txBody>
            <a:bodyPr wrap="none" anchor="ctr"/>
            <a:lstStyle/>
            <a:p>
              <a:pPr algn="ctr"/>
              <a:r>
                <a:rPr lang="ko-KR" altLang="en-US" sz="1200" b="0" dirty="0">
                  <a:solidFill>
                    <a:schemeClr val="bg1">
                      <a:lumMod val="95000"/>
                    </a:schemeClr>
                  </a:solidFill>
                  <a:latin typeface="+mj-ea"/>
                  <a:ea typeface="+mj-ea"/>
                </a:rPr>
                <a:t>확정</a:t>
              </a:r>
            </a:p>
          </p:txBody>
        </p:sp>
        <p:cxnSp>
          <p:nvCxnSpPr>
            <p:cNvPr id="43" name="AutoShape 17"/>
            <p:cNvCxnSpPr>
              <a:cxnSpLocks noChangeShapeType="1"/>
              <a:stCxn id="41" idx="2"/>
              <a:endCxn id="42" idx="0"/>
            </p:cNvCxnSpPr>
            <p:nvPr/>
          </p:nvCxnSpPr>
          <p:spPr bwMode="auto">
            <a:xfrm>
              <a:off x="1941744" y="2521793"/>
              <a:ext cx="0" cy="969119"/>
            </a:xfrm>
            <a:prstGeom prst="straightConnector1">
              <a:avLst/>
            </a:prstGeom>
            <a:noFill/>
            <a:ln w="9525">
              <a:solidFill>
                <a:srgbClr val="5F5F5F"/>
              </a:solidFill>
              <a:round/>
              <a:headEnd/>
              <a:tailEnd type="triangle" w="med" len="med"/>
            </a:ln>
            <a:extLst>
              <a:ext uri="{909E8E84-426E-40DD-AFC4-6F175D3DCCD1}">
                <a14:hiddenFill xmlns:a14="http://schemas.microsoft.com/office/drawing/2010/main">
                  <a:noFill/>
                </a14:hiddenFill>
              </a:ext>
            </a:extLst>
          </p:spPr>
        </p:cxnSp>
        <p:sp>
          <p:nvSpPr>
            <p:cNvPr id="52" name="Rectangle 13"/>
            <p:cNvSpPr>
              <a:spLocks noChangeArrowheads="1"/>
            </p:cNvSpPr>
            <p:nvPr/>
          </p:nvSpPr>
          <p:spPr bwMode="auto">
            <a:xfrm>
              <a:off x="1041101" y="2813992"/>
              <a:ext cx="1801284" cy="32702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a:latin typeface="+mj-ea"/>
                  <a:ea typeface="+mj-ea"/>
                </a:rPr>
                <a:t>거절결정등본송달</a:t>
              </a:r>
            </a:p>
          </p:txBody>
        </p:sp>
        <p:sp>
          <p:nvSpPr>
            <p:cNvPr id="55" name="Rectangle 13"/>
            <p:cNvSpPr>
              <a:spLocks noChangeArrowheads="1"/>
            </p:cNvSpPr>
            <p:nvPr/>
          </p:nvSpPr>
          <p:spPr bwMode="auto">
            <a:xfrm>
              <a:off x="3729401" y="2194768"/>
              <a:ext cx="1801284" cy="327025"/>
            </a:xfrm>
            <a:prstGeom prst="roundRect">
              <a:avLst>
                <a:gd name="adj" fmla="val 50000"/>
              </a:avLst>
            </a:prstGeom>
            <a:solidFill>
              <a:schemeClr val="accent4">
                <a:lumMod val="20000"/>
                <a:lumOff val="80000"/>
              </a:schemeClr>
            </a:solidFill>
            <a:ln w="28575">
              <a:solidFill>
                <a:schemeClr val="bg1">
                  <a:lumMod val="50000"/>
                </a:schemeClr>
              </a:solidFill>
              <a:headEnd/>
              <a:tailEnd/>
            </a:ln>
          </p:spPr>
          <p:style>
            <a:lnRef idx="2">
              <a:schemeClr val="accent4">
                <a:shade val="50000"/>
              </a:schemeClr>
            </a:lnRef>
            <a:fillRef idx="1">
              <a:schemeClr val="accent4"/>
            </a:fillRef>
            <a:effectRef idx="0">
              <a:schemeClr val="accent4"/>
            </a:effectRef>
            <a:fontRef idx="minor">
              <a:schemeClr val="lt1"/>
            </a:fontRef>
          </p:style>
          <p:txBody>
            <a:bodyPr wrap="none" anchor="ctr"/>
            <a:lstStyle/>
            <a:p>
              <a:pPr algn="ctr"/>
              <a:r>
                <a:rPr lang="ko-KR" altLang="en-US" sz="1600" b="0" dirty="0">
                  <a:solidFill>
                    <a:schemeClr val="tx1"/>
                  </a:solidFill>
                  <a:latin typeface="+mn-ea"/>
                </a:rPr>
                <a:t>특허심판원</a:t>
              </a:r>
            </a:p>
          </p:txBody>
        </p:sp>
        <p:sp>
          <p:nvSpPr>
            <p:cNvPr id="56" name="Rectangle 13"/>
            <p:cNvSpPr>
              <a:spLocks noChangeArrowheads="1"/>
            </p:cNvSpPr>
            <p:nvPr/>
          </p:nvSpPr>
          <p:spPr bwMode="auto">
            <a:xfrm>
              <a:off x="6513710" y="2194768"/>
              <a:ext cx="1801284" cy="327025"/>
            </a:xfrm>
            <a:prstGeom prst="roundRect">
              <a:avLst>
                <a:gd name="adj" fmla="val 50000"/>
              </a:avLst>
            </a:prstGeom>
            <a:solidFill>
              <a:schemeClr val="accent4">
                <a:lumMod val="20000"/>
                <a:lumOff val="80000"/>
              </a:schemeClr>
            </a:solidFill>
            <a:ln w="28575">
              <a:solidFill>
                <a:schemeClr val="bg1">
                  <a:lumMod val="50000"/>
                </a:schemeClr>
              </a:solidFill>
              <a:headEnd/>
              <a:tailEnd/>
            </a:ln>
          </p:spPr>
          <p:style>
            <a:lnRef idx="2">
              <a:schemeClr val="accent4">
                <a:shade val="50000"/>
              </a:schemeClr>
            </a:lnRef>
            <a:fillRef idx="1">
              <a:schemeClr val="accent4"/>
            </a:fillRef>
            <a:effectRef idx="0">
              <a:schemeClr val="accent4"/>
            </a:effectRef>
            <a:fontRef idx="minor">
              <a:schemeClr val="lt1"/>
            </a:fontRef>
          </p:style>
          <p:txBody>
            <a:bodyPr wrap="none" anchor="ctr"/>
            <a:lstStyle/>
            <a:p>
              <a:pPr algn="ctr"/>
              <a:r>
                <a:rPr lang="ko-KR" altLang="en-US" sz="1600" b="0" dirty="0">
                  <a:solidFill>
                    <a:schemeClr val="tx1"/>
                  </a:solidFill>
                  <a:latin typeface="+mn-ea"/>
                </a:rPr>
                <a:t>특허법원</a:t>
              </a:r>
            </a:p>
          </p:txBody>
        </p:sp>
        <p:sp>
          <p:nvSpPr>
            <p:cNvPr id="58" name="Rectangle 13"/>
            <p:cNvSpPr>
              <a:spLocks noChangeArrowheads="1"/>
            </p:cNvSpPr>
            <p:nvPr/>
          </p:nvSpPr>
          <p:spPr bwMode="auto">
            <a:xfrm>
              <a:off x="9202009" y="2194768"/>
              <a:ext cx="1801284" cy="327025"/>
            </a:xfrm>
            <a:prstGeom prst="roundRect">
              <a:avLst>
                <a:gd name="adj" fmla="val 50000"/>
              </a:avLst>
            </a:prstGeom>
            <a:solidFill>
              <a:schemeClr val="accent4">
                <a:lumMod val="20000"/>
                <a:lumOff val="80000"/>
              </a:schemeClr>
            </a:solidFill>
            <a:ln w="28575">
              <a:solidFill>
                <a:schemeClr val="bg1">
                  <a:lumMod val="50000"/>
                </a:schemeClr>
              </a:solidFill>
              <a:headEnd/>
              <a:tailEnd/>
            </a:ln>
          </p:spPr>
          <p:style>
            <a:lnRef idx="2">
              <a:schemeClr val="accent4">
                <a:shade val="50000"/>
              </a:schemeClr>
            </a:lnRef>
            <a:fillRef idx="1">
              <a:schemeClr val="accent4"/>
            </a:fillRef>
            <a:effectRef idx="0">
              <a:schemeClr val="accent4"/>
            </a:effectRef>
            <a:fontRef idx="minor">
              <a:schemeClr val="lt1"/>
            </a:fontRef>
          </p:style>
          <p:txBody>
            <a:bodyPr wrap="none" anchor="ctr"/>
            <a:lstStyle/>
            <a:p>
              <a:pPr algn="ctr"/>
              <a:r>
                <a:rPr lang="ko-KR" altLang="en-US" sz="1600" b="0" dirty="0">
                  <a:solidFill>
                    <a:schemeClr val="tx1"/>
                  </a:solidFill>
                  <a:latin typeface="+mn-ea"/>
                </a:rPr>
                <a:t>대법원</a:t>
              </a:r>
            </a:p>
          </p:txBody>
        </p:sp>
        <p:cxnSp>
          <p:nvCxnSpPr>
            <p:cNvPr id="59" name="AutoShape 17"/>
            <p:cNvCxnSpPr>
              <a:cxnSpLocks noChangeShapeType="1"/>
              <a:stCxn id="41" idx="3"/>
              <a:endCxn id="55" idx="1"/>
            </p:cNvCxnSpPr>
            <p:nvPr/>
          </p:nvCxnSpPr>
          <p:spPr bwMode="auto">
            <a:xfrm>
              <a:off x="2842386" y="2358280"/>
              <a:ext cx="887015" cy="0"/>
            </a:xfrm>
            <a:prstGeom prst="straightConnector1">
              <a:avLst/>
            </a:prstGeom>
            <a:noFill/>
            <a:ln w="38100">
              <a:solidFill>
                <a:srgbClr val="5F5F5F"/>
              </a:solidFill>
              <a:round/>
              <a:headEnd/>
              <a:tailEnd type="triangle" w="med" len="med"/>
            </a:ln>
            <a:extLst>
              <a:ext uri="{909E8E84-426E-40DD-AFC4-6F175D3DCCD1}">
                <a14:hiddenFill xmlns:a14="http://schemas.microsoft.com/office/drawing/2010/main">
                  <a:noFill/>
                </a14:hiddenFill>
              </a:ext>
            </a:extLst>
          </p:spPr>
        </p:cxnSp>
        <p:cxnSp>
          <p:nvCxnSpPr>
            <p:cNvPr id="60" name="AutoShape 17"/>
            <p:cNvCxnSpPr>
              <a:cxnSpLocks noChangeShapeType="1"/>
              <a:stCxn id="55" idx="3"/>
              <a:endCxn id="56" idx="1"/>
            </p:cNvCxnSpPr>
            <p:nvPr/>
          </p:nvCxnSpPr>
          <p:spPr bwMode="auto">
            <a:xfrm>
              <a:off x="5530685" y="2358280"/>
              <a:ext cx="983025" cy="0"/>
            </a:xfrm>
            <a:prstGeom prst="straightConnector1">
              <a:avLst/>
            </a:prstGeom>
            <a:noFill/>
            <a:ln w="38100">
              <a:solidFill>
                <a:srgbClr val="5F5F5F"/>
              </a:solidFill>
              <a:round/>
              <a:headEnd/>
              <a:tailEnd type="triangle" w="med" len="med"/>
            </a:ln>
            <a:extLst>
              <a:ext uri="{909E8E84-426E-40DD-AFC4-6F175D3DCCD1}">
                <a14:hiddenFill xmlns:a14="http://schemas.microsoft.com/office/drawing/2010/main">
                  <a:noFill/>
                </a14:hiddenFill>
              </a:ext>
            </a:extLst>
          </p:spPr>
        </p:cxnSp>
        <p:cxnSp>
          <p:nvCxnSpPr>
            <p:cNvPr id="62" name="AutoShape 17"/>
            <p:cNvCxnSpPr>
              <a:cxnSpLocks noChangeShapeType="1"/>
              <a:stCxn id="56" idx="3"/>
              <a:endCxn id="58" idx="1"/>
            </p:cNvCxnSpPr>
            <p:nvPr/>
          </p:nvCxnSpPr>
          <p:spPr bwMode="auto">
            <a:xfrm>
              <a:off x="8314994" y="2358280"/>
              <a:ext cx="887015" cy="0"/>
            </a:xfrm>
            <a:prstGeom prst="straightConnector1">
              <a:avLst/>
            </a:prstGeom>
            <a:noFill/>
            <a:ln w="38100">
              <a:solidFill>
                <a:srgbClr val="5F5F5F"/>
              </a:solidFill>
              <a:round/>
              <a:headEnd/>
              <a:tailEnd type="triangle" w="med" len="med"/>
            </a:ln>
            <a:extLst>
              <a:ext uri="{909E8E84-426E-40DD-AFC4-6F175D3DCCD1}">
                <a14:hiddenFill xmlns:a14="http://schemas.microsoft.com/office/drawing/2010/main">
                  <a:noFill/>
                </a14:hiddenFill>
              </a:ext>
            </a:extLst>
          </p:spPr>
        </p:cxnSp>
        <p:cxnSp>
          <p:nvCxnSpPr>
            <p:cNvPr id="63" name="꺾인 연결선 62"/>
            <p:cNvCxnSpPr>
              <a:stCxn id="52" idx="1"/>
              <a:endCxn id="42" idx="1"/>
            </p:cNvCxnSpPr>
            <p:nvPr/>
          </p:nvCxnSpPr>
          <p:spPr>
            <a:xfrm rot="10800000" flipH="1" flipV="1">
              <a:off x="1041100" y="2977504"/>
              <a:ext cx="553147" cy="676126"/>
            </a:xfrm>
            <a:prstGeom prst="bentConnector3">
              <a:avLst>
                <a:gd name="adj1" fmla="val -5510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88419" y="3200151"/>
              <a:ext cx="719239" cy="276999"/>
            </a:xfrm>
            <a:prstGeom prst="rect">
              <a:avLst/>
            </a:prstGeom>
            <a:noFill/>
          </p:spPr>
          <p:txBody>
            <a:bodyPr wrap="none" rtlCol="0">
              <a:spAutoFit/>
            </a:bodyPr>
            <a:lstStyle/>
            <a:p>
              <a:r>
                <a:rPr lang="en-US" altLang="ko-KR" sz="1200" dirty="0"/>
                <a:t>3</a:t>
              </a:r>
              <a:r>
                <a:rPr lang="ko-KR" altLang="en-US" sz="1200" dirty="0"/>
                <a:t>개월</a:t>
              </a:r>
              <a:r>
                <a:rPr lang="en-US" altLang="ko-KR" sz="1200" dirty="0"/>
                <a:t>*</a:t>
              </a:r>
              <a:endParaRPr lang="ko-KR" altLang="en-US" sz="1200" dirty="0"/>
            </a:p>
          </p:txBody>
        </p:sp>
        <p:sp>
          <p:nvSpPr>
            <p:cNvPr id="67" name="Rectangle 14"/>
            <p:cNvSpPr>
              <a:spLocks noChangeArrowheads="1"/>
            </p:cNvSpPr>
            <p:nvPr/>
          </p:nvSpPr>
          <p:spPr bwMode="auto">
            <a:xfrm>
              <a:off x="4269421" y="4286605"/>
              <a:ext cx="694995" cy="325438"/>
            </a:xfrm>
            <a:prstGeom prst="rect">
              <a:avLst/>
            </a:prstGeom>
            <a:solidFill>
              <a:schemeClr val="tx1">
                <a:lumMod val="50000"/>
                <a:lumOff val="50000"/>
              </a:schemeClr>
            </a:solidFill>
            <a:ln w="9525" algn="ctr">
              <a:solidFill>
                <a:srgbClr val="5F5F5F"/>
              </a:solidFill>
              <a:miter lim="800000"/>
              <a:headEnd/>
              <a:tailEnd/>
            </a:ln>
          </p:spPr>
          <p:txBody>
            <a:bodyPr wrap="none" anchor="ctr"/>
            <a:lstStyle/>
            <a:p>
              <a:pPr algn="ctr"/>
              <a:r>
                <a:rPr lang="ko-KR" altLang="en-US" sz="1200" b="0" dirty="0">
                  <a:solidFill>
                    <a:schemeClr val="bg1">
                      <a:lumMod val="95000"/>
                    </a:schemeClr>
                  </a:solidFill>
                  <a:latin typeface="+mj-ea"/>
                  <a:ea typeface="+mj-ea"/>
                </a:rPr>
                <a:t>확정</a:t>
              </a:r>
            </a:p>
          </p:txBody>
        </p:sp>
        <p:cxnSp>
          <p:nvCxnSpPr>
            <p:cNvPr id="68" name="AutoShape 17"/>
            <p:cNvCxnSpPr>
              <a:cxnSpLocks noChangeShapeType="1"/>
              <a:stCxn id="55" idx="2"/>
              <a:endCxn id="67" idx="0"/>
            </p:cNvCxnSpPr>
            <p:nvPr/>
          </p:nvCxnSpPr>
          <p:spPr bwMode="auto">
            <a:xfrm flipH="1">
              <a:off x="4616919" y="2521793"/>
              <a:ext cx="13124" cy="1764813"/>
            </a:xfrm>
            <a:prstGeom prst="straightConnector1">
              <a:avLst/>
            </a:prstGeom>
            <a:noFill/>
            <a:ln w="9525">
              <a:solidFill>
                <a:srgbClr val="5F5F5F"/>
              </a:solidFill>
              <a:round/>
              <a:headEnd/>
              <a:tailEnd type="triangle" w="med" len="med"/>
            </a:ln>
            <a:extLst>
              <a:ext uri="{909E8E84-426E-40DD-AFC4-6F175D3DCCD1}">
                <a14:hiddenFill xmlns:a14="http://schemas.microsoft.com/office/drawing/2010/main">
                  <a:noFill/>
                </a14:hiddenFill>
              </a:ext>
            </a:extLst>
          </p:spPr>
        </p:cxnSp>
        <p:sp>
          <p:nvSpPr>
            <p:cNvPr id="70" name="Rectangle 13"/>
            <p:cNvSpPr>
              <a:spLocks noChangeArrowheads="1"/>
            </p:cNvSpPr>
            <p:nvPr/>
          </p:nvSpPr>
          <p:spPr bwMode="auto">
            <a:xfrm>
              <a:off x="3716275" y="3609686"/>
              <a:ext cx="1801284" cy="32702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err="1">
                  <a:latin typeface="+mj-ea"/>
                  <a:ea typeface="+mj-ea"/>
                </a:rPr>
                <a:t>기각심결등본송달</a:t>
              </a:r>
              <a:endParaRPr lang="ko-KR" altLang="en-US" sz="1200" b="0" dirty="0">
                <a:latin typeface="+mj-ea"/>
                <a:ea typeface="+mj-ea"/>
              </a:endParaRPr>
            </a:p>
          </p:txBody>
        </p:sp>
        <p:cxnSp>
          <p:nvCxnSpPr>
            <p:cNvPr id="71" name="꺾인 연결선 70"/>
            <p:cNvCxnSpPr>
              <a:stCxn id="70" idx="1"/>
              <a:endCxn id="67" idx="1"/>
            </p:cNvCxnSpPr>
            <p:nvPr/>
          </p:nvCxnSpPr>
          <p:spPr>
            <a:xfrm rot="10800000" flipH="1" flipV="1">
              <a:off x="3716275" y="3773198"/>
              <a:ext cx="553147" cy="676126"/>
            </a:xfrm>
            <a:prstGeom prst="bentConnector3">
              <a:avLst>
                <a:gd name="adj1" fmla="val -5510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2673284" y="4043039"/>
              <a:ext cx="662361" cy="276999"/>
            </a:xfrm>
            <a:prstGeom prst="rect">
              <a:avLst/>
            </a:prstGeom>
            <a:noFill/>
          </p:spPr>
          <p:txBody>
            <a:bodyPr wrap="none" rtlCol="0">
              <a:spAutoFit/>
            </a:bodyPr>
            <a:lstStyle/>
            <a:p>
              <a:r>
                <a:rPr lang="en-US" altLang="ko-KR" sz="1200" dirty="0"/>
                <a:t>30</a:t>
              </a:r>
              <a:r>
                <a:rPr lang="ko-KR" altLang="en-US" sz="1200" dirty="0"/>
                <a:t>일</a:t>
              </a:r>
              <a:r>
                <a:rPr lang="en-US" altLang="ko-KR" sz="1200" dirty="0"/>
                <a:t>**</a:t>
              </a:r>
              <a:endParaRPr lang="ko-KR" altLang="en-US" sz="1200" dirty="0"/>
            </a:p>
          </p:txBody>
        </p:sp>
        <p:sp>
          <p:nvSpPr>
            <p:cNvPr id="76" name="Rectangle 14"/>
            <p:cNvSpPr>
              <a:spLocks noChangeArrowheads="1"/>
            </p:cNvSpPr>
            <p:nvPr/>
          </p:nvSpPr>
          <p:spPr bwMode="auto">
            <a:xfrm>
              <a:off x="7066856" y="5118199"/>
              <a:ext cx="694995" cy="325438"/>
            </a:xfrm>
            <a:prstGeom prst="rect">
              <a:avLst/>
            </a:prstGeom>
            <a:solidFill>
              <a:schemeClr val="tx1">
                <a:lumMod val="50000"/>
                <a:lumOff val="50000"/>
              </a:schemeClr>
            </a:solidFill>
            <a:ln w="9525" algn="ctr">
              <a:solidFill>
                <a:srgbClr val="5F5F5F"/>
              </a:solidFill>
              <a:miter lim="800000"/>
              <a:headEnd/>
              <a:tailEnd/>
            </a:ln>
          </p:spPr>
          <p:txBody>
            <a:bodyPr wrap="none" anchor="ctr"/>
            <a:lstStyle/>
            <a:p>
              <a:pPr algn="ctr"/>
              <a:r>
                <a:rPr lang="ko-KR" altLang="en-US" sz="1200" b="0" dirty="0">
                  <a:solidFill>
                    <a:schemeClr val="bg1">
                      <a:lumMod val="95000"/>
                    </a:schemeClr>
                  </a:solidFill>
                  <a:latin typeface="+mj-ea"/>
                  <a:ea typeface="+mj-ea"/>
                </a:rPr>
                <a:t>확정</a:t>
              </a:r>
            </a:p>
          </p:txBody>
        </p:sp>
        <p:cxnSp>
          <p:nvCxnSpPr>
            <p:cNvPr id="77" name="AutoShape 17"/>
            <p:cNvCxnSpPr>
              <a:cxnSpLocks noChangeShapeType="1"/>
              <a:stCxn id="56" idx="2"/>
              <a:endCxn id="76" idx="0"/>
            </p:cNvCxnSpPr>
            <p:nvPr/>
          </p:nvCxnSpPr>
          <p:spPr bwMode="auto">
            <a:xfrm>
              <a:off x="7414353" y="2521793"/>
              <a:ext cx="1" cy="2596407"/>
            </a:xfrm>
            <a:prstGeom prst="straightConnector1">
              <a:avLst/>
            </a:prstGeom>
            <a:noFill/>
            <a:ln w="9525">
              <a:solidFill>
                <a:srgbClr val="5F5F5F"/>
              </a:solidFill>
              <a:round/>
              <a:headEnd/>
              <a:tailEnd type="triangle" w="med" len="med"/>
            </a:ln>
            <a:extLst>
              <a:ext uri="{909E8E84-426E-40DD-AFC4-6F175D3DCCD1}">
                <a14:hiddenFill xmlns:a14="http://schemas.microsoft.com/office/drawing/2010/main">
                  <a:noFill/>
                </a14:hiddenFill>
              </a:ext>
            </a:extLst>
          </p:spPr>
        </p:cxnSp>
        <p:sp>
          <p:nvSpPr>
            <p:cNvPr id="78" name="Rectangle 13"/>
            <p:cNvSpPr>
              <a:spLocks noChangeArrowheads="1"/>
            </p:cNvSpPr>
            <p:nvPr/>
          </p:nvSpPr>
          <p:spPr bwMode="auto">
            <a:xfrm>
              <a:off x="6513710" y="4441280"/>
              <a:ext cx="1801284" cy="32702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dirty="0">
                  <a:latin typeface="+mj-ea"/>
                  <a:ea typeface="+mj-ea"/>
                </a:rPr>
                <a:t>기각판결정</a:t>
              </a:r>
              <a:r>
                <a:rPr lang="ko-KR" altLang="en-US" sz="1200" b="0" dirty="0">
                  <a:latin typeface="+mj-ea"/>
                  <a:ea typeface="+mj-ea"/>
                </a:rPr>
                <a:t>본송달</a:t>
              </a:r>
            </a:p>
          </p:txBody>
        </p:sp>
        <p:cxnSp>
          <p:nvCxnSpPr>
            <p:cNvPr id="79" name="꺾인 연결선 78"/>
            <p:cNvCxnSpPr>
              <a:stCxn id="78" idx="1"/>
              <a:endCxn id="76" idx="1"/>
            </p:cNvCxnSpPr>
            <p:nvPr/>
          </p:nvCxnSpPr>
          <p:spPr>
            <a:xfrm rot="10800000" flipH="1" flipV="1">
              <a:off x="6513709" y="4604792"/>
              <a:ext cx="553147" cy="676126"/>
            </a:xfrm>
            <a:prstGeom prst="bentConnector3">
              <a:avLst>
                <a:gd name="adj1" fmla="val -5510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TextBox 79"/>
            <p:cNvSpPr txBox="1"/>
            <p:nvPr/>
          </p:nvSpPr>
          <p:spPr>
            <a:xfrm>
              <a:off x="5649613" y="4797152"/>
              <a:ext cx="545342" cy="276999"/>
            </a:xfrm>
            <a:prstGeom prst="rect">
              <a:avLst/>
            </a:prstGeom>
            <a:noFill/>
          </p:spPr>
          <p:txBody>
            <a:bodyPr wrap="none" rtlCol="0">
              <a:spAutoFit/>
            </a:bodyPr>
            <a:lstStyle/>
            <a:p>
              <a:r>
                <a:rPr lang="en-US" altLang="ko-KR" sz="1200" dirty="0"/>
                <a:t>2</a:t>
              </a:r>
              <a:r>
                <a:rPr lang="ko-KR" altLang="en-US" sz="1200" dirty="0"/>
                <a:t>주일</a:t>
              </a:r>
            </a:p>
          </p:txBody>
        </p:sp>
        <p:sp>
          <p:nvSpPr>
            <p:cNvPr id="82" name="Rectangle 14"/>
            <p:cNvSpPr>
              <a:spLocks noChangeArrowheads="1"/>
            </p:cNvSpPr>
            <p:nvPr/>
          </p:nvSpPr>
          <p:spPr bwMode="auto">
            <a:xfrm>
              <a:off x="11065635" y="5119786"/>
              <a:ext cx="694995" cy="325438"/>
            </a:xfrm>
            <a:prstGeom prst="rect">
              <a:avLst/>
            </a:prstGeom>
            <a:solidFill>
              <a:schemeClr val="tx1">
                <a:lumMod val="50000"/>
                <a:lumOff val="50000"/>
              </a:schemeClr>
            </a:solidFill>
            <a:ln w="9525" algn="ctr">
              <a:solidFill>
                <a:srgbClr val="5F5F5F"/>
              </a:solidFill>
              <a:miter lim="800000"/>
              <a:headEnd/>
              <a:tailEnd/>
            </a:ln>
          </p:spPr>
          <p:txBody>
            <a:bodyPr wrap="none" anchor="ctr"/>
            <a:lstStyle/>
            <a:p>
              <a:pPr algn="ctr"/>
              <a:r>
                <a:rPr lang="ko-KR" altLang="en-US" sz="1200" b="0" dirty="0">
                  <a:solidFill>
                    <a:schemeClr val="bg1">
                      <a:lumMod val="95000"/>
                    </a:schemeClr>
                  </a:solidFill>
                  <a:latin typeface="+mj-ea"/>
                  <a:ea typeface="+mj-ea"/>
                </a:rPr>
                <a:t>확정</a:t>
              </a:r>
            </a:p>
          </p:txBody>
        </p:sp>
        <p:cxnSp>
          <p:nvCxnSpPr>
            <p:cNvPr id="83" name="AutoShape 17"/>
            <p:cNvCxnSpPr>
              <a:cxnSpLocks noChangeShapeType="1"/>
              <a:stCxn id="58" idx="2"/>
              <a:endCxn id="84" idx="0"/>
            </p:cNvCxnSpPr>
            <p:nvPr/>
          </p:nvCxnSpPr>
          <p:spPr bwMode="auto">
            <a:xfrm flipH="1">
              <a:off x="10102650" y="2521793"/>
              <a:ext cx="1" cy="2596407"/>
            </a:xfrm>
            <a:prstGeom prst="straightConnector1">
              <a:avLst/>
            </a:prstGeom>
            <a:noFill/>
            <a:ln w="9525">
              <a:solidFill>
                <a:srgbClr val="5F5F5F"/>
              </a:solidFill>
              <a:round/>
              <a:headEnd/>
              <a:tailEnd type="triangle" w="med" len="med"/>
            </a:ln>
            <a:extLst>
              <a:ext uri="{909E8E84-426E-40DD-AFC4-6F175D3DCCD1}">
                <a14:hiddenFill xmlns:a14="http://schemas.microsoft.com/office/drawing/2010/main">
                  <a:noFill/>
                </a14:hiddenFill>
              </a:ext>
            </a:extLst>
          </p:spPr>
        </p:cxnSp>
        <p:sp>
          <p:nvSpPr>
            <p:cNvPr id="84" name="Rectangle 13"/>
            <p:cNvSpPr>
              <a:spLocks noChangeArrowheads="1"/>
            </p:cNvSpPr>
            <p:nvPr/>
          </p:nvSpPr>
          <p:spPr bwMode="auto">
            <a:xfrm>
              <a:off x="9202007" y="5118200"/>
              <a:ext cx="1801284" cy="32702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200" b="0" dirty="0">
                  <a:latin typeface="+mj-ea"/>
                  <a:ea typeface="+mj-ea"/>
                </a:rPr>
                <a:t>기각판결선고</a:t>
              </a:r>
            </a:p>
          </p:txBody>
        </p:sp>
        <p:cxnSp>
          <p:nvCxnSpPr>
            <p:cNvPr id="85" name="직선 화살표 연결선 84"/>
            <p:cNvCxnSpPr/>
            <p:nvPr/>
          </p:nvCxnSpPr>
          <p:spPr>
            <a:xfrm>
              <a:off x="1941745" y="3315567"/>
              <a:ext cx="2675172" cy="0"/>
            </a:xfrm>
            <a:prstGeom prst="straightConnector1">
              <a:avLst/>
            </a:prstGeom>
            <a:ln w="28575">
              <a:solidFill>
                <a:schemeClr val="accent2">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6" name="직선 화살표 연결선 85"/>
            <p:cNvCxnSpPr/>
            <p:nvPr/>
          </p:nvCxnSpPr>
          <p:spPr>
            <a:xfrm>
              <a:off x="4616919" y="4123252"/>
              <a:ext cx="2797435" cy="0"/>
            </a:xfrm>
            <a:prstGeom prst="straightConnector1">
              <a:avLst/>
            </a:prstGeom>
            <a:ln w="28575">
              <a:solidFill>
                <a:schemeClr val="accent2">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7" name="직선 화살표 연결선 86"/>
            <p:cNvCxnSpPr/>
            <p:nvPr/>
          </p:nvCxnSpPr>
          <p:spPr>
            <a:xfrm>
              <a:off x="7414354" y="4940422"/>
              <a:ext cx="2688295" cy="0"/>
            </a:xfrm>
            <a:prstGeom prst="straightConnector1">
              <a:avLst/>
            </a:prstGeom>
            <a:ln w="28575">
              <a:solidFill>
                <a:schemeClr val="accent2">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8" name="TextBox 87"/>
            <p:cNvSpPr txBox="1"/>
            <p:nvPr/>
          </p:nvSpPr>
          <p:spPr>
            <a:xfrm>
              <a:off x="3116278" y="3039793"/>
              <a:ext cx="736099" cy="276999"/>
            </a:xfrm>
            <a:prstGeom prst="rect">
              <a:avLst/>
            </a:prstGeom>
            <a:noFill/>
          </p:spPr>
          <p:txBody>
            <a:bodyPr wrap="none" rtlCol="0">
              <a:spAutoFit/>
            </a:bodyPr>
            <a:lstStyle/>
            <a:p>
              <a:r>
                <a:rPr lang="ko-KR" altLang="en-US" sz="1200"/>
                <a:t>심판청구</a:t>
              </a:r>
              <a:endParaRPr lang="ko-KR" altLang="en-US" sz="1200" dirty="0"/>
            </a:p>
          </p:txBody>
        </p:sp>
        <p:sp>
          <p:nvSpPr>
            <p:cNvPr id="89" name="TextBox 88"/>
            <p:cNvSpPr txBox="1"/>
            <p:nvPr/>
          </p:nvSpPr>
          <p:spPr>
            <a:xfrm>
              <a:off x="5761322" y="3853454"/>
              <a:ext cx="1287532" cy="276999"/>
            </a:xfrm>
            <a:prstGeom prst="rect">
              <a:avLst/>
            </a:prstGeom>
            <a:noFill/>
          </p:spPr>
          <p:txBody>
            <a:bodyPr wrap="none" rtlCol="0">
              <a:spAutoFit/>
            </a:bodyPr>
            <a:lstStyle/>
            <a:p>
              <a:r>
                <a:rPr lang="ko-KR" altLang="en-US" sz="1200" dirty="0" err="1"/>
                <a:t>심결취소소송제기</a:t>
              </a:r>
              <a:endParaRPr lang="ko-KR" altLang="en-US" sz="1200" dirty="0"/>
            </a:p>
          </p:txBody>
        </p:sp>
        <p:sp>
          <p:nvSpPr>
            <p:cNvPr id="90" name="TextBox 89"/>
            <p:cNvSpPr txBox="1"/>
            <p:nvPr/>
          </p:nvSpPr>
          <p:spPr>
            <a:xfrm>
              <a:off x="8566548" y="4675086"/>
              <a:ext cx="460382" cy="276999"/>
            </a:xfrm>
            <a:prstGeom prst="rect">
              <a:avLst/>
            </a:prstGeom>
            <a:noFill/>
          </p:spPr>
          <p:txBody>
            <a:bodyPr wrap="none" rtlCol="0">
              <a:spAutoFit/>
            </a:bodyPr>
            <a:lstStyle/>
            <a:p>
              <a:r>
                <a:rPr lang="ko-KR" altLang="en-US" sz="1200" dirty="0"/>
                <a:t>상고</a:t>
              </a:r>
            </a:p>
          </p:txBody>
        </p:sp>
      </p:grpSp>
      <p:sp>
        <p:nvSpPr>
          <p:cNvPr id="91" name="TextBox 90"/>
          <p:cNvSpPr txBox="1"/>
          <p:nvPr/>
        </p:nvSpPr>
        <p:spPr>
          <a:xfrm>
            <a:off x="754408" y="5467610"/>
            <a:ext cx="1778051" cy="523220"/>
          </a:xfrm>
          <a:prstGeom prst="rect">
            <a:avLst/>
          </a:prstGeom>
          <a:noFill/>
          <a:ln>
            <a:solidFill>
              <a:schemeClr val="bg1">
                <a:lumMod val="50000"/>
              </a:schemeClr>
            </a:solidFill>
          </a:ln>
        </p:spPr>
        <p:txBody>
          <a:bodyPr wrap="none" rtlCol="0">
            <a:spAutoFit/>
          </a:bodyPr>
          <a:lstStyle/>
          <a:p>
            <a:r>
              <a:rPr lang="en-US" altLang="ko-KR" sz="1400" dirty="0"/>
              <a:t>* </a:t>
            </a:r>
            <a:r>
              <a:rPr lang="ko-KR" altLang="en-US" sz="1400" dirty="0"/>
              <a:t>연장</a:t>
            </a:r>
            <a:r>
              <a:rPr lang="en-US" altLang="ko-KR" sz="1400" dirty="0"/>
              <a:t>, </a:t>
            </a:r>
            <a:r>
              <a:rPr lang="ko-KR" altLang="en-US" sz="1400" dirty="0"/>
              <a:t>추후보완 가능</a:t>
            </a:r>
            <a:endParaRPr lang="en-US" altLang="ko-KR" sz="1400" dirty="0"/>
          </a:p>
          <a:p>
            <a:r>
              <a:rPr lang="en-US" altLang="ko-KR" sz="1400" dirty="0"/>
              <a:t>** </a:t>
            </a:r>
            <a:r>
              <a:rPr lang="ko-KR" altLang="en-US" sz="1400" dirty="0"/>
              <a:t>부가기간 가능</a:t>
            </a:r>
          </a:p>
        </p:txBody>
      </p:sp>
      <p:sp>
        <p:nvSpPr>
          <p:cNvPr id="5" name="슬라이드 번호 개체 틀 4"/>
          <p:cNvSpPr>
            <a:spLocks noGrp="1"/>
          </p:cNvSpPr>
          <p:nvPr>
            <p:ph type="sldNum" sz="quarter" idx="12"/>
          </p:nvPr>
        </p:nvSpPr>
        <p:spPr/>
        <p:txBody>
          <a:bodyPr/>
          <a:lstStyle/>
          <a:p>
            <a:r>
              <a:rPr lang="en-US" altLang="ko-KR"/>
              <a:t>264</a:t>
            </a:r>
            <a:endParaRPr lang="ko-KR" altLang="en-US" dirty="0"/>
          </a:p>
        </p:txBody>
      </p:sp>
    </p:spTree>
    <p:extLst>
      <p:ext uri="{BB962C8B-B14F-4D97-AF65-F5344CB8AC3E}">
        <p14:creationId xmlns:p14="http://schemas.microsoft.com/office/powerpoint/2010/main" val="1224117918"/>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66</a:t>
            </a:r>
            <a:r>
              <a:rPr lang="ko-KR" altLang="en-US" dirty="0"/>
              <a:t>조의</a:t>
            </a:r>
            <a:r>
              <a:rPr lang="en-US" altLang="ko-KR" dirty="0"/>
              <a:t>2</a:t>
            </a:r>
            <a:endParaRPr lang="ko-KR" altLang="en-US" dirty="0"/>
          </a:p>
        </p:txBody>
      </p:sp>
      <p:sp>
        <p:nvSpPr>
          <p:cNvPr id="4" name="텍스트 개체 틀 3"/>
          <p:cNvSpPr>
            <a:spLocks noGrp="1"/>
          </p:cNvSpPr>
          <p:nvPr>
            <p:ph type="body" sz="quarter" idx="13"/>
          </p:nvPr>
        </p:nvSpPr>
        <p:spPr/>
        <p:txBody>
          <a:bodyPr/>
          <a:lstStyle/>
          <a:p>
            <a:r>
              <a:rPr lang="ko-KR" altLang="en-US" dirty="0"/>
              <a:t>직권보정</a:t>
            </a:r>
            <a:r>
              <a:rPr lang="en-US" altLang="ko-KR" dirty="0"/>
              <a:t>(</a:t>
            </a:r>
            <a:r>
              <a:rPr lang="ko-KR" altLang="en-US" dirty="0"/>
              <a:t>제</a:t>
            </a:r>
            <a:r>
              <a:rPr lang="en-US" altLang="ko-KR" dirty="0"/>
              <a:t>66</a:t>
            </a:r>
            <a:r>
              <a:rPr lang="ko-KR" altLang="en-US" dirty="0"/>
              <a:t>조의</a:t>
            </a:r>
            <a:r>
              <a:rPr lang="en-US" altLang="ko-KR" dirty="0"/>
              <a:t>2)</a:t>
            </a:r>
            <a:r>
              <a:rPr lang="ko-KR" altLang="en-US" dirty="0"/>
              <a:t>의 개념</a:t>
            </a:r>
          </a:p>
        </p:txBody>
      </p:sp>
      <p:sp>
        <p:nvSpPr>
          <p:cNvPr id="93" name="TextBox 92"/>
          <p:cNvSpPr txBox="1"/>
          <p:nvPr/>
        </p:nvSpPr>
        <p:spPr>
          <a:xfrm>
            <a:off x="77875" y="986046"/>
            <a:ext cx="11936323" cy="2031325"/>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66</a:t>
            </a:r>
            <a:r>
              <a:rPr lang="ko-KR" altLang="en-US" sz="1400" b="1" dirty="0">
                <a:solidFill>
                  <a:schemeClr val="accent1"/>
                </a:solidFill>
              </a:rPr>
              <a:t>조의</a:t>
            </a:r>
            <a:r>
              <a:rPr lang="en-US" altLang="ko-KR" sz="1400" b="1" dirty="0">
                <a:solidFill>
                  <a:schemeClr val="accent1"/>
                </a:solidFill>
              </a:rPr>
              <a:t>2(</a:t>
            </a:r>
            <a:r>
              <a:rPr lang="ko-KR" altLang="en-US" sz="1400" b="1" dirty="0">
                <a:solidFill>
                  <a:schemeClr val="accent1"/>
                </a:solidFill>
              </a:rPr>
              <a:t>직권보정 등</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심사관은 제</a:t>
            </a:r>
            <a:r>
              <a:rPr lang="en-US" altLang="ko-KR" sz="1400" dirty="0">
                <a:solidFill>
                  <a:schemeClr val="tx2"/>
                </a:solidFill>
              </a:rPr>
              <a:t>66</a:t>
            </a:r>
            <a:r>
              <a:rPr lang="ko-KR" altLang="en-US" sz="1400" dirty="0">
                <a:solidFill>
                  <a:schemeClr val="tx2"/>
                </a:solidFill>
              </a:rPr>
              <a:t>조에 따른 특허결정을 할 때에 </a:t>
            </a:r>
            <a:r>
              <a:rPr lang="ko-KR" altLang="en-US" sz="1400" dirty="0" err="1">
                <a:solidFill>
                  <a:schemeClr val="tx2"/>
                </a:solidFill>
              </a:rPr>
              <a:t>특허출원서에</a:t>
            </a:r>
            <a:r>
              <a:rPr lang="ko-KR" altLang="en-US" sz="1400" dirty="0">
                <a:solidFill>
                  <a:schemeClr val="tx2"/>
                </a:solidFill>
              </a:rPr>
              <a:t> 첨부된 명세서</a:t>
            </a:r>
            <a:r>
              <a:rPr lang="en-US" altLang="ko-KR" sz="1400" dirty="0">
                <a:solidFill>
                  <a:schemeClr val="tx2"/>
                </a:solidFill>
              </a:rPr>
              <a:t>, </a:t>
            </a:r>
            <a:r>
              <a:rPr lang="ko-KR" altLang="en-US" sz="1400" dirty="0">
                <a:solidFill>
                  <a:schemeClr val="tx2"/>
                </a:solidFill>
              </a:rPr>
              <a:t>도면 또는 요약서에 적힌 사항이 명백히 잘못된 경우에는 직권으로 보정</a:t>
            </a:r>
            <a:r>
              <a:rPr lang="en-US" altLang="ko-KR" sz="1400" dirty="0">
                <a:solidFill>
                  <a:schemeClr val="tx2"/>
                </a:solidFill>
              </a:rPr>
              <a:t>(</a:t>
            </a:r>
            <a:r>
              <a:rPr lang="ko-KR" altLang="en-US" sz="1400" dirty="0">
                <a:solidFill>
                  <a:schemeClr val="tx2"/>
                </a:solidFill>
              </a:rPr>
              <a:t>이하 </a:t>
            </a:r>
            <a:r>
              <a:rPr lang="en-US" altLang="ko-KR" sz="1400" dirty="0">
                <a:solidFill>
                  <a:schemeClr val="tx2"/>
                </a:solidFill>
              </a:rPr>
              <a:t>"</a:t>
            </a:r>
            <a:r>
              <a:rPr lang="ko-KR" altLang="en-US" sz="1400" dirty="0">
                <a:solidFill>
                  <a:schemeClr val="tx2"/>
                </a:solidFill>
              </a:rPr>
              <a:t>직권보정</a:t>
            </a:r>
            <a:r>
              <a:rPr lang="en-US" altLang="ko-KR" sz="1400" dirty="0">
                <a:solidFill>
                  <a:schemeClr val="tx2"/>
                </a:solidFill>
              </a:rPr>
              <a:t>"</a:t>
            </a:r>
            <a:r>
              <a:rPr lang="ko-KR" altLang="en-US" sz="1400" dirty="0">
                <a:solidFill>
                  <a:schemeClr val="tx2"/>
                </a:solidFill>
              </a:rPr>
              <a:t>이라 한다</a:t>
            </a:r>
            <a:r>
              <a:rPr lang="en-US" altLang="ko-KR" sz="1400" dirty="0">
                <a:solidFill>
                  <a:schemeClr val="tx2"/>
                </a:solidFill>
              </a:rPr>
              <a:t>)</a:t>
            </a:r>
            <a:r>
              <a:rPr lang="ko-KR" altLang="en-US" sz="1400" dirty="0">
                <a:solidFill>
                  <a:schemeClr val="tx2"/>
                </a:solidFill>
              </a:rPr>
              <a:t>할 수 있다</a:t>
            </a:r>
            <a:r>
              <a:rPr lang="en-US" altLang="ko-KR" sz="1400" dirty="0">
                <a:solidFill>
                  <a:schemeClr val="tx2"/>
                </a:solidFill>
              </a:rPr>
              <a:t>. </a:t>
            </a:r>
            <a:r>
              <a:rPr lang="ko-KR" altLang="en-US" sz="1400" dirty="0">
                <a:solidFill>
                  <a:srgbClr val="FF0000"/>
                </a:solidFill>
              </a:rPr>
              <a:t>이 경우 직권보정은 제</a:t>
            </a:r>
            <a:r>
              <a:rPr lang="en-US" altLang="ko-KR" sz="1400" dirty="0">
                <a:solidFill>
                  <a:srgbClr val="FF0000"/>
                </a:solidFill>
              </a:rPr>
              <a:t>47</a:t>
            </a:r>
            <a:r>
              <a:rPr lang="ko-KR" altLang="en-US" sz="1400" dirty="0">
                <a:solidFill>
                  <a:srgbClr val="FF0000"/>
                </a:solidFill>
              </a:rPr>
              <a:t>조제</a:t>
            </a:r>
            <a:r>
              <a:rPr lang="en-US" altLang="ko-KR" sz="1400" dirty="0">
                <a:solidFill>
                  <a:srgbClr val="FF0000"/>
                </a:solidFill>
              </a:rPr>
              <a:t>2</a:t>
            </a:r>
            <a:r>
              <a:rPr lang="ko-KR" altLang="en-US" sz="1400" dirty="0">
                <a:solidFill>
                  <a:srgbClr val="FF0000"/>
                </a:solidFill>
              </a:rPr>
              <a:t>항에 따른 범위에서 하여야 한다</a:t>
            </a:r>
            <a:r>
              <a:rPr lang="en-US" altLang="ko-KR" sz="1400" dirty="0">
                <a:solidFill>
                  <a:srgbClr val="FF0000"/>
                </a:solidFill>
              </a:rPr>
              <a:t>.</a:t>
            </a:r>
          </a:p>
          <a:p>
            <a:pPr fontAlgn="base"/>
            <a:r>
              <a:rPr lang="en-US" altLang="ko-KR" sz="1400" dirty="0">
                <a:solidFill>
                  <a:schemeClr val="tx2"/>
                </a:solidFill>
              </a:rPr>
              <a:t>②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따라 심사관이 직권보정을 하려면 제</a:t>
            </a:r>
            <a:r>
              <a:rPr lang="en-US" altLang="ko-KR" sz="1400" dirty="0">
                <a:solidFill>
                  <a:schemeClr val="tx2"/>
                </a:solidFill>
              </a:rPr>
              <a:t>67</a:t>
            </a:r>
            <a:r>
              <a:rPr lang="ko-KR" altLang="en-US" sz="1400" dirty="0">
                <a:solidFill>
                  <a:schemeClr val="tx2"/>
                </a:solidFill>
              </a:rPr>
              <a:t>조제</a:t>
            </a:r>
            <a:r>
              <a:rPr lang="en-US" altLang="ko-KR" sz="1400" dirty="0">
                <a:solidFill>
                  <a:schemeClr val="tx2"/>
                </a:solidFill>
              </a:rPr>
              <a:t>2</a:t>
            </a:r>
            <a:r>
              <a:rPr lang="ko-KR" altLang="en-US" sz="1400" dirty="0">
                <a:solidFill>
                  <a:schemeClr val="tx2"/>
                </a:solidFill>
              </a:rPr>
              <a:t>항에 따른 특허결정의 등본 송달과 함께 그 직권보정 사항을 </a:t>
            </a:r>
            <a:r>
              <a:rPr lang="ko-KR" altLang="en-US" sz="1400" dirty="0" err="1">
                <a:solidFill>
                  <a:schemeClr val="tx2"/>
                </a:solidFill>
              </a:rPr>
              <a:t>특허출원인에게</a:t>
            </a:r>
            <a:r>
              <a:rPr lang="ko-KR" altLang="en-US" sz="1400" dirty="0">
                <a:solidFill>
                  <a:schemeClr val="tx2"/>
                </a:solidFill>
              </a:rPr>
              <a:t> 알려야 한다</a:t>
            </a:r>
            <a:r>
              <a:rPr lang="en-US" altLang="ko-KR" sz="1400" dirty="0">
                <a:solidFill>
                  <a:schemeClr val="tx2"/>
                </a:solidFill>
              </a:rPr>
              <a:t>.</a:t>
            </a:r>
          </a:p>
          <a:p>
            <a:pPr fontAlgn="base"/>
            <a:r>
              <a:rPr lang="en-US" altLang="ko-KR" sz="1400" dirty="0">
                <a:solidFill>
                  <a:schemeClr val="tx2"/>
                </a:solidFill>
              </a:rPr>
              <a:t>③ </a:t>
            </a:r>
            <a:r>
              <a:rPr lang="ko-KR" altLang="en-US" sz="1400" dirty="0" err="1">
                <a:solidFill>
                  <a:schemeClr val="tx2"/>
                </a:solidFill>
              </a:rPr>
              <a:t>특허출원인은</a:t>
            </a:r>
            <a:r>
              <a:rPr lang="ko-KR" altLang="en-US" sz="1400" dirty="0">
                <a:solidFill>
                  <a:schemeClr val="tx2"/>
                </a:solidFill>
              </a:rPr>
              <a:t> 직권보정 사항의 전부 또는 </a:t>
            </a:r>
            <a:r>
              <a:rPr lang="ko-KR" altLang="en-US" sz="1400" dirty="0">
                <a:solidFill>
                  <a:srgbClr val="FF0000"/>
                </a:solidFill>
              </a:rPr>
              <a:t>일부</a:t>
            </a:r>
            <a:r>
              <a:rPr lang="ko-KR" altLang="en-US" sz="1400" dirty="0">
                <a:solidFill>
                  <a:schemeClr val="tx2"/>
                </a:solidFill>
              </a:rPr>
              <a:t>를 받아들일 수 없으면 제</a:t>
            </a:r>
            <a:r>
              <a:rPr lang="en-US" altLang="ko-KR" sz="1400" dirty="0">
                <a:solidFill>
                  <a:schemeClr val="tx2"/>
                </a:solidFill>
              </a:rPr>
              <a:t>79</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따라 특허료를 낼 때까지 그 직권보정 사항에 대한 의견서를 지식재산처장에게 제출하여야 한다</a:t>
            </a:r>
            <a:r>
              <a:rPr lang="en-US" altLang="ko-KR" sz="1400" dirty="0">
                <a:solidFill>
                  <a:schemeClr val="tx2"/>
                </a:solidFill>
              </a:rPr>
              <a:t>.</a:t>
            </a:r>
          </a:p>
          <a:p>
            <a:pPr fontAlgn="base"/>
            <a:r>
              <a:rPr lang="en-US" altLang="ko-KR" sz="1400" dirty="0">
                <a:solidFill>
                  <a:schemeClr val="tx2"/>
                </a:solidFill>
              </a:rPr>
              <a:t>④ </a:t>
            </a:r>
            <a:r>
              <a:rPr lang="ko-KR" altLang="en-US" sz="1400" dirty="0" err="1">
                <a:solidFill>
                  <a:schemeClr val="tx2"/>
                </a:solidFill>
              </a:rPr>
              <a:t>특허출원인이</a:t>
            </a:r>
            <a:r>
              <a:rPr lang="ko-KR" altLang="en-US" sz="1400" dirty="0">
                <a:solidFill>
                  <a:schemeClr val="tx2"/>
                </a:solidFill>
              </a:rPr>
              <a:t> 제</a:t>
            </a:r>
            <a:r>
              <a:rPr lang="en-US" altLang="ko-KR" sz="1400" dirty="0">
                <a:solidFill>
                  <a:schemeClr val="tx2"/>
                </a:solidFill>
              </a:rPr>
              <a:t>3</a:t>
            </a:r>
            <a:r>
              <a:rPr lang="ko-KR" altLang="en-US" sz="1400" dirty="0">
                <a:solidFill>
                  <a:schemeClr val="tx2"/>
                </a:solidFill>
              </a:rPr>
              <a:t>항에 따라 의견서를 제출한 경우 해당 직권보정 사항의 전부 또는 일부는 처음부터 없었던 것으로 본다</a:t>
            </a:r>
            <a:r>
              <a:rPr lang="en-US" altLang="ko-KR" sz="1400" dirty="0">
                <a:solidFill>
                  <a:schemeClr val="tx2"/>
                </a:solidFill>
              </a:rPr>
              <a:t>. </a:t>
            </a:r>
            <a:r>
              <a:rPr lang="ko-KR" altLang="en-US" sz="1400" dirty="0">
                <a:solidFill>
                  <a:schemeClr val="tx2"/>
                </a:solidFill>
              </a:rPr>
              <a:t>이 경우 그 특허결정도 함께 취소된 것으로 본다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err="1">
                <a:solidFill>
                  <a:schemeClr val="tx2"/>
                </a:solidFill>
              </a:rPr>
              <a:t>특허출원서에</a:t>
            </a:r>
            <a:r>
              <a:rPr lang="ko-KR" altLang="en-US" sz="1400" dirty="0">
                <a:solidFill>
                  <a:schemeClr val="tx2"/>
                </a:solidFill>
              </a:rPr>
              <a:t> 첨부된 요약서에 관한 직권보정 사항의 전부 또는 일부만 처음부터 없었던 것으로 보는 경우에는 그러하지 아니하다</a:t>
            </a:r>
            <a:r>
              <a:rPr lang="en-US" altLang="ko-KR" sz="1400" dirty="0">
                <a:solidFill>
                  <a:schemeClr val="tx2"/>
                </a:solidFill>
              </a:rPr>
              <a:t>.</a:t>
            </a:r>
          </a:p>
          <a:p>
            <a:pPr fontAlgn="base"/>
            <a:r>
              <a:rPr lang="ko-KR" altLang="en-US" sz="1400" dirty="0">
                <a:solidFill>
                  <a:schemeClr val="tx2"/>
                </a:solidFill>
              </a:rPr>
              <a:t>⑤ 삭제</a:t>
            </a:r>
            <a:endParaRPr lang="en-US" altLang="ko-KR" sz="1400" dirty="0">
              <a:solidFill>
                <a:schemeClr val="tx2"/>
              </a:solidFill>
            </a:endParaRPr>
          </a:p>
          <a:p>
            <a:pPr fontAlgn="base"/>
            <a:r>
              <a:rPr lang="en-US" altLang="ko-KR" sz="1400" dirty="0">
                <a:solidFill>
                  <a:srgbClr val="FF0000"/>
                </a:solidFill>
              </a:rPr>
              <a:t>⑥ </a:t>
            </a:r>
            <a:r>
              <a:rPr lang="ko-KR" altLang="en-US" sz="1400" dirty="0">
                <a:solidFill>
                  <a:srgbClr val="FF0000"/>
                </a:solidFill>
              </a:rPr>
              <a:t>직권보정이 제</a:t>
            </a:r>
            <a:r>
              <a:rPr lang="en-US" altLang="ko-KR" sz="1400" dirty="0">
                <a:solidFill>
                  <a:srgbClr val="FF0000"/>
                </a:solidFill>
              </a:rPr>
              <a:t>47</a:t>
            </a:r>
            <a:r>
              <a:rPr lang="ko-KR" altLang="en-US" sz="1400" dirty="0">
                <a:solidFill>
                  <a:srgbClr val="FF0000"/>
                </a:solidFill>
              </a:rPr>
              <a:t>조제</a:t>
            </a:r>
            <a:r>
              <a:rPr lang="en-US" altLang="ko-KR" sz="1400" dirty="0">
                <a:solidFill>
                  <a:srgbClr val="FF0000"/>
                </a:solidFill>
              </a:rPr>
              <a:t>2</a:t>
            </a:r>
            <a:r>
              <a:rPr lang="ko-KR" altLang="en-US" sz="1400" dirty="0">
                <a:solidFill>
                  <a:srgbClr val="FF0000"/>
                </a:solidFill>
              </a:rPr>
              <a:t>항에 따른 범위를 벗어나거나 명백히 잘못되지 아니한 사항을 직권보정한 경우 그 직권보정은 처음부터 없었던 것으로 본다</a:t>
            </a:r>
            <a:r>
              <a:rPr lang="en-US" altLang="ko-KR" sz="1400" dirty="0">
                <a:solidFill>
                  <a:srgbClr val="FF0000"/>
                </a:solidFill>
              </a:rPr>
              <a:t>. </a:t>
            </a:r>
            <a:endParaRPr lang="ko-KR" altLang="en-US" sz="1400" dirty="0">
              <a:solidFill>
                <a:srgbClr val="FF0000"/>
              </a:solidFill>
            </a:endParaRPr>
          </a:p>
        </p:txBody>
      </p:sp>
      <p:cxnSp>
        <p:nvCxnSpPr>
          <p:cNvPr id="95" name="직선 연결선 94"/>
          <p:cNvCxnSpPr/>
          <p:nvPr/>
        </p:nvCxnSpPr>
        <p:spPr>
          <a:xfrm>
            <a:off x="0" y="304058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Rectangle 14"/>
          <p:cNvSpPr>
            <a:spLocks noChangeArrowheads="1"/>
          </p:cNvSpPr>
          <p:nvPr/>
        </p:nvSpPr>
        <p:spPr bwMode="auto">
          <a:xfrm>
            <a:off x="526230" y="4445763"/>
            <a:ext cx="1362973" cy="72554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dirty="0">
                <a:latin typeface="+mn-ea"/>
              </a:rPr>
              <a:t>직권보정</a:t>
            </a:r>
            <a:endParaRPr lang="ko-KR" altLang="en-US" sz="1100" b="0" dirty="0">
              <a:latin typeface="+mn-ea"/>
            </a:endParaRPr>
          </a:p>
        </p:txBody>
      </p:sp>
      <p:sp>
        <p:nvSpPr>
          <p:cNvPr id="32" name="Rectangle 14"/>
          <p:cNvSpPr>
            <a:spLocks noChangeArrowheads="1"/>
          </p:cNvSpPr>
          <p:nvPr/>
        </p:nvSpPr>
        <p:spPr bwMode="auto">
          <a:xfrm>
            <a:off x="526230" y="5439931"/>
            <a:ext cx="1362973" cy="72554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해제조건부</a:t>
            </a:r>
            <a:endParaRPr lang="en-US" altLang="ko-KR" sz="1100" b="0" dirty="0">
              <a:latin typeface="+mn-ea"/>
            </a:endParaRPr>
          </a:p>
          <a:p>
            <a:pPr algn="ctr"/>
            <a:r>
              <a:rPr lang="ko-KR" altLang="en-US" sz="1100" dirty="0">
                <a:latin typeface="+mn-ea"/>
              </a:rPr>
              <a:t>특허결정</a:t>
            </a:r>
            <a:endParaRPr lang="ko-KR" altLang="en-US" sz="1100" b="0" dirty="0">
              <a:latin typeface="+mn-ea"/>
            </a:endParaRPr>
          </a:p>
        </p:txBody>
      </p:sp>
      <p:sp>
        <p:nvSpPr>
          <p:cNvPr id="34" name="다이아몬드 33"/>
          <p:cNvSpPr/>
          <p:nvPr/>
        </p:nvSpPr>
        <p:spPr>
          <a:xfrm>
            <a:off x="2612396" y="4280074"/>
            <a:ext cx="1972733" cy="1015517"/>
          </a:xfrm>
          <a:prstGeom prst="diamond">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chemeClr val="tx1"/>
                </a:solidFill>
              </a:rPr>
              <a:t>출원인의 </a:t>
            </a:r>
            <a:endParaRPr lang="en-US" altLang="ko-KR" sz="1100" dirty="0">
              <a:solidFill>
                <a:schemeClr val="tx1"/>
              </a:solidFill>
            </a:endParaRPr>
          </a:p>
          <a:p>
            <a:pPr algn="ctr"/>
            <a:r>
              <a:rPr lang="ko-KR" altLang="en-US" sz="1100" dirty="0">
                <a:solidFill>
                  <a:schemeClr val="tx1"/>
                </a:solidFill>
              </a:rPr>
              <a:t>의견서</a:t>
            </a:r>
          </a:p>
        </p:txBody>
      </p:sp>
      <p:sp>
        <p:nvSpPr>
          <p:cNvPr id="35" name="Rectangle 14"/>
          <p:cNvSpPr>
            <a:spLocks noChangeArrowheads="1"/>
          </p:cNvSpPr>
          <p:nvPr/>
        </p:nvSpPr>
        <p:spPr bwMode="auto">
          <a:xfrm>
            <a:off x="9670230" y="5439931"/>
            <a:ext cx="1851332" cy="72554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228600" indent="-228600">
              <a:buAutoNum type="arabicPeriod"/>
            </a:pPr>
            <a:r>
              <a:rPr lang="ko-KR" altLang="en-US" sz="1100" b="0" dirty="0">
                <a:latin typeface="+mn-ea"/>
              </a:rPr>
              <a:t>특허등록</a:t>
            </a:r>
            <a:endParaRPr lang="en-US" altLang="ko-KR" sz="1100" b="0" dirty="0">
              <a:latin typeface="+mn-ea"/>
            </a:endParaRPr>
          </a:p>
          <a:p>
            <a:pPr marL="228600" indent="-228600">
              <a:buAutoNum type="arabicPeriod"/>
            </a:pPr>
            <a:r>
              <a:rPr lang="ko-KR" altLang="en-US" sz="1100" dirty="0">
                <a:latin typeface="+mn-ea"/>
              </a:rPr>
              <a:t>직권보정 효력유지</a:t>
            </a:r>
            <a:r>
              <a:rPr lang="en-US" altLang="ko-KR" sz="1100" dirty="0">
                <a:latin typeface="+mn-ea"/>
              </a:rPr>
              <a:t>*</a:t>
            </a:r>
            <a:endParaRPr lang="ko-KR" altLang="en-US" sz="1100" b="0" dirty="0">
              <a:latin typeface="+mn-ea"/>
            </a:endParaRPr>
          </a:p>
        </p:txBody>
      </p:sp>
      <p:sp>
        <p:nvSpPr>
          <p:cNvPr id="38" name="Rectangle 14"/>
          <p:cNvSpPr>
            <a:spLocks noChangeArrowheads="1"/>
          </p:cNvSpPr>
          <p:nvPr/>
        </p:nvSpPr>
        <p:spPr bwMode="auto">
          <a:xfrm>
            <a:off x="5226533" y="3429000"/>
            <a:ext cx="1362973" cy="72554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명세서</a:t>
            </a:r>
            <a:r>
              <a:rPr lang="en-US" altLang="ko-KR" sz="1100" b="0" dirty="0">
                <a:latin typeface="+mn-ea"/>
              </a:rPr>
              <a:t>, </a:t>
            </a:r>
            <a:r>
              <a:rPr lang="ko-KR" altLang="en-US" sz="1100" dirty="0">
                <a:latin typeface="+mn-ea"/>
              </a:rPr>
              <a:t>도면</a:t>
            </a:r>
            <a:endParaRPr lang="ko-KR" altLang="en-US" sz="1100" b="0" dirty="0">
              <a:latin typeface="+mn-ea"/>
            </a:endParaRPr>
          </a:p>
        </p:txBody>
      </p:sp>
      <p:sp>
        <p:nvSpPr>
          <p:cNvPr id="39" name="Rectangle 14"/>
          <p:cNvSpPr>
            <a:spLocks noChangeArrowheads="1"/>
          </p:cNvSpPr>
          <p:nvPr/>
        </p:nvSpPr>
        <p:spPr bwMode="auto">
          <a:xfrm>
            <a:off x="5226533" y="4445763"/>
            <a:ext cx="1362973" cy="72554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요약서</a:t>
            </a:r>
          </a:p>
        </p:txBody>
      </p:sp>
      <p:sp>
        <p:nvSpPr>
          <p:cNvPr id="41" name="Rectangle 14"/>
          <p:cNvSpPr>
            <a:spLocks noChangeArrowheads="1"/>
          </p:cNvSpPr>
          <p:nvPr/>
        </p:nvSpPr>
        <p:spPr bwMode="auto">
          <a:xfrm>
            <a:off x="6951816" y="3429000"/>
            <a:ext cx="1484825" cy="72554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marL="228600" indent="-228600">
              <a:buAutoNum type="arabicPeriod"/>
            </a:pPr>
            <a:r>
              <a:rPr lang="ko-KR" altLang="en-US" sz="1100" b="0" dirty="0">
                <a:latin typeface="+mn-ea"/>
              </a:rPr>
              <a:t>특허결정 취소</a:t>
            </a:r>
            <a:endParaRPr lang="en-US" altLang="ko-KR" sz="1100" b="0" dirty="0">
              <a:latin typeface="+mn-ea"/>
            </a:endParaRPr>
          </a:p>
          <a:p>
            <a:pPr marL="228600" indent="-228600">
              <a:buAutoNum type="arabicPeriod"/>
            </a:pPr>
            <a:r>
              <a:rPr lang="ko-KR" altLang="en-US" sz="1100" dirty="0">
                <a:latin typeface="+mn-ea"/>
              </a:rPr>
              <a:t>직권보정 없었던 것으로 간주</a:t>
            </a:r>
            <a:endParaRPr lang="ko-KR" altLang="en-US" sz="1100" b="0" dirty="0">
              <a:latin typeface="+mn-ea"/>
            </a:endParaRPr>
          </a:p>
        </p:txBody>
      </p:sp>
      <p:sp>
        <p:nvSpPr>
          <p:cNvPr id="46" name="Rectangle 14"/>
          <p:cNvSpPr>
            <a:spLocks noChangeArrowheads="1"/>
          </p:cNvSpPr>
          <p:nvPr/>
        </p:nvSpPr>
        <p:spPr bwMode="auto">
          <a:xfrm>
            <a:off x="6951816" y="4445763"/>
            <a:ext cx="1484825" cy="72554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r>
              <a:rPr lang="ko-KR" altLang="en-US" sz="1100" b="0" dirty="0">
                <a:latin typeface="+mn-ea"/>
              </a:rPr>
              <a:t>직권보정 없었던 것으로 간주</a:t>
            </a:r>
          </a:p>
        </p:txBody>
      </p:sp>
      <p:sp>
        <p:nvSpPr>
          <p:cNvPr id="47" name="Rectangle 14"/>
          <p:cNvSpPr>
            <a:spLocks noChangeArrowheads="1"/>
          </p:cNvSpPr>
          <p:nvPr/>
        </p:nvSpPr>
        <p:spPr bwMode="auto">
          <a:xfrm>
            <a:off x="9670230" y="3429000"/>
            <a:ext cx="1851332" cy="72554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b="0" dirty="0">
                <a:latin typeface="+mn-ea"/>
              </a:rPr>
              <a:t>다시 심사진행</a:t>
            </a:r>
          </a:p>
        </p:txBody>
      </p:sp>
      <p:cxnSp>
        <p:nvCxnSpPr>
          <p:cNvPr id="5" name="직선 연결선 4"/>
          <p:cNvCxnSpPr>
            <a:stCxn id="31" idx="3"/>
            <a:endCxn id="34" idx="1"/>
          </p:cNvCxnSpPr>
          <p:nvPr/>
        </p:nvCxnSpPr>
        <p:spPr>
          <a:xfrm flipV="1">
            <a:off x="1889203" y="4787833"/>
            <a:ext cx="723193" cy="207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 name="꺾인 연결선 6"/>
          <p:cNvCxnSpPr>
            <a:stCxn id="32" idx="3"/>
            <a:endCxn id="34" idx="1"/>
          </p:cNvCxnSpPr>
          <p:nvPr/>
        </p:nvCxnSpPr>
        <p:spPr>
          <a:xfrm flipV="1">
            <a:off x="1889203" y="4787833"/>
            <a:ext cx="723193" cy="1014872"/>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2004595" y="4435420"/>
            <a:ext cx="492408" cy="342611"/>
          </a:xfrm>
          <a:prstGeom prst="rect">
            <a:avLst/>
          </a:prstGeom>
          <a:noFill/>
        </p:spPr>
        <p:txBody>
          <a:bodyPr wrap="square" rtlCol="0">
            <a:spAutoFit/>
          </a:bodyPr>
          <a:lstStyle/>
          <a:p>
            <a:r>
              <a:rPr lang="ko-KR" altLang="en-US" sz="1100" dirty="0"/>
              <a:t>통지</a:t>
            </a:r>
          </a:p>
        </p:txBody>
      </p:sp>
      <p:cxnSp>
        <p:nvCxnSpPr>
          <p:cNvPr id="10" name="꺾인 연결선 9"/>
          <p:cNvCxnSpPr>
            <a:stCxn id="34" idx="2"/>
            <a:endCxn id="35" idx="1"/>
          </p:cNvCxnSpPr>
          <p:nvPr/>
        </p:nvCxnSpPr>
        <p:spPr>
          <a:xfrm rot="16200000" flipH="1">
            <a:off x="6380939" y="2513414"/>
            <a:ext cx="507113" cy="6071467"/>
          </a:xfrm>
          <a:prstGeom prst="bentConnector2">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3149484" y="5295592"/>
            <a:ext cx="492408" cy="342611"/>
          </a:xfrm>
          <a:prstGeom prst="rect">
            <a:avLst/>
          </a:prstGeom>
          <a:noFill/>
        </p:spPr>
        <p:txBody>
          <a:bodyPr wrap="square" rtlCol="0">
            <a:spAutoFit/>
          </a:bodyPr>
          <a:lstStyle/>
          <a:p>
            <a:r>
              <a:rPr lang="en-US" altLang="ko-KR" sz="1100" dirty="0"/>
              <a:t>No</a:t>
            </a:r>
            <a:endParaRPr lang="ko-KR" altLang="en-US" sz="1100" dirty="0"/>
          </a:p>
        </p:txBody>
      </p:sp>
      <p:cxnSp>
        <p:nvCxnSpPr>
          <p:cNvPr id="12" name="꺾인 연결선 11"/>
          <p:cNvCxnSpPr>
            <a:stCxn id="34" idx="3"/>
            <a:endCxn id="38" idx="1"/>
          </p:cNvCxnSpPr>
          <p:nvPr/>
        </p:nvCxnSpPr>
        <p:spPr>
          <a:xfrm flipV="1">
            <a:off x="4585129" y="3791774"/>
            <a:ext cx="641404" cy="996059"/>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 name="꺾인 연결선 13"/>
          <p:cNvCxnSpPr>
            <a:stCxn id="34" idx="3"/>
            <a:endCxn id="39" idx="1"/>
          </p:cNvCxnSpPr>
          <p:nvPr/>
        </p:nvCxnSpPr>
        <p:spPr>
          <a:xfrm>
            <a:off x="4585129" y="4787833"/>
            <a:ext cx="641404" cy="20704"/>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4491243" y="4809806"/>
            <a:ext cx="492408" cy="342611"/>
          </a:xfrm>
          <a:prstGeom prst="rect">
            <a:avLst/>
          </a:prstGeom>
          <a:noFill/>
        </p:spPr>
        <p:txBody>
          <a:bodyPr wrap="square" rtlCol="0">
            <a:spAutoFit/>
          </a:bodyPr>
          <a:lstStyle/>
          <a:p>
            <a:r>
              <a:rPr lang="en-US" altLang="ko-KR" sz="1100" dirty="0"/>
              <a:t>Yes</a:t>
            </a:r>
            <a:endParaRPr lang="ko-KR" altLang="en-US" sz="1100" dirty="0"/>
          </a:p>
        </p:txBody>
      </p:sp>
      <p:cxnSp>
        <p:nvCxnSpPr>
          <p:cNvPr id="16" name="직선 연결선 15"/>
          <p:cNvCxnSpPr>
            <a:stCxn id="38" idx="3"/>
            <a:endCxn id="41" idx="1"/>
          </p:cNvCxnSpPr>
          <p:nvPr/>
        </p:nvCxnSpPr>
        <p:spPr>
          <a:xfrm>
            <a:off x="6589506" y="3791774"/>
            <a:ext cx="362310"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2" name="직선 연결선 21"/>
          <p:cNvCxnSpPr>
            <a:stCxn id="39" idx="3"/>
            <a:endCxn id="46" idx="1"/>
          </p:cNvCxnSpPr>
          <p:nvPr/>
        </p:nvCxnSpPr>
        <p:spPr>
          <a:xfrm>
            <a:off x="6589506" y="4808537"/>
            <a:ext cx="362310"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4" name="직선 연결선 23"/>
          <p:cNvCxnSpPr>
            <a:stCxn id="41" idx="3"/>
            <a:endCxn id="47" idx="1"/>
          </p:cNvCxnSpPr>
          <p:nvPr/>
        </p:nvCxnSpPr>
        <p:spPr>
          <a:xfrm>
            <a:off x="8436641" y="3791774"/>
            <a:ext cx="1233589"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265</a:t>
            </a:r>
            <a:endParaRPr lang="ko-KR" altLang="en-US" dirty="0"/>
          </a:p>
        </p:txBody>
      </p:sp>
      <p:sp>
        <p:nvSpPr>
          <p:cNvPr id="28" name="Rectangle 14">
            <a:extLst>
              <a:ext uri="{FF2B5EF4-FFF2-40B4-BE49-F238E27FC236}">
                <a16:creationId xmlns:a16="http://schemas.microsoft.com/office/drawing/2014/main" id="{DD784AD1-E34B-470A-B1CC-DDB3591A4232}"/>
              </a:ext>
            </a:extLst>
          </p:cNvPr>
          <p:cNvSpPr>
            <a:spLocks noChangeArrowheads="1"/>
          </p:cNvSpPr>
          <p:nvPr/>
        </p:nvSpPr>
        <p:spPr bwMode="auto">
          <a:xfrm>
            <a:off x="9670229" y="4445763"/>
            <a:ext cx="1851333" cy="72554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dirty="0">
                <a:latin typeface="+mn-ea"/>
              </a:rPr>
              <a:t>특허등록</a:t>
            </a:r>
            <a:endParaRPr lang="ko-KR" altLang="en-US" sz="1100" b="0" dirty="0">
              <a:latin typeface="+mn-ea"/>
            </a:endParaRPr>
          </a:p>
        </p:txBody>
      </p:sp>
      <p:cxnSp>
        <p:nvCxnSpPr>
          <p:cNvPr id="29" name="직선 연결선 28">
            <a:extLst>
              <a:ext uri="{FF2B5EF4-FFF2-40B4-BE49-F238E27FC236}">
                <a16:creationId xmlns:a16="http://schemas.microsoft.com/office/drawing/2014/main" id="{4FD00137-D7A6-4CA6-A3B1-7801C58527FD}"/>
              </a:ext>
            </a:extLst>
          </p:cNvPr>
          <p:cNvCxnSpPr>
            <a:cxnSpLocks/>
            <a:stCxn id="46" idx="3"/>
            <a:endCxn id="28" idx="1"/>
          </p:cNvCxnSpPr>
          <p:nvPr/>
        </p:nvCxnSpPr>
        <p:spPr>
          <a:xfrm>
            <a:off x="8436641" y="4808537"/>
            <a:ext cx="1233588"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298C4801-5C01-47DF-9EF3-BFFF383B09DF}"/>
              </a:ext>
            </a:extLst>
          </p:cNvPr>
          <p:cNvSpPr txBox="1"/>
          <p:nvPr/>
        </p:nvSpPr>
        <p:spPr>
          <a:xfrm>
            <a:off x="8462164" y="4483433"/>
            <a:ext cx="910436" cy="261610"/>
          </a:xfrm>
          <a:prstGeom prst="rect">
            <a:avLst/>
          </a:prstGeom>
          <a:noFill/>
        </p:spPr>
        <p:txBody>
          <a:bodyPr wrap="square" rtlCol="0">
            <a:spAutoFit/>
          </a:bodyPr>
          <a:lstStyle/>
          <a:p>
            <a:r>
              <a:rPr lang="ko-KR" altLang="en-US" sz="1100"/>
              <a:t>특허료 납부</a:t>
            </a:r>
            <a:endParaRPr lang="ko-KR" altLang="en-US" sz="1100" dirty="0"/>
          </a:p>
        </p:txBody>
      </p:sp>
      <p:sp>
        <p:nvSpPr>
          <p:cNvPr id="36" name="TextBox 35">
            <a:extLst>
              <a:ext uri="{FF2B5EF4-FFF2-40B4-BE49-F238E27FC236}">
                <a16:creationId xmlns:a16="http://schemas.microsoft.com/office/drawing/2014/main" id="{C6A950B9-93B9-4C40-A0F3-3315096D5952}"/>
              </a:ext>
            </a:extLst>
          </p:cNvPr>
          <p:cNvSpPr txBox="1"/>
          <p:nvPr/>
        </p:nvSpPr>
        <p:spPr>
          <a:xfrm>
            <a:off x="3598760" y="5519766"/>
            <a:ext cx="910436" cy="261610"/>
          </a:xfrm>
          <a:prstGeom prst="rect">
            <a:avLst/>
          </a:prstGeom>
          <a:noFill/>
        </p:spPr>
        <p:txBody>
          <a:bodyPr wrap="square" rtlCol="0">
            <a:spAutoFit/>
          </a:bodyPr>
          <a:lstStyle/>
          <a:p>
            <a:r>
              <a:rPr lang="ko-KR" altLang="en-US" sz="1100"/>
              <a:t>특허료 납부</a:t>
            </a:r>
            <a:endParaRPr lang="ko-KR" altLang="en-US" sz="1100" dirty="0"/>
          </a:p>
        </p:txBody>
      </p:sp>
      <p:sp>
        <p:nvSpPr>
          <p:cNvPr id="37" name="TextBox 36">
            <a:extLst>
              <a:ext uri="{FF2B5EF4-FFF2-40B4-BE49-F238E27FC236}">
                <a16:creationId xmlns:a16="http://schemas.microsoft.com/office/drawing/2014/main" id="{6B3F1FD3-A983-4716-BC68-974D7ED1CADD}"/>
              </a:ext>
            </a:extLst>
          </p:cNvPr>
          <p:cNvSpPr txBox="1"/>
          <p:nvPr/>
        </p:nvSpPr>
        <p:spPr>
          <a:xfrm>
            <a:off x="412867" y="6424980"/>
            <a:ext cx="11366265" cy="261610"/>
          </a:xfrm>
          <a:prstGeom prst="rect">
            <a:avLst/>
          </a:prstGeom>
          <a:noFill/>
        </p:spPr>
        <p:txBody>
          <a:bodyPr wrap="square">
            <a:spAutoFit/>
          </a:bodyPr>
          <a:lstStyle/>
          <a:p>
            <a:r>
              <a:rPr lang="en-US" altLang="ko-KR" sz="1100" dirty="0"/>
              <a:t>* </a:t>
            </a:r>
            <a:r>
              <a:rPr lang="ko-KR" altLang="en-US" sz="1100" dirty="0"/>
              <a:t>직권보정이 신규사항을 추가하거나 명백히 잘못되지 아니한 사항을 직권보정한 경우 그 직권보정은 처음부터 없었던 것으로 간주 </a:t>
            </a:r>
          </a:p>
        </p:txBody>
      </p:sp>
    </p:spTree>
    <p:extLst>
      <p:ext uri="{BB962C8B-B14F-4D97-AF65-F5344CB8AC3E}">
        <p14:creationId xmlns:p14="http://schemas.microsoft.com/office/powerpoint/2010/main" val="1223875371"/>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r>
              <a:rPr lang="en-US" altLang="ko-KR" dirty="0"/>
              <a:t>, </a:t>
            </a:r>
            <a:r>
              <a:rPr lang="ko-KR" altLang="en-US" dirty="0"/>
              <a:t>제</a:t>
            </a:r>
            <a:r>
              <a:rPr lang="en-US" altLang="ko-KR" dirty="0"/>
              <a:t>66</a:t>
            </a:r>
            <a:r>
              <a:rPr lang="ko-KR" altLang="en-US" dirty="0"/>
              <a:t>조의</a:t>
            </a:r>
            <a:r>
              <a:rPr lang="en-US" altLang="ko-KR" dirty="0"/>
              <a:t>2</a:t>
            </a:r>
            <a:endParaRPr lang="ko-KR" altLang="en-US" dirty="0"/>
          </a:p>
        </p:txBody>
      </p:sp>
      <p:sp>
        <p:nvSpPr>
          <p:cNvPr id="4" name="텍스트 개체 틀 3"/>
          <p:cNvSpPr>
            <a:spLocks noGrp="1"/>
          </p:cNvSpPr>
          <p:nvPr>
            <p:ph type="body" sz="quarter" idx="13"/>
          </p:nvPr>
        </p:nvSpPr>
        <p:spPr/>
        <p:txBody>
          <a:bodyPr/>
          <a:lstStyle/>
          <a:p>
            <a:r>
              <a:rPr lang="ko-KR" altLang="en-US" dirty="0"/>
              <a:t>기재불비와 직권보정</a:t>
            </a:r>
          </a:p>
        </p:txBody>
      </p:sp>
      <p:sp>
        <p:nvSpPr>
          <p:cNvPr id="93" name="TextBox 92"/>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심사관은 </a:t>
            </a:r>
            <a:r>
              <a:rPr lang="ko-KR" altLang="en-US" sz="1400" dirty="0" err="1">
                <a:solidFill>
                  <a:schemeClr val="tx2"/>
                </a:solidFill>
              </a:rPr>
              <a:t>특허출원서에</a:t>
            </a:r>
            <a:r>
              <a:rPr lang="ko-KR" altLang="en-US" sz="1400" dirty="0">
                <a:solidFill>
                  <a:schemeClr val="tx2"/>
                </a:solidFill>
              </a:rPr>
              <a:t> 첨부된 명세서</a:t>
            </a:r>
            <a:r>
              <a:rPr lang="en-US" altLang="ko-KR" sz="1400" dirty="0">
                <a:solidFill>
                  <a:schemeClr val="tx2"/>
                </a:solidFill>
              </a:rPr>
              <a:t>, </a:t>
            </a:r>
            <a:r>
              <a:rPr lang="ko-KR" altLang="en-US" sz="1400" dirty="0">
                <a:solidFill>
                  <a:schemeClr val="tx2"/>
                </a:solidFill>
              </a:rPr>
              <a:t>도면 또는 </a:t>
            </a:r>
            <a:r>
              <a:rPr lang="ko-KR" altLang="en-US" sz="1400" dirty="0" err="1">
                <a:solidFill>
                  <a:schemeClr val="tx2"/>
                </a:solidFill>
              </a:rPr>
              <a:t>요약서에</a:t>
            </a:r>
            <a:r>
              <a:rPr lang="ko-KR" altLang="en-US" sz="1400" dirty="0">
                <a:solidFill>
                  <a:schemeClr val="tx2"/>
                </a:solidFill>
              </a:rPr>
              <a:t> 적힌 사항이 명백히 잘못된 경우이고 다른 거절이유가 없다면 직권보정</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66</a:t>
            </a:r>
            <a:r>
              <a:rPr lang="ko-KR" altLang="en-US" sz="1400" dirty="0">
                <a:solidFill>
                  <a:schemeClr val="tx2"/>
                </a:solidFill>
              </a:rPr>
              <a:t>의</a:t>
            </a:r>
            <a:r>
              <a:rPr lang="en-US" altLang="ko-KR" sz="1400" dirty="0">
                <a:solidFill>
                  <a:schemeClr val="tx2"/>
                </a:solidFill>
              </a:rPr>
              <a:t>2)</a:t>
            </a:r>
            <a:r>
              <a:rPr lang="ko-KR" altLang="en-US" sz="1400" dirty="0">
                <a:solidFill>
                  <a:schemeClr val="tx2"/>
                </a:solidFill>
              </a:rPr>
              <a:t>하면서 </a:t>
            </a:r>
            <a:r>
              <a:rPr lang="ko-KR" altLang="en-US" sz="1400" dirty="0" err="1">
                <a:solidFill>
                  <a:schemeClr val="tx2"/>
                </a:solidFill>
              </a:rPr>
              <a:t>특허결정할</a:t>
            </a:r>
            <a:r>
              <a:rPr lang="ko-KR" altLang="en-US" sz="1400" dirty="0">
                <a:solidFill>
                  <a:schemeClr val="tx2"/>
                </a:solidFill>
              </a:rPr>
              <a:t> 수 있다</a:t>
            </a:r>
            <a:r>
              <a:rPr lang="en-US" altLang="ko-KR" sz="1400" dirty="0">
                <a:solidFill>
                  <a:schemeClr val="tx2"/>
                </a:solidFill>
              </a:rPr>
              <a:t>. </a:t>
            </a:r>
            <a:r>
              <a:rPr lang="ko-KR" altLang="en-US" sz="1400" dirty="0">
                <a:solidFill>
                  <a:schemeClr val="accent3">
                    <a:lumMod val="50000"/>
                  </a:schemeClr>
                </a:solidFill>
                <a:highlight>
                  <a:srgbClr val="FFFF00"/>
                </a:highlight>
              </a:rPr>
              <a:t>「명백히 잘못된 경우」란 사소한 </a:t>
            </a:r>
            <a:r>
              <a:rPr lang="ko-KR" altLang="en-US" sz="1400" dirty="0" err="1">
                <a:solidFill>
                  <a:schemeClr val="accent3">
                    <a:lumMod val="50000"/>
                  </a:schemeClr>
                </a:solidFill>
                <a:highlight>
                  <a:srgbClr val="FFFF00"/>
                </a:highlight>
              </a:rPr>
              <a:t>오탈자</a:t>
            </a:r>
            <a:r>
              <a:rPr lang="ko-KR" altLang="en-US" sz="1400" dirty="0">
                <a:solidFill>
                  <a:schemeClr val="accent3">
                    <a:lumMod val="50000"/>
                  </a:schemeClr>
                </a:solidFill>
                <a:highlight>
                  <a:srgbClr val="FFFF00"/>
                </a:highlight>
              </a:rPr>
              <a:t> 이외에 명백히 잘못 기재된 기재불비가 있는 경우를 말하고</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여기서 명백히 잘못 기재된 기재불비란 통상의 기술자가 그 기재가 잘못되었다는 사실을 쉽게 인식할 수 있고</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명세서 등의 기재</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의견서 및 </a:t>
            </a:r>
            <a:r>
              <a:rPr lang="ko-KR" altLang="en-US" sz="1400" dirty="0" err="1">
                <a:solidFill>
                  <a:schemeClr val="accent3">
                    <a:lumMod val="50000"/>
                  </a:schemeClr>
                </a:solidFill>
                <a:highlight>
                  <a:srgbClr val="FFFF00"/>
                </a:highlight>
              </a:rPr>
              <a:t>출원시</a:t>
            </a:r>
            <a:r>
              <a:rPr lang="ko-KR" altLang="en-US" sz="1400" dirty="0">
                <a:solidFill>
                  <a:schemeClr val="accent3">
                    <a:lumMod val="50000"/>
                  </a:schemeClr>
                </a:solidFill>
                <a:highlight>
                  <a:srgbClr val="FFFF00"/>
                </a:highlight>
              </a:rPr>
              <a:t> 기술상식을 참작하여 출원인의 당초 의도를 명확히 알 수 있어서 해당 보정이 어떻게 이루어질 것인지 쉽게 예측할 수 있는 경우</a:t>
            </a:r>
            <a:r>
              <a:rPr lang="ko-KR" altLang="en-US" sz="1400" dirty="0">
                <a:solidFill>
                  <a:schemeClr val="tx2"/>
                </a:solidFill>
              </a:rPr>
              <a:t>를 말한다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심사관은 다른 거절이유가 있다면 명백히 잘못된 경우 중 사소한 </a:t>
            </a:r>
            <a:r>
              <a:rPr lang="ko-KR" altLang="en-US" sz="1400" dirty="0" err="1">
                <a:solidFill>
                  <a:schemeClr val="tx2"/>
                </a:solidFill>
              </a:rPr>
              <a:t>오탈자인</a:t>
            </a:r>
            <a:r>
              <a:rPr lang="ko-KR" altLang="en-US" sz="1400" dirty="0">
                <a:solidFill>
                  <a:schemeClr val="tx2"/>
                </a:solidFill>
              </a:rPr>
              <a:t> 것은「참고사항」으로</a:t>
            </a:r>
            <a:r>
              <a:rPr lang="en-US" altLang="ko-KR" sz="1400" dirty="0">
                <a:solidFill>
                  <a:schemeClr val="tx2"/>
                </a:solidFill>
              </a:rPr>
              <a:t>, </a:t>
            </a:r>
            <a:r>
              <a:rPr lang="ko-KR" altLang="en-US" sz="1400" dirty="0">
                <a:solidFill>
                  <a:schemeClr val="tx2"/>
                </a:solidFill>
              </a:rPr>
              <a:t>명백한 잘못된 기재불비에 해당하는 것은 「거절이유」에 포함하여 거절이유를 통지한다</a:t>
            </a:r>
            <a:r>
              <a:rPr lang="en-US" altLang="ko-KR" sz="1400" dirty="0">
                <a:solidFill>
                  <a:schemeClr val="tx2"/>
                </a:solidFill>
              </a:rPr>
              <a:t>.</a:t>
            </a:r>
            <a:endParaRPr lang="ko-KR" altLang="en-US" sz="1400" dirty="0">
              <a:solidFill>
                <a:schemeClr val="tx2"/>
              </a:solidFill>
            </a:endParaRPr>
          </a:p>
        </p:txBody>
      </p:sp>
      <p:cxnSp>
        <p:nvCxnSpPr>
          <p:cNvPr id="95" name="직선 연결선 94"/>
          <p:cNvCxnSpPr/>
          <p:nvPr/>
        </p:nvCxnSpPr>
        <p:spPr>
          <a:xfrm>
            <a:off x="0" y="218192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 name="다이아몬드 19"/>
          <p:cNvSpPr/>
          <p:nvPr/>
        </p:nvSpPr>
        <p:spPr>
          <a:xfrm>
            <a:off x="2362203" y="3858720"/>
            <a:ext cx="1972733" cy="1151467"/>
          </a:xfrm>
          <a:prstGeom prst="diamond">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명백히</a:t>
            </a:r>
            <a:endParaRPr lang="en-US" altLang="ko-KR" sz="1400" dirty="0">
              <a:solidFill>
                <a:schemeClr val="tx1"/>
              </a:solidFill>
            </a:endParaRPr>
          </a:p>
          <a:p>
            <a:pPr algn="ctr"/>
            <a:r>
              <a:rPr lang="ko-KR" altLang="en-US" sz="1400" dirty="0">
                <a:solidFill>
                  <a:schemeClr val="tx1"/>
                </a:solidFill>
              </a:rPr>
              <a:t>잘못된 경우</a:t>
            </a:r>
          </a:p>
        </p:txBody>
      </p:sp>
      <p:sp>
        <p:nvSpPr>
          <p:cNvPr id="21" name="직사각형 20"/>
          <p:cNvSpPr/>
          <p:nvPr/>
        </p:nvSpPr>
        <p:spPr>
          <a:xfrm>
            <a:off x="499556" y="4182560"/>
            <a:ext cx="1600200" cy="503789"/>
          </a:xfrm>
          <a:prstGeom prst="rect">
            <a:avLst/>
          </a:prstGeom>
          <a:solidFill>
            <a:schemeClr val="accent3">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기재불비</a:t>
            </a:r>
            <a:endParaRPr lang="en-US" altLang="ko-KR" sz="1400" dirty="0">
              <a:solidFill>
                <a:schemeClr val="bg1"/>
              </a:solidFill>
            </a:endParaRPr>
          </a:p>
          <a:p>
            <a:pPr algn="ctr"/>
            <a:r>
              <a:rPr lang="en-US" altLang="ko-KR" sz="1400" dirty="0">
                <a:solidFill>
                  <a:schemeClr val="bg1"/>
                </a:solidFill>
              </a:rPr>
              <a:t>(</a:t>
            </a:r>
            <a:r>
              <a:rPr lang="ko-KR" altLang="en-US" sz="1400" dirty="0">
                <a:solidFill>
                  <a:schemeClr val="bg1"/>
                </a:solidFill>
              </a:rPr>
              <a:t>제</a:t>
            </a:r>
            <a:r>
              <a:rPr lang="en-US" altLang="ko-KR" sz="1400" dirty="0">
                <a:solidFill>
                  <a:schemeClr val="bg1"/>
                </a:solidFill>
              </a:rPr>
              <a:t>42</a:t>
            </a:r>
            <a:r>
              <a:rPr lang="ko-KR" altLang="en-US" sz="1400" dirty="0">
                <a:solidFill>
                  <a:schemeClr val="bg1"/>
                </a:solidFill>
              </a:rPr>
              <a:t>조 위반</a:t>
            </a:r>
            <a:r>
              <a:rPr lang="en-US" altLang="ko-KR" sz="1400" dirty="0">
                <a:solidFill>
                  <a:schemeClr val="bg1"/>
                </a:solidFill>
              </a:rPr>
              <a:t>)</a:t>
            </a:r>
            <a:endParaRPr lang="ko-KR" altLang="en-US" sz="1400" dirty="0">
              <a:solidFill>
                <a:schemeClr val="bg1"/>
              </a:solidFill>
            </a:endParaRPr>
          </a:p>
        </p:txBody>
      </p:sp>
      <p:sp>
        <p:nvSpPr>
          <p:cNvPr id="25" name="직사각형 24"/>
          <p:cNvSpPr/>
          <p:nvPr/>
        </p:nvSpPr>
        <p:spPr>
          <a:xfrm>
            <a:off x="2548469" y="5799693"/>
            <a:ext cx="1600200" cy="50378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거절이유통지</a:t>
            </a:r>
          </a:p>
        </p:txBody>
      </p:sp>
      <p:sp>
        <p:nvSpPr>
          <p:cNvPr id="27" name="다이아몬드 26"/>
          <p:cNvSpPr/>
          <p:nvPr/>
        </p:nvSpPr>
        <p:spPr>
          <a:xfrm>
            <a:off x="4800598" y="3858720"/>
            <a:ext cx="1972733" cy="1151467"/>
          </a:xfrm>
          <a:prstGeom prst="diamond">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다른</a:t>
            </a:r>
            <a:endParaRPr lang="en-US" altLang="ko-KR" sz="1400" dirty="0">
              <a:solidFill>
                <a:schemeClr val="tx1"/>
              </a:solidFill>
            </a:endParaRPr>
          </a:p>
          <a:p>
            <a:pPr algn="ctr"/>
            <a:r>
              <a:rPr lang="ko-KR" altLang="en-US" sz="1400" dirty="0">
                <a:solidFill>
                  <a:schemeClr val="tx1"/>
                </a:solidFill>
              </a:rPr>
              <a:t>거절이유</a:t>
            </a:r>
          </a:p>
        </p:txBody>
      </p:sp>
      <p:sp>
        <p:nvSpPr>
          <p:cNvPr id="28" name="직사각형 27"/>
          <p:cNvSpPr/>
          <p:nvPr/>
        </p:nvSpPr>
        <p:spPr>
          <a:xfrm>
            <a:off x="4986864" y="5799693"/>
            <a:ext cx="1600200" cy="503789"/>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직권보정</a:t>
            </a:r>
            <a:r>
              <a:rPr lang="en-US" altLang="ko-KR" sz="1400" dirty="0">
                <a:solidFill>
                  <a:schemeClr val="bg1"/>
                </a:solidFill>
              </a:rPr>
              <a:t>+</a:t>
            </a:r>
            <a:r>
              <a:rPr lang="ko-KR" altLang="en-US" sz="1400" dirty="0">
                <a:solidFill>
                  <a:schemeClr val="bg1"/>
                </a:solidFill>
              </a:rPr>
              <a:t>특허결정</a:t>
            </a:r>
          </a:p>
        </p:txBody>
      </p:sp>
      <p:cxnSp>
        <p:nvCxnSpPr>
          <p:cNvPr id="29" name="직선 화살표 연결선 28"/>
          <p:cNvCxnSpPr>
            <a:stCxn id="21" idx="3"/>
            <a:endCxn id="20" idx="1"/>
          </p:cNvCxnSpPr>
          <p:nvPr/>
        </p:nvCxnSpPr>
        <p:spPr>
          <a:xfrm flipV="1">
            <a:off x="2099756" y="4434454"/>
            <a:ext cx="262447" cy="1"/>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4284164" y="4434455"/>
            <a:ext cx="482600" cy="261610"/>
          </a:xfrm>
          <a:prstGeom prst="rect">
            <a:avLst/>
          </a:prstGeom>
          <a:noFill/>
        </p:spPr>
        <p:txBody>
          <a:bodyPr wrap="square" rtlCol="0">
            <a:spAutoFit/>
          </a:bodyPr>
          <a:lstStyle/>
          <a:p>
            <a:r>
              <a:rPr lang="en-US" altLang="ko-KR" sz="1100" dirty="0"/>
              <a:t>Yes</a:t>
            </a:r>
            <a:endParaRPr lang="ko-KR" altLang="en-US" sz="1100" dirty="0"/>
          </a:p>
        </p:txBody>
      </p:sp>
      <p:cxnSp>
        <p:nvCxnSpPr>
          <p:cNvPr id="33" name="직선 화살표 연결선 32"/>
          <p:cNvCxnSpPr>
            <a:stCxn id="20" idx="2"/>
            <a:endCxn id="25" idx="0"/>
          </p:cNvCxnSpPr>
          <p:nvPr/>
        </p:nvCxnSpPr>
        <p:spPr>
          <a:xfrm flipH="1">
            <a:off x="3348569" y="5010187"/>
            <a:ext cx="1" cy="789506"/>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3348570" y="5010187"/>
            <a:ext cx="482600" cy="261610"/>
          </a:xfrm>
          <a:prstGeom prst="rect">
            <a:avLst/>
          </a:prstGeom>
          <a:noFill/>
        </p:spPr>
        <p:txBody>
          <a:bodyPr wrap="square" rtlCol="0">
            <a:spAutoFit/>
          </a:bodyPr>
          <a:lstStyle/>
          <a:p>
            <a:r>
              <a:rPr lang="en-US" altLang="ko-KR" sz="1100" dirty="0"/>
              <a:t>No</a:t>
            </a:r>
            <a:endParaRPr lang="ko-KR" altLang="en-US" sz="1100" dirty="0"/>
          </a:p>
        </p:txBody>
      </p:sp>
      <p:cxnSp>
        <p:nvCxnSpPr>
          <p:cNvPr id="40" name="직선 화살표 연결선 39"/>
          <p:cNvCxnSpPr>
            <a:stCxn id="20" idx="3"/>
            <a:endCxn id="27" idx="1"/>
          </p:cNvCxnSpPr>
          <p:nvPr/>
        </p:nvCxnSpPr>
        <p:spPr>
          <a:xfrm>
            <a:off x="4334936" y="4434454"/>
            <a:ext cx="465662" cy="0"/>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직선 화살표 연결선 41"/>
          <p:cNvCxnSpPr/>
          <p:nvPr/>
        </p:nvCxnSpPr>
        <p:spPr>
          <a:xfrm flipH="1">
            <a:off x="5782764" y="5010187"/>
            <a:ext cx="1" cy="789506"/>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5782765" y="5010187"/>
            <a:ext cx="482600" cy="261610"/>
          </a:xfrm>
          <a:prstGeom prst="rect">
            <a:avLst/>
          </a:prstGeom>
          <a:noFill/>
        </p:spPr>
        <p:txBody>
          <a:bodyPr wrap="square" rtlCol="0">
            <a:spAutoFit/>
          </a:bodyPr>
          <a:lstStyle/>
          <a:p>
            <a:r>
              <a:rPr lang="en-US" altLang="ko-KR" sz="1100" dirty="0"/>
              <a:t>No</a:t>
            </a:r>
            <a:endParaRPr lang="ko-KR" altLang="en-US" sz="1100" dirty="0"/>
          </a:p>
        </p:txBody>
      </p:sp>
      <p:sp>
        <p:nvSpPr>
          <p:cNvPr id="44" name="직사각형 43"/>
          <p:cNvSpPr/>
          <p:nvPr/>
        </p:nvSpPr>
        <p:spPr>
          <a:xfrm>
            <a:off x="7154322" y="3640693"/>
            <a:ext cx="4563540" cy="50378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base"/>
            <a:r>
              <a:rPr lang="ko-KR" altLang="en-US" sz="1400" dirty="0">
                <a:solidFill>
                  <a:schemeClr val="tx1"/>
                </a:solidFill>
              </a:rPr>
              <a:t>사소한 </a:t>
            </a:r>
            <a:r>
              <a:rPr lang="ko-KR" altLang="en-US" sz="1400" dirty="0" err="1">
                <a:solidFill>
                  <a:schemeClr val="tx1"/>
                </a:solidFill>
              </a:rPr>
              <a:t>오탈자</a:t>
            </a:r>
            <a:r>
              <a:rPr lang="en-US" altLang="ko-KR" sz="1400" dirty="0">
                <a:solidFill>
                  <a:schemeClr val="tx1"/>
                </a:solidFill>
              </a:rPr>
              <a:t>: </a:t>
            </a:r>
            <a:r>
              <a:rPr lang="ko-KR" altLang="en-US" sz="1400" dirty="0">
                <a:solidFill>
                  <a:schemeClr val="tx1"/>
                </a:solidFill>
              </a:rPr>
              <a:t>「참고사항」으로 하여 거절이유통지</a:t>
            </a:r>
          </a:p>
        </p:txBody>
      </p:sp>
      <p:sp>
        <p:nvSpPr>
          <p:cNvPr id="45" name="직사각형 44"/>
          <p:cNvSpPr/>
          <p:nvPr/>
        </p:nvSpPr>
        <p:spPr>
          <a:xfrm>
            <a:off x="7154322" y="4620280"/>
            <a:ext cx="4563540" cy="50378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400" dirty="0">
                <a:solidFill>
                  <a:schemeClr val="tx1"/>
                </a:solidFill>
              </a:rPr>
              <a:t>명백히 잘못된 기재불비</a:t>
            </a:r>
            <a:r>
              <a:rPr lang="en-US" altLang="ko-KR" sz="1400" dirty="0">
                <a:solidFill>
                  <a:schemeClr val="tx1"/>
                </a:solidFill>
              </a:rPr>
              <a:t>: </a:t>
            </a:r>
            <a:r>
              <a:rPr lang="ko-KR" altLang="en-US" sz="1400" dirty="0">
                <a:solidFill>
                  <a:schemeClr val="tx1"/>
                </a:solidFill>
              </a:rPr>
              <a:t> 「거절이유」에 포함하여 거절이유통지</a:t>
            </a:r>
          </a:p>
        </p:txBody>
      </p:sp>
      <p:cxnSp>
        <p:nvCxnSpPr>
          <p:cNvPr id="17" name="꺾인 연결선 16"/>
          <p:cNvCxnSpPr>
            <a:stCxn id="27" idx="3"/>
            <a:endCxn id="44" idx="1"/>
          </p:cNvCxnSpPr>
          <p:nvPr/>
        </p:nvCxnSpPr>
        <p:spPr>
          <a:xfrm flipV="1">
            <a:off x="6773331" y="3892588"/>
            <a:ext cx="380991" cy="541866"/>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27" idx="3"/>
            <a:endCxn id="45" idx="1"/>
          </p:cNvCxnSpPr>
          <p:nvPr/>
        </p:nvCxnSpPr>
        <p:spPr>
          <a:xfrm>
            <a:off x="6773331" y="4434454"/>
            <a:ext cx="380991" cy="437721"/>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6591300" y="4476790"/>
            <a:ext cx="482600" cy="261610"/>
          </a:xfrm>
          <a:prstGeom prst="rect">
            <a:avLst/>
          </a:prstGeom>
          <a:noFill/>
        </p:spPr>
        <p:txBody>
          <a:bodyPr wrap="square" rtlCol="0">
            <a:spAutoFit/>
          </a:bodyPr>
          <a:lstStyle/>
          <a:p>
            <a:r>
              <a:rPr lang="en-US" altLang="ko-KR" sz="1100" dirty="0"/>
              <a:t>Yes</a:t>
            </a:r>
            <a:endParaRPr lang="ko-KR" altLang="en-US" sz="1100" dirty="0"/>
          </a:p>
        </p:txBody>
      </p:sp>
      <p:sp>
        <p:nvSpPr>
          <p:cNvPr id="48" name="TextBox 47"/>
          <p:cNvSpPr txBox="1"/>
          <p:nvPr/>
        </p:nvSpPr>
        <p:spPr>
          <a:xfrm>
            <a:off x="3344327" y="2331532"/>
            <a:ext cx="8144940" cy="307777"/>
          </a:xfrm>
          <a:prstGeom prst="rect">
            <a:avLst/>
          </a:prstGeom>
          <a:noFill/>
          <a:ln>
            <a:solidFill>
              <a:schemeClr val="bg1">
                <a:lumMod val="85000"/>
              </a:schemeClr>
            </a:solidFill>
          </a:ln>
        </p:spPr>
        <p:txBody>
          <a:bodyPr wrap="square" rtlCol="0">
            <a:spAutoFit/>
          </a:bodyPr>
          <a:lstStyle/>
          <a:p>
            <a:r>
              <a:rPr lang="ko-KR" altLang="en-US" sz="1400" dirty="0"/>
              <a:t>사소한 </a:t>
            </a:r>
            <a:r>
              <a:rPr lang="ko-KR" altLang="en-US" sz="1400" dirty="0" err="1"/>
              <a:t>오탈자</a:t>
            </a:r>
            <a:endParaRPr lang="ko-KR" altLang="en-US" sz="1400" dirty="0"/>
          </a:p>
        </p:txBody>
      </p:sp>
      <p:sp>
        <p:nvSpPr>
          <p:cNvPr id="52" name="TextBox 51"/>
          <p:cNvSpPr txBox="1"/>
          <p:nvPr/>
        </p:nvSpPr>
        <p:spPr>
          <a:xfrm>
            <a:off x="3344327" y="2720998"/>
            <a:ext cx="8144940" cy="738664"/>
          </a:xfrm>
          <a:prstGeom prst="rect">
            <a:avLst/>
          </a:prstGeom>
          <a:noFill/>
          <a:ln>
            <a:solidFill>
              <a:schemeClr val="bg1">
                <a:lumMod val="85000"/>
              </a:schemeClr>
            </a:solidFill>
          </a:ln>
        </p:spPr>
        <p:txBody>
          <a:bodyPr wrap="square" rtlCol="0">
            <a:spAutoFit/>
          </a:bodyPr>
          <a:lstStyle/>
          <a:p>
            <a:r>
              <a:rPr lang="ko-KR" altLang="en-US" sz="1400" dirty="0"/>
              <a:t>명백히 잘못된 기재불비</a:t>
            </a:r>
            <a:r>
              <a:rPr lang="en-US" altLang="ko-KR" sz="1400" dirty="0"/>
              <a:t>: </a:t>
            </a:r>
            <a:r>
              <a:rPr lang="ko-KR" altLang="en-US" sz="1400" dirty="0">
                <a:solidFill>
                  <a:schemeClr val="bg1">
                    <a:lumMod val="50000"/>
                  </a:schemeClr>
                </a:solidFill>
              </a:rPr>
              <a:t>통상의 기술자가 그 기재가 잘못되었다는 사실을 </a:t>
            </a:r>
            <a:r>
              <a:rPr lang="ko-KR" altLang="en-US" sz="1400" dirty="0">
                <a:solidFill>
                  <a:srgbClr val="FF0000"/>
                </a:solidFill>
              </a:rPr>
              <a:t>쉽게 인식</a:t>
            </a:r>
            <a:r>
              <a:rPr lang="ko-KR" altLang="en-US" sz="1400" dirty="0">
                <a:solidFill>
                  <a:schemeClr val="bg1">
                    <a:lumMod val="50000"/>
                  </a:schemeClr>
                </a:solidFill>
              </a:rPr>
              <a:t>할 수 있고</a:t>
            </a:r>
            <a:r>
              <a:rPr lang="en-US" altLang="ko-KR" sz="1400" dirty="0">
                <a:solidFill>
                  <a:schemeClr val="bg1">
                    <a:lumMod val="50000"/>
                  </a:schemeClr>
                </a:solidFill>
              </a:rPr>
              <a:t>, </a:t>
            </a:r>
            <a:r>
              <a:rPr lang="ko-KR" altLang="en-US" sz="1400" dirty="0">
                <a:solidFill>
                  <a:schemeClr val="bg1">
                    <a:lumMod val="50000"/>
                  </a:schemeClr>
                </a:solidFill>
              </a:rPr>
              <a:t>명세서 등의 기재</a:t>
            </a:r>
            <a:r>
              <a:rPr lang="en-US" altLang="ko-KR" sz="1400" dirty="0">
                <a:solidFill>
                  <a:schemeClr val="bg1">
                    <a:lumMod val="50000"/>
                  </a:schemeClr>
                </a:solidFill>
              </a:rPr>
              <a:t>, </a:t>
            </a:r>
            <a:r>
              <a:rPr lang="ko-KR" altLang="en-US" sz="1400" dirty="0">
                <a:solidFill>
                  <a:schemeClr val="bg1">
                    <a:lumMod val="50000"/>
                  </a:schemeClr>
                </a:solidFill>
              </a:rPr>
              <a:t>의견서 및 </a:t>
            </a:r>
            <a:r>
              <a:rPr lang="ko-KR" altLang="en-US" sz="1400" dirty="0" err="1">
                <a:solidFill>
                  <a:schemeClr val="bg1">
                    <a:lumMod val="50000"/>
                  </a:schemeClr>
                </a:solidFill>
              </a:rPr>
              <a:t>출원시</a:t>
            </a:r>
            <a:r>
              <a:rPr lang="ko-KR" altLang="en-US" sz="1400" dirty="0">
                <a:solidFill>
                  <a:schemeClr val="bg1">
                    <a:lumMod val="50000"/>
                  </a:schemeClr>
                </a:solidFill>
              </a:rPr>
              <a:t> 기술상식을 참작하여 출원인의 당초 의도를 명확히 알 수 있어서 해당 보정이 어떻게 이루어질 것인지 </a:t>
            </a:r>
            <a:r>
              <a:rPr lang="ko-KR" altLang="en-US" sz="1400" dirty="0">
                <a:solidFill>
                  <a:srgbClr val="FF0000"/>
                </a:solidFill>
              </a:rPr>
              <a:t>쉽게 예측</a:t>
            </a:r>
            <a:r>
              <a:rPr lang="ko-KR" altLang="en-US" sz="1400" dirty="0">
                <a:solidFill>
                  <a:schemeClr val="bg1">
                    <a:lumMod val="50000"/>
                  </a:schemeClr>
                </a:solidFill>
              </a:rPr>
              <a:t>할 수 있는 경우</a:t>
            </a:r>
          </a:p>
        </p:txBody>
      </p:sp>
      <p:cxnSp>
        <p:nvCxnSpPr>
          <p:cNvPr id="51" name="꺾인 연결선 50"/>
          <p:cNvCxnSpPr>
            <a:stCxn id="48" idx="1"/>
            <a:endCxn id="52" idx="1"/>
          </p:cNvCxnSpPr>
          <p:nvPr/>
        </p:nvCxnSpPr>
        <p:spPr>
          <a:xfrm rot="10800000" flipV="1">
            <a:off x="3344327" y="2485420"/>
            <a:ext cx="12700" cy="604909"/>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자유형 56"/>
          <p:cNvSpPr/>
          <p:nvPr/>
        </p:nvSpPr>
        <p:spPr>
          <a:xfrm>
            <a:off x="2861733" y="2802467"/>
            <a:ext cx="304800" cy="1143000"/>
          </a:xfrm>
          <a:custGeom>
            <a:avLst/>
            <a:gdLst>
              <a:gd name="connsiteX0" fmla="*/ 262467 w 304800"/>
              <a:gd name="connsiteY0" fmla="*/ 0 h 1143000"/>
              <a:gd name="connsiteX1" fmla="*/ 0 w 304800"/>
              <a:gd name="connsiteY1" fmla="*/ 0 h 1143000"/>
              <a:gd name="connsiteX2" fmla="*/ 0 w 304800"/>
              <a:gd name="connsiteY2" fmla="*/ 838200 h 1143000"/>
              <a:gd name="connsiteX3" fmla="*/ 304800 w 304800"/>
              <a:gd name="connsiteY3" fmla="*/ 1143000 h 1143000"/>
            </a:gdLst>
            <a:ahLst/>
            <a:cxnLst>
              <a:cxn ang="0">
                <a:pos x="connsiteX0" y="connsiteY0"/>
              </a:cxn>
              <a:cxn ang="0">
                <a:pos x="connsiteX1" y="connsiteY1"/>
              </a:cxn>
              <a:cxn ang="0">
                <a:pos x="connsiteX2" y="connsiteY2"/>
              </a:cxn>
              <a:cxn ang="0">
                <a:pos x="connsiteX3" y="connsiteY3"/>
              </a:cxn>
            </a:cxnLst>
            <a:rect l="l" t="t" r="r" b="b"/>
            <a:pathLst>
              <a:path w="304800" h="1143000">
                <a:moveTo>
                  <a:pt x="262467" y="0"/>
                </a:moveTo>
                <a:lnTo>
                  <a:pt x="0" y="0"/>
                </a:lnTo>
                <a:lnTo>
                  <a:pt x="0" y="838200"/>
                </a:lnTo>
                <a:lnTo>
                  <a:pt x="304800" y="1143000"/>
                </a:lnTo>
              </a:path>
            </a:pathLst>
          </a:cu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 name="슬라이드 번호 개체 틀 1"/>
          <p:cNvSpPr>
            <a:spLocks noGrp="1"/>
          </p:cNvSpPr>
          <p:nvPr>
            <p:ph type="sldNum" sz="quarter" idx="12"/>
          </p:nvPr>
        </p:nvSpPr>
        <p:spPr/>
        <p:txBody>
          <a:bodyPr/>
          <a:lstStyle/>
          <a:p>
            <a:r>
              <a:rPr lang="en-US" altLang="ko-KR"/>
              <a:t>266</a:t>
            </a:r>
            <a:endParaRPr lang="ko-KR" altLang="en-US" dirty="0"/>
          </a:p>
        </p:txBody>
      </p:sp>
    </p:spTree>
    <p:extLst>
      <p:ext uri="{BB962C8B-B14F-4D97-AF65-F5344CB8AC3E}">
        <p14:creationId xmlns:p14="http://schemas.microsoft.com/office/powerpoint/2010/main" val="1562012504"/>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42</a:t>
            </a:r>
            <a:r>
              <a:rPr lang="ko-KR" altLang="en-US" dirty="0"/>
              <a:t>조</a:t>
            </a:r>
            <a:r>
              <a:rPr lang="en-US" altLang="ko-KR" dirty="0"/>
              <a:t>, </a:t>
            </a:r>
            <a:r>
              <a:rPr lang="ko-KR" altLang="en-US" dirty="0"/>
              <a:t>제</a:t>
            </a:r>
            <a:r>
              <a:rPr lang="en-US" altLang="ko-KR" dirty="0"/>
              <a:t>66</a:t>
            </a:r>
            <a:r>
              <a:rPr lang="ko-KR" altLang="en-US" dirty="0"/>
              <a:t>조의</a:t>
            </a:r>
            <a:r>
              <a:rPr lang="en-US" altLang="ko-KR" dirty="0"/>
              <a:t>2</a:t>
            </a:r>
            <a:endParaRPr lang="ko-KR" altLang="en-US" dirty="0"/>
          </a:p>
        </p:txBody>
      </p:sp>
      <p:sp>
        <p:nvSpPr>
          <p:cNvPr id="4" name="텍스트 개체 틀 3"/>
          <p:cNvSpPr>
            <a:spLocks noGrp="1"/>
          </p:cNvSpPr>
          <p:nvPr>
            <p:ph type="body" sz="quarter" idx="13"/>
          </p:nvPr>
        </p:nvSpPr>
        <p:spPr/>
        <p:txBody>
          <a:bodyPr/>
          <a:lstStyle/>
          <a:p>
            <a:r>
              <a:rPr lang="ko-KR" altLang="en-US" dirty="0"/>
              <a:t>명백히 잘못된 경우의 예시</a:t>
            </a:r>
          </a:p>
        </p:txBody>
      </p:sp>
      <p:sp>
        <p:nvSpPr>
          <p:cNvPr id="31" name="Rectangle 5"/>
          <p:cNvSpPr>
            <a:spLocks noChangeArrowheads="1"/>
          </p:cNvSpPr>
          <p:nvPr/>
        </p:nvSpPr>
        <p:spPr bwMode="auto">
          <a:xfrm>
            <a:off x="347688" y="1094336"/>
            <a:ext cx="2641046"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a:solidFill>
                  <a:schemeClr val="bg1"/>
                </a:solidFill>
                <a:latin typeface="+mj-ea"/>
                <a:ea typeface="+mj-ea"/>
              </a:rPr>
              <a:t>사소한 </a:t>
            </a:r>
            <a:r>
              <a:rPr lang="ko-KR" altLang="en-US" sz="1600" dirty="0" err="1">
                <a:solidFill>
                  <a:schemeClr val="bg1"/>
                </a:solidFill>
                <a:latin typeface="+mj-ea"/>
                <a:ea typeface="+mj-ea"/>
              </a:rPr>
              <a:t>오탈자</a:t>
            </a:r>
            <a:endParaRPr lang="ko-KR" altLang="en-US" sz="1600" b="0" dirty="0">
              <a:solidFill>
                <a:schemeClr val="bg1"/>
              </a:solidFill>
              <a:latin typeface="+mj-ea"/>
              <a:ea typeface="+mj-ea"/>
            </a:endParaRPr>
          </a:p>
        </p:txBody>
      </p:sp>
      <p:cxnSp>
        <p:nvCxnSpPr>
          <p:cNvPr id="32" name="직선 연결선 31"/>
          <p:cNvCxnSpPr/>
          <p:nvPr/>
        </p:nvCxnSpPr>
        <p:spPr>
          <a:xfrm flipV="1">
            <a:off x="6088591" y="1017853"/>
            <a:ext cx="0" cy="547608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Rectangle 5"/>
          <p:cNvSpPr>
            <a:spLocks noChangeArrowheads="1"/>
          </p:cNvSpPr>
          <p:nvPr/>
        </p:nvSpPr>
        <p:spPr bwMode="auto">
          <a:xfrm>
            <a:off x="6452155" y="1094336"/>
            <a:ext cx="2641046"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a:solidFill>
                  <a:schemeClr val="bg1"/>
                </a:solidFill>
                <a:latin typeface="+mj-ea"/>
                <a:ea typeface="+mj-ea"/>
              </a:rPr>
              <a:t>명백히 잘못된 기재불비</a:t>
            </a:r>
            <a:endParaRPr lang="ko-KR" altLang="en-US" sz="1600" b="0" dirty="0">
              <a:solidFill>
                <a:schemeClr val="bg1"/>
              </a:solidFill>
              <a:latin typeface="+mj-ea"/>
              <a:ea typeface="+mj-ea"/>
            </a:endParaRPr>
          </a:p>
        </p:txBody>
      </p:sp>
      <p:graphicFrame>
        <p:nvGraphicFramePr>
          <p:cNvPr id="5" name="표 4"/>
          <p:cNvGraphicFramePr>
            <a:graphicFrameLocks noGrp="1"/>
          </p:cNvGraphicFramePr>
          <p:nvPr/>
        </p:nvGraphicFramePr>
        <p:xfrm>
          <a:off x="6480729" y="1652150"/>
          <a:ext cx="5549345" cy="4825548"/>
        </p:xfrm>
        <a:graphic>
          <a:graphicData uri="http://schemas.openxmlformats.org/drawingml/2006/table">
            <a:tbl>
              <a:tblPr>
                <a:tableStyleId>{8799B23B-EC83-4686-B30A-512413B5E67A}</a:tableStyleId>
              </a:tblPr>
              <a:tblGrid>
                <a:gridCol w="703902">
                  <a:extLst>
                    <a:ext uri="{9D8B030D-6E8A-4147-A177-3AD203B41FA5}">
                      <a16:colId xmlns:a16="http://schemas.microsoft.com/office/drawing/2014/main" val="20000"/>
                    </a:ext>
                  </a:extLst>
                </a:gridCol>
                <a:gridCol w="1383232">
                  <a:extLst>
                    <a:ext uri="{9D8B030D-6E8A-4147-A177-3AD203B41FA5}">
                      <a16:colId xmlns:a16="http://schemas.microsoft.com/office/drawing/2014/main" val="20001"/>
                    </a:ext>
                  </a:extLst>
                </a:gridCol>
                <a:gridCol w="3462211">
                  <a:extLst>
                    <a:ext uri="{9D8B030D-6E8A-4147-A177-3AD203B41FA5}">
                      <a16:colId xmlns:a16="http://schemas.microsoft.com/office/drawing/2014/main" val="20002"/>
                    </a:ext>
                  </a:extLst>
                </a:gridCol>
              </a:tblGrid>
              <a:tr h="0">
                <a:tc gridSpan="2">
                  <a:txBody>
                    <a:bodyPr/>
                    <a:lstStyle/>
                    <a:p>
                      <a:pPr marL="0" marR="0" indent="0" algn="ctr" fontAlgn="base" latinLnBrk="0">
                        <a:lnSpc>
                          <a:spcPct val="100000"/>
                        </a:lnSpc>
                        <a:spcBef>
                          <a:spcPts val="0"/>
                        </a:spcBef>
                        <a:spcAft>
                          <a:spcPts val="0"/>
                        </a:spcAft>
                      </a:pPr>
                      <a:r>
                        <a:rPr lang="ko-KR" altLang="en-US" sz="1050" kern="1200" dirty="0"/>
                        <a:t>구 분</a:t>
                      </a:r>
                      <a:endParaRPr lang="ko-KR" altLang="en-US" sz="1050" kern="1200" dirty="0">
                        <a:solidFill>
                          <a:schemeClr val="tx2"/>
                        </a:solidFill>
                        <a:latin typeface="+mn-lt"/>
                        <a:ea typeface="+mn-ea"/>
                        <a:cs typeface="+mn-cs"/>
                      </a:endParaRPr>
                    </a:p>
                  </a:txBody>
                  <a:tcPr marL="37168" marR="37168" marT="10276" marB="10276"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50" kern="1200" dirty="0"/>
                        <a:t>예시 및 설명</a:t>
                      </a:r>
                      <a:endParaRPr lang="ko-KR" altLang="en-US" sz="1050" kern="1200" dirty="0">
                        <a:solidFill>
                          <a:schemeClr val="tx2"/>
                        </a:solidFill>
                        <a:latin typeface="+mn-lt"/>
                        <a:ea typeface="+mn-ea"/>
                        <a:cs typeface="+mn-cs"/>
                      </a:endParaRPr>
                    </a:p>
                  </a:txBody>
                  <a:tcPr marL="37168" marR="37168" marT="10276" marB="10276" anchor="ctr">
                    <a:solidFill>
                      <a:schemeClr val="accent1">
                        <a:lumMod val="20000"/>
                        <a:lumOff val="80000"/>
                      </a:schemeClr>
                    </a:solidFill>
                  </a:tcPr>
                </a:tc>
                <a:extLst>
                  <a:ext uri="{0D108BD9-81ED-4DB2-BD59-A6C34878D82A}">
                    <a16:rowId xmlns:a16="http://schemas.microsoft.com/office/drawing/2014/main" val="10000"/>
                  </a:ext>
                </a:extLst>
              </a:tr>
              <a:tr h="384366">
                <a:tc rowSpan="2">
                  <a:txBody>
                    <a:bodyPr/>
                    <a:lstStyle/>
                    <a:p>
                      <a:pPr marL="17780" marR="17780" indent="0" algn="ctr" fontAlgn="base" latinLnBrk="0">
                        <a:lnSpc>
                          <a:spcPct val="100000"/>
                        </a:lnSpc>
                        <a:spcBef>
                          <a:spcPts val="0"/>
                        </a:spcBef>
                        <a:spcAft>
                          <a:spcPts val="0"/>
                        </a:spcAft>
                      </a:pPr>
                      <a:r>
                        <a:rPr lang="ko-KR" altLang="en-US" sz="1050" kern="1200" dirty="0"/>
                        <a:t>삭제된 </a:t>
                      </a:r>
                      <a:r>
                        <a:rPr lang="ko-KR" altLang="en-US" sz="1050" kern="1200" dirty="0" err="1"/>
                        <a:t>청구항을</a:t>
                      </a:r>
                      <a:r>
                        <a:rPr lang="ko-KR" altLang="en-US" sz="1050" kern="1200" dirty="0"/>
                        <a:t> 인용하는 경우</a:t>
                      </a:r>
                      <a:endParaRPr lang="ko-KR" altLang="en-US" sz="1050" kern="1200" dirty="0">
                        <a:solidFill>
                          <a:schemeClr val="tx2"/>
                        </a:solidFill>
                        <a:latin typeface="+mn-lt"/>
                        <a:ea typeface="+mn-ea"/>
                        <a:cs typeface="+mn-cs"/>
                      </a:endParaRPr>
                    </a:p>
                  </a:txBody>
                  <a:tcPr marL="37168" marR="37168" marT="10276" marB="10276" anchor="ctr"/>
                </a:tc>
                <a:tc>
                  <a:txBody>
                    <a:bodyPr/>
                    <a:lstStyle/>
                    <a:p>
                      <a:pPr marL="17780" marR="17780" indent="0" algn="ctr" fontAlgn="base" latinLnBrk="0">
                        <a:lnSpc>
                          <a:spcPct val="100000"/>
                        </a:lnSpc>
                        <a:spcBef>
                          <a:spcPts val="0"/>
                        </a:spcBef>
                        <a:spcAft>
                          <a:spcPts val="0"/>
                        </a:spcAft>
                      </a:pPr>
                      <a:r>
                        <a:rPr lang="ko-KR" altLang="en-US" sz="1050" kern="1200" dirty="0"/>
                        <a:t>삭제된 청구항만을 인용하며</a:t>
                      </a:r>
                      <a:r>
                        <a:rPr lang="en-US" altLang="ko-KR" sz="1050" kern="1200" dirty="0"/>
                        <a:t>, </a:t>
                      </a:r>
                      <a:r>
                        <a:rPr lang="ko-KR" altLang="en-US" sz="1050" kern="1200" dirty="0"/>
                        <a:t>선행 </a:t>
                      </a:r>
                      <a:r>
                        <a:rPr lang="ko-KR" altLang="en-US" sz="1050" kern="1200" dirty="0" err="1"/>
                        <a:t>청구항이</a:t>
                      </a:r>
                      <a:r>
                        <a:rPr lang="ko-KR" altLang="en-US" sz="1050" kern="1200" dirty="0"/>
                        <a:t> </a:t>
                      </a:r>
                      <a:r>
                        <a:rPr lang="en-US" altLang="ko-KR" sz="1050" kern="1200" dirty="0"/>
                        <a:t>1</a:t>
                      </a:r>
                      <a:r>
                        <a:rPr lang="ko-KR" altLang="en-US" sz="1050" kern="1200" dirty="0"/>
                        <a:t>개인 경우</a:t>
                      </a:r>
                      <a:endParaRPr lang="ko-KR" altLang="en-US" sz="1050" kern="1200" dirty="0">
                        <a:solidFill>
                          <a:schemeClr val="tx2"/>
                        </a:solidFill>
                        <a:latin typeface="+mn-lt"/>
                        <a:ea typeface="+mn-ea"/>
                        <a:cs typeface="+mn-cs"/>
                      </a:endParaRPr>
                    </a:p>
                  </a:txBody>
                  <a:tcPr marL="37168" marR="37168" marT="10276" marB="10276" anchor="ctr"/>
                </a:tc>
                <a:tc>
                  <a:txBody>
                    <a:bodyPr/>
                    <a:lstStyle/>
                    <a:p>
                      <a:pPr marL="17780" marR="17780" indent="0" algn="just" fontAlgn="base" latinLnBrk="1">
                        <a:lnSpc>
                          <a:spcPct val="100000"/>
                        </a:lnSpc>
                        <a:spcBef>
                          <a:spcPts val="0"/>
                        </a:spcBef>
                        <a:spcAft>
                          <a:spcPts val="0"/>
                        </a:spcAft>
                      </a:pPr>
                      <a:r>
                        <a:rPr lang="ko-KR" altLang="en-US" sz="1050" kern="1200" dirty="0" err="1"/>
                        <a:t>청구항</a:t>
                      </a:r>
                      <a:r>
                        <a:rPr lang="ko-KR" altLang="en-US" sz="1050" kern="1200" dirty="0"/>
                        <a:t> </a:t>
                      </a:r>
                      <a:r>
                        <a:rPr lang="en-US" altLang="ko-KR" sz="1050" kern="1200" dirty="0"/>
                        <a:t>1. A</a:t>
                      </a:r>
                      <a:r>
                        <a:rPr lang="ko-KR" altLang="en-US" sz="1050" kern="1200" dirty="0"/>
                        <a:t>와 </a:t>
                      </a:r>
                      <a:r>
                        <a:rPr lang="en-US" altLang="ko-KR" sz="1050" kern="1200" dirty="0"/>
                        <a:t>B</a:t>
                      </a:r>
                      <a:r>
                        <a:rPr lang="ko-KR" altLang="en-US" sz="1050" kern="1200" dirty="0"/>
                        <a:t>를 포함하는 장치</a:t>
                      </a:r>
                    </a:p>
                    <a:p>
                      <a:pPr marL="17780" marR="17780" indent="0" algn="just" fontAlgn="base" latinLnBrk="1">
                        <a:lnSpc>
                          <a:spcPct val="100000"/>
                        </a:lnSpc>
                        <a:spcBef>
                          <a:spcPts val="0"/>
                        </a:spcBef>
                        <a:spcAft>
                          <a:spcPts val="0"/>
                        </a:spcAft>
                      </a:pPr>
                      <a:r>
                        <a:rPr lang="ko-KR" altLang="en-US" sz="1050" kern="1200" dirty="0" err="1"/>
                        <a:t>청구항</a:t>
                      </a:r>
                      <a:r>
                        <a:rPr lang="ko-KR" altLang="en-US" sz="1050" kern="1200" dirty="0"/>
                        <a:t> </a:t>
                      </a:r>
                      <a:r>
                        <a:rPr lang="en-US" altLang="ko-KR" sz="1050" kern="1200" dirty="0"/>
                        <a:t>2. </a:t>
                      </a:r>
                      <a:r>
                        <a:rPr lang="ko-KR" altLang="en-US" sz="1050" kern="1200" dirty="0"/>
                        <a:t>삭제</a:t>
                      </a:r>
                    </a:p>
                    <a:p>
                      <a:pPr marL="17780" marR="17780" indent="0" algn="just" fontAlgn="base" latinLnBrk="1">
                        <a:lnSpc>
                          <a:spcPct val="100000"/>
                        </a:lnSpc>
                        <a:spcBef>
                          <a:spcPts val="0"/>
                        </a:spcBef>
                        <a:spcAft>
                          <a:spcPts val="0"/>
                        </a:spcAft>
                      </a:pPr>
                      <a:r>
                        <a:rPr lang="ko-KR" altLang="en-US" sz="1050" kern="1200" dirty="0" err="1"/>
                        <a:t>청구항</a:t>
                      </a:r>
                      <a:r>
                        <a:rPr lang="ko-KR" altLang="en-US" sz="1050" kern="1200" dirty="0"/>
                        <a:t> </a:t>
                      </a:r>
                      <a:r>
                        <a:rPr lang="en-US" altLang="ko-KR" sz="1050" kern="1200" dirty="0"/>
                        <a:t>3. </a:t>
                      </a:r>
                      <a:r>
                        <a:rPr lang="ko-KR" altLang="en-US" sz="1050" kern="1200" dirty="0" err="1"/>
                        <a:t>청구항</a:t>
                      </a:r>
                      <a:r>
                        <a:rPr lang="ko-KR" altLang="en-US" sz="1050" kern="1200" dirty="0"/>
                        <a:t> </a:t>
                      </a:r>
                      <a:r>
                        <a:rPr lang="en-US" altLang="ko-KR" sz="1050" kern="1200" dirty="0"/>
                        <a:t>2</a:t>
                      </a:r>
                      <a:r>
                        <a:rPr lang="ko-KR" altLang="en-US" sz="1050" kern="1200" dirty="0"/>
                        <a:t>에 있어서</a:t>
                      </a:r>
                      <a:r>
                        <a:rPr lang="en-US" altLang="ko-KR" sz="1050" kern="1200" dirty="0"/>
                        <a:t>, C</a:t>
                      </a:r>
                      <a:r>
                        <a:rPr lang="ko-KR" altLang="en-US" sz="1050" kern="1200" dirty="0"/>
                        <a:t>를 더 포함하는 장치</a:t>
                      </a:r>
                    </a:p>
                    <a:p>
                      <a:pPr marL="17780" marR="17780" indent="0" algn="just" fontAlgn="base" latinLnBrk="1">
                        <a:lnSpc>
                          <a:spcPct val="100000"/>
                        </a:lnSpc>
                        <a:spcBef>
                          <a:spcPts val="0"/>
                        </a:spcBef>
                        <a:spcAft>
                          <a:spcPts val="0"/>
                        </a:spcAft>
                      </a:pPr>
                      <a:r>
                        <a:rPr lang="ko-KR" altLang="en-US" sz="1050" kern="1200" dirty="0"/>
                        <a:t>→ </a:t>
                      </a:r>
                      <a:r>
                        <a:rPr lang="ko-KR" altLang="en-US" sz="1050" kern="1200" dirty="0" err="1"/>
                        <a:t>청구항</a:t>
                      </a:r>
                      <a:r>
                        <a:rPr lang="ko-KR" altLang="en-US" sz="1050" kern="1200" dirty="0"/>
                        <a:t> </a:t>
                      </a:r>
                      <a:r>
                        <a:rPr lang="en-US" altLang="ko-KR" sz="1050" kern="1200" dirty="0"/>
                        <a:t>1</a:t>
                      </a:r>
                      <a:r>
                        <a:rPr lang="ko-KR" altLang="en-US" sz="1050" kern="1200" dirty="0"/>
                        <a:t>에 있어서</a:t>
                      </a:r>
                      <a:r>
                        <a:rPr lang="en-US" altLang="ko-KR" sz="1050" kern="1200" dirty="0"/>
                        <a:t>, C</a:t>
                      </a:r>
                      <a:r>
                        <a:rPr lang="ko-KR" altLang="en-US" sz="1050" kern="1200" dirty="0"/>
                        <a:t>를 더 포함하는 장치</a:t>
                      </a:r>
                      <a:endParaRPr lang="ko-KR" altLang="en-US" sz="1050" kern="1200" dirty="0">
                        <a:solidFill>
                          <a:schemeClr val="tx2"/>
                        </a:solidFill>
                        <a:latin typeface="+mn-lt"/>
                        <a:ea typeface="+mn-ea"/>
                        <a:cs typeface="+mn-cs"/>
                      </a:endParaRPr>
                    </a:p>
                  </a:txBody>
                  <a:tcPr marL="37168" marR="37168" marT="10276" marB="10276" anchor="ctr"/>
                </a:tc>
                <a:extLst>
                  <a:ext uri="{0D108BD9-81ED-4DB2-BD59-A6C34878D82A}">
                    <a16:rowId xmlns:a16="http://schemas.microsoft.com/office/drawing/2014/main" val="10001"/>
                  </a:ext>
                </a:extLst>
              </a:tr>
              <a:tr h="384366">
                <a:tc vMerge="1">
                  <a:txBody>
                    <a:bodyPr/>
                    <a:lstStyle/>
                    <a:p>
                      <a:pPr latinLnBrk="1"/>
                      <a:endParaRPr lang="ko-KR" altLang="en-US"/>
                    </a:p>
                  </a:txBody>
                  <a:tcPr/>
                </a:tc>
                <a:tc>
                  <a:txBody>
                    <a:bodyPr/>
                    <a:lstStyle/>
                    <a:p>
                      <a:pPr marL="17780" marR="17780" indent="0" algn="ctr" fontAlgn="base" latinLnBrk="0">
                        <a:lnSpc>
                          <a:spcPct val="100000"/>
                        </a:lnSpc>
                        <a:spcBef>
                          <a:spcPts val="0"/>
                        </a:spcBef>
                        <a:spcAft>
                          <a:spcPts val="0"/>
                        </a:spcAft>
                      </a:pPr>
                      <a:r>
                        <a:rPr lang="ko-KR" altLang="en-US" sz="1050" kern="1200" dirty="0"/>
                        <a:t>삭제되지 않은 청구항도 인용하는 경우</a:t>
                      </a:r>
                      <a:endParaRPr lang="ko-KR" altLang="en-US" sz="1050" kern="1200" dirty="0">
                        <a:solidFill>
                          <a:schemeClr val="tx2"/>
                        </a:solidFill>
                        <a:latin typeface="+mn-lt"/>
                        <a:ea typeface="+mn-ea"/>
                        <a:cs typeface="+mn-cs"/>
                      </a:endParaRPr>
                    </a:p>
                  </a:txBody>
                  <a:tcPr marL="37168" marR="37168" marT="10276" marB="10276" anchor="ctr"/>
                </a:tc>
                <a:tc>
                  <a:txBody>
                    <a:bodyPr/>
                    <a:lstStyle/>
                    <a:p>
                      <a:pPr marL="17780" marR="17780" indent="0" algn="just" fontAlgn="base" latinLnBrk="1">
                        <a:lnSpc>
                          <a:spcPct val="100000"/>
                        </a:lnSpc>
                        <a:spcBef>
                          <a:spcPts val="0"/>
                        </a:spcBef>
                        <a:spcAft>
                          <a:spcPts val="0"/>
                        </a:spcAft>
                      </a:pPr>
                      <a:r>
                        <a:rPr lang="ko-KR" altLang="en-US" sz="1050" kern="1200" dirty="0" err="1"/>
                        <a:t>청구항</a:t>
                      </a:r>
                      <a:r>
                        <a:rPr lang="ko-KR" altLang="en-US" sz="1050" kern="1200" dirty="0"/>
                        <a:t> </a:t>
                      </a:r>
                      <a:r>
                        <a:rPr lang="en-US" altLang="ko-KR" sz="1050" kern="1200" dirty="0"/>
                        <a:t>1. A</a:t>
                      </a:r>
                      <a:r>
                        <a:rPr lang="ko-KR" altLang="en-US" sz="1050" kern="1200" dirty="0"/>
                        <a:t>와 </a:t>
                      </a:r>
                      <a:r>
                        <a:rPr lang="en-US" altLang="ko-KR" sz="1050" kern="1200" dirty="0"/>
                        <a:t>B</a:t>
                      </a:r>
                      <a:r>
                        <a:rPr lang="ko-KR" altLang="en-US" sz="1050" kern="1200" dirty="0"/>
                        <a:t>를 포함하는 장치</a:t>
                      </a:r>
                    </a:p>
                    <a:p>
                      <a:pPr marL="17780" marR="17780" indent="0" algn="just" fontAlgn="base" latinLnBrk="1">
                        <a:lnSpc>
                          <a:spcPct val="100000"/>
                        </a:lnSpc>
                        <a:spcBef>
                          <a:spcPts val="0"/>
                        </a:spcBef>
                        <a:spcAft>
                          <a:spcPts val="0"/>
                        </a:spcAft>
                      </a:pPr>
                      <a:r>
                        <a:rPr lang="ko-KR" altLang="en-US" sz="1050" kern="1200" dirty="0" err="1"/>
                        <a:t>청구항</a:t>
                      </a:r>
                      <a:r>
                        <a:rPr lang="ko-KR" altLang="en-US" sz="1050" kern="1200" dirty="0"/>
                        <a:t> </a:t>
                      </a:r>
                      <a:r>
                        <a:rPr lang="en-US" altLang="ko-KR" sz="1050" kern="1200" dirty="0"/>
                        <a:t>2. </a:t>
                      </a:r>
                      <a:r>
                        <a:rPr lang="ko-KR" altLang="en-US" sz="1050" kern="1200" dirty="0"/>
                        <a:t>삭제</a:t>
                      </a:r>
                    </a:p>
                    <a:p>
                      <a:pPr marL="17780" marR="17780" indent="0" algn="just" fontAlgn="base" latinLnBrk="1">
                        <a:lnSpc>
                          <a:spcPct val="100000"/>
                        </a:lnSpc>
                        <a:spcBef>
                          <a:spcPts val="0"/>
                        </a:spcBef>
                        <a:spcAft>
                          <a:spcPts val="0"/>
                        </a:spcAft>
                      </a:pPr>
                      <a:r>
                        <a:rPr lang="ko-KR" altLang="en-US" sz="1050" kern="1200" dirty="0" err="1"/>
                        <a:t>청구항</a:t>
                      </a:r>
                      <a:r>
                        <a:rPr lang="ko-KR" altLang="en-US" sz="1050" kern="1200" dirty="0"/>
                        <a:t> </a:t>
                      </a:r>
                      <a:r>
                        <a:rPr lang="en-US" altLang="ko-KR" sz="1050" kern="1200" dirty="0"/>
                        <a:t>3. </a:t>
                      </a:r>
                      <a:r>
                        <a:rPr lang="ko-KR" altLang="en-US" sz="1050" kern="1200" dirty="0" err="1"/>
                        <a:t>청구항</a:t>
                      </a:r>
                      <a:r>
                        <a:rPr lang="ko-KR" altLang="en-US" sz="1050" kern="1200" dirty="0"/>
                        <a:t> </a:t>
                      </a:r>
                      <a:r>
                        <a:rPr lang="en-US" altLang="ko-KR" sz="1050" kern="1200" dirty="0"/>
                        <a:t>1 </a:t>
                      </a:r>
                      <a:r>
                        <a:rPr lang="ko-KR" altLang="en-US" sz="1050" kern="1200" dirty="0"/>
                        <a:t>또는 </a:t>
                      </a:r>
                      <a:r>
                        <a:rPr lang="en-US" altLang="ko-KR" sz="1050" kern="1200" dirty="0"/>
                        <a:t>2</a:t>
                      </a:r>
                      <a:r>
                        <a:rPr lang="ko-KR" altLang="en-US" sz="1050" kern="1200" dirty="0"/>
                        <a:t>에 있어서</a:t>
                      </a:r>
                      <a:r>
                        <a:rPr lang="en-US" altLang="ko-KR" sz="1050" kern="1200" dirty="0"/>
                        <a:t>, C</a:t>
                      </a:r>
                      <a:r>
                        <a:rPr lang="ko-KR" altLang="en-US" sz="1050" kern="1200" dirty="0"/>
                        <a:t>를 더 포함하는 장치 → </a:t>
                      </a:r>
                      <a:r>
                        <a:rPr lang="ko-KR" altLang="en-US" sz="1050" kern="1200" dirty="0" err="1"/>
                        <a:t>청구항</a:t>
                      </a:r>
                      <a:r>
                        <a:rPr lang="ko-KR" altLang="en-US" sz="1050" kern="1200" dirty="0"/>
                        <a:t> </a:t>
                      </a:r>
                      <a:r>
                        <a:rPr lang="en-US" altLang="ko-KR" sz="1050" kern="1200" dirty="0"/>
                        <a:t>1</a:t>
                      </a:r>
                      <a:r>
                        <a:rPr lang="ko-KR" altLang="en-US" sz="1050" kern="1200" dirty="0"/>
                        <a:t>에 있어서</a:t>
                      </a:r>
                      <a:r>
                        <a:rPr lang="en-US" altLang="ko-KR" sz="1050" kern="1200" dirty="0"/>
                        <a:t>, C</a:t>
                      </a:r>
                      <a:r>
                        <a:rPr lang="ko-KR" altLang="en-US" sz="1050" kern="1200" dirty="0"/>
                        <a:t>를 더 포함하는 장치</a:t>
                      </a:r>
                      <a:endParaRPr lang="ko-KR" altLang="en-US" sz="1050" kern="1200" dirty="0">
                        <a:solidFill>
                          <a:schemeClr val="tx2"/>
                        </a:solidFill>
                        <a:latin typeface="+mn-lt"/>
                        <a:ea typeface="+mn-ea"/>
                        <a:cs typeface="+mn-cs"/>
                      </a:endParaRPr>
                    </a:p>
                  </a:txBody>
                  <a:tcPr marL="37168" marR="37168" marT="10276" marB="10276" anchor="ctr"/>
                </a:tc>
                <a:extLst>
                  <a:ext uri="{0D108BD9-81ED-4DB2-BD59-A6C34878D82A}">
                    <a16:rowId xmlns:a16="http://schemas.microsoft.com/office/drawing/2014/main" val="10002"/>
                  </a:ext>
                </a:extLst>
              </a:tr>
              <a:tr h="293412">
                <a:tc gridSpan="2">
                  <a:txBody>
                    <a:bodyPr/>
                    <a:lstStyle/>
                    <a:p>
                      <a:pPr marL="17780" marR="17780" indent="0" algn="ctr" fontAlgn="base" latinLnBrk="0">
                        <a:lnSpc>
                          <a:spcPct val="100000"/>
                        </a:lnSpc>
                        <a:spcBef>
                          <a:spcPts val="0"/>
                        </a:spcBef>
                        <a:spcAft>
                          <a:spcPts val="0"/>
                        </a:spcAft>
                      </a:pPr>
                      <a:r>
                        <a:rPr lang="ko-KR" altLang="en-US" sz="1050" kern="1200" dirty="0" err="1"/>
                        <a:t>종속항임에도</a:t>
                      </a:r>
                      <a:r>
                        <a:rPr lang="ko-KR" altLang="en-US" sz="1050" kern="1200" dirty="0"/>
                        <a:t> 인용하는 </a:t>
                      </a:r>
                      <a:r>
                        <a:rPr lang="ko-KR" altLang="en-US" sz="1050" kern="1200" dirty="0" err="1"/>
                        <a:t>청구항과</a:t>
                      </a:r>
                      <a:r>
                        <a:rPr lang="ko-KR" altLang="en-US" sz="1050" kern="1200" dirty="0"/>
                        <a:t> 말미가 다른 경우</a:t>
                      </a:r>
                      <a:endParaRPr lang="ko-KR" altLang="en-US" sz="1050" kern="1200" dirty="0">
                        <a:solidFill>
                          <a:schemeClr val="tx2"/>
                        </a:solidFill>
                        <a:latin typeface="+mn-lt"/>
                        <a:ea typeface="+mn-ea"/>
                        <a:cs typeface="+mn-cs"/>
                      </a:endParaRPr>
                    </a:p>
                  </a:txBody>
                  <a:tcPr marL="37168" marR="37168" marT="10276" marB="10276" anchor="ct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050" kern="1200" dirty="0"/>
                        <a:t>청구항 </a:t>
                      </a:r>
                      <a:r>
                        <a:rPr lang="en-US" altLang="ko-KR" sz="1050" kern="1200" dirty="0"/>
                        <a:t>1. A</a:t>
                      </a:r>
                      <a:r>
                        <a:rPr lang="ko-KR" altLang="en-US" sz="1050" kern="1200" dirty="0"/>
                        <a:t>를 포함하는 장치</a:t>
                      </a:r>
                    </a:p>
                    <a:p>
                      <a:pPr marL="17780" marR="17780" indent="0" algn="just" fontAlgn="base" latinLnBrk="1">
                        <a:lnSpc>
                          <a:spcPct val="100000"/>
                        </a:lnSpc>
                        <a:spcBef>
                          <a:spcPts val="0"/>
                        </a:spcBef>
                        <a:spcAft>
                          <a:spcPts val="0"/>
                        </a:spcAft>
                      </a:pPr>
                      <a:r>
                        <a:rPr lang="ko-KR" altLang="en-US" sz="1050" kern="1200" dirty="0"/>
                        <a:t>청구항 </a:t>
                      </a:r>
                      <a:r>
                        <a:rPr lang="en-US" altLang="ko-KR" sz="1050" kern="1200" dirty="0"/>
                        <a:t>2. </a:t>
                      </a:r>
                      <a:r>
                        <a:rPr lang="ko-KR" altLang="en-US" sz="1050" kern="1200" dirty="0"/>
                        <a:t>청구항 </a:t>
                      </a:r>
                      <a:r>
                        <a:rPr lang="en-US" altLang="ko-KR" sz="1050" kern="1200" dirty="0"/>
                        <a:t>1</a:t>
                      </a:r>
                      <a:r>
                        <a:rPr lang="ko-KR" altLang="en-US" sz="1050" kern="1200" dirty="0"/>
                        <a:t>에 있어서</a:t>
                      </a:r>
                      <a:r>
                        <a:rPr lang="en-US" altLang="ko-KR" sz="1050" kern="1200" dirty="0"/>
                        <a:t>, B</a:t>
                      </a:r>
                      <a:r>
                        <a:rPr lang="ko-KR" altLang="en-US" sz="1050" kern="1200" dirty="0"/>
                        <a:t>를 더 포함하는 방법 → 청구항 </a:t>
                      </a:r>
                      <a:r>
                        <a:rPr lang="en-US" altLang="ko-KR" sz="1050" kern="1200" dirty="0"/>
                        <a:t>1</a:t>
                      </a:r>
                      <a:r>
                        <a:rPr lang="ko-KR" altLang="en-US" sz="1050" kern="1200" dirty="0"/>
                        <a:t>에 있어서</a:t>
                      </a:r>
                      <a:r>
                        <a:rPr lang="en-US" altLang="ko-KR" sz="1050" kern="1200" dirty="0"/>
                        <a:t>, B</a:t>
                      </a:r>
                      <a:r>
                        <a:rPr lang="ko-KR" altLang="en-US" sz="1050" kern="1200" dirty="0"/>
                        <a:t>를 더 포함하는 장치</a:t>
                      </a:r>
                      <a:endParaRPr lang="ko-KR" altLang="en-US" sz="1050" kern="1200" dirty="0">
                        <a:solidFill>
                          <a:schemeClr val="tx2"/>
                        </a:solidFill>
                        <a:latin typeface="+mn-lt"/>
                        <a:ea typeface="+mn-ea"/>
                        <a:cs typeface="+mn-cs"/>
                      </a:endParaRPr>
                    </a:p>
                  </a:txBody>
                  <a:tcPr marL="37168" marR="37168" marT="10276" marB="10276" anchor="ctr"/>
                </a:tc>
                <a:extLst>
                  <a:ext uri="{0D108BD9-81ED-4DB2-BD59-A6C34878D82A}">
                    <a16:rowId xmlns:a16="http://schemas.microsoft.com/office/drawing/2014/main" val="10003"/>
                  </a:ext>
                </a:extLst>
              </a:tr>
              <a:tr h="384366">
                <a:tc gridSpan="2">
                  <a:txBody>
                    <a:bodyPr/>
                    <a:lstStyle/>
                    <a:p>
                      <a:pPr marL="17780" marR="17780" indent="0" algn="ctr" fontAlgn="base" latinLnBrk="0">
                        <a:lnSpc>
                          <a:spcPct val="100000"/>
                        </a:lnSpc>
                        <a:spcBef>
                          <a:spcPts val="0"/>
                        </a:spcBef>
                        <a:spcAft>
                          <a:spcPts val="0"/>
                        </a:spcAft>
                      </a:pPr>
                      <a:r>
                        <a:rPr lang="ko-KR" altLang="en-US" sz="1050" kern="1200" dirty="0"/>
                        <a:t>보정으로 </a:t>
                      </a:r>
                      <a:r>
                        <a:rPr lang="ko-KR" altLang="en-US" sz="1050" kern="1200" dirty="0" err="1"/>
                        <a:t>종속항이</a:t>
                      </a:r>
                      <a:r>
                        <a:rPr lang="ko-KR" altLang="en-US" sz="1050" kern="1200" dirty="0"/>
                        <a:t> 인용하는 </a:t>
                      </a:r>
                      <a:r>
                        <a:rPr lang="ko-KR" altLang="en-US" sz="1050" kern="1200" dirty="0" err="1"/>
                        <a:t>청구항에</a:t>
                      </a:r>
                      <a:r>
                        <a:rPr lang="ko-KR" altLang="en-US" sz="1050" kern="1200" dirty="0"/>
                        <a:t> 병합되었음에도 </a:t>
                      </a:r>
                      <a:r>
                        <a:rPr lang="ko-KR" altLang="en-US" sz="1050" kern="1200" dirty="0" err="1"/>
                        <a:t>종속항을</a:t>
                      </a:r>
                      <a:r>
                        <a:rPr lang="ko-KR" altLang="en-US" sz="1050" kern="1200" dirty="0"/>
                        <a:t> 삭제하지 않은 경우</a:t>
                      </a:r>
                      <a:endParaRPr lang="ko-KR" altLang="en-US" sz="1050" kern="1200" dirty="0">
                        <a:solidFill>
                          <a:schemeClr val="tx2"/>
                        </a:solidFill>
                        <a:latin typeface="+mn-lt"/>
                        <a:ea typeface="+mn-ea"/>
                        <a:cs typeface="+mn-cs"/>
                      </a:endParaRPr>
                    </a:p>
                  </a:txBody>
                  <a:tcPr marL="37168" marR="37168" marT="10276" marB="10276" anchor="ct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en-US" altLang="ko-KR" sz="1050" kern="1200"/>
                        <a:t>[</a:t>
                      </a:r>
                      <a:r>
                        <a:rPr lang="ko-KR" altLang="en-US" sz="1050" kern="1200"/>
                        <a:t>보정 전</a:t>
                      </a:r>
                      <a:r>
                        <a:rPr lang="en-US" altLang="ko-KR" sz="1050" kern="1200"/>
                        <a:t>] </a:t>
                      </a:r>
                      <a:r>
                        <a:rPr lang="ko-KR" altLang="en-US" sz="1050" kern="1200"/>
                        <a:t>청구항 </a:t>
                      </a:r>
                      <a:r>
                        <a:rPr lang="en-US" altLang="ko-KR" sz="1050" kern="1200"/>
                        <a:t>1. A</a:t>
                      </a:r>
                      <a:r>
                        <a:rPr lang="ko-KR" altLang="en-US" sz="1050" kern="1200"/>
                        <a:t>를 포함하는 장치</a:t>
                      </a:r>
                    </a:p>
                    <a:p>
                      <a:pPr marL="17780" marR="17780" indent="0" algn="just" fontAlgn="base" latinLnBrk="1">
                        <a:lnSpc>
                          <a:spcPct val="100000"/>
                        </a:lnSpc>
                        <a:spcBef>
                          <a:spcPts val="0"/>
                        </a:spcBef>
                        <a:spcAft>
                          <a:spcPts val="0"/>
                        </a:spcAft>
                      </a:pPr>
                      <a:r>
                        <a:rPr lang="ko-KR" altLang="en-US" sz="1050" kern="1200"/>
                        <a:t>청구항 </a:t>
                      </a:r>
                      <a:r>
                        <a:rPr lang="en-US" altLang="ko-KR" sz="1050" kern="1200"/>
                        <a:t>2. </a:t>
                      </a:r>
                      <a:r>
                        <a:rPr lang="ko-KR" altLang="en-US" sz="1050" kern="1200"/>
                        <a:t>청구항 </a:t>
                      </a:r>
                      <a:r>
                        <a:rPr lang="en-US" altLang="ko-KR" sz="1050" kern="1200"/>
                        <a:t>1</a:t>
                      </a:r>
                      <a:r>
                        <a:rPr lang="ko-KR" altLang="en-US" sz="1050" kern="1200"/>
                        <a:t>에 있어서</a:t>
                      </a:r>
                      <a:r>
                        <a:rPr lang="en-US" altLang="ko-KR" sz="1050" kern="1200"/>
                        <a:t>, B</a:t>
                      </a:r>
                      <a:r>
                        <a:rPr lang="ko-KR" altLang="en-US" sz="1050" kern="1200"/>
                        <a:t>를 더 포함하는 장치</a:t>
                      </a:r>
                    </a:p>
                    <a:p>
                      <a:pPr marL="17780" marR="17780" indent="0" algn="just" fontAlgn="base" latinLnBrk="1">
                        <a:lnSpc>
                          <a:spcPct val="100000"/>
                        </a:lnSpc>
                        <a:spcBef>
                          <a:spcPts val="0"/>
                        </a:spcBef>
                        <a:spcAft>
                          <a:spcPts val="0"/>
                        </a:spcAft>
                      </a:pPr>
                      <a:r>
                        <a:rPr lang="en-US" altLang="ko-KR" sz="1050" kern="1200"/>
                        <a:t>[</a:t>
                      </a:r>
                      <a:r>
                        <a:rPr lang="ko-KR" altLang="en-US" sz="1050" kern="1200"/>
                        <a:t>보정 후</a:t>
                      </a:r>
                      <a:r>
                        <a:rPr lang="en-US" altLang="ko-KR" sz="1050" kern="1200"/>
                        <a:t>] </a:t>
                      </a:r>
                      <a:r>
                        <a:rPr lang="ko-KR" altLang="en-US" sz="1050" kern="1200"/>
                        <a:t>청구항 </a:t>
                      </a:r>
                      <a:r>
                        <a:rPr lang="en-US" altLang="ko-KR" sz="1050" kern="1200"/>
                        <a:t>1. A</a:t>
                      </a:r>
                      <a:r>
                        <a:rPr lang="ko-KR" altLang="en-US" sz="1050" kern="1200"/>
                        <a:t>와 </a:t>
                      </a:r>
                      <a:r>
                        <a:rPr lang="en-US" altLang="ko-KR" sz="1050" kern="1200"/>
                        <a:t>B</a:t>
                      </a:r>
                      <a:r>
                        <a:rPr lang="ko-KR" altLang="en-US" sz="1050" kern="1200"/>
                        <a:t>를 포함하는 장치</a:t>
                      </a:r>
                    </a:p>
                    <a:p>
                      <a:pPr marL="17780" marR="17780" indent="0" algn="just" fontAlgn="base" latinLnBrk="1">
                        <a:lnSpc>
                          <a:spcPct val="100000"/>
                        </a:lnSpc>
                        <a:spcBef>
                          <a:spcPts val="0"/>
                        </a:spcBef>
                        <a:spcAft>
                          <a:spcPts val="0"/>
                        </a:spcAft>
                      </a:pPr>
                      <a:r>
                        <a:rPr lang="ko-KR" altLang="en-US" sz="1050" kern="1200"/>
                        <a:t>청구항 </a:t>
                      </a:r>
                      <a:r>
                        <a:rPr lang="en-US" altLang="ko-KR" sz="1050" kern="1200"/>
                        <a:t>2. </a:t>
                      </a:r>
                      <a:r>
                        <a:rPr lang="ko-KR" altLang="en-US" sz="1050" kern="1200"/>
                        <a:t>청구항 </a:t>
                      </a:r>
                      <a:r>
                        <a:rPr lang="en-US" altLang="ko-KR" sz="1050" kern="1200"/>
                        <a:t>1</a:t>
                      </a:r>
                      <a:r>
                        <a:rPr lang="ko-KR" altLang="en-US" sz="1050" kern="1200"/>
                        <a:t>에 있어서</a:t>
                      </a:r>
                      <a:r>
                        <a:rPr lang="en-US" altLang="ko-KR" sz="1050" kern="1200"/>
                        <a:t>, B</a:t>
                      </a:r>
                      <a:r>
                        <a:rPr lang="ko-KR" altLang="en-US" sz="1050" kern="1200"/>
                        <a:t>를 더 포함하는 장치 → 삭제</a:t>
                      </a:r>
                      <a:endParaRPr lang="ko-KR" altLang="en-US" sz="1050" kern="1200">
                        <a:solidFill>
                          <a:schemeClr val="tx2"/>
                        </a:solidFill>
                        <a:latin typeface="+mn-lt"/>
                        <a:ea typeface="+mn-ea"/>
                        <a:cs typeface="+mn-cs"/>
                      </a:endParaRPr>
                    </a:p>
                  </a:txBody>
                  <a:tcPr marL="37168" marR="37168" marT="10276" marB="10276" anchor="ctr"/>
                </a:tc>
                <a:extLst>
                  <a:ext uri="{0D108BD9-81ED-4DB2-BD59-A6C34878D82A}">
                    <a16:rowId xmlns:a16="http://schemas.microsoft.com/office/drawing/2014/main" val="10004"/>
                  </a:ext>
                </a:extLst>
              </a:tr>
              <a:tr h="384366">
                <a:tc gridSpan="2">
                  <a:txBody>
                    <a:bodyPr/>
                    <a:lstStyle/>
                    <a:p>
                      <a:pPr marL="17780" marR="17780" indent="0" algn="ctr" fontAlgn="base" latinLnBrk="0">
                        <a:lnSpc>
                          <a:spcPct val="100000"/>
                        </a:lnSpc>
                        <a:spcBef>
                          <a:spcPts val="0"/>
                        </a:spcBef>
                        <a:spcAft>
                          <a:spcPts val="0"/>
                        </a:spcAft>
                      </a:pPr>
                      <a:r>
                        <a:rPr lang="ko-KR" altLang="en-US" sz="1050" kern="1200" dirty="0"/>
                        <a:t>동일한 구성을 두 개 이상의 용어를 사용하여 지칭하는 경우</a:t>
                      </a:r>
                      <a:endParaRPr lang="ko-KR" altLang="en-US" sz="1050" kern="1200" dirty="0">
                        <a:solidFill>
                          <a:schemeClr val="tx2"/>
                        </a:solidFill>
                        <a:latin typeface="+mn-lt"/>
                        <a:ea typeface="+mn-ea"/>
                        <a:cs typeface="+mn-cs"/>
                      </a:endParaRPr>
                    </a:p>
                  </a:txBody>
                  <a:tcPr marL="37168" marR="37168" marT="10276" marB="10276" anchor="ct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050" kern="1200" dirty="0" err="1"/>
                        <a:t>청구항</a:t>
                      </a:r>
                      <a:r>
                        <a:rPr lang="ko-KR" altLang="en-US" sz="1050" kern="1200" dirty="0"/>
                        <a:t> </a:t>
                      </a:r>
                      <a:r>
                        <a:rPr lang="en-US" altLang="ko-KR" sz="1050" kern="1200" dirty="0"/>
                        <a:t>1. </a:t>
                      </a:r>
                      <a:r>
                        <a:rPr lang="ko-KR" altLang="en-US" sz="1050" kern="1200" dirty="0"/>
                        <a:t>핵 형성층을 형성하는 단계와 상기 핵 </a:t>
                      </a:r>
                      <a:r>
                        <a:rPr lang="ko-KR" altLang="en-US" sz="1050" kern="1200" dirty="0" err="1"/>
                        <a:t>생성층</a:t>
                      </a:r>
                      <a:r>
                        <a:rPr lang="ko-KR" altLang="en-US" sz="1050" kern="1200" dirty="0"/>
                        <a:t> 위에 실리콘 층을 형성하는 단계를 포함하는 </a:t>
                      </a:r>
                      <a:r>
                        <a:rPr lang="ko-KR" altLang="en-US" sz="1050" kern="1200" dirty="0" err="1"/>
                        <a:t>반도체층</a:t>
                      </a:r>
                      <a:r>
                        <a:rPr lang="ko-KR" altLang="en-US" sz="1050" kern="1200" dirty="0"/>
                        <a:t> 형성 방법 → </a:t>
                      </a:r>
                      <a:r>
                        <a:rPr lang="ko-KR" altLang="en-US" sz="1050" kern="1200" dirty="0" err="1"/>
                        <a:t>청구항</a:t>
                      </a:r>
                      <a:r>
                        <a:rPr lang="ko-KR" altLang="en-US" sz="1050" kern="1200" dirty="0"/>
                        <a:t> </a:t>
                      </a:r>
                      <a:r>
                        <a:rPr lang="en-US" altLang="ko-KR" sz="1050" kern="1200" dirty="0"/>
                        <a:t>1. </a:t>
                      </a:r>
                      <a:r>
                        <a:rPr lang="ko-KR" altLang="en-US" sz="1050" kern="1200" dirty="0"/>
                        <a:t>핵 형성층을 형성하는 단계와 상기 핵 형성층 위에 실리콘 층을 형성하는 단계를 포함하는 </a:t>
                      </a:r>
                      <a:r>
                        <a:rPr lang="ko-KR" altLang="en-US" sz="1050" kern="1200" dirty="0" err="1"/>
                        <a:t>반도체층</a:t>
                      </a:r>
                      <a:r>
                        <a:rPr lang="ko-KR" altLang="en-US" sz="1050" kern="1200" dirty="0"/>
                        <a:t> 형성 방법</a:t>
                      </a:r>
                      <a:endParaRPr lang="ko-KR" altLang="en-US" sz="1050" kern="1200" dirty="0">
                        <a:solidFill>
                          <a:schemeClr val="tx2"/>
                        </a:solidFill>
                        <a:latin typeface="+mn-lt"/>
                        <a:ea typeface="+mn-ea"/>
                        <a:cs typeface="+mn-cs"/>
                      </a:endParaRPr>
                    </a:p>
                  </a:txBody>
                  <a:tcPr marL="37168" marR="37168" marT="10276" marB="10276" anchor="ctr"/>
                </a:tc>
                <a:extLst>
                  <a:ext uri="{0D108BD9-81ED-4DB2-BD59-A6C34878D82A}">
                    <a16:rowId xmlns:a16="http://schemas.microsoft.com/office/drawing/2014/main" val="10005"/>
                  </a:ext>
                </a:extLst>
              </a:tr>
              <a:tr h="384366">
                <a:tc gridSpan="2">
                  <a:txBody>
                    <a:bodyPr/>
                    <a:lstStyle/>
                    <a:p>
                      <a:pPr marL="17780" marR="17780" indent="0" algn="ctr" fontAlgn="base" latinLnBrk="0">
                        <a:lnSpc>
                          <a:spcPct val="100000"/>
                        </a:lnSpc>
                        <a:spcBef>
                          <a:spcPts val="0"/>
                        </a:spcBef>
                        <a:spcAft>
                          <a:spcPts val="0"/>
                        </a:spcAft>
                      </a:pPr>
                      <a:r>
                        <a:rPr lang="ko-KR" altLang="en-US" sz="1050" kern="1200" dirty="0" err="1"/>
                        <a:t>청구항을</a:t>
                      </a:r>
                      <a:r>
                        <a:rPr lang="ko-KR" altLang="en-US" sz="1050" kern="1200" dirty="0"/>
                        <a:t> 잘못 인용한 것이 </a:t>
                      </a:r>
                      <a:endParaRPr lang="en-US" altLang="ko-KR" sz="1050" kern="1200" dirty="0"/>
                    </a:p>
                    <a:p>
                      <a:pPr marL="17780" marR="17780" indent="0" algn="ctr" fontAlgn="base" latinLnBrk="0">
                        <a:lnSpc>
                          <a:spcPct val="100000"/>
                        </a:lnSpc>
                        <a:spcBef>
                          <a:spcPts val="0"/>
                        </a:spcBef>
                        <a:spcAft>
                          <a:spcPts val="0"/>
                        </a:spcAft>
                      </a:pPr>
                      <a:r>
                        <a:rPr lang="ko-KR" altLang="en-US" sz="1050" kern="1200" dirty="0"/>
                        <a:t>명백한 경우</a:t>
                      </a:r>
                      <a:endParaRPr lang="ko-KR" altLang="en-US" sz="1050" kern="1200" dirty="0">
                        <a:solidFill>
                          <a:schemeClr val="tx2"/>
                        </a:solidFill>
                        <a:latin typeface="+mn-lt"/>
                        <a:ea typeface="+mn-ea"/>
                        <a:cs typeface="+mn-cs"/>
                      </a:endParaRPr>
                    </a:p>
                  </a:txBody>
                  <a:tcPr marL="37168" marR="37168" marT="10276" marB="10276" anchor="ct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050" kern="1200" dirty="0" err="1"/>
                        <a:t>청구항</a:t>
                      </a:r>
                      <a:r>
                        <a:rPr lang="ko-KR" altLang="en-US" sz="1050" kern="1200" dirty="0"/>
                        <a:t> </a:t>
                      </a:r>
                      <a:r>
                        <a:rPr lang="en-US" altLang="ko-KR" sz="1050" kern="1200" dirty="0"/>
                        <a:t>1. A</a:t>
                      </a:r>
                      <a:r>
                        <a:rPr lang="ko-KR" altLang="en-US" sz="1050" kern="1200" dirty="0"/>
                        <a:t>를 포함하는 장치</a:t>
                      </a:r>
                    </a:p>
                    <a:p>
                      <a:pPr marL="17780" marR="17780" indent="0" algn="just" fontAlgn="base" latinLnBrk="1">
                        <a:lnSpc>
                          <a:spcPct val="100000"/>
                        </a:lnSpc>
                        <a:spcBef>
                          <a:spcPts val="0"/>
                        </a:spcBef>
                        <a:spcAft>
                          <a:spcPts val="0"/>
                        </a:spcAft>
                      </a:pPr>
                      <a:r>
                        <a:rPr lang="ko-KR" altLang="en-US" sz="1050" kern="1200" dirty="0" err="1"/>
                        <a:t>청구항</a:t>
                      </a:r>
                      <a:r>
                        <a:rPr lang="ko-KR" altLang="en-US" sz="1050" kern="1200" dirty="0"/>
                        <a:t> </a:t>
                      </a:r>
                      <a:r>
                        <a:rPr lang="en-US" altLang="ko-KR" sz="1050" kern="1200" dirty="0"/>
                        <a:t>2. </a:t>
                      </a:r>
                      <a:r>
                        <a:rPr lang="ko-KR" altLang="en-US" sz="1050" kern="1200" dirty="0" err="1"/>
                        <a:t>청구항</a:t>
                      </a:r>
                      <a:r>
                        <a:rPr lang="ko-KR" altLang="en-US" sz="1050" kern="1200" dirty="0"/>
                        <a:t> </a:t>
                      </a:r>
                      <a:r>
                        <a:rPr lang="en-US" altLang="ko-KR" sz="1050" kern="1200" dirty="0"/>
                        <a:t>1</a:t>
                      </a:r>
                      <a:r>
                        <a:rPr lang="ko-KR" altLang="en-US" sz="1050" kern="1200" dirty="0"/>
                        <a:t>에 있어서</a:t>
                      </a:r>
                      <a:r>
                        <a:rPr lang="en-US" altLang="ko-KR" sz="1050" kern="1200" dirty="0"/>
                        <a:t>, B</a:t>
                      </a:r>
                      <a:r>
                        <a:rPr lang="ko-KR" altLang="en-US" sz="1050" kern="1200" dirty="0"/>
                        <a:t>를 더 포함하는 장치</a:t>
                      </a:r>
                    </a:p>
                    <a:p>
                      <a:pPr marL="17780" marR="17780" indent="0" algn="just" fontAlgn="base" latinLnBrk="1">
                        <a:lnSpc>
                          <a:spcPct val="100000"/>
                        </a:lnSpc>
                        <a:spcBef>
                          <a:spcPts val="0"/>
                        </a:spcBef>
                        <a:spcAft>
                          <a:spcPts val="0"/>
                        </a:spcAft>
                      </a:pPr>
                      <a:r>
                        <a:rPr lang="ko-KR" altLang="en-US" sz="1050" kern="1200" dirty="0" err="1"/>
                        <a:t>청구항</a:t>
                      </a:r>
                      <a:r>
                        <a:rPr lang="ko-KR" altLang="en-US" sz="1050" kern="1200" dirty="0"/>
                        <a:t> </a:t>
                      </a:r>
                      <a:r>
                        <a:rPr lang="en-US" altLang="ko-KR" sz="1050" kern="1200" dirty="0"/>
                        <a:t>3. </a:t>
                      </a:r>
                      <a:r>
                        <a:rPr lang="ko-KR" altLang="en-US" sz="1050" kern="1200" dirty="0" err="1"/>
                        <a:t>청구항</a:t>
                      </a:r>
                      <a:r>
                        <a:rPr lang="ko-KR" altLang="en-US" sz="1050" kern="1200" dirty="0"/>
                        <a:t> </a:t>
                      </a:r>
                      <a:r>
                        <a:rPr lang="en-US" altLang="ko-KR" sz="1050" kern="1200" dirty="0"/>
                        <a:t>1</a:t>
                      </a:r>
                      <a:r>
                        <a:rPr lang="ko-KR" altLang="en-US" sz="1050" kern="1200" dirty="0"/>
                        <a:t>에 있어서</a:t>
                      </a:r>
                      <a:r>
                        <a:rPr lang="en-US" altLang="ko-KR" sz="1050" kern="1200" dirty="0"/>
                        <a:t>, </a:t>
                      </a:r>
                      <a:r>
                        <a:rPr lang="ko-KR" altLang="en-US" sz="1050" kern="1200" dirty="0"/>
                        <a:t>상기 </a:t>
                      </a:r>
                      <a:r>
                        <a:rPr lang="en-US" altLang="ko-KR" sz="1050" kern="1200" dirty="0"/>
                        <a:t>B</a:t>
                      </a:r>
                      <a:r>
                        <a:rPr lang="ko-KR" altLang="en-US" sz="1050" kern="1200" dirty="0"/>
                        <a:t>는 </a:t>
                      </a:r>
                      <a:r>
                        <a:rPr lang="en-US" altLang="ko-KR" sz="1050" kern="1200" dirty="0"/>
                        <a:t>C</a:t>
                      </a:r>
                      <a:r>
                        <a:rPr lang="ko-KR" altLang="en-US" sz="1050" kern="1200" dirty="0"/>
                        <a:t>인 장치→ </a:t>
                      </a:r>
                      <a:r>
                        <a:rPr lang="ko-KR" altLang="en-US" sz="1050" kern="1200" dirty="0" err="1"/>
                        <a:t>청구항</a:t>
                      </a:r>
                      <a:r>
                        <a:rPr lang="ko-KR" altLang="en-US" sz="1050" kern="1200" dirty="0"/>
                        <a:t> </a:t>
                      </a:r>
                      <a:r>
                        <a:rPr lang="en-US" altLang="ko-KR" sz="1050" kern="1200" dirty="0"/>
                        <a:t>2</a:t>
                      </a:r>
                      <a:r>
                        <a:rPr lang="ko-KR" altLang="en-US" sz="1050" kern="1200" dirty="0"/>
                        <a:t>에 있어서</a:t>
                      </a:r>
                      <a:r>
                        <a:rPr lang="en-US" altLang="ko-KR" sz="1050" kern="1200" dirty="0"/>
                        <a:t>, </a:t>
                      </a:r>
                      <a:r>
                        <a:rPr lang="ko-KR" altLang="en-US" sz="1050" kern="1200" dirty="0"/>
                        <a:t>상기 </a:t>
                      </a:r>
                      <a:r>
                        <a:rPr lang="en-US" altLang="ko-KR" sz="1050" kern="1200" dirty="0"/>
                        <a:t>B</a:t>
                      </a:r>
                      <a:r>
                        <a:rPr lang="ko-KR" altLang="en-US" sz="1050" kern="1200" dirty="0"/>
                        <a:t>는 </a:t>
                      </a:r>
                      <a:r>
                        <a:rPr lang="en-US" altLang="ko-KR" sz="1050" kern="1200" dirty="0"/>
                        <a:t>C</a:t>
                      </a:r>
                      <a:r>
                        <a:rPr lang="ko-KR" altLang="en-US" sz="1050" kern="1200" dirty="0"/>
                        <a:t>인 장치</a:t>
                      </a:r>
                      <a:endParaRPr lang="ko-KR" altLang="en-US" sz="1050" kern="1200" dirty="0">
                        <a:solidFill>
                          <a:schemeClr val="tx2"/>
                        </a:solidFill>
                        <a:latin typeface="+mn-lt"/>
                        <a:ea typeface="+mn-ea"/>
                        <a:cs typeface="+mn-cs"/>
                      </a:endParaRPr>
                    </a:p>
                  </a:txBody>
                  <a:tcPr marL="37168" marR="37168" marT="10276" marB="10276" anchor="ctr"/>
                </a:tc>
                <a:extLst>
                  <a:ext uri="{0D108BD9-81ED-4DB2-BD59-A6C34878D82A}">
                    <a16:rowId xmlns:a16="http://schemas.microsoft.com/office/drawing/2014/main" val="10006"/>
                  </a:ext>
                </a:extLst>
              </a:tr>
              <a:tr h="202459">
                <a:tc gridSpan="2">
                  <a:txBody>
                    <a:bodyPr/>
                    <a:lstStyle/>
                    <a:p>
                      <a:pPr marL="17780" marR="17780" indent="0" algn="ctr" fontAlgn="base" latinLnBrk="0">
                        <a:lnSpc>
                          <a:spcPct val="100000"/>
                        </a:lnSpc>
                        <a:spcBef>
                          <a:spcPts val="0"/>
                        </a:spcBef>
                        <a:spcAft>
                          <a:spcPts val="0"/>
                        </a:spcAft>
                      </a:pPr>
                      <a:r>
                        <a:rPr lang="ko-KR" altLang="en-US" sz="1050" kern="1200" dirty="0" err="1"/>
                        <a:t>문언적으로</a:t>
                      </a:r>
                      <a:r>
                        <a:rPr lang="ko-KR" altLang="en-US" sz="1050" kern="1200" dirty="0"/>
                        <a:t> 동일한 </a:t>
                      </a:r>
                      <a:r>
                        <a:rPr lang="ko-KR" altLang="en-US" sz="1050" kern="1200" dirty="0" err="1"/>
                        <a:t>청구항을</a:t>
                      </a:r>
                      <a:r>
                        <a:rPr lang="ko-KR" altLang="en-US" sz="1050" kern="1200" dirty="0"/>
                        <a:t> 중복하여 기재하는 경우</a:t>
                      </a:r>
                      <a:endParaRPr lang="ko-KR" altLang="en-US" sz="1050" kern="1200" dirty="0">
                        <a:solidFill>
                          <a:schemeClr val="tx2"/>
                        </a:solidFill>
                        <a:latin typeface="+mn-lt"/>
                        <a:ea typeface="+mn-ea"/>
                        <a:cs typeface="+mn-cs"/>
                      </a:endParaRPr>
                    </a:p>
                  </a:txBody>
                  <a:tcPr marL="37168" marR="37168" marT="10276" marB="10276" anchor="ct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050" kern="1200" dirty="0" err="1"/>
                        <a:t>청구항</a:t>
                      </a:r>
                      <a:r>
                        <a:rPr lang="ko-KR" altLang="en-US" sz="1050" kern="1200" dirty="0"/>
                        <a:t> </a:t>
                      </a:r>
                      <a:r>
                        <a:rPr lang="en-US" altLang="ko-KR" sz="1050" kern="1200" dirty="0"/>
                        <a:t>1. A</a:t>
                      </a:r>
                      <a:r>
                        <a:rPr lang="ko-KR" altLang="en-US" sz="1050" kern="1200" dirty="0"/>
                        <a:t>와 </a:t>
                      </a:r>
                      <a:r>
                        <a:rPr lang="en-US" altLang="ko-KR" sz="1050" kern="1200" dirty="0"/>
                        <a:t>B</a:t>
                      </a:r>
                      <a:r>
                        <a:rPr lang="ko-KR" altLang="en-US" sz="1050" kern="1200" dirty="0"/>
                        <a:t>를 포함하는 장치</a:t>
                      </a:r>
                    </a:p>
                    <a:p>
                      <a:pPr marL="17780" marR="17780" indent="0" algn="just" fontAlgn="base" latinLnBrk="1">
                        <a:lnSpc>
                          <a:spcPct val="100000"/>
                        </a:lnSpc>
                        <a:spcBef>
                          <a:spcPts val="0"/>
                        </a:spcBef>
                        <a:spcAft>
                          <a:spcPts val="0"/>
                        </a:spcAft>
                      </a:pPr>
                      <a:r>
                        <a:rPr lang="ko-KR" altLang="en-US" sz="1050" kern="1200" dirty="0" err="1"/>
                        <a:t>청구항</a:t>
                      </a:r>
                      <a:r>
                        <a:rPr lang="ko-KR" altLang="en-US" sz="1050" kern="1200" dirty="0"/>
                        <a:t> </a:t>
                      </a:r>
                      <a:r>
                        <a:rPr lang="en-US" altLang="ko-KR" sz="1050" kern="1200" dirty="0"/>
                        <a:t>2. A</a:t>
                      </a:r>
                      <a:r>
                        <a:rPr lang="ko-KR" altLang="en-US" sz="1050" kern="1200" dirty="0"/>
                        <a:t>와 </a:t>
                      </a:r>
                      <a:r>
                        <a:rPr lang="en-US" altLang="ko-KR" sz="1050" kern="1200" dirty="0"/>
                        <a:t>B</a:t>
                      </a:r>
                      <a:r>
                        <a:rPr lang="ko-KR" altLang="en-US" sz="1050" kern="1200" dirty="0"/>
                        <a:t>를 포함하는 장치 → 삭제</a:t>
                      </a:r>
                      <a:endParaRPr lang="ko-KR" altLang="en-US" sz="1050" kern="1200" dirty="0">
                        <a:solidFill>
                          <a:schemeClr val="tx2"/>
                        </a:solidFill>
                        <a:latin typeface="+mn-lt"/>
                        <a:ea typeface="+mn-ea"/>
                        <a:cs typeface="+mn-cs"/>
                      </a:endParaRPr>
                    </a:p>
                  </a:txBody>
                  <a:tcPr marL="37168" marR="37168" marT="10276" marB="10276" anchor="ctr"/>
                </a:tc>
                <a:extLst>
                  <a:ext uri="{0D108BD9-81ED-4DB2-BD59-A6C34878D82A}">
                    <a16:rowId xmlns:a16="http://schemas.microsoft.com/office/drawing/2014/main" val="10007"/>
                  </a:ext>
                </a:extLst>
              </a:tr>
              <a:tr h="293412">
                <a:tc gridSpan="2">
                  <a:txBody>
                    <a:bodyPr/>
                    <a:lstStyle/>
                    <a:p>
                      <a:pPr marL="17780" marR="17780" indent="0" algn="ctr" fontAlgn="base" latinLnBrk="0">
                        <a:lnSpc>
                          <a:spcPct val="100000"/>
                        </a:lnSpc>
                        <a:spcBef>
                          <a:spcPts val="0"/>
                        </a:spcBef>
                        <a:spcAft>
                          <a:spcPts val="0"/>
                        </a:spcAft>
                      </a:pPr>
                      <a:r>
                        <a:rPr lang="ko-KR" altLang="en-US" sz="1050" kern="1200" dirty="0"/>
                        <a:t>인용되는 항의 번호를 </a:t>
                      </a:r>
                      <a:r>
                        <a:rPr lang="ko-KR" altLang="en-US" sz="1050" kern="1200" dirty="0" err="1"/>
                        <a:t>택일적으로</a:t>
                      </a:r>
                      <a:r>
                        <a:rPr lang="ko-KR" altLang="en-US" sz="1050" kern="1200" dirty="0"/>
                        <a:t> 기재하지 않은 경우</a:t>
                      </a:r>
                      <a:endParaRPr lang="ko-KR" altLang="en-US" sz="1050" kern="1200" dirty="0">
                        <a:solidFill>
                          <a:schemeClr val="tx2"/>
                        </a:solidFill>
                        <a:latin typeface="+mn-lt"/>
                        <a:ea typeface="+mn-ea"/>
                        <a:cs typeface="+mn-cs"/>
                      </a:endParaRPr>
                    </a:p>
                  </a:txBody>
                  <a:tcPr marL="37168" marR="37168" marT="10276" marB="10276" anchor="ct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en-US" altLang="ko-KR" sz="1050" kern="1200" dirty="0"/>
                        <a:t>(a) </a:t>
                      </a:r>
                      <a:r>
                        <a:rPr lang="ko-KR" altLang="en-US" sz="1050" kern="1200" dirty="0" err="1"/>
                        <a:t>청구항</a:t>
                      </a:r>
                      <a:r>
                        <a:rPr lang="ko-KR" altLang="en-US" sz="1050" kern="1200" dirty="0"/>
                        <a:t> </a:t>
                      </a:r>
                      <a:r>
                        <a:rPr lang="en-US" altLang="ko-KR" sz="1050" kern="1200" dirty="0"/>
                        <a:t>1 </a:t>
                      </a:r>
                      <a:r>
                        <a:rPr lang="ko-KR" altLang="en-US" sz="1050" kern="1200" dirty="0"/>
                        <a:t>및 </a:t>
                      </a:r>
                      <a:r>
                        <a:rPr lang="en-US" altLang="ko-KR" sz="1050" kern="1200" dirty="0"/>
                        <a:t>2</a:t>
                      </a:r>
                      <a:r>
                        <a:rPr lang="ko-KR" altLang="en-US" sz="1050" kern="1200" dirty="0"/>
                        <a:t>에 있어서</a:t>
                      </a:r>
                      <a:r>
                        <a:rPr lang="en-US" altLang="ko-KR" sz="1050" kern="1200" dirty="0"/>
                        <a:t>, </a:t>
                      </a:r>
                      <a:r>
                        <a:rPr lang="ko-KR" altLang="en-US" sz="1050" kern="1200" dirty="0"/>
                        <a:t>→ </a:t>
                      </a:r>
                      <a:r>
                        <a:rPr lang="ko-KR" altLang="en-US" sz="1050" kern="1200" dirty="0" err="1"/>
                        <a:t>청구항</a:t>
                      </a:r>
                      <a:r>
                        <a:rPr lang="ko-KR" altLang="en-US" sz="1050" kern="1200" dirty="0"/>
                        <a:t> </a:t>
                      </a:r>
                      <a:r>
                        <a:rPr lang="en-US" altLang="ko-KR" sz="1050" kern="1200" dirty="0"/>
                        <a:t>1 </a:t>
                      </a:r>
                      <a:r>
                        <a:rPr lang="ko-KR" altLang="en-US" sz="1050" kern="1200" dirty="0"/>
                        <a:t>또는 </a:t>
                      </a:r>
                      <a:r>
                        <a:rPr lang="en-US" altLang="ko-KR" sz="1050" kern="1200" dirty="0"/>
                        <a:t>2</a:t>
                      </a:r>
                      <a:r>
                        <a:rPr lang="ko-KR" altLang="en-US" sz="1050" kern="1200" dirty="0"/>
                        <a:t>에 있어서</a:t>
                      </a:r>
                      <a:r>
                        <a:rPr lang="en-US" altLang="ko-KR" sz="1050" kern="1200" dirty="0"/>
                        <a:t>,</a:t>
                      </a:r>
                      <a:endParaRPr lang="ko-KR" altLang="en-US" sz="1050" kern="1200" dirty="0"/>
                    </a:p>
                    <a:p>
                      <a:pPr marL="17780" marR="17780" indent="0" algn="just" fontAlgn="base" latinLnBrk="1">
                        <a:lnSpc>
                          <a:spcPct val="100000"/>
                        </a:lnSpc>
                        <a:spcBef>
                          <a:spcPts val="0"/>
                        </a:spcBef>
                        <a:spcAft>
                          <a:spcPts val="0"/>
                        </a:spcAft>
                      </a:pPr>
                      <a:r>
                        <a:rPr lang="en-US" altLang="ko-KR" sz="1050" kern="1200" dirty="0"/>
                        <a:t>(b) </a:t>
                      </a:r>
                      <a:r>
                        <a:rPr lang="ko-KR" altLang="en-US" sz="1050" kern="1200" dirty="0" err="1"/>
                        <a:t>청구항</a:t>
                      </a:r>
                      <a:r>
                        <a:rPr lang="ko-KR" altLang="en-US" sz="1050" kern="1200" dirty="0"/>
                        <a:t> </a:t>
                      </a:r>
                      <a:r>
                        <a:rPr lang="en-US" altLang="ko-KR" sz="1050" kern="1200" dirty="0"/>
                        <a:t>1 </a:t>
                      </a:r>
                      <a:r>
                        <a:rPr lang="ko-KR" altLang="en-US" sz="1050" kern="1200" dirty="0"/>
                        <a:t>및 </a:t>
                      </a:r>
                      <a:r>
                        <a:rPr lang="ko-KR" altLang="en-US" sz="1050" kern="1200" dirty="0" err="1"/>
                        <a:t>청구항</a:t>
                      </a:r>
                      <a:r>
                        <a:rPr lang="ko-KR" altLang="en-US" sz="1050" kern="1200" dirty="0"/>
                        <a:t> </a:t>
                      </a:r>
                      <a:r>
                        <a:rPr lang="en-US" altLang="ko-KR" sz="1050" kern="1200" dirty="0"/>
                        <a:t>2 </a:t>
                      </a:r>
                      <a:r>
                        <a:rPr lang="ko-KR" altLang="en-US" sz="1050" kern="1200" dirty="0"/>
                        <a:t>또는 </a:t>
                      </a:r>
                      <a:r>
                        <a:rPr lang="ko-KR" altLang="en-US" sz="1050" kern="1200" dirty="0" err="1"/>
                        <a:t>청구항</a:t>
                      </a:r>
                      <a:r>
                        <a:rPr lang="ko-KR" altLang="en-US" sz="1050" kern="1200" dirty="0"/>
                        <a:t> </a:t>
                      </a:r>
                      <a:r>
                        <a:rPr lang="en-US" altLang="ko-KR" sz="1050" kern="1200" dirty="0"/>
                        <a:t>3 </a:t>
                      </a:r>
                      <a:r>
                        <a:rPr lang="ko-KR" altLang="en-US" sz="1050" kern="1200" dirty="0"/>
                        <a:t>중 적어도 어느 한 항에 있어서</a:t>
                      </a:r>
                      <a:r>
                        <a:rPr lang="en-US" altLang="ko-KR" sz="1050" kern="1200" dirty="0"/>
                        <a:t>, </a:t>
                      </a:r>
                      <a:r>
                        <a:rPr lang="ko-KR" altLang="en-US" sz="1050" kern="1200" dirty="0"/>
                        <a:t>→ </a:t>
                      </a:r>
                      <a:r>
                        <a:rPr lang="ko-KR" altLang="en-US" sz="1050" kern="1200" dirty="0" err="1"/>
                        <a:t>청구항</a:t>
                      </a:r>
                      <a:r>
                        <a:rPr lang="ko-KR" altLang="en-US" sz="1050" kern="1200" dirty="0"/>
                        <a:t> </a:t>
                      </a:r>
                      <a:r>
                        <a:rPr lang="en-US" altLang="ko-KR" sz="1050" kern="1200" dirty="0"/>
                        <a:t>1 </a:t>
                      </a:r>
                      <a:r>
                        <a:rPr lang="ko-KR" altLang="en-US" sz="1050" kern="1200" dirty="0"/>
                        <a:t>내지 </a:t>
                      </a:r>
                      <a:r>
                        <a:rPr lang="en-US" altLang="ko-KR" sz="1050" kern="1200" dirty="0"/>
                        <a:t>3 </a:t>
                      </a:r>
                      <a:r>
                        <a:rPr lang="ko-KR" altLang="en-US" sz="1050" kern="1200" dirty="0"/>
                        <a:t>중 어느 한 항에 있어서</a:t>
                      </a:r>
                      <a:r>
                        <a:rPr lang="en-US" altLang="ko-KR" sz="1050" kern="1200" dirty="0"/>
                        <a:t>,</a:t>
                      </a:r>
                      <a:endParaRPr lang="ko-KR" altLang="en-US" sz="1050" kern="1200" dirty="0">
                        <a:solidFill>
                          <a:schemeClr val="tx2"/>
                        </a:solidFill>
                        <a:latin typeface="+mn-lt"/>
                        <a:ea typeface="+mn-ea"/>
                        <a:cs typeface="+mn-cs"/>
                      </a:endParaRPr>
                    </a:p>
                  </a:txBody>
                  <a:tcPr marL="37168" marR="37168" marT="10276" marB="10276" anchor="ctr"/>
                </a:tc>
                <a:extLst>
                  <a:ext uri="{0D108BD9-81ED-4DB2-BD59-A6C34878D82A}">
                    <a16:rowId xmlns:a16="http://schemas.microsoft.com/office/drawing/2014/main" val="10008"/>
                  </a:ext>
                </a:extLst>
              </a:tr>
            </a:tbl>
          </a:graphicData>
        </a:graphic>
      </p:graphicFrame>
      <p:graphicFrame>
        <p:nvGraphicFramePr>
          <p:cNvPr id="35" name="표 34"/>
          <p:cNvGraphicFramePr>
            <a:graphicFrameLocks noGrp="1"/>
          </p:cNvGraphicFramePr>
          <p:nvPr/>
        </p:nvGraphicFramePr>
        <p:xfrm>
          <a:off x="347688" y="1647280"/>
          <a:ext cx="5595911" cy="3353346"/>
        </p:xfrm>
        <a:graphic>
          <a:graphicData uri="http://schemas.openxmlformats.org/drawingml/2006/table">
            <a:tbl>
              <a:tblPr/>
              <a:tblGrid>
                <a:gridCol w="709809">
                  <a:extLst>
                    <a:ext uri="{9D8B030D-6E8A-4147-A177-3AD203B41FA5}">
                      <a16:colId xmlns:a16="http://schemas.microsoft.com/office/drawing/2014/main" val="20000"/>
                    </a:ext>
                  </a:extLst>
                </a:gridCol>
                <a:gridCol w="1133253">
                  <a:extLst>
                    <a:ext uri="{9D8B030D-6E8A-4147-A177-3AD203B41FA5}">
                      <a16:colId xmlns:a16="http://schemas.microsoft.com/office/drawing/2014/main" val="20001"/>
                    </a:ext>
                  </a:extLst>
                </a:gridCol>
                <a:gridCol w="3752849">
                  <a:extLst>
                    <a:ext uri="{9D8B030D-6E8A-4147-A177-3AD203B41FA5}">
                      <a16:colId xmlns:a16="http://schemas.microsoft.com/office/drawing/2014/main" val="20002"/>
                    </a:ext>
                  </a:extLst>
                </a:gridCol>
              </a:tblGrid>
              <a:tr h="207102">
                <a:tc gridSpan="2">
                  <a:txBody>
                    <a:bodyPr/>
                    <a:lstStyle/>
                    <a:p>
                      <a:pPr marL="0" marR="0" indent="0" algn="ctr" fontAlgn="base" latinLnBrk="0">
                        <a:lnSpc>
                          <a:spcPct val="100000"/>
                        </a:lnSpc>
                        <a:spcBef>
                          <a:spcPts val="0"/>
                        </a:spcBef>
                        <a:spcAft>
                          <a:spcPts val="0"/>
                        </a:spcAft>
                      </a:pPr>
                      <a:r>
                        <a:rPr lang="ko-KR" altLang="en-US" sz="1050" kern="1200" dirty="0">
                          <a:solidFill>
                            <a:schemeClr val="tx2"/>
                          </a:solidFill>
                          <a:latin typeface="+mn-lt"/>
                          <a:ea typeface="+mn-ea"/>
                          <a:cs typeface="+mn-cs"/>
                        </a:rPr>
                        <a:t>구 분</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50" kern="1200" dirty="0">
                          <a:solidFill>
                            <a:schemeClr val="tx2"/>
                          </a:solidFill>
                          <a:latin typeface="+mn-lt"/>
                          <a:ea typeface="+mn-ea"/>
                          <a:cs typeface="+mn-cs"/>
                        </a:rPr>
                        <a:t>예시 및 설명</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393280">
                <a:tc gridSpan="2">
                  <a:txBody>
                    <a:bodyPr/>
                    <a:lstStyle/>
                    <a:p>
                      <a:pPr marL="17780" marR="17780" indent="0" algn="ctr" fontAlgn="base" latinLnBrk="0">
                        <a:lnSpc>
                          <a:spcPct val="100000"/>
                        </a:lnSpc>
                        <a:spcBef>
                          <a:spcPts val="0"/>
                        </a:spcBef>
                        <a:spcAft>
                          <a:spcPts val="0"/>
                        </a:spcAft>
                      </a:pPr>
                      <a:r>
                        <a:rPr lang="ko-KR" altLang="en-US" sz="1050" kern="1200" dirty="0">
                          <a:solidFill>
                            <a:schemeClr val="tx2"/>
                          </a:solidFill>
                          <a:latin typeface="+mn-lt"/>
                          <a:ea typeface="+mn-ea"/>
                          <a:cs typeface="+mn-cs"/>
                        </a:rPr>
                        <a:t>국문법에 어긋난 오자</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en-US" altLang="ko-KR" sz="1050" kern="1200" dirty="0">
                          <a:solidFill>
                            <a:schemeClr val="tx2"/>
                          </a:solidFill>
                          <a:latin typeface="+mn-lt"/>
                          <a:ea typeface="+mn-ea"/>
                          <a:cs typeface="+mn-cs"/>
                        </a:rPr>
                        <a:t>(a) </a:t>
                      </a:r>
                      <a:r>
                        <a:rPr lang="ko-KR" altLang="en-US" sz="1050" kern="1200" dirty="0" err="1">
                          <a:solidFill>
                            <a:schemeClr val="tx2"/>
                          </a:solidFill>
                          <a:latin typeface="+mn-lt"/>
                          <a:ea typeface="+mn-ea"/>
                          <a:cs typeface="+mn-cs"/>
                        </a:rPr>
                        <a:t>반도테</a:t>
                      </a:r>
                      <a:r>
                        <a:rPr lang="ko-KR" altLang="en-US" sz="1050" kern="1200" dirty="0">
                          <a:solidFill>
                            <a:schemeClr val="tx2"/>
                          </a:solidFill>
                          <a:latin typeface="+mn-lt"/>
                          <a:ea typeface="+mn-ea"/>
                          <a:cs typeface="+mn-cs"/>
                        </a:rPr>
                        <a:t> → 반도체</a:t>
                      </a:r>
                    </a:p>
                    <a:p>
                      <a:pPr marL="17780" marR="17780" indent="0" algn="just" fontAlgn="base" latinLnBrk="1">
                        <a:lnSpc>
                          <a:spcPct val="100000"/>
                        </a:lnSpc>
                        <a:spcBef>
                          <a:spcPts val="0"/>
                        </a:spcBef>
                        <a:spcAft>
                          <a:spcPts val="0"/>
                        </a:spcAft>
                      </a:pPr>
                      <a:r>
                        <a:rPr lang="en-US" altLang="ko-KR" sz="1050" kern="1200" dirty="0">
                          <a:solidFill>
                            <a:schemeClr val="tx2"/>
                          </a:solidFill>
                          <a:latin typeface="+mn-lt"/>
                          <a:ea typeface="+mn-ea"/>
                          <a:cs typeface="+mn-cs"/>
                        </a:rPr>
                        <a:t>(b) </a:t>
                      </a:r>
                      <a:r>
                        <a:rPr lang="ko-KR" altLang="en-US" sz="1050" kern="1200" dirty="0" err="1">
                          <a:solidFill>
                            <a:schemeClr val="tx2"/>
                          </a:solidFill>
                          <a:latin typeface="+mn-lt"/>
                          <a:ea typeface="+mn-ea"/>
                          <a:cs typeface="+mn-cs"/>
                        </a:rPr>
                        <a:t>기판는</a:t>
                      </a:r>
                      <a:r>
                        <a:rPr lang="ko-KR" altLang="en-US" sz="1050" kern="1200" dirty="0">
                          <a:solidFill>
                            <a:schemeClr val="tx2"/>
                          </a:solidFill>
                          <a:latin typeface="+mn-lt"/>
                          <a:ea typeface="+mn-ea"/>
                          <a:cs typeface="+mn-cs"/>
                        </a:rPr>
                        <a:t> → 기판은</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393280">
                <a:tc gridSpan="2">
                  <a:txBody>
                    <a:bodyPr/>
                    <a:lstStyle/>
                    <a:p>
                      <a:pPr marL="17780" marR="17780" indent="0" algn="ctr" fontAlgn="base" latinLnBrk="0">
                        <a:lnSpc>
                          <a:spcPct val="100000"/>
                        </a:lnSpc>
                        <a:spcBef>
                          <a:spcPts val="0"/>
                        </a:spcBef>
                        <a:spcAft>
                          <a:spcPts val="0"/>
                        </a:spcAft>
                      </a:pPr>
                      <a:r>
                        <a:rPr lang="ko-KR" altLang="en-US" sz="1050" kern="1200" dirty="0">
                          <a:solidFill>
                            <a:schemeClr val="tx2"/>
                          </a:solidFill>
                          <a:latin typeface="+mn-lt"/>
                          <a:ea typeface="+mn-ea"/>
                          <a:cs typeface="+mn-cs"/>
                        </a:rPr>
                        <a:t>국문법상 해석이 분명한 </a:t>
                      </a:r>
                      <a:r>
                        <a:rPr lang="ko-KR" altLang="en-US" sz="1050" kern="1200" dirty="0" err="1">
                          <a:solidFill>
                            <a:schemeClr val="tx2"/>
                          </a:solidFill>
                          <a:latin typeface="+mn-lt"/>
                          <a:ea typeface="+mn-ea"/>
                          <a:cs typeface="+mn-cs"/>
                        </a:rPr>
                        <a:t>탈자</a:t>
                      </a:r>
                      <a:endParaRPr lang="ko-KR" altLang="en-US" sz="1050" kern="1200" dirty="0">
                        <a:solidFill>
                          <a:schemeClr val="tx2"/>
                        </a:solidFill>
                        <a:latin typeface="+mn-lt"/>
                        <a:ea typeface="+mn-ea"/>
                        <a:cs typeface="+mn-cs"/>
                      </a:endParaRP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en-US" altLang="ko-KR" sz="1050" kern="1200" dirty="0">
                          <a:solidFill>
                            <a:schemeClr val="tx2"/>
                          </a:solidFill>
                          <a:latin typeface="+mn-lt"/>
                          <a:ea typeface="+mn-ea"/>
                          <a:cs typeface="+mn-cs"/>
                        </a:rPr>
                        <a:t>(a) </a:t>
                      </a:r>
                      <a:r>
                        <a:rPr lang="ko-KR" altLang="en-US" sz="1050" kern="1200" dirty="0">
                          <a:solidFill>
                            <a:schemeClr val="tx2"/>
                          </a:solidFill>
                          <a:latin typeface="+mn-lt"/>
                          <a:ea typeface="+mn-ea"/>
                          <a:cs typeface="+mn-cs"/>
                        </a:rPr>
                        <a:t>라인에 </a:t>
                      </a:r>
                      <a:r>
                        <a:rPr lang="ko-KR" altLang="en-US" sz="1050" kern="1200" dirty="0" err="1">
                          <a:solidFill>
                            <a:schemeClr val="tx2"/>
                          </a:solidFill>
                          <a:latin typeface="+mn-lt"/>
                          <a:ea typeface="+mn-ea"/>
                          <a:cs typeface="+mn-cs"/>
                        </a:rPr>
                        <a:t>전달하</a:t>
                      </a:r>
                      <a:r>
                        <a:rPr lang="ko-KR" altLang="en-US" sz="1050" kern="1200" dirty="0">
                          <a:solidFill>
                            <a:schemeClr val="tx2"/>
                          </a:solidFill>
                          <a:latin typeface="+mn-lt"/>
                          <a:ea typeface="+mn-ea"/>
                          <a:cs typeface="+mn-cs"/>
                        </a:rPr>
                        <a:t>○신호 → 라인에 전달하는 신호</a:t>
                      </a:r>
                    </a:p>
                    <a:p>
                      <a:pPr marL="17780" marR="17780" indent="0" algn="just" fontAlgn="base" latinLnBrk="1">
                        <a:lnSpc>
                          <a:spcPct val="100000"/>
                        </a:lnSpc>
                        <a:spcBef>
                          <a:spcPts val="0"/>
                        </a:spcBef>
                        <a:spcAft>
                          <a:spcPts val="0"/>
                        </a:spcAft>
                      </a:pPr>
                      <a:r>
                        <a:rPr lang="en-US" altLang="ko-KR" sz="1050" kern="1200" dirty="0">
                          <a:solidFill>
                            <a:schemeClr val="tx2"/>
                          </a:solidFill>
                          <a:latin typeface="+mn-lt"/>
                          <a:ea typeface="+mn-ea"/>
                          <a:cs typeface="+mn-cs"/>
                        </a:rPr>
                        <a:t>(b) </a:t>
                      </a:r>
                      <a:r>
                        <a:rPr lang="ko-KR" altLang="en-US" sz="1050" kern="1200" dirty="0" err="1">
                          <a:solidFill>
                            <a:schemeClr val="tx2"/>
                          </a:solidFill>
                          <a:latin typeface="+mn-lt"/>
                          <a:ea typeface="+mn-ea"/>
                          <a:cs typeface="+mn-cs"/>
                        </a:rPr>
                        <a:t>리니어</a:t>
                      </a:r>
                      <a:r>
                        <a:rPr lang="ko-KR" altLang="en-US" sz="1050" kern="1200" dirty="0">
                          <a:solidFill>
                            <a:schemeClr val="tx2"/>
                          </a:solidFill>
                          <a:latin typeface="+mn-lt"/>
                          <a:ea typeface="+mn-ea"/>
                          <a:cs typeface="+mn-cs"/>
                        </a:rPr>
                        <a:t> 터 → </a:t>
                      </a:r>
                      <a:r>
                        <a:rPr lang="ko-KR" altLang="en-US" sz="1050" kern="1200" dirty="0" err="1">
                          <a:solidFill>
                            <a:schemeClr val="tx2"/>
                          </a:solidFill>
                          <a:latin typeface="+mn-lt"/>
                          <a:ea typeface="+mn-ea"/>
                          <a:cs typeface="+mn-cs"/>
                        </a:rPr>
                        <a:t>리니어</a:t>
                      </a:r>
                      <a:r>
                        <a:rPr lang="ko-KR" altLang="en-US" sz="1050" kern="1200" dirty="0">
                          <a:solidFill>
                            <a:schemeClr val="tx2"/>
                          </a:solidFill>
                          <a:latin typeface="+mn-lt"/>
                          <a:ea typeface="+mn-ea"/>
                          <a:cs typeface="+mn-cs"/>
                        </a:rPr>
                        <a:t> 모터</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r h="207102">
                <a:tc gridSpan="2">
                  <a:txBody>
                    <a:bodyPr/>
                    <a:lstStyle/>
                    <a:p>
                      <a:pPr marL="17780" marR="17780" indent="0" algn="ctr" fontAlgn="base" latinLnBrk="0">
                        <a:lnSpc>
                          <a:spcPct val="100000"/>
                        </a:lnSpc>
                        <a:spcBef>
                          <a:spcPts val="0"/>
                        </a:spcBef>
                        <a:spcAft>
                          <a:spcPts val="0"/>
                        </a:spcAft>
                      </a:pPr>
                      <a:r>
                        <a:rPr lang="ko-KR" altLang="en-US" sz="1050" kern="1200">
                          <a:solidFill>
                            <a:schemeClr val="tx2"/>
                          </a:solidFill>
                          <a:latin typeface="+mn-lt"/>
                          <a:ea typeface="+mn-ea"/>
                          <a:cs typeface="+mn-cs"/>
                        </a:rPr>
                        <a:t>참조부호의 불일치</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050" kern="1200" dirty="0">
                          <a:solidFill>
                            <a:schemeClr val="tx2"/>
                          </a:solidFill>
                          <a:latin typeface="+mn-lt"/>
                          <a:ea typeface="+mn-ea"/>
                          <a:cs typeface="+mn-cs"/>
                        </a:rPr>
                        <a:t>명세서 중 </a:t>
                      </a:r>
                      <a:r>
                        <a:rPr lang="en-US" altLang="ko-KR" sz="1050" kern="1200" dirty="0">
                          <a:solidFill>
                            <a:schemeClr val="tx2"/>
                          </a:solidFill>
                          <a:latin typeface="+mn-lt"/>
                          <a:ea typeface="+mn-ea"/>
                          <a:cs typeface="+mn-cs"/>
                        </a:rPr>
                        <a:t>[</a:t>
                      </a:r>
                      <a:r>
                        <a:rPr lang="ko-KR" altLang="en-US" sz="1050" kern="1200" dirty="0">
                          <a:solidFill>
                            <a:schemeClr val="tx2"/>
                          </a:solidFill>
                          <a:latin typeface="+mn-lt"/>
                          <a:ea typeface="+mn-ea"/>
                          <a:cs typeface="+mn-cs"/>
                        </a:rPr>
                        <a:t>도</a:t>
                      </a:r>
                      <a:r>
                        <a:rPr lang="en-US" altLang="ko-KR" sz="1050" kern="1200" dirty="0">
                          <a:solidFill>
                            <a:schemeClr val="tx2"/>
                          </a:solidFill>
                          <a:latin typeface="+mn-lt"/>
                          <a:ea typeface="+mn-ea"/>
                          <a:cs typeface="+mn-cs"/>
                        </a:rPr>
                        <a:t>2] </a:t>
                      </a:r>
                      <a:r>
                        <a:rPr lang="ko-KR" altLang="en-US" sz="1050" kern="1200" dirty="0" err="1">
                          <a:solidFill>
                            <a:schemeClr val="tx2"/>
                          </a:solidFill>
                          <a:latin typeface="+mn-lt"/>
                          <a:ea typeface="+mn-ea"/>
                          <a:cs typeface="+mn-cs"/>
                        </a:rPr>
                        <a:t>버퍼부</a:t>
                      </a:r>
                      <a:r>
                        <a:rPr lang="en-US" altLang="ko-KR" sz="1050" kern="1200" dirty="0">
                          <a:solidFill>
                            <a:schemeClr val="tx2"/>
                          </a:solidFill>
                          <a:latin typeface="+mn-lt"/>
                          <a:ea typeface="+mn-ea"/>
                          <a:cs typeface="+mn-cs"/>
                        </a:rPr>
                        <a:t>(115) vs </a:t>
                      </a:r>
                      <a:r>
                        <a:rPr lang="ko-KR" altLang="en-US" sz="1050" kern="1200" dirty="0">
                          <a:solidFill>
                            <a:schemeClr val="tx2"/>
                          </a:solidFill>
                          <a:latin typeface="+mn-lt"/>
                          <a:ea typeface="+mn-ea"/>
                          <a:cs typeface="+mn-cs"/>
                        </a:rPr>
                        <a:t>도면 </a:t>
                      </a:r>
                      <a:r>
                        <a:rPr lang="en-US" altLang="ko-KR" sz="1050" kern="1200" dirty="0">
                          <a:solidFill>
                            <a:schemeClr val="tx2"/>
                          </a:solidFill>
                          <a:latin typeface="+mn-lt"/>
                          <a:ea typeface="+mn-ea"/>
                          <a:cs typeface="+mn-cs"/>
                        </a:rPr>
                        <a:t>[</a:t>
                      </a:r>
                      <a:r>
                        <a:rPr lang="ko-KR" altLang="en-US" sz="1050" kern="1200" dirty="0">
                          <a:solidFill>
                            <a:schemeClr val="tx2"/>
                          </a:solidFill>
                          <a:latin typeface="+mn-lt"/>
                          <a:ea typeface="+mn-ea"/>
                          <a:cs typeface="+mn-cs"/>
                        </a:rPr>
                        <a:t>도</a:t>
                      </a:r>
                      <a:r>
                        <a:rPr lang="en-US" altLang="ko-KR" sz="1050" kern="1200" dirty="0">
                          <a:solidFill>
                            <a:schemeClr val="tx2"/>
                          </a:solidFill>
                          <a:latin typeface="+mn-lt"/>
                          <a:ea typeface="+mn-ea"/>
                          <a:cs typeface="+mn-cs"/>
                        </a:rPr>
                        <a:t>2] </a:t>
                      </a:r>
                      <a:r>
                        <a:rPr lang="ko-KR" altLang="en-US" sz="1050" kern="1200" dirty="0" err="1">
                          <a:solidFill>
                            <a:schemeClr val="tx2"/>
                          </a:solidFill>
                          <a:latin typeface="+mn-lt"/>
                          <a:ea typeface="+mn-ea"/>
                          <a:cs typeface="+mn-cs"/>
                        </a:rPr>
                        <a:t>버퍼부</a:t>
                      </a:r>
                      <a:r>
                        <a:rPr lang="en-US" altLang="ko-KR" sz="1050" kern="1200" dirty="0">
                          <a:solidFill>
                            <a:schemeClr val="tx2"/>
                          </a:solidFill>
                          <a:latin typeface="+mn-lt"/>
                          <a:ea typeface="+mn-ea"/>
                          <a:cs typeface="+mn-cs"/>
                        </a:rPr>
                        <a:t>(15)</a:t>
                      </a:r>
                      <a:endParaRPr lang="ko-KR" altLang="en-US" sz="1050" kern="1200" dirty="0">
                        <a:solidFill>
                          <a:schemeClr val="tx2"/>
                        </a:solidFill>
                        <a:latin typeface="+mn-lt"/>
                        <a:ea typeface="+mn-ea"/>
                        <a:cs typeface="+mn-cs"/>
                      </a:endParaRP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3"/>
                  </a:ext>
                </a:extLst>
              </a:tr>
              <a:tr h="207102">
                <a:tc gridSpan="2">
                  <a:txBody>
                    <a:bodyPr/>
                    <a:lstStyle/>
                    <a:p>
                      <a:pPr marL="17780" marR="17780" indent="0" algn="ctr" fontAlgn="base" latinLnBrk="0">
                        <a:lnSpc>
                          <a:spcPct val="100000"/>
                        </a:lnSpc>
                        <a:spcBef>
                          <a:spcPts val="0"/>
                        </a:spcBef>
                        <a:spcAft>
                          <a:spcPts val="0"/>
                        </a:spcAft>
                      </a:pPr>
                      <a:r>
                        <a:rPr lang="ko-KR" altLang="en-US" sz="1050" kern="1200">
                          <a:solidFill>
                            <a:schemeClr val="tx2"/>
                          </a:solidFill>
                          <a:latin typeface="+mn-lt"/>
                          <a:ea typeface="+mn-ea"/>
                          <a:cs typeface="+mn-cs"/>
                        </a:rPr>
                        <a:t>반복된 기재</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050" kern="1200" dirty="0">
                          <a:solidFill>
                            <a:schemeClr val="tx2"/>
                          </a:solidFill>
                          <a:latin typeface="+mn-lt"/>
                          <a:ea typeface="+mn-ea"/>
                          <a:cs typeface="+mn-cs"/>
                        </a:rPr>
                        <a:t>지식재산처 지식재산처는 → 지식재산처는</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4"/>
                  </a:ext>
                </a:extLst>
              </a:tr>
              <a:tr h="579459">
                <a:tc rowSpan="2">
                  <a:txBody>
                    <a:bodyPr/>
                    <a:lstStyle/>
                    <a:p>
                      <a:pPr marL="17780" marR="17780" indent="0" algn="ctr" fontAlgn="base" latinLnBrk="0">
                        <a:lnSpc>
                          <a:spcPct val="100000"/>
                        </a:lnSpc>
                        <a:spcBef>
                          <a:spcPts val="0"/>
                        </a:spcBef>
                        <a:spcAft>
                          <a:spcPts val="0"/>
                        </a:spcAft>
                      </a:pPr>
                      <a:r>
                        <a:rPr lang="ko-KR" altLang="en-US" sz="1050" kern="1200">
                          <a:solidFill>
                            <a:schemeClr val="tx2"/>
                          </a:solidFill>
                          <a:latin typeface="+mn-lt"/>
                          <a:ea typeface="+mn-ea"/>
                          <a:cs typeface="+mn-cs"/>
                        </a:rPr>
                        <a:t>도면의 </a:t>
                      </a:r>
                    </a:p>
                    <a:p>
                      <a:pPr marL="17780" marR="17780" indent="0" algn="ctr" fontAlgn="base" latinLnBrk="0">
                        <a:lnSpc>
                          <a:spcPct val="100000"/>
                        </a:lnSpc>
                        <a:spcBef>
                          <a:spcPts val="0"/>
                        </a:spcBef>
                        <a:spcAft>
                          <a:spcPts val="0"/>
                        </a:spcAft>
                      </a:pPr>
                      <a:r>
                        <a:rPr lang="ko-KR" altLang="en-US" sz="1050" kern="1200">
                          <a:solidFill>
                            <a:schemeClr val="tx2"/>
                          </a:solidFill>
                          <a:latin typeface="+mn-lt"/>
                          <a:ea typeface="+mn-ea"/>
                          <a:cs typeface="+mn-cs"/>
                        </a:rPr>
                        <a:t>간단한 </a:t>
                      </a:r>
                    </a:p>
                    <a:p>
                      <a:pPr marL="17780" marR="17780" indent="0" algn="ctr" fontAlgn="base" latinLnBrk="0">
                        <a:lnSpc>
                          <a:spcPct val="100000"/>
                        </a:lnSpc>
                        <a:spcBef>
                          <a:spcPts val="0"/>
                        </a:spcBef>
                        <a:spcAft>
                          <a:spcPts val="0"/>
                        </a:spcAft>
                      </a:pPr>
                      <a:r>
                        <a:rPr lang="ko-KR" altLang="en-US" sz="1050" kern="1200">
                          <a:solidFill>
                            <a:schemeClr val="tx2"/>
                          </a:solidFill>
                          <a:latin typeface="+mn-lt"/>
                          <a:ea typeface="+mn-ea"/>
                          <a:cs typeface="+mn-cs"/>
                        </a:rPr>
                        <a:t>설명의 오류</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050" kern="1200" dirty="0">
                          <a:solidFill>
                            <a:schemeClr val="tx2"/>
                          </a:solidFill>
                          <a:latin typeface="+mn-lt"/>
                          <a:ea typeface="+mn-ea"/>
                          <a:cs typeface="+mn-cs"/>
                        </a:rPr>
                        <a:t>도면번호오기</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00000"/>
                        </a:lnSpc>
                        <a:spcBef>
                          <a:spcPts val="0"/>
                        </a:spcBef>
                        <a:spcAft>
                          <a:spcPts val="0"/>
                        </a:spcAft>
                      </a:pPr>
                      <a:r>
                        <a:rPr lang="ko-KR" altLang="en-US" sz="1050" kern="1200" dirty="0">
                          <a:solidFill>
                            <a:schemeClr val="tx2"/>
                          </a:solidFill>
                          <a:latin typeface="+mn-lt"/>
                          <a:ea typeface="+mn-ea"/>
                          <a:cs typeface="+mn-cs"/>
                        </a:rPr>
                        <a:t>도 </a:t>
                      </a:r>
                      <a:r>
                        <a:rPr lang="en-US" altLang="ko-KR" sz="1050" kern="1200" dirty="0">
                          <a:solidFill>
                            <a:schemeClr val="tx2"/>
                          </a:solidFill>
                          <a:latin typeface="+mn-lt"/>
                          <a:ea typeface="+mn-ea"/>
                          <a:cs typeface="+mn-cs"/>
                        </a:rPr>
                        <a:t>1</a:t>
                      </a:r>
                      <a:r>
                        <a:rPr lang="ko-KR" altLang="en-US" sz="1050" kern="1200" dirty="0">
                          <a:solidFill>
                            <a:schemeClr val="tx2"/>
                          </a:solidFill>
                          <a:latin typeface="+mn-lt"/>
                          <a:ea typeface="+mn-ea"/>
                          <a:cs typeface="+mn-cs"/>
                        </a:rPr>
                        <a:t>은 재생기기의 단면도</a:t>
                      </a:r>
                    </a:p>
                    <a:p>
                      <a:pPr marL="17780" marR="17780" indent="0" algn="just" fontAlgn="base" latinLnBrk="1">
                        <a:lnSpc>
                          <a:spcPct val="100000"/>
                        </a:lnSpc>
                        <a:spcBef>
                          <a:spcPts val="0"/>
                        </a:spcBef>
                        <a:spcAft>
                          <a:spcPts val="0"/>
                        </a:spcAft>
                      </a:pPr>
                      <a:r>
                        <a:rPr lang="ko-KR" altLang="en-US" sz="1050" kern="1200" dirty="0">
                          <a:solidFill>
                            <a:schemeClr val="tx2"/>
                          </a:solidFill>
                          <a:latin typeface="+mn-lt"/>
                          <a:ea typeface="+mn-ea"/>
                          <a:cs typeface="+mn-cs"/>
                        </a:rPr>
                        <a:t>도 </a:t>
                      </a:r>
                      <a:r>
                        <a:rPr lang="en-US" altLang="ko-KR" sz="1050" kern="1200" dirty="0">
                          <a:solidFill>
                            <a:schemeClr val="tx2"/>
                          </a:solidFill>
                          <a:latin typeface="+mn-lt"/>
                          <a:ea typeface="+mn-ea"/>
                          <a:cs typeface="+mn-cs"/>
                        </a:rPr>
                        <a:t>1</a:t>
                      </a:r>
                      <a:r>
                        <a:rPr lang="ko-KR" altLang="en-US" sz="1050" kern="1200" dirty="0">
                          <a:solidFill>
                            <a:schemeClr val="tx2"/>
                          </a:solidFill>
                          <a:latin typeface="+mn-lt"/>
                          <a:ea typeface="+mn-ea"/>
                          <a:cs typeface="+mn-cs"/>
                        </a:rPr>
                        <a:t>은 재생기기의 측면도 → 도 </a:t>
                      </a:r>
                      <a:r>
                        <a:rPr lang="en-US" altLang="ko-KR" sz="1050" kern="1200" dirty="0">
                          <a:solidFill>
                            <a:schemeClr val="tx2"/>
                          </a:solidFill>
                          <a:latin typeface="+mn-lt"/>
                          <a:ea typeface="+mn-ea"/>
                          <a:cs typeface="+mn-cs"/>
                        </a:rPr>
                        <a:t>2</a:t>
                      </a:r>
                      <a:r>
                        <a:rPr lang="ko-KR" altLang="en-US" sz="1050" kern="1200" dirty="0">
                          <a:solidFill>
                            <a:schemeClr val="tx2"/>
                          </a:solidFill>
                          <a:latin typeface="+mn-lt"/>
                          <a:ea typeface="+mn-ea"/>
                          <a:cs typeface="+mn-cs"/>
                        </a:rPr>
                        <a:t>는 재생기기의 측면도</a:t>
                      </a:r>
                    </a:p>
                    <a:p>
                      <a:pPr marL="17780" marR="17780" indent="0" algn="just" fontAlgn="base" latinLnBrk="1">
                        <a:lnSpc>
                          <a:spcPct val="100000"/>
                        </a:lnSpc>
                        <a:spcBef>
                          <a:spcPts val="0"/>
                        </a:spcBef>
                        <a:spcAft>
                          <a:spcPts val="0"/>
                        </a:spcAft>
                      </a:pPr>
                      <a:r>
                        <a:rPr lang="ko-KR" altLang="en-US" sz="1050" kern="1200" dirty="0">
                          <a:solidFill>
                            <a:schemeClr val="tx2"/>
                          </a:solidFill>
                          <a:latin typeface="+mn-lt"/>
                          <a:ea typeface="+mn-ea"/>
                          <a:cs typeface="+mn-cs"/>
                        </a:rPr>
                        <a:t>도 </a:t>
                      </a:r>
                      <a:r>
                        <a:rPr lang="en-US" altLang="ko-KR" sz="1050" kern="1200" dirty="0">
                          <a:solidFill>
                            <a:schemeClr val="tx2"/>
                          </a:solidFill>
                          <a:latin typeface="+mn-lt"/>
                          <a:ea typeface="+mn-ea"/>
                          <a:cs typeface="+mn-cs"/>
                        </a:rPr>
                        <a:t>3</a:t>
                      </a:r>
                      <a:r>
                        <a:rPr lang="ko-KR" altLang="en-US" sz="1050" kern="1200" dirty="0">
                          <a:solidFill>
                            <a:schemeClr val="tx2"/>
                          </a:solidFill>
                          <a:latin typeface="+mn-lt"/>
                          <a:ea typeface="+mn-ea"/>
                          <a:cs typeface="+mn-cs"/>
                        </a:rPr>
                        <a:t>은 재생기기의 사시도</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5"/>
                  </a:ext>
                </a:extLst>
              </a:tr>
              <a:tr h="207102">
                <a:tc vMerge="1">
                  <a:txBody>
                    <a:bodyPr/>
                    <a:lstStyle/>
                    <a:p>
                      <a:pPr latinLnBrk="1"/>
                      <a:endParaRPr lang="ko-KR" altLang="en-US"/>
                    </a:p>
                  </a:txBody>
                  <a:tcPr/>
                </a:tc>
                <a:tc>
                  <a:txBody>
                    <a:bodyPr/>
                    <a:lstStyle/>
                    <a:p>
                      <a:pPr marL="17780" marR="17780" indent="0" algn="ctr" fontAlgn="base" latinLnBrk="0">
                        <a:lnSpc>
                          <a:spcPct val="100000"/>
                        </a:lnSpc>
                        <a:spcBef>
                          <a:spcPts val="0"/>
                        </a:spcBef>
                        <a:spcAft>
                          <a:spcPts val="0"/>
                        </a:spcAft>
                      </a:pPr>
                      <a:r>
                        <a:rPr lang="ko-KR" altLang="en-US" sz="1050" kern="1200">
                          <a:solidFill>
                            <a:schemeClr val="tx2"/>
                          </a:solidFill>
                          <a:latin typeface="+mn-lt"/>
                          <a:ea typeface="+mn-ea"/>
                          <a:cs typeface="+mn-cs"/>
                        </a:rPr>
                        <a:t>도면부호오기</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00000"/>
                        </a:lnSpc>
                        <a:spcBef>
                          <a:spcPts val="0"/>
                        </a:spcBef>
                        <a:spcAft>
                          <a:spcPts val="0"/>
                        </a:spcAft>
                      </a:pPr>
                      <a:r>
                        <a:rPr lang="en-US" altLang="ko-KR" sz="1050" kern="1200" dirty="0">
                          <a:solidFill>
                            <a:schemeClr val="tx2"/>
                          </a:solidFill>
                          <a:latin typeface="+mn-lt"/>
                          <a:ea typeface="+mn-ea"/>
                          <a:cs typeface="+mn-cs"/>
                        </a:rPr>
                        <a:t>3…</a:t>
                      </a:r>
                      <a:r>
                        <a:rPr lang="ko-KR" altLang="en-US" sz="1050" kern="1200" dirty="0">
                          <a:solidFill>
                            <a:schemeClr val="tx2"/>
                          </a:solidFill>
                          <a:latin typeface="+mn-lt"/>
                          <a:ea typeface="+mn-ea"/>
                          <a:cs typeface="+mn-cs"/>
                        </a:rPr>
                        <a:t>치차 </a:t>
                      </a:r>
                      <a:r>
                        <a:rPr lang="en-US" altLang="ko-KR" sz="1050" kern="1200" dirty="0">
                          <a:solidFill>
                            <a:schemeClr val="tx2"/>
                          </a:solidFill>
                          <a:latin typeface="+mn-lt"/>
                          <a:ea typeface="+mn-ea"/>
                          <a:cs typeface="+mn-cs"/>
                        </a:rPr>
                        <a:t>3…</a:t>
                      </a:r>
                      <a:r>
                        <a:rPr lang="ko-KR" altLang="en-US" sz="1050" kern="1200" dirty="0">
                          <a:solidFill>
                            <a:schemeClr val="tx2"/>
                          </a:solidFill>
                          <a:latin typeface="+mn-lt"/>
                          <a:ea typeface="+mn-ea"/>
                          <a:cs typeface="+mn-cs"/>
                        </a:rPr>
                        <a:t>모터 → </a:t>
                      </a:r>
                      <a:r>
                        <a:rPr lang="en-US" altLang="ko-KR" sz="1050" kern="1200" dirty="0">
                          <a:solidFill>
                            <a:schemeClr val="tx2"/>
                          </a:solidFill>
                          <a:latin typeface="+mn-lt"/>
                          <a:ea typeface="+mn-ea"/>
                          <a:cs typeface="+mn-cs"/>
                        </a:rPr>
                        <a:t>3…</a:t>
                      </a:r>
                      <a:r>
                        <a:rPr lang="ko-KR" altLang="en-US" sz="1050" kern="1200" dirty="0">
                          <a:solidFill>
                            <a:schemeClr val="tx2"/>
                          </a:solidFill>
                          <a:latin typeface="+mn-lt"/>
                          <a:ea typeface="+mn-ea"/>
                          <a:cs typeface="+mn-cs"/>
                        </a:rPr>
                        <a:t>치차 </a:t>
                      </a:r>
                      <a:r>
                        <a:rPr lang="en-US" altLang="ko-KR" sz="1050" kern="1200" dirty="0">
                          <a:solidFill>
                            <a:schemeClr val="tx2"/>
                          </a:solidFill>
                          <a:latin typeface="+mn-lt"/>
                          <a:ea typeface="+mn-ea"/>
                          <a:cs typeface="+mn-cs"/>
                        </a:rPr>
                        <a:t>4…</a:t>
                      </a:r>
                      <a:r>
                        <a:rPr lang="ko-KR" altLang="en-US" sz="1050" kern="1200" dirty="0">
                          <a:solidFill>
                            <a:schemeClr val="tx2"/>
                          </a:solidFill>
                          <a:latin typeface="+mn-lt"/>
                          <a:ea typeface="+mn-ea"/>
                          <a:cs typeface="+mn-cs"/>
                        </a:rPr>
                        <a:t>모터</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6"/>
                  </a:ext>
                </a:extLst>
              </a:tr>
              <a:tr h="207102">
                <a:tc gridSpan="2">
                  <a:txBody>
                    <a:bodyPr/>
                    <a:lstStyle/>
                    <a:p>
                      <a:pPr marL="17780" marR="17780" indent="0" algn="ctr" fontAlgn="base" latinLnBrk="0">
                        <a:lnSpc>
                          <a:spcPct val="100000"/>
                        </a:lnSpc>
                        <a:spcBef>
                          <a:spcPts val="0"/>
                        </a:spcBef>
                        <a:spcAft>
                          <a:spcPts val="0"/>
                        </a:spcAft>
                      </a:pPr>
                      <a:r>
                        <a:rPr lang="ko-KR" altLang="en-US" sz="1050" kern="1200">
                          <a:solidFill>
                            <a:schemeClr val="tx2"/>
                          </a:solidFill>
                          <a:latin typeface="+mn-lt"/>
                          <a:ea typeface="+mn-ea"/>
                          <a:cs typeface="+mn-cs"/>
                        </a:rPr>
                        <a:t>대표도의 오기</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050" kern="1200" dirty="0">
                          <a:solidFill>
                            <a:schemeClr val="tx2"/>
                          </a:solidFill>
                          <a:latin typeface="+mn-lt"/>
                          <a:ea typeface="+mn-ea"/>
                          <a:cs typeface="+mn-cs"/>
                        </a:rPr>
                        <a:t>명세서로 파악해 본바 명백히 잘못 기재된 대표도</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7"/>
                  </a:ext>
                </a:extLst>
              </a:tr>
              <a:tr h="951817">
                <a:tc gridSpan="2">
                  <a:txBody>
                    <a:bodyPr/>
                    <a:lstStyle/>
                    <a:p>
                      <a:pPr marL="17780" marR="17780" indent="0" algn="ctr" fontAlgn="base" latinLnBrk="0">
                        <a:lnSpc>
                          <a:spcPct val="100000"/>
                        </a:lnSpc>
                        <a:spcBef>
                          <a:spcPts val="0"/>
                        </a:spcBef>
                        <a:spcAft>
                          <a:spcPts val="0"/>
                        </a:spcAft>
                      </a:pPr>
                      <a:r>
                        <a:rPr lang="ko-KR" altLang="en-US" sz="1050" kern="1200">
                          <a:solidFill>
                            <a:schemeClr val="tx2"/>
                          </a:solidFill>
                          <a:latin typeface="+mn-lt"/>
                          <a:ea typeface="+mn-ea"/>
                          <a:cs typeface="+mn-cs"/>
                        </a:rPr>
                        <a:t>명세서상의 발명의 명칭이 출원서와 일치하지 아니한 경우</a:t>
                      </a: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050" kern="1200" dirty="0">
                          <a:solidFill>
                            <a:schemeClr val="tx2"/>
                          </a:solidFill>
                          <a:latin typeface="+mn-lt"/>
                          <a:ea typeface="+mn-ea"/>
                          <a:cs typeface="+mn-cs"/>
                        </a:rPr>
                        <a:t>명세서의 발명의 명칭을 </a:t>
                      </a:r>
                      <a:r>
                        <a:rPr lang="ko-KR" altLang="en-US" sz="1050" kern="1200" dirty="0" err="1">
                          <a:solidFill>
                            <a:schemeClr val="tx2"/>
                          </a:solidFill>
                          <a:latin typeface="+mn-lt"/>
                          <a:ea typeface="+mn-ea"/>
                          <a:cs typeface="+mn-cs"/>
                        </a:rPr>
                        <a:t>출원서에</a:t>
                      </a:r>
                      <a:r>
                        <a:rPr lang="ko-KR" altLang="en-US" sz="1050" kern="1200" dirty="0">
                          <a:solidFill>
                            <a:schemeClr val="tx2"/>
                          </a:solidFill>
                          <a:latin typeface="+mn-lt"/>
                          <a:ea typeface="+mn-ea"/>
                          <a:cs typeface="+mn-cs"/>
                        </a:rPr>
                        <a:t> 기재된 발명의 명칭으로 </a:t>
                      </a:r>
                      <a:r>
                        <a:rPr lang="ko-KR" altLang="en-US" sz="1050" kern="1200" dirty="0" err="1">
                          <a:solidFill>
                            <a:schemeClr val="tx2"/>
                          </a:solidFill>
                          <a:latin typeface="+mn-lt"/>
                          <a:ea typeface="+mn-ea"/>
                          <a:cs typeface="+mn-cs"/>
                        </a:rPr>
                        <a:t>직권보정할</a:t>
                      </a:r>
                      <a:r>
                        <a:rPr lang="ko-KR" altLang="en-US" sz="1050" kern="1200" dirty="0">
                          <a:solidFill>
                            <a:schemeClr val="tx2"/>
                          </a:solidFill>
                          <a:latin typeface="+mn-lt"/>
                          <a:ea typeface="+mn-ea"/>
                          <a:cs typeface="+mn-cs"/>
                        </a:rPr>
                        <a:t> 수 있다</a:t>
                      </a:r>
                      <a:r>
                        <a:rPr lang="en-US" altLang="ko-KR" sz="1050" kern="1200" dirty="0">
                          <a:solidFill>
                            <a:schemeClr val="tx2"/>
                          </a:solidFill>
                          <a:latin typeface="+mn-lt"/>
                          <a:ea typeface="+mn-ea"/>
                          <a:cs typeface="+mn-cs"/>
                        </a:rPr>
                        <a:t>. </a:t>
                      </a:r>
                      <a:r>
                        <a:rPr lang="ko-KR" altLang="en-US" sz="1050" kern="1200" dirty="0">
                          <a:solidFill>
                            <a:schemeClr val="tx2"/>
                          </a:solidFill>
                          <a:latin typeface="+mn-lt"/>
                          <a:ea typeface="+mn-ea"/>
                          <a:cs typeface="+mn-cs"/>
                        </a:rPr>
                        <a:t>만약</a:t>
                      </a:r>
                      <a:r>
                        <a:rPr lang="en-US" altLang="ko-KR" sz="1050" kern="1200" dirty="0">
                          <a:solidFill>
                            <a:schemeClr val="tx2"/>
                          </a:solidFill>
                          <a:latin typeface="+mn-lt"/>
                          <a:ea typeface="+mn-ea"/>
                          <a:cs typeface="+mn-cs"/>
                        </a:rPr>
                        <a:t>, </a:t>
                      </a:r>
                      <a:r>
                        <a:rPr lang="ko-KR" altLang="en-US" sz="1050" kern="1200" dirty="0" err="1">
                          <a:solidFill>
                            <a:schemeClr val="tx2"/>
                          </a:solidFill>
                          <a:latin typeface="+mn-lt"/>
                          <a:ea typeface="+mn-ea"/>
                          <a:cs typeface="+mn-cs"/>
                        </a:rPr>
                        <a:t>출원서에</a:t>
                      </a:r>
                      <a:r>
                        <a:rPr lang="ko-KR" altLang="en-US" sz="1050" kern="1200" dirty="0">
                          <a:solidFill>
                            <a:schemeClr val="tx2"/>
                          </a:solidFill>
                          <a:latin typeface="+mn-lt"/>
                          <a:ea typeface="+mn-ea"/>
                          <a:cs typeface="+mn-cs"/>
                        </a:rPr>
                        <a:t> 기재된 발명의 명칭이 명세서의 발명의 명칭 기재요건을 충족하지 못하는 경우에는 출원서와 명세서 모두를 적절하다고 인정되는 발명의 명칭으로 </a:t>
                      </a:r>
                      <a:r>
                        <a:rPr lang="ko-KR" altLang="en-US" sz="1050" kern="1200" dirty="0" err="1">
                          <a:solidFill>
                            <a:schemeClr val="tx2"/>
                          </a:solidFill>
                          <a:latin typeface="+mn-lt"/>
                          <a:ea typeface="+mn-ea"/>
                          <a:cs typeface="+mn-cs"/>
                        </a:rPr>
                        <a:t>직권보정할</a:t>
                      </a:r>
                      <a:r>
                        <a:rPr lang="ko-KR" altLang="en-US" sz="1050" kern="1200" dirty="0">
                          <a:solidFill>
                            <a:schemeClr val="tx2"/>
                          </a:solidFill>
                          <a:latin typeface="+mn-lt"/>
                          <a:ea typeface="+mn-ea"/>
                          <a:cs typeface="+mn-cs"/>
                        </a:rPr>
                        <a:t> 수 있다</a:t>
                      </a:r>
                      <a:r>
                        <a:rPr lang="en-US" altLang="ko-KR" sz="1050" kern="1200" dirty="0">
                          <a:solidFill>
                            <a:schemeClr val="tx2"/>
                          </a:solidFill>
                          <a:latin typeface="+mn-lt"/>
                          <a:ea typeface="+mn-ea"/>
                          <a:cs typeface="+mn-cs"/>
                        </a:rPr>
                        <a:t>.</a:t>
                      </a:r>
                      <a:endParaRPr lang="ko-KR" altLang="en-US" sz="1050" kern="1200" dirty="0">
                        <a:solidFill>
                          <a:schemeClr val="tx2"/>
                        </a:solidFill>
                        <a:latin typeface="+mn-lt"/>
                        <a:ea typeface="+mn-ea"/>
                        <a:cs typeface="+mn-cs"/>
                      </a:endParaRPr>
                    </a:p>
                  </a:txBody>
                  <a:tcPr marL="37168" marR="37168" marT="10276" marB="10276"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sp>
        <p:nvSpPr>
          <p:cNvPr id="2" name="슬라이드 번호 개체 틀 1"/>
          <p:cNvSpPr>
            <a:spLocks noGrp="1"/>
          </p:cNvSpPr>
          <p:nvPr>
            <p:ph type="sldNum" sz="quarter" idx="12"/>
          </p:nvPr>
        </p:nvSpPr>
        <p:spPr/>
        <p:txBody>
          <a:bodyPr/>
          <a:lstStyle/>
          <a:p>
            <a:r>
              <a:rPr lang="en-US" altLang="ko-KR"/>
              <a:t>267</a:t>
            </a:r>
            <a:endParaRPr lang="ko-KR" altLang="en-US" dirty="0"/>
          </a:p>
        </p:txBody>
      </p:sp>
    </p:spTree>
    <p:extLst>
      <p:ext uri="{BB962C8B-B14F-4D97-AF65-F5344CB8AC3E}">
        <p14:creationId xmlns:p14="http://schemas.microsoft.com/office/powerpoint/2010/main" val="2021575520"/>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66</a:t>
            </a:r>
            <a:r>
              <a:rPr lang="ko-KR" altLang="en-US" dirty="0"/>
              <a:t>조의</a:t>
            </a:r>
            <a:r>
              <a:rPr lang="en-US" altLang="ko-KR" dirty="0"/>
              <a:t>2</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a:solidFill>
                  <a:srgbClr val="525252"/>
                </a:solidFill>
              </a:rPr>
              <a:t>직권보정 후 심사진행 </a:t>
            </a:r>
            <a:r>
              <a:rPr lang="en-US" altLang="ko-KR" dirty="0">
                <a:solidFill>
                  <a:srgbClr val="525252"/>
                </a:solidFill>
              </a:rPr>
              <a:t>CASE</a:t>
            </a:r>
            <a:endParaRPr lang="ko-KR" altLang="en-US" dirty="0">
              <a:solidFill>
                <a:srgbClr val="525252"/>
              </a:solidFill>
            </a:endParaRP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0" name="TextBox 49"/>
          <p:cNvSpPr txBox="1"/>
          <p:nvPr/>
        </p:nvSpPr>
        <p:spPr>
          <a:xfrm>
            <a:off x="77875" y="986046"/>
            <a:ext cx="11936323" cy="738664"/>
          </a:xfrm>
          <a:prstGeom prst="rect">
            <a:avLst/>
          </a:prstGeom>
          <a:noFill/>
        </p:spPr>
        <p:txBody>
          <a:bodyPr wrap="square" rtlCol="0">
            <a:spAutoFit/>
          </a:bodyPr>
          <a:lstStyle/>
          <a:p>
            <a:pPr algn="just" fontAlgn="base"/>
            <a:r>
              <a:rPr lang="ko-KR" altLang="en-US" sz="1400" dirty="0">
                <a:solidFill>
                  <a:schemeClr val="tx2"/>
                </a:solidFill>
              </a:rPr>
              <a:t>특허결정이 취소된 것으로 보는 경우 심사관은 직권보정 전 명세서 또는 도면에 의하여 다시 심사를 진행한다</a:t>
            </a:r>
            <a:r>
              <a:rPr lang="en-US" altLang="ko-KR" sz="1400" dirty="0">
                <a:solidFill>
                  <a:schemeClr val="tx2"/>
                </a:solidFill>
              </a:rPr>
              <a:t>. </a:t>
            </a:r>
            <a:r>
              <a:rPr lang="ko-KR" altLang="en-US" sz="1400" dirty="0">
                <a:solidFill>
                  <a:schemeClr val="tx2"/>
                </a:solidFill>
              </a:rPr>
              <a:t>이 때 심사관이 직권보정 전에 이미 통지된 거절이유가 발견되더라도 다시 거절이유를 통지하여야 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그 </a:t>
            </a:r>
            <a:r>
              <a:rPr lang="ko-KR" altLang="en-US" sz="1400" dirty="0">
                <a:solidFill>
                  <a:schemeClr val="tx2"/>
                </a:solidFill>
                <a:highlight>
                  <a:srgbClr val="FFFF00"/>
                </a:highlight>
              </a:rPr>
              <a:t>거절이유가 </a:t>
            </a:r>
            <a:r>
              <a:rPr lang="ko-KR" altLang="en-US" sz="1400" dirty="0" err="1">
                <a:solidFill>
                  <a:schemeClr val="tx2"/>
                </a:solidFill>
                <a:highlight>
                  <a:srgbClr val="FFFF00"/>
                </a:highlight>
              </a:rPr>
              <a:t>출원인이</a:t>
            </a:r>
            <a:r>
              <a:rPr lang="ko-KR" altLang="en-US" sz="1400" dirty="0">
                <a:solidFill>
                  <a:schemeClr val="tx2"/>
                </a:solidFill>
                <a:highlight>
                  <a:srgbClr val="FFFF00"/>
                </a:highlight>
              </a:rPr>
              <a:t> 받아들이지 아니한 직권보정사항에 해당하고</a:t>
            </a:r>
            <a:r>
              <a:rPr lang="en-US" altLang="ko-KR" sz="1400" dirty="0">
                <a:solidFill>
                  <a:schemeClr val="tx2"/>
                </a:solidFill>
                <a:highlight>
                  <a:srgbClr val="FFFF00"/>
                </a:highlight>
              </a:rPr>
              <a:t>, </a:t>
            </a:r>
            <a:r>
              <a:rPr lang="ko-KR" altLang="en-US" sz="1400" dirty="0">
                <a:solidFill>
                  <a:schemeClr val="tx2"/>
                </a:solidFill>
                <a:highlight>
                  <a:srgbClr val="FFFF00"/>
                </a:highlight>
              </a:rPr>
              <a:t>이미 통지된 </a:t>
            </a:r>
            <a:r>
              <a:rPr lang="ko-KR" altLang="en-US" sz="1400" dirty="0">
                <a:solidFill>
                  <a:schemeClr val="accent3">
                    <a:lumMod val="50000"/>
                  </a:schemeClr>
                </a:solidFill>
                <a:highlight>
                  <a:srgbClr val="FFFF00"/>
                </a:highlight>
              </a:rPr>
              <a:t>거절이유</a:t>
            </a:r>
            <a:r>
              <a:rPr lang="ko-KR" altLang="en-US" sz="1400" dirty="0">
                <a:solidFill>
                  <a:schemeClr val="accent3">
                    <a:lumMod val="50000"/>
                  </a:schemeClr>
                </a:solidFill>
              </a:rPr>
              <a:t>라면</a:t>
            </a:r>
            <a:r>
              <a:rPr lang="ko-KR" altLang="en-US" sz="1400" dirty="0">
                <a:solidFill>
                  <a:schemeClr val="tx2"/>
                </a:solidFill>
              </a:rPr>
              <a:t> 바로 </a:t>
            </a:r>
            <a:r>
              <a:rPr lang="ko-KR" altLang="en-US" sz="1400" dirty="0" err="1">
                <a:solidFill>
                  <a:schemeClr val="tx2"/>
                </a:solidFill>
              </a:rPr>
              <a:t>거절결정할</a:t>
            </a:r>
            <a:r>
              <a:rPr lang="ko-KR" altLang="en-US" sz="1400" dirty="0">
                <a:solidFill>
                  <a:schemeClr val="tx2"/>
                </a:solidFill>
              </a:rPr>
              <a:t> 수 있다</a:t>
            </a:r>
            <a:r>
              <a:rPr lang="en-US" altLang="ko-KR" sz="1400" dirty="0">
                <a:solidFill>
                  <a:schemeClr val="tx2"/>
                </a:solidFill>
              </a:rPr>
              <a:t>.</a:t>
            </a:r>
            <a:endParaRPr lang="ko-KR" altLang="en-US" sz="1400" dirty="0">
              <a:solidFill>
                <a:schemeClr val="tx2"/>
              </a:solidFill>
            </a:endParaRPr>
          </a:p>
        </p:txBody>
      </p:sp>
      <p:cxnSp>
        <p:nvCxnSpPr>
          <p:cNvPr id="51" name="직선 연결선 50"/>
          <p:cNvCxnSpPr/>
          <p:nvPr/>
        </p:nvCxnSpPr>
        <p:spPr>
          <a:xfrm>
            <a:off x="0" y="173337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직사각형 5"/>
          <p:cNvSpPr/>
          <p:nvPr/>
        </p:nvSpPr>
        <p:spPr>
          <a:xfrm>
            <a:off x="2987551" y="3404823"/>
            <a:ext cx="1101370" cy="570349"/>
          </a:xfrm>
          <a:prstGeom prst="rect">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5" name="직선 화살표 연결선 124"/>
          <p:cNvCxnSpPr/>
          <p:nvPr/>
        </p:nvCxnSpPr>
        <p:spPr>
          <a:xfrm>
            <a:off x="1003596" y="2276381"/>
            <a:ext cx="965835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1" name="직사각형 90"/>
          <p:cNvSpPr/>
          <p:nvPr/>
        </p:nvSpPr>
        <p:spPr>
          <a:xfrm>
            <a:off x="772664" y="2063501"/>
            <a:ext cx="767463" cy="425759"/>
          </a:xfrm>
          <a:prstGeom prst="rect">
            <a:avLst/>
          </a:prstGeom>
          <a:solidFill>
            <a:schemeClr val="tx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p>
        </p:txBody>
      </p:sp>
      <p:sp>
        <p:nvSpPr>
          <p:cNvPr id="93" name="직사각형 92"/>
          <p:cNvSpPr/>
          <p:nvPr/>
        </p:nvSpPr>
        <p:spPr>
          <a:xfrm>
            <a:off x="2115870" y="1786684"/>
            <a:ext cx="646040" cy="21288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1</a:t>
            </a:r>
            <a:endParaRPr lang="ko-KR" altLang="en-US" sz="1200" dirty="0">
              <a:solidFill>
                <a:schemeClr val="tx1"/>
              </a:solidFill>
            </a:endParaRPr>
          </a:p>
        </p:txBody>
      </p:sp>
      <p:cxnSp>
        <p:nvCxnSpPr>
          <p:cNvPr id="94" name="직선 화살표 연결선 93"/>
          <p:cNvCxnSpPr>
            <a:stCxn id="93" idx="2"/>
          </p:cNvCxnSpPr>
          <p:nvPr/>
        </p:nvCxnSpPr>
        <p:spPr>
          <a:xfrm>
            <a:off x="2438890" y="1999564"/>
            <a:ext cx="7428" cy="26284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5" name="직사각형 94"/>
          <p:cNvSpPr/>
          <p:nvPr/>
        </p:nvSpPr>
        <p:spPr>
          <a:xfrm>
            <a:off x="2584877" y="2166933"/>
            <a:ext cx="693430" cy="21288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최초</a:t>
            </a:r>
          </a:p>
        </p:txBody>
      </p:sp>
      <p:sp>
        <p:nvSpPr>
          <p:cNvPr id="96" name="직사각형 95"/>
          <p:cNvSpPr/>
          <p:nvPr/>
        </p:nvSpPr>
        <p:spPr>
          <a:xfrm>
            <a:off x="3194081" y="2629841"/>
            <a:ext cx="746998" cy="21288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2</a:t>
            </a:r>
            <a:endParaRPr lang="ko-KR" altLang="en-US" sz="1200" dirty="0">
              <a:solidFill>
                <a:schemeClr val="tx1"/>
              </a:solidFill>
            </a:endParaRPr>
          </a:p>
        </p:txBody>
      </p:sp>
      <p:cxnSp>
        <p:nvCxnSpPr>
          <p:cNvPr id="97" name="직선 화살표 연결선 96"/>
          <p:cNvCxnSpPr>
            <a:stCxn id="96" idx="0"/>
          </p:cNvCxnSpPr>
          <p:nvPr/>
        </p:nvCxnSpPr>
        <p:spPr>
          <a:xfrm flipH="1" flipV="1">
            <a:off x="3565815" y="2273373"/>
            <a:ext cx="1765" cy="35646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8" name="직사각형 97"/>
          <p:cNvSpPr/>
          <p:nvPr/>
        </p:nvSpPr>
        <p:spPr>
          <a:xfrm>
            <a:off x="3679986" y="1786684"/>
            <a:ext cx="646040" cy="21288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2</a:t>
            </a:r>
            <a:endParaRPr lang="ko-KR" altLang="en-US" sz="1200" dirty="0">
              <a:solidFill>
                <a:schemeClr val="tx1"/>
              </a:solidFill>
            </a:endParaRPr>
          </a:p>
        </p:txBody>
      </p:sp>
      <p:cxnSp>
        <p:nvCxnSpPr>
          <p:cNvPr id="99" name="직선 화살표 연결선 98"/>
          <p:cNvCxnSpPr>
            <a:stCxn id="98" idx="2"/>
          </p:cNvCxnSpPr>
          <p:nvPr/>
        </p:nvCxnSpPr>
        <p:spPr>
          <a:xfrm>
            <a:off x="4003006" y="1999564"/>
            <a:ext cx="7428" cy="26284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8" name="직사각형 107"/>
          <p:cNvSpPr/>
          <p:nvPr/>
        </p:nvSpPr>
        <p:spPr>
          <a:xfrm>
            <a:off x="1569706" y="2629841"/>
            <a:ext cx="746998" cy="21288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1</a:t>
            </a:r>
            <a:endParaRPr lang="ko-KR" altLang="en-US" sz="1200" dirty="0">
              <a:solidFill>
                <a:schemeClr val="tx1"/>
              </a:solidFill>
            </a:endParaRPr>
          </a:p>
        </p:txBody>
      </p:sp>
      <p:cxnSp>
        <p:nvCxnSpPr>
          <p:cNvPr id="109" name="직선 화살표 연결선 108"/>
          <p:cNvCxnSpPr>
            <a:stCxn id="108" idx="0"/>
          </p:cNvCxnSpPr>
          <p:nvPr/>
        </p:nvCxnSpPr>
        <p:spPr>
          <a:xfrm flipH="1" flipV="1">
            <a:off x="1941440" y="2273373"/>
            <a:ext cx="1765" cy="35646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p:cNvSpPr/>
          <p:nvPr/>
        </p:nvSpPr>
        <p:spPr>
          <a:xfrm>
            <a:off x="1549240" y="3189606"/>
            <a:ext cx="767464" cy="21288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42③Ⅰ</a:t>
            </a:r>
            <a:endParaRPr lang="ko-KR" altLang="en-US" sz="1050" dirty="0">
              <a:solidFill>
                <a:schemeClr val="tx1"/>
              </a:solidFill>
            </a:endParaRPr>
          </a:p>
        </p:txBody>
      </p:sp>
      <p:sp>
        <p:nvSpPr>
          <p:cNvPr id="115" name="직사각형 114"/>
          <p:cNvSpPr/>
          <p:nvPr/>
        </p:nvSpPr>
        <p:spPr>
          <a:xfrm>
            <a:off x="3173615" y="3551100"/>
            <a:ext cx="767464" cy="21288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42④Ⅰ</a:t>
            </a:r>
            <a:endParaRPr lang="ko-KR" altLang="en-US" sz="1050" dirty="0">
              <a:solidFill>
                <a:schemeClr val="tx1"/>
              </a:solidFill>
              <a:latin typeface="+mn-ea"/>
            </a:endParaRPr>
          </a:p>
        </p:txBody>
      </p:sp>
      <p:cxnSp>
        <p:nvCxnSpPr>
          <p:cNvPr id="116" name="꺾인 연결선 115"/>
          <p:cNvCxnSpPr>
            <a:stCxn id="113" idx="3"/>
            <a:endCxn id="95" idx="2"/>
          </p:cNvCxnSpPr>
          <p:nvPr/>
        </p:nvCxnSpPr>
        <p:spPr>
          <a:xfrm flipV="1">
            <a:off x="2316704" y="2379813"/>
            <a:ext cx="614888" cy="916233"/>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9" name="직사각형 118"/>
          <p:cNvSpPr/>
          <p:nvPr/>
        </p:nvSpPr>
        <p:spPr>
          <a:xfrm>
            <a:off x="1549240" y="3510699"/>
            <a:ext cx="767464" cy="21288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29①</a:t>
            </a:r>
            <a:endParaRPr lang="ko-KR" altLang="en-US" sz="1050" dirty="0">
              <a:solidFill>
                <a:schemeClr val="tx1"/>
              </a:solidFill>
              <a:latin typeface="+mn-ea"/>
            </a:endParaRPr>
          </a:p>
        </p:txBody>
      </p:sp>
      <p:sp>
        <p:nvSpPr>
          <p:cNvPr id="120" name="직사각형 119"/>
          <p:cNvSpPr/>
          <p:nvPr/>
        </p:nvSpPr>
        <p:spPr>
          <a:xfrm>
            <a:off x="3182621" y="4094512"/>
            <a:ext cx="767464" cy="21288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29②</a:t>
            </a:r>
            <a:endParaRPr lang="ko-KR" altLang="en-US" sz="1050" dirty="0">
              <a:solidFill>
                <a:schemeClr val="tx1"/>
              </a:solidFill>
              <a:latin typeface="+mn-ea"/>
            </a:endParaRPr>
          </a:p>
        </p:txBody>
      </p:sp>
      <p:sp>
        <p:nvSpPr>
          <p:cNvPr id="122" name="직사각형 121"/>
          <p:cNvSpPr/>
          <p:nvPr/>
        </p:nvSpPr>
        <p:spPr>
          <a:xfrm>
            <a:off x="1335024" y="3480302"/>
            <a:ext cx="415969" cy="451656"/>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❶</a:t>
            </a:r>
          </a:p>
        </p:txBody>
      </p:sp>
      <p:sp>
        <p:nvSpPr>
          <p:cNvPr id="124" name="직사각형 123"/>
          <p:cNvSpPr/>
          <p:nvPr/>
        </p:nvSpPr>
        <p:spPr>
          <a:xfrm>
            <a:off x="2987552" y="3134077"/>
            <a:ext cx="364983" cy="1154666"/>
          </a:xfrm>
          <a:prstGeom prst="rect">
            <a:avLst/>
          </a:prstGeom>
        </p:spPr>
        <p:txBody>
          <a:bodyPr wrap="square">
            <a:spAutoFit/>
          </a:bodyPr>
          <a:lstStyle/>
          <a:p>
            <a:pPr algn="just" fontAlgn="base">
              <a:lnSpc>
                <a:spcPct val="160000"/>
              </a:lnSpc>
            </a:pPr>
            <a:endParaRPr lang="ko-KR" altLang="en-US" kern="0" dirty="0">
              <a:solidFill>
                <a:schemeClr val="accent2">
                  <a:lumMod val="50000"/>
                </a:schemeClr>
              </a:solidFill>
              <a:latin typeface="+mn-ea"/>
            </a:endParaRPr>
          </a:p>
          <a:p>
            <a:pPr algn="just" fontAlgn="base">
              <a:lnSpc>
                <a:spcPct val="160000"/>
              </a:lnSpc>
            </a:pPr>
            <a:endParaRPr lang="en-US" altLang="ko-KR" kern="0" dirty="0">
              <a:solidFill>
                <a:schemeClr val="accent2">
                  <a:lumMod val="50000"/>
                </a:schemeClr>
              </a:solidFill>
              <a:latin typeface="+mn-ea"/>
            </a:endParaRPr>
          </a:p>
          <a:p>
            <a:pPr algn="just" fontAlgn="base">
              <a:lnSpc>
                <a:spcPct val="160000"/>
              </a:lnSpc>
            </a:pPr>
            <a:r>
              <a:rPr lang="ko-KR" altLang="en-US" kern="0" dirty="0">
                <a:solidFill>
                  <a:schemeClr val="accent2">
                    <a:lumMod val="50000"/>
                  </a:schemeClr>
                </a:solidFill>
                <a:latin typeface="+mn-ea"/>
              </a:rPr>
              <a:t>❸</a:t>
            </a:r>
          </a:p>
        </p:txBody>
      </p:sp>
      <p:sp>
        <p:nvSpPr>
          <p:cNvPr id="126" name="직사각형 125"/>
          <p:cNvSpPr/>
          <p:nvPr/>
        </p:nvSpPr>
        <p:spPr>
          <a:xfrm>
            <a:off x="4420399" y="2057484"/>
            <a:ext cx="988415" cy="431775"/>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특허결정</a:t>
            </a:r>
            <a:r>
              <a:rPr lang="en-US" altLang="ko-KR" sz="1200" dirty="0">
                <a:solidFill>
                  <a:schemeClr val="bg1"/>
                </a:solidFill>
              </a:rPr>
              <a:t>+</a:t>
            </a:r>
          </a:p>
          <a:p>
            <a:pPr algn="ctr"/>
            <a:r>
              <a:rPr lang="ko-KR" altLang="en-US" sz="1200" dirty="0">
                <a:solidFill>
                  <a:schemeClr val="bg1"/>
                </a:solidFill>
              </a:rPr>
              <a:t>직권보정</a:t>
            </a:r>
          </a:p>
        </p:txBody>
      </p:sp>
      <p:sp>
        <p:nvSpPr>
          <p:cNvPr id="137" name="직사각형 136"/>
          <p:cNvSpPr/>
          <p:nvPr/>
        </p:nvSpPr>
        <p:spPr>
          <a:xfrm>
            <a:off x="6657339" y="2057486"/>
            <a:ext cx="1288649" cy="431775"/>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err="1">
                <a:solidFill>
                  <a:schemeClr val="bg1"/>
                </a:solidFill>
              </a:rPr>
              <a:t>특허결정</a:t>
            </a:r>
            <a:r>
              <a:rPr lang="ko-KR" altLang="en-US" sz="1200" dirty="0">
                <a:solidFill>
                  <a:schemeClr val="bg1"/>
                </a:solidFill>
              </a:rPr>
              <a:t> 취소</a:t>
            </a:r>
            <a:r>
              <a:rPr lang="en-US" altLang="ko-KR" sz="1200" dirty="0">
                <a:solidFill>
                  <a:schemeClr val="bg1"/>
                </a:solidFill>
              </a:rPr>
              <a:t>+</a:t>
            </a:r>
          </a:p>
          <a:p>
            <a:pPr algn="ctr"/>
            <a:r>
              <a:rPr lang="ko-KR" altLang="en-US" sz="1200" dirty="0" err="1">
                <a:solidFill>
                  <a:schemeClr val="bg1"/>
                </a:solidFill>
              </a:rPr>
              <a:t>직권보정</a:t>
            </a:r>
            <a:r>
              <a:rPr lang="ko-KR" altLang="en-US" sz="1200" dirty="0">
                <a:solidFill>
                  <a:schemeClr val="bg1"/>
                </a:solidFill>
              </a:rPr>
              <a:t> 취소</a:t>
            </a:r>
          </a:p>
        </p:txBody>
      </p:sp>
      <p:sp>
        <p:nvSpPr>
          <p:cNvPr id="144" name="직사각형 143"/>
          <p:cNvSpPr/>
          <p:nvPr/>
        </p:nvSpPr>
        <p:spPr>
          <a:xfrm>
            <a:off x="5620743" y="2731553"/>
            <a:ext cx="746998" cy="367534"/>
          </a:xfrm>
          <a:prstGeom prst="rect">
            <a:avLst/>
          </a:prstGeom>
          <a:solidFill>
            <a:schemeClr val="bg1">
              <a:lumMod val="6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의견서 제출</a:t>
            </a:r>
            <a:endParaRPr lang="ko-KR" altLang="en-US" sz="1200" dirty="0">
              <a:solidFill>
                <a:schemeClr val="tx1"/>
              </a:solidFill>
            </a:endParaRPr>
          </a:p>
        </p:txBody>
      </p:sp>
      <p:cxnSp>
        <p:nvCxnSpPr>
          <p:cNvPr id="145" name="직선 화살표 연결선 144"/>
          <p:cNvCxnSpPr>
            <a:stCxn id="144" idx="0"/>
          </p:cNvCxnSpPr>
          <p:nvPr/>
        </p:nvCxnSpPr>
        <p:spPr>
          <a:xfrm flipH="1" flipV="1">
            <a:off x="5992477" y="2290355"/>
            <a:ext cx="1765" cy="44119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0" name="직사각형 159"/>
          <p:cNvSpPr/>
          <p:nvPr/>
        </p:nvSpPr>
        <p:spPr>
          <a:xfrm>
            <a:off x="8212421" y="2446324"/>
            <a:ext cx="1000384" cy="212880"/>
          </a:xfrm>
          <a:prstGeom prst="rect">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심사</a:t>
            </a:r>
            <a:r>
              <a:rPr lang="en-US" altLang="ko-KR" sz="1200" dirty="0">
                <a:solidFill>
                  <a:schemeClr val="bg1"/>
                </a:solidFill>
              </a:rPr>
              <a:t>3</a:t>
            </a:r>
            <a:endParaRPr lang="ko-KR" altLang="en-US" sz="1200" dirty="0">
              <a:solidFill>
                <a:schemeClr val="bg1"/>
              </a:solidFill>
            </a:endParaRPr>
          </a:p>
        </p:txBody>
      </p:sp>
      <p:cxnSp>
        <p:nvCxnSpPr>
          <p:cNvPr id="164" name="직선 화살표 연결선 163"/>
          <p:cNvCxnSpPr>
            <a:cxnSpLocks/>
            <a:stCxn id="160" idx="0"/>
          </p:cNvCxnSpPr>
          <p:nvPr/>
        </p:nvCxnSpPr>
        <p:spPr>
          <a:xfrm flipV="1">
            <a:off x="8712613" y="2273373"/>
            <a:ext cx="0" cy="17295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5" name="직사각형 164"/>
          <p:cNvSpPr/>
          <p:nvPr/>
        </p:nvSpPr>
        <p:spPr>
          <a:xfrm>
            <a:off x="8202976" y="3715200"/>
            <a:ext cx="2393394" cy="922559"/>
          </a:xfrm>
          <a:prstGeom prst="rect">
            <a:avLst/>
          </a:prstGeom>
          <a:ln>
            <a:solidFill>
              <a:schemeClr val="bg1">
                <a:lumMod val="50000"/>
              </a:schemeClr>
            </a:solidFill>
          </a:ln>
        </p:spPr>
        <p:txBody>
          <a:bodyPr wrap="square">
            <a:noAutofit/>
          </a:bodyPr>
          <a:lstStyle/>
          <a:p>
            <a:pPr fontAlgn="base"/>
            <a:r>
              <a:rPr lang="ko-KR" altLang="en-US" sz="1400" kern="0" dirty="0">
                <a:solidFill>
                  <a:schemeClr val="accent4"/>
                </a:solidFill>
                <a:latin typeface="+mn-ea"/>
              </a:rPr>
              <a:t>❶ 발견</a:t>
            </a:r>
            <a:r>
              <a:rPr lang="en-US" altLang="ko-KR" sz="1400" kern="0" dirty="0">
                <a:solidFill>
                  <a:schemeClr val="accent4"/>
                </a:solidFill>
                <a:latin typeface="+mn-ea"/>
              </a:rPr>
              <a:t>: </a:t>
            </a:r>
            <a:r>
              <a:rPr lang="ko-KR" altLang="en-US" sz="1400" kern="0" dirty="0">
                <a:solidFill>
                  <a:schemeClr val="accent4"/>
                </a:solidFill>
                <a:latin typeface="+mn-ea"/>
              </a:rPr>
              <a:t>최초거절이유통지</a:t>
            </a:r>
            <a:r>
              <a:rPr lang="en-US" altLang="ko-KR" sz="1400" kern="0" dirty="0">
                <a:solidFill>
                  <a:schemeClr val="accent4"/>
                </a:solidFill>
                <a:latin typeface="+mn-ea"/>
              </a:rPr>
              <a:t> </a:t>
            </a:r>
          </a:p>
          <a:p>
            <a:pPr fontAlgn="base"/>
            <a:r>
              <a:rPr lang="ko-KR" altLang="en-US" sz="1400" kern="0" dirty="0">
                <a:solidFill>
                  <a:srgbClr val="FF0000"/>
                </a:solidFill>
                <a:latin typeface="+mn-ea"/>
              </a:rPr>
              <a:t>❷ 발견</a:t>
            </a:r>
            <a:r>
              <a:rPr lang="en-US" altLang="ko-KR" sz="1400" kern="0" dirty="0">
                <a:solidFill>
                  <a:srgbClr val="FF0000"/>
                </a:solidFill>
                <a:latin typeface="+mn-ea"/>
              </a:rPr>
              <a:t>: </a:t>
            </a:r>
            <a:r>
              <a:rPr lang="ko-KR" altLang="en-US" sz="1400" kern="0" dirty="0">
                <a:solidFill>
                  <a:srgbClr val="FF0000"/>
                </a:solidFill>
                <a:latin typeface="+mn-ea"/>
              </a:rPr>
              <a:t>최후거절이유통지</a:t>
            </a:r>
            <a:endParaRPr lang="en-US" altLang="ko-KR" sz="1400" kern="0" dirty="0">
              <a:solidFill>
                <a:srgbClr val="FF0000"/>
              </a:solidFill>
              <a:latin typeface="+mn-ea"/>
            </a:endParaRPr>
          </a:p>
          <a:p>
            <a:pPr fontAlgn="base"/>
            <a:r>
              <a:rPr lang="ko-KR" altLang="en-US" sz="1400" kern="0" dirty="0">
                <a:solidFill>
                  <a:schemeClr val="accent4"/>
                </a:solidFill>
                <a:latin typeface="+mn-ea"/>
              </a:rPr>
              <a:t>❸ 발견</a:t>
            </a:r>
            <a:r>
              <a:rPr lang="en-US" altLang="ko-KR" sz="1400" kern="0" dirty="0">
                <a:solidFill>
                  <a:schemeClr val="accent4"/>
                </a:solidFill>
                <a:latin typeface="+mn-ea"/>
              </a:rPr>
              <a:t>: </a:t>
            </a:r>
            <a:r>
              <a:rPr lang="ko-KR" altLang="en-US" sz="1400" kern="0" dirty="0" err="1">
                <a:solidFill>
                  <a:schemeClr val="accent4"/>
                </a:solidFill>
                <a:latin typeface="+mn-ea"/>
              </a:rPr>
              <a:t>최후거절이유통지</a:t>
            </a:r>
            <a:endParaRPr lang="en-US" altLang="ko-KR" sz="1400" kern="0" dirty="0">
              <a:solidFill>
                <a:schemeClr val="accent4"/>
              </a:solidFill>
              <a:latin typeface="+mn-ea"/>
            </a:endParaRPr>
          </a:p>
          <a:p>
            <a:pPr fontAlgn="base"/>
            <a:r>
              <a:rPr lang="ko-KR" altLang="en-US" sz="1400" kern="0" dirty="0">
                <a:solidFill>
                  <a:srgbClr val="FF0000"/>
                </a:solidFill>
                <a:latin typeface="+mn-ea"/>
              </a:rPr>
              <a:t>❹ 발견</a:t>
            </a:r>
            <a:r>
              <a:rPr lang="en-US" altLang="ko-KR" sz="1400" kern="0" dirty="0">
                <a:solidFill>
                  <a:srgbClr val="FF0000"/>
                </a:solidFill>
                <a:latin typeface="+mn-ea"/>
              </a:rPr>
              <a:t>: </a:t>
            </a:r>
            <a:r>
              <a:rPr lang="ko-KR" altLang="en-US" sz="1400" kern="0" dirty="0" err="1">
                <a:solidFill>
                  <a:srgbClr val="FF0000"/>
                </a:solidFill>
                <a:latin typeface="+mn-ea"/>
              </a:rPr>
              <a:t>최초거절이유통지</a:t>
            </a:r>
            <a:endParaRPr lang="en-US" altLang="ko-KR" sz="1400" kern="0" dirty="0">
              <a:solidFill>
                <a:srgbClr val="FF0000"/>
              </a:solidFill>
              <a:latin typeface="+mn-ea"/>
            </a:endParaRPr>
          </a:p>
          <a:p>
            <a:pPr fontAlgn="base"/>
            <a:endParaRPr lang="en-US" altLang="ko-KR" sz="1400" kern="0" dirty="0">
              <a:solidFill>
                <a:schemeClr val="accent4"/>
              </a:solidFill>
              <a:latin typeface="+mn-ea"/>
            </a:endParaRPr>
          </a:p>
        </p:txBody>
      </p:sp>
      <p:sp>
        <p:nvSpPr>
          <p:cNvPr id="46" name="TextBox 45"/>
          <p:cNvSpPr txBox="1"/>
          <p:nvPr/>
        </p:nvSpPr>
        <p:spPr>
          <a:xfrm>
            <a:off x="8198480" y="2961201"/>
            <a:ext cx="2390209" cy="220637"/>
          </a:xfrm>
          <a:prstGeom prst="rect">
            <a:avLst/>
          </a:prstGeom>
          <a:solidFill>
            <a:schemeClr val="bg1"/>
          </a:solidFill>
          <a:ln>
            <a:solidFill>
              <a:schemeClr val="bg1">
                <a:lumMod val="50000"/>
              </a:schemeClr>
            </a:solidFill>
          </a:ln>
        </p:spPr>
        <p:txBody>
          <a:bodyPr wrap="square" rtlCol="0">
            <a:noAutofit/>
          </a:bodyPr>
          <a:lstStyle/>
          <a:p>
            <a:r>
              <a:rPr lang="en-US" altLang="ko-KR" sz="1100" dirty="0"/>
              <a:t>1. </a:t>
            </a:r>
            <a:r>
              <a:rPr lang="ko-KR" altLang="en-US" sz="1100" dirty="0"/>
              <a:t>원거절이유의 </a:t>
            </a:r>
            <a:r>
              <a:rPr lang="ko-KR" altLang="en-US" sz="1100" dirty="0" err="1"/>
              <a:t>해소여부</a:t>
            </a:r>
            <a:endParaRPr lang="ko-KR" altLang="en-US" dirty="0"/>
          </a:p>
        </p:txBody>
      </p:sp>
      <p:sp>
        <p:nvSpPr>
          <p:cNvPr id="47" name="TextBox 46"/>
          <p:cNvSpPr txBox="1"/>
          <p:nvPr/>
        </p:nvSpPr>
        <p:spPr>
          <a:xfrm>
            <a:off x="8198480" y="3203261"/>
            <a:ext cx="2390207" cy="220637"/>
          </a:xfrm>
          <a:prstGeom prst="rect">
            <a:avLst/>
          </a:prstGeom>
          <a:solidFill>
            <a:schemeClr val="bg1"/>
          </a:solidFill>
          <a:ln>
            <a:solidFill>
              <a:schemeClr val="bg1">
                <a:lumMod val="50000"/>
              </a:schemeClr>
            </a:solidFill>
          </a:ln>
        </p:spPr>
        <p:txBody>
          <a:bodyPr wrap="square" rtlCol="0">
            <a:spAutoFit/>
          </a:bodyPr>
          <a:lstStyle/>
          <a:p>
            <a:r>
              <a:rPr lang="en-US" altLang="ko-KR" sz="1100" dirty="0"/>
              <a:t>2. </a:t>
            </a:r>
            <a:r>
              <a:rPr lang="ko-KR" altLang="en-US" sz="1100" dirty="0"/>
              <a:t>새로운 </a:t>
            </a:r>
            <a:r>
              <a:rPr lang="ko-KR" altLang="en-US" sz="1100" dirty="0" err="1"/>
              <a:t>거절이유의</a:t>
            </a:r>
            <a:r>
              <a:rPr lang="ko-KR" altLang="en-US" sz="1100" dirty="0"/>
              <a:t> </a:t>
            </a:r>
            <a:r>
              <a:rPr lang="ko-KR" altLang="en-US" sz="1100" dirty="0" err="1"/>
              <a:t>발견여부</a:t>
            </a:r>
            <a:endParaRPr lang="ko-KR" altLang="en-US" sz="1100" dirty="0"/>
          </a:p>
        </p:txBody>
      </p:sp>
      <p:sp>
        <p:nvSpPr>
          <p:cNvPr id="48" name="TextBox 47"/>
          <p:cNvSpPr txBox="1"/>
          <p:nvPr/>
        </p:nvSpPr>
        <p:spPr>
          <a:xfrm>
            <a:off x="8198481" y="3454863"/>
            <a:ext cx="2397889" cy="220637"/>
          </a:xfrm>
          <a:prstGeom prst="rect">
            <a:avLst/>
          </a:prstGeom>
          <a:solidFill>
            <a:schemeClr val="bg1"/>
          </a:solidFill>
          <a:ln>
            <a:solidFill>
              <a:schemeClr val="bg1">
                <a:lumMod val="50000"/>
              </a:schemeClr>
            </a:solidFill>
          </a:ln>
        </p:spPr>
        <p:txBody>
          <a:bodyPr wrap="square" rtlCol="0">
            <a:spAutoFit/>
          </a:bodyPr>
          <a:lstStyle/>
          <a:p>
            <a:r>
              <a:rPr lang="en-US" altLang="ko-KR" sz="1100" dirty="0"/>
              <a:t>3. </a:t>
            </a:r>
            <a:r>
              <a:rPr lang="ko-KR" altLang="en-US" sz="1100" dirty="0"/>
              <a:t>새로운 거절이유의 발생시점</a:t>
            </a:r>
          </a:p>
        </p:txBody>
      </p:sp>
      <p:sp>
        <p:nvSpPr>
          <p:cNvPr id="49" name="TextBox 48"/>
          <p:cNvSpPr txBox="1"/>
          <p:nvPr/>
        </p:nvSpPr>
        <p:spPr>
          <a:xfrm>
            <a:off x="8198480" y="2712196"/>
            <a:ext cx="2390209" cy="220637"/>
          </a:xfrm>
          <a:prstGeom prst="rect">
            <a:avLst/>
          </a:prstGeom>
          <a:solidFill>
            <a:schemeClr val="bg1"/>
          </a:solidFill>
          <a:ln>
            <a:solidFill>
              <a:schemeClr val="bg1">
                <a:lumMod val="50000"/>
              </a:schemeClr>
            </a:solidFill>
          </a:ln>
        </p:spPr>
        <p:txBody>
          <a:bodyPr wrap="square" rtlCol="0">
            <a:noAutofit/>
          </a:bodyPr>
          <a:lstStyle/>
          <a:p>
            <a:r>
              <a:rPr lang="en-US" altLang="ko-KR" sz="1100" dirty="0">
                <a:solidFill>
                  <a:schemeClr val="bg1">
                    <a:lumMod val="85000"/>
                  </a:schemeClr>
                </a:solidFill>
              </a:rPr>
              <a:t>0. </a:t>
            </a:r>
            <a:r>
              <a:rPr lang="ko-KR" altLang="en-US" sz="1100" dirty="0">
                <a:solidFill>
                  <a:schemeClr val="bg1">
                    <a:lumMod val="85000"/>
                  </a:schemeClr>
                </a:solidFill>
              </a:rPr>
              <a:t>보정의 적법성</a:t>
            </a:r>
          </a:p>
        </p:txBody>
      </p:sp>
      <p:cxnSp>
        <p:nvCxnSpPr>
          <p:cNvPr id="8" name="꺾인 연결선 7"/>
          <p:cNvCxnSpPr>
            <a:cxnSpLocks/>
            <a:stCxn id="6" idx="3"/>
            <a:endCxn id="126" idx="2"/>
          </p:cNvCxnSpPr>
          <p:nvPr/>
        </p:nvCxnSpPr>
        <p:spPr>
          <a:xfrm flipV="1">
            <a:off x="4088921" y="2489259"/>
            <a:ext cx="825686" cy="1200739"/>
          </a:xfrm>
          <a:prstGeom prst="bentConnector2">
            <a:avLst/>
          </a:prstGeom>
          <a:ln w="28575">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3" name="직사각형 52"/>
          <p:cNvSpPr/>
          <p:nvPr/>
        </p:nvSpPr>
        <p:spPr>
          <a:xfrm>
            <a:off x="4088921" y="3643746"/>
            <a:ext cx="2735755" cy="5350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solidFill>
              </a:rPr>
              <a:t>특허출원서에 첨부된 명세서</a:t>
            </a:r>
            <a:r>
              <a:rPr lang="en-US" altLang="ko-KR" sz="1200" dirty="0">
                <a:solidFill>
                  <a:schemeClr val="tx1"/>
                </a:solidFill>
              </a:rPr>
              <a:t>, </a:t>
            </a:r>
            <a:r>
              <a:rPr lang="ko-KR" altLang="en-US" sz="1200" dirty="0">
                <a:solidFill>
                  <a:schemeClr val="tx1"/>
                </a:solidFill>
              </a:rPr>
              <a:t>도면 또는 </a:t>
            </a:r>
            <a:r>
              <a:rPr lang="ko-KR" altLang="en-US" sz="1200" dirty="0" err="1">
                <a:solidFill>
                  <a:schemeClr val="tx1"/>
                </a:solidFill>
              </a:rPr>
              <a:t>요약서에</a:t>
            </a:r>
            <a:r>
              <a:rPr lang="ko-KR" altLang="en-US" sz="1200" dirty="0">
                <a:solidFill>
                  <a:schemeClr val="tx1"/>
                </a:solidFill>
              </a:rPr>
              <a:t> 적힌 사항이 명백히 잘못된 경우 </a:t>
            </a:r>
          </a:p>
        </p:txBody>
      </p:sp>
      <p:sp>
        <p:nvSpPr>
          <p:cNvPr id="57" name="직사각형 56"/>
          <p:cNvSpPr/>
          <p:nvPr/>
        </p:nvSpPr>
        <p:spPr>
          <a:xfrm>
            <a:off x="3000129" y="3487918"/>
            <a:ext cx="364983" cy="451656"/>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❷</a:t>
            </a:r>
          </a:p>
        </p:txBody>
      </p:sp>
      <p:sp>
        <p:nvSpPr>
          <p:cNvPr id="5" name="슬라이드 번호 개체 틀 4"/>
          <p:cNvSpPr>
            <a:spLocks noGrp="1"/>
          </p:cNvSpPr>
          <p:nvPr>
            <p:ph type="sldNum" sz="quarter" idx="12"/>
          </p:nvPr>
        </p:nvSpPr>
        <p:spPr/>
        <p:txBody>
          <a:bodyPr/>
          <a:lstStyle/>
          <a:p>
            <a:r>
              <a:rPr lang="en-US" altLang="ko-KR"/>
              <a:t>268</a:t>
            </a:r>
            <a:endParaRPr lang="ko-KR" altLang="en-US" dirty="0"/>
          </a:p>
        </p:txBody>
      </p:sp>
      <p:sp>
        <p:nvSpPr>
          <p:cNvPr id="78" name="직사각형 77">
            <a:extLst>
              <a:ext uri="{FF2B5EF4-FFF2-40B4-BE49-F238E27FC236}">
                <a16:creationId xmlns:a16="http://schemas.microsoft.com/office/drawing/2014/main" id="{1C9C65E8-0046-4464-A042-74CD1AF4498B}"/>
              </a:ext>
            </a:extLst>
          </p:cNvPr>
          <p:cNvSpPr/>
          <p:nvPr/>
        </p:nvSpPr>
        <p:spPr>
          <a:xfrm>
            <a:off x="2987551" y="6026477"/>
            <a:ext cx="1101370" cy="570349"/>
          </a:xfrm>
          <a:prstGeom prst="rect">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9" name="직선 화살표 연결선 78">
            <a:extLst>
              <a:ext uri="{FF2B5EF4-FFF2-40B4-BE49-F238E27FC236}">
                <a16:creationId xmlns:a16="http://schemas.microsoft.com/office/drawing/2014/main" id="{4E5ADE14-4A99-4992-BB30-4AADED29EF51}"/>
              </a:ext>
            </a:extLst>
          </p:cNvPr>
          <p:cNvCxnSpPr/>
          <p:nvPr/>
        </p:nvCxnSpPr>
        <p:spPr>
          <a:xfrm>
            <a:off x="1003596" y="5266168"/>
            <a:ext cx="965835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8538DCC1-2A58-413A-B84A-E9C82BF9E720}"/>
              </a:ext>
            </a:extLst>
          </p:cNvPr>
          <p:cNvSpPr/>
          <p:nvPr/>
        </p:nvSpPr>
        <p:spPr>
          <a:xfrm>
            <a:off x="772664" y="5053288"/>
            <a:ext cx="767463" cy="425759"/>
          </a:xfrm>
          <a:prstGeom prst="rect">
            <a:avLst/>
          </a:prstGeom>
          <a:solidFill>
            <a:schemeClr val="tx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p>
        </p:txBody>
      </p:sp>
      <p:sp>
        <p:nvSpPr>
          <p:cNvPr id="81" name="직사각형 80">
            <a:extLst>
              <a:ext uri="{FF2B5EF4-FFF2-40B4-BE49-F238E27FC236}">
                <a16:creationId xmlns:a16="http://schemas.microsoft.com/office/drawing/2014/main" id="{00E78999-FED3-485F-B6A4-03B2087B9C08}"/>
              </a:ext>
            </a:extLst>
          </p:cNvPr>
          <p:cNvSpPr/>
          <p:nvPr/>
        </p:nvSpPr>
        <p:spPr>
          <a:xfrm>
            <a:off x="2115870" y="4794401"/>
            <a:ext cx="646040" cy="21288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1</a:t>
            </a:r>
            <a:endParaRPr lang="ko-KR" altLang="en-US" sz="1200" dirty="0">
              <a:solidFill>
                <a:schemeClr val="tx1"/>
              </a:solidFill>
            </a:endParaRPr>
          </a:p>
        </p:txBody>
      </p:sp>
      <p:cxnSp>
        <p:nvCxnSpPr>
          <p:cNvPr id="82" name="직선 화살표 연결선 81">
            <a:extLst>
              <a:ext uri="{FF2B5EF4-FFF2-40B4-BE49-F238E27FC236}">
                <a16:creationId xmlns:a16="http://schemas.microsoft.com/office/drawing/2014/main" id="{9733300F-548F-406C-9896-D4E3D55D662F}"/>
              </a:ext>
            </a:extLst>
          </p:cNvPr>
          <p:cNvCxnSpPr>
            <a:stCxn id="81" idx="2"/>
          </p:cNvCxnSpPr>
          <p:nvPr/>
        </p:nvCxnSpPr>
        <p:spPr>
          <a:xfrm>
            <a:off x="2438890" y="5007281"/>
            <a:ext cx="7428" cy="26284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3" name="직사각형 82">
            <a:extLst>
              <a:ext uri="{FF2B5EF4-FFF2-40B4-BE49-F238E27FC236}">
                <a16:creationId xmlns:a16="http://schemas.microsoft.com/office/drawing/2014/main" id="{D4FACCF6-0C3C-4042-A5A7-A4CAC30B4B92}"/>
              </a:ext>
            </a:extLst>
          </p:cNvPr>
          <p:cNvSpPr/>
          <p:nvPr/>
        </p:nvSpPr>
        <p:spPr>
          <a:xfrm>
            <a:off x="2584877" y="5156720"/>
            <a:ext cx="693430" cy="21288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최초</a:t>
            </a:r>
          </a:p>
        </p:txBody>
      </p:sp>
      <p:sp>
        <p:nvSpPr>
          <p:cNvPr id="84" name="직사각형 83">
            <a:extLst>
              <a:ext uri="{FF2B5EF4-FFF2-40B4-BE49-F238E27FC236}">
                <a16:creationId xmlns:a16="http://schemas.microsoft.com/office/drawing/2014/main" id="{390247EF-1AA7-4D3F-9D51-39905CAEF6C9}"/>
              </a:ext>
            </a:extLst>
          </p:cNvPr>
          <p:cNvSpPr/>
          <p:nvPr/>
        </p:nvSpPr>
        <p:spPr>
          <a:xfrm>
            <a:off x="3194081" y="5619628"/>
            <a:ext cx="746998" cy="21288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2</a:t>
            </a:r>
            <a:endParaRPr lang="ko-KR" altLang="en-US" sz="1200" dirty="0">
              <a:solidFill>
                <a:schemeClr val="tx1"/>
              </a:solidFill>
            </a:endParaRPr>
          </a:p>
        </p:txBody>
      </p:sp>
      <p:cxnSp>
        <p:nvCxnSpPr>
          <p:cNvPr id="85" name="직선 화살표 연결선 84">
            <a:extLst>
              <a:ext uri="{FF2B5EF4-FFF2-40B4-BE49-F238E27FC236}">
                <a16:creationId xmlns:a16="http://schemas.microsoft.com/office/drawing/2014/main" id="{494654E8-B45B-4E04-998D-BDF147C0B0AA}"/>
              </a:ext>
            </a:extLst>
          </p:cNvPr>
          <p:cNvCxnSpPr>
            <a:stCxn id="84" idx="0"/>
          </p:cNvCxnSpPr>
          <p:nvPr/>
        </p:nvCxnSpPr>
        <p:spPr>
          <a:xfrm flipH="1" flipV="1">
            <a:off x="3565815" y="5263160"/>
            <a:ext cx="1765" cy="35646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4F78DD1F-5FDD-4E26-ACDF-FEF5D1DC02D2}"/>
              </a:ext>
            </a:extLst>
          </p:cNvPr>
          <p:cNvSpPr/>
          <p:nvPr/>
        </p:nvSpPr>
        <p:spPr>
          <a:xfrm>
            <a:off x="3679986" y="4794401"/>
            <a:ext cx="646040" cy="21288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2</a:t>
            </a:r>
            <a:endParaRPr lang="ko-KR" altLang="en-US" sz="1200" dirty="0">
              <a:solidFill>
                <a:schemeClr val="tx1"/>
              </a:solidFill>
            </a:endParaRPr>
          </a:p>
        </p:txBody>
      </p:sp>
      <p:cxnSp>
        <p:nvCxnSpPr>
          <p:cNvPr id="87" name="직선 화살표 연결선 86">
            <a:extLst>
              <a:ext uri="{FF2B5EF4-FFF2-40B4-BE49-F238E27FC236}">
                <a16:creationId xmlns:a16="http://schemas.microsoft.com/office/drawing/2014/main" id="{09E07BD4-07AD-413E-9BF8-EC23C5CCC074}"/>
              </a:ext>
            </a:extLst>
          </p:cNvPr>
          <p:cNvCxnSpPr>
            <a:stCxn id="86" idx="2"/>
          </p:cNvCxnSpPr>
          <p:nvPr/>
        </p:nvCxnSpPr>
        <p:spPr>
          <a:xfrm>
            <a:off x="4003006" y="5007281"/>
            <a:ext cx="7428" cy="26284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8" name="직사각형 87">
            <a:extLst>
              <a:ext uri="{FF2B5EF4-FFF2-40B4-BE49-F238E27FC236}">
                <a16:creationId xmlns:a16="http://schemas.microsoft.com/office/drawing/2014/main" id="{CE1FB8FC-024A-4454-9578-1611C1F2AB89}"/>
              </a:ext>
            </a:extLst>
          </p:cNvPr>
          <p:cNvSpPr/>
          <p:nvPr/>
        </p:nvSpPr>
        <p:spPr>
          <a:xfrm>
            <a:off x="1569706" y="5619628"/>
            <a:ext cx="746998" cy="21288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1</a:t>
            </a:r>
            <a:endParaRPr lang="ko-KR" altLang="en-US" sz="1200" dirty="0">
              <a:solidFill>
                <a:schemeClr val="tx1"/>
              </a:solidFill>
            </a:endParaRPr>
          </a:p>
        </p:txBody>
      </p:sp>
      <p:cxnSp>
        <p:nvCxnSpPr>
          <p:cNvPr id="89" name="직선 화살표 연결선 88">
            <a:extLst>
              <a:ext uri="{FF2B5EF4-FFF2-40B4-BE49-F238E27FC236}">
                <a16:creationId xmlns:a16="http://schemas.microsoft.com/office/drawing/2014/main" id="{29720673-DE7C-4A04-8B50-18AFDE607192}"/>
              </a:ext>
            </a:extLst>
          </p:cNvPr>
          <p:cNvCxnSpPr>
            <a:stCxn id="88" idx="0"/>
          </p:cNvCxnSpPr>
          <p:nvPr/>
        </p:nvCxnSpPr>
        <p:spPr>
          <a:xfrm flipH="1" flipV="1">
            <a:off x="1941440" y="5263160"/>
            <a:ext cx="1765" cy="35646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0" name="직사각형 89">
            <a:extLst>
              <a:ext uri="{FF2B5EF4-FFF2-40B4-BE49-F238E27FC236}">
                <a16:creationId xmlns:a16="http://schemas.microsoft.com/office/drawing/2014/main" id="{4E433D7F-21A5-41C4-8DDF-B4D3836E19A5}"/>
              </a:ext>
            </a:extLst>
          </p:cNvPr>
          <p:cNvSpPr/>
          <p:nvPr/>
        </p:nvSpPr>
        <p:spPr>
          <a:xfrm>
            <a:off x="1549240" y="6179393"/>
            <a:ext cx="767464" cy="21288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42③Ⅰ</a:t>
            </a:r>
            <a:endParaRPr lang="ko-KR" altLang="en-US" sz="1050" dirty="0">
              <a:solidFill>
                <a:schemeClr val="tx1"/>
              </a:solidFill>
            </a:endParaRPr>
          </a:p>
        </p:txBody>
      </p:sp>
      <p:cxnSp>
        <p:nvCxnSpPr>
          <p:cNvPr id="101" name="꺾인 연결선 115">
            <a:extLst>
              <a:ext uri="{FF2B5EF4-FFF2-40B4-BE49-F238E27FC236}">
                <a16:creationId xmlns:a16="http://schemas.microsoft.com/office/drawing/2014/main" id="{CDEA87AB-C000-495D-A205-AAD60D4113DE}"/>
              </a:ext>
            </a:extLst>
          </p:cNvPr>
          <p:cNvCxnSpPr>
            <a:stCxn id="90" idx="3"/>
            <a:endCxn id="83" idx="2"/>
          </p:cNvCxnSpPr>
          <p:nvPr/>
        </p:nvCxnSpPr>
        <p:spPr>
          <a:xfrm flipV="1">
            <a:off x="2316704" y="5369600"/>
            <a:ext cx="614888" cy="916233"/>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6" name="직사각형 105">
            <a:extLst>
              <a:ext uri="{FF2B5EF4-FFF2-40B4-BE49-F238E27FC236}">
                <a16:creationId xmlns:a16="http://schemas.microsoft.com/office/drawing/2014/main" id="{3966D017-F633-4BC9-B988-301B0B076336}"/>
              </a:ext>
            </a:extLst>
          </p:cNvPr>
          <p:cNvSpPr/>
          <p:nvPr/>
        </p:nvSpPr>
        <p:spPr>
          <a:xfrm>
            <a:off x="4420399" y="5047271"/>
            <a:ext cx="988415" cy="431775"/>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특허결정</a:t>
            </a:r>
            <a:r>
              <a:rPr lang="en-US" altLang="ko-KR" sz="1200" dirty="0">
                <a:solidFill>
                  <a:schemeClr val="bg1"/>
                </a:solidFill>
              </a:rPr>
              <a:t>+</a:t>
            </a:r>
          </a:p>
          <a:p>
            <a:pPr algn="ctr"/>
            <a:r>
              <a:rPr lang="ko-KR" altLang="en-US" sz="1200" dirty="0">
                <a:solidFill>
                  <a:schemeClr val="bg1"/>
                </a:solidFill>
              </a:rPr>
              <a:t>직권보정</a:t>
            </a:r>
          </a:p>
        </p:txBody>
      </p:sp>
      <p:sp>
        <p:nvSpPr>
          <p:cNvPr id="107" name="직사각형 106">
            <a:extLst>
              <a:ext uri="{FF2B5EF4-FFF2-40B4-BE49-F238E27FC236}">
                <a16:creationId xmlns:a16="http://schemas.microsoft.com/office/drawing/2014/main" id="{16293C32-C86B-487D-873F-7D2E17085DA1}"/>
              </a:ext>
            </a:extLst>
          </p:cNvPr>
          <p:cNvSpPr/>
          <p:nvPr/>
        </p:nvSpPr>
        <p:spPr>
          <a:xfrm>
            <a:off x="6657339" y="5047273"/>
            <a:ext cx="1288649" cy="431775"/>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err="1">
                <a:solidFill>
                  <a:schemeClr val="bg1"/>
                </a:solidFill>
              </a:rPr>
              <a:t>특허결정</a:t>
            </a:r>
            <a:r>
              <a:rPr lang="ko-KR" altLang="en-US" sz="1200" dirty="0">
                <a:solidFill>
                  <a:schemeClr val="bg1"/>
                </a:solidFill>
              </a:rPr>
              <a:t> 취소</a:t>
            </a:r>
            <a:r>
              <a:rPr lang="en-US" altLang="ko-KR" sz="1200" dirty="0">
                <a:solidFill>
                  <a:schemeClr val="bg1"/>
                </a:solidFill>
              </a:rPr>
              <a:t>+</a:t>
            </a:r>
          </a:p>
          <a:p>
            <a:pPr algn="ctr"/>
            <a:r>
              <a:rPr lang="ko-KR" altLang="en-US" sz="1200" dirty="0" err="1">
                <a:solidFill>
                  <a:schemeClr val="bg1"/>
                </a:solidFill>
              </a:rPr>
              <a:t>직권보정</a:t>
            </a:r>
            <a:r>
              <a:rPr lang="ko-KR" altLang="en-US" sz="1200" dirty="0">
                <a:solidFill>
                  <a:schemeClr val="bg1"/>
                </a:solidFill>
              </a:rPr>
              <a:t> 취소</a:t>
            </a:r>
          </a:p>
        </p:txBody>
      </p:sp>
      <p:sp>
        <p:nvSpPr>
          <p:cNvPr id="110" name="직사각형 109">
            <a:extLst>
              <a:ext uri="{FF2B5EF4-FFF2-40B4-BE49-F238E27FC236}">
                <a16:creationId xmlns:a16="http://schemas.microsoft.com/office/drawing/2014/main" id="{25EA5429-812C-4CB2-BBB7-0C84322753D6}"/>
              </a:ext>
            </a:extLst>
          </p:cNvPr>
          <p:cNvSpPr/>
          <p:nvPr/>
        </p:nvSpPr>
        <p:spPr>
          <a:xfrm>
            <a:off x="5620743" y="5721340"/>
            <a:ext cx="746998" cy="367534"/>
          </a:xfrm>
          <a:prstGeom prst="rect">
            <a:avLst/>
          </a:prstGeom>
          <a:solidFill>
            <a:schemeClr val="bg1">
              <a:lumMod val="6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의견서 제출</a:t>
            </a:r>
            <a:endParaRPr lang="ko-KR" altLang="en-US" sz="1200" dirty="0">
              <a:solidFill>
                <a:schemeClr val="tx1"/>
              </a:solidFill>
            </a:endParaRPr>
          </a:p>
        </p:txBody>
      </p:sp>
      <p:cxnSp>
        <p:nvCxnSpPr>
          <p:cNvPr id="111" name="직선 화살표 연결선 110">
            <a:extLst>
              <a:ext uri="{FF2B5EF4-FFF2-40B4-BE49-F238E27FC236}">
                <a16:creationId xmlns:a16="http://schemas.microsoft.com/office/drawing/2014/main" id="{2C0B90E6-0E48-4620-9647-B3AB5E475E9C}"/>
              </a:ext>
            </a:extLst>
          </p:cNvPr>
          <p:cNvCxnSpPr>
            <a:stCxn id="110" idx="0"/>
          </p:cNvCxnSpPr>
          <p:nvPr/>
        </p:nvCxnSpPr>
        <p:spPr>
          <a:xfrm flipH="1" flipV="1">
            <a:off x="5992477" y="5280142"/>
            <a:ext cx="1765" cy="44119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2" name="직사각형 111">
            <a:extLst>
              <a:ext uri="{FF2B5EF4-FFF2-40B4-BE49-F238E27FC236}">
                <a16:creationId xmlns:a16="http://schemas.microsoft.com/office/drawing/2014/main" id="{F487F9DC-1390-430E-972D-39AE89A0A38A}"/>
              </a:ext>
            </a:extLst>
          </p:cNvPr>
          <p:cNvSpPr/>
          <p:nvPr/>
        </p:nvSpPr>
        <p:spPr>
          <a:xfrm>
            <a:off x="8212421" y="5436111"/>
            <a:ext cx="1000384" cy="212880"/>
          </a:xfrm>
          <a:prstGeom prst="rect">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심사</a:t>
            </a:r>
            <a:r>
              <a:rPr lang="en-US" altLang="ko-KR" sz="1200" dirty="0">
                <a:solidFill>
                  <a:schemeClr val="bg1"/>
                </a:solidFill>
              </a:rPr>
              <a:t>3</a:t>
            </a:r>
            <a:endParaRPr lang="ko-KR" altLang="en-US" sz="1200" dirty="0">
              <a:solidFill>
                <a:schemeClr val="bg1"/>
              </a:solidFill>
            </a:endParaRPr>
          </a:p>
        </p:txBody>
      </p:sp>
      <p:cxnSp>
        <p:nvCxnSpPr>
          <p:cNvPr id="117" name="직선 화살표 연결선 116">
            <a:extLst>
              <a:ext uri="{FF2B5EF4-FFF2-40B4-BE49-F238E27FC236}">
                <a16:creationId xmlns:a16="http://schemas.microsoft.com/office/drawing/2014/main" id="{92182DC6-B323-4D8C-A8B9-E9925DD540C5}"/>
              </a:ext>
            </a:extLst>
          </p:cNvPr>
          <p:cNvCxnSpPr>
            <a:cxnSpLocks/>
            <a:stCxn id="112" idx="0"/>
          </p:cNvCxnSpPr>
          <p:nvPr/>
        </p:nvCxnSpPr>
        <p:spPr>
          <a:xfrm flipV="1">
            <a:off x="8712613" y="5263160"/>
            <a:ext cx="0" cy="17295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8" name="직사각형 117">
            <a:extLst>
              <a:ext uri="{FF2B5EF4-FFF2-40B4-BE49-F238E27FC236}">
                <a16:creationId xmlns:a16="http://schemas.microsoft.com/office/drawing/2014/main" id="{0D84E1DF-E536-4371-9DAE-E5535CF95D6E}"/>
              </a:ext>
            </a:extLst>
          </p:cNvPr>
          <p:cNvSpPr/>
          <p:nvPr/>
        </p:nvSpPr>
        <p:spPr>
          <a:xfrm>
            <a:off x="8202976" y="5757233"/>
            <a:ext cx="2393394" cy="311929"/>
          </a:xfrm>
          <a:prstGeom prst="rect">
            <a:avLst/>
          </a:prstGeom>
          <a:ln>
            <a:solidFill>
              <a:schemeClr val="bg1">
                <a:lumMod val="50000"/>
              </a:schemeClr>
            </a:solidFill>
          </a:ln>
        </p:spPr>
        <p:txBody>
          <a:bodyPr wrap="square">
            <a:noAutofit/>
          </a:bodyPr>
          <a:lstStyle/>
          <a:p>
            <a:pPr fontAlgn="base"/>
            <a:r>
              <a:rPr lang="ko-KR" altLang="en-US" sz="1400" kern="0" dirty="0">
                <a:solidFill>
                  <a:srgbClr val="FF0000"/>
                </a:solidFill>
                <a:latin typeface="+mn-ea"/>
              </a:rPr>
              <a:t>❶ 발견</a:t>
            </a:r>
            <a:r>
              <a:rPr lang="en-US" altLang="ko-KR" sz="1400" kern="0" dirty="0">
                <a:solidFill>
                  <a:srgbClr val="FF0000"/>
                </a:solidFill>
                <a:latin typeface="+mn-ea"/>
              </a:rPr>
              <a:t>: </a:t>
            </a:r>
            <a:r>
              <a:rPr lang="ko-KR" altLang="en-US" sz="1400" kern="0" dirty="0">
                <a:solidFill>
                  <a:srgbClr val="FF0000"/>
                </a:solidFill>
                <a:latin typeface="+mn-ea"/>
              </a:rPr>
              <a:t>거절결정</a:t>
            </a:r>
            <a:r>
              <a:rPr lang="en-US" altLang="ko-KR" sz="1400" kern="0" dirty="0">
                <a:solidFill>
                  <a:srgbClr val="FF0000"/>
                </a:solidFill>
                <a:latin typeface="+mn-ea"/>
              </a:rPr>
              <a:t> </a:t>
            </a:r>
          </a:p>
        </p:txBody>
      </p:sp>
      <p:cxnSp>
        <p:nvCxnSpPr>
          <p:cNvPr id="129" name="꺾인 연결선 7">
            <a:extLst>
              <a:ext uri="{FF2B5EF4-FFF2-40B4-BE49-F238E27FC236}">
                <a16:creationId xmlns:a16="http://schemas.microsoft.com/office/drawing/2014/main" id="{3E189C6E-C08B-4A6D-A97D-143497DC5EC4}"/>
              </a:ext>
            </a:extLst>
          </p:cNvPr>
          <p:cNvCxnSpPr>
            <a:cxnSpLocks/>
            <a:stCxn id="78" idx="3"/>
            <a:endCxn id="106" idx="2"/>
          </p:cNvCxnSpPr>
          <p:nvPr/>
        </p:nvCxnSpPr>
        <p:spPr>
          <a:xfrm flipV="1">
            <a:off x="4088921" y="5479046"/>
            <a:ext cx="825686" cy="832606"/>
          </a:xfrm>
          <a:prstGeom prst="bentConnector2">
            <a:avLst/>
          </a:prstGeom>
          <a:ln w="28575">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0" name="직사각형 129">
            <a:extLst>
              <a:ext uri="{FF2B5EF4-FFF2-40B4-BE49-F238E27FC236}">
                <a16:creationId xmlns:a16="http://schemas.microsoft.com/office/drawing/2014/main" id="{F8758BC8-E895-4DE1-8D96-8E6D726E9B01}"/>
              </a:ext>
            </a:extLst>
          </p:cNvPr>
          <p:cNvSpPr/>
          <p:nvPr/>
        </p:nvSpPr>
        <p:spPr>
          <a:xfrm>
            <a:off x="4040936" y="6314296"/>
            <a:ext cx="2735755" cy="5350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solidFill>
              </a:rPr>
              <a:t>특허출원서에 첨부된 명세서</a:t>
            </a:r>
            <a:r>
              <a:rPr lang="en-US" altLang="ko-KR" sz="1200" dirty="0">
                <a:solidFill>
                  <a:schemeClr val="tx1"/>
                </a:solidFill>
              </a:rPr>
              <a:t>, </a:t>
            </a:r>
            <a:r>
              <a:rPr lang="ko-KR" altLang="en-US" sz="1200" dirty="0">
                <a:solidFill>
                  <a:schemeClr val="tx1"/>
                </a:solidFill>
              </a:rPr>
              <a:t>도면 또는 </a:t>
            </a:r>
            <a:r>
              <a:rPr lang="ko-KR" altLang="en-US" sz="1200" dirty="0" err="1">
                <a:solidFill>
                  <a:schemeClr val="tx1"/>
                </a:solidFill>
              </a:rPr>
              <a:t>요약서에</a:t>
            </a:r>
            <a:r>
              <a:rPr lang="ko-KR" altLang="en-US" sz="1200" dirty="0">
                <a:solidFill>
                  <a:schemeClr val="tx1"/>
                </a:solidFill>
              </a:rPr>
              <a:t> 적힌 사항이 명백히 잘못된 경우 </a:t>
            </a:r>
          </a:p>
        </p:txBody>
      </p:sp>
      <p:sp>
        <p:nvSpPr>
          <p:cNvPr id="132" name="직사각형 131">
            <a:extLst>
              <a:ext uri="{FF2B5EF4-FFF2-40B4-BE49-F238E27FC236}">
                <a16:creationId xmlns:a16="http://schemas.microsoft.com/office/drawing/2014/main" id="{44677A46-62B5-405C-B075-D05FC8F5C3F6}"/>
              </a:ext>
            </a:extLst>
          </p:cNvPr>
          <p:cNvSpPr/>
          <p:nvPr/>
        </p:nvSpPr>
        <p:spPr>
          <a:xfrm>
            <a:off x="3183899" y="6179393"/>
            <a:ext cx="767464" cy="21288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42③Ⅰ</a:t>
            </a:r>
            <a:endParaRPr lang="ko-KR" altLang="en-US" sz="1050" dirty="0">
              <a:solidFill>
                <a:schemeClr val="tx1"/>
              </a:solidFill>
            </a:endParaRPr>
          </a:p>
        </p:txBody>
      </p:sp>
      <p:sp>
        <p:nvSpPr>
          <p:cNvPr id="134" name="직사각형 133">
            <a:extLst>
              <a:ext uri="{FF2B5EF4-FFF2-40B4-BE49-F238E27FC236}">
                <a16:creationId xmlns:a16="http://schemas.microsoft.com/office/drawing/2014/main" id="{F2413139-8A90-46E4-9EAA-36CF7C2E4A8F}"/>
              </a:ext>
            </a:extLst>
          </p:cNvPr>
          <p:cNvSpPr/>
          <p:nvPr/>
        </p:nvSpPr>
        <p:spPr>
          <a:xfrm>
            <a:off x="2974635" y="6097315"/>
            <a:ext cx="415969" cy="451656"/>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❶</a:t>
            </a:r>
          </a:p>
        </p:txBody>
      </p:sp>
      <p:cxnSp>
        <p:nvCxnSpPr>
          <p:cNvPr id="18" name="직선 연결선 17">
            <a:extLst>
              <a:ext uri="{FF2B5EF4-FFF2-40B4-BE49-F238E27FC236}">
                <a16:creationId xmlns:a16="http://schemas.microsoft.com/office/drawing/2014/main" id="{946D031E-699E-47B4-9BD5-C3610F05EFF3}"/>
              </a:ext>
            </a:extLst>
          </p:cNvPr>
          <p:cNvCxnSpPr/>
          <p:nvPr/>
        </p:nvCxnSpPr>
        <p:spPr>
          <a:xfrm>
            <a:off x="0" y="4732896"/>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직사각형 8">
            <a:extLst>
              <a:ext uri="{FF2B5EF4-FFF2-40B4-BE49-F238E27FC236}">
                <a16:creationId xmlns:a16="http://schemas.microsoft.com/office/drawing/2014/main" id="{22EF2A82-21C5-362E-5D34-1EFE424476AB}"/>
              </a:ext>
            </a:extLst>
          </p:cNvPr>
          <p:cNvSpPr/>
          <p:nvPr/>
        </p:nvSpPr>
        <p:spPr>
          <a:xfrm>
            <a:off x="1335024" y="2901437"/>
            <a:ext cx="392200"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❹</a:t>
            </a:r>
          </a:p>
        </p:txBody>
      </p:sp>
    </p:spTree>
    <p:extLst>
      <p:ext uri="{BB962C8B-B14F-4D97-AF65-F5344CB8AC3E}">
        <p14:creationId xmlns:p14="http://schemas.microsoft.com/office/powerpoint/2010/main" val="3974764109"/>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직사각형 5"/>
          <p:cNvSpPr/>
          <p:nvPr/>
        </p:nvSpPr>
        <p:spPr>
          <a:xfrm>
            <a:off x="4742916" y="5122740"/>
            <a:ext cx="1306862" cy="1038778"/>
          </a:xfrm>
          <a:prstGeom prst="rect">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5" name="직선 화살표 연결선 124"/>
          <p:cNvCxnSpPr/>
          <p:nvPr/>
        </p:nvCxnSpPr>
        <p:spPr>
          <a:xfrm>
            <a:off x="1003596" y="2982913"/>
            <a:ext cx="965835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66</a:t>
            </a:r>
            <a:r>
              <a:rPr lang="ko-KR" altLang="en-US" dirty="0"/>
              <a:t>조의</a:t>
            </a:r>
            <a:r>
              <a:rPr lang="en-US" altLang="ko-KR" dirty="0"/>
              <a:t>2</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a:t>직권보정 후 심사진행 </a:t>
            </a:r>
            <a:r>
              <a:rPr lang="en-US" altLang="ko-KR" dirty="0"/>
              <a:t>CASE</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91" name="직사각형 90"/>
          <p:cNvSpPr/>
          <p:nvPr/>
        </p:nvSpPr>
        <p:spPr>
          <a:xfrm>
            <a:off x="772664" y="2730500"/>
            <a:ext cx="767463" cy="504825"/>
          </a:xfrm>
          <a:prstGeom prst="rect">
            <a:avLst/>
          </a:prstGeom>
          <a:solidFill>
            <a:schemeClr val="tx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p>
        </p:txBody>
      </p:sp>
      <p:sp>
        <p:nvSpPr>
          <p:cNvPr id="93" name="직사각형 92"/>
          <p:cNvSpPr/>
          <p:nvPr/>
        </p:nvSpPr>
        <p:spPr>
          <a:xfrm>
            <a:off x="2115870" y="240227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1</a:t>
            </a:r>
            <a:endParaRPr lang="ko-KR" altLang="en-US" sz="1200" dirty="0">
              <a:solidFill>
                <a:schemeClr val="tx1"/>
              </a:solidFill>
            </a:endParaRPr>
          </a:p>
        </p:txBody>
      </p:sp>
      <p:cxnSp>
        <p:nvCxnSpPr>
          <p:cNvPr id="94" name="직선 화살표 연결선 93"/>
          <p:cNvCxnSpPr>
            <a:stCxn id="93" idx="2"/>
          </p:cNvCxnSpPr>
          <p:nvPr/>
        </p:nvCxnSpPr>
        <p:spPr>
          <a:xfrm>
            <a:off x="2438890" y="265469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5" name="직사각형 94"/>
          <p:cNvSpPr/>
          <p:nvPr/>
        </p:nvSpPr>
        <p:spPr>
          <a:xfrm>
            <a:off x="2584877" y="2853140"/>
            <a:ext cx="693430"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최초</a:t>
            </a:r>
          </a:p>
        </p:txBody>
      </p:sp>
      <p:sp>
        <p:nvSpPr>
          <p:cNvPr id="96" name="직사각형 95"/>
          <p:cNvSpPr/>
          <p:nvPr/>
        </p:nvSpPr>
        <p:spPr>
          <a:xfrm>
            <a:off x="3194081" y="3402012"/>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2</a:t>
            </a:r>
            <a:endParaRPr lang="ko-KR" altLang="en-US" sz="1200" dirty="0">
              <a:solidFill>
                <a:schemeClr val="tx1"/>
              </a:solidFill>
            </a:endParaRPr>
          </a:p>
        </p:txBody>
      </p:sp>
      <p:cxnSp>
        <p:nvCxnSpPr>
          <p:cNvPr id="97" name="직선 화살표 연결선 96"/>
          <p:cNvCxnSpPr>
            <a:stCxn id="96" idx="0"/>
          </p:cNvCxnSpPr>
          <p:nvPr/>
        </p:nvCxnSpPr>
        <p:spPr>
          <a:xfrm flipH="1" flipV="1">
            <a:off x="3565815" y="297934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8" name="직사각형 97"/>
          <p:cNvSpPr/>
          <p:nvPr/>
        </p:nvSpPr>
        <p:spPr>
          <a:xfrm>
            <a:off x="3679986" y="240227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2</a:t>
            </a:r>
            <a:endParaRPr lang="ko-KR" altLang="en-US" sz="1200" dirty="0">
              <a:solidFill>
                <a:schemeClr val="tx1"/>
              </a:solidFill>
            </a:endParaRPr>
          </a:p>
        </p:txBody>
      </p:sp>
      <p:cxnSp>
        <p:nvCxnSpPr>
          <p:cNvPr id="99" name="직선 화살표 연결선 98"/>
          <p:cNvCxnSpPr>
            <a:stCxn id="98" idx="2"/>
          </p:cNvCxnSpPr>
          <p:nvPr/>
        </p:nvCxnSpPr>
        <p:spPr>
          <a:xfrm>
            <a:off x="4003006" y="265469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0" name="직사각형 99"/>
          <p:cNvSpPr/>
          <p:nvPr/>
        </p:nvSpPr>
        <p:spPr>
          <a:xfrm>
            <a:off x="4164410" y="2853140"/>
            <a:ext cx="783810"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최후</a:t>
            </a:r>
          </a:p>
        </p:txBody>
      </p:sp>
      <p:sp>
        <p:nvSpPr>
          <p:cNvPr id="103" name="직사각형 102"/>
          <p:cNvSpPr/>
          <p:nvPr/>
        </p:nvSpPr>
        <p:spPr>
          <a:xfrm>
            <a:off x="5007637" y="3402012"/>
            <a:ext cx="746998" cy="2524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3</a:t>
            </a:r>
            <a:endParaRPr lang="ko-KR" altLang="en-US" sz="1200" dirty="0">
              <a:solidFill>
                <a:schemeClr val="tx1"/>
              </a:solidFill>
            </a:endParaRPr>
          </a:p>
        </p:txBody>
      </p:sp>
      <p:cxnSp>
        <p:nvCxnSpPr>
          <p:cNvPr id="106" name="직선 화살표 연결선 105"/>
          <p:cNvCxnSpPr>
            <a:stCxn id="103" idx="0"/>
          </p:cNvCxnSpPr>
          <p:nvPr/>
        </p:nvCxnSpPr>
        <p:spPr>
          <a:xfrm flipH="1" flipV="1">
            <a:off x="5379371" y="297934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8" name="직사각형 107"/>
          <p:cNvSpPr/>
          <p:nvPr/>
        </p:nvSpPr>
        <p:spPr>
          <a:xfrm>
            <a:off x="1569706" y="3402012"/>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1</a:t>
            </a:r>
            <a:endParaRPr lang="ko-KR" altLang="en-US" sz="1200" dirty="0">
              <a:solidFill>
                <a:schemeClr val="tx1"/>
              </a:solidFill>
            </a:endParaRPr>
          </a:p>
        </p:txBody>
      </p:sp>
      <p:cxnSp>
        <p:nvCxnSpPr>
          <p:cNvPr id="109" name="직선 화살표 연결선 108"/>
          <p:cNvCxnSpPr>
            <a:stCxn id="108" idx="0"/>
          </p:cNvCxnSpPr>
          <p:nvPr/>
        </p:nvCxnSpPr>
        <p:spPr>
          <a:xfrm flipH="1" flipV="1">
            <a:off x="1941440" y="2979347"/>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p:cNvSpPr/>
          <p:nvPr/>
        </p:nvSpPr>
        <p:spPr>
          <a:xfrm>
            <a:off x="1549240" y="4065728"/>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42③Ⅰ</a:t>
            </a:r>
            <a:endParaRPr lang="ko-KR" altLang="en-US" sz="1050" dirty="0">
              <a:solidFill>
                <a:schemeClr val="tx1"/>
              </a:solidFill>
            </a:endParaRPr>
          </a:p>
        </p:txBody>
      </p:sp>
      <p:sp>
        <p:nvSpPr>
          <p:cNvPr id="114" name="직사각형 113"/>
          <p:cNvSpPr/>
          <p:nvPr/>
        </p:nvSpPr>
        <p:spPr>
          <a:xfrm>
            <a:off x="3194081" y="4068499"/>
            <a:ext cx="746998" cy="2524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p>
        </p:txBody>
      </p:sp>
      <p:sp>
        <p:nvSpPr>
          <p:cNvPr id="115" name="직사각형 114"/>
          <p:cNvSpPr/>
          <p:nvPr/>
        </p:nvSpPr>
        <p:spPr>
          <a:xfrm>
            <a:off x="3173615" y="4494353"/>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29②</a:t>
            </a:r>
            <a:endParaRPr lang="ko-KR" altLang="en-US" sz="1050" dirty="0">
              <a:solidFill>
                <a:schemeClr val="tx1"/>
              </a:solidFill>
              <a:latin typeface="+mn-ea"/>
            </a:endParaRPr>
          </a:p>
        </p:txBody>
      </p:sp>
      <p:cxnSp>
        <p:nvCxnSpPr>
          <p:cNvPr id="116" name="꺾인 연결선 115"/>
          <p:cNvCxnSpPr>
            <a:stCxn id="113" idx="3"/>
            <a:endCxn id="95" idx="2"/>
          </p:cNvCxnSpPr>
          <p:nvPr/>
        </p:nvCxnSpPr>
        <p:spPr>
          <a:xfrm flipV="1">
            <a:off x="2316704" y="3105553"/>
            <a:ext cx="614888" cy="1086382"/>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꺾인 연결선 116"/>
          <p:cNvCxnSpPr>
            <a:stCxn id="115" idx="3"/>
            <a:endCxn id="100" idx="2"/>
          </p:cNvCxnSpPr>
          <p:nvPr/>
        </p:nvCxnSpPr>
        <p:spPr>
          <a:xfrm flipV="1">
            <a:off x="3941079" y="3105553"/>
            <a:ext cx="615236" cy="1515007"/>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8" name="직사각형 117"/>
          <p:cNvSpPr/>
          <p:nvPr/>
        </p:nvSpPr>
        <p:spPr>
          <a:xfrm>
            <a:off x="5020109" y="5443210"/>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42④Ⅰ</a:t>
            </a:r>
            <a:endParaRPr lang="ko-KR" altLang="en-US" sz="1050" dirty="0">
              <a:solidFill>
                <a:schemeClr val="tx1"/>
              </a:solidFill>
              <a:latin typeface="+mn-ea"/>
            </a:endParaRPr>
          </a:p>
        </p:txBody>
      </p:sp>
      <p:sp>
        <p:nvSpPr>
          <p:cNvPr id="119" name="직사각형 118"/>
          <p:cNvSpPr/>
          <p:nvPr/>
        </p:nvSpPr>
        <p:spPr>
          <a:xfrm>
            <a:off x="1549240" y="4446450"/>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29①</a:t>
            </a:r>
            <a:endParaRPr lang="ko-KR" altLang="en-US" sz="1050" dirty="0">
              <a:solidFill>
                <a:schemeClr val="tx1"/>
              </a:solidFill>
              <a:latin typeface="+mn-ea"/>
            </a:endParaRPr>
          </a:p>
        </p:txBody>
      </p:sp>
      <p:sp>
        <p:nvSpPr>
          <p:cNvPr id="120" name="직사각형 119"/>
          <p:cNvSpPr/>
          <p:nvPr/>
        </p:nvSpPr>
        <p:spPr>
          <a:xfrm>
            <a:off x="3182621" y="4870327"/>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42⑧</a:t>
            </a:r>
            <a:endParaRPr lang="ko-KR" altLang="en-US" sz="1050" dirty="0">
              <a:solidFill>
                <a:schemeClr val="tx1"/>
              </a:solidFill>
              <a:latin typeface="+mn-ea"/>
            </a:endParaRPr>
          </a:p>
        </p:txBody>
      </p:sp>
      <p:sp>
        <p:nvSpPr>
          <p:cNvPr id="121" name="직사각형 120"/>
          <p:cNvSpPr/>
          <p:nvPr/>
        </p:nvSpPr>
        <p:spPr>
          <a:xfrm>
            <a:off x="4824009" y="5421699"/>
            <a:ext cx="392200"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❹</a:t>
            </a:r>
          </a:p>
        </p:txBody>
      </p:sp>
      <p:sp>
        <p:nvSpPr>
          <p:cNvPr id="122" name="직사각형 121"/>
          <p:cNvSpPr/>
          <p:nvPr/>
        </p:nvSpPr>
        <p:spPr>
          <a:xfrm>
            <a:off x="1335024" y="4389105"/>
            <a:ext cx="415969"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❶</a:t>
            </a:r>
          </a:p>
        </p:txBody>
      </p:sp>
      <p:sp>
        <p:nvSpPr>
          <p:cNvPr id="123" name="직사각형 122"/>
          <p:cNvSpPr/>
          <p:nvPr/>
        </p:nvSpPr>
        <p:spPr>
          <a:xfrm>
            <a:off x="2987552" y="4207453"/>
            <a:ext cx="364983"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❷</a:t>
            </a:r>
          </a:p>
        </p:txBody>
      </p:sp>
      <p:sp>
        <p:nvSpPr>
          <p:cNvPr id="124" name="직사각형 123"/>
          <p:cNvSpPr/>
          <p:nvPr/>
        </p:nvSpPr>
        <p:spPr>
          <a:xfrm>
            <a:off x="2987552" y="4395688"/>
            <a:ext cx="364983" cy="978729"/>
          </a:xfrm>
          <a:prstGeom prst="rect">
            <a:avLst/>
          </a:prstGeom>
        </p:spPr>
        <p:txBody>
          <a:bodyPr wrap="square">
            <a:spAutoFit/>
          </a:bodyPr>
          <a:lstStyle/>
          <a:p>
            <a:pPr algn="just" fontAlgn="base">
              <a:lnSpc>
                <a:spcPct val="160000"/>
              </a:lnSpc>
            </a:pPr>
            <a:endParaRPr lang="ko-KR" altLang="en-US" kern="0" dirty="0">
              <a:solidFill>
                <a:schemeClr val="accent2">
                  <a:lumMod val="50000"/>
                </a:schemeClr>
              </a:solidFill>
              <a:latin typeface="+mn-ea"/>
            </a:endParaRPr>
          </a:p>
          <a:p>
            <a:pPr algn="just" fontAlgn="base">
              <a:lnSpc>
                <a:spcPct val="160000"/>
              </a:lnSpc>
            </a:pPr>
            <a:r>
              <a:rPr lang="ko-KR" altLang="en-US" kern="0" dirty="0">
                <a:solidFill>
                  <a:schemeClr val="accent2">
                    <a:lumMod val="50000"/>
                  </a:schemeClr>
                </a:solidFill>
                <a:latin typeface="+mn-ea"/>
              </a:rPr>
              <a:t>❸</a:t>
            </a:r>
          </a:p>
        </p:txBody>
      </p:sp>
      <p:sp>
        <p:nvSpPr>
          <p:cNvPr id="126" name="직사각형 125"/>
          <p:cNvSpPr/>
          <p:nvPr/>
        </p:nvSpPr>
        <p:spPr>
          <a:xfrm>
            <a:off x="6471219" y="2723367"/>
            <a:ext cx="1000384" cy="511958"/>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특허결정</a:t>
            </a:r>
            <a:r>
              <a:rPr lang="en-US" altLang="ko-KR" sz="1200" dirty="0">
                <a:solidFill>
                  <a:schemeClr val="bg1"/>
                </a:solidFill>
              </a:rPr>
              <a:t>+</a:t>
            </a:r>
          </a:p>
          <a:p>
            <a:pPr algn="ctr"/>
            <a:r>
              <a:rPr lang="ko-KR" altLang="en-US" sz="1200" dirty="0" err="1">
                <a:solidFill>
                  <a:schemeClr val="bg1"/>
                </a:solidFill>
              </a:rPr>
              <a:t>직권보정</a:t>
            </a:r>
            <a:endParaRPr lang="ko-KR" altLang="en-US" sz="1200" dirty="0">
              <a:solidFill>
                <a:schemeClr val="bg1"/>
              </a:solidFill>
            </a:endParaRPr>
          </a:p>
        </p:txBody>
      </p:sp>
      <p:sp>
        <p:nvSpPr>
          <p:cNvPr id="137" name="직사각형 136"/>
          <p:cNvSpPr/>
          <p:nvPr/>
        </p:nvSpPr>
        <p:spPr>
          <a:xfrm>
            <a:off x="8063378" y="2723368"/>
            <a:ext cx="1183172" cy="511958"/>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bg1"/>
                </a:solidFill>
              </a:rPr>
              <a:t>특허결정</a:t>
            </a:r>
            <a:r>
              <a:rPr lang="ko-KR" altLang="en-US" sz="1200" dirty="0">
                <a:solidFill>
                  <a:schemeClr val="bg1"/>
                </a:solidFill>
              </a:rPr>
              <a:t> 취소</a:t>
            </a:r>
            <a:r>
              <a:rPr lang="en-US" altLang="ko-KR" sz="1200" dirty="0">
                <a:solidFill>
                  <a:schemeClr val="bg1"/>
                </a:solidFill>
              </a:rPr>
              <a:t>+</a:t>
            </a:r>
          </a:p>
          <a:p>
            <a:pPr algn="ctr"/>
            <a:r>
              <a:rPr lang="ko-KR" altLang="en-US" sz="1200" dirty="0" err="1">
                <a:solidFill>
                  <a:schemeClr val="bg1"/>
                </a:solidFill>
              </a:rPr>
              <a:t>직권보정</a:t>
            </a:r>
            <a:r>
              <a:rPr lang="ko-KR" altLang="en-US" sz="1200" dirty="0">
                <a:solidFill>
                  <a:schemeClr val="bg1"/>
                </a:solidFill>
              </a:rPr>
              <a:t> 취소</a:t>
            </a:r>
          </a:p>
        </p:txBody>
      </p:sp>
      <p:sp>
        <p:nvSpPr>
          <p:cNvPr id="144" name="직사각형 143"/>
          <p:cNvSpPr/>
          <p:nvPr/>
        </p:nvSpPr>
        <p:spPr>
          <a:xfrm>
            <a:off x="7389073" y="3522613"/>
            <a:ext cx="746998" cy="435787"/>
          </a:xfrm>
          <a:prstGeom prst="rect">
            <a:avLst/>
          </a:prstGeom>
          <a:solidFill>
            <a:schemeClr val="bg1">
              <a:lumMod val="6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의견서 제출</a:t>
            </a:r>
            <a:endParaRPr lang="ko-KR" altLang="en-US" sz="1200" dirty="0">
              <a:solidFill>
                <a:schemeClr val="tx1"/>
              </a:solidFill>
            </a:endParaRPr>
          </a:p>
        </p:txBody>
      </p:sp>
      <p:cxnSp>
        <p:nvCxnSpPr>
          <p:cNvPr id="145" name="직선 화살표 연결선 144"/>
          <p:cNvCxnSpPr>
            <a:stCxn id="144" idx="0"/>
          </p:cNvCxnSpPr>
          <p:nvPr/>
        </p:nvCxnSpPr>
        <p:spPr>
          <a:xfrm flipH="1" flipV="1">
            <a:off x="7760807" y="2999482"/>
            <a:ext cx="1765" cy="52313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8" name="직사각형 147"/>
          <p:cNvSpPr/>
          <p:nvPr/>
        </p:nvSpPr>
        <p:spPr>
          <a:xfrm>
            <a:off x="5726758" y="2402277"/>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3</a:t>
            </a:r>
            <a:endParaRPr lang="ko-KR" altLang="en-US" sz="1200" dirty="0">
              <a:solidFill>
                <a:schemeClr val="tx1"/>
              </a:solidFill>
            </a:endParaRPr>
          </a:p>
        </p:txBody>
      </p:sp>
      <p:cxnSp>
        <p:nvCxnSpPr>
          <p:cNvPr id="153" name="직선 화살표 연결선 152"/>
          <p:cNvCxnSpPr>
            <a:stCxn id="148" idx="2"/>
          </p:cNvCxnSpPr>
          <p:nvPr/>
        </p:nvCxnSpPr>
        <p:spPr>
          <a:xfrm>
            <a:off x="6049778" y="2654690"/>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0" name="직사각형 159"/>
          <p:cNvSpPr/>
          <p:nvPr/>
        </p:nvSpPr>
        <p:spPr>
          <a:xfrm>
            <a:off x="8988761" y="3381545"/>
            <a:ext cx="1000384" cy="252413"/>
          </a:xfrm>
          <a:prstGeom prst="rect">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심사</a:t>
            </a:r>
            <a:r>
              <a:rPr lang="en-US" altLang="ko-KR" sz="1200" dirty="0">
                <a:solidFill>
                  <a:schemeClr val="bg1"/>
                </a:solidFill>
              </a:rPr>
              <a:t>4</a:t>
            </a:r>
            <a:endParaRPr lang="ko-KR" altLang="en-US" sz="1200" dirty="0">
              <a:solidFill>
                <a:schemeClr val="bg1"/>
              </a:solidFill>
            </a:endParaRPr>
          </a:p>
        </p:txBody>
      </p:sp>
      <p:cxnSp>
        <p:nvCxnSpPr>
          <p:cNvPr id="164" name="직선 화살표 연결선 163"/>
          <p:cNvCxnSpPr>
            <a:stCxn id="160" idx="0"/>
          </p:cNvCxnSpPr>
          <p:nvPr/>
        </p:nvCxnSpPr>
        <p:spPr>
          <a:xfrm flipV="1">
            <a:off x="9488953" y="2979346"/>
            <a:ext cx="0" cy="40219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5" name="직사각형 164"/>
          <p:cNvSpPr/>
          <p:nvPr/>
        </p:nvSpPr>
        <p:spPr>
          <a:xfrm>
            <a:off x="8979316" y="4917948"/>
            <a:ext cx="2183611" cy="954107"/>
          </a:xfrm>
          <a:prstGeom prst="rect">
            <a:avLst/>
          </a:prstGeom>
          <a:ln>
            <a:solidFill>
              <a:schemeClr val="bg1">
                <a:lumMod val="50000"/>
              </a:schemeClr>
            </a:solidFill>
          </a:ln>
        </p:spPr>
        <p:txBody>
          <a:bodyPr wrap="none">
            <a:spAutoFit/>
          </a:bodyPr>
          <a:lstStyle/>
          <a:p>
            <a:pPr fontAlgn="base"/>
            <a:r>
              <a:rPr lang="ko-KR" altLang="en-US" sz="1400" kern="0" dirty="0">
                <a:solidFill>
                  <a:schemeClr val="accent4"/>
                </a:solidFill>
                <a:latin typeface="+mn-ea"/>
              </a:rPr>
              <a:t>❶ 발견</a:t>
            </a:r>
            <a:r>
              <a:rPr lang="en-US" altLang="ko-KR" sz="1400" kern="0" dirty="0">
                <a:solidFill>
                  <a:schemeClr val="accent4"/>
                </a:solidFill>
                <a:latin typeface="+mn-ea"/>
              </a:rPr>
              <a:t>: </a:t>
            </a:r>
            <a:r>
              <a:rPr lang="ko-KR" altLang="en-US" sz="1400" kern="0" dirty="0">
                <a:solidFill>
                  <a:schemeClr val="accent4"/>
                </a:solidFill>
                <a:latin typeface="+mn-ea"/>
              </a:rPr>
              <a:t>최초거절이유통지</a:t>
            </a:r>
            <a:r>
              <a:rPr lang="en-US" altLang="ko-KR" sz="1400" kern="0" dirty="0">
                <a:solidFill>
                  <a:schemeClr val="accent4"/>
                </a:solidFill>
                <a:latin typeface="+mn-ea"/>
              </a:rPr>
              <a:t> </a:t>
            </a:r>
          </a:p>
          <a:p>
            <a:pPr fontAlgn="base"/>
            <a:r>
              <a:rPr lang="ko-KR" altLang="en-US" sz="1400" kern="0" dirty="0">
                <a:solidFill>
                  <a:srgbClr val="FF0000"/>
                </a:solidFill>
                <a:latin typeface="+mn-ea"/>
              </a:rPr>
              <a:t>❷ 발견</a:t>
            </a:r>
            <a:r>
              <a:rPr lang="en-US" altLang="ko-KR" sz="1400" kern="0" dirty="0">
                <a:solidFill>
                  <a:srgbClr val="FF0000"/>
                </a:solidFill>
                <a:latin typeface="+mn-ea"/>
              </a:rPr>
              <a:t>: </a:t>
            </a:r>
            <a:r>
              <a:rPr lang="ko-KR" altLang="en-US" sz="1400" kern="0" dirty="0">
                <a:solidFill>
                  <a:srgbClr val="FF0000"/>
                </a:solidFill>
                <a:latin typeface="+mn-ea"/>
              </a:rPr>
              <a:t>최후거절이유통지</a:t>
            </a:r>
            <a:endParaRPr lang="en-US" altLang="ko-KR" sz="1400" kern="0" dirty="0">
              <a:solidFill>
                <a:srgbClr val="FF0000"/>
              </a:solidFill>
              <a:latin typeface="+mn-ea"/>
            </a:endParaRPr>
          </a:p>
          <a:p>
            <a:pPr fontAlgn="base"/>
            <a:r>
              <a:rPr lang="ko-KR" altLang="en-US" sz="1400" kern="0" dirty="0">
                <a:solidFill>
                  <a:schemeClr val="accent4"/>
                </a:solidFill>
                <a:latin typeface="+mn-ea"/>
              </a:rPr>
              <a:t>❸ 발견</a:t>
            </a:r>
            <a:r>
              <a:rPr lang="en-US" altLang="ko-KR" sz="1400" kern="0" dirty="0">
                <a:solidFill>
                  <a:schemeClr val="accent4"/>
                </a:solidFill>
                <a:latin typeface="+mn-ea"/>
              </a:rPr>
              <a:t>: </a:t>
            </a:r>
            <a:r>
              <a:rPr lang="ko-KR" altLang="en-US" sz="1400" kern="0" dirty="0">
                <a:solidFill>
                  <a:schemeClr val="accent4"/>
                </a:solidFill>
                <a:latin typeface="+mn-ea"/>
              </a:rPr>
              <a:t>최후거절이유통지</a:t>
            </a:r>
            <a:endParaRPr lang="en-US" altLang="ko-KR" sz="1400" kern="0" dirty="0">
              <a:solidFill>
                <a:schemeClr val="accent4"/>
              </a:solidFill>
              <a:latin typeface="+mn-ea"/>
            </a:endParaRPr>
          </a:p>
          <a:p>
            <a:pPr fontAlgn="base"/>
            <a:r>
              <a:rPr lang="ko-KR" altLang="en-US" sz="1400" kern="0" dirty="0">
                <a:solidFill>
                  <a:srgbClr val="FF0000"/>
                </a:solidFill>
                <a:latin typeface="+mn-ea"/>
              </a:rPr>
              <a:t>❹ 발견</a:t>
            </a:r>
            <a:r>
              <a:rPr lang="en-US" altLang="ko-KR" sz="1400" kern="0" dirty="0">
                <a:solidFill>
                  <a:srgbClr val="FF0000"/>
                </a:solidFill>
                <a:latin typeface="+mn-ea"/>
              </a:rPr>
              <a:t>: </a:t>
            </a:r>
            <a:r>
              <a:rPr lang="ko-KR" altLang="en-US" sz="1400" kern="0" dirty="0">
                <a:solidFill>
                  <a:srgbClr val="FF0000"/>
                </a:solidFill>
                <a:latin typeface="+mn-ea"/>
              </a:rPr>
              <a:t>최후거절이유통지</a:t>
            </a:r>
            <a:endParaRPr lang="en-US" altLang="ko-KR" sz="1400" kern="0" dirty="0">
              <a:solidFill>
                <a:srgbClr val="FF0000"/>
              </a:solidFill>
              <a:latin typeface="+mn-ea"/>
            </a:endParaRPr>
          </a:p>
        </p:txBody>
      </p:sp>
      <p:sp>
        <p:nvSpPr>
          <p:cNvPr id="46" name="TextBox 45"/>
          <p:cNvSpPr txBox="1"/>
          <p:nvPr/>
        </p:nvSpPr>
        <p:spPr>
          <a:xfrm>
            <a:off x="8974820" y="3992037"/>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1. </a:t>
            </a:r>
            <a:r>
              <a:rPr lang="ko-KR" altLang="en-US" sz="1100" dirty="0"/>
              <a:t>원거절이유의 </a:t>
            </a:r>
            <a:r>
              <a:rPr lang="ko-KR" altLang="en-US" sz="1100" dirty="0" err="1"/>
              <a:t>해소여부</a:t>
            </a:r>
            <a:endParaRPr lang="ko-KR" altLang="en-US" dirty="0"/>
          </a:p>
        </p:txBody>
      </p:sp>
      <p:sp>
        <p:nvSpPr>
          <p:cNvPr id="47" name="TextBox 46"/>
          <p:cNvSpPr txBox="1"/>
          <p:nvPr/>
        </p:nvSpPr>
        <p:spPr>
          <a:xfrm>
            <a:off x="8974820" y="4279048"/>
            <a:ext cx="2390207"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2. </a:t>
            </a:r>
            <a:r>
              <a:rPr lang="ko-KR" altLang="en-US" sz="1100" dirty="0"/>
              <a:t>새로운 </a:t>
            </a:r>
            <a:r>
              <a:rPr lang="ko-KR" altLang="en-US" sz="1100" dirty="0" err="1"/>
              <a:t>거절이유의</a:t>
            </a:r>
            <a:r>
              <a:rPr lang="ko-KR" altLang="en-US" sz="1100" dirty="0"/>
              <a:t> </a:t>
            </a:r>
            <a:r>
              <a:rPr lang="ko-KR" altLang="en-US" sz="1100" dirty="0" err="1"/>
              <a:t>발견여부</a:t>
            </a:r>
            <a:endParaRPr lang="ko-KR" altLang="en-US" sz="1100" dirty="0"/>
          </a:p>
        </p:txBody>
      </p:sp>
      <p:sp>
        <p:nvSpPr>
          <p:cNvPr id="48" name="TextBox 47"/>
          <p:cNvSpPr txBox="1"/>
          <p:nvPr/>
        </p:nvSpPr>
        <p:spPr>
          <a:xfrm>
            <a:off x="8974821" y="4577374"/>
            <a:ext cx="2397889"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3. </a:t>
            </a:r>
            <a:r>
              <a:rPr lang="ko-KR" altLang="en-US" sz="1100" dirty="0"/>
              <a:t>새로운 거절이유의 발생시점</a:t>
            </a:r>
          </a:p>
        </p:txBody>
      </p:sp>
      <p:sp>
        <p:nvSpPr>
          <p:cNvPr id="49" name="TextBox 48"/>
          <p:cNvSpPr txBox="1"/>
          <p:nvPr/>
        </p:nvSpPr>
        <p:spPr>
          <a:xfrm>
            <a:off x="8974820" y="3696790"/>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0. </a:t>
            </a:r>
            <a:r>
              <a:rPr lang="ko-KR" altLang="en-US" sz="1100" dirty="0"/>
              <a:t>보정의 적법성</a:t>
            </a:r>
          </a:p>
        </p:txBody>
      </p:sp>
      <p:cxnSp>
        <p:nvCxnSpPr>
          <p:cNvPr id="8" name="꺾인 연결선 7"/>
          <p:cNvCxnSpPr>
            <a:cxnSpLocks/>
            <a:stCxn id="6" idx="3"/>
            <a:endCxn id="126" idx="2"/>
          </p:cNvCxnSpPr>
          <p:nvPr/>
        </p:nvCxnSpPr>
        <p:spPr>
          <a:xfrm flipV="1">
            <a:off x="6049778" y="3235325"/>
            <a:ext cx="921633" cy="2406804"/>
          </a:xfrm>
          <a:prstGeom prst="bentConnector2">
            <a:avLst/>
          </a:prstGeom>
          <a:ln w="28575">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3" name="직사각형 52"/>
          <p:cNvSpPr/>
          <p:nvPr/>
        </p:nvSpPr>
        <p:spPr>
          <a:xfrm>
            <a:off x="6083503" y="5595458"/>
            <a:ext cx="2735755" cy="634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solidFill>
              </a:rPr>
              <a:t>특허출원서에 첨부된 명세서</a:t>
            </a:r>
            <a:r>
              <a:rPr lang="en-US" altLang="ko-KR" sz="1200" dirty="0">
                <a:solidFill>
                  <a:schemeClr val="tx1"/>
                </a:solidFill>
              </a:rPr>
              <a:t>, </a:t>
            </a:r>
            <a:r>
              <a:rPr lang="ko-KR" altLang="en-US" sz="1200" dirty="0">
                <a:solidFill>
                  <a:schemeClr val="tx1"/>
                </a:solidFill>
              </a:rPr>
              <a:t>도면 또는 </a:t>
            </a:r>
            <a:r>
              <a:rPr lang="ko-KR" altLang="en-US" sz="1200" dirty="0" err="1">
                <a:solidFill>
                  <a:schemeClr val="tx1"/>
                </a:solidFill>
              </a:rPr>
              <a:t>요약서에</a:t>
            </a:r>
            <a:r>
              <a:rPr lang="ko-KR" altLang="en-US" sz="1200" dirty="0">
                <a:solidFill>
                  <a:schemeClr val="tx1"/>
                </a:solidFill>
              </a:rPr>
              <a:t> 적힌 사항이 명백히 잘못된 경우 </a:t>
            </a:r>
          </a:p>
        </p:txBody>
      </p:sp>
      <p:sp>
        <p:nvSpPr>
          <p:cNvPr id="50" name="TextBox 49"/>
          <p:cNvSpPr txBox="1"/>
          <p:nvPr/>
        </p:nvSpPr>
        <p:spPr>
          <a:xfrm>
            <a:off x="77875" y="986046"/>
            <a:ext cx="11936323" cy="954107"/>
          </a:xfrm>
          <a:prstGeom prst="rect">
            <a:avLst/>
          </a:prstGeom>
          <a:noFill/>
        </p:spPr>
        <p:txBody>
          <a:bodyPr wrap="square" rtlCol="0">
            <a:spAutoFit/>
          </a:bodyPr>
          <a:lstStyle/>
          <a:p>
            <a:pPr fontAlgn="base"/>
            <a:r>
              <a:rPr lang="ko-KR" altLang="en-US" sz="1400" dirty="0">
                <a:solidFill>
                  <a:schemeClr val="tx2"/>
                </a:solidFill>
              </a:rPr>
              <a:t>심사관은 직권보정 전에 최후거절이유통지에 따른 의견서 제출기간</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a:t>
            </a:r>
            <a:r>
              <a:rPr lang="ko-KR" altLang="en-US" sz="1400" dirty="0">
                <a:solidFill>
                  <a:schemeClr val="tx2"/>
                </a:solidFill>
              </a:rPr>
              <a:t>①</a:t>
            </a:r>
            <a:r>
              <a:rPr lang="en-US" altLang="ko-KR" sz="1400" dirty="0">
                <a:solidFill>
                  <a:schemeClr val="tx2"/>
                </a:solidFill>
              </a:rPr>
              <a:t>Ⅱ) </a:t>
            </a:r>
            <a:r>
              <a:rPr lang="ko-KR" altLang="en-US" sz="1400" dirty="0">
                <a:solidFill>
                  <a:schemeClr val="tx2"/>
                </a:solidFill>
              </a:rPr>
              <a:t>또는 재심사를 청구할 때</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a:t>
            </a:r>
            <a:r>
              <a:rPr lang="ko-KR" altLang="en-US" sz="1400" dirty="0">
                <a:solidFill>
                  <a:schemeClr val="tx2"/>
                </a:solidFill>
              </a:rPr>
              <a:t>①</a:t>
            </a:r>
            <a:r>
              <a:rPr lang="en-US" altLang="ko-KR" sz="1400" dirty="0">
                <a:solidFill>
                  <a:schemeClr val="tx2"/>
                </a:solidFill>
              </a:rPr>
              <a:t>Ⅲ) </a:t>
            </a:r>
            <a:r>
              <a:rPr lang="ko-KR" altLang="en-US" sz="1400" dirty="0">
                <a:solidFill>
                  <a:schemeClr val="tx2"/>
                </a:solidFill>
              </a:rPr>
              <a:t>한 보정이 신규사항추가금지</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a:t>
            </a:r>
            <a:r>
              <a:rPr lang="ko-KR" altLang="en-US" sz="1400" dirty="0">
                <a:solidFill>
                  <a:schemeClr val="tx2"/>
                </a:solidFill>
              </a:rPr>
              <a:t>②</a:t>
            </a:r>
            <a:r>
              <a:rPr lang="en-US" altLang="ko-KR" sz="1400" dirty="0">
                <a:solidFill>
                  <a:schemeClr val="tx2"/>
                </a:solidFill>
              </a:rPr>
              <a:t>) </a:t>
            </a:r>
            <a:r>
              <a:rPr lang="ko-KR" altLang="en-US" sz="1400" dirty="0">
                <a:solidFill>
                  <a:schemeClr val="tx2"/>
                </a:solidFill>
              </a:rPr>
              <a:t>또는 청구범위 보정범위제한</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a:t>
            </a:r>
            <a:r>
              <a:rPr lang="ko-KR" altLang="en-US" sz="1400" dirty="0">
                <a:solidFill>
                  <a:schemeClr val="tx2"/>
                </a:solidFill>
              </a:rPr>
              <a:t>③</a:t>
            </a:r>
            <a:r>
              <a:rPr lang="en-US" altLang="ko-KR" sz="1400" dirty="0">
                <a:solidFill>
                  <a:schemeClr val="tx2"/>
                </a:solidFill>
              </a:rPr>
              <a:t>)</a:t>
            </a:r>
            <a:r>
              <a:rPr lang="ko-KR" altLang="en-US" sz="1400" dirty="0">
                <a:solidFill>
                  <a:schemeClr val="tx2"/>
                </a:solidFill>
              </a:rPr>
              <a:t>을 위반하거나 그 보정에 따라 새로운 거절이유가 발생했음에도 불구하고 </a:t>
            </a:r>
            <a:r>
              <a:rPr lang="ko-KR" altLang="en-US" sz="1400" dirty="0" err="1">
                <a:solidFill>
                  <a:schemeClr val="tx2"/>
                </a:solidFill>
              </a:rPr>
              <a:t>보정각하결정을</a:t>
            </a:r>
            <a:r>
              <a:rPr lang="ko-KR" altLang="en-US" sz="1400" dirty="0">
                <a:solidFill>
                  <a:schemeClr val="tx2"/>
                </a:solidFill>
              </a:rPr>
              <a:t> 하지 아니하고 </a:t>
            </a:r>
            <a:r>
              <a:rPr lang="ko-KR" altLang="en-US" sz="1400" dirty="0" err="1">
                <a:solidFill>
                  <a:schemeClr val="tx2"/>
                </a:solidFill>
              </a:rPr>
              <a:t>특허결정한</a:t>
            </a:r>
            <a:r>
              <a:rPr lang="ko-KR" altLang="en-US" sz="1400" dirty="0">
                <a:solidFill>
                  <a:schemeClr val="tx2"/>
                </a:solidFill>
              </a:rPr>
              <a:t> 것을 특허결정을 취소한 후에 발견한 경우에는</a:t>
            </a:r>
            <a:r>
              <a:rPr lang="en-US" altLang="ko-KR" sz="1400" dirty="0">
                <a:solidFill>
                  <a:schemeClr val="tx2"/>
                </a:solidFill>
              </a:rPr>
              <a:t>, </a:t>
            </a:r>
            <a:r>
              <a:rPr lang="ko-KR" altLang="en-US" sz="1400" dirty="0" err="1">
                <a:solidFill>
                  <a:schemeClr val="tx2"/>
                </a:solidFill>
              </a:rPr>
              <a:t>보정각하를</a:t>
            </a:r>
            <a:r>
              <a:rPr lang="ko-KR" altLang="en-US" sz="1400" dirty="0">
                <a:solidFill>
                  <a:schemeClr val="tx2"/>
                </a:solidFill>
              </a:rPr>
              <a:t> 하지 아니하고 </a:t>
            </a:r>
            <a:r>
              <a:rPr lang="ko-KR" altLang="en-US" sz="1400" dirty="0">
                <a:solidFill>
                  <a:schemeClr val="accent3">
                    <a:lumMod val="50000"/>
                  </a:schemeClr>
                </a:solidFill>
                <a:highlight>
                  <a:srgbClr val="FFFF00"/>
                </a:highlight>
              </a:rPr>
              <a:t>최후거절이유통지</a:t>
            </a:r>
            <a:r>
              <a:rPr lang="ko-KR" altLang="en-US" sz="1400" dirty="0">
                <a:solidFill>
                  <a:schemeClr val="accent3">
                    <a:lumMod val="50000"/>
                  </a:schemeClr>
                </a:solidFill>
              </a:rPr>
              <a:t>를</a:t>
            </a:r>
            <a:r>
              <a:rPr lang="ko-KR" altLang="en-US" sz="1400" dirty="0">
                <a:solidFill>
                  <a:schemeClr val="tx2"/>
                </a:solidFill>
              </a:rPr>
              <a:t> 한다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51</a:t>
            </a:r>
            <a:r>
              <a:rPr lang="ko-KR" altLang="en-US" sz="1400" dirty="0">
                <a:solidFill>
                  <a:schemeClr val="tx2"/>
                </a:solidFill>
              </a:rPr>
              <a:t>①</a:t>
            </a:r>
            <a:r>
              <a:rPr lang="en-US" altLang="ko-KR" sz="1400" dirty="0">
                <a:solidFill>
                  <a:schemeClr val="tx2"/>
                </a:solidFill>
              </a:rPr>
              <a:t>Ⅰ). </a:t>
            </a:r>
            <a:r>
              <a:rPr lang="ko-KR" altLang="en-US" sz="1400" dirty="0">
                <a:solidFill>
                  <a:schemeClr val="tx2"/>
                </a:solidFill>
              </a:rPr>
              <a:t>이는 보정이 인정됨을 전제로 특허결정을 받았다는 것을 신뢰한 출원인의 이익을 보호하기 위함이다</a:t>
            </a:r>
            <a:r>
              <a:rPr lang="en-US" altLang="ko-KR" sz="1400" dirty="0">
                <a:solidFill>
                  <a:schemeClr val="tx2"/>
                </a:solidFill>
              </a:rPr>
              <a:t>. </a:t>
            </a:r>
            <a:endParaRPr lang="ko-KR" altLang="en-US" sz="1400" dirty="0">
              <a:solidFill>
                <a:schemeClr val="tx2"/>
              </a:solidFill>
            </a:endParaRPr>
          </a:p>
        </p:txBody>
      </p:sp>
      <p:cxnSp>
        <p:nvCxnSpPr>
          <p:cNvPr id="51" name="직선 연결선 50"/>
          <p:cNvCxnSpPr/>
          <p:nvPr/>
        </p:nvCxnSpPr>
        <p:spPr>
          <a:xfrm>
            <a:off x="0" y="194292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슬라이드 번호 개체 틀 4"/>
          <p:cNvSpPr>
            <a:spLocks noGrp="1"/>
          </p:cNvSpPr>
          <p:nvPr>
            <p:ph type="sldNum" sz="quarter" idx="12"/>
          </p:nvPr>
        </p:nvSpPr>
        <p:spPr/>
        <p:txBody>
          <a:bodyPr/>
          <a:lstStyle/>
          <a:p>
            <a:r>
              <a:rPr lang="en-US" altLang="ko-KR"/>
              <a:t>269</a:t>
            </a:r>
            <a:endParaRPr lang="ko-KR" altLang="en-US" dirty="0"/>
          </a:p>
        </p:txBody>
      </p:sp>
    </p:spTree>
    <p:extLst>
      <p:ext uri="{BB962C8B-B14F-4D97-AF65-F5344CB8AC3E}">
        <p14:creationId xmlns:p14="http://schemas.microsoft.com/office/powerpoint/2010/main" val="113719212"/>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66</a:t>
            </a:r>
            <a:r>
              <a:rPr lang="ko-KR" altLang="en-US" dirty="0"/>
              <a:t>조의</a:t>
            </a:r>
            <a:r>
              <a:rPr lang="en-US" altLang="ko-KR" dirty="0"/>
              <a:t>3</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a:t>직권 재심사</a:t>
            </a:r>
            <a:r>
              <a:rPr lang="en-US" altLang="ko-KR" dirty="0"/>
              <a:t>(</a:t>
            </a:r>
            <a:r>
              <a:rPr lang="ko-KR" altLang="en-US" dirty="0"/>
              <a:t>제</a:t>
            </a:r>
            <a:r>
              <a:rPr lang="en-US" altLang="ko-KR" dirty="0"/>
              <a:t>66</a:t>
            </a:r>
            <a:r>
              <a:rPr lang="ko-KR" altLang="en-US" dirty="0"/>
              <a:t>조의</a:t>
            </a:r>
            <a:r>
              <a:rPr lang="en-US" altLang="ko-KR" dirty="0"/>
              <a:t>3)</a:t>
            </a:r>
            <a:r>
              <a:rPr lang="ko-KR" altLang="en-US" dirty="0"/>
              <a:t>의 개념</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48" name="TextBox 47"/>
          <p:cNvSpPr txBox="1"/>
          <p:nvPr/>
        </p:nvSpPr>
        <p:spPr>
          <a:xfrm>
            <a:off x="77875" y="986046"/>
            <a:ext cx="11936323" cy="1600438"/>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66</a:t>
            </a:r>
            <a:r>
              <a:rPr lang="ko-KR" altLang="en-US" sz="1400" b="1" dirty="0">
                <a:solidFill>
                  <a:schemeClr val="accent1"/>
                </a:solidFill>
              </a:rPr>
              <a:t>조의</a:t>
            </a:r>
            <a:r>
              <a:rPr lang="en-US" altLang="ko-KR" sz="1400" b="1" dirty="0">
                <a:solidFill>
                  <a:schemeClr val="accent1"/>
                </a:solidFill>
              </a:rPr>
              <a:t>3(</a:t>
            </a:r>
            <a:r>
              <a:rPr lang="ko-KR" altLang="en-US" sz="1400" b="1" dirty="0">
                <a:solidFill>
                  <a:schemeClr val="accent1"/>
                </a:solidFill>
              </a:rPr>
              <a:t>특허결정 이후 직권 재심사</a:t>
            </a:r>
            <a:r>
              <a:rPr lang="en-US" altLang="ko-KR" sz="1400" b="1" dirty="0">
                <a:solidFill>
                  <a:schemeClr val="accent1"/>
                </a:solidFill>
              </a:rPr>
              <a:t>) </a:t>
            </a:r>
            <a:r>
              <a:rPr lang="en-US" altLang="ko-KR" sz="1400" dirty="0"/>
              <a:t>① </a:t>
            </a:r>
            <a:r>
              <a:rPr lang="ko-KR" altLang="en-US" sz="1400" dirty="0"/>
              <a:t>심사관은 </a:t>
            </a:r>
            <a:r>
              <a:rPr lang="ko-KR" altLang="en-US" sz="1400" dirty="0" err="1"/>
              <a:t>특허결정된</a:t>
            </a:r>
            <a:r>
              <a:rPr lang="ko-KR" altLang="en-US" sz="1400" dirty="0"/>
              <a:t> 특허출원에 관하여 명백한 거절이유를 발견한 경우에는 직권으로 특허결정을 취소하고</a:t>
            </a:r>
            <a:r>
              <a:rPr lang="en-US" altLang="ko-KR" sz="1400" dirty="0"/>
              <a:t>, </a:t>
            </a:r>
            <a:r>
              <a:rPr lang="ko-KR" altLang="en-US" sz="1400" dirty="0"/>
              <a:t>그 특허출원을 다시 심사</a:t>
            </a:r>
            <a:r>
              <a:rPr lang="en-US" altLang="ko-KR" sz="1400" dirty="0"/>
              <a:t>(</a:t>
            </a:r>
            <a:r>
              <a:rPr lang="ko-KR" altLang="en-US" sz="1400" dirty="0"/>
              <a:t>이하 </a:t>
            </a:r>
            <a:r>
              <a:rPr lang="en-US" altLang="ko-KR" sz="1400" dirty="0"/>
              <a:t>"</a:t>
            </a:r>
            <a:r>
              <a:rPr lang="ko-KR" altLang="en-US" sz="1400" dirty="0"/>
              <a:t>직권 재심사</a:t>
            </a:r>
            <a:r>
              <a:rPr lang="en-US" altLang="ko-KR" sz="1400" dirty="0"/>
              <a:t>"</a:t>
            </a:r>
            <a:r>
              <a:rPr lang="ko-KR" altLang="en-US" sz="1400" dirty="0"/>
              <a:t>라 한다</a:t>
            </a:r>
            <a:r>
              <a:rPr lang="en-US" altLang="ko-KR" sz="1400" dirty="0"/>
              <a:t>)</a:t>
            </a:r>
            <a:r>
              <a:rPr lang="ko-KR" altLang="en-US" sz="1400" dirty="0"/>
              <a:t>할 수 있다</a:t>
            </a:r>
            <a:r>
              <a:rPr lang="en-US" altLang="ko-KR" sz="1400" dirty="0"/>
              <a:t>. </a:t>
            </a:r>
            <a:r>
              <a:rPr lang="ko-KR" altLang="en-US" sz="1400" dirty="0"/>
              <a:t>다만</a:t>
            </a:r>
            <a:r>
              <a:rPr lang="en-US" altLang="ko-KR" sz="1400" dirty="0"/>
              <a:t>, </a:t>
            </a:r>
            <a:r>
              <a:rPr lang="ko-KR" altLang="en-US" sz="1400" dirty="0"/>
              <a:t>다음 각 호의 어느 하나에 해당하는 경우에는 그러하지 아니하다</a:t>
            </a:r>
            <a:r>
              <a:rPr lang="en-US" altLang="ko-KR" sz="1400" dirty="0"/>
              <a:t>.</a:t>
            </a:r>
          </a:p>
          <a:p>
            <a:pPr fontAlgn="base"/>
            <a:r>
              <a:rPr lang="en-US" altLang="ko-KR" sz="1400" dirty="0"/>
              <a:t>1. </a:t>
            </a:r>
            <a:r>
              <a:rPr lang="ko-KR" altLang="en-US" sz="1400" dirty="0"/>
              <a:t>거절이유가 제</a:t>
            </a:r>
            <a:r>
              <a:rPr lang="en-US" altLang="ko-KR" sz="1400" dirty="0"/>
              <a:t>42</a:t>
            </a:r>
            <a:r>
              <a:rPr lang="ko-KR" altLang="en-US" sz="1400" dirty="0"/>
              <a:t>조제</a:t>
            </a:r>
            <a:r>
              <a:rPr lang="en-US" altLang="ko-KR" sz="1400" dirty="0"/>
              <a:t>3</a:t>
            </a:r>
            <a:r>
              <a:rPr lang="ko-KR" altLang="en-US" sz="1400" dirty="0" err="1"/>
              <a:t>항제</a:t>
            </a:r>
            <a:r>
              <a:rPr lang="en-US" altLang="ko-KR" sz="1400" dirty="0"/>
              <a:t>2</a:t>
            </a:r>
            <a:r>
              <a:rPr lang="ko-KR" altLang="en-US" sz="1400" dirty="0"/>
              <a:t>호</a:t>
            </a:r>
            <a:r>
              <a:rPr lang="en-US" altLang="ko-KR" sz="1400" dirty="0"/>
              <a:t>, </a:t>
            </a:r>
            <a:r>
              <a:rPr lang="ko-KR" altLang="en-US" sz="1400" dirty="0"/>
              <a:t>같은 조 제</a:t>
            </a:r>
            <a:r>
              <a:rPr lang="en-US" altLang="ko-KR" sz="1400" dirty="0"/>
              <a:t>8</a:t>
            </a:r>
            <a:r>
              <a:rPr lang="ko-KR" altLang="en-US" sz="1400" dirty="0"/>
              <a:t>항 및 제</a:t>
            </a:r>
            <a:r>
              <a:rPr lang="en-US" altLang="ko-KR" sz="1400" dirty="0"/>
              <a:t>45</a:t>
            </a:r>
            <a:r>
              <a:rPr lang="ko-KR" altLang="en-US" sz="1400" dirty="0"/>
              <a:t>조에 따른 요건에 관한 것인 경우</a:t>
            </a:r>
          </a:p>
          <a:p>
            <a:pPr fontAlgn="base"/>
            <a:r>
              <a:rPr lang="en-US" altLang="ko-KR" sz="1400" dirty="0"/>
              <a:t>2. </a:t>
            </a:r>
            <a:r>
              <a:rPr lang="ko-KR" altLang="en-US" sz="1400" dirty="0"/>
              <a:t>그 특허결정에 따라 특허권이 </a:t>
            </a:r>
            <a:r>
              <a:rPr lang="ko-KR" altLang="en-US" sz="1400" dirty="0" err="1"/>
              <a:t>설정등록된</a:t>
            </a:r>
            <a:r>
              <a:rPr lang="ko-KR" altLang="en-US" sz="1400" dirty="0"/>
              <a:t> 경우</a:t>
            </a:r>
          </a:p>
          <a:p>
            <a:pPr fontAlgn="base"/>
            <a:r>
              <a:rPr lang="en-US" altLang="ko-KR" sz="1400" dirty="0"/>
              <a:t>3. </a:t>
            </a:r>
            <a:r>
              <a:rPr lang="ko-KR" altLang="en-US" sz="1400" dirty="0"/>
              <a:t>그 특허출원이 취하되거나 포기된 경우</a:t>
            </a:r>
          </a:p>
          <a:p>
            <a:pPr fontAlgn="base"/>
            <a:r>
              <a:rPr lang="ko-KR" altLang="en-US" sz="1400" dirty="0"/>
              <a:t>② 제</a:t>
            </a:r>
            <a:r>
              <a:rPr lang="en-US" altLang="ko-KR" sz="1400" dirty="0"/>
              <a:t>1</a:t>
            </a:r>
            <a:r>
              <a:rPr lang="ko-KR" altLang="en-US" sz="1400" dirty="0"/>
              <a:t>항에 따라 심사관이 직권 재심사를 하려면 특허결정을 취소한다는 사실을 </a:t>
            </a:r>
            <a:r>
              <a:rPr lang="ko-KR" altLang="en-US" sz="1400" dirty="0" err="1"/>
              <a:t>특허출원인에게</a:t>
            </a:r>
            <a:r>
              <a:rPr lang="ko-KR" altLang="en-US" sz="1400" dirty="0"/>
              <a:t> 통지하여야 한다</a:t>
            </a:r>
            <a:r>
              <a:rPr lang="en-US" altLang="ko-KR" sz="1400" dirty="0"/>
              <a:t>.</a:t>
            </a:r>
          </a:p>
          <a:p>
            <a:pPr fontAlgn="base"/>
            <a:r>
              <a:rPr lang="en-US" altLang="ko-KR" sz="1400" dirty="0"/>
              <a:t>③ </a:t>
            </a:r>
            <a:r>
              <a:rPr lang="ko-KR" altLang="en-US" sz="1400" dirty="0" err="1"/>
              <a:t>특허출원인이</a:t>
            </a:r>
            <a:r>
              <a:rPr lang="ko-KR" altLang="en-US" sz="1400" dirty="0"/>
              <a:t> 제</a:t>
            </a:r>
            <a:r>
              <a:rPr lang="en-US" altLang="ko-KR" sz="1400" dirty="0"/>
              <a:t>2</a:t>
            </a:r>
            <a:r>
              <a:rPr lang="ko-KR" altLang="en-US" sz="1400" dirty="0"/>
              <a:t>항에 따른 통지를 받기 전에 그 특허출원이 제</a:t>
            </a:r>
            <a:r>
              <a:rPr lang="en-US" altLang="ko-KR" sz="1400" dirty="0"/>
              <a:t>1</a:t>
            </a:r>
            <a:r>
              <a:rPr lang="ko-KR" altLang="en-US" sz="1400" dirty="0" err="1"/>
              <a:t>항제</a:t>
            </a:r>
            <a:r>
              <a:rPr lang="en-US" altLang="ko-KR" sz="1400" dirty="0"/>
              <a:t>2</a:t>
            </a:r>
            <a:r>
              <a:rPr lang="ko-KR" altLang="en-US" sz="1400" dirty="0"/>
              <a:t>호 또는 제</a:t>
            </a:r>
            <a:r>
              <a:rPr lang="en-US" altLang="ko-KR" sz="1400" dirty="0"/>
              <a:t>3</a:t>
            </a:r>
            <a:r>
              <a:rPr lang="ko-KR" altLang="en-US" sz="1400" dirty="0"/>
              <a:t>호에 해당하게 된 경우에는 특허결정의 취소는 처음부터 없었던 것으로 본다</a:t>
            </a:r>
            <a:r>
              <a:rPr lang="en-US" altLang="ko-KR" sz="1400" dirty="0"/>
              <a:t>.</a:t>
            </a:r>
            <a:endParaRPr lang="ko-KR" altLang="en-US" sz="1400" dirty="0"/>
          </a:p>
        </p:txBody>
      </p:sp>
      <p:cxnSp>
        <p:nvCxnSpPr>
          <p:cNvPr id="49" name="직선 연결선 48"/>
          <p:cNvCxnSpPr/>
          <p:nvPr/>
        </p:nvCxnSpPr>
        <p:spPr>
          <a:xfrm>
            <a:off x="0" y="259583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직선 화살표 연결선 49"/>
          <p:cNvCxnSpPr/>
          <p:nvPr/>
        </p:nvCxnSpPr>
        <p:spPr>
          <a:xfrm>
            <a:off x="1054692" y="4416865"/>
            <a:ext cx="10241958"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1" name="직사각형 50"/>
          <p:cNvSpPr/>
          <p:nvPr/>
        </p:nvSpPr>
        <p:spPr>
          <a:xfrm>
            <a:off x="565446" y="4164452"/>
            <a:ext cx="1025777" cy="50482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출원</a:t>
            </a:r>
          </a:p>
        </p:txBody>
      </p:sp>
      <p:sp>
        <p:nvSpPr>
          <p:cNvPr id="52" name="직사각형 51"/>
          <p:cNvSpPr/>
          <p:nvPr/>
        </p:nvSpPr>
        <p:spPr>
          <a:xfrm>
            <a:off x="2422822" y="4157321"/>
            <a:ext cx="1143000" cy="51195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특허결정</a:t>
            </a:r>
            <a:endParaRPr lang="en-US" altLang="ko-KR" sz="1400" dirty="0">
              <a:solidFill>
                <a:schemeClr val="tx1"/>
              </a:solidFill>
            </a:endParaRPr>
          </a:p>
          <a:p>
            <a:pPr algn="ctr"/>
            <a:r>
              <a:rPr lang="en-US" altLang="ko-KR" sz="1400" dirty="0">
                <a:solidFill>
                  <a:schemeClr val="tx1"/>
                </a:solidFill>
              </a:rPr>
              <a:t>(</a:t>
            </a:r>
            <a:r>
              <a:rPr lang="ko-KR" altLang="en-US" sz="1400" dirty="0">
                <a:solidFill>
                  <a:schemeClr val="tx1"/>
                </a:solidFill>
              </a:rPr>
              <a:t>착오</a:t>
            </a:r>
            <a:r>
              <a:rPr lang="en-US" altLang="ko-KR" sz="1400" dirty="0">
                <a:solidFill>
                  <a:schemeClr val="tx1"/>
                </a:solidFill>
              </a:rPr>
              <a:t>)</a:t>
            </a:r>
            <a:endParaRPr lang="ko-KR" altLang="en-US" sz="1400" dirty="0">
              <a:solidFill>
                <a:schemeClr val="tx1"/>
              </a:solidFill>
            </a:endParaRPr>
          </a:p>
        </p:txBody>
      </p:sp>
      <p:sp>
        <p:nvSpPr>
          <p:cNvPr id="53" name="직사각형 52"/>
          <p:cNvSpPr/>
          <p:nvPr/>
        </p:nvSpPr>
        <p:spPr>
          <a:xfrm>
            <a:off x="6202061" y="4157321"/>
            <a:ext cx="1121260" cy="51195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특허결정</a:t>
            </a:r>
            <a:endParaRPr lang="en-US" altLang="ko-KR" sz="1400" dirty="0">
              <a:solidFill>
                <a:schemeClr val="tx1"/>
              </a:solidFill>
            </a:endParaRPr>
          </a:p>
          <a:p>
            <a:pPr algn="ctr"/>
            <a:r>
              <a:rPr lang="ko-KR" altLang="en-US" sz="1400" dirty="0">
                <a:solidFill>
                  <a:schemeClr val="tx1"/>
                </a:solidFill>
              </a:rPr>
              <a:t>취소</a:t>
            </a:r>
          </a:p>
        </p:txBody>
      </p:sp>
      <p:sp>
        <p:nvSpPr>
          <p:cNvPr id="54" name="직사각형 53"/>
          <p:cNvSpPr/>
          <p:nvPr/>
        </p:nvSpPr>
        <p:spPr>
          <a:xfrm>
            <a:off x="3681625" y="4956565"/>
            <a:ext cx="954827" cy="435787"/>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정보제공</a:t>
            </a:r>
          </a:p>
        </p:txBody>
      </p:sp>
      <p:cxnSp>
        <p:nvCxnSpPr>
          <p:cNvPr id="55" name="직선 화살표 연결선 54"/>
          <p:cNvCxnSpPr>
            <a:stCxn id="54" idx="0"/>
          </p:cNvCxnSpPr>
          <p:nvPr/>
        </p:nvCxnSpPr>
        <p:spPr>
          <a:xfrm flipH="1" flipV="1">
            <a:off x="4159038" y="4433435"/>
            <a:ext cx="1" cy="52313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6" name="직사각형 55"/>
          <p:cNvSpPr/>
          <p:nvPr/>
        </p:nvSpPr>
        <p:spPr>
          <a:xfrm>
            <a:off x="8057324" y="4157321"/>
            <a:ext cx="1121260" cy="51195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a:solidFill>
                  <a:schemeClr val="tx1"/>
                </a:solidFill>
              </a:rPr>
              <a:t>통지</a:t>
            </a:r>
            <a:endParaRPr lang="ko-KR" altLang="en-US" sz="1400" dirty="0">
              <a:solidFill>
                <a:schemeClr val="tx1"/>
              </a:solidFill>
            </a:endParaRPr>
          </a:p>
        </p:txBody>
      </p:sp>
      <p:sp>
        <p:nvSpPr>
          <p:cNvPr id="57" name="말풍선: 모서리가 둥근 사각형 56"/>
          <p:cNvSpPr/>
          <p:nvPr/>
        </p:nvSpPr>
        <p:spPr>
          <a:xfrm>
            <a:off x="4945961" y="4992170"/>
            <a:ext cx="4440978" cy="568019"/>
          </a:xfrm>
          <a:prstGeom prst="wedgeRoundRectCallout">
            <a:avLst>
              <a:gd name="adj1" fmla="val 10085"/>
              <a:gd name="adj2" fmla="val -142956"/>
              <a:gd name="adj3" fmla="val 16667"/>
            </a:avLst>
          </a:prstGeom>
          <a:solidFill>
            <a:schemeClr val="accent3">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lumMod val="95000"/>
                  </a:schemeClr>
                </a:solidFill>
              </a:rPr>
              <a:t>특허권이 </a:t>
            </a:r>
            <a:r>
              <a:rPr lang="ko-KR" altLang="en-US" sz="1400" dirty="0" err="1">
                <a:solidFill>
                  <a:schemeClr val="bg1">
                    <a:lumMod val="95000"/>
                  </a:schemeClr>
                </a:solidFill>
              </a:rPr>
              <a:t>설정등록되거나</a:t>
            </a:r>
            <a:r>
              <a:rPr lang="ko-KR" altLang="en-US" sz="1400" dirty="0">
                <a:solidFill>
                  <a:schemeClr val="bg1">
                    <a:lumMod val="95000"/>
                  </a:schemeClr>
                </a:solidFill>
              </a:rPr>
              <a:t> 특허출원이 취하</a:t>
            </a:r>
            <a:r>
              <a:rPr lang="en-US" altLang="ko-KR" sz="1400" dirty="0">
                <a:solidFill>
                  <a:schemeClr val="bg1">
                    <a:lumMod val="95000"/>
                  </a:schemeClr>
                </a:solidFill>
              </a:rPr>
              <a:t>, </a:t>
            </a:r>
            <a:r>
              <a:rPr lang="ko-KR" altLang="en-US" sz="1400" dirty="0">
                <a:solidFill>
                  <a:schemeClr val="bg1">
                    <a:lumMod val="95000"/>
                  </a:schemeClr>
                </a:solidFill>
              </a:rPr>
              <a:t>포기된 경우에는 특허결정의 취소가 처음부터 없었던 것으로 간주</a:t>
            </a:r>
          </a:p>
        </p:txBody>
      </p:sp>
      <p:sp>
        <p:nvSpPr>
          <p:cNvPr id="60" name="직사각형 59"/>
          <p:cNvSpPr/>
          <p:nvPr/>
        </p:nvSpPr>
        <p:spPr>
          <a:xfrm>
            <a:off x="9842796" y="4157321"/>
            <a:ext cx="1121260" cy="511956"/>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최초거절</a:t>
            </a:r>
            <a:endParaRPr lang="en-US" altLang="ko-KR" sz="1400" dirty="0">
              <a:solidFill>
                <a:schemeClr val="tx1"/>
              </a:solidFill>
            </a:endParaRPr>
          </a:p>
          <a:p>
            <a:pPr algn="ctr"/>
            <a:r>
              <a:rPr lang="ko-KR" altLang="en-US" sz="1400" dirty="0">
                <a:solidFill>
                  <a:schemeClr val="tx1"/>
                </a:solidFill>
              </a:rPr>
              <a:t>이유통지</a:t>
            </a:r>
          </a:p>
        </p:txBody>
      </p:sp>
      <p:sp>
        <p:nvSpPr>
          <p:cNvPr id="5" name="슬라이드 번호 개체 틀 4"/>
          <p:cNvSpPr>
            <a:spLocks noGrp="1"/>
          </p:cNvSpPr>
          <p:nvPr>
            <p:ph type="sldNum" sz="quarter" idx="12"/>
          </p:nvPr>
        </p:nvSpPr>
        <p:spPr/>
        <p:txBody>
          <a:bodyPr/>
          <a:lstStyle/>
          <a:p>
            <a:r>
              <a:rPr lang="en-US" altLang="ko-KR"/>
              <a:t>270</a:t>
            </a:r>
            <a:endParaRPr lang="ko-KR" altLang="en-US" dirty="0"/>
          </a:p>
        </p:txBody>
      </p:sp>
      <p:sp>
        <p:nvSpPr>
          <p:cNvPr id="18" name="말풍선: 모서리가 둥근 사각형 17">
            <a:extLst>
              <a:ext uri="{FF2B5EF4-FFF2-40B4-BE49-F238E27FC236}">
                <a16:creationId xmlns:a16="http://schemas.microsoft.com/office/drawing/2014/main" id="{E554D9D9-68B1-4FC0-968D-22E718405429}"/>
              </a:ext>
            </a:extLst>
          </p:cNvPr>
          <p:cNvSpPr/>
          <p:nvPr/>
        </p:nvSpPr>
        <p:spPr>
          <a:xfrm>
            <a:off x="4945961" y="3266409"/>
            <a:ext cx="3034255" cy="568019"/>
          </a:xfrm>
          <a:prstGeom prst="wedgeRoundRectCallout">
            <a:avLst>
              <a:gd name="adj1" fmla="val -4788"/>
              <a:gd name="adj2" fmla="val 100132"/>
              <a:gd name="adj3" fmla="val 16667"/>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특허권이 </a:t>
            </a:r>
            <a:r>
              <a:rPr lang="ko-KR" altLang="en-US" sz="1400" dirty="0" err="1">
                <a:solidFill>
                  <a:schemeClr val="tx1"/>
                </a:solidFill>
              </a:rPr>
              <a:t>설정등록되거나</a:t>
            </a:r>
            <a:r>
              <a:rPr lang="ko-KR" altLang="en-US" sz="1400" dirty="0">
                <a:solidFill>
                  <a:schemeClr val="tx1"/>
                </a:solidFill>
              </a:rPr>
              <a:t> 특허출원이 취하</a:t>
            </a:r>
            <a:r>
              <a:rPr lang="en-US" altLang="ko-KR" sz="1400" dirty="0">
                <a:solidFill>
                  <a:schemeClr val="tx1"/>
                </a:solidFill>
              </a:rPr>
              <a:t>, </a:t>
            </a:r>
            <a:r>
              <a:rPr lang="ko-KR" altLang="en-US" sz="1400" dirty="0">
                <a:solidFill>
                  <a:schemeClr val="tx1"/>
                </a:solidFill>
              </a:rPr>
              <a:t>포기되지 않았음을 전제</a:t>
            </a:r>
            <a:endParaRPr lang="ko-KR" altLang="en-US" sz="1400" dirty="0">
              <a:solidFill>
                <a:srgbClr val="FF0000"/>
              </a:solidFill>
            </a:endParaRPr>
          </a:p>
        </p:txBody>
      </p:sp>
      <p:sp>
        <p:nvSpPr>
          <p:cNvPr id="19" name="직사각형 18">
            <a:extLst>
              <a:ext uri="{FF2B5EF4-FFF2-40B4-BE49-F238E27FC236}">
                <a16:creationId xmlns:a16="http://schemas.microsoft.com/office/drawing/2014/main" id="{953704C0-80DB-41BF-9B43-6FEF8C225238}"/>
              </a:ext>
            </a:extLst>
          </p:cNvPr>
          <p:cNvSpPr/>
          <p:nvPr/>
        </p:nvSpPr>
        <p:spPr>
          <a:xfrm>
            <a:off x="4577078" y="4157321"/>
            <a:ext cx="1296437" cy="51195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명백한</a:t>
            </a:r>
            <a:endParaRPr lang="en-US" altLang="ko-KR" sz="1400" dirty="0">
              <a:solidFill>
                <a:schemeClr val="tx1"/>
              </a:solidFill>
            </a:endParaRPr>
          </a:p>
          <a:p>
            <a:pPr algn="ctr"/>
            <a:r>
              <a:rPr lang="ko-KR" altLang="en-US" sz="1400" dirty="0">
                <a:solidFill>
                  <a:schemeClr val="tx1"/>
                </a:solidFill>
              </a:rPr>
              <a:t>거절이유 발견</a:t>
            </a:r>
          </a:p>
        </p:txBody>
      </p:sp>
      <p:sp>
        <p:nvSpPr>
          <p:cNvPr id="6" name="TextBox 5">
            <a:extLst>
              <a:ext uri="{FF2B5EF4-FFF2-40B4-BE49-F238E27FC236}">
                <a16:creationId xmlns:a16="http://schemas.microsoft.com/office/drawing/2014/main" id="{0EC35B99-54A8-47CF-8CA1-D140EAEE22D9}"/>
              </a:ext>
            </a:extLst>
          </p:cNvPr>
          <p:cNvSpPr txBox="1"/>
          <p:nvPr/>
        </p:nvSpPr>
        <p:spPr>
          <a:xfrm>
            <a:off x="7575549" y="5858494"/>
            <a:ext cx="4237057" cy="553998"/>
          </a:xfrm>
          <a:prstGeom prst="rect">
            <a:avLst/>
          </a:prstGeom>
          <a:noFill/>
        </p:spPr>
        <p:txBody>
          <a:bodyPr wrap="none" rtlCol="0">
            <a:spAutoFit/>
          </a:bodyPr>
          <a:lstStyle/>
          <a:p>
            <a:pPr algn="ctr"/>
            <a:r>
              <a:rPr lang="en-US" altLang="ko-KR" dirty="0">
                <a:solidFill>
                  <a:srgbClr val="FF0000"/>
                </a:solidFill>
              </a:rPr>
              <a:t>Reset</a:t>
            </a:r>
          </a:p>
          <a:p>
            <a:pPr algn="ctr"/>
            <a:r>
              <a:rPr lang="en-US" altLang="ko-KR" sz="1200" dirty="0"/>
              <a:t>(</a:t>
            </a:r>
            <a:r>
              <a:rPr lang="ko-KR" altLang="en-US" sz="1200" dirty="0"/>
              <a:t>제</a:t>
            </a:r>
            <a:r>
              <a:rPr lang="en-US" altLang="ko-KR" sz="1200" dirty="0"/>
              <a:t>63</a:t>
            </a:r>
            <a:r>
              <a:rPr lang="ko-KR" altLang="en-US" sz="1200" dirty="0"/>
              <a:t>조제</a:t>
            </a:r>
            <a:r>
              <a:rPr lang="en-US" altLang="ko-KR" sz="1200" dirty="0"/>
              <a:t>1</a:t>
            </a:r>
            <a:r>
              <a:rPr lang="ko-KR" altLang="en-US" sz="1200" dirty="0" err="1"/>
              <a:t>항제</a:t>
            </a:r>
            <a:r>
              <a:rPr lang="en-US" altLang="ko-KR" sz="1200" dirty="0"/>
              <a:t>2</a:t>
            </a:r>
            <a:r>
              <a:rPr lang="ko-KR" altLang="en-US" sz="1200" dirty="0"/>
              <a:t>호</a:t>
            </a:r>
            <a:r>
              <a:rPr lang="en-US" altLang="ko-KR" sz="1200" dirty="0"/>
              <a:t>, </a:t>
            </a:r>
            <a:r>
              <a:rPr lang="ko-KR" altLang="en-US" sz="1200" dirty="0"/>
              <a:t>제</a:t>
            </a:r>
            <a:r>
              <a:rPr lang="en-US" altLang="ko-KR" sz="1200" dirty="0"/>
              <a:t>51</a:t>
            </a:r>
            <a:r>
              <a:rPr lang="ko-KR" altLang="en-US" sz="1200" dirty="0"/>
              <a:t>조제</a:t>
            </a:r>
            <a:r>
              <a:rPr lang="en-US" altLang="ko-KR" sz="1200" dirty="0"/>
              <a:t>1</a:t>
            </a:r>
            <a:r>
              <a:rPr lang="ko-KR" altLang="en-US" sz="1200" dirty="0" err="1"/>
              <a:t>항제</a:t>
            </a:r>
            <a:r>
              <a:rPr lang="en-US" altLang="ko-KR" sz="1200" dirty="0"/>
              <a:t>2</a:t>
            </a:r>
            <a:r>
              <a:rPr lang="ko-KR" altLang="en-US" sz="1200" dirty="0"/>
              <a:t>호</a:t>
            </a:r>
            <a:r>
              <a:rPr lang="en-US" altLang="ko-KR" sz="1200" dirty="0"/>
              <a:t>, </a:t>
            </a:r>
            <a:r>
              <a:rPr lang="ko-KR" altLang="en-US" sz="1200" dirty="0"/>
              <a:t>제</a:t>
            </a:r>
            <a:r>
              <a:rPr lang="en-US" altLang="ko-KR" sz="1200" dirty="0"/>
              <a:t>47</a:t>
            </a:r>
            <a:r>
              <a:rPr lang="ko-KR" altLang="en-US" sz="1200" dirty="0"/>
              <a:t>조제</a:t>
            </a:r>
            <a:r>
              <a:rPr lang="en-US" altLang="ko-KR" sz="1200" dirty="0"/>
              <a:t>1</a:t>
            </a:r>
            <a:r>
              <a:rPr lang="ko-KR" altLang="en-US" sz="1200" dirty="0" err="1"/>
              <a:t>항제</a:t>
            </a:r>
            <a:r>
              <a:rPr lang="en-US" altLang="ko-KR" sz="1200" dirty="0"/>
              <a:t>2</a:t>
            </a:r>
            <a:r>
              <a:rPr lang="ko-KR" altLang="en-US" sz="1200" dirty="0" err="1"/>
              <a:t>호괄호</a:t>
            </a:r>
            <a:r>
              <a:rPr lang="en-US" altLang="ko-KR" sz="1200" dirty="0"/>
              <a:t>)</a:t>
            </a:r>
            <a:endParaRPr lang="ko-KR" altLang="en-US" sz="1200" dirty="0"/>
          </a:p>
        </p:txBody>
      </p:sp>
      <p:cxnSp>
        <p:nvCxnSpPr>
          <p:cNvPr id="8" name="직선 화살표 연결선 7">
            <a:extLst>
              <a:ext uri="{FF2B5EF4-FFF2-40B4-BE49-F238E27FC236}">
                <a16:creationId xmlns:a16="http://schemas.microsoft.com/office/drawing/2014/main" id="{8F4FBD0D-7378-40AB-B152-311BA9E75610}"/>
              </a:ext>
            </a:extLst>
          </p:cNvPr>
          <p:cNvCxnSpPr>
            <a:stCxn id="6" idx="0"/>
          </p:cNvCxnSpPr>
          <p:nvPr/>
        </p:nvCxnSpPr>
        <p:spPr>
          <a:xfrm flipH="1" flipV="1">
            <a:off x="9694077" y="4433435"/>
            <a:ext cx="1" cy="142505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44265535"/>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5" name="직선 화살표 연결선 124"/>
          <p:cNvCxnSpPr/>
          <p:nvPr/>
        </p:nvCxnSpPr>
        <p:spPr>
          <a:xfrm>
            <a:off x="1003596" y="3773844"/>
            <a:ext cx="965835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66</a:t>
            </a:r>
            <a:r>
              <a:rPr lang="ko-KR" altLang="en-US" dirty="0"/>
              <a:t>조의</a:t>
            </a:r>
            <a:r>
              <a:rPr lang="en-US" altLang="ko-KR" dirty="0"/>
              <a:t>3</a:t>
            </a:r>
            <a:endParaRPr lang="ko-KR" altLang="en-US" dirty="0"/>
          </a:p>
        </p:txBody>
      </p:sp>
      <p:sp>
        <p:nvSpPr>
          <p:cNvPr id="4" name="텍스트 개체 틀 3"/>
          <p:cNvSpPr>
            <a:spLocks noGrp="1"/>
          </p:cNvSpPr>
          <p:nvPr>
            <p:ph type="body" sz="quarter" idx="13"/>
          </p:nvPr>
        </p:nvSpPr>
        <p:spPr/>
        <p:txBody>
          <a:bodyPr>
            <a:normAutofit/>
          </a:bodyPr>
          <a:lstStyle/>
          <a:p>
            <a:r>
              <a:rPr lang="ko-KR" altLang="en-US" dirty="0"/>
              <a:t>직권 재심사 후 심사진행 </a:t>
            </a:r>
            <a:r>
              <a:rPr lang="en-US" altLang="ko-KR" dirty="0"/>
              <a:t>CASE</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91" name="직사각형 90"/>
          <p:cNvSpPr/>
          <p:nvPr/>
        </p:nvSpPr>
        <p:spPr>
          <a:xfrm>
            <a:off x="772664" y="3521431"/>
            <a:ext cx="767463" cy="504825"/>
          </a:xfrm>
          <a:prstGeom prst="rect">
            <a:avLst/>
          </a:prstGeom>
          <a:solidFill>
            <a:schemeClr val="tx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p>
        </p:txBody>
      </p:sp>
      <p:sp>
        <p:nvSpPr>
          <p:cNvPr id="93" name="직사각형 92"/>
          <p:cNvSpPr/>
          <p:nvPr/>
        </p:nvSpPr>
        <p:spPr>
          <a:xfrm>
            <a:off x="2115870" y="3193208"/>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1</a:t>
            </a:r>
            <a:endParaRPr lang="ko-KR" altLang="en-US" sz="1200" dirty="0">
              <a:solidFill>
                <a:schemeClr val="tx1"/>
              </a:solidFill>
            </a:endParaRPr>
          </a:p>
        </p:txBody>
      </p:sp>
      <p:cxnSp>
        <p:nvCxnSpPr>
          <p:cNvPr id="94" name="직선 화살표 연결선 93"/>
          <p:cNvCxnSpPr>
            <a:stCxn id="93" idx="2"/>
          </p:cNvCxnSpPr>
          <p:nvPr/>
        </p:nvCxnSpPr>
        <p:spPr>
          <a:xfrm>
            <a:off x="2438890" y="3445621"/>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5" name="직사각형 94"/>
          <p:cNvSpPr/>
          <p:nvPr/>
        </p:nvSpPr>
        <p:spPr>
          <a:xfrm>
            <a:off x="2584877" y="3644071"/>
            <a:ext cx="693430"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최초</a:t>
            </a:r>
          </a:p>
        </p:txBody>
      </p:sp>
      <p:sp>
        <p:nvSpPr>
          <p:cNvPr id="96" name="직사각형 95"/>
          <p:cNvSpPr/>
          <p:nvPr/>
        </p:nvSpPr>
        <p:spPr>
          <a:xfrm>
            <a:off x="3194081" y="4192943"/>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2</a:t>
            </a:r>
            <a:endParaRPr lang="ko-KR" altLang="en-US" sz="1200" dirty="0">
              <a:solidFill>
                <a:schemeClr val="tx1"/>
              </a:solidFill>
            </a:endParaRPr>
          </a:p>
        </p:txBody>
      </p:sp>
      <p:cxnSp>
        <p:nvCxnSpPr>
          <p:cNvPr id="97" name="직선 화살표 연결선 96"/>
          <p:cNvCxnSpPr>
            <a:stCxn id="96" idx="0"/>
          </p:cNvCxnSpPr>
          <p:nvPr/>
        </p:nvCxnSpPr>
        <p:spPr>
          <a:xfrm flipH="1" flipV="1">
            <a:off x="3565815" y="3770278"/>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8" name="직사각형 97"/>
          <p:cNvSpPr/>
          <p:nvPr/>
        </p:nvSpPr>
        <p:spPr>
          <a:xfrm>
            <a:off x="3679986" y="3193208"/>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2</a:t>
            </a:r>
            <a:endParaRPr lang="ko-KR" altLang="en-US" sz="1200" dirty="0">
              <a:solidFill>
                <a:schemeClr val="tx1"/>
              </a:solidFill>
            </a:endParaRPr>
          </a:p>
        </p:txBody>
      </p:sp>
      <p:cxnSp>
        <p:nvCxnSpPr>
          <p:cNvPr id="99" name="직선 화살표 연결선 98"/>
          <p:cNvCxnSpPr>
            <a:stCxn id="98" idx="2"/>
          </p:cNvCxnSpPr>
          <p:nvPr/>
        </p:nvCxnSpPr>
        <p:spPr>
          <a:xfrm>
            <a:off x="4003006" y="3445621"/>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0" name="직사각형 99"/>
          <p:cNvSpPr/>
          <p:nvPr/>
        </p:nvSpPr>
        <p:spPr>
          <a:xfrm>
            <a:off x="4164410" y="3644071"/>
            <a:ext cx="783810"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최후</a:t>
            </a:r>
          </a:p>
        </p:txBody>
      </p:sp>
      <p:sp>
        <p:nvSpPr>
          <p:cNvPr id="103" name="직사각형 102"/>
          <p:cNvSpPr/>
          <p:nvPr/>
        </p:nvSpPr>
        <p:spPr>
          <a:xfrm>
            <a:off x="5007637" y="4192943"/>
            <a:ext cx="746998" cy="2524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3</a:t>
            </a:r>
            <a:endParaRPr lang="ko-KR" altLang="en-US" sz="1200" dirty="0">
              <a:solidFill>
                <a:schemeClr val="tx1"/>
              </a:solidFill>
            </a:endParaRPr>
          </a:p>
        </p:txBody>
      </p:sp>
      <p:cxnSp>
        <p:nvCxnSpPr>
          <p:cNvPr id="106" name="직선 화살표 연결선 105"/>
          <p:cNvCxnSpPr>
            <a:stCxn id="103" idx="0"/>
          </p:cNvCxnSpPr>
          <p:nvPr/>
        </p:nvCxnSpPr>
        <p:spPr>
          <a:xfrm flipH="1" flipV="1">
            <a:off x="5379371" y="3770278"/>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8" name="직사각형 107"/>
          <p:cNvSpPr/>
          <p:nvPr/>
        </p:nvSpPr>
        <p:spPr>
          <a:xfrm>
            <a:off x="1569706" y="4192943"/>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1</a:t>
            </a:r>
            <a:endParaRPr lang="ko-KR" altLang="en-US" sz="1200" dirty="0">
              <a:solidFill>
                <a:schemeClr val="tx1"/>
              </a:solidFill>
            </a:endParaRPr>
          </a:p>
        </p:txBody>
      </p:sp>
      <p:cxnSp>
        <p:nvCxnSpPr>
          <p:cNvPr id="109" name="직선 화살표 연결선 108"/>
          <p:cNvCxnSpPr>
            <a:stCxn id="108" idx="0"/>
          </p:cNvCxnSpPr>
          <p:nvPr/>
        </p:nvCxnSpPr>
        <p:spPr>
          <a:xfrm flipH="1" flipV="1">
            <a:off x="1941440" y="3770278"/>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p:cNvSpPr/>
          <p:nvPr/>
        </p:nvSpPr>
        <p:spPr>
          <a:xfrm>
            <a:off x="1549240" y="4856659"/>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42③Ⅰ</a:t>
            </a:r>
            <a:endParaRPr lang="ko-KR" altLang="en-US" sz="1050" dirty="0">
              <a:solidFill>
                <a:schemeClr val="tx1"/>
              </a:solidFill>
            </a:endParaRPr>
          </a:p>
        </p:txBody>
      </p:sp>
      <p:sp>
        <p:nvSpPr>
          <p:cNvPr id="114" name="직사각형 113"/>
          <p:cNvSpPr/>
          <p:nvPr/>
        </p:nvSpPr>
        <p:spPr>
          <a:xfrm>
            <a:off x="3194081" y="4859430"/>
            <a:ext cx="746998" cy="2524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p>
        </p:txBody>
      </p:sp>
      <p:sp>
        <p:nvSpPr>
          <p:cNvPr id="115" name="직사각형 114"/>
          <p:cNvSpPr/>
          <p:nvPr/>
        </p:nvSpPr>
        <p:spPr>
          <a:xfrm>
            <a:off x="3173615" y="5285284"/>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29②</a:t>
            </a:r>
            <a:endParaRPr lang="ko-KR" altLang="en-US" sz="1050" dirty="0">
              <a:solidFill>
                <a:schemeClr val="tx1"/>
              </a:solidFill>
              <a:latin typeface="+mn-ea"/>
            </a:endParaRPr>
          </a:p>
        </p:txBody>
      </p:sp>
      <p:cxnSp>
        <p:nvCxnSpPr>
          <p:cNvPr id="116" name="꺾인 연결선 115"/>
          <p:cNvCxnSpPr>
            <a:stCxn id="113" idx="3"/>
            <a:endCxn id="95" idx="2"/>
          </p:cNvCxnSpPr>
          <p:nvPr/>
        </p:nvCxnSpPr>
        <p:spPr>
          <a:xfrm flipV="1">
            <a:off x="2316704" y="3896484"/>
            <a:ext cx="614888" cy="1086382"/>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꺾인 연결선 116"/>
          <p:cNvCxnSpPr>
            <a:stCxn id="115" idx="3"/>
            <a:endCxn id="100" idx="2"/>
          </p:cNvCxnSpPr>
          <p:nvPr/>
        </p:nvCxnSpPr>
        <p:spPr>
          <a:xfrm flipV="1">
            <a:off x="3941079" y="3896484"/>
            <a:ext cx="615236" cy="1515007"/>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8" name="직사각형 117"/>
          <p:cNvSpPr/>
          <p:nvPr/>
        </p:nvSpPr>
        <p:spPr>
          <a:xfrm>
            <a:off x="5020109" y="6234141"/>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36</a:t>
            </a:r>
            <a:endParaRPr lang="ko-KR" altLang="en-US" sz="1050" dirty="0">
              <a:solidFill>
                <a:schemeClr val="tx1"/>
              </a:solidFill>
              <a:latin typeface="+mn-ea"/>
            </a:endParaRPr>
          </a:p>
        </p:txBody>
      </p:sp>
      <p:sp>
        <p:nvSpPr>
          <p:cNvPr id="119" name="직사각형 118"/>
          <p:cNvSpPr/>
          <p:nvPr/>
        </p:nvSpPr>
        <p:spPr>
          <a:xfrm>
            <a:off x="1549240" y="5237381"/>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29①</a:t>
            </a:r>
            <a:endParaRPr lang="ko-KR" altLang="en-US" sz="1050" dirty="0">
              <a:solidFill>
                <a:schemeClr val="tx1"/>
              </a:solidFill>
              <a:latin typeface="+mn-ea"/>
            </a:endParaRPr>
          </a:p>
        </p:txBody>
      </p:sp>
      <p:sp>
        <p:nvSpPr>
          <p:cNvPr id="120" name="직사각형 119"/>
          <p:cNvSpPr/>
          <p:nvPr/>
        </p:nvSpPr>
        <p:spPr>
          <a:xfrm>
            <a:off x="3182621" y="5661258"/>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42⑧</a:t>
            </a:r>
            <a:endParaRPr lang="ko-KR" altLang="en-US" sz="1050" dirty="0">
              <a:solidFill>
                <a:schemeClr val="tx1"/>
              </a:solidFill>
              <a:latin typeface="+mn-ea"/>
            </a:endParaRPr>
          </a:p>
        </p:txBody>
      </p:sp>
      <p:sp>
        <p:nvSpPr>
          <p:cNvPr id="121" name="직사각형 120"/>
          <p:cNvSpPr/>
          <p:nvPr/>
        </p:nvSpPr>
        <p:spPr>
          <a:xfrm>
            <a:off x="4824009" y="6212630"/>
            <a:ext cx="392200"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❹</a:t>
            </a:r>
          </a:p>
        </p:txBody>
      </p:sp>
      <p:sp>
        <p:nvSpPr>
          <p:cNvPr id="122" name="직사각형 121"/>
          <p:cNvSpPr/>
          <p:nvPr/>
        </p:nvSpPr>
        <p:spPr>
          <a:xfrm>
            <a:off x="1335024" y="5180036"/>
            <a:ext cx="415969"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❶</a:t>
            </a:r>
          </a:p>
        </p:txBody>
      </p:sp>
      <p:sp>
        <p:nvSpPr>
          <p:cNvPr id="123" name="직사각형 122"/>
          <p:cNvSpPr/>
          <p:nvPr/>
        </p:nvSpPr>
        <p:spPr>
          <a:xfrm>
            <a:off x="2987552" y="4998384"/>
            <a:ext cx="364983"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❷</a:t>
            </a:r>
          </a:p>
        </p:txBody>
      </p:sp>
      <p:sp>
        <p:nvSpPr>
          <p:cNvPr id="124" name="직사각형 123"/>
          <p:cNvSpPr/>
          <p:nvPr/>
        </p:nvSpPr>
        <p:spPr>
          <a:xfrm>
            <a:off x="2987552" y="5186619"/>
            <a:ext cx="364983" cy="978729"/>
          </a:xfrm>
          <a:prstGeom prst="rect">
            <a:avLst/>
          </a:prstGeom>
        </p:spPr>
        <p:txBody>
          <a:bodyPr wrap="square">
            <a:spAutoFit/>
          </a:bodyPr>
          <a:lstStyle/>
          <a:p>
            <a:pPr algn="just" fontAlgn="base">
              <a:lnSpc>
                <a:spcPct val="160000"/>
              </a:lnSpc>
            </a:pPr>
            <a:endParaRPr lang="ko-KR" altLang="en-US" kern="0" dirty="0">
              <a:solidFill>
                <a:schemeClr val="accent2">
                  <a:lumMod val="50000"/>
                </a:schemeClr>
              </a:solidFill>
              <a:latin typeface="+mn-ea"/>
            </a:endParaRPr>
          </a:p>
          <a:p>
            <a:pPr algn="just" fontAlgn="base">
              <a:lnSpc>
                <a:spcPct val="160000"/>
              </a:lnSpc>
            </a:pPr>
            <a:r>
              <a:rPr lang="ko-KR" altLang="en-US" kern="0" dirty="0">
                <a:solidFill>
                  <a:schemeClr val="accent2">
                    <a:lumMod val="50000"/>
                  </a:schemeClr>
                </a:solidFill>
                <a:latin typeface="+mn-ea"/>
              </a:rPr>
              <a:t>❸</a:t>
            </a:r>
          </a:p>
        </p:txBody>
      </p:sp>
      <p:sp>
        <p:nvSpPr>
          <p:cNvPr id="126" name="직사각형 125"/>
          <p:cNvSpPr/>
          <p:nvPr/>
        </p:nvSpPr>
        <p:spPr>
          <a:xfrm>
            <a:off x="6567802" y="3514300"/>
            <a:ext cx="807218" cy="511956"/>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bg1"/>
                </a:solidFill>
              </a:rPr>
              <a:t>특허결정</a:t>
            </a:r>
            <a:endParaRPr lang="en-US" altLang="ko-KR" sz="1200" dirty="0">
              <a:solidFill>
                <a:schemeClr val="bg1"/>
              </a:solidFill>
            </a:endParaRPr>
          </a:p>
          <a:p>
            <a:pPr algn="ctr"/>
            <a:r>
              <a:rPr lang="en-US" altLang="ko-KR" sz="1200" dirty="0">
                <a:solidFill>
                  <a:schemeClr val="bg1"/>
                </a:solidFill>
              </a:rPr>
              <a:t>(</a:t>
            </a:r>
            <a:r>
              <a:rPr lang="ko-KR" altLang="en-US" sz="1200" dirty="0">
                <a:solidFill>
                  <a:schemeClr val="bg1"/>
                </a:solidFill>
              </a:rPr>
              <a:t>착오</a:t>
            </a:r>
            <a:r>
              <a:rPr lang="en-US" altLang="ko-KR" sz="1200" dirty="0">
                <a:solidFill>
                  <a:schemeClr val="bg1"/>
                </a:solidFill>
              </a:rPr>
              <a:t>)</a:t>
            </a:r>
            <a:endParaRPr lang="ko-KR" altLang="en-US" sz="1200" dirty="0">
              <a:solidFill>
                <a:schemeClr val="bg1"/>
              </a:solidFill>
            </a:endParaRPr>
          </a:p>
        </p:txBody>
      </p:sp>
      <p:sp>
        <p:nvSpPr>
          <p:cNvPr id="137" name="직사각형 136"/>
          <p:cNvSpPr/>
          <p:nvPr/>
        </p:nvSpPr>
        <p:spPr>
          <a:xfrm>
            <a:off x="8189741" y="3514300"/>
            <a:ext cx="868534" cy="511956"/>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특허결정</a:t>
            </a:r>
            <a:endParaRPr lang="en-US" altLang="ko-KR" sz="1200" dirty="0">
              <a:solidFill>
                <a:schemeClr val="bg1"/>
              </a:solidFill>
            </a:endParaRPr>
          </a:p>
          <a:p>
            <a:pPr algn="ctr"/>
            <a:r>
              <a:rPr lang="ko-KR" altLang="en-US" sz="1200" dirty="0">
                <a:solidFill>
                  <a:schemeClr val="bg1"/>
                </a:solidFill>
              </a:rPr>
              <a:t>취소</a:t>
            </a:r>
          </a:p>
        </p:txBody>
      </p:sp>
      <p:sp>
        <p:nvSpPr>
          <p:cNvPr id="144" name="직사각형 143"/>
          <p:cNvSpPr/>
          <p:nvPr/>
        </p:nvSpPr>
        <p:spPr>
          <a:xfrm>
            <a:off x="7389073" y="4313544"/>
            <a:ext cx="746998" cy="435787"/>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정보제공</a:t>
            </a:r>
          </a:p>
        </p:txBody>
      </p:sp>
      <p:cxnSp>
        <p:nvCxnSpPr>
          <p:cNvPr id="145" name="직선 화살표 연결선 144"/>
          <p:cNvCxnSpPr>
            <a:stCxn id="144" idx="0"/>
          </p:cNvCxnSpPr>
          <p:nvPr/>
        </p:nvCxnSpPr>
        <p:spPr>
          <a:xfrm flipH="1" flipV="1">
            <a:off x="7760807" y="3790413"/>
            <a:ext cx="1765" cy="52313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8" name="직사각형 147"/>
          <p:cNvSpPr/>
          <p:nvPr/>
        </p:nvSpPr>
        <p:spPr>
          <a:xfrm>
            <a:off x="5726758" y="3193208"/>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3</a:t>
            </a:r>
            <a:endParaRPr lang="ko-KR" altLang="en-US" sz="1200" dirty="0">
              <a:solidFill>
                <a:schemeClr val="tx1"/>
              </a:solidFill>
            </a:endParaRPr>
          </a:p>
        </p:txBody>
      </p:sp>
      <p:cxnSp>
        <p:nvCxnSpPr>
          <p:cNvPr id="153" name="직선 화살표 연결선 152"/>
          <p:cNvCxnSpPr>
            <a:stCxn id="148" idx="2"/>
          </p:cNvCxnSpPr>
          <p:nvPr/>
        </p:nvCxnSpPr>
        <p:spPr>
          <a:xfrm>
            <a:off x="6049778" y="3445621"/>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0" name="직사각형 159"/>
          <p:cNvSpPr/>
          <p:nvPr/>
        </p:nvSpPr>
        <p:spPr>
          <a:xfrm>
            <a:off x="8980215" y="4172476"/>
            <a:ext cx="1000384" cy="252413"/>
          </a:xfrm>
          <a:prstGeom prst="rect">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직권 재심사</a:t>
            </a:r>
            <a:r>
              <a:rPr lang="en-US" altLang="ko-KR" sz="1200" dirty="0">
                <a:solidFill>
                  <a:schemeClr val="bg1"/>
                </a:solidFill>
              </a:rPr>
              <a:t>4</a:t>
            </a:r>
            <a:endParaRPr lang="ko-KR" altLang="en-US" sz="1200" dirty="0">
              <a:solidFill>
                <a:schemeClr val="bg1"/>
              </a:solidFill>
            </a:endParaRPr>
          </a:p>
        </p:txBody>
      </p:sp>
      <p:cxnSp>
        <p:nvCxnSpPr>
          <p:cNvPr id="164" name="직선 화살표 연결선 163"/>
          <p:cNvCxnSpPr>
            <a:stCxn id="160" idx="0"/>
          </p:cNvCxnSpPr>
          <p:nvPr/>
        </p:nvCxnSpPr>
        <p:spPr>
          <a:xfrm flipV="1">
            <a:off x="9488953" y="3770277"/>
            <a:ext cx="0" cy="40219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5" name="직사각형 164"/>
          <p:cNvSpPr/>
          <p:nvPr/>
        </p:nvSpPr>
        <p:spPr>
          <a:xfrm>
            <a:off x="8953678" y="5691789"/>
            <a:ext cx="2183611" cy="954107"/>
          </a:xfrm>
          <a:prstGeom prst="rect">
            <a:avLst/>
          </a:prstGeom>
          <a:ln>
            <a:solidFill>
              <a:schemeClr val="bg1">
                <a:lumMod val="50000"/>
              </a:schemeClr>
            </a:solidFill>
          </a:ln>
        </p:spPr>
        <p:txBody>
          <a:bodyPr wrap="none">
            <a:spAutoFit/>
          </a:bodyPr>
          <a:lstStyle/>
          <a:p>
            <a:pPr fontAlgn="base"/>
            <a:r>
              <a:rPr lang="ko-KR" altLang="en-US" sz="1400" kern="0" dirty="0">
                <a:solidFill>
                  <a:srgbClr val="FF0000"/>
                </a:solidFill>
                <a:latin typeface="+mn-ea"/>
              </a:rPr>
              <a:t>❶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r>
              <a:rPr lang="en-US" altLang="ko-KR" sz="1400" kern="0" dirty="0">
                <a:solidFill>
                  <a:srgbClr val="FF0000"/>
                </a:solidFill>
                <a:latin typeface="+mn-ea"/>
              </a:rPr>
              <a:t> </a:t>
            </a:r>
          </a:p>
          <a:p>
            <a:pPr fontAlgn="base"/>
            <a:r>
              <a:rPr lang="ko-KR" altLang="en-US" sz="1400" kern="0" dirty="0">
                <a:solidFill>
                  <a:srgbClr val="FF0000"/>
                </a:solidFill>
                <a:latin typeface="+mn-ea"/>
              </a:rPr>
              <a:t>❷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endParaRPr lang="en-US" altLang="ko-KR" sz="1400" kern="0" dirty="0">
              <a:solidFill>
                <a:srgbClr val="FF0000"/>
              </a:solidFill>
              <a:latin typeface="+mn-ea"/>
            </a:endParaRPr>
          </a:p>
          <a:p>
            <a:pPr fontAlgn="base"/>
            <a:r>
              <a:rPr lang="ko-KR" altLang="en-US" sz="1400" kern="0" dirty="0">
                <a:solidFill>
                  <a:srgbClr val="FF0000"/>
                </a:solidFill>
                <a:latin typeface="+mn-ea"/>
              </a:rPr>
              <a:t>❸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endParaRPr lang="en-US" altLang="ko-KR" sz="1400" kern="0" dirty="0">
              <a:solidFill>
                <a:srgbClr val="FF0000"/>
              </a:solidFill>
              <a:latin typeface="+mn-ea"/>
            </a:endParaRPr>
          </a:p>
          <a:p>
            <a:pPr fontAlgn="base"/>
            <a:r>
              <a:rPr lang="ko-KR" altLang="en-US" sz="1400" kern="0" dirty="0">
                <a:solidFill>
                  <a:srgbClr val="FF0000"/>
                </a:solidFill>
                <a:latin typeface="+mn-ea"/>
              </a:rPr>
              <a:t>❹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endParaRPr lang="en-US" altLang="ko-KR" sz="1400" kern="0" dirty="0">
              <a:solidFill>
                <a:srgbClr val="FF0000"/>
              </a:solidFill>
              <a:latin typeface="+mn-ea"/>
            </a:endParaRPr>
          </a:p>
        </p:txBody>
      </p:sp>
      <p:sp>
        <p:nvSpPr>
          <p:cNvPr id="44" name="TextBox 43"/>
          <p:cNvSpPr txBox="1"/>
          <p:nvPr/>
        </p:nvSpPr>
        <p:spPr>
          <a:xfrm>
            <a:off x="8983365" y="4782968"/>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1. </a:t>
            </a:r>
            <a:r>
              <a:rPr lang="ko-KR" altLang="en-US" sz="1100" dirty="0"/>
              <a:t>원거절이유의 </a:t>
            </a:r>
            <a:r>
              <a:rPr lang="ko-KR" altLang="en-US" sz="1100" dirty="0" err="1"/>
              <a:t>해소여부</a:t>
            </a:r>
            <a:endParaRPr lang="ko-KR" altLang="en-US" dirty="0"/>
          </a:p>
        </p:txBody>
      </p:sp>
      <p:sp>
        <p:nvSpPr>
          <p:cNvPr id="45" name="TextBox 44"/>
          <p:cNvSpPr txBox="1"/>
          <p:nvPr/>
        </p:nvSpPr>
        <p:spPr>
          <a:xfrm>
            <a:off x="8983365" y="5069979"/>
            <a:ext cx="2390207"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2. </a:t>
            </a:r>
            <a:r>
              <a:rPr lang="ko-KR" altLang="en-US" sz="1100" dirty="0"/>
              <a:t>새로운 </a:t>
            </a:r>
            <a:r>
              <a:rPr lang="ko-KR" altLang="en-US" sz="1100" dirty="0" err="1"/>
              <a:t>거절이유의</a:t>
            </a:r>
            <a:r>
              <a:rPr lang="ko-KR" altLang="en-US" sz="1100" dirty="0"/>
              <a:t> </a:t>
            </a:r>
            <a:r>
              <a:rPr lang="ko-KR" altLang="en-US" sz="1100" dirty="0" err="1"/>
              <a:t>발견여부</a:t>
            </a:r>
            <a:endParaRPr lang="ko-KR" altLang="en-US" sz="1100" dirty="0"/>
          </a:p>
        </p:txBody>
      </p:sp>
      <p:sp>
        <p:nvSpPr>
          <p:cNvPr id="46" name="TextBox 45"/>
          <p:cNvSpPr txBox="1"/>
          <p:nvPr/>
        </p:nvSpPr>
        <p:spPr>
          <a:xfrm>
            <a:off x="8983366" y="5368305"/>
            <a:ext cx="2397889"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3. </a:t>
            </a:r>
            <a:r>
              <a:rPr lang="ko-KR" altLang="en-US" sz="1100" dirty="0"/>
              <a:t>새로운 거절이유의 발생시점</a:t>
            </a:r>
          </a:p>
        </p:txBody>
      </p:sp>
      <p:sp>
        <p:nvSpPr>
          <p:cNvPr id="47" name="TextBox 46"/>
          <p:cNvSpPr txBox="1"/>
          <p:nvPr/>
        </p:nvSpPr>
        <p:spPr>
          <a:xfrm>
            <a:off x="8983365" y="4487721"/>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0. </a:t>
            </a:r>
            <a:r>
              <a:rPr lang="ko-KR" altLang="en-US" sz="1100" dirty="0"/>
              <a:t>보정의 적법성</a:t>
            </a:r>
          </a:p>
        </p:txBody>
      </p:sp>
      <p:sp>
        <p:nvSpPr>
          <p:cNvPr id="52" name="TextBox 51"/>
          <p:cNvSpPr txBox="1"/>
          <p:nvPr/>
        </p:nvSpPr>
        <p:spPr>
          <a:xfrm>
            <a:off x="77875" y="986046"/>
            <a:ext cx="11936323" cy="2031325"/>
          </a:xfrm>
          <a:prstGeom prst="rect">
            <a:avLst/>
          </a:prstGeom>
          <a:noFill/>
        </p:spPr>
        <p:txBody>
          <a:bodyPr wrap="square" rtlCol="0">
            <a:spAutoFit/>
          </a:bodyPr>
          <a:lstStyle/>
          <a:p>
            <a:pPr fontAlgn="base"/>
            <a:r>
              <a:rPr lang="ko-KR" altLang="en-US" sz="1400" dirty="0">
                <a:solidFill>
                  <a:schemeClr val="tx2"/>
                </a:solidFill>
              </a:rPr>
              <a:t>심사관은 특허결정을 취소한 경우에는 다시 심사를 진행한다</a:t>
            </a:r>
            <a:r>
              <a:rPr lang="en-US" altLang="ko-KR" sz="1400" dirty="0">
                <a:solidFill>
                  <a:schemeClr val="tx2"/>
                </a:solidFill>
              </a:rPr>
              <a:t>. </a:t>
            </a:r>
            <a:r>
              <a:rPr lang="ko-KR" altLang="en-US" sz="1400" dirty="0">
                <a:solidFill>
                  <a:schemeClr val="tx2"/>
                </a:solidFill>
              </a:rPr>
              <a:t>심사관은 직권 재심사에 이르게 된 명백한 거절이유에 대해서는 </a:t>
            </a:r>
            <a:r>
              <a:rPr lang="ko-KR" altLang="en-US" sz="1400" dirty="0" err="1">
                <a:solidFill>
                  <a:schemeClr val="tx2"/>
                </a:solidFill>
              </a:rPr>
              <a:t>특허출원인에게</a:t>
            </a:r>
            <a:r>
              <a:rPr lang="ko-KR" altLang="en-US" sz="1400" dirty="0">
                <a:solidFill>
                  <a:schemeClr val="tx2"/>
                </a:solidFill>
              </a:rPr>
              <a:t> 최초거절이유를 통지하여 기간을 정하여 의견서를 제출할 수 있는 기회를 주어야 한다</a:t>
            </a:r>
            <a:r>
              <a:rPr lang="en-US" altLang="ko-KR" sz="1400" dirty="0">
                <a:solidFill>
                  <a:schemeClr val="tx2"/>
                </a:solidFill>
                <a:highlight>
                  <a:srgbClr val="FFFF00"/>
                </a:highlight>
              </a:rPr>
              <a:t>(</a:t>
            </a:r>
            <a:r>
              <a:rPr lang="ko-KR" altLang="en-US" sz="1400" dirty="0">
                <a:solidFill>
                  <a:schemeClr val="tx2"/>
                </a:solidFill>
                <a:highlight>
                  <a:srgbClr val="FFFF00"/>
                </a:highlight>
              </a:rPr>
              <a:t>法 </a:t>
            </a:r>
            <a:r>
              <a:rPr lang="en-US" altLang="ko-KR" sz="1400" dirty="0">
                <a:solidFill>
                  <a:schemeClr val="tx2"/>
                </a:solidFill>
                <a:highlight>
                  <a:srgbClr val="FFFF00"/>
                </a:highlight>
              </a:rPr>
              <a:t>47①Ⅱ</a:t>
            </a:r>
            <a:r>
              <a:rPr lang="ko-KR" altLang="en-US" sz="1400" dirty="0">
                <a:solidFill>
                  <a:schemeClr val="tx2"/>
                </a:solidFill>
                <a:highlight>
                  <a:srgbClr val="FFFF00"/>
                </a:highlight>
              </a:rPr>
              <a:t>괄호</a:t>
            </a:r>
            <a:r>
              <a:rPr lang="en-US" altLang="ko-KR" sz="1400" dirty="0">
                <a:solidFill>
                  <a:schemeClr val="tx2"/>
                </a:solidFill>
                <a:highlight>
                  <a:srgbClr val="FFFF00"/>
                </a:highlight>
              </a:rPr>
              <a:t>)</a:t>
            </a:r>
            <a:r>
              <a:rPr lang="en-US" altLang="ko-KR" sz="1400" dirty="0">
                <a:solidFill>
                  <a:schemeClr val="tx2"/>
                </a:solidFill>
              </a:rPr>
              <a:t>. </a:t>
            </a:r>
            <a:r>
              <a:rPr lang="ko-KR" altLang="en-US" sz="1400" dirty="0">
                <a:solidFill>
                  <a:schemeClr val="tx2"/>
                </a:solidFill>
              </a:rPr>
              <a:t>즉</a:t>
            </a:r>
            <a:r>
              <a:rPr lang="en-US" altLang="ko-KR" sz="1400" dirty="0">
                <a:solidFill>
                  <a:schemeClr val="tx2"/>
                </a:solidFill>
              </a:rPr>
              <a:t>, </a:t>
            </a:r>
            <a:r>
              <a:rPr lang="ko-KR" altLang="en-US" sz="1400" dirty="0">
                <a:solidFill>
                  <a:schemeClr val="tx2"/>
                </a:solidFill>
              </a:rPr>
              <a:t>심사관이 특허결정을 취소한 경우에는 다시 최초거절이유통지를 하여</a:t>
            </a:r>
            <a:r>
              <a:rPr lang="en-US" altLang="ko-KR" sz="1400" dirty="0">
                <a:solidFill>
                  <a:schemeClr val="tx2"/>
                </a:solidFill>
              </a:rPr>
              <a:t>, </a:t>
            </a:r>
            <a:r>
              <a:rPr lang="ko-KR" altLang="en-US" sz="1400" dirty="0" err="1">
                <a:solidFill>
                  <a:schemeClr val="tx2"/>
                </a:solidFill>
              </a:rPr>
              <a:t>출원인에게</a:t>
            </a:r>
            <a:r>
              <a:rPr lang="ko-KR" altLang="en-US" sz="1400" dirty="0">
                <a:solidFill>
                  <a:schemeClr val="tx2"/>
                </a:solidFill>
              </a:rPr>
              <a:t> 청구범위를 확장</a:t>
            </a:r>
            <a:r>
              <a:rPr lang="en-US" altLang="ko-KR" sz="1400" dirty="0">
                <a:solidFill>
                  <a:schemeClr val="tx2"/>
                </a:solidFill>
              </a:rPr>
              <a:t>, </a:t>
            </a:r>
            <a:r>
              <a:rPr lang="ko-KR" altLang="en-US" sz="1400" dirty="0">
                <a:solidFill>
                  <a:schemeClr val="tx2"/>
                </a:solidFill>
              </a:rPr>
              <a:t>변경할 수 있는 보정기회를 주고 있다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47②). </a:t>
            </a:r>
            <a:r>
              <a:rPr lang="ko-KR" altLang="en-US" sz="1400" dirty="0">
                <a:solidFill>
                  <a:schemeClr val="tx2"/>
                </a:solidFill>
              </a:rPr>
              <a:t>심사관은 취소된 특허결정 전에 이미 통지한 거절이유로 특허거절결정을 하려는 경우에도 </a:t>
            </a:r>
            <a:r>
              <a:rPr lang="ko-KR" altLang="en-US" sz="1400" dirty="0" err="1">
                <a:solidFill>
                  <a:schemeClr val="tx2"/>
                </a:solidFill>
              </a:rPr>
              <a:t>특허출원인에게</a:t>
            </a:r>
            <a:r>
              <a:rPr lang="ko-KR" altLang="en-US" sz="1400" dirty="0">
                <a:solidFill>
                  <a:schemeClr val="tx2"/>
                </a:solidFill>
              </a:rPr>
              <a:t> 최초거절이유를 통지하고</a:t>
            </a:r>
            <a:r>
              <a:rPr lang="en-US" altLang="ko-KR" sz="1400" dirty="0">
                <a:solidFill>
                  <a:schemeClr val="tx2"/>
                </a:solidFill>
              </a:rPr>
              <a:t>, </a:t>
            </a:r>
            <a:r>
              <a:rPr lang="ko-KR" altLang="en-US" sz="1400" dirty="0">
                <a:solidFill>
                  <a:schemeClr val="tx2"/>
                </a:solidFill>
              </a:rPr>
              <a:t>기간을 정하여 의견서를 제출할 수 있는 기회를 주어야 한다</a:t>
            </a:r>
            <a:r>
              <a:rPr lang="en-US" altLang="ko-KR" sz="1400" dirty="0">
                <a:solidFill>
                  <a:schemeClr val="tx2"/>
                </a:solidFill>
                <a:highlight>
                  <a:srgbClr val="FFFF00"/>
                </a:highlight>
              </a:rPr>
              <a:t>(</a:t>
            </a:r>
            <a:r>
              <a:rPr lang="ko-KR" altLang="en-US" sz="1400" dirty="0">
                <a:solidFill>
                  <a:schemeClr val="tx2"/>
                </a:solidFill>
                <a:highlight>
                  <a:srgbClr val="FFFF00"/>
                </a:highlight>
              </a:rPr>
              <a:t>法 </a:t>
            </a:r>
            <a:r>
              <a:rPr lang="en-US" altLang="ko-KR" sz="1400" dirty="0">
                <a:solidFill>
                  <a:schemeClr val="tx2"/>
                </a:solidFill>
                <a:highlight>
                  <a:srgbClr val="FFFF00"/>
                </a:highlight>
              </a:rPr>
              <a:t>63①Ⅱ)</a:t>
            </a:r>
            <a:r>
              <a:rPr lang="en-US" altLang="ko-KR" sz="1400" dirty="0">
                <a:solidFill>
                  <a:schemeClr val="tx2"/>
                </a:solidFill>
              </a:rPr>
              <a:t>. </a:t>
            </a:r>
            <a:r>
              <a:rPr lang="ko-KR" altLang="en-US" sz="1400" dirty="0">
                <a:solidFill>
                  <a:schemeClr val="tx2"/>
                </a:solidFill>
              </a:rPr>
              <a:t>이는 심사관이 특허출원에 관하여 명백한 거절이유가 있음에도 불구하고 특허결정을 한 후 이를 취소하여 다시 심사를 진행할 때 취소된 특허결정 전에 이미 통지한 거절이유를 이유로 곧바로 </a:t>
            </a:r>
            <a:r>
              <a:rPr lang="ko-KR" altLang="en-US" sz="1400" dirty="0" err="1">
                <a:solidFill>
                  <a:schemeClr val="tx2"/>
                </a:solidFill>
              </a:rPr>
              <a:t>거절결정하는</a:t>
            </a:r>
            <a:r>
              <a:rPr lang="ko-KR" altLang="en-US" sz="1400" dirty="0">
                <a:solidFill>
                  <a:schemeClr val="tx2"/>
                </a:solidFill>
              </a:rPr>
              <a:t> 것은 </a:t>
            </a:r>
            <a:r>
              <a:rPr lang="ko-KR" altLang="en-US" sz="1400" dirty="0" err="1">
                <a:solidFill>
                  <a:schemeClr val="tx2"/>
                </a:solidFill>
              </a:rPr>
              <a:t>출원인에게</a:t>
            </a:r>
            <a:r>
              <a:rPr lang="ko-KR" altLang="en-US" sz="1400" dirty="0">
                <a:solidFill>
                  <a:schemeClr val="tx2"/>
                </a:solidFill>
              </a:rPr>
              <a:t> 가혹하기 때문이다</a:t>
            </a:r>
            <a:r>
              <a:rPr lang="en-US" altLang="ko-KR" sz="1400" dirty="0">
                <a:solidFill>
                  <a:schemeClr val="tx2"/>
                </a:solidFill>
              </a:rPr>
              <a:t>. </a:t>
            </a:r>
            <a:r>
              <a:rPr lang="ko-KR" altLang="en-US" sz="1400" dirty="0">
                <a:solidFill>
                  <a:schemeClr val="tx2"/>
                </a:solidFill>
              </a:rPr>
              <a:t>심사관은 취소된 특허결정 전 최후거절이유통지에 따른 의견서 제출기간</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47①Ⅱ) </a:t>
            </a:r>
            <a:r>
              <a:rPr lang="ko-KR" altLang="en-US" sz="1400" dirty="0">
                <a:solidFill>
                  <a:schemeClr val="tx2"/>
                </a:solidFill>
              </a:rPr>
              <a:t>또는 재심사를 청구할 때</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47①Ⅲ) </a:t>
            </a:r>
            <a:r>
              <a:rPr lang="ko-KR" altLang="en-US" sz="1400" dirty="0">
                <a:solidFill>
                  <a:schemeClr val="tx2"/>
                </a:solidFill>
              </a:rPr>
              <a:t>한 보정이 신규사항추가금지</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47②) </a:t>
            </a:r>
            <a:r>
              <a:rPr lang="ko-KR" altLang="en-US" sz="1400" dirty="0">
                <a:solidFill>
                  <a:schemeClr val="tx2"/>
                </a:solidFill>
              </a:rPr>
              <a:t>또는 청구범위 보정범위제한</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47③)</a:t>
            </a:r>
            <a:r>
              <a:rPr lang="ko-KR" altLang="en-US" sz="1400" dirty="0">
                <a:solidFill>
                  <a:schemeClr val="tx2"/>
                </a:solidFill>
              </a:rPr>
              <a:t>을 위반하거나 그 보정에 따라 새로운 거절이유가 발생했음에도 불구하고 </a:t>
            </a:r>
            <a:r>
              <a:rPr lang="ko-KR" altLang="en-US" sz="1400" dirty="0" err="1">
                <a:solidFill>
                  <a:schemeClr val="tx2"/>
                </a:solidFill>
              </a:rPr>
              <a:t>보정각하결정을</a:t>
            </a:r>
            <a:r>
              <a:rPr lang="ko-KR" altLang="en-US" sz="1400" dirty="0">
                <a:solidFill>
                  <a:schemeClr val="tx2"/>
                </a:solidFill>
              </a:rPr>
              <a:t> 하지 아니하고 </a:t>
            </a:r>
            <a:r>
              <a:rPr lang="ko-KR" altLang="en-US" sz="1400" dirty="0" err="1">
                <a:solidFill>
                  <a:schemeClr val="tx2"/>
                </a:solidFill>
              </a:rPr>
              <a:t>특허결정한</a:t>
            </a:r>
            <a:r>
              <a:rPr lang="ko-KR" altLang="en-US" sz="1400" dirty="0">
                <a:solidFill>
                  <a:schemeClr val="tx2"/>
                </a:solidFill>
              </a:rPr>
              <a:t> 것을 특허결정을 취소한 후에 직권 재심사단계에서 발견한 경우에는</a:t>
            </a:r>
            <a:r>
              <a:rPr lang="en-US" altLang="ko-KR" sz="1400" dirty="0">
                <a:solidFill>
                  <a:schemeClr val="tx2"/>
                </a:solidFill>
              </a:rPr>
              <a:t>, </a:t>
            </a:r>
            <a:r>
              <a:rPr lang="ko-KR" altLang="en-US" sz="1400" dirty="0" err="1">
                <a:solidFill>
                  <a:schemeClr val="tx2"/>
                </a:solidFill>
              </a:rPr>
              <a:t>보정각하를</a:t>
            </a:r>
            <a:r>
              <a:rPr lang="ko-KR" altLang="en-US" sz="1400" dirty="0">
                <a:solidFill>
                  <a:schemeClr val="tx2"/>
                </a:solidFill>
              </a:rPr>
              <a:t> 하지 아니하고 최초거절이유통지를 한다</a:t>
            </a:r>
            <a:r>
              <a:rPr lang="en-US" altLang="ko-KR" sz="1400" dirty="0">
                <a:solidFill>
                  <a:schemeClr val="tx2"/>
                </a:solidFill>
              </a:rPr>
              <a:t>(</a:t>
            </a:r>
            <a:r>
              <a:rPr lang="ko-KR" altLang="en-US" sz="1400" dirty="0">
                <a:solidFill>
                  <a:schemeClr val="tx2"/>
                </a:solidFill>
                <a:highlight>
                  <a:srgbClr val="FFFF00"/>
                </a:highlight>
              </a:rPr>
              <a:t>法 </a:t>
            </a:r>
            <a:r>
              <a:rPr lang="en-US" altLang="ko-KR" sz="1400" dirty="0">
                <a:solidFill>
                  <a:schemeClr val="tx2"/>
                </a:solidFill>
                <a:highlight>
                  <a:srgbClr val="FFFF00"/>
                </a:highlight>
              </a:rPr>
              <a:t>51①Ⅱ</a:t>
            </a:r>
            <a:r>
              <a:rPr lang="en-US" altLang="ko-KR" sz="1400" dirty="0">
                <a:solidFill>
                  <a:schemeClr val="tx2"/>
                </a:solidFill>
              </a:rPr>
              <a:t>, 47①Ⅱ). </a:t>
            </a:r>
            <a:r>
              <a:rPr lang="ko-KR" altLang="en-US" sz="1400" dirty="0">
                <a:solidFill>
                  <a:schemeClr val="tx2"/>
                </a:solidFill>
              </a:rPr>
              <a:t>이는 보정이 인정됨을 전제로 특허결정을 받았다는 것을 신뢰한 출원인의 이익을 보호하기 위함이다</a:t>
            </a:r>
            <a:r>
              <a:rPr lang="en-US" altLang="ko-KR" sz="1400" dirty="0">
                <a:solidFill>
                  <a:schemeClr val="tx2"/>
                </a:solidFill>
              </a:rPr>
              <a:t>.</a:t>
            </a:r>
            <a:endParaRPr lang="ko-KR" altLang="en-US" sz="1400" dirty="0">
              <a:solidFill>
                <a:schemeClr val="tx2"/>
              </a:solidFill>
            </a:endParaRPr>
          </a:p>
        </p:txBody>
      </p:sp>
      <p:cxnSp>
        <p:nvCxnSpPr>
          <p:cNvPr id="53" name="직선 연결선 52"/>
          <p:cNvCxnSpPr/>
          <p:nvPr/>
        </p:nvCxnSpPr>
        <p:spPr>
          <a:xfrm>
            <a:off x="0" y="300972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슬라이드 번호 개체 틀 4"/>
          <p:cNvSpPr>
            <a:spLocks noGrp="1"/>
          </p:cNvSpPr>
          <p:nvPr>
            <p:ph type="sldNum" sz="quarter" idx="12"/>
          </p:nvPr>
        </p:nvSpPr>
        <p:spPr/>
        <p:txBody>
          <a:bodyPr/>
          <a:lstStyle/>
          <a:p>
            <a:r>
              <a:rPr lang="en-US" altLang="ko-KR"/>
              <a:t>271</a:t>
            </a:r>
            <a:endParaRPr lang="ko-KR" altLang="en-US" dirty="0"/>
          </a:p>
        </p:txBody>
      </p:sp>
    </p:spTree>
    <p:extLst>
      <p:ext uri="{BB962C8B-B14F-4D97-AF65-F5344CB8AC3E}">
        <p14:creationId xmlns:p14="http://schemas.microsoft.com/office/powerpoint/2010/main" val="3173923720"/>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양쪽 모서리가 둥근 사각형 26">
            <a:extLst>
              <a:ext uri="{FF2B5EF4-FFF2-40B4-BE49-F238E27FC236}">
                <a16:creationId xmlns:a16="http://schemas.microsoft.com/office/drawing/2014/main" id="{63290DFE-D068-4C05-A586-5A09C83427D8}"/>
              </a:ext>
            </a:extLst>
          </p:cNvPr>
          <p:cNvSpPr/>
          <p:nvPr/>
        </p:nvSpPr>
        <p:spPr>
          <a:xfrm flipV="1">
            <a:off x="9816670" y="4032325"/>
            <a:ext cx="1771332" cy="365993"/>
          </a:xfrm>
          <a:prstGeom prst="round2SameRect">
            <a:avLst>
              <a:gd name="adj1" fmla="val 16667"/>
              <a:gd name="adj2" fmla="val 50000"/>
            </a:avLst>
          </a:prstGeom>
          <a:pattFill prst="dkVert">
            <a:fgClr>
              <a:schemeClr val="accent4"/>
            </a:fgClr>
            <a:bgClr>
              <a:schemeClr val="bg1"/>
            </a:bgClr>
          </a:patt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8" name="TextBox 87">
            <a:extLst>
              <a:ext uri="{FF2B5EF4-FFF2-40B4-BE49-F238E27FC236}">
                <a16:creationId xmlns:a16="http://schemas.microsoft.com/office/drawing/2014/main" id="{CA1D316B-5EB4-43EA-BD6D-434CF1F42D86}"/>
              </a:ext>
            </a:extLst>
          </p:cNvPr>
          <p:cNvSpPr txBox="1"/>
          <p:nvPr/>
        </p:nvSpPr>
        <p:spPr>
          <a:xfrm>
            <a:off x="10443121" y="3740247"/>
            <a:ext cx="1443066" cy="261610"/>
          </a:xfrm>
          <a:prstGeom prst="rect">
            <a:avLst/>
          </a:prstGeom>
          <a:noFill/>
        </p:spPr>
        <p:txBody>
          <a:bodyPr wrap="square">
            <a:spAutoFit/>
          </a:bodyPr>
          <a:lstStyle/>
          <a:p>
            <a:pPr algn="ctr"/>
            <a:r>
              <a:rPr lang="en-US" altLang="ko-KR" sz="1100" dirty="0"/>
              <a:t>3</a:t>
            </a:r>
            <a:r>
              <a:rPr lang="ko-KR" altLang="en-US" sz="1100" dirty="0"/>
              <a:t>월</a:t>
            </a:r>
          </a:p>
        </p:txBody>
      </p:sp>
      <p:sp>
        <p:nvSpPr>
          <p:cNvPr id="85" name="양쪽 모서리가 둥근 사각형 26">
            <a:extLst>
              <a:ext uri="{FF2B5EF4-FFF2-40B4-BE49-F238E27FC236}">
                <a16:creationId xmlns:a16="http://schemas.microsoft.com/office/drawing/2014/main" id="{C2694D89-9A31-40EE-951B-BD4522477ACB}"/>
              </a:ext>
            </a:extLst>
          </p:cNvPr>
          <p:cNvSpPr/>
          <p:nvPr/>
        </p:nvSpPr>
        <p:spPr>
          <a:xfrm flipV="1">
            <a:off x="5718167" y="4041561"/>
            <a:ext cx="1567171" cy="365993"/>
          </a:xfrm>
          <a:prstGeom prst="round2SameRect">
            <a:avLst>
              <a:gd name="adj1" fmla="val 16667"/>
              <a:gd name="adj2" fmla="val 50000"/>
            </a:avLst>
          </a:prstGeom>
          <a:pattFill prst="dkVert">
            <a:fgClr>
              <a:schemeClr val="accent4"/>
            </a:fgClr>
            <a:bgClr>
              <a:schemeClr val="bg1"/>
            </a:bgClr>
          </a:pattFill>
          <a:ln w="57150">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TextBox 85">
            <a:extLst>
              <a:ext uri="{FF2B5EF4-FFF2-40B4-BE49-F238E27FC236}">
                <a16:creationId xmlns:a16="http://schemas.microsoft.com/office/drawing/2014/main" id="{CEA3FBDC-D592-4DFD-98CA-D1F8869B1FC6}"/>
              </a:ext>
            </a:extLst>
          </p:cNvPr>
          <p:cNvSpPr txBox="1"/>
          <p:nvPr/>
        </p:nvSpPr>
        <p:spPr>
          <a:xfrm>
            <a:off x="5888461" y="3761480"/>
            <a:ext cx="1443066" cy="261610"/>
          </a:xfrm>
          <a:prstGeom prst="rect">
            <a:avLst/>
          </a:prstGeom>
          <a:noFill/>
        </p:spPr>
        <p:txBody>
          <a:bodyPr wrap="square">
            <a:spAutoFit/>
          </a:bodyPr>
          <a:lstStyle/>
          <a:p>
            <a:pPr algn="ctr"/>
            <a:r>
              <a:rPr lang="en-US" altLang="ko-KR" sz="1100" dirty="0"/>
              <a:t>3</a:t>
            </a:r>
            <a:r>
              <a:rPr lang="ko-KR" altLang="en-US" sz="1100" dirty="0"/>
              <a:t>월</a:t>
            </a:r>
          </a:p>
        </p:txBody>
      </p:sp>
      <p:sp>
        <p:nvSpPr>
          <p:cNvPr id="65" name="양쪽 모서리가 둥근 사각형 26">
            <a:extLst>
              <a:ext uri="{FF2B5EF4-FFF2-40B4-BE49-F238E27FC236}">
                <a16:creationId xmlns:a16="http://schemas.microsoft.com/office/drawing/2014/main" id="{A0984D59-2FF9-477B-A33D-C21FDA143422}"/>
              </a:ext>
            </a:extLst>
          </p:cNvPr>
          <p:cNvSpPr/>
          <p:nvPr/>
        </p:nvSpPr>
        <p:spPr>
          <a:xfrm flipV="1">
            <a:off x="2606686" y="4023089"/>
            <a:ext cx="1706695" cy="365993"/>
          </a:xfrm>
          <a:prstGeom prst="round2SameRect">
            <a:avLst>
              <a:gd name="adj1" fmla="val 16667"/>
              <a:gd name="adj2" fmla="val 50000"/>
            </a:avLst>
          </a:prstGeom>
          <a:pattFill prst="dkVert">
            <a:fgClr>
              <a:schemeClr val="accent4"/>
            </a:fgClr>
            <a:bgClr>
              <a:schemeClr val="bg1"/>
            </a:bgClr>
          </a:patt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67</a:t>
            </a:r>
            <a:r>
              <a:rPr lang="ko-KR" altLang="en-US" dirty="0"/>
              <a:t>조의</a:t>
            </a:r>
            <a:r>
              <a:rPr lang="en-US" altLang="ko-KR" dirty="0"/>
              <a:t>2</a:t>
            </a:r>
            <a:endParaRPr lang="ko-KR" altLang="en-US" dirty="0"/>
          </a:p>
        </p:txBody>
      </p:sp>
      <p:sp>
        <p:nvSpPr>
          <p:cNvPr id="4" name="텍스트 개체 틀 3"/>
          <p:cNvSpPr>
            <a:spLocks noGrp="1"/>
          </p:cNvSpPr>
          <p:nvPr>
            <p:ph type="body" sz="quarter" idx="13"/>
          </p:nvPr>
        </p:nvSpPr>
        <p:spPr/>
        <p:txBody>
          <a:bodyPr/>
          <a:lstStyle/>
          <a:p>
            <a:r>
              <a:rPr lang="ko-KR" altLang="en-US" dirty="0"/>
              <a:t>재심사의 청구</a:t>
            </a:r>
            <a:r>
              <a:rPr lang="en-US" altLang="ko-KR" dirty="0"/>
              <a:t>(</a:t>
            </a:r>
            <a:r>
              <a:rPr lang="ko-KR" altLang="en-US" dirty="0"/>
              <a:t>제</a:t>
            </a:r>
            <a:r>
              <a:rPr lang="en-US" altLang="ko-KR" dirty="0"/>
              <a:t>67</a:t>
            </a:r>
            <a:r>
              <a:rPr lang="ko-KR" altLang="en-US" dirty="0"/>
              <a:t>조의</a:t>
            </a:r>
            <a:r>
              <a:rPr lang="en-US" altLang="ko-KR" dirty="0"/>
              <a:t>2)</a:t>
            </a:r>
            <a:r>
              <a:rPr lang="ko-KR" altLang="en-US" dirty="0"/>
              <a:t>의 개념</a:t>
            </a:r>
          </a:p>
        </p:txBody>
      </p:sp>
      <p:sp>
        <p:nvSpPr>
          <p:cNvPr id="93" name="TextBox 92"/>
          <p:cNvSpPr txBox="1"/>
          <p:nvPr/>
        </p:nvSpPr>
        <p:spPr>
          <a:xfrm>
            <a:off x="77875" y="986046"/>
            <a:ext cx="11936323" cy="2246769"/>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67</a:t>
            </a:r>
            <a:r>
              <a:rPr lang="ko-KR" altLang="en-US" sz="1400" b="1" dirty="0">
                <a:solidFill>
                  <a:schemeClr val="accent1"/>
                </a:solidFill>
              </a:rPr>
              <a:t>조의</a:t>
            </a:r>
            <a:r>
              <a:rPr lang="en-US" altLang="ko-KR" sz="1400" b="1" dirty="0">
                <a:solidFill>
                  <a:schemeClr val="accent1"/>
                </a:solidFill>
              </a:rPr>
              <a:t>2(</a:t>
            </a:r>
            <a:r>
              <a:rPr lang="ko-KR" altLang="en-US" sz="1400" b="1" dirty="0">
                <a:solidFill>
                  <a:schemeClr val="accent1"/>
                </a:solidFill>
              </a:rPr>
              <a:t>재심사의 청구</a:t>
            </a:r>
            <a:r>
              <a:rPr lang="en-US" altLang="ko-KR" sz="1400" b="1" dirty="0">
                <a:solidFill>
                  <a:schemeClr val="accent1"/>
                </a:solidFill>
              </a:rPr>
              <a:t>) </a:t>
            </a:r>
            <a:r>
              <a:rPr lang="ko-KR" altLang="en-US" sz="1400" dirty="0">
                <a:solidFill>
                  <a:schemeClr val="tx2"/>
                </a:solidFill>
              </a:rPr>
              <a:t>① </a:t>
            </a:r>
            <a:r>
              <a:rPr lang="ko-KR" altLang="en-US" sz="1400" dirty="0" err="1">
                <a:solidFill>
                  <a:schemeClr val="tx2"/>
                </a:solidFill>
              </a:rPr>
              <a:t>특허출원인은</a:t>
            </a:r>
            <a:r>
              <a:rPr lang="ko-KR" altLang="en-US" sz="1400" dirty="0">
                <a:solidFill>
                  <a:schemeClr val="tx2"/>
                </a:solidFill>
              </a:rPr>
              <a:t> 그 특허출원에 관하여 </a:t>
            </a:r>
            <a:r>
              <a:rPr lang="ko-KR" altLang="en-US" sz="1400" dirty="0">
                <a:solidFill>
                  <a:srgbClr val="FF0000"/>
                </a:solidFill>
              </a:rPr>
              <a:t>특허결정의 등본을 </a:t>
            </a:r>
            <a:r>
              <a:rPr lang="ko-KR" altLang="en-US" sz="1400" dirty="0" err="1">
                <a:solidFill>
                  <a:srgbClr val="FF0000"/>
                </a:solidFill>
              </a:rPr>
              <a:t>송달받은</a:t>
            </a:r>
            <a:r>
              <a:rPr lang="ko-KR" altLang="en-US" sz="1400" dirty="0">
                <a:solidFill>
                  <a:srgbClr val="FF0000"/>
                </a:solidFill>
              </a:rPr>
              <a:t> 날부터 제</a:t>
            </a:r>
            <a:r>
              <a:rPr lang="en-US" altLang="ko-KR" sz="1400" dirty="0">
                <a:solidFill>
                  <a:srgbClr val="FF0000"/>
                </a:solidFill>
              </a:rPr>
              <a:t>79</a:t>
            </a:r>
            <a:r>
              <a:rPr lang="ko-KR" altLang="en-US" sz="1400" dirty="0">
                <a:solidFill>
                  <a:srgbClr val="FF0000"/>
                </a:solidFill>
              </a:rPr>
              <a:t>조에 따른 설정등록을 받기 전까지의 기간</a:t>
            </a:r>
            <a:r>
              <a:rPr lang="ko-KR" altLang="en-US" sz="1400" dirty="0">
                <a:solidFill>
                  <a:schemeClr val="tx2"/>
                </a:solidFill>
              </a:rPr>
              <a:t> 또는 </a:t>
            </a:r>
            <a:r>
              <a:rPr lang="ko-KR" altLang="en-US" sz="1400" dirty="0" err="1">
                <a:solidFill>
                  <a:schemeClr val="tx2"/>
                </a:solidFill>
              </a:rPr>
              <a:t>특허거절결정등본을</a:t>
            </a:r>
            <a:r>
              <a:rPr lang="ko-KR" altLang="en-US" sz="1400" dirty="0">
                <a:solidFill>
                  <a:schemeClr val="tx2"/>
                </a:solidFill>
              </a:rPr>
              <a:t> </a:t>
            </a:r>
            <a:r>
              <a:rPr lang="ko-KR" altLang="en-US" sz="1400" dirty="0" err="1">
                <a:solidFill>
                  <a:schemeClr val="tx2"/>
                </a:solidFill>
              </a:rPr>
              <a:t>송달받은</a:t>
            </a:r>
            <a:r>
              <a:rPr lang="ko-KR" altLang="en-US" sz="1400" dirty="0">
                <a:solidFill>
                  <a:schemeClr val="tx2"/>
                </a:solidFill>
              </a:rPr>
              <a:t> 날부터 </a:t>
            </a:r>
            <a:r>
              <a:rPr lang="en-US" altLang="ko-KR" sz="1400" dirty="0">
                <a:solidFill>
                  <a:schemeClr val="tx2"/>
                </a:solidFill>
              </a:rPr>
              <a:t>3</a:t>
            </a:r>
            <a:r>
              <a:rPr lang="ko-KR" altLang="en-US" sz="1400" dirty="0">
                <a:solidFill>
                  <a:schemeClr val="tx2"/>
                </a:solidFill>
              </a:rPr>
              <a:t>개월</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15</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따라 제</a:t>
            </a:r>
            <a:r>
              <a:rPr lang="en-US" altLang="ko-KR" sz="1400" dirty="0">
                <a:solidFill>
                  <a:schemeClr val="tx2"/>
                </a:solidFill>
              </a:rPr>
              <a:t>132</a:t>
            </a:r>
            <a:r>
              <a:rPr lang="ko-KR" altLang="en-US" sz="1400" dirty="0">
                <a:solidFill>
                  <a:schemeClr val="tx2"/>
                </a:solidFill>
              </a:rPr>
              <a:t>조의</a:t>
            </a:r>
            <a:r>
              <a:rPr lang="en-US" altLang="ko-KR" sz="1400" dirty="0">
                <a:solidFill>
                  <a:schemeClr val="tx2"/>
                </a:solidFill>
              </a:rPr>
              <a:t>17</a:t>
            </a:r>
            <a:r>
              <a:rPr lang="ko-KR" altLang="en-US" sz="1400" dirty="0">
                <a:solidFill>
                  <a:schemeClr val="tx2"/>
                </a:solidFill>
              </a:rPr>
              <a:t>에 따른 기간이 연장된 경우 그 연장된 기간을 말한다</a:t>
            </a:r>
            <a:r>
              <a:rPr lang="en-US" altLang="ko-KR" sz="1400" dirty="0">
                <a:solidFill>
                  <a:schemeClr val="tx2"/>
                </a:solidFill>
              </a:rPr>
              <a:t>) </a:t>
            </a:r>
            <a:r>
              <a:rPr lang="ko-KR" altLang="en-US" sz="1400" dirty="0">
                <a:solidFill>
                  <a:schemeClr val="tx2"/>
                </a:solidFill>
              </a:rPr>
              <a:t>이내에 그 특허출원의 명세서 또는 도면을 보정하여 해당 특허출원에 관한 재심사</a:t>
            </a:r>
            <a:r>
              <a:rPr lang="en-US" altLang="ko-KR" sz="1400" dirty="0">
                <a:solidFill>
                  <a:schemeClr val="tx2"/>
                </a:solidFill>
              </a:rPr>
              <a:t>(</a:t>
            </a:r>
            <a:r>
              <a:rPr lang="ko-KR" altLang="en-US" sz="1400" dirty="0">
                <a:solidFill>
                  <a:schemeClr val="tx2"/>
                </a:solidFill>
              </a:rPr>
              <a:t>이하 </a:t>
            </a:r>
            <a:r>
              <a:rPr lang="en-US" altLang="ko-KR" sz="1400" dirty="0">
                <a:solidFill>
                  <a:schemeClr val="tx2"/>
                </a:solidFill>
              </a:rPr>
              <a:t>"</a:t>
            </a:r>
            <a:r>
              <a:rPr lang="ko-KR" altLang="en-US" sz="1400" dirty="0">
                <a:solidFill>
                  <a:schemeClr val="tx2"/>
                </a:solidFill>
              </a:rPr>
              <a:t>재심사</a:t>
            </a:r>
            <a:r>
              <a:rPr lang="en-US" altLang="ko-KR" sz="1400" dirty="0">
                <a:solidFill>
                  <a:schemeClr val="tx2"/>
                </a:solidFill>
              </a:rPr>
              <a:t>"</a:t>
            </a:r>
            <a:r>
              <a:rPr lang="ko-KR" altLang="en-US" sz="1400" dirty="0">
                <a:solidFill>
                  <a:schemeClr val="tx2"/>
                </a:solidFill>
              </a:rPr>
              <a:t>라 한다</a:t>
            </a:r>
            <a:r>
              <a:rPr lang="en-US" altLang="ko-KR" sz="1400" dirty="0">
                <a:solidFill>
                  <a:schemeClr val="tx2"/>
                </a:solidFill>
              </a:rPr>
              <a:t>)</a:t>
            </a:r>
            <a:r>
              <a:rPr lang="ko-KR" altLang="en-US" sz="1400" dirty="0">
                <a:solidFill>
                  <a:schemeClr val="tx2"/>
                </a:solidFill>
              </a:rPr>
              <a:t>를 청구할 수 있다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다음 각 호의 어느 하나에 해당하는 경우에는 그러하지 아니하다</a:t>
            </a:r>
            <a:r>
              <a:rPr lang="en-US" altLang="ko-KR" sz="1400" dirty="0">
                <a:solidFill>
                  <a:schemeClr val="tx2"/>
                </a:solidFill>
              </a:rPr>
              <a:t>. </a:t>
            </a:r>
          </a:p>
          <a:p>
            <a:pPr fontAlgn="base"/>
            <a:r>
              <a:rPr lang="en-US" altLang="ko-KR" sz="1400" dirty="0">
                <a:solidFill>
                  <a:schemeClr val="tx2"/>
                </a:solidFill>
              </a:rPr>
              <a:t>  1. </a:t>
            </a:r>
            <a:r>
              <a:rPr lang="ko-KR" altLang="en-US" sz="1400" dirty="0">
                <a:solidFill>
                  <a:schemeClr val="tx2"/>
                </a:solidFill>
              </a:rPr>
              <a:t>재심사를 청구할 때에 이미 재심사에 따른 특허여부의 결정이 있는 경우</a:t>
            </a:r>
          </a:p>
          <a:p>
            <a:pPr fontAlgn="base"/>
            <a:r>
              <a:rPr lang="ko-KR" altLang="en-US" sz="1400" dirty="0">
                <a:solidFill>
                  <a:schemeClr val="tx2"/>
                </a:solidFill>
              </a:rPr>
              <a:t>  </a:t>
            </a:r>
            <a:r>
              <a:rPr lang="en-US" altLang="ko-KR" sz="1400" dirty="0">
                <a:solidFill>
                  <a:schemeClr val="tx2"/>
                </a:solidFill>
              </a:rPr>
              <a:t>2. </a:t>
            </a:r>
            <a:r>
              <a:rPr lang="ko-KR" altLang="en-US" sz="1400" dirty="0">
                <a:solidFill>
                  <a:schemeClr val="tx2"/>
                </a:solidFill>
              </a:rPr>
              <a:t>제</a:t>
            </a:r>
            <a:r>
              <a:rPr lang="en-US" altLang="ko-KR" sz="1400" dirty="0">
                <a:solidFill>
                  <a:schemeClr val="tx2"/>
                </a:solidFill>
              </a:rPr>
              <a:t>132</a:t>
            </a:r>
            <a:r>
              <a:rPr lang="ko-KR" altLang="en-US" sz="1400" dirty="0">
                <a:solidFill>
                  <a:schemeClr val="tx2"/>
                </a:solidFill>
              </a:rPr>
              <a:t>조의</a:t>
            </a:r>
            <a:r>
              <a:rPr lang="en-US" altLang="ko-KR" sz="1400" dirty="0">
                <a:solidFill>
                  <a:schemeClr val="tx2"/>
                </a:solidFill>
              </a:rPr>
              <a:t>17</a:t>
            </a:r>
            <a:r>
              <a:rPr lang="ko-KR" altLang="en-US" sz="1400" dirty="0">
                <a:solidFill>
                  <a:schemeClr val="tx2"/>
                </a:solidFill>
              </a:rPr>
              <a:t>에 따른 심판청구가 있는 경우</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176</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따라 </a:t>
            </a:r>
            <a:r>
              <a:rPr lang="ko-KR" altLang="en-US" sz="1400" dirty="0" err="1">
                <a:solidFill>
                  <a:schemeClr val="tx2"/>
                </a:solidFill>
              </a:rPr>
              <a:t>특허거절결정이</a:t>
            </a:r>
            <a:r>
              <a:rPr lang="ko-KR" altLang="en-US" sz="1400" dirty="0">
                <a:solidFill>
                  <a:schemeClr val="tx2"/>
                </a:solidFill>
              </a:rPr>
              <a:t> 취소된 경우는 제외한다</a:t>
            </a:r>
            <a:r>
              <a:rPr lang="en-US" altLang="ko-KR" sz="1400" dirty="0">
                <a:solidFill>
                  <a:schemeClr val="tx2"/>
                </a:solidFill>
              </a:rPr>
              <a:t>)</a:t>
            </a:r>
          </a:p>
          <a:p>
            <a:pPr fontAlgn="base"/>
            <a:r>
              <a:rPr lang="en-US" altLang="ko-KR" sz="1400" dirty="0">
                <a:solidFill>
                  <a:schemeClr val="tx2"/>
                </a:solidFill>
              </a:rPr>
              <a:t>  3. </a:t>
            </a:r>
            <a:r>
              <a:rPr lang="ko-KR" altLang="en-US" sz="1400" dirty="0">
                <a:solidFill>
                  <a:schemeClr val="tx2"/>
                </a:solidFill>
              </a:rPr>
              <a:t>그 특허출원이 </a:t>
            </a:r>
            <a:r>
              <a:rPr lang="ko-KR" altLang="en-US" sz="1400" dirty="0" err="1">
                <a:solidFill>
                  <a:schemeClr val="tx2"/>
                </a:solidFill>
              </a:rPr>
              <a:t>분리출원인</a:t>
            </a:r>
            <a:r>
              <a:rPr lang="ko-KR" altLang="en-US" sz="1400" dirty="0">
                <a:solidFill>
                  <a:schemeClr val="tx2"/>
                </a:solidFill>
              </a:rPr>
              <a:t> 경우</a:t>
            </a:r>
          </a:p>
          <a:p>
            <a:pPr fontAlgn="base"/>
            <a:r>
              <a:rPr lang="ko-KR" altLang="en-US" sz="1400" dirty="0">
                <a:solidFill>
                  <a:schemeClr val="tx2"/>
                </a:solidFill>
              </a:rPr>
              <a:t>② </a:t>
            </a:r>
            <a:r>
              <a:rPr lang="ko-KR" altLang="en-US" sz="1400" dirty="0" err="1">
                <a:solidFill>
                  <a:schemeClr val="tx2"/>
                </a:solidFill>
              </a:rPr>
              <a:t>특허출원인은</a:t>
            </a:r>
            <a:r>
              <a:rPr lang="ko-KR" altLang="en-US" sz="1400" dirty="0">
                <a:solidFill>
                  <a:schemeClr val="tx2"/>
                </a:solidFill>
              </a:rPr>
              <a:t> 제</a:t>
            </a:r>
            <a:r>
              <a:rPr lang="en-US" altLang="ko-KR" sz="1400" dirty="0">
                <a:solidFill>
                  <a:schemeClr val="tx2"/>
                </a:solidFill>
              </a:rPr>
              <a:t>1</a:t>
            </a:r>
            <a:r>
              <a:rPr lang="ko-KR" altLang="en-US" sz="1400" dirty="0">
                <a:solidFill>
                  <a:schemeClr val="tx2"/>
                </a:solidFill>
              </a:rPr>
              <a:t>항에 따른 재심사의 청구와 함께 의견서를 제출할 수 있다</a:t>
            </a:r>
            <a:r>
              <a:rPr lang="en-US" altLang="ko-KR" sz="1400" dirty="0">
                <a:solidFill>
                  <a:schemeClr val="tx2"/>
                </a:solidFill>
              </a:rPr>
              <a:t>.</a:t>
            </a:r>
          </a:p>
          <a:p>
            <a:pPr fontAlgn="base"/>
            <a:r>
              <a:rPr lang="en-US" altLang="ko-KR" sz="1400" dirty="0">
                <a:solidFill>
                  <a:schemeClr val="tx2"/>
                </a:solidFill>
              </a:rPr>
              <a:t>③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따라 재심사가 청구된 경우 그 특허출원에 대하여 종전에 이루어진 특허결정 또는 </a:t>
            </a:r>
            <a:r>
              <a:rPr lang="ko-KR" altLang="en-US" sz="1400" dirty="0" err="1">
                <a:solidFill>
                  <a:schemeClr val="tx2"/>
                </a:solidFill>
              </a:rPr>
              <a:t>특허거절결정은</a:t>
            </a:r>
            <a:r>
              <a:rPr lang="ko-KR" altLang="en-US" sz="1400" dirty="0">
                <a:solidFill>
                  <a:schemeClr val="tx2"/>
                </a:solidFill>
              </a:rPr>
              <a:t> 취소된 것으로 본다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재심사의 청구절차가 제</a:t>
            </a:r>
            <a:r>
              <a:rPr lang="en-US" altLang="ko-KR" sz="1400" dirty="0">
                <a:solidFill>
                  <a:schemeClr val="tx2"/>
                </a:solidFill>
              </a:rPr>
              <a:t>16</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따라 무효로 된 경우에는 그러하지 아니하다</a:t>
            </a:r>
            <a:r>
              <a:rPr lang="en-US" altLang="ko-KR" sz="1400" dirty="0">
                <a:solidFill>
                  <a:schemeClr val="tx2"/>
                </a:solidFill>
              </a:rPr>
              <a:t>. </a:t>
            </a:r>
          </a:p>
          <a:p>
            <a:pPr fontAlgn="base"/>
            <a:r>
              <a:rPr lang="en-US" altLang="ko-KR" sz="1400" dirty="0">
                <a:solidFill>
                  <a:schemeClr val="tx2"/>
                </a:solidFill>
              </a:rPr>
              <a:t>④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따른 재심사의 청구는 취하할 수 없다</a:t>
            </a:r>
            <a:r>
              <a:rPr lang="en-US" altLang="ko-KR" sz="1400" dirty="0">
                <a:solidFill>
                  <a:schemeClr val="tx2"/>
                </a:solidFill>
              </a:rPr>
              <a:t>.</a:t>
            </a:r>
            <a:endParaRPr lang="ko-KR" altLang="en-US" sz="1400" dirty="0">
              <a:solidFill>
                <a:srgbClr val="FF0000"/>
              </a:solidFill>
            </a:endParaRPr>
          </a:p>
        </p:txBody>
      </p:sp>
      <p:cxnSp>
        <p:nvCxnSpPr>
          <p:cNvPr id="95" name="직선 연결선 94"/>
          <p:cNvCxnSpPr/>
          <p:nvPr/>
        </p:nvCxnSpPr>
        <p:spPr>
          <a:xfrm>
            <a:off x="0" y="322531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272</a:t>
            </a:r>
            <a:endParaRPr lang="ko-KR" altLang="en-US" dirty="0"/>
          </a:p>
        </p:txBody>
      </p:sp>
      <p:cxnSp>
        <p:nvCxnSpPr>
          <p:cNvPr id="40" name="직선 화살표 연결선 39">
            <a:extLst>
              <a:ext uri="{FF2B5EF4-FFF2-40B4-BE49-F238E27FC236}">
                <a16:creationId xmlns:a16="http://schemas.microsoft.com/office/drawing/2014/main" id="{915A376A-4FC5-42F8-B337-6E4D1E7DC6C3}"/>
              </a:ext>
            </a:extLst>
          </p:cNvPr>
          <p:cNvCxnSpPr>
            <a:cxnSpLocks/>
          </p:cNvCxnSpPr>
          <p:nvPr/>
        </p:nvCxnSpPr>
        <p:spPr>
          <a:xfrm>
            <a:off x="79211" y="4396586"/>
            <a:ext cx="11934987"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Rectangle 14">
            <a:extLst>
              <a:ext uri="{FF2B5EF4-FFF2-40B4-BE49-F238E27FC236}">
                <a16:creationId xmlns:a16="http://schemas.microsoft.com/office/drawing/2014/main" id="{7BBC2DC0-DA98-46D4-98A3-A056DD224DA4}"/>
              </a:ext>
            </a:extLst>
          </p:cNvPr>
          <p:cNvSpPr>
            <a:spLocks noChangeArrowheads="1"/>
          </p:cNvSpPr>
          <p:nvPr/>
        </p:nvSpPr>
        <p:spPr bwMode="auto">
          <a:xfrm>
            <a:off x="1621542" y="4150670"/>
            <a:ext cx="985144" cy="49183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dirty="0">
                <a:latin typeface="+mn-ea"/>
              </a:rPr>
              <a:t>일반심사에 </a:t>
            </a:r>
            <a:endParaRPr lang="en-US" altLang="ko-KR" sz="1100" dirty="0">
              <a:latin typeface="+mn-ea"/>
            </a:endParaRPr>
          </a:p>
          <a:p>
            <a:pPr algn="ctr"/>
            <a:r>
              <a:rPr lang="ko-KR" altLang="en-US" sz="1100" dirty="0">
                <a:latin typeface="+mn-ea"/>
              </a:rPr>
              <a:t>따른 거절결정</a:t>
            </a:r>
            <a:endParaRPr lang="en-US" altLang="ko-KR" sz="1100" dirty="0">
              <a:latin typeface="+mn-ea"/>
            </a:endParaRPr>
          </a:p>
          <a:p>
            <a:pPr algn="ctr"/>
            <a:r>
              <a:rPr lang="ko-KR" altLang="en-US" sz="1100" b="0" dirty="0">
                <a:latin typeface="+mn-ea"/>
              </a:rPr>
              <a:t>등본송달</a:t>
            </a:r>
          </a:p>
        </p:txBody>
      </p:sp>
      <p:sp>
        <p:nvSpPr>
          <p:cNvPr id="43" name="Rectangle 14">
            <a:extLst>
              <a:ext uri="{FF2B5EF4-FFF2-40B4-BE49-F238E27FC236}">
                <a16:creationId xmlns:a16="http://schemas.microsoft.com/office/drawing/2014/main" id="{06DAAF62-EF27-433A-BA83-F73B22454B13}"/>
              </a:ext>
            </a:extLst>
          </p:cNvPr>
          <p:cNvSpPr>
            <a:spLocks noChangeArrowheads="1"/>
          </p:cNvSpPr>
          <p:nvPr/>
        </p:nvSpPr>
        <p:spPr bwMode="auto">
          <a:xfrm>
            <a:off x="3132688" y="4150670"/>
            <a:ext cx="985144" cy="49183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b="0" dirty="0">
                <a:latin typeface="+mn-ea"/>
              </a:rPr>
              <a:t>재심사청구</a:t>
            </a:r>
          </a:p>
        </p:txBody>
      </p:sp>
      <p:sp>
        <p:nvSpPr>
          <p:cNvPr id="44" name="Rectangle 14">
            <a:extLst>
              <a:ext uri="{FF2B5EF4-FFF2-40B4-BE49-F238E27FC236}">
                <a16:creationId xmlns:a16="http://schemas.microsoft.com/office/drawing/2014/main" id="{96D8BEF0-BD38-48B6-8B55-3585AD22FF4E}"/>
              </a:ext>
            </a:extLst>
          </p:cNvPr>
          <p:cNvSpPr>
            <a:spLocks noChangeArrowheads="1"/>
          </p:cNvSpPr>
          <p:nvPr/>
        </p:nvSpPr>
        <p:spPr bwMode="auto">
          <a:xfrm>
            <a:off x="302403" y="4150670"/>
            <a:ext cx="985144" cy="49183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dirty="0">
                <a:latin typeface="+mn-ea"/>
              </a:rPr>
              <a:t>특허출원</a:t>
            </a:r>
            <a:endParaRPr lang="ko-KR" altLang="en-US" sz="1100" b="0" dirty="0">
              <a:latin typeface="+mn-ea"/>
            </a:endParaRPr>
          </a:p>
        </p:txBody>
      </p:sp>
      <p:sp>
        <p:nvSpPr>
          <p:cNvPr id="45" name="Rectangle 14">
            <a:extLst>
              <a:ext uri="{FF2B5EF4-FFF2-40B4-BE49-F238E27FC236}">
                <a16:creationId xmlns:a16="http://schemas.microsoft.com/office/drawing/2014/main" id="{ECD43E6F-046F-4781-BFBA-4BF10C080008}"/>
              </a:ext>
            </a:extLst>
          </p:cNvPr>
          <p:cNvSpPr>
            <a:spLocks noChangeArrowheads="1"/>
          </p:cNvSpPr>
          <p:nvPr/>
        </p:nvSpPr>
        <p:spPr bwMode="auto">
          <a:xfrm>
            <a:off x="4733023" y="4150670"/>
            <a:ext cx="985144" cy="49183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b="0" dirty="0">
                <a:latin typeface="+mn-ea"/>
              </a:rPr>
              <a:t>재심사에 </a:t>
            </a:r>
            <a:endParaRPr lang="en-US" altLang="ko-KR" sz="1100" b="0" dirty="0">
              <a:latin typeface="+mn-ea"/>
            </a:endParaRPr>
          </a:p>
          <a:p>
            <a:pPr algn="ctr"/>
            <a:r>
              <a:rPr lang="ko-KR" altLang="en-US" sz="1100" b="0" dirty="0">
                <a:latin typeface="+mn-ea"/>
              </a:rPr>
              <a:t>따른 거절결정</a:t>
            </a:r>
            <a:endParaRPr lang="en-US" altLang="ko-KR" sz="1100" b="0" dirty="0">
              <a:latin typeface="+mn-ea"/>
            </a:endParaRPr>
          </a:p>
          <a:p>
            <a:pPr algn="ctr"/>
            <a:r>
              <a:rPr lang="ko-KR" altLang="en-US" sz="1100" b="0" dirty="0">
                <a:latin typeface="+mn-ea"/>
              </a:rPr>
              <a:t>등본송달</a:t>
            </a:r>
          </a:p>
        </p:txBody>
      </p:sp>
      <p:sp>
        <p:nvSpPr>
          <p:cNvPr id="52" name="Rectangle 14">
            <a:extLst>
              <a:ext uri="{FF2B5EF4-FFF2-40B4-BE49-F238E27FC236}">
                <a16:creationId xmlns:a16="http://schemas.microsoft.com/office/drawing/2014/main" id="{F31BA700-1648-45DF-8695-E9D3514734DD}"/>
              </a:ext>
            </a:extLst>
          </p:cNvPr>
          <p:cNvSpPr>
            <a:spLocks noChangeArrowheads="1"/>
          </p:cNvSpPr>
          <p:nvPr/>
        </p:nvSpPr>
        <p:spPr bwMode="auto">
          <a:xfrm>
            <a:off x="4398820" y="3343076"/>
            <a:ext cx="1373092" cy="405370"/>
          </a:xfrm>
          <a:prstGeom prst="rect">
            <a:avLst/>
          </a:prstGeom>
          <a:noFill/>
          <a:ln w="9525" algn="ctr">
            <a:solidFill>
              <a:schemeClr val="bg1">
                <a:lumMod val="50000"/>
              </a:schemeClr>
            </a:solidFill>
            <a:miter lim="800000"/>
            <a:headEnd/>
            <a:tailEnd/>
          </a:ln>
        </p:spPr>
        <p:txBody>
          <a:bodyPr wrap="none" anchor="ctr"/>
          <a:lstStyle/>
          <a:p>
            <a:pPr algn="ctr"/>
            <a:r>
              <a:rPr lang="ko-KR" altLang="en-US" sz="1100" b="0" dirty="0">
                <a:latin typeface="+mn-ea"/>
              </a:rPr>
              <a:t>일반심사에 따른 </a:t>
            </a:r>
            <a:endParaRPr lang="en-US" altLang="ko-KR" sz="1100" b="0" dirty="0">
              <a:latin typeface="+mn-ea"/>
            </a:endParaRPr>
          </a:p>
          <a:p>
            <a:pPr algn="ctr"/>
            <a:r>
              <a:rPr lang="ko-KR" altLang="en-US" sz="1100" b="0" dirty="0">
                <a:latin typeface="+mn-ea"/>
              </a:rPr>
              <a:t>거절결정 취소</a:t>
            </a:r>
          </a:p>
        </p:txBody>
      </p:sp>
      <p:sp>
        <p:nvSpPr>
          <p:cNvPr id="64" name="Rectangle 14">
            <a:extLst>
              <a:ext uri="{FF2B5EF4-FFF2-40B4-BE49-F238E27FC236}">
                <a16:creationId xmlns:a16="http://schemas.microsoft.com/office/drawing/2014/main" id="{EADAE128-6EFC-4E43-B1E5-A645F9CFC2D0}"/>
              </a:ext>
            </a:extLst>
          </p:cNvPr>
          <p:cNvSpPr>
            <a:spLocks noChangeArrowheads="1"/>
          </p:cNvSpPr>
          <p:nvPr/>
        </p:nvSpPr>
        <p:spPr bwMode="auto">
          <a:xfrm>
            <a:off x="7613915" y="4150670"/>
            <a:ext cx="985144" cy="49183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b="0" dirty="0" err="1">
                <a:latin typeface="+mn-ea"/>
              </a:rPr>
              <a:t>인용심결</a:t>
            </a:r>
            <a:endParaRPr lang="ko-KR" altLang="en-US" sz="1100" b="0" dirty="0">
              <a:latin typeface="+mn-ea"/>
            </a:endParaRPr>
          </a:p>
        </p:txBody>
      </p:sp>
      <p:sp>
        <p:nvSpPr>
          <p:cNvPr id="67" name="TextBox 66">
            <a:extLst>
              <a:ext uri="{FF2B5EF4-FFF2-40B4-BE49-F238E27FC236}">
                <a16:creationId xmlns:a16="http://schemas.microsoft.com/office/drawing/2014/main" id="{296BB7B6-3391-420F-8D1E-677C680543DE}"/>
              </a:ext>
            </a:extLst>
          </p:cNvPr>
          <p:cNvSpPr txBox="1"/>
          <p:nvPr/>
        </p:nvSpPr>
        <p:spPr>
          <a:xfrm>
            <a:off x="2916504" y="3761480"/>
            <a:ext cx="1443066" cy="261610"/>
          </a:xfrm>
          <a:prstGeom prst="rect">
            <a:avLst/>
          </a:prstGeom>
          <a:noFill/>
        </p:spPr>
        <p:txBody>
          <a:bodyPr wrap="square">
            <a:spAutoFit/>
          </a:bodyPr>
          <a:lstStyle/>
          <a:p>
            <a:r>
              <a:rPr lang="en-US" altLang="ko-KR" sz="1100" dirty="0"/>
              <a:t>3</a:t>
            </a:r>
            <a:r>
              <a:rPr lang="ko-KR" altLang="en-US" sz="1100" dirty="0"/>
              <a:t>월</a:t>
            </a:r>
          </a:p>
        </p:txBody>
      </p:sp>
      <p:sp>
        <p:nvSpPr>
          <p:cNvPr id="63" name="Rectangle 14">
            <a:extLst>
              <a:ext uri="{FF2B5EF4-FFF2-40B4-BE49-F238E27FC236}">
                <a16:creationId xmlns:a16="http://schemas.microsoft.com/office/drawing/2014/main" id="{6EDC884A-76FC-4D80-8BAD-BC7306631A22}"/>
              </a:ext>
            </a:extLst>
          </p:cNvPr>
          <p:cNvSpPr>
            <a:spLocks noChangeArrowheads="1"/>
          </p:cNvSpPr>
          <p:nvPr/>
        </p:nvSpPr>
        <p:spPr bwMode="auto">
          <a:xfrm>
            <a:off x="6118476" y="4150670"/>
            <a:ext cx="985144" cy="49183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b="0" dirty="0">
                <a:latin typeface="+mn-ea"/>
              </a:rPr>
              <a:t>거절결정</a:t>
            </a:r>
            <a:endParaRPr lang="en-US" altLang="ko-KR" sz="1100" b="0" dirty="0">
              <a:latin typeface="+mn-ea"/>
            </a:endParaRPr>
          </a:p>
          <a:p>
            <a:pPr algn="ctr"/>
            <a:r>
              <a:rPr lang="ko-KR" altLang="en-US" sz="1100" b="0" dirty="0">
                <a:latin typeface="+mn-ea"/>
              </a:rPr>
              <a:t>불복심판청구</a:t>
            </a:r>
          </a:p>
        </p:txBody>
      </p:sp>
      <p:sp>
        <p:nvSpPr>
          <p:cNvPr id="71" name="Rectangle 14">
            <a:extLst>
              <a:ext uri="{FF2B5EF4-FFF2-40B4-BE49-F238E27FC236}">
                <a16:creationId xmlns:a16="http://schemas.microsoft.com/office/drawing/2014/main" id="{4631436B-D0B3-460C-B266-75426C3D327B}"/>
              </a:ext>
            </a:extLst>
          </p:cNvPr>
          <p:cNvSpPr>
            <a:spLocks noChangeArrowheads="1"/>
          </p:cNvSpPr>
          <p:nvPr/>
        </p:nvSpPr>
        <p:spPr bwMode="auto">
          <a:xfrm>
            <a:off x="7416087" y="3485585"/>
            <a:ext cx="1373092" cy="405370"/>
          </a:xfrm>
          <a:prstGeom prst="rect">
            <a:avLst/>
          </a:prstGeom>
          <a:noFill/>
          <a:ln w="9525" algn="ctr">
            <a:solidFill>
              <a:schemeClr val="bg1">
                <a:lumMod val="50000"/>
              </a:schemeClr>
            </a:solidFill>
            <a:miter lim="800000"/>
            <a:headEnd/>
            <a:tailEnd/>
          </a:ln>
        </p:spPr>
        <p:txBody>
          <a:bodyPr wrap="none" anchor="ctr"/>
          <a:lstStyle/>
          <a:p>
            <a:pPr algn="ctr"/>
            <a:r>
              <a:rPr lang="ko-KR" altLang="en-US" sz="1100" b="0" dirty="0">
                <a:latin typeface="+mn-ea"/>
              </a:rPr>
              <a:t>재심사에 따른 </a:t>
            </a:r>
            <a:endParaRPr lang="en-US" altLang="ko-KR" sz="1100" b="0" dirty="0">
              <a:latin typeface="+mn-ea"/>
            </a:endParaRPr>
          </a:p>
          <a:p>
            <a:pPr algn="ctr"/>
            <a:r>
              <a:rPr lang="ko-KR" altLang="en-US" sz="1100" b="0" dirty="0">
                <a:latin typeface="+mn-ea"/>
              </a:rPr>
              <a:t>거절결정 </a:t>
            </a:r>
            <a:r>
              <a:rPr lang="ko-KR" altLang="en-US" sz="1100" b="0" dirty="0" err="1">
                <a:latin typeface="+mn-ea"/>
              </a:rPr>
              <a:t>취소환송</a:t>
            </a:r>
            <a:endParaRPr lang="ko-KR" altLang="en-US" sz="1100" b="0" dirty="0">
              <a:latin typeface="+mn-ea"/>
            </a:endParaRPr>
          </a:p>
        </p:txBody>
      </p:sp>
      <p:cxnSp>
        <p:nvCxnSpPr>
          <p:cNvPr id="72" name="직선 화살표 연결선 71">
            <a:extLst>
              <a:ext uri="{FF2B5EF4-FFF2-40B4-BE49-F238E27FC236}">
                <a16:creationId xmlns:a16="http://schemas.microsoft.com/office/drawing/2014/main" id="{66D07366-3C05-45D7-B529-4A3C4ECD95A7}"/>
              </a:ext>
            </a:extLst>
          </p:cNvPr>
          <p:cNvCxnSpPr>
            <a:cxnSpLocks/>
            <a:stCxn id="71" idx="2"/>
            <a:endCxn id="64" idx="0"/>
          </p:cNvCxnSpPr>
          <p:nvPr/>
        </p:nvCxnSpPr>
        <p:spPr>
          <a:xfrm>
            <a:off x="8102633" y="3890955"/>
            <a:ext cx="3854" cy="25971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4" name="Rectangle 14">
            <a:extLst>
              <a:ext uri="{FF2B5EF4-FFF2-40B4-BE49-F238E27FC236}">
                <a16:creationId xmlns:a16="http://schemas.microsoft.com/office/drawing/2014/main" id="{AC8F878F-17BC-403B-9BBD-A444F2C0C2F5}"/>
              </a:ext>
            </a:extLst>
          </p:cNvPr>
          <p:cNvSpPr>
            <a:spLocks noChangeArrowheads="1"/>
          </p:cNvSpPr>
          <p:nvPr/>
        </p:nvSpPr>
        <p:spPr bwMode="auto">
          <a:xfrm>
            <a:off x="8831526" y="4150670"/>
            <a:ext cx="985144" cy="49183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dirty="0">
                <a:latin typeface="+mn-ea"/>
              </a:rPr>
              <a:t>일반심사에 </a:t>
            </a:r>
            <a:endParaRPr lang="en-US" altLang="ko-KR" sz="1100" dirty="0">
              <a:latin typeface="+mn-ea"/>
            </a:endParaRPr>
          </a:p>
          <a:p>
            <a:pPr algn="ctr"/>
            <a:r>
              <a:rPr lang="ko-KR" altLang="en-US" sz="1100" dirty="0">
                <a:latin typeface="+mn-ea"/>
              </a:rPr>
              <a:t>따른 거절결정</a:t>
            </a:r>
            <a:endParaRPr lang="en-US" altLang="ko-KR" sz="1100" dirty="0">
              <a:latin typeface="+mn-ea"/>
            </a:endParaRPr>
          </a:p>
          <a:p>
            <a:pPr algn="ctr"/>
            <a:r>
              <a:rPr lang="ko-KR" altLang="en-US" sz="1100" b="0" dirty="0">
                <a:latin typeface="+mn-ea"/>
              </a:rPr>
              <a:t>등본송달</a:t>
            </a:r>
          </a:p>
        </p:txBody>
      </p:sp>
      <p:sp>
        <p:nvSpPr>
          <p:cNvPr id="75" name="Rectangle 14">
            <a:extLst>
              <a:ext uri="{FF2B5EF4-FFF2-40B4-BE49-F238E27FC236}">
                <a16:creationId xmlns:a16="http://schemas.microsoft.com/office/drawing/2014/main" id="{39D13E24-5A64-49D5-8B3C-3FA2DC08A36B}"/>
              </a:ext>
            </a:extLst>
          </p:cNvPr>
          <p:cNvSpPr>
            <a:spLocks noChangeArrowheads="1"/>
          </p:cNvSpPr>
          <p:nvPr/>
        </p:nvSpPr>
        <p:spPr bwMode="auto">
          <a:xfrm>
            <a:off x="10425796" y="4150670"/>
            <a:ext cx="985144" cy="49183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b="0" dirty="0">
                <a:latin typeface="+mn-ea"/>
              </a:rPr>
              <a:t>재심사청구</a:t>
            </a:r>
          </a:p>
        </p:txBody>
      </p:sp>
      <p:sp>
        <p:nvSpPr>
          <p:cNvPr id="79" name="Rectangle 14">
            <a:extLst>
              <a:ext uri="{FF2B5EF4-FFF2-40B4-BE49-F238E27FC236}">
                <a16:creationId xmlns:a16="http://schemas.microsoft.com/office/drawing/2014/main" id="{6514EF26-8040-467B-88F1-548DCC1A7C81}"/>
              </a:ext>
            </a:extLst>
          </p:cNvPr>
          <p:cNvSpPr>
            <a:spLocks noChangeArrowheads="1"/>
          </p:cNvSpPr>
          <p:nvPr/>
        </p:nvSpPr>
        <p:spPr bwMode="auto">
          <a:xfrm>
            <a:off x="3132688" y="4816060"/>
            <a:ext cx="985144" cy="491834"/>
          </a:xfrm>
          <a:prstGeom prst="rect">
            <a:avLst/>
          </a:prstGeom>
          <a:solidFill>
            <a:schemeClr val="accent1">
              <a:lumMod val="20000"/>
              <a:lumOff val="80000"/>
            </a:schemeClr>
          </a:solidFill>
          <a:ln w="57150" algn="ctr">
            <a:solidFill>
              <a:schemeClr val="tx1">
                <a:lumMod val="95000"/>
                <a:lumOff val="5000"/>
              </a:schemeClr>
            </a:solidFill>
            <a:miter lim="800000"/>
            <a:headEnd/>
            <a:tailEnd/>
          </a:ln>
        </p:spPr>
        <p:txBody>
          <a:bodyPr wrap="square" anchor="ctr"/>
          <a:lstStyle/>
          <a:p>
            <a:pPr algn="ctr"/>
            <a:r>
              <a:rPr lang="ko-KR" altLang="en-US" sz="1100" b="0" dirty="0">
                <a:latin typeface="+mn-ea"/>
              </a:rPr>
              <a:t>거절결정</a:t>
            </a:r>
            <a:endParaRPr lang="en-US" altLang="ko-KR" sz="1100" b="0" dirty="0">
              <a:latin typeface="+mn-ea"/>
            </a:endParaRPr>
          </a:p>
          <a:p>
            <a:pPr algn="ctr"/>
            <a:r>
              <a:rPr lang="ko-KR" altLang="en-US" sz="1100" b="0" dirty="0">
                <a:latin typeface="+mn-ea"/>
              </a:rPr>
              <a:t>불복심판청구</a:t>
            </a:r>
            <a:endParaRPr lang="en-US" altLang="ko-KR" sz="1100" b="0" dirty="0">
              <a:latin typeface="+mn-ea"/>
            </a:endParaRPr>
          </a:p>
        </p:txBody>
      </p:sp>
      <p:cxnSp>
        <p:nvCxnSpPr>
          <p:cNvPr id="30" name="연결선: 꺾임 29">
            <a:extLst>
              <a:ext uri="{FF2B5EF4-FFF2-40B4-BE49-F238E27FC236}">
                <a16:creationId xmlns:a16="http://schemas.microsoft.com/office/drawing/2014/main" id="{EA5E6157-FF86-498B-836C-32DEA9951BFB}"/>
              </a:ext>
            </a:extLst>
          </p:cNvPr>
          <p:cNvCxnSpPr>
            <a:cxnSpLocks/>
            <a:stCxn id="42" idx="3"/>
            <a:endCxn id="79" idx="1"/>
          </p:cNvCxnSpPr>
          <p:nvPr/>
        </p:nvCxnSpPr>
        <p:spPr>
          <a:xfrm>
            <a:off x="2606686" y="4396587"/>
            <a:ext cx="526002" cy="665390"/>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4" name="Rectangle 14">
            <a:extLst>
              <a:ext uri="{FF2B5EF4-FFF2-40B4-BE49-F238E27FC236}">
                <a16:creationId xmlns:a16="http://schemas.microsoft.com/office/drawing/2014/main" id="{1410FBC9-54AB-4E5A-AB46-B0ACCB60BC9C}"/>
              </a:ext>
            </a:extLst>
          </p:cNvPr>
          <p:cNvSpPr>
            <a:spLocks noChangeArrowheads="1"/>
          </p:cNvSpPr>
          <p:nvPr/>
        </p:nvSpPr>
        <p:spPr bwMode="auto">
          <a:xfrm>
            <a:off x="9414165" y="3343076"/>
            <a:ext cx="1373092" cy="405370"/>
          </a:xfrm>
          <a:prstGeom prst="rect">
            <a:avLst/>
          </a:prstGeom>
          <a:noFill/>
          <a:ln w="9525" algn="ctr">
            <a:solidFill>
              <a:schemeClr val="bg1">
                <a:lumMod val="50000"/>
              </a:schemeClr>
            </a:solidFill>
            <a:miter lim="800000"/>
            <a:headEnd/>
            <a:tailEnd/>
          </a:ln>
        </p:spPr>
        <p:txBody>
          <a:bodyPr wrap="none" anchor="ctr"/>
          <a:lstStyle/>
          <a:p>
            <a:pPr algn="ctr"/>
            <a:r>
              <a:rPr lang="ko-KR" altLang="en-US" sz="1100" b="0" dirty="0">
                <a:latin typeface="+mn-ea"/>
              </a:rPr>
              <a:t>일반심사에 따른 </a:t>
            </a:r>
            <a:endParaRPr lang="en-US" altLang="ko-KR" sz="1100" b="0" dirty="0">
              <a:latin typeface="+mn-ea"/>
            </a:endParaRPr>
          </a:p>
          <a:p>
            <a:pPr algn="ctr"/>
            <a:r>
              <a:rPr lang="ko-KR" altLang="en-US" sz="1100" b="0" dirty="0">
                <a:latin typeface="+mn-ea"/>
              </a:rPr>
              <a:t>거절결정 취소</a:t>
            </a:r>
          </a:p>
        </p:txBody>
      </p:sp>
      <p:cxnSp>
        <p:nvCxnSpPr>
          <p:cNvPr id="83" name="연결선: 꺾임 82">
            <a:extLst>
              <a:ext uri="{FF2B5EF4-FFF2-40B4-BE49-F238E27FC236}">
                <a16:creationId xmlns:a16="http://schemas.microsoft.com/office/drawing/2014/main" id="{82383A0C-1481-423A-B8D8-3464F2B6638E}"/>
              </a:ext>
            </a:extLst>
          </p:cNvPr>
          <p:cNvCxnSpPr>
            <a:cxnSpLocks/>
            <a:stCxn id="52" idx="2"/>
            <a:endCxn id="43" idx="0"/>
          </p:cNvCxnSpPr>
          <p:nvPr/>
        </p:nvCxnSpPr>
        <p:spPr>
          <a:xfrm rot="5400000">
            <a:off x="4154201" y="3219505"/>
            <a:ext cx="402224" cy="1460106"/>
          </a:xfrm>
          <a:prstGeom prst="bentConnector3">
            <a:avLst>
              <a:gd name="adj1" fmla="val 27037"/>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1" name="연결선: 꺾임 90">
            <a:extLst>
              <a:ext uri="{FF2B5EF4-FFF2-40B4-BE49-F238E27FC236}">
                <a16:creationId xmlns:a16="http://schemas.microsoft.com/office/drawing/2014/main" id="{6E5D7804-7850-413A-9FD4-8441F18497B9}"/>
              </a:ext>
            </a:extLst>
          </p:cNvPr>
          <p:cNvCxnSpPr>
            <a:cxnSpLocks/>
            <a:stCxn id="84" idx="2"/>
            <a:endCxn id="75" idx="0"/>
          </p:cNvCxnSpPr>
          <p:nvPr/>
        </p:nvCxnSpPr>
        <p:spPr>
          <a:xfrm rot="16200000" flipH="1">
            <a:off x="10308427" y="3540729"/>
            <a:ext cx="402224" cy="817657"/>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7" name="Rectangle 14">
            <a:extLst>
              <a:ext uri="{FF2B5EF4-FFF2-40B4-BE49-F238E27FC236}">
                <a16:creationId xmlns:a16="http://schemas.microsoft.com/office/drawing/2014/main" id="{67C3AB65-AE25-4705-8DF3-55EAB1DC723C}"/>
              </a:ext>
            </a:extLst>
          </p:cNvPr>
          <p:cNvSpPr>
            <a:spLocks noChangeArrowheads="1"/>
          </p:cNvSpPr>
          <p:nvPr/>
        </p:nvSpPr>
        <p:spPr bwMode="auto">
          <a:xfrm>
            <a:off x="1621542" y="5701960"/>
            <a:ext cx="985144" cy="55441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dirty="0">
                <a:latin typeface="+mn-ea"/>
              </a:rPr>
              <a:t>일반심사에 </a:t>
            </a:r>
            <a:endParaRPr lang="en-US" altLang="ko-KR" sz="1100" dirty="0">
              <a:latin typeface="+mn-ea"/>
            </a:endParaRPr>
          </a:p>
          <a:p>
            <a:pPr algn="ctr"/>
            <a:r>
              <a:rPr lang="ko-KR" altLang="en-US" sz="1100" dirty="0">
                <a:latin typeface="+mn-ea"/>
              </a:rPr>
              <a:t>따른 특허결정</a:t>
            </a:r>
            <a:endParaRPr lang="en-US" altLang="ko-KR" sz="1100" dirty="0">
              <a:latin typeface="+mn-ea"/>
            </a:endParaRPr>
          </a:p>
          <a:p>
            <a:pPr algn="ctr"/>
            <a:r>
              <a:rPr lang="ko-KR" altLang="en-US" sz="1100" b="0" dirty="0">
                <a:latin typeface="+mn-ea"/>
              </a:rPr>
              <a:t>등본송달</a:t>
            </a:r>
          </a:p>
        </p:txBody>
      </p:sp>
      <p:cxnSp>
        <p:nvCxnSpPr>
          <p:cNvPr id="99" name="연결선: 꺾임 98">
            <a:extLst>
              <a:ext uri="{FF2B5EF4-FFF2-40B4-BE49-F238E27FC236}">
                <a16:creationId xmlns:a16="http://schemas.microsoft.com/office/drawing/2014/main" id="{1D1A6F40-2236-4570-ACB8-22BE4FC35591}"/>
              </a:ext>
            </a:extLst>
          </p:cNvPr>
          <p:cNvCxnSpPr>
            <a:cxnSpLocks/>
            <a:stCxn id="44" idx="3"/>
            <a:endCxn id="97" idx="1"/>
          </p:cNvCxnSpPr>
          <p:nvPr/>
        </p:nvCxnSpPr>
        <p:spPr>
          <a:xfrm>
            <a:off x="1287547" y="4396587"/>
            <a:ext cx="333995" cy="1582580"/>
          </a:xfrm>
          <a:prstGeom prst="bentConnector3">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Rectangle 14">
            <a:extLst>
              <a:ext uri="{FF2B5EF4-FFF2-40B4-BE49-F238E27FC236}">
                <a16:creationId xmlns:a16="http://schemas.microsoft.com/office/drawing/2014/main" id="{C5A08545-5F1B-48A5-AEDA-62A061BE3830}"/>
              </a:ext>
            </a:extLst>
          </p:cNvPr>
          <p:cNvSpPr>
            <a:spLocks noChangeArrowheads="1"/>
          </p:cNvSpPr>
          <p:nvPr/>
        </p:nvSpPr>
        <p:spPr bwMode="auto">
          <a:xfrm>
            <a:off x="3132688" y="5733250"/>
            <a:ext cx="985144" cy="49183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dirty="0">
                <a:latin typeface="+mn-ea"/>
              </a:rPr>
              <a:t>설정등록</a:t>
            </a:r>
            <a:endParaRPr lang="ko-KR" altLang="en-US" sz="1100" b="0" dirty="0">
              <a:latin typeface="+mn-ea"/>
            </a:endParaRPr>
          </a:p>
        </p:txBody>
      </p:sp>
      <p:cxnSp>
        <p:nvCxnSpPr>
          <p:cNvPr id="103" name="직선 연결선 102">
            <a:extLst>
              <a:ext uri="{FF2B5EF4-FFF2-40B4-BE49-F238E27FC236}">
                <a16:creationId xmlns:a16="http://schemas.microsoft.com/office/drawing/2014/main" id="{A35D9F73-68C2-4607-B47D-1C4D1B197CFA}"/>
              </a:ext>
            </a:extLst>
          </p:cNvPr>
          <p:cNvCxnSpPr>
            <a:cxnSpLocks/>
            <a:stCxn id="97" idx="3"/>
            <a:endCxn id="101" idx="1"/>
          </p:cNvCxnSpPr>
          <p:nvPr/>
        </p:nvCxnSpPr>
        <p:spPr>
          <a:xfrm>
            <a:off x="2606686" y="5979167"/>
            <a:ext cx="526002" cy="0"/>
          </a:xfrm>
          <a:prstGeom prst="line">
            <a:avLst/>
          </a:prstGeom>
          <a:ln w="5715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5" name="Rectangle 14">
            <a:extLst>
              <a:ext uri="{FF2B5EF4-FFF2-40B4-BE49-F238E27FC236}">
                <a16:creationId xmlns:a16="http://schemas.microsoft.com/office/drawing/2014/main" id="{9ACC316D-6FC8-4E2A-9F2F-A7646BA4B9F7}"/>
              </a:ext>
            </a:extLst>
          </p:cNvPr>
          <p:cNvSpPr>
            <a:spLocks noChangeArrowheads="1"/>
          </p:cNvSpPr>
          <p:nvPr/>
        </p:nvSpPr>
        <p:spPr bwMode="auto">
          <a:xfrm>
            <a:off x="4733023" y="5701960"/>
            <a:ext cx="985144" cy="55441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dirty="0">
                <a:latin typeface="+mn-ea"/>
              </a:rPr>
              <a:t>재심사에 </a:t>
            </a:r>
            <a:endParaRPr lang="en-US" altLang="ko-KR" sz="1100" dirty="0">
              <a:latin typeface="+mn-ea"/>
            </a:endParaRPr>
          </a:p>
          <a:p>
            <a:pPr algn="ctr"/>
            <a:r>
              <a:rPr lang="ko-KR" altLang="en-US" sz="1100" dirty="0">
                <a:latin typeface="+mn-ea"/>
              </a:rPr>
              <a:t>따른 특허결정등본송달</a:t>
            </a:r>
            <a:endParaRPr lang="ko-KR" altLang="en-US" sz="1100" b="0" dirty="0">
              <a:latin typeface="+mn-ea"/>
            </a:endParaRPr>
          </a:p>
        </p:txBody>
      </p:sp>
      <p:sp>
        <p:nvSpPr>
          <p:cNvPr id="106" name="Rectangle 14">
            <a:extLst>
              <a:ext uri="{FF2B5EF4-FFF2-40B4-BE49-F238E27FC236}">
                <a16:creationId xmlns:a16="http://schemas.microsoft.com/office/drawing/2014/main" id="{159E32C4-2D01-4E25-A457-78C2333C8C4F}"/>
              </a:ext>
            </a:extLst>
          </p:cNvPr>
          <p:cNvSpPr>
            <a:spLocks noChangeArrowheads="1"/>
          </p:cNvSpPr>
          <p:nvPr/>
        </p:nvSpPr>
        <p:spPr bwMode="auto">
          <a:xfrm>
            <a:off x="6244169" y="5733250"/>
            <a:ext cx="985144" cy="49183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dirty="0">
                <a:latin typeface="+mn-ea"/>
              </a:rPr>
              <a:t>설정등록</a:t>
            </a:r>
            <a:endParaRPr lang="ko-KR" altLang="en-US" sz="1100" b="0" dirty="0">
              <a:latin typeface="+mn-ea"/>
            </a:endParaRPr>
          </a:p>
        </p:txBody>
      </p:sp>
      <p:cxnSp>
        <p:nvCxnSpPr>
          <p:cNvPr id="107" name="직선 연결선 106">
            <a:extLst>
              <a:ext uri="{FF2B5EF4-FFF2-40B4-BE49-F238E27FC236}">
                <a16:creationId xmlns:a16="http://schemas.microsoft.com/office/drawing/2014/main" id="{748D5CD3-C1A1-461F-B234-56AC30859FFC}"/>
              </a:ext>
            </a:extLst>
          </p:cNvPr>
          <p:cNvCxnSpPr>
            <a:cxnSpLocks/>
            <a:stCxn id="105" idx="3"/>
            <a:endCxn id="106" idx="1"/>
          </p:cNvCxnSpPr>
          <p:nvPr/>
        </p:nvCxnSpPr>
        <p:spPr>
          <a:xfrm>
            <a:off x="5718167" y="5979167"/>
            <a:ext cx="526002" cy="0"/>
          </a:xfrm>
          <a:prstGeom prst="line">
            <a:avLst/>
          </a:prstGeom>
          <a:ln w="57150">
            <a:solidFill>
              <a:schemeClr val="tx1">
                <a:lumMod val="95000"/>
                <a:lumOff val="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연결선: 꺾임 107">
            <a:extLst>
              <a:ext uri="{FF2B5EF4-FFF2-40B4-BE49-F238E27FC236}">
                <a16:creationId xmlns:a16="http://schemas.microsoft.com/office/drawing/2014/main" id="{FE6BCD0E-C646-47BA-B0A6-1406C6B76256}"/>
              </a:ext>
            </a:extLst>
          </p:cNvPr>
          <p:cNvCxnSpPr>
            <a:cxnSpLocks/>
            <a:stCxn id="43" idx="3"/>
            <a:endCxn id="105" idx="1"/>
          </p:cNvCxnSpPr>
          <p:nvPr/>
        </p:nvCxnSpPr>
        <p:spPr>
          <a:xfrm>
            <a:off x="4117832" y="4396587"/>
            <a:ext cx="615191" cy="1582580"/>
          </a:xfrm>
          <a:prstGeom prst="bentConnector3">
            <a:avLst>
              <a:gd name="adj1" fmla="val 50000"/>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1" name="Rectangle 14">
            <a:extLst>
              <a:ext uri="{FF2B5EF4-FFF2-40B4-BE49-F238E27FC236}">
                <a16:creationId xmlns:a16="http://schemas.microsoft.com/office/drawing/2014/main" id="{42ED3451-D3E4-42BA-A505-F11472942D1C}"/>
              </a:ext>
            </a:extLst>
          </p:cNvPr>
          <p:cNvSpPr>
            <a:spLocks noChangeArrowheads="1"/>
          </p:cNvSpPr>
          <p:nvPr/>
        </p:nvSpPr>
        <p:spPr bwMode="auto">
          <a:xfrm>
            <a:off x="7613915" y="5733250"/>
            <a:ext cx="985144" cy="491834"/>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algn="ctr"/>
            <a:r>
              <a:rPr lang="ko-KR" altLang="en-US" sz="1100" b="0" dirty="0" err="1">
                <a:latin typeface="+mn-ea"/>
              </a:rPr>
              <a:t>기각심결</a:t>
            </a:r>
            <a:endParaRPr lang="ko-KR" altLang="en-US" sz="1100" b="0" dirty="0">
              <a:latin typeface="+mn-ea"/>
            </a:endParaRPr>
          </a:p>
        </p:txBody>
      </p:sp>
      <p:sp>
        <p:nvSpPr>
          <p:cNvPr id="112" name="Rectangle 14">
            <a:extLst>
              <a:ext uri="{FF2B5EF4-FFF2-40B4-BE49-F238E27FC236}">
                <a16:creationId xmlns:a16="http://schemas.microsoft.com/office/drawing/2014/main" id="{1269135F-52FB-4BC6-A6A1-04671E7535AE}"/>
              </a:ext>
            </a:extLst>
          </p:cNvPr>
          <p:cNvSpPr>
            <a:spLocks noChangeArrowheads="1"/>
          </p:cNvSpPr>
          <p:nvPr/>
        </p:nvSpPr>
        <p:spPr bwMode="auto">
          <a:xfrm>
            <a:off x="8831526" y="5733250"/>
            <a:ext cx="985144" cy="491834"/>
          </a:xfrm>
          <a:prstGeom prst="rect">
            <a:avLst/>
          </a:prstGeom>
          <a:solidFill>
            <a:schemeClr val="accent1">
              <a:lumMod val="20000"/>
              <a:lumOff val="80000"/>
            </a:schemeClr>
          </a:solidFill>
          <a:ln w="57150" algn="ctr">
            <a:solidFill>
              <a:schemeClr val="tx1">
                <a:lumMod val="95000"/>
                <a:lumOff val="5000"/>
              </a:schemeClr>
            </a:solidFill>
            <a:miter lim="800000"/>
            <a:headEnd/>
            <a:tailEnd/>
          </a:ln>
        </p:spPr>
        <p:txBody>
          <a:bodyPr wrap="square" anchor="ctr"/>
          <a:lstStyle/>
          <a:p>
            <a:pPr algn="ctr"/>
            <a:r>
              <a:rPr lang="ko-KR" altLang="en-US" sz="1100" dirty="0">
                <a:latin typeface="+mn-ea"/>
              </a:rPr>
              <a:t>분리출원</a:t>
            </a:r>
            <a:endParaRPr lang="ko-KR" altLang="en-US" sz="1100" b="0" dirty="0">
              <a:latin typeface="+mn-ea"/>
            </a:endParaRPr>
          </a:p>
        </p:txBody>
      </p:sp>
      <p:cxnSp>
        <p:nvCxnSpPr>
          <p:cNvPr id="114" name="연결선: 꺾임 113">
            <a:extLst>
              <a:ext uri="{FF2B5EF4-FFF2-40B4-BE49-F238E27FC236}">
                <a16:creationId xmlns:a16="http://schemas.microsoft.com/office/drawing/2014/main" id="{FA98AFED-8D21-4C09-9D81-9B30C33C7EC2}"/>
              </a:ext>
            </a:extLst>
          </p:cNvPr>
          <p:cNvCxnSpPr>
            <a:cxnSpLocks/>
            <a:stCxn id="63" idx="3"/>
            <a:endCxn id="111" idx="1"/>
          </p:cNvCxnSpPr>
          <p:nvPr/>
        </p:nvCxnSpPr>
        <p:spPr>
          <a:xfrm>
            <a:off x="7103620" y="4396587"/>
            <a:ext cx="510295" cy="1582580"/>
          </a:xfrm>
          <a:prstGeom prst="bentConnector3">
            <a:avLst>
              <a:gd name="adj1" fmla="val 50000"/>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직선 연결선 117">
            <a:extLst>
              <a:ext uri="{FF2B5EF4-FFF2-40B4-BE49-F238E27FC236}">
                <a16:creationId xmlns:a16="http://schemas.microsoft.com/office/drawing/2014/main" id="{C3F9ED84-F5C9-400C-9118-28C68C22FA21}"/>
              </a:ext>
            </a:extLst>
          </p:cNvPr>
          <p:cNvCxnSpPr>
            <a:cxnSpLocks/>
            <a:stCxn id="111" idx="3"/>
            <a:endCxn id="112" idx="1"/>
          </p:cNvCxnSpPr>
          <p:nvPr/>
        </p:nvCxnSpPr>
        <p:spPr>
          <a:xfrm>
            <a:off x="8599059" y="5979167"/>
            <a:ext cx="232467" cy="0"/>
          </a:xfrm>
          <a:prstGeom prst="line">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2" name="직사각형 121">
            <a:extLst>
              <a:ext uri="{FF2B5EF4-FFF2-40B4-BE49-F238E27FC236}">
                <a16:creationId xmlns:a16="http://schemas.microsoft.com/office/drawing/2014/main" id="{267EEB12-950F-405E-8C43-78D624692535}"/>
              </a:ext>
            </a:extLst>
          </p:cNvPr>
          <p:cNvSpPr/>
          <p:nvPr/>
        </p:nvSpPr>
        <p:spPr>
          <a:xfrm>
            <a:off x="2391014" y="3351166"/>
            <a:ext cx="568086" cy="231467"/>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가능</a:t>
            </a:r>
          </a:p>
        </p:txBody>
      </p:sp>
      <p:cxnSp>
        <p:nvCxnSpPr>
          <p:cNvPr id="124" name="연결선: 꺾임 123">
            <a:extLst>
              <a:ext uri="{FF2B5EF4-FFF2-40B4-BE49-F238E27FC236}">
                <a16:creationId xmlns:a16="http://schemas.microsoft.com/office/drawing/2014/main" id="{F8C94F05-F5D6-44B9-A37E-72D76E063CB2}"/>
              </a:ext>
            </a:extLst>
          </p:cNvPr>
          <p:cNvCxnSpPr>
            <a:cxnSpLocks/>
            <a:stCxn id="122" idx="3"/>
          </p:cNvCxnSpPr>
          <p:nvPr/>
        </p:nvCxnSpPr>
        <p:spPr>
          <a:xfrm>
            <a:off x="2959100" y="3466900"/>
            <a:ext cx="173588" cy="331927"/>
          </a:xfrm>
          <a:prstGeom prst="bentConnector2">
            <a:avLst/>
          </a:prstGeom>
          <a:ln w="12700">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7" name="사각형: 둥근 모서리 126">
            <a:extLst>
              <a:ext uri="{FF2B5EF4-FFF2-40B4-BE49-F238E27FC236}">
                <a16:creationId xmlns:a16="http://schemas.microsoft.com/office/drawing/2014/main" id="{989E7EB3-EB55-48BF-9F04-AF539997B2F7}"/>
              </a:ext>
            </a:extLst>
          </p:cNvPr>
          <p:cNvSpPr/>
          <p:nvPr/>
        </p:nvSpPr>
        <p:spPr>
          <a:xfrm>
            <a:off x="2517497" y="5407284"/>
            <a:ext cx="615191" cy="231467"/>
          </a:xfrm>
          <a:prstGeom prst="roundRect">
            <a:avLst>
              <a:gd name="adj" fmla="val 50000"/>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a:t>불가능</a:t>
            </a:r>
            <a:endParaRPr lang="ko-KR" altLang="en-US" sz="1000" dirty="0"/>
          </a:p>
        </p:txBody>
      </p:sp>
      <p:cxnSp>
        <p:nvCxnSpPr>
          <p:cNvPr id="128" name="연결선: 꺾임 127">
            <a:extLst>
              <a:ext uri="{FF2B5EF4-FFF2-40B4-BE49-F238E27FC236}">
                <a16:creationId xmlns:a16="http://schemas.microsoft.com/office/drawing/2014/main" id="{119C45DF-CFDA-4D08-8722-F685BD09D37E}"/>
              </a:ext>
            </a:extLst>
          </p:cNvPr>
          <p:cNvCxnSpPr>
            <a:cxnSpLocks/>
            <a:stCxn id="127" idx="3"/>
            <a:endCxn id="79" idx="2"/>
          </p:cNvCxnSpPr>
          <p:nvPr/>
        </p:nvCxnSpPr>
        <p:spPr>
          <a:xfrm flipV="1">
            <a:off x="3132688" y="5307894"/>
            <a:ext cx="492572" cy="215124"/>
          </a:xfrm>
          <a:prstGeom prst="bentConnector2">
            <a:avLst/>
          </a:prstGeom>
          <a:ln w="12700">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2" name="직사각형 131">
            <a:extLst>
              <a:ext uri="{FF2B5EF4-FFF2-40B4-BE49-F238E27FC236}">
                <a16:creationId xmlns:a16="http://schemas.microsoft.com/office/drawing/2014/main" id="{8B4F7E28-6267-4A74-9BE6-CA629DB6462E}"/>
              </a:ext>
            </a:extLst>
          </p:cNvPr>
          <p:cNvSpPr/>
          <p:nvPr/>
        </p:nvSpPr>
        <p:spPr>
          <a:xfrm>
            <a:off x="2424593" y="6366941"/>
            <a:ext cx="568086" cy="231467"/>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가능</a:t>
            </a:r>
          </a:p>
        </p:txBody>
      </p:sp>
      <p:cxnSp>
        <p:nvCxnSpPr>
          <p:cNvPr id="139" name="연결선: 꺾임 138">
            <a:extLst>
              <a:ext uri="{FF2B5EF4-FFF2-40B4-BE49-F238E27FC236}">
                <a16:creationId xmlns:a16="http://schemas.microsoft.com/office/drawing/2014/main" id="{01487366-678E-42A2-8EF1-8877EB87565B}"/>
              </a:ext>
            </a:extLst>
          </p:cNvPr>
          <p:cNvCxnSpPr>
            <a:cxnSpLocks/>
            <a:stCxn id="132" idx="0"/>
          </p:cNvCxnSpPr>
          <p:nvPr/>
        </p:nvCxnSpPr>
        <p:spPr>
          <a:xfrm rot="5400000" flipH="1" flipV="1">
            <a:off x="2639424" y="6089859"/>
            <a:ext cx="346295" cy="207870"/>
          </a:xfrm>
          <a:prstGeom prst="bentConnector3">
            <a:avLst>
              <a:gd name="adj1" fmla="val 50000"/>
            </a:avLst>
          </a:prstGeom>
          <a:ln w="12700">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7" name="사각형: 둥근 모서리 146">
            <a:extLst>
              <a:ext uri="{FF2B5EF4-FFF2-40B4-BE49-F238E27FC236}">
                <a16:creationId xmlns:a16="http://schemas.microsoft.com/office/drawing/2014/main" id="{4C20CBC4-BD5C-4035-A82E-BED4AD10E5F6}"/>
              </a:ext>
            </a:extLst>
          </p:cNvPr>
          <p:cNvSpPr/>
          <p:nvPr/>
        </p:nvSpPr>
        <p:spPr>
          <a:xfrm>
            <a:off x="5967431" y="3310967"/>
            <a:ext cx="615191" cy="231467"/>
          </a:xfrm>
          <a:prstGeom prst="roundRect">
            <a:avLst>
              <a:gd name="adj" fmla="val 50000"/>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a:t>불가능</a:t>
            </a:r>
            <a:endParaRPr lang="ko-KR" altLang="en-US" sz="1000" dirty="0"/>
          </a:p>
        </p:txBody>
      </p:sp>
      <p:cxnSp>
        <p:nvCxnSpPr>
          <p:cNvPr id="148" name="연결선: 꺾임 147">
            <a:extLst>
              <a:ext uri="{FF2B5EF4-FFF2-40B4-BE49-F238E27FC236}">
                <a16:creationId xmlns:a16="http://schemas.microsoft.com/office/drawing/2014/main" id="{308440C7-2C25-409D-8DAE-7F69F2C5E0D1}"/>
              </a:ext>
            </a:extLst>
          </p:cNvPr>
          <p:cNvCxnSpPr>
            <a:cxnSpLocks/>
            <a:stCxn id="147" idx="2"/>
            <a:endCxn id="86" idx="0"/>
          </p:cNvCxnSpPr>
          <p:nvPr/>
        </p:nvCxnSpPr>
        <p:spPr>
          <a:xfrm rot="16200000" flipH="1">
            <a:off x="6332987" y="3484473"/>
            <a:ext cx="219046" cy="334967"/>
          </a:xfrm>
          <a:prstGeom prst="bentConnector3">
            <a:avLst>
              <a:gd name="adj1" fmla="val 50000"/>
            </a:avLst>
          </a:prstGeom>
          <a:ln w="12700">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2" name="사각형: 둥근 모서리 151">
            <a:extLst>
              <a:ext uri="{FF2B5EF4-FFF2-40B4-BE49-F238E27FC236}">
                <a16:creationId xmlns:a16="http://schemas.microsoft.com/office/drawing/2014/main" id="{0206F672-05FD-4C2E-BC21-D7D69C523B02}"/>
              </a:ext>
            </a:extLst>
          </p:cNvPr>
          <p:cNvSpPr/>
          <p:nvPr/>
        </p:nvSpPr>
        <p:spPr>
          <a:xfrm>
            <a:off x="5480809" y="5238614"/>
            <a:ext cx="615191" cy="231467"/>
          </a:xfrm>
          <a:prstGeom prst="roundRect">
            <a:avLst>
              <a:gd name="adj" fmla="val 50000"/>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a:t>불가능</a:t>
            </a:r>
            <a:endParaRPr lang="ko-KR" altLang="en-US" sz="1000" dirty="0"/>
          </a:p>
        </p:txBody>
      </p:sp>
      <p:cxnSp>
        <p:nvCxnSpPr>
          <p:cNvPr id="153" name="연결선: 꺾임 152">
            <a:extLst>
              <a:ext uri="{FF2B5EF4-FFF2-40B4-BE49-F238E27FC236}">
                <a16:creationId xmlns:a16="http://schemas.microsoft.com/office/drawing/2014/main" id="{0BB17981-BD8D-42A1-9DAF-B72DCB2EF433}"/>
              </a:ext>
            </a:extLst>
          </p:cNvPr>
          <p:cNvCxnSpPr>
            <a:cxnSpLocks/>
            <a:stCxn id="152" idx="2"/>
          </p:cNvCxnSpPr>
          <p:nvPr/>
        </p:nvCxnSpPr>
        <p:spPr>
          <a:xfrm rot="16200000" flipH="1">
            <a:off x="5710480" y="5548006"/>
            <a:ext cx="457058" cy="301208"/>
          </a:xfrm>
          <a:prstGeom prst="bentConnector3">
            <a:avLst>
              <a:gd name="adj1" fmla="val 50000"/>
            </a:avLst>
          </a:prstGeom>
          <a:ln w="12700">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6" name="사각형: 둥근 모서리 155">
            <a:extLst>
              <a:ext uri="{FF2B5EF4-FFF2-40B4-BE49-F238E27FC236}">
                <a16:creationId xmlns:a16="http://schemas.microsoft.com/office/drawing/2014/main" id="{C1D14467-56CA-41A5-BB78-284BCD55C941}"/>
              </a:ext>
            </a:extLst>
          </p:cNvPr>
          <p:cNvSpPr/>
          <p:nvPr/>
        </p:nvSpPr>
        <p:spPr>
          <a:xfrm>
            <a:off x="8291463" y="6367314"/>
            <a:ext cx="615191" cy="231467"/>
          </a:xfrm>
          <a:prstGeom prst="roundRect">
            <a:avLst>
              <a:gd name="adj" fmla="val 50000"/>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a:t>불가능</a:t>
            </a:r>
            <a:endParaRPr lang="ko-KR" altLang="en-US" sz="1000" dirty="0"/>
          </a:p>
        </p:txBody>
      </p:sp>
      <p:cxnSp>
        <p:nvCxnSpPr>
          <p:cNvPr id="157" name="연결선: 꺾임 156">
            <a:extLst>
              <a:ext uri="{FF2B5EF4-FFF2-40B4-BE49-F238E27FC236}">
                <a16:creationId xmlns:a16="http://schemas.microsoft.com/office/drawing/2014/main" id="{20AE424E-4DF5-4CBD-9BB9-9D59DC19A7BD}"/>
              </a:ext>
            </a:extLst>
          </p:cNvPr>
          <p:cNvCxnSpPr>
            <a:cxnSpLocks/>
            <a:stCxn id="156" idx="3"/>
            <a:endCxn id="112" idx="2"/>
          </p:cNvCxnSpPr>
          <p:nvPr/>
        </p:nvCxnSpPr>
        <p:spPr>
          <a:xfrm flipV="1">
            <a:off x="8906654" y="6225084"/>
            <a:ext cx="417444" cy="257964"/>
          </a:xfrm>
          <a:prstGeom prst="bentConnector2">
            <a:avLst/>
          </a:prstGeom>
          <a:ln w="12700">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0" name="직사각형 159">
            <a:extLst>
              <a:ext uri="{FF2B5EF4-FFF2-40B4-BE49-F238E27FC236}">
                <a16:creationId xmlns:a16="http://schemas.microsoft.com/office/drawing/2014/main" id="{5EBBC57D-FB9B-47EE-9815-7AF1D82A9258}"/>
              </a:ext>
            </a:extLst>
          </p:cNvPr>
          <p:cNvSpPr/>
          <p:nvPr/>
        </p:nvSpPr>
        <p:spPr>
          <a:xfrm>
            <a:off x="11303959" y="3310976"/>
            <a:ext cx="568086" cy="231467"/>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가능</a:t>
            </a:r>
          </a:p>
        </p:txBody>
      </p:sp>
      <p:cxnSp>
        <p:nvCxnSpPr>
          <p:cNvPr id="161" name="연결선: 꺾임 160">
            <a:extLst>
              <a:ext uri="{FF2B5EF4-FFF2-40B4-BE49-F238E27FC236}">
                <a16:creationId xmlns:a16="http://schemas.microsoft.com/office/drawing/2014/main" id="{D37EDD7B-44F4-47FF-83D8-5421DDBFF9DC}"/>
              </a:ext>
            </a:extLst>
          </p:cNvPr>
          <p:cNvCxnSpPr>
            <a:cxnSpLocks/>
            <a:stCxn id="160" idx="1"/>
            <a:endCxn id="88" idx="0"/>
          </p:cNvCxnSpPr>
          <p:nvPr/>
        </p:nvCxnSpPr>
        <p:spPr>
          <a:xfrm rot="10800000" flipV="1">
            <a:off x="11164655" y="3426709"/>
            <a:ext cx="139305" cy="313537"/>
          </a:xfrm>
          <a:prstGeom prst="bentConnector2">
            <a:avLst/>
          </a:prstGeom>
          <a:ln w="12700">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481177"/>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5" name="직선 연결선 64">
            <a:extLst>
              <a:ext uri="{FF2B5EF4-FFF2-40B4-BE49-F238E27FC236}">
                <a16:creationId xmlns:a16="http://schemas.microsoft.com/office/drawing/2014/main" id="{553FC84F-6FDC-4506-BFC6-718C4B0E768C}"/>
              </a:ext>
            </a:extLst>
          </p:cNvPr>
          <p:cNvCxnSpPr/>
          <p:nvPr/>
        </p:nvCxnSpPr>
        <p:spPr>
          <a:xfrm flipH="1">
            <a:off x="7138432" y="3557351"/>
            <a:ext cx="1" cy="313139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직선 연결선 78"/>
          <p:cNvCxnSpPr/>
          <p:nvPr/>
        </p:nvCxnSpPr>
        <p:spPr>
          <a:xfrm flipH="1">
            <a:off x="4383747" y="3557351"/>
            <a:ext cx="1" cy="313139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직선 연결선 84"/>
          <p:cNvCxnSpPr/>
          <p:nvPr/>
        </p:nvCxnSpPr>
        <p:spPr>
          <a:xfrm>
            <a:off x="10886943" y="3382145"/>
            <a:ext cx="1" cy="3306604"/>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직선 연결선 82"/>
          <p:cNvCxnSpPr/>
          <p:nvPr/>
        </p:nvCxnSpPr>
        <p:spPr>
          <a:xfrm>
            <a:off x="9749515" y="3382145"/>
            <a:ext cx="1" cy="3306604"/>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양쪽 모서리가 둥근 사각형 62"/>
          <p:cNvSpPr/>
          <p:nvPr/>
        </p:nvSpPr>
        <p:spPr>
          <a:xfrm>
            <a:off x="9749516" y="3507683"/>
            <a:ext cx="1905318" cy="396815"/>
          </a:xfrm>
          <a:prstGeom prst="round2SameRect">
            <a:avLst>
              <a:gd name="adj1" fmla="val 0"/>
              <a:gd name="adj2" fmla="val 50000"/>
            </a:avLst>
          </a:prstGeom>
          <a:pattFill prst="lgGrid">
            <a:fgClr>
              <a:schemeClr val="accent4"/>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양쪽 모서리가 둥근 사각형 61"/>
          <p:cNvSpPr/>
          <p:nvPr/>
        </p:nvSpPr>
        <p:spPr>
          <a:xfrm>
            <a:off x="5917380" y="3507683"/>
            <a:ext cx="1975116" cy="396815"/>
          </a:xfrm>
          <a:prstGeom prst="round2SameRect">
            <a:avLst>
              <a:gd name="adj1" fmla="val 0"/>
              <a:gd name="adj2" fmla="val 50000"/>
            </a:avLst>
          </a:prstGeom>
          <a:pattFill prst="lgGrid">
            <a:fgClr>
              <a:schemeClr val="accent4"/>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양쪽 모서리가 둥근 사각형 8"/>
          <p:cNvSpPr/>
          <p:nvPr/>
        </p:nvSpPr>
        <p:spPr>
          <a:xfrm>
            <a:off x="3210146" y="3507683"/>
            <a:ext cx="1905318" cy="396815"/>
          </a:xfrm>
          <a:prstGeom prst="round2SameRect">
            <a:avLst>
              <a:gd name="adj1" fmla="val 0"/>
              <a:gd name="adj2" fmla="val 50000"/>
            </a:avLst>
          </a:prstGeom>
          <a:pattFill prst="lgGrid">
            <a:fgClr>
              <a:schemeClr val="accent4"/>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67</a:t>
            </a:r>
            <a:r>
              <a:rPr lang="ko-KR" altLang="en-US" dirty="0"/>
              <a:t>조의</a:t>
            </a:r>
            <a:r>
              <a:rPr lang="en-US" altLang="ko-KR" dirty="0"/>
              <a:t>2</a:t>
            </a:r>
            <a:endParaRPr lang="ko-KR" altLang="en-US" dirty="0"/>
          </a:p>
        </p:txBody>
      </p:sp>
      <p:sp>
        <p:nvSpPr>
          <p:cNvPr id="4" name="텍스트 개체 틀 3"/>
          <p:cNvSpPr>
            <a:spLocks noGrp="1"/>
          </p:cNvSpPr>
          <p:nvPr>
            <p:ph type="body" sz="quarter" idx="13"/>
          </p:nvPr>
        </p:nvSpPr>
        <p:spPr/>
        <p:txBody>
          <a:bodyPr/>
          <a:lstStyle/>
          <a:p>
            <a:r>
              <a:rPr lang="ko-KR" altLang="en-US" dirty="0" err="1"/>
              <a:t>거절결정등본송달일로부터</a:t>
            </a:r>
            <a:r>
              <a:rPr lang="ko-KR" altLang="en-US" dirty="0"/>
              <a:t> </a:t>
            </a:r>
            <a:r>
              <a:rPr lang="en-US" altLang="ko-KR" dirty="0"/>
              <a:t>3</a:t>
            </a:r>
            <a:r>
              <a:rPr lang="ko-KR" altLang="en-US" dirty="0"/>
              <a:t>개월 이내 대응방안</a:t>
            </a:r>
          </a:p>
        </p:txBody>
      </p:sp>
      <p:cxnSp>
        <p:nvCxnSpPr>
          <p:cNvPr id="28" name="직선 연결선 27"/>
          <p:cNvCxnSpPr/>
          <p:nvPr/>
        </p:nvCxnSpPr>
        <p:spPr>
          <a:xfrm>
            <a:off x="65" y="278051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77875" y="976902"/>
            <a:ext cx="11936323" cy="1815882"/>
          </a:xfrm>
          <a:prstGeom prst="rect">
            <a:avLst/>
          </a:prstGeom>
          <a:noFill/>
        </p:spPr>
        <p:txBody>
          <a:bodyPr wrap="square" rtlCol="0">
            <a:spAutoFit/>
          </a:bodyPr>
          <a:lstStyle/>
          <a:p>
            <a:r>
              <a:rPr lang="ko-KR" altLang="en-US" sz="1400" dirty="0">
                <a:solidFill>
                  <a:schemeClr val="tx2"/>
                </a:solidFill>
                <a:latin typeface="+mn-ea"/>
              </a:rPr>
              <a:t>그 특허출원에 관하여 특허결정의 등본을 </a:t>
            </a:r>
            <a:r>
              <a:rPr lang="ko-KR" altLang="en-US" sz="1400" dirty="0" err="1">
                <a:solidFill>
                  <a:schemeClr val="tx2"/>
                </a:solidFill>
                <a:latin typeface="+mn-ea"/>
              </a:rPr>
              <a:t>송달받은</a:t>
            </a:r>
            <a:r>
              <a:rPr lang="ko-KR" altLang="en-US" sz="1400" dirty="0">
                <a:solidFill>
                  <a:schemeClr val="tx2"/>
                </a:solidFill>
                <a:latin typeface="+mn-ea"/>
              </a:rPr>
              <a:t> 날부터 제</a:t>
            </a:r>
            <a:r>
              <a:rPr lang="en-US" altLang="ko-KR" sz="1400" dirty="0">
                <a:solidFill>
                  <a:schemeClr val="tx2"/>
                </a:solidFill>
                <a:latin typeface="+mn-ea"/>
              </a:rPr>
              <a:t>79</a:t>
            </a:r>
            <a:r>
              <a:rPr lang="ko-KR" altLang="en-US" sz="1400" dirty="0">
                <a:solidFill>
                  <a:schemeClr val="tx2"/>
                </a:solidFill>
                <a:latin typeface="+mn-ea"/>
              </a:rPr>
              <a:t>조에 따른 설정등록을 받기 전까지의 기간 또는 </a:t>
            </a:r>
            <a:r>
              <a:rPr lang="ko-KR" altLang="en-US" sz="1400" dirty="0" err="1">
                <a:solidFill>
                  <a:schemeClr val="tx2"/>
                </a:solidFill>
                <a:latin typeface="+mn-ea"/>
              </a:rPr>
              <a:t>특허거절결정등본을</a:t>
            </a:r>
            <a:r>
              <a:rPr lang="ko-KR" altLang="en-US" sz="1400" dirty="0">
                <a:solidFill>
                  <a:schemeClr val="tx2"/>
                </a:solidFill>
                <a:latin typeface="+mn-ea"/>
              </a:rPr>
              <a:t> </a:t>
            </a:r>
            <a:r>
              <a:rPr lang="ko-KR" altLang="en-US" sz="1400" dirty="0" err="1">
                <a:solidFill>
                  <a:schemeClr val="tx2"/>
                </a:solidFill>
                <a:latin typeface="+mn-ea"/>
              </a:rPr>
              <a:t>송달받은</a:t>
            </a:r>
            <a:r>
              <a:rPr lang="ko-KR" altLang="en-US" sz="1400" dirty="0">
                <a:solidFill>
                  <a:schemeClr val="tx2"/>
                </a:solidFill>
                <a:latin typeface="+mn-ea"/>
              </a:rPr>
              <a:t> 날부터 </a:t>
            </a:r>
            <a:r>
              <a:rPr lang="en-US" altLang="ko-KR" sz="1400" dirty="0">
                <a:solidFill>
                  <a:schemeClr val="tx2"/>
                </a:solidFill>
                <a:latin typeface="+mn-ea"/>
              </a:rPr>
              <a:t>3</a:t>
            </a:r>
            <a:r>
              <a:rPr lang="ko-KR" altLang="en-US" sz="1400" dirty="0">
                <a:solidFill>
                  <a:schemeClr val="tx2"/>
                </a:solidFill>
                <a:latin typeface="+mn-ea"/>
              </a:rPr>
              <a:t>개월</a:t>
            </a:r>
            <a:r>
              <a:rPr lang="en-US" altLang="ko-KR" sz="1400" dirty="0">
                <a:solidFill>
                  <a:schemeClr val="tx2"/>
                </a:solidFill>
                <a:latin typeface="+mn-ea"/>
              </a:rPr>
              <a:t>(</a:t>
            </a:r>
            <a:r>
              <a:rPr lang="ko-KR" altLang="en-US" sz="1400" dirty="0">
                <a:solidFill>
                  <a:schemeClr val="tx2"/>
                </a:solidFill>
                <a:latin typeface="+mn-ea"/>
              </a:rPr>
              <a:t>제</a:t>
            </a:r>
            <a:r>
              <a:rPr lang="en-US" altLang="ko-KR" sz="1400" dirty="0">
                <a:solidFill>
                  <a:schemeClr val="tx2"/>
                </a:solidFill>
                <a:latin typeface="+mn-ea"/>
              </a:rPr>
              <a:t>15</a:t>
            </a:r>
            <a:r>
              <a:rPr lang="ko-KR" altLang="en-US" sz="1400" dirty="0">
                <a:solidFill>
                  <a:schemeClr val="tx2"/>
                </a:solidFill>
                <a:latin typeface="+mn-ea"/>
              </a:rPr>
              <a:t>조제</a:t>
            </a:r>
            <a:r>
              <a:rPr lang="en-US" altLang="ko-KR" sz="1400" dirty="0">
                <a:solidFill>
                  <a:schemeClr val="tx2"/>
                </a:solidFill>
                <a:latin typeface="+mn-ea"/>
              </a:rPr>
              <a:t>1</a:t>
            </a:r>
            <a:r>
              <a:rPr lang="ko-KR" altLang="en-US" sz="1400" dirty="0">
                <a:solidFill>
                  <a:schemeClr val="tx2"/>
                </a:solidFill>
                <a:latin typeface="+mn-ea"/>
              </a:rPr>
              <a:t>항에 따라 제</a:t>
            </a:r>
            <a:r>
              <a:rPr lang="en-US" altLang="ko-KR" sz="1400" dirty="0">
                <a:solidFill>
                  <a:schemeClr val="tx2"/>
                </a:solidFill>
                <a:latin typeface="+mn-ea"/>
              </a:rPr>
              <a:t>132</a:t>
            </a:r>
            <a:r>
              <a:rPr lang="ko-KR" altLang="en-US" sz="1400" dirty="0">
                <a:solidFill>
                  <a:schemeClr val="tx2"/>
                </a:solidFill>
                <a:latin typeface="+mn-ea"/>
              </a:rPr>
              <a:t>조의</a:t>
            </a:r>
            <a:r>
              <a:rPr lang="en-US" altLang="ko-KR" sz="1400" dirty="0">
                <a:solidFill>
                  <a:schemeClr val="tx2"/>
                </a:solidFill>
                <a:latin typeface="+mn-ea"/>
              </a:rPr>
              <a:t>17</a:t>
            </a:r>
            <a:r>
              <a:rPr lang="ko-KR" altLang="en-US" sz="1400" dirty="0">
                <a:solidFill>
                  <a:schemeClr val="tx2"/>
                </a:solidFill>
                <a:latin typeface="+mn-ea"/>
              </a:rPr>
              <a:t>에 따른 기간이 연장된 경우 그 연장된 기간을 말한다</a:t>
            </a:r>
            <a:r>
              <a:rPr lang="en-US" altLang="ko-KR" sz="1400" dirty="0">
                <a:solidFill>
                  <a:schemeClr val="tx2"/>
                </a:solidFill>
                <a:latin typeface="+mn-ea"/>
              </a:rPr>
              <a:t>) </a:t>
            </a:r>
            <a:r>
              <a:rPr lang="ko-KR" altLang="en-US" sz="1400" dirty="0">
                <a:solidFill>
                  <a:schemeClr val="tx2"/>
                </a:solidFill>
                <a:latin typeface="+mn-ea"/>
              </a:rPr>
              <a:t>이내에 그 특허출원의 명세서 또는 도면을 보정하여 해당 특허출원에 관한 재심사</a:t>
            </a:r>
            <a:r>
              <a:rPr lang="en-US" altLang="ko-KR" sz="1400" dirty="0">
                <a:solidFill>
                  <a:schemeClr val="tx2"/>
                </a:solidFill>
                <a:latin typeface="+mn-ea"/>
              </a:rPr>
              <a:t>(</a:t>
            </a:r>
            <a:r>
              <a:rPr lang="ko-KR" altLang="en-US" sz="1400" dirty="0">
                <a:solidFill>
                  <a:schemeClr val="tx2"/>
                </a:solidFill>
                <a:latin typeface="+mn-ea"/>
              </a:rPr>
              <a:t>이하 “</a:t>
            </a:r>
            <a:r>
              <a:rPr lang="ko-KR" altLang="en-US" sz="1400" dirty="0" err="1">
                <a:solidFill>
                  <a:schemeClr val="tx2"/>
                </a:solidFill>
                <a:latin typeface="+mn-ea"/>
              </a:rPr>
              <a:t>재심사”라</a:t>
            </a:r>
            <a:r>
              <a:rPr lang="ko-KR" altLang="en-US" sz="1400" dirty="0">
                <a:solidFill>
                  <a:schemeClr val="tx2"/>
                </a:solidFill>
                <a:latin typeface="+mn-ea"/>
              </a:rPr>
              <a:t> 한다</a:t>
            </a:r>
            <a:r>
              <a:rPr lang="en-US" altLang="ko-KR" sz="1400" dirty="0">
                <a:solidFill>
                  <a:schemeClr val="tx2"/>
                </a:solidFill>
                <a:latin typeface="+mn-ea"/>
              </a:rPr>
              <a:t>)</a:t>
            </a:r>
            <a:r>
              <a:rPr lang="ko-KR" altLang="en-US" sz="1400" dirty="0">
                <a:solidFill>
                  <a:schemeClr val="tx2"/>
                </a:solidFill>
                <a:latin typeface="+mn-ea"/>
              </a:rPr>
              <a:t>를 청구할 수 있다</a:t>
            </a:r>
            <a:r>
              <a:rPr lang="en-US" altLang="ko-KR" sz="1400" dirty="0">
                <a:solidFill>
                  <a:schemeClr val="tx2"/>
                </a:solidFill>
                <a:latin typeface="+mn-ea"/>
              </a:rPr>
              <a:t>. </a:t>
            </a:r>
            <a:r>
              <a:rPr lang="ko-KR" altLang="en-US" sz="1400" dirty="0">
                <a:solidFill>
                  <a:schemeClr val="tx2"/>
                </a:solidFill>
                <a:latin typeface="+mn-ea"/>
              </a:rPr>
              <a:t>다만</a:t>
            </a:r>
            <a:r>
              <a:rPr lang="en-US" altLang="ko-KR" sz="1400" dirty="0">
                <a:solidFill>
                  <a:schemeClr val="tx2"/>
                </a:solidFill>
                <a:latin typeface="+mn-ea"/>
              </a:rPr>
              <a:t>, 1) </a:t>
            </a:r>
            <a:r>
              <a:rPr lang="ko-KR" altLang="en-US" sz="1400" dirty="0">
                <a:solidFill>
                  <a:schemeClr val="tx2"/>
                </a:solidFill>
                <a:latin typeface="+mn-ea"/>
              </a:rPr>
              <a:t>재심사를 청구할 때에 이미 재심사에 따른 특허여부의 결정이 있는 경우</a:t>
            </a:r>
            <a:r>
              <a:rPr lang="en-US" altLang="ko-KR" sz="1400" dirty="0">
                <a:solidFill>
                  <a:schemeClr val="tx2"/>
                </a:solidFill>
                <a:latin typeface="+mn-ea"/>
              </a:rPr>
              <a:t>, 2) </a:t>
            </a:r>
            <a:r>
              <a:rPr lang="ko-KR" altLang="en-US" sz="1400" dirty="0">
                <a:solidFill>
                  <a:schemeClr val="tx2"/>
                </a:solidFill>
                <a:latin typeface="+mn-ea"/>
              </a:rPr>
              <a:t>제</a:t>
            </a:r>
            <a:r>
              <a:rPr lang="en-US" altLang="ko-KR" sz="1400" dirty="0">
                <a:solidFill>
                  <a:schemeClr val="tx2"/>
                </a:solidFill>
                <a:latin typeface="+mn-ea"/>
              </a:rPr>
              <a:t>132</a:t>
            </a:r>
            <a:r>
              <a:rPr lang="ko-KR" altLang="en-US" sz="1400" dirty="0">
                <a:solidFill>
                  <a:schemeClr val="tx2"/>
                </a:solidFill>
                <a:latin typeface="+mn-ea"/>
              </a:rPr>
              <a:t>조의</a:t>
            </a:r>
            <a:r>
              <a:rPr lang="en-US" altLang="ko-KR" sz="1400" dirty="0">
                <a:solidFill>
                  <a:schemeClr val="tx2"/>
                </a:solidFill>
                <a:latin typeface="+mn-ea"/>
              </a:rPr>
              <a:t>17</a:t>
            </a:r>
            <a:r>
              <a:rPr lang="ko-KR" altLang="en-US" sz="1400" dirty="0">
                <a:solidFill>
                  <a:schemeClr val="tx2"/>
                </a:solidFill>
                <a:latin typeface="+mn-ea"/>
              </a:rPr>
              <a:t>에 따른 심판청구가 있는 경우</a:t>
            </a:r>
            <a:r>
              <a:rPr lang="en-US" altLang="ko-KR" sz="1400" dirty="0">
                <a:solidFill>
                  <a:schemeClr val="tx2"/>
                </a:solidFill>
                <a:latin typeface="+mn-ea"/>
              </a:rPr>
              <a:t>(</a:t>
            </a:r>
            <a:r>
              <a:rPr lang="ko-KR" altLang="en-US" sz="1400" dirty="0">
                <a:solidFill>
                  <a:schemeClr val="tx2"/>
                </a:solidFill>
                <a:latin typeface="+mn-ea"/>
              </a:rPr>
              <a:t>제</a:t>
            </a:r>
            <a:r>
              <a:rPr lang="en-US" altLang="ko-KR" sz="1400" dirty="0">
                <a:solidFill>
                  <a:schemeClr val="tx2"/>
                </a:solidFill>
                <a:latin typeface="+mn-ea"/>
              </a:rPr>
              <a:t>176</a:t>
            </a:r>
            <a:r>
              <a:rPr lang="ko-KR" altLang="en-US" sz="1400" dirty="0">
                <a:solidFill>
                  <a:schemeClr val="tx2"/>
                </a:solidFill>
                <a:latin typeface="+mn-ea"/>
              </a:rPr>
              <a:t>조제</a:t>
            </a:r>
            <a:r>
              <a:rPr lang="en-US" altLang="ko-KR" sz="1400" dirty="0">
                <a:solidFill>
                  <a:schemeClr val="tx2"/>
                </a:solidFill>
                <a:latin typeface="+mn-ea"/>
              </a:rPr>
              <a:t>1</a:t>
            </a:r>
            <a:r>
              <a:rPr lang="ko-KR" altLang="en-US" sz="1400" dirty="0">
                <a:solidFill>
                  <a:schemeClr val="tx2"/>
                </a:solidFill>
                <a:latin typeface="+mn-ea"/>
              </a:rPr>
              <a:t>항에 따라 </a:t>
            </a:r>
            <a:r>
              <a:rPr lang="ko-KR" altLang="en-US" sz="1400" dirty="0" err="1">
                <a:solidFill>
                  <a:schemeClr val="tx2"/>
                </a:solidFill>
                <a:latin typeface="+mn-ea"/>
              </a:rPr>
              <a:t>특허거절결정이</a:t>
            </a:r>
            <a:r>
              <a:rPr lang="ko-KR" altLang="en-US" sz="1400" dirty="0">
                <a:solidFill>
                  <a:schemeClr val="tx2"/>
                </a:solidFill>
                <a:latin typeface="+mn-ea"/>
              </a:rPr>
              <a:t> 취소된 경우는 제외한다</a:t>
            </a:r>
            <a:r>
              <a:rPr lang="en-US" altLang="ko-KR" sz="1400" dirty="0">
                <a:solidFill>
                  <a:schemeClr val="tx2"/>
                </a:solidFill>
                <a:latin typeface="+mn-ea"/>
              </a:rPr>
              <a:t>), 3) </a:t>
            </a:r>
            <a:r>
              <a:rPr lang="ko-KR" altLang="en-US" sz="1400" dirty="0">
                <a:solidFill>
                  <a:schemeClr val="tx2"/>
                </a:solidFill>
                <a:latin typeface="+mn-ea"/>
              </a:rPr>
              <a:t>그 특허출원이 </a:t>
            </a:r>
            <a:r>
              <a:rPr lang="ko-KR" altLang="en-US" sz="1400" dirty="0" err="1">
                <a:solidFill>
                  <a:schemeClr val="tx2"/>
                </a:solidFill>
                <a:latin typeface="+mn-ea"/>
              </a:rPr>
              <a:t>분리출원인</a:t>
            </a:r>
            <a:r>
              <a:rPr lang="ko-KR" altLang="en-US" sz="1400" dirty="0">
                <a:solidFill>
                  <a:schemeClr val="tx2"/>
                </a:solidFill>
                <a:latin typeface="+mn-ea"/>
              </a:rPr>
              <a:t> 경우 중 어느 하나에 해당하는 경우에는 그러하지 아니하다</a:t>
            </a:r>
            <a:r>
              <a:rPr lang="en-US" altLang="ko-KR" sz="1400" dirty="0">
                <a:solidFill>
                  <a:schemeClr val="tx2"/>
                </a:solidFill>
                <a:latin typeface="+mn-ea"/>
              </a:rPr>
              <a:t>(</a:t>
            </a:r>
            <a:r>
              <a:rPr lang="ko-KR" altLang="en-US" sz="1400" dirty="0">
                <a:solidFill>
                  <a:schemeClr val="tx2"/>
                </a:solidFill>
                <a:latin typeface="+mn-ea"/>
              </a:rPr>
              <a:t>法 </a:t>
            </a:r>
            <a:r>
              <a:rPr lang="en-US" altLang="ko-KR" sz="1400" dirty="0">
                <a:solidFill>
                  <a:schemeClr val="tx2"/>
                </a:solidFill>
                <a:latin typeface="+mn-ea"/>
              </a:rPr>
              <a:t>67</a:t>
            </a:r>
            <a:r>
              <a:rPr lang="ko-KR" altLang="en-US" sz="1400" dirty="0">
                <a:solidFill>
                  <a:schemeClr val="tx2"/>
                </a:solidFill>
                <a:latin typeface="+mn-ea"/>
              </a:rPr>
              <a:t>의</a:t>
            </a:r>
            <a:r>
              <a:rPr lang="en-US" altLang="ko-KR" sz="1400" dirty="0">
                <a:solidFill>
                  <a:schemeClr val="tx2"/>
                </a:solidFill>
                <a:latin typeface="+mn-ea"/>
              </a:rPr>
              <a:t>2①). </a:t>
            </a:r>
            <a:r>
              <a:rPr lang="ko-KR" altLang="en-US" sz="1400" dirty="0">
                <a:solidFill>
                  <a:schemeClr val="tx2"/>
                </a:solidFill>
                <a:latin typeface="+mn-ea"/>
              </a:rPr>
              <a:t>즉</a:t>
            </a:r>
            <a:r>
              <a:rPr lang="en-US" altLang="ko-KR" sz="1400" dirty="0">
                <a:solidFill>
                  <a:schemeClr val="tx2"/>
                </a:solidFill>
                <a:latin typeface="+mn-ea"/>
              </a:rPr>
              <a:t>, </a:t>
            </a:r>
            <a:r>
              <a:rPr lang="ko-KR" altLang="en-US" sz="1400" dirty="0">
                <a:solidFill>
                  <a:schemeClr val="tx2"/>
                </a:solidFill>
                <a:latin typeface="+mn-ea"/>
              </a:rPr>
              <a:t>이미 재심사 청구를 하여 다시 </a:t>
            </a:r>
            <a:r>
              <a:rPr lang="ko-KR" altLang="en-US" sz="1400" dirty="0" err="1">
                <a:solidFill>
                  <a:schemeClr val="tx2"/>
                </a:solidFill>
                <a:latin typeface="+mn-ea"/>
              </a:rPr>
              <a:t>특허거절결정이</a:t>
            </a:r>
            <a:r>
              <a:rPr lang="ko-KR" altLang="en-US" sz="1400" dirty="0">
                <a:solidFill>
                  <a:schemeClr val="tx2"/>
                </a:solidFill>
                <a:latin typeface="+mn-ea"/>
              </a:rPr>
              <a:t> 된 경우에는 재심사 절차의 반복으로 인해 심사가 지연되는 것을 방지하기 위해 다시 재심사 청구를 할 수 없고</a:t>
            </a:r>
            <a:r>
              <a:rPr lang="en-US" altLang="ko-KR" sz="1400" dirty="0">
                <a:solidFill>
                  <a:schemeClr val="tx2"/>
                </a:solidFill>
                <a:latin typeface="+mn-ea"/>
              </a:rPr>
              <a:t>, </a:t>
            </a:r>
            <a:r>
              <a:rPr lang="ko-KR" altLang="en-US" sz="1400" dirty="0">
                <a:solidFill>
                  <a:schemeClr val="tx2"/>
                </a:solidFill>
                <a:latin typeface="+mn-ea"/>
              </a:rPr>
              <a:t>거절결정불복심판만 가능하다</a:t>
            </a:r>
            <a:r>
              <a:rPr lang="en-US" altLang="ko-KR" sz="1400" dirty="0">
                <a:solidFill>
                  <a:schemeClr val="tx2"/>
                </a:solidFill>
                <a:latin typeface="+mn-ea"/>
              </a:rPr>
              <a:t>. </a:t>
            </a:r>
            <a:r>
              <a:rPr lang="ko-KR" altLang="en-US" sz="1400" dirty="0">
                <a:solidFill>
                  <a:schemeClr val="tx2"/>
                </a:solidFill>
                <a:latin typeface="+mn-ea"/>
              </a:rPr>
              <a:t>물론</a:t>
            </a:r>
            <a:r>
              <a:rPr lang="en-US" altLang="ko-KR" sz="1400" dirty="0">
                <a:solidFill>
                  <a:schemeClr val="tx2"/>
                </a:solidFill>
                <a:latin typeface="+mn-ea"/>
              </a:rPr>
              <a:t>, </a:t>
            </a:r>
            <a:r>
              <a:rPr lang="ko-KR" altLang="en-US" sz="1400" dirty="0">
                <a:solidFill>
                  <a:schemeClr val="tx2"/>
                </a:solidFill>
                <a:latin typeface="+mn-ea"/>
              </a:rPr>
              <a:t>거절결정불복심판에서 재심사에 따른 </a:t>
            </a:r>
            <a:r>
              <a:rPr lang="ko-KR" altLang="en-US" sz="1400" dirty="0" err="1">
                <a:solidFill>
                  <a:schemeClr val="tx2"/>
                </a:solidFill>
                <a:latin typeface="+mn-ea"/>
              </a:rPr>
              <a:t>특허거절결정이</a:t>
            </a:r>
            <a:r>
              <a:rPr lang="ko-KR" altLang="en-US" sz="1400" dirty="0">
                <a:solidFill>
                  <a:schemeClr val="tx2"/>
                </a:solidFill>
                <a:latin typeface="+mn-ea"/>
              </a:rPr>
              <a:t> 취소되고</a:t>
            </a:r>
            <a:r>
              <a:rPr lang="en-US" altLang="ko-KR" sz="1400" dirty="0">
                <a:solidFill>
                  <a:schemeClr val="tx2"/>
                </a:solidFill>
                <a:latin typeface="+mn-ea"/>
              </a:rPr>
              <a:t>, </a:t>
            </a:r>
            <a:r>
              <a:rPr lang="ko-KR" altLang="en-US" sz="1400" dirty="0">
                <a:solidFill>
                  <a:schemeClr val="tx2"/>
                </a:solidFill>
                <a:latin typeface="+mn-ea"/>
              </a:rPr>
              <a:t>심사국으로 환송된 이후 </a:t>
            </a:r>
            <a:r>
              <a:rPr lang="ko-KR" altLang="en-US" sz="1400" dirty="0" err="1">
                <a:solidFill>
                  <a:schemeClr val="tx2"/>
                </a:solidFill>
                <a:latin typeface="+mn-ea"/>
              </a:rPr>
              <a:t>특허거절결정등본이</a:t>
            </a:r>
            <a:r>
              <a:rPr lang="ko-KR" altLang="en-US" sz="1400" dirty="0">
                <a:solidFill>
                  <a:schemeClr val="tx2"/>
                </a:solidFill>
                <a:latin typeface="+mn-ea"/>
              </a:rPr>
              <a:t> 송달된 경우에는 재심사에 따른 </a:t>
            </a:r>
            <a:r>
              <a:rPr lang="ko-KR" altLang="en-US" sz="1400" dirty="0" err="1">
                <a:solidFill>
                  <a:schemeClr val="tx2"/>
                </a:solidFill>
                <a:latin typeface="+mn-ea"/>
              </a:rPr>
              <a:t>특허거절결정은</a:t>
            </a:r>
            <a:r>
              <a:rPr lang="ko-KR" altLang="en-US" sz="1400" dirty="0">
                <a:solidFill>
                  <a:schemeClr val="tx2"/>
                </a:solidFill>
                <a:latin typeface="+mn-ea"/>
              </a:rPr>
              <a:t> 아니기 때문에 다시 재심사 청구를 할 수 있다</a:t>
            </a:r>
            <a:r>
              <a:rPr lang="en-US" altLang="ko-KR" sz="1400" dirty="0">
                <a:solidFill>
                  <a:schemeClr val="tx2"/>
                </a:solidFill>
                <a:latin typeface="+mn-ea"/>
              </a:rPr>
              <a:t>. </a:t>
            </a:r>
            <a:r>
              <a:rPr lang="ko-KR" altLang="en-US" sz="1400" dirty="0">
                <a:solidFill>
                  <a:schemeClr val="tx2"/>
                </a:solidFill>
                <a:latin typeface="+mn-ea"/>
              </a:rPr>
              <a:t>또한</a:t>
            </a:r>
            <a:r>
              <a:rPr lang="en-US" altLang="ko-KR" sz="1400" dirty="0">
                <a:solidFill>
                  <a:schemeClr val="tx2"/>
                </a:solidFill>
                <a:latin typeface="+mn-ea"/>
              </a:rPr>
              <a:t>, </a:t>
            </a:r>
            <a:r>
              <a:rPr lang="ko-KR" altLang="en-US" sz="1400" dirty="0">
                <a:solidFill>
                  <a:schemeClr val="tx2"/>
                </a:solidFill>
                <a:latin typeface="+mn-ea"/>
              </a:rPr>
              <a:t>거절결정불복심판청구와 재심사청구는 선택적 사항으로서 출원인은 </a:t>
            </a:r>
            <a:r>
              <a:rPr lang="ko-KR" altLang="en-US" sz="1400" dirty="0" err="1">
                <a:solidFill>
                  <a:schemeClr val="tx2"/>
                </a:solidFill>
                <a:latin typeface="+mn-ea"/>
              </a:rPr>
              <a:t>특허거절결정등본송달일로부터</a:t>
            </a:r>
            <a:r>
              <a:rPr lang="ko-KR" altLang="en-US" sz="1400" dirty="0">
                <a:solidFill>
                  <a:schemeClr val="tx2"/>
                </a:solidFill>
                <a:latin typeface="+mn-ea"/>
              </a:rPr>
              <a:t> </a:t>
            </a:r>
            <a:r>
              <a:rPr lang="en-US" altLang="ko-KR" sz="1400" dirty="0">
                <a:solidFill>
                  <a:srgbClr val="FF0000"/>
                </a:solidFill>
                <a:latin typeface="+mn-ea"/>
              </a:rPr>
              <a:t>3</a:t>
            </a:r>
            <a:r>
              <a:rPr lang="ko-KR" altLang="en-US" sz="1400" dirty="0">
                <a:solidFill>
                  <a:srgbClr val="FF0000"/>
                </a:solidFill>
                <a:latin typeface="+mn-ea"/>
              </a:rPr>
              <a:t>개월</a:t>
            </a:r>
            <a:r>
              <a:rPr lang="en-US" altLang="ko-KR" sz="1400" dirty="0">
                <a:solidFill>
                  <a:schemeClr val="tx2"/>
                </a:solidFill>
                <a:latin typeface="+mn-ea"/>
              </a:rPr>
              <a:t>(</a:t>
            </a:r>
            <a:r>
              <a:rPr lang="ko-KR" altLang="en-US" sz="1400" dirty="0">
                <a:solidFill>
                  <a:schemeClr val="tx2"/>
                </a:solidFill>
                <a:latin typeface="+mn-ea"/>
              </a:rPr>
              <a:t>연장된 경우에는 그 연장된 기간</a:t>
            </a:r>
            <a:r>
              <a:rPr lang="en-US" altLang="ko-KR" sz="1400" dirty="0">
                <a:solidFill>
                  <a:schemeClr val="tx2"/>
                </a:solidFill>
                <a:latin typeface="+mn-ea"/>
              </a:rPr>
              <a:t>) </a:t>
            </a:r>
            <a:r>
              <a:rPr lang="ko-KR" altLang="en-US" sz="1400" dirty="0">
                <a:solidFill>
                  <a:schemeClr val="tx2"/>
                </a:solidFill>
                <a:latin typeface="+mn-ea"/>
              </a:rPr>
              <a:t>이내 둘 중에 하나를 선택하여 </a:t>
            </a:r>
            <a:r>
              <a:rPr lang="ko-KR" altLang="en-US" sz="1400" dirty="0" err="1">
                <a:solidFill>
                  <a:schemeClr val="tx2"/>
                </a:solidFill>
                <a:latin typeface="+mn-ea"/>
              </a:rPr>
              <a:t>특허거절결정에</a:t>
            </a:r>
            <a:r>
              <a:rPr lang="ko-KR" altLang="en-US" sz="1400" dirty="0">
                <a:solidFill>
                  <a:schemeClr val="tx2"/>
                </a:solidFill>
                <a:latin typeface="+mn-ea"/>
              </a:rPr>
              <a:t> 대하여 다툴 수 있다</a:t>
            </a:r>
            <a:r>
              <a:rPr lang="en-US" altLang="ko-KR" sz="1400" dirty="0">
                <a:solidFill>
                  <a:schemeClr val="tx2"/>
                </a:solidFill>
                <a:latin typeface="+mn-ea"/>
              </a:rPr>
              <a:t>.</a:t>
            </a:r>
          </a:p>
        </p:txBody>
      </p:sp>
      <p:cxnSp>
        <p:nvCxnSpPr>
          <p:cNvPr id="41" name="직선 화살표 연결선 40"/>
          <p:cNvCxnSpPr/>
          <p:nvPr/>
        </p:nvCxnSpPr>
        <p:spPr>
          <a:xfrm>
            <a:off x="1337094" y="3505970"/>
            <a:ext cx="10677104"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Rectangle 14"/>
          <p:cNvSpPr>
            <a:spLocks noChangeArrowheads="1"/>
          </p:cNvSpPr>
          <p:nvPr/>
        </p:nvSpPr>
        <p:spPr bwMode="auto">
          <a:xfrm>
            <a:off x="2755384" y="3334190"/>
            <a:ext cx="930837" cy="346986"/>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000" b="0" dirty="0">
                <a:latin typeface="+mn-ea"/>
              </a:rPr>
              <a:t>일반심사에 따른</a:t>
            </a:r>
            <a:endParaRPr lang="en-US" altLang="ko-KR" sz="1000" b="0" dirty="0">
              <a:latin typeface="+mn-ea"/>
            </a:endParaRPr>
          </a:p>
          <a:p>
            <a:pPr algn="ctr"/>
            <a:r>
              <a:rPr lang="ko-KR" altLang="en-US" sz="1000" dirty="0">
                <a:latin typeface="+mn-ea"/>
              </a:rPr>
              <a:t>거절결정</a:t>
            </a:r>
            <a:endParaRPr lang="ko-KR" altLang="en-US" sz="1000" b="0" dirty="0">
              <a:latin typeface="+mn-ea"/>
            </a:endParaRPr>
          </a:p>
        </p:txBody>
      </p:sp>
      <p:sp>
        <p:nvSpPr>
          <p:cNvPr id="43" name="Rectangle 14"/>
          <p:cNvSpPr>
            <a:spLocks noChangeArrowheads="1"/>
          </p:cNvSpPr>
          <p:nvPr/>
        </p:nvSpPr>
        <p:spPr bwMode="auto">
          <a:xfrm>
            <a:off x="3918328" y="3334190"/>
            <a:ext cx="930837" cy="346986"/>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000" b="0" dirty="0">
                <a:latin typeface="+mn-ea"/>
              </a:rPr>
              <a:t>재심사청구</a:t>
            </a:r>
            <a:endParaRPr lang="en-US" altLang="ko-KR" sz="1000" b="0" dirty="0">
              <a:latin typeface="+mn-ea"/>
            </a:endParaRPr>
          </a:p>
          <a:p>
            <a:pPr algn="ctr"/>
            <a:r>
              <a:rPr lang="en-US" altLang="ko-KR" sz="1000" dirty="0">
                <a:latin typeface="+mn-ea"/>
              </a:rPr>
              <a:t>(</a:t>
            </a:r>
            <a:r>
              <a:rPr lang="ko-KR" altLang="en-US" sz="1000" dirty="0">
                <a:latin typeface="+mn-ea"/>
              </a:rPr>
              <a:t>보정</a:t>
            </a:r>
            <a:r>
              <a:rPr lang="en-US" altLang="ko-KR" sz="1000" dirty="0">
                <a:latin typeface="+mn-ea"/>
              </a:rPr>
              <a:t>)</a:t>
            </a:r>
            <a:endParaRPr lang="ko-KR" altLang="en-US" sz="1000" b="0" dirty="0">
              <a:latin typeface="+mn-ea"/>
            </a:endParaRPr>
          </a:p>
        </p:txBody>
      </p:sp>
      <p:sp>
        <p:nvSpPr>
          <p:cNvPr id="52" name="Rectangle 14"/>
          <p:cNvSpPr>
            <a:spLocks noChangeArrowheads="1"/>
          </p:cNvSpPr>
          <p:nvPr/>
        </p:nvSpPr>
        <p:spPr bwMode="auto">
          <a:xfrm>
            <a:off x="1578634" y="3334190"/>
            <a:ext cx="930837" cy="346986"/>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000" b="0" dirty="0">
                <a:latin typeface="+mn-ea"/>
              </a:rPr>
              <a:t>특허출원</a:t>
            </a:r>
          </a:p>
        </p:txBody>
      </p:sp>
      <p:sp>
        <p:nvSpPr>
          <p:cNvPr id="55" name="Rectangle 14"/>
          <p:cNvSpPr>
            <a:spLocks noChangeArrowheads="1"/>
          </p:cNvSpPr>
          <p:nvPr/>
        </p:nvSpPr>
        <p:spPr bwMode="auto">
          <a:xfrm>
            <a:off x="5451961" y="3334190"/>
            <a:ext cx="930837" cy="346986"/>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000" b="0" dirty="0">
                <a:latin typeface="+mn-ea"/>
              </a:rPr>
              <a:t>재심사에 따른</a:t>
            </a:r>
            <a:endParaRPr lang="en-US" altLang="ko-KR" sz="1000" b="0" dirty="0">
              <a:latin typeface="+mn-ea"/>
            </a:endParaRPr>
          </a:p>
          <a:p>
            <a:pPr algn="ctr"/>
            <a:r>
              <a:rPr lang="ko-KR" altLang="en-US" sz="1000" dirty="0">
                <a:latin typeface="+mn-ea"/>
              </a:rPr>
              <a:t>거절결정</a:t>
            </a:r>
            <a:endParaRPr lang="ko-KR" altLang="en-US" sz="1000" b="0" dirty="0">
              <a:latin typeface="+mn-ea"/>
            </a:endParaRPr>
          </a:p>
        </p:txBody>
      </p:sp>
      <p:sp>
        <p:nvSpPr>
          <p:cNvPr id="56" name="Rectangle 14"/>
          <p:cNvSpPr>
            <a:spLocks noChangeArrowheads="1"/>
          </p:cNvSpPr>
          <p:nvPr/>
        </p:nvSpPr>
        <p:spPr bwMode="auto">
          <a:xfrm>
            <a:off x="8126499" y="3334190"/>
            <a:ext cx="930837" cy="346986"/>
          </a:xfrm>
          <a:prstGeom prst="rect">
            <a:avLst/>
          </a:prstGeom>
          <a:solidFill>
            <a:schemeClr val="accent1">
              <a:lumMod val="20000"/>
              <a:lumOff val="80000"/>
            </a:schemeClr>
          </a:solidFill>
          <a:ln w="9525" algn="ctr">
            <a:solidFill>
              <a:schemeClr val="bg1">
                <a:lumMod val="50000"/>
              </a:schemeClr>
            </a:solidFill>
            <a:prstDash val="solid"/>
            <a:miter lim="800000"/>
            <a:headEnd/>
            <a:tailEnd/>
          </a:ln>
        </p:spPr>
        <p:txBody>
          <a:bodyPr wrap="none" anchor="ctr"/>
          <a:lstStyle/>
          <a:p>
            <a:pPr algn="ctr"/>
            <a:r>
              <a:rPr lang="ko-KR" altLang="en-US" sz="1000" b="0" dirty="0" err="1">
                <a:latin typeface="+mn-ea"/>
              </a:rPr>
              <a:t>인용심결</a:t>
            </a:r>
            <a:endParaRPr lang="ko-KR" altLang="en-US" sz="1000" b="0" dirty="0">
              <a:latin typeface="+mn-ea"/>
            </a:endParaRPr>
          </a:p>
        </p:txBody>
      </p:sp>
      <p:sp>
        <p:nvSpPr>
          <p:cNvPr id="58" name="Rectangle 14"/>
          <p:cNvSpPr>
            <a:spLocks noChangeArrowheads="1"/>
          </p:cNvSpPr>
          <p:nvPr/>
        </p:nvSpPr>
        <p:spPr bwMode="auto">
          <a:xfrm>
            <a:off x="6666601" y="3334190"/>
            <a:ext cx="930837" cy="346986"/>
          </a:xfrm>
          <a:prstGeom prst="rect">
            <a:avLst/>
          </a:prstGeom>
          <a:solidFill>
            <a:schemeClr val="accent2"/>
          </a:solidFill>
          <a:ln w="9525" algn="ctr">
            <a:solidFill>
              <a:schemeClr val="bg1">
                <a:lumMod val="50000"/>
              </a:schemeClr>
            </a:solidFill>
            <a:miter lim="800000"/>
            <a:headEnd/>
            <a:tailEnd/>
          </a:ln>
        </p:spPr>
        <p:txBody>
          <a:bodyPr wrap="none" anchor="ctr"/>
          <a:lstStyle/>
          <a:p>
            <a:pPr algn="ctr"/>
            <a:r>
              <a:rPr lang="ko-KR" altLang="en-US" sz="1000" b="0" dirty="0">
                <a:latin typeface="+mn-ea"/>
              </a:rPr>
              <a:t>불복심판청구</a:t>
            </a:r>
          </a:p>
        </p:txBody>
      </p:sp>
      <p:sp>
        <p:nvSpPr>
          <p:cNvPr id="59" name="Rectangle 14"/>
          <p:cNvSpPr>
            <a:spLocks noChangeArrowheads="1"/>
          </p:cNvSpPr>
          <p:nvPr/>
        </p:nvSpPr>
        <p:spPr bwMode="auto">
          <a:xfrm>
            <a:off x="9284098" y="3334190"/>
            <a:ext cx="930837" cy="346986"/>
          </a:xfrm>
          <a:prstGeom prst="rect">
            <a:avLst/>
          </a:prstGeom>
          <a:solidFill>
            <a:schemeClr val="accent1">
              <a:lumMod val="20000"/>
              <a:lumOff val="80000"/>
            </a:schemeClr>
          </a:solidFill>
          <a:ln w="9525" algn="ctr">
            <a:solidFill>
              <a:schemeClr val="bg1">
                <a:lumMod val="50000"/>
              </a:schemeClr>
            </a:solidFill>
            <a:prstDash val="solid"/>
            <a:miter lim="800000"/>
            <a:headEnd/>
            <a:tailEnd/>
          </a:ln>
        </p:spPr>
        <p:txBody>
          <a:bodyPr wrap="none" anchor="ctr"/>
          <a:lstStyle/>
          <a:p>
            <a:pPr algn="ctr"/>
            <a:r>
              <a:rPr lang="ko-KR" altLang="en-US" sz="1000" b="0" dirty="0">
                <a:latin typeface="+mn-ea"/>
              </a:rPr>
              <a:t>일반심사에 따른</a:t>
            </a:r>
            <a:endParaRPr lang="en-US" altLang="ko-KR" sz="1000" b="0" dirty="0">
              <a:latin typeface="+mn-ea"/>
            </a:endParaRPr>
          </a:p>
          <a:p>
            <a:pPr algn="ctr"/>
            <a:r>
              <a:rPr lang="ko-KR" altLang="en-US" sz="1000" dirty="0">
                <a:latin typeface="+mn-ea"/>
              </a:rPr>
              <a:t>거절결정</a:t>
            </a:r>
            <a:endParaRPr lang="ko-KR" altLang="en-US" sz="1000" b="0" dirty="0">
              <a:latin typeface="+mn-ea"/>
            </a:endParaRPr>
          </a:p>
        </p:txBody>
      </p:sp>
      <p:sp>
        <p:nvSpPr>
          <p:cNvPr id="60" name="Rectangle 14"/>
          <p:cNvSpPr>
            <a:spLocks noChangeArrowheads="1"/>
          </p:cNvSpPr>
          <p:nvPr/>
        </p:nvSpPr>
        <p:spPr bwMode="auto">
          <a:xfrm>
            <a:off x="10421525" y="3334190"/>
            <a:ext cx="930837" cy="346986"/>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000" b="0" dirty="0">
                <a:latin typeface="+mn-ea"/>
              </a:rPr>
              <a:t>재심사청구</a:t>
            </a:r>
            <a:endParaRPr lang="en-US" altLang="ko-KR" sz="1000" b="0" dirty="0">
              <a:latin typeface="+mn-ea"/>
            </a:endParaRPr>
          </a:p>
          <a:p>
            <a:pPr algn="ctr"/>
            <a:r>
              <a:rPr lang="en-US" altLang="ko-KR" sz="1000" dirty="0">
                <a:latin typeface="+mn-ea"/>
              </a:rPr>
              <a:t>(</a:t>
            </a:r>
            <a:r>
              <a:rPr lang="ko-KR" altLang="en-US" sz="1000" dirty="0">
                <a:latin typeface="+mn-ea"/>
              </a:rPr>
              <a:t>보정</a:t>
            </a:r>
            <a:r>
              <a:rPr lang="en-US" altLang="ko-KR" sz="1000" dirty="0">
                <a:latin typeface="+mn-ea"/>
              </a:rPr>
              <a:t>)</a:t>
            </a:r>
            <a:endParaRPr lang="ko-KR" altLang="en-US" sz="1000" b="0" dirty="0">
              <a:latin typeface="+mn-ea"/>
            </a:endParaRPr>
          </a:p>
        </p:txBody>
      </p:sp>
      <p:sp>
        <p:nvSpPr>
          <p:cNvPr id="10" name="TextBox 9"/>
          <p:cNvSpPr txBox="1"/>
          <p:nvPr/>
        </p:nvSpPr>
        <p:spPr>
          <a:xfrm>
            <a:off x="3462934" y="3930378"/>
            <a:ext cx="1444626" cy="246221"/>
          </a:xfrm>
          <a:prstGeom prst="rect">
            <a:avLst/>
          </a:prstGeom>
          <a:noFill/>
        </p:spPr>
        <p:txBody>
          <a:bodyPr wrap="none" rtlCol="0">
            <a:spAutoFit/>
          </a:bodyPr>
          <a:lstStyle/>
          <a:p>
            <a:r>
              <a:rPr lang="ko-KR" altLang="en-US" sz="1000" dirty="0"/>
              <a:t>등본송달일로부터 </a:t>
            </a:r>
            <a:r>
              <a:rPr lang="en-US" altLang="ko-KR" sz="1000" dirty="0"/>
              <a:t>3</a:t>
            </a:r>
            <a:r>
              <a:rPr lang="ko-KR" altLang="en-US" sz="1000" dirty="0"/>
              <a:t>개월</a:t>
            </a:r>
          </a:p>
        </p:txBody>
      </p:sp>
      <p:sp>
        <p:nvSpPr>
          <p:cNvPr id="64" name="TextBox 63"/>
          <p:cNvSpPr txBox="1"/>
          <p:nvPr/>
        </p:nvSpPr>
        <p:spPr>
          <a:xfrm>
            <a:off x="6239966" y="3930378"/>
            <a:ext cx="1444626" cy="246221"/>
          </a:xfrm>
          <a:prstGeom prst="rect">
            <a:avLst/>
          </a:prstGeom>
          <a:noFill/>
        </p:spPr>
        <p:txBody>
          <a:bodyPr wrap="none" rtlCol="0">
            <a:spAutoFit/>
          </a:bodyPr>
          <a:lstStyle/>
          <a:p>
            <a:r>
              <a:rPr lang="ko-KR" altLang="en-US" sz="1000" dirty="0"/>
              <a:t>등본송달일로부터 </a:t>
            </a:r>
            <a:r>
              <a:rPr lang="en-US" altLang="ko-KR" sz="1000" dirty="0"/>
              <a:t>3</a:t>
            </a:r>
            <a:r>
              <a:rPr lang="ko-KR" altLang="en-US" sz="1000" dirty="0"/>
              <a:t>개월</a:t>
            </a:r>
          </a:p>
        </p:txBody>
      </p:sp>
      <p:sp>
        <p:nvSpPr>
          <p:cNvPr id="67" name="TextBox 66"/>
          <p:cNvSpPr txBox="1"/>
          <p:nvPr/>
        </p:nvSpPr>
        <p:spPr>
          <a:xfrm>
            <a:off x="10002304" y="3930378"/>
            <a:ext cx="1444626" cy="246221"/>
          </a:xfrm>
          <a:prstGeom prst="rect">
            <a:avLst/>
          </a:prstGeom>
          <a:noFill/>
        </p:spPr>
        <p:txBody>
          <a:bodyPr wrap="none" rtlCol="0">
            <a:spAutoFit/>
          </a:bodyPr>
          <a:lstStyle/>
          <a:p>
            <a:r>
              <a:rPr lang="ko-KR" altLang="en-US" sz="1000" dirty="0"/>
              <a:t>등본송달일로부터 </a:t>
            </a:r>
            <a:r>
              <a:rPr lang="en-US" altLang="ko-KR" sz="1000" dirty="0"/>
              <a:t>3</a:t>
            </a:r>
            <a:r>
              <a:rPr lang="ko-KR" altLang="en-US" sz="1000" dirty="0"/>
              <a:t>개일</a:t>
            </a:r>
          </a:p>
        </p:txBody>
      </p:sp>
      <p:sp>
        <p:nvSpPr>
          <p:cNvPr id="68" name="Rectangle 14"/>
          <p:cNvSpPr>
            <a:spLocks noChangeArrowheads="1"/>
          </p:cNvSpPr>
          <p:nvPr/>
        </p:nvSpPr>
        <p:spPr bwMode="auto">
          <a:xfrm>
            <a:off x="3652029" y="2871131"/>
            <a:ext cx="1463436" cy="346986"/>
          </a:xfrm>
          <a:prstGeom prst="rect">
            <a:avLst/>
          </a:prstGeom>
          <a:solidFill>
            <a:schemeClr val="bg1">
              <a:lumMod val="95000"/>
            </a:schemeClr>
          </a:solidFill>
          <a:ln w="9525" algn="ctr">
            <a:solidFill>
              <a:schemeClr val="bg1">
                <a:lumMod val="50000"/>
              </a:schemeClr>
            </a:solidFill>
            <a:miter lim="800000"/>
            <a:headEnd/>
            <a:tailEnd/>
          </a:ln>
        </p:spPr>
        <p:txBody>
          <a:bodyPr wrap="none" anchor="ctr"/>
          <a:lstStyle/>
          <a:p>
            <a:pPr algn="ctr"/>
            <a:r>
              <a:rPr lang="ko-KR" altLang="en-US" sz="1000" dirty="0">
                <a:latin typeface="+mn-ea"/>
              </a:rPr>
              <a:t>일반심사에 따른</a:t>
            </a:r>
            <a:endParaRPr lang="en-US" altLang="ko-KR" sz="1000" dirty="0">
              <a:latin typeface="+mn-ea"/>
            </a:endParaRPr>
          </a:p>
          <a:p>
            <a:pPr algn="ctr"/>
            <a:r>
              <a:rPr lang="ko-KR" altLang="en-US" sz="1000" dirty="0">
                <a:latin typeface="+mn-ea"/>
              </a:rPr>
              <a:t>거절결정 취소</a:t>
            </a:r>
          </a:p>
        </p:txBody>
      </p:sp>
      <p:cxnSp>
        <p:nvCxnSpPr>
          <p:cNvPr id="13" name="직선 연결선 12"/>
          <p:cNvCxnSpPr>
            <a:stCxn id="43" idx="0"/>
            <a:endCxn id="68" idx="2"/>
          </p:cNvCxnSpPr>
          <p:nvPr/>
        </p:nvCxnSpPr>
        <p:spPr>
          <a:xfrm flipV="1">
            <a:off x="4383747" y="3218117"/>
            <a:ext cx="0" cy="1160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0" name="Rectangle 14"/>
          <p:cNvSpPr>
            <a:spLocks noChangeArrowheads="1"/>
          </p:cNvSpPr>
          <p:nvPr/>
        </p:nvSpPr>
        <p:spPr bwMode="auto">
          <a:xfrm>
            <a:off x="10155225" y="2871131"/>
            <a:ext cx="1463436" cy="346986"/>
          </a:xfrm>
          <a:prstGeom prst="rect">
            <a:avLst/>
          </a:prstGeom>
          <a:solidFill>
            <a:schemeClr val="bg1">
              <a:lumMod val="95000"/>
            </a:schemeClr>
          </a:solidFill>
          <a:ln w="9525" algn="ctr">
            <a:solidFill>
              <a:schemeClr val="bg1">
                <a:lumMod val="50000"/>
              </a:schemeClr>
            </a:solidFill>
            <a:miter lim="800000"/>
            <a:headEnd/>
            <a:tailEnd/>
          </a:ln>
        </p:spPr>
        <p:txBody>
          <a:bodyPr wrap="none" anchor="ctr"/>
          <a:lstStyle/>
          <a:p>
            <a:pPr algn="ctr"/>
            <a:r>
              <a:rPr lang="ko-KR" altLang="en-US" sz="1000" dirty="0">
                <a:latin typeface="+mn-ea"/>
              </a:rPr>
              <a:t>일반심사에 따른</a:t>
            </a:r>
            <a:endParaRPr lang="en-US" altLang="ko-KR" sz="1000" dirty="0">
              <a:latin typeface="+mn-ea"/>
            </a:endParaRPr>
          </a:p>
          <a:p>
            <a:pPr algn="ctr"/>
            <a:r>
              <a:rPr lang="ko-KR" altLang="en-US" sz="1000" dirty="0">
                <a:latin typeface="+mn-ea"/>
              </a:rPr>
              <a:t>거절결정 취소</a:t>
            </a:r>
          </a:p>
        </p:txBody>
      </p:sp>
      <p:cxnSp>
        <p:nvCxnSpPr>
          <p:cNvPr id="71" name="직선 연결선 70"/>
          <p:cNvCxnSpPr>
            <a:cxnSpLocks/>
            <a:stCxn id="60" idx="0"/>
            <a:endCxn id="70" idx="2"/>
          </p:cNvCxnSpPr>
          <p:nvPr/>
        </p:nvCxnSpPr>
        <p:spPr>
          <a:xfrm flipH="1" flipV="1">
            <a:off x="10886943" y="3218117"/>
            <a:ext cx="1" cy="1160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Rectangle 14"/>
          <p:cNvSpPr>
            <a:spLocks noChangeArrowheads="1"/>
          </p:cNvSpPr>
          <p:nvPr/>
        </p:nvSpPr>
        <p:spPr bwMode="auto">
          <a:xfrm>
            <a:off x="7862016" y="2871131"/>
            <a:ext cx="1463436" cy="346986"/>
          </a:xfrm>
          <a:prstGeom prst="rect">
            <a:avLst/>
          </a:prstGeom>
          <a:solidFill>
            <a:schemeClr val="bg1">
              <a:lumMod val="95000"/>
            </a:schemeClr>
          </a:solidFill>
          <a:ln w="9525" algn="ctr">
            <a:solidFill>
              <a:schemeClr val="bg1">
                <a:lumMod val="50000"/>
              </a:schemeClr>
            </a:solidFill>
            <a:miter lim="800000"/>
            <a:headEnd/>
            <a:tailEnd/>
          </a:ln>
        </p:spPr>
        <p:txBody>
          <a:bodyPr wrap="none" anchor="ctr"/>
          <a:lstStyle/>
          <a:p>
            <a:pPr algn="ctr"/>
            <a:r>
              <a:rPr lang="ko-KR" altLang="en-US" sz="1000" dirty="0">
                <a:latin typeface="+mn-ea"/>
              </a:rPr>
              <a:t>재심사에 따른</a:t>
            </a:r>
            <a:endParaRPr lang="en-US" altLang="ko-KR" sz="1000" dirty="0">
              <a:latin typeface="+mn-ea"/>
            </a:endParaRPr>
          </a:p>
          <a:p>
            <a:pPr algn="ctr"/>
            <a:r>
              <a:rPr lang="ko-KR" altLang="en-US" sz="1000" dirty="0">
                <a:latin typeface="+mn-ea"/>
              </a:rPr>
              <a:t>거절결정 취소 및 환송</a:t>
            </a:r>
          </a:p>
        </p:txBody>
      </p:sp>
      <p:cxnSp>
        <p:nvCxnSpPr>
          <p:cNvPr id="76" name="직선 연결선 75"/>
          <p:cNvCxnSpPr>
            <a:cxnSpLocks/>
            <a:stCxn id="56" idx="0"/>
            <a:endCxn id="75" idx="2"/>
          </p:cNvCxnSpPr>
          <p:nvPr/>
        </p:nvCxnSpPr>
        <p:spPr>
          <a:xfrm flipV="1">
            <a:off x="8591918" y="3218117"/>
            <a:ext cx="1816" cy="1160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직선 연결선 15"/>
          <p:cNvCxnSpPr>
            <a:stCxn id="52" idx="2"/>
          </p:cNvCxnSpPr>
          <p:nvPr/>
        </p:nvCxnSpPr>
        <p:spPr>
          <a:xfrm flipH="1">
            <a:off x="2044052" y="3681176"/>
            <a:ext cx="1" cy="313139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직선 연결선 76"/>
          <p:cNvCxnSpPr/>
          <p:nvPr/>
        </p:nvCxnSpPr>
        <p:spPr>
          <a:xfrm flipH="1">
            <a:off x="3220802" y="3557351"/>
            <a:ext cx="1" cy="313139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직선 연결선 77"/>
          <p:cNvCxnSpPr/>
          <p:nvPr/>
        </p:nvCxnSpPr>
        <p:spPr>
          <a:xfrm flipH="1">
            <a:off x="5118614" y="3557351"/>
            <a:ext cx="1" cy="313139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직선 연결선 79"/>
          <p:cNvCxnSpPr/>
          <p:nvPr/>
        </p:nvCxnSpPr>
        <p:spPr>
          <a:xfrm flipH="1">
            <a:off x="5917379" y="3557351"/>
            <a:ext cx="1" cy="313139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직선 연결선 81"/>
          <p:cNvCxnSpPr/>
          <p:nvPr/>
        </p:nvCxnSpPr>
        <p:spPr>
          <a:xfrm>
            <a:off x="7892496" y="3382145"/>
            <a:ext cx="1" cy="3306604"/>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직선 연결선 83"/>
          <p:cNvCxnSpPr/>
          <p:nvPr/>
        </p:nvCxnSpPr>
        <p:spPr>
          <a:xfrm>
            <a:off x="11654834" y="3382145"/>
            <a:ext cx="1" cy="3306604"/>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직선 연결선 21"/>
          <p:cNvCxnSpPr>
            <a:stCxn id="20" idx="6"/>
          </p:cNvCxnSpPr>
          <p:nvPr/>
        </p:nvCxnSpPr>
        <p:spPr>
          <a:xfrm flipV="1">
            <a:off x="1043790" y="4430479"/>
            <a:ext cx="11205713" cy="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직선 연결선 88"/>
          <p:cNvCxnSpPr/>
          <p:nvPr/>
        </p:nvCxnSpPr>
        <p:spPr>
          <a:xfrm flipV="1">
            <a:off x="914400" y="5123050"/>
            <a:ext cx="11205713" cy="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직선 연결선 89"/>
          <p:cNvCxnSpPr/>
          <p:nvPr/>
        </p:nvCxnSpPr>
        <p:spPr>
          <a:xfrm flipV="1">
            <a:off x="914400" y="5791602"/>
            <a:ext cx="11205713" cy="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직선 연결선 90"/>
          <p:cNvCxnSpPr/>
          <p:nvPr/>
        </p:nvCxnSpPr>
        <p:spPr>
          <a:xfrm flipV="1">
            <a:off x="914400" y="6473697"/>
            <a:ext cx="11205713" cy="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직선 연결선 23"/>
          <p:cNvCxnSpPr/>
          <p:nvPr/>
        </p:nvCxnSpPr>
        <p:spPr>
          <a:xfrm>
            <a:off x="3210146" y="4430480"/>
            <a:ext cx="1905318" cy="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2" name="직선 연결선 91"/>
          <p:cNvCxnSpPr/>
          <p:nvPr/>
        </p:nvCxnSpPr>
        <p:spPr>
          <a:xfrm>
            <a:off x="9765099" y="4430480"/>
            <a:ext cx="1905318" cy="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직선 연결선 92"/>
          <p:cNvCxnSpPr/>
          <p:nvPr/>
        </p:nvCxnSpPr>
        <p:spPr>
          <a:xfrm>
            <a:off x="3210146" y="5123049"/>
            <a:ext cx="1905318" cy="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직선 연결선 93"/>
          <p:cNvCxnSpPr/>
          <p:nvPr/>
        </p:nvCxnSpPr>
        <p:spPr>
          <a:xfrm>
            <a:off x="5917380" y="5123049"/>
            <a:ext cx="1975116" cy="2"/>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직선 연결선 94"/>
          <p:cNvCxnSpPr/>
          <p:nvPr/>
        </p:nvCxnSpPr>
        <p:spPr>
          <a:xfrm>
            <a:off x="9749516" y="5123049"/>
            <a:ext cx="1905318" cy="2"/>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직선 연결선 95"/>
          <p:cNvCxnSpPr/>
          <p:nvPr/>
        </p:nvCxnSpPr>
        <p:spPr>
          <a:xfrm>
            <a:off x="3210146" y="5791602"/>
            <a:ext cx="1173602" cy="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a:off x="5917379" y="5791602"/>
            <a:ext cx="1975118" cy="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9749515" y="5791602"/>
            <a:ext cx="1173602" cy="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9" name="직선 연결선 98"/>
          <p:cNvCxnSpPr/>
          <p:nvPr/>
        </p:nvCxnSpPr>
        <p:spPr>
          <a:xfrm>
            <a:off x="2044053" y="6473688"/>
            <a:ext cx="3071411" cy="0"/>
          </a:xfrm>
          <a:prstGeom prst="line">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 name="타원 19"/>
          <p:cNvSpPr/>
          <p:nvPr/>
        </p:nvSpPr>
        <p:spPr>
          <a:xfrm>
            <a:off x="353677" y="4104530"/>
            <a:ext cx="690113" cy="651899"/>
          </a:xfrm>
          <a:prstGeom prst="ellipse">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2"/>
                </a:solidFill>
              </a:rPr>
              <a:t>재심사청구</a:t>
            </a:r>
          </a:p>
        </p:txBody>
      </p:sp>
      <p:sp>
        <p:nvSpPr>
          <p:cNvPr id="86" name="타원 85"/>
          <p:cNvSpPr/>
          <p:nvPr/>
        </p:nvSpPr>
        <p:spPr>
          <a:xfrm>
            <a:off x="353677" y="4797100"/>
            <a:ext cx="690113" cy="651899"/>
          </a:xfrm>
          <a:prstGeom prst="ellipse">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2"/>
                </a:solidFill>
              </a:rPr>
              <a:t>심판</a:t>
            </a:r>
            <a:endParaRPr lang="en-US" altLang="ko-KR" sz="1200" dirty="0">
              <a:solidFill>
                <a:schemeClr val="tx2"/>
              </a:solidFill>
            </a:endParaRPr>
          </a:p>
          <a:p>
            <a:pPr algn="ctr"/>
            <a:r>
              <a:rPr lang="ko-KR" altLang="en-US" sz="1200" dirty="0">
                <a:solidFill>
                  <a:schemeClr val="tx2"/>
                </a:solidFill>
              </a:rPr>
              <a:t>청구</a:t>
            </a:r>
          </a:p>
        </p:txBody>
      </p:sp>
      <p:sp>
        <p:nvSpPr>
          <p:cNvPr id="87" name="타원 86"/>
          <p:cNvSpPr/>
          <p:nvPr/>
        </p:nvSpPr>
        <p:spPr>
          <a:xfrm>
            <a:off x="353677" y="5469962"/>
            <a:ext cx="690113" cy="651899"/>
          </a:xfrm>
          <a:prstGeom prst="ellipse">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2"/>
                </a:solidFill>
              </a:rPr>
              <a:t>분할</a:t>
            </a:r>
            <a:endParaRPr lang="en-US" altLang="ko-KR" sz="1200" dirty="0">
              <a:solidFill>
                <a:schemeClr val="tx2"/>
              </a:solidFill>
            </a:endParaRPr>
          </a:p>
          <a:p>
            <a:pPr algn="ctr"/>
            <a:r>
              <a:rPr lang="ko-KR" altLang="en-US" sz="1200" dirty="0">
                <a:solidFill>
                  <a:schemeClr val="tx2"/>
                </a:solidFill>
              </a:rPr>
              <a:t>출원</a:t>
            </a:r>
          </a:p>
        </p:txBody>
      </p:sp>
      <p:sp>
        <p:nvSpPr>
          <p:cNvPr id="88" name="타원 87"/>
          <p:cNvSpPr/>
          <p:nvPr/>
        </p:nvSpPr>
        <p:spPr>
          <a:xfrm>
            <a:off x="353677" y="6147739"/>
            <a:ext cx="690113" cy="65189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t>변경</a:t>
            </a:r>
            <a:endParaRPr lang="en-US" altLang="ko-KR" sz="1200" dirty="0"/>
          </a:p>
          <a:p>
            <a:pPr algn="ctr"/>
            <a:r>
              <a:rPr lang="ko-KR" altLang="en-US" sz="1200" dirty="0"/>
              <a:t>출원</a:t>
            </a:r>
          </a:p>
        </p:txBody>
      </p:sp>
      <p:sp>
        <p:nvSpPr>
          <p:cNvPr id="2" name="슬라이드 번호 개체 틀 1"/>
          <p:cNvSpPr>
            <a:spLocks noGrp="1"/>
          </p:cNvSpPr>
          <p:nvPr>
            <p:ph type="sldNum" sz="quarter" idx="12"/>
          </p:nvPr>
        </p:nvSpPr>
        <p:spPr/>
        <p:txBody>
          <a:bodyPr/>
          <a:lstStyle/>
          <a:p>
            <a:r>
              <a:rPr lang="en-US" altLang="ko-KR"/>
              <a:t>273</a:t>
            </a:r>
            <a:endParaRPr lang="ko-KR" altLang="en-US" dirty="0"/>
          </a:p>
        </p:txBody>
      </p:sp>
      <p:sp>
        <p:nvSpPr>
          <p:cNvPr id="5" name="모서리가 둥근 직사각형 4"/>
          <p:cNvSpPr/>
          <p:nvPr/>
        </p:nvSpPr>
        <p:spPr>
          <a:xfrm>
            <a:off x="3918328" y="4289980"/>
            <a:ext cx="359382" cy="1019503"/>
          </a:xfrm>
          <a:prstGeom prst="roundRect">
            <a:avLst/>
          </a:prstGeom>
          <a:solidFill>
            <a:schemeClr val="tx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95000"/>
                  </a:schemeClr>
                </a:solidFill>
              </a:rPr>
              <a:t>택일</a:t>
            </a:r>
          </a:p>
        </p:txBody>
      </p:sp>
      <p:sp>
        <p:nvSpPr>
          <p:cNvPr id="57" name="모서리가 둥근 직사각형 56"/>
          <p:cNvSpPr/>
          <p:nvPr/>
        </p:nvSpPr>
        <p:spPr>
          <a:xfrm>
            <a:off x="10454464" y="4245980"/>
            <a:ext cx="359382" cy="1019503"/>
          </a:xfrm>
          <a:prstGeom prst="roundRect">
            <a:avLst/>
          </a:prstGeom>
          <a:solidFill>
            <a:schemeClr val="tx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95000"/>
                  </a:schemeClr>
                </a:solidFill>
              </a:rPr>
              <a:t>택일</a:t>
            </a:r>
          </a:p>
        </p:txBody>
      </p:sp>
      <p:cxnSp>
        <p:nvCxnSpPr>
          <p:cNvPr id="61" name="직선 연결선 60">
            <a:extLst>
              <a:ext uri="{FF2B5EF4-FFF2-40B4-BE49-F238E27FC236}">
                <a16:creationId xmlns:a16="http://schemas.microsoft.com/office/drawing/2014/main" id="{4C3633CC-1E81-4DBD-8F90-1AFFB0B25AC0}"/>
              </a:ext>
            </a:extLst>
          </p:cNvPr>
          <p:cNvCxnSpPr/>
          <p:nvPr/>
        </p:nvCxnSpPr>
        <p:spPr>
          <a:xfrm>
            <a:off x="2036544" y="5791602"/>
            <a:ext cx="1173602" cy="0"/>
          </a:xfrm>
          <a:prstGeom prst="line">
            <a:avLst/>
          </a:prstGeom>
          <a:ln w="38100">
            <a:solidFill>
              <a:schemeClr val="accent5">
                <a:lumMod val="50000"/>
              </a:schemeClr>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6DBD9D35-FB92-42C8-BF24-FC841292EAF1}"/>
              </a:ext>
            </a:extLst>
          </p:cNvPr>
          <p:cNvSpPr txBox="1"/>
          <p:nvPr/>
        </p:nvSpPr>
        <p:spPr>
          <a:xfrm>
            <a:off x="2078840" y="5841985"/>
            <a:ext cx="1114408" cy="246221"/>
          </a:xfrm>
          <a:prstGeom prst="rect">
            <a:avLst/>
          </a:prstGeom>
          <a:noFill/>
        </p:spPr>
        <p:txBody>
          <a:bodyPr wrap="none" rtlCol="0">
            <a:spAutoFit/>
          </a:bodyPr>
          <a:lstStyle/>
          <a:p>
            <a:r>
              <a:rPr lang="en-US" altLang="ko-KR" sz="1000" dirty="0"/>
              <a:t>(</a:t>
            </a:r>
            <a:r>
              <a:rPr lang="ko-KR" altLang="en-US" sz="1000" dirty="0"/>
              <a:t>보정기간내 가능</a:t>
            </a:r>
            <a:r>
              <a:rPr lang="en-US" altLang="ko-KR" sz="1000" dirty="0"/>
              <a:t>)</a:t>
            </a:r>
            <a:endParaRPr lang="ko-KR" altLang="en-US" sz="1000" dirty="0"/>
          </a:p>
        </p:txBody>
      </p:sp>
      <p:sp>
        <p:nvSpPr>
          <p:cNvPr id="7" name="TextBox 6">
            <a:extLst>
              <a:ext uri="{FF2B5EF4-FFF2-40B4-BE49-F238E27FC236}">
                <a16:creationId xmlns:a16="http://schemas.microsoft.com/office/drawing/2014/main" id="{3416F3C1-D249-43F7-8D7E-368B6979A7AB}"/>
              </a:ext>
            </a:extLst>
          </p:cNvPr>
          <p:cNvSpPr txBox="1"/>
          <p:nvPr/>
        </p:nvSpPr>
        <p:spPr>
          <a:xfrm>
            <a:off x="8859053" y="3917315"/>
            <a:ext cx="601447" cy="307777"/>
          </a:xfrm>
          <a:prstGeom prst="rect">
            <a:avLst/>
          </a:prstGeom>
          <a:noFill/>
        </p:spPr>
        <p:txBody>
          <a:bodyPr wrap="none" rtlCol="0">
            <a:spAutoFit/>
          </a:bodyPr>
          <a:lstStyle/>
          <a:p>
            <a:r>
              <a:rPr lang="en-US" altLang="ko-KR" sz="1400" dirty="0"/>
              <a:t>reset</a:t>
            </a:r>
            <a:endParaRPr lang="ko-KR" altLang="en-US" sz="1400" dirty="0"/>
          </a:p>
        </p:txBody>
      </p:sp>
      <p:cxnSp>
        <p:nvCxnSpPr>
          <p:cNvPr id="11" name="직선 화살표 연결선 10">
            <a:extLst>
              <a:ext uri="{FF2B5EF4-FFF2-40B4-BE49-F238E27FC236}">
                <a16:creationId xmlns:a16="http://schemas.microsoft.com/office/drawing/2014/main" id="{8DE567F1-088C-499C-A1DB-DD3B502D9614}"/>
              </a:ext>
            </a:extLst>
          </p:cNvPr>
          <p:cNvCxnSpPr>
            <a:cxnSpLocks/>
            <a:stCxn id="7" idx="0"/>
          </p:cNvCxnSpPr>
          <p:nvPr/>
        </p:nvCxnSpPr>
        <p:spPr>
          <a:xfrm flipH="1" flipV="1">
            <a:off x="9154847" y="3529225"/>
            <a:ext cx="4930" cy="38809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 name="원형: 비어 있음 13">
            <a:extLst>
              <a:ext uri="{FF2B5EF4-FFF2-40B4-BE49-F238E27FC236}">
                <a16:creationId xmlns:a16="http://schemas.microsoft.com/office/drawing/2014/main" id="{80022739-2BAC-4E27-AB48-197D04D9D11E}"/>
              </a:ext>
            </a:extLst>
          </p:cNvPr>
          <p:cNvSpPr/>
          <p:nvPr/>
        </p:nvSpPr>
        <p:spPr>
          <a:xfrm>
            <a:off x="7228829" y="5567463"/>
            <a:ext cx="471387" cy="471387"/>
          </a:xfrm>
          <a:prstGeom prst="donut">
            <a:avLst>
              <a:gd name="adj" fmla="val 12304"/>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15" name="곱하기 기호 14">
            <a:extLst>
              <a:ext uri="{FF2B5EF4-FFF2-40B4-BE49-F238E27FC236}">
                <a16:creationId xmlns:a16="http://schemas.microsoft.com/office/drawing/2014/main" id="{F925A189-C4BC-422F-B68D-AC2D1B4D5ABD}"/>
              </a:ext>
            </a:extLst>
          </p:cNvPr>
          <p:cNvSpPr/>
          <p:nvPr/>
        </p:nvSpPr>
        <p:spPr>
          <a:xfrm>
            <a:off x="4432635" y="5458735"/>
            <a:ext cx="661830" cy="727192"/>
          </a:xfrm>
          <a:prstGeom prst="mathMultiply">
            <a:avLst>
              <a:gd name="adj1" fmla="val 9466"/>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6" name="곱하기 기호 65">
            <a:extLst>
              <a:ext uri="{FF2B5EF4-FFF2-40B4-BE49-F238E27FC236}">
                <a16:creationId xmlns:a16="http://schemas.microsoft.com/office/drawing/2014/main" id="{AD91B65C-07DC-47C0-85D9-2C68DF420211}"/>
              </a:ext>
            </a:extLst>
          </p:cNvPr>
          <p:cNvSpPr/>
          <p:nvPr/>
        </p:nvSpPr>
        <p:spPr>
          <a:xfrm>
            <a:off x="10980300" y="5458735"/>
            <a:ext cx="661830" cy="727192"/>
          </a:xfrm>
          <a:prstGeom prst="mathMultiply">
            <a:avLst>
              <a:gd name="adj1" fmla="val 9466"/>
            </a:avLst>
          </a:prstGeom>
          <a:solidFill>
            <a:schemeClr val="bg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모서리가 둥근 직사각형 4">
            <a:extLst>
              <a:ext uri="{FF2B5EF4-FFF2-40B4-BE49-F238E27FC236}">
                <a16:creationId xmlns:a16="http://schemas.microsoft.com/office/drawing/2014/main" id="{45472A9A-B0AD-C234-3B81-6DFD163D59FF}"/>
              </a:ext>
            </a:extLst>
          </p:cNvPr>
          <p:cNvSpPr/>
          <p:nvPr/>
        </p:nvSpPr>
        <p:spPr>
          <a:xfrm>
            <a:off x="6156120" y="4975751"/>
            <a:ext cx="898687" cy="1019503"/>
          </a:xfrm>
          <a:prstGeom prst="roundRect">
            <a:avLst/>
          </a:prstGeom>
          <a:solidFill>
            <a:schemeClr val="tx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err="1">
                <a:solidFill>
                  <a:schemeClr val="bg1">
                    <a:lumMod val="95000"/>
                  </a:schemeClr>
                </a:solidFill>
              </a:rPr>
              <a:t>동시진행중</a:t>
            </a:r>
            <a:endParaRPr lang="en-US" altLang="ko-KR" sz="1050" dirty="0">
              <a:solidFill>
                <a:schemeClr val="bg1">
                  <a:lumMod val="95000"/>
                </a:schemeClr>
              </a:solidFill>
            </a:endParaRPr>
          </a:p>
          <a:p>
            <a:pPr algn="ctr"/>
            <a:r>
              <a:rPr lang="ko-KR" altLang="en-US" sz="1050" dirty="0" err="1">
                <a:solidFill>
                  <a:schemeClr val="bg1">
                    <a:lumMod val="95000"/>
                  </a:schemeClr>
                </a:solidFill>
              </a:rPr>
              <a:t>협의제</a:t>
            </a:r>
            <a:r>
              <a:rPr lang="ko-KR" altLang="en-US" sz="1050" dirty="0">
                <a:solidFill>
                  <a:schemeClr val="bg1">
                    <a:lumMod val="95000"/>
                  </a:schemeClr>
                </a:solidFill>
              </a:rPr>
              <a:t> </a:t>
            </a:r>
            <a:endParaRPr lang="en-US" altLang="ko-KR" sz="1050" dirty="0">
              <a:solidFill>
                <a:schemeClr val="bg1">
                  <a:lumMod val="95000"/>
                </a:schemeClr>
              </a:solidFill>
            </a:endParaRPr>
          </a:p>
          <a:p>
            <a:pPr algn="ctr"/>
            <a:r>
              <a:rPr lang="ko-KR" altLang="en-US" sz="1050" dirty="0">
                <a:solidFill>
                  <a:schemeClr val="bg1">
                    <a:lumMod val="95000"/>
                  </a:schemeClr>
                </a:solidFill>
              </a:rPr>
              <a:t>회피방안</a:t>
            </a:r>
          </a:p>
        </p:txBody>
      </p:sp>
    </p:spTree>
    <p:extLst>
      <p:ext uri="{BB962C8B-B14F-4D97-AF65-F5344CB8AC3E}">
        <p14:creationId xmlns:p14="http://schemas.microsoft.com/office/powerpoint/2010/main" val="2613556368"/>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62</a:t>
            </a:r>
            <a:r>
              <a:rPr lang="ko-KR" altLang="en-US" dirty="0"/>
              <a:t>조</a:t>
            </a:r>
            <a:r>
              <a:rPr lang="en-US" altLang="ko-KR" dirty="0"/>
              <a:t>, </a:t>
            </a:r>
            <a:r>
              <a:rPr lang="ko-KR" altLang="en-US" dirty="0"/>
              <a:t>제</a:t>
            </a:r>
            <a:r>
              <a:rPr lang="en-US" altLang="ko-KR" dirty="0"/>
              <a:t>63</a:t>
            </a:r>
            <a:r>
              <a:rPr lang="ko-KR" altLang="en-US" dirty="0"/>
              <a:t>조</a:t>
            </a:r>
          </a:p>
        </p:txBody>
      </p:sp>
      <p:sp>
        <p:nvSpPr>
          <p:cNvPr id="4" name="텍스트 개체 틀 3"/>
          <p:cNvSpPr>
            <a:spLocks noGrp="1"/>
          </p:cNvSpPr>
          <p:nvPr>
            <p:ph type="body" sz="quarter" idx="13"/>
          </p:nvPr>
        </p:nvSpPr>
        <p:spPr/>
        <p:txBody>
          <a:bodyPr/>
          <a:lstStyle/>
          <a:p>
            <a:r>
              <a:rPr lang="ko-KR" altLang="en-US" dirty="0"/>
              <a:t>심판청구와 재심사청구의 </a:t>
            </a:r>
            <a:r>
              <a:rPr lang="en-US" altLang="ko-KR" dirty="0"/>
              <a:t>CASE</a:t>
            </a:r>
            <a:endParaRPr lang="ko-KR" altLang="en-US" dirty="0"/>
          </a:p>
        </p:txBody>
      </p:sp>
      <p:cxnSp>
        <p:nvCxnSpPr>
          <p:cNvPr id="111" name="직선 연결선 110"/>
          <p:cNvCxnSpPr>
            <a:stCxn id="112" idx="2"/>
          </p:cNvCxnSpPr>
          <p:nvPr/>
        </p:nvCxnSpPr>
        <p:spPr>
          <a:xfrm>
            <a:off x="1524036" y="1442134"/>
            <a:ext cx="0" cy="5044391"/>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Rectangle 13"/>
          <p:cNvSpPr>
            <a:spLocks noChangeArrowheads="1"/>
          </p:cNvSpPr>
          <p:nvPr/>
        </p:nvSpPr>
        <p:spPr bwMode="auto">
          <a:xfrm>
            <a:off x="623394" y="1115109"/>
            <a:ext cx="1801284" cy="327025"/>
          </a:xfrm>
          <a:prstGeom prst="rect">
            <a:avLst/>
          </a:prstGeom>
          <a:solidFill>
            <a:schemeClr val="accent1">
              <a:lumMod val="20000"/>
              <a:lumOff val="80000"/>
            </a:schemeClr>
          </a:solidFill>
          <a:ln w="28575" algn="ctr">
            <a:solidFill>
              <a:schemeClr val="bg1">
                <a:lumMod val="50000"/>
              </a:schemeClr>
            </a:solidFill>
            <a:miter lim="800000"/>
            <a:headEnd/>
            <a:tailEnd/>
          </a:ln>
        </p:spPr>
        <p:txBody>
          <a:bodyPr wrap="none" anchor="ctr"/>
          <a:lstStyle/>
          <a:p>
            <a:pPr algn="ctr"/>
            <a:r>
              <a:rPr lang="ko-KR" altLang="en-US" sz="1200" b="0" dirty="0">
                <a:latin typeface="+mj-ea"/>
                <a:ea typeface="+mj-ea"/>
              </a:rPr>
              <a:t>특허출원</a:t>
            </a:r>
          </a:p>
        </p:txBody>
      </p:sp>
      <p:sp>
        <p:nvSpPr>
          <p:cNvPr id="113" name="Rectangle 14"/>
          <p:cNvSpPr>
            <a:spLocks noChangeArrowheads="1"/>
          </p:cNvSpPr>
          <p:nvPr/>
        </p:nvSpPr>
        <p:spPr bwMode="auto">
          <a:xfrm>
            <a:off x="623394" y="1846978"/>
            <a:ext cx="1801284" cy="325438"/>
          </a:xfrm>
          <a:prstGeom prst="rect">
            <a:avLst/>
          </a:prstGeom>
          <a:solidFill>
            <a:schemeClr val="accent1">
              <a:lumMod val="20000"/>
              <a:lumOff val="80000"/>
            </a:schemeClr>
          </a:solidFill>
          <a:ln w="28575" algn="ctr">
            <a:solidFill>
              <a:schemeClr val="bg1">
                <a:lumMod val="50000"/>
              </a:schemeClr>
            </a:solidFill>
            <a:miter lim="800000"/>
            <a:headEnd/>
            <a:tailEnd/>
          </a:ln>
        </p:spPr>
        <p:txBody>
          <a:bodyPr wrap="none" anchor="ctr"/>
          <a:lstStyle/>
          <a:p>
            <a:pPr algn="ctr"/>
            <a:r>
              <a:rPr lang="ko-KR" altLang="en-US" sz="1200" b="0" dirty="0">
                <a:latin typeface="+mj-ea"/>
                <a:ea typeface="+mj-ea"/>
              </a:rPr>
              <a:t>거절결정</a:t>
            </a:r>
          </a:p>
        </p:txBody>
      </p:sp>
      <p:sp>
        <p:nvSpPr>
          <p:cNvPr id="114" name="Rectangle 14"/>
          <p:cNvSpPr>
            <a:spLocks noChangeArrowheads="1"/>
          </p:cNvSpPr>
          <p:nvPr/>
        </p:nvSpPr>
        <p:spPr bwMode="auto">
          <a:xfrm>
            <a:off x="623394" y="3391594"/>
            <a:ext cx="1801284" cy="325438"/>
          </a:xfrm>
          <a:prstGeom prst="rect">
            <a:avLst/>
          </a:prstGeom>
          <a:solidFill>
            <a:schemeClr val="accent4"/>
          </a:solidFill>
          <a:ln w="28575" algn="ctr">
            <a:solidFill>
              <a:schemeClr val="bg1">
                <a:lumMod val="50000"/>
              </a:schemeClr>
            </a:solidFill>
            <a:miter lim="800000"/>
            <a:headEnd/>
            <a:tailEnd/>
          </a:ln>
        </p:spPr>
        <p:txBody>
          <a:bodyPr wrap="none" anchor="ctr"/>
          <a:lstStyle/>
          <a:p>
            <a:pPr algn="ctr"/>
            <a:r>
              <a:rPr lang="ko-KR" altLang="en-US" sz="1200" b="0" dirty="0">
                <a:latin typeface="+mj-ea"/>
                <a:ea typeface="+mj-ea"/>
              </a:rPr>
              <a:t>재심사청구</a:t>
            </a:r>
            <a:r>
              <a:rPr lang="en-US" altLang="ko-KR" sz="1200" b="0" dirty="0">
                <a:latin typeface="+mj-ea"/>
                <a:ea typeface="+mj-ea"/>
              </a:rPr>
              <a:t>(</a:t>
            </a:r>
            <a:r>
              <a:rPr lang="ko-KR" altLang="en-US" sz="1200" b="0" dirty="0">
                <a:latin typeface="+mj-ea"/>
                <a:ea typeface="+mj-ea"/>
              </a:rPr>
              <a:t>보정</a:t>
            </a:r>
            <a:r>
              <a:rPr lang="en-US" altLang="ko-KR" sz="1200" b="0" dirty="0">
                <a:latin typeface="+mj-ea"/>
                <a:ea typeface="+mj-ea"/>
              </a:rPr>
              <a:t>)</a:t>
            </a:r>
            <a:endParaRPr lang="ko-KR" altLang="en-US" sz="1200" b="0" dirty="0">
              <a:latin typeface="+mj-ea"/>
              <a:ea typeface="+mj-ea"/>
            </a:endParaRPr>
          </a:p>
        </p:txBody>
      </p:sp>
      <p:sp>
        <p:nvSpPr>
          <p:cNvPr id="115" name="Rectangle 14"/>
          <p:cNvSpPr>
            <a:spLocks noChangeArrowheads="1"/>
          </p:cNvSpPr>
          <p:nvPr/>
        </p:nvSpPr>
        <p:spPr bwMode="auto">
          <a:xfrm>
            <a:off x="623394" y="2348880"/>
            <a:ext cx="1801284" cy="325438"/>
          </a:xfrm>
          <a:prstGeom prst="rect">
            <a:avLst/>
          </a:prstGeom>
          <a:solidFill>
            <a:schemeClr val="accent1">
              <a:lumMod val="20000"/>
              <a:lumOff val="80000"/>
            </a:schemeClr>
          </a:solidFill>
          <a:ln w="28575" algn="ctr">
            <a:solidFill>
              <a:schemeClr val="bg1">
                <a:lumMod val="50000"/>
              </a:schemeClr>
            </a:solidFill>
            <a:miter lim="800000"/>
            <a:headEnd/>
            <a:tailEnd/>
          </a:ln>
        </p:spPr>
        <p:txBody>
          <a:bodyPr wrap="none" anchor="ctr"/>
          <a:lstStyle/>
          <a:p>
            <a:pPr algn="ctr"/>
            <a:r>
              <a:rPr lang="ko-KR" altLang="en-US" sz="1200" b="0" dirty="0">
                <a:latin typeface="+mj-ea"/>
                <a:ea typeface="+mj-ea"/>
              </a:rPr>
              <a:t>등본송달</a:t>
            </a:r>
          </a:p>
        </p:txBody>
      </p:sp>
      <p:sp>
        <p:nvSpPr>
          <p:cNvPr id="116" name="Rectangle 14"/>
          <p:cNvSpPr>
            <a:spLocks noChangeArrowheads="1"/>
          </p:cNvSpPr>
          <p:nvPr/>
        </p:nvSpPr>
        <p:spPr bwMode="auto">
          <a:xfrm>
            <a:off x="623394" y="4041820"/>
            <a:ext cx="1801284" cy="325438"/>
          </a:xfrm>
          <a:prstGeom prst="rect">
            <a:avLst/>
          </a:prstGeom>
          <a:solidFill>
            <a:schemeClr val="accent1">
              <a:lumMod val="20000"/>
              <a:lumOff val="80000"/>
            </a:schemeClr>
          </a:solidFill>
          <a:ln w="28575" algn="ctr">
            <a:solidFill>
              <a:schemeClr val="bg1">
                <a:lumMod val="50000"/>
              </a:schemeClr>
            </a:solidFill>
            <a:miter lim="800000"/>
            <a:headEnd/>
            <a:tailEnd/>
          </a:ln>
        </p:spPr>
        <p:txBody>
          <a:bodyPr wrap="none" anchor="ctr"/>
          <a:lstStyle/>
          <a:p>
            <a:pPr algn="ctr"/>
            <a:r>
              <a:rPr lang="ko-KR" altLang="en-US" sz="1200" b="0" dirty="0">
                <a:latin typeface="+mj-ea"/>
                <a:ea typeface="+mj-ea"/>
              </a:rPr>
              <a:t>거절결정</a:t>
            </a:r>
          </a:p>
        </p:txBody>
      </p:sp>
      <p:sp>
        <p:nvSpPr>
          <p:cNvPr id="117" name="Rectangle 14"/>
          <p:cNvSpPr>
            <a:spLocks noChangeArrowheads="1"/>
          </p:cNvSpPr>
          <p:nvPr/>
        </p:nvSpPr>
        <p:spPr bwMode="auto">
          <a:xfrm>
            <a:off x="623394" y="4543722"/>
            <a:ext cx="1801284" cy="325438"/>
          </a:xfrm>
          <a:prstGeom prst="rect">
            <a:avLst/>
          </a:prstGeom>
          <a:solidFill>
            <a:schemeClr val="accent1">
              <a:lumMod val="20000"/>
              <a:lumOff val="80000"/>
            </a:schemeClr>
          </a:solidFill>
          <a:ln w="28575" algn="ctr">
            <a:solidFill>
              <a:schemeClr val="bg1">
                <a:lumMod val="50000"/>
              </a:schemeClr>
            </a:solidFill>
            <a:miter lim="800000"/>
            <a:headEnd/>
            <a:tailEnd/>
          </a:ln>
        </p:spPr>
        <p:txBody>
          <a:bodyPr wrap="none" anchor="ctr"/>
          <a:lstStyle/>
          <a:p>
            <a:pPr algn="ctr"/>
            <a:r>
              <a:rPr lang="ko-KR" altLang="en-US" sz="1200" b="0" dirty="0">
                <a:latin typeface="+mj-ea"/>
                <a:ea typeface="+mj-ea"/>
              </a:rPr>
              <a:t>등본송달</a:t>
            </a:r>
          </a:p>
        </p:txBody>
      </p:sp>
      <p:cxnSp>
        <p:nvCxnSpPr>
          <p:cNvPr id="118" name="꺾인 연결선 117"/>
          <p:cNvCxnSpPr>
            <a:stCxn id="115" idx="1"/>
          </p:cNvCxnSpPr>
          <p:nvPr/>
        </p:nvCxnSpPr>
        <p:spPr>
          <a:xfrm rot="10800000" flipH="1" flipV="1">
            <a:off x="623393" y="2511599"/>
            <a:ext cx="852636" cy="1313444"/>
          </a:xfrm>
          <a:prstGeom prst="bentConnector3">
            <a:avLst>
              <a:gd name="adj1" fmla="val -35748"/>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9" name="TextBox 118"/>
          <p:cNvSpPr txBox="1"/>
          <p:nvPr/>
        </p:nvSpPr>
        <p:spPr>
          <a:xfrm>
            <a:off x="3215680" y="2262064"/>
            <a:ext cx="2208245" cy="374848"/>
          </a:xfrm>
          <a:prstGeom prst="roundRect">
            <a:avLst>
              <a:gd name="adj" fmla="val 33303"/>
            </a:avLst>
          </a:prstGeom>
          <a:solidFill>
            <a:schemeClr val="accent4"/>
          </a:solidFill>
          <a:ln w="28575">
            <a:solidFill>
              <a:schemeClr val="bg1">
                <a:lumMod val="50000"/>
              </a:schemeClr>
            </a:solidFill>
          </a:ln>
        </p:spPr>
        <p:txBody>
          <a:bodyPr wrap="square" rtlCol="0" anchor="ctr">
            <a:noAutofit/>
          </a:bodyPr>
          <a:lstStyle/>
          <a:p>
            <a:pPr algn="ctr"/>
            <a:r>
              <a:rPr lang="ko-KR" altLang="en-US" sz="1200" dirty="0">
                <a:solidFill>
                  <a:schemeClr val="tx2">
                    <a:lumMod val="50000"/>
                  </a:schemeClr>
                </a:solidFill>
              </a:rPr>
              <a:t>거절결정불복심판청구</a:t>
            </a:r>
          </a:p>
        </p:txBody>
      </p:sp>
      <p:cxnSp>
        <p:nvCxnSpPr>
          <p:cNvPr id="120" name="꺾인 연결선 119"/>
          <p:cNvCxnSpPr>
            <a:stCxn id="117" idx="1"/>
          </p:cNvCxnSpPr>
          <p:nvPr/>
        </p:nvCxnSpPr>
        <p:spPr>
          <a:xfrm rot="10800000" flipH="1" flipV="1">
            <a:off x="623393" y="4706441"/>
            <a:ext cx="852636" cy="1313444"/>
          </a:xfrm>
          <a:prstGeom prst="bentConnector3">
            <a:avLst>
              <a:gd name="adj1" fmla="val -35748"/>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1" name="TextBox 120"/>
          <p:cNvSpPr txBox="1"/>
          <p:nvPr/>
        </p:nvSpPr>
        <p:spPr>
          <a:xfrm>
            <a:off x="3215680" y="2720430"/>
            <a:ext cx="2208245" cy="374848"/>
          </a:xfrm>
          <a:prstGeom prst="roundRect">
            <a:avLst>
              <a:gd name="adj" fmla="val 33303"/>
            </a:avLst>
          </a:prstGeom>
          <a:solidFill>
            <a:schemeClr val="accent4"/>
          </a:solidFill>
          <a:ln w="28575">
            <a:solidFill>
              <a:schemeClr val="bg1">
                <a:lumMod val="50000"/>
              </a:schemeClr>
            </a:solidFill>
          </a:ln>
        </p:spPr>
        <p:txBody>
          <a:bodyPr wrap="square" rtlCol="0" anchor="ctr">
            <a:noAutofit/>
          </a:bodyPr>
          <a:lstStyle/>
          <a:p>
            <a:pPr algn="ctr"/>
            <a:r>
              <a:rPr lang="ko-KR" altLang="en-US" sz="1200" dirty="0">
                <a:solidFill>
                  <a:schemeClr val="tx2">
                    <a:lumMod val="50000"/>
                  </a:schemeClr>
                </a:solidFill>
              </a:rPr>
              <a:t>재심사청구</a:t>
            </a:r>
            <a:r>
              <a:rPr lang="en-US" altLang="ko-KR" sz="1200" dirty="0">
                <a:solidFill>
                  <a:schemeClr val="tx2">
                    <a:lumMod val="50000"/>
                  </a:schemeClr>
                </a:solidFill>
              </a:rPr>
              <a:t>(</a:t>
            </a:r>
            <a:r>
              <a:rPr lang="ko-KR" altLang="en-US" sz="1200" dirty="0">
                <a:solidFill>
                  <a:schemeClr val="tx2">
                    <a:lumMod val="50000"/>
                  </a:schemeClr>
                </a:solidFill>
              </a:rPr>
              <a:t>보정</a:t>
            </a:r>
            <a:r>
              <a:rPr lang="en-US" altLang="ko-KR" sz="1200" dirty="0">
                <a:solidFill>
                  <a:schemeClr val="tx2">
                    <a:lumMod val="50000"/>
                  </a:schemeClr>
                </a:solidFill>
              </a:rPr>
              <a:t>)</a:t>
            </a:r>
            <a:endParaRPr lang="ko-KR" altLang="en-US" sz="1200" dirty="0">
              <a:solidFill>
                <a:schemeClr val="tx2">
                  <a:lumMod val="50000"/>
                </a:schemeClr>
              </a:solidFill>
            </a:endParaRPr>
          </a:p>
        </p:txBody>
      </p:sp>
      <p:sp>
        <p:nvSpPr>
          <p:cNvPr id="122" name="TextBox 121"/>
          <p:cNvSpPr txBox="1"/>
          <p:nvPr/>
        </p:nvSpPr>
        <p:spPr>
          <a:xfrm>
            <a:off x="3215680" y="3179253"/>
            <a:ext cx="2208245" cy="374848"/>
          </a:xfrm>
          <a:prstGeom prst="roundRect">
            <a:avLst>
              <a:gd name="adj" fmla="val 33303"/>
            </a:avLst>
          </a:prstGeom>
          <a:solidFill>
            <a:schemeClr val="accent4"/>
          </a:solidFill>
          <a:ln w="28575">
            <a:solidFill>
              <a:schemeClr val="bg1">
                <a:lumMod val="50000"/>
              </a:schemeClr>
            </a:solidFill>
          </a:ln>
        </p:spPr>
        <p:txBody>
          <a:bodyPr wrap="square" rtlCol="0" anchor="ctr">
            <a:noAutofit/>
          </a:bodyPr>
          <a:lstStyle/>
          <a:p>
            <a:pPr algn="ctr"/>
            <a:r>
              <a:rPr lang="ko-KR" altLang="en-US" sz="1200" dirty="0">
                <a:solidFill>
                  <a:schemeClr val="tx2">
                    <a:lumMod val="50000"/>
                  </a:schemeClr>
                </a:solidFill>
              </a:rPr>
              <a:t>분할출원</a:t>
            </a:r>
          </a:p>
        </p:txBody>
      </p:sp>
      <p:sp>
        <p:nvSpPr>
          <p:cNvPr id="123" name="TextBox 122"/>
          <p:cNvSpPr txBox="1"/>
          <p:nvPr/>
        </p:nvSpPr>
        <p:spPr>
          <a:xfrm>
            <a:off x="3215680" y="3637619"/>
            <a:ext cx="2208245" cy="374848"/>
          </a:xfrm>
          <a:prstGeom prst="roundRect">
            <a:avLst>
              <a:gd name="adj" fmla="val 33303"/>
            </a:avLst>
          </a:prstGeom>
          <a:solidFill>
            <a:schemeClr val="accent4"/>
          </a:solidFill>
          <a:ln w="28575">
            <a:solidFill>
              <a:schemeClr val="bg1">
                <a:lumMod val="50000"/>
              </a:schemeClr>
            </a:solidFill>
          </a:ln>
        </p:spPr>
        <p:txBody>
          <a:bodyPr wrap="square" rtlCol="0" anchor="ctr">
            <a:noAutofit/>
          </a:bodyPr>
          <a:lstStyle/>
          <a:p>
            <a:pPr algn="ctr"/>
            <a:r>
              <a:rPr lang="ko-KR" altLang="en-US" sz="1200" dirty="0">
                <a:solidFill>
                  <a:schemeClr val="tx2">
                    <a:lumMod val="50000"/>
                  </a:schemeClr>
                </a:solidFill>
              </a:rPr>
              <a:t>변경출원</a:t>
            </a:r>
          </a:p>
        </p:txBody>
      </p:sp>
      <p:cxnSp>
        <p:nvCxnSpPr>
          <p:cNvPr id="124" name="꺾인 연결선 123"/>
          <p:cNvCxnSpPr>
            <a:stCxn id="119" idx="1"/>
          </p:cNvCxnSpPr>
          <p:nvPr/>
        </p:nvCxnSpPr>
        <p:spPr>
          <a:xfrm rot="10800000" flipV="1">
            <a:off x="1656592" y="2449488"/>
            <a:ext cx="1559088" cy="818195"/>
          </a:xfrm>
          <a:prstGeom prst="bentConnector3">
            <a:avLst>
              <a:gd name="adj1" fmla="val 34758"/>
            </a:avLst>
          </a:prstGeom>
          <a:ln w="3175">
            <a:solidFill>
              <a:schemeClr val="bg1">
                <a:lumMod val="50000"/>
              </a:schemeClr>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25" name="꺾인 연결선 124"/>
          <p:cNvCxnSpPr>
            <a:stCxn id="123" idx="1"/>
          </p:cNvCxnSpPr>
          <p:nvPr/>
        </p:nvCxnSpPr>
        <p:spPr>
          <a:xfrm rot="10800000">
            <a:off x="1656592" y="3267683"/>
            <a:ext cx="1559088" cy="557360"/>
          </a:xfrm>
          <a:prstGeom prst="bentConnector3">
            <a:avLst>
              <a:gd name="adj1" fmla="val 34758"/>
            </a:avLst>
          </a:prstGeom>
          <a:ln w="3175">
            <a:solidFill>
              <a:schemeClr val="bg1">
                <a:lumMod val="50000"/>
              </a:schemeClr>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26" name="꺾인 연결선 125"/>
          <p:cNvCxnSpPr>
            <a:stCxn id="121" idx="1"/>
          </p:cNvCxnSpPr>
          <p:nvPr/>
        </p:nvCxnSpPr>
        <p:spPr>
          <a:xfrm rot="10800000" flipV="1">
            <a:off x="1656592" y="2907854"/>
            <a:ext cx="1559088" cy="359829"/>
          </a:xfrm>
          <a:prstGeom prst="bentConnector3">
            <a:avLst>
              <a:gd name="adj1" fmla="val 34758"/>
            </a:avLst>
          </a:prstGeom>
          <a:ln w="3175">
            <a:solidFill>
              <a:schemeClr val="bg1">
                <a:lumMod val="50000"/>
              </a:schemeClr>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27" name="꺾인 연결선 126"/>
          <p:cNvCxnSpPr>
            <a:stCxn id="122" idx="1"/>
          </p:cNvCxnSpPr>
          <p:nvPr/>
        </p:nvCxnSpPr>
        <p:spPr>
          <a:xfrm rot="10800000">
            <a:off x="1656592" y="3267683"/>
            <a:ext cx="1559088" cy="98994"/>
          </a:xfrm>
          <a:prstGeom prst="bentConnector3">
            <a:avLst>
              <a:gd name="adj1" fmla="val 34758"/>
            </a:avLst>
          </a:prstGeom>
          <a:ln w="3175">
            <a:solidFill>
              <a:schemeClr val="bg1">
                <a:lumMod val="50000"/>
              </a:schemeClr>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28" name="꺾인 연결선 127"/>
          <p:cNvCxnSpPr>
            <a:stCxn id="119" idx="3"/>
          </p:cNvCxnSpPr>
          <p:nvPr/>
        </p:nvCxnSpPr>
        <p:spPr>
          <a:xfrm flipH="1">
            <a:off x="1656592" y="2449489"/>
            <a:ext cx="3767333" cy="3013037"/>
          </a:xfrm>
          <a:prstGeom prst="bentConnector3">
            <a:avLst>
              <a:gd name="adj1" fmla="val -8091"/>
            </a:avLst>
          </a:prstGeom>
          <a:ln w="3175">
            <a:solidFill>
              <a:schemeClr val="bg1">
                <a:lumMod val="50000"/>
              </a:schemeClr>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29" name="꺾인 연결선 128"/>
          <p:cNvCxnSpPr>
            <a:stCxn id="122" idx="3"/>
          </p:cNvCxnSpPr>
          <p:nvPr/>
        </p:nvCxnSpPr>
        <p:spPr>
          <a:xfrm flipH="1">
            <a:off x="1656592" y="3366677"/>
            <a:ext cx="3767333" cy="2095848"/>
          </a:xfrm>
          <a:prstGeom prst="bentConnector3">
            <a:avLst>
              <a:gd name="adj1" fmla="val -8091"/>
            </a:avLst>
          </a:prstGeom>
          <a:ln w="3175">
            <a:solidFill>
              <a:schemeClr val="bg1">
                <a:lumMod val="50000"/>
              </a:schemeClr>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30" name="타원 129"/>
          <p:cNvSpPr/>
          <p:nvPr/>
        </p:nvSpPr>
        <p:spPr>
          <a:xfrm>
            <a:off x="2597987" y="283815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31" name="TextBox 130"/>
          <p:cNvSpPr txBox="1"/>
          <p:nvPr/>
        </p:nvSpPr>
        <p:spPr>
          <a:xfrm>
            <a:off x="2196040" y="2803407"/>
            <a:ext cx="460382" cy="276999"/>
          </a:xfrm>
          <a:prstGeom prst="rect">
            <a:avLst/>
          </a:prstGeom>
          <a:noFill/>
        </p:spPr>
        <p:txBody>
          <a:bodyPr wrap="none" rtlCol="0">
            <a:spAutoFit/>
          </a:bodyPr>
          <a:lstStyle/>
          <a:p>
            <a:r>
              <a:rPr lang="ko-KR" altLang="en-US" sz="1200" dirty="0"/>
              <a:t>택일</a:t>
            </a:r>
          </a:p>
        </p:txBody>
      </p:sp>
      <p:sp>
        <p:nvSpPr>
          <p:cNvPr id="132" name="TextBox 131"/>
          <p:cNvSpPr txBox="1"/>
          <p:nvPr/>
        </p:nvSpPr>
        <p:spPr>
          <a:xfrm>
            <a:off x="354944" y="2907853"/>
            <a:ext cx="545342" cy="276999"/>
          </a:xfrm>
          <a:prstGeom prst="rect">
            <a:avLst/>
          </a:prstGeom>
          <a:noFill/>
        </p:spPr>
        <p:txBody>
          <a:bodyPr wrap="none" rtlCol="0">
            <a:spAutoFit/>
          </a:bodyPr>
          <a:lstStyle/>
          <a:p>
            <a:r>
              <a:rPr lang="en-US" altLang="ko-KR" sz="1200" dirty="0"/>
              <a:t>3</a:t>
            </a:r>
            <a:r>
              <a:rPr lang="ko-KR" altLang="en-US" sz="1200" dirty="0"/>
              <a:t>개월</a:t>
            </a:r>
          </a:p>
        </p:txBody>
      </p:sp>
      <p:sp>
        <p:nvSpPr>
          <p:cNvPr id="133" name="TextBox 132"/>
          <p:cNvSpPr txBox="1"/>
          <p:nvPr/>
        </p:nvSpPr>
        <p:spPr>
          <a:xfrm>
            <a:off x="354944" y="5231693"/>
            <a:ext cx="545342" cy="276999"/>
          </a:xfrm>
          <a:prstGeom prst="rect">
            <a:avLst/>
          </a:prstGeom>
          <a:noFill/>
        </p:spPr>
        <p:txBody>
          <a:bodyPr wrap="none" rtlCol="0">
            <a:spAutoFit/>
          </a:bodyPr>
          <a:lstStyle/>
          <a:p>
            <a:r>
              <a:rPr lang="en-US" altLang="ko-KR" sz="1200" dirty="0"/>
              <a:t>3</a:t>
            </a:r>
            <a:r>
              <a:rPr lang="ko-KR" altLang="en-US" sz="1200" dirty="0"/>
              <a:t>개월</a:t>
            </a:r>
          </a:p>
        </p:txBody>
      </p:sp>
      <p:graphicFrame>
        <p:nvGraphicFramePr>
          <p:cNvPr id="134" name="표 133"/>
          <p:cNvGraphicFramePr>
            <a:graphicFrameLocks noGrp="1"/>
          </p:cNvGraphicFramePr>
          <p:nvPr/>
        </p:nvGraphicFramePr>
        <p:xfrm>
          <a:off x="5999989" y="1052737"/>
          <a:ext cx="5856651" cy="5112567"/>
        </p:xfrm>
        <a:graphic>
          <a:graphicData uri="http://schemas.openxmlformats.org/drawingml/2006/table">
            <a:tbl>
              <a:tblPr>
                <a:tableStyleId>{8799B23B-EC83-4686-B30A-512413B5E67A}</a:tableStyleId>
              </a:tblPr>
              <a:tblGrid>
                <a:gridCol w="1746720">
                  <a:extLst>
                    <a:ext uri="{9D8B030D-6E8A-4147-A177-3AD203B41FA5}">
                      <a16:colId xmlns:a16="http://schemas.microsoft.com/office/drawing/2014/main" val="20000"/>
                    </a:ext>
                  </a:extLst>
                </a:gridCol>
                <a:gridCol w="4109931">
                  <a:extLst>
                    <a:ext uri="{9D8B030D-6E8A-4147-A177-3AD203B41FA5}">
                      <a16:colId xmlns:a16="http://schemas.microsoft.com/office/drawing/2014/main" val="20001"/>
                    </a:ext>
                  </a:extLst>
                </a:gridCol>
              </a:tblGrid>
              <a:tr h="225503">
                <a:tc>
                  <a:txBody>
                    <a:bodyPr/>
                    <a:lstStyle/>
                    <a:p>
                      <a:pPr marL="0" marR="0" algn="ctr">
                        <a:lnSpc>
                          <a:spcPct val="100000"/>
                        </a:lnSpc>
                        <a:spcBef>
                          <a:spcPts val="0"/>
                        </a:spcBef>
                        <a:spcAft>
                          <a:spcPts val="0"/>
                        </a:spcAft>
                      </a:pPr>
                      <a:r>
                        <a:rPr lang="ko-KR" altLang="en-US" sz="1100" dirty="0">
                          <a:effectLst/>
                        </a:rPr>
                        <a:t>구 분</a:t>
                      </a:r>
                      <a:endParaRPr lang="ko-KR" altLang="en-US" sz="1100" dirty="0">
                        <a:solidFill>
                          <a:schemeClr val="bg1">
                            <a:lumMod val="95000"/>
                          </a:schemeClr>
                        </a:solidFill>
                        <a:effectLst/>
                        <a:latin typeface="Rix모던고딕 L" panose="02020603020101020101" pitchFamily="18" charset="-127"/>
                      </a:endParaRPr>
                    </a:p>
                  </a:txBody>
                  <a:tcPr marL="86360" marR="86360" marT="17907" marB="17907" anchor="ctr">
                    <a:solidFill>
                      <a:schemeClr val="accent1">
                        <a:lumMod val="20000"/>
                        <a:lumOff val="80000"/>
                      </a:schemeClr>
                    </a:solidFill>
                  </a:tcPr>
                </a:tc>
                <a:tc>
                  <a:txBody>
                    <a:bodyPr/>
                    <a:lstStyle/>
                    <a:p>
                      <a:pPr marL="0" marR="0" algn="ctr">
                        <a:lnSpc>
                          <a:spcPct val="100000"/>
                        </a:lnSpc>
                        <a:spcBef>
                          <a:spcPts val="0"/>
                        </a:spcBef>
                        <a:spcAft>
                          <a:spcPts val="0"/>
                        </a:spcAft>
                      </a:pPr>
                      <a:r>
                        <a:rPr lang="ko-KR" altLang="en-US" sz="1100" dirty="0" err="1">
                          <a:effectLst/>
                        </a:rPr>
                        <a:t>취</a:t>
                      </a:r>
                      <a:r>
                        <a:rPr lang="ko-KR" altLang="en-US" sz="1100" dirty="0">
                          <a:effectLst/>
                        </a:rPr>
                        <a:t> 급</a:t>
                      </a:r>
                      <a:endParaRPr lang="ko-KR" altLang="en-US" sz="1100" dirty="0">
                        <a:solidFill>
                          <a:schemeClr val="bg1">
                            <a:lumMod val="95000"/>
                          </a:schemeClr>
                        </a:solidFill>
                        <a:effectLst/>
                        <a:latin typeface="Rix모던고딕 L" panose="02020603020101020101" pitchFamily="18" charset="-127"/>
                      </a:endParaRPr>
                    </a:p>
                  </a:txBody>
                  <a:tcPr marL="86360" marR="86360" marT="17907" marB="17907" anchor="ctr">
                    <a:solidFill>
                      <a:schemeClr val="accent1">
                        <a:lumMod val="20000"/>
                        <a:lumOff val="80000"/>
                      </a:schemeClr>
                    </a:solidFill>
                  </a:tcPr>
                </a:tc>
                <a:extLst>
                  <a:ext uri="{0D108BD9-81ED-4DB2-BD59-A6C34878D82A}">
                    <a16:rowId xmlns:a16="http://schemas.microsoft.com/office/drawing/2014/main" val="10000"/>
                  </a:ext>
                </a:extLst>
              </a:tr>
              <a:tr h="1540003">
                <a:tc>
                  <a:txBody>
                    <a:bodyPr/>
                    <a:lstStyle/>
                    <a:p>
                      <a:pPr marL="35560" marR="35560" algn="ctr">
                        <a:lnSpc>
                          <a:spcPct val="100000"/>
                        </a:lnSpc>
                        <a:spcBef>
                          <a:spcPts val="0"/>
                        </a:spcBef>
                        <a:spcAft>
                          <a:spcPts val="0"/>
                        </a:spcAft>
                      </a:pPr>
                      <a:r>
                        <a:rPr lang="ko-KR" altLang="en-US" sz="1100" dirty="0">
                          <a:effectLst/>
                        </a:rPr>
                        <a:t>심판청구서를 제출한 후 재심사청구 취지를 기재한 </a:t>
                      </a:r>
                      <a:endParaRPr lang="en-US" altLang="ko-KR" sz="1100" dirty="0">
                        <a:effectLst/>
                      </a:endParaRPr>
                    </a:p>
                    <a:p>
                      <a:pPr marL="35560" marR="35560" algn="ctr">
                        <a:lnSpc>
                          <a:spcPct val="100000"/>
                        </a:lnSpc>
                        <a:spcBef>
                          <a:spcPts val="0"/>
                        </a:spcBef>
                        <a:spcAft>
                          <a:spcPts val="0"/>
                        </a:spcAft>
                      </a:pPr>
                      <a:r>
                        <a:rPr lang="ko-KR" altLang="en-US" sz="1100" dirty="0" err="1">
                          <a:effectLst/>
                        </a:rPr>
                        <a:t>보정서를</a:t>
                      </a:r>
                      <a:r>
                        <a:rPr lang="ko-KR" altLang="en-US" sz="1100" dirty="0">
                          <a:effectLst/>
                        </a:rPr>
                        <a:t> 제출한 경우</a:t>
                      </a:r>
                      <a:endParaRPr lang="ko-KR" altLang="en-US" sz="1100" dirty="0">
                        <a:solidFill>
                          <a:srgbClr val="000000"/>
                        </a:solidFill>
                        <a:effectLst/>
                        <a:latin typeface="Rix모던고딕 L" panose="02020603020101020101" pitchFamily="18" charset="-127"/>
                      </a:endParaRPr>
                    </a:p>
                  </a:txBody>
                  <a:tcPr marL="86360" marR="86360" marT="17907" marB="17907" anchor="ctr"/>
                </a:tc>
                <a:tc>
                  <a:txBody>
                    <a:bodyPr/>
                    <a:lstStyle/>
                    <a:p>
                      <a:pPr marL="35560" marR="35560" algn="just">
                        <a:lnSpc>
                          <a:spcPct val="100000"/>
                        </a:lnSpc>
                        <a:spcBef>
                          <a:spcPts val="0"/>
                        </a:spcBef>
                        <a:spcAft>
                          <a:spcPts val="0"/>
                        </a:spcAft>
                      </a:pPr>
                      <a:r>
                        <a:rPr lang="ko-KR" altLang="en-US" sz="1100" dirty="0">
                          <a:effectLst/>
                        </a:rPr>
                        <a:t>제</a:t>
                      </a:r>
                      <a:r>
                        <a:rPr lang="en-US" altLang="ko-KR" sz="1100" dirty="0">
                          <a:effectLst/>
                        </a:rPr>
                        <a:t>67</a:t>
                      </a:r>
                      <a:r>
                        <a:rPr lang="ko-KR" altLang="en-US" sz="1100" dirty="0">
                          <a:effectLst/>
                        </a:rPr>
                        <a:t>조의</a:t>
                      </a:r>
                      <a:r>
                        <a:rPr lang="en-US" altLang="ko-KR" sz="1100" dirty="0">
                          <a:effectLst/>
                        </a:rPr>
                        <a:t>2</a:t>
                      </a:r>
                      <a:r>
                        <a:rPr lang="ko-KR" altLang="en-US" sz="1100" dirty="0">
                          <a:effectLst/>
                        </a:rPr>
                        <a:t>제</a:t>
                      </a:r>
                      <a:r>
                        <a:rPr lang="en-US" altLang="ko-KR" sz="1100" dirty="0">
                          <a:effectLst/>
                        </a:rPr>
                        <a:t>1</a:t>
                      </a:r>
                      <a:r>
                        <a:rPr lang="ko-KR" altLang="en-US" sz="1100" dirty="0" err="1">
                          <a:effectLst/>
                        </a:rPr>
                        <a:t>항제</a:t>
                      </a:r>
                      <a:r>
                        <a:rPr lang="en-US" altLang="ko-KR" sz="1100" dirty="0">
                          <a:effectLst/>
                        </a:rPr>
                        <a:t>2</a:t>
                      </a:r>
                      <a:r>
                        <a:rPr lang="ko-KR" altLang="en-US" sz="1100" dirty="0">
                          <a:effectLst/>
                        </a:rPr>
                        <a:t>호에서 재심사를 청구할 때에 이미 거절결정불복심판이 청구된 경우에는 재심사를 청구할 수 없다고 규정하고 있는바</a:t>
                      </a:r>
                      <a:r>
                        <a:rPr lang="en-US" altLang="ko-KR" sz="1100" dirty="0">
                          <a:effectLst/>
                        </a:rPr>
                        <a:t>, </a:t>
                      </a:r>
                      <a:r>
                        <a:rPr lang="ko-KR" altLang="en-US" sz="1100" dirty="0" err="1">
                          <a:effectLst/>
                        </a:rPr>
                        <a:t>보정서</a:t>
                      </a:r>
                      <a:r>
                        <a:rPr lang="ko-KR" altLang="en-US" sz="1100" dirty="0">
                          <a:effectLst/>
                        </a:rPr>
                        <a:t> 제출 시점을 기준으로 심판청구가 계속 중인 경우에는 특허법시행규칙 제</a:t>
                      </a:r>
                      <a:r>
                        <a:rPr lang="en-US" altLang="ko-KR" sz="1100" dirty="0">
                          <a:effectLst/>
                        </a:rPr>
                        <a:t>11</a:t>
                      </a:r>
                      <a:r>
                        <a:rPr lang="ko-KR" altLang="en-US" sz="1100" dirty="0">
                          <a:effectLst/>
                        </a:rPr>
                        <a:t>조제</a:t>
                      </a:r>
                      <a:r>
                        <a:rPr lang="en-US" altLang="ko-KR" sz="1100" dirty="0">
                          <a:effectLst/>
                        </a:rPr>
                        <a:t>1</a:t>
                      </a:r>
                      <a:r>
                        <a:rPr lang="ko-KR" altLang="en-US" sz="1100" dirty="0" err="1">
                          <a:effectLst/>
                        </a:rPr>
                        <a:t>항제</a:t>
                      </a:r>
                      <a:r>
                        <a:rPr lang="en-US" altLang="ko-KR" sz="1100" dirty="0">
                          <a:effectLst/>
                        </a:rPr>
                        <a:t>19</a:t>
                      </a:r>
                      <a:r>
                        <a:rPr lang="ko-KR" altLang="en-US" sz="1100" dirty="0">
                          <a:effectLst/>
                        </a:rPr>
                        <a:t>호를 이유로 소명 기회를 부여하고 </a:t>
                      </a:r>
                      <a:r>
                        <a:rPr lang="ko-KR" altLang="en-US" sz="1100" dirty="0" err="1">
                          <a:effectLst/>
                          <a:highlight>
                            <a:srgbClr val="FFFF00"/>
                          </a:highlight>
                        </a:rPr>
                        <a:t>보정서를</a:t>
                      </a:r>
                      <a:r>
                        <a:rPr lang="ko-KR" altLang="en-US" sz="1100" dirty="0">
                          <a:effectLst/>
                          <a:highlight>
                            <a:srgbClr val="FFFF00"/>
                          </a:highlight>
                        </a:rPr>
                        <a:t> 반려</a:t>
                      </a:r>
                      <a:r>
                        <a:rPr lang="ko-KR" altLang="en-US" sz="1100" dirty="0">
                          <a:effectLst/>
                        </a:rPr>
                        <a:t>한다</a:t>
                      </a:r>
                      <a:r>
                        <a:rPr lang="en-US" altLang="ko-KR" sz="1100" dirty="0">
                          <a:effectLst/>
                        </a:rPr>
                        <a:t>. </a:t>
                      </a:r>
                      <a:r>
                        <a:rPr lang="ko-KR" altLang="en-US" sz="1100" dirty="0">
                          <a:effectLst/>
                        </a:rPr>
                        <a:t>이때 보정서를 반려 받은 출원인은 제</a:t>
                      </a:r>
                      <a:r>
                        <a:rPr lang="en-US" altLang="ko-KR" sz="1100" dirty="0">
                          <a:effectLst/>
                        </a:rPr>
                        <a:t>67</a:t>
                      </a:r>
                      <a:r>
                        <a:rPr lang="ko-KR" altLang="en-US" sz="1100" dirty="0">
                          <a:effectLst/>
                        </a:rPr>
                        <a:t>조의</a:t>
                      </a:r>
                      <a:r>
                        <a:rPr lang="en-US" altLang="ko-KR" sz="1100" dirty="0">
                          <a:effectLst/>
                        </a:rPr>
                        <a:t>2 </a:t>
                      </a:r>
                      <a:r>
                        <a:rPr lang="ko-KR" altLang="en-US" sz="1100" dirty="0">
                          <a:effectLst/>
                        </a:rPr>
                        <a:t>제</a:t>
                      </a:r>
                      <a:r>
                        <a:rPr lang="en-US" altLang="ko-KR" sz="1100" dirty="0">
                          <a:effectLst/>
                        </a:rPr>
                        <a:t>1</a:t>
                      </a:r>
                      <a:r>
                        <a:rPr lang="ko-KR" altLang="en-US" sz="1100" dirty="0">
                          <a:effectLst/>
                        </a:rPr>
                        <a:t>항의 기간이 지나지 않았다면 심판청구를 취하하고 보정하면서 재심사를 다시 청구할 수 있다</a:t>
                      </a:r>
                      <a:r>
                        <a:rPr lang="en-US" altLang="ko-KR" sz="1100" dirty="0">
                          <a:effectLst/>
                        </a:rPr>
                        <a:t>.</a:t>
                      </a:r>
                      <a:endParaRPr lang="ko-KR" altLang="en-US" sz="1100" dirty="0">
                        <a:solidFill>
                          <a:srgbClr val="000000"/>
                        </a:solidFill>
                        <a:effectLst/>
                        <a:latin typeface="Rix모던고딕 L" panose="02020603020101020101" pitchFamily="18" charset="-127"/>
                      </a:endParaRPr>
                    </a:p>
                  </a:txBody>
                  <a:tcPr marL="86360" marR="86360" marT="17907" marB="17907" anchor="ctr"/>
                </a:tc>
                <a:extLst>
                  <a:ext uri="{0D108BD9-81ED-4DB2-BD59-A6C34878D82A}">
                    <a16:rowId xmlns:a16="http://schemas.microsoft.com/office/drawing/2014/main" val="10001"/>
                  </a:ext>
                </a:extLst>
              </a:tr>
              <a:tr h="903529">
                <a:tc>
                  <a:txBody>
                    <a:bodyPr/>
                    <a:lstStyle/>
                    <a:p>
                      <a:pPr marL="35560" marR="35560" algn="ctr">
                        <a:lnSpc>
                          <a:spcPct val="100000"/>
                        </a:lnSpc>
                        <a:spcBef>
                          <a:spcPts val="0"/>
                        </a:spcBef>
                        <a:spcAft>
                          <a:spcPts val="0"/>
                        </a:spcAft>
                      </a:pPr>
                      <a:r>
                        <a:rPr lang="ko-KR" altLang="en-US" sz="1100" dirty="0">
                          <a:effectLst/>
                        </a:rPr>
                        <a:t>재심사청구 취지를 기재한 </a:t>
                      </a:r>
                      <a:r>
                        <a:rPr lang="ko-KR" altLang="en-US" sz="1100" dirty="0" err="1">
                          <a:effectLst/>
                        </a:rPr>
                        <a:t>보정서를</a:t>
                      </a:r>
                      <a:r>
                        <a:rPr lang="ko-KR" altLang="en-US" sz="1100" dirty="0">
                          <a:effectLst/>
                        </a:rPr>
                        <a:t> 제출한 후 </a:t>
                      </a:r>
                      <a:endParaRPr lang="en-US" altLang="ko-KR" sz="1100" dirty="0">
                        <a:effectLst/>
                      </a:endParaRPr>
                    </a:p>
                    <a:p>
                      <a:pPr marL="35560" marR="35560" algn="ctr">
                        <a:lnSpc>
                          <a:spcPct val="100000"/>
                        </a:lnSpc>
                        <a:spcBef>
                          <a:spcPts val="0"/>
                        </a:spcBef>
                        <a:spcAft>
                          <a:spcPts val="0"/>
                        </a:spcAft>
                      </a:pPr>
                      <a:r>
                        <a:rPr lang="ko-KR" altLang="en-US" sz="1100" dirty="0">
                          <a:effectLst/>
                        </a:rPr>
                        <a:t>심판청구서를 제출한 경우</a:t>
                      </a:r>
                      <a:endParaRPr lang="ko-KR" altLang="en-US" sz="1100" dirty="0">
                        <a:solidFill>
                          <a:srgbClr val="000000"/>
                        </a:solidFill>
                        <a:effectLst/>
                        <a:latin typeface="Rix모던고딕 L" panose="02020603020101020101" pitchFamily="18" charset="-127"/>
                      </a:endParaRPr>
                    </a:p>
                  </a:txBody>
                  <a:tcPr marL="86360" marR="86360" marT="17907" marB="17907" anchor="ctr"/>
                </a:tc>
                <a:tc>
                  <a:txBody>
                    <a:bodyPr/>
                    <a:lstStyle/>
                    <a:p>
                      <a:pPr marL="35560" marR="35560" algn="just">
                        <a:lnSpc>
                          <a:spcPct val="100000"/>
                        </a:lnSpc>
                        <a:spcBef>
                          <a:spcPts val="0"/>
                        </a:spcBef>
                        <a:spcAft>
                          <a:spcPts val="0"/>
                        </a:spcAft>
                      </a:pPr>
                      <a:r>
                        <a:rPr lang="ko-KR" altLang="en-US" sz="1100" dirty="0">
                          <a:effectLst/>
                        </a:rPr>
                        <a:t>보정서 제출에 따른 보정 및 재심사청구 절차는 적법하므로 거절결정이 취소된 것으로 보고 재심사절차를 진행한다</a:t>
                      </a:r>
                      <a:r>
                        <a:rPr lang="en-US" altLang="ko-KR" sz="1100" dirty="0">
                          <a:effectLst/>
                        </a:rPr>
                        <a:t>. </a:t>
                      </a:r>
                      <a:r>
                        <a:rPr lang="ko-KR" altLang="en-US" sz="1100" dirty="0">
                          <a:effectLst/>
                        </a:rPr>
                        <a:t>이 경우 </a:t>
                      </a:r>
                      <a:r>
                        <a:rPr lang="ko-KR" altLang="en-US" sz="1100" dirty="0">
                          <a:effectLst/>
                          <a:highlight>
                            <a:srgbClr val="FFFF00"/>
                          </a:highlight>
                        </a:rPr>
                        <a:t>심판절차는 </a:t>
                      </a:r>
                      <a:r>
                        <a:rPr lang="ko-KR" altLang="en-US" sz="1100" dirty="0" err="1">
                          <a:effectLst/>
                          <a:highlight>
                            <a:srgbClr val="FFFF00"/>
                          </a:highlight>
                        </a:rPr>
                        <a:t>심결각하</a:t>
                      </a:r>
                      <a:r>
                        <a:rPr lang="ko-KR" altLang="en-US" sz="1100" dirty="0" err="1">
                          <a:effectLst/>
                        </a:rPr>
                        <a:t>된다</a:t>
                      </a:r>
                      <a:r>
                        <a:rPr lang="en-US" altLang="ko-KR" sz="1100" dirty="0">
                          <a:effectLst/>
                        </a:rPr>
                        <a:t>.</a:t>
                      </a:r>
                      <a:endParaRPr lang="ko-KR" altLang="en-US" sz="1100" dirty="0">
                        <a:solidFill>
                          <a:srgbClr val="000000"/>
                        </a:solidFill>
                        <a:effectLst/>
                        <a:latin typeface="Rix모던고딕 L" panose="02020603020101020101" pitchFamily="18" charset="-127"/>
                      </a:endParaRPr>
                    </a:p>
                  </a:txBody>
                  <a:tcPr marL="86360" marR="86360" marT="17907" marB="17907" anchor="ctr"/>
                </a:tc>
                <a:extLst>
                  <a:ext uri="{0D108BD9-81ED-4DB2-BD59-A6C34878D82A}">
                    <a16:rowId xmlns:a16="http://schemas.microsoft.com/office/drawing/2014/main" val="10002"/>
                  </a:ext>
                </a:extLst>
              </a:tr>
              <a:tr h="1540003">
                <a:tc>
                  <a:txBody>
                    <a:bodyPr/>
                    <a:lstStyle/>
                    <a:p>
                      <a:pPr marL="35560" marR="35560" algn="ctr">
                        <a:lnSpc>
                          <a:spcPct val="100000"/>
                        </a:lnSpc>
                        <a:spcBef>
                          <a:spcPts val="0"/>
                        </a:spcBef>
                        <a:spcAft>
                          <a:spcPts val="0"/>
                        </a:spcAft>
                      </a:pPr>
                      <a:r>
                        <a:rPr lang="ko-KR" altLang="en-US" sz="1100" dirty="0">
                          <a:effectLst/>
                        </a:rPr>
                        <a:t>심판청구서와 재심사청구 취지를 기재한 보정서가 </a:t>
                      </a:r>
                      <a:endParaRPr lang="en-US" altLang="ko-KR" sz="1100" dirty="0">
                        <a:effectLst/>
                      </a:endParaRPr>
                    </a:p>
                    <a:p>
                      <a:pPr marL="35560" marR="35560" algn="ctr">
                        <a:lnSpc>
                          <a:spcPct val="100000"/>
                        </a:lnSpc>
                        <a:spcBef>
                          <a:spcPts val="0"/>
                        </a:spcBef>
                        <a:spcAft>
                          <a:spcPts val="0"/>
                        </a:spcAft>
                      </a:pPr>
                      <a:r>
                        <a:rPr lang="ko-KR" altLang="en-US" sz="1100" dirty="0" err="1">
                          <a:effectLst/>
                        </a:rPr>
                        <a:t>동일자로</a:t>
                      </a:r>
                      <a:r>
                        <a:rPr lang="ko-KR" altLang="en-US" sz="1100" dirty="0">
                          <a:effectLst/>
                        </a:rPr>
                        <a:t> 제출된 경우</a:t>
                      </a:r>
                      <a:endParaRPr lang="ko-KR" altLang="en-US" sz="1100" dirty="0">
                        <a:solidFill>
                          <a:srgbClr val="000000"/>
                        </a:solidFill>
                        <a:effectLst/>
                        <a:latin typeface="Rix모던고딕 L" panose="02020603020101020101" pitchFamily="18" charset="-127"/>
                      </a:endParaRPr>
                    </a:p>
                  </a:txBody>
                  <a:tcPr marL="86360" marR="86360" marT="17907" marB="17907" anchor="ctr"/>
                </a:tc>
                <a:tc>
                  <a:txBody>
                    <a:bodyPr/>
                    <a:lstStyle/>
                    <a:p>
                      <a:pPr marL="35560" marR="35560" algn="just">
                        <a:lnSpc>
                          <a:spcPct val="100000"/>
                        </a:lnSpc>
                        <a:spcBef>
                          <a:spcPts val="0"/>
                        </a:spcBef>
                        <a:spcAft>
                          <a:spcPts val="0"/>
                        </a:spcAft>
                      </a:pPr>
                      <a:r>
                        <a:rPr lang="ko-KR" altLang="en-US" sz="1100" dirty="0">
                          <a:effectLst/>
                        </a:rPr>
                        <a:t>심판청구서와 보정서의 제출 시점을 확정할 수 없는바</a:t>
                      </a:r>
                      <a:r>
                        <a:rPr lang="en-US" altLang="ko-KR" sz="1100" dirty="0">
                          <a:effectLst/>
                        </a:rPr>
                        <a:t>, </a:t>
                      </a:r>
                      <a:r>
                        <a:rPr lang="ko-KR" altLang="en-US" sz="1100" dirty="0">
                          <a:effectLst/>
                        </a:rPr>
                        <a:t>출원인의 선택을 유도하기 위해 보정서가 늦게 제출된 것으로 보고 </a:t>
                      </a:r>
                      <a:r>
                        <a:rPr lang="ko-KR" altLang="en-US" sz="1100" dirty="0" err="1">
                          <a:effectLst/>
                        </a:rPr>
                        <a:t>보정서에</a:t>
                      </a:r>
                      <a:r>
                        <a:rPr lang="ko-KR" altLang="en-US" sz="1100" dirty="0">
                          <a:effectLst/>
                        </a:rPr>
                        <a:t> 대하여 반려이유를 즉시 통지한다</a:t>
                      </a:r>
                      <a:r>
                        <a:rPr lang="en-US" altLang="ko-KR" sz="1100" dirty="0">
                          <a:effectLst/>
                        </a:rPr>
                        <a:t>. </a:t>
                      </a:r>
                      <a:r>
                        <a:rPr lang="ko-KR" altLang="en-US" sz="1100" dirty="0">
                          <a:effectLst/>
                          <a:highlight>
                            <a:srgbClr val="FFFF00"/>
                          </a:highlight>
                        </a:rPr>
                        <a:t>반려이유통지서에서는 </a:t>
                      </a:r>
                      <a:r>
                        <a:rPr lang="ko-KR" altLang="en-US" sz="1100" dirty="0" err="1">
                          <a:effectLst/>
                          <a:highlight>
                            <a:srgbClr val="FFFF00"/>
                          </a:highlight>
                        </a:rPr>
                        <a:t>출원인이</a:t>
                      </a:r>
                      <a:r>
                        <a:rPr lang="ko-KR" altLang="en-US" sz="1100" dirty="0">
                          <a:effectLst/>
                          <a:highlight>
                            <a:srgbClr val="FFFF00"/>
                          </a:highlight>
                        </a:rPr>
                        <a:t> 거절결정불복심판이나 재심사 중 어느 하나를 선택할 수 있음을 상세히 설명</a:t>
                      </a:r>
                      <a:r>
                        <a:rPr lang="ko-KR" altLang="en-US" sz="1100" dirty="0">
                          <a:effectLst/>
                        </a:rPr>
                        <a:t>하여야 한다</a:t>
                      </a:r>
                      <a:r>
                        <a:rPr lang="en-US" altLang="ko-KR" sz="1100" dirty="0">
                          <a:effectLst/>
                        </a:rPr>
                        <a:t>. </a:t>
                      </a:r>
                      <a:r>
                        <a:rPr lang="ko-KR" altLang="en-US" sz="1100" dirty="0" err="1">
                          <a:effectLst/>
                        </a:rPr>
                        <a:t>출원인이</a:t>
                      </a:r>
                      <a:r>
                        <a:rPr lang="ko-KR" altLang="en-US" sz="1100" dirty="0">
                          <a:effectLst/>
                        </a:rPr>
                        <a:t> 심판청구를 취하하는 경우에는 재심사청구가 유효한 것으로 보고 재심사절차를 진행하고</a:t>
                      </a:r>
                      <a:r>
                        <a:rPr lang="en-US" altLang="ko-KR" sz="1100" dirty="0">
                          <a:effectLst/>
                        </a:rPr>
                        <a:t>, </a:t>
                      </a:r>
                      <a:r>
                        <a:rPr lang="ko-KR" altLang="en-US" sz="1100" dirty="0">
                          <a:effectLst/>
                        </a:rPr>
                        <a:t>반려 요청하는 경우에는 </a:t>
                      </a:r>
                      <a:r>
                        <a:rPr lang="ko-KR" altLang="en-US" sz="1100" dirty="0" err="1">
                          <a:effectLst/>
                        </a:rPr>
                        <a:t>보정서를</a:t>
                      </a:r>
                      <a:r>
                        <a:rPr lang="ko-KR" altLang="en-US" sz="1100" dirty="0">
                          <a:effectLst/>
                        </a:rPr>
                        <a:t> 즉시 반려한다</a:t>
                      </a:r>
                      <a:r>
                        <a:rPr lang="en-US" altLang="ko-KR" sz="1100" dirty="0">
                          <a:effectLst/>
                        </a:rPr>
                        <a:t>.</a:t>
                      </a:r>
                      <a:endParaRPr lang="ko-KR" altLang="en-US" sz="1100" dirty="0">
                        <a:solidFill>
                          <a:srgbClr val="000000"/>
                        </a:solidFill>
                        <a:effectLst/>
                        <a:latin typeface="Rix모던고딕 L" panose="02020603020101020101" pitchFamily="18" charset="-127"/>
                      </a:endParaRPr>
                    </a:p>
                  </a:txBody>
                  <a:tcPr marL="86360" marR="86360" marT="17907" marB="17907" anchor="ctr"/>
                </a:tc>
                <a:extLst>
                  <a:ext uri="{0D108BD9-81ED-4DB2-BD59-A6C34878D82A}">
                    <a16:rowId xmlns:a16="http://schemas.microsoft.com/office/drawing/2014/main" val="10003"/>
                  </a:ext>
                </a:extLst>
              </a:tr>
              <a:tr h="903529">
                <a:tc>
                  <a:txBody>
                    <a:bodyPr/>
                    <a:lstStyle/>
                    <a:p>
                      <a:pPr marL="35560" marR="35560" algn="ctr">
                        <a:lnSpc>
                          <a:spcPct val="100000"/>
                        </a:lnSpc>
                        <a:spcBef>
                          <a:spcPts val="0"/>
                        </a:spcBef>
                        <a:spcAft>
                          <a:spcPts val="0"/>
                        </a:spcAft>
                      </a:pPr>
                      <a:r>
                        <a:rPr lang="ko-KR" altLang="en-US" sz="1100" dirty="0">
                          <a:effectLst/>
                        </a:rPr>
                        <a:t>심판청구서와 재심사청구 취지가 기재되지 않은 </a:t>
                      </a:r>
                      <a:endParaRPr lang="en-US" altLang="ko-KR" sz="1100" dirty="0">
                        <a:effectLst/>
                      </a:endParaRPr>
                    </a:p>
                    <a:p>
                      <a:pPr marL="35560" marR="35560" algn="ctr">
                        <a:lnSpc>
                          <a:spcPct val="100000"/>
                        </a:lnSpc>
                        <a:spcBef>
                          <a:spcPts val="0"/>
                        </a:spcBef>
                        <a:spcAft>
                          <a:spcPts val="0"/>
                        </a:spcAft>
                      </a:pPr>
                      <a:r>
                        <a:rPr lang="ko-KR" altLang="en-US" sz="1100" dirty="0" err="1">
                          <a:effectLst/>
                        </a:rPr>
                        <a:t>보정서를</a:t>
                      </a:r>
                      <a:r>
                        <a:rPr lang="ko-KR" altLang="en-US" sz="1100" dirty="0">
                          <a:effectLst/>
                        </a:rPr>
                        <a:t> </a:t>
                      </a:r>
                      <a:r>
                        <a:rPr lang="ko-KR" altLang="en-US" sz="1100" dirty="0" err="1">
                          <a:effectLst/>
                        </a:rPr>
                        <a:t>동일자에</a:t>
                      </a:r>
                      <a:r>
                        <a:rPr lang="ko-KR" altLang="en-US" sz="1100" dirty="0">
                          <a:effectLst/>
                        </a:rPr>
                        <a:t> 제출한 경우</a:t>
                      </a:r>
                      <a:endParaRPr lang="ko-KR" altLang="en-US" sz="1100" dirty="0">
                        <a:solidFill>
                          <a:srgbClr val="000000"/>
                        </a:solidFill>
                        <a:effectLst/>
                        <a:latin typeface="Rix모던고딕 L" panose="02020603020101020101" pitchFamily="18" charset="-127"/>
                      </a:endParaRPr>
                    </a:p>
                  </a:txBody>
                  <a:tcPr marL="86360" marR="86360" marT="17907" marB="17907" anchor="ctr"/>
                </a:tc>
                <a:tc>
                  <a:txBody>
                    <a:bodyPr/>
                    <a:lstStyle/>
                    <a:p>
                      <a:pPr marL="35560" marR="35560" algn="just">
                        <a:lnSpc>
                          <a:spcPct val="100000"/>
                        </a:lnSpc>
                        <a:spcBef>
                          <a:spcPts val="0"/>
                        </a:spcBef>
                        <a:spcAft>
                          <a:spcPts val="0"/>
                        </a:spcAft>
                      </a:pPr>
                      <a:r>
                        <a:rPr lang="ko-KR" altLang="en-US" sz="1100" dirty="0" err="1">
                          <a:effectLst/>
                        </a:rPr>
                        <a:t>보정서에</a:t>
                      </a:r>
                      <a:r>
                        <a:rPr lang="ko-KR" altLang="en-US" sz="1100" dirty="0">
                          <a:effectLst/>
                        </a:rPr>
                        <a:t> 재심사청구의 취지가 기재되지 않은바</a:t>
                      </a:r>
                      <a:r>
                        <a:rPr lang="en-US" altLang="ko-KR" sz="1100" dirty="0">
                          <a:effectLst/>
                        </a:rPr>
                        <a:t>, </a:t>
                      </a:r>
                      <a:r>
                        <a:rPr lang="ko-KR" altLang="en-US" sz="1100" dirty="0">
                          <a:effectLst/>
                        </a:rPr>
                        <a:t>보정서는 보정이 가능한 기간 내에 제출된 것으로 볼 수 없으므로 이 법 또는 이 법에 의한 명령이 정하는 기간 이내에 제출되지 아니한 서류로 취급하여 소명 기회를 부여한 후 </a:t>
                      </a:r>
                      <a:r>
                        <a:rPr lang="ko-KR" altLang="en-US" sz="1100" dirty="0">
                          <a:effectLst/>
                          <a:highlight>
                            <a:srgbClr val="FFFF00"/>
                          </a:highlight>
                        </a:rPr>
                        <a:t>보정서를 반려</a:t>
                      </a:r>
                      <a:r>
                        <a:rPr lang="ko-KR" altLang="en-US" sz="1100" dirty="0">
                          <a:effectLst/>
                        </a:rPr>
                        <a:t>한다</a:t>
                      </a:r>
                      <a:r>
                        <a:rPr lang="en-US" altLang="ko-KR" sz="1100" dirty="0">
                          <a:effectLst/>
                        </a:rPr>
                        <a:t>.</a:t>
                      </a:r>
                      <a:endParaRPr lang="ko-KR" altLang="en-US" sz="1100" dirty="0">
                        <a:solidFill>
                          <a:srgbClr val="000000"/>
                        </a:solidFill>
                        <a:effectLst/>
                        <a:latin typeface="Rix모던고딕 L" panose="02020603020101020101" pitchFamily="18" charset="-127"/>
                      </a:endParaRPr>
                    </a:p>
                  </a:txBody>
                  <a:tcPr marL="86360" marR="86360" marT="17907" marB="17907" anchor="ctr"/>
                </a:tc>
                <a:extLst>
                  <a:ext uri="{0D108BD9-81ED-4DB2-BD59-A6C34878D82A}">
                    <a16:rowId xmlns:a16="http://schemas.microsoft.com/office/drawing/2014/main" val="10004"/>
                  </a:ext>
                </a:extLst>
              </a:tr>
            </a:tbl>
          </a:graphicData>
        </a:graphic>
      </p:graphicFrame>
      <p:sp>
        <p:nvSpPr>
          <p:cNvPr id="2" name="슬라이드 번호 개체 틀 1"/>
          <p:cNvSpPr>
            <a:spLocks noGrp="1"/>
          </p:cNvSpPr>
          <p:nvPr>
            <p:ph type="sldNum" sz="quarter" idx="12"/>
          </p:nvPr>
        </p:nvSpPr>
        <p:spPr/>
        <p:txBody>
          <a:bodyPr/>
          <a:lstStyle/>
          <a:p>
            <a:r>
              <a:rPr lang="en-US" altLang="ko-KR"/>
              <a:t>274</a:t>
            </a:r>
            <a:endParaRPr lang="ko-KR" altLang="en-US" dirty="0"/>
          </a:p>
        </p:txBody>
      </p:sp>
    </p:spTree>
    <p:extLst>
      <p:ext uri="{BB962C8B-B14F-4D97-AF65-F5344CB8AC3E}">
        <p14:creationId xmlns:p14="http://schemas.microsoft.com/office/powerpoint/2010/main" val="1653557184"/>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양쪽 모서리가 둥근 사각형 61"/>
          <p:cNvSpPr/>
          <p:nvPr/>
        </p:nvSpPr>
        <p:spPr>
          <a:xfrm>
            <a:off x="4210619" y="3378556"/>
            <a:ext cx="2428306" cy="680843"/>
          </a:xfrm>
          <a:prstGeom prst="round2SameRect">
            <a:avLst>
              <a:gd name="adj1" fmla="val 50000"/>
              <a:gd name="adj2" fmla="val 0"/>
            </a:avLst>
          </a:prstGeom>
          <a:pattFill prst="dkHorz">
            <a:fgClr>
              <a:schemeClr val="tx2">
                <a:lumMod val="75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5" name="직선 화살표 연결선 124"/>
          <p:cNvCxnSpPr/>
          <p:nvPr/>
        </p:nvCxnSpPr>
        <p:spPr>
          <a:xfrm>
            <a:off x="1327446" y="4059594"/>
            <a:ext cx="965835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47</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t>청구항별</a:t>
            </a:r>
            <a:r>
              <a:rPr lang="ko-KR" altLang="en-US" dirty="0"/>
              <a:t> </a:t>
            </a:r>
            <a:r>
              <a:rPr lang="ko-KR" altLang="en-US" dirty="0" err="1"/>
              <a:t>일부취하</a:t>
            </a:r>
            <a:endParaRPr lang="ko-KR" altLang="en-US" dirty="0"/>
          </a:p>
        </p:txBody>
      </p:sp>
      <p:sp>
        <p:nvSpPr>
          <p:cNvPr id="6" name="슬라이드 번호 개체 틀 5"/>
          <p:cNvSpPr>
            <a:spLocks noGrp="1"/>
          </p:cNvSpPr>
          <p:nvPr>
            <p:ph type="sldNum" sz="quarter" idx="4294967295"/>
          </p:nvPr>
        </p:nvSpPr>
        <p:spPr>
          <a:xfrm>
            <a:off x="11125200" y="0"/>
            <a:ext cx="1066800" cy="673100"/>
          </a:xfrm>
        </p:spPr>
        <p:txBody>
          <a:bodyPr/>
          <a:lstStyle/>
          <a:p>
            <a:r>
              <a:rPr lang="en-US" altLang="ko-KR"/>
              <a:t>275</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91" name="직사각형 90"/>
          <p:cNvSpPr/>
          <p:nvPr/>
        </p:nvSpPr>
        <p:spPr>
          <a:xfrm>
            <a:off x="1306064" y="3807181"/>
            <a:ext cx="989461" cy="50482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출원</a:t>
            </a:r>
          </a:p>
        </p:txBody>
      </p:sp>
      <p:sp>
        <p:nvSpPr>
          <p:cNvPr id="52" name="TextBox 51"/>
          <p:cNvSpPr txBox="1"/>
          <p:nvPr/>
        </p:nvSpPr>
        <p:spPr>
          <a:xfrm>
            <a:off x="77875" y="986046"/>
            <a:ext cx="11936323" cy="1169551"/>
          </a:xfrm>
          <a:prstGeom prst="rect">
            <a:avLst/>
          </a:prstGeom>
          <a:noFill/>
        </p:spPr>
        <p:txBody>
          <a:bodyPr wrap="square" rtlCol="0">
            <a:spAutoFit/>
          </a:bodyPr>
          <a:lstStyle/>
          <a:p>
            <a:pPr fontAlgn="base"/>
            <a:r>
              <a:rPr lang="ko-KR" altLang="en-US" sz="1400" dirty="0">
                <a:solidFill>
                  <a:schemeClr val="tx2"/>
                </a:solidFill>
              </a:rPr>
              <a:t>문제가 되는 것은 </a:t>
            </a:r>
            <a:r>
              <a:rPr lang="ko-KR" altLang="en-US" sz="1400" dirty="0" err="1">
                <a:solidFill>
                  <a:schemeClr val="tx2"/>
                </a:solidFill>
              </a:rPr>
              <a:t>청구항별</a:t>
            </a:r>
            <a:r>
              <a:rPr lang="ko-KR" altLang="en-US" sz="1400" dirty="0">
                <a:solidFill>
                  <a:schemeClr val="tx2"/>
                </a:solidFill>
              </a:rPr>
              <a:t> 일부 취하가 허용되는지 여부이다</a:t>
            </a:r>
            <a:r>
              <a:rPr lang="en-US" altLang="ko-KR" sz="1400" dirty="0">
                <a:solidFill>
                  <a:schemeClr val="tx2"/>
                </a:solidFill>
              </a:rPr>
              <a:t>. </a:t>
            </a:r>
            <a:r>
              <a:rPr lang="ko-KR" altLang="en-US" sz="1400" dirty="0">
                <a:solidFill>
                  <a:schemeClr val="tx2"/>
                </a:solidFill>
              </a:rPr>
              <a:t>이에 대하여 대법원 </a:t>
            </a:r>
            <a:r>
              <a:rPr lang="en-US" altLang="ko-KR" sz="1400" dirty="0">
                <a:solidFill>
                  <a:schemeClr val="tx2"/>
                </a:solidFill>
              </a:rPr>
              <a:t>2003. 3. 25. </a:t>
            </a:r>
            <a:r>
              <a:rPr lang="ko-KR" altLang="en-US" sz="1400" dirty="0">
                <a:solidFill>
                  <a:schemeClr val="tx2"/>
                </a:solidFill>
              </a:rPr>
              <a:t>선고 </a:t>
            </a:r>
            <a:r>
              <a:rPr lang="en-US" altLang="ko-KR" sz="1400" dirty="0">
                <a:solidFill>
                  <a:schemeClr val="tx2"/>
                </a:solidFill>
              </a:rPr>
              <a:t>2001</a:t>
            </a:r>
            <a:r>
              <a:rPr lang="ko-KR" altLang="en-US" sz="1400" dirty="0">
                <a:solidFill>
                  <a:schemeClr val="tx2"/>
                </a:solidFill>
              </a:rPr>
              <a:t>후</a:t>
            </a:r>
            <a:r>
              <a:rPr lang="en-US" altLang="ko-KR" sz="1400" dirty="0">
                <a:solidFill>
                  <a:schemeClr val="tx2"/>
                </a:solidFill>
              </a:rPr>
              <a:t>1044 </a:t>
            </a:r>
            <a:r>
              <a:rPr lang="ko-KR" altLang="en-US" sz="1400" dirty="0">
                <a:solidFill>
                  <a:schemeClr val="tx2"/>
                </a:solidFill>
              </a:rPr>
              <a:t>판결은 “</a:t>
            </a:r>
            <a:r>
              <a:rPr lang="ko-KR" altLang="en-US" sz="1400" dirty="0" err="1">
                <a:solidFill>
                  <a:schemeClr val="tx2"/>
                </a:solidFill>
              </a:rPr>
              <a:t>출원서에</a:t>
            </a:r>
            <a:r>
              <a:rPr lang="ko-KR" altLang="en-US" sz="1400" dirty="0">
                <a:solidFill>
                  <a:schemeClr val="tx2"/>
                </a:solidFill>
              </a:rPr>
              <a:t> 첨부된 명세서와 도면의 보정이라는 제도 및 그 보정의 시기와 범위를 제한하는 규정을 두고 있을 뿐 특허결정이 되기 전에 특허출원의 일부를 취하할 수 있다고 규정해 놓은 바 없으며</a:t>
            </a:r>
            <a:r>
              <a:rPr lang="en-US" altLang="ko-KR" sz="1400" dirty="0">
                <a:solidFill>
                  <a:schemeClr val="tx2"/>
                </a:solidFill>
              </a:rPr>
              <a:t>, </a:t>
            </a:r>
            <a:r>
              <a:rPr lang="ko-KR" altLang="en-US" sz="1400" dirty="0">
                <a:solidFill>
                  <a:schemeClr val="tx2"/>
                </a:solidFill>
              </a:rPr>
              <a:t>특허법에 정해진 보정기간이 지난 후에도 특허출원의 일부 취하를 허용하는 것은 특허출원의 보정에 엄격한 시기적 제한을 두고 있는 특허법의 취지에도 반하므로 원칙적으로 </a:t>
            </a:r>
            <a:r>
              <a:rPr lang="ko-KR" altLang="en-US" sz="1400" dirty="0" err="1">
                <a:solidFill>
                  <a:schemeClr val="tx2"/>
                </a:solidFill>
              </a:rPr>
              <a:t>청구항별</a:t>
            </a:r>
            <a:r>
              <a:rPr lang="ko-KR" altLang="en-US" sz="1400" dirty="0">
                <a:solidFill>
                  <a:schemeClr val="tx2"/>
                </a:solidFill>
              </a:rPr>
              <a:t> 일부 취하는 허용되지 아니한다</a:t>
            </a:r>
            <a:r>
              <a:rPr lang="en-US" altLang="ko-KR" sz="1400" dirty="0">
                <a:solidFill>
                  <a:schemeClr val="tx2"/>
                </a:solidFill>
              </a:rPr>
              <a:t>."</a:t>
            </a:r>
            <a:r>
              <a:rPr lang="ko-KR" altLang="en-US" sz="1400" dirty="0">
                <a:solidFill>
                  <a:schemeClr val="tx2"/>
                </a:solidFill>
              </a:rPr>
              <a:t>고 하여 일부 </a:t>
            </a:r>
            <a:r>
              <a:rPr lang="ko-KR" altLang="en-US" sz="1400" dirty="0" err="1">
                <a:solidFill>
                  <a:schemeClr val="tx2"/>
                </a:solidFill>
              </a:rPr>
              <a:t>취하서를</a:t>
            </a:r>
            <a:r>
              <a:rPr lang="ko-KR" altLang="en-US" sz="1400" dirty="0">
                <a:solidFill>
                  <a:schemeClr val="tx2"/>
                </a:solidFill>
              </a:rPr>
              <a:t> 삭제보정서와 동일시하고 있다</a:t>
            </a:r>
            <a:r>
              <a:rPr lang="en-US" altLang="ko-KR" sz="1400" dirty="0">
                <a:solidFill>
                  <a:schemeClr val="tx2"/>
                </a:solidFill>
              </a:rPr>
              <a:t>. </a:t>
            </a:r>
            <a:r>
              <a:rPr lang="ko-KR" altLang="en-US" sz="1400" dirty="0">
                <a:solidFill>
                  <a:schemeClr val="tx2"/>
                </a:solidFill>
              </a:rPr>
              <a:t>즉</a:t>
            </a:r>
            <a:r>
              <a:rPr lang="en-US" altLang="ko-KR" sz="1400" dirty="0">
                <a:solidFill>
                  <a:schemeClr val="tx2"/>
                </a:solidFill>
              </a:rPr>
              <a:t>, </a:t>
            </a:r>
            <a:r>
              <a:rPr lang="ko-KR" altLang="en-US" sz="1400" dirty="0" err="1">
                <a:solidFill>
                  <a:schemeClr val="tx2"/>
                </a:solidFill>
                <a:highlight>
                  <a:srgbClr val="FFFF00"/>
                </a:highlight>
              </a:rPr>
              <a:t>청구항별</a:t>
            </a:r>
            <a:r>
              <a:rPr lang="ko-KR" altLang="en-US" sz="1400" dirty="0">
                <a:solidFill>
                  <a:schemeClr val="tx2"/>
                </a:solidFill>
                <a:highlight>
                  <a:srgbClr val="FFFF00"/>
                </a:highlight>
              </a:rPr>
              <a:t> 일부 취하를 하는 경우 보정기간의 제한을 가하여</a:t>
            </a:r>
            <a:r>
              <a:rPr lang="en-US" altLang="ko-KR" sz="1400" dirty="0">
                <a:solidFill>
                  <a:schemeClr val="tx2"/>
                </a:solidFill>
                <a:highlight>
                  <a:srgbClr val="FFFF00"/>
                </a:highlight>
              </a:rPr>
              <a:t>, </a:t>
            </a:r>
            <a:r>
              <a:rPr lang="ko-KR" altLang="en-US" sz="1400" dirty="0">
                <a:solidFill>
                  <a:schemeClr val="tx2"/>
                </a:solidFill>
                <a:highlight>
                  <a:srgbClr val="FFFF00"/>
                </a:highlight>
              </a:rPr>
              <a:t>보정기간을 지난 일부 </a:t>
            </a:r>
            <a:r>
              <a:rPr lang="ko-KR" altLang="en-US" sz="1400" dirty="0" err="1">
                <a:solidFill>
                  <a:schemeClr val="tx2"/>
                </a:solidFill>
                <a:highlight>
                  <a:srgbClr val="FFFF00"/>
                </a:highlight>
              </a:rPr>
              <a:t>취하서를</a:t>
            </a:r>
            <a:r>
              <a:rPr lang="ko-KR" altLang="en-US" sz="1400" dirty="0">
                <a:solidFill>
                  <a:schemeClr val="tx2"/>
                </a:solidFill>
                <a:highlight>
                  <a:srgbClr val="FFFF00"/>
                </a:highlight>
              </a:rPr>
              <a:t> </a:t>
            </a:r>
            <a:r>
              <a:rPr lang="ko-KR" altLang="en-US" sz="1400" dirty="0" err="1">
                <a:solidFill>
                  <a:schemeClr val="tx2"/>
                </a:solidFill>
                <a:highlight>
                  <a:srgbClr val="FFFF00"/>
                </a:highlight>
              </a:rPr>
              <a:t>불수리하는</a:t>
            </a:r>
            <a:r>
              <a:rPr lang="ko-KR" altLang="en-US" sz="1400" dirty="0">
                <a:solidFill>
                  <a:schemeClr val="tx2"/>
                </a:solidFill>
                <a:highlight>
                  <a:srgbClr val="FFFF00"/>
                </a:highlight>
              </a:rPr>
              <a:t> 한편</a:t>
            </a:r>
            <a:r>
              <a:rPr lang="en-US" altLang="ko-KR" sz="1400" dirty="0">
                <a:solidFill>
                  <a:schemeClr val="tx2"/>
                </a:solidFill>
                <a:highlight>
                  <a:srgbClr val="FFFF00"/>
                </a:highlight>
              </a:rPr>
              <a:t>, </a:t>
            </a:r>
            <a:r>
              <a:rPr lang="ko-KR" altLang="en-US" sz="1400" dirty="0">
                <a:solidFill>
                  <a:schemeClr val="tx2"/>
                </a:solidFill>
                <a:highlight>
                  <a:srgbClr val="FFFF00"/>
                </a:highlight>
              </a:rPr>
              <a:t>특허출원을 </a:t>
            </a:r>
            <a:r>
              <a:rPr lang="ko-KR" altLang="en-US" sz="1400" dirty="0" err="1">
                <a:solidFill>
                  <a:schemeClr val="tx2"/>
                </a:solidFill>
                <a:highlight>
                  <a:srgbClr val="FFFF00"/>
                </a:highlight>
              </a:rPr>
              <a:t>거절결정하였다</a:t>
            </a:r>
            <a:r>
              <a:rPr lang="en-US" altLang="ko-KR" sz="1400" dirty="0">
                <a:solidFill>
                  <a:schemeClr val="tx2"/>
                </a:solidFill>
                <a:highlight>
                  <a:srgbClr val="FFFF00"/>
                </a:highlight>
              </a:rPr>
              <a:t>.</a:t>
            </a:r>
            <a:endParaRPr lang="ko-KR" altLang="en-US" sz="1400" dirty="0">
              <a:solidFill>
                <a:schemeClr val="tx2"/>
              </a:solidFill>
              <a:highlight>
                <a:srgbClr val="FFFF00"/>
              </a:highlight>
            </a:endParaRPr>
          </a:p>
        </p:txBody>
      </p:sp>
      <p:cxnSp>
        <p:nvCxnSpPr>
          <p:cNvPr id="53" name="직선 연결선 52"/>
          <p:cNvCxnSpPr/>
          <p:nvPr/>
        </p:nvCxnSpPr>
        <p:spPr>
          <a:xfrm>
            <a:off x="0" y="215559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직사각형 47"/>
          <p:cNvSpPr/>
          <p:nvPr/>
        </p:nvSpPr>
        <p:spPr>
          <a:xfrm>
            <a:off x="3715889" y="3807181"/>
            <a:ext cx="989461" cy="50482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tx1"/>
                </a:solidFill>
              </a:rPr>
              <a:t>OA</a:t>
            </a:r>
            <a:endParaRPr lang="ko-KR" altLang="en-US" sz="1400" dirty="0">
              <a:solidFill>
                <a:schemeClr val="tx1"/>
              </a:solidFill>
            </a:endParaRPr>
          </a:p>
        </p:txBody>
      </p:sp>
      <p:sp>
        <p:nvSpPr>
          <p:cNvPr id="49" name="직사각형 48"/>
          <p:cNvSpPr/>
          <p:nvPr/>
        </p:nvSpPr>
        <p:spPr>
          <a:xfrm>
            <a:off x="7144889" y="3807181"/>
            <a:ext cx="989461" cy="504825"/>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일부취하</a:t>
            </a:r>
            <a:endParaRPr lang="en-US" altLang="ko-KR" sz="1400" dirty="0">
              <a:solidFill>
                <a:schemeClr val="tx1"/>
              </a:solidFill>
            </a:endParaRPr>
          </a:p>
        </p:txBody>
      </p:sp>
      <p:sp>
        <p:nvSpPr>
          <p:cNvPr id="5" name="직사각형 4"/>
          <p:cNvSpPr/>
          <p:nvPr/>
        </p:nvSpPr>
        <p:spPr>
          <a:xfrm>
            <a:off x="952500" y="4905374"/>
            <a:ext cx="1696588" cy="552451"/>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1</a:t>
            </a:r>
            <a:r>
              <a:rPr lang="ko-KR" altLang="en-US" sz="1200" dirty="0">
                <a:solidFill>
                  <a:schemeClr val="tx1"/>
                </a:solidFill>
              </a:rPr>
              <a:t>항</a:t>
            </a:r>
            <a:r>
              <a:rPr lang="en-US" altLang="ko-KR" sz="1200" dirty="0">
                <a:solidFill>
                  <a:schemeClr val="tx1"/>
                </a:solidFill>
              </a:rPr>
              <a:t>~20</a:t>
            </a:r>
            <a:r>
              <a:rPr lang="ko-KR" altLang="en-US" sz="1200" dirty="0">
                <a:solidFill>
                  <a:schemeClr val="tx1"/>
                </a:solidFill>
              </a:rPr>
              <a:t>항</a:t>
            </a:r>
          </a:p>
        </p:txBody>
      </p:sp>
      <p:cxnSp>
        <p:nvCxnSpPr>
          <p:cNvPr id="7" name="직선 연결선 6"/>
          <p:cNvCxnSpPr>
            <a:stCxn id="5" idx="0"/>
            <a:endCxn id="91" idx="2"/>
          </p:cNvCxnSpPr>
          <p:nvPr/>
        </p:nvCxnSpPr>
        <p:spPr>
          <a:xfrm flipV="1">
            <a:off x="1800794" y="4312006"/>
            <a:ext cx="1" cy="59336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1" name="직사각형 50"/>
          <p:cNvSpPr/>
          <p:nvPr/>
        </p:nvSpPr>
        <p:spPr>
          <a:xfrm>
            <a:off x="3362325" y="4905374"/>
            <a:ext cx="1696588" cy="552451"/>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거절</a:t>
            </a:r>
            <a:r>
              <a:rPr lang="en-US" altLang="ko-KR" sz="1200" dirty="0">
                <a:solidFill>
                  <a:schemeClr val="tx1"/>
                </a:solidFill>
              </a:rPr>
              <a:t>: 1</a:t>
            </a:r>
            <a:r>
              <a:rPr lang="ko-KR" altLang="en-US" sz="1200" dirty="0">
                <a:solidFill>
                  <a:schemeClr val="tx1"/>
                </a:solidFill>
              </a:rPr>
              <a:t>항</a:t>
            </a:r>
            <a:r>
              <a:rPr lang="en-US" altLang="ko-KR" sz="1200" dirty="0">
                <a:solidFill>
                  <a:schemeClr val="tx1"/>
                </a:solidFill>
              </a:rPr>
              <a:t>~10</a:t>
            </a:r>
            <a:r>
              <a:rPr lang="ko-KR" altLang="en-US" sz="1200" dirty="0">
                <a:solidFill>
                  <a:schemeClr val="tx1"/>
                </a:solidFill>
              </a:rPr>
              <a:t>항</a:t>
            </a:r>
            <a:endParaRPr lang="en-US" altLang="ko-KR" sz="1200" dirty="0">
              <a:solidFill>
                <a:schemeClr val="tx1"/>
              </a:solidFill>
            </a:endParaRPr>
          </a:p>
          <a:p>
            <a:pPr algn="ctr"/>
            <a:r>
              <a:rPr lang="ko-KR" altLang="en-US" sz="1200" dirty="0">
                <a:solidFill>
                  <a:schemeClr val="tx1"/>
                </a:solidFill>
              </a:rPr>
              <a:t>등록</a:t>
            </a:r>
            <a:r>
              <a:rPr lang="en-US" altLang="ko-KR" sz="1200" dirty="0">
                <a:solidFill>
                  <a:schemeClr val="tx1"/>
                </a:solidFill>
              </a:rPr>
              <a:t>: 11</a:t>
            </a:r>
            <a:r>
              <a:rPr lang="ko-KR" altLang="en-US" sz="1200" dirty="0">
                <a:solidFill>
                  <a:schemeClr val="tx1"/>
                </a:solidFill>
              </a:rPr>
              <a:t>항</a:t>
            </a:r>
            <a:r>
              <a:rPr lang="en-US" altLang="ko-KR" sz="1200" dirty="0">
                <a:solidFill>
                  <a:schemeClr val="tx1"/>
                </a:solidFill>
              </a:rPr>
              <a:t>~20</a:t>
            </a:r>
            <a:r>
              <a:rPr lang="ko-KR" altLang="en-US" sz="1200" dirty="0">
                <a:solidFill>
                  <a:schemeClr val="tx1"/>
                </a:solidFill>
              </a:rPr>
              <a:t>항</a:t>
            </a:r>
          </a:p>
        </p:txBody>
      </p:sp>
      <p:cxnSp>
        <p:nvCxnSpPr>
          <p:cNvPr id="54" name="직선 연결선 53"/>
          <p:cNvCxnSpPr>
            <a:stCxn id="51" idx="0"/>
          </p:cNvCxnSpPr>
          <p:nvPr/>
        </p:nvCxnSpPr>
        <p:spPr>
          <a:xfrm flipV="1">
            <a:off x="4210619" y="4312006"/>
            <a:ext cx="1" cy="59336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직사각형 54"/>
          <p:cNvSpPr/>
          <p:nvPr/>
        </p:nvSpPr>
        <p:spPr>
          <a:xfrm>
            <a:off x="6791325" y="4905374"/>
            <a:ext cx="1696588" cy="552451"/>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1</a:t>
            </a:r>
            <a:r>
              <a:rPr lang="ko-KR" altLang="en-US" sz="1200" dirty="0">
                <a:solidFill>
                  <a:schemeClr val="tx1"/>
                </a:solidFill>
              </a:rPr>
              <a:t>항</a:t>
            </a:r>
            <a:r>
              <a:rPr lang="en-US" altLang="ko-KR" sz="1200" dirty="0">
                <a:solidFill>
                  <a:schemeClr val="tx1"/>
                </a:solidFill>
              </a:rPr>
              <a:t>~10</a:t>
            </a:r>
            <a:r>
              <a:rPr lang="ko-KR" altLang="en-US" sz="1200" dirty="0">
                <a:solidFill>
                  <a:schemeClr val="tx1"/>
                </a:solidFill>
              </a:rPr>
              <a:t>항</a:t>
            </a:r>
            <a:endParaRPr lang="en-US" altLang="ko-KR" sz="1200" dirty="0">
              <a:solidFill>
                <a:schemeClr val="tx1"/>
              </a:solidFill>
            </a:endParaRPr>
          </a:p>
        </p:txBody>
      </p:sp>
      <p:cxnSp>
        <p:nvCxnSpPr>
          <p:cNvPr id="56" name="직선 연결선 55"/>
          <p:cNvCxnSpPr>
            <a:stCxn id="55" idx="0"/>
          </p:cNvCxnSpPr>
          <p:nvPr/>
        </p:nvCxnSpPr>
        <p:spPr>
          <a:xfrm flipV="1">
            <a:off x="7639619" y="4312006"/>
            <a:ext cx="1" cy="59336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직사각형 56"/>
          <p:cNvSpPr/>
          <p:nvPr/>
        </p:nvSpPr>
        <p:spPr>
          <a:xfrm>
            <a:off x="9211814" y="3807181"/>
            <a:ext cx="989461" cy="50482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거절결정</a:t>
            </a:r>
            <a:endParaRPr lang="en-US" altLang="ko-KR" sz="1400" dirty="0">
              <a:solidFill>
                <a:schemeClr val="tx1"/>
              </a:solidFill>
            </a:endParaRPr>
          </a:p>
        </p:txBody>
      </p:sp>
      <p:sp>
        <p:nvSpPr>
          <p:cNvPr id="58" name="직사각형 57"/>
          <p:cNvSpPr/>
          <p:nvPr/>
        </p:nvSpPr>
        <p:spPr>
          <a:xfrm>
            <a:off x="8487913" y="2873731"/>
            <a:ext cx="989461" cy="504825"/>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불수리</a:t>
            </a:r>
            <a:endParaRPr lang="en-US" altLang="ko-KR" sz="1400" dirty="0">
              <a:solidFill>
                <a:schemeClr val="tx1"/>
              </a:solidFill>
            </a:endParaRPr>
          </a:p>
        </p:txBody>
      </p:sp>
      <p:cxnSp>
        <p:nvCxnSpPr>
          <p:cNvPr id="11" name="꺾인 연결선 10"/>
          <p:cNvCxnSpPr>
            <a:stCxn id="49" idx="0"/>
            <a:endCxn id="58" idx="1"/>
          </p:cNvCxnSpPr>
          <p:nvPr/>
        </p:nvCxnSpPr>
        <p:spPr>
          <a:xfrm rot="5400000" flipH="1" flipV="1">
            <a:off x="7723248" y="3042517"/>
            <a:ext cx="681037" cy="848293"/>
          </a:xfrm>
          <a:prstGeom prst="bentConnector2">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직사각형 62"/>
          <p:cNvSpPr/>
          <p:nvPr/>
        </p:nvSpPr>
        <p:spPr>
          <a:xfrm>
            <a:off x="4519327" y="2978505"/>
            <a:ext cx="1948147" cy="5524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의견제출기간</a:t>
            </a:r>
            <a:r>
              <a:rPr lang="en-US" altLang="ko-KR" sz="1200" dirty="0">
                <a:solidFill>
                  <a:schemeClr val="tx1"/>
                </a:solidFill>
              </a:rPr>
              <a:t>(</a:t>
            </a:r>
            <a:r>
              <a:rPr lang="en-US" altLang="ko-KR" sz="1200" dirty="0">
                <a:solidFill>
                  <a:srgbClr val="FF0000"/>
                </a:solidFill>
              </a:rPr>
              <a:t>4</a:t>
            </a:r>
            <a:r>
              <a:rPr lang="ko-KR" altLang="en-US" sz="1200" dirty="0">
                <a:solidFill>
                  <a:srgbClr val="FF0000"/>
                </a:solidFill>
              </a:rPr>
              <a:t>개월</a:t>
            </a:r>
            <a:r>
              <a:rPr lang="ko-KR" altLang="en-US" sz="1200" dirty="0">
                <a:solidFill>
                  <a:schemeClr val="tx1"/>
                </a:solidFill>
              </a:rPr>
              <a:t> 이내</a:t>
            </a:r>
            <a:r>
              <a:rPr lang="en-US" altLang="ko-KR" sz="1200" dirty="0">
                <a:solidFill>
                  <a:schemeClr val="tx1"/>
                </a:solidFill>
              </a:rPr>
              <a:t>)</a:t>
            </a:r>
            <a:endParaRPr lang="ko-KR" altLang="en-US" sz="1200" dirty="0">
              <a:solidFill>
                <a:schemeClr val="tx1"/>
              </a:solidFill>
            </a:endParaRPr>
          </a:p>
        </p:txBody>
      </p:sp>
    </p:spTree>
    <p:extLst>
      <p:ext uri="{BB962C8B-B14F-4D97-AF65-F5344CB8AC3E}">
        <p14:creationId xmlns:p14="http://schemas.microsoft.com/office/powerpoint/2010/main" val="1649035302"/>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9" name="직선 연결선 98"/>
          <p:cNvCxnSpPr/>
          <p:nvPr/>
        </p:nvCxnSpPr>
        <p:spPr>
          <a:xfrm>
            <a:off x="9370169" y="5497945"/>
            <a:ext cx="0" cy="963549"/>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양쪽 모서리가 둥근 사각형 91"/>
          <p:cNvSpPr/>
          <p:nvPr/>
        </p:nvSpPr>
        <p:spPr>
          <a:xfrm>
            <a:off x="8277224" y="4994880"/>
            <a:ext cx="3848101" cy="345054"/>
          </a:xfrm>
          <a:prstGeom prst="round2SameRect">
            <a:avLst>
              <a:gd name="adj1" fmla="val 50000"/>
              <a:gd name="adj2" fmla="val 0"/>
            </a:avLst>
          </a:prstGeom>
          <a:pattFill prst="wdDnDiag">
            <a:fgClr>
              <a:schemeClr val="accent2">
                <a:lumMod val="75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9" name="양쪽 모서리가 둥근 사각형 88"/>
          <p:cNvSpPr/>
          <p:nvPr/>
        </p:nvSpPr>
        <p:spPr>
          <a:xfrm>
            <a:off x="7496175" y="4994880"/>
            <a:ext cx="781050" cy="345054"/>
          </a:xfrm>
          <a:prstGeom prst="round2SameRect">
            <a:avLst>
              <a:gd name="adj1" fmla="val 50000"/>
              <a:gd name="adj2" fmla="val 0"/>
            </a:avLst>
          </a:prstGeom>
          <a:pattFill prst="lgGrid">
            <a:fgClr>
              <a:schemeClr val="accent4"/>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64</a:t>
            </a:r>
            <a:r>
              <a:rPr lang="ko-KR" altLang="en-US" dirty="0"/>
              <a:t>조</a:t>
            </a:r>
            <a:r>
              <a:rPr lang="en-US" altLang="ko-KR" dirty="0"/>
              <a:t>, </a:t>
            </a:r>
            <a:r>
              <a:rPr lang="ko-KR" altLang="en-US" dirty="0"/>
              <a:t>제</a:t>
            </a:r>
            <a:r>
              <a:rPr lang="en-US" altLang="ko-KR" dirty="0"/>
              <a:t>65</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출원공개의 시기</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2" name="TextBox 51"/>
          <p:cNvSpPr txBox="1"/>
          <p:nvPr/>
        </p:nvSpPr>
        <p:spPr>
          <a:xfrm>
            <a:off x="77874" y="986046"/>
            <a:ext cx="6208626" cy="2246769"/>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64</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출원공개</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지식재산처장은 다음 각 호의 구분에 따른 날부터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6</a:t>
            </a:r>
            <a:r>
              <a:rPr lang="ko-KR" altLang="en-US" sz="1400" dirty="0">
                <a:solidFill>
                  <a:schemeClr val="tx2"/>
                </a:solidFill>
              </a:rPr>
              <a:t>개월이 지난 후 또는 그 전이라도 </a:t>
            </a:r>
            <a:r>
              <a:rPr lang="ko-KR" altLang="en-US" sz="1400" dirty="0" err="1">
                <a:solidFill>
                  <a:schemeClr val="tx2"/>
                </a:solidFill>
              </a:rPr>
              <a:t>특허출원인이</a:t>
            </a:r>
            <a:r>
              <a:rPr lang="ko-KR" altLang="en-US" sz="1400" dirty="0">
                <a:solidFill>
                  <a:schemeClr val="tx2"/>
                </a:solidFill>
              </a:rPr>
              <a:t> 신청한 경우에는 총리령으로 정하는 바에 따라 그 특허출원에 관하여 특허공보에 게재하여 출원공개를 하여야 한다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제</a:t>
            </a:r>
            <a:r>
              <a:rPr lang="en-US" altLang="ko-KR" sz="1400" dirty="0">
                <a:solidFill>
                  <a:schemeClr val="tx2"/>
                </a:solidFill>
              </a:rPr>
              <a:t>54</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우선권 주장을 수반하는 특허출원의 경우</a:t>
            </a:r>
            <a:r>
              <a:rPr lang="en-US" altLang="ko-KR" sz="1400" dirty="0">
                <a:solidFill>
                  <a:schemeClr val="tx2"/>
                </a:solidFill>
              </a:rPr>
              <a:t>: </a:t>
            </a:r>
            <a:r>
              <a:rPr lang="ko-KR" altLang="en-US" sz="1400" dirty="0">
                <a:solidFill>
                  <a:schemeClr val="tx2"/>
                </a:solidFill>
              </a:rPr>
              <a:t>그 우선권 주장의 기초가 된 출원일</a:t>
            </a:r>
          </a:p>
          <a:p>
            <a:pPr fontAlgn="base"/>
            <a:r>
              <a:rPr lang="en-US" altLang="ko-KR" sz="1400" dirty="0">
                <a:solidFill>
                  <a:schemeClr val="tx2"/>
                </a:solidFill>
              </a:rPr>
              <a:t>2. </a:t>
            </a:r>
            <a:r>
              <a:rPr lang="ko-KR" altLang="en-US" sz="1400" dirty="0">
                <a:solidFill>
                  <a:schemeClr val="tx2"/>
                </a:solidFill>
              </a:rPr>
              <a:t>제</a:t>
            </a:r>
            <a:r>
              <a:rPr lang="en-US" altLang="ko-KR" sz="1400" dirty="0">
                <a:solidFill>
                  <a:schemeClr val="tx2"/>
                </a:solidFill>
              </a:rPr>
              <a:t>55</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우선권 주장을 수반하는 특허출원의 경우</a:t>
            </a:r>
            <a:r>
              <a:rPr lang="en-US" altLang="ko-KR" sz="1400" dirty="0">
                <a:solidFill>
                  <a:schemeClr val="tx2"/>
                </a:solidFill>
              </a:rPr>
              <a:t>: </a:t>
            </a:r>
            <a:r>
              <a:rPr lang="ko-KR" altLang="en-US" sz="1400" dirty="0" err="1">
                <a:solidFill>
                  <a:schemeClr val="tx2"/>
                </a:solidFill>
              </a:rPr>
              <a:t>선출원의</a:t>
            </a:r>
            <a:r>
              <a:rPr lang="ko-KR" altLang="en-US" sz="1400" dirty="0">
                <a:solidFill>
                  <a:schemeClr val="tx2"/>
                </a:solidFill>
              </a:rPr>
              <a:t> 출원일</a:t>
            </a:r>
          </a:p>
          <a:p>
            <a:pPr fontAlgn="base"/>
            <a:r>
              <a:rPr lang="en-US" altLang="ko-KR" sz="1400" dirty="0">
                <a:solidFill>
                  <a:schemeClr val="tx2"/>
                </a:solidFill>
              </a:rPr>
              <a:t>3. </a:t>
            </a:r>
            <a:r>
              <a:rPr lang="ko-KR" altLang="en-US" sz="1400" dirty="0">
                <a:solidFill>
                  <a:schemeClr val="tx2"/>
                </a:solidFill>
              </a:rPr>
              <a:t>제</a:t>
            </a:r>
            <a:r>
              <a:rPr lang="en-US" altLang="ko-KR" sz="1400" dirty="0">
                <a:solidFill>
                  <a:schemeClr val="tx2"/>
                </a:solidFill>
              </a:rPr>
              <a:t>54</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또는 제</a:t>
            </a:r>
            <a:r>
              <a:rPr lang="en-US" altLang="ko-KR" sz="1400" dirty="0">
                <a:solidFill>
                  <a:schemeClr val="tx2"/>
                </a:solidFill>
              </a:rPr>
              <a:t>55</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둘 이상의 우선권 주장을 수반하는 특허출원의 경우</a:t>
            </a:r>
            <a:r>
              <a:rPr lang="en-US" altLang="ko-KR" sz="1400" dirty="0">
                <a:solidFill>
                  <a:schemeClr val="tx2"/>
                </a:solidFill>
              </a:rPr>
              <a:t>: </a:t>
            </a:r>
            <a:r>
              <a:rPr lang="ko-KR" altLang="en-US" sz="1400" dirty="0">
                <a:solidFill>
                  <a:schemeClr val="tx2"/>
                </a:solidFill>
              </a:rPr>
              <a:t>해당 우선권 주장의 기초가 된 출원일 중 최우선일</a:t>
            </a:r>
          </a:p>
          <a:p>
            <a:pPr fontAlgn="base"/>
            <a:r>
              <a:rPr lang="en-US" altLang="ko-KR" sz="1400" dirty="0">
                <a:solidFill>
                  <a:schemeClr val="tx2"/>
                </a:solidFill>
              </a:rPr>
              <a:t>4.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호부터 제</a:t>
            </a:r>
            <a:r>
              <a:rPr lang="en-US" altLang="ko-KR" sz="1400" dirty="0">
                <a:solidFill>
                  <a:schemeClr val="tx2"/>
                </a:solidFill>
              </a:rPr>
              <a:t>3</a:t>
            </a:r>
            <a:r>
              <a:rPr lang="ko-KR" altLang="en-US" sz="1400" dirty="0">
                <a:solidFill>
                  <a:schemeClr val="tx2"/>
                </a:solidFill>
              </a:rPr>
              <a:t>호까지의 어느 하나에 해당하지 아니하는 특허출원의 경우</a:t>
            </a:r>
            <a:r>
              <a:rPr lang="en-US" altLang="ko-KR" sz="1400" dirty="0">
                <a:solidFill>
                  <a:schemeClr val="tx2"/>
                </a:solidFill>
              </a:rPr>
              <a:t>: </a:t>
            </a:r>
            <a:r>
              <a:rPr lang="ko-KR" altLang="en-US" sz="1400" dirty="0">
                <a:solidFill>
                  <a:schemeClr val="tx2"/>
                </a:solidFill>
              </a:rPr>
              <a:t>그 특허출원일</a:t>
            </a:r>
          </a:p>
        </p:txBody>
      </p:sp>
      <p:sp>
        <p:nvSpPr>
          <p:cNvPr id="26" name="TextBox 25"/>
          <p:cNvSpPr txBox="1"/>
          <p:nvPr/>
        </p:nvSpPr>
        <p:spPr>
          <a:xfrm>
            <a:off x="366522" y="3250693"/>
            <a:ext cx="4919853" cy="459701"/>
          </a:xfrm>
          <a:prstGeom prst="rect">
            <a:avLst/>
          </a:prstGeom>
          <a:noFill/>
        </p:spPr>
        <p:txBody>
          <a:bodyPr wrap="square" rtlCol="0">
            <a:spAutoFit/>
          </a:bodyPr>
          <a:lstStyle/>
          <a:p>
            <a:r>
              <a:rPr lang="ko-KR" altLang="en-US" sz="2800" dirty="0"/>
              <a:t>특허출원일로부터 </a:t>
            </a:r>
            <a:r>
              <a:rPr lang="en-US" altLang="ko-KR" sz="2800" dirty="0"/>
              <a:t>1</a:t>
            </a:r>
            <a:r>
              <a:rPr lang="ko-KR" altLang="en-US" sz="2800" dirty="0"/>
              <a:t>년 </a:t>
            </a:r>
            <a:r>
              <a:rPr lang="en-US" altLang="ko-KR" sz="2800" dirty="0"/>
              <a:t>6</a:t>
            </a:r>
            <a:r>
              <a:rPr lang="ko-KR" altLang="en-US" sz="2800" dirty="0"/>
              <a:t>개월</a:t>
            </a:r>
          </a:p>
        </p:txBody>
      </p:sp>
      <p:cxnSp>
        <p:nvCxnSpPr>
          <p:cNvPr id="27" name="직선 연결선 26"/>
          <p:cNvCxnSpPr/>
          <p:nvPr/>
        </p:nvCxnSpPr>
        <p:spPr>
          <a:xfrm>
            <a:off x="523875" y="3766031"/>
            <a:ext cx="2128647"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 name="직사각형 27"/>
          <p:cNvSpPr/>
          <p:nvPr/>
        </p:nvSpPr>
        <p:spPr>
          <a:xfrm>
            <a:off x="704850" y="4574044"/>
            <a:ext cx="795528" cy="385628"/>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err="1"/>
              <a:t>소급제도</a:t>
            </a:r>
            <a:endParaRPr lang="en-US" altLang="ko-KR" sz="1050" dirty="0"/>
          </a:p>
          <a:p>
            <a:pPr algn="ctr"/>
            <a:r>
              <a:rPr lang="en-US" altLang="ko-KR" sz="1050" dirty="0"/>
              <a:t>(7</a:t>
            </a:r>
            <a:r>
              <a:rPr lang="ko-KR" altLang="en-US" sz="1050" dirty="0"/>
              <a:t>가지</a:t>
            </a:r>
            <a:r>
              <a:rPr lang="en-US" altLang="ko-KR" sz="1050" dirty="0"/>
              <a:t>)</a:t>
            </a:r>
            <a:endParaRPr lang="ko-KR" altLang="en-US" sz="1050" dirty="0"/>
          </a:p>
        </p:txBody>
      </p:sp>
      <p:sp>
        <p:nvSpPr>
          <p:cNvPr id="29" name="직사각형 28"/>
          <p:cNvSpPr/>
          <p:nvPr/>
        </p:nvSpPr>
        <p:spPr>
          <a:xfrm>
            <a:off x="704850" y="6207825"/>
            <a:ext cx="795528" cy="385628"/>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t>PCT</a:t>
            </a:r>
            <a:endParaRPr lang="ko-KR" altLang="en-US" sz="1050" dirty="0"/>
          </a:p>
        </p:txBody>
      </p:sp>
      <p:sp>
        <p:nvSpPr>
          <p:cNvPr id="30" name="직사각형 29"/>
          <p:cNvSpPr/>
          <p:nvPr/>
        </p:nvSpPr>
        <p:spPr>
          <a:xfrm>
            <a:off x="1850522" y="3875964"/>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34</a:t>
            </a:r>
            <a:r>
              <a:rPr lang="ko-KR" altLang="en-US" sz="1050" dirty="0">
                <a:solidFill>
                  <a:schemeClr val="bg1">
                    <a:lumMod val="50000"/>
                  </a:schemeClr>
                </a:solidFill>
              </a:rPr>
              <a:t>조</a:t>
            </a:r>
            <a:r>
              <a:rPr lang="en-US" altLang="ko-KR" sz="1050" dirty="0">
                <a:solidFill>
                  <a:schemeClr val="bg1">
                    <a:lumMod val="50000"/>
                  </a:schemeClr>
                </a:solidFill>
              </a:rPr>
              <a:t>, </a:t>
            </a:r>
            <a:r>
              <a:rPr lang="ko-KR" altLang="en-US" sz="1050" dirty="0">
                <a:solidFill>
                  <a:schemeClr val="bg1">
                    <a:lumMod val="50000"/>
                  </a:schemeClr>
                </a:solidFill>
              </a:rPr>
              <a:t>제</a:t>
            </a:r>
            <a:r>
              <a:rPr lang="en-US" altLang="ko-KR" sz="1050" dirty="0">
                <a:solidFill>
                  <a:schemeClr val="bg1">
                    <a:lumMod val="50000"/>
                  </a:schemeClr>
                </a:solidFill>
              </a:rPr>
              <a:t>35</a:t>
            </a:r>
            <a:r>
              <a:rPr lang="ko-KR" altLang="en-US" sz="1050" dirty="0">
                <a:solidFill>
                  <a:schemeClr val="bg1">
                    <a:lumMod val="50000"/>
                  </a:schemeClr>
                </a:solidFill>
              </a:rPr>
              <a:t>조</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ko-KR" altLang="en-US" sz="1050" dirty="0">
                <a:solidFill>
                  <a:schemeClr val="bg1">
                    <a:lumMod val="50000"/>
                  </a:schemeClr>
                </a:solidFill>
              </a:rPr>
              <a:t>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31" name="직사각형 30"/>
          <p:cNvSpPr/>
          <p:nvPr/>
        </p:nvSpPr>
        <p:spPr>
          <a:xfrm>
            <a:off x="1850522" y="4614255"/>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52</a:t>
            </a:r>
            <a:r>
              <a:rPr lang="ko-KR" altLang="en-US" sz="1050" dirty="0">
                <a:solidFill>
                  <a:schemeClr val="bg1">
                    <a:lumMod val="50000"/>
                  </a:schemeClr>
                </a:solidFill>
              </a:rPr>
              <a:t>조</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ko-KR" altLang="en-US" sz="1050" dirty="0" err="1">
                <a:solidFill>
                  <a:schemeClr val="bg1">
                    <a:lumMod val="50000"/>
                  </a:schemeClr>
                </a:solidFill>
              </a:rPr>
              <a:t>확공조국등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32" name="직사각형 31"/>
          <p:cNvSpPr/>
          <p:nvPr/>
        </p:nvSpPr>
        <p:spPr>
          <a:xfrm>
            <a:off x="1850522" y="5345794"/>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53</a:t>
            </a:r>
            <a:r>
              <a:rPr lang="ko-KR" altLang="en-US" sz="1050" dirty="0">
                <a:solidFill>
                  <a:schemeClr val="bg1">
                    <a:lumMod val="50000"/>
                  </a:schemeClr>
                </a:solidFill>
              </a:rPr>
              <a:t>조</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ko-KR" altLang="en-US" sz="1050" dirty="0" err="1">
                <a:solidFill>
                  <a:schemeClr val="bg1">
                    <a:lumMod val="50000"/>
                  </a:schemeClr>
                </a:solidFill>
              </a:rPr>
              <a:t>확공조국등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33" name="직사각형 32"/>
          <p:cNvSpPr/>
          <p:nvPr/>
        </p:nvSpPr>
        <p:spPr>
          <a:xfrm>
            <a:off x="1850522" y="4242929"/>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47</a:t>
            </a:r>
            <a:r>
              <a:rPr lang="ko-KR" altLang="en-US" sz="1050" dirty="0">
                <a:solidFill>
                  <a:schemeClr val="bg1">
                    <a:lumMod val="50000"/>
                  </a:schemeClr>
                </a:solidFill>
              </a:rPr>
              <a:t>조</a:t>
            </a:r>
            <a:r>
              <a:rPr lang="en-US" altLang="ko-KR" sz="1050" dirty="0">
                <a:solidFill>
                  <a:schemeClr val="bg1">
                    <a:lumMod val="50000"/>
                  </a:schemeClr>
                </a:solidFill>
              </a:rPr>
              <a:t>, </a:t>
            </a:r>
            <a:r>
              <a:rPr lang="ko-KR" altLang="en-US" sz="1050" dirty="0">
                <a:solidFill>
                  <a:schemeClr val="bg1">
                    <a:lumMod val="50000"/>
                  </a:schemeClr>
                </a:solidFill>
              </a:rPr>
              <a:t>제</a:t>
            </a:r>
            <a:r>
              <a:rPr lang="en-US" altLang="ko-KR" sz="1050" dirty="0">
                <a:solidFill>
                  <a:schemeClr val="bg1">
                    <a:lumMod val="50000"/>
                  </a:schemeClr>
                </a:solidFill>
              </a:rPr>
              <a:t>51</a:t>
            </a:r>
            <a:r>
              <a:rPr lang="ko-KR" altLang="en-US" sz="1050" dirty="0">
                <a:solidFill>
                  <a:schemeClr val="bg1">
                    <a:lumMod val="50000"/>
                  </a:schemeClr>
                </a:solidFill>
              </a:rPr>
              <a:t>조</a:t>
            </a:r>
          </a:p>
        </p:txBody>
      </p:sp>
      <p:sp>
        <p:nvSpPr>
          <p:cNvPr id="34" name="직사각형 33"/>
          <p:cNvSpPr/>
          <p:nvPr/>
        </p:nvSpPr>
        <p:spPr>
          <a:xfrm>
            <a:off x="1850522" y="5726076"/>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54</a:t>
            </a:r>
            <a:r>
              <a:rPr lang="ko-KR" altLang="en-US" sz="1050" dirty="0">
                <a:solidFill>
                  <a:schemeClr val="bg1">
                    <a:lumMod val="50000"/>
                  </a:schemeClr>
                </a:solidFill>
              </a:rPr>
              <a:t>조</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ko-KR" altLang="en-US" sz="1050" b="1" dirty="0" err="1">
                <a:solidFill>
                  <a:schemeClr val="bg1">
                    <a:lumMod val="50000"/>
                  </a:schemeClr>
                </a:solidFill>
              </a:rPr>
              <a:t>심</a:t>
            </a:r>
            <a:r>
              <a:rPr lang="ko-KR" altLang="en-US" sz="1050" dirty="0" err="1">
                <a:solidFill>
                  <a:schemeClr val="bg1">
                    <a:lumMod val="50000"/>
                  </a:schemeClr>
                </a:solidFill>
              </a:rPr>
              <a:t>공존재등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35" name="직사각형 34"/>
          <p:cNvSpPr/>
          <p:nvPr/>
        </p:nvSpPr>
        <p:spPr>
          <a:xfrm>
            <a:off x="1850522" y="6097402"/>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55</a:t>
            </a:r>
            <a:r>
              <a:rPr lang="ko-KR" altLang="en-US" sz="1050" dirty="0">
                <a:solidFill>
                  <a:schemeClr val="bg1">
                    <a:lumMod val="50000"/>
                  </a:schemeClr>
                </a:solidFill>
              </a:rPr>
              <a:t>조</a:t>
            </a:r>
            <a:r>
              <a:rPr lang="en-US" altLang="ko-KR" sz="1050" dirty="0">
                <a:solidFill>
                  <a:schemeClr val="bg1">
                    <a:lumMod val="50000"/>
                  </a:schemeClr>
                </a:solidFill>
              </a:rPr>
              <a:t>, </a:t>
            </a:r>
            <a:r>
              <a:rPr lang="ko-KR" altLang="en-US" sz="1050" dirty="0">
                <a:solidFill>
                  <a:schemeClr val="bg1">
                    <a:lumMod val="50000"/>
                  </a:schemeClr>
                </a:solidFill>
              </a:rPr>
              <a:t>제</a:t>
            </a:r>
            <a:r>
              <a:rPr lang="en-US" altLang="ko-KR" sz="1050" dirty="0">
                <a:solidFill>
                  <a:schemeClr val="bg1">
                    <a:lumMod val="50000"/>
                  </a:schemeClr>
                </a:solidFill>
              </a:rPr>
              <a:t>56</a:t>
            </a:r>
            <a:r>
              <a:rPr lang="ko-KR" altLang="en-US" sz="1050" dirty="0">
                <a:solidFill>
                  <a:schemeClr val="bg1">
                    <a:lumMod val="50000"/>
                  </a:schemeClr>
                </a:solidFill>
              </a:rPr>
              <a:t>조</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ko-KR" altLang="en-US" sz="1050" b="1" dirty="0">
                <a:solidFill>
                  <a:schemeClr val="bg1">
                    <a:lumMod val="50000"/>
                  </a:schemeClr>
                </a:solidFill>
              </a:rPr>
              <a:t>심</a:t>
            </a:r>
            <a:r>
              <a:rPr lang="ko-KR" altLang="en-US" sz="1050" dirty="0">
                <a:solidFill>
                  <a:schemeClr val="bg1">
                    <a:lumMod val="50000"/>
                  </a:schemeClr>
                </a:solidFill>
              </a:rPr>
              <a:t>공존재등이</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36" name="직사각형 35"/>
          <p:cNvSpPr/>
          <p:nvPr/>
        </p:nvSpPr>
        <p:spPr>
          <a:xfrm>
            <a:off x="1850522" y="6499844"/>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207</a:t>
            </a:r>
            <a:r>
              <a:rPr lang="ko-KR" altLang="en-US" sz="1050" dirty="0">
                <a:solidFill>
                  <a:schemeClr val="bg1">
                    <a:lumMod val="50000"/>
                  </a:schemeClr>
                </a:solidFill>
              </a:rPr>
              <a:t>조</a:t>
            </a:r>
          </a:p>
        </p:txBody>
      </p:sp>
      <p:cxnSp>
        <p:nvCxnSpPr>
          <p:cNvPr id="37" name="꺾인 연결선 36"/>
          <p:cNvCxnSpPr>
            <a:stCxn id="28" idx="3"/>
            <a:endCxn id="30" idx="1"/>
          </p:cNvCxnSpPr>
          <p:nvPr/>
        </p:nvCxnSpPr>
        <p:spPr>
          <a:xfrm flipV="1">
            <a:off x="1500378" y="4042340"/>
            <a:ext cx="350144" cy="72451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28" idx="3"/>
            <a:endCxn id="35" idx="1"/>
          </p:cNvCxnSpPr>
          <p:nvPr/>
        </p:nvCxnSpPr>
        <p:spPr>
          <a:xfrm>
            <a:off x="1500378" y="4766858"/>
            <a:ext cx="350144" cy="149692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28" idx="3"/>
            <a:endCxn id="33" idx="1"/>
          </p:cNvCxnSpPr>
          <p:nvPr/>
        </p:nvCxnSpPr>
        <p:spPr>
          <a:xfrm flipV="1">
            <a:off x="1500378" y="4409305"/>
            <a:ext cx="350144" cy="35755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28" idx="3"/>
            <a:endCxn id="34" idx="1"/>
          </p:cNvCxnSpPr>
          <p:nvPr/>
        </p:nvCxnSpPr>
        <p:spPr>
          <a:xfrm>
            <a:off x="1500378" y="4766858"/>
            <a:ext cx="350144" cy="112559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28" idx="3"/>
            <a:endCxn id="31" idx="1"/>
          </p:cNvCxnSpPr>
          <p:nvPr/>
        </p:nvCxnSpPr>
        <p:spPr>
          <a:xfrm>
            <a:off x="1500378" y="4766858"/>
            <a:ext cx="350144" cy="1377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28" idx="3"/>
            <a:endCxn id="32" idx="1"/>
          </p:cNvCxnSpPr>
          <p:nvPr/>
        </p:nvCxnSpPr>
        <p:spPr>
          <a:xfrm>
            <a:off x="1500378" y="4766858"/>
            <a:ext cx="350144" cy="74531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29" idx="3"/>
            <a:endCxn id="36" idx="1"/>
          </p:cNvCxnSpPr>
          <p:nvPr/>
        </p:nvCxnSpPr>
        <p:spPr>
          <a:xfrm>
            <a:off x="1500378" y="6400639"/>
            <a:ext cx="350144" cy="26558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28" idx="1"/>
            <a:endCxn id="29" idx="1"/>
          </p:cNvCxnSpPr>
          <p:nvPr/>
        </p:nvCxnSpPr>
        <p:spPr>
          <a:xfrm rot="10800000" flipV="1">
            <a:off x="704850" y="4766858"/>
            <a:ext cx="12700" cy="1633781"/>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자유형 44"/>
          <p:cNvSpPr/>
          <p:nvPr/>
        </p:nvSpPr>
        <p:spPr>
          <a:xfrm>
            <a:off x="366522" y="3766031"/>
            <a:ext cx="1188720" cy="1731913"/>
          </a:xfrm>
          <a:custGeom>
            <a:avLst/>
            <a:gdLst>
              <a:gd name="connsiteX0" fmla="*/ 1188720 w 1188720"/>
              <a:gd name="connsiteY0" fmla="*/ 0 h 1764792"/>
              <a:gd name="connsiteX1" fmla="*/ 1188720 w 1188720"/>
              <a:gd name="connsiteY1" fmla="*/ 265176 h 1764792"/>
              <a:gd name="connsiteX2" fmla="*/ 0 w 1188720"/>
              <a:gd name="connsiteY2" fmla="*/ 265176 h 1764792"/>
              <a:gd name="connsiteX3" fmla="*/ 0 w 1188720"/>
              <a:gd name="connsiteY3" fmla="*/ 374904 h 1764792"/>
              <a:gd name="connsiteX4" fmla="*/ 0 w 1188720"/>
              <a:gd name="connsiteY4" fmla="*/ 1764792 h 1764792"/>
              <a:gd name="connsiteX5" fmla="*/ 128016 w 1188720"/>
              <a:gd name="connsiteY5" fmla="*/ 1764792 h 176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8720" h="1764792">
                <a:moveTo>
                  <a:pt x="1188720" y="0"/>
                </a:moveTo>
                <a:lnTo>
                  <a:pt x="1188720" y="265176"/>
                </a:lnTo>
                <a:lnTo>
                  <a:pt x="0" y="265176"/>
                </a:lnTo>
                <a:lnTo>
                  <a:pt x="0" y="374904"/>
                </a:lnTo>
                <a:lnTo>
                  <a:pt x="0" y="1764792"/>
                </a:lnTo>
                <a:lnTo>
                  <a:pt x="128016" y="1764792"/>
                </a:lnTo>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cxnSp>
        <p:nvCxnSpPr>
          <p:cNvPr id="46" name="직선 연결선 45"/>
          <p:cNvCxnSpPr/>
          <p:nvPr/>
        </p:nvCxnSpPr>
        <p:spPr>
          <a:xfrm>
            <a:off x="3114675" y="3766031"/>
            <a:ext cx="1476375"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직선 연결선 59"/>
          <p:cNvCxnSpPr/>
          <p:nvPr/>
        </p:nvCxnSpPr>
        <p:spPr>
          <a:xfrm flipV="1">
            <a:off x="6362700" y="986046"/>
            <a:ext cx="0" cy="560740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직사각형 63"/>
          <p:cNvSpPr/>
          <p:nvPr/>
        </p:nvSpPr>
        <p:spPr>
          <a:xfrm>
            <a:off x="3514725" y="4855212"/>
            <a:ext cx="1076325" cy="385628"/>
          </a:xfrm>
          <a:prstGeom prst="rect">
            <a:avLst/>
          </a:prstGeom>
          <a:solidFill>
            <a:schemeClr val="tx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t>조기공개신청</a:t>
            </a:r>
            <a:endParaRPr lang="en-US" altLang="ko-KR" sz="1050" dirty="0"/>
          </a:p>
          <a:p>
            <a:pPr algn="ctr"/>
            <a:r>
              <a:rPr lang="ko-KR" altLang="en-US" sz="1050" dirty="0"/>
              <a:t>가능</a:t>
            </a:r>
          </a:p>
        </p:txBody>
      </p:sp>
      <p:cxnSp>
        <p:nvCxnSpPr>
          <p:cNvPr id="21" name="꺾인 연결선 20"/>
          <p:cNvCxnSpPr>
            <a:cxnSpLocks/>
            <a:stCxn id="64" idx="1"/>
          </p:cNvCxnSpPr>
          <p:nvPr/>
        </p:nvCxnSpPr>
        <p:spPr>
          <a:xfrm rot="10800000" flipH="1">
            <a:off x="3514724" y="3821670"/>
            <a:ext cx="795335" cy="1226357"/>
          </a:xfrm>
          <a:prstGeom prst="bentConnector4">
            <a:avLst>
              <a:gd name="adj1" fmla="val -28743"/>
              <a:gd name="adj2" fmla="val 5786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6488199" y="986046"/>
            <a:ext cx="5560926" cy="3108543"/>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pPr fontAlgn="base"/>
            <a:r>
              <a:rPr lang="ko-KR" altLang="en-US" sz="1400" b="1" dirty="0">
                <a:solidFill>
                  <a:schemeClr val="accent1"/>
                </a:solidFill>
              </a:rPr>
              <a:t>시행규칙 제</a:t>
            </a:r>
            <a:r>
              <a:rPr lang="en-US" altLang="ko-KR" sz="1400" b="1" dirty="0">
                <a:solidFill>
                  <a:schemeClr val="accent1"/>
                </a:solidFill>
              </a:rPr>
              <a:t>44</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조기공개 등의 신청</a:t>
            </a:r>
            <a:r>
              <a:rPr lang="en-US" altLang="ko-KR" sz="1400" b="1" dirty="0">
                <a:solidFill>
                  <a:schemeClr val="accent1"/>
                </a:solidFill>
              </a:rPr>
              <a:t>)</a:t>
            </a:r>
            <a:r>
              <a:rPr lang="en-US" altLang="ko-KR" sz="1400" dirty="0">
                <a:solidFill>
                  <a:schemeClr val="accent1"/>
                </a:solidFill>
              </a:rPr>
              <a:t> </a:t>
            </a:r>
            <a:r>
              <a:rPr lang="en-US" altLang="ko-KR" sz="1400" dirty="0">
                <a:solidFill>
                  <a:schemeClr val="tx2"/>
                </a:solidFill>
              </a:rPr>
              <a:t>①</a:t>
            </a:r>
            <a:r>
              <a:rPr lang="ko-KR" altLang="en-US" sz="1400" dirty="0">
                <a:solidFill>
                  <a:schemeClr val="tx2"/>
                </a:solidFill>
              </a:rPr>
              <a:t>법 제</a:t>
            </a:r>
            <a:r>
              <a:rPr lang="en-US" altLang="ko-KR" sz="1400" dirty="0">
                <a:solidFill>
                  <a:schemeClr val="tx2"/>
                </a:solidFill>
              </a:rPr>
              <a:t>64</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따라 </a:t>
            </a:r>
            <a:r>
              <a:rPr lang="ko-KR" altLang="en-US" sz="1400" dirty="0" err="1">
                <a:solidFill>
                  <a:schemeClr val="tx2"/>
                </a:solidFill>
              </a:rPr>
              <a:t>특허출원일부터</a:t>
            </a:r>
            <a:r>
              <a:rPr lang="ko-KR" altLang="en-US" sz="1400" dirty="0">
                <a:solidFill>
                  <a:schemeClr val="tx2"/>
                </a:solidFill>
              </a:rPr>
              <a:t> </a:t>
            </a:r>
            <a:r>
              <a:rPr lang="en-US" altLang="ko-KR" sz="1400" dirty="0">
                <a:solidFill>
                  <a:schemeClr val="tx2"/>
                </a:solidFill>
              </a:rPr>
              <a:t>1</a:t>
            </a:r>
            <a:r>
              <a:rPr lang="ko-KR" altLang="en-US" sz="1400" dirty="0">
                <a:solidFill>
                  <a:schemeClr val="tx2"/>
                </a:solidFill>
              </a:rPr>
              <a:t>년 </a:t>
            </a:r>
            <a:r>
              <a:rPr lang="en-US" altLang="ko-KR" sz="1400" dirty="0">
                <a:solidFill>
                  <a:schemeClr val="tx2"/>
                </a:solidFill>
              </a:rPr>
              <a:t>6</a:t>
            </a:r>
            <a:r>
              <a:rPr lang="ko-KR" altLang="en-US" sz="1400" dirty="0">
                <a:solidFill>
                  <a:schemeClr val="tx2"/>
                </a:solidFill>
              </a:rPr>
              <a:t>개월이 경과하기 전에 특허출원의 공개를 신청하려는 자는 별지 제</a:t>
            </a:r>
            <a:r>
              <a:rPr lang="en-US" altLang="ko-KR" sz="1400" dirty="0">
                <a:solidFill>
                  <a:schemeClr val="tx2"/>
                </a:solidFill>
              </a:rPr>
              <a:t>25</a:t>
            </a:r>
            <a:r>
              <a:rPr lang="ko-KR" altLang="en-US" sz="1400" dirty="0">
                <a:solidFill>
                  <a:schemeClr val="tx2"/>
                </a:solidFill>
              </a:rPr>
              <a:t>호서식의 조기공개신청서를 지식재산처장에게 제출하여야 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특허출원과 동시에 공개를 신청하려는 경우</a:t>
            </a:r>
            <a:r>
              <a:rPr lang="en-US" altLang="ko-KR" sz="1400" dirty="0">
                <a:solidFill>
                  <a:schemeClr val="tx2"/>
                </a:solidFill>
              </a:rPr>
              <a:t>(</a:t>
            </a:r>
            <a:r>
              <a:rPr lang="ko-KR" altLang="en-US" sz="1400" dirty="0">
                <a:solidFill>
                  <a:schemeClr val="tx2"/>
                </a:solidFill>
              </a:rPr>
              <a:t>청구범위가 기재된 명세서가 첨부된 경우만 해당한다</a:t>
            </a:r>
            <a:r>
              <a:rPr lang="en-US" altLang="ko-KR" sz="1400" dirty="0">
                <a:solidFill>
                  <a:schemeClr val="tx2"/>
                </a:solidFill>
              </a:rPr>
              <a:t>)</a:t>
            </a:r>
            <a:r>
              <a:rPr lang="ko-KR" altLang="en-US" sz="1400" dirty="0">
                <a:solidFill>
                  <a:schemeClr val="tx2"/>
                </a:solidFill>
              </a:rPr>
              <a:t>에는 </a:t>
            </a:r>
            <a:r>
              <a:rPr lang="ko-KR" altLang="en-US" sz="1400" dirty="0" err="1">
                <a:solidFill>
                  <a:schemeClr val="tx2"/>
                </a:solidFill>
              </a:rPr>
              <a:t>출원서에</a:t>
            </a:r>
            <a:r>
              <a:rPr lang="ko-KR" altLang="en-US" sz="1400" dirty="0">
                <a:solidFill>
                  <a:schemeClr val="tx2"/>
                </a:solidFill>
              </a:rPr>
              <a:t> 그 취지를 기재함으로써 신청서의 제출에 갈음할 수 있다</a:t>
            </a:r>
            <a:r>
              <a:rPr lang="en-US" altLang="ko-KR" sz="1400" dirty="0">
                <a:solidFill>
                  <a:schemeClr val="tx2"/>
                </a:solidFill>
              </a:rPr>
              <a:t>.  </a:t>
            </a:r>
          </a:p>
          <a:p>
            <a:pPr fontAlgn="base"/>
            <a:r>
              <a:rPr lang="en-US" altLang="ko-KR" sz="1400" dirty="0">
                <a:solidFill>
                  <a:schemeClr val="tx2"/>
                </a:solidFill>
              </a:rPr>
              <a:t>②</a:t>
            </a:r>
            <a:r>
              <a:rPr lang="ko-KR" altLang="en-US" sz="1400" dirty="0">
                <a:solidFill>
                  <a:schemeClr val="tx2"/>
                </a:solidFill>
              </a:rPr>
              <a:t>외국어특허출원 또는 국제특허출원의 경우에는 법 제</a:t>
            </a:r>
            <a:r>
              <a:rPr lang="en-US" altLang="ko-KR" sz="1400" dirty="0">
                <a:solidFill>
                  <a:schemeClr val="tx2"/>
                </a:solidFill>
              </a:rPr>
              <a:t>42</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 또는 법 제</a:t>
            </a:r>
            <a:r>
              <a:rPr lang="en-US" altLang="ko-KR" sz="1400" dirty="0">
                <a:solidFill>
                  <a:schemeClr val="tx2"/>
                </a:solidFill>
              </a:rPr>
              <a:t>201</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따라 국어번역문을 제출한 후가 아니면 조기공개의 신청을 할 수 없다</a:t>
            </a:r>
            <a:r>
              <a:rPr lang="en-US" altLang="ko-KR" sz="1400" dirty="0">
                <a:solidFill>
                  <a:schemeClr val="tx2"/>
                </a:solidFill>
              </a:rPr>
              <a:t>. </a:t>
            </a:r>
          </a:p>
          <a:p>
            <a:pPr fontAlgn="base"/>
            <a:r>
              <a:rPr lang="en-US" altLang="ko-KR" sz="1400" dirty="0">
                <a:solidFill>
                  <a:schemeClr val="tx2"/>
                </a:solidFill>
              </a:rPr>
              <a:t>③</a:t>
            </a:r>
            <a:r>
              <a:rPr lang="ko-KR" altLang="en-US" sz="1400" dirty="0">
                <a:solidFill>
                  <a:schemeClr val="tx2"/>
                </a:solidFill>
              </a:rPr>
              <a:t>특허에 관한 절차를 밟는 자가 제</a:t>
            </a:r>
            <a:r>
              <a:rPr lang="en-US" altLang="ko-KR" sz="1400" dirty="0">
                <a:solidFill>
                  <a:schemeClr val="tx2"/>
                </a:solidFill>
              </a:rPr>
              <a:t>1</a:t>
            </a:r>
            <a:r>
              <a:rPr lang="ko-KR" altLang="en-US" sz="1400" dirty="0">
                <a:solidFill>
                  <a:schemeClr val="tx2"/>
                </a:solidFill>
              </a:rPr>
              <a:t>항의 규정에 의한 조기공개의 신청을 취하하고자 하는 경우에는 </a:t>
            </a:r>
            <a:r>
              <a:rPr lang="ko-KR" altLang="en-US" sz="1400" dirty="0">
                <a:solidFill>
                  <a:srgbClr val="FF0000"/>
                </a:solidFill>
              </a:rPr>
              <a:t>조기공개신청서를 제출한 날부터 </a:t>
            </a:r>
            <a:r>
              <a:rPr lang="en-US" altLang="ko-KR" sz="1400" dirty="0">
                <a:solidFill>
                  <a:srgbClr val="FF0000"/>
                </a:solidFill>
              </a:rPr>
              <a:t>10</a:t>
            </a:r>
            <a:r>
              <a:rPr lang="ko-KR" altLang="en-US" sz="1400" dirty="0">
                <a:solidFill>
                  <a:srgbClr val="FF0000"/>
                </a:solidFill>
              </a:rPr>
              <a:t>일 이내</a:t>
            </a:r>
            <a:r>
              <a:rPr lang="ko-KR" altLang="en-US" sz="1400" dirty="0">
                <a:solidFill>
                  <a:schemeClr val="tx2"/>
                </a:solidFill>
              </a:rPr>
              <a:t>에 별지 제</a:t>
            </a:r>
            <a:r>
              <a:rPr lang="en-US" altLang="ko-KR" sz="1400" dirty="0">
                <a:solidFill>
                  <a:schemeClr val="tx2"/>
                </a:solidFill>
              </a:rPr>
              <a:t>12</a:t>
            </a:r>
            <a:r>
              <a:rPr lang="ko-KR" altLang="en-US" sz="1400" dirty="0" err="1">
                <a:solidFill>
                  <a:schemeClr val="tx2"/>
                </a:solidFill>
              </a:rPr>
              <a:t>호서식의</a:t>
            </a:r>
            <a:r>
              <a:rPr lang="ko-KR" altLang="en-US" sz="1400" dirty="0">
                <a:solidFill>
                  <a:schemeClr val="tx2"/>
                </a:solidFill>
              </a:rPr>
              <a:t> </a:t>
            </a:r>
            <a:r>
              <a:rPr lang="ko-KR" altLang="en-US" sz="1400" dirty="0" err="1">
                <a:solidFill>
                  <a:schemeClr val="tx2"/>
                </a:solidFill>
              </a:rPr>
              <a:t>취하서를</a:t>
            </a:r>
            <a:r>
              <a:rPr lang="ko-KR" altLang="en-US" sz="1400" dirty="0">
                <a:solidFill>
                  <a:schemeClr val="tx2"/>
                </a:solidFill>
              </a:rPr>
              <a:t> 제출하여야 한다</a:t>
            </a:r>
            <a:r>
              <a:rPr lang="en-US" altLang="ko-KR" sz="1400" dirty="0">
                <a:solidFill>
                  <a:schemeClr val="tx2"/>
                </a:solidFill>
              </a:rPr>
              <a:t>. </a:t>
            </a:r>
          </a:p>
          <a:p>
            <a:pPr fontAlgn="base"/>
            <a:r>
              <a:rPr lang="en-US" altLang="ko-KR" sz="1400" dirty="0">
                <a:solidFill>
                  <a:schemeClr val="tx2"/>
                </a:solidFill>
              </a:rPr>
              <a:t>④</a:t>
            </a:r>
            <a:r>
              <a:rPr lang="ko-KR" altLang="en-US" sz="1400" dirty="0">
                <a:solidFill>
                  <a:schemeClr val="tx2"/>
                </a:solidFill>
              </a:rPr>
              <a:t>대리인이 제</a:t>
            </a:r>
            <a:r>
              <a:rPr lang="en-US" altLang="ko-KR" sz="1400" dirty="0">
                <a:solidFill>
                  <a:schemeClr val="tx2"/>
                </a:solidFill>
              </a:rPr>
              <a:t>1</a:t>
            </a:r>
            <a:r>
              <a:rPr lang="ko-KR" altLang="en-US" sz="1400" dirty="0">
                <a:solidFill>
                  <a:schemeClr val="tx2"/>
                </a:solidFill>
              </a:rPr>
              <a:t>항 내지 제</a:t>
            </a:r>
            <a:r>
              <a:rPr lang="en-US" altLang="ko-KR" sz="1400" dirty="0">
                <a:solidFill>
                  <a:schemeClr val="tx2"/>
                </a:solidFill>
              </a:rPr>
              <a:t>3</a:t>
            </a:r>
            <a:r>
              <a:rPr lang="ko-KR" altLang="en-US" sz="1400" dirty="0">
                <a:solidFill>
                  <a:schemeClr val="tx2"/>
                </a:solidFill>
              </a:rPr>
              <a:t>항의 규정에 의한 절차를 밟고자 하는 경우에는 그 대리권을 증명하는 서류를 첨부하여야 한다</a:t>
            </a:r>
            <a:r>
              <a:rPr lang="en-US" altLang="ko-KR" sz="1400" dirty="0">
                <a:solidFill>
                  <a:schemeClr val="tx2"/>
                </a:solidFill>
              </a:rPr>
              <a:t>.</a:t>
            </a:r>
            <a:endParaRPr lang="ko-KR" altLang="en-US" sz="1400" dirty="0">
              <a:solidFill>
                <a:schemeClr val="tx2"/>
              </a:solidFill>
            </a:endParaRPr>
          </a:p>
        </p:txBody>
      </p:sp>
      <p:cxnSp>
        <p:nvCxnSpPr>
          <p:cNvPr id="71" name="직선 화살표 연결선 70"/>
          <p:cNvCxnSpPr/>
          <p:nvPr/>
        </p:nvCxnSpPr>
        <p:spPr>
          <a:xfrm>
            <a:off x="6955582" y="5350795"/>
            <a:ext cx="5017343"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2" name="직사각형 71"/>
          <p:cNvSpPr/>
          <p:nvPr/>
        </p:nvSpPr>
        <p:spPr>
          <a:xfrm>
            <a:off x="6694937" y="5244023"/>
            <a:ext cx="801238" cy="25392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a:t>
            </a:r>
            <a:r>
              <a:rPr lang="en-US" altLang="ko-KR" sz="1000" dirty="0">
                <a:solidFill>
                  <a:schemeClr val="tx1"/>
                </a:solidFill>
              </a:rPr>
              <a:t>(X)</a:t>
            </a:r>
            <a:endParaRPr lang="ko-KR" altLang="en-US" sz="1000" dirty="0">
              <a:solidFill>
                <a:schemeClr val="tx1"/>
              </a:solidFill>
            </a:endParaRPr>
          </a:p>
        </p:txBody>
      </p:sp>
      <p:sp>
        <p:nvSpPr>
          <p:cNvPr id="74" name="직사각형 73"/>
          <p:cNvSpPr/>
          <p:nvPr/>
        </p:nvSpPr>
        <p:spPr>
          <a:xfrm>
            <a:off x="6694937" y="4491815"/>
            <a:ext cx="801238" cy="25392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B</a:t>
            </a:r>
            <a:endParaRPr lang="ko-KR" altLang="en-US" sz="1000" dirty="0">
              <a:solidFill>
                <a:schemeClr val="tx1"/>
              </a:solidFill>
            </a:endParaRPr>
          </a:p>
        </p:txBody>
      </p:sp>
      <p:sp>
        <p:nvSpPr>
          <p:cNvPr id="75" name="직사각형 74"/>
          <p:cNvSpPr/>
          <p:nvPr/>
        </p:nvSpPr>
        <p:spPr>
          <a:xfrm>
            <a:off x="6694937" y="4241772"/>
            <a:ext cx="801238" cy="25392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a:t>
            </a:r>
            <a:endParaRPr lang="ko-KR" altLang="en-US" sz="1000" dirty="0">
              <a:solidFill>
                <a:schemeClr val="tx1"/>
              </a:solidFill>
            </a:endParaRPr>
          </a:p>
        </p:txBody>
      </p:sp>
      <p:sp>
        <p:nvSpPr>
          <p:cNvPr id="76" name="직사각형 75"/>
          <p:cNvSpPr/>
          <p:nvPr/>
        </p:nvSpPr>
        <p:spPr>
          <a:xfrm>
            <a:off x="7799268" y="5244023"/>
            <a:ext cx="801238" cy="25392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조기공개</a:t>
            </a:r>
            <a:r>
              <a:rPr lang="en-US" altLang="ko-KR" sz="1000" dirty="0">
                <a:solidFill>
                  <a:schemeClr val="tx1"/>
                </a:solidFill>
              </a:rPr>
              <a:t>(X)</a:t>
            </a:r>
            <a:endParaRPr lang="ko-KR" altLang="en-US" sz="1000" dirty="0">
              <a:solidFill>
                <a:schemeClr val="tx1"/>
              </a:solidFill>
            </a:endParaRPr>
          </a:p>
        </p:txBody>
      </p:sp>
      <p:sp>
        <p:nvSpPr>
          <p:cNvPr id="79" name="직사각형 78"/>
          <p:cNvSpPr/>
          <p:nvPr/>
        </p:nvSpPr>
        <p:spPr>
          <a:xfrm>
            <a:off x="8969550" y="5244023"/>
            <a:ext cx="801238" cy="25392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a:t>
            </a:r>
            <a:r>
              <a:rPr lang="en-US" altLang="ko-KR" sz="1000" dirty="0">
                <a:solidFill>
                  <a:schemeClr val="tx1"/>
                </a:solidFill>
              </a:rPr>
              <a:t>(Y)</a:t>
            </a:r>
            <a:endParaRPr lang="ko-KR" altLang="en-US" sz="1000" dirty="0">
              <a:solidFill>
                <a:schemeClr val="tx1"/>
              </a:solidFill>
            </a:endParaRPr>
          </a:p>
        </p:txBody>
      </p:sp>
      <p:sp>
        <p:nvSpPr>
          <p:cNvPr id="80" name="직사각형 79"/>
          <p:cNvSpPr/>
          <p:nvPr/>
        </p:nvSpPr>
        <p:spPr>
          <a:xfrm>
            <a:off x="8969550" y="4491815"/>
            <a:ext cx="801238" cy="25392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B, C</a:t>
            </a:r>
            <a:endParaRPr lang="ko-KR" altLang="en-US" sz="1000" dirty="0">
              <a:solidFill>
                <a:schemeClr val="tx1"/>
              </a:solidFill>
            </a:endParaRPr>
          </a:p>
        </p:txBody>
      </p:sp>
      <p:sp>
        <p:nvSpPr>
          <p:cNvPr id="81" name="직사각형 80"/>
          <p:cNvSpPr/>
          <p:nvPr/>
        </p:nvSpPr>
        <p:spPr>
          <a:xfrm>
            <a:off x="8969550" y="4241772"/>
            <a:ext cx="801238" cy="25392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A, C</a:t>
            </a:r>
            <a:endParaRPr lang="ko-KR" altLang="en-US" sz="1000" dirty="0">
              <a:solidFill>
                <a:schemeClr val="tx1"/>
              </a:solidFill>
            </a:endParaRPr>
          </a:p>
        </p:txBody>
      </p:sp>
      <p:sp>
        <p:nvSpPr>
          <p:cNvPr id="82" name="직사각형 81"/>
          <p:cNvSpPr/>
          <p:nvPr/>
        </p:nvSpPr>
        <p:spPr>
          <a:xfrm>
            <a:off x="8969550" y="5497945"/>
            <a:ext cx="801238" cy="253922"/>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우선권주장</a:t>
            </a:r>
          </a:p>
        </p:txBody>
      </p:sp>
      <p:sp>
        <p:nvSpPr>
          <p:cNvPr id="83" name="직사각형 82"/>
          <p:cNvSpPr/>
          <p:nvPr/>
        </p:nvSpPr>
        <p:spPr>
          <a:xfrm>
            <a:off x="9961443" y="5244023"/>
            <a:ext cx="801238" cy="25392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취하</a:t>
            </a:r>
            <a:r>
              <a:rPr lang="en-US" altLang="ko-KR" sz="1000" dirty="0">
                <a:solidFill>
                  <a:schemeClr val="tx1"/>
                </a:solidFill>
              </a:rPr>
              <a:t>(X)</a:t>
            </a:r>
            <a:endParaRPr lang="ko-KR" altLang="en-US" sz="1000" dirty="0">
              <a:solidFill>
                <a:schemeClr val="tx1"/>
              </a:solidFill>
            </a:endParaRPr>
          </a:p>
        </p:txBody>
      </p:sp>
      <p:sp>
        <p:nvSpPr>
          <p:cNvPr id="84" name="직사각형 83"/>
          <p:cNvSpPr/>
          <p:nvPr/>
        </p:nvSpPr>
        <p:spPr>
          <a:xfrm>
            <a:off x="10983519" y="5244023"/>
            <a:ext cx="801238" cy="25392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공개</a:t>
            </a:r>
            <a:r>
              <a:rPr lang="en-US" altLang="ko-KR" sz="1000" dirty="0">
                <a:solidFill>
                  <a:schemeClr val="tx1"/>
                </a:solidFill>
              </a:rPr>
              <a:t>(Y)</a:t>
            </a:r>
            <a:endParaRPr lang="ko-KR" altLang="en-US" sz="1000" dirty="0">
              <a:solidFill>
                <a:schemeClr val="tx1"/>
              </a:solidFill>
            </a:endParaRPr>
          </a:p>
        </p:txBody>
      </p:sp>
      <p:cxnSp>
        <p:nvCxnSpPr>
          <p:cNvPr id="85" name="직선 연결선 84"/>
          <p:cNvCxnSpPr>
            <a:stCxn id="74" idx="2"/>
          </p:cNvCxnSpPr>
          <p:nvPr/>
        </p:nvCxnSpPr>
        <p:spPr>
          <a:xfrm>
            <a:off x="7095556" y="4745737"/>
            <a:ext cx="0" cy="4951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7" name="직선 연결선 86"/>
          <p:cNvCxnSpPr>
            <a:stCxn id="80" idx="2"/>
            <a:endCxn id="79" idx="0"/>
          </p:cNvCxnSpPr>
          <p:nvPr/>
        </p:nvCxnSpPr>
        <p:spPr>
          <a:xfrm>
            <a:off x="9370169" y="4745737"/>
            <a:ext cx="0" cy="49828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직사각형 89"/>
          <p:cNvSpPr/>
          <p:nvPr/>
        </p:nvSpPr>
        <p:spPr>
          <a:xfrm>
            <a:off x="11963399" y="4847197"/>
            <a:ext cx="181273" cy="9037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4" name="직사각형 93"/>
          <p:cNvSpPr/>
          <p:nvPr/>
        </p:nvSpPr>
        <p:spPr>
          <a:xfrm>
            <a:off x="7496175" y="4785972"/>
            <a:ext cx="801238" cy="2539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의</a:t>
            </a:r>
            <a:r>
              <a:rPr lang="en-US" altLang="ko-KR" sz="1000" dirty="0">
                <a:solidFill>
                  <a:schemeClr val="tx1"/>
                </a:solidFill>
              </a:rPr>
              <a:t> A, B</a:t>
            </a:r>
            <a:endParaRPr lang="ko-KR" altLang="en-US" sz="1000" dirty="0">
              <a:solidFill>
                <a:schemeClr val="tx1"/>
              </a:solidFill>
            </a:endParaRPr>
          </a:p>
        </p:txBody>
      </p:sp>
      <p:sp>
        <p:nvSpPr>
          <p:cNvPr id="95" name="직사각형 94"/>
          <p:cNvSpPr/>
          <p:nvPr/>
        </p:nvSpPr>
        <p:spPr>
          <a:xfrm>
            <a:off x="9800655" y="4785972"/>
            <a:ext cx="801238" cy="2539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X</a:t>
            </a:r>
            <a:r>
              <a:rPr lang="ko-KR" altLang="en-US" sz="1000" dirty="0">
                <a:solidFill>
                  <a:schemeClr val="tx1"/>
                </a:solidFill>
              </a:rPr>
              <a:t>의</a:t>
            </a:r>
            <a:r>
              <a:rPr lang="en-US" altLang="ko-KR" sz="1000" dirty="0">
                <a:solidFill>
                  <a:schemeClr val="tx1"/>
                </a:solidFill>
              </a:rPr>
              <a:t> A, B</a:t>
            </a:r>
            <a:endParaRPr lang="ko-KR" altLang="en-US" sz="1000" dirty="0">
              <a:solidFill>
                <a:schemeClr val="tx1"/>
              </a:solidFill>
            </a:endParaRPr>
          </a:p>
        </p:txBody>
      </p:sp>
      <p:cxnSp>
        <p:nvCxnSpPr>
          <p:cNvPr id="96" name="직선 연결선 95"/>
          <p:cNvCxnSpPr>
            <a:stCxn id="72" idx="2"/>
          </p:cNvCxnSpPr>
          <p:nvPr/>
        </p:nvCxnSpPr>
        <p:spPr>
          <a:xfrm>
            <a:off x="7095556" y="5497945"/>
            <a:ext cx="0" cy="963549"/>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직사각형 99"/>
          <p:cNvSpPr/>
          <p:nvPr/>
        </p:nvSpPr>
        <p:spPr>
          <a:xfrm>
            <a:off x="6703324" y="5890070"/>
            <a:ext cx="801238" cy="2539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rgbClr val="FF0000"/>
                </a:solidFill>
              </a:rPr>
              <a:t>Y</a:t>
            </a:r>
            <a:r>
              <a:rPr lang="ko-KR" altLang="en-US" sz="1000" dirty="0">
                <a:solidFill>
                  <a:srgbClr val="FF0000"/>
                </a:solidFill>
              </a:rPr>
              <a:t>의</a:t>
            </a:r>
            <a:r>
              <a:rPr lang="en-US" altLang="ko-KR" sz="1000" dirty="0">
                <a:solidFill>
                  <a:srgbClr val="FF0000"/>
                </a:solidFill>
              </a:rPr>
              <a:t> A</a:t>
            </a:r>
            <a:endParaRPr lang="ko-KR" altLang="en-US" sz="1000" dirty="0">
              <a:solidFill>
                <a:srgbClr val="FF0000"/>
              </a:solidFill>
            </a:endParaRPr>
          </a:p>
        </p:txBody>
      </p:sp>
      <p:sp>
        <p:nvSpPr>
          <p:cNvPr id="101" name="직사각형 100"/>
          <p:cNvSpPr/>
          <p:nvPr/>
        </p:nvSpPr>
        <p:spPr>
          <a:xfrm>
            <a:off x="8969550" y="5890070"/>
            <a:ext cx="801238" cy="2539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rgbClr val="FF0000"/>
                </a:solidFill>
              </a:rPr>
              <a:t>Y</a:t>
            </a:r>
            <a:r>
              <a:rPr lang="ko-KR" altLang="en-US" sz="1000" dirty="0">
                <a:solidFill>
                  <a:srgbClr val="FF0000"/>
                </a:solidFill>
              </a:rPr>
              <a:t>의</a:t>
            </a:r>
            <a:r>
              <a:rPr lang="en-US" altLang="ko-KR" sz="1000" dirty="0">
                <a:solidFill>
                  <a:srgbClr val="FF0000"/>
                </a:solidFill>
              </a:rPr>
              <a:t> C</a:t>
            </a:r>
            <a:endParaRPr lang="ko-KR" altLang="en-US" sz="1000" dirty="0">
              <a:solidFill>
                <a:srgbClr val="FF0000"/>
              </a:solidFill>
            </a:endParaRPr>
          </a:p>
        </p:txBody>
      </p:sp>
      <p:cxnSp>
        <p:nvCxnSpPr>
          <p:cNvPr id="102" name="직선 연결선 101"/>
          <p:cNvCxnSpPr>
            <a:stCxn id="74" idx="3"/>
            <a:endCxn id="81" idx="1"/>
          </p:cNvCxnSpPr>
          <p:nvPr/>
        </p:nvCxnSpPr>
        <p:spPr>
          <a:xfrm flipV="1">
            <a:off x="7496175" y="4368733"/>
            <a:ext cx="1473375" cy="250043"/>
          </a:xfrm>
          <a:prstGeom prst="line">
            <a:avLst/>
          </a:pr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 name="슬라이드 번호 개체 틀 5"/>
          <p:cNvSpPr>
            <a:spLocks noGrp="1"/>
          </p:cNvSpPr>
          <p:nvPr>
            <p:ph type="sldNum" sz="quarter" idx="12"/>
          </p:nvPr>
        </p:nvSpPr>
        <p:spPr/>
        <p:txBody>
          <a:bodyPr/>
          <a:lstStyle/>
          <a:p>
            <a:r>
              <a:rPr lang="en-US" altLang="ko-KR"/>
              <a:t>276</a:t>
            </a:r>
            <a:endParaRPr lang="ko-KR" altLang="en-US" dirty="0"/>
          </a:p>
        </p:txBody>
      </p:sp>
      <p:sp>
        <p:nvSpPr>
          <p:cNvPr id="58" name="직사각형 57">
            <a:extLst>
              <a:ext uri="{FF2B5EF4-FFF2-40B4-BE49-F238E27FC236}">
                <a16:creationId xmlns:a16="http://schemas.microsoft.com/office/drawing/2014/main" id="{FE03B79F-3991-4378-A195-76B9EBB783BB}"/>
              </a:ext>
            </a:extLst>
          </p:cNvPr>
          <p:cNvSpPr/>
          <p:nvPr/>
        </p:nvSpPr>
        <p:spPr>
          <a:xfrm>
            <a:off x="1850522" y="4984052"/>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52</a:t>
            </a:r>
            <a:r>
              <a:rPr lang="ko-KR" altLang="en-US" sz="1050" dirty="0">
                <a:solidFill>
                  <a:schemeClr val="bg1">
                    <a:lumMod val="50000"/>
                  </a:schemeClr>
                </a:solidFill>
              </a:rPr>
              <a:t>조의</a:t>
            </a:r>
            <a:r>
              <a:rPr lang="en-US" altLang="ko-KR" sz="1050" dirty="0">
                <a:solidFill>
                  <a:schemeClr val="bg1">
                    <a:lumMod val="50000"/>
                  </a:schemeClr>
                </a:solidFill>
              </a:rPr>
              <a:t>2</a:t>
            </a:r>
          </a:p>
          <a:p>
            <a:pPr algn="ctr"/>
            <a:r>
              <a:rPr lang="en-US" altLang="ko-KR" sz="1050" dirty="0">
                <a:solidFill>
                  <a:schemeClr val="bg1">
                    <a:lumMod val="50000"/>
                  </a:schemeClr>
                </a:solidFill>
              </a:rPr>
              <a:t>(</a:t>
            </a:r>
            <a:r>
              <a:rPr lang="ko-KR" altLang="en-US" sz="1050" dirty="0" err="1">
                <a:solidFill>
                  <a:schemeClr val="bg1">
                    <a:lumMod val="50000"/>
                  </a:schemeClr>
                </a:solidFill>
              </a:rPr>
              <a:t>확공조국등</a:t>
            </a:r>
            <a:r>
              <a:rPr lang="en-US" altLang="ko-KR" sz="1050" dirty="0">
                <a:solidFill>
                  <a:schemeClr val="bg1">
                    <a:lumMod val="50000"/>
                  </a:schemeClr>
                </a:solidFill>
              </a:rPr>
              <a:t>)</a:t>
            </a:r>
            <a:endParaRPr lang="ko-KR" altLang="en-US" sz="1050" dirty="0">
              <a:solidFill>
                <a:schemeClr val="bg1">
                  <a:lumMod val="50000"/>
                </a:schemeClr>
              </a:solidFill>
            </a:endParaRPr>
          </a:p>
        </p:txBody>
      </p:sp>
      <p:cxnSp>
        <p:nvCxnSpPr>
          <p:cNvPr id="59" name="꺾인 연결선 41">
            <a:extLst>
              <a:ext uri="{FF2B5EF4-FFF2-40B4-BE49-F238E27FC236}">
                <a16:creationId xmlns:a16="http://schemas.microsoft.com/office/drawing/2014/main" id="{A3F3D2C9-9FC7-4F73-9E70-FD95D96D5654}"/>
              </a:ext>
            </a:extLst>
          </p:cNvPr>
          <p:cNvCxnSpPr>
            <a:cxnSpLocks/>
            <a:stCxn id="28" idx="3"/>
            <a:endCxn id="58" idx="1"/>
          </p:cNvCxnSpPr>
          <p:nvPr/>
        </p:nvCxnSpPr>
        <p:spPr>
          <a:xfrm>
            <a:off x="1500378" y="4766858"/>
            <a:ext cx="350144" cy="3835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40E90442-A209-F7BA-CC30-C19294D0D54D}"/>
              </a:ext>
            </a:extLst>
          </p:cNvPr>
          <p:cNvSpPr txBox="1"/>
          <p:nvPr/>
        </p:nvSpPr>
        <p:spPr>
          <a:xfrm>
            <a:off x="9085710" y="6168544"/>
            <a:ext cx="3039615" cy="523220"/>
          </a:xfrm>
          <a:prstGeom prst="rect">
            <a:avLst/>
          </a:prstGeom>
          <a:noFill/>
          <a:ln w="19050">
            <a:solidFill>
              <a:srgbClr val="FF0000"/>
            </a:solidFill>
          </a:ln>
        </p:spPr>
        <p:txBody>
          <a:bodyPr wrap="none" rtlCol="0">
            <a:spAutoFit/>
          </a:bodyPr>
          <a:lstStyle/>
          <a:p>
            <a:pPr algn="ctr"/>
            <a:r>
              <a:rPr lang="ko-KR" altLang="en-US" sz="1400" dirty="0" err="1">
                <a:solidFill>
                  <a:srgbClr val="FF0000"/>
                </a:solidFill>
              </a:rPr>
              <a:t>조기공개된</a:t>
            </a:r>
            <a:r>
              <a:rPr lang="ko-KR" altLang="en-US" sz="1400" dirty="0">
                <a:solidFill>
                  <a:srgbClr val="FF0000"/>
                </a:solidFill>
              </a:rPr>
              <a:t> 발명</a:t>
            </a:r>
            <a:r>
              <a:rPr lang="en-US" altLang="ko-KR" sz="1400" dirty="0">
                <a:solidFill>
                  <a:srgbClr val="FF0000"/>
                </a:solidFill>
              </a:rPr>
              <a:t>(A, B)</a:t>
            </a:r>
            <a:r>
              <a:rPr lang="ko-KR" altLang="en-US" sz="1400" dirty="0">
                <a:solidFill>
                  <a:srgbClr val="FF0000"/>
                </a:solidFill>
              </a:rPr>
              <a:t>에 의해</a:t>
            </a:r>
            <a:endParaRPr lang="en-US" altLang="ko-KR" sz="1400" dirty="0">
              <a:solidFill>
                <a:srgbClr val="FF0000"/>
              </a:solidFill>
            </a:endParaRPr>
          </a:p>
          <a:p>
            <a:pPr algn="ctr"/>
            <a:r>
              <a:rPr lang="ko-KR" altLang="en-US" sz="1400" dirty="0">
                <a:solidFill>
                  <a:srgbClr val="FF0000"/>
                </a:solidFill>
              </a:rPr>
              <a:t>개량발명</a:t>
            </a:r>
            <a:r>
              <a:rPr lang="en-US" altLang="ko-KR" sz="1400" dirty="0">
                <a:solidFill>
                  <a:srgbClr val="FF0000"/>
                </a:solidFill>
              </a:rPr>
              <a:t>(C)</a:t>
            </a:r>
            <a:r>
              <a:rPr lang="ko-KR" altLang="en-US" sz="1400" dirty="0">
                <a:solidFill>
                  <a:srgbClr val="FF0000"/>
                </a:solidFill>
              </a:rPr>
              <a:t>의 진보성 위반 가능성 존재</a:t>
            </a:r>
          </a:p>
        </p:txBody>
      </p:sp>
    </p:spTree>
    <p:extLst>
      <p:ext uri="{BB962C8B-B14F-4D97-AF65-F5344CB8AC3E}">
        <p14:creationId xmlns:p14="http://schemas.microsoft.com/office/powerpoint/2010/main" val="3246771543"/>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64</a:t>
            </a:r>
            <a:r>
              <a:rPr lang="ko-KR" altLang="en-US" dirty="0"/>
              <a:t>조</a:t>
            </a:r>
            <a:r>
              <a:rPr lang="en-US" altLang="ko-KR" dirty="0"/>
              <a:t>, </a:t>
            </a:r>
            <a:r>
              <a:rPr lang="ko-KR" altLang="en-US" dirty="0"/>
              <a:t>제</a:t>
            </a:r>
            <a:r>
              <a:rPr lang="en-US" altLang="ko-KR" dirty="0"/>
              <a:t>65</a:t>
            </a:r>
            <a:r>
              <a:rPr lang="ko-KR" altLang="en-US" dirty="0"/>
              <a:t>조</a:t>
            </a:r>
          </a:p>
        </p:txBody>
      </p:sp>
      <p:sp>
        <p:nvSpPr>
          <p:cNvPr id="4" name="텍스트 개체 틀 3"/>
          <p:cNvSpPr>
            <a:spLocks noGrp="1"/>
          </p:cNvSpPr>
          <p:nvPr>
            <p:ph type="body" sz="quarter" idx="13"/>
          </p:nvPr>
        </p:nvSpPr>
        <p:spPr/>
        <p:txBody>
          <a:bodyPr/>
          <a:lstStyle/>
          <a:p>
            <a:r>
              <a:rPr lang="ko-KR" altLang="en-US" dirty="0"/>
              <a:t>보상금청구권</a:t>
            </a:r>
            <a:r>
              <a:rPr lang="en-US" altLang="ko-KR" dirty="0"/>
              <a:t>(</a:t>
            </a:r>
            <a:r>
              <a:rPr lang="ko-KR" altLang="en-US" dirty="0"/>
              <a:t>제</a:t>
            </a:r>
            <a:r>
              <a:rPr lang="en-US" altLang="ko-KR" dirty="0"/>
              <a:t>65</a:t>
            </a:r>
            <a:r>
              <a:rPr lang="ko-KR" altLang="en-US" dirty="0"/>
              <a:t>조</a:t>
            </a:r>
            <a:r>
              <a:rPr lang="en-US" altLang="ko-KR" dirty="0"/>
              <a:t>)</a:t>
            </a:r>
            <a:r>
              <a:rPr lang="ko-KR" altLang="en-US" dirty="0"/>
              <a:t>의 개념</a:t>
            </a:r>
          </a:p>
        </p:txBody>
      </p:sp>
      <p:sp>
        <p:nvSpPr>
          <p:cNvPr id="93" name="TextBox 92"/>
          <p:cNvSpPr txBox="1"/>
          <p:nvPr/>
        </p:nvSpPr>
        <p:spPr>
          <a:xfrm>
            <a:off x="77875" y="986046"/>
            <a:ext cx="11936323" cy="2893100"/>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65</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출원공개의 효과</a:t>
            </a:r>
            <a:r>
              <a:rPr lang="en-US" altLang="ko-KR" sz="1400" b="1" dirty="0">
                <a:solidFill>
                  <a:schemeClr val="accent1"/>
                </a:solidFill>
              </a:rPr>
              <a:t>) </a:t>
            </a:r>
            <a:r>
              <a:rPr lang="en-US" altLang="ko-KR" sz="1400" dirty="0">
                <a:solidFill>
                  <a:schemeClr val="tx2"/>
                </a:solidFill>
              </a:rPr>
              <a:t>① </a:t>
            </a:r>
            <a:r>
              <a:rPr lang="ko-KR" altLang="en-US" sz="1400" dirty="0" err="1">
                <a:solidFill>
                  <a:schemeClr val="tx2"/>
                </a:solidFill>
              </a:rPr>
              <a:t>특허출원인은</a:t>
            </a:r>
            <a:r>
              <a:rPr lang="ko-KR" altLang="en-US" sz="1400" dirty="0">
                <a:solidFill>
                  <a:schemeClr val="tx2"/>
                </a:solidFill>
              </a:rPr>
              <a:t> 출원공개가 있은 후 그 </a:t>
            </a:r>
            <a:r>
              <a:rPr lang="ko-KR" altLang="en-US" sz="1400" dirty="0" err="1">
                <a:solidFill>
                  <a:schemeClr val="tx2"/>
                </a:solidFill>
              </a:rPr>
              <a:t>특허출원된</a:t>
            </a:r>
            <a:r>
              <a:rPr lang="ko-KR" altLang="en-US" sz="1400" dirty="0">
                <a:solidFill>
                  <a:schemeClr val="tx2"/>
                </a:solidFill>
              </a:rPr>
              <a:t> 발명을 업으로서 실시한 자에게 </a:t>
            </a:r>
            <a:r>
              <a:rPr lang="ko-KR" altLang="en-US" sz="1400" dirty="0" err="1">
                <a:solidFill>
                  <a:schemeClr val="tx2"/>
                </a:solidFill>
              </a:rPr>
              <a:t>특허출원된</a:t>
            </a:r>
            <a:r>
              <a:rPr lang="ko-KR" altLang="en-US" sz="1400" dirty="0">
                <a:solidFill>
                  <a:schemeClr val="tx2"/>
                </a:solidFill>
              </a:rPr>
              <a:t> 발명임을 서면으로 경고할 수 있다</a:t>
            </a:r>
            <a:r>
              <a:rPr lang="en-US" altLang="ko-KR" sz="1400" dirty="0">
                <a:solidFill>
                  <a:schemeClr val="tx2"/>
                </a:solidFill>
              </a:rPr>
              <a:t>.</a:t>
            </a:r>
          </a:p>
          <a:p>
            <a:pPr fontAlgn="base"/>
            <a:r>
              <a:rPr lang="en-US" altLang="ko-KR" sz="1400" dirty="0">
                <a:solidFill>
                  <a:schemeClr val="tx2"/>
                </a:solidFill>
              </a:rPr>
              <a:t>② </a:t>
            </a:r>
            <a:r>
              <a:rPr lang="ko-KR" altLang="en-US" sz="1400" dirty="0" err="1">
                <a:solidFill>
                  <a:schemeClr val="tx2"/>
                </a:solidFill>
              </a:rPr>
              <a:t>특허출원인은</a:t>
            </a:r>
            <a:r>
              <a:rPr lang="ko-KR" altLang="en-US" sz="1400" dirty="0">
                <a:solidFill>
                  <a:schemeClr val="tx2"/>
                </a:solidFill>
              </a:rPr>
              <a:t> 제</a:t>
            </a:r>
            <a:r>
              <a:rPr lang="en-US" altLang="ko-KR" sz="1400" dirty="0">
                <a:solidFill>
                  <a:schemeClr val="tx2"/>
                </a:solidFill>
              </a:rPr>
              <a:t>1</a:t>
            </a:r>
            <a:r>
              <a:rPr lang="ko-KR" altLang="en-US" sz="1400" dirty="0">
                <a:solidFill>
                  <a:schemeClr val="tx2"/>
                </a:solidFill>
              </a:rPr>
              <a:t>항에 따른 경고를 받거나 제</a:t>
            </a:r>
            <a:r>
              <a:rPr lang="en-US" altLang="ko-KR" sz="1400" dirty="0">
                <a:solidFill>
                  <a:schemeClr val="tx2"/>
                </a:solidFill>
              </a:rPr>
              <a:t>64</a:t>
            </a:r>
            <a:r>
              <a:rPr lang="ko-KR" altLang="en-US" sz="1400" dirty="0">
                <a:solidFill>
                  <a:schemeClr val="tx2"/>
                </a:solidFill>
              </a:rPr>
              <a:t>조에 따라 </a:t>
            </a:r>
            <a:r>
              <a:rPr lang="ko-KR" altLang="en-US" sz="1400" dirty="0" err="1">
                <a:solidFill>
                  <a:schemeClr val="tx2"/>
                </a:solidFill>
              </a:rPr>
              <a:t>출원공개된</a:t>
            </a:r>
            <a:r>
              <a:rPr lang="ko-KR" altLang="en-US" sz="1400" dirty="0">
                <a:solidFill>
                  <a:schemeClr val="tx2"/>
                </a:solidFill>
              </a:rPr>
              <a:t> 발명임을 알고 그 </a:t>
            </a:r>
            <a:r>
              <a:rPr lang="ko-KR" altLang="en-US" sz="1400" dirty="0" err="1">
                <a:solidFill>
                  <a:schemeClr val="tx2"/>
                </a:solidFill>
              </a:rPr>
              <a:t>특허출원된</a:t>
            </a:r>
            <a:r>
              <a:rPr lang="ko-KR" altLang="en-US" sz="1400" dirty="0">
                <a:solidFill>
                  <a:schemeClr val="tx2"/>
                </a:solidFill>
              </a:rPr>
              <a:t> 발명을 업으로 실시한 자에게 그 경고를 받거나 </a:t>
            </a:r>
            <a:r>
              <a:rPr lang="ko-KR" altLang="en-US" sz="1400" dirty="0" err="1">
                <a:solidFill>
                  <a:schemeClr val="tx2"/>
                </a:solidFill>
              </a:rPr>
              <a:t>출원공개된</a:t>
            </a:r>
            <a:r>
              <a:rPr lang="ko-KR" altLang="en-US" sz="1400" dirty="0">
                <a:solidFill>
                  <a:schemeClr val="tx2"/>
                </a:solidFill>
              </a:rPr>
              <a:t> 발명임을 알았을 때부터 특허권의 설정등록을 할 때까지의 기간 동안 그 특허발명의 실시에 대하여 </a:t>
            </a:r>
            <a:r>
              <a:rPr lang="ko-KR" altLang="en-US" sz="1400" dirty="0">
                <a:solidFill>
                  <a:srgbClr val="FF0000"/>
                </a:solidFill>
              </a:rPr>
              <a:t>합리적</a:t>
            </a:r>
            <a:r>
              <a:rPr lang="ko-KR" altLang="en-US" sz="1400" dirty="0">
                <a:solidFill>
                  <a:schemeClr val="tx2"/>
                </a:solidFill>
              </a:rPr>
              <a:t>으로 받을 수 있는 금액에 상당하는 보상금의 지급을 청구할 수 있다</a:t>
            </a:r>
            <a:r>
              <a:rPr lang="en-US" altLang="ko-KR" sz="1400" dirty="0">
                <a:solidFill>
                  <a:schemeClr val="tx2"/>
                </a:solidFill>
              </a:rPr>
              <a:t>.</a:t>
            </a:r>
          </a:p>
          <a:p>
            <a:pPr fontAlgn="base"/>
            <a:r>
              <a:rPr lang="en-US" altLang="ko-KR" sz="1400" dirty="0">
                <a:solidFill>
                  <a:schemeClr val="tx2"/>
                </a:solidFill>
              </a:rPr>
              <a:t>③ </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항에 따른 청구권은 그 </a:t>
            </a:r>
            <a:r>
              <a:rPr lang="ko-KR" altLang="en-US" sz="1400" dirty="0" err="1">
                <a:solidFill>
                  <a:schemeClr val="tx2"/>
                </a:solidFill>
              </a:rPr>
              <a:t>특허출원된</a:t>
            </a:r>
            <a:r>
              <a:rPr lang="ko-KR" altLang="en-US" sz="1400" dirty="0">
                <a:solidFill>
                  <a:schemeClr val="tx2"/>
                </a:solidFill>
              </a:rPr>
              <a:t> 발명에 대한 특허권이 </a:t>
            </a:r>
            <a:r>
              <a:rPr lang="ko-KR" altLang="en-US" sz="1400" dirty="0" err="1">
                <a:solidFill>
                  <a:schemeClr val="tx2"/>
                </a:solidFill>
              </a:rPr>
              <a:t>설정등록된</a:t>
            </a:r>
            <a:r>
              <a:rPr lang="ko-KR" altLang="en-US" sz="1400" dirty="0">
                <a:solidFill>
                  <a:schemeClr val="tx2"/>
                </a:solidFill>
              </a:rPr>
              <a:t> 후에만 행사할 수 있다</a:t>
            </a:r>
            <a:r>
              <a:rPr lang="en-US" altLang="ko-KR" sz="1400" dirty="0">
                <a:solidFill>
                  <a:schemeClr val="tx2"/>
                </a:solidFill>
              </a:rPr>
              <a:t>.</a:t>
            </a:r>
          </a:p>
          <a:p>
            <a:pPr fontAlgn="base"/>
            <a:r>
              <a:rPr lang="en-US" altLang="ko-KR" sz="1400" dirty="0">
                <a:solidFill>
                  <a:schemeClr val="tx2"/>
                </a:solidFill>
              </a:rPr>
              <a:t>④ </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항에 따른 청구권의 행사는 특허권의 행사에 영향을 미치지 아니한다</a:t>
            </a:r>
            <a:r>
              <a:rPr lang="en-US" altLang="ko-KR" sz="1400" dirty="0">
                <a:solidFill>
                  <a:schemeClr val="tx2"/>
                </a:solidFill>
              </a:rPr>
              <a:t>.</a:t>
            </a:r>
          </a:p>
          <a:p>
            <a:pPr fontAlgn="base"/>
            <a:r>
              <a:rPr lang="en-US" altLang="ko-KR" sz="1400" dirty="0">
                <a:solidFill>
                  <a:schemeClr val="tx2"/>
                </a:solidFill>
              </a:rPr>
              <a:t>⑤ </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항에 따른 청구권을 행사하는 경우에는 제</a:t>
            </a:r>
            <a:r>
              <a:rPr lang="en-US" altLang="ko-KR" sz="1400" dirty="0">
                <a:solidFill>
                  <a:schemeClr val="tx2"/>
                </a:solidFill>
              </a:rPr>
              <a:t>127</a:t>
            </a:r>
            <a:r>
              <a:rPr lang="ko-KR" altLang="en-US" sz="1400" dirty="0" err="1">
                <a:solidFill>
                  <a:schemeClr val="tx2"/>
                </a:solidFill>
              </a:rPr>
              <a:t>조ㆍ제</a:t>
            </a:r>
            <a:r>
              <a:rPr lang="en-US" altLang="ko-KR" sz="1400" dirty="0">
                <a:solidFill>
                  <a:schemeClr val="tx2"/>
                </a:solidFill>
              </a:rPr>
              <a:t>129</a:t>
            </a:r>
            <a:r>
              <a:rPr lang="ko-KR" altLang="en-US" sz="1400" dirty="0" err="1">
                <a:solidFill>
                  <a:schemeClr val="tx2"/>
                </a:solidFill>
              </a:rPr>
              <a:t>조ㆍ제</a:t>
            </a:r>
            <a:r>
              <a:rPr lang="en-US" altLang="ko-KR" sz="1400" dirty="0">
                <a:solidFill>
                  <a:schemeClr val="tx2"/>
                </a:solidFill>
              </a:rPr>
              <a:t>132</a:t>
            </a:r>
            <a:r>
              <a:rPr lang="ko-KR" altLang="en-US" sz="1400" dirty="0">
                <a:solidFill>
                  <a:schemeClr val="tx2"/>
                </a:solidFill>
              </a:rPr>
              <a:t>조 및 「민법」 제</a:t>
            </a:r>
            <a:r>
              <a:rPr lang="en-US" altLang="ko-KR" sz="1400" dirty="0">
                <a:solidFill>
                  <a:schemeClr val="tx2"/>
                </a:solidFill>
              </a:rPr>
              <a:t>760</a:t>
            </a:r>
            <a:r>
              <a:rPr lang="ko-KR" altLang="en-US" sz="1400" dirty="0" err="1">
                <a:solidFill>
                  <a:schemeClr val="tx2"/>
                </a:solidFill>
              </a:rPr>
              <a:t>조ㆍ제</a:t>
            </a:r>
            <a:r>
              <a:rPr lang="en-US" altLang="ko-KR" sz="1400" dirty="0">
                <a:solidFill>
                  <a:schemeClr val="tx2"/>
                </a:solidFill>
              </a:rPr>
              <a:t>766</a:t>
            </a:r>
            <a:r>
              <a:rPr lang="ko-KR" altLang="en-US" sz="1400" dirty="0">
                <a:solidFill>
                  <a:schemeClr val="tx2"/>
                </a:solidFill>
              </a:rPr>
              <a:t>조를 준용한다</a:t>
            </a:r>
            <a:r>
              <a:rPr lang="en-US" altLang="ko-KR" sz="1400" dirty="0">
                <a:solidFill>
                  <a:schemeClr val="tx2"/>
                </a:solidFill>
              </a:rPr>
              <a:t>. </a:t>
            </a:r>
            <a:r>
              <a:rPr lang="ko-KR" altLang="en-US" sz="1400" dirty="0">
                <a:solidFill>
                  <a:schemeClr val="tx2"/>
                </a:solidFill>
              </a:rPr>
              <a:t>이 경우 「민법」 제</a:t>
            </a:r>
            <a:r>
              <a:rPr lang="en-US" altLang="ko-KR" sz="1400" dirty="0">
                <a:solidFill>
                  <a:schemeClr val="tx2"/>
                </a:solidFill>
              </a:rPr>
              <a:t>766</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중 </a:t>
            </a:r>
            <a:r>
              <a:rPr lang="en-US" altLang="ko-KR" sz="1400" dirty="0">
                <a:solidFill>
                  <a:schemeClr val="tx2"/>
                </a:solidFill>
              </a:rPr>
              <a:t>"</a:t>
            </a:r>
            <a:r>
              <a:rPr lang="ko-KR" altLang="en-US" sz="1400" dirty="0">
                <a:solidFill>
                  <a:schemeClr val="tx2"/>
                </a:solidFill>
              </a:rPr>
              <a:t>피해자나 그 법정대리인이 그 손해 및 가해자를 안 날</a:t>
            </a:r>
            <a:r>
              <a:rPr lang="en-US" altLang="ko-KR" sz="1400" dirty="0">
                <a:solidFill>
                  <a:schemeClr val="tx2"/>
                </a:solidFill>
              </a:rPr>
              <a:t>"</a:t>
            </a:r>
            <a:r>
              <a:rPr lang="ko-KR" altLang="en-US" sz="1400" dirty="0">
                <a:solidFill>
                  <a:schemeClr val="tx2"/>
                </a:solidFill>
              </a:rPr>
              <a:t>은 </a:t>
            </a:r>
            <a:r>
              <a:rPr lang="en-US" altLang="ko-KR" sz="1400" dirty="0">
                <a:solidFill>
                  <a:schemeClr val="tx2"/>
                </a:solidFill>
              </a:rPr>
              <a:t>"</a:t>
            </a:r>
            <a:r>
              <a:rPr lang="ko-KR" altLang="en-US" sz="1400" dirty="0">
                <a:solidFill>
                  <a:schemeClr val="tx2"/>
                </a:solidFill>
              </a:rPr>
              <a:t>해당 특허권의 설정등록일</a:t>
            </a:r>
            <a:r>
              <a:rPr lang="en-US" altLang="ko-KR" sz="1400" dirty="0">
                <a:solidFill>
                  <a:schemeClr val="tx2"/>
                </a:solidFill>
              </a:rPr>
              <a:t>"</a:t>
            </a:r>
            <a:r>
              <a:rPr lang="ko-KR" altLang="en-US" sz="1400" dirty="0">
                <a:solidFill>
                  <a:schemeClr val="tx2"/>
                </a:solidFill>
              </a:rPr>
              <a:t>로 본다</a:t>
            </a:r>
            <a:r>
              <a:rPr lang="en-US" altLang="ko-KR" sz="1400" dirty="0">
                <a:solidFill>
                  <a:schemeClr val="tx2"/>
                </a:solidFill>
              </a:rPr>
              <a:t>.</a:t>
            </a:r>
          </a:p>
          <a:p>
            <a:pPr fontAlgn="base"/>
            <a:r>
              <a:rPr lang="en-US" altLang="ko-KR" sz="1400" dirty="0">
                <a:solidFill>
                  <a:schemeClr val="tx2"/>
                </a:solidFill>
              </a:rPr>
              <a:t>⑥ </a:t>
            </a:r>
            <a:r>
              <a:rPr lang="ko-KR" altLang="en-US" sz="1400" dirty="0">
                <a:solidFill>
                  <a:schemeClr val="tx2"/>
                </a:solidFill>
              </a:rPr>
              <a:t>제</a:t>
            </a:r>
            <a:r>
              <a:rPr lang="en-US" altLang="ko-KR" sz="1400" dirty="0">
                <a:solidFill>
                  <a:schemeClr val="tx2"/>
                </a:solidFill>
              </a:rPr>
              <a:t>64</a:t>
            </a:r>
            <a:r>
              <a:rPr lang="ko-KR" altLang="en-US" sz="1400" dirty="0">
                <a:solidFill>
                  <a:schemeClr val="tx2"/>
                </a:solidFill>
              </a:rPr>
              <a:t>조에 따른 출원공개 후 다음 각 호의 어느 하나에 해당하는 경우에는 제</a:t>
            </a:r>
            <a:r>
              <a:rPr lang="en-US" altLang="ko-KR" sz="1400" dirty="0">
                <a:solidFill>
                  <a:schemeClr val="tx2"/>
                </a:solidFill>
              </a:rPr>
              <a:t>2</a:t>
            </a:r>
            <a:r>
              <a:rPr lang="ko-KR" altLang="en-US" sz="1400" dirty="0">
                <a:solidFill>
                  <a:schemeClr val="tx2"/>
                </a:solidFill>
              </a:rPr>
              <a:t>항에 따른 청구권은 처음부터 발생하지 아니한 것으로 본다</a:t>
            </a:r>
            <a:r>
              <a:rPr lang="en-US" altLang="ko-KR" sz="1400" dirty="0">
                <a:solidFill>
                  <a:schemeClr val="tx2"/>
                </a:solidFill>
              </a:rPr>
              <a:t>.  </a:t>
            </a:r>
          </a:p>
          <a:p>
            <a:pPr fontAlgn="base"/>
            <a:r>
              <a:rPr lang="en-US" altLang="ko-KR" sz="1400" dirty="0">
                <a:solidFill>
                  <a:schemeClr val="tx2"/>
                </a:solidFill>
              </a:rPr>
              <a:t>1. </a:t>
            </a:r>
            <a:r>
              <a:rPr lang="ko-KR" altLang="en-US" sz="1400" dirty="0">
                <a:solidFill>
                  <a:schemeClr val="tx2"/>
                </a:solidFill>
              </a:rPr>
              <a:t>특허출원이 </a:t>
            </a:r>
            <a:r>
              <a:rPr lang="ko-KR" altLang="en-US" sz="1400" dirty="0" err="1">
                <a:solidFill>
                  <a:schemeClr val="tx2"/>
                </a:solidFill>
              </a:rPr>
              <a:t>포기ㆍ무효</a:t>
            </a:r>
            <a:r>
              <a:rPr lang="ko-KR" altLang="en-US" sz="1400" dirty="0">
                <a:solidFill>
                  <a:schemeClr val="tx2"/>
                </a:solidFill>
              </a:rPr>
              <a:t> 또는 취하된 경우</a:t>
            </a:r>
          </a:p>
          <a:p>
            <a:pPr fontAlgn="base"/>
            <a:r>
              <a:rPr lang="en-US" altLang="ko-KR" sz="1400" dirty="0">
                <a:solidFill>
                  <a:schemeClr val="tx2"/>
                </a:solidFill>
              </a:rPr>
              <a:t>2. </a:t>
            </a:r>
            <a:r>
              <a:rPr lang="ko-KR" altLang="en-US" sz="1400" dirty="0">
                <a:solidFill>
                  <a:schemeClr val="tx2"/>
                </a:solidFill>
              </a:rPr>
              <a:t>특허출원에 대하여 제</a:t>
            </a:r>
            <a:r>
              <a:rPr lang="en-US" altLang="ko-KR" sz="1400" dirty="0">
                <a:solidFill>
                  <a:schemeClr val="tx2"/>
                </a:solidFill>
              </a:rPr>
              <a:t>62</a:t>
            </a:r>
            <a:r>
              <a:rPr lang="ko-KR" altLang="en-US" sz="1400" dirty="0">
                <a:solidFill>
                  <a:schemeClr val="tx2"/>
                </a:solidFill>
              </a:rPr>
              <a:t>조에 따른 특허거절결정이 확정된 경우</a:t>
            </a:r>
          </a:p>
          <a:p>
            <a:pPr fontAlgn="base"/>
            <a:r>
              <a:rPr lang="en-US" altLang="ko-KR" sz="1400" dirty="0">
                <a:solidFill>
                  <a:schemeClr val="tx2"/>
                </a:solidFill>
              </a:rPr>
              <a:t>3. </a:t>
            </a:r>
            <a:r>
              <a:rPr lang="ko-KR" altLang="en-US" sz="1400" dirty="0">
                <a:solidFill>
                  <a:schemeClr val="tx2"/>
                </a:solidFill>
              </a:rPr>
              <a:t>제</a:t>
            </a:r>
            <a:r>
              <a:rPr lang="en-US" altLang="ko-KR" sz="1400" dirty="0">
                <a:solidFill>
                  <a:schemeClr val="tx2"/>
                </a:solidFill>
              </a:rPr>
              <a:t>132</a:t>
            </a:r>
            <a:r>
              <a:rPr lang="ko-KR" altLang="en-US" sz="1400" dirty="0">
                <a:solidFill>
                  <a:schemeClr val="tx2"/>
                </a:solidFill>
              </a:rPr>
              <a:t>조의</a:t>
            </a:r>
            <a:r>
              <a:rPr lang="en-US" altLang="ko-KR" sz="1400" dirty="0">
                <a:solidFill>
                  <a:schemeClr val="tx2"/>
                </a:solidFill>
              </a:rPr>
              <a:t>13</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따른 특허취소결정이 확정된 경우</a:t>
            </a:r>
          </a:p>
          <a:p>
            <a:pPr fontAlgn="base"/>
            <a:r>
              <a:rPr lang="en-US" altLang="ko-KR" sz="1400" dirty="0">
                <a:solidFill>
                  <a:schemeClr val="tx2"/>
                </a:solidFill>
              </a:rPr>
              <a:t>4. </a:t>
            </a:r>
            <a:r>
              <a:rPr lang="ko-KR" altLang="en-US" sz="1400" dirty="0">
                <a:solidFill>
                  <a:schemeClr val="tx2"/>
                </a:solidFill>
              </a:rPr>
              <a:t>제</a:t>
            </a:r>
            <a:r>
              <a:rPr lang="en-US" altLang="ko-KR" sz="1400" dirty="0">
                <a:solidFill>
                  <a:schemeClr val="tx2"/>
                </a:solidFill>
              </a:rPr>
              <a:t>133</a:t>
            </a:r>
            <a:r>
              <a:rPr lang="ko-KR" altLang="en-US" sz="1400" dirty="0">
                <a:solidFill>
                  <a:schemeClr val="tx2"/>
                </a:solidFill>
              </a:rPr>
              <a:t>조에 따른 특허를 무효로 한다는 </a:t>
            </a:r>
            <a:r>
              <a:rPr lang="ko-KR" altLang="en-US" sz="1400" dirty="0" err="1">
                <a:solidFill>
                  <a:schemeClr val="tx2"/>
                </a:solidFill>
              </a:rPr>
              <a:t>심결</a:t>
            </a:r>
            <a:r>
              <a:rPr lang="en-US" altLang="ko-KR" sz="1400" dirty="0">
                <a:solidFill>
                  <a:schemeClr val="tx2"/>
                </a:solidFill>
              </a:rPr>
              <a:t>(</a:t>
            </a:r>
            <a:r>
              <a:rPr lang="ko-KR" altLang="en-US" sz="1400" dirty="0">
                <a:solidFill>
                  <a:schemeClr val="tx2"/>
                </a:solidFill>
              </a:rPr>
              <a:t>같은 조 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4</a:t>
            </a:r>
            <a:r>
              <a:rPr lang="ko-KR" altLang="en-US" sz="1400" dirty="0">
                <a:solidFill>
                  <a:schemeClr val="tx2"/>
                </a:solidFill>
              </a:rPr>
              <a:t>호에 따른 경우는 제외한다</a:t>
            </a:r>
            <a:r>
              <a:rPr lang="en-US" altLang="ko-KR" sz="1400" dirty="0">
                <a:solidFill>
                  <a:schemeClr val="tx2"/>
                </a:solidFill>
              </a:rPr>
              <a:t>)</a:t>
            </a:r>
            <a:r>
              <a:rPr lang="ko-KR" altLang="en-US" sz="1400" dirty="0">
                <a:solidFill>
                  <a:schemeClr val="tx2"/>
                </a:solidFill>
              </a:rPr>
              <a:t>이 확정된 경우</a:t>
            </a:r>
          </a:p>
        </p:txBody>
      </p:sp>
      <p:cxnSp>
        <p:nvCxnSpPr>
          <p:cNvPr id="95" name="직선 연결선 94"/>
          <p:cNvCxnSpPr/>
          <p:nvPr/>
        </p:nvCxnSpPr>
        <p:spPr>
          <a:xfrm>
            <a:off x="0" y="386280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Rectangle 14"/>
          <p:cNvSpPr>
            <a:spLocks noChangeArrowheads="1"/>
          </p:cNvSpPr>
          <p:nvPr/>
        </p:nvSpPr>
        <p:spPr bwMode="auto">
          <a:xfrm>
            <a:off x="1820917" y="4151389"/>
            <a:ext cx="3017783" cy="327573"/>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경고</a:t>
            </a:r>
            <a:r>
              <a:rPr lang="en-US" altLang="ko-KR" sz="1100" dirty="0">
                <a:latin typeface="+mn-ea"/>
              </a:rPr>
              <a:t>(</a:t>
            </a:r>
            <a:r>
              <a:rPr lang="ko-KR" altLang="en-US" sz="1100" dirty="0">
                <a:latin typeface="+mn-ea"/>
              </a:rPr>
              <a:t>法 </a:t>
            </a:r>
            <a:r>
              <a:rPr lang="en-US" altLang="ko-KR" sz="1100" dirty="0">
                <a:latin typeface="+mn-ea"/>
              </a:rPr>
              <a:t>65</a:t>
            </a:r>
            <a:r>
              <a:rPr lang="ko-KR" altLang="en-US" sz="1100" dirty="0"/>
              <a:t>①</a:t>
            </a:r>
            <a:r>
              <a:rPr lang="en-US" altLang="ko-KR" sz="1100" dirty="0">
                <a:latin typeface="+mn-ea"/>
              </a:rPr>
              <a:t>)</a:t>
            </a:r>
            <a:endParaRPr lang="ko-KR" altLang="en-US" sz="1100" b="0" dirty="0">
              <a:latin typeface="+mn-ea"/>
            </a:endParaRPr>
          </a:p>
        </p:txBody>
      </p:sp>
      <p:sp>
        <p:nvSpPr>
          <p:cNvPr id="32" name="Rectangle 14"/>
          <p:cNvSpPr>
            <a:spLocks noChangeArrowheads="1"/>
          </p:cNvSpPr>
          <p:nvPr/>
        </p:nvSpPr>
        <p:spPr bwMode="auto">
          <a:xfrm>
            <a:off x="1800225" y="5380903"/>
            <a:ext cx="3038475" cy="327573"/>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보상금청구권의 독립성</a:t>
            </a:r>
            <a:r>
              <a:rPr lang="en-US" altLang="ko-KR" sz="1100" dirty="0">
                <a:latin typeface="+mn-ea"/>
              </a:rPr>
              <a:t>(</a:t>
            </a:r>
            <a:r>
              <a:rPr lang="ko-KR" altLang="en-US" sz="1100" dirty="0">
                <a:latin typeface="+mn-ea"/>
              </a:rPr>
              <a:t>法 </a:t>
            </a:r>
            <a:r>
              <a:rPr lang="en-US" altLang="ko-KR" sz="1100" dirty="0">
                <a:latin typeface="+mn-ea"/>
              </a:rPr>
              <a:t>65</a:t>
            </a:r>
            <a:r>
              <a:rPr lang="ko-KR" altLang="en-US" sz="1100" dirty="0"/>
              <a:t>④</a:t>
            </a:r>
            <a:r>
              <a:rPr lang="en-US" altLang="ko-KR" sz="1100" dirty="0">
                <a:latin typeface="+mn-ea"/>
              </a:rPr>
              <a:t>)</a:t>
            </a:r>
            <a:endParaRPr lang="ko-KR" altLang="en-US" sz="1100" b="0" dirty="0">
              <a:latin typeface="+mn-ea"/>
            </a:endParaRPr>
          </a:p>
        </p:txBody>
      </p:sp>
      <p:sp>
        <p:nvSpPr>
          <p:cNvPr id="26" name="Rectangle 14"/>
          <p:cNvSpPr>
            <a:spLocks noChangeArrowheads="1"/>
          </p:cNvSpPr>
          <p:nvPr/>
        </p:nvSpPr>
        <p:spPr bwMode="auto">
          <a:xfrm>
            <a:off x="1820917" y="4564226"/>
            <a:ext cx="3017783" cy="327573"/>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보상금청구권의 성립요건 및 보상금액</a:t>
            </a:r>
            <a:r>
              <a:rPr lang="en-US" altLang="ko-KR" sz="1100" b="0" dirty="0">
                <a:latin typeface="+mn-ea"/>
              </a:rPr>
              <a:t>(</a:t>
            </a:r>
            <a:r>
              <a:rPr lang="ko-KR" altLang="en-US" sz="1100" b="0" dirty="0">
                <a:latin typeface="+mn-ea"/>
              </a:rPr>
              <a:t>法 </a:t>
            </a:r>
            <a:r>
              <a:rPr lang="en-US" altLang="ko-KR" sz="1100" dirty="0">
                <a:latin typeface="+mn-ea"/>
              </a:rPr>
              <a:t>65②)</a:t>
            </a:r>
            <a:endParaRPr lang="ko-KR" altLang="en-US" sz="1100" b="0" dirty="0">
              <a:latin typeface="+mn-ea"/>
            </a:endParaRPr>
          </a:p>
        </p:txBody>
      </p:sp>
      <p:sp>
        <p:nvSpPr>
          <p:cNvPr id="27" name="Rectangle 14"/>
          <p:cNvSpPr>
            <a:spLocks noChangeArrowheads="1"/>
          </p:cNvSpPr>
          <p:nvPr/>
        </p:nvSpPr>
        <p:spPr bwMode="auto">
          <a:xfrm>
            <a:off x="1820917" y="4977063"/>
            <a:ext cx="3017783" cy="327573"/>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보상금청구권의 행사시기</a:t>
            </a:r>
            <a:r>
              <a:rPr lang="en-US" altLang="ko-KR" sz="1100" dirty="0">
                <a:latin typeface="+mn-ea"/>
              </a:rPr>
              <a:t>(</a:t>
            </a:r>
            <a:r>
              <a:rPr lang="ko-KR" altLang="en-US" sz="1100" dirty="0">
                <a:latin typeface="+mn-ea"/>
              </a:rPr>
              <a:t>法 </a:t>
            </a:r>
            <a:r>
              <a:rPr lang="en-US" altLang="ko-KR" sz="1100" dirty="0">
                <a:latin typeface="+mn-ea"/>
              </a:rPr>
              <a:t>65</a:t>
            </a:r>
            <a:r>
              <a:rPr lang="ko-KR" altLang="en-US" sz="1100" dirty="0"/>
              <a:t>③</a:t>
            </a:r>
            <a:r>
              <a:rPr lang="en-US" altLang="ko-KR" sz="1100" dirty="0">
                <a:latin typeface="+mn-ea"/>
              </a:rPr>
              <a:t>)</a:t>
            </a:r>
            <a:endParaRPr lang="ko-KR" altLang="en-US" sz="1100" dirty="0">
              <a:latin typeface="+mn-ea"/>
            </a:endParaRPr>
          </a:p>
        </p:txBody>
      </p:sp>
      <p:sp>
        <p:nvSpPr>
          <p:cNvPr id="28" name="Rectangle 14"/>
          <p:cNvSpPr>
            <a:spLocks noChangeArrowheads="1"/>
          </p:cNvSpPr>
          <p:nvPr/>
        </p:nvSpPr>
        <p:spPr bwMode="auto">
          <a:xfrm>
            <a:off x="1800225" y="5793740"/>
            <a:ext cx="3038475" cy="327573"/>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보상금청구권의 준용규정</a:t>
            </a:r>
            <a:r>
              <a:rPr lang="en-US" altLang="ko-KR" sz="1100" dirty="0">
                <a:latin typeface="+mn-ea"/>
              </a:rPr>
              <a:t>(</a:t>
            </a:r>
            <a:r>
              <a:rPr lang="ko-KR" altLang="en-US" sz="1100" dirty="0">
                <a:latin typeface="+mn-ea"/>
              </a:rPr>
              <a:t>法 </a:t>
            </a:r>
            <a:r>
              <a:rPr lang="en-US" altLang="ko-KR" sz="1100" dirty="0">
                <a:latin typeface="+mn-ea"/>
              </a:rPr>
              <a:t>65</a:t>
            </a:r>
            <a:r>
              <a:rPr lang="ko-KR" altLang="en-US" sz="1100" dirty="0"/>
              <a:t>⑤</a:t>
            </a:r>
            <a:r>
              <a:rPr lang="en-US" altLang="ko-KR" sz="1100" dirty="0">
                <a:latin typeface="+mn-ea"/>
              </a:rPr>
              <a:t>)</a:t>
            </a:r>
            <a:endParaRPr lang="ko-KR" altLang="en-US" sz="1100" b="0" dirty="0">
              <a:latin typeface="+mn-ea"/>
            </a:endParaRPr>
          </a:p>
        </p:txBody>
      </p:sp>
      <p:sp>
        <p:nvSpPr>
          <p:cNvPr id="29" name="Rectangle 14"/>
          <p:cNvSpPr>
            <a:spLocks noChangeArrowheads="1"/>
          </p:cNvSpPr>
          <p:nvPr/>
        </p:nvSpPr>
        <p:spPr bwMode="auto">
          <a:xfrm>
            <a:off x="1800225" y="6206577"/>
            <a:ext cx="3038475" cy="327573"/>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보상금청구권의 소멸</a:t>
            </a:r>
            <a:r>
              <a:rPr lang="en-US" altLang="ko-KR" sz="1100" dirty="0">
                <a:latin typeface="+mn-ea"/>
              </a:rPr>
              <a:t>(</a:t>
            </a:r>
            <a:r>
              <a:rPr lang="ko-KR" altLang="en-US" sz="1100" dirty="0">
                <a:latin typeface="+mn-ea"/>
              </a:rPr>
              <a:t>法 </a:t>
            </a:r>
            <a:r>
              <a:rPr lang="en-US" altLang="ko-KR" sz="1100" dirty="0">
                <a:latin typeface="+mn-ea"/>
              </a:rPr>
              <a:t>65</a:t>
            </a:r>
            <a:r>
              <a:rPr lang="ko-KR" altLang="en-US" sz="1100" dirty="0"/>
              <a:t>⑥</a:t>
            </a:r>
            <a:r>
              <a:rPr lang="en-US" altLang="ko-KR" sz="1100" dirty="0">
                <a:latin typeface="+mn-ea"/>
              </a:rPr>
              <a:t>)</a:t>
            </a:r>
            <a:endParaRPr lang="ko-KR" altLang="en-US" sz="1100" b="0" dirty="0">
              <a:latin typeface="+mn-ea"/>
            </a:endParaRPr>
          </a:p>
        </p:txBody>
      </p:sp>
      <p:sp>
        <p:nvSpPr>
          <p:cNvPr id="6" name="직사각형 5"/>
          <p:cNvSpPr/>
          <p:nvPr/>
        </p:nvSpPr>
        <p:spPr>
          <a:xfrm>
            <a:off x="400050" y="4819650"/>
            <a:ext cx="838200" cy="888826"/>
          </a:xfrm>
          <a:prstGeom prst="rect">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보상금</a:t>
            </a:r>
            <a:endParaRPr lang="en-US" altLang="ko-KR" dirty="0"/>
          </a:p>
          <a:p>
            <a:pPr algn="ctr"/>
            <a:r>
              <a:rPr lang="ko-KR" altLang="en-US" dirty="0"/>
              <a:t>청구권</a:t>
            </a:r>
          </a:p>
        </p:txBody>
      </p:sp>
      <p:cxnSp>
        <p:nvCxnSpPr>
          <p:cNvPr id="11" name="꺾인 연결선 10"/>
          <p:cNvCxnSpPr>
            <a:stCxn id="6" idx="3"/>
            <a:endCxn id="31" idx="1"/>
          </p:cNvCxnSpPr>
          <p:nvPr/>
        </p:nvCxnSpPr>
        <p:spPr>
          <a:xfrm flipV="1">
            <a:off x="1238250" y="4315176"/>
            <a:ext cx="582667" cy="94888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꺾인 연결선 14"/>
          <p:cNvCxnSpPr>
            <a:stCxn id="6" idx="3"/>
            <a:endCxn id="29" idx="1"/>
          </p:cNvCxnSpPr>
          <p:nvPr/>
        </p:nvCxnSpPr>
        <p:spPr>
          <a:xfrm>
            <a:off x="1238250" y="5264063"/>
            <a:ext cx="561975" cy="110630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꺾인 연결선 17"/>
          <p:cNvCxnSpPr>
            <a:stCxn id="6" idx="3"/>
            <a:endCxn id="26" idx="1"/>
          </p:cNvCxnSpPr>
          <p:nvPr/>
        </p:nvCxnSpPr>
        <p:spPr>
          <a:xfrm flipV="1">
            <a:off x="1238250" y="4728013"/>
            <a:ext cx="582667" cy="5360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stCxn id="6" idx="3"/>
            <a:endCxn id="28" idx="1"/>
          </p:cNvCxnSpPr>
          <p:nvPr/>
        </p:nvCxnSpPr>
        <p:spPr>
          <a:xfrm>
            <a:off x="1238250" y="5264063"/>
            <a:ext cx="561975" cy="69346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stCxn id="6" idx="3"/>
            <a:endCxn id="27" idx="1"/>
          </p:cNvCxnSpPr>
          <p:nvPr/>
        </p:nvCxnSpPr>
        <p:spPr>
          <a:xfrm flipV="1">
            <a:off x="1238250" y="5140850"/>
            <a:ext cx="582667" cy="12321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꺾인 연결선 29"/>
          <p:cNvCxnSpPr>
            <a:stCxn id="6" idx="3"/>
            <a:endCxn id="32" idx="1"/>
          </p:cNvCxnSpPr>
          <p:nvPr/>
        </p:nvCxnSpPr>
        <p:spPr>
          <a:xfrm>
            <a:off x="1238250" y="5264063"/>
            <a:ext cx="561975" cy="28062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Rectangle 14"/>
          <p:cNvSpPr>
            <a:spLocks noChangeArrowheads="1"/>
          </p:cNvSpPr>
          <p:nvPr/>
        </p:nvSpPr>
        <p:spPr bwMode="auto">
          <a:xfrm>
            <a:off x="6086475" y="4503814"/>
            <a:ext cx="1943100" cy="327573"/>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100" b="0" dirty="0">
                <a:latin typeface="+mn-ea"/>
              </a:rPr>
              <a:t>의의</a:t>
            </a:r>
          </a:p>
        </p:txBody>
      </p:sp>
      <p:sp>
        <p:nvSpPr>
          <p:cNvPr id="55" name="Rectangle 14"/>
          <p:cNvSpPr>
            <a:spLocks noChangeArrowheads="1"/>
          </p:cNvSpPr>
          <p:nvPr/>
        </p:nvSpPr>
        <p:spPr bwMode="auto">
          <a:xfrm>
            <a:off x="6062702" y="5733328"/>
            <a:ext cx="1956423" cy="327573"/>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변동</a:t>
            </a:r>
          </a:p>
        </p:txBody>
      </p:sp>
      <p:sp>
        <p:nvSpPr>
          <p:cNvPr id="56" name="Rectangle 14"/>
          <p:cNvSpPr>
            <a:spLocks noChangeArrowheads="1"/>
          </p:cNvSpPr>
          <p:nvPr/>
        </p:nvSpPr>
        <p:spPr bwMode="auto">
          <a:xfrm>
            <a:off x="6086475" y="4916651"/>
            <a:ext cx="1943100" cy="327573"/>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100" b="0" dirty="0">
                <a:latin typeface="+mn-ea"/>
              </a:rPr>
              <a:t>발생</a:t>
            </a:r>
            <a:r>
              <a:rPr lang="en-US" altLang="ko-KR" sz="1100" dirty="0">
                <a:latin typeface="+mn-ea"/>
              </a:rPr>
              <a:t>(</a:t>
            </a:r>
            <a:r>
              <a:rPr lang="ko-KR" altLang="en-US" sz="1100" dirty="0">
                <a:latin typeface="+mn-ea"/>
              </a:rPr>
              <a:t>성립요건</a:t>
            </a:r>
            <a:r>
              <a:rPr lang="en-US" altLang="ko-KR" sz="1100" dirty="0">
                <a:latin typeface="+mn-ea"/>
              </a:rPr>
              <a:t>) (</a:t>
            </a:r>
            <a:r>
              <a:rPr lang="ko-KR" altLang="en-US" sz="1100" dirty="0">
                <a:latin typeface="+mn-ea"/>
              </a:rPr>
              <a:t>法 </a:t>
            </a:r>
            <a:r>
              <a:rPr lang="en-US" altLang="ko-KR" sz="1100" dirty="0">
                <a:latin typeface="+mn-ea"/>
              </a:rPr>
              <a:t>65</a:t>
            </a:r>
            <a:r>
              <a:rPr lang="ko-KR" altLang="en-US" sz="1100" dirty="0"/>
              <a:t>①</a:t>
            </a:r>
            <a:r>
              <a:rPr lang="en-US" altLang="ko-KR" sz="1100" dirty="0">
                <a:latin typeface="+mn-ea"/>
              </a:rPr>
              <a:t>②)</a:t>
            </a:r>
            <a:endParaRPr lang="ko-KR" altLang="en-US" sz="1100" dirty="0">
              <a:latin typeface="+mn-ea"/>
            </a:endParaRPr>
          </a:p>
        </p:txBody>
      </p:sp>
      <p:sp>
        <p:nvSpPr>
          <p:cNvPr id="57" name="Rectangle 14"/>
          <p:cNvSpPr>
            <a:spLocks noChangeArrowheads="1"/>
          </p:cNvSpPr>
          <p:nvPr/>
        </p:nvSpPr>
        <p:spPr bwMode="auto">
          <a:xfrm>
            <a:off x="6086475" y="5329488"/>
            <a:ext cx="1943100" cy="327573"/>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100" dirty="0">
                <a:latin typeface="+mn-ea"/>
              </a:rPr>
              <a:t>효력</a:t>
            </a:r>
          </a:p>
        </p:txBody>
      </p:sp>
      <p:sp>
        <p:nvSpPr>
          <p:cNvPr id="58" name="Rectangle 14"/>
          <p:cNvSpPr>
            <a:spLocks noChangeArrowheads="1"/>
          </p:cNvSpPr>
          <p:nvPr/>
        </p:nvSpPr>
        <p:spPr bwMode="auto">
          <a:xfrm>
            <a:off x="6062702" y="6146165"/>
            <a:ext cx="1956423" cy="327573"/>
          </a:xfrm>
          <a:prstGeom prst="rect">
            <a:avLst/>
          </a:prstGeom>
          <a:solidFill>
            <a:schemeClr val="accent4"/>
          </a:solidFill>
          <a:ln w="9525" algn="ctr">
            <a:solidFill>
              <a:schemeClr val="bg1">
                <a:lumMod val="50000"/>
              </a:schemeClr>
            </a:solidFill>
            <a:miter lim="800000"/>
            <a:headEnd/>
            <a:tailEnd/>
          </a:ln>
        </p:spPr>
        <p:txBody>
          <a:bodyPr wrap="none" anchor="ctr"/>
          <a:lstStyle/>
          <a:p>
            <a:pPr algn="ctr"/>
            <a:r>
              <a:rPr lang="ko-KR" altLang="en-US" sz="1100" dirty="0">
                <a:latin typeface="+mn-ea"/>
              </a:rPr>
              <a:t>소멸</a:t>
            </a:r>
            <a:r>
              <a:rPr lang="en-US" altLang="ko-KR" sz="1100" dirty="0">
                <a:latin typeface="+mn-ea"/>
              </a:rPr>
              <a:t> (</a:t>
            </a:r>
            <a:r>
              <a:rPr lang="ko-KR" altLang="en-US" sz="1100" dirty="0">
                <a:latin typeface="+mn-ea"/>
              </a:rPr>
              <a:t>法 </a:t>
            </a:r>
            <a:r>
              <a:rPr lang="en-US" altLang="ko-KR" sz="1100" dirty="0">
                <a:latin typeface="+mn-ea"/>
              </a:rPr>
              <a:t>65</a:t>
            </a:r>
            <a:r>
              <a:rPr lang="ko-KR" altLang="en-US" sz="1100" dirty="0"/>
              <a:t>⑥</a:t>
            </a:r>
            <a:r>
              <a:rPr lang="en-US" altLang="ko-KR" sz="1100" dirty="0">
                <a:latin typeface="+mn-ea"/>
              </a:rPr>
              <a:t>)</a:t>
            </a:r>
            <a:endParaRPr lang="ko-KR" altLang="en-US" sz="1100" b="0" dirty="0">
              <a:latin typeface="+mn-ea"/>
            </a:endParaRPr>
          </a:p>
        </p:txBody>
      </p:sp>
      <p:sp>
        <p:nvSpPr>
          <p:cNvPr id="60" name="Rectangle 14"/>
          <p:cNvSpPr>
            <a:spLocks noChangeArrowheads="1"/>
          </p:cNvSpPr>
          <p:nvPr/>
        </p:nvSpPr>
        <p:spPr bwMode="auto">
          <a:xfrm>
            <a:off x="8659867" y="3979938"/>
            <a:ext cx="3017783" cy="327573"/>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출원공개</a:t>
            </a:r>
          </a:p>
        </p:txBody>
      </p:sp>
      <p:sp>
        <p:nvSpPr>
          <p:cNvPr id="61" name="Rectangle 14"/>
          <p:cNvSpPr>
            <a:spLocks noChangeArrowheads="1"/>
          </p:cNvSpPr>
          <p:nvPr/>
        </p:nvSpPr>
        <p:spPr bwMode="auto">
          <a:xfrm>
            <a:off x="8659867" y="4351413"/>
            <a:ext cx="3017783" cy="327573"/>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경고</a:t>
            </a:r>
            <a:r>
              <a:rPr lang="en-US" altLang="ko-KR" sz="1100" b="0" dirty="0">
                <a:latin typeface="+mn-ea"/>
              </a:rPr>
              <a:t>/</a:t>
            </a:r>
            <a:r>
              <a:rPr lang="ko-KR" altLang="en-US" sz="1100" b="0" dirty="0">
                <a:latin typeface="+mn-ea"/>
              </a:rPr>
              <a:t>안 때</a:t>
            </a:r>
          </a:p>
        </p:txBody>
      </p:sp>
      <p:sp>
        <p:nvSpPr>
          <p:cNvPr id="62" name="Rectangle 14"/>
          <p:cNvSpPr>
            <a:spLocks noChangeArrowheads="1"/>
          </p:cNvSpPr>
          <p:nvPr/>
        </p:nvSpPr>
        <p:spPr bwMode="auto">
          <a:xfrm>
            <a:off x="8659867" y="4725690"/>
            <a:ext cx="3017783" cy="327573"/>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정당한 </a:t>
            </a:r>
            <a:r>
              <a:rPr lang="ko-KR" altLang="en-US" sz="1100" b="0" dirty="0" err="1">
                <a:latin typeface="+mn-ea"/>
              </a:rPr>
              <a:t>권원없는</a:t>
            </a:r>
            <a:r>
              <a:rPr lang="ko-KR" altLang="en-US" sz="1100" b="0" dirty="0">
                <a:latin typeface="+mn-ea"/>
              </a:rPr>
              <a:t> 제</a:t>
            </a:r>
            <a:r>
              <a:rPr lang="en-US" altLang="ko-KR" sz="1100" b="0" dirty="0">
                <a:latin typeface="+mn-ea"/>
              </a:rPr>
              <a:t>3</a:t>
            </a:r>
            <a:r>
              <a:rPr lang="ko-KR" altLang="en-US" sz="1100" b="0" dirty="0">
                <a:latin typeface="+mn-ea"/>
              </a:rPr>
              <a:t>자가 출원발명을 업으로 실시</a:t>
            </a:r>
          </a:p>
        </p:txBody>
      </p:sp>
      <p:sp>
        <p:nvSpPr>
          <p:cNvPr id="66" name="Rectangle 14"/>
          <p:cNvSpPr>
            <a:spLocks noChangeArrowheads="1"/>
          </p:cNvSpPr>
          <p:nvPr/>
        </p:nvSpPr>
        <p:spPr bwMode="auto">
          <a:xfrm>
            <a:off x="8639176" y="5942966"/>
            <a:ext cx="3038475" cy="327573"/>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보상금청구권의 독립성</a:t>
            </a:r>
            <a:r>
              <a:rPr lang="en-US" altLang="ko-KR" sz="1100" dirty="0">
                <a:latin typeface="+mn-ea"/>
              </a:rPr>
              <a:t>(</a:t>
            </a:r>
            <a:r>
              <a:rPr lang="ko-KR" altLang="en-US" sz="1100" dirty="0">
                <a:latin typeface="+mn-ea"/>
              </a:rPr>
              <a:t>法 </a:t>
            </a:r>
            <a:r>
              <a:rPr lang="en-US" altLang="ko-KR" sz="1100" dirty="0">
                <a:latin typeface="+mn-ea"/>
              </a:rPr>
              <a:t>65</a:t>
            </a:r>
            <a:r>
              <a:rPr lang="ko-KR" altLang="en-US" sz="1100" dirty="0"/>
              <a:t>④</a:t>
            </a:r>
            <a:r>
              <a:rPr lang="en-US" altLang="ko-KR" sz="1100" dirty="0">
                <a:latin typeface="+mn-ea"/>
              </a:rPr>
              <a:t>)</a:t>
            </a:r>
            <a:endParaRPr lang="ko-KR" altLang="en-US" sz="1100" b="0" dirty="0">
              <a:latin typeface="+mn-ea"/>
            </a:endParaRPr>
          </a:p>
        </p:txBody>
      </p:sp>
      <p:sp>
        <p:nvSpPr>
          <p:cNvPr id="67" name="Rectangle 14"/>
          <p:cNvSpPr>
            <a:spLocks noChangeArrowheads="1"/>
          </p:cNvSpPr>
          <p:nvPr/>
        </p:nvSpPr>
        <p:spPr bwMode="auto">
          <a:xfrm>
            <a:off x="8659868" y="5126289"/>
            <a:ext cx="3017783" cy="327573"/>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보상금액</a:t>
            </a:r>
            <a:r>
              <a:rPr lang="en-US" altLang="ko-KR" sz="1100" b="0" dirty="0">
                <a:latin typeface="+mn-ea"/>
              </a:rPr>
              <a:t>(</a:t>
            </a:r>
            <a:r>
              <a:rPr lang="ko-KR" altLang="en-US" sz="1100" b="0" dirty="0">
                <a:latin typeface="+mn-ea"/>
              </a:rPr>
              <a:t>法 </a:t>
            </a:r>
            <a:r>
              <a:rPr lang="en-US" altLang="ko-KR" sz="1100" dirty="0">
                <a:latin typeface="+mn-ea"/>
              </a:rPr>
              <a:t>65②)</a:t>
            </a:r>
            <a:endParaRPr lang="ko-KR" altLang="en-US" sz="1100" b="0" dirty="0">
              <a:latin typeface="+mn-ea"/>
            </a:endParaRPr>
          </a:p>
        </p:txBody>
      </p:sp>
      <p:sp>
        <p:nvSpPr>
          <p:cNvPr id="68" name="Rectangle 14"/>
          <p:cNvSpPr>
            <a:spLocks noChangeArrowheads="1"/>
          </p:cNvSpPr>
          <p:nvPr/>
        </p:nvSpPr>
        <p:spPr bwMode="auto">
          <a:xfrm>
            <a:off x="8659868" y="5539126"/>
            <a:ext cx="3017783" cy="327573"/>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보상금청구권의 행사시기</a:t>
            </a:r>
            <a:r>
              <a:rPr lang="en-US" altLang="ko-KR" sz="1100" dirty="0">
                <a:latin typeface="+mn-ea"/>
              </a:rPr>
              <a:t>(</a:t>
            </a:r>
            <a:r>
              <a:rPr lang="ko-KR" altLang="en-US" sz="1100" dirty="0">
                <a:latin typeface="+mn-ea"/>
              </a:rPr>
              <a:t>法 </a:t>
            </a:r>
            <a:r>
              <a:rPr lang="en-US" altLang="ko-KR" sz="1100" dirty="0">
                <a:latin typeface="+mn-ea"/>
              </a:rPr>
              <a:t>65</a:t>
            </a:r>
            <a:r>
              <a:rPr lang="ko-KR" altLang="en-US" sz="1100" dirty="0"/>
              <a:t>③</a:t>
            </a:r>
            <a:r>
              <a:rPr lang="en-US" altLang="ko-KR" sz="1100" dirty="0">
                <a:latin typeface="+mn-ea"/>
              </a:rPr>
              <a:t>)</a:t>
            </a:r>
            <a:endParaRPr lang="ko-KR" altLang="en-US" sz="1100" dirty="0">
              <a:latin typeface="+mn-ea"/>
            </a:endParaRPr>
          </a:p>
        </p:txBody>
      </p:sp>
      <p:sp>
        <p:nvSpPr>
          <p:cNvPr id="69" name="Rectangle 14"/>
          <p:cNvSpPr>
            <a:spLocks noChangeArrowheads="1"/>
          </p:cNvSpPr>
          <p:nvPr/>
        </p:nvSpPr>
        <p:spPr bwMode="auto">
          <a:xfrm>
            <a:off x="8639176" y="6355803"/>
            <a:ext cx="3038475" cy="327573"/>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100" b="0" dirty="0">
                <a:latin typeface="+mn-ea"/>
              </a:rPr>
              <a:t>보상금청구권의 준용규정</a:t>
            </a:r>
            <a:r>
              <a:rPr lang="en-US" altLang="ko-KR" sz="1100" dirty="0">
                <a:latin typeface="+mn-ea"/>
              </a:rPr>
              <a:t>(</a:t>
            </a:r>
            <a:r>
              <a:rPr lang="ko-KR" altLang="en-US" sz="1100" dirty="0">
                <a:latin typeface="+mn-ea"/>
              </a:rPr>
              <a:t>法 </a:t>
            </a:r>
            <a:r>
              <a:rPr lang="en-US" altLang="ko-KR" sz="1100" dirty="0">
                <a:latin typeface="+mn-ea"/>
              </a:rPr>
              <a:t>65</a:t>
            </a:r>
            <a:r>
              <a:rPr lang="ko-KR" altLang="en-US" sz="1100" dirty="0"/>
              <a:t>⑤</a:t>
            </a:r>
            <a:r>
              <a:rPr lang="en-US" altLang="ko-KR" sz="1100" dirty="0">
                <a:latin typeface="+mn-ea"/>
              </a:rPr>
              <a:t>)</a:t>
            </a:r>
            <a:endParaRPr lang="ko-KR" altLang="en-US" sz="1100" b="0" dirty="0">
              <a:latin typeface="+mn-ea"/>
            </a:endParaRPr>
          </a:p>
        </p:txBody>
      </p:sp>
      <p:cxnSp>
        <p:nvCxnSpPr>
          <p:cNvPr id="65" name="꺾인 연결선 64"/>
          <p:cNvCxnSpPr>
            <a:stCxn id="56" idx="3"/>
            <a:endCxn id="60" idx="1"/>
          </p:cNvCxnSpPr>
          <p:nvPr/>
        </p:nvCxnSpPr>
        <p:spPr>
          <a:xfrm flipV="1">
            <a:off x="8029575" y="4143725"/>
            <a:ext cx="630292" cy="93671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stCxn id="56" idx="3"/>
            <a:endCxn id="61" idx="1"/>
          </p:cNvCxnSpPr>
          <p:nvPr/>
        </p:nvCxnSpPr>
        <p:spPr>
          <a:xfrm flipV="1">
            <a:off x="8029575" y="4515200"/>
            <a:ext cx="630292" cy="56523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꺾인 연결선 72"/>
          <p:cNvCxnSpPr>
            <a:stCxn id="56" idx="3"/>
            <a:endCxn id="62" idx="1"/>
          </p:cNvCxnSpPr>
          <p:nvPr/>
        </p:nvCxnSpPr>
        <p:spPr>
          <a:xfrm flipV="1">
            <a:off x="8029575" y="4889477"/>
            <a:ext cx="630292" cy="19096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꺾인 연결선 74"/>
          <p:cNvCxnSpPr>
            <a:stCxn id="57" idx="3"/>
            <a:endCxn id="67" idx="1"/>
          </p:cNvCxnSpPr>
          <p:nvPr/>
        </p:nvCxnSpPr>
        <p:spPr>
          <a:xfrm flipV="1">
            <a:off x="8029575" y="5290076"/>
            <a:ext cx="630293" cy="20319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꺾인 연결선 77"/>
          <p:cNvCxnSpPr>
            <a:stCxn id="57" idx="3"/>
            <a:endCxn id="69" idx="1"/>
          </p:cNvCxnSpPr>
          <p:nvPr/>
        </p:nvCxnSpPr>
        <p:spPr>
          <a:xfrm>
            <a:off x="8029575" y="5493275"/>
            <a:ext cx="609601" cy="102631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꺾인 연결선 79"/>
          <p:cNvCxnSpPr>
            <a:stCxn id="57" idx="3"/>
            <a:endCxn id="68" idx="1"/>
          </p:cNvCxnSpPr>
          <p:nvPr/>
        </p:nvCxnSpPr>
        <p:spPr>
          <a:xfrm>
            <a:off x="8029575" y="5493275"/>
            <a:ext cx="630293" cy="20963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꺾인 연결선 81"/>
          <p:cNvCxnSpPr>
            <a:stCxn id="57" idx="3"/>
            <a:endCxn id="66" idx="1"/>
          </p:cNvCxnSpPr>
          <p:nvPr/>
        </p:nvCxnSpPr>
        <p:spPr>
          <a:xfrm>
            <a:off x="8029575" y="5493275"/>
            <a:ext cx="609601" cy="61347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277</a:t>
            </a:r>
            <a:endParaRPr lang="ko-KR" altLang="en-US" dirty="0"/>
          </a:p>
        </p:txBody>
      </p:sp>
      <p:sp>
        <p:nvSpPr>
          <p:cNvPr id="5" name="화살표: 오른쪽 4">
            <a:extLst>
              <a:ext uri="{FF2B5EF4-FFF2-40B4-BE49-F238E27FC236}">
                <a16:creationId xmlns:a16="http://schemas.microsoft.com/office/drawing/2014/main" id="{CD196411-E23A-4EEE-BA2C-1E7F178A9927}"/>
              </a:ext>
            </a:extLst>
          </p:cNvPr>
          <p:cNvSpPr/>
          <p:nvPr/>
        </p:nvSpPr>
        <p:spPr>
          <a:xfrm>
            <a:off x="5120649" y="4631676"/>
            <a:ext cx="696685" cy="1395623"/>
          </a:xfrm>
          <a:prstGeom prst="rightArrow">
            <a:avLst>
              <a:gd name="adj1" fmla="val 83696"/>
              <a:gd name="adj2" fmla="val 5000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634031852"/>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64</a:t>
            </a:r>
            <a:r>
              <a:rPr lang="ko-KR" altLang="en-US" dirty="0"/>
              <a:t>조</a:t>
            </a:r>
            <a:r>
              <a:rPr lang="en-US" altLang="ko-KR" dirty="0"/>
              <a:t>, </a:t>
            </a:r>
            <a:r>
              <a:rPr lang="ko-KR" altLang="en-US" dirty="0"/>
              <a:t>제</a:t>
            </a:r>
            <a:r>
              <a:rPr lang="en-US" altLang="ko-KR" dirty="0"/>
              <a:t>65</a:t>
            </a:r>
            <a:r>
              <a:rPr lang="ko-KR" altLang="en-US" dirty="0"/>
              <a:t>조</a:t>
            </a:r>
          </a:p>
        </p:txBody>
      </p:sp>
      <p:sp>
        <p:nvSpPr>
          <p:cNvPr id="4" name="텍스트 개체 틀 3"/>
          <p:cNvSpPr>
            <a:spLocks noGrp="1"/>
          </p:cNvSpPr>
          <p:nvPr>
            <p:ph type="body" sz="quarter" idx="13"/>
          </p:nvPr>
        </p:nvSpPr>
        <p:spPr/>
        <p:txBody>
          <a:bodyPr/>
          <a:lstStyle/>
          <a:p>
            <a:r>
              <a:rPr lang="ko-KR" altLang="en-US" dirty="0"/>
              <a:t>보정과 </a:t>
            </a:r>
            <a:r>
              <a:rPr lang="ko-KR" altLang="en-US" dirty="0" err="1"/>
              <a:t>재경고</a:t>
            </a:r>
            <a:endParaRPr lang="ko-KR" altLang="en-US" dirty="0"/>
          </a:p>
        </p:txBody>
      </p:sp>
      <p:sp>
        <p:nvSpPr>
          <p:cNvPr id="93" name="TextBox 92"/>
          <p:cNvSpPr txBox="1"/>
          <p:nvPr/>
        </p:nvSpPr>
        <p:spPr>
          <a:xfrm>
            <a:off x="77875" y="986046"/>
            <a:ext cx="11936323" cy="738664"/>
          </a:xfrm>
          <a:prstGeom prst="rect">
            <a:avLst/>
          </a:prstGeom>
          <a:noFill/>
        </p:spPr>
        <p:txBody>
          <a:bodyPr wrap="square" rtlCol="0">
            <a:spAutoFit/>
          </a:bodyPr>
          <a:lstStyle/>
          <a:p>
            <a:pPr fontAlgn="base"/>
            <a:r>
              <a:rPr lang="ko-KR" altLang="en-US" sz="1400" dirty="0" err="1">
                <a:solidFill>
                  <a:schemeClr val="tx2"/>
                </a:solidFill>
              </a:rPr>
              <a:t>출원인이</a:t>
            </a:r>
            <a:r>
              <a:rPr lang="ko-KR" altLang="en-US" sz="1400" dirty="0">
                <a:solidFill>
                  <a:schemeClr val="tx2"/>
                </a:solidFill>
              </a:rPr>
              <a:t> 출원발명임을 경고한 후 청구범위 보정을 한 경우에 </a:t>
            </a:r>
            <a:r>
              <a:rPr lang="ko-KR" altLang="en-US" sz="1400" dirty="0" err="1">
                <a:solidFill>
                  <a:schemeClr val="tx2"/>
                </a:solidFill>
              </a:rPr>
              <a:t>재경고를</a:t>
            </a:r>
            <a:r>
              <a:rPr lang="ko-KR" altLang="en-US" sz="1400" dirty="0">
                <a:solidFill>
                  <a:schemeClr val="tx2"/>
                </a:solidFill>
              </a:rPr>
              <a:t> 하여야 하는지 여부가 문제된다</a:t>
            </a:r>
            <a:r>
              <a:rPr lang="en-US" altLang="ko-KR" sz="1400" dirty="0">
                <a:solidFill>
                  <a:schemeClr val="tx2"/>
                </a:solidFill>
              </a:rPr>
              <a:t>. </a:t>
            </a:r>
            <a:r>
              <a:rPr lang="ko-KR" altLang="en-US" sz="1400" dirty="0">
                <a:solidFill>
                  <a:schemeClr val="tx2"/>
                </a:solidFill>
                <a:highlight>
                  <a:srgbClr val="FFFF00"/>
                </a:highlight>
              </a:rPr>
              <a:t>보정에 의하여 청구범위가 확장 또는 변경된 경우</a:t>
            </a:r>
            <a:r>
              <a:rPr lang="ko-KR" altLang="en-US" sz="1400" dirty="0">
                <a:solidFill>
                  <a:schemeClr val="tx2"/>
                </a:solidFill>
              </a:rPr>
              <a:t>에는 그 확장 또는 변경된 내용에 대하여 보상금청구권을 행사하기 위해서는 다시 경고를 하여야 하나 </a:t>
            </a:r>
            <a:r>
              <a:rPr lang="ko-KR" altLang="en-US" sz="1400" dirty="0">
                <a:solidFill>
                  <a:schemeClr val="tx2"/>
                </a:solidFill>
                <a:highlight>
                  <a:srgbClr val="FFFF00"/>
                </a:highlight>
              </a:rPr>
              <a:t>보정에 의하여 청구범위가 감축 또는 삭제된 경우</a:t>
            </a:r>
            <a:r>
              <a:rPr lang="ko-KR" altLang="en-US" sz="1400" dirty="0">
                <a:solidFill>
                  <a:schemeClr val="tx2"/>
                </a:solidFill>
              </a:rPr>
              <a:t>에는 재경고를 할 필요가 없다</a:t>
            </a:r>
            <a:r>
              <a:rPr lang="en-US" altLang="ko-KR" sz="1400" dirty="0">
                <a:solidFill>
                  <a:schemeClr val="tx2"/>
                </a:solidFill>
              </a:rPr>
              <a:t>. </a:t>
            </a:r>
            <a:endParaRPr lang="ko-KR" altLang="en-US" sz="1400" dirty="0">
              <a:solidFill>
                <a:schemeClr val="tx2"/>
              </a:solidFill>
            </a:endParaRPr>
          </a:p>
        </p:txBody>
      </p:sp>
      <p:cxnSp>
        <p:nvCxnSpPr>
          <p:cNvPr id="95" name="직선 연결선 94"/>
          <p:cNvCxnSpPr/>
          <p:nvPr/>
        </p:nvCxnSpPr>
        <p:spPr>
          <a:xfrm>
            <a:off x="0" y="172471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직선 화살표 연결선 39"/>
          <p:cNvCxnSpPr/>
          <p:nvPr/>
        </p:nvCxnSpPr>
        <p:spPr>
          <a:xfrm>
            <a:off x="584496" y="3183294"/>
            <a:ext cx="10464504"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1" name="직사각형 40"/>
          <p:cNvSpPr/>
          <p:nvPr/>
        </p:nvSpPr>
        <p:spPr>
          <a:xfrm>
            <a:off x="584496" y="3032837"/>
            <a:ext cx="989461" cy="30091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 甲 출원</a:t>
            </a:r>
          </a:p>
        </p:txBody>
      </p:sp>
      <p:sp>
        <p:nvSpPr>
          <p:cNvPr id="42" name="직사각형 41"/>
          <p:cNvSpPr/>
          <p:nvPr/>
        </p:nvSpPr>
        <p:spPr>
          <a:xfrm>
            <a:off x="2127546" y="3032837"/>
            <a:ext cx="989461" cy="30091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공개</a:t>
            </a:r>
          </a:p>
        </p:txBody>
      </p:sp>
      <p:sp>
        <p:nvSpPr>
          <p:cNvPr id="63" name="직사각형 62"/>
          <p:cNvSpPr/>
          <p:nvPr/>
        </p:nvSpPr>
        <p:spPr>
          <a:xfrm>
            <a:off x="4165896" y="3032837"/>
            <a:ext cx="989461" cy="30091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경고</a:t>
            </a:r>
          </a:p>
        </p:txBody>
      </p:sp>
      <p:sp>
        <p:nvSpPr>
          <p:cNvPr id="64" name="직사각형 63"/>
          <p:cNvSpPr/>
          <p:nvPr/>
        </p:nvSpPr>
        <p:spPr>
          <a:xfrm>
            <a:off x="5861346" y="3032837"/>
            <a:ext cx="989461" cy="30091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보정</a:t>
            </a:r>
          </a:p>
        </p:txBody>
      </p:sp>
      <p:sp>
        <p:nvSpPr>
          <p:cNvPr id="70" name="직사각형 69"/>
          <p:cNvSpPr/>
          <p:nvPr/>
        </p:nvSpPr>
        <p:spPr>
          <a:xfrm>
            <a:off x="7699671" y="3032837"/>
            <a:ext cx="989461" cy="30091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재경고</a:t>
            </a:r>
            <a:endParaRPr lang="ko-KR" altLang="en-US" sz="1400" dirty="0">
              <a:solidFill>
                <a:schemeClr val="tx1"/>
              </a:solidFill>
            </a:endParaRPr>
          </a:p>
        </p:txBody>
      </p:sp>
      <p:sp>
        <p:nvSpPr>
          <p:cNvPr id="72" name="직사각형 71"/>
          <p:cNvSpPr/>
          <p:nvPr/>
        </p:nvSpPr>
        <p:spPr>
          <a:xfrm>
            <a:off x="9480846" y="3032837"/>
            <a:ext cx="989461" cy="30091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등록</a:t>
            </a:r>
          </a:p>
        </p:txBody>
      </p:sp>
      <p:sp>
        <p:nvSpPr>
          <p:cNvPr id="74" name="직사각형 73"/>
          <p:cNvSpPr/>
          <p:nvPr/>
        </p:nvSpPr>
        <p:spPr>
          <a:xfrm>
            <a:off x="584496" y="2594687"/>
            <a:ext cx="989461" cy="300914"/>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 C</a:t>
            </a:r>
            <a:endParaRPr lang="ko-KR" altLang="en-US" sz="1200" dirty="0">
              <a:solidFill>
                <a:schemeClr val="tx1"/>
              </a:solidFill>
            </a:endParaRPr>
          </a:p>
        </p:txBody>
      </p:sp>
      <p:sp>
        <p:nvSpPr>
          <p:cNvPr id="76" name="직사각형 75"/>
          <p:cNvSpPr/>
          <p:nvPr/>
        </p:nvSpPr>
        <p:spPr>
          <a:xfrm>
            <a:off x="584496" y="2293773"/>
            <a:ext cx="989461" cy="300914"/>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C</a:t>
            </a:r>
            <a:endParaRPr lang="ko-KR" altLang="en-US" sz="1200" dirty="0">
              <a:solidFill>
                <a:schemeClr val="tx1"/>
              </a:solidFill>
            </a:endParaRPr>
          </a:p>
        </p:txBody>
      </p:sp>
      <p:sp>
        <p:nvSpPr>
          <p:cNvPr id="77" name="직사각형 76"/>
          <p:cNvSpPr/>
          <p:nvPr/>
        </p:nvSpPr>
        <p:spPr>
          <a:xfrm>
            <a:off x="5861345" y="2594687"/>
            <a:ext cx="989461" cy="300914"/>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 C</a:t>
            </a:r>
            <a:endParaRPr lang="ko-KR" altLang="en-US" sz="1200" dirty="0">
              <a:solidFill>
                <a:schemeClr val="tx1"/>
              </a:solidFill>
            </a:endParaRPr>
          </a:p>
        </p:txBody>
      </p:sp>
      <p:sp>
        <p:nvSpPr>
          <p:cNvPr id="79" name="직사각형 78"/>
          <p:cNvSpPr/>
          <p:nvPr/>
        </p:nvSpPr>
        <p:spPr>
          <a:xfrm>
            <a:off x="5861345" y="2293773"/>
            <a:ext cx="989461" cy="300914"/>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 C</a:t>
            </a:r>
            <a:endParaRPr lang="ko-KR" altLang="en-US" sz="1200" dirty="0">
              <a:solidFill>
                <a:schemeClr val="tx1"/>
              </a:solidFill>
            </a:endParaRPr>
          </a:p>
        </p:txBody>
      </p:sp>
      <p:sp>
        <p:nvSpPr>
          <p:cNvPr id="81" name="직사각형 80"/>
          <p:cNvSpPr/>
          <p:nvPr/>
        </p:nvSpPr>
        <p:spPr>
          <a:xfrm>
            <a:off x="3812332" y="2293773"/>
            <a:ext cx="1696588" cy="276225"/>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乙</a:t>
            </a:r>
            <a:r>
              <a:rPr lang="en-US" altLang="ko-KR" sz="1200" dirty="0">
                <a:solidFill>
                  <a:schemeClr val="tx1"/>
                </a:solidFill>
              </a:rPr>
              <a:t>, </a:t>
            </a:r>
            <a:r>
              <a:rPr lang="ko-KR" altLang="en-US" sz="1200" dirty="0">
                <a:solidFill>
                  <a:schemeClr val="tx1"/>
                </a:solidFill>
              </a:rPr>
              <a:t>丙</a:t>
            </a:r>
            <a:r>
              <a:rPr lang="en-US" altLang="ko-KR" sz="1200" dirty="0">
                <a:solidFill>
                  <a:schemeClr val="tx1"/>
                </a:solidFill>
              </a:rPr>
              <a:t>, </a:t>
            </a:r>
            <a:r>
              <a:rPr lang="ko-KR" altLang="en-US" sz="1200" dirty="0">
                <a:solidFill>
                  <a:schemeClr val="tx1"/>
                </a:solidFill>
              </a:rPr>
              <a:t>丁</a:t>
            </a:r>
            <a:r>
              <a:rPr lang="en-US" altLang="ko-KR" sz="1200" dirty="0">
                <a:solidFill>
                  <a:schemeClr val="tx1"/>
                </a:solidFill>
              </a:rPr>
              <a:t>, </a:t>
            </a:r>
            <a:r>
              <a:rPr lang="ko-KR" altLang="en-US" sz="1200" dirty="0">
                <a:solidFill>
                  <a:schemeClr val="tx1"/>
                </a:solidFill>
              </a:rPr>
              <a:t>戊에게 경고</a:t>
            </a:r>
          </a:p>
        </p:txBody>
      </p:sp>
      <p:cxnSp>
        <p:nvCxnSpPr>
          <p:cNvPr id="83" name="직선 연결선 82"/>
          <p:cNvCxnSpPr>
            <a:endCxn id="63" idx="0"/>
          </p:cNvCxnSpPr>
          <p:nvPr/>
        </p:nvCxnSpPr>
        <p:spPr>
          <a:xfrm>
            <a:off x="4660627" y="2590457"/>
            <a:ext cx="0" cy="44238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자유형 11"/>
          <p:cNvSpPr/>
          <p:nvPr/>
        </p:nvSpPr>
        <p:spPr>
          <a:xfrm>
            <a:off x="3295650" y="3162300"/>
            <a:ext cx="7753350" cy="2600325"/>
          </a:xfrm>
          <a:custGeom>
            <a:avLst/>
            <a:gdLst>
              <a:gd name="connsiteX0" fmla="*/ 0 w 7886700"/>
              <a:gd name="connsiteY0" fmla="*/ 0 h 2600325"/>
              <a:gd name="connsiteX1" fmla="*/ 0 w 7886700"/>
              <a:gd name="connsiteY1" fmla="*/ 2600325 h 2600325"/>
              <a:gd name="connsiteX2" fmla="*/ 7886700 w 7886700"/>
              <a:gd name="connsiteY2" fmla="*/ 2600325 h 2600325"/>
            </a:gdLst>
            <a:ahLst/>
            <a:cxnLst>
              <a:cxn ang="0">
                <a:pos x="connsiteX0" y="connsiteY0"/>
              </a:cxn>
              <a:cxn ang="0">
                <a:pos x="connsiteX1" y="connsiteY1"/>
              </a:cxn>
              <a:cxn ang="0">
                <a:pos x="connsiteX2" y="connsiteY2"/>
              </a:cxn>
            </a:cxnLst>
            <a:rect l="l" t="t" r="r" b="b"/>
            <a:pathLst>
              <a:path w="7886700" h="2600325">
                <a:moveTo>
                  <a:pt x="0" y="0"/>
                </a:moveTo>
                <a:lnTo>
                  <a:pt x="0" y="2600325"/>
                </a:lnTo>
                <a:lnTo>
                  <a:pt x="7886700" y="2600325"/>
                </a:lnTo>
              </a:path>
            </a:pathLst>
          </a:custGeom>
          <a:ln w="381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85" name="자유형 84"/>
          <p:cNvSpPr/>
          <p:nvPr/>
        </p:nvSpPr>
        <p:spPr>
          <a:xfrm>
            <a:off x="3476625" y="3162301"/>
            <a:ext cx="7572375" cy="1943100"/>
          </a:xfrm>
          <a:custGeom>
            <a:avLst/>
            <a:gdLst>
              <a:gd name="connsiteX0" fmla="*/ 0 w 7886700"/>
              <a:gd name="connsiteY0" fmla="*/ 0 h 2600325"/>
              <a:gd name="connsiteX1" fmla="*/ 0 w 7886700"/>
              <a:gd name="connsiteY1" fmla="*/ 2600325 h 2600325"/>
              <a:gd name="connsiteX2" fmla="*/ 7886700 w 7886700"/>
              <a:gd name="connsiteY2" fmla="*/ 2600325 h 2600325"/>
            </a:gdLst>
            <a:ahLst/>
            <a:cxnLst>
              <a:cxn ang="0">
                <a:pos x="connsiteX0" y="connsiteY0"/>
              </a:cxn>
              <a:cxn ang="0">
                <a:pos x="connsiteX1" y="connsiteY1"/>
              </a:cxn>
              <a:cxn ang="0">
                <a:pos x="connsiteX2" y="connsiteY2"/>
              </a:cxn>
            </a:cxnLst>
            <a:rect l="l" t="t" r="r" b="b"/>
            <a:pathLst>
              <a:path w="7886700" h="2600325">
                <a:moveTo>
                  <a:pt x="0" y="0"/>
                </a:moveTo>
                <a:lnTo>
                  <a:pt x="0" y="2600325"/>
                </a:lnTo>
                <a:lnTo>
                  <a:pt x="7886700" y="2600325"/>
                </a:lnTo>
              </a:path>
            </a:pathLst>
          </a:custGeom>
          <a:ln w="381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86" name="자유형 85"/>
          <p:cNvSpPr/>
          <p:nvPr/>
        </p:nvSpPr>
        <p:spPr>
          <a:xfrm>
            <a:off x="3648075" y="3183294"/>
            <a:ext cx="7400925" cy="1279168"/>
          </a:xfrm>
          <a:custGeom>
            <a:avLst/>
            <a:gdLst>
              <a:gd name="connsiteX0" fmla="*/ 0 w 7886700"/>
              <a:gd name="connsiteY0" fmla="*/ 0 h 2600325"/>
              <a:gd name="connsiteX1" fmla="*/ 0 w 7886700"/>
              <a:gd name="connsiteY1" fmla="*/ 2600325 h 2600325"/>
              <a:gd name="connsiteX2" fmla="*/ 7886700 w 7886700"/>
              <a:gd name="connsiteY2" fmla="*/ 2600325 h 2600325"/>
            </a:gdLst>
            <a:ahLst/>
            <a:cxnLst>
              <a:cxn ang="0">
                <a:pos x="connsiteX0" y="connsiteY0"/>
              </a:cxn>
              <a:cxn ang="0">
                <a:pos x="connsiteX1" y="connsiteY1"/>
              </a:cxn>
              <a:cxn ang="0">
                <a:pos x="connsiteX2" y="connsiteY2"/>
              </a:cxn>
            </a:cxnLst>
            <a:rect l="l" t="t" r="r" b="b"/>
            <a:pathLst>
              <a:path w="7886700" h="2600325">
                <a:moveTo>
                  <a:pt x="0" y="0"/>
                </a:moveTo>
                <a:lnTo>
                  <a:pt x="0" y="2600325"/>
                </a:lnTo>
                <a:lnTo>
                  <a:pt x="7886700" y="2600325"/>
                </a:lnTo>
              </a:path>
            </a:pathLst>
          </a:custGeom>
          <a:ln w="381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89" name="자유형 88"/>
          <p:cNvSpPr/>
          <p:nvPr/>
        </p:nvSpPr>
        <p:spPr>
          <a:xfrm>
            <a:off x="3812332" y="3183293"/>
            <a:ext cx="3450480" cy="690561"/>
          </a:xfrm>
          <a:custGeom>
            <a:avLst/>
            <a:gdLst>
              <a:gd name="connsiteX0" fmla="*/ 0 w 7886700"/>
              <a:gd name="connsiteY0" fmla="*/ 0 h 2600325"/>
              <a:gd name="connsiteX1" fmla="*/ 0 w 7886700"/>
              <a:gd name="connsiteY1" fmla="*/ 2600325 h 2600325"/>
              <a:gd name="connsiteX2" fmla="*/ 7886700 w 7886700"/>
              <a:gd name="connsiteY2" fmla="*/ 2600325 h 2600325"/>
            </a:gdLst>
            <a:ahLst/>
            <a:cxnLst>
              <a:cxn ang="0">
                <a:pos x="connsiteX0" y="connsiteY0"/>
              </a:cxn>
              <a:cxn ang="0">
                <a:pos x="connsiteX1" y="connsiteY1"/>
              </a:cxn>
              <a:cxn ang="0">
                <a:pos x="connsiteX2" y="connsiteY2"/>
              </a:cxn>
            </a:cxnLst>
            <a:rect l="l" t="t" r="r" b="b"/>
            <a:pathLst>
              <a:path w="7886700" h="2600325">
                <a:moveTo>
                  <a:pt x="0" y="0"/>
                </a:moveTo>
                <a:lnTo>
                  <a:pt x="0" y="2600325"/>
                </a:lnTo>
                <a:lnTo>
                  <a:pt x="7886700" y="2600325"/>
                </a:lnTo>
              </a:path>
            </a:pathLst>
          </a:custGeom>
          <a:ln w="381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90" name="직사각형 89"/>
          <p:cNvSpPr/>
          <p:nvPr/>
        </p:nvSpPr>
        <p:spPr>
          <a:xfrm>
            <a:off x="4783882" y="5829300"/>
            <a:ext cx="1696588" cy="2762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乙 </a:t>
            </a:r>
            <a:r>
              <a:rPr lang="en-US" altLang="ko-KR" sz="1200" dirty="0">
                <a:solidFill>
                  <a:schemeClr val="tx1"/>
                </a:solidFill>
              </a:rPr>
              <a:t>A </a:t>
            </a:r>
            <a:r>
              <a:rPr lang="ko-KR" altLang="en-US" sz="1200" dirty="0">
                <a:solidFill>
                  <a:schemeClr val="tx1"/>
                </a:solidFill>
              </a:rPr>
              <a:t>실시</a:t>
            </a:r>
          </a:p>
        </p:txBody>
      </p:sp>
      <p:sp>
        <p:nvSpPr>
          <p:cNvPr id="91" name="직사각형 90"/>
          <p:cNvSpPr/>
          <p:nvPr/>
        </p:nvSpPr>
        <p:spPr>
          <a:xfrm>
            <a:off x="4783882" y="5143501"/>
            <a:ext cx="1696588" cy="2762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丙 </a:t>
            </a:r>
            <a:r>
              <a:rPr lang="en-US" altLang="ko-KR" sz="1200" dirty="0">
                <a:solidFill>
                  <a:schemeClr val="tx1"/>
                </a:solidFill>
              </a:rPr>
              <a:t>B </a:t>
            </a:r>
            <a:r>
              <a:rPr lang="ko-KR" altLang="en-US" sz="1200" dirty="0">
                <a:solidFill>
                  <a:schemeClr val="tx1"/>
                </a:solidFill>
              </a:rPr>
              <a:t>실시</a:t>
            </a:r>
          </a:p>
        </p:txBody>
      </p:sp>
      <p:sp>
        <p:nvSpPr>
          <p:cNvPr id="92" name="직사각형 91"/>
          <p:cNvSpPr/>
          <p:nvPr/>
        </p:nvSpPr>
        <p:spPr>
          <a:xfrm>
            <a:off x="4783882" y="4510087"/>
            <a:ext cx="1696588" cy="2762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丁 </a:t>
            </a:r>
            <a:r>
              <a:rPr lang="en-US" altLang="ko-KR" sz="1200" dirty="0">
                <a:solidFill>
                  <a:schemeClr val="tx1"/>
                </a:solidFill>
              </a:rPr>
              <a:t>C </a:t>
            </a:r>
            <a:r>
              <a:rPr lang="ko-KR" altLang="en-US" sz="1200" dirty="0">
                <a:solidFill>
                  <a:schemeClr val="tx1"/>
                </a:solidFill>
              </a:rPr>
              <a:t>실시</a:t>
            </a:r>
          </a:p>
        </p:txBody>
      </p:sp>
      <p:sp>
        <p:nvSpPr>
          <p:cNvPr id="94" name="직사각형 93"/>
          <p:cNvSpPr/>
          <p:nvPr/>
        </p:nvSpPr>
        <p:spPr>
          <a:xfrm>
            <a:off x="4783882" y="3935766"/>
            <a:ext cx="1696588" cy="2762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戊 </a:t>
            </a:r>
            <a:r>
              <a:rPr lang="en-US" altLang="ko-KR" sz="1200" dirty="0">
                <a:solidFill>
                  <a:schemeClr val="tx1"/>
                </a:solidFill>
              </a:rPr>
              <a:t>C </a:t>
            </a:r>
            <a:r>
              <a:rPr lang="ko-KR" altLang="en-US" sz="1200" dirty="0">
                <a:solidFill>
                  <a:schemeClr val="tx1"/>
                </a:solidFill>
              </a:rPr>
              <a:t>실시</a:t>
            </a:r>
          </a:p>
        </p:txBody>
      </p:sp>
      <p:cxnSp>
        <p:nvCxnSpPr>
          <p:cNvPr id="14" name="직선 연결선 13"/>
          <p:cNvCxnSpPr>
            <a:stCxn id="63" idx="2"/>
          </p:cNvCxnSpPr>
          <p:nvPr/>
        </p:nvCxnSpPr>
        <p:spPr>
          <a:xfrm flipH="1">
            <a:off x="4660626" y="3333751"/>
            <a:ext cx="1" cy="320992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직선 연결선 95"/>
          <p:cNvCxnSpPr/>
          <p:nvPr/>
        </p:nvCxnSpPr>
        <p:spPr>
          <a:xfrm flipH="1">
            <a:off x="9975576" y="3333751"/>
            <a:ext cx="1" cy="320992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직선 연결선 96"/>
          <p:cNvCxnSpPr/>
          <p:nvPr/>
        </p:nvCxnSpPr>
        <p:spPr>
          <a:xfrm flipH="1">
            <a:off x="8194401" y="3333751"/>
            <a:ext cx="1" cy="320992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8" name="직사각형 97"/>
          <p:cNvSpPr/>
          <p:nvPr/>
        </p:nvSpPr>
        <p:spPr>
          <a:xfrm>
            <a:off x="7346107" y="2293773"/>
            <a:ext cx="1696588" cy="276225"/>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丙에게 경고</a:t>
            </a:r>
          </a:p>
        </p:txBody>
      </p:sp>
      <p:cxnSp>
        <p:nvCxnSpPr>
          <p:cNvPr id="99" name="직선 연결선 98"/>
          <p:cNvCxnSpPr/>
          <p:nvPr/>
        </p:nvCxnSpPr>
        <p:spPr>
          <a:xfrm>
            <a:off x="8187778" y="2590457"/>
            <a:ext cx="0" cy="44238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 name="직선 연결선 16"/>
          <p:cNvCxnSpPr/>
          <p:nvPr/>
        </p:nvCxnSpPr>
        <p:spPr>
          <a:xfrm>
            <a:off x="4660627" y="4462462"/>
            <a:ext cx="5314949" cy="0"/>
          </a:xfrm>
          <a:prstGeom prst="line">
            <a:avLst/>
          </a:prstGeom>
          <a:ln w="5715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직선 연결선 99"/>
          <p:cNvCxnSpPr/>
          <p:nvPr/>
        </p:nvCxnSpPr>
        <p:spPr>
          <a:xfrm>
            <a:off x="4660627" y="3873854"/>
            <a:ext cx="2657474" cy="0"/>
          </a:xfrm>
          <a:prstGeom prst="line">
            <a:avLst/>
          </a:prstGeom>
          <a:ln w="5715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직선 연결선 100"/>
          <p:cNvCxnSpPr/>
          <p:nvPr/>
        </p:nvCxnSpPr>
        <p:spPr>
          <a:xfrm>
            <a:off x="8194402" y="5093055"/>
            <a:ext cx="1809179" cy="0"/>
          </a:xfrm>
          <a:prstGeom prst="line">
            <a:avLst/>
          </a:prstGeom>
          <a:ln w="5715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모서리가 둥근 사각형 설명선 23"/>
          <p:cNvSpPr/>
          <p:nvPr/>
        </p:nvSpPr>
        <p:spPr>
          <a:xfrm>
            <a:off x="9315450" y="1924050"/>
            <a:ext cx="790575" cy="760248"/>
          </a:xfrm>
          <a:prstGeom prst="wedgeRoundRectCallout">
            <a:avLst>
              <a:gd name="adj1" fmla="val -71132"/>
              <a:gd name="adj2" fmla="val 14478"/>
              <a:gd name="adj3" fmla="val 16667"/>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A : </a:t>
            </a:r>
            <a:r>
              <a:rPr lang="ko-KR" altLang="en-US" sz="1200" dirty="0">
                <a:solidFill>
                  <a:schemeClr val="tx1"/>
                </a:solidFill>
              </a:rPr>
              <a:t>삭제</a:t>
            </a:r>
            <a:endParaRPr lang="en-US" altLang="ko-KR" sz="1200" dirty="0">
              <a:solidFill>
                <a:schemeClr val="tx1"/>
              </a:solidFill>
            </a:endParaRPr>
          </a:p>
          <a:p>
            <a:r>
              <a:rPr lang="en-US" altLang="ko-KR" sz="1200" dirty="0">
                <a:solidFill>
                  <a:schemeClr val="tx1"/>
                </a:solidFill>
              </a:rPr>
              <a:t>B : </a:t>
            </a:r>
            <a:r>
              <a:rPr lang="ko-KR" altLang="en-US" sz="1200" dirty="0">
                <a:solidFill>
                  <a:schemeClr val="tx1"/>
                </a:solidFill>
              </a:rPr>
              <a:t>추가</a:t>
            </a:r>
            <a:endParaRPr lang="en-US" altLang="ko-KR" sz="1200" dirty="0">
              <a:solidFill>
                <a:schemeClr val="tx1"/>
              </a:solidFill>
            </a:endParaRPr>
          </a:p>
          <a:p>
            <a:r>
              <a:rPr lang="en-US" altLang="ko-KR" sz="1200" dirty="0">
                <a:solidFill>
                  <a:schemeClr val="tx1"/>
                </a:solidFill>
              </a:rPr>
              <a:t>C : </a:t>
            </a:r>
            <a:r>
              <a:rPr lang="ko-KR" altLang="en-US" sz="1200" dirty="0">
                <a:solidFill>
                  <a:schemeClr val="tx1"/>
                </a:solidFill>
              </a:rPr>
              <a:t>유지</a:t>
            </a:r>
          </a:p>
        </p:txBody>
      </p:sp>
      <p:sp>
        <p:nvSpPr>
          <p:cNvPr id="2" name="슬라이드 번호 개체 틀 1"/>
          <p:cNvSpPr>
            <a:spLocks noGrp="1"/>
          </p:cNvSpPr>
          <p:nvPr>
            <p:ph type="sldNum" sz="quarter" idx="12"/>
          </p:nvPr>
        </p:nvSpPr>
        <p:spPr/>
        <p:txBody>
          <a:bodyPr/>
          <a:lstStyle/>
          <a:p>
            <a:r>
              <a:rPr lang="en-US" altLang="ko-KR"/>
              <a:t>278</a:t>
            </a:r>
            <a:endParaRPr lang="ko-KR" altLang="en-US" dirty="0"/>
          </a:p>
        </p:txBody>
      </p:sp>
    </p:spTree>
    <p:extLst>
      <p:ext uri="{BB962C8B-B14F-4D97-AF65-F5344CB8AC3E}">
        <p14:creationId xmlns:p14="http://schemas.microsoft.com/office/powerpoint/2010/main" val="2774655921"/>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ko-KR" altLang="en-US" dirty="0"/>
              <a:t>선행기술조사의 목적</a:t>
            </a:r>
          </a:p>
        </p:txBody>
      </p:sp>
      <p:graphicFrame>
        <p:nvGraphicFramePr>
          <p:cNvPr id="4" name="표 3"/>
          <p:cNvGraphicFramePr>
            <a:graphicFrameLocks noGrp="1"/>
          </p:cNvGraphicFramePr>
          <p:nvPr/>
        </p:nvGraphicFramePr>
        <p:xfrm>
          <a:off x="586036" y="1412776"/>
          <a:ext cx="11034464" cy="4752528"/>
        </p:xfrm>
        <a:graphic>
          <a:graphicData uri="http://schemas.openxmlformats.org/drawingml/2006/table">
            <a:tbl>
              <a:tblPr>
                <a:tableStyleId>{8799B23B-EC83-4686-B30A-512413B5E67A}</a:tableStyleId>
              </a:tblPr>
              <a:tblGrid>
                <a:gridCol w="1555853">
                  <a:extLst>
                    <a:ext uri="{9D8B030D-6E8A-4147-A177-3AD203B41FA5}">
                      <a16:colId xmlns:a16="http://schemas.microsoft.com/office/drawing/2014/main" val="20000"/>
                    </a:ext>
                  </a:extLst>
                </a:gridCol>
                <a:gridCol w="4639911">
                  <a:extLst>
                    <a:ext uri="{9D8B030D-6E8A-4147-A177-3AD203B41FA5}">
                      <a16:colId xmlns:a16="http://schemas.microsoft.com/office/drawing/2014/main" val="20001"/>
                    </a:ext>
                  </a:extLst>
                </a:gridCol>
                <a:gridCol w="4838700">
                  <a:extLst>
                    <a:ext uri="{9D8B030D-6E8A-4147-A177-3AD203B41FA5}">
                      <a16:colId xmlns:a16="http://schemas.microsoft.com/office/drawing/2014/main" val="20002"/>
                    </a:ext>
                  </a:extLst>
                </a:gridCol>
              </a:tblGrid>
              <a:tr h="395810">
                <a:tc>
                  <a:txBody>
                    <a:bodyPr/>
                    <a:lstStyle/>
                    <a:p>
                      <a:pPr algn="ctr" latinLnBrk="1"/>
                      <a:r>
                        <a:rPr lang="ko-KR" altLang="en-US" sz="1400" dirty="0"/>
                        <a:t>목적</a:t>
                      </a:r>
                      <a:endParaRPr lang="ko-KR" altLang="en-US" sz="1400" dirty="0">
                        <a:latin typeface="+mn-ea"/>
                        <a:ea typeface="+mn-ea"/>
                      </a:endParaRPr>
                    </a:p>
                  </a:txBody>
                  <a:tcPr anchor="ctr">
                    <a:solidFill>
                      <a:schemeClr val="accent1">
                        <a:lumMod val="20000"/>
                        <a:lumOff val="80000"/>
                      </a:schemeClr>
                    </a:solidFill>
                  </a:tcPr>
                </a:tc>
                <a:tc>
                  <a:txBody>
                    <a:bodyPr/>
                    <a:lstStyle/>
                    <a:p>
                      <a:pPr algn="ctr" latinLnBrk="1"/>
                      <a:r>
                        <a:rPr lang="ko-KR" altLang="en-US" sz="1400" dirty="0"/>
                        <a:t>주요 내용</a:t>
                      </a:r>
                      <a:endParaRPr lang="ko-KR" altLang="en-US" sz="1400" dirty="0">
                        <a:latin typeface="+mn-ea"/>
                        <a:ea typeface="+mn-ea"/>
                      </a:endParaRPr>
                    </a:p>
                  </a:txBody>
                  <a:tcPr anchor="ctr">
                    <a:solidFill>
                      <a:schemeClr val="accent1">
                        <a:lumMod val="20000"/>
                        <a:lumOff val="80000"/>
                      </a:schemeClr>
                    </a:solidFill>
                  </a:tcPr>
                </a:tc>
                <a:tc>
                  <a:txBody>
                    <a:bodyPr/>
                    <a:lstStyle/>
                    <a:p>
                      <a:pPr algn="ctr" latinLnBrk="1"/>
                      <a:r>
                        <a:rPr lang="ko-KR" altLang="en-US" sz="1400" dirty="0"/>
                        <a:t>검색 전략</a:t>
                      </a:r>
                      <a:endParaRPr lang="ko-KR" altLang="en-US" sz="1400" dirty="0">
                        <a:latin typeface="+mn-ea"/>
                        <a:ea typeface="+mn-ea"/>
                      </a:endParaRPr>
                    </a:p>
                  </a:txBody>
                  <a:tcPr anchor="ctr">
                    <a:solidFill>
                      <a:schemeClr val="accent1">
                        <a:lumMod val="20000"/>
                        <a:lumOff val="80000"/>
                      </a:schemeClr>
                    </a:solidFill>
                  </a:tcPr>
                </a:tc>
                <a:extLst>
                  <a:ext uri="{0D108BD9-81ED-4DB2-BD59-A6C34878D82A}">
                    <a16:rowId xmlns:a16="http://schemas.microsoft.com/office/drawing/2014/main" val="10000"/>
                  </a:ext>
                </a:extLst>
              </a:tr>
              <a:tr h="1336624">
                <a:tc>
                  <a:txBody>
                    <a:bodyPr/>
                    <a:lstStyle/>
                    <a:p>
                      <a:pPr algn="ctr" latinLnBrk="1"/>
                      <a:r>
                        <a:rPr lang="ko-KR" altLang="en-US" sz="1400" dirty="0"/>
                        <a:t>신기술 </a:t>
                      </a:r>
                      <a:endParaRPr lang="en-US" altLang="ko-KR" sz="1400" dirty="0"/>
                    </a:p>
                    <a:p>
                      <a:pPr algn="ctr" latinLnBrk="1"/>
                      <a:r>
                        <a:rPr lang="ko-KR" altLang="en-US" sz="1400" dirty="0"/>
                        <a:t>개발을 위한 </a:t>
                      </a:r>
                      <a:endParaRPr lang="en-US" altLang="ko-KR" sz="1400" dirty="0"/>
                    </a:p>
                    <a:p>
                      <a:pPr algn="ctr" latinLnBrk="1"/>
                      <a:r>
                        <a:rPr lang="ko-KR" altLang="en-US" sz="1400" dirty="0"/>
                        <a:t>조사</a:t>
                      </a:r>
                      <a:endParaRPr lang="ko-KR" altLang="en-US" sz="1400" dirty="0">
                        <a:latin typeface="+mn-ea"/>
                        <a:ea typeface="+mn-ea"/>
                      </a:endParaRPr>
                    </a:p>
                  </a:txBody>
                  <a:tcPr anchor="ctr"/>
                </a:tc>
                <a:tc>
                  <a:txBody>
                    <a:bodyPr/>
                    <a:lstStyle/>
                    <a:p>
                      <a:pPr algn="l" latinLnBrk="1">
                        <a:buFont typeface="Wingdings" pitchFamily="2" charset="2"/>
                        <a:buChar char="§"/>
                      </a:pPr>
                      <a:r>
                        <a:rPr lang="ko-KR" altLang="en-US" sz="1400" dirty="0"/>
                        <a:t>관련 기술분야의 개발흐름을 파악</a:t>
                      </a:r>
                      <a:endParaRPr lang="en-US" altLang="ko-KR" sz="1400" dirty="0"/>
                    </a:p>
                    <a:p>
                      <a:pPr algn="l" latinLnBrk="1">
                        <a:buFont typeface="Wingdings" pitchFamily="2" charset="2"/>
                        <a:buChar char="§"/>
                      </a:pPr>
                      <a:r>
                        <a:rPr lang="ko-KR" altLang="en-US" sz="1400" dirty="0"/>
                        <a:t>연구개발 테마를 선정하거나 미래기술 예측</a:t>
                      </a:r>
                      <a:endParaRPr lang="en-US" altLang="ko-KR" sz="1400" dirty="0"/>
                    </a:p>
                    <a:p>
                      <a:pPr algn="l" latinLnBrk="1">
                        <a:buFont typeface="Wingdings" pitchFamily="2" charset="2"/>
                        <a:buChar char="§"/>
                      </a:pPr>
                      <a:r>
                        <a:rPr lang="ko-KR" altLang="en-US" sz="1400" dirty="0"/>
                        <a:t>선행기술조사로 중복투자 및 중복투자 방지</a:t>
                      </a:r>
                      <a:endParaRPr lang="en-US" altLang="ko-KR" sz="1400" dirty="0"/>
                    </a:p>
                    <a:p>
                      <a:pPr algn="l" latinLnBrk="1">
                        <a:buFont typeface="Wingdings" pitchFamily="2" charset="2"/>
                        <a:buChar char="§"/>
                      </a:pPr>
                      <a:r>
                        <a:rPr lang="ko-KR" altLang="en-US" sz="1400" dirty="0" err="1"/>
                        <a:t>기술개발시</a:t>
                      </a:r>
                      <a:r>
                        <a:rPr lang="ko-KR" altLang="en-US" sz="1400" dirty="0"/>
                        <a:t> 문제점 해결을 위한 아이디어 입수</a:t>
                      </a:r>
                      <a:endParaRPr lang="en-US" altLang="ko-KR" sz="1400" dirty="0"/>
                    </a:p>
                    <a:p>
                      <a:pPr algn="l" latinLnBrk="1">
                        <a:buFont typeface="Wingdings" pitchFamily="2" charset="2"/>
                        <a:buChar char="§"/>
                      </a:pPr>
                      <a:r>
                        <a:rPr lang="ko-KR" altLang="en-US" sz="1400" dirty="0"/>
                        <a:t>타사의 기술개발 동향 파악</a:t>
                      </a:r>
                      <a:endParaRPr lang="en-US" altLang="ko-KR" sz="1400" b="0" dirty="0">
                        <a:latin typeface="+mn-ea"/>
                        <a:ea typeface="+mn-ea"/>
                      </a:endParaRPr>
                    </a:p>
                  </a:txBody>
                  <a:tcPr anchor="ctr"/>
                </a:tc>
                <a:tc>
                  <a:txBody>
                    <a:bodyPr/>
                    <a:lstStyle/>
                    <a:p>
                      <a:pPr algn="l" latinLnBrk="1">
                        <a:buFont typeface="Wingdings" pitchFamily="2" charset="2"/>
                        <a:buChar char="§"/>
                      </a:pPr>
                      <a:r>
                        <a:rPr lang="en-US" altLang="ko-KR" sz="1400" dirty="0"/>
                        <a:t> </a:t>
                      </a:r>
                      <a:r>
                        <a:rPr lang="ko-KR" altLang="en-US" sz="1400" dirty="0"/>
                        <a:t>관련성 있는 기술범위를 넓게 설정하여 조사</a:t>
                      </a:r>
                      <a:endParaRPr lang="en-US" altLang="ko-KR" sz="1400" dirty="0"/>
                    </a:p>
                    <a:p>
                      <a:pPr algn="l" latinLnBrk="1">
                        <a:buFont typeface="Wingdings" pitchFamily="2" charset="2"/>
                        <a:buChar char="§"/>
                      </a:pPr>
                      <a:r>
                        <a:rPr lang="en-US" altLang="ko-KR" sz="1400" dirty="0"/>
                        <a:t> </a:t>
                      </a:r>
                      <a:r>
                        <a:rPr lang="ko-KR" altLang="en-US" sz="1400" dirty="0"/>
                        <a:t>해결하고자 하는 과제를 중심으로 조사</a:t>
                      </a:r>
                      <a:endParaRPr lang="en-US" altLang="ko-KR" sz="1400" b="0" dirty="0">
                        <a:solidFill>
                          <a:srgbClr val="FF0000"/>
                        </a:solidFill>
                        <a:latin typeface="+mn-ea"/>
                        <a:ea typeface="+mn-ea"/>
                      </a:endParaRPr>
                    </a:p>
                  </a:txBody>
                  <a:tcPr anchor="ctr"/>
                </a:tc>
                <a:extLst>
                  <a:ext uri="{0D108BD9-81ED-4DB2-BD59-A6C34878D82A}">
                    <a16:rowId xmlns:a16="http://schemas.microsoft.com/office/drawing/2014/main" val="10001"/>
                  </a:ext>
                </a:extLst>
              </a:tr>
              <a:tr h="1082410">
                <a:tc>
                  <a:txBody>
                    <a:bodyPr/>
                    <a:lstStyle/>
                    <a:p>
                      <a:pPr algn="ctr" latinLnBrk="1"/>
                      <a:r>
                        <a:rPr lang="ko-KR" altLang="en-US" sz="1400" dirty="0"/>
                        <a:t>특허등록 </a:t>
                      </a:r>
                      <a:endParaRPr lang="en-US" altLang="ko-KR" sz="1400" dirty="0"/>
                    </a:p>
                    <a:p>
                      <a:pPr algn="ctr" latinLnBrk="1"/>
                      <a:r>
                        <a:rPr lang="ko-KR" altLang="en-US" sz="1400" dirty="0"/>
                        <a:t>가능성</a:t>
                      </a:r>
                      <a:r>
                        <a:rPr lang="en-US" altLang="ko-KR" sz="1400" dirty="0"/>
                        <a:t>/</a:t>
                      </a:r>
                      <a:r>
                        <a:rPr lang="ko-KR" altLang="en-US" sz="1400" dirty="0"/>
                        <a:t>특허권 존재</a:t>
                      </a:r>
                      <a:r>
                        <a:rPr lang="ko-KR" altLang="en-US" sz="1400" baseline="0" dirty="0"/>
                        <a:t> 여부</a:t>
                      </a:r>
                      <a:r>
                        <a:rPr lang="ko-KR" altLang="en-US" sz="1400" dirty="0"/>
                        <a:t> 조사</a:t>
                      </a:r>
                      <a:endParaRPr lang="ko-KR" altLang="en-US" sz="1400" dirty="0">
                        <a:latin typeface="+mn-ea"/>
                        <a:ea typeface="+mn-ea"/>
                      </a:endParaRPr>
                    </a:p>
                  </a:txBody>
                  <a:tcPr anchor="ctr"/>
                </a:tc>
                <a:tc>
                  <a:txBody>
                    <a:bodyPr/>
                    <a:lstStyle/>
                    <a:p>
                      <a:pPr algn="l" latinLnBrk="1">
                        <a:buFont typeface="Wingdings" pitchFamily="2" charset="2"/>
                        <a:buChar char="§"/>
                      </a:pPr>
                      <a:r>
                        <a:rPr lang="ko-KR" altLang="en-US" sz="1400" dirty="0" err="1"/>
                        <a:t>특허출원전</a:t>
                      </a:r>
                      <a:r>
                        <a:rPr lang="ko-KR" altLang="en-US" sz="1400" dirty="0"/>
                        <a:t> 선행기술조사</a:t>
                      </a:r>
                      <a:endParaRPr lang="en-US" altLang="ko-KR" sz="1400" dirty="0"/>
                    </a:p>
                    <a:p>
                      <a:pPr algn="l" latinLnBrk="1">
                        <a:buFont typeface="Wingdings" pitchFamily="2" charset="2"/>
                        <a:buChar char="§"/>
                      </a:pPr>
                      <a:r>
                        <a:rPr lang="ko-KR" altLang="en-US" sz="1400" dirty="0"/>
                        <a:t>특허등록 가능성 판단 및 권리범위 가능 영역의 확인</a:t>
                      </a:r>
                      <a:endParaRPr lang="en-US" altLang="ko-KR" sz="1400" dirty="0"/>
                    </a:p>
                    <a:p>
                      <a:pPr algn="l" latinLnBrk="1">
                        <a:buFont typeface="Wingdings" pitchFamily="2" charset="2"/>
                        <a:buChar char="§"/>
                      </a:pPr>
                      <a:r>
                        <a:rPr lang="ko-KR" altLang="en-US" sz="1400" dirty="0"/>
                        <a:t>무용한 특허출원의 지양</a:t>
                      </a:r>
                      <a:endParaRPr lang="en-US" altLang="ko-KR" sz="1400" dirty="0"/>
                    </a:p>
                    <a:p>
                      <a:pPr algn="l" latinLnBrk="1">
                        <a:buFont typeface="Wingdings" pitchFamily="2" charset="2"/>
                        <a:buChar char="§"/>
                      </a:pPr>
                      <a:r>
                        <a:rPr lang="ko-KR" altLang="en-US" sz="1400" dirty="0"/>
                        <a:t>특허등록 가능성이 높아지도록 명세서 작성</a:t>
                      </a:r>
                      <a:endParaRPr lang="ko-KR" altLang="en-US" sz="1400" b="0" dirty="0">
                        <a:latin typeface="+mn-ea"/>
                        <a:ea typeface="+mn-ea"/>
                      </a:endParaRPr>
                    </a:p>
                  </a:txBody>
                  <a:tcPr anchor="ctr"/>
                </a:tc>
                <a:tc>
                  <a:txBody>
                    <a:bodyPr/>
                    <a:lstStyle/>
                    <a:p>
                      <a:pPr algn="l" latinLnBrk="1">
                        <a:buFont typeface="Wingdings" pitchFamily="2" charset="2"/>
                        <a:buChar char="§"/>
                      </a:pPr>
                      <a:r>
                        <a:rPr lang="en-US" altLang="ko-KR" sz="1400" dirty="0"/>
                        <a:t> </a:t>
                      </a:r>
                      <a:r>
                        <a:rPr lang="ko-KR" altLang="en-US" sz="1400" dirty="0"/>
                        <a:t>신규성</a:t>
                      </a:r>
                      <a:r>
                        <a:rPr lang="en-US" altLang="ko-KR" sz="1400" dirty="0"/>
                        <a:t>, </a:t>
                      </a:r>
                      <a:r>
                        <a:rPr lang="ko-KR" altLang="en-US" sz="1400" dirty="0"/>
                        <a:t>진보성의 판단 기준을 고려하여 조사</a:t>
                      </a:r>
                      <a:endParaRPr lang="en-US" altLang="ko-KR" sz="1400" dirty="0"/>
                    </a:p>
                    <a:p>
                      <a:pPr marL="88900" indent="-88900" algn="l" latinLnBrk="1">
                        <a:buFont typeface="Wingdings" pitchFamily="2" charset="2"/>
                        <a:buChar char="§"/>
                      </a:pPr>
                      <a:r>
                        <a:rPr lang="ko-KR" altLang="en-US" sz="1400" dirty="0"/>
                        <a:t>기술의 구성요소를 특정하고</a:t>
                      </a:r>
                      <a:r>
                        <a:rPr lang="en-US" altLang="ko-KR" sz="1400" dirty="0"/>
                        <a:t>, </a:t>
                      </a:r>
                      <a:r>
                        <a:rPr lang="ko-KR" altLang="en-US" sz="1400" dirty="0"/>
                        <a:t>이에 상응하는 구성요소들이 공지되어 있는지를 중점적으로 조사 </a:t>
                      </a:r>
                      <a:endParaRPr lang="ko-KR" altLang="en-US" sz="1400" b="0" dirty="0">
                        <a:solidFill>
                          <a:srgbClr val="FF0000"/>
                        </a:solidFill>
                        <a:latin typeface="+mn-ea"/>
                        <a:ea typeface="+mn-ea"/>
                      </a:endParaRPr>
                    </a:p>
                  </a:txBody>
                  <a:tcPr anchor="ctr"/>
                </a:tc>
                <a:extLst>
                  <a:ext uri="{0D108BD9-81ED-4DB2-BD59-A6C34878D82A}">
                    <a16:rowId xmlns:a16="http://schemas.microsoft.com/office/drawing/2014/main" val="10002"/>
                  </a:ext>
                </a:extLst>
              </a:tr>
              <a:tr h="1937684">
                <a:tc>
                  <a:txBody>
                    <a:bodyPr/>
                    <a:lstStyle/>
                    <a:p>
                      <a:pPr algn="ctr" latinLnBrk="1"/>
                      <a:r>
                        <a:rPr lang="ko-KR" altLang="en-US" sz="1400" dirty="0"/>
                        <a:t>특허분쟁</a:t>
                      </a:r>
                      <a:endParaRPr lang="en-US" altLang="ko-KR" sz="1400" dirty="0"/>
                    </a:p>
                    <a:p>
                      <a:pPr algn="ctr" latinLnBrk="1"/>
                      <a:r>
                        <a:rPr lang="ko-KR" altLang="en-US" sz="1400" dirty="0"/>
                        <a:t>대응</a:t>
                      </a:r>
                      <a:r>
                        <a:rPr lang="ko-KR" altLang="en-US" sz="1400" baseline="0" dirty="0"/>
                        <a:t> 자료 조사</a:t>
                      </a:r>
                      <a:endParaRPr lang="ko-KR" altLang="en-US" sz="1400" dirty="0">
                        <a:latin typeface="+mn-ea"/>
                        <a:ea typeface="+mn-ea"/>
                      </a:endParaRPr>
                    </a:p>
                  </a:txBody>
                  <a:tcPr anchor="ctr"/>
                </a:tc>
                <a:tc>
                  <a:txBody>
                    <a:bodyPr/>
                    <a:lstStyle/>
                    <a:p>
                      <a:pPr algn="l" latinLnBrk="1">
                        <a:buFont typeface="Wingdings" pitchFamily="2" charset="2"/>
                        <a:buChar char="§"/>
                      </a:pPr>
                      <a:r>
                        <a:rPr lang="ko-KR" altLang="en-US" sz="1400" dirty="0"/>
                        <a:t>시장출시 예정 제품에 대한 특허침해 가능성</a:t>
                      </a:r>
                      <a:r>
                        <a:rPr lang="ko-KR" altLang="en-US" sz="1400" baseline="0" dirty="0"/>
                        <a:t> 있는 특허 검색</a:t>
                      </a:r>
                      <a:endParaRPr lang="en-US" altLang="ko-KR" sz="1400" baseline="0" dirty="0"/>
                    </a:p>
                    <a:p>
                      <a:pPr algn="l" latinLnBrk="1">
                        <a:buFont typeface="Wingdings" pitchFamily="2" charset="2"/>
                        <a:buChar char="§"/>
                      </a:pPr>
                      <a:r>
                        <a:rPr lang="ko-KR" altLang="en-US" sz="1400" baseline="0" dirty="0"/>
                        <a:t>특허분쟁 가능성 사전 예방</a:t>
                      </a:r>
                      <a:endParaRPr lang="en-US" altLang="ko-KR" sz="1400" baseline="0" dirty="0"/>
                    </a:p>
                    <a:p>
                      <a:pPr algn="l" latinLnBrk="1">
                        <a:buFont typeface="Wingdings" pitchFamily="2" charset="2"/>
                        <a:buChar char="§"/>
                      </a:pPr>
                      <a:r>
                        <a:rPr lang="ko-KR" altLang="en-US" sz="1400" baseline="0" dirty="0"/>
                        <a:t>회피설계 타진 또는 해당 권리의 무효화 추진</a:t>
                      </a:r>
                      <a:endParaRPr lang="en-US" altLang="ko-KR" sz="1400" baseline="0" dirty="0"/>
                    </a:p>
                    <a:p>
                      <a:pPr marL="0" marR="0" indent="0" algn="l" defTabSz="914400" rtl="0" eaLnBrk="1" fontAlgn="auto" latinLnBrk="1" hangingPunct="1">
                        <a:lnSpc>
                          <a:spcPct val="100000"/>
                        </a:lnSpc>
                        <a:spcBef>
                          <a:spcPts val="0"/>
                        </a:spcBef>
                        <a:spcAft>
                          <a:spcPts val="0"/>
                        </a:spcAft>
                        <a:buClrTx/>
                        <a:buSzTx/>
                        <a:buFont typeface="Wingdings" pitchFamily="2" charset="2"/>
                        <a:buChar char="§"/>
                        <a:tabLst/>
                        <a:defRPr/>
                      </a:pPr>
                      <a:r>
                        <a:rPr lang="ko-KR" altLang="en-US" sz="1400" dirty="0"/>
                        <a:t>문제 특허에 대한 정보제공 또는 무효자료 조사</a:t>
                      </a:r>
                      <a:endParaRPr lang="ko-KR" altLang="en-US" sz="1400" b="0" dirty="0">
                        <a:latin typeface="+mn-ea"/>
                        <a:ea typeface="+mn-ea"/>
                      </a:endParaRPr>
                    </a:p>
                  </a:txBody>
                  <a:tcPr anchor="ctr"/>
                </a:tc>
                <a:tc>
                  <a:txBody>
                    <a:bodyPr/>
                    <a:lstStyle/>
                    <a:p>
                      <a:pPr marL="88900" indent="-88900" algn="l" latinLnBrk="1">
                        <a:buFont typeface="Wingdings" pitchFamily="2" charset="2"/>
                        <a:buChar char="§"/>
                      </a:pPr>
                      <a:r>
                        <a:rPr lang="ko-KR" altLang="en-US" sz="1400" dirty="0"/>
                        <a:t>침해이론</a:t>
                      </a:r>
                      <a:r>
                        <a:rPr lang="en-US" altLang="ko-KR" sz="1400" dirty="0"/>
                        <a:t>(All</a:t>
                      </a:r>
                      <a:r>
                        <a:rPr lang="en-US" altLang="ko-KR" sz="1400" baseline="0" dirty="0"/>
                        <a:t> Elements Rule, </a:t>
                      </a:r>
                      <a:r>
                        <a:rPr lang="ko-KR" altLang="en-US" sz="1400" baseline="0" dirty="0" err="1"/>
                        <a:t>균등론</a:t>
                      </a:r>
                      <a:r>
                        <a:rPr lang="en-US" altLang="ko-KR" sz="1400" baseline="0" dirty="0"/>
                        <a:t>)</a:t>
                      </a:r>
                      <a:r>
                        <a:rPr lang="ko-KR" altLang="en-US" sz="1400" baseline="0" dirty="0"/>
                        <a:t>에 입각하여 침해 문제가 있는 선행기술을 중점적으로 조사</a:t>
                      </a:r>
                      <a:endParaRPr lang="en-US" altLang="ko-KR" sz="1400" baseline="0" dirty="0"/>
                    </a:p>
                    <a:p>
                      <a:pPr algn="l" latinLnBrk="1">
                        <a:buFont typeface="Wingdings" pitchFamily="2" charset="2"/>
                        <a:buChar char="§"/>
                      </a:pPr>
                      <a:r>
                        <a:rPr lang="ko-KR" altLang="en-US" sz="1400" dirty="0"/>
                        <a:t>경쟁사의 포트폴리오를 분석</a:t>
                      </a:r>
                      <a:endParaRPr lang="en-US" altLang="ko-KR" sz="1400" dirty="0"/>
                    </a:p>
                    <a:p>
                      <a:pPr algn="l" latinLnBrk="1">
                        <a:buFont typeface="Wingdings" pitchFamily="2" charset="2"/>
                        <a:buChar char="§"/>
                      </a:pPr>
                      <a:r>
                        <a:rPr lang="ko-KR" altLang="en-US" sz="1400" dirty="0"/>
                        <a:t>회피설계방안을 고려하여 공지기술 조사</a:t>
                      </a:r>
                      <a:endParaRPr lang="en-US" altLang="ko-KR" sz="1400" dirty="0"/>
                    </a:p>
                    <a:p>
                      <a:pPr marL="88900" indent="-88900" algn="l" latinLnBrk="1">
                        <a:buFont typeface="Wingdings" pitchFamily="2" charset="2"/>
                        <a:buChar char="§"/>
                      </a:pPr>
                      <a:r>
                        <a:rPr lang="ko-KR" altLang="en-US" sz="1400" baseline="0" dirty="0"/>
                        <a:t>등록되지 않은 특허의 경우에는 지속적인 모니터링 방안 제시</a:t>
                      </a:r>
                      <a:endParaRPr lang="en-US" altLang="ko-KR" sz="1400" baseline="0" dirty="0"/>
                    </a:p>
                    <a:p>
                      <a:pPr marL="88900" marR="0" indent="-88900" algn="l" defTabSz="914400" rtl="0" eaLnBrk="1" fontAlgn="auto" latinLnBrk="1" hangingPunct="1">
                        <a:lnSpc>
                          <a:spcPct val="100000"/>
                        </a:lnSpc>
                        <a:spcBef>
                          <a:spcPts val="0"/>
                        </a:spcBef>
                        <a:spcAft>
                          <a:spcPts val="0"/>
                        </a:spcAft>
                        <a:buClrTx/>
                        <a:buSzTx/>
                        <a:buFont typeface="Wingdings" pitchFamily="2" charset="2"/>
                        <a:buChar char="§"/>
                        <a:tabLst/>
                        <a:defRPr/>
                      </a:pPr>
                      <a:r>
                        <a:rPr lang="ko-KR" altLang="en-US" sz="1400" baseline="0" dirty="0"/>
                        <a:t>인용도</a:t>
                      </a:r>
                      <a:r>
                        <a:rPr lang="en-US" altLang="ko-KR" sz="1400" baseline="0" dirty="0"/>
                        <a:t>(Forward, Backward Citation)</a:t>
                      </a:r>
                      <a:r>
                        <a:rPr lang="ko-KR" altLang="en-US" sz="1400" baseline="0" dirty="0"/>
                        <a:t>를 활용하여 심도 있는 조사</a:t>
                      </a:r>
                      <a:endParaRPr lang="en-US" altLang="ko-KR" sz="1400" b="0" baseline="0" dirty="0">
                        <a:solidFill>
                          <a:srgbClr val="FF0000"/>
                        </a:solidFill>
                        <a:latin typeface="+mn-ea"/>
                        <a:ea typeface="+mn-ea"/>
                      </a:endParaRPr>
                    </a:p>
                  </a:txBody>
                  <a:tcPr anchor="ctr"/>
                </a:tc>
                <a:extLst>
                  <a:ext uri="{0D108BD9-81ED-4DB2-BD59-A6C34878D82A}">
                    <a16:rowId xmlns:a16="http://schemas.microsoft.com/office/drawing/2014/main" val="10003"/>
                  </a:ext>
                </a:extLst>
              </a:tr>
            </a:tbl>
          </a:graphicData>
        </a:graphic>
      </p:graphicFrame>
      <p:sp>
        <p:nvSpPr>
          <p:cNvPr id="5" name="슬라이드 번호 개체 틀 4"/>
          <p:cNvSpPr>
            <a:spLocks noGrp="1"/>
          </p:cNvSpPr>
          <p:nvPr>
            <p:ph type="sldNum" sz="quarter" idx="12"/>
          </p:nvPr>
        </p:nvSpPr>
        <p:spPr/>
        <p:txBody>
          <a:bodyPr/>
          <a:lstStyle/>
          <a:p>
            <a:r>
              <a:rPr lang="en-US" altLang="ko-KR"/>
              <a:t>279</a:t>
            </a:r>
            <a:endParaRPr lang="ko-KR" altLang="en-US" dirty="0"/>
          </a:p>
        </p:txBody>
      </p:sp>
    </p:spTree>
    <p:extLst>
      <p:ext uri="{BB962C8B-B14F-4D97-AF65-F5344CB8AC3E}">
        <p14:creationId xmlns:p14="http://schemas.microsoft.com/office/powerpoint/2010/main" val="2674795202"/>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en-US" altLang="ko-KR" dirty="0"/>
              <a:t>PATENT MAP</a:t>
            </a:r>
            <a:endParaRPr lang="ko-KR" altLang="en-US" dirty="0"/>
          </a:p>
        </p:txBody>
      </p:sp>
      <p:sp>
        <p:nvSpPr>
          <p:cNvPr id="5" name="TextBox 4"/>
          <p:cNvSpPr txBox="1"/>
          <p:nvPr/>
        </p:nvSpPr>
        <p:spPr>
          <a:xfrm>
            <a:off x="77875" y="986046"/>
            <a:ext cx="11936323" cy="523220"/>
          </a:xfrm>
          <a:prstGeom prst="rect">
            <a:avLst/>
          </a:prstGeom>
          <a:noFill/>
        </p:spPr>
        <p:txBody>
          <a:bodyPr wrap="square" rtlCol="0">
            <a:spAutoFit/>
          </a:bodyPr>
          <a:lstStyle/>
          <a:p>
            <a:r>
              <a:rPr lang="ko-KR" altLang="en-US" sz="1400" dirty="0" err="1">
                <a:latin typeface="+mn-ea"/>
              </a:rPr>
              <a:t>특허맵이란</a:t>
            </a:r>
            <a:r>
              <a:rPr lang="ko-KR" altLang="en-US" sz="1400" dirty="0">
                <a:latin typeface="+mn-ea"/>
              </a:rPr>
              <a:t> 특허정보를 분석하여 서지사항의 분류</a:t>
            </a:r>
            <a:r>
              <a:rPr lang="en-US" altLang="ko-KR" sz="1400" dirty="0">
                <a:latin typeface="+mn-ea"/>
              </a:rPr>
              <a:t>, </a:t>
            </a:r>
            <a:r>
              <a:rPr lang="ko-KR" altLang="en-US" sz="1400" dirty="0">
                <a:latin typeface="+mn-ea"/>
              </a:rPr>
              <a:t>정리하고</a:t>
            </a:r>
            <a:r>
              <a:rPr lang="en-US" altLang="ko-KR" sz="1400" dirty="0">
                <a:latin typeface="+mn-ea"/>
              </a:rPr>
              <a:t>, </a:t>
            </a:r>
            <a:r>
              <a:rPr lang="ko-KR" altLang="en-US" sz="1400" dirty="0">
                <a:latin typeface="+mn-ea"/>
              </a:rPr>
              <a:t>기술적 사항을 분석</a:t>
            </a:r>
            <a:r>
              <a:rPr lang="en-US" altLang="ko-KR" sz="1400" dirty="0">
                <a:latin typeface="+mn-ea"/>
              </a:rPr>
              <a:t>, </a:t>
            </a:r>
            <a:r>
              <a:rPr lang="ko-KR" altLang="en-US" sz="1400" dirty="0">
                <a:latin typeface="+mn-ea"/>
              </a:rPr>
              <a:t>가공하여 특허정보만이 가지고 있는 경영정보</a:t>
            </a:r>
            <a:r>
              <a:rPr lang="en-US" altLang="ko-KR" sz="1400" dirty="0">
                <a:latin typeface="+mn-ea"/>
              </a:rPr>
              <a:t>, </a:t>
            </a:r>
            <a:r>
              <a:rPr lang="ko-KR" altLang="en-US" sz="1400" dirty="0">
                <a:latin typeface="+mn-ea"/>
              </a:rPr>
              <a:t>권리정보</a:t>
            </a:r>
            <a:r>
              <a:rPr lang="en-US" altLang="ko-KR" sz="1400" dirty="0">
                <a:latin typeface="+mn-ea"/>
              </a:rPr>
              <a:t> </a:t>
            </a:r>
            <a:r>
              <a:rPr lang="ko-KR" altLang="en-US" sz="1400" dirty="0">
                <a:latin typeface="+mn-ea"/>
              </a:rPr>
              <a:t>및 기술정보를 도표화한 것을</a:t>
            </a:r>
            <a:r>
              <a:rPr lang="en-US" altLang="ko-KR" sz="1400" dirty="0">
                <a:latin typeface="+mn-ea"/>
              </a:rPr>
              <a:t> </a:t>
            </a:r>
            <a:r>
              <a:rPr lang="ko-KR" altLang="en-US" sz="1400" dirty="0">
                <a:latin typeface="+mn-ea"/>
              </a:rPr>
              <a:t>말한다</a:t>
            </a:r>
            <a:r>
              <a:rPr lang="en-US" altLang="ko-KR" sz="1400" dirty="0">
                <a:latin typeface="+mn-ea"/>
              </a:rPr>
              <a:t>.</a:t>
            </a:r>
            <a:endParaRPr lang="ko-KR" altLang="en-US" sz="1400" dirty="0">
              <a:latin typeface="+mn-ea"/>
            </a:endParaRPr>
          </a:p>
        </p:txBody>
      </p:sp>
      <p:cxnSp>
        <p:nvCxnSpPr>
          <p:cNvPr id="6" name="직선 연결선 5"/>
          <p:cNvCxnSpPr/>
          <p:nvPr/>
        </p:nvCxnSpPr>
        <p:spPr>
          <a:xfrm>
            <a:off x="0" y="152151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7" name="표 6"/>
          <p:cNvGraphicFramePr>
            <a:graphicFrameLocks noGrp="1"/>
          </p:cNvGraphicFramePr>
          <p:nvPr/>
        </p:nvGraphicFramePr>
        <p:xfrm>
          <a:off x="320825" y="1735708"/>
          <a:ext cx="11439375" cy="2188593"/>
        </p:xfrm>
        <a:graphic>
          <a:graphicData uri="http://schemas.openxmlformats.org/drawingml/2006/table">
            <a:tbl>
              <a:tblPr firstCol="1">
                <a:tableStyleId>{8799B23B-EC83-4686-B30A-512413B5E67A}</a:tableStyleId>
              </a:tblPr>
              <a:tblGrid>
                <a:gridCol w="2100790">
                  <a:extLst>
                    <a:ext uri="{9D8B030D-6E8A-4147-A177-3AD203B41FA5}">
                      <a16:colId xmlns:a16="http://schemas.microsoft.com/office/drawing/2014/main" val="20000"/>
                    </a:ext>
                  </a:extLst>
                </a:gridCol>
                <a:gridCol w="9338585">
                  <a:extLst>
                    <a:ext uri="{9D8B030D-6E8A-4147-A177-3AD203B41FA5}">
                      <a16:colId xmlns:a16="http://schemas.microsoft.com/office/drawing/2014/main" val="20001"/>
                    </a:ext>
                  </a:extLst>
                </a:gridCol>
              </a:tblGrid>
              <a:tr h="243177">
                <a:tc rowSpan="4">
                  <a:txBody>
                    <a:bodyPr/>
                    <a:lstStyle/>
                    <a:p>
                      <a:pPr marL="25400" marR="0" lvl="0" indent="0" algn="ctr" defTabSz="914400" rtl="0" eaLnBrk="1" fontAlgn="base" latinLnBrk="1" hangingPunct="1">
                        <a:lnSpc>
                          <a:spcPct val="100000"/>
                        </a:lnSpc>
                        <a:spcBef>
                          <a:spcPct val="0"/>
                        </a:spcBef>
                        <a:spcAft>
                          <a:spcPct val="0"/>
                        </a:spcAft>
                        <a:buClrTx/>
                        <a:buSzTx/>
                        <a:buFontTx/>
                        <a:buNone/>
                        <a:tabLst/>
                      </a:pPr>
                      <a:r>
                        <a:rPr kumimoji="0" lang="ko-KR" altLang="en-US" sz="1100" u="none" strike="noStrike" cap="none" normalizeH="0" baseline="0" dirty="0">
                          <a:ln>
                            <a:noFill/>
                          </a:ln>
                          <a:effectLst/>
                        </a:rPr>
                        <a:t>경영정보분석</a:t>
                      </a:r>
                      <a:endParaRPr kumimoji="0" lang="en-US" altLang="ko-KR" sz="1100" u="none" strike="noStrike" cap="none" normalizeH="0" baseline="0" dirty="0">
                        <a:ln>
                          <a:noFill/>
                        </a:ln>
                        <a:effectLst/>
                      </a:endParaRPr>
                    </a:p>
                    <a:p>
                      <a:pPr marL="25400" marR="0" lvl="0" indent="0" algn="ctr" defTabSz="914400" rtl="0" eaLnBrk="1" fontAlgn="base" latinLnBrk="1" hangingPunct="1">
                        <a:lnSpc>
                          <a:spcPct val="100000"/>
                        </a:lnSpc>
                        <a:spcBef>
                          <a:spcPct val="0"/>
                        </a:spcBef>
                        <a:spcAft>
                          <a:spcPct val="0"/>
                        </a:spcAft>
                        <a:buClrTx/>
                        <a:buSzTx/>
                        <a:buFontTx/>
                        <a:buNone/>
                        <a:tabLst/>
                      </a:pPr>
                      <a:r>
                        <a:rPr kumimoji="0" lang="en-US" altLang="ko-KR" sz="1100" u="none" strike="noStrike" cap="none" normalizeH="0" baseline="0" dirty="0">
                          <a:ln>
                            <a:noFill/>
                          </a:ln>
                          <a:effectLst/>
                        </a:rPr>
                        <a:t>(</a:t>
                      </a:r>
                      <a:r>
                        <a:rPr kumimoji="0" lang="ko-KR" altLang="en-US" sz="1100" u="none" strike="noStrike" cap="none" normalizeH="0" baseline="0" dirty="0">
                          <a:ln>
                            <a:noFill/>
                          </a:ln>
                          <a:effectLst/>
                        </a:rPr>
                        <a:t>경영전략 수립</a:t>
                      </a:r>
                      <a:r>
                        <a:rPr kumimoji="0" lang="en-US" altLang="ko-KR" sz="1100" u="none" strike="noStrike" cap="none" normalizeH="0" baseline="0" dirty="0">
                          <a:ln>
                            <a:noFill/>
                          </a:ln>
                          <a:effectLst/>
                        </a:rPr>
                        <a:t>)</a:t>
                      </a:r>
                      <a:endParaRPr kumimoji="0" lang="ko-KR" altLang="en-US" sz="1100" b="0" i="0" u="none" strike="noStrike" cap="none" normalizeH="0" baseline="0" dirty="0">
                        <a:ln>
                          <a:noFill/>
                        </a:ln>
                        <a:solidFill>
                          <a:schemeClr val="bg1"/>
                        </a:solidFill>
                        <a:effectLst/>
                        <a:latin typeface="+mn-ea"/>
                        <a:ea typeface="+mn-ea"/>
                      </a:endParaRPr>
                    </a:p>
                  </a:txBody>
                  <a:tcPr marL="13910" marR="13910" marT="13922" marB="13922" anchor="ctr" horzOverflow="overflow">
                    <a:solidFill>
                      <a:schemeClr val="accent1">
                        <a:lumMod val="20000"/>
                        <a:lumOff val="80000"/>
                      </a:schemeClr>
                    </a:solidFill>
                  </a:tcPr>
                </a:tc>
                <a:tc>
                  <a:txBody>
                    <a:bodyPr/>
                    <a:lstStyle/>
                    <a:p>
                      <a:pPr marL="25400" marR="0" lvl="0" indent="0" algn="just" defTabSz="914400" rtl="0" eaLnBrk="1" fontAlgn="base" latinLnBrk="1" hangingPunct="1">
                        <a:lnSpc>
                          <a:spcPct val="100000"/>
                        </a:lnSpc>
                        <a:spcBef>
                          <a:spcPct val="0"/>
                        </a:spcBef>
                        <a:spcAft>
                          <a:spcPct val="0"/>
                        </a:spcAft>
                        <a:buClrTx/>
                        <a:buSzTx/>
                        <a:buFontTx/>
                        <a:buNone/>
                        <a:tabLst/>
                      </a:pPr>
                      <a:r>
                        <a:rPr kumimoji="0" lang="ko-KR" altLang="en-US" sz="1100" u="none" strike="noStrike" cap="none" normalizeH="0" baseline="0" dirty="0">
                          <a:ln>
                            <a:noFill/>
                          </a:ln>
                          <a:effectLst/>
                        </a:rPr>
                        <a:t>경쟁사의 동향 파악</a:t>
                      </a:r>
                      <a:r>
                        <a:rPr kumimoji="0" lang="en-US" altLang="ko-KR" sz="1100" u="none" strike="noStrike" cap="none" normalizeH="0" baseline="0" dirty="0">
                          <a:ln>
                            <a:noFill/>
                          </a:ln>
                          <a:effectLst/>
                        </a:rPr>
                        <a:t>, </a:t>
                      </a:r>
                      <a:r>
                        <a:rPr kumimoji="0" lang="ko-KR" altLang="en-US" sz="1100" u="none" strike="noStrike" cap="none" normalizeH="0" baseline="0" dirty="0">
                          <a:ln>
                            <a:noFill/>
                          </a:ln>
                          <a:effectLst/>
                        </a:rPr>
                        <a:t>시장동향 및 상품의 변혁과 흐름파악</a:t>
                      </a:r>
                      <a:endParaRPr kumimoji="0" lang="ko-KR" altLang="en-US" sz="1100" b="0" i="0" u="none" strike="noStrike" cap="none" normalizeH="0" baseline="0" dirty="0">
                        <a:ln>
                          <a:noFill/>
                        </a:ln>
                        <a:solidFill>
                          <a:srgbClr val="000000"/>
                        </a:solidFill>
                        <a:effectLst/>
                        <a:latin typeface="+mn-ea"/>
                        <a:ea typeface="+mn-ea"/>
                      </a:endParaRPr>
                    </a:p>
                  </a:txBody>
                  <a:tcPr marL="13910" marR="13910" marT="13922" marB="13922" anchor="ctr" horzOverflow="overflow"/>
                </a:tc>
                <a:extLst>
                  <a:ext uri="{0D108BD9-81ED-4DB2-BD59-A6C34878D82A}">
                    <a16:rowId xmlns:a16="http://schemas.microsoft.com/office/drawing/2014/main" val="10000"/>
                  </a:ext>
                </a:extLst>
              </a:tr>
              <a:tr h="243177">
                <a:tc vMerge="1">
                  <a:txBody>
                    <a:bodyPr/>
                    <a:lstStyle/>
                    <a:p>
                      <a:pPr latinLnBrk="1"/>
                      <a:endParaRPr lang="ko-KR" altLang="en-US"/>
                    </a:p>
                  </a:txBody>
                  <a:tcPr/>
                </a:tc>
                <a:tc>
                  <a:txBody>
                    <a:bodyPr/>
                    <a:lstStyle/>
                    <a:p>
                      <a:pPr marL="25400" marR="0" lvl="0" indent="0" algn="just" defTabSz="914400" rtl="0" eaLnBrk="1" fontAlgn="base" latinLnBrk="1" hangingPunct="1">
                        <a:lnSpc>
                          <a:spcPct val="100000"/>
                        </a:lnSpc>
                        <a:spcBef>
                          <a:spcPct val="0"/>
                        </a:spcBef>
                        <a:spcAft>
                          <a:spcPct val="0"/>
                        </a:spcAft>
                        <a:buClrTx/>
                        <a:buSzTx/>
                        <a:buFontTx/>
                        <a:buNone/>
                        <a:tabLst/>
                      </a:pPr>
                      <a:r>
                        <a:rPr kumimoji="0" lang="ko-KR" altLang="en-US" sz="1100" u="none" strike="noStrike" cap="none" normalizeH="0" baseline="0" dirty="0">
                          <a:ln>
                            <a:noFill/>
                          </a:ln>
                          <a:effectLst/>
                        </a:rPr>
                        <a:t>신규 사업방향 및 가능성 파악</a:t>
                      </a:r>
                      <a:endParaRPr kumimoji="0" lang="ko-KR" altLang="en-US" sz="1100" b="0" i="0" u="none" strike="noStrike" cap="none" normalizeH="0" baseline="0" dirty="0">
                        <a:ln>
                          <a:noFill/>
                        </a:ln>
                        <a:solidFill>
                          <a:srgbClr val="000000"/>
                        </a:solidFill>
                        <a:effectLst/>
                        <a:latin typeface="+mn-ea"/>
                        <a:ea typeface="+mn-ea"/>
                      </a:endParaRPr>
                    </a:p>
                  </a:txBody>
                  <a:tcPr marL="13910" marR="13910" marT="13922" marB="13922" anchor="ctr" horzOverflow="overflow"/>
                </a:tc>
                <a:extLst>
                  <a:ext uri="{0D108BD9-81ED-4DB2-BD59-A6C34878D82A}">
                    <a16:rowId xmlns:a16="http://schemas.microsoft.com/office/drawing/2014/main" val="10001"/>
                  </a:ext>
                </a:extLst>
              </a:tr>
              <a:tr h="243177">
                <a:tc vMerge="1">
                  <a:txBody>
                    <a:bodyPr/>
                    <a:lstStyle/>
                    <a:p>
                      <a:pPr latinLnBrk="1"/>
                      <a:endParaRPr lang="ko-KR" altLang="en-US"/>
                    </a:p>
                  </a:txBody>
                  <a:tcPr/>
                </a:tc>
                <a:tc>
                  <a:txBody>
                    <a:bodyPr/>
                    <a:lstStyle/>
                    <a:p>
                      <a:pPr marL="25400" marR="0" lvl="0" indent="0" algn="just" defTabSz="914400" rtl="0" eaLnBrk="1" fontAlgn="base" latinLnBrk="1" hangingPunct="1">
                        <a:lnSpc>
                          <a:spcPct val="100000"/>
                        </a:lnSpc>
                        <a:spcBef>
                          <a:spcPct val="0"/>
                        </a:spcBef>
                        <a:spcAft>
                          <a:spcPct val="0"/>
                        </a:spcAft>
                        <a:buClrTx/>
                        <a:buSzTx/>
                        <a:buFontTx/>
                        <a:buNone/>
                        <a:tabLst/>
                      </a:pPr>
                      <a:r>
                        <a:rPr kumimoji="0" lang="ko-KR" altLang="en-US" sz="1100" u="none" strike="noStrike" cap="none" normalizeH="0" baseline="0" dirty="0">
                          <a:ln>
                            <a:noFill/>
                          </a:ln>
                          <a:effectLst/>
                        </a:rPr>
                        <a:t>자사 기술 매각</a:t>
                      </a:r>
                      <a:r>
                        <a:rPr kumimoji="0" lang="en-US" altLang="ko-KR" sz="1100" u="none" strike="noStrike" cap="none" normalizeH="0" baseline="0" dirty="0">
                          <a:ln>
                            <a:noFill/>
                          </a:ln>
                          <a:effectLst/>
                        </a:rPr>
                        <a:t>, </a:t>
                      </a:r>
                      <a:r>
                        <a:rPr kumimoji="0" lang="ko-KR" altLang="en-US" sz="1100" u="none" strike="noStrike" cap="none" normalizeH="0" baseline="0" dirty="0">
                          <a:ln>
                            <a:noFill/>
                          </a:ln>
                          <a:effectLst/>
                        </a:rPr>
                        <a:t>해외진출</a:t>
                      </a:r>
                      <a:r>
                        <a:rPr kumimoji="0" lang="en-US" altLang="ko-KR" sz="1100" u="none" strike="noStrike" cap="none" normalizeH="0" baseline="0" dirty="0">
                          <a:ln>
                            <a:noFill/>
                          </a:ln>
                          <a:effectLst/>
                        </a:rPr>
                        <a:t>, </a:t>
                      </a:r>
                      <a:r>
                        <a:rPr kumimoji="0" lang="ko-KR" altLang="en-US" sz="1100" u="none" strike="noStrike" cap="none" normalizeH="0" baseline="0" dirty="0">
                          <a:ln>
                            <a:noFill/>
                          </a:ln>
                          <a:effectLst/>
                        </a:rPr>
                        <a:t>기술도입</a:t>
                      </a:r>
                      <a:endParaRPr kumimoji="0" lang="ko-KR" altLang="en-US" sz="1100" b="0" i="0" u="none" strike="noStrike" cap="none" normalizeH="0" baseline="0" dirty="0">
                        <a:ln>
                          <a:noFill/>
                        </a:ln>
                        <a:solidFill>
                          <a:srgbClr val="000000"/>
                        </a:solidFill>
                        <a:effectLst/>
                        <a:latin typeface="+mn-ea"/>
                        <a:ea typeface="+mn-ea"/>
                      </a:endParaRPr>
                    </a:p>
                  </a:txBody>
                  <a:tcPr marL="13910" marR="13910" marT="13922" marB="13922" anchor="ctr" horzOverflow="overflow"/>
                </a:tc>
                <a:extLst>
                  <a:ext uri="{0D108BD9-81ED-4DB2-BD59-A6C34878D82A}">
                    <a16:rowId xmlns:a16="http://schemas.microsoft.com/office/drawing/2014/main" val="10002"/>
                  </a:ext>
                </a:extLst>
              </a:tr>
              <a:tr h="243177">
                <a:tc vMerge="1">
                  <a:txBody>
                    <a:bodyPr/>
                    <a:lstStyle/>
                    <a:p>
                      <a:pPr latinLnBrk="1"/>
                      <a:endParaRPr lang="ko-KR" altLang="en-US"/>
                    </a:p>
                  </a:txBody>
                  <a:tcPr/>
                </a:tc>
                <a:tc>
                  <a:txBody>
                    <a:bodyPr/>
                    <a:lstStyle/>
                    <a:p>
                      <a:pPr marL="25400" marR="0" lvl="0" indent="0" algn="just" defTabSz="914400" rtl="0" eaLnBrk="1" fontAlgn="base" latinLnBrk="1" hangingPunct="1">
                        <a:lnSpc>
                          <a:spcPct val="100000"/>
                        </a:lnSpc>
                        <a:spcBef>
                          <a:spcPct val="0"/>
                        </a:spcBef>
                        <a:spcAft>
                          <a:spcPct val="0"/>
                        </a:spcAft>
                        <a:buClrTx/>
                        <a:buSzTx/>
                        <a:buFontTx/>
                        <a:buNone/>
                        <a:tabLst/>
                      </a:pPr>
                      <a:r>
                        <a:rPr kumimoji="0" lang="ko-KR" altLang="en-US" sz="1100" u="none" strike="noStrike" cap="none" normalizeH="0" baseline="0" dirty="0" err="1">
                          <a:ln>
                            <a:noFill/>
                          </a:ln>
                          <a:effectLst/>
                        </a:rPr>
                        <a:t>사업화시</a:t>
                      </a:r>
                      <a:r>
                        <a:rPr kumimoji="0" lang="ko-KR" altLang="en-US" sz="1100" u="none" strike="noStrike" cap="none" normalizeH="0" baseline="0" dirty="0">
                          <a:ln>
                            <a:noFill/>
                          </a:ln>
                          <a:effectLst/>
                        </a:rPr>
                        <a:t> 주의를 요하는 권리 파악</a:t>
                      </a:r>
                      <a:endParaRPr kumimoji="0" lang="ko-KR" altLang="en-US" sz="1100" b="0" i="0" u="none" strike="noStrike" cap="none" normalizeH="0" baseline="0" dirty="0">
                        <a:ln>
                          <a:noFill/>
                        </a:ln>
                        <a:solidFill>
                          <a:srgbClr val="000000"/>
                        </a:solidFill>
                        <a:effectLst/>
                        <a:latin typeface="+mn-ea"/>
                        <a:ea typeface="+mn-ea"/>
                      </a:endParaRPr>
                    </a:p>
                  </a:txBody>
                  <a:tcPr marL="13910" marR="13910" marT="13922" marB="13922" anchor="ctr" horzOverflow="overflow"/>
                </a:tc>
                <a:extLst>
                  <a:ext uri="{0D108BD9-81ED-4DB2-BD59-A6C34878D82A}">
                    <a16:rowId xmlns:a16="http://schemas.microsoft.com/office/drawing/2014/main" val="10003"/>
                  </a:ext>
                </a:extLst>
              </a:tr>
              <a:tr h="243177">
                <a:tc rowSpan="2">
                  <a:txBody>
                    <a:bodyPr/>
                    <a:lstStyle/>
                    <a:p>
                      <a:pPr marL="25400" marR="0" lvl="0" indent="0" algn="ctr" defTabSz="914400" rtl="0" eaLnBrk="1" fontAlgn="base" latinLnBrk="1" hangingPunct="1">
                        <a:lnSpc>
                          <a:spcPct val="100000"/>
                        </a:lnSpc>
                        <a:spcBef>
                          <a:spcPct val="0"/>
                        </a:spcBef>
                        <a:spcAft>
                          <a:spcPct val="0"/>
                        </a:spcAft>
                        <a:buClrTx/>
                        <a:buSzTx/>
                        <a:buFontTx/>
                        <a:buNone/>
                        <a:tabLst/>
                      </a:pPr>
                      <a:r>
                        <a:rPr kumimoji="0" lang="ko-KR" altLang="en-US" sz="1100" u="none" strike="noStrike" cap="none" normalizeH="0" baseline="0" dirty="0">
                          <a:ln>
                            <a:noFill/>
                          </a:ln>
                          <a:effectLst/>
                        </a:rPr>
                        <a:t>기술정보분석</a:t>
                      </a:r>
                      <a:endParaRPr kumimoji="0" lang="en-US" altLang="ko-KR" sz="1100" u="none" strike="noStrike" cap="none" normalizeH="0" baseline="0" dirty="0">
                        <a:ln>
                          <a:noFill/>
                        </a:ln>
                        <a:effectLst/>
                      </a:endParaRPr>
                    </a:p>
                    <a:p>
                      <a:pPr marL="25400" marR="0" lvl="0" indent="0" algn="ctr" defTabSz="914400" rtl="0" eaLnBrk="1" fontAlgn="base" latinLnBrk="1" hangingPunct="1">
                        <a:lnSpc>
                          <a:spcPct val="100000"/>
                        </a:lnSpc>
                        <a:spcBef>
                          <a:spcPct val="0"/>
                        </a:spcBef>
                        <a:spcAft>
                          <a:spcPct val="0"/>
                        </a:spcAft>
                        <a:buClrTx/>
                        <a:buSzTx/>
                        <a:buFontTx/>
                        <a:buNone/>
                        <a:tabLst/>
                      </a:pPr>
                      <a:r>
                        <a:rPr kumimoji="0" lang="en-US" altLang="ko-KR" sz="1100" u="none" strike="noStrike" cap="none" normalizeH="0" baseline="0" dirty="0">
                          <a:ln>
                            <a:noFill/>
                          </a:ln>
                          <a:effectLst/>
                        </a:rPr>
                        <a:t>(</a:t>
                      </a:r>
                      <a:r>
                        <a:rPr kumimoji="0" lang="ko-KR" altLang="en-US" sz="1100" u="none" strike="noStrike" cap="none" normalizeH="0" baseline="0" dirty="0">
                          <a:ln>
                            <a:noFill/>
                          </a:ln>
                          <a:effectLst/>
                        </a:rPr>
                        <a:t>연구개발전략 수립</a:t>
                      </a:r>
                      <a:r>
                        <a:rPr kumimoji="0" lang="en-US" altLang="ko-KR" sz="1100" u="none" strike="noStrike" cap="none" normalizeH="0" baseline="0" dirty="0">
                          <a:ln>
                            <a:noFill/>
                          </a:ln>
                          <a:effectLst/>
                        </a:rPr>
                        <a:t>)</a:t>
                      </a:r>
                      <a:endParaRPr kumimoji="0" lang="ko-KR" altLang="en-US" sz="1100" b="0" i="0" u="none" strike="noStrike" cap="none" normalizeH="0" baseline="0" dirty="0">
                        <a:ln>
                          <a:noFill/>
                        </a:ln>
                        <a:solidFill>
                          <a:schemeClr val="bg1"/>
                        </a:solidFill>
                        <a:effectLst/>
                        <a:latin typeface="+mn-ea"/>
                        <a:ea typeface="+mn-ea"/>
                      </a:endParaRPr>
                    </a:p>
                  </a:txBody>
                  <a:tcPr marL="13910" marR="13910" marT="13922" marB="13922" anchor="ctr" horzOverflow="overflow">
                    <a:solidFill>
                      <a:schemeClr val="accent1">
                        <a:lumMod val="20000"/>
                        <a:lumOff val="80000"/>
                      </a:schemeClr>
                    </a:solidFill>
                  </a:tcPr>
                </a:tc>
                <a:tc>
                  <a:txBody>
                    <a:bodyPr/>
                    <a:lstStyle/>
                    <a:p>
                      <a:pPr marL="25400" marR="0" lvl="0" indent="0" algn="just" defTabSz="914400" rtl="0" eaLnBrk="1" fontAlgn="base" latinLnBrk="1" hangingPunct="1">
                        <a:lnSpc>
                          <a:spcPct val="100000"/>
                        </a:lnSpc>
                        <a:spcBef>
                          <a:spcPct val="0"/>
                        </a:spcBef>
                        <a:spcAft>
                          <a:spcPct val="0"/>
                        </a:spcAft>
                        <a:buClrTx/>
                        <a:buSzTx/>
                        <a:buFontTx/>
                        <a:buNone/>
                        <a:tabLst/>
                      </a:pPr>
                      <a:r>
                        <a:rPr kumimoji="0" lang="en-US" altLang="ko-KR" sz="1100" u="none" strike="noStrike" cap="none" normalizeH="0" baseline="0" dirty="0">
                          <a:ln>
                            <a:noFill/>
                          </a:ln>
                          <a:effectLst/>
                        </a:rPr>
                        <a:t>R&amp;D </a:t>
                      </a:r>
                      <a:r>
                        <a:rPr kumimoji="0" lang="ko-KR" altLang="en-US" sz="1100" u="none" strike="noStrike" cap="none" normalizeH="0" baseline="0" dirty="0">
                          <a:ln>
                            <a:noFill/>
                          </a:ln>
                          <a:effectLst/>
                        </a:rPr>
                        <a:t>동향 파악</a:t>
                      </a:r>
                      <a:r>
                        <a:rPr kumimoji="0" lang="en-US" altLang="ko-KR" sz="1100" u="none" strike="noStrike" cap="none" normalizeH="0" baseline="0" dirty="0">
                          <a:ln>
                            <a:noFill/>
                          </a:ln>
                          <a:effectLst/>
                        </a:rPr>
                        <a:t>, </a:t>
                      </a:r>
                      <a:r>
                        <a:rPr kumimoji="0" lang="ko-KR" altLang="en-US" sz="1100" u="none" strike="noStrike" cap="none" normalizeH="0" baseline="0" dirty="0">
                          <a:ln>
                            <a:noFill/>
                          </a:ln>
                          <a:effectLst/>
                        </a:rPr>
                        <a:t>공백 기술 분야 파악</a:t>
                      </a:r>
                      <a:r>
                        <a:rPr kumimoji="0" lang="en-US" altLang="ko-KR" sz="1100" u="none" strike="noStrike" cap="none" normalizeH="0" baseline="0" dirty="0">
                          <a:ln>
                            <a:noFill/>
                          </a:ln>
                          <a:effectLst/>
                        </a:rPr>
                        <a:t>, </a:t>
                      </a:r>
                      <a:r>
                        <a:rPr kumimoji="0" lang="ko-KR" altLang="en-US" sz="1100" u="none" strike="noStrike" cap="none" normalizeH="0" baseline="0" dirty="0">
                          <a:ln>
                            <a:noFill/>
                          </a:ln>
                          <a:effectLst/>
                        </a:rPr>
                        <a:t>선행 프로젝트의 현존기술 파악</a:t>
                      </a:r>
                      <a:r>
                        <a:rPr kumimoji="0" lang="en-US" altLang="ko-KR" sz="1100" u="none" strike="noStrike" cap="none" normalizeH="0" baseline="0" dirty="0">
                          <a:ln>
                            <a:noFill/>
                          </a:ln>
                          <a:effectLst/>
                        </a:rPr>
                        <a:t>, </a:t>
                      </a:r>
                      <a:r>
                        <a:rPr kumimoji="0" lang="ko-KR" altLang="en-US" sz="1100" u="none" strike="noStrike" cap="none" normalizeH="0" baseline="0" dirty="0">
                          <a:ln>
                            <a:noFill/>
                          </a:ln>
                          <a:effectLst/>
                        </a:rPr>
                        <a:t>중요 특허 파악</a:t>
                      </a:r>
                      <a:r>
                        <a:rPr kumimoji="0" lang="en-US" altLang="ko-KR" sz="1100" u="none" strike="noStrike" cap="none" normalizeH="0" baseline="0" dirty="0">
                          <a:ln>
                            <a:noFill/>
                          </a:ln>
                          <a:effectLst/>
                        </a:rPr>
                        <a:t>, </a:t>
                      </a:r>
                      <a:r>
                        <a:rPr kumimoji="0" lang="ko-KR" altLang="en-US" sz="1100" u="none" strike="noStrike" cap="none" normalizeH="0" baseline="0" dirty="0">
                          <a:ln>
                            <a:noFill/>
                          </a:ln>
                          <a:effectLst/>
                        </a:rPr>
                        <a:t>타깃제품의 시장조사</a:t>
                      </a:r>
                      <a:endParaRPr kumimoji="0" lang="ko-KR" altLang="en-US" sz="1100" b="0" i="0" u="none" strike="noStrike" cap="none" normalizeH="0" baseline="0" dirty="0">
                        <a:ln>
                          <a:noFill/>
                        </a:ln>
                        <a:solidFill>
                          <a:srgbClr val="000000"/>
                        </a:solidFill>
                        <a:effectLst/>
                        <a:latin typeface="+mn-ea"/>
                        <a:ea typeface="+mn-ea"/>
                      </a:endParaRPr>
                    </a:p>
                  </a:txBody>
                  <a:tcPr marL="13910" marR="13910" marT="13922" marB="13922" anchor="ctr" horzOverflow="overflow"/>
                </a:tc>
                <a:extLst>
                  <a:ext uri="{0D108BD9-81ED-4DB2-BD59-A6C34878D82A}">
                    <a16:rowId xmlns:a16="http://schemas.microsoft.com/office/drawing/2014/main" val="10004"/>
                  </a:ext>
                </a:extLst>
              </a:tr>
              <a:tr h="243177">
                <a:tc vMerge="1">
                  <a:txBody>
                    <a:bodyPr/>
                    <a:lstStyle/>
                    <a:p>
                      <a:pPr latinLnBrk="1"/>
                      <a:endParaRPr lang="ko-KR" altLang="en-US"/>
                    </a:p>
                  </a:txBody>
                  <a:tcPr/>
                </a:tc>
                <a:tc>
                  <a:txBody>
                    <a:bodyPr/>
                    <a:lstStyle/>
                    <a:p>
                      <a:pPr marL="25400" marR="0" lvl="0" indent="0" algn="just" defTabSz="914400" rtl="0" eaLnBrk="1" fontAlgn="base" latinLnBrk="1" hangingPunct="1">
                        <a:lnSpc>
                          <a:spcPct val="100000"/>
                        </a:lnSpc>
                        <a:spcBef>
                          <a:spcPct val="0"/>
                        </a:spcBef>
                        <a:spcAft>
                          <a:spcPct val="0"/>
                        </a:spcAft>
                        <a:buClrTx/>
                        <a:buSzTx/>
                        <a:buFontTx/>
                        <a:buNone/>
                        <a:tabLst/>
                      </a:pPr>
                      <a:r>
                        <a:rPr kumimoji="0" lang="ko-KR" altLang="en-US" sz="1100" u="none" strike="noStrike" cap="none" normalizeH="0" baseline="0">
                          <a:ln>
                            <a:noFill/>
                          </a:ln>
                          <a:effectLst/>
                        </a:rPr>
                        <a:t>기술 분야의 체계 파악</a:t>
                      </a:r>
                      <a:r>
                        <a:rPr kumimoji="0" lang="en-US" altLang="ko-KR" sz="1100" u="none" strike="noStrike" cap="none" normalizeH="0" baseline="0">
                          <a:ln>
                            <a:noFill/>
                          </a:ln>
                          <a:effectLst/>
                        </a:rPr>
                        <a:t>, </a:t>
                      </a:r>
                      <a:r>
                        <a:rPr kumimoji="0" lang="ko-KR" altLang="en-US" sz="1100" u="none" strike="noStrike" cap="none" normalizeH="0" baseline="0">
                          <a:ln>
                            <a:noFill/>
                          </a:ln>
                          <a:effectLst/>
                        </a:rPr>
                        <a:t>자사의 위치 설정</a:t>
                      </a:r>
                      <a:endParaRPr kumimoji="0" lang="ko-KR" altLang="en-US" sz="1100" b="0" i="0" u="none" strike="noStrike" cap="none" normalizeH="0" baseline="0">
                        <a:ln>
                          <a:noFill/>
                        </a:ln>
                        <a:solidFill>
                          <a:srgbClr val="000000"/>
                        </a:solidFill>
                        <a:effectLst/>
                        <a:latin typeface="+mn-ea"/>
                        <a:ea typeface="+mn-ea"/>
                      </a:endParaRPr>
                    </a:p>
                  </a:txBody>
                  <a:tcPr marL="13910" marR="13910" marT="13922" marB="13922" anchor="ctr" horzOverflow="overflow"/>
                </a:tc>
                <a:extLst>
                  <a:ext uri="{0D108BD9-81ED-4DB2-BD59-A6C34878D82A}">
                    <a16:rowId xmlns:a16="http://schemas.microsoft.com/office/drawing/2014/main" val="10005"/>
                  </a:ext>
                </a:extLst>
              </a:tr>
              <a:tr h="243177">
                <a:tc rowSpan="3">
                  <a:txBody>
                    <a:bodyPr/>
                    <a:lstStyle/>
                    <a:p>
                      <a:pPr marL="25400" marR="0" lvl="0" indent="0" algn="ctr" defTabSz="914400" rtl="0" eaLnBrk="1" fontAlgn="base" latinLnBrk="1" hangingPunct="1">
                        <a:lnSpc>
                          <a:spcPct val="100000"/>
                        </a:lnSpc>
                        <a:spcBef>
                          <a:spcPct val="0"/>
                        </a:spcBef>
                        <a:spcAft>
                          <a:spcPct val="0"/>
                        </a:spcAft>
                        <a:buClrTx/>
                        <a:buSzTx/>
                        <a:buFontTx/>
                        <a:buNone/>
                        <a:tabLst/>
                      </a:pPr>
                      <a:r>
                        <a:rPr kumimoji="0" lang="ko-KR" altLang="en-US" sz="1100" u="none" strike="noStrike" cap="none" normalizeH="0" baseline="0" dirty="0">
                          <a:ln>
                            <a:noFill/>
                          </a:ln>
                          <a:effectLst/>
                        </a:rPr>
                        <a:t>권리정보분석</a:t>
                      </a:r>
                      <a:endParaRPr kumimoji="0" lang="en-US" altLang="ko-KR" sz="1100" u="none" strike="noStrike" cap="none" normalizeH="0" baseline="0" dirty="0">
                        <a:ln>
                          <a:noFill/>
                        </a:ln>
                        <a:effectLst/>
                      </a:endParaRPr>
                    </a:p>
                    <a:p>
                      <a:pPr marL="25400" marR="0" lvl="0" indent="0" algn="ctr" defTabSz="914400" rtl="0" eaLnBrk="1" fontAlgn="base" latinLnBrk="1" hangingPunct="1">
                        <a:lnSpc>
                          <a:spcPct val="100000"/>
                        </a:lnSpc>
                        <a:spcBef>
                          <a:spcPct val="0"/>
                        </a:spcBef>
                        <a:spcAft>
                          <a:spcPct val="0"/>
                        </a:spcAft>
                        <a:buClrTx/>
                        <a:buSzTx/>
                        <a:buFontTx/>
                        <a:buNone/>
                        <a:tabLst/>
                      </a:pPr>
                      <a:r>
                        <a:rPr kumimoji="0" lang="en-US" altLang="ko-KR" sz="1100" u="none" strike="noStrike" cap="none" normalizeH="0" baseline="0" dirty="0">
                          <a:ln>
                            <a:noFill/>
                          </a:ln>
                          <a:effectLst/>
                        </a:rPr>
                        <a:t>(</a:t>
                      </a:r>
                      <a:r>
                        <a:rPr kumimoji="0" lang="ko-KR" altLang="en-US" sz="1100" u="none" strike="noStrike" cap="none" normalizeH="0" baseline="0" dirty="0">
                          <a:ln>
                            <a:noFill/>
                          </a:ln>
                          <a:effectLst/>
                        </a:rPr>
                        <a:t>특허전략 수립</a:t>
                      </a:r>
                      <a:r>
                        <a:rPr kumimoji="0" lang="en-US" altLang="ko-KR" sz="1100" u="none" strike="noStrike" cap="none" normalizeH="0" baseline="0" dirty="0">
                          <a:ln>
                            <a:noFill/>
                          </a:ln>
                          <a:effectLst/>
                        </a:rPr>
                        <a:t>)</a:t>
                      </a:r>
                      <a:endParaRPr kumimoji="0" lang="ko-KR" altLang="en-US" sz="1100" b="0" i="0" u="none" strike="noStrike" cap="none" normalizeH="0" baseline="0" dirty="0">
                        <a:ln>
                          <a:noFill/>
                        </a:ln>
                        <a:solidFill>
                          <a:schemeClr val="bg1"/>
                        </a:solidFill>
                        <a:effectLst/>
                        <a:latin typeface="+mn-ea"/>
                        <a:ea typeface="+mn-ea"/>
                      </a:endParaRPr>
                    </a:p>
                  </a:txBody>
                  <a:tcPr marL="13910" marR="13910" marT="13922" marB="13922" anchor="ctr" horzOverflow="overflow">
                    <a:solidFill>
                      <a:schemeClr val="accent1">
                        <a:lumMod val="20000"/>
                        <a:lumOff val="80000"/>
                      </a:schemeClr>
                    </a:solidFill>
                  </a:tcPr>
                </a:tc>
                <a:tc>
                  <a:txBody>
                    <a:bodyPr/>
                    <a:lstStyle/>
                    <a:p>
                      <a:pPr marL="25400" marR="0" lvl="0" indent="0" algn="just" defTabSz="914400" rtl="0" eaLnBrk="1" fontAlgn="base" latinLnBrk="1" hangingPunct="1">
                        <a:lnSpc>
                          <a:spcPct val="100000"/>
                        </a:lnSpc>
                        <a:spcBef>
                          <a:spcPct val="0"/>
                        </a:spcBef>
                        <a:spcAft>
                          <a:spcPct val="0"/>
                        </a:spcAft>
                        <a:buClrTx/>
                        <a:buSzTx/>
                        <a:buFontTx/>
                        <a:buNone/>
                        <a:tabLst/>
                      </a:pPr>
                      <a:r>
                        <a:rPr kumimoji="0" lang="ko-KR" altLang="en-US" sz="1100" u="none" strike="noStrike" cap="none" normalizeH="0" baseline="0" dirty="0">
                          <a:ln>
                            <a:noFill/>
                          </a:ln>
                          <a:effectLst/>
                        </a:rPr>
                        <a:t>정보제공</a:t>
                      </a:r>
                      <a:r>
                        <a:rPr kumimoji="0" lang="en-US" altLang="ko-KR" sz="1100" u="none" strike="noStrike" cap="none" normalizeH="0" baseline="0" dirty="0">
                          <a:ln>
                            <a:noFill/>
                          </a:ln>
                          <a:effectLst/>
                        </a:rPr>
                        <a:t>, </a:t>
                      </a:r>
                      <a:r>
                        <a:rPr kumimoji="0" lang="ko-KR" altLang="en-US" sz="1100" u="none" strike="noStrike" cap="none" normalizeH="0" baseline="0" dirty="0">
                          <a:ln>
                            <a:noFill/>
                          </a:ln>
                          <a:effectLst/>
                        </a:rPr>
                        <a:t>취소신청 및 무효심판 등의 자료</a:t>
                      </a:r>
                      <a:endParaRPr kumimoji="0" lang="ko-KR" altLang="en-US" sz="1100" b="0" i="0" u="none" strike="noStrike" cap="none" normalizeH="0" baseline="0" dirty="0">
                        <a:ln>
                          <a:noFill/>
                        </a:ln>
                        <a:solidFill>
                          <a:srgbClr val="000000"/>
                        </a:solidFill>
                        <a:effectLst/>
                        <a:latin typeface="+mn-ea"/>
                        <a:ea typeface="+mn-ea"/>
                      </a:endParaRPr>
                    </a:p>
                  </a:txBody>
                  <a:tcPr marL="13910" marR="13910" marT="13922" marB="13922" anchor="ctr" horzOverflow="overflow"/>
                </a:tc>
                <a:extLst>
                  <a:ext uri="{0D108BD9-81ED-4DB2-BD59-A6C34878D82A}">
                    <a16:rowId xmlns:a16="http://schemas.microsoft.com/office/drawing/2014/main" val="10006"/>
                  </a:ext>
                </a:extLst>
              </a:tr>
              <a:tr h="243177">
                <a:tc vMerge="1">
                  <a:txBody>
                    <a:bodyPr/>
                    <a:lstStyle/>
                    <a:p>
                      <a:pPr latinLnBrk="1"/>
                      <a:endParaRPr lang="ko-KR" altLang="en-US"/>
                    </a:p>
                  </a:txBody>
                  <a:tcPr/>
                </a:tc>
                <a:tc>
                  <a:txBody>
                    <a:bodyPr/>
                    <a:lstStyle/>
                    <a:p>
                      <a:pPr marL="25400" marR="0" lvl="0" indent="0" algn="just" defTabSz="914400" rtl="0" eaLnBrk="1" fontAlgn="base" latinLnBrk="1" hangingPunct="1">
                        <a:lnSpc>
                          <a:spcPct val="100000"/>
                        </a:lnSpc>
                        <a:spcBef>
                          <a:spcPct val="0"/>
                        </a:spcBef>
                        <a:spcAft>
                          <a:spcPct val="0"/>
                        </a:spcAft>
                        <a:buClrTx/>
                        <a:buSzTx/>
                        <a:buFontTx/>
                        <a:buNone/>
                        <a:tabLst/>
                      </a:pPr>
                      <a:r>
                        <a:rPr kumimoji="0" lang="ko-KR" altLang="en-US" sz="1100" u="none" strike="noStrike" cap="none" normalizeH="0" baseline="0">
                          <a:ln>
                            <a:noFill/>
                          </a:ln>
                          <a:effectLst/>
                        </a:rPr>
                        <a:t>특허 관리망 형성</a:t>
                      </a:r>
                      <a:endParaRPr kumimoji="0" lang="ko-KR" altLang="en-US" sz="1100" b="0" i="0" u="none" strike="noStrike" cap="none" normalizeH="0" baseline="0">
                        <a:ln>
                          <a:noFill/>
                        </a:ln>
                        <a:solidFill>
                          <a:srgbClr val="000000"/>
                        </a:solidFill>
                        <a:effectLst/>
                        <a:latin typeface="+mn-ea"/>
                        <a:ea typeface="+mn-ea"/>
                      </a:endParaRPr>
                    </a:p>
                  </a:txBody>
                  <a:tcPr marL="13910" marR="13910" marT="13922" marB="13922" anchor="ctr" horzOverflow="overflow"/>
                </a:tc>
                <a:extLst>
                  <a:ext uri="{0D108BD9-81ED-4DB2-BD59-A6C34878D82A}">
                    <a16:rowId xmlns:a16="http://schemas.microsoft.com/office/drawing/2014/main" val="10007"/>
                  </a:ext>
                </a:extLst>
              </a:tr>
              <a:tr h="243177">
                <a:tc vMerge="1">
                  <a:txBody>
                    <a:bodyPr/>
                    <a:lstStyle/>
                    <a:p>
                      <a:pPr latinLnBrk="1"/>
                      <a:endParaRPr lang="ko-KR" altLang="en-US"/>
                    </a:p>
                  </a:txBody>
                  <a:tcPr/>
                </a:tc>
                <a:tc>
                  <a:txBody>
                    <a:bodyPr/>
                    <a:lstStyle/>
                    <a:p>
                      <a:pPr marL="25400" marR="0" lvl="0" indent="0" algn="just" defTabSz="914400" rtl="0" eaLnBrk="1" fontAlgn="base" latinLnBrk="1" hangingPunct="1">
                        <a:lnSpc>
                          <a:spcPct val="100000"/>
                        </a:lnSpc>
                        <a:spcBef>
                          <a:spcPct val="0"/>
                        </a:spcBef>
                        <a:spcAft>
                          <a:spcPct val="0"/>
                        </a:spcAft>
                        <a:buClrTx/>
                        <a:buSzTx/>
                        <a:buFontTx/>
                        <a:buNone/>
                        <a:tabLst/>
                      </a:pPr>
                      <a:r>
                        <a:rPr kumimoji="0" lang="ko-KR" altLang="en-US" sz="1100" u="none" strike="noStrike" cap="none" normalizeH="0" baseline="0" dirty="0">
                          <a:ln>
                            <a:noFill/>
                          </a:ln>
                          <a:effectLst/>
                        </a:rPr>
                        <a:t>강력한 특허권 취득을 위한 명세서 파악</a:t>
                      </a:r>
                      <a:endParaRPr kumimoji="0" lang="ko-KR" altLang="en-US" sz="1100" b="0" i="0" u="none" strike="noStrike" cap="none" normalizeH="0" baseline="0" dirty="0">
                        <a:ln>
                          <a:noFill/>
                        </a:ln>
                        <a:solidFill>
                          <a:srgbClr val="000000"/>
                        </a:solidFill>
                        <a:effectLst/>
                        <a:latin typeface="+mn-ea"/>
                        <a:ea typeface="+mn-ea"/>
                      </a:endParaRPr>
                    </a:p>
                  </a:txBody>
                  <a:tcPr marL="13910" marR="13910" marT="13922" marB="13922" anchor="ctr" horzOverflow="overflow"/>
                </a:tc>
                <a:extLst>
                  <a:ext uri="{0D108BD9-81ED-4DB2-BD59-A6C34878D82A}">
                    <a16:rowId xmlns:a16="http://schemas.microsoft.com/office/drawing/2014/main" val="10008"/>
                  </a:ext>
                </a:extLst>
              </a:tr>
            </a:tbl>
          </a:graphicData>
        </a:graphic>
      </p:graphicFrame>
      <p:sp>
        <p:nvSpPr>
          <p:cNvPr id="8" name="직사각형 7"/>
          <p:cNvSpPr/>
          <p:nvPr/>
        </p:nvSpPr>
        <p:spPr bwMode="auto">
          <a:xfrm>
            <a:off x="319906" y="5225802"/>
            <a:ext cx="720725" cy="292100"/>
          </a:xfrm>
          <a:prstGeom prst="rect">
            <a:avLst/>
          </a:prstGeom>
          <a:ln>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lIns="90000" tIns="46800" rIns="90000" bIns="46800" anchor="ctr"/>
          <a:lstStyle/>
          <a:p>
            <a:pPr algn="ctr">
              <a:buFont typeface="Wingdings" pitchFamily="2" charset="2"/>
              <a:buNone/>
              <a:defRPr/>
            </a:pPr>
            <a:r>
              <a:rPr lang="ko-KR" altLang="en-US" sz="1050" dirty="0">
                <a:solidFill>
                  <a:schemeClr val="bg1"/>
                </a:solidFill>
                <a:latin typeface="+mn-ea"/>
              </a:rPr>
              <a:t>특허정보</a:t>
            </a:r>
          </a:p>
        </p:txBody>
      </p:sp>
      <p:sp>
        <p:nvSpPr>
          <p:cNvPr id="9" name="직사각형 8"/>
          <p:cNvSpPr/>
          <p:nvPr/>
        </p:nvSpPr>
        <p:spPr bwMode="auto">
          <a:xfrm>
            <a:off x="1328588" y="4816227"/>
            <a:ext cx="935037" cy="292100"/>
          </a:xfrm>
          <a:prstGeom prst="rect">
            <a:avLst/>
          </a:prstGeom>
          <a:ln>
            <a:headEnd type="none" w="med" len="med"/>
            <a:tailEnd type="none" w="med" len="med"/>
          </a:ln>
        </p:spPr>
        <p:style>
          <a:lnRef idx="2">
            <a:schemeClr val="accent6"/>
          </a:lnRef>
          <a:fillRef idx="1">
            <a:schemeClr val="lt1"/>
          </a:fillRef>
          <a:effectRef idx="0">
            <a:schemeClr val="accent6"/>
          </a:effectRef>
          <a:fontRef idx="minor">
            <a:schemeClr val="dk1"/>
          </a:fontRef>
        </p:style>
        <p:txBody>
          <a:bodyPr lIns="90000" tIns="46800" rIns="90000" bIns="46800" anchor="ctr"/>
          <a:lstStyle/>
          <a:p>
            <a:pPr algn="ctr">
              <a:buFont typeface="Wingdings" pitchFamily="2" charset="2"/>
              <a:buNone/>
              <a:defRPr/>
            </a:pPr>
            <a:r>
              <a:rPr lang="ko-KR" altLang="en-US" sz="1050" b="0" dirty="0">
                <a:solidFill>
                  <a:schemeClr val="tx1"/>
                </a:solidFill>
                <a:latin typeface="+mn-ea"/>
              </a:rPr>
              <a:t>서지적 사항</a:t>
            </a:r>
          </a:p>
        </p:txBody>
      </p:sp>
      <p:sp>
        <p:nvSpPr>
          <p:cNvPr id="10" name="직사각형 9"/>
          <p:cNvSpPr/>
          <p:nvPr/>
        </p:nvSpPr>
        <p:spPr bwMode="auto">
          <a:xfrm>
            <a:off x="2336650" y="4816227"/>
            <a:ext cx="935038" cy="292100"/>
          </a:xfrm>
          <a:prstGeom prst="rect">
            <a:avLst/>
          </a:prstGeom>
          <a:ln>
            <a:headEnd type="none" w="med" len="med"/>
            <a:tailEnd type="none" w="med" len="med"/>
          </a:ln>
        </p:spPr>
        <p:style>
          <a:lnRef idx="1">
            <a:schemeClr val="accent6"/>
          </a:lnRef>
          <a:fillRef idx="3">
            <a:schemeClr val="accent6"/>
          </a:fillRef>
          <a:effectRef idx="2">
            <a:schemeClr val="accent6"/>
          </a:effectRef>
          <a:fontRef idx="minor">
            <a:schemeClr val="lt1"/>
          </a:fontRef>
        </p:style>
        <p:txBody>
          <a:bodyPr lIns="90000" tIns="46800" rIns="90000" bIns="46800" anchor="ctr"/>
          <a:lstStyle/>
          <a:p>
            <a:pPr algn="ctr">
              <a:buFont typeface="Wingdings" pitchFamily="2" charset="2"/>
              <a:buNone/>
              <a:defRPr/>
            </a:pPr>
            <a:r>
              <a:rPr lang="ko-KR" altLang="en-US" sz="1050" dirty="0">
                <a:solidFill>
                  <a:schemeClr val="bg1"/>
                </a:solidFill>
                <a:latin typeface="+mn-ea"/>
              </a:rPr>
              <a:t>분류</a:t>
            </a:r>
            <a:r>
              <a:rPr lang="en-US" altLang="ko-KR" sz="1050" dirty="0">
                <a:solidFill>
                  <a:schemeClr val="bg1"/>
                </a:solidFill>
                <a:latin typeface="+mn-ea"/>
              </a:rPr>
              <a:t>, </a:t>
            </a:r>
            <a:r>
              <a:rPr lang="ko-KR" altLang="en-US" sz="1050" dirty="0">
                <a:solidFill>
                  <a:schemeClr val="bg1"/>
                </a:solidFill>
                <a:latin typeface="+mn-ea"/>
              </a:rPr>
              <a:t>정리</a:t>
            </a:r>
          </a:p>
        </p:txBody>
      </p:sp>
      <p:sp>
        <p:nvSpPr>
          <p:cNvPr id="11" name="직사각형 10"/>
          <p:cNvSpPr/>
          <p:nvPr/>
        </p:nvSpPr>
        <p:spPr bwMode="auto">
          <a:xfrm>
            <a:off x="3488258" y="5225802"/>
            <a:ext cx="720725" cy="292100"/>
          </a:xfrm>
          <a:prstGeom prst="rect">
            <a:avLst/>
          </a:prstGeom>
          <a:ln>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lIns="90000" tIns="46800" rIns="90000" bIns="46800" anchor="ctr"/>
          <a:lstStyle/>
          <a:p>
            <a:pPr algn="ctr">
              <a:buFont typeface="Wingdings" pitchFamily="2" charset="2"/>
              <a:buNone/>
              <a:defRPr/>
            </a:pPr>
            <a:r>
              <a:rPr lang="en-US" altLang="ko-KR" sz="1050">
                <a:solidFill>
                  <a:schemeClr val="bg1"/>
                </a:solidFill>
                <a:latin typeface="+mn-ea"/>
              </a:rPr>
              <a:t>DATA</a:t>
            </a:r>
            <a:r>
              <a:rPr lang="ko-KR" altLang="en-US" sz="1050" dirty="0">
                <a:solidFill>
                  <a:schemeClr val="bg1"/>
                </a:solidFill>
                <a:latin typeface="+mn-ea"/>
              </a:rPr>
              <a:t>화</a:t>
            </a:r>
          </a:p>
        </p:txBody>
      </p:sp>
      <p:sp>
        <p:nvSpPr>
          <p:cNvPr id="12" name="직사각형 11"/>
          <p:cNvSpPr/>
          <p:nvPr/>
        </p:nvSpPr>
        <p:spPr bwMode="auto">
          <a:xfrm>
            <a:off x="4351709" y="5225802"/>
            <a:ext cx="720725" cy="292100"/>
          </a:xfrm>
          <a:prstGeom prst="rect">
            <a:avLst/>
          </a:prstGeom>
          <a:ln>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lIns="90000" tIns="46800" rIns="90000" bIns="46800" anchor="ctr"/>
          <a:lstStyle/>
          <a:p>
            <a:pPr algn="ctr">
              <a:buFont typeface="Wingdings" pitchFamily="2" charset="2"/>
              <a:buNone/>
              <a:defRPr/>
            </a:pPr>
            <a:r>
              <a:rPr lang="ko-KR" altLang="en-US" sz="1050" dirty="0">
                <a:solidFill>
                  <a:schemeClr val="bg1"/>
                </a:solidFill>
                <a:latin typeface="+mn-ea"/>
              </a:rPr>
              <a:t>도표화</a:t>
            </a:r>
          </a:p>
        </p:txBody>
      </p:sp>
      <p:sp>
        <p:nvSpPr>
          <p:cNvPr id="13" name="직사각형 12"/>
          <p:cNvSpPr/>
          <p:nvPr/>
        </p:nvSpPr>
        <p:spPr bwMode="auto">
          <a:xfrm>
            <a:off x="1328588" y="5635377"/>
            <a:ext cx="935037" cy="292100"/>
          </a:xfrm>
          <a:prstGeom prst="rect">
            <a:avLst/>
          </a:prstGeom>
          <a:ln>
            <a:headEnd type="none" w="med" len="med"/>
            <a:tailEnd type="none" w="med" len="med"/>
          </a:ln>
        </p:spPr>
        <p:style>
          <a:lnRef idx="2">
            <a:schemeClr val="accent4"/>
          </a:lnRef>
          <a:fillRef idx="1">
            <a:schemeClr val="lt1"/>
          </a:fillRef>
          <a:effectRef idx="0">
            <a:schemeClr val="accent4"/>
          </a:effectRef>
          <a:fontRef idx="minor">
            <a:schemeClr val="dk1"/>
          </a:fontRef>
        </p:style>
        <p:txBody>
          <a:bodyPr lIns="90000" tIns="46800" rIns="90000" bIns="46800" anchor="ctr"/>
          <a:lstStyle/>
          <a:p>
            <a:pPr algn="ctr">
              <a:buFont typeface="Wingdings" pitchFamily="2" charset="2"/>
              <a:buNone/>
              <a:defRPr/>
            </a:pPr>
            <a:r>
              <a:rPr lang="ko-KR" altLang="en-US" sz="1050" b="0" dirty="0">
                <a:solidFill>
                  <a:schemeClr val="tx1"/>
                </a:solidFill>
                <a:latin typeface="+mn-ea"/>
              </a:rPr>
              <a:t>기술적 사항</a:t>
            </a:r>
          </a:p>
        </p:txBody>
      </p:sp>
      <p:sp>
        <p:nvSpPr>
          <p:cNvPr id="14" name="직사각형 13"/>
          <p:cNvSpPr/>
          <p:nvPr/>
        </p:nvSpPr>
        <p:spPr bwMode="auto">
          <a:xfrm>
            <a:off x="2336650" y="5635377"/>
            <a:ext cx="935038" cy="292100"/>
          </a:xfrm>
          <a:prstGeom prst="rect">
            <a:avLst/>
          </a:prstGeom>
          <a:solidFill>
            <a:schemeClr val="accent4"/>
          </a:solidFill>
          <a:ln>
            <a:headEnd type="none" w="med" len="med"/>
            <a:tailEnd type="none" w="med" len="med"/>
          </a:ln>
        </p:spPr>
        <p:style>
          <a:lnRef idx="1">
            <a:schemeClr val="accent4"/>
          </a:lnRef>
          <a:fillRef idx="3">
            <a:schemeClr val="accent4"/>
          </a:fillRef>
          <a:effectRef idx="2">
            <a:schemeClr val="accent4"/>
          </a:effectRef>
          <a:fontRef idx="minor">
            <a:schemeClr val="lt1"/>
          </a:fontRef>
        </p:style>
        <p:txBody>
          <a:bodyPr lIns="90000" tIns="46800" rIns="90000" bIns="46800" anchor="ctr"/>
          <a:lstStyle/>
          <a:p>
            <a:pPr algn="ctr">
              <a:buFont typeface="Wingdings" pitchFamily="2" charset="2"/>
              <a:buNone/>
              <a:defRPr/>
            </a:pPr>
            <a:r>
              <a:rPr lang="ko-KR" altLang="en-US" sz="1050" dirty="0">
                <a:solidFill>
                  <a:schemeClr val="bg1"/>
                </a:solidFill>
                <a:latin typeface="+mn-ea"/>
              </a:rPr>
              <a:t>분석</a:t>
            </a:r>
            <a:r>
              <a:rPr lang="en-US" altLang="ko-KR" sz="1050" dirty="0">
                <a:solidFill>
                  <a:schemeClr val="bg1"/>
                </a:solidFill>
                <a:latin typeface="+mn-ea"/>
              </a:rPr>
              <a:t>, </a:t>
            </a:r>
            <a:r>
              <a:rPr lang="ko-KR" altLang="en-US" sz="1050" dirty="0">
                <a:solidFill>
                  <a:schemeClr val="bg1"/>
                </a:solidFill>
                <a:latin typeface="+mn-ea"/>
              </a:rPr>
              <a:t>가공</a:t>
            </a:r>
          </a:p>
        </p:txBody>
      </p:sp>
      <p:cxnSp>
        <p:nvCxnSpPr>
          <p:cNvPr id="15" name="꺾인 연결선 14"/>
          <p:cNvCxnSpPr>
            <a:stCxn id="8" idx="3"/>
            <a:endCxn id="9" idx="1"/>
          </p:cNvCxnSpPr>
          <p:nvPr/>
        </p:nvCxnSpPr>
        <p:spPr bwMode="auto">
          <a:xfrm flipV="1">
            <a:off x="1040631" y="4962277"/>
            <a:ext cx="287957" cy="409575"/>
          </a:xfrm>
          <a:prstGeom prst="bentConnector3">
            <a:avLst>
              <a:gd name="adj1" fmla="val 50000"/>
            </a:avLst>
          </a:prstGeom>
          <a:ln w="12700">
            <a:headEnd type="none" w="med" len="med"/>
            <a:tailEnd type="arrow"/>
          </a:ln>
        </p:spPr>
        <p:style>
          <a:lnRef idx="3">
            <a:schemeClr val="dk1"/>
          </a:lnRef>
          <a:fillRef idx="0">
            <a:schemeClr val="dk1"/>
          </a:fillRef>
          <a:effectRef idx="2">
            <a:schemeClr val="dk1"/>
          </a:effectRef>
          <a:fontRef idx="minor">
            <a:schemeClr val="tx1"/>
          </a:fontRef>
        </p:style>
      </p:cxnSp>
      <p:cxnSp>
        <p:nvCxnSpPr>
          <p:cNvPr id="16" name="꺾인 연결선 15"/>
          <p:cNvCxnSpPr>
            <a:stCxn id="8" idx="3"/>
            <a:endCxn id="13" idx="1"/>
          </p:cNvCxnSpPr>
          <p:nvPr/>
        </p:nvCxnSpPr>
        <p:spPr bwMode="auto">
          <a:xfrm>
            <a:off x="1040631" y="5371852"/>
            <a:ext cx="287957" cy="409575"/>
          </a:xfrm>
          <a:prstGeom prst="bentConnector3">
            <a:avLst>
              <a:gd name="adj1" fmla="val 50000"/>
            </a:avLst>
          </a:prstGeom>
          <a:ln w="12700">
            <a:headEnd type="none" w="med" len="med"/>
            <a:tailEnd type="arrow"/>
          </a:ln>
        </p:spPr>
        <p:style>
          <a:lnRef idx="3">
            <a:schemeClr val="dk1"/>
          </a:lnRef>
          <a:fillRef idx="0">
            <a:schemeClr val="dk1"/>
          </a:fillRef>
          <a:effectRef idx="2">
            <a:schemeClr val="dk1"/>
          </a:effectRef>
          <a:fontRef idx="minor">
            <a:schemeClr val="tx1"/>
          </a:fontRef>
        </p:style>
      </p:cxnSp>
      <p:cxnSp>
        <p:nvCxnSpPr>
          <p:cNvPr id="17" name="꺾인 연결선 16"/>
          <p:cNvCxnSpPr>
            <a:stCxn id="14" idx="3"/>
            <a:endCxn id="11" idx="1"/>
          </p:cNvCxnSpPr>
          <p:nvPr/>
        </p:nvCxnSpPr>
        <p:spPr bwMode="auto">
          <a:xfrm flipV="1">
            <a:off x="3271688" y="5371852"/>
            <a:ext cx="216570" cy="409575"/>
          </a:xfrm>
          <a:prstGeom prst="bentConnector3">
            <a:avLst>
              <a:gd name="adj1" fmla="val 50000"/>
            </a:avLst>
          </a:prstGeom>
          <a:ln w="12700">
            <a:headEnd type="none" w="med" len="med"/>
            <a:tailEnd type="arrow"/>
          </a:ln>
        </p:spPr>
        <p:style>
          <a:lnRef idx="3">
            <a:schemeClr val="dk1"/>
          </a:lnRef>
          <a:fillRef idx="0">
            <a:schemeClr val="dk1"/>
          </a:fillRef>
          <a:effectRef idx="2">
            <a:schemeClr val="dk1"/>
          </a:effectRef>
          <a:fontRef idx="minor">
            <a:schemeClr val="tx1"/>
          </a:fontRef>
        </p:style>
      </p:cxnSp>
      <p:cxnSp>
        <p:nvCxnSpPr>
          <p:cNvPr id="18" name="꺾인 연결선 17"/>
          <p:cNvCxnSpPr>
            <a:stCxn id="10" idx="3"/>
            <a:endCxn id="11" idx="1"/>
          </p:cNvCxnSpPr>
          <p:nvPr/>
        </p:nvCxnSpPr>
        <p:spPr bwMode="auto">
          <a:xfrm>
            <a:off x="3271688" y="4962277"/>
            <a:ext cx="216570" cy="409575"/>
          </a:xfrm>
          <a:prstGeom prst="bentConnector3">
            <a:avLst>
              <a:gd name="adj1" fmla="val 50000"/>
            </a:avLst>
          </a:prstGeom>
          <a:ln w="12700">
            <a:headEnd type="none" w="med" len="med"/>
            <a:tailEnd type="arrow"/>
          </a:ln>
        </p:spPr>
        <p:style>
          <a:lnRef idx="3">
            <a:schemeClr val="dk1"/>
          </a:lnRef>
          <a:fillRef idx="0">
            <a:schemeClr val="dk1"/>
          </a:fillRef>
          <a:effectRef idx="2">
            <a:schemeClr val="dk1"/>
          </a:effectRef>
          <a:fontRef idx="minor">
            <a:schemeClr val="tx1"/>
          </a:fontRef>
        </p:style>
      </p:cxnSp>
      <p:cxnSp>
        <p:nvCxnSpPr>
          <p:cNvPr id="19" name="직선 화살표 연결선 18"/>
          <p:cNvCxnSpPr>
            <a:stCxn id="11" idx="3"/>
            <a:endCxn id="12" idx="1"/>
          </p:cNvCxnSpPr>
          <p:nvPr/>
        </p:nvCxnSpPr>
        <p:spPr bwMode="auto">
          <a:xfrm>
            <a:off x="4208983" y="5371852"/>
            <a:ext cx="142726" cy="0"/>
          </a:xfrm>
          <a:prstGeom prst="straightConnector1">
            <a:avLst/>
          </a:prstGeom>
          <a:ln w="12700">
            <a:headEnd type="none" w="med" len="med"/>
            <a:tailEnd type="arrow"/>
          </a:ln>
        </p:spPr>
        <p:style>
          <a:lnRef idx="3">
            <a:schemeClr val="dk1"/>
          </a:lnRef>
          <a:fillRef idx="0">
            <a:schemeClr val="dk1"/>
          </a:fillRef>
          <a:effectRef idx="2">
            <a:schemeClr val="dk1"/>
          </a:effectRef>
          <a:fontRef idx="minor">
            <a:schemeClr val="tx1"/>
          </a:fontRef>
        </p:style>
      </p:cxnSp>
      <p:sp>
        <p:nvSpPr>
          <p:cNvPr id="20" name="직사각형 19"/>
          <p:cNvSpPr/>
          <p:nvPr/>
        </p:nvSpPr>
        <p:spPr bwMode="auto">
          <a:xfrm>
            <a:off x="1688950" y="5225802"/>
            <a:ext cx="1295400" cy="292100"/>
          </a:xfrm>
          <a:prstGeom prst="rect">
            <a:avLst/>
          </a:prstGeom>
          <a:ln>
            <a:headEnd type="none" w="med" len="med"/>
            <a:tailEnd type="none" w="med" len="med"/>
          </a:ln>
        </p:spPr>
        <p:style>
          <a:lnRef idx="2">
            <a:schemeClr val="accent2">
              <a:shade val="50000"/>
            </a:schemeClr>
          </a:lnRef>
          <a:fillRef idx="1">
            <a:schemeClr val="accent2"/>
          </a:fillRef>
          <a:effectRef idx="0">
            <a:schemeClr val="accent2"/>
          </a:effectRef>
          <a:fontRef idx="minor">
            <a:schemeClr val="lt1"/>
          </a:fontRef>
        </p:style>
        <p:txBody>
          <a:bodyPr lIns="90000" tIns="46800" rIns="90000" bIns="46800" anchor="ctr"/>
          <a:lstStyle/>
          <a:p>
            <a:pPr algn="ctr">
              <a:buFont typeface="Wingdings" pitchFamily="2" charset="2"/>
              <a:buNone/>
              <a:defRPr/>
            </a:pPr>
            <a:r>
              <a:rPr lang="ko-KR" altLang="en-US" sz="1050">
                <a:solidFill>
                  <a:schemeClr val="bg1"/>
                </a:solidFill>
                <a:latin typeface="+mn-ea"/>
              </a:rPr>
              <a:t>권리정보적 활용</a:t>
            </a:r>
            <a:endParaRPr lang="ko-KR" altLang="en-US" sz="1050" dirty="0">
              <a:solidFill>
                <a:schemeClr val="bg1"/>
              </a:solidFill>
              <a:latin typeface="+mn-ea"/>
            </a:endParaRPr>
          </a:p>
        </p:txBody>
      </p:sp>
      <p:sp>
        <p:nvSpPr>
          <p:cNvPr id="21" name="직사각형 20"/>
          <p:cNvSpPr/>
          <p:nvPr/>
        </p:nvSpPr>
        <p:spPr bwMode="auto">
          <a:xfrm>
            <a:off x="1688950" y="6044952"/>
            <a:ext cx="1295400" cy="292100"/>
          </a:xfrm>
          <a:prstGeom prst="rect">
            <a:avLst/>
          </a:prstGeom>
          <a:ln>
            <a:headEnd type="none" w="med" len="med"/>
            <a:tailEnd type="none" w="med" len="med"/>
          </a:ln>
        </p:spPr>
        <p:style>
          <a:lnRef idx="2">
            <a:schemeClr val="accent2">
              <a:shade val="50000"/>
            </a:schemeClr>
          </a:lnRef>
          <a:fillRef idx="1">
            <a:schemeClr val="accent2"/>
          </a:fillRef>
          <a:effectRef idx="0">
            <a:schemeClr val="accent2"/>
          </a:effectRef>
          <a:fontRef idx="minor">
            <a:schemeClr val="lt1"/>
          </a:fontRef>
        </p:style>
        <p:txBody>
          <a:bodyPr lIns="90000" tIns="46800" rIns="90000" bIns="46800" anchor="ctr"/>
          <a:lstStyle/>
          <a:p>
            <a:pPr algn="ctr">
              <a:buFont typeface="Wingdings" pitchFamily="2" charset="2"/>
              <a:buNone/>
              <a:defRPr/>
            </a:pPr>
            <a:r>
              <a:rPr lang="ko-KR" altLang="en-US" sz="1050" dirty="0">
                <a:solidFill>
                  <a:schemeClr val="bg1"/>
                </a:solidFill>
                <a:latin typeface="+mn-ea"/>
              </a:rPr>
              <a:t>기술정보적 활용</a:t>
            </a:r>
          </a:p>
        </p:txBody>
      </p:sp>
      <p:sp>
        <p:nvSpPr>
          <p:cNvPr id="22" name="직사각형 21"/>
          <p:cNvSpPr/>
          <p:nvPr/>
        </p:nvSpPr>
        <p:spPr bwMode="auto">
          <a:xfrm>
            <a:off x="1688950" y="4465389"/>
            <a:ext cx="1295400" cy="292100"/>
          </a:xfrm>
          <a:prstGeom prst="rect">
            <a:avLst/>
          </a:prstGeom>
          <a:ln>
            <a:headEnd type="none" w="med" len="med"/>
            <a:tailEnd type="none" w="med" len="med"/>
          </a:ln>
        </p:spPr>
        <p:style>
          <a:lnRef idx="2">
            <a:schemeClr val="accent2">
              <a:shade val="50000"/>
            </a:schemeClr>
          </a:lnRef>
          <a:fillRef idx="1">
            <a:schemeClr val="accent2"/>
          </a:fillRef>
          <a:effectRef idx="0">
            <a:schemeClr val="accent2"/>
          </a:effectRef>
          <a:fontRef idx="minor">
            <a:schemeClr val="lt1"/>
          </a:fontRef>
        </p:style>
        <p:txBody>
          <a:bodyPr lIns="90000" tIns="46800" rIns="90000" bIns="46800" anchor="ctr"/>
          <a:lstStyle/>
          <a:p>
            <a:pPr algn="ctr">
              <a:buFont typeface="Wingdings" pitchFamily="2" charset="2"/>
              <a:buNone/>
              <a:defRPr/>
            </a:pPr>
            <a:r>
              <a:rPr lang="ko-KR" altLang="en-US" sz="1050" dirty="0">
                <a:solidFill>
                  <a:schemeClr val="bg1"/>
                </a:solidFill>
                <a:latin typeface="+mn-ea"/>
              </a:rPr>
              <a:t>경영정보적 활용</a:t>
            </a:r>
          </a:p>
        </p:txBody>
      </p:sp>
      <p:pic>
        <p:nvPicPr>
          <p:cNvPr id="23" name="Picture 9" descr="http://dornbrook.com/Blogs/Mendon/Samurai%20Risk%20Level1.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531153" y="4067181"/>
            <a:ext cx="5225694" cy="2466161"/>
          </a:xfrm>
          <a:prstGeom prst="rect">
            <a:avLst/>
          </a:prstGeom>
          <a:noFill/>
          <a:extLst>
            <a:ext uri="{909E8E84-426E-40DD-AFC4-6F175D3DCCD1}">
              <a14:hiddenFill xmlns:a14="http://schemas.microsoft.com/office/drawing/2010/main">
                <a:solidFill>
                  <a:srgbClr val="FFFFFF"/>
                </a:solidFill>
              </a14:hiddenFill>
            </a:ext>
          </a:extLst>
        </p:spPr>
      </p:pic>
      <p:sp>
        <p:nvSpPr>
          <p:cNvPr id="24" name="육각형 23"/>
          <p:cNvSpPr/>
          <p:nvPr/>
        </p:nvSpPr>
        <p:spPr bwMode="auto">
          <a:xfrm rot="2696538">
            <a:off x="6700383" y="4203000"/>
            <a:ext cx="203138" cy="158283"/>
          </a:xfrm>
          <a:prstGeom prst="hexagon">
            <a:avLst/>
          </a:prstGeom>
          <a:solidFill>
            <a:srgbClr val="FF0000"/>
          </a:solidFill>
          <a:ln>
            <a:headEnd type="none" w="med" len="med"/>
            <a:tailEnd type="none"/>
          </a:ln>
        </p:spPr>
        <p:style>
          <a:lnRef idx="0">
            <a:schemeClr val="accent2"/>
          </a:lnRef>
          <a:fillRef idx="3">
            <a:schemeClr val="accent2"/>
          </a:fillRef>
          <a:effectRef idx="3">
            <a:schemeClr val="accent2"/>
          </a:effectRef>
          <a:fontRef idx="minor">
            <a:schemeClr val="lt1"/>
          </a:fontRef>
        </p:style>
        <p:txBody>
          <a:bodyPr rtlCol="0" anchor="ctr"/>
          <a:lstStyle/>
          <a:p>
            <a:pPr algn="ctr"/>
            <a:endParaRPr lang="ko-KR" altLang="en-US">
              <a:latin typeface="+mn-ea"/>
            </a:endParaRPr>
          </a:p>
        </p:txBody>
      </p:sp>
      <p:sp>
        <p:nvSpPr>
          <p:cNvPr id="25" name="육각형 24"/>
          <p:cNvSpPr/>
          <p:nvPr/>
        </p:nvSpPr>
        <p:spPr bwMode="auto">
          <a:xfrm rot="2696538">
            <a:off x="6700382" y="4647886"/>
            <a:ext cx="203138" cy="158283"/>
          </a:xfrm>
          <a:prstGeom prst="hexagon">
            <a:avLst/>
          </a:prstGeom>
          <a:solidFill>
            <a:srgbClr val="0000FF"/>
          </a:solidFill>
          <a:ln>
            <a:headEnd type="none" w="med" len="med"/>
            <a:tailEnd type="none"/>
          </a:ln>
        </p:spPr>
        <p:style>
          <a:lnRef idx="0">
            <a:schemeClr val="accent1"/>
          </a:lnRef>
          <a:fillRef idx="3">
            <a:schemeClr val="accent1"/>
          </a:fillRef>
          <a:effectRef idx="3">
            <a:schemeClr val="accent1"/>
          </a:effectRef>
          <a:fontRef idx="minor">
            <a:schemeClr val="lt1"/>
          </a:fontRef>
        </p:style>
        <p:txBody>
          <a:bodyPr rtlCol="0" anchor="ctr"/>
          <a:lstStyle/>
          <a:p>
            <a:pPr algn="ctr"/>
            <a:endParaRPr lang="ko-KR" altLang="en-US">
              <a:latin typeface="+mn-ea"/>
            </a:endParaRPr>
          </a:p>
        </p:txBody>
      </p:sp>
      <p:sp>
        <p:nvSpPr>
          <p:cNvPr id="26" name="육각형 25"/>
          <p:cNvSpPr/>
          <p:nvPr/>
        </p:nvSpPr>
        <p:spPr bwMode="auto">
          <a:xfrm rot="2696538">
            <a:off x="6700383" y="4426265"/>
            <a:ext cx="203138" cy="158283"/>
          </a:xfrm>
          <a:prstGeom prst="hexagon">
            <a:avLst/>
          </a:prstGeom>
          <a:solidFill>
            <a:srgbClr val="FFFF00"/>
          </a:solidFill>
          <a:ln>
            <a:headEnd type="none" w="med" len="med"/>
            <a:tailEnd type="none"/>
          </a:ln>
        </p:spPr>
        <p:style>
          <a:lnRef idx="0">
            <a:schemeClr val="accent1"/>
          </a:lnRef>
          <a:fillRef idx="3">
            <a:schemeClr val="accent1"/>
          </a:fillRef>
          <a:effectRef idx="3">
            <a:schemeClr val="accent1"/>
          </a:effectRef>
          <a:fontRef idx="minor">
            <a:schemeClr val="lt1"/>
          </a:fontRef>
        </p:style>
        <p:txBody>
          <a:bodyPr rtlCol="0" anchor="ctr"/>
          <a:lstStyle/>
          <a:p>
            <a:pPr algn="ctr"/>
            <a:endParaRPr lang="ko-KR" altLang="en-US">
              <a:latin typeface="+mn-ea"/>
            </a:endParaRPr>
          </a:p>
        </p:txBody>
      </p:sp>
      <p:sp>
        <p:nvSpPr>
          <p:cNvPr id="27" name="육각형 26"/>
          <p:cNvSpPr/>
          <p:nvPr/>
        </p:nvSpPr>
        <p:spPr bwMode="auto">
          <a:xfrm rot="2696538">
            <a:off x="6700384" y="4869507"/>
            <a:ext cx="203138" cy="158283"/>
          </a:xfrm>
          <a:prstGeom prst="hexagon">
            <a:avLst/>
          </a:prstGeom>
          <a:solidFill>
            <a:schemeClr val="bg1"/>
          </a:solidFill>
          <a:ln>
            <a:headEnd type="none" w="med" len="med"/>
            <a:tailEnd type="none"/>
          </a:ln>
        </p:spPr>
        <p:style>
          <a:lnRef idx="0">
            <a:schemeClr val="accent1"/>
          </a:lnRef>
          <a:fillRef idx="3">
            <a:schemeClr val="accent1"/>
          </a:fillRef>
          <a:effectRef idx="3">
            <a:schemeClr val="accent1"/>
          </a:effectRef>
          <a:fontRef idx="minor">
            <a:schemeClr val="lt1"/>
          </a:fontRef>
        </p:style>
        <p:txBody>
          <a:bodyPr rtlCol="0" anchor="ctr"/>
          <a:lstStyle/>
          <a:p>
            <a:pPr algn="ctr"/>
            <a:endParaRPr lang="ko-KR" altLang="en-US">
              <a:latin typeface="+mn-ea"/>
            </a:endParaRPr>
          </a:p>
        </p:txBody>
      </p:sp>
      <p:sp>
        <p:nvSpPr>
          <p:cNvPr id="28" name="TextBox 27"/>
          <p:cNvSpPr txBox="1"/>
          <p:nvPr/>
        </p:nvSpPr>
        <p:spPr>
          <a:xfrm>
            <a:off x="6942736" y="4136700"/>
            <a:ext cx="1469972" cy="276999"/>
          </a:xfrm>
          <a:prstGeom prst="rect">
            <a:avLst/>
          </a:prstGeom>
          <a:noFill/>
        </p:spPr>
        <p:txBody>
          <a:bodyPr wrap="square" rtlCol="0">
            <a:spAutoFit/>
          </a:bodyPr>
          <a:lstStyle/>
          <a:p>
            <a:r>
              <a:rPr lang="en-US" altLang="ko-KR" sz="1200" dirty="0">
                <a:latin typeface="+mn-ea"/>
              </a:rPr>
              <a:t>High Risk region</a:t>
            </a:r>
            <a:endParaRPr lang="ko-KR" altLang="en-US" sz="1200" dirty="0">
              <a:latin typeface="+mn-ea"/>
            </a:endParaRPr>
          </a:p>
        </p:txBody>
      </p:sp>
      <p:sp>
        <p:nvSpPr>
          <p:cNvPr id="29" name="TextBox 28"/>
          <p:cNvSpPr txBox="1"/>
          <p:nvPr/>
        </p:nvSpPr>
        <p:spPr>
          <a:xfrm>
            <a:off x="6942736" y="4360927"/>
            <a:ext cx="1469972" cy="276999"/>
          </a:xfrm>
          <a:prstGeom prst="rect">
            <a:avLst/>
          </a:prstGeom>
          <a:noFill/>
        </p:spPr>
        <p:txBody>
          <a:bodyPr wrap="square" rtlCol="0">
            <a:spAutoFit/>
          </a:bodyPr>
          <a:lstStyle/>
          <a:p>
            <a:r>
              <a:rPr lang="en-US" altLang="ko-KR" sz="1200" dirty="0">
                <a:latin typeface="+mn-ea"/>
              </a:rPr>
              <a:t>Low Risk region</a:t>
            </a:r>
            <a:endParaRPr lang="ko-KR" altLang="en-US" sz="1200" dirty="0">
              <a:latin typeface="+mn-ea"/>
            </a:endParaRPr>
          </a:p>
        </p:txBody>
      </p:sp>
      <p:sp>
        <p:nvSpPr>
          <p:cNvPr id="30" name="TextBox 29"/>
          <p:cNvSpPr txBox="1"/>
          <p:nvPr/>
        </p:nvSpPr>
        <p:spPr>
          <a:xfrm>
            <a:off x="6942736" y="4582548"/>
            <a:ext cx="1469972" cy="276999"/>
          </a:xfrm>
          <a:prstGeom prst="rect">
            <a:avLst/>
          </a:prstGeom>
          <a:noFill/>
        </p:spPr>
        <p:txBody>
          <a:bodyPr wrap="square" rtlCol="0">
            <a:spAutoFit/>
          </a:bodyPr>
          <a:lstStyle/>
          <a:p>
            <a:r>
              <a:rPr lang="en-US" altLang="ko-KR" sz="1200" dirty="0">
                <a:latin typeface="+mn-ea"/>
              </a:rPr>
              <a:t>Public Domain</a:t>
            </a:r>
            <a:endParaRPr lang="ko-KR" altLang="en-US" sz="1200" dirty="0">
              <a:latin typeface="+mn-ea"/>
            </a:endParaRPr>
          </a:p>
        </p:txBody>
      </p:sp>
      <p:sp>
        <p:nvSpPr>
          <p:cNvPr id="31" name="TextBox 30"/>
          <p:cNvSpPr txBox="1"/>
          <p:nvPr/>
        </p:nvSpPr>
        <p:spPr>
          <a:xfrm>
            <a:off x="6942736" y="4804169"/>
            <a:ext cx="1469972" cy="276999"/>
          </a:xfrm>
          <a:prstGeom prst="rect">
            <a:avLst/>
          </a:prstGeom>
          <a:noFill/>
        </p:spPr>
        <p:txBody>
          <a:bodyPr wrap="square" rtlCol="0">
            <a:spAutoFit/>
          </a:bodyPr>
          <a:lstStyle/>
          <a:p>
            <a:r>
              <a:rPr lang="en-US" altLang="ko-KR" sz="1200" dirty="0">
                <a:latin typeface="+mn-ea"/>
              </a:rPr>
              <a:t>Empty</a:t>
            </a:r>
            <a:endParaRPr lang="ko-KR" altLang="en-US" sz="1200" dirty="0">
              <a:latin typeface="+mn-ea"/>
            </a:endParaRPr>
          </a:p>
        </p:txBody>
      </p:sp>
      <p:sp>
        <p:nvSpPr>
          <p:cNvPr id="32" name="육각형 31"/>
          <p:cNvSpPr/>
          <p:nvPr/>
        </p:nvSpPr>
        <p:spPr bwMode="auto">
          <a:xfrm rot="2696538">
            <a:off x="6700384" y="5093354"/>
            <a:ext cx="203138" cy="158283"/>
          </a:xfrm>
          <a:prstGeom prst="hexagon">
            <a:avLst/>
          </a:prstGeom>
          <a:solidFill>
            <a:srgbClr val="99CCFF"/>
          </a:solidFill>
          <a:ln>
            <a:headEnd type="none" w="med" len="med"/>
            <a:tailEnd type="none"/>
          </a:ln>
        </p:spPr>
        <p:style>
          <a:lnRef idx="0">
            <a:schemeClr val="accent5"/>
          </a:lnRef>
          <a:fillRef idx="3">
            <a:schemeClr val="accent5"/>
          </a:fillRef>
          <a:effectRef idx="3">
            <a:schemeClr val="accent5"/>
          </a:effectRef>
          <a:fontRef idx="minor">
            <a:schemeClr val="lt1"/>
          </a:fontRef>
        </p:style>
        <p:txBody>
          <a:bodyPr rtlCol="0" anchor="ctr"/>
          <a:lstStyle/>
          <a:p>
            <a:pPr algn="ctr"/>
            <a:endParaRPr lang="ko-KR" altLang="en-US">
              <a:latin typeface="+mn-ea"/>
            </a:endParaRPr>
          </a:p>
        </p:txBody>
      </p:sp>
      <p:sp>
        <p:nvSpPr>
          <p:cNvPr id="33" name="TextBox 32"/>
          <p:cNvSpPr txBox="1"/>
          <p:nvPr/>
        </p:nvSpPr>
        <p:spPr>
          <a:xfrm>
            <a:off x="6942736" y="5028015"/>
            <a:ext cx="1469972" cy="276999"/>
          </a:xfrm>
          <a:prstGeom prst="rect">
            <a:avLst/>
          </a:prstGeom>
          <a:noFill/>
        </p:spPr>
        <p:txBody>
          <a:bodyPr wrap="square" rtlCol="0">
            <a:spAutoFit/>
          </a:bodyPr>
          <a:lstStyle/>
          <a:p>
            <a:r>
              <a:rPr lang="en-US" altLang="ko-KR" sz="1200" dirty="0">
                <a:latin typeface="+mn-ea"/>
              </a:rPr>
              <a:t>Not related</a:t>
            </a:r>
            <a:endParaRPr lang="ko-KR" altLang="en-US" sz="1200" dirty="0">
              <a:latin typeface="+mn-ea"/>
            </a:endParaRPr>
          </a:p>
        </p:txBody>
      </p:sp>
      <p:sp>
        <p:nvSpPr>
          <p:cNvPr id="4" name="슬라이드 번호 개체 틀 3"/>
          <p:cNvSpPr>
            <a:spLocks noGrp="1"/>
          </p:cNvSpPr>
          <p:nvPr>
            <p:ph type="sldNum" sz="quarter" idx="12"/>
          </p:nvPr>
        </p:nvSpPr>
        <p:spPr/>
        <p:txBody>
          <a:bodyPr/>
          <a:lstStyle/>
          <a:p>
            <a:r>
              <a:rPr lang="en-US" altLang="ko-KR"/>
              <a:t>280</a:t>
            </a:r>
            <a:endParaRPr lang="ko-KR" altLang="en-US" dirty="0"/>
          </a:p>
        </p:txBody>
      </p:sp>
    </p:spTree>
    <p:extLst>
      <p:ext uri="{BB962C8B-B14F-4D97-AF65-F5344CB8AC3E}">
        <p14:creationId xmlns:p14="http://schemas.microsoft.com/office/powerpoint/2010/main" val="531133174"/>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심사</a:t>
            </a:r>
            <a:r>
              <a:rPr lang="en-US" altLang="ko-KR" dirty="0"/>
              <a:t>(</a:t>
            </a:r>
            <a:r>
              <a:rPr lang="ko-KR" altLang="en-US" dirty="0"/>
              <a:t>제도</a:t>
            </a:r>
            <a:r>
              <a:rPr lang="en-US" altLang="ko-KR" dirty="0"/>
              <a:t>)</a:t>
            </a:r>
            <a:r>
              <a:rPr lang="ko-KR" altLang="en-US" dirty="0"/>
              <a:t> 체계</a:t>
            </a:r>
            <a:r>
              <a:rPr lang="en-US" altLang="ko-KR" dirty="0"/>
              <a:t>: </a:t>
            </a:r>
            <a:r>
              <a:rPr lang="ko-KR" altLang="en-US" dirty="0"/>
              <a:t>제</a:t>
            </a:r>
            <a:r>
              <a:rPr lang="en-US" altLang="ko-KR" dirty="0"/>
              <a:t>3</a:t>
            </a:r>
            <a:r>
              <a:rPr lang="ko-KR" altLang="en-US" dirty="0"/>
              <a:t>장</a:t>
            </a:r>
          </a:p>
        </p:txBody>
      </p:sp>
      <p:sp>
        <p:nvSpPr>
          <p:cNvPr id="31" name="직사각형 30"/>
          <p:cNvSpPr/>
          <p:nvPr/>
        </p:nvSpPr>
        <p:spPr>
          <a:xfrm>
            <a:off x="439326" y="3217998"/>
            <a:ext cx="970795" cy="940625"/>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2400" dirty="0"/>
              <a:t>심사</a:t>
            </a:r>
            <a:endParaRPr lang="en-US" altLang="ko-KR" sz="2400" dirty="0"/>
          </a:p>
          <a:p>
            <a:pPr algn="ctr"/>
            <a:r>
              <a:rPr lang="en-US" altLang="ko-KR" sz="2400" dirty="0"/>
              <a:t>(</a:t>
            </a:r>
            <a:r>
              <a:rPr lang="ko-KR" altLang="en-US" sz="2400" dirty="0"/>
              <a:t>제도</a:t>
            </a:r>
            <a:r>
              <a:rPr lang="en-US" altLang="ko-KR" sz="2400" dirty="0"/>
              <a:t>)</a:t>
            </a:r>
            <a:endParaRPr lang="ko-KR" altLang="en-US" sz="2400" dirty="0"/>
          </a:p>
        </p:txBody>
      </p:sp>
      <p:sp>
        <p:nvSpPr>
          <p:cNvPr id="39" name="직사각형 38"/>
          <p:cNvSpPr/>
          <p:nvPr/>
        </p:nvSpPr>
        <p:spPr>
          <a:xfrm>
            <a:off x="2575595" y="1555643"/>
            <a:ext cx="786730" cy="411563"/>
          </a:xfrm>
          <a:prstGeom prst="rect">
            <a:avLst/>
          </a:prstGeom>
          <a:solidFill>
            <a:schemeClr val="accent4">
              <a:lumMod val="40000"/>
              <a:lumOff val="6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400" dirty="0">
                <a:solidFill>
                  <a:schemeClr val="tx1"/>
                </a:solidFill>
              </a:rPr>
              <a:t>주체</a:t>
            </a:r>
          </a:p>
        </p:txBody>
      </p:sp>
      <p:sp>
        <p:nvSpPr>
          <p:cNvPr id="26" name="직사각형 25"/>
          <p:cNvSpPr/>
          <p:nvPr/>
        </p:nvSpPr>
        <p:spPr>
          <a:xfrm>
            <a:off x="2575595" y="2492110"/>
            <a:ext cx="786730" cy="411563"/>
          </a:xfrm>
          <a:prstGeom prst="rect">
            <a:avLst/>
          </a:prstGeom>
          <a:solidFill>
            <a:schemeClr val="accent4">
              <a:lumMod val="40000"/>
              <a:lumOff val="6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400" dirty="0">
                <a:solidFill>
                  <a:schemeClr val="tx1"/>
                </a:solidFill>
              </a:rPr>
              <a:t>청구</a:t>
            </a:r>
          </a:p>
        </p:txBody>
      </p:sp>
      <p:sp>
        <p:nvSpPr>
          <p:cNvPr id="27" name="직사각형 26"/>
          <p:cNvSpPr/>
          <p:nvPr/>
        </p:nvSpPr>
        <p:spPr>
          <a:xfrm>
            <a:off x="2575595" y="3479693"/>
            <a:ext cx="786730" cy="411563"/>
          </a:xfrm>
          <a:prstGeom prst="rect">
            <a:avLst/>
          </a:prstGeom>
          <a:solidFill>
            <a:schemeClr val="accent4">
              <a:lumMod val="40000"/>
              <a:lumOff val="6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400" dirty="0">
                <a:solidFill>
                  <a:schemeClr val="tx1"/>
                </a:solidFill>
              </a:rPr>
              <a:t>진행</a:t>
            </a:r>
          </a:p>
        </p:txBody>
      </p:sp>
      <p:sp>
        <p:nvSpPr>
          <p:cNvPr id="28" name="직사각형 27"/>
          <p:cNvSpPr/>
          <p:nvPr/>
        </p:nvSpPr>
        <p:spPr>
          <a:xfrm>
            <a:off x="2575595" y="4416160"/>
            <a:ext cx="786730" cy="411563"/>
          </a:xfrm>
          <a:prstGeom prst="rect">
            <a:avLst/>
          </a:prstGeom>
          <a:solidFill>
            <a:schemeClr val="accent4">
              <a:lumMod val="40000"/>
              <a:lumOff val="6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400" dirty="0">
                <a:solidFill>
                  <a:schemeClr val="tx1"/>
                </a:solidFill>
              </a:rPr>
              <a:t>종료</a:t>
            </a:r>
          </a:p>
        </p:txBody>
      </p:sp>
      <p:sp>
        <p:nvSpPr>
          <p:cNvPr id="29" name="직사각형 28"/>
          <p:cNvSpPr/>
          <p:nvPr/>
        </p:nvSpPr>
        <p:spPr>
          <a:xfrm>
            <a:off x="2575595" y="5311510"/>
            <a:ext cx="786730" cy="411563"/>
          </a:xfrm>
          <a:prstGeom prst="rect">
            <a:avLst/>
          </a:prstGeom>
          <a:solidFill>
            <a:schemeClr val="accent4">
              <a:lumMod val="40000"/>
              <a:lumOff val="6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400" dirty="0">
                <a:solidFill>
                  <a:schemeClr val="tx1"/>
                </a:solidFill>
              </a:rPr>
              <a:t>관련</a:t>
            </a:r>
          </a:p>
        </p:txBody>
      </p:sp>
      <p:cxnSp>
        <p:nvCxnSpPr>
          <p:cNvPr id="8" name="꺾인 연결선 7"/>
          <p:cNvCxnSpPr>
            <a:stCxn id="31" idx="3"/>
            <a:endCxn id="39" idx="1"/>
          </p:cNvCxnSpPr>
          <p:nvPr/>
        </p:nvCxnSpPr>
        <p:spPr>
          <a:xfrm flipV="1">
            <a:off x="1410121" y="1761425"/>
            <a:ext cx="1165474" cy="192688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꺾인 연결선 9"/>
          <p:cNvCxnSpPr>
            <a:stCxn id="31" idx="3"/>
            <a:endCxn id="29" idx="1"/>
          </p:cNvCxnSpPr>
          <p:nvPr/>
        </p:nvCxnSpPr>
        <p:spPr>
          <a:xfrm>
            <a:off x="1410121" y="3688311"/>
            <a:ext cx="1165474" cy="182898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꺾인 연결선 11"/>
          <p:cNvCxnSpPr>
            <a:stCxn id="31" idx="3"/>
            <a:endCxn id="26" idx="1"/>
          </p:cNvCxnSpPr>
          <p:nvPr/>
        </p:nvCxnSpPr>
        <p:spPr>
          <a:xfrm flipV="1">
            <a:off x="1410121" y="2697892"/>
            <a:ext cx="1165474" cy="99041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꺾인 연결선 13"/>
          <p:cNvCxnSpPr>
            <a:stCxn id="31" idx="3"/>
            <a:endCxn id="28" idx="1"/>
          </p:cNvCxnSpPr>
          <p:nvPr/>
        </p:nvCxnSpPr>
        <p:spPr>
          <a:xfrm>
            <a:off x="1410121" y="3688311"/>
            <a:ext cx="1165474" cy="93363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꺾인 연결선 15"/>
          <p:cNvCxnSpPr>
            <a:stCxn id="31" idx="3"/>
            <a:endCxn id="27" idx="1"/>
          </p:cNvCxnSpPr>
          <p:nvPr/>
        </p:nvCxnSpPr>
        <p:spPr>
          <a:xfrm flipV="1">
            <a:off x="1410121" y="3685475"/>
            <a:ext cx="1165474" cy="283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직사각형 49"/>
          <p:cNvSpPr/>
          <p:nvPr/>
        </p:nvSpPr>
        <p:spPr>
          <a:xfrm>
            <a:off x="3876675" y="1015786"/>
            <a:ext cx="3438525" cy="4115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심사관</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57, 68)</a:t>
            </a:r>
            <a:endParaRPr lang="ko-KR" altLang="en-US" sz="1200" dirty="0">
              <a:solidFill>
                <a:schemeClr val="tx1"/>
              </a:solidFill>
            </a:endParaRPr>
          </a:p>
        </p:txBody>
      </p:sp>
      <p:sp>
        <p:nvSpPr>
          <p:cNvPr id="51" name="직사각형 50"/>
          <p:cNvSpPr/>
          <p:nvPr/>
        </p:nvSpPr>
        <p:spPr>
          <a:xfrm>
            <a:off x="3876675" y="1540948"/>
            <a:ext cx="3438525" cy="4115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전문기관</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58, 58</a:t>
            </a:r>
            <a:r>
              <a:rPr lang="ko-KR" altLang="en-US" sz="1200" dirty="0">
                <a:solidFill>
                  <a:schemeClr val="tx1"/>
                </a:solidFill>
              </a:rPr>
              <a:t>의</a:t>
            </a:r>
            <a:r>
              <a:rPr lang="en-US" altLang="ko-KR" sz="1200" dirty="0">
                <a:solidFill>
                  <a:schemeClr val="tx1"/>
                </a:solidFill>
              </a:rPr>
              <a:t>2)</a:t>
            </a:r>
            <a:endParaRPr lang="ko-KR" altLang="en-US" sz="1200" dirty="0">
              <a:solidFill>
                <a:schemeClr val="tx1"/>
              </a:solidFill>
            </a:endParaRPr>
          </a:p>
        </p:txBody>
      </p:sp>
      <p:sp>
        <p:nvSpPr>
          <p:cNvPr id="52" name="직사각형 51"/>
          <p:cNvSpPr/>
          <p:nvPr/>
        </p:nvSpPr>
        <p:spPr>
          <a:xfrm>
            <a:off x="3876675" y="4000738"/>
            <a:ext cx="3438525" cy="4115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출원의 무효</a:t>
            </a:r>
            <a:r>
              <a:rPr lang="en-US" altLang="ko-KR" sz="1200" dirty="0">
                <a:solidFill>
                  <a:schemeClr val="tx1"/>
                </a:solidFill>
              </a:rPr>
              <a:t>, </a:t>
            </a:r>
            <a:r>
              <a:rPr lang="ko-KR" altLang="en-US" sz="1200" dirty="0">
                <a:solidFill>
                  <a:schemeClr val="tx1"/>
                </a:solidFill>
              </a:rPr>
              <a:t>취하</a:t>
            </a:r>
            <a:r>
              <a:rPr lang="en-US" altLang="ko-KR" sz="1200" dirty="0">
                <a:solidFill>
                  <a:schemeClr val="tx1"/>
                </a:solidFill>
              </a:rPr>
              <a:t>, </a:t>
            </a:r>
            <a:r>
              <a:rPr lang="ko-KR" altLang="en-US" sz="1200" dirty="0">
                <a:solidFill>
                  <a:schemeClr val="tx1"/>
                </a:solidFill>
              </a:rPr>
              <a:t>포기</a:t>
            </a:r>
            <a:r>
              <a:rPr lang="en-US" altLang="ko-KR" sz="1200" dirty="0">
                <a:solidFill>
                  <a:schemeClr val="tx1"/>
                </a:solidFill>
              </a:rPr>
              <a:t>(</a:t>
            </a:r>
            <a:r>
              <a:rPr lang="ko-KR" altLang="en-US" sz="1200" dirty="0">
                <a:solidFill>
                  <a:schemeClr val="tx1"/>
                </a:solidFill>
              </a:rPr>
              <a:t>제도</a:t>
            </a:r>
            <a:r>
              <a:rPr lang="en-US" altLang="ko-KR" sz="1200" dirty="0">
                <a:solidFill>
                  <a:schemeClr val="tx1"/>
                </a:solidFill>
              </a:rPr>
              <a:t>)</a:t>
            </a:r>
            <a:endParaRPr lang="ko-KR" altLang="en-US" sz="1200" dirty="0">
              <a:solidFill>
                <a:schemeClr val="tx1"/>
              </a:solidFill>
            </a:endParaRPr>
          </a:p>
        </p:txBody>
      </p:sp>
      <p:sp>
        <p:nvSpPr>
          <p:cNvPr id="53" name="직사각형 52"/>
          <p:cNvSpPr/>
          <p:nvPr/>
        </p:nvSpPr>
        <p:spPr>
          <a:xfrm>
            <a:off x="3876675" y="4525900"/>
            <a:ext cx="3438525" cy="4115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특허여부결정</a:t>
            </a:r>
            <a:r>
              <a:rPr lang="en-US" altLang="ko-KR" sz="1200" dirty="0">
                <a:solidFill>
                  <a:schemeClr val="tx1"/>
                </a:solidFill>
              </a:rPr>
              <a:t>(</a:t>
            </a:r>
            <a:r>
              <a:rPr lang="ko-KR" altLang="en-US" sz="1200" dirty="0">
                <a:solidFill>
                  <a:schemeClr val="tx1"/>
                </a:solidFill>
              </a:rPr>
              <a:t>제도</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62, 63, 66~67</a:t>
            </a:r>
            <a:r>
              <a:rPr lang="ko-KR" altLang="en-US" sz="1200" dirty="0">
                <a:solidFill>
                  <a:schemeClr val="tx1"/>
                </a:solidFill>
              </a:rPr>
              <a:t>의</a:t>
            </a:r>
            <a:r>
              <a:rPr lang="en-US" altLang="ko-KR" sz="1200" dirty="0">
                <a:solidFill>
                  <a:schemeClr val="tx1"/>
                </a:solidFill>
              </a:rPr>
              <a:t>3)</a:t>
            </a:r>
            <a:endParaRPr lang="ko-KR" altLang="en-US" sz="1200" dirty="0">
              <a:solidFill>
                <a:schemeClr val="tx1"/>
              </a:solidFill>
            </a:endParaRPr>
          </a:p>
        </p:txBody>
      </p:sp>
      <p:sp>
        <p:nvSpPr>
          <p:cNvPr id="54" name="직사각형 53"/>
          <p:cNvSpPr/>
          <p:nvPr/>
        </p:nvSpPr>
        <p:spPr>
          <a:xfrm>
            <a:off x="3876675" y="2090773"/>
            <a:ext cx="3438525" cy="4115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심사청구제도</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59, 60)</a:t>
            </a:r>
            <a:endParaRPr lang="ko-KR" altLang="en-US" sz="1200" dirty="0">
              <a:solidFill>
                <a:schemeClr val="tx1"/>
              </a:solidFill>
            </a:endParaRPr>
          </a:p>
        </p:txBody>
      </p:sp>
      <p:sp>
        <p:nvSpPr>
          <p:cNvPr id="55" name="직사각형 54"/>
          <p:cNvSpPr/>
          <p:nvPr/>
        </p:nvSpPr>
        <p:spPr>
          <a:xfrm>
            <a:off x="3876675" y="2615935"/>
            <a:ext cx="3438525" cy="4115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우선심사제도</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61)</a:t>
            </a:r>
            <a:endParaRPr lang="ko-KR" altLang="en-US" sz="1200" dirty="0">
              <a:solidFill>
                <a:schemeClr val="tx1"/>
              </a:solidFill>
            </a:endParaRPr>
          </a:p>
        </p:txBody>
      </p:sp>
      <p:sp>
        <p:nvSpPr>
          <p:cNvPr id="56" name="직사각형 55"/>
          <p:cNvSpPr/>
          <p:nvPr/>
        </p:nvSpPr>
        <p:spPr>
          <a:xfrm>
            <a:off x="3876675" y="3292029"/>
            <a:ext cx="3438525" cy="4115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심사의 진행</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62, 63, 63</a:t>
            </a:r>
            <a:r>
              <a:rPr lang="ko-KR" altLang="en-US" sz="1200" dirty="0">
                <a:solidFill>
                  <a:schemeClr val="tx1"/>
                </a:solidFill>
              </a:rPr>
              <a:t>의</a:t>
            </a:r>
            <a:r>
              <a:rPr lang="en-US" altLang="ko-KR" sz="1200" dirty="0">
                <a:solidFill>
                  <a:schemeClr val="tx1"/>
                </a:solidFill>
              </a:rPr>
              <a:t>3)</a:t>
            </a:r>
            <a:endParaRPr lang="ko-KR" altLang="en-US" sz="1200" dirty="0">
              <a:solidFill>
                <a:schemeClr val="tx1"/>
              </a:solidFill>
            </a:endParaRPr>
          </a:p>
        </p:txBody>
      </p:sp>
      <p:sp>
        <p:nvSpPr>
          <p:cNvPr id="57" name="직사각형 56"/>
          <p:cNvSpPr/>
          <p:nvPr/>
        </p:nvSpPr>
        <p:spPr>
          <a:xfrm>
            <a:off x="3876675" y="5121010"/>
            <a:ext cx="3438525" cy="4115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정보제공제도</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63</a:t>
            </a:r>
            <a:r>
              <a:rPr lang="ko-KR" altLang="en-US" sz="1200" dirty="0">
                <a:solidFill>
                  <a:schemeClr val="tx1"/>
                </a:solidFill>
              </a:rPr>
              <a:t>의</a:t>
            </a:r>
            <a:r>
              <a:rPr lang="en-US" altLang="ko-KR" sz="1200" dirty="0">
                <a:solidFill>
                  <a:schemeClr val="tx1"/>
                </a:solidFill>
              </a:rPr>
              <a:t>2)</a:t>
            </a:r>
            <a:endParaRPr lang="ko-KR" altLang="en-US" sz="1200" dirty="0">
              <a:solidFill>
                <a:schemeClr val="tx1"/>
              </a:solidFill>
            </a:endParaRPr>
          </a:p>
        </p:txBody>
      </p:sp>
      <p:sp>
        <p:nvSpPr>
          <p:cNvPr id="58" name="직사각형 57"/>
          <p:cNvSpPr/>
          <p:nvPr/>
        </p:nvSpPr>
        <p:spPr>
          <a:xfrm>
            <a:off x="3876675" y="5646172"/>
            <a:ext cx="3438525" cy="4115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출원공개제도</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64, 65)</a:t>
            </a:r>
            <a:endParaRPr lang="ko-KR" altLang="en-US" sz="1200" dirty="0">
              <a:solidFill>
                <a:schemeClr val="tx1"/>
              </a:solidFill>
            </a:endParaRPr>
          </a:p>
        </p:txBody>
      </p:sp>
      <p:sp>
        <p:nvSpPr>
          <p:cNvPr id="59" name="직사각형 58"/>
          <p:cNvSpPr/>
          <p:nvPr/>
        </p:nvSpPr>
        <p:spPr>
          <a:xfrm>
            <a:off x="3876675" y="6181395"/>
            <a:ext cx="3438525" cy="4115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err="1">
                <a:solidFill>
                  <a:schemeClr val="tx1"/>
                </a:solidFill>
              </a:rPr>
              <a:t>타절차와의</a:t>
            </a:r>
            <a:r>
              <a:rPr lang="ko-KR" altLang="en-US" sz="1200" dirty="0">
                <a:solidFill>
                  <a:schemeClr val="tx1"/>
                </a:solidFill>
              </a:rPr>
              <a:t> 관계</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78)</a:t>
            </a:r>
            <a:endParaRPr lang="ko-KR" altLang="en-US" sz="1200" dirty="0">
              <a:solidFill>
                <a:schemeClr val="tx1"/>
              </a:solidFill>
            </a:endParaRPr>
          </a:p>
        </p:txBody>
      </p:sp>
      <p:sp>
        <p:nvSpPr>
          <p:cNvPr id="60" name="직사각형 59"/>
          <p:cNvSpPr/>
          <p:nvPr/>
        </p:nvSpPr>
        <p:spPr>
          <a:xfrm>
            <a:off x="7823871" y="2713514"/>
            <a:ext cx="910554" cy="534436"/>
          </a:xfrm>
          <a:prstGeom prst="rect">
            <a:avLst/>
          </a:prstGeom>
          <a:solidFill>
            <a:schemeClr val="bg1">
              <a:lumMod val="95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종류</a:t>
            </a:r>
          </a:p>
        </p:txBody>
      </p:sp>
      <p:sp>
        <p:nvSpPr>
          <p:cNvPr id="61" name="직사각형 60"/>
          <p:cNvSpPr/>
          <p:nvPr/>
        </p:nvSpPr>
        <p:spPr>
          <a:xfrm>
            <a:off x="7823871" y="3395966"/>
            <a:ext cx="910554" cy="534436"/>
          </a:xfrm>
          <a:prstGeom prst="rect">
            <a:avLst/>
          </a:prstGeom>
          <a:solidFill>
            <a:schemeClr val="bg1">
              <a:lumMod val="95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방식</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67)</a:t>
            </a:r>
            <a:endParaRPr lang="ko-KR" altLang="en-US" sz="1200" dirty="0">
              <a:solidFill>
                <a:schemeClr val="tx1"/>
              </a:solidFill>
            </a:endParaRPr>
          </a:p>
        </p:txBody>
      </p:sp>
      <p:sp>
        <p:nvSpPr>
          <p:cNvPr id="62" name="직사각형 61"/>
          <p:cNvSpPr/>
          <p:nvPr/>
        </p:nvSpPr>
        <p:spPr>
          <a:xfrm>
            <a:off x="7823871" y="4078577"/>
            <a:ext cx="910554" cy="534436"/>
          </a:xfrm>
          <a:prstGeom prst="rect">
            <a:avLst/>
          </a:prstGeom>
          <a:solidFill>
            <a:schemeClr val="bg1">
              <a:lumMod val="95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효과</a:t>
            </a:r>
          </a:p>
        </p:txBody>
      </p:sp>
      <p:sp>
        <p:nvSpPr>
          <p:cNvPr id="63" name="직사각형 62"/>
          <p:cNvSpPr/>
          <p:nvPr/>
        </p:nvSpPr>
        <p:spPr>
          <a:xfrm>
            <a:off x="9043071" y="2494702"/>
            <a:ext cx="1430965" cy="411563"/>
          </a:xfrm>
          <a:prstGeom prst="rect">
            <a:avLst/>
          </a:prstGeom>
          <a:solidFill>
            <a:schemeClr val="bg1">
              <a:lumMod val="95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거절결정</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62, 63)</a:t>
            </a:r>
            <a:endParaRPr lang="ko-KR" altLang="en-US" sz="1200" dirty="0">
              <a:solidFill>
                <a:schemeClr val="tx1"/>
              </a:solidFill>
            </a:endParaRPr>
          </a:p>
        </p:txBody>
      </p:sp>
      <p:sp>
        <p:nvSpPr>
          <p:cNvPr id="64" name="직사각형 63"/>
          <p:cNvSpPr/>
          <p:nvPr/>
        </p:nvSpPr>
        <p:spPr>
          <a:xfrm>
            <a:off x="9043071" y="2956638"/>
            <a:ext cx="1430965" cy="411563"/>
          </a:xfrm>
          <a:prstGeom prst="rect">
            <a:avLst/>
          </a:prstGeom>
          <a:solidFill>
            <a:schemeClr val="bg1">
              <a:lumMod val="95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특허결정</a:t>
            </a: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66)</a:t>
            </a:r>
            <a:endParaRPr lang="ko-KR" altLang="en-US" sz="1200" dirty="0">
              <a:solidFill>
                <a:schemeClr val="tx1"/>
              </a:solidFill>
            </a:endParaRPr>
          </a:p>
        </p:txBody>
      </p:sp>
      <p:sp>
        <p:nvSpPr>
          <p:cNvPr id="65" name="직사각형 64"/>
          <p:cNvSpPr/>
          <p:nvPr/>
        </p:nvSpPr>
        <p:spPr>
          <a:xfrm>
            <a:off x="9043072" y="4353283"/>
            <a:ext cx="888664" cy="411563"/>
          </a:xfrm>
          <a:prstGeom prst="rect">
            <a:avLst/>
          </a:prstGeom>
          <a:solidFill>
            <a:schemeClr val="bg1">
              <a:lumMod val="95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거절결정</a:t>
            </a:r>
          </a:p>
        </p:txBody>
      </p:sp>
      <p:sp>
        <p:nvSpPr>
          <p:cNvPr id="66" name="직사각형 65"/>
          <p:cNvSpPr/>
          <p:nvPr/>
        </p:nvSpPr>
        <p:spPr>
          <a:xfrm>
            <a:off x="9043072" y="3888365"/>
            <a:ext cx="888664" cy="411563"/>
          </a:xfrm>
          <a:prstGeom prst="rect">
            <a:avLst/>
          </a:prstGeom>
          <a:solidFill>
            <a:schemeClr val="bg1">
              <a:lumMod val="95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특허결정</a:t>
            </a:r>
          </a:p>
        </p:txBody>
      </p:sp>
      <p:sp>
        <p:nvSpPr>
          <p:cNvPr id="67" name="직사각형 66"/>
          <p:cNvSpPr/>
          <p:nvPr/>
        </p:nvSpPr>
        <p:spPr>
          <a:xfrm>
            <a:off x="9055436" y="5101308"/>
            <a:ext cx="1510628" cy="411563"/>
          </a:xfrm>
          <a:prstGeom prst="rect">
            <a:avLst/>
          </a:prstGeom>
          <a:solidFill>
            <a:schemeClr val="bg1">
              <a:lumMod val="95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직권보정제도</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66</a:t>
            </a:r>
            <a:r>
              <a:rPr lang="ko-KR" altLang="en-US" sz="1200" dirty="0">
                <a:solidFill>
                  <a:schemeClr val="tx1"/>
                </a:solidFill>
              </a:rPr>
              <a:t>의</a:t>
            </a:r>
            <a:r>
              <a:rPr lang="en-US" altLang="ko-KR" sz="1200" dirty="0">
                <a:solidFill>
                  <a:schemeClr val="tx1"/>
                </a:solidFill>
              </a:rPr>
              <a:t>2)</a:t>
            </a:r>
            <a:endParaRPr lang="ko-KR" altLang="en-US" sz="1200" dirty="0">
              <a:solidFill>
                <a:schemeClr val="tx1"/>
              </a:solidFill>
            </a:endParaRPr>
          </a:p>
        </p:txBody>
      </p:sp>
      <p:sp>
        <p:nvSpPr>
          <p:cNvPr id="68" name="직사각형 67"/>
          <p:cNvSpPr/>
          <p:nvPr/>
        </p:nvSpPr>
        <p:spPr>
          <a:xfrm>
            <a:off x="9055436" y="5572480"/>
            <a:ext cx="1510628" cy="411563"/>
          </a:xfrm>
          <a:prstGeom prst="rect">
            <a:avLst/>
          </a:prstGeom>
          <a:solidFill>
            <a:schemeClr val="bg1">
              <a:lumMod val="95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직권재심사제도</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66</a:t>
            </a:r>
            <a:r>
              <a:rPr lang="ko-KR" altLang="en-US" sz="1200" dirty="0">
                <a:solidFill>
                  <a:schemeClr val="tx1"/>
                </a:solidFill>
              </a:rPr>
              <a:t>의</a:t>
            </a:r>
            <a:r>
              <a:rPr lang="en-US" altLang="ko-KR" sz="1200" dirty="0">
                <a:solidFill>
                  <a:schemeClr val="tx1"/>
                </a:solidFill>
              </a:rPr>
              <a:t>3)</a:t>
            </a:r>
            <a:endParaRPr lang="ko-KR" altLang="en-US" sz="1200" dirty="0">
              <a:solidFill>
                <a:schemeClr val="tx1"/>
              </a:solidFill>
            </a:endParaRPr>
          </a:p>
        </p:txBody>
      </p:sp>
      <p:sp>
        <p:nvSpPr>
          <p:cNvPr id="69" name="직사각형 68"/>
          <p:cNvSpPr/>
          <p:nvPr/>
        </p:nvSpPr>
        <p:spPr>
          <a:xfrm>
            <a:off x="9055436" y="6043932"/>
            <a:ext cx="1510628" cy="411563"/>
          </a:xfrm>
          <a:prstGeom prst="rect">
            <a:avLst/>
          </a:prstGeom>
          <a:solidFill>
            <a:schemeClr val="bg1">
              <a:lumMod val="95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재심사청구제도</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67</a:t>
            </a:r>
            <a:r>
              <a:rPr lang="ko-KR" altLang="en-US" sz="1200" dirty="0">
                <a:solidFill>
                  <a:schemeClr val="tx1"/>
                </a:solidFill>
              </a:rPr>
              <a:t>의</a:t>
            </a:r>
            <a:r>
              <a:rPr lang="en-US" altLang="ko-KR" sz="1200" dirty="0">
                <a:solidFill>
                  <a:schemeClr val="tx1"/>
                </a:solidFill>
              </a:rPr>
              <a:t>2, 67</a:t>
            </a:r>
            <a:r>
              <a:rPr lang="ko-KR" altLang="en-US" sz="1200" dirty="0">
                <a:solidFill>
                  <a:schemeClr val="tx1"/>
                </a:solidFill>
              </a:rPr>
              <a:t>의</a:t>
            </a:r>
            <a:r>
              <a:rPr lang="en-US" altLang="ko-KR" sz="1200" dirty="0">
                <a:solidFill>
                  <a:schemeClr val="tx1"/>
                </a:solidFill>
              </a:rPr>
              <a:t>3)</a:t>
            </a:r>
            <a:endParaRPr lang="ko-KR" altLang="en-US" sz="1200" dirty="0">
              <a:solidFill>
                <a:schemeClr val="tx1"/>
              </a:solidFill>
            </a:endParaRPr>
          </a:p>
        </p:txBody>
      </p:sp>
      <p:sp>
        <p:nvSpPr>
          <p:cNvPr id="70" name="직사각형 69"/>
          <p:cNvSpPr/>
          <p:nvPr/>
        </p:nvSpPr>
        <p:spPr>
          <a:xfrm>
            <a:off x="7823871" y="5215076"/>
            <a:ext cx="910554" cy="534436"/>
          </a:xfrm>
          <a:prstGeom prst="rect">
            <a:avLst/>
          </a:prstGeom>
          <a:solidFill>
            <a:schemeClr val="bg1">
              <a:lumMod val="95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관련제도</a:t>
            </a:r>
          </a:p>
        </p:txBody>
      </p:sp>
      <p:cxnSp>
        <p:nvCxnSpPr>
          <p:cNvPr id="20" name="꺾인 연결선 19"/>
          <p:cNvCxnSpPr>
            <a:stCxn id="39" idx="3"/>
            <a:endCxn id="50" idx="1"/>
          </p:cNvCxnSpPr>
          <p:nvPr/>
        </p:nvCxnSpPr>
        <p:spPr>
          <a:xfrm flipV="1">
            <a:off x="3362325" y="1221568"/>
            <a:ext cx="514350" cy="539857"/>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stCxn id="39" idx="3"/>
            <a:endCxn id="51" idx="1"/>
          </p:cNvCxnSpPr>
          <p:nvPr/>
        </p:nvCxnSpPr>
        <p:spPr>
          <a:xfrm flipV="1">
            <a:off x="3362325" y="1746730"/>
            <a:ext cx="514350" cy="1469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stCxn id="26" idx="3"/>
            <a:endCxn id="54" idx="1"/>
          </p:cNvCxnSpPr>
          <p:nvPr/>
        </p:nvCxnSpPr>
        <p:spPr>
          <a:xfrm flipV="1">
            <a:off x="3362325" y="2296555"/>
            <a:ext cx="514350" cy="40133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stCxn id="26" idx="3"/>
            <a:endCxn id="55" idx="1"/>
          </p:cNvCxnSpPr>
          <p:nvPr/>
        </p:nvCxnSpPr>
        <p:spPr>
          <a:xfrm>
            <a:off x="3362325" y="2697892"/>
            <a:ext cx="514350" cy="1238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꺾인 연결선 73"/>
          <p:cNvCxnSpPr>
            <a:stCxn id="27" idx="3"/>
            <a:endCxn id="56" idx="1"/>
          </p:cNvCxnSpPr>
          <p:nvPr/>
        </p:nvCxnSpPr>
        <p:spPr>
          <a:xfrm flipV="1">
            <a:off x="3362325" y="3497811"/>
            <a:ext cx="514350" cy="18766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꺾인 연결선 75"/>
          <p:cNvCxnSpPr>
            <a:stCxn id="28" idx="3"/>
            <a:endCxn id="52" idx="1"/>
          </p:cNvCxnSpPr>
          <p:nvPr/>
        </p:nvCxnSpPr>
        <p:spPr>
          <a:xfrm flipV="1">
            <a:off x="3362325" y="4206520"/>
            <a:ext cx="514350" cy="41542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꺾인 연결선 77"/>
          <p:cNvCxnSpPr>
            <a:stCxn id="28" idx="3"/>
            <a:endCxn id="53" idx="1"/>
          </p:cNvCxnSpPr>
          <p:nvPr/>
        </p:nvCxnSpPr>
        <p:spPr>
          <a:xfrm>
            <a:off x="3362325" y="4621942"/>
            <a:ext cx="514350" cy="10974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꺾인 연결선 79"/>
          <p:cNvCxnSpPr>
            <a:stCxn id="29" idx="3"/>
            <a:endCxn id="57" idx="1"/>
          </p:cNvCxnSpPr>
          <p:nvPr/>
        </p:nvCxnSpPr>
        <p:spPr>
          <a:xfrm flipV="1">
            <a:off x="3362325" y="5326792"/>
            <a:ext cx="514350" cy="1905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꺾인 연결선 81"/>
          <p:cNvCxnSpPr>
            <a:stCxn id="29" idx="3"/>
            <a:endCxn id="58" idx="1"/>
          </p:cNvCxnSpPr>
          <p:nvPr/>
        </p:nvCxnSpPr>
        <p:spPr>
          <a:xfrm>
            <a:off x="3362325" y="5517292"/>
            <a:ext cx="514350" cy="33466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꺾인 연결선 83"/>
          <p:cNvCxnSpPr>
            <a:stCxn id="29" idx="3"/>
            <a:endCxn id="59" idx="1"/>
          </p:cNvCxnSpPr>
          <p:nvPr/>
        </p:nvCxnSpPr>
        <p:spPr>
          <a:xfrm>
            <a:off x="3362325" y="5517292"/>
            <a:ext cx="514350" cy="86988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53" idx="3"/>
            <a:endCxn id="60" idx="1"/>
          </p:cNvCxnSpPr>
          <p:nvPr/>
        </p:nvCxnSpPr>
        <p:spPr>
          <a:xfrm flipV="1">
            <a:off x="7315200" y="2980732"/>
            <a:ext cx="508671" cy="17509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꺾인 연결선 87"/>
          <p:cNvCxnSpPr>
            <a:stCxn id="53" idx="3"/>
            <a:endCxn id="70" idx="1"/>
          </p:cNvCxnSpPr>
          <p:nvPr/>
        </p:nvCxnSpPr>
        <p:spPr>
          <a:xfrm>
            <a:off x="7315200" y="4731682"/>
            <a:ext cx="508671" cy="75061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꺾인 연결선 89"/>
          <p:cNvCxnSpPr>
            <a:stCxn id="53" idx="3"/>
            <a:endCxn id="61" idx="1"/>
          </p:cNvCxnSpPr>
          <p:nvPr/>
        </p:nvCxnSpPr>
        <p:spPr>
          <a:xfrm flipV="1">
            <a:off x="7315200" y="3663184"/>
            <a:ext cx="508671" cy="106849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꺾인 연결선 91"/>
          <p:cNvCxnSpPr>
            <a:stCxn id="53" idx="3"/>
            <a:endCxn id="62" idx="1"/>
          </p:cNvCxnSpPr>
          <p:nvPr/>
        </p:nvCxnSpPr>
        <p:spPr>
          <a:xfrm flipV="1">
            <a:off x="7315200" y="4345795"/>
            <a:ext cx="508671" cy="38588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꺾인 연결선 93"/>
          <p:cNvCxnSpPr>
            <a:cxnSpLocks/>
            <a:stCxn id="60" idx="3"/>
            <a:endCxn id="63" idx="1"/>
          </p:cNvCxnSpPr>
          <p:nvPr/>
        </p:nvCxnSpPr>
        <p:spPr>
          <a:xfrm flipV="1">
            <a:off x="8734425" y="2700484"/>
            <a:ext cx="308646" cy="28024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꺾인 연결선 95"/>
          <p:cNvCxnSpPr>
            <a:cxnSpLocks/>
            <a:stCxn id="60" idx="3"/>
            <a:endCxn id="64" idx="1"/>
          </p:cNvCxnSpPr>
          <p:nvPr/>
        </p:nvCxnSpPr>
        <p:spPr>
          <a:xfrm>
            <a:off x="8734425" y="2980732"/>
            <a:ext cx="308646" cy="18168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꺾인 연결선 97"/>
          <p:cNvCxnSpPr>
            <a:stCxn id="62" idx="3"/>
            <a:endCxn id="65" idx="1"/>
          </p:cNvCxnSpPr>
          <p:nvPr/>
        </p:nvCxnSpPr>
        <p:spPr>
          <a:xfrm>
            <a:off x="8734425" y="4345795"/>
            <a:ext cx="308647" cy="2132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꺾인 연결선 99"/>
          <p:cNvCxnSpPr>
            <a:stCxn id="62" idx="3"/>
            <a:endCxn id="66" idx="1"/>
          </p:cNvCxnSpPr>
          <p:nvPr/>
        </p:nvCxnSpPr>
        <p:spPr>
          <a:xfrm flipV="1">
            <a:off x="8734425" y="4094147"/>
            <a:ext cx="308647" cy="25164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꺾인 연결선 101"/>
          <p:cNvCxnSpPr>
            <a:cxnSpLocks/>
            <a:stCxn id="70" idx="3"/>
            <a:endCxn id="69" idx="1"/>
          </p:cNvCxnSpPr>
          <p:nvPr/>
        </p:nvCxnSpPr>
        <p:spPr>
          <a:xfrm>
            <a:off x="8734425" y="5482294"/>
            <a:ext cx="321011" cy="76742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꺾인 연결선 103"/>
          <p:cNvCxnSpPr>
            <a:cxnSpLocks/>
            <a:stCxn id="70" idx="3"/>
            <a:endCxn id="68" idx="1"/>
          </p:cNvCxnSpPr>
          <p:nvPr/>
        </p:nvCxnSpPr>
        <p:spPr>
          <a:xfrm>
            <a:off x="8734425" y="5482294"/>
            <a:ext cx="321011" cy="29596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꺾인 연결선 105"/>
          <p:cNvCxnSpPr>
            <a:cxnSpLocks/>
            <a:stCxn id="70" idx="3"/>
            <a:endCxn id="67" idx="1"/>
          </p:cNvCxnSpPr>
          <p:nvPr/>
        </p:nvCxnSpPr>
        <p:spPr>
          <a:xfrm flipV="1">
            <a:off x="8734425" y="5307090"/>
            <a:ext cx="321011" cy="17520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281</a:t>
            </a:r>
            <a:endParaRPr lang="ko-KR" altLang="en-US" dirty="0"/>
          </a:p>
        </p:txBody>
      </p:sp>
    </p:spTree>
    <p:extLst>
      <p:ext uri="{BB962C8B-B14F-4D97-AF65-F5344CB8AC3E}">
        <p14:creationId xmlns:p14="http://schemas.microsoft.com/office/powerpoint/2010/main" val="1694615869"/>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심사</a:t>
            </a:r>
            <a:r>
              <a:rPr lang="en-US" altLang="ko-KR" dirty="0"/>
              <a:t>(</a:t>
            </a:r>
            <a:r>
              <a:rPr lang="ko-KR" altLang="en-US" dirty="0"/>
              <a:t>제도</a:t>
            </a:r>
            <a:r>
              <a:rPr lang="en-US" altLang="ko-KR" dirty="0"/>
              <a:t>)</a:t>
            </a:r>
            <a:r>
              <a:rPr lang="ko-KR" altLang="en-US" dirty="0"/>
              <a:t> 정리</a:t>
            </a:r>
          </a:p>
        </p:txBody>
      </p:sp>
      <p:graphicFrame>
        <p:nvGraphicFramePr>
          <p:cNvPr id="2" name="표 1"/>
          <p:cNvGraphicFramePr>
            <a:graphicFrameLocks noGrp="1"/>
          </p:cNvGraphicFramePr>
          <p:nvPr/>
        </p:nvGraphicFramePr>
        <p:xfrm>
          <a:off x="139700" y="1020295"/>
          <a:ext cx="11963400" cy="5646510"/>
        </p:xfrm>
        <a:graphic>
          <a:graphicData uri="http://schemas.openxmlformats.org/drawingml/2006/table">
            <a:tbl>
              <a:tblPr>
                <a:tableStyleId>{8799B23B-EC83-4686-B30A-512413B5E67A}</a:tableStyleId>
              </a:tblPr>
              <a:tblGrid>
                <a:gridCol w="288908">
                  <a:extLst>
                    <a:ext uri="{9D8B030D-6E8A-4147-A177-3AD203B41FA5}">
                      <a16:colId xmlns:a16="http://schemas.microsoft.com/office/drawing/2014/main" val="20000"/>
                    </a:ext>
                  </a:extLst>
                </a:gridCol>
                <a:gridCol w="256514">
                  <a:extLst>
                    <a:ext uri="{9D8B030D-6E8A-4147-A177-3AD203B41FA5}">
                      <a16:colId xmlns:a16="http://schemas.microsoft.com/office/drawing/2014/main" val="20001"/>
                    </a:ext>
                  </a:extLst>
                </a:gridCol>
                <a:gridCol w="331560">
                  <a:extLst>
                    <a:ext uri="{9D8B030D-6E8A-4147-A177-3AD203B41FA5}">
                      <a16:colId xmlns:a16="http://schemas.microsoft.com/office/drawing/2014/main" val="20002"/>
                    </a:ext>
                  </a:extLst>
                </a:gridCol>
                <a:gridCol w="2614659">
                  <a:extLst>
                    <a:ext uri="{9D8B030D-6E8A-4147-A177-3AD203B41FA5}">
                      <a16:colId xmlns:a16="http://schemas.microsoft.com/office/drawing/2014/main" val="20003"/>
                    </a:ext>
                  </a:extLst>
                </a:gridCol>
                <a:gridCol w="2551955">
                  <a:extLst>
                    <a:ext uri="{9D8B030D-6E8A-4147-A177-3AD203B41FA5}">
                      <a16:colId xmlns:a16="http://schemas.microsoft.com/office/drawing/2014/main" val="20004"/>
                    </a:ext>
                  </a:extLst>
                </a:gridCol>
                <a:gridCol w="2781217">
                  <a:extLst>
                    <a:ext uri="{9D8B030D-6E8A-4147-A177-3AD203B41FA5}">
                      <a16:colId xmlns:a16="http://schemas.microsoft.com/office/drawing/2014/main" val="20005"/>
                    </a:ext>
                  </a:extLst>
                </a:gridCol>
                <a:gridCol w="3138587">
                  <a:extLst>
                    <a:ext uri="{9D8B030D-6E8A-4147-A177-3AD203B41FA5}">
                      <a16:colId xmlns:a16="http://schemas.microsoft.com/office/drawing/2014/main" val="20006"/>
                    </a:ext>
                  </a:extLst>
                </a:gridCol>
              </a:tblGrid>
              <a:tr h="113931">
                <a:tc gridSpan="3">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　제도</a:t>
                      </a:r>
                    </a:p>
                  </a:txBody>
                  <a:tcPr marL="48271" marR="48271" marT="24135" marB="24135" anchor="ctr">
                    <a:solidFill>
                      <a:schemeClr val="accent1">
                        <a:lumMod val="20000"/>
                        <a:lumOff val="80000"/>
                      </a:schemeClr>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심사청구제도</a:t>
                      </a:r>
                    </a:p>
                  </a:txBody>
                  <a:tcPr marL="48271" marR="48271" marT="24135" marB="24135"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우선심사제도</a:t>
                      </a:r>
                    </a:p>
                  </a:txBody>
                  <a:tcPr marL="48271" marR="48271" marT="24135" marB="24135"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특허여부결정제도</a:t>
                      </a:r>
                    </a:p>
                  </a:txBody>
                  <a:tcPr marL="48271" marR="48271" marT="24135" marB="24135"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재심사청구제도</a:t>
                      </a:r>
                    </a:p>
                  </a:txBody>
                  <a:tcPr marL="48271" marR="48271" marT="24135" marB="24135" anchor="ctr">
                    <a:solidFill>
                      <a:schemeClr val="accent1">
                        <a:lumMod val="20000"/>
                        <a:lumOff val="80000"/>
                      </a:schemeClr>
                    </a:solidFill>
                  </a:tcPr>
                </a:tc>
                <a:extLst>
                  <a:ext uri="{0D108BD9-81ED-4DB2-BD59-A6C34878D82A}">
                    <a16:rowId xmlns:a16="http://schemas.microsoft.com/office/drawing/2014/main" val="10000"/>
                  </a:ext>
                </a:extLst>
              </a:tr>
              <a:tr h="370261">
                <a:tc rowSpan="5">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요</a:t>
                      </a:r>
                    </a:p>
                    <a:p>
                      <a:pPr marL="0" marR="0" indent="0" algn="ctr" fontAlgn="base" latinLnBrk="0">
                        <a:lnSpc>
                          <a:spcPct val="100000"/>
                        </a:lnSpc>
                        <a:spcBef>
                          <a:spcPts val="0"/>
                        </a:spcBef>
                        <a:spcAft>
                          <a:spcPts val="0"/>
                        </a:spcAft>
                      </a:pPr>
                      <a:r>
                        <a:rPr lang="ko-KR" altLang="en-US" sz="950" b="1" kern="0" spc="0" dirty="0">
                          <a:solidFill>
                            <a:schemeClr val="tx1"/>
                          </a:solidFill>
                          <a:effectLst/>
                        </a:rPr>
                        <a:t>건</a:t>
                      </a:r>
                    </a:p>
                  </a:txBody>
                  <a:tcPr marL="48271" marR="48271" marT="24135" marB="24135" anchor="ctr"/>
                </a:tc>
                <a:tc gridSpan="2">
                  <a:txBody>
                    <a:bodyPr/>
                    <a:lstStyle/>
                    <a:p>
                      <a:pPr marL="0" marR="0" indent="0" algn="ctr" fontAlgn="base" latinLnBrk="0">
                        <a:lnSpc>
                          <a:spcPct val="100000"/>
                        </a:lnSpc>
                        <a:spcBef>
                          <a:spcPts val="0"/>
                        </a:spcBef>
                        <a:spcAft>
                          <a:spcPts val="0"/>
                        </a:spcAft>
                      </a:pPr>
                      <a:r>
                        <a:rPr lang="ko-KR" altLang="en-US" sz="950" b="1" kern="0" spc="0">
                          <a:solidFill>
                            <a:schemeClr val="tx1"/>
                          </a:solidFill>
                          <a:effectLst/>
                        </a:rPr>
                        <a:t>주체적</a:t>
                      </a:r>
                    </a:p>
                  </a:txBody>
                  <a:tcPr marL="48271" marR="48271" marT="24135" marB="24135" anchor="ctr"/>
                </a:tc>
                <a:tc hMerge="1">
                  <a:txBody>
                    <a:bodyPr/>
                    <a:lstStyle/>
                    <a:p>
                      <a:pPr latinLnBrk="1"/>
                      <a:endParaRPr lang="ko-KR" altLang="en-US"/>
                    </a:p>
                  </a:txBody>
                  <a:tcPr/>
                </a:tc>
                <a:tc>
                  <a:txBody>
                    <a:bodyPr/>
                    <a:lstStyle/>
                    <a:p>
                      <a:pPr marL="68580" marR="0" indent="-68580" algn="just" fontAlgn="base" latinLnBrk="1">
                        <a:lnSpc>
                          <a:spcPct val="100000"/>
                        </a:lnSpc>
                        <a:spcBef>
                          <a:spcPts val="0"/>
                        </a:spcBef>
                        <a:spcAft>
                          <a:spcPts val="0"/>
                        </a:spcAft>
                      </a:pPr>
                      <a:r>
                        <a:rPr lang="en-US" altLang="ko-KR" sz="950" kern="0" spc="0">
                          <a:solidFill>
                            <a:schemeClr val="tx1"/>
                          </a:solidFill>
                          <a:effectLst/>
                        </a:rPr>
                        <a:t>1.</a:t>
                      </a:r>
                      <a:r>
                        <a:rPr lang="ko-KR" altLang="en-US" sz="950" kern="0" spc="0">
                          <a:solidFill>
                            <a:schemeClr val="tx1"/>
                          </a:solidFill>
                          <a:effectLst/>
                        </a:rPr>
                        <a:t>누구든지</a:t>
                      </a:r>
                      <a:r>
                        <a:rPr lang="en-US" altLang="ko-KR" sz="950" kern="0" spc="0">
                          <a:solidFill>
                            <a:schemeClr val="tx1"/>
                          </a:solidFill>
                          <a:effectLst/>
                        </a:rPr>
                        <a:t>, </a:t>
                      </a:r>
                      <a:r>
                        <a:rPr lang="ko-KR" altLang="en-US" sz="950" kern="0" spc="0">
                          <a:solidFill>
                            <a:schemeClr val="tx1"/>
                          </a:solidFill>
                          <a:effectLst/>
                        </a:rPr>
                        <a:t>비법인사단ㆍ재단</a:t>
                      </a:r>
                      <a:r>
                        <a:rPr lang="en-US" altLang="ko-KR" sz="950" kern="0" spc="0">
                          <a:solidFill>
                            <a:schemeClr val="tx1"/>
                          </a:solidFill>
                          <a:effectLst/>
                        </a:rPr>
                        <a:t>(</a:t>
                      </a:r>
                      <a:r>
                        <a:rPr lang="ko-KR" altLang="en-US" sz="950" kern="0" spc="0">
                          <a:solidFill>
                            <a:schemeClr val="tx1"/>
                          </a:solidFill>
                          <a:effectLst/>
                        </a:rPr>
                        <a:t>法</a:t>
                      </a:r>
                      <a:r>
                        <a:rPr lang="en-US" altLang="ko-KR" sz="950" kern="0" spc="0">
                          <a:solidFill>
                            <a:schemeClr val="tx1"/>
                          </a:solidFill>
                          <a:effectLst/>
                        </a:rPr>
                        <a:t>4)</a:t>
                      </a:r>
                      <a:endParaRPr lang="ko-KR" altLang="en-US" sz="950" kern="0" spc="0">
                        <a:solidFill>
                          <a:schemeClr val="tx1"/>
                        </a:solidFill>
                        <a:effectLst/>
                      </a:endParaRPr>
                    </a:p>
                    <a:p>
                      <a:pPr marL="73660" marR="0" indent="-73660" algn="just" fontAlgn="base" latinLnBrk="1">
                        <a:lnSpc>
                          <a:spcPct val="100000"/>
                        </a:lnSpc>
                        <a:spcBef>
                          <a:spcPts val="0"/>
                        </a:spcBef>
                        <a:spcAft>
                          <a:spcPts val="0"/>
                        </a:spcAft>
                      </a:pPr>
                      <a:r>
                        <a:rPr lang="en-US" altLang="ko-KR" sz="950" kern="0" spc="0">
                          <a:solidFill>
                            <a:schemeClr val="tx1"/>
                          </a:solidFill>
                          <a:effectLst/>
                        </a:rPr>
                        <a:t>2.</a:t>
                      </a:r>
                      <a:r>
                        <a:rPr lang="ko-KR" altLang="en-US" sz="950" kern="0" spc="0">
                          <a:solidFill>
                            <a:schemeClr val="tx1"/>
                          </a:solidFill>
                          <a:effectLst/>
                        </a:rPr>
                        <a:t>출원인은 </a:t>
                      </a:r>
                      <a:r>
                        <a:rPr lang="en-US" altLang="ko-KR" sz="950" kern="0" spc="0">
                          <a:solidFill>
                            <a:schemeClr val="tx1"/>
                          </a:solidFill>
                          <a:effectLst/>
                        </a:rPr>
                        <a:t>1)</a:t>
                      </a:r>
                      <a:r>
                        <a:rPr lang="ko-KR" altLang="en-US" sz="950" kern="0" spc="0">
                          <a:solidFill>
                            <a:schemeClr val="tx1"/>
                          </a:solidFill>
                          <a:effectLst/>
                        </a:rPr>
                        <a:t>명세서에 청구범위를 적지 아니한 경우</a:t>
                      </a:r>
                      <a:r>
                        <a:rPr lang="en-US" altLang="ko-KR" sz="950" kern="0" spc="0">
                          <a:solidFill>
                            <a:schemeClr val="tx1"/>
                          </a:solidFill>
                          <a:effectLst/>
                        </a:rPr>
                        <a:t>, 2)</a:t>
                      </a:r>
                      <a:r>
                        <a:rPr lang="ko-KR" altLang="en-US" sz="950" kern="0" spc="0">
                          <a:solidFill>
                            <a:schemeClr val="tx1"/>
                          </a:solidFill>
                          <a:effectLst/>
                        </a:rPr>
                        <a:t>외국어특허출원인데 국어번역문을 제출하지 아니한 경우 심사청구 不可</a:t>
                      </a:r>
                    </a:p>
                  </a:txBody>
                  <a:tcPr marL="48271" marR="48271" marT="24135" marB="24135" anchor="ctr"/>
                </a:tc>
                <a:tc>
                  <a:txBody>
                    <a:bodyPr/>
                    <a:lstStyle/>
                    <a:p>
                      <a:pPr marL="0" marR="0" indent="0" algn="just" fontAlgn="base" latinLnBrk="1">
                        <a:lnSpc>
                          <a:spcPct val="100000"/>
                        </a:lnSpc>
                        <a:spcBef>
                          <a:spcPts val="0"/>
                        </a:spcBef>
                        <a:spcAft>
                          <a:spcPts val="0"/>
                        </a:spcAft>
                      </a:pPr>
                      <a:r>
                        <a:rPr lang="en-US" altLang="ko-KR" sz="950" kern="0" spc="0">
                          <a:solidFill>
                            <a:schemeClr val="tx1"/>
                          </a:solidFill>
                          <a:effectLst/>
                        </a:rPr>
                        <a:t>1.</a:t>
                      </a:r>
                      <a:r>
                        <a:rPr lang="ko-KR" altLang="en-US" sz="950" kern="0" spc="0">
                          <a:solidFill>
                            <a:schemeClr val="tx1"/>
                          </a:solidFill>
                          <a:effectLst/>
                        </a:rPr>
                        <a:t>누구든지</a:t>
                      </a:r>
                    </a:p>
                    <a:p>
                      <a:pPr marL="68580" marR="0" indent="-68580" algn="just" fontAlgn="base" latinLnBrk="1">
                        <a:lnSpc>
                          <a:spcPct val="100000"/>
                        </a:lnSpc>
                        <a:spcBef>
                          <a:spcPts val="0"/>
                        </a:spcBef>
                        <a:spcAft>
                          <a:spcPts val="0"/>
                        </a:spcAft>
                      </a:pPr>
                      <a:r>
                        <a:rPr lang="en-US" altLang="ko-KR" sz="950" kern="0" spc="0">
                          <a:solidFill>
                            <a:schemeClr val="tx1"/>
                          </a:solidFill>
                          <a:effectLst/>
                        </a:rPr>
                        <a:t>2.</a:t>
                      </a:r>
                      <a:r>
                        <a:rPr lang="ko-KR" altLang="en-US" sz="950" kern="0" spc="0">
                          <a:solidFill>
                            <a:schemeClr val="tx1"/>
                          </a:solidFill>
                          <a:effectLst/>
                        </a:rPr>
                        <a:t>단</a:t>
                      </a:r>
                      <a:r>
                        <a:rPr lang="en-US" altLang="ko-KR" sz="950" kern="0" spc="0">
                          <a:solidFill>
                            <a:schemeClr val="tx1"/>
                          </a:solidFill>
                          <a:effectLst/>
                        </a:rPr>
                        <a:t>, </a:t>
                      </a:r>
                      <a:r>
                        <a:rPr lang="ko-KR" altLang="en-US" sz="950" kern="0" spc="0">
                          <a:solidFill>
                            <a:schemeClr val="tx1"/>
                          </a:solidFill>
                          <a:effectLst/>
                        </a:rPr>
                        <a:t>국가ㆍ지방자치단체의 직무에 관한 특허출원의 경우는 국가 또는 지방자치단체</a:t>
                      </a:r>
                      <a:r>
                        <a:rPr lang="en-US" altLang="ko-KR" sz="950" kern="0" spc="0">
                          <a:solidFill>
                            <a:schemeClr val="tx1"/>
                          </a:solidFill>
                          <a:effectLst/>
                        </a:rPr>
                        <a:t>(</a:t>
                      </a:r>
                      <a:r>
                        <a:rPr lang="ko-KR" altLang="en-US" sz="950" kern="0" spc="0">
                          <a:solidFill>
                            <a:schemeClr val="tx1"/>
                          </a:solidFill>
                          <a:effectLst/>
                        </a:rPr>
                        <a:t>전담조직도 포함</a:t>
                      </a:r>
                      <a:r>
                        <a:rPr lang="en-US" altLang="ko-KR" sz="950" kern="0" spc="0">
                          <a:solidFill>
                            <a:schemeClr val="tx1"/>
                          </a:solidFill>
                          <a:effectLst/>
                        </a:rPr>
                        <a:t>)</a:t>
                      </a:r>
                      <a:r>
                        <a:rPr lang="ko-KR" altLang="en-US" sz="950" kern="0" spc="0">
                          <a:solidFill>
                            <a:schemeClr val="tx1"/>
                          </a:solidFill>
                          <a:effectLst/>
                        </a:rPr>
                        <a:t>만 </a:t>
                      </a:r>
                    </a:p>
                  </a:txBody>
                  <a:tcPr marL="48271" marR="48271" marT="24135" marB="24135" anchor="ct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심사관</a:t>
                      </a:r>
                    </a:p>
                  </a:txBody>
                  <a:tcPr marL="48271" marR="48271" marT="24135" marB="24135" anchor="ctr"/>
                </a:tc>
                <a:tc>
                  <a:txBody>
                    <a:bodyPr/>
                    <a:lstStyle/>
                    <a:p>
                      <a:pPr marL="0" marR="0" indent="0" algn="just" fontAlgn="base" latinLnBrk="1">
                        <a:lnSpc>
                          <a:spcPct val="100000"/>
                        </a:lnSpc>
                        <a:spcBef>
                          <a:spcPts val="0"/>
                        </a:spcBef>
                        <a:spcAft>
                          <a:spcPts val="0"/>
                        </a:spcAft>
                      </a:pPr>
                      <a:r>
                        <a:rPr lang="ko-KR" altLang="en-US" sz="950" kern="0" spc="0">
                          <a:solidFill>
                            <a:schemeClr val="tx1"/>
                          </a:solidFill>
                          <a:effectLst/>
                        </a:rPr>
                        <a:t>출원인 또는 그 승계인</a:t>
                      </a:r>
                    </a:p>
                  </a:txBody>
                  <a:tcPr marL="48271" marR="48271" marT="24135" marB="24135" anchor="ctr"/>
                </a:tc>
                <a:extLst>
                  <a:ext uri="{0D108BD9-81ED-4DB2-BD59-A6C34878D82A}">
                    <a16:rowId xmlns:a16="http://schemas.microsoft.com/office/drawing/2014/main" val="10001"/>
                  </a:ext>
                </a:extLst>
              </a:tr>
              <a:tr h="541148">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객</a:t>
                      </a:r>
                    </a:p>
                    <a:p>
                      <a:pPr marL="0" marR="0" indent="0" algn="ctr" fontAlgn="base" latinLnBrk="0">
                        <a:lnSpc>
                          <a:spcPct val="100000"/>
                        </a:lnSpc>
                        <a:spcBef>
                          <a:spcPts val="0"/>
                        </a:spcBef>
                        <a:spcAft>
                          <a:spcPts val="0"/>
                        </a:spcAft>
                      </a:pPr>
                      <a:r>
                        <a:rPr lang="ko-KR" altLang="en-US" sz="950" b="1" kern="0" spc="0" dirty="0">
                          <a:solidFill>
                            <a:schemeClr val="tx1"/>
                          </a:solidFill>
                          <a:effectLst/>
                        </a:rPr>
                        <a:t>체</a:t>
                      </a:r>
                    </a:p>
                    <a:p>
                      <a:pPr marL="0" marR="0" indent="0" algn="ctr" fontAlgn="base" latinLnBrk="0">
                        <a:lnSpc>
                          <a:spcPct val="100000"/>
                        </a:lnSpc>
                        <a:spcBef>
                          <a:spcPts val="0"/>
                        </a:spcBef>
                        <a:spcAft>
                          <a:spcPts val="0"/>
                        </a:spcAft>
                      </a:pPr>
                      <a:r>
                        <a:rPr lang="ko-KR" altLang="en-US" sz="950" b="1" kern="0" spc="0" dirty="0">
                          <a:solidFill>
                            <a:schemeClr val="tx1"/>
                          </a:solidFill>
                          <a:effectLst/>
                        </a:rPr>
                        <a:t>적</a:t>
                      </a:r>
                    </a:p>
                  </a:txBody>
                  <a:tcPr marL="48271" marR="48271" marT="24135" marB="24135" anchor="ctr"/>
                </a:tc>
                <a:tc>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대</a:t>
                      </a:r>
                      <a:endParaRPr lang="en-US" altLang="ko-KR" sz="950" b="1" kern="0" spc="0" dirty="0">
                        <a:solidFill>
                          <a:schemeClr val="tx1"/>
                        </a:solidFill>
                        <a:effectLst/>
                      </a:endParaRPr>
                    </a:p>
                    <a:p>
                      <a:pPr marL="0" marR="0" indent="0" algn="ctr" fontAlgn="base" latinLnBrk="0">
                        <a:lnSpc>
                          <a:spcPct val="100000"/>
                        </a:lnSpc>
                        <a:spcBef>
                          <a:spcPts val="0"/>
                        </a:spcBef>
                        <a:spcAft>
                          <a:spcPts val="0"/>
                        </a:spcAft>
                      </a:pPr>
                      <a:r>
                        <a:rPr lang="ko-KR" altLang="en-US" sz="950" b="1" kern="0" spc="0" dirty="0">
                          <a:solidFill>
                            <a:schemeClr val="tx1"/>
                          </a:solidFill>
                          <a:effectLst/>
                        </a:rPr>
                        <a:t>상</a:t>
                      </a:r>
                    </a:p>
                  </a:txBody>
                  <a:tcPr marL="48271" marR="48271" marT="24135" marB="24135" anchor="ct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적법하게 </a:t>
                      </a:r>
                      <a:r>
                        <a:rPr lang="ko-KR" altLang="en-US" sz="950" kern="0" spc="0" dirty="0" err="1">
                          <a:solidFill>
                            <a:schemeClr val="tx1"/>
                          </a:solidFill>
                          <a:effectLst/>
                        </a:rPr>
                        <a:t>출원계속중인</a:t>
                      </a:r>
                      <a:r>
                        <a:rPr lang="ko-KR" altLang="en-US" sz="950" kern="0" spc="0" dirty="0">
                          <a:solidFill>
                            <a:schemeClr val="tx1"/>
                          </a:solidFill>
                          <a:effectLst/>
                        </a:rPr>
                        <a:t> 발명</a:t>
                      </a:r>
                    </a:p>
                  </a:txBody>
                  <a:tcPr marL="48271" marR="48271" marT="24135" marB="24135" anchor="ctr"/>
                </a:tc>
                <a:tc>
                  <a:txBody>
                    <a:bodyPr/>
                    <a:lstStyle/>
                    <a:p>
                      <a:pPr marL="68580" marR="0" indent="-6858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err="1">
                          <a:solidFill>
                            <a:schemeClr val="tx1"/>
                          </a:solidFill>
                          <a:effectLst/>
                        </a:rPr>
                        <a:t>출원공개후</a:t>
                      </a:r>
                      <a:r>
                        <a:rPr lang="ko-KR" altLang="en-US" sz="950" kern="0" spc="0" dirty="0">
                          <a:solidFill>
                            <a:schemeClr val="tx1"/>
                          </a:solidFill>
                          <a:effectLst/>
                        </a:rPr>
                        <a:t> 제</a:t>
                      </a:r>
                      <a:r>
                        <a:rPr lang="en-US" altLang="ko-KR" sz="950" kern="0" spc="0" dirty="0">
                          <a:solidFill>
                            <a:schemeClr val="tx1"/>
                          </a:solidFill>
                          <a:effectLst/>
                        </a:rPr>
                        <a:t>3</a:t>
                      </a:r>
                      <a:r>
                        <a:rPr lang="ko-KR" altLang="en-US" sz="950" kern="0" spc="0" dirty="0">
                          <a:solidFill>
                            <a:schemeClr val="tx1"/>
                          </a:solidFill>
                          <a:effectLst/>
                        </a:rPr>
                        <a:t>자의 무단실시의 경우</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61Ⅰ)</a:t>
                      </a:r>
                      <a:endParaRPr lang="ko-KR" altLang="en-US" sz="950" kern="0" spc="0" dirty="0">
                        <a:solidFill>
                          <a:schemeClr val="tx1"/>
                        </a:solidFill>
                        <a:effectLst/>
                      </a:endParaRPr>
                    </a:p>
                    <a:p>
                      <a:pPr marL="68580" marR="0" indent="-6858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긴급처리가 필요하다고 인정되는 경우</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61Ⅱ)</a:t>
                      </a:r>
                      <a:r>
                        <a:rPr lang="ko-KR" altLang="en-US" sz="950" kern="0" spc="0" dirty="0">
                          <a:solidFill>
                            <a:schemeClr val="tx1"/>
                          </a:solidFill>
                          <a:effectLst/>
                        </a:rPr>
                        <a:t> </a:t>
                      </a:r>
                      <a:endParaRPr lang="en-US" altLang="ko-KR" sz="950" kern="0" spc="0" dirty="0">
                        <a:solidFill>
                          <a:schemeClr val="tx1"/>
                        </a:solidFill>
                        <a:effectLst/>
                      </a:endParaRPr>
                    </a:p>
                    <a:p>
                      <a:pPr marL="68580" marR="0" indent="-68580" algn="just" fontAlgn="base" latinLnBrk="1">
                        <a:lnSpc>
                          <a:spcPct val="100000"/>
                        </a:lnSpc>
                        <a:spcBef>
                          <a:spcPts val="0"/>
                        </a:spcBef>
                        <a:spcAft>
                          <a:spcPts val="0"/>
                        </a:spcAft>
                      </a:pPr>
                      <a:r>
                        <a:rPr lang="en-US" altLang="ko-KR" sz="950" kern="0" spc="0" dirty="0">
                          <a:solidFill>
                            <a:schemeClr val="tx1"/>
                          </a:solidFill>
                          <a:effectLst/>
                        </a:rPr>
                        <a:t>3.</a:t>
                      </a:r>
                      <a:r>
                        <a:rPr lang="ko-KR" altLang="en-US" sz="950" kern="0" spc="0" dirty="0">
                          <a:solidFill>
                            <a:schemeClr val="tx1"/>
                          </a:solidFill>
                          <a:effectLst/>
                        </a:rPr>
                        <a:t>재난의 </a:t>
                      </a:r>
                      <a:r>
                        <a:rPr lang="ko-KR" altLang="en-US" sz="950" kern="0" spc="0" dirty="0" err="1">
                          <a:solidFill>
                            <a:schemeClr val="tx1"/>
                          </a:solidFill>
                          <a:effectLst/>
                        </a:rPr>
                        <a:t>예방ㆍ대응ㆍ복구</a:t>
                      </a:r>
                      <a:r>
                        <a:rPr lang="ko-KR" altLang="en-US" sz="950" kern="0" spc="0" dirty="0">
                          <a:solidFill>
                            <a:schemeClr val="tx1"/>
                          </a:solidFill>
                          <a:effectLst/>
                        </a:rPr>
                        <a:t> 등에 필요하다고 인정되는 경우</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61Ⅲ)</a:t>
                      </a:r>
                    </a:p>
                    <a:p>
                      <a:pPr marL="68580" marR="0" indent="-68580" algn="just" fontAlgn="base" latinLnBrk="1">
                        <a:lnSpc>
                          <a:spcPct val="100000"/>
                        </a:lnSpc>
                        <a:spcBef>
                          <a:spcPts val="0"/>
                        </a:spcBef>
                        <a:spcAft>
                          <a:spcPts val="0"/>
                        </a:spcAft>
                      </a:pPr>
                      <a:r>
                        <a:rPr lang="en-US" altLang="ko-KR" sz="950" kern="0" spc="0" dirty="0">
                          <a:solidFill>
                            <a:schemeClr val="tx1"/>
                          </a:solidFill>
                          <a:effectLst/>
                        </a:rPr>
                        <a:t>4.</a:t>
                      </a:r>
                      <a:r>
                        <a:rPr lang="ko-KR" altLang="en-US" sz="950" kern="0" spc="0" dirty="0">
                          <a:solidFill>
                            <a:schemeClr val="tx1"/>
                          </a:solidFill>
                          <a:effectLst/>
                        </a:rPr>
                        <a:t>타법에서 규정하고 있는 경우</a:t>
                      </a:r>
                      <a:r>
                        <a:rPr lang="en-US" altLang="ko-KR" sz="950" kern="0" spc="0" dirty="0">
                          <a:solidFill>
                            <a:schemeClr val="tx1"/>
                          </a:solidFill>
                          <a:effectLst/>
                        </a:rPr>
                        <a:t>-</a:t>
                      </a:r>
                      <a:r>
                        <a:rPr lang="ko-KR" altLang="en-US" sz="950" kern="0" spc="0" dirty="0">
                          <a:solidFill>
                            <a:schemeClr val="tx1"/>
                          </a:solidFill>
                          <a:effectLst/>
                        </a:rPr>
                        <a:t>의지</a:t>
                      </a:r>
                    </a:p>
                  </a:txBody>
                  <a:tcPr marL="48271" marR="48271" marT="24135" marB="24135" anchor="ctr"/>
                </a:tc>
                <a:tc>
                  <a:txBody>
                    <a:bodyPr/>
                    <a:lstStyle/>
                    <a:p>
                      <a:pPr marL="0" marR="0" indent="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err="1">
                          <a:solidFill>
                            <a:schemeClr val="tx1"/>
                          </a:solidFill>
                          <a:effectLst/>
                        </a:rPr>
                        <a:t>심사청구된</a:t>
                      </a:r>
                      <a:r>
                        <a:rPr lang="ko-KR" altLang="en-US" sz="950" kern="0" spc="0" dirty="0">
                          <a:solidFill>
                            <a:schemeClr val="tx1"/>
                          </a:solidFill>
                          <a:effectLst/>
                        </a:rPr>
                        <a:t> 출원</a:t>
                      </a:r>
                    </a:p>
                    <a:p>
                      <a:pPr marL="0" marR="0" indent="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보정된 경우</a:t>
                      </a:r>
                    </a:p>
                    <a:p>
                      <a:pPr marL="0" marR="0" indent="0" algn="just" fontAlgn="base" latinLnBrk="1">
                        <a:lnSpc>
                          <a:spcPct val="100000"/>
                        </a:lnSpc>
                        <a:spcBef>
                          <a:spcPts val="0"/>
                        </a:spcBef>
                        <a:spcAft>
                          <a:spcPts val="0"/>
                        </a:spcAft>
                      </a:pPr>
                      <a:r>
                        <a:rPr lang="ko-KR" altLang="en-US" sz="950" kern="0" spc="0" dirty="0">
                          <a:solidFill>
                            <a:schemeClr val="tx1"/>
                          </a:solidFill>
                          <a:effectLst/>
                        </a:rPr>
                        <a:t>①法</a:t>
                      </a:r>
                      <a:r>
                        <a:rPr lang="en-US" altLang="ko-KR" sz="950" kern="0" spc="0" dirty="0">
                          <a:solidFill>
                            <a:schemeClr val="tx1"/>
                          </a:solidFill>
                          <a:effectLst/>
                        </a:rPr>
                        <a:t>47</a:t>
                      </a:r>
                      <a:r>
                        <a:rPr lang="ko-KR" altLang="en-US" sz="950" kern="0" spc="0" dirty="0">
                          <a:solidFill>
                            <a:schemeClr val="tx1"/>
                          </a:solidFill>
                          <a:effectLst/>
                        </a:rPr>
                        <a:t>①본</a:t>
                      </a:r>
                      <a:r>
                        <a:rPr lang="en-US" altLang="ko-KR" sz="950" kern="0" spc="0" dirty="0">
                          <a:solidFill>
                            <a:schemeClr val="tx1"/>
                          </a:solidFill>
                          <a:effectLst/>
                        </a:rPr>
                        <a:t>,Ⅰ-</a:t>
                      </a:r>
                      <a:r>
                        <a:rPr lang="ko-KR" altLang="en-US" sz="950" kern="0" spc="0" dirty="0">
                          <a:solidFill>
                            <a:schemeClr val="tx1"/>
                          </a:solidFill>
                          <a:effectLst/>
                        </a:rPr>
                        <a:t>보정된 내용 반영한 명세서 또는 도면</a:t>
                      </a:r>
                    </a:p>
                    <a:p>
                      <a:pPr marL="0" marR="0" indent="0" algn="just" fontAlgn="base" latinLnBrk="1">
                        <a:lnSpc>
                          <a:spcPct val="100000"/>
                        </a:lnSpc>
                        <a:spcBef>
                          <a:spcPts val="0"/>
                        </a:spcBef>
                        <a:spcAft>
                          <a:spcPts val="0"/>
                        </a:spcAft>
                      </a:pPr>
                      <a:r>
                        <a:rPr lang="ko-KR" altLang="en-US" sz="950" kern="0" spc="0" dirty="0">
                          <a:solidFill>
                            <a:schemeClr val="tx1"/>
                          </a:solidFill>
                          <a:effectLst/>
                        </a:rPr>
                        <a:t>②法</a:t>
                      </a:r>
                      <a:r>
                        <a:rPr lang="en-US" altLang="ko-KR" sz="950" kern="0" spc="0" dirty="0">
                          <a:solidFill>
                            <a:schemeClr val="tx1"/>
                          </a:solidFill>
                          <a:effectLst/>
                        </a:rPr>
                        <a:t>47</a:t>
                      </a:r>
                      <a:r>
                        <a:rPr lang="ko-KR" altLang="en-US" sz="950" kern="0" spc="0" dirty="0">
                          <a:solidFill>
                            <a:schemeClr val="tx1"/>
                          </a:solidFill>
                          <a:effectLst/>
                        </a:rPr>
                        <a:t>①</a:t>
                      </a:r>
                      <a:r>
                        <a:rPr lang="en-US" altLang="ko-KR" sz="950" kern="0" spc="0" dirty="0" err="1">
                          <a:solidFill>
                            <a:schemeClr val="tx1"/>
                          </a:solidFill>
                          <a:effectLst/>
                        </a:rPr>
                        <a:t>Ⅱ,Ⅲ</a:t>
                      </a:r>
                      <a:r>
                        <a:rPr lang="en-US" altLang="ko-KR" sz="950" kern="0" spc="0" dirty="0">
                          <a:solidFill>
                            <a:schemeClr val="tx1"/>
                          </a:solidFill>
                          <a:effectLst/>
                        </a:rPr>
                        <a:t>-</a:t>
                      </a:r>
                      <a:r>
                        <a:rPr lang="ko-KR" altLang="en-US" sz="950" kern="0" spc="0" dirty="0" err="1">
                          <a:solidFill>
                            <a:schemeClr val="tx1"/>
                          </a:solidFill>
                          <a:effectLst/>
                        </a:rPr>
                        <a:t>보정적법성을</a:t>
                      </a:r>
                      <a:r>
                        <a:rPr lang="ko-KR" altLang="en-US" sz="950" kern="0" spc="0" dirty="0">
                          <a:solidFill>
                            <a:schemeClr val="tx1"/>
                          </a:solidFill>
                          <a:effectLst/>
                        </a:rPr>
                        <a:t> 판단</a:t>
                      </a:r>
                    </a:p>
                    <a:p>
                      <a:pPr marL="0" marR="0" indent="0" algn="just" fontAlgn="base" latinLnBrk="1">
                        <a:lnSpc>
                          <a:spcPct val="100000"/>
                        </a:lnSpc>
                        <a:spcBef>
                          <a:spcPts val="0"/>
                        </a:spcBef>
                        <a:spcAft>
                          <a:spcPts val="0"/>
                        </a:spcAft>
                      </a:pPr>
                      <a:r>
                        <a:rPr lang="en-US" altLang="ko-KR" sz="950" kern="0" spc="0" dirty="0">
                          <a:solidFill>
                            <a:schemeClr val="tx1"/>
                          </a:solidFill>
                          <a:effectLst/>
                        </a:rPr>
                        <a:t>3.</a:t>
                      </a:r>
                      <a:r>
                        <a:rPr lang="ko-KR" altLang="en-US" sz="950" kern="0" spc="0" dirty="0" err="1">
                          <a:solidFill>
                            <a:schemeClr val="tx1"/>
                          </a:solidFill>
                          <a:effectLst/>
                        </a:rPr>
                        <a:t>외국어특허출원</a:t>
                      </a:r>
                      <a:r>
                        <a:rPr lang="en-US" altLang="ko-KR" sz="950" kern="0" spc="0" dirty="0">
                          <a:solidFill>
                            <a:schemeClr val="tx1"/>
                          </a:solidFill>
                          <a:effectLst/>
                        </a:rPr>
                        <a:t>-</a:t>
                      </a:r>
                      <a:r>
                        <a:rPr lang="ko-KR" altLang="en-US" sz="950" kern="0" spc="0" dirty="0">
                          <a:solidFill>
                            <a:schemeClr val="tx1"/>
                          </a:solidFill>
                          <a:effectLst/>
                        </a:rPr>
                        <a:t>번역문 </a:t>
                      </a:r>
                    </a:p>
                  </a:txBody>
                  <a:tcPr marL="48271" marR="48271" marT="24135" marB="24135" anchor="ct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특허여부결정등본을 </a:t>
                      </a:r>
                      <a:r>
                        <a:rPr lang="ko-KR" altLang="en-US" sz="950" kern="0" spc="0" dirty="0" err="1">
                          <a:solidFill>
                            <a:schemeClr val="tx1"/>
                          </a:solidFill>
                          <a:effectLst/>
                        </a:rPr>
                        <a:t>송달받은</a:t>
                      </a:r>
                      <a:r>
                        <a:rPr lang="ko-KR" altLang="en-US" sz="950" kern="0" spc="0" dirty="0">
                          <a:solidFill>
                            <a:schemeClr val="tx1"/>
                          </a:solidFill>
                          <a:effectLst/>
                        </a:rPr>
                        <a:t> </a:t>
                      </a:r>
                      <a:r>
                        <a:rPr lang="ko-KR" altLang="en-US" sz="950" kern="0" spc="0" dirty="0" err="1">
                          <a:solidFill>
                            <a:schemeClr val="tx1"/>
                          </a:solidFill>
                          <a:effectLst/>
                        </a:rPr>
                        <a:t>출원으로서</a:t>
                      </a:r>
                      <a:r>
                        <a:rPr lang="ko-KR" altLang="en-US" sz="950" kern="0" spc="0" dirty="0">
                          <a:solidFill>
                            <a:schemeClr val="tx1"/>
                          </a:solidFill>
                          <a:effectLst/>
                        </a:rPr>
                        <a:t> 그 특허출원의 명세서 또는 도면을 보정</a:t>
                      </a:r>
                    </a:p>
                  </a:txBody>
                  <a:tcPr marL="48271" marR="48271" marT="24135" marB="24135" anchor="ctr"/>
                </a:tc>
                <a:extLst>
                  <a:ext uri="{0D108BD9-81ED-4DB2-BD59-A6C34878D82A}">
                    <a16:rowId xmlns:a16="http://schemas.microsoft.com/office/drawing/2014/main" val="10002"/>
                  </a:ext>
                </a:extLst>
              </a:tr>
              <a:tr h="113931">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범</a:t>
                      </a:r>
                      <a:endParaRPr lang="en-US" altLang="ko-KR" sz="950" b="1" kern="0" spc="0" dirty="0">
                        <a:solidFill>
                          <a:schemeClr val="tx1"/>
                        </a:solidFill>
                        <a:effectLst/>
                      </a:endParaRPr>
                    </a:p>
                    <a:p>
                      <a:pPr marL="0" marR="0" indent="0" algn="ctr" fontAlgn="base" latinLnBrk="0">
                        <a:lnSpc>
                          <a:spcPct val="100000"/>
                        </a:lnSpc>
                        <a:spcBef>
                          <a:spcPts val="0"/>
                        </a:spcBef>
                        <a:spcAft>
                          <a:spcPts val="0"/>
                        </a:spcAft>
                      </a:pPr>
                      <a:r>
                        <a:rPr lang="ko-KR" altLang="en-US" sz="950" b="1" kern="0" spc="0" dirty="0">
                          <a:solidFill>
                            <a:schemeClr val="tx1"/>
                          </a:solidFill>
                          <a:effectLst/>
                        </a:rPr>
                        <a:t>위</a:t>
                      </a:r>
                    </a:p>
                  </a:txBody>
                  <a:tcPr marL="48271" marR="48271" marT="24135" marB="24135" anchor="ctr"/>
                </a:tc>
                <a:tc>
                  <a:txBody>
                    <a:bodyPr/>
                    <a:lstStyle/>
                    <a:p>
                      <a:pPr marL="0" marR="0" indent="0" algn="just" fontAlgn="base" latinLnBrk="1">
                        <a:lnSpc>
                          <a:spcPct val="100000"/>
                        </a:lnSpc>
                        <a:spcBef>
                          <a:spcPts val="0"/>
                        </a:spcBef>
                        <a:spcAft>
                          <a:spcPts val="0"/>
                        </a:spcAft>
                      </a:pPr>
                      <a:r>
                        <a:rPr lang="ko-KR" altLang="en-US" sz="950" kern="0" spc="0">
                          <a:solidFill>
                            <a:schemeClr val="tx1"/>
                          </a:solidFill>
                          <a:effectLst/>
                        </a:rPr>
                        <a:t>청구항별 불가</a:t>
                      </a:r>
                    </a:p>
                  </a:txBody>
                  <a:tcPr marL="48271" marR="48271" marT="24135" marB="24135" anchor="ctr"/>
                </a:tc>
                <a:tc>
                  <a:txBody>
                    <a:bodyPr/>
                    <a:lstStyle/>
                    <a:p>
                      <a:pPr marL="0" marR="0" indent="0" algn="just" fontAlgn="base" latinLnBrk="1">
                        <a:lnSpc>
                          <a:spcPct val="100000"/>
                        </a:lnSpc>
                        <a:spcBef>
                          <a:spcPts val="0"/>
                        </a:spcBef>
                        <a:spcAft>
                          <a:spcPts val="0"/>
                        </a:spcAft>
                      </a:pPr>
                      <a:r>
                        <a:rPr lang="ko-KR" altLang="en-US" sz="950" kern="0" spc="0">
                          <a:solidFill>
                            <a:schemeClr val="tx1"/>
                          </a:solidFill>
                          <a:effectLst/>
                        </a:rPr>
                        <a:t>하나의 청구항이라도 대상인 경우 가능</a:t>
                      </a:r>
                    </a:p>
                  </a:txBody>
                  <a:tcPr marL="48271" marR="48271" marT="24135" marB="24135" anchor="ctr"/>
                </a:tc>
                <a:tc>
                  <a:txBody>
                    <a:bodyPr/>
                    <a:lstStyle/>
                    <a:p>
                      <a:pPr marL="0" marR="0" indent="0" algn="just" fontAlgn="base" latinLnBrk="1">
                        <a:lnSpc>
                          <a:spcPct val="100000"/>
                        </a:lnSpc>
                        <a:spcBef>
                          <a:spcPts val="0"/>
                        </a:spcBef>
                        <a:spcAft>
                          <a:spcPts val="0"/>
                        </a:spcAft>
                      </a:pPr>
                      <a:endParaRPr lang="ko-KR" altLang="en-US" sz="950" kern="0" spc="0" dirty="0">
                        <a:solidFill>
                          <a:schemeClr val="tx1"/>
                        </a:solidFill>
                        <a:effectLst/>
                        <a:latin typeface="Rix모던고딕 L" panose="02020603020101020101" pitchFamily="18" charset="-127"/>
                      </a:endParaRPr>
                    </a:p>
                  </a:txBody>
                  <a:tcPr marL="48271" marR="48271" marT="24135" marB="24135" anchor="ct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　</a:t>
                      </a:r>
                    </a:p>
                  </a:txBody>
                  <a:tcPr marL="48271" marR="48271" marT="24135" marB="24135" anchor="ctr"/>
                </a:tc>
                <a:extLst>
                  <a:ext uri="{0D108BD9-81ED-4DB2-BD59-A6C34878D82A}">
                    <a16:rowId xmlns:a16="http://schemas.microsoft.com/office/drawing/2014/main" val="10003"/>
                  </a:ext>
                </a:extLst>
              </a:tr>
              <a:tr h="455705">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시</a:t>
                      </a:r>
                    </a:p>
                    <a:p>
                      <a:pPr marL="0" marR="0" indent="0" algn="ctr" fontAlgn="base" latinLnBrk="0">
                        <a:lnSpc>
                          <a:spcPct val="100000"/>
                        </a:lnSpc>
                        <a:spcBef>
                          <a:spcPts val="0"/>
                        </a:spcBef>
                        <a:spcAft>
                          <a:spcPts val="0"/>
                        </a:spcAft>
                      </a:pPr>
                      <a:r>
                        <a:rPr lang="ko-KR" altLang="en-US" sz="950" b="1" kern="0" spc="0" dirty="0">
                          <a:solidFill>
                            <a:schemeClr val="tx1"/>
                          </a:solidFill>
                          <a:effectLst/>
                        </a:rPr>
                        <a:t>기</a:t>
                      </a:r>
                    </a:p>
                    <a:p>
                      <a:pPr marL="0" marR="0" indent="0" algn="ctr" fontAlgn="base" latinLnBrk="0">
                        <a:lnSpc>
                          <a:spcPct val="100000"/>
                        </a:lnSpc>
                        <a:spcBef>
                          <a:spcPts val="0"/>
                        </a:spcBef>
                        <a:spcAft>
                          <a:spcPts val="0"/>
                        </a:spcAft>
                      </a:pPr>
                      <a:r>
                        <a:rPr lang="ko-KR" altLang="en-US" sz="950" b="1" kern="0" spc="0" dirty="0">
                          <a:solidFill>
                            <a:schemeClr val="tx1"/>
                          </a:solidFill>
                          <a:effectLst/>
                        </a:rPr>
                        <a:t>적</a:t>
                      </a:r>
                    </a:p>
                  </a:txBody>
                  <a:tcPr marL="48271" marR="48271" marT="24135" marB="24135" anchor="ctr"/>
                </a:tc>
                <a:tc>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원</a:t>
                      </a:r>
                      <a:endParaRPr lang="en-US" altLang="ko-KR" sz="950" b="1" kern="0" spc="0" dirty="0">
                        <a:solidFill>
                          <a:schemeClr val="tx1"/>
                        </a:solidFill>
                        <a:effectLst/>
                      </a:endParaRPr>
                    </a:p>
                    <a:p>
                      <a:pPr marL="0" marR="0" indent="0" algn="ctr" fontAlgn="base" latinLnBrk="0">
                        <a:lnSpc>
                          <a:spcPct val="100000"/>
                        </a:lnSpc>
                        <a:spcBef>
                          <a:spcPts val="0"/>
                        </a:spcBef>
                        <a:spcAft>
                          <a:spcPts val="0"/>
                        </a:spcAft>
                      </a:pPr>
                      <a:r>
                        <a:rPr lang="ko-KR" altLang="en-US" sz="950" b="1" kern="0" spc="0" dirty="0" err="1">
                          <a:solidFill>
                            <a:schemeClr val="tx1"/>
                          </a:solidFill>
                          <a:effectLst/>
                        </a:rPr>
                        <a:t>칙</a:t>
                      </a:r>
                      <a:endParaRPr lang="ko-KR" altLang="en-US" sz="950" b="1" kern="0" spc="0" dirty="0">
                        <a:solidFill>
                          <a:schemeClr val="tx1"/>
                        </a:solidFill>
                        <a:effectLst/>
                      </a:endParaRPr>
                    </a:p>
                  </a:txBody>
                  <a:tcPr marL="48271" marR="48271" marT="24135" marB="24135" anchor="ct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출원일로부터 </a:t>
                      </a:r>
                      <a:r>
                        <a:rPr lang="en-US" altLang="ko-KR" sz="950" kern="0" spc="0" dirty="0">
                          <a:solidFill>
                            <a:schemeClr val="tx1"/>
                          </a:solidFill>
                          <a:effectLst/>
                        </a:rPr>
                        <a:t>3</a:t>
                      </a:r>
                      <a:r>
                        <a:rPr lang="ko-KR" altLang="en-US" sz="950" kern="0" spc="0" dirty="0" err="1">
                          <a:solidFill>
                            <a:schemeClr val="tx1"/>
                          </a:solidFill>
                          <a:effectLst/>
                        </a:rPr>
                        <a:t>년이내</a:t>
                      </a:r>
                      <a:r>
                        <a:rPr lang="ko-KR" altLang="en-US" sz="950" kern="0" spc="0" dirty="0">
                          <a:solidFill>
                            <a:schemeClr val="tx1"/>
                          </a:solidFill>
                          <a:effectLst/>
                        </a:rPr>
                        <a:t> </a:t>
                      </a:r>
                    </a:p>
                  </a:txBody>
                  <a:tcPr marL="48271" marR="48271" marT="24135" marB="24135" anchor="ctr"/>
                </a:tc>
                <a:tc>
                  <a:txBody>
                    <a:bodyPr/>
                    <a:lstStyle/>
                    <a:p>
                      <a:pPr marL="68580" marR="0" indent="-6858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출원공개후 제</a:t>
                      </a:r>
                      <a:r>
                        <a:rPr lang="en-US" altLang="ko-KR" sz="950" kern="0" spc="0" dirty="0">
                          <a:solidFill>
                            <a:schemeClr val="tx1"/>
                          </a:solidFill>
                          <a:effectLst/>
                        </a:rPr>
                        <a:t>3</a:t>
                      </a:r>
                      <a:r>
                        <a:rPr lang="ko-KR" altLang="en-US" sz="950" kern="0" spc="0" dirty="0">
                          <a:solidFill>
                            <a:schemeClr val="tx1"/>
                          </a:solidFill>
                          <a:effectLst/>
                        </a:rPr>
                        <a:t>자의 무단실시의 경우</a:t>
                      </a:r>
                      <a:r>
                        <a:rPr lang="en-US" altLang="ko-KR" sz="950" kern="0" spc="0" dirty="0">
                          <a:solidFill>
                            <a:schemeClr val="tx1"/>
                          </a:solidFill>
                          <a:effectLst/>
                        </a:rPr>
                        <a:t>-</a:t>
                      </a:r>
                      <a:r>
                        <a:rPr lang="ko-KR" altLang="en-US" sz="950" kern="0" spc="0" dirty="0">
                          <a:solidFill>
                            <a:schemeClr val="tx1"/>
                          </a:solidFill>
                          <a:effectLst/>
                        </a:rPr>
                        <a:t>심사청구</a:t>
                      </a:r>
                      <a:r>
                        <a:rPr lang="en-US" altLang="ko-KR" sz="950" kern="0" spc="0" dirty="0">
                          <a:solidFill>
                            <a:schemeClr val="tx1"/>
                          </a:solidFill>
                          <a:effectLst/>
                        </a:rPr>
                        <a:t>+</a:t>
                      </a:r>
                      <a:r>
                        <a:rPr lang="ko-KR" altLang="en-US" sz="950" kern="0" spc="0" dirty="0">
                          <a:solidFill>
                            <a:schemeClr val="tx1"/>
                          </a:solidFill>
                          <a:effectLst/>
                        </a:rPr>
                        <a:t>출원공개후</a:t>
                      </a:r>
                    </a:p>
                    <a:p>
                      <a:pPr marL="68580" marR="0" indent="-6858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err="1">
                          <a:solidFill>
                            <a:schemeClr val="tx1"/>
                          </a:solidFill>
                          <a:effectLst/>
                        </a:rPr>
                        <a:t>그밖의</a:t>
                      </a:r>
                      <a:r>
                        <a:rPr lang="ko-KR" altLang="en-US" sz="950" kern="0" spc="0" dirty="0">
                          <a:solidFill>
                            <a:schemeClr val="tx1"/>
                          </a:solidFill>
                          <a:effectLst/>
                        </a:rPr>
                        <a:t> 사유</a:t>
                      </a:r>
                      <a:r>
                        <a:rPr lang="en-US" altLang="ko-KR" sz="950" kern="0" spc="0" dirty="0">
                          <a:solidFill>
                            <a:schemeClr val="tx1"/>
                          </a:solidFill>
                          <a:effectLst/>
                        </a:rPr>
                        <a:t>-</a:t>
                      </a:r>
                      <a:r>
                        <a:rPr lang="ko-KR" altLang="en-US" sz="950" kern="0" spc="0" dirty="0">
                          <a:solidFill>
                            <a:schemeClr val="tx1"/>
                          </a:solidFill>
                          <a:effectLst/>
                        </a:rPr>
                        <a:t>심사청구</a:t>
                      </a:r>
                    </a:p>
                  </a:txBody>
                  <a:tcPr marL="48271" marR="48271" marT="24135" marB="24135" anchor="ctr"/>
                </a:tc>
                <a:tc>
                  <a:txBody>
                    <a:bodyPr/>
                    <a:lstStyle/>
                    <a:p>
                      <a:pPr marL="73660" marR="0" indent="-7366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거절결정</a:t>
                      </a:r>
                    </a:p>
                    <a:p>
                      <a:pPr marL="73660" marR="0" indent="-73660" algn="just" fontAlgn="base" latinLnBrk="1">
                        <a:lnSpc>
                          <a:spcPct val="100000"/>
                        </a:lnSpc>
                        <a:spcBef>
                          <a:spcPts val="0"/>
                        </a:spcBef>
                        <a:spcAft>
                          <a:spcPts val="0"/>
                        </a:spcAft>
                      </a:pPr>
                      <a:r>
                        <a:rPr lang="ko-KR" altLang="en-US" sz="950" kern="0" spc="0" dirty="0">
                          <a:solidFill>
                            <a:schemeClr val="tx1"/>
                          </a:solidFill>
                          <a:effectLst/>
                        </a:rPr>
                        <a:t>①거절이유통지</a:t>
                      </a:r>
                    </a:p>
                    <a:p>
                      <a:pPr marL="73660" marR="0" indent="-73660" algn="just" fontAlgn="base" latinLnBrk="1">
                        <a:lnSpc>
                          <a:spcPct val="100000"/>
                        </a:lnSpc>
                        <a:spcBef>
                          <a:spcPts val="0"/>
                        </a:spcBef>
                        <a:spcAft>
                          <a:spcPts val="0"/>
                        </a:spcAft>
                      </a:pPr>
                      <a:r>
                        <a:rPr lang="ko-KR" altLang="en-US" sz="950" kern="0" spc="0" dirty="0">
                          <a:solidFill>
                            <a:schemeClr val="tx1"/>
                          </a:solidFill>
                          <a:effectLst/>
                        </a:rPr>
                        <a:t>②의견서</a:t>
                      </a:r>
                      <a:r>
                        <a:rPr lang="en-US" altLang="ko-KR" sz="950" kern="0" spc="0" dirty="0">
                          <a:solidFill>
                            <a:schemeClr val="tx1"/>
                          </a:solidFill>
                          <a:effectLst/>
                        </a:rPr>
                        <a:t>/</a:t>
                      </a:r>
                      <a:r>
                        <a:rPr lang="ko-KR" altLang="en-US" sz="950" kern="0" spc="0" dirty="0" err="1">
                          <a:solidFill>
                            <a:schemeClr val="tx1"/>
                          </a:solidFill>
                          <a:effectLst/>
                        </a:rPr>
                        <a:t>보정서제출</a:t>
                      </a:r>
                      <a:endParaRPr lang="ko-KR" altLang="en-US" sz="950" kern="0" spc="0" dirty="0">
                        <a:solidFill>
                          <a:schemeClr val="tx1"/>
                        </a:solidFill>
                        <a:effectLst/>
                      </a:endParaRPr>
                    </a:p>
                    <a:p>
                      <a:pPr marL="73660" marR="0" indent="-73660" algn="just" fontAlgn="base" latinLnBrk="1">
                        <a:lnSpc>
                          <a:spcPct val="100000"/>
                        </a:lnSpc>
                        <a:spcBef>
                          <a:spcPts val="0"/>
                        </a:spcBef>
                        <a:spcAft>
                          <a:spcPts val="0"/>
                        </a:spcAft>
                      </a:pPr>
                      <a:r>
                        <a:rPr lang="ko-KR" altLang="en-US" sz="950" kern="0" spc="0" dirty="0">
                          <a:solidFill>
                            <a:schemeClr val="tx1"/>
                          </a:solidFill>
                          <a:effectLst/>
                        </a:rPr>
                        <a:t>③거절결정</a:t>
                      </a: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특허결정</a:t>
                      </a:r>
                    </a:p>
                  </a:txBody>
                  <a:tcPr marL="48271" marR="48271" marT="24135" marB="24135" anchor="ct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그 특허출원에 관하여 특허결정의 등본을 </a:t>
                      </a:r>
                      <a:r>
                        <a:rPr lang="ko-KR" altLang="en-US" sz="950" kern="0" spc="0" dirty="0" err="1">
                          <a:solidFill>
                            <a:schemeClr val="tx1"/>
                          </a:solidFill>
                          <a:effectLst/>
                        </a:rPr>
                        <a:t>송달받은</a:t>
                      </a:r>
                      <a:r>
                        <a:rPr lang="ko-KR" altLang="en-US" sz="950" kern="0" spc="0" dirty="0">
                          <a:solidFill>
                            <a:schemeClr val="tx1"/>
                          </a:solidFill>
                          <a:effectLst/>
                        </a:rPr>
                        <a:t> 날부터 제</a:t>
                      </a:r>
                      <a:r>
                        <a:rPr lang="en-US" altLang="ko-KR" sz="950" kern="0" spc="0" dirty="0">
                          <a:solidFill>
                            <a:schemeClr val="tx1"/>
                          </a:solidFill>
                          <a:effectLst/>
                        </a:rPr>
                        <a:t>79</a:t>
                      </a:r>
                      <a:r>
                        <a:rPr lang="ko-KR" altLang="en-US" sz="950" kern="0" spc="0" dirty="0">
                          <a:solidFill>
                            <a:schemeClr val="tx1"/>
                          </a:solidFill>
                          <a:effectLst/>
                        </a:rPr>
                        <a:t>조에 따른 설정등록을 받기 전까지의 기간 또는 </a:t>
                      </a:r>
                      <a:r>
                        <a:rPr lang="ko-KR" altLang="en-US" sz="950" kern="0" spc="0" dirty="0" err="1">
                          <a:solidFill>
                            <a:schemeClr val="tx1"/>
                          </a:solidFill>
                          <a:effectLst/>
                        </a:rPr>
                        <a:t>특허거절결정등본을</a:t>
                      </a:r>
                      <a:r>
                        <a:rPr lang="ko-KR" altLang="en-US" sz="950" kern="0" spc="0" dirty="0">
                          <a:solidFill>
                            <a:schemeClr val="tx1"/>
                          </a:solidFill>
                          <a:effectLst/>
                        </a:rPr>
                        <a:t> </a:t>
                      </a:r>
                      <a:r>
                        <a:rPr lang="ko-KR" altLang="en-US" sz="950" kern="0" spc="0" dirty="0" err="1">
                          <a:solidFill>
                            <a:schemeClr val="tx1"/>
                          </a:solidFill>
                          <a:effectLst/>
                        </a:rPr>
                        <a:t>송달받은</a:t>
                      </a:r>
                      <a:r>
                        <a:rPr lang="ko-KR" altLang="en-US" sz="950" kern="0" spc="0" dirty="0">
                          <a:solidFill>
                            <a:schemeClr val="tx1"/>
                          </a:solidFill>
                          <a:effectLst/>
                        </a:rPr>
                        <a:t> 날부터 </a:t>
                      </a:r>
                      <a:r>
                        <a:rPr lang="en-US" altLang="ko-KR" sz="950" kern="0" spc="0" dirty="0">
                          <a:solidFill>
                            <a:schemeClr val="tx1"/>
                          </a:solidFill>
                          <a:effectLst/>
                        </a:rPr>
                        <a:t>3</a:t>
                      </a:r>
                      <a:r>
                        <a:rPr lang="ko-KR" altLang="en-US" sz="950" kern="0" spc="0" dirty="0">
                          <a:solidFill>
                            <a:schemeClr val="tx1"/>
                          </a:solidFill>
                          <a:effectLst/>
                        </a:rPr>
                        <a:t>개월</a:t>
                      </a:r>
                      <a:r>
                        <a:rPr lang="en-US" altLang="ko-KR" sz="950" kern="0" spc="0" dirty="0">
                          <a:solidFill>
                            <a:schemeClr val="tx1"/>
                          </a:solidFill>
                          <a:effectLst/>
                        </a:rPr>
                        <a:t>(</a:t>
                      </a:r>
                      <a:r>
                        <a:rPr lang="ko-KR" altLang="en-US" sz="950" kern="0" spc="0" dirty="0">
                          <a:solidFill>
                            <a:schemeClr val="tx1"/>
                          </a:solidFill>
                          <a:effectLst/>
                        </a:rPr>
                        <a:t>제</a:t>
                      </a:r>
                      <a:r>
                        <a:rPr lang="en-US" altLang="ko-KR" sz="950" kern="0" spc="0" dirty="0">
                          <a:solidFill>
                            <a:schemeClr val="tx1"/>
                          </a:solidFill>
                          <a:effectLst/>
                        </a:rPr>
                        <a:t>15</a:t>
                      </a:r>
                      <a:r>
                        <a:rPr lang="ko-KR" altLang="en-US" sz="950" kern="0" spc="0" dirty="0">
                          <a:solidFill>
                            <a:schemeClr val="tx1"/>
                          </a:solidFill>
                          <a:effectLst/>
                        </a:rPr>
                        <a:t>조제</a:t>
                      </a:r>
                      <a:r>
                        <a:rPr lang="en-US" altLang="ko-KR" sz="950" kern="0" spc="0" dirty="0">
                          <a:solidFill>
                            <a:schemeClr val="tx1"/>
                          </a:solidFill>
                          <a:effectLst/>
                        </a:rPr>
                        <a:t>1</a:t>
                      </a:r>
                      <a:r>
                        <a:rPr lang="ko-KR" altLang="en-US" sz="950" kern="0" spc="0" dirty="0">
                          <a:solidFill>
                            <a:schemeClr val="tx1"/>
                          </a:solidFill>
                          <a:effectLst/>
                        </a:rPr>
                        <a:t>항에 따라 제</a:t>
                      </a:r>
                      <a:r>
                        <a:rPr lang="en-US" altLang="ko-KR" sz="950" kern="0" spc="0" dirty="0">
                          <a:solidFill>
                            <a:schemeClr val="tx1"/>
                          </a:solidFill>
                          <a:effectLst/>
                        </a:rPr>
                        <a:t>132</a:t>
                      </a:r>
                      <a:r>
                        <a:rPr lang="ko-KR" altLang="en-US" sz="950" kern="0" spc="0" dirty="0">
                          <a:solidFill>
                            <a:schemeClr val="tx1"/>
                          </a:solidFill>
                          <a:effectLst/>
                        </a:rPr>
                        <a:t>조의</a:t>
                      </a:r>
                      <a:r>
                        <a:rPr lang="en-US" altLang="ko-KR" sz="950" kern="0" spc="0" dirty="0">
                          <a:solidFill>
                            <a:schemeClr val="tx1"/>
                          </a:solidFill>
                          <a:effectLst/>
                        </a:rPr>
                        <a:t>17</a:t>
                      </a:r>
                      <a:r>
                        <a:rPr lang="ko-KR" altLang="en-US" sz="950" kern="0" spc="0" dirty="0">
                          <a:solidFill>
                            <a:schemeClr val="tx1"/>
                          </a:solidFill>
                          <a:effectLst/>
                        </a:rPr>
                        <a:t>에 따른 기간이 연장된 경우 그 연장된 기간을 말한다</a:t>
                      </a:r>
                      <a:r>
                        <a:rPr lang="en-US" altLang="ko-KR" sz="950" kern="0" spc="0" dirty="0">
                          <a:solidFill>
                            <a:schemeClr val="tx1"/>
                          </a:solidFill>
                          <a:effectLst/>
                        </a:rPr>
                        <a:t>)</a:t>
                      </a:r>
                      <a:endParaRPr lang="ko-KR" altLang="en-US" sz="950" kern="0" spc="0" dirty="0">
                        <a:solidFill>
                          <a:schemeClr val="tx1"/>
                        </a:solidFill>
                        <a:effectLst/>
                      </a:endParaRPr>
                    </a:p>
                  </a:txBody>
                  <a:tcPr marL="48271" marR="48271" marT="24135" marB="24135" anchor="ctr"/>
                </a:tc>
                <a:extLst>
                  <a:ext uri="{0D108BD9-81ED-4DB2-BD59-A6C34878D82A}">
                    <a16:rowId xmlns:a16="http://schemas.microsoft.com/office/drawing/2014/main" val="10004"/>
                  </a:ext>
                </a:extLst>
              </a:tr>
              <a:tr h="370261">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예</a:t>
                      </a:r>
                      <a:endParaRPr lang="en-US" altLang="ko-KR" sz="950" b="1" kern="0" spc="0" dirty="0">
                        <a:solidFill>
                          <a:schemeClr val="tx1"/>
                        </a:solidFill>
                        <a:effectLst/>
                      </a:endParaRPr>
                    </a:p>
                    <a:p>
                      <a:pPr marL="0" marR="0" indent="0" algn="ctr" fontAlgn="base" latinLnBrk="0">
                        <a:lnSpc>
                          <a:spcPct val="100000"/>
                        </a:lnSpc>
                        <a:spcBef>
                          <a:spcPts val="0"/>
                        </a:spcBef>
                        <a:spcAft>
                          <a:spcPts val="0"/>
                        </a:spcAft>
                      </a:pPr>
                      <a:r>
                        <a:rPr lang="ko-KR" altLang="en-US" sz="950" b="1" kern="0" spc="0" dirty="0">
                          <a:solidFill>
                            <a:schemeClr val="tx1"/>
                          </a:solidFill>
                          <a:effectLst/>
                        </a:rPr>
                        <a:t>외</a:t>
                      </a:r>
                    </a:p>
                  </a:txBody>
                  <a:tcPr marL="48271" marR="48271" marT="24135" marB="24135" anchor="ctr"/>
                </a:tc>
                <a:tc>
                  <a:txBody>
                    <a:bodyPr/>
                    <a:lstStyle/>
                    <a:p>
                      <a:pPr marL="73660" marR="0" indent="-7366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조약우선권주장출원</a:t>
                      </a:r>
                      <a:r>
                        <a:rPr lang="en-US" altLang="ko-KR" sz="950" kern="0" spc="0" dirty="0">
                          <a:solidFill>
                            <a:schemeClr val="tx1"/>
                          </a:solidFill>
                          <a:effectLst/>
                        </a:rPr>
                        <a:t>(</a:t>
                      </a:r>
                      <a:r>
                        <a:rPr lang="ko-KR" altLang="en-US" sz="950" kern="0" spc="0" dirty="0">
                          <a:solidFill>
                            <a:schemeClr val="tx1"/>
                          </a:solidFill>
                          <a:effectLst/>
                        </a:rPr>
                        <a:t>法</a:t>
                      </a:r>
                      <a:r>
                        <a:rPr lang="en-US" altLang="ko-KR" sz="950" kern="0" spc="0" dirty="0">
                          <a:solidFill>
                            <a:schemeClr val="tx1"/>
                          </a:solidFill>
                          <a:effectLst/>
                        </a:rPr>
                        <a:t>54</a:t>
                      </a:r>
                      <a:r>
                        <a:rPr lang="ko-KR" altLang="en-US" sz="950" kern="0" spc="0" dirty="0">
                          <a:solidFill>
                            <a:schemeClr val="tx1"/>
                          </a:solidFill>
                          <a:effectLst/>
                        </a:rPr>
                        <a:t>①</a:t>
                      </a:r>
                      <a:r>
                        <a:rPr lang="en-US" altLang="ko-KR" sz="950" kern="0" spc="0" dirty="0">
                          <a:solidFill>
                            <a:schemeClr val="tx1"/>
                          </a:solidFill>
                          <a:effectLst/>
                        </a:rPr>
                        <a:t>),</a:t>
                      </a:r>
                      <a:r>
                        <a:rPr lang="ko-KR" altLang="en-US" sz="950" kern="0" spc="0" dirty="0">
                          <a:solidFill>
                            <a:schemeClr val="tx1"/>
                          </a:solidFill>
                          <a:effectLst/>
                        </a:rPr>
                        <a:t>국내우선권주장출원</a:t>
                      </a:r>
                      <a:r>
                        <a:rPr lang="en-US" altLang="ko-KR" sz="950" kern="0" spc="0" dirty="0">
                          <a:solidFill>
                            <a:schemeClr val="tx1"/>
                          </a:solidFill>
                          <a:effectLst/>
                        </a:rPr>
                        <a:t>(</a:t>
                      </a:r>
                      <a:r>
                        <a:rPr lang="ko-KR" altLang="en-US" sz="950" kern="0" spc="0" dirty="0">
                          <a:solidFill>
                            <a:schemeClr val="tx1"/>
                          </a:solidFill>
                          <a:effectLst/>
                        </a:rPr>
                        <a:t>法</a:t>
                      </a:r>
                      <a:r>
                        <a:rPr lang="en-US" altLang="ko-KR" sz="950" kern="0" spc="0" dirty="0">
                          <a:solidFill>
                            <a:schemeClr val="tx1"/>
                          </a:solidFill>
                          <a:effectLst/>
                        </a:rPr>
                        <a:t>55</a:t>
                      </a:r>
                      <a:r>
                        <a:rPr lang="ko-KR" altLang="en-US" sz="950" kern="0" spc="0" dirty="0">
                          <a:solidFill>
                            <a:schemeClr val="tx1"/>
                          </a:solidFill>
                          <a:effectLst/>
                        </a:rPr>
                        <a:t>②</a:t>
                      </a:r>
                      <a:r>
                        <a:rPr lang="en-US" altLang="ko-KR" sz="950" kern="0" spc="0" dirty="0">
                          <a:solidFill>
                            <a:schemeClr val="tx1"/>
                          </a:solidFill>
                          <a:effectLst/>
                        </a:rPr>
                        <a:t>)</a:t>
                      </a:r>
                      <a:r>
                        <a:rPr lang="ko-KR" altLang="en-US" sz="950" kern="0" spc="0" dirty="0">
                          <a:solidFill>
                            <a:schemeClr val="tx1"/>
                          </a:solidFill>
                          <a:effectLst/>
                        </a:rPr>
                        <a:t>의 경우 소급효</a:t>
                      </a:r>
                      <a:r>
                        <a:rPr lang="en-US" altLang="ko-KR" sz="950" kern="0" spc="0" dirty="0">
                          <a:solidFill>
                            <a:schemeClr val="tx1"/>
                          </a:solidFill>
                          <a:effectLst/>
                        </a:rPr>
                        <a:t>×</a:t>
                      </a:r>
                      <a:endParaRPr lang="ko-KR" altLang="en-US" sz="950" kern="0" spc="0" dirty="0">
                        <a:solidFill>
                          <a:schemeClr val="tx1"/>
                        </a:solidFill>
                        <a:effectLst/>
                      </a:endParaRP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err="1">
                          <a:solidFill>
                            <a:schemeClr val="tx1"/>
                          </a:solidFill>
                          <a:effectLst/>
                        </a:rPr>
                        <a:t>분할ㆍ분리ㆍ변경출원ㆍ정당한권리자출원의</a:t>
                      </a:r>
                      <a:r>
                        <a:rPr lang="ko-KR" altLang="en-US" sz="950" kern="0" spc="0" dirty="0">
                          <a:solidFill>
                            <a:schemeClr val="tx1"/>
                          </a:solidFill>
                          <a:effectLst/>
                        </a:rPr>
                        <a:t> 특례</a:t>
                      </a:r>
                      <a:r>
                        <a:rPr lang="en-US" altLang="ko-KR" sz="950" kern="0" spc="0" dirty="0">
                          <a:solidFill>
                            <a:schemeClr val="tx1"/>
                          </a:solidFill>
                          <a:effectLst/>
                        </a:rPr>
                        <a:t>(</a:t>
                      </a:r>
                      <a:r>
                        <a:rPr lang="ko-KR" altLang="en-US" sz="950" kern="0" spc="0" dirty="0">
                          <a:solidFill>
                            <a:schemeClr val="tx1"/>
                          </a:solidFill>
                          <a:effectLst/>
                        </a:rPr>
                        <a:t>法</a:t>
                      </a:r>
                      <a:r>
                        <a:rPr lang="en-US" altLang="ko-KR" sz="950" kern="0" spc="0" dirty="0">
                          <a:solidFill>
                            <a:schemeClr val="tx1"/>
                          </a:solidFill>
                          <a:effectLst/>
                        </a:rPr>
                        <a:t>59</a:t>
                      </a:r>
                      <a:r>
                        <a:rPr lang="ko-KR" altLang="en-US" sz="950" kern="0" spc="0" dirty="0">
                          <a:solidFill>
                            <a:schemeClr val="tx1"/>
                          </a:solidFill>
                          <a:effectLst/>
                        </a:rPr>
                        <a:t>③</a:t>
                      </a:r>
                      <a:r>
                        <a:rPr lang="en-US" altLang="ko-KR" sz="950" kern="0" spc="0" dirty="0">
                          <a:solidFill>
                            <a:schemeClr val="tx1"/>
                          </a:solidFill>
                          <a:effectLst/>
                        </a:rPr>
                        <a:t>)</a:t>
                      </a:r>
                      <a:endParaRPr lang="ko-KR" altLang="en-US" sz="950" kern="0" spc="0" dirty="0">
                        <a:solidFill>
                          <a:schemeClr val="tx1"/>
                        </a:solidFill>
                        <a:effectLst/>
                      </a:endParaRPr>
                    </a:p>
                    <a:p>
                      <a:pPr marL="0" marR="0" indent="0" algn="just" fontAlgn="base" latinLnBrk="1">
                        <a:lnSpc>
                          <a:spcPct val="100000"/>
                        </a:lnSpc>
                        <a:spcBef>
                          <a:spcPts val="0"/>
                        </a:spcBef>
                        <a:spcAft>
                          <a:spcPts val="0"/>
                        </a:spcAft>
                      </a:pPr>
                      <a:r>
                        <a:rPr lang="en-US" altLang="ko-KR" sz="950" kern="0" spc="0" dirty="0">
                          <a:solidFill>
                            <a:schemeClr val="tx1"/>
                          </a:solidFill>
                          <a:effectLst/>
                        </a:rPr>
                        <a:t>3.</a:t>
                      </a:r>
                      <a:r>
                        <a:rPr lang="ko-KR" altLang="en-US" sz="950" kern="0" spc="0" dirty="0">
                          <a:solidFill>
                            <a:schemeClr val="tx1"/>
                          </a:solidFill>
                          <a:effectLst/>
                        </a:rPr>
                        <a:t>국제특허출원</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210)</a:t>
                      </a:r>
                      <a:endParaRPr lang="ko-KR" altLang="en-US" sz="950" kern="0" spc="0" dirty="0">
                        <a:solidFill>
                          <a:schemeClr val="tx1"/>
                        </a:solidFill>
                        <a:effectLst/>
                      </a:endParaRPr>
                    </a:p>
                  </a:txBody>
                  <a:tcPr marL="48271" marR="48271" marT="24135" marB="24135" anchor="ctr"/>
                </a:tc>
                <a:tc>
                  <a:txBody>
                    <a:bodyPr/>
                    <a:lstStyle/>
                    <a:p>
                      <a:pPr marL="0" marR="0" indent="0" algn="just" fontAlgn="base" latinLnBrk="1">
                        <a:lnSpc>
                          <a:spcPct val="100000"/>
                        </a:lnSpc>
                        <a:spcBef>
                          <a:spcPts val="0"/>
                        </a:spcBef>
                        <a:spcAft>
                          <a:spcPts val="0"/>
                        </a:spcAft>
                      </a:pPr>
                      <a:r>
                        <a:rPr lang="ko-KR" altLang="en-US" sz="950" kern="0" spc="0">
                          <a:solidFill>
                            <a:schemeClr val="tx1"/>
                          </a:solidFill>
                          <a:effectLst/>
                        </a:rPr>
                        <a:t>　</a:t>
                      </a:r>
                    </a:p>
                  </a:txBody>
                  <a:tcPr marL="48271" marR="48271" marT="24135" marB="24135" anchor="ctr"/>
                </a:tc>
                <a:tc>
                  <a:txBody>
                    <a:bodyPr/>
                    <a:lstStyle/>
                    <a:p>
                      <a:pPr marL="0" marR="0" indent="0" algn="just" fontAlgn="base" latinLnBrk="1">
                        <a:lnSpc>
                          <a:spcPct val="100000"/>
                        </a:lnSpc>
                        <a:spcBef>
                          <a:spcPts val="0"/>
                        </a:spcBef>
                        <a:spcAft>
                          <a:spcPts val="0"/>
                        </a:spcAft>
                      </a:pPr>
                      <a:endParaRPr lang="ko-KR" altLang="en-US" sz="950" kern="0" spc="0" dirty="0">
                        <a:solidFill>
                          <a:schemeClr val="tx1"/>
                        </a:solidFill>
                        <a:effectLst/>
                        <a:latin typeface="Rix모던고딕 L" panose="02020603020101020101" pitchFamily="18" charset="-127"/>
                      </a:endParaRPr>
                    </a:p>
                  </a:txBody>
                  <a:tcPr marL="48271" marR="48271" marT="24135" marB="24135" anchor="ctr"/>
                </a:tc>
                <a:tc>
                  <a:txBody>
                    <a:bodyPr/>
                    <a:lstStyle/>
                    <a:p>
                      <a:pPr marL="92075" marR="0" indent="-92075"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재심사를 청구할 때에 이미 재심사에 따른 특허여부의 결정이 있는 경우</a:t>
                      </a:r>
                      <a:endParaRPr lang="en-US" altLang="ko-KR" sz="950" kern="0" spc="0" dirty="0">
                        <a:solidFill>
                          <a:schemeClr val="tx1"/>
                        </a:solidFill>
                        <a:effectLst/>
                      </a:endParaRPr>
                    </a:p>
                    <a:p>
                      <a:pPr marL="92075" marR="0" indent="-92075"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거절결정불복심판청구</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132</a:t>
                      </a:r>
                      <a:r>
                        <a:rPr lang="ko-KR" altLang="en-US" sz="950" kern="0" spc="0" dirty="0">
                          <a:solidFill>
                            <a:schemeClr val="tx1"/>
                          </a:solidFill>
                          <a:effectLst/>
                        </a:rPr>
                        <a:t>의</a:t>
                      </a:r>
                      <a:r>
                        <a:rPr lang="en-US" altLang="ko-KR" sz="950" kern="0" spc="0" dirty="0">
                          <a:solidFill>
                            <a:schemeClr val="tx1"/>
                          </a:solidFill>
                          <a:effectLst/>
                        </a:rPr>
                        <a:t>17)</a:t>
                      </a:r>
                      <a:r>
                        <a:rPr lang="ko-KR" altLang="en-US" sz="950" kern="0" spc="0" dirty="0">
                          <a:solidFill>
                            <a:schemeClr val="tx1"/>
                          </a:solidFill>
                          <a:effectLst/>
                        </a:rPr>
                        <a:t>가 있는 경우</a:t>
                      </a:r>
                      <a:r>
                        <a:rPr lang="en-US" altLang="ko-KR" sz="950" kern="0" spc="0" dirty="0">
                          <a:solidFill>
                            <a:schemeClr val="tx1"/>
                          </a:solidFill>
                          <a:effectLst/>
                        </a:rPr>
                        <a:t>(</a:t>
                      </a:r>
                      <a:r>
                        <a:rPr lang="ko-KR" altLang="en-US" sz="950" kern="0" spc="0" dirty="0">
                          <a:solidFill>
                            <a:schemeClr val="tx1"/>
                          </a:solidFill>
                          <a:effectLst/>
                        </a:rPr>
                        <a:t>제</a:t>
                      </a:r>
                      <a:r>
                        <a:rPr lang="en-US" altLang="ko-KR" sz="950" kern="0" spc="0" dirty="0">
                          <a:solidFill>
                            <a:schemeClr val="tx1"/>
                          </a:solidFill>
                          <a:effectLst/>
                        </a:rPr>
                        <a:t>176</a:t>
                      </a:r>
                      <a:r>
                        <a:rPr lang="ko-KR" altLang="en-US" sz="950" kern="0" spc="0" dirty="0">
                          <a:solidFill>
                            <a:schemeClr val="tx1"/>
                          </a:solidFill>
                          <a:effectLst/>
                        </a:rPr>
                        <a:t>조제</a:t>
                      </a:r>
                      <a:r>
                        <a:rPr lang="en-US" altLang="ko-KR" sz="950" kern="0" spc="0" dirty="0">
                          <a:solidFill>
                            <a:schemeClr val="tx1"/>
                          </a:solidFill>
                          <a:effectLst/>
                        </a:rPr>
                        <a:t>1</a:t>
                      </a:r>
                      <a:r>
                        <a:rPr lang="ko-KR" altLang="en-US" sz="950" kern="0" spc="0" dirty="0">
                          <a:solidFill>
                            <a:schemeClr val="tx1"/>
                          </a:solidFill>
                          <a:effectLst/>
                        </a:rPr>
                        <a:t>항에 따라 </a:t>
                      </a:r>
                      <a:r>
                        <a:rPr lang="ko-KR" altLang="en-US" sz="950" kern="0" spc="0" dirty="0" err="1">
                          <a:solidFill>
                            <a:schemeClr val="tx1"/>
                          </a:solidFill>
                          <a:effectLst/>
                        </a:rPr>
                        <a:t>특허거절결정이</a:t>
                      </a:r>
                      <a:r>
                        <a:rPr lang="ko-KR" altLang="en-US" sz="950" kern="0" spc="0" dirty="0">
                          <a:solidFill>
                            <a:schemeClr val="tx1"/>
                          </a:solidFill>
                          <a:effectLst/>
                        </a:rPr>
                        <a:t> 취소된 경우는 제외한다</a:t>
                      </a:r>
                      <a:r>
                        <a:rPr lang="en-US" altLang="ko-KR" sz="950" kern="0" spc="0" dirty="0">
                          <a:solidFill>
                            <a:schemeClr val="tx1"/>
                          </a:solidFill>
                          <a:effectLst/>
                        </a:rPr>
                        <a:t>)</a:t>
                      </a:r>
                    </a:p>
                    <a:p>
                      <a:pPr marL="92075" marR="0" indent="-92075" algn="just" fontAlgn="base" latinLnBrk="1">
                        <a:lnSpc>
                          <a:spcPct val="100000"/>
                        </a:lnSpc>
                        <a:spcBef>
                          <a:spcPts val="0"/>
                        </a:spcBef>
                        <a:spcAft>
                          <a:spcPts val="0"/>
                        </a:spcAft>
                      </a:pPr>
                      <a:r>
                        <a:rPr lang="en-US" altLang="ko-KR" sz="950" kern="0" spc="0" dirty="0">
                          <a:solidFill>
                            <a:schemeClr val="tx1"/>
                          </a:solidFill>
                          <a:effectLst/>
                        </a:rPr>
                        <a:t>3.</a:t>
                      </a:r>
                      <a:r>
                        <a:rPr lang="ko-KR" altLang="en-US" sz="950" kern="0" spc="0" dirty="0">
                          <a:solidFill>
                            <a:schemeClr val="tx1"/>
                          </a:solidFill>
                          <a:effectLst/>
                        </a:rPr>
                        <a:t>그 특허출원이 </a:t>
                      </a:r>
                      <a:r>
                        <a:rPr lang="ko-KR" altLang="en-US" sz="950" kern="0" spc="0" dirty="0" err="1">
                          <a:solidFill>
                            <a:schemeClr val="tx1"/>
                          </a:solidFill>
                          <a:effectLst/>
                        </a:rPr>
                        <a:t>분리출원인</a:t>
                      </a:r>
                      <a:r>
                        <a:rPr lang="ko-KR" altLang="en-US" sz="950" kern="0" spc="0" dirty="0">
                          <a:solidFill>
                            <a:schemeClr val="tx1"/>
                          </a:solidFill>
                          <a:effectLst/>
                        </a:rPr>
                        <a:t> 경우</a:t>
                      </a:r>
                    </a:p>
                  </a:txBody>
                  <a:tcPr marL="48271" marR="48271" marT="24135" marB="24135" anchor="ctr"/>
                </a:tc>
                <a:extLst>
                  <a:ext uri="{0D108BD9-81ED-4DB2-BD59-A6C34878D82A}">
                    <a16:rowId xmlns:a16="http://schemas.microsoft.com/office/drawing/2014/main" val="10005"/>
                  </a:ext>
                </a:extLst>
              </a:tr>
              <a:tr h="370261">
                <a:tc gridSpan="3">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절차</a:t>
                      </a:r>
                    </a:p>
                  </a:txBody>
                  <a:tcPr marL="48271" marR="48271" marT="24135" marB="24135" anchor="ct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심사청구서 제출</a:t>
                      </a:r>
                      <a:r>
                        <a:rPr lang="en-US" altLang="ko-KR" sz="950" kern="0" spc="0" dirty="0">
                          <a:solidFill>
                            <a:schemeClr val="tx1"/>
                          </a:solidFill>
                          <a:effectLst/>
                        </a:rPr>
                        <a:t>(</a:t>
                      </a:r>
                      <a:r>
                        <a:rPr lang="ko-KR" altLang="en-US" sz="950" kern="0" spc="0" dirty="0">
                          <a:solidFill>
                            <a:schemeClr val="tx1"/>
                          </a:solidFill>
                          <a:effectLst/>
                        </a:rPr>
                        <a:t>法</a:t>
                      </a:r>
                      <a:r>
                        <a:rPr lang="en-US" altLang="ko-KR" sz="950" kern="0" spc="0" dirty="0">
                          <a:solidFill>
                            <a:schemeClr val="tx1"/>
                          </a:solidFill>
                          <a:effectLst/>
                        </a:rPr>
                        <a:t>60</a:t>
                      </a:r>
                      <a:r>
                        <a:rPr lang="ko-KR" altLang="en-US" sz="950" kern="0" spc="0" dirty="0">
                          <a:solidFill>
                            <a:schemeClr val="tx1"/>
                          </a:solidFill>
                          <a:effectLst/>
                        </a:rPr>
                        <a:t>①</a:t>
                      </a:r>
                      <a:r>
                        <a:rPr lang="en-US" altLang="ko-KR" sz="950" kern="0" spc="0" dirty="0">
                          <a:solidFill>
                            <a:schemeClr val="tx1"/>
                          </a:solidFill>
                          <a:effectLst/>
                        </a:rPr>
                        <a:t>)</a:t>
                      </a:r>
                      <a:endParaRPr lang="ko-KR" altLang="en-US" sz="950" kern="0" spc="0" dirty="0">
                        <a:solidFill>
                          <a:schemeClr val="tx1"/>
                        </a:solidFill>
                        <a:effectLst/>
                      </a:endParaRPr>
                    </a:p>
                    <a:p>
                      <a:pPr marL="0" marR="0" indent="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심사청구사실의 게재</a:t>
                      </a:r>
                      <a:r>
                        <a:rPr lang="en-US" altLang="ko-KR" sz="950" kern="0" spc="0" dirty="0">
                          <a:solidFill>
                            <a:schemeClr val="tx1"/>
                          </a:solidFill>
                          <a:effectLst/>
                        </a:rPr>
                        <a:t>(</a:t>
                      </a:r>
                      <a:r>
                        <a:rPr lang="ko-KR" altLang="en-US" sz="950" kern="0" spc="0" dirty="0">
                          <a:solidFill>
                            <a:schemeClr val="tx1"/>
                          </a:solidFill>
                          <a:effectLst/>
                        </a:rPr>
                        <a:t>法</a:t>
                      </a:r>
                      <a:r>
                        <a:rPr lang="en-US" altLang="ko-KR" sz="950" kern="0" spc="0" dirty="0">
                          <a:solidFill>
                            <a:schemeClr val="tx1"/>
                          </a:solidFill>
                          <a:effectLst/>
                        </a:rPr>
                        <a:t>60</a:t>
                      </a:r>
                      <a:r>
                        <a:rPr lang="ko-KR" altLang="en-US" sz="950" kern="0" spc="0" dirty="0">
                          <a:solidFill>
                            <a:schemeClr val="tx1"/>
                          </a:solidFill>
                          <a:effectLst/>
                        </a:rPr>
                        <a:t>②</a:t>
                      </a:r>
                      <a:r>
                        <a:rPr lang="en-US" altLang="ko-KR" sz="950" kern="0" spc="0" dirty="0">
                          <a:solidFill>
                            <a:schemeClr val="tx1"/>
                          </a:solidFill>
                          <a:effectLst/>
                        </a:rPr>
                        <a:t>)</a:t>
                      </a:r>
                      <a:endParaRPr lang="ko-KR" altLang="en-US" sz="950" kern="0" spc="0" dirty="0">
                        <a:solidFill>
                          <a:schemeClr val="tx1"/>
                        </a:solidFill>
                        <a:effectLst/>
                      </a:endParaRPr>
                    </a:p>
                    <a:p>
                      <a:pPr marL="0" marR="0" indent="0" algn="just" fontAlgn="base" latinLnBrk="1">
                        <a:lnSpc>
                          <a:spcPct val="100000"/>
                        </a:lnSpc>
                        <a:spcBef>
                          <a:spcPts val="0"/>
                        </a:spcBef>
                        <a:spcAft>
                          <a:spcPts val="0"/>
                        </a:spcAft>
                      </a:pPr>
                      <a:r>
                        <a:rPr lang="en-US" altLang="ko-KR" sz="950" kern="0" spc="0" dirty="0">
                          <a:solidFill>
                            <a:schemeClr val="tx1"/>
                          </a:solidFill>
                          <a:effectLst/>
                        </a:rPr>
                        <a:t>3.</a:t>
                      </a:r>
                      <a:r>
                        <a:rPr lang="ko-KR" altLang="en-US" sz="950" kern="0" spc="0" dirty="0">
                          <a:solidFill>
                            <a:schemeClr val="tx1"/>
                          </a:solidFill>
                          <a:effectLst/>
                        </a:rPr>
                        <a:t>심사청구사실의 통지</a:t>
                      </a:r>
                      <a:r>
                        <a:rPr lang="en-US" altLang="ko-KR" sz="950" kern="0" spc="0" dirty="0">
                          <a:solidFill>
                            <a:schemeClr val="tx1"/>
                          </a:solidFill>
                          <a:effectLst/>
                        </a:rPr>
                        <a:t>(</a:t>
                      </a:r>
                      <a:r>
                        <a:rPr lang="ko-KR" altLang="en-US" sz="950" kern="0" spc="0" dirty="0">
                          <a:solidFill>
                            <a:schemeClr val="tx1"/>
                          </a:solidFill>
                          <a:effectLst/>
                        </a:rPr>
                        <a:t>法</a:t>
                      </a:r>
                      <a:r>
                        <a:rPr lang="en-US" altLang="ko-KR" sz="950" kern="0" spc="0" dirty="0">
                          <a:solidFill>
                            <a:schemeClr val="tx1"/>
                          </a:solidFill>
                          <a:effectLst/>
                        </a:rPr>
                        <a:t>60</a:t>
                      </a:r>
                      <a:r>
                        <a:rPr lang="ko-KR" altLang="en-US" sz="950" kern="0" spc="0" dirty="0">
                          <a:solidFill>
                            <a:schemeClr val="tx1"/>
                          </a:solidFill>
                          <a:effectLst/>
                        </a:rPr>
                        <a:t>③</a:t>
                      </a:r>
                      <a:r>
                        <a:rPr lang="en-US" altLang="ko-KR" sz="950" kern="0" spc="0" dirty="0">
                          <a:solidFill>
                            <a:schemeClr val="tx1"/>
                          </a:solidFill>
                          <a:effectLst/>
                        </a:rPr>
                        <a:t>) – </a:t>
                      </a:r>
                      <a:r>
                        <a:rPr lang="ko-KR" altLang="en-US" sz="950" kern="0" spc="0" dirty="0">
                          <a:solidFill>
                            <a:schemeClr val="tx1"/>
                          </a:solidFill>
                          <a:effectLst/>
                        </a:rPr>
                        <a:t>法 </a:t>
                      </a:r>
                      <a:r>
                        <a:rPr lang="en-US" altLang="ko-KR" sz="950" kern="0" spc="0" dirty="0">
                          <a:solidFill>
                            <a:schemeClr val="tx1"/>
                          </a:solidFill>
                          <a:effectLst/>
                        </a:rPr>
                        <a:t>42</a:t>
                      </a:r>
                      <a:r>
                        <a:rPr lang="ko-KR" altLang="en-US" sz="950" kern="0" spc="0" dirty="0">
                          <a:solidFill>
                            <a:schemeClr val="tx1"/>
                          </a:solidFill>
                          <a:effectLst/>
                        </a:rPr>
                        <a:t>의</a:t>
                      </a:r>
                      <a:r>
                        <a:rPr lang="en-US" altLang="ko-KR" sz="950" kern="0" spc="0" dirty="0">
                          <a:solidFill>
                            <a:schemeClr val="tx1"/>
                          </a:solidFill>
                          <a:effectLst/>
                        </a:rPr>
                        <a:t>2, 42</a:t>
                      </a:r>
                      <a:r>
                        <a:rPr lang="ko-KR" altLang="en-US" sz="950" kern="0" spc="0" dirty="0">
                          <a:solidFill>
                            <a:schemeClr val="tx1"/>
                          </a:solidFill>
                          <a:effectLst/>
                        </a:rPr>
                        <a:t>의</a:t>
                      </a:r>
                      <a:r>
                        <a:rPr lang="en-US" altLang="ko-KR" sz="950" kern="0" spc="0" dirty="0">
                          <a:solidFill>
                            <a:schemeClr val="tx1"/>
                          </a:solidFill>
                          <a:effectLst/>
                        </a:rPr>
                        <a:t>3</a:t>
                      </a:r>
                      <a:endParaRPr lang="ko-KR" altLang="en-US" sz="950" kern="0" spc="0" dirty="0">
                        <a:solidFill>
                          <a:schemeClr val="tx1"/>
                        </a:solidFill>
                        <a:effectLst/>
                      </a:endParaRPr>
                    </a:p>
                    <a:p>
                      <a:pPr marL="68580" marR="0" indent="-68580" algn="just" fontAlgn="base" latinLnBrk="1">
                        <a:lnSpc>
                          <a:spcPct val="100000"/>
                        </a:lnSpc>
                        <a:spcBef>
                          <a:spcPts val="0"/>
                        </a:spcBef>
                        <a:spcAft>
                          <a:spcPts val="0"/>
                        </a:spcAft>
                      </a:pPr>
                      <a:r>
                        <a:rPr lang="en-US" altLang="ko-KR" sz="950" kern="0" spc="0" dirty="0">
                          <a:solidFill>
                            <a:schemeClr val="tx1"/>
                          </a:solidFill>
                          <a:effectLst/>
                        </a:rPr>
                        <a:t>4.</a:t>
                      </a:r>
                      <a:r>
                        <a:rPr lang="ko-KR" altLang="en-US" sz="950" kern="0" spc="0" dirty="0" err="1">
                          <a:solidFill>
                            <a:schemeClr val="tx1"/>
                          </a:solidFill>
                          <a:effectLst/>
                        </a:rPr>
                        <a:t>심사청구료</a:t>
                      </a:r>
                      <a:r>
                        <a:rPr lang="ko-KR" altLang="en-US" sz="950" kern="0" spc="0" dirty="0">
                          <a:solidFill>
                            <a:schemeClr val="tx1"/>
                          </a:solidFill>
                          <a:effectLst/>
                        </a:rPr>
                        <a:t> 납부</a:t>
                      </a:r>
                      <a:r>
                        <a:rPr lang="en-US" altLang="ko-KR" sz="950" kern="0" spc="0" dirty="0">
                          <a:solidFill>
                            <a:schemeClr val="tx1"/>
                          </a:solidFill>
                          <a:effectLst/>
                        </a:rPr>
                        <a:t>(</a:t>
                      </a:r>
                      <a:r>
                        <a:rPr lang="ko-KR" altLang="en-US" sz="950" kern="0" spc="0" dirty="0">
                          <a:solidFill>
                            <a:schemeClr val="tx1"/>
                          </a:solidFill>
                          <a:effectLst/>
                        </a:rPr>
                        <a:t>法</a:t>
                      </a:r>
                      <a:r>
                        <a:rPr lang="en-US" altLang="ko-KR" sz="950" kern="0" spc="0" dirty="0">
                          <a:solidFill>
                            <a:schemeClr val="tx1"/>
                          </a:solidFill>
                          <a:effectLst/>
                        </a:rPr>
                        <a:t>82</a:t>
                      </a:r>
                      <a:r>
                        <a:rPr lang="ko-KR" altLang="en-US" sz="950" kern="0" spc="0" dirty="0">
                          <a:solidFill>
                            <a:schemeClr val="tx1"/>
                          </a:solidFill>
                          <a:effectLst/>
                        </a:rPr>
                        <a:t>②</a:t>
                      </a:r>
                      <a:r>
                        <a:rPr lang="en-US" altLang="ko-KR" sz="950" kern="0" spc="0" dirty="0">
                          <a:solidFill>
                            <a:schemeClr val="tx1"/>
                          </a:solidFill>
                          <a:effectLst/>
                        </a:rPr>
                        <a:t>․16</a:t>
                      </a:r>
                      <a:r>
                        <a:rPr lang="ko-KR" altLang="en-US" sz="950" kern="0" spc="0" dirty="0">
                          <a:solidFill>
                            <a:schemeClr val="tx1"/>
                          </a:solidFill>
                          <a:effectLst/>
                        </a:rPr>
                        <a:t>①단서</a:t>
                      </a:r>
                      <a:r>
                        <a:rPr lang="en-US" altLang="ko-KR" sz="950" kern="0" spc="0" dirty="0">
                          <a:solidFill>
                            <a:schemeClr val="tx1"/>
                          </a:solidFill>
                          <a:effectLst/>
                        </a:rPr>
                        <a:t>) </a:t>
                      </a:r>
                      <a:endParaRPr lang="ko-KR" altLang="en-US" sz="950" kern="0" spc="0" dirty="0">
                        <a:solidFill>
                          <a:schemeClr val="tx1"/>
                        </a:solidFill>
                        <a:effectLst/>
                      </a:endParaRPr>
                    </a:p>
                  </a:txBody>
                  <a:tcPr marL="48271" marR="48271" marT="24135" marB="24135" anchor="ctr"/>
                </a:tc>
                <a:tc>
                  <a:txBody>
                    <a:bodyPr/>
                    <a:lstStyle/>
                    <a:p>
                      <a:pPr marL="0" marR="0" indent="0" algn="just" fontAlgn="base" latinLnBrk="1">
                        <a:lnSpc>
                          <a:spcPct val="100000"/>
                        </a:lnSpc>
                        <a:spcBef>
                          <a:spcPts val="0"/>
                        </a:spcBef>
                        <a:spcAft>
                          <a:spcPts val="0"/>
                        </a:spcAft>
                      </a:pPr>
                      <a:r>
                        <a:rPr lang="en-US" altLang="ko-KR" sz="950" kern="0" spc="0">
                          <a:solidFill>
                            <a:schemeClr val="tx1"/>
                          </a:solidFill>
                          <a:effectLst/>
                        </a:rPr>
                        <a:t>1.</a:t>
                      </a:r>
                      <a:r>
                        <a:rPr lang="ko-KR" altLang="en-US" sz="950" kern="0" spc="0">
                          <a:solidFill>
                            <a:schemeClr val="tx1"/>
                          </a:solidFill>
                          <a:effectLst/>
                        </a:rPr>
                        <a:t>우선심사의 신청</a:t>
                      </a:r>
                    </a:p>
                    <a:p>
                      <a:pPr marL="68580" marR="0" indent="-68580" algn="just" fontAlgn="base" latinLnBrk="1">
                        <a:lnSpc>
                          <a:spcPct val="100000"/>
                        </a:lnSpc>
                        <a:spcBef>
                          <a:spcPts val="0"/>
                        </a:spcBef>
                        <a:spcAft>
                          <a:spcPts val="0"/>
                        </a:spcAft>
                      </a:pPr>
                      <a:r>
                        <a:rPr lang="en-US" altLang="ko-KR" sz="950" kern="0" spc="0">
                          <a:solidFill>
                            <a:schemeClr val="tx1"/>
                          </a:solidFill>
                          <a:effectLst/>
                        </a:rPr>
                        <a:t>2.</a:t>
                      </a:r>
                      <a:r>
                        <a:rPr lang="ko-KR" altLang="en-US" sz="950" kern="0" spc="0">
                          <a:solidFill>
                            <a:schemeClr val="tx1"/>
                          </a:solidFill>
                          <a:effectLst/>
                        </a:rPr>
                        <a:t>우선심사여부의 결정</a:t>
                      </a:r>
                      <a:r>
                        <a:rPr lang="en-US" altLang="ko-KR" sz="950" kern="0" spc="0">
                          <a:solidFill>
                            <a:schemeClr val="tx1"/>
                          </a:solidFill>
                          <a:effectLst/>
                        </a:rPr>
                        <a:t>-</a:t>
                      </a:r>
                      <a:r>
                        <a:rPr lang="ko-KR" altLang="en-US" sz="950" kern="0" spc="0">
                          <a:solidFill>
                            <a:schemeClr val="tx1"/>
                          </a:solidFill>
                          <a:effectLst/>
                        </a:rPr>
                        <a:t>우선심사 각하 불복</a:t>
                      </a:r>
                      <a:r>
                        <a:rPr lang="en-US" altLang="ko-KR" sz="950" kern="0" spc="0">
                          <a:solidFill>
                            <a:schemeClr val="tx1"/>
                          </a:solidFill>
                          <a:effectLst/>
                        </a:rPr>
                        <a:t>X</a:t>
                      </a:r>
                      <a:endParaRPr lang="ko-KR" altLang="en-US" sz="950" kern="0" spc="0">
                        <a:solidFill>
                          <a:schemeClr val="tx1"/>
                        </a:solidFill>
                        <a:effectLst/>
                      </a:endParaRPr>
                    </a:p>
                  </a:txBody>
                  <a:tcPr marL="48271" marR="48271" marT="24135" marB="24135" anchor="ctr"/>
                </a:tc>
                <a:tc>
                  <a:txBody>
                    <a:bodyPr/>
                    <a:lstStyle/>
                    <a:p>
                      <a:pPr marL="0" marR="0" indent="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서면</a:t>
                      </a:r>
                      <a:r>
                        <a:rPr lang="en-US" altLang="ko-KR" sz="950" kern="0" spc="0" dirty="0">
                          <a:solidFill>
                            <a:schemeClr val="tx1"/>
                          </a:solidFill>
                          <a:effectLst/>
                        </a:rPr>
                        <a:t>+</a:t>
                      </a:r>
                      <a:r>
                        <a:rPr lang="ko-KR" altLang="en-US" sz="950" kern="0" spc="0" dirty="0">
                          <a:solidFill>
                            <a:schemeClr val="tx1"/>
                          </a:solidFill>
                          <a:effectLst/>
                        </a:rPr>
                        <a:t>이유</a:t>
                      </a:r>
                    </a:p>
                    <a:p>
                      <a:pPr marL="71120" marR="0" indent="-7112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지식재산처장이 등본 송달</a:t>
                      </a:r>
                    </a:p>
                  </a:txBody>
                  <a:tcPr marL="48271" marR="48271" marT="24135" marB="24135" anchor="ctr"/>
                </a:tc>
                <a:tc>
                  <a:txBody>
                    <a:bodyPr/>
                    <a:lstStyle/>
                    <a:p>
                      <a:pPr marL="73660" marR="0" indent="-73660" algn="just" fontAlgn="base" latinLnBrk="1">
                        <a:lnSpc>
                          <a:spcPct val="100000"/>
                        </a:lnSpc>
                        <a:spcBef>
                          <a:spcPts val="0"/>
                        </a:spcBef>
                        <a:spcAft>
                          <a:spcPts val="0"/>
                        </a:spcAft>
                      </a:pPr>
                      <a:r>
                        <a:rPr lang="en-US" altLang="ko-KR" sz="950" kern="0" spc="-20" dirty="0">
                          <a:solidFill>
                            <a:schemeClr val="tx1"/>
                          </a:solidFill>
                          <a:effectLst/>
                        </a:rPr>
                        <a:t>1.</a:t>
                      </a:r>
                      <a:r>
                        <a:rPr lang="ko-KR" altLang="en-US" sz="950" kern="0" spc="-20" dirty="0" err="1">
                          <a:solidFill>
                            <a:schemeClr val="tx1"/>
                          </a:solidFill>
                          <a:effectLst/>
                        </a:rPr>
                        <a:t>명세서등의</a:t>
                      </a:r>
                      <a:r>
                        <a:rPr lang="ko-KR" altLang="en-US" sz="950" kern="0" spc="-20" dirty="0">
                          <a:solidFill>
                            <a:schemeClr val="tx1"/>
                          </a:solidFill>
                          <a:effectLst/>
                        </a:rPr>
                        <a:t> 보정서에 그 취지를 병기하여 제출</a:t>
                      </a:r>
                    </a:p>
                    <a:p>
                      <a:pPr marL="73660" marR="0" indent="-73660" algn="just" fontAlgn="base" latinLnBrk="1">
                        <a:lnSpc>
                          <a:spcPct val="100000"/>
                        </a:lnSpc>
                        <a:spcBef>
                          <a:spcPts val="0"/>
                        </a:spcBef>
                        <a:spcAft>
                          <a:spcPts val="0"/>
                        </a:spcAft>
                      </a:pPr>
                      <a:r>
                        <a:rPr lang="en-US" altLang="ko-KR" sz="950" kern="0" spc="-20" dirty="0">
                          <a:solidFill>
                            <a:schemeClr val="tx1"/>
                          </a:solidFill>
                          <a:effectLst/>
                        </a:rPr>
                        <a:t>2.</a:t>
                      </a:r>
                      <a:r>
                        <a:rPr lang="ko-KR" altLang="en-US" sz="950" kern="0" spc="-20" dirty="0">
                          <a:solidFill>
                            <a:schemeClr val="tx1"/>
                          </a:solidFill>
                          <a:effectLst/>
                        </a:rPr>
                        <a:t>출원인은 재심사청구와 함께 의견서 제출 가능</a:t>
                      </a:r>
                    </a:p>
                  </a:txBody>
                  <a:tcPr marL="48271" marR="48271" marT="24135" marB="24135" anchor="ctr"/>
                </a:tc>
                <a:extLst>
                  <a:ext uri="{0D108BD9-81ED-4DB2-BD59-A6C34878D82A}">
                    <a16:rowId xmlns:a16="http://schemas.microsoft.com/office/drawing/2014/main" val="10006"/>
                  </a:ext>
                </a:extLst>
              </a:tr>
              <a:tr h="541148">
                <a:tc rowSpan="2" gridSpan="2">
                  <a:txBody>
                    <a:bodyPr/>
                    <a:lstStyle/>
                    <a:p>
                      <a:pPr marL="0" marR="0" indent="0" algn="ctr" fontAlgn="base" latinLnBrk="0">
                        <a:lnSpc>
                          <a:spcPct val="100000"/>
                        </a:lnSpc>
                        <a:spcBef>
                          <a:spcPts val="0"/>
                        </a:spcBef>
                        <a:spcAft>
                          <a:spcPts val="0"/>
                        </a:spcAft>
                      </a:pPr>
                      <a:r>
                        <a:rPr lang="ko-KR" altLang="en-US" sz="950" b="1" kern="0" spc="0">
                          <a:solidFill>
                            <a:schemeClr val="tx1"/>
                          </a:solidFill>
                          <a:effectLst/>
                        </a:rPr>
                        <a:t>효과</a:t>
                      </a:r>
                    </a:p>
                  </a:txBody>
                  <a:tcPr marL="48271" marR="48271" marT="24135" marB="24135" anchor="ctr"/>
                </a:tc>
                <a:tc rowSpan="2"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적</a:t>
                      </a:r>
                    </a:p>
                    <a:p>
                      <a:pPr marL="0" marR="0" indent="0" algn="ctr" fontAlgn="base" latinLnBrk="0">
                        <a:lnSpc>
                          <a:spcPct val="100000"/>
                        </a:lnSpc>
                        <a:spcBef>
                          <a:spcPts val="0"/>
                        </a:spcBef>
                        <a:spcAft>
                          <a:spcPts val="0"/>
                        </a:spcAft>
                      </a:pPr>
                      <a:r>
                        <a:rPr lang="ko-KR" altLang="en-US" sz="950" b="1" kern="0" spc="0" dirty="0">
                          <a:solidFill>
                            <a:schemeClr val="tx1"/>
                          </a:solidFill>
                          <a:effectLst/>
                        </a:rPr>
                        <a:t>법</a:t>
                      </a:r>
                    </a:p>
                  </a:txBody>
                  <a:tcPr marL="48271" marR="48271" marT="24135" marB="24135" anchor="ctr"/>
                </a:tc>
                <a:tc>
                  <a:txBody>
                    <a:bodyPr/>
                    <a:lstStyle/>
                    <a:p>
                      <a:pPr marL="0" marR="0" indent="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심사의 개시</a:t>
                      </a:r>
                      <a:r>
                        <a:rPr lang="en-US" altLang="ko-KR" sz="950" kern="0" spc="0" dirty="0">
                          <a:solidFill>
                            <a:schemeClr val="tx1"/>
                          </a:solidFill>
                          <a:effectLst/>
                        </a:rPr>
                        <a:t>(</a:t>
                      </a:r>
                      <a:r>
                        <a:rPr lang="ko-KR" altLang="en-US" sz="950" kern="0" spc="0" dirty="0">
                          <a:solidFill>
                            <a:schemeClr val="tx1"/>
                          </a:solidFill>
                          <a:effectLst/>
                        </a:rPr>
                        <a:t>法</a:t>
                      </a:r>
                      <a:r>
                        <a:rPr lang="en-US" altLang="ko-KR" sz="950" kern="0" spc="0" dirty="0">
                          <a:solidFill>
                            <a:schemeClr val="tx1"/>
                          </a:solidFill>
                          <a:effectLst/>
                        </a:rPr>
                        <a:t>59</a:t>
                      </a:r>
                      <a:r>
                        <a:rPr lang="ko-KR" altLang="en-US" sz="950" kern="0" spc="0" dirty="0">
                          <a:solidFill>
                            <a:schemeClr val="tx1"/>
                          </a:solidFill>
                          <a:effectLst/>
                        </a:rPr>
                        <a:t>①</a:t>
                      </a:r>
                      <a:r>
                        <a:rPr lang="en-US" altLang="ko-KR" sz="950" kern="0" spc="0" dirty="0">
                          <a:solidFill>
                            <a:schemeClr val="tx1"/>
                          </a:solidFill>
                          <a:effectLst/>
                        </a:rPr>
                        <a:t>)</a:t>
                      </a:r>
                      <a:endParaRPr lang="ko-KR" altLang="en-US" sz="950" kern="0" spc="0" dirty="0">
                        <a:solidFill>
                          <a:schemeClr val="tx1"/>
                        </a:solidFill>
                        <a:effectLst/>
                      </a:endParaRPr>
                    </a:p>
                    <a:p>
                      <a:pPr marL="0" marR="0" indent="0" algn="just" fontAlgn="base" latinLnBrk="1">
                        <a:lnSpc>
                          <a:spcPct val="100000"/>
                        </a:lnSpc>
                        <a:spcBef>
                          <a:spcPts val="0"/>
                        </a:spcBef>
                        <a:spcAft>
                          <a:spcPts val="0"/>
                        </a:spcAft>
                      </a:pPr>
                      <a:r>
                        <a:rPr lang="ko-KR" altLang="en-US" sz="950" kern="0" spc="0" dirty="0">
                          <a:solidFill>
                            <a:schemeClr val="tx1"/>
                          </a:solidFill>
                          <a:effectLst/>
                        </a:rPr>
                        <a:t>①원칙 </a:t>
                      </a:r>
                      <a:r>
                        <a:rPr lang="en-US" altLang="ko-KR" sz="950" kern="0" spc="0" dirty="0">
                          <a:solidFill>
                            <a:schemeClr val="tx1"/>
                          </a:solidFill>
                          <a:effectLst/>
                        </a:rPr>
                        <a:t>- </a:t>
                      </a:r>
                      <a:r>
                        <a:rPr lang="ko-KR" altLang="en-US" sz="950" kern="0" spc="0" dirty="0">
                          <a:solidFill>
                            <a:schemeClr val="tx1"/>
                          </a:solidFill>
                          <a:effectLst/>
                        </a:rPr>
                        <a:t>심사청구순위</a:t>
                      </a:r>
                    </a:p>
                    <a:p>
                      <a:pPr marL="115570" marR="0" indent="-115570" algn="just" fontAlgn="base" latinLnBrk="1">
                        <a:lnSpc>
                          <a:spcPct val="100000"/>
                        </a:lnSpc>
                        <a:spcBef>
                          <a:spcPts val="0"/>
                        </a:spcBef>
                        <a:spcAft>
                          <a:spcPts val="0"/>
                        </a:spcAft>
                      </a:pPr>
                      <a:r>
                        <a:rPr lang="ko-KR" altLang="en-US" sz="950" kern="0" spc="0" dirty="0">
                          <a:solidFill>
                            <a:schemeClr val="tx1"/>
                          </a:solidFill>
                          <a:effectLst/>
                        </a:rPr>
                        <a:t>②예외 </a:t>
                      </a:r>
                      <a:r>
                        <a:rPr lang="en-US" altLang="ko-KR" sz="950" kern="0" spc="0" dirty="0">
                          <a:solidFill>
                            <a:schemeClr val="tx1"/>
                          </a:solidFill>
                          <a:effectLst/>
                        </a:rPr>
                        <a:t>- </a:t>
                      </a:r>
                      <a:r>
                        <a:rPr lang="ko-KR" altLang="en-US" sz="950" kern="0" spc="0" dirty="0">
                          <a:solidFill>
                            <a:schemeClr val="tx1"/>
                          </a:solidFill>
                          <a:effectLst/>
                        </a:rPr>
                        <a:t>분할</a:t>
                      </a:r>
                      <a:r>
                        <a:rPr lang="en-US" altLang="ko-KR" sz="950" kern="0" spc="0" dirty="0">
                          <a:solidFill>
                            <a:schemeClr val="tx1"/>
                          </a:solidFill>
                          <a:effectLst/>
                        </a:rPr>
                        <a:t>/</a:t>
                      </a:r>
                      <a:r>
                        <a:rPr lang="ko-KR" altLang="en-US" sz="950" kern="0" spc="0" dirty="0">
                          <a:solidFill>
                            <a:schemeClr val="tx1"/>
                          </a:solidFill>
                          <a:effectLst/>
                        </a:rPr>
                        <a:t>분리</a:t>
                      </a:r>
                      <a:r>
                        <a:rPr lang="en-US" altLang="ko-KR" sz="950" kern="0" spc="0" dirty="0">
                          <a:solidFill>
                            <a:schemeClr val="tx1"/>
                          </a:solidFill>
                          <a:effectLst/>
                        </a:rPr>
                        <a:t>/</a:t>
                      </a:r>
                      <a:r>
                        <a:rPr lang="ko-KR" altLang="en-US" sz="950" kern="0" spc="0" dirty="0">
                          <a:solidFill>
                            <a:schemeClr val="tx1"/>
                          </a:solidFill>
                          <a:effectLst/>
                        </a:rPr>
                        <a:t>변경출원</a:t>
                      </a:r>
                      <a:r>
                        <a:rPr lang="en-US" altLang="ko-KR" sz="950" kern="0" spc="0" dirty="0">
                          <a:solidFill>
                            <a:schemeClr val="tx1"/>
                          </a:solidFill>
                          <a:effectLst/>
                        </a:rPr>
                        <a:t>, </a:t>
                      </a:r>
                      <a:r>
                        <a:rPr lang="ko-KR" altLang="en-US" sz="950" kern="0" spc="0" dirty="0">
                          <a:solidFill>
                            <a:schemeClr val="tx1"/>
                          </a:solidFill>
                          <a:effectLst/>
                        </a:rPr>
                        <a:t>우선심사</a:t>
                      </a:r>
                    </a:p>
                    <a:p>
                      <a:pPr marL="0" marR="0" indent="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취하금지</a:t>
                      </a:r>
                      <a:r>
                        <a:rPr lang="en-US" altLang="ko-KR" sz="950" kern="0" spc="0" dirty="0">
                          <a:solidFill>
                            <a:schemeClr val="tx1"/>
                          </a:solidFill>
                          <a:effectLst/>
                        </a:rPr>
                        <a:t>(</a:t>
                      </a:r>
                      <a:r>
                        <a:rPr lang="ko-KR" altLang="en-US" sz="950" kern="0" spc="0" dirty="0">
                          <a:solidFill>
                            <a:schemeClr val="tx1"/>
                          </a:solidFill>
                          <a:effectLst/>
                        </a:rPr>
                        <a:t>法</a:t>
                      </a:r>
                      <a:r>
                        <a:rPr lang="en-US" altLang="ko-KR" sz="950" kern="0" spc="0" dirty="0">
                          <a:solidFill>
                            <a:schemeClr val="tx1"/>
                          </a:solidFill>
                          <a:effectLst/>
                        </a:rPr>
                        <a:t>59</a:t>
                      </a:r>
                      <a:r>
                        <a:rPr lang="ko-KR" altLang="en-US" sz="950" kern="0" spc="0" dirty="0">
                          <a:solidFill>
                            <a:schemeClr val="tx1"/>
                          </a:solidFill>
                          <a:effectLst/>
                        </a:rPr>
                        <a:t>④</a:t>
                      </a:r>
                      <a:r>
                        <a:rPr lang="en-US" altLang="ko-KR" sz="950" kern="0" spc="0" dirty="0">
                          <a:solidFill>
                            <a:schemeClr val="tx1"/>
                          </a:solidFill>
                          <a:effectLst/>
                        </a:rPr>
                        <a:t>)</a:t>
                      </a:r>
                      <a:endParaRPr lang="ko-KR" altLang="en-US" sz="950" kern="0" spc="0" dirty="0">
                        <a:solidFill>
                          <a:schemeClr val="tx1"/>
                        </a:solidFill>
                        <a:effectLst/>
                      </a:endParaRPr>
                    </a:p>
                  </a:txBody>
                  <a:tcPr marL="48271" marR="48271" marT="24135" marB="24135" anchor="ctr"/>
                </a:tc>
                <a:tc>
                  <a:txBody>
                    <a:bodyPr/>
                    <a:lstStyle/>
                    <a:p>
                      <a:pPr marL="0" marR="0" indent="0" algn="just" fontAlgn="base" latinLnBrk="1">
                        <a:lnSpc>
                          <a:spcPct val="100000"/>
                        </a:lnSpc>
                        <a:spcBef>
                          <a:spcPts val="0"/>
                        </a:spcBef>
                        <a:spcAft>
                          <a:spcPts val="0"/>
                        </a:spcAft>
                      </a:pPr>
                      <a:r>
                        <a:rPr lang="ko-KR" altLang="en-US" sz="950" kern="0" spc="0">
                          <a:solidFill>
                            <a:schemeClr val="tx1"/>
                          </a:solidFill>
                          <a:effectLst/>
                        </a:rPr>
                        <a:t>우선심사 </a:t>
                      </a:r>
                      <a:r>
                        <a:rPr lang="en-US" altLang="ko-KR" sz="950" kern="0" spc="0">
                          <a:solidFill>
                            <a:schemeClr val="tx1"/>
                          </a:solidFill>
                          <a:effectLst/>
                        </a:rPr>
                        <a:t>- </a:t>
                      </a:r>
                      <a:r>
                        <a:rPr lang="ko-KR" altLang="en-US" sz="950" kern="0" spc="0">
                          <a:solidFill>
                            <a:schemeClr val="tx1"/>
                          </a:solidFill>
                          <a:effectLst/>
                        </a:rPr>
                        <a:t>신속한 권리구제 및 권리이용</a:t>
                      </a:r>
                    </a:p>
                  </a:txBody>
                  <a:tcPr marL="48271" marR="48271" marT="24135" marB="24135" anchor="ctr"/>
                </a:tc>
                <a:tc>
                  <a:txBody>
                    <a:bodyPr/>
                    <a:lstStyle/>
                    <a:p>
                      <a:pPr marL="0" marR="0" indent="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특허료납부</a:t>
                      </a:r>
                    </a:p>
                    <a:p>
                      <a:pPr marL="0" marR="0" indent="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직권보정</a:t>
                      </a:r>
                      <a:endParaRPr lang="en-US" altLang="ko-KR" sz="950" kern="0" spc="0" dirty="0">
                        <a:solidFill>
                          <a:schemeClr val="tx1"/>
                        </a:solidFill>
                        <a:effectLst/>
                      </a:endParaRPr>
                    </a:p>
                    <a:p>
                      <a:pPr marL="0" marR="0" indent="0" algn="just" fontAlgn="base" latinLnBrk="1">
                        <a:lnSpc>
                          <a:spcPct val="100000"/>
                        </a:lnSpc>
                        <a:spcBef>
                          <a:spcPts val="0"/>
                        </a:spcBef>
                        <a:spcAft>
                          <a:spcPts val="0"/>
                        </a:spcAft>
                      </a:pPr>
                      <a:r>
                        <a:rPr lang="en-US" altLang="ko-KR" sz="950" kern="0" spc="0" dirty="0">
                          <a:solidFill>
                            <a:schemeClr val="tx1"/>
                          </a:solidFill>
                          <a:effectLst/>
                        </a:rPr>
                        <a:t>3.</a:t>
                      </a:r>
                      <a:r>
                        <a:rPr lang="ko-KR" altLang="en-US" sz="950" kern="0" spc="0" dirty="0">
                          <a:solidFill>
                            <a:schemeClr val="tx1"/>
                          </a:solidFill>
                          <a:effectLst/>
                        </a:rPr>
                        <a:t>직권재심사</a:t>
                      </a:r>
                      <a:endParaRPr lang="en-US" altLang="ko-KR" sz="950" kern="0" spc="0" dirty="0">
                        <a:solidFill>
                          <a:schemeClr val="tx1"/>
                        </a:solidFill>
                        <a:effectLst/>
                      </a:endParaRPr>
                    </a:p>
                    <a:p>
                      <a:pPr marL="0" marR="0" indent="0" algn="just" fontAlgn="base" latinLnBrk="1">
                        <a:lnSpc>
                          <a:spcPct val="100000"/>
                        </a:lnSpc>
                        <a:spcBef>
                          <a:spcPts val="0"/>
                        </a:spcBef>
                        <a:spcAft>
                          <a:spcPts val="0"/>
                        </a:spcAft>
                      </a:pPr>
                      <a:r>
                        <a:rPr lang="en-US" altLang="ko-KR" sz="950" kern="0" spc="0" dirty="0">
                          <a:solidFill>
                            <a:schemeClr val="tx1"/>
                          </a:solidFill>
                          <a:effectLst/>
                        </a:rPr>
                        <a:t>4.</a:t>
                      </a:r>
                      <a:r>
                        <a:rPr lang="ko-KR" altLang="en-US" sz="950" kern="0" spc="0" dirty="0">
                          <a:solidFill>
                            <a:schemeClr val="tx1"/>
                          </a:solidFill>
                          <a:effectLst/>
                        </a:rPr>
                        <a:t>재심사청구</a:t>
                      </a:r>
                    </a:p>
                    <a:p>
                      <a:pPr marL="87630" marR="0" indent="-87630" algn="just" fontAlgn="base" latinLnBrk="1">
                        <a:lnSpc>
                          <a:spcPct val="100000"/>
                        </a:lnSpc>
                        <a:spcBef>
                          <a:spcPts val="0"/>
                        </a:spcBef>
                        <a:spcAft>
                          <a:spcPts val="0"/>
                        </a:spcAft>
                      </a:pPr>
                      <a:r>
                        <a:rPr lang="en-US" altLang="ko-KR" sz="950" kern="0" spc="0" dirty="0">
                          <a:solidFill>
                            <a:schemeClr val="tx1"/>
                          </a:solidFill>
                          <a:effectLst/>
                        </a:rPr>
                        <a:t>5.</a:t>
                      </a:r>
                      <a:r>
                        <a:rPr lang="ko-KR" altLang="en-US" sz="950" kern="0" spc="0" dirty="0">
                          <a:solidFill>
                            <a:schemeClr val="tx1"/>
                          </a:solidFill>
                          <a:effectLst/>
                        </a:rPr>
                        <a:t>공지예외적용주장</a:t>
                      </a:r>
                      <a:r>
                        <a:rPr lang="en-US" altLang="ko-KR" sz="950" kern="0" spc="0" dirty="0">
                          <a:solidFill>
                            <a:schemeClr val="tx1"/>
                          </a:solidFill>
                          <a:effectLst/>
                        </a:rPr>
                        <a:t>, </a:t>
                      </a:r>
                      <a:r>
                        <a:rPr lang="ko-KR" altLang="en-US" sz="950" kern="0" spc="0" dirty="0">
                          <a:solidFill>
                            <a:schemeClr val="tx1"/>
                          </a:solidFill>
                          <a:effectLst/>
                        </a:rPr>
                        <a:t>분할출원 또는 변경출원</a:t>
                      </a:r>
                    </a:p>
                  </a:txBody>
                  <a:tcPr marL="48271" marR="48271" marT="24135" marB="24135" anchor="ctr"/>
                </a:tc>
                <a:tc>
                  <a:txBody>
                    <a:bodyPr/>
                    <a:lstStyle/>
                    <a:p>
                      <a:pPr marL="73660" marR="0" indent="-7366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특허여부결정은 취소된 것으로 보고</a:t>
                      </a:r>
                      <a:r>
                        <a:rPr lang="en-US" altLang="ko-KR" sz="950" kern="0" spc="0" dirty="0">
                          <a:solidFill>
                            <a:schemeClr val="tx1"/>
                          </a:solidFill>
                          <a:effectLst/>
                        </a:rPr>
                        <a:t>(</a:t>
                      </a:r>
                      <a:r>
                        <a:rPr lang="ko-KR" altLang="en-US" sz="950" kern="0" spc="0" dirty="0">
                          <a:solidFill>
                            <a:schemeClr val="tx1"/>
                          </a:solidFill>
                          <a:effectLst/>
                        </a:rPr>
                        <a:t>法</a:t>
                      </a:r>
                      <a:r>
                        <a:rPr lang="en-US" altLang="ko-KR" sz="950" kern="0" spc="0" dirty="0">
                          <a:solidFill>
                            <a:schemeClr val="tx1"/>
                          </a:solidFill>
                          <a:effectLst/>
                        </a:rPr>
                        <a:t>67</a:t>
                      </a:r>
                      <a:r>
                        <a:rPr lang="ko-KR" altLang="en-US" sz="950" kern="0" spc="0" dirty="0">
                          <a:solidFill>
                            <a:schemeClr val="tx1"/>
                          </a:solidFill>
                          <a:effectLst/>
                        </a:rPr>
                        <a:t>의</a:t>
                      </a:r>
                      <a:r>
                        <a:rPr lang="en-US" altLang="ko-KR" sz="950" kern="0" spc="0" dirty="0">
                          <a:solidFill>
                            <a:schemeClr val="tx1"/>
                          </a:solidFill>
                          <a:effectLst/>
                        </a:rPr>
                        <a:t>2</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③</a:t>
                      </a:r>
                      <a:r>
                        <a:rPr lang="en-US" altLang="ko-KR" sz="950" kern="0" spc="0" dirty="0">
                          <a:solidFill>
                            <a:schemeClr val="tx1"/>
                          </a:solidFill>
                          <a:effectLst/>
                        </a:rPr>
                        <a:t>), </a:t>
                      </a:r>
                      <a:r>
                        <a:rPr lang="ko-KR" altLang="en-US" sz="950" kern="0" spc="0" dirty="0">
                          <a:solidFill>
                            <a:schemeClr val="tx1"/>
                          </a:solidFill>
                          <a:effectLst/>
                        </a:rPr>
                        <a:t>재심사를 진행</a:t>
                      </a: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출원인은 재심사에 따른 </a:t>
                      </a:r>
                      <a:r>
                        <a:rPr lang="ko-KR" altLang="en-US" sz="950" kern="0" spc="0" dirty="0" err="1">
                          <a:solidFill>
                            <a:schemeClr val="tx1"/>
                          </a:solidFill>
                          <a:effectLst/>
                        </a:rPr>
                        <a:t>거절결정등본송달후</a:t>
                      </a:r>
                      <a:r>
                        <a:rPr lang="ko-KR" altLang="en-US" sz="950" kern="0" spc="0" dirty="0">
                          <a:solidFill>
                            <a:schemeClr val="tx1"/>
                          </a:solidFill>
                          <a:effectLst/>
                        </a:rPr>
                        <a:t> </a:t>
                      </a:r>
                      <a:r>
                        <a:rPr lang="en-US" altLang="ko-KR" sz="950" kern="0" spc="0" dirty="0">
                          <a:solidFill>
                            <a:schemeClr val="tx1"/>
                          </a:solidFill>
                          <a:effectLst/>
                        </a:rPr>
                        <a:t>3</a:t>
                      </a:r>
                      <a:r>
                        <a:rPr lang="ko-KR" altLang="en-US" sz="950" kern="0" spc="0" dirty="0" err="1">
                          <a:solidFill>
                            <a:schemeClr val="tx1"/>
                          </a:solidFill>
                          <a:effectLst/>
                        </a:rPr>
                        <a:t>개월이내에</a:t>
                      </a:r>
                      <a:r>
                        <a:rPr lang="ko-KR" altLang="en-US" sz="950" kern="0" spc="0" dirty="0">
                          <a:solidFill>
                            <a:schemeClr val="tx1"/>
                          </a:solidFill>
                          <a:effectLst/>
                        </a:rPr>
                        <a:t> 거절결정불복심판</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132</a:t>
                      </a:r>
                      <a:r>
                        <a:rPr lang="ko-KR" altLang="en-US" sz="950" kern="0" spc="0" dirty="0">
                          <a:solidFill>
                            <a:schemeClr val="tx1"/>
                          </a:solidFill>
                          <a:effectLst/>
                        </a:rPr>
                        <a:t>의</a:t>
                      </a:r>
                      <a:r>
                        <a:rPr lang="en-US" altLang="ko-KR" sz="950" kern="0" spc="0" dirty="0">
                          <a:solidFill>
                            <a:schemeClr val="tx1"/>
                          </a:solidFill>
                          <a:effectLst/>
                        </a:rPr>
                        <a:t>2)</a:t>
                      </a:r>
                      <a:r>
                        <a:rPr lang="ko-KR" altLang="en-US" sz="950" kern="0" spc="0" dirty="0">
                          <a:solidFill>
                            <a:schemeClr val="tx1"/>
                          </a:solidFill>
                          <a:effectLst/>
                        </a:rPr>
                        <a:t>을 청구하거나 분할출원</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52)</a:t>
                      </a:r>
                      <a:r>
                        <a:rPr lang="ko-KR" altLang="en-US" sz="950" kern="0" spc="0" dirty="0">
                          <a:solidFill>
                            <a:schemeClr val="tx1"/>
                          </a:solidFill>
                          <a:effectLst/>
                        </a:rPr>
                        <a:t>可</a:t>
                      </a:r>
                    </a:p>
                    <a:p>
                      <a:pPr marL="0" marR="0" indent="0" algn="just" fontAlgn="base" latinLnBrk="1">
                        <a:lnSpc>
                          <a:spcPct val="100000"/>
                        </a:lnSpc>
                        <a:spcBef>
                          <a:spcPts val="0"/>
                        </a:spcBef>
                        <a:spcAft>
                          <a:spcPts val="0"/>
                        </a:spcAft>
                      </a:pPr>
                      <a:r>
                        <a:rPr lang="en-US" altLang="ko-KR" sz="950" kern="0" spc="0" dirty="0">
                          <a:solidFill>
                            <a:schemeClr val="tx1"/>
                          </a:solidFill>
                          <a:effectLst/>
                        </a:rPr>
                        <a:t>3.</a:t>
                      </a:r>
                      <a:r>
                        <a:rPr lang="ko-KR" altLang="en-US" sz="950" kern="0" spc="0" dirty="0" err="1">
                          <a:solidFill>
                            <a:schemeClr val="tx1"/>
                          </a:solidFill>
                          <a:effectLst/>
                        </a:rPr>
                        <a:t>보정각하의</a:t>
                      </a:r>
                      <a:r>
                        <a:rPr lang="ko-KR" altLang="en-US" sz="950" kern="0" spc="0" dirty="0">
                          <a:solidFill>
                            <a:schemeClr val="tx1"/>
                          </a:solidFill>
                          <a:effectLst/>
                        </a:rPr>
                        <a:t> 예외</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51</a:t>
                      </a:r>
                      <a:r>
                        <a:rPr lang="ko-KR" altLang="en-US" sz="950" kern="0" spc="0" dirty="0">
                          <a:solidFill>
                            <a:schemeClr val="tx1"/>
                          </a:solidFill>
                          <a:effectLst/>
                        </a:rPr>
                        <a:t>①단서</a:t>
                      </a:r>
                      <a:r>
                        <a:rPr lang="en-US" altLang="ko-KR" sz="950" kern="0" spc="0" dirty="0">
                          <a:solidFill>
                            <a:schemeClr val="tx1"/>
                          </a:solidFill>
                          <a:effectLst/>
                        </a:rPr>
                        <a:t>).</a:t>
                      </a:r>
                      <a:endParaRPr lang="ko-KR" altLang="en-US" sz="950" kern="0" spc="0" dirty="0">
                        <a:solidFill>
                          <a:schemeClr val="tx1"/>
                        </a:solidFill>
                        <a:effectLst/>
                      </a:endParaRPr>
                    </a:p>
                    <a:p>
                      <a:pPr marL="0" marR="0" indent="0" algn="just" fontAlgn="base" latinLnBrk="1">
                        <a:lnSpc>
                          <a:spcPct val="100000"/>
                        </a:lnSpc>
                        <a:spcBef>
                          <a:spcPts val="0"/>
                        </a:spcBef>
                        <a:spcAft>
                          <a:spcPts val="0"/>
                        </a:spcAft>
                      </a:pPr>
                      <a:r>
                        <a:rPr lang="en-US" altLang="ko-KR" sz="950" kern="0" spc="0" dirty="0">
                          <a:solidFill>
                            <a:schemeClr val="tx1"/>
                          </a:solidFill>
                          <a:effectLst/>
                        </a:rPr>
                        <a:t>4.</a:t>
                      </a:r>
                      <a:r>
                        <a:rPr lang="ko-KR" altLang="en-US" sz="950" kern="0" spc="0" dirty="0">
                          <a:solidFill>
                            <a:schemeClr val="tx1"/>
                          </a:solidFill>
                          <a:effectLst/>
                        </a:rPr>
                        <a:t>재심사의 청구는 취하 不可</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67</a:t>
                      </a:r>
                      <a:r>
                        <a:rPr lang="ko-KR" altLang="en-US" sz="950" kern="0" spc="0" dirty="0">
                          <a:solidFill>
                            <a:schemeClr val="tx1"/>
                          </a:solidFill>
                          <a:effectLst/>
                        </a:rPr>
                        <a:t>의</a:t>
                      </a:r>
                      <a:r>
                        <a:rPr lang="en-US" altLang="ko-KR" sz="950" kern="0" spc="0" dirty="0">
                          <a:solidFill>
                            <a:schemeClr val="tx1"/>
                          </a:solidFill>
                          <a:effectLst/>
                        </a:rPr>
                        <a:t>2</a:t>
                      </a:r>
                      <a:r>
                        <a:rPr lang="ko-KR" altLang="en-US" sz="950" kern="0" spc="0" dirty="0">
                          <a:solidFill>
                            <a:schemeClr val="tx1"/>
                          </a:solidFill>
                          <a:effectLst/>
                        </a:rPr>
                        <a:t>④</a:t>
                      </a:r>
                      <a:r>
                        <a:rPr lang="en-US" altLang="ko-KR" sz="950" kern="0" spc="0" dirty="0">
                          <a:solidFill>
                            <a:schemeClr val="tx1"/>
                          </a:solidFill>
                          <a:effectLst/>
                        </a:rPr>
                        <a:t>).</a:t>
                      </a:r>
                      <a:endParaRPr lang="ko-KR" altLang="en-US" sz="950" kern="0" spc="0" dirty="0">
                        <a:solidFill>
                          <a:schemeClr val="tx1"/>
                        </a:solidFill>
                        <a:effectLst/>
                      </a:endParaRPr>
                    </a:p>
                  </a:txBody>
                  <a:tcPr marL="48271" marR="48271" marT="24135" marB="24135" anchor="ctr"/>
                </a:tc>
                <a:extLst>
                  <a:ext uri="{0D108BD9-81ED-4DB2-BD59-A6C34878D82A}">
                    <a16:rowId xmlns:a16="http://schemas.microsoft.com/office/drawing/2014/main" val="10007"/>
                  </a:ext>
                </a:extLst>
              </a:tr>
              <a:tr h="370261">
                <a:tc gridSpan="2" vMerge="1">
                  <a:txBody>
                    <a:bodyPr/>
                    <a:lstStyle/>
                    <a:p>
                      <a:pPr latinLnBrk="1"/>
                      <a:endParaRPr lang="ko-KR" altLang="en-US"/>
                    </a:p>
                  </a:txBody>
                  <a:tcPr/>
                </a:tc>
                <a:tc hMerge="1"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50" b="1" kern="0" spc="0" dirty="0">
                          <a:solidFill>
                            <a:schemeClr val="tx1"/>
                          </a:solidFill>
                          <a:effectLst/>
                        </a:rPr>
                        <a:t>부</a:t>
                      </a:r>
                    </a:p>
                    <a:p>
                      <a:pPr marL="0" marR="0" indent="0" algn="ctr" fontAlgn="base" latinLnBrk="0">
                        <a:lnSpc>
                          <a:spcPct val="100000"/>
                        </a:lnSpc>
                        <a:spcBef>
                          <a:spcPts val="0"/>
                        </a:spcBef>
                        <a:spcAft>
                          <a:spcPts val="0"/>
                        </a:spcAft>
                      </a:pPr>
                      <a:r>
                        <a:rPr lang="ko-KR" altLang="en-US" sz="950" b="1" kern="0" spc="0" dirty="0">
                          <a:solidFill>
                            <a:schemeClr val="tx1"/>
                          </a:solidFill>
                          <a:effectLst/>
                        </a:rPr>
                        <a:t>적</a:t>
                      </a:r>
                    </a:p>
                    <a:p>
                      <a:pPr marL="0" marR="0" indent="0" algn="ctr" fontAlgn="base" latinLnBrk="0">
                        <a:lnSpc>
                          <a:spcPct val="100000"/>
                        </a:lnSpc>
                        <a:spcBef>
                          <a:spcPts val="0"/>
                        </a:spcBef>
                        <a:spcAft>
                          <a:spcPts val="0"/>
                        </a:spcAft>
                      </a:pPr>
                      <a:r>
                        <a:rPr lang="ko-KR" altLang="en-US" sz="950" b="1" kern="0" spc="0" dirty="0">
                          <a:solidFill>
                            <a:schemeClr val="tx1"/>
                          </a:solidFill>
                          <a:effectLst/>
                        </a:rPr>
                        <a:t>법</a:t>
                      </a:r>
                    </a:p>
                  </a:txBody>
                  <a:tcPr marL="48271" marR="48271" marT="24135" marB="24135" anchor="ctr"/>
                </a:tc>
                <a:tc>
                  <a:txBody>
                    <a:bodyPr/>
                    <a:lstStyle/>
                    <a:p>
                      <a:pPr marL="0" marR="0" indent="0" algn="just" fontAlgn="base" latinLnBrk="1">
                        <a:lnSpc>
                          <a:spcPct val="100000"/>
                        </a:lnSpc>
                        <a:spcBef>
                          <a:spcPts val="0"/>
                        </a:spcBef>
                        <a:spcAft>
                          <a:spcPts val="0"/>
                        </a:spcAft>
                      </a:pPr>
                      <a:r>
                        <a:rPr lang="ko-KR" altLang="en-US" sz="950" kern="0" spc="0" dirty="0">
                          <a:solidFill>
                            <a:schemeClr val="tx1"/>
                          </a:solidFill>
                          <a:effectLst/>
                        </a:rPr>
                        <a:t>출원 취하간주</a:t>
                      </a:r>
                      <a:r>
                        <a:rPr lang="en-US" altLang="ko-KR" sz="950" kern="0" spc="0" dirty="0">
                          <a:solidFill>
                            <a:schemeClr val="tx1"/>
                          </a:solidFill>
                          <a:effectLst/>
                        </a:rPr>
                        <a:t>(</a:t>
                      </a:r>
                      <a:r>
                        <a:rPr lang="ko-KR" altLang="en-US" sz="950" kern="0" spc="0" dirty="0">
                          <a:solidFill>
                            <a:schemeClr val="tx1"/>
                          </a:solidFill>
                          <a:effectLst/>
                        </a:rPr>
                        <a:t>法 </a:t>
                      </a:r>
                      <a:r>
                        <a:rPr lang="en-US" altLang="ko-KR" sz="950" kern="0" spc="0" dirty="0">
                          <a:solidFill>
                            <a:schemeClr val="tx1"/>
                          </a:solidFill>
                          <a:effectLst/>
                        </a:rPr>
                        <a:t>59</a:t>
                      </a:r>
                      <a:r>
                        <a:rPr lang="ko-KR" altLang="en-US" sz="950" kern="0" spc="0" dirty="0">
                          <a:solidFill>
                            <a:schemeClr val="tx1"/>
                          </a:solidFill>
                          <a:effectLst/>
                        </a:rPr>
                        <a:t>⑤</a:t>
                      </a:r>
                      <a:r>
                        <a:rPr lang="en-US" altLang="ko-KR" sz="950" kern="0" spc="0" dirty="0">
                          <a:solidFill>
                            <a:schemeClr val="tx1"/>
                          </a:solidFill>
                          <a:effectLst/>
                        </a:rPr>
                        <a:t>)</a:t>
                      </a:r>
                      <a:endParaRPr lang="ko-KR" altLang="en-US" sz="950" kern="0" spc="0" dirty="0">
                        <a:solidFill>
                          <a:schemeClr val="tx1"/>
                        </a:solidFill>
                        <a:effectLst/>
                      </a:endParaRPr>
                    </a:p>
                  </a:txBody>
                  <a:tcPr marL="48271" marR="48271" marT="24135" marB="24135" anchor="ctr"/>
                </a:tc>
                <a:tc>
                  <a:txBody>
                    <a:bodyPr/>
                    <a:lstStyle/>
                    <a:p>
                      <a:pPr marL="0" marR="0" indent="0" algn="just" fontAlgn="base" latinLnBrk="1">
                        <a:lnSpc>
                          <a:spcPct val="100000"/>
                        </a:lnSpc>
                        <a:spcBef>
                          <a:spcPts val="0"/>
                        </a:spcBef>
                        <a:spcAft>
                          <a:spcPts val="0"/>
                        </a:spcAft>
                      </a:pPr>
                      <a:r>
                        <a:rPr lang="en-US" altLang="ko-KR" sz="950" kern="0" spc="0">
                          <a:solidFill>
                            <a:schemeClr val="tx1"/>
                          </a:solidFill>
                          <a:effectLst/>
                        </a:rPr>
                        <a:t>1.</a:t>
                      </a:r>
                      <a:r>
                        <a:rPr lang="ko-KR" altLang="en-US" sz="950" kern="0" spc="0">
                          <a:solidFill>
                            <a:schemeClr val="tx1"/>
                          </a:solidFill>
                          <a:effectLst/>
                        </a:rPr>
                        <a:t>심사청구순서에 따라 심사</a:t>
                      </a:r>
                    </a:p>
                    <a:p>
                      <a:pPr marL="0" marR="0" indent="0" algn="just" fontAlgn="base" latinLnBrk="1">
                        <a:lnSpc>
                          <a:spcPct val="100000"/>
                        </a:lnSpc>
                        <a:spcBef>
                          <a:spcPts val="0"/>
                        </a:spcBef>
                        <a:spcAft>
                          <a:spcPts val="0"/>
                        </a:spcAft>
                      </a:pPr>
                      <a:r>
                        <a:rPr lang="en-US" altLang="ko-KR" sz="950" kern="0" spc="0">
                          <a:solidFill>
                            <a:schemeClr val="tx1"/>
                          </a:solidFill>
                          <a:effectLst/>
                        </a:rPr>
                        <a:t>2.</a:t>
                      </a:r>
                      <a:r>
                        <a:rPr lang="ko-KR" altLang="en-US" sz="950" kern="0" spc="0">
                          <a:solidFill>
                            <a:schemeClr val="tx1"/>
                          </a:solidFill>
                          <a:effectLst/>
                        </a:rPr>
                        <a:t>수수료의 반환</a:t>
                      </a:r>
                    </a:p>
                  </a:txBody>
                  <a:tcPr marL="48271" marR="48271" marT="24135" marB="24135" anchor="ctr"/>
                </a:tc>
                <a:tc>
                  <a:txBody>
                    <a:bodyPr/>
                    <a:lstStyle/>
                    <a:p>
                      <a:pPr marL="0" marR="0" indent="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거절결정의 불복</a:t>
                      </a:r>
                    </a:p>
                    <a:p>
                      <a:pPr marL="0" marR="0" indent="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거절결정의 확정</a:t>
                      </a:r>
                      <a:endParaRPr lang="en-US" altLang="ko-KR" sz="950" kern="0" spc="0" dirty="0">
                        <a:solidFill>
                          <a:schemeClr val="tx1"/>
                        </a:solidFill>
                        <a:effectLst/>
                      </a:endParaRPr>
                    </a:p>
                    <a:p>
                      <a:pPr marL="0" marR="0" indent="0" algn="just" fontAlgn="base" latinLnBrk="1">
                        <a:lnSpc>
                          <a:spcPct val="100000"/>
                        </a:lnSpc>
                        <a:spcBef>
                          <a:spcPts val="0"/>
                        </a:spcBef>
                        <a:spcAft>
                          <a:spcPts val="0"/>
                        </a:spcAft>
                      </a:pPr>
                      <a:r>
                        <a:rPr lang="en-US" altLang="ko-KR" sz="950" kern="0" spc="0" dirty="0">
                          <a:solidFill>
                            <a:schemeClr val="tx1"/>
                          </a:solidFill>
                          <a:effectLst/>
                        </a:rPr>
                        <a:t>3.</a:t>
                      </a:r>
                      <a:r>
                        <a:rPr lang="ko-KR" altLang="en-US" sz="950" kern="0" spc="0" dirty="0">
                          <a:solidFill>
                            <a:schemeClr val="tx1"/>
                          </a:solidFill>
                          <a:effectLst/>
                        </a:rPr>
                        <a:t>재심사청구</a:t>
                      </a:r>
                    </a:p>
                  </a:txBody>
                  <a:tcPr marL="48271" marR="48271" marT="24135" marB="24135" anchor="ctr"/>
                </a:tc>
                <a:tc>
                  <a:txBody>
                    <a:bodyPr/>
                    <a:lstStyle/>
                    <a:p>
                      <a:pPr marL="73660" marR="0" indent="-73660" algn="just" fontAlgn="base" latinLnBrk="1">
                        <a:lnSpc>
                          <a:spcPct val="100000"/>
                        </a:lnSpc>
                        <a:spcBef>
                          <a:spcPts val="0"/>
                        </a:spcBef>
                        <a:spcAft>
                          <a:spcPts val="0"/>
                        </a:spcAft>
                      </a:pPr>
                      <a:r>
                        <a:rPr lang="en-US" altLang="ko-KR" sz="950" kern="0" spc="0" dirty="0">
                          <a:solidFill>
                            <a:schemeClr val="tx1"/>
                          </a:solidFill>
                          <a:effectLst/>
                        </a:rPr>
                        <a:t>1.</a:t>
                      </a:r>
                      <a:r>
                        <a:rPr lang="ko-KR" altLang="en-US" sz="950" kern="0" spc="0" dirty="0">
                          <a:solidFill>
                            <a:schemeClr val="tx1"/>
                          </a:solidFill>
                          <a:effectLst/>
                        </a:rPr>
                        <a:t>재심사의 청구절차가 무효로 된 경우 특허여부결정은 취소되지 아니한 것으로 간주</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法 </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67</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의</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2</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③단서</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endParaRPr lang="ko-KR" altLang="en-US" sz="950" kern="0" spc="0" dirty="0">
                        <a:solidFill>
                          <a:schemeClr val="tx1"/>
                        </a:solidFill>
                        <a:effectLst/>
                      </a:endParaRPr>
                    </a:p>
                    <a:p>
                      <a:pPr marL="73660" marR="0" indent="-73660" algn="just" fontAlgn="base" latinLnBrk="1">
                        <a:lnSpc>
                          <a:spcPct val="100000"/>
                        </a:lnSpc>
                        <a:spcBef>
                          <a:spcPts val="0"/>
                        </a:spcBef>
                        <a:spcAft>
                          <a:spcPts val="0"/>
                        </a:spcAft>
                      </a:pPr>
                      <a:r>
                        <a:rPr lang="en-US" altLang="ko-KR" sz="950" kern="0" spc="0" dirty="0">
                          <a:solidFill>
                            <a:schemeClr val="tx1"/>
                          </a:solidFill>
                          <a:effectLst/>
                        </a:rPr>
                        <a:t>2.</a:t>
                      </a:r>
                      <a:r>
                        <a:rPr lang="ko-KR" altLang="en-US" sz="950" kern="0" spc="0" dirty="0">
                          <a:solidFill>
                            <a:schemeClr val="tx1"/>
                          </a:solidFill>
                          <a:effectLst/>
                        </a:rPr>
                        <a:t>① 보정서가 제출되지 아니한 경우 ② 시기에 위반된 재심사청구의 경우 재심사 청구서는 반려</a:t>
                      </a:r>
                    </a:p>
                  </a:txBody>
                  <a:tcPr marL="48271" marR="48271" marT="24135" marB="24135" anchor="ctr"/>
                </a:tc>
                <a:extLst>
                  <a:ext uri="{0D108BD9-81ED-4DB2-BD59-A6C34878D82A}">
                    <a16:rowId xmlns:a16="http://schemas.microsoft.com/office/drawing/2014/main" val="10008"/>
                  </a:ext>
                </a:extLst>
              </a:tr>
            </a:tbl>
          </a:graphicData>
        </a:graphic>
      </p:graphicFrame>
      <p:sp>
        <p:nvSpPr>
          <p:cNvPr id="5" name="슬라이드 번호 개체 틀 4"/>
          <p:cNvSpPr>
            <a:spLocks noGrp="1"/>
          </p:cNvSpPr>
          <p:nvPr>
            <p:ph type="sldNum" sz="quarter" idx="12"/>
          </p:nvPr>
        </p:nvSpPr>
        <p:spPr/>
        <p:txBody>
          <a:bodyPr/>
          <a:lstStyle/>
          <a:p>
            <a:r>
              <a:rPr lang="en-US" altLang="ko-KR"/>
              <a:t>282</a:t>
            </a:r>
            <a:endParaRPr lang="ko-KR" altLang="en-US" dirty="0"/>
          </a:p>
        </p:txBody>
      </p:sp>
    </p:spTree>
    <p:extLst>
      <p:ext uri="{BB962C8B-B14F-4D97-AF65-F5344CB8AC3E}">
        <p14:creationId xmlns:p14="http://schemas.microsoft.com/office/powerpoint/2010/main" val="2761580815"/>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심사</a:t>
            </a:r>
            <a:r>
              <a:rPr lang="en-US" altLang="ko-KR" dirty="0"/>
              <a:t>(</a:t>
            </a:r>
            <a:r>
              <a:rPr lang="ko-KR" altLang="en-US" dirty="0"/>
              <a:t>제도</a:t>
            </a:r>
            <a:r>
              <a:rPr lang="en-US" altLang="ko-KR" dirty="0"/>
              <a:t>)</a:t>
            </a:r>
            <a:r>
              <a:rPr lang="ko-KR" altLang="en-US" dirty="0"/>
              <a:t> 정리</a:t>
            </a:r>
          </a:p>
        </p:txBody>
      </p:sp>
      <p:graphicFrame>
        <p:nvGraphicFramePr>
          <p:cNvPr id="2" name="표 1"/>
          <p:cNvGraphicFramePr>
            <a:graphicFrameLocks noGrp="1"/>
          </p:cNvGraphicFramePr>
          <p:nvPr/>
        </p:nvGraphicFramePr>
        <p:xfrm>
          <a:off x="167216" y="997445"/>
          <a:ext cx="11857568" cy="5722920"/>
        </p:xfrm>
        <a:graphic>
          <a:graphicData uri="http://schemas.openxmlformats.org/drawingml/2006/table">
            <a:tbl>
              <a:tblPr>
                <a:tableStyleId>{8799B23B-EC83-4686-B30A-512413B5E67A}</a:tableStyleId>
              </a:tblPr>
              <a:tblGrid>
                <a:gridCol w="206592">
                  <a:extLst>
                    <a:ext uri="{9D8B030D-6E8A-4147-A177-3AD203B41FA5}">
                      <a16:colId xmlns:a16="http://schemas.microsoft.com/office/drawing/2014/main" val="20000"/>
                    </a:ext>
                  </a:extLst>
                </a:gridCol>
                <a:gridCol w="192240">
                  <a:extLst>
                    <a:ext uri="{9D8B030D-6E8A-4147-A177-3AD203B41FA5}">
                      <a16:colId xmlns:a16="http://schemas.microsoft.com/office/drawing/2014/main" val="20001"/>
                    </a:ext>
                  </a:extLst>
                </a:gridCol>
                <a:gridCol w="346051">
                  <a:extLst>
                    <a:ext uri="{9D8B030D-6E8A-4147-A177-3AD203B41FA5}">
                      <a16:colId xmlns:a16="http://schemas.microsoft.com/office/drawing/2014/main" val="20002"/>
                    </a:ext>
                  </a:extLst>
                </a:gridCol>
                <a:gridCol w="2713382">
                  <a:extLst>
                    <a:ext uri="{9D8B030D-6E8A-4147-A177-3AD203B41FA5}">
                      <a16:colId xmlns:a16="http://schemas.microsoft.com/office/drawing/2014/main" val="20003"/>
                    </a:ext>
                  </a:extLst>
                </a:gridCol>
                <a:gridCol w="2007705">
                  <a:extLst>
                    <a:ext uri="{9D8B030D-6E8A-4147-A177-3AD203B41FA5}">
                      <a16:colId xmlns:a16="http://schemas.microsoft.com/office/drawing/2014/main" val="20004"/>
                    </a:ext>
                  </a:extLst>
                </a:gridCol>
                <a:gridCol w="1411356">
                  <a:extLst>
                    <a:ext uri="{9D8B030D-6E8A-4147-A177-3AD203B41FA5}">
                      <a16:colId xmlns:a16="http://schemas.microsoft.com/office/drawing/2014/main" val="20005"/>
                    </a:ext>
                  </a:extLst>
                </a:gridCol>
                <a:gridCol w="1659835">
                  <a:extLst>
                    <a:ext uri="{9D8B030D-6E8A-4147-A177-3AD203B41FA5}">
                      <a16:colId xmlns:a16="http://schemas.microsoft.com/office/drawing/2014/main" val="20006"/>
                    </a:ext>
                  </a:extLst>
                </a:gridCol>
                <a:gridCol w="3320407">
                  <a:extLst>
                    <a:ext uri="{9D8B030D-6E8A-4147-A177-3AD203B41FA5}">
                      <a16:colId xmlns:a16="http://schemas.microsoft.com/office/drawing/2014/main" val="20007"/>
                    </a:ext>
                  </a:extLst>
                </a:gridCol>
              </a:tblGrid>
              <a:tr h="163660">
                <a:tc gridSpan="3">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제도　</a:t>
                      </a:r>
                    </a:p>
                  </a:txBody>
                  <a:tcPr marL="48271" marR="48271" marT="36000" marB="36000" anchor="ctr">
                    <a:solidFill>
                      <a:schemeClr val="accent1">
                        <a:lumMod val="20000"/>
                        <a:lumOff val="80000"/>
                      </a:schemeClr>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직권보정제도</a:t>
                      </a:r>
                    </a:p>
                  </a:txBody>
                  <a:tcPr marT="36000" marB="3600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직권재심사제도</a:t>
                      </a:r>
                    </a:p>
                  </a:txBody>
                  <a:tcPr marT="36000" marB="3600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00" b="1" kern="0" spc="0">
                          <a:solidFill>
                            <a:schemeClr val="tx1"/>
                          </a:solidFill>
                          <a:effectLst/>
                          <a:latin typeface="+mn-ea"/>
                          <a:ea typeface="+mn-ea"/>
                        </a:rPr>
                        <a:t>출원취하</a:t>
                      </a:r>
                      <a:r>
                        <a:rPr lang="en-US" altLang="ko-KR" sz="900" b="1" kern="0" spc="0">
                          <a:solidFill>
                            <a:schemeClr val="tx1"/>
                          </a:solidFill>
                          <a:effectLst/>
                          <a:latin typeface="+mn-ea"/>
                          <a:ea typeface="+mn-ea"/>
                        </a:rPr>
                        <a:t>/</a:t>
                      </a:r>
                      <a:r>
                        <a:rPr lang="ko-KR" altLang="en-US" sz="900" b="1" kern="0" spc="0">
                          <a:solidFill>
                            <a:schemeClr val="tx1"/>
                          </a:solidFill>
                          <a:effectLst/>
                          <a:latin typeface="+mn-ea"/>
                          <a:ea typeface="+mn-ea"/>
                        </a:rPr>
                        <a:t>포기제도</a:t>
                      </a:r>
                    </a:p>
                  </a:txBody>
                  <a:tcPr marT="36000" marB="3600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00" b="1" kern="0" spc="0">
                          <a:solidFill>
                            <a:schemeClr val="tx1"/>
                          </a:solidFill>
                          <a:effectLst/>
                          <a:latin typeface="+mn-ea"/>
                          <a:ea typeface="+mn-ea"/>
                        </a:rPr>
                        <a:t>정보제공제도</a:t>
                      </a:r>
                    </a:p>
                  </a:txBody>
                  <a:tcPr marT="36000" marB="3600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900" b="1" kern="0" spc="0">
                          <a:solidFill>
                            <a:schemeClr val="tx1"/>
                          </a:solidFill>
                          <a:effectLst/>
                          <a:latin typeface="+mn-ea"/>
                          <a:ea typeface="+mn-ea"/>
                        </a:rPr>
                        <a:t>출원공개제도</a:t>
                      </a:r>
                    </a:p>
                  </a:txBody>
                  <a:tcPr marT="36000" marB="36000" anchor="ctr">
                    <a:solidFill>
                      <a:schemeClr val="accent1">
                        <a:lumMod val="20000"/>
                        <a:lumOff val="80000"/>
                      </a:schemeClr>
                    </a:solidFill>
                  </a:tcPr>
                </a:tc>
                <a:extLst>
                  <a:ext uri="{0D108BD9-81ED-4DB2-BD59-A6C34878D82A}">
                    <a16:rowId xmlns:a16="http://schemas.microsoft.com/office/drawing/2014/main" val="10000"/>
                  </a:ext>
                </a:extLst>
              </a:tr>
              <a:tr h="491568">
                <a:tc rowSpan="5">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요</a:t>
                      </a:r>
                    </a:p>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건</a:t>
                      </a:r>
                    </a:p>
                  </a:txBody>
                  <a:tcPr marL="48271" marR="48271" marT="36000" marB="36000" anchor="ctr"/>
                </a:tc>
                <a:tc gridSpan="2">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주체적</a:t>
                      </a:r>
                    </a:p>
                  </a:txBody>
                  <a:tcPr marL="48271" marR="48271" marT="36000" marB="36000"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00" kern="0" spc="0">
                          <a:solidFill>
                            <a:schemeClr val="tx1"/>
                          </a:solidFill>
                          <a:effectLst/>
                          <a:latin typeface="+mn-ea"/>
                          <a:ea typeface="+mn-ea"/>
                        </a:rPr>
                        <a:t>심사관</a:t>
                      </a: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dirty="0">
                          <a:solidFill>
                            <a:schemeClr val="tx1"/>
                          </a:solidFill>
                          <a:effectLst/>
                          <a:latin typeface="+mn-ea"/>
                          <a:ea typeface="+mn-ea"/>
                        </a:rPr>
                        <a:t>심사관</a:t>
                      </a:r>
                    </a:p>
                  </a:txBody>
                  <a:tcPr marT="36000" marB="36000" anchor="ctr"/>
                </a:tc>
                <a:tc>
                  <a:txBody>
                    <a:bodyPr/>
                    <a:lstStyle/>
                    <a:p>
                      <a:pPr marL="68580" marR="0" indent="-68580" algn="just" fontAlgn="base" latinLnBrk="1">
                        <a:lnSpc>
                          <a:spcPct val="100000"/>
                        </a:lnSpc>
                        <a:spcBef>
                          <a:spcPts val="0"/>
                        </a:spcBef>
                        <a:spcAft>
                          <a:spcPts val="0"/>
                        </a:spcAft>
                      </a:pPr>
                      <a:r>
                        <a:rPr lang="en-US" altLang="ko-KR" sz="900" kern="0" spc="0" dirty="0">
                          <a:solidFill>
                            <a:schemeClr val="tx1"/>
                          </a:solidFill>
                          <a:effectLst/>
                          <a:latin typeface="+mn-ea"/>
                          <a:ea typeface="+mn-ea"/>
                        </a:rPr>
                        <a:t>1.</a:t>
                      </a:r>
                      <a:r>
                        <a:rPr lang="ko-KR" altLang="en-US" sz="900" kern="0" spc="0" dirty="0">
                          <a:solidFill>
                            <a:schemeClr val="tx1"/>
                          </a:solidFill>
                          <a:effectLst/>
                          <a:latin typeface="+mn-ea"/>
                          <a:ea typeface="+mn-ea"/>
                        </a:rPr>
                        <a:t>공동출원의 경우 전원</a:t>
                      </a:r>
                    </a:p>
                    <a:p>
                      <a:pPr marL="68580" marR="0" indent="-68580" algn="just" fontAlgn="base" latinLnBrk="1">
                        <a:lnSpc>
                          <a:spcPct val="100000"/>
                        </a:lnSpc>
                        <a:spcBef>
                          <a:spcPts val="0"/>
                        </a:spcBef>
                        <a:spcAft>
                          <a:spcPts val="0"/>
                        </a:spcAft>
                      </a:pPr>
                      <a:r>
                        <a:rPr lang="en-US" altLang="ko-KR" sz="900" kern="0" spc="0" dirty="0">
                          <a:solidFill>
                            <a:schemeClr val="tx1"/>
                          </a:solidFill>
                          <a:effectLst/>
                          <a:latin typeface="+mn-ea"/>
                          <a:ea typeface="+mn-ea"/>
                        </a:rPr>
                        <a:t>2.</a:t>
                      </a:r>
                      <a:r>
                        <a:rPr lang="ko-KR" altLang="en-US" sz="900" kern="0" spc="0" dirty="0">
                          <a:solidFill>
                            <a:schemeClr val="tx1"/>
                          </a:solidFill>
                          <a:effectLst/>
                          <a:latin typeface="+mn-ea"/>
                          <a:ea typeface="+mn-ea"/>
                        </a:rPr>
                        <a:t>임의대리인은 특별수권</a:t>
                      </a:r>
                    </a:p>
                    <a:p>
                      <a:pPr marL="68580" marR="0" indent="-68580" algn="just" fontAlgn="base" latinLnBrk="1">
                        <a:lnSpc>
                          <a:spcPct val="100000"/>
                        </a:lnSpc>
                        <a:spcBef>
                          <a:spcPts val="0"/>
                        </a:spcBef>
                        <a:spcAft>
                          <a:spcPts val="0"/>
                        </a:spcAft>
                      </a:pPr>
                      <a:r>
                        <a:rPr lang="en-US" altLang="ko-KR" sz="900" kern="0" spc="0" dirty="0">
                          <a:solidFill>
                            <a:schemeClr val="tx1"/>
                          </a:solidFill>
                          <a:effectLst/>
                          <a:latin typeface="+mn-ea"/>
                          <a:ea typeface="+mn-ea"/>
                        </a:rPr>
                        <a:t>3.</a:t>
                      </a:r>
                      <a:r>
                        <a:rPr lang="ko-KR" altLang="en-US" sz="900" kern="0" spc="0" dirty="0">
                          <a:solidFill>
                            <a:schemeClr val="tx1"/>
                          </a:solidFill>
                          <a:effectLst/>
                          <a:latin typeface="+mn-ea"/>
                          <a:ea typeface="+mn-ea"/>
                        </a:rPr>
                        <a:t>법정대리인 중 후견인은 후견감독인의 동의</a:t>
                      </a: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a:solidFill>
                            <a:schemeClr val="tx1"/>
                          </a:solidFill>
                          <a:effectLst/>
                          <a:latin typeface="+mn-ea"/>
                          <a:ea typeface="+mn-ea"/>
                        </a:rPr>
                        <a:t>누구든지 </a:t>
                      </a: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dirty="0">
                          <a:solidFill>
                            <a:schemeClr val="tx1"/>
                          </a:solidFill>
                          <a:effectLst/>
                          <a:latin typeface="+mn-ea"/>
                          <a:ea typeface="+mn-ea"/>
                        </a:rPr>
                        <a:t>지식재산처장에 의한 강제공개</a:t>
                      </a:r>
                      <a:r>
                        <a:rPr lang="en-US" altLang="ko-KR" sz="900" kern="0" spc="0" dirty="0">
                          <a:solidFill>
                            <a:schemeClr val="tx1"/>
                          </a:solidFill>
                          <a:effectLst/>
                          <a:latin typeface="+mn-ea"/>
                          <a:ea typeface="+mn-ea"/>
                        </a:rPr>
                        <a:t>, </a:t>
                      </a:r>
                      <a:r>
                        <a:rPr lang="ko-KR" altLang="en-US" sz="900" kern="0" spc="0" dirty="0">
                          <a:solidFill>
                            <a:schemeClr val="tx1"/>
                          </a:solidFill>
                          <a:effectLst/>
                          <a:latin typeface="+mn-ea"/>
                          <a:ea typeface="+mn-ea"/>
                        </a:rPr>
                        <a:t>출원인의 신청에 의한 조기공개</a:t>
                      </a:r>
                    </a:p>
                  </a:txBody>
                  <a:tcPr marT="36000" marB="36000" anchor="ctr"/>
                </a:tc>
                <a:extLst>
                  <a:ext uri="{0D108BD9-81ED-4DB2-BD59-A6C34878D82A}">
                    <a16:rowId xmlns:a16="http://schemas.microsoft.com/office/drawing/2014/main" val="10001"/>
                  </a:ext>
                </a:extLst>
              </a:tr>
              <a:tr h="819476">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객</a:t>
                      </a:r>
                    </a:p>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체</a:t>
                      </a:r>
                    </a:p>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적</a:t>
                      </a:r>
                    </a:p>
                  </a:txBody>
                  <a:tcPr marL="48271" marR="48271" marT="36000" marB="36000" anchor="ctr"/>
                </a:tc>
                <a:tc>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대상</a:t>
                      </a:r>
                    </a:p>
                  </a:txBody>
                  <a:tcPr marL="48271" marR="48271" marT="36000" marB="36000" anchor="ctr"/>
                </a:tc>
                <a:tc>
                  <a:txBody>
                    <a:bodyPr/>
                    <a:lstStyle/>
                    <a:p>
                      <a:pPr marL="0" marR="0" indent="0" algn="just" fontAlgn="base" latinLnBrk="1">
                        <a:lnSpc>
                          <a:spcPct val="100000"/>
                        </a:lnSpc>
                        <a:spcBef>
                          <a:spcPts val="0"/>
                        </a:spcBef>
                        <a:spcAft>
                          <a:spcPts val="0"/>
                        </a:spcAft>
                      </a:pPr>
                      <a:r>
                        <a:rPr lang="ko-KR" altLang="en-US" sz="900" kern="0" spc="0" dirty="0" err="1">
                          <a:solidFill>
                            <a:schemeClr val="tx1"/>
                          </a:solidFill>
                          <a:effectLst/>
                          <a:latin typeface="+mn-ea"/>
                          <a:ea typeface="+mn-ea"/>
                        </a:rPr>
                        <a:t>특허출원서에</a:t>
                      </a:r>
                      <a:r>
                        <a:rPr lang="ko-KR" altLang="en-US" sz="900" kern="0" spc="0" dirty="0">
                          <a:solidFill>
                            <a:schemeClr val="tx1"/>
                          </a:solidFill>
                          <a:effectLst/>
                          <a:latin typeface="+mn-ea"/>
                          <a:ea typeface="+mn-ea"/>
                        </a:rPr>
                        <a:t> 첨부된 명세서</a:t>
                      </a:r>
                      <a:r>
                        <a:rPr lang="en-US" altLang="ko-KR" sz="900" kern="0" spc="0" dirty="0">
                          <a:solidFill>
                            <a:schemeClr val="tx1"/>
                          </a:solidFill>
                          <a:effectLst/>
                          <a:latin typeface="+mn-ea"/>
                          <a:ea typeface="+mn-ea"/>
                        </a:rPr>
                        <a:t>, </a:t>
                      </a:r>
                      <a:r>
                        <a:rPr lang="ko-KR" altLang="en-US" sz="900" kern="0" spc="0" dirty="0">
                          <a:solidFill>
                            <a:schemeClr val="tx1"/>
                          </a:solidFill>
                          <a:effectLst/>
                          <a:latin typeface="+mn-ea"/>
                          <a:ea typeface="+mn-ea"/>
                        </a:rPr>
                        <a:t>도면 또는 </a:t>
                      </a:r>
                      <a:r>
                        <a:rPr lang="ko-KR" altLang="en-US" sz="900" kern="0" spc="0" dirty="0" err="1">
                          <a:solidFill>
                            <a:schemeClr val="tx1"/>
                          </a:solidFill>
                          <a:effectLst/>
                          <a:latin typeface="+mn-ea"/>
                          <a:ea typeface="+mn-ea"/>
                        </a:rPr>
                        <a:t>요약서에</a:t>
                      </a:r>
                      <a:r>
                        <a:rPr lang="ko-KR" altLang="en-US" sz="900" kern="0" spc="0" dirty="0">
                          <a:solidFill>
                            <a:schemeClr val="tx1"/>
                          </a:solidFill>
                          <a:effectLst/>
                          <a:latin typeface="+mn-ea"/>
                          <a:ea typeface="+mn-ea"/>
                        </a:rPr>
                        <a:t> 명백히 잘못 기재된 내용</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사소한 </a:t>
                      </a:r>
                      <a:r>
                        <a:rPr lang="ko-KR" altLang="en-US" sz="900" kern="0" spc="0" dirty="0" err="1">
                          <a:solidFill>
                            <a:schemeClr val="tx1"/>
                          </a:solidFill>
                          <a:effectLst/>
                          <a:latin typeface="+mn-ea"/>
                          <a:ea typeface="+mn-ea"/>
                        </a:rPr>
                        <a:t>오탈자</a:t>
                      </a:r>
                      <a:r>
                        <a:rPr lang="ko-KR" altLang="en-US" sz="900" kern="0" spc="0" dirty="0">
                          <a:solidFill>
                            <a:schemeClr val="tx1"/>
                          </a:solidFill>
                          <a:effectLst/>
                          <a:latin typeface="+mn-ea"/>
                          <a:ea typeface="+mn-ea"/>
                        </a:rPr>
                        <a:t> 이외에 명백히 잘못 기재된 </a:t>
                      </a:r>
                      <a:r>
                        <a:rPr lang="ko-KR" altLang="en-US" sz="900" kern="0" spc="0" dirty="0" err="1">
                          <a:solidFill>
                            <a:schemeClr val="tx1"/>
                          </a:solidFill>
                          <a:effectLst/>
                          <a:latin typeface="+mn-ea"/>
                          <a:ea typeface="+mn-ea"/>
                        </a:rPr>
                        <a:t>기재불비</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 단</a:t>
                      </a:r>
                      <a:r>
                        <a:rPr lang="en-US" altLang="ko-KR" sz="900" kern="0" spc="0" dirty="0">
                          <a:solidFill>
                            <a:schemeClr val="tx1"/>
                          </a:solidFill>
                          <a:effectLst/>
                          <a:latin typeface="+mn-ea"/>
                          <a:ea typeface="+mn-ea"/>
                        </a:rPr>
                        <a:t>, </a:t>
                      </a:r>
                      <a:r>
                        <a:rPr lang="ko-KR" altLang="en-US" sz="900" kern="0" spc="0" dirty="0">
                          <a:solidFill>
                            <a:schemeClr val="tx1"/>
                          </a:solidFill>
                          <a:effectLst/>
                          <a:latin typeface="+mn-ea"/>
                          <a:ea typeface="+mn-ea"/>
                        </a:rPr>
                        <a:t>신규사항이 추가되지 않는 범위 내에서 가능</a:t>
                      </a:r>
                      <a:endParaRPr lang="en-US" altLang="ko-KR" sz="900" kern="0" spc="0" dirty="0">
                        <a:solidFill>
                          <a:schemeClr val="tx1"/>
                        </a:solidFill>
                        <a:effectLst/>
                        <a:latin typeface="+mn-ea"/>
                        <a:ea typeface="+mn-ea"/>
                      </a:endParaRP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dirty="0" err="1">
                          <a:solidFill>
                            <a:schemeClr val="tx1"/>
                          </a:solidFill>
                          <a:effectLst/>
                          <a:latin typeface="+mn-ea"/>
                          <a:ea typeface="+mn-ea"/>
                        </a:rPr>
                        <a:t>특허결정된</a:t>
                      </a:r>
                      <a:r>
                        <a:rPr lang="ko-KR" altLang="en-US" sz="900" kern="0" spc="0" dirty="0">
                          <a:solidFill>
                            <a:schemeClr val="tx1"/>
                          </a:solidFill>
                          <a:effectLst/>
                          <a:latin typeface="+mn-ea"/>
                          <a:ea typeface="+mn-ea"/>
                        </a:rPr>
                        <a:t> 특허출원에 관하여 배경기술 기재</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法 </a:t>
                      </a:r>
                      <a:r>
                        <a:rPr lang="en-US" altLang="ko-KR" sz="900" kern="0" spc="0" dirty="0">
                          <a:solidFill>
                            <a:schemeClr val="tx1"/>
                          </a:solidFill>
                          <a:effectLst/>
                          <a:latin typeface="+mn-ea"/>
                          <a:ea typeface="+mn-ea"/>
                        </a:rPr>
                        <a:t>42③Ⅱ), </a:t>
                      </a:r>
                      <a:r>
                        <a:rPr lang="ko-KR" altLang="en-US" sz="900" kern="0" spc="0" dirty="0" err="1">
                          <a:solidFill>
                            <a:schemeClr val="tx1"/>
                          </a:solidFill>
                          <a:effectLst/>
                          <a:latin typeface="+mn-ea"/>
                          <a:ea typeface="+mn-ea"/>
                        </a:rPr>
                        <a:t>다항제</a:t>
                      </a:r>
                      <a:r>
                        <a:rPr lang="ko-KR" altLang="en-US" sz="900" kern="0" spc="0" dirty="0">
                          <a:solidFill>
                            <a:schemeClr val="tx1"/>
                          </a:solidFill>
                          <a:effectLst/>
                          <a:latin typeface="+mn-ea"/>
                          <a:ea typeface="+mn-ea"/>
                        </a:rPr>
                        <a:t> 기재방법</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法 </a:t>
                      </a:r>
                      <a:r>
                        <a:rPr lang="en-US" altLang="ko-KR" sz="900" kern="0" spc="0" dirty="0">
                          <a:solidFill>
                            <a:schemeClr val="tx1"/>
                          </a:solidFill>
                          <a:effectLst/>
                          <a:latin typeface="+mn-ea"/>
                          <a:ea typeface="+mn-ea"/>
                        </a:rPr>
                        <a:t>42⑧) </a:t>
                      </a:r>
                      <a:r>
                        <a:rPr lang="ko-KR" altLang="en-US" sz="900" kern="0" spc="0" dirty="0">
                          <a:solidFill>
                            <a:schemeClr val="tx1"/>
                          </a:solidFill>
                          <a:effectLst/>
                          <a:latin typeface="+mn-ea"/>
                          <a:ea typeface="+mn-ea"/>
                        </a:rPr>
                        <a:t>및 하나의 특허출원의 범위</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法 </a:t>
                      </a:r>
                      <a:r>
                        <a:rPr lang="en-US" altLang="ko-KR" sz="900" kern="0" spc="0" dirty="0">
                          <a:solidFill>
                            <a:schemeClr val="tx1"/>
                          </a:solidFill>
                          <a:effectLst/>
                          <a:latin typeface="+mn-ea"/>
                          <a:ea typeface="+mn-ea"/>
                        </a:rPr>
                        <a:t>45) </a:t>
                      </a:r>
                      <a:r>
                        <a:rPr lang="ko-KR" altLang="en-US" sz="900" kern="0" spc="0" dirty="0">
                          <a:solidFill>
                            <a:schemeClr val="tx1"/>
                          </a:solidFill>
                          <a:effectLst/>
                          <a:latin typeface="+mn-ea"/>
                          <a:ea typeface="+mn-ea"/>
                        </a:rPr>
                        <a:t>위반을 제외한 명백한 거절이유를 발견한 경우</a:t>
                      </a:r>
                    </a:p>
                  </a:txBody>
                  <a:tcPr marT="36000" marB="36000" anchor="ctr"/>
                </a:tc>
                <a:tc>
                  <a:txBody>
                    <a:bodyPr/>
                    <a:lstStyle/>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1.</a:t>
                      </a:r>
                      <a:r>
                        <a:rPr lang="ko-KR" altLang="en-US" sz="900" kern="0" spc="0" dirty="0">
                          <a:solidFill>
                            <a:schemeClr val="tx1"/>
                          </a:solidFill>
                          <a:effectLst/>
                          <a:latin typeface="+mn-ea"/>
                          <a:ea typeface="+mn-ea"/>
                        </a:rPr>
                        <a:t>의사에 의한 경우</a:t>
                      </a:r>
                    </a:p>
                    <a:p>
                      <a:pPr marL="0" marR="0" indent="0" algn="just" fontAlgn="base" latinLnBrk="1">
                        <a:lnSpc>
                          <a:spcPct val="100000"/>
                        </a:lnSpc>
                        <a:spcBef>
                          <a:spcPts val="0"/>
                        </a:spcBef>
                        <a:spcAft>
                          <a:spcPts val="0"/>
                        </a:spcAft>
                      </a:pPr>
                      <a:r>
                        <a:rPr lang="ko-KR" altLang="en-US" sz="900" kern="0" spc="0" dirty="0">
                          <a:solidFill>
                            <a:schemeClr val="tx1"/>
                          </a:solidFill>
                          <a:effectLst/>
                          <a:latin typeface="+mn-ea"/>
                          <a:ea typeface="+mn-ea"/>
                        </a:rPr>
                        <a:t>①출원전체</a:t>
                      </a:r>
                    </a:p>
                    <a:p>
                      <a:pPr marL="115570" marR="0" indent="-115570" algn="just" fontAlgn="base" latinLnBrk="1">
                        <a:lnSpc>
                          <a:spcPct val="100000"/>
                        </a:lnSpc>
                        <a:spcBef>
                          <a:spcPts val="0"/>
                        </a:spcBef>
                        <a:spcAft>
                          <a:spcPts val="0"/>
                        </a:spcAft>
                      </a:pPr>
                      <a:r>
                        <a:rPr lang="ko-KR" altLang="en-US" sz="900" kern="0" spc="0" dirty="0">
                          <a:solidFill>
                            <a:schemeClr val="tx1"/>
                          </a:solidFill>
                          <a:effectLst/>
                          <a:latin typeface="+mn-ea"/>
                          <a:ea typeface="+mn-ea"/>
                        </a:rPr>
                        <a:t>②단</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등록료 </a:t>
                      </a:r>
                      <a:r>
                        <a:rPr lang="ko-KR" altLang="en-US" sz="900" kern="0" spc="0" dirty="0" err="1">
                          <a:solidFill>
                            <a:schemeClr val="tx1"/>
                          </a:solidFill>
                          <a:effectLst/>
                          <a:latin typeface="+mn-ea"/>
                          <a:ea typeface="+mn-ea"/>
                        </a:rPr>
                        <a:t>납부시</a:t>
                      </a:r>
                      <a:r>
                        <a:rPr lang="ko-KR" altLang="en-US" sz="900" kern="0" spc="0" dirty="0">
                          <a:solidFill>
                            <a:schemeClr val="tx1"/>
                          </a:solidFill>
                          <a:effectLst/>
                          <a:latin typeface="+mn-ea"/>
                          <a:ea typeface="+mn-ea"/>
                        </a:rPr>
                        <a:t> </a:t>
                      </a:r>
                      <a:r>
                        <a:rPr lang="ko-KR" altLang="en-US" sz="900" kern="0" spc="0" dirty="0" err="1">
                          <a:solidFill>
                            <a:schemeClr val="tx1"/>
                          </a:solidFill>
                          <a:effectLst/>
                          <a:latin typeface="+mn-ea"/>
                          <a:ea typeface="+mn-ea"/>
                        </a:rPr>
                        <a:t>청구항별</a:t>
                      </a:r>
                      <a:r>
                        <a:rPr lang="ko-KR" altLang="en-US" sz="900" kern="0" spc="0" dirty="0">
                          <a:solidFill>
                            <a:schemeClr val="tx1"/>
                          </a:solidFill>
                          <a:effectLst/>
                          <a:latin typeface="+mn-ea"/>
                          <a:ea typeface="+mn-ea"/>
                        </a:rPr>
                        <a:t> 포기 가능</a:t>
                      </a:r>
                      <a:r>
                        <a:rPr lang="en-US" altLang="ko-KR" sz="900" kern="0" spc="0" dirty="0">
                          <a:solidFill>
                            <a:schemeClr val="tx1"/>
                          </a:solidFill>
                          <a:effectLst/>
                          <a:latin typeface="+mn-ea"/>
                          <a:ea typeface="+mn-ea"/>
                        </a:rPr>
                        <a:t>(</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法</a:t>
                      </a:r>
                      <a:r>
                        <a:rPr lang="en-US" altLang="ko-KR" sz="900" kern="0" spc="0" dirty="0">
                          <a:solidFill>
                            <a:schemeClr val="tx1"/>
                          </a:solidFill>
                          <a:effectLst/>
                          <a:latin typeface="+mn-ea"/>
                          <a:ea typeface="+mn-ea"/>
                        </a:rPr>
                        <a:t> 215)</a:t>
                      </a:r>
                      <a:endParaRPr lang="ko-KR" altLang="en-US" sz="900" kern="0" spc="0" dirty="0">
                        <a:solidFill>
                          <a:schemeClr val="tx1"/>
                        </a:solidFill>
                        <a:effectLst/>
                        <a:latin typeface="+mn-ea"/>
                        <a:ea typeface="+mn-ea"/>
                      </a:endParaRPr>
                    </a:p>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2.</a:t>
                      </a:r>
                      <a:r>
                        <a:rPr lang="ko-KR" altLang="en-US" sz="900" kern="0" spc="0" dirty="0">
                          <a:solidFill>
                            <a:schemeClr val="tx1"/>
                          </a:solidFill>
                          <a:effectLst/>
                          <a:latin typeface="+mn-ea"/>
                          <a:ea typeface="+mn-ea"/>
                        </a:rPr>
                        <a:t>법률에 의한 경우</a:t>
                      </a: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dirty="0">
                          <a:solidFill>
                            <a:schemeClr val="tx1"/>
                          </a:solidFill>
                          <a:effectLst/>
                          <a:latin typeface="+mn-ea"/>
                          <a:ea typeface="+mn-ea"/>
                        </a:rPr>
                        <a:t>거절이유</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法 </a:t>
                      </a:r>
                      <a:r>
                        <a:rPr lang="en-US" altLang="ko-KR" sz="900" kern="0" spc="0" dirty="0">
                          <a:solidFill>
                            <a:schemeClr val="tx1"/>
                          </a:solidFill>
                          <a:effectLst/>
                          <a:latin typeface="+mn-ea"/>
                          <a:ea typeface="+mn-ea"/>
                        </a:rPr>
                        <a:t>62)(</a:t>
                      </a:r>
                      <a:r>
                        <a:rPr lang="ko-KR" altLang="en-US" sz="900" kern="0" spc="0" dirty="0">
                          <a:solidFill>
                            <a:schemeClr val="tx1"/>
                          </a:solidFill>
                          <a:effectLst/>
                          <a:latin typeface="+mn-ea"/>
                          <a:ea typeface="+mn-ea"/>
                        </a:rPr>
                        <a:t>단</a:t>
                      </a:r>
                      <a:r>
                        <a:rPr lang="en-US" altLang="ko-KR" sz="900" kern="0" spc="0" dirty="0">
                          <a:solidFill>
                            <a:schemeClr val="tx1"/>
                          </a:solidFill>
                          <a:effectLst/>
                          <a:latin typeface="+mn-ea"/>
                          <a:ea typeface="+mn-ea"/>
                        </a:rPr>
                        <a:t>, </a:t>
                      </a:r>
                      <a:r>
                        <a:rPr lang="ko-KR" altLang="en-US" sz="900" kern="0" spc="0" dirty="0">
                          <a:solidFill>
                            <a:schemeClr val="tx1"/>
                          </a:solidFill>
                          <a:effectLst/>
                          <a:latin typeface="+mn-ea"/>
                          <a:ea typeface="+mn-ea"/>
                        </a:rPr>
                        <a:t>절차적 요건</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발명의 설명 중 배경기술 기재</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法 </a:t>
                      </a:r>
                      <a:r>
                        <a:rPr lang="en-US" altLang="ko-KR" sz="900" kern="0" spc="0" dirty="0">
                          <a:solidFill>
                            <a:schemeClr val="tx1"/>
                          </a:solidFill>
                          <a:effectLst/>
                          <a:latin typeface="+mn-ea"/>
                          <a:ea typeface="+mn-ea"/>
                        </a:rPr>
                        <a:t>42</a:t>
                      </a:r>
                      <a:r>
                        <a:rPr lang="ko-KR" altLang="en-US" sz="900" kern="0" spc="0" dirty="0">
                          <a:solidFill>
                            <a:schemeClr val="tx1"/>
                          </a:solidFill>
                          <a:effectLst/>
                          <a:latin typeface="+mn-ea"/>
                          <a:ea typeface="+mn-ea"/>
                        </a:rPr>
                        <a:t>③</a:t>
                      </a:r>
                      <a:r>
                        <a:rPr lang="en-US" altLang="ko-KR" sz="900" kern="0" spc="0" dirty="0">
                          <a:solidFill>
                            <a:schemeClr val="tx1"/>
                          </a:solidFill>
                          <a:effectLst/>
                          <a:latin typeface="+mn-ea"/>
                          <a:ea typeface="+mn-ea"/>
                        </a:rPr>
                        <a:t>Ⅱ), </a:t>
                      </a:r>
                      <a:r>
                        <a:rPr lang="ko-KR" altLang="en-US" sz="900" kern="0" spc="0" dirty="0" err="1">
                          <a:solidFill>
                            <a:schemeClr val="tx1"/>
                          </a:solidFill>
                          <a:effectLst/>
                          <a:latin typeface="+mn-ea"/>
                          <a:ea typeface="+mn-ea"/>
                        </a:rPr>
                        <a:t>다항제</a:t>
                      </a:r>
                      <a:r>
                        <a:rPr lang="ko-KR" altLang="en-US" sz="900" kern="0" spc="0" dirty="0">
                          <a:solidFill>
                            <a:schemeClr val="tx1"/>
                          </a:solidFill>
                          <a:effectLst/>
                          <a:latin typeface="+mn-ea"/>
                          <a:ea typeface="+mn-ea"/>
                        </a:rPr>
                        <a:t> 기재방법</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法</a:t>
                      </a:r>
                      <a:r>
                        <a:rPr lang="en-US" altLang="ko-KR" sz="900" kern="0" spc="0" dirty="0">
                          <a:solidFill>
                            <a:schemeClr val="tx1"/>
                          </a:solidFill>
                          <a:effectLst/>
                          <a:latin typeface="+mn-ea"/>
                          <a:ea typeface="+mn-ea"/>
                        </a:rPr>
                        <a:t>42</a:t>
                      </a:r>
                      <a:r>
                        <a:rPr lang="ko-KR" altLang="en-US" sz="900" kern="0" spc="0" dirty="0">
                          <a:solidFill>
                            <a:schemeClr val="tx1"/>
                          </a:solidFill>
                          <a:effectLst/>
                          <a:latin typeface="+mn-ea"/>
                          <a:ea typeface="+mn-ea"/>
                        </a:rPr>
                        <a:t>⑧</a:t>
                      </a:r>
                      <a:r>
                        <a:rPr lang="en-US" altLang="ko-KR" sz="900" kern="0" spc="0" dirty="0">
                          <a:solidFill>
                            <a:schemeClr val="tx1"/>
                          </a:solidFill>
                          <a:effectLst/>
                          <a:latin typeface="+mn-ea"/>
                          <a:ea typeface="+mn-ea"/>
                        </a:rPr>
                        <a:t>) + 1</a:t>
                      </a:r>
                      <a:r>
                        <a:rPr lang="ko-KR" altLang="en-US" sz="900" kern="0" spc="0" dirty="0">
                          <a:solidFill>
                            <a:schemeClr val="tx1"/>
                          </a:solidFill>
                          <a:effectLst/>
                          <a:latin typeface="+mn-ea"/>
                          <a:ea typeface="+mn-ea"/>
                        </a:rPr>
                        <a:t>특허출원의 범위</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法 </a:t>
                      </a:r>
                      <a:r>
                        <a:rPr lang="en-US" altLang="ko-KR" sz="900" kern="0" spc="0" dirty="0">
                          <a:solidFill>
                            <a:schemeClr val="tx1"/>
                          </a:solidFill>
                          <a:effectLst/>
                          <a:latin typeface="+mn-ea"/>
                          <a:ea typeface="+mn-ea"/>
                        </a:rPr>
                        <a:t>45) </a:t>
                      </a:r>
                      <a:r>
                        <a:rPr lang="ko-KR" altLang="en-US" sz="900" kern="0" spc="0" dirty="0">
                          <a:solidFill>
                            <a:schemeClr val="tx1"/>
                          </a:solidFill>
                          <a:effectLst/>
                          <a:latin typeface="+mn-ea"/>
                          <a:ea typeface="+mn-ea"/>
                        </a:rPr>
                        <a:t>제외</a:t>
                      </a:r>
                      <a:r>
                        <a:rPr lang="en-US" altLang="ko-KR" sz="900" kern="0" spc="0" dirty="0">
                          <a:solidFill>
                            <a:schemeClr val="tx1"/>
                          </a:solidFill>
                          <a:effectLst/>
                          <a:latin typeface="+mn-ea"/>
                          <a:ea typeface="+mn-ea"/>
                        </a:rPr>
                        <a:t>)</a:t>
                      </a:r>
                      <a:endParaRPr lang="ko-KR" altLang="en-US" sz="900" kern="0" spc="0" dirty="0">
                        <a:solidFill>
                          <a:schemeClr val="tx1"/>
                        </a:solidFill>
                        <a:effectLst/>
                        <a:latin typeface="+mn-ea"/>
                        <a:ea typeface="+mn-ea"/>
                      </a:endParaRPr>
                    </a:p>
                  </a:txBody>
                  <a:tcPr marT="36000" marB="36000" anchor="ctr"/>
                </a:tc>
                <a:tc>
                  <a:txBody>
                    <a:bodyPr/>
                    <a:lstStyle/>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1.</a:t>
                      </a:r>
                      <a:r>
                        <a:rPr lang="ko-KR" altLang="en-US" sz="900" kern="0" spc="0" dirty="0">
                          <a:solidFill>
                            <a:schemeClr val="tx1"/>
                          </a:solidFill>
                          <a:effectLst/>
                          <a:latin typeface="+mn-ea"/>
                          <a:ea typeface="+mn-ea"/>
                        </a:rPr>
                        <a:t>원칙</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출원 계속 중인 모든 특허출원</a:t>
                      </a:r>
                    </a:p>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2.</a:t>
                      </a:r>
                      <a:r>
                        <a:rPr lang="ko-KR" altLang="en-US" sz="900" kern="0" spc="0" dirty="0">
                          <a:solidFill>
                            <a:schemeClr val="tx1"/>
                          </a:solidFill>
                          <a:effectLst/>
                          <a:latin typeface="+mn-ea"/>
                          <a:ea typeface="+mn-ea"/>
                        </a:rPr>
                        <a:t>예외</a:t>
                      </a:r>
                    </a:p>
                    <a:p>
                      <a:pPr marL="124460" marR="0" indent="-124460" algn="just" fontAlgn="base" latinLnBrk="1">
                        <a:lnSpc>
                          <a:spcPct val="100000"/>
                        </a:lnSpc>
                        <a:spcBef>
                          <a:spcPts val="0"/>
                        </a:spcBef>
                        <a:spcAft>
                          <a:spcPts val="0"/>
                        </a:spcAft>
                      </a:pPr>
                      <a:r>
                        <a:rPr lang="ko-KR" altLang="en-US" sz="900" kern="0" spc="0" dirty="0">
                          <a:solidFill>
                            <a:schemeClr val="tx1"/>
                          </a:solidFill>
                          <a:effectLst/>
                          <a:latin typeface="+mn-ea"/>
                          <a:ea typeface="+mn-ea"/>
                        </a:rPr>
                        <a:t>①명세서에 청구범위를 적지 아니한 경우</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法 </a:t>
                      </a:r>
                      <a:r>
                        <a:rPr lang="en-US" altLang="ko-KR" sz="900" kern="0" spc="0" dirty="0">
                          <a:solidFill>
                            <a:schemeClr val="tx1"/>
                          </a:solidFill>
                          <a:effectLst/>
                          <a:latin typeface="+mn-ea"/>
                          <a:ea typeface="+mn-ea"/>
                        </a:rPr>
                        <a:t>64</a:t>
                      </a:r>
                      <a:r>
                        <a:rPr lang="ko-KR" altLang="en-US" sz="900" kern="0" spc="0" dirty="0">
                          <a:solidFill>
                            <a:schemeClr val="tx1"/>
                          </a:solidFill>
                          <a:effectLst/>
                          <a:latin typeface="+mn-ea"/>
                          <a:ea typeface="+mn-ea"/>
                        </a:rPr>
                        <a:t>②</a:t>
                      </a:r>
                      <a:r>
                        <a:rPr lang="en-US" altLang="ko-KR" sz="900" kern="0" spc="0" dirty="0">
                          <a:solidFill>
                            <a:schemeClr val="tx1"/>
                          </a:solidFill>
                          <a:effectLst/>
                          <a:latin typeface="+mn-ea"/>
                          <a:ea typeface="+mn-ea"/>
                        </a:rPr>
                        <a:t>Ⅰ)</a:t>
                      </a:r>
                      <a:endParaRPr lang="ko-KR" altLang="en-US" sz="900" kern="0" spc="0" dirty="0">
                        <a:solidFill>
                          <a:schemeClr val="tx1"/>
                        </a:solidFill>
                        <a:effectLst/>
                        <a:latin typeface="+mn-ea"/>
                        <a:ea typeface="+mn-ea"/>
                      </a:endParaRPr>
                    </a:p>
                    <a:p>
                      <a:pPr marL="124460" marR="0" indent="-124460" algn="just" fontAlgn="base" latinLnBrk="1">
                        <a:lnSpc>
                          <a:spcPct val="100000"/>
                        </a:lnSpc>
                        <a:spcBef>
                          <a:spcPts val="0"/>
                        </a:spcBef>
                        <a:spcAft>
                          <a:spcPts val="0"/>
                        </a:spcAft>
                      </a:pPr>
                      <a:r>
                        <a:rPr lang="ko-KR" altLang="en-US" sz="900" kern="0" spc="0" dirty="0">
                          <a:solidFill>
                            <a:schemeClr val="tx1"/>
                          </a:solidFill>
                          <a:effectLst/>
                          <a:latin typeface="+mn-ea"/>
                          <a:ea typeface="+mn-ea"/>
                        </a:rPr>
                        <a:t>②국어번역문을 제출하지 아니한 경우</a:t>
                      </a:r>
                      <a:r>
                        <a:rPr lang="en-US" altLang="ko-KR" sz="900" kern="0" spc="0" dirty="0">
                          <a:solidFill>
                            <a:schemeClr val="tx1"/>
                          </a:solidFill>
                          <a:effectLst/>
                          <a:latin typeface="+mn-ea"/>
                          <a:ea typeface="+mn-ea"/>
                        </a:rPr>
                        <a:t> (</a:t>
                      </a:r>
                      <a:r>
                        <a:rPr lang="ko-KR" altLang="en-US" sz="900" kern="0" spc="0" dirty="0">
                          <a:solidFill>
                            <a:schemeClr val="tx1"/>
                          </a:solidFill>
                          <a:effectLst/>
                          <a:latin typeface="+mn-ea"/>
                          <a:ea typeface="+mn-ea"/>
                        </a:rPr>
                        <a:t>法 </a:t>
                      </a:r>
                      <a:r>
                        <a:rPr lang="en-US" altLang="ko-KR" sz="900" kern="0" spc="0" dirty="0">
                          <a:solidFill>
                            <a:schemeClr val="tx1"/>
                          </a:solidFill>
                          <a:effectLst/>
                          <a:latin typeface="+mn-ea"/>
                          <a:ea typeface="+mn-ea"/>
                        </a:rPr>
                        <a:t>64</a:t>
                      </a:r>
                      <a:r>
                        <a:rPr lang="ko-KR" altLang="en-US" sz="900" kern="0" spc="0" dirty="0">
                          <a:solidFill>
                            <a:schemeClr val="tx1"/>
                          </a:solidFill>
                          <a:effectLst/>
                          <a:latin typeface="+mn-ea"/>
                          <a:ea typeface="+mn-ea"/>
                        </a:rPr>
                        <a:t>②</a:t>
                      </a:r>
                      <a:r>
                        <a:rPr lang="en-US" altLang="ko-KR" sz="900" kern="0" spc="0" dirty="0">
                          <a:solidFill>
                            <a:schemeClr val="tx1"/>
                          </a:solidFill>
                          <a:effectLst/>
                          <a:latin typeface="+mn-ea"/>
                          <a:ea typeface="+mn-ea"/>
                        </a:rPr>
                        <a:t>Ⅱ)</a:t>
                      </a:r>
                      <a:endParaRPr lang="ko-KR" altLang="en-US" sz="900" kern="0" spc="0" dirty="0">
                        <a:solidFill>
                          <a:schemeClr val="tx1"/>
                        </a:solidFill>
                        <a:effectLst/>
                        <a:latin typeface="+mn-ea"/>
                        <a:ea typeface="+mn-ea"/>
                      </a:endParaRPr>
                    </a:p>
                    <a:p>
                      <a:pPr marL="124460" marR="0" indent="-124460" algn="just" fontAlgn="base" latinLnBrk="1">
                        <a:lnSpc>
                          <a:spcPct val="100000"/>
                        </a:lnSpc>
                        <a:spcBef>
                          <a:spcPts val="0"/>
                        </a:spcBef>
                        <a:spcAft>
                          <a:spcPts val="0"/>
                        </a:spcAft>
                      </a:pPr>
                      <a:r>
                        <a:rPr lang="ko-KR" altLang="en-US" sz="900" kern="0" spc="-40" dirty="0">
                          <a:solidFill>
                            <a:schemeClr val="tx1"/>
                          </a:solidFill>
                          <a:effectLst/>
                          <a:latin typeface="+mn-ea"/>
                          <a:ea typeface="+mn-ea"/>
                        </a:rPr>
                        <a:t>③</a:t>
                      </a:r>
                      <a:r>
                        <a:rPr lang="ko-KR" altLang="en-US" sz="900" kern="0" spc="0" dirty="0">
                          <a:solidFill>
                            <a:schemeClr val="tx1"/>
                          </a:solidFill>
                          <a:effectLst/>
                          <a:latin typeface="+mn-ea"/>
                          <a:ea typeface="+mn-ea"/>
                        </a:rPr>
                        <a:t>등록공고를 한 특허의 경우</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法 </a:t>
                      </a:r>
                      <a:r>
                        <a:rPr lang="en-US" altLang="ko-KR" sz="900" kern="0" spc="0" dirty="0">
                          <a:solidFill>
                            <a:schemeClr val="tx1"/>
                          </a:solidFill>
                          <a:effectLst/>
                          <a:latin typeface="+mn-ea"/>
                          <a:ea typeface="+mn-ea"/>
                        </a:rPr>
                        <a:t>64</a:t>
                      </a:r>
                      <a:r>
                        <a:rPr lang="ko-KR" altLang="en-US" sz="900" kern="0" spc="0" dirty="0">
                          <a:solidFill>
                            <a:schemeClr val="tx1"/>
                          </a:solidFill>
                          <a:effectLst/>
                          <a:latin typeface="+mn-ea"/>
                          <a:ea typeface="+mn-ea"/>
                        </a:rPr>
                        <a:t>②</a:t>
                      </a:r>
                      <a:r>
                        <a:rPr lang="en-US" altLang="ko-KR" sz="900" kern="0" spc="0" dirty="0">
                          <a:solidFill>
                            <a:schemeClr val="tx1"/>
                          </a:solidFill>
                          <a:effectLst/>
                          <a:latin typeface="+mn-ea"/>
                          <a:ea typeface="+mn-ea"/>
                        </a:rPr>
                        <a:t>Ⅲ)</a:t>
                      </a:r>
                      <a:endParaRPr lang="ko-KR" altLang="en-US" sz="900" kern="0" spc="0" dirty="0">
                        <a:solidFill>
                          <a:schemeClr val="tx1"/>
                        </a:solidFill>
                        <a:effectLst/>
                        <a:latin typeface="+mn-ea"/>
                        <a:ea typeface="+mn-ea"/>
                      </a:endParaRPr>
                    </a:p>
                    <a:p>
                      <a:pPr marL="124460" marR="0" indent="-124460" algn="just" fontAlgn="base" latinLnBrk="1">
                        <a:lnSpc>
                          <a:spcPct val="100000"/>
                        </a:lnSpc>
                        <a:spcBef>
                          <a:spcPts val="0"/>
                        </a:spcBef>
                        <a:spcAft>
                          <a:spcPts val="0"/>
                        </a:spcAft>
                      </a:pPr>
                      <a:r>
                        <a:rPr lang="ko-KR" altLang="en-US" sz="900" kern="0" spc="0" dirty="0">
                          <a:solidFill>
                            <a:schemeClr val="tx1"/>
                          </a:solidFill>
                          <a:effectLst/>
                          <a:latin typeface="+mn-ea"/>
                          <a:ea typeface="+mn-ea"/>
                        </a:rPr>
                        <a:t>④국방상 필요한 발명으로서 비밀취급이 필요한 경우</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法 </a:t>
                      </a:r>
                      <a:r>
                        <a:rPr lang="en-US" altLang="ko-KR" sz="900" kern="0" spc="0" dirty="0">
                          <a:solidFill>
                            <a:schemeClr val="tx1"/>
                          </a:solidFill>
                          <a:effectLst/>
                          <a:latin typeface="+mn-ea"/>
                          <a:ea typeface="+mn-ea"/>
                        </a:rPr>
                        <a:t>64</a:t>
                      </a:r>
                      <a:r>
                        <a:rPr lang="ko-KR" altLang="en-US" sz="900" kern="0" spc="0" dirty="0">
                          <a:solidFill>
                            <a:schemeClr val="tx1"/>
                          </a:solidFill>
                          <a:effectLst/>
                          <a:latin typeface="+mn-ea"/>
                          <a:ea typeface="+mn-ea"/>
                        </a:rPr>
                        <a:t>③</a:t>
                      </a:r>
                      <a:r>
                        <a:rPr lang="en-US" altLang="ko-KR" sz="900" kern="0" spc="0" dirty="0">
                          <a:solidFill>
                            <a:schemeClr val="tx1"/>
                          </a:solidFill>
                          <a:effectLst/>
                          <a:latin typeface="+mn-ea"/>
                          <a:ea typeface="+mn-ea"/>
                        </a:rPr>
                        <a:t>) </a:t>
                      </a:r>
                      <a:endParaRPr lang="ko-KR" altLang="en-US" sz="900" kern="0" spc="0" dirty="0">
                        <a:solidFill>
                          <a:schemeClr val="tx1"/>
                        </a:solidFill>
                        <a:effectLst/>
                        <a:latin typeface="+mn-ea"/>
                        <a:ea typeface="+mn-ea"/>
                      </a:endParaRPr>
                    </a:p>
                    <a:p>
                      <a:pPr marL="124460" marR="0" indent="-124460" algn="just" fontAlgn="base" latinLnBrk="1">
                        <a:lnSpc>
                          <a:spcPct val="100000"/>
                        </a:lnSpc>
                        <a:spcBef>
                          <a:spcPts val="0"/>
                        </a:spcBef>
                        <a:spcAft>
                          <a:spcPts val="0"/>
                        </a:spcAft>
                      </a:pPr>
                      <a:r>
                        <a:rPr lang="ko-KR" altLang="en-US" sz="900" kern="0" spc="0" dirty="0">
                          <a:solidFill>
                            <a:schemeClr val="tx1"/>
                          </a:solidFill>
                          <a:effectLst/>
                          <a:latin typeface="+mn-ea"/>
                          <a:ea typeface="+mn-ea"/>
                        </a:rPr>
                        <a:t>⑤</a:t>
                      </a:r>
                      <a:r>
                        <a:rPr lang="ko-KR" altLang="en-US" sz="900" kern="0" spc="0" dirty="0" err="1">
                          <a:solidFill>
                            <a:schemeClr val="tx1"/>
                          </a:solidFill>
                          <a:effectLst/>
                          <a:latin typeface="+mn-ea"/>
                          <a:ea typeface="+mn-ea"/>
                        </a:rPr>
                        <a:t>공서양속에</a:t>
                      </a:r>
                      <a:r>
                        <a:rPr lang="ko-KR" altLang="en-US" sz="900" kern="0" spc="0" dirty="0">
                          <a:solidFill>
                            <a:schemeClr val="tx1"/>
                          </a:solidFill>
                          <a:effectLst/>
                          <a:latin typeface="+mn-ea"/>
                          <a:ea typeface="+mn-ea"/>
                        </a:rPr>
                        <a:t> 어긋나거나 공중의 위생을 해칠 우려가 있는 경우</a:t>
                      </a:r>
                    </a:p>
                  </a:txBody>
                  <a:tcPr marT="36000" marB="36000" anchor="ctr"/>
                </a:tc>
                <a:extLst>
                  <a:ext uri="{0D108BD9-81ED-4DB2-BD59-A6C34878D82A}">
                    <a16:rowId xmlns:a16="http://schemas.microsoft.com/office/drawing/2014/main" val="10002"/>
                  </a:ext>
                </a:extLst>
              </a:tr>
              <a:tr h="163660">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범위</a:t>
                      </a:r>
                    </a:p>
                  </a:txBody>
                  <a:tcPr marL="48271" marR="48271" marT="36000" marB="36000" anchor="ctr"/>
                </a:tc>
                <a:tc>
                  <a:txBody>
                    <a:bodyPr/>
                    <a:lstStyle/>
                    <a:p>
                      <a:pPr marL="0" marR="0" indent="0" algn="just" fontAlgn="base" latinLnBrk="1">
                        <a:lnSpc>
                          <a:spcPct val="100000"/>
                        </a:lnSpc>
                        <a:spcBef>
                          <a:spcPts val="0"/>
                        </a:spcBef>
                        <a:spcAft>
                          <a:spcPts val="0"/>
                        </a:spcAft>
                      </a:pPr>
                      <a:endParaRPr lang="ko-KR" altLang="en-US" sz="900" kern="0" spc="0" dirty="0">
                        <a:solidFill>
                          <a:schemeClr val="tx1"/>
                        </a:solidFill>
                        <a:effectLst/>
                        <a:latin typeface="+mn-ea"/>
                        <a:ea typeface="+mn-ea"/>
                      </a:endParaRPr>
                    </a:p>
                  </a:txBody>
                  <a:tcPr marT="36000" marB="36000" anchor="ctr"/>
                </a:tc>
                <a:tc>
                  <a:txBody>
                    <a:bodyPr/>
                    <a:lstStyle/>
                    <a:p>
                      <a:pPr marL="0" marR="0" indent="0" algn="just" fontAlgn="base" latinLnBrk="1">
                        <a:lnSpc>
                          <a:spcPct val="100000"/>
                        </a:lnSpc>
                        <a:spcBef>
                          <a:spcPts val="0"/>
                        </a:spcBef>
                        <a:spcAft>
                          <a:spcPts val="0"/>
                        </a:spcAft>
                      </a:pPr>
                      <a:endParaRPr lang="ko-KR" altLang="en-US" sz="900" kern="0" spc="0" dirty="0">
                        <a:solidFill>
                          <a:schemeClr val="tx1"/>
                        </a:solidFill>
                        <a:effectLst/>
                        <a:latin typeface="+mn-ea"/>
                        <a:ea typeface="+mn-ea"/>
                      </a:endParaRPr>
                    </a:p>
                  </a:txBody>
                  <a:tcPr marT="36000" marB="36000" anchor="ctr"/>
                </a:tc>
                <a:tc>
                  <a:txBody>
                    <a:bodyPr/>
                    <a:lstStyle/>
                    <a:p>
                      <a:pPr marL="0" marR="0" indent="0" algn="just" fontAlgn="base" latinLnBrk="1">
                        <a:lnSpc>
                          <a:spcPct val="100000"/>
                        </a:lnSpc>
                        <a:spcBef>
                          <a:spcPts val="0"/>
                        </a:spcBef>
                        <a:spcAft>
                          <a:spcPts val="0"/>
                        </a:spcAft>
                      </a:pPr>
                      <a:endParaRPr lang="ko-KR" altLang="en-US" sz="900" kern="0" spc="0">
                        <a:solidFill>
                          <a:schemeClr val="tx1"/>
                        </a:solidFill>
                        <a:effectLst/>
                        <a:latin typeface="+mn-ea"/>
                        <a:ea typeface="+mn-ea"/>
                      </a:endParaRP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a:solidFill>
                            <a:schemeClr val="tx1"/>
                          </a:solidFill>
                          <a:effectLst/>
                          <a:latin typeface="+mn-ea"/>
                          <a:ea typeface="+mn-ea"/>
                        </a:rPr>
                        <a:t>청구항별로 가능</a:t>
                      </a: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a:solidFill>
                            <a:schemeClr val="tx1"/>
                          </a:solidFill>
                          <a:effectLst/>
                          <a:latin typeface="+mn-ea"/>
                          <a:ea typeface="+mn-ea"/>
                        </a:rPr>
                        <a:t>　</a:t>
                      </a:r>
                    </a:p>
                  </a:txBody>
                  <a:tcPr marT="36000" marB="36000" anchor="ctr"/>
                </a:tc>
                <a:extLst>
                  <a:ext uri="{0D108BD9-81ED-4DB2-BD59-A6C34878D82A}">
                    <a16:rowId xmlns:a16="http://schemas.microsoft.com/office/drawing/2014/main" val="10003"/>
                  </a:ext>
                </a:extLst>
              </a:tr>
              <a:tr h="491568">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시</a:t>
                      </a:r>
                    </a:p>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기</a:t>
                      </a:r>
                    </a:p>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적</a:t>
                      </a:r>
                    </a:p>
                  </a:txBody>
                  <a:tcPr marL="48271" marR="48271" marT="36000" marB="36000" anchor="ctr"/>
                </a:tc>
                <a:tc>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원칙</a:t>
                      </a:r>
                    </a:p>
                  </a:txBody>
                  <a:tcPr marL="48271" marR="48271" marT="36000" marB="36000" anchor="ctr"/>
                </a:tc>
                <a:tc>
                  <a:txBody>
                    <a:bodyPr/>
                    <a:lstStyle/>
                    <a:p>
                      <a:pPr marL="0" marR="0" indent="0" algn="just" fontAlgn="base" latinLnBrk="1">
                        <a:lnSpc>
                          <a:spcPct val="100000"/>
                        </a:lnSpc>
                        <a:spcBef>
                          <a:spcPts val="0"/>
                        </a:spcBef>
                        <a:spcAft>
                          <a:spcPts val="0"/>
                        </a:spcAft>
                      </a:pPr>
                      <a:r>
                        <a:rPr lang="ko-KR" altLang="en-US" sz="900" kern="0" spc="0">
                          <a:solidFill>
                            <a:schemeClr val="tx1"/>
                          </a:solidFill>
                          <a:effectLst/>
                          <a:latin typeface="+mn-ea"/>
                          <a:ea typeface="+mn-ea"/>
                        </a:rPr>
                        <a:t>특허결정할 때</a:t>
                      </a: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dirty="0">
                          <a:solidFill>
                            <a:schemeClr val="tx1"/>
                          </a:solidFill>
                          <a:effectLst/>
                          <a:latin typeface="+mn-ea"/>
                          <a:ea typeface="+mn-ea"/>
                        </a:rPr>
                        <a:t>특허권이 </a:t>
                      </a:r>
                      <a:r>
                        <a:rPr lang="ko-KR" altLang="en-US" sz="900" kern="0" spc="0" dirty="0" err="1">
                          <a:solidFill>
                            <a:schemeClr val="tx1"/>
                          </a:solidFill>
                          <a:effectLst/>
                          <a:latin typeface="+mn-ea"/>
                          <a:ea typeface="+mn-ea"/>
                        </a:rPr>
                        <a:t>설정등록되기</a:t>
                      </a:r>
                      <a:r>
                        <a:rPr lang="ko-KR" altLang="en-US" sz="900" kern="0" spc="0" dirty="0">
                          <a:solidFill>
                            <a:schemeClr val="tx1"/>
                          </a:solidFill>
                          <a:effectLst/>
                          <a:latin typeface="+mn-ea"/>
                          <a:ea typeface="+mn-ea"/>
                        </a:rPr>
                        <a:t> 전이나 특허출원이 취하</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포기되기 전</a:t>
                      </a: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a:solidFill>
                            <a:schemeClr val="tx1"/>
                          </a:solidFill>
                          <a:effectLst/>
                          <a:latin typeface="+mn-ea"/>
                          <a:ea typeface="+mn-ea"/>
                        </a:rPr>
                        <a:t>출원계속중</a:t>
                      </a:r>
                    </a:p>
                  </a:txBody>
                  <a:tcPr marT="36000" marB="36000" anchor="ctr"/>
                </a:tc>
                <a:tc>
                  <a:txBody>
                    <a:bodyPr/>
                    <a:lstStyle/>
                    <a:p>
                      <a:pPr marL="73660" marR="0" indent="-73660" algn="just" fontAlgn="base" latinLnBrk="1">
                        <a:lnSpc>
                          <a:spcPct val="100000"/>
                        </a:lnSpc>
                        <a:spcBef>
                          <a:spcPts val="0"/>
                        </a:spcBef>
                        <a:spcAft>
                          <a:spcPts val="0"/>
                        </a:spcAft>
                      </a:pPr>
                      <a:r>
                        <a:rPr lang="en-US" altLang="ko-KR" sz="900" kern="0" spc="0" dirty="0">
                          <a:solidFill>
                            <a:schemeClr val="tx1"/>
                          </a:solidFill>
                          <a:effectLst/>
                          <a:latin typeface="+mn-ea"/>
                          <a:ea typeface="+mn-ea"/>
                        </a:rPr>
                        <a:t>1.</a:t>
                      </a:r>
                      <a:r>
                        <a:rPr lang="ko-KR" altLang="en-US" sz="900" kern="0" spc="0" dirty="0">
                          <a:solidFill>
                            <a:schemeClr val="tx1"/>
                          </a:solidFill>
                          <a:effectLst/>
                          <a:latin typeface="+mn-ea"/>
                          <a:ea typeface="+mn-ea"/>
                        </a:rPr>
                        <a:t>당해 출원이 지식재산처에 계속중인 경우</a:t>
                      </a:r>
                    </a:p>
                    <a:p>
                      <a:pPr marL="73660" marR="0" indent="-73660" algn="just" fontAlgn="base" latinLnBrk="1">
                        <a:lnSpc>
                          <a:spcPct val="100000"/>
                        </a:lnSpc>
                        <a:spcBef>
                          <a:spcPts val="0"/>
                        </a:spcBef>
                        <a:spcAft>
                          <a:spcPts val="0"/>
                        </a:spcAft>
                      </a:pPr>
                      <a:r>
                        <a:rPr lang="en-US" altLang="ko-KR" sz="900" kern="0" spc="0" dirty="0">
                          <a:solidFill>
                            <a:schemeClr val="tx1"/>
                          </a:solidFill>
                          <a:effectLst/>
                          <a:latin typeface="+mn-ea"/>
                          <a:ea typeface="+mn-ea"/>
                        </a:rPr>
                        <a:t>2.</a:t>
                      </a:r>
                      <a:r>
                        <a:rPr lang="ko-KR" altLang="en-US" sz="900" kern="0" spc="0" dirty="0">
                          <a:solidFill>
                            <a:schemeClr val="tx1"/>
                          </a:solidFill>
                          <a:effectLst/>
                          <a:latin typeface="+mn-ea"/>
                          <a:ea typeface="+mn-ea"/>
                        </a:rPr>
                        <a:t>거절결정불복심판단계에서 가능</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단</a:t>
                      </a:r>
                      <a:r>
                        <a:rPr lang="en-US" altLang="ko-KR" sz="900" kern="0" spc="0" dirty="0">
                          <a:solidFill>
                            <a:schemeClr val="tx1"/>
                          </a:solidFill>
                          <a:effectLst/>
                          <a:latin typeface="+mn-ea"/>
                          <a:ea typeface="+mn-ea"/>
                        </a:rPr>
                        <a:t>, </a:t>
                      </a:r>
                      <a:r>
                        <a:rPr lang="ko-KR" altLang="en-US" sz="900" kern="0" spc="0" dirty="0">
                          <a:solidFill>
                            <a:schemeClr val="tx1"/>
                          </a:solidFill>
                          <a:effectLst/>
                          <a:latin typeface="+mn-ea"/>
                          <a:ea typeface="+mn-ea"/>
                        </a:rPr>
                        <a:t>심판원장에게 제출</a:t>
                      </a:r>
                      <a:r>
                        <a:rPr lang="en-US" altLang="ko-KR" sz="900" kern="0" spc="0" dirty="0">
                          <a:solidFill>
                            <a:schemeClr val="tx1"/>
                          </a:solidFill>
                          <a:effectLst/>
                          <a:latin typeface="+mn-ea"/>
                          <a:ea typeface="+mn-ea"/>
                        </a:rPr>
                        <a:t>)</a:t>
                      </a:r>
                      <a:endParaRPr lang="ko-KR" altLang="en-US" sz="900" kern="0" spc="0" dirty="0">
                        <a:solidFill>
                          <a:schemeClr val="tx1"/>
                        </a:solidFill>
                        <a:effectLst/>
                        <a:latin typeface="+mn-ea"/>
                        <a:ea typeface="+mn-ea"/>
                      </a:endParaRP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dirty="0">
                          <a:solidFill>
                            <a:schemeClr val="tx1"/>
                          </a:solidFill>
                          <a:effectLst/>
                          <a:latin typeface="+mn-ea"/>
                          <a:ea typeface="+mn-ea"/>
                        </a:rPr>
                        <a:t>출원일로부터 </a:t>
                      </a:r>
                      <a:r>
                        <a:rPr lang="en-US" altLang="ko-KR" sz="900" kern="0" spc="0" dirty="0">
                          <a:solidFill>
                            <a:schemeClr val="tx1"/>
                          </a:solidFill>
                          <a:effectLst/>
                          <a:latin typeface="+mn-ea"/>
                          <a:ea typeface="+mn-ea"/>
                        </a:rPr>
                        <a:t>1</a:t>
                      </a:r>
                      <a:r>
                        <a:rPr lang="ko-KR" altLang="en-US" sz="900" kern="0" spc="0" dirty="0">
                          <a:solidFill>
                            <a:schemeClr val="tx1"/>
                          </a:solidFill>
                          <a:effectLst/>
                          <a:latin typeface="+mn-ea"/>
                          <a:ea typeface="+mn-ea"/>
                        </a:rPr>
                        <a:t>년</a:t>
                      </a:r>
                      <a:r>
                        <a:rPr lang="en-US" altLang="ko-KR" sz="900" kern="0" spc="0" dirty="0">
                          <a:solidFill>
                            <a:schemeClr val="tx1"/>
                          </a:solidFill>
                          <a:effectLst/>
                          <a:latin typeface="+mn-ea"/>
                          <a:ea typeface="+mn-ea"/>
                        </a:rPr>
                        <a:t>6</a:t>
                      </a:r>
                      <a:r>
                        <a:rPr lang="ko-KR" altLang="en-US" sz="900" kern="0" spc="0" dirty="0">
                          <a:solidFill>
                            <a:schemeClr val="tx1"/>
                          </a:solidFill>
                          <a:effectLst/>
                          <a:latin typeface="+mn-ea"/>
                          <a:ea typeface="+mn-ea"/>
                        </a:rPr>
                        <a:t>월 지난 후</a:t>
                      </a:r>
                    </a:p>
                  </a:txBody>
                  <a:tcPr marT="36000" marB="36000" anchor="ctr"/>
                </a:tc>
                <a:extLst>
                  <a:ext uri="{0D108BD9-81ED-4DB2-BD59-A6C34878D82A}">
                    <a16:rowId xmlns:a16="http://schemas.microsoft.com/office/drawing/2014/main" val="10004"/>
                  </a:ext>
                </a:extLst>
              </a:tr>
              <a:tr h="272962">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b="1" kern="0" spc="0">
                          <a:solidFill>
                            <a:schemeClr val="tx1"/>
                          </a:solidFill>
                          <a:effectLst/>
                          <a:latin typeface="+mn-ea"/>
                          <a:ea typeface="+mn-ea"/>
                        </a:rPr>
                        <a:t>예외</a:t>
                      </a:r>
                    </a:p>
                  </a:txBody>
                  <a:tcPr marL="48271" marR="48271" marT="36000" marB="36000" anchor="ctr"/>
                </a:tc>
                <a:tc>
                  <a:txBody>
                    <a:bodyPr/>
                    <a:lstStyle/>
                    <a:p>
                      <a:pPr marL="0" marR="0" indent="0" algn="just" fontAlgn="base" latinLnBrk="1">
                        <a:lnSpc>
                          <a:spcPct val="100000"/>
                        </a:lnSpc>
                        <a:spcBef>
                          <a:spcPts val="0"/>
                        </a:spcBef>
                        <a:spcAft>
                          <a:spcPts val="0"/>
                        </a:spcAft>
                      </a:pPr>
                      <a:endParaRPr lang="ko-KR" altLang="en-US" sz="900" kern="0" spc="0">
                        <a:solidFill>
                          <a:schemeClr val="tx1"/>
                        </a:solidFill>
                        <a:effectLst/>
                        <a:latin typeface="+mn-ea"/>
                        <a:ea typeface="+mn-ea"/>
                      </a:endParaRPr>
                    </a:p>
                  </a:txBody>
                  <a:tcPr marT="36000" marB="36000" anchor="ctr"/>
                </a:tc>
                <a:tc>
                  <a:txBody>
                    <a:bodyPr/>
                    <a:lstStyle/>
                    <a:p>
                      <a:pPr marL="0" marR="0" indent="0" algn="just" fontAlgn="base" latinLnBrk="1">
                        <a:lnSpc>
                          <a:spcPct val="100000"/>
                        </a:lnSpc>
                        <a:spcBef>
                          <a:spcPts val="0"/>
                        </a:spcBef>
                        <a:spcAft>
                          <a:spcPts val="0"/>
                        </a:spcAft>
                      </a:pPr>
                      <a:endParaRPr lang="ko-KR" altLang="en-US" sz="900" kern="0" spc="0" dirty="0">
                        <a:solidFill>
                          <a:schemeClr val="tx1"/>
                        </a:solidFill>
                        <a:effectLst/>
                        <a:latin typeface="+mn-ea"/>
                        <a:ea typeface="+mn-ea"/>
                      </a:endParaRPr>
                    </a:p>
                  </a:txBody>
                  <a:tcPr marT="36000" marB="36000" anchor="ctr"/>
                </a:tc>
                <a:tc>
                  <a:txBody>
                    <a:bodyPr/>
                    <a:lstStyle/>
                    <a:p>
                      <a:pPr marL="0" marR="0" indent="0" algn="just" fontAlgn="base" latinLnBrk="1">
                        <a:lnSpc>
                          <a:spcPct val="100000"/>
                        </a:lnSpc>
                        <a:spcBef>
                          <a:spcPts val="0"/>
                        </a:spcBef>
                        <a:spcAft>
                          <a:spcPts val="0"/>
                        </a:spcAft>
                      </a:pPr>
                      <a:endParaRPr lang="ko-KR" altLang="en-US" sz="900" kern="0" spc="0">
                        <a:solidFill>
                          <a:schemeClr val="tx1"/>
                        </a:solidFill>
                        <a:effectLst/>
                        <a:latin typeface="+mn-ea"/>
                        <a:ea typeface="+mn-ea"/>
                      </a:endParaRP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a:solidFill>
                            <a:schemeClr val="tx1"/>
                          </a:solidFill>
                          <a:effectLst/>
                          <a:latin typeface="+mn-ea"/>
                          <a:ea typeface="+mn-ea"/>
                        </a:rPr>
                        <a:t>　</a:t>
                      </a:r>
                    </a:p>
                  </a:txBody>
                  <a:tcPr marT="36000" marB="36000" anchor="ctr"/>
                </a:tc>
                <a:tc>
                  <a:txBody>
                    <a:bodyPr/>
                    <a:lstStyle/>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1.</a:t>
                      </a:r>
                      <a:r>
                        <a:rPr lang="ko-KR" altLang="en-US" sz="900" kern="0" spc="0" dirty="0">
                          <a:solidFill>
                            <a:schemeClr val="tx1"/>
                          </a:solidFill>
                          <a:effectLst/>
                          <a:latin typeface="+mn-ea"/>
                          <a:ea typeface="+mn-ea"/>
                        </a:rPr>
                        <a:t>출원일</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판단시점은 모두 소급효 </a:t>
                      </a:r>
                    </a:p>
                    <a:p>
                      <a:pPr marL="73660" marR="0" indent="-73660" algn="just" fontAlgn="base" latinLnBrk="1">
                        <a:lnSpc>
                          <a:spcPct val="100000"/>
                        </a:lnSpc>
                        <a:spcBef>
                          <a:spcPts val="0"/>
                        </a:spcBef>
                        <a:spcAft>
                          <a:spcPts val="0"/>
                        </a:spcAft>
                      </a:pPr>
                      <a:r>
                        <a:rPr lang="en-US" altLang="ko-KR" sz="900" kern="0" spc="0" dirty="0">
                          <a:solidFill>
                            <a:schemeClr val="tx1"/>
                          </a:solidFill>
                          <a:effectLst/>
                          <a:latin typeface="+mn-ea"/>
                          <a:ea typeface="+mn-ea"/>
                        </a:rPr>
                        <a:t>2.1</a:t>
                      </a:r>
                      <a:r>
                        <a:rPr lang="ko-KR" altLang="en-US" sz="900" kern="0" spc="0" dirty="0">
                          <a:solidFill>
                            <a:schemeClr val="tx1"/>
                          </a:solidFill>
                          <a:effectLst/>
                          <a:latin typeface="+mn-ea"/>
                          <a:ea typeface="+mn-ea"/>
                        </a:rPr>
                        <a:t>년</a:t>
                      </a:r>
                      <a:r>
                        <a:rPr lang="en-US" altLang="ko-KR" sz="900" kern="0" spc="0" dirty="0">
                          <a:solidFill>
                            <a:schemeClr val="tx1"/>
                          </a:solidFill>
                          <a:effectLst/>
                          <a:latin typeface="+mn-ea"/>
                          <a:ea typeface="+mn-ea"/>
                        </a:rPr>
                        <a:t>6</a:t>
                      </a:r>
                      <a:r>
                        <a:rPr lang="ko-KR" altLang="en-US" sz="900" kern="0" spc="0" dirty="0">
                          <a:solidFill>
                            <a:schemeClr val="tx1"/>
                          </a:solidFill>
                          <a:effectLst/>
                          <a:latin typeface="+mn-ea"/>
                          <a:ea typeface="+mn-ea"/>
                        </a:rPr>
                        <a:t>월전이라도 출원인의 신청에 의하여 조기공개가 가능</a:t>
                      </a:r>
                    </a:p>
                  </a:txBody>
                  <a:tcPr marT="36000" marB="36000" anchor="ctr"/>
                </a:tc>
                <a:extLst>
                  <a:ext uri="{0D108BD9-81ED-4DB2-BD59-A6C34878D82A}">
                    <a16:rowId xmlns:a16="http://schemas.microsoft.com/office/drawing/2014/main" val="10005"/>
                  </a:ext>
                </a:extLst>
              </a:tr>
              <a:tr h="710173">
                <a:tc gridSpan="3">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절차</a:t>
                      </a:r>
                    </a:p>
                  </a:txBody>
                  <a:tcPr marL="48271" marR="48271" marT="36000" marB="36000" anchor="ct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900" kern="0" spc="0" dirty="0">
                          <a:solidFill>
                            <a:schemeClr val="tx1"/>
                          </a:solidFill>
                          <a:effectLst/>
                          <a:latin typeface="+mn-ea"/>
                          <a:ea typeface="+mn-ea"/>
                        </a:rPr>
                        <a:t>특허결정의 등본 송달과 함께 그 직권보정 사항을 </a:t>
                      </a:r>
                      <a:r>
                        <a:rPr lang="ko-KR" altLang="en-US" sz="900" kern="0" spc="0" dirty="0" err="1">
                          <a:solidFill>
                            <a:schemeClr val="tx1"/>
                          </a:solidFill>
                          <a:effectLst/>
                          <a:latin typeface="+mn-ea"/>
                          <a:ea typeface="+mn-ea"/>
                        </a:rPr>
                        <a:t>특허출원인에게</a:t>
                      </a:r>
                      <a:r>
                        <a:rPr lang="ko-KR" altLang="en-US" sz="900" kern="0" spc="0" dirty="0">
                          <a:solidFill>
                            <a:schemeClr val="tx1"/>
                          </a:solidFill>
                          <a:effectLst/>
                          <a:latin typeface="+mn-ea"/>
                          <a:ea typeface="+mn-ea"/>
                        </a:rPr>
                        <a:t> 통지</a:t>
                      </a:r>
                    </a:p>
                  </a:txBody>
                  <a:tcPr marT="36000" marB="36000" anchor="ctr"/>
                </a:tc>
                <a:tc>
                  <a:txBody>
                    <a:bodyPr/>
                    <a:lstStyle/>
                    <a:p>
                      <a:pPr marL="88900" marR="0" indent="-88900" algn="just" fontAlgn="base" latinLnBrk="1">
                        <a:lnSpc>
                          <a:spcPct val="100000"/>
                        </a:lnSpc>
                        <a:spcBef>
                          <a:spcPts val="0"/>
                        </a:spcBef>
                        <a:spcAft>
                          <a:spcPts val="0"/>
                        </a:spcAft>
                        <a:buAutoNum type="arabicPeriod"/>
                      </a:pP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특허결정을 취소한다는 사실을 </a:t>
                      </a:r>
                      <a:r>
                        <a:rPr lang="ko-KR" altLang="en-US" sz="900" kern="0" spc="0" dirty="0" err="1">
                          <a:solidFill>
                            <a:schemeClr val="tx1"/>
                          </a:solidFill>
                          <a:effectLst/>
                          <a:latin typeface="Rix모던고딕 B" panose="02020603020101020101" pitchFamily="18" charset="-127"/>
                          <a:ea typeface="Rix모던고딕 B" panose="02020603020101020101" pitchFamily="18" charset="-127"/>
                        </a:rPr>
                        <a:t>특허출원인에게</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 통지</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法 </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66</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의</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3②)</a:t>
                      </a:r>
                    </a:p>
                    <a:p>
                      <a:pPr marL="88900" marR="0" indent="-88900" algn="just" fontAlgn="base" latinLnBrk="1">
                        <a:lnSpc>
                          <a:spcPct val="100000"/>
                        </a:lnSpc>
                        <a:spcBef>
                          <a:spcPts val="0"/>
                        </a:spcBef>
                        <a:spcAft>
                          <a:spcPts val="0"/>
                        </a:spcAft>
                        <a:buAutoNum type="arabicPeriod"/>
                      </a:pP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통지 받기 전 특허권이 </a:t>
                      </a:r>
                      <a:r>
                        <a:rPr lang="ko-KR" altLang="en-US" sz="900" kern="0" spc="0" dirty="0" err="1">
                          <a:solidFill>
                            <a:schemeClr val="tx1"/>
                          </a:solidFill>
                          <a:effectLst/>
                          <a:latin typeface="Rix모던고딕 B" panose="02020603020101020101" pitchFamily="18" charset="-127"/>
                          <a:ea typeface="Rix모던고딕 B" panose="02020603020101020101" pitchFamily="18" charset="-127"/>
                        </a:rPr>
                        <a:t>설정등록된</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 경우나 특허출원이 취하</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포기된 경우에는 특허결정의 취소는 없었던 것으로 간주</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法 </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66</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의</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3</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③</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endParaRPr lang="ko-KR" altLang="en-US" sz="900" kern="0" spc="0" dirty="0">
                        <a:solidFill>
                          <a:schemeClr val="tx1"/>
                        </a:solidFill>
                        <a:effectLst/>
                        <a:latin typeface="Rix모던고딕 B" panose="02020603020101020101" pitchFamily="18" charset="-127"/>
                        <a:ea typeface="Rix모던고딕 B" panose="02020603020101020101" pitchFamily="18" charset="-127"/>
                      </a:endParaRPr>
                    </a:p>
                  </a:txBody>
                  <a:tcPr marT="36000" marB="36000" anchor="ctr"/>
                </a:tc>
                <a:tc>
                  <a:txBody>
                    <a:bodyPr/>
                    <a:lstStyle/>
                    <a:p>
                      <a:pPr marL="73660" marR="0" indent="-73660" algn="just" fontAlgn="base" latinLnBrk="1">
                        <a:lnSpc>
                          <a:spcPct val="100000"/>
                        </a:lnSpc>
                        <a:spcBef>
                          <a:spcPts val="0"/>
                        </a:spcBef>
                        <a:spcAft>
                          <a:spcPts val="0"/>
                        </a:spcAft>
                      </a:pPr>
                      <a:r>
                        <a:rPr lang="ko-KR" altLang="en-US" sz="900" kern="0" spc="-20" dirty="0">
                          <a:solidFill>
                            <a:schemeClr val="tx1"/>
                          </a:solidFill>
                          <a:effectLst/>
                          <a:latin typeface="+mn-ea"/>
                          <a:ea typeface="+mn-ea"/>
                        </a:rPr>
                        <a:t>취하</a:t>
                      </a:r>
                      <a:r>
                        <a:rPr lang="en-US" altLang="ko-KR" sz="900" kern="0" spc="-20" dirty="0">
                          <a:solidFill>
                            <a:schemeClr val="tx1"/>
                          </a:solidFill>
                          <a:effectLst/>
                          <a:latin typeface="+mn-ea"/>
                          <a:ea typeface="+mn-ea"/>
                        </a:rPr>
                        <a:t>/</a:t>
                      </a:r>
                      <a:r>
                        <a:rPr lang="ko-KR" altLang="en-US" sz="900" kern="0" spc="-20" dirty="0">
                          <a:solidFill>
                            <a:schemeClr val="tx1"/>
                          </a:solidFill>
                          <a:effectLst/>
                          <a:latin typeface="+mn-ea"/>
                          <a:ea typeface="+mn-ea"/>
                        </a:rPr>
                        <a:t>포기서 제출</a:t>
                      </a:r>
                    </a:p>
                  </a:txBody>
                  <a:tcPr marT="36000" marB="36000" anchor="ctr"/>
                </a:tc>
                <a:tc>
                  <a:txBody>
                    <a:bodyPr/>
                    <a:lstStyle/>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1.</a:t>
                      </a:r>
                      <a:r>
                        <a:rPr lang="ko-KR" altLang="en-US" sz="900" kern="0" spc="0" dirty="0">
                          <a:solidFill>
                            <a:schemeClr val="tx1"/>
                          </a:solidFill>
                          <a:effectLst/>
                          <a:latin typeface="+mn-ea"/>
                          <a:ea typeface="+mn-ea"/>
                        </a:rPr>
                        <a:t>정보제공</a:t>
                      </a:r>
                    </a:p>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2.</a:t>
                      </a:r>
                      <a:r>
                        <a:rPr lang="ko-KR" altLang="en-US" sz="900" kern="0" spc="0" dirty="0">
                          <a:solidFill>
                            <a:schemeClr val="tx1"/>
                          </a:solidFill>
                          <a:effectLst/>
                          <a:latin typeface="+mn-ea"/>
                          <a:ea typeface="+mn-ea"/>
                        </a:rPr>
                        <a:t>심사에 참고</a:t>
                      </a:r>
                    </a:p>
                    <a:p>
                      <a:pPr marL="68580" marR="0" indent="-68580" algn="just" fontAlgn="base" latinLnBrk="1">
                        <a:lnSpc>
                          <a:spcPct val="100000"/>
                        </a:lnSpc>
                        <a:spcBef>
                          <a:spcPts val="0"/>
                        </a:spcBef>
                        <a:spcAft>
                          <a:spcPts val="0"/>
                        </a:spcAft>
                      </a:pPr>
                      <a:r>
                        <a:rPr lang="en-US" altLang="ko-KR" sz="900" kern="0" spc="0" dirty="0">
                          <a:solidFill>
                            <a:schemeClr val="tx1"/>
                          </a:solidFill>
                          <a:effectLst/>
                          <a:latin typeface="+mn-ea"/>
                          <a:ea typeface="+mn-ea"/>
                        </a:rPr>
                        <a:t>3.</a:t>
                      </a:r>
                      <a:r>
                        <a:rPr lang="ko-KR" altLang="en-US" sz="900" kern="0" spc="0" dirty="0">
                          <a:solidFill>
                            <a:schemeClr val="tx1"/>
                          </a:solidFill>
                          <a:effectLst/>
                          <a:latin typeface="+mn-ea"/>
                          <a:ea typeface="+mn-ea"/>
                        </a:rPr>
                        <a:t>활용여부 및 특허여부결정 통보</a:t>
                      </a:r>
                    </a:p>
                  </a:txBody>
                  <a:tcPr marT="36000" marB="36000" anchor="ctr"/>
                </a:tc>
                <a:tc>
                  <a:txBody>
                    <a:bodyPr/>
                    <a:lstStyle/>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1.</a:t>
                      </a:r>
                      <a:r>
                        <a:rPr lang="ko-KR" altLang="en-US" sz="900" kern="0" spc="0" dirty="0">
                          <a:solidFill>
                            <a:schemeClr val="tx1"/>
                          </a:solidFill>
                          <a:effectLst/>
                          <a:latin typeface="+mn-ea"/>
                          <a:ea typeface="+mn-ea"/>
                        </a:rPr>
                        <a:t>전문공개</a:t>
                      </a:r>
                      <a:r>
                        <a:rPr lang="en-US" altLang="ko-KR" sz="900" kern="0" spc="0" dirty="0">
                          <a:solidFill>
                            <a:schemeClr val="tx1"/>
                          </a:solidFill>
                          <a:effectLst/>
                          <a:latin typeface="+mn-ea"/>
                          <a:ea typeface="+mn-ea"/>
                        </a:rPr>
                        <a:t>,CD-ROM</a:t>
                      </a:r>
                      <a:endParaRPr lang="ko-KR" altLang="en-US" sz="900" kern="0" spc="0" dirty="0">
                        <a:solidFill>
                          <a:schemeClr val="tx1"/>
                        </a:solidFill>
                        <a:effectLst/>
                        <a:latin typeface="+mn-ea"/>
                        <a:ea typeface="+mn-ea"/>
                      </a:endParaRPr>
                    </a:p>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2.</a:t>
                      </a:r>
                      <a:r>
                        <a:rPr lang="ko-KR" altLang="en-US" sz="900" kern="0" spc="0" dirty="0" err="1">
                          <a:solidFill>
                            <a:schemeClr val="tx1"/>
                          </a:solidFill>
                          <a:effectLst/>
                          <a:latin typeface="+mn-ea"/>
                          <a:ea typeface="+mn-ea"/>
                        </a:rPr>
                        <a:t>조기공개신청의경우</a:t>
                      </a:r>
                      <a:endParaRPr lang="ko-KR" altLang="en-US" sz="900" kern="0" spc="0" dirty="0">
                        <a:solidFill>
                          <a:schemeClr val="tx1"/>
                        </a:solidFill>
                        <a:effectLst/>
                        <a:latin typeface="+mn-ea"/>
                        <a:ea typeface="+mn-ea"/>
                      </a:endParaRPr>
                    </a:p>
                    <a:p>
                      <a:pPr marL="0" marR="0" indent="0" algn="just" fontAlgn="base" latinLnBrk="1">
                        <a:lnSpc>
                          <a:spcPct val="100000"/>
                        </a:lnSpc>
                        <a:spcBef>
                          <a:spcPts val="0"/>
                        </a:spcBef>
                        <a:spcAft>
                          <a:spcPts val="0"/>
                        </a:spcAft>
                      </a:pPr>
                      <a:r>
                        <a:rPr lang="ko-KR" altLang="en-US" sz="900" kern="0" spc="0">
                          <a:solidFill>
                            <a:schemeClr val="tx1"/>
                          </a:solidFill>
                          <a:effectLst/>
                          <a:latin typeface="Rix모던고딕 B" panose="02020603020101020101" pitchFamily="18" charset="-127"/>
                          <a:ea typeface="Rix모던고딕 B" panose="02020603020101020101" pitchFamily="18" charset="-127"/>
                        </a:rPr>
                        <a:t>①</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신청서의 제출</a:t>
                      </a:r>
                    </a:p>
                    <a:p>
                      <a:pPr marL="0" marR="0" indent="0" algn="just" fontAlgn="base" latinLnBrk="1">
                        <a:lnSpc>
                          <a:spcPct val="100000"/>
                        </a:lnSpc>
                        <a:spcBef>
                          <a:spcPts val="0"/>
                        </a:spcBef>
                        <a:spcAft>
                          <a:spcPts val="0"/>
                        </a:spcAft>
                      </a:pP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②외국어출원</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 </a:t>
                      </a:r>
                      <a:r>
                        <a:rPr lang="ko-KR" altLang="en-US" sz="900" kern="0" spc="0" dirty="0" err="1">
                          <a:solidFill>
                            <a:schemeClr val="tx1"/>
                          </a:solidFill>
                          <a:effectLst/>
                          <a:latin typeface="Rix모던고딕 B" panose="02020603020101020101" pitchFamily="18" charset="-127"/>
                          <a:ea typeface="Rix모던고딕 B" panose="02020603020101020101" pitchFamily="18" charset="-127"/>
                        </a:rPr>
                        <a:t>국제특허출원의</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 경우 번역문 제출 후에 신청가능</a:t>
                      </a:r>
                      <a:endParaRPr lang="en-US" altLang="ko-KR" sz="900" kern="0" spc="0" dirty="0">
                        <a:solidFill>
                          <a:schemeClr val="tx1"/>
                        </a:solidFill>
                        <a:effectLst/>
                        <a:latin typeface="Rix모던고딕 B" panose="02020603020101020101" pitchFamily="18" charset="-127"/>
                        <a:ea typeface="Rix모던고딕 B" panose="02020603020101020101" pitchFamily="18" charset="-127"/>
                      </a:endParaRPr>
                    </a:p>
                    <a:p>
                      <a:pPr marL="0" marR="0" indent="0" algn="just" fontAlgn="base" latinLnBrk="1">
                        <a:lnSpc>
                          <a:spcPct val="100000"/>
                        </a:lnSpc>
                        <a:spcBef>
                          <a:spcPts val="0"/>
                        </a:spcBef>
                        <a:spcAft>
                          <a:spcPts val="0"/>
                        </a:spcAft>
                      </a:pPr>
                      <a:r>
                        <a:rPr lang="ko-KR" altLang="en-US" sz="900" kern="0" spc="-40" dirty="0">
                          <a:solidFill>
                            <a:schemeClr val="tx1"/>
                          </a:solidFill>
                          <a:effectLst/>
                          <a:latin typeface="Rix모던고딕 B" panose="02020603020101020101" pitchFamily="18" charset="-127"/>
                          <a:ea typeface="Rix모던고딕 B" panose="02020603020101020101" pitchFamily="18" charset="-127"/>
                        </a:rPr>
                        <a:t>③</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신청일로부터 </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10</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일 이내 취하</a:t>
                      </a:r>
                    </a:p>
                  </a:txBody>
                  <a:tcPr marT="36000" marB="36000" anchor="ctr"/>
                </a:tc>
                <a:extLst>
                  <a:ext uri="{0D108BD9-81ED-4DB2-BD59-A6C34878D82A}">
                    <a16:rowId xmlns:a16="http://schemas.microsoft.com/office/drawing/2014/main" val="10006"/>
                  </a:ext>
                </a:extLst>
              </a:tr>
              <a:tr h="710173">
                <a:tc rowSpan="2" gridSpan="2">
                  <a:txBody>
                    <a:bodyPr/>
                    <a:lstStyle/>
                    <a:p>
                      <a:pPr marL="0" marR="0" indent="0" algn="ctr" fontAlgn="base" latinLnBrk="0">
                        <a:lnSpc>
                          <a:spcPct val="100000"/>
                        </a:lnSpc>
                        <a:spcBef>
                          <a:spcPts val="0"/>
                        </a:spcBef>
                        <a:spcAft>
                          <a:spcPts val="0"/>
                        </a:spcAft>
                      </a:pPr>
                      <a:r>
                        <a:rPr lang="ko-KR" altLang="en-US" sz="900" b="1" kern="0" spc="0">
                          <a:solidFill>
                            <a:schemeClr val="tx1"/>
                          </a:solidFill>
                          <a:effectLst/>
                          <a:latin typeface="+mn-ea"/>
                          <a:ea typeface="+mn-ea"/>
                        </a:rPr>
                        <a:t>효과</a:t>
                      </a:r>
                    </a:p>
                  </a:txBody>
                  <a:tcPr marL="48271" marR="48271" marT="36000" marB="36000" anchor="ctr"/>
                </a:tc>
                <a:tc rowSpan="2"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적</a:t>
                      </a:r>
                    </a:p>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법</a:t>
                      </a:r>
                    </a:p>
                  </a:txBody>
                  <a:tcPr marL="48271" marR="48271" marT="36000" marB="36000" anchor="ctr"/>
                </a:tc>
                <a:tc>
                  <a:txBody>
                    <a:bodyPr/>
                    <a:lstStyle/>
                    <a:p>
                      <a:pPr marL="0" marR="0" indent="0" algn="just" fontAlgn="base" latinLnBrk="1">
                        <a:lnSpc>
                          <a:spcPct val="100000"/>
                        </a:lnSpc>
                        <a:spcBef>
                          <a:spcPts val="0"/>
                        </a:spcBef>
                        <a:spcAft>
                          <a:spcPts val="0"/>
                        </a:spcAft>
                      </a:pP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출원인이 의견서를 제출하지 아니한 경우 의사에 의한 보정과 같이 취급</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法 </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66</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의</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2③). </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단</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 </a:t>
                      </a:r>
                      <a:r>
                        <a:rPr lang="ko-KR" altLang="en-US" sz="900" dirty="0">
                          <a:solidFill>
                            <a:schemeClr val="tx1"/>
                          </a:solidFill>
                          <a:latin typeface="Rix모던고딕 B" panose="02020603020101020101" pitchFamily="18" charset="-127"/>
                          <a:ea typeface="Rix모던고딕 B" panose="02020603020101020101" pitchFamily="18" charset="-127"/>
                        </a:rPr>
                        <a:t>직권보정이 신규사항을 추가하거나 명백히 잘못되지 아니한 사항을 직권보정한 경우 그 직권보정은 처음부터 없었던 것으로 간주</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法 </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66</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의</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2⑤)</a:t>
                      </a:r>
                      <a:r>
                        <a:rPr lang="ko-KR" altLang="en-US" sz="900" dirty="0">
                          <a:solidFill>
                            <a:schemeClr val="tx1"/>
                          </a:solidFill>
                          <a:latin typeface="Rix모던고딕 B" panose="02020603020101020101" pitchFamily="18" charset="-127"/>
                          <a:ea typeface="Rix모던고딕 B" panose="02020603020101020101" pitchFamily="18" charset="-127"/>
                        </a:rPr>
                        <a:t> </a:t>
                      </a:r>
                      <a:endParaRPr lang="ko-KR" altLang="en-US" sz="900" kern="0" spc="0" dirty="0">
                        <a:solidFill>
                          <a:schemeClr val="tx1"/>
                        </a:solidFill>
                        <a:effectLst/>
                        <a:latin typeface="Rix모던고딕 B" panose="02020603020101020101" pitchFamily="18" charset="-127"/>
                        <a:ea typeface="Rix모던고딕 B" panose="02020603020101020101" pitchFamily="18" charset="-127"/>
                      </a:endParaRPr>
                    </a:p>
                  </a:txBody>
                  <a:tcPr marT="36000" marB="36000" anchor="ctr"/>
                </a:tc>
                <a:tc>
                  <a:txBody>
                    <a:bodyPr/>
                    <a:lstStyle/>
                    <a:p>
                      <a:pPr marL="0" marR="0" indent="0" algn="just" fontAlgn="base" latinLnBrk="1">
                        <a:lnSpc>
                          <a:spcPct val="100000"/>
                        </a:lnSpc>
                        <a:spcBef>
                          <a:spcPts val="0"/>
                        </a:spcBef>
                        <a:spcAft>
                          <a:spcPts val="0"/>
                        </a:spcAft>
                        <a:buNone/>
                      </a:pP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1.</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특허결정취소 후 </a:t>
                      </a:r>
                      <a:r>
                        <a:rPr lang="ko-KR" altLang="en-US" sz="900" kern="0" spc="0" dirty="0" err="1">
                          <a:solidFill>
                            <a:schemeClr val="tx1"/>
                          </a:solidFill>
                          <a:effectLst/>
                          <a:latin typeface="Rix모던고딕 B" panose="02020603020101020101" pitchFamily="18" charset="-127"/>
                          <a:ea typeface="Rix모던고딕 B" panose="02020603020101020101" pitchFamily="18" charset="-127"/>
                        </a:rPr>
                        <a:t>최초거절이유통지</a:t>
                      </a:r>
                      <a:endParaRPr lang="en-US" altLang="ko-KR" sz="900" kern="0" spc="0" dirty="0">
                        <a:solidFill>
                          <a:schemeClr val="tx1"/>
                        </a:solidFill>
                        <a:effectLst/>
                        <a:latin typeface="Rix모던고딕 B" panose="02020603020101020101" pitchFamily="18" charset="-127"/>
                        <a:ea typeface="Rix모던고딕 B" panose="02020603020101020101" pitchFamily="18" charset="-127"/>
                      </a:endParaRPr>
                    </a:p>
                    <a:p>
                      <a:pPr marL="0" marR="0" indent="0" algn="just" fontAlgn="base" latinLnBrk="1">
                        <a:lnSpc>
                          <a:spcPct val="100000"/>
                        </a:lnSpc>
                        <a:spcBef>
                          <a:spcPts val="0"/>
                        </a:spcBef>
                        <a:spcAft>
                          <a:spcPts val="0"/>
                        </a:spcAft>
                        <a:buNone/>
                      </a:pP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法 </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63</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①</a:t>
                      </a:r>
                      <a:r>
                        <a:rPr lang="ko-KR" altLang="en-US" sz="900" kern="0" spc="0" dirty="0" err="1">
                          <a:solidFill>
                            <a:schemeClr val="tx1"/>
                          </a:solidFill>
                          <a:effectLst/>
                          <a:latin typeface="Rix모던고딕 B" panose="02020603020101020101" pitchFamily="18" charset="-127"/>
                          <a:ea typeface="Rix모던고딕 B" panose="02020603020101020101" pitchFamily="18" charset="-127"/>
                        </a:rPr>
                        <a:t>Ⅱ</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+51</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①</a:t>
                      </a:r>
                      <a:r>
                        <a:rPr lang="ko-KR" altLang="en-US" sz="900" kern="0" spc="0" dirty="0" err="1">
                          <a:solidFill>
                            <a:schemeClr val="tx1"/>
                          </a:solidFill>
                          <a:effectLst/>
                          <a:latin typeface="Rix모던고딕 B" panose="02020603020101020101" pitchFamily="18" charset="-127"/>
                          <a:ea typeface="Rix모던고딕 B" panose="02020603020101020101" pitchFamily="18" charset="-127"/>
                        </a:rPr>
                        <a:t>Ⅱ</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+47</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①</a:t>
                      </a:r>
                      <a:r>
                        <a:rPr lang="ko-KR" altLang="en-US" sz="900" kern="0" spc="0" dirty="0" err="1">
                          <a:solidFill>
                            <a:schemeClr val="tx1"/>
                          </a:solidFill>
                          <a:effectLst/>
                          <a:latin typeface="Rix모던고딕 B" panose="02020603020101020101" pitchFamily="18" charset="-127"/>
                          <a:ea typeface="Rix모던고딕 B" panose="02020603020101020101" pitchFamily="18" charset="-127"/>
                        </a:rPr>
                        <a:t>Ⅱ괄호</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p>
                    <a:p>
                      <a:pPr marL="0" marR="0" indent="0" algn="just" fontAlgn="base" latinLnBrk="1">
                        <a:lnSpc>
                          <a:spcPct val="100000"/>
                        </a:lnSpc>
                        <a:spcBef>
                          <a:spcPts val="0"/>
                        </a:spcBef>
                        <a:spcAft>
                          <a:spcPts val="0"/>
                        </a:spcAft>
                        <a:buNone/>
                      </a:pP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2.</a:t>
                      </a:r>
                      <a:r>
                        <a:rPr lang="ko-KR" altLang="en-US" sz="900" kern="0" spc="0" dirty="0" err="1">
                          <a:solidFill>
                            <a:schemeClr val="tx1"/>
                          </a:solidFill>
                          <a:effectLst/>
                          <a:latin typeface="Rix모던고딕 B" panose="02020603020101020101" pitchFamily="18" charset="-127"/>
                          <a:ea typeface="Rix모던고딕 B" panose="02020603020101020101" pitchFamily="18" charset="-127"/>
                        </a:rPr>
                        <a:t>보정각하의</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 예외</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法 </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51</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①</a:t>
                      </a:r>
                      <a:r>
                        <a:rPr lang="ko-KR" altLang="en-US" sz="900" kern="0" spc="0" dirty="0" err="1">
                          <a:solidFill>
                            <a:schemeClr val="tx1"/>
                          </a:solidFill>
                          <a:effectLst/>
                          <a:latin typeface="Rix모던고딕 B" panose="02020603020101020101" pitchFamily="18" charset="-127"/>
                          <a:ea typeface="Rix모던고딕 B" panose="02020603020101020101" pitchFamily="18" charset="-127"/>
                        </a:rPr>
                        <a:t>Ⅱ</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p>
                  </a:txBody>
                  <a:tcPr marT="36000" marB="36000" anchor="ctr"/>
                </a:tc>
                <a:tc>
                  <a:txBody>
                    <a:bodyPr/>
                    <a:lstStyle/>
                    <a:p>
                      <a:pPr marL="73660" marR="0" indent="-73660" algn="just" fontAlgn="base" latinLnBrk="1">
                        <a:lnSpc>
                          <a:spcPct val="100000"/>
                        </a:lnSpc>
                        <a:spcBef>
                          <a:spcPts val="0"/>
                        </a:spcBef>
                        <a:spcAft>
                          <a:spcPts val="0"/>
                        </a:spcAft>
                      </a:pPr>
                      <a:r>
                        <a:rPr lang="en-US" altLang="ko-KR" sz="900" kern="0" spc="0" dirty="0">
                          <a:solidFill>
                            <a:schemeClr val="tx1"/>
                          </a:solidFill>
                          <a:effectLst/>
                          <a:latin typeface="+mn-ea"/>
                          <a:ea typeface="+mn-ea"/>
                        </a:rPr>
                        <a:t>1.</a:t>
                      </a:r>
                      <a:r>
                        <a:rPr lang="ko-KR" altLang="en-US" sz="900" kern="0" spc="0" dirty="0">
                          <a:solidFill>
                            <a:schemeClr val="tx1"/>
                          </a:solidFill>
                          <a:effectLst/>
                          <a:latin typeface="+mn-ea"/>
                          <a:ea typeface="+mn-ea"/>
                        </a:rPr>
                        <a:t>절차의 종료</a:t>
                      </a:r>
                    </a:p>
                    <a:p>
                      <a:pPr marL="73660" marR="0" indent="-73660" algn="just" fontAlgn="base" latinLnBrk="1">
                        <a:lnSpc>
                          <a:spcPct val="100000"/>
                        </a:lnSpc>
                        <a:spcBef>
                          <a:spcPts val="0"/>
                        </a:spcBef>
                        <a:spcAft>
                          <a:spcPts val="0"/>
                        </a:spcAft>
                      </a:pPr>
                      <a:r>
                        <a:rPr lang="en-US" altLang="ko-KR" sz="900" kern="0" spc="0" dirty="0">
                          <a:solidFill>
                            <a:schemeClr val="tx1"/>
                          </a:solidFill>
                          <a:effectLst/>
                          <a:latin typeface="+mn-ea"/>
                          <a:ea typeface="+mn-ea"/>
                        </a:rPr>
                        <a:t>2.</a:t>
                      </a:r>
                      <a:r>
                        <a:rPr lang="ko-KR" altLang="en-US" sz="900" kern="0" spc="0" dirty="0">
                          <a:solidFill>
                            <a:schemeClr val="tx1"/>
                          </a:solidFill>
                          <a:effectLst/>
                          <a:latin typeface="+mn-ea"/>
                          <a:ea typeface="+mn-ea"/>
                        </a:rPr>
                        <a:t>등록금지적 효력</a:t>
                      </a:r>
                    </a:p>
                    <a:p>
                      <a:pPr marL="73660" marR="0" indent="-73660" algn="just" fontAlgn="base" latinLnBrk="1">
                        <a:lnSpc>
                          <a:spcPct val="100000"/>
                        </a:lnSpc>
                        <a:spcBef>
                          <a:spcPts val="0"/>
                        </a:spcBef>
                        <a:spcAft>
                          <a:spcPts val="0"/>
                        </a:spcAft>
                      </a:pPr>
                      <a:r>
                        <a:rPr lang="en-US" altLang="ko-KR" sz="900" kern="0" spc="0" dirty="0">
                          <a:solidFill>
                            <a:schemeClr val="tx1"/>
                          </a:solidFill>
                          <a:effectLst/>
                          <a:latin typeface="+mn-ea"/>
                          <a:ea typeface="+mn-ea"/>
                        </a:rPr>
                        <a:t>3.</a:t>
                      </a:r>
                      <a:r>
                        <a:rPr lang="ko-KR" altLang="en-US" sz="900" kern="0" spc="0" dirty="0">
                          <a:solidFill>
                            <a:schemeClr val="tx1"/>
                          </a:solidFill>
                          <a:effectLst/>
                          <a:latin typeface="+mn-ea"/>
                          <a:ea typeface="+mn-ea"/>
                        </a:rPr>
                        <a:t>보상금청구권의 소멸</a:t>
                      </a:r>
                    </a:p>
                    <a:p>
                      <a:pPr marL="73660" marR="0" indent="-73660" algn="just" fontAlgn="base" latinLnBrk="1">
                        <a:lnSpc>
                          <a:spcPct val="100000"/>
                        </a:lnSpc>
                        <a:spcBef>
                          <a:spcPts val="0"/>
                        </a:spcBef>
                        <a:spcAft>
                          <a:spcPts val="0"/>
                        </a:spcAft>
                      </a:pPr>
                      <a:r>
                        <a:rPr lang="en-US" altLang="ko-KR" sz="900" kern="0" spc="0" dirty="0">
                          <a:solidFill>
                            <a:schemeClr val="tx1"/>
                          </a:solidFill>
                          <a:effectLst/>
                          <a:latin typeface="+mn-ea"/>
                          <a:ea typeface="+mn-ea"/>
                        </a:rPr>
                        <a:t>4.</a:t>
                      </a:r>
                      <a:r>
                        <a:rPr lang="ko-KR" altLang="en-US" sz="900" kern="0" spc="0" dirty="0" err="1">
                          <a:solidFill>
                            <a:schemeClr val="tx1"/>
                          </a:solidFill>
                          <a:effectLst/>
                          <a:latin typeface="+mn-ea"/>
                          <a:ea typeface="+mn-ea"/>
                        </a:rPr>
                        <a:t>출원료등의</a:t>
                      </a:r>
                      <a:r>
                        <a:rPr lang="ko-KR" altLang="en-US" sz="900" kern="0" spc="0" dirty="0">
                          <a:solidFill>
                            <a:schemeClr val="tx1"/>
                          </a:solidFill>
                          <a:effectLst/>
                          <a:latin typeface="+mn-ea"/>
                          <a:ea typeface="+mn-ea"/>
                        </a:rPr>
                        <a:t> 반환</a:t>
                      </a: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a:solidFill>
                            <a:schemeClr val="tx1"/>
                          </a:solidFill>
                          <a:effectLst/>
                          <a:latin typeface="+mn-ea"/>
                          <a:ea typeface="+mn-ea"/>
                        </a:rPr>
                        <a:t>심사의 신속성 및 정확성 향상</a:t>
                      </a:r>
                    </a:p>
                  </a:txBody>
                  <a:tcPr marT="36000" marB="36000" anchor="ctr"/>
                </a:tc>
                <a:tc>
                  <a:txBody>
                    <a:bodyPr/>
                    <a:lstStyle/>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1.</a:t>
                      </a:r>
                      <a:r>
                        <a:rPr lang="ko-KR" altLang="en-US" sz="900" kern="0" spc="0" dirty="0">
                          <a:solidFill>
                            <a:schemeClr val="tx1"/>
                          </a:solidFill>
                          <a:effectLst/>
                          <a:latin typeface="+mn-ea"/>
                          <a:ea typeface="+mn-ea"/>
                        </a:rPr>
                        <a:t>보상금청구권의 발생</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法</a:t>
                      </a:r>
                      <a:r>
                        <a:rPr lang="en-US" altLang="ko-KR" sz="900" kern="0" spc="0" dirty="0">
                          <a:solidFill>
                            <a:schemeClr val="tx1"/>
                          </a:solidFill>
                          <a:effectLst/>
                          <a:latin typeface="+mn-ea"/>
                          <a:ea typeface="+mn-ea"/>
                        </a:rPr>
                        <a:t>65)</a:t>
                      </a:r>
                      <a:endParaRPr lang="ko-KR" altLang="en-US" sz="900" kern="0" spc="0" dirty="0">
                        <a:solidFill>
                          <a:schemeClr val="tx1"/>
                        </a:solidFill>
                        <a:effectLst/>
                        <a:latin typeface="+mn-ea"/>
                        <a:ea typeface="+mn-ea"/>
                      </a:endParaRPr>
                    </a:p>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2.</a:t>
                      </a:r>
                      <a:r>
                        <a:rPr lang="ko-KR" altLang="en-US" sz="900" kern="0" spc="0" dirty="0">
                          <a:solidFill>
                            <a:schemeClr val="tx1"/>
                          </a:solidFill>
                          <a:effectLst/>
                          <a:latin typeface="+mn-ea"/>
                          <a:ea typeface="+mn-ea"/>
                        </a:rPr>
                        <a:t>우선심사의 신청</a:t>
                      </a:r>
                      <a:r>
                        <a:rPr lang="en-US" altLang="ko-KR" sz="900" kern="0" spc="0" dirty="0">
                          <a:solidFill>
                            <a:schemeClr val="tx1"/>
                          </a:solidFill>
                          <a:effectLst/>
                          <a:latin typeface="+mn-ea"/>
                          <a:ea typeface="+mn-ea"/>
                        </a:rPr>
                        <a:t>(</a:t>
                      </a:r>
                      <a:r>
                        <a:rPr lang="ko-KR" altLang="en-US" sz="900" kern="0" spc="0" dirty="0">
                          <a:solidFill>
                            <a:schemeClr val="tx1"/>
                          </a:solidFill>
                          <a:effectLst/>
                          <a:latin typeface="+mn-ea"/>
                          <a:ea typeface="+mn-ea"/>
                        </a:rPr>
                        <a:t>法</a:t>
                      </a:r>
                      <a:r>
                        <a:rPr lang="en-US" altLang="ko-KR" sz="900" kern="0" spc="0" dirty="0">
                          <a:solidFill>
                            <a:schemeClr val="tx1"/>
                          </a:solidFill>
                          <a:effectLst/>
                          <a:latin typeface="+mn-ea"/>
                          <a:ea typeface="+mn-ea"/>
                        </a:rPr>
                        <a:t>61Ⅰ)</a:t>
                      </a:r>
                      <a:endParaRPr lang="ko-KR" altLang="en-US" sz="900" kern="0" spc="0" dirty="0">
                        <a:solidFill>
                          <a:schemeClr val="tx1"/>
                        </a:solidFill>
                        <a:effectLst/>
                        <a:latin typeface="+mn-ea"/>
                        <a:ea typeface="+mn-ea"/>
                      </a:endParaRPr>
                    </a:p>
                    <a:p>
                      <a:pPr marL="73660" marR="0" indent="-73660" algn="just" fontAlgn="base" latinLnBrk="1">
                        <a:lnSpc>
                          <a:spcPct val="100000"/>
                        </a:lnSpc>
                        <a:spcBef>
                          <a:spcPts val="0"/>
                        </a:spcBef>
                        <a:spcAft>
                          <a:spcPts val="0"/>
                        </a:spcAft>
                      </a:pPr>
                      <a:r>
                        <a:rPr lang="en-US" altLang="ko-KR" sz="900" kern="0" spc="-80" dirty="0">
                          <a:solidFill>
                            <a:schemeClr val="tx1"/>
                          </a:solidFill>
                          <a:effectLst/>
                          <a:latin typeface="+mn-ea"/>
                          <a:ea typeface="+mn-ea"/>
                        </a:rPr>
                        <a:t>3.</a:t>
                      </a:r>
                      <a:r>
                        <a:rPr lang="ko-KR" altLang="en-US" sz="900" kern="0" spc="-80" dirty="0">
                          <a:solidFill>
                            <a:schemeClr val="tx1"/>
                          </a:solidFill>
                          <a:effectLst/>
                          <a:latin typeface="+mn-ea"/>
                          <a:ea typeface="+mn-ea"/>
                        </a:rPr>
                        <a:t>특허출원에  관한  서류의  열람신청</a:t>
                      </a:r>
                      <a:r>
                        <a:rPr lang="en-US" altLang="ko-KR" sz="900" kern="0" spc="-80" dirty="0">
                          <a:solidFill>
                            <a:schemeClr val="tx1"/>
                          </a:solidFill>
                          <a:effectLst/>
                          <a:latin typeface="+mn-ea"/>
                          <a:ea typeface="+mn-ea"/>
                        </a:rPr>
                        <a:t>(</a:t>
                      </a:r>
                      <a:r>
                        <a:rPr lang="ko-KR" altLang="en-US" sz="900" kern="0" spc="-80" dirty="0">
                          <a:solidFill>
                            <a:schemeClr val="tx1"/>
                          </a:solidFill>
                          <a:effectLst/>
                          <a:latin typeface="+mn-ea"/>
                          <a:ea typeface="+mn-ea"/>
                        </a:rPr>
                        <a:t>法</a:t>
                      </a:r>
                      <a:r>
                        <a:rPr lang="en-US" altLang="ko-KR" sz="900" kern="0" spc="-80" dirty="0">
                          <a:solidFill>
                            <a:schemeClr val="tx1"/>
                          </a:solidFill>
                          <a:effectLst/>
                          <a:latin typeface="+mn-ea"/>
                          <a:ea typeface="+mn-ea"/>
                        </a:rPr>
                        <a:t>216)</a:t>
                      </a:r>
                      <a:endParaRPr lang="ko-KR" altLang="en-US" sz="900" kern="0" spc="-80" dirty="0">
                        <a:solidFill>
                          <a:schemeClr val="tx1"/>
                        </a:solidFill>
                        <a:effectLst/>
                        <a:latin typeface="+mn-ea"/>
                        <a:ea typeface="+mn-ea"/>
                      </a:endParaRPr>
                    </a:p>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4.</a:t>
                      </a:r>
                      <a:r>
                        <a:rPr lang="ko-KR" altLang="en-US" sz="900" kern="0" spc="0" dirty="0">
                          <a:solidFill>
                            <a:schemeClr val="tx1"/>
                          </a:solidFill>
                          <a:effectLst/>
                          <a:latin typeface="+mn-ea"/>
                          <a:ea typeface="+mn-ea"/>
                        </a:rPr>
                        <a:t>기탁된 미생물의 분양</a:t>
                      </a:r>
                    </a:p>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5.</a:t>
                      </a:r>
                      <a:r>
                        <a:rPr lang="ko-KR" altLang="en-US" sz="900" kern="0" spc="0" dirty="0">
                          <a:solidFill>
                            <a:schemeClr val="tx1"/>
                          </a:solidFill>
                          <a:effectLst/>
                          <a:latin typeface="+mn-ea"/>
                          <a:ea typeface="+mn-ea"/>
                        </a:rPr>
                        <a:t>공지기술로 활용</a:t>
                      </a:r>
                    </a:p>
                    <a:p>
                      <a:pPr marL="0" marR="0" indent="0" algn="just" fontAlgn="base" latinLnBrk="1">
                        <a:lnSpc>
                          <a:spcPct val="100000"/>
                        </a:lnSpc>
                        <a:spcBef>
                          <a:spcPts val="0"/>
                        </a:spcBef>
                        <a:spcAft>
                          <a:spcPts val="0"/>
                        </a:spcAft>
                      </a:pPr>
                      <a:r>
                        <a:rPr lang="en-US" altLang="ko-KR" sz="900" kern="0" spc="0" dirty="0">
                          <a:solidFill>
                            <a:schemeClr val="tx1"/>
                          </a:solidFill>
                          <a:effectLst/>
                          <a:latin typeface="+mn-ea"/>
                          <a:ea typeface="+mn-ea"/>
                        </a:rPr>
                        <a:t>6.</a:t>
                      </a:r>
                      <a:r>
                        <a:rPr lang="ko-KR" altLang="en-US" sz="900" kern="0" spc="0" dirty="0">
                          <a:solidFill>
                            <a:schemeClr val="tx1"/>
                          </a:solidFill>
                          <a:effectLst/>
                          <a:latin typeface="+mn-ea"/>
                          <a:ea typeface="+mn-ea"/>
                        </a:rPr>
                        <a:t>확대된 </a:t>
                      </a:r>
                      <a:r>
                        <a:rPr lang="ko-KR" altLang="en-US" sz="900" kern="0" spc="0" dirty="0" err="1">
                          <a:solidFill>
                            <a:schemeClr val="tx1"/>
                          </a:solidFill>
                          <a:effectLst/>
                          <a:latin typeface="+mn-ea"/>
                          <a:ea typeface="+mn-ea"/>
                        </a:rPr>
                        <a:t>선출원</a:t>
                      </a:r>
                      <a:r>
                        <a:rPr lang="ko-KR" altLang="en-US" sz="900" kern="0" spc="0" dirty="0">
                          <a:solidFill>
                            <a:schemeClr val="tx1"/>
                          </a:solidFill>
                          <a:effectLst/>
                          <a:latin typeface="+mn-ea"/>
                          <a:ea typeface="+mn-ea"/>
                        </a:rPr>
                        <a:t> 인정</a:t>
                      </a:r>
                    </a:p>
                  </a:txBody>
                  <a:tcPr marT="36000" marB="36000" anchor="ctr"/>
                </a:tc>
                <a:extLst>
                  <a:ext uri="{0D108BD9-81ED-4DB2-BD59-A6C34878D82A}">
                    <a16:rowId xmlns:a16="http://schemas.microsoft.com/office/drawing/2014/main" val="10007"/>
                  </a:ext>
                </a:extLst>
              </a:tr>
              <a:tr h="675656">
                <a:tc gridSpan="2" vMerge="1">
                  <a:txBody>
                    <a:bodyPr/>
                    <a:lstStyle/>
                    <a:p>
                      <a:pPr latinLnBrk="1"/>
                      <a:endParaRPr lang="ko-KR" altLang="en-US"/>
                    </a:p>
                  </a:txBody>
                  <a:tcPr/>
                </a:tc>
                <a:tc hMerge="1"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부</a:t>
                      </a:r>
                    </a:p>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적</a:t>
                      </a:r>
                    </a:p>
                    <a:p>
                      <a:pPr marL="0" marR="0" indent="0" algn="ctr" fontAlgn="base" latinLnBrk="0">
                        <a:lnSpc>
                          <a:spcPct val="100000"/>
                        </a:lnSpc>
                        <a:spcBef>
                          <a:spcPts val="0"/>
                        </a:spcBef>
                        <a:spcAft>
                          <a:spcPts val="0"/>
                        </a:spcAft>
                      </a:pPr>
                      <a:r>
                        <a:rPr lang="ko-KR" altLang="en-US" sz="900" b="1" kern="0" spc="0" dirty="0">
                          <a:solidFill>
                            <a:schemeClr val="tx1"/>
                          </a:solidFill>
                          <a:effectLst/>
                          <a:latin typeface="+mn-ea"/>
                          <a:ea typeface="+mn-ea"/>
                        </a:rPr>
                        <a:t>법</a:t>
                      </a:r>
                    </a:p>
                  </a:txBody>
                  <a:tcPr marL="48271" marR="48271" marT="36000" marB="36000" anchor="ctr"/>
                </a:tc>
                <a:tc>
                  <a:txBody>
                    <a:bodyPr/>
                    <a:lstStyle/>
                    <a:p>
                      <a:pPr marL="120650" marR="0" indent="-120650" algn="just" fontAlgn="base" latinLnBrk="1">
                        <a:lnSpc>
                          <a:spcPct val="100000"/>
                        </a:lnSpc>
                        <a:spcBef>
                          <a:spcPts val="0"/>
                        </a:spcBef>
                        <a:spcAft>
                          <a:spcPts val="0"/>
                        </a:spcAft>
                      </a:pP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1.</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특허료를 낼 때까지 의견서를 지식재산처장에게 제출하면 특허결정과 직권보정 취소간주</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단</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 </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요약서에 대한 의견서는 직권보정만 취소간주</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 (</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法 </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66</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의</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2④)</a:t>
                      </a:r>
                      <a:r>
                        <a:rPr lang="ko-KR" altLang="en-US" sz="900" dirty="0">
                          <a:solidFill>
                            <a:schemeClr val="tx1"/>
                          </a:solidFill>
                          <a:latin typeface="Rix모던고딕 B" panose="02020603020101020101" pitchFamily="18" charset="-127"/>
                          <a:ea typeface="Rix모던고딕 B" panose="02020603020101020101" pitchFamily="18" charset="-127"/>
                        </a:rPr>
                        <a:t> </a:t>
                      </a:r>
                      <a:endParaRPr lang="en-US" altLang="ko-KR" sz="900" kern="0" spc="0" dirty="0">
                        <a:solidFill>
                          <a:schemeClr val="tx1"/>
                        </a:solidFill>
                        <a:effectLst/>
                        <a:latin typeface="Rix모던고딕 B" panose="02020603020101020101" pitchFamily="18" charset="-127"/>
                        <a:ea typeface="Rix모던고딕 B" panose="02020603020101020101" pitchFamily="18" charset="-127"/>
                      </a:endParaRPr>
                    </a:p>
                    <a:p>
                      <a:pPr marL="120650" marR="0" indent="-120650" algn="just" fontAlgn="base" latinLnBrk="1">
                        <a:lnSpc>
                          <a:spcPct val="100000"/>
                        </a:lnSpc>
                        <a:spcBef>
                          <a:spcPts val="0"/>
                        </a:spcBef>
                        <a:spcAft>
                          <a:spcPts val="0"/>
                        </a:spcAft>
                      </a:pP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2.</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직권보정 전 명세서</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 </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도면에 의하여 심사</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직권보정사항이 아닌 거절이유에 대해서는 다시 </a:t>
                      </a:r>
                      <a:r>
                        <a:rPr lang="ko-KR" altLang="en-US" sz="900" kern="0" spc="0" dirty="0" err="1">
                          <a:solidFill>
                            <a:schemeClr val="tx1"/>
                          </a:solidFill>
                          <a:effectLst/>
                          <a:latin typeface="Rix모던고딕 B" panose="02020603020101020101" pitchFamily="18" charset="-127"/>
                          <a:ea typeface="Rix모던고딕 B" panose="02020603020101020101" pitchFamily="18" charset="-127"/>
                        </a:rPr>
                        <a:t>거절이유통지</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p>
                    <a:p>
                      <a:pPr marL="68580" marR="0" indent="-68580" algn="just" fontAlgn="base" latinLnBrk="1">
                        <a:lnSpc>
                          <a:spcPct val="100000"/>
                        </a:lnSpc>
                        <a:spcBef>
                          <a:spcPts val="0"/>
                        </a:spcBef>
                        <a:spcAft>
                          <a:spcPts val="0"/>
                        </a:spcAft>
                      </a:pP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3.</a:t>
                      </a:r>
                      <a:r>
                        <a:rPr lang="ko-KR" altLang="en-US" sz="900" kern="0" spc="0" dirty="0" err="1">
                          <a:solidFill>
                            <a:schemeClr val="tx1"/>
                          </a:solidFill>
                          <a:effectLst/>
                          <a:latin typeface="Rix모던고딕 B" panose="02020603020101020101" pitchFamily="18" charset="-127"/>
                          <a:ea typeface="Rix모던고딕 B" panose="02020603020101020101" pitchFamily="18" charset="-127"/>
                        </a:rPr>
                        <a:t>보정각하의</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 예외</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法 </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51</a:t>
                      </a:r>
                      <a:r>
                        <a:rPr lang="ko-KR" altLang="en-US" sz="900" kern="0" spc="0" dirty="0">
                          <a:solidFill>
                            <a:schemeClr val="tx1"/>
                          </a:solidFill>
                          <a:effectLst/>
                          <a:latin typeface="Rix모던고딕 B" panose="02020603020101020101" pitchFamily="18" charset="-127"/>
                          <a:ea typeface="Rix모던고딕 B" panose="02020603020101020101" pitchFamily="18" charset="-127"/>
                        </a:rPr>
                        <a:t>①</a:t>
                      </a:r>
                      <a:r>
                        <a:rPr lang="ko-KR" altLang="en-US" sz="900" kern="0" spc="0" dirty="0" err="1">
                          <a:solidFill>
                            <a:schemeClr val="tx1"/>
                          </a:solidFill>
                          <a:effectLst/>
                          <a:latin typeface="Rix모던고딕 B" panose="02020603020101020101" pitchFamily="18" charset="-127"/>
                          <a:ea typeface="Rix모던고딕 B" panose="02020603020101020101" pitchFamily="18" charset="-127"/>
                        </a:rPr>
                        <a:t>Ⅰ</a:t>
                      </a:r>
                      <a:r>
                        <a:rPr lang="en-US" altLang="ko-KR" sz="900" kern="0" spc="0" dirty="0">
                          <a:solidFill>
                            <a:schemeClr val="tx1"/>
                          </a:solidFill>
                          <a:effectLst/>
                          <a:latin typeface="Rix모던고딕 B" panose="02020603020101020101" pitchFamily="18" charset="-127"/>
                          <a:ea typeface="Rix모던고딕 B" panose="02020603020101020101" pitchFamily="18" charset="-127"/>
                        </a:rPr>
                        <a:t>)</a:t>
                      </a:r>
                      <a:endParaRPr lang="ko-KR" altLang="en-US" sz="900" kern="0" spc="0" dirty="0">
                        <a:solidFill>
                          <a:schemeClr val="tx1"/>
                        </a:solidFill>
                        <a:effectLst/>
                        <a:latin typeface="Rix모던고딕 B" panose="02020603020101020101" pitchFamily="18" charset="-127"/>
                        <a:ea typeface="Rix모던고딕 B" panose="02020603020101020101" pitchFamily="18" charset="-127"/>
                      </a:endParaRPr>
                    </a:p>
                  </a:txBody>
                  <a:tcPr marT="36000" marB="36000" anchor="ctr"/>
                </a:tc>
                <a:tc>
                  <a:txBody>
                    <a:bodyPr/>
                    <a:lstStyle/>
                    <a:p>
                      <a:pPr marL="0" marR="0" indent="0" algn="just" defTabSz="914400" rtl="0" eaLnBrk="1" fontAlgn="base" latinLnBrk="1" hangingPunct="1">
                        <a:lnSpc>
                          <a:spcPct val="100000"/>
                        </a:lnSpc>
                        <a:spcBef>
                          <a:spcPts val="0"/>
                        </a:spcBef>
                        <a:spcAft>
                          <a:spcPts val="0"/>
                        </a:spcAft>
                        <a:buClrTx/>
                        <a:buSzTx/>
                        <a:buFontTx/>
                        <a:buNone/>
                        <a:tabLst/>
                        <a:defRPr/>
                      </a:pPr>
                      <a:endParaRPr lang="ko-KR" altLang="en-US" sz="900" kern="0" spc="0" dirty="0">
                        <a:solidFill>
                          <a:schemeClr val="tx1"/>
                        </a:solidFill>
                        <a:effectLst/>
                        <a:latin typeface="Rix모던고딕 B" panose="02020603020101020101" pitchFamily="18" charset="-127"/>
                        <a:ea typeface="Rix모던고딕 B" panose="02020603020101020101" pitchFamily="18" charset="-127"/>
                      </a:endParaRPr>
                    </a:p>
                  </a:txBody>
                  <a:tcPr marT="36000" marB="36000" anchor="ctr"/>
                </a:tc>
                <a:tc>
                  <a:txBody>
                    <a:bodyPr/>
                    <a:lstStyle/>
                    <a:p>
                      <a:pPr marL="73660" marR="0" indent="-73660" algn="just" fontAlgn="base" latinLnBrk="1">
                        <a:lnSpc>
                          <a:spcPct val="100000"/>
                        </a:lnSpc>
                        <a:spcBef>
                          <a:spcPts val="0"/>
                        </a:spcBef>
                        <a:spcAft>
                          <a:spcPts val="0"/>
                        </a:spcAft>
                      </a:pPr>
                      <a:endParaRPr lang="ko-KR" altLang="en-US" sz="900" kern="0" spc="0" dirty="0">
                        <a:solidFill>
                          <a:schemeClr val="tx1"/>
                        </a:solidFill>
                        <a:effectLst/>
                        <a:latin typeface="+mn-ea"/>
                        <a:ea typeface="+mn-ea"/>
                      </a:endParaRP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a:solidFill>
                            <a:schemeClr val="tx1"/>
                          </a:solidFill>
                          <a:effectLst/>
                          <a:latin typeface="+mn-ea"/>
                          <a:ea typeface="+mn-ea"/>
                        </a:rPr>
                        <a:t>　</a:t>
                      </a:r>
                    </a:p>
                  </a:txBody>
                  <a:tcPr marT="36000" marB="36000" anchor="ctr"/>
                </a:tc>
                <a:tc>
                  <a:txBody>
                    <a:bodyPr/>
                    <a:lstStyle/>
                    <a:p>
                      <a:pPr marL="0" marR="0" indent="0" algn="just" fontAlgn="base" latinLnBrk="1">
                        <a:lnSpc>
                          <a:spcPct val="100000"/>
                        </a:lnSpc>
                        <a:spcBef>
                          <a:spcPts val="0"/>
                        </a:spcBef>
                        <a:spcAft>
                          <a:spcPts val="0"/>
                        </a:spcAft>
                      </a:pPr>
                      <a:r>
                        <a:rPr lang="ko-KR" altLang="en-US" sz="900" kern="0" spc="0" dirty="0">
                          <a:solidFill>
                            <a:schemeClr val="tx1"/>
                          </a:solidFill>
                          <a:effectLst/>
                          <a:latin typeface="+mn-ea"/>
                          <a:ea typeface="+mn-ea"/>
                        </a:rPr>
                        <a:t>　</a:t>
                      </a:r>
                    </a:p>
                  </a:txBody>
                  <a:tcPr marT="36000" marB="36000" anchor="ctr"/>
                </a:tc>
                <a:extLst>
                  <a:ext uri="{0D108BD9-81ED-4DB2-BD59-A6C34878D82A}">
                    <a16:rowId xmlns:a16="http://schemas.microsoft.com/office/drawing/2014/main" val="10008"/>
                  </a:ext>
                </a:extLst>
              </a:tr>
            </a:tbl>
          </a:graphicData>
        </a:graphic>
      </p:graphicFrame>
      <p:sp>
        <p:nvSpPr>
          <p:cNvPr id="5" name="슬라이드 번호 개체 틀 4"/>
          <p:cNvSpPr>
            <a:spLocks noGrp="1"/>
          </p:cNvSpPr>
          <p:nvPr>
            <p:ph type="sldNum" sz="quarter" idx="12"/>
          </p:nvPr>
        </p:nvSpPr>
        <p:spPr/>
        <p:txBody>
          <a:bodyPr/>
          <a:lstStyle/>
          <a:p>
            <a:r>
              <a:rPr lang="en-US" altLang="ko-KR"/>
              <a:t>283</a:t>
            </a:r>
            <a:endParaRPr lang="ko-KR" altLang="en-US" dirty="0"/>
          </a:p>
        </p:txBody>
      </p:sp>
    </p:spTree>
    <p:extLst>
      <p:ext uri="{BB962C8B-B14F-4D97-AF65-F5344CB8AC3E}">
        <p14:creationId xmlns:p14="http://schemas.microsoft.com/office/powerpoint/2010/main" val="1470913757"/>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특허를 받을 수 있는 권리와 보상금청구권</a:t>
            </a:r>
          </a:p>
        </p:txBody>
      </p:sp>
      <p:graphicFrame>
        <p:nvGraphicFramePr>
          <p:cNvPr id="5" name="표 4"/>
          <p:cNvGraphicFramePr>
            <a:graphicFrameLocks noGrp="1"/>
          </p:cNvGraphicFramePr>
          <p:nvPr/>
        </p:nvGraphicFramePr>
        <p:xfrm>
          <a:off x="342899" y="1064901"/>
          <a:ext cx="11417301" cy="5666100"/>
        </p:xfrm>
        <a:graphic>
          <a:graphicData uri="http://schemas.openxmlformats.org/drawingml/2006/table">
            <a:tbl>
              <a:tblPr>
                <a:tableStyleId>{8799B23B-EC83-4686-B30A-512413B5E67A}</a:tableStyleId>
              </a:tblPr>
              <a:tblGrid>
                <a:gridCol w="688918">
                  <a:extLst>
                    <a:ext uri="{9D8B030D-6E8A-4147-A177-3AD203B41FA5}">
                      <a16:colId xmlns:a16="http://schemas.microsoft.com/office/drawing/2014/main" val="20000"/>
                    </a:ext>
                  </a:extLst>
                </a:gridCol>
                <a:gridCol w="745986">
                  <a:extLst>
                    <a:ext uri="{9D8B030D-6E8A-4147-A177-3AD203B41FA5}">
                      <a16:colId xmlns:a16="http://schemas.microsoft.com/office/drawing/2014/main" val="20001"/>
                    </a:ext>
                  </a:extLst>
                </a:gridCol>
                <a:gridCol w="4133131">
                  <a:extLst>
                    <a:ext uri="{9D8B030D-6E8A-4147-A177-3AD203B41FA5}">
                      <a16:colId xmlns:a16="http://schemas.microsoft.com/office/drawing/2014/main" val="20002"/>
                    </a:ext>
                  </a:extLst>
                </a:gridCol>
                <a:gridCol w="5849266">
                  <a:extLst>
                    <a:ext uri="{9D8B030D-6E8A-4147-A177-3AD203B41FA5}">
                      <a16:colId xmlns:a16="http://schemas.microsoft.com/office/drawing/2014/main" val="20003"/>
                    </a:ext>
                  </a:extLst>
                </a:gridCol>
              </a:tblGrid>
              <a:tr h="226775">
                <a:tc gridSpan="2">
                  <a:txBody>
                    <a:bodyPr/>
                    <a:lstStyle/>
                    <a:p>
                      <a:pPr marL="0" marR="0" indent="0" algn="ctr" fontAlgn="base" latinLnBrk="0">
                        <a:lnSpc>
                          <a:spcPct val="100000"/>
                        </a:lnSpc>
                        <a:spcBef>
                          <a:spcPts val="0"/>
                        </a:spcBef>
                        <a:spcAft>
                          <a:spcPts val="0"/>
                        </a:spcAft>
                      </a:pPr>
                      <a:r>
                        <a:rPr lang="ko-KR" altLang="en-US" sz="1100" b="1" kern="0" spc="0" dirty="0">
                          <a:solidFill>
                            <a:schemeClr val="tx1"/>
                          </a:solidFill>
                          <a:effectLst/>
                        </a:rPr>
                        <a:t>권리　</a:t>
                      </a:r>
                      <a:endParaRPr lang="ko-KR" altLang="en-US" sz="1100" b="1" kern="0" spc="0" dirty="0">
                        <a:solidFill>
                          <a:schemeClr val="tx1"/>
                        </a:solidFill>
                        <a:effectLst/>
                        <a:latin typeface="+mn-ea"/>
                        <a:ea typeface="+mn-ea"/>
                      </a:endParaRPr>
                    </a:p>
                  </a:txBody>
                  <a:tcPr marL="51439" marR="51439" marT="25720" marB="25720"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100" b="1" kern="0" spc="0" dirty="0">
                          <a:solidFill>
                            <a:schemeClr val="tx1"/>
                          </a:solidFill>
                          <a:effectLst/>
                        </a:rPr>
                        <a:t>특허를 받을 수 있는 권리</a:t>
                      </a:r>
                      <a:endParaRPr lang="ko-KR" altLang="en-US" sz="1100" b="1" kern="0" spc="0" dirty="0">
                        <a:solidFill>
                          <a:schemeClr val="tx1"/>
                        </a:solidFill>
                        <a:effectLst/>
                        <a:latin typeface="+mn-ea"/>
                        <a:ea typeface="+mn-ea"/>
                      </a:endParaRPr>
                    </a:p>
                  </a:txBody>
                  <a:tcPr marL="51439" marR="51439" marT="25720" marB="2572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100" b="1" kern="0" spc="0" dirty="0">
                          <a:solidFill>
                            <a:schemeClr val="tx1"/>
                          </a:solidFill>
                          <a:effectLst/>
                        </a:rPr>
                        <a:t>보상금청구권</a:t>
                      </a:r>
                      <a:endParaRPr lang="ko-KR" altLang="en-US" sz="1100" b="1" kern="0" spc="0" dirty="0">
                        <a:solidFill>
                          <a:schemeClr val="tx1"/>
                        </a:solidFill>
                        <a:effectLst/>
                        <a:latin typeface="+mn-ea"/>
                        <a:ea typeface="+mn-ea"/>
                      </a:endParaRPr>
                    </a:p>
                  </a:txBody>
                  <a:tcPr marL="51439" marR="51439" marT="25720" marB="25720" anchor="ctr">
                    <a:solidFill>
                      <a:schemeClr val="accent1">
                        <a:lumMod val="20000"/>
                        <a:lumOff val="80000"/>
                      </a:schemeClr>
                    </a:solidFill>
                  </a:tcPr>
                </a:tc>
                <a:extLst>
                  <a:ext uri="{0D108BD9-81ED-4DB2-BD59-A6C34878D82A}">
                    <a16:rowId xmlns:a16="http://schemas.microsoft.com/office/drawing/2014/main" val="10000"/>
                  </a:ext>
                </a:extLst>
              </a:tr>
              <a:tr h="573831">
                <a:tc rowSpan="3">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서</a:t>
                      </a:r>
                      <a:endParaRPr lang="ko-KR" altLang="en-US" sz="1100" b="1" kern="0" spc="0">
                        <a:solidFill>
                          <a:schemeClr val="tx1"/>
                        </a:solidFill>
                        <a:effectLst/>
                        <a:latin typeface="+mn-ea"/>
                        <a:ea typeface="+mn-ea"/>
                      </a:endParaRPr>
                    </a:p>
                  </a:txBody>
                  <a:tcPr marL="51439" marR="51439" marT="25720" marB="25720" anchor="ctr"/>
                </a:tc>
                <a:tc>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의의</a:t>
                      </a:r>
                      <a:endParaRPr lang="ko-KR" altLang="en-US" sz="1100" b="1" kern="0" spc="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100" kern="0" spc="0" dirty="0">
                          <a:solidFill>
                            <a:schemeClr val="tx1"/>
                          </a:solidFill>
                          <a:effectLst/>
                        </a:rPr>
                        <a:t>발명의 완성에 의하여 발생하고</a:t>
                      </a:r>
                      <a:r>
                        <a:rPr lang="en-US" altLang="ko-KR" sz="1100" kern="0" spc="0" dirty="0">
                          <a:solidFill>
                            <a:schemeClr val="tx1"/>
                          </a:solidFill>
                          <a:effectLst/>
                        </a:rPr>
                        <a:t>, </a:t>
                      </a:r>
                      <a:r>
                        <a:rPr lang="ko-KR" altLang="en-US" sz="1100" kern="0" spc="0" dirty="0">
                          <a:solidFill>
                            <a:schemeClr val="tx1"/>
                          </a:solidFill>
                          <a:effectLst/>
                        </a:rPr>
                        <a:t>특허출원에 대한 거절결정확정이나 설정등록이 있기 전까지 인정되는 권리</a:t>
                      </a:r>
                      <a:endParaRPr lang="ko-KR" altLang="en-US" sz="1100" kern="0" spc="0" dirty="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100" kern="0" spc="0" dirty="0">
                          <a:solidFill>
                            <a:schemeClr val="tx1"/>
                          </a:solidFill>
                          <a:effectLst/>
                        </a:rPr>
                        <a:t>출원공개가 있는 후 경고받거나 </a:t>
                      </a:r>
                      <a:r>
                        <a:rPr lang="ko-KR" altLang="en-US" sz="1100" kern="0" spc="0" dirty="0" err="1">
                          <a:solidFill>
                            <a:schemeClr val="tx1"/>
                          </a:solidFill>
                          <a:effectLst/>
                        </a:rPr>
                        <a:t>출원공개된</a:t>
                      </a:r>
                      <a:r>
                        <a:rPr lang="ko-KR" altLang="en-US" sz="1100" kern="0" spc="0" dirty="0">
                          <a:solidFill>
                            <a:schemeClr val="tx1"/>
                          </a:solidFill>
                          <a:effectLst/>
                        </a:rPr>
                        <a:t> 발명임을 알고 그 </a:t>
                      </a:r>
                      <a:r>
                        <a:rPr lang="ko-KR" altLang="en-US" sz="1100" kern="0" spc="0" dirty="0" err="1">
                          <a:solidFill>
                            <a:schemeClr val="tx1"/>
                          </a:solidFill>
                          <a:effectLst/>
                        </a:rPr>
                        <a:t>특허출원된</a:t>
                      </a:r>
                      <a:r>
                        <a:rPr lang="ko-KR" altLang="en-US" sz="1100" kern="0" spc="0" dirty="0">
                          <a:solidFill>
                            <a:schemeClr val="tx1"/>
                          </a:solidFill>
                          <a:effectLst/>
                        </a:rPr>
                        <a:t> 발명을 업으로서 실시한 자에게 경고받거나 알았을 때부터 설정등록을 한 때까지의 기간 동안 그 특허발명의 실시에 대하여 합리적으로 받을 수 있는 금액에 상당하는 보상금의 지급을 청구할 수 있는 권리</a:t>
                      </a:r>
                      <a:endParaRPr lang="ko-KR" altLang="en-US" sz="1100" kern="0" spc="0" dirty="0">
                        <a:solidFill>
                          <a:schemeClr val="tx1"/>
                        </a:solidFill>
                        <a:effectLst/>
                        <a:latin typeface="+mn-ea"/>
                        <a:ea typeface="+mn-ea"/>
                      </a:endParaRPr>
                    </a:p>
                  </a:txBody>
                  <a:tcPr marL="51439" marR="51439" marT="25720" marB="25720" anchor="ctr"/>
                </a:tc>
                <a:extLst>
                  <a:ext uri="{0D108BD9-81ED-4DB2-BD59-A6C34878D82A}">
                    <a16:rowId xmlns:a16="http://schemas.microsoft.com/office/drawing/2014/main" val="10001"/>
                  </a:ext>
                </a:extLst>
              </a:tr>
              <a:tr h="226775">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취지</a:t>
                      </a:r>
                      <a:endParaRPr lang="ko-KR" altLang="en-US" sz="1100" b="1" kern="0" spc="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100" kern="0" spc="0">
                          <a:solidFill>
                            <a:schemeClr val="tx1"/>
                          </a:solidFill>
                          <a:effectLst/>
                        </a:rPr>
                        <a:t>특허권 발생이전에 발명자 또는 출원인 보호</a:t>
                      </a:r>
                      <a:endParaRPr lang="ko-KR" altLang="en-US" sz="1100" kern="0" spc="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100" kern="0" spc="0">
                          <a:solidFill>
                            <a:schemeClr val="tx1"/>
                          </a:solidFill>
                          <a:effectLst/>
                        </a:rPr>
                        <a:t>공개로 인해 상실된 이익의 보전</a:t>
                      </a:r>
                      <a:endParaRPr lang="ko-KR" altLang="en-US" sz="1100" kern="0" spc="0">
                        <a:solidFill>
                          <a:schemeClr val="tx1"/>
                        </a:solidFill>
                        <a:effectLst/>
                        <a:latin typeface="+mn-ea"/>
                        <a:ea typeface="+mn-ea"/>
                      </a:endParaRPr>
                    </a:p>
                  </a:txBody>
                  <a:tcPr marL="51439" marR="51439" marT="25720" marB="25720" anchor="ctr"/>
                </a:tc>
                <a:extLst>
                  <a:ext uri="{0D108BD9-81ED-4DB2-BD59-A6C34878D82A}">
                    <a16:rowId xmlns:a16="http://schemas.microsoft.com/office/drawing/2014/main" val="10002"/>
                  </a:ext>
                </a:extLst>
              </a:tr>
              <a:tr h="573831">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성질</a:t>
                      </a:r>
                      <a:endParaRPr lang="ko-KR" altLang="en-US" sz="1100" b="1" kern="0" spc="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100" kern="0" spc="0">
                          <a:solidFill>
                            <a:schemeClr val="tx1"/>
                          </a:solidFill>
                          <a:effectLst/>
                        </a:rPr>
                        <a:t>사권</a:t>
                      </a:r>
                      <a:r>
                        <a:rPr lang="en-US" altLang="ko-KR" sz="1100" kern="0" spc="0">
                          <a:solidFill>
                            <a:schemeClr val="tx1"/>
                          </a:solidFill>
                          <a:effectLst/>
                        </a:rPr>
                        <a:t>(</a:t>
                      </a:r>
                      <a:r>
                        <a:rPr lang="ko-KR" altLang="en-US" sz="1100" kern="0" spc="0">
                          <a:solidFill>
                            <a:schemeClr val="tx1"/>
                          </a:solidFill>
                          <a:effectLst/>
                        </a:rPr>
                        <a:t>재산권</a:t>
                      </a:r>
                      <a:r>
                        <a:rPr lang="en-US" altLang="ko-KR" sz="1100" kern="0" spc="0">
                          <a:solidFill>
                            <a:schemeClr val="tx1"/>
                          </a:solidFill>
                          <a:effectLst/>
                        </a:rPr>
                        <a:t>)</a:t>
                      </a:r>
                      <a:r>
                        <a:rPr lang="ko-KR" altLang="en-US" sz="1100" kern="0" spc="0">
                          <a:solidFill>
                            <a:schemeClr val="tx1"/>
                          </a:solidFill>
                          <a:effectLst/>
                        </a:rPr>
                        <a:t>과 공권</a:t>
                      </a:r>
                      <a:r>
                        <a:rPr lang="en-US" altLang="ko-KR" sz="1100" kern="0" spc="0">
                          <a:solidFill>
                            <a:schemeClr val="tx1"/>
                          </a:solidFill>
                          <a:effectLst/>
                        </a:rPr>
                        <a:t>(</a:t>
                      </a:r>
                      <a:r>
                        <a:rPr lang="ko-KR" altLang="en-US" sz="1100" kern="0" spc="0">
                          <a:solidFill>
                            <a:schemeClr val="tx1"/>
                          </a:solidFill>
                          <a:effectLst/>
                        </a:rPr>
                        <a:t>특허부여요구권</a:t>
                      </a:r>
                      <a:r>
                        <a:rPr lang="en-US" altLang="ko-KR" sz="1100" kern="0" spc="0">
                          <a:solidFill>
                            <a:schemeClr val="tx1"/>
                          </a:solidFill>
                          <a:effectLst/>
                        </a:rPr>
                        <a:t>)</a:t>
                      </a:r>
                      <a:r>
                        <a:rPr lang="ko-KR" altLang="en-US" sz="1100" kern="0" spc="0">
                          <a:solidFill>
                            <a:schemeClr val="tx1"/>
                          </a:solidFill>
                          <a:effectLst/>
                        </a:rPr>
                        <a:t>을 병합</a:t>
                      </a:r>
                      <a:endParaRPr lang="ko-KR" altLang="en-US" sz="1100" kern="0" spc="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100" kern="0" spc="0">
                          <a:solidFill>
                            <a:schemeClr val="tx1"/>
                          </a:solidFill>
                          <a:effectLst/>
                        </a:rPr>
                        <a:t>1.</a:t>
                      </a:r>
                      <a:r>
                        <a:rPr lang="ko-KR" altLang="en-US" sz="1100" kern="0" spc="0">
                          <a:solidFill>
                            <a:schemeClr val="tx1"/>
                          </a:solidFill>
                          <a:effectLst/>
                        </a:rPr>
                        <a:t>해제조건부 권리</a:t>
                      </a:r>
                    </a:p>
                    <a:p>
                      <a:pPr marL="0" marR="0" indent="0" algn="just" fontAlgn="base" latinLnBrk="1">
                        <a:lnSpc>
                          <a:spcPct val="100000"/>
                        </a:lnSpc>
                        <a:spcBef>
                          <a:spcPts val="0"/>
                        </a:spcBef>
                        <a:spcAft>
                          <a:spcPts val="0"/>
                        </a:spcAft>
                      </a:pPr>
                      <a:r>
                        <a:rPr lang="en-US" altLang="ko-KR" sz="1100" kern="0" spc="0">
                          <a:solidFill>
                            <a:schemeClr val="tx1"/>
                          </a:solidFill>
                          <a:effectLst/>
                        </a:rPr>
                        <a:t>2.</a:t>
                      </a:r>
                      <a:r>
                        <a:rPr lang="ko-KR" altLang="en-US" sz="1100" kern="0" spc="0">
                          <a:solidFill>
                            <a:schemeClr val="tx1"/>
                          </a:solidFill>
                          <a:effectLst/>
                        </a:rPr>
                        <a:t>채권적 권리</a:t>
                      </a:r>
                    </a:p>
                    <a:p>
                      <a:pPr marL="0" marR="0" indent="0" algn="just" fontAlgn="base" latinLnBrk="1">
                        <a:lnSpc>
                          <a:spcPct val="100000"/>
                        </a:lnSpc>
                        <a:spcBef>
                          <a:spcPts val="0"/>
                        </a:spcBef>
                        <a:spcAft>
                          <a:spcPts val="0"/>
                        </a:spcAft>
                      </a:pPr>
                      <a:r>
                        <a:rPr lang="en-US" altLang="ko-KR" sz="1100" kern="0" spc="0">
                          <a:solidFill>
                            <a:schemeClr val="tx1"/>
                          </a:solidFill>
                          <a:effectLst/>
                        </a:rPr>
                        <a:t>3.</a:t>
                      </a:r>
                      <a:r>
                        <a:rPr lang="ko-KR" altLang="en-US" sz="1100" kern="0" spc="0">
                          <a:solidFill>
                            <a:schemeClr val="tx1"/>
                          </a:solidFill>
                          <a:effectLst/>
                        </a:rPr>
                        <a:t>특허권의 독립적인 권리</a:t>
                      </a:r>
                      <a:endParaRPr lang="ko-KR" altLang="en-US" sz="1100" kern="0" spc="0">
                        <a:solidFill>
                          <a:schemeClr val="tx1"/>
                        </a:solidFill>
                        <a:effectLst/>
                        <a:latin typeface="+mn-ea"/>
                        <a:ea typeface="+mn-ea"/>
                      </a:endParaRPr>
                    </a:p>
                  </a:txBody>
                  <a:tcPr marL="51439" marR="51439" marT="25720" marB="25720" anchor="ctr"/>
                </a:tc>
                <a:extLst>
                  <a:ext uri="{0D108BD9-81ED-4DB2-BD59-A6C34878D82A}">
                    <a16:rowId xmlns:a16="http://schemas.microsoft.com/office/drawing/2014/main" val="10003"/>
                  </a:ext>
                </a:extLst>
              </a:tr>
              <a:tr h="573831">
                <a:tc gridSpan="2">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발생</a:t>
                      </a:r>
                      <a:endParaRPr lang="ko-KR" altLang="en-US" sz="1100" b="1" kern="0" spc="0">
                        <a:solidFill>
                          <a:schemeClr val="tx1"/>
                        </a:solidFill>
                        <a:effectLst/>
                        <a:latin typeface="+mn-ea"/>
                        <a:ea typeface="+mn-ea"/>
                      </a:endParaRPr>
                    </a:p>
                  </a:txBody>
                  <a:tcPr marL="51439" marR="51439" marT="25720" marB="25720"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1100" kern="0" spc="0" dirty="0">
                          <a:solidFill>
                            <a:schemeClr val="tx1"/>
                          </a:solidFill>
                          <a:effectLst/>
                        </a:rPr>
                        <a:t>발명의 완성에 의하여 발생</a:t>
                      </a:r>
                      <a:endParaRPr lang="ko-KR" altLang="en-US" sz="1100" kern="0" spc="0" dirty="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100" kern="0" spc="0">
                          <a:solidFill>
                            <a:schemeClr val="tx1"/>
                          </a:solidFill>
                          <a:effectLst/>
                        </a:rPr>
                        <a:t>1.</a:t>
                      </a:r>
                      <a:r>
                        <a:rPr lang="ko-KR" altLang="en-US" sz="1100" kern="0" spc="0">
                          <a:solidFill>
                            <a:schemeClr val="tx1"/>
                          </a:solidFill>
                          <a:effectLst/>
                        </a:rPr>
                        <a:t>출원공개가 있을 것</a:t>
                      </a:r>
                    </a:p>
                    <a:p>
                      <a:pPr marL="0" marR="0" indent="0" algn="just" fontAlgn="base" latinLnBrk="1">
                        <a:lnSpc>
                          <a:spcPct val="100000"/>
                        </a:lnSpc>
                        <a:spcBef>
                          <a:spcPts val="0"/>
                        </a:spcBef>
                        <a:spcAft>
                          <a:spcPts val="0"/>
                        </a:spcAft>
                      </a:pPr>
                      <a:r>
                        <a:rPr lang="en-US" altLang="ko-KR" sz="1100" kern="0" spc="0">
                          <a:solidFill>
                            <a:schemeClr val="tx1"/>
                          </a:solidFill>
                          <a:effectLst/>
                        </a:rPr>
                        <a:t>2.</a:t>
                      </a:r>
                      <a:r>
                        <a:rPr lang="ko-KR" altLang="en-US" sz="1100" kern="0" spc="0">
                          <a:solidFill>
                            <a:schemeClr val="tx1"/>
                          </a:solidFill>
                          <a:effectLst/>
                        </a:rPr>
                        <a:t>경고받거나 알고 있을 것</a:t>
                      </a:r>
                    </a:p>
                    <a:p>
                      <a:pPr marL="73660" marR="0" indent="-73660" algn="just" fontAlgn="base" latinLnBrk="1">
                        <a:lnSpc>
                          <a:spcPct val="100000"/>
                        </a:lnSpc>
                        <a:spcBef>
                          <a:spcPts val="0"/>
                        </a:spcBef>
                        <a:spcAft>
                          <a:spcPts val="0"/>
                        </a:spcAft>
                      </a:pPr>
                      <a:r>
                        <a:rPr lang="en-US" altLang="ko-KR" sz="1100" kern="0" spc="0">
                          <a:solidFill>
                            <a:schemeClr val="tx1"/>
                          </a:solidFill>
                          <a:effectLst/>
                        </a:rPr>
                        <a:t>3.</a:t>
                      </a:r>
                      <a:r>
                        <a:rPr lang="ko-KR" altLang="en-US" sz="1100" kern="0" spc="0">
                          <a:solidFill>
                            <a:schemeClr val="tx1"/>
                          </a:solidFill>
                          <a:effectLst/>
                        </a:rPr>
                        <a:t>정당한 권원없는 제</a:t>
                      </a:r>
                      <a:r>
                        <a:rPr lang="en-US" altLang="ko-KR" sz="1100" kern="0" spc="0">
                          <a:solidFill>
                            <a:schemeClr val="tx1"/>
                          </a:solidFill>
                          <a:effectLst/>
                        </a:rPr>
                        <a:t>3</a:t>
                      </a:r>
                      <a:r>
                        <a:rPr lang="ko-KR" altLang="en-US" sz="1100" kern="0" spc="0">
                          <a:solidFill>
                            <a:schemeClr val="tx1"/>
                          </a:solidFill>
                          <a:effectLst/>
                        </a:rPr>
                        <a:t>자가 업으로서 출원발명을 실시할 것</a:t>
                      </a:r>
                      <a:endParaRPr lang="ko-KR" altLang="en-US" sz="1100" kern="0" spc="0">
                        <a:solidFill>
                          <a:schemeClr val="tx1"/>
                        </a:solidFill>
                        <a:effectLst/>
                        <a:latin typeface="+mn-ea"/>
                        <a:ea typeface="+mn-ea"/>
                      </a:endParaRPr>
                    </a:p>
                  </a:txBody>
                  <a:tcPr marL="51439" marR="51439" marT="25720" marB="25720" anchor="ctr"/>
                </a:tc>
                <a:extLst>
                  <a:ext uri="{0D108BD9-81ED-4DB2-BD59-A6C34878D82A}">
                    <a16:rowId xmlns:a16="http://schemas.microsoft.com/office/drawing/2014/main" val="10004"/>
                  </a:ext>
                </a:extLst>
              </a:tr>
              <a:tr h="457101">
                <a:tc rowSpan="2">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효력</a:t>
                      </a:r>
                      <a:endParaRPr lang="ko-KR" altLang="en-US" sz="1100" b="1" kern="0" spc="0">
                        <a:solidFill>
                          <a:schemeClr val="tx1"/>
                        </a:solidFill>
                        <a:effectLst/>
                        <a:latin typeface="+mn-ea"/>
                        <a:ea typeface="+mn-ea"/>
                      </a:endParaRPr>
                    </a:p>
                  </a:txBody>
                  <a:tcPr marL="51439" marR="51439" marT="25720" marB="25720" anchor="ctr"/>
                </a:tc>
                <a:tc>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범위</a:t>
                      </a:r>
                      <a:endParaRPr lang="ko-KR" altLang="en-US" sz="1100" b="1" kern="0" spc="0">
                        <a:solidFill>
                          <a:schemeClr val="tx1"/>
                        </a:solidFill>
                        <a:effectLst/>
                        <a:latin typeface="+mn-ea"/>
                        <a:ea typeface="+mn-ea"/>
                      </a:endParaRPr>
                    </a:p>
                  </a:txBody>
                  <a:tcPr marL="51439" marR="51439" marT="25720" marB="25720" anchor="ctr"/>
                </a:tc>
                <a:tc rowSpan="2">
                  <a:txBody>
                    <a:bodyPr/>
                    <a:lstStyle/>
                    <a:p>
                      <a:pPr marL="0" marR="0" indent="0" algn="just" fontAlgn="base" latinLnBrk="1">
                        <a:lnSpc>
                          <a:spcPct val="100000"/>
                        </a:lnSpc>
                        <a:spcBef>
                          <a:spcPts val="0"/>
                        </a:spcBef>
                        <a:spcAft>
                          <a:spcPts val="0"/>
                        </a:spcAft>
                      </a:pPr>
                      <a:r>
                        <a:rPr lang="ko-KR" altLang="en-US" sz="1100" kern="0" spc="0" dirty="0">
                          <a:solidFill>
                            <a:schemeClr val="tx1"/>
                          </a:solidFill>
                          <a:effectLst/>
                        </a:rPr>
                        <a:t>　</a:t>
                      </a:r>
                    </a:p>
                    <a:p>
                      <a:pPr marL="0" marR="0" indent="0" algn="just" fontAlgn="base" latinLnBrk="1">
                        <a:lnSpc>
                          <a:spcPct val="100000"/>
                        </a:lnSpc>
                        <a:spcBef>
                          <a:spcPts val="0"/>
                        </a:spcBef>
                        <a:spcAft>
                          <a:spcPts val="0"/>
                        </a:spcAft>
                      </a:pPr>
                      <a:r>
                        <a:rPr lang="en-US" altLang="ko-KR" sz="1100" kern="0" spc="0" dirty="0">
                          <a:solidFill>
                            <a:schemeClr val="tx1"/>
                          </a:solidFill>
                          <a:effectLst/>
                        </a:rPr>
                        <a:t>1.</a:t>
                      </a:r>
                      <a:r>
                        <a:rPr lang="ko-KR" altLang="en-US" sz="1100" kern="0" spc="0" dirty="0">
                          <a:solidFill>
                            <a:schemeClr val="tx1"/>
                          </a:solidFill>
                          <a:effectLst/>
                        </a:rPr>
                        <a:t>특허부여요구권</a:t>
                      </a:r>
                      <a:endParaRPr lang="en-US" altLang="ko-KR" sz="1100" kern="0" spc="0" dirty="0">
                        <a:solidFill>
                          <a:schemeClr val="tx1"/>
                        </a:solidFill>
                        <a:effectLst/>
                      </a:endParaRPr>
                    </a:p>
                    <a:p>
                      <a:pPr marL="0" marR="0" indent="0" algn="just" fontAlgn="base" latinLnBrk="1">
                        <a:lnSpc>
                          <a:spcPct val="100000"/>
                        </a:lnSpc>
                        <a:spcBef>
                          <a:spcPts val="0"/>
                        </a:spcBef>
                        <a:spcAft>
                          <a:spcPts val="0"/>
                        </a:spcAft>
                      </a:pPr>
                      <a:r>
                        <a:rPr lang="ko-KR" altLang="en-US" sz="1100" kern="0" spc="0" dirty="0">
                          <a:solidFill>
                            <a:schemeClr val="tx1"/>
                          </a:solidFill>
                          <a:effectLst/>
                        </a:rPr>
                        <a:t>①특허부여의 요구</a:t>
                      </a:r>
                      <a:r>
                        <a:rPr lang="en-US" altLang="ko-KR" sz="1100" kern="0" spc="0" dirty="0">
                          <a:solidFill>
                            <a:schemeClr val="tx1"/>
                          </a:solidFill>
                          <a:effectLst/>
                        </a:rPr>
                        <a:t>(</a:t>
                      </a:r>
                      <a:r>
                        <a:rPr lang="ko-KR" altLang="en-US" sz="1100" kern="0" spc="0" dirty="0">
                          <a:solidFill>
                            <a:schemeClr val="tx1"/>
                          </a:solidFill>
                          <a:effectLst/>
                        </a:rPr>
                        <a:t>法</a:t>
                      </a:r>
                      <a:r>
                        <a:rPr lang="en-US" altLang="ko-KR" sz="1100" kern="0" spc="0" dirty="0">
                          <a:solidFill>
                            <a:schemeClr val="tx1"/>
                          </a:solidFill>
                          <a:effectLst/>
                        </a:rPr>
                        <a:t>42)</a:t>
                      </a:r>
                      <a:endParaRPr lang="ko-KR" altLang="en-US" sz="1100" kern="0" spc="0" dirty="0">
                        <a:solidFill>
                          <a:schemeClr val="tx1"/>
                        </a:solidFill>
                        <a:effectLst/>
                      </a:endParaRPr>
                    </a:p>
                    <a:p>
                      <a:pPr marL="0" marR="0" indent="0" algn="just" fontAlgn="base" latinLnBrk="1">
                        <a:lnSpc>
                          <a:spcPct val="100000"/>
                        </a:lnSpc>
                        <a:spcBef>
                          <a:spcPts val="0"/>
                        </a:spcBef>
                        <a:spcAft>
                          <a:spcPts val="0"/>
                        </a:spcAft>
                      </a:pPr>
                      <a:r>
                        <a:rPr lang="ko-KR" altLang="en-US" sz="1100" kern="0" spc="0" dirty="0">
                          <a:solidFill>
                            <a:schemeClr val="tx1"/>
                          </a:solidFill>
                          <a:effectLst/>
                        </a:rPr>
                        <a:t>②타인의 등록금지</a:t>
                      </a:r>
                    </a:p>
                    <a:p>
                      <a:pPr marL="0" marR="0" indent="0" algn="just" fontAlgn="base" latinLnBrk="1">
                        <a:lnSpc>
                          <a:spcPct val="100000"/>
                        </a:lnSpc>
                        <a:spcBef>
                          <a:spcPts val="0"/>
                        </a:spcBef>
                        <a:spcAft>
                          <a:spcPts val="0"/>
                        </a:spcAft>
                      </a:pPr>
                      <a:r>
                        <a:rPr lang="en-US" altLang="ko-KR" sz="1100" kern="0" spc="0" dirty="0">
                          <a:solidFill>
                            <a:schemeClr val="tx1"/>
                          </a:solidFill>
                          <a:effectLst/>
                        </a:rPr>
                        <a:t>2.</a:t>
                      </a:r>
                      <a:r>
                        <a:rPr lang="ko-KR" altLang="en-US" sz="1100" kern="0" spc="0" dirty="0">
                          <a:solidFill>
                            <a:schemeClr val="tx1"/>
                          </a:solidFill>
                          <a:effectLst/>
                        </a:rPr>
                        <a:t>발명자권</a:t>
                      </a:r>
                      <a:endParaRPr lang="en-US" altLang="ko-KR" sz="1100" kern="0" spc="0" dirty="0">
                        <a:solidFill>
                          <a:schemeClr val="tx1"/>
                        </a:solidFill>
                        <a:effectLst/>
                      </a:endParaRPr>
                    </a:p>
                    <a:p>
                      <a:pPr marL="0" marR="0" indent="0" algn="just" fontAlgn="base" latinLnBrk="1">
                        <a:lnSpc>
                          <a:spcPct val="100000"/>
                        </a:lnSpc>
                        <a:spcBef>
                          <a:spcPts val="0"/>
                        </a:spcBef>
                        <a:spcAft>
                          <a:spcPts val="0"/>
                        </a:spcAft>
                      </a:pPr>
                      <a:r>
                        <a:rPr lang="ko-KR" altLang="en-US" sz="1100" kern="0" spc="0" dirty="0">
                          <a:solidFill>
                            <a:schemeClr val="tx1"/>
                          </a:solidFill>
                          <a:effectLst/>
                        </a:rPr>
                        <a:t>①인격권</a:t>
                      </a:r>
                      <a:endParaRPr lang="en-US" altLang="ko-KR" sz="1100" kern="0" spc="0" dirty="0">
                        <a:solidFill>
                          <a:schemeClr val="tx1"/>
                        </a:solidFill>
                        <a:effectLst/>
                      </a:endParaRPr>
                    </a:p>
                    <a:p>
                      <a:pPr marL="0" marR="0" indent="0" algn="just" fontAlgn="base" latinLnBrk="1">
                        <a:lnSpc>
                          <a:spcPct val="100000"/>
                        </a:lnSpc>
                        <a:spcBef>
                          <a:spcPts val="0"/>
                        </a:spcBef>
                        <a:spcAft>
                          <a:spcPts val="0"/>
                        </a:spcAft>
                      </a:pPr>
                      <a:r>
                        <a:rPr lang="ko-KR" altLang="en-US" sz="1100" kern="0" spc="0" dirty="0">
                          <a:solidFill>
                            <a:schemeClr val="tx1"/>
                          </a:solidFill>
                          <a:effectLst/>
                        </a:rPr>
                        <a:t>②재산권</a:t>
                      </a:r>
                    </a:p>
                  </a:txBody>
                  <a:tcPr marL="51439" marR="51439" marT="25720" marB="25720" anchor="ctr"/>
                </a:tc>
                <a:tc rowSpan="2">
                  <a:txBody>
                    <a:bodyPr/>
                    <a:lstStyle/>
                    <a:p>
                      <a:pPr marL="0" marR="0" indent="0" algn="just" fontAlgn="base" latinLnBrk="1">
                        <a:lnSpc>
                          <a:spcPct val="100000"/>
                        </a:lnSpc>
                        <a:spcBef>
                          <a:spcPts val="0"/>
                        </a:spcBef>
                        <a:spcAft>
                          <a:spcPts val="0"/>
                        </a:spcAft>
                      </a:pPr>
                      <a:r>
                        <a:rPr lang="ko-KR" altLang="en-US" sz="1100" kern="0" spc="0" dirty="0">
                          <a:solidFill>
                            <a:schemeClr val="tx1"/>
                          </a:solidFill>
                          <a:effectLst/>
                        </a:rPr>
                        <a:t>　</a:t>
                      </a:r>
                    </a:p>
                    <a:p>
                      <a:pPr marL="73660" marR="0" indent="-73660" algn="just" fontAlgn="base" latinLnBrk="1">
                        <a:lnSpc>
                          <a:spcPct val="100000"/>
                        </a:lnSpc>
                        <a:spcBef>
                          <a:spcPts val="0"/>
                        </a:spcBef>
                        <a:spcAft>
                          <a:spcPts val="0"/>
                        </a:spcAft>
                      </a:pPr>
                      <a:r>
                        <a:rPr lang="en-US" altLang="ko-KR" sz="1100" kern="0" spc="0" dirty="0">
                          <a:solidFill>
                            <a:schemeClr val="tx1"/>
                          </a:solidFill>
                          <a:effectLst/>
                        </a:rPr>
                        <a:t>1.</a:t>
                      </a:r>
                      <a:r>
                        <a:rPr lang="ko-KR" altLang="en-US" sz="1100" kern="0" spc="0" dirty="0">
                          <a:solidFill>
                            <a:schemeClr val="tx1"/>
                          </a:solidFill>
                          <a:effectLst/>
                        </a:rPr>
                        <a:t>보상금액</a:t>
                      </a:r>
                      <a:r>
                        <a:rPr lang="en-US" altLang="ko-KR" sz="1100" kern="0" spc="0" dirty="0">
                          <a:solidFill>
                            <a:schemeClr val="tx1"/>
                          </a:solidFill>
                          <a:effectLst/>
                        </a:rPr>
                        <a:t>(</a:t>
                      </a:r>
                      <a:r>
                        <a:rPr lang="ko-KR" altLang="en-US" sz="1100" kern="0" spc="0" dirty="0">
                          <a:solidFill>
                            <a:schemeClr val="tx1"/>
                          </a:solidFill>
                          <a:effectLst/>
                        </a:rPr>
                        <a:t>法</a:t>
                      </a:r>
                      <a:r>
                        <a:rPr lang="en-US" altLang="ko-KR" sz="1100" kern="0" spc="0" dirty="0">
                          <a:solidFill>
                            <a:schemeClr val="tx1"/>
                          </a:solidFill>
                          <a:effectLst/>
                        </a:rPr>
                        <a:t>65</a:t>
                      </a:r>
                      <a:r>
                        <a:rPr lang="ko-KR" altLang="en-US" sz="1100" kern="0" spc="0" dirty="0">
                          <a:solidFill>
                            <a:schemeClr val="tx1"/>
                          </a:solidFill>
                          <a:effectLst/>
                        </a:rPr>
                        <a:t>②</a:t>
                      </a:r>
                      <a:r>
                        <a:rPr lang="en-US" altLang="ko-KR" sz="1100" kern="0" spc="0" dirty="0">
                          <a:solidFill>
                            <a:schemeClr val="tx1"/>
                          </a:solidFill>
                          <a:effectLst/>
                        </a:rPr>
                        <a:t>)-</a:t>
                      </a:r>
                      <a:r>
                        <a:rPr lang="ko-KR" altLang="en-US" sz="1100" kern="0" spc="0" dirty="0">
                          <a:solidFill>
                            <a:schemeClr val="tx1"/>
                          </a:solidFill>
                          <a:effectLst/>
                        </a:rPr>
                        <a:t>경고받거나 알았을 때부터 설정등록을 한 때까지의 기간 동안 그 특허발명의 실시에 합리적으로 받을 수 있는 금액에 상당하는 보상금의 지급을 청구</a:t>
                      </a:r>
                    </a:p>
                    <a:p>
                      <a:pPr marL="0" marR="0" indent="0" algn="just" fontAlgn="base" latinLnBrk="1">
                        <a:lnSpc>
                          <a:spcPct val="100000"/>
                        </a:lnSpc>
                        <a:spcBef>
                          <a:spcPts val="0"/>
                        </a:spcBef>
                        <a:spcAft>
                          <a:spcPts val="0"/>
                        </a:spcAft>
                      </a:pPr>
                      <a:r>
                        <a:rPr lang="en-US" altLang="ko-KR" sz="1100" kern="0" spc="0" dirty="0">
                          <a:solidFill>
                            <a:schemeClr val="tx1"/>
                          </a:solidFill>
                          <a:effectLst/>
                        </a:rPr>
                        <a:t>2.</a:t>
                      </a:r>
                      <a:r>
                        <a:rPr lang="ko-KR" altLang="en-US" sz="1100" kern="0" spc="0" dirty="0">
                          <a:solidFill>
                            <a:schemeClr val="tx1"/>
                          </a:solidFill>
                          <a:effectLst/>
                        </a:rPr>
                        <a:t>행사시기</a:t>
                      </a:r>
                      <a:r>
                        <a:rPr lang="en-US" altLang="ko-KR" sz="1100" kern="0" spc="0" dirty="0">
                          <a:solidFill>
                            <a:schemeClr val="tx1"/>
                          </a:solidFill>
                          <a:effectLst/>
                        </a:rPr>
                        <a:t>(</a:t>
                      </a:r>
                      <a:r>
                        <a:rPr lang="ko-KR" altLang="en-US" sz="1100" kern="0" spc="0" dirty="0">
                          <a:solidFill>
                            <a:schemeClr val="tx1"/>
                          </a:solidFill>
                          <a:effectLst/>
                        </a:rPr>
                        <a:t>法</a:t>
                      </a:r>
                      <a:r>
                        <a:rPr lang="en-US" altLang="ko-KR" sz="1100" kern="0" spc="0" dirty="0">
                          <a:solidFill>
                            <a:schemeClr val="tx1"/>
                          </a:solidFill>
                          <a:effectLst/>
                        </a:rPr>
                        <a:t>65</a:t>
                      </a:r>
                      <a:r>
                        <a:rPr lang="ko-KR" altLang="en-US" sz="1100" kern="0" spc="0" dirty="0">
                          <a:solidFill>
                            <a:schemeClr val="tx1"/>
                          </a:solidFill>
                          <a:effectLst/>
                        </a:rPr>
                        <a:t>③</a:t>
                      </a:r>
                      <a:r>
                        <a:rPr lang="en-US" altLang="ko-KR" sz="1100" kern="0" spc="0" dirty="0">
                          <a:solidFill>
                            <a:schemeClr val="tx1"/>
                          </a:solidFill>
                          <a:effectLst/>
                        </a:rPr>
                        <a:t>)-</a:t>
                      </a:r>
                      <a:r>
                        <a:rPr lang="ko-KR" altLang="en-US" sz="1100" kern="0" spc="0" dirty="0">
                          <a:solidFill>
                            <a:schemeClr val="tx1"/>
                          </a:solidFill>
                          <a:effectLst/>
                        </a:rPr>
                        <a:t>등록 후</a:t>
                      </a:r>
                    </a:p>
                    <a:p>
                      <a:pPr marL="0" marR="0" indent="0" algn="just" fontAlgn="base" latinLnBrk="1">
                        <a:lnSpc>
                          <a:spcPct val="100000"/>
                        </a:lnSpc>
                        <a:spcBef>
                          <a:spcPts val="0"/>
                        </a:spcBef>
                        <a:spcAft>
                          <a:spcPts val="0"/>
                        </a:spcAft>
                      </a:pPr>
                      <a:r>
                        <a:rPr lang="en-US" altLang="ko-KR" sz="1100" kern="0" spc="0" dirty="0">
                          <a:solidFill>
                            <a:schemeClr val="tx1"/>
                          </a:solidFill>
                          <a:effectLst/>
                        </a:rPr>
                        <a:t>3.</a:t>
                      </a:r>
                      <a:r>
                        <a:rPr lang="ko-KR" altLang="en-US" sz="1100" kern="0" spc="0" dirty="0">
                          <a:solidFill>
                            <a:schemeClr val="tx1"/>
                          </a:solidFill>
                          <a:effectLst/>
                        </a:rPr>
                        <a:t>독립성</a:t>
                      </a:r>
                      <a:r>
                        <a:rPr lang="en-US" altLang="ko-KR" sz="1100" kern="0" spc="0" dirty="0">
                          <a:solidFill>
                            <a:schemeClr val="tx1"/>
                          </a:solidFill>
                          <a:effectLst/>
                        </a:rPr>
                        <a:t>(</a:t>
                      </a:r>
                      <a:r>
                        <a:rPr lang="ko-KR" altLang="en-US" sz="1100" kern="0" spc="0" dirty="0">
                          <a:solidFill>
                            <a:schemeClr val="tx1"/>
                          </a:solidFill>
                          <a:effectLst/>
                        </a:rPr>
                        <a:t>法</a:t>
                      </a:r>
                      <a:r>
                        <a:rPr lang="en-US" altLang="ko-KR" sz="1100" kern="0" spc="0" dirty="0">
                          <a:solidFill>
                            <a:schemeClr val="tx1"/>
                          </a:solidFill>
                          <a:effectLst/>
                        </a:rPr>
                        <a:t>65</a:t>
                      </a:r>
                      <a:r>
                        <a:rPr lang="ko-KR" altLang="en-US" sz="1100" kern="0" spc="0" dirty="0">
                          <a:solidFill>
                            <a:schemeClr val="tx1"/>
                          </a:solidFill>
                          <a:effectLst/>
                        </a:rPr>
                        <a:t>④</a:t>
                      </a:r>
                      <a:r>
                        <a:rPr lang="en-US" altLang="ko-KR" sz="1100" kern="0" spc="0" dirty="0">
                          <a:solidFill>
                            <a:schemeClr val="tx1"/>
                          </a:solidFill>
                          <a:effectLst/>
                        </a:rPr>
                        <a:t>)-</a:t>
                      </a:r>
                      <a:r>
                        <a:rPr lang="ko-KR" altLang="en-US" sz="1100" kern="0" spc="0" dirty="0">
                          <a:solidFill>
                            <a:schemeClr val="tx1"/>
                          </a:solidFill>
                          <a:effectLst/>
                        </a:rPr>
                        <a:t>특허권과 별개</a:t>
                      </a:r>
                    </a:p>
                    <a:p>
                      <a:pPr marL="0" marR="0" indent="0" algn="just" fontAlgn="base" latinLnBrk="1">
                        <a:lnSpc>
                          <a:spcPct val="100000"/>
                        </a:lnSpc>
                        <a:spcBef>
                          <a:spcPts val="0"/>
                        </a:spcBef>
                        <a:spcAft>
                          <a:spcPts val="0"/>
                        </a:spcAft>
                      </a:pPr>
                      <a:r>
                        <a:rPr lang="en-US" altLang="ko-KR" sz="1100" kern="0" spc="0" dirty="0">
                          <a:solidFill>
                            <a:schemeClr val="tx1"/>
                          </a:solidFill>
                          <a:effectLst/>
                        </a:rPr>
                        <a:t>4.</a:t>
                      </a:r>
                      <a:r>
                        <a:rPr lang="ko-KR" altLang="en-US" sz="1100" kern="0" spc="0" dirty="0">
                          <a:solidFill>
                            <a:schemeClr val="tx1"/>
                          </a:solidFill>
                          <a:effectLst/>
                        </a:rPr>
                        <a:t>준용규정</a:t>
                      </a:r>
                      <a:r>
                        <a:rPr lang="en-US" altLang="ko-KR" sz="1100" kern="0" spc="0" dirty="0">
                          <a:solidFill>
                            <a:schemeClr val="tx1"/>
                          </a:solidFill>
                          <a:effectLst/>
                        </a:rPr>
                        <a:t>(</a:t>
                      </a:r>
                      <a:r>
                        <a:rPr lang="ko-KR" altLang="en-US" sz="1100" kern="0" spc="0" dirty="0">
                          <a:solidFill>
                            <a:schemeClr val="tx1"/>
                          </a:solidFill>
                          <a:effectLst/>
                        </a:rPr>
                        <a:t>法</a:t>
                      </a:r>
                      <a:r>
                        <a:rPr lang="en-US" altLang="ko-KR" sz="1100" kern="0" spc="0" dirty="0">
                          <a:solidFill>
                            <a:schemeClr val="tx1"/>
                          </a:solidFill>
                          <a:effectLst/>
                        </a:rPr>
                        <a:t>65</a:t>
                      </a:r>
                      <a:r>
                        <a:rPr lang="ko-KR" altLang="en-US" sz="1100" kern="0" spc="0" dirty="0">
                          <a:solidFill>
                            <a:schemeClr val="tx1"/>
                          </a:solidFill>
                          <a:effectLst/>
                        </a:rPr>
                        <a:t>⑤</a:t>
                      </a:r>
                      <a:r>
                        <a:rPr lang="en-US" altLang="ko-KR" sz="1100" kern="0" spc="0" dirty="0">
                          <a:solidFill>
                            <a:schemeClr val="tx1"/>
                          </a:solidFill>
                          <a:effectLst/>
                        </a:rPr>
                        <a:t>)</a:t>
                      </a:r>
                      <a:endParaRPr lang="ko-KR" altLang="en-US" sz="1100" kern="0" spc="0" dirty="0">
                        <a:solidFill>
                          <a:schemeClr val="tx1"/>
                        </a:solidFill>
                        <a:effectLst/>
                      </a:endParaRPr>
                    </a:p>
                    <a:p>
                      <a:pPr marL="0" marR="0" indent="0" algn="just" fontAlgn="base" latinLnBrk="1">
                        <a:lnSpc>
                          <a:spcPct val="100000"/>
                        </a:lnSpc>
                        <a:spcBef>
                          <a:spcPts val="0"/>
                        </a:spcBef>
                        <a:spcAft>
                          <a:spcPts val="0"/>
                        </a:spcAft>
                      </a:pPr>
                      <a:r>
                        <a:rPr lang="ko-KR" altLang="en-US" sz="1100" kern="0" spc="0" dirty="0">
                          <a:solidFill>
                            <a:schemeClr val="tx1"/>
                          </a:solidFill>
                          <a:effectLst/>
                        </a:rPr>
                        <a:t>①특허법상</a:t>
                      </a:r>
                      <a:r>
                        <a:rPr lang="en-US" altLang="ko-KR" sz="1100" kern="0" spc="0" dirty="0">
                          <a:solidFill>
                            <a:schemeClr val="tx1"/>
                          </a:solidFill>
                          <a:effectLst/>
                        </a:rPr>
                        <a:t>-</a:t>
                      </a:r>
                      <a:r>
                        <a:rPr lang="ko-KR" altLang="en-US" sz="1100" kern="0" spc="0" dirty="0">
                          <a:solidFill>
                            <a:schemeClr val="tx1"/>
                          </a:solidFill>
                          <a:effectLst/>
                        </a:rPr>
                        <a:t>간</a:t>
                      </a:r>
                      <a:r>
                        <a:rPr lang="en-US" altLang="ko-KR" sz="1100" kern="0" spc="0" dirty="0">
                          <a:solidFill>
                            <a:schemeClr val="tx1"/>
                          </a:solidFill>
                          <a:effectLst/>
                        </a:rPr>
                        <a:t>(</a:t>
                      </a:r>
                      <a:r>
                        <a:rPr lang="ko-KR" altLang="en-US" sz="1100" kern="0" spc="0" dirty="0">
                          <a:solidFill>
                            <a:schemeClr val="tx1"/>
                          </a:solidFill>
                          <a:effectLst/>
                        </a:rPr>
                        <a:t>法 </a:t>
                      </a:r>
                      <a:r>
                        <a:rPr lang="en-US" altLang="ko-KR" sz="1100" kern="0" spc="0" dirty="0">
                          <a:solidFill>
                            <a:schemeClr val="tx1"/>
                          </a:solidFill>
                          <a:effectLst/>
                        </a:rPr>
                        <a:t>127), </a:t>
                      </a:r>
                      <a:r>
                        <a:rPr lang="ko-KR" altLang="en-US" sz="1100" kern="0" spc="0" dirty="0">
                          <a:solidFill>
                            <a:schemeClr val="tx1"/>
                          </a:solidFill>
                          <a:effectLst/>
                        </a:rPr>
                        <a:t>생</a:t>
                      </a:r>
                      <a:r>
                        <a:rPr lang="en-US" altLang="ko-KR" sz="1100" kern="0" spc="0" dirty="0">
                          <a:solidFill>
                            <a:schemeClr val="tx1"/>
                          </a:solidFill>
                          <a:effectLst/>
                        </a:rPr>
                        <a:t>(</a:t>
                      </a:r>
                      <a:r>
                        <a:rPr lang="ko-KR" altLang="en-US" sz="1100" kern="0" spc="0" dirty="0">
                          <a:solidFill>
                            <a:schemeClr val="tx1"/>
                          </a:solidFill>
                          <a:effectLst/>
                        </a:rPr>
                        <a:t>法 </a:t>
                      </a:r>
                      <a:r>
                        <a:rPr lang="en-US" altLang="ko-KR" sz="1100" kern="0" spc="0" dirty="0">
                          <a:solidFill>
                            <a:schemeClr val="tx1"/>
                          </a:solidFill>
                          <a:effectLst/>
                        </a:rPr>
                        <a:t>129), </a:t>
                      </a:r>
                      <a:r>
                        <a:rPr lang="ko-KR" altLang="en-US" sz="1100" kern="0" spc="0" dirty="0">
                          <a:solidFill>
                            <a:schemeClr val="tx1"/>
                          </a:solidFill>
                          <a:effectLst/>
                        </a:rPr>
                        <a:t>자</a:t>
                      </a:r>
                      <a:r>
                        <a:rPr lang="en-US" altLang="ko-KR" sz="1100" kern="0" spc="0" dirty="0">
                          <a:solidFill>
                            <a:schemeClr val="tx1"/>
                          </a:solidFill>
                          <a:effectLst/>
                        </a:rPr>
                        <a:t>(</a:t>
                      </a:r>
                      <a:r>
                        <a:rPr lang="ko-KR" altLang="en-US" sz="1100" kern="0" spc="0" dirty="0">
                          <a:solidFill>
                            <a:schemeClr val="tx1"/>
                          </a:solidFill>
                          <a:effectLst/>
                        </a:rPr>
                        <a:t>法 </a:t>
                      </a:r>
                      <a:r>
                        <a:rPr lang="en-US" altLang="ko-KR" sz="1100" kern="0" spc="0" dirty="0">
                          <a:solidFill>
                            <a:schemeClr val="tx1"/>
                          </a:solidFill>
                          <a:effectLst/>
                        </a:rPr>
                        <a:t>132)</a:t>
                      </a:r>
                      <a:endParaRPr lang="ko-KR" altLang="en-US" sz="1100" kern="0" spc="0" dirty="0">
                        <a:solidFill>
                          <a:schemeClr val="tx1"/>
                        </a:solidFill>
                        <a:effectLst/>
                      </a:endParaRPr>
                    </a:p>
                    <a:p>
                      <a:pPr marL="0" marR="0" indent="0" algn="just" fontAlgn="base" latinLnBrk="1">
                        <a:lnSpc>
                          <a:spcPct val="100000"/>
                        </a:lnSpc>
                        <a:spcBef>
                          <a:spcPts val="0"/>
                        </a:spcBef>
                        <a:spcAft>
                          <a:spcPts val="0"/>
                        </a:spcAft>
                      </a:pPr>
                      <a:r>
                        <a:rPr lang="ko-KR" altLang="en-US" sz="1100" kern="0" spc="0" dirty="0">
                          <a:solidFill>
                            <a:schemeClr val="tx1"/>
                          </a:solidFill>
                          <a:effectLst/>
                        </a:rPr>
                        <a:t>②민법상</a:t>
                      </a:r>
                      <a:r>
                        <a:rPr lang="en-US" altLang="ko-KR" sz="1100" kern="0" spc="0" dirty="0">
                          <a:solidFill>
                            <a:schemeClr val="tx1"/>
                          </a:solidFill>
                          <a:effectLst/>
                        </a:rPr>
                        <a:t>-</a:t>
                      </a:r>
                      <a:r>
                        <a:rPr lang="ko-KR" altLang="en-US" sz="1100" kern="0" spc="0" dirty="0">
                          <a:solidFill>
                            <a:schemeClr val="tx1"/>
                          </a:solidFill>
                          <a:effectLst/>
                        </a:rPr>
                        <a:t>공</a:t>
                      </a:r>
                      <a:r>
                        <a:rPr lang="en-US" altLang="ko-KR" sz="1100" kern="0" spc="0" dirty="0">
                          <a:solidFill>
                            <a:schemeClr val="tx1"/>
                          </a:solidFill>
                          <a:effectLst/>
                        </a:rPr>
                        <a:t>(</a:t>
                      </a:r>
                      <a:r>
                        <a:rPr lang="ko-KR" altLang="en-US" sz="1100" kern="0" spc="0" dirty="0">
                          <a:solidFill>
                            <a:schemeClr val="tx1"/>
                          </a:solidFill>
                          <a:effectLst/>
                        </a:rPr>
                        <a:t>民法 </a:t>
                      </a:r>
                      <a:r>
                        <a:rPr lang="en-US" altLang="ko-KR" sz="1100" kern="0" spc="0" dirty="0">
                          <a:solidFill>
                            <a:schemeClr val="tx1"/>
                          </a:solidFill>
                          <a:effectLst/>
                        </a:rPr>
                        <a:t>760), </a:t>
                      </a:r>
                      <a:r>
                        <a:rPr lang="ko-KR" altLang="en-US" sz="1100" kern="0" spc="0" dirty="0">
                          <a:solidFill>
                            <a:schemeClr val="tx1"/>
                          </a:solidFill>
                          <a:effectLst/>
                        </a:rPr>
                        <a:t>소</a:t>
                      </a:r>
                      <a:r>
                        <a:rPr lang="en-US" altLang="ko-KR" sz="1100" kern="0" spc="0" dirty="0">
                          <a:solidFill>
                            <a:schemeClr val="tx1"/>
                          </a:solidFill>
                          <a:effectLst/>
                        </a:rPr>
                        <a:t>(</a:t>
                      </a:r>
                      <a:r>
                        <a:rPr lang="ko-KR" altLang="en-US" sz="1100" kern="0" spc="0" dirty="0">
                          <a:solidFill>
                            <a:schemeClr val="tx1"/>
                          </a:solidFill>
                          <a:effectLst/>
                        </a:rPr>
                        <a:t>民法 </a:t>
                      </a:r>
                      <a:r>
                        <a:rPr lang="en-US" altLang="ko-KR" sz="1100" kern="0" spc="0" dirty="0">
                          <a:solidFill>
                            <a:schemeClr val="tx1"/>
                          </a:solidFill>
                          <a:effectLst/>
                        </a:rPr>
                        <a:t>766)</a:t>
                      </a:r>
                      <a:endParaRPr lang="ko-KR" altLang="en-US" sz="1100" kern="0" spc="0" dirty="0">
                        <a:solidFill>
                          <a:schemeClr val="tx1"/>
                        </a:solidFill>
                        <a:effectLst/>
                        <a:latin typeface="+mn-ea"/>
                        <a:ea typeface="+mn-ea"/>
                      </a:endParaRPr>
                    </a:p>
                  </a:txBody>
                  <a:tcPr marL="51439" marR="51439" marT="25720" marB="25720" anchor="ctr"/>
                </a:tc>
                <a:extLst>
                  <a:ext uri="{0D108BD9-81ED-4DB2-BD59-A6C34878D82A}">
                    <a16:rowId xmlns:a16="http://schemas.microsoft.com/office/drawing/2014/main" val="10005"/>
                  </a:ext>
                </a:extLst>
              </a:tr>
              <a:tr h="984372">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내용</a:t>
                      </a:r>
                      <a:endParaRPr lang="ko-KR" altLang="en-US" sz="1100" b="1" kern="0" spc="0">
                        <a:solidFill>
                          <a:schemeClr val="tx1"/>
                        </a:solidFill>
                        <a:effectLst/>
                        <a:latin typeface="+mn-ea"/>
                        <a:ea typeface="+mn-ea"/>
                      </a:endParaRPr>
                    </a:p>
                  </a:txBody>
                  <a:tcPr marL="51439" marR="51439" marT="25720" marB="25720" anchor="ct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6"/>
                  </a:ext>
                </a:extLst>
              </a:tr>
              <a:tr h="400304">
                <a:tc rowSpan="3">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변동</a:t>
                      </a:r>
                      <a:endParaRPr lang="ko-KR" altLang="en-US" sz="1100" b="1" kern="0" spc="0">
                        <a:solidFill>
                          <a:schemeClr val="tx1"/>
                        </a:solidFill>
                        <a:effectLst/>
                        <a:latin typeface="+mn-ea"/>
                        <a:ea typeface="+mn-ea"/>
                      </a:endParaRPr>
                    </a:p>
                  </a:txBody>
                  <a:tcPr marL="51439" marR="51439" marT="25720" marB="25720" anchor="ctr"/>
                </a:tc>
                <a:tc>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이전</a:t>
                      </a:r>
                      <a:endParaRPr lang="ko-KR" altLang="en-US" sz="1100" b="1" kern="0" spc="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100" kern="0" spc="0" dirty="0">
                          <a:solidFill>
                            <a:schemeClr val="tx1"/>
                          </a:solidFill>
                          <a:effectLst/>
                        </a:rPr>
                        <a:t>1.</a:t>
                      </a:r>
                      <a:r>
                        <a:rPr lang="ko-KR" altLang="en-US" sz="1100" kern="0" spc="0" dirty="0">
                          <a:solidFill>
                            <a:schemeClr val="tx1"/>
                          </a:solidFill>
                          <a:effectLst/>
                        </a:rPr>
                        <a:t>이전가능</a:t>
                      </a:r>
                      <a:r>
                        <a:rPr lang="en-US" altLang="ko-KR" sz="1100" kern="0" spc="0" dirty="0">
                          <a:solidFill>
                            <a:schemeClr val="tx1"/>
                          </a:solidFill>
                          <a:effectLst/>
                        </a:rPr>
                        <a:t>(</a:t>
                      </a:r>
                      <a:r>
                        <a:rPr lang="ko-KR" altLang="en-US" sz="1100" kern="0" spc="0" dirty="0">
                          <a:solidFill>
                            <a:schemeClr val="tx1"/>
                          </a:solidFill>
                          <a:effectLst/>
                        </a:rPr>
                        <a:t>法 </a:t>
                      </a:r>
                      <a:r>
                        <a:rPr lang="en-US" altLang="ko-KR" sz="1100" kern="0" spc="0" dirty="0">
                          <a:solidFill>
                            <a:schemeClr val="tx1"/>
                          </a:solidFill>
                          <a:effectLst/>
                        </a:rPr>
                        <a:t>37</a:t>
                      </a:r>
                      <a:r>
                        <a:rPr lang="ko-KR" altLang="en-US" sz="1100" kern="0" spc="0" dirty="0">
                          <a:solidFill>
                            <a:schemeClr val="tx1"/>
                          </a:solidFill>
                          <a:effectLst/>
                        </a:rPr>
                        <a:t>①</a:t>
                      </a:r>
                      <a:r>
                        <a:rPr lang="en-US" altLang="ko-KR" sz="1100" kern="0" spc="0" dirty="0">
                          <a:solidFill>
                            <a:schemeClr val="tx1"/>
                          </a:solidFill>
                          <a:effectLst/>
                        </a:rPr>
                        <a:t>)</a:t>
                      </a:r>
                      <a:endParaRPr lang="ko-KR" altLang="en-US" sz="1100" kern="0" spc="0" dirty="0">
                        <a:solidFill>
                          <a:schemeClr val="tx1"/>
                        </a:solidFill>
                        <a:effectLst/>
                      </a:endParaRPr>
                    </a:p>
                    <a:p>
                      <a:pPr marL="0" marR="0" indent="0" algn="just" fontAlgn="base" latinLnBrk="1">
                        <a:lnSpc>
                          <a:spcPct val="100000"/>
                        </a:lnSpc>
                        <a:spcBef>
                          <a:spcPts val="0"/>
                        </a:spcBef>
                        <a:spcAft>
                          <a:spcPts val="0"/>
                        </a:spcAft>
                      </a:pPr>
                      <a:r>
                        <a:rPr lang="en-US" altLang="ko-KR" sz="1100" kern="0" spc="0" dirty="0">
                          <a:solidFill>
                            <a:schemeClr val="tx1"/>
                          </a:solidFill>
                          <a:effectLst/>
                        </a:rPr>
                        <a:t>2.</a:t>
                      </a:r>
                      <a:r>
                        <a:rPr lang="ko-KR" altLang="en-US" sz="1100" kern="0" spc="0" dirty="0" err="1">
                          <a:solidFill>
                            <a:schemeClr val="tx1"/>
                          </a:solidFill>
                          <a:effectLst/>
                        </a:rPr>
                        <a:t>특받권의</a:t>
                      </a:r>
                      <a:r>
                        <a:rPr lang="ko-KR" altLang="en-US" sz="1100" kern="0" spc="0" dirty="0">
                          <a:solidFill>
                            <a:schemeClr val="tx1"/>
                          </a:solidFill>
                          <a:effectLst/>
                        </a:rPr>
                        <a:t> 승계</a:t>
                      </a:r>
                      <a:r>
                        <a:rPr lang="en-US" altLang="ko-KR" sz="1100" kern="0" spc="0" dirty="0">
                          <a:solidFill>
                            <a:schemeClr val="tx1"/>
                          </a:solidFill>
                          <a:effectLst/>
                        </a:rPr>
                        <a:t>(</a:t>
                      </a:r>
                      <a:r>
                        <a:rPr lang="ko-KR" altLang="en-US" sz="1100" kern="0" spc="0" dirty="0">
                          <a:solidFill>
                            <a:schemeClr val="tx1"/>
                          </a:solidFill>
                          <a:effectLst/>
                        </a:rPr>
                        <a:t>法 </a:t>
                      </a:r>
                      <a:r>
                        <a:rPr lang="en-US" altLang="ko-KR" sz="1100" kern="0" spc="0" dirty="0">
                          <a:solidFill>
                            <a:schemeClr val="tx1"/>
                          </a:solidFill>
                          <a:effectLst/>
                        </a:rPr>
                        <a:t>38)</a:t>
                      </a:r>
                      <a:endParaRPr lang="ko-KR" altLang="en-US" sz="1100" kern="0" spc="0" dirty="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100" kern="0" spc="0">
                          <a:solidFill>
                            <a:schemeClr val="tx1"/>
                          </a:solidFill>
                          <a:effectLst/>
                        </a:rPr>
                        <a:t>　</a:t>
                      </a:r>
                      <a:endParaRPr lang="ko-KR" altLang="en-US" sz="1100" kern="0" spc="0">
                        <a:solidFill>
                          <a:schemeClr val="tx1"/>
                        </a:solidFill>
                        <a:effectLst/>
                        <a:latin typeface="+mn-ea"/>
                        <a:ea typeface="+mn-ea"/>
                      </a:endParaRPr>
                    </a:p>
                  </a:txBody>
                  <a:tcPr marL="51439" marR="51439" marT="25720" marB="25720" anchor="ctr"/>
                </a:tc>
                <a:extLst>
                  <a:ext uri="{0D108BD9-81ED-4DB2-BD59-A6C34878D82A}">
                    <a16:rowId xmlns:a16="http://schemas.microsoft.com/office/drawing/2014/main" val="10007"/>
                  </a:ext>
                </a:extLst>
              </a:tr>
              <a:tr h="226775">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실시권</a:t>
                      </a:r>
                      <a:endParaRPr lang="ko-KR" altLang="en-US" sz="1100" b="1" kern="0" spc="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100" kern="0" spc="0" dirty="0">
                          <a:solidFill>
                            <a:schemeClr val="tx1"/>
                          </a:solidFill>
                          <a:effectLst/>
                        </a:rPr>
                        <a:t>　</a:t>
                      </a:r>
                      <a:endParaRPr lang="ko-KR" altLang="en-US" sz="1100" kern="0" spc="0" dirty="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100" kern="0" spc="0">
                          <a:solidFill>
                            <a:schemeClr val="tx1"/>
                          </a:solidFill>
                          <a:effectLst/>
                        </a:rPr>
                        <a:t>　</a:t>
                      </a:r>
                      <a:endParaRPr lang="ko-KR" altLang="en-US" sz="1100" kern="0" spc="0">
                        <a:solidFill>
                          <a:schemeClr val="tx1"/>
                        </a:solidFill>
                        <a:effectLst/>
                        <a:latin typeface="+mn-ea"/>
                        <a:ea typeface="+mn-ea"/>
                      </a:endParaRPr>
                    </a:p>
                  </a:txBody>
                  <a:tcPr marL="51439" marR="51439" marT="25720" marB="25720" anchor="ctr"/>
                </a:tc>
                <a:extLst>
                  <a:ext uri="{0D108BD9-81ED-4DB2-BD59-A6C34878D82A}">
                    <a16:rowId xmlns:a16="http://schemas.microsoft.com/office/drawing/2014/main" val="10008"/>
                  </a:ext>
                </a:extLst>
              </a:tr>
              <a:tr h="226775">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질권</a:t>
                      </a:r>
                      <a:endParaRPr lang="ko-KR" altLang="en-US" sz="1100" b="1" kern="0" spc="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100" kern="0" spc="0" dirty="0">
                          <a:solidFill>
                            <a:schemeClr val="tx1"/>
                          </a:solidFill>
                          <a:effectLst/>
                        </a:rPr>
                        <a:t>불가</a:t>
                      </a:r>
                      <a:r>
                        <a:rPr lang="en-US" altLang="ko-KR" sz="1100" kern="0" spc="0" dirty="0">
                          <a:solidFill>
                            <a:schemeClr val="tx1"/>
                          </a:solidFill>
                          <a:effectLst/>
                        </a:rPr>
                        <a:t>(</a:t>
                      </a:r>
                      <a:r>
                        <a:rPr lang="ko-KR" altLang="en-US" sz="1100" kern="0" spc="0" dirty="0">
                          <a:solidFill>
                            <a:schemeClr val="tx1"/>
                          </a:solidFill>
                          <a:effectLst/>
                        </a:rPr>
                        <a:t>法 </a:t>
                      </a:r>
                      <a:r>
                        <a:rPr lang="en-US" altLang="ko-KR" sz="1100" kern="0" spc="0" dirty="0">
                          <a:solidFill>
                            <a:schemeClr val="tx1"/>
                          </a:solidFill>
                          <a:effectLst/>
                        </a:rPr>
                        <a:t>37</a:t>
                      </a:r>
                      <a:r>
                        <a:rPr lang="ko-KR" altLang="en-US" sz="1100" kern="0" spc="0" dirty="0">
                          <a:solidFill>
                            <a:schemeClr val="tx1"/>
                          </a:solidFill>
                          <a:effectLst/>
                        </a:rPr>
                        <a:t>②</a:t>
                      </a:r>
                      <a:r>
                        <a:rPr lang="en-US" altLang="ko-KR" sz="1100" kern="0" spc="0" dirty="0">
                          <a:solidFill>
                            <a:schemeClr val="tx1"/>
                          </a:solidFill>
                          <a:effectLst/>
                        </a:rPr>
                        <a:t>)</a:t>
                      </a:r>
                      <a:endParaRPr lang="ko-KR" altLang="en-US" sz="1100" kern="0" spc="0" dirty="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100" kern="0" spc="0">
                          <a:solidFill>
                            <a:schemeClr val="tx1"/>
                          </a:solidFill>
                          <a:effectLst/>
                        </a:rPr>
                        <a:t>　</a:t>
                      </a:r>
                      <a:endParaRPr lang="ko-KR" altLang="en-US" sz="1100" kern="0" spc="0">
                        <a:solidFill>
                          <a:schemeClr val="tx1"/>
                        </a:solidFill>
                        <a:effectLst/>
                        <a:latin typeface="+mn-ea"/>
                        <a:ea typeface="+mn-ea"/>
                      </a:endParaRPr>
                    </a:p>
                  </a:txBody>
                  <a:tcPr marL="51439" marR="51439" marT="25720" marB="25720" anchor="ctr"/>
                </a:tc>
                <a:extLst>
                  <a:ext uri="{0D108BD9-81ED-4DB2-BD59-A6C34878D82A}">
                    <a16:rowId xmlns:a16="http://schemas.microsoft.com/office/drawing/2014/main" val="10009"/>
                  </a:ext>
                </a:extLst>
              </a:tr>
              <a:tr h="400304">
                <a:tc rowSpan="2">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소멸</a:t>
                      </a:r>
                      <a:endParaRPr lang="ko-KR" altLang="en-US" sz="1100" b="1" kern="0" spc="0">
                        <a:solidFill>
                          <a:schemeClr val="tx1"/>
                        </a:solidFill>
                        <a:effectLst/>
                        <a:latin typeface="+mn-ea"/>
                        <a:ea typeface="+mn-ea"/>
                      </a:endParaRPr>
                    </a:p>
                  </a:txBody>
                  <a:tcPr marL="51439" marR="51439" marT="25720" marB="25720" anchor="ctr"/>
                </a:tc>
                <a:tc>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원인</a:t>
                      </a:r>
                      <a:endParaRPr lang="ko-KR" altLang="en-US" sz="1100" b="1" kern="0" spc="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100" kern="0" spc="0" dirty="0">
                          <a:solidFill>
                            <a:schemeClr val="tx1"/>
                          </a:solidFill>
                          <a:effectLst/>
                        </a:rPr>
                        <a:t>1.</a:t>
                      </a:r>
                      <a:r>
                        <a:rPr lang="ko-KR" altLang="en-US" sz="1100" kern="0" spc="0" dirty="0">
                          <a:solidFill>
                            <a:schemeClr val="tx1"/>
                          </a:solidFill>
                          <a:effectLst/>
                        </a:rPr>
                        <a:t>권리능력 상실</a:t>
                      </a:r>
                      <a:r>
                        <a:rPr lang="en-US" altLang="ko-KR" sz="1100" kern="0" spc="0" dirty="0">
                          <a:solidFill>
                            <a:schemeClr val="tx1"/>
                          </a:solidFill>
                          <a:effectLst/>
                        </a:rPr>
                        <a:t>(</a:t>
                      </a:r>
                      <a:r>
                        <a:rPr lang="ko-KR" altLang="en-US" sz="1100" kern="0" spc="0" dirty="0">
                          <a:solidFill>
                            <a:schemeClr val="tx1"/>
                          </a:solidFill>
                          <a:effectLst/>
                        </a:rPr>
                        <a:t>상속인 부존재도 포함</a:t>
                      </a:r>
                      <a:r>
                        <a:rPr lang="en-US" altLang="ko-KR" sz="1100" kern="0" spc="0" dirty="0">
                          <a:solidFill>
                            <a:schemeClr val="tx1"/>
                          </a:solidFill>
                          <a:effectLst/>
                        </a:rPr>
                        <a:t>)</a:t>
                      </a:r>
                      <a:endParaRPr lang="ko-KR" altLang="en-US" sz="1100" kern="0" spc="0" dirty="0">
                        <a:solidFill>
                          <a:schemeClr val="tx1"/>
                        </a:solidFill>
                        <a:effectLst/>
                      </a:endParaRPr>
                    </a:p>
                    <a:p>
                      <a:pPr marL="0" marR="0" indent="0" algn="just" fontAlgn="base" latinLnBrk="1">
                        <a:lnSpc>
                          <a:spcPct val="100000"/>
                        </a:lnSpc>
                        <a:spcBef>
                          <a:spcPts val="0"/>
                        </a:spcBef>
                        <a:spcAft>
                          <a:spcPts val="0"/>
                        </a:spcAft>
                      </a:pPr>
                      <a:r>
                        <a:rPr lang="en-US" altLang="ko-KR" sz="1100" kern="0" spc="0" dirty="0">
                          <a:solidFill>
                            <a:schemeClr val="tx1"/>
                          </a:solidFill>
                          <a:effectLst/>
                        </a:rPr>
                        <a:t>2.</a:t>
                      </a:r>
                      <a:r>
                        <a:rPr lang="ko-KR" altLang="en-US" sz="1100" kern="0" spc="0" dirty="0" err="1">
                          <a:solidFill>
                            <a:schemeClr val="tx1"/>
                          </a:solidFill>
                          <a:effectLst/>
                        </a:rPr>
                        <a:t>출원계속의</a:t>
                      </a:r>
                      <a:r>
                        <a:rPr lang="ko-KR" altLang="en-US" sz="1100" kern="0" spc="0" dirty="0">
                          <a:solidFill>
                            <a:schemeClr val="tx1"/>
                          </a:solidFill>
                          <a:effectLst/>
                        </a:rPr>
                        <a:t> 소멸</a:t>
                      </a:r>
                      <a:endParaRPr lang="ko-KR" altLang="en-US" sz="1100" kern="0" spc="0" dirty="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100" kern="0" spc="0">
                          <a:solidFill>
                            <a:schemeClr val="tx1"/>
                          </a:solidFill>
                          <a:effectLst/>
                        </a:rPr>
                        <a:t>1.</a:t>
                      </a:r>
                      <a:r>
                        <a:rPr lang="ko-KR" altLang="en-US" sz="1100" kern="0" spc="0">
                          <a:solidFill>
                            <a:schemeClr val="tx1"/>
                          </a:solidFill>
                          <a:effectLst/>
                        </a:rPr>
                        <a:t>특허등록이 되지 않은 경우</a:t>
                      </a:r>
                    </a:p>
                    <a:p>
                      <a:pPr marL="0" marR="0" indent="0" algn="just" fontAlgn="base" latinLnBrk="1">
                        <a:lnSpc>
                          <a:spcPct val="100000"/>
                        </a:lnSpc>
                        <a:spcBef>
                          <a:spcPts val="0"/>
                        </a:spcBef>
                        <a:spcAft>
                          <a:spcPts val="0"/>
                        </a:spcAft>
                      </a:pPr>
                      <a:r>
                        <a:rPr lang="en-US" altLang="ko-KR" sz="1100" kern="0" spc="0">
                          <a:solidFill>
                            <a:schemeClr val="tx1"/>
                          </a:solidFill>
                          <a:effectLst/>
                        </a:rPr>
                        <a:t>2.</a:t>
                      </a:r>
                      <a:r>
                        <a:rPr lang="ko-KR" altLang="en-US" sz="1100" kern="0" spc="0">
                          <a:solidFill>
                            <a:schemeClr val="tx1"/>
                          </a:solidFill>
                          <a:effectLst/>
                        </a:rPr>
                        <a:t>특허등록이 되더라도 소급 소멸하는 경우</a:t>
                      </a:r>
                      <a:endParaRPr lang="ko-KR" altLang="en-US" sz="1100" kern="0" spc="0">
                        <a:solidFill>
                          <a:schemeClr val="tx1"/>
                        </a:solidFill>
                        <a:effectLst/>
                        <a:latin typeface="+mn-ea"/>
                        <a:ea typeface="+mn-ea"/>
                      </a:endParaRPr>
                    </a:p>
                  </a:txBody>
                  <a:tcPr marL="51439" marR="51439" marT="25720" marB="25720" anchor="ctr"/>
                </a:tc>
                <a:extLst>
                  <a:ext uri="{0D108BD9-81ED-4DB2-BD59-A6C34878D82A}">
                    <a16:rowId xmlns:a16="http://schemas.microsoft.com/office/drawing/2014/main" val="10010"/>
                  </a:ext>
                </a:extLst>
              </a:tr>
              <a:tr h="400304">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효과</a:t>
                      </a:r>
                      <a:endParaRPr lang="ko-KR" altLang="en-US" sz="1100" b="1" kern="0" spc="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100" kern="0" spc="0">
                          <a:solidFill>
                            <a:schemeClr val="tx1"/>
                          </a:solidFill>
                          <a:effectLst/>
                        </a:rPr>
                        <a:t>1.</a:t>
                      </a:r>
                      <a:r>
                        <a:rPr lang="ko-KR" altLang="en-US" sz="1100" kern="0" spc="0">
                          <a:solidFill>
                            <a:schemeClr val="tx1"/>
                          </a:solidFill>
                          <a:effectLst/>
                        </a:rPr>
                        <a:t>공개전 소멸</a:t>
                      </a:r>
                      <a:r>
                        <a:rPr lang="en-US" altLang="ko-KR" sz="1100" kern="0" spc="0">
                          <a:solidFill>
                            <a:schemeClr val="tx1"/>
                          </a:solidFill>
                          <a:effectLst/>
                        </a:rPr>
                        <a:t>-</a:t>
                      </a:r>
                      <a:r>
                        <a:rPr lang="ko-KR" altLang="en-US" sz="1100" kern="0" spc="0">
                          <a:solidFill>
                            <a:schemeClr val="tx1"/>
                          </a:solidFill>
                          <a:effectLst/>
                        </a:rPr>
                        <a:t>등록금지적 효력</a:t>
                      </a:r>
                      <a:r>
                        <a:rPr lang="en-US" altLang="ko-KR" sz="1100" kern="0" spc="0">
                          <a:solidFill>
                            <a:schemeClr val="tx1"/>
                          </a:solidFill>
                          <a:effectLst/>
                        </a:rPr>
                        <a:t>X</a:t>
                      </a:r>
                      <a:endParaRPr lang="ko-KR" altLang="en-US" sz="1100" kern="0" spc="0">
                        <a:solidFill>
                          <a:schemeClr val="tx1"/>
                        </a:solidFill>
                        <a:effectLst/>
                      </a:endParaRPr>
                    </a:p>
                    <a:p>
                      <a:pPr marL="0" marR="0" indent="0" algn="just" fontAlgn="base" latinLnBrk="1">
                        <a:lnSpc>
                          <a:spcPct val="100000"/>
                        </a:lnSpc>
                        <a:spcBef>
                          <a:spcPts val="0"/>
                        </a:spcBef>
                        <a:spcAft>
                          <a:spcPts val="0"/>
                        </a:spcAft>
                      </a:pPr>
                      <a:r>
                        <a:rPr lang="en-US" altLang="ko-KR" sz="1100" kern="0" spc="0">
                          <a:solidFill>
                            <a:schemeClr val="tx1"/>
                          </a:solidFill>
                          <a:effectLst/>
                        </a:rPr>
                        <a:t>2.</a:t>
                      </a:r>
                      <a:r>
                        <a:rPr lang="ko-KR" altLang="en-US" sz="1100" kern="0" spc="0">
                          <a:solidFill>
                            <a:schemeClr val="tx1"/>
                          </a:solidFill>
                          <a:effectLst/>
                        </a:rPr>
                        <a:t>공개후 소멸</a:t>
                      </a:r>
                      <a:r>
                        <a:rPr lang="en-US" altLang="ko-KR" sz="1100" kern="0" spc="0">
                          <a:solidFill>
                            <a:schemeClr val="tx1"/>
                          </a:solidFill>
                          <a:effectLst/>
                        </a:rPr>
                        <a:t>-</a:t>
                      </a:r>
                      <a:r>
                        <a:rPr lang="ko-KR" altLang="en-US" sz="1100" kern="0" spc="0">
                          <a:solidFill>
                            <a:schemeClr val="tx1"/>
                          </a:solidFill>
                          <a:effectLst/>
                        </a:rPr>
                        <a:t>法</a:t>
                      </a:r>
                      <a:r>
                        <a:rPr lang="en-US" altLang="ko-KR" sz="1100" kern="0" spc="0">
                          <a:solidFill>
                            <a:schemeClr val="tx1"/>
                          </a:solidFill>
                          <a:effectLst/>
                        </a:rPr>
                        <a:t>29</a:t>
                      </a:r>
                      <a:r>
                        <a:rPr lang="ko-KR" altLang="en-US" sz="1100" kern="0" spc="0">
                          <a:solidFill>
                            <a:schemeClr val="tx1"/>
                          </a:solidFill>
                          <a:effectLst/>
                        </a:rPr>
                        <a:t>①②③</a:t>
                      </a:r>
                      <a:endParaRPr lang="ko-KR" altLang="en-US" sz="1100" kern="0" spc="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100" kern="0" spc="0" dirty="0">
                          <a:solidFill>
                            <a:schemeClr val="tx1"/>
                          </a:solidFill>
                          <a:effectLst/>
                        </a:rPr>
                        <a:t>1.</a:t>
                      </a:r>
                      <a:r>
                        <a:rPr lang="ko-KR" altLang="en-US" sz="1100" kern="0" spc="0" dirty="0">
                          <a:solidFill>
                            <a:schemeClr val="tx1"/>
                          </a:solidFill>
                          <a:effectLst/>
                        </a:rPr>
                        <a:t>고의과실○</a:t>
                      </a:r>
                      <a:r>
                        <a:rPr lang="en-US" altLang="ko-KR" sz="1100" kern="0" spc="0" dirty="0">
                          <a:solidFill>
                            <a:schemeClr val="tx1"/>
                          </a:solidFill>
                          <a:effectLst/>
                        </a:rPr>
                        <a:t>-</a:t>
                      </a:r>
                      <a:r>
                        <a:rPr lang="ko-KR" altLang="en-US" sz="1100" kern="0" spc="0" dirty="0" err="1">
                          <a:solidFill>
                            <a:schemeClr val="tx1"/>
                          </a:solidFill>
                          <a:effectLst/>
                        </a:rPr>
                        <a:t>손배청구</a:t>
                      </a:r>
                      <a:endParaRPr lang="ko-KR" altLang="en-US" sz="1100" kern="0" spc="0" dirty="0">
                        <a:solidFill>
                          <a:schemeClr val="tx1"/>
                        </a:solidFill>
                        <a:effectLst/>
                      </a:endParaRPr>
                    </a:p>
                    <a:p>
                      <a:pPr marL="0" marR="0" indent="0" algn="just" fontAlgn="base" latinLnBrk="1">
                        <a:lnSpc>
                          <a:spcPct val="100000"/>
                        </a:lnSpc>
                        <a:spcBef>
                          <a:spcPts val="0"/>
                        </a:spcBef>
                        <a:spcAft>
                          <a:spcPts val="0"/>
                        </a:spcAft>
                      </a:pPr>
                      <a:r>
                        <a:rPr lang="en-US" altLang="ko-KR" sz="1100" kern="0" spc="0" dirty="0">
                          <a:solidFill>
                            <a:schemeClr val="tx1"/>
                          </a:solidFill>
                          <a:effectLst/>
                        </a:rPr>
                        <a:t>2.</a:t>
                      </a:r>
                      <a:r>
                        <a:rPr lang="ko-KR" altLang="en-US" sz="1100" kern="0" spc="0" dirty="0">
                          <a:solidFill>
                            <a:schemeClr val="tx1"/>
                          </a:solidFill>
                          <a:effectLst/>
                        </a:rPr>
                        <a:t>고의과실</a:t>
                      </a:r>
                      <a:r>
                        <a:rPr lang="en-US" altLang="ko-KR" sz="1100" kern="0" spc="0" dirty="0">
                          <a:solidFill>
                            <a:schemeClr val="tx1"/>
                          </a:solidFill>
                          <a:effectLst/>
                        </a:rPr>
                        <a:t>×-</a:t>
                      </a:r>
                      <a:r>
                        <a:rPr lang="ko-KR" altLang="en-US" sz="1100" kern="0" spc="0" dirty="0">
                          <a:solidFill>
                            <a:schemeClr val="tx1"/>
                          </a:solidFill>
                          <a:effectLst/>
                        </a:rPr>
                        <a:t>부당이득반환청구</a:t>
                      </a:r>
                      <a:endParaRPr lang="ko-KR" altLang="en-US" sz="1100" kern="0" spc="0" dirty="0">
                        <a:solidFill>
                          <a:schemeClr val="tx1"/>
                        </a:solidFill>
                        <a:effectLst/>
                        <a:latin typeface="+mn-ea"/>
                        <a:ea typeface="+mn-ea"/>
                      </a:endParaRPr>
                    </a:p>
                  </a:txBody>
                  <a:tcPr marL="51439" marR="51439" marT="25720" marB="25720" anchor="ctr"/>
                </a:tc>
                <a:extLst>
                  <a:ext uri="{0D108BD9-81ED-4DB2-BD59-A6C34878D82A}">
                    <a16:rowId xmlns:a16="http://schemas.microsoft.com/office/drawing/2014/main" val="10011"/>
                  </a:ext>
                </a:extLst>
              </a:tr>
              <a:tr h="395122">
                <a:tc gridSpan="2">
                  <a:txBody>
                    <a:bodyPr/>
                    <a:lstStyle/>
                    <a:p>
                      <a:pPr marL="0" marR="0" indent="0" algn="ctr" fontAlgn="base" latinLnBrk="0">
                        <a:lnSpc>
                          <a:spcPct val="100000"/>
                        </a:lnSpc>
                        <a:spcBef>
                          <a:spcPts val="0"/>
                        </a:spcBef>
                        <a:spcAft>
                          <a:spcPts val="0"/>
                        </a:spcAft>
                      </a:pPr>
                      <a:r>
                        <a:rPr lang="ko-KR" altLang="en-US" sz="1100" kern="0" spc="0">
                          <a:solidFill>
                            <a:schemeClr val="tx1"/>
                          </a:solidFill>
                          <a:effectLst/>
                        </a:rPr>
                        <a:t>공유</a:t>
                      </a:r>
                      <a:endParaRPr lang="ko-KR" altLang="en-US" sz="1100" b="1" kern="0" spc="0">
                        <a:solidFill>
                          <a:schemeClr val="tx1"/>
                        </a:solidFill>
                        <a:effectLst/>
                        <a:latin typeface="+mn-ea"/>
                        <a:ea typeface="+mn-ea"/>
                      </a:endParaRPr>
                    </a:p>
                  </a:txBody>
                  <a:tcPr marL="51439" marR="51439" marT="25720" marB="25720"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1100" kern="0" spc="-20" dirty="0">
                          <a:solidFill>
                            <a:schemeClr val="tx1"/>
                          </a:solidFill>
                          <a:effectLst/>
                        </a:rPr>
                        <a:t>다른 공유자 동의 받아야만 지분양도 可</a:t>
                      </a:r>
                      <a:r>
                        <a:rPr lang="en-US" altLang="ko-KR" sz="1100" kern="0" spc="-20" dirty="0">
                          <a:solidFill>
                            <a:schemeClr val="tx1"/>
                          </a:solidFill>
                          <a:effectLst/>
                        </a:rPr>
                        <a:t>(</a:t>
                      </a:r>
                      <a:r>
                        <a:rPr lang="ko-KR" altLang="en-US" sz="1100" kern="0" spc="-20" dirty="0">
                          <a:solidFill>
                            <a:schemeClr val="tx1"/>
                          </a:solidFill>
                          <a:effectLst/>
                        </a:rPr>
                        <a:t>法 </a:t>
                      </a:r>
                      <a:r>
                        <a:rPr lang="en-US" altLang="ko-KR" sz="1100" kern="0" spc="-20" dirty="0">
                          <a:solidFill>
                            <a:schemeClr val="tx1"/>
                          </a:solidFill>
                          <a:effectLst/>
                        </a:rPr>
                        <a:t>37</a:t>
                      </a:r>
                      <a:r>
                        <a:rPr lang="ko-KR" altLang="en-US" sz="1100" kern="0" spc="-20" dirty="0">
                          <a:solidFill>
                            <a:schemeClr val="tx1"/>
                          </a:solidFill>
                          <a:effectLst/>
                        </a:rPr>
                        <a:t>③</a:t>
                      </a:r>
                      <a:r>
                        <a:rPr lang="en-US" altLang="ko-KR" sz="1100" kern="0" spc="-20" dirty="0">
                          <a:solidFill>
                            <a:schemeClr val="tx1"/>
                          </a:solidFill>
                          <a:effectLst/>
                        </a:rPr>
                        <a:t>)</a:t>
                      </a:r>
                      <a:endParaRPr lang="ko-KR" altLang="en-US" sz="1100" kern="0" spc="-20" dirty="0">
                        <a:solidFill>
                          <a:schemeClr val="tx1"/>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100" kern="0" spc="0" dirty="0">
                          <a:solidFill>
                            <a:schemeClr val="tx1"/>
                          </a:solidFill>
                          <a:effectLst/>
                        </a:rPr>
                        <a:t>　</a:t>
                      </a:r>
                      <a:endParaRPr lang="ko-KR" altLang="en-US" sz="1100" kern="0" spc="0" dirty="0">
                        <a:solidFill>
                          <a:schemeClr val="tx1"/>
                        </a:solidFill>
                        <a:effectLst/>
                        <a:latin typeface="+mn-ea"/>
                        <a:ea typeface="+mn-ea"/>
                      </a:endParaRPr>
                    </a:p>
                  </a:txBody>
                  <a:tcPr marL="51439" marR="51439" marT="25720" marB="25720" anchor="ctr"/>
                </a:tc>
                <a:extLst>
                  <a:ext uri="{0D108BD9-81ED-4DB2-BD59-A6C34878D82A}">
                    <a16:rowId xmlns:a16="http://schemas.microsoft.com/office/drawing/2014/main" val="10012"/>
                  </a:ext>
                </a:extLst>
              </a:tr>
            </a:tbl>
          </a:graphicData>
        </a:graphic>
      </p:graphicFrame>
      <p:sp>
        <p:nvSpPr>
          <p:cNvPr id="2" name="슬라이드 번호 개체 틀 1"/>
          <p:cNvSpPr>
            <a:spLocks noGrp="1"/>
          </p:cNvSpPr>
          <p:nvPr>
            <p:ph type="sldNum" sz="quarter" idx="12"/>
          </p:nvPr>
        </p:nvSpPr>
        <p:spPr/>
        <p:txBody>
          <a:bodyPr/>
          <a:lstStyle/>
          <a:p>
            <a:r>
              <a:rPr lang="en-US" altLang="ko-KR"/>
              <a:t>284</a:t>
            </a:r>
            <a:endParaRPr lang="ko-KR" altLang="en-US" dirty="0"/>
          </a:p>
        </p:txBody>
      </p:sp>
      <p:sp>
        <p:nvSpPr>
          <p:cNvPr id="6" name="TextBox 5">
            <a:extLst>
              <a:ext uri="{FF2B5EF4-FFF2-40B4-BE49-F238E27FC236}">
                <a16:creationId xmlns:a16="http://schemas.microsoft.com/office/drawing/2014/main" id="{1B7128C1-6244-522F-D421-EE86E100BF16}"/>
              </a:ext>
            </a:extLst>
          </p:cNvPr>
          <p:cNvSpPr txBox="1"/>
          <p:nvPr/>
        </p:nvSpPr>
        <p:spPr>
          <a:xfrm>
            <a:off x="7944521" y="5963478"/>
            <a:ext cx="3180679" cy="338554"/>
          </a:xfrm>
          <a:prstGeom prst="rect">
            <a:avLst/>
          </a:prstGeom>
          <a:noFill/>
          <a:ln>
            <a:solidFill>
              <a:srgbClr val="FF0000"/>
            </a:solidFill>
          </a:ln>
        </p:spPr>
        <p:txBody>
          <a:bodyPr wrap="none" rtlCol="0">
            <a:spAutoFit/>
          </a:bodyPr>
          <a:lstStyle/>
          <a:p>
            <a:r>
              <a:rPr lang="ko-KR" altLang="en-US" sz="1600" dirty="0">
                <a:solidFill>
                  <a:srgbClr val="FF0000"/>
                </a:solidFill>
              </a:rPr>
              <a:t>특허등록후 소급 소멸한 경우만 해당</a:t>
            </a:r>
          </a:p>
        </p:txBody>
      </p:sp>
    </p:spTree>
    <p:extLst>
      <p:ext uri="{BB962C8B-B14F-4D97-AF65-F5344CB8AC3E}">
        <p14:creationId xmlns:p14="http://schemas.microsoft.com/office/powerpoint/2010/main" val="1668983428"/>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사각형: 둥근 위쪽 모서리 11">
            <a:extLst>
              <a:ext uri="{FF2B5EF4-FFF2-40B4-BE49-F238E27FC236}">
                <a16:creationId xmlns:a16="http://schemas.microsoft.com/office/drawing/2014/main" id="{23E3CBA9-3F87-F311-F2ED-E6B51B7B5FF7}"/>
              </a:ext>
            </a:extLst>
          </p:cNvPr>
          <p:cNvSpPr/>
          <p:nvPr/>
        </p:nvSpPr>
        <p:spPr>
          <a:xfrm rot="10800000">
            <a:off x="7337677" y="3802382"/>
            <a:ext cx="1882588" cy="448235"/>
          </a:xfrm>
          <a:prstGeom prst="round2SameRect">
            <a:avLst>
              <a:gd name="adj1" fmla="val 50000"/>
              <a:gd name="adj2" fmla="val 0"/>
            </a:avLst>
          </a:prstGeom>
          <a:pattFill prst="ltHorz">
            <a:fgClr>
              <a:schemeClr val="accent6"/>
            </a:fgClr>
            <a:bgClr>
              <a:schemeClr val="bg1"/>
            </a:bgClr>
          </a:patt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사각형: 둥근 위쪽 모서리 10">
            <a:extLst>
              <a:ext uri="{FF2B5EF4-FFF2-40B4-BE49-F238E27FC236}">
                <a16:creationId xmlns:a16="http://schemas.microsoft.com/office/drawing/2014/main" id="{09E643B0-C43A-47AC-5131-686F4F683761}"/>
              </a:ext>
            </a:extLst>
          </p:cNvPr>
          <p:cNvSpPr/>
          <p:nvPr/>
        </p:nvSpPr>
        <p:spPr>
          <a:xfrm>
            <a:off x="4868956" y="3156553"/>
            <a:ext cx="1882588" cy="448235"/>
          </a:xfrm>
          <a:prstGeom prst="round2SameRect">
            <a:avLst>
              <a:gd name="adj1" fmla="val 50000"/>
              <a:gd name="adj2" fmla="val 0"/>
            </a:avLst>
          </a:prstGeom>
          <a:pattFill prst="pct25">
            <a:fgClr>
              <a:schemeClr val="accent2"/>
            </a:fgClr>
            <a:bgClr>
              <a:schemeClr val="bg1"/>
            </a:bgClr>
          </a:patt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사각형: 둥근 위쪽 모서리 9">
            <a:extLst>
              <a:ext uri="{FF2B5EF4-FFF2-40B4-BE49-F238E27FC236}">
                <a16:creationId xmlns:a16="http://schemas.microsoft.com/office/drawing/2014/main" id="{AE9F7BE2-75B0-4E4D-4DA6-F567E8498EA0}"/>
              </a:ext>
            </a:extLst>
          </p:cNvPr>
          <p:cNvSpPr/>
          <p:nvPr/>
        </p:nvSpPr>
        <p:spPr>
          <a:xfrm rot="10800000">
            <a:off x="2357718" y="3802382"/>
            <a:ext cx="1882588" cy="448235"/>
          </a:xfrm>
          <a:prstGeom prst="round2SameRect">
            <a:avLst>
              <a:gd name="adj1" fmla="val 50000"/>
              <a:gd name="adj2" fmla="val 0"/>
            </a:avLst>
          </a:prstGeom>
          <a:pattFill prst="pct5">
            <a:fgClr>
              <a:schemeClr val="accent1"/>
            </a:fgClr>
            <a:bgClr>
              <a:schemeClr val="bg1"/>
            </a:bgClr>
          </a:patt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제목 1"/>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특허법의 </a:t>
            </a:r>
            <a:r>
              <a:rPr lang="en-US" altLang="ko-KR" dirty="0"/>
              <a:t>MAIN STREAM</a:t>
            </a:r>
            <a:endParaRPr lang="ko-KR" altLang="en-US" dirty="0"/>
          </a:p>
        </p:txBody>
      </p:sp>
      <p:sp>
        <p:nvSpPr>
          <p:cNvPr id="27" name="오른쪽 화살표 26"/>
          <p:cNvSpPr/>
          <p:nvPr/>
        </p:nvSpPr>
        <p:spPr bwMode="auto">
          <a:xfrm>
            <a:off x="824754" y="3530487"/>
            <a:ext cx="10703858" cy="333378"/>
          </a:xfrm>
          <a:prstGeom prst="rightArrow">
            <a:avLst>
              <a:gd name="adj1" fmla="val 61198"/>
              <a:gd name="adj2" fmla="val 75558"/>
            </a:avLst>
          </a:prstGeom>
          <a:solidFill>
            <a:schemeClr val="accent3">
              <a:lumMod val="40000"/>
              <a:lumOff val="60000"/>
            </a:schemeClr>
          </a:solidFill>
          <a:ln>
            <a:solidFill>
              <a:schemeClr val="accent3">
                <a:lumMod val="20000"/>
                <a:lumOff val="80000"/>
              </a:schemeClr>
            </a:solidFill>
            <a:headEnd type="none" w="med" len="med"/>
            <a:tailEnd type="none" w="med" len="med"/>
          </a:ln>
        </p:spPr>
        <p:style>
          <a:lnRef idx="1">
            <a:schemeClr val="accent3"/>
          </a:lnRef>
          <a:fillRef idx="3">
            <a:schemeClr val="accent3"/>
          </a:fillRef>
          <a:effectRef idx="2">
            <a:schemeClr val="accent3"/>
          </a:effectRef>
          <a:fontRef idx="minor">
            <a:schemeClr val="lt1"/>
          </a:fontRef>
        </p:style>
        <p:txBody>
          <a:bodyPr lIns="90000" tIns="46800" rIns="90000" bIns="46800" anchor="ctr"/>
          <a:lstStyle/>
          <a:p>
            <a:pPr algn="ctr">
              <a:buFont typeface="Wingdings" pitchFamily="2" charset="2"/>
              <a:buNone/>
              <a:defRPr/>
            </a:pPr>
            <a:endParaRPr lang="ko-KR" altLang="en-US" sz="1400" dirty="0">
              <a:solidFill>
                <a:srgbClr val="1C1C1C"/>
              </a:solidFill>
              <a:latin typeface="Rix모던고딕 L" panose="02020603020101020101" pitchFamily="18" charset="-127"/>
              <a:ea typeface="Rix모던고딕 L" panose="02020603020101020101" pitchFamily="18" charset="-127"/>
            </a:endParaRPr>
          </a:p>
        </p:txBody>
      </p:sp>
      <p:sp>
        <p:nvSpPr>
          <p:cNvPr id="32" name="모서리가 둥근 사각형 설명선 31"/>
          <p:cNvSpPr/>
          <p:nvPr/>
        </p:nvSpPr>
        <p:spPr>
          <a:xfrm>
            <a:off x="1323803" y="5138327"/>
            <a:ext cx="4263133" cy="1387977"/>
          </a:xfrm>
          <a:prstGeom prst="wedgeRoundRectCallout">
            <a:avLst>
              <a:gd name="adj1" fmla="val -14054"/>
              <a:gd name="adj2" fmla="val -110736"/>
              <a:gd name="adj3" fmla="val 16667"/>
            </a:avLst>
          </a:prstGeom>
          <a:ln>
            <a:solidFill>
              <a:schemeClr val="accent1"/>
            </a:solidFill>
          </a:ln>
        </p:spPr>
        <p:style>
          <a:lnRef idx="2">
            <a:schemeClr val="accent2"/>
          </a:lnRef>
          <a:fillRef idx="1">
            <a:schemeClr val="lt1"/>
          </a:fillRef>
          <a:effectRef idx="0">
            <a:schemeClr val="accent2"/>
          </a:effectRef>
          <a:fontRef idx="minor">
            <a:schemeClr val="dk1"/>
          </a:fontRef>
        </p:style>
        <p:txBody>
          <a:bodyPr rtlCol="0" anchor="ctr"/>
          <a:lstStyle/>
          <a:p>
            <a:pPr marL="177800" indent="-177800">
              <a:buFont typeface="Wingdings" pitchFamily="2" charset="2"/>
              <a:buChar char="§"/>
            </a:pPr>
            <a:r>
              <a:rPr lang="ko-KR" altLang="en-US" sz="1600" dirty="0"/>
              <a:t>내가 생각한 아이디어가 특허법의 보호대상인 발명에 해당하는가</a:t>
            </a:r>
            <a:r>
              <a:rPr lang="en-US" altLang="ko-KR" sz="1600" dirty="0"/>
              <a:t>? </a:t>
            </a:r>
          </a:p>
          <a:p>
            <a:pPr marL="355600" lvl="1" indent="-177800">
              <a:buFont typeface="옥션고딕 M" charset="-127"/>
              <a:buChar char="-"/>
            </a:pPr>
            <a:r>
              <a:rPr lang="ko-KR" altLang="en-US" sz="1600" dirty="0"/>
              <a:t>발명이 되기 위한 요건은</a:t>
            </a:r>
            <a:r>
              <a:rPr lang="en-US" altLang="ko-KR" sz="1600" dirty="0"/>
              <a:t>?</a:t>
            </a:r>
          </a:p>
          <a:p>
            <a:pPr marL="355600" lvl="1" indent="-177800">
              <a:buFont typeface="옥션고딕 M" charset="-127"/>
              <a:buChar char="-"/>
            </a:pPr>
            <a:r>
              <a:rPr lang="ko-KR" altLang="en-US" sz="1600" dirty="0"/>
              <a:t>새로운 영업방법</a:t>
            </a:r>
            <a:r>
              <a:rPr lang="en-US" altLang="ko-KR" sz="1600" dirty="0"/>
              <a:t>?</a:t>
            </a:r>
          </a:p>
          <a:p>
            <a:pPr marL="355600" lvl="1" indent="-177800">
              <a:buFont typeface="옥션고딕 M" charset="-127"/>
              <a:buChar char="-"/>
            </a:pPr>
            <a:r>
              <a:rPr lang="ko-KR" altLang="en-US" sz="1600" dirty="0"/>
              <a:t>인간 </a:t>
            </a:r>
            <a:r>
              <a:rPr lang="en-US" altLang="ko-KR" sz="1600" dirty="0"/>
              <a:t>DNA </a:t>
            </a:r>
            <a:r>
              <a:rPr lang="ko-KR" altLang="en-US" sz="1600" dirty="0"/>
              <a:t>발견</a:t>
            </a:r>
            <a:r>
              <a:rPr lang="en-US" altLang="ko-KR" sz="1600" dirty="0"/>
              <a:t>?</a:t>
            </a:r>
          </a:p>
        </p:txBody>
      </p:sp>
      <p:sp>
        <p:nvSpPr>
          <p:cNvPr id="33" name="모서리가 둥근 사각형 설명선 32"/>
          <p:cNvSpPr/>
          <p:nvPr/>
        </p:nvSpPr>
        <p:spPr>
          <a:xfrm>
            <a:off x="2888256" y="1135994"/>
            <a:ext cx="4687293" cy="1411587"/>
          </a:xfrm>
          <a:prstGeom prst="wedgeRoundRectCallout">
            <a:avLst>
              <a:gd name="adj1" fmla="val 11152"/>
              <a:gd name="adj2" fmla="val 89676"/>
              <a:gd name="adj3" fmla="val 16667"/>
            </a:avLst>
          </a:prstGeom>
          <a:ln>
            <a:solidFill>
              <a:schemeClr val="accent2"/>
            </a:solidFill>
          </a:ln>
        </p:spPr>
        <p:style>
          <a:lnRef idx="2">
            <a:schemeClr val="accent4"/>
          </a:lnRef>
          <a:fillRef idx="1">
            <a:schemeClr val="lt1"/>
          </a:fillRef>
          <a:effectRef idx="0">
            <a:schemeClr val="accent4"/>
          </a:effectRef>
          <a:fontRef idx="minor">
            <a:schemeClr val="dk1"/>
          </a:fontRef>
        </p:style>
        <p:txBody>
          <a:bodyPr rtlCol="0" anchor="ctr"/>
          <a:lstStyle/>
          <a:p>
            <a:pPr marL="177800" indent="-177800">
              <a:buFont typeface="Wingdings" pitchFamily="2" charset="2"/>
              <a:buChar char="§"/>
            </a:pPr>
            <a:r>
              <a:rPr lang="ko-KR" altLang="en-US" sz="1600" dirty="0"/>
              <a:t>특허출원이 </a:t>
            </a:r>
            <a:r>
              <a:rPr lang="ko-KR" altLang="en-US" sz="1600" dirty="0" err="1"/>
              <a:t>등록받을</a:t>
            </a:r>
            <a:r>
              <a:rPr lang="ko-KR" altLang="en-US" sz="1600" dirty="0"/>
              <a:t> 수 있는가</a:t>
            </a:r>
            <a:r>
              <a:rPr lang="en-US" altLang="ko-KR" sz="1600" dirty="0"/>
              <a:t>?</a:t>
            </a:r>
          </a:p>
          <a:p>
            <a:pPr marL="266700" lvl="1" indent="-88900">
              <a:buFont typeface="옥션고딕 M" charset="-127"/>
              <a:buChar char="-"/>
            </a:pPr>
            <a:r>
              <a:rPr lang="en-US" altLang="ko-KR" sz="1600" dirty="0"/>
              <a:t> </a:t>
            </a:r>
            <a:r>
              <a:rPr lang="ko-KR" altLang="en-US" sz="1600" dirty="0"/>
              <a:t>특허등록을 받기 위한 특허요건의 내용</a:t>
            </a:r>
            <a:r>
              <a:rPr lang="en-US" altLang="ko-KR" sz="1600" dirty="0"/>
              <a:t>?</a:t>
            </a:r>
          </a:p>
          <a:p>
            <a:pPr marL="355600" lvl="1" indent="-177800">
              <a:buFont typeface="옥션고딕 M" charset="-127"/>
              <a:buChar char="-"/>
            </a:pPr>
            <a:r>
              <a:rPr lang="ko-KR" altLang="en-US" sz="1600" dirty="0"/>
              <a:t>등록가능성이 미약할 때 </a:t>
            </a:r>
            <a:r>
              <a:rPr lang="ko-KR" altLang="en-US" sz="1600" dirty="0" err="1"/>
              <a:t>출원인이</a:t>
            </a:r>
            <a:r>
              <a:rPr lang="ko-KR" altLang="en-US" sz="1600" dirty="0"/>
              <a:t> 취할 수 있는 조치</a:t>
            </a:r>
            <a:r>
              <a:rPr lang="en-US" altLang="ko-KR" sz="1600" dirty="0"/>
              <a:t>?</a:t>
            </a:r>
          </a:p>
          <a:p>
            <a:pPr marL="355600" lvl="1" indent="-177800">
              <a:buFont typeface="옥션고딕 M" charset="-127"/>
              <a:buChar char="-"/>
            </a:pPr>
            <a:r>
              <a:rPr lang="ko-KR" altLang="en-US" sz="1600" dirty="0"/>
              <a:t>심사관의 </a:t>
            </a:r>
            <a:r>
              <a:rPr lang="en-US" altLang="ko-KR" sz="1600" dirty="0"/>
              <a:t>OA</a:t>
            </a:r>
            <a:r>
              <a:rPr lang="ko-KR" altLang="en-US" sz="1600" dirty="0"/>
              <a:t>에 대한 대응방안</a:t>
            </a:r>
            <a:r>
              <a:rPr lang="en-US" altLang="ko-KR" sz="1600" dirty="0"/>
              <a:t>?</a:t>
            </a:r>
          </a:p>
        </p:txBody>
      </p:sp>
      <p:sp>
        <p:nvSpPr>
          <p:cNvPr id="34" name="모서리가 둥근 사각형 설명선 33"/>
          <p:cNvSpPr/>
          <p:nvPr/>
        </p:nvSpPr>
        <p:spPr>
          <a:xfrm>
            <a:off x="6534855" y="4923775"/>
            <a:ext cx="4263133" cy="1395129"/>
          </a:xfrm>
          <a:prstGeom prst="wedgeRoundRectCallout">
            <a:avLst>
              <a:gd name="adj1" fmla="val -1770"/>
              <a:gd name="adj2" fmla="val -96381"/>
              <a:gd name="adj3" fmla="val 16667"/>
            </a:avLst>
          </a:prstGeom>
          <a:ln>
            <a:solidFill>
              <a:schemeClr val="accent6"/>
            </a:solidFill>
          </a:ln>
        </p:spPr>
        <p:style>
          <a:lnRef idx="2">
            <a:schemeClr val="accent5"/>
          </a:lnRef>
          <a:fillRef idx="1">
            <a:schemeClr val="lt1"/>
          </a:fillRef>
          <a:effectRef idx="0">
            <a:schemeClr val="accent5"/>
          </a:effectRef>
          <a:fontRef idx="minor">
            <a:schemeClr val="dk1"/>
          </a:fontRef>
        </p:style>
        <p:txBody>
          <a:bodyPr rtlCol="0" anchor="ctr"/>
          <a:lstStyle/>
          <a:p>
            <a:pPr marL="177800" indent="-177800">
              <a:buFont typeface="Wingdings" pitchFamily="2" charset="2"/>
              <a:buChar char="§"/>
            </a:pPr>
            <a:r>
              <a:rPr lang="ko-KR" altLang="en-US" sz="1600" dirty="0"/>
              <a:t>제품을 판매하는 것이 다른 사람 특허의 침해인가</a:t>
            </a:r>
            <a:r>
              <a:rPr lang="en-US" altLang="ko-KR" sz="1600" dirty="0"/>
              <a:t>?</a:t>
            </a:r>
          </a:p>
          <a:p>
            <a:pPr marL="355600" lvl="1" indent="-177800">
              <a:buFont typeface="옥션고딕 M" charset="-127"/>
              <a:buChar char="-"/>
            </a:pPr>
            <a:r>
              <a:rPr lang="ko-KR" altLang="en-US" sz="1600" dirty="0"/>
              <a:t>침해의 성립요건은</a:t>
            </a:r>
            <a:r>
              <a:rPr lang="en-US" altLang="ko-KR" sz="1600" dirty="0"/>
              <a:t>?</a:t>
            </a:r>
          </a:p>
          <a:p>
            <a:pPr marL="355600" lvl="1" indent="-177800">
              <a:buFont typeface="옥션고딕 M" charset="-127"/>
              <a:buChar char="-"/>
            </a:pPr>
            <a:r>
              <a:rPr lang="ko-KR" altLang="en-US" sz="1600" dirty="0"/>
              <a:t>침해일 때 특허권자의 조치와 침해 피의자의 대응방안은</a:t>
            </a:r>
            <a:r>
              <a:rPr lang="en-US" altLang="ko-KR" sz="1600" dirty="0"/>
              <a:t>?</a:t>
            </a:r>
          </a:p>
        </p:txBody>
      </p:sp>
      <p:sp>
        <p:nvSpPr>
          <p:cNvPr id="3" name="슬라이드 번호 개체 틀 2"/>
          <p:cNvSpPr>
            <a:spLocks noGrp="1"/>
          </p:cNvSpPr>
          <p:nvPr>
            <p:ph type="sldNum" sz="quarter" idx="12"/>
          </p:nvPr>
        </p:nvSpPr>
        <p:spPr/>
        <p:txBody>
          <a:bodyPr/>
          <a:lstStyle/>
          <a:p>
            <a:r>
              <a:rPr lang="en-US" altLang="ko-KR"/>
              <a:t>285</a:t>
            </a:r>
            <a:endParaRPr lang="ko-KR" altLang="en-US" dirty="0"/>
          </a:p>
        </p:txBody>
      </p:sp>
      <p:sp>
        <p:nvSpPr>
          <p:cNvPr id="5" name="직사각형 4">
            <a:extLst>
              <a:ext uri="{FF2B5EF4-FFF2-40B4-BE49-F238E27FC236}">
                <a16:creationId xmlns:a16="http://schemas.microsoft.com/office/drawing/2014/main" id="{7DC98D2E-6586-8962-BB08-562DD13C3606}"/>
              </a:ext>
            </a:extLst>
          </p:cNvPr>
          <p:cNvSpPr/>
          <p:nvPr/>
        </p:nvSpPr>
        <p:spPr>
          <a:xfrm>
            <a:off x="1613120" y="3466465"/>
            <a:ext cx="1322296" cy="448235"/>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발명완성</a:t>
            </a:r>
          </a:p>
        </p:txBody>
      </p:sp>
      <p:sp>
        <p:nvSpPr>
          <p:cNvPr id="6" name="직사각형 5">
            <a:extLst>
              <a:ext uri="{FF2B5EF4-FFF2-40B4-BE49-F238E27FC236}">
                <a16:creationId xmlns:a16="http://schemas.microsoft.com/office/drawing/2014/main" id="{800C4D70-567D-2B5D-C119-83C1C9D5AFD3}"/>
              </a:ext>
            </a:extLst>
          </p:cNvPr>
          <p:cNvSpPr/>
          <p:nvPr/>
        </p:nvSpPr>
        <p:spPr>
          <a:xfrm>
            <a:off x="3941174" y="3466465"/>
            <a:ext cx="1322296" cy="448235"/>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특허출원</a:t>
            </a:r>
          </a:p>
        </p:txBody>
      </p:sp>
      <p:sp>
        <p:nvSpPr>
          <p:cNvPr id="7" name="직사각형 6">
            <a:extLst>
              <a:ext uri="{FF2B5EF4-FFF2-40B4-BE49-F238E27FC236}">
                <a16:creationId xmlns:a16="http://schemas.microsoft.com/office/drawing/2014/main" id="{C64FA647-B494-00A1-6C63-9E235BFB1183}"/>
              </a:ext>
            </a:extLst>
          </p:cNvPr>
          <p:cNvSpPr/>
          <p:nvPr/>
        </p:nvSpPr>
        <p:spPr>
          <a:xfrm>
            <a:off x="6398558" y="3466465"/>
            <a:ext cx="1322296" cy="448235"/>
          </a:xfrm>
          <a:prstGeom prst="rect">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특허등록</a:t>
            </a:r>
          </a:p>
        </p:txBody>
      </p:sp>
      <p:sp>
        <p:nvSpPr>
          <p:cNvPr id="8" name="직사각형 7">
            <a:extLst>
              <a:ext uri="{FF2B5EF4-FFF2-40B4-BE49-F238E27FC236}">
                <a16:creationId xmlns:a16="http://schemas.microsoft.com/office/drawing/2014/main" id="{9669F3B0-C5D1-70A6-10D3-BC4F581410B4}"/>
              </a:ext>
            </a:extLst>
          </p:cNvPr>
          <p:cNvSpPr/>
          <p:nvPr/>
        </p:nvSpPr>
        <p:spPr>
          <a:xfrm>
            <a:off x="8897470" y="3466465"/>
            <a:ext cx="1322296" cy="448235"/>
          </a:xfrm>
          <a:prstGeom prst="rect">
            <a:avLst/>
          </a:prstGeom>
          <a:solidFill>
            <a:schemeClr val="tx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제</a:t>
            </a:r>
            <a:r>
              <a:rPr lang="en-US" altLang="ko-KR" dirty="0"/>
              <a:t>3</a:t>
            </a:r>
            <a:r>
              <a:rPr lang="ko-KR" altLang="en-US" dirty="0" err="1"/>
              <a:t>자실시</a:t>
            </a:r>
            <a:endParaRPr lang="ko-KR" altLang="en-US" dirty="0"/>
          </a:p>
        </p:txBody>
      </p:sp>
    </p:spTree>
    <p:extLst>
      <p:ext uri="{BB962C8B-B14F-4D97-AF65-F5344CB8AC3E}">
        <p14:creationId xmlns:p14="http://schemas.microsoft.com/office/powerpoint/2010/main" val="596033066"/>
      </p:ext>
    </p:extLst>
  </p:cSld>
  <p:clrMapOvr>
    <a:masterClrMapping/>
  </p:clrMapOvr>
  <p:transition/>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모서리가 둥근 직사각형 72"/>
          <p:cNvSpPr/>
          <p:nvPr/>
        </p:nvSpPr>
        <p:spPr bwMode="auto">
          <a:xfrm>
            <a:off x="6106571" y="1286079"/>
            <a:ext cx="2304256" cy="432048"/>
          </a:xfrm>
          <a:prstGeom prst="roundRect">
            <a:avLst/>
          </a:prstGeom>
          <a:solidFill>
            <a:schemeClr val="accent2">
              <a:lumMod val="20000"/>
              <a:lumOff val="80000"/>
            </a:schemeClr>
          </a:solidFill>
          <a:ln w="9525" cap="flat" cmpd="sng" algn="ctr">
            <a:solidFill>
              <a:schemeClr val="bg1">
                <a:lumMod val="50000"/>
              </a:schemeClr>
            </a:solidFill>
            <a:prstDash val="solid"/>
            <a:round/>
            <a:headEnd type="none" w="med" len="med"/>
            <a:tailEnd type="none" w="med" len="med"/>
          </a:ln>
          <a:effectLst/>
        </p:spPr>
        <p:txBody>
          <a:bodyPr vert="horz" wrap="square" lIns="90000" tIns="46800" rIns="90000" bIns="4680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en-US" altLang="ko-KR" sz="1400" b="0" i="0" u="none" strike="noStrike" cap="none" normalizeH="0" baseline="0" dirty="0">
                <a:ln>
                  <a:noFill/>
                </a:ln>
                <a:solidFill>
                  <a:srgbClr val="1C1C1C"/>
                </a:solidFill>
                <a:effectLst/>
                <a:latin typeface="+mn-ea"/>
              </a:rPr>
              <a:t>* </a:t>
            </a:r>
            <a:r>
              <a:rPr kumimoji="1" lang="ko-KR" altLang="en-US" sz="1400" b="0" i="0" u="none" strike="noStrike" cap="none" normalizeH="0" baseline="0" dirty="0">
                <a:ln>
                  <a:noFill/>
                </a:ln>
                <a:solidFill>
                  <a:srgbClr val="1C1C1C"/>
                </a:solidFill>
                <a:effectLst/>
                <a:latin typeface="+mn-ea"/>
              </a:rPr>
              <a:t>특허여부의 결정</a:t>
            </a:r>
          </a:p>
        </p:txBody>
      </p:sp>
      <p:sp>
        <p:nvSpPr>
          <p:cNvPr id="74" name="모서리가 둥근 직사각형 73"/>
          <p:cNvSpPr/>
          <p:nvPr/>
        </p:nvSpPr>
        <p:spPr bwMode="auto">
          <a:xfrm>
            <a:off x="1134533" y="3878366"/>
            <a:ext cx="3435867" cy="1692701"/>
          </a:xfrm>
          <a:prstGeom prst="roundRect">
            <a:avLst/>
          </a:prstGeom>
          <a:solidFill>
            <a:schemeClr val="accent4">
              <a:lumMod val="20000"/>
              <a:lumOff val="80000"/>
            </a:schemeClr>
          </a:solidFill>
          <a:ln w="9525" cap="flat" cmpd="sng" algn="ctr">
            <a:solidFill>
              <a:schemeClr val="bg1">
                <a:lumMod val="50000"/>
              </a:schemeClr>
            </a:solidFill>
            <a:prstDash val="solid"/>
            <a:round/>
            <a:headEnd type="none" w="med" len="med"/>
            <a:tailEnd type="none" w="med" len="med"/>
          </a:ln>
          <a:effectLst/>
        </p:spPr>
        <p:txBody>
          <a:bodyPr vert="horz" wrap="square" lIns="90000" tIns="46800" rIns="90000" bIns="46800" numCol="1" rtlCol="0" anchor="ctr" anchorCtr="0" compatLnSpc="1">
            <a:prstTxWarp prst="textNoShape">
              <a:avLst/>
            </a:prstTxWarp>
          </a:bodyPr>
          <a:lstStyle/>
          <a:p>
            <a:r>
              <a:rPr lang="en-US" altLang="ko-KR" sz="1400" b="1" dirty="0">
                <a:solidFill>
                  <a:schemeClr val="tx1"/>
                </a:solidFill>
                <a:latin typeface="+mn-ea"/>
              </a:rPr>
              <a:t>* </a:t>
            </a:r>
            <a:r>
              <a:rPr lang="ko-KR" altLang="en-US" sz="1400" b="1" dirty="0">
                <a:solidFill>
                  <a:schemeClr val="tx1"/>
                </a:solidFill>
                <a:latin typeface="+mn-ea"/>
              </a:rPr>
              <a:t>조기권리저지방안</a:t>
            </a:r>
            <a:endParaRPr lang="en-US" altLang="ko-KR" sz="1400" b="1" dirty="0">
              <a:solidFill>
                <a:schemeClr val="tx1"/>
              </a:solidFill>
              <a:latin typeface="+mn-ea"/>
            </a:endParaRPr>
          </a:p>
          <a:p>
            <a:r>
              <a:rPr lang="en-US" altLang="ko-KR" sz="1200" dirty="0">
                <a:latin typeface="+mn-ea"/>
              </a:rPr>
              <a:t> - </a:t>
            </a:r>
            <a:r>
              <a:rPr lang="ko-KR" altLang="en-US" sz="1200" dirty="0">
                <a:latin typeface="+mn-ea"/>
              </a:rPr>
              <a:t>심사청구</a:t>
            </a:r>
            <a:endParaRPr lang="en-US" altLang="ko-KR" sz="1200" dirty="0">
              <a:latin typeface="+mn-ea"/>
            </a:endParaRPr>
          </a:p>
          <a:p>
            <a:r>
              <a:rPr lang="en-US" altLang="ko-KR" sz="1200" dirty="0">
                <a:latin typeface="+mn-ea"/>
              </a:rPr>
              <a:t> - </a:t>
            </a:r>
            <a:r>
              <a:rPr lang="ko-KR" altLang="en-US" sz="1200" dirty="0">
                <a:latin typeface="+mn-ea"/>
              </a:rPr>
              <a:t>우선심사신청</a:t>
            </a:r>
            <a:endParaRPr lang="en-US" altLang="ko-KR" sz="1200" b="0" dirty="0">
              <a:solidFill>
                <a:schemeClr val="tx1"/>
              </a:solidFill>
              <a:latin typeface="+mn-ea"/>
            </a:endParaRPr>
          </a:p>
          <a:p>
            <a:r>
              <a:rPr lang="en-US" altLang="ko-KR" sz="1400" b="1" dirty="0">
                <a:solidFill>
                  <a:schemeClr val="tx1"/>
                </a:solidFill>
                <a:latin typeface="+mn-ea"/>
              </a:rPr>
              <a:t>* </a:t>
            </a:r>
            <a:r>
              <a:rPr lang="ko-KR" altLang="en-US" sz="1400" b="1" dirty="0">
                <a:solidFill>
                  <a:schemeClr val="tx1"/>
                </a:solidFill>
                <a:latin typeface="+mn-ea"/>
              </a:rPr>
              <a:t>심사관여방안</a:t>
            </a:r>
            <a:endParaRPr lang="en-US" altLang="ko-KR" sz="1400" b="1" dirty="0">
              <a:solidFill>
                <a:schemeClr val="tx1"/>
              </a:solidFill>
              <a:latin typeface="+mn-ea"/>
            </a:endParaRPr>
          </a:p>
          <a:p>
            <a:r>
              <a:rPr lang="en-US" altLang="ko-KR" sz="1200" b="0" dirty="0">
                <a:solidFill>
                  <a:schemeClr val="tx1"/>
                </a:solidFill>
                <a:latin typeface="+mn-ea"/>
              </a:rPr>
              <a:t> - </a:t>
            </a:r>
            <a:r>
              <a:rPr lang="ko-KR" altLang="en-US" sz="1200" b="0" dirty="0">
                <a:solidFill>
                  <a:schemeClr val="tx1"/>
                </a:solidFill>
                <a:latin typeface="+mn-ea"/>
              </a:rPr>
              <a:t>정보제공</a:t>
            </a:r>
            <a:endParaRPr lang="en-US" altLang="ko-KR" sz="1200" b="0" dirty="0">
              <a:solidFill>
                <a:schemeClr val="tx1"/>
              </a:solidFill>
              <a:latin typeface="+mn-ea"/>
            </a:endParaRPr>
          </a:p>
          <a:p>
            <a:r>
              <a:rPr lang="en-US" altLang="ko-KR" sz="1200" dirty="0">
                <a:latin typeface="+mn-ea"/>
              </a:rPr>
              <a:t> - </a:t>
            </a:r>
            <a:r>
              <a:rPr lang="ko-KR" altLang="en-US" sz="1200" dirty="0">
                <a:latin typeface="+mn-ea"/>
              </a:rPr>
              <a:t>취소신청</a:t>
            </a:r>
            <a:endParaRPr lang="en-US" altLang="ko-KR" sz="1200" b="0" dirty="0">
              <a:solidFill>
                <a:schemeClr val="tx1"/>
              </a:solidFill>
              <a:latin typeface="+mn-ea"/>
            </a:endParaRPr>
          </a:p>
          <a:p>
            <a:r>
              <a:rPr lang="en-US" altLang="ko-KR" sz="1200" b="0" dirty="0">
                <a:solidFill>
                  <a:schemeClr val="tx1"/>
                </a:solidFill>
                <a:latin typeface="+mn-ea"/>
              </a:rPr>
              <a:t> - </a:t>
            </a:r>
            <a:r>
              <a:rPr lang="ko-KR" altLang="en-US" sz="1200" b="0" dirty="0">
                <a:solidFill>
                  <a:schemeClr val="tx1"/>
                </a:solidFill>
                <a:latin typeface="+mn-ea"/>
              </a:rPr>
              <a:t>무효심판청구</a:t>
            </a:r>
            <a:endParaRPr lang="en-US" altLang="ko-KR" sz="1200" b="0" dirty="0">
              <a:solidFill>
                <a:schemeClr val="tx1"/>
              </a:solidFill>
              <a:latin typeface="+mn-ea"/>
            </a:endParaRPr>
          </a:p>
        </p:txBody>
      </p:sp>
      <p:sp>
        <p:nvSpPr>
          <p:cNvPr id="81" name="모서리가 둥근 직사각형 80"/>
          <p:cNvSpPr/>
          <p:nvPr/>
        </p:nvSpPr>
        <p:spPr bwMode="auto">
          <a:xfrm>
            <a:off x="7258699" y="3950375"/>
            <a:ext cx="2715034" cy="2487370"/>
          </a:xfrm>
          <a:prstGeom prst="roundRect">
            <a:avLst/>
          </a:prstGeom>
          <a:solidFill>
            <a:schemeClr val="accent3">
              <a:lumMod val="20000"/>
              <a:lumOff val="80000"/>
            </a:schemeClr>
          </a:solidFill>
          <a:ln w="9525" cap="flat" cmpd="sng" algn="ctr">
            <a:solidFill>
              <a:schemeClr val="bg1">
                <a:lumMod val="50000"/>
              </a:schemeClr>
            </a:solidFill>
            <a:prstDash val="solid"/>
            <a:round/>
            <a:headEnd type="none" w="med" len="med"/>
            <a:tailEnd type="none" w="med" len="med"/>
          </a:ln>
          <a:effectLst/>
        </p:spPr>
        <p:txBody>
          <a:bodyPr vert="horz" wrap="square" lIns="90000" tIns="46800" rIns="90000" bIns="46800" numCol="1" rtlCol="0" anchor="ctr" anchorCtr="0" compatLnSpc="1">
            <a:prstTxWarp prst="textNoShape">
              <a:avLst/>
            </a:prstTxWarp>
          </a:bodyPr>
          <a:lstStyle/>
          <a:p>
            <a:pPr indent="627063"/>
            <a:r>
              <a:rPr lang="en-US" altLang="ko-KR" sz="1400" b="1" dirty="0">
                <a:latin typeface="+mn-ea"/>
              </a:rPr>
              <a:t>* </a:t>
            </a:r>
            <a:r>
              <a:rPr lang="ko-KR" altLang="en-US" sz="1400" b="1" dirty="0">
                <a:latin typeface="+mn-ea"/>
              </a:rPr>
              <a:t>조기권리방안</a:t>
            </a:r>
            <a:endParaRPr lang="en-US" altLang="ko-KR" sz="1400" b="1" dirty="0">
              <a:latin typeface="+mn-ea"/>
            </a:endParaRPr>
          </a:p>
          <a:p>
            <a:pPr indent="627063"/>
            <a:r>
              <a:rPr lang="en-US" altLang="ko-KR" sz="1200" b="0" dirty="0">
                <a:latin typeface="+mn-ea"/>
              </a:rPr>
              <a:t> - </a:t>
            </a:r>
            <a:r>
              <a:rPr lang="ko-KR" altLang="en-US" sz="1200" b="0" dirty="0">
                <a:latin typeface="+mn-ea"/>
              </a:rPr>
              <a:t>심사청구</a:t>
            </a:r>
            <a:endParaRPr lang="en-US" altLang="ko-KR" sz="1200" b="0" dirty="0">
              <a:latin typeface="+mn-ea"/>
            </a:endParaRPr>
          </a:p>
          <a:p>
            <a:pPr indent="627063"/>
            <a:r>
              <a:rPr lang="en-US" altLang="ko-KR" sz="1200" dirty="0">
                <a:latin typeface="+mn-ea"/>
              </a:rPr>
              <a:t> - </a:t>
            </a:r>
            <a:r>
              <a:rPr lang="ko-KR" altLang="en-US" sz="1200" dirty="0">
                <a:latin typeface="+mn-ea"/>
              </a:rPr>
              <a:t>우선심사신청</a:t>
            </a:r>
            <a:endParaRPr lang="en-US" altLang="ko-KR" sz="1200" b="0" dirty="0">
              <a:latin typeface="+mn-ea"/>
            </a:endParaRPr>
          </a:p>
          <a:p>
            <a:pPr indent="627063"/>
            <a:r>
              <a:rPr lang="en-US" altLang="ko-KR" sz="1400" b="1" dirty="0">
                <a:latin typeface="+mn-ea"/>
              </a:rPr>
              <a:t>* </a:t>
            </a:r>
            <a:r>
              <a:rPr lang="ko-KR" altLang="en-US" sz="1400" b="1" dirty="0">
                <a:latin typeface="+mn-ea"/>
              </a:rPr>
              <a:t>출원인 이익제도 활용</a:t>
            </a:r>
            <a:endParaRPr lang="en-US" altLang="ko-KR" sz="1400" b="1" dirty="0">
              <a:latin typeface="+mn-ea"/>
            </a:endParaRPr>
          </a:p>
          <a:p>
            <a:pPr indent="627063"/>
            <a:r>
              <a:rPr lang="ko-KR" altLang="en-US" sz="1200" b="0" dirty="0">
                <a:latin typeface="+mn-ea"/>
              </a:rPr>
              <a:t> </a:t>
            </a:r>
            <a:r>
              <a:rPr lang="en-US" altLang="ko-KR" sz="1200" b="0" dirty="0">
                <a:latin typeface="+mn-ea"/>
              </a:rPr>
              <a:t>- </a:t>
            </a:r>
            <a:r>
              <a:rPr lang="ko-KR" altLang="en-US" sz="1200" b="0" dirty="0">
                <a:latin typeface="+mn-ea"/>
              </a:rPr>
              <a:t>공지예외적용주장출원</a:t>
            </a:r>
            <a:endParaRPr lang="en-US" altLang="ko-KR" sz="1200" b="0" dirty="0">
              <a:latin typeface="+mn-ea"/>
            </a:endParaRPr>
          </a:p>
          <a:p>
            <a:pPr indent="627063"/>
            <a:r>
              <a:rPr lang="en-US" altLang="ko-KR" sz="1200" dirty="0">
                <a:latin typeface="+mn-ea"/>
              </a:rPr>
              <a:t> - </a:t>
            </a:r>
            <a:r>
              <a:rPr lang="ko-KR" altLang="en-US" sz="1200" dirty="0">
                <a:latin typeface="+mn-ea"/>
              </a:rPr>
              <a:t>정당한 권리자의 보호</a:t>
            </a:r>
            <a:endParaRPr lang="en-US" altLang="ko-KR" sz="1200" b="0" dirty="0">
              <a:latin typeface="+mn-ea"/>
            </a:endParaRPr>
          </a:p>
          <a:p>
            <a:pPr indent="627063"/>
            <a:r>
              <a:rPr lang="ko-KR" altLang="en-US" sz="1200" b="0" dirty="0">
                <a:latin typeface="+mn-ea"/>
              </a:rPr>
              <a:t> </a:t>
            </a:r>
            <a:r>
              <a:rPr lang="en-US" altLang="ko-KR" sz="1200" b="0" dirty="0">
                <a:latin typeface="+mn-ea"/>
              </a:rPr>
              <a:t>- </a:t>
            </a:r>
            <a:r>
              <a:rPr lang="ko-KR" altLang="en-US" sz="1200" b="0" dirty="0">
                <a:latin typeface="+mn-ea"/>
              </a:rPr>
              <a:t>보정</a:t>
            </a:r>
            <a:endParaRPr lang="en-US" altLang="ko-KR" sz="1200" b="0" dirty="0">
              <a:latin typeface="+mn-ea"/>
            </a:endParaRPr>
          </a:p>
          <a:p>
            <a:pPr indent="627063"/>
            <a:r>
              <a:rPr lang="ko-KR" altLang="en-US" sz="1200" b="0" dirty="0">
                <a:latin typeface="+mn-ea"/>
              </a:rPr>
              <a:t> </a:t>
            </a:r>
            <a:r>
              <a:rPr lang="en-US" altLang="ko-KR" sz="1200" b="0" dirty="0">
                <a:latin typeface="+mn-ea"/>
              </a:rPr>
              <a:t>- </a:t>
            </a:r>
            <a:r>
              <a:rPr lang="ko-KR" altLang="en-US" sz="1200" b="0" dirty="0">
                <a:latin typeface="+mn-ea"/>
              </a:rPr>
              <a:t>분할출원</a:t>
            </a:r>
            <a:endParaRPr lang="en-US" altLang="ko-KR" sz="1200" b="0" dirty="0">
              <a:latin typeface="+mn-ea"/>
            </a:endParaRPr>
          </a:p>
          <a:p>
            <a:pPr indent="627063"/>
            <a:r>
              <a:rPr lang="en-US" altLang="ko-KR" sz="1200" dirty="0">
                <a:latin typeface="+mn-ea"/>
              </a:rPr>
              <a:t> - </a:t>
            </a:r>
            <a:r>
              <a:rPr lang="ko-KR" altLang="en-US" sz="1200" dirty="0">
                <a:latin typeface="+mn-ea"/>
              </a:rPr>
              <a:t>분리출원</a:t>
            </a:r>
            <a:endParaRPr lang="en-US" altLang="ko-KR" sz="1200" b="0" dirty="0">
              <a:latin typeface="+mn-ea"/>
            </a:endParaRPr>
          </a:p>
          <a:p>
            <a:pPr indent="627063"/>
            <a:r>
              <a:rPr lang="ko-KR" altLang="en-US" sz="1200" b="0" dirty="0">
                <a:latin typeface="+mn-ea"/>
              </a:rPr>
              <a:t> </a:t>
            </a:r>
            <a:r>
              <a:rPr lang="en-US" altLang="ko-KR" sz="1200" b="0" dirty="0">
                <a:latin typeface="+mn-ea"/>
              </a:rPr>
              <a:t>- </a:t>
            </a:r>
            <a:r>
              <a:rPr lang="ko-KR" altLang="en-US" sz="1200" b="0" dirty="0">
                <a:latin typeface="+mn-ea"/>
              </a:rPr>
              <a:t>변경출원</a:t>
            </a:r>
            <a:endParaRPr lang="en-US" altLang="ko-KR" sz="1200" b="0" dirty="0">
              <a:latin typeface="+mn-ea"/>
            </a:endParaRPr>
          </a:p>
          <a:p>
            <a:pPr indent="627063"/>
            <a:r>
              <a:rPr lang="ko-KR" altLang="en-US" sz="1200" b="0" dirty="0">
                <a:latin typeface="+mn-ea"/>
              </a:rPr>
              <a:t> </a:t>
            </a:r>
            <a:r>
              <a:rPr lang="en-US" altLang="ko-KR" sz="1200" b="0" dirty="0">
                <a:latin typeface="+mn-ea"/>
              </a:rPr>
              <a:t>- </a:t>
            </a:r>
            <a:r>
              <a:rPr lang="ko-KR" altLang="en-US" sz="1200" b="0" dirty="0">
                <a:latin typeface="+mn-ea"/>
              </a:rPr>
              <a:t>조약우선권주장출원</a:t>
            </a:r>
            <a:endParaRPr lang="en-US" altLang="ko-KR" sz="1200" b="0" dirty="0">
              <a:latin typeface="+mn-ea"/>
            </a:endParaRPr>
          </a:p>
          <a:p>
            <a:pPr indent="627063"/>
            <a:r>
              <a:rPr lang="ko-KR" altLang="en-US" sz="1200" b="0" dirty="0">
                <a:latin typeface="+mn-ea"/>
              </a:rPr>
              <a:t> </a:t>
            </a:r>
            <a:r>
              <a:rPr lang="en-US" altLang="ko-KR" sz="1200" b="0" dirty="0">
                <a:latin typeface="+mn-ea"/>
              </a:rPr>
              <a:t>- </a:t>
            </a:r>
            <a:r>
              <a:rPr lang="ko-KR" altLang="en-US" sz="1200" b="0" dirty="0">
                <a:latin typeface="+mn-ea"/>
              </a:rPr>
              <a:t>국내우선권주장출원 </a:t>
            </a:r>
          </a:p>
        </p:txBody>
      </p:sp>
      <p:sp>
        <p:nvSpPr>
          <p:cNvPr id="5" name="자유형 4"/>
          <p:cNvSpPr/>
          <p:nvPr/>
        </p:nvSpPr>
        <p:spPr>
          <a:xfrm>
            <a:off x="5286824" y="2885016"/>
            <a:ext cx="1229681" cy="1229681"/>
          </a:xfrm>
          <a:custGeom>
            <a:avLst/>
            <a:gdLst>
              <a:gd name="connsiteX0" fmla="*/ 0 w 1229681"/>
              <a:gd name="connsiteY0" fmla="*/ 614841 h 1229681"/>
              <a:gd name="connsiteX1" fmla="*/ 614841 w 1229681"/>
              <a:gd name="connsiteY1" fmla="*/ 0 h 1229681"/>
              <a:gd name="connsiteX2" fmla="*/ 1229682 w 1229681"/>
              <a:gd name="connsiteY2" fmla="*/ 614841 h 1229681"/>
              <a:gd name="connsiteX3" fmla="*/ 614841 w 1229681"/>
              <a:gd name="connsiteY3" fmla="*/ 1229682 h 1229681"/>
              <a:gd name="connsiteX4" fmla="*/ 0 w 1229681"/>
              <a:gd name="connsiteY4" fmla="*/ 614841 h 1229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9681" h="1229681">
                <a:moveTo>
                  <a:pt x="0" y="614841"/>
                </a:moveTo>
                <a:cubicBezTo>
                  <a:pt x="0" y="275274"/>
                  <a:pt x="275274" y="0"/>
                  <a:pt x="614841" y="0"/>
                </a:cubicBezTo>
                <a:cubicBezTo>
                  <a:pt x="954408" y="0"/>
                  <a:pt x="1229682" y="275274"/>
                  <a:pt x="1229682" y="614841"/>
                </a:cubicBezTo>
                <a:cubicBezTo>
                  <a:pt x="1229682" y="954408"/>
                  <a:pt x="954408" y="1229682"/>
                  <a:pt x="614841" y="1229682"/>
                </a:cubicBezTo>
                <a:cubicBezTo>
                  <a:pt x="275274" y="1229682"/>
                  <a:pt x="0" y="954408"/>
                  <a:pt x="0" y="614841"/>
                </a:cubicBezTo>
                <a:close/>
              </a:path>
            </a:pathLst>
          </a:custGeom>
          <a:solidFill>
            <a:schemeClr val="accent1">
              <a:lumMod val="50000"/>
            </a:schemeClr>
          </a:solidFill>
          <a:ln>
            <a:solidFill>
              <a:schemeClr val="bg1">
                <a:lumMod val="5000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0083" tIns="180083" rIns="180083" bIns="180083" numCol="1" spcCol="1270" anchor="ctr" anchorCtr="0">
            <a:noAutofit/>
          </a:bodyPr>
          <a:lstStyle/>
          <a:p>
            <a:pPr lvl="0" algn="ctr" defTabSz="488950" latinLnBrk="1">
              <a:spcBef>
                <a:spcPct val="0"/>
              </a:spcBef>
            </a:pPr>
            <a:r>
              <a:rPr lang="ko-KR" altLang="en-US" sz="1600" b="0" kern="1200" dirty="0">
                <a:solidFill>
                  <a:schemeClr val="bg1"/>
                </a:solidFill>
                <a:latin typeface="+mn-ea"/>
                <a:ea typeface="+mn-ea"/>
              </a:rPr>
              <a:t>특허요건</a:t>
            </a:r>
            <a:endParaRPr lang="en-US" altLang="ko-KR" sz="1600" b="0" kern="1200" dirty="0">
              <a:solidFill>
                <a:schemeClr val="bg1"/>
              </a:solidFill>
              <a:latin typeface="+mn-ea"/>
              <a:ea typeface="+mn-ea"/>
            </a:endParaRPr>
          </a:p>
          <a:p>
            <a:pPr lvl="0" algn="ctr" defTabSz="488950" latinLnBrk="1">
              <a:spcBef>
                <a:spcPct val="0"/>
              </a:spcBef>
            </a:pPr>
            <a:r>
              <a:rPr lang="en-US" altLang="ko-KR" sz="1600" dirty="0">
                <a:solidFill>
                  <a:schemeClr val="bg1"/>
                </a:solidFill>
                <a:latin typeface="+mn-ea"/>
              </a:rPr>
              <a:t>(</a:t>
            </a:r>
            <a:r>
              <a:rPr lang="ko-KR" altLang="en-US" sz="1600" b="0" kern="1200" dirty="0">
                <a:solidFill>
                  <a:schemeClr val="bg1"/>
                </a:solidFill>
                <a:latin typeface="+mn-ea"/>
                <a:ea typeface="+mn-ea"/>
              </a:rPr>
              <a:t>판단</a:t>
            </a:r>
            <a:r>
              <a:rPr lang="en-US" altLang="ko-KR" sz="1600" b="0" kern="1200" dirty="0">
                <a:solidFill>
                  <a:schemeClr val="bg1"/>
                </a:solidFill>
                <a:latin typeface="+mn-ea"/>
                <a:ea typeface="+mn-ea"/>
              </a:rPr>
              <a:t>)</a:t>
            </a:r>
            <a:endParaRPr lang="ko-KR" altLang="en-US" sz="1600" b="0" kern="1200" dirty="0">
              <a:solidFill>
                <a:schemeClr val="bg1"/>
              </a:solidFill>
              <a:latin typeface="+mn-ea"/>
              <a:ea typeface="+mn-ea"/>
            </a:endParaRPr>
          </a:p>
        </p:txBody>
      </p:sp>
      <p:sp>
        <p:nvSpPr>
          <p:cNvPr id="6" name="자유형 5"/>
          <p:cNvSpPr/>
          <p:nvPr/>
        </p:nvSpPr>
        <p:spPr>
          <a:xfrm rot="16200000">
            <a:off x="5771014" y="2436856"/>
            <a:ext cx="261300" cy="418091"/>
          </a:xfrm>
          <a:custGeom>
            <a:avLst/>
            <a:gdLst>
              <a:gd name="connsiteX0" fmla="*/ 0 w 261300"/>
              <a:gd name="connsiteY0" fmla="*/ 83618 h 418091"/>
              <a:gd name="connsiteX1" fmla="*/ 130650 w 261300"/>
              <a:gd name="connsiteY1" fmla="*/ 83618 h 418091"/>
              <a:gd name="connsiteX2" fmla="*/ 130650 w 261300"/>
              <a:gd name="connsiteY2" fmla="*/ 0 h 418091"/>
              <a:gd name="connsiteX3" fmla="*/ 261300 w 261300"/>
              <a:gd name="connsiteY3" fmla="*/ 209046 h 418091"/>
              <a:gd name="connsiteX4" fmla="*/ 130650 w 261300"/>
              <a:gd name="connsiteY4" fmla="*/ 418091 h 418091"/>
              <a:gd name="connsiteX5" fmla="*/ 130650 w 261300"/>
              <a:gd name="connsiteY5" fmla="*/ 334473 h 418091"/>
              <a:gd name="connsiteX6" fmla="*/ 0 w 261300"/>
              <a:gd name="connsiteY6" fmla="*/ 334473 h 418091"/>
              <a:gd name="connsiteX7" fmla="*/ 0 w 261300"/>
              <a:gd name="connsiteY7" fmla="*/ 83618 h 41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300" h="418091">
                <a:moveTo>
                  <a:pt x="0" y="83618"/>
                </a:moveTo>
                <a:lnTo>
                  <a:pt x="130650" y="83618"/>
                </a:lnTo>
                <a:lnTo>
                  <a:pt x="130650" y="0"/>
                </a:lnTo>
                <a:lnTo>
                  <a:pt x="261300" y="209046"/>
                </a:lnTo>
                <a:lnTo>
                  <a:pt x="130650" y="418091"/>
                </a:lnTo>
                <a:lnTo>
                  <a:pt x="130650" y="334473"/>
                </a:lnTo>
                <a:lnTo>
                  <a:pt x="0" y="334473"/>
                </a:lnTo>
                <a:lnTo>
                  <a:pt x="0" y="83618"/>
                </a:lnTo>
                <a:close/>
              </a:path>
            </a:pathLst>
          </a:custGeom>
        </p:spPr>
        <p:style>
          <a:lnRef idx="0">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1" tIns="83617" rIns="78390" bIns="83618" numCol="1" spcCol="1270" anchor="ctr" anchorCtr="0">
            <a:noAutofit/>
          </a:bodyPr>
          <a:lstStyle/>
          <a:p>
            <a:pPr lvl="0" algn="ctr" defTabSz="488950" latinLnBrk="1">
              <a:lnSpc>
                <a:spcPct val="90000"/>
              </a:lnSpc>
              <a:spcBef>
                <a:spcPct val="0"/>
              </a:spcBef>
              <a:spcAft>
                <a:spcPct val="35000"/>
              </a:spcAft>
            </a:pPr>
            <a:endParaRPr lang="ko-KR" altLang="en-US" sz="1100" b="0" kern="1200">
              <a:latin typeface="+mn-ea"/>
              <a:ea typeface="+mn-ea"/>
            </a:endParaRPr>
          </a:p>
        </p:txBody>
      </p:sp>
      <p:sp>
        <p:nvSpPr>
          <p:cNvPr id="7" name="자유형 6"/>
          <p:cNvSpPr/>
          <p:nvPr/>
        </p:nvSpPr>
        <p:spPr>
          <a:xfrm>
            <a:off x="5286824" y="1162314"/>
            <a:ext cx="1229681" cy="1229681"/>
          </a:xfrm>
          <a:custGeom>
            <a:avLst/>
            <a:gdLst>
              <a:gd name="connsiteX0" fmla="*/ 0 w 1229681"/>
              <a:gd name="connsiteY0" fmla="*/ 614841 h 1229681"/>
              <a:gd name="connsiteX1" fmla="*/ 614841 w 1229681"/>
              <a:gd name="connsiteY1" fmla="*/ 0 h 1229681"/>
              <a:gd name="connsiteX2" fmla="*/ 1229682 w 1229681"/>
              <a:gd name="connsiteY2" fmla="*/ 614841 h 1229681"/>
              <a:gd name="connsiteX3" fmla="*/ 614841 w 1229681"/>
              <a:gd name="connsiteY3" fmla="*/ 1229682 h 1229681"/>
              <a:gd name="connsiteX4" fmla="*/ 0 w 1229681"/>
              <a:gd name="connsiteY4" fmla="*/ 614841 h 1229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9681" h="1229681">
                <a:moveTo>
                  <a:pt x="0" y="614841"/>
                </a:moveTo>
                <a:cubicBezTo>
                  <a:pt x="0" y="275274"/>
                  <a:pt x="275274" y="0"/>
                  <a:pt x="614841" y="0"/>
                </a:cubicBezTo>
                <a:cubicBezTo>
                  <a:pt x="954408" y="0"/>
                  <a:pt x="1229682" y="275274"/>
                  <a:pt x="1229682" y="614841"/>
                </a:cubicBezTo>
                <a:cubicBezTo>
                  <a:pt x="1229682" y="954408"/>
                  <a:pt x="954408" y="1229682"/>
                  <a:pt x="614841" y="1229682"/>
                </a:cubicBezTo>
                <a:cubicBezTo>
                  <a:pt x="275274" y="1229682"/>
                  <a:pt x="0" y="954408"/>
                  <a:pt x="0" y="614841"/>
                </a:cubicBezTo>
                <a:close/>
              </a:path>
            </a:pathLst>
          </a:custGeom>
          <a:solidFill>
            <a:schemeClr val="accent2"/>
          </a:solidFill>
          <a:ln>
            <a:solidFill>
              <a:schemeClr val="bg1">
                <a:lumMod val="50000"/>
              </a:schemeClr>
            </a:solidFill>
          </a:ln>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194053" tIns="194053" rIns="194053" bIns="194053" numCol="1" spcCol="1270" anchor="ctr" anchorCtr="0">
            <a:noAutofit/>
          </a:bodyPr>
          <a:lstStyle/>
          <a:p>
            <a:pPr lvl="0" algn="ctr" defTabSz="488950" latinLnBrk="1">
              <a:spcBef>
                <a:spcPct val="0"/>
              </a:spcBef>
            </a:pPr>
            <a:r>
              <a:rPr lang="ko-KR" altLang="en-US" sz="1600" b="0" kern="1200" dirty="0">
                <a:solidFill>
                  <a:schemeClr val="tx1"/>
                </a:solidFill>
                <a:latin typeface="+mn-ea"/>
                <a:ea typeface="+mn-ea"/>
              </a:rPr>
              <a:t>심사관</a:t>
            </a:r>
            <a:endParaRPr lang="en-US" altLang="ko-KR" sz="1600" b="0" kern="1200" dirty="0">
              <a:solidFill>
                <a:schemeClr val="tx1"/>
              </a:solidFill>
              <a:latin typeface="+mn-ea"/>
              <a:ea typeface="+mn-ea"/>
            </a:endParaRPr>
          </a:p>
          <a:p>
            <a:pPr lvl="0" algn="ctr" defTabSz="488950" latinLnBrk="1">
              <a:spcBef>
                <a:spcPct val="0"/>
              </a:spcBef>
            </a:pPr>
            <a:r>
              <a:rPr lang="en-US" altLang="ko-KR" sz="1600" dirty="0">
                <a:solidFill>
                  <a:schemeClr val="tx1"/>
                </a:solidFill>
                <a:latin typeface="+mn-ea"/>
              </a:rPr>
              <a:t>(</a:t>
            </a:r>
            <a:r>
              <a:rPr lang="ko-KR" altLang="en-US" sz="1600" dirty="0">
                <a:solidFill>
                  <a:schemeClr val="tx1"/>
                </a:solidFill>
                <a:latin typeface="+mn-ea"/>
              </a:rPr>
              <a:t>반응</a:t>
            </a:r>
            <a:r>
              <a:rPr lang="en-US" altLang="ko-KR" sz="1600" dirty="0">
                <a:solidFill>
                  <a:schemeClr val="tx1"/>
                </a:solidFill>
                <a:latin typeface="+mn-ea"/>
              </a:rPr>
              <a:t>)</a:t>
            </a:r>
            <a:endParaRPr lang="ko-KR" altLang="en-US" sz="1600" b="0" kern="1200" dirty="0">
              <a:solidFill>
                <a:schemeClr val="tx1"/>
              </a:solidFill>
              <a:latin typeface="+mn-ea"/>
            </a:endParaRPr>
          </a:p>
        </p:txBody>
      </p:sp>
      <p:sp>
        <p:nvSpPr>
          <p:cNvPr id="8" name="자유형 7"/>
          <p:cNvSpPr/>
          <p:nvPr/>
        </p:nvSpPr>
        <p:spPr>
          <a:xfrm rot="1800000">
            <a:off x="6510561" y="3717789"/>
            <a:ext cx="261300" cy="418091"/>
          </a:xfrm>
          <a:custGeom>
            <a:avLst/>
            <a:gdLst>
              <a:gd name="connsiteX0" fmla="*/ 0 w 261300"/>
              <a:gd name="connsiteY0" fmla="*/ 83618 h 418091"/>
              <a:gd name="connsiteX1" fmla="*/ 130650 w 261300"/>
              <a:gd name="connsiteY1" fmla="*/ 83618 h 418091"/>
              <a:gd name="connsiteX2" fmla="*/ 130650 w 261300"/>
              <a:gd name="connsiteY2" fmla="*/ 0 h 418091"/>
              <a:gd name="connsiteX3" fmla="*/ 261300 w 261300"/>
              <a:gd name="connsiteY3" fmla="*/ 209046 h 418091"/>
              <a:gd name="connsiteX4" fmla="*/ 130650 w 261300"/>
              <a:gd name="connsiteY4" fmla="*/ 418091 h 418091"/>
              <a:gd name="connsiteX5" fmla="*/ 130650 w 261300"/>
              <a:gd name="connsiteY5" fmla="*/ 334473 h 418091"/>
              <a:gd name="connsiteX6" fmla="*/ 0 w 261300"/>
              <a:gd name="connsiteY6" fmla="*/ 334473 h 418091"/>
              <a:gd name="connsiteX7" fmla="*/ 0 w 261300"/>
              <a:gd name="connsiteY7" fmla="*/ 83618 h 41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300" h="418091">
                <a:moveTo>
                  <a:pt x="0" y="83618"/>
                </a:moveTo>
                <a:lnTo>
                  <a:pt x="130650" y="83618"/>
                </a:lnTo>
                <a:lnTo>
                  <a:pt x="130650" y="0"/>
                </a:lnTo>
                <a:lnTo>
                  <a:pt x="261300" y="209046"/>
                </a:lnTo>
                <a:lnTo>
                  <a:pt x="130650" y="418091"/>
                </a:lnTo>
                <a:lnTo>
                  <a:pt x="130650" y="334473"/>
                </a:lnTo>
                <a:lnTo>
                  <a:pt x="0" y="334473"/>
                </a:lnTo>
                <a:lnTo>
                  <a:pt x="0" y="83618"/>
                </a:lnTo>
                <a:close/>
              </a:path>
            </a:pathLst>
          </a:custGeom>
        </p:spPr>
        <p:style>
          <a:lnRef idx="0">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0" tIns="83618" rIns="78389" bIns="83617" numCol="1" spcCol="1270" anchor="ctr" anchorCtr="0">
            <a:noAutofit/>
          </a:bodyPr>
          <a:lstStyle/>
          <a:p>
            <a:pPr lvl="0" algn="ctr" defTabSz="488950" latinLnBrk="1">
              <a:lnSpc>
                <a:spcPct val="90000"/>
              </a:lnSpc>
              <a:spcBef>
                <a:spcPct val="0"/>
              </a:spcBef>
              <a:spcAft>
                <a:spcPct val="35000"/>
              </a:spcAft>
            </a:pPr>
            <a:endParaRPr lang="ko-KR" altLang="en-US" sz="1100" b="0" kern="1200">
              <a:latin typeface="+mn-ea"/>
              <a:ea typeface="+mn-ea"/>
            </a:endParaRPr>
          </a:p>
        </p:txBody>
      </p:sp>
      <p:sp>
        <p:nvSpPr>
          <p:cNvPr id="9" name="자유형 8"/>
          <p:cNvSpPr/>
          <p:nvPr/>
        </p:nvSpPr>
        <p:spPr>
          <a:xfrm>
            <a:off x="6778727" y="3746367"/>
            <a:ext cx="1229681" cy="1229681"/>
          </a:xfrm>
          <a:custGeom>
            <a:avLst/>
            <a:gdLst>
              <a:gd name="connsiteX0" fmla="*/ 0 w 1229681"/>
              <a:gd name="connsiteY0" fmla="*/ 614841 h 1229681"/>
              <a:gd name="connsiteX1" fmla="*/ 614841 w 1229681"/>
              <a:gd name="connsiteY1" fmla="*/ 0 h 1229681"/>
              <a:gd name="connsiteX2" fmla="*/ 1229682 w 1229681"/>
              <a:gd name="connsiteY2" fmla="*/ 614841 h 1229681"/>
              <a:gd name="connsiteX3" fmla="*/ 614841 w 1229681"/>
              <a:gd name="connsiteY3" fmla="*/ 1229682 h 1229681"/>
              <a:gd name="connsiteX4" fmla="*/ 0 w 1229681"/>
              <a:gd name="connsiteY4" fmla="*/ 614841 h 1229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9681" h="1229681">
                <a:moveTo>
                  <a:pt x="0" y="614841"/>
                </a:moveTo>
                <a:cubicBezTo>
                  <a:pt x="0" y="275274"/>
                  <a:pt x="275274" y="0"/>
                  <a:pt x="614841" y="0"/>
                </a:cubicBezTo>
                <a:cubicBezTo>
                  <a:pt x="954408" y="0"/>
                  <a:pt x="1229682" y="275274"/>
                  <a:pt x="1229682" y="614841"/>
                </a:cubicBezTo>
                <a:cubicBezTo>
                  <a:pt x="1229682" y="954408"/>
                  <a:pt x="954408" y="1229682"/>
                  <a:pt x="614841" y="1229682"/>
                </a:cubicBezTo>
                <a:cubicBezTo>
                  <a:pt x="275274" y="1229682"/>
                  <a:pt x="0" y="954408"/>
                  <a:pt x="0" y="614841"/>
                </a:cubicBezTo>
                <a:close/>
              </a:path>
            </a:pathLst>
          </a:custGeom>
          <a:solidFill>
            <a:schemeClr val="accent3"/>
          </a:solidFill>
          <a:ln>
            <a:solidFill>
              <a:schemeClr val="bg1">
                <a:lumMod val="50000"/>
              </a:schemeClr>
            </a:solid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194053" tIns="194053" rIns="194053" bIns="194053" numCol="1" spcCol="1270" anchor="ctr" anchorCtr="0">
            <a:noAutofit/>
          </a:bodyPr>
          <a:lstStyle/>
          <a:p>
            <a:pPr lvl="0" algn="ctr" defTabSz="488950" latinLnBrk="1">
              <a:spcBef>
                <a:spcPct val="0"/>
              </a:spcBef>
            </a:pPr>
            <a:r>
              <a:rPr lang="ko-KR" altLang="en-US" sz="1600" b="0" kern="1200" dirty="0">
                <a:solidFill>
                  <a:schemeClr val="tx1"/>
                </a:solidFill>
                <a:latin typeface="+mn-ea"/>
                <a:ea typeface="+mn-ea"/>
              </a:rPr>
              <a:t>출원인</a:t>
            </a:r>
            <a:endParaRPr lang="en-US" altLang="ko-KR" sz="1600" b="0" kern="1200" dirty="0">
              <a:solidFill>
                <a:schemeClr val="tx1"/>
              </a:solidFill>
              <a:latin typeface="+mn-ea"/>
              <a:ea typeface="+mn-ea"/>
            </a:endParaRPr>
          </a:p>
          <a:p>
            <a:pPr lvl="0" algn="ctr" defTabSz="488950" latinLnBrk="1">
              <a:spcBef>
                <a:spcPct val="0"/>
              </a:spcBef>
            </a:pPr>
            <a:r>
              <a:rPr lang="en-US" altLang="ko-KR" sz="1600" dirty="0">
                <a:solidFill>
                  <a:schemeClr val="tx1"/>
                </a:solidFill>
                <a:latin typeface="+mn-ea"/>
              </a:rPr>
              <a:t>(</a:t>
            </a:r>
            <a:r>
              <a:rPr lang="ko-KR" altLang="en-US" sz="1600" dirty="0">
                <a:solidFill>
                  <a:schemeClr val="tx1"/>
                </a:solidFill>
                <a:latin typeface="+mn-ea"/>
              </a:rPr>
              <a:t>반응</a:t>
            </a:r>
            <a:r>
              <a:rPr lang="en-US" altLang="ko-KR" sz="1600" dirty="0">
                <a:solidFill>
                  <a:schemeClr val="tx1"/>
                </a:solidFill>
                <a:latin typeface="+mn-ea"/>
              </a:rPr>
              <a:t>)</a:t>
            </a:r>
            <a:endParaRPr lang="ko-KR" altLang="en-US" sz="1600" b="0" kern="1200" dirty="0">
              <a:solidFill>
                <a:schemeClr val="tx1"/>
              </a:solidFill>
              <a:latin typeface="+mn-ea"/>
            </a:endParaRPr>
          </a:p>
        </p:txBody>
      </p:sp>
      <p:sp>
        <p:nvSpPr>
          <p:cNvPr id="10" name="자유형 9"/>
          <p:cNvSpPr/>
          <p:nvPr/>
        </p:nvSpPr>
        <p:spPr>
          <a:xfrm rot="19808912">
            <a:off x="5021794" y="3718887"/>
            <a:ext cx="267924" cy="418091"/>
          </a:xfrm>
          <a:custGeom>
            <a:avLst/>
            <a:gdLst>
              <a:gd name="connsiteX0" fmla="*/ 0 w 267923"/>
              <a:gd name="connsiteY0" fmla="*/ 83618 h 418091"/>
              <a:gd name="connsiteX1" fmla="*/ 133962 w 267923"/>
              <a:gd name="connsiteY1" fmla="*/ 83618 h 418091"/>
              <a:gd name="connsiteX2" fmla="*/ 133962 w 267923"/>
              <a:gd name="connsiteY2" fmla="*/ 0 h 418091"/>
              <a:gd name="connsiteX3" fmla="*/ 267923 w 267923"/>
              <a:gd name="connsiteY3" fmla="*/ 209046 h 418091"/>
              <a:gd name="connsiteX4" fmla="*/ 133962 w 267923"/>
              <a:gd name="connsiteY4" fmla="*/ 418091 h 418091"/>
              <a:gd name="connsiteX5" fmla="*/ 133962 w 267923"/>
              <a:gd name="connsiteY5" fmla="*/ 334473 h 418091"/>
              <a:gd name="connsiteX6" fmla="*/ 0 w 267923"/>
              <a:gd name="connsiteY6" fmla="*/ 334473 h 418091"/>
              <a:gd name="connsiteX7" fmla="*/ 0 w 267923"/>
              <a:gd name="connsiteY7" fmla="*/ 83618 h 41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23" h="418091">
                <a:moveTo>
                  <a:pt x="267923" y="334473"/>
                </a:moveTo>
                <a:lnTo>
                  <a:pt x="133961" y="334473"/>
                </a:lnTo>
                <a:lnTo>
                  <a:pt x="133961" y="418091"/>
                </a:lnTo>
                <a:lnTo>
                  <a:pt x="0" y="209045"/>
                </a:lnTo>
                <a:lnTo>
                  <a:pt x="133961" y="0"/>
                </a:lnTo>
                <a:lnTo>
                  <a:pt x="133961" y="83618"/>
                </a:lnTo>
                <a:lnTo>
                  <a:pt x="267923" y="83618"/>
                </a:lnTo>
                <a:lnTo>
                  <a:pt x="267923" y="334473"/>
                </a:lnTo>
                <a:close/>
              </a:path>
            </a:pathLst>
          </a:custGeom>
        </p:spPr>
        <p:style>
          <a:lnRef idx="0">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80377" tIns="83617" rIns="0" bIns="83618" numCol="1" spcCol="1270" anchor="ctr" anchorCtr="0">
            <a:noAutofit/>
          </a:bodyPr>
          <a:lstStyle/>
          <a:p>
            <a:pPr lvl="0" algn="ctr" defTabSz="488950" latinLnBrk="1">
              <a:lnSpc>
                <a:spcPct val="90000"/>
              </a:lnSpc>
              <a:spcBef>
                <a:spcPct val="0"/>
              </a:spcBef>
              <a:spcAft>
                <a:spcPct val="35000"/>
              </a:spcAft>
            </a:pPr>
            <a:endParaRPr lang="ko-KR" altLang="en-US" sz="1100" b="0" kern="1200">
              <a:latin typeface="+mn-ea"/>
              <a:ea typeface="+mn-ea"/>
            </a:endParaRPr>
          </a:p>
        </p:txBody>
      </p:sp>
      <p:sp>
        <p:nvSpPr>
          <p:cNvPr id="11" name="자유형 10"/>
          <p:cNvSpPr/>
          <p:nvPr/>
        </p:nvSpPr>
        <p:spPr>
          <a:xfrm>
            <a:off x="3781853" y="3748717"/>
            <a:ext cx="1229681" cy="1229681"/>
          </a:xfrm>
          <a:custGeom>
            <a:avLst/>
            <a:gdLst>
              <a:gd name="connsiteX0" fmla="*/ 0 w 1229681"/>
              <a:gd name="connsiteY0" fmla="*/ 614841 h 1229681"/>
              <a:gd name="connsiteX1" fmla="*/ 614841 w 1229681"/>
              <a:gd name="connsiteY1" fmla="*/ 0 h 1229681"/>
              <a:gd name="connsiteX2" fmla="*/ 1229682 w 1229681"/>
              <a:gd name="connsiteY2" fmla="*/ 614841 h 1229681"/>
              <a:gd name="connsiteX3" fmla="*/ 614841 w 1229681"/>
              <a:gd name="connsiteY3" fmla="*/ 1229682 h 1229681"/>
              <a:gd name="connsiteX4" fmla="*/ 0 w 1229681"/>
              <a:gd name="connsiteY4" fmla="*/ 614841 h 1229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9681" h="1229681">
                <a:moveTo>
                  <a:pt x="0" y="614841"/>
                </a:moveTo>
                <a:cubicBezTo>
                  <a:pt x="0" y="275274"/>
                  <a:pt x="275274" y="0"/>
                  <a:pt x="614841" y="0"/>
                </a:cubicBezTo>
                <a:cubicBezTo>
                  <a:pt x="954408" y="0"/>
                  <a:pt x="1229682" y="275274"/>
                  <a:pt x="1229682" y="614841"/>
                </a:cubicBezTo>
                <a:cubicBezTo>
                  <a:pt x="1229682" y="954408"/>
                  <a:pt x="954408" y="1229682"/>
                  <a:pt x="614841" y="1229682"/>
                </a:cubicBezTo>
                <a:cubicBezTo>
                  <a:pt x="275274" y="1229682"/>
                  <a:pt x="0" y="954408"/>
                  <a:pt x="0" y="614841"/>
                </a:cubicBezTo>
                <a:close/>
              </a:path>
            </a:pathLst>
          </a:custGeom>
          <a:solidFill>
            <a:schemeClr val="accent4"/>
          </a:solidFill>
          <a:ln>
            <a:solidFill>
              <a:schemeClr val="bg1">
                <a:lumMod val="50000"/>
              </a:schemeClr>
            </a:solidFill>
          </a:ln>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194053" tIns="194053" rIns="194053" bIns="194053" numCol="1" spcCol="1270" anchor="ctr" anchorCtr="0">
            <a:noAutofit/>
          </a:bodyPr>
          <a:lstStyle/>
          <a:p>
            <a:pPr lvl="0" algn="ctr" defTabSz="488950" latinLnBrk="1">
              <a:spcBef>
                <a:spcPct val="0"/>
              </a:spcBef>
            </a:pPr>
            <a:r>
              <a:rPr lang="ko-KR" altLang="en-US" sz="1600" b="0" kern="1200" dirty="0">
                <a:solidFill>
                  <a:schemeClr val="tx1"/>
                </a:solidFill>
                <a:latin typeface="+mn-ea"/>
                <a:ea typeface="+mn-ea"/>
              </a:rPr>
              <a:t>제</a:t>
            </a:r>
            <a:r>
              <a:rPr lang="en-US" altLang="ko-KR" sz="1600" b="0" kern="1200" dirty="0">
                <a:solidFill>
                  <a:schemeClr val="tx1"/>
                </a:solidFill>
                <a:latin typeface="+mn-ea"/>
                <a:ea typeface="+mn-ea"/>
              </a:rPr>
              <a:t>3</a:t>
            </a:r>
            <a:r>
              <a:rPr lang="ko-KR" altLang="en-US" sz="1600" b="0" kern="1200" dirty="0">
                <a:solidFill>
                  <a:schemeClr val="tx1"/>
                </a:solidFill>
                <a:latin typeface="+mn-ea"/>
                <a:ea typeface="+mn-ea"/>
              </a:rPr>
              <a:t>자</a:t>
            </a:r>
            <a:endParaRPr lang="en-US" altLang="ko-KR" sz="1600" b="0" kern="1200" dirty="0">
              <a:solidFill>
                <a:schemeClr val="tx1"/>
              </a:solidFill>
              <a:latin typeface="+mn-ea"/>
              <a:ea typeface="+mn-ea"/>
            </a:endParaRPr>
          </a:p>
          <a:p>
            <a:pPr lvl="0" algn="ctr" defTabSz="488950" latinLnBrk="1">
              <a:spcBef>
                <a:spcPct val="0"/>
              </a:spcBef>
            </a:pPr>
            <a:r>
              <a:rPr lang="en-US" altLang="ko-KR" sz="1600" dirty="0">
                <a:solidFill>
                  <a:schemeClr val="tx1"/>
                </a:solidFill>
                <a:latin typeface="+mn-ea"/>
              </a:rPr>
              <a:t>(</a:t>
            </a:r>
            <a:r>
              <a:rPr lang="ko-KR" altLang="en-US" sz="1600" dirty="0">
                <a:solidFill>
                  <a:schemeClr val="tx1"/>
                </a:solidFill>
                <a:latin typeface="+mn-ea"/>
              </a:rPr>
              <a:t>반응</a:t>
            </a:r>
            <a:r>
              <a:rPr lang="en-US" altLang="ko-KR" sz="1600" dirty="0">
                <a:solidFill>
                  <a:schemeClr val="tx1"/>
                </a:solidFill>
                <a:latin typeface="+mn-ea"/>
              </a:rPr>
              <a:t>)</a:t>
            </a:r>
            <a:endParaRPr lang="ko-KR" altLang="en-US" sz="1600" b="0" kern="1200" dirty="0">
              <a:solidFill>
                <a:schemeClr val="tx1"/>
              </a:solidFill>
              <a:latin typeface="+mn-ea"/>
            </a:endParaRPr>
          </a:p>
        </p:txBody>
      </p:sp>
      <p:sp>
        <p:nvSpPr>
          <p:cNvPr id="2" name="제목 1"/>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특허출원이 </a:t>
            </a:r>
            <a:r>
              <a:rPr lang="ko-KR" altLang="en-US" dirty="0" err="1"/>
              <a:t>등록받을</a:t>
            </a:r>
            <a:r>
              <a:rPr lang="ko-KR" altLang="en-US" dirty="0"/>
              <a:t> 수 있는가</a:t>
            </a:r>
            <a:r>
              <a:rPr lang="en-US" altLang="ko-KR" dirty="0"/>
              <a:t>?</a:t>
            </a:r>
            <a:endParaRPr lang="ko-KR" altLang="en-US" dirty="0"/>
          </a:p>
        </p:txBody>
      </p:sp>
      <p:sp>
        <p:nvSpPr>
          <p:cNvPr id="3" name="슬라이드 번호 개체 틀 2"/>
          <p:cNvSpPr>
            <a:spLocks noGrp="1"/>
          </p:cNvSpPr>
          <p:nvPr>
            <p:ph type="sldNum" sz="quarter" idx="12"/>
          </p:nvPr>
        </p:nvSpPr>
        <p:spPr/>
        <p:txBody>
          <a:bodyPr/>
          <a:lstStyle/>
          <a:p>
            <a:r>
              <a:rPr lang="en-US" altLang="ko-KR"/>
              <a:t>286</a:t>
            </a:r>
            <a:endParaRPr lang="ko-KR" altLang="en-US" dirty="0"/>
          </a:p>
        </p:txBody>
      </p:sp>
      <p:sp>
        <p:nvSpPr>
          <p:cNvPr id="12" name="말풍선: 모서리가 둥근 사각형 11">
            <a:extLst>
              <a:ext uri="{FF2B5EF4-FFF2-40B4-BE49-F238E27FC236}">
                <a16:creationId xmlns:a16="http://schemas.microsoft.com/office/drawing/2014/main" id="{3D6BAD38-9D5E-7822-56AA-E86FE7AE12DB}"/>
              </a:ext>
            </a:extLst>
          </p:cNvPr>
          <p:cNvSpPr/>
          <p:nvPr/>
        </p:nvSpPr>
        <p:spPr>
          <a:xfrm>
            <a:off x="7258699" y="3081174"/>
            <a:ext cx="4201118" cy="347826"/>
          </a:xfrm>
          <a:prstGeom prst="wedgeRoundRectCallout">
            <a:avLst>
              <a:gd name="adj1" fmla="val -50498"/>
              <a:gd name="adj2" fmla="val 136573"/>
              <a:gd name="adj3" fmla="val 16667"/>
            </a:avLst>
          </a:prstGeom>
          <a:solidFill>
            <a:schemeClr val="bg1"/>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ko-KR" altLang="en-US" sz="1400" dirty="0" err="1">
                <a:solidFill>
                  <a:schemeClr val="tx1"/>
                </a:solidFill>
              </a:rPr>
              <a:t>거절이유통지</a:t>
            </a:r>
            <a:r>
              <a:rPr lang="en-US" altLang="ko-KR" sz="1400" dirty="0">
                <a:solidFill>
                  <a:schemeClr val="tx1"/>
                </a:solidFill>
              </a:rPr>
              <a:t>(</a:t>
            </a:r>
            <a:r>
              <a:rPr lang="ko-KR" altLang="en-US" sz="1400" dirty="0">
                <a:solidFill>
                  <a:schemeClr val="tx1"/>
                </a:solidFill>
              </a:rPr>
              <a:t>거절결정등본</a:t>
            </a:r>
            <a:r>
              <a:rPr lang="en-US" altLang="ko-KR" sz="1400" dirty="0">
                <a:solidFill>
                  <a:schemeClr val="tx1"/>
                </a:solidFill>
              </a:rPr>
              <a:t>)</a:t>
            </a:r>
            <a:r>
              <a:rPr lang="ko-KR" altLang="en-US" sz="1400" dirty="0">
                <a:solidFill>
                  <a:schemeClr val="tx1"/>
                </a:solidFill>
              </a:rPr>
              <a:t>를 받은 출원인의 대응방안</a:t>
            </a:r>
          </a:p>
        </p:txBody>
      </p:sp>
    </p:spTree>
    <p:extLst>
      <p:ext uri="{BB962C8B-B14F-4D97-AF65-F5344CB8AC3E}">
        <p14:creationId xmlns:p14="http://schemas.microsoft.com/office/powerpoint/2010/main" val="539271338"/>
      </p:ext>
    </p:extLst>
  </p:cSld>
  <p:clrMapOvr>
    <a:masterClrMapping/>
  </p:clrMapOvr>
  <p:transition/>
</p:sld>
</file>

<file path=ppt/slides/slide2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 name="직사각형 11"/>
          <p:cNvSpPr/>
          <p:nvPr/>
        </p:nvSpPr>
        <p:spPr>
          <a:xfrm>
            <a:off x="11153595" y="44623"/>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bg1"/>
                </a:solidFill>
              </a:rPr>
              <a:t>총칙</a:t>
            </a:r>
            <a:r>
              <a:rPr lang="en-US" altLang="ko-KR" sz="2000" b="1" dirty="0">
                <a:solidFill>
                  <a:schemeClr val="bg1"/>
                </a:solidFill>
              </a:rPr>
              <a:t>/</a:t>
            </a:r>
          </a:p>
          <a:p>
            <a:pPr algn="ctr"/>
            <a:r>
              <a:rPr lang="ko-KR" altLang="en-US" sz="2000" b="1" dirty="0" err="1">
                <a:solidFill>
                  <a:schemeClr val="bg1"/>
                </a:solidFill>
              </a:rPr>
              <a:t>보칙</a:t>
            </a:r>
            <a:endParaRPr lang="ko-KR" altLang="en-US" sz="2000" b="1" dirty="0">
              <a:solidFill>
                <a:schemeClr val="bg1"/>
              </a:solidFill>
            </a:endParaRPr>
          </a:p>
        </p:txBody>
      </p:sp>
      <p:sp>
        <p:nvSpPr>
          <p:cNvPr id="13" name="직사각형 12"/>
          <p:cNvSpPr/>
          <p:nvPr/>
        </p:nvSpPr>
        <p:spPr>
          <a:xfrm>
            <a:off x="11153595" y="1011588"/>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bg1"/>
                </a:solidFill>
              </a:rPr>
              <a:t>특허</a:t>
            </a:r>
            <a:endParaRPr lang="en-US" altLang="ko-KR" sz="2000" b="1" dirty="0">
              <a:solidFill>
                <a:schemeClr val="bg1"/>
              </a:solidFill>
            </a:endParaRPr>
          </a:p>
          <a:p>
            <a:pPr algn="ctr"/>
            <a:r>
              <a:rPr lang="ko-KR" altLang="en-US" sz="2000" b="1" dirty="0">
                <a:solidFill>
                  <a:schemeClr val="bg1"/>
                </a:solidFill>
              </a:rPr>
              <a:t>요건</a:t>
            </a:r>
          </a:p>
        </p:txBody>
      </p:sp>
      <p:sp>
        <p:nvSpPr>
          <p:cNvPr id="14" name="직사각형 13"/>
          <p:cNvSpPr/>
          <p:nvPr/>
        </p:nvSpPr>
        <p:spPr>
          <a:xfrm>
            <a:off x="11153595" y="1978552"/>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이익</a:t>
            </a:r>
            <a:endParaRPr lang="en-US" altLang="ko-KR" sz="2000" b="1" dirty="0"/>
          </a:p>
          <a:p>
            <a:pPr algn="ctr"/>
            <a:r>
              <a:rPr lang="ko-KR" altLang="en-US" sz="2000" b="1" dirty="0"/>
              <a:t>제도</a:t>
            </a:r>
          </a:p>
        </p:txBody>
      </p:sp>
      <p:sp>
        <p:nvSpPr>
          <p:cNvPr id="15" name="직사각형 14"/>
          <p:cNvSpPr/>
          <p:nvPr/>
        </p:nvSpPr>
        <p:spPr>
          <a:xfrm>
            <a:off x="11153595" y="2945517"/>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심사</a:t>
            </a:r>
            <a:endParaRPr lang="en-US" altLang="ko-KR" sz="2000" b="1" dirty="0"/>
          </a:p>
          <a:p>
            <a:pPr algn="ctr"/>
            <a:r>
              <a:rPr lang="en-US" altLang="ko-KR" sz="2000" b="1" dirty="0"/>
              <a:t>(</a:t>
            </a:r>
            <a:r>
              <a:rPr lang="ko-KR" altLang="en-US" sz="2000" b="1" dirty="0"/>
              <a:t>제도</a:t>
            </a:r>
            <a:r>
              <a:rPr lang="en-US" altLang="ko-KR" sz="2000" b="1" dirty="0"/>
              <a:t>)</a:t>
            </a:r>
            <a:endParaRPr lang="ko-KR" altLang="en-US" sz="2000" b="1" dirty="0"/>
          </a:p>
        </p:txBody>
      </p:sp>
      <p:sp>
        <p:nvSpPr>
          <p:cNvPr id="16" name="직사각형 15"/>
          <p:cNvSpPr/>
          <p:nvPr/>
        </p:nvSpPr>
        <p:spPr>
          <a:xfrm>
            <a:off x="11153594" y="3912483"/>
            <a:ext cx="1062789" cy="966965"/>
          </a:xfrm>
          <a:prstGeom prst="rect">
            <a:avLst/>
          </a:prstGeom>
          <a:solidFill>
            <a:schemeClr val="tx1">
              <a:lumMod val="65000"/>
              <a:lumOff val="3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accent4"/>
                </a:solidFill>
              </a:rPr>
              <a:t>특허권</a:t>
            </a:r>
          </a:p>
        </p:txBody>
      </p:sp>
      <p:sp>
        <p:nvSpPr>
          <p:cNvPr id="17" name="직사각형 16"/>
          <p:cNvSpPr/>
          <p:nvPr/>
        </p:nvSpPr>
        <p:spPr>
          <a:xfrm>
            <a:off x="11153595" y="4879448"/>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심판</a:t>
            </a:r>
            <a:r>
              <a:rPr lang="en-US" altLang="ko-KR" sz="2000" b="1" dirty="0"/>
              <a:t>/</a:t>
            </a:r>
          </a:p>
          <a:p>
            <a:pPr algn="ctr"/>
            <a:r>
              <a:rPr lang="ko-KR" altLang="en-US" sz="2000" b="1" dirty="0"/>
              <a:t>소송</a:t>
            </a:r>
          </a:p>
        </p:txBody>
      </p:sp>
      <p:sp>
        <p:nvSpPr>
          <p:cNvPr id="18" name="직사각형 17"/>
          <p:cNvSpPr/>
          <p:nvPr/>
        </p:nvSpPr>
        <p:spPr>
          <a:xfrm>
            <a:off x="11153595" y="5846412"/>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2000" b="1" dirty="0"/>
              <a:t>PCT</a:t>
            </a:r>
            <a:endParaRPr lang="ko-KR" altLang="en-US" sz="2000" b="1" dirty="0"/>
          </a:p>
        </p:txBody>
      </p:sp>
      <p:sp>
        <p:nvSpPr>
          <p:cNvPr id="2" name="제목 1">
            <a:extLst>
              <a:ext uri="{FF2B5EF4-FFF2-40B4-BE49-F238E27FC236}">
                <a16:creationId xmlns:a16="http://schemas.microsoft.com/office/drawing/2014/main" id="{79BCD263-7D87-0057-9703-795E7274EF24}"/>
              </a:ext>
            </a:extLst>
          </p:cNvPr>
          <p:cNvSpPr txBox="1">
            <a:spLocks/>
          </p:cNvSpPr>
          <p:nvPr/>
        </p:nvSpPr>
        <p:spPr>
          <a:xfrm>
            <a:off x="1961128" y="1991045"/>
            <a:ext cx="7162800" cy="1193800"/>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2400" kern="1200">
                <a:solidFill>
                  <a:schemeClr val="accent4"/>
                </a:solidFill>
                <a:latin typeface="Rix모던명조 B" panose="02020603020101020101" pitchFamily="18" charset="-127"/>
                <a:ea typeface="Rix모던명조 B" panose="02020603020101020101" pitchFamily="18" charset="-127"/>
                <a:cs typeface="+mj-cs"/>
              </a:defRPr>
            </a:lvl1pPr>
          </a:lstStyle>
          <a:p>
            <a:r>
              <a:rPr lang="ko-KR" altLang="en-US" sz="8000" dirty="0">
                <a:solidFill>
                  <a:schemeClr val="tx1">
                    <a:lumMod val="50000"/>
                    <a:lumOff val="50000"/>
                  </a:schemeClr>
                </a:solidFill>
                <a:latin typeface="Rix모던고딕 EB" panose="02020603020101020101" pitchFamily="18" charset="-127"/>
                <a:ea typeface="Rix모던고딕 EB" panose="02020603020101020101" pitchFamily="18" charset="-127"/>
              </a:rPr>
              <a:t>특허법 강의노트</a:t>
            </a:r>
          </a:p>
        </p:txBody>
      </p:sp>
      <p:sp>
        <p:nvSpPr>
          <p:cNvPr id="3" name="제목 1">
            <a:extLst>
              <a:ext uri="{FF2B5EF4-FFF2-40B4-BE49-F238E27FC236}">
                <a16:creationId xmlns:a16="http://schemas.microsoft.com/office/drawing/2014/main" id="{86BABB91-6D4E-1D4F-1DD4-784FBA4C49DE}"/>
              </a:ext>
            </a:extLst>
          </p:cNvPr>
          <p:cNvSpPr txBox="1">
            <a:spLocks/>
          </p:cNvSpPr>
          <p:nvPr/>
        </p:nvSpPr>
        <p:spPr>
          <a:xfrm>
            <a:off x="2185246" y="3197545"/>
            <a:ext cx="6684682" cy="104455"/>
          </a:xfrm>
          <a:prstGeom prst="rect">
            <a:avLst/>
          </a:prstGeom>
          <a:solidFill>
            <a:schemeClr val="bg2">
              <a:lumMod val="90000"/>
            </a:schemeClr>
          </a:solidFill>
        </p:spPr>
        <p:txBody>
          <a:bodyPr vert="horz" lIns="540000" tIns="0" rIns="54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pPr algn="dist"/>
            <a:endParaRPr lang="ko-KR" altLang="en-US" sz="4000" dirty="0">
              <a:solidFill>
                <a:schemeClr val="accent4"/>
              </a:solidFill>
              <a:latin typeface="+mn-ea"/>
              <a:ea typeface="+mn-ea"/>
              <a:cs typeface="Tahoma" panose="020B0604030504040204" pitchFamily="34" charset="0"/>
            </a:endParaRPr>
          </a:p>
        </p:txBody>
      </p:sp>
      <p:sp>
        <p:nvSpPr>
          <p:cNvPr id="4" name="제목 1">
            <a:extLst>
              <a:ext uri="{FF2B5EF4-FFF2-40B4-BE49-F238E27FC236}">
                <a16:creationId xmlns:a16="http://schemas.microsoft.com/office/drawing/2014/main" id="{6F6DD042-4F55-1371-A493-62122B3FF1F2}"/>
              </a:ext>
            </a:extLst>
          </p:cNvPr>
          <p:cNvSpPr txBox="1">
            <a:spLocks/>
          </p:cNvSpPr>
          <p:nvPr/>
        </p:nvSpPr>
        <p:spPr>
          <a:xfrm>
            <a:off x="4565375" y="4873198"/>
            <a:ext cx="1954306" cy="649061"/>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r>
              <a:rPr lang="en-US" altLang="ko-KR" sz="3600" dirty="0">
                <a:solidFill>
                  <a:schemeClr val="tx1">
                    <a:lumMod val="50000"/>
                    <a:lumOff val="50000"/>
                  </a:schemeClr>
                </a:solidFill>
                <a:latin typeface="Rix모던고딕 EB" panose="02020603020101020101" pitchFamily="18" charset="-127"/>
                <a:ea typeface="Rix모던고딕 EB" panose="02020603020101020101" pitchFamily="18" charset="-127"/>
              </a:rPr>
              <a:t>2026</a:t>
            </a:r>
            <a:endParaRPr lang="ko-KR" altLang="en-US" sz="3600" dirty="0">
              <a:solidFill>
                <a:schemeClr val="tx1">
                  <a:lumMod val="50000"/>
                  <a:lumOff val="50000"/>
                </a:schemeClr>
              </a:solidFill>
              <a:latin typeface="Rix모던고딕 EB" panose="02020603020101020101" pitchFamily="18" charset="-127"/>
              <a:ea typeface="Rix모던고딕 EB" panose="02020603020101020101" pitchFamily="18" charset="-127"/>
            </a:endParaRPr>
          </a:p>
        </p:txBody>
      </p:sp>
      <p:sp>
        <p:nvSpPr>
          <p:cNvPr id="5" name="제목 1">
            <a:extLst>
              <a:ext uri="{FF2B5EF4-FFF2-40B4-BE49-F238E27FC236}">
                <a16:creationId xmlns:a16="http://schemas.microsoft.com/office/drawing/2014/main" id="{D23BDEEB-E4D2-612B-4614-CE527DE517E5}"/>
              </a:ext>
            </a:extLst>
          </p:cNvPr>
          <p:cNvSpPr txBox="1">
            <a:spLocks/>
          </p:cNvSpPr>
          <p:nvPr/>
        </p:nvSpPr>
        <p:spPr>
          <a:xfrm>
            <a:off x="2185246" y="3467433"/>
            <a:ext cx="6684682" cy="545768"/>
          </a:xfrm>
          <a:prstGeom prst="roundRect">
            <a:avLst>
              <a:gd name="adj" fmla="val 50000"/>
            </a:avLst>
          </a:prstGeom>
          <a:solidFill>
            <a:schemeClr val="accent4"/>
          </a:solidFill>
        </p:spPr>
        <p:txBody>
          <a:bodyPr vert="horz" lIns="0" tIns="0" rIns="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r>
              <a:rPr lang="en-US" altLang="ko-KR" sz="2800" dirty="0" err="1">
                <a:solidFill>
                  <a:schemeClr val="bg1"/>
                </a:solidFill>
                <a:latin typeface="Rix모던고딕 EB" panose="02020603020101020101" pitchFamily="18" charset="-127"/>
                <a:ea typeface="Rix모던고딕 EB" panose="02020603020101020101" pitchFamily="18" charset="-127"/>
              </a:rPr>
              <a:t>Yim</a:t>
            </a:r>
            <a:r>
              <a:rPr lang="en-US" altLang="ko-KR" sz="2800" dirty="0">
                <a:solidFill>
                  <a:schemeClr val="bg1"/>
                </a:solidFill>
                <a:latin typeface="Rix모던고딕 EB" panose="02020603020101020101" pitchFamily="18" charset="-127"/>
                <a:ea typeface="Rix모던고딕 EB" panose="02020603020101020101" pitchFamily="18" charset="-127"/>
              </a:rPr>
              <a:t>, </a:t>
            </a:r>
            <a:r>
              <a:rPr lang="en-US" altLang="ko-KR" sz="2800" dirty="0" err="1">
                <a:solidFill>
                  <a:schemeClr val="bg1"/>
                </a:solidFill>
                <a:latin typeface="Rix모던고딕 EB" panose="02020603020101020101" pitchFamily="18" charset="-127"/>
                <a:ea typeface="Rix모던고딕 EB" panose="02020603020101020101" pitchFamily="18" charset="-127"/>
              </a:rPr>
              <a:t>Byung-Woong</a:t>
            </a:r>
            <a:r>
              <a:rPr lang="en-US" altLang="ko-KR" sz="2800" dirty="0">
                <a:solidFill>
                  <a:schemeClr val="bg1"/>
                </a:solidFill>
                <a:latin typeface="Rix모던고딕 EB" panose="02020603020101020101" pitchFamily="18" charset="-127"/>
                <a:ea typeface="Rix모던고딕 EB" panose="02020603020101020101" pitchFamily="18" charset="-127"/>
              </a:rPr>
              <a:t> All Rights Reserved.</a:t>
            </a:r>
            <a:endParaRPr lang="ko-KR" altLang="en-US" sz="2800" dirty="0">
              <a:solidFill>
                <a:schemeClr val="bg1"/>
              </a:solidFill>
              <a:latin typeface="Rix모던고딕 EB" panose="02020603020101020101" pitchFamily="18" charset="-127"/>
              <a:ea typeface="Rix모던고딕 EB" panose="02020603020101020101" pitchFamily="18" charset="-127"/>
            </a:endParaRPr>
          </a:p>
        </p:txBody>
      </p:sp>
    </p:spTree>
    <p:extLst>
      <p:ext uri="{BB962C8B-B14F-4D97-AF65-F5344CB8AC3E}">
        <p14:creationId xmlns:p14="http://schemas.microsoft.com/office/powerpoint/2010/main" val="393818937"/>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711347806"/>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r>
              <a:rPr lang="en-US" altLang="ko-KR"/>
              <a:t>287</a:t>
            </a:r>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6" name="직사각형 5"/>
          <p:cNvSpPr/>
          <p:nvPr/>
        </p:nvSpPr>
        <p:spPr>
          <a:xfrm>
            <a:off x="1244284" y="2152137"/>
            <a:ext cx="552862" cy="498328"/>
          </a:xfrm>
          <a:prstGeom prst="rect">
            <a:avLst/>
          </a:prstGeom>
          <a:ln w="6350"/>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t>총칙</a:t>
            </a:r>
            <a:r>
              <a:rPr lang="en-US" altLang="ko-KR" sz="1200" dirty="0"/>
              <a:t>/</a:t>
            </a:r>
          </a:p>
          <a:p>
            <a:pPr algn="ctr"/>
            <a:r>
              <a:rPr lang="ko-KR" altLang="en-US" sz="1200" dirty="0" err="1"/>
              <a:t>보칙</a:t>
            </a:r>
            <a:endParaRPr lang="ko-KR" altLang="en-US" sz="1200" dirty="0"/>
          </a:p>
        </p:txBody>
      </p:sp>
      <p:sp>
        <p:nvSpPr>
          <p:cNvPr id="7" name="직사각형 6"/>
          <p:cNvSpPr/>
          <p:nvPr/>
        </p:nvSpPr>
        <p:spPr>
          <a:xfrm>
            <a:off x="2118397" y="99429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목적</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a:t>
            </a:r>
            <a:endParaRPr lang="ko-KR" altLang="en-US" sz="1000" dirty="0">
              <a:solidFill>
                <a:schemeClr val="tx1"/>
              </a:solidFill>
            </a:endParaRPr>
          </a:p>
        </p:txBody>
      </p:sp>
      <p:sp>
        <p:nvSpPr>
          <p:cNvPr id="8" name="직사각형 7"/>
          <p:cNvSpPr/>
          <p:nvPr/>
        </p:nvSpPr>
        <p:spPr>
          <a:xfrm>
            <a:off x="2118397" y="12362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a:t>
            </a:r>
            <a:endParaRPr lang="ko-KR" altLang="en-US" sz="1000" dirty="0">
              <a:solidFill>
                <a:schemeClr val="tx1"/>
              </a:solidFill>
            </a:endParaRPr>
          </a:p>
        </p:txBody>
      </p:sp>
      <p:sp>
        <p:nvSpPr>
          <p:cNvPr id="9" name="직사각형 8"/>
          <p:cNvSpPr/>
          <p:nvPr/>
        </p:nvSpPr>
        <p:spPr>
          <a:xfrm>
            <a:off x="2118397" y="1471128"/>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행위능력</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3~5①)</a:t>
            </a:r>
            <a:endParaRPr lang="ko-KR" altLang="en-US" sz="1000" dirty="0">
              <a:solidFill>
                <a:schemeClr val="tx1"/>
              </a:solidFill>
            </a:endParaRPr>
          </a:p>
        </p:txBody>
      </p:sp>
      <p:sp>
        <p:nvSpPr>
          <p:cNvPr id="10" name="직사각형 9"/>
          <p:cNvSpPr/>
          <p:nvPr/>
        </p:nvSpPr>
        <p:spPr>
          <a:xfrm>
            <a:off x="2118397" y="1713120"/>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대리인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3②, 5②~10, 12)</a:t>
            </a:r>
            <a:endParaRPr lang="ko-KR" altLang="en-US" sz="1000" dirty="0">
              <a:solidFill>
                <a:schemeClr val="tx1"/>
              </a:solidFill>
            </a:endParaRPr>
          </a:p>
        </p:txBody>
      </p:sp>
      <p:sp>
        <p:nvSpPr>
          <p:cNvPr id="11" name="직사각형 10"/>
          <p:cNvSpPr/>
          <p:nvPr/>
        </p:nvSpPr>
        <p:spPr>
          <a:xfrm>
            <a:off x="2118397" y="1945643"/>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복수당사자 대표</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11)</a:t>
            </a:r>
            <a:endParaRPr lang="ko-KR" altLang="en-US" sz="1000" dirty="0">
              <a:solidFill>
                <a:schemeClr val="tx1"/>
              </a:solidFill>
            </a:endParaRPr>
          </a:p>
        </p:txBody>
      </p:sp>
      <p:sp>
        <p:nvSpPr>
          <p:cNvPr id="12" name="직사각형 11"/>
          <p:cNvSpPr/>
          <p:nvPr/>
        </p:nvSpPr>
        <p:spPr>
          <a:xfrm>
            <a:off x="2118397" y="218763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err="1">
                <a:solidFill>
                  <a:schemeClr val="tx1"/>
                </a:solidFill>
              </a:rPr>
              <a:t>재외자의</a:t>
            </a:r>
            <a:r>
              <a:rPr lang="ko-KR" altLang="en-US" sz="1000" dirty="0">
                <a:solidFill>
                  <a:schemeClr val="tx1"/>
                </a:solidFill>
              </a:rPr>
              <a:t> 재판관할</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13)</a:t>
            </a:r>
            <a:endParaRPr lang="ko-KR" altLang="en-US" sz="1000" dirty="0">
              <a:solidFill>
                <a:schemeClr val="tx1"/>
              </a:solidFill>
            </a:endParaRPr>
          </a:p>
        </p:txBody>
      </p:sp>
      <p:sp>
        <p:nvSpPr>
          <p:cNvPr id="13" name="직사각형 12"/>
          <p:cNvSpPr/>
          <p:nvPr/>
        </p:nvSpPr>
        <p:spPr>
          <a:xfrm>
            <a:off x="2118397" y="243841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기일과 기간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14, 15)</a:t>
            </a:r>
            <a:endParaRPr lang="ko-KR" altLang="en-US" sz="1000" dirty="0">
              <a:solidFill>
                <a:schemeClr val="tx1"/>
              </a:solidFill>
            </a:endParaRPr>
          </a:p>
        </p:txBody>
      </p:sp>
      <p:sp>
        <p:nvSpPr>
          <p:cNvPr id="14" name="직사각형 13"/>
          <p:cNvSpPr/>
          <p:nvPr/>
        </p:nvSpPr>
        <p:spPr>
          <a:xfrm>
            <a:off x="2118397" y="2670267"/>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특허에 관한 절차 일반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16, 28~28</a:t>
            </a:r>
            <a:r>
              <a:rPr lang="ko-KR" altLang="en-US" sz="1000" dirty="0">
                <a:solidFill>
                  <a:schemeClr val="tx1"/>
                </a:solidFill>
              </a:rPr>
              <a:t>의</a:t>
            </a:r>
            <a:r>
              <a:rPr lang="en-US" altLang="ko-KR" sz="1000" dirty="0">
                <a:solidFill>
                  <a:schemeClr val="tx1"/>
                </a:solidFill>
              </a:rPr>
              <a:t>5)</a:t>
            </a:r>
            <a:endParaRPr lang="ko-KR" altLang="en-US" sz="1000" dirty="0">
              <a:solidFill>
                <a:schemeClr val="tx1"/>
              </a:solidFill>
            </a:endParaRPr>
          </a:p>
        </p:txBody>
      </p:sp>
      <p:sp>
        <p:nvSpPr>
          <p:cNvPr id="15" name="직사각형 14"/>
          <p:cNvSpPr/>
          <p:nvPr/>
        </p:nvSpPr>
        <p:spPr>
          <a:xfrm>
            <a:off x="2118397" y="290844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추후보완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17, 67</a:t>
            </a:r>
            <a:r>
              <a:rPr lang="ko-KR" altLang="en-US" sz="1000" dirty="0">
                <a:solidFill>
                  <a:schemeClr val="tx1"/>
                </a:solidFill>
              </a:rPr>
              <a:t>의</a:t>
            </a:r>
            <a:r>
              <a:rPr lang="en-US" altLang="ko-KR" sz="1000">
                <a:solidFill>
                  <a:schemeClr val="tx1"/>
                </a:solidFill>
              </a:rPr>
              <a:t>3)</a:t>
            </a:r>
            <a:endParaRPr lang="ko-KR" altLang="en-US" sz="1000" dirty="0">
              <a:solidFill>
                <a:schemeClr val="tx1"/>
              </a:solidFill>
            </a:endParaRPr>
          </a:p>
        </p:txBody>
      </p:sp>
      <p:sp>
        <p:nvSpPr>
          <p:cNvPr id="16" name="직사각형 15"/>
          <p:cNvSpPr/>
          <p:nvPr/>
        </p:nvSpPr>
        <p:spPr>
          <a:xfrm>
            <a:off x="2118397" y="313988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절차의 효력의 승계 및 절차의 속행</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18, 19)</a:t>
            </a:r>
            <a:endParaRPr lang="ko-KR" altLang="en-US" sz="1000" dirty="0">
              <a:solidFill>
                <a:schemeClr val="tx1"/>
              </a:solidFill>
            </a:endParaRPr>
          </a:p>
        </p:txBody>
      </p:sp>
      <p:sp>
        <p:nvSpPr>
          <p:cNvPr id="17" name="직사각형 16"/>
          <p:cNvSpPr/>
          <p:nvPr/>
        </p:nvSpPr>
        <p:spPr>
          <a:xfrm>
            <a:off x="2118397" y="337173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절차의 정지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20~24, 78, 164)</a:t>
            </a:r>
            <a:endParaRPr lang="ko-KR" altLang="en-US" sz="1000" dirty="0">
              <a:solidFill>
                <a:schemeClr val="tx1"/>
              </a:solidFill>
            </a:endParaRPr>
          </a:p>
        </p:txBody>
      </p:sp>
      <p:cxnSp>
        <p:nvCxnSpPr>
          <p:cNvPr id="18" name="꺾인 연결선 17"/>
          <p:cNvCxnSpPr>
            <a:cxnSpLocks/>
            <a:stCxn id="6" idx="3"/>
            <a:endCxn id="7" idx="1"/>
          </p:cNvCxnSpPr>
          <p:nvPr/>
        </p:nvCxnSpPr>
        <p:spPr>
          <a:xfrm flipV="1">
            <a:off x="1797146" y="1085041"/>
            <a:ext cx="321251" cy="131626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cxnSpLocks/>
            <a:stCxn id="6" idx="3"/>
            <a:endCxn id="17" idx="1"/>
          </p:cNvCxnSpPr>
          <p:nvPr/>
        </p:nvCxnSpPr>
        <p:spPr>
          <a:xfrm>
            <a:off x="1797146" y="2401301"/>
            <a:ext cx="321251" cy="106118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cxnSpLocks/>
            <a:stCxn id="6" idx="3"/>
            <a:endCxn id="8" idx="1"/>
          </p:cNvCxnSpPr>
          <p:nvPr/>
        </p:nvCxnSpPr>
        <p:spPr>
          <a:xfrm flipV="1">
            <a:off x="1797146" y="1327033"/>
            <a:ext cx="321251" cy="107426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cxnSpLocks/>
            <a:stCxn id="6" idx="3"/>
            <a:endCxn id="9" idx="1"/>
          </p:cNvCxnSpPr>
          <p:nvPr/>
        </p:nvCxnSpPr>
        <p:spPr>
          <a:xfrm flipV="1">
            <a:off x="1797146" y="1561875"/>
            <a:ext cx="321251" cy="8394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꺾인 연결선 21"/>
          <p:cNvCxnSpPr>
            <a:cxnSpLocks/>
            <a:stCxn id="6" idx="3"/>
            <a:endCxn id="13" idx="1"/>
          </p:cNvCxnSpPr>
          <p:nvPr/>
        </p:nvCxnSpPr>
        <p:spPr>
          <a:xfrm>
            <a:off x="1797146" y="2401301"/>
            <a:ext cx="321251" cy="12786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cxnSpLocks/>
            <a:stCxn id="6" idx="3"/>
            <a:endCxn id="14" idx="1"/>
          </p:cNvCxnSpPr>
          <p:nvPr/>
        </p:nvCxnSpPr>
        <p:spPr>
          <a:xfrm>
            <a:off x="1797146" y="2401301"/>
            <a:ext cx="321251" cy="35971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cxnSpLocks/>
            <a:stCxn id="6" idx="3"/>
            <a:endCxn id="15" idx="1"/>
          </p:cNvCxnSpPr>
          <p:nvPr/>
        </p:nvCxnSpPr>
        <p:spPr>
          <a:xfrm>
            <a:off x="1797146" y="2401301"/>
            <a:ext cx="321251" cy="5978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cxnSpLocks/>
            <a:stCxn id="6" idx="3"/>
            <a:endCxn id="16" idx="1"/>
          </p:cNvCxnSpPr>
          <p:nvPr/>
        </p:nvCxnSpPr>
        <p:spPr>
          <a:xfrm>
            <a:off x="1797146" y="2401301"/>
            <a:ext cx="321251" cy="82933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cxnSpLocks/>
            <a:stCxn id="6" idx="3"/>
            <a:endCxn id="10" idx="1"/>
          </p:cNvCxnSpPr>
          <p:nvPr/>
        </p:nvCxnSpPr>
        <p:spPr>
          <a:xfrm flipV="1">
            <a:off x="1797146" y="1803867"/>
            <a:ext cx="321251" cy="59743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cxnSpLocks/>
            <a:stCxn id="6" idx="3"/>
            <a:endCxn id="11" idx="1"/>
          </p:cNvCxnSpPr>
          <p:nvPr/>
        </p:nvCxnSpPr>
        <p:spPr>
          <a:xfrm flipV="1">
            <a:off x="1797146" y="2036390"/>
            <a:ext cx="321251" cy="36491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cxnSpLocks/>
            <a:stCxn id="6" idx="3"/>
            <a:endCxn id="12" idx="1"/>
          </p:cNvCxnSpPr>
          <p:nvPr/>
        </p:nvCxnSpPr>
        <p:spPr>
          <a:xfrm flipV="1">
            <a:off x="1797146" y="2278382"/>
            <a:ext cx="321251" cy="122919"/>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 name="그룹 28"/>
          <p:cNvGrpSpPr/>
          <p:nvPr/>
        </p:nvGrpSpPr>
        <p:grpSpPr>
          <a:xfrm>
            <a:off x="6536267" y="1171792"/>
            <a:ext cx="4444979" cy="2279356"/>
            <a:chOff x="3987793" y="1037128"/>
            <a:chExt cx="3733785" cy="1752532"/>
          </a:xfrm>
        </p:grpSpPr>
        <p:sp>
          <p:nvSpPr>
            <p:cNvPr id="30" name="직사각형 29"/>
            <p:cNvSpPr/>
            <p:nvPr/>
          </p:nvSpPr>
          <p:spPr>
            <a:xfrm>
              <a:off x="3987793" y="1888138"/>
              <a:ext cx="398311" cy="385993"/>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특허</a:t>
              </a:r>
              <a:endParaRPr lang="en-US" altLang="ko-KR" sz="1200" dirty="0"/>
            </a:p>
            <a:p>
              <a:pPr algn="ctr"/>
              <a:r>
                <a:rPr lang="ko-KR" altLang="en-US" sz="1200" dirty="0"/>
                <a:t>요건</a:t>
              </a:r>
            </a:p>
          </p:txBody>
        </p:sp>
        <p:sp>
          <p:nvSpPr>
            <p:cNvPr id="31" name="직사각형 30"/>
            <p:cNvSpPr/>
            <p:nvPr/>
          </p:nvSpPr>
          <p:spPr>
            <a:xfrm>
              <a:off x="4546567" y="160536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없는 발명</a:t>
              </a:r>
            </a:p>
          </p:txBody>
        </p:sp>
        <p:sp>
          <p:nvSpPr>
            <p:cNvPr id="32" name="직사각형 31"/>
            <p:cNvSpPr/>
            <p:nvPr/>
          </p:nvSpPr>
          <p:spPr>
            <a:xfrm>
              <a:off x="4546568" y="1990474"/>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자</a:t>
              </a:r>
            </a:p>
          </p:txBody>
        </p:sp>
        <p:sp>
          <p:nvSpPr>
            <p:cNvPr id="33" name="직사각형 32"/>
            <p:cNvSpPr/>
            <p:nvPr/>
          </p:nvSpPr>
          <p:spPr>
            <a:xfrm>
              <a:off x="4546567" y="120511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발명</a:t>
              </a:r>
            </a:p>
          </p:txBody>
        </p:sp>
        <p:sp>
          <p:nvSpPr>
            <p:cNvPr id="34" name="직사각형 33"/>
            <p:cNvSpPr/>
            <p:nvPr/>
          </p:nvSpPr>
          <p:spPr>
            <a:xfrm>
              <a:off x="4546568" y="2378317"/>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출원</a:t>
              </a:r>
            </a:p>
          </p:txBody>
        </p:sp>
        <p:grpSp>
          <p:nvGrpSpPr>
            <p:cNvPr id="35" name="그룹 34"/>
            <p:cNvGrpSpPr/>
            <p:nvPr/>
          </p:nvGrpSpPr>
          <p:grpSpPr>
            <a:xfrm>
              <a:off x="5713090" y="1037128"/>
              <a:ext cx="2008488" cy="1752532"/>
              <a:chOff x="9836379" y="3177270"/>
              <a:chExt cx="2251744" cy="1752532"/>
            </a:xfrm>
            <a:solidFill>
              <a:schemeClr val="accent1">
                <a:lumMod val="20000"/>
                <a:lumOff val="80000"/>
              </a:schemeClr>
            </a:solidFill>
          </p:grpSpPr>
          <p:sp>
            <p:nvSpPr>
              <p:cNvPr id="49" name="직사각형 48"/>
              <p:cNvSpPr/>
              <p:nvPr/>
            </p:nvSpPr>
            <p:spPr>
              <a:xfrm>
                <a:off x="9836379" y="317727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협의의 특허요건</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29)</a:t>
                </a:r>
                <a:endParaRPr lang="ko-KR" altLang="en-US" sz="1000" dirty="0">
                  <a:solidFill>
                    <a:schemeClr val="tx1"/>
                  </a:solidFill>
                </a:endParaRPr>
              </a:p>
            </p:txBody>
          </p:sp>
          <p:sp>
            <p:nvSpPr>
              <p:cNvPr id="50" name="직사각형 49"/>
              <p:cNvSpPr/>
              <p:nvPr/>
            </p:nvSpPr>
            <p:spPr>
              <a:xfrm>
                <a:off x="9836379" y="338513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선출원주의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36)</a:t>
                </a:r>
                <a:endParaRPr lang="ko-KR" altLang="en-US" sz="1000" dirty="0">
                  <a:solidFill>
                    <a:schemeClr val="tx1"/>
                  </a:solidFill>
                </a:endParaRPr>
              </a:p>
            </p:txBody>
          </p:sp>
          <p:sp>
            <p:nvSpPr>
              <p:cNvPr id="51" name="직사각형 50"/>
              <p:cNvSpPr/>
              <p:nvPr/>
            </p:nvSpPr>
            <p:spPr>
              <a:xfrm>
                <a:off x="9836379" y="357434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불특허발명</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32)</a:t>
                </a:r>
                <a:endParaRPr lang="ko-KR" altLang="en-US" sz="1000" dirty="0">
                  <a:solidFill>
                    <a:schemeClr val="tx1"/>
                  </a:solidFill>
                </a:endParaRPr>
              </a:p>
            </p:txBody>
          </p:sp>
          <p:sp>
            <p:nvSpPr>
              <p:cNvPr id="52" name="직사각형 51"/>
              <p:cNvSpPr/>
              <p:nvPr/>
            </p:nvSpPr>
            <p:spPr>
              <a:xfrm>
                <a:off x="9836379" y="378220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국방상 필요한 발명</a:t>
                </a:r>
                <a:r>
                  <a:rPr lang="en-US" altLang="ko-KR" sz="1000" dirty="0">
                    <a:solidFill>
                      <a:schemeClr val="tx1"/>
                    </a:solidFill>
                  </a:rPr>
                  <a:t>(</a:t>
                </a:r>
                <a:r>
                  <a:rPr lang="ko-KR" altLang="en-US" sz="1000" dirty="0">
                    <a:solidFill>
                      <a:schemeClr val="tx1"/>
                    </a:solidFill>
                  </a:rPr>
                  <a:t>法</a:t>
                </a:r>
                <a:r>
                  <a:rPr lang="en-US" altLang="ko-KR" sz="1000" dirty="0">
                    <a:solidFill>
                      <a:schemeClr val="tx1"/>
                    </a:solidFill>
                  </a:rPr>
                  <a:t> 41, 106)</a:t>
                </a:r>
                <a:endParaRPr lang="ko-KR" altLang="en-US" sz="1000" dirty="0">
                  <a:solidFill>
                    <a:schemeClr val="tx1"/>
                  </a:solidFill>
                </a:endParaRPr>
              </a:p>
            </p:txBody>
          </p:sp>
          <p:sp>
            <p:nvSpPr>
              <p:cNvPr id="53" name="직사각형 52"/>
              <p:cNvSpPr/>
              <p:nvPr/>
            </p:nvSpPr>
            <p:spPr>
              <a:xfrm>
                <a:off x="9836379" y="3969271"/>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출원인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25, 33, 44)</a:t>
                </a:r>
                <a:endParaRPr lang="ko-KR" altLang="en-US" sz="1000" dirty="0">
                  <a:solidFill>
                    <a:schemeClr val="tx1"/>
                  </a:solidFill>
                </a:endParaRPr>
              </a:p>
            </p:txBody>
          </p:sp>
          <p:sp>
            <p:nvSpPr>
              <p:cNvPr id="54" name="직사각형 53"/>
              <p:cNvSpPr/>
              <p:nvPr/>
            </p:nvSpPr>
            <p:spPr>
              <a:xfrm>
                <a:off x="9836379" y="4160199"/>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있는 권리</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37, 38)</a:t>
                </a:r>
                <a:endParaRPr lang="ko-KR" altLang="en-US" sz="1000" dirty="0">
                  <a:solidFill>
                    <a:schemeClr val="tx1"/>
                  </a:solidFill>
                </a:endParaRPr>
              </a:p>
            </p:txBody>
          </p:sp>
          <p:sp>
            <p:nvSpPr>
              <p:cNvPr id="55" name="직사각형 54"/>
              <p:cNvSpPr/>
              <p:nvPr/>
            </p:nvSpPr>
            <p:spPr>
              <a:xfrm>
                <a:off x="9836379" y="435867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직무발명</a:t>
                </a:r>
                <a:r>
                  <a:rPr lang="en-US" altLang="ko-KR" sz="1000" dirty="0">
                    <a:solidFill>
                      <a:schemeClr val="tx1"/>
                    </a:solidFill>
                  </a:rPr>
                  <a:t>(</a:t>
                </a:r>
                <a:r>
                  <a:rPr lang="ko-KR" altLang="en-US" sz="1000" dirty="0" err="1">
                    <a:solidFill>
                      <a:schemeClr val="tx1"/>
                    </a:solidFill>
                  </a:rPr>
                  <a:t>발진법</a:t>
                </a:r>
                <a:r>
                  <a:rPr lang="ko-KR" altLang="en-US" sz="1000" dirty="0">
                    <a:solidFill>
                      <a:schemeClr val="tx1"/>
                    </a:solidFill>
                  </a:rPr>
                  <a:t> </a:t>
                </a:r>
                <a:r>
                  <a:rPr lang="en-US" altLang="ko-KR" sz="1000" dirty="0">
                    <a:solidFill>
                      <a:schemeClr val="tx1"/>
                    </a:solidFill>
                  </a:rPr>
                  <a:t>2, 10~19, 58)</a:t>
                </a:r>
                <a:endParaRPr lang="ko-KR" altLang="en-US" sz="1000" dirty="0">
                  <a:solidFill>
                    <a:schemeClr val="tx1"/>
                  </a:solidFill>
                </a:endParaRPr>
              </a:p>
            </p:txBody>
          </p:sp>
          <p:sp>
            <p:nvSpPr>
              <p:cNvPr id="56" name="직사각형 55"/>
              <p:cNvSpPr/>
              <p:nvPr/>
            </p:nvSpPr>
            <p:spPr>
              <a:xfrm>
                <a:off x="9836379" y="4558495"/>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42~42</a:t>
                </a:r>
                <a:r>
                  <a:rPr lang="ko-KR" altLang="en-US" sz="1000" dirty="0">
                    <a:solidFill>
                      <a:schemeClr val="tx1"/>
                    </a:solidFill>
                  </a:rPr>
                  <a:t>의</a:t>
                </a:r>
                <a:r>
                  <a:rPr lang="en-US" altLang="ko-KR" sz="1000" dirty="0">
                    <a:solidFill>
                      <a:schemeClr val="tx1"/>
                    </a:solidFill>
                  </a:rPr>
                  <a:t>3, 43)</a:t>
                </a:r>
                <a:endParaRPr lang="ko-KR" altLang="en-US" sz="1000" dirty="0">
                  <a:solidFill>
                    <a:schemeClr val="tx1"/>
                  </a:solidFill>
                </a:endParaRPr>
              </a:p>
            </p:txBody>
          </p:sp>
          <p:sp>
            <p:nvSpPr>
              <p:cNvPr id="57" name="직사각형 56"/>
              <p:cNvSpPr/>
              <p:nvPr/>
            </p:nvSpPr>
            <p:spPr>
              <a:xfrm>
                <a:off x="9836379" y="477390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하나의 특허출원의 범위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45)</a:t>
                </a:r>
                <a:endParaRPr lang="ko-KR" altLang="en-US" sz="1000" dirty="0">
                  <a:solidFill>
                    <a:schemeClr val="tx1"/>
                  </a:solidFill>
                </a:endParaRPr>
              </a:p>
            </p:txBody>
          </p:sp>
        </p:grpSp>
        <p:cxnSp>
          <p:nvCxnSpPr>
            <p:cNvPr id="36" name="꺾인 연결선 35"/>
            <p:cNvCxnSpPr>
              <a:stCxn id="30" idx="3"/>
              <a:endCxn id="33" idx="1"/>
            </p:cNvCxnSpPr>
            <p:nvPr/>
          </p:nvCxnSpPr>
          <p:spPr>
            <a:xfrm flipV="1">
              <a:off x="4386104" y="1374002"/>
              <a:ext cx="160463" cy="70713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30" idx="3"/>
              <a:endCxn id="34" idx="1"/>
            </p:cNvCxnSpPr>
            <p:nvPr/>
          </p:nvCxnSpPr>
          <p:spPr>
            <a:xfrm>
              <a:off x="4386104" y="2081135"/>
              <a:ext cx="160464" cy="46607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30" idx="3"/>
              <a:endCxn id="31" idx="1"/>
            </p:cNvCxnSpPr>
            <p:nvPr/>
          </p:nvCxnSpPr>
          <p:spPr>
            <a:xfrm flipV="1">
              <a:off x="4386104" y="1774252"/>
              <a:ext cx="160463" cy="30688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30" idx="3"/>
              <a:endCxn id="32" idx="1"/>
            </p:cNvCxnSpPr>
            <p:nvPr/>
          </p:nvCxnSpPr>
          <p:spPr>
            <a:xfrm>
              <a:off x="4386104" y="2081135"/>
              <a:ext cx="160464" cy="7822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33" idx="3"/>
              <a:endCxn id="49" idx="1"/>
            </p:cNvCxnSpPr>
            <p:nvPr/>
          </p:nvCxnSpPr>
          <p:spPr>
            <a:xfrm flipV="1">
              <a:off x="5496870" y="1115076"/>
              <a:ext cx="216220" cy="2589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33" idx="3"/>
              <a:endCxn id="50" idx="1"/>
            </p:cNvCxnSpPr>
            <p:nvPr/>
          </p:nvCxnSpPr>
          <p:spPr>
            <a:xfrm flipV="1">
              <a:off x="5496870" y="1322938"/>
              <a:ext cx="216220" cy="5106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31" idx="3"/>
              <a:endCxn id="51" idx="1"/>
            </p:cNvCxnSpPr>
            <p:nvPr/>
          </p:nvCxnSpPr>
          <p:spPr>
            <a:xfrm flipV="1">
              <a:off x="5496870" y="1512146"/>
              <a:ext cx="216220" cy="26210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31" idx="3"/>
              <a:endCxn id="52" idx="1"/>
            </p:cNvCxnSpPr>
            <p:nvPr/>
          </p:nvCxnSpPr>
          <p:spPr>
            <a:xfrm flipV="1">
              <a:off x="5496870" y="1720008"/>
              <a:ext cx="216220" cy="5424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32" idx="3"/>
              <a:endCxn id="53" idx="1"/>
            </p:cNvCxnSpPr>
            <p:nvPr/>
          </p:nvCxnSpPr>
          <p:spPr>
            <a:xfrm flipV="1">
              <a:off x="5496870" y="1907077"/>
              <a:ext cx="216220" cy="25228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32" idx="3"/>
              <a:endCxn id="54" idx="1"/>
            </p:cNvCxnSpPr>
            <p:nvPr/>
          </p:nvCxnSpPr>
          <p:spPr>
            <a:xfrm flipV="1">
              <a:off x="5496870" y="2098005"/>
              <a:ext cx="216220" cy="613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32" idx="3"/>
              <a:endCxn id="55" idx="1"/>
            </p:cNvCxnSpPr>
            <p:nvPr/>
          </p:nvCxnSpPr>
          <p:spPr>
            <a:xfrm>
              <a:off x="5496870" y="2159362"/>
              <a:ext cx="216220" cy="13712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34" idx="3"/>
              <a:endCxn id="56" idx="1"/>
            </p:cNvCxnSpPr>
            <p:nvPr/>
          </p:nvCxnSpPr>
          <p:spPr>
            <a:xfrm flipV="1">
              <a:off x="5496870" y="2496301"/>
              <a:ext cx="216220" cy="5090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34" idx="3"/>
              <a:endCxn id="57" idx="1"/>
            </p:cNvCxnSpPr>
            <p:nvPr/>
          </p:nvCxnSpPr>
          <p:spPr>
            <a:xfrm>
              <a:off x="5496870" y="2547205"/>
              <a:ext cx="216220" cy="16450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9" name="직사각형 58"/>
          <p:cNvSpPr/>
          <p:nvPr/>
        </p:nvSpPr>
        <p:spPr>
          <a:xfrm>
            <a:off x="906097" y="4898289"/>
            <a:ext cx="472526" cy="503727"/>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이익</a:t>
            </a:r>
            <a:endParaRPr lang="en-US" altLang="ko-KR" sz="1200" dirty="0"/>
          </a:p>
          <a:p>
            <a:pPr algn="ctr"/>
            <a:r>
              <a:rPr lang="ko-KR" altLang="en-US" sz="1200" dirty="0"/>
              <a:t>제도</a:t>
            </a:r>
          </a:p>
        </p:txBody>
      </p:sp>
      <p:sp>
        <p:nvSpPr>
          <p:cNvPr id="72" name="직사각형 71"/>
          <p:cNvSpPr/>
          <p:nvPr/>
        </p:nvSpPr>
        <p:spPr>
          <a:xfrm>
            <a:off x="2487992" y="422619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공지예외적용주장출원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30)</a:t>
            </a:r>
            <a:endParaRPr lang="ko-KR" altLang="en-US" sz="1000" dirty="0">
              <a:solidFill>
                <a:schemeClr val="tx1"/>
              </a:solidFill>
            </a:endParaRPr>
          </a:p>
        </p:txBody>
      </p:sp>
      <p:sp>
        <p:nvSpPr>
          <p:cNvPr id="73" name="직사각형 72"/>
          <p:cNvSpPr/>
          <p:nvPr/>
        </p:nvSpPr>
        <p:spPr>
          <a:xfrm>
            <a:off x="2487992" y="4599179"/>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정당한 권리자의 보호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34, 35, 99</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74" name="직사각형 73"/>
          <p:cNvSpPr/>
          <p:nvPr/>
        </p:nvSpPr>
        <p:spPr>
          <a:xfrm>
            <a:off x="2487992" y="48704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보정</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46, 47, 51)</a:t>
            </a:r>
            <a:endParaRPr lang="ko-KR" altLang="en-US" sz="1000" dirty="0">
              <a:solidFill>
                <a:schemeClr val="tx1"/>
              </a:solidFill>
            </a:endParaRPr>
          </a:p>
        </p:txBody>
      </p:sp>
      <p:sp>
        <p:nvSpPr>
          <p:cNvPr id="75" name="직사각형 74"/>
          <p:cNvSpPr/>
          <p:nvPr/>
        </p:nvSpPr>
        <p:spPr>
          <a:xfrm>
            <a:off x="2487992" y="5446506"/>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분리출원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52</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76" name="직사각형 75"/>
          <p:cNvSpPr/>
          <p:nvPr/>
        </p:nvSpPr>
        <p:spPr>
          <a:xfrm>
            <a:off x="2487992" y="571777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변경출원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53)</a:t>
            </a:r>
            <a:endParaRPr lang="ko-KR" altLang="en-US" sz="1000" dirty="0">
              <a:solidFill>
                <a:schemeClr val="tx1"/>
              </a:solidFill>
            </a:endParaRPr>
          </a:p>
        </p:txBody>
      </p:sp>
      <p:sp>
        <p:nvSpPr>
          <p:cNvPr id="77" name="직사각형 76"/>
          <p:cNvSpPr/>
          <p:nvPr/>
        </p:nvSpPr>
        <p:spPr>
          <a:xfrm>
            <a:off x="2487992" y="60229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조약우선권주장출원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54)</a:t>
            </a:r>
            <a:endParaRPr lang="ko-KR" altLang="en-US" sz="1000" dirty="0">
              <a:solidFill>
                <a:schemeClr val="tx1"/>
              </a:solidFill>
            </a:endParaRPr>
          </a:p>
        </p:txBody>
      </p:sp>
      <p:sp>
        <p:nvSpPr>
          <p:cNvPr id="78" name="직사각형 77"/>
          <p:cNvSpPr/>
          <p:nvPr/>
        </p:nvSpPr>
        <p:spPr>
          <a:xfrm>
            <a:off x="2487992" y="6294208"/>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국내우선권주장출원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55, 56)</a:t>
            </a:r>
            <a:endParaRPr lang="ko-KR" altLang="en-US" sz="1000" dirty="0">
              <a:solidFill>
                <a:schemeClr val="tx1"/>
              </a:solidFill>
            </a:endParaRPr>
          </a:p>
        </p:txBody>
      </p:sp>
      <p:sp>
        <p:nvSpPr>
          <p:cNvPr id="61" name="직사각형 60"/>
          <p:cNvSpPr/>
          <p:nvPr/>
        </p:nvSpPr>
        <p:spPr>
          <a:xfrm>
            <a:off x="1519197" y="5145136"/>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출원일</a:t>
            </a:r>
            <a:endParaRPr lang="en-US" altLang="ko-KR" sz="1000" dirty="0">
              <a:solidFill>
                <a:schemeClr val="tx1"/>
              </a:solidFill>
            </a:endParaRPr>
          </a:p>
          <a:p>
            <a:pPr algn="ctr"/>
            <a:r>
              <a:rPr lang="ko-KR" altLang="en-US" sz="1000" dirty="0">
                <a:solidFill>
                  <a:schemeClr val="tx1"/>
                </a:solidFill>
              </a:rPr>
              <a:t>소급제도</a:t>
            </a:r>
          </a:p>
        </p:txBody>
      </p:sp>
      <p:sp>
        <p:nvSpPr>
          <p:cNvPr id="62" name="직사각형 61"/>
          <p:cNvSpPr/>
          <p:nvPr/>
        </p:nvSpPr>
        <p:spPr>
          <a:xfrm>
            <a:off x="1519197" y="6056851"/>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판단시점</a:t>
            </a:r>
            <a:endParaRPr lang="en-US" altLang="ko-KR" sz="1000" dirty="0">
              <a:solidFill>
                <a:schemeClr val="tx1"/>
              </a:solidFill>
            </a:endParaRPr>
          </a:p>
          <a:p>
            <a:pPr algn="ctr"/>
            <a:r>
              <a:rPr lang="ko-KR" altLang="en-US" sz="1000">
                <a:solidFill>
                  <a:schemeClr val="tx1"/>
                </a:solidFill>
              </a:rPr>
              <a:t>소급제도</a:t>
            </a:r>
            <a:endParaRPr lang="ko-KR" altLang="en-US" sz="1000" dirty="0">
              <a:solidFill>
                <a:schemeClr val="tx1"/>
              </a:solidFill>
            </a:endParaRPr>
          </a:p>
        </p:txBody>
      </p:sp>
      <p:cxnSp>
        <p:nvCxnSpPr>
          <p:cNvPr id="63" name="꺾인 연결선 62"/>
          <p:cNvCxnSpPr>
            <a:stCxn id="59" idx="3"/>
            <a:endCxn id="72" idx="1"/>
          </p:cNvCxnSpPr>
          <p:nvPr/>
        </p:nvCxnSpPr>
        <p:spPr>
          <a:xfrm flipV="1">
            <a:off x="1378623" y="4327915"/>
            <a:ext cx="1109369" cy="822238"/>
          </a:xfrm>
          <a:prstGeom prst="bentConnector3">
            <a:avLst>
              <a:gd name="adj1" fmla="val 6212"/>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꺾인 연결선 63"/>
          <p:cNvCxnSpPr>
            <a:stCxn id="59" idx="3"/>
            <a:endCxn id="62" idx="1"/>
          </p:cNvCxnSpPr>
          <p:nvPr/>
        </p:nvCxnSpPr>
        <p:spPr>
          <a:xfrm>
            <a:off x="1378623" y="5150153"/>
            <a:ext cx="140574" cy="1127101"/>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꺾인 연결선 64"/>
          <p:cNvCxnSpPr>
            <a:stCxn id="59" idx="3"/>
            <a:endCxn id="61" idx="1"/>
          </p:cNvCxnSpPr>
          <p:nvPr/>
        </p:nvCxnSpPr>
        <p:spPr>
          <a:xfrm>
            <a:off x="1378623" y="5150153"/>
            <a:ext cx="140574" cy="215386"/>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61" idx="3"/>
            <a:endCxn id="73" idx="1"/>
          </p:cNvCxnSpPr>
          <p:nvPr/>
        </p:nvCxnSpPr>
        <p:spPr>
          <a:xfrm flipV="1">
            <a:off x="2241819" y="4700903"/>
            <a:ext cx="246173" cy="66463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꺾인 연결선 66"/>
          <p:cNvCxnSpPr>
            <a:stCxn id="61" idx="3"/>
            <a:endCxn id="76" idx="1"/>
          </p:cNvCxnSpPr>
          <p:nvPr/>
        </p:nvCxnSpPr>
        <p:spPr>
          <a:xfrm>
            <a:off x="2241819" y="5365539"/>
            <a:ext cx="246173" cy="4539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꺾인 연결선 67"/>
          <p:cNvCxnSpPr>
            <a:stCxn id="61" idx="3"/>
            <a:endCxn id="74" idx="1"/>
          </p:cNvCxnSpPr>
          <p:nvPr/>
        </p:nvCxnSpPr>
        <p:spPr>
          <a:xfrm flipV="1">
            <a:off x="2241819" y="4972167"/>
            <a:ext cx="246173" cy="393371"/>
          </a:xfrm>
          <a:prstGeom prst="bentConnector3">
            <a:avLst>
              <a:gd name="adj1" fmla="val 50001"/>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꺾인 연결선 68"/>
          <p:cNvCxnSpPr>
            <a:stCxn id="61" idx="3"/>
            <a:endCxn id="75" idx="1"/>
          </p:cNvCxnSpPr>
          <p:nvPr/>
        </p:nvCxnSpPr>
        <p:spPr>
          <a:xfrm>
            <a:off x="2241819" y="5365539"/>
            <a:ext cx="246173" cy="1826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69"/>
          <p:cNvCxnSpPr>
            <a:cxnSpLocks/>
            <a:stCxn id="62" idx="3"/>
            <a:endCxn id="77" idx="1"/>
          </p:cNvCxnSpPr>
          <p:nvPr/>
        </p:nvCxnSpPr>
        <p:spPr>
          <a:xfrm flipV="1">
            <a:off x="2241819" y="6124667"/>
            <a:ext cx="246173" cy="15258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cxnSpLocks/>
            <a:stCxn id="62" idx="3"/>
            <a:endCxn id="78" idx="1"/>
          </p:cNvCxnSpPr>
          <p:nvPr/>
        </p:nvCxnSpPr>
        <p:spPr>
          <a:xfrm>
            <a:off x="2241819" y="6277254"/>
            <a:ext cx="246173" cy="11867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9" name="그룹 78"/>
          <p:cNvGrpSpPr/>
          <p:nvPr/>
        </p:nvGrpSpPr>
        <p:grpSpPr>
          <a:xfrm>
            <a:off x="7001934" y="4076201"/>
            <a:ext cx="3979312" cy="2368895"/>
            <a:chOff x="7340600" y="4076201"/>
            <a:chExt cx="3640645" cy="2368895"/>
          </a:xfrm>
        </p:grpSpPr>
        <p:sp>
          <p:nvSpPr>
            <p:cNvPr id="80" name="직사각형 79"/>
            <p:cNvSpPr/>
            <p:nvPr/>
          </p:nvSpPr>
          <p:spPr>
            <a:xfrm>
              <a:off x="7340600" y="5011587"/>
              <a:ext cx="448769" cy="399529"/>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심사</a:t>
              </a:r>
              <a:endParaRPr lang="en-US" altLang="ko-KR" sz="1200" dirty="0"/>
            </a:p>
            <a:p>
              <a:pPr algn="ctr"/>
              <a:r>
                <a:rPr lang="en-US" altLang="ko-KR" sz="1200" dirty="0"/>
                <a:t>(</a:t>
              </a:r>
              <a:r>
                <a:rPr lang="ko-KR" altLang="en-US" sz="1200" dirty="0"/>
                <a:t>제도</a:t>
              </a:r>
              <a:r>
                <a:rPr lang="en-US" altLang="ko-KR" sz="1200" dirty="0"/>
                <a:t>)</a:t>
              </a:r>
              <a:endParaRPr lang="ko-KR" altLang="en-US" sz="1200" dirty="0"/>
            </a:p>
          </p:txBody>
        </p:sp>
        <p:grpSp>
          <p:nvGrpSpPr>
            <p:cNvPr id="81" name="그룹 80"/>
            <p:cNvGrpSpPr/>
            <p:nvPr/>
          </p:nvGrpSpPr>
          <p:grpSpPr>
            <a:xfrm>
              <a:off x="7967112" y="4305504"/>
              <a:ext cx="471444" cy="1770110"/>
              <a:chOff x="2707314" y="4441447"/>
              <a:chExt cx="786730" cy="1770110"/>
            </a:xfrm>
          </p:grpSpPr>
          <p:sp>
            <p:nvSpPr>
              <p:cNvPr id="108" name="직사각형 107"/>
              <p:cNvSpPr/>
              <p:nvPr/>
            </p:nvSpPr>
            <p:spPr>
              <a:xfrm>
                <a:off x="2707314" y="4441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주체</a:t>
                </a:r>
              </a:p>
            </p:txBody>
          </p:sp>
          <p:sp>
            <p:nvSpPr>
              <p:cNvPr id="109" name="직사각형 108"/>
              <p:cNvSpPr/>
              <p:nvPr/>
            </p:nvSpPr>
            <p:spPr>
              <a:xfrm>
                <a:off x="2707314" y="4839210"/>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청구</a:t>
                </a:r>
              </a:p>
            </p:txBody>
          </p:sp>
          <p:sp>
            <p:nvSpPr>
              <p:cNvPr id="110" name="직사각형 109"/>
              <p:cNvSpPr/>
              <p:nvPr/>
            </p:nvSpPr>
            <p:spPr>
              <a:xfrm>
                <a:off x="2707314" y="5258685"/>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진행</a:t>
                </a:r>
              </a:p>
            </p:txBody>
          </p:sp>
          <p:sp>
            <p:nvSpPr>
              <p:cNvPr id="111" name="직사각형 110"/>
              <p:cNvSpPr/>
              <p:nvPr/>
            </p:nvSpPr>
            <p:spPr>
              <a:xfrm>
                <a:off x="2707314" y="5656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종료</a:t>
                </a:r>
              </a:p>
            </p:txBody>
          </p:sp>
          <p:sp>
            <p:nvSpPr>
              <p:cNvPr id="112" name="직사각형 111"/>
              <p:cNvSpPr/>
              <p:nvPr/>
            </p:nvSpPr>
            <p:spPr>
              <a:xfrm>
                <a:off x="2707314" y="6036746"/>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관련</a:t>
                </a:r>
              </a:p>
            </p:txBody>
          </p:sp>
        </p:grpSp>
        <p:cxnSp>
          <p:nvCxnSpPr>
            <p:cNvPr id="82" name="꺾인 연결선 81"/>
            <p:cNvCxnSpPr>
              <a:stCxn id="80" idx="3"/>
              <a:endCxn id="108" idx="1"/>
            </p:cNvCxnSpPr>
            <p:nvPr/>
          </p:nvCxnSpPr>
          <p:spPr>
            <a:xfrm flipV="1">
              <a:off x="7789369" y="4392910"/>
              <a:ext cx="177743" cy="81844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꺾인 연결선 82"/>
            <p:cNvCxnSpPr>
              <a:stCxn id="80" idx="3"/>
              <a:endCxn id="112" idx="1"/>
            </p:cNvCxnSpPr>
            <p:nvPr/>
          </p:nvCxnSpPr>
          <p:spPr>
            <a:xfrm>
              <a:off x="7789369" y="5211352"/>
              <a:ext cx="177743" cy="77685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꺾인 연결선 83"/>
            <p:cNvCxnSpPr>
              <a:stCxn id="80" idx="3"/>
              <a:endCxn id="109" idx="1"/>
            </p:cNvCxnSpPr>
            <p:nvPr/>
          </p:nvCxnSpPr>
          <p:spPr>
            <a:xfrm flipV="1">
              <a:off x="7789369" y="4790673"/>
              <a:ext cx="177743" cy="42067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꺾인 연결선 84"/>
            <p:cNvCxnSpPr>
              <a:stCxn id="80" idx="3"/>
              <a:endCxn id="111" idx="1"/>
            </p:cNvCxnSpPr>
            <p:nvPr/>
          </p:nvCxnSpPr>
          <p:spPr>
            <a:xfrm>
              <a:off x="7789369" y="5211352"/>
              <a:ext cx="177743" cy="3965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80" idx="3"/>
              <a:endCxn id="110" idx="1"/>
            </p:cNvCxnSpPr>
            <p:nvPr/>
          </p:nvCxnSpPr>
          <p:spPr>
            <a:xfrm flipV="1">
              <a:off x="7789369" y="5210148"/>
              <a:ext cx="177743" cy="120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 name="그룹 86"/>
            <p:cNvGrpSpPr/>
            <p:nvPr/>
          </p:nvGrpSpPr>
          <p:grpSpPr>
            <a:xfrm>
              <a:off x="8563424" y="4076201"/>
              <a:ext cx="2417821" cy="2368895"/>
              <a:chOff x="3618912" y="4212144"/>
              <a:chExt cx="3438525" cy="2368895"/>
            </a:xfrm>
          </p:grpSpPr>
          <p:sp>
            <p:nvSpPr>
              <p:cNvPr id="98" name="직사각형 97"/>
              <p:cNvSpPr/>
              <p:nvPr/>
            </p:nvSpPr>
            <p:spPr>
              <a:xfrm>
                <a:off x="3618912" y="4212144"/>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57</a:t>
                </a:r>
                <a:r>
                  <a:rPr lang="en-US" altLang="ko-KR" sz="1000">
                    <a:solidFill>
                      <a:schemeClr val="tx1"/>
                    </a:solidFill>
                  </a:rPr>
                  <a:t>, 68)</a:t>
                </a:r>
                <a:endParaRPr lang="ko-KR" altLang="en-US" sz="1000" dirty="0">
                  <a:solidFill>
                    <a:schemeClr val="tx1"/>
                  </a:solidFill>
                </a:endParaRPr>
              </a:p>
            </p:txBody>
          </p:sp>
          <p:sp>
            <p:nvSpPr>
              <p:cNvPr id="99" name="직사각형 98"/>
              <p:cNvSpPr/>
              <p:nvPr/>
            </p:nvSpPr>
            <p:spPr>
              <a:xfrm>
                <a:off x="3618912" y="4435206"/>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전문기관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58, 58</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100" name="직사각형 99"/>
              <p:cNvSpPr/>
              <p:nvPr/>
            </p:nvSpPr>
            <p:spPr>
              <a:xfrm>
                <a:off x="3618912" y="547999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출원의 무효</a:t>
                </a:r>
                <a:r>
                  <a:rPr lang="en-US" altLang="ko-KR" sz="1000" dirty="0">
                    <a:solidFill>
                      <a:schemeClr val="tx1"/>
                    </a:solidFill>
                  </a:rPr>
                  <a:t>, </a:t>
                </a:r>
                <a:r>
                  <a:rPr lang="ko-KR" altLang="en-US" sz="1000" dirty="0">
                    <a:solidFill>
                      <a:schemeClr val="tx1"/>
                    </a:solidFill>
                  </a:rPr>
                  <a:t>취하</a:t>
                </a:r>
                <a:r>
                  <a:rPr lang="en-US" altLang="ko-KR" sz="1000" dirty="0">
                    <a:solidFill>
                      <a:schemeClr val="tx1"/>
                    </a:solidFill>
                  </a:rPr>
                  <a:t>, </a:t>
                </a:r>
                <a:r>
                  <a:rPr lang="ko-KR" altLang="en-US" sz="1000" dirty="0">
                    <a:solidFill>
                      <a:schemeClr val="tx1"/>
                    </a:solidFill>
                  </a:rPr>
                  <a:t>포기</a:t>
                </a:r>
                <a:r>
                  <a:rPr lang="en-US" altLang="ko-KR" sz="1000" dirty="0">
                    <a:solidFill>
                      <a:schemeClr val="tx1"/>
                    </a:solidFill>
                  </a:rPr>
                  <a:t>(</a:t>
                </a:r>
                <a:r>
                  <a:rPr lang="ko-KR" altLang="en-US" sz="1000" dirty="0">
                    <a:solidFill>
                      <a:schemeClr val="tx1"/>
                    </a:solidFill>
                  </a:rPr>
                  <a:t>제도</a:t>
                </a:r>
                <a:r>
                  <a:rPr lang="en-US" altLang="ko-KR" sz="1000" dirty="0">
                    <a:solidFill>
                      <a:schemeClr val="tx1"/>
                    </a:solidFill>
                  </a:rPr>
                  <a:t>)</a:t>
                </a:r>
                <a:endParaRPr lang="ko-KR" altLang="en-US" sz="1000" dirty="0">
                  <a:solidFill>
                    <a:schemeClr val="tx1"/>
                  </a:solidFill>
                </a:endParaRPr>
              </a:p>
            </p:txBody>
          </p:sp>
          <p:sp>
            <p:nvSpPr>
              <p:cNvPr id="101" name="직사각형 100"/>
              <p:cNvSpPr/>
              <p:nvPr/>
            </p:nvSpPr>
            <p:spPr>
              <a:xfrm>
                <a:off x="3618912" y="5703059"/>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특허여부결정</a:t>
                </a:r>
                <a:r>
                  <a:rPr lang="en-US" altLang="ko-KR" sz="1000" dirty="0">
                    <a:solidFill>
                      <a:schemeClr val="tx1"/>
                    </a:solidFill>
                  </a:rPr>
                  <a:t>(</a:t>
                </a:r>
                <a:r>
                  <a:rPr lang="ko-KR" altLang="en-US" sz="1000" dirty="0">
                    <a:solidFill>
                      <a:schemeClr val="tx1"/>
                    </a:solidFill>
                  </a:rPr>
                  <a:t>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62, 63, 66~67</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102" name="직사각형 101"/>
              <p:cNvSpPr/>
              <p:nvPr/>
            </p:nvSpPr>
            <p:spPr>
              <a:xfrm>
                <a:off x="3618912" y="466874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심사청구제도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59, 60)</a:t>
                </a:r>
                <a:endParaRPr lang="ko-KR" altLang="en-US" sz="1000" dirty="0">
                  <a:solidFill>
                    <a:schemeClr val="tx1"/>
                  </a:solidFill>
                </a:endParaRPr>
              </a:p>
            </p:txBody>
          </p:sp>
          <p:sp>
            <p:nvSpPr>
              <p:cNvPr id="103" name="직사각형 102"/>
              <p:cNvSpPr/>
              <p:nvPr/>
            </p:nvSpPr>
            <p:spPr>
              <a:xfrm>
                <a:off x="3618912" y="489180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우선심사제도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61)</a:t>
                </a:r>
                <a:endParaRPr lang="ko-KR" altLang="en-US" sz="1000" dirty="0">
                  <a:solidFill>
                    <a:schemeClr val="tx1"/>
                  </a:solidFill>
                </a:endParaRPr>
              </a:p>
            </p:txBody>
          </p:sp>
          <p:sp>
            <p:nvSpPr>
              <p:cNvPr id="104" name="직사각형 103"/>
              <p:cNvSpPr/>
              <p:nvPr/>
            </p:nvSpPr>
            <p:spPr>
              <a:xfrm>
                <a:off x="3618912" y="517897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심사의 진행</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62, 63, 63</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105" name="직사각형 104"/>
              <p:cNvSpPr/>
              <p:nvPr/>
            </p:nvSpPr>
            <p:spPr>
              <a:xfrm>
                <a:off x="3618912" y="5955831"/>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정보제공제도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63</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106" name="직사각형 105"/>
              <p:cNvSpPr/>
              <p:nvPr/>
            </p:nvSpPr>
            <p:spPr>
              <a:xfrm>
                <a:off x="3618912" y="617889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출원공개제도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64, 65)</a:t>
                </a:r>
                <a:endParaRPr lang="ko-KR" altLang="en-US" sz="1000" dirty="0">
                  <a:solidFill>
                    <a:schemeClr val="tx1"/>
                  </a:solidFill>
                </a:endParaRPr>
              </a:p>
            </p:txBody>
          </p:sp>
          <p:sp>
            <p:nvSpPr>
              <p:cNvPr id="107" name="직사각형 106"/>
              <p:cNvSpPr/>
              <p:nvPr/>
            </p:nvSpPr>
            <p:spPr>
              <a:xfrm>
                <a:off x="3618912" y="640622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타절차와의</a:t>
                </a:r>
                <a:r>
                  <a:rPr lang="ko-KR" altLang="en-US" sz="1000" dirty="0">
                    <a:solidFill>
                      <a:schemeClr val="tx1"/>
                    </a:solidFill>
                  </a:rPr>
                  <a:t> 관계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78)</a:t>
                </a:r>
                <a:endParaRPr lang="ko-KR" altLang="en-US" sz="1000" dirty="0">
                  <a:solidFill>
                    <a:schemeClr val="tx1"/>
                  </a:solidFill>
                </a:endParaRPr>
              </a:p>
            </p:txBody>
          </p:sp>
        </p:grpSp>
        <p:cxnSp>
          <p:nvCxnSpPr>
            <p:cNvPr id="88" name="꺾인 연결선 87"/>
            <p:cNvCxnSpPr>
              <a:stCxn id="108" idx="3"/>
              <a:endCxn id="98" idx="1"/>
            </p:cNvCxnSpPr>
            <p:nvPr/>
          </p:nvCxnSpPr>
          <p:spPr>
            <a:xfrm flipV="1">
              <a:off x="8438556" y="4163607"/>
              <a:ext cx="124868" cy="22930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꺾인 연결선 88"/>
            <p:cNvCxnSpPr>
              <a:stCxn id="108" idx="3"/>
              <a:endCxn id="99" idx="1"/>
            </p:cNvCxnSpPr>
            <p:nvPr/>
          </p:nvCxnSpPr>
          <p:spPr>
            <a:xfrm flipV="1">
              <a:off x="8438556" y="4386669"/>
              <a:ext cx="124868" cy="62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꺾인 연결선 89"/>
            <p:cNvCxnSpPr>
              <a:stCxn id="109" idx="3"/>
              <a:endCxn id="102" idx="1"/>
            </p:cNvCxnSpPr>
            <p:nvPr/>
          </p:nvCxnSpPr>
          <p:spPr>
            <a:xfrm flipV="1">
              <a:off x="8438556" y="4620206"/>
              <a:ext cx="124868" cy="1704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꺾인 연결선 90"/>
            <p:cNvCxnSpPr>
              <a:stCxn id="109" idx="3"/>
              <a:endCxn id="103" idx="1"/>
            </p:cNvCxnSpPr>
            <p:nvPr/>
          </p:nvCxnSpPr>
          <p:spPr>
            <a:xfrm>
              <a:off x="8438556" y="4790673"/>
              <a:ext cx="124868" cy="525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꺾인 연결선 91"/>
            <p:cNvCxnSpPr>
              <a:stCxn id="110" idx="3"/>
              <a:endCxn id="104" idx="1"/>
            </p:cNvCxnSpPr>
            <p:nvPr/>
          </p:nvCxnSpPr>
          <p:spPr>
            <a:xfrm flipV="1">
              <a:off x="8438556" y="5130438"/>
              <a:ext cx="124868" cy="797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꺾인 연결선 92"/>
            <p:cNvCxnSpPr>
              <a:stCxn id="111" idx="3"/>
              <a:endCxn id="100" idx="1"/>
            </p:cNvCxnSpPr>
            <p:nvPr/>
          </p:nvCxnSpPr>
          <p:spPr>
            <a:xfrm flipV="1">
              <a:off x="8438556" y="5431461"/>
              <a:ext cx="124868" cy="17644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꺾인 연결선 93"/>
            <p:cNvCxnSpPr>
              <a:stCxn id="111" idx="3"/>
              <a:endCxn id="101" idx="1"/>
            </p:cNvCxnSpPr>
            <p:nvPr/>
          </p:nvCxnSpPr>
          <p:spPr>
            <a:xfrm>
              <a:off x="8438556" y="5607910"/>
              <a:ext cx="124868" cy="466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꺾인 연결선 94"/>
            <p:cNvCxnSpPr>
              <a:stCxn id="112" idx="3"/>
              <a:endCxn id="105" idx="1"/>
            </p:cNvCxnSpPr>
            <p:nvPr/>
          </p:nvCxnSpPr>
          <p:spPr>
            <a:xfrm flipV="1">
              <a:off x="8438556" y="5907294"/>
              <a:ext cx="124868" cy="809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꺾인 연결선 95"/>
            <p:cNvCxnSpPr>
              <a:stCxn id="112" idx="3"/>
              <a:endCxn id="106" idx="1"/>
            </p:cNvCxnSpPr>
            <p:nvPr/>
          </p:nvCxnSpPr>
          <p:spPr>
            <a:xfrm>
              <a:off x="8438556" y="5988209"/>
              <a:ext cx="124868" cy="14214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꺾인 연결선 96"/>
            <p:cNvCxnSpPr>
              <a:stCxn id="112" idx="3"/>
              <a:endCxn id="107" idx="1"/>
            </p:cNvCxnSpPr>
            <p:nvPr/>
          </p:nvCxnSpPr>
          <p:spPr>
            <a:xfrm>
              <a:off x="8438556" y="5988209"/>
              <a:ext cx="124868" cy="36948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13" name="직사각형 112"/>
          <p:cNvSpPr/>
          <p:nvPr/>
        </p:nvSpPr>
        <p:spPr>
          <a:xfrm>
            <a:off x="5960556" y="3393490"/>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특허법</a:t>
            </a:r>
            <a:endParaRPr lang="en-US" altLang="ko-KR" dirty="0"/>
          </a:p>
          <a:p>
            <a:pPr algn="ctr"/>
            <a:r>
              <a:rPr lang="ko-KR" altLang="en-US" dirty="0"/>
              <a:t>체계도</a:t>
            </a:r>
          </a:p>
        </p:txBody>
      </p:sp>
      <p:sp>
        <p:nvSpPr>
          <p:cNvPr id="114" name="타원 113"/>
          <p:cNvSpPr/>
          <p:nvPr/>
        </p:nvSpPr>
        <p:spPr>
          <a:xfrm>
            <a:off x="880857" y="2219587"/>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115" name="타원 114"/>
          <p:cNvSpPr/>
          <p:nvPr/>
        </p:nvSpPr>
        <p:spPr>
          <a:xfrm>
            <a:off x="6163733" y="2366819"/>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116" name="타원 115"/>
          <p:cNvSpPr/>
          <p:nvPr/>
        </p:nvSpPr>
        <p:spPr>
          <a:xfrm>
            <a:off x="542670" y="5005703"/>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117" name="타원 116"/>
          <p:cNvSpPr/>
          <p:nvPr/>
        </p:nvSpPr>
        <p:spPr>
          <a:xfrm>
            <a:off x="6647019" y="5043860"/>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4</a:t>
            </a:r>
            <a:endParaRPr lang="ko-KR" altLang="en-US" dirty="0"/>
          </a:p>
        </p:txBody>
      </p:sp>
      <p:sp>
        <p:nvSpPr>
          <p:cNvPr id="118" name="자유형 117"/>
          <p:cNvSpPr/>
          <p:nvPr/>
        </p:nvSpPr>
        <p:spPr>
          <a:xfrm>
            <a:off x="1049867" y="2582332"/>
            <a:ext cx="4893733" cy="1423457"/>
          </a:xfrm>
          <a:custGeom>
            <a:avLst/>
            <a:gdLst>
              <a:gd name="connsiteX0" fmla="*/ 4893733 w 4893733"/>
              <a:gd name="connsiteY0" fmla="*/ 1295400 h 1295400"/>
              <a:gd name="connsiteX1" fmla="*/ 4893733 w 4893733"/>
              <a:gd name="connsiteY1" fmla="*/ 1295400 h 1295400"/>
              <a:gd name="connsiteX2" fmla="*/ 0 w 4893733"/>
              <a:gd name="connsiteY2" fmla="*/ 1295400 h 1295400"/>
              <a:gd name="connsiteX3" fmla="*/ 0 w 4893733"/>
              <a:gd name="connsiteY3" fmla="*/ 0 h 1295400"/>
            </a:gdLst>
            <a:ahLst/>
            <a:cxnLst>
              <a:cxn ang="0">
                <a:pos x="connsiteX0" y="connsiteY0"/>
              </a:cxn>
              <a:cxn ang="0">
                <a:pos x="connsiteX1" y="connsiteY1"/>
              </a:cxn>
              <a:cxn ang="0">
                <a:pos x="connsiteX2" y="connsiteY2"/>
              </a:cxn>
              <a:cxn ang="0">
                <a:pos x="connsiteX3" y="connsiteY3"/>
              </a:cxn>
            </a:cxnLst>
            <a:rect l="l" t="t" r="r" b="b"/>
            <a:pathLst>
              <a:path w="4893733" h="1295400">
                <a:moveTo>
                  <a:pt x="4893733" y="1295400"/>
                </a:moveTo>
                <a:lnTo>
                  <a:pt x="4893733" y="1295400"/>
                </a:lnTo>
                <a:lnTo>
                  <a:pt x="0" y="1295400"/>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19" name="자유형 118"/>
          <p:cNvSpPr/>
          <p:nvPr/>
        </p:nvSpPr>
        <p:spPr>
          <a:xfrm>
            <a:off x="718458" y="3993619"/>
            <a:ext cx="5233610" cy="997811"/>
          </a:xfrm>
          <a:custGeom>
            <a:avLst/>
            <a:gdLst>
              <a:gd name="connsiteX0" fmla="*/ 5215467 w 5215467"/>
              <a:gd name="connsiteY0" fmla="*/ 0 h 965200"/>
              <a:gd name="connsiteX1" fmla="*/ 0 w 5215467"/>
              <a:gd name="connsiteY1" fmla="*/ 0 h 965200"/>
              <a:gd name="connsiteX2" fmla="*/ 0 w 5215467"/>
              <a:gd name="connsiteY2" fmla="*/ 965200 h 965200"/>
            </a:gdLst>
            <a:ahLst/>
            <a:cxnLst>
              <a:cxn ang="0">
                <a:pos x="connsiteX0" y="connsiteY0"/>
              </a:cxn>
              <a:cxn ang="0">
                <a:pos x="connsiteX1" y="connsiteY1"/>
              </a:cxn>
              <a:cxn ang="0">
                <a:pos x="connsiteX2" y="connsiteY2"/>
              </a:cxn>
            </a:cxnLst>
            <a:rect l="l" t="t" r="r" b="b"/>
            <a:pathLst>
              <a:path w="5215467" h="965200">
                <a:moveTo>
                  <a:pt x="5215467" y="0"/>
                </a:moveTo>
                <a:lnTo>
                  <a:pt x="0" y="0"/>
                </a:lnTo>
                <a:lnTo>
                  <a:pt x="0" y="9652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0" name="자유형 119"/>
          <p:cNvSpPr/>
          <p:nvPr/>
        </p:nvSpPr>
        <p:spPr>
          <a:xfrm>
            <a:off x="6383867" y="2726267"/>
            <a:ext cx="0" cy="668866"/>
          </a:xfrm>
          <a:custGeom>
            <a:avLst/>
            <a:gdLst>
              <a:gd name="connsiteX0" fmla="*/ 0 w 0"/>
              <a:gd name="connsiteY0" fmla="*/ 668866 h 668866"/>
              <a:gd name="connsiteX1" fmla="*/ 0 w 0"/>
              <a:gd name="connsiteY1" fmla="*/ 0 h 668866"/>
            </a:gdLst>
            <a:ahLst/>
            <a:cxnLst>
              <a:cxn ang="0">
                <a:pos x="connsiteX0" y="connsiteY0"/>
              </a:cxn>
              <a:cxn ang="0">
                <a:pos x="connsiteX1" y="connsiteY1"/>
              </a:cxn>
            </a:cxnLst>
            <a:rect l="l" t="t" r="r" b="b"/>
            <a:pathLst>
              <a:path h="668866">
                <a:moveTo>
                  <a:pt x="0" y="668866"/>
                </a:move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cxnSp>
        <p:nvCxnSpPr>
          <p:cNvPr id="121" name="직선 연결선 120"/>
          <p:cNvCxnSpPr>
            <a:stCxn id="113" idx="2"/>
            <a:endCxn id="113" idx="2"/>
          </p:cNvCxnSpPr>
          <p:nvPr/>
        </p:nvCxnSpPr>
        <p:spPr>
          <a:xfrm>
            <a:off x="6417756" y="4307890"/>
            <a:ext cx="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2" name="자유형 121"/>
          <p:cNvSpPr/>
          <p:nvPr/>
        </p:nvSpPr>
        <p:spPr>
          <a:xfrm>
            <a:off x="6400800" y="4318000"/>
            <a:ext cx="262467" cy="897467"/>
          </a:xfrm>
          <a:custGeom>
            <a:avLst/>
            <a:gdLst>
              <a:gd name="connsiteX0" fmla="*/ 0 w 262467"/>
              <a:gd name="connsiteY0" fmla="*/ 0 h 897467"/>
              <a:gd name="connsiteX1" fmla="*/ 0 w 262467"/>
              <a:gd name="connsiteY1" fmla="*/ 0 h 897467"/>
              <a:gd name="connsiteX2" fmla="*/ 0 w 262467"/>
              <a:gd name="connsiteY2" fmla="*/ 897467 h 897467"/>
              <a:gd name="connsiteX3" fmla="*/ 262467 w 262467"/>
              <a:gd name="connsiteY3" fmla="*/ 897467 h 897467"/>
            </a:gdLst>
            <a:ahLst/>
            <a:cxnLst>
              <a:cxn ang="0">
                <a:pos x="connsiteX0" y="connsiteY0"/>
              </a:cxn>
              <a:cxn ang="0">
                <a:pos x="connsiteX1" y="connsiteY1"/>
              </a:cxn>
              <a:cxn ang="0">
                <a:pos x="connsiteX2" y="connsiteY2"/>
              </a:cxn>
              <a:cxn ang="0">
                <a:pos x="connsiteX3" y="connsiteY3"/>
              </a:cxn>
            </a:cxnLst>
            <a:rect l="l" t="t" r="r" b="b"/>
            <a:pathLst>
              <a:path w="262467" h="897467">
                <a:moveTo>
                  <a:pt x="0" y="0"/>
                </a:moveTo>
                <a:lnTo>
                  <a:pt x="0" y="0"/>
                </a:lnTo>
                <a:lnTo>
                  <a:pt x="0" y="897467"/>
                </a:lnTo>
                <a:lnTo>
                  <a:pt x="262467" y="897467"/>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5" name="직사각형 124">
            <a:extLst>
              <a:ext uri="{FF2B5EF4-FFF2-40B4-BE49-F238E27FC236}">
                <a16:creationId xmlns:a16="http://schemas.microsoft.com/office/drawing/2014/main" id="{9012F393-65ED-4311-A56D-1073EA0A0D99}"/>
              </a:ext>
            </a:extLst>
          </p:cNvPr>
          <p:cNvSpPr/>
          <p:nvPr/>
        </p:nvSpPr>
        <p:spPr>
          <a:xfrm>
            <a:off x="2487992" y="5160972"/>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분할출원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52)</a:t>
            </a:r>
            <a:endParaRPr lang="ko-KR" altLang="en-US" sz="1000" dirty="0">
              <a:solidFill>
                <a:schemeClr val="tx1"/>
              </a:solidFill>
            </a:endParaRPr>
          </a:p>
        </p:txBody>
      </p:sp>
      <p:cxnSp>
        <p:nvCxnSpPr>
          <p:cNvPr id="127" name="꺾인 연결선 67">
            <a:extLst>
              <a:ext uri="{FF2B5EF4-FFF2-40B4-BE49-F238E27FC236}">
                <a16:creationId xmlns:a16="http://schemas.microsoft.com/office/drawing/2014/main" id="{E6B18D36-32CC-497B-A148-E8CED33A916F}"/>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꺾인 연결선 68">
            <a:extLst>
              <a:ext uri="{FF2B5EF4-FFF2-40B4-BE49-F238E27FC236}">
                <a16:creationId xmlns:a16="http://schemas.microsoft.com/office/drawing/2014/main" id="{15731FFB-002A-4D1A-B931-E4E3AE5EC565}"/>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6" name="직사각형 135">
            <a:extLst>
              <a:ext uri="{FF2B5EF4-FFF2-40B4-BE49-F238E27FC236}">
                <a16:creationId xmlns:a16="http://schemas.microsoft.com/office/drawing/2014/main" id="{88952097-4047-B4C7-1974-88AE224120C6}"/>
              </a:ext>
            </a:extLst>
          </p:cNvPr>
          <p:cNvSpPr/>
          <p:nvPr/>
        </p:nvSpPr>
        <p:spPr>
          <a:xfrm>
            <a:off x="2118397" y="36224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err="1">
                <a:solidFill>
                  <a:schemeClr val="tx1"/>
                </a:solidFill>
              </a:rPr>
              <a:t>보칙</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215-224</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Tree>
    <p:extLst>
      <p:ext uri="{BB962C8B-B14F-4D97-AF65-F5344CB8AC3E}">
        <p14:creationId xmlns:p14="http://schemas.microsoft.com/office/powerpoint/2010/main" val="3325216423"/>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r>
              <a:rPr lang="en-US" altLang="ko-KR"/>
              <a:t>288</a:t>
            </a:r>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124" name="직사각형 123"/>
          <p:cNvSpPr/>
          <p:nvPr/>
        </p:nvSpPr>
        <p:spPr>
          <a:xfrm>
            <a:off x="680604" y="2547021"/>
            <a:ext cx="545064" cy="552230"/>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a:t>특허권</a:t>
            </a:r>
            <a:endParaRPr lang="ko-KR" altLang="en-US" sz="1200" dirty="0"/>
          </a:p>
        </p:txBody>
      </p:sp>
      <p:sp>
        <p:nvSpPr>
          <p:cNvPr id="125" name="직사각형 124"/>
          <p:cNvSpPr/>
          <p:nvPr/>
        </p:nvSpPr>
        <p:spPr>
          <a:xfrm>
            <a:off x="1383335" y="123999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발생</a:t>
            </a:r>
          </a:p>
        </p:txBody>
      </p:sp>
      <p:sp>
        <p:nvSpPr>
          <p:cNvPr id="126" name="직사각형 125"/>
          <p:cNvSpPr/>
          <p:nvPr/>
        </p:nvSpPr>
        <p:spPr>
          <a:xfrm>
            <a:off x="1383335" y="1789781"/>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효력</a:t>
            </a:r>
          </a:p>
        </p:txBody>
      </p:sp>
      <p:sp>
        <p:nvSpPr>
          <p:cNvPr id="127" name="직사각형 126"/>
          <p:cNvSpPr/>
          <p:nvPr/>
        </p:nvSpPr>
        <p:spPr>
          <a:xfrm>
            <a:off x="1383335" y="2944739"/>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변동</a:t>
            </a:r>
          </a:p>
        </p:txBody>
      </p:sp>
      <p:sp>
        <p:nvSpPr>
          <p:cNvPr id="128" name="직사각형 127"/>
          <p:cNvSpPr/>
          <p:nvPr/>
        </p:nvSpPr>
        <p:spPr>
          <a:xfrm>
            <a:off x="1383335" y="366808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소멸</a:t>
            </a:r>
          </a:p>
        </p:txBody>
      </p:sp>
      <p:sp>
        <p:nvSpPr>
          <p:cNvPr id="129" name="직사각형 128"/>
          <p:cNvSpPr/>
          <p:nvPr/>
        </p:nvSpPr>
        <p:spPr>
          <a:xfrm>
            <a:off x="1383335" y="4175764"/>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관련</a:t>
            </a:r>
          </a:p>
        </p:txBody>
      </p:sp>
      <p:cxnSp>
        <p:nvCxnSpPr>
          <p:cNvPr id="130" name="꺾인 연결선 129"/>
          <p:cNvCxnSpPr>
            <a:stCxn id="124" idx="3"/>
            <a:endCxn id="125" idx="1"/>
          </p:cNvCxnSpPr>
          <p:nvPr/>
        </p:nvCxnSpPr>
        <p:spPr>
          <a:xfrm flipV="1">
            <a:off x="1225668" y="1360804"/>
            <a:ext cx="157667" cy="146233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꺾인 연결선 130"/>
          <p:cNvCxnSpPr>
            <a:stCxn id="124" idx="3"/>
            <a:endCxn id="129" idx="1"/>
          </p:cNvCxnSpPr>
          <p:nvPr/>
        </p:nvCxnSpPr>
        <p:spPr>
          <a:xfrm>
            <a:off x="1225668" y="2823136"/>
            <a:ext cx="157667" cy="147344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124" idx="3"/>
            <a:endCxn id="126" idx="1"/>
          </p:cNvCxnSpPr>
          <p:nvPr/>
        </p:nvCxnSpPr>
        <p:spPr>
          <a:xfrm flipV="1">
            <a:off x="1225668" y="1910593"/>
            <a:ext cx="157667" cy="9125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꺾인 연결선 132"/>
          <p:cNvCxnSpPr>
            <a:stCxn id="124" idx="3"/>
            <a:endCxn id="128" idx="1"/>
          </p:cNvCxnSpPr>
          <p:nvPr/>
        </p:nvCxnSpPr>
        <p:spPr>
          <a:xfrm>
            <a:off x="1225668" y="2823136"/>
            <a:ext cx="157667" cy="96575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stCxn id="124" idx="3"/>
            <a:endCxn id="127" idx="1"/>
          </p:cNvCxnSpPr>
          <p:nvPr/>
        </p:nvCxnSpPr>
        <p:spPr>
          <a:xfrm>
            <a:off x="1225668" y="2823136"/>
            <a:ext cx="157667" cy="2424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5" name="직사각형 134"/>
          <p:cNvSpPr/>
          <p:nvPr/>
        </p:nvSpPr>
        <p:spPr>
          <a:xfrm>
            <a:off x="1927293" y="1027643"/>
            <a:ext cx="1744315" cy="12863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특허료의 납부 등</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79~86)</a:t>
            </a:r>
            <a:endParaRPr lang="ko-KR" altLang="en-US" sz="1000" dirty="0">
              <a:solidFill>
                <a:schemeClr val="tx2"/>
              </a:solidFill>
            </a:endParaRPr>
          </a:p>
        </p:txBody>
      </p:sp>
      <p:sp>
        <p:nvSpPr>
          <p:cNvPr id="136" name="직사각형 135"/>
          <p:cNvSpPr/>
          <p:nvPr/>
        </p:nvSpPr>
        <p:spPr>
          <a:xfrm>
            <a:off x="1927294" y="1199840"/>
            <a:ext cx="1744314" cy="14679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설정등록 및 등록공고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87)</a:t>
            </a:r>
            <a:endParaRPr lang="ko-KR" altLang="en-US" sz="1000" dirty="0">
              <a:solidFill>
                <a:schemeClr val="tx2"/>
              </a:solidFill>
            </a:endParaRPr>
          </a:p>
        </p:txBody>
      </p:sp>
      <p:sp>
        <p:nvSpPr>
          <p:cNvPr id="137" name="직사각형 136"/>
          <p:cNvSpPr/>
          <p:nvPr/>
        </p:nvSpPr>
        <p:spPr>
          <a:xfrm>
            <a:off x="1927295" y="3385001"/>
            <a:ext cx="991185" cy="18765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질권</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121~123)</a:t>
            </a:r>
            <a:endParaRPr lang="ko-KR" altLang="en-US" sz="1000" dirty="0">
              <a:solidFill>
                <a:schemeClr val="tx2"/>
              </a:solidFill>
            </a:endParaRPr>
          </a:p>
        </p:txBody>
      </p:sp>
      <p:sp>
        <p:nvSpPr>
          <p:cNvPr id="138" name="직사각형 137"/>
          <p:cNvSpPr/>
          <p:nvPr/>
        </p:nvSpPr>
        <p:spPr>
          <a:xfrm>
            <a:off x="1931244" y="3908454"/>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효과</a:t>
            </a:r>
          </a:p>
        </p:txBody>
      </p:sp>
      <p:sp>
        <p:nvSpPr>
          <p:cNvPr id="139" name="직사각형 138"/>
          <p:cNvSpPr/>
          <p:nvPr/>
        </p:nvSpPr>
        <p:spPr>
          <a:xfrm>
            <a:off x="1927295" y="1600786"/>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범위</a:t>
            </a:r>
          </a:p>
        </p:txBody>
      </p:sp>
      <p:sp>
        <p:nvSpPr>
          <p:cNvPr id="140" name="직사각형 139"/>
          <p:cNvSpPr/>
          <p:nvPr/>
        </p:nvSpPr>
        <p:spPr>
          <a:xfrm>
            <a:off x="1927295" y="2235641"/>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내용</a:t>
            </a:r>
          </a:p>
        </p:txBody>
      </p:sp>
      <p:sp>
        <p:nvSpPr>
          <p:cNvPr id="141" name="직사각형 140"/>
          <p:cNvSpPr/>
          <p:nvPr/>
        </p:nvSpPr>
        <p:spPr>
          <a:xfrm>
            <a:off x="1927295" y="3187241"/>
            <a:ext cx="99118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000" dirty="0" err="1">
                <a:solidFill>
                  <a:schemeClr val="tx2"/>
                </a:solidFill>
              </a:rPr>
              <a:t>실시권</a:t>
            </a:r>
            <a:endParaRPr lang="ko-KR" altLang="en-US" sz="1000" dirty="0">
              <a:solidFill>
                <a:schemeClr val="tx2"/>
              </a:solidFill>
            </a:endParaRPr>
          </a:p>
        </p:txBody>
      </p:sp>
      <p:sp>
        <p:nvSpPr>
          <p:cNvPr id="142" name="직사각형 141"/>
          <p:cNvSpPr/>
          <p:nvPr/>
        </p:nvSpPr>
        <p:spPr>
          <a:xfrm>
            <a:off x="1926619" y="4143059"/>
            <a:ext cx="1355344" cy="15351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실시보고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125)</a:t>
            </a:r>
            <a:endParaRPr lang="ko-KR" altLang="en-US" sz="1000" dirty="0">
              <a:solidFill>
                <a:schemeClr val="tx2"/>
              </a:solidFill>
            </a:endParaRPr>
          </a:p>
        </p:txBody>
      </p:sp>
      <p:sp>
        <p:nvSpPr>
          <p:cNvPr id="143" name="직사각형 142"/>
          <p:cNvSpPr/>
          <p:nvPr/>
        </p:nvSpPr>
        <p:spPr>
          <a:xfrm>
            <a:off x="1926619" y="4320845"/>
            <a:ext cx="1355344" cy="13417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집행권원</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125</a:t>
            </a:r>
            <a:r>
              <a:rPr lang="ko-KR" altLang="en-US" sz="1000" dirty="0">
                <a:solidFill>
                  <a:schemeClr val="tx2"/>
                </a:solidFill>
              </a:rPr>
              <a:t>의</a:t>
            </a:r>
            <a:r>
              <a:rPr lang="en-US" altLang="ko-KR" sz="1000" dirty="0">
                <a:solidFill>
                  <a:schemeClr val="tx2"/>
                </a:solidFill>
              </a:rPr>
              <a:t>2)</a:t>
            </a:r>
            <a:endParaRPr lang="ko-KR" altLang="en-US" sz="1000" dirty="0">
              <a:solidFill>
                <a:schemeClr val="tx2"/>
              </a:solidFill>
            </a:endParaRPr>
          </a:p>
        </p:txBody>
      </p:sp>
      <p:cxnSp>
        <p:nvCxnSpPr>
          <p:cNvPr id="144" name="꺾인 연결선 143"/>
          <p:cNvCxnSpPr>
            <a:stCxn id="125" idx="3"/>
            <a:endCxn id="135" idx="1"/>
          </p:cNvCxnSpPr>
          <p:nvPr/>
        </p:nvCxnSpPr>
        <p:spPr>
          <a:xfrm flipV="1">
            <a:off x="1774346" y="1091961"/>
            <a:ext cx="152947" cy="26884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꺾인 연결선 144"/>
          <p:cNvCxnSpPr>
            <a:stCxn id="125" idx="3"/>
            <a:endCxn id="136" idx="1"/>
          </p:cNvCxnSpPr>
          <p:nvPr/>
        </p:nvCxnSpPr>
        <p:spPr>
          <a:xfrm flipV="1">
            <a:off x="1774346" y="1273240"/>
            <a:ext cx="152948" cy="875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꺾인 연결선 145"/>
          <p:cNvCxnSpPr>
            <a:stCxn id="126" idx="3"/>
            <a:endCxn id="139" idx="1"/>
          </p:cNvCxnSpPr>
          <p:nvPr/>
        </p:nvCxnSpPr>
        <p:spPr>
          <a:xfrm flipV="1">
            <a:off x="1774346" y="1680091"/>
            <a:ext cx="152949" cy="2305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꺾인 연결선 146"/>
          <p:cNvCxnSpPr>
            <a:stCxn id="126" idx="3"/>
            <a:endCxn id="140" idx="1"/>
          </p:cNvCxnSpPr>
          <p:nvPr/>
        </p:nvCxnSpPr>
        <p:spPr>
          <a:xfrm>
            <a:off x="1774346" y="1910593"/>
            <a:ext cx="152949" cy="4043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꺾인 연결선 147"/>
          <p:cNvCxnSpPr>
            <a:stCxn id="127" idx="3"/>
            <a:endCxn id="141" idx="1"/>
          </p:cNvCxnSpPr>
          <p:nvPr/>
        </p:nvCxnSpPr>
        <p:spPr>
          <a:xfrm>
            <a:off x="1774346" y="3065551"/>
            <a:ext cx="152949" cy="2009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꺾인 연결선 148"/>
          <p:cNvCxnSpPr>
            <a:stCxn id="128" idx="3"/>
            <a:endCxn id="138" idx="1"/>
          </p:cNvCxnSpPr>
          <p:nvPr/>
        </p:nvCxnSpPr>
        <p:spPr>
          <a:xfrm>
            <a:off x="1774346" y="3788895"/>
            <a:ext cx="156898" cy="1988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꺾인 연결선 149"/>
          <p:cNvCxnSpPr>
            <a:stCxn id="129" idx="3"/>
            <a:endCxn id="142" idx="1"/>
          </p:cNvCxnSpPr>
          <p:nvPr/>
        </p:nvCxnSpPr>
        <p:spPr>
          <a:xfrm flipV="1">
            <a:off x="1774346" y="4219817"/>
            <a:ext cx="152273" cy="767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1" name="꺾인 연결선 150"/>
          <p:cNvCxnSpPr>
            <a:stCxn id="129" idx="3"/>
            <a:endCxn id="143" idx="1"/>
          </p:cNvCxnSpPr>
          <p:nvPr/>
        </p:nvCxnSpPr>
        <p:spPr>
          <a:xfrm>
            <a:off x="1774346" y="4296575"/>
            <a:ext cx="152273" cy="913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2" name="직사각형 151"/>
          <p:cNvSpPr/>
          <p:nvPr/>
        </p:nvSpPr>
        <p:spPr>
          <a:xfrm>
            <a:off x="2490834" y="1502332"/>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시간적</a:t>
            </a:r>
          </a:p>
        </p:txBody>
      </p:sp>
      <p:sp>
        <p:nvSpPr>
          <p:cNvPr id="153" name="직사각형 152"/>
          <p:cNvSpPr/>
          <p:nvPr/>
        </p:nvSpPr>
        <p:spPr>
          <a:xfrm>
            <a:off x="2490834" y="1753955"/>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내용적</a:t>
            </a:r>
          </a:p>
        </p:txBody>
      </p:sp>
      <p:sp>
        <p:nvSpPr>
          <p:cNvPr id="154" name="직사각형 153"/>
          <p:cNvSpPr/>
          <p:nvPr/>
        </p:nvSpPr>
        <p:spPr>
          <a:xfrm>
            <a:off x="2490834" y="1966576"/>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지역적</a:t>
            </a:r>
          </a:p>
        </p:txBody>
      </p:sp>
      <p:sp>
        <p:nvSpPr>
          <p:cNvPr id="155" name="직사각형 154"/>
          <p:cNvSpPr/>
          <p:nvPr/>
        </p:nvSpPr>
        <p:spPr>
          <a:xfrm>
            <a:off x="3028012" y="1406769"/>
            <a:ext cx="1665788"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존속기간</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88)</a:t>
            </a:r>
            <a:endParaRPr lang="ko-KR" altLang="en-US" sz="1000" dirty="0">
              <a:solidFill>
                <a:schemeClr val="tx2"/>
              </a:solidFill>
            </a:endParaRPr>
          </a:p>
        </p:txBody>
      </p:sp>
      <p:sp>
        <p:nvSpPr>
          <p:cNvPr id="156" name="직사각형 155"/>
          <p:cNvSpPr/>
          <p:nvPr/>
        </p:nvSpPr>
        <p:spPr>
          <a:xfrm>
            <a:off x="3028012" y="1577847"/>
            <a:ext cx="1665790" cy="149257"/>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존속기간의 연장</a:t>
            </a:r>
            <a:r>
              <a:rPr lang="en-US" altLang="ko-KR" sz="800" dirty="0">
                <a:solidFill>
                  <a:schemeClr val="tx2"/>
                </a:solidFill>
              </a:rPr>
              <a:t>(</a:t>
            </a:r>
            <a:r>
              <a:rPr lang="ko-KR" altLang="en-US" sz="800" dirty="0">
                <a:solidFill>
                  <a:schemeClr val="tx2"/>
                </a:solidFill>
              </a:rPr>
              <a:t>法 </a:t>
            </a:r>
            <a:r>
              <a:rPr lang="en-US" altLang="ko-KR" sz="800" dirty="0">
                <a:solidFill>
                  <a:schemeClr val="tx2"/>
                </a:solidFill>
              </a:rPr>
              <a:t>89~93, 95)</a:t>
            </a:r>
            <a:endParaRPr lang="ko-KR" altLang="en-US" sz="800" dirty="0">
              <a:solidFill>
                <a:schemeClr val="tx2"/>
              </a:solidFill>
            </a:endParaRPr>
          </a:p>
        </p:txBody>
      </p:sp>
      <p:sp>
        <p:nvSpPr>
          <p:cNvPr id="157" name="직사각형 156"/>
          <p:cNvSpPr/>
          <p:nvPr/>
        </p:nvSpPr>
        <p:spPr>
          <a:xfrm>
            <a:off x="3028012" y="1745004"/>
            <a:ext cx="1665788" cy="18577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청구범위</a:t>
            </a:r>
          </a:p>
        </p:txBody>
      </p:sp>
      <p:sp>
        <p:nvSpPr>
          <p:cNvPr id="158" name="직사각형 157"/>
          <p:cNvSpPr/>
          <p:nvPr/>
        </p:nvSpPr>
        <p:spPr>
          <a:xfrm>
            <a:off x="3028011" y="1966575"/>
            <a:ext cx="1665789" cy="15861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속지주의</a:t>
            </a:r>
          </a:p>
        </p:txBody>
      </p:sp>
      <p:sp>
        <p:nvSpPr>
          <p:cNvPr id="159" name="직사각형 158"/>
          <p:cNvSpPr/>
          <p:nvPr/>
        </p:nvSpPr>
        <p:spPr>
          <a:xfrm>
            <a:off x="2500115" y="2247804"/>
            <a:ext cx="41836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의의</a:t>
            </a:r>
          </a:p>
        </p:txBody>
      </p:sp>
      <p:sp>
        <p:nvSpPr>
          <p:cNvPr id="160" name="직사각형 159"/>
          <p:cNvSpPr/>
          <p:nvPr/>
        </p:nvSpPr>
        <p:spPr>
          <a:xfrm>
            <a:off x="2500114" y="2523982"/>
            <a:ext cx="2193687" cy="16340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제한</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81</a:t>
            </a:r>
            <a:r>
              <a:rPr lang="ko-KR" altLang="en-US" sz="1000" dirty="0">
                <a:solidFill>
                  <a:schemeClr val="tx2"/>
                </a:solidFill>
              </a:rPr>
              <a:t>의</a:t>
            </a:r>
            <a:r>
              <a:rPr lang="en-US" altLang="ko-KR" sz="1000" dirty="0">
                <a:solidFill>
                  <a:schemeClr val="tx2"/>
                </a:solidFill>
              </a:rPr>
              <a:t>3④, 96, 181/98)</a:t>
            </a:r>
            <a:endParaRPr lang="ko-KR" altLang="en-US" sz="1000" dirty="0">
              <a:solidFill>
                <a:schemeClr val="tx2"/>
              </a:solidFill>
            </a:endParaRPr>
          </a:p>
        </p:txBody>
      </p:sp>
      <p:sp>
        <p:nvSpPr>
          <p:cNvPr id="161" name="직사각형 160"/>
          <p:cNvSpPr/>
          <p:nvPr/>
        </p:nvSpPr>
        <p:spPr>
          <a:xfrm>
            <a:off x="2500114" y="2714241"/>
            <a:ext cx="2193687"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확장</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127)</a:t>
            </a:r>
            <a:endParaRPr lang="ko-KR" altLang="en-US" sz="1000" dirty="0">
              <a:solidFill>
                <a:schemeClr val="tx2"/>
              </a:solidFill>
            </a:endParaRPr>
          </a:p>
        </p:txBody>
      </p:sp>
      <p:sp>
        <p:nvSpPr>
          <p:cNvPr id="162" name="직사각형 161"/>
          <p:cNvSpPr/>
          <p:nvPr/>
        </p:nvSpPr>
        <p:spPr>
          <a:xfrm>
            <a:off x="1927295" y="2927413"/>
            <a:ext cx="1564240" cy="19388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이전 및 공유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99, 99</a:t>
            </a:r>
            <a:r>
              <a:rPr lang="ko-KR" altLang="en-US" sz="1000" dirty="0">
                <a:solidFill>
                  <a:schemeClr val="tx2"/>
                </a:solidFill>
              </a:rPr>
              <a:t>의</a:t>
            </a:r>
            <a:r>
              <a:rPr lang="en-US" altLang="ko-KR" sz="1000" dirty="0">
                <a:solidFill>
                  <a:schemeClr val="tx2"/>
                </a:solidFill>
              </a:rPr>
              <a:t>2)</a:t>
            </a:r>
            <a:endParaRPr lang="ko-KR" altLang="en-US" sz="1000" dirty="0">
              <a:solidFill>
                <a:schemeClr val="tx2"/>
              </a:solidFill>
            </a:endParaRPr>
          </a:p>
        </p:txBody>
      </p:sp>
      <p:sp>
        <p:nvSpPr>
          <p:cNvPr id="163" name="직사각형 162"/>
          <p:cNvSpPr/>
          <p:nvPr/>
        </p:nvSpPr>
        <p:spPr>
          <a:xfrm>
            <a:off x="3109057" y="3518950"/>
            <a:ext cx="2829345" cy="133282"/>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강제실시권</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106</a:t>
            </a:r>
            <a:r>
              <a:rPr lang="ko-KR" altLang="en-US" sz="1000" dirty="0">
                <a:solidFill>
                  <a:schemeClr val="tx2"/>
                </a:solidFill>
              </a:rPr>
              <a:t>의</a:t>
            </a:r>
            <a:r>
              <a:rPr lang="en-US" altLang="ko-KR" sz="1000" dirty="0">
                <a:solidFill>
                  <a:schemeClr val="tx2"/>
                </a:solidFill>
              </a:rPr>
              <a:t>2, 107~115, 138)</a:t>
            </a:r>
            <a:endParaRPr lang="ko-KR" altLang="en-US" sz="1000" dirty="0">
              <a:solidFill>
                <a:schemeClr val="tx2"/>
              </a:solidFill>
            </a:endParaRPr>
          </a:p>
        </p:txBody>
      </p:sp>
      <p:sp>
        <p:nvSpPr>
          <p:cNvPr id="164" name="직사각형 163"/>
          <p:cNvSpPr/>
          <p:nvPr/>
        </p:nvSpPr>
        <p:spPr>
          <a:xfrm>
            <a:off x="3109057" y="3339094"/>
            <a:ext cx="2829345" cy="13973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법정실시권</a:t>
            </a:r>
            <a:r>
              <a:rPr lang="en-US" altLang="ko-KR" sz="800" dirty="0">
                <a:solidFill>
                  <a:schemeClr val="tx2"/>
                </a:solidFill>
              </a:rPr>
              <a:t>(</a:t>
            </a:r>
            <a:r>
              <a:rPr lang="ko-KR" altLang="en-US" sz="800" dirty="0">
                <a:solidFill>
                  <a:schemeClr val="tx2"/>
                </a:solidFill>
              </a:rPr>
              <a:t>法 </a:t>
            </a:r>
            <a:r>
              <a:rPr lang="en-US" altLang="ko-KR" sz="800" dirty="0">
                <a:solidFill>
                  <a:schemeClr val="tx2"/>
                </a:solidFill>
              </a:rPr>
              <a:t>81</a:t>
            </a:r>
            <a:r>
              <a:rPr lang="ko-KR" altLang="en-US" sz="800" dirty="0">
                <a:solidFill>
                  <a:schemeClr val="tx2"/>
                </a:solidFill>
              </a:rPr>
              <a:t>의</a:t>
            </a:r>
            <a:r>
              <a:rPr lang="en-US" altLang="ko-KR" sz="800" dirty="0">
                <a:solidFill>
                  <a:schemeClr val="tx2"/>
                </a:solidFill>
              </a:rPr>
              <a:t>3, 103~105, 122, 182,183, </a:t>
            </a:r>
            <a:r>
              <a:rPr lang="ko-KR" altLang="en-US" sz="800" dirty="0" err="1">
                <a:solidFill>
                  <a:schemeClr val="tx2"/>
                </a:solidFill>
              </a:rPr>
              <a:t>발진법</a:t>
            </a:r>
            <a:r>
              <a:rPr lang="en-US" altLang="ko-KR" sz="800" dirty="0">
                <a:solidFill>
                  <a:schemeClr val="tx2"/>
                </a:solidFill>
              </a:rPr>
              <a:t>10</a:t>
            </a:r>
            <a:r>
              <a:rPr lang="ko-KR" altLang="en-US" sz="800" dirty="0">
                <a:solidFill>
                  <a:schemeClr val="tx2"/>
                </a:solidFill>
              </a:rPr>
              <a:t>①</a:t>
            </a:r>
            <a:r>
              <a:rPr lang="en-US" altLang="ko-KR" sz="800" dirty="0">
                <a:solidFill>
                  <a:schemeClr val="tx2"/>
                </a:solidFill>
              </a:rPr>
              <a:t>)</a:t>
            </a:r>
            <a:endParaRPr lang="ko-KR" altLang="en-US" sz="800" dirty="0">
              <a:solidFill>
                <a:schemeClr val="tx2"/>
              </a:solidFill>
            </a:endParaRPr>
          </a:p>
        </p:txBody>
      </p:sp>
      <p:sp>
        <p:nvSpPr>
          <p:cNvPr id="165" name="직사각형 164"/>
          <p:cNvSpPr/>
          <p:nvPr/>
        </p:nvSpPr>
        <p:spPr>
          <a:xfrm>
            <a:off x="3109057" y="3151440"/>
            <a:ext cx="2829345"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일반론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100~102, 118)</a:t>
            </a:r>
            <a:endParaRPr lang="ko-KR" altLang="en-US" sz="1000" dirty="0">
              <a:solidFill>
                <a:schemeClr val="tx2"/>
              </a:solidFill>
            </a:endParaRPr>
          </a:p>
        </p:txBody>
      </p:sp>
      <p:sp>
        <p:nvSpPr>
          <p:cNvPr id="166" name="직사각형 165"/>
          <p:cNvSpPr/>
          <p:nvPr/>
        </p:nvSpPr>
        <p:spPr>
          <a:xfrm>
            <a:off x="1931244" y="3709590"/>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원인</a:t>
            </a:r>
          </a:p>
        </p:txBody>
      </p:sp>
      <p:sp>
        <p:nvSpPr>
          <p:cNvPr id="167" name="직사각형 166"/>
          <p:cNvSpPr/>
          <p:nvPr/>
        </p:nvSpPr>
        <p:spPr>
          <a:xfrm>
            <a:off x="2426794" y="3883877"/>
            <a:ext cx="1721991" cy="20938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장래소멸</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119, 120, 124)</a:t>
            </a:r>
            <a:endParaRPr lang="ko-KR" altLang="en-US" sz="1000" dirty="0">
              <a:solidFill>
                <a:schemeClr val="tx2"/>
              </a:solidFill>
            </a:endParaRPr>
          </a:p>
        </p:txBody>
      </p:sp>
      <p:sp>
        <p:nvSpPr>
          <p:cNvPr id="168" name="직사각형 167"/>
          <p:cNvSpPr/>
          <p:nvPr/>
        </p:nvSpPr>
        <p:spPr>
          <a:xfrm>
            <a:off x="2426794" y="3698412"/>
            <a:ext cx="1721991"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소급소멸</a:t>
            </a:r>
          </a:p>
        </p:txBody>
      </p:sp>
      <p:cxnSp>
        <p:nvCxnSpPr>
          <p:cNvPr id="169" name="꺾인 연결선 168"/>
          <p:cNvCxnSpPr>
            <a:stCxn id="139" idx="3"/>
            <a:endCxn id="152" idx="1"/>
          </p:cNvCxnSpPr>
          <p:nvPr/>
        </p:nvCxnSpPr>
        <p:spPr>
          <a:xfrm flipV="1">
            <a:off x="2314769" y="1581638"/>
            <a:ext cx="176065" cy="984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꺾인 연결선 169"/>
          <p:cNvCxnSpPr>
            <a:stCxn id="139" idx="3"/>
            <a:endCxn id="153" idx="1"/>
          </p:cNvCxnSpPr>
          <p:nvPr/>
        </p:nvCxnSpPr>
        <p:spPr>
          <a:xfrm>
            <a:off x="2314769" y="1680091"/>
            <a:ext cx="176065" cy="15316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꺾인 연결선 170"/>
          <p:cNvCxnSpPr>
            <a:stCxn id="139" idx="3"/>
            <a:endCxn id="154" idx="1"/>
          </p:cNvCxnSpPr>
          <p:nvPr/>
        </p:nvCxnSpPr>
        <p:spPr>
          <a:xfrm>
            <a:off x="2314769" y="1680091"/>
            <a:ext cx="176065" cy="36579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꺾인 연결선 171"/>
          <p:cNvCxnSpPr>
            <a:stCxn id="152" idx="3"/>
            <a:endCxn id="155" idx="1"/>
          </p:cNvCxnSpPr>
          <p:nvPr/>
        </p:nvCxnSpPr>
        <p:spPr>
          <a:xfrm flipV="1">
            <a:off x="2918481" y="1486075"/>
            <a:ext cx="109531" cy="9556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꺾인 연결선 172"/>
          <p:cNvCxnSpPr>
            <a:stCxn id="152" idx="3"/>
            <a:endCxn id="156" idx="1"/>
          </p:cNvCxnSpPr>
          <p:nvPr/>
        </p:nvCxnSpPr>
        <p:spPr>
          <a:xfrm>
            <a:off x="2918481" y="1581638"/>
            <a:ext cx="109531" cy="7083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직선 연결선 173"/>
          <p:cNvCxnSpPr>
            <a:stCxn id="153" idx="3"/>
            <a:endCxn id="157" idx="1"/>
          </p:cNvCxnSpPr>
          <p:nvPr/>
        </p:nvCxnSpPr>
        <p:spPr>
          <a:xfrm>
            <a:off x="2918481" y="1833260"/>
            <a:ext cx="109531" cy="4630"/>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직선 연결선 174"/>
          <p:cNvCxnSpPr>
            <a:stCxn id="154" idx="3"/>
            <a:endCxn id="158" idx="1"/>
          </p:cNvCxnSpPr>
          <p:nvPr/>
        </p:nvCxnSpPr>
        <p:spPr>
          <a:xfrm flipV="1">
            <a:off x="2918481" y="2045880"/>
            <a:ext cx="109530" cy="1"/>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꺾인 연결선 175"/>
          <p:cNvCxnSpPr>
            <a:stCxn id="140" idx="3"/>
            <a:endCxn id="161" idx="1"/>
          </p:cNvCxnSpPr>
          <p:nvPr/>
        </p:nvCxnSpPr>
        <p:spPr>
          <a:xfrm>
            <a:off x="2314769" y="2314946"/>
            <a:ext cx="185345" cy="4786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꺾인 연결선 176"/>
          <p:cNvCxnSpPr>
            <a:stCxn id="140" idx="3"/>
            <a:endCxn id="159" idx="1"/>
          </p:cNvCxnSpPr>
          <p:nvPr/>
        </p:nvCxnSpPr>
        <p:spPr>
          <a:xfrm>
            <a:off x="2314769" y="2314946"/>
            <a:ext cx="185346" cy="1216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꺾인 연결선 177"/>
          <p:cNvCxnSpPr>
            <a:stCxn id="140" idx="3"/>
            <a:endCxn id="160" idx="1"/>
          </p:cNvCxnSpPr>
          <p:nvPr/>
        </p:nvCxnSpPr>
        <p:spPr>
          <a:xfrm>
            <a:off x="2314769" y="2314946"/>
            <a:ext cx="185345" cy="2907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9" name="꺾인 연결선 178"/>
          <p:cNvCxnSpPr>
            <a:stCxn id="127" idx="3"/>
            <a:endCxn id="162" idx="1"/>
          </p:cNvCxnSpPr>
          <p:nvPr/>
        </p:nvCxnSpPr>
        <p:spPr>
          <a:xfrm flipV="1">
            <a:off x="1774346" y="3024355"/>
            <a:ext cx="152949" cy="411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꺾인 연결선 179"/>
          <p:cNvCxnSpPr>
            <a:stCxn id="127" idx="3"/>
            <a:endCxn id="137" idx="1"/>
          </p:cNvCxnSpPr>
          <p:nvPr/>
        </p:nvCxnSpPr>
        <p:spPr>
          <a:xfrm>
            <a:off x="1774346" y="3065551"/>
            <a:ext cx="152949" cy="4132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꺾인 연결선 180"/>
          <p:cNvCxnSpPr>
            <a:stCxn id="141" idx="3"/>
            <a:endCxn id="163" idx="1"/>
          </p:cNvCxnSpPr>
          <p:nvPr/>
        </p:nvCxnSpPr>
        <p:spPr>
          <a:xfrm>
            <a:off x="2918481" y="3266547"/>
            <a:ext cx="190576" cy="31904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꺾인 연결선 181"/>
          <p:cNvCxnSpPr>
            <a:stCxn id="141" idx="3"/>
            <a:endCxn id="165" idx="1"/>
          </p:cNvCxnSpPr>
          <p:nvPr/>
        </p:nvCxnSpPr>
        <p:spPr>
          <a:xfrm flipV="1">
            <a:off x="2918481" y="3230745"/>
            <a:ext cx="190576" cy="3580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3" name="꺾인 연결선 182"/>
          <p:cNvCxnSpPr>
            <a:stCxn id="141" idx="3"/>
            <a:endCxn id="164" idx="1"/>
          </p:cNvCxnSpPr>
          <p:nvPr/>
        </p:nvCxnSpPr>
        <p:spPr>
          <a:xfrm>
            <a:off x="2918481" y="3266547"/>
            <a:ext cx="190576" cy="14241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4" name="꺾인 연결선 183"/>
          <p:cNvCxnSpPr>
            <a:stCxn id="128" idx="3"/>
            <a:endCxn id="166" idx="1"/>
          </p:cNvCxnSpPr>
          <p:nvPr/>
        </p:nvCxnSpPr>
        <p:spPr>
          <a:xfrm>
            <a:off x="1774346" y="3788895"/>
            <a:ext cx="156898" cy="127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5" name="꺾인 연결선 184"/>
          <p:cNvCxnSpPr>
            <a:stCxn id="166" idx="3"/>
            <a:endCxn id="167" idx="1"/>
          </p:cNvCxnSpPr>
          <p:nvPr/>
        </p:nvCxnSpPr>
        <p:spPr>
          <a:xfrm>
            <a:off x="2314770" y="3788895"/>
            <a:ext cx="112024" cy="1996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6" name="꺾인 연결선 185"/>
          <p:cNvCxnSpPr>
            <a:stCxn id="166" idx="3"/>
            <a:endCxn id="168" idx="1"/>
          </p:cNvCxnSpPr>
          <p:nvPr/>
        </p:nvCxnSpPr>
        <p:spPr>
          <a:xfrm flipV="1">
            <a:off x="2314770" y="3777717"/>
            <a:ext cx="112024" cy="1117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7" name="직사각형 186"/>
          <p:cNvSpPr/>
          <p:nvPr/>
        </p:nvSpPr>
        <p:spPr>
          <a:xfrm>
            <a:off x="3281962" y="2158301"/>
            <a:ext cx="1411839" cy="16756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적극적 효력</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94)</a:t>
            </a:r>
            <a:endParaRPr lang="ko-KR" altLang="en-US" sz="1000" dirty="0">
              <a:solidFill>
                <a:schemeClr val="tx2"/>
              </a:solidFill>
            </a:endParaRPr>
          </a:p>
        </p:txBody>
      </p:sp>
      <p:sp>
        <p:nvSpPr>
          <p:cNvPr id="188" name="직사각형 187"/>
          <p:cNvSpPr/>
          <p:nvPr/>
        </p:nvSpPr>
        <p:spPr>
          <a:xfrm>
            <a:off x="3281962" y="2341797"/>
            <a:ext cx="1411839" cy="15393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소극적 효력</a:t>
            </a:r>
            <a:r>
              <a:rPr lang="en-US" altLang="ko-KR" sz="1000" dirty="0">
                <a:solidFill>
                  <a:schemeClr val="tx2"/>
                </a:solidFill>
              </a:rPr>
              <a:t>(</a:t>
            </a:r>
            <a:r>
              <a:rPr lang="ko-KR" altLang="en-US" sz="1000" dirty="0">
                <a:solidFill>
                  <a:schemeClr val="tx2"/>
                </a:solidFill>
              </a:rPr>
              <a:t>침해</a:t>
            </a:r>
            <a:r>
              <a:rPr lang="en-US" altLang="ko-KR" sz="1000" dirty="0">
                <a:solidFill>
                  <a:schemeClr val="tx2"/>
                </a:solidFill>
              </a:rPr>
              <a:t>)</a:t>
            </a:r>
            <a:endParaRPr lang="ko-KR" altLang="en-US" sz="1000" dirty="0">
              <a:solidFill>
                <a:schemeClr val="tx2"/>
              </a:solidFill>
            </a:endParaRPr>
          </a:p>
        </p:txBody>
      </p:sp>
      <p:cxnSp>
        <p:nvCxnSpPr>
          <p:cNvPr id="189" name="꺾인 연결선 188"/>
          <p:cNvCxnSpPr>
            <a:stCxn id="159" idx="3"/>
            <a:endCxn id="188" idx="1"/>
          </p:cNvCxnSpPr>
          <p:nvPr/>
        </p:nvCxnSpPr>
        <p:spPr>
          <a:xfrm>
            <a:off x="2918481" y="2327109"/>
            <a:ext cx="363481" cy="9165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0" name="꺾인 연결선 189"/>
          <p:cNvCxnSpPr>
            <a:stCxn id="159" idx="3"/>
            <a:endCxn id="187" idx="1"/>
          </p:cNvCxnSpPr>
          <p:nvPr/>
        </p:nvCxnSpPr>
        <p:spPr>
          <a:xfrm flipV="1">
            <a:off x="2918481" y="2242081"/>
            <a:ext cx="363481" cy="850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1" name="직사각형 190"/>
          <p:cNvSpPr/>
          <p:nvPr/>
        </p:nvSpPr>
        <p:spPr>
          <a:xfrm>
            <a:off x="4891070" y="1400340"/>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성립요건</a:t>
            </a:r>
          </a:p>
        </p:txBody>
      </p:sp>
      <p:sp>
        <p:nvSpPr>
          <p:cNvPr id="192" name="직사각형 191"/>
          <p:cNvSpPr/>
          <p:nvPr/>
        </p:nvSpPr>
        <p:spPr>
          <a:xfrm>
            <a:off x="4891070" y="1771241"/>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종류</a:t>
            </a:r>
          </a:p>
        </p:txBody>
      </p:sp>
      <p:sp>
        <p:nvSpPr>
          <p:cNvPr id="193" name="직사각형 192"/>
          <p:cNvSpPr/>
          <p:nvPr/>
        </p:nvSpPr>
        <p:spPr>
          <a:xfrm>
            <a:off x="4891070" y="2381537"/>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조치</a:t>
            </a:r>
          </a:p>
        </p:txBody>
      </p:sp>
      <p:cxnSp>
        <p:nvCxnSpPr>
          <p:cNvPr id="194" name="꺾인 연결선 193"/>
          <p:cNvCxnSpPr>
            <a:stCxn id="188" idx="3"/>
            <a:endCxn id="191" idx="1"/>
          </p:cNvCxnSpPr>
          <p:nvPr/>
        </p:nvCxnSpPr>
        <p:spPr>
          <a:xfrm flipV="1">
            <a:off x="4693801" y="1479645"/>
            <a:ext cx="197269" cy="939118"/>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꺾인 연결선 194"/>
          <p:cNvCxnSpPr>
            <a:stCxn id="188" idx="3"/>
            <a:endCxn id="193" idx="1"/>
          </p:cNvCxnSpPr>
          <p:nvPr/>
        </p:nvCxnSpPr>
        <p:spPr>
          <a:xfrm>
            <a:off x="4693801" y="2418763"/>
            <a:ext cx="197269" cy="42079"/>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꺾인 연결선 195"/>
          <p:cNvCxnSpPr>
            <a:stCxn id="188" idx="3"/>
            <a:endCxn id="192" idx="1"/>
          </p:cNvCxnSpPr>
          <p:nvPr/>
        </p:nvCxnSpPr>
        <p:spPr>
          <a:xfrm flipV="1">
            <a:off x="4693801" y="1850546"/>
            <a:ext cx="197269" cy="568217"/>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7" name="직사각형 196"/>
          <p:cNvSpPr/>
          <p:nvPr/>
        </p:nvSpPr>
        <p:spPr>
          <a:xfrm>
            <a:off x="5586610" y="1528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직접침해</a:t>
            </a:r>
            <a:endParaRPr lang="en-US" altLang="ko-KR" sz="1000" dirty="0">
              <a:solidFill>
                <a:schemeClr val="tx2"/>
              </a:solidFill>
            </a:endParaRPr>
          </a:p>
          <a:p>
            <a:pPr algn="ctr" fontAlgn="base"/>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97, 98)</a:t>
            </a:r>
            <a:endParaRPr lang="ko-KR" altLang="en-US" sz="1000" dirty="0">
              <a:solidFill>
                <a:schemeClr val="tx2"/>
              </a:solidFill>
            </a:endParaRPr>
          </a:p>
        </p:txBody>
      </p:sp>
      <p:sp>
        <p:nvSpPr>
          <p:cNvPr id="198" name="직사각형 197"/>
          <p:cNvSpPr/>
          <p:nvPr/>
        </p:nvSpPr>
        <p:spPr>
          <a:xfrm>
            <a:off x="5586610" y="1904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간접침해</a:t>
            </a:r>
            <a:endParaRPr lang="en-US" altLang="ko-KR" sz="1000" dirty="0">
              <a:solidFill>
                <a:schemeClr val="tx2"/>
              </a:solidFill>
            </a:endParaRPr>
          </a:p>
          <a:p>
            <a:pPr algn="ctr" fontAlgn="base"/>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127)</a:t>
            </a:r>
            <a:endParaRPr lang="ko-KR" altLang="en-US" sz="1000" dirty="0">
              <a:solidFill>
                <a:schemeClr val="tx2"/>
              </a:solidFill>
            </a:endParaRPr>
          </a:p>
        </p:txBody>
      </p:sp>
      <p:cxnSp>
        <p:nvCxnSpPr>
          <p:cNvPr id="199" name="꺾인 연결선 198"/>
          <p:cNvCxnSpPr>
            <a:stCxn id="192" idx="3"/>
            <a:endCxn id="197" idx="1"/>
          </p:cNvCxnSpPr>
          <p:nvPr/>
        </p:nvCxnSpPr>
        <p:spPr>
          <a:xfrm flipV="1">
            <a:off x="5452482" y="1689718"/>
            <a:ext cx="134128" cy="1608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0" name="꺾인 연결선 199"/>
          <p:cNvCxnSpPr>
            <a:stCxn id="192" idx="3"/>
            <a:endCxn id="198" idx="1"/>
          </p:cNvCxnSpPr>
          <p:nvPr/>
        </p:nvCxnSpPr>
        <p:spPr>
          <a:xfrm>
            <a:off x="5452482" y="1850546"/>
            <a:ext cx="134128" cy="21517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1" name="모서리가 둥근 직사각형 200"/>
          <p:cNvSpPr/>
          <p:nvPr/>
        </p:nvSpPr>
        <p:spPr>
          <a:xfrm>
            <a:off x="5586610" y="2318465"/>
            <a:ext cx="833380" cy="300825"/>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algn="ctr"/>
            <a:r>
              <a:rPr lang="ko-KR" altLang="en-US" sz="1000" dirty="0">
                <a:solidFill>
                  <a:schemeClr val="tx2"/>
                </a:solidFill>
              </a:rPr>
              <a:t>민사적 조치</a:t>
            </a:r>
            <a:endParaRPr lang="en-US" altLang="ko-KR" sz="1000" dirty="0">
              <a:solidFill>
                <a:schemeClr val="tx2"/>
              </a:solidFill>
            </a:endParaRPr>
          </a:p>
          <a:p>
            <a:pPr algn="ct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126-132)</a:t>
            </a:r>
            <a:endParaRPr lang="ko-KR" altLang="en-US" sz="1000" dirty="0">
              <a:solidFill>
                <a:schemeClr val="tx2"/>
              </a:solidFill>
            </a:endParaRPr>
          </a:p>
        </p:txBody>
      </p:sp>
      <p:sp>
        <p:nvSpPr>
          <p:cNvPr id="202" name="모서리가 둥근 직사각형 201"/>
          <p:cNvSpPr/>
          <p:nvPr/>
        </p:nvSpPr>
        <p:spPr>
          <a:xfrm>
            <a:off x="5586609" y="2663316"/>
            <a:ext cx="833381" cy="341821"/>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algn="ctr"/>
            <a:r>
              <a:rPr lang="ko-KR" altLang="en-US" sz="1000" dirty="0">
                <a:solidFill>
                  <a:schemeClr val="tx2"/>
                </a:solidFill>
              </a:rPr>
              <a:t>형사적 조치</a:t>
            </a:r>
            <a:endParaRPr lang="en-US" altLang="ko-KR" sz="1000" dirty="0">
              <a:solidFill>
                <a:schemeClr val="tx2"/>
              </a:solidFill>
            </a:endParaRPr>
          </a:p>
          <a:p>
            <a:pPr algn="ct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225-232)</a:t>
            </a:r>
            <a:endParaRPr lang="ko-KR" altLang="en-US" sz="1000" dirty="0">
              <a:solidFill>
                <a:schemeClr val="tx2"/>
              </a:solidFill>
            </a:endParaRPr>
          </a:p>
        </p:txBody>
      </p:sp>
      <p:cxnSp>
        <p:nvCxnSpPr>
          <p:cNvPr id="203" name="꺾인 연결선 202"/>
          <p:cNvCxnSpPr>
            <a:stCxn id="193" idx="3"/>
            <a:endCxn id="201" idx="1"/>
          </p:cNvCxnSpPr>
          <p:nvPr/>
        </p:nvCxnSpPr>
        <p:spPr>
          <a:xfrm>
            <a:off x="5452482" y="2460843"/>
            <a:ext cx="134128" cy="803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4" name="꺾인 연결선 203"/>
          <p:cNvCxnSpPr>
            <a:stCxn id="193" idx="3"/>
            <a:endCxn id="202" idx="1"/>
          </p:cNvCxnSpPr>
          <p:nvPr/>
        </p:nvCxnSpPr>
        <p:spPr>
          <a:xfrm>
            <a:off x="5452482" y="2460843"/>
            <a:ext cx="134127" cy="37338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5" name="직사각형 204"/>
          <p:cNvSpPr/>
          <p:nvPr/>
        </p:nvSpPr>
        <p:spPr>
          <a:xfrm>
            <a:off x="7780806" y="2184608"/>
            <a:ext cx="555844" cy="610645"/>
          </a:xfrm>
          <a:prstGeom prst="rect">
            <a:avLst/>
          </a:prstGeom>
          <a:solidFill>
            <a:schemeClr val="accent6">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solidFill>
                  <a:schemeClr val="bg1"/>
                </a:solidFill>
              </a:rPr>
              <a:t>심판절차 </a:t>
            </a:r>
            <a:endParaRPr lang="en-US" altLang="ko-KR" sz="1000" dirty="0">
              <a:solidFill>
                <a:schemeClr val="bg1"/>
              </a:solidFill>
            </a:endParaRPr>
          </a:p>
          <a:p>
            <a:pPr algn="ctr"/>
            <a:r>
              <a:rPr lang="ko-KR" altLang="en-US" sz="1000" dirty="0">
                <a:solidFill>
                  <a:schemeClr val="bg1"/>
                </a:solidFill>
              </a:rPr>
              <a:t>일반</a:t>
            </a:r>
            <a:endParaRPr lang="en-US" altLang="ko-KR" sz="1000" dirty="0">
              <a:solidFill>
                <a:schemeClr val="bg1"/>
              </a:solidFill>
            </a:endParaRPr>
          </a:p>
          <a:p>
            <a:pPr algn="ctr"/>
            <a:r>
              <a:rPr lang="en-US" altLang="ko-KR" sz="1000" dirty="0">
                <a:solidFill>
                  <a:schemeClr val="bg1"/>
                </a:solidFill>
              </a:rPr>
              <a:t>(</a:t>
            </a:r>
            <a:r>
              <a:rPr lang="ko-KR" altLang="en-US" sz="1000" dirty="0">
                <a:solidFill>
                  <a:schemeClr val="bg1"/>
                </a:solidFill>
              </a:rPr>
              <a:t>총론</a:t>
            </a:r>
            <a:r>
              <a:rPr lang="en-US" altLang="ko-KR" sz="1000" dirty="0">
                <a:solidFill>
                  <a:schemeClr val="bg1"/>
                </a:solidFill>
              </a:rPr>
              <a:t>)</a:t>
            </a:r>
            <a:endParaRPr lang="ko-KR" altLang="en-US" sz="1000" dirty="0">
              <a:solidFill>
                <a:schemeClr val="bg1"/>
              </a:solidFill>
            </a:endParaRPr>
          </a:p>
        </p:txBody>
      </p:sp>
      <p:sp>
        <p:nvSpPr>
          <p:cNvPr id="206" name="직사각형 205"/>
          <p:cNvSpPr/>
          <p:nvPr/>
        </p:nvSpPr>
        <p:spPr>
          <a:xfrm>
            <a:off x="7780806" y="4163272"/>
            <a:ext cx="555844" cy="610645"/>
          </a:xfrm>
          <a:prstGeom prst="rect">
            <a:avLst/>
          </a:prstGeom>
          <a:solidFill>
            <a:schemeClr val="accent5">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solidFill>
                  <a:schemeClr val="bg1"/>
                </a:solidFill>
              </a:rPr>
              <a:t>심판의</a:t>
            </a:r>
            <a:endParaRPr lang="en-US" altLang="ko-KR" sz="1000" dirty="0">
              <a:solidFill>
                <a:schemeClr val="bg1"/>
              </a:solidFill>
            </a:endParaRPr>
          </a:p>
          <a:p>
            <a:pPr algn="ctr"/>
            <a:r>
              <a:rPr lang="ko-KR" altLang="en-US" sz="1000" dirty="0">
                <a:solidFill>
                  <a:schemeClr val="bg1"/>
                </a:solidFill>
              </a:rPr>
              <a:t>종류</a:t>
            </a:r>
            <a:endParaRPr lang="en-US" altLang="ko-KR" sz="1000" dirty="0">
              <a:solidFill>
                <a:schemeClr val="bg1"/>
              </a:solidFill>
            </a:endParaRPr>
          </a:p>
          <a:p>
            <a:pPr algn="ctr"/>
            <a:r>
              <a:rPr lang="en-US" altLang="ko-KR" sz="1000" dirty="0">
                <a:solidFill>
                  <a:schemeClr val="bg1"/>
                </a:solidFill>
              </a:rPr>
              <a:t>(</a:t>
            </a:r>
            <a:r>
              <a:rPr lang="ko-KR" altLang="en-US" sz="1000" dirty="0">
                <a:solidFill>
                  <a:schemeClr val="bg1"/>
                </a:solidFill>
              </a:rPr>
              <a:t>각론</a:t>
            </a:r>
            <a:r>
              <a:rPr lang="en-US" altLang="ko-KR" sz="1000" dirty="0">
                <a:solidFill>
                  <a:schemeClr val="bg1"/>
                </a:solidFill>
              </a:rPr>
              <a:t>)</a:t>
            </a:r>
            <a:endParaRPr lang="ko-KR" altLang="en-US" sz="1000" dirty="0">
              <a:solidFill>
                <a:schemeClr val="bg1"/>
              </a:solidFill>
            </a:endParaRPr>
          </a:p>
        </p:txBody>
      </p:sp>
      <p:sp>
        <p:nvSpPr>
          <p:cNvPr id="207" name="직사각형 206"/>
          <p:cNvSpPr/>
          <p:nvPr/>
        </p:nvSpPr>
        <p:spPr>
          <a:xfrm>
            <a:off x="8500191" y="131308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a:t>주체</a:t>
            </a:r>
            <a:endParaRPr lang="ko-KR" altLang="en-US" sz="1000" dirty="0"/>
          </a:p>
        </p:txBody>
      </p:sp>
      <p:sp>
        <p:nvSpPr>
          <p:cNvPr id="208" name="직사각형 207"/>
          <p:cNvSpPr/>
          <p:nvPr/>
        </p:nvSpPr>
        <p:spPr>
          <a:xfrm>
            <a:off x="8500191" y="180459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청구</a:t>
            </a:r>
          </a:p>
        </p:txBody>
      </p:sp>
      <p:sp>
        <p:nvSpPr>
          <p:cNvPr id="209" name="직사각형 208"/>
          <p:cNvSpPr/>
          <p:nvPr/>
        </p:nvSpPr>
        <p:spPr>
          <a:xfrm>
            <a:off x="8500191" y="2449052"/>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진행</a:t>
            </a:r>
          </a:p>
        </p:txBody>
      </p:sp>
      <p:sp>
        <p:nvSpPr>
          <p:cNvPr id="210" name="직사각형 209"/>
          <p:cNvSpPr/>
          <p:nvPr/>
        </p:nvSpPr>
        <p:spPr>
          <a:xfrm>
            <a:off x="8500191" y="2977875"/>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종료</a:t>
            </a:r>
          </a:p>
        </p:txBody>
      </p:sp>
      <p:sp>
        <p:nvSpPr>
          <p:cNvPr id="211" name="직사각형 210"/>
          <p:cNvSpPr/>
          <p:nvPr/>
        </p:nvSpPr>
        <p:spPr>
          <a:xfrm>
            <a:off x="9363869" y="8056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심판원</a:t>
            </a:r>
            <a:r>
              <a:rPr lang="en-US" altLang="ko-KR" sz="1000" dirty="0"/>
              <a:t>(</a:t>
            </a:r>
            <a:r>
              <a:rPr lang="ko-KR" altLang="en-US" sz="1000" dirty="0"/>
              <a:t>法 </a:t>
            </a:r>
            <a:r>
              <a:rPr lang="en-US" altLang="ko-KR" sz="1000" dirty="0"/>
              <a:t>132</a:t>
            </a:r>
            <a:r>
              <a:rPr lang="ko-KR" altLang="en-US" sz="1000" dirty="0"/>
              <a:t>의</a:t>
            </a:r>
            <a:r>
              <a:rPr lang="en-US" altLang="ko-KR" sz="1000" dirty="0"/>
              <a:t>16, 143~153</a:t>
            </a:r>
            <a:r>
              <a:rPr lang="ko-KR" altLang="en-US" sz="1000" dirty="0"/>
              <a:t>의</a:t>
            </a:r>
            <a:r>
              <a:rPr lang="en-US" altLang="ko-KR" sz="1000" dirty="0"/>
              <a:t>2)</a:t>
            </a:r>
            <a:endParaRPr lang="ko-KR" altLang="en-US" sz="1000" dirty="0"/>
          </a:p>
        </p:txBody>
      </p:sp>
      <p:sp>
        <p:nvSpPr>
          <p:cNvPr id="212" name="직사각형 211"/>
          <p:cNvSpPr/>
          <p:nvPr/>
        </p:nvSpPr>
        <p:spPr>
          <a:xfrm>
            <a:off x="9363869" y="9962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당사자</a:t>
            </a:r>
            <a:r>
              <a:rPr lang="en-US" altLang="ko-KR" sz="1000" dirty="0"/>
              <a:t>(</a:t>
            </a:r>
            <a:r>
              <a:rPr lang="ko-KR" altLang="en-US" sz="1000" dirty="0"/>
              <a:t>法 </a:t>
            </a:r>
            <a:r>
              <a:rPr lang="en-US" altLang="ko-KR" sz="1000" dirty="0"/>
              <a:t>139)</a:t>
            </a:r>
            <a:endParaRPr lang="ko-KR" altLang="en-US" sz="1000" dirty="0"/>
          </a:p>
        </p:txBody>
      </p:sp>
      <p:sp>
        <p:nvSpPr>
          <p:cNvPr id="213" name="직사각형 212"/>
          <p:cNvSpPr/>
          <p:nvPr/>
        </p:nvSpPr>
        <p:spPr>
          <a:xfrm>
            <a:off x="9363869" y="118351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참가인</a:t>
            </a:r>
            <a:r>
              <a:rPr lang="en-US" altLang="ko-KR" sz="1000" dirty="0"/>
              <a:t>(</a:t>
            </a:r>
            <a:r>
              <a:rPr lang="ko-KR" altLang="en-US" sz="1000" dirty="0"/>
              <a:t>法 </a:t>
            </a:r>
            <a:r>
              <a:rPr lang="en-US" altLang="ko-KR" sz="1000" dirty="0"/>
              <a:t>155, 156)</a:t>
            </a:r>
            <a:endParaRPr lang="ko-KR" altLang="en-US" sz="1000" dirty="0"/>
          </a:p>
        </p:txBody>
      </p:sp>
      <p:sp>
        <p:nvSpPr>
          <p:cNvPr id="214" name="직사각형 213"/>
          <p:cNvSpPr/>
          <p:nvPr/>
        </p:nvSpPr>
        <p:spPr>
          <a:xfrm>
            <a:off x="9363869" y="1703773"/>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청구</a:t>
            </a:r>
            <a:r>
              <a:rPr lang="en-US" altLang="ko-KR" sz="1000" dirty="0"/>
              <a:t>(</a:t>
            </a:r>
            <a:r>
              <a:rPr lang="ko-KR" altLang="en-US" sz="1000" dirty="0"/>
              <a:t>法 </a:t>
            </a:r>
            <a:r>
              <a:rPr lang="en-US" altLang="ko-KR" sz="1000" dirty="0"/>
              <a:t>140, 140</a:t>
            </a:r>
            <a:r>
              <a:rPr lang="ko-KR" altLang="en-US" sz="1000" dirty="0"/>
              <a:t>의</a:t>
            </a:r>
            <a:r>
              <a:rPr lang="en-US" altLang="ko-KR" sz="1000" dirty="0"/>
              <a:t>2)</a:t>
            </a:r>
            <a:endParaRPr lang="ko-KR" altLang="en-US" sz="1000" dirty="0"/>
          </a:p>
        </p:txBody>
      </p:sp>
      <p:sp>
        <p:nvSpPr>
          <p:cNvPr id="215" name="직사각형 214"/>
          <p:cNvSpPr/>
          <p:nvPr/>
        </p:nvSpPr>
        <p:spPr>
          <a:xfrm>
            <a:off x="9363869" y="18943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심판청구서의 보정</a:t>
            </a:r>
            <a:r>
              <a:rPr lang="en-US" altLang="ko-KR" sz="1000" dirty="0"/>
              <a:t>(</a:t>
            </a:r>
            <a:r>
              <a:rPr lang="ko-KR" altLang="en-US" sz="1000" dirty="0"/>
              <a:t>法 </a:t>
            </a:r>
            <a:r>
              <a:rPr lang="en-US" altLang="ko-KR" sz="1000" dirty="0"/>
              <a:t>140②, 140</a:t>
            </a:r>
            <a:r>
              <a:rPr lang="ko-KR" altLang="en-US" sz="1000" dirty="0"/>
              <a:t>의</a:t>
            </a:r>
            <a:r>
              <a:rPr lang="en-US" altLang="ko-KR" sz="1000" dirty="0"/>
              <a:t>2②)</a:t>
            </a:r>
          </a:p>
        </p:txBody>
      </p:sp>
      <p:sp>
        <p:nvSpPr>
          <p:cNvPr id="216" name="직사각형 215"/>
          <p:cNvSpPr/>
          <p:nvPr/>
        </p:nvSpPr>
        <p:spPr>
          <a:xfrm>
            <a:off x="9363869" y="22698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방식심리</a:t>
            </a:r>
            <a:r>
              <a:rPr lang="en-US" altLang="ko-KR" sz="1000" dirty="0"/>
              <a:t>(</a:t>
            </a:r>
            <a:r>
              <a:rPr lang="ko-KR" altLang="en-US" sz="1000" dirty="0"/>
              <a:t>法 </a:t>
            </a:r>
            <a:r>
              <a:rPr lang="en-US" altLang="ko-KR" sz="1000" dirty="0"/>
              <a:t>141)</a:t>
            </a:r>
            <a:endParaRPr lang="ko-KR" altLang="en-US" sz="1000" dirty="0"/>
          </a:p>
        </p:txBody>
      </p:sp>
      <p:sp>
        <p:nvSpPr>
          <p:cNvPr id="217" name="직사각형 216"/>
          <p:cNvSpPr/>
          <p:nvPr/>
        </p:nvSpPr>
        <p:spPr>
          <a:xfrm>
            <a:off x="9363869" y="245801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적법성 심리</a:t>
            </a:r>
            <a:r>
              <a:rPr lang="en-US" altLang="ko-KR" sz="1000" dirty="0"/>
              <a:t>(</a:t>
            </a:r>
            <a:r>
              <a:rPr lang="ko-KR" altLang="en-US" sz="1000" dirty="0"/>
              <a:t>法 </a:t>
            </a:r>
            <a:r>
              <a:rPr lang="en-US" altLang="ko-KR" sz="1000" dirty="0"/>
              <a:t>142)</a:t>
            </a:r>
            <a:endParaRPr lang="ko-KR" altLang="en-US" sz="1000" dirty="0"/>
          </a:p>
        </p:txBody>
      </p:sp>
      <p:sp>
        <p:nvSpPr>
          <p:cNvPr id="218" name="직사각형 217"/>
          <p:cNvSpPr/>
          <p:nvPr/>
        </p:nvSpPr>
        <p:spPr>
          <a:xfrm>
            <a:off x="9363869" y="264666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본안심리</a:t>
            </a:r>
            <a:r>
              <a:rPr lang="en-US" altLang="ko-KR" sz="1000" dirty="0"/>
              <a:t>(</a:t>
            </a:r>
            <a:r>
              <a:rPr lang="ko-KR" altLang="en-US" sz="1000" dirty="0"/>
              <a:t>法 </a:t>
            </a:r>
            <a:r>
              <a:rPr lang="en-US" altLang="ko-KR" sz="1000" dirty="0"/>
              <a:t>154, 157-160)</a:t>
            </a:r>
            <a:endParaRPr lang="ko-KR" altLang="en-US" sz="1000" dirty="0"/>
          </a:p>
        </p:txBody>
      </p:sp>
      <p:sp>
        <p:nvSpPr>
          <p:cNvPr id="219" name="직사각형 218"/>
          <p:cNvSpPr/>
          <p:nvPr/>
        </p:nvSpPr>
        <p:spPr>
          <a:xfrm>
            <a:off x="9363869" y="288449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심판청구의 취하</a:t>
            </a:r>
            <a:r>
              <a:rPr lang="en-US" altLang="ko-KR" sz="1000" dirty="0"/>
              <a:t>(</a:t>
            </a:r>
            <a:r>
              <a:rPr lang="ko-KR" altLang="en-US" sz="1000" dirty="0"/>
              <a:t>法 </a:t>
            </a:r>
            <a:r>
              <a:rPr lang="en-US" altLang="ko-KR" sz="1000" dirty="0"/>
              <a:t>161)</a:t>
            </a:r>
            <a:endParaRPr lang="ko-KR" altLang="en-US" sz="1000" dirty="0"/>
          </a:p>
        </p:txBody>
      </p:sp>
      <p:sp>
        <p:nvSpPr>
          <p:cNvPr id="220" name="직사각형 219"/>
          <p:cNvSpPr/>
          <p:nvPr/>
        </p:nvSpPr>
        <p:spPr>
          <a:xfrm>
            <a:off x="9363869" y="307268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심결</a:t>
            </a:r>
            <a:r>
              <a:rPr lang="en-US" altLang="ko-KR" sz="1000" dirty="0"/>
              <a:t>(</a:t>
            </a:r>
            <a:r>
              <a:rPr lang="ko-KR" altLang="en-US" sz="1000" dirty="0"/>
              <a:t>法 </a:t>
            </a:r>
            <a:r>
              <a:rPr lang="en-US" altLang="ko-KR" sz="1000" dirty="0"/>
              <a:t>162, 163)</a:t>
            </a:r>
            <a:endParaRPr lang="ko-KR" altLang="en-US" sz="1000" dirty="0"/>
          </a:p>
        </p:txBody>
      </p:sp>
      <p:sp>
        <p:nvSpPr>
          <p:cNvPr id="221" name="직사각형 220"/>
          <p:cNvSpPr/>
          <p:nvPr/>
        </p:nvSpPr>
        <p:spPr>
          <a:xfrm>
            <a:off x="8500191" y="4104276"/>
            <a:ext cx="710030" cy="171015"/>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결정계</a:t>
            </a:r>
            <a:r>
              <a:rPr lang="ko-KR" altLang="en-US" sz="1000" dirty="0"/>
              <a:t> 심판</a:t>
            </a:r>
          </a:p>
        </p:txBody>
      </p:sp>
      <p:sp>
        <p:nvSpPr>
          <p:cNvPr id="222" name="직사각형 221"/>
          <p:cNvSpPr/>
          <p:nvPr/>
        </p:nvSpPr>
        <p:spPr>
          <a:xfrm>
            <a:off x="8500191" y="4475324"/>
            <a:ext cx="710030" cy="364286"/>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당사자계 </a:t>
            </a:r>
            <a:endParaRPr lang="en-US" altLang="ko-KR" sz="1000" dirty="0"/>
          </a:p>
          <a:p>
            <a:pPr algn="ctr"/>
            <a:r>
              <a:rPr lang="ko-KR" altLang="en-US" sz="1000" dirty="0"/>
              <a:t>심판</a:t>
            </a:r>
          </a:p>
        </p:txBody>
      </p:sp>
      <p:sp>
        <p:nvSpPr>
          <p:cNvPr id="223" name="직사각형 222"/>
          <p:cNvSpPr/>
          <p:nvPr/>
        </p:nvSpPr>
        <p:spPr>
          <a:xfrm>
            <a:off x="8500189" y="5251229"/>
            <a:ext cx="1308145"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재심</a:t>
            </a:r>
            <a:r>
              <a:rPr lang="en-US" altLang="ko-KR" sz="1000" dirty="0"/>
              <a:t>(</a:t>
            </a:r>
            <a:r>
              <a:rPr lang="ko-KR" altLang="en-US" sz="1000" dirty="0"/>
              <a:t>法 </a:t>
            </a:r>
            <a:r>
              <a:rPr lang="en-US" altLang="ko-KR" sz="1000" dirty="0"/>
              <a:t>178~185)</a:t>
            </a:r>
            <a:endParaRPr lang="ko-KR" altLang="en-US" sz="1000" dirty="0"/>
          </a:p>
        </p:txBody>
      </p:sp>
      <p:sp>
        <p:nvSpPr>
          <p:cNvPr id="224" name="직사각형 223"/>
          <p:cNvSpPr/>
          <p:nvPr/>
        </p:nvSpPr>
        <p:spPr>
          <a:xfrm>
            <a:off x="9363869" y="401219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거절결정불복심판</a:t>
            </a:r>
            <a:r>
              <a:rPr lang="en-US" altLang="ko-KR" sz="900" dirty="0"/>
              <a:t>(</a:t>
            </a:r>
            <a:r>
              <a:rPr lang="ko-KR" altLang="en-US" sz="900" dirty="0"/>
              <a:t>法 </a:t>
            </a:r>
            <a:r>
              <a:rPr lang="en-US" altLang="ko-KR" sz="900" dirty="0"/>
              <a:t>132</a:t>
            </a:r>
            <a:r>
              <a:rPr lang="ko-KR" altLang="en-US" sz="900" dirty="0"/>
              <a:t>의</a:t>
            </a:r>
            <a:r>
              <a:rPr lang="en-US" altLang="ko-KR" sz="900" dirty="0"/>
              <a:t>17, 170~172, 176)</a:t>
            </a:r>
            <a:endParaRPr lang="ko-KR" altLang="en-US" sz="900" dirty="0"/>
          </a:p>
        </p:txBody>
      </p:sp>
      <p:sp>
        <p:nvSpPr>
          <p:cNvPr id="225" name="직사각형 224"/>
          <p:cNvSpPr/>
          <p:nvPr/>
        </p:nvSpPr>
        <p:spPr>
          <a:xfrm>
            <a:off x="9363869" y="420277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정정심판</a:t>
            </a:r>
            <a:r>
              <a:rPr lang="en-US" altLang="ko-KR" sz="1000" dirty="0"/>
              <a:t>(</a:t>
            </a:r>
            <a:r>
              <a:rPr lang="ko-KR" altLang="en-US" sz="1000" dirty="0"/>
              <a:t>法 </a:t>
            </a:r>
            <a:r>
              <a:rPr lang="en-US" altLang="ko-KR" sz="1000" dirty="0"/>
              <a:t>136)</a:t>
            </a:r>
            <a:endParaRPr lang="ko-KR" altLang="en-US" sz="1000" dirty="0"/>
          </a:p>
        </p:txBody>
      </p:sp>
      <p:sp>
        <p:nvSpPr>
          <p:cNvPr id="226" name="직사각형 225"/>
          <p:cNvSpPr/>
          <p:nvPr/>
        </p:nvSpPr>
        <p:spPr>
          <a:xfrm>
            <a:off x="9363869" y="438375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무효심판</a:t>
            </a:r>
            <a:r>
              <a:rPr lang="en-US" altLang="ko-KR" sz="1000" dirty="0"/>
              <a:t>(</a:t>
            </a:r>
            <a:r>
              <a:rPr lang="ko-KR" altLang="en-US" sz="1000" dirty="0"/>
              <a:t>法 </a:t>
            </a:r>
            <a:r>
              <a:rPr lang="en-US" altLang="ko-KR" sz="1000" dirty="0"/>
              <a:t>133, 134, 137)</a:t>
            </a:r>
            <a:endParaRPr lang="ko-KR" altLang="en-US" sz="1000" dirty="0"/>
          </a:p>
        </p:txBody>
      </p:sp>
      <p:sp>
        <p:nvSpPr>
          <p:cNvPr id="227" name="직사각형 226"/>
          <p:cNvSpPr/>
          <p:nvPr/>
        </p:nvSpPr>
        <p:spPr>
          <a:xfrm>
            <a:off x="9363869" y="457975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권리범위확인심판</a:t>
            </a:r>
            <a:r>
              <a:rPr lang="en-US" altLang="ko-KR" sz="1000" dirty="0"/>
              <a:t>(</a:t>
            </a:r>
            <a:r>
              <a:rPr lang="ko-KR" altLang="en-US" sz="1000" dirty="0"/>
              <a:t>法 </a:t>
            </a:r>
            <a:r>
              <a:rPr lang="en-US" altLang="ko-KR" sz="1000" dirty="0"/>
              <a:t>135)</a:t>
            </a:r>
            <a:endParaRPr lang="ko-KR" altLang="en-US" sz="1000" dirty="0"/>
          </a:p>
        </p:txBody>
      </p:sp>
      <p:sp>
        <p:nvSpPr>
          <p:cNvPr id="228" name="직사각형 227"/>
          <p:cNvSpPr/>
          <p:nvPr/>
        </p:nvSpPr>
        <p:spPr>
          <a:xfrm>
            <a:off x="9363869" y="477033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통상실시권허락심판</a:t>
            </a:r>
            <a:r>
              <a:rPr lang="en-US" altLang="ko-KR" sz="1000" dirty="0"/>
              <a:t>(</a:t>
            </a:r>
            <a:r>
              <a:rPr lang="ko-KR" altLang="en-US" sz="1000" dirty="0"/>
              <a:t>法 </a:t>
            </a:r>
            <a:r>
              <a:rPr lang="en-US" altLang="ko-KR" sz="1000" dirty="0"/>
              <a:t>138)</a:t>
            </a:r>
            <a:endParaRPr lang="ko-KR" altLang="en-US" sz="1000" dirty="0"/>
          </a:p>
        </p:txBody>
      </p:sp>
      <p:cxnSp>
        <p:nvCxnSpPr>
          <p:cNvPr id="229" name="꺾인 연결선 228"/>
          <p:cNvCxnSpPr>
            <a:stCxn id="205" idx="1"/>
            <a:endCxn id="252" idx="3"/>
          </p:cNvCxnSpPr>
          <p:nvPr/>
        </p:nvCxnSpPr>
        <p:spPr>
          <a:xfrm rot="10800000" flipV="1">
            <a:off x="7557110" y="2489931"/>
            <a:ext cx="223697" cy="347276"/>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꺾인 연결선 229"/>
          <p:cNvCxnSpPr>
            <a:stCxn id="205" idx="3"/>
            <a:endCxn id="207" idx="1"/>
          </p:cNvCxnSpPr>
          <p:nvPr/>
        </p:nvCxnSpPr>
        <p:spPr>
          <a:xfrm flipV="1">
            <a:off x="8336650" y="1398592"/>
            <a:ext cx="163541" cy="10913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꺾인 연결선 230"/>
          <p:cNvCxnSpPr>
            <a:stCxn id="205" idx="3"/>
            <a:endCxn id="210" idx="1"/>
          </p:cNvCxnSpPr>
          <p:nvPr/>
        </p:nvCxnSpPr>
        <p:spPr>
          <a:xfrm>
            <a:off x="8336650" y="2489931"/>
            <a:ext cx="163541" cy="573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꺾인 연결선 231"/>
          <p:cNvCxnSpPr>
            <a:stCxn id="205" idx="3"/>
            <a:endCxn id="208" idx="1"/>
          </p:cNvCxnSpPr>
          <p:nvPr/>
        </p:nvCxnSpPr>
        <p:spPr>
          <a:xfrm flipV="1">
            <a:off x="8336650" y="1890102"/>
            <a:ext cx="163541" cy="5998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3" name="꺾인 연결선 232"/>
          <p:cNvCxnSpPr>
            <a:stCxn id="205" idx="3"/>
            <a:endCxn id="209" idx="1"/>
          </p:cNvCxnSpPr>
          <p:nvPr/>
        </p:nvCxnSpPr>
        <p:spPr>
          <a:xfrm>
            <a:off x="8336650" y="2489931"/>
            <a:ext cx="163541" cy="446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꺾인 연결선 233"/>
          <p:cNvCxnSpPr>
            <a:stCxn id="207" idx="3"/>
            <a:endCxn id="211" idx="1"/>
          </p:cNvCxnSpPr>
          <p:nvPr/>
        </p:nvCxnSpPr>
        <p:spPr>
          <a:xfrm flipV="1">
            <a:off x="9210221" y="874930"/>
            <a:ext cx="153648" cy="52366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5" name="꺾인 연결선 234"/>
          <p:cNvCxnSpPr>
            <a:stCxn id="207" idx="3"/>
            <a:endCxn id="213" idx="1"/>
          </p:cNvCxnSpPr>
          <p:nvPr/>
        </p:nvCxnSpPr>
        <p:spPr>
          <a:xfrm flipV="1">
            <a:off x="9210221" y="1252790"/>
            <a:ext cx="153648" cy="1458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6" name="꺾인 연결선 235"/>
          <p:cNvCxnSpPr>
            <a:cxnSpLocks/>
            <a:stCxn id="207" idx="3"/>
            <a:endCxn id="288" idx="1"/>
          </p:cNvCxnSpPr>
          <p:nvPr/>
        </p:nvCxnSpPr>
        <p:spPr>
          <a:xfrm>
            <a:off x="9210221" y="1398592"/>
            <a:ext cx="148622" cy="1108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7" name="꺾인 연결선 236"/>
          <p:cNvCxnSpPr>
            <a:stCxn id="208" idx="3"/>
            <a:endCxn id="214" idx="1"/>
          </p:cNvCxnSpPr>
          <p:nvPr/>
        </p:nvCxnSpPr>
        <p:spPr>
          <a:xfrm flipV="1">
            <a:off x="9210221" y="1773052"/>
            <a:ext cx="153648" cy="1170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8" name="꺾인 연결선 237"/>
          <p:cNvCxnSpPr>
            <a:stCxn id="208" idx="3"/>
            <a:endCxn id="215" idx="1"/>
          </p:cNvCxnSpPr>
          <p:nvPr/>
        </p:nvCxnSpPr>
        <p:spPr>
          <a:xfrm>
            <a:off x="9210221" y="1890102"/>
            <a:ext cx="153648" cy="735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9" name="꺾인 연결선 238"/>
          <p:cNvCxnSpPr>
            <a:stCxn id="209" idx="3"/>
            <a:endCxn id="216" idx="1"/>
          </p:cNvCxnSpPr>
          <p:nvPr/>
        </p:nvCxnSpPr>
        <p:spPr>
          <a:xfrm flipV="1">
            <a:off x="9210221" y="2339108"/>
            <a:ext cx="153648" cy="195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0" name="꺾인 연결선 239"/>
          <p:cNvCxnSpPr>
            <a:stCxn id="209" idx="3"/>
            <a:endCxn id="218" idx="1"/>
          </p:cNvCxnSpPr>
          <p:nvPr/>
        </p:nvCxnSpPr>
        <p:spPr>
          <a:xfrm>
            <a:off x="9210221" y="2534560"/>
            <a:ext cx="153648" cy="18138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1" name="꺾인 연결선 240"/>
          <p:cNvCxnSpPr>
            <a:stCxn id="209" idx="3"/>
            <a:endCxn id="217" idx="1"/>
          </p:cNvCxnSpPr>
          <p:nvPr/>
        </p:nvCxnSpPr>
        <p:spPr>
          <a:xfrm flipV="1">
            <a:off x="9210221" y="2527293"/>
            <a:ext cx="153648" cy="72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꺾인 연결선 241"/>
          <p:cNvCxnSpPr>
            <a:stCxn id="221" idx="1"/>
            <a:endCxn id="206" idx="3"/>
          </p:cNvCxnSpPr>
          <p:nvPr/>
        </p:nvCxnSpPr>
        <p:spPr>
          <a:xfrm rot="10800000" flipV="1">
            <a:off x="8336651" y="4189783"/>
            <a:ext cx="163541" cy="2788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3" name="꺾인 연결선 242"/>
          <p:cNvCxnSpPr>
            <a:stCxn id="206" idx="3"/>
            <a:endCxn id="223" idx="1"/>
          </p:cNvCxnSpPr>
          <p:nvPr/>
        </p:nvCxnSpPr>
        <p:spPr>
          <a:xfrm>
            <a:off x="8336650" y="4468595"/>
            <a:ext cx="163539" cy="86197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4" name="꺾인 연결선 243"/>
          <p:cNvCxnSpPr>
            <a:stCxn id="206" idx="3"/>
            <a:endCxn id="222" idx="1"/>
          </p:cNvCxnSpPr>
          <p:nvPr/>
        </p:nvCxnSpPr>
        <p:spPr>
          <a:xfrm>
            <a:off x="8336650" y="4468595"/>
            <a:ext cx="163541" cy="1888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꺾인 연결선 244"/>
          <p:cNvCxnSpPr>
            <a:stCxn id="210" idx="3"/>
            <a:endCxn id="219" idx="1"/>
          </p:cNvCxnSpPr>
          <p:nvPr/>
        </p:nvCxnSpPr>
        <p:spPr>
          <a:xfrm flipV="1">
            <a:off x="9210221" y="2953778"/>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꺾인 연결선 245"/>
          <p:cNvCxnSpPr>
            <a:stCxn id="210" idx="3"/>
            <a:endCxn id="220" idx="1"/>
          </p:cNvCxnSpPr>
          <p:nvPr/>
        </p:nvCxnSpPr>
        <p:spPr>
          <a:xfrm>
            <a:off x="9210221" y="3063383"/>
            <a:ext cx="153648" cy="7858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7" name="꺾인 연결선 246"/>
          <p:cNvCxnSpPr>
            <a:stCxn id="221" idx="3"/>
            <a:endCxn id="224" idx="1"/>
          </p:cNvCxnSpPr>
          <p:nvPr/>
        </p:nvCxnSpPr>
        <p:spPr>
          <a:xfrm flipV="1">
            <a:off x="9210221" y="4081472"/>
            <a:ext cx="153648" cy="1083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8" name="꺾인 연결선 247"/>
          <p:cNvCxnSpPr>
            <a:stCxn id="221" idx="3"/>
            <a:endCxn id="225" idx="1"/>
          </p:cNvCxnSpPr>
          <p:nvPr/>
        </p:nvCxnSpPr>
        <p:spPr>
          <a:xfrm>
            <a:off x="9210221" y="4189784"/>
            <a:ext cx="153648" cy="8226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9" name="꺾인 연결선 248"/>
          <p:cNvCxnSpPr>
            <a:stCxn id="222" idx="3"/>
            <a:endCxn id="226" idx="1"/>
          </p:cNvCxnSpPr>
          <p:nvPr/>
        </p:nvCxnSpPr>
        <p:spPr>
          <a:xfrm flipV="1">
            <a:off x="9210221" y="4453030"/>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0" name="꺾인 연결선 249"/>
          <p:cNvCxnSpPr>
            <a:stCxn id="222" idx="3"/>
            <a:endCxn id="227" idx="1"/>
          </p:cNvCxnSpPr>
          <p:nvPr/>
        </p:nvCxnSpPr>
        <p:spPr>
          <a:xfrm flipV="1">
            <a:off x="9210221" y="4649032"/>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1" name="꺾인 연결선 250"/>
          <p:cNvCxnSpPr>
            <a:stCxn id="222" idx="3"/>
            <a:endCxn id="228" idx="1"/>
          </p:cNvCxnSpPr>
          <p:nvPr/>
        </p:nvCxnSpPr>
        <p:spPr>
          <a:xfrm>
            <a:off x="9210221" y="4657467"/>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2" name="직사각형 251"/>
          <p:cNvSpPr/>
          <p:nvPr/>
        </p:nvSpPr>
        <p:spPr>
          <a:xfrm>
            <a:off x="7136327" y="2620124"/>
            <a:ext cx="420782" cy="434166"/>
          </a:xfrm>
          <a:prstGeom prst="rect">
            <a:avLst/>
          </a:prstGeom>
          <a:solidFill>
            <a:schemeClr val="accent5"/>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200" dirty="0">
                <a:solidFill>
                  <a:schemeClr val="bg1"/>
                </a:solidFill>
              </a:rPr>
              <a:t>심판</a:t>
            </a:r>
            <a:endParaRPr lang="en-US" altLang="ko-KR" sz="1200" dirty="0">
              <a:solidFill>
                <a:schemeClr val="bg1"/>
              </a:solidFill>
            </a:endParaRPr>
          </a:p>
          <a:p>
            <a:pPr algn="ctr"/>
            <a:r>
              <a:rPr lang="ko-KR" altLang="en-US" sz="1200" dirty="0">
                <a:solidFill>
                  <a:schemeClr val="bg1"/>
                </a:solidFill>
              </a:rPr>
              <a:t>제도</a:t>
            </a:r>
          </a:p>
        </p:txBody>
      </p:sp>
      <p:cxnSp>
        <p:nvCxnSpPr>
          <p:cNvPr id="253" name="꺾인 연결선 252"/>
          <p:cNvCxnSpPr>
            <a:stCxn id="252" idx="3"/>
            <a:endCxn id="206" idx="1"/>
          </p:cNvCxnSpPr>
          <p:nvPr/>
        </p:nvCxnSpPr>
        <p:spPr>
          <a:xfrm>
            <a:off x="7557109" y="2837207"/>
            <a:ext cx="223697" cy="163138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4" name="직사각형 253"/>
          <p:cNvSpPr/>
          <p:nvPr/>
        </p:nvSpPr>
        <p:spPr>
          <a:xfrm>
            <a:off x="8500189" y="5000342"/>
            <a:ext cx="2075729"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특허취소신청</a:t>
            </a:r>
            <a:r>
              <a:rPr lang="en-US" altLang="ko-KR" sz="1000" dirty="0"/>
              <a:t>(</a:t>
            </a:r>
            <a:r>
              <a:rPr lang="ko-KR" altLang="en-US" sz="1000" dirty="0"/>
              <a:t>法 </a:t>
            </a:r>
            <a:r>
              <a:rPr lang="en-US" altLang="ko-KR" sz="1000" dirty="0"/>
              <a:t>132</a:t>
            </a:r>
            <a:r>
              <a:rPr lang="ko-KR" altLang="en-US" sz="1000" dirty="0"/>
              <a:t>의</a:t>
            </a:r>
            <a:r>
              <a:rPr lang="en-US" altLang="ko-KR" sz="1000" dirty="0"/>
              <a:t>2~132</a:t>
            </a:r>
            <a:r>
              <a:rPr lang="ko-KR" altLang="en-US" sz="1000" dirty="0"/>
              <a:t>의</a:t>
            </a:r>
            <a:r>
              <a:rPr lang="en-US" altLang="ko-KR" sz="1000" dirty="0"/>
              <a:t>15)</a:t>
            </a:r>
            <a:endParaRPr lang="ko-KR" altLang="en-US" sz="1000" dirty="0"/>
          </a:p>
        </p:txBody>
      </p:sp>
      <p:cxnSp>
        <p:nvCxnSpPr>
          <p:cNvPr id="255" name="꺾인 연결선 254"/>
          <p:cNvCxnSpPr>
            <a:stCxn id="206" idx="3"/>
            <a:endCxn id="254" idx="1"/>
          </p:cNvCxnSpPr>
          <p:nvPr/>
        </p:nvCxnSpPr>
        <p:spPr>
          <a:xfrm>
            <a:off x="8336650" y="4468595"/>
            <a:ext cx="163539" cy="6110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6" name="직사각형 255"/>
          <p:cNvSpPr/>
          <p:nvPr/>
        </p:nvSpPr>
        <p:spPr>
          <a:xfrm>
            <a:off x="9363869" y="2079620"/>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중복심판청구금지</a:t>
            </a:r>
            <a:r>
              <a:rPr lang="en-US" altLang="ko-KR" sz="1000" dirty="0"/>
              <a:t>(</a:t>
            </a:r>
            <a:r>
              <a:rPr lang="ko-KR" altLang="en-US" sz="1000" dirty="0"/>
              <a:t>法 </a:t>
            </a:r>
            <a:r>
              <a:rPr lang="en-US" altLang="ko-KR" sz="1000" dirty="0"/>
              <a:t>154⑧ </a:t>
            </a:r>
            <a:r>
              <a:rPr lang="ko-KR" altLang="en-US" sz="1000" dirty="0"/>
              <a:t>준용</a:t>
            </a:r>
            <a:r>
              <a:rPr lang="en-US" altLang="ko-KR" sz="1000" dirty="0"/>
              <a:t> </a:t>
            </a:r>
            <a:r>
              <a:rPr lang="ko-KR" altLang="en-US" sz="1000" dirty="0"/>
              <a:t>민소</a:t>
            </a:r>
            <a:r>
              <a:rPr lang="en-US" altLang="ko-KR" sz="1000" dirty="0"/>
              <a:t>259)</a:t>
            </a:r>
          </a:p>
        </p:txBody>
      </p:sp>
      <p:sp>
        <p:nvSpPr>
          <p:cNvPr id="257" name="직사각형 256"/>
          <p:cNvSpPr/>
          <p:nvPr/>
        </p:nvSpPr>
        <p:spPr>
          <a:xfrm>
            <a:off x="8237008" y="5752000"/>
            <a:ext cx="420212"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en-US" altLang="ko-KR" sz="1200" dirty="0">
                <a:solidFill>
                  <a:schemeClr val="bg1"/>
                </a:solidFill>
              </a:rPr>
              <a:t>PCT</a:t>
            </a:r>
            <a:endParaRPr lang="ko-KR" altLang="en-US" sz="1200" dirty="0">
              <a:solidFill>
                <a:schemeClr val="bg1"/>
              </a:solidFill>
            </a:endParaRPr>
          </a:p>
        </p:txBody>
      </p:sp>
      <p:sp>
        <p:nvSpPr>
          <p:cNvPr id="258" name="직사각형 257"/>
          <p:cNvSpPr/>
          <p:nvPr/>
        </p:nvSpPr>
        <p:spPr>
          <a:xfrm>
            <a:off x="8810868" y="566042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특허출원절차</a:t>
            </a:r>
            <a:r>
              <a:rPr lang="en-US" altLang="ko-KR" sz="1000" dirty="0"/>
              <a:t>(</a:t>
            </a:r>
            <a:r>
              <a:rPr lang="ko-KR" altLang="en-US" sz="1000" dirty="0"/>
              <a:t>法 </a:t>
            </a:r>
            <a:r>
              <a:rPr lang="en-US" altLang="ko-KR" sz="1000" dirty="0"/>
              <a:t>192~198)</a:t>
            </a:r>
            <a:endParaRPr lang="ko-KR" altLang="en-US" sz="1000" dirty="0"/>
          </a:p>
        </p:txBody>
      </p:sp>
      <p:sp>
        <p:nvSpPr>
          <p:cNvPr id="259" name="직사각형 258"/>
          <p:cNvSpPr/>
          <p:nvPr/>
        </p:nvSpPr>
        <p:spPr>
          <a:xfrm>
            <a:off x="8810868" y="5856429"/>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국제조사 및 국제예비심사</a:t>
            </a:r>
            <a:r>
              <a:rPr lang="en-US" altLang="ko-KR" sz="1000" dirty="0"/>
              <a:t>(</a:t>
            </a:r>
            <a:r>
              <a:rPr lang="ko-KR" altLang="en-US" sz="1000" dirty="0"/>
              <a:t>法 </a:t>
            </a:r>
            <a:r>
              <a:rPr lang="en-US" altLang="ko-KR" sz="1000" dirty="0"/>
              <a:t>198</a:t>
            </a:r>
            <a:r>
              <a:rPr lang="ko-KR" altLang="en-US" sz="1000" dirty="0"/>
              <a:t>의</a:t>
            </a:r>
            <a:r>
              <a:rPr lang="en-US" altLang="ko-KR" sz="1000" dirty="0"/>
              <a:t>2)</a:t>
            </a:r>
            <a:endParaRPr lang="ko-KR" altLang="en-US" sz="1000" dirty="0"/>
          </a:p>
        </p:txBody>
      </p:sp>
      <p:sp>
        <p:nvSpPr>
          <p:cNvPr id="260" name="직사각형 259"/>
          <p:cNvSpPr/>
          <p:nvPr/>
        </p:nvSpPr>
        <p:spPr>
          <a:xfrm>
            <a:off x="8810868" y="604700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국제특허출원에 관한 특례</a:t>
            </a:r>
            <a:r>
              <a:rPr lang="en-US" altLang="ko-KR" sz="1000" dirty="0"/>
              <a:t>(</a:t>
            </a:r>
            <a:r>
              <a:rPr lang="ko-KR" altLang="en-US" sz="1000" dirty="0"/>
              <a:t>法 </a:t>
            </a:r>
            <a:r>
              <a:rPr lang="en-US" altLang="ko-KR" sz="1000" dirty="0"/>
              <a:t>199~214)</a:t>
            </a:r>
            <a:endParaRPr lang="ko-KR" altLang="en-US" sz="1000" dirty="0"/>
          </a:p>
        </p:txBody>
      </p:sp>
      <p:cxnSp>
        <p:nvCxnSpPr>
          <p:cNvPr id="261" name="꺾인 연결선 260"/>
          <p:cNvCxnSpPr>
            <a:stCxn id="257" idx="3"/>
            <a:endCxn id="258" idx="1"/>
          </p:cNvCxnSpPr>
          <p:nvPr/>
        </p:nvCxnSpPr>
        <p:spPr>
          <a:xfrm flipV="1">
            <a:off x="8657220" y="5729706"/>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꺾인 연결선 261"/>
          <p:cNvCxnSpPr>
            <a:stCxn id="257" idx="3"/>
            <a:endCxn id="259" idx="1"/>
          </p:cNvCxnSpPr>
          <p:nvPr/>
        </p:nvCxnSpPr>
        <p:spPr>
          <a:xfrm flipV="1">
            <a:off x="8657220" y="5925708"/>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꺾인 연결선 262"/>
          <p:cNvCxnSpPr>
            <a:stCxn id="257" idx="3"/>
            <a:endCxn id="260" idx="1"/>
          </p:cNvCxnSpPr>
          <p:nvPr/>
        </p:nvCxnSpPr>
        <p:spPr>
          <a:xfrm>
            <a:off x="8657220" y="5934143"/>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꺾인 연결선 263"/>
          <p:cNvCxnSpPr>
            <a:stCxn id="273" idx="3"/>
            <a:endCxn id="295" idx="1"/>
          </p:cNvCxnSpPr>
          <p:nvPr/>
        </p:nvCxnSpPr>
        <p:spPr>
          <a:xfrm flipV="1">
            <a:off x="4278775" y="4164703"/>
            <a:ext cx="168733" cy="44072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5" name="꺾인 연결선 264"/>
          <p:cNvCxnSpPr>
            <a:stCxn id="273" idx="3"/>
            <a:endCxn id="296" idx="1"/>
          </p:cNvCxnSpPr>
          <p:nvPr/>
        </p:nvCxnSpPr>
        <p:spPr>
          <a:xfrm flipV="1">
            <a:off x="4278775" y="4328505"/>
            <a:ext cx="168733" cy="27692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6" name="직사각형 265"/>
          <p:cNvSpPr/>
          <p:nvPr/>
        </p:nvSpPr>
        <p:spPr>
          <a:xfrm>
            <a:off x="612833" y="5324052"/>
            <a:ext cx="355015"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200" dirty="0">
                <a:solidFill>
                  <a:schemeClr val="bg1"/>
                </a:solidFill>
              </a:rPr>
              <a:t>소송</a:t>
            </a:r>
          </a:p>
        </p:txBody>
      </p:sp>
      <p:sp>
        <p:nvSpPr>
          <p:cNvPr id="267" name="직사각형 266"/>
          <p:cNvSpPr/>
          <p:nvPr/>
        </p:nvSpPr>
        <p:spPr>
          <a:xfrm>
            <a:off x="1121497" y="523247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err="1"/>
              <a:t>심결취소소송</a:t>
            </a:r>
            <a:r>
              <a:rPr lang="en-US" altLang="ko-KR" sz="1000" dirty="0"/>
              <a:t>(</a:t>
            </a:r>
            <a:r>
              <a:rPr lang="ko-KR" altLang="en-US" sz="1000" dirty="0"/>
              <a:t>法 </a:t>
            </a:r>
            <a:r>
              <a:rPr lang="en-US" altLang="ko-KR" sz="1000" dirty="0"/>
              <a:t>186~189)</a:t>
            </a:r>
            <a:endParaRPr lang="ko-KR" altLang="en-US" sz="1000" dirty="0"/>
          </a:p>
        </p:txBody>
      </p:sp>
      <p:sp>
        <p:nvSpPr>
          <p:cNvPr id="268" name="직사각형 267"/>
          <p:cNvSpPr/>
          <p:nvPr/>
        </p:nvSpPr>
        <p:spPr>
          <a:xfrm>
            <a:off x="1121497" y="5428481"/>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보상금</a:t>
            </a:r>
            <a:r>
              <a:rPr lang="en-US" altLang="ko-KR" sz="1000" dirty="0"/>
              <a:t>/</a:t>
            </a:r>
            <a:r>
              <a:rPr lang="ko-KR" altLang="en-US" sz="1000" dirty="0"/>
              <a:t>대가에 대한 소송</a:t>
            </a:r>
            <a:r>
              <a:rPr lang="en-US" altLang="ko-KR" sz="1000" dirty="0"/>
              <a:t>(</a:t>
            </a:r>
            <a:r>
              <a:rPr lang="ko-KR" altLang="en-US" sz="1000" dirty="0"/>
              <a:t>法 </a:t>
            </a:r>
            <a:r>
              <a:rPr lang="en-US" altLang="ko-KR" sz="1000" dirty="0"/>
              <a:t>190, 191)</a:t>
            </a:r>
            <a:endParaRPr lang="ko-KR" altLang="en-US" sz="1000" dirty="0"/>
          </a:p>
        </p:txBody>
      </p:sp>
      <p:sp>
        <p:nvSpPr>
          <p:cNvPr id="269" name="직사각형 268"/>
          <p:cNvSpPr/>
          <p:nvPr/>
        </p:nvSpPr>
        <p:spPr>
          <a:xfrm>
            <a:off x="1121497" y="561905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변리사 보수</a:t>
            </a:r>
            <a:r>
              <a:rPr lang="en-US" altLang="ko-KR" sz="1000" dirty="0"/>
              <a:t>(</a:t>
            </a:r>
            <a:r>
              <a:rPr lang="ko-KR" altLang="en-US" sz="1000" dirty="0"/>
              <a:t>法 </a:t>
            </a:r>
            <a:r>
              <a:rPr lang="en-US" altLang="ko-KR" sz="1000" dirty="0"/>
              <a:t>191</a:t>
            </a:r>
            <a:r>
              <a:rPr lang="ko-KR" altLang="en-US" sz="1000" dirty="0"/>
              <a:t>의</a:t>
            </a:r>
            <a:r>
              <a:rPr lang="en-US" altLang="ko-KR" sz="1000" dirty="0"/>
              <a:t>2)</a:t>
            </a:r>
            <a:endParaRPr lang="ko-KR" altLang="en-US" sz="1000" dirty="0"/>
          </a:p>
        </p:txBody>
      </p:sp>
      <p:cxnSp>
        <p:nvCxnSpPr>
          <p:cNvPr id="270" name="꺾인 연결선 269"/>
          <p:cNvCxnSpPr>
            <a:stCxn id="266" idx="3"/>
            <a:endCxn id="267" idx="1"/>
          </p:cNvCxnSpPr>
          <p:nvPr/>
        </p:nvCxnSpPr>
        <p:spPr>
          <a:xfrm flipV="1">
            <a:off x="967848" y="5301758"/>
            <a:ext cx="153649"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1" name="꺾인 연결선 270"/>
          <p:cNvCxnSpPr>
            <a:stCxn id="266" idx="3"/>
            <a:endCxn id="268" idx="1"/>
          </p:cNvCxnSpPr>
          <p:nvPr/>
        </p:nvCxnSpPr>
        <p:spPr>
          <a:xfrm flipV="1">
            <a:off x="967848" y="5497760"/>
            <a:ext cx="153649"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2" name="꺾인 연결선 271"/>
          <p:cNvCxnSpPr>
            <a:stCxn id="266" idx="3"/>
            <a:endCxn id="269" idx="1"/>
          </p:cNvCxnSpPr>
          <p:nvPr/>
        </p:nvCxnSpPr>
        <p:spPr>
          <a:xfrm>
            <a:off x="967848" y="5506195"/>
            <a:ext cx="153649"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3" name="직사각형 272"/>
          <p:cNvSpPr/>
          <p:nvPr/>
        </p:nvSpPr>
        <p:spPr>
          <a:xfrm>
            <a:off x="3609544" y="4480740"/>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accent3">
                    <a:lumMod val="50000"/>
                  </a:schemeClr>
                </a:solidFill>
              </a:rPr>
              <a:t>소송요건</a:t>
            </a:r>
            <a:endParaRPr lang="en-US" altLang="ko-KR" sz="1000" dirty="0">
              <a:solidFill>
                <a:schemeClr val="accent3">
                  <a:lumMod val="50000"/>
                </a:schemeClr>
              </a:solidFill>
            </a:endParaRPr>
          </a:p>
          <a:p>
            <a:pPr algn="ctr"/>
            <a:r>
              <a:rPr lang="en-US" altLang="ko-KR" sz="700" dirty="0">
                <a:solidFill>
                  <a:schemeClr val="accent3">
                    <a:lumMod val="50000"/>
                  </a:schemeClr>
                </a:solidFill>
              </a:rPr>
              <a:t>(</a:t>
            </a:r>
            <a:r>
              <a:rPr lang="ko-KR" altLang="en-US" sz="700" dirty="0">
                <a:solidFill>
                  <a:schemeClr val="accent3">
                    <a:lumMod val="50000"/>
                  </a:schemeClr>
                </a:solidFill>
              </a:rPr>
              <a:t>法 </a:t>
            </a:r>
            <a:r>
              <a:rPr lang="en-US" altLang="ko-KR" sz="700" dirty="0">
                <a:solidFill>
                  <a:schemeClr val="accent3">
                    <a:lumMod val="50000"/>
                  </a:schemeClr>
                </a:solidFill>
              </a:rPr>
              <a:t>186, 187)</a:t>
            </a:r>
            <a:endParaRPr lang="ko-KR" altLang="en-US" sz="700" dirty="0">
              <a:solidFill>
                <a:schemeClr val="accent3">
                  <a:lumMod val="50000"/>
                </a:schemeClr>
              </a:solidFill>
            </a:endParaRPr>
          </a:p>
        </p:txBody>
      </p:sp>
      <p:sp>
        <p:nvSpPr>
          <p:cNvPr id="274" name="직사각형 273"/>
          <p:cNvSpPr/>
          <p:nvPr/>
        </p:nvSpPr>
        <p:spPr>
          <a:xfrm>
            <a:off x="3609544" y="5109654"/>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소송제기</a:t>
            </a:r>
          </a:p>
        </p:txBody>
      </p:sp>
      <p:sp>
        <p:nvSpPr>
          <p:cNvPr id="275" name="직사각형 274"/>
          <p:cNvSpPr/>
          <p:nvPr/>
        </p:nvSpPr>
        <p:spPr>
          <a:xfrm>
            <a:off x="3609544" y="5640678"/>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소송심리</a:t>
            </a:r>
          </a:p>
        </p:txBody>
      </p:sp>
      <p:sp>
        <p:nvSpPr>
          <p:cNvPr id="276" name="직사각형 275"/>
          <p:cNvSpPr/>
          <p:nvPr/>
        </p:nvSpPr>
        <p:spPr>
          <a:xfrm>
            <a:off x="3609544" y="6249551"/>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소송종료</a:t>
            </a:r>
          </a:p>
        </p:txBody>
      </p:sp>
      <p:cxnSp>
        <p:nvCxnSpPr>
          <p:cNvPr id="277" name="꺾인 연결선 276"/>
          <p:cNvCxnSpPr>
            <a:stCxn id="267" idx="3"/>
            <a:endCxn id="273" idx="1"/>
          </p:cNvCxnSpPr>
          <p:nvPr/>
        </p:nvCxnSpPr>
        <p:spPr>
          <a:xfrm flipV="1">
            <a:off x="3454709" y="4605428"/>
            <a:ext cx="154835" cy="696330"/>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꺾인 연결선 277"/>
          <p:cNvCxnSpPr>
            <a:stCxn id="267" idx="3"/>
            <a:endCxn id="276" idx="1"/>
          </p:cNvCxnSpPr>
          <p:nvPr/>
        </p:nvCxnSpPr>
        <p:spPr>
          <a:xfrm>
            <a:off x="3454709" y="5301758"/>
            <a:ext cx="154835" cy="1072481"/>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꺾인 연결선 278"/>
          <p:cNvCxnSpPr>
            <a:stCxn id="267" idx="3"/>
            <a:endCxn id="274" idx="1"/>
          </p:cNvCxnSpPr>
          <p:nvPr/>
        </p:nvCxnSpPr>
        <p:spPr>
          <a:xfrm flipV="1">
            <a:off x="3454709" y="5234342"/>
            <a:ext cx="154835" cy="6741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꺾인 연결선 279"/>
          <p:cNvCxnSpPr>
            <a:stCxn id="267" idx="3"/>
            <a:endCxn id="275" idx="1"/>
          </p:cNvCxnSpPr>
          <p:nvPr/>
        </p:nvCxnSpPr>
        <p:spPr>
          <a:xfrm>
            <a:off x="3454709" y="5301758"/>
            <a:ext cx="154835" cy="46360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꺾인 연결선 280"/>
          <p:cNvCxnSpPr>
            <a:stCxn id="273" idx="3"/>
            <a:endCxn id="297" idx="1"/>
          </p:cNvCxnSpPr>
          <p:nvPr/>
        </p:nvCxnSpPr>
        <p:spPr>
          <a:xfrm flipV="1">
            <a:off x="4278775" y="4489475"/>
            <a:ext cx="168733" cy="1159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꺾인 연결선 281"/>
          <p:cNvCxnSpPr>
            <a:stCxn id="274" idx="3"/>
            <a:endCxn id="298" idx="1"/>
          </p:cNvCxnSpPr>
          <p:nvPr/>
        </p:nvCxnSpPr>
        <p:spPr>
          <a:xfrm flipV="1">
            <a:off x="4278775" y="5070329"/>
            <a:ext cx="168733" cy="16401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꺾인 연결선 282"/>
          <p:cNvCxnSpPr>
            <a:stCxn id="274" idx="3"/>
            <a:endCxn id="299" idx="1"/>
          </p:cNvCxnSpPr>
          <p:nvPr/>
        </p:nvCxnSpPr>
        <p:spPr>
          <a:xfrm flipV="1">
            <a:off x="4278775" y="5234131"/>
            <a:ext cx="168733" cy="2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4" name="꺾인 연결선 283"/>
          <p:cNvCxnSpPr>
            <a:stCxn id="275" idx="3"/>
            <a:endCxn id="300" idx="1"/>
          </p:cNvCxnSpPr>
          <p:nvPr/>
        </p:nvCxnSpPr>
        <p:spPr>
          <a:xfrm flipV="1">
            <a:off x="4278775" y="5762383"/>
            <a:ext cx="168733" cy="298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5" name="꺾인 연결선 284"/>
          <p:cNvCxnSpPr>
            <a:cxnSpLocks/>
            <a:stCxn id="275" idx="3"/>
            <a:endCxn id="301" idx="1"/>
          </p:cNvCxnSpPr>
          <p:nvPr/>
        </p:nvCxnSpPr>
        <p:spPr>
          <a:xfrm>
            <a:off x="4278775" y="5765366"/>
            <a:ext cx="168733" cy="2485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6" name="꺾인 연결선 285"/>
          <p:cNvCxnSpPr>
            <a:stCxn id="276" idx="3"/>
            <a:endCxn id="302" idx="1"/>
          </p:cNvCxnSpPr>
          <p:nvPr/>
        </p:nvCxnSpPr>
        <p:spPr>
          <a:xfrm flipV="1">
            <a:off x="4278775" y="6284664"/>
            <a:ext cx="168733" cy="895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7" name="꺾인 연결선 286"/>
          <p:cNvCxnSpPr>
            <a:cxnSpLocks/>
            <a:stCxn id="276" idx="3"/>
            <a:endCxn id="303" idx="1"/>
          </p:cNvCxnSpPr>
          <p:nvPr/>
        </p:nvCxnSpPr>
        <p:spPr>
          <a:xfrm>
            <a:off x="4278775" y="6374239"/>
            <a:ext cx="168733" cy="1744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9" name="직사각형 288"/>
          <p:cNvSpPr/>
          <p:nvPr/>
        </p:nvSpPr>
        <p:spPr>
          <a:xfrm>
            <a:off x="5954614" y="5228714"/>
            <a:ext cx="1396961" cy="32899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변론주의 원칙</a:t>
            </a:r>
            <a:endParaRPr lang="en-US" altLang="ko-KR" sz="1000" dirty="0"/>
          </a:p>
          <a:p>
            <a:pPr algn="ctr"/>
            <a:r>
              <a:rPr lang="en-US" altLang="ko-KR" sz="1000" dirty="0"/>
              <a:t>(</a:t>
            </a:r>
            <a:r>
              <a:rPr lang="ko-KR" altLang="en-US" sz="1000" dirty="0"/>
              <a:t>직권주의 가미</a:t>
            </a:r>
            <a:r>
              <a:rPr lang="en-US" altLang="ko-KR" sz="1000" dirty="0"/>
              <a:t>)</a:t>
            </a:r>
            <a:endParaRPr lang="ko-KR" altLang="en-US" sz="1000" dirty="0"/>
          </a:p>
        </p:txBody>
      </p:sp>
      <p:sp>
        <p:nvSpPr>
          <p:cNvPr id="290" name="직사각형 289"/>
          <p:cNvSpPr/>
          <p:nvPr/>
        </p:nvSpPr>
        <p:spPr>
          <a:xfrm>
            <a:off x="5954614" y="5591097"/>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위법판단의 기준시점</a:t>
            </a:r>
          </a:p>
        </p:txBody>
      </p:sp>
      <p:sp>
        <p:nvSpPr>
          <p:cNvPr id="291" name="직사각형 290"/>
          <p:cNvSpPr/>
          <p:nvPr/>
        </p:nvSpPr>
        <p:spPr>
          <a:xfrm>
            <a:off x="5954614" y="575324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심리범위</a:t>
            </a:r>
          </a:p>
        </p:txBody>
      </p:sp>
      <p:sp>
        <p:nvSpPr>
          <p:cNvPr id="292" name="직사각형 291"/>
          <p:cNvSpPr/>
          <p:nvPr/>
        </p:nvSpPr>
        <p:spPr>
          <a:xfrm>
            <a:off x="5954614" y="591100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주장증명책임</a:t>
            </a:r>
          </a:p>
        </p:txBody>
      </p:sp>
      <p:sp>
        <p:nvSpPr>
          <p:cNvPr id="293" name="직사각형 292"/>
          <p:cNvSpPr/>
          <p:nvPr/>
        </p:nvSpPr>
        <p:spPr>
          <a:xfrm>
            <a:off x="5954614" y="6071372"/>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자백</a:t>
            </a:r>
          </a:p>
        </p:txBody>
      </p:sp>
      <p:sp>
        <p:nvSpPr>
          <p:cNvPr id="295" name="직사각형 294"/>
          <p:cNvSpPr/>
          <p:nvPr/>
        </p:nvSpPr>
        <p:spPr>
          <a:xfrm>
            <a:off x="4447508" y="410052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err="1"/>
              <a:t>소송물</a:t>
            </a:r>
            <a:endParaRPr lang="ko-KR" altLang="en-US" sz="1000" dirty="0"/>
          </a:p>
        </p:txBody>
      </p:sp>
      <p:sp>
        <p:nvSpPr>
          <p:cNvPr id="296" name="직사각형 295"/>
          <p:cNvSpPr/>
          <p:nvPr/>
        </p:nvSpPr>
        <p:spPr>
          <a:xfrm>
            <a:off x="4447508" y="426432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소의 이익</a:t>
            </a:r>
          </a:p>
        </p:txBody>
      </p:sp>
      <p:sp>
        <p:nvSpPr>
          <p:cNvPr id="297" name="직사각형 296"/>
          <p:cNvSpPr/>
          <p:nvPr/>
        </p:nvSpPr>
        <p:spPr>
          <a:xfrm>
            <a:off x="4447508" y="442529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관할</a:t>
            </a:r>
          </a:p>
        </p:txBody>
      </p:sp>
      <p:sp>
        <p:nvSpPr>
          <p:cNvPr id="298" name="직사각형 297"/>
          <p:cNvSpPr/>
          <p:nvPr/>
        </p:nvSpPr>
        <p:spPr>
          <a:xfrm>
            <a:off x="4447508" y="5006153"/>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소장의 제출</a:t>
            </a:r>
          </a:p>
        </p:txBody>
      </p:sp>
      <p:sp>
        <p:nvSpPr>
          <p:cNvPr id="299" name="직사각형 298"/>
          <p:cNvSpPr/>
          <p:nvPr/>
        </p:nvSpPr>
        <p:spPr>
          <a:xfrm>
            <a:off x="4447508" y="516995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심판원장에게 통지</a:t>
            </a:r>
            <a:r>
              <a:rPr lang="en-US" altLang="ko-KR" sz="600" dirty="0">
                <a:solidFill>
                  <a:schemeClr val="tx1"/>
                </a:solidFill>
              </a:rPr>
              <a:t>(</a:t>
            </a:r>
            <a:r>
              <a:rPr lang="ko-KR" altLang="en-US" sz="600" dirty="0">
                <a:solidFill>
                  <a:schemeClr val="tx1"/>
                </a:solidFill>
              </a:rPr>
              <a:t>法 </a:t>
            </a:r>
            <a:r>
              <a:rPr lang="en-US" altLang="ko-KR" sz="600" dirty="0">
                <a:solidFill>
                  <a:schemeClr val="tx1"/>
                </a:solidFill>
              </a:rPr>
              <a:t>188)</a:t>
            </a:r>
            <a:endParaRPr lang="en-US" altLang="ko-KR" sz="1000" dirty="0">
              <a:solidFill>
                <a:schemeClr val="tx1"/>
              </a:solidFill>
            </a:endParaRPr>
          </a:p>
        </p:txBody>
      </p:sp>
      <p:sp>
        <p:nvSpPr>
          <p:cNvPr id="300" name="직사각형 299"/>
          <p:cNvSpPr/>
          <p:nvPr/>
        </p:nvSpPr>
        <p:spPr>
          <a:xfrm>
            <a:off x="4447508" y="569820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err="1"/>
              <a:t>본안심리</a:t>
            </a:r>
            <a:endParaRPr lang="ko-KR" altLang="en-US" sz="1000" dirty="0"/>
          </a:p>
        </p:txBody>
      </p:sp>
      <p:sp>
        <p:nvSpPr>
          <p:cNvPr id="301" name="직사각형 300"/>
          <p:cNvSpPr/>
          <p:nvPr/>
        </p:nvSpPr>
        <p:spPr>
          <a:xfrm>
            <a:off x="4447508" y="5859952"/>
            <a:ext cx="1380067" cy="30802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기술심리관의 관여</a:t>
            </a:r>
            <a:endParaRPr lang="en-US" altLang="ko-KR" sz="1000" dirty="0">
              <a:solidFill>
                <a:schemeClr val="tx1"/>
              </a:solidFill>
            </a:endParaRPr>
          </a:p>
          <a:p>
            <a:pPr algn="ctr"/>
            <a:r>
              <a:rPr lang="en-US" altLang="ko-KR" sz="800" dirty="0">
                <a:solidFill>
                  <a:schemeClr val="tx1"/>
                </a:solidFill>
              </a:rPr>
              <a:t>(</a:t>
            </a:r>
            <a:r>
              <a:rPr lang="ko-KR" altLang="en-US" sz="800" dirty="0">
                <a:solidFill>
                  <a:schemeClr val="tx1"/>
                </a:solidFill>
              </a:rPr>
              <a:t>法 </a:t>
            </a:r>
            <a:r>
              <a:rPr lang="en-US" altLang="ko-KR" sz="800" dirty="0">
                <a:solidFill>
                  <a:schemeClr val="tx1"/>
                </a:solidFill>
              </a:rPr>
              <a:t>188</a:t>
            </a:r>
            <a:r>
              <a:rPr lang="ko-KR" altLang="en-US" sz="800" dirty="0">
                <a:solidFill>
                  <a:schemeClr val="tx1"/>
                </a:solidFill>
              </a:rPr>
              <a:t>의</a:t>
            </a:r>
            <a:r>
              <a:rPr lang="en-US" altLang="ko-KR" sz="800" dirty="0">
                <a:solidFill>
                  <a:schemeClr val="tx1"/>
                </a:solidFill>
              </a:rPr>
              <a:t>2)</a:t>
            </a:r>
            <a:endParaRPr lang="ko-KR" altLang="en-US" sz="1000" dirty="0">
              <a:solidFill>
                <a:schemeClr val="tx1"/>
              </a:solidFill>
            </a:endParaRPr>
          </a:p>
        </p:txBody>
      </p:sp>
      <p:sp>
        <p:nvSpPr>
          <p:cNvPr id="302" name="직사각형 301"/>
          <p:cNvSpPr/>
          <p:nvPr/>
        </p:nvSpPr>
        <p:spPr>
          <a:xfrm>
            <a:off x="4447508" y="622048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당사자에 의한 종결</a:t>
            </a:r>
          </a:p>
        </p:txBody>
      </p:sp>
      <p:sp>
        <p:nvSpPr>
          <p:cNvPr id="303" name="직사각형 302"/>
          <p:cNvSpPr/>
          <p:nvPr/>
        </p:nvSpPr>
        <p:spPr>
          <a:xfrm>
            <a:off x="4447508" y="6382234"/>
            <a:ext cx="1380067" cy="33289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종국판결에 의한 종결</a:t>
            </a:r>
            <a:endParaRPr lang="en-US" altLang="ko-KR" sz="1000" dirty="0">
              <a:solidFill>
                <a:schemeClr val="tx1"/>
              </a:solidFill>
            </a:endParaRPr>
          </a:p>
          <a:p>
            <a:pPr algn="ctr"/>
            <a:r>
              <a:rPr lang="en-US" altLang="ko-KR" sz="800" dirty="0">
                <a:solidFill>
                  <a:schemeClr val="tx1"/>
                </a:solidFill>
              </a:rPr>
              <a:t>(</a:t>
            </a:r>
            <a:r>
              <a:rPr lang="ko-KR" altLang="en-US" sz="800" dirty="0">
                <a:solidFill>
                  <a:schemeClr val="tx1"/>
                </a:solidFill>
              </a:rPr>
              <a:t>法 </a:t>
            </a:r>
            <a:r>
              <a:rPr lang="en-US" altLang="ko-KR" sz="800" dirty="0">
                <a:solidFill>
                  <a:schemeClr val="tx1"/>
                </a:solidFill>
              </a:rPr>
              <a:t>189)</a:t>
            </a:r>
            <a:endParaRPr lang="ko-KR" altLang="en-US" sz="1000" dirty="0">
              <a:solidFill>
                <a:schemeClr val="tx1"/>
              </a:solidFill>
            </a:endParaRPr>
          </a:p>
        </p:txBody>
      </p:sp>
      <p:sp>
        <p:nvSpPr>
          <p:cNvPr id="304" name="직사각형 303"/>
          <p:cNvSpPr/>
          <p:nvPr/>
        </p:nvSpPr>
        <p:spPr>
          <a:xfrm>
            <a:off x="4447508" y="459403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당사자</a:t>
            </a:r>
          </a:p>
        </p:txBody>
      </p:sp>
      <p:sp>
        <p:nvSpPr>
          <p:cNvPr id="305" name="직사각형 304"/>
          <p:cNvSpPr/>
          <p:nvPr/>
        </p:nvSpPr>
        <p:spPr>
          <a:xfrm>
            <a:off x="4447508" y="554183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소송요건의 심리</a:t>
            </a:r>
            <a:endParaRPr lang="en-US" altLang="ko-KR" sz="1000" dirty="0"/>
          </a:p>
        </p:txBody>
      </p:sp>
      <p:sp>
        <p:nvSpPr>
          <p:cNvPr id="306" name="직사각형 305"/>
          <p:cNvSpPr/>
          <p:nvPr/>
        </p:nvSpPr>
        <p:spPr>
          <a:xfrm>
            <a:off x="4447508" y="5338441"/>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소장의 심사</a:t>
            </a:r>
            <a:endParaRPr lang="en-US" altLang="ko-KR" sz="1000" dirty="0"/>
          </a:p>
        </p:txBody>
      </p:sp>
      <p:sp>
        <p:nvSpPr>
          <p:cNvPr id="307" name="직사각형 306"/>
          <p:cNvSpPr/>
          <p:nvPr/>
        </p:nvSpPr>
        <p:spPr>
          <a:xfrm>
            <a:off x="4447508" y="476412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제소기간</a:t>
            </a:r>
          </a:p>
        </p:txBody>
      </p:sp>
      <p:cxnSp>
        <p:nvCxnSpPr>
          <p:cNvPr id="309" name="꺾인 연결선 308"/>
          <p:cNvCxnSpPr>
            <a:stCxn id="273" idx="3"/>
            <a:endCxn id="304" idx="1"/>
          </p:cNvCxnSpPr>
          <p:nvPr/>
        </p:nvCxnSpPr>
        <p:spPr>
          <a:xfrm>
            <a:off x="4278775" y="4605428"/>
            <a:ext cx="168733" cy="527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0" name="꺾인 연결선 309"/>
          <p:cNvCxnSpPr>
            <a:stCxn id="273" idx="3"/>
            <a:endCxn id="307" idx="1"/>
          </p:cNvCxnSpPr>
          <p:nvPr/>
        </p:nvCxnSpPr>
        <p:spPr>
          <a:xfrm>
            <a:off x="4278775" y="4605428"/>
            <a:ext cx="168733" cy="2228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꺾인 연결선 310"/>
          <p:cNvCxnSpPr>
            <a:stCxn id="274" idx="3"/>
            <a:endCxn id="306" idx="1"/>
          </p:cNvCxnSpPr>
          <p:nvPr/>
        </p:nvCxnSpPr>
        <p:spPr>
          <a:xfrm>
            <a:off x="4278775" y="5234342"/>
            <a:ext cx="168733" cy="1682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꺾인 연결선 311"/>
          <p:cNvCxnSpPr>
            <a:stCxn id="275" idx="3"/>
            <a:endCxn id="305" idx="1"/>
          </p:cNvCxnSpPr>
          <p:nvPr/>
        </p:nvCxnSpPr>
        <p:spPr>
          <a:xfrm flipV="1">
            <a:off x="4278775" y="5606011"/>
            <a:ext cx="168733" cy="15935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꺾인 연결선 312"/>
          <p:cNvCxnSpPr>
            <a:stCxn id="300" idx="3"/>
            <a:endCxn id="289" idx="1"/>
          </p:cNvCxnSpPr>
          <p:nvPr/>
        </p:nvCxnSpPr>
        <p:spPr>
          <a:xfrm flipV="1">
            <a:off x="5827575" y="5393209"/>
            <a:ext cx="127039" cy="36917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꺾인 연결선 313"/>
          <p:cNvCxnSpPr>
            <a:stCxn id="300" idx="3"/>
            <a:endCxn id="290" idx="1"/>
          </p:cNvCxnSpPr>
          <p:nvPr/>
        </p:nvCxnSpPr>
        <p:spPr>
          <a:xfrm flipV="1">
            <a:off x="5827575" y="5655273"/>
            <a:ext cx="127039" cy="1071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꺾인 연결선 314"/>
          <p:cNvCxnSpPr>
            <a:stCxn id="300" idx="3"/>
            <a:endCxn id="291" idx="1"/>
          </p:cNvCxnSpPr>
          <p:nvPr/>
        </p:nvCxnSpPr>
        <p:spPr>
          <a:xfrm>
            <a:off x="5827575" y="5762383"/>
            <a:ext cx="127039" cy="5503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6" name="꺾인 연결선 315"/>
          <p:cNvCxnSpPr>
            <a:stCxn id="300" idx="3"/>
            <a:endCxn id="292" idx="1"/>
          </p:cNvCxnSpPr>
          <p:nvPr/>
        </p:nvCxnSpPr>
        <p:spPr>
          <a:xfrm>
            <a:off x="5827575" y="5762383"/>
            <a:ext cx="127039" cy="21279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꺾인 연결선 316"/>
          <p:cNvCxnSpPr>
            <a:endCxn id="293" idx="1"/>
          </p:cNvCxnSpPr>
          <p:nvPr/>
        </p:nvCxnSpPr>
        <p:spPr>
          <a:xfrm rot="16200000" flipH="1">
            <a:off x="5802218" y="5983152"/>
            <a:ext cx="293982" cy="10810"/>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8" name="직사각형 317"/>
          <p:cNvSpPr/>
          <p:nvPr/>
        </p:nvSpPr>
        <p:spPr>
          <a:xfrm>
            <a:off x="6103431" y="3574465"/>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특허법</a:t>
            </a:r>
            <a:endParaRPr lang="en-US" altLang="ko-KR" dirty="0"/>
          </a:p>
          <a:p>
            <a:pPr algn="ctr"/>
            <a:r>
              <a:rPr lang="ko-KR" altLang="en-US" dirty="0"/>
              <a:t>체계도</a:t>
            </a:r>
          </a:p>
        </p:txBody>
      </p:sp>
      <p:sp>
        <p:nvSpPr>
          <p:cNvPr id="319" name="타원 318"/>
          <p:cNvSpPr/>
          <p:nvPr/>
        </p:nvSpPr>
        <p:spPr>
          <a:xfrm>
            <a:off x="322118" y="268689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5</a:t>
            </a:r>
            <a:endParaRPr lang="ko-KR" altLang="en-US" dirty="0"/>
          </a:p>
        </p:txBody>
      </p:sp>
      <p:sp>
        <p:nvSpPr>
          <p:cNvPr id="320" name="타원 319"/>
          <p:cNvSpPr/>
          <p:nvPr/>
        </p:nvSpPr>
        <p:spPr>
          <a:xfrm>
            <a:off x="262164" y="5316045"/>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7</a:t>
            </a:r>
            <a:endParaRPr lang="ko-KR" altLang="en-US" dirty="0"/>
          </a:p>
        </p:txBody>
      </p:sp>
      <p:sp>
        <p:nvSpPr>
          <p:cNvPr id="321" name="타원 320"/>
          <p:cNvSpPr/>
          <p:nvPr/>
        </p:nvSpPr>
        <p:spPr>
          <a:xfrm>
            <a:off x="7873581" y="5757616"/>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8</a:t>
            </a:r>
            <a:endParaRPr lang="ko-KR" altLang="en-US" dirty="0"/>
          </a:p>
        </p:txBody>
      </p:sp>
      <p:sp>
        <p:nvSpPr>
          <p:cNvPr id="322" name="타원 321"/>
          <p:cNvSpPr/>
          <p:nvPr/>
        </p:nvSpPr>
        <p:spPr>
          <a:xfrm>
            <a:off x="6772900" y="266696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6</a:t>
            </a:r>
            <a:endParaRPr lang="ko-KR" altLang="en-US" dirty="0"/>
          </a:p>
        </p:txBody>
      </p:sp>
      <p:sp>
        <p:nvSpPr>
          <p:cNvPr id="323" name="자유형 322"/>
          <p:cNvSpPr/>
          <p:nvPr/>
        </p:nvSpPr>
        <p:spPr>
          <a:xfrm>
            <a:off x="523875" y="3059642"/>
            <a:ext cx="5571067" cy="1845733"/>
          </a:xfrm>
          <a:custGeom>
            <a:avLst/>
            <a:gdLst>
              <a:gd name="connsiteX0" fmla="*/ 5571067 w 5571067"/>
              <a:gd name="connsiteY0" fmla="*/ 872066 h 1845733"/>
              <a:gd name="connsiteX1" fmla="*/ 3708400 w 5571067"/>
              <a:gd name="connsiteY1" fmla="*/ 872066 h 1845733"/>
              <a:gd name="connsiteX2" fmla="*/ 3708400 w 5571067"/>
              <a:gd name="connsiteY2" fmla="*/ 1244600 h 1845733"/>
              <a:gd name="connsiteX3" fmla="*/ 2853267 w 5571067"/>
              <a:gd name="connsiteY3" fmla="*/ 1244600 h 1845733"/>
              <a:gd name="connsiteX4" fmla="*/ 2853267 w 5571067"/>
              <a:gd name="connsiteY4" fmla="*/ 1845733 h 1845733"/>
              <a:gd name="connsiteX5" fmla="*/ 0 w 5571067"/>
              <a:gd name="connsiteY5" fmla="*/ 1845733 h 1845733"/>
              <a:gd name="connsiteX6" fmla="*/ 0 w 5571067"/>
              <a:gd name="connsiteY6" fmla="*/ 0 h 184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1067" h="1845733">
                <a:moveTo>
                  <a:pt x="5571067" y="872066"/>
                </a:moveTo>
                <a:lnTo>
                  <a:pt x="3708400" y="872066"/>
                </a:lnTo>
                <a:lnTo>
                  <a:pt x="3708400" y="1244600"/>
                </a:lnTo>
                <a:lnTo>
                  <a:pt x="2853267" y="1244600"/>
                </a:lnTo>
                <a:lnTo>
                  <a:pt x="2853267" y="1845733"/>
                </a:lnTo>
                <a:lnTo>
                  <a:pt x="0" y="1845733"/>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4" name="자유형 323"/>
          <p:cNvSpPr/>
          <p:nvPr/>
        </p:nvSpPr>
        <p:spPr>
          <a:xfrm>
            <a:off x="422275" y="4905375"/>
            <a:ext cx="84667" cy="397933"/>
          </a:xfrm>
          <a:custGeom>
            <a:avLst/>
            <a:gdLst>
              <a:gd name="connsiteX0" fmla="*/ 84667 w 84667"/>
              <a:gd name="connsiteY0" fmla="*/ 0 h 397933"/>
              <a:gd name="connsiteX1" fmla="*/ 0 w 84667"/>
              <a:gd name="connsiteY1" fmla="*/ 0 h 397933"/>
              <a:gd name="connsiteX2" fmla="*/ 0 w 84667"/>
              <a:gd name="connsiteY2" fmla="*/ 397933 h 397933"/>
            </a:gdLst>
            <a:ahLst/>
            <a:cxnLst>
              <a:cxn ang="0">
                <a:pos x="connsiteX0" y="connsiteY0"/>
              </a:cxn>
              <a:cxn ang="0">
                <a:pos x="connsiteX1" y="connsiteY1"/>
              </a:cxn>
              <a:cxn ang="0">
                <a:pos x="connsiteX2" y="connsiteY2"/>
              </a:cxn>
            </a:cxnLst>
            <a:rect l="l" t="t" r="r" b="b"/>
            <a:pathLst>
              <a:path w="84667" h="397933">
                <a:moveTo>
                  <a:pt x="84667" y="0"/>
                </a:moveTo>
                <a:lnTo>
                  <a:pt x="0" y="0"/>
                </a:lnTo>
                <a:lnTo>
                  <a:pt x="0" y="397933"/>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5" name="자유형 324"/>
          <p:cNvSpPr/>
          <p:nvPr/>
        </p:nvSpPr>
        <p:spPr>
          <a:xfrm>
            <a:off x="6569075" y="2839508"/>
            <a:ext cx="186267" cy="745067"/>
          </a:xfrm>
          <a:custGeom>
            <a:avLst/>
            <a:gdLst>
              <a:gd name="connsiteX0" fmla="*/ 0 w 186267"/>
              <a:gd name="connsiteY0" fmla="*/ 745067 h 745067"/>
              <a:gd name="connsiteX1" fmla="*/ 0 w 186267"/>
              <a:gd name="connsiteY1" fmla="*/ 745067 h 745067"/>
              <a:gd name="connsiteX2" fmla="*/ 0 w 186267"/>
              <a:gd name="connsiteY2" fmla="*/ 0 h 745067"/>
              <a:gd name="connsiteX3" fmla="*/ 186267 w 186267"/>
              <a:gd name="connsiteY3" fmla="*/ 0 h 745067"/>
            </a:gdLst>
            <a:ahLst/>
            <a:cxnLst>
              <a:cxn ang="0">
                <a:pos x="connsiteX0" y="connsiteY0"/>
              </a:cxn>
              <a:cxn ang="0">
                <a:pos x="connsiteX1" y="connsiteY1"/>
              </a:cxn>
              <a:cxn ang="0">
                <a:pos x="connsiteX2" y="connsiteY2"/>
              </a:cxn>
              <a:cxn ang="0">
                <a:pos x="connsiteX3" y="connsiteY3"/>
              </a:cxn>
            </a:cxnLst>
            <a:rect l="l" t="t" r="r" b="b"/>
            <a:pathLst>
              <a:path w="186267" h="745067">
                <a:moveTo>
                  <a:pt x="0" y="745067"/>
                </a:moveTo>
                <a:lnTo>
                  <a:pt x="0" y="745067"/>
                </a:lnTo>
                <a:lnTo>
                  <a:pt x="0" y="0"/>
                </a:lnTo>
                <a:lnTo>
                  <a:pt x="186267"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6" name="자유형 325"/>
          <p:cNvSpPr/>
          <p:nvPr/>
        </p:nvSpPr>
        <p:spPr>
          <a:xfrm>
            <a:off x="6577542" y="4498975"/>
            <a:ext cx="1498600" cy="1244600"/>
          </a:xfrm>
          <a:custGeom>
            <a:avLst/>
            <a:gdLst>
              <a:gd name="connsiteX0" fmla="*/ 0 w 1498600"/>
              <a:gd name="connsiteY0" fmla="*/ 0 h 1244600"/>
              <a:gd name="connsiteX1" fmla="*/ 0 w 1498600"/>
              <a:gd name="connsiteY1" fmla="*/ 423333 h 1244600"/>
              <a:gd name="connsiteX2" fmla="*/ 1498600 w 1498600"/>
              <a:gd name="connsiteY2" fmla="*/ 423333 h 1244600"/>
              <a:gd name="connsiteX3" fmla="*/ 1498600 w 1498600"/>
              <a:gd name="connsiteY3" fmla="*/ 1244600 h 1244600"/>
            </a:gdLst>
            <a:ahLst/>
            <a:cxnLst>
              <a:cxn ang="0">
                <a:pos x="connsiteX0" y="connsiteY0"/>
              </a:cxn>
              <a:cxn ang="0">
                <a:pos x="connsiteX1" y="connsiteY1"/>
              </a:cxn>
              <a:cxn ang="0">
                <a:pos x="connsiteX2" y="connsiteY2"/>
              </a:cxn>
              <a:cxn ang="0">
                <a:pos x="connsiteX3" y="connsiteY3"/>
              </a:cxn>
            </a:cxnLst>
            <a:rect l="l" t="t" r="r" b="b"/>
            <a:pathLst>
              <a:path w="1498600" h="1244600">
                <a:moveTo>
                  <a:pt x="0" y="0"/>
                </a:moveTo>
                <a:lnTo>
                  <a:pt x="0" y="423333"/>
                </a:lnTo>
                <a:lnTo>
                  <a:pt x="1498600" y="423333"/>
                </a:lnTo>
                <a:lnTo>
                  <a:pt x="1498600" y="12446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94" name="직사각형 293">
            <a:extLst>
              <a:ext uri="{FF2B5EF4-FFF2-40B4-BE49-F238E27FC236}">
                <a16:creationId xmlns:a16="http://schemas.microsoft.com/office/drawing/2014/main" id="{9B6DE0DF-BFFF-497F-9FD1-C58A8CA97621}"/>
              </a:ext>
            </a:extLst>
          </p:cNvPr>
          <p:cNvSpPr/>
          <p:nvPr/>
        </p:nvSpPr>
        <p:spPr>
          <a:xfrm>
            <a:off x="8500191" y="3384273"/>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관련</a:t>
            </a:r>
          </a:p>
        </p:txBody>
      </p:sp>
      <p:sp>
        <p:nvSpPr>
          <p:cNvPr id="327" name="직사각형 326">
            <a:extLst>
              <a:ext uri="{FF2B5EF4-FFF2-40B4-BE49-F238E27FC236}">
                <a16:creationId xmlns:a16="http://schemas.microsoft.com/office/drawing/2014/main" id="{A6BC253F-D9C4-4A98-984C-D8D62D28E8E9}"/>
              </a:ext>
            </a:extLst>
          </p:cNvPr>
          <p:cNvSpPr/>
          <p:nvPr/>
        </p:nvSpPr>
        <p:spPr>
          <a:xfrm>
            <a:off x="9363869" y="3290897"/>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타절차와의 관계</a:t>
            </a:r>
            <a:r>
              <a:rPr lang="en-US" altLang="ko-KR" sz="1000" dirty="0"/>
              <a:t>(</a:t>
            </a:r>
            <a:r>
              <a:rPr lang="ko-KR" altLang="en-US" sz="1000" dirty="0"/>
              <a:t>法 </a:t>
            </a:r>
            <a:r>
              <a:rPr lang="en-US" altLang="ko-KR" sz="1000" dirty="0"/>
              <a:t>164)</a:t>
            </a:r>
            <a:endParaRPr lang="ko-KR" altLang="en-US" sz="1000" dirty="0"/>
          </a:p>
        </p:txBody>
      </p:sp>
      <p:sp>
        <p:nvSpPr>
          <p:cNvPr id="328" name="직사각형 327">
            <a:extLst>
              <a:ext uri="{FF2B5EF4-FFF2-40B4-BE49-F238E27FC236}">
                <a16:creationId xmlns:a16="http://schemas.microsoft.com/office/drawing/2014/main" id="{855EA2A3-2862-42AE-AC8B-FB8E8761530B}"/>
              </a:ext>
            </a:extLst>
          </p:cNvPr>
          <p:cNvSpPr/>
          <p:nvPr/>
        </p:nvSpPr>
        <p:spPr>
          <a:xfrm>
            <a:off x="9363869" y="372062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심판비용</a:t>
            </a:r>
            <a:r>
              <a:rPr lang="en-US" altLang="ko-KR" sz="1000" dirty="0"/>
              <a:t>(</a:t>
            </a:r>
            <a:r>
              <a:rPr lang="ko-KR" altLang="en-US" sz="1000" dirty="0"/>
              <a:t>法 </a:t>
            </a:r>
            <a:r>
              <a:rPr lang="en-US" altLang="ko-KR" sz="1000" dirty="0"/>
              <a:t>165, 166)</a:t>
            </a:r>
            <a:endParaRPr lang="ko-KR" altLang="en-US" sz="1000" dirty="0"/>
          </a:p>
        </p:txBody>
      </p:sp>
      <p:cxnSp>
        <p:nvCxnSpPr>
          <p:cNvPr id="329" name="꺾인 연결선 244">
            <a:extLst>
              <a:ext uri="{FF2B5EF4-FFF2-40B4-BE49-F238E27FC236}">
                <a16:creationId xmlns:a16="http://schemas.microsoft.com/office/drawing/2014/main" id="{A54F89B3-B4E9-4E0A-BB23-C1DB0F7A25D8}"/>
              </a:ext>
            </a:extLst>
          </p:cNvPr>
          <p:cNvCxnSpPr>
            <a:cxnSpLocks/>
            <a:stCxn id="294" idx="3"/>
            <a:endCxn id="308" idx="1"/>
          </p:cNvCxnSpPr>
          <p:nvPr/>
        </p:nvCxnSpPr>
        <p:spPr>
          <a:xfrm>
            <a:off x="9210221" y="3469781"/>
            <a:ext cx="151225" cy="1077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0" name="꺾인 연결선 245">
            <a:extLst>
              <a:ext uri="{FF2B5EF4-FFF2-40B4-BE49-F238E27FC236}">
                <a16:creationId xmlns:a16="http://schemas.microsoft.com/office/drawing/2014/main" id="{48543D6B-7C92-4D3D-B213-6D84DC780C17}"/>
              </a:ext>
            </a:extLst>
          </p:cNvPr>
          <p:cNvCxnSpPr>
            <a:cxnSpLocks/>
            <a:stCxn id="294" idx="3"/>
            <a:endCxn id="328" idx="1"/>
          </p:cNvCxnSpPr>
          <p:nvPr/>
        </p:nvCxnSpPr>
        <p:spPr>
          <a:xfrm>
            <a:off x="9210221" y="3469781"/>
            <a:ext cx="153648" cy="32012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연결선: 꺾임 6">
            <a:extLst>
              <a:ext uri="{FF2B5EF4-FFF2-40B4-BE49-F238E27FC236}">
                <a16:creationId xmlns:a16="http://schemas.microsoft.com/office/drawing/2014/main" id="{B370871F-6F80-4244-8543-0634A44D09BD}"/>
              </a:ext>
            </a:extLst>
          </p:cNvPr>
          <p:cNvCxnSpPr>
            <a:stCxn id="205" idx="3"/>
            <a:endCxn id="294" idx="1"/>
          </p:cNvCxnSpPr>
          <p:nvPr/>
        </p:nvCxnSpPr>
        <p:spPr>
          <a:xfrm>
            <a:off x="8336650" y="2489931"/>
            <a:ext cx="163541" cy="9798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8" name="직사각형 287">
            <a:extLst>
              <a:ext uri="{FF2B5EF4-FFF2-40B4-BE49-F238E27FC236}">
                <a16:creationId xmlns:a16="http://schemas.microsoft.com/office/drawing/2014/main" id="{CCF75EB5-ACDA-45AD-A3D7-EAD9647556E3}"/>
              </a:ext>
            </a:extLst>
          </p:cNvPr>
          <p:cNvSpPr/>
          <p:nvPr/>
        </p:nvSpPr>
        <p:spPr>
          <a:xfrm>
            <a:off x="9358843" y="1365202"/>
            <a:ext cx="2333212" cy="288480"/>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국선대리인</a:t>
            </a:r>
            <a:r>
              <a:rPr lang="en-US" altLang="ko-KR" sz="1000" dirty="0">
                <a:solidFill>
                  <a:schemeClr val="tx1"/>
                </a:solidFill>
              </a:rPr>
              <a:t>, </a:t>
            </a:r>
            <a:r>
              <a:rPr lang="ko-KR" altLang="en-US" sz="1000" dirty="0">
                <a:solidFill>
                  <a:schemeClr val="tx1"/>
                </a:solidFill>
              </a:rPr>
              <a:t>전문심리위원 및 참고인</a:t>
            </a:r>
            <a:endParaRPr lang="en-US" altLang="ko-KR" sz="1000" dirty="0">
              <a:solidFill>
                <a:schemeClr val="tx1"/>
              </a:solidFill>
            </a:endParaRPr>
          </a:p>
          <a:p>
            <a:pPr algn="ctr"/>
            <a:r>
              <a:rPr lang="en-US" altLang="ko-KR" sz="900" dirty="0">
                <a:solidFill>
                  <a:schemeClr val="tx1"/>
                </a:solidFill>
              </a:rPr>
              <a:t>(</a:t>
            </a:r>
            <a:r>
              <a:rPr lang="ko-KR" altLang="en-US" sz="900" dirty="0">
                <a:solidFill>
                  <a:schemeClr val="tx1"/>
                </a:solidFill>
              </a:rPr>
              <a:t>法 </a:t>
            </a:r>
            <a:r>
              <a:rPr lang="en-US" altLang="ko-KR" sz="900" dirty="0">
                <a:solidFill>
                  <a:schemeClr val="tx1"/>
                </a:solidFill>
              </a:rPr>
              <a:t>139</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3)</a:t>
            </a:r>
            <a:endParaRPr lang="ko-KR" altLang="en-US" sz="1100" dirty="0">
              <a:solidFill>
                <a:schemeClr val="tx1"/>
              </a:solidFill>
            </a:endParaRPr>
          </a:p>
        </p:txBody>
      </p:sp>
      <p:sp>
        <p:nvSpPr>
          <p:cNvPr id="308" name="직사각형 307">
            <a:extLst>
              <a:ext uri="{FF2B5EF4-FFF2-40B4-BE49-F238E27FC236}">
                <a16:creationId xmlns:a16="http://schemas.microsoft.com/office/drawing/2014/main" id="{FBCE5317-4D8A-4C1C-92B6-ECD14431C289}"/>
              </a:ext>
            </a:extLst>
          </p:cNvPr>
          <p:cNvSpPr/>
          <p:nvPr/>
        </p:nvSpPr>
        <p:spPr>
          <a:xfrm>
            <a:off x="9361446" y="3486404"/>
            <a:ext cx="2330609" cy="182239"/>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조정위원회 회부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164</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cxnSp>
        <p:nvCxnSpPr>
          <p:cNvPr id="331" name="꺾인 연결선 245">
            <a:extLst>
              <a:ext uri="{FF2B5EF4-FFF2-40B4-BE49-F238E27FC236}">
                <a16:creationId xmlns:a16="http://schemas.microsoft.com/office/drawing/2014/main" id="{8272E89B-C399-461C-82CA-028F1E621707}"/>
              </a:ext>
            </a:extLst>
          </p:cNvPr>
          <p:cNvCxnSpPr>
            <a:cxnSpLocks/>
            <a:stCxn id="294" idx="3"/>
            <a:endCxn id="327" idx="1"/>
          </p:cNvCxnSpPr>
          <p:nvPr/>
        </p:nvCxnSpPr>
        <p:spPr>
          <a:xfrm flipV="1">
            <a:off x="9210221" y="3360176"/>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00747923"/>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80</a:t>
            </a:r>
            <a:r>
              <a:rPr lang="ko-KR" altLang="en-US" dirty="0"/>
              <a:t>조</a:t>
            </a:r>
          </a:p>
        </p:txBody>
      </p:sp>
      <p:sp>
        <p:nvSpPr>
          <p:cNvPr id="4" name="텍스트 개체 틀 3"/>
          <p:cNvSpPr>
            <a:spLocks noGrp="1"/>
          </p:cNvSpPr>
          <p:nvPr>
            <p:ph type="body" sz="quarter" idx="13"/>
          </p:nvPr>
        </p:nvSpPr>
        <p:spPr/>
        <p:txBody>
          <a:bodyPr/>
          <a:lstStyle/>
          <a:p>
            <a:r>
              <a:rPr lang="ko-KR" altLang="en-US" dirty="0"/>
              <a:t>이해관계인에 의한 특허료의 대납</a:t>
            </a:r>
          </a:p>
        </p:txBody>
      </p:sp>
      <p:cxnSp>
        <p:nvCxnSpPr>
          <p:cNvPr id="82" name="직선 연결선 81"/>
          <p:cNvCxnSpPr/>
          <p:nvPr/>
        </p:nvCxnSpPr>
        <p:spPr>
          <a:xfrm>
            <a:off x="0" y="150588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TextBox 99"/>
          <p:cNvSpPr txBox="1"/>
          <p:nvPr/>
        </p:nvSpPr>
        <p:spPr>
          <a:xfrm>
            <a:off x="77875" y="986046"/>
            <a:ext cx="11936323" cy="523220"/>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80</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이해관계인에 의한 특허료의 납부</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이해관계인은 특허료를 내야 할 자의 의사와 관계없이 특허료를 낼 수 있다</a:t>
            </a:r>
            <a:r>
              <a:rPr lang="en-US" altLang="ko-KR" sz="1400" dirty="0">
                <a:solidFill>
                  <a:schemeClr val="tx2"/>
                </a:solidFill>
              </a:rPr>
              <a:t>.</a:t>
            </a:r>
          </a:p>
          <a:p>
            <a:pPr fontAlgn="base"/>
            <a:r>
              <a:rPr lang="en-US" altLang="ko-KR" sz="1400" dirty="0">
                <a:solidFill>
                  <a:schemeClr val="tx2"/>
                </a:solidFill>
              </a:rPr>
              <a:t>② </a:t>
            </a:r>
            <a:r>
              <a:rPr lang="ko-KR" altLang="en-US" sz="1400" dirty="0">
                <a:solidFill>
                  <a:schemeClr val="tx2"/>
                </a:solidFill>
              </a:rPr>
              <a:t>이해관계인은 </a:t>
            </a:r>
            <a:r>
              <a:rPr lang="ko-KR" altLang="en-US" sz="1400" dirty="0">
                <a:solidFill>
                  <a:srgbClr val="FF0000"/>
                </a:solidFill>
              </a:rPr>
              <a:t>제</a:t>
            </a:r>
            <a:r>
              <a:rPr lang="en-US" altLang="ko-KR" sz="1400" dirty="0">
                <a:solidFill>
                  <a:srgbClr val="FF0000"/>
                </a:solidFill>
              </a:rPr>
              <a:t>1</a:t>
            </a:r>
            <a:r>
              <a:rPr lang="ko-KR" altLang="en-US" sz="1400" dirty="0">
                <a:solidFill>
                  <a:srgbClr val="FF0000"/>
                </a:solidFill>
              </a:rPr>
              <a:t>항에 따라 특허료를 낸 경우</a:t>
            </a:r>
            <a:r>
              <a:rPr lang="ko-KR" altLang="en-US" sz="1400" dirty="0">
                <a:solidFill>
                  <a:schemeClr val="tx2"/>
                </a:solidFill>
              </a:rPr>
              <a:t>에는 내야 할 자가 현재 이익을 얻는 한도에서 그 비용의 상환을 청구할 수 있다</a:t>
            </a:r>
            <a:r>
              <a:rPr lang="en-US" altLang="ko-KR" sz="1400" dirty="0">
                <a:solidFill>
                  <a:schemeClr val="tx2"/>
                </a:solidFill>
              </a:rPr>
              <a:t>.</a:t>
            </a:r>
          </a:p>
        </p:txBody>
      </p:sp>
      <p:sp>
        <p:nvSpPr>
          <p:cNvPr id="2" name="TextBox 1"/>
          <p:cNvSpPr txBox="1"/>
          <p:nvPr/>
        </p:nvSpPr>
        <p:spPr>
          <a:xfrm>
            <a:off x="2235227" y="2209796"/>
            <a:ext cx="1270000" cy="369332"/>
          </a:xfrm>
          <a:prstGeom prst="rect">
            <a:avLst/>
          </a:prstGeom>
          <a:solidFill>
            <a:schemeClr val="accent2">
              <a:lumMod val="40000"/>
              <a:lumOff val="60000"/>
            </a:schemeClr>
          </a:solidFill>
          <a:ln>
            <a:solidFill>
              <a:schemeClr val="bg1">
                <a:lumMod val="50000"/>
              </a:schemeClr>
            </a:solidFill>
          </a:ln>
        </p:spPr>
        <p:txBody>
          <a:bodyPr wrap="square" rtlCol="0">
            <a:spAutoFit/>
          </a:bodyPr>
          <a:lstStyle/>
          <a:p>
            <a:pPr algn="ctr"/>
            <a:r>
              <a:rPr lang="ko-KR" altLang="en-US" dirty="0"/>
              <a:t>특허료</a:t>
            </a:r>
          </a:p>
        </p:txBody>
      </p:sp>
      <p:sp>
        <p:nvSpPr>
          <p:cNvPr id="38" name="TextBox 37"/>
          <p:cNvSpPr txBox="1"/>
          <p:nvPr/>
        </p:nvSpPr>
        <p:spPr>
          <a:xfrm>
            <a:off x="2235227" y="3014130"/>
            <a:ext cx="1270000" cy="369332"/>
          </a:xfrm>
          <a:prstGeom prst="rect">
            <a:avLst/>
          </a:prstGeom>
          <a:solidFill>
            <a:schemeClr val="accent2">
              <a:lumMod val="40000"/>
              <a:lumOff val="60000"/>
            </a:schemeClr>
          </a:solidFill>
          <a:ln>
            <a:solidFill>
              <a:schemeClr val="bg1">
                <a:lumMod val="50000"/>
              </a:schemeClr>
            </a:solidFill>
          </a:ln>
        </p:spPr>
        <p:txBody>
          <a:bodyPr wrap="square" rtlCol="0">
            <a:spAutoFit/>
          </a:bodyPr>
          <a:lstStyle/>
          <a:p>
            <a:pPr algn="ctr"/>
            <a:r>
              <a:rPr lang="ko-KR" altLang="en-US" dirty="0"/>
              <a:t>납부이익</a:t>
            </a:r>
          </a:p>
        </p:txBody>
      </p:sp>
      <p:sp>
        <p:nvSpPr>
          <p:cNvPr id="42" name="TextBox 41"/>
          <p:cNvSpPr txBox="1"/>
          <p:nvPr/>
        </p:nvSpPr>
        <p:spPr>
          <a:xfrm>
            <a:off x="4301093" y="3005663"/>
            <a:ext cx="1270000" cy="369332"/>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algn="ctr"/>
            <a:r>
              <a:rPr lang="ko-KR" altLang="en-US" dirty="0" err="1"/>
              <a:t>특허권자</a:t>
            </a:r>
            <a:endParaRPr lang="ko-KR" altLang="en-US" dirty="0"/>
          </a:p>
        </p:txBody>
      </p:sp>
      <p:sp>
        <p:nvSpPr>
          <p:cNvPr id="43" name="TextBox 42"/>
          <p:cNvSpPr txBox="1"/>
          <p:nvPr/>
        </p:nvSpPr>
        <p:spPr>
          <a:xfrm>
            <a:off x="4301093" y="3623730"/>
            <a:ext cx="1270000" cy="369332"/>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algn="ctr"/>
            <a:r>
              <a:rPr lang="ko-KR" altLang="en-US" dirty="0" err="1"/>
              <a:t>실시권자</a:t>
            </a:r>
            <a:endParaRPr lang="ko-KR" altLang="en-US" dirty="0"/>
          </a:p>
        </p:txBody>
      </p:sp>
      <p:cxnSp>
        <p:nvCxnSpPr>
          <p:cNvPr id="6" name="꺾인 연결선 5"/>
          <p:cNvCxnSpPr>
            <a:stCxn id="38" idx="3"/>
            <a:endCxn id="42" idx="1"/>
          </p:cNvCxnSpPr>
          <p:nvPr/>
        </p:nvCxnSpPr>
        <p:spPr>
          <a:xfrm flipV="1">
            <a:off x="3505227" y="3190329"/>
            <a:ext cx="795866" cy="846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꺾인 연결선 7"/>
          <p:cNvCxnSpPr>
            <a:stCxn id="38" idx="3"/>
            <a:endCxn id="43" idx="1"/>
          </p:cNvCxnSpPr>
          <p:nvPr/>
        </p:nvCxnSpPr>
        <p:spPr>
          <a:xfrm>
            <a:off x="3505227" y="3198796"/>
            <a:ext cx="795866" cy="6096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꺾인 연결선 9"/>
          <p:cNvCxnSpPr>
            <a:stCxn id="2" idx="1"/>
            <a:endCxn id="38" idx="1"/>
          </p:cNvCxnSpPr>
          <p:nvPr/>
        </p:nvCxnSpPr>
        <p:spPr>
          <a:xfrm rot="10800000" flipV="1">
            <a:off x="2235227" y="2394462"/>
            <a:ext cx="12700" cy="804334"/>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3606827" y="2209796"/>
            <a:ext cx="986167" cy="369332"/>
          </a:xfrm>
          <a:prstGeom prst="rect">
            <a:avLst/>
          </a:prstGeom>
          <a:noFill/>
        </p:spPr>
        <p:txBody>
          <a:bodyPr wrap="none" rtlCol="0">
            <a:spAutoFit/>
          </a:bodyPr>
          <a:lstStyle/>
          <a:p>
            <a:r>
              <a:rPr lang="en-US" altLang="ko-KR"/>
              <a:t>100</a:t>
            </a:r>
            <a:r>
              <a:rPr lang="ko-KR" altLang="en-US" dirty="0"/>
              <a:t>만원</a:t>
            </a:r>
          </a:p>
        </p:txBody>
      </p:sp>
      <p:sp>
        <p:nvSpPr>
          <p:cNvPr id="44" name="TextBox 43"/>
          <p:cNvSpPr txBox="1"/>
          <p:nvPr/>
        </p:nvSpPr>
        <p:spPr>
          <a:xfrm>
            <a:off x="5745696" y="3005663"/>
            <a:ext cx="857927" cy="369332"/>
          </a:xfrm>
          <a:prstGeom prst="rect">
            <a:avLst/>
          </a:prstGeom>
          <a:noFill/>
        </p:spPr>
        <p:txBody>
          <a:bodyPr wrap="none" rtlCol="0">
            <a:spAutoFit/>
          </a:bodyPr>
          <a:lstStyle/>
          <a:p>
            <a:r>
              <a:rPr lang="en-US" altLang="ko-KR" dirty="0"/>
              <a:t>30</a:t>
            </a:r>
            <a:r>
              <a:rPr lang="ko-KR" altLang="en-US" dirty="0"/>
              <a:t>만원</a:t>
            </a:r>
          </a:p>
        </p:txBody>
      </p:sp>
      <p:sp>
        <p:nvSpPr>
          <p:cNvPr id="45" name="TextBox 44"/>
          <p:cNvSpPr txBox="1"/>
          <p:nvPr/>
        </p:nvSpPr>
        <p:spPr>
          <a:xfrm>
            <a:off x="5745696" y="3623730"/>
            <a:ext cx="1178528" cy="369332"/>
          </a:xfrm>
          <a:prstGeom prst="rect">
            <a:avLst/>
          </a:prstGeom>
          <a:noFill/>
        </p:spPr>
        <p:txBody>
          <a:bodyPr wrap="none" rtlCol="0">
            <a:spAutoFit/>
          </a:bodyPr>
          <a:lstStyle/>
          <a:p>
            <a:r>
              <a:rPr lang="en-US" altLang="ko-KR" dirty="0"/>
              <a:t>1,000</a:t>
            </a:r>
            <a:r>
              <a:rPr lang="ko-KR" altLang="en-US" dirty="0"/>
              <a:t>만원</a:t>
            </a:r>
          </a:p>
        </p:txBody>
      </p:sp>
      <p:sp>
        <p:nvSpPr>
          <p:cNvPr id="12" name="TextBox 11"/>
          <p:cNvSpPr txBox="1"/>
          <p:nvPr/>
        </p:nvSpPr>
        <p:spPr>
          <a:xfrm>
            <a:off x="3894693" y="4800611"/>
            <a:ext cx="5274734" cy="1200329"/>
          </a:xfrm>
          <a:prstGeom prst="rect">
            <a:avLst/>
          </a:prstGeom>
          <a:noFill/>
          <a:ln>
            <a:solidFill>
              <a:schemeClr val="bg1">
                <a:lumMod val="50000"/>
              </a:schemeClr>
            </a:solidFill>
          </a:ln>
        </p:spPr>
        <p:txBody>
          <a:bodyPr wrap="square" rtlCol="0">
            <a:spAutoFit/>
          </a:bodyPr>
          <a:lstStyle/>
          <a:p>
            <a:pPr marL="285750" indent="-285750">
              <a:buFontTx/>
              <a:buChar char="-"/>
            </a:pPr>
            <a:r>
              <a:rPr lang="ko-KR" altLang="en-US" dirty="0" err="1"/>
              <a:t>실시권자가</a:t>
            </a:r>
            <a:r>
              <a:rPr lang="ko-KR" altLang="en-US" dirty="0"/>
              <a:t> 특허료 </a:t>
            </a:r>
            <a:r>
              <a:rPr lang="en-US" altLang="ko-KR" dirty="0"/>
              <a:t>100</a:t>
            </a:r>
            <a:r>
              <a:rPr lang="ko-KR" altLang="en-US" dirty="0"/>
              <a:t>만원을 대신 납부 가능</a:t>
            </a:r>
            <a:endParaRPr lang="en-US" altLang="ko-KR" dirty="0"/>
          </a:p>
          <a:p>
            <a:pPr marL="285750" indent="-285750">
              <a:buFontTx/>
              <a:buChar char="-"/>
            </a:pPr>
            <a:r>
              <a:rPr lang="ko-KR" altLang="en-US" dirty="0" err="1"/>
              <a:t>특허권자에게</a:t>
            </a:r>
            <a:r>
              <a:rPr lang="ko-KR" altLang="en-US" dirty="0"/>
              <a:t> 비용상환청구 가능</a:t>
            </a:r>
            <a:endParaRPr lang="en-US" altLang="ko-KR" dirty="0"/>
          </a:p>
          <a:p>
            <a:pPr marL="742950" lvl="1" indent="-285750">
              <a:buFontTx/>
              <a:buChar char="-"/>
            </a:pPr>
            <a:r>
              <a:rPr lang="ko-KR" altLang="en-US" dirty="0"/>
              <a:t>특허권자의 의사에 의한 경우</a:t>
            </a:r>
            <a:r>
              <a:rPr lang="en-US" altLang="ko-KR" dirty="0"/>
              <a:t>: 100</a:t>
            </a:r>
            <a:r>
              <a:rPr lang="ko-KR" altLang="en-US" dirty="0"/>
              <a:t>만원 </a:t>
            </a:r>
            <a:endParaRPr lang="en-US" altLang="ko-KR" dirty="0"/>
          </a:p>
          <a:p>
            <a:pPr marL="742950" lvl="1" indent="-285750">
              <a:buFontTx/>
              <a:buChar char="-"/>
            </a:pPr>
            <a:r>
              <a:rPr lang="ko-KR" altLang="en-US" dirty="0"/>
              <a:t>특허권자의 의사에 반한 경우</a:t>
            </a:r>
            <a:r>
              <a:rPr lang="en-US" altLang="ko-KR" dirty="0"/>
              <a:t>: 30</a:t>
            </a:r>
            <a:r>
              <a:rPr lang="ko-KR" altLang="en-US" dirty="0"/>
              <a:t>만원</a:t>
            </a:r>
          </a:p>
        </p:txBody>
      </p:sp>
      <p:cxnSp>
        <p:nvCxnSpPr>
          <p:cNvPr id="16" name="꺾인 연결선 15"/>
          <p:cNvCxnSpPr>
            <a:stCxn id="12" idx="0"/>
            <a:endCxn id="43" idx="2"/>
          </p:cNvCxnSpPr>
          <p:nvPr/>
        </p:nvCxnSpPr>
        <p:spPr>
          <a:xfrm rot="16200000" flipV="1">
            <a:off x="5330303" y="3598853"/>
            <a:ext cx="807549" cy="1595967"/>
          </a:xfrm>
          <a:prstGeom prst="bentConnector3">
            <a:avLst/>
          </a:prstGeom>
          <a:ln w="381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 name="슬라이드 번호 개체 틀 4"/>
          <p:cNvSpPr>
            <a:spLocks noGrp="1"/>
          </p:cNvSpPr>
          <p:nvPr>
            <p:ph type="sldNum" sz="quarter" idx="12"/>
          </p:nvPr>
        </p:nvSpPr>
        <p:spPr/>
        <p:txBody>
          <a:bodyPr/>
          <a:lstStyle/>
          <a:p>
            <a:r>
              <a:rPr lang="en-US" altLang="ko-KR"/>
              <a:t>289</a:t>
            </a:r>
            <a:endParaRPr lang="ko-KR" altLang="en-US"/>
          </a:p>
        </p:txBody>
      </p:sp>
    </p:spTree>
    <p:extLst>
      <p:ext uri="{BB962C8B-B14F-4D97-AF65-F5344CB8AC3E}">
        <p14:creationId xmlns:p14="http://schemas.microsoft.com/office/powerpoint/2010/main" val="2280137093"/>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9" name="직선 연결선 128"/>
          <p:cNvCxnSpPr/>
          <p:nvPr/>
        </p:nvCxnSpPr>
        <p:spPr>
          <a:xfrm flipH="1">
            <a:off x="336431" y="3734740"/>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양쪽 모서리가 둥근 사각형 54"/>
          <p:cNvSpPr/>
          <p:nvPr/>
        </p:nvSpPr>
        <p:spPr>
          <a:xfrm>
            <a:off x="7080566" y="2158543"/>
            <a:ext cx="2190481" cy="395343"/>
          </a:xfrm>
          <a:prstGeom prst="round2SameRect">
            <a:avLst>
              <a:gd name="adj1" fmla="val 0"/>
              <a:gd name="adj2" fmla="val 50000"/>
            </a:avLst>
          </a:prstGeom>
          <a:pattFill prst="smConfetti">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 name="양쪽 모서리가 둥근 사각형 51"/>
          <p:cNvSpPr/>
          <p:nvPr/>
        </p:nvSpPr>
        <p:spPr>
          <a:xfrm>
            <a:off x="5926713" y="1718732"/>
            <a:ext cx="3708400" cy="452336"/>
          </a:xfrm>
          <a:prstGeom prst="round2SameRect">
            <a:avLst>
              <a:gd name="adj1" fmla="val 50000"/>
              <a:gd name="adj2" fmla="val 0"/>
            </a:avLst>
          </a:prstGeom>
          <a:pattFill prst="lgGrid">
            <a:fgClr>
              <a:schemeClr val="accent4"/>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양쪽 모서리가 둥근 사각형 40"/>
          <p:cNvSpPr/>
          <p:nvPr/>
        </p:nvSpPr>
        <p:spPr>
          <a:xfrm>
            <a:off x="2743200" y="1701797"/>
            <a:ext cx="2413008" cy="452336"/>
          </a:xfrm>
          <a:prstGeom prst="round2SameRect">
            <a:avLst>
              <a:gd name="adj1" fmla="val 50000"/>
              <a:gd name="adj2" fmla="val 0"/>
            </a:avLst>
          </a:prstGeom>
          <a:pattFill prst="lg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양쪽 모서리가 둥근 사각형 13"/>
          <p:cNvSpPr/>
          <p:nvPr/>
        </p:nvSpPr>
        <p:spPr>
          <a:xfrm>
            <a:off x="1147530" y="1718732"/>
            <a:ext cx="1595670" cy="452336"/>
          </a:xfrm>
          <a:prstGeom prst="round2SameRect">
            <a:avLst>
              <a:gd name="adj1" fmla="val 50000"/>
              <a:gd name="adj2" fmla="val 0"/>
            </a:avLst>
          </a:prstGeom>
          <a:pattFill prst="lgGrid">
            <a:fgClr>
              <a:schemeClr val="accent2"/>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79</a:t>
            </a:r>
            <a:r>
              <a:rPr lang="ko-KR" altLang="en-US" dirty="0"/>
              <a:t>조</a:t>
            </a:r>
            <a:r>
              <a:rPr lang="en-US" altLang="ko-KR" dirty="0"/>
              <a:t>~</a:t>
            </a:r>
            <a:r>
              <a:rPr lang="ko-KR" altLang="en-US" dirty="0"/>
              <a:t>제</a:t>
            </a:r>
            <a:r>
              <a:rPr lang="en-US" altLang="ko-KR" dirty="0"/>
              <a:t>81</a:t>
            </a:r>
            <a:r>
              <a:rPr lang="ko-KR" altLang="en-US" dirty="0"/>
              <a:t>조의</a:t>
            </a:r>
            <a:r>
              <a:rPr lang="en-US" altLang="ko-KR" dirty="0"/>
              <a:t>3</a:t>
            </a:r>
            <a:endParaRPr lang="ko-KR" altLang="en-US" dirty="0"/>
          </a:p>
        </p:txBody>
      </p:sp>
      <p:sp>
        <p:nvSpPr>
          <p:cNvPr id="4" name="텍스트 개체 틀 3"/>
          <p:cNvSpPr>
            <a:spLocks noGrp="1"/>
          </p:cNvSpPr>
          <p:nvPr>
            <p:ph type="body" sz="quarter" idx="13"/>
          </p:nvPr>
        </p:nvSpPr>
        <p:spPr/>
        <p:txBody>
          <a:bodyPr/>
          <a:lstStyle/>
          <a:p>
            <a:r>
              <a:rPr lang="ko-KR" altLang="en-US" dirty="0">
                <a:solidFill>
                  <a:srgbClr val="525252"/>
                </a:solidFill>
              </a:rPr>
              <a:t>특허료 납부 절차</a:t>
            </a:r>
          </a:p>
        </p:txBody>
      </p:sp>
      <p:sp>
        <p:nvSpPr>
          <p:cNvPr id="19" name="양쪽 모서리가 둥근 사각형 18"/>
          <p:cNvSpPr/>
          <p:nvPr/>
        </p:nvSpPr>
        <p:spPr>
          <a:xfrm>
            <a:off x="4478868" y="2158543"/>
            <a:ext cx="1447846" cy="395343"/>
          </a:xfrm>
          <a:prstGeom prst="round2SameRect">
            <a:avLst>
              <a:gd name="adj1" fmla="val 0"/>
              <a:gd name="adj2" fmla="val 50000"/>
            </a:avLst>
          </a:prstGeom>
          <a:pattFill prst="smConfetti">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0" name="직선 연결선 19"/>
          <p:cNvCxnSpPr/>
          <p:nvPr/>
        </p:nvCxnSpPr>
        <p:spPr>
          <a:xfrm>
            <a:off x="752475" y="2162601"/>
            <a:ext cx="107156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직사각형 26"/>
          <p:cNvSpPr/>
          <p:nvPr/>
        </p:nvSpPr>
        <p:spPr>
          <a:xfrm>
            <a:off x="762602" y="2000450"/>
            <a:ext cx="769856" cy="31618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특허결정</a:t>
            </a:r>
            <a:endParaRPr lang="en-US" altLang="ko-KR" sz="1000" dirty="0">
              <a:solidFill>
                <a:schemeClr val="tx1"/>
              </a:solidFill>
            </a:endParaRPr>
          </a:p>
          <a:p>
            <a:pPr algn="ctr"/>
            <a:r>
              <a:rPr lang="ko-KR" altLang="en-US" sz="1000" dirty="0">
                <a:solidFill>
                  <a:schemeClr val="tx1"/>
                </a:solidFill>
              </a:rPr>
              <a:t>등본송달일</a:t>
            </a:r>
          </a:p>
        </p:txBody>
      </p:sp>
      <p:sp>
        <p:nvSpPr>
          <p:cNvPr id="33" name="직사각형 32"/>
          <p:cNvSpPr/>
          <p:nvPr/>
        </p:nvSpPr>
        <p:spPr>
          <a:xfrm>
            <a:off x="907849" y="1425968"/>
            <a:ext cx="1985039" cy="3045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납부기간</a:t>
            </a:r>
            <a:r>
              <a:rPr lang="en-US" altLang="ko-KR" sz="1050" dirty="0">
                <a:solidFill>
                  <a:schemeClr val="tx1"/>
                </a:solidFill>
              </a:rPr>
              <a:t>(3</a:t>
            </a:r>
            <a:r>
              <a:rPr lang="ko-KR" altLang="en-US" sz="1050" dirty="0">
                <a:solidFill>
                  <a:schemeClr val="tx1"/>
                </a:solidFill>
              </a:rPr>
              <a:t>개월</a:t>
            </a:r>
            <a:r>
              <a:rPr lang="en-US" altLang="ko-KR" sz="1050" dirty="0">
                <a:solidFill>
                  <a:schemeClr val="tx1"/>
                </a:solidFill>
              </a:rPr>
              <a:t>): 3</a:t>
            </a:r>
            <a:r>
              <a:rPr lang="ko-KR" altLang="en-US" sz="1050" dirty="0" err="1">
                <a:solidFill>
                  <a:schemeClr val="tx1"/>
                </a:solidFill>
              </a:rPr>
              <a:t>년분</a:t>
            </a:r>
            <a:r>
              <a:rPr lang="ko-KR" altLang="en-US" sz="1050" dirty="0">
                <a:solidFill>
                  <a:schemeClr val="tx1"/>
                </a:solidFill>
              </a:rPr>
              <a:t> 납부</a:t>
            </a:r>
          </a:p>
        </p:txBody>
      </p:sp>
      <p:sp>
        <p:nvSpPr>
          <p:cNvPr id="46" name="직사각형 45"/>
          <p:cNvSpPr/>
          <p:nvPr/>
        </p:nvSpPr>
        <p:spPr>
          <a:xfrm>
            <a:off x="2798355" y="1425968"/>
            <a:ext cx="2900185" cy="3045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추가납부기간</a:t>
            </a:r>
            <a:r>
              <a:rPr lang="en-US" altLang="ko-KR" sz="1050" dirty="0">
                <a:solidFill>
                  <a:schemeClr val="tx1"/>
                </a:solidFill>
              </a:rPr>
              <a:t>(6</a:t>
            </a:r>
            <a:r>
              <a:rPr lang="ko-KR" altLang="en-US" sz="1050" dirty="0">
                <a:solidFill>
                  <a:schemeClr val="tx1"/>
                </a:solidFill>
              </a:rPr>
              <a:t>개월</a:t>
            </a:r>
            <a:r>
              <a:rPr lang="en-US" altLang="ko-KR" sz="1050" dirty="0">
                <a:solidFill>
                  <a:schemeClr val="tx1"/>
                </a:solidFill>
              </a:rPr>
              <a:t>): </a:t>
            </a:r>
            <a:r>
              <a:rPr lang="ko-KR" altLang="en-US" sz="1050" dirty="0">
                <a:solidFill>
                  <a:schemeClr val="tx1"/>
                </a:solidFill>
              </a:rPr>
              <a:t>최대 </a:t>
            </a:r>
            <a:r>
              <a:rPr lang="en-US" altLang="ko-KR" sz="1050" dirty="0">
                <a:solidFill>
                  <a:schemeClr val="tx1"/>
                </a:solidFill>
              </a:rPr>
              <a:t>2</a:t>
            </a:r>
            <a:r>
              <a:rPr lang="ko-KR" altLang="en-US" sz="1050" dirty="0">
                <a:solidFill>
                  <a:schemeClr val="tx1"/>
                </a:solidFill>
              </a:rPr>
              <a:t>배 </a:t>
            </a:r>
            <a:r>
              <a:rPr lang="ko-KR" altLang="en-US" sz="1050" dirty="0" err="1">
                <a:solidFill>
                  <a:schemeClr val="tx1"/>
                </a:solidFill>
              </a:rPr>
              <a:t>범위내에서</a:t>
            </a:r>
            <a:r>
              <a:rPr lang="ko-KR" altLang="en-US" sz="1050" dirty="0">
                <a:solidFill>
                  <a:schemeClr val="tx1"/>
                </a:solidFill>
              </a:rPr>
              <a:t> 납부</a:t>
            </a:r>
          </a:p>
        </p:txBody>
      </p:sp>
      <p:sp>
        <p:nvSpPr>
          <p:cNvPr id="48" name="직사각형 47"/>
          <p:cNvSpPr/>
          <p:nvPr/>
        </p:nvSpPr>
        <p:spPr>
          <a:xfrm>
            <a:off x="4502785" y="2501222"/>
            <a:ext cx="1474722" cy="3045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tx1"/>
                </a:solidFill>
              </a:rPr>
              <a:t>보전기간</a:t>
            </a:r>
            <a:r>
              <a:rPr lang="en-US" altLang="ko-KR" sz="900" dirty="0">
                <a:solidFill>
                  <a:schemeClr val="tx1"/>
                </a:solidFill>
              </a:rPr>
              <a:t>(1</a:t>
            </a:r>
            <a:r>
              <a:rPr lang="ko-KR" altLang="en-US" sz="900" dirty="0">
                <a:solidFill>
                  <a:schemeClr val="tx1"/>
                </a:solidFill>
              </a:rPr>
              <a:t>개월</a:t>
            </a:r>
            <a:r>
              <a:rPr lang="en-US" altLang="ko-KR" sz="900" dirty="0">
                <a:solidFill>
                  <a:schemeClr val="tx1"/>
                </a:solidFill>
              </a:rPr>
              <a:t>)</a:t>
            </a:r>
            <a:endParaRPr lang="ko-KR" altLang="en-US" sz="900" dirty="0">
              <a:solidFill>
                <a:schemeClr val="tx1"/>
              </a:solidFill>
            </a:endParaRPr>
          </a:p>
        </p:txBody>
      </p:sp>
      <p:sp>
        <p:nvSpPr>
          <p:cNvPr id="49" name="모서리가 둥근 직사각형 48"/>
          <p:cNvSpPr/>
          <p:nvPr/>
        </p:nvSpPr>
        <p:spPr>
          <a:xfrm>
            <a:off x="4020807" y="2936705"/>
            <a:ext cx="769856" cy="259522"/>
          </a:xfrm>
          <a:prstGeom prst="roundRect">
            <a:avLst>
              <a:gd name="adj" fmla="val 5000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a:solidFill>
                  <a:schemeClr val="tx1"/>
                </a:solidFill>
              </a:rPr>
              <a:t>일부납부</a:t>
            </a:r>
            <a:endParaRPr lang="ko-KR" altLang="en-US" sz="1000" dirty="0">
              <a:solidFill>
                <a:schemeClr val="tx1"/>
              </a:solidFill>
            </a:endParaRPr>
          </a:p>
        </p:txBody>
      </p:sp>
      <p:sp>
        <p:nvSpPr>
          <p:cNvPr id="53" name="직사각형 52"/>
          <p:cNvSpPr/>
          <p:nvPr/>
        </p:nvSpPr>
        <p:spPr>
          <a:xfrm>
            <a:off x="6176810" y="1443386"/>
            <a:ext cx="3140318" cy="3045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추가납부기간과 보전기간 만료일 중 늦은 날로부터 </a:t>
            </a:r>
            <a:r>
              <a:rPr lang="en-US" altLang="ko-KR" sz="1050" dirty="0">
                <a:solidFill>
                  <a:schemeClr val="tx1"/>
                </a:solidFill>
              </a:rPr>
              <a:t>1</a:t>
            </a:r>
            <a:r>
              <a:rPr lang="ko-KR" altLang="en-US" sz="1050" dirty="0">
                <a:solidFill>
                  <a:schemeClr val="tx1"/>
                </a:solidFill>
              </a:rPr>
              <a:t>년</a:t>
            </a:r>
          </a:p>
        </p:txBody>
      </p:sp>
      <p:sp>
        <p:nvSpPr>
          <p:cNvPr id="56" name="Rectangle 14"/>
          <p:cNvSpPr>
            <a:spLocks noChangeArrowheads="1"/>
          </p:cNvSpPr>
          <p:nvPr/>
        </p:nvSpPr>
        <p:spPr bwMode="auto">
          <a:xfrm flipV="1">
            <a:off x="9174252" y="209453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7" name="모서리가 둥근 직사각형 56"/>
          <p:cNvSpPr/>
          <p:nvPr/>
        </p:nvSpPr>
        <p:spPr>
          <a:xfrm>
            <a:off x="8136481" y="2936705"/>
            <a:ext cx="769856" cy="259522"/>
          </a:xfrm>
          <a:prstGeom prst="roundRect">
            <a:avLst>
              <a:gd name="adj" fmla="val 5000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완납</a:t>
            </a:r>
          </a:p>
        </p:txBody>
      </p:sp>
      <p:sp>
        <p:nvSpPr>
          <p:cNvPr id="58" name="직사각형 57"/>
          <p:cNvSpPr/>
          <p:nvPr/>
        </p:nvSpPr>
        <p:spPr>
          <a:xfrm>
            <a:off x="8136481" y="2000450"/>
            <a:ext cx="769856" cy="316186"/>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설정등록</a:t>
            </a:r>
          </a:p>
        </p:txBody>
      </p:sp>
      <p:cxnSp>
        <p:nvCxnSpPr>
          <p:cNvPr id="17" name="직선 화살표 연결선 16"/>
          <p:cNvCxnSpPr>
            <a:stCxn id="49" idx="0"/>
          </p:cNvCxnSpPr>
          <p:nvPr/>
        </p:nvCxnSpPr>
        <p:spPr>
          <a:xfrm flipV="1">
            <a:off x="4405735" y="2171068"/>
            <a:ext cx="0" cy="765637"/>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9" name="직선 화살표 연결선 58"/>
          <p:cNvCxnSpPr>
            <a:stCxn id="57" idx="0"/>
            <a:endCxn id="58" idx="2"/>
          </p:cNvCxnSpPr>
          <p:nvPr/>
        </p:nvCxnSpPr>
        <p:spPr>
          <a:xfrm flipV="1">
            <a:off x="8521409" y="2316636"/>
            <a:ext cx="0" cy="62006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직사각형 61"/>
          <p:cNvSpPr/>
          <p:nvPr/>
        </p:nvSpPr>
        <p:spPr>
          <a:xfrm>
            <a:off x="7483057" y="2501222"/>
            <a:ext cx="1474722" cy="3045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tx1"/>
                </a:solidFill>
              </a:rPr>
              <a:t>사유소멸일로부터 </a:t>
            </a:r>
            <a:r>
              <a:rPr lang="en-US" altLang="ko-KR" sz="900" dirty="0">
                <a:solidFill>
                  <a:schemeClr val="tx1"/>
                </a:solidFill>
              </a:rPr>
              <a:t>2</a:t>
            </a:r>
            <a:r>
              <a:rPr lang="ko-KR" altLang="en-US" sz="900" dirty="0">
                <a:solidFill>
                  <a:schemeClr val="tx1"/>
                </a:solidFill>
              </a:rPr>
              <a:t>개월</a:t>
            </a:r>
          </a:p>
        </p:txBody>
      </p:sp>
      <p:sp>
        <p:nvSpPr>
          <p:cNvPr id="63" name="직사각형 62"/>
          <p:cNvSpPr/>
          <p:nvPr/>
        </p:nvSpPr>
        <p:spPr>
          <a:xfrm>
            <a:off x="5541785" y="2806944"/>
            <a:ext cx="769856" cy="389283"/>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특허출원</a:t>
            </a:r>
            <a:endParaRPr lang="en-US" altLang="ko-KR" sz="1000" dirty="0">
              <a:solidFill>
                <a:schemeClr val="tx1"/>
              </a:solidFill>
            </a:endParaRPr>
          </a:p>
          <a:p>
            <a:pPr algn="ctr"/>
            <a:r>
              <a:rPr lang="ko-KR" altLang="en-US" sz="1000" dirty="0">
                <a:solidFill>
                  <a:schemeClr val="tx1"/>
                </a:solidFill>
              </a:rPr>
              <a:t>포기간주</a:t>
            </a:r>
          </a:p>
        </p:txBody>
      </p:sp>
      <p:cxnSp>
        <p:nvCxnSpPr>
          <p:cNvPr id="64" name="직선 화살표 연결선 63"/>
          <p:cNvCxnSpPr>
            <a:stCxn id="51" idx="0"/>
            <a:endCxn id="63" idx="0"/>
          </p:cNvCxnSpPr>
          <p:nvPr/>
        </p:nvCxnSpPr>
        <p:spPr>
          <a:xfrm>
            <a:off x="5926713" y="2247599"/>
            <a:ext cx="0" cy="559345"/>
          </a:xfrm>
          <a:prstGeom prst="straightConnector1">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flipV="1">
            <a:off x="5926713" y="2178407"/>
            <a:ext cx="2209768" cy="1"/>
          </a:xfrm>
          <a:prstGeom prst="line">
            <a:avLst/>
          </a:prstGeom>
          <a:ln w="9525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Rectangle 14"/>
          <p:cNvSpPr>
            <a:spLocks noChangeArrowheads="1"/>
          </p:cNvSpPr>
          <p:nvPr/>
        </p:nvSpPr>
        <p:spPr bwMode="auto">
          <a:xfrm flipV="1">
            <a:off x="5855275" y="209453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1" name="직사각형 70"/>
          <p:cNvSpPr/>
          <p:nvPr/>
        </p:nvSpPr>
        <p:spPr>
          <a:xfrm>
            <a:off x="6329174" y="3426712"/>
            <a:ext cx="4292260" cy="568758"/>
          </a:xfrm>
          <a:prstGeom prst="rect">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100" dirty="0">
                <a:solidFill>
                  <a:schemeClr val="bg1"/>
                </a:solidFill>
              </a:rPr>
              <a:t>▪ 실시 → 보상금청구권</a:t>
            </a:r>
            <a:r>
              <a:rPr lang="en-US" altLang="ko-KR" sz="1100" dirty="0">
                <a:solidFill>
                  <a:schemeClr val="bg1"/>
                </a:solidFill>
              </a:rPr>
              <a:t>/</a:t>
            </a:r>
            <a:r>
              <a:rPr lang="ko-KR" altLang="en-US" sz="1100" dirty="0">
                <a:solidFill>
                  <a:schemeClr val="bg1"/>
                </a:solidFill>
              </a:rPr>
              <a:t>특허권 행사불가</a:t>
            </a:r>
            <a:endParaRPr lang="en-US" altLang="ko-KR" sz="1100" dirty="0">
              <a:solidFill>
                <a:schemeClr val="bg1"/>
              </a:solidFill>
            </a:endParaRPr>
          </a:p>
          <a:p>
            <a:r>
              <a:rPr lang="ko-KR" altLang="en-US" sz="1100" dirty="0">
                <a:solidFill>
                  <a:schemeClr val="bg1"/>
                </a:solidFill>
              </a:rPr>
              <a:t>▪ 선의의 국내에서 </a:t>
            </a:r>
            <a:r>
              <a:rPr lang="ko-KR" altLang="en-US" sz="1100" dirty="0" err="1">
                <a:solidFill>
                  <a:schemeClr val="bg1"/>
                </a:solidFill>
              </a:rPr>
              <a:t>특허출원된</a:t>
            </a:r>
            <a:r>
              <a:rPr lang="ko-KR" altLang="en-US" sz="1100" dirty="0">
                <a:solidFill>
                  <a:schemeClr val="bg1"/>
                </a:solidFill>
              </a:rPr>
              <a:t> 발명</a:t>
            </a:r>
            <a:r>
              <a:rPr lang="en-US" altLang="ko-KR" sz="1100" dirty="0">
                <a:solidFill>
                  <a:schemeClr val="bg1"/>
                </a:solidFill>
              </a:rPr>
              <a:t>/</a:t>
            </a:r>
            <a:r>
              <a:rPr lang="ko-KR" altLang="en-US" sz="1100" dirty="0">
                <a:solidFill>
                  <a:schemeClr val="bg1"/>
                </a:solidFill>
              </a:rPr>
              <a:t>특허발명을 업으로 실시하거나 </a:t>
            </a:r>
            <a:endParaRPr lang="en-US" altLang="ko-KR" sz="1100" dirty="0">
              <a:solidFill>
                <a:schemeClr val="bg1"/>
              </a:solidFill>
            </a:endParaRPr>
          </a:p>
          <a:p>
            <a:r>
              <a:rPr lang="en-US" altLang="ko-KR" sz="1100" dirty="0">
                <a:solidFill>
                  <a:schemeClr val="bg1"/>
                </a:solidFill>
              </a:rPr>
              <a:t>   </a:t>
            </a:r>
            <a:r>
              <a:rPr lang="ko-KR" altLang="en-US" sz="1100" dirty="0">
                <a:solidFill>
                  <a:schemeClr val="bg1"/>
                </a:solidFill>
              </a:rPr>
              <a:t>이를 준비 → 유상의 </a:t>
            </a:r>
            <a:r>
              <a:rPr lang="ko-KR" altLang="en-US" sz="1100" dirty="0" err="1">
                <a:solidFill>
                  <a:schemeClr val="bg1"/>
                </a:solidFill>
              </a:rPr>
              <a:t>법정실시권</a:t>
            </a:r>
            <a:r>
              <a:rPr lang="ko-KR" altLang="en-US" sz="1100" dirty="0">
                <a:solidFill>
                  <a:schemeClr val="bg1"/>
                </a:solidFill>
              </a:rPr>
              <a:t> 발생</a:t>
            </a:r>
          </a:p>
        </p:txBody>
      </p:sp>
      <p:sp>
        <p:nvSpPr>
          <p:cNvPr id="72" name="모서리가 둥근 직사각형 71"/>
          <p:cNvSpPr/>
          <p:nvPr/>
        </p:nvSpPr>
        <p:spPr>
          <a:xfrm>
            <a:off x="6399941" y="2057114"/>
            <a:ext cx="1083116" cy="259522"/>
          </a:xfrm>
          <a:prstGeom prst="roundRect">
            <a:avLst>
              <a:gd name="adj" fmla="val 1085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rPr>
              <a:t>효력제한기간</a:t>
            </a:r>
          </a:p>
        </p:txBody>
      </p:sp>
      <p:cxnSp>
        <p:nvCxnSpPr>
          <p:cNvPr id="73" name="직선 화살표 연결선 72"/>
          <p:cNvCxnSpPr>
            <a:stCxn id="72" idx="2"/>
          </p:cNvCxnSpPr>
          <p:nvPr/>
        </p:nvCxnSpPr>
        <p:spPr>
          <a:xfrm>
            <a:off x="6941499" y="2316636"/>
            <a:ext cx="18597" cy="1057136"/>
          </a:xfrm>
          <a:prstGeom prst="straightConnector1">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양쪽 모서리가 둥근 사각형 77"/>
          <p:cNvSpPr/>
          <p:nvPr/>
        </p:nvSpPr>
        <p:spPr>
          <a:xfrm>
            <a:off x="6180724" y="4478857"/>
            <a:ext cx="4089414" cy="452336"/>
          </a:xfrm>
          <a:prstGeom prst="round2SameRect">
            <a:avLst>
              <a:gd name="adj1" fmla="val 50000"/>
              <a:gd name="adj2" fmla="val 0"/>
            </a:avLst>
          </a:prstGeom>
          <a:pattFill prst="lgGrid">
            <a:fgClr>
              <a:schemeClr val="accent4"/>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9" name="양쪽 모서리가 둥근 사각형 78"/>
          <p:cNvSpPr/>
          <p:nvPr/>
        </p:nvSpPr>
        <p:spPr>
          <a:xfrm>
            <a:off x="3776173" y="4461922"/>
            <a:ext cx="2400637" cy="452336"/>
          </a:xfrm>
          <a:prstGeom prst="round2SameRect">
            <a:avLst>
              <a:gd name="adj1" fmla="val 50000"/>
              <a:gd name="adj2" fmla="val 0"/>
            </a:avLst>
          </a:prstGeom>
          <a:pattFill prst="lg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0" name="양쪽 모서리가 둥근 사각형 79"/>
          <p:cNvSpPr/>
          <p:nvPr/>
        </p:nvSpPr>
        <p:spPr>
          <a:xfrm>
            <a:off x="2218267" y="4478857"/>
            <a:ext cx="1557905" cy="452336"/>
          </a:xfrm>
          <a:prstGeom prst="round2SameRect">
            <a:avLst>
              <a:gd name="adj1" fmla="val 50000"/>
              <a:gd name="adj2" fmla="val 0"/>
            </a:avLst>
          </a:prstGeom>
          <a:pattFill prst="lgGrid">
            <a:fgClr>
              <a:schemeClr val="accent2"/>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1" name="양쪽 모서리가 둥근 사각형 80"/>
          <p:cNvSpPr/>
          <p:nvPr/>
        </p:nvSpPr>
        <p:spPr>
          <a:xfrm>
            <a:off x="4761033" y="4918668"/>
            <a:ext cx="1237118" cy="395343"/>
          </a:xfrm>
          <a:prstGeom prst="round2SameRect">
            <a:avLst>
              <a:gd name="adj1" fmla="val 0"/>
              <a:gd name="adj2" fmla="val 50000"/>
            </a:avLst>
          </a:prstGeom>
          <a:pattFill prst="smConfetti">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3" name="직선 연결선 82"/>
          <p:cNvCxnSpPr/>
          <p:nvPr/>
        </p:nvCxnSpPr>
        <p:spPr>
          <a:xfrm>
            <a:off x="752475" y="4922726"/>
            <a:ext cx="107156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4" name="직사각형 83"/>
          <p:cNvSpPr/>
          <p:nvPr/>
        </p:nvSpPr>
        <p:spPr>
          <a:xfrm>
            <a:off x="762602" y="4760575"/>
            <a:ext cx="769856" cy="31618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설정등록</a:t>
            </a:r>
          </a:p>
        </p:txBody>
      </p:sp>
      <p:sp>
        <p:nvSpPr>
          <p:cNvPr id="85" name="직사각형 84"/>
          <p:cNvSpPr/>
          <p:nvPr/>
        </p:nvSpPr>
        <p:spPr>
          <a:xfrm>
            <a:off x="2055224" y="4186093"/>
            <a:ext cx="1737884" cy="3045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납부기간</a:t>
            </a:r>
            <a:r>
              <a:rPr lang="en-US" altLang="ko-KR" sz="1050" dirty="0">
                <a:solidFill>
                  <a:schemeClr val="tx1"/>
                </a:solidFill>
              </a:rPr>
              <a:t>(1</a:t>
            </a:r>
            <a:r>
              <a:rPr lang="ko-KR" altLang="en-US" sz="1050" dirty="0">
                <a:solidFill>
                  <a:schemeClr val="tx1"/>
                </a:solidFill>
              </a:rPr>
              <a:t>년</a:t>
            </a:r>
            <a:r>
              <a:rPr lang="en-US" altLang="ko-KR" sz="1050" dirty="0">
                <a:solidFill>
                  <a:schemeClr val="tx1"/>
                </a:solidFill>
              </a:rPr>
              <a:t>): 1</a:t>
            </a:r>
            <a:r>
              <a:rPr lang="ko-KR" altLang="en-US" sz="1050" dirty="0" err="1">
                <a:solidFill>
                  <a:schemeClr val="tx1"/>
                </a:solidFill>
              </a:rPr>
              <a:t>년분</a:t>
            </a:r>
            <a:r>
              <a:rPr lang="ko-KR" altLang="en-US" sz="1050" dirty="0">
                <a:solidFill>
                  <a:schemeClr val="tx1"/>
                </a:solidFill>
              </a:rPr>
              <a:t> 납부</a:t>
            </a:r>
          </a:p>
        </p:txBody>
      </p:sp>
      <p:sp>
        <p:nvSpPr>
          <p:cNvPr id="86" name="직사각형 85"/>
          <p:cNvSpPr/>
          <p:nvPr/>
        </p:nvSpPr>
        <p:spPr>
          <a:xfrm>
            <a:off x="3619367" y="4186093"/>
            <a:ext cx="2996192" cy="3045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추가납부기간</a:t>
            </a:r>
            <a:r>
              <a:rPr lang="en-US" altLang="ko-KR" sz="1050" dirty="0">
                <a:solidFill>
                  <a:schemeClr val="tx1"/>
                </a:solidFill>
              </a:rPr>
              <a:t>(6</a:t>
            </a:r>
            <a:r>
              <a:rPr lang="ko-KR" altLang="en-US" sz="1050" dirty="0">
                <a:solidFill>
                  <a:schemeClr val="tx1"/>
                </a:solidFill>
              </a:rPr>
              <a:t>개월</a:t>
            </a:r>
            <a:r>
              <a:rPr lang="en-US" altLang="ko-KR" sz="1050" dirty="0">
                <a:solidFill>
                  <a:schemeClr val="tx1"/>
                </a:solidFill>
              </a:rPr>
              <a:t>): </a:t>
            </a:r>
            <a:r>
              <a:rPr lang="ko-KR" altLang="en-US" sz="1050" dirty="0">
                <a:solidFill>
                  <a:schemeClr val="tx1"/>
                </a:solidFill>
              </a:rPr>
              <a:t>최대 </a:t>
            </a:r>
            <a:r>
              <a:rPr lang="en-US" altLang="ko-KR" sz="1050" dirty="0">
                <a:solidFill>
                  <a:schemeClr val="tx1"/>
                </a:solidFill>
              </a:rPr>
              <a:t>2</a:t>
            </a:r>
            <a:r>
              <a:rPr lang="ko-KR" altLang="en-US" sz="1050" dirty="0">
                <a:solidFill>
                  <a:schemeClr val="tx1"/>
                </a:solidFill>
              </a:rPr>
              <a:t>배 </a:t>
            </a:r>
            <a:r>
              <a:rPr lang="ko-KR" altLang="en-US" sz="1050" dirty="0" err="1">
                <a:solidFill>
                  <a:schemeClr val="tx1"/>
                </a:solidFill>
              </a:rPr>
              <a:t>범위내에서</a:t>
            </a:r>
            <a:r>
              <a:rPr lang="ko-KR" altLang="en-US" sz="1050" dirty="0">
                <a:solidFill>
                  <a:schemeClr val="tx1"/>
                </a:solidFill>
              </a:rPr>
              <a:t> 납부</a:t>
            </a:r>
          </a:p>
        </p:txBody>
      </p:sp>
      <p:sp>
        <p:nvSpPr>
          <p:cNvPr id="87" name="직사각형 86"/>
          <p:cNvSpPr/>
          <p:nvPr/>
        </p:nvSpPr>
        <p:spPr>
          <a:xfrm>
            <a:off x="4672125" y="5261347"/>
            <a:ext cx="1474722" cy="3045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tx1"/>
                </a:solidFill>
              </a:rPr>
              <a:t>보전기간</a:t>
            </a:r>
            <a:r>
              <a:rPr lang="en-US" altLang="ko-KR" sz="900" dirty="0">
                <a:solidFill>
                  <a:schemeClr val="tx1"/>
                </a:solidFill>
              </a:rPr>
              <a:t>(1</a:t>
            </a:r>
            <a:r>
              <a:rPr lang="ko-KR" altLang="en-US" sz="900" dirty="0">
                <a:solidFill>
                  <a:schemeClr val="tx1"/>
                </a:solidFill>
              </a:rPr>
              <a:t>개월</a:t>
            </a:r>
            <a:r>
              <a:rPr lang="en-US" altLang="ko-KR" sz="900" dirty="0">
                <a:solidFill>
                  <a:schemeClr val="tx1"/>
                </a:solidFill>
              </a:rPr>
              <a:t>)</a:t>
            </a:r>
            <a:endParaRPr lang="ko-KR" altLang="en-US" sz="900" dirty="0">
              <a:solidFill>
                <a:schemeClr val="tx1"/>
              </a:solidFill>
            </a:endParaRPr>
          </a:p>
        </p:txBody>
      </p:sp>
      <p:sp>
        <p:nvSpPr>
          <p:cNvPr id="88" name="모서리가 둥근 직사각형 87"/>
          <p:cNvSpPr/>
          <p:nvPr/>
        </p:nvSpPr>
        <p:spPr>
          <a:xfrm>
            <a:off x="4291751" y="5552891"/>
            <a:ext cx="769856" cy="259522"/>
          </a:xfrm>
          <a:prstGeom prst="roundRect">
            <a:avLst>
              <a:gd name="adj" fmla="val 5000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a:solidFill>
                  <a:schemeClr val="tx1"/>
                </a:solidFill>
              </a:rPr>
              <a:t>일부납부</a:t>
            </a:r>
            <a:endParaRPr lang="ko-KR" altLang="en-US" sz="1000" dirty="0">
              <a:solidFill>
                <a:schemeClr val="tx1"/>
              </a:solidFill>
            </a:endParaRPr>
          </a:p>
        </p:txBody>
      </p:sp>
      <p:sp>
        <p:nvSpPr>
          <p:cNvPr id="91" name="모서리가 둥근 직사각형 90"/>
          <p:cNvSpPr/>
          <p:nvPr/>
        </p:nvSpPr>
        <p:spPr>
          <a:xfrm>
            <a:off x="8771506" y="5552891"/>
            <a:ext cx="769856" cy="259522"/>
          </a:xfrm>
          <a:prstGeom prst="roundRect">
            <a:avLst>
              <a:gd name="adj" fmla="val 5000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완납</a:t>
            </a:r>
          </a:p>
        </p:txBody>
      </p:sp>
      <p:cxnSp>
        <p:nvCxnSpPr>
          <p:cNvPr id="93" name="직선 화살표 연결선 92"/>
          <p:cNvCxnSpPr>
            <a:stCxn id="88" idx="0"/>
          </p:cNvCxnSpPr>
          <p:nvPr/>
        </p:nvCxnSpPr>
        <p:spPr>
          <a:xfrm flipV="1">
            <a:off x="4676679" y="4947000"/>
            <a:ext cx="0" cy="605891"/>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직선 화살표 연결선 93"/>
          <p:cNvCxnSpPr>
            <a:cxnSpLocks/>
            <a:stCxn id="91" idx="0"/>
          </p:cNvCxnSpPr>
          <p:nvPr/>
        </p:nvCxnSpPr>
        <p:spPr>
          <a:xfrm flipH="1" flipV="1">
            <a:off x="9144612" y="4969458"/>
            <a:ext cx="11822" cy="583433"/>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직선 연결선 97"/>
          <p:cNvCxnSpPr/>
          <p:nvPr/>
        </p:nvCxnSpPr>
        <p:spPr>
          <a:xfrm>
            <a:off x="6252161" y="4914258"/>
            <a:ext cx="2904273" cy="0"/>
          </a:xfrm>
          <a:prstGeom prst="line">
            <a:avLst/>
          </a:prstGeom>
          <a:ln w="9525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Rectangle 14"/>
          <p:cNvSpPr>
            <a:spLocks noChangeArrowheads="1"/>
          </p:cNvSpPr>
          <p:nvPr/>
        </p:nvSpPr>
        <p:spPr bwMode="auto">
          <a:xfrm flipV="1">
            <a:off x="6109285" y="485466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02" name="모서리가 둥근 직사각형 101"/>
          <p:cNvSpPr/>
          <p:nvPr/>
        </p:nvSpPr>
        <p:spPr>
          <a:xfrm>
            <a:off x="7034966" y="4817239"/>
            <a:ext cx="1083116" cy="259522"/>
          </a:xfrm>
          <a:prstGeom prst="roundRect">
            <a:avLst>
              <a:gd name="adj" fmla="val 1085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rPr>
              <a:t>효력제한기간</a:t>
            </a:r>
          </a:p>
        </p:txBody>
      </p:sp>
      <p:sp>
        <p:nvSpPr>
          <p:cNvPr id="104" name="직사각형 103"/>
          <p:cNvSpPr/>
          <p:nvPr/>
        </p:nvSpPr>
        <p:spPr>
          <a:xfrm>
            <a:off x="3310532" y="4760575"/>
            <a:ext cx="931284" cy="31618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3</a:t>
            </a:r>
            <a:r>
              <a:rPr lang="ko-KR" altLang="en-US" sz="1000" dirty="0">
                <a:solidFill>
                  <a:schemeClr val="tx1"/>
                </a:solidFill>
              </a:rPr>
              <a:t>년 존속기간</a:t>
            </a:r>
            <a:endParaRPr lang="en-US" altLang="ko-KR" sz="1000" dirty="0">
              <a:solidFill>
                <a:schemeClr val="tx1"/>
              </a:solidFill>
            </a:endParaRPr>
          </a:p>
          <a:p>
            <a:pPr algn="ctr"/>
            <a:r>
              <a:rPr lang="ko-KR" altLang="en-US" sz="1000" dirty="0">
                <a:solidFill>
                  <a:schemeClr val="tx1"/>
                </a:solidFill>
              </a:rPr>
              <a:t>만료일</a:t>
            </a:r>
          </a:p>
        </p:txBody>
      </p:sp>
      <p:cxnSp>
        <p:nvCxnSpPr>
          <p:cNvPr id="105" name="꺾인 연결선 104"/>
          <p:cNvCxnSpPr>
            <a:stCxn id="99" idx="0"/>
            <a:endCxn id="104" idx="2"/>
          </p:cNvCxnSpPr>
          <p:nvPr/>
        </p:nvCxnSpPr>
        <p:spPr>
          <a:xfrm rot="5400000">
            <a:off x="4943931" y="3839968"/>
            <a:ext cx="69037" cy="2404549"/>
          </a:xfrm>
          <a:prstGeom prst="bentConnector3">
            <a:avLst>
              <a:gd name="adj1" fmla="val 1583940"/>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직사각형 95"/>
          <p:cNvSpPr/>
          <p:nvPr/>
        </p:nvSpPr>
        <p:spPr>
          <a:xfrm>
            <a:off x="3949704" y="5914190"/>
            <a:ext cx="2048447" cy="376264"/>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납부된 특허료에 해당되는 기간이 끝나는 날의 다음 날로 소급하여 소멸</a:t>
            </a:r>
          </a:p>
        </p:txBody>
      </p:sp>
      <p:cxnSp>
        <p:nvCxnSpPr>
          <p:cNvPr id="113" name="꺾인 연결선 112"/>
          <p:cNvCxnSpPr>
            <a:stCxn id="91" idx="2"/>
            <a:endCxn id="104" idx="2"/>
          </p:cNvCxnSpPr>
          <p:nvPr/>
        </p:nvCxnSpPr>
        <p:spPr>
          <a:xfrm rot="5400000" flipH="1">
            <a:off x="6098478" y="2754457"/>
            <a:ext cx="735652" cy="5380260"/>
          </a:xfrm>
          <a:prstGeom prst="bentConnector3">
            <a:avLst>
              <a:gd name="adj1" fmla="val -79412"/>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7" name="직사각형 116"/>
          <p:cNvSpPr/>
          <p:nvPr/>
        </p:nvSpPr>
        <p:spPr>
          <a:xfrm>
            <a:off x="6472962" y="6285870"/>
            <a:ext cx="2048447" cy="224998"/>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a:solidFill>
                  <a:schemeClr val="tx1"/>
                </a:solidFill>
              </a:rPr>
              <a:t>계속하여 존속하고 있던 것으로 간주</a:t>
            </a:r>
            <a:endParaRPr lang="ko-KR" altLang="en-US" sz="1000" dirty="0">
              <a:solidFill>
                <a:schemeClr val="tx1"/>
              </a:solidFill>
            </a:endParaRPr>
          </a:p>
        </p:txBody>
      </p:sp>
      <p:sp>
        <p:nvSpPr>
          <p:cNvPr id="119" name="Rectangle 14"/>
          <p:cNvSpPr>
            <a:spLocks noChangeArrowheads="1"/>
          </p:cNvSpPr>
          <p:nvPr/>
        </p:nvSpPr>
        <p:spPr bwMode="auto">
          <a:xfrm flipV="1">
            <a:off x="10193880" y="485466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26" name="직선 화살표 연결선 125"/>
          <p:cNvCxnSpPr>
            <a:stCxn id="102" idx="0"/>
          </p:cNvCxnSpPr>
          <p:nvPr/>
        </p:nvCxnSpPr>
        <p:spPr>
          <a:xfrm flipH="1" flipV="1">
            <a:off x="7080566" y="4030133"/>
            <a:ext cx="495958" cy="787106"/>
          </a:xfrm>
          <a:prstGeom prst="straightConnector1">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9" name="직사각형 88"/>
          <p:cNvSpPr/>
          <p:nvPr/>
        </p:nvSpPr>
        <p:spPr>
          <a:xfrm>
            <a:off x="6673479" y="4186093"/>
            <a:ext cx="3278674" cy="3045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추가납부기간  또는 보전기간 </a:t>
            </a:r>
            <a:r>
              <a:rPr lang="ko-KR" altLang="en-US" sz="1050" dirty="0" err="1">
                <a:solidFill>
                  <a:schemeClr val="tx1"/>
                </a:solidFill>
              </a:rPr>
              <a:t>만료일후</a:t>
            </a:r>
            <a:r>
              <a:rPr lang="ko-KR" altLang="en-US" sz="1050" dirty="0">
                <a:solidFill>
                  <a:schemeClr val="tx1"/>
                </a:solidFill>
              </a:rPr>
              <a:t>  </a:t>
            </a:r>
            <a:r>
              <a:rPr lang="en-US" altLang="ko-KR" sz="1050" dirty="0">
                <a:solidFill>
                  <a:schemeClr val="tx1"/>
                </a:solidFill>
              </a:rPr>
              <a:t>3</a:t>
            </a:r>
            <a:r>
              <a:rPr lang="ko-KR" altLang="en-US" sz="1050" dirty="0">
                <a:solidFill>
                  <a:schemeClr val="tx1"/>
                </a:solidFill>
              </a:rPr>
              <a:t>개월 </a:t>
            </a:r>
            <a:r>
              <a:rPr lang="en-US" altLang="ko-KR" sz="1050" dirty="0">
                <a:solidFill>
                  <a:schemeClr val="tx1"/>
                </a:solidFill>
              </a:rPr>
              <a:t>/ 2</a:t>
            </a:r>
            <a:r>
              <a:rPr lang="ko-KR" altLang="en-US" sz="1050" dirty="0">
                <a:solidFill>
                  <a:schemeClr val="tx1"/>
                </a:solidFill>
              </a:rPr>
              <a:t>배</a:t>
            </a:r>
          </a:p>
        </p:txBody>
      </p:sp>
      <p:sp>
        <p:nvSpPr>
          <p:cNvPr id="130" name="Rectangle 5"/>
          <p:cNvSpPr>
            <a:spLocks noChangeArrowheads="1"/>
          </p:cNvSpPr>
          <p:nvPr/>
        </p:nvSpPr>
        <p:spPr bwMode="auto">
          <a:xfrm>
            <a:off x="195260" y="1064232"/>
            <a:ext cx="16589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a:solidFill>
                  <a:schemeClr val="bg1"/>
                </a:solidFill>
                <a:latin typeface="+mj-ea"/>
                <a:ea typeface="+mj-ea"/>
              </a:rPr>
              <a:t>등록료</a:t>
            </a:r>
            <a:endParaRPr lang="ko-KR" altLang="en-US" sz="1600" b="0" dirty="0">
              <a:solidFill>
                <a:schemeClr val="bg1"/>
              </a:solidFill>
              <a:latin typeface="+mj-ea"/>
              <a:ea typeface="+mj-ea"/>
            </a:endParaRPr>
          </a:p>
        </p:txBody>
      </p:sp>
      <p:sp>
        <p:nvSpPr>
          <p:cNvPr id="131" name="Rectangle 5"/>
          <p:cNvSpPr>
            <a:spLocks noChangeArrowheads="1"/>
          </p:cNvSpPr>
          <p:nvPr/>
        </p:nvSpPr>
        <p:spPr bwMode="auto">
          <a:xfrm>
            <a:off x="195260" y="3856082"/>
            <a:ext cx="16589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err="1">
                <a:solidFill>
                  <a:schemeClr val="bg1"/>
                </a:solidFill>
                <a:latin typeface="+mj-ea"/>
                <a:ea typeface="+mj-ea"/>
              </a:rPr>
              <a:t>유지료</a:t>
            </a:r>
            <a:r>
              <a:rPr lang="en-US" altLang="ko-KR" sz="1600" b="0" dirty="0">
                <a:solidFill>
                  <a:schemeClr val="bg1"/>
                </a:solidFill>
                <a:latin typeface="+mj-ea"/>
                <a:ea typeface="+mj-ea"/>
              </a:rPr>
              <a:t>(</a:t>
            </a:r>
            <a:r>
              <a:rPr lang="ko-KR" altLang="en-US" sz="1600" b="0" dirty="0" err="1">
                <a:solidFill>
                  <a:schemeClr val="bg1"/>
                </a:solidFill>
                <a:latin typeface="+mj-ea"/>
                <a:ea typeface="+mj-ea"/>
              </a:rPr>
              <a:t>연차료</a:t>
            </a:r>
            <a:r>
              <a:rPr lang="en-US" altLang="ko-KR" sz="1600" b="0" dirty="0">
                <a:solidFill>
                  <a:schemeClr val="bg1"/>
                </a:solidFill>
                <a:latin typeface="+mj-ea"/>
                <a:ea typeface="+mj-ea"/>
              </a:rPr>
              <a:t>)</a:t>
            </a:r>
            <a:endParaRPr lang="ko-KR" altLang="en-US" sz="1600" b="0" dirty="0">
              <a:solidFill>
                <a:schemeClr val="bg1"/>
              </a:solidFill>
              <a:latin typeface="+mj-ea"/>
              <a:ea typeface="+mj-ea"/>
            </a:endParaRPr>
          </a:p>
        </p:txBody>
      </p:sp>
      <p:sp>
        <p:nvSpPr>
          <p:cNvPr id="132" name="모서리가 둥근 사각형 설명선 131"/>
          <p:cNvSpPr/>
          <p:nvPr/>
        </p:nvSpPr>
        <p:spPr>
          <a:xfrm>
            <a:off x="9423400" y="1151466"/>
            <a:ext cx="1701799" cy="274501"/>
          </a:xfrm>
          <a:prstGeom prst="wedgeRoundRectCallout">
            <a:avLst>
              <a:gd name="adj1" fmla="val -48225"/>
              <a:gd name="adj2" fmla="val 141008"/>
              <a:gd name="adj3" fmla="val 16667"/>
            </a:avLst>
          </a:prstGeom>
          <a:solidFill>
            <a:schemeClr val="accent5"/>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t>등록료</a:t>
            </a:r>
            <a:r>
              <a:rPr lang="en-US" altLang="ko-KR" sz="1050" dirty="0"/>
              <a:t>, </a:t>
            </a:r>
            <a:r>
              <a:rPr lang="ko-KR" altLang="en-US" sz="1050" dirty="0" err="1"/>
              <a:t>유지료</a:t>
            </a:r>
            <a:r>
              <a:rPr lang="ko-KR" altLang="en-US" sz="1050" dirty="0"/>
              <a:t> 모두 해당</a:t>
            </a:r>
          </a:p>
        </p:txBody>
      </p:sp>
      <p:sp>
        <p:nvSpPr>
          <p:cNvPr id="133" name="모서리가 둥근 사각형 설명선 132"/>
          <p:cNvSpPr/>
          <p:nvPr/>
        </p:nvSpPr>
        <p:spPr>
          <a:xfrm>
            <a:off x="10106914" y="4040253"/>
            <a:ext cx="1007532" cy="274501"/>
          </a:xfrm>
          <a:prstGeom prst="wedgeRoundRectCallout">
            <a:avLst>
              <a:gd name="adj1" fmla="val -43393"/>
              <a:gd name="adj2" fmla="val 112720"/>
              <a:gd name="adj3" fmla="val 16667"/>
            </a:avLst>
          </a:prstGeom>
          <a:solidFill>
            <a:schemeClr val="accent5"/>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a:t>유지료만</a:t>
            </a:r>
            <a:r>
              <a:rPr lang="ko-KR" altLang="en-US" sz="1050" dirty="0"/>
              <a:t> 해당</a:t>
            </a:r>
          </a:p>
        </p:txBody>
      </p:sp>
      <p:sp>
        <p:nvSpPr>
          <p:cNvPr id="2" name="슬라이드 번호 개체 틀 1"/>
          <p:cNvSpPr>
            <a:spLocks noGrp="1"/>
          </p:cNvSpPr>
          <p:nvPr>
            <p:ph type="sldNum" sz="quarter" idx="12"/>
          </p:nvPr>
        </p:nvSpPr>
        <p:spPr/>
        <p:txBody>
          <a:bodyPr/>
          <a:lstStyle/>
          <a:p>
            <a:r>
              <a:rPr lang="en-US" altLang="ko-KR"/>
              <a:t>290</a:t>
            </a:r>
            <a:endParaRPr lang="ko-KR" altLang="en-US"/>
          </a:p>
        </p:txBody>
      </p:sp>
    </p:spTree>
    <p:extLst>
      <p:ext uri="{BB962C8B-B14F-4D97-AF65-F5344CB8AC3E}">
        <p14:creationId xmlns:p14="http://schemas.microsoft.com/office/powerpoint/2010/main" val="1994626178"/>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83</a:t>
            </a:r>
            <a:r>
              <a:rPr lang="ko-KR" altLang="en-US" dirty="0"/>
              <a:t>조</a:t>
            </a:r>
          </a:p>
        </p:txBody>
      </p:sp>
      <p:sp>
        <p:nvSpPr>
          <p:cNvPr id="4" name="텍스트 개체 틀 3"/>
          <p:cNvSpPr>
            <a:spLocks noGrp="1"/>
          </p:cNvSpPr>
          <p:nvPr>
            <p:ph type="body" sz="quarter" idx="13"/>
          </p:nvPr>
        </p:nvSpPr>
        <p:spPr/>
        <p:txBody>
          <a:bodyPr/>
          <a:lstStyle/>
          <a:p>
            <a:r>
              <a:rPr lang="ko-KR" altLang="en-US" dirty="0"/>
              <a:t>특허료 또는 수수료의 감면</a:t>
            </a:r>
            <a:r>
              <a:rPr lang="en-US" altLang="ko-KR" sz="2400" dirty="0"/>
              <a:t>(</a:t>
            </a:r>
            <a:r>
              <a:rPr lang="ko-KR" altLang="en-US" sz="2400" dirty="0"/>
              <a:t>특허료 등의 징수규칙 별표 </a:t>
            </a:r>
            <a:r>
              <a:rPr lang="en-US" altLang="ko-KR" sz="2400" dirty="0"/>
              <a:t>4-6)</a:t>
            </a:r>
            <a:endParaRPr lang="ko-KR" altLang="en-US" dirty="0"/>
          </a:p>
        </p:txBody>
      </p:sp>
      <p:sp>
        <p:nvSpPr>
          <p:cNvPr id="2" name="슬라이드 번호 개체 틀 1"/>
          <p:cNvSpPr>
            <a:spLocks noGrp="1"/>
          </p:cNvSpPr>
          <p:nvPr>
            <p:ph type="sldNum" sz="quarter" idx="12"/>
          </p:nvPr>
        </p:nvSpPr>
        <p:spPr/>
        <p:txBody>
          <a:bodyPr/>
          <a:lstStyle/>
          <a:p>
            <a:r>
              <a:rPr lang="en-US" altLang="ko-KR"/>
              <a:t>291</a:t>
            </a:r>
            <a:endParaRPr lang="ko-KR" altLang="en-US"/>
          </a:p>
        </p:txBody>
      </p:sp>
      <p:sp>
        <p:nvSpPr>
          <p:cNvPr id="157" name="TextBox 156">
            <a:extLst>
              <a:ext uri="{FF2B5EF4-FFF2-40B4-BE49-F238E27FC236}">
                <a16:creationId xmlns:a16="http://schemas.microsoft.com/office/drawing/2014/main" id="{AE42BAE7-43BD-4AB3-BC10-AF59B23D5C29}"/>
              </a:ext>
            </a:extLst>
          </p:cNvPr>
          <p:cNvSpPr txBox="1"/>
          <p:nvPr/>
        </p:nvSpPr>
        <p:spPr>
          <a:xfrm>
            <a:off x="217432" y="5279885"/>
            <a:ext cx="11730153" cy="1477328"/>
          </a:xfrm>
          <a:prstGeom prst="rect">
            <a:avLst/>
          </a:prstGeom>
          <a:noFill/>
        </p:spPr>
        <p:txBody>
          <a:bodyPr wrap="square">
            <a:spAutoFit/>
          </a:bodyPr>
          <a:lstStyle/>
          <a:p>
            <a:pPr marL="85725" indent="-85725"/>
            <a:r>
              <a:rPr lang="en-US" altLang="ko-KR" sz="1000" dirty="0">
                <a:latin typeface="Rix모던고딕 L" panose="02020603020101020101" pitchFamily="18" charset="-127"/>
                <a:ea typeface="Rix모던고딕 L" panose="02020603020101020101" pitchFamily="18" charset="-127"/>
              </a:rPr>
              <a:t>*</a:t>
            </a:r>
            <a:r>
              <a:rPr lang="ko-KR" altLang="en-US" sz="1000" dirty="0">
                <a:latin typeface="Rix모던고딕 L" panose="02020603020101020101" pitchFamily="18" charset="-127"/>
                <a:ea typeface="Rix모던고딕 L" panose="02020603020101020101" pitchFamily="18" charset="-127"/>
              </a:rPr>
              <a:t>「</a:t>
            </a:r>
            <a:r>
              <a:rPr lang="ko-KR" altLang="en-US" sz="1000" dirty="0" err="1">
                <a:latin typeface="Rix모던고딕 L" panose="02020603020101020101" pitchFamily="18" charset="-127"/>
                <a:ea typeface="Rix모던고딕 L" panose="02020603020101020101" pitchFamily="18" charset="-127"/>
              </a:rPr>
              <a:t>특허법」ㆍ「실용신안법</a:t>
            </a:r>
            <a:r>
              <a:rPr lang="ko-KR" altLang="en-US" sz="1000" dirty="0">
                <a:latin typeface="Rix모던고딕 L" panose="02020603020101020101" pitchFamily="18" charset="-127"/>
                <a:ea typeface="Rix모던고딕 L" panose="02020603020101020101" pitchFamily="18" charset="-127"/>
              </a:rPr>
              <a:t>」 또는 「</a:t>
            </a:r>
            <a:r>
              <a:rPr lang="ko-KR" altLang="en-US" sz="1000" dirty="0" err="1">
                <a:latin typeface="Rix모던고딕 L" panose="02020603020101020101" pitchFamily="18" charset="-127"/>
                <a:ea typeface="Rix모던고딕 L" panose="02020603020101020101" pitchFamily="18" charset="-127"/>
              </a:rPr>
              <a:t>디자인보호법」에</a:t>
            </a:r>
            <a:r>
              <a:rPr lang="ko-KR" altLang="en-US" sz="1000" dirty="0">
                <a:latin typeface="Rix모던고딕 L" panose="02020603020101020101" pitchFamily="18" charset="-127"/>
                <a:ea typeface="Rix모던고딕 L" panose="02020603020101020101" pitchFamily="18" charset="-127"/>
              </a:rPr>
              <a:t> 따른 </a:t>
            </a:r>
            <a:r>
              <a:rPr lang="ko-KR" altLang="en-US" sz="1000" dirty="0" err="1">
                <a:latin typeface="Rix모던고딕 L" panose="02020603020101020101" pitchFamily="18" charset="-127"/>
                <a:ea typeface="Rix모던고딕 L" panose="02020603020101020101" pitchFamily="18" charset="-127"/>
              </a:rPr>
              <a:t>출원ㆍ심사청구</a:t>
            </a:r>
            <a:r>
              <a:rPr lang="ko-KR" altLang="en-US" sz="1000" dirty="0">
                <a:latin typeface="Rix모던고딕 L" panose="02020603020101020101" pitchFamily="18" charset="-127"/>
                <a:ea typeface="Rix모던고딕 L" panose="02020603020101020101" pitchFamily="18" charset="-127"/>
              </a:rPr>
              <a:t> 또는 권리설정등록을 하는 경우에는 「</a:t>
            </a:r>
            <a:r>
              <a:rPr lang="ko-KR" altLang="en-US" sz="1000" dirty="0" err="1">
                <a:latin typeface="Rix모던고딕 L" panose="02020603020101020101" pitchFamily="18" charset="-127"/>
                <a:ea typeface="Rix모던고딕 L" panose="02020603020101020101" pitchFamily="18" charset="-127"/>
              </a:rPr>
              <a:t>특허법」ㆍ「실용신안법</a:t>
            </a:r>
            <a:r>
              <a:rPr lang="ko-KR" altLang="en-US" sz="1000" dirty="0">
                <a:latin typeface="Rix모던고딕 L" panose="02020603020101020101" pitchFamily="18" charset="-127"/>
                <a:ea typeface="Rix모던고딕 L" panose="02020603020101020101" pitchFamily="18" charset="-127"/>
              </a:rPr>
              <a:t>」 또는 「</a:t>
            </a:r>
            <a:r>
              <a:rPr lang="ko-KR" altLang="en-US" sz="1000" dirty="0" err="1">
                <a:latin typeface="Rix모던고딕 L" panose="02020603020101020101" pitchFamily="18" charset="-127"/>
                <a:ea typeface="Rix모던고딕 L" panose="02020603020101020101" pitchFamily="18" charset="-127"/>
              </a:rPr>
              <a:t>디자인보호법」별로</a:t>
            </a:r>
            <a:r>
              <a:rPr lang="ko-KR" altLang="en-US" sz="1000" dirty="0">
                <a:latin typeface="Rix모던고딕 L" panose="02020603020101020101" pitchFamily="18" charset="-127"/>
                <a:ea typeface="Rix모던고딕 L" panose="02020603020101020101" pitchFamily="18" charset="-127"/>
              </a:rPr>
              <a:t> 각각 연간 </a:t>
            </a:r>
            <a:r>
              <a:rPr lang="en-US" altLang="ko-KR" sz="1000" dirty="0">
                <a:latin typeface="Rix모던고딕 L" panose="02020603020101020101" pitchFamily="18" charset="-127"/>
                <a:ea typeface="Rix모던고딕 L" panose="02020603020101020101" pitchFamily="18" charset="-127"/>
              </a:rPr>
              <a:t>10</a:t>
            </a:r>
            <a:r>
              <a:rPr lang="ko-KR" altLang="en-US" sz="1000" dirty="0">
                <a:latin typeface="Rix모던고딕 L" panose="02020603020101020101" pitchFamily="18" charset="-127"/>
                <a:ea typeface="Rix모던고딕 L" panose="02020603020101020101" pitchFamily="18" charset="-127"/>
              </a:rPr>
              <a:t>건</a:t>
            </a:r>
            <a:r>
              <a:rPr lang="en-US" altLang="ko-KR" sz="1000" dirty="0">
                <a:latin typeface="Rix모던고딕 L" panose="02020603020101020101" pitchFamily="18" charset="-127"/>
                <a:ea typeface="Rix모던고딕 L" panose="02020603020101020101" pitchFamily="18" charset="-127"/>
              </a:rPr>
              <a:t>(</a:t>
            </a:r>
            <a:r>
              <a:rPr lang="ko-KR" altLang="en-US" sz="1000" dirty="0" err="1">
                <a:latin typeface="Rix모던고딕 L" panose="02020603020101020101" pitchFamily="18" charset="-127"/>
                <a:ea typeface="Rix모던고딕 L" panose="02020603020101020101" pitchFamily="18" charset="-127"/>
              </a:rPr>
              <a:t>무효ㆍ반려되거나</a:t>
            </a:r>
            <a:r>
              <a:rPr lang="ko-KR" altLang="en-US" sz="1000" dirty="0">
                <a:latin typeface="Rix모던고딕 L" panose="02020603020101020101" pitchFamily="18" charset="-127"/>
                <a:ea typeface="Rix모던고딕 L" panose="02020603020101020101" pitchFamily="18" charset="-127"/>
              </a:rPr>
              <a:t> </a:t>
            </a:r>
            <a:r>
              <a:rPr lang="en-US" altLang="ko-KR" sz="1000" dirty="0">
                <a:latin typeface="Rix모던고딕 L" panose="02020603020101020101" pitchFamily="18" charset="-127"/>
                <a:ea typeface="Rix모던고딕 L" panose="02020603020101020101" pitchFamily="18" charset="-127"/>
              </a:rPr>
              <a:t>1</a:t>
            </a:r>
            <a:r>
              <a:rPr lang="ko-KR" altLang="en-US" sz="1000" dirty="0">
                <a:latin typeface="Rix모던고딕 L" panose="02020603020101020101" pitchFamily="18" charset="-127"/>
                <a:ea typeface="Rix모던고딕 L" panose="02020603020101020101" pitchFamily="18" charset="-127"/>
              </a:rPr>
              <a:t>개월 이내에 취하 또는 포기된 것은 제외한다</a:t>
            </a:r>
            <a:r>
              <a:rPr lang="en-US" altLang="ko-KR" sz="1000" dirty="0">
                <a:latin typeface="Rix모던고딕 L" panose="02020603020101020101" pitchFamily="18" charset="-127"/>
                <a:ea typeface="Rix모던고딕 L" panose="02020603020101020101" pitchFamily="18" charset="-127"/>
              </a:rPr>
              <a:t>. </a:t>
            </a:r>
            <a:r>
              <a:rPr lang="ko-KR" altLang="en-US" sz="1000" dirty="0">
                <a:latin typeface="Rix모던고딕 L" panose="02020603020101020101" pitchFamily="18" charset="-127"/>
                <a:ea typeface="Rix모던고딕 L" panose="02020603020101020101" pitchFamily="18" charset="-127"/>
              </a:rPr>
              <a:t>이 경우 </a:t>
            </a:r>
            <a:r>
              <a:rPr lang="en-US" altLang="ko-KR" sz="1000" dirty="0">
                <a:latin typeface="Rix모던고딕 L" panose="02020603020101020101" pitchFamily="18" charset="-127"/>
                <a:ea typeface="Rix모던고딕 L" panose="02020603020101020101" pitchFamily="18" charset="-127"/>
              </a:rPr>
              <a:t>1</a:t>
            </a:r>
            <a:r>
              <a:rPr lang="ko-KR" altLang="en-US" sz="1000" dirty="0">
                <a:latin typeface="Rix모던고딕 L" panose="02020603020101020101" pitchFamily="18" charset="-127"/>
                <a:ea typeface="Rix모던고딕 L" panose="02020603020101020101" pitchFamily="18" charset="-127"/>
              </a:rPr>
              <a:t>출원에 </a:t>
            </a:r>
            <a:r>
              <a:rPr lang="ko-KR" altLang="en-US" sz="1000" dirty="0" err="1">
                <a:latin typeface="Rix모던고딕 L" panose="02020603020101020101" pitchFamily="18" charset="-127"/>
                <a:ea typeface="Rix모던고딕 L" panose="02020603020101020101" pitchFamily="18" charset="-127"/>
              </a:rPr>
              <a:t>특허심사청구료</a:t>
            </a:r>
            <a:r>
              <a:rPr lang="ko-KR" altLang="en-US" sz="1000" dirty="0">
                <a:latin typeface="Rix모던고딕 L" panose="02020603020101020101" pitchFamily="18" charset="-127"/>
                <a:ea typeface="Rix모던고딕 L" panose="02020603020101020101" pitchFamily="18" charset="-127"/>
              </a:rPr>
              <a:t> 또는 </a:t>
            </a:r>
            <a:r>
              <a:rPr lang="ko-KR" altLang="en-US" sz="1000" dirty="0" err="1">
                <a:latin typeface="Rix모던고딕 L" panose="02020603020101020101" pitchFamily="18" charset="-127"/>
                <a:ea typeface="Rix모던고딕 L" panose="02020603020101020101" pitchFamily="18" charset="-127"/>
              </a:rPr>
              <a:t>실용신안심사청구료를</a:t>
            </a:r>
            <a:r>
              <a:rPr lang="ko-KR" altLang="en-US" sz="1000" dirty="0">
                <a:latin typeface="Rix모던고딕 L" panose="02020603020101020101" pitchFamily="18" charset="-127"/>
                <a:ea typeface="Rix모던고딕 L" panose="02020603020101020101" pitchFamily="18" charset="-127"/>
              </a:rPr>
              <a:t> 면제받을 수 있는 청구항은 </a:t>
            </a:r>
            <a:r>
              <a:rPr lang="en-US" altLang="ko-KR" sz="1000" dirty="0">
                <a:latin typeface="Rix모던고딕 L" panose="02020603020101020101" pitchFamily="18" charset="-127"/>
                <a:ea typeface="Rix모던고딕 L" panose="02020603020101020101" pitchFamily="18" charset="-127"/>
              </a:rPr>
              <a:t>30</a:t>
            </a:r>
            <a:r>
              <a:rPr lang="ko-KR" altLang="en-US" sz="1000" dirty="0">
                <a:latin typeface="Rix모던고딕 L" panose="02020603020101020101" pitchFamily="18" charset="-127"/>
                <a:ea typeface="Rix모던고딕 L" panose="02020603020101020101" pitchFamily="18" charset="-127"/>
              </a:rPr>
              <a:t>개 이하로 하고</a:t>
            </a:r>
            <a:r>
              <a:rPr lang="en-US" altLang="ko-KR" sz="1000" dirty="0">
                <a:latin typeface="Rix모던고딕 L" panose="02020603020101020101" pitchFamily="18" charset="-127"/>
                <a:ea typeface="Rix모던고딕 L" panose="02020603020101020101" pitchFamily="18" charset="-127"/>
              </a:rPr>
              <a:t>, </a:t>
            </a:r>
            <a:r>
              <a:rPr lang="ko-KR" altLang="en-US" sz="1000" dirty="0">
                <a:latin typeface="Rix모던고딕 L" panose="02020603020101020101" pitchFamily="18" charset="-127"/>
                <a:ea typeface="Rix모던고딕 L" panose="02020603020101020101" pitchFamily="18" charset="-127"/>
              </a:rPr>
              <a:t>「디자인보호법」 제</a:t>
            </a:r>
            <a:r>
              <a:rPr lang="en-US" altLang="ko-KR" sz="1000" dirty="0">
                <a:latin typeface="Rix모던고딕 L" panose="02020603020101020101" pitchFamily="18" charset="-127"/>
                <a:ea typeface="Rix모던고딕 L" panose="02020603020101020101" pitchFamily="18" charset="-127"/>
              </a:rPr>
              <a:t>41</a:t>
            </a:r>
            <a:r>
              <a:rPr lang="ko-KR" altLang="en-US" sz="1000" dirty="0">
                <a:latin typeface="Rix모던고딕 L" panose="02020603020101020101" pitchFamily="18" charset="-127"/>
                <a:ea typeface="Rix모던고딕 L" panose="02020603020101020101" pitchFamily="18" charset="-127"/>
              </a:rPr>
              <a:t>조에 따른 복수디자인등록출원은 </a:t>
            </a:r>
            <a:r>
              <a:rPr lang="en-US" altLang="ko-KR" sz="1000" dirty="0">
                <a:latin typeface="Rix모던고딕 L" panose="02020603020101020101" pitchFamily="18" charset="-127"/>
                <a:ea typeface="Rix모던고딕 L" panose="02020603020101020101" pitchFamily="18" charset="-127"/>
              </a:rPr>
              <a:t>1 </a:t>
            </a:r>
            <a:r>
              <a:rPr lang="ko-KR" altLang="en-US" sz="1000" dirty="0">
                <a:latin typeface="Rix모던고딕 L" panose="02020603020101020101" pitchFamily="18" charset="-127"/>
                <a:ea typeface="Rix모던고딕 L" panose="02020603020101020101" pitchFamily="18" charset="-127"/>
              </a:rPr>
              <a:t>출원에 면제받을 수 있는 디자인은 </a:t>
            </a:r>
            <a:r>
              <a:rPr lang="en-US" altLang="ko-KR" sz="1000" dirty="0">
                <a:latin typeface="Rix모던고딕 L" panose="02020603020101020101" pitchFamily="18" charset="-127"/>
                <a:ea typeface="Rix모던고딕 L" panose="02020603020101020101" pitchFamily="18" charset="-127"/>
              </a:rPr>
              <a:t>3</a:t>
            </a:r>
            <a:r>
              <a:rPr lang="ko-KR" altLang="en-US" sz="1000" dirty="0">
                <a:latin typeface="Rix모던고딕 L" panose="02020603020101020101" pitchFamily="18" charset="-127"/>
                <a:ea typeface="Rix모던고딕 L" panose="02020603020101020101" pitchFamily="18" charset="-127"/>
              </a:rPr>
              <a:t>개 이하로 한다</a:t>
            </a:r>
            <a:r>
              <a:rPr lang="en-US" altLang="ko-KR" sz="1000" dirty="0">
                <a:latin typeface="Rix모던고딕 L" panose="02020603020101020101" pitchFamily="18" charset="-127"/>
                <a:ea typeface="Rix모던고딕 L" panose="02020603020101020101" pitchFamily="18" charset="-127"/>
              </a:rPr>
              <a:t>)</a:t>
            </a:r>
            <a:r>
              <a:rPr lang="ko-KR" altLang="en-US" sz="1000" dirty="0">
                <a:latin typeface="Rix모던고딕 L" panose="02020603020101020101" pitchFamily="18" charset="-127"/>
                <a:ea typeface="Rix모던고딕 L" panose="02020603020101020101" pitchFamily="18" charset="-127"/>
              </a:rPr>
              <a:t>에 한하여 면제</a:t>
            </a:r>
            <a:endParaRPr lang="en-US" altLang="ko-KR" sz="1000" dirty="0">
              <a:latin typeface="Rix모던고딕 L" panose="02020603020101020101" pitchFamily="18" charset="-127"/>
              <a:ea typeface="Rix모던고딕 L" panose="02020603020101020101" pitchFamily="18" charset="-127"/>
            </a:endParaRPr>
          </a:p>
          <a:p>
            <a:pPr marL="85725" indent="-85725"/>
            <a:r>
              <a:rPr lang="en-US" altLang="ko-KR" sz="1000" dirty="0">
                <a:latin typeface="Rix모던고딕 L" panose="02020603020101020101" pitchFamily="18" charset="-127"/>
                <a:ea typeface="Rix모던고딕 L" panose="02020603020101020101" pitchFamily="18" charset="-127"/>
              </a:rPr>
              <a:t>** </a:t>
            </a:r>
            <a:r>
              <a:rPr lang="ko-KR" altLang="en-US" sz="1000" dirty="0">
                <a:latin typeface="Rix모던고딕 L" panose="02020603020101020101" pitchFamily="18" charset="-127"/>
                <a:ea typeface="Rix모던고딕 L" panose="02020603020101020101" pitchFamily="18" charset="-127"/>
              </a:rPr>
              <a:t>개인이 「</a:t>
            </a:r>
            <a:r>
              <a:rPr lang="ko-KR" altLang="en-US" sz="1000" dirty="0" err="1">
                <a:latin typeface="Rix모던고딕 L" panose="02020603020101020101" pitchFamily="18" charset="-127"/>
                <a:ea typeface="Rix모던고딕 L" panose="02020603020101020101" pitchFamily="18" charset="-127"/>
              </a:rPr>
              <a:t>특허법」ㆍ「실용신안법</a:t>
            </a:r>
            <a:r>
              <a:rPr lang="ko-KR" altLang="en-US" sz="1000" dirty="0">
                <a:latin typeface="Rix모던고딕 L" panose="02020603020101020101" pitchFamily="18" charset="-127"/>
                <a:ea typeface="Rix모던고딕 L" panose="02020603020101020101" pitchFamily="18" charset="-127"/>
              </a:rPr>
              <a:t>」 또는 「</a:t>
            </a:r>
            <a:r>
              <a:rPr lang="ko-KR" altLang="en-US" sz="1000" dirty="0" err="1">
                <a:latin typeface="Rix모던고딕 L" panose="02020603020101020101" pitchFamily="18" charset="-127"/>
                <a:ea typeface="Rix모던고딕 L" panose="02020603020101020101" pitchFamily="18" charset="-127"/>
              </a:rPr>
              <a:t>디자인보호법」에</a:t>
            </a:r>
            <a:r>
              <a:rPr lang="ko-KR" altLang="en-US" sz="1000" dirty="0">
                <a:latin typeface="Rix모던고딕 L" panose="02020603020101020101" pitchFamily="18" charset="-127"/>
                <a:ea typeface="Rix모던고딕 L" panose="02020603020101020101" pitchFamily="18" charset="-127"/>
              </a:rPr>
              <a:t> 따른 출원을 하는 경우에는 「</a:t>
            </a:r>
            <a:r>
              <a:rPr lang="ko-KR" altLang="en-US" sz="1000" dirty="0" err="1">
                <a:latin typeface="Rix모던고딕 L" panose="02020603020101020101" pitchFamily="18" charset="-127"/>
                <a:ea typeface="Rix모던고딕 L" panose="02020603020101020101" pitchFamily="18" charset="-127"/>
              </a:rPr>
              <a:t>특허법」ㆍ「실용신안법</a:t>
            </a:r>
            <a:r>
              <a:rPr lang="ko-KR" altLang="en-US" sz="1000" dirty="0">
                <a:latin typeface="Rix모던고딕 L" panose="02020603020101020101" pitchFamily="18" charset="-127"/>
                <a:ea typeface="Rix모던고딕 L" panose="02020603020101020101" pitchFamily="18" charset="-127"/>
              </a:rPr>
              <a:t>」 또는 「</a:t>
            </a:r>
            <a:r>
              <a:rPr lang="ko-KR" altLang="en-US" sz="1000" dirty="0" err="1">
                <a:latin typeface="Rix모던고딕 L" panose="02020603020101020101" pitchFamily="18" charset="-127"/>
                <a:ea typeface="Rix모던고딕 L" panose="02020603020101020101" pitchFamily="18" charset="-127"/>
              </a:rPr>
              <a:t>디자인보호법」별로</a:t>
            </a:r>
            <a:r>
              <a:rPr lang="ko-KR" altLang="en-US" sz="1000" dirty="0">
                <a:latin typeface="Rix모던고딕 L" panose="02020603020101020101" pitchFamily="18" charset="-127"/>
                <a:ea typeface="Rix모던고딕 L" panose="02020603020101020101" pitchFamily="18" charset="-127"/>
              </a:rPr>
              <a:t> 각각 연간 </a:t>
            </a:r>
            <a:r>
              <a:rPr lang="en-US" altLang="ko-KR" sz="1000" dirty="0">
                <a:latin typeface="Rix모던고딕 L" panose="02020603020101020101" pitchFamily="18" charset="-127"/>
                <a:ea typeface="Rix모던고딕 L" panose="02020603020101020101" pitchFamily="18" charset="-127"/>
              </a:rPr>
              <a:t>20</a:t>
            </a:r>
            <a:r>
              <a:rPr lang="ko-KR" altLang="en-US" sz="1000" dirty="0">
                <a:latin typeface="Rix모던고딕 L" panose="02020603020101020101" pitchFamily="18" charset="-127"/>
                <a:ea typeface="Rix모던고딕 L" panose="02020603020101020101" pitchFamily="18" charset="-127"/>
              </a:rPr>
              <a:t>건</a:t>
            </a:r>
            <a:r>
              <a:rPr lang="en-US" altLang="ko-KR" sz="1000" dirty="0">
                <a:latin typeface="Rix모던고딕 L" panose="02020603020101020101" pitchFamily="18" charset="-127"/>
                <a:ea typeface="Rix모던고딕 L" panose="02020603020101020101" pitchFamily="18" charset="-127"/>
              </a:rPr>
              <a:t>(</a:t>
            </a:r>
            <a:r>
              <a:rPr lang="ko-KR" altLang="en-US" sz="1000" dirty="0" err="1">
                <a:latin typeface="Rix모던고딕 L" panose="02020603020101020101" pitchFamily="18" charset="-127"/>
                <a:ea typeface="Rix모던고딕 L" panose="02020603020101020101" pitchFamily="18" charset="-127"/>
              </a:rPr>
              <a:t>무효ㆍ반려되거나</a:t>
            </a:r>
            <a:r>
              <a:rPr lang="ko-KR" altLang="en-US" sz="1000" dirty="0">
                <a:latin typeface="Rix모던고딕 L" panose="02020603020101020101" pitchFamily="18" charset="-127"/>
                <a:ea typeface="Rix모던고딕 L" panose="02020603020101020101" pitchFamily="18" charset="-127"/>
              </a:rPr>
              <a:t> </a:t>
            </a:r>
            <a:r>
              <a:rPr lang="en-US" altLang="ko-KR" sz="1000" dirty="0">
                <a:latin typeface="Rix모던고딕 L" panose="02020603020101020101" pitchFamily="18" charset="-127"/>
                <a:ea typeface="Rix모던고딕 L" panose="02020603020101020101" pitchFamily="18" charset="-127"/>
              </a:rPr>
              <a:t>1</a:t>
            </a:r>
            <a:r>
              <a:rPr lang="ko-KR" altLang="en-US" sz="1000" dirty="0">
                <a:latin typeface="Rix모던고딕 L" panose="02020603020101020101" pitchFamily="18" charset="-127"/>
                <a:ea typeface="Rix모던고딕 L" panose="02020603020101020101" pitchFamily="18" charset="-127"/>
              </a:rPr>
              <a:t>개월 이내에 취하 또는 포기된 것은 제외한다</a:t>
            </a:r>
            <a:r>
              <a:rPr lang="en-US" altLang="ko-KR" sz="1000" dirty="0">
                <a:latin typeface="Rix모던고딕 L" panose="02020603020101020101" pitchFamily="18" charset="-127"/>
                <a:ea typeface="Rix모던고딕 L" panose="02020603020101020101" pitchFamily="18" charset="-127"/>
              </a:rPr>
              <a:t>)</a:t>
            </a:r>
            <a:r>
              <a:rPr lang="ko-KR" altLang="en-US" sz="1000" dirty="0">
                <a:latin typeface="Rix모던고딕 L" panose="02020603020101020101" pitchFamily="18" charset="-127"/>
                <a:ea typeface="Rix모던고딕 L" panose="02020603020101020101" pitchFamily="18" charset="-127"/>
              </a:rPr>
              <a:t>을 초과하는 경우에는 </a:t>
            </a:r>
            <a:r>
              <a:rPr lang="ko-KR" altLang="en-US" sz="1000" dirty="0" err="1">
                <a:latin typeface="Rix모던고딕 L" panose="02020603020101020101" pitchFamily="18" charset="-127"/>
                <a:ea typeface="Rix모던고딕 L" panose="02020603020101020101" pitchFamily="18" charset="-127"/>
              </a:rPr>
              <a:t>출원료의</a:t>
            </a:r>
            <a:r>
              <a:rPr lang="ko-KR" altLang="en-US" sz="1000" dirty="0">
                <a:latin typeface="Rix모던고딕 L" panose="02020603020101020101" pitchFamily="18" charset="-127"/>
                <a:ea typeface="Rix모던고딕 L" panose="02020603020101020101" pitchFamily="18" charset="-127"/>
              </a:rPr>
              <a:t> </a:t>
            </a:r>
            <a:r>
              <a:rPr lang="en-US" altLang="ko-KR" sz="1000" dirty="0">
                <a:latin typeface="Rix모던고딕 L" panose="02020603020101020101" pitchFamily="18" charset="-127"/>
                <a:ea typeface="Rix모던고딕 L" panose="02020603020101020101" pitchFamily="18" charset="-127"/>
              </a:rPr>
              <a:t>30%</a:t>
            </a:r>
          </a:p>
          <a:p>
            <a:r>
              <a:rPr lang="en-US" altLang="ko-KR" sz="1000" dirty="0">
                <a:latin typeface="Rix모던고딕 L" panose="02020603020101020101" pitchFamily="18" charset="-127"/>
                <a:ea typeface="Rix모던고딕 L" panose="02020603020101020101" pitchFamily="18" charset="-127"/>
              </a:rPr>
              <a:t>*** </a:t>
            </a:r>
            <a:r>
              <a:rPr lang="ko-KR" altLang="en-US" sz="1000" dirty="0">
                <a:latin typeface="Rix모던고딕 L" panose="02020603020101020101" pitchFamily="18" charset="-127"/>
                <a:ea typeface="Rix모던고딕 L" panose="02020603020101020101" pitchFamily="18" charset="-127"/>
              </a:rPr>
              <a:t>다만</a:t>
            </a:r>
            <a:r>
              <a:rPr lang="en-US" altLang="ko-KR" sz="1000" dirty="0">
                <a:latin typeface="Rix모던고딕 L" panose="02020603020101020101" pitchFamily="18" charset="-127"/>
                <a:ea typeface="Rix모던고딕 L" panose="02020603020101020101" pitchFamily="18" charset="-127"/>
              </a:rPr>
              <a:t>, </a:t>
            </a:r>
            <a:r>
              <a:rPr lang="ko-KR" altLang="en-US" sz="1000" dirty="0" err="1">
                <a:latin typeface="Rix모던고딕 L" panose="02020603020101020101" pitchFamily="18" charset="-127"/>
                <a:ea typeface="Rix모던고딕 L" panose="02020603020101020101" pitchFamily="18" charset="-127"/>
              </a:rPr>
              <a:t>감면받을</a:t>
            </a:r>
            <a:r>
              <a:rPr lang="ko-KR" altLang="en-US" sz="1000" dirty="0">
                <a:latin typeface="Rix모던고딕 L" panose="02020603020101020101" pitchFamily="18" charset="-127"/>
                <a:ea typeface="Rix모던고딕 L" panose="02020603020101020101" pitchFamily="18" charset="-127"/>
              </a:rPr>
              <a:t> 수 있는 특허출원 우선심사신청은 연간 </a:t>
            </a:r>
            <a:r>
              <a:rPr lang="en-US" altLang="ko-KR" sz="1000" dirty="0">
                <a:latin typeface="Rix모던고딕 L" panose="02020603020101020101" pitchFamily="18" charset="-127"/>
                <a:ea typeface="Rix모던고딕 L" panose="02020603020101020101" pitchFamily="18" charset="-127"/>
              </a:rPr>
              <a:t>10</a:t>
            </a:r>
            <a:r>
              <a:rPr lang="ko-KR" altLang="en-US" sz="1000" dirty="0">
                <a:latin typeface="Rix모던고딕 L" panose="02020603020101020101" pitchFamily="18" charset="-127"/>
                <a:ea typeface="Rix모던고딕 L" panose="02020603020101020101" pitchFamily="18" charset="-127"/>
              </a:rPr>
              <a:t>건</a:t>
            </a:r>
            <a:r>
              <a:rPr lang="en-US" altLang="ko-KR" sz="1000" dirty="0">
                <a:latin typeface="Rix모던고딕 L" panose="02020603020101020101" pitchFamily="18" charset="-127"/>
                <a:ea typeface="Rix모던고딕 L" panose="02020603020101020101" pitchFamily="18" charset="-127"/>
              </a:rPr>
              <a:t>(</a:t>
            </a:r>
            <a:r>
              <a:rPr lang="ko-KR" altLang="en-US" sz="1000" dirty="0" err="1">
                <a:latin typeface="Rix모던고딕 L" panose="02020603020101020101" pitchFamily="18" charset="-127"/>
                <a:ea typeface="Rix모던고딕 L" panose="02020603020101020101" pitchFamily="18" charset="-127"/>
              </a:rPr>
              <a:t>무효ㆍ반려되거나</a:t>
            </a:r>
            <a:r>
              <a:rPr lang="ko-KR" altLang="en-US" sz="1000" dirty="0">
                <a:latin typeface="Rix모던고딕 L" panose="02020603020101020101" pitchFamily="18" charset="-127"/>
                <a:ea typeface="Rix모던고딕 L" panose="02020603020101020101" pitchFamily="18" charset="-127"/>
              </a:rPr>
              <a:t> </a:t>
            </a:r>
            <a:r>
              <a:rPr lang="en-US" altLang="ko-KR" sz="1000" dirty="0">
                <a:latin typeface="Rix모던고딕 L" panose="02020603020101020101" pitchFamily="18" charset="-127"/>
                <a:ea typeface="Rix모던고딕 L" panose="02020603020101020101" pitchFamily="18" charset="-127"/>
              </a:rPr>
              <a:t>1</a:t>
            </a:r>
            <a:r>
              <a:rPr lang="ko-KR" altLang="en-US" sz="1000" dirty="0">
                <a:latin typeface="Rix모던고딕 L" panose="02020603020101020101" pitchFamily="18" charset="-127"/>
                <a:ea typeface="Rix모던고딕 L" panose="02020603020101020101" pitchFamily="18" charset="-127"/>
              </a:rPr>
              <a:t>개월 이내에 취하 또는 포기된 것은 제외한다</a:t>
            </a:r>
            <a:r>
              <a:rPr lang="en-US" altLang="ko-KR" sz="1000" dirty="0">
                <a:latin typeface="Rix모던고딕 L" panose="02020603020101020101" pitchFamily="18" charset="-127"/>
                <a:ea typeface="Rix모던고딕 L" panose="02020603020101020101" pitchFamily="18" charset="-127"/>
              </a:rPr>
              <a:t>) </a:t>
            </a:r>
            <a:r>
              <a:rPr lang="ko-KR" altLang="en-US" sz="1000" dirty="0">
                <a:latin typeface="Rix모던고딕 L" panose="02020603020101020101" pitchFamily="18" charset="-127"/>
                <a:ea typeface="Rix모던고딕 L" panose="02020603020101020101" pitchFamily="18" charset="-127"/>
              </a:rPr>
              <a:t>이하</a:t>
            </a:r>
            <a:endParaRPr lang="en-US" altLang="ko-KR" sz="1000" dirty="0">
              <a:latin typeface="Rix모던고딕 L" panose="02020603020101020101" pitchFamily="18" charset="-127"/>
              <a:ea typeface="Rix모던고딕 L" panose="02020603020101020101" pitchFamily="18" charset="-127"/>
            </a:endParaRPr>
          </a:p>
          <a:p>
            <a:r>
              <a:rPr lang="ko-KR" altLang="en-US" sz="1000" dirty="0">
                <a:latin typeface="Rix모던고딕 L" panose="02020603020101020101" pitchFamily="18" charset="-127"/>
                <a:ea typeface="Rix모던고딕 L" panose="02020603020101020101" pitchFamily="18" charset="-127"/>
              </a:rPr>
              <a:t>****「은행법」 제</a:t>
            </a:r>
            <a:r>
              <a:rPr lang="en-US" altLang="ko-KR" sz="1000" dirty="0">
                <a:latin typeface="Rix모던고딕 L" panose="02020603020101020101" pitchFamily="18" charset="-127"/>
                <a:ea typeface="Rix모던고딕 L" panose="02020603020101020101" pitchFamily="18" charset="-127"/>
              </a:rPr>
              <a:t>2</a:t>
            </a:r>
            <a:r>
              <a:rPr lang="ko-KR" altLang="en-US" sz="1000" dirty="0">
                <a:latin typeface="Rix모던고딕 L" panose="02020603020101020101" pitchFamily="18" charset="-127"/>
                <a:ea typeface="Rix모던고딕 L" panose="02020603020101020101" pitchFamily="18" charset="-127"/>
              </a:rPr>
              <a:t>조제</a:t>
            </a:r>
            <a:r>
              <a:rPr lang="en-US" altLang="ko-KR" sz="1000" dirty="0">
                <a:latin typeface="Rix모던고딕 L" panose="02020603020101020101" pitchFamily="18" charset="-127"/>
                <a:ea typeface="Rix모던고딕 L" panose="02020603020101020101" pitchFamily="18" charset="-127"/>
              </a:rPr>
              <a:t>2</a:t>
            </a:r>
            <a:r>
              <a:rPr lang="ko-KR" altLang="en-US" sz="1000" dirty="0">
                <a:latin typeface="Rix모던고딕 L" panose="02020603020101020101" pitchFamily="18" charset="-127"/>
                <a:ea typeface="Rix모던고딕 L" panose="02020603020101020101" pitchFamily="18" charset="-127"/>
              </a:rPr>
              <a:t>호에 따른 은행이 다음의 어느 하나에 해당하는 방식에 따라 개인</a:t>
            </a:r>
            <a:r>
              <a:rPr lang="en-US" altLang="ko-KR" sz="1000" dirty="0">
                <a:latin typeface="Rix모던고딕 L" panose="02020603020101020101" pitchFamily="18" charset="-127"/>
                <a:ea typeface="Rix모던고딕 L" panose="02020603020101020101" pitchFamily="18" charset="-127"/>
              </a:rPr>
              <a:t>, </a:t>
            </a:r>
            <a:r>
              <a:rPr lang="ko-KR" altLang="en-US" sz="1000" dirty="0">
                <a:latin typeface="Rix모던고딕 L" panose="02020603020101020101" pitchFamily="18" charset="-127"/>
                <a:ea typeface="Rix모던고딕 L" panose="02020603020101020101" pitchFamily="18" charset="-127"/>
              </a:rPr>
              <a:t>중소기업</a:t>
            </a:r>
            <a:r>
              <a:rPr lang="en-US" altLang="ko-KR" sz="1000" dirty="0">
                <a:latin typeface="Rix모던고딕 L" panose="02020603020101020101" pitchFamily="18" charset="-127"/>
                <a:ea typeface="Rix모던고딕 L" panose="02020603020101020101" pitchFamily="18" charset="-127"/>
              </a:rPr>
              <a:t>, </a:t>
            </a:r>
            <a:r>
              <a:rPr lang="ko-KR" altLang="en-US" sz="1000" dirty="0">
                <a:latin typeface="Rix모던고딕 L" panose="02020603020101020101" pitchFamily="18" charset="-127"/>
                <a:ea typeface="Rix모던고딕 L" panose="02020603020101020101" pitchFamily="18" charset="-127"/>
              </a:rPr>
              <a:t>공공연구기관 또는 전담조직의 </a:t>
            </a:r>
            <a:r>
              <a:rPr lang="ko-KR" altLang="en-US" sz="1000" dirty="0" err="1">
                <a:latin typeface="Rix모던고딕 L" panose="02020603020101020101" pitchFamily="18" charset="-127"/>
                <a:ea typeface="Rix모던고딕 L" panose="02020603020101020101" pitchFamily="18" charset="-127"/>
              </a:rPr>
              <a:t>특허권ㆍ실용신안권</a:t>
            </a:r>
            <a:r>
              <a:rPr lang="ko-KR" altLang="en-US" sz="1000" dirty="0">
                <a:latin typeface="Rix모던고딕 L" panose="02020603020101020101" pitchFamily="18" charset="-127"/>
                <a:ea typeface="Rix모던고딕 L" panose="02020603020101020101" pitchFamily="18" charset="-127"/>
              </a:rPr>
              <a:t> 또는 디자인권을 </a:t>
            </a:r>
            <a:r>
              <a:rPr lang="en-US" altLang="ko-KR" sz="1000" dirty="0">
                <a:latin typeface="Rix모던고딕 L" panose="02020603020101020101" pitchFamily="18" charset="-127"/>
                <a:ea typeface="Rix모던고딕 L" panose="02020603020101020101" pitchFamily="18" charset="-127"/>
              </a:rPr>
              <a:t>2024</a:t>
            </a:r>
            <a:r>
              <a:rPr lang="ko-KR" altLang="en-US" sz="1000" dirty="0">
                <a:latin typeface="Rix모던고딕 L" panose="02020603020101020101" pitchFamily="18" charset="-127"/>
                <a:ea typeface="Rix모던고딕 L" panose="02020603020101020101" pitchFamily="18" charset="-127"/>
              </a:rPr>
              <a:t>년 </a:t>
            </a:r>
            <a:r>
              <a:rPr lang="en-US" altLang="ko-KR" sz="1000" dirty="0">
                <a:latin typeface="Rix모던고딕 L" panose="02020603020101020101" pitchFamily="18" charset="-127"/>
                <a:ea typeface="Rix모던고딕 L" panose="02020603020101020101" pitchFamily="18" charset="-127"/>
              </a:rPr>
              <a:t>12</a:t>
            </a:r>
            <a:r>
              <a:rPr lang="ko-KR" altLang="en-US" sz="1000" dirty="0">
                <a:latin typeface="Rix모던고딕 L" panose="02020603020101020101" pitchFamily="18" charset="-127"/>
                <a:ea typeface="Rix모던고딕 L" panose="02020603020101020101" pitchFamily="18" charset="-127"/>
              </a:rPr>
              <a:t>월 </a:t>
            </a:r>
            <a:r>
              <a:rPr lang="en-US" altLang="ko-KR" sz="1000" dirty="0">
                <a:latin typeface="Rix모던고딕 L" panose="02020603020101020101" pitchFamily="18" charset="-127"/>
                <a:ea typeface="Rix모던고딕 L" panose="02020603020101020101" pitchFamily="18" charset="-127"/>
              </a:rPr>
              <a:t>31</a:t>
            </a:r>
            <a:r>
              <a:rPr lang="ko-KR" altLang="en-US" sz="1000" dirty="0">
                <a:latin typeface="Rix모던고딕 L" panose="02020603020101020101" pitchFamily="18" charset="-127"/>
                <a:ea typeface="Rix모던고딕 L" panose="02020603020101020101" pitchFamily="18" charset="-127"/>
              </a:rPr>
              <a:t>일까지 </a:t>
            </a:r>
            <a:r>
              <a:rPr lang="ko-KR" altLang="en-US" sz="1000" dirty="0" err="1">
                <a:latin typeface="Rix모던고딕 L" panose="02020603020101020101" pitchFamily="18" charset="-127"/>
                <a:ea typeface="Rix모던고딕 L" panose="02020603020101020101" pitchFamily="18" charset="-127"/>
              </a:rPr>
              <a:t>이전받는</a:t>
            </a:r>
            <a:r>
              <a:rPr lang="ko-KR" altLang="en-US" sz="1000" dirty="0">
                <a:latin typeface="Rix모던고딕 L" panose="02020603020101020101" pitchFamily="18" charset="-127"/>
                <a:ea typeface="Rix모던고딕 L" panose="02020603020101020101" pitchFamily="18" charset="-127"/>
              </a:rPr>
              <a:t> 경우</a:t>
            </a:r>
            <a:endParaRPr lang="en-US" altLang="ko-KR" sz="1000" dirty="0">
              <a:latin typeface="Rix모던고딕 L" panose="02020603020101020101" pitchFamily="18" charset="-127"/>
              <a:ea typeface="Rix모던고딕 L" panose="02020603020101020101" pitchFamily="18" charset="-127"/>
            </a:endParaRPr>
          </a:p>
          <a:p>
            <a:r>
              <a:rPr lang="en-US" altLang="ko-KR" sz="1000" dirty="0">
                <a:latin typeface="Rix모던고딕 L" panose="02020603020101020101" pitchFamily="18" charset="-127"/>
                <a:ea typeface="Rix모던고딕 L" panose="02020603020101020101" pitchFamily="18" charset="-127"/>
              </a:rPr>
              <a:t>    - </a:t>
            </a:r>
            <a:r>
              <a:rPr lang="ko-KR" altLang="en-US" sz="1000" dirty="0">
                <a:latin typeface="Rix모던고딕 L" panose="02020603020101020101" pitchFamily="18" charset="-127"/>
                <a:ea typeface="Rix모던고딕 L" panose="02020603020101020101" pitchFamily="18" charset="-127"/>
              </a:rPr>
              <a:t>질권의 행사 </a:t>
            </a:r>
            <a:r>
              <a:rPr lang="en-US" altLang="ko-KR" sz="1000" dirty="0">
                <a:latin typeface="Rix모던고딕 L" panose="02020603020101020101" pitchFamily="18" charset="-127"/>
                <a:ea typeface="Rix모던고딕 L" panose="02020603020101020101" pitchFamily="18" charset="-127"/>
              </a:rPr>
              <a:t>,  - </a:t>
            </a:r>
            <a:r>
              <a:rPr lang="ko-KR" altLang="en-US" sz="1000" dirty="0">
                <a:latin typeface="Rix모던고딕 L" panose="02020603020101020101" pitchFamily="18" charset="-127"/>
                <a:ea typeface="Rix모던고딕 L" panose="02020603020101020101" pitchFamily="18" charset="-127"/>
              </a:rPr>
              <a:t>「자본시장과 금융투자업에 관한 법률」 제</a:t>
            </a:r>
            <a:r>
              <a:rPr lang="en-US" altLang="ko-KR" sz="1000" dirty="0">
                <a:latin typeface="Rix모던고딕 L" panose="02020603020101020101" pitchFamily="18" charset="-127"/>
                <a:ea typeface="Rix모던고딕 L" panose="02020603020101020101" pitchFamily="18" charset="-127"/>
              </a:rPr>
              <a:t>80</a:t>
            </a:r>
            <a:r>
              <a:rPr lang="ko-KR" altLang="en-US" sz="1000" dirty="0">
                <a:latin typeface="Rix모던고딕 L" panose="02020603020101020101" pitchFamily="18" charset="-127"/>
                <a:ea typeface="Rix모던고딕 L" panose="02020603020101020101" pitchFamily="18" charset="-127"/>
              </a:rPr>
              <a:t>조제</a:t>
            </a:r>
            <a:r>
              <a:rPr lang="en-US" altLang="ko-KR" sz="1000" dirty="0">
                <a:latin typeface="Rix모던고딕 L" panose="02020603020101020101" pitchFamily="18" charset="-127"/>
                <a:ea typeface="Rix모던고딕 L" panose="02020603020101020101" pitchFamily="18" charset="-127"/>
              </a:rPr>
              <a:t>1</a:t>
            </a:r>
            <a:r>
              <a:rPr lang="ko-KR" altLang="en-US" sz="1000" dirty="0">
                <a:latin typeface="Rix모던고딕 L" panose="02020603020101020101" pitchFamily="18" charset="-127"/>
                <a:ea typeface="Rix모던고딕 L" panose="02020603020101020101" pitchFamily="18" charset="-127"/>
              </a:rPr>
              <a:t>항 본문에 따른 투자대상자산의 취득</a:t>
            </a:r>
            <a:r>
              <a:rPr lang="en-US" altLang="ko-KR" sz="1000" dirty="0">
                <a:latin typeface="Rix모던고딕 L" panose="02020603020101020101" pitchFamily="18" charset="-127"/>
                <a:ea typeface="Rix모던고딕 L" panose="02020603020101020101" pitchFamily="18" charset="-127"/>
              </a:rPr>
              <a:t>, - </a:t>
            </a:r>
            <a:r>
              <a:rPr lang="ko-KR" altLang="en-US" sz="1000" dirty="0">
                <a:latin typeface="Rix모던고딕 L" panose="02020603020101020101" pitchFamily="18" charset="-127"/>
                <a:ea typeface="Rix모던고딕 L" panose="02020603020101020101" pitchFamily="18" charset="-127"/>
              </a:rPr>
              <a:t>신탁의 설정</a:t>
            </a:r>
            <a:endParaRPr lang="en-US" altLang="ko-KR" sz="1000" dirty="0">
              <a:latin typeface="Rix모던고딕 L" panose="02020603020101020101" pitchFamily="18" charset="-127"/>
              <a:ea typeface="Rix모던고딕 L" panose="02020603020101020101" pitchFamily="18" charset="-127"/>
            </a:endParaRPr>
          </a:p>
          <a:p>
            <a:r>
              <a:rPr lang="en-US" altLang="ko-KR" sz="1000" b="1" dirty="0">
                <a:latin typeface="Rix모던고딕 L" panose="02020603020101020101" pitchFamily="18" charset="-127"/>
                <a:ea typeface="Rix모던고딕 L" panose="02020603020101020101" pitchFamily="18" charset="-127"/>
              </a:rPr>
              <a:t>***** </a:t>
            </a:r>
            <a:r>
              <a:rPr lang="ko-KR" altLang="en-US" sz="1000" b="1" dirty="0" err="1">
                <a:latin typeface="Rix모던고딕 L" panose="02020603020101020101" pitchFamily="18" charset="-127"/>
                <a:ea typeface="Rix모던고딕 L" panose="02020603020101020101" pitchFamily="18" charset="-127"/>
              </a:rPr>
              <a:t>직무발명보상우수기업선정</a:t>
            </a:r>
            <a:r>
              <a:rPr lang="ko-KR" altLang="en-US" sz="1000" b="1" dirty="0">
                <a:latin typeface="Rix모던고딕 L" panose="02020603020101020101" pitchFamily="18" charset="-127"/>
                <a:ea typeface="Rix모던고딕 L" panose="02020603020101020101" pitchFamily="18" charset="-127"/>
              </a:rPr>
              <a:t> 또는 지식재산경영인증을 받은 기업은 중소기업 또는 중견기업에 대해서는 </a:t>
            </a:r>
            <a:r>
              <a:rPr lang="en-US" altLang="ko-KR" sz="1000" b="1" dirty="0">
                <a:latin typeface="Rix모던고딕 L" panose="02020603020101020101" pitchFamily="18" charset="-127"/>
                <a:ea typeface="Rix모던고딕 L" panose="02020603020101020101" pitchFamily="18" charset="-127"/>
              </a:rPr>
              <a:t>2026</a:t>
            </a:r>
            <a:r>
              <a:rPr lang="ko-KR" altLang="en-US" sz="1000" b="1" dirty="0">
                <a:latin typeface="Rix모던고딕 L" panose="02020603020101020101" pitchFamily="18" charset="-127"/>
                <a:ea typeface="Rix모던고딕 L" panose="02020603020101020101" pitchFamily="18" charset="-127"/>
              </a:rPr>
              <a:t>년 </a:t>
            </a:r>
            <a:r>
              <a:rPr lang="en-US" altLang="ko-KR" sz="1000" b="1" dirty="0">
                <a:latin typeface="Rix모던고딕 L" panose="02020603020101020101" pitchFamily="18" charset="-127"/>
                <a:ea typeface="Rix모던고딕 L" panose="02020603020101020101" pitchFamily="18" charset="-127"/>
              </a:rPr>
              <a:t>2</a:t>
            </a:r>
            <a:r>
              <a:rPr lang="ko-KR" altLang="en-US" sz="1000" b="1" dirty="0">
                <a:latin typeface="Rix모던고딕 L" panose="02020603020101020101" pitchFamily="18" charset="-127"/>
                <a:ea typeface="Rix모던고딕 L" panose="02020603020101020101" pitchFamily="18" charset="-127"/>
              </a:rPr>
              <a:t>월 말일까지 </a:t>
            </a:r>
            <a:r>
              <a:rPr lang="en-US" altLang="ko-KR" sz="1000" b="1" dirty="0">
                <a:latin typeface="Rix모던고딕 L" panose="02020603020101020101" pitchFamily="18" charset="-127"/>
                <a:ea typeface="Rix모던고딕 L" panose="02020603020101020101" pitchFamily="18" charset="-127"/>
              </a:rPr>
              <a:t>4</a:t>
            </a:r>
            <a:r>
              <a:rPr lang="ko-KR" altLang="en-US" sz="1000" b="1" dirty="0" err="1">
                <a:latin typeface="Rix모던고딕 L" panose="02020603020101020101" pitchFamily="18" charset="-127"/>
                <a:ea typeface="Rix모던고딕 L" panose="02020603020101020101" pitchFamily="18" charset="-127"/>
              </a:rPr>
              <a:t>년분부터</a:t>
            </a:r>
            <a:r>
              <a:rPr lang="ko-KR" altLang="en-US" sz="1000" b="1" dirty="0">
                <a:latin typeface="Rix모던고딕 L" panose="02020603020101020101" pitchFamily="18" charset="-127"/>
                <a:ea typeface="Rix모던고딕 L" panose="02020603020101020101" pitchFamily="18" charset="-127"/>
              </a:rPr>
              <a:t> </a:t>
            </a:r>
            <a:r>
              <a:rPr lang="en-US" altLang="ko-KR" sz="1000" b="1" dirty="0">
                <a:latin typeface="Rix모던고딕 L" panose="02020603020101020101" pitchFamily="18" charset="-127"/>
                <a:ea typeface="Rix모던고딕 L" panose="02020603020101020101" pitchFamily="18" charset="-127"/>
              </a:rPr>
              <a:t>6</a:t>
            </a:r>
            <a:r>
              <a:rPr lang="ko-KR" altLang="en-US" sz="1000" b="1" dirty="0" err="1">
                <a:latin typeface="Rix모던고딕 L" panose="02020603020101020101" pitchFamily="18" charset="-127"/>
                <a:ea typeface="Rix모던고딕 L" panose="02020603020101020101" pitchFamily="18" charset="-127"/>
              </a:rPr>
              <a:t>년분까지의</a:t>
            </a:r>
            <a:r>
              <a:rPr lang="ko-KR" altLang="en-US" sz="1000" b="1" dirty="0">
                <a:latin typeface="Rix모던고딕 L" panose="02020603020101020101" pitchFamily="18" charset="-127"/>
                <a:ea typeface="Rix모던고딕 L" panose="02020603020101020101" pitchFamily="18" charset="-127"/>
              </a:rPr>
              <a:t> 특허료</a:t>
            </a:r>
            <a:r>
              <a:rPr lang="en-US" altLang="ko-KR" sz="1000" b="1" dirty="0">
                <a:latin typeface="Rix모던고딕 L" panose="02020603020101020101" pitchFamily="18" charset="-127"/>
                <a:ea typeface="Rix모던고딕 L" panose="02020603020101020101" pitchFamily="18" charset="-127"/>
              </a:rPr>
              <a:t> </a:t>
            </a:r>
            <a:r>
              <a:rPr lang="ko-KR" altLang="en-US" sz="1000" b="1" dirty="0">
                <a:latin typeface="Rix모던고딕 L" panose="02020603020101020101" pitchFamily="18" charset="-127"/>
                <a:ea typeface="Rix모던고딕 L" panose="02020603020101020101" pitchFamily="18" charset="-127"/>
              </a:rPr>
              <a:t>등을 </a:t>
            </a:r>
            <a:r>
              <a:rPr lang="en-US" altLang="ko-KR" sz="1000" b="1" dirty="0">
                <a:latin typeface="Rix모던고딕 L" panose="02020603020101020101" pitchFamily="18" charset="-127"/>
                <a:ea typeface="Rix모던고딕 L" panose="02020603020101020101" pitchFamily="18" charset="-127"/>
              </a:rPr>
              <a:t>20% </a:t>
            </a:r>
            <a:r>
              <a:rPr lang="ko-KR" altLang="en-US" sz="1000" b="1" dirty="0">
                <a:latin typeface="Rix모던고딕 L" panose="02020603020101020101" pitchFamily="18" charset="-127"/>
                <a:ea typeface="Rix모던고딕 L" panose="02020603020101020101" pitchFamily="18" charset="-127"/>
              </a:rPr>
              <a:t>추가 감면</a:t>
            </a:r>
          </a:p>
        </p:txBody>
      </p:sp>
      <p:sp>
        <p:nvSpPr>
          <p:cNvPr id="114" name="모서리가 둥근 직사각형 48">
            <a:extLst>
              <a:ext uri="{FF2B5EF4-FFF2-40B4-BE49-F238E27FC236}">
                <a16:creationId xmlns:a16="http://schemas.microsoft.com/office/drawing/2014/main" id="{2D63B50E-ECF6-4A42-964A-0EEBC468D356}"/>
              </a:ext>
            </a:extLst>
          </p:cNvPr>
          <p:cNvSpPr/>
          <p:nvPr/>
        </p:nvSpPr>
        <p:spPr>
          <a:xfrm>
            <a:off x="4465182" y="1026542"/>
            <a:ext cx="1047402" cy="257546"/>
          </a:xfrm>
          <a:prstGeom prst="roundRect">
            <a:avLst>
              <a:gd name="adj" fmla="val 50000"/>
            </a:avLst>
          </a:prstGeom>
          <a:solidFill>
            <a:schemeClr val="bg1">
              <a:lumMod val="6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chemeClr val="bg1"/>
                </a:solidFill>
              </a:rPr>
              <a:t>유지료</a:t>
            </a:r>
            <a:r>
              <a:rPr lang="en-US" altLang="ko-KR" sz="900" dirty="0">
                <a:solidFill>
                  <a:schemeClr val="bg1"/>
                </a:solidFill>
              </a:rPr>
              <a:t>(4-9</a:t>
            </a:r>
            <a:r>
              <a:rPr lang="ko-KR" altLang="en-US" sz="900" dirty="0">
                <a:solidFill>
                  <a:schemeClr val="bg1"/>
                </a:solidFill>
              </a:rPr>
              <a:t>년</a:t>
            </a:r>
            <a:r>
              <a:rPr lang="en-US" altLang="ko-KR" sz="900" dirty="0">
                <a:solidFill>
                  <a:schemeClr val="bg1"/>
                </a:solidFill>
              </a:rPr>
              <a:t>)</a:t>
            </a:r>
            <a:endParaRPr lang="ko-KR" altLang="en-US" sz="900" dirty="0">
              <a:solidFill>
                <a:schemeClr val="bg1"/>
              </a:solidFill>
            </a:endParaRPr>
          </a:p>
        </p:txBody>
      </p:sp>
      <p:sp>
        <p:nvSpPr>
          <p:cNvPr id="115" name="모서리가 둥근 직사각형 48">
            <a:extLst>
              <a:ext uri="{FF2B5EF4-FFF2-40B4-BE49-F238E27FC236}">
                <a16:creationId xmlns:a16="http://schemas.microsoft.com/office/drawing/2014/main" id="{91C37CD5-C824-45A4-992B-5082A31579A3}"/>
              </a:ext>
            </a:extLst>
          </p:cNvPr>
          <p:cNvSpPr/>
          <p:nvPr/>
        </p:nvSpPr>
        <p:spPr>
          <a:xfrm>
            <a:off x="7324135" y="1026542"/>
            <a:ext cx="1696991" cy="257546"/>
          </a:xfrm>
          <a:prstGeom prst="roundRect">
            <a:avLst>
              <a:gd name="adj" fmla="val 50000"/>
            </a:avLst>
          </a:prstGeom>
          <a:solidFill>
            <a:schemeClr val="tx1">
              <a:lumMod val="75000"/>
              <a:lumOff val="2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chemeClr val="bg1"/>
                </a:solidFill>
              </a:rPr>
              <a:t>권리범위확인심판청구료</a:t>
            </a:r>
            <a:endParaRPr lang="ko-KR" altLang="en-US" sz="900" dirty="0">
              <a:solidFill>
                <a:schemeClr val="bg1"/>
              </a:solidFill>
            </a:endParaRPr>
          </a:p>
        </p:txBody>
      </p:sp>
      <p:sp>
        <p:nvSpPr>
          <p:cNvPr id="116" name="모서리가 둥근 직사각형 56">
            <a:extLst>
              <a:ext uri="{FF2B5EF4-FFF2-40B4-BE49-F238E27FC236}">
                <a16:creationId xmlns:a16="http://schemas.microsoft.com/office/drawing/2014/main" id="{8117689E-95A2-4F95-9415-DF0A779EB8F5}"/>
              </a:ext>
            </a:extLst>
          </p:cNvPr>
          <p:cNvSpPr/>
          <p:nvPr/>
        </p:nvSpPr>
        <p:spPr>
          <a:xfrm>
            <a:off x="389961" y="1396974"/>
            <a:ext cx="818753" cy="1069804"/>
          </a:xfrm>
          <a:prstGeom prst="roundRect">
            <a:avLst>
              <a:gd name="adj" fmla="val 19521"/>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rPr>
              <a:t>100%</a:t>
            </a:r>
            <a:endParaRPr lang="ko-KR" altLang="en-US" sz="900" dirty="0">
              <a:solidFill>
                <a:schemeClr val="tx1"/>
              </a:solidFill>
            </a:endParaRPr>
          </a:p>
        </p:txBody>
      </p:sp>
      <p:sp>
        <p:nvSpPr>
          <p:cNvPr id="118" name="모서리가 둥근 직사각형 56">
            <a:extLst>
              <a:ext uri="{FF2B5EF4-FFF2-40B4-BE49-F238E27FC236}">
                <a16:creationId xmlns:a16="http://schemas.microsoft.com/office/drawing/2014/main" id="{190CEF09-42A5-4EC6-BD00-2D8C0E3F8ABE}"/>
              </a:ext>
            </a:extLst>
          </p:cNvPr>
          <p:cNvSpPr/>
          <p:nvPr/>
        </p:nvSpPr>
        <p:spPr>
          <a:xfrm>
            <a:off x="389961" y="2508707"/>
            <a:ext cx="818753" cy="378007"/>
          </a:xfrm>
          <a:prstGeom prst="roundRect">
            <a:avLst>
              <a:gd name="adj" fmla="val 35208"/>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rPr>
              <a:t>85%</a:t>
            </a:r>
            <a:endParaRPr lang="ko-KR" altLang="en-US" sz="900" dirty="0">
              <a:solidFill>
                <a:schemeClr val="tx1"/>
              </a:solidFill>
            </a:endParaRPr>
          </a:p>
        </p:txBody>
      </p:sp>
      <p:sp>
        <p:nvSpPr>
          <p:cNvPr id="120" name="모서리가 둥근 직사각형 56">
            <a:extLst>
              <a:ext uri="{FF2B5EF4-FFF2-40B4-BE49-F238E27FC236}">
                <a16:creationId xmlns:a16="http://schemas.microsoft.com/office/drawing/2014/main" id="{4DFC9FF2-0F72-4C5F-AF4F-DDF05484A13C}"/>
              </a:ext>
            </a:extLst>
          </p:cNvPr>
          <p:cNvSpPr/>
          <p:nvPr/>
        </p:nvSpPr>
        <p:spPr>
          <a:xfrm>
            <a:off x="389961" y="2923760"/>
            <a:ext cx="818753" cy="463001"/>
          </a:xfrm>
          <a:prstGeom prst="roundRect">
            <a:avLst>
              <a:gd name="adj" fmla="val 35208"/>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rPr>
              <a:t>70%</a:t>
            </a:r>
            <a:endParaRPr lang="ko-KR" altLang="en-US" sz="900" dirty="0">
              <a:solidFill>
                <a:schemeClr val="tx1"/>
              </a:solidFill>
            </a:endParaRPr>
          </a:p>
        </p:txBody>
      </p:sp>
      <p:sp>
        <p:nvSpPr>
          <p:cNvPr id="121" name="모서리가 둥근 직사각형 56">
            <a:extLst>
              <a:ext uri="{FF2B5EF4-FFF2-40B4-BE49-F238E27FC236}">
                <a16:creationId xmlns:a16="http://schemas.microsoft.com/office/drawing/2014/main" id="{0F1FD9D6-1987-4A1D-B328-FAB8648B7781}"/>
              </a:ext>
            </a:extLst>
          </p:cNvPr>
          <p:cNvSpPr/>
          <p:nvPr/>
        </p:nvSpPr>
        <p:spPr>
          <a:xfrm>
            <a:off x="389961" y="3428684"/>
            <a:ext cx="818753" cy="917752"/>
          </a:xfrm>
          <a:prstGeom prst="roundRect">
            <a:avLst>
              <a:gd name="adj" fmla="val 19521"/>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rPr>
              <a:t>50%</a:t>
            </a:r>
            <a:endParaRPr lang="ko-KR" altLang="en-US" sz="900" dirty="0">
              <a:solidFill>
                <a:schemeClr val="tx1"/>
              </a:solidFill>
            </a:endParaRPr>
          </a:p>
        </p:txBody>
      </p:sp>
      <p:sp>
        <p:nvSpPr>
          <p:cNvPr id="122" name="모서리가 둥근 직사각형 56">
            <a:extLst>
              <a:ext uri="{FF2B5EF4-FFF2-40B4-BE49-F238E27FC236}">
                <a16:creationId xmlns:a16="http://schemas.microsoft.com/office/drawing/2014/main" id="{0F9C0A8A-DC5B-49B6-98F4-CF03298EDB87}"/>
              </a:ext>
            </a:extLst>
          </p:cNvPr>
          <p:cNvSpPr/>
          <p:nvPr/>
        </p:nvSpPr>
        <p:spPr>
          <a:xfrm>
            <a:off x="389961" y="4381153"/>
            <a:ext cx="818753" cy="407505"/>
          </a:xfrm>
          <a:prstGeom prst="roundRect">
            <a:avLst>
              <a:gd name="adj" fmla="val 35208"/>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900" dirty="0">
                <a:solidFill>
                  <a:schemeClr val="tx1"/>
                </a:solidFill>
              </a:rPr>
              <a:t>30%</a:t>
            </a:r>
            <a:endParaRPr lang="ko-KR" altLang="en-US" sz="900" dirty="0">
              <a:solidFill>
                <a:schemeClr val="tx1"/>
              </a:solidFill>
            </a:endParaRPr>
          </a:p>
        </p:txBody>
      </p:sp>
      <p:sp>
        <p:nvSpPr>
          <p:cNvPr id="134" name="직사각형 133">
            <a:extLst>
              <a:ext uri="{FF2B5EF4-FFF2-40B4-BE49-F238E27FC236}">
                <a16:creationId xmlns:a16="http://schemas.microsoft.com/office/drawing/2014/main" id="{AF94B5F2-7ED1-4C17-9219-A417938BD834}"/>
              </a:ext>
            </a:extLst>
          </p:cNvPr>
          <p:cNvSpPr/>
          <p:nvPr/>
        </p:nvSpPr>
        <p:spPr>
          <a:xfrm>
            <a:off x="7315509" y="3428685"/>
            <a:ext cx="1696991" cy="278350"/>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a:solidFill>
                  <a:schemeClr val="tx1"/>
                </a:solidFill>
                <a:latin typeface="+mn-ea"/>
              </a:rPr>
              <a:t>전담조직</a:t>
            </a:r>
            <a:endParaRPr lang="en-US" altLang="ko-KR" sz="900" dirty="0">
              <a:solidFill>
                <a:schemeClr val="tx1"/>
              </a:solidFill>
              <a:latin typeface="+mn-ea"/>
            </a:endParaRPr>
          </a:p>
        </p:txBody>
      </p:sp>
      <p:sp>
        <p:nvSpPr>
          <p:cNvPr id="49" name="모서리가 둥근 직사각형 48"/>
          <p:cNvSpPr/>
          <p:nvPr/>
        </p:nvSpPr>
        <p:spPr>
          <a:xfrm>
            <a:off x="1260598" y="1026542"/>
            <a:ext cx="978412" cy="257546"/>
          </a:xfrm>
          <a:prstGeom prst="roundRect">
            <a:avLst>
              <a:gd name="adj" fmla="val 5000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chemeClr val="tx1"/>
                </a:solidFill>
              </a:rPr>
              <a:t>출원료</a:t>
            </a:r>
            <a:endParaRPr lang="ko-KR" altLang="en-US" sz="900" dirty="0">
              <a:solidFill>
                <a:schemeClr val="tx1"/>
              </a:solidFill>
            </a:endParaRPr>
          </a:p>
        </p:txBody>
      </p:sp>
      <p:sp>
        <p:nvSpPr>
          <p:cNvPr id="111" name="모서리가 둥근 직사각형 48">
            <a:extLst>
              <a:ext uri="{FF2B5EF4-FFF2-40B4-BE49-F238E27FC236}">
                <a16:creationId xmlns:a16="http://schemas.microsoft.com/office/drawing/2014/main" id="{9B1120DB-1786-4B62-A75C-50AAC516F093}"/>
              </a:ext>
            </a:extLst>
          </p:cNvPr>
          <p:cNvSpPr/>
          <p:nvPr/>
        </p:nvSpPr>
        <p:spPr>
          <a:xfrm>
            <a:off x="2247037" y="1026542"/>
            <a:ext cx="978412" cy="257546"/>
          </a:xfrm>
          <a:prstGeom prst="roundRect">
            <a:avLst>
              <a:gd name="adj" fmla="val 5000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chemeClr val="tx1"/>
                </a:solidFill>
              </a:rPr>
              <a:t>심사청구료</a:t>
            </a:r>
            <a:endParaRPr lang="ko-KR" altLang="en-US" sz="900" dirty="0">
              <a:solidFill>
                <a:schemeClr val="tx1"/>
              </a:solidFill>
            </a:endParaRPr>
          </a:p>
        </p:txBody>
      </p:sp>
      <p:sp>
        <p:nvSpPr>
          <p:cNvPr id="112" name="모서리가 둥근 직사각형 48">
            <a:extLst>
              <a:ext uri="{FF2B5EF4-FFF2-40B4-BE49-F238E27FC236}">
                <a16:creationId xmlns:a16="http://schemas.microsoft.com/office/drawing/2014/main" id="{A15B975F-7DBC-483E-999D-7FB90B4D3B93}"/>
              </a:ext>
            </a:extLst>
          </p:cNvPr>
          <p:cNvSpPr/>
          <p:nvPr/>
        </p:nvSpPr>
        <p:spPr>
          <a:xfrm>
            <a:off x="3239324" y="1026542"/>
            <a:ext cx="1194639" cy="257546"/>
          </a:xfrm>
          <a:prstGeom prst="roundRect">
            <a:avLst>
              <a:gd name="adj" fmla="val 50000"/>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tx1"/>
                </a:solidFill>
              </a:rPr>
              <a:t>등록료</a:t>
            </a:r>
          </a:p>
        </p:txBody>
      </p:sp>
      <p:sp>
        <p:nvSpPr>
          <p:cNvPr id="9" name="직사각형 8">
            <a:extLst>
              <a:ext uri="{FF2B5EF4-FFF2-40B4-BE49-F238E27FC236}">
                <a16:creationId xmlns:a16="http://schemas.microsoft.com/office/drawing/2014/main" id="{41640BC5-C1B7-4CC0-85F6-8FEB14B37966}"/>
              </a:ext>
            </a:extLst>
          </p:cNvPr>
          <p:cNvSpPr/>
          <p:nvPr/>
        </p:nvSpPr>
        <p:spPr>
          <a:xfrm>
            <a:off x="1260598" y="1674926"/>
            <a:ext cx="3173364" cy="791852"/>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kern="0" spc="-50" dirty="0">
                <a:solidFill>
                  <a:schemeClr val="tx1"/>
                </a:solidFill>
                <a:effectLst/>
                <a:latin typeface="+mn-ea"/>
              </a:rPr>
              <a:t>의료급여 </a:t>
            </a:r>
            <a:r>
              <a:rPr lang="ko-KR" altLang="en-US" sz="900" kern="0" spc="-50" dirty="0" err="1">
                <a:solidFill>
                  <a:schemeClr val="tx1"/>
                </a:solidFill>
                <a:effectLst/>
                <a:latin typeface="+mn-ea"/>
              </a:rPr>
              <a:t>수급자</a:t>
            </a:r>
            <a:r>
              <a:rPr lang="en-US" altLang="ko-KR" sz="900" kern="0" spc="-50" dirty="0">
                <a:solidFill>
                  <a:schemeClr val="tx1"/>
                </a:solidFill>
                <a:effectLst/>
                <a:latin typeface="+mn-ea"/>
              </a:rPr>
              <a:t>*</a:t>
            </a:r>
            <a:endParaRPr lang="ko-KR" altLang="en-US" sz="900" kern="0" spc="-50" dirty="0">
              <a:solidFill>
                <a:schemeClr val="tx1"/>
              </a:solidFill>
              <a:effectLst/>
              <a:latin typeface="+mn-ea"/>
            </a:endParaRPr>
          </a:p>
          <a:p>
            <a:pPr marL="171450" indent="-171450">
              <a:buFont typeface="Wingdings" panose="05000000000000000000" pitchFamily="2" charset="2"/>
              <a:buChar char="§"/>
            </a:pPr>
            <a:r>
              <a:rPr lang="ko-KR" altLang="en-US" sz="900" dirty="0">
                <a:solidFill>
                  <a:schemeClr val="tx1"/>
                </a:solidFill>
                <a:latin typeface="+mn-ea"/>
              </a:rPr>
              <a:t>국가유공자 등</a:t>
            </a:r>
            <a:r>
              <a:rPr lang="en-US" altLang="ko-KR" sz="900" dirty="0">
                <a:solidFill>
                  <a:schemeClr val="tx1"/>
                </a:solidFill>
                <a:latin typeface="+mn-ea"/>
              </a:rPr>
              <a:t>*</a:t>
            </a:r>
          </a:p>
          <a:p>
            <a:pPr marL="171450" indent="-171450">
              <a:buFont typeface="Wingdings" panose="05000000000000000000" pitchFamily="2" charset="2"/>
              <a:buChar char="§"/>
            </a:pPr>
            <a:r>
              <a:rPr lang="ko-KR" altLang="en-US" sz="900" dirty="0">
                <a:solidFill>
                  <a:schemeClr val="tx1"/>
                </a:solidFill>
                <a:latin typeface="+mn-ea"/>
              </a:rPr>
              <a:t>장애인</a:t>
            </a:r>
            <a:r>
              <a:rPr lang="en-US" altLang="ko-KR" sz="900" dirty="0">
                <a:solidFill>
                  <a:schemeClr val="tx1"/>
                </a:solidFill>
                <a:latin typeface="+mn-ea"/>
              </a:rPr>
              <a:t>*</a:t>
            </a:r>
          </a:p>
          <a:p>
            <a:pPr marL="171450" indent="-171450">
              <a:buFont typeface="Wingdings" panose="05000000000000000000" pitchFamily="2" charset="2"/>
              <a:buChar char="§"/>
            </a:pPr>
            <a:r>
              <a:rPr lang="ko-KR" altLang="en-US" sz="900" dirty="0">
                <a:solidFill>
                  <a:schemeClr val="tx1"/>
                </a:solidFill>
                <a:latin typeface="+mn-ea"/>
              </a:rPr>
              <a:t>학생</a:t>
            </a:r>
            <a:r>
              <a:rPr lang="en-US" altLang="ko-KR" sz="900" dirty="0">
                <a:solidFill>
                  <a:schemeClr val="tx1"/>
                </a:solidFill>
                <a:latin typeface="+mn-ea"/>
              </a:rPr>
              <a:t>(</a:t>
            </a:r>
            <a:r>
              <a:rPr lang="ko-KR" altLang="en-US" sz="900" dirty="0">
                <a:solidFill>
                  <a:schemeClr val="tx1"/>
                </a:solidFill>
                <a:latin typeface="+mn-ea"/>
              </a:rPr>
              <a:t>초</a:t>
            </a:r>
            <a:r>
              <a:rPr lang="en-US" altLang="ko-KR" sz="900" dirty="0">
                <a:solidFill>
                  <a:schemeClr val="tx1"/>
                </a:solidFill>
                <a:latin typeface="+mn-ea"/>
              </a:rPr>
              <a:t>, </a:t>
            </a:r>
            <a:r>
              <a:rPr lang="ko-KR" altLang="en-US" sz="900" dirty="0">
                <a:solidFill>
                  <a:schemeClr val="tx1"/>
                </a:solidFill>
                <a:latin typeface="+mn-ea"/>
              </a:rPr>
              <a:t>중</a:t>
            </a:r>
            <a:r>
              <a:rPr lang="en-US" altLang="ko-KR" sz="900" dirty="0">
                <a:solidFill>
                  <a:schemeClr val="tx1"/>
                </a:solidFill>
                <a:latin typeface="+mn-ea"/>
              </a:rPr>
              <a:t>, </a:t>
            </a:r>
            <a:r>
              <a:rPr lang="ko-KR" altLang="en-US" sz="900" dirty="0">
                <a:solidFill>
                  <a:schemeClr val="tx1"/>
                </a:solidFill>
                <a:latin typeface="+mn-ea"/>
              </a:rPr>
              <a:t>고</a:t>
            </a:r>
            <a:r>
              <a:rPr lang="en-US" altLang="ko-KR" sz="900" dirty="0">
                <a:solidFill>
                  <a:schemeClr val="tx1"/>
                </a:solidFill>
                <a:latin typeface="+mn-ea"/>
              </a:rPr>
              <a:t> / </a:t>
            </a:r>
            <a:r>
              <a:rPr lang="ko-KR" altLang="en-US" sz="900" dirty="0">
                <a:solidFill>
                  <a:schemeClr val="tx1"/>
                </a:solidFill>
                <a:latin typeface="+mn-ea"/>
              </a:rPr>
              <a:t>만 </a:t>
            </a:r>
            <a:r>
              <a:rPr lang="en-US" altLang="ko-KR" sz="900" dirty="0">
                <a:solidFill>
                  <a:schemeClr val="tx1"/>
                </a:solidFill>
                <a:latin typeface="+mn-ea"/>
              </a:rPr>
              <a:t>6</a:t>
            </a:r>
            <a:r>
              <a:rPr lang="ko-KR" altLang="en-US" sz="900" dirty="0">
                <a:solidFill>
                  <a:schemeClr val="tx1"/>
                </a:solidFill>
                <a:latin typeface="+mn-ea"/>
              </a:rPr>
              <a:t>세 이상 </a:t>
            </a:r>
            <a:r>
              <a:rPr lang="en-US" altLang="ko-KR" sz="900" dirty="0">
                <a:solidFill>
                  <a:schemeClr val="tx1"/>
                </a:solidFill>
                <a:latin typeface="+mn-ea"/>
              </a:rPr>
              <a:t>18</a:t>
            </a:r>
            <a:r>
              <a:rPr lang="ko-KR" altLang="en-US" sz="900" dirty="0">
                <a:solidFill>
                  <a:schemeClr val="tx1"/>
                </a:solidFill>
                <a:latin typeface="+mn-ea"/>
              </a:rPr>
              <a:t>세 이하 포함</a:t>
            </a:r>
            <a:r>
              <a:rPr lang="en-US" altLang="ko-KR" sz="900" dirty="0">
                <a:solidFill>
                  <a:schemeClr val="tx1"/>
                </a:solidFill>
                <a:latin typeface="+mn-ea"/>
              </a:rPr>
              <a:t>)*</a:t>
            </a:r>
          </a:p>
          <a:p>
            <a:pPr marL="171450" indent="-171450">
              <a:buFont typeface="Wingdings" panose="05000000000000000000" pitchFamily="2" charset="2"/>
              <a:buChar char="§"/>
            </a:pPr>
            <a:r>
              <a:rPr lang="ko-KR" altLang="en-US" sz="900" dirty="0">
                <a:solidFill>
                  <a:schemeClr val="tx1"/>
                </a:solidFill>
                <a:latin typeface="+mn-ea"/>
              </a:rPr>
              <a:t>군인</a:t>
            </a:r>
            <a:r>
              <a:rPr lang="en-US" altLang="ko-KR" sz="900" dirty="0">
                <a:solidFill>
                  <a:schemeClr val="tx1"/>
                </a:solidFill>
                <a:latin typeface="+mn-ea"/>
              </a:rPr>
              <a:t>*</a:t>
            </a:r>
          </a:p>
        </p:txBody>
      </p:sp>
      <p:sp>
        <p:nvSpPr>
          <p:cNvPr id="123" name="직사각형 122">
            <a:extLst>
              <a:ext uri="{FF2B5EF4-FFF2-40B4-BE49-F238E27FC236}">
                <a16:creationId xmlns:a16="http://schemas.microsoft.com/office/drawing/2014/main" id="{D9482D62-0154-4845-837D-BBB48124EF64}"/>
              </a:ext>
            </a:extLst>
          </p:cNvPr>
          <p:cNvSpPr/>
          <p:nvPr/>
        </p:nvSpPr>
        <p:spPr>
          <a:xfrm>
            <a:off x="1260598" y="2508708"/>
            <a:ext cx="3173364" cy="378008"/>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dirty="0">
                <a:solidFill>
                  <a:schemeClr val="tx1"/>
                </a:solidFill>
                <a:latin typeface="+mn-ea"/>
              </a:rPr>
              <a:t>개인</a:t>
            </a:r>
            <a:r>
              <a:rPr lang="en-US" altLang="ko-KR" sz="900" dirty="0">
                <a:solidFill>
                  <a:schemeClr val="tx1"/>
                </a:solidFill>
                <a:latin typeface="+mn-ea"/>
              </a:rPr>
              <a:t>(</a:t>
            </a:r>
            <a:r>
              <a:rPr lang="ko-KR" altLang="en-US" sz="900" dirty="0">
                <a:solidFill>
                  <a:schemeClr val="tx1"/>
                </a:solidFill>
                <a:latin typeface="+mn-ea"/>
              </a:rPr>
              <a:t>만 </a:t>
            </a:r>
            <a:r>
              <a:rPr lang="en-US" altLang="ko-KR" sz="900" dirty="0">
                <a:solidFill>
                  <a:schemeClr val="tx1"/>
                </a:solidFill>
                <a:latin typeface="+mn-ea"/>
              </a:rPr>
              <a:t>19</a:t>
            </a:r>
            <a:r>
              <a:rPr lang="ko-KR" altLang="en-US" sz="900" dirty="0">
                <a:solidFill>
                  <a:schemeClr val="tx1"/>
                </a:solidFill>
                <a:latin typeface="+mn-ea"/>
              </a:rPr>
              <a:t>세 이상 </a:t>
            </a:r>
            <a:r>
              <a:rPr lang="en-US" altLang="ko-KR" sz="900" dirty="0">
                <a:solidFill>
                  <a:schemeClr val="tx1"/>
                </a:solidFill>
                <a:latin typeface="+mn-ea"/>
              </a:rPr>
              <a:t>29</a:t>
            </a:r>
            <a:r>
              <a:rPr lang="ko-KR" altLang="en-US" sz="900" dirty="0">
                <a:solidFill>
                  <a:schemeClr val="tx1"/>
                </a:solidFill>
                <a:latin typeface="+mn-ea"/>
              </a:rPr>
              <a:t>세 이하</a:t>
            </a:r>
            <a:r>
              <a:rPr lang="en-US" altLang="ko-KR" sz="900" dirty="0">
                <a:solidFill>
                  <a:schemeClr val="tx1"/>
                </a:solidFill>
                <a:latin typeface="+mn-ea"/>
              </a:rPr>
              <a:t> </a:t>
            </a:r>
            <a:r>
              <a:rPr lang="ko-KR" altLang="en-US" sz="900" dirty="0">
                <a:solidFill>
                  <a:schemeClr val="tx1"/>
                </a:solidFill>
                <a:latin typeface="+mn-ea"/>
              </a:rPr>
              <a:t>또는 만 </a:t>
            </a:r>
            <a:r>
              <a:rPr lang="en-US" altLang="ko-KR" sz="900" dirty="0">
                <a:solidFill>
                  <a:schemeClr val="tx1"/>
                </a:solidFill>
                <a:latin typeface="+mn-ea"/>
              </a:rPr>
              <a:t>65</a:t>
            </a:r>
            <a:r>
              <a:rPr lang="ko-KR" altLang="en-US" sz="900" dirty="0">
                <a:solidFill>
                  <a:schemeClr val="tx1"/>
                </a:solidFill>
                <a:latin typeface="+mn-ea"/>
              </a:rPr>
              <a:t>세 이상</a:t>
            </a:r>
            <a:r>
              <a:rPr lang="en-US" altLang="ko-KR" sz="900" dirty="0">
                <a:solidFill>
                  <a:schemeClr val="tx1"/>
                </a:solidFill>
                <a:latin typeface="+mn-ea"/>
              </a:rPr>
              <a:t>, </a:t>
            </a:r>
            <a:r>
              <a:rPr lang="ko-KR" altLang="en-US" sz="900" dirty="0">
                <a:solidFill>
                  <a:schemeClr val="tx1"/>
                </a:solidFill>
                <a:latin typeface="+mn-ea"/>
              </a:rPr>
              <a:t>발명자와 출원인 일치</a:t>
            </a:r>
            <a:r>
              <a:rPr lang="en-US" altLang="ko-KR" sz="900" dirty="0">
                <a:solidFill>
                  <a:schemeClr val="tx1"/>
                </a:solidFill>
                <a:latin typeface="+mn-ea"/>
              </a:rPr>
              <a:t>) **</a:t>
            </a:r>
          </a:p>
        </p:txBody>
      </p:sp>
      <p:sp>
        <p:nvSpPr>
          <p:cNvPr id="127" name="직사각형 126">
            <a:extLst>
              <a:ext uri="{FF2B5EF4-FFF2-40B4-BE49-F238E27FC236}">
                <a16:creationId xmlns:a16="http://schemas.microsoft.com/office/drawing/2014/main" id="{975A051D-72AA-4D8E-8CAC-F36A7D843527}"/>
              </a:ext>
            </a:extLst>
          </p:cNvPr>
          <p:cNvSpPr/>
          <p:nvPr/>
        </p:nvSpPr>
        <p:spPr>
          <a:xfrm>
            <a:off x="1260598" y="3428684"/>
            <a:ext cx="3173364" cy="922387"/>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dirty="0">
                <a:solidFill>
                  <a:schemeClr val="tx1"/>
                </a:solidFill>
                <a:latin typeface="+mn-ea"/>
              </a:rPr>
              <a:t>중소기업이 중소기업이 아닌 자와 계약에 따라 공동연구를 수행하고</a:t>
            </a:r>
            <a:r>
              <a:rPr lang="en-US" altLang="ko-KR" sz="900" dirty="0">
                <a:solidFill>
                  <a:schemeClr val="tx1"/>
                </a:solidFill>
                <a:latin typeface="+mn-ea"/>
              </a:rPr>
              <a:t>, </a:t>
            </a:r>
            <a:r>
              <a:rPr lang="ko-KR" altLang="en-US" sz="900" dirty="0">
                <a:solidFill>
                  <a:schemeClr val="tx1"/>
                </a:solidFill>
                <a:latin typeface="+mn-ea"/>
              </a:rPr>
              <a:t>그 연구결과물에 대하여 공동출원</a:t>
            </a:r>
            <a:endParaRPr lang="en-US" altLang="ko-KR" sz="900" dirty="0">
              <a:solidFill>
                <a:schemeClr val="tx1"/>
              </a:solidFill>
              <a:latin typeface="+mn-ea"/>
            </a:endParaRPr>
          </a:p>
          <a:p>
            <a:pPr marL="171450" indent="-171450">
              <a:buFont typeface="Wingdings" panose="05000000000000000000" pitchFamily="2" charset="2"/>
              <a:buChar char="§"/>
            </a:pPr>
            <a:r>
              <a:rPr lang="ko-KR" altLang="en-US" sz="900" dirty="0">
                <a:solidFill>
                  <a:schemeClr val="tx1"/>
                </a:solidFill>
                <a:latin typeface="+mn-ea"/>
              </a:rPr>
              <a:t>공공연구기관</a:t>
            </a:r>
            <a:endParaRPr lang="en-US" altLang="ko-KR" sz="900" dirty="0">
              <a:solidFill>
                <a:schemeClr val="tx1"/>
              </a:solidFill>
              <a:latin typeface="+mn-ea"/>
            </a:endParaRPr>
          </a:p>
          <a:p>
            <a:pPr marL="171450" indent="-171450">
              <a:buFont typeface="Wingdings" panose="05000000000000000000" pitchFamily="2" charset="2"/>
              <a:buChar char="§"/>
            </a:pPr>
            <a:r>
              <a:rPr lang="ko-KR" altLang="en-US" sz="900" dirty="0">
                <a:solidFill>
                  <a:schemeClr val="tx1"/>
                </a:solidFill>
                <a:latin typeface="+mn-ea"/>
              </a:rPr>
              <a:t>전담조직</a:t>
            </a:r>
            <a:endParaRPr lang="en-US" altLang="ko-KR" sz="900" dirty="0">
              <a:solidFill>
                <a:schemeClr val="tx1"/>
              </a:solidFill>
              <a:latin typeface="+mn-ea"/>
            </a:endParaRPr>
          </a:p>
          <a:p>
            <a:pPr marL="171450" indent="-171450">
              <a:buFont typeface="Wingdings" panose="05000000000000000000" pitchFamily="2" charset="2"/>
              <a:buChar char="§"/>
            </a:pPr>
            <a:r>
              <a:rPr lang="ko-KR" altLang="en-US" sz="900" dirty="0" err="1">
                <a:solidFill>
                  <a:schemeClr val="tx1"/>
                </a:solidFill>
                <a:latin typeface="+mn-ea"/>
              </a:rPr>
              <a:t>지방자치단쳬</a:t>
            </a:r>
            <a:endParaRPr lang="en-US" altLang="ko-KR" sz="900" dirty="0">
              <a:solidFill>
                <a:schemeClr val="tx1"/>
              </a:solidFill>
              <a:latin typeface="+mn-ea"/>
            </a:endParaRPr>
          </a:p>
        </p:txBody>
      </p:sp>
      <p:sp>
        <p:nvSpPr>
          <p:cNvPr id="128" name="직사각형 127">
            <a:extLst>
              <a:ext uri="{FF2B5EF4-FFF2-40B4-BE49-F238E27FC236}">
                <a16:creationId xmlns:a16="http://schemas.microsoft.com/office/drawing/2014/main" id="{7052A4F9-B7B5-477C-A582-2A50D988E3BB}"/>
              </a:ext>
            </a:extLst>
          </p:cNvPr>
          <p:cNvSpPr/>
          <p:nvPr/>
        </p:nvSpPr>
        <p:spPr>
          <a:xfrm>
            <a:off x="1260598" y="2927694"/>
            <a:ext cx="3173364" cy="459066"/>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dirty="0">
                <a:solidFill>
                  <a:schemeClr val="tx1"/>
                </a:solidFill>
                <a:latin typeface="+mn-ea"/>
              </a:rPr>
              <a:t>개인</a:t>
            </a:r>
            <a:r>
              <a:rPr lang="en-US" altLang="ko-KR" sz="900" dirty="0">
                <a:solidFill>
                  <a:schemeClr val="tx1"/>
                </a:solidFill>
                <a:latin typeface="+mn-ea"/>
              </a:rPr>
              <a:t>(</a:t>
            </a:r>
            <a:r>
              <a:rPr lang="ko-KR" altLang="en-US" sz="900" dirty="0">
                <a:solidFill>
                  <a:schemeClr val="tx1"/>
                </a:solidFill>
                <a:latin typeface="+mn-ea"/>
              </a:rPr>
              <a:t>발명자와 출원인 일치</a:t>
            </a:r>
            <a:r>
              <a:rPr lang="en-US" altLang="ko-KR" sz="900" dirty="0">
                <a:solidFill>
                  <a:schemeClr val="tx1"/>
                </a:solidFill>
                <a:latin typeface="+mn-ea"/>
              </a:rPr>
              <a:t>) *</a:t>
            </a:r>
          </a:p>
          <a:p>
            <a:pPr marL="171450" indent="-171450">
              <a:buFont typeface="Wingdings" panose="05000000000000000000" pitchFamily="2" charset="2"/>
              <a:buChar char="§"/>
            </a:pPr>
            <a:r>
              <a:rPr lang="ko-KR" altLang="en-US" sz="900" dirty="0">
                <a:solidFill>
                  <a:schemeClr val="tx1"/>
                </a:solidFill>
                <a:latin typeface="+mn-ea"/>
              </a:rPr>
              <a:t>중소기업</a:t>
            </a:r>
            <a:endParaRPr lang="en-US" altLang="ko-KR" sz="900" dirty="0">
              <a:solidFill>
                <a:schemeClr val="tx1"/>
              </a:solidFill>
              <a:latin typeface="+mn-ea"/>
            </a:endParaRPr>
          </a:p>
        </p:txBody>
      </p:sp>
      <p:sp>
        <p:nvSpPr>
          <p:cNvPr id="135" name="직사각형 134">
            <a:extLst>
              <a:ext uri="{FF2B5EF4-FFF2-40B4-BE49-F238E27FC236}">
                <a16:creationId xmlns:a16="http://schemas.microsoft.com/office/drawing/2014/main" id="{7C01F96A-D84B-46E4-9351-9DBE047F3BB7}"/>
              </a:ext>
            </a:extLst>
          </p:cNvPr>
          <p:cNvSpPr/>
          <p:nvPr/>
        </p:nvSpPr>
        <p:spPr>
          <a:xfrm>
            <a:off x="1260598" y="4389942"/>
            <a:ext cx="3173364" cy="407507"/>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a:solidFill>
                  <a:schemeClr val="tx1"/>
                </a:solidFill>
                <a:latin typeface="+mn-ea"/>
              </a:rPr>
              <a:t>중견기업</a:t>
            </a:r>
            <a:endParaRPr lang="en-US" altLang="ko-KR" sz="900" dirty="0">
              <a:solidFill>
                <a:schemeClr val="tx1"/>
              </a:solidFill>
              <a:latin typeface="+mn-ea"/>
            </a:endParaRPr>
          </a:p>
        </p:txBody>
      </p:sp>
      <p:sp>
        <p:nvSpPr>
          <p:cNvPr id="136" name="직사각형 135">
            <a:extLst>
              <a:ext uri="{FF2B5EF4-FFF2-40B4-BE49-F238E27FC236}">
                <a16:creationId xmlns:a16="http://schemas.microsoft.com/office/drawing/2014/main" id="{F0644A66-BFF1-4CDD-8642-DA3A99CDEB04}"/>
              </a:ext>
            </a:extLst>
          </p:cNvPr>
          <p:cNvSpPr/>
          <p:nvPr/>
        </p:nvSpPr>
        <p:spPr>
          <a:xfrm>
            <a:off x="4465182" y="4389942"/>
            <a:ext cx="1047402" cy="407507"/>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a:solidFill>
                  <a:schemeClr val="tx1"/>
                </a:solidFill>
                <a:latin typeface="+mn-ea"/>
              </a:rPr>
              <a:t>중견기업</a:t>
            </a:r>
            <a:endParaRPr lang="en-US" altLang="ko-KR" sz="900" dirty="0">
              <a:solidFill>
                <a:schemeClr val="tx1"/>
              </a:solidFill>
              <a:latin typeface="+mn-ea"/>
            </a:endParaRPr>
          </a:p>
        </p:txBody>
      </p:sp>
      <p:sp>
        <p:nvSpPr>
          <p:cNvPr id="137" name="직사각형 136">
            <a:extLst>
              <a:ext uri="{FF2B5EF4-FFF2-40B4-BE49-F238E27FC236}">
                <a16:creationId xmlns:a16="http://schemas.microsoft.com/office/drawing/2014/main" id="{02F2BE6F-49F9-4F20-B490-0882FCF77D36}"/>
              </a:ext>
            </a:extLst>
          </p:cNvPr>
          <p:cNvSpPr/>
          <p:nvPr/>
        </p:nvSpPr>
        <p:spPr>
          <a:xfrm>
            <a:off x="4465182" y="3428684"/>
            <a:ext cx="1939864" cy="922387"/>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dirty="0">
                <a:solidFill>
                  <a:schemeClr val="tx1"/>
                </a:solidFill>
                <a:latin typeface="+mn-ea"/>
              </a:rPr>
              <a:t>개인</a:t>
            </a:r>
            <a:endParaRPr lang="en-US" altLang="ko-KR" sz="900" dirty="0">
              <a:solidFill>
                <a:schemeClr val="tx1"/>
              </a:solidFill>
              <a:latin typeface="+mn-ea"/>
            </a:endParaRPr>
          </a:p>
          <a:p>
            <a:pPr marL="171450" indent="-171450">
              <a:buFont typeface="Wingdings" panose="05000000000000000000" pitchFamily="2" charset="2"/>
              <a:buChar char="§"/>
            </a:pPr>
            <a:r>
              <a:rPr lang="ko-KR" altLang="en-US" sz="900" dirty="0">
                <a:solidFill>
                  <a:schemeClr val="tx1"/>
                </a:solidFill>
                <a:latin typeface="+mn-ea"/>
              </a:rPr>
              <a:t>중소기업</a:t>
            </a:r>
            <a:endParaRPr lang="en-US" altLang="ko-KR" sz="900" dirty="0">
              <a:solidFill>
                <a:schemeClr val="tx1"/>
              </a:solidFill>
              <a:latin typeface="+mn-ea"/>
            </a:endParaRPr>
          </a:p>
          <a:p>
            <a:pPr marL="171450" indent="-171450">
              <a:buFont typeface="Wingdings" panose="05000000000000000000" pitchFamily="2" charset="2"/>
              <a:buChar char="§"/>
            </a:pPr>
            <a:r>
              <a:rPr lang="ko-KR" altLang="en-US" sz="900" dirty="0">
                <a:solidFill>
                  <a:schemeClr val="tx1"/>
                </a:solidFill>
                <a:latin typeface="+mn-ea"/>
              </a:rPr>
              <a:t>공공연구기관</a:t>
            </a:r>
            <a:endParaRPr lang="en-US" altLang="ko-KR" sz="900" dirty="0">
              <a:solidFill>
                <a:schemeClr val="tx1"/>
              </a:solidFill>
              <a:latin typeface="+mn-ea"/>
            </a:endParaRPr>
          </a:p>
          <a:p>
            <a:pPr marL="171450" indent="-171450">
              <a:buFont typeface="Wingdings" panose="05000000000000000000" pitchFamily="2" charset="2"/>
              <a:buChar char="§"/>
            </a:pPr>
            <a:r>
              <a:rPr lang="ko-KR" altLang="en-US" sz="900" dirty="0">
                <a:solidFill>
                  <a:schemeClr val="tx1"/>
                </a:solidFill>
                <a:latin typeface="+mn-ea"/>
              </a:rPr>
              <a:t>전담조직</a:t>
            </a:r>
            <a:endParaRPr lang="en-US" altLang="ko-KR" sz="900" dirty="0">
              <a:solidFill>
                <a:schemeClr val="tx1"/>
              </a:solidFill>
              <a:latin typeface="+mn-ea"/>
            </a:endParaRPr>
          </a:p>
          <a:p>
            <a:pPr marL="171450" indent="-171450">
              <a:buFont typeface="Wingdings" panose="05000000000000000000" pitchFamily="2" charset="2"/>
              <a:buChar char="§"/>
            </a:pPr>
            <a:r>
              <a:rPr lang="ko-KR" altLang="en-US" sz="900" dirty="0" err="1">
                <a:solidFill>
                  <a:schemeClr val="tx1"/>
                </a:solidFill>
                <a:latin typeface="+mn-ea"/>
              </a:rPr>
              <a:t>지방자치단쳬</a:t>
            </a:r>
            <a:endParaRPr lang="en-US" altLang="ko-KR" sz="900" dirty="0">
              <a:solidFill>
                <a:schemeClr val="tx1"/>
              </a:solidFill>
              <a:latin typeface="+mn-ea"/>
            </a:endParaRPr>
          </a:p>
          <a:p>
            <a:pPr marL="171450" indent="-171450">
              <a:buFont typeface="Wingdings" panose="05000000000000000000" pitchFamily="2" charset="2"/>
              <a:buChar char="§"/>
            </a:pPr>
            <a:r>
              <a:rPr lang="ko-KR" altLang="en-US" sz="900" dirty="0">
                <a:solidFill>
                  <a:schemeClr val="tx1"/>
                </a:solidFill>
                <a:latin typeface="+mn-ea"/>
              </a:rPr>
              <a:t>은행이전</a:t>
            </a:r>
            <a:r>
              <a:rPr lang="en-US" altLang="ko-KR" sz="900" dirty="0">
                <a:solidFill>
                  <a:schemeClr val="tx1"/>
                </a:solidFill>
                <a:latin typeface="+mn-ea"/>
              </a:rPr>
              <a:t>****</a:t>
            </a:r>
          </a:p>
        </p:txBody>
      </p:sp>
      <p:sp>
        <p:nvSpPr>
          <p:cNvPr id="138" name="모서리가 둥근 직사각형 48">
            <a:extLst>
              <a:ext uri="{FF2B5EF4-FFF2-40B4-BE49-F238E27FC236}">
                <a16:creationId xmlns:a16="http://schemas.microsoft.com/office/drawing/2014/main" id="{68456155-2E60-4BEA-B907-26B8A6665E53}"/>
              </a:ext>
            </a:extLst>
          </p:cNvPr>
          <p:cNvSpPr/>
          <p:nvPr/>
        </p:nvSpPr>
        <p:spPr>
          <a:xfrm>
            <a:off x="9048650" y="1026542"/>
            <a:ext cx="2752290" cy="257546"/>
          </a:xfrm>
          <a:prstGeom prst="roundRect">
            <a:avLst>
              <a:gd name="adj" fmla="val 50000"/>
            </a:avLst>
          </a:prstGeom>
          <a:solidFill>
            <a:schemeClr val="tx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chemeClr val="bg1"/>
                </a:solidFill>
              </a:rPr>
              <a:t>우선심사신청료</a:t>
            </a:r>
            <a:endParaRPr lang="ko-KR" altLang="en-US" sz="900" dirty="0">
              <a:solidFill>
                <a:schemeClr val="bg1"/>
              </a:solidFill>
            </a:endParaRPr>
          </a:p>
        </p:txBody>
      </p:sp>
      <p:sp>
        <p:nvSpPr>
          <p:cNvPr id="139" name="직사각형 138">
            <a:extLst>
              <a:ext uri="{FF2B5EF4-FFF2-40B4-BE49-F238E27FC236}">
                <a16:creationId xmlns:a16="http://schemas.microsoft.com/office/drawing/2014/main" id="{DC9C1CFD-9AE8-4EF3-86E6-586D12F8C1A2}"/>
              </a:ext>
            </a:extLst>
          </p:cNvPr>
          <p:cNvSpPr/>
          <p:nvPr/>
        </p:nvSpPr>
        <p:spPr>
          <a:xfrm>
            <a:off x="9048647" y="1666731"/>
            <a:ext cx="2752293" cy="800048"/>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dirty="0">
                <a:solidFill>
                  <a:schemeClr val="tx1"/>
                </a:solidFill>
                <a:latin typeface="+mn-ea"/>
              </a:rPr>
              <a:t>첨단의료복합단지 육성에 관한 특별법에 따른 </a:t>
            </a:r>
            <a:r>
              <a:rPr lang="ko-KR" altLang="en-US" sz="900" dirty="0" err="1">
                <a:solidFill>
                  <a:schemeClr val="tx1"/>
                </a:solidFill>
                <a:latin typeface="+mn-ea"/>
              </a:rPr>
              <a:t>출원으로서</a:t>
            </a:r>
            <a:r>
              <a:rPr lang="ko-KR" altLang="en-US" sz="900" dirty="0">
                <a:solidFill>
                  <a:schemeClr val="tx1"/>
                </a:solidFill>
                <a:latin typeface="+mn-ea"/>
              </a:rPr>
              <a:t> </a:t>
            </a:r>
            <a:r>
              <a:rPr lang="ko-KR" altLang="en-US" sz="900" dirty="0" err="1">
                <a:solidFill>
                  <a:schemeClr val="tx1"/>
                </a:solidFill>
                <a:latin typeface="+mn-ea"/>
              </a:rPr>
              <a:t>출원료</a:t>
            </a:r>
            <a:r>
              <a:rPr lang="en-US" altLang="ko-KR" sz="900" dirty="0">
                <a:solidFill>
                  <a:schemeClr val="tx1"/>
                </a:solidFill>
                <a:latin typeface="+mn-ea"/>
              </a:rPr>
              <a:t> </a:t>
            </a:r>
            <a:r>
              <a:rPr lang="ko-KR" altLang="en-US" sz="900" dirty="0">
                <a:solidFill>
                  <a:schemeClr val="tx1"/>
                </a:solidFill>
                <a:latin typeface="+mn-ea"/>
              </a:rPr>
              <a:t>등 면제받은 자와 동일</a:t>
            </a:r>
            <a:endParaRPr lang="en-US" altLang="ko-KR" sz="900" dirty="0">
              <a:solidFill>
                <a:schemeClr val="tx1"/>
              </a:solidFill>
              <a:latin typeface="+mn-ea"/>
            </a:endParaRPr>
          </a:p>
        </p:txBody>
      </p:sp>
      <p:sp>
        <p:nvSpPr>
          <p:cNvPr id="140" name="직사각형 139">
            <a:extLst>
              <a:ext uri="{FF2B5EF4-FFF2-40B4-BE49-F238E27FC236}">
                <a16:creationId xmlns:a16="http://schemas.microsoft.com/office/drawing/2014/main" id="{CA2EA6F9-EE6D-4F38-8A99-A0C1C45A73B4}"/>
              </a:ext>
            </a:extLst>
          </p:cNvPr>
          <p:cNvSpPr/>
          <p:nvPr/>
        </p:nvSpPr>
        <p:spPr>
          <a:xfrm>
            <a:off x="1260598" y="1397914"/>
            <a:ext cx="10540342" cy="239952"/>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a:solidFill>
                  <a:schemeClr val="tx1"/>
                </a:solidFill>
                <a:latin typeface="+mn-ea"/>
              </a:rPr>
              <a:t>국가</a:t>
            </a:r>
            <a:endParaRPr lang="en-US" altLang="ko-KR" sz="900" dirty="0">
              <a:solidFill>
                <a:schemeClr val="tx1"/>
              </a:solidFill>
              <a:latin typeface="+mn-ea"/>
            </a:endParaRPr>
          </a:p>
        </p:txBody>
      </p:sp>
      <p:sp>
        <p:nvSpPr>
          <p:cNvPr id="143" name="직사각형 142">
            <a:extLst>
              <a:ext uri="{FF2B5EF4-FFF2-40B4-BE49-F238E27FC236}">
                <a16:creationId xmlns:a16="http://schemas.microsoft.com/office/drawing/2014/main" id="{19F6987C-A85E-474F-8A27-0D5BADC66DC3}"/>
              </a:ext>
            </a:extLst>
          </p:cNvPr>
          <p:cNvSpPr/>
          <p:nvPr/>
        </p:nvSpPr>
        <p:spPr>
          <a:xfrm>
            <a:off x="7317605" y="2927694"/>
            <a:ext cx="1695125" cy="459066"/>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dirty="0">
                <a:solidFill>
                  <a:schemeClr val="tx1"/>
                </a:solidFill>
                <a:latin typeface="+mn-ea"/>
              </a:rPr>
              <a:t>개인</a:t>
            </a:r>
            <a:r>
              <a:rPr lang="en-US" altLang="ko-KR" sz="900" dirty="0">
                <a:solidFill>
                  <a:schemeClr val="tx1"/>
                </a:solidFill>
                <a:latin typeface="+mn-ea"/>
              </a:rPr>
              <a:t>(</a:t>
            </a:r>
            <a:r>
              <a:rPr lang="ko-KR" altLang="en-US" sz="900" dirty="0">
                <a:solidFill>
                  <a:schemeClr val="tx1"/>
                </a:solidFill>
                <a:latin typeface="+mn-ea"/>
              </a:rPr>
              <a:t>발명자와 출원인 일치</a:t>
            </a:r>
            <a:r>
              <a:rPr lang="en-US" altLang="ko-KR" sz="900" dirty="0">
                <a:solidFill>
                  <a:schemeClr val="tx1"/>
                </a:solidFill>
                <a:latin typeface="+mn-ea"/>
              </a:rPr>
              <a:t>)</a:t>
            </a:r>
          </a:p>
          <a:p>
            <a:pPr marL="171450" indent="-171450">
              <a:buFont typeface="Wingdings" panose="05000000000000000000" pitchFamily="2" charset="2"/>
              <a:buChar char="§"/>
            </a:pPr>
            <a:r>
              <a:rPr lang="ko-KR" altLang="en-US" sz="900" dirty="0">
                <a:solidFill>
                  <a:schemeClr val="tx1"/>
                </a:solidFill>
                <a:latin typeface="+mn-ea"/>
              </a:rPr>
              <a:t>중소기업</a:t>
            </a:r>
            <a:endParaRPr lang="en-US" altLang="ko-KR" sz="900" dirty="0">
              <a:solidFill>
                <a:schemeClr val="tx1"/>
              </a:solidFill>
              <a:latin typeface="+mn-ea"/>
            </a:endParaRPr>
          </a:p>
        </p:txBody>
      </p:sp>
      <p:sp>
        <p:nvSpPr>
          <p:cNvPr id="146" name="직사각형 145">
            <a:extLst>
              <a:ext uri="{FF2B5EF4-FFF2-40B4-BE49-F238E27FC236}">
                <a16:creationId xmlns:a16="http://schemas.microsoft.com/office/drawing/2014/main" id="{178CB313-FF5D-4DB6-BBDE-43F9169F09B4}"/>
              </a:ext>
            </a:extLst>
          </p:cNvPr>
          <p:cNvSpPr/>
          <p:nvPr/>
        </p:nvSpPr>
        <p:spPr>
          <a:xfrm>
            <a:off x="9048647" y="2509179"/>
            <a:ext cx="2752293" cy="378008"/>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dirty="0">
                <a:solidFill>
                  <a:schemeClr val="tx1"/>
                </a:solidFill>
                <a:latin typeface="+mn-ea"/>
              </a:rPr>
              <a:t>첨단의료복합단지 육성에 관한 특별법에 따른 </a:t>
            </a:r>
            <a:r>
              <a:rPr lang="ko-KR" altLang="en-US" sz="900" dirty="0" err="1">
                <a:solidFill>
                  <a:schemeClr val="tx1"/>
                </a:solidFill>
                <a:latin typeface="+mn-ea"/>
              </a:rPr>
              <a:t>출원으로서</a:t>
            </a:r>
            <a:r>
              <a:rPr lang="ko-KR" altLang="en-US" sz="900" dirty="0">
                <a:solidFill>
                  <a:schemeClr val="tx1"/>
                </a:solidFill>
                <a:latin typeface="+mn-ea"/>
              </a:rPr>
              <a:t> </a:t>
            </a:r>
            <a:r>
              <a:rPr lang="ko-KR" altLang="en-US" sz="900" dirty="0" err="1">
                <a:solidFill>
                  <a:schemeClr val="tx1"/>
                </a:solidFill>
                <a:latin typeface="+mn-ea"/>
              </a:rPr>
              <a:t>출원료</a:t>
            </a:r>
            <a:r>
              <a:rPr lang="en-US" altLang="ko-KR" sz="900" dirty="0">
                <a:solidFill>
                  <a:schemeClr val="tx1"/>
                </a:solidFill>
                <a:latin typeface="+mn-ea"/>
              </a:rPr>
              <a:t> </a:t>
            </a:r>
            <a:r>
              <a:rPr lang="ko-KR" altLang="en-US" sz="900" dirty="0">
                <a:solidFill>
                  <a:schemeClr val="tx1"/>
                </a:solidFill>
                <a:latin typeface="+mn-ea"/>
              </a:rPr>
              <a:t>등 감면 받은 자와 동일</a:t>
            </a:r>
            <a:endParaRPr lang="en-US" altLang="ko-KR" sz="900" dirty="0">
              <a:solidFill>
                <a:schemeClr val="tx1"/>
              </a:solidFill>
              <a:latin typeface="+mn-ea"/>
            </a:endParaRPr>
          </a:p>
        </p:txBody>
      </p:sp>
      <p:sp>
        <p:nvSpPr>
          <p:cNvPr id="147" name="직사각형 146">
            <a:extLst>
              <a:ext uri="{FF2B5EF4-FFF2-40B4-BE49-F238E27FC236}">
                <a16:creationId xmlns:a16="http://schemas.microsoft.com/office/drawing/2014/main" id="{B377D2D7-EED4-426A-9524-271405376E2D}"/>
              </a:ext>
            </a:extLst>
          </p:cNvPr>
          <p:cNvSpPr/>
          <p:nvPr/>
        </p:nvSpPr>
        <p:spPr>
          <a:xfrm>
            <a:off x="9048647" y="2927692"/>
            <a:ext cx="2752293" cy="459065"/>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dirty="0">
                <a:solidFill>
                  <a:schemeClr val="tx1"/>
                </a:solidFill>
                <a:latin typeface="+mn-ea"/>
              </a:rPr>
              <a:t>첨단의료복합단지 육성에 관한 특별법에 따른 </a:t>
            </a:r>
            <a:r>
              <a:rPr lang="ko-KR" altLang="en-US" sz="900" dirty="0" err="1">
                <a:solidFill>
                  <a:schemeClr val="tx1"/>
                </a:solidFill>
                <a:latin typeface="+mn-ea"/>
              </a:rPr>
              <a:t>출원으로서</a:t>
            </a:r>
            <a:r>
              <a:rPr lang="ko-KR" altLang="en-US" sz="900" dirty="0">
                <a:solidFill>
                  <a:schemeClr val="tx1"/>
                </a:solidFill>
                <a:latin typeface="+mn-ea"/>
              </a:rPr>
              <a:t> </a:t>
            </a:r>
            <a:r>
              <a:rPr lang="ko-KR" altLang="en-US" sz="900" dirty="0" err="1">
                <a:solidFill>
                  <a:schemeClr val="tx1"/>
                </a:solidFill>
                <a:latin typeface="+mn-ea"/>
              </a:rPr>
              <a:t>출원료</a:t>
            </a:r>
            <a:r>
              <a:rPr lang="en-US" altLang="ko-KR" sz="900" dirty="0">
                <a:solidFill>
                  <a:schemeClr val="tx1"/>
                </a:solidFill>
                <a:latin typeface="+mn-ea"/>
              </a:rPr>
              <a:t> </a:t>
            </a:r>
            <a:r>
              <a:rPr lang="ko-KR" altLang="en-US" sz="900" dirty="0">
                <a:solidFill>
                  <a:schemeClr val="tx1"/>
                </a:solidFill>
                <a:latin typeface="+mn-ea"/>
              </a:rPr>
              <a:t>등 감면 받은 자와 동일</a:t>
            </a:r>
            <a:endParaRPr lang="en-US" altLang="ko-KR" sz="900" dirty="0">
              <a:solidFill>
                <a:schemeClr val="tx1"/>
              </a:solidFill>
              <a:latin typeface="+mn-ea"/>
            </a:endParaRPr>
          </a:p>
          <a:p>
            <a:pPr marL="171450" indent="-171450">
              <a:buFont typeface="Wingdings" panose="05000000000000000000" pitchFamily="2" charset="2"/>
              <a:buChar char="§"/>
            </a:pPr>
            <a:r>
              <a:rPr lang="ko-KR" altLang="en-US" sz="900" dirty="0">
                <a:solidFill>
                  <a:schemeClr val="tx1"/>
                </a:solidFill>
                <a:latin typeface="+mn-ea"/>
              </a:rPr>
              <a:t>중소기업이 사업개시일로부터 </a:t>
            </a:r>
            <a:r>
              <a:rPr lang="en-US" altLang="ko-KR" sz="900" dirty="0">
                <a:solidFill>
                  <a:schemeClr val="tx1"/>
                </a:solidFill>
                <a:latin typeface="+mn-ea"/>
              </a:rPr>
              <a:t>3</a:t>
            </a:r>
            <a:r>
              <a:rPr lang="ko-KR" altLang="en-US" sz="900" dirty="0">
                <a:solidFill>
                  <a:schemeClr val="tx1"/>
                </a:solidFill>
                <a:latin typeface="+mn-ea"/>
              </a:rPr>
              <a:t>년 이내 출원</a:t>
            </a:r>
            <a:r>
              <a:rPr lang="en-US" altLang="ko-KR" sz="900" dirty="0">
                <a:solidFill>
                  <a:schemeClr val="tx1"/>
                </a:solidFill>
                <a:latin typeface="+mn-ea"/>
              </a:rPr>
              <a:t>***</a:t>
            </a:r>
          </a:p>
        </p:txBody>
      </p:sp>
      <p:sp>
        <p:nvSpPr>
          <p:cNvPr id="150" name="직사각형 149">
            <a:extLst>
              <a:ext uri="{FF2B5EF4-FFF2-40B4-BE49-F238E27FC236}">
                <a16:creationId xmlns:a16="http://schemas.microsoft.com/office/drawing/2014/main" id="{EC48D401-464D-445B-BB3E-5E0F8FC97AA8}"/>
              </a:ext>
            </a:extLst>
          </p:cNvPr>
          <p:cNvSpPr/>
          <p:nvPr/>
        </p:nvSpPr>
        <p:spPr>
          <a:xfrm>
            <a:off x="9048647" y="3424049"/>
            <a:ext cx="2752293" cy="922387"/>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dirty="0">
                <a:solidFill>
                  <a:schemeClr val="tx1"/>
                </a:solidFill>
                <a:latin typeface="+mn-ea"/>
              </a:rPr>
              <a:t>첨단의료복합단지 육성에 관한 특별법에 따른 </a:t>
            </a:r>
            <a:r>
              <a:rPr lang="ko-KR" altLang="en-US" sz="900" dirty="0" err="1">
                <a:solidFill>
                  <a:schemeClr val="tx1"/>
                </a:solidFill>
                <a:latin typeface="+mn-ea"/>
              </a:rPr>
              <a:t>출원으로서</a:t>
            </a:r>
            <a:r>
              <a:rPr lang="ko-KR" altLang="en-US" sz="900" dirty="0">
                <a:solidFill>
                  <a:schemeClr val="tx1"/>
                </a:solidFill>
                <a:latin typeface="+mn-ea"/>
              </a:rPr>
              <a:t> </a:t>
            </a:r>
            <a:r>
              <a:rPr lang="ko-KR" altLang="en-US" sz="900" dirty="0" err="1">
                <a:solidFill>
                  <a:schemeClr val="tx1"/>
                </a:solidFill>
                <a:latin typeface="+mn-ea"/>
              </a:rPr>
              <a:t>출원료</a:t>
            </a:r>
            <a:r>
              <a:rPr lang="en-US" altLang="ko-KR" sz="900" dirty="0">
                <a:solidFill>
                  <a:schemeClr val="tx1"/>
                </a:solidFill>
                <a:latin typeface="+mn-ea"/>
              </a:rPr>
              <a:t> </a:t>
            </a:r>
            <a:r>
              <a:rPr lang="ko-KR" altLang="en-US" sz="900" dirty="0">
                <a:solidFill>
                  <a:schemeClr val="tx1"/>
                </a:solidFill>
                <a:latin typeface="+mn-ea"/>
              </a:rPr>
              <a:t>등 감면 받은 자와 동일</a:t>
            </a:r>
            <a:r>
              <a:rPr lang="en-US" altLang="ko-KR" sz="900" dirty="0">
                <a:solidFill>
                  <a:schemeClr val="tx1"/>
                </a:solidFill>
                <a:latin typeface="+mn-ea"/>
              </a:rPr>
              <a:t>(</a:t>
            </a:r>
            <a:r>
              <a:rPr lang="ko-KR" altLang="en-US" sz="900" dirty="0">
                <a:solidFill>
                  <a:schemeClr val="tx1"/>
                </a:solidFill>
                <a:latin typeface="+mn-ea"/>
              </a:rPr>
              <a:t>단</a:t>
            </a:r>
            <a:r>
              <a:rPr lang="en-US" altLang="ko-KR" sz="900" dirty="0">
                <a:solidFill>
                  <a:schemeClr val="tx1"/>
                </a:solidFill>
                <a:latin typeface="+mn-ea"/>
              </a:rPr>
              <a:t>, </a:t>
            </a:r>
            <a:r>
              <a:rPr lang="ko-KR" altLang="en-US" sz="900" dirty="0">
                <a:solidFill>
                  <a:schemeClr val="tx1"/>
                </a:solidFill>
                <a:latin typeface="+mn-ea"/>
              </a:rPr>
              <a:t>지방자치단체는 제외</a:t>
            </a:r>
            <a:r>
              <a:rPr lang="en-US" altLang="ko-KR" sz="900" dirty="0">
                <a:solidFill>
                  <a:schemeClr val="tx1"/>
                </a:solidFill>
                <a:latin typeface="+mn-ea"/>
              </a:rPr>
              <a:t>)</a:t>
            </a:r>
          </a:p>
        </p:txBody>
      </p:sp>
      <p:sp>
        <p:nvSpPr>
          <p:cNvPr id="151" name="직사각형 150">
            <a:extLst>
              <a:ext uri="{FF2B5EF4-FFF2-40B4-BE49-F238E27FC236}">
                <a16:creationId xmlns:a16="http://schemas.microsoft.com/office/drawing/2014/main" id="{6CE0CA90-9822-410C-A48A-69095A0E5B4B}"/>
              </a:ext>
            </a:extLst>
          </p:cNvPr>
          <p:cNvSpPr/>
          <p:nvPr/>
        </p:nvSpPr>
        <p:spPr>
          <a:xfrm>
            <a:off x="9048647" y="4383200"/>
            <a:ext cx="2752293" cy="405625"/>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dirty="0">
                <a:solidFill>
                  <a:schemeClr val="tx1"/>
                </a:solidFill>
                <a:latin typeface="+mn-ea"/>
              </a:rPr>
              <a:t>첨단의료복합단지 육성에 관한 특별법에 따른 </a:t>
            </a:r>
            <a:r>
              <a:rPr lang="ko-KR" altLang="en-US" sz="900" dirty="0" err="1">
                <a:solidFill>
                  <a:schemeClr val="tx1"/>
                </a:solidFill>
                <a:latin typeface="+mn-ea"/>
              </a:rPr>
              <a:t>출원으로서</a:t>
            </a:r>
            <a:r>
              <a:rPr lang="ko-KR" altLang="en-US" sz="900" dirty="0">
                <a:solidFill>
                  <a:schemeClr val="tx1"/>
                </a:solidFill>
                <a:latin typeface="+mn-ea"/>
              </a:rPr>
              <a:t> </a:t>
            </a:r>
            <a:r>
              <a:rPr lang="ko-KR" altLang="en-US" sz="900" dirty="0" err="1">
                <a:solidFill>
                  <a:schemeClr val="tx1"/>
                </a:solidFill>
                <a:latin typeface="+mn-ea"/>
              </a:rPr>
              <a:t>출원료</a:t>
            </a:r>
            <a:r>
              <a:rPr lang="en-US" altLang="ko-KR" sz="900" dirty="0">
                <a:solidFill>
                  <a:schemeClr val="tx1"/>
                </a:solidFill>
                <a:latin typeface="+mn-ea"/>
              </a:rPr>
              <a:t> </a:t>
            </a:r>
            <a:r>
              <a:rPr lang="ko-KR" altLang="en-US" sz="900" dirty="0">
                <a:solidFill>
                  <a:schemeClr val="tx1"/>
                </a:solidFill>
                <a:latin typeface="+mn-ea"/>
              </a:rPr>
              <a:t>등 감면 받은 자와 동일</a:t>
            </a:r>
            <a:endParaRPr lang="en-US" altLang="ko-KR" sz="900" dirty="0">
              <a:solidFill>
                <a:schemeClr val="tx1"/>
              </a:solidFill>
              <a:latin typeface="+mn-ea"/>
            </a:endParaRPr>
          </a:p>
        </p:txBody>
      </p:sp>
      <p:sp>
        <p:nvSpPr>
          <p:cNvPr id="152" name="모서리가 둥근 직사각형 48">
            <a:extLst>
              <a:ext uri="{FF2B5EF4-FFF2-40B4-BE49-F238E27FC236}">
                <a16:creationId xmlns:a16="http://schemas.microsoft.com/office/drawing/2014/main" id="{7AC9CB6D-51FF-4A13-B105-A766C5B8FEE7}"/>
              </a:ext>
            </a:extLst>
          </p:cNvPr>
          <p:cNvSpPr/>
          <p:nvPr/>
        </p:nvSpPr>
        <p:spPr>
          <a:xfrm>
            <a:off x="6431801" y="1026542"/>
            <a:ext cx="873727" cy="257546"/>
          </a:xfrm>
          <a:prstGeom prst="roundRect">
            <a:avLst>
              <a:gd name="adj" fmla="val 50000"/>
            </a:avLst>
          </a:prstGeom>
          <a:solidFill>
            <a:schemeClr val="tx1">
              <a:lumMod val="65000"/>
              <a:lumOff val="3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bg1"/>
                </a:solidFill>
              </a:rPr>
              <a:t>무효심판</a:t>
            </a:r>
          </a:p>
        </p:txBody>
      </p:sp>
      <p:sp>
        <p:nvSpPr>
          <p:cNvPr id="155" name="직사각형 154">
            <a:extLst>
              <a:ext uri="{FF2B5EF4-FFF2-40B4-BE49-F238E27FC236}">
                <a16:creationId xmlns:a16="http://schemas.microsoft.com/office/drawing/2014/main" id="{F2E58D0B-3453-46C9-9D7F-6DB1CAB50BF4}"/>
              </a:ext>
            </a:extLst>
          </p:cNvPr>
          <p:cNvSpPr/>
          <p:nvPr/>
        </p:nvSpPr>
        <p:spPr>
          <a:xfrm>
            <a:off x="6431801" y="1674926"/>
            <a:ext cx="873727" cy="791852"/>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r>
              <a:rPr lang="ko-KR" altLang="en-US" sz="900" dirty="0">
                <a:solidFill>
                  <a:schemeClr val="tx1"/>
                </a:solidFill>
                <a:latin typeface="+mn-ea"/>
              </a:rPr>
              <a:t>심사관</a:t>
            </a:r>
            <a:endParaRPr lang="en-US" altLang="ko-KR" sz="900" dirty="0">
              <a:solidFill>
                <a:schemeClr val="tx1"/>
              </a:solidFill>
              <a:latin typeface="+mn-ea"/>
            </a:endParaRPr>
          </a:p>
        </p:txBody>
      </p:sp>
      <p:sp>
        <p:nvSpPr>
          <p:cNvPr id="158" name="모서리가 둥근 직사각형 48">
            <a:extLst>
              <a:ext uri="{FF2B5EF4-FFF2-40B4-BE49-F238E27FC236}">
                <a16:creationId xmlns:a16="http://schemas.microsoft.com/office/drawing/2014/main" id="{736DC153-138A-4D82-B67F-9486E7287082}"/>
              </a:ext>
            </a:extLst>
          </p:cNvPr>
          <p:cNvSpPr/>
          <p:nvPr/>
        </p:nvSpPr>
        <p:spPr>
          <a:xfrm>
            <a:off x="5531318" y="1026542"/>
            <a:ext cx="873727" cy="257546"/>
          </a:xfrm>
          <a:prstGeom prst="roundRect">
            <a:avLst>
              <a:gd name="adj" fmla="val 50000"/>
            </a:avLst>
          </a:prstGeom>
          <a:solidFill>
            <a:schemeClr val="bg1">
              <a:lumMod val="6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chemeClr val="bg1"/>
                </a:solidFill>
              </a:rPr>
              <a:t>유지료</a:t>
            </a:r>
            <a:r>
              <a:rPr lang="en-US" altLang="ko-KR" sz="900" dirty="0">
                <a:solidFill>
                  <a:schemeClr val="bg1"/>
                </a:solidFill>
              </a:rPr>
              <a:t>(9</a:t>
            </a:r>
            <a:r>
              <a:rPr lang="ko-KR" altLang="en-US" sz="900" dirty="0">
                <a:solidFill>
                  <a:schemeClr val="bg1"/>
                </a:solidFill>
              </a:rPr>
              <a:t>년</a:t>
            </a:r>
            <a:r>
              <a:rPr lang="en-US" altLang="ko-KR" sz="900" dirty="0">
                <a:solidFill>
                  <a:schemeClr val="bg1"/>
                </a:solidFill>
              </a:rPr>
              <a:t>-)</a:t>
            </a:r>
            <a:endParaRPr lang="ko-KR" altLang="en-US" sz="900" dirty="0">
              <a:solidFill>
                <a:schemeClr val="bg1"/>
              </a:solidFill>
            </a:endParaRPr>
          </a:p>
        </p:txBody>
      </p:sp>
      <p:sp>
        <p:nvSpPr>
          <p:cNvPr id="162" name="모서리가 둥근 직사각형 48">
            <a:extLst>
              <a:ext uri="{FF2B5EF4-FFF2-40B4-BE49-F238E27FC236}">
                <a16:creationId xmlns:a16="http://schemas.microsoft.com/office/drawing/2014/main" id="{783FF420-BE0C-48E5-B8A0-8E1426DBFDD5}"/>
              </a:ext>
            </a:extLst>
          </p:cNvPr>
          <p:cNvSpPr/>
          <p:nvPr/>
        </p:nvSpPr>
        <p:spPr>
          <a:xfrm>
            <a:off x="389961" y="1026542"/>
            <a:ext cx="818753" cy="257546"/>
          </a:xfrm>
          <a:prstGeom prst="roundRect">
            <a:avLst>
              <a:gd name="adj" fmla="val 50000"/>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accent4">
                    <a:lumMod val="40000"/>
                    <a:lumOff val="60000"/>
                  </a:schemeClr>
                </a:solidFill>
              </a:rPr>
              <a:t>구 분</a:t>
            </a:r>
          </a:p>
        </p:txBody>
      </p:sp>
      <p:cxnSp>
        <p:nvCxnSpPr>
          <p:cNvPr id="32" name="직선 연결선 31">
            <a:extLst>
              <a:ext uri="{FF2B5EF4-FFF2-40B4-BE49-F238E27FC236}">
                <a16:creationId xmlns:a16="http://schemas.microsoft.com/office/drawing/2014/main" id="{92DAB9CB-9245-43B1-BEF4-5BFF10B69405}"/>
              </a:ext>
            </a:extLst>
          </p:cNvPr>
          <p:cNvCxnSpPr/>
          <p:nvPr/>
        </p:nvCxnSpPr>
        <p:spPr>
          <a:xfrm>
            <a:off x="94891" y="5201726"/>
            <a:ext cx="12097108"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31036541"/>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제목 8"/>
          <p:cNvSpPr>
            <a:spLocks noGrp="1"/>
          </p:cNvSpPr>
          <p:nvPr>
            <p:ph type="title"/>
          </p:nvPr>
        </p:nvSpPr>
        <p:spPr/>
        <p:txBody>
          <a:bodyPr/>
          <a:lstStyle/>
          <a:p>
            <a:r>
              <a:rPr lang="ko-KR" altLang="en-US" dirty="0"/>
              <a:t>참고노트</a:t>
            </a:r>
          </a:p>
        </p:txBody>
      </p:sp>
      <p:sp>
        <p:nvSpPr>
          <p:cNvPr id="19" name="텍스트 개체 틀 18"/>
          <p:cNvSpPr>
            <a:spLocks noGrp="1"/>
          </p:cNvSpPr>
          <p:nvPr>
            <p:ph type="body" sz="quarter" idx="13"/>
          </p:nvPr>
        </p:nvSpPr>
        <p:spPr/>
        <p:txBody>
          <a:bodyPr/>
          <a:lstStyle/>
          <a:p>
            <a:r>
              <a:rPr lang="ko-KR" altLang="en-US" dirty="0"/>
              <a:t>실무상 특허료 납부의 활용</a:t>
            </a:r>
          </a:p>
        </p:txBody>
      </p:sp>
      <p:graphicFrame>
        <p:nvGraphicFramePr>
          <p:cNvPr id="6" name="Group 72"/>
          <p:cNvGraphicFramePr>
            <a:graphicFrameLocks noGrp="1"/>
          </p:cNvGraphicFramePr>
          <p:nvPr/>
        </p:nvGraphicFramePr>
        <p:xfrm>
          <a:off x="335361" y="2110682"/>
          <a:ext cx="5633642" cy="1752020"/>
        </p:xfrm>
        <a:graphic>
          <a:graphicData uri="http://schemas.openxmlformats.org/drawingml/2006/table">
            <a:tbl>
              <a:tblPr>
                <a:tableStyleId>{BC89EF96-8CEA-46FF-86C4-4CE0E7609802}</a:tableStyleId>
              </a:tblPr>
              <a:tblGrid>
                <a:gridCol w="802658">
                  <a:extLst>
                    <a:ext uri="{9D8B030D-6E8A-4147-A177-3AD203B41FA5}">
                      <a16:colId xmlns:a16="http://schemas.microsoft.com/office/drawing/2014/main" val="20000"/>
                    </a:ext>
                  </a:extLst>
                </a:gridCol>
                <a:gridCol w="965950">
                  <a:extLst>
                    <a:ext uri="{9D8B030D-6E8A-4147-A177-3AD203B41FA5}">
                      <a16:colId xmlns:a16="http://schemas.microsoft.com/office/drawing/2014/main" val="20001"/>
                    </a:ext>
                  </a:extLst>
                </a:gridCol>
                <a:gridCol w="967184">
                  <a:extLst>
                    <a:ext uri="{9D8B030D-6E8A-4147-A177-3AD203B41FA5}">
                      <a16:colId xmlns:a16="http://schemas.microsoft.com/office/drawing/2014/main" val="20002"/>
                    </a:ext>
                  </a:extLst>
                </a:gridCol>
                <a:gridCol w="965950">
                  <a:extLst>
                    <a:ext uri="{9D8B030D-6E8A-4147-A177-3AD203B41FA5}">
                      <a16:colId xmlns:a16="http://schemas.microsoft.com/office/drawing/2014/main" val="20003"/>
                    </a:ext>
                  </a:extLst>
                </a:gridCol>
                <a:gridCol w="965950">
                  <a:extLst>
                    <a:ext uri="{9D8B030D-6E8A-4147-A177-3AD203B41FA5}">
                      <a16:colId xmlns:a16="http://schemas.microsoft.com/office/drawing/2014/main" val="20004"/>
                    </a:ext>
                  </a:extLst>
                </a:gridCol>
                <a:gridCol w="965950">
                  <a:extLst>
                    <a:ext uri="{9D8B030D-6E8A-4147-A177-3AD203B41FA5}">
                      <a16:colId xmlns:a16="http://schemas.microsoft.com/office/drawing/2014/main" val="20005"/>
                    </a:ext>
                  </a:extLst>
                </a:gridCol>
              </a:tblGrid>
              <a:tr h="179287">
                <a:tc row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a:ln>
                            <a:noFill/>
                          </a:ln>
                          <a:effectLst/>
                          <a:latin typeface="+mn-ea"/>
                          <a:ea typeface="+mn-ea"/>
                        </a:rPr>
                        <a:t>특허료</a:t>
                      </a:r>
                      <a:endParaRPr kumimoji="0" lang="ko-KR" altLang="en-US" sz="1000" b="0" i="0" u="none" strike="noStrike" cap="none" normalizeH="0" baseline="0" dirty="0">
                        <a:ln>
                          <a:noFill/>
                        </a:ln>
                        <a:solidFill>
                          <a:schemeClr val="bg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a:ln>
                            <a:noFill/>
                          </a:ln>
                          <a:effectLst/>
                          <a:latin typeface="+mn-ea"/>
                          <a:ea typeface="+mn-ea"/>
                        </a:rPr>
                        <a:t>등록료</a:t>
                      </a:r>
                      <a:endParaRPr kumimoji="0" lang="ko-KR" altLang="en-US" sz="1000" b="0" i="0" u="none" strike="noStrike" cap="none" normalizeH="0" baseline="0" dirty="0">
                        <a:ln>
                          <a:noFill/>
                        </a:ln>
                        <a:solidFill>
                          <a:schemeClr val="bg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gridSpan="4">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err="1">
                          <a:ln>
                            <a:noFill/>
                          </a:ln>
                          <a:effectLst/>
                          <a:latin typeface="+mn-ea"/>
                          <a:ea typeface="+mn-ea"/>
                        </a:rPr>
                        <a:t>연차료</a:t>
                      </a:r>
                      <a:endParaRPr kumimoji="0" lang="ko-KR" altLang="en-US" sz="1000" b="0" i="0" u="none" strike="noStrike" cap="none" normalizeH="0" baseline="0" dirty="0">
                        <a:ln>
                          <a:noFill/>
                        </a:ln>
                        <a:solidFill>
                          <a:schemeClr val="bg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0"/>
                  </a:ext>
                </a:extLst>
              </a:tr>
              <a:tr h="179287">
                <a:tc vMerge="1">
                  <a:txBody>
                    <a:bodyPr/>
                    <a:lstStyle/>
                    <a:p>
                      <a:pPr latinLnBrk="1"/>
                      <a:endParaRPr lang="ko-KR" altLang="en-US"/>
                    </a:p>
                  </a:txBody>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1-3</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bg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4-6</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bg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7-9</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bg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10-12</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bg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13-25</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bg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1"/>
                  </a:ext>
                </a:extLst>
              </a:tr>
              <a:tr h="64309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900" b="0" u="none" strike="noStrike" cap="none" normalizeH="0" baseline="0" dirty="0">
                          <a:ln>
                            <a:noFill/>
                          </a:ln>
                          <a:effectLst/>
                          <a:latin typeface="+mn-ea"/>
                          <a:ea typeface="+mn-ea"/>
                        </a:rPr>
                        <a:t>기본료</a:t>
                      </a:r>
                      <a:endParaRPr kumimoji="0" lang="ko-KR" altLang="en-US" sz="900" b="0" i="0" u="none" strike="noStrike" cap="none" normalizeH="0" baseline="0" dirty="0">
                        <a:ln>
                          <a:noFill/>
                        </a:ln>
                        <a:solidFill>
                          <a:schemeClr val="bg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13,000</a:t>
                      </a: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a:ln>
                            <a:noFill/>
                          </a:ln>
                          <a:effectLst/>
                          <a:latin typeface="+mn-ea"/>
                          <a:ea typeface="+mn-ea"/>
                        </a:rPr>
                        <a:t>원</a:t>
                      </a:r>
                      <a:r>
                        <a:rPr kumimoji="0" lang="en-US" altLang="ko-KR" sz="1000" b="0" u="none" strike="noStrike" cap="none" normalizeH="0" baseline="0" dirty="0">
                          <a:ln>
                            <a:noFill/>
                          </a:ln>
                          <a:effectLst/>
                          <a:latin typeface="+mn-ea"/>
                          <a:ea typeface="+mn-ea"/>
                        </a:rPr>
                        <a:t>/</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tx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36,000</a:t>
                      </a: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a:ln>
                            <a:noFill/>
                          </a:ln>
                          <a:effectLst/>
                          <a:latin typeface="+mn-ea"/>
                          <a:ea typeface="+mn-ea"/>
                        </a:rPr>
                        <a:t>원</a:t>
                      </a:r>
                      <a:r>
                        <a:rPr kumimoji="0" lang="en-US" altLang="ko-KR" sz="1000" b="0" u="none" strike="noStrike" cap="none" normalizeH="0" baseline="0" dirty="0">
                          <a:ln>
                            <a:noFill/>
                          </a:ln>
                          <a:effectLst/>
                          <a:latin typeface="+mn-ea"/>
                          <a:ea typeface="+mn-ea"/>
                        </a:rPr>
                        <a:t>/</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tx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90,000</a:t>
                      </a: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a:ln>
                            <a:noFill/>
                          </a:ln>
                          <a:effectLst/>
                          <a:latin typeface="+mn-ea"/>
                          <a:ea typeface="+mn-ea"/>
                        </a:rPr>
                        <a:t>원</a:t>
                      </a:r>
                      <a:r>
                        <a:rPr kumimoji="0" lang="en-US" altLang="ko-KR" sz="1000" b="0" u="none" strike="noStrike" cap="none" normalizeH="0" baseline="0" dirty="0">
                          <a:ln>
                            <a:noFill/>
                          </a:ln>
                          <a:effectLst/>
                          <a:latin typeface="+mn-ea"/>
                          <a:ea typeface="+mn-ea"/>
                        </a:rPr>
                        <a:t>/</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tx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216,000</a:t>
                      </a: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a:ln>
                            <a:noFill/>
                          </a:ln>
                          <a:effectLst/>
                          <a:latin typeface="+mn-ea"/>
                          <a:ea typeface="+mn-ea"/>
                        </a:rPr>
                        <a:t>원</a:t>
                      </a:r>
                      <a:r>
                        <a:rPr kumimoji="0" lang="en-US" altLang="ko-KR" sz="1000" b="0" u="none" strike="noStrike" cap="none" normalizeH="0" baseline="0" dirty="0">
                          <a:ln>
                            <a:noFill/>
                          </a:ln>
                          <a:effectLst/>
                          <a:latin typeface="+mn-ea"/>
                          <a:ea typeface="+mn-ea"/>
                        </a:rPr>
                        <a:t>/</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tx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324,000</a:t>
                      </a: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a:ln>
                            <a:noFill/>
                          </a:ln>
                          <a:effectLst/>
                          <a:latin typeface="+mn-ea"/>
                          <a:ea typeface="+mn-ea"/>
                        </a:rPr>
                        <a:t>원</a:t>
                      </a:r>
                      <a:r>
                        <a:rPr kumimoji="0" lang="en-US" altLang="ko-KR" sz="1000" b="0" u="none" strike="noStrike" cap="none" normalizeH="0" baseline="0" dirty="0">
                          <a:ln>
                            <a:noFill/>
                          </a:ln>
                          <a:effectLst/>
                          <a:latin typeface="+mn-ea"/>
                          <a:ea typeface="+mn-ea"/>
                        </a:rPr>
                        <a:t>/</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tx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r h="621327">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900" b="0" u="none" strike="noStrike" cap="none" normalizeH="0" baseline="0" dirty="0" err="1">
                          <a:ln>
                            <a:noFill/>
                          </a:ln>
                          <a:effectLst/>
                          <a:latin typeface="+mn-ea"/>
                          <a:ea typeface="+mn-ea"/>
                        </a:rPr>
                        <a:t>가산료</a:t>
                      </a:r>
                      <a:endParaRPr kumimoji="0" lang="ko-KR" altLang="en-US" sz="900" b="0" u="none" strike="noStrike" cap="none" normalizeH="0" baseline="0" dirty="0">
                        <a:ln>
                          <a:noFill/>
                        </a:ln>
                        <a:effectLst/>
                        <a:latin typeface="+mn-ea"/>
                        <a:ea typeface="+mn-ea"/>
                      </a:endParaRPr>
                    </a:p>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900" b="0" u="none" strike="noStrike" cap="none" normalizeH="0" baseline="0" dirty="0">
                          <a:ln>
                            <a:noFill/>
                          </a:ln>
                          <a:effectLst/>
                          <a:latin typeface="+mn-ea"/>
                          <a:ea typeface="+mn-ea"/>
                        </a:rPr>
                        <a:t>(</a:t>
                      </a:r>
                      <a:r>
                        <a:rPr kumimoji="0" lang="ko-KR" altLang="en-US" sz="900" b="0" u="none" strike="noStrike" cap="none" normalizeH="0" baseline="0" dirty="0" err="1">
                          <a:ln>
                            <a:noFill/>
                          </a:ln>
                          <a:effectLst/>
                          <a:latin typeface="+mn-ea"/>
                          <a:ea typeface="+mn-ea"/>
                        </a:rPr>
                        <a:t>청구항별</a:t>
                      </a:r>
                      <a:r>
                        <a:rPr kumimoji="0" lang="en-US" altLang="ko-KR" sz="900" b="0" u="none" strike="noStrike" cap="none" normalizeH="0" baseline="0" dirty="0">
                          <a:ln>
                            <a:noFill/>
                          </a:ln>
                          <a:effectLst/>
                          <a:latin typeface="+mn-ea"/>
                          <a:ea typeface="+mn-ea"/>
                        </a:rPr>
                        <a:t>)</a:t>
                      </a:r>
                      <a:endParaRPr kumimoji="0" lang="ko-KR" altLang="en-US" sz="900" b="0" i="0" u="none" strike="noStrike" cap="none" normalizeH="0" baseline="0" dirty="0">
                        <a:ln>
                          <a:noFill/>
                        </a:ln>
                        <a:solidFill>
                          <a:schemeClr val="bg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12,000</a:t>
                      </a: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a:ln>
                            <a:noFill/>
                          </a:ln>
                          <a:effectLst/>
                          <a:latin typeface="+mn-ea"/>
                          <a:ea typeface="+mn-ea"/>
                        </a:rPr>
                        <a:t>원</a:t>
                      </a:r>
                      <a:r>
                        <a:rPr kumimoji="0" lang="en-US" altLang="ko-KR" sz="1000" b="0" u="none" strike="noStrike" cap="none" normalizeH="0" baseline="0" dirty="0">
                          <a:ln>
                            <a:noFill/>
                          </a:ln>
                          <a:effectLst/>
                          <a:latin typeface="+mn-ea"/>
                          <a:ea typeface="+mn-ea"/>
                        </a:rPr>
                        <a:t>/</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tx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20,000</a:t>
                      </a: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a:ln>
                            <a:noFill/>
                          </a:ln>
                          <a:effectLst/>
                          <a:latin typeface="+mn-ea"/>
                          <a:ea typeface="+mn-ea"/>
                        </a:rPr>
                        <a:t>원</a:t>
                      </a:r>
                      <a:r>
                        <a:rPr kumimoji="0" lang="en-US" altLang="ko-KR" sz="1000" b="0" u="none" strike="noStrike" cap="none" normalizeH="0" baseline="0" dirty="0">
                          <a:ln>
                            <a:noFill/>
                          </a:ln>
                          <a:effectLst/>
                          <a:latin typeface="+mn-ea"/>
                          <a:ea typeface="+mn-ea"/>
                        </a:rPr>
                        <a:t>/</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tx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34,000</a:t>
                      </a: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a:ln>
                            <a:noFill/>
                          </a:ln>
                          <a:effectLst/>
                          <a:latin typeface="+mn-ea"/>
                          <a:ea typeface="+mn-ea"/>
                        </a:rPr>
                        <a:t>원</a:t>
                      </a:r>
                      <a:r>
                        <a:rPr kumimoji="0" lang="en-US" altLang="ko-KR" sz="1000" b="0" u="none" strike="noStrike" cap="none" normalizeH="0" baseline="0" dirty="0">
                          <a:ln>
                            <a:noFill/>
                          </a:ln>
                          <a:effectLst/>
                          <a:latin typeface="+mn-ea"/>
                          <a:ea typeface="+mn-ea"/>
                        </a:rPr>
                        <a:t>/</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tx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49,000</a:t>
                      </a: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a:ln>
                            <a:noFill/>
                          </a:ln>
                          <a:effectLst/>
                          <a:latin typeface="+mn-ea"/>
                          <a:ea typeface="+mn-ea"/>
                        </a:rPr>
                        <a:t>원</a:t>
                      </a:r>
                      <a:r>
                        <a:rPr kumimoji="0" lang="en-US" altLang="ko-KR" sz="1000" b="0" u="none" strike="noStrike" cap="none" normalizeH="0" baseline="0" dirty="0">
                          <a:ln>
                            <a:noFill/>
                          </a:ln>
                          <a:effectLst/>
                          <a:latin typeface="+mn-ea"/>
                          <a:ea typeface="+mn-ea"/>
                        </a:rPr>
                        <a:t>/</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tx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000" b="0" u="none" strike="noStrike" cap="none" normalizeH="0" baseline="0" dirty="0">
                          <a:ln>
                            <a:noFill/>
                          </a:ln>
                          <a:effectLst/>
                          <a:latin typeface="+mn-ea"/>
                          <a:ea typeface="+mn-ea"/>
                        </a:rPr>
                        <a:t>49,000</a:t>
                      </a: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000" b="0" u="none" strike="noStrike" cap="none" normalizeH="0" baseline="0" dirty="0">
                          <a:ln>
                            <a:noFill/>
                          </a:ln>
                          <a:effectLst/>
                          <a:latin typeface="+mn-ea"/>
                          <a:ea typeface="+mn-ea"/>
                        </a:rPr>
                        <a:t>원</a:t>
                      </a:r>
                      <a:r>
                        <a:rPr kumimoji="0" lang="en-US" altLang="ko-KR" sz="1000" b="0" u="none" strike="noStrike" cap="none" normalizeH="0" baseline="0" dirty="0">
                          <a:ln>
                            <a:noFill/>
                          </a:ln>
                          <a:effectLst/>
                          <a:latin typeface="+mn-ea"/>
                          <a:ea typeface="+mn-ea"/>
                        </a:rPr>
                        <a:t>/</a:t>
                      </a:r>
                      <a:r>
                        <a:rPr kumimoji="0" lang="ko-KR" altLang="en-US" sz="1000" b="0" u="none" strike="noStrike" cap="none" normalizeH="0" baseline="0" dirty="0">
                          <a:ln>
                            <a:noFill/>
                          </a:ln>
                          <a:effectLst/>
                          <a:latin typeface="+mn-ea"/>
                          <a:ea typeface="+mn-ea"/>
                        </a:rPr>
                        <a:t>년</a:t>
                      </a:r>
                      <a:endParaRPr kumimoji="0" lang="ko-KR" altLang="en-US" sz="1000" b="0" i="0" u="none" strike="noStrike" cap="none" normalizeH="0" baseline="0" dirty="0">
                        <a:ln>
                          <a:noFill/>
                        </a:ln>
                        <a:solidFill>
                          <a:schemeClr val="tx1"/>
                        </a:solidFill>
                        <a:effectLst/>
                        <a:latin typeface="+mn-ea"/>
                        <a:ea typeface="+mn-ea"/>
                      </a:endParaRPr>
                    </a:p>
                  </a:txBody>
                  <a:tcPr marL="121920" marR="121920" marT="45700" marB="45700"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grpSp>
        <p:nvGrpSpPr>
          <p:cNvPr id="21" name="그룹 20"/>
          <p:cNvGrpSpPr/>
          <p:nvPr/>
        </p:nvGrpSpPr>
        <p:grpSpPr>
          <a:xfrm>
            <a:off x="324590" y="4662298"/>
            <a:ext cx="5661343" cy="1872206"/>
            <a:chOff x="324590" y="4636897"/>
            <a:chExt cx="6635506" cy="1872206"/>
          </a:xfrm>
        </p:grpSpPr>
        <p:sp>
          <p:nvSpPr>
            <p:cNvPr id="8" name="직사각형 7"/>
            <p:cNvSpPr/>
            <p:nvPr/>
          </p:nvSpPr>
          <p:spPr>
            <a:xfrm>
              <a:off x="2570672" y="5121630"/>
              <a:ext cx="2187169" cy="1287153"/>
            </a:xfrm>
            <a:prstGeom prst="rect">
              <a:avLst/>
            </a:prstGeom>
            <a:solidFill>
              <a:schemeClr val="accent1">
                <a:lumMod val="20000"/>
                <a:lumOff val="80000"/>
                <a:alpha val="44000"/>
              </a:schemeClr>
            </a:solidFill>
            <a:ln>
              <a:solidFill>
                <a:schemeClr val="bg1">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ko-KR" altLang="en-US" sz="1600">
                <a:latin typeface="+mn-ea"/>
              </a:endParaRPr>
            </a:p>
          </p:txBody>
        </p:sp>
        <p:sp>
          <p:nvSpPr>
            <p:cNvPr id="10" name="직사각형 9"/>
            <p:cNvSpPr/>
            <p:nvPr/>
          </p:nvSpPr>
          <p:spPr>
            <a:xfrm>
              <a:off x="2576705" y="4636897"/>
              <a:ext cx="2172087" cy="340717"/>
            </a:xfrm>
            <a:prstGeom prst="rect">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ko-KR" altLang="en-US" sz="1600" dirty="0" err="1">
                  <a:solidFill>
                    <a:schemeClr val="tx1"/>
                  </a:solidFill>
                  <a:latin typeface="+mn-ea"/>
                </a:rPr>
                <a:t>일부유지</a:t>
              </a:r>
              <a:endParaRPr lang="ko-KR" altLang="en-US" sz="1600" dirty="0">
                <a:solidFill>
                  <a:schemeClr val="tx1"/>
                </a:solidFill>
                <a:latin typeface="+mn-ea"/>
              </a:endParaRPr>
            </a:p>
          </p:txBody>
        </p:sp>
        <p:sp>
          <p:nvSpPr>
            <p:cNvPr id="11" name="직사각형 10"/>
            <p:cNvSpPr/>
            <p:nvPr/>
          </p:nvSpPr>
          <p:spPr>
            <a:xfrm>
              <a:off x="4748791" y="4636897"/>
              <a:ext cx="2190188" cy="340717"/>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ko-KR" altLang="en-US" sz="1600" dirty="0">
                  <a:solidFill>
                    <a:schemeClr val="tx1"/>
                  </a:solidFill>
                  <a:latin typeface="+mn-ea"/>
                </a:rPr>
                <a:t>전부포기</a:t>
              </a:r>
            </a:p>
          </p:txBody>
        </p:sp>
        <p:sp>
          <p:nvSpPr>
            <p:cNvPr id="12" name="직사각형 11"/>
            <p:cNvSpPr/>
            <p:nvPr/>
          </p:nvSpPr>
          <p:spPr>
            <a:xfrm>
              <a:off x="324590" y="4636897"/>
              <a:ext cx="2246081" cy="340717"/>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ko-KR" altLang="en-US" sz="1600" dirty="0">
                  <a:solidFill>
                    <a:schemeClr val="tx1"/>
                  </a:solidFill>
                  <a:latin typeface="+mn-ea"/>
                </a:rPr>
                <a:t>전부유지</a:t>
              </a:r>
            </a:p>
          </p:txBody>
        </p:sp>
        <p:cxnSp>
          <p:nvCxnSpPr>
            <p:cNvPr id="13" name="직선 화살표 연결선 12"/>
            <p:cNvCxnSpPr/>
            <p:nvPr/>
          </p:nvCxnSpPr>
          <p:spPr>
            <a:xfrm>
              <a:off x="380483" y="6507211"/>
              <a:ext cx="6564531" cy="1892"/>
            </a:xfrm>
            <a:prstGeom prst="straightConnector1">
              <a:avLst/>
            </a:prstGeom>
            <a:ln w="19050">
              <a:solidFill>
                <a:schemeClr val="bg1">
                  <a:lumMod val="50000"/>
                </a:schemeClr>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 name="직선 화살표 연결선 13"/>
            <p:cNvCxnSpPr/>
            <p:nvPr/>
          </p:nvCxnSpPr>
          <p:spPr>
            <a:xfrm flipV="1">
              <a:off x="380483" y="5121629"/>
              <a:ext cx="3" cy="1385582"/>
            </a:xfrm>
            <a:prstGeom prst="straightConnector1">
              <a:avLst/>
            </a:prstGeom>
            <a:ln w="28575">
              <a:solidFill>
                <a:schemeClr val="bg1">
                  <a:lumMod val="50000"/>
                </a:schemeClr>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p:nvCxnSpPr>
          <p:spPr>
            <a:xfrm>
              <a:off x="392550" y="5547525"/>
              <a:ext cx="2090633" cy="1893"/>
            </a:xfrm>
            <a:prstGeom prst="line">
              <a:avLst/>
            </a:prstGeom>
            <a:ln w="22225">
              <a:solidFill>
                <a:srgbClr val="FF6600"/>
              </a:solidFill>
            </a:ln>
          </p:spPr>
          <p:style>
            <a:lnRef idx="1">
              <a:schemeClr val="accent1"/>
            </a:lnRef>
            <a:fillRef idx="0">
              <a:schemeClr val="accent1"/>
            </a:fillRef>
            <a:effectRef idx="0">
              <a:schemeClr val="accent1"/>
            </a:effectRef>
            <a:fontRef idx="minor">
              <a:schemeClr val="tx1"/>
            </a:fontRef>
          </p:style>
        </p:cxnSp>
        <p:cxnSp>
          <p:nvCxnSpPr>
            <p:cNvPr id="16" name="직선 연결선 15"/>
            <p:cNvCxnSpPr/>
            <p:nvPr/>
          </p:nvCxnSpPr>
          <p:spPr>
            <a:xfrm>
              <a:off x="4757842" y="6230851"/>
              <a:ext cx="2135887" cy="1892"/>
            </a:xfrm>
            <a:prstGeom prst="line">
              <a:avLst/>
            </a:prstGeom>
            <a:ln w="22225">
              <a:solidFill>
                <a:srgbClr val="FF6600"/>
              </a:solidFill>
            </a:ln>
          </p:spPr>
          <p:style>
            <a:lnRef idx="1">
              <a:schemeClr val="accent1"/>
            </a:lnRef>
            <a:fillRef idx="0">
              <a:schemeClr val="accent1"/>
            </a:fillRef>
            <a:effectRef idx="0">
              <a:schemeClr val="accent1"/>
            </a:effectRef>
            <a:fontRef idx="minor">
              <a:schemeClr val="tx1"/>
            </a:fontRef>
          </p:style>
        </p:cxnSp>
        <p:cxnSp>
          <p:nvCxnSpPr>
            <p:cNvPr id="17" name="직선 연결선 16"/>
            <p:cNvCxnSpPr/>
            <p:nvPr/>
          </p:nvCxnSpPr>
          <p:spPr>
            <a:xfrm>
              <a:off x="2465083" y="5547524"/>
              <a:ext cx="2292759" cy="683328"/>
            </a:xfrm>
            <a:prstGeom prst="line">
              <a:avLst/>
            </a:prstGeom>
            <a:ln w="22225">
              <a:solidFill>
                <a:srgbClr val="FF6600"/>
              </a:solidFill>
            </a:ln>
          </p:spPr>
          <p:style>
            <a:lnRef idx="1">
              <a:schemeClr val="accent1"/>
            </a:lnRef>
            <a:fillRef idx="0">
              <a:schemeClr val="accent1"/>
            </a:fillRef>
            <a:effectRef idx="0">
              <a:schemeClr val="accent1"/>
            </a:effectRef>
            <a:fontRef idx="minor">
              <a:schemeClr val="tx1"/>
            </a:fontRef>
          </p:style>
        </p:cxnSp>
        <p:sp>
          <p:nvSpPr>
            <p:cNvPr id="18" name="TextBox 109"/>
            <p:cNvSpPr txBox="1">
              <a:spLocks noChangeArrowheads="1"/>
            </p:cNvSpPr>
            <p:nvPr/>
          </p:nvSpPr>
          <p:spPr bwMode="auto">
            <a:xfrm>
              <a:off x="802834" y="5374404"/>
              <a:ext cx="1095093" cy="338554"/>
            </a:xfrm>
            <a:prstGeom prst="rect">
              <a:avLst/>
            </a:prstGeom>
            <a:solidFill>
              <a:srgbClr val="FF6600"/>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kumimoji="1" sz="1200" b="1">
                  <a:solidFill>
                    <a:schemeClr val="bg1"/>
                  </a:solidFill>
                  <a:latin typeface="Arial" pitchFamily="34" charset="0"/>
                  <a:ea typeface="맑은 고딕" pitchFamily="50" charset="-127"/>
                </a:defRPr>
              </a:lvl1pPr>
              <a:lvl2pPr marL="742950" indent="-285750" eaLnBrk="0" hangingPunct="0">
                <a:defRPr kumimoji="1" sz="1200" b="1">
                  <a:solidFill>
                    <a:schemeClr val="bg1"/>
                  </a:solidFill>
                  <a:latin typeface="Arial" pitchFamily="34" charset="0"/>
                  <a:ea typeface="맑은 고딕" pitchFamily="50" charset="-127"/>
                </a:defRPr>
              </a:lvl2pPr>
              <a:lvl3pPr marL="1143000" indent="-228600" eaLnBrk="0" hangingPunct="0">
                <a:defRPr kumimoji="1" sz="1200" b="1">
                  <a:solidFill>
                    <a:schemeClr val="bg1"/>
                  </a:solidFill>
                  <a:latin typeface="Arial" pitchFamily="34" charset="0"/>
                  <a:ea typeface="맑은 고딕" pitchFamily="50" charset="-127"/>
                </a:defRPr>
              </a:lvl3pPr>
              <a:lvl4pPr marL="1600200" indent="-228600" eaLnBrk="0" hangingPunct="0">
                <a:defRPr kumimoji="1" sz="1200" b="1">
                  <a:solidFill>
                    <a:schemeClr val="bg1"/>
                  </a:solidFill>
                  <a:latin typeface="Arial" pitchFamily="34" charset="0"/>
                  <a:ea typeface="맑은 고딕" pitchFamily="50" charset="-127"/>
                </a:defRPr>
              </a:lvl4pPr>
              <a:lvl5pPr marL="2057400" indent="-228600" eaLnBrk="0" hangingPunct="0">
                <a:defRPr kumimoji="1" sz="1200" b="1">
                  <a:solidFill>
                    <a:schemeClr val="bg1"/>
                  </a:solidFill>
                  <a:latin typeface="Arial" pitchFamily="34" charset="0"/>
                  <a:ea typeface="맑은 고딕" pitchFamily="50" charset="-127"/>
                </a:defRPr>
              </a:lvl5pPr>
              <a:lvl6pPr marL="25146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6pPr>
              <a:lvl7pPr marL="29718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7pPr>
              <a:lvl8pPr marL="34290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8pPr>
              <a:lvl9pPr marL="38862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9pPr>
            </a:lstStyle>
            <a:p>
              <a:pPr algn="ctr" eaLnBrk="1" hangingPunct="1"/>
              <a:r>
                <a:rPr lang="ko-KR" altLang="en-US" sz="1600" b="0" dirty="0">
                  <a:latin typeface="+mn-ea"/>
                  <a:ea typeface="+mn-ea"/>
                </a:rPr>
                <a:t>비용</a:t>
              </a:r>
            </a:p>
          </p:txBody>
        </p:sp>
        <p:sp>
          <p:nvSpPr>
            <p:cNvPr id="24" name="Freeform 35"/>
            <p:cNvSpPr>
              <a:spLocks/>
            </p:cNvSpPr>
            <p:nvPr/>
          </p:nvSpPr>
          <p:spPr bwMode="auto">
            <a:xfrm>
              <a:off x="392549" y="5390417"/>
              <a:ext cx="6567547" cy="944543"/>
            </a:xfrm>
            <a:custGeom>
              <a:avLst/>
              <a:gdLst>
                <a:gd name="T0" fmla="*/ 0 w 2177"/>
                <a:gd name="T1" fmla="*/ 2147483647 h 499"/>
                <a:gd name="T2" fmla="*/ 2147483647 w 2177"/>
                <a:gd name="T3" fmla="*/ 2147483647 h 499"/>
                <a:gd name="T4" fmla="*/ 2147483647 w 2177"/>
                <a:gd name="T5" fmla="*/ 0 h 499"/>
                <a:gd name="T6" fmla="*/ 2147483647 w 2177"/>
                <a:gd name="T7" fmla="*/ 0 h 499"/>
                <a:gd name="T8" fmla="*/ 0 60000 65536"/>
                <a:gd name="T9" fmla="*/ 0 60000 65536"/>
                <a:gd name="T10" fmla="*/ 0 60000 65536"/>
                <a:gd name="T11" fmla="*/ 0 60000 65536"/>
                <a:gd name="T12" fmla="*/ 0 w 2177"/>
                <a:gd name="T13" fmla="*/ 0 h 499"/>
                <a:gd name="T14" fmla="*/ 2177 w 2177"/>
                <a:gd name="T15" fmla="*/ 499 h 499"/>
              </a:gdLst>
              <a:ahLst/>
              <a:cxnLst>
                <a:cxn ang="T8">
                  <a:pos x="T0" y="T1"/>
                </a:cxn>
                <a:cxn ang="T9">
                  <a:pos x="T2" y="T3"/>
                </a:cxn>
                <a:cxn ang="T10">
                  <a:pos x="T4" y="T5"/>
                </a:cxn>
                <a:cxn ang="T11">
                  <a:pos x="T6" y="T7"/>
                </a:cxn>
              </a:cxnLst>
              <a:rect l="T12" t="T13" r="T14" b="T15"/>
              <a:pathLst>
                <a:path w="2177" h="499">
                  <a:moveTo>
                    <a:pt x="0" y="499"/>
                  </a:moveTo>
                  <a:lnTo>
                    <a:pt x="726" y="499"/>
                  </a:lnTo>
                  <a:lnTo>
                    <a:pt x="1451" y="0"/>
                  </a:lnTo>
                  <a:lnTo>
                    <a:pt x="2177" y="0"/>
                  </a:lnTo>
                </a:path>
              </a:pathLst>
            </a:custGeom>
            <a:noFill/>
            <a:ln w="22225" cap="flat" cmpd="sng">
              <a:solidFill>
                <a:srgbClr val="003366"/>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ko-KR" altLang="en-US" sz="1600">
                <a:latin typeface="+mn-ea"/>
              </a:endParaRPr>
            </a:p>
          </p:txBody>
        </p:sp>
        <p:sp>
          <p:nvSpPr>
            <p:cNvPr id="26" name="TextBox 108"/>
            <p:cNvSpPr txBox="1">
              <a:spLocks noChangeArrowheads="1"/>
            </p:cNvSpPr>
            <p:nvPr/>
          </p:nvSpPr>
          <p:spPr bwMode="auto">
            <a:xfrm>
              <a:off x="5327916" y="5221081"/>
              <a:ext cx="1095093" cy="338554"/>
            </a:xfrm>
            <a:prstGeom prst="rect">
              <a:avLst/>
            </a:prstGeom>
            <a:solidFill>
              <a:srgbClr val="003366"/>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kumimoji="1" sz="1200" b="1">
                  <a:solidFill>
                    <a:schemeClr val="bg1"/>
                  </a:solidFill>
                  <a:latin typeface="Arial" pitchFamily="34" charset="0"/>
                  <a:ea typeface="맑은 고딕" pitchFamily="50" charset="-127"/>
                </a:defRPr>
              </a:lvl1pPr>
              <a:lvl2pPr marL="742950" indent="-285750" eaLnBrk="0" hangingPunct="0">
                <a:defRPr kumimoji="1" sz="1200" b="1">
                  <a:solidFill>
                    <a:schemeClr val="bg1"/>
                  </a:solidFill>
                  <a:latin typeface="Arial" pitchFamily="34" charset="0"/>
                  <a:ea typeface="맑은 고딕" pitchFamily="50" charset="-127"/>
                </a:defRPr>
              </a:lvl2pPr>
              <a:lvl3pPr marL="1143000" indent="-228600" eaLnBrk="0" hangingPunct="0">
                <a:defRPr kumimoji="1" sz="1200" b="1">
                  <a:solidFill>
                    <a:schemeClr val="bg1"/>
                  </a:solidFill>
                  <a:latin typeface="Arial" pitchFamily="34" charset="0"/>
                  <a:ea typeface="맑은 고딕" pitchFamily="50" charset="-127"/>
                </a:defRPr>
              </a:lvl3pPr>
              <a:lvl4pPr marL="1600200" indent="-228600" eaLnBrk="0" hangingPunct="0">
                <a:defRPr kumimoji="1" sz="1200" b="1">
                  <a:solidFill>
                    <a:schemeClr val="bg1"/>
                  </a:solidFill>
                  <a:latin typeface="Arial" pitchFamily="34" charset="0"/>
                  <a:ea typeface="맑은 고딕" pitchFamily="50" charset="-127"/>
                </a:defRPr>
              </a:lvl4pPr>
              <a:lvl5pPr marL="2057400" indent="-228600" eaLnBrk="0" hangingPunct="0">
                <a:defRPr kumimoji="1" sz="1200" b="1">
                  <a:solidFill>
                    <a:schemeClr val="bg1"/>
                  </a:solidFill>
                  <a:latin typeface="Arial" pitchFamily="34" charset="0"/>
                  <a:ea typeface="맑은 고딕" pitchFamily="50" charset="-127"/>
                </a:defRPr>
              </a:lvl5pPr>
              <a:lvl6pPr marL="25146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6pPr>
              <a:lvl7pPr marL="29718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7pPr>
              <a:lvl8pPr marL="34290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8pPr>
              <a:lvl9pPr marL="3886200" indent="-228600" eaLnBrk="0" fontAlgn="base" hangingPunct="0">
                <a:spcBef>
                  <a:spcPct val="0"/>
                </a:spcBef>
                <a:spcAft>
                  <a:spcPct val="0"/>
                </a:spcAft>
                <a:defRPr kumimoji="1" sz="1200" b="1">
                  <a:solidFill>
                    <a:schemeClr val="bg1"/>
                  </a:solidFill>
                  <a:latin typeface="Arial" pitchFamily="34" charset="0"/>
                  <a:ea typeface="맑은 고딕" pitchFamily="50" charset="-127"/>
                </a:defRPr>
              </a:lvl9pPr>
            </a:lstStyle>
            <a:p>
              <a:pPr algn="ctr" eaLnBrk="1" hangingPunct="1"/>
              <a:r>
                <a:rPr lang="en-US" altLang="ko-KR" sz="1600" b="0" dirty="0">
                  <a:latin typeface="+mn-ea"/>
                  <a:ea typeface="+mn-ea"/>
                </a:rPr>
                <a:t>RISK</a:t>
              </a:r>
              <a:endParaRPr lang="ko-KR" altLang="en-US" sz="1600" b="0" dirty="0">
                <a:latin typeface="+mn-ea"/>
                <a:ea typeface="+mn-ea"/>
              </a:endParaRPr>
            </a:p>
          </p:txBody>
        </p:sp>
      </p:grpSp>
      <p:sp>
        <p:nvSpPr>
          <p:cNvPr id="27" name="내용 개체 틀 6"/>
          <p:cNvSpPr txBox="1">
            <a:spLocks/>
          </p:cNvSpPr>
          <p:nvPr/>
        </p:nvSpPr>
        <p:spPr bwMode="auto">
          <a:xfrm>
            <a:off x="6096001" y="4662297"/>
            <a:ext cx="5760640" cy="1888448"/>
          </a:xfrm>
          <a:prstGeom prst="rect">
            <a:avLst/>
          </a:prstGeom>
          <a:noFill/>
          <a:ln w="9525">
            <a:solidFill>
              <a:schemeClr val="bg1">
                <a:lumMod val="50000"/>
              </a:schemeClr>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rtlCol="0" anchor="ctr" anchorCtr="0" compatLnSpc="1">
            <a:prstTxWarp prst="textNoShape">
              <a:avLst/>
            </a:prstTxWarp>
            <a:normAutofit/>
          </a:bodyPr>
          <a:lst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buSzPct val="120000"/>
              <a:buFont typeface="Wingdings" pitchFamily="2" charset="2"/>
              <a:buChar char="§"/>
            </a:pPr>
            <a:r>
              <a:rPr lang="ko-KR" altLang="en-US" sz="1200" dirty="0">
                <a:solidFill>
                  <a:schemeClr val="tx2"/>
                </a:solidFill>
              </a:rPr>
              <a:t>시장은 예측 불가능하기 때문에 특허가 포기된 후 특허와 관련된 시장이 형성될 가능성이 항상 존재함</a:t>
            </a:r>
            <a:endParaRPr lang="en-US" altLang="ko-KR" sz="1200" dirty="0">
              <a:solidFill>
                <a:schemeClr val="tx2"/>
              </a:solidFill>
            </a:endParaRPr>
          </a:p>
          <a:p>
            <a:pPr>
              <a:lnSpc>
                <a:spcPct val="100000"/>
              </a:lnSpc>
              <a:buSzPct val="120000"/>
              <a:buFont typeface="Wingdings" pitchFamily="2" charset="2"/>
              <a:buChar char="§"/>
            </a:pPr>
            <a:r>
              <a:rPr lang="ko-KR" altLang="en-US" sz="1200" dirty="0">
                <a:solidFill>
                  <a:schemeClr val="tx2"/>
                </a:solidFill>
              </a:rPr>
              <a:t>그렇다고</a:t>
            </a:r>
            <a:r>
              <a:rPr lang="en-US" altLang="ko-KR" sz="1200" dirty="0">
                <a:solidFill>
                  <a:schemeClr val="tx2"/>
                </a:solidFill>
              </a:rPr>
              <a:t> </a:t>
            </a:r>
            <a:r>
              <a:rPr lang="ko-KR" altLang="en-US" sz="1200" dirty="0">
                <a:solidFill>
                  <a:schemeClr val="tx2"/>
                </a:solidFill>
              </a:rPr>
              <a:t>하여 특허를 계속 유지하고 있기에는 특허료가 누진세이다 보니 예산적인 측면에서 상당한 부담감이 됨</a:t>
            </a:r>
            <a:endParaRPr lang="en-US" altLang="ko-KR" sz="1200" dirty="0">
              <a:solidFill>
                <a:schemeClr val="tx2"/>
              </a:solidFill>
            </a:endParaRPr>
          </a:p>
          <a:p>
            <a:pPr>
              <a:lnSpc>
                <a:spcPct val="100000"/>
              </a:lnSpc>
              <a:buSzPct val="120000"/>
              <a:buFont typeface="Wingdings" pitchFamily="2" charset="2"/>
              <a:buChar char="§"/>
            </a:pPr>
            <a:r>
              <a:rPr lang="ko-KR" altLang="en-US" sz="1200" dirty="0">
                <a:solidFill>
                  <a:schemeClr val="tx2"/>
                </a:solidFill>
              </a:rPr>
              <a:t>일정기간 경과된 특허에 대하여 일부포기</a:t>
            </a:r>
            <a:r>
              <a:rPr lang="en-US" altLang="ko-KR" sz="1200" dirty="0">
                <a:solidFill>
                  <a:schemeClr val="tx2"/>
                </a:solidFill>
              </a:rPr>
              <a:t>/</a:t>
            </a:r>
            <a:r>
              <a:rPr lang="ko-KR" altLang="en-US" sz="1200" dirty="0" err="1">
                <a:solidFill>
                  <a:schemeClr val="tx2"/>
                </a:solidFill>
              </a:rPr>
              <a:t>일부유지를</a:t>
            </a:r>
            <a:r>
              <a:rPr lang="ko-KR" altLang="en-US" sz="1200" dirty="0">
                <a:solidFill>
                  <a:schemeClr val="tx2"/>
                </a:solidFill>
              </a:rPr>
              <a:t> 한다면 특허료를 줄일 수 있고</a:t>
            </a:r>
            <a:r>
              <a:rPr lang="en-US" altLang="ko-KR" sz="1200" dirty="0">
                <a:solidFill>
                  <a:schemeClr val="tx2"/>
                </a:solidFill>
              </a:rPr>
              <a:t>, </a:t>
            </a:r>
            <a:r>
              <a:rPr lang="ko-KR" altLang="en-US" sz="1200" dirty="0">
                <a:solidFill>
                  <a:schemeClr val="tx2"/>
                </a:solidFill>
              </a:rPr>
              <a:t>특허권도 그 동안 유지시킬 수 있는 장점이 있음</a:t>
            </a:r>
            <a:endParaRPr lang="en-US" altLang="ko-KR" sz="1200" dirty="0">
              <a:solidFill>
                <a:schemeClr val="tx2"/>
              </a:solidFill>
            </a:endParaRPr>
          </a:p>
        </p:txBody>
      </p:sp>
      <p:sp>
        <p:nvSpPr>
          <p:cNvPr id="23" name="내용 개체 틀 6"/>
          <p:cNvSpPr txBox="1">
            <a:spLocks/>
          </p:cNvSpPr>
          <p:nvPr/>
        </p:nvSpPr>
        <p:spPr bwMode="auto">
          <a:xfrm>
            <a:off x="6096000" y="2108222"/>
            <a:ext cx="5760640" cy="1735666"/>
          </a:xfrm>
          <a:prstGeom prst="rect">
            <a:avLst/>
          </a:prstGeom>
          <a:noFill/>
          <a:ln w="9525">
            <a:solidFill>
              <a:schemeClr val="bg1">
                <a:lumMod val="50000"/>
              </a:schemeClr>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rtlCol="0" anchor="ctr" anchorCtr="0" compatLnSpc="1">
            <a:prstTxWarp prst="textNoShape">
              <a:avLst/>
            </a:prstTxWarp>
            <a:noAutofit/>
          </a:bodyPr>
          <a:lstStyle>
            <a:lvl1pPr marL="0" indent="0" algn="l" defTabSz="914400" rtl="0" eaLnBrk="1" latinLnBrk="1" hangingPunct="1">
              <a:lnSpc>
                <a:spcPct val="90000"/>
              </a:lnSpc>
              <a:spcBef>
                <a:spcPts val="1000"/>
              </a:spcBef>
              <a:buFont typeface="Arial" panose="020B0604020202020204" pitchFamily="34" charset="0"/>
              <a:buNone/>
              <a:defRPr sz="2800" b="1" kern="1200">
                <a:solidFill>
                  <a:schemeClr val="accent3">
                    <a:lumMod val="50000"/>
                  </a:schemeClr>
                </a:solidFill>
                <a:latin typeface="Rix모던명조 B" panose="02020603020101020101" pitchFamily="18" charset="-127"/>
                <a:ea typeface="Rix모던명조 B" panose="02020603020101020101" pitchFamily="18" charset="-127"/>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1450" indent="-171450">
              <a:lnSpc>
                <a:spcPct val="100000"/>
              </a:lnSpc>
              <a:spcBef>
                <a:spcPts val="0"/>
              </a:spcBef>
              <a:buSzPct val="120000"/>
              <a:buFont typeface="Wingdings" pitchFamily="2" charset="2"/>
              <a:buChar char="§"/>
            </a:pPr>
            <a:r>
              <a:rPr lang="ko-KR" altLang="en-US" sz="1200" b="0" dirty="0">
                <a:solidFill>
                  <a:schemeClr val="tx2"/>
                </a:solidFill>
                <a:latin typeface="+mn-lt"/>
                <a:ea typeface="+mn-ea"/>
              </a:rPr>
              <a:t>특허료는 특허에 부과되는 세금으로서 처음 </a:t>
            </a:r>
            <a:r>
              <a:rPr lang="en-US" altLang="ko-KR" sz="1200" b="0" dirty="0">
                <a:solidFill>
                  <a:schemeClr val="tx2"/>
                </a:solidFill>
                <a:latin typeface="+mn-lt"/>
                <a:ea typeface="+mn-ea"/>
              </a:rPr>
              <a:t>3</a:t>
            </a:r>
            <a:r>
              <a:rPr lang="ko-KR" altLang="en-US" sz="1200" b="0" dirty="0" err="1">
                <a:solidFill>
                  <a:schemeClr val="tx2"/>
                </a:solidFill>
                <a:latin typeface="+mn-lt"/>
                <a:ea typeface="+mn-ea"/>
              </a:rPr>
              <a:t>년분을</a:t>
            </a:r>
            <a:r>
              <a:rPr lang="ko-KR" altLang="en-US" sz="1200" b="0" dirty="0">
                <a:solidFill>
                  <a:schemeClr val="tx2"/>
                </a:solidFill>
                <a:latin typeface="+mn-lt"/>
                <a:ea typeface="+mn-ea"/>
              </a:rPr>
              <a:t> 일괄납부 후</a:t>
            </a:r>
            <a:r>
              <a:rPr lang="en-US" altLang="ko-KR" sz="1200" b="0" dirty="0">
                <a:solidFill>
                  <a:schemeClr val="tx2"/>
                </a:solidFill>
                <a:latin typeface="+mn-lt"/>
                <a:ea typeface="+mn-ea"/>
              </a:rPr>
              <a:t>, 4</a:t>
            </a:r>
            <a:r>
              <a:rPr lang="ko-KR" altLang="en-US" sz="1200" b="0" dirty="0" err="1">
                <a:solidFill>
                  <a:schemeClr val="tx2"/>
                </a:solidFill>
                <a:latin typeface="+mn-lt"/>
                <a:ea typeface="+mn-ea"/>
              </a:rPr>
              <a:t>년차</a:t>
            </a:r>
            <a:r>
              <a:rPr lang="ko-KR" altLang="en-US" sz="1200" b="0" dirty="0">
                <a:solidFill>
                  <a:schemeClr val="tx2"/>
                </a:solidFill>
                <a:latin typeface="+mn-lt"/>
                <a:ea typeface="+mn-ea"/>
              </a:rPr>
              <a:t> 이후에는 </a:t>
            </a:r>
            <a:r>
              <a:rPr lang="en-US" altLang="ko-KR" sz="1200" b="0" dirty="0">
                <a:solidFill>
                  <a:schemeClr val="tx2"/>
                </a:solidFill>
                <a:latin typeface="+mn-lt"/>
                <a:ea typeface="+mn-ea"/>
              </a:rPr>
              <a:t>1</a:t>
            </a:r>
            <a:r>
              <a:rPr lang="ko-KR" altLang="en-US" sz="1200" b="0" dirty="0" err="1">
                <a:solidFill>
                  <a:schemeClr val="tx2"/>
                </a:solidFill>
                <a:latin typeface="+mn-lt"/>
                <a:ea typeface="+mn-ea"/>
              </a:rPr>
              <a:t>년분</a:t>
            </a:r>
            <a:r>
              <a:rPr lang="ko-KR" altLang="en-US" sz="1200" b="0" dirty="0">
                <a:solidFill>
                  <a:schemeClr val="tx2"/>
                </a:solidFill>
                <a:latin typeface="+mn-lt"/>
                <a:ea typeface="+mn-ea"/>
              </a:rPr>
              <a:t> 또는 일괄 납부 가능함</a:t>
            </a:r>
            <a:endParaRPr lang="en-US" altLang="ko-KR" sz="1200" b="0" dirty="0">
              <a:solidFill>
                <a:schemeClr val="tx2"/>
              </a:solidFill>
              <a:latin typeface="+mn-lt"/>
              <a:ea typeface="+mn-ea"/>
            </a:endParaRPr>
          </a:p>
          <a:p>
            <a:pPr marL="171450" indent="-171450">
              <a:lnSpc>
                <a:spcPct val="100000"/>
              </a:lnSpc>
              <a:spcBef>
                <a:spcPts val="0"/>
              </a:spcBef>
              <a:buSzPct val="120000"/>
              <a:buFont typeface="Wingdings" pitchFamily="2" charset="2"/>
              <a:buChar char="§"/>
            </a:pPr>
            <a:r>
              <a:rPr lang="ko-KR" altLang="en-US" sz="1200" b="0" dirty="0">
                <a:solidFill>
                  <a:schemeClr val="tx2"/>
                </a:solidFill>
                <a:latin typeface="+mn-lt"/>
                <a:ea typeface="+mn-ea"/>
              </a:rPr>
              <a:t>특허료는 </a:t>
            </a:r>
            <a:r>
              <a:rPr lang="ko-KR" altLang="en-US" sz="1200" b="0" dirty="0" err="1">
                <a:solidFill>
                  <a:schemeClr val="tx2"/>
                </a:solidFill>
                <a:latin typeface="+mn-lt"/>
                <a:ea typeface="+mn-ea"/>
              </a:rPr>
              <a:t>청구항</a:t>
            </a:r>
            <a:r>
              <a:rPr lang="ko-KR" altLang="en-US" sz="1200" b="0" dirty="0">
                <a:solidFill>
                  <a:schemeClr val="tx2"/>
                </a:solidFill>
                <a:latin typeface="+mn-lt"/>
                <a:ea typeface="+mn-ea"/>
              </a:rPr>
              <a:t> 수에 따라 가산됨</a:t>
            </a:r>
            <a:r>
              <a:rPr lang="en-US" altLang="ko-KR" sz="1200" b="0" dirty="0">
                <a:solidFill>
                  <a:schemeClr val="tx2"/>
                </a:solidFill>
                <a:latin typeface="+mn-lt"/>
                <a:ea typeface="+mn-ea"/>
              </a:rPr>
              <a:t>(</a:t>
            </a:r>
            <a:r>
              <a:rPr lang="ko-KR" altLang="en-US" sz="1200" b="0" dirty="0">
                <a:solidFill>
                  <a:schemeClr val="tx2"/>
                </a:solidFill>
                <a:latin typeface="+mn-lt"/>
                <a:ea typeface="+mn-ea"/>
              </a:rPr>
              <a:t>예를 들어</a:t>
            </a:r>
            <a:r>
              <a:rPr lang="en-US" altLang="ko-KR" sz="1200" b="0" dirty="0">
                <a:solidFill>
                  <a:schemeClr val="tx2"/>
                </a:solidFill>
                <a:latin typeface="+mn-lt"/>
                <a:ea typeface="+mn-ea"/>
              </a:rPr>
              <a:t>, </a:t>
            </a:r>
            <a:r>
              <a:rPr lang="ko-KR" altLang="en-US" sz="1200" b="0" dirty="0" err="1">
                <a:solidFill>
                  <a:schemeClr val="tx2"/>
                </a:solidFill>
                <a:latin typeface="+mn-lt"/>
                <a:ea typeface="+mn-ea"/>
              </a:rPr>
              <a:t>청구항</a:t>
            </a:r>
            <a:r>
              <a:rPr lang="ko-KR" altLang="en-US" sz="1200" b="0" dirty="0">
                <a:solidFill>
                  <a:schemeClr val="tx2"/>
                </a:solidFill>
                <a:latin typeface="+mn-lt"/>
                <a:ea typeface="+mn-ea"/>
              </a:rPr>
              <a:t> </a:t>
            </a:r>
            <a:r>
              <a:rPr lang="en-US" altLang="ko-KR" sz="1200" b="0" dirty="0">
                <a:solidFill>
                  <a:schemeClr val="tx2"/>
                </a:solidFill>
                <a:latin typeface="+mn-lt"/>
                <a:ea typeface="+mn-ea"/>
              </a:rPr>
              <a:t>15</a:t>
            </a:r>
            <a:r>
              <a:rPr lang="ko-KR" altLang="en-US" sz="1200" b="0" dirty="0">
                <a:solidFill>
                  <a:schemeClr val="tx2"/>
                </a:solidFill>
                <a:latin typeface="+mn-lt"/>
                <a:ea typeface="+mn-ea"/>
              </a:rPr>
              <a:t>항의 특허료인 경우</a:t>
            </a:r>
            <a:r>
              <a:rPr lang="en-US" altLang="ko-KR" sz="1200" b="0" dirty="0">
                <a:solidFill>
                  <a:schemeClr val="tx2"/>
                </a:solidFill>
                <a:latin typeface="+mn-lt"/>
                <a:ea typeface="+mn-ea"/>
              </a:rPr>
              <a:t> </a:t>
            </a:r>
            <a:r>
              <a:rPr lang="ko-KR" altLang="en-US" sz="1200" b="0" dirty="0" err="1">
                <a:solidFill>
                  <a:schemeClr val="tx2"/>
                </a:solidFill>
                <a:latin typeface="+mn-lt"/>
                <a:ea typeface="+mn-ea"/>
              </a:rPr>
              <a:t>설정등록료</a:t>
            </a:r>
            <a:r>
              <a:rPr lang="ko-KR" altLang="en-US" sz="1200" b="0" dirty="0">
                <a:solidFill>
                  <a:schemeClr val="tx2"/>
                </a:solidFill>
                <a:latin typeface="+mn-lt"/>
                <a:ea typeface="+mn-ea"/>
              </a:rPr>
              <a:t> </a:t>
            </a:r>
            <a:r>
              <a:rPr lang="en-US" altLang="ko-KR" sz="1200" b="0" dirty="0">
                <a:solidFill>
                  <a:schemeClr val="tx2"/>
                </a:solidFill>
                <a:latin typeface="+mn-lt"/>
                <a:ea typeface="+mn-ea"/>
              </a:rPr>
              <a:t>39,000+15x36,000=579,000</a:t>
            </a:r>
            <a:r>
              <a:rPr lang="ko-KR" altLang="en-US" sz="1200" b="0" dirty="0">
                <a:solidFill>
                  <a:schemeClr val="tx2"/>
                </a:solidFill>
                <a:latin typeface="+mn-lt"/>
                <a:ea typeface="+mn-ea"/>
              </a:rPr>
              <a:t>원</a:t>
            </a:r>
            <a:r>
              <a:rPr lang="en-US" altLang="ko-KR" sz="1200" b="0" dirty="0">
                <a:solidFill>
                  <a:schemeClr val="tx2"/>
                </a:solidFill>
                <a:latin typeface="+mn-lt"/>
                <a:ea typeface="+mn-ea"/>
              </a:rPr>
              <a:t>)</a:t>
            </a:r>
          </a:p>
          <a:p>
            <a:pPr marL="171450" indent="-171450">
              <a:lnSpc>
                <a:spcPct val="100000"/>
              </a:lnSpc>
              <a:spcBef>
                <a:spcPts val="0"/>
              </a:spcBef>
              <a:buSzPct val="120000"/>
              <a:buFont typeface="Wingdings" pitchFamily="2" charset="2"/>
              <a:buChar char="§"/>
            </a:pPr>
            <a:r>
              <a:rPr lang="ko-KR" altLang="en-US" sz="1200" b="0" dirty="0">
                <a:solidFill>
                  <a:schemeClr val="tx2"/>
                </a:solidFill>
                <a:latin typeface="+mn-lt"/>
                <a:ea typeface="+mn-ea"/>
              </a:rPr>
              <a:t>특허료는 존속기간이 지날수록 증가함</a:t>
            </a:r>
            <a:r>
              <a:rPr lang="en-US" altLang="ko-KR" sz="1200" b="0" dirty="0">
                <a:solidFill>
                  <a:schemeClr val="tx2"/>
                </a:solidFill>
                <a:latin typeface="+mn-lt"/>
                <a:ea typeface="+mn-ea"/>
              </a:rPr>
              <a:t>(</a:t>
            </a:r>
            <a:r>
              <a:rPr lang="ko-KR" altLang="en-US" sz="1200" b="0" dirty="0">
                <a:solidFill>
                  <a:schemeClr val="tx2"/>
                </a:solidFill>
                <a:latin typeface="+mn-lt"/>
                <a:ea typeface="+mn-ea"/>
              </a:rPr>
              <a:t>예를 들어</a:t>
            </a:r>
            <a:r>
              <a:rPr lang="en-US" altLang="ko-KR" sz="1200" b="0" dirty="0">
                <a:solidFill>
                  <a:schemeClr val="tx2"/>
                </a:solidFill>
                <a:latin typeface="+mn-lt"/>
                <a:ea typeface="+mn-ea"/>
              </a:rPr>
              <a:t>, </a:t>
            </a:r>
            <a:r>
              <a:rPr lang="en-US" altLang="ko-KR" sz="1200" b="0" dirty="0">
                <a:solidFill>
                  <a:srgbClr val="FF0000"/>
                </a:solidFill>
                <a:latin typeface="+mn-lt"/>
                <a:ea typeface="+mn-ea"/>
              </a:rPr>
              <a:t>7</a:t>
            </a:r>
            <a:r>
              <a:rPr lang="ko-KR" altLang="en-US" sz="1200" b="0" dirty="0" err="1">
                <a:solidFill>
                  <a:srgbClr val="FF0000"/>
                </a:solidFill>
                <a:latin typeface="+mn-lt"/>
                <a:ea typeface="+mn-ea"/>
              </a:rPr>
              <a:t>년차의</a:t>
            </a:r>
            <a:r>
              <a:rPr lang="ko-KR" altLang="en-US" sz="1200" b="0" dirty="0">
                <a:solidFill>
                  <a:srgbClr val="FF0000"/>
                </a:solidFill>
                <a:latin typeface="+mn-lt"/>
                <a:ea typeface="+mn-ea"/>
              </a:rPr>
              <a:t> 기본료는 </a:t>
            </a:r>
            <a:r>
              <a:rPr lang="en-US" altLang="ko-KR" sz="1200" b="0" dirty="0">
                <a:solidFill>
                  <a:srgbClr val="FF0000"/>
                </a:solidFill>
                <a:latin typeface="+mn-lt"/>
                <a:ea typeface="+mn-ea"/>
              </a:rPr>
              <a:t>4-6</a:t>
            </a:r>
            <a:r>
              <a:rPr lang="ko-KR" altLang="en-US" sz="1200" b="0" dirty="0" err="1">
                <a:solidFill>
                  <a:srgbClr val="FF0000"/>
                </a:solidFill>
                <a:latin typeface="+mn-lt"/>
                <a:ea typeface="+mn-ea"/>
              </a:rPr>
              <a:t>년차</a:t>
            </a:r>
            <a:r>
              <a:rPr lang="ko-KR" altLang="en-US" sz="1200" b="0" dirty="0">
                <a:solidFill>
                  <a:srgbClr val="FF0000"/>
                </a:solidFill>
                <a:latin typeface="+mn-lt"/>
                <a:ea typeface="+mn-ea"/>
              </a:rPr>
              <a:t> 기본료의 </a:t>
            </a:r>
            <a:r>
              <a:rPr lang="en-US" altLang="ko-KR" sz="1200" b="0" dirty="0">
                <a:solidFill>
                  <a:srgbClr val="FF0000"/>
                </a:solidFill>
                <a:latin typeface="+mn-lt"/>
                <a:ea typeface="+mn-ea"/>
              </a:rPr>
              <a:t>250%</a:t>
            </a:r>
            <a:r>
              <a:rPr lang="ko-KR" altLang="en-US" sz="1200" b="0" dirty="0">
                <a:solidFill>
                  <a:srgbClr val="FF0000"/>
                </a:solidFill>
                <a:latin typeface="+mn-lt"/>
                <a:ea typeface="+mn-ea"/>
              </a:rPr>
              <a:t>로 증가함</a:t>
            </a:r>
            <a:r>
              <a:rPr lang="en-US" altLang="ko-KR" sz="1200" b="0" dirty="0">
                <a:solidFill>
                  <a:schemeClr val="tx2"/>
                </a:solidFill>
                <a:latin typeface="+mn-lt"/>
                <a:ea typeface="+mn-ea"/>
              </a:rPr>
              <a:t>)</a:t>
            </a:r>
          </a:p>
          <a:p>
            <a:pPr marL="171450" indent="-171450">
              <a:lnSpc>
                <a:spcPct val="100000"/>
              </a:lnSpc>
              <a:spcBef>
                <a:spcPts val="0"/>
              </a:spcBef>
              <a:buSzPct val="120000"/>
              <a:buFont typeface="Wingdings" pitchFamily="2" charset="2"/>
              <a:buChar char="§"/>
            </a:pPr>
            <a:r>
              <a:rPr lang="ko-KR" altLang="en-US" sz="1200" b="0" dirty="0">
                <a:solidFill>
                  <a:schemeClr val="tx2"/>
                </a:solidFill>
                <a:latin typeface="+mn-lt"/>
                <a:ea typeface="+mn-ea"/>
              </a:rPr>
              <a:t>한정된 예산 내에서</a:t>
            </a:r>
            <a:r>
              <a:rPr lang="en-US" altLang="ko-KR" sz="1200" b="0" dirty="0">
                <a:solidFill>
                  <a:schemeClr val="tx2"/>
                </a:solidFill>
                <a:latin typeface="+mn-lt"/>
                <a:ea typeface="+mn-ea"/>
              </a:rPr>
              <a:t> </a:t>
            </a:r>
            <a:r>
              <a:rPr lang="ko-KR" altLang="en-US" sz="1200" b="0" dirty="0">
                <a:solidFill>
                  <a:schemeClr val="tx2"/>
                </a:solidFill>
                <a:latin typeface="+mn-lt"/>
                <a:ea typeface="+mn-ea"/>
              </a:rPr>
              <a:t>권리유지비용과 출원 및 등록에 관련된 비용을 적절하게 조절해야 함</a:t>
            </a:r>
            <a:endParaRPr lang="en-US" altLang="ko-KR" sz="1200" b="0" dirty="0">
              <a:solidFill>
                <a:schemeClr val="tx2"/>
              </a:solidFill>
              <a:latin typeface="+mn-lt"/>
              <a:ea typeface="+mn-ea"/>
            </a:endParaRPr>
          </a:p>
          <a:p>
            <a:pPr marL="171450" indent="-171450">
              <a:lnSpc>
                <a:spcPct val="100000"/>
              </a:lnSpc>
              <a:spcBef>
                <a:spcPts val="0"/>
              </a:spcBef>
              <a:buSzPct val="120000"/>
              <a:buFont typeface="Wingdings" pitchFamily="2" charset="2"/>
              <a:buChar char="§"/>
            </a:pPr>
            <a:r>
              <a:rPr lang="ko-KR" altLang="en-US" sz="1200" b="0" dirty="0">
                <a:solidFill>
                  <a:schemeClr val="tx2"/>
                </a:solidFill>
                <a:latin typeface="+mn-lt"/>
                <a:ea typeface="+mn-ea"/>
              </a:rPr>
              <a:t>따라서</a:t>
            </a:r>
            <a:r>
              <a:rPr lang="en-US" altLang="ko-KR" sz="1200" b="0" dirty="0">
                <a:solidFill>
                  <a:schemeClr val="tx2"/>
                </a:solidFill>
                <a:latin typeface="+mn-lt"/>
                <a:ea typeface="+mn-ea"/>
              </a:rPr>
              <a:t> </a:t>
            </a:r>
            <a:r>
              <a:rPr lang="ko-KR" altLang="en-US" sz="1200" b="0" dirty="0">
                <a:solidFill>
                  <a:schemeClr val="tx2"/>
                </a:solidFill>
                <a:latin typeface="+mn-lt"/>
                <a:ea typeface="+mn-ea"/>
              </a:rPr>
              <a:t>일정기간 경과한 경우에는 유지비절감을 위해 등록 포기</a:t>
            </a:r>
            <a:r>
              <a:rPr lang="en-US" altLang="ko-KR" sz="1200" b="0" dirty="0">
                <a:solidFill>
                  <a:schemeClr val="tx2"/>
                </a:solidFill>
                <a:latin typeface="+mn-lt"/>
                <a:ea typeface="+mn-ea"/>
              </a:rPr>
              <a:t>/</a:t>
            </a:r>
            <a:r>
              <a:rPr lang="ko-KR" altLang="en-US" sz="1200" b="0" dirty="0">
                <a:solidFill>
                  <a:schemeClr val="tx2"/>
                </a:solidFill>
                <a:latin typeface="+mn-lt"/>
                <a:ea typeface="+mn-ea"/>
              </a:rPr>
              <a:t>유지 여부를 결정할 필요가 있음</a:t>
            </a:r>
            <a:r>
              <a:rPr lang="en-US" altLang="ko-KR" sz="1200" b="0" dirty="0">
                <a:solidFill>
                  <a:schemeClr val="tx2"/>
                </a:solidFill>
                <a:latin typeface="+mn-lt"/>
                <a:ea typeface="+mn-ea"/>
              </a:rPr>
              <a:t>  </a:t>
            </a:r>
            <a:endParaRPr lang="ko-KR" altLang="en-US" sz="1200" b="0" dirty="0">
              <a:solidFill>
                <a:schemeClr val="tx2"/>
              </a:solidFill>
              <a:latin typeface="+mn-lt"/>
              <a:ea typeface="+mn-ea"/>
            </a:endParaRPr>
          </a:p>
        </p:txBody>
      </p:sp>
      <p:sp>
        <p:nvSpPr>
          <p:cNvPr id="28" name="Rectangle 5"/>
          <p:cNvSpPr>
            <a:spLocks noChangeArrowheads="1"/>
          </p:cNvSpPr>
          <p:nvPr/>
        </p:nvSpPr>
        <p:spPr bwMode="auto">
          <a:xfrm>
            <a:off x="195260" y="1606120"/>
            <a:ext cx="2832612"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특허료의 체계</a:t>
            </a:r>
          </a:p>
        </p:txBody>
      </p:sp>
      <p:cxnSp>
        <p:nvCxnSpPr>
          <p:cNvPr id="29" name="직선 연결선 28"/>
          <p:cNvCxnSpPr/>
          <p:nvPr/>
        </p:nvCxnSpPr>
        <p:spPr>
          <a:xfrm flipH="1">
            <a:off x="336431" y="4005694"/>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Rectangle 5"/>
          <p:cNvSpPr>
            <a:spLocks noChangeArrowheads="1"/>
          </p:cNvSpPr>
          <p:nvPr/>
        </p:nvSpPr>
        <p:spPr bwMode="auto">
          <a:xfrm>
            <a:off x="195260" y="4137653"/>
            <a:ext cx="2832612"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dirty="0" err="1">
                <a:solidFill>
                  <a:schemeClr val="bg1"/>
                </a:solidFill>
                <a:latin typeface="+mj-ea"/>
                <a:ea typeface="+mj-ea"/>
              </a:rPr>
              <a:t>일부유지전략</a:t>
            </a:r>
            <a:endParaRPr lang="ko-KR" altLang="en-US" sz="1600" b="0" dirty="0">
              <a:solidFill>
                <a:schemeClr val="bg1"/>
              </a:solidFill>
              <a:latin typeface="+mj-ea"/>
              <a:ea typeface="+mj-ea"/>
            </a:endParaRPr>
          </a:p>
        </p:txBody>
      </p:sp>
      <p:cxnSp>
        <p:nvCxnSpPr>
          <p:cNvPr id="31" name="직선 연결선 30"/>
          <p:cNvCxnSpPr/>
          <p:nvPr/>
        </p:nvCxnSpPr>
        <p:spPr>
          <a:xfrm>
            <a:off x="0" y="150588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77875" y="986046"/>
            <a:ext cx="11936323" cy="523220"/>
          </a:xfrm>
          <a:prstGeom prst="rect">
            <a:avLst/>
          </a:prstGeom>
          <a:noFill/>
        </p:spPr>
        <p:txBody>
          <a:bodyPr wrap="square" rtlCol="0">
            <a:spAutoFit/>
          </a:bodyPr>
          <a:lstStyle/>
          <a:p>
            <a:pPr fontAlgn="base"/>
            <a:r>
              <a:rPr lang="ko-KR" altLang="en-US" sz="1400" dirty="0">
                <a:solidFill>
                  <a:schemeClr val="tx2"/>
                </a:solidFill>
              </a:rPr>
              <a:t>특허료는 </a:t>
            </a:r>
            <a:r>
              <a:rPr lang="ko-KR" altLang="en-US" sz="1400" dirty="0" err="1">
                <a:solidFill>
                  <a:schemeClr val="tx2"/>
                </a:solidFill>
              </a:rPr>
              <a:t>청구항별</a:t>
            </a:r>
            <a:r>
              <a:rPr lang="ko-KR" altLang="en-US" sz="1400" dirty="0">
                <a:solidFill>
                  <a:schemeClr val="tx2"/>
                </a:solidFill>
              </a:rPr>
              <a:t> </a:t>
            </a:r>
            <a:r>
              <a:rPr lang="ko-KR" altLang="en-US" sz="1400" dirty="0" err="1">
                <a:solidFill>
                  <a:schemeClr val="tx2"/>
                </a:solidFill>
              </a:rPr>
              <a:t>가산료가</a:t>
            </a:r>
            <a:r>
              <a:rPr lang="ko-KR" altLang="en-US" sz="1400" dirty="0">
                <a:solidFill>
                  <a:schemeClr val="tx2"/>
                </a:solidFill>
              </a:rPr>
              <a:t> 산정되기 때문에 </a:t>
            </a:r>
            <a:r>
              <a:rPr lang="ko-KR" altLang="en-US" sz="1400" dirty="0" err="1">
                <a:solidFill>
                  <a:schemeClr val="tx2"/>
                </a:solidFill>
              </a:rPr>
              <a:t>청구항이</a:t>
            </a:r>
            <a:r>
              <a:rPr lang="ko-KR" altLang="en-US" sz="1400" dirty="0">
                <a:solidFill>
                  <a:schemeClr val="tx2"/>
                </a:solidFill>
              </a:rPr>
              <a:t> 많을수록 많은 특허료를 납부해야 한다</a:t>
            </a:r>
            <a:r>
              <a:rPr lang="en-US" altLang="ko-KR" sz="1400" dirty="0">
                <a:solidFill>
                  <a:schemeClr val="tx2"/>
                </a:solidFill>
              </a:rPr>
              <a:t>. </a:t>
            </a:r>
            <a:r>
              <a:rPr lang="ko-KR" altLang="en-US" sz="1400" dirty="0">
                <a:solidFill>
                  <a:schemeClr val="tx2"/>
                </a:solidFill>
              </a:rPr>
              <a:t>따라서 </a:t>
            </a:r>
            <a:r>
              <a:rPr lang="ko-KR" altLang="en-US" sz="1400" dirty="0" err="1">
                <a:solidFill>
                  <a:schemeClr val="tx2"/>
                </a:solidFill>
                <a:highlight>
                  <a:srgbClr val="FFFF00"/>
                </a:highlight>
              </a:rPr>
              <a:t>청구항별</a:t>
            </a:r>
            <a:r>
              <a:rPr lang="ko-KR" altLang="en-US" sz="1400" dirty="0">
                <a:solidFill>
                  <a:schemeClr val="tx2"/>
                </a:solidFill>
                <a:highlight>
                  <a:srgbClr val="FFFF00"/>
                </a:highlight>
              </a:rPr>
              <a:t> 일부 포기 제도를 활용</a:t>
            </a:r>
            <a:r>
              <a:rPr lang="ko-KR" altLang="en-US" sz="1400" dirty="0">
                <a:solidFill>
                  <a:schemeClr val="tx2"/>
                </a:solidFill>
              </a:rPr>
              <a:t>하여 점차적으로 특허료를 줄여 나가면서</a:t>
            </a:r>
            <a:r>
              <a:rPr lang="en-US" altLang="ko-KR" sz="1400" dirty="0">
                <a:solidFill>
                  <a:schemeClr val="tx2"/>
                </a:solidFill>
              </a:rPr>
              <a:t>, </a:t>
            </a:r>
            <a:r>
              <a:rPr lang="ko-KR" altLang="en-US" sz="1400" dirty="0">
                <a:solidFill>
                  <a:schemeClr val="tx2"/>
                </a:solidFill>
              </a:rPr>
              <a:t>특허권을 그 동안 </a:t>
            </a:r>
            <a:r>
              <a:rPr lang="ko-KR" altLang="en-US" sz="1400" dirty="0" err="1">
                <a:solidFill>
                  <a:schemeClr val="tx2"/>
                </a:solidFill>
              </a:rPr>
              <a:t>유지존속시키는</a:t>
            </a:r>
            <a:r>
              <a:rPr lang="ko-KR" altLang="en-US" sz="1400" dirty="0">
                <a:solidFill>
                  <a:schemeClr val="tx2"/>
                </a:solidFill>
              </a:rPr>
              <a:t> 전략이 필요하다</a:t>
            </a:r>
            <a:r>
              <a:rPr lang="en-US" altLang="ko-KR" sz="1400" dirty="0">
                <a:solidFill>
                  <a:schemeClr val="tx2"/>
                </a:solidFill>
              </a:rPr>
              <a:t>.</a:t>
            </a:r>
            <a:endParaRPr lang="ko-KR" altLang="en-US" sz="1400" dirty="0">
              <a:solidFill>
                <a:schemeClr val="tx2"/>
              </a:solidFill>
            </a:endParaRPr>
          </a:p>
        </p:txBody>
      </p:sp>
      <p:sp>
        <p:nvSpPr>
          <p:cNvPr id="2" name="슬라이드 번호 개체 틀 1"/>
          <p:cNvSpPr>
            <a:spLocks noGrp="1"/>
          </p:cNvSpPr>
          <p:nvPr>
            <p:ph type="sldNum" sz="quarter" idx="12"/>
          </p:nvPr>
        </p:nvSpPr>
        <p:spPr/>
        <p:txBody>
          <a:bodyPr/>
          <a:lstStyle/>
          <a:p>
            <a:r>
              <a:rPr lang="en-US" altLang="ko-KR"/>
              <a:t>292</a:t>
            </a:r>
            <a:endParaRPr lang="ko-KR" altLang="en-US"/>
          </a:p>
        </p:txBody>
      </p:sp>
    </p:spTree>
    <p:extLst>
      <p:ext uri="{BB962C8B-B14F-4D97-AF65-F5344CB8AC3E}">
        <p14:creationId xmlns:p14="http://schemas.microsoft.com/office/powerpoint/2010/main" val="1748717544"/>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104"/>
          <p:cNvSpPr>
            <a:spLocks noChangeArrowheads="1"/>
          </p:cNvSpPr>
          <p:nvPr/>
        </p:nvSpPr>
        <p:spPr bwMode="auto">
          <a:xfrm>
            <a:off x="821003" y="1164823"/>
            <a:ext cx="7819231" cy="5229225"/>
          </a:xfrm>
          <a:prstGeom prst="rightArrow">
            <a:avLst>
              <a:gd name="adj1" fmla="val 75602"/>
              <a:gd name="adj2" fmla="val 47043"/>
            </a:avLst>
          </a:prstGeom>
          <a:solidFill>
            <a:schemeClr val="bg1">
              <a:lumMod val="85000"/>
              <a:alpha val="70195"/>
            </a:schemeClr>
          </a:solidFill>
          <a:ln>
            <a:noFill/>
          </a:ln>
        </p:spPr>
        <p:txBody>
          <a:bodyPr wrap="none" anchor="ctr"/>
          <a:lstStyle/>
          <a:p>
            <a:endParaRPr lang="ko-KR" altLang="en-US">
              <a:latin typeface="+mn-ea"/>
            </a:endParaRPr>
          </a:p>
        </p:txBody>
      </p:sp>
      <p:sp>
        <p:nvSpPr>
          <p:cNvPr id="50" name="AutoShape 85"/>
          <p:cNvSpPr>
            <a:spLocks noChangeArrowheads="1"/>
          </p:cNvSpPr>
          <p:nvPr/>
        </p:nvSpPr>
        <p:spPr bwMode="auto">
          <a:xfrm>
            <a:off x="7103798" y="3199054"/>
            <a:ext cx="1485900" cy="360362"/>
          </a:xfrm>
          <a:prstGeom prst="roundRect">
            <a:avLst>
              <a:gd name="adj" fmla="val 16667"/>
            </a:avLst>
          </a:prstGeom>
          <a:solidFill>
            <a:schemeClr val="accent4">
              <a:lumMod val="60000"/>
              <a:lumOff val="40000"/>
            </a:schemeClr>
          </a:solidFill>
          <a:ln w="9525">
            <a:solidFill>
              <a:schemeClr val="bg1">
                <a:lumMod val="50000"/>
              </a:schemeClr>
            </a:solidFill>
            <a:round/>
            <a:headEnd/>
            <a:tailEnd/>
          </a:ln>
        </p:spPr>
        <p:txBody>
          <a:bodyPr wrap="none" anchor="ctr"/>
          <a:lstStyle/>
          <a:p>
            <a:pPr algn="ctr">
              <a:defRPr/>
            </a:pPr>
            <a:r>
              <a:rPr lang="ko-KR" altLang="en-US" sz="1000">
                <a:latin typeface="+mn-ea"/>
              </a:rPr>
              <a:t>특허권 전부유지</a:t>
            </a:r>
          </a:p>
        </p:txBody>
      </p:sp>
      <p:sp>
        <p:nvSpPr>
          <p:cNvPr id="51" name="AutoShape 86"/>
          <p:cNvSpPr>
            <a:spLocks noChangeArrowheads="1"/>
          </p:cNvSpPr>
          <p:nvPr/>
        </p:nvSpPr>
        <p:spPr bwMode="auto">
          <a:xfrm>
            <a:off x="7103798" y="3630854"/>
            <a:ext cx="1485900" cy="360362"/>
          </a:xfrm>
          <a:prstGeom prst="roundRect">
            <a:avLst>
              <a:gd name="adj" fmla="val 16667"/>
            </a:avLst>
          </a:prstGeom>
          <a:solidFill>
            <a:schemeClr val="accent4">
              <a:lumMod val="60000"/>
              <a:lumOff val="40000"/>
            </a:schemeClr>
          </a:solidFill>
          <a:ln w="9525">
            <a:solidFill>
              <a:schemeClr val="bg1">
                <a:lumMod val="50000"/>
              </a:schemeClr>
            </a:solidFill>
            <a:round/>
            <a:headEnd/>
            <a:tailEnd/>
          </a:ln>
        </p:spPr>
        <p:txBody>
          <a:bodyPr wrap="none" anchor="ctr"/>
          <a:lstStyle/>
          <a:p>
            <a:pPr algn="ctr">
              <a:defRPr/>
            </a:pPr>
            <a:r>
              <a:rPr lang="ko-KR" altLang="en-US" sz="1000">
                <a:latin typeface="+mn-ea"/>
              </a:rPr>
              <a:t>특허권 일부유지</a:t>
            </a:r>
          </a:p>
        </p:txBody>
      </p:sp>
      <p:sp>
        <p:nvSpPr>
          <p:cNvPr id="52" name="AutoShape 87"/>
          <p:cNvSpPr>
            <a:spLocks noChangeArrowheads="1"/>
          </p:cNvSpPr>
          <p:nvPr/>
        </p:nvSpPr>
        <p:spPr bwMode="auto">
          <a:xfrm>
            <a:off x="8687065" y="2767254"/>
            <a:ext cx="1344084" cy="360362"/>
          </a:xfrm>
          <a:prstGeom prst="roundRect">
            <a:avLst>
              <a:gd name="adj" fmla="val 16667"/>
            </a:avLst>
          </a:prstGeom>
          <a:solidFill>
            <a:schemeClr val="tx2">
              <a:lumMod val="60000"/>
              <a:lumOff val="40000"/>
            </a:schemeClr>
          </a:solidFill>
          <a:ln w="9525">
            <a:solidFill>
              <a:schemeClr val="bg1">
                <a:lumMod val="50000"/>
              </a:schemeClr>
            </a:solidFill>
            <a:round/>
            <a:headEnd/>
            <a:tailEnd/>
          </a:ln>
        </p:spPr>
        <p:txBody>
          <a:bodyPr wrap="none" anchor="ctr"/>
          <a:lstStyle/>
          <a:p>
            <a:pPr algn="ctr">
              <a:defRPr/>
            </a:pPr>
            <a:r>
              <a:rPr lang="ko-KR" altLang="en-US" sz="1000" dirty="0">
                <a:solidFill>
                  <a:schemeClr val="bg1"/>
                </a:solidFill>
                <a:latin typeface="+mn-ea"/>
              </a:rPr>
              <a:t>자산감소</a:t>
            </a:r>
            <a:endParaRPr lang="en-US" altLang="ko-KR" sz="1000" dirty="0">
              <a:solidFill>
                <a:schemeClr val="bg1"/>
              </a:solidFill>
              <a:latin typeface="+mn-ea"/>
            </a:endParaRPr>
          </a:p>
          <a:p>
            <a:pPr algn="ctr">
              <a:defRPr/>
            </a:pPr>
            <a:r>
              <a:rPr lang="en-US" altLang="ko-KR" sz="1000" dirty="0">
                <a:solidFill>
                  <a:schemeClr val="bg1"/>
                </a:solidFill>
                <a:latin typeface="+mn-ea"/>
              </a:rPr>
              <a:t>(</a:t>
            </a:r>
            <a:r>
              <a:rPr lang="ko-KR" altLang="en-US" sz="1000" dirty="0" err="1">
                <a:solidFill>
                  <a:schemeClr val="bg1"/>
                </a:solidFill>
                <a:latin typeface="+mn-ea"/>
              </a:rPr>
              <a:t>활용리스크</a:t>
            </a:r>
            <a:r>
              <a:rPr lang="en-US" altLang="ko-KR" sz="1000" dirty="0">
                <a:solidFill>
                  <a:schemeClr val="bg1"/>
                </a:solidFill>
                <a:latin typeface="+mn-ea"/>
              </a:rPr>
              <a:t>)</a:t>
            </a:r>
            <a:endParaRPr lang="ko-KR" altLang="en-US" sz="1000" dirty="0">
              <a:solidFill>
                <a:schemeClr val="bg1"/>
              </a:solidFill>
              <a:latin typeface="+mn-ea"/>
            </a:endParaRPr>
          </a:p>
        </p:txBody>
      </p:sp>
      <p:sp>
        <p:nvSpPr>
          <p:cNvPr id="53" name="AutoShape 88"/>
          <p:cNvSpPr>
            <a:spLocks noChangeArrowheads="1"/>
          </p:cNvSpPr>
          <p:nvPr/>
        </p:nvSpPr>
        <p:spPr bwMode="auto">
          <a:xfrm>
            <a:off x="10128515" y="2767254"/>
            <a:ext cx="1344083" cy="360362"/>
          </a:xfrm>
          <a:prstGeom prst="roundRect">
            <a:avLst>
              <a:gd name="adj" fmla="val 16667"/>
            </a:avLst>
          </a:prstGeom>
          <a:solidFill>
            <a:schemeClr val="tx2">
              <a:lumMod val="60000"/>
              <a:lumOff val="40000"/>
            </a:schemeClr>
          </a:solidFill>
          <a:ln w="9525">
            <a:solidFill>
              <a:schemeClr val="bg1">
                <a:lumMod val="50000"/>
              </a:schemeClr>
            </a:solidFill>
            <a:round/>
            <a:headEnd/>
            <a:tailEnd/>
          </a:ln>
        </p:spPr>
        <p:txBody>
          <a:bodyPr wrap="none" anchor="ctr"/>
          <a:lstStyle/>
          <a:p>
            <a:pPr algn="ctr">
              <a:defRPr/>
            </a:pPr>
            <a:r>
              <a:rPr lang="ko-KR" altLang="en-US" sz="1000" dirty="0">
                <a:solidFill>
                  <a:schemeClr val="bg1"/>
                </a:solidFill>
                <a:latin typeface="+mn-ea"/>
              </a:rPr>
              <a:t>특허료 부담</a:t>
            </a:r>
          </a:p>
        </p:txBody>
      </p:sp>
      <p:sp>
        <p:nvSpPr>
          <p:cNvPr id="54" name="AutoShape 89"/>
          <p:cNvSpPr>
            <a:spLocks noChangeArrowheads="1"/>
          </p:cNvSpPr>
          <p:nvPr/>
        </p:nvSpPr>
        <p:spPr bwMode="auto">
          <a:xfrm>
            <a:off x="8687065" y="3199054"/>
            <a:ext cx="1344084" cy="360362"/>
          </a:xfrm>
          <a:prstGeom prst="roundRect">
            <a:avLst>
              <a:gd name="adj" fmla="val 16667"/>
            </a:avLst>
          </a:prstGeom>
          <a:solidFill>
            <a:schemeClr val="bg1">
              <a:lumMod val="85000"/>
            </a:schemeClr>
          </a:solidFill>
          <a:ln w="9525">
            <a:solidFill>
              <a:schemeClr val="bg1">
                <a:lumMod val="50000"/>
              </a:schemeClr>
            </a:solidFill>
            <a:round/>
            <a:headEnd/>
            <a:tailEnd/>
          </a:ln>
        </p:spPr>
        <p:txBody>
          <a:bodyPr wrap="none" anchor="ctr"/>
          <a:lstStyle/>
          <a:p>
            <a:pPr algn="ctr">
              <a:defRPr/>
            </a:pPr>
            <a:r>
              <a:rPr lang="en-US" altLang="ko-KR" sz="1000">
                <a:latin typeface="+mn-ea"/>
              </a:rPr>
              <a:t>LOW</a:t>
            </a:r>
          </a:p>
        </p:txBody>
      </p:sp>
      <p:sp>
        <p:nvSpPr>
          <p:cNvPr id="55" name="AutoShape 90"/>
          <p:cNvSpPr>
            <a:spLocks noChangeArrowheads="1"/>
          </p:cNvSpPr>
          <p:nvPr/>
        </p:nvSpPr>
        <p:spPr bwMode="auto">
          <a:xfrm>
            <a:off x="10128515" y="3199054"/>
            <a:ext cx="1344083" cy="360362"/>
          </a:xfrm>
          <a:prstGeom prst="roundRect">
            <a:avLst>
              <a:gd name="adj" fmla="val 16667"/>
            </a:avLst>
          </a:prstGeom>
          <a:solidFill>
            <a:schemeClr val="bg1">
              <a:lumMod val="85000"/>
            </a:schemeClr>
          </a:solidFill>
          <a:ln w="9525">
            <a:solidFill>
              <a:schemeClr val="bg1">
                <a:lumMod val="50000"/>
              </a:schemeClr>
            </a:solidFill>
            <a:round/>
            <a:headEnd/>
            <a:tailEnd/>
          </a:ln>
        </p:spPr>
        <p:txBody>
          <a:bodyPr wrap="none" anchor="ctr"/>
          <a:lstStyle/>
          <a:p>
            <a:pPr algn="ctr">
              <a:defRPr/>
            </a:pPr>
            <a:r>
              <a:rPr lang="en-US" altLang="ko-KR" sz="1000">
                <a:latin typeface="+mn-ea"/>
              </a:rPr>
              <a:t>HIGH</a:t>
            </a:r>
          </a:p>
        </p:txBody>
      </p:sp>
      <p:sp>
        <p:nvSpPr>
          <p:cNvPr id="56" name="AutoShape 91"/>
          <p:cNvSpPr>
            <a:spLocks noChangeArrowheads="1"/>
          </p:cNvSpPr>
          <p:nvPr/>
        </p:nvSpPr>
        <p:spPr bwMode="auto">
          <a:xfrm>
            <a:off x="8687065" y="3630854"/>
            <a:ext cx="1344084" cy="360362"/>
          </a:xfrm>
          <a:prstGeom prst="roundRect">
            <a:avLst>
              <a:gd name="adj" fmla="val 16667"/>
            </a:avLst>
          </a:prstGeom>
          <a:solidFill>
            <a:srgbClr val="FF0000"/>
          </a:solidFill>
          <a:ln w="9525">
            <a:solidFill>
              <a:schemeClr val="bg1">
                <a:lumMod val="50000"/>
              </a:schemeClr>
            </a:solidFill>
            <a:round/>
            <a:headEnd/>
            <a:tailEnd/>
          </a:ln>
        </p:spPr>
        <p:txBody>
          <a:bodyPr wrap="none" anchor="ctr"/>
          <a:lstStyle/>
          <a:p>
            <a:pPr algn="ctr">
              <a:defRPr/>
            </a:pPr>
            <a:r>
              <a:rPr lang="en-US" altLang="ko-KR" sz="1000" b="1" dirty="0">
                <a:solidFill>
                  <a:schemeClr val="bg1"/>
                </a:solidFill>
                <a:latin typeface="+mn-ea"/>
              </a:rPr>
              <a:t>LOW</a:t>
            </a:r>
          </a:p>
        </p:txBody>
      </p:sp>
      <p:sp>
        <p:nvSpPr>
          <p:cNvPr id="57" name="AutoShape 92"/>
          <p:cNvSpPr>
            <a:spLocks noChangeArrowheads="1"/>
          </p:cNvSpPr>
          <p:nvPr/>
        </p:nvSpPr>
        <p:spPr bwMode="auto">
          <a:xfrm>
            <a:off x="10128515" y="3630854"/>
            <a:ext cx="1344083" cy="360362"/>
          </a:xfrm>
          <a:prstGeom prst="roundRect">
            <a:avLst>
              <a:gd name="adj" fmla="val 16667"/>
            </a:avLst>
          </a:prstGeom>
          <a:solidFill>
            <a:srgbClr val="FF0000"/>
          </a:solidFill>
          <a:ln w="9525">
            <a:solidFill>
              <a:schemeClr val="bg1">
                <a:lumMod val="50000"/>
              </a:schemeClr>
            </a:solidFill>
            <a:round/>
            <a:headEnd/>
            <a:tailEnd/>
          </a:ln>
        </p:spPr>
        <p:txBody>
          <a:bodyPr wrap="none" anchor="ctr"/>
          <a:lstStyle/>
          <a:p>
            <a:pPr algn="ctr">
              <a:defRPr/>
            </a:pPr>
            <a:r>
              <a:rPr lang="en-US" altLang="ko-KR" sz="1000" b="1">
                <a:solidFill>
                  <a:schemeClr val="bg1"/>
                </a:solidFill>
                <a:latin typeface="+mn-ea"/>
              </a:rPr>
              <a:t>LOW</a:t>
            </a:r>
          </a:p>
        </p:txBody>
      </p:sp>
      <p:sp>
        <p:nvSpPr>
          <p:cNvPr id="58" name="AutoShape 93"/>
          <p:cNvSpPr>
            <a:spLocks noChangeArrowheads="1"/>
          </p:cNvSpPr>
          <p:nvPr/>
        </p:nvSpPr>
        <p:spPr bwMode="auto">
          <a:xfrm>
            <a:off x="7103798" y="4064242"/>
            <a:ext cx="1485900" cy="360363"/>
          </a:xfrm>
          <a:prstGeom prst="roundRect">
            <a:avLst>
              <a:gd name="adj" fmla="val 16667"/>
            </a:avLst>
          </a:prstGeom>
          <a:solidFill>
            <a:schemeClr val="accent4">
              <a:lumMod val="60000"/>
              <a:lumOff val="40000"/>
            </a:schemeClr>
          </a:solidFill>
          <a:ln w="9525">
            <a:solidFill>
              <a:schemeClr val="bg1">
                <a:lumMod val="50000"/>
              </a:schemeClr>
            </a:solidFill>
            <a:round/>
            <a:headEnd/>
            <a:tailEnd/>
          </a:ln>
        </p:spPr>
        <p:txBody>
          <a:bodyPr wrap="none" anchor="ctr"/>
          <a:lstStyle/>
          <a:p>
            <a:pPr algn="ctr">
              <a:defRPr/>
            </a:pPr>
            <a:r>
              <a:rPr lang="ko-KR" altLang="en-US" sz="1000">
                <a:latin typeface="+mn-ea"/>
              </a:rPr>
              <a:t>특허권 포기</a:t>
            </a:r>
          </a:p>
        </p:txBody>
      </p:sp>
      <p:sp>
        <p:nvSpPr>
          <p:cNvPr id="60" name="AutoShape 95"/>
          <p:cNvSpPr>
            <a:spLocks noChangeArrowheads="1"/>
          </p:cNvSpPr>
          <p:nvPr/>
        </p:nvSpPr>
        <p:spPr bwMode="auto">
          <a:xfrm>
            <a:off x="8687065" y="4064242"/>
            <a:ext cx="1344084" cy="360363"/>
          </a:xfrm>
          <a:prstGeom prst="roundRect">
            <a:avLst>
              <a:gd name="adj" fmla="val 16667"/>
            </a:avLst>
          </a:prstGeom>
          <a:solidFill>
            <a:schemeClr val="bg1">
              <a:lumMod val="85000"/>
            </a:schemeClr>
          </a:solidFill>
          <a:ln w="9525">
            <a:solidFill>
              <a:schemeClr val="bg1">
                <a:lumMod val="50000"/>
              </a:schemeClr>
            </a:solidFill>
            <a:round/>
            <a:headEnd/>
            <a:tailEnd/>
          </a:ln>
        </p:spPr>
        <p:txBody>
          <a:bodyPr wrap="none" anchor="ctr"/>
          <a:lstStyle/>
          <a:p>
            <a:pPr algn="ctr">
              <a:defRPr/>
            </a:pPr>
            <a:r>
              <a:rPr lang="en-US" altLang="ko-KR" sz="1000">
                <a:latin typeface="+mn-ea"/>
              </a:rPr>
              <a:t>HIGH</a:t>
            </a:r>
          </a:p>
        </p:txBody>
      </p:sp>
      <p:sp>
        <p:nvSpPr>
          <p:cNvPr id="61" name="AutoShape 96"/>
          <p:cNvSpPr>
            <a:spLocks noChangeArrowheads="1"/>
          </p:cNvSpPr>
          <p:nvPr/>
        </p:nvSpPr>
        <p:spPr bwMode="auto">
          <a:xfrm>
            <a:off x="10128515" y="4064242"/>
            <a:ext cx="1344083" cy="360363"/>
          </a:xfrm>
          <a:prstGeom prst="roundRect">
            <a:avLst>
              <a:gd name="adj" fmla="val 16667"/>
            </a:avLst>
          </a:prstGeom>
          <a:solidFill>
            <a:schemeClr val="bg1">
              <a:lumMod val="85000"/>
            </a:schemeClr>
          </a:solidFill>
          <a:ln w="9525">
            <a:solidFill>
              <a:schemeClr val="bg1">
                <a:lumMod val="50000"/>
              </a:schemeClr>
            </a:solidFill>
            <a:round/>
            <a:headEnd/>
            <a:tailEnd/>
          </a:ln>
        </p:spPr>
        <p:txBody>
          <a:bodyPr wrap="none" anchor="ctr"/>
          <a:lstStyle/>
          <a:p>
            <a:pPr algn="ctr">
              <a:defRPr/>
            </a:pPr>
            <a:r>
              <a:rPr lang="en-US" altLang="ko-KR" sz="1000">
                <a:latin typeface="+mn-ea"/>
              </a:rPr>
              <a:t>LOW</a:t>
            </a:r>
          </a:p>
        </p:txBody>
      </p:sp>
      <p:sp>
        <p:nvSpPr>
          <p:cNvPr id="23" name="AutoShape 31"/>
          <p:cNvSpPr>
            <a:spLocks noChangeArrowheads="1"/>
          </p:cNvSpPr>
          <p:nvPr/>
        </p:nvSpPr>
        <p:spPr bwMode="auto">
          <a:xfrm>
            <a:off x="2745521" y="2013042"/>
            <a:ext cx="1698195" cy="431800"/>
          </a:xfrm>
          <a:prstGeom prst="roundRect">
            <a:avLst>
              <a:gd name="adj" fmla="val 16667"/>
            </a:avLst>
          </a:prstGeom>
          <a:solidFill>
            <a:schemeClr val="accent1">
              <a:lumMod val="20000"/>
              <a:lumOff val="80000"/>
            </a:schemeClr>
          </a:solidFill>
          <a:ln>
            <a:solidFill>
              <a:schemeClr val="bg1">
                <a:lumMod val="50000"/>
              </a:schemeClr>
            </a:solidFill>
            <a:headEnd/>
            <a:tailEnd/>
          </a:ln>
        </p:spPr>
        <p:style>
          <a:lnRef idx="1">
            <a:schemeClr val="accent2"/>
          </a:lnRef>
          <a:fillRef idx="3">
            <a:schemeClr val="accent2"/>
          </a:fillRef>
          <a:effectRef idx="2">
            <a:schemeClr val="accent2"/>
          </a:effectRef>
          <a:fontRef idx="minor">
            <a:schemeClr val="lt1"/>
          </a:fontRef>
        </p:style>
        <p:txBody>
          <a:bodyPr wrap="none" anchor="ctr"/>
          <a:lstStyle/>
          <a:p>
            <a:pPr algn="ctr">
              <a:defRPr/>
            </a:pPr>
            <a:r>
              <a:rPr lang="ko-KR" altLang="en-US" sz="1000" dirty="0" err="1">
                <a:solidFill>
                  <a:schemeClr val="tx1"/>
                </a:solidFill>
                <a:latin typeface="+mn-ea"/>
              </a:rPr>
              <a:t>특정년차</a:t>
            </a:r>
            <a:r>
              <a:rPr lang="ko-KR" altLang="en-US" sz="1000" dirty="0">
                <a:solidFill>
                  <a:schemeClr val="tx1"/>
                </a:solidFill>
                <a:latin typeface="+mn-ea"/>
              </a:rPr>
              <a:t> 경과한</a:t>
            </a:r>
          </a:p>
          <a:p>
            <a:pPr algn="ctr">
              <a:defRPr/>
            </a:pPr>
            <a:r>
              <a:rPr lang="ko-KR" altLang="en-US" sz="1000" dirty="0">
                <a:solidFill>
                  <a:schemeClr val="tx1"/>
                </a:solidFill>
                <a:latin typeface="+mn-ea"/>
              </a:rPr>
              <a:t>특허 추출</a:t>
            </a:r>
          </a:p>
        </p:txBody>
      </p:sp>
      <p:sp>
        <p:nvSpPr>
          <p:cNvPr id="25" name="AutoShape 33"/>
          <p:cNvSpPr>
            <a:spLocks noChangeArrowheads="1"/>
          </p:cNvSpPr>
          <p:nvPr/>
        </p:nvSpPr>
        <p:spPr bwMode="auto">
          <a:xfrm>
            <a:off x="2745521" y="2803816"/>
            <a:ext cx="1698195" cy="577850"/>
          </a:xfrm>
          <a:prstGeom prst="diamond">
            <a:avLst/>
          </a:prstGeom>
          <a:solidFill>
            <a:schemeClr val="accent2"/>
          </a:solidFill>
          <a:ln>
            <a:solidFill>
              <a:schemeClr val="bg1">
                <a:lumMod val="50000"/>
              </a:schemeClr>
            </a:solidFill>
            <a:headEnd/>
            <a:tailEnd/>
          </a:ln>
        </p:spPr>
        <p:style>
          <a:lnRef idx="1">
            <a:schemeClr val="accent2"/>
          </a:lnRef>
          <a:fillRef idx="3">
            <a:schemeClr val="accent2"/>
          </a:fillRef>
          <a:effectRef idx="2">
            <a:schemeClr val="accent2"/>
          </a:effectRef>
          <a:fontRef idx="minor">
            <a:schemeClr val="lt1"/>
          </a:fontRef>
        </p:style>
        <p:txBody>
          <a:bodyPr wrap="none" lIns="0" tIns="0" rIns="0" bIns="0" anchor="ctr"/>
          <a:lstStyle/>
          <a:p>
            <a:pPr algn="ctr">
              <a:defRPr/>
            </a:pPr>
            <a:r>
              <a:rPr lang="ko-KR" altLang="en-US" sz="1000" dirty="0">
                <a:solidFill>
                  <a:schemeClr val="tx1"/>
                </a:solidFill>
                <a:latin typeface="+mn-ea"/>
              </a:rPr>
              <a:t>특허심의</a:t>
            </a:r>
            <a:r>
              <a:rPr lang="en-US" altLang="ko-KR" sz="1000" dirty="0">
                <a:solidFill>
                  <a:schemeClr val="tx1"/>
                </a:solidFill>
                <a:latin typeface="+mn-ea"/>
              </a:rPr>
              <a:t>?</a:t>
            </a:r>
          </a:p>
        </p:txBody>
      </p:sp>
      <p:sp>
        <p:nvSpPr>
          <p:cNvPr id="28" name="AutoShape 34"/>
          <p:cNvSpPr>
            <a:spLocks noChangeArrowheads="1"/>
          </p:cNvSpPr>
          <p:nvPr/>
        </p:nvSpPr>
        <p:spPr bwMode="auto">
          <a:xfrm>
            <a:off x="1103446" y="4461066"/>
            <a:ext cx="1444441" cy="360362"/>
          </a:xfrm>
          <a:prstGeom prst="roundRect">
            <a:avLst>
              <a:gd name="adj" fmla="val 16667"/>
            </a:avLst>
          </a:prstGeom>
          <a:solidFill>
            <a:schemeClr val="accent1">
              <a:lumMod val="20000"/>
              <a:lumOff val="80000"/>
            </a:schemeClr>
          </a:solidFill>
          <a:ln>
            <a:solidFill>
              <a:schemeClr val="bg1">
                <a:lumMod val="50000"/>
              </a:schemeClr>
            </a:solidFill>
            <a:headEnd/>
            <a:tailEnd/>
          </a:ln>
        </p:spPr>
        <p:style>
          <a:lnRef idx="1">
            <a:schemeClr val="accent2"/>
          </a:lnRef>
          <a:fillRef idx="3">
            <a:schemeClr val="accent2"/>
          </a:fillRef>
          <a:effectRef idx="2">
            <a:schemeClr val="accent2"/>
          </a:effectRef>
          <a:fontRef idx="minor">
            <a:schemeClr val="lt1"/>
          </a:fontRef>
        </p:style>
        <p:txBody>
          <a:bodyPr wrap="none" anchor="ctr"/>
          <a:lstStyle/>
          <a:p>
            <a:pPr algn="ctr">
              <a:defRPr/>
            </a:pPr>
            <a:r>
              <a:rPr lang="ko-KR" altLang="en-US" sz="1000">
                <a:solidFill>
                  <a:schemeClr val="tx1"/>
                </a:solidFill>
                <a:latin typeface="+mn-ea"/>
              </a:rPr>
              <a:t>전체 연차료 </a:t>
            </a:r>
          </a:p>
          <a:p>
            <a:pPr algn="ctr">
              <a:defRPr/>
            </a:pPr>
            <a:r>
              <a:rPr lang="ko-KR" altLang="en-US" sz="1000">
                <a:solidFill>
                  <a:schemeClr val="tx1"/>
                </a:solidFill>
                <a:latin typeface="+mn-ea"/>
              </a:rPr>
              <a:t>납부</a:t>
            </a:r>
          </a:p>
        </p:txBody>
      </p:sp>
      <p:sp>
        <p:nvSpPr>
          <p:cNvPr id="29" name="AutoShape 35"/>
          <p:cNvSpPr>
            <a:spLocks noChangeArrowheads="1"/>
          </p:cNvSpPr>
          <p:nvPr/>
        </p:nvSpPr>
        <p:spPr bwMode="auto">
          <a:xfrm>
            <a:off x="1103446" y="5073942"/>
            <a:ext cx="1444441" cy="358775"/>
          </a:xfrm>
          <a:prstGeom prst="roundRect">
            <a:avLst>
              <a:gd name="adj" fmla="val 16667"/>
            </a:avLst>
          </a:prstGeom>
          <a:solidFill>
            <a:schemeClr val="accent4">
              <a:lumMod val="20000"/>
              <a:lumOff val="80000"/>
            </a:schemeClr>
          </a:solidFill>
          <a:ln>
            <a:solidFill>
              <a:schemeClr val="bg1">
                <a:lumMod val="50000"/>
              </a:schemeClr>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algn="ctr">
              <a:lnSpc>
                <a:spcPct val="110000"/>
              </a:lnSpc>
              <a:defRPr/>
            </a:pPr>
            <a:r>
              <a:rPr lang="ko-KR" altLang="en-US" sz="1000" dirty="0">
                <a:solidFill>
                  <a:schemeClr val="tx1"/>
                </a:solidFill>
                <a:latin typeface="+mn-ea"/>
              </a:rPr>
              <a:t>특허권 </a:t>
            </a:r>
          </a:p>
          <a:p>
            <a:pPr algn="ctr">
              <a:lnSpc>
                <a:spcPct val="110000"/>
              </a:lnSpc>
              <a:defRPr/>
            </a:pPr>
            <a:r>
              <a:rPr lang="ko-KR" altLang="en-US" sz="1000" dirty="0">
                <a:solidFill>
                  <a:schemeClr val="tx1"/>
                </a:solidFill>
                <a:latin typeface="+mn-ea"/>
              </a:rPr>
              <a:t>전부유지</a:t>
            </a:r>
          </a:p>
        </p:txBody>
      </p:sp>
      <p:sp>
        <p:nvSpPr>
          <p:cNvPr id="30" name="AutoShape 36"/>
          <p:cNvSpPr>
            <a:spLocks noChangeArrowheads="1"/>
          </p:cNvSpPr>
          <p:nvPr/>
        </p:nvSpPr>
        <p:spPr bwMode="auto">
          <a:xfrm>
            <a:off x="2872398" y="4461066"/>
            <a:ext cx="1444441" cy="360362"/>
          </a:xfrm>
          <a:prstGeom prst="roundRect">
            <a:avLst>
              <a:gd name="adj" fmla="val 16667"/>
            </a:avLst>
          </a:prstGeom>
          <a:solidFill>
            <a:schemeClr val="accent1">
              <a:lumMod val="20000"/>
              <a:lumOff val="80000"/>
            </a:schemeClr>
          </a:solidFill>
          <a:ln>
            <a:solidFill>
              <a:schemeClr val="bg1">
                <a:lumMod val="50000"/>
              </a:schemeClr>
            </a:solidFill>
            <a:headEnd/>
            <a:tailEnd/>
          </a:ln>
        </p:spPr>
        <p:style>
          <a:lnRef idx="1">
            <a:schemeClr val="accent2"/>
          </a:lnRef>
          <a:fillRef idx="3">
            <a:schemeClr val="accent2"/>
          </a:fillRef>
          <a:effectRef idx="2">
            <a:schemeClr val="accent2"/>
          </a:effectRef>
          <a:fontRef idx="minor">
            <a:schemeClr val="lt1"/>
          </a:fontRef>
        </p:style>
        <p:txBody>
          <a:bodyPr wrap="none" anchor="ctr"/>
          <a:lstStyle/>
          <a:p>
            <a:pPr algn="ctr">
              <a:defRPr/>
            </a:pPr>
            <a:r>
              <a:rPr lang="ko-KR" altLang="en-US" sz="1000">
                <a:solidFill>
                  <a:schemeClr val="tx1"/>
                </a:solidFill>
                <a:latin typeface="+mn-ea"/>
              </a:rPr>
              <a:t>일부 연차료 </a:t>
            </a:r>
          </a:p>
          <a:p>
            <a:pPr algn="ctr">
              <a:defRPr/>
            </a:pPr>
            <a:r>
              <a:rPr lang="ko-KR" altLang="en-US" sz="1000">
                <a:solidFill>
                  <a:schemeClr val="tx1"/>
                </a:solidFill>
                <a:latin typeface="+mn-ea"/>
              </a:rPr>
              <a:t>납부</a:t>
            </a:r>
          </a:p>
        </p:txBody>
      </p:sp>
      <p:sp>
        <p:nvSpPr>
          <p:cNvPr id="31" name="AutoShape 37"/>
          <p:cNvSpPr>
            <a:spLocks noChangeArrowheads="1"/>
          </p:cNvSpPr>
          <p:nvPr/>
        </p:nvSpPr>
        <p:spPr bwMode="auto">
          <a:xfrm>
            <a:off x="2872398" y="5073942"/>
            <a:ext cx="1444441" cy="358775"/>
          </a:xfrm>
          <a:prstGeom prst="roundRect">
            <a:avLst>
              <a:gd name="adj" fmla="val 16667"/>
            </a:avLst>
          </a:prstGeom>
          <a:solidFill>
            <a:schemeClr val="accent4">
              <a:lumMod val="20000"/>
              <a:lumOff val="80000"/>
            </a:schemeClr>
          </a:solidFill>
          <a:ln>
            <a:solidFill>
              <a:schemeClr val="bg1">
                <a:lumMod val="50000"/>
              </a:schemeClr>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algn="ctr">
              <a:lnSpc>
                <a:spcPct val="110000"/>
              </a:lnSpc>
              <a:defRPr/>
            </a:pPr>
            <a:r>
              <a:rPr lang="ko-KR" altLang="en-US" sz="1000">
                <a:solidFill>
                  <a:schemeClr val="tx1"/>
                </a:solidFill>
                <a:latin typeface="+mn-ea"/>
              </a:rPr>
              <a:t>특허권 </a:t>
            </a:r>
          </a:p>
          <a:p>
            <a:pPr algn="ctr">
              <a:lnSpc>
                <a:spcPct val="110000"/>
              </a:lnSpc>
              <a:defRPr/>
            </a:pPr>
            <a:r>
              <a:rPr lang="ko-KR" altLang="en-US" sz="1000">
                <a:solidFill>
                  <a:schemeClr val="tx1"/>
                </a:solidFill>
                <a:latin typeface="+mn-ea"/>
              </a:rPr>
              <a:t>일부유지</a:t>
            </a:r>
            <a:endParaRPr lang="en-US" altLang="ko-KR" sz="1000">
              <a:solidFill>
                <a:schemeClr val="tx1"/>
              </a:solidFill>
              <a:latin typeface="+mn-ea"/>
            </a:endParaRPr>
          </a:p>
        </p:txBody>
      </p:sp>
      <p:sp>
        <p:nvSpPr>
          <p:cNvPr id="32" name="AutoShape 38"/>
          <p:cNvSpPr>
            <a:spLocks noChangeArrowheads="1"/>
          </p:cNvSpPr>
          <p:nvPr/>
        </p:nvSpPr>
        <p:spPr bwMode="auto">
          <a:xfrm>
            <a:off x="2872398" y="3669004"/>
            <a:ext cx="1444441" cy="576263"/>
          </a:xfrm>
          <a:prstGeom prst="roundRect">
            <a:avLst>
              <a:gd name="adj" fmla="val 16667"/>
            </a:avLst>
          </a:prstGeom>
          <a:solidFill>
            <a:schemeClr val="accent1">
              <a:lumMod val="20000"/>
              <a:lumOff val="80000"/>
            </a:schemeClr>
          </a:solidFill>
          <a:ln>
            <a:solidFill>
              <a:schemeClr val="bg1">
                <a:lumMod val="50000"/>
              </a:schemeClr>
            </a:solidFill>
            <a:headEnd/>
            <a:tailEnd/>
          </a:ln>
        </p:spPr>
        <p:style>
          <a:lnRef idx="1">
            <a:schemeClr val="accent2"/>
          </a:lnRef>
          <a:fillRef idx="3">
            <a:schemeClr val="accent2"/>
          </a:fillRef>
          <a:effectRef idx="2">
            <a:schemeClr val="accent2"/>
          </a:effectRef>
          <a:fontRef idx="minor">
            <a:schemeClr val="lt1"/>
          </a:fontRef>
        </p:style>
        <p:txBody>
          <a:bodyPr anchor="ctr"/>
          <a:lstStyle/>
          <a:p>
            <a:pPr algn="ctr">
              <a:defRPr/>
            </a:pPr>
            <a:r>
              <a:rPr lang="ko-KR" altLang="en-US" sz="1000" dirty="0">
                <a:solidFill>
                  <a:schemeClr val="tx1"/>
                </a:solidFill>
                <a:latin typeface="+mn-ea"/>
              </a:rPr>
              <a:t>권리범위 </a:t>
            </a:r>
            <a:endParaRPr lang="en-US" altLang="ko-KR" sz="1000" dirty="0">
              <a:solidFill>
                <a:schemeClr val="tx1"/>
              </a:solidFill>
              <a:latin typeface="+mn-ea"/>
            </a:endParaRPr>
          </a:p>
          <a:p>
            <a:pPr algn="ctr">
              <a:defRPr/>
            </a:pPr>
            <a:r>
              <a:rPr lang="ko-KR" altLang="en-US" sz="1000" dirty="0">
                <a:solidFill>
                  <a:schemeClr val="tx1"/>
                </a:solidFill>
                <a:latin typeface="+mn-ea"/>
              </a:rPr>
              <a:t>협소한 </a:t>
            </a:r>
            <a:r>
              <a:rPr lang="ko-KR" altLang="en-US" sz="1000" dirty="0" err="1">
                <a:solidFill>
                  <a:schemeClr val="tx1"/>
                </a:solidFill>
                <a:latin typeface="+mn-ea"/>
              </a:rPr>
              <a:t>청구항</a:t>
            </a:r>
            <a:r>
              <a:rPr lang="ko-KR" altLang="en-US" sz="1000" dirty="0">
                <a:solidFill>
                  <a:schemeClr val="tx1"/>
                </a:solidFill>
                <a:latin typeface="+mn-ea"/>
              </a:rPr>
              <a:t> 선별</a:t>
            </a:r>
          </a:p>
        </p:txBody>
      </p:sp>
      <p:sp>
        <p:nvSpPr>
          <p:cNvPr id="36" name="AutoShape 41"/>
          <p:cNvSpPr>
            <a:spLocks noChangeArrowheads="1"/>
          </p:cNvSpPr>
          <p:nvPr/>
        </p:nvSpPr>
        <p:spPr bwMode="auto">
          <a:xfrm>
            <a:off x="4731629" y="4461066"/>
            <a:ext cx="1444441" cy="360362"/>
          </a:xfrm>
          <a:prstGeom prst="roundRect">
            <a:avLst>
              <a:gd name="adj" fmla="val 16667"/>
            </a:avLst>
          </a:prstGeom>
          <a:solidFill>
            <a:schemeClr val="accent1">
              <a:lumMod val="20000"/>
              <a:lumOff val="80000"/>
            </a:schemeClr>
          </a:solidFill>
          <a:ln>
            <a:solidFill>
              <a:schemeClr val="bg1">
                <a:lumMod val="50000"/>
              </a:schemeClr>
            </a:solidFill>
            <a:headEnd/>
            <a:tailEnd/>
          </a:ln>
        </p:spPr>
        <p:style>
          <a:lnRef idx="1">
            <a:schemeClr val="accent2"/>
          </a:lnRef>
          <a:fillRef idx="3">
            <a:schemeClr val="accent2"/>
          </a:fillRef>
          <a:effectRef idx="2">
            <a:schemeClr val="accent2"/>
          </a:effectRef>
          <a:fontRef idx="minor">
            <a:schemeClr val="lt1"/>
          </a:fontRef>
        </p:style>
        <p:txBody>
          <a:bodyPr wrap="none" anchor="ctr"/>
          <a:lstStyle/>
          <a:p>
            <a:pPr algn="ctr">
              <a:defRPr/>
            </a:pPr>
            <a:r>
              <a:rPr lang="ko-KR" altLang="en-US" sz="1000">
                <a:solidFill>
                  <a:schemeClr val="tx1"/>
                </a:solidFill>
                <a:latin typeface="+mn-ea"/>
              </a:rPr>
              <a:t>연차료 불납</a:t>
            </a:r>
          </a:p>
        </p:txBody>
      </p:sp>
      <p:sp>
        <p:nvSpPr>
          <p:cNvPr id="37" name="AutoShape 42"/>
          <p:cNvSpPr>
            <a:spLocks noChangeArrowheads="1"/>
          </p:cNvSpPr>
          <p:nvPr/>
        </p:nvSpPr>
        <p:spPr bwMode="auto">
          <a:xfrm>
            <a:off x="4731629" y="5073942"/>
            <a:ext cx="1444441" cy="358775"/>
          </a:xfrm>
          <a:prstGeom prst="roundRect">
            <a:avLst>
              <a:gd name="adj" fmla="val 16667"/>
            </a:avLst>
          </a:prstGeom>
          <a:solidFill>
            <a:schemeClr val="accent4">
              <a:lumMod val="20000"/>
              <a:lumOff val="80000"/>
            </a:schemeClr>
          </a:solidFill>
          <a:ln>
            <a:solidFill>
              <a:schemeClr val="bg1">
                <a:lumMod val="50000"/>
              </a:schemeClr>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algn="ctr">
              <a:lnSpc>
                <a:spcPct val="110000"/>
              </a:lnSpc>
              <a:defRPr/>
            </a:pPr>
            <a:r>
              <a:rPr lang="ko-KR" altLang="en-US" sz="1000">
                <a:solidFill>
                  <a:schemeClr val="tx1"/>
                </a:solidFill>
                <a:latin typeface="+mn-ea"/>
              </a:rPr>
              <a:t>특허권 포기</a:t>
            </a:r>
            <a:endParaRPr lang="en-US" altLang="ko-KR" sz="1000">
              <a:solidFill>
                <a:schemeClr val="tx1"/>
              </a:solidFill>
              <a:latin typeface="+mn-ea"/>
            </a:endParaRPr>
          </a:p>
        </p:txBody>
      </p:sp>
      <p:cxnSp>
        <p:nvCxnSpPr>
          <p:cNvPr id="39" name="AutoShape 45"/>
          <p:cNvCxnSpPr>
            <a:cxnSpLocks noChangeShapeType="1"/>
            <a:stCxn id="23" idx="2"/>
            <a:endCxn id="25" idx="0"/>
          </p:cNvCxnSpPr>
          <p:nvPr/>
        </p:nvCxnSpPr>
        <p:spPr bwMode="auto">
          <a:xfrm>
            <a:off x="3594619" y="2444842"/>
            <a:ext cx="0" cy="358974"/>
          </a:xfrm>
          <a:prstGeom prst="straightConnector1">
            <a:avLst/>
          </a:prstGeom>
          <a:noFill/>
          <a:ln w="19050">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cxnSp>
        <p:nvCxnSpPr>
          <p:cNvPr id="40" name="AutoShape 46"/>
          <p:cNvCxnSpPr>
            <a:cxnSpLocks noChangeShapeType="1"/>
            <a:stCxn id="25" idx="1"/>
            <a:endCxn id="28" idx="0"/>
          </p:cNvCxnSpPr>
          <p:nvPr/>
        </p:nvCxnSpPr>
        <p:spPr bwMode="auto">
          <a:xfrm rot="10800000" flipV="1">
            <a:off x="1825669" y="3092741"/>
            <a:ext cx="919855" cy="1368325"/>
          </a:xfrm>
          <a:prstGeom prst="bentConnector2">
            <a:avLst/>
          </a:prstGeom>
          <a:noFill/>
          <a:ln w="19050">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cxnSp>
        <p:nvCxnSpPr>
          <p:cNvPr id="45" name="AutoShape 51"/>
          <p:cNvCxnSpPr>
            <a:cxnSpLocks noChangeShapeType="1"/>
            <a:stCxn id="36" idx="2"/>
            <a:endCxn id="37" idx="0"/>
          </p:cNvCxnSpPr>
          <p:nvPr/>
        </p:nvCxnSpPr>
        <p:spPr bwMode="auto">
          <a:xfrm>
            <a:off x="5453849" y="4821429"/>
            <a:ext cx="0" cy="252513"/>
          </a:xfrm>
          <a:prstGeom prst="straightConnector1">
            <a:avLst/>
          </a:prstGeom>
          <a:noFill/>
          <a:ln w="19050">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cxnSp>
        <p:nvCxnSpPr>
          <p:cNvPr id="46" name="AutoShape 52"/>
          <p:cNvCxnSpPr>
            <a:cxnSpLocks noChangeShapeType="1"/>
            <a:stCxn id="25" idx="2"/>
            <a:endCxn id="32" idx="0"/>
          </p:cNvCxnSpPr>
          <p:nvPr/>
        </p:nvCxnSpPr>
        <p:spPr bwMode="auto">
          <a:xfrm rot="5400000">
            <a:off x="3451376" y="3524910"/>
            <a:ext cx="288925" cy="2441"/>
          </a:xfrm>
          <a:prstGeom prst="straightConnector1">
            <a:avLst/>
          </a:prstGeom>
          <a:noFill/>
          <a:ln w="19050">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cxnSp>
        <p:nvCxnSpPr>
          <p:cNvPr id="47" name="AutoShape 53"/>
          <p:cNvCxnSpPr>
            <a:cxnSpLocks noChangeShapeType="1"/>
            <a:stCxn id="32" idx="2"/>
            <a:endCxn id="30" idx="0"/>
          </p:cNvCxnSpPr>
          <p:nvPr/>
        </p:nvCxnSpPr>
        <p:spPr bwMode="auto">
          <a:xfrm>
            <a:off x="3594619" y="4245266"/>
            <a:ext cx="0" cy="215800"/>
          </a:xfrm>
          <a:prstGeom prst="straightConnector1">
            <a:avLst/>
          </a:prstGeom>
          <a:noFill/>
          <a:ln w="19050">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cxnSp>
        <p:nvCxnSpPr>
          <p:cNvPr id="48" name="AutoShape 54"/>
          <p:cNvCxnSpPr>
            <a:cxnSpLocks noChangeShapeType="1"/>
            <a:stCxn id="30" idx="2"/>
            <a:endCxn id="31" idx="0"/>
          </p:cNvCxnSpPr>
          <p:nvPr/>
        </p:nvCxnSpPr>
        <p:spPr bwMode="auto">
          <a:xfrm>
            <a:off x="3594619" y="4821429"/>
            <a:ext cx="0" cy="252513"/>
          </a:xfrm>
          <a:prstGeom prst="straightConnector1">
            <a:avLst/>
          </a:prstGeom>
          <a:noFill/>
          <a:ln w="19050">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cxnSp>
        <p:nvCxnSpPr>
          <p:cNvPr id="49" name="AutoShape 55"/>
          <p:cNvCxnSpPr>
            <a:cxnSpLocks noChangeShapeType="1"/>
            <a:stCxn id="28" idx="2"/>
            <a:endCxn id="29" idx="0"/>
          </p:cNvCxnSpPr>
          <p:nvPr/>
        </p:nvCxnSpPr>
        <p:spPr bwMode="auto">
          <a:xfrm>
            <a:off x="1825667" y="4821429"/>
            <a:ext cx="0" cy="252513"/>
          </a:xfrm>
          <a:prstGeom prst="straightConnector1">
            <a:avLst/>
          </a:prstGeom>
          <a:noFill/>
          <a:ln w="19050">
            <a:solidFill>
              <a:schemeClr val="bg1">
                <a:lumMod val="50000"/>
              </a:schemeClr>
            </a:solidFill>
            <a:round/>
            <a:headEnd/>
            <a:tailEnd type="triangle" w="med" len="med"/>
          </a:ln>
          <a:extLst>
            <a:ext uri="{909E8E84-426E-40DD-AFC4-6F175D3DCCD1}">
              <a14:hiddenFill xmlns:a14="http://schemas.microsoft.com/office/drawing/2010/main">
                <a:noFill/>
              </a14:hiddenFill>
            </a:ext>
          </a:extLst>
        </p:spPr>
      </p:cxnSp>
      <p:sp>
        <p:nvSpPr>
          <p:cNvPr id="64" name="직사각형 23"/>
          <p:cNvSpPr>
            <a:spLocks noChangeArrowheads="1"/>
          </p:cNvSpPr>
          <p:nvPr/>
        </p:nvSpPr>
        <p:spPr bwMode="auto">
          <a:xfrm>
            <a:off x="1825667" y="2678404"/>
            <a:ext cx="1327324" cy="396875"/>
          </a:xfrm>
          <a:prstGeom prst="rect">
            <a:avLst/>
          </a:prstGeom>
          <a:noFill/>
          <a:ln w="9525">
            <a:noFill/>
            <a:miter lim="800000"/>
            <a:headEnd/>
            <a:tailEnd/>
          </a:ln>
        </p:spPr>
        <p:txBody>
          <a:bodyPr>
            <a:spAutoFit/>
          </a:bodyPr>
          <a:lstStyle/>
          <a:p>
            <a:pPr algn="ctr">
              <a:defRPr/>
            </a:pPr>
            <a:r>
              <a:rPr lang="ko-KR" altLang="en-US" sz="1000" dirty="0">
                <a:solidFill>
                  <a:srgbClr val="003366"/>
                </a:solidFill>
                <a:latin typeface="+mn-ea"/>
              </a:rPr>
              <a:t>유지</a:t>
            </a:r>
          </a:p>
          <a:p>
            <a:pPr algn="ctr">
              <a:defRPr/>
            </a:pPr>
            <a:r>
              <a:rPr lang="en-US" altLang="ko-KR" sz="1000" dirty="0">
                <a:solidFill>
                  <a:srgbClr val="003366"/>
                </a:solidFill>
                <a:latin typeface="+mn-ea"/>
              </a:rPr>
              <a:t>(S, A</a:t>
            </a:r>
            <a:r>
              <a:rPr lang="ko-KR" altLang="en-US" sz="1000" dirty="0">
                <a:solidFill>
                  <a:srgbClr val="003366"/>
                </a:solidFill>
                <a:latin typeface="+mn-ea"/>
              </a:rPr>
              <a:t>등급</a:t>
            </a:r>
            <a:r>
              <a:rPr lang="en-US" altLang="ko-KR" sz="1000" dirty="0">
                <a:solidFill>
                  <a:srgbClr val="003366"/>
                </a:solidFill>
                <a:latin typeface="+mn-ea"/>
              </a:rPr>
              <a:t>)</a:t>
            </a:r>
          </a:p>
        </p:txBody>
      </p:sp>
      <p:sp>
        <p:nvSpPr>
          <p:cNvPr id="65" name="직사각형 23"/>
          <p:cNvSpPr>
            <a:spLocks noChangeArrowheads="1"/>
          </p:cNvSpPr>
          <p:nvPr/>
        </p:nvSpPr>
        <p:spPr bwMode="auto">
          <a:xfrm>
            <a:off x="2518609" y="3234029"/>
            <a:ext cx="1327324" cy="396875"/>
          </a:xfrm>
          <a:prstGeom prst="rect">
            <a:avLst/>
          </a:prstGeom>
          <a:noFill/>
          <a:ln w="9525">
            <a:noFill/>
            <a:miter lim="800000"/>
            <a:headEnd/>
            <a:tailEnd/>
          </a:ln>
        </p:spPr>
        <p:txBody>
          <a:bodyPr>
            <a:spAutoFit/>
          </a:bodyPr>
          <a:lstStyle/>
          <a:p>
            <a:pPr algn="ctr">
              <a:defRPr/>
            </a:pPr>
            <a:r>
              <a:rPr lang="ko-KR" altLang="en-US" sz="1000" dirty="0">
                <a:solidFill>
                  <a:srgbClr val="003366"/>
                </a:solidFill>
                <a:latin typeface="+mn-ea"/>
              </a:rPr>
              <a:t>유지</a:t>
            </a:r>
          </a:p>
          <a:p>
            <a:pPr algn="ctr">
              <a:defRPr/>
            </a:pPr>
            <a:r>
              <a:rPr lang="en-US" altLang="ko-KR" sz="1000" dirty="0">
                <a:solidFill>
                  <a:srgbClr val="003366"/>
                </a:solidFill>
                <a:latin typeface="+mn-ea"/>
              </a:rPr>
              <a:t>(B</a:t>
            </a:r>
            <a:r>
              <a:rPr lang="ko-KR" altLang="en-US" sz="1000" dirty="0">
                <a:solidFill>
                  <a:srgbClr val="003366"/>
                </a:solidFill>
                <a:latin typeface="+mn-ea"/>
              </a:rPr>
              <a:t>등급</a:t>
            </a:r>
            <a:r>
              <a:rPr lang="en-US" altLang="ko-KR" sz="1000" dirty="0">
                <a:solidFill>
                  <a:srgbClr val="003366"/>
                </a:solidFill>
                <a:latin typeface="+mn-ea"/>
              </a:rPr>
              <a:t>)</a:t>
            </a:r>
          </a:p>
        </p:txBody>
      </p:sp>
      <p:sp>
        <p:nvSpPr>
          <p:cNvPr id="66" name="직사각형 23"/>
          <p:cNvSpPr>
            <a:spLocks noChangeArrowheads="1"/>
          </p:cNvSpPr>
          <p:nvPr/>
        </p:nvSpPr>
        <p:spPr bwMode="auto">
          <a:xfrm>
            <a:off x="3904581" y="2678404"/>
            <a:ext cx="1327324" cy="396875"/>
          </a:xfrm>
          <a:prstGeom prst="rect">
            <a:avLst/>
          </a:prstGeom>
          <a:noFill/>
          <a:ln w="9525">
            <a:noFill/>
            <a:miter lim="800000"/>
            <a:headEnd/>
            <a:tailEnd/>
          </a:ln>
        </p:spPr>
        <p:txBody>
          <a:bodyPr>
            <a:spAutoFit/>
          </a:bodyPr>
          <a:lstStyle/>
          <a:p>
            <a:pPr algn="ctr">
              <a:defRPr/>
            </a:pPr>
            <a:r>
              <a:rPr lang="ko-KR" altLang="en-US" sz="1000" dirty="0">
                <a:solidFill>
                  <a:srgbClr val="003366"/>
                </a:solidFill>
                <a:latin typeface="+mn-ea"/>
              </a:rPr>
              <a:t>포기</a:t>
            </a:r>
          </a:p>
          <a:p>
            <a:pPr algn="ctr">
              <a:defRPr/>
            </a:pPr>
            <a:r>
              <a:rPr lang="en-US" altLang="ko-KR" sz="1000" dirty="0">
                <a:solidFill>
                  <a:srgbClr val="003366"/>
                </a:solidFill>
                <a:latin typeface="+mn-ea"/>
              </a:rPr>
              <a:t>(C</a:t>
            </a:r>
            <a:r>
              <a:rPr lang="ko-KR" altLang="en-US" sz="1000" dirty="0">
                <a:solidFill>
                  <a:srgbClr val="003366"/>
                </a:solidFill>
                <a:latin typeface="+mn-ea"/>
              </a:rPr>
              <a:t>등급</a:t>
            </a:r>
            <a:r>
              <a:rPr lang="en-US" altLang="ko-KR" sz="1000" dirty="0">
                <a:solidFill>
                  <a:srgbClr val="003366"/>
                </a:solidFill>
                <a:latin typeface="+mn-ea"/>
              </a:rPr>
              <a:t>)</a:t>
            </a:r>
          </a:p>
        </p:txBody>
      </p:sp>
      <p:cxnSp>
        <p:nvCxnSpPr>
          <p:cNvPr id="69" name="AutoShape 46"/>
          <p:cNvCxnSpPr>
            <a:cxnSpLocks noChangeShapeType="1"/>
            <a:stCxn id="25" idx="3"/>
            <a:endCxn id="36" idx="0"/>
          </p:cNvCxnSpPr>
          <p:nvPr/>
        </p:nvCxnSpPr>
        <p:spPr bwMode="auto">
          <a:xfrm>
            <a:off x="4443716" y="3092742"/>
            <a:ext cx="1010133" cy="1368325"/>
          </a:xfrm>
          <a:prstGeom prst="bentConnector2">
            <a:avLst/>
          </a:prstGeom>
          <a:noFill/>
          <a:ln w="19050">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ko-KR" altLang="en-US" dirty="0"/>
              <a:t>실무상 특허료 납부의 활용</a:t>
            </a:r>
          </a:p>
        </p:txBody>
      </p:sp>
      <p:sp>
        <p:nvSpPr>
          <p:cNvPr id="4" name="슬라이드 번호 개체 틀 3"/>
          <p:cNvSpPr>
            <a:spLocks noGrp="1"/>
          </p:cNvSpPr>
          <p:nvPr>
            <p:ph type="sldNum" sz="quarter" idx="12"/>
          </p:nvPr>
        </p:nvSpPr>
        <p:spPr/>
        <p:txBody>
          <a:bodyPr/>
          <a:lstStyle/>
          <a:p>
            <a:r>
              <a:rPr lang="en-US" altLang="ko-KR"/>
              <a:t>293</a:t>
            </a:r>
            <a:endParaRPr lang="ko-KR" altLang="en-US"/>
          </a:p>
        </p:txBody>
      </p:sp>
    </p:spTree>
    <p:extLst>
      <p:ext uri="{BB962C8B-B14F-4D97-AF65-F5344CB8AC3E}">
        <p14:creationId xmlns:p14="http://schemas.microsoft.com/office/powerpoint/2010/main" val="3031218265"/>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101</a:t>
            </a:r>
            <a:r>
              <a:rPr lang="ko-KR" altLang="en-US" dirty="0"/>
              <a:t>조</a:t>
            </a:r>
            <a:r>
              <a:rPr lang="en-US" altLang="ko-KR" dirty="0"/>
              <a:t>,</a:t>
            </a:r>
            <a:r>
              <a:rPr lang="ko-KR" altLang="en-US" dirty="0"/>
              <a:t>제</a:t>
            </a:r>
            <a:r>
              <a:rPr lang="en-US" altLang="ko-KR" dirty="0"/>
              <a:t>118</a:t>
            </a:r>
            <a:r>
              <a:rPr lang="ko-KR" altLang="en-US" dirty="0"/>
              <a:t>조</a:t>
            </a:r>
          </a:p>
        </p:txBody>
      </p:sp>
      <p:sp>
        <p:nvSpPr>
          <p:cNvPr id="4" name="텍스트 개체 틀 3"/>
          <p:cNvSpPr>
            <a:spLocks noGrp="1"/>
          </p:cNvSpPr>
          <p:nvPr>
            <p:ph type="body" sz="quarter" idx="13"/>
          </p:nvPr>
        </p:nvSpPr>
        <p:spPr/>
        <p:txBody>
          <a:bodyPr/>
          <a:lstStyle/>
          <a:p>
            <a:r>
              <a:rPr lang="ko-KR" altLang="en-US" dirty="0"/>
              <a:t>등록의 효력</a:t>
            </a:r>
          </a:p>
        </p:txBody>
      </p:sp>
      <p:cxnSp>
        <p:nvCxnSpPr>
          <p:cNvPr id="82" name="직선 연결선 81"/>
          <p:cNvCxnSpPr/>
          <p:nvPr/>
        </p:nvCxnSpPr>
        <p:spPr>
          <a:xfrm>
            <a:off x="0" y="365856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TextBox 99"/>
          <p:cNvSpPr txBox="1"/>
          <p:nvPr/>
        </p:nvSpPr>
        <p:spPr>
          <a:xfrm>
            <a:off x="77875" y="976902"/>
            <a:ext cx="11936323" cy="2677656"/>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87</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특허권의 설정등록 및 등록공고</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특허권은 설정등록에 의하여 발생한다</a:t>
            </a:r>
            <a:r>
              <a:rPr lang="en-US" altLang="ko-KR" sz="1400" dirty="0">
                <a:solidFill>
                  <a:schemeClr val="tx2"/>
                </a:solidFill>
              </a:rPr>
              <a:t>.</a:t>
            </a:r>
          </a:p>
          <a:p>
            <a:pPr fontAlgn="base"/>
            <a:r>
              <a:rPr lang="ko-KR" altLang="en-US" sz="1400" b="1" dirty="0">
                <a:solidFill>
                  <a:schemeClr val="accent1"/>
                </a:solidFill>
              </a:rPr>
              <a:t>제</a:t>
            </a:r>
            <a:r>
              <a:rPr lang="en-US" altLang="ko-KR" sz="1400" b="1" dirty="0">
                <a:solidFill>
                  <a:schemeClr val="accent1"/>
                </a:solidFill>
              </a:rPr>
              <a:t>101</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특허권 및 </a:t>
            </a:r>
            <a:r>
              <a:rPr lang="ko-KR" altLang="en-US" sz="1400" b="1" dirty="0" err="1">
                <a:solidFill>
                  <a:schemeClr val="accent1"/>
                </a:solidFill>
              </a:rPr>
              <a:t>전용실시권의</a:t>
            </a:r>
            <a:r>
              <a:rPr lang="ko-KR" altLang="en-US" sz="1400" b="1" dirty="0">
                <a:solidFill>
                  <a:schemeClr val="accent1"/>
                </a:solidFill>
              </a:rPr>
              <a:t> 등록의 효력</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다음 각 호의 어느 하나에 해당하는 사항은 등록하여야만 효력이 발생한다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특허권의 이전</a:t>
            </a:r>
            <a:r>
              <a:rPr lang="en-US" altLang="ko-KR" sz="1400" dirty="0">
                <a:solidFill>
                  <a:schemeClr val="tx2"/>
                </a:solidFill>
              </a:rPr>
              <a:t>(</a:t>
            </a:r>
            <a:r>
              <a:rPr lang="ko-KR" altLang="en-US" sz="1400" dirty="0">
                <a:solidFill>
                  <a:schemeClr val="tx2"/>
                </a:solidFill>
              </a:rPr>
              <a:t>상속이나 그 밖의 일반승계에 의한 경우는 제외한다</a:t>
            </a:r>
            <a:r>
              <a:rPr lang="en-US" altLang="ko-KR" sz="1400" dirty="0">
                <a:solidFill>
                  <a:schemeClr val="tx2"/>
                </a:solidFill>
              </a:rPr>
              <a:t>), </a:t>
            </a:r>
            <a:r>
              <a:rPr lang="ko-KR" altLang="en-US" sz="1400" dirty="0">
                <a:solidFill>
                  <a:schemeClr val="tx2"/>
                </a:solidFill>
              </a:rPr>
              <a:t>포기에 의한 소멸 또는 처분의 제한</a:t>
            </a:r>
          </a:p>
          <a:p>
            <a:pPr fontAlgn="base"/>
            <a:r>
              <a:rPr lang="en-US" altLang="ko-KR" sz="1400" dirty="0">
                <a:solidFill>
                  <a:schemeClr val="tx2"/>
                </a:solidFill>
              </a:rPr>
              <a:t>2. </a:t>
            </a:r>
            <a:r>
              <a:rPr lang="ko-KR" altLang="en-US" sz="1400" dirty="0" err="1">
                <a:solidFill>
                  <a:schemeClr val="tx2"/>
                </a:solidFill>
              </a:rPr>
              <a:t>전용실시권의</a:t>
            </a:r>
            <a:r>
              <a:rPr lang="ko-KR" altLang="en-US" sz="1400" dirty="0">
                <a:solidFill>
                  <a:schemeClr val="tx2"/>
                </a:solidFill>
              </a:rPr>
              <a:t> </a:t>
            </a:r>
            <a:r>
              <a:rPr lang="ko-KR" altLang="en-US" sz="1400" dirty="0" err="1">
                <a:solidFill>
                  <a:schemeClr val="tx2"/>
                </a:solidFill>
              </a:rPr>
              <a:t>설정ㆍ이전</a:t>
            </a:r>
            <a:r>
              <a:rPr lang="en-US" altLang="ko-KR" sz="1400" dirty="0">
                <a:solidFill>
                  <a:schemeClr val="tx2"/>
                </a:solidFill>
              </a:rPr>
              <a:t>(</a:t>
            </a:r>
            <a:r>
              <a:rPr lang="ko-KR" altLang="en-US" sz="1400" dirty="0">
                <a:solidFill>
                  <a:schemeClr val="tx2"/>
                </a:solidFill>
              </a:rPr>
              <a:t>상속이나 그 밖의 일반승계에 의한 경우는 제외한다</a:t>
            </a:r>
            <a:r>
              <a:rPr lang="en-US" altLang="ko-KR" sz="1400" dirty="0">
                <a:solidFill>
                  <a:schemeClr val="tx2"/>
                </a:solidFill>
              </a:rPr>
              <a:t>)</a:t>
            </a:r>
            <a:r>
              <a:rPr lang="ko-KR" altLang="en-US" sz="1400" dirty="0" err="1">
                <a:solidFill>
                  <a:schemeClr val="tx2"/>
                </a:solidFill>
              </a:rPr>
              <a:t>ㆍ변경ㆍ소멸</a:t>
            </a:r>
            <a:r>
              <a:rPr lang="en-US" altLang="ko-KR" sz="1400" dirty="0">
                <a:solidFill>
                  <a:schemeClr val="tx2"/>
                </a:solidFill>
              </a:rPr>
              <a:t>(</a:t>
            </a:r>
            <a:r>
              <a:rPr lang="ko-KR" altLang="en-US" sz="1400" dirty="0">
                <a:solidFill>
                  <a:schemeClr val="tx2"/>
                </a:solidFill>
              </a:rPr>
              <a:t>혼동에 의한 경우는 제외한다</a:t>
            </a:r>
            <a:r>
              <a:rPr lang="en-US" altLang="ko-KR" sz="1400" dirty="0">
                <a:solidFill>
                  <a:schemeClr val="tx2"/>
                </a:solidFill>
              </a:rPr>
              <a:t>) </a:t>
            </a:r>
            <a:r>
              <a:rPr lang="ko-KR" altLang="en-US" sz="1400" dirty="0">
                <a:solidFill>
                  <a:schemeClr val="tx2"/>
                </a:solidFill>
              </a:rPr>
              <a:t>또는 처분의 제한</a:t>
            </a:r>
          </a:p>
          <a:p>
            <a:pPr fontAlgn="base"/>
            <a:r>
              <a:rPr lang="en-US" altLang="ko-KR" sz="1400" dirty="0">
                <a:solidFill>
                  <a:schemeClr val="tx2"/>
                </a:solidFill>
              </a:rPr>
              <a:t>3. </a:t>
            </a:r>
            <a:r>
              <a:rPr lang="ko-KR" altLang="en-US" sz="1400" dirty="0">
                <a:solidFill>
                  <a:schemeClr val="tx2"/>
                </a:solidFill>
              </a:rPr>
              <a:t>특허권 또는 </a:t>
            </a:r>
            <a:r>
              <a:rPr lang="ko-KR" altLang="en-US" sz="1400" dirty="0" err="1">
                <a:solidFill>
                  <a:schemeClr val="tx2"/>
                </a:solidFill>
              </a:rPr>
              <a:t>전용실시권을</a:t>
            </a:r>
            <a:r>
              <a:rPr lang="ko-KR" altLang="en-US" sz="1400" dirty="0">
                <a:solidFill>
                  <a:schemeClr val="tx2"/>
                </a:solidFill>
              </a:rPr>
              <a:t> 목적으로 하는 질권의 </a:t>
            </a:r>
            <a:r>
              <a:rPr lang="ko-KR" altLang="en-US" sz="1400" dirty="0" err="1">
                <a:solidFill>
                  <a:schemeClr val="tx2"/>
                </a:solidFill>
              </a:rPr>
              <a:t>설정ㆍ이전</a:t>
            </a:r>
            <a:r>
              <a:rPr lang="en-US" altLang="ko-KR" sz="1400" dirty="0">
                <a:solidFill>
                  <a:schemeClr val="tx2"/>
                </a:solidFill>
              </a:rPr>
              <a:t>(</a:t>
            </a:r>
            <a:r>
              <a:rPr lang="ko-KR" altLang="en-US" sz="1400" dirty="0">
                <a:solidFill>
                  <a:schemeClr val="tx2"/>
                </a:solidFill>
              </a:rPr>
              <a:t>상속이나 그 밖의 일반승계에 의한 경우는 제외한다</a:t>
            </a:r>
            <a:r>
              <a:rPr lang="en-US" altLang="ko-KR" sz="1400" dirty="0">
                <a:solidFill>
                  <a:schemeClr val="tx2"/>
                </a:solidFill>
              </a:rPr>
              <a:t>)</a:t>
            </a:r>
            <a:r>
              <a:rPr lang="ko-KR" altLang="en-US" sz="1400" dirty="0" err="1">
                <a:solidFill>
                  <a:schemeClr val="tx2"/>
                </a:solidFill>
              </a:rPr>
              <a:t>ㆍ변경ㆍ소멸</a:t>
            </a:r>
            <a:r>
              <a:rPr lang="en-US" altLang="ko-KR" sz="1400" dirty="0">
                <a:solidFill>
                  <a:schemeClr val="tx2"/>
                </a:solidFill>
              </a:rPr>
              <a:t>(</a:t>
            </a:r>
            <a:r>
              <a:rPr lang="ko-KR" altLang="en-US" sz="1400" dirty="0">
                <a:solidFill>
                  <a:schemeClr val="tx2"/>
                </a:solidFill>
              </a:rPr>
              <a:t>혼동에 의한 경우는 제외한다</a:t>
            </a:r>
            <a:r>
              <a:rPr lang="en-US" altLang="ko-KR" sz="1400" dirty="0">
                <a:solidFill>
                  <a:schemeClr val="tx2"/>
                </a:solidFill>
              </a:rPr>
              <a:t>) </a:t>
            </a:r>
            <a:r>
              <a:rPr lang="ko-KR" altLang="en-US" sz="1400" dirty="0">
                <a:solidFill>
                  <a:schemeClr val="tx2"/>
                </a:solidFill>
              </a:rPr>
              <a:t>또는 처분의 제한</a:t>
            </a:r>
          </a:p>
          <a:p>
            <a:pPr fontAlgn="base"/>
            <a:r>
              <a:rPr lang="ko-KR" altLang="en-US" sz="1400" dirty="0">
                <a:solidFill>
                  <a:schemeClr val="tx2"/>
                </a:solidFill>
              </a:rPr>
              <a:t>② 제</a:t>
            </a:r>
            <a:r>
              <a:rPr lang="en-US" altLang="ko-KR" sz="1400" dirty="0">
                <a:solidFill>
                  <a:schemeClr val="tx2"/>
                </a:solidFill>
              </a:rPr>
              <a:t>1</a:t>
            </a:r>
            <a:r>
              <a:rPr lang="ko-KR" altLang="en-US" sz="1400" dirty="0">
                <a:solidFill>
                  <a:schemeClr val="tx2"/>
                </a:solidFill>
              </a:rPr>
              <a:t>항 각 호에 따른 </a:t>
            </a:r>
            <a:r>
              <a:rPr lang="ko-KR" altLang="en-US" sz="1400" dirty="0" err="1">
                <a:solidFill>
                  <a:schemeClr val="tx2"/>
                </a:solidFill>
              </a:rPr>
              <a:t>특허권ㆍ전용실시권</a:t>
            </a:r>
            <a:r>
              <a:rPr lang="ko-KR" altLang="en-US" sz="1400" dirty="0">
                <a:solidFill>
                  <a:schemeClr val="tx2"/>
                </a:solidFill>
              </a:rPr>
              <a:t> 및 질권의 상속이나 그 밖의 일반승계의 경우에는 지체 없이 그 취지를 지식재산처장에게 신고하여야 한다</a:t>
            </a:r>
            <a:r>
              <a:rPr lang="en-US" altLang="ko-KR" sz="1400" dirty="0">
                <a:solidFill>
                  <a:schemeClr val="tx2"/>
                </a:solidFill>
              </a:rPr>
              <a:t>.</a:t>
            </a:r>
          </a:p>
          <a:p>
            <a:pPr fontAlgn="base"/>
            <a:r>
              <a:rPr lang="ko-KR" altLang="en-US" sz="1400" b="1" dirty="0">
                <a:solidFill>
                  <a:schemeClr val="accent1"/>
                </a:solidFill>
              </a:rPr>
              <a:t>제</a:t>
            </a:r>
            <a:r>
              <a:rPr lang="en-US" altLang="ko-KR" sz="1400" b="1" dirty="0">
                <a:solidFill>
                  <a:schemeClr val="accent1"/>
                </a:solidFill>
              </a:rPr>
              <a:t>118</a:t>
            </a:r>
            <a:r>
              <a:rPr lang="ko-KR" altLang="en-US" sz="1400" b="1" dirty="0">
                <a:solidFill>
                  <a:schemeClr val="accent1"/>
                </a:solidFill>
              </a:rPr>
              <a:t>조</a:t>
            </a:r>
            <a:r>
              <a:rPr lang="en-US" altLang="ko-KR" sz="1400" b="1" dirty="0">
                <a:solidFill>
                  <a:schemeClr val="accent1"/>
                </a:solidFill>
              </a:rPr>
              <a:t>(</a:t>
            </a:r>
            <a:r>
              <a:rPr lang="ko-KR" altLang="en-US" sz="1400" b="1" dirty="0" err="1">
                <a:solidFill>
                  <a:schemeClr val="accent1"/>
                </a:solidFill>
              </a:rPr>
              <a:t>통상실시권의</a:t>
            </a:r>
            <a:r>
              <a:rPr lang="ko-KR" altLang="en-US" sz="1400" b="1" dirty="0">
                <a:solidFill>
                  <a:schemeClr val="accent1"/>
                </a:solidFill>
              </a:rPr>
              <a:t> 등록의 효력</a:t>
            </a:r>
            <a:r>
              <a:rPr lang="en-US" altLang="ko-KR" sz="1400" b="1" dirty="0">
                <a:solidFill>
                  <a:schemeClr val="accent1"/>
                </a:solidFill>
              </a:rPr>
              <a:t>) </a:t>
            </a:r>
            <a:r>
              <a:rPr lang="en-US" altLang="ko-KR" sz="1400" dirty="0">
                <a:solidFill>
                  <a:schemeClr val="tx2"/>
                </a:solidFill>
              </a:rPr>
              <a:t>① </a:t>
            </a:r>
            <a:r>
              <a:rPr lang="ko-KR" altLang="en-US" sz="1400" dirty="0" err="1">
                <a:solidFill>
                  <a:schemeClr val="tx2"/>
                </a:solidFill>
              </a:rPr>
              <a:t>통상실시권을</a:t>
            </a:r>
            <a:r>
              <a:rPr lang="ko-KR" altLang="en-US" sz="1400" dirty="0">
                <a:solidFill>
                  <a:schemeClr val="tx2"/>
                </a:solidFill>
              </a:rPr>
              <a:t> 등록한 경우에는 그 등록 후에 특허권 또는 </a:t>
            </a:r>
            <a:r>
              <a:rPr lang="ko-KR" altLang="en-US" sz="1400" dirty="0" err="1">
                <a:solidFill>
                  <a:schemeClr val="tx2"/>
                </a:solidFill>
              </a:rPr>
              <a:t>전용실시권을</a:t>
            </a:r>
            <a:r>
              <a:rPr lang="ko-KR" altLang="en-US" sz="1400" dirty="0">
                <a:solidFill>
                  <a:schemeClr val="tx2"/>
                </a:solidFill>
              </a:rPr>
              <a:t> 취득한 자에 대해서도 그 효력이 발생한다</a:t>
            </a:r>
            <a:r>
              <a:rPr lang="en-US" altLang="ko-KR" sz="1400" dirty="0">
                <a:solidFill>
                  <a:schemeClr val="tx2"/>
                </a:solidFill>
              </a:rPr>
              <a:t>.</a:t>
            </a:r>
          </a:p>
          <a:p>
            <a:pPr fontAlgn="base"/>
            <a:r>
              <a:rPr lang="en-US" altLang="ko-KR" sz="1400" dirty="0">
                <a:solidFill>
                  <a:schemeClr val="tx2"/>
                </a:solidFill>
              </a:rPr>
              <a:t>② </a:t>
            </a:r>
            <a:r>
              <a:rPr lang="ko-KR" altLang="en-US" sz="1400" dirty="0">
                <a:solidFill>
                  <a:schemeClr val="tx2"/>
                </a:solidFill>
              </a:rPr>
              <a:t>제</a:t>
            </a:r>
            <a:r>
              <a:rPr lang="en-US" altLang="ko-KR" sz="1400" dirty="0">
                <a:solidFill>
                  <a:schemeClr val="tx2"/>
                </a:solidFill>
              </a:rPr>
              <a:t>81</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제</a:t>
            </a:r>
            <a:r>
              <a:rPr lang="en-US" altLang="ko-KR" sz="1400" dirty="0">
                <a:solidFill>
                  <a:schemeClr val="tx2"/>
                </a:solidFill>
              </a:rPr>
              <a:t>5</a:t>
            </a:r>
            <a:r>
              <a:rPr lang="ko-KR" altLang="en-US" sz="1400" dirty="0">
                <a:solidFill>
                  <a:schemeClr val="tx2"/>
                </a:solidFill>
              </a:rPr>
              <a:t>항</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103</a:t>
            </a:r>
            <a:r>
              <a:rPr lang="ko-KR" altLang="en-US" sz="1400" dirty="0">
                <a:solidFill>
                  <a:schemeClr val="tx2"/>
                </a:solidFill>
              </a:rPr>
              <a:t>조부터 제</a:t>
            </a:r>
            <a:r>
              <a:rPr lang="en-US" altLang="ko-KR" sz="1400" dirty="0">
                <a:solidFill>
                  <a:schemeClr val="tx2"/>
                </a:solidFill>
              </a:rPr>
              <a:t>105</a:t>
            </a:r>
            <a:r>
              <a:rPr lang="ko-KR" altLang="en-US" sz="1400" dirty="0">
                <a:solidFill>
                  <a:schemeClr val="tx2"/>
                </a:solidFill>
              </a:rPr>
              <a:t>조까지</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122</a:t>
            </a:r>
            <a:r>
              <a:rPr lang="ko-KR" altLang="en-US" sz="1400" dirty="0">
                <a:solidFill>
                  <a:schemeClr val="tx2"/>
                </a:solidFill>
              </a:rPr>
              <a:t>조</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182</a:t>
            </a:r>
            <a:r>
              <a:rPr lang="ko-KR" altLang="en-US" sz="1400" dirty="0">
                <a:solidFill>
                  <a:schemeClr val="tx2"/>
                </a:solidFill>
              </a:rPr>
              <a:t>조</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183</a:t>
            </a:r>
            <a:r>
              <a:rPr lang="ko-KR" altLang="en-US" sz="1400" dirty="0">
                <a:solidFill>
                  <a:schemeClr val="tx2"/>
                </a:solidFill>
              </a:rPr>
              <a:t>조 및 「발명진흥법」 제</a:t>
            </a:r>
            <a:r>
              <a:rPr lang="en-US" altLang="ko-KR" sz="1400" dirty="0">
                <a:solidFill>
                  <a:schemeClr val="tx2"/>
                </a:solidFill>
              </a:rPr>
              <a:t>10</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a:t>
            </a:r>
            <a:r>
              <a:rPr lang="ko-KR" altLang="en-US" sz="1400" dirty="0" err="1">
                <a:solidFill>
                  <a:schemeClr val="tx2"/>
                </a:solidFill>
              </a:rPr>
              <a:t>통상실시권은</a:t>
            </a:r>
            <a:r>
              <a:rPr lang="ko-KR" altLang="en-US" sz="1400" dirty="0">
                <a:solidFill>
                  <a:schemeClr val="tx2"/>
                </a:solidFill>
              </a:rPr>
              <a:t> 등록이 없더라도 제</a:t>
            </a:r>
            <a:r>
              <a:rPr lang="en-US" altLang="ko-KR" sz="1400" dirty="0">
                <a:solidFill>
                  <a:schemeClr val="tx2"/>
                </a:solidFill>
              </a:rPr>
              <a:t>1</a:t>
            </a:r>
            <a:r>
              <a:rPr lang="ko-KR" altLang="en-US" sz="1400" dirty="0">
                <a:solidFill>
                  <a:schemeClr val="tx2"/>
                </a:solidFill>
              </a:rPr>
              <a:t>항에 따른 효력이 발생한다</a:t>
            </a:r>
            <a:r>
              <a:rPr lang="en-US" altLang="ko-KR" sz="1400" dirty="0">
                <a:solidFill>
                  <a:schemeClr val="tx2"/>
                </a:solidFill>
              </a:rPr>
              <a:t>.</a:t>
            </a:r>
          </a:p>
          <a:p>
            <a:pPr fontAlgn="base"/>
            <a:r>
              <a:rPr lang="en-US" altLang="ko-KR" sz="1400" dirty="0">
                <a:solidFill>
                  <a:schemeClr val="tx2"/>
                </a:solidFill>
              </a:rPr>
              <a:t>③ </a:t>
            </a:r>
            <a:r>
              <a:rPr lang="ko-KR" altLang="en-US" sz="1400" dirty="0" err="1">
                <a:solidFill>
                  <a:schemeClr val="tx2"/>
                </a:solidFill>
              </a:rPr>
              <a:t>통상실시권의</a:t>
            </a:r>
            <a:r>
              <a:rPr lang="ko-KR" altLang="en-US" sz="1400" dirty="0">
                <a:solidFill>
                  <a:schemeClr val="tx2"/>
                </a:solidFill>
              </a:rPr>
              <a:t> </a:t>
            </a:r>
            <a:r>
              <a:rPr lang="ko-KR" altLang="en-US" sz="1400" dirty="0" err="1">
                <a:solidFill>
                  <a:schemeClr val="tx2"/>
                </a:solidFill>
              </a:rPr>
              <a:t>이전ㆍ변경ㆍ소멸</a:t>
            </a:r>
            <a:r>
              <a:rPr lang="ko-KR" altLang="en-US" sz="1400" dirty="0">
                <a:solidFill>
                  <a:schemeClr val="tx2"/>
                </a:solidFill>
              </a:rPr>
              <a:t> 또는 처분의 제한</a:t>
            </a:r>
            <a:r>
              <a:rPr lang="en-US" altLang="ko-KR" sz="1400" dirty="0">
                <a:solidFill>
                  <a:schemeClr val="tx2"/>
                </a:solidFill>
              </a:rPr>
              <a:t>, </a:t>
            </a:r>
            <a:r>
              <a:rPr lang="ko-KR" altLang="en-US" sz="1400" dirty="0" err="1">
                <a:solidFill>
                  <a:schemeClr val="tx2"/>
                </a:solidFill>
              </a:rPr>
              <a:t>통상실시권을</a:t>
            </a:r>
            <a:r>
              <a:rPr lang="ko-KR" altLang="en-US" sz="1400" dirty="0">
                <a:solidFill>
                  <a:schemeClr val="tx2"/>
                </a:solidFill>
              </a:rPr>
              <a:t> 목적으로 하는 질권의 </a:t>
            </a:r>
            <a:r>
              <a:rPr lang="ko-KR" altLang="en-US" sz="1400" dirty="0" err="1">
                <a:solidFill>
                  <a:schemeClr val="tx2"/>
                </a:solidFill>
              </a:rPr>
              <a:t>설정ㆍ이전ㆍ변경ㆍ소멸</a:t>
            </a:r>
            <a:r>
              <a:rPr lang="ko-KR" altLang="en-US" sz="1400" dirty="0">
                <a:solidFill>
                  <a:schemeClr val="tx2"/>
                </a:solidFill>
              </a:rPr>
              <a:t> 또는 처분의 제한은 이를 등록하여야만 제</a:t>
            </a:r>
            <a:r>
              <a:rPr lang="en-US" altLang="ko-KR" sz="1400" dirty="0">
                <a:solidFill>
                  <a:schemeClr val="tx2"/>
                </a:solidFill>
              </a:rPr>
              <a:t>3</a:t>
            </a:r>
            <a:r>
              <a:rPr lang="ko-KR" altLang="en-US" sz="1400" dirty="0">
                <a:solidFill>
                  <a:schemeClr val="tx2"/>
                </a:solidFill>
              </a:rPr>
              <a:t>자에게 대항할 수 있다</a:t>
            </a:r>
            <a:r>
              <a:rPr lang="en-US" altLang="ko-KR" sz="1400" dirty="0">
                <a:solidFill>
                  <a:schemeClr val="tx2"/>
                </a:solidFill>
              </a:rPr>
              <a:t>.</a:t>
            </a:r>
          </a:p>
        </p:txBody>
      </p:sp>
      <p:graphicFrame>
        <p:nvGraphicFramePr>
          <p:cNvPr id="2" name="표 1"/>
          <p:cNvGraphicFramePr>
            <a:graphicFrameLocks noGrp="1"/>
          </p:cNvGraphicFramePr>
          <p:nvPr/>
        </p:nvGraphicFramePr>
        <p:xfrm>
          <a:off x="474133" y="3835803"/>
          <a:ext cx="11269133" cy="2262378"/>
        </p:xfrm>
        <a:graphic>
          <a:graphicData uri="http://schemas.openxmlformats.org/drawingml/2006/table">
            <a:tbl>
              <a:tblPr>
                <a:tableStyleId>{8799B23B-EC83-4686-B30A-512413B5E67A}</a:tableStyleId>
              </a:tblPr>
              <a:tblGrid>
                <a:gridCol w="436097">
                  <a:extLst>
                    <a:ext uri="{9D8B030D-6E8A-4147-A177-3AD203B41FA5}">
                      <a16:colId xmlns:a16="http://schemas.microsoft.com/office/drawing/2014/main" val="20000"/>
                    </a:ext>
                  </a:extLst>
                </a:gridCol>
                <a:gridCol w="1702756">
                  <a:extLst>
                    <a:ext uri="{9D8B030D-6E8A-4147-A177-3AD203B41FA5}">
                      <a16:colId xmlns:a16="http://schemas.microsoft.com/office/drawing/2014/main" val="20001"/>
                    </a:ext>
                  </a:extLst>
                </a:gridCol>
                <a:gridCol w="3404217">
                  <a:extLst>
                    <a:ext uri="{9D8B030D-6E8A-4147-A177-3AD203B41FA5}">
                      <a16:colId xmlns:a16="http://schemas.microsoft.com/office/drawing/2014/main" val="20002"/>
                    </a:ext>
                  </a:extLst>
                </a:gridCol>
                <a:gridCol w="3404217">
                  <a:extLst>
                    <a:ext uri="{9D8B030D-6E8A-4147-A177-3AD203B41FA5}">
                      <a16:colId xmlns:a16="http://schemas.microsoft.com/office/drawing/2014/main" val="20003"/>
                    </a:ext>
                  </a:extLst>
                </a:gridCol>
                <a:gridCol w="2321846">
                  <a:extLst>
                    <a:ext uri="{9D8B030D-6E8A-4147-A177-3AD203B41FA5}">
                      <a16:colId xmlns:a16="http://schemas.microsoft.com/office/drawing/2014/main" val="20004"/>
                    </a:ext>
                  </a:extLst>
                </a:gridCol>
              </a:tblGrid>
              <a:tr h="69409">
                <a:tc gridSpan="2">
                  <a:txBody>
                    <a:bodyPr/>
                    <a:lstStyle/>
                    <a:p>
                      <a:pPr marL="0" marR="0" indent="0" algn="ctr" fontAlgn="base" latinLnBrk="0">
                        <a:lnSpc>
                          <a:spcPct val="100000"/>
                        </a:lnSpc>
                        <a:spcBef>
                          <a:spcPts val="0"/>
                        </a:spcBef>
                        <a:spcAft>
                          <a:spcPts val="0"/>
                        </a:spcAft>
                      </a:pPr>
                      <a:r>
                        <a:rPr lang="ko-KR" altLang="en-US" sz="1200" kern="1200" dirty="0"/>
                        <a:t>권리</a:t>
                      </a:r>
                      <a:endParaRPr lang="ko-KR" altLang="en-US" sz="12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1200" dirty="0"/>
                        <a:t>특허권</a:t>
                      </a:r>
                      <a:endParaRPr lang="ko-KR" altLang="en-US" sz="12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1200" dirty="0" err="1"/>
                        <a:t>전용실시권</a:t>
                      </a:r>
                      <a:endParaRPr lang="ko-KR" altLang="en-US" sz="12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1200" dirty="0" err="1"/>
                        <a:t>통상실시권</a:t>
                      </a:r>
                      <a:endParaRPr lang="ko-KR" altLang="en-US" sz="12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10000"/>
                  </a:ext>
                </a:extLst>
              </a:tr>
              <a:tr h="127451">
                <a:tc rowSpan="5">
                  <a:txBody>
                    <a:bodyPr/>
                    <a:lstStyle/>
                    <a:p>
                      <a:pPr marL="0" marR="0" indent="0" algn="ctr" fontAlgn="base" latinLnBrk="0">
                        <a:lnSpc>
                          <a:spcPct val="100000"/>
                        </a:lnSpc>
                        <a:spcBef>
                          <a:spcPts val="0"/>
                        </a:spcBef>
                        <a:spcAft>
                          <a:spcPts val="0"/>
                        </a:spcAft>
                      </a:pPr>
                      <a:r>
                        <a:rPr lang="ko-KR" altLang="en-US" sz="1200" kern="1200" dirty="0"/>
                        <a:t>등</a:t>
                      </a:r>
                    </a:p>
                    <a:p>
                      <a:pPr marL="0" marR="0" indent="0" algn="ctr" fontAlgn="base" latinLnBrk="0">
                        <a:lnSpc>
                          <a:spcPct val="100000"/>
                        </a:lnSpc>
                        <a:spcBef>
                          <a:spcPts val="0"/>
                        </a:spcBef>
                        <a:spcAft>
                          <a:spcPts val="0"/>
                        </a:spcAft>
                      </a:pPr>
                      <a:r>
                        <a:rPr lang="ko-KR" altLang="en-US" sz="1200" kern="1200" dirty="0" err="1"/>
                        <a:t>록</a:t>
                      </a:r>
                      <a:endParaRPr lang="ko-KR" altLang="en-US" sz="1200" kern="1200" dirty="0"/>
                    </a:p>
                    <a:p>
                      <a:pPr marL="0" marR="0" indent="0" algn="ctr" fontAlgn="base" latinLnBrk="0">
                        <a:lnSpc>
                          <a:spcPct val="100000"/>
                        </a:lnSpc>
                        <a:spcBef>
                          <a:spcPts val="0"/>
                        </a:spcBef>
                        <a:spcAft>
                          <a:spcPts val="0"/>
                        </a:spcAft>
                      </a:pPr>
                      <a:r>
                        <a:rPr lang="ko-KR" altLang="en-US" sz="1200" kern="1200" dirty="0"/>
                        <a:t>사</a:t>
                      </a:r>
                    </a:p>
                    <a:p>
                      <a:pPr marL="0" marR="0" indent="0" algn="ctr" fontAlgn="base" latinLnBrk="0">
                        <a:lnSpc>
                          <a:spcPct val="100000"/>
                        </a:lnSpc>
                        <a:spcBef>
                          <a:spcPts val="0"/>
                        </a:spcBef>
                        <a:spcAft>
                          <a:spcPts val="0"/>
                        </a:spcAft>
                      </a:pPr>
                      <a:r>
                        <a:rPr lang="ko-KR" altLang="en-US" sz="1200" kern="1200" dirty="0"/>
                        <a:t>항</a:t>
                      </a:r>
                      <a:endParaRPr lang="ko-KR" altLang="en-US" sz="1200" kern="1200" dirty="0">
                        <a:solidFill>
                          <a:schemeClr val="tx2"/>
                        </a:solidFill>
                        <a:latin typeface="+mn-lt"/>
                        <a:ea typeface="+mn-ea"/>
                        <a:cs typeface="+mn-cs"/>
                      </a:endParaRPr>
                    </a:p>
                  </a:txBody>
                  <a:tcPr marL="64770" marR="64770" marT="17907" marB="17907" anchor="ctr"/>
                </a:tc>
                <a:tc>
                  <a:txBody>
                    <a:bodyPr/>
                    <a:lstStyle/>
                    <a:p>
                      <a:pPr marL="0" marR="0" indent="0" algn="ctr" fontAlgn="base" latinLnBrk="0">
                        <a:lnSpc>
                          <a:spcPct val="100000"/>
                        </a:lnSpc>
                        <a:spcBef>
                          <a:spcPts val="0"/>
                        </a:spcBef>
                        <a:spcAft>
                          <a:spcPts val="0"/>
                        </a:spcAft>
                      </a:pPr>
                      <a:r>
                        <a:rPr lang="ko-KR" altLang="en-US" sz="1200" kern="1200" dirty="0"/>
                        <a:t>설정</a:t>
                      </a:r>
                      <a:endParaRPr lang="ko-KR" altLang="en-US" sz="12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dirty="0"/>
                        <a:t>○</a:t>
                      </a:r>
                      <a:endParaRPr lang="ko-KR" altLang="en-US" sz="12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a:t>○</a:t>
                      </a:r>
                      <a:endParaRPr lang="ko-KR" altLang="en-US" sz="12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dirty="0"/>
                        <a:t>○</a:t>
                      </a:r>
                    </a:p>
                    <a:p>
                      <a:pPr marL="17780" marR="17780" indent="0" algn="ctr" fontAlgn="base" latinLnBrk="0">
                        <a:lnSpc>
                          <a:spcPct val="100000"/>
                        </a:lnSpc>
                        <a:spcBef>
                          <a:spcPts val="0"/>
                        </a:spcBef>
                        <a:spcAft>
                          <a:spcPts val="0"/>
                        </a:spcAft>
                      </a:pPr>
                      <a:r>
                        <a:rPr lang="en-US" altLang="ko-KR" sz="1200" kern="1200" dirty="0"/>
                        <a:t>(</a:t>
                      </a:r>
                      <a:r>
                        <a:rPr lang="ko-KR" altLang="en-US" sz="1200" kern="1200" dirty="0"/>
                        <a:t>법정실시권 제외</a:t>
                      </a:r>
                      <a:r>
                        <a:rPr lang="en-US" altLang="ko-KR" sz="1200" kern="1200" dirty="0"/>
                        <a:t>)</a:t>
                      </a:r>
                      <a:endParaRPr lang="ko-KR" altLang="en-US" sz="12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1"/>
                  </a:ext>
                </a:extLst>
              </a:tr>
              <a:tr h="127451">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1200" dirty="0"/>
                        <a:t>이전</a:t>
                      </a:r>
                      <a:endParaRPr lang="ko-KR" altLang="en-US" sz="12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dirty="0"/>
                        <a:t>○</a:t>
                      </a:r>
                    </a:p>
                    <a:p>
                      <a:pPr marL="17780" marR="17780" indent="0" algn="ctr" fontAlgn="base" latinLnBrk="0">
                        <a:lnSpc>
                          <a:spcPct val="100000"/>
                        </a:lnSpc>
                        <a:spcBef>
                          <a:spcPts val="0"/>
                        </a:spcBef>
                        <a:spcAft>
                          <a:spcPts val="0"/>
                        </a:spcAft>
                      </a:pPr>
                      <a:r>
                        <a:rPr lang="en-US" altLang="ko-KR" sz="1200" kern="1200" dirty="0"/>
                        <a:t>(</a:t>
                      </a:r>
                      <a:r>
                        <a:rPr lang="ko-KR" altLang="en-US" sz="1200" kern="1200" dirty="0"/>
                        <a:t>상속 그 밖의 일반승계 제외</a:t>
                      </a:r>
                      <a:r>
                        <a:rPr lang="en-US" altLang="ko-KR" sz="1200" kern="1200" dirty="0"/>
                        <a:t>)</a:t>
                      </a:r>
                      <a:endParaRPr lang="ko-KR" altLang="en-US" sz="12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a:t>○</a:t>
                      </a:r>
                    </a:p>
                    <a:p>
                      <a:pPr marL="17780" marR="17780" indent="0" algn="ctr" fontAlgn="base" latinLnBrk="0">
                        <a:lnSpc>
                          <a:spcPct val="100000"/>
                        </a:lnSpc>
                        <a:spcBef>
                          <a:spcPts val="0"/>
                        </a:spcBef>
                        <a:spcAft>
                          <a:spcPts val="0"/>
                        </a:spcAft>
                      </a:pPr>
                      <a:r>
                        <a:rPr lang="en-US" altLang="ko-KR" sz="1200" kern="1200"/>
                        <a:t>(</a:t>
                      </a:r>
                      <a:r>
                        <a:rPr lang="ko-KR" altLang="en-US" sz="1200" kern="1200"/>
                        <a:t>상속 그 밖의 일반승계 제외</a:t>
                      </a:r>
                      <a:r>
                        <a:rPr lang="en-US" altLang="ko-KR" sz="1200" kern="1200"/>
                        <a:t>)</a:t>
                      </a:r>
                      <a:endParaRPr lang="ko-KR" altLang="en-US" sz="12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dirty="0"/>
                        <a:t>○</a:t>
                      </a:r>
                      <a:endParaRPr lang="ko-KR" altLang="en-US" sz="12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2"/>
                  </a:ext>
                </a:extLst>
              </a:tr>
              <a:tr h="69409">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1200"/>
                        <a:t>변경</a:t>
                      </a:r>
                      <a:endParaRPr lang="ko-KR" altLang="en-US" sz="12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en-US" sz="1200" kern="1200" dirty="0"/>
                        <a:t>-</a:t>
                      </a:r>
                    </a:p>
                    <a:p>
                      <a:pPr marL="17780" marR="17780" indent="0" algn="ctr" fontAlgn="base" latinLnBrk="0">
                        <a:lnSpc>
                          <a:spcPct val="100000"/>
                        </a:lnSpc>
                        <a:spcBef>
                          <a:spcPts val="0"/>
                        </a:spcBef>
                        <a:spcAft>
                          <a:spcPts val="0"/>
                        </a:spcAft>
                      </a:pPr>
                      <a:r>
                        <a:rPr lang="en-US" altLang="ko-KR" sz="1200" kern="1200" dirty="0"/>
                        <a:t>(∵ </a:t>
                      </a:r>
                      <a:r>
                        <a:rPr lang="ko-KR" altLang="en-US" sz="1200" kern="1200" dirty="0"/>
                        <a:t>전면적 </a:t>
                      </a:r>
                      <a:r>
                        <a:rPr lang="ko-KR" altLang="en-US" sz="1200" kern="1200" dirty="0" err="1"/>
                        <a:t>지배성</a:t>
                      </a:r>
                      <a:r>
                        <a:rPr lang="en-US" altLang="ko-KR" sz="1200" kern="1200" dirty="0"/>
                        <a:t>)</a:t>
                      </a:r>
                      <a:endParaRPr lang="en-US" sz="12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dirty="0"/>
                        <a:t>○</a:t>
                      </a:r>
                      <a:endParaRPr lang="en-US" altLang="ko-KR" sz="1200" kern="1200" dirty="0"/>
                    </a:p>
                    <a:p>
                      <a:pPr marL="17780" marR="17780" lvl="0" indent="0" algn="ctr" defTabSz="914400" rtl="0" eaLnBrk="1" fontAlgn="base" latinLnBrk="0" hangingPunct="1">
                        <a:lnSpc>
                          <a:spcPct val="100000"/>
                        </a:lnSpc>
                        <a:spcBef>
                          <a:spcPts val="0"/>
                        </a:spcBef>
                        <a:spcAft>
                          <a:spcPts val="0"/>
                        </a:spcAft>
                        <a:buClrTx/>
                        <a:buSzTx/>
                        <a:buFontTx/>
                        <a:buNone/>
                        <a:tabLst/>
                        <a:defRPr/>
                      </a:pPr>
                      <a:r>
                        <a:rPr lang="en-US" altLang="ko-KR" sz="1200" kern="1200" dirty="0"/>
                        <a:t>(∵ </a:t>
                      </a:r>
                      <a:r>
                        <a:rPr lang="ko-KR" altLang="en-US" sz="1200" kern="1200" dirty="0"/>
                        <a:t>일면적 </a:t>
                      </a:r>
                      <a:r>
                        <a:rPr lang="ko-KR" altLang="en-US" sz="1200" kern="1200" dirty="0" err="1"/>
                        <a:t>지배성</a:t>
                      </a:r>
                      <a:r>
                        <a:rPr lang="en-US" altLang="ko-KR" sz="1200" kern="1200" dirty="0"/>
                        <a:t>)</a:t>
                      </a:r>
                      <a:endParaRPr lang="en-US" altLang="ko-KR" sz="12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a:t>○</a:t>
                      </a:r>
                      <a:endParaRPr lang="ko-KR" altLang="en-US" sz="1200" kern="120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3"/>
                  </a:ext>
                </a:extLst>
              </a:tr>
              <a:tr h="127451">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1200"/>
                        <a:t>소멸</a:t>
                      </a:r>
                      <a:endParaRPr lang="ko-KR" altLang="en-US" sz="12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dirty="0"/>
                        <a:t>○</a:t>
                      </a:r>
                    </a:p>
                    <a:p>
                      <a:pPr marL="17780" marR="17780" indent="0" algn="ctr" fontAlgn="base" latinLnBrk="0">
                        <a:lnSpc>
                          <a:spcPct val="100000"/>
                        </a:lnSpc>
                        <a:spcBef>
                          <a:spcPts val="0"/>
                        </a:spcBef>
                        <a:spcAft>
                          <a:spcPts val="0"/>
                        </a:spcAft>
                      </a:pPr>
                      <a:r>
                        <a:rPr lang="en-US" altLang="ko-KR" sz="1200" kern="1200" dirty="0"/>
                        <a:t>(</a:t>
                      </a:r>
                      <a:r>
                        <a:rPr lang="ko-KR" altLang="en-US" sz="1200" kern="1200" dirty="0"/>
                        <a:t>포기에 한함</a:t>
                      </a:r>
                      <a:r>
                        <a:rPr lang="en-US" altLang="ko-KR" sz="1200" kern="1200" dirty="0"/>
                        <a:t>)</a:t>
                      </a:r>
                      <a:endParaRPr lang="ko-KR" altLang="en-US" sz="12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dirty="0"/>
                        <a:t>○</a:t>
                      </a:r>
                    </a:p>
                    <a:p>
                      <a:pPr marL="17780" marR="17780" indent="0" algn="ctr" fontAlgn="base" latinLnBrk="0">
                        <a:lnSpc>
                          <a:spcPct val="100000"/>
                        </a:lnSpc>
                        <a:spcBef>
                          <a:spcPts val="0"/>
                        </a:spcBef>
                        <a:spcAft>
                          <a:spcPts val="0"/>
                        </a:spcAft>
                      </a:pPr>
                      <a:r>
                        <a:rPr lang="en-US" altLang="ko-KR" sz="1200" kern="1200" dirty="0"/>
                        <a:t>(</a:t>
                      </a:r>
                      <a:r>
                        <a:rPr lang="ko-KR" altLang="en-US" sz="1200" kern="1200" dirty="0"/>
                        <a:t>혼동 제외</a:t>
                      </a:r>
                      <a:r>
                        <a:rPr lang="en-US" altLang="ko-KR" sz="1200" kern="1200" dirty="0"/>
                        <a:t>)</a:t>
                      </a:r>
                      <a:endParaRPr lang="ko-KR" altLang="en-US" sz="12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a:t>○</a:t>
                      </a:r>
                      <a:endParaRPr lang="ko-KR" altLang="en-US" sz="1200" kern="120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4"/>
                  </a:ext>
                </a:extLst>
              </a:tr>
              <a:tr h="69409">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1200" dirty="0"/>
                        <a:t>처분의 제한</a:t>
                      </a:r>
                      <a:endParaRPr lang="ko-KR" altLang="en-US" sz="12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dirty="0"/>
                        <a:t>○</a:t>
                      </a:r>
                      <a:endParaRPr lang="ko-KR" altLang="en-US" sz="12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dirty="0"/>
                        <a:t>○</a:t>
                      </a:r>
                      <a:endParaRPr lang="ko-KR" altLang="en-US" sz="12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200" kern="1200"/>
                        <a:t>○</a:t>
                      </a:r>
                      <a:endParaRPr lang="ko-KR" altLang="en-US" sz="1200" kern="120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5"/>
                  </a:ext>
                </a:extLst>
              </a:tr>
              <a:tr h="69409">
                <a:tc gridSpan="2">
                  <a:txBody>
                    <a:bodyPr/>
                    <a:lstStyle/>
                    <a:p>
                      <a:pPr marL="0" marR="0" indent="0" algn="ctr" fontAlgn="base" latinLnBrk="0">
                        <a:lnSpc>
                          <a:spcPct val="100000"/>
                        </a:lnSpc>
                        <a:spcBef>
                          <a:spcPts val="0"/>
                        </a:spcBef>
                        <a:spcAft>
                          <a:spcPts val="0"/>
                        </a:spcAft>
                      </a:pPr>
                      <a:r>
                        <a:rPr lang="ko-KR" altLang="en-US" sz="1200" kern="1200"/>
                        <a:t>효력</a:t>
                      </a:r>
                      <a:endParaRPr lang="ko-KR" altLang="en-US" sz="1200" kern="1200">
                        <a:solidFill>
                          <a:schemeClr val="tx2"/>
                        </a:solidFill>
                        <a:latin typeface="+mn-lt"/>
                        <a:ea typeface="+mn-ea"/>
                        <a:cs typeface="+mn-cs"/>
                      </a:endParaRPr>
                    </a:p>
                  </a:txBody>
                  <a:tcPr marL="64770" marR="64770" marT="17907" marB="17907" anchor="ctr"/>
                </a:tc>
                <a:tc hMerge="1">
                  <a:txBody>
                    <a:bodyPr/>
                    <a:lstStyle/>
                    <a:p>
                      <a:pPr latinLnBrk="1"/>
                      <a:endParaRPr lang="ko-KR" altLang="en-US"/>
                    </a:p>
                  </a:txBody>
                  <a:tcPr/>
                </a:tc>
                <a:tc gridSpan="2">
                  <a:txBody>
                    <a:bodyPr/>
                    <a:lstStyle/>
                    <a:p>
                      <a:pPr marL="17780" marR="17780" indent="0" algn="ctr" fontAlgn="base" latinLnBrk="0">
                        <a:lnSpc>
                          <a:spcPct val="100000"/>
                        </a:lnSpc>
                        <a:spcBef>
                          <a:spcPts val="0"/>
                        </a:spcBef>
                        <a:spcAft>
                          <a:spcPts val="0"/>
                        </a:spcAft>
                      </a:pPr>
                      <a:r>
                        <a:rPr lang="ko-KR" altLang="en-US" sz="1200" kern="1200" dirty="0"/>
                        <a:t>효력발생요건</a:t>
                      </a:r>
                      <a:endParaRPr lang="ko-KR" altLang="en-US" sz="1200" kern="1200" dirty="0">
                        <a:solidFill>
                          <a:schemeClr val="tx2"/>
                        </a:solidFill>
                        <a:latin typeface="+mn-lt"/>
                        <a:ea typeface="+mn-ea"/>
                        <a:cs typeface="+mn-cs"/>
                      </a:endParaRPr>
                    </a:p>
                  </a:txBody>
                  <a:tcPr marL="64770" marR="64770" marT="17907" marB="17907" anchor="ctr"/>
                </a:tc>
                <a:tc hMerge="1">
                  <a:txBody>
                    <a:bodyPr/>
                    <a:lstStyle/>
                    <a:p>
                      <a:pPr latinLnBrk="1"/>
                      <a:endParaRPr lang="ko-KR" altLang="en-US"/>
                    </a:p>
                  </a:txBody>
                  <a:tcPr/>
                </a:tc>
                <a:tc>
                  <a:txBody>
                    <a:bodyPr/>
                    <a:lstStyle/>
                    <a:p>
                      <a:pPr marL="17780" marR="17780" indent="0" algn="ctr" fontAlgn="base" latinLnBrk="0">
                        <a:lnSpc>
                          <a:spcPct val="100000"/>
                        </a:lnSpc>
                        <a:spcBef>
                          <a:spcPts val="0"/>
                        </a:spcBef>
                        <a:spcAft>
                          <a:spcPts val="0"/>
                        </a:spcAft>
                      </a:pPr>
                      <a:r>
                        <a:rPr lang="ko-KR" altLang="en-US" sz="1200" kern="1200" dirty="0"/>
                        <a:t>대항요건</a:t>
                      </a:r>
                      <a:endParaRPr lang="ko-KR" altLang="en-US" sz="12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6"/>
                  </a:ext>
                </a:extLst>
              </a:tr>
            </a:tbl>
          </a:graphicData>
        </a:graphic>
      </p:graphicFrame>
      <p:sp>
        <p:nvSpPr>
          <p:cNvPr id="6" name="모서리가 둥근 사각형 설명선 5"/>
          <p:cNvSpPr/>
          <p:nvPr/>
        </p:nvSpPr>
        <p:spPr>
          <a:xfrm>
            <a:off x="2175933" y="6231467"/>
            <a:ext cx="4622800" cy="431800"/>
          </a:xfrm>
          <a:prstGeom prst="wedgeRoundRectCallout">
            <a:avLst>
              <a:gd name="adj1" fmla="val -9412"/>
              <a:gd name="adj2" fmla="val -230890"/>
              <a:gd name="adj3" fmla="val 16667"/>
            </a:avLst>
          </a:prstGeom>
          <a:solidFill>
            <a:schemeClr val="accent3">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 </a:t>
            </a:r>
            <a:r>
              <a:rPr lang="ko-KR" altLang="en-US" sz="1200" dirty="0" err="1">
                <a:solidFill>
                  <a:schemeClr val="tx1"/>
                </a:solidFill>
              </a:rPr>
              <a:t>장래효</a:t>
            </a:r>
            <a:r>
              <a:rPr lang="en-US" altLang="ko-KR" sz="1200" dirty="0">
                <a:solidFill>
                  <a:schemeClr val="tx1"/>
                </a:solidFill>
              </a:rPr>
              <a:t>: </a:t>
            </a:r>
            <a:r>
              <a:rPr lang="ko-KR" altLang="en-US" sz="1200" dirty="0">
                <a:solidFill>
                  <a:schemeClr val="tx1"/>
                </a:solidFill>
              </a:rPr>
              <a:t>특허료 불납</a:t>
            </a:r>
            <a:r>
              <a:rPr lang="en-US" altLang="ko-KR" sz="1200" dirty="0">
                <a:solidFill>
                  <a:schemeClr val="tx1"/>
                </a:solidFill>
              </a:rPr>
              <a:t>, </a:t>
            </a:r>
            <a:r>
              <a:rPr lang="ko-KR" altLang="en-US" sz="1200" dirty="0">
                <a:solidFill>
                  <a:schemeClr val="tx1"/>
                </a:solidFill>
              </a:rPr>
              <a:t>존속기간 만료</a:t>
            </a:r>
            <a:r>
              <a:rPr lang="en-US" altLang="ko-KR" sz="1200" dirty="0">
                <a:solidFill>
                  <a:schemeClr val="tx1"/>
                </a:solidFill>
              </a:rPr>
              <a:t>, </a:t>
            </a:r>
            <a:r>
              <a:rPr lang="ko-KR" altLang="en-US" sz="1200" dirty="0">
                <a:solidFill>
                  <a:srgbClr val="FF0000"/>
                </a:solidFill>
              </a:rPr>
              <a:t>특허권의 포기</a:t>
            </a:r>
            <a:r>
              <a:rPr lang="en-US" altLang="ko-KR" sz="1200" dirty="0">
                <a:solidFill>
                  <a:schemeClr val="tx1"/>
                </a:solidFill>
              </a:rPr>
              <a:t>, </a:t>
            </a:r>
            <a:r>
              <a:rPr lang="ko-KR" altLang="en-US" sz="1200" dirty="0">
                <a:solidFill>
                  <a:schemeClr val="tx1"/>
                </a:solidFill>
              </a:rPr>
              <a:t>상속인 </a:t>
            </a:r>
            <a:r>
              <a:rPr lang="ko-KR" altLang="en-US" sz="1200" dirty="0" err="1">
                <a:solidFill>
                  <a:schemeClr val="tx1"/>
                </a:solidFill>
              </a:rPr>
              <a:t>부존재</a:t>
            </a:r>
            <a:endParaRPr lang="en-US" altLang="ko-KR" sz="1200" dirty="0">
              <a:solidFill>
                <a:schemeClr val="tx1"/>
              </a:solidFill>
            </a:endParaRPr>
          </a:p>
          <a:p>
            <a:r>
              <a:rPr lang="en-US" altLang="ko-KR" sz="1200" dirty="0">
                <a:solidFill>
                  <a:schemeClr val="tx1"/>
                </a:solidFill>
              </a:rPr>
              <a:t>- </a:t>
            </a:r>
            <a:r>
              <a:rPr lang="ko-KR" altLang="en-US" sz="1200" dirty="0">
                <a:solidFill>
                  <a:schemeClr val="tx1"/>
                </a:solidFill>
              </a:rPr>
              <a:t>소급효</a:t>
            </a:r>
            <a:r>
              <a:rPr lang="en-US" altLang="ko-KR" sz="1200" dirty="0">
                <a:solidFill>
                  <a:schemeClr val="tx1"/>
                </a:solidFill>
              </a:rPr>
              <a:t>: </a:t>
            </a:r>
            <a:r>
              <a:rPr lang="ko-KR" altLang="en-US" sz="1200" dirty="0">
                <a:solidFill>
                  <a:schemeClr val="tx1"/>
                </a:solidFill>
              </a:rPr>
              <a:t>취소결정확정</a:t>
            </a:r>
            <a:r>
              <a:rPr lang="en-US" altLang="ko-KR" sz="1200" dirty="0">
                <a:solidFill>
                  <a:schemeClr val="tx1"/>
                </a:solidFill>
              </a:rPr>
              <a:t>, </a:t>
            </a:r>
            <a:r>
              <a:rPr lang="ko-KR" altLang="en-US" sz="1200" dirty="0" err="1">
                <a:solidFill>
                  <a:schemeClr val="tx1"/>
                </a:solidFill>
              </a:rPr>
              <a:t>무효심결확정</a:t>
            </a:r>
            <a:r>
              <a:rPr lang="en-US" altLang="ko-KR" sz="1200" dirty="0">
                <a:solidFill>
                  <a:schemeClr val="tx1"/>
                </a:solidFill>
              </a:rPr>
              <a:t>(</a:t>
            </a:r>
            <a:r>
              <a:rPr lang="ko-KR" altLang="en-US" sz="1200" dirty="0">
                <a:solidFill>
                  <a:schemeClr val="tx1"/>
                </a:solidFill>
              </a:rPr>
              <a:t>단</a:t>
            </a:r>
            <a:r>
              <a:rPr lang="en-US" altLang="ko-KR" sz="1200" dirty="0">
                <a:solidFill>
                  <a:schemeClr val="tx1"/>
                </a:solidFill>
              </a:rPr>
              <a:t>, </a:t>
            </a:r>
            <a:r>
              <a:rPr lang="ko-KR" altLang="en-US" sz="1200" dirty="0">
                <a:solidFill>
                  <a:schemeClr val="tx1"/>
                </a:solidFill>
              </a:rPr>
              <a:t>후발적 사유는 제외</a:t>
            </a:r>
            <a:r>
              <a:rPr lang="en-US" altLang="ko-KR" sz="1200" dirty="0">
                <a:solidFill>
                  <a:schemeClr val="tx1"/>
                </a:solidFill>
              </a:rPr>
              <a:t>)</a:t>
            </a:r>
            <a:endParaRPr lang="ko-KR" altLang="en-US" sz="1200" dirty="0">
              <a:solidFill>
                <a:schemeClr val="tx1"/>
              </a:solidFill>
            </a:endParaRPr>
          </a:p>
        </p:txBody>
      </p:sp>
      <p:sp>
        <p:nvSpPr>
          <p:cNvPr id="5" name="슬라이드 번호 개체 틀 4"/>
          <p:cNvSpPr>
            <a:spLocks noGrp="1"/>
          </p:cNvSpPr>
          <p:nvPr>
            <p:ph type="sldNum" sz="quarter" idx="12"/>
          </p:nvPr>
        </p:nvSpPr>
        <p:spPr/>
        <p:txBody>
          <a:bodyPr/>
          <a:lstStyle/>
          <a:p>
            <a:r>
              <a:rPr lang="en-US" altLang="ko-KR"/>
              <a:t>294</a:t>
            </a:r>
            <a:endParaRPr lang="ko-KR" altLang="en-US"/>
          </a:p>
        </p:txBody>
      </p:sp>
      <p:sp>
        <p:nvSpPr>
          <p:cNvPr id="7" name="직사각형 6">
            <a:extLst>
              <a:ext uri="{FF2B5EF4-FFF2-40B4-BE49-F238E27FC236}">
                <a16:creationId xmlns:a16="http://schemas.microsoft.com/office/drawing/2014/main" id="{7F423C05-168F-9230-48AE-3D4C8A6EAFD2}"/>
              </a:ext>
            </a:extLst>
          </p:cNvPr>
          <p:cNvSpPr/>
          <p:nvPr/>
        </p:nvSpPr>
        <p:spPr>
          <a:xfrm>
            <a:off x="2708636" y="3958614"/>
            <a:ext cx="939999" cy="259975"/>
          </a:xfrm>
          <a:prstGeom prst="rect">
            <a:avLst/>
          </a:prstGeom>
          <a:solidFill>
            <a:schemeClr val="bg1"/>
          </a:solidFill>
          <a:ln w="38100">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accent2">
                    <a:lumMod val="50000"/>
                  </a:schemeClr>
                </a:solidFill>
              </a:rPr>
              <a:t>제</a:t>
            </a:r>
            <a:r>
              <a:rPr lang="en-US" altLang="ko-KR" sz="900" dirty="0">
                <a:solidFill>
                  <a:schemeClr val="accent2">
                    <a:lumMod val="50000"/>
                  </a:schemeClr>
                </a:solidFill>
              </a:rPr>
              <a:t>87</a:t>
            </a:r>
            <a:r>
              <a:rPr lang="ko-KR" altLang="en-US" sz="900" dirty="0">
                <a:solidFill>
                  <a:schemeClr val="accent2">
                    <a:lumMod val="50000"/>
                  </a:schemeClr>
                </a:solidFill>
              </a:rPr>
              <a:t>조제</a:t>
            </a:r>
            <a:r>
              <a:rPr lang="en-US" altLang="ko-KR" sz="900" dirty="0">
                <a:solidFill>
                  <a:schemeClr val="accent2">
                    <a:lumMod val="50000"/>
                  </a:schemeClr>
                </a:solidFill>
              </a:rPr>
              <a:t>1</a:t>
            </a:r>
            <a:r>
              <a:rPr lang="ko-KR" altLang="en-US" sz="900" dirty="0">
                <a:solidFill>
                  <a:schemeClr val="accent2">
                    <a:lumMod val="50000"/>
                  </a:schemeClr>
                </a:solidFill>
              </a:rPr>
              <a:t>항</a:t>
            </a:r>
          </a:p>
        </p:txBody>
      </p:sp>
      <p:cxnSp>
        <p:nvCxnSpPr>
          <p:cNvPr id="9" name="직선 연결선 8">
            <a:extLst>
              <a:ext uri="{FF2B5EF4-FFF2-40B4-BE49-F238E27FC236}">
                <a16:creationId xmlns:a16="http://schemas.microsoft.com/office/drawing/2014/main" id="{35D6CA70-03CF-94CF-306A-12991593FE70}"/>
              </a:ext>
            </a:extLst>
          </p:cNvPr>
          <p:cNvCxnSpPr>
            <a:stCxn id="7" idx="3"/>
          </p:cNvCxnSpPr>
          <p:nvPr/>
        </p:nvCxnSpPr>
        <p:spPr>
          <a:xfrm>
            <a:off x="3648635" y="4088602"/>
            <a:ext cx="502024" cy="124810"/>
          </a:xfrm>
          <a:prstGeom prst="line">
            <a:avLst/>
          </a:prstGeom>
          <a:ln w="28575">
            <a:solidFill>
              <a:schemeClr val="accent2">
                <a:lumMod val="40000"/>
                <a:lumOff val="6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0" name="자유형: 도형 9">
            <a:extLst>
              <a:ext uri="{FF2B5EF4-FFF2-40B4-BE49-F238E27FC236}">
                <a16:creationId xmlns:a16="http://schemas.microsoft.com/office/drawing/2014/main" id="{2551855E-424D-B0DB-A0D8-AC8CFEEC2783}"/>
              </a:ext>
            </a:extLst>
          </p:cNvPr>
          <p:cNvSpPr/>
          <p:nvPr/>
        </p:nvSpPr>
        <p:spPr>
          <a:xfrm>
            <a:off x="3352800" y="4572000"/>
            <a:ext cx="833718" cy="1021976"/>
          </a:xfrm>
          <a:custGeom>
            <a:avLst/>
            <a:gdLst>
              <a:gd name="connsiteX0" fmla="*/ 779929 w 833718"/>
              <a:gd name="connsiteY0" fmla="*/ 0 h 1021976"/>
              <a:gd name="connsiteX1" fmla="*/ 0 w 833718"/>
              <a:gd name="connsiteY1" fmla="*/ 0 h 1021976"/>
              <a:gd name="connsiteX2" fmla="*/ 0 w 833718"/>
              <a:gd name="connsiteY2" fmla="*/ 1021976 h 1021976"/>
              <a:gd name="connsiteX3" fmla="*/ 833718 w 833718"/>
              <a:gd name="connsiteY3" fmla="*/ 1021976 h 1021976"/>
            </a:gdLst>
            <a:ahLst/>
            <a:cxnLst>
              <a:cxn ang="0">
                <a:pos x="connsiteX0" y="connsiteY0"/>
              </a:cxn>
              <a:cxn ang="0">
                <a:pos x="connsiteX1" y="connsiteY1"/>
              </a:cxn>
              <a:cxn ang="0">
                <a:pos x="connsiteX2" y="connsiteY2"/>
              </a:cxn>
              <a:cxn ang="0">
                <a:pos x="connsiteX3" y="connsiteY3"/>
              </a:cxn>
            </a:cxnLst>
            <a:rect l="l" t="t" r="r" b="b"/>
            <a:pathLst>
              <a:path w="833718" h="1021976">
                <a:moveTo>
                  <a:pt x="779929" y="0"/>
                </a:moveTo>
                <a:lnTo>
                  <a:pt x="0" y="0"/>
                </a:lnTo>
                <a:lnTo>
                  <a:pt x="0" y="1021976"/>
                </a:lnTo>
                <a:lnTo>
                  <a:pt x="833718" y="1021976"/>
                </a:lnTo>
              </a:path>
            </a:pathLst>
          </a:custGeom>
          <a:no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직사각형 10">
            <a:extLst>
              <a:ext uri="{FF2B5EF4-FFF2-40B4-BE49-F238E27FC236}">
                <a16:creationId xmlns:a16="http://schemas.microsoft.com/office/drawing/2014/main" id="{9F9F1727-6E54-4830-3631-57A26A260A8F}"/>
              </a:ext>
            </a:extLst>
          </p:cNvPr>
          <p:cNvSpPr/>
          <p:nvPr/>
        </p:nvSpPr>
        <p:spPr>
          <a:xfrm>
            <a:off x="2175933" y="4694811"/>
            <a:ext cx="939999" cy="406107"/>
          </a:xfrm>
          <a:prstGeom prst="rect">
            <a:avLst/>
          </a:prstGeom>
          <a:solidFill>
            <a:schemeClr val="bg1"/>
          </a:solidFill>
          <a:ln w="38100">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accent2">
                    <a:lumMod val="50000"/>
                  </a:schemeClr>
                </a:solidFill>
              </a:rPr>
              <a:t>제</a:t>
            </a:r>
            <a:r>
              <a:rPr lang="en-US" altLang="ko-KR" sz="900" dirty="0">
                <a:solidFill>
                  <a:schemeClr val="accent2">
                    <a:lumMod val="50000"/>
                  </a:schemeClr>
                </a:solidFill>
              </a:rPr>
              <a:t>101</a:t>
            </a:r>
            <a:r>
              <a:rPr lang="ko-KR" altLang="en-US" sz="900" dirty="0">
                <a:solidFill>
                  <a:schemeClr val="accent2">
                    <a:lumMod val="50000"/>
                  </a:schemeClr>
                </a:solidFill>
              </a:rPr>
              <a:t>조제</a:t>
            </a:r>
            <a:r>
              <a:rPr lang="en-US" altLang="ko-KR" sz="900" dirty="0">
                <a:solidFill>
                  <a:schemeClr val="accent2">
                    <a:lumMod val="50000"/>
                  </a:schemeClr>
                </a:solidFill>
              </a:rPr>
              <a:t>1</a:t>
            </a:r>
            <a:r>
              <a:rPr lang="ko-KR" altLang="en-US" sz="900" dirty="0">
                <a:solidFill>
                  <a:schemeClr val="accent2">
                    <a:lumMod val="50000"/>
                  </a:schemeClr>
                </a:solidFill>
              </a:rPr>
              <a:t>항</a:t>
            </a:r>
            <a:endParaRPr lang="en-US" altLang="ko-KR" sz="900" dirty="0">
              <a:solidFill>
                <a:schemeClr val="accent2">
                  <a:lumMod val="50000"/>
                </a:schemeClr>
              </a:solidFill>
            </a:endParaRPr>
          </a:p>
          <a:p>
            <a:pPr algn="ctr"/>
            <a:r>
              <a:rPr lang="ko-KR" altLang="en-US" sz="900" dirty="0">
                <a:solidFill>
                  <a:schemeClr val="accent2">
                    <a:lumMod val="50000"/>
                  </a:schemeClr>
                </a:solidFill>
              </a:rPr>
              <a:t>제</a:t>
            </a:r>
            <a:r>
              <a:rPr lang="en-US" altLang="ko-KR" sz="900" dirty="0">
                <a:solidFill>
                  <a:schemeClr val="accent2">
                    <a:lumMod val="50000"/>
                  </a:schemeClr>
                </a:solidFill>
              </a:rPr>
              <a:t>1</a:t>
            </a:r>
            <a:r>
              <a:rPr lang="ko-KR" altLang="en-US" sz="900" dirty="0">
                <a:solidFill>
                  <a:schemeClr val="accent2">
                    <a:lumMod val="50000"/>
                  </a:schemeClr>
                </a:solidFill>
              </a:rPr>
              <a:t>호</a:t>
            </a:r>
          </a:p>
        </p:txBody>
      </p:sp>
      <p:cxnSp>
        <p:nvCxnSpPr>
          <p:cNvPr id="12" name="직선 연결선 11">
            <a:extLst>
              <a:ext uri="{FF2B5EF4-FFF2-40B4-BE49-F238E27FC236}">
                <a16:creationId xmlns:a16="http://schemas.microsoft.com/office/drawing/2014/main" id="{96A3E34C-64AC-3B5F-9291-F7629EA83F0A}"/>
              </a:ext>
            </a:extLst>
          </p:cNvPr>
          <p:cNvCxnSpPr>
            <a:cxnSpLocks/>
          </p:cNvCxnSpPr>
          <p:nvPr/>
        </p:nvCxnSpPr>
        <p:spPr>
          <a:xfrm>
            <a:off x="3101788" y="4907623"/>
            <a:ext cx="251012" cy="124810"/>
          </a:xfrm>
          <a:prstGeom prst="line">
            <a:avLst/>
          </a:prstGeom>
          <a:ln w="28575">
            <a:solidFill>
              <a:schemeClr val="accent2">
                <a:lumMod val="40000"/>
                <a:lumOff val="6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4" name="직사각형 13">
            <a:extLst>
              <a:ext uri="{FF2B5EF4-FFF2-40B4-BE49-F238E27FC236}">
                <a16:creationId xmlns:a16="http://schemas.microsoft.com/office/drawing/2014/main" id="{F83F7AAA-9F0D-9DE2-A1A2-9E8C72DD0E00}"/>
              </a:ext>
            </a:extLst>
          </p:cNvPr>
          <p:cNvSpPr/>
          <p:nvPr/>
        </p:nvSpPr>
        <p:spPr>
          <a:xfrm>
            <a:off x="5441827" y="4875552"/>
            <a:ext cx="939999" cy="406107"/>
          </a:xfrm>
          <a:prstGeom prst="rect">
            <a:avLst/>
          </a:prstGeom>
          <a:solidFill>
            <a:schemeClr val="bg1"/>
          </a:solidFill>
          <a:ln w="38100">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accent2">
                    <a:lumMod val="50000"/>
                  </a:schemeClr>
                </a:solidFill>
              </a:rPr>
              <a:t>제</a:t>
            </a:r>
            <a:r>
              <a:rPr lang="en-US" altLang="ko-KR" sz="900" dirty="0">
                <a:solidFill>
                  <a:schemeClr val="accent2">
                    <a:lumMod val="50000"/>
                  </a:schemeClr>
                </a:solidFill>
              </a:rPr>
              <a:t>101</a:t>
            </a:r>
            <a:r>
              <a:rPr lang="ko-KR" altLang="en-US" sz="900" dirty="0">
                <a:solidFill>
                  <a:schemeClr val="accent2">
                    <a:lumMod val="50000"/>
                  </a:schemeClr>
                </a:solidFill>
              </a:rPr>
              <a:t>조제</a:t>
            </a:r>
            <a:r>
              <a:rPr lang="en-US" altLang="ko-KR" sz="900" dirty="0">
                <a:solidFill>
                  <a:schemeClr val="accent2">
                    <a:lumMod val="50000"/>
                  </a:schemeClr>
                </a:solidFill>
              </a:rPr>
              <a:t>1</a:t>
            </a:r>
            <a:r>
              <a:rPr lang="ko-KR" altLang="en-US" sz="900" dirty="0">
                <a:solidFill>
                  <a:schemeClr val="accent2">
                    <a:lumMod val="50000"/>
                  </a:schemeClr>
                </a:solidFill>
              </a:rPr>
              <a:t>항</a:t>
            </a:r>
            <a:endParaRPr lang="en-US" altLang="ko-KR" sz="900" dirty="0">
              <a:solidFill>
                <a:schemeClr val="accent2">
                  <a:lumMod val="50000"/>
                </a:schemeClr>
              </a:solidFill>
            </a:endParaRPr>
          </a:p>
          <a:p>
            <a:pPr algn="ctr"/>
            <a:r>
              <a:rPr lang="ko-KR" altLang="en-US" sz="900" dirty="0">
                <a:solidFill>
                  <a:schemeClr val="accent2">
                    <a:lumMod val="50000"/>
                  </a:schemeClr>
                </a:solidFill>
              </a:rPr>
              <a:t>제</a:t>
            </a:r>
            <a:r>
              <a:rPr lang="en-US" altLang="ko-KR" sz="900" dirty="0">
                <a:solidFill>
                  <a:schemeClr val="accent2">
                    <a:lumMod val="50000"/>
                  </a:schemeClr>
                </a:solidFill>
              </a:rPr>
              <a:t>2</a:t>
            </a:r>
            <a:r>
              <a:rPr lang="ko-KR" altLang="en-US" sz="900" dirty="0">
                <a:solidFill>
                  <a:schemeClr val="accent2">
                    <a:lumMod val="50000"/>
                  </a:schemeClr>
                </a:solidFill>
              </a:rPr>
              <a:t>호</a:t>
            </a:r>
          </a:p>
        </p:txBody>
      </p:sp>
      <p:sp>
        <p:nvSpPr>
          <p:cNvPr id="15" name="자유형: 도형 14">
            <a:extLst>
              <a:ext uri="{FF2B5EF4-FFF2-40B4-BE49-F238E27FC236}">
                <a16:creationId xmlns:a16="http://schemas.microsoft.com/office/drawing/2014/main" id="{DE6B03EC-F6E3-D06D-788E-352A899556F5}"/>
              </a:ext>
            </a:extLst>
          </p:cNvPr>
          <p:cNvSpPr/>
          <p:nvPr/>
        </p:nvSpPr>
        <p:spPr>
          <a:xfrm>
            <a:off x="6714315" y="4216108"/>
            <a:ext cx="873312" cy="1377868"/>
          </a:xfrm>
          <a:custGeom>
            <a:avLst/>
            <a:gdLst>
              <a:gd name="connsiteX0" fmla="*/ 779929 w 833718"/>
              <a:gd name="connsiteY0" fmla="*/ 0 h 1021976"/>
              <a:gd name="connsiteX1" fmla="*/ 0 w 833718"/>
              <a:gd name="connsiteY1" fmla="*/ 0 h 1021976"/>
              <a:gd name="connsiteX2" fmla="*/ 0 w 833718"/>
              <a:gd name="connsiteY2" fmla="*/ 1021976 h 1021976"/>
              <a:gd name="connsiteX3" fmla="*/ 833718 w 833718"/>
              <a:gd name="connsiteY3" fmla="*/ 1021976 h 1021976"/>
            </a:gdLst>
            <a:ahLst/>
            <a:cxnLst>
              <a:cxn ang="0">
                <a:pos x="connsiteX0" y="connsiteY0"/>
              </a:cxn>
              <a:cxn ang="0">
                <a:pos x="connsiteX1" y="connsiteY1"/>
              </a:cxn>
              <a:cxn ang="0">
                <a:pos x="connsiteX2" y="connsiteY2"/>
              </a:cxn>
              <a:cxn ang="0">
                <a:pos x="connsiteX3" y="connsiteY3"/>
              </a:cxn>
            </a:cxnLst>
            <a:rect l="l" t="t" r="r" b="b"/>
            <a:pathLst>
              <a:path w="833718" h="1021976">
                <a:moveTo>
                  <a:pt x="779929" y="0"/>
                </a:moveTo>
                <a:lnTo>
                  <a:pt x="0" y="0"/>
                </a:lnTo>
                <a:lnTo>
                  <a:pt x="0" y="1021976"/>
                </a:lnTo>
                <a:lnTo>
                  <a:pt x="833718" y="1021976"/>
                </a:lnTo>
              </a:path>
            </a:pathLst>
          </a:custGeom>
          <a:no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6" name="직선 연결선 15">
            <a:extLst>
              <a:ext uri="{FF2B5EF4-FFF2-40B4-BE49-F238E27FC236}">
                <a16:creationId xmlns:a16="http://schemas.microsoft.com/office/drawing/2014/main" id="{3DA9C99F-2E2B-7F47-B56A-5E1715D8FA89}"/>
              </a:ext>
            </a:extLst>
          </p:cNvPr>
          <p:cNvCxnSpPr>
            <a:cxnSpLocks/>
          </p:cNvCxnSpPr>
          <p:nvPr/>
        </p:nvCxnSpPr>
        <p:spPr>
          <a:xfrm flipV="1">
            <a:off x="6381826" y="4858117"/>
            <a:ext cx="332489" cy="220488"/>
          </a:xfrm>
          <a:prstGeom prst="line">
            <a:avLst/>
          </a:prstGeom>
          <a:ln w="28575">
            <a:solidFill>
              <a:schemeClr val="accent2">
                <a:lumMod val="40000"/>
                <a:lumOff val="6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8" name="직사각형 17">
            <a:extLst>
              <a:ext uri="{FF2B5EF4-FFF2-40B4-BE49-F238E27FC236}">
                <a16:creationId xmlns:a16="http://schemas.microsoft.com/office/drawing/2014/main" id="{3755010F-9AFB-2CC1-9765-B58E5ACD6EE0}"/>
              </a:ext>
            </a:extLst>
          </p:cNvPr>
          <p:cNvSpPr/>
          <p:nvPr/>
        </p:nvSpPr>
        <p:spPr>
          <a:xfrm>
            <a:off x="9013364" y="3958614"/>
            <a:ext cx="939999" cy="259975"/>
          </a:xfrm>
          <a:prstGeom prst="rect">
            <a:avLst/>
          </a:prstGeom>
          <a:solidFill>
            <a:schemeClr val="bg1"/>
          </a:solidFill>
          <a:ln w="38100">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accent2">
                    <a:lumMod val="50000"/>
                  </a:schemeClr>
                </a:solidFill>
              </a:rPr>
              <a:t>제</a:t>
            </a:r>
            <a:r>
              <a:rPr lang="en-US" altLang="ko-KR" sz="900" dirty="0">
                <a:solidFill>
                  <a:schemeClr val="accent2">
                    <a:lumMod val="50000"/>
                  </a:schemeClr>
                </a:solidFill>
              </a:rPr>
              <a:t>118</a:t>
            </a:r>
            <a:r>
              <a:rPr lang="ko-KR" altLang="en-US" sz="900" dirty="0">
                <a:solidFill>
                  <a:schemeClr val="accent2">
                    <a:lumMod val="50000"/>
                  </a:schemeClr>
                </a:solidFill>
              </a:rPr>
              <a:t>조제</a:t>
            </a:r>
            <a:r>
              <a:rPr lang="en-US" altLang="ko-KR" sz="900" dirty="0">
                <a:solidFill>
                  <a:schemeClr val="accent2">
                    <a:lumMod val="50000"/>
                  </a:schemeClr>
                </a:solidFill>
              </a:rPr>
              <a:t>1</a:t>
            </a:r>
            <a:r>
              <a:rPr lang="ko-KR" altLang="en-US" sz="900" dirty="0">
                <a:solidFill>
                  <a:schemeClr val="accent2">
                    <a:lumMod val="50000"/>
                  </a:schemeClr>
                </a:solidFill>
              </a:rPr>
              <a:t>항</a:t>
            </a:r>
          </a:p>
        </p:txBody>
      </p:sp>
      <p:cxnSp>
        <p:nvCxnSpPr>
          <p:cNvPr id="19" name="직선 연결선 18">
            <a:extLst>
              <a:ext uri="{FF2B5EF4-FFF2-40B4-BE49-F238E27FC236}">
                <a16:creationId xmlns:a16="http://schemas.microsoft.com/office/drawing/2014/main" id="{C0D03E2C-5AEA-96E5-7CFA-F4F8BE70D141}"/>
              </a:ext>
            </a:extLst>
          </p:cNvPr>
          <p:cNvCxnSpPr>
            <a:cxnSpLocks/>
            <a:stCxn id="18" idx="3"/>
          </p:cNvCxnSpPr>
          <p:nvPr/>
        </p:nvCxnSpPr>
        <p:spPr>
          <a:xfrm>
            <a:off x="9953363" y="4088602"/>
            <a:ext cx="502024" cy="64994"/>
          </a:xfrm>
          <a:prstGeom prst="line">
            <a:avLst/>
          </a:prstGeom>
          <a:ln w="28575">
            <a:solidFill>
              <a:schemeClr val="accent2">
                <a:lumMod val="40000"/>
                <a:lumOff val="6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21" name="직사각형 20">
            <a:extLst>
              <a:ext uri="{FF2B5EF4-FFF2-40B4-BE49-F238E27FC236}">
                <a16:creationId xmlns:a16="http://schemas.microsoft.com/office/drawing/2014/main" id="{AFF200C8-E7DD-5954-85DE-7A5F3E263FF2}"/>
              </a:ext>
            </a:extLst>
          </p:cNvPr>
          <p:cNvSpPr/>
          <p:nvPr/>
        </p:nvSpPr>
        <p:spPr>
          <a:xfrm>
            <a:off x="11196194" y="3958614"/>
            <a:ext cx="939999" cy="259975"/>
          </a:xfrm>
          <a:prstGeom prst="rect">
            <a:avLst/>
          </a:prstGeom>
          <a:solidFill>
            <a:schemeClr val="bg1"/>
          </a:solidFill>
          <a:ln w="38100">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accent2">
                    <a:lumMod val="50000"/>
                  </a:schemeClr>
                </a:solidFill>
              </a:rPr>
              <a:t>제</a:t>
            </a:r>
            <a:r>
              <a:rPr lang="en-US" altLang="ko-KR" sz="900" dirty="0">
                <a:solidFill>
                  <a:schemeClr val="accent2">
                    <a:lumMod val="50000"/>
                  </a:schemeClr>
                </a:solidFill>
              </a:rPr>
              <a:t>118</a:t>
            </a:r>
            <a:r>
              <a:rPr lang="ko-KR" altLang="en-US" sz="900" dirty="0">
                <a:solidFill>
                  <a:schemeClr val="accent2">
                    <a:lumMod val="50000"/>
                  </a:schemeClr>
                </a:solidFill>
              </a:rPr>
              <a:t>조제</a:t>
            </a:r>
            <a:r>
              <a:rPr lang="en-US" altLang="ko-KR" sz="900" dirty="0">
                <a:solidFill>
                  <a:schemeClr val="accent2">
                    <a:lumMod val="50000"/>
                  </a:schemeClr>
                </a:solidFill>
              </a:rPr>
              <a:t>2</a:t>
            </a:r>
            <a:r>
              <a:rPr lang="ko-KR" altLang="en-US" sz="900" dirty="0">
                <a:solidFill>
                  <a:schemeClr val="accent2">
                    <a:lumMod val="50000"/>
                  </a:schemeClr>
                </a:solidFill>
              </a:rPr>
              <a:t>항</a:t>
            </a:r>
          </a:p>
        </p:txBody>
      </p:sp>
      <p:cxnSp>
        <p:nvCxnSpPr>
          <p:cNvPr id="22" name="직선 연결선 21">
            <a:extLst>
              <a:ext uri="{FF2B5EF4-FFF2-40B4-BE49-F238E27FC236}">
                <a16:creationId xmlns:a16="http://schemas.microsoft.com/office/drawing/2014/main" id="{8F0346A4-9B69-FF1A-CDB1-E534D8C908F0}"/>
              </a:ext>
            </a:extLst>
          </p:cNvPr>
          <p:cNvCxnSpPr>
            <a:cxnSpLocks/>
            <a:endCxn id="21" idx="2"/>
          </p:cNvCxnSpPr>
          <p:nvPr/>
        </p:nvCxnSpPr>
        <p:spPr>
          <a:xfrm flipV="1">
            <a:off x="11144036" y="4218589"/>
            <a:ext cx="522158" cy="125748"/>
          </a:xfrm>
          <a:prstGeom prst="line">
            <a:avLst/>
          </a:prstGeom>
          <a:ln w="28575">
            <a:solidFill>
              <a:schemeClr val="accent2">
                <a:lumMod val="40000"/>
                <a:lumOff val="6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25" name="자유형: 도형 24">
            <a:extLst>
              <a:ext uri="{FF2B5EF4-FFF2-40B4-BE49-F238E27FC236}">
                <a16:creationId xmlns:a16="http://schemas.microsoft.com/office/drawing/2014/main" id="{545F956D-93CF-AF2E-0F80-D8AE1CA0F547}"/>
              </a:ext>
            </a:extLst>
          </p:cNvPr>
          <p:cNvSpPr/>
          <p:nvPr/>
        </p:nvSpPr>
        <p:spPr>
          <a:xfrm>
            <a:off x="10235055" y="4694810"/>
            <a:ext cx="251012" cy="899165"/>
          </a:xfrm>
          <a:custGeom>
            <a:avLst/>
            <a:gdLst>
              <a:gd name="connsiteX0" fmla="*/ 779929 w 833718"/>
              <a:gd name="connsiteY0" fmla="*/ 0 h 1021976"/>
              <a:gd name="connsiteX1" fmla="*/ 0 w 833718"/>
              <a:gd name="connsiteY1" fmla="*/ 0 h 1021976"/>
              <a:gd name="connsiteX2" fmla="*/ 0 w 833718"/>
              <a:gd name="connsiteY2" fmla="*/ 1021976 h 1021976"/>
              <a:gd name="connsiteX3" fmla="*/ 833718 w 833718"/>
              <a:gd name="connsiteY3" fmla="*/ 1021976 h 1021976"/>
            </a:gdLst>
            <a:ahLst/>
            <a:cxnLst>
              <a:cxn ang="0">
                <a:pos x="connsiteX0" y="connsiteY0"/>
              </a:cxn>
              <a:cxn ang="0">
                <a:pos x="connsiteX1" y="connsiteY1"/>
              </a:cxn>
              <a:cxn ang="0">
                <a:pos x="connsiteX2" y="connsiteY2"/>
              </a:cxn>
              <a:cxn ang="0">
                <a:pos x="connsiteX3" y="connsiteY3"/>
              </a:cxn>
            </a:cxnLst>
            <a:rect l="l" t="t" r="r" b="b"/>
            <a:pathLst>
              <a:path w="833718" h="1021976">
                <a:moveTo>
                  <a:pt x="779929" y="0"/>
                </a:moveTo>
                <a:lnTo>
                  <a:pt x="0" y="0"/>
                </a:lnTo>
                <a:lnTo>
                  <a:pt x="0" y="1021976"/>
                </a:lnTo>
                <a:lnTo>
                  <a:pt x="833718" y="1021976"/>
                </a:lnTo>
              </a:path>
            </a:pathLst>
          </a:custGeom>
          <a:no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직사각형 25">
            <a:extLst>
              <a:ext uri="{FF2B5EF4-FFF2-40B4-BE49-F238E27FC236}">
                <a16:creationId xmlns:a16="http://schemas.microsoft.com/office/drawing/2014/main" id="{D297145F-F239-28DC-5FE6-1BCE6E151CE4}"/>
              </a:ext>
            </a:extLst>
          </p:cNvPr>
          <p:cNvSpPr/>
          <p:nvPr/>
        </p:nvSpPr>
        <p:spPr>
          <a:xfrm>
            <a:off x="9051763" y="4897864"/>
            <a:ext cx="939999" cy="269138"/>
          </a:xfrm>
          <a:prstGeom prst="rect">
            <a:avLst/>
          </a:prstGeom>
          <a:solidFill>
            <a:schemeClr val="bg1"/>
          </a:solidFill>
          <a:ln w="38100">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chemeClr val="accent2">
                    <a:lumMod val="50000"/>
                  </a:schemeClr>
                </a:solidFill>
              </a:rPr>
              <a:t>제</a:t>
            </a:r>
            <a:r>
              <a:rPr lang="en-US" altLang="ko-KR" sz="900" dirty="0">
                <a:solidFill>
                  <a:schemeClr val="accent2">
                    <a:lumMod val="50000"/>
                  </a:schemeClr>
                </a:solidFill>
              </a:rPr>
              <a:t>118</a:t>
            </a:r>
            <a:r>
              <a:rPr lang="ko-KR" altLang="en-US" sz="900" dirty="0">
                <a:solidFill>
                  <a:schemeClr val="accent2">
                    <a:lumMod val="50000"/>
                  </a:schemeClr>
                </a:solidFill>
              </a:rPr>
              <a:t>조제</a:t>
            </a:r>
            <a:r>
              <a:rPr lang="en-US" altLang="ko-KR" sz="900" dirty="0">
                <a:solidFill>
                  <a:schemeClr val="accent2">
                    <a:lumMod val="50000"/>
                  </a:schemeClr>
                </a:solidFill>
              </a:rPr>
              <a:t>3</a:t>
            </a:r>
            <a:r>
              <a:rPr lang="ko-KR" altLang="en-US" sz="900" dirty="0">
                <a:solidFill>
                  <a:schemeClr val="accent2">
                    <a:lumMod val="50000"/>
                  </a:schemeClr>
                </a:solidFill>
              </a:rPr>
              <a:t>항</a:t>
            </a:r>
          </a:p>
        </p:txBody>
      </p:sp>
      <p:cxnSp>
        <p:nvCxnSpPr>
          <p:cNvPr id="27" name="직선 연결선 26">
            <a:extLst>
              <a:ext uri="{FF2B5EF4-FFF2-40B4-BE49-F238E27FC236}">
                <a16:creationId xmlns:a16="http://schemas.microsoft.com/office/drawing/2014/main" id="{8E49A832-C227-00D7-A879-7C51054C357E}"/>
              </a:ext>
            </a:extLst>
          </p:cNvPr>
          <p:cNvCxnSpPr>
            <a:cxnSpLocks/>
          </p:cNvCxnSpPr>
          <p:nvPr/>
        </p:nvCxnSpPr>
        <p:spPr>
          <a:xfrm>
            <a:off x="9977618" y="5042191"/>
            <a:ext cx="251012" cy="124810"/>
          </a:xfrm>
          <a:prstGeom prst="line">
            <a:avLst/>
          </a:prstGeom>
          <a:ln w="28575">
            <a:solidFill>
              <a:schemeClr val="accent2">
                <a:lumMod val="40000"/>
                <a:lumOff val="6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26842593"/>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7" name="직선 연결선 66"/>
          <p:cNvCxnSpPr>
            <a:stCxn id="11" idx="2"/>
          </p:cNvCxnSpPr>
          <p:nvPr/>
        </p:nvCxnSpPr>
        <p:spPr>
          <a:xfrm flipH="1">
            <a:off x="4560948" y="1555642"/>
            <a:ext cx="1" cy="4896916"/>
          </a:xfrm>
          <a:prstGeom prst="line">
            <a:avLst/>
          </a:prstGeom>
          <a:ln w="12700">
            <a:solidFill>
              <a:schemeClr val="tx2"/>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직선 연결선 26"/>
          <p:cNvCxnSpPr>
            <a:stCxn id="28" idx="2"/>
          </p:cNvCxnSpPr>
          <p:nvPr/>
        </p:nvCxnSpPr>
        <p:spPr>
          <a:xfrm>
            <a:off x="1071804" y="1555642"/>
            <a:ext cx="0" cy="4896916"/>
          </a:xfrm>
          <a:prstGeom prst="line">
            <a:avLst/>
          </a:prstGeom>
          <a:ln w="38100">
            <a:solidFill>
              <a:schemeClr val="accent2">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87</a:t>
            </a:r>
            <a:r>
              <a:rPr lang="ko-KR" altLang="en-US" dirty="0"/>
              <a:t>조</a:t>
            </a:r>
          </a:p>
        </p:txBody>
      </p:sp>
      <p:sp>
        <p:nvSpPr>
          <p:cNvPr id="4" name="텍스트 개체 틀 3"/>
          <p:cNvSpPr>
            <a:spLocks noGrp="1"/>
          </p:cNvSpPr>
          <p:nvPr>
            <p:ph type="body" sz="quarter" idx="13"/>
          </p:nvPr>
        </p:nvSpPr>
        <p:spPr/>
        <p:txBody>
          <a:bodyPr/>
          <a:lstStyle/>
          <a:p>
            <a:r>
              <a:rPr lang="ko-KR" altLang="en-US" dirty="0"/>
              <a:t>설정등록 및 등록공고의 효과</a:t>
            </a:r>
          </a:p>
        </p:txBody>
      </p:sp>
      <p:cxnSp>
        <p:nvCxnSpPr>
          <p:cNvPr id="10" name="직선 연결선 9"/>
          <p:cNvCxnSpPr/>
          <p:nvPr/>
        </p:nvCxnSpPr>
        <p:spPr>
          <a:xfrm>
            <a:off x="1071804" y="1430545"/>
            <a:ext cx="10409153" cy="4058"/>
          </a:xfrm>
          <a:prstGeom prst="line">
            <a:avLst/>
          </a:prstGeom>
          <a:ln w="57150">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직사각형 10"/>
          <p:cNvSpPr/>
          <p:nvPr/>
        </p:nvSpPr>
        <p:spPr>
          <a:xfrm>
            <a:off x="4192962" y="1305447"/>
            <a:ext cx="735973" cy="250195"/>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공개</a:t>
            </a:r>
          </a:p>
        </p:txBody>
      </p:sp>
      <p:sp>
        <p:nvSpPr>
          <p:cNvPr id="15" name="직사각형 14"/>
          <p:cNvSpPr/>
          <p:nvPr/>
        </p:nvSpPr>
        <p:spPr>
          <a:xfrm>
            <a:off x="9537941" y="1305447"/>
            <a:ext cx="735973"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공고</a:t>
            </a:r>
          </a:p>
        </p:txBody>
      </p:sp>
      <p:sp>
        <p:nvSpPr>
          <p:cNvPr id="16" name="직사각형 15"/>
          <p:cNvSpPr/>
          <p:nvPr/>
        </p:nvSpPr>
        <p:spPr>
          <a:xfrm>
            <a:off x="5986908" y="1305447"/>
            <a:ext cx="735973" cy="250195"/>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경고</a:t>
            </a:r>
          </a:p>
        </p:txBody>
      </p:sp>
      <p:sp>
        <p:nvSpPr>
          <p:cNvPr id="17" name="직사각형 16"/>
          <p:cNvSpPr/>
          <p:nvPr/>
        </p:nvSpPr>
        <p:spPr>
          <a:xfrm>
            <a:off x="2417460" y="1305447"/>
            <a:ext cx="735973"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p>
        </p:txBody>
      </p:sp>
      <p:sp>
        <p:nvSpPr>
          <p:cNvPr id="28" name="직사각형 27"/>
          <p:cNvSpPr/>
          <p:nvPr/>
        </p:nvSpPr>
        <p:spPr>
          <a:xfrm>
            <a:off x="703817" y="1305447"/>
            <a:ext cx="735973"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완성</a:t>
            </a:r>
          </a:p>
        </p:txBody>
      </p:sp>
      <p:cxnSp>
        <p:nvCxnSpPr>
          <p:cNvPr id="29" name="직선 연결선 28"/>
          <p:cNvCxnSpPr/>
          <p:nvPr/>
        </p:nvCxnSpPr>
        <p:spPr>
          <a:xfrm>
            <a:off x="1071804" y="4199609"/>
            <a:ext cx="10409153" cy="4058"/>
          </a:xfrm>
          <a:prstGeom prst="line">
            <a:avLst/>
          </a:prstGeom>
          <a:ln w="57150">
            <a:solidFill>
              <a:schemeClr val="accent5"/>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8" name="직선 연결선 37"/>
          <p:cNvCxnSpPr>
            <a:stCxn id="17" idx="2"/>
          </p:cNvCxnSpPr>
          <p:nvPr/>
        </p:nvCxnSpPr>
        <p:spPr>
          <a:xfrm flipH="1">
            <a:off x="2785446" y="1555642"/>
            <a:ext cx="1" cy="4896916"/>
          </a:xfrm>
          <a:prstGeom prst="line">
            <a:avLst/>
          </a:prstGeom>
          <a:ln w="38100">
            <a:solidFill>
              <a:schemeClr val="accent2">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직선 연결선 38"/>
          <p:cNvCxnSpPr>
            <a:stCxn id="16" idx="2"/>
          </p:cNvCxnSpPr>
          <p:nvPr/>
        </p:nvCxnSpPr>
        <p:spPr>
          <a:xfrm>
            <a:off x="6354895" y="1555642"/>
            <a:ext cx="0" cy="4896916"/>
          </a:xfrm>
          <a:prstGeom prst="line">
            <a:avLst/>
          </a:prstGeom>
          <a:ln w="12700">
            <a:solidFill>
              <a:schemeClr val="tx2"/>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직선 연결선 39"/>
          <p:cNvCxnSpPr>
            <a:stCxn id="14" idx="2"/>
          </p:cNvCxnSpPr>
          <p:nvPr/>
        </p:nvCxnSpPr>
        <p:spPr>
          <a:xfrm>
            <a:off x="8144366" y="1555642"/>
            <a:ext cx="0" cy="4896916"/>
          </a:xfrm>
          <a:prstGeom prst="line">
            <a:avLst/>
          </a:prstGeom>
          <a:ln w="57150">
            <a:solidFill>
              <a:schemeClr val="accent2">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직선 연결선 40"/>
          <p:cNvCxnSpPr>
            <a:stCxn id="15" idx="2"/>
          </p:cNvCxnSpPr>
          <p:nvPr/>
        </p:nvCxnSpPr>
        <p:spPr>
          <a:xfrm flipH="1">
            <a:off x="9905927" y="1555642"/>
            <a:ext cx="1" cy="4896916"/>
          </a:xfrm>
          <a:prstGeom prst="line">
            <a:avLst/>
          </a:prstGeom>
          <a:ln w="12700">
            <a:solidFill>
              <a:schemeClr val="tx2"/>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직사각형 30"/>
          <p:cNvSpPr/>
          <p:nvPr/>
        </p:nvSpPr>
        <p:spPr>
          <a:xfrm>
            <a:off x="7776379" y="4074511"/>
            <a:ext cx="735973"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등록</a:t>
            </a:r>
          </a:p>
        </p:txBody>
      </p:sp>
      <p:sp>
        <p:nvSpPr>
          <p:cNvPr id="32" name="직사각형 31"/>
          <p:cNvSpPr/>
          <p:nvPr/>
        </p:nvSpPr>
        <p:spPr>
          <a:xfrm>
            <a:off x="9537941" y="4074511"/>
            <a:ext cx="735973"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공고</a:t>
            </a:r>
          </a:p>
        </p:txBody>
      </p:sp>
      <p:sp>
        <p:nvSpPr>
          <p:cNvPr id="34" name="직사각형 33"/>
          <p:cNvSpPr/>
          <p:nvPr/>
        </p:nvSpPr>
        <p:spPr>
          <a:xfrm>
            <a:off x="2417460" y="4074511"/>
            <a:ext cx="735973"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p>
        </p:txBody>
      </p:sp>
      <p:sp>
        <p:nvSpPr>
          <p:cNvPr id="35" name="직사각형 34"/>
          <p:cNvSpPr/>
          <p:nvPr/>
        </p:nvSpPr>
        <p:spPr>
          <a:xfrm>
            <a:off x="703817" y="4074511"/>
            <a:ext cx="735973"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완성</a:t>
            </a:r>
          </a:p>
        </p:txBody>
      </p:sp>
      <p:cxnSp>
        <p:nvCxnSpPr>
          <p:cNvPr id="37" name="직선 연결선 36"/>
          <p:cNvCxnSpPr>
            <a:endCxn id="109" idx="2"/>
          </p:cNvCxnSpPr>
          <p:nvPr/>
        </p:nvCxnSpPr>
        <p:spPr>
          <a:xfrm>
            <a:off x="2785446" y="1732276"/>
            <a:ext cx="5287481" cy="717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직사각형 43"/>
          <p:cNvSpPr/>
          <p:nvPr/>
        </p:nvSpPr>
        <p:spPr>
          <a:xfrm>
            <a:off x="4689046" y="1634707"/>
            <a:ext cx="735973"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출원인</a:t>
            </a:r>
          </a:p>
        </p:txBody>
      </p:sp>
      <p:cxnSp>
        <p:nvCxnSpPr>
          <p:cNvPr id="46" name="직선 연결선 45"/>
          <p:cNvCxnSpPr>
            <a:stCxn id="109" idx="6"/>
          </p:cNvCxnSpPr>
          <p:nvPr/>
        </p:nvCxnSpPr>
        <p:spPr>
          <a:xfrm flipV="1">
            <a:off x="8215803" y="1732276"/>
            <a:ext cx="3474848" cy="717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직사각형 46"/>
          <p:cNvSpPr/>
          <p:nvPr/>
        </p:nvSpPr>
        <p:spPr>
          <a:xfrm>
            <a:off x="9417092" y="1634707"/>
            <a:ext cx="735973"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특허권자</a:t>
            </a:r>
            <a:endParaRPr lang="ko-KR" altLang="en-US" sz="1200" dirty="0">
              <a:solidFill>
                <a:schemeClr val="tx1"/>
              </a:solidFill>
            </a:endParaRPr>
          </a:p>
        </p:txBody>
      </p:sp>
      <p:cxnSp>
        <p:nvCxnSpPr>
          <p:cNvPr id="49" name="직선 연결선 48"/>
          <p:cNvCxnSpPr>
            <a:endCxn id="110" idx="2"/>
          </p:cNvCxnSpPr>
          <p:nvPr/>
        </p:nvCxnSpPr>
        <p:spPr>
          <a:xfrm flipV="1">
            <a:off x="2785446" y="2002372"/>
            <a:ext cx="5287481" cy="11177"/>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직사각형 49"/>
          <p:cNvSpPr/>
          <p:nvPr/>
        </p:nvSpPr>
        <p:spPr>
          <a:xfrm>
            <a:off x="4689046" y="1903832"/>
            <a:ext cx="735973"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출원발명</a:t>
            </a:r>
          </a:p>
        </p:txBody>
      </p:sp>
      <p:cxnSp>
        <p:nvCxnSpPr>
          <p:cNvPr id="53" name="직선 연결선 52"/>
          <p:cNvCxnSpPr/>
          <p:nvPr/>
        </p:nvCxnSpPr>
        <p:spPr>
          <a:xfrm>
            <a:off x="8215803" y="2004785"/>
            <a:ext cx="3474848"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직사각형 53"/>
          <p:cNvSpPr/>
          <p:nvPr/>
        </p:nvSpPr>
        <p:spPr>
          <a:xfrm>
            <a:off x="9417092" y="1907215"/>
            <a:ext cx="735973"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특허발명</a:t>
            </a:r>
          </a:p>
        </p:txBody>
      </p:sp>
      <p:cxnSp>
        <p:nvCxnSpPr>
          <p:cNvPr id="55" name="직선 연결선 54"/>
          <p:cNvCxnSpPr>
            <a:endCxn id="111" idx="2"/>
          </p:cNvCxnSpPr>
          <p:nvPr/>
        </p:nvCxnSpPr>
        <p:spPr>
          <a:xfrm>
            <a:off x="1071804" y="2257070"/>
            <a:ext cx="7001123"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 name="직사각형 55"/>
          <p:cNvSpPr/>
          <p:nvPr/>
        </p:nvSpPr>
        <p:spPr>
          <a:xfrm>
            <a:off x="4127158" y="2159501"/>
            <a:ext cx="1859750"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특허를 받을 수 있는 권리</a:t>
            </a:r>
            <a:endParaRPr lang="ko-KR" altLang="en-US" sz="1200" dirty="0">
              <a:solidFill>
                <a:schemeClr val="tx1"/>
              </a:solidFill>
            </a:endParaRPr>
          </a:p>
        </p:txBody>
      </p:sp>
      <p:cxnSp>
        <p:nvCxnSpPr>
          <p:cNvPr id="57" name="직선 연결선 56"/>
          <p:cNvCxnSpPr>
            <a:stCxn id="111" idx="6"/>
          </p:cNvCxnSpPr>
          <p:nvPr/>
        </p:nvCxnSpPr>
        <p:spPr>
          <a:xfrm>
            <a:off x="8215803" y="2257070"/>
            <a:ext cx="3474848" cy="3384"/>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직사각형 57"/>
          <p:cNvSpPr/>
          <p:nvPr/>
        </p:nvSpPr>
        <p:spPr>
          <a:xfrm>
            <a:off x="9417092" y="2162884"/>
            <a:ext cx="735973"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특허권</a:t>
            </a:r>
          </a:p>
        </p:txBody>
      </p:sp>
      <p:cxnSp>
        <p:nvCxnSpPr>
          <p:cNvPr id="60" name="직선 연결선 59"/>
          <p:cNvCxnSpPr/>
          <p:nvPr/>
        </p:nvCxnSpPr>
        <p:spPr>
          <a:xfrm>
            <a:off x="8121203" y="2536309"/>
            <a:ext cx="3569448"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직사각형 60"/>
          <p:cNvSpPr/>
          <p:nvPr/>
        </p:nvSpPr>
        <p:spPr>
          <a:xfrm>
            <a:off x="9097690" y="2438739"/>
            <a:ext cx="1374778"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highlight>
                  <a:srgbClr val="FFFF00"/>
                </a:highlight>
              </a:rPr>
              <a:t>보상금청구권 행사</a:t>
            </a:r>
          </a:p>
        </p:txBody>
      </p:sp>
      <p:cxnSp>
        <p:nvCxnSpPr>
          <p:cNvPr id="62" name="직선 연결선 61"/>
          <p:cNvCxnSpPr/>
          <p:nvPr/>
        </p:nvCxnSpPr>
        <p:spPr>
          <a:xfrm>
            <a:off x="6354894" y="2536309"/>
            <a:ext cx="1755795"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직사각형 62"/>
          <p:cNvSpPr/>
          <p:nvPr/>
        </p:nvSpPr>
        <p:spPr>
          <a:xfrm>
            <a:off x="6545402" y="2432062"/>
            <a:ext cx="1374778"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highlight>
                  <a:srgbClr val="FFFF00"/>
                </a:highlight>
              </a:rPr>
              <a:t>보상금청구권 성립</a:t>
            </a:r>
          </a:p>
        </p:txBody>
      </p:sp>
      <p:cxnSp>
        <p:nvCxnSpPr>
          <p:cNvPr id="65" name="직선 연결선 64"/>
          <p:cNvCxnSpPr/>
          <p:nvPr/>
        </p:nvCxnSpPr>
        <p:spPr>
          <a:xfrm>
            <a:off x="8121203" y="2798705"/>
            <a:ext cx="3569448"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6" name="직사각형 65"/>
          <p:cNvSpPr/>
          <p:nvPr/>
        </p:nvSpPr>
        <p:spPr>
          <a:xfrm>
            <a:off x="9073424" y="2701136"/>
            <a:ext cx="1690778"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특허증 발급</a:t>
            </a:r>
          </a:p>
        </p:txBody>
      </p:sp>
      <p:cxnSp>
        <p:nvCxnSpPr>
          <p:cNvPr id="69" name="직선 연결선 68"/>
          <p:cNvCxnSpPr/>
          <p:nvPr/>
        </p:nvCxnSpPr>
        <p:spPr>
          <a:xfrm>
            <a:off x="4549867" y="3017515"/>
            <a:ext cx="7140784"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0" name="직사각형 69"/>
          <p:cNvSpPr/>
          <p:nvPr/>
        </p:nvSpPr>
        <p:spPr>
          <a:xfrm>
            <a:off x="5319320" y="2881845"/>
            <a:ext cx="2457059" cy="2837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highlight>
                  <a:srgbClr val="C0C0C0"/>
                </a:highlight>
              </a:rPr>
              <a:t>공지기술의 지위</a:t>
            </a:r>
            <a:r>
              <a:rPr lang="en-US" altLang="ko-KR" sz="1200" dirty="0">
                <a:solidFill>
                  <a:srgbClr val="FF0000"/>
                </a:solidFill>
                <a:highlight>
                  <a:srgbClr val="C0C0C0"/>
                </a:highlight>
              </a:rPr>
              <a:t>/</a:t>
            </a:r>
            <a:r>
              <a:rPr lang="ko-KR" altLang="en-US" sz="1200" dirty="0">
                <a:solidFill>
                  <a:srgbClr val="FF0000"/>
                </a:solidFill>
                <a:highlight>
                  <a:srgbClr val="C0C0C0"/>
                </a:highlight>
              </a:rPr>
              <a:t>미생물시료의 분양</a:t>
            </a:r>
          </a:p>
        </p:txBody>
      </p:sp>
      <p:cxnSp>
        <p:nvCxnSpPr>
          <p:cNvPr id="74" name="직선 연결선 73"/>
          <p:cNvCxnSpPr/>
          <p:nvPr/>
        </p:nvCxnSpPr>
        <p:spPr>
          <a:xfrm>
            <a:off x="2811779" y="3282757"/>
            <a:ext cx="1749169"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직사각형 74"/>
          <p:cNvSpPr/>
          <p:nvPr/>
        </p:nvSpPr>
        <p:spPr>
          <a:xfrm>
            <a:off x="2969210" y="3194864"/>
            <a:ext cx="1499273"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highlight>
                  <a:srgbClr val="00FFFF"/>
                </a:highlight>
              </a:rPr>
              <a:t>확대된 </a:t>
            </a:r>
            <a:r>
              <a:rPr lang="ko-KR" altLang="en-US" sz="1200" dirty="0" err="1">
                <a:solidFill>
                  <a:srgbClr val="FF0000"/>
                </a:solidFill>
                <a:highlight>
                  <a:srgbClr val="00FFFF"/>
                </a:highlight>
              </a:rPr>
              <a:t>선출원의</a:t>
            </a:r>
            <a:r>
              <a:rPr lang="ko-KR" altLang="en-US" sz="1200" dirty="0">
                <a:solidFill>
                  <a:srgbClr val="FF0000"/>
                </a:solidFill>
                <a:highlight>
                  <a:srgbClr val="00FFFF"/>
                </a:highlight>
              </a:rPr>
              <a:t> 지위</a:t>
            </a:r>
          </a:p>
        </p:txBody>
      </p:sp>
      <p:cxnSp>
        <p:nvCxnSpPr>
          <p:cNvPr id="83" name="직선 연결선 82"/>
          <p:cNvCxnSpPr>
            <a:endCxn id="112" idx="2"/>
          </p:cNvCxnSpPr>
          <p:nvPr/>
        </p:nvCxnSpPr>
        <p:spPr>
          <a:xfrm>
            <a:off x="2785446" y="4535851"/>
            <a:ext cx="5287481"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4" name="직사각형 83"/>
          <p:cNvSpPr/>
          <p:nvPr/>
        </p:nvSpPr>
        <p:spPr>
          <a:xfrm>
            <a:off x="4689046" y="4438282"/>
            <a:ext cx="735973"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출원인</a:t>
            </a:r>
          </a:p>
        </p:txBody>
      </p:sp>
      <p:cxnSp>
        <p:nvCxnSpPr>
          <p:cNvPr id="85" name="직선 연결선 84"/>
          <p:cNvCxnSpPr>
            <a:stCxn id="112" idx="6"/>
          </p:cNvCxnSpPr>
          <p:nvPr/>
        </p:nvCxnSpPr>
        <p:spPr>
          <a:xfrm>
            <a:off x="8215803" y="4535851"/>
            <a:ext cx="3474848"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6" name="직사각형 85"/>
          <p:cNvSpPr/>
          <p:nvPr/>
        </p:nvSpPr>
        <p:spPr>
          <a:xfrm>
            <a:off x="9417092" y="4438282"/>
            <a:ext cx="735973"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특허권자</a:t>
            </a:r>
            <a:endParaRPr lang="ko-KR" altLang="en-US" sz="1200" dirty="0">
              <a:solidFill>
                <a:schemeClr val="tx1"/>
              </a:solidFill>
            </a:endParaRPr>
          </a:p>
        </p:txBody>
      </p:sp>
      <p:cxnSp>
        <p:nvCxnSpPr>
          <p:cNvPr id="87" name="직선 연결선 86"/>
          <p:cNvCxnSpPr>
            <a:endCxn id="113" idx="2"/>
          </p:cNvCxnSpPr>
          <p:nvPr/>
        </p:nvCxnSpPr>
        <p:spPr>
          <a:xfrm flipV="1">
            <a:off x="2785446" y="4787321"/>
            <a:ext cx="5287481" cy="17656"/>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8" name="직사각형 87"/>
          <p:cNvSpPr/>
          <p:nvPr/>
        </p:nvSpPr>
        <p:spPr>
          <a:xfrm>
            <a:off x="4689046" y="4707407"/>
            <a:ext cx="735973"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출원발명</a:t>
            </a:r>
          </a:p>
        </p:txBody>
      </p:sp>
      <p:cxnSp>
        <p:nvCxnSpPr>
          <p:cNvPr id="89" name="직선 연결선 88"/>
          <p:cNvCxnSpPr>
            <a:stCxn id="113" idx="6"/>
          </p:cNvCxnSpPr>
          <p:nvPr/>
        </p:nvCxnSpPr>
        <p:spPr>
          <a:xfrm>
            <a:off x="8215803" y="4787321"/>
            <a:ext cx="3474848" cy="21039"/>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직사각형 89"/>
          <p:cNvSpPr/>
          <p:nvPr/>
        </p:nvSpPr>
        <p:spPr>
          <a:xfrm>
            <a:off x="9417092" y="4710790"/>
            <a:ext cx="735973"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특허발명</a:t>
            </a:r>
          </a:p>
        </p:txBody>
      </p:sp>
      <p:cxnSp>
        <p:nvCxnSpPr>
          <p:cNvPr id="91" name="직선 연결선 90"/>
          <p:cNvCxnSpPr>
            <a:endCxn id="114" idx="2"/>
          </p:cNvCxnSpPr>
          <p:nvPr/>
        </p:nvCxnSpPr>
        <p:spPr>
          <a:xfrm>
            <a:off x="1071804" y="5060645"/>
            <a:ext cx="7001123"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직사각형 91"/>
          <p:cNvSpPr/>
          <p:nvPr/>
        </p:nvSpPr>
        <p:spPr>
          <a:xfrm>
            <a:off x="4127158" y="4963076"/>
            <a:ext cx="1859750"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특허를 받을 수 있는 권리</a:t>
            </a:r>
            <a:endParaRPr lang="ko-KR" altLang="en-US" sz="1200" dirty="0">
              <a:solidFill>
                <a:schemeClr val="tx1"/>
              </a:solidFill>
            </a:endParaRPr>
          </a:p>
        </p:txBody>
      </p:sp>
      <p:cxnSp>
        <p:nvCxnSpPr>
          <p:cNvPr id="93" name="직선 연결선 92"/>
          <p:cNvCxnSpPr>
            <a:stCxn id="114" idx="6"/>
          </p:cNvCxnSpPr>
          <p:nvPr/>
        </p:nvCxnSpPr>
        <p:spPr>
          <a:xfrm>
            <a:off x="8215803" y="5060645"/>
            <a:ext cx="3474848" cy="3384"/>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4" name="직사각형 93"/>
          <p:cNvSpPr/>
          <p:nvPr/>
        </p:nvSpPr>
        <p:spPr>
          <a:xfrm>
            <a:off x="9417092" y="4966459"/>
            <a:ext cx="735973"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특허권</a:t>
            </a:r>
          </a:p>
        </p:txBody>
      </p:sp>
      <p:cxnSp>
        <p:nvCxnSpPr>
          <p:cNvPr id="99" name="직선 연결선 98"/>
          <p:cNvCxnSpPr/>
          <p:nvPr/>
        </p:nvCxnSpPr>
        <p:spPr>
          <a:xfrm>
            <a:off x="8121203" y="5334874"/>
            <a:ext cx="3569448"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1" name="직사각형 100"/>
          <p:cNvSpPr/>
          <p:nvPr/>
        </p:nvSpPr>
        <p:spPr>
          <a:xfrm>
            <a:off x="8964739" y="5237305"/>
            <a:ext cx="1690778"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특허증 발급</a:t>
            </a:r>
          </a:p>
        </p:txBody>
      </p:sp>
      <p:cxnSp>
        <p:nvCxnSpPr>
          <p:cNvPr id="102" name="직선 연결선 101"/>
          <p:cNvCxnSpPr/>
          <p:nvPr/>
        </p:nvCxnSpPr>
        <p:spPr>
          <a:xfrm>
            <a:off x="8144365" y="5683074"/>
            <a:ext cx="3546286"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직사각형 102"/>
          <p:cNvSpPr/>
          <p:nvPr/>
        </p:nvSpPr>
        <p:spPr>
          <a:xfrm>
            <a:off x="8688284" y="5523963"/>
            <a:ext cx="2417866" cy="2837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highlight>
                  <a:srgbClr val="C0C0C0"/>
                </a:highlight>
              </a:rPr>
              <a:t>공지기술의 지위</a:t>
            </a:r>
            <a:r>
              <a:rPr lang="en-US" altLang="ko-KR" sz="1200" dirty="0">
                <a:solidFill>
                  <a:srgbClr val="FF0000"/>
                </a:solidFill>
                <a:highlight>
                  <a:srgbClr val="C0C0C0"/>
                </a:highlight>
              </a:rPr>
              <a:t>/</a:t>
            </a:r>
            <a:r>
              <a:rPr lang="ko-KR" altLang="en-US" sz="1200" dirty="0">
                <a:solidFill>
                  <a:srgbClr val="FF0000"/>
                </a:solidFill>
                <a:highlight>
                  <a:srgbClr val="C0C0C0"/>
                </a:highlight>
              </a:rPr>
              <a:t>미생물시료의 분양</a:t>
            </a:r>
          </a:p>
        </p:txBody>
      </p:sp>
      <p:cxnSp>
        <p:nvCxnSpPr>
          <p:cNvPr id="106" name="직선 연결선 105"/>
          <p:cNvCxnSpPr/>
          <p:nvPr/>
        </p:nvCxnSpPr>
        <p:spPr>
          <a:xfrm>
            <a:off x="2811779" y="5994585"/>
            <a:ext cx="7105729"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7" name="직사각형 106"/>
          <p:cNvSpPr/>
          <p:nvPr/>
        </p:nvSpPr>
        <p:spPr>
          <a:xfrm>
            <a:off x="4823971" y="5893178"/>
            <a:ext cx="1499273" cy="1951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highlight>
                  <a:srgbClr val="00FFFF"/>
                </a:highlight>
              </a:rPr>
              <a:t>확대된 </a:t>
            </a:r>
            <a:r>
              <a:rPr lang="ko-KR" altLang="en-US" sz="1200" dirty="0" err="1">
                <a:solidFill>
                  <a:srgbClr val="FF0000"/>
                </a:solidFill>
                <a:highlight>
                  <a:srgbClr val="00FFFF"/>
                </a:highlight>
              </a:rPr>
              <a:t>선출원의</a:t>
            </a:r>
            <a:r>
              <a:rPr lang="ko-KR" altLang="en-US" sz="1200" dirty="0">
                <a:solidFill>
                  <a:srgbClr val="FF0000"/>
                </a:solidFill>
                <a:highlight>
                  <a:srgbClr val="00FFFF"/>
                </a:highlight>
              </a:rPr>
              <a:t> 지위</a:t>
            </a:r>
          </a:p>
        </p:txBody>
      </p:sp>
      <p:sp>
        <p:nvSpPr>
          <p:cNvPr id="109" name="Rectangle 14"/>
          <p:cNvSpPr>
            <a:spLocks noChangeArrowheads="1"/>
          </p:cNvSpPr>
          <p:nvPr/>
        </p:nvSpPr>
        <p:spPr bwMode="auto">
          <a:xfrm flipV="1">
            <a:off x="8072927" y="1662915"/>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10" name="Rectangle 14"/>
          <p:cNvSpPr>
            <a:spLocks noChangeArrowheads="1"/>
          </p:cNvSpPr>
          <p:nvPr/>
        </p:nvSpPr>
        <p:spPr bwMode="auto">
          <a:xfrm flipV="1">
            <a:off x="8072927" y="1925841"/>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11" name="Rectangle 14"/>
          <p:cNvSpPr>
            <a:spLocks noChangeArrowheads="1"/>
          </p:cNvSpPr>
          <p:nvPr/>
        </p:nvSpPr>
        <p:spPr bwMode="auto">
          <a:xfrm flipV="1">
            <a:off x="8072927" y="218053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12" name="Rectangle 14"/>
          <p:cNvSpPr>
            <a:spLocks noChangeArrowheads="1"/>
          </p:cNvSpPr>
          <p:nvPr/>
        </p:nvSpPr>
        <p:spPr bwMode="auto">
          <a:xfrm flipV="1">
            <a:off x="8072927" y="445932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13" name="Rectangle 14"/>
          <p:cNvSpPr>
            <a:spLocks noChangeArrowheads="1"/>
          </p:cNvSpPr>
          <p:nvPr/>
        </p:nvSpPr>
        <p:spPr bwMode="auto">
          <a:xfrm flipV="1">
            <a:off x="8072927" y="471079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14" name="Rectangle 14"/>
          <p:cNvSpPr>
            <a:spLocks noChangeArrowheads="1"/>
          </p:cNvSpPr>
          <p:nvPr/>
        </p:nvSpPr>
        <p:spPr bwMode="auto">
          <a:xfrm flipV="1">
            <a:off x="8072927" y="498411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32" name="직선 연결선 131"/>
          <p:cNvCxnSpPr/>
          <p:nvPr/>
        </p:nvCxnSpPr>
        <p:spPr>
          <a:xfrm flipH="1">
            <a:off x="336431" y="3796144"/>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직사각형 13"/>
          <p:cNvSpPr/>
          <p:nvPr/>
        </p:nvSpPr>
        <p:spPr>
          <a:xfrm>
            <a:off x="7776379" y="1305447"/>
            <a:ext cx="735973"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등록</a:t>
            </a:r>
          </a:p>
        </p:txBody>
      </p:sp>
      <p:sp>
        <p:nvSpPr>
          <p:cNvPr id="2" name="슬라이드 번호 개체 틀 1"/>
          <p:cNvSpPr>
            <a:spLocks noGrp="1"/>
          </p:cNvSpPr>
          <p:nvPr>
            <p:ph type="sldNum" sz="quarter" idx="12"/>
          </p:nvPr>
        </p:nvSpPr>
        <p:spPr/>
        <p:txBody>
          <a:bodyPr/>
          <a:lstStyle/>
          <a:p>
            <a:r>
              <a:rPr lang="en-US" altLang="ko-KR"/>
              <a:t>295</a:t>
            </a:r>
            <a:endParaRPr lang="ko-KR" altLang="en-US"/>
          </a:p>
        </p:txBody>
      </p:sp>
    </p:spTree>
    <p:extLst>
      <p:ext uri="{BB962C8B-B14F-4D97-AF65-F5344CB8AC3E}">
        <p14:creationId xmlns:p14="http://schemas.microsoft.com/office/powerpoint/2010/main" val="8455969"/>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양쪽 모서리가 둥근 사각형 50"/>
          <p:cNvSpPr/>
          <p:nvPr/>
        </p:nvSpPr>
        <p:spPr>
          <a:xfrm>
            <a:off x="8338905" y="2654946"/>
            <a:ext cx="2786785" cy="1154929"/>
          </a:xfrm>
          <a:prstGeom prst="round2SameRect">
            <a:avLst>
              <a:gd name="adj1" fmla="val 50000"/>
              <a:gd name="adj2" fmla="val 0"/>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7" name="직사각형 34"/>
          <p:cNvSpPr/>
          <p:nvPr/>
        </p:nvSpPr>
        <p:spPr>
          <a:xfrm>
            <a:off x="7400926" y="3493835"/>
            <a:ext cx="3924300" cy="311982"/>
          </a:xfrm>
          <a:custGeom>
            <a:avLst/>
            <a:gdLst>
              <a:gd name="connsiteX0" fmla="*/ 0 w 2952328"/>
              <a:gd name="connsiteY0" fmla="*/ 0 h 864096"/>
              <a:gd name="connsiteX1" fmla="*/ 2952328 w 2952328"/>
              <a:gd name="connsiteY1" fmla="*/ 0 h 864096"/>
              <a:gd name="connsiteX2" fmla="*/ 2952328 w 2952328"/>
              <a:gd name="connsiteY2" fmla="*/ 864096 h 864096"/>
              <a:gd name="connsiteX3" fmla="*/ 0 w 2952328"/>
              <a:gd name="connsiteY3" fmla="*/ 864096 h 864096"/>
              <a:gd name="connsiteX4" fmla="*/ 0 w 2952328"/>
              <a:gd name="connsiteY4" fmla="*/ 0 h 864096"/>
              <a:gd name="connsiteX0" fmla="*/ 1054100 w 2952328"/>
              <a:gd name="connsiteY0" fmla="*/ 279400 h 864096"/>
              <a:gd name="connsiteX1" fmla="*/ 2952328 w 2952328"/>
              <a:gd name="connsiteY1" fmla="*/ 0 h 864096"/>
              <a:gd name="connsiteX2" fmla="*/ 2952328 w 2952328"/>
              <a:gd name="connsiteY2" fmla="*/ 864096 h 864096"/>
              <a:gd name="connsiteX3" fmla="*/ 0 w 2952328"/>
              <a:gd name="connsiteY3" fmla="*/ 864096 h 864096"/>
              <a:gd name="connsiteX4" fmla="*/ 1054100 w 2952328"/>
              <a:gd name="connsiteY4" fmla="*/ 279400 h 864096"/>
              <a:gd name="connsiteX0" fmla="*/ 1054100 w 2952328"/>
              <a:gd name="connsiteY0" fmla="*/ 279400 h 864096"/>
              <a:gd name="connsiteX1" fmla="*/ 2952328 w 2952328"/>
              <a:gd name="connsiteY1" fmla="*/ 0 h 864096"/>
              <a:gd name="connsiteX2" fmla="*/ 2952328 w 2952328"/>
              <a:gd name="connsiteY2" fmla="*/ 864096 h 864096"/>
              <a:gd name="connsiteX3" fmla="*/ 0 w 2952328"/>
              <a:gd name="connsiteY3" fmla="*/ 864096 h 864096"/>
              <a:gd name="connsiteX4" fmla="*/ 1054100 w 2952328"/>
              <a:gd name="connsiteY4" fmla="*/ 279400 h 864096"/>
              <a:gd name="connsiteX0" fmla="*/ 1054100 w 2952328"/>
              <a:gd name="connsiteY0" fmla="*/ 279400 h 864096"/>
              <a:gd name="connsiteX1" fmla="*/ 1920328 w 2952328"/>
              <a:gd name="connsiteY1" fmla="*/ 151024 h 864096"/>
              <a:gd name="connsiteX2" fmla="*/ 2952328 w 2952328"/>
              <a:gd name="connsiteY2" fmla="*/ 0 h 864096"/>
              <a:gd name="connsiteX3" fmla="*/ 2952328 w 2952328"/>
              <a:gd name="connsiteY3" fmla="*/ 864096 h 864096"/>
              <a:gd name="connsiteX4" fmla="*/ 0 w 2952328"/>
              <a:gd name="connsiteY4" fmla="*/ 864096 h 864096"/>
              <a:gd name="connsiteX5" fmla="*/ 1054100 w 2952328"/>
              <a:gd name="connsiteY5" fmla="*/ 279400 h 864096"/>
              <a:gd name="connsiteX0" fmla="*/ 1391070 w 2952328"/>
              <a:gd name="connsiteY0" fmla="*/ 214779 h 864096"/>
              <a:gd name="connsiteX1" fmla="*/ 1920328 w 2952328"/>
              <a:gd name="connsiteY1" fmla="*/ 151024 h 864096"/>
              <a:gd name="connsiteX2" fmla="*/ 2952328 w 2952328"/>
              <a:gd name="connsiteY2" fmla="*/ 0 h 864096"/>
              <a:gd name="connsiteX3" fmla="*/ 2952328 w 2952328"/>
              <a:gd name="connsiteY3" fmla="*/ 864096 h 864096"/>
              <a:gd name="connsiteX4" fmla="*/ 0 w 2952328"/>
              <a:gd name="connsiteY4" fmla="*/ 864096 h 864096"/>
              <a:gd name="connsiteX5" fmla="*/ 1391070 w 2952328"/>
              <a:gd name="connsiteY5" fmla="*/ 214779 h 864096"/>
              <a:gd name="connsiteX0" fmla="*/ 1391070 w 2952328"/>
              <a:gd name="connsiteY0" fmla="*/ 214779 h 864096"/>
              <a:gd name="connsiteX1" fmla="*/ 1794944 w 2952328"/>
              <a:gd name="connsiteY1" fmla="*/ 612606 h 864096"/>
              <a:gd name="connsiteX2" fmla="*/ 2952328 w 2952328"/>
              <a:gd name="connsiteY2" fmla="*/ 0 h 864096"/>
              <a:gd name="connsiteX3" fmla="*/ 2952328 w 2952328"/>
              <a:gd name="connsiteY3" fmla="*/ 864096 h 864096"/>
              <a:gd name="connsiteX4" fmla="*/ 0 w 2952328"/>
              <a:gd name="connsiteY4" fmla="*/ 864096 h 864096"/>
              <a:gd name="connsiteX5" fmla="*/ 1391070 w 2952328"/>
              <a:gd name="connsiteY5" fmla="*/ 214779 h 864096"/>
              <a:gd name="connsiteX0" fmla="*/ 1391070 w 2983674"/>
              <a:gd name="connsiteY0" fmla="*/ 0 h 649317"/>
              <a:gd name="connsiteX1" fmla="*/ 1794944 w 2983674"/>
              <a:gd name="connsiteY1" fmla="*/ 397827 h 649317"/>
              <a:gd name="connsiteX2" fmla="*/ 2983674 w 2983674"/>
              <a:gd name="connsiteY2" fmla="*/ 551447 h 649317"/>
              <a:gd name="connsiteX3" fmla="*/ 2952328 w 2983674"/>
              <a:gd name="connsiteY3" fmla="*/ 649317 h 649317"/>
              <a:gd name="connsiteX4" fmla="*/ 0 w 2983674"/>
              <a:gd name="connsiteY4" fmla="*/ 649317 h 649317"/>
              <a:gd name="connsiteX5" fmla="*/ 1391070 w 2983674"/>
              <a:gd name="connsiteY5" fmla="*/ 0 h 649317"/>
              <a:gd name="connsiteX0" fmla="*/ 850351 w 2983674"/>
              <a:gd name="connsiteY0" fmla="*/ 0 h 473916"/>
              <a:gd name="connsiteX1" fmla="*/ 1794944 w 2983674"/>
              <a:gd name="connsiteY1" fmla="*/ 222426 h 473916"/>
              <a:gd name="connsiteX2" fmla="*/ 2983674 w 2983674"/>
              <a:gd name="connsiteY2" fmla="*/ 376046 h 473916"/>
              <a:gd name="connsiteX3" fmla="*/ 2952328 w 2983674"/>
              <a:gd name="connsiteY3" fmla="*/ 473916 h 473916"/>
              <a:gd name="connsiteX4" fmla="*/ 0 w 2983674"/>
              <a:gd name="connsiteY4" fmla="*/ 473916 h 473916"/>
              <a:gd name="connsiteX5" fmla="*/ 850351 w 2983674"/>
              <a:gd name="connsiteY5" fmla="*/ 0 h 473916"/>
              <a:gd name="connsiteX0" fmla="*/ 850351 w 2983674"/>
              <a:gd name="connsiteY0" fmla="*/ 0 h 473916"/>
              <a:gd name="connsiteX1" fmla="*/ 1794944 w 2983674"/>
              <a:gd name="connsiteY1" fmla="*/ 222426 h 473916"/>
              <a:gd name="connsiteX2" fmla="*/ 2116241 w 2983674"/>
              <a:gd name="connsiteY2" fmla="*/ 345935 h 473916"/>
              <a:gd name="connsiteX3" fmla="*/ 2983674 w 2983674"/>
              <a:gd name="connsiteY3" fmla="*/ 376046 h 473916"/>
              <a:gd name="connsiteX4" fmla="*/ 2952328 w 2983674"/>
              <a:gd name="connsiteY4" fmla="*/ 473916 h 473916"/>
              <a:gd name="connsiteX5" fmla="*/ 0 w 2983674"/>
              <a:gd name="connsiteY5" fmla="*/ 473916 h 473916"/>
              <a:gd name="connsiteX6" fmla="*/ 850351 w 2983674"/>
              <a:gd name="connsiteY6" fmla="*/ 0 h 473916"/>
              <a:gd name="connsiteX0" fmla="*/ 647414 w 2983674"/>
              <a:gd name="connsiteY0" fmla="*/ 0 h 464684"/>
              <a:gd name="connsiteX1" fmla="*/ 1794944 w 2983674"/>
              <a:gd name="connsiteY1" fmla="*/ 213194 h 464684"/>
              <a:gd name="connsiteX2" fmla="*/ 2116241 w 2983674"/>
              <a:gd name="connsiteY2" fmla="*/ 336703 h 464684"/>
              <a:gd name="connsiteX3" fmla="*/ 2983674 w 2983674"/>
              <a:gd name="connsiteY3" fmla="*/ 366814 h 464684"/>
              <a:gd name="connsiteX4" fmla="*/ 2952328 w 2983674"/>
              <a:gd name="connsiteY4" fmla="*/ 464684 h 464684"/>
              <a:gd name="connsiteX5" fmla="*/ 0 w 2983674"/>
              <a:gd name="connsiteY5" fmla="*/ 464684 h 464684"/>
              <a:gd name="connsiteX6" fmla="*/ 647414 w 2983674"/>
              <a:gd name="connsiteY6" fmla="*/ 0 h 464684"/>
              <a:gd name="connsiteX0" fmla="*/ 623539 w 2983674"/>
              <a:gd name="connsiteY0" fmla="*/ 0 h 464684"/>
              <a:gd name="connsiteX1" fmla="*/ 1794944 w 2983674"/>
              <a:gd name="connsiteY1" fmla="*/ 213194 h 464684"/>
              <a:gd name="connsiteX2" fmla="*/ 2116241 w 2983674"/>
              <a:gd name="connsiteY2" fmla="*/ 336703 h 464684"/>
              <a:gd name="connsiteX3" fmla="*/ 2983674 w 2983674"/>
              <a:gd name="connsiteY3" fmla="*/ 366814 h 464684"/>
              <a:gd name="connsiteX4" fmla="*/ 2952328 w 2983674"/>
              <a:gd name="connsiteY4" fmla="*/ 464684 h 464684"/>
              <a:gd name="connsiteX5" fmla="*/ 0 w 2983674"/>
              <a:gd name="connsiteY5" fmla="*/ 464684 h 464684"/>
              <a:gd name="connsiteX6" fmla="*/ 623539 w 2983674"/>
              <a:gd name="connsiteY6" fmla="*/ 0 h 464684"/>
              <a:gd name="connsiteX0" fmla="*/ 671289 w 2983674"/>
              <a:gd name="connsiteY0" fmla="*/ 0 h 261588"/>
              <a:gd name="connsiteX1" fmla="*/ 1794944 w 2983674"/>
              <a:gd name="connsiteY1" fmla="*/ 10098 h 261588"/>
              <a:gd name="connsiteX2" fmla="*/ 2116241 w 2983674"/>
              <a:gd name="connsiteY2" fmla="*/ 133607 h 261588"/>
              <a:gd name="connsiteX3" fmla="*/ 2983674 w 2983674"/>
              <a:gd name="connsiteY3" fmla="*/ 163718 h 261588"/>
              <a:gd name="connsiteX4" fmla="*/ 2952328 w 2983674"/>
              <a:gd name="connsiteY4" fmla="*/ 261588 h 261588"/>
              <a:gd name="connsiteX5" fmla="*/ 0 w 2983674"/>
              <a:gd name="connsiteY5" fmla="*/ 261588 h 261588"/>
              <a:gd name="connsiteX6" fmla="*/ 671289 w 2983674"/>
              <a:gd name="connsiteY6" fmla="*/ 0 h 261588"/>
              <a:gd name="connsiteX0" fmla="*/ 671289 w 2983674"/>
              <a:gd name="connsiteY0" fmla="*/ 0 h 261588"/>
              <a:gd name="connsiteX1" fmla="*/ 1806882 w 2983674"/>
              <a:gd name="connsiteY1" fmla="*/ 139341 h 261588"/>
              <a:gd name="connsiteX2" fmla="*/ 2116241 w 2983674"/>
              <a:gd name="connsiteY2" fmla="*/ 133607 h 261588"/>
              <a:gd name="connsiteX3" fmla="*/ 2983674 w 2983674"/>
              <a:gd name="connsiteY3" fmla="*/ 163718 h 261588"/>
              <a:gd name="connsiteX4" fmla="*/ 2952328 w 2983674"/>
              <a:gd name="connsiteY4" fmla="*/ 261588 h 261588"/>
              <a:gd name="connsiteX5" fmla="*/ 0 w 2983674"/>
              <a:gd name="connsiteY5" fmla="*/ 261588 h 261588"/>
              <a:gd name="connsiteX6" fmla="*/ 671289 w 2983674"/>
              <a:gd name="connsiteY6" fmla="*/ 0 h 261588"/>
              <a:gd name="connsiteX0" fmla="*/ 671289 w 2983674"/>
              <a:gd name="connsiteY0" fmla="*/ 0 h 261588"/>
              <a:gd name="connsiteX1" fmla="*/ 1806882 w 2983674"/>
              <a:gd name="connsiteY1" fmla="*/ 139341 h 261588"/>
              <a:gd name="connsiteX2" fmla="*/ 2128179 w 2983674"/>
              <a:gd name="connsiteY2" fmla="*/ 188997 h 261588"/>
              <a:gd name="connsiteX3" fmla="*/ 2983674 w 2983674"/>
              <a:gd name="connsiteY3" fmla="*/ 163718 h 261588"/>
              <a:gd name="connsiteX4" fmla="*/ 2952328 w 2983674"/>
              <a:gd name="connsiteY4" fmla="*/ 261588 h 261588"/>
              <a:gd name="connsiteX5" fmla="*/ 0 w 2983674"/>
              <a:gd name="connsiteY5" fmla="*/ 261588 h 261588"/>
              <a:gd name="connsiteX6" fmla="*/ 671289 w 2983674"/>
              <a:gd name="connsiteY6" fmla="*/ 0 h 26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83674" h="261588">
                <a:moveTo>
                  <a:pt x="671289" y="0"/>
                </a:moveTo>
                <a:lnTo>
                  <a:pt x="1806882" y="139341"/>
                </a:lnTo>
                <a:cubicBezTo>
                  <a:pt x="1814719" y="143584"/>
                  <a:pt x="2120342" y="184754"/>
                  <a:pt x="2128179" y="188997"/>
                </a:cubicBezTo>
                <a:lnTo>
                  <a:pt x="2983674" y="163718"/>
                </a:lnTo>
                <a:lnTo>
                  <a:pt x="2952328" y="261588"/>
                </a:lnTo>
                <a:lnTo>
                  <a:pt x="0" y="261588"/>
                </a:lnTo>
                <a:lnTo>
                  <a:pt x="671289" y="0"/>
                </a:lnTo>
                <a:close/>
              </a:path>
            </a:pathLst>
          </a:custGeom>
          <a:solidFill>
            <a:schemeClr val="accent5">
              <a:lumMod val="20000"/>
              <a:lumOff val="80000"/>
              <a:alpha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 name="제목 2"/>
          <p:cNvSpPr>
            <a:spLocks noGrp="1"/>
          </p:cNvSpPr>
          <p:nvPr>
            <p:ph type="title"/>
          </p:nvPr>
        </p:nvSpPr>
        <p:spPr/>
        <p:txBody>
          <a:bodyPr/>
          <a:lstStyle/>
          <a:p>
            <a:r>
              <a:rPr lang="ko-KR" altLang="en-US" dirty="0"/>
              <a:t>제</a:t>
            </a:r>
            <a:r>
              <a:rPr lang="en-US" altLang="ko-KR" dirty="0"/>
              <a:t>88</a:t>
            </a:r>
            <a:r>
              <a:rPr lang="ko-KR" altLang="en-US" dirty="0"/>
              <a:t>조</a:t>
            </a:r>
          </a:p>
        </p:txBody>
      </p:sp>
      <p:sp>
        <p:nvSpPr>
          <p:cNvPr id="4" name="텍스트 개체 틀 3"/>
          <p:cNvSpPr>
            <a:spLocks noGrp="1"/>
          </p:cNvSpPr>
          <p:nvPr>
            <p:ph type="body" sz="quarter" idx="13"/>
          </p:nvPr>
        </p:nvSpPr>
        <p:spPr/>
        <p:txBody>
          <a:bodyPr/>
          <a:lstStyle/>
          <a:p>
            <a:r>
              <a:rPr lang="ko-KR" altLang="en-US" dirty="0"/>
              <a:t>특허권의 존속기간</a:t>
            </a:r>
          </a:p>
        </p:txBody>
      </p:sp>
      <p:sp>
        <p:nvSpPr>
          <p:cNvPr id="76" name="TextBox 75"/>
          <p:cNvSpPr txBox="1"/>
          <p:nvPr/>
        </p:nvSpPr>
        <p:spPr>
          <a:xfrm>
            <a:off x="328422" y="2178696"/>
            <a:ext cx="5472303" cy="461665"/>
          </a:xfrm>
          <a:prstGeom prst="rect">
            <a:avLst/>
          </a:prstGeom>
          <a:noFill/>
        </p:spPr>
        <p:txBody>
          <a:bodyPr wrap="square" rtlCol="0">
            <a:spAutoFit/>
          </a:bodyPr>
          <a:lstStyle/>
          <a:p>
            <a:r>
              <a:rPr lang="ko-KR" altLang="en-US" sz="2400" dirty="0" err="1"/>
              <a:t>설정등록한</a:t>
            </a:r>
            <a:r>
              <a:rPr lang="ko-KR" altLang="en-US" sz="2400" dirty="0"/>
              <a:t> 날로부터 </a:t>
            </a:r>
            <a:r>
              <a:rPr lang="ko-KR" altLang="en-US" sz="2400" dirty="0" err="1"/>
              <a:t>특허출원일후</a:t>
            </a:r>
            <a:r>
              <a:rPr lang="ko-KR" altLang="en-US" sz="2400" dirty="0"/>
              <a:t> </a:t>
            </a:r>
            <a:r>
              <a:rPr lang="en-US" altLang="ko-KR" sz="2400" dirty="0"/>
              <a:t>20</a:t>
            </a:r>
            <a:r>
              <a:rPr lang="ko-KR" altLang="en-US" sz="2400" dirty="0"/>
              <a:t>년</a:t>
            </a:r>
          </a:p>
        </p:txBody>
      </p:sp>
      <p:cxnSp>
        <p:nvCxnSpPr>
          <p:cNvPr id="77" name="직선 연결선 76"/>
          <p:cNvCxnSpPr/>
          <p:nvPr/>
        </p:nvCxnSpPr>
        <p:spPr>
          <a:xfrm>
            <a:off x="3064573" y="2694034"/>
            <a:ext cx="1350264"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직사각형 77"/>
          <p:cNvSpPr/>
          <p:nvPr/>
        </p:nvSpPr>
        <p:spPr>
          <a:xfrm>
            <a:off x="857250" y="3964444"/>
            <a:ext cx="795528" cy="385628"/>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err="1"/>
              <a:t>소급제도</a:t>
            </a:r>
            <a:endParaRPr lang="en-US" altLang="ko-KR" sz="1050" dirty="0"/>
          </a:p>
          <a:p>
            <a:pPr algn="ctr"/>
            <a:r>
              <a:rPr lang="en-US" altLang="ko-KR" sz="1050" dirty="0"/>
              <a:t>(7</a:t>
            </a:r>
            <a:r>
              <a:rPr lang="ko-KR" altLang="en-US" sz="1050" dirty="0"/>
              <a:t>가지</a:t>
            </a:r>
            <a:r>
              <a:rPr lang="en-US" altLang="ko-KR" sz="1050" dirty="0"/>
              <a:t>)</a:t>
            </a:r>
            <a:endParaRPr lang="ko-KR" altLang="en-US" sz="1050" dirty="0"/>
          </a:p>
        </p:txBody>
      </p:sp>
      <p:sp>
        <p:nvSpPr>
          <p:cNvPr id="79" name="직사각형 78"/>
          <p:cNvSpPr/>
          <p:nvPr/>
        </p:nvSpPr>
        <p:spPr>
          <a:xfrm>
            <a:off x="857250" y="6226295"/>
            <a:ext cx="795528" cy="385628"/>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rgbClr val="FF0000"/>
                </a:solidFill>
              </a:rPr>
              <a:t>PCT</a:t>
            </a:r>
            <a:endParaRPr lang="ko-KR" altLang="en-US" sz="1050" dirty="0">
              <a:solidFill>
                <a:srgbClr val="FF0000"/>
              </a:solidFill>
            </a:endParaRPr>
          </a:p>
        </p:txBody>
      </p:sp>
      <p:sp>
        <p:nvSpPr>
          <p:cNvPr id="81" name="직사각형 80"/>
          <p:cNvSpPr/>
          <p:nvPr/>
        </p:nvSpPr>
        <p:spPr>
          <a:xfrm>
            <a:off x="2002922" y="3506510"/>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34</a:t>
            </a:r>
            <a:r>
              <a:rPr lang="ko-KR" altLang="en-US" sz="1050" dirty="0">
                <a:solidFill>
                  <a:schemeClr val="bg1">
                    <a:lumMod val="50000"/>
                  </a:schemeClr>
                </a:solidFill>
              </a:rPr>
              <a:t>조</a:t>
            </a:r>
            <a:r>
              <a:rPr lang="en-US" altLang="ko-KR" sz="1050" dirty="0">
                <a:solidFill>
                  <a:schemeClr val="bg1">
                    <a:lumMod val="50000"/>
                  </a:schemeClr>
                </a:solidFill>
              </a:rPr>
              <a:t>, </a:t>
            </a:r>
            <a:r>
              <a:rPr lang="ko-KR" altLang="en-US" sz="1050" dirty="0">
                <a:solidFill>
                  <a:schemeClr val="bg1">
                    <a:lumMod val="50000"/>
                  </a:schemeClr>
                </a:solidFill>
              </a:rPr>
              <a:t>제</a:t>
            </a:r>
            <a:r>
              <a:rPr lang="en-US" altLang="ko-KR" sz="1050" dirty="0">
                <a:solidFill>
                  <a:schemeClr val="bg1">
                    <a:lumMod val="50000"/>
                  </a:schemeClr>
                </a:solidFill>
              </a:rPr>
              <a:t>35</a:t>
            </a:r>
            <a:r>
              <a:rPr lang="ko-KR" altLang="en-US" sz="1050" dirty="0">
                <a:solidFill>
                  <a:schemeClr val="bg1">
                    <a:lumMod val="50000"/>
                  </a:schemeClr>
                </a:solidFill>
              </a:rPr>
              <a:t>조</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ko-KR" altLang="en-US" sz="1050" dirty="0">
                <a:solidFill>
                  <a:schemeClr val="bg1">
                    <a:lumMod val="50000"/>
                  </a:schemeClr>
                </a:solidFill>
              </a:rPr>
              <a:t>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82" name="직사각형 81"/>
          <p:cNvSpPr/>
          <p:nvPr/>
        </p:nvSpPr>
        <p:spPr>
          <a:xfrm>
            <a:off x="2002922" y="4244801"/>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52</a:t>
            </a:r>
            <a:r>
              <a:rPr lang="ko-KR" altLang="en-US" sz="1050" dirty="0">
                <a:solidFill>
                  <a:schemeClr val="bg1">
                    <a:lumMod val="50000"/>
                  </a:schemeClr>
                </a:solidFill>
              </a:rPr>
              <a:t>조</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ko-KR" altLang="en-US" sz="1050" dirty="0" err="1">
                <a:solidFill>
                  <a:schemeClr val="bg1">
                    <a:lumMod val="50000"/>
                  </a:schemeClr>
                </a:solidFill>
              </a:rPr>
              <a:t>확공조국등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95" name="직사각형 94"/>
          <p:cNvSpPr/>
          <p:nvPr/>
        </p:nvSpPr>
        <p:spPr>
          <a:xfrm>
            <a:off x="2002922" y="4616126"/>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52</a:t>
            </a:r>
            <a:r>
              <a:rPr lang="ko-KR" altLang="en-US" sz="1050" dirty="0">
                <a:solidFill>
                  <a:schemeClr val="bg1">
                    <a:lumMod val="50000"/>
                  </a:schemeClr>
                </a:solidFill>
              </a:rPr>
              <a:t>조의</a:t>
            </a:r>
            <a:r>
              <a:rPr lang="en-US" altLang="ko-KR" sz="1050" dirty="0">
                <a:solidFill>
                  <a:schemeClr val="bg1">
                    <a:lumMod val="50000"/>
                  </a:schemeClr>
                </a:solidFill>
              </a:rPr>
              <a:t>2</a:t>
            </a:r>
          </a:p>
          <a:p>
            <a:pPr algn="ctr"/>
            <a:r>
              <a:rPr lang="en-US" altLang="ko-KR" sz="1050" dirty="0">
                <a:solidFill>
                  <a:schemeClr val="bg1">
                    <a:lumMod val="50000"/>
                  </a:schemeClr>
                </a:solidFill>
              </a:rPr>
              <a:t>(</a:t>
            </a:r>
            <a:r>
              <a:rPr lang="ko-KR" altLang="en-US" sz="1050" dirty="0" err="1">
                <a:solidFill>
                  <a:schemeClr val="bg1">
                    <a:lumMod val="50000"/>
                  </a:schemeClr>
                </a:solidFill>
              </a:rPr>
              <a:t>확공조국등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96" name="직사각형 95"/>
          <p:cNvSpPr/>
          <p:nvPr/>
        </p:nvSpPr>
        <p:spPr>
          <a:xfrm>
            <a:off x="2002922" y="3873475"/>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47</a:t>
            </a:r>
            <a:r>
              <a:rPr lang="ko-KR" altLang="en-US" sz="1050" dirty="0">
                <a:solidFill>
                  <a:schemeClr val="bg1">
                    <a:lumMod val="50000"/>
                  </a:schemeClr>
                </a:solidFill>
              </a:rPr>
              <a:t>조</a:t>
            </a:r>
            <a:r>
              <a:rPr lang="en-US" altLang="ko-KR" sz="1050" dirty="0">
                <a:solidFill>
                  <a:schemeClr val="bg1">
                    <a:lumMod val="50000"/>
                  </a:schemeClr>
                </a:solidFill>
              </a:rPr>
              <a:t>, </a:t>
            </a:r>
            <a:r>
              <a:rPr lang="ko-KR" altLang="en-US" sz="1050" dirty="0">
                <a:solidFill>
                  <a:schemeClr val="bg1">
                    <a:lumMod val="50000"/>
                  </a:schemeClr>
                </a:solidFill>
              </a:rPr>
              <a:t>제</a:t>
            </a:r>
            <a:r>
              <a:rPr lang="en-US" altLang="ko-KR" sz="1050" dirty="0">
                <a:solidFill>
                  <a:schemeClr val="bg1">
                    <a:lumMod val="50000"/>
                  </a:schemeClr>
                </a:solidFill>
              </a:rPr>
              <a:t>51</a:t>
            </a:r>
            <a:r>
              <a:rPr lang="ko-KR" altLang="en-US" sz="1050" dirty="0">
                <a:solidFill>
                  <a:schemeClr val="bg1">
                    <a:lumMod val="50000"/>
                  </a:schemeClr>
                </a:solidFill>
              </a:rPr>
              <a:t>조</a:t>
            </a:r>
          </a:p>
        </p:txBody>
      </p:sp>
      <p:sp>
        <p:nvSpPr>
          <p:cNvPr id="97" name="직사각형 96"/>
          <p:cNvSpPr/>
          <p:nvPr/>
        </p:nvSpPr>
        <p:spPr>
          <a:xfrm>
            <a:off x="2002922" y="4996408"/>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rgbClr val="FF0000"/>
                </a:solidFill>
              </a:rPr>
              <a:t>제</a:t>
            </a:r>
            <a:r>
              <a:rPr lang="en-US" altLang="ko-KR" sz="1050" dirty="0">
                <a:solidFill>
                  <a:srgbClr val="FF0000"/>
                </a:solidFill>
              </a:rPr>
              <a:t>54</a:t>
            </a:r>
            <a:r>
              <a:rPr lang="ko-KR" altLang="en-US" sz="1050" dirty="0">
                <a:solidFill>
                  <a:srgbClr val="FF0000"/>
                </a:solidFill>
              </a:rPr>
              <a:t>조</a:t>
            </a:r>
            <a:endParaRPr lang="en-US" altLang="ko-KR" sz="1050" dirty="0">
              <a:solidFill>
                <a:srgbClr val="FF0000"/>
              </a:solidFill>
            </a:endParaRPr>
          </a:p>
          <a:p>
            <a:pPr algn="ctr"/>
            <a:r>
              <a:rPr lang="en-US" altLang="ko-KR" sz="1050" dirty="0">
                <a:solidFill>
                  <a:schemeClr val="bg1">
                    <a:lumMod val="50000"/>
                  </a:schemeClr>
                </a:solidFill>
              </a:rPr>
              <a:t>(</a:t>
            </a:r>
            <a:r>
              <a:rPr lang="ko-KR" altLang="en-US" sz="1050" b="1" dirty="0" err="1">
                <a:solidFill>
                  <a:schemeClr val="bg1">
                    <a:lumMod val="50000"/>
                  </a:schemeClr>
                </a:solidFill>
              </a:rPr>
              <a:t>심</a:t>
            </a:r>
            <a:r>
              <a:rPr lang="ko-KR" altLang="en-US" sz="1050" dirty="0" err="1">
                <a:solidFill>
                  <a:schemeClr val="bg1">
                    <a:lumMod val="50000"/>
                  </a:schemeClr>
                </a:solidFill>
              </a:rPr>
              <a:t>공</a:t>
            </a:r>
            <a:r>
              <a:rPr lang="ko-KR" altLang="en-US" sz="1050" dirty="0" err="1">
                <a:solidFill>
                  <a:srgbClr val="FF0000"/>
                </a:solidFill>
              </a:rPr>
              <a:t>존</a:t>
            </a:r>
            <a:r>
              <a:rPr lang="ko-KR" altLang="en-US" sz="1050" dirty="0" err="1">
                <a:solidFill>
                  <a:schemeClr val="bg1">
                    <a:lumMod val="50000"/>
                  </a:schemeClr>
                </a:solidFill>
              </a:rPr>
              <a:t>재등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98" name="직사각형 97"/>
          <p:cNvSpPr/>
          <p:nvPr/>
        </p:nvSpPr>
        <p:spPr>
          <a:xfrm>
            <a:off x="2002922" y="5367734"/>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rgbClr val="FF0000"/>
                </a:solidFill>
              </a:rPr>
              <a:t>제</a:t>
            </a:r>
            <a:r>
              <a:rPr lang="en-US" altLang="ko-KR" sz="1050" dirty="0">
                <a:solidFill>
                  <a:srgbClr val="FF0000"/>
                </a:solidFill>
              </a:rPr>
              <a:t>55</a:t>
            </a:r>
            <a:r>
              <a:rPr lang="ko-KR" altLang="en-US" sz="1050" dirty="0">
                <a:solidFill>
                  <a:srgbClr val="FF0000"/>
                </a:solidFill>
              </a:rPr>
              <a:t>조</a:t>
            </a:r>
            <a:r>
              <a:rPr lang="en-US" altLang="ko-KR" sz="1050" dirty="0">
                <a:solidFill>
                  <a:srgbClr val="FF0000"/>
                </a:solidFill>
              </a:rPr>
              <a:t>, </a:t>
            </a:r>
            <a:r>
              <a:rPr lang="ko-KR" altLang="en-US" sz="1050" dirty="0">
                <a:solidFill>
                  <a:srgbClr val="FF0000"/>
                </a:solidFill>
              </a:rPr>
              <a:t>제</a:t>
            </a:r>
            <a:r>
              <a:rPr lang="en-US" altLang="ko-KR" sz="1050" dirty="0">
                <a:solidFill>
                  <a:srgbClr val="FF0000"/>
                </a:solidFill>
              </a:rPr>
              <a:t>56</a:t>
            </a:r>
            <a:r>
              <a:rPr lang="ko-KR" altLang="en-US" sz="1050" dirty="0">
                <a:solidFill>
                  <a:srgbClr val="FF0000"/>
                </a:solidFill>
              </a:rPr>
              <a:t>조</a:t>
            </a:r>
            <a:endParaRPr lang="en-US" altLang="ko-KR" sz="1050" dirty="0">
              <a:solidFill>
                <a:srgbClr val="FF0000"/>
              </a:solidFill>
            </a:endParaRPr>
          </a:p>
          <a:p>
            <a:pPr algn="ctr"/>
            <a:r>
              <a:rPr lang="en-US" altLang="ko-KR" sz="1050" dirty="0">
                <a:solidFill>
                  <a:schemeClr val="bg1">
                    <a:lumMod val="50000"/>
                  </a:schemeClr>
                </a:solidFill>
              </a:rPr>
              <a:t>(</a:t>
            </a:r>
            <a:r>
              <a:rPr lang="ko-KR" altLang="en-US" sz="1050" b="1" dirty="0">
                <a:solidFill>
                  <a:schemeClr val="bg1">
                    <a:lumMod val="50000"/>
                  </a:schemeClr>
                </a:solidFill>
              </a:rPr>
              <a:t>심</a:t>
            </a:r>
            <a:r>
              <a:rPr lang="ko-KR" altLang="en-US" sz="1050" dirty="0">
                <a:solidFill>
                  <a:schemeClr val="bg1">
                    <a:lumMod val="50000"/>
                  </a:schemeClr>
                </a:solidFill>
              </a:rPr>
              <a:t>공</a:t>
            </a:r>
            <a:r>
              <a:rPr lang="ko-KR" altLang="en-US" sz="1050" dirty="0">
                <a:solidFill>
                  <a:srgbClr val="FF0000"/>
                </a:solidFill>
              </a:rPr>
              <a:t>존</a:t>
            </a:r>
            <a:r>
              <a:rPr lang="ko-KR" altLang="en-US" sz="1050" dirty="0">
                <a:solidFill>
                  <a:schemeClr val="bg1">
                    <a:lumMod val="50000"/>
                  </a:schemeClr>
                </a:solidFill>
              </a:rPr>
              <a:t>재등이</a:t>
            </a:r>
            <a:r>
              <a:rPr lang="en-US" altLang="ko-KR" sz="1050" dirty="0">
                <a:solidFill>
                  <a:schemeClr val="bg1">
                    <a:lumMod val="50000"/>
                  </a:schemeClr>
                </a:solidFill>
              </a:rPr>
              <a:t>)</a:t>
            </a:r>
            <a:endParaRPr lang="ko-KR" altLang="en-US" sz="1050" dirty="0">
              <a:solidFill>
                <a:schemeClr val="bg1">
                  <a:lumMod val="50000"/>
                </a:schemeClr>
              </a:solidFill>
            </a:endParaRPr>
          </a:p>
        </p:txBody>
      </p:sp>
      <p:cxnSp>
        <p:nvCxnSpPr>
          <p:cNvPr id="108" name="꺾인 연결선 107"/>
          <p:cNvCxnSpPr>
            <a:stCxn id="78" idx="3"/>
            <a:endCxn id="81" idx="1"/>
          </p:cNvCxnSpPr>
          <p:nvPr/>
        </p:nvCxnSpPr>
        <p:spPr>
          <a:xfrm flipV="1">
            <a:off x="1652778" y="3672886"/>
            <a:ext cx="350144" cy="48437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꺾인 연결선 114"/>
          <p:cNvCxnSpPr>
            <a:cxnSpLocks/>
            <a:stCxn id="78" idx="3"/>
            <a:endCxn id="98" idx="1"/>
          </p:cNvCxnSpPr>
          <p:nvPr/>
        </p:nvCxnSpPr>
        <p:spPr>
          <a:xfrm>
            <a:off x="1652778" y="4157258"/>
            <a:ext cx="350144" cy="137685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꺾인 연결선 115"/>
          <p:cNvCxnSpPr>
            <a:stCxn id="78" idx="3"/>
            <a:endCxn id="96" idx="1"/>
          </p:cNvCxnSpPr>
          <p:nvPr/>
        </p:nvCxnSpPr>
        <p:spPr>
          <a:xfrm flipV="1">
            <a:off x="1652778" y="4039851"/>
            <a:ext cx="350144" cy="11740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꺾인 연결선 116"/>
          <p:cNvCxnSpPr>
            <a:cxnSpLocks/>
            <a:stCxn id="78" idx="3"/>
            <a:endCxn id="97" idx="1"/>
          </p:cNvCxnSpPr>
          <p:nvPr/>
        </p:nvCxnSpPr>
        <p:spPr>
          <a:xfrm>
            <a:off x="1652778" y="4157258"/>
            <a:ext cx="350144" cy="10055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꺾인 연결선 117"/>
          <p:cNvCxnSpPr>
            <a:stCxn id="78" idx="3"/>
            <a:endCxn id="82" idx="1"/>
          </p:cNvCxnSpPr>
          <p:nvPr/>
        </p:nvCxnSpPr>
        <p:spPr>
          <a:xfrm>
            <a:off x="1652778" y="4157258"/>
            <a:ext cx="350144" cy="25391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꺾인 연결선 118"/>
          <p:cNvCxnSpPr>
            <a:stCxn id="78" idx="3"/>
            <a:endCxn id="95" idx="1"/>
          </p:cNvCxnSpPr>
          <p:nvPr/>
        </p:nvCxnSpPr>
        <p:spPr>
          <a:xfrm>
            <a:off x="1652778" y="4157258"/>
            <a:ext cx="350144" cy="62524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꺾인 연결선 120"/>
          <p:cNvCxnSpPr>
            <a:stCxn id="78" idx="1"/>
            <a:endCxn id="79" idx="1"/>
          </p:cNvCxnSpPr>
          <p:nvPr/>
        </p:nvCxnSpPr>
        <p:spPr>
          <a:xfrm rot="10800000" flipV="1">
            <a:off x="857250" y="4157257"/>
            <a:ext cx="12700" cy="2261851"/>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직선 연결선 122"/>
          <p:cNvCxnSpPr/>
          <p:nvPr/>
        </p:nvCxnSpPr>
        <p:spPr>
          <a:xfrm>
            <a:off x="4812504" y="2694034"/>
            <a:ext cx="678658"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직사각형 123"/>
          <p:cNvSpPr/>
          <p:nvPr/>
        </p:nvSpPr>
        <p:spPr>
          <a:xfrm>
            <a:off x="3924300" y="3820599"/>
            <a:ext cx="1566861" cy="385628"/>
          </a:xfrm>
          <a:prstGeom prst="rect">
            <a:avLst/>
          </a:prstGeom>
          <a:solidFill>
            <a:schemeClr val="accent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t>존속기간 만료일이 </a:t>
            </a:r>
            <a:endParaRPr lang="en-US" altLang="ko-KR" sz="1050" dirty="0"/>
          </a:p>
          <a:p>
            <a:pPr algn="ctr"/>
            <a:r>
              <a:rPr lang="ko-KR" altLang="en-US" sz="1050" dirty="0"/>
              <a:t>공휴일인 경우</a:t>
            </a:r>
            <a:r>
              <a:rPr lang="en-US" altLang="ko-KR" sz="1050" dirty="0"/>
              <a:t>(</a:t>
            </a:r>
            <a:r>
              <a:rPr lang="ko-KR" altLang="en-US" sz="1050" dirty="0"/>
              <a:t>法 </a:t>
            </a:r>
            <a:r>
              <a:rPr lang="en-US" altLang="ko-KR" sz="1050" dirty="0"/>
              <a:t>14Ⅳ)</a:t>
            </a:r>
            <a:endParaRPr lang="ko-KR" altLang="en-US" sz="1050" dirty="0"/>
          </a:p>
        </p:txBody>
      </p:sp>
      <p:cxnSp>
        <p:nvCxnSpPr>
          <p:cNvPr id="125" name="꺾인 연결선 124"/>
          <p:cNvCxnSpPr>
            <a:stCxn id="124" idx="1"/>
            <a:endCxn id="128" idx="1"/>
          </p:cNvCxnSpPr>
          <p:nvPr/>
        </p:nvCxnSpPr>
        <p:spPr>
          <a:xfrm rot="10800000" flipV="1">
            <a:off x="3924300" y="4013412"/>
            <a:ext cx="12700" cy="529473"/>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직선 연결선 125"/>
          <p:cNvCxnSpPr/>
          <p:nvPr/>
        </p:nvCxnSpPr>
        <p:spPr>
          <a:xfrm>
            <a:off x="0" y="150108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7" name="TextBox 126"/>
          <p:cNvSpPr txBox="1"/>
          <p:nvPr/>
        </p:nvSpPr>
        <p:spPr>
          <a:xfrm>
            <a:off x="77875" y="976902"/>
            <a:ext cx="11936323" cy="523220"/>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88</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특허권의 존속기간</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특허권의 존속기간은 제</a:t>
            </a:r>
            <a:r>
              <a:rPr lang="en-US" altLang="ko-KR" sz="1400" dirty="0">
                <a:solidFill>
                  <a:schemeClr val="tx2"/>
                </a:solidFill>
              </a:rPr>
              <a:t>87</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따라 특허권을 </a:t>
            </a:r>
            <a:r>
              <a:rPr lang="ko-KR" altLang="en-US" sz="1400" dirty="0" err="1">
                <a:solidFill>
                  <a:schemeClr val="tx2"/>
                </a:solidFill>
              </a:rPr>
              <a:t>설정등록한</a:t>
            </a:r>
            <a:r>
              <a:rPr lang="ko-KR" altLang="en-US" sz="1400" dirty="0">
                <a:solidFill>
                  <a:schemeClr val="tx2"/>
                </a:solidFill>
              </a:rPr>
              <a:t> 날부터 특허출원일 후 </a:t>
            </a:r>
            <a:r>
              <a:rPr lang="en-US" altLang="ko-KR" sz="1400" dirty="0">
                <a:solidFill>
                  <a:schemeClr val="tx2"/>
                </a:solidFill>
              </a:rPr>
              <a:t>20</a:t>
            </a:r>
            <a:r>
              <a:rPr lang="ko-KR" altLang="en-US" sz="1400" dirty="0">
                <a:solidFill>
                  <a:schemeClr val="tx2"/>
                </a:solidFill>
              </a:rPr>
              <a:t>년이 되는 날까지로 한다</a:t>
            </a:r>
            <a:r>
              <a:rPr lang="en-US" altLang="ko-KR" sz="1400" dirty="0">
                <a:solidFill>
                  <a:schemeClr val="tx2"/>
                </a:solidFill>
              </a:rPr>
              <a:t>.</a:t>
            </a:r>
          </a:p>
          <a:p>
            <a:pPr fontAlgn="base"/>
            <a:r>
              <a:rPr lang="en-US" altLang="ko-KR" sz="1400" dirty="0">
                <a:solidFill>
                  <a:schemeClr val="tx2"/>
                </a:solidFill>
              </a:rPr>
              <a:t>② </a:t>
            </a:r>
            <a:r>
              <a:rPr lang="ko-KR" altLang="en-US" sz="1400" dirty="0">
                <a:solidFill>
                  <a:schemeClr val="tx2"/>
                </a:solidFill>
              </a:rPr>
              <a:t>정당한 권리자의 특허출원이 제</a:t>
            </a:r>
            <a:r>
              <a:rPr lang="en-US" altLang="ko-KR" sz="1400" dirty="0">
                <a:solidFill>
                  <a:schemeClr val="tx2"/>
                </a:solidFill>
              </a:rPr>
              <a:t>34</a:t>
            </a:r>
            <a:r>
              <a:rPr lang="ko-KR" altLang="en-US" sz="1400" dirty="0">
                <a:solidFill>
                  <a:schemeClr val="tx2"/>
                </a:solidFill>
              </a:rPr>
              <a:t>조 또는 제</a:t>
            </a:r>
            <a:r>
              <a:rPr lang="en-US" altLang="ko-KR" sz="1400" dirty="0">
                <a:solidFill>
                  <a:schemeClr val="tx2"/>
                </a:solidFill>
              </a:rPr>
              <a:t>35</a:t>
            </a:r>
            <a:r>
              <a:rPr lang="ko-KR" altLang="en-US" sz="1400" dirty="0">
                <a:solidFill>
                  <a:schemeClr val="tx2"/>
                </a:solidFill>
              </a:rPr>
              <a:t>조에 따라 특허된 경우에는 제</a:t>
            </a:r>
            <a:r>
              <a:rPr lang="en-US" altLang="ko-KR" sz="1400" dirty="0">
                <a:solidFill>
                  <a:schemeClr val="tx2"/>
                </a:solidFill>
              </a:rPr>
              <a:t>1</a:t>
            </a:r>
            <a:r>
              <a:rPr lang="ko-KR" altLang="en-US" sz="1400" dirty="0">
                <a:solidFill>
                  <a:schemeClr val="tx2"/>
                </a:solidFill>
              </a:rPr>
              <a:t>항의 특허권의 존속기간은 </a:t>
            </a:r>
            <a:r>
              <a:rPr lang="ko-KR" altLang="en-US" sz="1400" dirty="0" err="1">
                <a:solidFill>
                  <a:schemeClr val="tx2"/>
                </a:solidFill>
              </a:rPr>
              <a:t>무권리자의</a:t>
            </a:r>
            <a:r>
              <a:rPr lang="ko-KR" altLang="en-US" sz="1400" dirty="0">
                <a:solidFill>
                  <a:schemeClr val="tx2"/>
                </a:solidFill>
              </a:rPr>
              <a:t> </a:t>
            </a:r>
            <a:r>
              <a:rPr lang="ko-KR" altLang="en-US" sz="1400" dirty="0" err="1">
                <a:solidFill>
                  <a:schemeClr val="tx2"/>
                </a:solidFill>
              </a:rPr>
              <a:t>특허출원일의</a:t>
            </a:r>
            <a:r>
              <a:rPr lang="ko-KR" altLang="en-US" sz="1400" dirty="0">
                <a:solidFill>
                  <a:schemeClr val="tx2"/>
                </a:solidFill>
              </a:rPr>
              <a:t> 다음 날부터 기산한다</a:t>
            </a:r>
            <a:r>
              <a:rPr lang="en-US" altLang="ko-KR" sz="1400" dirty="0">
                <a:solidFill>
                  <a:schemeClr val="tx2"/>
                </a:solidFill>
              </a:rPr>
              <a:t>.</a:t>
            </a:r>
          </a:p>
        </p:txBody>
      </p:sp>
      <p:sp>
        <p:nvSpPr>
          <p:cNvPr id="128" name="직사각형 127"/>
          <p:cNvSpPr/>
          <p:nvPr/>
        </p:nvSpPr>
        <p:spPr>
          <a:xfrm>
            <a:off x="3924300" y="4350072"/>
            <a:ext cx="1566861" cy="385628"/>
          </a:xfrm>
          <a:prstGeom prst="rect">
            <a:avLst/>
          </a:prstGeom>
          <a:solidFill>
            <a:schemeClr val="accent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t>연장가능</a:t>
            </a:r>
            <a:r>
              <a:rPr lang="en-US" altLang="ko-KR" sz="1050" dirty="0"/>
              <a:t>(</a:t>
            </a:r>
            <a:r>
              <a:rPr lang="ko-KR" altLang="en-US" sz="1050" dirty="0"/>
              <a:t>法 </a:t>
            </a:r>
            <a:r>
              <a:rPr lang="en-US" altLang="ko-KR" sz="1050" dirty="0"/>
              <a:t>89~95)</a:t>
            </a:r>
            <a:endParaRPr lang="ko-KR" altLang="en-US" sz="1050" dirty="0"/>
          </a:p>
        </p:txBody>
      </p:sp>
      <p:sp>
        <p:nvSpPr>
          <p:cNvPr id="25" name="자유형 24"/>
          <p:cNvSpPr/>
          <p:nvPr/>
        </p:nvSpPr>
        <p:spPr>
          <a:xfrm>
            <a:off x="438150" y="2695575"/>
            <a:ext cx="3343275" cy="2276475"/>
          </a:xfrm>
          <a:custGeom>
            <a:avLst/>
            <a:gdLst>
              <a:gd name="connsiteX0" fmla="*/ 209550 w 3343275"/>
              <a:gd name="connsiteY0" fmla="*/ 2276475 h 2276475"/>
              <a:gd name="connsiteX1" fmla="*/ 209550 w 3343275"/>
              <a:gd name="connsiteY1" fmla="*/ 2276475 h 2276475"/>
              <a:gd name="connsiteX2" fmla="*/ 123825 w 3343275"/>
              <a:gd name="connsiteY2" fmla="*/ 2276475 h 2276475"/>
              <a:gd name="connsiteX3" fmla="*/ 0 w 3343275"/>
              <a:gd name="connsiteY3" fmla="*/ 2276475 h 2276475"/>
              <a:gd name="connsiteX4" fmla="*/ 0 w 3343275"/>
              <a:gd name="connsiteY4" fmla="*/ 523875 h 2276475"/>
              <a:gd name="connsiteX5" fmla="*/ 133350 w 3343275"/>
              <a:gd name="connsiteY5" fmla="*/ 523875 h 2276475"/>
              <a:gd name="connsiteX6" fmla="*/ 3343275 w 3343275"/>
              <a:gd name="connsiteY6" fmla="*/ 523875 h 2276475"/>
              <a:gd name="connsiteX7" fmla="*/ 3343275 w 3343275"/>
              <a:gd name="connsiteY7" fmla="*/ 0 h 2276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43275" h="2276475">
                <a:moveTo>
                  <a:pt x="209550" y="2276475"/>
                </a:moveTo>
                <a:lnTo>
                  <a:pt x="209550" y="2276475"/>
                </a:lnTo>
                <a:lnTo>
                  <a:pt x="123825" y="2276475"/>
                </a:lnTo>
                <a:lnTo>
                  <a:pt x="0" y="2276475"/>
                </a:lnTo>
                <a:lnTo>
                  <a:pt x="0" y="523875"/>
                </a:lnTo>
                <a:lnTo>
                  <a:pt x="133350" y="523875"/>
                </a:lnTo>
                <a:lnTo>
                  <a:pt x="3343275" y="523875"/>
                </a:lnTo>
                <a:lnTo>
                  <a:pt x="3343275" y="0"/>
                </a:lnTo>
              </a:path>
            </a:pathLst>
          </a:cu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6" name="자유형 25"/>
          <p:cNvSpPr/>
          <p:nvPr/>
        </p:nvSpPr>
        <p:spPr>
          <a:xfrm>
            <a:off x="3486150" y="2714625"/>
            <a:ext cx="1666875" cy="1581150"/>
          </a:xfrm>
          <a:custGeom>
            <a:avLst/>
            <a:gdLst>
              <a:gd name="connsiteX0" fmla="*/ 209550 w 1666875"/>
              <a:gd name="connsiteY0" fmla="*/ 1581150 h 1581150"/>
              <a:gd name="connsiteX1" fmla="*/ 0 w 1666875"/>
              <a:gd name="connsiteY1" fmla="*/ 1581150 h 1581150"/>
              <a:gd name="connsiteX2" fmla="*/ 0 w 1666875"/>
              <a:gd name="connsiteY2" fmla="*/ 809625 h 1581150"/>
              <a:gd name="connsiteX3" fmla="*/ 1666875 w 1666875"/>
              <a:gd name="connsiteY3" fmla="*/ 809625 h 1581150"/>
              <a:gd name="connsiteX4" fmla="*/ 1666875 w 1666875"/>
              <a:gd name="connsiteY4" fmla="*/ 0 h 1581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875" h="1581150">
                <a:moveTo>
                  <a:pt x="209550" y="1581150"/>
                </a:moveTo>
                <a:lnTo>
                  <a:pt x="0" y="1581150"/>
                </a:lnTo>
                <a:lnTo>
                  <a:pt x="0" y="809625"/>
                </a:lnTo>
                <a:lnTo>
                  <a:pt x="1666875" y="809625"/>
                </a:lnTo>
                <a:lnTo>
                  <a:pt x="1666875" y="0"/>
                </a:lnTo>
              </a:path>
            </a:pathLst>
          </a:cu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cxnSp>
        <p:nvCxnSpPr>
          <p:cNvPr id="129" name="직선 연결선 128"/>
          <p:cNvCxnSpPr/>
          <p:nvPr/>
        </p:nvCxnSpPr>
        <p:spPr>
          <a:xfrm flipV="1">
            <a:off x="6088591" y="1768712"/>
            <a:ext cx="0" cy="467971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직선 연결선 129"/>
          <p:cNvCxnSpPr/>
          <p:nvPr/>
        </p:nvCxnSpPr>
        <p:spPr>
          <a:xfrm>
            <a:off x="6562725" y="3809875"/>
            <a:ext cx="51530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1" name="사각형: 둥근 모서리 130"/>
          <p:cNvSpPr/>
          <p:nvPr/>
        </p:nvSpPr>
        <p:spPr>
          <a:xfrm>
            <a:off x="6458552" y="3647724"/>
            <a:ext cx="769856" cy="316186"/>
          </a:xfrm>
          <a:prstGeom prst="roundRect">
            <a:avLst>
              <a:gd name="adj" fmla="val 50000"/>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solidFill>
              </a:rPr>
              <a:t>특허출원</a:t>
            </a:r>
          </a:p>
        </p:txBody>
      </p:sp>
      <p:sp>
        <p:nvSpPr>
          <p:cNvPr id="133" name="사각형: 둥근 모서리 132"/>
          <p:cNvSpPr/>
          <p:nvPr/>
        </p:nvSpPr>
        <p:spPr>
          <a:xfrm>
            <a:off x="7953977" y="3647724"/>
            <a:ext cx="769856" cy="316186"/>
          </a:xfrm>
          <a:prstGeom prst="roundRect">
            <a:avLst>
              <a:gd name="adj" fmla="val 50000"/>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solidFill>
              </a:rPr>
              <a:t>설정등록</a:t>
            </a:r>
          </a:p>
        </p:txBody>
      </p:sp>
      <p:sp>
        <p:nvSpPr>
          <p:cNvPr id="134" name="Rectangle 14"/>
          <p:cNvSpPr>
            <a:spLocks noChangeArrowheads="1"/>
          </p:cNvSpPr>
          <p:nvPr/>
        </p:nvSpPr>
        <p:spPr bwMode="auto">
          <a:xfrm flipV="1">
            <a:off x="11054252" y="373334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45" name="꺾인 연결선 44"/>
          <p:cNvCxnSpPr>
            <a:endCxn id="134" idx="0"/>
          </p:cNvCxnSpPr>
          <p:nvPr/>
        </p:nvCxnSpPr>
        <p:spPr>
          <a:xfrm rot="5400000" flipH="1" flipV="1">
            <a:off x="8945833" y="1784053"/>
            <a:ext cx="77504" cy="4282210"/>
          </a:xfrm>
          <a:prstGeom prst="bentConnector3">
            <a:avLst>
              <a:gd name="adj1" fmla="val -442429"/>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5" name="직사각형 134"/>
          <p:cNvSpPr/>
          <p:nvPr/>
        </p:nvSpPr>
        <p:spPr>
          <a:xfrm>
            <a:off x="8374144" y="4288834"/>
            <a:ext cx="769856" cy="316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20</a:t>
            </a:r>
            <a:r>
              <a:rPr lang="ko-KR" altLang="en-US" sz="1000" dirty="0">
                <a:solidFill>
                  <a:schemeClr val="tx1"/>
                </a:solidFill>
              </a:rPr>
              <a:t>년</a:t>
            </a:r>
          </a:p>
        </p:txBody>
      </p:sp>
      <p:sp>
        <p:nvSpPr>
          <p:cNvPr id="136" name="직사각형 135"/>
          <p:cNvSpPr/>
          <p:nvPr/>
        </p:nvSpPr>
        <p:spPr>
          <a:xfrm>
            <a:off x="9347369" y="2338760"/>
            <a:ext cx="769856" cy="316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존속기간</a:t>
            </a:r>
          </a:p>
        </p:txBody>
      </p:sp>
      <p:sp>
        <p:nvSpPr>
          <p:cNvPr id="52" name="TextBox 51"/>
          <p:cNvSpPr txBox="1"/>
          <p:nvPr/>
        </p:nvSpPr>
        <p:spPr>
          <a:xfrm>
            <a:off x="8666684" y="3339947"/>
            <a:ext cx="2468946" cy="307777"/>
          </a:xfrm>
          <a:prstGeom prst="rect">
            <a:avLst/>
          </a:prstGeom>
          <a:noFill/>
        </p:spPr>
        <p:txBody>
          <a:bodyPr wrap="none" rtlCol="0">
            <a:spAutoFit/>
          </a:bodyPr>
          <a:lstStyle/>
          <a:p>
            <a:r>
              <a:rPr lang="ko-KR" altLang="en-US" sz="1400" dirty="0">
                <a:solidFill>
                  <a:srgbClr val="FF0000"/>
                </a:solidFill>
              </a:rPr>
              <a:t>발명이 실시되는 시장</a:t>
            </a:r>
            <a:r>
              <a:rPr lang="en-US" altLang="ko-KR" sz="1400" dirty="0">
                <a:solidFill>
                  <a:srgbClr val="FF0000"/>
                </a:solidFill>
              </a:rPr>
              <a:t>(Market)</a:t>
            </a:r>
            <a:endParaRPr lang="ko-KR" altLang="en-US" sz="1400" dirty="0">
              <a:solidFill>
                <a:srgbClr val="FF0000"/>
              </a:solidFill>
            </a:endParaRPr>
          </a:p>
        </p:txBody>
      </p:sp>
      <p:sp>
        <p:nvSpPr>
          <p:cNvPr id="138" name="양쪽 모서리가 둥근 사각형 137"/>
          <p:cNvSpPr/>
          <p:nvPr/>
        </p:nvSpPr>
        <p:spPr>
          <a:xfrm>
            <a:off x="9537275" y="4855806"/>
            <a:ext cx="1588415" cy="1154929"/>
          </a:xfrm>
          <a:prstGeom prst="round2SameRect">
            <a:avLst>
              <a:gd name="adj1" fmla="val 20310"/>
              <a:gd name="adj2" fmla="val 0"/>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40" name="직선 연결선 139"/>
          <p:cNvCxnSpPr/>
          <p:nvPr/>
        </p:nvCxnSpPr>
        <p:spPr>
          <a:xfrm>
            <a:off x="6562725" y="6010735"/>
            <a:ext cx="51530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1" name="사각형: 둥근 모서리 140"/>
          <p:cNvSpPr/>
          <p:nvPr/>
        </p:nvSpPr>
        <p:spPr>
          <a:xfrm>
            <a:off x="6458552" y="5848584"/>
            <a:ext cx="769856" cy="316186"/>
          </a:xfrm>
          <a:prstGeom prst="roundRect">
            <a:avLst>
              <a:gd name="adj" fmla="val 50000"/>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solidFill>
              </a:rPr>
              <a:t>특허출원</a:t>
            </a:r>
          </a:p>
        </p:txBody>
      </p:sp>
      <p:sp>
        <p:nvSpPr>
          <p:cNvPr id="143" name="Rectangle 14"/>
          <p:cNvSpPr>
            <a:spLocks noChangeArrowheads="1"/>
          </p:cNvSpPr>
          <p:nvPr/>
        </p:nvSpPr>
        <p:spPr bwMode="auto">
          <a:xfrm flipV="1">
            <a:off x="11054252" y="593420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144" name="꺾인 연결선 143"/>
          <p:cNvCxnSpPr>
            <a:endCxn id="143" idx="0"/>
          </p:cNvCxnSpPr>
          <p:nvPr/>
        </p:nvCxnSpPr>
        <p:spPr>
          <a:xfrm rot="5400000" flipH="1" flipV="1">
            <a:off x="8945833" y="3984913"/>
            <a:ext cx="77504" cy="4282210"/>
          </a:xfrm>
          <a:prstGeom prst="bentConnector3">
            <a:avLst>
              <a:gd name="adj1" fmla="val -442429"/>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5" name="직사각형 144"/>
          <p:cNvSpPr/>
          <p:nvPr/>
        </p:nvSpPr>
        <p:spPr>
          <a:xfrm>
            <a:off x="8374144" y="6489694"/>
            <a:ext cx="769856" cy="316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20</a:t>
            </a:r>
            <a:r>
              <a:rPr lang="ko-KR" altLang="en-US" sz="1000" dirty="0">
                <a:solidFill>
                  <a:schemeClr val="tx1"/>
                </a:solidFill>
              </a:rPr>
              <a:t>년</a:t>
            </a:r>
          </a:p>
        </p:txBody>
      </p:sp>
      <p:sp>
        <p:nvSpPr>
          <p:cNvPr id="146" name="직사각형 145"/>
          <p:cNvSpPr/>
          <p:nvPr/>
        </p:nvSpPr>
        <p:spPr>
          <a:xfrm>
            <a:off x="9890294" y="4539620"/>
            <a:ext cx="769856" cy="3161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존속기간</a:t>
            </a:r>
          </a:p>
        </p:txBody>
      </p:sp>
      <p:sp>
        <p:nvSpPr>
          <p:cNvPr id="148" name="직사각형 34"/>
          <p:cNvSpPr/>
          <p:nvPr/>
        </p:nvSpPr>
        <p:spPr>
          <a:xfrm>
            <a:off x="8338904" y="4992875"/>
            <a:ext cx="2986321" cy="998895"/>
          </a:xfrm>
          <a:custGeom>
            <a:avLst/>
            <a:gdLst>
              <a:gd name="connsiteX0" fmla="*/ 0 w 2952328"/>
              <a:gd name="connsiteY0" fmla="*/ 0 h 864096"/>
              <a:gd name="connsiteX1" fmla="*/ 2952328 w 2952328"/>
              <a:gd name="connsiteY1" fmla="*/ 0 h 864096"/>
              <a:gd name="connsiteX2" fmla="*/ 2952328 w 2952328"/>
              <a:gd name="connsiteY2" fmla="*/ 864096 h 864096"/>
              <a:gd name="connsiteX3" fmla="*/ 0 w 2952328"/>
              <a:gd name="connsiteY3" fmla="*/ 864096 h 864096"/>
              <a:gd name="connsiteX4" fmla="*/ 0 w 2952328"/>
              <a:gd name="connsiteY4" fmla="*/ 0 h 864096"/>
              <a:gd name="connsiteX0" fmla="*/ 1054100 w 2952328"/>
              <a:gd name="connsiteY0" fmla="*/ 279400 h 864096"/>
              <a:gd name="connsiteX1" fmla="*/ 2952328 w 2952328"/>
              <a:gd name="connsiteY1" fmla="*/ 0 h 864096"/>
              <a:gd name="connsiteX2" fmla="*/ 2952328 w 2952328"/>
              <a:gd name="connsiteY2" fmla="*/ 864096 h 864096"/>
              <a:gd name="connsiteX3" fmla="*/ 0 w 2952328"/>
              <a:gd name="connsiteY3" fmla="*/ 864096 h 864096"/>
              <a:gd name="connsiteX4" fmla="*/ 1054100 w 2952328"/>
              <a:gd name="connsiteY4" fmla="*/ 279400 h 864096"/>
              <a:gd name="connsiteX0" fmla="*/ 1054100 w 2952328"/>
              <a:gd name="connsiteY0" fmla="*/ 279400 h 864096"/>
              <a:gd name="connsiteX1" fmla="*/ 2952328 w 2952328"/>
              <a:gd name="connsiteY1" fmla="*/ 0 h 864096"/>
              <a:gd name="connsiteX2" fmla="*/ 2952328 w 2952328"/>
              <a:gd name="connsiteY2" fmla="*/ 864096 h 864096"/>
              <a:gd name="connsiteX3" fmla="*/ 0 w 2952328"/>
              <a:gd name="connsiteY3" fmla="*/ 864096 h 864096"/>
              <a:gd name="connsiteX4" fmla="*/ 1054100 w 2952328"/>
              <a:gd name="connsiteY4" fmla="*/ 279400 h 864096"/>
              <a:gd name="connsiteX0" fmla="*/ 1054100 w 2952328"/>
              <a:gd name="connsiteY0" fmla="*/ 279400 h 864096"/>
              <a:gd name="connsiteX1" fmla="*/ 1920328 w 2952328"/>
              <a:gd name="connsiteY1" fmla="*/ 151024 h 864096"/>
              <a:gd name="connsiteX2" fmla="*/ 2952328 w 2952328"/>
              <a:gd name="connsiteY2" fmla="*/ 0 h 864096"/>
              <a:gd name="connsiteX3" fmla="*/ 2952328 w 2952328"/>
              <a:gd name="connsiteY3" fmla="*/ 864096 h 864096"/>
              <a:gd name="connsiteX4" fmla="*/ 0 w 2952328"/>
              <a:gd name="connsiteY4" fmla="*/ 864096 h 864096"/>
              <a:gd name="connsiteX5" fmla="*/ 1054100 w 2952328"/>
              <a:gd name="connsiteY5" fmla="*/ 279400 h 864096"/>
              <a:gd name="connsiteX0" fmla="*/ 1391070 w 2952328"/>
              <a:gd name="connsiteY0" fmla="*/ 214779 h 864096"/>
              <a:gd name="connsiteX1" fmla="*/ 1920328 w 2952328"/>
              <a:gd name="connsiteY1" fmla="*/ 151024 h 864096"/>
              <a:gd name="connsiteX2" fmla="*/ 2952328 w 2952328"/>
              <a:gd name="connsiteY2" fmla="*/ 0 h 864096"/>
              <a:gd name="connsiteX3" fmla="*/ 2952328 w 2952328"/>
              <a:gd name="connsiteY3" fmla="*/ 864096 h 864096"/>
              <a:gd name="connsiteX4" fmla="*/ 0 w 2952328"/>
              <a:gd name="connsiteY4" fmla="*/ 864096 h 864096"/>
              <a:gd name="connsiteX5" fmla="*/ 1391070 w 2952328"/>
              <a:gd name="connsiteY5" fmla="*/ 214779 h 864096"/>
              <a:gd name="connsiteX0" fmla="*/ 1391070 w 2952328"/>
              <a:gd name="connsiteY0" fmla="*/ 214779 h 864096"/>
              <a:gd name="connsiteX1" fmla="*/ 1794944 w 2952328"/>
              <a:gd name="connsiteY1" fmla="*/ 612606 h 864096"/>
              <a:gd name="connsiteX2" fmla="*/ 2952328 w 2952328"/>
              <a:gd name="connsiteY2" fmla="*/ 0 h 864096"/>
              <a:gd name="connsiteX3" fmla="*/ 2952328 w 2952328"/>
              <a:gd name="connsiteY3" fmla="*/ 864096 h 864096"/>
              <a:gd name="connsiteX4" fmla="*/ 0 w 2952328"/>
              <a:gd name="connsiteY4" fmla="*/ 864096 h 864096"/>
              <a:gd name="connsiteX5" fmla="*/ 1391070 w 2952328"/>
              <a:gd name="connsiteY5" fmla="*/ 214779 h 864096"/>
              <a:gd name="connsiteX0" fmla="*/ 1391070 w 2983674"/>
              <a:gd name="connsiteY0" fmla="*/ 0 h 649317"/>
              <a:gd name="connsiteX1" fmla="*/ 1794944 w 2983674"/>
              <a:gd name="connsiteY1" fmla="*/ 397827 h 649317"/>
              <a:gd name="connsiteX2" fmla="*/ 2983674 w 2983674"/>
              <a:gd name="connsiteY2" fmla="*/ 551447 h 649317"/>
              <a:gd name="connsiteX3" fmla="*/ 2952328 w 2983674"/>
              <a:gd name="connsiteY3" fmla="*/ 649317 h 649317"/>
              <a:gd name="connsiteX4" fmla="*/ 0 w 2983674"/>
              <a:gd name="connsiteY4" fmla="*/ 649317 h 649317"/>
              <a:gd name="connsiteX5" fmla="*/ 1391070 w 2983674"/>
              <a:gd name="connsiteY5" fmla="*/ 0 h 649317"/>
              <a:gd name="connsiteX0" fmla="*/ 850351 w 2983674"/>
              <a:gd name="connsiteY0" fmla="*/ 0 h 473916"/>
              <a:gd name="connsiteX1" fmla="*/ 1794944 w 2983674"/>
              <a:gd name="connsiteY1" fmla="*/ 222426 h 473916"/>
              <a:gd name="connsiteX2" fmla="*/ 2983674 w 2983674"/>
              <a:gd name="connsiteY2" fmla="*/ 376046 h 473916"/>
              <a:gd name="connsiteX3" fmla="*/ 2952328 w 2983674"/>
              <a:gd name="connsiteY3" fmla="*/ 473916 h 473916"/>
              <a:gd name="connsiteX4" fmla="*/ 0 w 2983674"/>
              <a:gd name="connsiteY4" fmla="*/ 473916 h 473916"/>
              <a:gd name="connsiteX5" fmla="*/ 850351 w 2983674"/>
              <a:gd name="connsiteY5" fmla="*/ 0 h 473916"/>
              <a:gd name="connsiteX0" fmla="*/ 850351 w 2983674"/>
              <a:gd name="connsiteY0" fmla="*/ 0 h 473916"/>
              <a:gd name="connsiteX1" fmla="*/ 1794944 w 2983674"/>
              <a:gd name="connsiteY1" fmla="*/ 222426 h 473916"/>
              <a:gd name="connsiteX2" fmla="*/ 2116241 w 2983674"/>
              <a:gd name="connsiteY2" fmla="*/ 345935 h 473916"/>
              <a:gd name="connsiteX3" fmla="*/ 2983674 w 2983674"/>
              <a:gd name="connsiteY3" fmla="*/ 376046 h 473916"/>
              <a:gd name="connsiteX4" fmla="*/ 2952328 w 2983674"/>
              <a:gd name="connsiteY4" fmla="*/ 473916 h 473916"/>
              <a:gd name="connsiteX5" fmla="*/ 0 w 2983674"/>
              <a:gd name="connsiteY5" fmla="*/ 473916 h 473916"/>
              <a:gd name="connsiteX6" fmla="*/ 850351 w 2983674"/>
              <a:gd name="connsiteY6" fmla="*/ 0 h 473916"/>
              <a:gd name="connsiteX0" fmla="*/ 647414 w 2983674"/>
              <a:gd name="connsiteY0" fmla="*/ 0 h 464684"/>
              <a:gd name="connsiteX1" fmla="*/ 1794944 w 2983674"/>
              <a:gd name="connsiteY1" fmla="*/ 213194 h 464684"/>
              <a:gd name="connsiteX2" fmla="*/ 2116241 w 2983674"/>
              <a:gd name="connsiteY2" fmla="*/ 336703 h 464684"/>
              <a:gd name="connsiteX3" fmla="*/ 2983674 w 2983674"/>
              <a:gd name="connsiteY3" fmla="*/ 366814 h 464684"/>
              <a:gd name="connsiteX4" fmla="*/ 2952328 w 2983674"/>
              <a:gd name="connsiteY4" fmla="*/ 464684 h 464684"/>
              <a:gd name="connsiteX5" fmla="*/ 0 w 2983674"/>
              <a:gd name="connsiteY5" fmla="*/ 464684 h 464684"/>
              <a:gd name="connsiteX6" fmla="*/ 647414 w 2983674"/>
              <a:gd name="connsiteY6" fmla="*/ 0 h 464684"/>
              <a:gd name="connsiteX0" fmla="*/ 623539 w 2983674"/>
              <a:gd name="connsiteY0" fmla="*/ 0 h 464684"/>
              <a:gd name="connsiteX1" fmla="*/ 1794944 w 2983674"/>
              <a:gd name="connsiteY1" fmla="*/ 213194 h 464684"/>
              <a:gd name="connsiteX2" fmla="*/ 2116241 w 2983674"/>
              <a:gd name="connsiteY2" fmla="*/ 336703 h 464684"/>
              <a:gd name="connsiteX3" fmla="*/ 2983674 w 2983674"/>
              <a:gd name="connsiteY3" fmla="*/ 366814 h 464684"/>
              <a:gd name="connsiteX4" fmla="*/ 2952328 w 2983674"/>
              <a:gd name="connsiteY4" fmla="*/ 464684 h 464684"/>
              <a:gd name="connsiteX5" fmla="*/ 0 w 2983674"/>
              <a:gd name="connsiteY5" fmla="*/ 464684 h 464684"/>
              <a:gd name="connsiteX6" fmla="*/ 623539 w 2983674"/>
              <a:gd name="connsiteY6" fmla="*/ 0 h 464684"/>
              <a:gd name="connsiteX0" fmla="*/ 1680003 w 2983674"/>
              <a:gd name="connsiteY0" fmla="*/ 0 h 1101667"/>
              <a:gd name="connsiteX1" fmla="*/ 1794944 w 2983674"/>
              <a:gd name="connsiteY1" fmla="*/ 850177 h 1101667"/>
              <a:gd name="connsiteX2" fmla="*/ 2116241 w 2983674"/>
              <a:gd name="connsiteY2" fmla="*/ 973686 h 1101667"/>
              <a:gd name="connsiteX3" fmla="*/ 2983674 w 2983674"/>
              <a:gd name="connsiteY3" fmla="*/ 1003797 h 1101667"/>
              <a:gd name="connsiteX4" fmla="*/ 2952328 w 2983674"/>
              <a:gd name="connsiteY4" fmla="*/ 1101667 h 1101667"/>
              <a:gd name="connsiteX5" fmla="*/ 0 w 2983674"/>
              <a:gd name="connsiteY5" fmla="*/ 1101667 h 1101667"/>
              <a:gd name="connsiteX6" fmla="*/ 1680003 w 2983674"/>
              <a:gd name="connsiteY6" fmla="*/ 0 h 1101667"/>
              <a:gd name="connsiteX0" fmla="*/ 1680003 w 2983674"/>
              <a:gd name="connsiteY0" fmla="*/ 0 h 1101667"/>
              <a:gd name="connsiteX1" fmla="*/ 2033693 w 2983674"/>
              <a:gd name="connsiteY1" fmla="*/ 93183 h 1101667"/>
              <a:gd name="connsiteX2" fmla="*/ 2116241 w 2983674"/>
              <a:gd name="connsiteY2" fmla="*/ 973686 h 1101667"/>
              <a:gd name="connsiteX3" fmla="*/ 2983674 w 2983674"/>
              <a:gd name="connsiteY3" fmla="*/ 1003797 h 1101667"/>
              <a:gd name="connsiteX4" fmla="*/ 2952328 w 2983674"/>
              <a:gd name="connsiteY4" fmla="*/ 1101667 h 1101667"/>
              <a:gd name="connsiteX5" fmla="*/ 0 w 2983674"/>
              <a:gd name="connsiteY5" fmla="*/ 1101667 h 1101667"/>
              <a:gd name="connsiteX6" fmla="*/ 1680003 w 2983674"/>
              <a:gd name="connsiteY6" fmla="*/ 0 h 1101667"/>
              <a:gd name="connsiteX0" fmla="*/ 1680003 w 2983674"/>
              <a:gd name="connsiteY0" fmla="*/ 0 h 1101667"/>
              <a:gd name="connsiteX1" fmla="*/ 2033693 w 2983674"/>
              <a:gd name="connsiteY1" fmla="*/ 93183 h 1101667"/>
              <a:gd name="connsiteX2" fmla="*/ 2116241 w 2983674"/>
              <a:gd name="connsiteY2" fmla="*/ 973686 h 1101667"/>
              <a:gd name="connsiteX3" fmla="*/ 2471344 w 2983674"/>
              <a:gd name="connsiteY3" fmla="*/ 92553 h 1101667"/>
              <a:gd name="connsiteX4" fmla="*/ 2983674 w 2983674"/>
              <a:gd name="connsiteY4" fmla="*/ 1003797 h 1101667"/>
              <a:gd name="connsiteX5" fmla="*/ 2952328 w 2983674"/>
              <a:gd name="connsiteY5" fmla="*/ 1101667 h 1101667"/>
              <a:gd name="connsiteX6" fmla="*/ 0 w 2983674"/>
              <a:gd name="connsiteY6" fmla="*/ 1101667 h 1101667"/>
              <a:gd name="connsiteX7" fmla="*/ 1680003 w 2983674"/>
              <a:gd name="connsiteY7" fmla="*/ 0 h 1101667"/>
              <a:gd name="connsiteX0" fmla="*/ 1680003 w 2983674"/>
              <a:gd name="connsiteY0" fmla="*/ 0 h 1101667"/>
              <a:gd name="connsiteX1" fmla="*/ 2033693 w 2983674"/>
              <a:gd name="connsiteY1" fmla="*/ 93183 h 1101667"/>
              <a:gd name="connsiteX2" fmla="*/ 2271428 w 2983674"/>
              <a:gd name="connsiteY2" fmla="*/ 87450 h 1101667"/>
              <a:gd name="connsiteX3" fmla="*/ 2471344 w 2983674"/>
              <a:gd name="connsiteY3" fmla="*/ 92553 h 1101667"/>
              <a:gd name="connsiteX4" fmla="*/ 2983674 w 2983674"/>
              <a:gd name="connsiteY4" fmla="*/ 1003797 h 1101667"/>
              <a:gd name="connsiteX5" fmla="*/ 2952328 w 2983674"/>
              <a:gd name="connsiteY5" fmla="*/ 1101667 h 1101667"/>
              <a:gd name="connsiteX6" fmla="*/ 0 w 2983674"/>
              <a:gd name="connsiteY6" fmla="*/ 1101667 h 1101667"/>
              <a:gd name="connsiteX7" fmla="*/ 1680003 w 2983674"/>
              <a:gd name="connsiteY7" fmla="*/ 0 h 110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83674" h="1101667">
                <a:moveTo>
                  <a:pt x="1680003" y="0"/>
                </a:moveTo>
                <a:lnTo>
                  <a:pt x="2033693" y="93183"/>
                </a:lnTo>
                <a:cubicBezTo>
                  <a:pt x="2041530" y="97426"/>
                  <a:pt x="2263591" y="83207"/>
                  <a:pt x="2271428" y="87450"/>
                </a:cubicBezTo>
                <a:cubicBezTo>
                  <a:pt x="2278379" y="86074"/>
                  <a:pt x="2464393" y="93929"/>
                  <a:pt x="2471344" y="92553"/>
                </a:cubicBezTo>
                <a:lnTo>
                  <a:pt x="2983674" y="1003797"/>
                </a:lnTo>
                <a:lnTo>
                  <a:pt x="2952328" y="1101667"/>
                </a:lnTo>
                <a:lnTo>
                  <a:pt x="0" y="1101667"/>
                </a:lnTo>
                <a:lnTo>
                  <a:pt x="1680003" y="0"/>
                </a:lnTo>
                <a:close/>
              </a:path>
            </a:pathLst>
          </a:custGeom>
          <a:solidFill>
            <a:schemeClr val="accent5">
              <a:lumMod val="20000"/>
              <a:lumOff val="80000"/>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7" name="TextBox 146"/>
          <p:cNvSpPr txBox="1"/>
          <p:nvPr/>
        </p:nvSpPr>
        <p:spPr>
          <a:xfrm>
            <a:off x="8666684" y="5540807"/>
            <a:ext cx="2468946" cy="307777"/>
          </a:xfrm>
          <a:prstGeom prst="rect">
            <a:avLst/>
          </a:prstGeom>
          <a:noFill/>
        </p:spPr>
        <p:txBody>
          <a:bodyPr wrap="none" rtlCol="0">
            <a:spAutoFit/>
          </a:bodyPr>
          <a:lstStyle/>
          <a:p>
            <a:r>
              <a:rPr lang="ko-KR" altLang="en-US" sz="1400" dirty="0">
                <a:solidFill>
                  <a:srgbClr val="FF0000"/>
                </a:solidFill>
              </a:rPr>
              <a:t>발명이 실시되는 시장</a:t>
            </a:r>
            <a:r>
              <a:rPr lang="en-US" altLang="ko-KR" sz="1400" dirty="0">
                <a:solidFill>
                  <a:srgbClr val="FF0000"/>
                </a:solidFill>
              </a:rPr>
              <a:t>(Market)</a:t>
            </a:r>
            <a:endParaRPr lang="ko-KR" altLang="en-US" sz="1400" dirty="0">
              <a:solidFill>
                <a:srgbClr val="FF0000"/>
              </a:solidFill>
            </a:endParaRPr>
          </a:p>
        </p:txBody>
      </p:sp>
      <p:sp>
        <p:nvSpPr>
          <p:cNvPr id="149" name="TextBox 148"/>
          <p:cNvSpPr txBox="1"/>
          <p:nvPr/>
        </p:nvSpPr>
        <p:spPr>
          <a:xfrm>
            <a:off x="6319647" y="1711971"/>
            <a:ext cx="5472303" cy="461665"/>
          </a:xfrm>
          <a:prstGeom prst="rect">
            <a:avLst/>
          </a:prstGeom>
          <a:noFill/>
          <a:ln>
            <a:solidFill>
              <a:schemeClr val="bg1">
                <a:lumMod val="50000"/>
              </a:schemeClr>
            </a:solidFill>
          </a:ln>
        </p:spPr>
        <p:txBody>
          <a:bodyPr wrap="square" rtlCol="0">
            <a:spAutoFit/>
          </a:bodyPr>
          <a:lstStyle/>
          <a:p>
            <a:r>
              <a:rPr lang="en-US" altLang="ko-KR" sz="2400" dirty="0">
                <a:solidFill>
                  <a:schemeClr val="accent4">
                    <a:lumMod val="50000"/>
                  </a:schemeClr>
                </a:solidFill>
              </a:rPr>
              <a:t>* Market Maker</a:t>
            </a:r>
            <a:r>
              <a:rPr lang="ko-KR" altLang="en-US" sz="2400" dirty="0">
                <a:solidFill>
                  <a:schemeClr val="accent4">
                    <a:lumMod val="50000"/>
                  </a:schemeClr>
                </a:solidFill>
              </a:rPr>
              <a:t>가 될 수 있는가</a:t>
            </a:r>
            <a:r>
              <a:rPr lang="en-US" altLang="ko-KR" sz="2400" dirty="0">
                <a:solidFill>
                  <a:schemeClr val="accent4">
                    <a:lumMod val="50000"/>
                  </a:schemeClr>
                </a:solidFill>
              </a:rPr>
              <a:t>?</a:t>
            </a:r>
            <a:endParaRPr lang="ko-KR" altLang="en-US" sz="2400" dirty="0">
              <a:solidFill>
                <a:schemeClr val="accent4">
                  <a:lumMod val="50000"/>
                </a:schemeClr>
              </a:solidFill>
            </a:endParaRPr>
          </a:p>
        </p:txBody>
      </p:sp>
      <p:sp>
        <p:nvSpPr>
          <p:cNvPr id="142" name="사각형: 둥근 모서리 141"/>
          <p:cNvSpPr/>
          <p:nvPr/>
        </p:nvSpPr>
        <p:spPr>
          <a:xfrm>
            <a:off x="9163652" y="5848584"/>
            <a:ext cx="769856" cy="316186"/>
          </a:xfrm>
          <a:prstGeom prst="roundRect">
            <a:avLst>
              <a:gd name="adj" fmla="val 50000"/>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solidFill>
              </a:rPr>
              <a:t>설정등록</a:t>
            </a:r>
          </a:p>
        </p:txBody>
      </p:sp>
      <p:sp>
        <p:nvSpPr>
          <p:cNvPr id="2" name="슬라이드 번호 개체 틀 1"/>
          <p:cNvSpPr>
            <a:spLocks noGrp="1"/>
          </p:cNvSpPr>
          <p:nvPr>
            <p:ph type="sldNum" sz="quarter" idx="12"/>
          </p:nvPr>
        </p:nvSpPr>
        <p:spPr/>
        <p:txBody>
          <a:bodyPr/>
          <a:lstStyle/>
          <a:p>
            <a:r>
              <a:rPr lang="en-US" altLang="ko-KR"/>
              <a:t>296</a:t>
            </a:r>
            <a:endParaRPr lang="ko-KR" altLang="en-US"/>
          </a:p>
        </p:txBody>
      </p:sp>
      <p:sp>
        <p:nvSpPr>
          <p:cNvPr id="55" name="직사각형 54">
            <a:extLst>
              <a:ext uri="{FF2B5EF4-FFF2-40B4-BE49-F238E27FC236}">
                <a16:creationId xmlns:a16="http://schemas.microsoft.com/office/drawing/2014/main" id="{83C7CA4D-9C84-49D1-9187-4990F49BC873}"/>
              </a:ext>
            </a:extLst>
          </p:cNvPr>
          <p:cNvSpPr/>
          <p:nvPr/>
        </p:nvSpPr>
        <p:spPr>
          <a:xfrm>
            <a:off x="2002922" y="4996408"/>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53</a:t>
            </a:r>
            <a:r>
              <a:rPr lang="ko-KR" altLang="en-US" sz="1050" dirty="0">
                <a:solidFill>
                  <a:schemeClr val="bg1">
                    <a:lumMod val="50000"/>
                  </a:schemeClr>
                </a:solidFill>
              </a:rPr>
              <a:t>조</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ko-KR" altLang="en-US" sz="1050" dirty="0" err="1">
                <a:solidFill>
                  <a:schemeClr val="bg1">
                    <a:lumMod val="50000"/>
                  </a:schemeClr>
                </a:solidFill>
              </a:rPr>
              <a:t>확공조국등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56" name="직사각형 55">
            <a:extLst>
              <a:ext uri="{FF2B5EF4-FFF2-40B4-BE49-F238E27FC236}">
                <a16:creationId xmlns:a16="http://schemas.microsoft.com/office/drawing/2014/main" id="{68141F86-C523-46A3-A6A9-A30288BF4F12}"/>
              </a:ext>
            </a:extLst>
          </p:cNvPr>
          <p:cNvSpPr/>
          <p:nvPr/>
        </p:nvSpPr>
        <p:spPr>
          <a:xfrm>
            <a:off x="2002922" y="5376690"/>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rgbClr val="FF0000"/>
                </a:solidFill>
              </a:rPr>
              <a:t>제</a:t>
            </a:r>
            <a:r>
              <a:rPr lang="en-US" altLang="ko-KR" sz="1050" dirty="0">
                <a:solidFill>
                  <a:srgbClr val="FF0000"/>
                </a:solidFill>
              </a:rPr>
              <a:t>54</a:t>
            </a:r>
            <a:r>
              <a:rPr lang="ko-KR" altLang="en-US" sz="1050" dirty="0">
                <a:solidFill>
                  <a:srgbClr val="FF0000"/>
                </a:solidFill>
              </a:rPr>
              <a:t>조</a:t>
            </a:r>
            <a:endParaRPr lang="en-US" altLang="ko-KR" sz="1050" dirty="0">
              <a:solidFill>
                <a:srgbClr val="FF0000"/>
              </a:solidFill>
            </a:endParaRPr>
          </a:p>
          <a:p>
            <a:pPr algn="ctr"/>
            <a:r>
              <a:rPr lang="en-US" altLang="ko-KR" sz="1050" dirty="0">
                <a:solidFill>
                  <a:schemeClr val="bg1">
                    <a:lumMod val="50000"/>
                  </a:schemeClr>
                </a:solidFill>
              </a:rPr>
              <a:t>(</a:t>
            </a:r>
            <a:r>
              <a:rPr lang="ko-KR" altLang="en-US" sz="1050" b="1" dirty="0" err="1">
                <a:solidFill>
                  <a:schemeClr val="bg1">
                    <a:lumMod val="50000"/>
                  </a:schemeClr>
                </a:solidFill>
              </a:rPr>
              <a:t>심</a:t>
            </a:r>
            <a:r>
              <a:rPr lang="ko-KR" altLang="en-US" sz="1050" dirty="0" err="1">
                <a:solidFill>
                  <a:schemeClr val="bg1">
                    <a:lumMod val="50000"/>
                  </a:schemeClr>
                </a:solidFill>
              </a:rPr>
              <a:t>공</a:t>
            </a:r>
            <a:r>
              <a:rPr lang="ko-KR" altLang="en-US" sz="1050" dirty="0" err="1">
                <a:solidFill>
                  <a:srgbClr val="FF0000"/>
                </a:solidFill>
              </a:rPr>
              <a:t>존</a:t>
            </a:r>
            <a:r>
              <a:rPr lang="ko-KR" altLang="en-US" sz="1050" dirty="0" err="1">
                <a:solidFill>
                  <a:schemeClr val="bg1">
                    <a:lumMod val="50000"/>
                  </a:schemeClr>
                </a:solidFill>
              </a:rPr>
              <a:t>재등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57" name="직사각형 56">
            <a:extLst>
              <a:ext uri="{FF2B5EF4-FFF2-40B4-BE49-F238E27FC236}">
                <a16:creationId xmlns:a16="http://schemas.microsoft.com/office/drawing/2014/main" id="{E5B7A286-D9C6-43FD-A820-69AAE328ED98}"/>
              </a:ext>
            </a:extLst>
          </p:cNvPr>
          <p:cNvSpPr/>
          <p:nvPr/>
        </p:nvSpPr>
        <p:spPr>
          <a:xfrm>
            <a:off x="2002922" y="5748016"/>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rgbClr val="FF0000"/>
                </a:solidFill>
              </a:rPr>
              <a:t>제</a:t>
            </a:r>
            <a:r>
              <a:rPr lang="en-US" altLang="ko-KR" sz="1050" dirty="0">
                <a:solidFill>
                  <a:srgbClr val="FF0000"/>
                </a:solidFill>
              </a:rPr>
              <a:t>55</a:t>
            </a:r>
            <a:r>
              <a:rPr lang="ko-KR" altLang="en-US" sz="1050" dirty="0">
                <a:solidFill>
                  <a:srgbClr val="FF0000"/>
                </a:solidFill>
              </a:rPr>
              <a:t>조</a:t>
            </a:r>
            <a:r>
              <a:rPr lang="en-US" altLang="ko-KR" sz="1050" dirty="0">
                <a:solidFill>
                  <a:srgbClr val="FF0000"/>
                </a:solidFill>
              </a:rPr>
              <a:t>, </a:t>
            </a:r>
            <a:r>
              <a:rPr lang="ko-KR" altLang="en-US" sz="1050" dirty="0">
                <a:solidFill>
                  <a:srgbClr val="FF0000"/>
                </a:solidFill>
              </a:rPr>
              <a:t>제</a:t>
            </a:r>
            <a:r>
              <a:rPr lang="en-US" altLang="ko-KR" sz="1050" dirty="0">
                <a:solidFill>
                  <a:srgbClr val="FF0000"/>
                </a:solidFill>
              </a:rPr>
              <a:t>56</a:t>
            </a:r>
            <a:r>
              <a:rPr lang="ko-KR" altLang="en-US" sz="1050" dirty="0">
                <a:solidFill>
                  <a:srgbClr val="FF0000"/>
                </a:solidFill>
              </a:rPr>
              <a:t>조</a:t>
            </a:r>
            <a:endParaRPr lang="en-US" altLang="ko-KR" sz="1050" dirty="0">
              <a:solidFill>
                <a:srgbClr val="FF0000"/>
              </a:solidFill>
            </a:endParaRPr>
          </a:p>
          <a:p>
            <a:pPr algn="ctr"/>
            <a:r>
              <a:rPr lang="en-US" altLang="ko-KR" sz="1050" dirty="0">
                <a:solidFill>
                  <a:schemeClr val="bg1">
                    <a:lumMod val="50000"/>
                  </a:schemeClr>
                </a:solidFill>
              </a:rPr>
              <a:t>(</a:t>
            </a:r>
            <a:r>
              <a:rPr lang="ko-KR" altLang="en-US" sz="1050" b="1" dirty="0">
                <a:solidFill>
                  <a:schemeClr val="bg1">
                    <a:lumMod val="50000"/>
                  </a:schemeClr>
                </a:solidFill>
              </a:rPr>
              <a:t>심</a:t>
            </a:r>
            <a:r>
              <a:rPr lang="ko-KR" altLang="en-US" sz="1050" dirty="0">
                <a:solidFill>
                  <a:schemeClr val="bg1">
                    <a:lumMod val="50000"/>
                  </a:schemeClr>
                </a:solidFill>
              </a:rPr>
              <a:t>공</a:t>
            </a:r>
            <a:r>
              <a:rPr lang="ko-KR" altLang="en-US" sz="1050" dirty="0">
                <a:solidFill>
                  <a:srgbClr val="FF0000"/>
                </a:solidFill>
              </a:rPr>
              <a:t>존</a:t>
            </a:r>
            <a:r>
              <a:rPr lang="ko-KR" altLang="en-US" sz="1050" dirty="0">
                <a:solidFill>
                  <a:schemeClr val="bg1">
                    <a:lumMod val="50000"/>
                  </a:schemeClr>
                </a:solidFill>
              </a:rPr>
              <a:t>재등이</a:t>
            </a:r>
            <a:r>
              <a:rPr lang="en-US" altLang="ko-KR" sz="1050" dirty="0">
                <a:solidFill>
                  <a:schemeClr val="bg1">
                    <a:lumMod val="50000"/>
                  </a:schemeClr>
                </a:solidFill>
              </a:rPr>
              <a:t>)</a:t>
            </a:r>
            <a:endParaRPr lang="ko-KR" altLang="en-US" sz="1050" dirty="0">
              <a:solidFill>
                <a:schemeClr val="bg1">
                  <a:lumMod val="50000"/>
                </a:schemeClr>
              </a:solidFill>
            </a:endParaRPr>
          </a:p>
        </p:txBody>
      </p:sp>
      <p:cxnSp>
        <p:nvCxnSpPr>
          <p:cNvPr id="58" name="꺾인 연결선 116">
            <a:extLst>
              <a:ext uri="{FF2B5EF4-FFF2-40B4-BE49-F238E27FC236}">
                <a16:creationId xmlns:a16="http://schemas.microsoft.com/office/drawing/2014/main" id="{668FE3F0-1DFB-498D-AECB-0A7B26F1E3B0}"/>
              </a:ext>
            </a:extLst>
          </p:cNvPr>
          <p:cNvCxnSpPr>
            <a:cxnSpLocks/>
            <a:stCxn id="78" idx="3"/>
            <a:endCxn id="57" idx="1"/>
          </p:cNvCxnSpPr>
          <p:nvPr/>
        </p:nvCxnSpPr>
        <p:spPr>
          <a:xfrm>
            <a:off x="1652778" y="4157258"/>
            <a:ext cx="350144" cy="1757134"/>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53929630"/>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253F13-0E0C-F82A-DFA3-1F46BBDA8A2A}"/>
            </a:ext>
          </a:extLst>
        </p:cNvPr>
        <p:cNvGrpSpPr/>
        <p:nvPr/>
      </p:nvGrpSpPr>
      <p:grpSpPr>
        <a:xfrm>
          <a:off x="0" y="0"/>
          <a:ext cx="0" cy="0"/>
          <a:chOff x="0" y="0"/>
          <a:chExt cx="0" cy="0"/>
        </a:xfrm>
      </p:grpSpPr>
      <p:sp>
        <p:nvSpPr>
          <p:cNvPr id="3" name="제목 2">
            <a:extLst>
              <a:ext uri="{FF2B5EF4-FFF2-40B4-BE49-F238E27FC236}">
                <a16:creationId xmlns:a16="http://schemas.microsoft.com/office/drawing/2014/main" id="{874AB29D-EFBF-B5B6-1682-FC672521C7D6}"/>
              </a:ext>
            </a:extLst>
          </p:cNvPr>
          <p:cNvSpPr>
            <a:spLocks noGrp="1"/>
          </p:cNvSpPr>
          <p:nvPr>
            <p:ph type="title"/>
          </p:nvPr>
        </p:nvSpPr>
        <p:spPr/>
        <p:txBody>
          <a:bodyPr/>
          <a:lstStyle/>
          <a:p>
            <a:r>
              <a:rPr lang="ko-KR" altLang="en-US" dirty="0"/>
              <a:t>제</a:t>
            </a:r>
            <a:r>
              <a:rPr lang="en-US" altLang="ko-KR" dirty="0"/>
              <a:t>89</a:t>
            </a:r>
            <a:r>
              <a:rPr lang="ko-KR" altLang="en-US" dirty="0"/>
              <a:t>조</a:t>
            </a:r>
            <a:r>
              <a:rPr lang="en-US" altLang="ko-KR" dirty="0"/>
              <a:t>~</a:t>
            </a:r>
            <a:r>
              <a:rPr lang="ko-KR" altLang="en-US" dirty="0"/>
              <a:t>제</a:t>
            </a:r>
            <a:r>
              <a:rPr lang="en-US" altLang="ko-KR" dirty="0"/>
              <a:t>95</a:t>
            </a:r>
            <a:r>
              <a:rPr lang="ko-KR" altLang="en-US" dirty="0"/>
              <a:t>조</a:t>
            </a:r>
          </a:p>
        </p:txBody>
      </p:sp>
      <p:sp>
        <p:nvSpPr>
          <p:cNvPr id="4" name="텍스트 개체 틀 3">
            <a:extLst>
              <a:ext uri="{FF2B5EF4-FFF2-40B4-BE49-F238E27FC236}">
                <a16:creationId xmlns:a16="http://schemas.microsoft.com/office/drawing/2014/main" id="{59F960D7-9CF8-567E-DE86-F664B5ADA6C6}"/>
              </a:ext>
            </a:extLst>
          </p:cNvPr>
          <p:cNvSpPr>
            <a:spLocks noGrp="1"/>
          </p:cNvSpPr>
          <p:nvPr>
            <p:ph type="body" sz="quarter" idx="13"/>
          </p:nvPr>
        </p:nvSpPr>
        <p:spPr/>
        <p:txBody>
          <a:bodyPr>
            <a:normAutofit/>
          </a:bodyPr>
          <a:lstStyle/>
          <a:p>
            <a:r>
              <a:rPr lang="ko-KR" altLang="en-US" dirty="0"/>
              <a:t>객체</a:t>
            </a:r>
            <a:r>
              <a:rPr lang="en-US" altLang="ko-KR" dirty="0"/>
              <a:t>: </a:t>
            </a:r>
            <a:r>
              <a:rPr lang="ko-KR" altLang="en-US" dirty="0"/>
              <a:t>허가 등의 필요성</a:t>
            </a:r>
            <a:r>
              <a:rPr lang="en-US" altLang="ko-KR" dirty="0"/>
              <a:t>(</a:t>
            </a:r>
            <a:r>
              <a:rPr lang="ko-KR" altLang="en-US" dirty="0"/>
              <a:t>제</a:t>
            </a:r>
            <a:r>
              <a:rPr lang="en-US" altLang="ko-KR" dirty="0"/>
              <a:t>89</a:t>
            </a:r>
            <a:r>
              <a:rPr lang="ko-KR" altLang="en-US" dirty="0"/>
              <a:t>조</a:t>
            </a:r>
            <a:r>
              <a:rPr lang="en-US" altLang="ko-KR" dirty="0"/>
              <a:t>, </a:t>
            </a:r>
            <a:r>
              <a:rPr lang="ko-KR" altLang="en-US" dirty="0"/>
              <a:t>시행령 제</a:t>
            </a:r>
            <a:r>
              <a:rPr lang="en-US" altLang="ko-KR" dirty="0"/>
              <a:t>7</a:t>
            </a:r>
            <a:r>
              <a:rPr lang="ko-KR" altLang="en-US" dirty="0"/>
              <a:t>조</a:t>
            </a:r>
            <a:r>
              <a:rPr lang="en-US" altLang="ko-KR" dirty="0"/>
              <a:t>)</a:t>
            </a:r>
            <a:endParaRPr lang="ko-KR" altLang="en-US" dirty="0"/>
          </a:p>
        </p:txBody>
      </p:sp>
      <p:sp>
        <p:nvSpPr>
          <p:cNvPr id="2" name="슬라이드 번호 개체 틀 1">
            <a:extLst>
              <a:ext uri="{FF2B5EF4-FFF2-40B4-BE49-F238E27FC236}">
                <a16:creationId xmlns:a16="http://schemas.microsoft.com/office/drawing/2014/main" id="{5FDEC603-B8DF-1055-F9CE-53202955C2DA}"/>
              </a:ext>
            </a:extLst>
          </p:cNvPr>
          <p:cNvSpPr>
            <a:spLocks noGrp="1"/>
          </p:cNvSpPr>
          <p:nvPr>
            <p:ph type="sldNum" sz="quarter" idx="4294967295"/>
          </p:nvPr>
        </p:nvSpPr>
        <p:spPr>
          <a:xfrm>
            <a:off x="11125200" y="0"/>
            <a:ext cx="1066800" cy="744538"/>
          </a:xfrm>
        </p:spPr>
        <p:txBody>
          <a:bodyPr/>
          <a:lstStyle/>
          <a:p>
            <a:r>
              <a:rPr lang="en-US" altLang="ko-KR"/>
              <a:t>297</a:t>
            </a:r>
            <a:endParaRPr lang="ko-KR" altLang="en-US"/>
          </a:p>
        </p:txBody>
      </p:sp>
      <p:sp>
        <p:nvSpPr>
          <p:cNvPr id="18" name="TextBox 17">
            <a:extLst>
              <a:ext uri="{FF2B5EF4-FFF2-40B4-BE49-F238E27FC236}">
                <a16:creationId xmlns:a16="http://schemas.microsoft.com/office/drawing/2014/main" id="{3C5759E8-B756-4DAE-B0E7-6AD8A7E4DD9C}"/>
              </a:ext>
            </a:extLst>
          </p:cNvPr>
          <p:cNvSpPr txBox="1"/>
          <p:nvPr/>
        </p:nvSpPr>
        <p:spPr>
          <a:xfrm>
            <a:off x="228015" y="2070847"/>
            <a:ext cx="11829513" cy="1265750"/>
          </a:xfrm>
          <a:prstGeom prst="rect">
            <a:avLst/>
          </a:prstGeom>
          <a:noFill/>
          <a:ln>
            <a:solidFill>
              <a:schemeClr val="bg1">
                <a:lumMod val="50000"/>
              </a:schemeClr>
            </a:solidFill>
          </a:ln>
        </p:spPr>
        <p:txBody>
          <a:bodyPr wrap="square" anchor="b">
            <a:noAutofit/>
          </a:bodyPr>
          <a:lstStyle/>
          <a:p>
            <a:pPr marL="0" marR="0" indent="0" algn="just" fontAlgn="base" latinLnBrk="1">
              <a:lnSpc>
                <a:spcPct val="120000"/>
              </a:lnSpc>
              <a:spcBef>
                <a:spcPts val="0"/>
              </a:spcBef>
              <a:spcAft>
                <a:spcPts val="0"/>
              </a:spcAft>
            </a:pPr>
            <a:r>
              <a:rPr lang="en-US" altLang="ko-KR" sz="1200" kern="0" spc="-60" dirty="0">
                <a:latin typeface="+mn-ea"/>
              </a:rPr>
              <a:t>1.</a:t>
            </a:r>
            <a:r>
              <a:rPr lang="en-US" altLang="ko-KR" sz="1200" kern="0" spc="-60" dirty="0">
                <a:effectLst/>
                <a:latin typeface="+mn-ea"/>
              </a:rPr>
              <a:t> </a:t>
            </a:r>
            <a:r>
              <a:rPr lang="ko-KR" altLang="en-US" sz="1200" kern="0" spc="-60" dirty="0">
                <a:effectLst/>
                <a:latin typeface="+mn-ea"/>
              </a:rPr>
              <a:t>특허발명을 실시하기 위하여 약사법 제</a:t>
            </a:r>
            <a:r>
              <a:rPr lang="en-US" altLang="ko-KR" sz="1200" kern="0" spc="-60" dirty="0">
                <a:effectLst/>
                <a:latin typeface="+mn-ea"/>
              </a:rPr>
              <a:t>31</a:t>
            </a:r>
            <a:r>
              <a:rPr lang="ko-KR" altLang="en-US" sz="1200" kern="0" spc="-60" dirty="0">
                <a:effectLst/>
                <a:latin typeface="+mn-ea"/>
              </a:rPr>
              <a:t>조제</a:t>
            </a:r>
            <a:r>
              <a:rPr lang="en-US" altLang="ko-KR" sz="1200" kern="0" spc="-60" dirty="0">
                <a:effectLst/>
                <a:latin typeface="+mn-ea"/>
              </a:rPr>
              <a:t>2</a:t>
            </a:r>
            <a:r>
              <a:rPr lang="ko-KR" altLang="en-US" sz="1200" kern="0" spc="-60" dirty="0" err="1">
                <a:effectLst/>
                <a:latin typeface="+mn-ea"/>
              </a:rPr>
              <a:t>항ㆍ제</a:t>
            </a:r>
            <a:r>
              <a:rPr lang="en-US" altLang="ko-KR" sz="1200" kern="0" spc="-60" dirty="0">
                <a:effectLst/>
                <a:latin typeface="+mn-ea"/>
              </a:rPr>
              <a:t>3</a:t>
            </a:r>
            <a:r>
              <a:rPr lang="ko-KR" altLang="en-US" sz="1200" kern="0" spc="-60" dirty="0">
                <a:effectLst/>
                <a:latin typeface="+mn-ea"/>
              </a:rPr>
              <a:t>항 또는 제</a:t>
            </a:r>
            <a:r>
              <a:rPr lang="en-US" altLang="ko-KR" sz="1200" kern="0" spc="-60" dirty="0">
                <a:effectLst/>
                <a:latin typeface="+mn-ea"/>
              </a:rPr>
              <a:t>42</a:t>
            </a:r>
            <a:r>
              <a:rPr lang="ko-KR" altLang="en-US" sz="1200" kern="0" spc="-60" dirty="0">
                <a:effectLst/>
                <a:latin typeface="+mn-ea"/>
              </a:rPr>
              <a:t>조제</a:t>
            </a:r>
            <a:r>
              <a:rPr lang="en-US" altLang="ko-KR" sz="1200" kern="0" spc="-60" dirty="0">
                <a:effectLst/>
                <a:latin typeface="+mn-ea"/>
              </a:rPr>
              <a:t>1</a:t>
            </a:r>
            <a:r>
              <a:rPr lang="ko-KR" altLang="en-US" sz="1200" kern="0" spc="-60" dirty="0">
                <a:effectLst/>
                <a:latin typeface="+mn-ea"/>
              </a:rPr>
              <a:t>항에 따라 품목허가를 받은 의약품</a:t>
            </a:r>
            <a:r>
              <a:rPr lang="en-US" altLang="ko-KR" sz="1200" kern="0" spc="-60" dirty="0">
                <a:effectLst/>
                <a:latin typeface="+mn-ea"/>
              </a:rPr>
              <a:t>[</a:t>
            </a:r>
            <a:r>
              <a:rPr lang="ko-KR" altLang="en-US" sz="1200" kern="0" spc="-60" dirty="0" err="1">
                <a:effectLst/>
                <a:latin typeface="+mn-ea"/>
              </a:rPr>
              <a:t>신물질</a:t>
            </a:r>
            <a:r>
              <a:rPr lang="en-US" altLang="ko-KR" sz="1200" kern="0" spc="-60" dirty="0">
                <a:effectLst/>
                <a:latin typeface="+mn-ea"/>
              </a:rPr>
              <a:t>(</a:t>
            </a:r>
            <a:r>
              <a:rPr lang="ko-KR" altLang="en-US" sz="1200" kern="0" spc="-60" dirty="0">
                <a:effectLst/>
                <a:latin typeface="+mn-ea"/>
              </a:rPr>
              <a:t>약효를 나타내는 유효성부분의 화학구조가 새로운 물질을 말한다</a:t>
            </a:r>
            <a:r>
              <a:rPr lang="en-US" altLang="ko-KR" sz="1200" kern="0" spc="-60" dirty="0">
                <a:effectLst/>
                <a:latin typeface="+mn-ea"/>
              </a:rPr>
              <a:t>. </a:t>
            </a:r>
            <a:r>
              <a:rPr lang="ko-KR" altLang="en-US" sz="1200" kern="0" spc="-60" dirty="0">
                <a:effectLst/>
                <a:latin typeface="+mn-ea"/>
              </a:rPr>
              <a:t>이하 이 조에서 같다</a:t>
            </a:r>
            <a:r>
              <a:rPr lang="en-US" altLang="ko-KR" sz="1200" kern="0" spc="-60" dirty="0">
                <a:effectLst/>
                <a:latin typeface="+mn-ea"/>
              </a:rPr>
              <a:t>)</a:t>
            </a:r>
            <a:r>
              <a:rPr lang="ko-KR" altLang="en-US" sz="1200" kern="0" spc="-60" dirty="0">
                <a:effectLst/>
                <a:latin typeface="+mn-ea"/>
              </a:rPr>
              <a:t>을 유효성분으로 하여 제조한 의약품으로서 </a:t>
            </a:r>
            <a:r>
              <a:rPr lang="ko-KR" altLang="en-US" sz="1200" kern="0" spc="-60" dirty="0">
                <a:effectLst/>
                <a:highlight>
                  <a:srgbClr val="FFFF00"/>
                </a:highlight>
                <a:latin typeface="+mn-ea"/>
              </a:rPr>
              <a:t>최초로 품목허가를 받은 의약품</a:t>
            </a:r>
            <a:r>
              <a:rPr lang="ko-KR" altLang="en-US" sz="1200" kern="0" spc="-60" dirty="0">
                <a:effectLst/>
                <a:latin typeface="+mn-ea"/>
              </a:rPr>
              <a:t>으로 한정한다</a:t>
            </a:r>
            <a:r>
              <a:rPr lang="en-US" altLang="ko-KR" sz="1200" kern="0" spc="-60" dirty="0">
                <a:effectLst/>
                <a:latin typeface="+mn-ea"/>
              </a:rPr>
              <a:t>]</a:t>
            </a:r>
            <a:r>
              <a:rPr lang="ko-KR" altLang="en-US" sz="1200" kern="0" spc="-60" dirty="0">
                <a:effectLst/>
                <a:latin typeface="+mn-ea"/>
              </a:rPr>
              <a:t>의 발명 또는 「마약류 관리에 관한 법률」 제</a:t>
            </a:r>
            <a:r>
              <a:rPr lang="en-US" altLang="ko-KR" sz="1200" kern="0" spc="-60" dirty="0">
                <a:effectLst/>
                <a:latin typeface="+mn-ea"/>
              </a:rPr>
              <a:t>18</a:t>
            </a:r>
            <a:r>
              <a:rPr lang="ko-KR" altLang="en-US" sz="1200" kern="0" spc="-60" dirty="0">
                <a:effectLst/>
                <a:latin typeface="+mn-ea"/>
              </a:rPr>
              <a:t>조제</a:t>
            </a:r>
            <a:r>
              <a:rPr lang="en-US" altLang="ko-KR" sz="1200" kern="0" spc="-60" dirty="0">
                <a:effectLst/>
                <a:latin typeface="+mn-ea"/>
              </a:rPr>
              <a:t>2</a:t>
            </a:r>
            <a:r>
              <a:rPr lang="ko-KR" altLang="en-US" sz="1200" kern="0" spc="-60" dirty="0">
                <a:effectLst/>
                <a:latin typeface="+mn-ea"/>
              </a:rPr>
              <a:t>항 또는 제</a:t>
            </a:r>
            <a:r>
              <a:rPr lang="en-US" altLang="ko-KR" sz="1200" kern="0" spc="-60" dirty="0">
                <a:effectLst/>
                <a:latin typeface="+mn-ea"/>
              </a:rPr>
              <a:t>21</a:t>
            </a:r>
            <a:r>
              <a:rPr lang="ko-KR" altLang="en-US" sz="1200" kern="0" spc="-60" dirty="0">
                <a:effectLst/>
                <a:latin typeface="+mn-ea"/>
              </a:rPr>
              <a:t>조제</a:t>
            </a:r>
            <a:r>
              <a:rPr lang="en-US" altLang="ko-KR" sz="1200" kern="0" spc="-60" dirty="0">
                <a:effectLst/>
                <a:latin typeface="+mn-ea"/>
              </a:rPr>
              <a:t>2</a:t>
            </a:r>
            <a:r>
              <a:rPr lang="ko-KR" altLang="en-US" sz="1200" kern="0" spc="-60" dirty="0">
                <a:effectLst/>
                <a:latin typeface="+mn-ea"/>
              </a:rPr>
              <a:t>항에 따라 품목허가를 받은 마약 또는 향정신성의약품</a:t>
            </a:r>
            <a:r>
              <a:rPr lang="en-US" altLang="ko-KR" sz="1200" kern="0" spc="-60" dirty="0">
                <a:effectLst/>
                <a:latin typeface="+mn-ea"/>
              </a:rPr>
              <a:t>(</a:t>
            </a:r>
            <a:r>
              <a:rPr lang="ko-KR" altLang="en-US" sz="1200" kern="0" spc="-60" dirty="0">
                <a:effectLst/>
                <a:latin typeface="+mn-ea"/>
              </a:rPr>
              <a:t>신물질을 유효성분으로 하여 제조한 마약 또는 향정신성의약품으로서 </a:t>
            </a:r>
            <a:r>
              <a:rPr lang="ko-KR" altLang="en-US" sz="1200" kern="0" spc="-60" dirty="0">
                <a:effectLst/>
                <a:highlight>
                  <a:srgbClr val="FFFF00"/>
                </a:highlight>
                <a:latin typeface="+mn-ea"/>
              </a:rPr>
              <a:t>최초로 품목허가를 받은 마약 또는 향정신성의약품</a:t>
            </a:r>
            <a:r>
              <a:rPr lang="ko-KR" altLang="en-US" sz="1200" kern="0" spc="-60" dirty="0">
                <a:effectLst/>
                <a:latin typeface="+mn-ea"/>
              </a:rPr>
              <a:t>으로 한정한다</a:t>
            </a:r>
            <a:r>
              <a:rPr lang="en-US" altLang="ko-KR" sz="1200" kern="0" spc="-60" dirty="0">
                <a:effectLst/>
                <a:latin typeface="+mn-ea"/>
              </a:rPr>
              <a:t>)</a:t>
            </a:r>
            <a:r>
              <a:rPr lang="ko-KR" altLang="en-US" sz="1200" kern="0" spc="-60" dirty="0">
                <a:effectLst/>
                <a:latin typeface="+mn-ea"/>
              </a:rPr>
              <a:t>의 발명</a:t>
            </a:r>
            <a:r>
              <a:rPr lang="en-US" altLang="ko-KR" sz="1200" kern="0" spc="-60" dirty="0">
                <a:effectLst/>
                <a:latin typeface="+mn-ea"/>
              </a:rPr>
              <a:t>, </a:t>
            </a:r>
          </a:p>
          <a:p>
            <a:pPr marL="0" marR="0" indent="0" algn="just" fontAlgn="base" latinLnBrk="1">
              <a:lnSpc>
                <a:spcPct val="120000"/>
              </a:lnSpc>
              <a:spcBef>
                <a:spcPts val="0"/>
              </a:spcBef>
              <a:spcAft>
                <a:spcPts val="0"/>
              </a:spcAft>
            </a:pPr>
            <a:r>
              <a:rPr lang="en-US" altLang="ko-KR" sz="1200" kern="0" spc="-60" dirty="0">
                <a:latin typeface="+mn-ea"/>
              </a:rPr>
              <a:t>2.</a:t>
            </a:r>
            <a:r>
              <a:rPr lang="en-US" altLang="ko-KR" sz="1200" kern="0" spc="-60" dirty="0">
                <a:effectLst/>
                <a:latin typeface="+mn-ea"/>
              </a:rPr>
              <a:t> </a:t>
            </a:r>
            <a:r>
              <a:rPr lang="ko-KR" altLang="en-US" sz="1200" kern="0" spc="-60" dirty="0">
                <a:effectLst/>
                <a:latin typeface="+mn-ea"/>
              </a:rPr>
              <a:t>특허발명을 실시하기 위하여 「농약관리법」 제</a:t>
            </a:r>
            <a:r>
              <a:rPr lang="en-US" altLang="ko-KR" sz="1200" kern="0" spc="-60" dirty="0">
                <a:effectLst/>
                <a:latin typeface="+mn-ea"/>
              </a:rPr>
              <a:t>8</a:t>
            </a:r>
            <a:r>
              <a:rPr lang="ko-KR" altLang="en-US" sz="1200" kern="0" spc="-60" dirty="0">
                <a:effectLst/>
                <a:latin typeface="+mn-ea"/>
              </a:rPr>
              <a:t>조제</a:t>
            </a:r>
            <a:r>
              <a:rPr lang="en-US" altLang="ko-KR" sz="1200" kern="0" spc="-60" dirty="0">
                <a:effectLst/>
                <a:latin typeface="+mn-ea"/>
              </a:rPr>
              <a:t>1</a:t>
            </a:r>
            <a:r>
              <a:rPr lang="ko-KR" altLang="en-US" sz="1200" kern="0" spc="-60" dirty="0">
                <a:effectLst/>
                <a:latin typeface="+mn-ea"/>
              </a:rPr>
              <a:t>항</a:t>
            </a:r>
            <a:r>
              <a:rPr lang="en-US" altLang="ko-KR" sz="1200" kern="0" spc="-60" dirty="0">
                <a:effectLst/>
                <a:latin typeface="+mn-ea"/>
              </a:rPr>
              <a:t>, </a:t>
            </a:r>
            <a:r>
              <a:rPr lang="ko-KR" altLang="en-US" sz="1200" kern="0" spc="-60" dirty="0">
                <a:effectLst/>
                <a:latin typeface="+mn-ea"/>
              </a:rPr>
              <a:t>제</a:t>
            </a:r>
            <a:r>
              <a:rPr lang="en-US" altLang="ko-KR" sz="1200" kern="0" spc="-60" dirty="0">
                <a:effectLst/>
                <a:latin typeface="+mn-ea"/>
              </a:rPr>
              <a:t>16</a:t>
            </a:r>
            <a:r>
              <a:rPr lang="ko-KR" altLang="en-US" sz="1200" kern="0" spc="-60" dirty="0">
                <a:effectLst/>
                <a:latin typeface="+mn-ea"/>
              </a:rPr>
              <a:t>조제</a:t>
            </a:r>
            <a:r>
              <a:rPr lang="en-US" altLang="ko-KR" sz="1200" kern="0" spc="-60" dirty="0">
                <a:effectLst/>
                <a:latin typeface="+mn-ea"/>
              </a:rPr>
              <a:t>1</a:t>
            </a:r>
            <a:r>
              <a:rPr lang="ko-KR" altLang="en-US" sz="1200" kern="0" spc="-60" dirty="0">
                <a:effectLst/>
                <a:latin typeface="+mn-ea"/>
              </a:rPr>
              <a:t>항 또는 제</a:t>
            </a:r>
            <a:r>
              <a:rPr lang="en-US" altLang="ko-KR" sz="1200" kern="0" spc="-60" dirty="0">
                <a:effectLst/>
                <a:latin typeface="+mn-ea"/>
              </a:rPr>
              <a:t>17</a:t>
            </a:r>
            <a:r>
              <a:rPr lang="ko-KR" altLang="en-US" sz="1200" kern="0" spc="-60" dirty="0">
                <a:effectLst/>
                <a:latin typeface="+mn-ea"/>
              </a:rPr>
              <a:t>조제</a:t>
            </a:r>
            <a:r>
              <a:rPr lang="en-US" altLang="ko-KR" sz="1200" kern="0" spc="-60" dirty="0">
                <a:effectLst/>
                <a:latin typeface="+mn-ea"/>
              </a:rPr>
              <a:t>1</a:t>
            </a:r>
            <a:r>
              <a:rPr lang="ko-KR" altLang="en-US" sz="1200" kern="0" spc="-60" dirty="0">
                <a:effectLst/>
                <a:latin typeface="+mn-ea"/>
              </a:rPr>
              <a:t>항에 따라 등록한 농약 또는 원제</a:t>
            </a:r>
            <a:r>
              <a:rPr lang="en-US" altLang="ko-KR" sz="1200" kern="0" spc="-60" dirty="0">
                <a:effectLst/>
                <a:latin typeface="+mn-ea"/>
              </a:rPr>
              <a:t>(</a:t>
            </a:r>
            <a:r>
              <a:rPr lang="ko-KR" altLang="en-US" sz="1200" kern="0" spc="-60" dirty="0">
                <a:effectLst/>
                <a:latin typeface="+mn-ea"/>
              </a:rPr>
              <a:t>신물질을 유효성분으로 하여 제조한 농약 또는 원제로서 최초로 등록한 농약 또는 원제로 한정한다</a:t>
            </a:r>
            <a:r>
              <a:rPr lang="en-US" altLang="ko-KR" sz="1200" kern="0" spc="-60" dirty="0">
                <a:effectLst/>
                <a:latin typeface="+mn-ea"/>
              </a:rPr>
              <a:t>)</a:t>
            </a:r>
            <a:r>
              <a:rPr lang="ko-KR" altLang="en-US" sz="1200" kern="0" spc="-60" dirty="0">
                <a:effectLst/>
                <a:latin typeface="+mn-ea"/>
              </a:rPr>
              <a:t>의 발명</a:t>
            </a:r>
          </a:p>
        </p:txBody>
      </p:sp>
      <p:sp>
        <p:nvSpPr>
          <p:cNvPr id="38" name="직사각형 37">
            <a:extLst>
              <a:ext uri="{FF2B5EF4-FFF2-40B4-BE49-F238E27FC236}">
                <a16:creationId xmlns:a16="http://schemas.microsoft.com/office/drawing/2014/main" id="{0634ED92-0FA7-57A3-A670-8F2386847E33}"/>
              </a:ext>
            </a:extLst>
          </p:cNvPr>
          <p:cNvSpPr/>
          <p:nvPr/>
        </p:nvSpPr>
        <p:spPr>
          <a:xfrm>
            <a:off x="228015" y="1869148"/>
            <a:ext cx="2371748" cy="24652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연장가능한 대통령령이 정하는 발명</a:t>
            </a:r>
            <a:r>
              <a:rPr lang="en-US" altLang="ko-KR" sz="1200" dirty="0">
                <a:solidFill>
                  <a:schemeClr val="tx1"/>
                </a:solidFill>
              </a:rPr>
              <a:t> </a:t>
            </a:r>
            <a:endParaRPr lang="ko-KR" altLang="en-US" sz="1200" dirty="0">
              <a:solidFill>
                <a:schemeClr val="tx1"/>
              </a:solidFill>
            </a:endParaRPr>
          </a:p>
        </p:txBody>
      </p:sp>
      <p:sp>
        <p:nvSpPr>
          <p:cNvPr id="20" name="TextBox 19">
            <a:extLst>
              <a:ext uri="{FF2B5EF4-FFF2-40B4-BE49-F238E27FC236}">
                <a16:creationId xmlns:a16="http://schemas.microsoft.com/office/drawing/2014/main" id="{43A051F2-A0AF-A034-803C-3A87395B92A2}"/>
              </a:ext>
            </a:extLst>
          </p:cNvPr>
          <p:cNvSpPr txBox="1"/>
          <p:nvPr/>
        </p:nvSpPr>
        <p:spPr>
          <a:xfrm>
            <a:off x="77875" y="3825424"/>
            <a:ext cx="11936323" cy="1384995"/>
          </a:xfrm>
          <a:prstGeom prst="rect">
            <a:avLst/>
          </a:prstGeom>
          <a:noFill/>
        </p:spPr>
        <p:txBody>
          <a:bodyPr wrap="square" rtlCol="0">
            <a:spAutoFit/>
          </a:bodyPr>
          <a:lstStyle/>
          <a:p>
            <a:r>
              <a:rPr lang="ko-KR" altLang="en-US" sz="1200" dirty="0"/>
              <a:t>당해 법령 자체에 그 법령에서 사용하는 용어의 정의나 포섭의 구체적인 범위가 명확히 규정되어 있지 아니한 경우 법령상 용어의 해석은 가능한 문언의 통상적인 의미에 충실하게 해석하는 것을 원칙으로 하면서</a:t>
            </a:r>
            <a:r>
              <a:rPr lang="en-US" altLang="ko-KR" sz="1200" dirty="0"/>
              <a:t>, </a:t>
            </a:r>
            <a:r>
              <a:rPr lang="ko-KR" altLang="en-US" sz="1200" dirty="0"/>
              <a:t>그 법령의 전반적인 체계와 </a:t>
            </a:r>
            <a:r>
              <a:rPr lang="ko-KR" altLang="en-US" sz="1200" dirty="0" err="1"/>
              <a:t>취지ㆍ목적</a:t>
            </a:r>
            <a:r>
              <a:rPr lang="en-US" altLang="ko-KR" sz="1200" dirty="0"/>
              <a:t>, </a:t>
            </a:r>
            <a:r>
              <a:rPr lang="ko-KR" altLang="en-US" sz="1200" dirty="0"/>
              <a:t>당해 조항의 규정형식과 내용 및 관련 법령을 종합적으로 고려하여 해석하여야 한다</a:t>
            </a:r>
            <a:r>
              <a:rPr lang="en-US" altLang="ko-KR" sz="1200" dirty="0"/>
              <a:t>(</a:t>
            </a:r>
            <a:r>
              <a:rPr lang="ko-KR" altLang="en-US" sz="1200" dirty="0"/>
              <a:t>대법원 </a:t>
            </a:r>
            <a:r>
              <a:rPr lang="en-US" altLang="ko-KR" sz="1200" dirty="0"/>
              <a:t>2010. 6. 24. </a:t>
            </a:r>
            <a:r>
              <a:rPr lang="ko-KR" altLang="en-US" sz="1200" dirty="0"/>
              <a:t>선고 </a:t>
            </a:r>
            <a:r>
              <a:rPr lang="en-US" altLang="ko-KR" sz="1200" dirty="0"/>
              <a:t>2010</a:t>
            </a:r>
            <a:r>
              <a:rPr lang="ko-KR" altLang="en-US" sz="1200" dirty="0"/>
              <a:t>두</a:t>
            </a:r>
            <a:r>
              <a:rPr lang="en-US" altLang="ko-KR" sz="1200" dirty="0"/>
              <a:t>3978 </a:t>
            </a:r>
            <a:r>
              <a:rPr lang="ko-KR" altLang="en-US" sz="1200" dirty="0"/>
              <a:t>판결</a:t>
            </a:r>
            <a:r>
              <a:rPr lang="en-US" altLang="ko-KR" sz="1200" dirty="0"/>
              <a:t>, </a:t>
            </a:r>
            <a:r>
              <a:rPr lang="ko-KR" altLang="en-US" sz="1200" dirty="0"/>
              <a:t>대법원 </a:t>
            </a:r>
            <a:r>
              <a:rPr lang="en-US" altLang="ko-KR" sz="1200" dirty="0"/>
              <a:t>2013. 1. 17. </a:t>
            </a:r>
            <a:r>
              <a:rPr lang="ko-KR" altLang="en-US" sz="1200" dirty="0"/>
              <a:t>선고 </a:t>
            </a:r>
            <a:r>
              <a:rPr lang="en-US" altLang="ko-KR" sz="1200" dirty="0"/>
              <a:t>2011</a:t>
            </a:r>
            <a:r>
              <a:rPr lang="ko-KR" altLang="en-US" sz="1200" dirty="0"/>
              <a:t>다</a:t>
            </a:r>
            <a:r>
              <a:rPr lang="en-US" altLang="ko-KR" sz="1200" dirty="0"/>
              <a:t>83431 </a:t>
            </a:r>
            <a:r>
              <a:rPr lang="ko-KR" altLang="en-US" sz="1200" dirty="0"/>
              <a:t>전원합의체 판결</a:t>
            </a:r>
            <a:r>
              <a:rPr lang="en-US" altLang="ko-KR" sz="1200" dirty="0"/>
              <a:t>, </a:t>
            </a:r>
            <a:r>
              <a:rPr lang="ko-KR" altLang="en-US" sz="1200" dirty="0"/>
              <a:t>대법원 </a:t>
            </a:r>
            <a:r>
              <a:rPr lang="en-US" altLang="ko-KR" sz="1200" dirty="0"/>
              <a:t>2018. 6. 21. </a:t>
            </a:r>
            <a:r>
              <a:rPr lang="ko-KR" altLang="en-US" sz="1200" dirty="0"/>
              <a:t>선고 </a:t>
            </a:r>
            <a:r>
              <a:rPr lang="en-US" altLang="ko-KR" sz="1200" dirty="0"/>
              <a:t>2011</a:t>
            </a:r>
            <a:r>
              <a:rPr lang="ko-KR" altLang="en-US" sz="1200" dirty="0"/>
              <a:t>다</a:t>
            </a:r>
            <a:r>
              <a:rPr lang="en-US" altLang="ko-KR" sz="1200" dirty="0"/>
              <a:t>112391 </a:t>
            </a:r>
            <a:r>
              <a:rPr lang="ko-KR" altLang="en-US" sz="1200" dirty="0"/>
              <a:t>전원합의체 판결 참조</a:t>
            </a:r>
            <a:r>
              <a:rPr lang="en-US" altLang="ko-KR" sz="1200" dirty="0"/>
              <a:t>). </a:t>
            </a:r>
            <a:r>
              <a:rPr lang="ko-KR" altLang="en-US" sz="1200" dirty="0"/>
              <a:t>허가 등에 따른 특허권의 존속기간의 연장제도를 규정한 특허법 제</a:t>
            </a:r>
            <a:r>
              <a:rPr lang="en-US" altLang="ko-KR" sz="1200" dirty="0"/>
              <a:t>89</a:t>
            </a:r>
            <a:r>
              <a:rPr lang="ko-KR" altLang="en-US" sz="1200" dirty="0"/>
              <a:t>조 제</a:t>
            </a:r>
            <a:r>
              <a:rPr lang="en-US" altLang="ko-KR" sz="1200" dirty="0"/>
              <a:t>1</a:t>
            </a:r>
            <a:r>
              <a:rPr lang="ko-KR" altLang="en-US" sz="1200" dirty="0"/>
              <a:t>항과 이 사건 시행령 조항의 전반적인 체계와 </a:t>
            </a:r>
            <a:r>
              <a:rPr lang="ko-KR" altLang="en-US" sz="1200" dirty="0" err="1"/>
              <a:t>취지ㆍ목적</a:t>
            </a:r>
            <a:r>
              <a:rPr lang="en-US" altLang="ko-KR" sz="1200" dirty="0"/>
              <a:t>, </a:t>
            </a:r>
            <a:r>
              <a:rPr lang="ko-KR" altLang="en-US" sz="1200" dirty="0"/>
              <a:t>이 사건 시행령 조항의 규정형식과 내용</a:t>
            </a:r>
            <a:r>
              <a:rPr lang="en-US" altLang="ko-KR" sz="1200" dirty="0"/>
              <a:t>, </a:t>
            </a:r>
            <a:r>
              <a:rPr lang="ko-KR" altLang="en-US" sz="1200" dirty="0"/>
              <a:t>관련 약사법령 등을 종합하면</a:t>
            </a:r>
            <a:r>
              <a:rPr lang="en-US" altLang="ko-KR" sz="1200" dirty="0"/>
              <a:t>, </a:t>
            </a:r>
            <a:r>
              <a:rPr lang="ko-KR" altLang="en-US" sz="1200" dirty="0"/>
              <a:t>이 사건 시행령 조항에서 </a:t>
            </a:r>
            <a:r>
              <a:rPr lang="ko-KR" altLang="en-US" sz="1200" dirty="0">
                <a:solidFill>
                  <a:srgbClr val="FF0000"/>
                </a:solidFill>
              </a:rPr>
              <a:t>‘약효를 나타내는 활성</a:t>
            </a:r>
            <a:r>
              <a:rPr lang="en-US" altLang="ko-KR" sz="1200" dirty="0">
                <a:solidFill>
                  <a:srgbClr val="FF0000"/>
                </a:solidFill>
              </a:rPr>
              <a:t>(</a:t>
            </a:r>
            <a:r>
              <a:rPr lang="ko-KR" altLang="en-US" sz="1200" dirty="0">
                <a:solidFill>
                  <a:srgbClr val="FF0000"/>
                </a:solidFill>
              </a:rPr>
              <a:t>유효성</a:t>
            </a:r>
            <a:r>
              <a:rPr lang="en-US" altLang="ko-KR" sz="1200" dirty="0">
                <a:solidFill>
                  <a:srgbClr val="FF0000"/>
                </a:solidFill>
              </a:rPr>
              <a:t>)</a:t>
            </a:r>
            <a:r>
              <a:rPr lang="ko-KR" altLang="en-US" sz="1200" dirty="0" err="1">
                <a:solidFill>
                  <a:srgbClr val="FF0000"/>
                </a:solidFill>
              </a:rPr>
              <a:t>부분’은</a:t>
            </a:r>
            <a:r>
              <a:rPr lang="ko-KR" altLang="en-US" sz="1200" dirty="0">
                <a:solidFill>
                  <a:srgbClr val="FF0000"/>
                </a:solidFill>
              </a:rPr>
              <a:t> ‘의약품의 유효성분 중 활성을 가지면서 내재된 약리작용에 의하여 의약품 품목허가상의 </a:t>
            </a:r>
            <a:r>
              <a:rPr lang="ko-KR" altLang="en-US" sz="1200" dirty="0" err="1">
                <a:solidFill>
                  <a:srgbClr val="FF0000"/>
                </a:solidFill>
              </a:rPr>
              <a:t>효능ㆍ효과를</a:t>
            </a:r>
            <a:r>
              <a:rPr lang="ko-KR" altLang="en-US" sz="1200" dirty="0">
                <a:solidFill>
                  <a:srgbClr val="FF0000"/>
                </a:solidFill>
              </a:rPr>
              <a:t> 나타내는 </a:t>
            </a:r>
            <a:r>
              <a:rPr lang="ko-KR" altLang="en-US" sz="1200" dirty="0" err="1">
                <a:solidFill>
                  <a:srgbClr val="FF0000"/>
                </a:solidFill>
              </a:rPr>
              <a:t>부분’</a:t>
            </a:r>
            <a:r>
              <a:rPr lang="ko-KR" altLang="en-US" sz="1200" dirty="0" err="1"/>
              <a:t>을</a:t>
            </a:r>
            <a:r>
              <a:rPr lang="ko-KR" altLang="en-US" sz="1200" dirty="0"/>
              <a:t> 의미한다</a:t>
            </a:r>
            <a:r>
              <a:rPr lang="en-US" altLang="ko-KR" sz="1200" dirty="0"/>
              <a:t>. </a:t>
            </a:r>
            <a:r>
              <a:rPr lang="ko-KR" altLang="en-US" sz="1200" dirty="0"/>
              <a:t>한편 그 자체로는 활성을 가지지 않는 부분이 기존에 </a:t>
            </a:r>
            <a:r>
              <a:rPr lang="ko-KR" altLang="en-US" sz="1200" dirty="0" err="1"/>
              <a:t>품목허가된</a:t>
            </a:r>
            <a:r>
              <a:rPr lang="ko-KR" altLang="en-US" sz="1200" dirty="0"/>
              <a:t> 의약품의 ‘약효를 나타내는 </a:t>
            </a:r>
            <a:r>
              <a:rPr lang="ko-KR" altLang="en-US" sz="1200" dirty="0" err="1"/>
              <a:t>활성부분’에</a:t>
            </a:r>
            <a:r>
              <a:rPr lang="ko-KR" altLang="en-US" sz="1200" dirty="0"/>
              <a:t> 결합되어 의약품의 </a:t>
            </a:r>
            <a:r>
              <a:rPr lang="ko-KR" altLang="en-US" sz="1200" dirty="0" err="1"/>
              <a:t>효능ㆍ효과의</a:t>
            </a:r>
            <a:r>
              <a:rPr lang="ko-KR" altLang="en-US" sz="1200" dirty="0"/>
              <a:t> 정도에 영향을 미치더라도 이는 의약품의 </a:t>
            </a:r>
            <a:r>
              <a:rPr lang="ko-KR" altLang="en-US" sz="1200" dirty="0" err="1"/>
              <a:t>효능ㆍ효과로서의</a:t>
            </a:r>
            <a:r>
              <a:rPr lang="ko-KR" altLang="en-US" sz="1200" dirty="0"/>
              <a:t> ‘</a:t>
            </a:r>
            <a:r>
              <a:rPr lang="ko-KR" altLang="en-US" sz="1200" dirty="0" err="1"/>
              <a:t>약효’를</a:t>
            </a:r>
            <a:r>
              <a:rPr lang="ko-KR" altLang="en-US" sz="1200" dirty="0"/>
              <a:t> 나타내는 부분이 아니므로</a:t>
            </a:r>
            <a:r>
              <a:rPr lang="en-US" altLang="ko-KR" sz="1200" dirty="0"/>
              <a:t>, </a:t>
            </a:r>
            <a:r>
              <a:rPr lang="ko-KR" altLang="en-US" sz="1200" dirty="0"/>
              <a:t>이러한 부분이 ‘약효를 나타내는 </a:t>
            </a:r>
            <a:r>
              <a:rPr lang="ko-KR" altLang="en-US" sz="1200" dirty="0" err="1"/>
              <a:t>활성부분’에</a:t>
            </a:r>
            <a:r>
              <a:rPr lang="ko-KR" altLang="en-US" sz="1200" dirty="0"/>
              <a:t> 결합되어 있다는 사정만으로 그 결합물 전체를 이 사건 시행령 조항에서 말하는 ‘약효를 나타내는 </a:t>
            </a:r>
            <a:r>
              <a:rPr lang="ko-KR" altLang="en-US" sz="1200" dirty="0" err="1"/>
              <a:t>활성부분’이라고</a:t>
            </a:r>
            <a:r>
              <a:rPr lang="ko-KR" altLang="en-US" sz="1200" dirty="0"/>
              <a:t> 볼 수는 없다</a:t>
            </a:r>
            <a:r>
              <a:rPr lang="en-US" altLang="ko-KR" sz="1200" dirty="0"/>
              <a:t>.</a:t>
            </a:r>
            <a:endParaRPr lang="ko-KR" altLang="en-US" sz="1200" dirty="0"/>
          </a:p>
        </p:txBody>
      </p:sp>
      <p:sp>
        <p:nvSpPr>
          <p:cNvPr id="21" name="모서리가 둥근 직사각형 55">
            <a:extLst>
              <a:ext uri="{FF2B5EF4-FFF2-40B4-BE49-F238E27FC236}">
                <a16:creationId xmlns:a16="http://schemas.microsoft.com/office/drawing/2014/main" id="{800C44B3-D0A4-3DAD-A68E-94AA36CC9044}"/>
              </a:ext>
            </a:extLst>
          </p:cNvPr>
          <p:cNvSpPr/>
          <p:nvPr/>
        </p:nvSpPr>
        <p:spPr bwMode="auto">
          <a:xfrm>
            <a:off x="257976" y="3495742"/>
            <a:ext cx="4054048" cy="312283"/>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200" dirty="0"/>
              <a:t>대법원 </a:t>
            </a:r>
            <a:r>
              <a:rPr lang="en-US" altLang="ko-KR" sz="1200" dirty="0"/>
              <a:t>2024. 7. 25. </a:t>
            </a:r>
            <a:r>
              <a:rPr lang="ko-KR" altLang="en-US" sz="1200" dirty="0"/>
              <a:t>선고 </a:t>
            </a:r>
            <a:r>
              <a:rPr lang="en-US" altLang="ko-KR" sz="1200" dirty="0"/>
              <a:t>2021</a:t>
            </a:r>
            <a:r>
              <a:rPr lang="ko-KR" altLang="en-US" sz="1200" dirty="0"/>
              <a:t>후</a:t>
            </a:r>
            <a:r>
              <a:rPr lang="en-US" altLang="ko-KR" sz="1200" dirty="0"/>
              <a:t>11070 </a:t>
            </a:r>
            <a:r>
              <a:rPr lang="ko-KR" altLang="en-US" sz="1200" dirty="0"/>
              <a:t>판결 </a:t>
            </a:r>
            <a:r>
              <a:rPr lang="en-US" altLang="ko-KR" sz="1200" dirty="0"/>
              <a:t>【</a:t>
            </a:r>
            <a:r>
              <a:rPr lang="ko-KR" altLang="en-US" sz="1200" dirty="0"/>
              <a:t>거절결정</a:t>
            </a:r>
            <a:r>
              <a:rPr lang="en-US" altLang="ko-KR" sz="1200" dirty="0"/>
              <a:t>(</a:t>
            </a:r>
            <a:r>
              <a:rPr lang="ko-KR" altLang="en-US" sz="1200" dirty="0" err="1"/>
              <a:t>특</a:t>
            </a:r>
            <a:r>
              <a:rPr lang="en-US" altLang="ko-KR" sz="1200" dirty="0"/>
              <a:t>)</a:t>
            </a:r>
          </a:p>
        </p:txBody>
      </p:sp>
      <p:cxnSp>
        <p:nvCxnSpPr>
          <p:cNvPr id="23" name="직선 연결선 22">
            <a:extLst>
              <a:ext uri="{FF2B5EF4-FFF2-40B4-BE49-F238E27FC236}">
                <a16:creationId xmlns:a16="http://schemas.microsoft.com/office/drawing/2014/main" id="{44A6338D-3C32-0344-F488-9BBDB0BEFD40}"/>
              </a:ext>
            </a:extLst>
          </p:cNvPr>
          <p:cNvCxnSpPr/>
          <p:nvPr/>
        </p:nvCxnSpPr>
        <p:spPr>
          <a:xfrm>
            <a:off x="0" y="525866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8B67457-B064-3A42-8266-6E8A6E15BE02}"/>
              </a:ext>
            </a:extLst>
          </p:cNvPr>
          <p:cNvSpPr txBox="1"/>
          <p:nvPr/>
        </p:nvSpPr>
        <p:spPr>
          <a:xfrm>
            <a:off x="257976" y="5348347"/>
            <a:ext cx="11629224" cy="430887"/>
          </a:xfrm>
          <a:prstGeom prst="rect">
            <a:avLst/>
          </a:prstGeom>
          <a:solidFill>
            <a:schemeClr val="accent1">
              <a:lumMod val="20000"/>
              <a:lumOff val="80000"/>
            </a:schemeClr>
          </a:solidFill>
          <a:ln>
            <a:solidFill>
              <a:schemeClr val="bg2">
                <a:lumMod val="50000"/>
              </a:schemeClr>
            </a:solidFill>
          </a:ln>
        </p:spPr>
        <p:txBody>
          <a:bodyPr wrap="square" rtlCol="0">
            <a:spAutoFit/>
          </a:bodyPr>
          <a:lstStyle/>
          <a:p>
            <a:r>
              <a:rPr lang="ko-KR" altLang="en-US" sz="1100" dirty="0" err="1">
                <a:latin typeface="+mn-ea"/>
              </a:rPr>
              <a:t>기허가된</a:t>
            </a:r>
            <a:r>
              <a:rPr lang="ko-KR" altLang="en-US" sz="1100" dirty="0">
                <a:latin typeface="+mn-ea"/>
              </a:rPr>
              <a:t> 의약품</a:t>
            </a:r>
            <a:r>
              <a:rPr lang="en-US" altLang="ko-KR" sz="1100" dirty="0">
                <a:latin typeface="+mn-ea"/>
              </a:rPr>
              <a:t>: </a:t>
            </a:r>
            <a:r>
              <a:rPr lang="ko-KR" altLang="en-US" sz="1100" kern="0" spc="-30" dirty="0" err="1">
                <a:effectLst/>
                <a:latin typeface="+mn-ea"/>
              </a:rPr>
              <a:t>인터페론베타</a:t>
            </a:r>
            <a:r>
              <a:rPr lang="en-US" altLang="ko-KR" sz="1100" kern="0" spc="-30" dirty="0">
                <a:effectLst/>
                <a:latin typeface="+mn-ea"/>
              </a:rPr>
              <a:t>-1a</a:t>
            </a:r>
            <a:r>
              <a:rPr lang="ko-KR" altLang="en-US" sz="1100" kern="0" spc="-30" dirty="0">
                <a:effectLst/>
                <a:latin typeface="+mn-ea"/>
              </a:rPr>
              <a:t>를 유효성분으로 하는 의약품</a:t>
            </a:r>
            <a:endParaRPr lang="en-US" altLang="ko-KR" sz="1100" kern="0" spc="-30" dirty="0">
              <a:effectLst/>
              <a:latin typeface="+mn-ea"/>
            </a:endParaRPr>
          </a:p>
          <a:p>
            <a:r>
              <a:rPr lang="ko-KR" altLang="en-US" sz="1100" kern="0" spc="-30" dirty="0">
                <a:latin typeface="+mn-ea"/>
              </a:rPr>
              <a:t>약리기전</a:t>
            </a:r>
            <a:r>
              <a:rPr lang="en-US" altLang="ko-KR" sz="1100" kern="0" spc="-30" dirty="0">
                <a:latin typeface="+mn-ea"/>
              </a:rPr>
              <a:t>: </a:t>
            </a:r>
            <a:r>
              <a:rPr lang="ko-KR" altLang="en-US" sz="1100" kern="0" spc="-30" dirty="0" err="1">
                <a:effectLst/>
                <a:latin typeface="+mn-ea"/>
              </a:rPr>
              <a:t>인터페론베타</a:t>
            </a:r>
            <a:r>
              <a:rPr lang="en-US" altLang="ko-KR" sz="1100" kern="0" spc="-30" dirty="0">
                <a:effectLst/>
                <a:latin typeface="+mn-ea"/>
              </a:rPr>
              <a:t>-1a</a:t>
            </a:r>
            <a:r>
              <a:rPr lang="ko-KR" altLang="en-US" sz="1100" kern="0" spc="-30" dirty="0">
                <a:effectLst/>
                <a:latin typeface="+mn-ea"/>
              </a:rPr>
              <a:t>이</a:t>
            </a:r>
            <a:r>
              <a:rPr lang="en-US" altLang="ko-KR" sz="1100" kern="0" spc="-30" dirty="0">
                <a:effectLst/>
                <a:latin typeface="+mn-ea"/>
              </a:rPr>
              <a:t> </a:t>
            </a:r>
            <a:r>
              <a:rPr lang="ko-KR" altLang="en-US" sz="1100" kern="0" spc="-30" dirty="0">
                <a:effectLst/>
                <a:latin typeface="+mn-ea"/>
              </a:rPr>
              <a:t>체내 유효성을 가지면서 내재된 약리작용에 의하여 재발성 다발성 경화증의 치료효과를 나타냄</a:t>
            </a:r>
          </a:p>
        </p:txBody>
      </p:sp>
      <p:sp>
        <p:nvSpPr>
          <p:cNvPr id="26" name="TextBox 25">
            <a:extLst>
              <a:ext uri="{FF2B5EF4-FFF2-40B4-BE49-F238E27FC236}">
                <a16:creationId xmlns:a16="http://schemas.microsoft.com/office/drawing/2014/main" id="{649C9CD6-954A-0B54-7C55-D2D926DCD9B3}"/>
              </a:ext>
            </a:extLst>
          </p:cNvPr>
          <p:cNvSpPr txBox="1"/>
          <p:nvPr/>
        </p:nvSpPr>
        <p:spPr>
          <a:xfrm>
            <a:off x="257976" y="5824091"/>
            <a:ext cx="11629224" cy="938719"/>
          </a:xfrm>
          <a:prstGeom prst="rect">
            <a:avLst/>
          </a:prstGeom>
          <a:solidFill>
            <a:schemeClr val="accent4">
              <a:lumMod val="20000"/>
              <a:lumOff val="80000"/>
            </a:schemeClr>
          </a:solidFill>
          <a:ln>
            <a:solidFill>
              <a:schemeClr val="bg2">
                <a:lumMod val="50000"/>
              </a:schemeClr>
            </a:solidFill>
          </a:ln>
        </p:spPr>
        <p:txBody>
          <a:bodyPr wrap="square" rtlCol="0">
            <a:spAutoFit/>
          </a:bodyPr>
          <a:lstStyle/>
          <a:p>
            <a:r>
              <a:rPr lang="ko-KR" altLang="en-US" sz="1100" dirty="0">
                <a:latin typeface="+mn-ea"/>
              </a:rPr>
              <a:t>이 사건 의약품</a:t>
            </a:r>
            <a:r>
              <a:rPr lang="en-US" altLang="ko-KR" sz="1100" dirty="0">
                <a:latin typeface="+mn-ea"/>
              </a:rPr>
              <a:t>: </a:t>
            </a:r>
            <a:r>
              <a:rPr lang="ko-KR" altLang="en-US" sz="1100" dirty="0" err="1">
                <a:latin typeface="+mn-ea"/>
              </a:rPr>
              <a:t>페그인터페론베타</a:t>
            </a:r>
            <a:r>
              <a:rPr lang="en-US" altLang="ko-KR" sz="1100" dirty="0">
                <a:latin typeface="+mn-ea"/>
              </a:rPr>
              <a:t>-1a(</a:t>
            </a:r>
            <a:r>
              <a:rPr lang="ko-KR" altLang="en-US" sz="1100" kern="0" spc="-30" dirty="0" err="1">
                <a:effectLst/>
                <a:latin typeface="+mn-ea"/>
              </a:rPr>
              <a:t>인터페론베타</a:t>
            </a:r>
            <a:r>
              <a:rPr lang="en-US" altLang="ko-KR" sz="1100" kern="0" spc="-30" dirty="0">
                <a:effectLst/>
                <a:latin typeface="+mn-ea"/>
              </a:rPr>
              <a:t>-1a + </a:t>
            </a:r>
            <a:r>
              <a:rPr lang="ko-KR" altLang="en-US" sz="1100" kern="0" spc="-30" dirty="0" err="1">
                <a:effectLst/>
                <a:latin typeface="+mn-ea"/>
              </a:rPr>
              <a:t>폴리에틸렌글리콜</a:t>
            </a:r>
            <a:r>
              <a:rPr lang="en-US" altLang="ko-KR" sz="1100" dirty="0">
                <a:latin typeface="+mn-ea"/>
              </a:rPr>
              <a:t>)</a:t>
            </a:r>
            <a:r>
              <a:rPr lang="ko-KR" altLang="en-US" sz="1100" dirty="0">
                <a:latin typeface="+mn-ea"/>
              </a:rPr>
              <a:t>를 유효성분으로 하는 의약품</a:t>
            </a:r>
            <a:endParaRPr lang="en-US" altLang="ko-KR" sz="1100" dirty="0">
              <a:latin typeface="+mn-ea"/>
            </a:endParaRPr>
          </a:p>
          <a:p>
            <a:r>
              <a:rPr lang="ko-KR" altLang="en-US" sz="1100" kern="0" spc="-30" dirty="0">
                <a:latin typeface="+mn-ea"/>
              </a:rPr>
              <a:t>약리기전</a:t>
            </a:r>
            <a:r>
              <a:rPr lang="en-US" altLang="ko-KR" sz="1100" kern="0" spc="-30" dirty="0">
                <a:latin typeface="+mn-ea"/>
              </a:rPr>
              <a:t>: </a:t>
            </a:r>
          </a:p>
          <a:p>
            <a:pPr marL="171450" indent="-171450">
              <a:buFontTx/>
              <a:buChar char="-"/>
            </a:pPr>
            <a:r>
              <a:rPr lang="ko-KR" altLang="en-US" sz="1100" kern="0" spc="-30" dirty="0" err="1">
                <a:effectLst/>
                <a:latin typeface="+mn-ea"/>
              </a:rPr>
              <a:t>인터페론베타</a:t>
            </a:r>
            <a:r>
              <a:rPr lang="en-US" altLang="ko-KR" sz="1100" kern="0" spc="-30" dirty="0">
                <a:effectLst/>
                <a:latin typeface="+mn-ea"/>
              </a:rPr>
              <a:t>-1a </a:t>
            </a:r>
            <a:r>
              <a:rPr lang="ko-KR" altLang="en-US" sz="1100" kern="0" spc="-30" dirty="0">
                <a:effectLst/>
                <a:latin typeface="+mn-ea"/>
              </a:rPr>
              <a:t>부분이</a:t>
            </a:r>
            <a:r>
              <a:rPr lang="en-US" altLang="ko-KR" sz="1100" kern="0" spc="-30" dirty="0">
                <a:effectLst/>
                <a:latin typeface="+mn-ea"/>
              </a:rPr>
              <a:t> </a:t>
            </a:r>
            <a:r>
              <a:rPr lang="ko-KR" altLang="en-US" sz="1100" kern="0" spc="-30" dirty="0">
                <a:effectLst/>
                <a:latin typeface="+mn-ea"/>
              </a:rPr>
              <a:t>체내 유효성을 가지면서 내재된 약리작용에 의하여 재발성 다발성 경화증의 치료효과를 나타냄 </a:t>
            </a:r>
            <a:endParaRPr lang="en-US" altLang="ko-KR" sz="1100" kern="0" spc="-30" dirty="0">
              <a:effectLst/>
              <a:latin typeface="+mn-ea"/>
            </a:endParaRPr>
          </a:p>
          <a:p>
            <a:pPr marL="171450" indent="-171450">
              <a:buFontTx/>
              <a:buChar char="-"/>
            </a:pPr>
            <a:r>
              <a:rPr lang="ko-KR" altLang="en-US" sz="1100" kern="0" spc="-30" dirty="0" err="1">
                <a:effectLst/>
                <a:latin typeface="+mn-ea"/>
              </a:rPr>
              <a:t>폴리에틸렌글리콜</a:t>
            </a:r>
            <a:r>
              <a:rPr lang="ko-KR" altLang="en-US" sz="1100" kern="0" spc="-30" dirty="0">
                <a:effectLst/>
                <a:latin typeface="+mn-ea"/>
              </a:rPr>
              <a:t> 부분은 체내 유효성이나 위와 같은 치료효과를 가지지 않으면서 </a:t>
            </a:r>
            <a:r>
              <a:rPr lang="ko-KR" altLang="en-US" sz="1100" kern="0" spc="-30" dirty="0" err="1">
                <a:effectLst/>
                <a:latin typeface="+mn-ea"/>
              </a:rPr>
              <a:t>인터페론베타</a:t>
            </a:r>
            <a:r>
              <a:rPr lang="en-US" altLang="ko-KR" sz="1100" kern="0" spc="-30" dirty="0">
                <a:effectLst/>
                <a:latin typeface="+mn-ea"/>
              </a:rPr>
              <a:t>-1a </a:t>
            </a:r>
            <a:r>
              <a:rPr lang="ko-KR" altLang="en-US" sz="1100" kern="0" spc="-30" dirty="0">
                <a:effectLst/>
                <a:latin typeface="+mn-ea"/>
              </a:rPr>
              <a:t>부분이 혈액 중에 오래 체류하도록 하거나 </a:t>
            </a:r>
            <a:r>
              <a:rPr lang="ko-KR" altLang="en-US" sz="1100" kern="0" spc="-30" dirty="0" err="1">
                <a:effectLst/>
                <a:latin typeface="+mn-ea"/>
              </a:rPr>
              <a:t>인터페론베타</a:t>
            </a:r>
            <a:r>
              <a:rPr lang="en-US" altLang="ko-KR" sz="1100" kern="0" spc="-30" dirty="0">
                <a:effectLst/>
                <a:latin typeface="+mn-ea"/>
              </a:rPr>
              <a:t>-1a</a:t>
            </a:r>
            <a:r>
              <a:rPr lang="ko-KR" altLang="en-US" sz="1100" kern="0" spc="-30" dirty="0">
                <a:effectLst/>
                <a:latin typeface="+mn-ea"/>
              </a:rPr>
              <a:t>의 단백질 수용체에 대한 결합력을 낮추는 등으로 </a:t>
            </a:r>
            <a:r>
              <a:rPr lang="ko-KR" altLang="en-US" sz="1100" kern="0" spc="-30" dirty="0" err="1">
                <a:effectLst/>
                <a:latin typeface="+mn-ea"/>
              </a:rPr>
              <a:t>인터페론베타</a:t>
            </a:r>
            <a:r>
              <a:rPr lang="en-US" altLang="ko-KR" sz="1100" kern="0" spc="-30" dirty="0">
                <a:effectLst/>
                <a:latin typeface="+mn-ea"/>
              </a:rPr>
              <a:t>-1a</a:t>
            </a:r>
            <a:r>
              <a:rPr lang="ko-KR" altLang="en-US" sz="1100" kern="0" spc="-30" dirty="0">
                <a:effectLst/>
                <a:latin typeface="+mn-ea"/>
              </a:rPr>
              <a:t>의 유효성 정도에 영향을 미치는 부분에 불과</a:t>
            </a:r>
            <a:endParaRPr lang="ko-KR" altLang="en-US" sz="1100" dirty="0">
              <a:latin typeface="+mn-ea"/>
            </a:endParaRPr>
          </a:p>
        </p:txBody>
      </p:sp>
      <p:sp>
        <p:nvSpPr>
          <p:cNvPr id="29" name="TextBox 28">
            <a:extLst>
              <a:ext uri="{FF2B5EF4-FFF2-40B4-BE49-F238E27FC236}">
                <a16:creationId xmlns:a16="http://schemas.microsoft.com/office/drawing/2014/main" id="{AC9C6540-20BD-8F81-0DD4-5FCCD0BE5705}"/>
              </a:ext>
            </a:extLst>
          </p:cNvPr>
          <p:cNvSpPr txBox="1"/>
          <p:nvPr/>
        </p:nvSpPr>
        <p:spPr>
          <a:xfrm>
            <a:off x="228015" y="1035736"/>
            <a:ext cx="11829512" cy="743730"/>
          </a:xfrm>
          <a:prstGeom prst="rect">
            <a:avLst/>
          </a:prstGeom>
          <a:noFill/>
          <a:ln w="28575">
            <a:solidFill>
              <a:srgbClr val="FF0000"/>
            </a:solidFill>
          </a:ln>
        </p:spPr>
        <p:txBody>
          <a:bodyPr wrap="square">
            <a:spAutoFit/>
          </a:bodyPr>
          <a:lstStyle/>
          <a:p>
            <a:pPr marL="0" marR="0" indent="0" algn="just" fontAlgn="base" latinLnBrk="1">
              <a:lnSpc>
                <a:spcPct val="120000"/>
              </a:lnSpc>
              <a:spcBef>
                <a:spcPts val="0"/>
              </a:spcBef>
              <a:spcAft>
                <a:spcPts val="0"/>
              </a:spcAft>
            </a:pPr>
            <a:r>
              <a:rPr lang="ko-KR" altLang="en-US" sz="1200" kern="0" spc="-60" dirty="0">
                <a:effectLst/>
                <a:latin typeface="+mn-ea"/>
              </a:rPr>
              <a:t>이미 허가</a:t>
            </a:r>
            <a:r>
              <a:rPr lang="en-US" altLang="ko-KR" sz="1200" kern="0" spc="-60" dirty="0">
                <a:effectLst/>
                <a:latin typeface="+mn-ea"/>
              </a:rPr>
              <a:t>(</a:t>
            </a:r>
            <a:r>
              <a:rPr lang="ko-KR" altLang="en-US" sz="1200" kern="0" spc="-60" dirty="0">
                <a:effectLst/>
                <a:latin typeface="+mn-ea"/>
              </a:rPr>
              <a:t>등록</a:t>
            </a:r>
            <a:r>
              <a:rPr lang="en-US" altLang="ko-KR" sz="1200" kern="0" spc="-60" dirty="0">
                <a:effectLst/>
                <a:latin typeface="+mn-ea"/>
              </a:rPr>
              <a:t>)</a:t>
            </a:r>
            <a:r>
              <a:rPr lang="ko-KR" altLang="en-US" sz="1200" kern="0" spc="-60" dirty="0">
                <a:effectLst/>
                <a:latin typeface="+mn-ea"/>
              </a:rPr>
              <a:t>된 의약품</a:t>
            </a:r>
            <a:r>
              <a:rPr lang="en-US" altLang="ko-KR" sz="1200" kern="0" spc="-60" dirty="0">
                <a:effectLst/>
                <a:latin typeface="+mn-ea"/>
              </a:rPr>
              <a:t>(</a:t>
            </a:r>
            <a:r>
              <a:rPr lang="ko-KR" altLang="en-US" sz="1200" kern="0" spc="-60" dirty="0">
                <a:effectLst/>
                <a:latin typeface="+mn-ea"/>
              </a:rPr>
              <a:t>농약</a:t>
            </a:r>
            <a:r>
              <a:rPr lang="en-US" altLang="ko-KR" sz="1200" kern="0" spc="-60" dirty="0">
                <a:effectLst/>
                <a:latin typeface="+mn-ea"/>
              </a:rPr>
              <a:t>)</a:t>
            </a:r>
            <a:r>
              <a:rPr lang="ko-KR" altLang="en-US" sz="1200" kern="0" spc="-60" dirty="0">
                <a:effectLst/>
                <a:latin typeface="+mn-ea"/>
              </a:rPr>
              <a:t>에 의하여 확인된 신물질을 유효성분으로 하여 제조된 의약품</a:t>
            </a:r>
            <a:r>
              <a:rPr lang="en-US" altLang="ko-KR" sz="1200" kern="0" spc="-60" dirty="0">
                <a:effectLst/>
                <a:latin typeface="+mn-ea"/>
              </a:rPr>
              <a:t>(</a:t>
            </a:r>
            <a:r>
              <a:rPr lang="ko-KR" altLang="en-US" sz="1200" kern="0" spc="-60" dirty="0">
                <a:effectLst/>
                <a:latin typeface="+mn-ea"/>
              </a:rPr>
              <a:t>농약</a:t>
            </a:r>
            <a:r>
              <a:rPr lang="en-US" altLang="ko-KR" sz="1200" kern="0" spc="-60" dirty="0">
                <a:effectLst/>
                <a:latin typeface="+mn-ea"/>
              </a:rPr>
              <a:t>)</a:t>
            </a:r>
            <a:r>
              <a:rPr lang="ko-KR" altLang="en-US" sz="1200" kern="0" spc="-60" dirty="0">
                <a:effectLst/>
                <a:latin typeface="+mn-ea"/>
              </a:rPr>
              <a:t>이면서 용도</a:t>
            </a:r>
            <a:r>
              <a:rPr lang="en-US" altLang="ko-KR" sz="1200" kern="0" spc="-60" dirty="0">
                <a:effectLst/>
                <a:latin typeface="+mn-ea"/>
              </a:rPr>
              <a:t>, </a:t>
            </a:r>
            <a:r>
              <a:rPr lang="ko-KR" altLang="en-US" sz="1200" kern="0" spc="-60" dirty="0">
                <a:effectLst/>
                <a:latin typeface="+mn-ea"/>
              </a:rPr>
              <a:t>제형 </a:t>
            </a:r>
            <a:r>
              <a:rPr lang="ko-KR" altLang="en-US" sz="1200" kern="0" spc="-60" dirty="0" err="1">
                <a:effectLst/>
                <a:latin typeface="+mn-ea"/>
              </a:rPr>
              <a:t>등만을</a:t>
            </a:r>
            <a:r>
              <a:rPr lang="ko-KR" altLang="en-US" sz="1200" kern="0" spc="-60" dirty="0">
                <a:effectLst/>
                <a:latin typeface="+mn-ea"/>
              </a:rPr>
              <a:t> 변경한 경우에는 이미 허가</a:t>
            </a:r>
            <a:r>
              <a:rPr lang="en-US" altLang="ko-KR" sz="1200" kern="0" spc="-60" dirty="0">
                <a:effectLst/>
                <a:latin typeface="+mn-ea"/>
              </a:rPr>
              <a:t>(</a:t>
            </a:r>
            <a:r>
              <a:rPr lang="ko-KR" altLang="en-US" sz="1200" kern="0" spc="-60" dirty="0">
                <a:effectLst/>
                <a:latin typeface="+mn-ea"/>
              </a:rPr>
              <a:t>등록</a:t>
            </a:r>
            <a:r>
              <a:rPr lang="en-US" altLang="ko-KR" sz="1200" kern="0" spc="-60" dirty="0">
                <a:effectLst/>
                <a:latin typeface="+mn-ea"/>
              </a:rPr>
              <a:t>)</a:t>
            </a:r>
            <a:r>
              <a:rPr lang="ko-KR" altLang="en-US" sz="1200" kern="0" spc="-60" dirty="0">
                <a:effectLst/>
                <a:latin typeface="+mn-ea"/>
              </a:rPr>
              <a:t>된 의약품</a:t>
            </a:r>
            <a:r>
              <a:rPr lang="en-US" altLang="ko-KR" sz="1200" kern="0" spc="-60" dirty="0">
                <a:effectLst/>
                <a:latin typeface="+mn-ea"/>
              </a:rPr>
              <a:t>(</a:t>
            </a:r>
            <a:r>
              <a:rPr lang="ko-KR" altLang="en-US" sz="1200" kern="0" spc="-60" dirty="0">
                <a:effectLst/>
                <a:latin typeface="+mn-ea"/>
              </a:rPr>
              <a:t>농약</a:t>
            </a:r>
            <a:r>
              <a:rPr lang="en-US" altLang="ko-KR" sz="1200" kern="0" spc="-60" dirty="0">
                <a:effectLst/>
                <a:latin typeface="+mn-ea"/>
              </a:rPr>
              <a:t>)</a:t>
            </a:r>
            <a:r>
              <a:rPr lang="ko-KR" altLang="en-US" sz="1200" kern="0" spc="-60" dirty="0">
                <a:effectLst/>
                <a:latin typeface="+mn-ea"/>
              </a:rPr>
              <a:t>과 동일한 물질로 볼 수 있기 때문에 존속기간 연장 대상이 될 수 없다</a:t>
            </a:r>
            <a:r>
              <a:rPr lang="en-US" altLang="ko-KR" sz="1200" kern="0" spc="-60" dirty="0">
                <a:effectLst/>
                <a:latin typeface="+mn-ea"/>
              </a:rPr>
              <a:t>. </a:t>
            </a:r>
            <a:r>
              <a:rPr lang="ko-KR" altLang="en-US" sz="1200" kern="0" spc="-60" dirty="0">
                <a:effectLst/>
                <a:latin typeface="+mn-ea"/>
              </a:rPr>
              <a:t>그러나 이미 허가</a:t>
            </a:r>
            <a:r>
              <a:rPr lang="en-US" altLang="ko-KR" sz="1200" kern="0" spc="-60" dirty="0">
                <a:effectLst/>
                <a:latin typeface="+mn-ea"/>
              </a:rPr>
              <a:t>(</a:t>
            </a:r>
            <a:r>
              <a:rPr lang="ko-KR" altLang="en-US" sz="1200" kern="0" spc="-60" dirty="0">
                <a:effectLst/>
                <a:latin typeface="+mn-ea"/>
              </a:rPr>
              <a:t>등록</a:t>
            </a:r>
            <a:r>
              <a:rPr lang="en-US" altLang="ko-KR" sz="1200" kern="0" spc="-60" dirty="0">
                <a:effectLst/>
                <a:latin typeface="+mn-ea"/>
              </a:rPr>
              <a:t>)</a:t>
            </a:r>
            <a:r>
              <a:rPr lang="ko-KR" altLang="en-US" sz="1200" kern="0" spc="-60" dirty="0">
                <a:effectLst/>
                <a:latin typeface="+mn-ea"/>
              </a:rPr>
              <a:t>된 의약품</a:t>
            </a:r>
            <a:r>
              <a:rPr lang="en-US" altLang="ko-KR" sz="1200" kern="0" spc="-60" dirty="0">
                <a:effectLst/>
                <a:latin typeface="+mn-ea"/>
              </a:rPr>
              <a:t>(</a:t>
            </a:r>
            <a:r>
              <a:rPr lang="ko-KR" altLang="en-US" sz="1200" kern="0" spc="-60" dirty="0">
                <a:effectLst/>
                <a:latin typeface="+mn-ea"/>
              </a:rPr>
              <a:t>농약</a:t>
            </a:r>
            <a:r>
              <a:rPr lang="en-US" altLang="ko-KR" sz="1200" kern="0" spc="-60" dirty="0">
                <a:effectLst/>
                <a:latin typeface="+mn-ea"/>
              </a:rPr>
              <a:t>)</a:t>
            </a:r>
            <a:r>
              <a:rPr lang="ko-KR" altLang="en-US" sz="1200" kern="0" spc="-60" dirty="0">
                <a:effectLst/>
                <a:latin typeface="+mn-ea"/>
              </a:rPr>
              <a:t>의 염</a:t>
            </a:r>
            <a:r>
              <a:rPr lang="en-US" altLang="ko-KR" sz="1200" kern="0" spc="-60" dirty="0">
                <a:effectLst/>
                <a:latin typeface="+mn-ea"/>
              </a:rPr>
              <a:t>, </a:t>
            </a:r>
            <a:r>
              <a:rPr lang="ko-KR" altLang="en-US" sz="1200" kern="0" spc="-60" dirty="0" err="1">
                <a:effectLst/>
                <a:latin typeface="+mn-ea"/>
              </a:rPr>
              <a:t>에스테르</a:t>
            </a:r>
            <a:r>
              <a:rPr lang="en-US" altLang="ko-KR" sz="1200" kern="0" spc="-60" dirty="0">
                <a:effectLst/>
                <a:latin typeface="+mn-ea"/>
              </a:rPr>
              <a:t>, </a:t>
            </a:r>
            <a:r>
              <a:rPr lang="ko-KR" altLang="en-US" sz="1200" kern="0" spc="-60" dirty="0">
                <a:effectLst/>
                <a:latin typeface="+mn-ea"/>
              </a:rPr>
              <a:t>구조 이성질체</a:t>
            </a:r>
            <a:r>
              <a:rPr lang="en-US" altLang="ko-KR" sz="1200" kern="0" spc="-60" dirty="0">
                <a:effectLst/>
                <a:latin typeface="+mn-ea"/>
              </a:rPr>
              <a:t>, </a:t>
            </a:r>
            <a:r>
              <a:rPr lang="ko-KR" altLang="en-US" sz="1200" kern="0" spc="-60" dirty="0" err="1">
                <a:effectLst/>
                <a:latin typeface="+mn-ea"/>
              </a:rPr>
              <a:t>광학이성질체</a:t>
            </a:r>
            <a:r>
              <a:rPr lang="ko-KR" altLang="en-US" sz="1200" kern="0" spc="-60" dirty="0">
                <a:effectLst/>
                <a:latin typeface="+mn-ea"/>
              </a:rPr>
              <a:t> 등이 달라 새로운 신물질을 유효성분으로 한 것이라면 존속기간 연장의 대상이 될 수 있다</a:t>
            </a:r>
            <a:r>
              <a:rPr lang="en-US" altLang="ko-KR" sz="1200" kern="0" spc="-60" dirty="0">
                <a:effectLst/>
                <a:latin typeface="+mn-ea"/>
              </a:rPr>
              <a:t>.</a:t>
            </a:r>
            <a:endParaRPr lang="ko-KR" altLang="en-US" sz="1200" kern="0" spc="-60" dirty="0">
              <a:effectLst/>
              <a:latin typeface="+mn-ea"/>
            </a:endParaRPr>
          </a:p>
        </p:txBody>
      </p:sp>
      <p:sp>
        <p:nvSpPr>
          <p:cNvPr id="30" name="직사각형 29">
            <a:extLst>
              <a:ext uri="{FF2B5EF4-FFF2-40B4-BE49-F238E27FC236}">
                <a16:creationId xmlns:a16="http://schemas.microsoft.com/office/drawing/2014/main" id="{6FC8D77D-62D3-FCBE-05A5-33758F88B675}"/>
              </a:ext>
            </a:extLst>
          </p:cNvPr>
          <p:cNvSpPr/>
          <p:nvPr/>
        </p:nvSpPr>
        <p:spPr>
          <a:xfrm>
            <a:off x="7171765" y="2178215"/>
            <a:ext cx="3164541" cy="240243"/>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5" name="직선 화살표 연결선 34">
            <a:extLst>
              <a:ext uri="{FF2B5EF4-FFF2-40B4-BE49-F238E27FC236}">
                <a16:creationId xmlns:a16="http://schemas.microsoft.com/office/drawing/2014/main" id="{1CC88449-4094-8555-9005-17F4115EF5CA}"/>
              </a:ext>
            </a:extLst>
          </p:cNvPr>
          <p:cNvCxnSpPr>
            <a:endCxn id="21" idx="3"/>
          </p:cNvCxnSpPr>
          <p:nvPr/>
        </p:nvCxnSpPr>
        <p:spPr>
          <a:xfrm flipH="1">
            <a:off x="4312024" y="2418458"/>
            <a:ext cx="4473388" cy="1233426"/>
          </a:xfrm>
          <a:prstGeom prst="straightConnector1">
            <a:avLst/>
          </a:prstGeom>
          <a:ln w="28575">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 name="직사각형 4">
            <a:extLst>
              <a:ext uri="{FF2B5EF4-FFF2-40B4-BE49-F238E27FC236}">
                <a16:creationId xmlns:a16="http://schemas.microsoft.com/office/drawing/2014/main" id="{4EF41936-4811-52B9-34EA-ABEFBEEBA8AD}"/>
              </a:ext>
            </a:extLst>
          </p:cNvPr>
          <p:cNvSpPr/>
          <p:nvPr/>
        </p:nvSpPr>
        <p:spPr>
          <a:xfrm>
            <a:off x="8346140" y="5542568"/>
            <a:ext cx="3281080" cy="544464"/>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dirty="0">
                <a:solidFill>
                  <a:srgbClr val="FF0000"/>
                </a:solidFill>
              </a:rPr>
              <a:t>약효를 나타내는 유효성 부분인 </a:t>
            </a:r>
            <a:endParaRPr lang="en-US" altLang="ko-KR" dirty="0">
              <a:solidFill>
                <a:srgbClr val="FF0000"/>
              </a:solidFill>
            </a:endParaRPr>
          </a:p>
          <a:p>
            <a:pPr algn="ctr"/>
            <a:r>
              <a:rPr lang="ko-KR" altLang="en-US" dirty="0" err="1">
                <a:solidFill>
                  <a:srgbClr val="FF0000"/>
                </a:solidFill>
              </a:rPr>
              <a:t>인터페론베타</a:t>
            </a:r>
            <a:r>
              <a:rPr lang="en-US" altLang="ko-KR" dirty="0">
                <a:solidFill>
                  <a:srgbClr val="FF0000"/>
                </a:solidFill>
              </a:rPr>
              <a:t>-1a</a:t>
            </a:r>
            <a:r>
              <a:rPr lang="ko-KR" altLang="en-US" dirty="0">
                <a:solidFill>
                  <a:srgbClr val="FF0000"/>
                </a:solidFill>
              </a:rPr>
              <a:t>가 동일</a:t>
            </a:r>
          </a:p>
        </p:txBody>
      </p:sp>
    </p:spTree>
    <p:extLst>
      <p:ext uri="{BB962C8B-B14F-4D97-AF65-F5344CB8AC3E}">
        <p14:creationId xmlns:p14="http://schemas.microsoft.com/office/powerpoint/2010/main" val="629420904"/>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사각형: 둥근 모서리 12">
            <a:extLst>
              <a:ext uri="{FF2B5EF4-FFF2-40B4-BE49-F238E27FC236}">
                <a16:creationId xmlns:a16="http://schemas.microsoft.com/office/drawing/2014/main" id="{944C5683-D951-41A5-8C59-0D3786236B68}"/>
              </a:ext>
            </a:extLst>
          </p:cNvPr>
          <p:cNvSpPr/>
          <p:nvPr/>
        </p:nvSpPr>
        <p:spPr>
          <a:xfrm>
            <a:off x="272838" y="5111035"/>
            <a:ext cx="5675116" cy="1441204"/>
          </a:xfrm>
          <a:prstGeom prst="round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1" name="직선 연결선 30">
            <a:extLst>
              <a:ext uri="{FF2B5EF4-FFF2-40B4-BE49-F238E27FC236}">
                <a16:creationId xmlns:a16="http://schemas.microsoft.com/office/drawing/2014/main" id="{85343F1B-9096-40E8-9F50-0DE853B18BCA}"/>
              </a:ext>
            </a:extLst>
          </p:cNvPr>
          <p:cNvCxnSpPr/>
          <p:nvPr/>
        </p:nvCxnSpPr>
        <p:spPr>
          <a:xfrm>
            <a:off x="5085807" y="4796287"/>
            <a:ext cx="0" cy="1880558"/>
          </a:xfrm>
          <a:prstGeom prst="line">
            <a:avLst/>
          </a:prstGeom>
          <a:ln w="381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18789905-C14C-40E0-B5FD-3B87DDE66CEE}"/>
              </a:ext>
            </a:extLst>
          </p:cNvPr>
          <p:cNvCxnSpPr/>
          <p:nvPr/>
        </p:nvCxnSpPr>
        <p:spPr>
          <a:xfrm>
            <a:off x="1000664" y="4796287"/>
            <a:ext cx="0" cy="1880558"/>
          </a:xfrm>
          <a:prstGeom prst="line">
            <a:avLst/>
          </a:prstGeom>
          <a:ln w="381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89</a:t>
            </a:r>
            <a:r>
              <a:rPr lang="ko-KR" altLang="en-US" dirty="0"/>
              <a:t>조</a:t>
            </a:r>
            <a:r>
              <a:rPr lang="en-US" altLang="ko-KR" dirty="0"/>
              <a:t>~</a:t>
            </a:r>
            <a:r>
              <a:rPr lang="ko-KR" altLang="en-US" dirty="0"/>
              <a:t>제</a:t>
            </a:r>
            <a:r>
              <a:rPr lang="en-US" altLang="ko-KR" dirty="0"/>
              <a:t>95</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solidFill>
                  <a:srgbClr val="525252"/>
                </a:solidFill>
              </a:rPr>
              <a:t>객체</a:t>
            </a:r>
            <a:r>
              <a:rPr lang="en-US" altLang="ko-KR" dirty="0">
                <a:solidFill>
                  <a:srgbClr val="525252"/>
                </a:solidFill>
              </a:rPr>
              <a:t>: </a:t>
            </a:r>
            <a:r>
              <a:rPr lang="ko-KR" altLang="en-US" dirty="0">
                <a:solidFill>
                  <a:srgbClr val="525252"/>
                </a:solidFill>
              </a:rPr>
              <a:t>연장기간</a:t>
            </a:r>
            <a:r>
              <a:rPr lang="en-US" altLang="ko-KR" dirty="0">
                <a:solidFill>
                  <a:srgbClr val="525252"/>
                </a:solidFill>
              </a:rPr>
              <a:t>(</a:t>
            </a:r>
            <a:r>
              <a:rPr lang="ko-KR" altLang="en-US" dirty="0">
                <a:solidFill>
                  <a:srgbClr val="525252"/>
                </a:solidFill>
              </a:rPr>
              <a:t>제</a:t>
            </a:r>
            <a:r>
              <a:rPr lang="en-US" altLang="ko-KR" dirty="0">
                <a:solidFill>
                  <a:srgbClr val="525252"/>
                </a:solidFill>
              </a:rPr>
              <a:t>89</a:t>
            </a:r>
            <a:r>
              <a:rPr lang="ko-KR" altLang="en-US" dirty="0">
                <a:solidFill>
                  <a:srgbClr val="525252"/>
                </a:solidFill>
              </a:rPr>
              <a:t>조</a:t>
            </a:r>
            <a:r>
              <a:rPr lang="en-US" altLang="ko-KR" dirty="0">
                <a:solidFill>
                  <a:srgbClr val="525252"/>
                </a:solidFill>
              </a:rPr>
              <a:t>, </a:t>
            </a:r>
            <a:r>
              <a:rPr lang="ko-KR" altLang="en-US" dirty="0">
                <a:solidFill>
                  <a:srgbClr val="525252"/>
                </a:solidFill>
              </a:rPr>
              <a:t>제</a:t>
            </a:r>
            <a:r>
              <a:rPr lang="en-US" altLang="ko-KR" dirty="0">
                <a:solidFill>
                  <a:srgbClr val="525252"/>
                </a:solidFill>
              </a:rPr>
              <a:t>91</a:t>
            </a:r>
            <a:r>
              <a:rPr lang="ko-KR" altLang="en-US" dirty="0">
                <a:solidFill>
                  <a:srgbClr val="525252"/>
                </a:solidFill>
              </a:rPr>
              <a:t>조제</a:t>
            </a:r>
            <a:r>
              <a:rPr lang="en-US" altLang="ko-KR" dirty="0">
                <a:solidFill>
                  <a:srgbClr val="525252"/>
                </a:solidFill>
              </a:rPr>
              <a:t>3</a:t>
            </a:r>
            <a:r>
              <a:rPr lang="ko-KR" altLang="en-US" dirty="0">
                <a:solidFill>
                  <a:srgbClr val="525252"/>
                </a:solidFill>
              </a:rPr>
              <a:t>호</a:t>
            </a:r>
            <a:r>
              <a:rPr lang="en-US" altLang="ko-KR" dirty="0">
                <a:solidFill>
                  <a:srgbClr val="525252"/>
                </a:solidFill>
              </a:rPr>
              <a:t>)</a:t>
            </a:r>
            <a:endParaRPr lang="ko-KR" altLang="en-US" dirty="0">
              <a:solidFill>
                <a:srgbClr val="525252"/>
              </a:solidFill>
            </a:endParaRP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298</a:t>
            </a:r>
            <a:endParaRPr lang="ko-KR" altLang="en-US"/>
          </a:p>
        </p:txBody>
      </p:sp>
      <p:sp>
        <p:nvSpPr>
          <p:cNvPr id="38" name="직사각형 37">
            <a:extLst>
              <a:ext uri="{FF2B5EF4-FFF2-40B4-BE49-F238E27FC236}">
                <a16:creationId xmlns:a16="http://schemas.microsoft.com/office/drawing/2014/main" id="{9B63F12B-A9B8-40F5-8512-F5EA7729ED4D}"/>
              </a:ext>
            </a:extLst>
          </p:cNvPr>
          <p:cNvSpPr/>
          <p:nvPr/>
        </p:nvSpPr>
        <p:spPr>
          <a:xfrm>
            <a:off x="272839" y="1043274"/>
            <a:ext cx="11585784" cy="32682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solidFill>
              </a:rPr>
              <a:t>연장기간</a:t>
            </a:r>
            <a:r>
              <a:rPr lang="en-US" altLang="ko-KR" sz="1200" dirty="0">
                <a:solidFill>
                  <a:schemeClr val="tx1"/>
                </a:solidFill>
              </a:rPr>
              <a:t>: </a:t>
            </a:r>
            <a:r>
              <a:rPr lang="ko-KR" altLang="en-US" sz="1200" dirty="0">
                <a:solidFill>
                  <a:schemeClr val="tx1"/>
                </a:solidFill>
              </a:rPr>
              <a:t>특허발명을 실시할 수 없었던 기간 </a:t>
            </a:r>
            <a:r>
              <a:rPr lang="en-US" altLang="ko-KR" sz="1200" dirty="0">
                <a:solidFill>
                  <a:schemeClr val="tx1"/>
                </a:solidFill>
              </a:rPr>
              <a:t>(</a:t>
            </a:r>
            <a:r>
              <a:rPr lang="ko-KR" altLang="en-US" sz="1200" dirty="0">
                <a:solidFill>
                  <a:schemeClr val="tx1"/>
                </a:solidFill>
              </a:rPr>
              <a:t>최대 </a:t>
            </a:r>
            <a:r>
              <a:rPr lang="en-US" altLang="ko-KR" sz="1200" dirty="0">
                <a:solidFill>
                  <a:schemeClr val="tx1"/>
                </a:solidFill>
              </a:rPr>
              <a:t>5</a:t>
            </a:r>
            <a:r>
              <a:rPr lang="ko-KR" altLang="en-US" sz="1200" dirty="0">
                <a:solidFill>
                  <a:schemeClr val="tx1"/>
                </a:solidFill>
              </a:rPr>
              <a:t>년</a:t>
            </a:r>
            <a:r>
              <a:rPr lang="en-US" altLang="ko-KR" sz="1200" dirty="0">
                <a:solidFill>
                  <a:schemeClr val="tx1"/>
                </a:solidFill>
              </a:rPr>
              <a:t>) / </a:t>
            </a:r>
            <a:r>
              <a:rPr lang="ko-KR" altLang="en-US" sz="1200" dirty="0">
                <a:solidFill>
                  <a:schemeClr val="tx1"/>
                </a:solidFill>
              </a:rPr>
              <a:t>단</a:t>
            </a:r>
            <a:r>
              <a:rPr lang="en-US" altLang="ko-KR" sz="1200" dirty="0">
                <a:solidFill>
                  <a:schemeClr val="tx1"/>
                </a:solidFill>
              </a:rPr>
              <a:t>, </a:t>
            </a:r>
            <a:r>
              <a:rPr lang="ko-KR" altLang="en-US" sz="1200" dirty="0">
                <a:solidFill>
                  <a:schemeClr val="tx1"/>
                </a:solidFill>
              </a:rPr>
              <a:t>허가 등을 받은 날로부터 </a:t>
            </a:r>
            <a:r>
              <a:rPr lang="en-US" altLang="ko-KR" sz="1200" dirty="0">
                <a:solidFill>
                  <a:schemeClr val="tx1"/>
                </a:solidFill>
              </a:rPr>
              <a:t>14</a:t>
            </a:r>
            <a:r>
              <a:rPr lang="ko-KR" altLang="en-US" sz="1200" dirty="0">
                <a:solidFill>
                  <a:schemeClr val="tx1"/>
                </a:solidFill>
              </a:rPr>
              <a:t>년 초과 연장 불가</a:t>
            </a:r>
          </a:p>
        </p:txBody>
      </p:sp>
      <p:sp>
        <p:nvSpPr>
          <p:cNvPr id="41" name="직사각형 40">
            <a:extLst>
              <a:ext uri="{FF2B5EF4-FFF2-40B4-BE49-F238E27FC236}">
                <a16:creationId xmlns:a16="http://schemas.microsoft.com/office/drawing/2014/main" id="{7C3895A4-F439-4C5F-9793-ACB83291B274}"/>
              </a:ext>
            </a:extLst>
          </p:cNvPr>
          <p:cNvSpPr/>
          <p:nvPr/>
        </p:nvSpPr>
        <p:spPr>
          <a:xfrm>
            <a:off x="414632" y="5548096"/>
            <a:ext cx="1109362" cy="433374"/>
          </a:xfrm>
          <a:prstGeom prst="rect">
            <a:avLst/>
          </a:prstGeom>
          <a:solidFill>
            <a:schemeClr val="accent1">
              <a:lumMod val="60000"/>
              <a:lumOff val="4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식약처에</a:t>
            </a:r>
            <a:endParaRPr lang="en-US" altLang="ko-KR" sz="1200" dirty="0">
              <a:solidFill>
                <a:schemeClr val="tx1"/>
              </a:solidFill>
            </a:endParaRPr>
          </a:p>
          <a:p>
            <a:pPr algn="ctr"/>
            <a:r>
              <a:rPr lang="ko-KR" altLang="en-US" sz="1200" dirty="0">
                <a:solidFill>
                  <a:schemeClr val="tx1"/>
                </a:solidFill>
              </a:rPr>
              <a:t>허가의 신청</a:t>
            </a:r>
            <a:endParaRPr lang="en-US" altLang="ko-KR" sz="1200" dirty="0">
              <a:solidFill>
                <a:schemeClr val="tx1"/>
              </a:solidFill>
            </a:endParaRPr>
          </a:p>
        </p:txBody>
      </p:sp>
      <p:sp>
        <p:nvSpPr>
          <p:cNvPr id="42" name="직사각형 41">
            <a:extLst>
              <a:ext uri="{FF2B5EF4-FFF2-40B4-BE49-F238E27FC236}">
                <a16:creationId xmlns:a16="http://schemas.microsoft.com/office/drawing/2014/main" id="{E0ABB98C-ACA5-46E0-A537-5256A24636C7}"/>
              </a:ext>
            </a:extLst>
          </p:cNvPr>
          <p:cNvSpPr/>
          <p:nvPr/>
        </p:nvSpPr>
        <p:spPr>
          <a:xfrm>
            <a:off x="4728756" y="5600344"/>
            <a:ext cx="714102" cy="224368"/>
          </a:xfrm>
          <a:prstGeom prst="rect">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bg1"/>
                </a:solidFill>
              </a:rPr>
              <a:t>허가</a:t>
            </a:r>
            <a:endParaRPr lang="en-US" altLang="ko-KR" sz="1200" dirty="0">
              <a:solidFill>
                <a:schemeClr val="bg1"/>
              </a:solidFill>
            </a:endParaRPr>
          </a:p>
        </p:txBody>
      </p:sp>
      <p:sp>
        <p:nvSpPr>
          <p:cNvPr id="46" name="직사각형 45">
            <a:extLst>
              <a:ext uri="{FF2B5EF4-FFF2-40B4-BE49-F238E27FC236}">
                <a16:creationId xmlns:a16="http://schemas.microsoft.com/office/drawing/2014/main" id="{5AA234AB-9F1E-403C-8D6E-A871D006661C}"/>
              </a:ext>
            </a:extLst>
          </p:cNvPr>
          <p:cNvSpPr/>
          <p:nvPr/>
        </p:nvSpPr>
        <p:spPr>
          <a:xfrm>
            <a:off x="1898468" y="5221288"/>
            <a:ext cx="760122" cy="433374"/>
          </a:xfrm>
          <a:prstGeom prst="rect">
            <a:avLst/>
          </a:prstGeom>
          <a:solidFill>
            <a:schemeClr val="tx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a:t>
            </a:r>
          </a:p>
          <a:p>
            <a:pPr algn="ctr"/>
            <a:r>
              <a:rPr lang="ko-KR" altLang="en-US" sz="1200" dirty="0">
                <a:solidFill>
                  <a:schemeClr val="tx1"/>
                </a:solidFill>
              </a:rPr>
              <a:t>부서심사</a:t>
            </a:r>
            <a:endParaRPr lang="en-US" altLang="ko-KR" sz="1200" dirty="0">
              <a:solidFill>
                <a:schemeClr val="tx1"/>
              </a:solidFill>
            </a:endParaRPr>
          </a:p>
        </p:txBody>
      </p:sp>
      <p:sp>
        <p:nvSpPr>
          <p:cNvPr id="47" name="직사각형 46">
            <a:extLst>
              <a:ext uri="{FF2B5EF4-FFF2-40B4-BE49-F238E27FC236}">
                <a16:creationId xmlns:a16="http://schemas.microsoft.com/office/drawing/2014/main" id="{8DF45460-F765-4AEE-9B74-4D1133676F84}"/>
              </a:ext>
            </a:extLst>
          </p:cNvPr>
          <p:cNvSpPr/>
          <p:nvPr/>
        </p:nvSpPr>
        <p:spPr>
          <a:xfrm>
            <a:off x="1898467" y="5915903"/>
            <a:ext cx="760119" cy="433374"/>
          </a:xfrm>
          <a:prstGeom prst="rect">
            <a:avLst/>
          </a:prstGeom>
          <a:solidFill>
            <a:schemeClr val="tx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 </a:t>
            </a:r>
          </a:p>
          <a:p>
            <a:pPr algn="ctr"/>
            <a:r>
              <a:rPr lang="ko-KR" altLang="en-US" sz="1200" dirty="0">
                <a:solidFill>
                  <a:schemeClr val="tx1"/>
                </a:solidFill>
              </a:rPr>
              <a:t>부서심사</a:t>
            </a:r>
            <a:endParaRPr lang="en-US" altLang="ko-KR" sz="1200" dirty="0">
              <a:solidFill>
                <a:schemeClr val="tx1"/>
              </a:solidFill>
            </a:endParaRPr>
          </a:p>
        </p:txBody>
      </p:sp>
      <p:cxnSp>
        <p:nvCxnSpPr>
          <p:cNvPr id="11" name="직선 연결선 10">
            <a:extLst>
              <a:ext uri="{FF2B5EF4-FFF2-40B4-BE49-F238E27FC236}">
                <a16:creationId xmlns:a16="http://schemas.microsoft.com/office/drawing/2014/main" id="{C06DEB5F-1126-4B6F-83F4-DD097E69F90A}"/>
              </a:ext>
            </a:extLst>
          </p:cNvPr>
          <p:cNvCxnSpPr>
            <a:cxnSpLocks/>
            <a:stCxn id="46" idx="3"/>
          </p:cNvCxnSpPr>
          <p:nvPr/>
        </p:nvCxnSpPr>
        <p:spPr>
          <a:xfrm>
            <a:off x="2658590" y="5437975"/>
            <a:ext cx="1617319"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직선 연결선 49">
            <a:extLst>
              <a:ext uri="{FF2B5EF4-FFF2-40B4-BE49-F238E27FC236}">
                <a16:creationId xmlns:a16="http://schemas.microsoft.com/office/drawing/2014/main" id="{9E04B6A6-7819-48B2-9D2C-C36D51DB314B}"/>
              </a:ext>
            </a:extLst>
          </p:cNvPr>
          <p:cNvCxnSpPr>
            <a:cxnSpLocks/>
            <a:stCxn id="47" idx="3"/>
          </p:cNvCxnSpPr>
          <p:nvPr/>
        </p:nvCxnSpPr>
        <p:spPr>
          <a:xfrm>
            <a:off x="2658586" y="6132590"/>
            <a:ext cx="3193574"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Rectangle 14">
            <a:extLst>
              <a:ext uri="{FF2B5EF4-FFF2-40B4-BE49-F238E27FC236}">
                <a16:creationId xmlns:a16="http://schemas.microsoft.com/office/drawing/2014/main" id="{D9C02F91-187E-4242-A74D-347ABFB9264D}"/>
              </a:ext>
            </a:extLst>
          </p:cNvPr>
          <p:cNvSpPr>
            <a:spLocks noChangeArrowheads="1"/>
          </p:cNvSpPr>
          <p:nvPr/>
        </p:nvSpPr>
        <p:spPr bwMode="auto">
          <a:xfrm flipV="1">
            <a:off x="5030765" y="6073624"/>
            <a:ext cx="110084" cy="11793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61" name="Rectangle 14">
            <a:extLst>
              <a:ext uri="{FF2B5EF4-FFF2-40B4-BE49-F238E27FC236}">
                <a16:creationId xmlns:a16="http://schemas.microsoft.com/office/drawing/2014/main" id="{D5D309B3-1AB6-4453-81D5-5B1AE0B229D0}"/>
              </a:ext>
            </a:extLst>
          </p:cNvPr>
          <p:cNvSpPr>
            <a:spLocks noChangeArrowheads="1"/>
          </p:cNvSpPr>
          <p:nvPr/>
        </p:nvSpPr>
        <p:spPr bwMode="auto">
          <a:xfrm flipV="1">
            <a:off x="4220867" y="5379009"/>
            <a:ext cx="110084" cy="11793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62" name="직선 연결선 61">
            <a:extLst>
              <a:ext uri="{FF2B5EF4-FFF2-40B4-BE49-F238E27FC236}">
                <a16:creationId xmlns:a16="http://schemas.microsoft.com/office/drawing/2014/main" id="{D808B324-4E6D-46D7-B9F4-90E2742E85EA}"/>
              </a:ext>
            </a:extLst>
          </p:cNvPr>
          <p:cNvCxnSpPr>
            <a:cxnSpLocks/>
            <a:stCxn id="42" idx="2"/>
            <a:endCxn id="55" idx="4"/>
          </p:cNvCxnSpPr>
          <p:nvPr/>
        </p:nvCxnSpPr>
        <p:spPr>
          <a:xfrm>
            <a:off x="5085807" y="5824712"/>
            <a:ext cx="0" cy="248912"/>
          </a:xfrm>
          <a:prstGeom prst="line">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직사각형 62">
            <a:extLst>
              <a:ext uri="{FF2B5EF4-FFF2-40B4-BE49-F238E27FC236}">
                <a16:creationId xmlns:a16="http://schemas.microsoft.com/office/drawing/2014/main" id="{E9C74924-35A2-442C-91F4-B43C614904AF}"/>
              </a:ext>
            </a:extLst>
          </p:cNvPr>
          <p:cNvSpPr/>
          <p:nvPr/>
        </p:nvSpPr>
        <p:spPr>
          <a:xfrm>
            <a:off x="3927880" y="5090366"/>
            <a:ext cx="7601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심사완료</a:t>
            </a:r>
            <a:endParaRPr lang="en-US" altLang="ko-KR" sz="1200" dirty="0">
              <a:solidFill>
                <a:schemeClr val="tx1"/>
              </a:solidFill>
            </a:endParaRPr>
          </a:p>
        </p:txBody>
      </p:sp>
      <p:sp>
        <p:nvSpPr>
          <p:cNvPr id="64" name="직사각형 63">
            <a:extLst>
              <a:ext uri="{FF2B5EF4-FFF2-40B4-BE49-F238E27FC236}">
                <a16:creationId xmlns:a16="http://schemas.microsoft.com/office/drawing/2014/main" id="{9AD17856-EC90-4D94-8185-EF77CCEC7305}"/>
              </a:ext>
            </a:extLst>
          </p:cNvPr>
          <p:cNvSpPr/>
          <p:nvPr/>
        </p:nvSpPr>
        <p:spPr>
          <a:xfrm>
            <a:off x="4705746" y="6169248"/>
            <a:ext cx="7601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심사완료</a:t>
            </a:r>
            <a:endParaRPr lang="en-US" altLang="ko-KR" sz="1200" dirty="0">
              <a:solidFill>
                <a:schemeClr val="tx1"/>
              </a:solidFill>
            </a:endParaRPr>
          </a:p>
        </p:txBody>
      </p:sp>
      <p:sp>
        <p:nvSpPr>
          <p:cNvPr id="19" name="사각형: 둥근 모서리 18">
            <a:extLst>
              <a:ext uri="{FF2B5EF4-FFF2-40B4-BE49-F238E27FC236}">
                <a16:creationId xmlns:a16="http://schemas.microsoft.com/office/drawing/2014/main" id="{38A85C91-63B4-4C3B-94F1-6FC23D109111}"/>
              </a:ext>
            </a:extLst>
          </p:cNvPr>
          <p:cNvSpPr/>
          <p:nvPr/>
        </p:nvSpPr>
        <p:spPr>
          <a:xfrm>
            <a:off x="2932973" y="5301430"/>
            <a:ext cx="968780" cy="262826"/>
          </a:xfrm>
          <a:prstGeom prst="roundRect">
            <a:avLst>
              <a:gd name="adj" fmla="val 50000"/>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서류보완</a:t>
            </a:r>
          </a:p>
        </p:txBody>
      </p:sp>
      <p:cxnSp>
        <p:nvCxnSpPr>
          <p:cNvPr id="22" name="연결선: 꺾임 21">
            <a:extLst>
              <a:ext uri="{FF2B5EF4-FFF2-40B4-BE49-F238E27FC236}">
                <a16:creationId xmlns:a16="http://schemas.microsoft.com/office/drawing/2014/main" id="{38D34921-9243-4863-9E39-B4978A71C1F9}"/>
              </a:ext>
            </a:extLst>
          </p:cNvPr>
          <p:cNvCxnSpPr>
            <a:cxnSpLocks/>
            <a:stCxn id="41" idx="3"/>
            <a:endCxn id="46" idx="1"/>
          </p:cNvCxnSpPr>
          <p:nvPr/>
        </p:nvCxnSpPr>
        <p:spPr>
          <a:xfrm flipV="1">
            <a:off x="1523994" y="5437975"/>
            <a:ext cx="374474" cy="326808"/>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5" name="연결선: 꺾임 24">
            <a:extLst>
              <a:ext uri="{FF2B5EF4-FFF2-40B4-BE49-F238E27FC236}">
                <a16:creationId xmlns:a16="http://schemas.microsoft.com/office/drawing/2014/main" id="{54B25D2A-10DA-404A-83EE-25D9B817263A}"/>
              </a:ext>
            </a:extLst>
          </p:cNvPr>
          <p:cNvCxnSpPr>
            <a:cxnSpLocks/>
            <a:stCxn id="41" idx="3"/>
            <a:endCxn id="47" idx="1"/>
          </p:cNvCxnSpPr>
          <p:nvPr/>
        </p:nvCxnSpPr>
        <p:spPr>
          <a:xfrm>
            <a:off x="1523994" y="5764783"/>
            <a:ext cx="374473" cy="367807"/>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7" name="직사각형 26">
            <a:extLst>
              <a:ext uri="{FF2B5EF4-FFF2-40B4-BE49-F238E27FC236}">
                <a16:creationId xmlns:a16="http://schemas.microsoft.com/office/drawing/2014/main" id="{8863BD97-3904-456F-8D3E-DDA7645BD93E}"/>
              </a:ext>
            </a:extLst>
          </p:cNvPr>
          <p:cNvSpPr/>
          <p:nvPr/>
        </p:nvSpPr>
        <p:spPr>
          <a:xfrm>
            <a:off x="272839" y="2299290"/>
            <a:ext cx="5675115" cy="2308324"/>
          </a:xfrm>
          <a:prstGeom prst="rect">
            <a:avLst/>
          </a:prstGeom>
          <a:ln>
            <a:solidFill>
              <a:schemeClr val="bg1">
                <a:lumMod val="50000"/>
              </a:schemeClr>
            </a:solidFill>
          </a:ln>
        </p:spPr>
        <p:txBody>
          <a:bodyPr wrap="square">
            <a:spAutoFit/>
          </a:bodyPr>
          <a:lstStyle/>
          <a:p>
            <a:pPr algn="just"/>
            <a:r>
              <a:rPr lang="ko-KR" altLang="en-US" sz="1200" dirty="0"/>
              <a:t>원고들이 피고를 상대로 피고의 특허발명에 대하여 이루어진 존속기간 연장등록은 특허발명을 실시할 수 없었던 기간을 초과하여 무효로 되어야 한다고 주장한 사건에서</a:t>
            </a:r>
            <a:r>
              <a:rPr lang="en-US" altLang="ko-KR" sz="1200" dirty="0"/>
              <a:t>, </a:t>
            </a:r>
            <a:r>
              <a:rPr lang="ko-KR" altLang="en-US" sz="1200" dirty="0">
                <a:highlight>
                  <a:srgbClr val="FFFF00"/>
                </a:highlight>
              </a:rPr>
              <a:t>식품의약품안전처 내 어느 심사부서에서 보완요구가 이루어지고 그 결과 보완자료를 제출할 때까지 그 보완요구 사항에 대한 심사가 진행되지 못하였다 하더라도</a:t>
            </a:r>
            <a:r>
              <a:rPr lang="en-US" altLang="ko-KR" sz="1200" dirty="0">
                <a:highlight>
                  <a:srgbClr val="FFFF00"/>
                </a:highlight>
              </a:rPr>
              <a:t>, </a:t>
            </a:r>
            <a:r>
              <a:rPr lang="ko-KR" altLang="en-US" sz="1200" dirty="0">
                <a:highlight>
                  <a:srgbClr val="FFFF00"/>
                </a:highlight>
              </a:rPr>
              <a:t>그 동안 식품의약품안전처의 다른 심사부서에서 그 의약품의 제조판매 </a:t>
            </a:r>
            <a:r>
              <a:rPr lang="en-US" altLang="ko-KR" sz="1200" dirty="0">
                <a:highlight>
                  <a:srgbClr val="FFFF00"/>
                </a:highlight>
              </a:rPr>
              <a:t>· </a:t>
            </a:r>
            <a:r>
              <a:rPr lang="ko-KR" altLang="en-US" sz="1200" dirty="0">
                <a:highlight>
                  <a:srgbClr val="FFFF00"/>
                </a:highlight>
              </a:rPr>
              <a:t>수입품목 허가를 위한 심사 등의 절차가 계속 진행되고 있었던 경우에는 다른 특별한 사정이 없는 한 그 기간 역시 허가를 위하여 소요된 기간으로 볼 수 있으므로</a:t>
            </a:r>
            <a:r>
              <a:rPr lang="en-US" altLang="ko-KR" sz="1200" dirty="0">
                <a:highlight>
                  <a:srgbClr val="FFFF00"/>
                </a:highlight>
              </a:rPr>
              <a:t>, </a:t>
            </a:r>
            <a:r>
              <a:rPr lang="ko-KR" altLang="en-US" sz="1200" dirty="0">
                <a:highlight>
                  <a:srgbClr val="FFFF00"/>
                </a:highlight>
              </a:rPr>
              <a:t>이를 가지고 허가 등을 받은 자의 귀책사유로 인하여 허가 등의 절차가 지연된 기간이라고 단정할 수 없으므로</a:t>
            </a:r>
            <a:r>
              <a:rPr lang="en-US" altLang="ko-KR" sz="1200" dirty="0"/>
              <a:t>, </a:t>
            </a:r>
            <a:r>
              <a:rPr lang="ko-KR" altLang="en-US" sz="1200" dirty="0"/>
              <a:t>이 사건 특허발명을 실시할 수 없었던 기간 중에서 식품의약품안전처의 심사가 전혀 진행되지 아니한 기간은 없고 달리 ‘허가 등을 받은 자의 책임 있는 </a:t>
            </a:r>
            <a:r>
              <a:rPr lang="ko-KR" altLang="en-US" sz="1200" dirty="0" err="1"/>
              <a:t>사유’로</a:t>
            </a:r>
            <a:r>
              <a:rPr lang="ko-KR" altLang="en-US" sz="1200" dirty="0"/>
              <a:t> 제외되어야 할 기간을 인정할 자료가 없으므로</a:t>
            </a:r>
            <a:r>
              <a:rPr lang="en-US" altLang="ko-KR" sz="1200" dirty="0"/>
              <a:t>, </a:t>
            </a:r>
            <a:r>
              <a:rPr lang="ko-KR" altLang="en-US" sz="1200" dirty="0"/>
              <a:t>이 사건 연장등록에 구 특허법 제</a:t>
            </a:r>
            <a:r>
              <a:rPr lang="en-US" altLang="ko-KR" sz="1200" dirty="0"/>
              <a:t>134</a:t>
            </a:r>
            <a:r>
              <a:rPr lang="ko-KR" altLang="en-US" sz="1200" dirty="0"/>
              <a:t>조 제</a:t>
            </a:r>
            <a:r>
              <a:rPr lang="en-US" altLang="ko-KR" sz="1200" dirty="0"/>
              <a:t>1</a:t>
            </a:r>
            <a:r>
              <a:rPr lang="ko-KR" altLang="en-US" sz="1200" dirty="0"/>
              <a:t>항 제</a:t>
            </a:r>
            <a:r>
              <a:rPr lang="en-US" altLang="ko-KR" sz="1200" dirty="0"/>
              <a:t>3</a:t>
            </a:r>
            <a:r>
              <a:rPr lang="ko-KR" altLang="en-US" sz="1200" dirty="0"/>
              <a:t>호의 무효사유가 있다고 볼 수 없다</a:t>
            </a:r>
            <a:r>
              <a:rPr lang="en-US" altLang="ko-KR" sz="1200" dirty="0"/>
              <a:t>(</a:t>
            </a:r>
            <a:r>
              <a:rPr lang="ko-KR" altLang="en-US" sz="1200" dirty="0"/>
              <a:t>대법원 </a:t>
            </a:r>
            <a:r>
              <a:rPr lang="en-US" altLang="ko-KR" sz="1200" dirty="0"/>
              <a:t>2017. 11. 29. </a:t>
            </a:r>
            <a:r>
              <a:rPr lang="ko-KR" altLang="en-US" sz="1200" dirty="0"/>
              <a:t>선고 </a:t>
            </a:r>
            <a:r>
              <a:rPr lang="en-US" altLang="ko-KR" sz="1200" dirty="0"/>
              <a:t>2017</a:t>
            </a:r>
            <a:r>
              <a:rPr lang="ko-KR" altLang="en-US" sz="1200" dirty="0"/>
              <a:t>후</a:t>
            </a:r>
            <a:r>
              <a:rPr lang="en-US" altLang="ko-KR" sz="1200" dirty="0"/>
              <a:t>844, 851, 868, 875).</a:t>
            </a:r>
            <a:endParaRPr lang="ko-KR" altLang="en-US" sz="1200" dirty="0"/>
          </a:p>
        </p:txBody>
      </p:sp>
      <p:cxnSp>
        <p:nvCxnSpPr>
          <p:cNvPr id="76" name="직선 연결선 75">
            <a:extLst>
              <a:ext uri="{FF2B5EF4-FFF2-40B4-BE49-F238E27FC236}">
                <a16:creationId xmlns:a16="http://schemas.microsoft.com/office/drawing/2014/main" id="{94BDB975-038F-4A76-9B0C-1874AC4B26A7}"/>
              </a:ext>
            </a:extLst>
          </p:cNvPr>
          <p:cNvCxnSpPr>
            <a:cxnSpLocks/>
          </p:cNvCxnSpPr>
          <p:nvPr/>
        </p:nvCxnSpPr>
        <p:spPr>
          <a:xfrm flipV="1">
            <a:off x="6088591" y="1592820"/>
            <a:ext cx="0" cy="4855606"/>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AACA9939-1CF3-437E-A9A9-13AACF23545C}"/>
              </a:ext>
            </a:extLst>
          </p:cNvPr>
          <p:cNvCxnSpPr/>
          <p:nvPr/>
        </p:nvCxnSpPr>
        <p:spPr>
          <a:xfrm>
            <a:off x="1000664" y="4925685"/>
            <a:ext cx="4030101" cy="0"/>
          </a:xfrm>
          <a:prstGeom prst="line">
            <a:avLst/>
          </a:prstGeom>
          <a:ln w="381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직사각형 33">
            <a:extLst>
              <a:ext uri="{FF2B5EF4-FFF2-40B4-BE49-F238E27FC236}">
                <a16:creationId xmlns:a16="http://schemas.microsoft.com/office/drawing/2014/main" id="{8A931D68-9594-472E-90DF-55B58F14D8F7}"/>
              </a:ext>
            </a:extLst>
          </p:cNvPr>
          <p:cNvSpPr/>
          <p:nvPr/>
        </p:nvSpPr>
        <p:spPr>
          <a:xfrm>
            <a:off x="1905277" y="4598643"/>
            <a:ext cx="2221821"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rPr>
              <a:t>관련서류 검토기간</a:t>
            </a:r>
            <a:endParaRPr lang="en-US" altLang="ko-KR" sz="1200" dirty="0">
              <a:solidFill>
                <a:srgbClr val="FF0000"/>
              </a:solidFill>
            </a:endParaRPr>
          </a:p>
        </p:txBody>
      </p:sp>
      <p:sp>
        <p:nvSpPr>
          <p:cNvPr id="6" name="TextBox 5">
            <a:extLst>
              <a:ext uri="{FF2B5EF4-FFF2-40B4-BE49-F238E27FC236}">
                <a16:creationId xmlns:a16="http://schemas.microsoft.com/office/drawing/2014/main" id="{D0948206-87FC-4DD3-509A-4229BBE0911B}"/>
              </a:ext>
            </a:extLst>
          </p:cNvPr>
          <p:cNvSpPr txBox="1"/>
          <p:nvPr/>
        </p:nvSpPr>
        <p:spPr>
          <a:xfrm>
            <a:off x="352530" y="1856590"/>
            <a:ext cx="1084342" cy="307777"/>
          </a:xfrm>
          <a:prstGeom prst="rect">
            <a:avLst/>
          </a:prstGeom>
          <a:solidFill>
            <a:schemeClr val="tx2">
              <a:lumMod val="20000"/>
              <a:lumOff val="80000"/>
            </a:schemeClr>
          </a:solidFill>
          <a:ln>
            <a:solidFill>
              <a:schemeClr val="bg1">
                <a:lumMod val="50000"/>
              </a:schemeClr>
            </a:solidFill>
          </a:ln>
        </p:spPr>
        <p:txBody>
          <a:bodyPr wrap="square" rtlCol="0">
            <a:spAutoFit/>
          </a:bodyPr>
          <a:lstStyle/>
          <a:p>
            <a:pPr algn="ctr"/>
            <a:r>
              <a:rPr lang="ko-KR" altLang="en-US" sz="1400" dirty="0"/>
              <a:t>시험기간</a:t>
            </a:r>
          </a:p>
        </p:txBody>
      </p:sp>
      <p:sp>
        <p:nvSpPr>
          <p:cNvPr id="9" name="TextBox 8">
            <a:extLst>
              <a:ext uri="{FF2B5EF4-FFF2-40B4-BE49-F238E27FC236}">
                <a16:creationId xmlns:a16="http://schemas.microsoft.com/office/drawing/2014/main" id="{AD704590-D319-55B8-770A-902F3281AFA2}"/>
              </a:ext>
            </a:extLst>
          </p:cNvPr>
          <p:cNvSpPr txBox="1"/>
          <p:nvPr/>
        </p:nvSpPr>
        <p:spPr>
          <a:xfrm>
            <a:off x="1943658" y="1856590"/>
            <a:ext cx="1532863" cy="307777"/>
          </a:xfrm>
          <a:prstGeom prst="rect">
            <a:avLst/>
          </a:prstGeom>
          <a:solidFill>
            <a:schemeClr val="tx2">
              <a:lumMod val="20000"/>
              <a:lumOff val="80000"/>
            </a:schemeClr>
          </a:solidFill>
          <a:ln>
            <a:solidFill>
              <a:schemeClr val="bg1">
                <a:lumMod val="50000"/>
              </a:schemeClr>
            </a:solidFill>
          </a:ln>
        </p:spPr>
        <p:txBody>
          <a:bodyPr wrap="square" rtlCol="0">
            <a:spAutoFit/>
          </a:bodyPr>
          <a:lstStyle/>
          <a:p>
            <a:pPr algn="ctr"/>
            <a:r>
              <a:rPr lang="ko-KR" altLang="en-US" sz="1400" dirty="0"/>
              <a:t>관련서류 검토기간</a:t>
            </a:r>
          </a:p>
        </p:txBody>
      </p:sp>
      <p:sp>
        <p:nvSpPr>
          <p:cNvPr id="10" name="더하기 기호 9">
            <a:extLst>
              <a:ext uri="{FF2B5EF4-FFF2-40B4-BE49-F238E27FC236}">
                <a16:creationId xmlns:a16="http://schemas.microsoft.com/office/drawing/2014/main" id="{616180E3-6A20-C457-BD75-5B3661D421A5}"/>
              </a:ext>
            </a:extLst>
          </p:cNvPr>
          <p:cNvSpPr/>
          <p:nvPr/>
        </p:nvSpPr>
        <p:spPr>
          <a:xfrm>
            <a:off x="1535147" y="1856590"/>
            <a:ext cx="325181" cy="286734"/>
          </a:xfrm>
          <a:prstGeom prst="mathPlus">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4" name="TextBox 13">
            <a:extLst>
              <a:ext uri="{FF2B5EF4-FFF2-40B4-BE49-F238E27FC236}">
                <a16:creationId xmlns:a16="http://schemas.microsoft.com/office/drawing/2014/main" id="{0C5FC57A-FEFC-AC0C-871F-EEC5DB43FA07}"/>
              </a:ext>
            </a:extLst>
          </p:cNvPr>
          <p:cNvSpPr txBox="1"/>
          <p:nvPr/>
        </p:nvSpPr>
        <p:spPr>
          <a:xfrm>
            <a:off x="3892020" y="1856590"/>
            <a:ext cx="2053471" cy="307777"/>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pPr algn="ctr"/>
            <a:r>
              <a:rPr lang="ko-KR" altLang="en-US" sz="1400" dirty="0" err="1"/>
              <a:t>책임있는</a:t>
            </a:r>
            <a:r>
              <a:rPr lang="ko-KR" altLang="en-US" sz="1400" dirty="0"/>
              <a:t> 사유로 소요기간</a:t>
            </a:r>
          </a:p>
        </p:txBody>
      </p:sp>
      <p:sp>
        <p:nvSpPr>
          <p:cNvPr id="15" name="빼기 기호 14">
            <a:extLst>
              <a:ext uri="{FF2B5EF4-FFF2-40B4-BE49-F238E27FC236}">
                <a16:creationId xmlns:a16="http://schemas.microsoft.com/office/drawing/2014/main" id="{B2BAAA45-38ED-B4B2-67CB-A87051DF0F7D}"/>
              </a:ext>
            </a:extLst>
          </p:cNvPr>
          <p:cNvSpPr/>
          <p:nvPr/>
        </p:nvSpPr>
        <p:spPr>
          <a:xfrm>
            <a:off x="3542613" y="1857680"/>
            <a:ext cx="278443" cy="288757"/>
          </a:xfrm>
          <a:prstGeom prst="mathMinus">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TextBox 6">
            <a:extLst>
              <a:ext uri="{FF2B5EF4-FFF2-40B4-BE49-F238E27FC236}">
                <a16:creationId xmlns:a16="http://schemas.microsoft.com/office/drawing/2014/main" id="{C16E54E8-1C79-8595-83F6-5BA64DE4FDB7}"/>
              </a:ext>
            </a:extLst>
          </p:cNvPr>
          <p:cNvSpPr txBox="1"/>
          <p:nvPr/>
        </p:nvSpPr>
        <p:spPr>
          <a:xfrm>
            <a:off x="294986" y="1582971"/>
            <a:ext cx="3999643" cy="276999"/>
          </a:xfrm>
          <a:prstGeom prst="rect">
            <a:avLst/>
          </a:prstGeom>
          <a:noFill/>
        </p:spPr>
        <p:txBody>
          <a:bodyPr wrap="square" rtlCol="0">
            <a:spAutoFit/>
          </a:bodyPr>
          <a:lstStyle/>
          <a:p>
            <a:r>
              <a:rPr lang="ko-KR" altLang="en-US" sz="1200" dirty="0"/>
              <a:t>설정등록일 이후의 기간 中</a:t>
            </a:r>
          </a:p>
        </p:txBody>
      </p:sp>
      <p:sp>
        <p:nvSpPr>
          <p:cNvPr id="18" name="직사각형 17">
            <a:extLst>
              <a:ext uri="{FF2B5EF4-FFF2-40B4-BE49-F238E27FC236}">
                <a16:creationId xmlns:a16="http://schemas.microsoft.com/office/drawing/2014/main" id="{9D4D0B13-9B98-9B6D-02AA-6EB018A4A822}"/>
              </a:ext>
            </a:extLst>
          </p:cNvPr>
          <p:cNvSpPr/>
          <p:nvPr/>
        </p:nvSpPr>
        <p:spPr>
          <a:xfrm>
            <a:off x="964804" y="1047399"/>
            <a:ext cx="2136984" cy="305097"/>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직사각형 19">
            <a:extLst>
              <a:ext uri="{FF2B5EF4-FFF2-40B4-BE49-F238E27FC236}">
                <a16:creationId xmlns:a16="http://schemas.microsoft.com/office/drawing/2014/main" id="{89A0A671-C6C6-A822-74D5-A28855AD610B}"/>
              </a:ext>
            </a:extLst>
          </p:cNvPr>
          <p:cNvSpPr/>
          <p:nvPr/>
        </p:nvSpPr>
        <p:spPr>
          <a:xfrm>
            <a:off x="272838" y="1582971"/>
            <a:ext cx="5769372" cy="657353"/>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3" name="연결선: 꺾임 22">
            <a:extLst>
              <a:ext uri="{FF2B5EF4-FFF2-40B4-BE49-F238E27FC236}">
                <a16:creationId xmlns:a16="http://schemas.microsoft.com/office/drawing/2014/main" id="{35D09377-5A1D-2774-288C-9DF35C1F623A}"/>
              </a:ext>
            </a:extLst>
          </p:cNvPr>
          <p:cNvCxnSpPr>
            <a:stCxn id="18" idx="2"/>
            <a:endCxn id="20" idx="0"/>
          </p:cNvCxnSpPr>
          <p:nvPr/>
        </p:nvCxnSpPr>
        <p:spPr>
          <a:xfrm rot="16200000" flipH="1">
            <a:off x="2480173" y="905619"/>
            <a:ext cx="230475" cy="1124228"/>
          </a:xfrm>
          <a:prstGeom prst="bentConnector3">
            <a:avLst/>
          </a:prstGeom>
          <a:ln w="28575">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1" name="직사각형 20">
            <a:extLst>
              <a:ext uri="{FF2B5EF4-FFF2-40B4-BE49-F238E27FC236}">
                <a16:creationId xmlns:a16="http://schemas.microsoft.com/office/drawing/2014/main" id="{F17CF88D-5CC4-C240-B320-B48CC56BF5A8}"/>
              </a:ext>
            </a:extLst>
          </p:cNvPr>
          <p:cNvSpPr/>
          <p:nvPr/>
        </p:nvSpPr>
        <p:spPr>
          <a:xfrm>
            <a:off x="4127098" y="1047399"/>
            <a:ext cx="2826152" cy="305097"/>
          </a:xfrm>
          <a:prstGeom prst="rect">
            <a:avLst/>
          </a:prstGeom>
          <a:noFill/>
          <a:ln w="38100">
            <a:solidFill>
              <a:schemeClr val="accent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직사각형 25">
            <a:extLst>
              <a:ext uri="{FF2B5EF4-FFF2-40B4-BE49-F238E27FC236}">
                <a16:creationId xmlns:a16="http://schemas.microsoft.com/office/drawing/2014/main" id="{5D64733E-A403-FBBF-B33B-12CE5F2E22BD}"/>
              </a:ext>
            </a:extLst>
          </p:cNvPr>
          <p:cNvSpPr/>
          <p:nvPr/>
        </p:nvSpPr>
        <p:spPr>
          <a:xfrm>
            <a:off x="6182847" y="1582971"/>
            <a:ext cx="5769372" cy="4969268"/>
          </a:xfrm>
          <a:prstGeom prst="rect">
            <a:avLst/>
          </a:prstGeom>
          <a:noFill/>
          <a:ln w="127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cxnSp>
        <p:nvCxnSpPr>
          <p:cNvPr id="29" name="연결선: 꺾임 28">
            <a:extLst>
              <a:ext uri="{FF2B5EF4-FFF2-40B4-BE49-F238E27FC236}">
                <a16:creationId xmlns:a16="http://schemas.microsoft.com/office/drawing/2014/main" id="{94BC97E5-E67B-8EC4-35F8-C6FF43EB6F65}"/>
              </a:ext>
            </a:extLst>
          </p:cNvPr>
          <p:cNvCxnSpPr>
            <a:cxnSpLocks/>
            <a:stCxn id="21" idx="2"/>
            <a:endCxn id="26" idx="0"/>
          </p:cNvCxnSpPr>
          <p:nvPr/>
        </p:nvCxnSpPr>
        <p:spPr>
          <a:xfrm rot="16200000" flipH="1">
            <a:off x="7188616" y="-295947"/>
            <a:ext cx="230475" cy="3527359"/>
          </a:xfrm>
          <a:prstGeom prst="bentConnector3">
            <a:avLst/>
          </a:prstGeom>
          <a:ln w="28575">
            <a:solidFill>
              <a:schemeClr val="tx2"/>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0" name="직사각형 29">
            <a:extLst>
              <a:ext uri="{FF2B5EF4-FFF2-40B4-BE49-F238E27FC236}">
                <a16:creationId xmlns:a16="http://schemas.microsoft.com/office/drawing/2014/main" id="{3F96A3EC-5EDA-E375-7CBE-A64C84BFC539}"/>
              </a:ext>
            </a:extLst>
          </p:cNvPr>
          <p:cNvSpPr/>
          <p:nvPr/>
        </p:nvSpPr>
        <p:spPr>
          <a:xfrm>
            <a:off x="6496372" y="2820287"/>
            <a:ext cx="4626196" cy="301035"/>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2" name="TextBox 31">
            <a:extLst>
              <a:ext uri="{FF2B5EF4-FFF2-40B4-BE49-F238E27FC236}">
                <a16:creationId xmlns:a16="http://schemas.microsoft.com/office/drawing/2014/main" id="{483F6969-CB69-875F-B722-BF8B79B451B4}"/>
              </a:ext>
            </a:extLst>
          </p:cNvPr>
          <p:cNvSpPr txBox="1"/>
          <p:nvPr/>
        </p:nvSpPr>
        <p:spPr>
          <a:xfrm>
            <a:off x="6180384" y="2180121"/>
            <a:ext cx="678391" cy="523220"/>
          </a:xfrm>
          <a:prstGeom prst="rect">
            <a:avLst/>
          </a:prstGeom>
          <a:noFill/>
        </p:spPr>
        <p:txBody>
          <a:bodyPr wrap="none" rtlCol="0">
            <a:spAutoFit/>
          </a:bodyPr>
          <a:lstStyle/>
          <a:p>
            <a:pPr algn="ctr"/>
            <a:r>
              <a:rPr lang="ko-KR" altLang="en-US" sz="1000" dirty="0"/>
              <a:t>특허출원</a:t>
            </a:r>
            <a:endParaRPr lang="en-US" altLang="ko-KR" sz="1000" dirty="0"/>
          </a:p>
          <a:p>
            <a:pPr algn="ctr"/>
            <a:r>
              <a:rPr lang="en-US" altLang="ko-KR" sz="800" dirty="0"/>
              <a:t>(</a:t>
            </a:r>
            <a:r>
              <a:rPr lang="ko-KR" altLang="en-US" sz="800" dirty="0"/>
              <a:t>심사청구</a:t>
            </a:r>
            <a:r>
              <a:rPr lang="en-US" altLang="ko-KR" sz="800" dirty="0"/>
              <a:t>)</a:t>
            </a:r>
          </a:p>
          <a:p>
            <a:pPr algn="ctr"/>
            <a:r>
              <a:rPr lang="en-US" altLang="ko-KR" sz="1000" dirty="0"/>
              <a:t>2020.1.1</a:t>
            </a:r>
            <a:endParaRPr lang="ko-KR" altLang="en-US" sz="1000" dirty="0"/>
          </a:p>
        </p:txBody>
      </p:sp>
      <p:sp>
        <p:nvSpPr>
          <p:cNvPr id="39" name="TextBox 38">
            <a:extLst>
              <a:ext uri="{FF2B5EF4-FFF2-40B4-BE49-F238E27FC236}">
                <a16:creationId xmlns:a16="http://schemas.microsoft.com/office/drawing/2014/main" id="{11CF25E0-190A-2756-BB40-F2AF7FFF18A9}"/>
              </a:ext>
            </a:extLst>
          </p:cNvPr>
          <p:cNvSpPr txBox="1"/>
          <p:nvPr/>
        </p:nvSpPr>
        <p:spPr>
          <a:xfrm>
            <a:off x="7005072" y="2246796"/>
            <a:ext cx="678391" cy="400110"/>
          </a:xfrm>
          <a:prstGeom prst="rect">
            <a:avLst/>
          </a:prstGeom>
          <a:noFill/>
        </p:spPr>
        <p:txBody>
          <a:bodyPr wrap="none" rtlCol="0">
            <a:spAutoFit/>
          </a:bodyPr>
          <a:lstStyle/>
          <a:p>
            <a:pPr algn="ctr"/>
            <a:r>
              <a:rPr lang="ko-KR" altLang="en-US" sz="1000" dirty="0"/>
              <a:t>설정등록</a:t>
            </a:r>
            <a:endParaRPr lang="en-US" altLang="ko-KR" sz="1000" dirty="0"/>
          </a:p>
          <a:p>
            <a:pPr algn="ctr"/>
            <a:r>
              <a:rPr lang="en-US" altLang="ko-KR" sz="1000" dirty="0"/>
              <a:t>2024.1.1</a:t>
            </a:r>
            <a:endParaRPr lang="ko-KR" altLang="en-US" sz="1000" dirty="0"/>
          </a:p>
        </p:txBody>
      </p:sp>
      <p:sp>
        <p:nvSpPr>
          <p:cNvPr id="43" name="TextBox 42">
            <a:extLst>
              <a:ext uri="{FF2B5EF4-FFF2-40B4-BE49-F238E27FC236}">
                <a16:creationId xmlns:a16="http://schemas.microsoft.com/office/drawing/2014/main" id="{93B7E46E-616C-585B-ACC5-65A217BB8870}"/>
              </a:ext>
            </a:extLst>
          </p:cNvPr>
          <p:cNvSpPr txBox="1"/>
          <p:nvPr/>
        </p:nvSpPr>
        <p:spPr>
          <a:xfrm>
            <a:off x="8599375" y="2228685"/>
            <a:ext cx="761747" cy="400110"/>
          </a:xfrm>
          <a:prstGeom prst="rect">
            <a:avLst/>
          </a:prstGeom>
          <a:noFill/>
        </p:spPr>
        <p:txBody>
          <a:bodyPr wrap="none" rtlCol="0">
            <a:spAutoFit/>
          </a:bodyPr>
          <a:lstStyle/>
          <a:p>
            <a:pPr algn="ctr"/>
            <a:r>
              <a:rPr lang="ko-KR" altLang="en-US" sz="1000" dirty="0" err="1"/>
              <a:t>식약처허가</a:t>
            </a:r>
            <a:endParaRPr lang="en-US" altLang="ko-KR" sz="1000" dirty="0"/>
          </a:p>
          <a:p>
            <a:pPr algn="ctr"/>
            <a:r>
              <a:rPr lang="en-US" altLang="ko-KR" sz="1000" dirty="0"/>
              <a:t>2030.1.1</a:t>
            </a:r>
            <a:endParaRPr lang="ko-KR" altLang="en-US" sz="1000" dirty="0"/>
          </a:p>
        </p:txBody>
      </p:sp>
      <p:cxnSp>
        <p:nvCxnSpPr>
          <p:cNvPr id="44" name="직선 연결선 43">
            <a:extLst>
              <a:ext uri="{FF2B5EF4-FFF2-40B4-BE49-F238E27FC236}">
                <a16:creationId xmlns:a16="http://schemas.microsoft.com/office/drawing/2014/main" id="{FF263162-DC68-1CBF-8102-86D3131A0409}"/>
              </a:ext>
            </a:extLst>
          </p:cNvPr>
          <p:cNvCxnSpPr>
            <a:cxnSpLocks/>
          </p:cNvCxnSpPr>
          <p:nvPr/>
        </p:nvCxnSpPr>
        <p:spPr>
          <a:xfrm flipV="1">
            <a:off x="8915362" y="2646680"/>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9A1494F6-0E3A-D5FE-F197-95CF57169266}"/>
              </a:ext>
            </a:extLst>
          </p:cNvPr>
          <p:cNvCxnSpPr>
            <a:cxnSpLocks/>
          </p:cNvCxnSpPr>
          <p:nvPr/>
        </p:nvCxnSpPr>
        <p:spPr>
          <a:xfrm flipV="1">
            <a:off x="7336263" y="2646680"/>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57" name="직선 연결선 56">
            <a:extLst>
              <a:ext uri="{FF2B5EF4-FFF2-40B4-BE49-F238E27FC236}">
                <a16:creationId xmlns:a16="http://schemas.microsoft.com/office/drawing/2014/main" id="{C9C70611-DE57-C8B9-A386-F809D2571092}"/>
              </a:ext>
            </a:extLst>
          </p:cNvPr>
          <p:cNvCxnSpPr>
            <a:cxnSpLocks/>
          </p:cNvCxnSpPr>
          <p:nvPr/>
        </p:nvCxnSpPr>
        <p:spPr>
          <a:xfrm flipV="1">
            <a:off x="6502542" y="2646680"/>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4850512E-CE4A-80F8-4F40-8E071DBEC436}"/>
              </a:ext>
            </a:extLst>
          </p:cNvPr>
          <p:cNvSpPr txBox="1"/>
          <p:nvPr/>
        </p:nvSpPr>
        <p:spPr>
          <a:xfrm>
            <a:off x="9643782" y="2228685"/>
            <a:ext cx="912429" cy="400110"/>
          </a:xfrm>
          <a:prstGeom prst="rect">
            <a:avLst/>
          </a:prstGeom>
          <a:noFill/>
        </p:spPr>
        <p:txBody>
          <a:bodyPr wrap="none" rtlCol="0">
            <a:spAutoFit/>
          </a:bodyPr>
          <a:lstStyle/>
          <a:p>
            <a:pPr algn="ctr"/>
            <a:r>
              <a:rPr lang="ko-KR" altLang="en-US" sz="1000" dirty="0"/>
              <a:t>연장전 만료일</a:t>
            </a:r>
            <a:endParaRPr lang="en-US" altLang="ko-KR" sz="1000" dirty="0"/>
          </a:p>
          <a:p>
            <a:pPr algn="ctr"/>
            <a:r>
              <a:rPr lang="en-US" altLang="ko-KR" sz="1000" dirty="0"/>
              <a:t>2040.1.1</a:t>
            </a:r>
            <a:endParaRPr lang="ko-KR" altLang="en-US" sz="1000" dirty="0"/>
          </a:p>
        </p:txBody>
      </p:sp>
      <p:cxnSp>
        <p:nvCxnSpPr>
          <p:cNvPr id="59" name="직선 연결선 58">
            <a:extLst>
              <a:ext uri="{FF2B5EF4-FFF2-40B4-BE49-F238E27FC236}">
                <a16:creationId xmlns:a16="http://schemas.microsoft.com/office/drawing/2014/main" id="{08CB0DB6-2DDD-0E66-0A70-0E7B9A388F9C}"/>
              </a:ext>
            </a:extLst>
          </p:cNvPr>
          <p:cNvCxnSpPr>
            <a:cxnSpLocks/>
          </p:cNvCxnSpPr>
          <p:nvPr/>
        </p:nvCxnSpPr>
        <p:spPr>
          <a:xfrm flipV="1">
            <a:off x="10083594" y="2646680"/>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8870AFDD-4732-5176-100A-7336701E68BC}"/>
              </a:ext>
            </a:extLst>
          </p:cNvPr>
          <p:cNvSpPr txBox="1"/>
          <p:nvPr/>
        </p:nvSpPr>
        <p:spPr>
          <a:xfrm>
            <a:off x="10623501" y="2228685"/>
            <a:ext cx="1027846" cy="400110"/>
          </a:xfrm>
          <a:prstGeom prst="rect">
            <a:avLst/>
          </a:prstGeom>
          <a:noFill/>
        </p:spPr>
        <p:txBody>
          <a:bodyPr wrap="none" rtlCol="0">
            <a:spAutoFit/>
          </a:bodyPr>
          <a:lstStyle/>
          <a:p>
            <a:pPr algn="ctr"/>
            <a:r>
              <a:rPr lang="ko-KR" altLang="en-US" sz="1000" dirty="0">
                <a:solidFill>
                  <a:srgbClr val="FF0000"/>
                </a:solidFill>
              </a:rPr>
              <a:t>존속기간 만료일</a:t>
            </a:r>
            <a:endParaRPr lang="en-US" altLang="ko-KR" sz="1000" dirty="0">
              <a:solidFill>
                <a:srgbClr val="FF0000"/>
              </a:solidFill>
            </a:endParaRPr>
          </a:p>
          <a:p>
            <a:pPr algn="ctr"/>
            <a:r>
              <a:rPr lang="en-US" altLang="ko-KR" sz="1000" dirty="0">
                <a:solidFill>
                  <a:srgbClr val="FF0000"/>
                </a:solidFill>
              </a:rPr>
              <a:t>2044.1.1</a:t>
            </a:r>
            <a:endParaRPr lang="ko-KR" altLang="en-US" sz="1000" dirty="0">
              <a:solidFill>
                <a:srgbClr val="FF0000"/>
              </a:solidFill>
            </a:endParaRPr>
          </a:p>
        </p:txBody>
      </p:sp>
      <p:sp>
        <p:nvSpPr>
          <p:cNvPr id="66" name="직사각형 65">
            <a:extLst>
              <a:ext uri="{FF2B5EF4-FFF2-40B4-BE49-F238E27FC236}">
                <a16:creationId xmlns:a16="http://schemas.microsoft.com/office/drawing/2014/main" id="{89775AC3-FE75-F3B2-31D7-F7FCE8977A55}"/>
              </a:ext>
            </a:extLst>
          </p:cNvPr>
          <p:cNvSpPr/>
          <p:nvPr/>
        </p:nvSpPr>
        <p:spPr>
          <a:xfrm>
            <a:off x="7882555" y="2820287"/>
            <a:ext cx="1030264" cy="301035"/>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000" dirty="0"/>
              <a:t>4</a:t>
            </a:r>
            <a:r>
              <a:rPr lang="ko-KR" altLang="en-US" sz="1000" dirty="0"/>
              <a:t>년</a:t>
            </a:r>
          </a:p>
        </p:txBody>
      </p:sp>
      <p:sp>
        <p:nvSpPr>
          <p:cNvPr id="67" name="직사각형 66">
            <a:extLst>
              <a:ext uri="{FF2B5EF4-FFF2-40B4-BE49-F238E27FC236}">
                <a16:creationId xmlns:a16="http://schemas.microsoft.com/office/drawing/2014/main" id="{7F7A035D-9815-2B29-FE7A-AF944E09C5A4}"/>
              </a:ext>
            </a:extLst>
          </p:cNvPr>
          <p:cNvSpPr/>
          <p:nvPr/>
        </p:nvSpPr>
        <p:spPr>
          <a:xfrm>
            <a:off x="10092303" y="2820287"/>
            <a:ext cx="1030264" cy="301035"/>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000" dirty="0"/>
              <a:t>4</a:t>
            </a:r>
            <a:r>
              <a:rPr lang="ko-KR" altLang="en-US" sz="1000" dirty="0"/>
              <a:t>년</a:t>
            </a:r>
          </a:p>
        </p:txBody>
      </p:sp>
      <p:cxnSp>
        <p:nvCxnSpPr>
          <p:cNvPr id="65" name="직선 연결선 64">
            <a:extLst>
              <a:ext uri="{FF2B5EF4-FFF2-40B4-BE49-F238E27FC236}">
                <a16:creationId xmlns:a16="http://schemas.microsoft.com/office/drawing/2014/main" id="{7EAF6B53-2B00-CCA3-C95D-53AD636ACEB7}"/>
              </a:ext>
            </a:extLst>
          </p:cNvPr>
          <p:cNvCxnSpPr>
            <a:cxnSpLocks/>
          </p:cNvCxnSpPr>
          <p:nvPr/>
        </p:nvCxnSpPr>
        <p:spPr>
          <a:xfrm flipV="1">
            <a:off x="11121021" y="2646680"/>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69" name="직선 연결선 68">
            <a:extLst>
              <a:ext uri="{FF2B5EF4-FFF2-40B4-BE49-F238E27FC236}">
                <a16:creationId xmlns:a16="http://schemas.microsoft.com/office/drawing/2014/main" id="{B8246CAA-10BC-5BBF-B5FC-80E510D58764}"/>
              </a:ext>
            </a:extLst>
          </p:cNvPr>
          <p:cNvCxnSpPr/>
          <p:nvPr/>
        </p:nvCxnSpPr>
        <p:spPr>
          <a:xfrm>
            <a:off x="8912819" y="2743746"/>
            <a:ext cx="2208202" cy="0"/>
          </a:xfrm>
          <a:prstGeom prst="line">
            <a:avLst/>
          </a:prstGeom>
          <a:ln w="19050">
            <a:solidFill>
              <a:srgbClr val="FF0000"/>
            </a:solidFill>
            <a:prstDash val="sysDot"/>
            <a:headEnd type="arrow" w="sm" len="sm"/>
            <a:tailEnd type="arrow" w="sm" len="sm"/>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1494FB22-A433-FEA9-84B9-5413234589A2}"/>
              </a:ext>
            </a:extLst>
          </p:cNvPr>
          <p:cNvSpPr txBox="1"/>
          <p:nvPr/>
        </p:nvSpPr>
        <p:spPr>
          <a:xfrm>
            <a:off x="9490855" y="2572565"/>
            <a:ext cx="441147" cy="246221"/>
          </a:xfrm>
          <a:prstGeom prst="rect">
            <a:avLst/>
          </a:prstGeom>
          <a:solidFill>
            <a:schemeClr val="bg1"/>
          </a:solidFill>
        </p:spPr>
        <p:txBody>
          <a:bodyPr wrap="none" rtlCol="0">
            <a:spAutoFit/>
          </a:bodyPr>
          <a:lstStyle/>
          <a:p>
            <a:pPr algn="ctr"/>
            <a:r>
              <a:rPr lang="en-US" altLang="ko-KR" sz="1000" dirty="0"/>
              <a:t>14</a:t>
            </a:r>
            <a:r>
              <a:rPr lang="ko-KR" altLang="en-US" sz="1000" dirty="0"/>
              <a:t>년</a:t>
            </a:r>
          </a:p>
        </p:txBody>
      </p:sp>
      <p:sp>
        <p:nvSpPr>
          <p:cNvPr id="71" name="사각형: 둥근 모서리 70">
            <a:extLst>
              <a:ext uri="{FF2B5EF4-FFF2-40B4-BE49-F238E27FC236}">
                <a16:creationId xmlns:a16="http://schemas.microsoft.com/office/drawing/2014/main" id="{E10F21B1-B172-DC3D-BE16-B1E31C5B0DF8}"/>
              </a:ext>
            </a:extLst>
          </p:cNvPr>
          <p:cNvSpPr/>
          <p:nvPr/>
        </p:nvSpPr>
        <p:spPr>
          <a:xfrm>
            <a:off x="6306267" y="1817362"/>
            <a:ext cx="302884" cy="286734"/>
          </a:xfrm>
          <a:prstGeom prst="roundRect">
            <a:avLst/>
          </a:prstGeom>
          <a:solidFill>
            <a:schemeClr val="accent5"/>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t>1</a:t>
            </a:r>
            <a:endParaRPr lang="ko-KR" altLang="en-US" sz="1100" dirty="0"/>
          </a:p>
        </p:txBody>
      </p:sp>
      <p:sp>
        <p:nvSpPr>
          <p:cNvPr id="72" name="TextBox 71">
            <a:extLst>
              <a:ext uri="{FF2B5EF4-FFF2-40B4-BE49-F238E27FC236}">
                <a16:creationId xmlns:a16="http://schemas.microsoft.com/office/drawing/2014/main" id="{CAC13DD8-D7DA-A6D7-24DC-4F4D74D42662}"/>
              </a:ext>
            </a:extLst>
          </p:cNvPr>
          <p:cNvSpPr txBox="1"/>
          <p:nvPr/>
        </p:nvSpPr>
        <p:spPr>
          <a:xfrm>
            <a:off x="6659252" y="1846453"/>
            <a:ext cx="2127505" cy="246221"/>
          </a:xfrm>
          <a:prstGeom prst="rect">
            <a:avLst/>
          </a:prstGeom>
          <a:noFill/>
        </p:spPr>
        <p:txBody>
          <a:bodyPr wrap="none" rtlCol="0">
            <a:spAutoFit/>
          </a:bodyPr>
          <a:lstStyle/>
          <a:p>
            <a:r>
              <a:rPr lang="ko-KR" altLang="en-US" sz="1000" dirty="0"/>
              <a:t>등록지연기간 없음</a:t>
            </a:r>
            <a:r>
              <a:rPr lang="en-US" altLang="ko-KR" sz="1000" dirty="0"/>
              <a:t>, </a:t>
            </a:r>
            <a:r>
              <a:rPr lang="ko-KR" altLang="en-US" sz="1000" dirty="0"/>
              <a:t>허가지연기간 </a:t>
            </a:r>
            <a:r>
              <a:rPr lang="en-US" altLang="ko-KR" sz="1000" dirty="0"/>
              <a:t>4</a:t>
            </a:r>
            <a:r>
              <a:rPr lang="ko-KR" altLang="en-US" sz="1000" dirty="0"/>
              <a:t>년</a:t>
            </a:r>
          </a:p>
        </p:txBody>
      </p:sp>
      <p:sp>
        <p:nvSpPr>
          <p:cNvPr id="73" name="직사각형 72">
            <a:extLst>
              <a:ext uri="{FF2B5EF4-FFF2-40B4-BE49-F238E27FC236}">
                <a16:creationId xmlns:a16="http://schemas.microsoft.com/office/drawing/2014/main" id="{72AFE682-D9E0-39F1-6AC4-9626478CDE3D}"/>
              </a:ext>
            </a:extLst>
          </p:cNvPr>
          <p:cNvSpPr/>
          <p:nvPr/>
        </p:nvSpPr>
        <p:spPr>
          <a:xfrm>
            <a:off x="10549503" y="1625425"/>
            <a:ext cx="463908" cy="165935"/>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000" dirty="0"/>
          </a:p>
        </p:txBody>
      </p:sp>
      <p:sp>
        <p:nvSpPr>
          <p:cNvPr id="74" name="TextBox 73">
            <a:extLst>
              <a:ext uri="{FF2B5EF4-FFF2-40B4-BE49-F238E27FC236}">
                <a16:creationId xmlns:a16="http://schemas.microsoft.com/office/drawing/2014/main" id="{F5C51FF0-6761-ECA4-868A-D99A90164679}"/>
              </a:ext>
            </a:extLst>
          </p:cNvPr>
          <p:cNvSpPr txBox="1"/>
          <p:nvPr/>
        </p:nvSpPr>
        <p:spPr>
          <a:xfrm>
            <a:off x="11013411" y="1592820"/>
            <a:ext cx="877163" cy="246221"/>
          </a:xfrm>
          <a:prstGeom prst="rect">
            <a:avLst/>
          </a:prstGeom>
          <a:noFill/>
        </p:spPr>
        <p:txBody>
          <a:bodyPr wrap="none" rtlCol="0">
            <a:spAutoFit/>
          </a:bodyPr>
          <a:lstStyle/>
          <a:p>
            <a:r>
              <a:rPr lang="ko-KR" altLang="en-US" sz="1000" dirty="0"/>
              <a:t>허가지연기간</a:t>
            </a:r>
          </a:p>
        </p:txBody>
      </p:sp>
      <p:sp>
        <p:nvSpPr>
          <p:cNvPr id="75" name="직사각형 74">
            <a:extLst>
              <a:ext uri="{FF2B5EF4-FFF2-40B4-BE49-F238E27FC236}">
                <a16:creationId xmlns:a16="http://schemas.microsoft.com/office/drawing/2014/main" id="{4FAC0B25-B793-5E48-A97E-31295CDD0FB3}"/>
              </a:ext>
            </a:extLst>
          </p:cNvPr>
          <p:cNvSpPr/>
          <p:nvPr/>
        </p:nvSpPr>
        <p:spPr>
          <a:xfrm>
            <a:off x="10549503" y="1826542"/>
            <a:ext cx="463908" cy="165935"/>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000" dirty="0"/>
          </a:p>
        </p:txBody>
      </p:sp>
      <p:sp>
        <p:nvSpPr>
          <p:cNvPr id="77" name="TextBox 76">
            <a:extLst>
              <a:ext uri="{FF2B5EF4-FFF2-40B4-BE49-F238E27FC236}">
                <a16:creationId xmlns:a16="http://schemas.microsoft.com/office/drawing/2014/main" id="{F7150E5C-2567-7BCC-3F4E-162496451A4D}"/>
              </a:ext>
            </a:extLst>
          </p:cNvPr>
          <p:cNvSpPr txBox="1"/>
          <p:nvPr/>
        </p:nvSpPr>
        <p:spPr>
          <a:xfrm>
            <a:off x="11013411" y="1793937"/>
            <a:ext cx="877163" cy="246221"/>
          </a:xfrm>
          <a:prstGeom prst="rect">
            <a:avLst/>
          </a:prstGeom>
          <a:noFill/>
        </p:spPr>
        <p:txBody>
          <a:bodyPr wrap="none" rtlCol="0">
            <a:spAutoFit/>
          </a:bodyPr>
          <a:lstStyle/>
          <a:p>
            <a:r>
              <a:rPr lang="ko-KR" altLang="en-US" sz="1000" dirty="0"/>
              <a:t>등록지연기간</a:t>
            </a:r>
          </a:p>
        </p:txBody>
      </p:sp>
      <p:sp>
        <p:nvSpPr>
          <p:cNvPr id="95" name="직사각형 94">
            <a:extLst>
              <a:ext uri="{FF2B5EF4-FFF2-40B4-BE49-F238E27FC236}">
                <a16:creationId xmlns:a16="http://schemas.microsoft.com/office/drawing/2014/main" id="{1BC58878-4CDE-A0F6-7380-81B1DB3402AB}"/>
              </a:ext>
            </a:extLst>
          </p:cNvPr>
          <p:cNvSpPr/>
          <p:nvPr/>
        </p:nvSpPr>
        <p:spPr>
          <a:xfrm>
            <a:off x="6496372" y="4382107"/>
            <a:ext cx="4626196" cy="301035"/>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7" name="TextBox 96">
            <a:extLst>
              <a:ext uri="{FF2B5EF4-FFF2-40B4-BE49-F238E27FC236}">
                <a16:creationId xmlns:a16="http://schemas.microsoft.com/office/drawing/2014/main" id="{2A8EF56C-6A23-3D33-0B58-9D4E38ED8CDD}"/>
              </a:ext>
            </a:extLst>
          </p:cNvPr>
          <p:cNvSpPr txBox="1"/>
          <p:nvPr/>
        </p:nvSpPr>
        <p:spPr>
          <a:xfrm>
            <a:off x="7538472" y="3799091"/>
            <a:ext cx="678391" cy="400110"/>
          </a:xfrm>
          <a:prstGeom prst="rect">
            <a:avLst/>
          </a:prstGeom>
          <a:noFill/>
        </p:spPr>
        <p:txBody>
          <a:bodyPr wrap="none" rtlCol="0">
            <a:spAutoFit/>
          </a:bodyPr>
          <a:lstStyle/>
          <a:p>
            <a:pPr algn="ctr"/>
            <a:r>
              <a:rPr lang="ko-KR" altLang="en-US" sz="1000" dirty="0"/>
              <a:t>설정등록</a:t>
            </a:r>
            <a:endParaRPr lang="en-US" altLang="ko-KR" sz="1000" dirty="0"/>
          </a:p>
          <a:p>
            <a:pPr algn="ctr"/>
            <a:r>
              <a:rPr lang="en-US" altLang="ko-KR" sz="1000" dirty="0"/>
              <a:t>2026.1.1</a:t>
            </a:r>
            <a:endParaRPr lang="ko-KR" altLang="en-US" sz="1000" dirty="0"/>
          </a:p>
        </p:txBody>
      </p:sp>
      <p:sp>
        <p:nvSpPr>
          <p:cNvPr id="98" name="TextBox 97">
            <a:extLst>
              <a:ext uri="{FF2B5EF4-FFF2-40B4-BE49-F238E27FC236}">
                <a16:creationId xmlns:a16="http://schemas.microsoft.com/office/drawing/2014/main" id="{8F6D7590-BE95-A50A-AE8F-F4C02D9EBE3C}"/>
              </a:ext>
            </a:extLst>
          </p:cNvPr>
          <p:cNvSpPr txBox="1"/>
          <p:nvPr/>
        </p:nvSpPr>
        <p:spPr>
          <a:xfrm>
            <a:off x="8599375" y="3790505"/>
            <a:ext cx="761747" cy="400110"/>
          </a:xfrm>
          <a:prstGeom prst="rect">
            <a:avLst/>
          </a:prstGeom>
          <a:noFill/>
        </p:spPr>
        <p:txBody>
          <a:bodyPr wrap="none" rtlCol="0">
            <a:spAutoFit/>
          </a:bodyPr>
          <a:lstStyle/>
          <a:p>
            <a:pPr algn="ctr"/>
            <a:r>
              <a:rPr lang="ko-KR" altLang="en-US" sz="1000" dirty="0" err="1"/>
              <a:t>식약처허가</a:t>
            </a:r>
            <a:endParaRPr lang="en-US" altLang="ko-KR" sz="1000" dirty="0"/>
          </a:p>
          <a:p>
            <a:pPr algn="ctr"/>
            <a:r>
              <a:rPr lang="en-US" altLang="ko-KR" sz="1000" dirty="0"/>
              <a:t>2030.1.1</a:t>
            </a:r>
            <a:endParaRPr lang="ko-KR" altLang="en-US" sz="1000" dirty="0"/>
          </a:p>
        </p:txBody>
      </p:sp>
      <p:cxnSp>
        <p:nvCxnSpPr>
          <p:cNvPr id="99" name="직선 연결선 98">
            <a:extLst>
              <a:ext uri="{FF2B5EF4-FFF2-40B4-BE49-F238E27FC236}">
                <a16:creationId xmlns:a16="http://schemas.microsoft.com/office/drawing/2014/main" id="{D926508A-27A4-7AE5-052F-A6C2219897C4}"/>
              </a:ext>
            </a:extLst>
          </p:cNvPr>
          <p:cNvCxnSpPr>
            <a:cxnSpLocks/>
          </p:cNvCxnSpPr>
          <p:nvPr/>
        </p:nvCxnSpPr>
        <p:spPr>
          <a:xfrm flipV="1">
            <a:off x="8915362" y="4208500"/>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01" name="직선 연결선 100">
            <a:extLst>
              <a:ext uri="{FF2B5EF4-FFF2-40B4-BE49-F238E27FC236}">
                <a16:creationId xmlns:a16="http://schemas.microsoft.com/office/drawing/2014/main" id="{E8325023-8114-4039-5499-A0F1F60E0A5A}"/>
              </a:ext>
            </a:extLst>
          </p:cNvPr>
          <p:cNvCxnSpPr>
            <a:cxnSpLocks/>
          </p:cNvCxnSpPr>
          <p:nvPr/>
        </p:nvCxnSpPr>
        <p:spPr>
          <a:xfrm flipV="1">
            <a:off x="6502542" y="4208500"/>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E026108F-D953-5A0A-DE4B-8192539B42C4}"/>
              </a:ext>
            </a:extLst>
          </p:cNvPr>
          <p:cNvSpPr txBox="1"/>
          <p:nvPr/>
        </p:nvSpPr>
        <p:spPr>
          <a:xfrm>
            <a:off x="9643782" y="3790505"/>
            <a:ext cx="912429" cy="400110"/>
          </a:xfrm>
          <a:prstGeom prst="rect">
            <a:avLst/>
          </a:prstGeom>
          <a:noFill/>
        </p:spPr>
        <p:txBody>
          <a:bodyPr wrap="none" rtlCol="0">
            <a:spAutoFit/>
          </a:bodyPr>
          <a:lstStyle/>
          <a:p>
            <a:pPr algn="ctr"/>
            <a:r>
              <a:rPr lang="ko-KR" altLang="en-US" sz="1000" dirty="0"/>
              <a:t>연장전 만료일</a:t>
            </a:r>
            <a:endParaRPr lang="en-US" altLang="ko-KR" sz="1000" dirty="0"/>
          </a:p>
          <a:p>
            <a:pPr algn="ctr"/>
            <a:r>
              <a:rPr lang="en-US" altLang="ko-KR" sz="1000" dirty="0"/>
              <a:t>2040.1.1</a:t>
            </a:r>
            <a:endParaRPr lang="ko-KR" altLang="en-US" sz="1000" dirty="0"/>
          </a:p>
        </p:txBody>
      </p:sp>
      <p:cxnSp>
        <p:nvCxnSpPr>
          <p:cNvPr id="103" name="직선 연결선 102">
            <a:extLst>
              <a:ext uri="{FF2B5EF4-FFF2-40B4-BE49-F238E27FC236}">
                <a16:creationId xmlns:a16="http://schemas.microsoft.com/office/drawing/2014/main" id="{C5FC690B-87CB-96CB-0F2B-2EB11755D53B}"/>
              </a:ext>
            </a:extLst>
          </p:cNvPr>
          <p:cNvCxnSpPr>
            <a:cxnSpLocks/>
          </p:cNvCxnSpPr>
          <p:nvPr/>
        </p:nvCxnSpPr>
        <p:spPr>
          <a:xfrm flipV="1">
            <a:off x="10083594" y="4208500"/>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04" name="TextBox 103">
            <a:extLst>
              <a:ext uri="{FF2B5EF4-FFF2-40B4-BE49-F238E27FC236}">
                <a16:creationId xmlns:a16="http://schemas.microsoft.com/office/drawing/2014/main" id="{714C89FF-140D-F79F-B21A-32F2596CC131}"/>
              </a:ext>
            </a:extLst>
          </p:cNvPr>
          <p:cNvSpPr txBox="1"/>
          <p:nvPr/>
        </p:nvSpPr>
        <p:spPr>
          <a:xfrm>
            <a:off x="10623501" y="3790505"/>
            <a:ext cx="1027846" cy="400110"/>
          </a:xfrm>
          <a:prstGeom prst="rect">
            <a:avLst/>
          </a:prstGeom>
          <a:noFill/>
        </p:spPr>
        <p:txBody>
          <a:bodyPr wrap="none" rtlCol="0">
            <a:spAutoFit/>
          </a:bodyPr>
          <a:lstStyle/>
          <a:p>
            <a:pPr algn="ctr"/>
            <a:r>
              <a:rPr lang="ko-KR" altLang="en-US" sz="1000" dirty="0">
                <a:solidFill>
                  <a:srgbClr val="FF0000"/>
                </a:solidFill>
              </a:rPr>
              <a:t>존속기간 만료일</a:t>
            </a:r>
            <a:endParaRPr lang="en-US" altLang="ko-KR" sz="1000" dirty="0">
              <a:solidFill>
                <a:srgbClr val="FF0000"/>
              </a:solidFill>
            </a:endParaRPr>
          </a:p>
          <a:p>
            <a:pPr algn="ctr"/>
            <a:r>
              <a:rPr lang="en-US" altLang="ko-KR" sz="1000" dirty="0">
                <a:solidFill>
                  <a:srgbClr val="FF0000"/>
                </a:solidFill>
              </a:rPr>
              <a:t>2044.1.1</a:t>
            </a:r>
            <a:endParaRPr lang="ko-KR" altLang="en-US" sz="1000" dirty="0">
              <a:solidFill>
                <a:srgbClr val="FF0000"/>
              </a:solidFill>
            </a:endParaRPr>
          </a:p>
        </p:txBody>
      </p:sp>
      <p:sp>
        <p:nvSpPr>
          <p:cNvPr id="105" name="직사각형 104">
            <a:extLst>
              <a:ext uri="{FF2B5EF4-FFF2-40B4-BE49-F238E27FC236}">
                <a16:creationId xmlns:a16="http://schemas.microsoft.com/office/drawing/2014/main" id="{5B4BE569-14B5-16D2-94E3-C623DEECADD9}"/>
              </a:ext>
            </a:extLst>
          </p:cNvPr>
          <p:cNvSpPr/>
          <p:nvPr/>
        </p:nvSpPr>
        <p:spPr>
          <a:xfrm>
            <a:off x="7882555" y="4382107"/>
            <a:ext cx="1030264" cy="301035"/>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000" dirty="0"/>
              <a:t>4</a:t>
            </a:r>
            <a:r>
              <a:rPr lang="ko-KR" altLang="en-US" sz="1000" dirty="0"/>
              <a:t>년</a:t>
            </a:r>
          </a:p>
        </p:txBody>
      </p:sp>
      <p:sp>
        <p:nvSpPr>
          <p:cNvPr id="106" name="직사각형 105">
            <a:extLst>
              <a:ext uri="{FF2B5EF4-FFF2-40B4-BE49-F238E27FC236}">
                <a16:creationId xmlns:a16="http://schemas.microsoft.com/office/drawing/2014/main" id="{9E4A21B5-7FA5-DC9F-2E35-D1FB3B56FE13}"/>
              </a:ext>
            </a:extLst>
          </p:cNvPr>
          <p:cNvSpPr/>
          <p:nvPr/>
        </p:nvSpPr>
        <p:spPr>
          <a:xfrm>
            <a:off x="10623501" y="4382107"/>
            <a:ext cx="499066" cy="301035"/>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000" dirty="0"/>
              <a:t>2</a:t>
            </a:r>
            <a:r>
              <a:rPr lang="ko-KR" altLang="en-US" sz="1000" dirty="0"/>
              <a:t>년</a:t>
            </a:r>
          </a:p>
        </p:txBody>
      </p:sp>
      <p:cxnSp>
        <p:nvCxnSpPr>
          <p:cNvPr id="108" name="직선 연결선 107">
            <a:extLst>
              <a:ext uri="{FF2B5EF4-FFF2-40B4-BE49-F238E27FC236}">
                <a16:creationId xmlns:a16="http://schemas.microsoft.com/office/drawing/2014/main" id="{331DEB5D-4647-D175-0B9B-3FF4F2A3071E}"/>
              </a:ext>
            </a:extLst>
          </p:cNvPr>
          <p:cNvCxnSpPr/>
          <p:nvPr/>
        </p:nvCxnSpPr>
        <p:spPr>
          <a:xfrm>
            <a:off x="8912819" y="4305566"/>
            <a:ext cx="2208202" cy="0"/>
          </a:xfrm>
          <a:prstGeom prst="line">
            <a:avLst/>
          </a:prstGeom>
          <a:ln w="19050">
            <a:solidFill>
              <a:srgbClr val="FF0000"/>
            </a:solidFill>
            <a:prstDash val="sysDot"/>
            <a:headEnd type="arrow" w="sm" len="sm"/>
            <a:tailEnd type="arrow" w="sm" len="sm"/>
          </a:ln>
        </p:spPr>
        <p:style>
          <a:lnRef idx="1">
            <a:schemeClr val="accent1"/>
          </a:lnRef>
          <a:fillRef idx="0">
            <a:schemeClr val="accent1"/>
          </a:fillRef>
          <a:effectRef idx="0">
            <a:schemeClr val="accent1"/>
          </a:effectRef>
          <a:fontRef idx="minor">
            <a:schemeClr val="tx1"/>
          </a:fontRef>
        </p:style>
      </p:cxnSp>
      <p:sp>
        <p:nvSpPr>
          <p:cNvPr id="109" name="TextBox 108">
            <a:extLst>
              <a:ext uri="{FF2B5EF4-FFF2-40B4-BE49-F238E27FC236}">
                <a16:creationId xmlns:a16="http://schemas.microsoft.com/office/drawing/2014/main" id="{08E177A1-211A-9EB8-5E82-EE1A7C65179B}"/>
              </a:ext>
            </a:extLst>
          </p:cNvPr>
          <p:cNvSpPr txBox="1"/>
          <p:nvPr/>
        </p:nvSpPr>
        <p:spPr>
          <a:xfrm>
            <a:off x="9490855" y="4134385"/>
            <a:ext cx="441147" cy="246221"/>
          </a:xfrm>
          <a:prstGeom prst="rect">
            <a:avLst/>
          </a:prstGeom>
          <a:solidFill>
            <a:schemeClr val="bg1"/>
          </a:solidFill>
        </p:spPr>
        <p:txBody>
          <a:bodyPr wrap="none" rtlCol="0">
            <a:spAutoFit/>
          </a:bodyPr>
          <a:lstStyle/>
          <a:p>
            <a:pPr algn="ctr"/>
            <a:r>
              <a:rPr lang="en-US" altLang="ko-KR" sz="1000" dirty="0"/>
              <a:t>14</a:t>
            </a:r>
            <a:r>
              <a:rPr lang="ko-KR" altLang="en-US" sz="1000" dirty="0"/>
              <a:t>년</a:t>
            </a:r>
          </a:p>
        </p:txBody>
      </p:sp>
      <p:sp>
        <p:nvSpPr>
          <p:cNvPr id="110" name="사각형: 둥근 모서리 109">
            <a:extLst>
              <a:ext uri="{FF2B5EF4-FFF2-40B4-BE49-F238E27FC236}">
                <a16:creationId xmlns:a16="http://schemas.microsoft.com/office/drawing/2014/main" id="{3DBCFF1F-F41D-FBF6-FB5F-D1BBD66DD29F}"/>
              </a:ext>
            </a:extLst>
          </p:cNvPr>
          <p:cNvSpPr/>
          <p:nvPr/>
        </p:nvSpPr>
        <p:spPr>
          <a:xfrm>
            <a:off x="6306267" y="3379182"/>
            <a:ext cx="302884" cy="286734"/>
          </a:xfrm>
          <a:prstGeom prst="roundRect">
            <a:avLst/>
          </a:prstGeom>
          <a:solidFill>
            <a:schemeClr val="accent5"/>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t>2</a:t>
            </a:r>
            <a:endParaRPr lang="ko-KR" altLang="en-US" sz="1100" dirty="0"/>
          </a:p>
        </p:txBody>
      </p:sp>
      <p:sp>
        <p:nvSpPr>
          <p:cNvPr id="111" name="TextBox 110">
            <a:extLst>
              <a:ext uri="{FF2B5EF4-FFF2-40B4-BE49-F238E27FC236}">
                <a16:creationId xmlns:a16="http://schemas.microsoft.com/office/drawing/2014/main" id="{73399A49-0AF1-93B4-D92E-2A658B6C944E}"/>
              </a:ext>
            </a:extLst>
          </p:cNvPr>
          <p:cNvSpPr txBox="1"/>
          <p:nvPr/>
        </p:nvSpPr>
        <p:spPr>
          <a:xfrm>
            <a:off x="6659252" y="3408273"/>
            <a:ext cx="2082621" cy="246221"/>
          </a:xfrm>
          <a:prstGeom prst="rect">
            <a:avLst/>
          </a:prstGeom>
          <a:noFill/>
        </p:spPr>
        <p:txBody>
          <a:bodyPr wrap="none" rtlCol="0">
            <a:spAutoFit/>
          </a:bodyPr>
          <a:lstStyle/>
          <a:p>
            <a:r>
              <a:rPr lang="ko-KR" altLang="en-US" sz="1000" dirty="0"/>
              <a:t>등록지연기간 </a:t>
            </a:r>
            <a:r>
              <a:rPr lang="en-US" altLang="ko-KR" sz="1000" dirty="0"/>
              <a:t>2</a:t>
            </a:r>
            <a:r>
              <a:rPr lang="ko-KR" altLang="en-US" sz="1000" dirty="0"/>
              <a:t>년</a:t>
            </a:r>
            <a:r>
              <a:rPr lang="en-US" altLang="ko-KR" sz="1000" dirty="0"/>
              <a:t>, </a:t>
            </a:r>
            <a:r>
              <a:rPr lang="ko-KR" altLang="en-US" sz="1000" dirty="0"/>
              <a:t>허가지연기간 </a:t>
            </a:r>
            <a:r>
              <a:rPr lang="en-US" altLang="ko-KR" sz="1000" dirty="0"/>
              <a:t>4</a:t>
            </a:r>
            <a:r>
              <a:rPr lang="ko-KR" altLang="en-US" sz="1000" dirty="0"/>
              <a:t>년</a:t>
            </a:r>
          </a:p>
        </p:txBody>
      </p:sp>
      <p:cxnSp>
        <p:nvCxnSpPr>
          <p:cNvPr id="100" name="직선 연결선 99">
            <a:extLst>
              <a:ext uri="{FF2B5EF4-FFF2-40B4-BE49-F238E27FC236}">
                <a16:creationId xmlns:a16="http://schemas.microsoft.com/office/drawing/2014/main" id="{ECD96760-44E2-F443-5267-56FA4A5DED4E}"/>
              </a:ext>
            </a:extLst>
          </p:cNvPr>
          <p:cNvCxnSpPr>
            <a:cxnSpLocks/>
          </p:cNvCxnSpPr>
          <p:nvPr/>
        </p:nvCxnSpPr>
        <p:spPr>
          <a:xfrm flipV="1">
            <a:off x="7888713" y="4208500"/>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12" name="TextBox 111">
            <a:extLst>
              <a:ext uri="{FF2B5EF4-FFF2-40B4-BE49-F238E27FC236}">
                <a16:creationId xmlns:a16="http://schemas.microsoft.com/office/drawing/2014/main" id="{BE623934-5E3D-E5FC-2E71-A20BBF96387E}"/>
              </a:ext>
            </a:extLst>
          </p:cNvPr>
          <p:cNvSpPr txBox="1"/>
          <p:nvPr/>
        </p:nvSpPr>
        <p:spPr>
          <a:xfrm>
            <a:off x="6180384" y="3701266"/>
            <a:ext cx="678391" cy="523220"/>
          </a:xfrm>
          <a:prstGeom prst="rect">
            <a:avLst/>
          </a:prstGeom>
          <a:noFill/>
        </p:spPr>
        <p:txBody>
          <a:bodyPr wrap="none" rtlCol="0">
            <a:spAutoFit/>
          </a:bodyPr>
          <a:lstStyle/>
          <a:p>
            <a:pPr algn="ctr"/>
            <a:r>
              <a:rPr lang="ko-KR" altLang="en-US" sz="1000" dirty="0"/>
              <a:t>특허출원</a:t>
            </a:r>
            <a:endParaRPr lang="en-US" altLang="ko-KR" sz="1000" dirty="0"/>
          </a:p>
          <a:p>
            <a:pPr algn="ctr"/>
            <a:r>
              <a:rPr lang="en-US" altLang="ko-KR" sz="800" dirty="0"/>
              <a:t>(</a:t>
            </a:r>
            <a:r>
              <a:rPr lang="ko-KR" altLang="en-US" sz="800" dirty="0"/>
              <a:t>심사청구</a:t>
            </a:r>
            <a:r>
              <a:rPr lang="en-US" altLang="ko-KR" sz="800" dirty="0"/>
              <a:t>)</a:t>
            </a:r>
          </a:p>
          <a:p>
            <a:pPr algn="ctr"/>
            <a:r>
              <a:rPr lang="en-US" altLang="ko-KR" sz="1000" dirty="0"/>
              <a:t>2020.1.1</a:t>
            </a:r>
            <a:endParaRPr lang="ko-KR" altLang="en-US" sz="1000" dirty="0"/>
          </a:p>
        </p:txBody>
      </p:sp>
      <p:sp>
        <p:nvSpPr>
          <p:cNvPr id="113" name="직사각형 112">
            <a:extLst>
              <a:ext uri="{FF2B5EF4-FFF2-40B4-BE49-F238E27FC236}">
                <a16:creationId xmlns:a16="http://schemas.microsoft.com/office/drawing/2014/main" id="{F51F3B3E-B36C-C245-9FD1-ADF9FA2802E6}"/>
              </a:ext>
            </a:extLst>
          </p:cNvPr>
          <p:cNvSpPr/>
          <p:nvPr/>
        </p:nvSpPr>
        <p:spPr>
          <a:xfrm>
            <a:off x="7336263" y="4382107"/>
            <a:ext cx="537584" cy="301035"/>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000" dirty="0"/>
              <a:t>2</a:t>
            </a:r>
            <a:r>
              <a:rPr lang="ko-KR" altLang="en-US" sz="1000" dirty="0"/>
              <a:t>년</a:t>
            </a:r>
          </a:p>
        </p:txBody>
      </p:sp>
      <p:sp>
        <p:nvSpPr>
          <p:cNvPr id="114" name="직사각형 113">
            <a:extLst>
              <a:ext uri="{FF2B5EF4-FFF2-40B4-BE49-F238E27FC236}">
                <a16:creationId xmlns:a16="http://schemas.microsoft.com/office/drawing/2014/main" id="{5593D9F8-FC22-2538-6BA7-C9BBFAE6BD88}"/>
              </a:ext>
            </a:extLst>
          </p:cNvPr>
          <p:cNvSpPr/>
          <p:nvPr/>
        </p:nvSpPr>
        <p:spPr>
          <a:xfrm>
            <a:off x="10092303" y="4382107"/>
            <a:ext cx="529652" cy="301035"/>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000" dirty="0"/>
              <a:t>2</a:t>
            </a:r>
            <a:r>
              <a:rPr lang="ko-KR" altLang="en-US" sz="1000" dirty="0"/>
              <a:t>년</a:t>
            </a:r>
          </a:p>
        </p:txBody>
      </p:sp>
      <p:sp>
        <p:nvSpPr>
          <p:cNvPr id="115" name="직사각형 114">
            <a:extLst>
              <a:ext uri="{FF2B5EF4-FFF2-40B4-BE49-F238E27FC236}">
                <a16:creationId xmlns:a16="http://schemas.microsoft.com/office/drawing/2014/main" id="{3F583AFB-686F-6EDE-D569-CA380AF70229}"/>
              </a:ext>
            </a:extLst>
          </p:cNvPr>
          <p:cNvSpPr/>
          <p:nvPr/>
        </p:nvSpPr>
        <p:spPr>
          <a:xfrm>
            <a:off x="11138251" y="4382107"/>
            <a:ext cx="499066" cy="301035"/>
          </a:xfrm>
          <a:prstGeom prst="rect">
            <a:avLst/>
          </a:prstGeom>
          <a:solidFill>
            <a:schemeClr val="accent2">
              <a:lumMod val="20000"/>
              <a:lumOff val="80000"/>
            </a:schemeClr>
          </a:solidFill>
          <a:ln>
            <a:solidFill>
              <a:srgbClr val="FF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rgbClr val="FF0000"/>
                </a:solidFill>
              </a:rPr>
              <a:t>2</a:t>
            </a:r>
            <a:r>
              <a:rPr lang="ko-KR" altLang="en-US" sz="1000" dirty="0">
                <a:solidFill>
                  <a:srgbClr val="FF0000"/>
                </a:solidFill>
              </a:rPr>
              <a:t>년</a:t>
            </a:r>
          </a:p>
        </p:txBody>
      </p:sp>
      <p:sp>
        <p:nvSpPr>
          <p:cNvPr id="116" name="TextBox 115">
            <a:extLst>
              <a:ext uri="{FF2B5EF4-FFF2-40B4-BE49-F238E27FC236}">
                <a16:creationId xmlns:a16="http://schemas.microsoft.com/office/drawing/2014/main" id="{5D9505A0-EDCE-B903-B888-F235E54515F8}"/>
              </a:ext>
            </a:extLst>
          </p:cNvPr>
          <p:cNvSpPr txBox="1"/>
          <p:nvPr/>
        </p:nvSpPr>
        <p:spPr>
          <a:xfrm>
            <a:off x="11176709" y="4694568"/>
            <a:ext cx="415499" cy="246221"/>
          </a:xfrm>
          <a:prstGeom prst="rect">
            <a:avLst/>
          </a:prstGeom>
          <a:noFill/>
        </p:spPr>
        <p:txBody>
          <a:bodyPr wrap="none" rtlCol="0">
            <a:spAutoFit/>
          </a:bodyPr>
          <a:lstStyle/>
          <a:p>
            <a:pPr algn="ctr"/>
            <a:r>
              <a:rPr lang="ko-KR" altLang="en-US" sz="1000" dirty="0">
                <a:solidFill>
                  <a:srgbClr val="FF0000"/>
                </a:solidFill>
              </a:rPr>
              <a:t>제외</a:t>
            </a:r>
          </a:p>
        </p:txBody>
      </p:sp>
      <p:sp>
        <p:nvSpPr>
          <p:cNvPr id="117" name="직사각형 116">
            <a:extLst>
              <a:ext uri="{FF2B5EF4-FFF2-40B4-BE49-F238E27FC236}">
                <a16:creationId xmlns:a16="http://schemas.microsoft.com/office/drawing/2014/main" id="{B0C7EE0D-6F24-5C8A-7FF8-547380C6A51A}"/>
              </a:ext>
            </a:extLst>
          </p:cNvPr>
          <p:cNvSpPr/>
          <p:nvPr/>
        </p:nvSpPr>
        <p:spPr>
          <a:xfrm>
            <a:off x="6496372" y="5992113"/>
            <a:ext cx="4626196" cy="301035"/>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8" name="TextBox 117">
            <a:extLst>
              <a:ext uri="{FF2B5EF4-FFF2-40B4-BE49-F238E27FC236}">
                <a16:creationId xmlns:a16="http://schemas.microsoft.com/office/drawing/2014/main" id="{4F41A7B4-F815-F71E-0577-287B6BA2AE6F}"/>
              </a:ext>
            </a:extLst>
          </p:cNvPr>
          <p:cNvSpPr txBox="1"/>
          <p:nvPr/>
        </p:nvSpPr>
        <p:spPr>
          <a:xfrm>
            <a:off x="8062347" y="5399572"/>
            <a:ext cx="678391" cy="400110"/>
          </a:xfrm>
          <a:prstGeom prst="rect">
            <a:avLst/>
          </a:prstGeom>
          <a:noFill/>
        </p:spPr>
        <p:txBody>
          <a:bodyPr wrap="none" rtlCol="0">
            <a:spAutoFit/>
          </a:bodyPr>
          <a:lstStyle/>
          <a:p>
            <a:pPr algn="ctr"/>
            <a:r>
              <a:rPr lang="ko-KR" altLang="en-US" sz="1000" dirty="0"/>
              <a:t>설정등록</a:t>
            </a:r>
            <a:endParaRPr lang="en-US" altLang="ko-KR" sz="1000" dirty="0"/>
          </a:p>
          <a:p>
            <a:pPr algn="ctr"/>
            <a:r>
              <a:rPr lang="en-US" altLang="ko-KR" sz="1000" dirty="0"/>
              <a:t>2028.1.1</a:t>
            </a:r>
            <a:endParaRPr lang="ko-KR" altLang="en-US" sz="1000" dirty="0"/>
          </a:p>
        </p:txBody>
      </p:sp>
      <p:sp>
        <p:nvSpPr>
          <p:cNvPr id="119" name="TextBox 118">
            <a:extLst>
              <a:ext uri="{FF2B5EF4-FFF2-40B4-BE49-F238E27FC236}">
                <a16:creationId xmlns:a16="http://schemas.microsoft.com/office/drawing/2014/main" id="{A5D86633-FBD4-AF5F-5A85-8563A467D3C3}"/>
              </a:ext>
            </a:extLst>
          </p:cNvPr>
          <p:cNvSpPr txBox="1"/>
          <p:nvPr/>
        </p:nvSpPr>
        <p:spPr>
          <a:xfrm>
            <a:off x="8599375" y="5400511"/>
            <a:ext cx="761747" cy="400110"/>
          </a:xfrm>
          <a:prstGeom prst="rect">
            <a:avLst/>
          </a:prstGeom>
          <a:noFill/>
        </p:spPr>
        <p:txBody>
          <a:bodyPr wrap="none" rtlCol="0">
            <a:spAutoFit/>
          </a:bodyPr>
          <a:lstStyle/>
          <a:p>
            <a:pPr algn="ctr"/>
            <a:r>
              <a:rPr lang="ko-KR" altLang="en-US" sz="1000" dirty="0" err="1"/>
              <a:t>식약처허가</a:t>
            </a:r>
            <a:endParaRPr lang="en-US" altLang="ko-KR" sz="1000" dirty="0"/>
          </a:p>
          <a:p>
            <a:pPr algn="ctr"/>
            <a:r>
              <a:rPr lang="en-US" altLang="ko-KR" sz="1000" dirty="0"/>
              <a:t>2030.1.1</a:t>
            </a:r>
            <a:endParaRPr lang="ko-KR" altLang="en-US" sz="1000" dirty="0"/>
          </a:p>
        </p:txBody>
      </p:sp>
      <p:cxnSp>
        <p:nvCxnSpPr>
          <p:cNvPr id="120" name="직선 연결선 119">
            <a:extLst>
              <a:ext uri="{FF2B5EF4-FFF2-40B4-BE49-F238E27FC236}">
                <a16:creationId xmlns:a16="http://schemas.microsoft.com/office/drawing/2014/main" id="{76E58D6C-FF74-8417-D3F4-7E92F77B45A3}"/>
              </a:ext>
            </a:extLst>
          </p:cNvPr>
          <p:cNvCxnSpPr>
            <a:cxnSpLocks/>
          </p:cNvCxnSpPr>
          <p:nvPr/>
        </p:nvCxnSpPr>
        <p:spPr>
          <a:xfrm flipV="1">
            <a:off x="8915362" y="5818506"/>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21" name="직선 연결선 120">
            <a:extLst>
              <a:ext uri="{FF2B5EF4-FFF2-40B4-BE49-F238E27FC236}">
                <a16:creationId xmlns:a16="http://schemas.microsoft.com/office/drawing/2014/main" id="{0D19B4CD-589A-0990-819E-EEBDEA8D80E0}"/>
              </a:ext>
            </a:extLst>
          </p:cNvPr>
          <p:cNvCxnSpPr>
            <a:cxnSpLocks/>
          </p:cNvCxnSpPr>
          <p:nvPr/>
        </p:nvCxnSpPr>
        <p:spPr>
          <a:xfrm flipV="1">
            <a:off x="6502542" y="5818506"/>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22" name="TextBox 121">
            <a:extLst>
              <a:ext uri="{FF2B5EF4-FFF2-40B4-BE49-F238E27FC236}">
                <a16:creationId xmlns:a16="http://schemas.microsoft.com/office/drawing/2014/main" id="{E3342C5B-E885-4554-74F2-F1A84092CF4C}"/>
              </a:ext>
            </a:extLst>
          </p:cNvPr>
          <p:cNvSpPr txBox="1"/>
          <p:nvPr/>
        </p:nvSpPr>
        <p:spPr>
          <a:xfrm>
            <a:off x="9643782" y="5400511"/>
            <a:ext cx="912429" cy="400110"/>
          </a:xfrm>
          <a:prstGeom prst="rect">
            <a:avLst/>
          </a:prstGeom>
          <a:noFill/>
        </p:spPr>
        <p:txBody>
          <a:bodyPr wrap="none" rtlCol="0">
            <a:spAutoFit/>
          </a:bodyPr>
          <a:lstStyle/>
          <a:p>
            <a:pPr algn="ctr"/>
            <a:r>
              <a:rPr lang="ko-KR" altLang="en-US" sz="1000" dirty="0"/>
              <a:t>연장전 만료일</a:t>
            </a:r>
            <a:endParaRPr lang="en-US" altLang="ko-KR" sz="1000" dirty="0"/>
          </a:p>
          <a:p>
            <a:pPr algn="ctr"/>
            <a:r>
              <a:rPr lang="en-US" altLang="ko-KR" sz="1000" dirty="0"/>
              <a:t>2040.1.1</a:t>
            </a:r>
            <a:endParaRPr lang="ko-KR" altLang="en-US" sz="1000" dirty="0"/>
          </a:p>
        </p:txBody>
      </p:sp>
      <p:cxnSp>
        <p:nvCxnSpPr>
          <p:cNvPr id="123" name="직선 연결선 122">
            <a:extLst>
              <a:ext uri="{FF2B5EF4-FFF2-40B4-BE49-F238E27FC236}">
                <a16:creationId xmlns:a16="http://schemas.microsoft.com/office/drawing/2014/main" id="{B5176534-5D59-4AAF-895E-C515A3D9DA72}"/>
              </a:ext>
            </a:extLst>
          </p:cNvPr>
          <p:cNvCxnSpPr>
            <a:cxnSpLocks/>
          </p:cNvCxnSpPr>
          <p:nvPr/>
        </p:nvCxnSpPr>
        <p:spPr>
          <a:xfrm flipV="1">
            <a:off x="10083594" y="5818506"/>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350D0E9F-04FD-6E91-31A6-317E418886CC}"/>
              </a:ext>
            </a:extLst>
          </p:cNvPr>
          <p:cNvSpPr txBox="1"/>
          <p:nvPr/>
        </p:nvSpPr>
        <p:spPr>
          <a:xfrm>
            <a:off x="10623501" y="5400511"/>
            <a:ext cx="1027846" cy="400110"/>
          </a:xfrm>
          <a:prstGeom prst="rect">
            <a:avLst/>
          </a:prstGeom>
          <a:noFill/>
        </p:spPr>
        <p:txBody>
          <a:bodyPr wrap="none" rtlCol="0">
            <a:spAutoFit/>
          </a:bodyPr>
          <a:lstStyle/>
          <a:p>
            <a:pPr algn="ctr"/>
            <a:r>
              <a:rPr lang="ko-KR" altLang="en-US" sz="1000" dirty="0">
                <a:solidFill>
                  <a:srgbClr val="FF0000"/>
                </a:solidFill>
              </a:rPr>
              <a:t>존속기간 만료일</a:t>
            </a:r>
            <a:endParaRPr lang="en-US" altLang="ko-KR" sz="1000" dirty="0">
              <a:solidFill>
                <a:srgbClr val="FF0000"/>
              </a:solidFill>
            </a:endParaRPr>
          </a:p>
          <a:p>
            <a:pPr algn="ctr"/>
            <a:r>
              <a:rPr lang="en-US" altLang="ko-KR" sz="1000" dirty="0">
                <a:solidFill>
                  <a:srgbClr val="FF0000"/>
                </a:solidFill>
              </a:rPr>
              <a:t>2044.1.1</a:t>
            </a:r>
            <a:endParaRPr lang="ko-KR" altLang="en-US" sz="1000" dirty="0">
              <a:solidFill>
                <a:srgbClr val="FF0000"/>
              </a:solidFill>
            </a:endParaRPr>
          </a:p>
        </p:txBody>
      </p:sp>
      <p:sp>
        <p:nvSpPr>
          <p:cNvPr id="125" name="직사각형 124">
            <a:extLst>
              <a:ext uri="{FF2B5EF4-FFF2-40B4-BE49-F238E27FC236}">
                <a16:creationId xmlns:a16="http://schemas.microsoft.com/office/drawing/2014/main" id="{9C0FCB87-7BCA-D86D-3798-1E65826D8A07}"/>
              </a:ext>
            </a:extLst>
          </p:cNvPr>
          <p:cNvSpPr/>
          <p:nvPr/>
        </p:nvSpPr>
        <p:spPr>
          <a:xfrm>
            <a:off x="8396933" y="5992113"/>
            <a:ext cx="515885" cy="301035"/>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000" dirty="0"/>
              <a:t>2</a:t>
            </a:r>
            <a:r>
              <a:rPr lang="ko-KR" altLang="en-US" sz="1000" dirty="0"/>
              <a:t>년</a:t>
            </a:r>
          </a:p>
        </p:txBody>
      </p:sp>
      <p:cxnSp>
        <p:nvCxnSpPr>
          <p:cNvPr id="128" name="직선 연결선 127">
            <a:extLst>
              <a:ext uri="{FF2B5EF4-FFF2-40B4-BE49-F238E27FC236}">
                <a16:creationId xmlns:a16="http://schemas.microsoft.com/office/drawing/2014/main" id="{94906E44-13D1-E49A-FB1A-712127367D30}"/>
              </a:ext>
            </a:extLst>
          </p:cNvPr>
          <p:cNvCxnSpPr/>
          <p:nvPr/>
        </p:nvCxnSpPr>
        <p:spPr>
          <a:xfrm>
            <a:off x="8912819" y="5915572"/>
            <a:ext cx="2208202" cy="0"/>
          </a:xfrm>
          <a:prstGeom prst="line">
            <a:avLst/>
          </a:prstGeom>
          <a:ln w="19050">
            <a:solidFill>
              <a:srgbClr val="FF0000"/>
            </a:solidFill>
            <a:prstDash val="sysDot"/>
            <a:headEnd type="arrow" w="sm" len="sm"/>
            <a:tailEnd type="arrow" w="sm" len="sm"/>
          </a:ln>
        </p:spPr>
        <p:style>
          <a:lnRef idx="1">
            <a:schemeClr val="accent1"/>
          </a:lnRef>
          <a:fillRef idx="0">
            <a:schemeClr val="accent1"/>
          </a:fillRef>
          <a:effectRef idx="0">
            <a:schemeClr val="accent1"/>
          </a:effectRef>
          <a:fontRef idx="minor">
            <a:schemeClr val="tx1"/>
          </a:fontRef>
        </p:style>
      </p:cxnSp>
      <p:sp>
        <p:nvSpPr>
          <p:cNvPr id="129" name="TextBox 128">
            <a:extLst>
              <a:ext uri="{FF2B5EF4-FFF2-40B4-BE49-F238E27FC236}">
                <a16:creationId xmlns:a16="http://schemas.microsoft.com/office/drawing/2014/main" id="{3B098FAA-1056-91FD-3A52-03913FF0D69C}"/>
              </a:ext>
            </a:extLst>
          </p:cNvPr>
          <p:cNvSpPr txBox="1"/>
          <p:nvPr/>
        </p:nvSpPr>
        <p:spPr>
          <a:xfrm>
            <a:off x="9490855" y="5744391"/>
            <a:ext cx="441147" cy="246221"/>
          </a:xfrm>
          <a:prstGeom prst="rect">
            <a:avLst/>
          </a:prstGeom>
          <a:solidFill>
            <a:schemeClr val="bg1"/>
          </a:solidFill>
        </p:spPr>
        <p:txBody>
          <a:bodyPr wrap="none" rtlCol="0">
            <a:spAutoFit/>
          </a:bodyPr>
          <a:lstStyle/>
          <a:p>
            <a:pPr algn="ctr"/>
            <a:r>
              <a:rPr lang="en-US" altLang="ko-KR" sz="1000" dirty="0"/>
              <a:t>14</a:t>
            </a:r>
            <a:r>
              <a:rPr lang="ko-KR" altLang="en-US" sz="1000" dirty="0"/>
              <a:t>년</a:t>
            </a:r>
          </a:p>
        </p:txBody>
      </p:sp>
      <p:sp>
        <p:nvSpPr>
          <p:cNvPr id="130" name="사각형: 둥근 모서리 129">
            <a:extLst>
              <a:ext uri="{FF2B5EF4-FFF2-40B4-BE49-F238E27FC236}">
                <a16:creationId xmlns:a16="http://schemas.microsoft.com/office/drawing/2014/main" id="{8F45ECED-2F76-A64A-DFBE-CF9475A2B9F2}"/>
              </a:ext>
            </a:extLst>
          </p:cNvPr>
          <p:cNvSpPr/>
          <p:nvPr/>
        </p:nvSpPr>
        <p:spPr>
          <a:xfrm>
            <a:off x="6306267" y="4989188"/>
            <a:ext cx="302884" cy="286734"/>
          </a:xfrm>
          <a:prstGeom prst="roundRect">
            <a:avLst/>
          </a:prstGeom>
          <a:solidFill>
            <a:schemeClr val="accent5"/>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100" dirty="0"/>
              <a:t>3</a:t>
            </a:r>
            <a:endParaRPr lang="ko-KR" altLang="en-US" sz="1100" dirty="0"/>
          </a:p>
        </p:txBody>
      </p:sp>
      <p:sp>
        <p:nvSpPr>
          <p:cNvPr id="131" name="TextBox 130">
            <a:extLst>
              <a:ext uri="{FF2B5EF4-FFF2-40B4-BE49-F238E27FC236}">
                <a16:creationId xmlns:a16="http://schemas.microsoft.com/office/drawing/2014/main" id="{940704B9-9D08-E0FE-6D2C-A8391C581881}"/>
              </a:ext>
            </a:extLst>
          </p:cNvPr>
          <p:cNvSpPr txBox="1"/>
          <p:nvPr/>
        </p:nvSpPr>
        <p:spPr>
          <a:xfrm>
            <a:off x="6659252" y="5018279"/>
            <a:ext cx="2082621" cy="246221"/>
          </a:xfrm>
          <a:prstGeom prst="rect">
            <a:avLst/>
          </a:prstGeom>
          <a:noFill/>
        </p:spPr>
        <p:txBody>
          <a:bodyPr wrap="none" rtlCol="0">
            <a:spAutoFit/>
          </a:bodyPr>
          <a:lstStyle/>
          <a:p>
            <a:r>
              <a:rPr lang="ko-KR" altLang="en-US" sz="1000" dirty="0"/>
              <a:t>등록지연기간 </a:t>
            </a:r>
            <a:r>
              <a:rPr lang="en-US" altLang="ko-KR" sz="1000" dirty="0"/>
              <a:t>4</a:t>
            </a:r>
            <a:r>
              <a:rPr lang="ko-KR" altLang="en-US" sz="1000" dirty="0"/>
              <a:t>년</a:t>
            </a:r>
            <a:r>
              <a:rPr lang="en-US" altLang="ko-KR" sz="1000" dirty="0"/>
              <a:t>, </a:t>
            </a:r>
            <a:r>
              <a:rPr lang="ko-KR" altLang="en-US" sz="1000" dirty="0"/>
              <a:t>허가지연기간 </a:t>
            </a:r>
            <a:r>
              <a:rPr lang="en-US" altLang="ko-KR" sz="1000" dirty="0"/>
              <a:t>2</a:t>
            </a:r>
            <a:r>
              <a:rPr lang="ko-KR" altLang="en-US" sz="1000" dirty="0"/>
              <a:t>년</a:t>
            </a:r>
          </a:p>
        </p:txBody>
      </p:sp>
      <p:cxnSp>
        <p:nvCxnSpPr>
          <p:cNvPr id="132" name="직선 연결선 131">
            <a:extLst>
              <a:ext uri="{FF2B5EF4-FFF2-40B4-BE49-F238E27FC236}">
                <a16:creationId xmlns:a16="http://schemas.microsoft.com/office/drawing/2014/main" id="{5CD64593-0C56-6BBA-9B42-B92F406D28F9}"/>
              </a:ext>
            </a:extLst>
          </p:cNvPr>
          <p:cNvCxnSpPr>
            <a:cxnSpLocks/>
          </p:cNvCxnSpPr>
          <p:nvPr/>
        </p:nvCxnSpPr>
        <p:spPr>
          <a:xfrm flipV="1">
            <a:off x="8412588" y="5818506"/>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33" name="TextBox 132">
            <a:extLst>
              <a:ext uri="{FF2B5EF4-FFF2-40B4-BE49-F238E27FC236}">
                <a16:creationId xmlns:a16="http://schemas.microsoft.com/office/drawing/2014/main" id="{EBD94477-0CC5-E3A4-BDAB-F38DA073D265}"/>
              </a:ext>
            </a:extLst>
          </p:cNvPr>
          <p:cNvSpPr txBox="1"/>
          <p:nvPr/>
        </p:nvSpPr>
        <p:spPr>
          <a:xfrm>
            <a:off x="6180384" y="5311272"/>
            <a:ext cx="678391" cy="523220"/>
          </a:xfrm>
          <a:prstGeom prst="rect">
            <a:avLst/>
          </a:prstGeom>
          <a:noFill/>
        </p:spPr>
        <p:txBody>
          <a:bodyPr wrap="none" rtlCol="0">
            <a:spAutoFit/>
          </a:bodyPr>
          <a:lstStyle/>
          <a:p>
            <a:pPr algn="ctr"/>
            <a:r>
              <a:rPr lang="ko-KR" altLang="en-US" sz="1000" dirty="0"/>
              <a:t>특허출원</a:t>
            </a:r>
            <a:endParaRPr lang="en-US" altLang="ko-KR" sz="1000" dirty="0"/>
          </a:p>
          <a:p>
            <a:pPr algn="ctr"/>
            <a:r>
              <a:rPr lang="en-US" altLang="ko-KR" sz="800" dirty="0"/>
              <a:t>(</a:t>
            </a:r>
            <a:r>
              <a:rPr lang="ko-KR" altLang="en-US" sz="800" dirty="0"/>
              <a:t>심사청구</a:t>
            </a:r>
            <a:r>
              <a:rPr lang="en-US" altLang="ko-KR" sz="800" dirty="0"/>
              <a:t>)</a:t>
            </a:r>
          </a:p>
          <a:p>
            <a:pPr algn="ctr"/>
            <a:r>
              <a:rPr lang="en-US" altLang="ko-KR" sz="1000" dirty="0"/>
              <a:t>2020.1.1</a:t>
            </a:r>
            <a:endParaRPr lang="ko-KR" altLang="en-US" sz="1000" dirty="0"/>
          </a:p>
        </p:txBody>
      </p:sp>
      <p:sp>
        <p:nvSpPr>
          <p:cNvPr id="134" name="직사각형 133">
            <a:extLst>
              <a:ext uri="{FF2B5EF4-FFF2-40B4-BE49-F238E27FC236}">
                <a16:creationId xmlns:a16="http://schemas.microsoft.com/office/drawing/2014/main" id="{682670BD-339A-2A27-80F5-8DFE345187A3}"/>
              </a:ext>
            </a:extLst>
          </p:cNvPr>
          <p:cNvSpPr/>
          <p:nvPr/>
        </p:nvSpPr>
        <p:spPr>
          <a:xfrm>
            <a:off x="7336262" y="5992113"/>
            <a:ext cx="1060665" cy="301035"/>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000" dirty="0"/>
              <a:t>4</a:t>
            </a:r>
            <a:r>
              <a:rPr lang="ko-KR" altLang="en-US" sz="1000" dirty="0"/>
              <a:t>년</a:t>
            </a:r>
          </a:p>
        </p:txBody>
      </p:sp>
      <p:sp>
        <p:nvSpPr>
          <p:cNvPr id="135" name="직사각형 134">
            <a:extLst>
              <a:ext uri="{FF2B5EF4-FFF2-40B4-BE49-F238E27FC236}">
                <a16:creationId xmlns:a16="http://schemas.microsoft.com/office/drawing/2014/main" id="{C89AB2C2-2D13-B6C2-2694-C13C83440D02}"/>
              </a:ext>
            </a:extLst>
          </p:cNvPr>
          <p:cNvSpPr/>
          <p:nvPr/>
        </p:nvSpPr>
        <p:spPr>
          <a:xfrm>
            <a:off x="10092302" y="5992113"/>
            <a:ext cx="1028709" cy="301035"/>
          </a:xfrm>
          <a:prstGeom prst="rect">
            <a:avLst/>
          </a:prstGeom>
          <a:solidFill>
            <a:schemeClr val="accent6"/>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000" dirty="0"/>
              <a:t>4</a:t>
            </a:r>
            <a:r>
              <a:rPr lang="ko-KR" altLang="en-US" sz="1000" dirty="0"/>
              <a:t>년</a:t>
            </a:r>
          </a:p>
        </p:txBody>
      </p:sp>
      <p:sp>
        <p:nvSpPr>
          <p:cNvPr id="136" name="직사각형 135">
            <a:extLst>
              <a:ext uri="{FF2B5EF4-FFF2-40B4-BE49-F238E27FC236}">
                <a16:creationId xmlns:a16="http://schemas.microsoft.com/office/drawing/2014/main" id="{63DB7CB9-B988-CC5D-16A3-CA3EB30BF9BB}"/>
              </a:ext>
            </a:extLst>
          </p:cNvPr>
          <p:cNvSpPr/>
          <p:nvPr/>
        </p:nvSpPr>
        <p:spPr>
          <a:xfrm>
            <a:off x="11138251" y="5992113"/>
            <a:ext cx="499066" cy="301035"/>
          </a:xfrm>
          <a:prstGeom prst="rect">
            <a:avLst/>
          </a:prstGeom>
          <a:solidFill>
            <a:schemeClr val="accent2">
              <a:lumMod val="20000"/>
              <a:lumOff val="80000"/>
            </a:schemeClr>
          </a:solidFill>
          <a:ln>
            <a:solidFill>
              <a:srgbClr val="FF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rgbClr val="FF0000"/>
                </a:solidFill>
              </a:rPr>
              <a:t>2</a:t>
            </a:r>
            <a:r>
              <a:rPr lang="ko-KR" altLang="en-US" sz="1000" dirty="0">
                <a:solidFill>
                  <a:srgbClr val="FF0000"/>
                </a:solidFill>
              </a:rPr>
              <a:t>년</a:t>
            </a:r>
          </a:p>
        </p:txBody>
      </p:sp>
      <p:sp>
        <p:nvSpPr>
          <p:cNvPr id="137" name="TextBox 136">
            <a:extLst>
              <a:ext uri="{FF2B5EF4-FFF2-40B4-BE49-F238E27FC236}">
                <a16:creationId xmlns:a16="http://schemas.microsoft.com/office/drawing/2014/main" id="{64590F02-0B61-8BA1-14E3-79406CE8FA3C}"/>
              </a:ext>
            </a:extLst>
          </p:cNvPr>
          <p:cNvSpPr txBox="1"/>
          <p:nvPr/>
        </p:nvSpPr>
        <p:spPr>
          <a:xfrm>
            <a:off x="11176709" y="6304574"/>
            <a:ext cx="415499" cy="246221"/>
          </a:xfrm>
          <a:prstGeom prst="rect">
            <a:avLst/>
          </a:prstGeom>
          <a:noFill/>
        </p:spPr>
        <p:txBody>
          <a:bodyPr wrap="none" rtlCol="0">
            <a:spAutoFit/>
          </a:bodyPr>
          <a:lstStyle/>
          <a:p>
            <a:pPr algn="ctr"/>
            <a:r>
              <a:rPr lang="ko-KR" altLang="en-US" sz="1000" dirty="0">
                <a:solidFill>
                  <a:srgbClr val="FF0000"/>
                </a:solidFill>
              </a:rPr>
              <a:t>제외</a:t>
            </a:r>
          </a:p>
        </p:txBody>
      </p:sp>
      <p:cxnSp>
        <p:nvCxnSpPr>
          <p:cNvPr id="127" name="직선 연결선 126">
            <a:extLst>
              <a:ext uri="{FF2B5EF4-FFF2-40B4-BE49-F238E27FC236}">
                <a16:creationId xmlns:a16="http://schemas.microsoft.com/office/drawing/2014/main" id="{747D6880-CA59-7E8C-A4DD-1CED9CAB09CD}"/>
              </a:ext>
            </a:extLst>
          </p:cNvPr>
          <p:cNvCxnSpPr>
            <a:cxnSpLocks/>
          </p:cNvCxnSpPr>
          <p:nvPr/>
        </p:nvCxnSpPr>
        <p:spPr>
          <a:xfrm flipV="1">
            <a:off x="11121021" y="5818506"/>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07" name="직선 연결선 106">
            <a:extLst>
              <a:ext uri="{FF2B5EF4-FFF2-40B4-BE49-F238E27FC236}">
                <a16:creationId xmlns:a16="http://schemas.microsoft.com/office/drawing/2014/main" id="{F3B05053-472D-6AAA-CA93-617211C8843E}"/>
              </a:ext>
            </a:extLst>
          </p:cNvPr>
          <p:cNvCxnSpPr>
            <a:cxnSpLocks/>
          </p:cNvCxnSpPr>
          <p:nvPr/>
        </p:nvCxnSpPr>
        <p:spPr>
          <a:xfrm flipV="1">
            <a:off x="11121021" y="4208500"/>
            <a:ext cx="0" cy="474642"/>
          </a:xfrm>
          <a:prstGeom prst="line">
            <a:avLst/>
          </a:prstGeom>
          <a:ln w="28575">
            <a:solidFill>
              <a:schemeClr val="tx1"/>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39" name="직선 연결선 138">
            <a:extLst>
              <a:ext uri="{FF2B5EF4-FFF2-40B4-BE49-F238E27FC236}">
                <a16:creationId xmlns:a16="http://schemas.microsoft.com/office/drawing/2014/main" id="{DED200EA-68D4-93AD-5CCF-E71CB1225B29}"/>
              </a:ext>
            </a:extLst>
          </p:cNvPr>
          <p:cNvCxnSpPr/>
          <p:nvPr/>
        </p:nvCxnSpPr>
        <p:spPr>
          <a:xfrm>
            <a:off x="6264605" y="3264197"/>
            <a:ext cx="5593357" cy="0"/>
          </a:xfrm>
          <a:prstGeom prst="line">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40" name="직선 연결선 139">
            <a:extLst>
              <a:ext uri="{FF2B5EF4-FFF2-40B4-BE49-F238E27FC236}">
                <a16:creationId xmlns:a16="http://schemas.microsoft.com/office/drawing/2014/main" id="{E2089B0D-3DCD-8B4E-3EED-1DB121398358}"/>
              </a:ext>
            </a:extLst>
          </p:cNvPr>
          <p:cNvCxnSpPr/>
          <p:nvPr/>
        </p:nvCxnSpPr>
        <p:spPr>
          <a:xfrm>
            <a:off x="6264605" y="4902559"/>
            <a:ext cx="5593357" cy="0"/>
          </a:xfrm>
          <a:prstGeom prst="line">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4AE05F7F-F35E-5C88-842C-7C2278B32F53}"/>
              </a:ext>
            </a:extLst>
          </p:cNvPr>
          <p:cNvSpPr txBox="1"/>
          <p:nvPr/>
        </p:nvSpPr>
        <p:spPr>
          <a:xfrm>
            <a:off x="6017645" y="6578057"/>
            <a:ext cx="5892960" cy="230832"/>
          </a:xfrm>
          <a:prstGeom prst="rect">
            <a:avLst/>
          </a:prstGeom>
          <a:noFill/>
        </p:spPr>
        <p:txBody>
          <a:bodyPr wrap="none" rtlCol="0">
            <a:spAutoFit/>
          </a:bodyPr>
          <a:lstStyle/>
          <a:p>
            <a:r>
              <a:rPr lang="en-US" altLang="ko-KR" sz="900" dirty="0"/>
              <a:t>* </a:t>
            </a:r>
            <a:r>
              <a:rPr lang="ko-KR" altLang="en-US" sz="900" dirty="0"/>
              <a:t>이정석</a:t>
            </a:r>
            <a:r>
              <a:rPr lang="en-US" altLang="ko-KR" sz="900" dirty="0"/>
              <a:t>(</a:t>
            </a:r>
            <a:r>
              <a:rPr lang="ko-KR" altLang="en-US" sz="900" dirty="0"/>
              <a:t>법무법인 </a:t>
            </a:r>
            <a:r>
              <a:rPr lang="ko-KR" altLang="en-US" sz="900" dirty="0" err="1"/>
              <a:t>율우</a:t>
            </a:r>
            <a:r>
              <a:rPr lang="en-US" altLang="ko-KR" sz="900" dirty="0"/>
              <a:t>), “</a:t>
            </a:r>
            <a:r>
              <a:rPr lang="ko-KR" altLang="en-US" sz="900" dirty="0"/>
              <a:t>의약품 특허권 존속기간 연장등록제도 관련 특허법 개정안 연구</a:t>
            </a:r>
            <a:r>
              <a:rPr lang="en-US" altLang="ko-KR" sz="900" dirty="0"/>
              <a:t>“, </a:t>
            </a:r>
            <a:r>
              <a:rPr lang="ko-KR" altLang="en-US" sz="900" dirty="0"/>
              <a:t>지식재산처</a:t>
            </a:r>
            <a:r>
              <a:rPr lang="en-US" altLang="ko-KR" sz="900" dirty="0"/>
              <a:t>(2023), 34</a:t>
            </a:r>
            <a:r>
              <a:rPr lang="ko-KR" altLang="en-US" sz="900" dirty="0"/>
              <a:t>면 참조</a:t>
            </a:r>
          </a:p>
        </p:txBody>
      </p:sp>
    </p:spTree>
    <p:extLst>
      <p:ext uri="{BB962C8B-B14F-4D97-AF65-F5344CB8AC3E}">
        <p14:creationId xmlns:p14="http://schemas.microsoft.com/office/powerpoint/2010/main" val="1205138405"/>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89</a:t>
            </a:r>
            <a:r>
              <a:rPr lang="ko-KR" altLang="en-US" dirty="0"/>
              <a:t>조</a:t>
            </a:r>
            <a:r>
              <a:rPr lang="en-US" altLang="ko-KR" dirty="0"/>
              <a:t>~</a:t>
            </a:r>
            <a:r>
              <a:rPr lang="ko-KR" altLang="en-US" dirty="0"/>
              <a:t>제</a:t>
            </a:r>
            <a:r>
              <a:rPr lang="en-US" altLang="ko-KR" dirty="0"/>
              <a:t>95</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허가 등의 대상물건</a:t>
            </a:r>
            <a:r>
              <a:rPr lang="en-US" altLang="ko-KR" dirty="0">
                <a:solidFill>
                  <a:srgbClr val="525252"/>
                </a:solidFill>
              </a:rPr>
              <a:t>(</a:t>
            </a:r>
            <a:r>
              <a:rPr lang="ko-KR" altLang="en-US" dirty="0">
                <a:solidFill>
                  <a:srgbClr val="525252"/>
                </a:solidFill>
              </a:rPr>
              <a:t>제</a:t>
            </a:r>
            <a:r>
              <a:rPr lang="en-US" altLang="ko-KR" dirty="0">
                <a:solidFill>
                  <a:srgbClr val="525252"/>
                </a:solidFill>
              </a:rPr>
              <a:t>95</a:t>
            </a:r>
            <a:r>
              <a:rPr lang="ko-KR" altLang="en-US" dirty="0">
                <a:solidFill>
                  <a:srgbClr val="525252"/>
                </a:solidFill>
              </a:rPr>
              <a:t>조</a:t>
            </a:r>
            <a:r>
              <a:rPr lang="en-US" altLang="ko-KR" dirty="0">
                <a:solidFill>
                  <a:srgbClr val="525252"/>
                </a:solidFill>
              </a:rPr>
              <a:t>)</a:t>
            </a:r>
            <a:endParaRPr lang="ko-KR" altLang="en-US" dirty="0">
              <a:solidFill>
                <a:srgbClr val="525252"/>
              </a:solidFill>
            </a:endParaRP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299</a:t>
            </a:r>
            <a:endParaRPr lang="ko-KR" altLang="en-US"/>
          </a:p>
        </p:txBody>
      </p:sp>
      <p:cxnSp>
        <p:nvCxnSpPr>
          <p:cNvPr id="126" name="직선 연결선 125"/>
          <p:cNvCxnSpPr/>
          <p:nvPr/>
        </p:nvCxnSpPr>
        <p:spPr>
          <a:xfrm>
            <a:off x="0" y="181804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7" name="TextBox 126"/>
          <p:cNvSpPr txBox="1"/>
          <p:nvPr/>
        </p:nvSpPr>
        <p:spPr>
          <a:xfrm>
            <a:off x="77875" y="976902"/>
            <a:ext cx="11936323" cy="830997"/>
          </a:xfrm>
          <a:prstGeom prst="rect">
            <a:avLst/>
          </a:prstGeom>
          <a:noFill/>
        </p:spPr>
        <p:txBody>
          <a:bodyPr wrap="square" rtlCol="0">
            <a:spAutoFit/>
          </a:bodyPr>
          <a:lstStyle/>
          <a:p>
            <a:pPr fontAlgn="base"/>
            <a:r>
              <a:rPr lang="en-US" altLang="ko-KR" sz="1200" dirty="0">
                <a:solidFill>
                  <a:schemeClr val="tx2"/>
                </a:solidFill>
              </a:rPr>
              <a:t>1.</a:t>
            </a:r>
            <a:r>
              <a:rPr lang="ko-KR" altLang="en-US" sz="1200" dirty="0">
                <a:solidFill>
                  <a:schemeClr val="tx2"/>
                </a:solidFill>
              </a:rPr>
              <a:t> 존속기간을 </a:t>
            </a:r>
            <a:r>
              <a:rPr lang="ko-KR" altLang="en-US" sz="1200" dirty="0" err="1">
                <a:solidFill>
                  <a:schemeClr val="tx2"/>
                </a:solidFill>
              </a:rPr>
              <a:t>연장등록할</a:t>
            </a:r>
            <a:r>
              <a:rPr lang="ko-KR" altLang="en-US" sz="1200" dirty="0">
                <a:solidFill>
                  <a:schemeClr val="tx2"/>
                </a:solidFill>
              </a:rPr>
              <a:t> 수 있는 기간은 그 특허발명을 실시할 수 없었던 기간으로서 최대 </a:t>
            </a:r>
            <a:r>
              <a:rPr lang="en-US" altLang="ko-KR" sz="1200" dirty="0">
                <a:solidFill>
                  <a:schemeClr val="tx2"/>
                </a:solidFill>
              </a:rPr>
              <a:t>5</a:t>
            </a:r>
            <a:r>
              <a:rPr lang="ko-KR" altLang="en-US" sz="1200" dirty="0">
                <a:solidFill>
                  <a:schemeClr val="tx2"/>
                </a:solidFill>
              </a:rPr>
              <a:t>년 내이다</a:t>
            </a:r>
            <a:r>
              <a:rPr lang="en-US" altLang="ko-KR" sz="1200" dirty="0">
                <a:solidFill>
                  <a:schemeClr val="tx2"/>
                </a:solidFill>
              </a:rPr>
              <a:t>. </a:t>
            </a:r>
            <a:r>
              <a:rPr lang="ko-KR" altLang="en-US" sz="1200" dirty="0">
                <a:solidFill>
                  <a:schemeClr val="tx2"/>
                </a:solidFill>
              </a:rPr>
              <a:t>「특허발명」은 특허를 받은 발명을 의미하기 때문에 등록 전부터 </a:t>
            </a:r>
            <a:r>
              <a:rPr lang="en-US" altLang="ko-KR" sz="1200" dirty="0">
                <a:solidFill>
                  <a:schemeClr val="tx2"/>
                </a:solidFill>
              </a:rPr>
              <a:t>a, b </a:t>
            </a:r>
            <a:r>
              <a:rPr lang="ko-KR" altLang="en-US" sz="1200" dirty="0">
                <a:solidFill>
                  <a:schemeClr val="tx2"/>
                </a:solidFill>
              </a:rPr>
              <a:t>에 대하여 인허가를 받지 못해서 실시하지 못했다고 하더라도 연장가능기간은 등록 후 인허가를 받은 </a:t>
            </a:r>
            <a:r>
              <a:rPr lang="ko-KR" altLang="en-US" sz="1200" dirty="0" err="1">
                <a:solidFill>
                  <a:schemeClr val="tx2"/>
                </a:solidFill>
              </a:rPr>
              <a:t>날까지이다</a:t>
            </a:r>
            <a:r>
              <a:rPr lang="en-US" altLang="ko-KR" sz="1200" dirty="0">
                <a:solidFill>
                  <a:schemeClr val="tx2"/>
                </a:solidFill>
              </a:rPr>
              <a:t>. </a:t>
            </a:r>
            <a:r>
              <a:rPr lang="ko-KR" altLang="en-US" sz="1200" dirty="0">
                <a:solidFill>
                  <a:schemeClr val="tx2"/>
                </a:solidFill>
              </a:rPr>
              <a:t>다만</a:t>
            </a:r>
            <a:r>
              <a:rPr lang="en-US" altLang="ko-KR" sz="1200" dirty="0">
                <a:solidFill>
                  <a:schemeClr val="tx2"/>
                </a:solidFill>
              </a:rPr>
              <a:t>, </a:t>
            </a:r>
            <a:r>
              <a:rPr lang="ko-KR" altLang="en-US" sz="1200" dirty="0">
                <a:solidFill>
                  <a:schemeClr val="tx2"/>
                </a:solidFill>
              </a:rPr>
              <a:t>허가 등을 받은 날로부터 </a:t>
            </a:r>
            <a:r>
              <a:rPr lang="en-US" altLang="ko-KR" sz="1200" dirty="0">
                <a:solidFill>
                  <a:schemeClr val="tx2"/>
                </a:solidFill>
              </a:rPr>
              <a:t>14</a:t>
            </a:r>
            <a:r>
              <a:rPr lang="ko-KR" altLang="en-US" sz="1200" dirty="0">
                <a:solidFill>
                  <a:schemeClr val="tx2"/>
                </a:solidFill>
              </a:rPr>
              <a:t>년을 초과하여 연장할 수 없다</a:t>
            </a:r>
            <a:r>
              <a:rPr lang="en-US" altLang="ko-KR" sz="1200" dirty="0">
                <a:solidFill>
                  <a:schemeClr val="tx2"/>
                </a:solidFill>
              </a:rPr>
              <a:t>.</a:t>
            </a:r>
            <a:endParaRPr lang="ko-KR" altLang="en-US" sz="1200" dirty="0">
              <a:solidFill>
                <a:schemeClr val="tx2"/>
              </a:solidFill>
            </a:endParaRPr>
          </a:p>
          <a:p>
            <a:pPr fontAlgn="base"/>
            <a:r>
              <a:rPr lang="en-US" altLang="ko-KR" sz="1200" dirty="0">
                <a:solidFill>
                  <a:schemeClr val="tx2"/>
                </a:solidFill>
              </a:rPr>
              <a:t>2.</a:t>
            </a:r>
            <a:r>
              <a:rPr lang="ko-KR" altLang="en-US" sz="1200" dirty="0">
                <a:solidFill>
                  <a:schemeClr val="tx2"/>
                </a:solidFill>
              </a:rPr>
              <a:t> 허가 등에 따른 특허권의 존속기간이 연장된 경우의 특허권의 효력은 그 연장등록의 이유가 된 허가 등의 대상물건에 관한 특허발명의 실시 행위에만 미치게 된다</a:t>
            </a:r>
            <a:r>
              <a:rPr lang="en-US" altLang="ko-KR" sz="1200" dirty="0">
                <a:solidFill>
                  <a:schemeClr val="tx2"/>
                </a:solidFill>
              </a:rPr>
              <a:t>. </a:t>
            </a:r>
            <a:r>
              <a:rPr lang="ko-KR" altLang="en-US" sz="1200" dirty="0">
                <a:solidFill>
                  <a:schemeClr val="tx2"/>
                </a:solidFill>
              </a:rPr>
              <a:t>따라서 </a:t>
            </a:r>
            <a:r>
              <a:rPr lang="en-US" altLang="ko-KR" sz="1200" dirty="0">
                <a:solidFill>
                  <a:schemeClr val="tx2"/>
                </a:solidFill>
              </a:rPr>
              <a:t>a, b, c </a:t>
            </a:r>
            <a:r>
              <a:rPr lang="ko-KR" altLang="en-US" sz="1200" dirty="0">
                <a:solidFill>
                  <a:schemeClr val="tx2"/>
                </a:solidFill>
              </a:rPr>
              <a:t>발명 중 인허가를 받지 못해서 실시하지 못했던 </a:t>
            </a:r>
            <a:r>
              <a:rPr lang="en-US" altLang="ko-KR" sz="1200" dirty="0">
                <a:solidFill>
                  <a:schemeClr val="tx2"/>
                </a:solidFill>
              </a:rPr>
              <a:t>a, b</a:t>
            </a:r>
            <a:r>
              <a:rPr lang="ko-KR" altLang="en-US" sz="1200" dirty="0">
                <a:solidFill>
                  <a:schemeClr val="tx2"/>
                </a:solidFill>
              </a:rPr>
              <a:t>와 관련된 대상물건에 대해서만 연장된 특허권의 효력이 미치게 된다</a:t>
            </a:r>
            <a:r>
              <a:rPr lang="en-US" altLang="ko-KR" sz="1200" dirty="0">
                <a:solidFill>
                  <a:schemeClr val="tx2"/>
                </a:solidFill>
              </a:rPr>
              <a:t>. </a:t>
            </a:r>
            <a:endParaRPr lang="ko-KR" altLang="en-US" sz="1200" dirty="0">
              <a:solidFill>
                <a:schemeClr val="tx2"/>
              </a:solidFill>
            </a:endParaRPr>
          </a:p>
        </p:txBody>
      </p:sp>
      <p:sp>
        <p:nvSpPr>
          <p:cNvPr id="132" name="직사각형 131"/>
          <p:cNvSpPr/>
          <p:nvPr/>
        </p:nvSpPr>
        <p:spPr>
          <a:xfrm>
            <a:off x="3904032" y="1838571"/>
            <a:ext cx="650038"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20</a:t>
            </a:r>
            <a:r>
              <a:rPr lang="ko-KR" altLang="en-US" sz="1000" dirty="0">
                <a:solidFill>
                  <a:schemeClr val="tx1"/>
                </a:solidFill>
              </a:rPr>
              <a:t>년</a:t>
            </a:r>
            <a:endParaRPr lang="en-US" altLang="ko-KR" sz="1000" dirty="0">
              <a:solidFill>
                <a:schemeClr val="tx1"/>
              </a:solidFill>
            </a:endParaRPr>
          </a:p>
        </p:txBody>
      </p:sp>
      <p:sp>
        <p:nvSpPr>
          <p:cNvPr id="152" name="양쪽 모서리가 둥근 사각형 151"/>
          <p:cNvSpPr/>
          <p:nvPr/>
        </p:nvSpPr>
        <p:spPr>
          <a:xfrm>
            <a:off x="2699913" y="2916322"/>
            <a:ext cx="1048318" cy="304348"/>
          </a:xfrm>
          <a:prstGeom prst="round2SameRect">
            <a:avLst>
              <a:gd name="adj1" fmla="val 0"/>
              <a:gd name="adj2" fmla="val 50000"/>
            </a:avLst>
          </a:prstGeom>
          <a:pattFill prst="lgGrid">
            <a:fgClr>
              <a:schemeClr val="bg2">
                <a:lumMod val="1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cxnSp>
        <p:nvCxnSpPr>
          <p:cNvPr id="122" name="직선 연결선 121"/>
          <p:cNvCxnSpPr>
            <a:cxnSpLocks/>
          </p:cNvCxnSpPr>
          <p:nvPr/>
        </p:nvCxnSpPr>
        <p:spPr>
          <a:xfrm>
            <a:off x="1262205" y="2079820"/>
            <a:ext cx="0" cy="191717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직선 연결선 22"/>
          <p:cNvCxnSpPr>
            <a:cxnSpLocks/>
          </p:cNvCxnSpPr>
          <p:nvPr/>
        </p:nvCxnSpPr>
        <p:spPr>
          <a:xfrm flipH="1">
            <a:off x="7377254" y="2079820"/>
            <a:ext cx="1" cy="191717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양쪽 모서리가 둥근 사각형 111"/>
          <p:cNvSpPr/>
          <p:nvPr/>
        </p:nvSpPr>
        <p:spPr>
          <a:xfrm>
            <a:off x="7377254" y="2364974"/>
            <a:ext cx="2394273" cy="534921"/>
          </a:xfrm>
          <a:prstGeom prst="round2SameRect">
            <a:avLst>
              <a:gd name="adj1" fmla="val 50000"/>
              <a:gd name="adj2" fmla="val 0"/>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21" name="양쪽 모서리가 둥근 사각형 20"/>
          <p:cNvSpPr/>
          <p:nvPr/>
        </p:nvSpPr>
        <p:spPr>
          <a:xfrm>
            <a:off x="3748230" y="2375136"/>
            <a:ext cx="3629025" cy="524759"/>
          </a:xfrm>
          <a:prstGeom prst="round2SameRect">
            <a:avLst>
              <a:gd name="adj1" fmla="val 50000"/>
              <a:gd name="adj2" fmla="val 0"/>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110" name="양쪽 모서리가 둥근 사각형 109"/>
          <p:cNvSpPr/>
          <p:nvPr/>
        </p:nvSpPr>
        <p:spPr>
          <a:xfrm>
            <a:off x="7377254" y="2916322"/>
            <a:ext cx="2394271" cy="304348"/>
          </a:xfrm>
          <a:prstGeom prst="round2SameRect">
            <a:avLst>
              <a:gd name="adj1" fmla="val 0"/>
              <a:gd name="adj2" fmla="val 50000"/>
            </a:avLst>
          </a:prstGeom>
          <a:pattFill prst="smConfetti">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57" name="양쪽 모서리가 둥근 사각형 56"/>
          <p:cNvSpPr/>
          <p:nvPr/>
        </p:nvSpPr>
        <p:spPr>
          <a:xfrm>
            <a:off x="3782724" y="2916322"/>
            <a:ext cx="2131131" cy="304348"/>
          </a:xfrm>
          <a:prstGeom prst="round2SameRect">
            <a:avLst>
              <a:gd name="adj1" fmla="val 0"/>
              <a:gd name="adj2" fmla="val 50000"/>
            </a:avLst>
          </a:prstGeom>
          <a:pattFill prst="smConfetti">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cxnSp>
        <p:nvCxnSpPr>
          <p:cNvPr id="58" name="직선 연결선 57"/>
          <p:cNvCxnSpPr/>
          <p:nvPr/>
        </p:nvCxnSpPr>
        <p:spPr>
          <a:xfrm>
            <a:off x="752475" y="2909946"/>
            <a:ext cx="107156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직사각형 58"/>
          <p:cNvSpPr/>
          <p:nvPr/>
        </p:nvSpPr>
        <p:spPr>
          <a:xfrm>
            <a:off x="695609" y="2738438"/>
            <a:ext cx="1133192" cy="33849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특허출원</a:t>
            </a:r>
            <a:r>
              <a:rPr lang="en-US" altLang="ko-KR" sz="1000" dirty="0">
                <a:solidFill>
                  <a:schemeClr val="tx1"/>
                </a:solidFill>
              </a:rPr>
              <a:t>(X)</a:t>
            </a:r>
            <a:endParaRPr lang="ko-KR" altLang="en-US" sz="1000" dirty="0">
              <a:solidFill>
                <a:schemeClr val="tx1"/>
              </a:solidFill>
            </a:endParaRPr>
          </a:p>
        </p:txBody>
      </p:sp>
      <p:sp>
        <p:nvSpPr>
          <p:cNvPr id="84" name="직사각형 83"/>
          <p:cNvSpPr/>
          <p:nvPr/>
        </p:nvSpPr>
        <p:spPr>
          <a:xfrm>
            <a:off x="695609" y="3183258"/>
            <a:ext cx="1133192" cy="480777"/>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000" dirty="0">
                <a:solidFill>
                  <a:schemeClr val="tx1"/>
                </a:solidFill>
              </a:rPr>
              <a:t>1. a</a:t>
            </a:r>
          </a:p>
          <a:p>
            <a:r>
              <a:rPr lang="en-US" altLang="ko-KR" sz="1000" dirty="0">
                <a:solidFill>
                  <a:schemeClr val="tx1"/>
                </a:solidFill>
              </a:rPr>
              <a:t>2. b</a:t>
            </a:r>
          </a:p>
          <a:p>
            <a:r>
              <a:rPr lang="en-US" altLang="ko-KR" sz="1000" dirty="0">
                <a:solidFill>
                  <a:schemeClr val="tx1"/>
                </a:solidFill>
              </a:rPr>
              <a:t>3. c</a:t>
            </a:r>
          </a:p>
        </p:txBody>
      </p:sp>
      <p:cxnSp>
        <p:nvCxnSpPr>
          <p:cNvPr id="5" name="직선 연결선 4"/>
          <p:cNvCxnSpPr>
            <a:cxnSpLocks/>
            <a:stCxn id="84" idx="0"/>
            <a:endCxn id="59" idx="2"/>
          </p:cNvCxnSpPr>
          <p:nvPr/>
        </p:nvCxnSpPr>
        <p:spPr>
          <a:xfrm flipV="1">
            <a:off x="1262205" y="3076936"/>
            <a:ext cx="0" cy="10632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5" name="직사각형 84"/>
          <p:cNvSpPr/>
          <p:nvPr/>
        </p:nvSpPr>
        <p:spPr>
          <a:xfrm>
            <a:off x="3181634" y="2738438"/>
            <a:ext cx="1133192" cy="33849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설정등록</a:t>
            </a:r>
            <a:r>
              <a:rPr lang="en-US" altLang="ko-KR" sz="1000" dirty="0">
                <a:solidFill>
                  <a:schemeClr val="tx1"/>
                </a:solidFill>
              </a:rPr>
              <a:t>(X)</a:t>
            </a:r>
            <a:endParaRPr lang="ko-KR" altLang="en-US" sz="1000" dirty="0">
              <a:solidFill>
                <a:schemeClr val="tx1"/>
              </a:solidFill>
            </a:endParaRPr>
          </a:p>
        </p:txBody>
      </p:sp>
      <p:sp>
        <p:nvSpPr>
          <p:cNvPr id="88" name="직사각형 87"/>
          <p:cNvSpPr/>
          <p:nvPr/>
        </p:nvSpPr>
        <p:spPr>
          <a:xfrm>
            <a:off x="6810659" y="2738438"/>
            <a:ext cx="1133192" cy="33849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연장전</a:t>
            </a:r>
            <a:endParaRPr lang="en-US" altLang="ko-KR" sz="1000" dirty="0">
              <a:solidFill>
                <a:schemeClr val="tx1"/>
              </a:solidFill>
            </a:endParaRPr>
          </a:p>
          <a:p>
            <a:pPr algn="ctr"/>
            <a:r>
              <a:rPr lang="ko-KR" altLang="en-US" sz="1000" dirty="0">
                <a:solidFill>
                  <a:schemeClr val="tx1"/>
                </a:solidFill>
              </a:rPr>
              <a:t>만료일</a:t>
            </a:r>
            <a:r>
              <a:rPr lang="en-US" altLang="ko-KR" sz="1000" dirty="0">
                <a:solidFill>
                  <a:schemeClr val="tx1"/>
                </a:solidFill>
              </a:rPr>
              <a:t>(X)</a:t>
            </a:r>
            <a:endParaRPr lang="ko-KR" altLang="en-US" sz="1000" dirty="0">
              <a:solidFill>
                <a:schemeClr val="tx1"/>
              </a:solidFill>
            </a:endParaRPr>
          </a:p>
        </p:txBody>
      </p:sp>
      <p:sp>
        <p:nvSpPr>
          <p:cNvPr id="89" name="타원 88"/>
          <p:cNvSpPr/>
          <p:nvPr/>
        </p:nvSpPr>
        <p:spPr>
          <a:xfrm>
            <a:off x="2597987" y="2840832"/>
            <a:ext cx="154738" cy="133710"/>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90" name="직사각형 89"/>
          <p:cNvSpPr/>
          <p:nvPr/>
        </p:nvSpPr>
        <p:spPr>
          <a:xfrm>
            <a:off x="9114589" y="2738438"/>
            <a:ext cx="1199865" cy="33849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연장된 존속기간</a:t>
            </a:r>
            <a:endParaRPr lang="en-US" altLang="ko-KR" sz="1000" dirty="0">
              <a:solidFill>
                <a:schemeClr val="tx1"/>
              </a:solidFill>
            </a:endParaRPr>
          </a:p>
          <a:p>
            <a:pPr algn="ctr"/>
            <a:r>
              <a:rPr lang="ko-KR" altLang="en-US" sz="1000" dirty="0">
                <a:solidFill>
                  <a:schemeClr val="tx1"/>
                </a:solidFill>
              </a:rPr>
              <a:t>만료</a:t>
            </a:r>
            <a:r>
              <a:rPr lang="en-US" altLang="ko-KR" sz="1000" dirty="0">
                <a:solidFill>
                  <a:schemeClr val="tx1"/>
                </a:solidFill>
              </a:rPr>
              <a:t>(X)</a:t>
            </a:r>
            <a:endParaRPr lang="ko-KR" altLang="en-US" sz="1000" dirty="0">
              <a:solidFill>
                <a:schemeClr val="tx1"/>
              </a:solidFill>
            </a:endParaRPr>
          </a:p>
        </p:txBody>
      </p:sp>
      <p:sp>
        <p:nvSpPr>
          <p:cNvPr id="91" name="직사각형 90"/>
          <p:cNvSpPr/>
          <p:nvPr/>
        </p:nvSpPr>
        <p:spPr>
          <a:xfrm>
            <a:off x="1445461" y="3733644"/>
            <a:ext cx="3365875" cy="25396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인허가로 인해 </a:t>
            </a:r>
            <a:r>
              <a:rPr lang="en-US" altLang="ko-KR" sz="1000" dirty="0">
                <a:solidFill>
                  <a:schemeClr val="tx1"/>
                </a:solidFill>
              </a:rPr>
              <a:t>a, b</a:t>
            </a:r>
            <a:r>
              <a:rPr lang="ko-KR" altLang="en-US" sz="1000" dirty="0">
                <a:solidFill>
                  <a:schemeClr val="tx1"/>
                </a:solidFill>
              </a:rPr>
              <a:t>와 관련된 의약품</a:t>
            </a:r>
            <a:r>
              <a:rPr lang="en-US" altLang="ko-KR" sz="1000" dirty="0">
                <a:solidFill>
                  <a:schemeClr val="tx1"/>
                </a:solidFill>
              </a:rPr>
              <a:t>, </a:t>
            </a:r>
            <a:r>
              <a:rPr lang="ko-KR" altLang="en-US" sz="1000" dirty="0">
                <a:solidFill>
                  <a:schemeClr val="tx1"/>
                </a:solidFill>
              </a:rPr>
              <a:t>농약을 실시하지 못함</a:t>
            </a:r>
            <a:endParaRPr lang="en-US" altLang="ko-KR" sz="1000" dirty="0">
              <a:solidFill>
                <a:schemeClr val="tx1"/>
              </a:solidFill>
            </a:endParaRPr>
          </a:p>
        </p:txBody>
      </p:sp>
      <p:sp>
        <p:nvSpPr>
          <p:cNvPr id="94" name="타원 93"/>
          <p:cNvSpPr/>
          <p:nvPr/>
        </p:nvSpPr>
        <p:spPr>
          <a:xfrm>
            <a:off x="5836487" y="2840832"/>
            <a:ext cx="154738" cy="133710"/>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p>
        </p:txBody>
      </p:sp>
      <p:sp>
        <p:nvSpPr>
          <p:cNvPr id="99" name="직사각형 98"/>
          <p:cNvSpPr/>
          <p:nvPr/>
        </p:nvSpPr>
        <p:spPr>
          <a:xfrm>
            <a:off x="5588837" y="3666970"/>
            <a:ext cx="650038" cy="21324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a:solidFill>
                  <a:schemeClr val="tx1"/>
                </a:solidFill>
              </a:rPr>
              <a:t>인허가</a:t>
            </a:r>
            <a:endParaRPr lang="en-US" altLang="ko-KR" sz="1000" dirty="0">
              <a:solidFill>
                <a:schemeClr val="tx1"/>
              </a:solidFill>
            </a:endParaRPr>
          </a:p>
        </p:txBody>
      </p:sp>
      <p:cxnSp>
        <p:nvCxnSpPr>
          <p:cNvPr id="100" name="직선 연결선 99"/>
          <p:cNvCxnSpPr>
            <a:cxnSpLocks/>
            <a:stCxn id="99" idx="0"/>
            <a:endCxn id="94" idx="4"/>
          </p:cNvCxnSpPr>
          <p:nvPr/>
        </p:nvCxnSpPr>
        <p:spPr>
          <a:xfrm flipV="1">
            <a:off x="5913856" y="2974542"/>
            <a:ext cx="0" cy="692428"/>
          </a:xfrm>
          <a:prstGeom prst="line">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2" name="직사각형 101"/>
          <p:cNvSpPr/>
          <p:nvPr/>
        </p:nvSpPr>
        <p:spPr>
          <a:xfrm>
            <a:off x="4215500" y="3201745"/>
            <a:ext cx="650038" cy="161319"/>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l-GR" altLang="ko-KR" sz="1000" dirty="0">
                <a:solidFill>
                  <a:srgbClr val="FF0000"/>
                </a:solidFill>
                <a:latin typeface="+mn-ea"/>
              </a:rPr>
              <a:t>α</a:t>
            </a:r>
            <a:endParaRPr lang="en-US" altLang="ko-KR" sz="1000" dirty="0">
              <a:solidFill>
                <a:srgbClr val="FF0000"/>
              </a:solidFill>
              <a:latin typeface="+mn-ea"/>
            </a:endParaRPr>
          </a:p>
        </p:txBody>
      </p:sp>
      <p:sp>
        <p:nvSpPr>
          <p:cNvPr id="111" name="직사각형 110"/>
          <p:cNvSpPr/>
          <p:nvPr/>
        </p:nvSpPr>
        <p:spPr>
          <a:xfrm>
            <a:off x="8374343" y="3206594"/>
            <a:ext cx="650038" cy="161319"/>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rgbClr val="FF0000"/>
                </a:solidFill>
                <a:latin typeface="+mn-ea"/>
              </a:rPr>
              <a:t>ß</a:t>
            </a:r>
          </a:p>
        </p:txBody>
      </p:sp>
      <p:sp>
        <p:nvSpPr>
          <p:cNvPr id="113" name="직사각형 112"/>
          <p:cNvSpPr/>
          <p:nvPr/>
        </p:nvSpPr>
        <p:spPr>
          <a:xfrm>
            <a:off x="4540519" y="2458205"/>
            <a:ext cx="1967962" cy="2132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solidFill>
              </a:rPr>
              <a:t>원래의 존속기간</a:t>
            </a:r>
            <a:r>
              <a:rPr lang="en-US" altLang="ko-KR" sz="1000" dirty="0">
                <a:solidFill>
                  <a:schemeClr val="bg1"/>
                </a:solidFill>
              </a:rPr>
              <a:t>(</a:t>
            </a:r>
            <a:r>
              <a:rPr lang="ko-KR" altLang="en-US" sz="1000" dirty="0">
                <a:solidFill>
                  <a:schemeClr val="bg1"/>
                </a:solidFill>
              </a:rPr>
              <a:t>제</a:t>
            </a:r>
            <a:r>
              <a:rPr lang="en-US" altLang="ko-KR" sz="1000" dirty="0">
                <a:solidFill>
                  <a:schemeClr val="bg1"/>
                </a:solidFill>
              </a:rPr>
              <a:t>94</a:t>
            </a:r>
            <a:r>
              <a:rPr lang="ko-KR" altLang="en-US" sz="1000" dirty="0">
                <a:solidFill>
                  <a:schemeClr val="bg1"/>
                </a:solidFill>
              </a:rPr>
              <a:t>조</a:t>
            </a:r>
            <a:r>
              <a:rPr lang="en-US" altLang="ko-KR" sz="1000" dirty="0">
                <a:solidFill>
                  <a:schemeClr val="bg1"/>
                </a:solidFill>
              </a:rPr>
              <a:t>)</a:t>
            </a:r>
          </a:p>
          <a:p>
            <a:pPr algn="ctr"/>
            <a:r>
              <a:rPr lang="en-US" altLang="ko-KR" sz="1000" dirty="0">
                <a:solidFill>
                  <a:schemeClr val="bg1"/>
                </a:solidFill>
              </a:rPr>
              <a:t>(a, b, c </a:t>
            </a:r>
            <a:r>
              <a:rPr lang="ko-KR" altLang="en-US" sz="1000" dirty="0">
                <a:solidFill>
                  <a:schemeClr val="bg1"/>
                </a:solidFill>
              </a:rPr>
              <a:t>모두 효력 인정</a:t>
            </a:r>
            <a:r>
              <a:rPr lang="en-US" altLang="ko-KR" sz="1000" dirty="0">
                <a:solidFill>
                  <a:schemeClr val="bg1"/>
                </a:solidFill>
              </a:rPr>
              <a:t>)</a:t>
            </a:r>
          </a:p>
        </p:txBody>
      </p:sp>
      <p:sp>
        <p:nvSpPr>
          <p:cNvPr id="120" name="직사각형 119"/>
          <p:cNvSpPr/>
          <p:nvPr/>
        </p:nvSpPr>
        <p:spPr>
          <a:xfrm>
            <a:off x="7338339" y="2412395"/>
            <a:ext cx="2452239" cy="26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solidFill>
              </a:rPr>
              <a:t>연장된 존속기간</a:t>
            </a:r>
            <a:r>
              <a:rPr lang="en-US" altLang="ko-KR" sz="1000" dirty="0">
                <a:solidFill>
                  <a:schemeClr val="bg1"/>
                </a:solidFill>
              </a:rPr>
              <a:t>(</a:t>
            </a:r>
            <a:r>
              <a:rPr lang="ko-KR" altLang="en-US" sz="1000" dirty="0">
                <a:solidFill>
                  <a:schemeClr val="bg1"/>
                </a:solidFill>
              </a:rPr>
              <a:t>제</a:t>
            </a:r>
            <a:r>
              <a:rPr lang="en-US" altLang="ko-KR" sz="1000" dirty="0">
                <a:solidFill>
                  <a:schemeClr val="bg1"/>
                </a:solidFill>
              </a:rPr>
              <a:t>95</a:t>
            </a:r>
            <a:r>
              <a:rPr lang="ko-KR" altLang="en-US" sz="1000" dirty="0">
                <a:solidFill>
                  <a:schemeClr val="bg1"/>
                </a:solidFill>
              </a:rPr>
              <a:t>조</a:t>
            </a:r>
            <a:r>
              <a:rPr lang="en-US" altLang="ko-KR" sz="1000" dirty="0">
                <a:solidFill>
                  <a:schemeClr val="bg1"/>
                </a:solidFill>
              </a:rPr>
              <a:t>)</a:t>
            </a:r>
          </a:p>
          <a:p>
            <a:pPr algn="ctr"/>
            <a:r>
              <a:rPr lang="en-US" altLang="ko-KR" sz="1000" dirty="0">
                <a:solidFill>
                  <a:schemeClr val="bg1"/>
                </a:solidFill>
              </a:rPr>
              <a:t>(a, b</a:t>
            </a:r>
            <a:r>
              <a:rPr lang="ko-KR" altLang="en-US" sz="1000" dirty="0">
                <a:solidFill>
                  <a:schemeClr val="bg1"/>
                </a:solidFill>
              </a:rPr>
              <a:t>와 관련된 의약품</a:t>
            </a:r>
            <a:r>
              <a:rPr lang="en-US" altLang="ko-KR" sz="1000" dirty="0">
                <a:solidFill>
                  <a:schemeClr val="bg1"/>
                </a:solidFill>
              </a:rPr>
              <a:t>, </a:t>
            </a:r>
            <a:r>
              <a:rPr lang="ko-KR" altLang="en-US" sz="1000" dirty="0">
                <a:solidFill>
                  <a:schemeClr val="bg1"/>
                </a:solidFill>
              </a:rPr>
              <a:t>농약 효력 인정</a:t>
            </a:r>
            <a:r>
              <a:rPr lang="en-US" altLang="ko-KR" sz="1000" dirty="0">
                <a:solidFill>
                  <a:schemeClr val="bg1"/>
                </a:solidFill>
              </a:rPr>
              <a:t>)</a:t>
            </a:r>
          </a:p>
        </p:txBody>
      </p:sp>
      <p:cxnSp>
        <p:nvCxnSpPr>
          <p:cNvPr id="28" name="직선 연결선 27"/>
          <p:cNvCxnSpPr/>
          <p:nvPr/>
        </p:nvCxnSpPr>
        <p:spPr>
          <a:xfrm>
            <a:off x="1262205" y="2151337"/>
            <a:ext cx="6115050" cy="0"/>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3" name="직사각형 152"/>
          <p:cNvSpPr/>
          <p:nvPr/>
        </p:nvSpPr>
        <p:spPr>
          <a:xfrm>
            <a:off x="2358443" y="2254627"/>
            <a:ext cx="1213284" cy="252604"/>
          </a:xfrm>
          <a:prstGeom prst="rect">
            <a:avLst/>
          </a:prstGeom>
          <a:solidFill>
            <a:schemeClr val="tx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연장기간에 </a:t>
            </a:r>
            <a:r>
              <a:rPr lang="ko-KR" altLang="en-US" sz="1000" dirty="0" err="1">
                <a:solidFill>
                  <a:schemeClr val="tx1"/>
                </a:solidFill>
              </a:rPr>
              <a:t>불포함</a:t>
            </a:r>
            <a:endParaRPr lang="en-US" altLang="ko-KR" sz="1000" dirty="0">
              <a:solidFill>
                <a:schemeClr val="tx1"/>
              </a:solidFill>
            </a:endParaRPr>
          </a:p>
        </p:txBody>
      </p:sp>
      <p:cxnSp>
        <p:nvCxnSpPr>
          <p:cNvPr id="154" name="직선 연결선 153"/>
          <p:cNvCxnSpPr/>
          <p:nvPr/>
        </p:nvCxnSpPr>
        <p:spPr>
          <a:xfrm flipH="1">
            <a:off x="2962275" y="2491144"/>
            <a:ext cx="1" cy="377327"/>
          </a:xfrm>
          <a:prstGeom prst="line">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 name="화살표: 위로 구부러짐 5">
            <a:extLst>
              <a:ext uri="{FF2B5EF4-FFF2-40B4-BE49-F238E27FC236}">
                <a16:creationId xmlns:a16="http://schemas.microsoft.com/office/drawing/2014/main" id="{2D9F2852-FAC3-4CBB-94F3-79276411D68C}"/>
              </a:ext>
            </a:extLst>
          </p:cNvPr>
          <p:cNvSpPr/>
          <p:nvPr/>
        </p:nvSpPr>
        <p:spPr>
          <a:xfrm>
            <a:off x="4666798" y="3307325"/>
            <a:ext cx="4014634" cy="306939"/>
          </a:xfrm>
          <a:prstGeom prst="curvedUpArrow">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solidFill>
                <a:schemeClr val="tx1"/>
              </a:solidFill>
            </a:endParaRPr>
          </a:p>
        </p:txBody>
      </p:sp>
      <p:cxnSp>
        <p:nvCxnSpPr>
          <p:cNvPr id="7" name="직선 연결선 6">
            <a:extLst>
              <a:ext uri="{FF2B5EF4-FFF2-40B4-BE49-F238E27FC236}">
                <a16:creationId xmlns:a16="http://schemas.microsoft.com/office/drawing/2014/main" id="{F0585547-E3E8-5090-60D6-DEDF7881F525}"/>
              </a:ext>
            </a:extLst>
          </p:cNvPr>
          <p:cNvCxnSpPr>
            <a:cxnSpLocks/>
          </p:cNvCxnSpPr>
          <p:nvPr/>
        </p:nvCxnSpPr>
        <p:spPr>
          <a:xfrm>
            <a:off x="10864526" y="2065929"/>
            <a:ext cx="0" cy="193106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00E027B3-06D9-81D2-8EAD-FC04C7590F1C}"/>
              </a:ext>
            </a:extLst>
          </p:cNvPr>
          <p:cNvCxnSpPr>
            <a:cxnSpLocks/>
            <a:stCxn id="99" idx="3"/>
          </p:cNvCxnSpPr>
          <p:nvPr/>
        </p:nvCxnSpPr>
        <p:spPr>
          <a:xfrm flipV="1">
            <a:off x="6238875" y="3768531"/>
            <a:ext cx="4625651" cy="5060"/>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직사각형 9">
            <a:extLst>
              <a:ext uri="{FF2B5EF4-FFF2-40B4-BE49-F238E27FC236}">
                <a16:creationId xmlns:a16="http://schemas.microsoft.com/office/drawing/2014/main" id="{08C3110C-E132-4F51-6A61-88771DA3BDB4}"/>
              </a:ext>
            </a:extLst>
          </p:cNvPr>
          <p:cNvSpPr/>
          <p:nvPr/>
        </p:nvSpPr>
        <p:spPr>
          <a:xfrm>
            <a:off x="7994612" y="3783753"/>
            <a:ext cx="650038" cy="2132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14</a:t>
            </a:r>
            <a:r>
              <a:rPr lang="ko-KR" altLang="en-US" sz="1000" dirty="0">
                <a:solidFill>
                  <a:schemeClr val="tx1"/>
                </a:solidFill>
              </a:rPr>
              <a:t>년</a:t>
            </a:r>
            <a:endParaRPr lang="en-US" altLang="ko-KR" sz="1000" dirty="0">
              <a:solidFill>
                <a:schemeClr val="tx1"/>
              </a:solidFill>
            </a:endParaRPr>
          </a:p>
        </p:txBody>
      </p:sp>
      <p:sp>
        <p:nvSpPr>
          <p:cNvPr id="106" name="직사각형 105"/>
          <p:cNvSpPr/>
          <p:nvPr/>
        </p:nvSpPr>
        <p:spPr>
          <a:xfrm>
            <a:off x="8804794" y="3298360"/>
            <a:ext cx="1992451" cy="414088"/>
          </a:xfrm>
          <a:prstGeom prst="rect">
            <a:avLst/>
          </a:prstGeom>
          <a:solidFill>
            <a:schemeClr val="tx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연장가능기간은 </a:t>
            </a:r>
            <a:r>
              <a:rPr lang="el-GR" altLang="ko-KR" sz="1000" dirty="0">
                <a:solidFill>
                  <a:schemeClr val="tx1"/>
                </a:solidFill>
                <a:latin typeface="+mn-ea"/>
              </a:rPr>
              <a:t>α</a:t>
            </a:r>
            <a:r>
              <a:rPr lang="ko-KR" altLang="en-US" sz="1000" dirty="0">
                <a:solidFill>
                  <a:schemeClr val="tx1"/>
                </a:solidFill>
              </a:rPr>
              <a:t>가 </a:t>
            </a:r>
            <a:r>
              <a:rPr lang="en-US" altLang="ko-KR" sz="1000" dirty="0">
                <a:solidFill>
                  <a:schemeClr val="tx1"/>
                </a:solidFill>
              </a:rPr>
              <a:t>5</a:t>
            </a:r>
            <a:r>
              <a:rPr lang="ko-KR" altLang="en-US" sz="1000" dirty="0">
                <a:solidFill>
                  <a:schemeClr val="tx1"/>
                </a:solidFill>
              </a:rPr>
              <a:t>년 이상이면 </a:t>
            </a:r>
            <a:r>
              <a:rPr lang="en-US" altLang="ko-KR" sz="1000" dirty="0">
                <a:solidFill>
                  <a:schemeClr val="tx1"/>
                </a:solidFill>
              </a:rPr>
              <a:t>5</a:t>
            </a:r>
            <a:r>
              <a:rPr lang="ko-KR" altLang="en-US" sz="1000" dirty="0">
                <a:solidFill>
                  <a:schemeClr val="tx1"/>
                </a:solidFill>
              </a:rPr>
              <a:t>년</a:t>
            </a:r>
            <a:r>
              <a:rPr lang="en-US" altLang="ko-KR" sz="1000" dirty="0">
                <a:solidFill>
                  <a:schemeClr val="tx1"/>
                </a:solidFill>
              </a:rPr>
              <a:t>, 5</a:t>
            </a:r>
            <a:r>
              <a:rPr lang="ko-KR" altLang="en-US" sz="1000" dirty="0">
                <a:solidFill>
                  <a:schemeClr val="tx1"/>
                </a:solidFill>
              </a:rPr>
              <a:t>년 미만이면 </a:t>
            </a:r>
            <a:r>
              <a:rPr lang="el-GR" altLang="ko-KR" sz="1000" dirty="0">
                <a:solidFill>
                  <a:schemeClr val="tx1"/>
                </a:solidFill>
                <a:latin typeface="+mn-ea"/>
              </a:rPr>
              <a:t>α</a:t>
            </a:r>
            <a:r>
              <a:rPr lang="ko-KR" altLang="en-US" sz="1000" dirty="0">
                <a:solidFill>
                  <a:schemeClr val="tx1"/>
                </a:solidFill>
              </a:rPr>
              <a:t> </a:t>
            </a:r>
            <a:endParaRPr lang="en-US" altLang="ko-KR" sz="1000" dirty="0">
              <a:solidFill>
                <a:schemeClr val="tx1"/>
              </a:solidFill>
            </a:endParaRPr>
          </a:p>
        </p:txBody>
      </p:sp>
      <p:cxnSp>
        <p:nvCxnSpPr>
          <p:cNvPr id="24" name="연결선: 꺾임 23">
            <a:extLst>
              <a:ext uri="{FF2B5EF4-FFF2-40B4-BE49-F238E27FC236}">
                <a16:creationId xmlns:a16="http://schemas.microsoft.com/office/drawing/2014/main" id="{0ECC762B-6EBA-2B95-93C4-130299B11C08}"/>
              </a:ext>
            </a:extLst>
          </p:cNvPr>
          <p:cNvCxnSpPr>
            <a:stCxn id="91" idx="0"/>
            <a:endCxn id="89" idx="4"/>
          </p:cNvCxnSpPr>
          <p:nvPr/>
        </p:nvCxnSpPr>
        <p:spPr>
          <a:xfrm rot="16200000" flipV="1">
            <a:off x="2522327" y="3127571"/>
            <a:ext cx="759102" cy="453043"/>
          </a:xfrm>
          <a:prstGeom prst="bentConnector3">
            <a:avLst/>
          </a:prstGeom>
          <a:ln w="127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2" name="직사각형 31">
            <a:extLst>
              <a:ext uri="{FF2B5EF4-FFF2-40B4-BE49-F238E27FC236}">
                <a16:creationId xmlns:a16="http://schemas.microsoft.com/office/drawing/2014/main" id="{EDD4291A-359E-1388-A9E9-744FFF846904}"/>
              </a:ext>
            </a:extLst>
          </p:cNvPr>
          <p:cNvSpPr/>
          <p:nvPr/>
        </p:nvSpPr>
        <p:spPr>
          <a:xfrm>
            <a:off x="91285" y="4265237"/>
            <a:ext cx="11922912" cy="1200329"/>
          </a:xfrm>
          <a:prstGeom prst="rect">
            <a:avLst/>
          </a:prstGeom>
          <a:ln>
            <a:solidFill>
              <a:schemeClr val="bg1">
                <a:lumMod val="50000"/>
              </a:schemeClr>
            </a:solidFill>
          </a:ln>
        </p:spPr>
        <p:txBody>
          <a:bodyPr wrap="square">
            <a:spAutoFit/>
          </a:bodyPr>
          <a:lstStyle/>
          <a:p>
            <a:pPr algn="just"/>
            <a:r>
              <a:rPr lang="ko-KR" altLang="en-US" sz="1200" dirty="0"/>
              <a:t>특허법은 이와 같이 존속기간이 연장된 특허권의 효력이 미치는 범위를 규정하면서 청구범위를 기준으로 하지 않고 ‘그 연장등록의 이유가 된 허가 등의 대상물건에 관한 특허발명의 </a:t>
            </a:r>
            <a:r>
              <a:rPr lang="ko-KR" altLang="en-US" sz="1200" dirty="0" err="1"/>
              <a:t>실시’로</a:t>
            </a:r>
            <a:r>
              <a:rPr lang="ko-KR" altLang="en-US" sz="1200" dirty="0"/>
              <a:t> 규정하고 있을 뿐</a:t>
            </a:r>
            <a:r>
              <a:rPr lang="en-US" altLang="ko-KR" sz="1200" dirty="0"/>
              <a:t>, </a:t>
            </a:r>
            <a:r>
              <a:rPr lang="ko-KR" altLang="en-US" sz="1200" dirty="0"/>
              <a:t>허가 등의 대상 </a:t>
            </a:r>
            <a:r>
              <a:rPr lang="ko-KR" altLang="en-US" sz="1200" dirty="0">
                <a:highlight>
                  <a:srgbClr val="FF0000"/>
                </a:highlight>
              </a:rPr>
              <a:t>‘품목</a:t>
            </a:r>
            <a:r>
              <a:rPr lang="en-US" altLang="ko-KR" sz="1200" dirty="0">
                <a:highlight>
                  <a:srgbClr val="FF0000"/>
                </a:highlight>
              </a:rPr>
              <a:t>(</a:t>
            </a:r>
            <a:r>
              <a:rPr lang="ko-KR" altLang="en-US" sz="1200" dirty="0">
                <a:highlight>
                  <a:srgbClr val="FF0000"/>
                </a:highlight>
              </a:rPr>
              <a:t>하급심 판결</a:t>
            </a:r>
            <a:r>
              <a:rPr lang="en-US" altLang="ko-KR" sz="1200" dirty="0">
                <a:highlight>
                  <a:srgbClr val="FF0000"/>
                </a:highlight>
              </a:rPr>
              <a:t>)</a:t>
            </a:r>
            <a:r>
              <a:rPr lang="ko-KR" altLang="en-US" sz="1200" dirty="0">
                <a:highlight>
                  <a:srgbClr val="FF0000"/>
                </a:highlight>
              </a:rPr>
              <a:t>’</a:t>
            </a:r>
            <a:r>
              <a:rPr lang="ko-KR" altLang="en-US" sz="1200" dirty="0"/>
              <a:t>의 실시로 제한하지는 않았다</a:t>
            </a:r>
            <a:r>
              <a:rPr lang="en-US" altLang="ko-KR" sz="1200" dirty="0"/>
              <a:t>. </a:t>
            </a:r>
            <a:r>
              <a:rPr lang="ko-KR" altLang="en-US" sz="1200" dirty="0"/>
              <a:t>이러한 법령의 규정과 제도의 취지 등에 비추어 보면</a:t>
            </a:r>
            <a:r>
              <a:rPr lang="en-US" altLang="ko-KR" sz="1200" dirty="0"/>
              <a:t>, </a:t>
            </a:r>
            <a:r>
              <a:rPr lang="ko-KR" altLang="en-US" sz="1200" dirty="0"/>
              <a:t>존속기간이 연장된 의약품 특허권의 효력이 미치는 범위는 특허발명을 실시하기 위하여</a:t>
            </a:r>
            <a:r>
              <a:rPr lang="ko-KR" altLang="en-US" sz="1200" dirty="0">
                <a:highlight>
                  <a:srgbClr val="FFFF00"/>
                </a:highlight>
              </a:rPr>
              <a:t> 약사법에 따라 품목허가를 받은 의약품과 특정 질병에 대한 치료효과를 나타낼 것으로 기대되는 특정한 유효성분</a:t>
            </a:r>
            <a:r>
              <a:rPr lang="en-US" altLang="ko-KR" sz="1200" dirty="0">
                <a:highlight>
                  <a:srgbClr val="FFFF00"/>
                </a:highlight>
              </a:rPr>
              <a:t>, </a:t>
            </a:r>
            <a:r>
              <a:rPr lang="ko-KR" altLang="en-US" sz="1200" dirty="0">
                <a:highlight>
                  <a:srgbClr val="FFFF00"/>
                </a:highlight>
              </a:rPr>
              <a:t>치료효과 및 용도가 동일한지 여부를 중심으로 판단</a:t>
            </a:r>
            <a:r>
              <a:rPr lang="ko-KR" altLang="en-US" sz="1200" dirty="0"/>
              <a:t>해야 한다</a:t>
            </a:r>
            <a:r>
              <a:rPr lang="en-US" altLang="ko-KR" sz="1200" dirty="0"/>
              <a:t>. </a:t>
            </a:r>
            <a:r>
              <a:rPr lang="ko-KR" altLang="en-US" sz="1200" dirty="0"/>
              <a:t>특허권자가 약사법에 따라 품목허가를 받은 의약품과 특허침해소송에서 상대방이 생산 등을 한 의약품</a:t>
            </a:r>
            <a:r>
              <a:rPr lang="en-US" altLang="ko-KR" sz="1200" dirty="0"/>
              <a:t>(</a:t>
            </a:r>
            <a:r>
              <a:rPr lang="ko-KR" altLang="en-US" sz="1200" dirty="0"/>
              <a:t>이하 ‘</a:t>
            </a:r>
            <a:r>
              <a:rPr lang="ko-KR" altLang="en-US" sz="1200" dirty="0" err="1"/>
              <a:t>침해제품’이라</a:t>
            </a:r>
            <a:r>
              <a:rPr lang="ko-KR" altLang="en-US" sz="1200" dirty="0"/>
              <a:t> 한다</a:t>
            </a:r>
            <a:r>
              <a:rPr lang="en-US" altLang="ko-KR" sz="1200" dirty="0"/>
              <a:t>)</a:t>
            </a:r>
            <a:r>
              <a:rPr lang="ko-KR" altLang="en-US" sz="1200" dirty="0"/>
              <a:t>이 약학적으로 허용 가능한 염 등에서 차이가 있더라도 </a:t>
            </a:r>
            <a:r>
              <a:rPr lang="en-US" altLang="ko-KR" sz="1200" dirty="0"/>
              <a:t>ⅰ) </a:t>
            </a:r>
            <a:r>
              <a:rPr lang="ko-KR" altLang="en-US" sz="1200" dirty="0"/>
              <a:t>통상의 기술자라면 쉽게 이를 선택할 수 있는 정도에 불과하고</a:t>
            </a:r>
            <a:r>
              <a:rPr lang="en-US" altLang="ko-KR" sz="1200" dirty="0"/>
              <a:t>, ⅱ) </a:t>
            </a:r>
            <a:r>
              <a:rPr lang="ko-KR" altLang="en-US" sz="1200" dirty="0"/>
              <a:t>인체에 흡수되는 유효성분</a:t>
            </a:r>
            <a:r>
              <a:rPr lang="en-US" altLang="ko-KR" sz="1200" dirty="0">
                <a:solidFill>
                  <a:srgbClr val="FF0000"/>
                </a:solidFill>
              </a:rPr>
              <a:t>(</a:t>
            </a:r>
            <a:r>
              <a:rPr lang="ko-KR" altLang="en-US" sz="1200" dirty="0" err="1">
                <a:solidFill>
                  <a:srgbClr val="FF0000"/>
                </a:solidFill>
              </a:rPr>
              <a:t>솔리페나신</a:t>
            </a:r>
            <a:r>
              <a:rPr lang="en-US" altLang="ko-KR" sz="1200" dirty="0">
                <a:solidFill>
                  <a:srgbClr val="FF0000"/>
                </a:solidFill>
              </a:rPr>
              <a:t>)</a:t>
            </a:r>
            <a:r>
              <a:rPr lang="ko-KR" altLang="en-US" sz="1200" dirty="0"/>
              <a:t>의 약리작용에 의해 나타나는 치료효과나 용도가 실질적으로 동일하다면 존속기간이 연장된 특허권의 효력이 침해제품에 미치는 것으로 보아야 한다</a:t>
            </a:r>
            <a:r>
              <a:rPr lang="en-US" altLang="ko-KR" sz="1200" dirty="0"/>
              <a:t>(</a:t>
            </a:r>
            <a:r>
              <a:rPr lang="ko-KR" altLang="en-US" sz="1200" dirty="0"/>
              <a:t>대법원 </a:t>
            </a:r>
            <a:r>
              <a:rPr lang="en-US" altLang="ko-KR" sz="1200" dirty="0"/>
              <a:t>2019. 1. 17. </a:t>
            </a:r>
            <a:r>
              <a:rPr lang="ko-KR" altLang="en-US" sz="1200" dirty="0"/>
              <a:t>선고 </a:t>
            </a:r>
            <a:r>
              <a:rPr lang="en-US" altLang="ko-KR" sz="1200" dirty="0"/>
              <a:t>2017</a:t>
            </a:r>
            <a:r>
              <a:rPr lang="ko-KR" altLang="en-US" sz="1200" dirty="0"/>
              <a:t>다</a:t>
            </a:r>
            <a:r>
              <a:rPr lang="en-US" altLang="ko-KR" sz="1200" dirty="0"/>
              <a:t>245789).</a:t>
            </a:r>
            <a:endParaRPr lang="ko-KR" altLang="en-US" sz="1200" dirty="0"/>
          </a:p>
        </p:txBody>
      </p:sp>
      <p:sp>
        <p:nvSpPr>
          <p:cNvPr id="33" name="TextBox 32">
            <a:extLst>
              <a:ext uri="{FF2B5EF4-FFF2-40B4-BE49-F238E27FC236}">
                <a16:creationId xmlns:a16="http://schemas.microsoft.com/office/drawing/2014/main" id="{DC93D84D-79EA-2350-FC4A-B7415FAA3B23}"/>
              </a:ext>
            </a:extLst>
          </p:cNvPr>
          <p:cNvSpPr txBox="1"/>
          <p:nvPr/>
        </p:nvSpPr>
        <p:spPr>
          <a:xfrm>
            <a:off x="96926" y="5525726"/>
            <a:ext cx="5208500" cy="600164"/>
          </a:xfrm>
          <a:prstGeom prst="rect">
            <a:avLst/>
          </a:prstGeom>
          <a:solidFill>
            <a:schemeClr val="bg1">
              <a:lumMod val="85000"/>
            </a:schemeClr>
          </a:solidFill>
          <a:ln>
            <a:solidFill>
              <a:schemeClr val="bg2">
                <a:lumMod val="50000"/>
              </a:schemeClr>
            </a:solidFill>
          </a:ln>
        </p:spPr>
        <p:txBody>
          <a:bodyPr wrap="square" rtlCol="0">
            <a:spAutoFit/>
          </a:bodyPr>
          <a:lstStyle/>
          <a:p>
            <a:r>
              <a:rPr lang="ko-KR" altLang="en-US" sz="1100" dirty="0">
                <a:solidFill>
                  <a:srgbClr val="FF0000"/>
                </a:solidFill>
              </a:rPr>
              <a:t>특허발명</a:t>
            </a:r>
            <a:r>
              <a:rPr lang="en-US" altLang="ko-KR" sz="1100" dirty="0">
                <a:solidFill>
                  <a:srgbClr val="FF0000"/>
                </a:solidFill>
              </a:rPr>
              <a:t>: </a:t>
            </a:r>
            <a:r>
              <a:rPr lang="ko-KR" altLang="en-US" sz="1100" dirty="0"/>
              <a:t>과민성 방광증상 등에 치료효과를 가지는 특정 기본골격을 갖는 </a:t>
            </a:r>
            <a:r>
              <a:rPr lang="ko-KR" altLang="en-US" sz="1100" dirty="0" err="1"/>
              <a:t>화합물’을</a:t>
            </a:r>
            <a:r>
              <a:rPr lang="ko-KR" altLang="en-US" sz="1100" dirty="0"/>
              <a:t> 특징으로 하는 </a:t>
            </a:r>
            <a:r>
              <a:rPr lang="ko-KR" altLang="en-US" sz="1100" dirty="0" err="1"/>
              <a:t>물질특허인데</a:t>
            </a:r>
            <a:r>
              <a:rPr lang="en-US" altLang="ko-KR" sz="1100" dirty="0"/>
              <a:t>, </a:t>
            </a:r>
            <a:r>
              <a:rPr lang="ko-KR" altLang="en-US" sz="1100" dirty="0"/>
              <a:t>그 </a:t>
            </a:r>
            <a:r>
              <a:rPr lang="ko-KR" altLang="en-US" sz="1100" dirty="0" err="1"/>
              <a:t>유리염기</a:t>
            </a:r>
            <a:r>
              <a:rPr lang="ko-KR" altLang="en-US" sz="1100" dirty="0"/>
              <a:t> 형태의 특정 화합물은 </a:t>
            </a:r>
            <a:r>
              <a:rPr lang="ko-KR" altLang="en-US" sz="1100" dirty="0" err="1"/>
              <a:t>숙신산이나</a:t>
            </a:r>
            <a:r>
              <a:rPr lang="ko-KR" altLang="en-US" sz="1100" dirty="0"/>
              <a:t> </a:t>
            </a:r>
            <a:r>
              <a:rPr lang="ko-KR" altLang="en-US" sz="1100" dirty="0" err="1"/>
              <a:t>푸마르산을</a:t>
            </a:r>
            <a:r>
              <a:rPr lang="ko-KR" altLang="en-US" sz="1100" dirty="0"/>
              <a:t> 비롯한 다양한 산과 염 화합물을 형성</a:t>
            </a:r>
          </a:p>
        </p:txBody>
      </p:sp>
      <p:sp>
        <p:nvSpPr>
          <p:cNvPr id="34" name="TextBox 33">
            <a:extLst>
              <a:ext uri="{FF2B5EF4-FFF2-40B4-BE49-F238E27FC236}">
                <a16:creationId xmlns:a16="http://schemas.microsoft.com/office/drawing/2014/main" id="{81669BEF-49E0-D7A8-F50C-E302623A2771}"/>
              </a:ext>
            </a:extLst>
          </p:cNvPr>
          <p:cNvSpPr txBox="1"/>
          <p:nvPr/>
        </p:nvSpPr>
        <p:spPr>
          <a:xfrm>
            <a:off x="91286" y="6171932"/>
            <a:ext cx="5214140" cy="430887"/>
          </a:xfrm>
          <a:prstGeom prst="rect">
            <a:avLst/>
          </a:prstGeom>
          <a:solidFill>
            <a:schemeClr val="bg1">
              <a:lumMod val="85000"/>
            </a:schemeClr>
          </a:solidFill>
          <a:ln>
            <a:solidFill>
              <a:schemeClr val="bg2">
                <a:lumMod val="50000"/>
              </a:schemeClr>
            </a:solidFill>
          </a:ln>
        </p:spPr>
        <p:txBody>
          <a:bodyPr wrap="square" rtlCol="0">
            <a:spAutoFit/>
          </a:bodyPr>
          <a:lstStyle/>
          <a:p>
            <a:r>
              <a:rPr lang="ko-KR" altLang="en-US" sz="1100" dirty="0">
                <a:solidFill>
                  <a:srgbClr val="FF0000"/>
                </a:solidFill>
              </a:rPr>
              <a:t>연장등록출원서 기재</a:t>
            </a:r>
            <a:r>
              <a:rPr lang="en-US" altLang="ko-KR" sz="1100" dirty="0">
                <a:solidFill>
                  <a:srgbClr val="FF0000"/>
                </a:solidFill>
              </a:rPr>
              <a:t>(</a:t>
            </a:r>
            <a:r>
              <a:rPr lang="ko-KR" altLang="en-US" sz="1100" dirty="0">
                <a:solidFill>
                  <a:srgbClr val="FF0000"/>
                </a:solidFill>
              </a:rPr>
              <a:t>허가 등의 내용</a:t>
            </a:r>
            <a:r>
              <a:rPr lang="en-US" altLang="ko-KR" sz="1100" dirty="0">
                <a:solidFill>
                  <a:srgbClr val="FF0000"/>
                </a:solidFill>
              </a:rPr>
              <a:t>): </a:t>
            </a:r>
            <a:r>
              <a:rPr lang="ko-KR" altLang="en-US" sz="1100" dirty="0" err="1"/>
              <a:t>일반명</a:t>
            </a:r>
            <a:r>
              <a:rPr lang="en-US" altLang="ko-KR" sz="1100" dirty="0"/>
              <a:t>(</a:t>
            </a:r>
            <a:r>
              <a:rPr lang="ko-KR" altLang="en-US" sz="1100" dirty="0"/>
              <a:t>품목명</a:t>
            </a:r>
            <a:r>
              <a:rPr lang="en-US" altLang="ko-KR" sz="1100" dirty="0"/>
              <a:t>) </a:t>
            </a:r>
            <a:r>
              <a:rPr lang="ko-KR" altLang="en-US" sz="1100" dirty="0" err="1">
                <a:solidFill>
                  <a:srgbClr val="FF0000"/>
                </a:solidFill>
              </a:rPr>
              <a:t>숙신산</a:t>
            </a:r>
            <a:r>
              <a:rPr lang="ko-KR" altLang="en-US" sz="1100" dirty="0"/>
              <a:t> </a:t>
            </a:r>
            <a:r>
              <a:rPr lang="ko-KR" altLang="en-US" sz="1100" dirty="0" err="1"/>
              <a:t>솔리페나신</a:t>
            </a:r>
            <a:r>
              <a:rPr lang="en-US" altLang="ko-KR" sz="1100" dirty="0"/>
              <a:t>, </a:t>
            </a:r>
            <a:r>
              <a:rPr lang="ko-KR" altLang="en-US" sz="1100" dirty="0"/>
              <a:t>제품명</a:t>
            </a:r>
            <a:r>
              <a:rPr lang="en-US" altLang="ko-KR" sz="1100" dirty="0"/>
              <a:t>(</a:t>
            </a:r>
            <a:r>
              <a:rPr lang="ko-KR" altLang="en-US" sz="1100" dirty="0"/>
              <a:t>상표명</a:t>
            </a:r>
            <a:r>
              <a:rPr lang="en-US" altLang="ko-KR" sz="1100" dirty="0"/>
              <a:t>) </a:t>
            </a:r>
            <a:r>
              <a:rPr lang="ko-KR" altLang="en-US" sz="1100" dirty="0" err="1"/>
              <a:t>베시케어정</a:t>
            </a:r>
            <a:r>
              <a:rPr lang="en-US" altLang="ko-KR" sz="1100" dirty="0"/>
              <a:t>, </a:t>
            </a:r>
            <a:r>
              <a:rPr lang="ko-KR" altLang="en-US" sz="1100" dirty="0"/>
              <a:t>효능 및 효과</a:t>
            </a:r>
            <a:r>
              <a:rPr lang="en-US" altLang="ko-KR" sz="1100" dirty="0"/>
              <a:t>(</a:t>
            </a:r>
            <a:r>
              <a:rPr lang="ko-KR" altLang="en-US" sz="1100" dirty="0"/>
              <a:t>용도</a:t>
            </a:r>
            <a:r>
              <a:rPr lang="en-US" altLang="ko-KR" sz="1100" dirty="0"/>
              <a:t>) </a:t>
            </a:r>
            <a:r>
              <a:rPr lang="ko-KR" altLang="en-US" sz="1100" dirty="0"/>
              <a:t>과민성 방광 증상의 치료</a:t>
            </a:r>
          </a:p>
        </p:txBody>
      </p:sp>
      <p:sp>
        <p:nvSpPr>
          <p:cNvPr id="35" name="TextBox 34">
            <a:extLst>
              <a:ext uri="{FF2B5EF4-FFF2-40B4-BE49-F238E27FC236}">
                <a16:creationId xmlns:a16="http://schemas.microsoft.com/office/drawing/2014/main" id="{32357EFE-1D80-CF33-CE93-E47E519541C0}"/>
              </a:ext>
            </a:extLst>
          </p:cNvPr>
          <p:cNvSpPr txBox="1"/>
          <p:nvPr/>
        </p:nvSpPr>
        <p:spPr>
          <a:xfrm>
            <a:off x="5400676" y="5503665"/>
            <a:ext cx="6613522" cy="430887"/>
          </a:xfrm>
          <a:prstGeom prst="rect">
            <a:avLst/>
          </a:prstGeom>
          <a:solidFill>
            <a:schemeClr val="bg1">
              <a:lumMod val="85000"/>
            </a:schemeClr>
          </a:solidFill>
          <a:ln>
            <a:solidFill>
              <a:schemeClr val="bg2">
                <a:lumMod val="50000"/>
              </a:schemeClr>
            </a:solidFill>
          </a:ln>
        </p:spPr>
        <p:txBody>
          <a:bodyPr wrap="square" rtlCol="0">
            <a:spAutoFit/>
          </a:bodyPr>
          <a:lstStyle/>
          <a:p>
            <a:r>
              <a:rPr lang="ko-KR" altLang="en-US" sz="1100" dirty="0">
                <a:solidFill>
                  <a:srgbClr val="FF0000"/>
                </a:solidFill>
              </a:rPr>
              <a:t>피고제품</a:t>
            </a:r>
            <a:r>
              <a:rPr lang="en-US" altLang="ko-KR" sz="1100" dirty="0">
                <a:solidFill>
                  <a:srgbClr val="FF0000"/>
                </a:solidFill>
              </a:rPr>
              <a:t>: </a:t>
            </a:r>
            <a:r>
              <a:rPr lang="ko-KR" altLang="en-US" sz="1100" dirty="0"/>
              <a:t>‘</a:t>
            </a:r>
            <a:r>
              <a:rPr lang="ko-KR" altLang="en-US" sz="1100" dirty="0" err="1">
                <a:solidFill>
                  <a:srgbClr val="FF0000"/>
                </a:solidFill>
              </a:rPr>
              <a:t>푸마르산</a:t>
            </a:r>
            <a:r>
              <a:rPr lang="ko-KR" altLang="en-US" sz="1100" dirty="0"/>
              <a:t> </a:t>
            </a:r>
            <a:r>
              <a:rPr lang="ko-KR" altLang="en-US" sz="1100" dirty="0" err="1"/>
              <a:t>솔리페나신</a:t>
            </a:r>
            <a:r>
              <a:rPr lang="ko-KR" altLang="en-US" sz="1100" dirty="0"/>
              <a:t>’ 외 </a:t>
            </a:r>
            <a:r>
              <a:rPr lang="ko-KR" altLang="en-US" sz="1100" dirty="0" err="1"/>
              <a:t>부형제</a:t>
            </a:r>
            <a:r>
              <a:rPr lang="en-US" altLang="ko-KR" sz="1100" dirty="0"/>
              <a:t>, </a:t>
            </a:r>
            <a:r>
              <a:rPr lang="ko-KR" altLang="en-US" sz="1100" dirty="0" err="1"/>
              <a:t>결합제</a:t>
            </a:r>
            <a:r>
              <a:rPr lang="en-US" altLang="ko-KR" sz="1100" dirty="0"/>
              <a:t>, </a:t>
            </a:r>
            <a:r>
              <a:rPr lang="ko-KR" altLang="en-US" sz="1100" dirty="0" err="1"/>
              <a:t>붕해제</a:t>
            </a:r>
            <a:r>
              <a:rPr lang="en-US" altLang="ko-KR" sz="1100" dirty="0"/>
              <a:t>, </a:t>
            </a:r>
            <a:r>
              <a:rPr lang="ko-KR" altLang="en-US" sz="1100" dirty="0" err="1"/>
              <a:t>활택제</a:t>
            </a:r>
            <a:r>
              <a:rPr lang="en-US" altLang="ko-KR" sz="1100" dirty="0"/>
              <a:t>, </a:t>
            </a:r>
            <a:r>
              <a:rPr lang="ko-KR" altLang="en-US" sz="1100" dirty="0" err="1"/>
              <a:t>코팅제</a:t>
            </a:r>
            <a:r>
              <a:rPr lang="ko-KR" altLang="en-US" sz="1100" dirty="0"/>
              <a:t> 등으로 이루어지고</a:t>
            </a:r>
            <a:r>
              <a:rPr lang="en-US" altLang="ko-KR" sz="1100" dirty="0"/>
              <a:t>, </a:t>
            </a:r>
            <a:r>
              <a:rPr lang="ko-KR" altLang="en-US" sz="1100" dirty="0"/>
              <a:t>신경성 </a:t>
            </a:r>
            <a:r>
              <a:rPr lang="ko-KR" altLang="en-US" sz="1100" dirty="0" err="1"/>
              <a:t>빈뇨</a:t>
            </a:r>
            <a:r>
              <a:rPr lang="en-US" altLang="ko-KR" sz="1100" dirty="0"/>
              <a:t>, </a:t>
            </a:r>
            <a:r>
              <a:rPr lang="ko-KR" altLang="en-US" sz="1100" dirty="0"/>
              <a:t>불안정 방광</a:t>
            </a:r>
            <a:r>
              <a:rPr lang="en-US" altLang="ko-KR" sz="1100" dirty="0"/>
              <a:t>, </a:t>
            </a:r>
            <a:r>
              <a:rPr lang="ko-KR" altLang="en-US" sz="1100" dirty="0"/>
              <a:t>만성 방광염에서의 요실금과 </a:t>
            </a:r>
            <a:r>
              <a:rPr lang="ko-KR" altLang="en-US" sz="1100" dirty="0" err="1"/>
              <a:t>빈뇨의</a:t>
            </a:r>
            <a:r>
              <a:rPr lang="ko-KR" altLang="en-US" sz="1100" dirty="0"/>
              <a:t> 비뇨기 질환의 예방 또는 치료를 의약용도로 하는 약제학적 </a:t>
            </a:r>
            <a:r>
              <a:rPr lang="ko-KR" altLang="en-US" sz="1100" dirty="0" err="1"/>
              <a:t>조성물</a:t>
            </a:r>
            <a:endParaRPr lang="ko-KR" altLang="en-US" sz="1100" dirty="0"/>
          </a:p>
        </p:txBody>
      </p:sp>
      <p:sp>
        <p:nvSpPr>
          <p:cNvPr id="36" name="TextBox 35">
            <a:extLst>
              <a:ext uri="{FF2B5EF4-FFF2-40B4-BE49-F238E27FC236}">
                <a16:creationId xmlns:a16="http://schemas.microsoft.com/office/drawing/2014/main" id="{284264F5-CBC8-32AD-7277-768F26DFE65E}"/>
              </a:ext>
            </a:extLst>
          </p:cNvPr>
          <p:cNvSpPr txBox="1"/>
          <p:nvPr/>
        </p:nvSpPr>
        <p:spPr>
          <a:xfrm>
            <a:off x="5400676" y="5960954"/>
            <a:ext cx="6613522" cy="769441"/>
          </a:xfrm>
          <a:prstGeom prst="rect">
            <a:avLst/>
          </a:prstGeom>
          <a:solidFill>
            <a:schemeClr val="bg1">
              <a:lumMod val="85000"/>
            </a:schemeClr>
          </a:solidFill>
          <a:ln>
            <a:solidFill>
              <a:schemeClr val="bg2">
                <a:lumMod val="50000"/>
              </a:schemeClr>
            </a:solidFill>
          </a:ln>
        </p:spPr>
        <p:txBody>
          <a:bodyPr wrap="square" rtlCol="0">
            <a:spAutoFit/>
          </a:bodyPr>
          <a:lstStyle/>
          <a:p>
            <a:r>
              <a:rPr lang="ko-KR" altLang="en-US" sz="1100" dirty="0">
                <a:solidFill>
                  <a:srgbClr val="FF0000"/>
                </a:solidFill>
              </a:rPr>
              <a:t>약리기전</a:t>
            </a:r>
            <a:r>
              <a:rPr lang="en-US" altLang="ko-KR" sz="1100" dirty="0">
                <a:solidFill>
                  <a:srgbClr val="FF0000"/>
                </a:solidFill>
              </a:rPr>
              <a:t>: </a:t>
            </a:r>
            <a:r>
              <a:rPr lang="ko-KR" altLang="en-US" sz="1100" dirty="0"/>
              <a:t>품목허가를 받은 </a:t>
            </a:r>
            <a:r>
              <a:rPr lang="ko-KR" altLang="en-US" sz="1100" dirty="0" err="1"/>
              <a:t>솔리페나신</a:t>
            </a:r>
            <a:r>
              <a:rPr lang="ko-KR" altLang="en-US" sz="1100" dirty="0"/>
              <a:t> </a:t>
            </a:r>
            <a:r>
              <a:rPr lang="ko-KR" altLang="en-US" sz="1100" dirty="0" err="1"/>
              <a:t>숙신산염은</a:t>
            </a:r>
            <a:r>
              <a:rPr lang="ko-KR" altLang="en-US" sz="1100" dirty="0"/>
              <a:t> </a:t>
            </a:r>
            <a:r>
              <a:rPr lang="ko-KR" altLang="en-US" sz="1100" dirty="0" err="1"/>
              <a:t>솔리페나신과</a:t>
            </a:r>
            <a:r>
              <a:rPr lang="ko-KR" altLang="en-US" sz="1100" dirty="0"/>
              <a:t> </a:t>
            </a:r>
            <a:r>
              <a:rPr lang="ko-KR" altLang="en-US" sz="1100" dirty="0" err="1"/>
              <a:t>숙신산이</a:t>
            </a:r>
            <a:r>
              <a:rPr lang="ko-KR" altLang="en-US" sz="1100" dirty="0"/>
              <a:t> 이온결합에 의해 약하게 결합된 상태의 화합물이고</a:t>
            </a:r>
            <a:r>
              <a:rPr lang="en-US" altLang="ko-KR" sz="1100" dirty="0"/>
              <a:t>, </a:t>
            </a:r>
            <a:r>
              <a:rPr lang="ko-KR" altLang="en-US" sz="1100" dirty="0"/>
              <a:t>체내에 </a:t>
            </a:r>
            <a:r>
              <a:rPr lang="ko-KR" altLang="en-US" sz="1100" dirty="0" err="1"/>
              <a:t>경구투여되어</a:t>
            </a:r>
            <a:r>
              <a:rPr lang="ko-KR" altLang="en-US" sz="1100" dirty="0"/>
              <a:t> 위장에 들어가면 강산이 위액에 의해 이온결합이 끊어져 </a:t>
            </a:r>
            <a:r>
              <a:rPr lang="ko-KR" altLang="en-US" sz="1100" dirty="0" err="1"/>
              <a:t>솔리페나신과</a:t>
            </a:r>
            <a:r>
              <a:rPr lang="ko-KR" altLang="en-US" sz="1100" dirty="0"/>
              <a:t> </a:t>
            </a:r>
            <a:r>
              <a:rPr lang="ko-KR" altLang="en-US" sz="1100" dirty="0" err="1"/>
              <a:t>숙신산으로</a:t>
            </a:r>
            <a:r>
              <a:rPr lang="ko-KR" altLang="en-US" sz="1100" dirty="0"/>
              <a:t> 분리되게 된다</a:t>
            </a:r>
            <a:r>
              <a:rPr lang="en-US" altLang="ko-KR" sz="1100" dirty="0"/>
              <a:t>. </a:t>
            </a:r>
            <a:r>
              <a:rPr lang="ko-KR" altLang="en-US" sz="1100" dirty="0"/>
              <a:t>이렇게 분리된 </a:t>
            </a:r>
            <a:r>
              <a:rPr lang="ko-KR" altLang="en-US" sz="1100" dirty="0" err="1"/>
              <a:t>숙신산은</a:t>
            </a:r>
            <a:r>
              <a:rPr lang="ko-KR" altLang="en-US" sz="1100" dirty="0"/>
              <a:t> 체내 대사를 거쳐 체외로 배출되고 </a:t>
            </a:r>
            <a:r>
              <a:rPr lang="ko-KR" altLang="en-US" sz="1100" dirty="0" err="1"/>
              <a:t>솔리페나신만</a:t>
            </a:r>
            <a:r>
              <a:rPr lang="ko-KR" altLang="en-US" sz="1100" dirty="0"/>
              <a:t> 소장의 상피세포에서 흡수된 후 혈액을 통하여 방광에 도달하여 사람의 </a:t>
            </a:r>
            <a:r>
              <a:rPr lang="en-US" altLang="ko-KR" sz="1100" dirty="0"/>
              <a:t>M </a:t>
            </a:r>
            <a:r>
              <a:rPr lang="ko-KR" altLang="en-US" sz="1100" dirty="0" err="1"/>
              <a:t>무스카린</a:t>
            </a:r>
            <a:r>
              <a:rPr lang="ko-KR" altLang="en-US" sz="1100" dirty="0"/>
              <a:t> 수용체와 반응하여 약리효과를 발휘하게 된다</a:t>
            </a:r>
            <a:r>
              <a:rPr lang="en-US" altLang="ko-KR" sz="1100" dirty="0"/>
              <a:t>.</a:t>
            </a:r>
            <a:endParaRPr lang="ko-KR" altLang="en-US" sz="1100" dirty="0"/>
          </a:p>
        </p:txBody>
      </p:sp>
      <p:cxnSp>
        <p:nvCxnSpPr>
          <p:cNvPr id="39" name="직선 연결선 38">
            <a:extLst>
              <a:ext uri="{FF2B5EF4-FFF2-40B4-BE49-F238E27FC236}">
                <a16:creationId xmlns:a16="http://schemas.microsoft.com/office/drawing/2014/main" id="{7AE2F6F4-1090-99ED-95D5-3CA351A893B2}"/>
              </a:ext>
            </a:extLst>
          </p:cNvPr>
          <p:cNvCxnSpPr/>
          <p:nvPr/>
        </p:nvCxnSpPr>
        <p:spPr>
          <a:xfrm>
            <a:off x="0" y="4152900"/>
            <a:ext cx="12191999" cy="0"/>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66582276"/>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 name="양쪽 모서리가 둥근 사각형 100"/>
          <p:cNvSpPr/>
          <p:nvPr/>
        </p:nvSpPr>
        <p:spPr>
          <a:xfrm>
            <a:off x="6030286" y="5076742"/>
            <a:ext cx="3751889" cy="482476"/>
          </a:xfrm>
          <a:prstGeom prst="round2SameRect">
            <a:avLst>
              <a:gd name="adj1" fmla="val 50000"/>
              <a:gd name="adj2" fmla="val 0"/>
            </a:avLst>
          </a:prstGeom>
          <a:pattFill prst="lgGrid">
            <a:fgClr>
              <a:schemeClr val="accent2"/>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양쪽 모서리가 둥근 사각형 39"/>
          <p:cNvSpPr/>
          <p:nvPr/>
        </p:nvSpPr>
        <p:spPr>
          <a:xfrm>
            <a:off x="7492958" y="3167095"/>
            <a:ext cx="2165626" cy="395343"/>
          </a:xfrm>
          <a:prstGeom prst="round2SameRect">
            <a:avLst>
              <a:gd name="adj1" fmla="val 0"/>
              <a:gd name="adj2" fmla="val 50000"/>
            </a:avLst>
          </a:prstGeom>
          <a:pattFill prst="smConfetti">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21" name="양쪽 모서리가 둥근 사각형 20"/>
          <p:cNvSpPr/>
          <p:nvPr/>
        </p:nvSpPr>
        <p:spPr>
          <a:xfrm>
            <a:off x="3014805" y="2402802"/>
            <a:ext cx="5090970" cy="744374"/>
          </a:xfrm>
          <a:prstGeom prst="round2SameRect">
            <a:avLst>
              <a:gd name="adj1" fmla="val 50000"/>
              <a:gd name="adj2" fmla="val 0"/>
            </a:avLst>
          </a:prstGeom>
          <a:pattFill prst="lgGrid">
            <a:fgClr>
              <a:schemeClr val="accent2"/>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7" name="양쪽 모서리가 둥근 사각형 56"/>
          <p:cNvSpPr/>
          <p:nvPr/>
        </p:nvSpPr>
        <p:spPr>
          <a:xfrm>
            <a:off x="7057039" y="5576636"/>
            <a:ext cx="2165626" cy="395343"/>
          </a:xfrm>
          <a:prstGeom prst="round2SameRect">
            <a:avLst>
              <a:gd name="adj1" fmla="val 0"/>
              <a:gd name="adj2" fmla="val 50000"/>
            </a:avLst>
          </a:prstGeom>
          <a:pattFill prst="smConfetti">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 name="제목 2"/>
          <p:cNvSpPr>
            <a:spLocks noGrp="1"/>
          </p:cNvSpPr>
          <p:nvPr>
            <p:ph type="title"/>
          </p:nvPr>
        </p:nvSpPr>
        <p:spPr/>
        <p:txBody>
          <a:bodyPr/>
          <a:lstStyle/>
          <a:p>
            <a:r>
              <a:rPr lang="ko-KR" altLang="en-US" dirty="0"/>
              <a:t>제</a:t>
            </a:r>
            <a:r>
              <a:rPr lang="en-US" altLang="ko-KR" dirty="0"/>
              <a:t>89</a:t>
            </a:r>
            <a:r>
              <a:rPr lang="ko-KR" altLang="en-US" dirty="0"/>
              <a:t>조</a:t>
            </a:r>
            <a:r>
              <a:rPr lang="en-US" altLang="ko-KR" dirty="0"/>
              <a:t>~</a:t>
            </a:r>
            <a:r>
              <a:rPr lang="ko-KR" altLang="en-US" dirty="0"/>
              <a:t>제</a:t>
            </a:r>
            <a:r>
              <a:rPr lang="en-US" altLang="ko-KR" dirty="0"/>
              <a:t>95</a:t>
            </a:r>
            <a:r>
              <a:rPr lang="ko-KR" altLang="en-US" dirty="0"/>
              <a:t>조</a:t>
            </a:r>
          </a:p>
        </p:txBody>
      </p:sp>
      <p:sp>
        <p:nvSpPr>
          <p:cNvPr id="4" name="텍스트 개체 틀 3"/>
          <p:cNvSpPr>
            <a:spLocks noGrp="1"/>
          </p:cNvSpPr>
          <p:nvPr>
            <p:ph type="body" sz="quarter" idx="13"/>
          </p:nvPr>
        </p:nvSpPr>
        <p:spPr/>
        <p:txBody>
          <a:bodyPr/>
          <a:lstStyle/>
          <a:p>
            <a:r>
              <a:rPr lang="ko-KR" altLang="en-US" dirty="0"/>
              <a:t>연장기간</a:t>
            </a:r>
            <a:r>
              <a:rPr lang="en-US" altLang="ko-KR" dirty="0"/>
              <a:t>(</a:t>
            </a:r>
            <a:r>
              <a:rPr lang="ko-KR" altLang="en-US" dirty="0"/>
              <a:t>제</a:t>
            </a:r>
            <a:r>
              <a:rPr lang="en-US" altLang="ko-KR" dirty="0"/>
              <a:t>92</a:t>
            </a:r>
            <a:r>
              <a:rPr lang="ko-KR" altLang="en-US" dirty="0"/>
              <a:t>조의</a:t>
            </a:r>
            <a:r>
              <a:rPr lang="en-US" altLang="ko-KR" dirty="0"/>
              <a:t>2)</a:t>
            </a:r>
            <a:endParaRPr lang="ko-KR" altLang="en-US" dirty="0"/>
          </a:p>
        </p:txBody>
      </p:sp>
      <p:cxnSp>
        <p:nvCxnSpPr>
          <p:cNvPr id="126" name="직선 연결선 125"/>
          <p:cNvCxnSpPr/>
          <p:nvPr/>
        </p:nvCxnSpPr>
        <p:spPr>
          <a:xfrm>
            <a:off x="0" y="192970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7" name="TextBox 126"/>
          <p:cNvSpPr txBox="1"/>
          <p:nvPr/>
        </p:nvSpPr>
        <p:spPr>
          <a:xfrm>
            <a:off x="77875" y="976902"/>
            <a:ext cx="11936323" cy="954107"/>
          </a:xfrm>
          <a:prstGeom prst="rect">
            <a:avLst/>
          </a:prstGeom>
          <a:noFill/>
        </p:spPr>
        <p:txBody>
          <a:bodyPr wrap="square" rtlCol="0">
            <a:spAutoFit/>
          </a:bodyPr>
          <a:lstStyle/>
          <a:p>
            <a:pPr fontAlgn="base"/>
            <a:r>
              <a:rPr lang="ko-KR" altLang="en-US" sz="1400" dirty="0">
                <a:solidFill>
                  <a:schemeClr val="tx2"/>
                </a:solidFill>
              </a:rPr>
              <a:t>존속기간을 </a:t>
            </a:r>
            <a:r>
              <a:rPr lang="ko-KR" altLang="en-US" sz="1400" dirty="0" err="1">
                <a:solidFill>
                  <a:schemeClr val="tx2"/>
                </a:solidFill>
              </a:rPr>
              <a:t>연장등록할</a:t>
            </a:r>
            <a:r>
              <a:rPr lang="ko-KR" altLang="en-US" sz="1400" dirty="0">
                <a:solidFill>
                  <a:schemeClr val="tx2"/>
                </a:solidFill>
              </a:rPr>
              <a:t> 수 있는 기간은 지연된 기간</a:t>
            </a:r>
            <a:r>
              <a:rPr lang="en-US" altLang="ko-KR" sz="1400" dirty="0">
                <a:solidFill>
                  <a:schemeClr val="tx2"/>
                </a:solidFill>
              </a:rPr>
              <a:t>(</a:t>
            </a:r>
            <a:r>
              <a:rPr lang="ko-KR" altLang="en-US" sz="1400" dirty="0">
                <a:solidFill>
                  <a:schemeClr val="tx2"/>
                </a:solidFill>
              </a:rPr>
              <a:t>연장기준일로부터 </a:t>
            </a:r>
            <a:r>
              <a:rPr lang="ko-KR" altLang="en-US" sz="1400" dirty="0" err="1">
                <a:solidFill>
                  <a:schemeClr val="tx2"/>
                </a:solidFill>
              </a:rPr>
              <a:t>설정등록일까지의</a:t>
            </a:r>
            <a:r>
              <a:rPr lang="ko-KR" altLang="en-US" sz="1400" dirty="0">
                <a:solidFill>
                  <a:schemeClr val="tx2"/>
                </a:solidFill>
              </a:rPr>
              <a:t> 기간</a:t>
            </a:r>
            <a:r>
              <a:rPr lang="en-US" altLang="ko-KR" sz="1400" dirty="0">
                <a:solidFill>
                  <a:schemeClr val="tx2"/>
                </a:solidFill>
              </a:rPr>
              <a:t>) </a:t>
            </a:r>
            <a:r>
              <a:rPr lang="ko-KR" altLang="en-US" sz="1400" dirty="0">
                <a:solidFill>
                  <a:schemeClr val="tx2"/>
                </a:solidFill>
              </a:rPr>
              <a:t>이내이어야 한다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92</a:t>
            </a:r>
            <a:r>
              <a:rPr lang="ko-KR" altLang="en-US" sz="1400" dirty="0">
                <a:solidFill>
                  <a:schemeClr val="tx2"/>
                </a:solidFill>
              </a:rPr>
              <a:t>의</a:t>
            </a:r>
            <a:r>
              <a:rPr lang="en-US" altLang="ko-KR" sz="1400" dirty="0">
                <a:solidFill>
                  <a:schemeClr val="tx2"/>
                </a:solidFill>
              </a:rPr>
              <a:t>2①, 92</a:t>
            </a:r>
            <a:r>
              <a:rPr lang="ko-KR" altLang="en-US" sz="1400" dirty="0">
                <a:solidFill>
                  <a:schemeClr val="tx2"/>
                </a:solidFill>
              </a:rPr>
              <a:t>의</a:t>
            </a:r>
            <a:r>
              <a:rPr lang="en-US" altLang="ko-KR" sz="1400" dirty="0">
                <a:solidFill>
                  <a:schemeClr val="tx2"/>
                </a:solidFill>
              </a:rPr>
              <a:t>4Ⅰ).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대통령령으로 정하는 </a:t>
            </a:r>
            <a:r>
              <a:rPr lang="ko-KR" altLang="en-US" sz="1400" dirty="0" err="1">
                <a:solidFill>
                  <a:schemeClr val="tx2"/>
                </a:solidFill>
              </a:rPr>
              <a:t>출원인으로</a:t>
            </a:r>
            <a:r>
              <a:rPr lang="ko-KR" altLang="en-US" sz="1400" dirty="0">
                <a:solidFill>
                  <a:schemeClr val="tx2"/>
                </a:solidFill>
              </a:rPr>
              <a:t> 인하여 지연된 기간은 특허권의 존속기간의 연장에서 제외된다</a:t>
            </a:r>
            <a:r>
              <a:rPr lang="en-US" altLang="ko-KR" sz="1400" dirty="0">
                <a:solidFill>
                  <a:schemeClr val="tx2"/>
                </a:solidFill>
              </a:rPr>
              <a:t>. </a:t>
            </a:r>
            <a:r>
              <a:rPr lang="ko-KR" altLang="en-US" sz="1400" dirty="0" err="1">
                <a:solidFill>
                  <a:schemeClr val="tx2"/>
                </a:solidFill>
              </a:rPr>
              <a:t>출원인으로</a:t>
            </a:r>
            <a:r>
              <a:rPr lang="ko-KR" altLang="en-US" sz="1400" dirty="0">
                <a:solidFill>
                  <a:schemeClr val="tx2"/>
                </a:solidFill>
              </a:rPr>
              <a:t> 인하여 지연된 기간이 겹치는 경우에는 특허권의 존속기간의 연장에서 제외되는 기간은 </a:t>
            </a:r>
            <a:r>
              <a:rPr lang="ko-KR" altLang="en-US" sz="1400" dirty="0" err="1">
                <a:solidFill>
                  <a:schemeClr val="tx2"/>
                </a:solidFill>
              </a:rPr>
              <a:t>출원인으로</a:t>
            </a:r>
            <a:r>
              <a:rPr lang="ko-KR" altLang="en-US" sz="1400" dirty="0">
                <a:solidFill>
                  <a:schemeClr val="tx2"/>
                </a:solidFill>
              </a:rPr>
              <a:t> 인하여 실제 지연된 기간을 초과하여서는 아니 된다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92</a:t>
            </a:r>
            <a:r>
              <a:rPr lang="ko-KR" altLang="en-US" sz="1400" dirty="0">
                <a:solidFill>
                  <a:schemeClr val="tx2"/>
                </a:solidFill>
              </a:rPr>
              <a:t>의</a:t>
            </a:r>
            <a:r>
              <a:rPr lang="en-US" altLang="ko-KR" sz="1400" dirty="0">
                <a:solidFill>
                  <a:schemeClr val="tx2"/>
                </a:solidFill>
              </a:rPr>
              <a:t>2②③). </a:t>
            </a:r>
            <a:r>
              <a:rPr lang="ko-KR" altLang="en-US" sz="1400" dirty="0">
                <a:solidFill>
                  <a:schemeClr val="tx2"/>
                </a:solidFill>
              </a:rPr>
              <a:t>결국 </a:t>
            </a:r>
            <a:r>
              <a:rPr lang="ko-KR" altLang="en-US" sz="1400" dirty="0" err="1">
                <a:highlight>
                  <a:srgbClr val="FFFF00"/>
                </a:highlight>
              </a:rPr>
              <a:t>연장가능한</a:t>
            </a:r>
            <a:r>
              <a:rPr lang="ko-KR" altLang="en-US" sz="1400" dirty="0">
                <a:highlight>
                  <a:srgbClr val="FFFF00"/>
                </a:highlight>
              </a:rPr>
              <a:t> 기간은 </a:t>
            </a:r>
            <a:r>
              <a:rPr lang="en-US" altLang="ko-KR" sz="1400" dirty="0">
                <a:highlight>
                  <a:srgbClr val="FFFF00"/>
                </a:highlight>
              </a:rPr>
              <a:t>(</a:t>
            </a:r>
            <a:r>
              <a:rPr lang="ko-KR" altLang="en-US" sz="1400" dirty="0">
                <a:highlight>
                  <a:srgbClr val="FFFF00"/>
                </a:highlight>
              </a:rPr>
              <a:t>연장기준일로부터 </a:t>
            </a:r>
            <a:r>
              <a:rPr lang="ko-KR" altLang="en-US" sz="1400" dirty="0" err="1">
                <a:highlight>
                  <a:srgbClr val="FFFF00"/>
                </a:highlight>
              </a:rPr>
              <a:t>설정등록일까지의</a:t>
            </a:r>
            <a:r>
              <a:rPr lang="ko-KR" altLang="en-US" sz="1400" dirty="0">
                <a:highlight>
                  <a:srgbClr val="FFFF00"/>
                </a:highlight>
              </a:rPr>
              <a:t> 기간 </a:t>
            </a:r>
            <a:r>
              <a:rPr lang="en-US" altLang="ko-KR" sz="1400" dirty="0">
                <a:highlight>
                  <a:srgbClr val="FFFF00"/>
                </a:highlight>
              </a:rPr>
              <a:t>- </a:t>
            </a:r>
            <a:r>
              <a:rPr lang="ko-KR" altLang="en-US" sz="1400" dirty="0" err="1">
                <a:highlight>
                  <a:srgbClr val="FFFF00"/>
                </a:highlight>
              </a:rPr>
              <a:t>출원인으로</a:t>
            </a:r>
            <a:r>
              <a:rPr lang="ko-KR" altLang="en-US" sz="1400" dirty="0">
                <a:highlight>
                  <a:srgbClr val="FFFF00"/>
                </a:highlight>
              </a:rPr>
              <a:t> 인하여 실제 지연된 기간</a:t>
            </a:r>
            <a:r>
              <a:rPr lang="en-US" altLang="ko-KR" sz="1400" dirty="0">
                <a:highlight>
                  <a:srgbClr val="FFFF00"/>
                </a:highlight>
              </a:rPr>
              <a:t>)</a:t>
            </a:r>
            <a:r>
              <a:rPr lang="ko-KR" altLang="en-US" sz="1400" dirty="0">
                <a:solidFill>
                  <a:schemeClr val="tx2"/>
                </a:solidFill>
              </a:rPr>
              <a:t>이다</a:t>
            </a:r>
            <a:r>
              <a:rPr lang="en-US" altLang="ko-KR" sz="1400" dirty="0">
                <a:solidFill>
                  <a:schemeClr val="tx2"/>
                </a:solidFill>
              </a:rPr>
              <a:t>.</a:t>
            </a:r>
            <a:endParaRPr lang="ko-KR" altLang="en-US" sz="1400" dirty="0">
              <a:solidFill>
                <a:schemeClr val="tx2"/>
              </a:solidFill>
            </a:endParaRPr>
          </a:p>
        </p:txBody>
      </p:sp>
      <p:cxnSp>
        <p:nvCxnSpPr>
          <p:cNvPr id="58" name="직선 연결선 57"/>
          <p:cNvCxnSpPr/>
          <p:nvPr/>
        </p:nvCxnSpPr>
        <p:spPr>
          <a:xfrm>
            <a:off x="2505075" y="3165228"/>
            <a:ext cx="910590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직사각형 58"/>
          <p:cNvSpPr/>
          <p:nvPr/>
        </p:nvSpPr>
        <p:spPr>
          <a:xfrm>
            <a:off x="2489082" y="2947989"/>
            <a:ext cx="996030" cy="42636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특허출원</a:t>
            </a:r>
            <a:r>
              <a:rPr lang="en-US" altLang="ko-KR" sz="1200" dirty="0">
                <a:solidFill>
                  <a:schemeClr val="tx1"/>
                </a:solidFill>
              </a:rPr>
              <a:t>(X)</a:t>
            </a:r>
            <a:endParaRPr lang="ko-KR" altLang="en-US" sz="1200" dirty="0">
              <a:solidFill>
                <a:schemeClr val="tx1"/>
              </a:solidFill>
            </a:endParaRPr>
          </a:p>
        </p:txBody>
      </p:sp>
      <p:cxnSp>
        <p:nvCxnSpPr>
          <p:cNvPr id="100" name="직선 연결선 99"/>
          <p:cNvCxnSpPr>
            <a:stCxn id="37" idx="0"/>
          </p:cNvCxnSpPr>
          <p:nvPr/>
        </p:nvCxnSpPr>
        <p:spPr>
          <a:xfrm flipV="1">
            <a:off x="4943617" y="3167095"/>
            <a:ext cx="0" cy="66898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3" name="직사각형 112"/>
          <p:cNvSpPr/>
          <p:nvPr/>
        </p:nvSpPr>
        <p:spPr>
          <a:xfrm>
            <a:off x="3749944" y="2019808"/>
            <a:ext cx="196796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tx1"/>
                </a:solidFill>
              </a:rPr>
              <a:t>4</a:t>
            </a:r>
            <a:r>
              <a:rPr lang="ko-KR" altLang="en-US" sz="1400" dirty="0">
                <a:solidFill>
                  <a:schemeClr val="tx1"/>
                </a:solidFill>
              </a:rPr>
              <a:t>년</a:t>
            </a:r>
            <a:endParaRPr lang="en-US" altLang="ko-KR" sz="1100" dirty="0">
              <a:solidFill>
                <a:schemeClr val="tx1"/>
              </a:solidFill>
            </a:endParaRPr>
          </a:p>
        </p:txBody>
      </p:sp>
      <p:sp>
        <p:nvSpPr>
          <p:cNvPr id="37" name="직사각형 36"/>
          <p:cNvSpPr/>
          <p:nvPr/>
        </p:nvSpPr>
        <p:spPr>
          <a:xfrm>
            <a:off x="4445602" y="3836076"/>
            <a:ext cx="996030" cy="42636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심사청구</a:t>
            </a:r>
            <a:r>
              <a:rPr lang="en-US" altLang="ko-KR" sz="1200" dirty="0">
                <a:solidFill>
                  <a:schemeClr val="tx1"/>
                </a:solidFill>
              </a:rPr>
              <a:t>(X)</a:t>
            </a:r>
            <a:endParaRPr lang="ko-KR" altLang="en-US" sz="1200" dirty="0">
              <a:solidFill>
                <a:schemeClr val="tx1"/>
              </a:solidFill>
            </a:endParaRPr>
          </a:p>
        </p:txBody>
      </p:sp>
      <p:cxnSp>
        <p:nvCxnSpPr>
          <p:cNvPr id="41" name="직선 연결선 40"/>
          <p:cNvCxnSpPr>
            <a:stCxn id="42" idx="0"/>
          </p:cNvCxnSpPr>
          <p:nvPr/>
        </p:nvCxnSpPr>
        <p:spPr>
          <a:xfrm flipV="1">
            <a:off x="7492958" y="3167095"/>
            <a:ext cx="0" cy="63659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 name="직사각형 41"/>
          <p:cNvSpPr/>
          <p:nvPr/>
        </p:nvSpPr>
        <p:spPr>
          <a:xfrm>
            <a:off x="6994943" y="3803691"/>
            <a:ext cx="996030" cy="42636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심사청구</a:t>
            </a:r>
            <a:r>
              <a:rPr lang="en-US" altLang="ko-KR" sz="1200" dirty="0">
                <a:solidFill>
                  <a:schemeClr val="tx1"/>
                </a:solidFill>
              </a:rPr>
              <a:t>(X)</a:t>
            </a:r>
            <a:endParaRPr lang="ko-KR" altLang="en-US" sz="1200" dirty="0">
              <a:solidFill>
                <a:schemeClr val="tx1"/>
              </a:solidFill>
            </a:endParaRPr>
          </a:p>
        </p:txBody>
      </p:sp>
      <p:sp>
        <p:nvSpPr>
          <p:cNvPr id="44" name="직사각형 43"/>
          <p:cNvSpPr/>
          <p:nvPr/>
        </p:nvSpPr>
        <p:spPr>
          <a:xfrm>
            <a:off x="5072701" y="3556771"/>
            <a:ext cx="196796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tx1"/>
                </a:solidFill>
              </a:rPr>
              <a:t>3</a:t>
            </a:r>
            <a:r>
              <a:rPr lang="ko-KR" altLang="en-US" sz="1400" dirty="0">
                <a:solidFill>
                  <a:schemeClr val="tx1"/>
                </a:solidFill>
              </a:rPr>
              <a:t>년</a:t>
            </a:r>
            <a:endParaRPr lang="en-US" altLang="ko-KR" sz="1100" dirty="0">
              <a:solidFill>
                <a:schemeClr val="tx1"/>
              </a:solidFill>
            </a:endParaRPr>
          </a:p>
        </p:txBody>
      </p:sp>
      <p:sp>
        <p:nvSpPr>
          <p:cNvPr id="45" name="직사각형 44"/>
          <p:cNvSpPr/>
          <p:nvPr/>
        </p:nvSpPr>
        <p:spPr>
          <a:xfrm>
            <a:off x="7591790" y="3556771"/>
            <a:ext cx="196796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a:solidFill>
                  <a:schemeClr val="tx1"/>
                </a:solidFill>
              </a:rPr>
              <a:t>3</a:t>
            </a:r>
            <a:r>
              <a:rPr lang="ko-KR" altLang="en-US" sz="1400" dirty="0">
                <a:solidFill>
                  <a:schemeClr val="tx1"/>
                </a:solidFill>
              </a:rPr>
              <a:t>년</a:t>
            </a:r>
            <a:endParaRPr lang="en-US" altLang="ko-KR" sz="1100" dirty="0">
              <a:solidFill>
                <a:schemeClr val="tx1"/>
              </a:solidFill>
            </a:endParaRPr>
          </a:p>
        </p:txBody>
      </p:sp>
      <p:cxnSp>
        <p:nvCxnSpPr>
          <p:cNvPr id="47" name="직선 연결선 46"/>
          <p:cNvCxnSpPr/>
          <p:nvPr/>
        </p:nvCxnSpPr>
        <p:spPr>
          <a:xfrm>
            <a:off x="8105775" y="1865607"/>
            <a:ext cx="0" cy="130148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직선 연결선 22"/>
          <p:cNvCxnSpPr/>
          <p:nvPr/>
        </p:nvCxnSpPr>
        <p:spPr>
          <a:xfrm>
            <a:off x="10726245" y="1865607"/>
            <a:ext cx="0" cy="130148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직선 연결선 47"/>
          <p:cNvCxnSpPr/>
          <p:nvPr/>
        </p:nvCxnSpPr>
        <p:spPr>
          <a:xfrm>
            <a:off x="9658584" y="1865607"/>
            <a:ext cx="0" cy="130148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직사각형 48"/>
          <p:cNvSpPr/>
          <p:nvPr/>
        </p:nvSpPr>
        <p:spPr>
          <a:xfrm>
            <a:off x="4237853" y="3676491"/>
            <a:ext cx="415498" cy="369332"/>
          </a:xfrm>
          <a:prstGeom prst="rect">
            <a:avLst/>
          </a:prstGeom>
        </p:spPr>
        <p:txBody>
          <a:bodyPr wrap="none">
            <a:spAutoFit/>
          </a:bodyPr>
          <a:lstStyle/>
          <a:p>
            <a:pPr fontAlgn="base"/>
            <a:r>
              <a:rPr lang="ko-KR" altLang="en-US" dirty="0">
                <a:solidFill>
                  <a:srgbClr val="FF0000"/>
                </a:solidFill>
              </a:rPr>
              <a:t>❶</a:t>
            </a:r>
          </a:p>
        </p:txBody>
      </p:sp>
      <p:sp>
        <p:nvSpPr>
          <p:cNvPr id="50" name="직사각형 49"/>
          <p:cNvSpPr/>
          <p:nvPr/>
        </p:nvSpPr>
        <p:spPr>
          <a:xfrm>
            <a:off x="6832914" y="3647540"/>
            <a:ext cx="415498" cy="369332"/>
          </a:xfrm>
          <a:prstGeom prst="rect">
            <a:avLst/>
          </a:prstGeom>
        </p:spPr>
        <p:txBody>
          <a:bodyPr wrap="none">
            <a:spAutoFit/>
          </a:bodyPr>
          <a:lstStyle/>
          <a:p>
            <a:pPr fontAlgn="base"/>
            <a:r>
              <a:rPr lang="ko-KR" altLang="en-US" dirty="0">
                <a:solidFill>
                  <a:srgbClr val="FF0000"/>
                </a:solidFill>
              </a:rPr>
              <a:t>❷</a:t>
            </a:r>
          </a:p>
        </p:txBody>
      </p:sp>
      <p:cxnSp>
        <p:nvCxnSpPr>
          <p:cNvPr id="10" name="직선 연결선 9"/>
          <p:cNvCxnSpPr/>
          <p:nvPr/>
        </p:nvCxnSpPr>
        <p:spPr>
          <a:xfrm>
            <a:off x="8105775" y="2050377"/>
            <a:ext cx="2620470" cy="0"/>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3" name="직선 연결선 52"/>
          <p:cNvCxnSpPr/>
          <p:nvPr/>
        </p:nvCxnSpPr>
        <p:spPr>
          <a:xfrm>
            <a:off x="9658584" y="2526627"/>
            <a:ext cx="1067661" cy="0"/>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직사각형 54"/>
          <p:cNvSpPr/>
          <p:nvPr/>
        </p:nvSpPr>
        <p:spPr>
          <a:xfrm>
            <a:off x="9984665" y="2523590"/>
            <a:ext cx="415498" cy="369332"/>
          </a:xfrm>
          <a:prstGeom prst="rect">
            <a:avLst/>
          </a:prstGeom>
        </p:spPr>
        <p:txBody>
          <a:bodyPr wrap="none">
            <a:spAutoFit/>
          </a:bodyPr>
          <a:lstStyle/>
          <a:p>
            <a:pPr fontAlgn="base"/>
            <a:r>
              <a:rPr lang="ko-KR" altLang="en-US" dirty="0">
                <a:solidFill>
                  <a:srgbClr val="FF0000"/>
                </a:solidFill>
              </a:rPr>
              <a:t>❷</a:t>
            </a:r>
          </a:p>
        </p:txBody>
      </p:sp>
      <p:sp>
        <p:nvSpPr>
          <p:cNvPr id="56" name="직사각형 55"/>
          <p:cNvSpPr/>
          <p:nvPr/>
        </p:nvSpPr>
        <p:spPr>
          <a:xfrm>
            <a:off x="8809853" y="2050377"/>
            <a:ext cx="415498" cy="369332"/>
          </a:xfrm>
          <a:prstGeom prst="rect">
            <a:avLst/>
          </a:prstGeom>
        </p:spPr>
        <p:txBody>
          <a:bodyPr wrap="none">
            <a:spAutoFit/>
          </a:bodyPr>
          <a:lstStyle/>
          <a:p>
            <a:pPr fontAlgn="base"/>
            <a:r>
              <a:rPr lang="ko-KR" altLang="en-US" dirty="0">
                <a:solidFill>
                  <a:srgbClr val="FF0000"/>
                </a:solidFill>
              </a:rPr>
              <a:t>❶</a:t>
            </a:r>
          </a:p>
        </p:txBody>
      </p:sp>
      <p:sp>
        <p:nvSpPr>
          <p:cNvPr id="60" name="직사각형 59"/>
          <p:cNvSpPr/>
          <p:nvPr/>
        </p:nvSpPr>
        <p:spPr>
          <a:xfrm>
            <a:off x="866775" y="4197276"/>
            <a:ext cx="795528" cy="385628"/>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t>소급제도</a:t>
            </a:r>
            <a:endParaRPr lang="en-US" altLang="ko-KR" sz="1000" dirty="0"/>
          </a:p>
          <a:p>
            <a:pPr algn="ctr"/>
            <a:r>
              <a:rPr lang="en-US" altLang="ko-KR" sz="1000" dirty="0"/>
              <a:t>(7</a:t>
            </a:r>
            <a:r>
              <a:rPr lang="ko-KR" altLang="en-US" sz="1000" dirty="0"/>
              <a:t>가지</a:t>
            </a:r>
            <a:r>
              <a:rPr lang="en-US" altLang="ko-KR" sz="1000" dirty="0"/>
              <a:t>)</a:t>
            </a:r>
            <a:endParaRPr lang="ko-KR" altLang="en-US" sz="1000" dirty="0"/>
          </a:p>
        </p:txBody>
      </p:sp>
      <p:sp>
        <p:nvSpPr>
          <p:cNvPr id="61" name="직사각형 60"/>
          <p:cNvSpPr/>
          <p:nvPr/>
        </p:nvSpPr>
        <p:spPr>
          <a:xfrm>
            <a:off x="866775" y="5831057"/>
            <a:ext cx="795528" cy="385628"/>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bg1"/>
                </a:solidFill>
              </a:rPr>
              <a:t>PCT</a:t>
            </a:r>
            <a:endParaRPr lang="ko-KR" altLang="en-US" sz="1000" dirty="0">
              <a:solidFill>
                <a:schemeClr val="bg1"/>
              </a:solidFill>
            </a:endParaRPr>
          </a:p>
        </p:txBody>
      </p:sp>
      <p:sp>
        <p:nvSpPr>
          <p:cNvPr id="62" name="직사각형 61"/>
          <p:cNvSpPr/>
          <p:nvPr/>
        </p:nvSpPr>
        <p:spPr>
          <a:xfrm>
            <a:off x="2012447" y="3417187"/>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rgbClr val="FF0000"/>
                </a:solidFill>
              </a:rPr>
              <a:t>제</a:t>
            </a:r>
            <a:r>
              <a:rPr lang="en-US" altLang="ko-KR" sz="1000" dirty="0">
                <a:solidFill>
                  <a:srgbClr val="FF0000"/>
                </a:solidFill>
              </a:rPr>
              <a:t>34</a:t>
            </a:r>
            <a:r>
              <a:rPr lang="ko-KR" altLang="en-US" sz="1000" dirty="0">
                <a:solidFill>
                  <a:srgbClr val="FF0000"/>
                </a:solidFill>
              </a:rPr>
              <a:t>조</a:t>
            </a:r>
            <a:r>
              <a:rPr lang="en-US" altLang="ko-KR" sz="1000" dirty="0">
                <a:solidFill>
                  <a:srgbClr val="FF0000"/>
                </a:solidFill>
              </a:rPr>
              <a:t>, </a:t>
            </a:r>
            <a:r>
              <a:rPr lang="ko-KR" altLang="en-US" sz="1000" dirty="0">
                <a:solidFill>
                  <a:srgbClr val="FF0000"/>
                </a:solidFill>
              </a:rPr>
              <a:t>제</a:t>
            </a:r>
            <a:r>
              <a:rPr lang="en-US" altLang="ko-KR" sz="1000" dirty="0">
                <a:solidFill>
                  <a:srgbClr val="FF0000"/>
                </a:solidFill>
              </a:rPr>
              <a:t>35</a:t>
            </a:r>
            <a:r>
              <a:rPr lang="ko-KR" altLang="en-US" sz="1000" dirty="0">
                <a:solidFill>
                  <a:srgbClr val="FF0000"/>
                </a:solidFill>
              </a:rPr>
              <a:t>조</a:t>
            </a:r>
            <a:endParaRPr lang="en-US" altLang="ko-KR" sz="1000" dirty="0">
              <a:solidFill>
                <a:srgbClr val="FF0000"/>
              </a:solidFill>
            </a:endParaRPr>
          </a:p>
          <a:p>
            <a:pPr algn="ctr"/>
            <a:r>
              <a:rPr lang="en-US" altLang="ko-KR" sz="1000" dirty="0">
                <a:solidFill>
                  <a:srgbClr val="FF0000"/>
                </a:solidFill>
              </a:rPr>
              <a:t>(</a:t>
            </a:r>
            <a:r>
              <a:rPr lang="ko-KR" altLang="en-US" sz="1000" dirty="0">
                <a:solidFill>
                  <a:srgbClr val="FF0000"/>
                </a:solidFill>
              </a:rPr>
              <a:t>등</a:t>
            </a:r>
            <a:r>
              <a:rPr lang="en-US" altLang="ko-KR" sz="1000" dirty="0">
                <a:solidFill>
                  <a:srgbClr val="FF0000"/>
                </a:solidFill>
              </a:rPr>
              <a:t>)</a:t>
            </a:r>
            <a:endParaRPr lang="ko-KR" altLang="en-US" sz="1000" dirty="0">
              <a:solidFill>
                <a:srgbClr val="FF0000"/>
              </a:solidFill>
            </a:endParaRPr>
          </a:p>
        </p:txBody>
      </p:sp>
      <p:sp>
        <p:nvSpPr>
          <p:cNvPr id="63" name="직사각형 62"/>
          <p:cNvSpPr/>
          <p:nvPr/>
        </p:nvSpPr>
        <p:spPr>
          <a:xfrm>
            <a:off x="2012447" y="4155478"/>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rgbClr val="FF0000"/>
                </a:solidFill>
              </a:rPr>
              <a:t>제</a:t>
            </a:r>
            <a:r>
              <a:rPr lang="en-US" altLang="ko-KR" sz="1000" dirty="0">
                <a:solidFill>
                  <a:srgbClr val="FF0000"/>
                </a:solidFill>
              </a:rPr>
              <a:t>52</a:t>
            </a:r>
            <a:r>
              <a:rPr lang="ko-KR" altLang="en-US" sz="1000" dirty="0">
                <a:solidFill>
                  <a:srgbClr val="FF0000"/>
                </a:solidFill>
              </a:rPr>
              <a:t>조</a:t>
            </a:r>
            <a:endParaRPr lang="en-US" altLang="ko-KR" sz="1000" dirty="0">
              <a:solidFill>
                <a:srgbClr val="FF0000"/>
              </a:solidFill>
            </a:endParaRPr>
          </a:p>
          <a:p>
            <a:pPr algn="ctr"/>
            <a:r>
              <a:rPr lang="en-US" altLang="ko-KR" sz="1000" dirty="0">
                <a:solidFill>
                  <a:schemeClr val="bg1">
                    <a:lumMod val="50000"/>
                  </a:schemeClr>
                </a:solidFill>
              </a:rPr>
              <a:t>(</a:t>
            </a:r>
            <a:r>
              <a:rPr lang="ko-KR" altLang="en-US" sz="1000" dirty="0" err="1">
                <a:solidFill>
                  <a:schemeClr val="bg1">
                    <a:lumMod val="50000"/>
                  </a:schemeClr>
                </a:solidFill>
              </a:rPr>
              <a:t>확공조국</a:t>
            </a:r>
            <a:r>
              <a:rPr lang="ko-KR" altLang="en-US" sz="1000" dirty="0" err="1">
                <a:solidFill>
                  <a:srgbClr val="FF0000"/>
                </a:solidFill>
              </a:rPr>
              <a:t>등</a:t>
            </a:r>
            <a:r>
              <a:rPr lang="en-US" altLang="ko-KR" sz="1000" dirty="0">
                <a:solidFill>
                  <a:schemeClr val="bg1">
                    <a:lumMod val="50000"/>
                  </a:schemeClr>
                </a:solidFill>
              </a:rPr>
              <a:t>)</a:t>
            </a:r>
            <a:endParaRPr lang="ko-KR" altLang="en-US" sz="1000" dirty="0">
              <a:solidFill>
                <a:schemeClr val="bg1">
                  <a:lumMod val="50000"/>
                </a:schemeClr>
              </a:solidFill>
            </a:endParaRPr>
          </a:p>
        </p:txBody>
      </p:sp>
      <p:sp>
        <p:nvSpPr>
          <p:cNvPr id="64" name="직사각형 63"/>
          <p:cNvSpPr/>
          <p:nvPr/>
        </p:nvSpPr>
        <p:spPr>
          <a:xfrm>
            <a:off x="2012447" y="4904374"/>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rgbClr val="FF0000"/>
                </a:solidFill>
              </a:rPr>
              <a:t>제</a:t>
            </a:r>
            <a:r>
              <a:rPr lang="en-US" altLang="ko-KR" sz="1000" dirty="0">
                <a:solidFill>
                  <a:srgbClr val="FF0000"/>
                </a:solidFill>
              </a:rPr>
              <a:t>53</a:t>
            </a:r>
            <a:r>
              <a:rPr lang="ko-KR" altLang="en-US" sz="1000" dirty="0">
                <a:solidFill>
                  <a:srgbClr val="FF0000"/>
                </a:solidFill>
              </a:rPr>
              <a:t>조</a:t>
            </a:r>
            <a:endParaRPr lang="en-US" altLang="ko-KR" sz="1000" dirty="0">
              <a:solidFill>
                <a:srgbClr val="FF0000"/>
              </a:solidFill>
            </a:endParaRPr>
          </a:p>
          <a:p>
            <a:pPr algn="ctr"/>
            <a:r>
              <a:rPr lang="en-US" altLang="ko-KR" sz="1000" dirty="0">
                <a:solidFill>
                  <a:schemeClr val="bg1">
                    <a:lumMod val="50000"/>
                  </a:schemeClr>
                </a:solidFill>
              </a:rPr>
              <a:t>(</a:t>
            </a:r>
            <a:r>
              <a:rPr lang="ko-KR" altLang="en-US" sz="1000" dirty="0" err="1">
                <a:solidFill>
                  <a:schemeClr val="bg1">
                    <a:lumMod val="50000"/>
                  </a:schemeClr>
                </a:solidFill>
              </a:rPr>
              <a:t>확공조국</a:t>
            </a:r>
            <a:r>
              <a:rPr lang="ko-KR" altLang="en-US" sz="1000" dirty="0" err="1">
                <a:solidFill>
                  <a:srgbClr val="FF0000"/>
                </a:solidFill>
              </a:rPr>
              <a:t>등</a:t>
            </a:r>
            <a:r>
              <a:rPr lang="en-US" altLang="ko-KR" sz="1000" dirty="0">
                <a:solidFill>
                  <a:schemeClr val="bg1">
                    <a:lumMod val="50000"/>
                  </a:schemeClr>
                </a:solidFill>
              </a:rPr>
              <a:t>)</a:t>
            </a:r>
            <a:endParaRPr lang="ko-KR" altLang="en-US" sz="1000" dirty="0">
              <a:solidFill>
                <a:schemeClr val="bg1">
                  <a:lumMod val="50000"/>
                </a:schemeClr>
              </a:solidFill>
            </a:endParaRPr>
          </a:p>
        </p:txBody>
      </p:sp>
      <p:sp>
        <p:nvSpPr>
          <p:cNvPr id="65" name="직사각형 64"/>
          <p:cNvSpPr/>
          <p:nvPr/>
        </p:nvSpPr>
        <p:spPr>
          <a:xfrm>
            <a:off x="2012447" y="3784152"/>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rPr>
              <a:t>제</a:t>
            </a:r>
            <a:r>
              <a:rPr lang="en-US" altLang="ko-KR" sz="1000" dirty="0">
                <a:solidFill>
                  <a:schemeClr val="bg1">
                    <a:lumMod val="50000"/>
                  </a:schemeClr>
                </a:solidFill>
              </a:rPr>
              <a:t>47</a:t>
            </a:r>
            <a:r>
              <a:rPr lang="ko-KR" altLang="en-US" sz="1000" dirty="0">
                <a:solidFill>
                  <a:schemeClr val="bg1">
                    <a:lumMod val="50000"/>
                  </a:schemeClr>
                </a:solidFill>
              </a:rPr>
              <a:t>조</a:t>
            </a:r>
            <a:r>
              <a:rPr lang="en-US" altLang="ko-KR" sz="1000" dirty="0">
                <a:solidFill>
                  <a:schemeClr val="bg1">
                    <a:lumMod val="50000"/>
                  </a:schemeClr>
                </a:solidFill>
              </a:rPr>
              <a:t>, </a:t>
            </a:r>
            <a:r>
              <a:rPr lang="ko-KR" altLang="en-US" sz="1000" dirty="0">
                <a:solidFill>
                  <a:schemeClr val="bg1">
                    <a:lumMod val="50000"/>
                  </a:schemeClr>
                </a:solidFill>
              </a:rPr>
              <a:t>제</a:t>
            </a:r>
            <a:r>
              <a:rPr lang="en-US" altLang="ko-KR" sz="1000" dirty="0">
                <a:solidFill>
                  <a:schemeClr val="bg1">
                    <a:lumMod val="50000"/>
                  </a:schemeClr>
                </a:solidFill>
              </a:rPr>
              <a:t>51</a:t>
            </a:r>
            <a:r>
              <a:rPr lang="ko-KR" altLang="en-US" sz="1000" dirty="0">
                <a:solidFill>
                  <a:schemeClr val="bg1">
                    <a:lumMod val="50000"/>
                  </a:schemeClr>
                </a:solidFill>
              </a:rPr>
              <a:t>조</a:t>
            </a:r>
          </a:p>
        </p:txBody>
      </p:sp>
      <p:sp>
        <p:nvSpPr>
          <p:cNvPr id="66" name="직사각형 65"/>
          <p:cNvSpPr/>
          <p:nvPr/>
        </p:nvSpPr>
        <p:spPr>
          <a:xfrm>
            <a:off x="2012447" y="5284656"/>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rgbClr val="FF0000"/>
                </a:solidFill>
              </a:rPr>
              <a:t>제</a:t>
            </a:r>
            <a:r>
              <a:rPr lang="en-US" altLang="ko-KR" sz="1000" dirty="0">
                <a:solidFill>
                  <a:srgbClr val="FF0000"/>
                </a:solidFill>
              </a:rPr>
              <a:t>54</a:t>
            </a:r>
            <a:r>
              <a:rPr lang="ko-KR" altLang="en-US" sz="1000" dirty="0">
                <a:solidFill>
                  <a:srgbClr val="FF0000"/>
                </a:solidFill>
              </a:rPr>
              <a:t>조</a:t>
            </a:r>
            <a:endParaRPr lang="en-US" altLang="ko-KR" sz="1000" dirty="0">
              <a:solidFill>
                <a:srgbClr val="FF0000"/>
              </a:solidFill>
            </a:endParaRPr>
          </a:p>
          <a:p>
            <a:pPr algn="ctr"/>
            <a:r>
              <a:rPr lang="en-US" altLang="ko-KR" sz="1000" dirty="0">
                <a:solidFill>
                  <a:schemeClr val="bg1">
                    <a:lumMod val="50000"/>
                  </a:schemeClr>
                </a:solidFill>
              </a:rPr>
              <a:t>(</a:t>
            </a:r>
            <a:r>
              <a:rPr lang="ko-KR" altLang="en-US" sz="1000" b="1" dirty="0" err="1">
                <a:solidFill>
                  <a:schemeClr val="bg1">
                    <a:lumMod val="50000"/>
                  </a:schemeClr>
                </a:solidFill>
              </a:rPr>
              <a:t>심</a:t>
            </a:r>
            <a:r>
              <a:rPr lang="ko-KR" altLang="en-US" sz="1000" dirty="0" err="1">
                <a:solidFill>
                  <a:schemeClr val="bg1">
                    <a:lumMod val="50000"/>
                  </a:schemeClr>
                </a:solidFill>
              </a:rPr>
              <a:t>공존재</a:t>
            </a:r>
            <a:r>
              <a:rPr lang="ko-KR" altLang="en-US" sz="1000" dirty="0" err="1">
                <a:solidFill>
                  <a:srgbClr val="FF0000"/>
                </a:solidFill>
              </a:rPr>
              <a:t>등</a:t>
            </a:r>
            <a:r>
              <a:rPr lang="en-US" altLang="ko-KR" sz="1000" dirty="0">
                <a:solidFill>
                  <a:schemeClr val="bg1">
                    <a:lumMod val="50000"/>
                  </a:schemeClr>
                </a:solidFill>
              </a:rPr>
              <a:t>)</a:t>
            </a:r>
            <a:endParaRPr lang="ko-KR" altLang="en-US" sz="1000" dirty="0">
              <a:solidFill>
                <a:schemeClr val="bg1">
                  <a:lumMod val="50000"/>
                </a:schemeClr>
              </a:solidFill>
            </a:endParaRPr>
          </a:p>
        </p:txBody>
      </p:sp>
      <p:sp>
        <p:nvSpPr>
          <p:cNvPr id="67" name="직사각형 66"/>
          <p:cNvSpPr/>
          <p:nvPr/>
        </p:nvSpPr>
        <p:spPr>
          <a:xfrm>
            <a:off x="2012447" y="5655982"/>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rgbClr val="FF0000"/>
                </a:solidFill>
              </a:rPr>
              <a:t>제</a:t>
            </a:r>
            <a:r>
              <a:rPr lang="en-US" altLang="ko-KR" sz="1000" dirty="0">
                <a:solidFill>
                  <a:srgbClr val="FF0000"/>
                </a:solidFill>
              </a:rPr>
              <a:t>55</a:t>
            </a:r>
            <a:r>
              <a:rPr lang="ko-KR" altLang="en-US" sz="1000" dirty="0">
                <a:solidFill>
                  <a:srgbClr val="FF0000"/>
                </a:solidFill>
              </a:rPr>
              <a:t>조</a:t>
            </a:r>
            <a:r>
              <a:rPr lang="en-US" altLang="ko-KR" sz="1000" dirty="0">
                <a:solidFill>
                  <a:srgbClr val="FF0000"/>
                </a:solidFill>
              </a:rPr>
              <a:t>, </a:t>
            </a:r>
            <a:r>
              <a:rPr lang="ko-KR" altLang="en-US" sz="1000" dirty="0">
                <a:solidFill>
                  <a:srgbClr val="FF0000"/>
                </a:solidFill>
              </a:rPr>
              <a:t>제</a:t>
            </a:r>
            <a:r>
              <a:rPr lang="en-US" altLang="ko-KR" sz="1000" dirty="0">
                <a:solidFill>
                  <a:srgbClr val="FF0000"/>
                </a:solidFill>
              </a:rPr>
              <a:t>56</a:t>
            </a:r>
            <a:r>
              <a:rPr lang="ko-KR" altLang="en-US" sz="1000" dirty="0">
                <a:solidFill>
                  <a:srgbClr val="FF0000"/>
                </a:solidFill>
              </a:rPr>
              <a:t>조</a:t>
            </a:r>
            <a:endParaRPr lang="en-US" altLang="ko-KR" sz="1000" dirty="0">
              <a:solidFill>
                <a:srgbClr val="FF0000"/>
              </a:solidFill>
            </a:endParaRPr>
          </a:p>
          <a:p>
            <a:pPr algn="ctr"/>
            <a:r>
              <a:rPr lang="en-US" altLang="ko-KR" sz="1000" dirty="0">
                <a:solidFill>
                  <a:schemeClr val="bg1">
                    <a:lumMod val="50000"/>
                  </a:schemeClr>
                </a:solidFill>
              </a:rPr>
              <a:t>(</a:t>
            </a:r>
            <a:r>
              <a:rPr lang="ko-KR" altLang="en-US" sz="1000" b="1" dirty="0">
                <a:solidFill>
                  <a:schemeClr val="bg1">
                    <a:lumMod val="50000"/>
                  </a:schemeClr>
                </a:solidFill>
              </a:rPr>
              <a:t>심</a:t>
            </a:r>
            <a:r>
              <a:rPr lang="ko-KR" altLang="en-US" sz="1000" dirty="0">
                <a:solidFill>
                  <a:schemeClr val="bg1">
                    <a:lumMod val="50000"/>
                  </a:schemeClr>
                </a:solidFill>
              </a:rPr>
              <a:t>공존재</a:t>
            </a:r>
            <a:r>
              <a:rPr lang="ko-KR" altLang="en-US" sz="1000" dirty="0">
                <a:solidFill>
                  <a:srgbClr val="FF0000"/>
                </a:solidFill>
              </a:rPr>
              <a:t>등</a:t>
            </a:r>
            <a:r>
              <a:rPr lang="ko-KR" altLang="en-US" sz="1000" dirty="0">
                <a:solidFill>
                  <a:schemeClr val="bg1">
                    <a:lumMod val="50000"/>
                  </a:schemeClr>
                </a:solidFill>
              </a:rPr>
              <a:t>이</a:t>
            </a:r>
            <a:r>
              <a:rPr lang="en-US" altLang="ko-KR" sz="1000" dirty="0">
                <a:solidFill>
                  <a:schemeClr val="bg1">
                    <a:lumMod val="50000"/>
                  </a:schemeClr>
                </a:solidFill>
              </a:rPr>
              <a:t>)</a:t>
            </a:r>
            <a:endParaRPr lang="ko-KR" altLang="en-US" sz="1000" dirty="0">
              <a:solidFill>
                <a:schemeClr val="bg1">
                  <a:lumMod val="50000"/>
                </a:schemeClr>
              </a:solidFill>
            </a:endParaRPr>
          </a:p>
        </p:txBody>
      </p:sp>
      <p:cxnSp>
        <p:nvCxnSpPr>
          <p:cNvPr id="68" name="꺾인 연결선 67"/>
          <p:cNvCxnSpPr>
            <a:stCxn id="60" idx="3"/>
            <a:endCxn id="62" idx="1"/>
          </p:cNvCxnSpPr>
          <p:nvPr/>
        </p:nvCxnSpPr>
        <p:spPr>
          <a:xfrm flipV="1">
            <a:off x="1662303" y="3583563"/>
            <a:ext cx="350144" cy="80652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꺾인 연결선 68"/>
          <p:cNvCxnSpPr>
            <a:stCxn id="60" idx="3"/>
            <a:endCxn id="67" idx="1"/>
          </p:cNvCxnSpPr>
          <p:nvPr/>
        </p:nvCxnSpPr>
        <p:spPr>
          <a:xfrm>
            <a:off x="1662303" y="4390090"/>
            <a:ext cx="350144" cy="143226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69"/>
          <p:cNvCxnSpPr>
            <a:stCxn id="60" idx="3"/>
            <a:endCxn id="65" idx="1"/>
          </p:cNvCxnSpPr>
          <p:nvPr/>
        </p:nvCxnSpPr>
        <p:spPr>
          <a:xfrm flipV="1">
            <a:off x="1662303" y="3950528"/>
            <a:ext cx="350144" cy="43956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stCxn id="60" idx="3"/>
            <a:endCxn id="66" idx="1"/>
          </p:cNvCxnSpPr>
          <p:nvPr/>
        </p:nvCxnSpPr>
        <p:spPr>
          <a:xfrm>
            <a:off x="1662303" y="4390090"/>
            <a:ext cx="350144" cy="106094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꺾인 연결선 71"/>
          <p:cNvCxnSpPr>
            <a:stCxn id="60" idx="3"/>
            <a:endCxn id="63" idx="1"/>
          </p:cNvCxnSpPr>
          <p:nvPr/>
        </p:nvCxnSpPr>
        <p:spPr>
          <a:xfrm flipV="1">
            <a:off x="1662303" y="4321854"/>
            <a:ext cx="350144" cy="6823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꺾인 연결선 72"/>
          <p:cNvCxnSpPr>
            <a:stCxn id="60" idx="3"/>
            <a:endCxn id="64" idx="1"/>
          </p:cNvCxnSpPr>
          <p:nvPr/>
        </p:nvCxnSpPr>
        <p:spPr>
          <a:xfrm>
            <a:off x="1662303" y="4390090"/>
            <a:ext cx="350144" cy="68066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꺾인 연결선 73"/>
          <p:cNvCxnSpPr>
            <a:stCxn id="60" idx="1"/>
            <a:endCxn id="61" idx="1"/>
          </p:cNvCxnSpPr>
          <p:nvPr/>
        </p:nvCxnSpPr>
        <p:spPr>
          <a:xfrm rot="10800000" flipV="1">
            <a:off x="866775" y="4390090"/>
            <a:ext cx="12700" cy="1633781"/>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직사각형 74"/>
          <p:cNvSpPr/>
          <p:nvPr/>
        </p:nvSpPr>
        <p:spPr>
          <a:xfrm>
            <a:off x="2012447" y="6106995"/>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rPr>
              <a:t>제</a:t>
            </a:r>
            <a:r>
              <a:rPr lang="en-US" altLang="ko-KR" sz="1000" dirty="0">
                <a:solidFill>
                  <a:schemeClr val="bg1">
                    <a:lumMod val="50000"/>
                  </a:schemeClr>
                </a:solidFill>
              </a:rPr>
              <a:t>199</a:t>
            </a:r>
            <a:r>
              <a:rPr lang="ko-KR" altLang="en-US" sz="1000" dirty="0">
                <a:solidFill>
                  <a:schemeClr val="bg1">
                    <a:lumMod val="50000"/>
                  </a:schemeClr>
                </a:solidFill>
              </a:rPr>
              <a:t>조</a:t>
            </a:r>
            <a:endParaRPr lang="en-US" altLang="ko-KR" sz="1000" dirty="0">
              <a:solidFill>
                <a:schemeClr val="bg1">
                  <a:lumMod val="50000"/>
                </a:schemeClr>
              </a:solidFill>
            </a:endParaRPr>
          </a:p>
        </p:txBody>
      </p:sp>
      <p:sp>
        <p:nvSpPr>
          <p:cNvPr id="79" name="직사각형 78"/>
          <p:cNvSpPr/>
          <p:nvPr/>
        </p:nvSpPr>
        <p:spPr>
          <a:xfrm>
            <a:off x="2012447" y="6469189"/>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rPr>
              <a:t>제</a:t>
            </a:r>
            <a:r>
              <a:rPr lang="en-US" altLang="ko-KR" sz="1000" dirty="0">
                <a:solidFill>
                  <a:schemeClr val="bg1">
                    <a:lumMod val="50000"/>
                  </a:schemeClr>
                </a:solidFill>
              </a:rPr>
              <a:t>214</a:t>
            </a:r>
            <a:r>
              <a:rPr lang="ko-KR" altLang="en-US" sz="1000" dirty="0">
                <a:solidFill>
                  <a:schemeClr val="bg1">
                    <a:lumMod val="50000"/>
                  </a:schemeClr>
                </a:solidFill>
              </a:rPr>
              <a:t>조</a:t>
            </a:r>
          </a:p>
        </p:txBody>
      </p:sp>
      <p:cxnSp>
        <p:nvCxnSpPr>
          <p:cNvPr id="17" name="꺾인 연결선 16"/>
          <p:cNvCxnSpPr>
            <a:stCxn id="61" idx="3"/>
            <a:endCxn id="75" idx="1"/>
          </p:cNvCxnSpPr>
          <p:nvPr/>
        </p:nvCxnSpPr>
        <p:spPr>
          <a:xfrm>
            <a:off x="1662303" y="6023871"/>
            <a:ext cx="350144" cy="2495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61" idx="3"/>
            <a:endCxn id="79" idx="1"/>
          </p:cNvCxnSpPr>
          <p:nvPr/>
        </p:nvCxnSpPr>
        <p:spPr>
          <a:xfrm>
            <a:off x="1662303" y="6023871"/>
            <a:ext cx="350144" cy="61169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 name="자유형 19"/>
          <p:cNvSpPr/>
          <p:nvPr/>
        </p:nvSpPr>
        <p:spPr>
          <a:xfrm>
            <a:off x="364492" y="2691655"/>
            <a:ext cx="2409825" cy="2209822"/>
          </a:xfrm>
          <a:custGeom>
            <a:avLst/>
            <a:gdLst>
              <a:gd name="connsiteX0" fmla="*/ 285750 w 2409825"/>
              <a:gd name="connsiteY0" fmla="*/ 2209822 h 2209822"/>
              <a:gd name="connsiteX1" fmla="*/ 0 w 2409825"/>
              <a:gd name="connsiteY1" fmla="*/ 2209822 h 2209822"/>
              <a:gd name="connsiteX2" fmla="*/ 0 w 2409825"/>
              <a:gd name="connsiteY2" fmla="*/ 9547 h 2209822"/>
              <a:gd name="connsiteX3" fmla="*/ 247650 w 2409825"/>
              <a:gd name="connsiteY3" fmla="*/ 22 h 2209822"/>
              <a:gd name="connsiteX4" fmla="*/ 2409825 w 2409825"/>
              <a:gd name="connsiteY4" fmla="*/ 22 h 2209822"/>
              <a:gd name="connsiteX5" fmla="*/ 2409825 w 2409825"/>
              <a:gd name="connsiteY5" fmla="*/ 247672 h 220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9825" h="2209822">
                <a:moveTo>
                  <a:pt x="285750" y="2209822"/>
                </a:moveTo>
                <a:lnTo>
                  <a:pt x="0" y="2209822"/>
                </a:lnTo>
                <a:lnTo>
                  <a:pt x="0" y="9547"/>
                </a:lnTo>
                <a:cubicBezTo>
                  <a:pt x="209526" y="-929"/>
                  <a:pt x="126921" y="22"/>
                  <a:pt x="247650" y="22"/>
                </a:cubicBezTo>
                <a:lnTo>
                  <a:pt x="2409825" y="22"/>
                </a:lnTo>
                <a:lnTo>
                  <a:pt x="2409825" y="247672"/>
                </a:lnTo>
              </a:path>
            </a:pathLst>
          </a:cu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88" name="직사각형 87"/>
          <p:cNvSpPr/>
          <p:nvPr/>
        </p:nvSpPr>
        <p:spPr>
          <a:xfrm>
            <a:off x="10260330" y="2947989"/>
            <a:ext cx="931830" cy="42636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설정등록</a:t>
            </a:r>
            <a:r>
              <a:rPr lang="en-US" altLang="ko-KR" sz="1200" dirty="0">
                <a:solidFill>
                  <a:schemeClr val="tx1"/>
                </a:solidFill>
              </a:rPr>
              <a:t>(X)</a:t>
            </a:r>
            <a:endParaRPr lang="ko-KR" altLang="en-US" sz="1200" dirty="0">
              <a:solidFill>
                <a:schemeClr val="tx1"/>
              </a:solidFill>
            </a:endParaRPr>
          </a:p>
        </p:txBody>
      </p:sp>
      <p:cxnSp>
        <p:nvCxnSpPr>
          <p:cNvPr id="87" name="직선 연결선 86"/>
          <p:cNvCxnSpPr/>
          <p:nvPr/>
        </p:nvCxnSpPr>
        <p:spPr>
          <a:xfrm>
            <a:off x="4874085" y="5550948"/>
            <a:ext cx="6736890" cy="0"/>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직사각형 92"/>
          <p:cNvSpPr/>
          <p:nvPr/>
        </p:nvSpPr>
        <p:spPr>
          <a:xfrm>
            <a:off x="4376070" y="5417157"/>
            <a:ext cx="823208" cy="27882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특허출원</a:t>
            </a:r>
            <a:r>
              <a:rPr lang="en-US" altLang="ko-KR" sz="1000" dirty="0">
                <a:solidFill>
                  <a:schemeClr val="tx1"/>
                </a:solidFill>
              </a:rPr>
              <a:t>(X)</a:t>
            </a:r>
            <a:endParaRPr lang="ko-KR" altLang="en-US" sz="1000" dirty="0">
              <a:solidFill>
                <a:schemeClr val="tx1"/>
              </a:solidFill>
            </a:endParaRPr>
          </a:p>
        </p:txBody>
      </p:sp>
      <p:sp>
        <p:nvSpPr>
          <p:cNvPr id="95" name="직사각형 94"/>
          <p:cNvSpPr/>
          <p:nvPr/>
        </p:nvSpPr>
        <p:spPr>
          <a:xfrm>
            <a:off x="5658728" y="5417157"/>
            <a:ext cx="823208" cy="27882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분할출원</a:t>
            </a:r>
            <a:r>
              <a:rPr lang="en-US" altLang="ko-KR" sz="1000" dirty="0">
                <a:solidFill>
                  <a:schemeClr val="tx1"/>
                </a:solidFill>
              </a:rPr>
              <a:t>(Y)</a:t>
            </a:r>
            <a:endParaRPr lang="ko-KR" altLang="en-US" sz="1000" dirty="0">
              <a:solidFill>
                <a:schemeClr val="tx1"/>
              </a:solidFill>
            </a:endParaRPr>
          </a:p>
        </p:txBody>
      </p:sp>
      <p:sp>
        <p:nvSpPr>
          <p:cNvPr id="96" name="직사각형 95"/>
          <p:cNvSpPr/>
          <p:nvPr/>
        </p:nvSpPr>
        <p:spPr>
          <a:xfrm>
            <a:off x="6654758" y="5426912"/>
            <a:ext cx="823208" cy="27882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심사청구</a:t>
            </a:r>
            <a:r>
              <a:rPr lang="en-US" altLang="ko-KR" sz="1000" dirty="0">
                <a:solidFill>
                  <a:schemeClr val="tx1"/>
                </a:solidFill>
              </a:rPr>
              <a:t>(Y)</a:t>
            </a:r>
            <a:endParaRPr lang="ko-KR" altLang="en-US" sz="1000" dirty="0">
              <a:solidFill>
                <a:schemeClr val="tx1"/>
              </a:solidFill>
            </a:endParaRPr>
          </a:p>
        </p:txBody>
      </p:sp>
      <p:sp>
        <p:nvSpPr>
          <p:cNvPr id="97" name="양쪽 모서리가 둥근 사각형 96"/>
          <p:cNvSpPr/>
          <p:nvPr/>
        </p:nvSpPr>
        <p:spPr>
          <a:xfrm>
            <a:off x="4963223" y="3176679"/>
            <a:ext cx="2165626" cy="395343"/>
          </a:xfrm>
          <a:prstGeom prst="round2SameRect">
            <a:avLst>
              <a:gd name="adj1" fmla="val 0"/>
              <a:gd name="adj2" fmla="val 50000"/>
            </a:avLst>
          </a:prstGeom>
          <a:pattFill prst="smConfetti">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98" name="직사각형 97"/>
          <p:cNvSpPr/>
          <p:nvPr/>
        </p:nvSpPr>
        <p:spPr>
          <a:xfrm>
            <a:off x="7079671" y="5943404"/>
            <a:ext cx="1967962" cy="3067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3</a:t>
            </a:r>
            <a:r>
              <a:rPr lang="ko-KR" altLang="en-US" sz="1000" dirty="0">
                <a:solidFill>
                  <a:schemeClr val="tx1"/>
                </a:solidFill>
              </a:rPr>
              <a:t>년</a:t>
            </a:r>
            <a:endParaRPr lang="en-US" altLang="ko-KR" sz="800" dirty="0">
              <a:solidFill>
                <a:schemeClr val="tx1"/>
              </a:solidFill>
            </a:endParaRPr>
          </a:p>
        </p:txBody>
      </p:sp>
      <p:sp>
        <p:nvSpPr>
          <p:cNvPr id="103" name="직사각형 102"/>
          <p:cNvSpPr/>
          <p:nvPr/>
        </p:nvSpPr>
        <p:spPr>
          <a:xfrm>
            <a:off x="6867406" y="4792580"/>
            <a:ext cx="196796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00" dirty="0">
                <a:solidFill>
                  <a:schemeClr val="tx1"/>
                </a:solidFill>
              </a:rPr>
              <a:t>4</a:t>
            </a:r>
            <a:r>
              <a:rPr lang="ko-KR" altLang="en-US" sz="1000" dirty="0">
                <a:solidFill>
                  <a:schemeClr val="tx1"/>
                </a:solidFill>
              </a:rPr>
              <a:t>년</a:t>
            </a:r>
            <a:endParaRPr lang="en-US" altLang="ko-KR" sz="800" dirty="0">
              <a:solidFill>
                <a:schemeClr val="tx1"/>
              </a:solidFill>
            </a:endParaRPr>
          </a:p>
        </p:txBody>
      </p:sp>
      <p:cxnSp>
        <p:nvCxnSpPr>
          <p:cNvPr id="105" name="직선 연결선 104"/>
          <p:cNvCxnSpPr/>
          <p:nvPr/>
        </p:nvCxnSpPr>
        <p:spPr>
          <a:xfrm>
            <a:off x="9782175" y="4936452"/>
            <a:ext cx="0" cy="63837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직선 연결선 107"/>
          <p:cNvCxnSpPr/>
          <p:nvPr/>
        </p:nvCxnSpPr>
        <p:spPr>
          <a:xfrm>
            <a:off x="10811767" y="4936452"/>
            <a:ext cx="0" cy="63837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직선 연결선 108"/>
          <p:cNvCxnSpPr/>
          <p:nvPr/>
        </p:nvCxnSpPr>
        <p:spPr>
          <a:xfrm>
            <a:off x="9782175" y="5175574"/>
            <a:ext cx="1029592" cy="0"/>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직사각형 113"/>
          <p:cNvSpPr/>
          <p:nvPr/>
        </p:nvSpPr>
        <p:spPr>
          <a:xfrm>
            <a:off x="9744692" y="4852026"/>
            <a:ext cx="1095650"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지연된 기간</a:t>
            </a:r>
            <a:endParaRPr lang="en-US" altLang="ko-KR" sz="1000" dirty="0">
              <a:solidFill>
                <a:schemeClr val="tx1"/>
              </a:solidFill>
            </a:endParaRPr>
          </a:p>
        </p:txBody>
      </p:sp>
      <p:sp>
        <p:nvSpPr>
          <p:cNvPr id="104" name="직사각형 103"/>
          <p:cNvSpPr/>
          <p:nvPr/>
        </p:nvSpPr>
        <p:spPr>
          <a:xfrm>
            <a:off x="10400163" y="5417157"/>
            <a:ext cx="823208" cy="278820"/>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설정등록</a:t>
            </a:r>
            <a:r>
              <a:rPr lang="en-US" altLang="ko-KR" sz="1000" dirty="0">
                <a:solidFill>
                  <a:schemeClr val="tx1"/>
                </a:solidFill>
              </a:rPr>
              <a:t>(Y)</a:t>
            </a:r>
            <a:endParaRPr lang="ko-KR" altLang="en-US" sz="1000" dirty="0">
              <a:solidFill>
                <a:schemeClr val="tx1"/>
              </a:solidFill>
            </a:endParaRPr>
          </a:p>
        </p:txBody>
      </p:sp>
      <p:sp>
        <p:nvSpPr>
          <p:cNvPr id="32" name="직사각형 31"/>
          <p:cNvSpPr/>
          <p:nvPr/>
        </p:nvSpPr>
        <p:spPr>
          <a:xfrm>
            <a:off x="3952875" y="4643473"/>
            <a:ext cx="7934325" cy="176935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Rectangle 5"/>
          <p:cNvSpPr>
            <a:spLocks noChangeArrowheads="1"/>
          </p:cNvSpPr>
          <p:nvPr/>
        </p:nvSpPr>
        <p:spPr bwMode="auto">
          <a:xfrm>
            <a:off x="4177669" y="4476486"/>
            <a:ext cx="75288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400" b="0" dirty="0">
                <a:solidFill>
                  <a:schemeClr val="bg1"/>
                </a:solidFill>
                <a:latin typeface="+mj-ea"/>
                <a:ea typeface="+mj-ea"/>
              </a:rPr>
              <a:t> </a:t>
            </a:r>
            <a:r>
              <a:rPr lang="en-US" altLang="ko-KR" sz="1400" dirty="0">
                <a:solidFill>
                  <a:schemeClr val="bg1"/>
                </a:solidFill>
                <a:latin typeface="+mj-ea"/>
                <a:ea typeface="+mj-ea"/>
              </a:rPr>
              <a:t>CASE</a:t>
            </a:r>
            <a:endParaRPr lang="ko-KR" altLang="en-US" sz="1400" b="0" dirty="0">
              <a:solidFill>
                <a:schemeClr val="bg1"/>
              </a:solidFill>
              <a:latin typeface="+mj-ea"/>
              <a:ea typeface="+mj-ea"/>
            </a:endParaRPr>
          </a:p>
        </p:txBody>
      </p:sp>
      <p:sp>
        <p:nvSpPr>
          <p:cNvPr id="2" name="슬라이드 번호 개체 틀 1"/>
          <p:cNvSpPr>
            <a:spLocks noGrp="1"/>
          </p:cNvSpPr>
          <p:nvPr>
            <p:ph type="sldNum" sz="quarter" idx="12"/>
          </p:nvPr>
        </p:nvSpPr>
        <p:spPr/>
        <p:txBody>
          <a:bodyPr/>
          <a:lstStyle/>
          <a:p>
            <a:r>
              <a:rPr lang="en-US" altLang="ko-KR"/>
              <a:t>300</a:t>
            </a:r>
            <a:endParaRPr lang="ko-KR" altLang="en-US"/>
          </a:p>
        </p:txBody>
      </p:sp>
      <p:sp>
        <p:nvSpPr>
          <p:cNvPr id="76" name="직사각형 75">
            <a:extLst>
              <a:ext uri="{FF2B5EF4-FFF2-40B4-BE49-F238E27FC236}">
                <a16:creationId xmlns:a16="http://schemas.microsoft.com/office/drawing/2014/main" id="{D5743853-99EB-4DEE-B4C8-D6E8E2411264}"/>
              </a:ext>
            </a:extLst>
          </p:cNvPr>
          <p:cNvSpPr/>
          <p:nvPr/>
        </p:nvSpPr>
        <p:spPr>
          <a:xfrm>
            <a:off x="2012447" y="4534618"/>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rgbClr val="FF0000"/>
                </a:solidFill>
              </a:rPr>
              <a:t>제</a:t>
            </a:r>
            <a:r>
              <a:rPr lang="en-US" altLang="ko-KR" sz="1000" dirty="0">
                <a:solidFill>
                  <a:srgbClr val="FF0000"/>
                </a:solidFill>
              </a:rPr>
              <a:t>52</a:t>
            </a:r>
            <a:r>
              <a:rPr lang="ko-KR" altLang="en-US" sz="1000" dirty="0">
                <a:solidFill>
                  <a:srgbClr val="FF0000"/>
                </a:solidFill>
              </a:rPr>
              <a:t>조의</a:t>
            </a:r>
            <a:r>
              <a:rPr lang="en-US" altLang="ko-KR" sz="1000" dirty="0">
                <a:solidFill>
                  <a:srgbClr val="FF0000"/>
                </a:solidFill>
              </a:rPr>
              <a:t>2</a:t>
            </a:r>
          </a:p>
          <a:p>
            <a:pPr algn="ctr"/>
            <a:r>
              <a:rPr lang="en-US" altLang="ko-KR" sz="1000" dirty="0">
                <a:solidFill>
                  <a:schemeClr val="bg1">
                    <a:lumMod val="50000"/>
                  </a:schemeClr>
                </a:solidFill>
              </a:rPr>
              <a:t>(</a:t>
            </a:r>
            <a:r>
              <a:rPr lang="ko-KR" altLang="en-US" sz="1000" dirty="0" err="1">
                <a:solidFill>
                  <a:schemeClr val="bg1">
                    <a:lumMod val="50000"/>
                  </a:schemeClr>
                </a:solidFill>
              </a:rPr>
              <a:t>확공조국</a:t>
            </a:r>
            <a:r>
              <a:rPr lang="ko-KR" altLang="en-US" sz="1000" dirty="0" err="1">
                <a:solidFill>
                  <a:srgbClr val="FF0000"/>
                </a:solidFill>
              </a:rPr>
              <a:t>등</a:t>
            </a:r>
            <a:r>
              <a:rPr lang="en-US" altLang="ko-KR" sz="1000" dirty="0">
                <a:solidFill>
                  <a:schemeClr val="bg1">
                    <a:lumMod val="50000"/>
                  </a:schemeClr>
                </a:solidFill>
              </a:rPr>
              <a:t>)</a:t>
            </a:r>
            <a:endParaRPr lang="ko-KR" altLang="en-US" sz="1000" dirty="0">
              <a:solidFill>
                <a:schemeClr val="bg1">
                  <a:lumMod val="50000"/>
                </a:schemeClr>
              </a:solidFill>
            </a:endParaRPr>
          </a:p>
        </p:txBody>
      </p:sp>
      <p:cxnSp>
        <p:nvCxnSpPr>
          <p:cNvPr id="77" name="꺾인 연결선 72">
            <a:extLst>
              <a:ext uri="{FF2B5EF4-FFF2-40B4-BE49-F238E27FC236}">
                <a16:creationId xmlns:a16="http://schemas.microsoft.com/office/drawing/2014/main" id="{0008464C-102F-4069-92AB-9F3BF1D416AF}"/>
              </a:ext>
            </a:extLst>
          </p:cNvPr>
          <p:cNvCxnSpPr>
            <a:cxnSpLocks/>
            <a:stCxn id="60" idx="3"/>
            <a:endCxn id="76" idx="1"/>
          </p:cNvCxnSpPr>
          <p:nvPr/>
        </p:nvCxnSpPr>
        <p:spPr>
          <a:xfrm>
            <a:off x="1662303" y="4390090"/>
            <a:ext cx="350144" cy="310904"/>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26221785"/>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6" name="직선 연결선 75">
            <a:extLst>
              <a:ext uri="{FF2B5EF4-FFF2-40B4-BE49-F238E27FC236}">
                <a16:creationId xmlns:a16="http://schemas.microsoft.com/office/drawing/2014/main" id="{16DD3DAA-31B2-407C-A1F2-D0B9635FB583}"/>
              </a:ext>
            </a:extLst>
          </p:cNvPr>
          <p:cNvCxnSpPr>
            <a:stCxn id="78" idx="2"/>
          </p:cNvCxnSpPr>
          <p:nvPr/>
        </p:nvCxnSpPr>
        <p:spPr>
          <a:xfrm>
            <a:off x="10618124" y="1744818"/>
            <a:ext cx="0" cy="435292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직선 연결선 111">
            <a:extLst>
              <a:ext uri="{FF2B5EF4-FFF2-40B4-BE49-F238E27FC236}">
                <a16:creationId xmlns:a16="http://schemas.microsoft.com/office/drawing/2014/main" id="{6ACA587B-5B42-4F28-9E98-703AD9C725B0}"/>
              </a:ext>
            </a:extLst>
          </p:cNvPr>
          <p:cNvCxnSpPr/>
          <p:nvPr/>
        </p:nvCxnSpPr>
        <p:spPr>
          <a:xfrm>
            <a:off x="10723795" y="3851767"/>
            <a:ext cx="0" cy="1272106"/>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11" name="직선 연결선 110">
            <a:extLst>
              <a:ext uri="{FF2B5EF4-FFF2-40B4-BE49-F238E27FC236}">
                <a16:creationId xmlns:a16="http://schemas.microsoft.com/office/drawing/2014/main" id="{C4D10A65-5691-4F75-93F3-D3C573F97076}"/>
              </a:ext>
            </a:extLst>
          </p:cNvPr>
          <p:cNvCxnSpPr>
            <a:cxnSpLocks/>
            <a:stCxn id="78" idx="2"/>
          </p:cNvCxnSpPr>
          <p:nvPr/>
        </p:nvCxnSpPr>
        <p:spPr>
          <a:xfrm>
            <a:off x="10618124" y="1744818"/>
            <a:ext cx="4819" cy="1783099"/>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13" name="직선 연결선 112">
            <a:extLst>
              <a:ext uri="{FF2B5EF4-FFF2-40B4-BE49-F238E27FC236}">
                <a16:creationId xmlns:a16="http://schemas.microsoft.com/office/drawing/2014/main" id="{FD429695-AF0A-496D-BE1D-B90D768B30D1}"/>
              </a:ext>
            </a:extLst>
          </p:cNvPr>
          <p:cNvCxnSpPr>
            <a:cxnSpLocks/>
          </p:cNvCxnSpPr>
          <p:nvPr/>
        </p:nvCxnSpPr>
        <p:spPr>
          <a:xfrm>
            <a:off x="10723795" y="3851767"/>
            <a:ext cx="0" cy="142927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직선 연결선 109">
            <a:extLst>
              <a:ext uri="{FF2B5EF4-FFF2-40B4-BE49-F238E27FC236}">
                <a16:creationId xmlns:a16="http://schemas.microsoft.com/office/drawing/2014/main" id="{DED4D012-5270-44CF-81C0-0677FCAB4054}"/>
              </a:ext>
            </a:extLst>
          </p:cNvPr>
          <p:cNvCxnSpPr/>
          <p:nvPr/>
        </p:nvCxnSpPr>
        <p:spPr>
          <a:xfrm>
            <a:off x="10622943" y="5410268"/>
            <a:ext cx="0" cy="1272106"/>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05" name="직선 연결선 104">
            <a:extLst>
              <a:ext uri="{FF2B5EF4-FFF2-40B4-BE49-F238E27FC236}">
                <a16:creationId xmlns:a16="http://schemas.microsoft.com/office/drawing/2014/main" id="{E53E3A61-883A-48FC-A0F4-45FE6E9CDFC4}"/>
              </a:ext>
            </a:extLst>
          </p:cNvPr>
          <p:cNvCxnSpPr/>
          <p:nvPr/>
        </p:nvCxnSpPr>
        <p:spPr>
          <a:xfrm>
            <a:off x="6541203" y="5410268"/>
            <a:ext cx="0" cy="1272106"/>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06" name="직선 연결선 105">
            <a:extLst>
              <a:ext uri="{FF2B5EF4-FFF2-40B4-BE49-F238E27FC236}">
                <a16:creationId xmlns:a16="http://schemas.microsoft.com/office/drawing/2014/main" id="{17F16241-AF51-4209-9834-F8ECDBACE00F}"/>
              </a:ext>
            </a:extLst>
          </p:cNvPr>
          <p:cNvCxnSpPr>
            <a:cxnSpLocks/>
            <a:stCxn id="53" idx="2"/>
          </p:cNvCxnSpPr>
          <p:nvPr/>
        </p:nvCxnSpPr>
        <p:spPr>
          <a:xfrm flipH="1">
            <a:off x="6541203" y="1744818"/>
            <a:ext cx="14233" cy="1783099"/>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08" name="직선 연결선 107">
            <a:extLst>
              <a:ext uri="{FF2B5EF4-FFF2-40B4-BE49-F238E27FC236}">
                <a16:creationId xmlns:a16="http://schemas.microsoft.com/office/drawing/2014/main" id="{3CB49FBF-15F8-4205-945F-89A9261D33F1}"/>
              </a:ext>
            </a:extLst>
          </p:cNvPr>
          <p:cNvCxnSpPr/>
          <p:nvPr/>
        </p:nvCxnSpPr>
        <p:spPr>
          <a:xfrm>
            <a:off x="6642055" y="3851767"/>
            <a:ext cx="0" cy="1272106"/>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09" name="직선 연결선 108">
            <a:extLst>
              <a:ext uri="{FF2B5EF4-FFF2-40B4-BE49-F238E27FC236}">
                <a16:creationId xmlns:a16="http://schemas.microsoft.com/office/drawing/2014/main" id="{9C5C1BEE-1DB2-4E8F-9559-1795DA3123B8}"/>
              </a:ext>
            </a:extLst>
          </p:cNvPr>
          <p:cNvCxnSpPr>
            <a:cxnSpLocks/>
          </p:cNvCxnSpPr>
          <p:nvPr/>
        </p:nvCxnSpPr>
        <p:spPr>
          <a:xfrm>
            <a:off x="6642055" y="3851767"/>
            <a:ext cx="0" cy="142927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직선 연결선 10">
            <a:extLst>
              <a:ext uri="{FF2B5EF4-FFF2-40B4-BE49-F238E27FC236}">
                <a16:creationId xmlns:a16="http://schemas.microsoft.com/office/drawing/2014/main" id="{4725882B-FD6F-427A-B38B-E533A2F33D53}"/>
              </a:ext>
            </a:extLst>
          </p:cNvPr>
          <p:cNvCxnSpPr>
            <a:cxnSpLocks/>
            <a:stCxn id="10" idx="2"/>
          </p:cNvCxnSpPr>
          <p:nvPr/>
        </p:nvCxnSpPr>
        <p:spPr>
          <a:xfrm>
            <a:off x="2492747" y="1744818"/>
            <a:ext cx="0" cy="435292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1E07AA4D-6A35-4707-8808-A3E87328577E}"/>
              </a:ext>
            </a:extLst>
          </p:cNvPr>
          <p:cNvCxnSpPr/>
          <p:nvPr/>
        </p:nvCxnSpPr>
        <p:spPr>
          <a:xfrm>
            <a:off x="2492747" y="5410268"/>
            <a:ext cx="0" cy="1272106"/>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99" name="직선 연결선 98">
            <a:extLst>
              <a:ext uri="{FF2B5EF4-FFF2-40B4-BE49-F238E27FC236}">
                <a16:creationId xmlns:a16="http://schemas.microsoft.com/office/drawing/2014/main" id="{B862D4E2-29B9-4EB6-92AB-83967913AB2E}"/>
              </a:ext>
            </a:extLst>
          </p:cNvPr>
          <p:cNvCxnSpPr/>
          <p:nvPr/>
        </p:nvCxnSpPr>
        <p:spPr>
          <a:xfrm>
            <a:off x="2600323" y="3851767"/>
            <a:ext cx="0" cy="1272106"/>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97" name="직선 연결선 96">
            <a:extLst>
              <a:ext uri="{FF2B5EF4-FFF2-40B4-BE49-F238E27FC236}">
                <a16:creationId xmlns:a16="http://schemas.microsoft.com/office/drawing/2014/main" id="{5B2E778B-0E6C-4378-8CAF-799668D19AEE}"/>
              </a:ext>
            </a:extLst>
          </p:cNvPr>
          <p:cNvCxnSpPr>
            <a:cxnSpLocks/>
            <a:stCxn id="10" idx="2"/>
          </p:cNvCxnSpPr>
          <p:nvPr/>
        </p:nvCxnSpPr>
        <p:spPr>
          <a:xfrm>
            <a:off x="2492747" y="1744818"/>
            <a:ext cx="0" cy="1783099"/>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25" name="직선 연결선 24">
            <a:extLst>
              <a:ext uri="{FF2B5EF4-FFF2-40B4-BE49-F238E27FC236}">
                <a16:creationId xmlns:a16="http://schemas.microsoft.com/office/drawing/2014/main" id="{488501F7-6851-4EEA-BD99-C56E00B2E0F4}"/>
              </a:ext>
            </a:extLst>
          </p:cNvPr>
          <p:cNvCxnSpPr/>
          <p:nvPr/>
        </p:nvCxnSpPr>
        <p:spPr>
          <a:xfrm>
            <a:off x="787774" y="4249082"/>
            <a:ext cx="1724025" cy="0"/>
          </a:xfrm>
          <a:prstGeom prst="line">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89</a:t>
            </a:r>
            <a:r>
              <a:rPr lang="ko-KR" altLang="en-US" dirty="0"/>
              <a:t>조</a:t>
            </a:r>
            <a:r>
              <a:rPr lang="en-US" altLang="ko-KR" dirty="0"/>
              <a:t>~</a:t>
            </a:r>
            <a:r>
              <a:rPr lang="ko-KR" altLang="en-US" dirty="0"/>
              <a:t>제</a:t>
            </a:r>
            <a:r>
              <a:rPr lang="en-US" altLang="ko-KR" dirty="0"/>
              <a:t>95</a:t>
            </a:r>
            <a:r>
              <a:rPr lang="ko-KR" altLang="en-US" dirty="0"/>
              <a:t>조</a:t>
            </a:r>
          </a:p>
        </p:txBody>
      </p:sp>
      <p:sp>
        <p:nvSpPr>
          <p:cNvPr id="4" name="텍스트 개체 틀 3"/>
          <p:cNvSpPr>
            <a:spLocks noGrp="1"/>
          </p:cNvSpPr>
          <p:nvPr>
            <p:ph type="body" sz="quarter" idx="13"/>
          </p:nvPr>
        </p:nvSpPr>
        <p:spPr/>
        <p:txBody>
          <a:bodyPr/>
          <a:lstStyle/>
          <a:p>
            <a:r>
              <a:rPr lang="ko-KR" altLang="en-US" dirty="0" err="1"/>
              <a:t>연장등록출원절차의</a:t>
            </a:r>
            <a:r>
              <a:rPr lang="ko-KR" altLang="en-US" dirty="0"/>
              <a:t> 비교</a:t>
            </a:r>
          </a:p>
        </p:txBody>
      </p:sp>
      <p:sp>
        <p:nvSpPr>
          <p:cNvPr id="6" name="슬라이드 번호 개체 틀 5"/>
          <p:cNvSpPr>
            <a:spLocks noGrp="1"/>
          </p:cNvSpPr>
          <p:nvPr>
            <p:ph type="sldNum" sz="quarter" idx="12"/>
          </p:nvPr>
        </p:nvSpPr>
        <p:spPr/>
        <p:txBody>
          <a:bodyPr/>
          <a:lstStyle/>
          <a:p>
            <a:r>
              <a:rPr lang="en-US" altLang="ko-KR"/>
              <a:t>301</a:t>
            </a:r>
            <a:endParaRPr lang="ko-KR" altLang="en-US"/>
          </a:p>
        </p:txBody>
      </p:sp>
      <p:sp>
        <p:nvSpPr>
          <p:cNvPr id="10" name="모서리가 둥근 직사각형 19">
            <a:extLst>
              <a:ext uri="{FF2B5EF4-FFF2-40B4-BE49-F238E27FC236}">
                <a16:creationId xmlns:a16="http://schemas.microsoft.com/office/drawing/2014/main" id="{34A4FCE5-62F2-4D2E-89B6-CB6DA3DCDFBE}"/>
              </a:ext>
            </a:extLst>
          </p:cNvPr>
          <p:cNvSpPr/>
          <p:nvPr/>
        </p:nvSpPr>
        <p:spPr>
          <a:xfrm>
            <a:off x="1968872" y="1420968"/>
            <a:ext cx="1047750"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95000"/>
                  </a:schemeClr>
                </a:solidFill>
              </a:rPr>
              <a:t>지식재산처장</a:t>
            </a:r>
          </a:p>
        </p:txBody>
      </p:sp>
      <p:sp>
        <p:nvSpPr>
          <p:cNvPr id="12" name="모서리가 둥근 직사각형 22">
            <a:extLst>
              <a:ext uri="{FF2B5EF4-FFF2-40B4-BE49-F238E27FC236}">
                <a16:creationId xmlns:a16="http://schemas.microsoft.com/office/drawing/2014/main" id="{3E79DBD3-ADE5-4E41-AF6D-330C40646556}"/>
              </a:ext>
            </a:extLst>
          </p:cNvPr>
          <p:cNvSpPr/>
          <p:nvPr/>
        </p:nvSpPr>
        <p:spPr>
          <a:xfrm>
            <a:off x="273424" y="1420968"/>
            <a:ext cx="1047750" cy="323850"/>
          </a:xfrm>
          <a:prstGeom prst="roundRect">
            <a:avLst>
              <a:gd name="adj" fmla="val 50000"/>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95000"/>
                  </a:schemeClr>
                </a:solidFill>
              </a:rPr>
              <a:t>출원인</a:t>
            </a:r>
          </a:p>
        </p:txBody>
      </p:sp>
      <p:cxnSp>
        <p:nvCxnSpPr>
          <p:cNvPr id="13" name="직선 연결선 12">
            <a:extLst>
              <a:ext uri="{FF2B5EF4-FFF2-40B4-BE49-F238E27FC236}">
                <a16:creationId xmlns:a16="http://schemas.microsoft.com/office/drawing/2014/main" id="{39FFD247-A1B7-4818-B7FA-A8830EB54DC6}"/>
              </a:ext>
            </a:extLst>
          </p:cNvPr>
          <p:cNvCxnSpPr>
            <a:stCxn id="12" idx="2"/>
          </p:cNvCxnSpPr>
          <p:nvPr/>
        </p:nvCxnSpPr>
        <p:spPr>
          <a:xfrm>
            <a:off x="797299" y="1744818"/>
            <a:ext cx="0" cy="4352925"/>
          </a:xfrm>
          <a:prstGeom prst="line">
            <a:avLst/>
          </a:prstGeom>
          <a:ln w="28575">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모서리가 둥근 직사각형 25">
            <a:extLst>
              <a:ext uri="{FF2B5EF4-FFF2-40B4-BE49-F238E27FC236}">
                <a16:creationId xmlns:a16="http://schemas.microsoft.com/office/drawing/2014/main" id="{B492F138-4B7F-4D4A-811B-2D93E2D52868}"/>
              </a:ext>
            </a:extLst>
          </p:cNvPr>
          <p:cNvSpPr/>
          <p:nvPr/>
        </p:nvSpPr>
        <p:spPr>
          <a:xfrm>
            <a:off x="1968874" y="2530142"/>
            <a:ext cx="1047750" cy="236141"/>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방식심사</a:t>
            </a:r>
          </a:p>
        </p:txBody>
      </p:sp>
      <p:sp>
        <p:nvSpPr>
          <p:cNvPr id="15" name="모서리가 둥근 직사각형 26">
            <a:extLst>
              <a:ext uri="{FF2B5EF4-FFF2-40B4-BE49-F238E27FC236}">
                <a16:creationId xmlns:a16="http://schemas.microsoft.com/office/drawing/2014/main" id="{2C122C16-04A2-428F-BE18-C5F2768F750A}"/>
              </a:ext>
            </a:extLst>
          </p:cNvPr>
          <p:cNvSpPr/>
          <p:nvPr/>
        </p:nvSpPr>
        <p:spPr>
          <a:xfrm>
            <a:off x="2076448" y="4087157"/>
            <a:ext cx="1047750" cy="323850"/>
          </a:xfrm>
          <a:prstGeom prst="roundRect">
            <a:avLst>
              <a:gd name="adj" fmla="val 5882"/>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실체심사</a:t>
            </a:r>
            <a:endParaRPr lang="en-US" altLang="ko-KR" sz="1000" dirty="0">
              <a:solidFill>
                <a:schemeClr val="tx1"/>
              </a:solidFill>
            </a:endParaRPr>
          </a:p>
          <a:p>
            <a:pPr algn="ctr"/>
            <a:r>
              <a:rPr lang="en-US" altLang="ko-KR" sz="800" dirty="0">
                <a:solidFill>
                  <a:srgbClr val="FF0000"/>
                </a:solidFill>
              </a:rPr>
              <a:t>(</a:t>
            </a:r>
            <a:r>
              <a:rPr lang="ko-KR" altLang="en-US" sz="800" dirty="0">
                <a:solidFill>
                  <a:srgbClr val="FF0000"/>
                </a:solidFill>
              </a:rPr>
              <a:t>직권주의</a:t>
            </a:r>
            <a:r>
              <a:rPr lang="en-US" altLang="ko-KR" sz="800" dirty="0">
                <a:solidFill>
                  <a:srgbClr val="FF0000"/>
                </a:solidFill>
              </a:rPr>
              <a:t>)</a:t>
            </a:r>
            <a:endParaRPr lang="ko-KR" altLang="en-US" sz="800" dirty="0">
              <a:solidFill>
                <a:srgbClr val="FF0000"/>
              </a:solidFill>
            </a:endParaRPr>
          </a:p>
        </p:txBody>
      </p:sp>
      <p:cxnSp>
        <p:nvCxnSpPr>
          <p:cNvPr id="17" name="직선 연결선 16">
            <a:extLst>
              <a:ext uri="{FF2B5EF4-FFF2-40B4-BE49-F238E27FC236}">
                <a16:creationId xmlns:a16="http://schemas.microsoft.com/office/drawing/2014/main" id="{CF732D38-892E-4855-9BCF-E09F6F08C907}"/>
              </a:ext>
            </a:extLst>
          </p:cNvPr>
          <p:cNvCxnSpPr>
            <a:cxnSpLocks/>
          </p:cNvCxnSpPr>
          <p:nvPr/>
        </p:nvCxnSpPr>
        <p:spPr>
          <a:xfrm>
            <a:off x="787774" y="2426375"/>
            <a:ext cx="170497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 name="모서리가 둥근 직사각형 31">
            <a:extLst>
              <a:ext uri="{FF2B5EF4-FFF2-40B4-BE49-F238E27FC236}">
                <a16:creationId xmlns:a16="http://schemas.microsoft.com/office/drawing/2014/main" id="{603F43A0-EE52-4A7E-A4FA-665275D714A2}"/>
              </a:ext>
            </a:extLst>
          </p:cNvPr>
          <p:cNvSpPr/>
          <p:nvPr/>
        </p:nvSpPr>
        <p:spPr>
          <a:xfrm>
            <a:off x="1131793" y="2129420"/>
            <a:ext cx="1081085" cy="334154"/>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특허출원</a:t>
            </a:r>
          </a:p>
        </p:txBody>
      </p:sp>
      <p:cxnSp>
        <p:nvCxnSpPr>
          <p:cNvPr id="30" name="직선 연결선 29">
            <a:extLst>
              <a:ext uri="{FF2B5EF4-FFF2-40B4-BE49-F238E27FC236}">
                <a16:creationId xmlns:a16="http://schemas.microsoft.com/office/drawing/2014/main" id="{F29786E2-3A39-4A6C-8148-7F05B818053C}"/>
              </a:ext>
            </a:extLst>
          </p:cNvPr>
          <p:cNvCxnSpPr/>
          <p:nvPr/>
        </p:nvCxnSpPr>
        <p:spPr>
          <a:xfrm>
            <a:off x="787774" y="5641111"/>
            <a:ext cx="170497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모서리가 둥근 직사각형 46">
            <a:extLst>
              <a:ext uri="{FF2B5EF4-FFF2-40B4-BE49-F238E27FC236}">
                <a16:creationId xmlns:a16="http://schemas.microsoft.com/office/drawing/2014/main" id="{41549790-6551-4C87-A53A-260C132A97A5}"/>
              </a:ext>
            </a:extLst>
          </p:cNvPr>
          <p:cNvSpPr/>
          <p:nvPr/>
        </p:nvSpPr>
        <p:spPr>
          <a:xfrm>
            <a:off x="922523" y="5290842"/>
            <a:ext cx="1257300"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highlight>
                  <a:srgbClr val="FFFF00"/>
                </a:highlight>
              </a:rPr>
              <a:t>특허료 납부</a:t>
            </a:r>
            <a:endParaRPr lang="en-US" altLang="ko-KR" sz="1000" dirty="0">
              <a:solidFill>
                <a:schemeClr val="tx1"/>
              </a:solidFill>
              <a:highlight>
                <a:srgbClr val="FFFF00"/>
              </a:highlight>
            </a:endParaRPr>
          </a:p>
          <a:p>
            <a:pPr algn="ctr"/>
            <a:r>
              <a:rPr lang="en-US" altLang="ko-KR" sz="800" dirty="0">
                <a:solidFill>
                  <a:srgbClr val="FF0000"/>
                </a:solidFill>
                <a:highlight>
                  <a:srgbClr val="FFFF00"/>
                </a:highlight>
              </a:rPr>
              <a:t>(</a:t>
            </a:r>
            <a:r>
              <a:rPr lang="ko-KR" altLang="en-US" sz="800" dirty="0">
                <a:solidFill>
                  <a:srgbClr val="FF0000"/>
                </a:solidFill>
                <a:highlight>
                  <a:srgbClr val="FFFF00"/>
                </a:highlight>
              </a:rPr>
              <a:t>등록료</a:t>
            </a:r>
            <a:r>
              <a:rPr lang="en-US" altLang="ko-KR" sz="800" dirty="0">
                <a:solidFill>
                  <a:srgbClr val="FF0000"/>
                </a:solidFill>
                <a:highlight>
                  <a:srgbClr val="FFFF00"/>
                </a:highlight>
              </a:rPr>
              <a:t>)</a:t>
            </a:r>
            <a:endParaRPr lang="ko-KR" altLang="en-US" sz="800" dirty="0">
              <a:solidFill>
                <a:srgbClr val="FF0000"/>
              </a:solidFill>
              <a:highlight>
                <a:srgbClr val="FFFF00"/>
              </a:highlight>
            </a:endParaRPr>
          </a:p>
        </p:txBody>
      </p:sp>
      <p:sp>
        <p:nvSpPr>
          <p:cNvPr id="32" name="사각형: 둥근 모서리 31">
            <a:extLst>
              <a:ext uri="{FF2B5EF4-FFF2-40B4-BE49-F238E27FC236}">
                <a16:creationId xmlns:a16="http://schemas.microsoft.com/office/drawing/2014/main" id="{DD33FB55-2DC2-4FE2-9342-9F19EF127D32}"/>
              </a:ext>
            </a:extLst>
          </p:cNvPr>
          <p:cNvSpPr/>
          <p:nvPr/>
        </p:nvSpPr>
        <p:spPr>
          <a:xfrm>
            <a:off x="125506" y="1004047"/>
            <a:ext cx="933998" cy="286288"/>
          </a:xfrm>
          <a:prstGeom prst="roundRect">
            <a:avLst/>
          </a:prstGeom>
          <a:solidFill>
            <a:schemeClr val="tx1">
              <a:lumMod val="85000"/>
              <a:lumOff val="1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특허출원</a:t>
            </a:r>
          </a:p>
        </p:txBody>
      </p:sp>
      <p:cxnSp>
        <p:nvCxnSpPr>
          <p:cNvPr id="35" name="직선 연결선 34">
            <a:extLst>
              <a:ext uri="{FF2B5EF4-FFF2-40B4-BE49-F238E27FC236}">
                <a16:creationId xmlns:a16="http://schemas.microsoft.com/office/drawing/2014/main" id="{425B3FED-1D03-4908-8D7E-4407C5BC2F56}"/>
              </a:ext>
            </a:extLst>
          </p:cNvPr>
          <p:cNvCxnSpPr>
            <a:cxnSpLocks/>
          </p:cNvCxnSpPr>
          <p:nvPr/>
        </p:nvCxnSpPr>
        <p:spPr>
          <a:xfrm>
            <a:off x="787774" y="3269061"/>
            <a:ext cx="170497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모서리가 둥근 직사각형 31">
            <a:extLst>
              <a:ext uri="{FF2B5EF4-FFF2-40B4-BE49-F238E27FC236}">
                <a16:creationId xmlns:a16="http://schemas.microsoft.com/office/drawing/2014/main" id="{47D8C467-596D-4A06-A03A-AB5FB4A46E5B}"/>
              </a:ext>
            </a:extLst>
          </p:cNvPr>
          <p:cNvSpPr/>
          <p:nvPr/>
        </p:nvSpPr>
        <p:spPr>
          <a:xfrm>
            <a:off x="1059508" y="2937013"/>
            <a:ext cx="1081085" cy="334154"/>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highlight>
                  <a:srgbClr val="FFFF00"/>
                </a:highlight>
              </a:rPr>
              <a:t>심사청구</a:t>
            </a:r>
          </a:p>
        </p:txBody>
      </p:sp>
      <p:sp>
        <p:nvSpPr>
          <p:cNvPr id="38" name="모서리가 둥근 직사각형 19">
            <a:extLst>
              <a:ext uri="{FF2B5EF4-FFF2-40B4-BE49-F238E27FC236}">
                <a16:creationId xmlns:a16="http://schemas.microsoft.com/office/drawing/2014/main" id="{1F4FC84C-1AE3-4451-B5CB-AD6841DED97B}"/>
              </a:ext>
            </a:extLst>
          </p:cNvPr>
          <p:cNvSpPr/>
          <p:nvPr/>
        </p:nvSpPr>
        <p:spPr>
          <a:xfrm>
            <a:off x="2076448" y="3527917"/>
            <a:ext cx="1047750" cy="323850"/>
          </a:xfrm>
          <a:prstGeom prst="roundRect">
            <a:avLst>
              <a:gd name="adj" fmla="val 50000"/>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95000"/>
                  </a:schemeClr>
                </a:solidFill>
              </a:rPr>
              <a:t>심사관</a:t>
            </a:r>
          </a:p>
        </p:txBody>
      </p:sp>
      <p:cxnSp>
        <p:nvCxnSpPr>
          <p:cNvPr id="39" name="직선 연결선 38">
            <a:extLst>
              <a:ext uri="{FF2B5EF4-FFF2-40B4-BE49-F238E27FC236}">
                <a16:creationId xmlns:a16="http://schemas.microsoft.com/office/drawing/2014/main" id="{B2097EE4-67FC-4E21-8AEE-64AF924C457C}"/>
              </a:ext>
            </a:extLst>
          </p:cNvPr>
          <p:cNvCxnSpPr>
            <a:cxnSpLocks/>
            <a:stCxn id="38" idx="2"/>
          </p:cNvCxnSpPr>
          <p:nvPr/>
        </p:nvCxnSpPr>
        <p:spPr>
          <a:xfrm>
            <a:off x="2600323" y="3851767"/>
            <a:ext cx="0" cy="142927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모서리가 둥근 직사각형 31">
            <a:extLst>
              <a:ext uri="{FF2B5EF4-FFF2-40B4-BE49-F238E27FC236}">
                <a16:creationId xmlns:a16="http://schemas.microsoft.com/office/drawing/2014/main" id="{18203CBC-E35A-4CAD-AF1C-D9DECE8BF91E}"/>
              </a:ext>
            </a:extLst>
          </p:cNvPr>
          <p:cNvSpPr/>
          <p:nvPr/>
        </p:nvSpPr>
        <p:spPr>
          <a:xfrm>
            <a:off x="1672335" y="3239059"/>
            <a:ext cx="1081085" cy="334154"/>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지정</a:t>
            </a:r>
          </a:p>
        </p:txBody>
      </p:sp>
      <p:sp>
        <p:nvSpPr>
          <p:cNvPr id="41" name="모서리가 둥근 직사각형 31">
            <a:extLst>
              <a:ext uri="{FF2B5EF4-FFF2-40B4-BE49-F238E27FC236}">
                <a16:creationId xmlns:a16="http://schemas.microsoft.com/office/drawing/2014/main" id="{A069B916-324F-4FFE-93B6-9626F6401958}"/>
              </a:ext>
            </a:extLst>
          </p:cNvPr>
          <p:cNvSpPr/>
          <p:nvPr/>
        </p:nvSpPr>
        <p:spPr>
          <a:xfrm>
            <a:off x="922801" y="3973385"/>
            <a:ext cx="1110780" cy="334154"/>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a:solidFill>
                  <a:schemeClr val="tx1"/>
                </a:solidFill>
              </a:rPr>
              <a:t>의견제출기회부여</a:t>
            </a:r>
            <a:endParaRPr lang="ko-KR" altLang="en-US" sz="1000" dirty="0">
              <a:solidFill>
                <a:schemeClr val="tx1"/>
              </a:solidFill>
            </a:endParaRPr>
          </a:p>
        </p:txBody>
      </p:sp>
      <p:sp>
        <p:nvSpPr>
          <p:cNvPr id="42" name="모서리가 둥근 직사각형 26">
            <a:extLst>
              <a:ext uri="{FF2B5EF4-FFF2-40B4-BE49-F238E27FC236}">
                <a16:creationId xmlns:a16="http://schemas.microsoft.com/office/drawing/2014/main" id="{A9D28A47-C25C-4828-9E08-0A922B812071}"/>
              </a:ext>
            </a:extLst>
          </p:cNvPr>
          <p:cNvSpPr/>
          <p:nvPr/>
        </p:nvSpPr>
        <p:spPr>
          <a:xfrm>
            <a:off x="2076448" y="4607023"/>
            <a:ext cx="1047750" cy="323850"/>
          </a:xfrm>
          <a:prstGeom prst="roundRect">
            <a:avLst>
              <a:gd name="adj" fmla="val 5882"/>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특허결정</a:t>
            </a:r>
            <a:endParaRPr lang="ko-KR" altLang="en-US" sz="800" dirty="0">
              <a:solidFill>
                <a:srgbClr val="FF0000"/>
              </a:solidFill>
            </a:endParaRPr>
          </a:p>
        </p:txBody>
      </p:sp>
      <p:sp>
        <p:nvSpPr>
          <p:cNvPr id="43" name="모서리가 둥근 직사각형 25">
            <a:extLst>
              <a:ext uri="{FF2B5EF4-FFF2-40B4-BE49-F238E27FC236}">
                <a16:creationId xmlns:a16="http://schemas.microsoft.com/office/drawing/2014/main" id="{00820512-1293-40CF-A80B-7AE57D3E7622}"/>
              </a:ext>
            </a:extLst>
          </p:cNvPr>
          <p:cNvSpPr/>
          <p:nvPr/>
        </p:nvSpPr>
        <p:spPr>
          <a:xfrm>
            <a:off x="1968874" y="5086418"/>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등본송달</a:t>
            </a:r>
          </a:p>
        </p:txBody>
      </p:sp>
      <p:sp>
        <p:nvSpPr>
          <p:cNvPr id="44" name="모서리가 둥근 직사각형 25">
            <a:extLst>
              <a:ext uri="{FF2B5EF4-FFF2-40B4-BE49-F238E27FC236}">
                <a16:creationId xmlns:a16="http://schemas.microsoft.com/office/drawing/2014/main" id="{D8C8A7FF-9598-4BCA-A49B-A1FBEFB3C078}"/>
              </a:ext>
            </a:extLst>
          </p:cNvPr>
          <p:cNvSpPr/>
          <p:nvPr/>
        </p:nvSpPr>
        <p:spPr>
          <a:xfrm>
            <a:off x="1968874" y="5760432"/>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설정등록</a:t>
            </a:r>
          </a:p>
        </p:txBody>
      </p:sp>
      <p:sp>
        <p:nvSpPr>
          <p:cNvPr id="45" name="모서리가 둥근 직사각형 25">
            <a:extLst>
              <a:ext uri="{FF2B5EF4-FFF2-40B4-BE49-F238E27FC236}">
                <a16:creationId xmlns:a16="http://schemas.microsoft.com/office/drawing/2014/main" id="{25BB9433-1C9F-4246-84B6-132A07978544}"/>
              </a:ext>
            </a:extLst>
          </p:cNvPr>
          <p:cNvSpPr/>
          <p:nvPr/>
        </p:nvSpPr>
        <p:spPr>
          <a:xfrm>
            <a:off x="1968874" y="6280297"/>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등록공고</a:t>
            </a:r>
            <a:endParaRPr lang="en-US" altLang="ko-KR" sz="1000" dirty="0">
              <a:solidFill>
                <a:schemeClr val="tx1"/>
              </a:solidFill>
            </a:endParaRPr>
          </a:p>
          <a:p>
            <a:pPr algn="ctr"/>
            <a:r>
              <a:rPr lang="en-US" altLang="ko-KR" sz="800" dirty="0">
                <a:solidFill>
                  <a:srgbClr val="FF0000"/>
                </a:solidFill>
              </a:rPr>
              <a:t>(</a:t>
            </a:r>
            <a:r>
              <a:rPr lang="ko-KR" altLang="en-US" sz="800" dirty="0">
                <a:solidFill>
                  <a:srgbClr val="FF0000"/>
                </a:solidFill>
              </a:rPr>
              <a:t>특허공보게재</a:t>
            </a:r>
            <a:r>
              <a:rPr lang="en-US" altLang="ko-KR" sz="800" dirty="0">
                <a:solidFill>
                  <a:srgbClr val="FF0000"/>
                </a:solidFill>
              </a:rPr>
              <a:t>)</a:t>
            </a:r>
            <a:endParaRPr lang="ko-KR" altLang="en-US" sz="800" dirty="0">
              <a:solidFill>
                <a:srgbClr val="FF0000"/>
              </a:solidFill>
            </a:endParaRPr>
          </a:p>
        </p:txBody>
      </p:sp>
      <p:sp>
        <p:nvSpPr>
          <p:cNvPr id="47" name="모서리가 둥근 직사각형 25">
            <a:extLst>
              <a:ext uri="{FF2B5EF4-FFF2-40B4-BE49-F238E27FC236}">
                <a16:creationId xmlns:a16="http://schemas.microsoft.com/office/drawing/2014/main" id="{B5396664-F583-477E-AAED-C56DF1F6EE45}"/>
              </a:ext>
            </a:extLst>
          </p:cNvPr>
          <p:cNvSpPr/>
          <p:nvPr/>
        </p:nvSpPr>
        <p:spPr>
          <a:xfrm>
            <a:off x="273424" y="4396373"/>
            <a:ext cx="1047750" cy="323850"/>
          </a:xfrm>
          <a:prstGeom prst="roundRect">
            <a:avLst>
              <a:gd name="adj" fmla="val 5882"/>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highlight>
                  <a:srgbClr val="FFFF00"/>
                </a:highlight>
              </a:rPr>
              <a:t>명세서</a:t>
            </a:r>
            <a:r>
              <a:rPr lang="en-US" altLang="ko-KR" sz="1000" dirty="0">
                <a:solidFill>
                  <a:schemeClr val="tx1"/>
                </a:solidFill>
                <a:highlight>
                  <a:srgbClr val="FFFF00"/>
                </a:highlight>
              </a:rPr>
              <a:t>/</a:t>
            </a:r>
            <a:r>
              <a:rPr lang="ko-KR" altLang="en-US" sz="1000" dirty="0">
                <a:solidFill>
                  <a:schemeClr val="tx1"/>
                </a:solidFill>
                <a:highlight>
                  <a:srgbClr val="FFFF00"/>
                </a:highlight>
              </a:rPr>
              <a:t>도면 </a:t>
            </a:r>
            <a:endParaRPr lang="en-US" altLang="ko-KR" sz="1000" dirty="0">
              <a:solidFill>
                <a:schemeClr val="tx1"/>
              </a:solidFill>
              <a:highlight>
                <a:srgbClr val="FFFF00"/>
              </a:highlight>
            </a:endParaRPr>
          </a:p>
          <a:p>
            <a:pPr algn="ctr"/>
            <a:r>
              <a:rPr lang="ko-KR" altLang="en-US" sz="1000" dirty="0">
                <a:solidFill>
                  <a:schemeClr val="tx1"/>
                </a:solidFill>
                <a:highlight>
                  <a:srgbClr val="FFFF00"/>
                </a:highlight>
              </a:rPr>
              <a:t>보정</a:t>
            </a:r>
          </a:p>
        </p:txBody>
      </p:sp>
      <p:cxnSp>
        <p:nvCxnSpPr>
          <p:cNvPr id="50" name="직선 연결선 49">
            <a:extLst>
              <a:ext uri="{FF2B5EF4-FFF2-40B4-BE49-F238E27FC236}">
                <a16:creationId xmlns:a16="http://schemas.microsoft.com/office/drawing/2014/main" id="{7C41DD1B-C234-411D-9DA1-1F02DE789606}"/>
              </a:ext>
            </a:extLst>
          </p:cNvPr>
          <p:cNvCxnSpPr/>
          <p:nvPr/>
        </p:nvCxnSpPr>
        <p:spPr>
          <a:xfrm>
            <a:off x="3881718" y="896471"/>
            <a:ext cx="0" cy="5755341"/>
          </a:xfrm>
          <a:prstGeom prst="line">
            <a:avLst/>
          </a:prstGeom>
          <a:ln w="28575">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51" name="직선 연결선 50">
            <a:extLst>
              <a:ext uri="{FF2B5EF4-FFF2-40B4-BE49-F238E27FC236}">
                <a16:creationId xmlns:a16="http://schemas.microsoft.com/office/drawing/2014/main" id="{4A11B81C-EF42-42FA-87AC-A2240292DC3E}"/>
              </a:ext>
            </a:extLst>
          </p:cNvPr>
          <p:cNvCxnSpPr>
            <a:stCxn id="53" idx="2"/>
          </p:cNvCxnSpPr>
          <p:nvPr/>
        </p:nvCxnSpPr>
        <p:spPr>
          <a:xfrm>
            <a:off x="6555436" y="1744818"/>
            <a:ext cx="0" cy="435292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직선 연결선 51">
            <a:extLst>
              <a:ext uri="{FF2B5EF4-FFF2-40B4-BE49-F238E27FC236}">
                <a16:creationId xmlns:a16="http://schemas.microsoft.com/office/drawing/2014/main" id="{F2DE2105-38F9-486D-BDC6-87DB30B0D478}"/>
              </a:ext>
            </a:extLst>
          </p:cNvPr>
          <p:cNvCxnSpPr/>
          <p:nvPr/>
        </p:nvCxnSpPr>
        <p:spPr>
          <a:xfrm>
            <a:off x="4850463" y="4249082"/>
            <a:ext cx="1724025" cy="0"/>
          </a:xfrm>
          <a:prstGeom prst="line">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3" name="모서리가 둥근 직사각형 19">
            <a:extLst>
              <a:ext uri="{FF2B5EF4-FFF2-40B4-BE49-F238E27FC236}">
                <a16:creationId xmlns:a16="http://schemas.microsoft.com/office/drawing/2014/main" id="{5297980B-9A10-4D26-B8DA-90D6E152D055}"/>
              </a:ext>
            </a:extLst>
          </p:cNvPr>
          <p:cNvSpPr/>
          <p:nvPr/>
        </p:nvSpPr>
        <p:spPr>
          <a:xfrm>
            <a:off x="6031561" y="1420968"/>
            <a:ext cx="1047750"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95000"/>
                  </a:schemeClr>
                </a:solidFill>
              </a:rPr>
              <a:t>지식재산처장</a:t>
            </a:r>
          </a:p>
        </p:txBody>
      </p:sp>
      <p:sp>
        <p:nvSpPr>
          <p:cNvPr id="54" name="모서리가 둥근 직사각형 22">
            <a:extLst>
              <a:ext uri="{FF2B5EF4-FFF2-40B4-BE49-F238E27FC236}">
                <a16:creationId xmlns:a16="http://schemas.microsoft.com/office/drawing/2014/main" id="{F668B1B8-5D5A-470F-98CD-042C77F4E46C}"/>
              </a:ext>
            </a:extLst>
          </p:cNvPr>
          <p:cNvSpPr/>
          <p:nvPr/>
        </p:nvSpPr>
        <p:spPr>
          <a:xfrm>
            <a:off x="4336113" y="1420968"/>
            <a:ext cx="1047750" cy="323850"/>
          </a:xfrm>
          <a:prstGeom prst="roundRect">
            <a:avLst>
              <a:gd name="adj" fmla="val 50000"/>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95000"/>
                  </a:schemeClr>
                </a:solidFill>
              </a:rPr>
              <a:t>출원인</a:t>
            </a:r>
            <a:endParaRPr lang="en-US" altLang="ko-KR" sz="1000" dirty="0">
              <a:solidFill>
                <a:schemeClr val="bg1">
                  <a:lumMod val="95000"/>
                </a:schemeClr>
              </a:solidFill>
            </a:endParaRPr>
          </a:p>
          <a:p>
            <a:pPr algn="ctr"/>
            <a:r>
              <a:rPr lang="en-US" altLang="ko-KR" sz="800" dirty="0">
                <a:solidFill>
                  <a:schemeClr val="accent4"/>
                </a:solidFill>
              </a:rPr>
              <a:t>(</a:t>
            </a:r>
            <a:r>
              <a:rPr lang="ko-KR" altLang="en-US" sz="800" dirty="0">
                <a:solidFill>
                  <a:schemeClr val="accent4"/>
                </a:solidFill>
              </a:rPr>
              <a:t>특허권자</a:t>
            </a:r>
            <a:r>
              <a:rPr lang="en-US" altLang="ko-KR" sz="800" dirty="0">
                <a:solidFill>
                  <a:schemeClr val="accent4"/>
                </a:solidFill>
              </a:rPr>
              <a:t>)</a:t>
            </a:r>
            <a:endParaRPr lang="ko-KR" altLang="en-US" sz="800" dirty="0">
              <a:solidFill>
                <a:schemeClr val="accent4"/>
              </a:solidFill>
            </a:endParaRPr>
          </a:p>
        </p:txBody>
      </p:sp>
      <p:cxnSp>
        <p:nvCxnSpPr>
          <p:cNvPr id="55" name="직선 연결선 54">
            <a:extLst>
              <a:ext uri="{FF2B5EF4-FFF2-40B4-BE49-F238E27FC236}">
                <a16:creationId xmlns:a16="http://schemas.microsoft.com/office/drawing/2014/main" id="{2D2C3DC1-E8FD-4D2E-B67F-98EDB96A0D58}"/>
              </a:ext>
            </a:extLst>
          </p:cNvPr>
          <p:cNvCxnSpPr>
            <a:stCxn id="54" idx="2"/>
          </p:cNvCxnSpPr>
          <p:nvPr/>
        </p:nvCxnSpPr>
        <p:spPr>
          <a:xfrm>
            <a:off x="4859988" y="1744818"/>
            <a:ext cx="0" cy="4352925"/>
          </a:xfrm>
          <a:prstGeom prst="line">
            <a:avLst/>
          </a:prstGeom>
          <a:ln w="28575">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모서리가 둥근 직사각형 25">
            <a:extLst>
              <a:ext uri="{FF2B5EF4-FFF2-40B4-BE49-F238E27FC236}">
                <a16:creationId xmlns:a16="http://schemas.microsoft.com/office/drawing/2014/main" id="{E1457409-B7A3-4DEF-ADF9-537BF8052155}"/>
              </a:ext>
            </a:extLst>
          </p:cNvPr>
          <p:cNvSpPr/>
          <p:nvPr/>
        </p:nvSpPr>
        <p:spPr>
          <a:xfrm>
            <a:off x="6031563" y="2628757"/>
            <a:ext cx="1047750" cy="236141"/>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방식심사</a:t>
            </a:r>
          </a:p>
        </p:txBody>
      </p:sp>
      <p:sp>
        <p:nvSpPr>
          <p:cNvPr id="57" name="모서리가 둥근 직사각형 26">
            <a:extLst>
              <a:ext uri="{FF2B5EF4-FFF2-40B4-BE49-F238E27FC236}">
                <a16:creationId xmlns:a16="http://schemas.microsoft.com/office/drawing/2014/main" id="{F4352400-C0D2-4556-83C5-9EFEB1E33A75}"/>
              </a:ext>
            </a:extLst>
          </p:cNvPr>
          <p:cNvSpPr/>
          <p:nvPr/>
        </p:nvSpPr>
        <p:spPr>
          <a:xfrm>
            <a:off x="6139137" y="4087157"/>
            <a:ext cx="1047750" cy="323850"/>
          </a:xfrm>
          <a:prstGeom prst="roundRect">
            <a:avLst>
              <a:gd name="adj" fmla="val 5882"/>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실체심사</a:t>
            </a:r>
            <a:endParaRPr lang="en-US" altLang="ko-KR" sz="1000" dirty="0">
              <a:solidFill>
                <a:schemeClr val="tx1"/>
              </a:solidFill>
            </a:endParaRPr>
          </a:p>
          <a:p>
            <a:pPr algn="ctr"/>
            <a:r>
              <a:rPr lang="en-US" altLang="ko-KR" sz="800" dirty="0">
                <a:solidFill>
                  <a:srgbClr val="FF0000"/>
                </a:solidFill>
              </a:rPr>
              <a:t>(</a:t>
            </a:r>
            <a:r>
              <a:rPr lang="ko-KR" altLang="en-US" sz="800" dirty="0">
                <a:solidFill>
                  <a:srgbClr val="FF0000"/>
                </a:solidFill>
              </a:rPr>
              <a:t>직권주의</a:t>
            </a:r>
            <a:r>
              <a:rPr lang="en-US" altLang="ko-KR" sz="800" dirty="0">
                <a:solidFill>
                  <a:srgbClr val="FF0000"/>
                </a:solidFill>
              </a:rPr>
              <a:t>)</a:t>
            </a:r>
            <a:endParaRPr lang="ko-KR" altLang="en-US" sz="800" dirty="0">
              <a:solidFill>
                <a:srgbClr val="FF0000"/>
              </a:solidFill>
            </a:endParaRPr>
          </a:p>
        </p:txBody>
      </p:sp>
      <p:cxnSp>
        <p:nvCxnSpPr>
          <p:cNvPr id="58" name="직선 연결선 57">
            <a:extLst>
              <a:ext uri="{FF2B5EF4-FFF2-40B4-BE49-F238E27FC236}">
                <a16:creationId xmlns:a16="http://schemas.microsoft.com/office/drawing/2014/main" id="{E4853FA1-BBB3-4C0D-B54D-9BEBE9917D15}"/>
              </a:ext>
            </a:extLst>
          </p:cNvPr>
          <p:cNvCxnSpPr>
            <a:cxnSpLocks/>
          </p:cNvCxnSpPr>
          <p:nvPr/>
        </p:nvCxnSpPr>
        <p:spPr>
          <a:xfrm>
            <a:off x="4850463" y="2453270"/>
            <a:ext cx="170497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모서리가 둥근 직사각형 31">
            <a:extLst>
              <a:ext uri="{FF2B5EF4-FFF2-40B4-BE49-F238E27FC236}">
                <a16:creationId xmlns:a16="http://schemas.microsoft.com/office/drawing/2014/main" id="{7F3DE23B-D5F8-42A8-8E8E-8A6AFFF22D52}"/>
              </a:ext>
            </a:extLst>
          </p:cNvPr>
          <p:cNvSpPr/>
          <p:nvPr/>
        </p:nvSpPr>
        <p:spPr>
          <a:xfrm>
            <a:off x="4914813" y="2182427"/>
            <a:ext cx="1081085" cy="334154"/>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연장등록출원</a:t>
            </a:r>
          </a:p>
        </p:txBody>
      </p:sp>
      <p:sp>
        <p:nvSpPr>
          <p:cNvPr id="62" name="사각형: 둥근 모서리 61">
            <a:extLst>
              <a:ext uri="{FF2B5EF4-FFF2-40B4-BE49-F238E27FC236}">
                <a16:creationId xmlns:a16="http://schemas.microsoft.com/office/drawing/2014/main" id="{646EDF5A-DCF0-43B2-8150-B7D5795E2303}"/>
              </a:ext>
            </a:extLst>
          </p:cNvPr>
          <p:cNvSpPr/>
          <p:nvPr/>
        </p:nvSpPr>
        <p:spPr>
          <a:xfrm>
            <a:off x="4026829" y="1004047"/>
            <a:ext cx="2329148" cy="286288"/>
          </a:xfrm>
          <a:prstGeom prst="roundRect">
            <a:avLst/>
          </a:prstGeom>
          <a:solidFill>
            <a:schemeClr val="tx1">
              <a:lumMod val="85000"/>
              <a:lumOff val="1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허가 등에 따른 연장등록출원</a:t>
            </a:r>
          </a:p>
        </p:txBody>
      </p:sp>
      <p:sp>
        <p:nvSpPr>
          <p:cNvPr id="65" name="모서리가 둥근 직사각형 19">
            <a:extLst>
              <a:ext uri="{FF2B5EF4-FFF2-40B4-BE49-F238E27FC236}">
                <a16:creationId xmlns:a16="http://schemas.microsoft.com/office/drawing/2014/main" id="{CEFBFE15-B3A2-4F1F-978B-21FBFB336A72}"/>
              </a:ext>
            </a:extLst>
          </p:cNvPr>
          <p:cNvSpPr/>
          <p:nvPr/>
        </p:nvSpPr>
        <p:spPr>
          <a:xfrm>
            <a:off x="6139137" y="3527917"/>
            <a:ext cx="1047750" cy="323850"/>
          </a:xfrm>
          <a:prstGeom prst="roundRect">
            <a:avLst>
              <a:gd name="adj" fmla="val 50000"/>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95000"/>
                  </a:schemeClr>
                </a:solidFill>
              </a:rPr>
              <a:t>심사관</a:t>
            </a:r>
          </a:p>
        </p:txBody>
      </p:sp>
      <p:cxnSp>
        <p:nvCxnSpPr>
          <p:cNvPr id="66" name="직선 연결선 65">
            <a:extLst>
              <a:ext uri="{FF2B5EF4-FFF2-40B4-BE49-F238E27FC236}">
                <a16:creationId xmlns:a16="http://schemas.microsoft.com/office/drawing/2014/main" id="{AE2B02A9-40A8-4D14-B352-18E2450B7D50}"/>
              </a:ext>
            </a:extLst>
          </p:cNvPr>
          <p:cNvCxnSpPr>
            <a:cxnSpLocks/>
            <a:stCxn id="65" idx="2"/>
          </p:cNvCxnSpPr>
          <p:nvPr/>
        </p:nvCxnSpPr>
        <p:spPr>
          <a:xfrm>
            <a:off x="6663012" y="3851767"/>
            <a:ext cx="0" cy="142927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모서리가 둥근 직사각형 31">
            <a:extLst>
              <a:ext uri="{FF2B5EF4-FFF2-40B4-BE49-F238E27FC236}">
                <a16:creationId xmlns:a16="http://schemas.microsoft.com/office/drawing/2014/main" id="{DB3D8881-B0B0-46B3-9BD2-3FDBC68C27E9}"/>
              </a:ext>
            </a:extLst>
          </p:cNvPr>
          <p:cNvSpPr/>
          <p:nvPr/>
        </p:nvSpPr>
        <p:spPr>
          <a:xfrm>
            <a:off x="5735024" y="3239059"/>
            <a:ext cx="1081085" cy="334154"/>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지정</a:t>
            </a:r>
          </a:p>
        </p:txBody>
      </p:sp>
      <p:sp>
        <p:nvSpPr>
          <p:cNvPr id="68" name="모서리가 둥근 직사각형 31">
            <a:extLst>
              <a:ext uri="{FF2B5EF4-FFF2-40B4-BE49-F238E27FC236}">
                <a16:creationId xmlns:a16="http://schemas.microsoft.com/office/drawing/2014/main" id="{E22F7C72-B0C0-49AD-9FCA-8F9718750C90}"/>
              </a:ext>
            </a:extLst>
          </p:cNvPr>
          <p:cNvSpPr/>
          <p:nvPr/>
        </p:nvSpPr>
        <p:spPr>
          <a:xfrm>
            <a:off x="4985490" y="3973385"/>
            <a:ext cx="1110780" cy="334154"/>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의견제출기회부여</a:t>
            </a:r>
          </a:p>
        </p:txBody>
      </p:sp>
      <p:sp>
        <p:nvSpPr>
          <p:cNvPr id="69" name="모서리가 둥근 직사각형 26">
            <a:extLst>
              <a:ext uri="{FF2B5EF4-FFF2-40B4-BE49-F238E27FC236}">
                <a16:creationId xmlns:a16="http://schemas.microsoft.com/office/drawing/2014/main" id="{45C43FE2-61A9-4322-9DDD-6074D26BC044}"/>
              </a:ext>
            </a:extLst>
          </p:cNvPr>
          <p:cNvSpPr/>
          <p:nvPr/>
        </p:nvSpPr>
        <p:spPr>
          <a:xfrm>
            <a:off x="6139137" y="4607023"/>
            <a:ext cx="1047750" cy="323850"/>
          </a:xfrm>
          <a:prstGeom prst="roundRect">
            <a:avLst>
              <a:gd name="adj" fmla="val 5882"/>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등록결정</a:t>
            </a:r>
            <a:endParaRPr lang="ko-KR" altLang="en-US" sz="800" dirty="0">
              <a:solidFill>
                <a:srgbClr val="FF0000"/>
              </a:solidFill>
            </a:endParaRPr>
          </a:p>
        </p:txBody>
      </p:sp>
      <p:sp>
        <p:nvSpPr>
          <p:cNvPr id="70" name="모서리가 둥근 직사각형 25">
            <a:extLst>
              <a:ext uri="{FF2B5EF4-FFF2-40B4-BE49-F238E27FC236}">
                <a16:creationId xmlns:a16="http://schemas.microsoft.com/office/drawing/2014/main" id="{3474BB63-DADE-43F4-BD6D-9FAF0EF4645A}"/>
              </a:ext>
            </a:extLst>
          </p:cNvPr>
          <p:cNvSpPr/>
          <p:nvPr/>
        </p:nvSpPr>
        <p:spPr>
          <a:xfrm>
            <a:off x="6031563" y="5086418"/>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등본송달</a:t>
            </a:r>
          </a:p>
        </p:txBody>
      </p:sp>
      <p:sp>
        <p:nvSpPr>
          <p:cNvPr id="71" name="모서리가 둥근 직사각형 25">
            <a:extLst>
              <a:ext uri="{FF2B5EF4-FFF2-40B4-BE49-F238E27FC236}">
                <a16:creationId xmlns:a16="http://schemas.microsoft.com/office/drawing/2014/main" id="{492E32AF-F9AE-4E67-BFD4-1005D2D3A54C}"/>
              </a:ext>
            </a:extLst>
          </p:cNvPr>
          <p:cNvSpPr/>
          <p:nvPr/>
        </p:nvSpPr>
        <p:spPr>
          <a:xfrm>
            <a:off x="6031563" y="5794522"/>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연장등록</a:t>
            </a:r>
          </a:p>
        </p:txBody>
      </p:sp>
      <p:sp>
        <p:nvSpPr>
          <p:cNvPr id="72" name="모서리가 둥근 직사각형 25">
            <a:extLst>
              <a:ext uri="{FF2B5EF4-FFF2-40B4-BE49-F238E27FC236}">
                <a16:creationId xmlns:a16="http://schemas.microsoft.com/office/drawing/2014/main" id="{DB1B8F5D-5E25-425C-A06C-568FFDAD9FD7}"/>
              </a:ext>
            </a:extLst>
          </p:cNvPr>
          <p:cNvSpPr/>
          <p:nvPr/>
        </p:nvSpPr>
        <p:spPr>
          <a:xfrm>
            <a:off x="6031563" y="6280297"/>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특허공보게재</a:t>
            </a:r>
            <a:endParaRPr lang="ko-KR" altLang="en-US" sz="800" dirty="0">
              <a:solidFill>
                <a:srgbClr val="FF0000"/>
              </a:solidFill>
            </a:endParaRPr>
          </a:p>
        </p:txBody>
      </p:sp>
      <p:sp>
        <p:nvSpPr>
          <p:cNvPr id="73" name="모서리가 둥근 직사각형 25">
            <a:extLst>
              <a:ext uri="{FF2B5EF4-FFF2-40B4-BE49-F238E27FC236}">
                <a16:creationId xmlns:a16="http://schemas.microsoft.com/office/drawing/2014/main" id="{2774C958-0A80-40C2-B448-92A7209C522B}"/>
              </a:ext>
            </a:extLst>
          </p:cNvPr>
          <p:cNvSpPr/>
          <p:nvPr/>
        </p:nvSpPr>
        <p:spPr>
          <a:xfrm>
            <a:off x="4336113" y="4396373"/>
            <a:ext cx="1047750" cy="323850"/>
          </a:xfrm>
          <a:prstGeom prst="roundRect">
            <a:avLst>
              <a:gd name="adj" fmla="val 5882"/>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highlight>
                  <a:srgbClr val="FFFF00"/>
                </a:highlight>
              </a:rPr>
              <a:t>출원서 보정</a:t>
            </a:r>
          </a:p>
        </p:txBody>
      </p:sp>
      <p:cxnSp>
        <p:nvCxnSpPr>
          <p:cNvPr id="74" name="직선 연결선 73">
            <a:extLst>
              <a:ext uri="{FF2B5EF4-FFF2-40B4-BE49-F238E27FC236}">
                <a16:creationId xmlns:a16="http://schemas.microsoft.com/office/drawing/2014/main" id="{0774BF91-8E84-4F1C-84F8-7A5AE0481892}"/>
              </a:ext>
            </a:extLst>
          </p:cNvPr>
          <p:cNvCxnSpPr/>
          <p:nvPr/>
        </p:nvCxnSpPr>
        <p:spPr>
          <a:xfrm>
            <a:off x="7944407" y="896471"/>
            <a:ext cx="0" cy="5755341"/>
          </a:xfrm>
          <a:prstGeom prst="line">
            <a:avLst/>
          </a:prstGeom>
          <a:ln w="28575">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75" name="모서리가 둥근 직사각형 25">
            <a:extLst>
              <a:ext uri="{FF2B5EF4-FFF2-40B4-BE49-F238E27FC236}">
                <a16:creationId xmlns:a16="http://schemas.microsoft.com/office/drawing/2014/main" id="{8E004309-4C8E-4AE1-A018-7FA7BD7BBC1F}"/>
              </a:ext>
            </a:extLst>
          </p:cNvPr>
          <p:cNvSpPr/>
          <p:nvPr/>
        </p:nvSpPr>
        <p:spPr>
          <a:xfrm>
            <a:off x="6031563" y="3025822"/>
            <a:ext cx="1047750" cy="243239"/>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highlight>
                  <a:srgbClr val="FFFF00"/>
                </a:highlight>
              </a:rPr>
              <a:t>특허공보게재</a:t>
            </a:r>
          </a:p>
        </p:txBody>
      </p:sp>
      <p:cxnSp>
        <p:nvCxnSpPr>
          <p:cNvPr id="77" name="직선 연결선 76">
            <a:extLst>
              <a:ext uri="{FF2B5EF4-FFF2-40B4-BE49-F238E27FC236}">
                <a16:creationId xmlns:a16="http://schemas.microsoft.com/office/drawing/2014/main" id="{73A6574C-7BFC-4CD3-B3EE-FA8362E1B10D}"/>
              </a:ext>
            </a:extLst>
          </p:cNvPr>
          <p:cNvCxnSpPr/>
          <p:nvPr/>
        </p:nvCxnSpPr>
        <p:spPr>
          <a:xfrm>
            <a:off x="8913151" y="4249082"/>
            <a:ext cx="1724025" cy="0"/>
          </a:xfrm>
          <a:prstGeom prst="line">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모서리가 둥근 직사각형 19">
            <a:extLst>
              <a:ext uri="{FF2B5EF4-FFF2-40B4-BE49-F238E27FC236}">
                <a16:creationId xmlns:a16="http://schemas.microsoft.com/office/drawing/2014/main" id="{518C70D5-24B8-45EA-9A63-9EE93916F692}"/>
              </a:ext>
            </a:extLst>
          </p:cNvPr>
          <p:cNvSpPr/>
          <p:nvPr/>
        </p:nvSpPr>
        <p:spPr>
          <a:xfrm>
            <a:off x="10094249" y="1420968"/>
            <a:ext cx="1047750"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95000"/>
                  </a:schemeClr>
                </a:solidFill>
              </a:rPr>
              <a:t>지식재산처장</a:t>
            </a:r>
          </a:p>
        </p:txBody>
      </p:sp>
      <p:sp>
        <p:nvSpPr>
          <p:cNvPr id="79" name="모서리가 둥근 직사각형 22">
            <a:extLst>
              <a:ext uri="{FF2B5EF4-FFF2-40B4-BE49-F238E27FC236}">
                <a16:creationId xmlns:a16="http://schemas.microsoft.com/office/drawing/2014/main" id="{B46DCA67-BBF5-4989-A068-B5C67F0D1BE3}"/>
              </a:ext>
            </a:extLst>
          </p:cNvPr>
          <p:cNvSpPr/>
          <p:nvPr/>
        </p:nvSpPr>
        <p:spPr>
          <a:xfrm>
            <a:off x="8398801" y="1420968"/>
            <a:ext cx="1047750" cy="323850"/>
          </a:xfrm>
          <a:prstGeom prst="roundRect">
            <a:avLst>
              <a:gd name="adj" fmla="val 50000"/>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95000"/>
                  </a:schemeClr>
                </a:solidFill>
              </a:rPr>
              <a:t>출원인</a:t>
            </a:r>
            <a:endParaRPr lang="en-US" altLang="ko-KR" sz="1000" dirty="0">
              <a:solidFill>
                <a:schemeClr val="bg1">
                  <a:lumMod val="95000"/>
                </a:schemeClr>
              </a:solidFill>
            </a:endParaRPr>
          </a:p>
          <a:p>
            <a:pPr algn="ctr"/>
            <a:r>
              <a:rPr lang="en-US" altLang="ko-KR" sz="800" dirty="0">
                <a:solidFill>
                  <a:schemeClr val="accent4"/>
                </a:solidFill>
              </a:rPr>
              <a:t>(</a:t>
            </a:r>
            <a:r>
              <a:rPr lang="ko-KR" altLang="en-US" sz="800" dirty="0">
                <a:solidFill>
                  <a:schemeClr val="accent4"/>
                </a:solidFill>
              </a:rPr>
              <a:t>특허권자</a:t>
            </a:r>
            <a:r>
              <a:rPr lang="en-US" altLang="ko-KR" sz="800" dirty="0">
                <a:solidFill>
                  <a:schemeClr val="accent4"/>
                </a:solidFill>
              </a:rPr>
              <a:t>)</a:t>
            </a:r>
            <a:endParaRPr lang="ko-KR" altLang="en-US" sz="800" dirty="0">
              <a:solidFill>
                <a:schemeClr val="accent4"/>
              </a:solidFill>
            </a:endParaRPr>
          </a:p>
        </p:txBody>
      </p:sp>
      <p:cxnSp>
        <p:nvCxnSpPr>
          <p:cNvPr id="80" name="직선 연결선 79">
            <a:extLst>
              <a:ext uri="{FF2B5EF4-FFF2-40B4-BE49-F238E27FC236}">
                <a16:creationId xmlns:a16="http://schemas.microsoft.com/office/drawing/2014/main" id="{5E00C110-DE0B-41D1-A142-1EE0B243FCB3}"/>
              </a:ext>
            </a:extLst>
          </p:cNvPr>
          <p:cNvCxnSpPr>
            <a:stCxn id="79" idx="2"/>
          </p:cNvCxnSpPr>
          <p:nvPr/>
        </p:nvCxnSpPr>
        <p:spPr>
          <a:xfrm>
            <a:off x="8922676" y="1744818"/>
            <a:ext cx="0" cy="4352925"/>
          </a:xfrm>
          <a:prstGeom prst="line">
            <a:avLst/>
          </a:prstGeom>
          <a:ln w="28575">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모서리가 둥근 직사각형 25">
            <a:extLst>
              <a:ext uri="{FF2B5EF4-FFF2-40B4-BE49-F238E27FC236}">
                <a16:creationId xmlns:a16="http://schemas.microsoft.com/office/drawing/2014/main" id="{4D2508E0-ADFE-441A-BA5C-D7DE40DDAD4F}"/>
              </a:ext>
            </a:extLst>
          </p:cNvPr>
          <p:cNvSpPr/>
          <p:nvPr/>
        </p:nvSpPr>
        <p:spPr>
          <a:xfrm>
            <a:off x="10094251" y="2860888"/>
            <a:ext cx="1047750" cy="236141"/>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방식심사</a:t>
            </a:r>
          </a:p>
        </p:txBody>
      </p:sp>
      <p:sp>
        <p:nvSpPr>
          <p:cNvPr id="82" name="모서리가 둥근 직사각형 26">
            <a:extLst>
              <a:ext uri="{FF2B5EF4-FFF2-40B4-BE49-F238E27FC236}">
                <a16:creationId xmlns:a16="http://schemas.microsoft.com/office/drawing/2014/main" id="{E5677B5C-7EFE-4942-9587-ED8FB6B6550A}"/>
              </a:ext>
            </a:extLst>
          </p:cNvPr>
          <p:cNvSpPr/>
          <p:nvPr/>
        </p:nvSpPr>
        <p:spPr>
          <a:xfrm>
            <a:off x="10201825" y="4087157"/>
            <a:ext cx="1047750" cy="323850"/>
          </a:xfrm>
          <a:prstGeom prst="roundRect">
            <a:avLst>
              <a:gd name="adj" fmla="val 5882"/>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실체심사</a:t>
            </a:r>
            <a:endParaRPr lang="en-US" altLang="ko-KR" sz="1000" dirty="0">
              <a:solidFill>
                <a:schemeClr val="tx1"/>
              </a:solidFill>
            </a:endParaRPr>
          </a:p>
          <a:p>
            <a:pPr algn="ctr"/>
            <a:r>
              <a:rPr lang="en-US" altLang="ko-KR" sz="800" dirty="0">
                <a:solidFill>
                  <a:srgbClr val="FF0000"/>
                </a:solidFill>
              </a:rPr>
              <a:t>(</a:t>
            </a:r>
            <a:r>
              <a:rPr lang="ko-KR" altLang="en-US" sz="800" dirty="0">
                <a:solidFill>
                  <a:srgbClr val="FF0000"/>
                </a:solidFill>
              </a:rPr>
              <a:t>직권주의</a:t>
            </a:r>
            <a:r>
              <a:rPr lang="en-US" altLang="ko-KR" sz="800" dirty="0">
                <a:solidFill>
                  <a:srgbClr val="FF0000"/>
                </a:solidFill>
              </a:rPr>
              <a:t>)</a:t>
            </a:r>
            <a:endParaRPr lang="ko-KR" altLang="en-US" sz="800" dirty="0">
              <a:solidFill>
                <a:srgbClr val="FF0000"/>
              </a:solidFill>
            </a:endParaRPr>
          </a:p>
        </p:txBody>
      </p:sp>
      <p:cxnSp>
        <p:nvCxnSpPr>
          <p:cNvPr id="83" name="직선 연결선 82">
            <a:extLst>
              <a:ext uri="{FF2B5EF4-FFF2-40B4-BE49-F238E27FC236}">
                <a16:creationId xmlns:a16="http://schemas.microsoft.com/office/drawing/2014/main" id="{124C5DDA-61A7-4315-80EB-049F8FD86D59}"/>
              </a:ext>
            </a:extLst>
          </p:cNvPr>
          <p:cNvCxnSpPr>
            <a:cxnSpLocks/>
          </p:cNvCxnSpPr>
          <p:nvPr/>
        </p:nvCxnSpPr>
        <p:spPr>
          <a:xfrm>
            <a:off x="8913151" y="2453270"/>
            <a:ext cx="170497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5" name="사각형: 둥근 모서리 84">
            <a:extLst>
              <a:ext uri="{FF2B5EF4-FFF2-40B4-BE49-F238E27FC236}">
                <a16:creationId xmlns:a16="http://schemas.microsoft.com/office/drawing/2014/main" id="{91B3CEC3-5C16-476B-88C5-2AD3138582B4}"/>
              </a:ext>
            </a:extLst>
          </p:cNvPr>
          <p:cNvSpPr/>
          <p:nvPr/>
        </p:nvSpPr>
        <p:spPr>
          <a:xfrm>
            <a:off x="8071590" y="1004047"/>
            <a:ext cx="2329148" cy="286288"/>
          </a:xfrm>
          <a:prstGeom prst="roundRect">
            <a:avLst/>
          </a:prstGeom>
          <a:solidFill>
            <a:schemeClr val="tx1">
              <a:lumMod val="85000"/>
              <a:lumOff val="1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등록지연에 따른 연장등록출원</a:t>
            </a:r>
          </a:p>
        </p:txBody>
      </p:sp>
      <p:sp>
        <p:nvSpPr>
          <p:cNvPr id="86" name="모서리가 둥근 직사각형 19">
            <a:extLst>
              <a:ext uri="{FF2B5EF4-FFF2-40B4-BE49-F238E27FC236}">
                <a16:creationId xmlns:a16="http://schemas.microsoft.com/office/drawing/2014/main" id="{EF5DAFCD-EA3B-4574-80D4-14EDCD400E31}"/>
              </a:ext>
            </a:extLst>
          </p:cNvPr>
          <p:cNvSpPr/>
          <p:nvPr/>
        </p:nvSpPr>
        <p:spPr>
          <a:xfrm>
            <a:off x="10201825" y="3527917"/>
            <a:ext cx="1047750" cy="323850"/>
          </a:xfrm>
          <a:prstGeom prst="roundRect">
            <a:avLst>
              <a:gd name="adj" fmla="val 50000"/>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95000"/>
                  </a:schemeClr>
                </a:solidFill>
              </a:rPr>
              <a:t>심사관</a:t>
            </a:r>
          </a:p>
        </p:txBody>
      </p:sp>
      <p:cxnSp>
        <p:nvCxnSpPr>
          <p:cNvPr id="87" name="직선 연결선 86">
            <a:extLst>
              <a:ext uri="{FF2B5EF4-FFF2-40B4-BE49-F238E27FC236}">
                <a16:creationId xmlns:a16="http://schemas.microsoft.com/office/drawing/2014/main" id="{0CF2B7E6-C408-4390-9A0F-96E19239321F}"/>
              </a:ext>
            </a:extLst>
          </p:cNvPr>
          <p:cNvCxnSpPr>
            <a:cxnSpLocks/>
            <a:stCxn id="86" idx="2"/>
          </p:cNvCxnSpPr>
          <p:nvPr/>
        </p:nvCxnSpPr>
        <p:spPr>
          <a:xfrm>
            <a:off x="10725700" y="3851767"/>
            <a:ext cx="0" cy="142927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8" name="모서리가 둥근 직사각형 31">
            <a:extLst>
              <a:ext uri="{FF2B5EF4-FFF2-40B4-BE49-F238E27FC236}">
                <a16:creationId xmlns:a16="http://schemas.microsoft.com/office/drawing/2014/main" id="{2413D63A-18BF-4F0A-96CF-6B80000705DE}"/>
              </a:ext>
            </a:extLst>
          </p:cNvPr>
          <p:cNvSpPr/>
          <p:nvPr/>
        </p:nvSpPr>
        <p:spPr>
          <a:xfrm>
            <a:off x="9797712" y="3239059"/>
            <a:ext cx="1081085" cy="334154"/>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지정</a:t>
            </a:r>
          </a:p>
        </p:txBody>
      </p:sp>
      <p:sp>
        <p:nvSpPr>
          <p:cNvPr id="89" name="모서리가 둥근 직사각형 31">
            <a:extLst>
              <a:ext uri="{FF2B5EF4-FFF2-40B4-BE49-F238E27FC236}">
                <a16:creationId xmlns:a16="http://schemas.microsoft.com/office/drawing/2014/main" id="{F0A5108F-4101-47A6-AD05-951C406374DE}"/>
              </a:ext>
            </a:extLst>
          </p:cNvPr>
          <p:cNvSpPr/>
          <p:nvPr/>
        </p:nvSpPr>
        <p:spPr>
          <a:xfrm>
            <a:off x="9048178" y="3973385"/>
            <a:ext cx="1110780" cy="334154"/>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의견제출기회부여</a:t>
            </a:r>
          </a:p>
        </p:txBody>
      </p:sp>
      <p:sp>
        <p:nvSpPr>
          <p:cNvPr id="90" name="모서리가 둥근 직사각형 26">
            <a:extLst>
              <a:ext uri="{FF2B5EF4-FFF2-40B4-BE49-F238E27FC236}">
                <a16:creationId xmlns:a16="http://schemas.microsoft.com/office/drawing/2014/main" id="{1951DA70-4A95-4D16-B92A-C53228FB95E6}"/>
              </a:ext>
            </a:extLst>
          </p:cNvPr>
          <p:cNvSpPr/>
          <p:nvPr/>
        </p:nvSpPr>
        <p:spPr>
          <a:xfrm>
            <a:off x="10201825" y="4607023"/>
            <a:ext cx="1047750" cy="323850"/>
          </a:xfrm>
          <a:prstGeom prst="roundRect">
            <a:avLst>
              <a:gd name="adj" fmla="val 5882"/>
            </a:avLst>
          </a:prstGeom>
          <a:solidFill>
            <a:schemeClr val="accent6">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등록결정</a:t>
            </a:r>
            <a:endParaRPr lang="ko-KR" altLang="en-US" sz="800" dirty="0">
              <a:solidFill>
                <a:srgbClr val="FF0000"/>
              </a:solidFill>
            </a:endParaRPr>
          </a:p>
        </p:txBody>
      </p:sp>
      <p:sp>
        <p:nvSpPr>
          <p:cNvPr id="91" name="모서리가 둥근 직사각형 25">
            <a:extLst>
              <a:ext uri="{FF2B5EF4-FFF2-40B4-BE49-F238E27FC236}">
                <a16:creationId xmlns:a16="http://schemas.microsoft.com/office/drawing/2014/main" id="{5FDA6FE6-22E6-451E-81E9-7C729E2E8187}"/>
              </a:ext>
            </a:extLst>
          </p:cNvPr>
          <p:cNvSpPr/>
          <p:nvPr/>
        </p:nvSpPr>
        <p:spPr>
          <a:xfrm>
            <a:off x="10094251" y="5086418"/>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등본송달</a:t>
            </a:r>
          </a:p>
        </p:txBody>
      </p:sp>
      <p:sp>
        <p:nvSpPr>
          <p:cNvPr id="92" name="모서리가 둥근 직사각형 25">
            <a:extLst>
              <a:ext uri="{FF2B5EF4-FFF2-40B4-BE49-F238E27FC236}">
                <a16:creationId xmlns:a16="http://schemas.microsoft.com/office/drawing/2014/main" id="{4DD0F487-A0A9-42EF-B494-E9D843F910ED}"/>
              </a:ext>
            </a:extLst>
          </p:cNvPr>
          <p:cNvSpPr/>
          <p:nvPr/>
        </p:nvSpPr>
        <p:spPr>
          <a:xfrm>
            <a:off x="10094251" y="5794522"/>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연장등록</a:t>
            </a:r>
          </a:p>
        </p:txBody>
      </p:sp>
      <p:sp>
        <p:nvSpPr>
          <p:cNvPr id="93" name="모서리가 둥근 직사각형 25">
            <a:extLst>
              <a:ext uri="{FF2B5EF4-FFF2-40B4-BE49-F238E27FC236}">
                <a16:creationId xmlns:a16="http://schemas.microsoft.com/office/drawing/2014/main" id="{F8749617-8E20-4367-AF24-0421327DBEE8}"/>
              </a:ext>
            </a:extLst>
          </p:cNvPr>
          <p:cNvSpPr/>
          <p:nvPr/>
        </p:nvSpPr>
        <p:spPr>
          <a:xfrm>
            <a:off x="10094251" y="6280297"/>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특허공보게재</a:t>
            </a:r>
            <a:endParaRPr lang="ko-KR" altLang="en-US" sz="800" dirty="0">
              <a:solidFill>
                <a:srgbClr val="FF0000"/>
              </a:solidFill>
            </a:endParaRPr>
          </a:p>
        </p:txBody>
      </p:sp>
      <p:sp>
        <p:nvSpPr>
          <p:cNvPr id="94" name="모서리가 둥근 직사각형 25">
            <a:extLst>
              <a:ext uri="{FF2B5EF4-FFF2-40B4-BE49-F238E27FC236}">
                <a16:creationId xmlns:a16="http://schemas.microsoft.com/office/drawing/2014/main" id="{78B949DA-5B4C-4EA8-B0BE-7A5A24AE2513}"/>
              </a:ext>
            </a:extLst>
          </p:cNvPr>
          <p:cNvSpPr/>
          <p:nvPr/>
        </p:nvSpPr>
        <p:spPr>
          <a:xfrm>
            <a:off x="8398801" y="4396373"/>
            <a:ext cx="1047750" cy="323850"/>
          </a:xfrm>
          <a:prstGeom prst="roundRect">
            <a:avLst>
              <a:gd name="adj" fmla="val 5882"/>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highlight>
                  <a:srgbClr val="FFFF00"/>
                </a:highlight>
              </a:rPr>
              <a:t>출원서 보정</a:t>
            </a:r>
          </a:p>
        </p:txBody>
      </p:sp>
      <p:sp>
        <p:nvSpPr>
          <p:cNvPr id="116" name="말풍선: 모서리가 둥근 사각형 115">
            <a:extLst>
              <a:ext uri="{FF2B5EF4-FFF2-40B4-BE49-F238E27FC236}">
                <a16:creationId xmlns:a16="http://schemas.microsoft.com/office/drawing/2014/main" id="{C5EA1EB4-A8F2-42AC-900D-71BC67D5C380}"/>
              </a:ext>
            </a:extLst>
          </p:cNvPr>
          <p:cNvSpPr/>
          <p:nvPr/>
        </p:nvSpPr>
        <p:spPr>
          <a:xfrm>
            <a:off x="105030" y="1838938"/>
            <a:ext cx="1313084" cy="376540"/>
          </a:xfrm>
          <a:prstGeom prst="wedgeRoundRectCallout">
            <a:avLst>
              <a:gd name="adj1" fmla="val 56052"/>
              <a:gd name="adj2" fmla="val 33424"/>
              <a:gd name="adj3" fmla="val 1666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rPr>
              <a:t>출원서</a:t>
            </a:r>
            <a:r>
              <a:rPr lang="en-US" altLang="ko-KR" sz="1000" dirty="0">
                <a:solidFill>
                  <a:schemeClr val="bg1">
                    <a:lumMod val="50000"/>
                  </a:schemeClr>
                </a:solidFill>
              </a:rPr>
              <a:t>, </a:t>
            </a:r>
            <a:r>
              <a:rPr lang="ko-KR" altLang="en-US" sz="1000" dirty="0">
                <a:solidFill>
                  <a:schemeClr val="bg1">
                    <a:lumMod val="50000"/>
                  </a:schemeClr>
                </a:solidFill>
              </a:rPr>
              <a:t>명세서</a:t>
            </a:r>
            <a:r>
              <a:rPr lang="en-US" altLang="ko-KR" sz="1000" dirty="0">
                <a:solidFill>
                  <a:schemeClr val="bg1">
                    <a:lumMod val="50000"/>
                  </a:schemeClr>
                </a:solidFill>
              </a:rPr>
              <a:t>, </a:t>
            </a:r>
            <a:r>
              <a:rPr lang="ko-KR" altLang="en-US" sz="1000" dirty="0">
                <a:solidFill>
                  <a:schemeClr val="bg1">
                    <a:lumMod val="50000"/>
                  </a:schemeClr>
                </a:solidFill>
              </a:rPr>
              <a:t>도면</a:t>
            </a:r>
            <a:r>
              <a:rPr lang="en-US" altLang="ko-KR" sz="1000" dirty="0">
                <a:solidFill>
                  <a:schemeClr val="bg1">
                    <a:lumMod val="50000"/>
                  </a:schemeClr>
                </a:solidFill>
              </a:rPr>
              <a:t>, </a:t>
            </a:r>
            <a:r>
              <a:rPr lang="ko-KR" altLang="en-US" sz="1000" dirty="0">
                <a:solidFill>
                  <a:schemeClr val="bg1">
                    <a:lumMod val="50000"/>
                  </a:schemeClr>
                </a:solidFill>
              </a:rPr>
              <a:t>요약서 제출</a:t>
            </a:r>
          </a:p>
        </p:txBody>
      </p:sp>
      <p:sp>
        <p:nvSpPr>
          <p:cNvPr id="117" name="말풍선: 모서리가 둥근 사각형 116">
            <a:extLst>
              <a:ext uri="{FF2B5EF4-FFF2-40B4-BE49-F238E27FC236}">
                <a16:creationId xmlns:a16="http://schemas.microsoft.com/office/drawing/2014/main" id="{113EEDBF-F970-4EF3-8B53-DA55BC4682DB}"/>
              </a:ext>
            </a:extLst>
          </p:cNvPr>
          <p:cNvSpPr/>
          <p:nvPr/>
        </p:nvSpPr>
        <p:spPr>
          <a:xfrm>
            <a:off x="4252381" y="1849563"/>
            <a:ext cx="982118" cy="256939"/>
          </a:xfrm>
          <a:prstGeom prst="wedgeRoundRectCallout">
            <a:avLst>
              <a:gd name="adj1" fmla="val 45749"/>
              <a:gd name="adj2" fmla="val 90412"/>
              <a:gd name="adj3" fmla="val 1666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rPr>
              <a:t>출원서 제출</a:t>
            </a:r>
          </a:p>
        </p:txBody>
      </p:sp>
      <p:sp>
        <p:nvSpPr>
          <p:cNvPr id="118" name="말풍선: 모서리가 둥근 사각형 117">
            <a:extLst>
              <a:ext uri="{FF2B5EF4-FFF2-40B4-BE49-F238E27FC236}">
                <a16:creationId xmlns:a16="http://schemas.microsoft.com/office/drawing/2014/main" id="{A6ABB609-7C2E-402F-80A5-FB7851F2C157}"/>
              </a:ext>
            </a:extLst>
          </p:cNvPr>
          <p:cNvSpPr/>
          <p:nvPr/>
        </p:nvSpPr>
        <p:spPr>
          <a:xfrm>
            <a:off x="8509546" y="1870317"/>
            <a:ext cx="982118" cy="256939"/>
          </a:xfrm>
          <a:prstGeom prst="wedgeRoundRectCallout">
            <a:avLst>
              <a:gd name="adj1" fmla="val 36621"/>
              <a:gd name="adj2" fmla="val 79945"/>
              <a:gd name="adj3" fmla="val 1666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rPr>
              <a:t>출원서 제출</a:t>
            </a:r>
          </a:p>
        </p:txBody>
      </p:sp>
      <p:sp>
        <p:nvSpPr>
          <p:cNvPr id="119" name="말풍선: 모서리가 둥근 사각형 118">
            <a:extLst>
              <a:ext uri="{FF2B5EF4-FFF2-40B4-BE49-F238E27FC236}">
                <a16:creationId xmlns:a16="http://schemas.microsoft.com/office/drawing/2014/main" id="{75121241-407C-4627-B4D0-07DD1FF241EA}"/>
              </a:ext>
            </a:extLst>
          </p:cNvPr>
          <p:cNvSpPr/>
          <p:nvPr/>
        </p:nvSpPr>
        <p:spPr>
          <a:xfrm>
            <a:off x="3221262" y="3830218"/>
            <a:ext cx="971334" cy="256939"/>
          </a:xfrm>
          <a:prstGeom prst="wedgeRoundRectCallout">
            <a:avLst>
              <a:gd name="adj1" fmla="val -59475"/>
              <a:gd name="adj2" fmla="val 45055"/>
              <a:gd name="adj3" fmla="val 1666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rPr>
              <a:t>명세서</a:t>
            </a:r>
            <a:r>
              <a:rPr lang="en-US" altLang="ko-KR" sz="1000" dirty="0">
                <a:solidFill>
                  <a:schemeClr val="bg1">
                    <a:lumMod val="50000"/>
                  </a:schemeClr>
                </a:solidFill>
              </a:rPr>
              <a:t>/</a:t>
            </a:r>
            <a:r>
              <a:rPr lang="ko-KR" altLang="en-US" sz="1000" dirty="0">
                <a:solidFill>
                  <a:schemeClr val="bg1">
                    <a:lumMod val="50000"/>
                  </a:schemeClr>
                </a:solidFill>
              </a:rPr>
              <a:t>도면</a:t>
            </a:r>
          </a:p>
        </p:txBody>
      </p:sp>
      <p:sp>
        <p:nvSpPr>
          <p:cNvPr id="120" name="말풍선: 모서리가 둥근 사각형 119">
            <a:extLst>
              <a:ext uri="{FF2B5EF4-FFF2-40B4-BE49-F238E27FC236}">
                <a16:creationId xmlns:a16="http://schemas.microsoft.com/office/drawing/2014/main" id="{3E8594A7-AB9D-4415-8246-6A58987742C5}"/>
              </a:ext>
            </a:extLst>
          </p:cNvPr>
          <p:cNvSpPr/>
          <p:nvPr/>
        </p:nvSpPr>
        <p:spPr>
          <a:xfrm>
            <a:off x="7310711" y="3830218"/>
            <a:ext cx="792192" cy="256939"/>
          </a:xfrm>
          <a:prstGeom prst="wedgeRoundRectCallout">
            <a:avLst>
              <a:gd name="adj1" fmla="val -60607"/>
              <a:gd name="adj2" fmla="val 83434"/>
              <a:gd name="adj3" fmla="val 1666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rPr>
              <a:t>출원서</a:t>
            </a:r>
          </a:p>
        </p:txBody>
      </p:sp>
      <p:sp>
        <p:nvSpPr>
          <p:cNvPr id="122" name="말풍선: 모서리가 둥근 사각형 121">
            <a:extLst>
              <a:ext uri="{FF2B5EF4-FFF2-40B4-BE49-F238E27FC236}">
                <a16:creationId xmlns:a16="http://schemas.microsoft.com/office/drawing/2014/main" id="{F77BD149-7AE0-4FD1-8465-6490A2AA77D3}"/>
              </a:ext>
            </a:extLst>
          </p:cNvPr>
          <p:cNvSpPr/>
          <p:nvPr/>
        </p:nvSpPr>
        <p:spPr>
          <a:xfrm>
            <a:off x="11312645" y="3830218"/>
            <a:ext cx="792192" cy="256939"/>
          </a:xfrm>
          <a:prstGeom prst="wedgeRoundRectCallout">
            <a:avLst>
              <a:gd name="adj1" fmla="val -60607"/>
              <a:gd name="adj2" fmla="val 83434"/>
              <a:gd name="adj3" fmla="val 1666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rPr>
              <a:t>출원서</a:t>
            </a:r>
          </a:p>
        </p:txBody>
      </p:sp>
      <p:sp>
        <p:nvSpPr>
          <p:cNvPr id="123" name="모서리가 둥근 직사각형 25">
            <a:extLst>
              <a:ext uri="{FF2B5EF4-FFF2-40B4-BE49-F238E27FC236}">
                <a16:creationId xmlns:a16="http://schemas.microsoft.com/office/drawing/2014/main" id="{9C157977-979D-477D-93E5-14FB484B4E80}"/>
              </a:ext>
            </a:extLst>
          </p:cNvPr>
          <p:cNvSpPr/>
          <p:nvPr/>
        </p:nvSpPr>
        <p:spPr>
          <a:xfrm>
            <a:off x="1968874" y="2925880"/>
            <a:ext cx="1047750" cy="250819"/>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highlight>
                  <a:srgbClr val="FFFF00"/>
                </a:highlight>
              </a:rPr>
              <a:t>출원공개</a:t>
            </a:r>
          </a:p>
        </p:txBody>
      </p:sp>
      <p:sp>
        <p:nvSpPr>
          <p:cNvPr id="124" name="말풍선: 모서리가 둥근 사각형 123">
            <a:extLst>
              <a:ext uri="{FF2B5EF4-FFF2-40B4-BE49-F238E27FC236}">
                <a16:creationId xmlns:a16="http://schemas.microsoft.com/office/drawing/2014/main" id="{8B4382DE-906B-433B-83A0-62CBC18C5B5E}"/>
              </a:ext>
            </a:extLst>
          </p:cNvPr>
          <p:cNvSpPr/>
          <p:nvPr/>
        </p:nvSpPr>
        <p:spPr>
          <a:xfrm>
            <a:off x="409234" y="4911346"/>
            <a:ext cx="1257301" cy="256939"/>
          </a:xfrm>
          <a:prstGeom prst="wedgeRoundRectCallout">
            <a:avLst>
              <a:gd name="adj1" fmla="val -3101"/>
              <a:gd name="adj2" fmla="val -118930"/>
              <a:gd name="adj3" fmla="val 1666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rPr>
              <a:t>제</a:t>
            </a:r>
            <a:r>
              <a:rPr lang="en-US" altLang="ko-KR" sz="1000" dirty="0">
                <a:solidFill>
                  <a:schemeClr val="bg1">
                    <a:lumMod val="50000"/>
                  </a:schemeClr>
                </a:solidFill>
              </a:rPr>
              <a:t>47</a:t>
            </a:r>
            <a:r>
              <a:rPr lang="ko-KR" altLang="en-US" sz="1000" dirty="0">
                <a:solidFill>
                  <a:schemeClr val="bg1">
                    <a:lumMod val="50000"/>
                  </a:schemeClr>
                </a:solidFill>
              </a:rPr>
              <a:t>조제</a:t>
            </a:r>
            <a:r>
              <a:rPr lang="en-US" altLang="ko-KR" sz="1000" dirty="0">
                <a:solidFill>
                  <a:schemeClr val="bg1">
                    <a:lumMod val="50000"/>
                  </a:schemeClr>
                </a:solidFill>
              </a:rPr>
              <a:t>1</a:t>
            </a:r>
            <a:r>
              <a:rPr lang="ko-KR" altLang="en-US" sz="1000" dirty="0">
                <a:solidFill>
                  <a:schemeClr val="bg1">
                    <a:lumMod val="50000"/>
                  </a:schemeClr>
                </a:solidFill>
              </a:rPr>
              <a:t>항 시기</a:t>
            </a:r>
          </a:p>
        </p:txBody>
      </p:sp>
      <p:sp>
        <p:nvSpPr>
          <p:cNvPr id="125" name="말풍선: 모서리가 둥근 사각형 124">
            <a:extLst>
              <a:ext uri="{FF2B5EF4-FFF2-40B4-BE49-F238E27FC236}">
                <a16:creationId xmlns:a16="http://schemas.microsoft.com/office/drawing/2014/main" id="{9F6A7CEA-7110-4438-B971-E74666CCBF18}"/>
              </a:ext>
            </a:extLst>
          </p:cNvPr>
          <p:cNvSpPr/>
          <p:nvPr/>
        </p:nvSpPr>
        <p:spPr>
          <a:xfrm>
            <a:off x="3664321" y="4922553"/>
            <a:ext cx="2129255" cy="394774"/>
          </a:xfrm>
          <a:prstGeom prst="wedgeRoundRectCallout">
            <a:avLst>
              <a:gd name="adj1" fmla="val -10679"/>
              <a:gd name="adj2" fmla="val -98492"/>
              <a:gd name="adj3" fmla="val 1666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highlight>
                  <a:srgbClr val="FFFF00"/>
                </a:highlight>
              </a:rPr>
              <a:t>원칙</a:t>
            </a:r>
            <a:r>
              <a:rPr lang="en-US" altLang="ko-KR" sz="1000" dirty="0">
                <a:solidFill>
                  <a:schemeClr val="bg1">
                    <a:lumMod val="50000"/>
                  </a:schemeClr>
                </a:solidFill>
                <a:highlight>
                  <a:srgbClr val="FFFF00"/>
                </a:highlight>
              </a:rPr>
              <a:t>: </a:t>
            </a:r>
            <a:r>
              <a:rPr lang="ko-KR" altLang="en-US" sz="1000" dirty="0" err="1">
                <a:solidFill>
                  <a:schemeClr val="bg1">
                    <a:lumMod val="50000"/>
                  </a:schemeClr>
                </a:solidFill>
                <a:highlight>
                  <a:srgbClr val="FFFF00"/>
                </a:highlight>
              </a:rPr>
              <a:t>연장등록여부결정등본</a:t>
            </a:r>
            <a:r>
              <a:rPr lang="ko-KR" altLang="en-US" sz="1000" dirty="0">
                <a:solidFill>
                  <a:schemeClr val="bg1">
                    <a:lumMod val="50000"/>
                  </a:schemeClr>
                </a:solidFill>
                <a:highlight>
                  <a:srgbClr val="FFFF00"/>
                </a:highlight>
              </a:rPr>
              <a:t> </a:t>
            </a:r>
            <a:r>
              <a:rPr lang="ko-KR" altLang="en-US" sz="1000" dirty="0" err="1">
                <a:solidFill>
                  <a:schemeClr val="bg1">
                    <a:lumMod val="50000"/>
                  </a:schemeClr>
                </a:solidFill>
                <a:highlight>
                  <a:srgbClr val="FFFF00"/>
                </a:highlight>
              </a:rPr>
              <a:t>송달전</a:t>
            </a:r>
            <a:endParaRPr lang="en-US" altLang="ko-KR" sz="1000" dirty="0">
              <a:solidFill>
                <a:schemeClr val="bg1">
                  <a:lumMod val="50000"/>
                </a:schemeClr>
              </a:solidFill>
              <a:highlight>
                <a:srgbClr val="FFFF00"/>
              </a:highlight>
            </a:endParaRPr>
          </a:p>
          <a:p>
            <a:pPr algn="ctr"/>
            <a:r>
              <a:rPr lang="ko-KR" altLang="en-US" sz="1000" dirty="0">
                <a:solidFill>
                  <a:schemeClr val="bg1">
                    <a:lumMod val="50000"/>
                  </a:schemeClr>
                </a:solidFill>
              </a:rPr>
              <a:t>예외</a:t>
            </a:r>
            <a:r>
              <a:rPr lang="en-US" altLang="ko-KR" sz="1000" dirty="0">
                <a:solidFill>
                  <a:schemeClr val="bg1">
                    <a:lumMod val="50000"/>
                  </a:schemeClr>
                </a:solidFill>
              </a:rPr>
              <a:t>: </a:t>
            </a:r>
            <a:r>
              <a:rPr lang="ko-KR" altLang="en-US" sz="1000" dirty="0">
                <a:solidFill>
                  <a:schemeClr val="bg1">
                    <a:lumMod val="50000"/>
                  </a:schemeClr>
                </a:solidFill>
              </a:rPr>
              <a:t>의견서 제출기간내</a:t>
            </a:r>
          </a:p>
        </p:txBody>
      </p:sp>
      <p:sp>
        <p:nvSpPr>
          <p:cNvPr id="126" name="말풍선: 모서리가 둥근 사각형 125">
            <a:extLst>
              <a:ext uri="{FF2B5EF4-FFF2-40B4-BE49-F238E27FC236}">
                <a16:creationId xmlns:a16="http://schemas.microsoft.com/office/drawing/2014/main" id="{7D921BB1-875A-4AFD-84B2-8CA57DA61EA5}"/>
              </a:ext>
            </a:extLst>
          </p:cNvPr>
          <p:cNvSpPr/>
          <p:nvPr/>
        </p:nvSpPr>
        <p:spPr>
          <a:xfrm>
            <a:off x="7748426" y="4922553"/>
            <a:ext cx="2129255" cy="394774"/>
          </a:xfrm>
          <a:prstGeom prst="wedgeRoundRectCallout">
            <a:avLst>
              <a:gd name="adj1" fmla="val -8153"/>
              <a:gd name="adj2" fmla="val -93950"/>
              <a:gd name="adj3" fmla="val 1666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highlight>
                  <a:srgbClr val="FFFF00"/>
                </a:highlight>
              </a:rPr>
              <a:t>원칙</a:t>
            </a:r>
            <a:r>
              <a:rPr lang="en-US" altLang="ko-KR" sz="1000" dirty="0">
                <a:solidFill>
                  <a:schemeClr val="bg1">
                    <a:lumMod val="50000"/>
                  </a:schemeClr>
                </a:solidFill>
                <a:highlight>
                  <a:srgbClr val="FFFF00"/>
                </a:highlight>
              </a:rPr>
              <a:t>: </a:t>
            </a:r>
            <a:r>
              <a:rPr lang="ko-KR" altLang="en-US" sz="1000" dirty="0" err="1">
                <a:solidFill>
                  <a:schemeClr val="bg1">
                    <a:lumMod val="50000"/>
                  </a:schemeClr>
                </a:solidFill>
                <a:highlight>
                  <a:srgbClr val="FFFF00"/>
                </a:highlight>
              </a:rPr>
              <a:t>연장등록여부결정전</a:t>
            </a:r>
            <a:endParaRPr lang="en-US" altLang="ko-KR" sz="1000" dirty="0">
              <a:solidFill>
                <a:schemeClr val="bg1">
                  <a:lumMod val="50000"/>
                </a:schemeClr>
              </a:solidFill>
              <a:highlight>
                <a:srgbClr val="FFFF00"/>
              </a:highlight>
            </a:endParaRPr>
          </a:p>
          <a:p>
            <a:pPr algn="ctr"/>
            <a:r>
              <a:rPr lang="ko-KR" altLang="en-US" sz="1000" dirty="0">
                <a:solidFill>
                  <a:schemeClr val="bg1">
                    <a:lumMod val="50000"/>
                  </a:schemeClr>
                </a:solidFill>
              </a:rPr>
              <a:t>예외</a:t>
            </a:r>
            <a:r>
              <a:rPr lang="en-US" altLang="ko-KR" sz="1000" dirty="0">
                <a:solidFill>
                  <a:schemeClr val="bg1">
                    <a:lumMod val="50000"/>
                  </a:schemeClr>
                </a:solidFill>
              </a:rPr>
              <a:t>: </a:t>
            </a:r>
            <a:r>
              <a:rPr lang="ko-KR" altLang="en-US" sz="1000" dirty="0">
                <a:solidFill>
                  <a:schemeClr val="bg1">
                    <a:lumMod val="50000"/>
                  </a:schemeClr>
                </a:solidFill>
              </a:rPr>
              <a:t>의견서 제출기간내</a:t>
            </a:r>
          </a:p>
        </p:txBody>
      </p:sp>
      <p:sp>
        <p:nvSpPr>
          <p:cNvPr id="129" name="모서리가 둥근 직사각형 25">
            <a:extLst>
              <a:ext uri="{FF2B5EF4-FFF2-40B4-BE49-F238E27FC236}">
                <a16:creationId xmlns:a16="http://schemas.microsoft.com/office/drawing/2014/main" id="{30064E18-DF33-45F8-91B9-A9750B2FD3D2}"/>
              </a:ext>
            </a:extLst>
          </p:cNvPr>
          <p:cNvSpPr/>
          <p:nvPr/>
        </p:nvSpPr>
        <p:spPr>
          <a:xfrm>
            <a:off x="6031563" y="1814519"/>
            <a:ext cx="1047750" cy="222891"/>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highlight>
                  <a:srgbClr val="FFFF00"/>
                </a:highlight>
              </a:rPr>
              <a:t>설정등록</a:t>
            </a:r>
          </a:p>
        </p:txBody>
      </p:sp>
      <p:sp>
        <p:nvSpPr>
          <p:cNvPr id="130" name="모서리가 둥근 직사각형 25">
            <a:extLst>
              <a:ext uri="{FF2B5EF4-FFF2-40B4-BE49-F238E27FC236}">
                <a16:creationId xmlns:a16="http://schemas.microsoft.com/office/drawing/2014/main" id="{B1A8E174-62DC-415B-BA50-F1F3D0FA6608}"/>
              </a:ext>
            </a:extLst>
          </p:cNvPr>
          <p:cNvSpPr/>
          <p:nvPr/>
        </p:nvSpPr>
        <p:spPr>
          <a:xfrm>
            <a:off x="6031563" y="2090026"/>
            <a:ext cx="1047750" cy="222891"/>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highlight>
                  <a:srgbClr val="FFFF00"/>
                </a:highlight>
              </a:rPr>
              <a:t>등록공고</a:t>
            </a:r>
          </a:p>
        </p:txBody>
      </p:sp>
      <p:sp>
        <p:nvSpPr>
          <p:cNvPr id="131" name="모서리가 둥근 직사각형 31">
            <a:extLst>
              <a:ext uri="{FF2B5EF4-FFF2-40B4-BE49-F238E27FC236}">
                <a16:creationId xmlns:a16="http://schemas.microsoft.com/office/drawing/2014/main" id="{122446D8-43AB-443E-9B51-3FFA752832F7}"/>
              </a:ext>
            </a:extLst>
          </p:cNvPr>
          <p:cNvSpPr/>
          <p:nvPr/>
        </p:nvSpPr>
        <p:spPr>
          <a:xfrm>
            <a:off x="8960700" y="2182427"/>
            <a:ext cx="1081085" cy="334154"/>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연장등록출원</a:t>
            </a:r>
          </a:p>
        </p:txBody>
      </p:sp>
      <p:sp>
        <p:nvSpPr>
          <p:cNvPr id="132" name="모서리가 둥근 직사각형 25">
            <a:extLst>
              <a:ext uri="{FF2B5EF4-FFF2-40B4-BE49-F238E27FC236}">
                <a16:creationId xmlns:a16="http://schemas.microsoft.com/office/drawing/2014/main" id="{DAB9B324-FBC7-4824-B076-64CF6F1CC571}"/>
              </a:ext>
            </a:extLst>
          </p:cNvPr>
          <p:cNvSpPr/>
          <p:nvPr/>
        </p:nvSpPr>
        <p:spPr>
          <a:xfrm>
            <a:off x="10077450" y="1814519"/>
            <a:ext cx="1047750" cy="222891"/>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highlight>
                  <a:srgbClr val="FFFF00"/>
                </a:highlight>
              </a:rPr>
              <a:t>설정등록</a:t>
            </a:r>
          </a:p>
        </p:txBody>
      </p:sp>
      <p:sp>
        <p:nvSpPr>
          <p:cNvPr id="133" name="모서리가 둥근 직사각형 25">
            <a:extLst>
              <a:ext uri="{FF2B5EF4-FFF2-40B4-BE49-F238E27FC236}">
                <a16:creationId xmlns:a16="http://schemas.microsoft.com/office/drawing/2014/main" id="{C4BF8EDF-4E19-46F8-AD34-7F520410A1F9}"/>
              </a:ext>
            </a:extLst>
          </p:cNvPr>
          <p:cNvSpPr/>
          <p:nvPr/>
        </p:nvSpPr>
        <p:spPr>
          <a:xfrm>
            <a:off x="10077450" y="2090026"/>
            <a:ext cx="1047750" cy="222891"/>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highlight>
                  <a:srgbClr val="FFFF00"/>
                </a:highlight>
              </a:rPr>
              <a:t>등록공고</a:t>
            </a:r>
          </a:p>
        </p:txBody>
      </p:sp>
      <p:sp>
        <p:nvSpPr>
          <p:cNvPr id="134" name="모서리가 둥근 직사각형 25">
            <a:extLst>
              <a:ext uri="{FF2B5EF4-FFF2-40B4-BE49-F238E27FC236}">
                <a16:creationId xmlns:a16="http://schemas.microsoft.com/office/drawing/2014/main" id="{12558B3C-28E5-4640-AE3B-53810A6C36F8}"/>
              </a:ext>
            </a:extLst>
          </p:cNvPr>
          <p:cNvSpPr/>
          <p:nvPr/>
        </p:nvSpPr>
        <p:spPr>
          <a:xfrm>
            <a:off x="273424" y="2727528"/>
            <a:ext cx="1047750" cy="323850"/>
          </a:xfrm>
          <a:prstGeom prst="roundRect">
            <a:avLst>
              <a:gd name="adj" fmla="val 5882"/>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highlight>
                  <a:srgbClr val="FFFF00"/>
                </a:highlight>
              </a:rPr>
              <a:t>출원서 보정</a:t>
            </a:r>
          </a:p>
        </p:txBody>
      </p:sp>
      <p:sp>
        <p:nvSpPr>
          <p:cNvPr id="135" name="말풍선: 모서리가 둥근 사각형 134">
            <a:extLst>
              <a:ext uri="{FF2B5EF4-FFF2-40B4-BE49-F238E27FC236}">
                <a16:creationId xmlns:a16="http://schemas.microsoft.com/office/drawing/2014/main" id="{16469B79-DE2A-474B-8FFD-1DF11B224ED6}"/>
              </a:ext>
            </a:extLst>
          </p:cNvPr>
          <p:cNvSpPr/>
          <p:nvPr/>
        </p:nvSpPr>
        <p:spPr>
          <a:xfrm>
            <a:off x="74940" y="3395551"/>
            <a:ext cx="1257301" cy="393039"/>
          </a:xfrm>
          <a:prstGeom prst="wedgeRoundRectCallout">
            <a:avLst>
              <a:gd name="adj1" fmla="val -8805"/>
              <a:gd name="adj2" fmla="val -132615"/>
              <a:gd name="adj3" fmla="val 1666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bg1">
                    <a:lumMod val="50000"/>
                  </a:schemeClr>
                </a:solidFill>
              </a:rPr>
              <a:t>원칙</a:t>
            </a:r>
            <a:r>
              <a:rPr lang="en-US" altLang="ko-KR" sz="1000" dirty="0">
                <a:solidFill>
                  <a:schemeClr val="bg1">
                    <a:lumMod val="50000"/>
                  </a:schemeClr>
                </a:solidFill>
              </a:rPr>
              <a:t>: </a:t>
            </a:r>
            <a:r>
              <a:rPr lang="ko-KR" altLang="en-US" sz="1000" dirty="0" err="1">
                <a:solidFill>
                  <a:schemeClr val="bg1">
                    <a:lumMod val="50000"/>
                  </a:schemeClr>
                </a:solidFill>
              </a:rPr>
              <a:t>계속중</a:t>
            </a:r>
            <a:endParaRPr lang="en-US" altLang="ko-KR" sz="1000" dirty="0">
              <a:solidFill>
                <a:schemeClr val="bg1">
                  <a:lumMod val="50000"/>
                </a:schemeClr>
              </a:solidFill>
            </a:endParaRPr>
          </a:p>
          <a:p>
            <a:pPr algn="ctr"/>
            <a:r>
              <a:rPr lang="ko-KR" altLang="en-US" sz="1000" dirty="0">
                <a:solidFill>
                  <a:schemeClr val="bg1">
                    <a:lumMod val="50000"/>
                  </a:schemeClr>
                </a:solidFill>
              </a:rPr>
              <a:t>예외</a:t>
            </a:r>
            <a:r>
              <a:rPr lang="en-US" altLang="ko-KR" sz="1000" dirty="0">
                <a:solidFill>
                  <a:schemeClr val="bg1">
                    <a:lumMod val="50000"/>
                  </a:schemeClr>
                </a:solidFill>
              </a:rPr>
              <a:t>: </a:t>
            </a:r>
            <a:r>
              <a:rPr lang="ko-KR" altLang="en-US" sz="1000" dirty="0">
                <a:solidFill>
                  <a:schemeClr val="bg1">
                    <a:lumMod val="50000"/>
                  </a:schemeClr>
                </a:solidFill>
              </a:rPr>
              <a:t>보정명령기간</a:t>
            </a:r>
          </a:p>
        </p:txBody>
      </p:sp>
      <p:sp>
        <p:nvSpPr>
          <p:cNvPr id="137" name="사각형: 둥근 모서리 136">
            <a:extLst>
              <a:ext uri="{FF2B5EF4-FFF2-40B4-BE49-F238E27FC236}">
                <a16:creationId xmlns:a16="http://schemas.microsoft.com/office/drawing/2014/main" id="{DC88B8E7-4672-467E-AA4C-49C1D232A214}"/>
              </a:ext>
            </a:extLst>
          </p:cNvPr>
          <p:cNvSpPr/>
          <p:nvPr/>
        </p:nvSpPr>
        <p:spPr>
          <a:xfrm>
            <a:off x="3582758" y="2573581"/>
            <a:ext cx="2023619" cy="55401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rgbClr val="FF0000"/>
                </a:solidFill>
              </a:rPr>
              <a:t>허가 등을 받은 날로부터 </a:t>
            </a:r>
            <a:r>
              <a:rPr lang="en-US" altLang="ko-KR" sz="900" dirty="0">
                <a:solidFill>
                  <a:srgbClr val="FF0000"/>
                </a:solidFill>
              </a:rPr>
              <a:t>3</a:t>
            </a:r>
            <a:r>
              <a:rPr lang="ko-KR" altLang="en-US" sz="900" dirty="0">
                <a:solidFill>
                  <a:srgbClr val="FF0000"/>
                </a:solidFill>
              </a:rPr>
              <a:t>월 및 존속기간만료 </a:t>
            </a:r>
            <a:r>
              <a:rPr lang="en-US" altLang="ko-KR" sz="900" dirty="0">
                <a:solidFill>
                  <a:srgbClr val="FF0000"/>
                </a:solidFill>
              </a:rPr>
              <a:t>6</a:t>
            </a:r>
            <a:r>
              <a:rPr lang="ko-KR" altLang="en-US" sz="900" dirty="0">
                <a:solidFill>
                  <a:srgbClr val="FF0000"/>
                </a:solidFill>
              </a:rPr>
              <a:t>월 이전에 출원</a:t>
            </a:r>
            <a:endParaRPr lang="en-US" altLang="ko-KR" sz="900" dirty="0">
              <a:solidFill>
                <a:srgbClr val="FF0000"/>
              </a:solidFill>
            </a:endParaRPr>
          </a:p>
          <a:p>
            <a:pPr algn="ctr"/>
            <a:r>
              <a:rPr lang="en-US" altLang="ko-KR" sz="900" dirty="0">
                <a:solidFill>
                  <a:srgbClr val="FF0000"/>
                </a:solidFill>
              </a:rPr>
              <a:t>(</a:t>
            </a:r>
            <a:r>
              <a:rPr lang="ko-KR" altLang="en-US" sz="900" dirty="0" err="1">
                <a:solidFill>
                  <a:srgbClr val="FF0000"/>
                </a:solidFill>
              </a:rPr>
              <a:t>출원계속</a:t>
            </a:r>
            <a:r>
              <a:rPr lang="ko-KR" altLang="en-US" sz="900" dirty="0">
                <a:solidFill>
                  <a:srgbClr val="FF0000"/>
                </a:solidFill>
              </a:rPr>
              <a:t> 중 존속기간 만료 가정 </a:t>
            </a:r>
            <a:r>
              <a:rPr lang="ko-KR" altLang="en-US" sz="1050" b="1" dirty="0">
                <a:solidFill>
                  <a:schemeClr val="accent1">
                    <a:lumMod val="50000"/>
                  </a:schemeClr>
                </a:solidFill>
              </a:rPr>
              <a:t>필요</a:t>
            </a:r>
            <a:r>
              <a:rPr lang="en-US" altLang="ko-KR" sz="900" dirty="0">
                <a:solidFill>
                  <a:srgbClr val="FF0000"/>
                </a:solidFill>
              </a:rPr>
              <a:t>)</a:t>
            </a:r>
            <a:endParaRPr lang="ko-KR" altLang="en-US" sz="900" dirty="0">
              <a:solidFill>
                <a:srgbClr val="FF0000"/>
              </a:solidFill>
            </a:endParaRPr>
          </a:p>
        </p:txBody>
      </p:sp>
      <p:sp>
        <p:nvSpPr>
          <p:cNvPr id="138" name="사각형: 둥근 모서리 137">
            <a:extLst>
              <a:ext uri="{FF2B5EF4-FFF2-40B4-BE49-F238E27FC236}">
                <a16:creationId xmlns:a16="http://schemas.microsoft.com/office/drawing/2014/main" id="{D2ECD67B-E835-4A0C-9F9C-64229AA7D397}"/>
              </a:ext>
            </a:extLst>
          </p:cNvPr>
          <p:cNvSpPr/>
          <p:nvPr/>
        </p:nvSpPr>
        <p:spPr>
          <a:xfrm>
            <a:off x="3711319" y="3293627"/>
            <a:ext cx="1766046" cy="29347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rgbClr val="FF0000"/>
                </a:solidFill>
              </a:rPr>
              <a:t>출원시</a:t>
            </a:r>
            <a:r>
              <a:rPr lang="ko-KR" altLang="en-US" sz="900" dirty="0">
                <a:solidFill>
                  <a:srgbClr val="FF0000"/>
                </a:solidFill>
              </a:rPr>
              <a:t> 존속기간 연장 간주</a:t>
            </a:r>
          </a:p>
        </p:txBody>
      </p:sp>
      <p:cxnSp>
        <p:nvCxnSpPr>
          <p:cNvPr id="140" name="직선 연결선 139">
            <a:extLst>
              <a:ext uri="{FF2B5EF4-FFF2-40B4-BE49-F238E27FC236}">
                <a16:creationId xmlns:a16="http://schemas.microsoft.com/office/drawing/2014/main" id="{FA9A453B-86C0-4280-9572-19B1ED2DC9F6}"/>
              </a:ext>
            </a:extLst>
          </p:cNvPr>
          <p:cNvCxnSpPr>
            <a:cxnSpLocks/>
            <a:stCxn id="137" idx="2"/>
            <a:endCxn id="138" idx="0"/>
          </p:cNvCxnSpPr>
          <p:nvPr/>
        </p:nvCxnSpPr>
        <p:spPr>
          <a:xfrm flipH="1">
            <a:off x="4594342" y="3127591"/>
            <a:ext cx="226" cy="166036"/>
          </a:xfrm>
          <a:prstGeom prst="line">
            <a:avLst/>
          </a:prstGeom>
          <a:ln w="28575">
            <a:solidFill>
              <a:srgbClr val="FF0000"/>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41" name="직선 연결선 140">
            <a:extLst>
              <a:ext uri="{FF2B5EF4-FFF2-40B4-BE49-F238E27FC236}">
                <a16:creationId xmlns:a16="http://schemas.microsoft.com/office/drawing/2014/main" id="{904E6475-CE34-45C5-A006-F6A802987621}"/>
              </a:ext>
            </a:extLst>
          </p:cNvPr>
          <p:cNvCxnSpPr>
            <a:cxnSpLocks/>
            <a:stCxn id="138" idx="3"/>
            <a:endCxn id="75" idx="1"/>
          </p:cNvCxnSpPr>
          <p:nvPr/>
        </p:nvCxnSpPr>
        <p:spPr>
          <a:xfrm flipV="1">
            <a:off x="5477365" y="3147442"/>
            <a:ext cx="554198" cy="292920"/>
          </a:xfrm>
          <a:prstGeom prst="line">
            <a:avLst/>
          </a:prstGeom>
          <a:ln w="28575">
            <a:solidFill>
              <a:srgbClr val="FF0000"/>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45" name="사각형: 둥근 모서리 144">
            <a:extLst>
              <a:ext uri="{FF2B5EF4-FFF2-40B4-BE49-F238E27FC236}">
                <a16:creationId xmlns:a16="http://schemas.microsoft.com/office/drawing/2014/main" id="{04B2FFF1-DE50-468B-9115-541457638A28}"/>
              </a:ext>
            </a:extLst>
          </p:cNvPr>
          <p:cNvSpPr/>
          <p:nvPr/>
        </p:nvSpPr>
        <p:spPr>
          <a:xfrm>
            <a:off x="7596833" y="2573581"/>
            <a:ext cx="2023619" cy="55401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a:solidFill>
                  <a:srgbClr val="FF0000"/>
                </a:solidFill>
              </a:rPr>
              <a:t>설정등록일로부터 </a:t>
            </a:r>
            <a:r>
              <a:rPr lang="en-US" altLang="ko-KR" sz="900" dirty="0">
                <a:solidFill>
                  <a:srgbClr val="FF0000"/>
                </a:solidFill>
              </a:rPr>
              <a:t>3</a:t>
            </a:r>
            <a:r>
              <a:rPr lang="ko-KR" altLang="en-US" sz="900" dirty="0">
                <a:solidFill>
                  <a:srgbClr val="FF0000"/>
                </a:solidFill>
              </a:rPr>
              <a:t>개월 이내 출원</a:t>
            </a:r>
            <a:endParaRPr lang="en-US" altLang="ko-KR" sz="900" dirty="0">
              <a:solidFill>
                <a:srgbClr val="FF0000"/>
              </a:solidFill>
            </a:endParaRPr>
          </a:p>
          <a:p>
            <a:pPr algn="ctr"/>
            <a:r>
              <a:rPr lang="en-US" altLang="ko-KR" sz="900" dirty="0">
                <a:solidFill>
                  <a:srgbClr val="FF0000"/>
                </a:solidFill>
              </a:rPr>
              <a:t>(</a:t>
            </a:r>
            <a:r>
              <a:rPr lang="ko-KR" altLang="en-US" sz="900" dirty="0" err="1">
                <a:solidFill>
                  <a:srgbClr val="FF0000"/>
                </a:solidFill>
              </a:rPr>
              <a:t>출원계속</a:t>
            </a:r>
            <a:r>
              <a:rPr lang="ko-KR" altLang="en-US" sz="900" dirty="0">
                <a:solidFill>
                  <a:srgbClr val="FF0000"/>
                </a:solidFill>
              </a:rPr>
              <a:t> 중 존속기간 만료 가정 </a:t>
            </a:r>
            <a:r>
              <a:rPr lang="ko-KR" altLang="en-US" sz="1050" b="1" dirty="0">
                <a:solidFill>
                  <a:schemeClr val="accent1">
                    <a:lumMod val="50000"/>
                  </a:schemeClr>
                </a:solidFill>
              </a:rPr>
              <a:t>불요</a:t>
            </a:r>
            <a:r>
              <a:rPr lang="en-US" altLang="ko-KR" sz="900" dirty="0">
                <a:solidFill>
                  <a:srgbClr val="FF0000"/>
                </a:solidFill>
              </a:rPr>
              <a:t>)</a:t>
            </a:r>
            <a:endParaRPr lang="ko-KR" altLang="en-US" sz="900" dirty="0">
              <a:solidFill>
                <a:srgbClr val="FF0000"/>
              </a:solidFill>
            </a:endParaRPr>
          </a:p>
        </p:txBody>
      </p:sp>
      <p:sp>
        <p:nvSpPr>
          <p:cNvPr id="146" name="사각형: 둥근 모서리 145">
            <a:extLst>
              <a:ext uri="{FF2B5EF4-FFF2-40B4-BE49-F238E27FC236}">
                <a16:creationId xmlns:a16="http://schemas.microsoft.com/office/drawing/2014/main" id="{15F77339-F725-4ED1-9A7E-7AB1934BEFD6}"/>
              </a:ext>
            </a:extLst>
          </p:cNvPr>
          <p:cNvSpPr/>
          <p:nvPr/>
        </p:nvSpPr>
        <p:spPr>
          <a:xfrm>
            <a:off x="7725394" y="3293627"/>
            <a:ext cx="1766046" cy="29347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900" dirty="0" err="1">
                <a:solidFill>
                  <a:srgbClr val="FF0000"/>
                </a:solidFill>
              </a:rPr>
              <a:t>출원시</a:t>
            </a:r>
            <a:r>
              <a:rPr lang="ko-KR" altLang="en-US" sz="900" dirty="0">
                <a:solidFill>
                  <a:srgbClr val="FF0000"/>
                </a:solidFill>
              </a:rPr>
              <a:t> 존속기간 연장 간주 </a:t>
            </a:r>
            <a:r>
              <a:rPr lang="ko-KR" altLang="en-US" sz="1100" dirty="0">
                <a:solidFill>
                  <a:schemeClr val="accent1">
                    <a:lumMod val="50000"/>
                  </a:schemeClr>
                </a:solidFill>
              </a:rPr>
              <a:t>불요</a:t>
            </a:r>
            <a:endParaRPr lang="ko-KR" altLang="en-US" sz="900" dirty="0">
              <a:solidFill>
                <a:schemeClr val="accent1">
                  <a:lumMod val="50000"/>
                </a:schemeClr>
              </a:solidFill>
            </a:endParaRPr>
          </a:p>
        </p:txBody>
      </p:sp>
      <p:cxnSp>
        <p:nvCxnSpPr>
          <p:cNvPr id="147" name="직선 연결선 146">
            <a:extLst>
              <a:ext uri="{FF2B5EF4-FFF2-40B4-BE49-F238E27FC236}">
                <a16:creationId xmlns:a16="http://schemas.microsoft.com/office/drawing/2014/main" id="{1A1AC4BF-5A12-4B6A-8A72-B0EE1063855B}"/>
              </a:ext>
            </a:extLst>
          </p:cNvPr>
          <p:cNvCxnSpPr>
            <a:cxnSpLocks/>
            <a:stCxn id="145" idx="2"/>
            <a:endCxn id="146" idx="0"/>
          </p:cNvCxnSpPr>
          <p:nvPr/>
        </p:nvCxnSpPr>
        <p:spPr>
          <a:xfrm flipH="1">
            <a:off x="8608417" y="3127591"/>
            <a:ext cx="226" cy="166036"/>
          </a:xfrm>
          <a:prstGeom prst="line">
            <a:avLst/>
          </a:prstGeom>
          <a:ln w="28575">
            <a:solidFill>
              <a:srgbClr val="FF0000"/>
            </a:solidFill>
            <a:headEnd type="none" w="med" len="med"/>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0439774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89</a:t>
            </a:r>
            <a:r>
              <a:rPr lang="ko-KR" altLang="en-US" dirty="0"/>
              <a:t>조</a:t>
            </a:r>
            <a:r>
              <a:rPr lang="en-US" altLang="ko-KR" dirty="0"/>
              <a:t>~</a:t>
            </a:r>
            <a:r>
              <a:rPr lang="ko-KR" altLang="en-US" dirty="0"/>
              <a:t>제</a:t>
            </a:r>
            <a:r>
              <a:rPr lang="en-US" altLang="ko-KR" dirty="0"/>
              <a:t>95</a:t>
            </a:r>
            <a:r>
              <a:rPr lang="ko-KR" altLang="en-US" dirty="0"/>
              <a:t>조</a:t>
            </a:r>
          </a:p>
        </p:txBody>
      </p:sp>
      <p:sp>
        <p:nvSpPr>
          <p:cNvPr id="4" name="텍스트 개체 틀 3"/>
          <p:cNvSpPr>
            <a:spLocks noGrp="1"/>
          </p:cNvSpPr>
          <p:nvPr>
            <p:ph type="body" sz="quarter" idx="13"/>
          </p:nvPr>
        </p:nvSpPr>
        <p:spPr/>
        <p:txBody>
          <a:bodyPr/>
          <a:lstStyle/>
          <a:p>
            <a:r>
              <a:rPr lang="ko-KR" altLang="en-US" dirty="0"/>
              <a:t>법조문의 비교</a:t>
            </a:r>
          </a:p>
        </p:txBody>
      </p:sp>
      <p:graphicFrame>
        <p:nvGraphicFramePr>
          <p:cNvPr id="2" name="표 1"/>
          <p:cNvGraphicFramePr>
            <a:graphicFrameLocks noGrp="1"/>
          </p:cNvGraphicFramePr>
          <p:nvPr/>
        </p:nvGraphicFramePr>
        <p:xfrm>
          <a:off x="342900" y="1152526"/>
          <a:ext cx="11506199" cy="1622298"/>
        </p:xfrm>
        <a:graphic>
          <a:graphicData uri="http://schemas.openxmlformats.org/drawingml/2006/table">
            <a:tbl>
              <a:tblPr>
                <a:tableStyleId>{8799B23B-EC83-4686-B30A-512413B5E67A}</a:tableStyleId>
              </a:tblPr>
              <a:tblGrid>
                <a:gridCol w="685800">
                  <a:extLst>
                    <a:ext uri="{9D8B030D-6E8A-4147-A177-3AD203B41FA5}">
                      <a16:colId xmlns:a16="http://schemas.microsoft.com/office/drawing/2014/main" val="20000"/>
                    </a:ext>
                  </a:extLst>
                </a:gridCol>
                <a:gridCol w="5353050">
                  <a:extLst>
                    <a:ext uri="{9D8B030D-6E8A-4147-A177-3AD203B41FA5}">
                      <a16:colId xmlns:a16="http://schemas.microsoft.com/office/drawing/2014/main" val="20001"/>
                    </a:ext>
                  </a:extLst>
                </a:gridCol>
                <a:gridCol w="5467349">
                  <a:extLst>
                    <a:ext uri="{9D8B030D-6E8A-4147-A177-3AD203B41FA5}">
                      <a16:colId xmlns:a16="http://schemas.microsoft.com/office/drawing/2014/main" val="20002"/>
                    </a:ext>
                  </a:extLst>
                </a:gridCol>
              </a:tblGrid>
              <a:tr h="100068">
                <a:tc>
                  <a:txBody>
                    <a:bodyPr/>
                    <a:lstStyle/>
                    <a:p>
                      <a:pPr marL="0" marR="0" indent="0" algn="ctr" fontAlgn="base" latinLnBrk="0">
                        <a:lnSpc>
                          <a:spcPct val="100000"/>
                        </a:lnSpc>
                        <a:spcBef>
                          <a:spcPts val="0"/>
                        </a:spcBef>
                        <a:spcAft>
                          <a:spcPts val="0"/>
                        </a:spcAft>
                      </a:pPr>
                      <a:r>
                        <a:rPr lang="ko-KR" altLang="en-US" sz="1000" kern="1200" dirty="0"/>
                        <a:t>구 분</a:t>
                      </a:r>
                      <a:endParaRPr lang="ko-KR" altLang="en-US" sz="10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kern="1200" dirty="0"/>
                        <a:t>허가 등에 따른 특허권의 존속기간의 연장</a:t>
                      </a:r>
                      <a:endParaRPr lang="ko-KR" altLang="en-US" sz="10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kern="1200" dirty="0"/>
                        <a:t>등록지연에 따른 특허권의 존속기간의 연장</a:t>
                      </a:r>
                      <a:endParaRPr lang="ko-KR" altLang="en-US" sz="10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extLst>
                  <a:ext uri="{0D108BD9-81ED-4DB2-BD59-A6C34878D82A}">
                    <a16:rowId xmlns:a16="http://schemas.microsoft.com/office/drawing/2014/main" val="10000"/>
                  </a:ext>
                </a:extLst>
              </a:tr>
              <a:tr h="107147">
                <a:tc>
                  <a:txBody>
                    <a:bodyPr/>
                    <a:lstStyle/>
                    <a:p>
                      <a:pPr marL="0" marR="0" indent="0" algn="ctr" fontAlgn="base" latinLnBrk="0">
                        <a:lnSpc>
                          <a:spcPct val="100000"/>
                        </a:lnSpc>
                        <a:spcBef>
                          <a:spcPts val="0"/>
                        </a:spcBef>
                        <a:spcAft>
                          <a:spcPts val="0"/>
                        </a:spcAft>
                      </a:pPr>
                      <a:r>
                        <a:rPr lang="ko-KR" altLang="en-US" sz="1000" kern="1200"/>
                        <a:t>의 의</a:t>
                      </a:r>
                      <a:endParaRPr lang="ko-KR" altLang="en-US" sz="1000" kern="1200">
                        <a:solidFill>
                          <a:schemeClr val="tx2"/>
                        </a:solidFill>
                        <a:latin typeface="+mn-lt"/>
                        <a:ea typeface="+mn-ea"/>
                        <a:cs typeface="+mn-cs"/>
                      </a:endParaRPr>
                    </a:p>
                  </a:txBody>
                  <a:tcPr marL="17907" marR="17907" marT="17907" marB="17907" anchor="ctr"/>
                </a:tc>
                <a:tc>
                  <a:txBody>
                    <a:bodyPr/>
                    <a:lstStyle/>
                    <a:p>
                      <a:pPr marL="31750" marR="31750" indent="0" algn="ctr" fontAlgn="base" latinLnBrk="0">
                        <a:lnSpc>
                          <a:spcPct val="100000"/>
                        </a:lnSpc>
                        <a:spcBef>
                          <a:spcPts val="0"/>
                        </a:spcBef>
                        <a:spcAft>
                          <a:spcPts val="0"/>
                        </a:spcAft>
                      </a:pPr>
                      <a:r>
                        <a:rPr lang="ko-KR" altLang="en-US" sz="1000" kern="1200" dirty="0"/>
                        <a:t>제</a:t>
                      </a:r>
                      <a:r>
                        <a:rPr lang="en-US" altLang="ko-KR" sz="1000" kern="1200" dirty="0"/>
                        <a:t>89</a:t>
                      </a:r>
                      <a:r>
                        <a:rPr lang="ko-KR" altLang="en-US" sz="1000" kern="1200" dirty="0"/>
                        <a:t>조</a:t>
                      </a:r>
                      <a:endParaRPr lang="ko-KR" altLang="en-US" sz="1000" kern="1200" dirty="0">
                        <a:solidFill>
                          <a:schemeClr val="tx2"/>
                        </a:solidFill>
                        <a:latin typeface="+mn-lt"/>
                        <a:ea typeface="+mn-ea"/>
                        <a:cs typeface="+mn-cs"/>
                      </a:endParaRPr>
                    </a:p>
                  </a:txBody>
                  <a:tcPr marL="17907" marR="17907" marT="17907" marB="17907" anchor="ctr"/>
                </a:tc>
                <a:tc>
                  <a:txBody>
                    <a:bodyPr/>
                    <a:lstStyle/>
                    <a:p>
                      <a:pPr marL="31750" marR="31750" indent="0" algn="ctr" fontAlgn="base" latinLnBrk="0">
                        <a:lnSpc>
                          <a:spcPct val="100000"/>
                        </a:lnSpc>
                        <a:spcBef>
                          <a:spcPts val="0"/>
                        </a:spcBef>
                        <a:spcAft>
                          <a:spcPts val="0"/>
                        </a:spcAft>
                      </a:pPr>
                      <a:r>
                        <a:rPr lang="ko-KR" altLang="en-US" sz="1000" kern="1200" dirty="0"/>
                        <a:t>제</a:t>
                      </a:r>
                      <a:r>
                        <a:rPr lang="en-US" altLang="ko-KR" sz="1000" kern="1200" dirty="0"/>
                        <a:t>92</a:t>
                      </a:r>
                      <a:r>
                        <a:rPr lang="ko-KR" altLang="en-US" sz="1000" kern="1200" dirty="0"/>
                        <a:t>조의</a:t>
                      </a:r>
                      <a:r>
                        <a:rPr lang="en-US" altLang="ko-KR" sz="1000" kern="1200" dirty="0"/>
                        <a:t>2</a:t>
                      </a:r>
                      <a:endParaRPr lang="ko-KR" altLang="en-US" sz="10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01"/>
                  </a:ext>
                </a:extLst>
              </a:tr>
              <a:tr h="107147">
                <a:tc>
                  <a:txBody>
                    <a:bodyPr/>
                    <a:lstStyle/>
                    <a:p>
                      <a:pPr marL="0" marR="0" indent="0" algn="ctr" fontAlgn="base" latinLnBrk="0">
                        <a:lnSpc>
                          <a:spcPct val="100000"/>
                        </a:lnSpc>
                        <a:spcBef>
                          <a:spcPts val="0"/>
                        </a:spcBef>
                        <a:spcAft>
                          <a:spcPts val="0"/>
                        </a:spcAft>
                      </a:pPr>
                      <a:r>
                        <a:rPr lang="ko-KR" altLang="en-US" sz="1000" kern="1200" dirty="0"/>
                        <a:t>연장등록</a:t>
                      </a:r>
                      <a:endParaRPr lang="en-US" altLang="ko-KR" sz="1000" kern="1200" dirty="0"/>
                    </a:p>
                    <a:p>
                      <a:pPr marL="0" marR="0" indent="0" algn="ctr" fontAlgn="base" latinLnBrk="0">
                        <a:lnSpc>
                          <a:spcPct val="100000"/>
                        </a:lnSpc>
                        <a:spcBef>
                          <a:spcPts val="0"/>
                        </a:spcBef>
                        <a:spcAft>
                          <a:spcPts val="0"/>
                        </a:spcAft>
                      </a:pPr>
                      <a:r>
                        <a:rPr lang="ko-KR" altLang="en-US" sz="1000" kern="1200" dirty="0"/>
                        <a:t>출원</a:t>
                      </a:r>
                      <a:endParaRPr lang="ko-KR" altLang="en-US" sz="1000" kern="1200" dirty="0">
                        <a:solidFill>
                          <a:schemeClr val="tx2"/>
                        </a:solidFill>
                        <a:latin typeface="+mn-lt"/>
                        <a:ea typeface="+mn-ea"/>
                        <a:cs typeface="+mn-cs"/>
                      </a:endParaRPr>
                    </a:p>
                  </a:txBody>
                  <a:tcPr marL="17907" marR="17907" marT="17907" marB="17907" anchor="ctr"/>
                </a:tc>
                <a:tc>
                  <a:txBody>
                    <a:bodyPr/>
                    <a:lstStyle/>
                    <a:p>
                      <a:pPr marL="31750" marR="31750" indent="0" algn="ctr" fontAlgn="base" latinLnBrk="0">
                        <a:lnSpc>
                          <a:spcPct val="100000"/>
                        </a:lnSpc>
                        <a:spcBef>
                          <a:spcPts val="0"/>
                        </a:spcBef>
                        <a:spcAft>
                          <a:spcPts val="0"/>
                        </a:spcAft>
                      </a:pPr>
                      <a:r>
                        <a:rPr lang="ko-KR" altLang="en-US" sz="1000" kern="1200" dirty="0"/>
                        <a:t>제</a:t>
                      </a:r>
                      <a:r>
                        <a:rPr lang="en-US" altLang="ko-KR" sz="1000" kern="1200" dirty="0"/>
                        <a:t>90</a:t>
                      </a:r>
                      <a:r>
                        <a:rPr lang="ko-KR" altLang="en-US" sz="1000" kern="1200" dirty="0"/>
                        <a:t>조</a:t>
                      </a:r>
                      <a:endParaRPr lang="ko-KR" altLang="en-US" sz="1000" kern="1200" dirty="0">
                        <a:solidFill>
                          <a:schemeClr val="tx2"/>
                        </a:solidFill>
                        <a:latin typeface="+mn-lt"/>
                        <a:ea typeface="+mn-ea"/>
                        <a:cs typeface="+mn-cs"/>
                      </a:endParaRPr>
                    </a:p>
                  </a:txBody>
                  <a:tcPr marL="17907" marR="17907" marT="17907" marB="17907" anchor="ctr"/>
                </a:tc>
                <a:tc>
                  <a:txBody>
                    <a:bodyPr/>
                    <a:lstStyle/>
                    <a:p>
                      <a:pPr marL="31750" marR="31750" indent="0" algn="ctr" fontAlgn="base" latinLnBrk="0">
                        <a:lnSpc>
                          <a:spcPct val="100000"/>
                        </a:lnSpc>
                        <a:spcBef>
                          <a:spcPts val="0"/>
                        </a:spcBef>
                        <a:spcAft>
                          <a:spcPts val="0"/>
                        </a:spcAft>
                      </a:pPr>
                      <a:r>
                        <a:rPr lang="ko-KR" altLang="en-US" sz="1000" kern="1200" dirty="0"/>
                        <a:t>제</a:t>
                      </a:r>
                      <a:r>
                        <a:rPr lang="en-US" altLang="ko-KR" sz="1000" kern="1200" dirty="0"/>
                        <a:t>92</a:t>
                      </a:r>
                      <a:r>
                        <a:rPr lang="ko-KR" altLang="en-US" sz="1000" kern="1200" dirty="0"/>
                        <a:t>조의</a:t>
                      </a:r>
                      <a:r>
                        <a:rPr lang="en-US" altLang="ko-KR" sz="1000" kern="1200" dirty="0"/>
                        <a:t>3</a:t>
                      </a:r>
                      <a:endParaRPr lang="ko-KR" altLang="en-US" sz="10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02"/>
                  </a:ext>
                </a:extLst>
              </a:tr>
              <a:tr h="107147">
                <a:tc>
                  <a:txBody>
                    <a:bodyPr/>
                    <a:lstStyle/>
                    <a:p>
                      <a:pPr marL="0" marR="0" indent="0" algn="ctr" fontAlgn="base" latinLnBrk="0">
                        <a:lnSpc>
                          <a:spcPct val="100000"/>
                        </a:lnSpc>
                        <a:spcBef>
                          <a:spcPts val="0"/>
                        </a:spcBef>
                        <a:spcAft>
                          <a:spcPts val="0"/>
                        </a:spcAft>
                      </a:pPr>
                      <a:r>
                        <a:rPr lang="ko-KR" altLang="en-US" sz="1000" kern="1200"/>
                        <a:t>거절결정</a:t>
                      </a:r>
                      <a:endParaRPr lang="ko-KR" altLang="en-US" sz="1000" kern="1200">
                        <a:solidFill>
                          <a:schemeClr val="tx2"/>
                        </a:solidFill>
                        <a:latin typeface="+mn-lt"/>
                        <a:ea typeface="+mn-ea"/>
                        <a:cs typeface="+mn-cs"/>
                      </a:endParaRPr>
                    </a:p>
                  </a:txBody>
                  <a:tcPr marL="17907" marR="17907" marT="17907" marB="17907" anchor="ctr"/>
                </a:tc>
                <a:tc>
                  <a:txBody>
                    <a:bodyPr/>
                    <a:lstStyle/>
                    <a:p>
                      <a:pPr marL="31750" marR="31750" indent="0" algn="ctr" fontAlgn="base" latinLnBrk="0">
                        <a:lnSpc>
                          <a:spcPct val="100000"/>
                        </a:lnSpc>
                        <a:spcBef>
                          <a:spcPts val="0"/>
                        </a:spcBef>
                        <a:spcAft>
                          <a:spcPts val="0"/>
                        </a:spcAft>
                      </a:pPr>
                      <a:r>
                        <a:rPr lang="ko-KR" altLang="en-US" sz="1000" kern="1200" dirty="0"/>
                        <a:t>제</a:t>
                      </a:r>
                      <a:r>
                        <a:rPr lang="en-US" altLang="ko-KR" sz="1000" kern="1200" dirty="0"/>
                        <a:t>91</a:t>
                      </a:r>
                      <a:r>
                        <a:rPr lang="ko-KR" altLang="en-US" sz="1000" kern="1200" dirty="0"/>
                        <a:t>조</a:t>
                      </a:r>
                      <a:endParaRPr lang="ko-KR" altLang="en-US" sz="1000" kern="1200" dirty="0">
                        <a:solidFill>
                          <a:schemeClr val="tx2"/>
                        </a:solidFill>
                        <a:latin typeface="+mn-lt"/>
                        <a:ea typeface="+mn-ea"/>
                        <a:cs typeface="+mn-cs"/>
                      </a:endParaRPr>
                    </a:p>
                  </a:txBody>
                  <a:tcPr marL="17907" marR="17907" marT="17907" marB="17907" anchor="ctr"/>
                </a:tc>
                <a:tc>
                  <a:txBody>
                    <a:bodyPr/>
                    <a:lstStyle/>
                    <a:p>
                      <a:pPr marL="31750" marR="31750" indent="0" algn="ctr" fontAlgn="base" latinLnBrk="0">
                        <a:lnSpc>
                          <a:spcPct val="100000"/>
                        </a:lnSpc>
                        <a:spcBef>
                          <a:spcPts val="0"/>
                        </a:spcBef>
                        <a:spcAft>
                          <a:spcPts val="0"/>
                        </a:spcAft>
                      </a:pPr>
                      <a:r>
                        <a:rPr lang="ko-KR" altLang="en-US" sz="1000" kern="1200" dirty="0"/>
                        <a:t>제</a:t>
                      </a:r>
                      <a:r>
                        <a:rPr lang="en-US" altLang="ko-KR" sz="1000" kern="1200" dirty="0"/>
                        <a:t>92</a:t>
                      </a:r>
                      <a:r>
                        <a:rPr lang="ko-KR" altLang="en-US" sz="1000" kern="1200" dirty="0"/>
                        <a:t>조의</a:t>
                      </a:r>
                      <a:r>
                        <a:rPr lang="en-US" altLang="ko-KR" sz="1000" kern="1200" dirty="0"/>
                        <a:t>4</a:t>
                      </a:r>
                      <a:endParaRPr lang="ko-KR" altLang="en-US" sz="10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03"/>
                  </a:ext>
                </a:extLst>
              </a:tr>
              <a:tr h="107147">
                <a:tc>
                  <a:txBody>
                    <a:bodyPr/>
                    <a:lstStyle/>
                    <a:p>
                      <a:pPr marL="0" marR="0" indent="0" algn="ctr" fontAlgn="base" latinLnBrk="0">
                        <a:lnSpc>
                          <a:spcPct val="100000"/>
                        </a:lnSpc>
                        <a:spcBef>
                          <a:spcPts val="0"/>
                        </a:spcBef>
                        <a:spcAft>
                          <a:spcPts val="0"/>
                        </a:spcAft>
                      </a:pPr>
                      <a:r>
                        <a:rPr lang="ko-KR" altLang="en-US" sz="1000" kern="1200"/>
                        <a:t>등록결정등</a:t>
                      </a:r>
                      <a:endParaRPr lang="ko-KR" altLang="en-US" sz="1000" kern="1200">
                        <a:solidFill>
                          <a:schemeClr val="tx2"/>
                        </a:solidFill>
                        <a:latin typeface="+mn-lt"/>
                        <a:ea typeface="+mn-ea"/>
                        <a:cs typeface="+mn-cs"/>
                      </a:endParaRPr>
                    </a:p>
                  </a:txBody>
                  <a:tcPr marL="17907" marR="17907" marT="17907" marB="17907" anchor="ctr"/>
                </a:tc>
                <a:tc>
                  <a:txBody>
                    <a:bodyPr/>
                    <a:lstStyle/>
                    <a:p>
                      <a:pPr marL="31750" marR="31750" indent="0" algn="ctr" fontAlgn="base" latinLnBrk="0">
                        <a:lnSpc>
                          <a:spcPct val="100000"/>
                        </a:lnSpc>
                        <a:spcBef>
                          <a:spcPts val="0"/>
                        </a:spcBef>
                        <a:spcAft>
                          <a:spcPts val="0"/>
                        </a:spcAft>
                      </a:pPr>
                      <a:r>
                        <a:rPr lang="ko-KR" altLang="en-US" sz="1000" kern="1200" dirty="0"/>
                        <a:t>제</a:t>
                      </a:r>
                      <a:r>
                        <a:rPr lang="en-US" altLang="ko-KR" sz="1000" kern="1200" dirty="0"/>
                        <a:t>92</a:t>
                      </a:r>
                      <a:r>
                        <a:rPr lang="ko-KR" altLang="en-US" sz="1000" kern="1200" dirty="0"/>
                        <a:t>조</a:t>
                      </a:r>
                      <a:endParaRPr lang="ko-KR" altLang="en-US" sz="1000" kern="1200" dirty="0">
                        <a:solidFill>
                          <a:schemeClr val="tx2"/>
                        </a:solidFill>
                        <a:latin typeface="+mn-lt"/>
                        <a:ea typeface="+mn-ea"/>
                        <a:cs typeface="+mn-cs"/>
                      </a:endParaRPr>
                    </a:p>
                  </a:txBody>
                  <a:tcPr marL="17907" marR="17907" marT="17907" marB="17907" anchor="ctr"/>
                </a:tc>
                <a:tc>
                  <a:txBody>
                    <a:bodyPr/>
                    <a:lstStyle/>
                    <a:p>
                      <a:pPr marL="31750" marR="31750" indent="0" algn="ctr" fontAlgn="base" latinLnBrk="0">
                        <a:lnSpc>
                          <a:spcPct val="100000"/>
                        </a:lnSpc>
                        <a:spcBef>
                          <a:spcPts val="0"/>
                        </a:spcBef>
                        <a:spcAft>
                          <a:spcPts val="0"/>
                        </a:spcAft>
                      </a:pPr>
                      <a:r>
                        <a:rPr lang="ko-KR" altLang="en-US" sz="1000" kern="1200" dirty="0"/>
                        <a:t>제</a:t>
                      </a:r>
                      <a:r>
                        <a:rPr lang="en-US" altLang="ko-KR" sz="1000" kern="1200" dirty="0"/>
                        <a:t>92</a:t>
                      </a:r>
                      <a:r>
                        <a:rPr lang="ko-KR" altLang="en-US" sz="1000" kern="1200" dirty="0"/>
                        <a:t>조의</a:t>
                      </a:r>
                      <a:r>
                        <a:rPr lang="en-US" altLang="ko-KR" sz="1000" kern="1200" dirty="0"/>
                        <a:t>5</a:t>
                      </a:r>
                      <a:endParaRPr lang="ko-KR" altLang="en-US" sz="10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04"/>
                  </a:ext>
                </a:extLst>
              </a:tr>
              <a:tr h="107147">
                <a:tc>
                  <a:txBody>
                    <a:bodyPr/>
                    <a:lstStyle/>
                    <a:p>
                      <a:pPr marL="0" marR="0" indent="0" algn="ctr" fontAlgn="base" latinLnBrk="0">
                        <a:lnSpc>
                          <a:spcPct val="100000"/>
                        </a:lnSpc>
                        <a:spcBef>
                          <a:spcPts val="0"/>
                        </a:spcBef>
                        <a:spcAft>
                          <a:spcPts val="0"/>
                        </a:spcAft>
                      </a:pPr>
                      <a:r>
                        <a:rPr lang="ko-KR" altLang="en-US" sz="1000" kern="1200"/>
                        <a:t>준용규정</a:t>
                      </a:r>
                      <a:endParaRPr lang="ko-KR" altLang="en-US" sz="1000" kern="1200">
                        <a:solidFill>
                          <a:schemeClr val="tx2"/>
                        </a:solidFill>
                        <a:latin typeface="+mn-lt"/>
                        <a:ea typeface="+mn-ea"/>
                        <a:cs typeface="+mn-cs"/>
                      </a:endParaRPr>
                    </a:p>
                  </a:txBody>
                  <a:tcPr marL="17907" marR="17907" marT="17907" marB="17907" anchor="ctr"/>
                </a:tc>
                <a:tc gridSpan="2">
                  <a:txBody>
                    <a:bodyPr/>
                    <a:lstStyle/>
                    <a:p>
                      <a:pPr marL="31750" marR="31750" indent="0" algn="ctr" fontAlgn="base" latinLnBrk="0">
                        <a:lnSpc>
                          <a:spcPct val="100000"/>
                        </a:lnSpc>
                        <a:spcBef>
                          <a:spcPts val="0"/>
                        </a:spcBef>
                        <a:spcAft>
                          <a:spcPts val="0"/>
                        </a:spcAft>
                      </a:pPr>
                      <a:r>
                        <a:rPr lang="ko-KR" altLang="en-US" sz="1000" kern="1200" dirty="0"/>
                        <a:t>제</a:t>
                      </a:r>
                      <a:r>
                        <a:rPr lang="en-US" altLang="ko-KR" sz="1000" kern="1200" dirty="0"/>
                        <a:t>93</a:t>
                      </a:r>
                      <a:r>
                        <a:rPr lang="ko-KR" altLang="en-US" sz="1000" kern="1200" dirty="0"/>
                        <a:t>조</a:t>
                      </a:r>
                      <a:endParaRPr lang="ko-KR" altLang="en-US" sz="1000" kern="1200" dirty="0">
                        <a:solidFill>
                          <a:schemeClr val="tx2"/>
                        </a:solidFill>
                        <a:latin typeface="+mn-lt"/>
                        <a:ea typeface="+mn-ea"/>
                        <a:cs typeface="+mn-cs"/>
                      </a:endParaRPr>
                    </a:p>
                  </a:txBody>
                  <a:tcPr marL="17907" marR="17907" marT="17907" marB="17907" anchor="ctr"/>
                </a:tc>
                <a:tc hMerge="1">
                  <a:txBody>
                    <a:bodyPr/>
                    <a:lstStyle/>
                    <a:p>
                      <a:pPr latinLnBrk="1"/>
                      <a:endParaRPr lang="ko-KR" altLang="en-US"/>
                    </a:p>
                  </a:txBody>
                  <a:tcPr/>
                </a:tc>
                <a:extLst>
                  <a:ext uri="{0D108BD9-81ED-4DB2-BD59-A6C34878D82A}">
                    <a16:rowId xmlns:a16="http://schemas.microsoft.com/office/drawing/2014/main" val="10005"/>
                  </a:ext>
                </a:extLst>
              </a:tr>
              <a:tr h="107147">
                <a:tc>
                  <a:txBody>
                    <a:bodyPr/>
                    <a:lstStyle/>
                    <a:p>
                      <a:pPr marL="0" marR="0" indent="0" algn="ctr" fontAlgn="base" latinLnBrk="0">
                        <a:lnSpc>
                          <a:spcPct val="100000"/>
                        </a:lnSpc>
                        <a:spcBef>
                          <a:spcPts val="0"/>
                        </a:spcBef>
                        <a:spcAft>
                          <a:spcPts val="0"/>
                        </a:spcAft>
                      </a:pPr>
                      <a:r>
                        <a:rPr lang="ko-KR" altLang="en-US" sz="1000" kern="1200"/>
                        <a:t>특허권의 효력</a:t>
                      </a:r>
                      <a:endParaRPr lang="ko-KR" altLang="en-US" sz="1000" kern="1200">
                        <a:solidFill>
                          <a:schemeClr val="tx2"/>
                        </a:solidFill>
                        <a:latin typeface="+mn-lt"/>
                        <a:ea typeface="+mn-ea"/>
                        <a:cs typeface="+mn-cs"/>
                      </a:endParaRPr>
                    </a:p>
                  </a:txBody>
                  <a:tcPr marL="17907" marR="17907" marT="17907" marB="17907" anchor="ctr"/>
                </a:tc>
                <a:tc>
                  <a:txBody>
                    <a:bodyPr/>
                    <a:lstStyle/>
                    <a:p>
                      <a:pPr marL="31750" marR="31750" indent="0" algn="ctr" fontAlgn="base" latinLnBrk="0">
                        <a:lnSpc>
                          <a:spcPct val="100000"/>
                        </a:lnSpc>
                        <a:spcBef>
                          <a:spcPts val="0"/>
                        </a:spcBef>
                        <a:spcAft>
                          <a:spcPts val="0"/>
                        </a:spcAft>
                      </a:pPr>
                      <a:r>
                        <a:rPr lang="ko-KR" altLang="en-US" sz="1000" kern="1200" dirty="0"/>
                        <a:t>제</a:t>
                      </a:r>
                      <a:r>
                        <a:rPr lang="en-US" altLang="ko-KR" sz="1000" kern="1200" dirty="0"/>
                        <a:t>95</a:t>
                      </a:r>
                      <a:r>
                        <a:rPr lang="ko-KR" altLang="en-US" sz="1000" kern="1200" dirty="0"/>
                        <a:t>조</a:t>
                      </a:r>
                      <a:endParaRPr lang="ko-KR" altLang="en-US" sz="1000" kern="1200" dirty="0">
                        <a:solidFill>
                          <a:schemeClr val="tx2"/>
                        </a:solidFill>
                        <a:latin typeface="+mn-lt"/>
                        <a:ea typeface="+mn-ea"/>
                        <a:cs typeface="+mn-cs"/>
                      </a:endParaRPr>
                    </a:p>
                  </a:txBody>
                  <a:tcPr marL="17907" marR="17907" marT="17907" marB="17907" anchor="ctr"/>
                </a:tc>
                <a:tc>
                  <a:txBody>
                    <a:bodyPr/>
                    <a:lstStyle/>
                    <a:p>
                      <a:pPr marL="31750" marR="31750" indent="0" algn="ctr" fontAlgn="base" latinLnBrk="0">
                        <a:lnSpc>
                          <a:spcPct val="100000"/>
                        </a:lnSpc>
                        <a:spcBef>
                          <a:spcPts val="0"/>
                        </a:spcBef>
                        <a:spcAft>
                          <a:spcPts val="0"/>
                        </a:spcAft>
                      </a:pPr>
                      <a:r>
                        <a:rPr lang="ko-KR" altLang="en-US" sz="1000" kern="1200" dirty="0"/>
                        <a:t>제</a:t>
                      </a:r>
                      <a:r>
                        <a:rPr lang="en-US" altLang="ko-KR" sz="1000" kern="1200" dirty="0"/>
                        <a:t>94</a:t>
                      </a:r>
                      <a:r>
                        <a:rPr lang="ko-KR" altLang="en-US" sz="1000" kern="1200" dirty="0"/>
                        <a:t>조</a:t>
                      </a:r>
                      <a:endParaRPr lang="ko-KR" altLang="en-US" sz="10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06"/>
                  </a:ext>
                </a:extLst>
              </a:tr>
            </a:tbl>
          </a:graphicData>
        </a:graphic>
      </p:graphicFrame>
      <p:graphicFrame>
        <p:nvGraphicFramePr>
          <p:cNvPr id="5" name="표 4"/>
          <p:cNvGraphicFramePr>
            <a:graphicFrameLocks noGrp="1"/>
          </p:cNvGraphicFramePr>
          <p:nvPr/>
        </p:nvGraphicFramePr>
        <p:xfrm>
          <a:off x="339837" y="2953665"/>
          <a:ext cx="11518788" cy="3692992"/>
        </p:xfrm>
        <a:graphic>
          <a:graphicData uri="http://schemas.openxmlformats.org/drawingml/2006/table">
            <a:tbl>
              <a:tblPr>
                <a:tableStyleId>{8799B23B-EC83-4686-B30A-512413B5E67A}</a:tableStyleId>
              </a:tblPr>
              <a:tblGrid>
                <a:gridCol w="351279">
                  <a:extLst>
                    <a:ext uri="{9D8B030D-6E8A-4147-A177-3AD203B41FA5}">
                      <a16:colId xmlns:a16="http://schemas.microsoft.com/office/drawing/2014/main" val="20000"/>
                    </a:ext>
                  </a:extLst>
                </a:gridCol>
                <a:gridCol w="5284382">
                  <a:extLst>
                    <a:ext uri="{9D8B030D-6E8A-4147-A177-3AD203B41FA5}">
                      <a16:colId xmlns:a16="http://schemas.microsoft.com/office/drawing/2014/main" val="20001"/>
                    </a:ext>
                  </a:extLst>
                </a:gridCol>
                <a:gridCol w="5883127">
                  <a:extLst>
                    <a:ext uri="{9D8B030D-6E8A-4147-A177-3AD203B41FA5}">
                      <a16:colId xmlns:a16="http://schemas.microsoft.com/office/drawing/2014/main" val="20002"/>
                    </a:ext>
                  </a:extLst>
                </a:gridCol>
              </a:tblGrid>
              <a:tr h="179024">
                <a:tc>
                  <a:txBody>
                    <a:bodyPr/>
                    <a:lstStyle/>
                    <a:p>
                      <a:pPr marL="0" marR="0" indent="0" algn="ctr" fontAlgn="base" latinLnBrk="0">
                        <a:lnSpc>
                          <a:spcPct val="100000"/>
                        </a:lnSpc>
                        <a:spcBef>
                          <a:spcPts val="0"/>
                        </a:spcBef>
                        <a:spcAft>
                          <a:spcPts val="0"/>
                        </a:spcAft>
                      </a:pPr>
                      <a:r>
                        <a:rPr lang="ko-KR" altLang="en-US" sz="1000" kern="1200" dirty="0">
                          <a:latin typeface="+mn-ea"/>
                          <a:ea typeface="+mn-ea"/>
                        </a:rPr>
                        <a:t>구분</a:t>
                      </a:r>
                      <a:endParaRPr lang="ko-KR" altLang="en-US" sz="1000" kern="1200" dirty="0">
                        <a:solidFill>
                          <a:schemeClr val="tx1"/>
                        </a:solidFill>
                        <a:latin typeface="+mn-ea"/>
                        <a:ea typeface="+mn-ea"/>
                        <a:cs typeface="+mn-cs"/>
                      </a:endParaRPr>
                    </a:p>
                  </a:txBody>
                  <a:tcPr marL="15858" marR="15858" marT="4384" marB="4384"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kern="1200" dirty="0">
                          <a:latin typeface="+mn-ea"/>
                          <a:ea typeface="+mn-ea"/>
                        </a:rPr>
                        <a:t>허가 등에 따른 존속기간 연장</a:t>
                      </a:r>
                      <a:endParaRPr lang="ko-KR" altLang="en-US" sz="1000" kern="1200" dirty="0">
                        <a:solidFill>
                          <a:schemeClr val="tx1"/>
                        </a:solidFill>
                        <a:latin typeface="+mn-ea"/>
                        <a:ea typeface="+mn-ea"/>
                        <a:cs typeface="+mn-cs"/>
                      </a:endParaRPr>
                    </a:p>
                  </a:txBody>
                  <a:tcPr marL="15858" marR="15858" marT="4384" marB="4384"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kern="1200" dirty="0">
                          <a:latin typeface="+mn-ea"/>
                          <a:ea typeface="+mn-ea"/>
                        </a:rPr>
                        <a:t>등록지연에 따른 존속기간 연장</a:t>
                      </a:r>
                      <a:endParaRPr lang="ko-KR" altLang="en-US" sz="1000" kern="1200" dirty="0">
                        <a:solidFill>
                          <a:schemeClr val="tx1"/>
                        </a:solidFill>
                        <a:latin typeface="+mn-ea"/>
                        <a:ea typeface="+mn-ea"/>
                        <a:cs typeface="+mn-cs"/>
                      </a:endParaRPr>
                    </a:p>
                  </a:txBody>
                  <a:tcPr marL="15858" marR="15858" marT="4384" marB="4384" anchor="ctr">
                    <a:solidFill>
                      <a:schemeClr val="accent1">
                        <a:lumMod val="20000"/>
                        <a:lumOff val="80000"/>
                      </a:schemeClr>
                    </a:solidFill>
                  </a:tcPr>
                </a:tc>
                <a:extLst>
                  <a:ext uri="{0D108BD9-81ED-4DB2-BD59-A6C34878D82A}">
                    <a16:rowId xmlns:a16="http://schemas.microsoft.com/office/drawing/2014/main" val="10000"/>
                  </a:ext>
                </a:extLst>
              </a:tr>
              <a:tr h="3429476">
                <a:tc>
                  <a:txBody>
                    <a:bodyPr/>
                    <a:lstStyle/>
                    <a:p>
                      <a:pPr marL="0" marR="0" indent="0" algn="ctr" fontAlgn="base" latinLnBrk="0">
                        <a:lnSpc>
                          <a:spcPct val="100000"/>
                        </a:lnSpc>
                        <a:spcBef>
                          <a:spcPts val="0"/>
                        </a:spcBef>
                        <a:spcAft>
                          <a:spcPts val="0"/>
                        </a:spcAft>
                      </a:pPr>
                      <a:r>
                        <a:rPr lang="ko-KR" altLang="en-US" sz="1000" kern="1200">
                          <a:latin typeface="+mn-ea"/>
                          <a:ea typeface="+mn-ea"/>
                        </a:rPr>
                        <a:t>의의</a:t>
                      </a:r>
                      <a:endParaRPr lang="ko-KR" altLang="en-US" sz="1000" kern="1200">
                        <a:solidFill>
                          <a:schemeClr val="tx1"/>
                        </a:solidFill>
                        <a:latin typeface="+mn-ea"/>
                        <a:ea typeface="+mn-ea"/>
                        <a:cs typeface="+mn-cs"/>
                      </a:endParaRPr>
                    </a:p>
                  </a:txBody>
                  <a:tcPr marL="15858" marR="15858" marT="4384" marB="4384" anchor="ctr"/>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000" b="1" kern="1200" dirty="0">
                          <a:latin typeface="+mn-ea"/>
                          <a:ea typeface="+mn-ea"/>
                        </a:rPr>
                        <a:t>제</a:t>
                      </a:r>
                      <a:r>
                        <a:rPr lang="en-US" altLang="ko-KR" sz="1000" b="1" kern="1200" dirty="0">
                          <a:latin typeface="+mn-ea"/>
                          <a:ea typeface="+mn-ea"/>
                        </a:rPr>
                        <a:t>89</a:t>
                      </a:r>
                      <a:r>
                        <a:rPr lang="ko-KR" altLang="en-US" sz="1000" b="1" kern="1200" dirty="0">
                          <a:latin typeface="+mn-ea"/>
                          <a:ea typeface="+mn-ea"/>
                        </a:rPr>
                        <a:t>조</a:t>
                      </a:r>
                      <a:r>
                        <a:rPr lang="en-US" altLang="ko-KR" sz="1000" b="1" kern="1200" dirty="0">
                          <a:latin typeface="+mn-ea"/>
                          <a:ea typeface="+mn-ea"/>
                        </a:rPr>
                        <a:t>【</a:t>
                      </a:r>
                      <a:r>
                        <a:rPr lang="ko-KR" altLang="en-US" sz="1000" b="1" kern="1200" dirty="0">
                          <a:latin typeface="+mn-ea"/>
                          <a:ea typeface="+mn-ea"/>
                        </a:rPr>
                        <a:t>허가 등에 따른 특허권의 존속기간의 연장</a:t>
                      </a:r>
                      <a:r>
                        <a:rPr lang="en-US" altLang="ko-KR" sz="1000" b="1" kern="1200" dirty="0">
                          <a:latin typeface="+mn-ea"/>
                          <a:ea typeface="+mn-ea"/>
                        </a:rPr>
                        <a:t>】</a:t>
                      </a:r>
                      <a:endParaRPr lang="ko-KR" altLang="en-US" sz="1000" b="1" kern="1200" dirty="0">
                        <a:latin typeface="+mn-ea"/>
                        <a:ea typeface="+mn-ea"/>
                      </a:endParaRPr>
                    </a:p>
                    <a:p>
                      <a:pPr marL="157480" marR="0" indent="-15748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① </a:t>
                      </a:r>
                      <a:r>
                        <a:rPr lang="en-US" altLang="ko-KR" sz="1000" b="1" kern="1200" dirty="0">
                          <a:latin typeface="+mn-ea"/>
                          <a:ea typeface="+mn-ea"/>
                        </a:rPr>
                        <a:t>(</a:t>
                      </a:r>
                      <a:r>
                        <a:rPr lang="ko-KR" altLang="en-US" sz="1000" b="1" kern="1200" dirty="0">
                          <a:latin typeface="+mn-ea"/>
                          <a:ea typeface="+mn-ea"/>
                        </a:rPr>
                        <a:t>의의</a:t>
                      </a:r>
                      <a:r>
                        <a:rPr lang="en-US" altLang="ko-KR" sz="1000" b="1" kern="1200" dirty="0">
                          <a:latin typeface="+mn-ea"/>
                          <a:ea typeface="+mn-ea"/>
                        </a:rPr>
                        <a:t>) </a:t>
                      </a:r>
                      <a:r>
                        <a:rPr lang="ko-KR" altLang="en-US" sz="1000" kern="1200" dirty="0">
                          <a:latin typeface="+mn-ea"/>
                          <a:ea typeface="+mn-ea"/>
                        </a:rPr>
                        <a:t>특허발명을 실시하기 위하여 다른 법령에 따라 허가를 받거나 등록 등을 하여야 하고</a:t>
                      </a:r>
                      <a:r>
                        <a:rPr lang="en-US" altLang="ko-KR" sz="1000" kern="1200" dirty="0">
                          <a:latin typeface="+mn-ea"/>
                          <a:ea typeface="+mn-ea"/>
                        </a:rPr>
                        <a:t>, </a:t>
                      </a:r>
                      <a:r>
                        <a:rPr lang="ko-KR" altLang="en-US" sz="1000" kern="1200" dirty="0">
                          <a:latin typeface="+mn-ea"/>
                          <a:ea typeface="+mn-ea"/>
                        </a:rPr>
                        <a:t>그 허가 또는 등록 등</a:t>
                      </a:r>
                      <a:r>
                        <a:rPr lang="en-US" altLang="ko-KR" sz="1000" kern="1200" dirty="0">
                          <a:latin typeface="+mn-ea"/>
                          <a:ea typeface="+mn-ea"/>
                        </a:rPr>
                        <a:t>(</a:t>
                      </a:r>
                      <a:r>
                        <a:rPr lang="ko-KR" altLang="en-US" sz="1000" kern="1200" dirty="0">
                          <a:latin typeface="+mn-ea"/>
                          <a:ea typeface="+mn-ea"/>
                        </a:rPr>
                        <a:t>이하 </a:t>
                      </a:r>
                      <a:r>
                        <a:rPr lang="en-US" altLang="ko-KR" sz="1000" kern="1200" dirty="0">
                          <a:latin typeface="+mn-ea"/>
                          <a:ea typeface="+mn-ea"/>
                        </a:rPr>
                        <a:t>"</a:t>
                      </a:r>
                      <a:r>
                        <a:rPr lang="ko-KR" altLang="en-US" sz="1000" kern="1200" dirty="0">
                          <a:latin typeface="+mn-ea"/>
                          <a:ea typeface="+mn-ea"/>
                        </a:rPr>
                        <a:t>허가 등</a:t>
                      </a:r>
                      <a:r>
                        <a:rPr lang="en-US" altLang="ko-KR" sz="1000" kern="1200" dirty="0">
                          <a:latin typeface="+mn-ea"/>
                          <a:ea typeface="+mn-ea"/>
                        </a:rPr>
                        <a:t>"</a:t>
                      </a:r>
                      <a:r>
                        <a:rPr lang="ko-KR" altLang="en-US" sz="1000" kern="1200" dirty="0">
                          <a:latin typeface="+mn-ea"/>
                          <a:ea typeface="+mn-ea"/>
                        </a:rPr>
                        <a:t>이라 한다</a:t>
                      </a:r>
                      <a:r>
                        <a:rPr lang="en-US" altLang="ko-KR" sz="1000" kern="1200" dirty="0">
                          <a:latin typeface="+mn-ea"/>
                          <a:ea typeface="+mn-ea"/>
                        </a:rPr>
                        <a:t>)</a:t>
                      </a:r>
                      <a:r>
                        <a:rPr lang="ko-KR" altLang="en-US" sz="1000" kern="1200" dirty="0">
                          <a:latin typeface="+mn-ea"/>
                          <a:ea typeface="+mn-ea"/>
                        </a:rPr>
                        <a:t>을 위하여 필요한 유효성</a:t>
                      </a:r>
                      <a:r>
                        <a:rPr lang="en-US" altLang="ko-KR" sz="1000" kern="1200" dirty="0">
                          <a:latin typeface="+mn-ea"/>
                          <a:ea typeface="+mn-ea"/>
                        </a:rPr>
                        <a:t>·</a:t>
                      </a:r>
                      <a:r>
                        <a:rPr lang="ko-KR" altLang="en-US" sz="1000" kern="1200" dirty="0">
                          <a:latin typeface="+mn-ea"/>
                          <a:ea typeface="+mn-ea"/>
                        </a:rPr>
                        <a:t>안전성 등의 시험으로 인하여 장기간이 소요되는 대통령령으로 정하는 발명인 경우에는 제</a:t>
                      </a:r>
                      <a:r>
                        <a:rPr lang="en-US" altLang="ko-KR" sz="1000" kern="1200" dirty="0">
                          <a:latin typeface="+mn-ea"/>
                          <a:ea typeface="+mn-ea"/>
                        </a:rPr>
                        <a:t>88</a:t>
                      </a:r>
                      <a:r>
                        <a:rPr lang="ko-KR" altLang="en-US" sz="1000" kern="1200" dirty="0">
                          <a:latin typeface="+mn-ea"/>
                          <a:ea typeface="+mn-ea"/>
                        </a:rPr>
                        <a:t>조제</a:t>
                      </a:r>
                      <a:r>
                        <a:rPr lang="en-US" altLang="ko-KR" sz="1000" kern="1200" dirty="0">
                          <a:latin typeface="+mn-ea"/>
                          <a:ea typeface="+mn-ea"/>
                        </a:rPr>
                        <a:t>1</a:t>
                      </a:r>
                      <a:r>
                        <a:rPr lang="ko-KR" altLang="en-US" sz="1000" kern="1200" dirty="0">
                          <a:latin typeface="+mn-ea"/>
                          <a:ea typeface="+mn-ea"/>
                        </a:rPr>
                        <a:t>항에도 불구하고 그 실시할 수 없었던 기간에 대하여 </a:t>
                      </a:r>
                      <a:r>
                        <a:rPr lang="en-US" altLang="ko-KR" sz="1000" kern="1200" dirty="0">
                          <a:latin typeface="+mn-ea"/>
                          <a:ea typeface="+mn-ea"/>
                        </a:rPr>
                        <a:t>5</a:t>
                      </a:r>
                      <a:r>
                        <a:rPr lang="ko-KR" altLang="en-US" sz="1000" kern="1200" dirty="0">
                          <a:latin typeface="+mn-ea"/>
                          <a:ea typeface="+mn-ea"/>
                        </a:rPr>
                        <a:t>년의 기간까지 그 특허권의 존속기간</a:t>
                      </a:r>
                      <a:r>
                        <a:rPr lang="en-US" altLang="ko-KR" sz="1000" kern="1200" dirty="0">
                          <a:latin typeface="+mn-ea"/>
                          <a:ea typeface="+mn-ea"/>
                        </a:rPr>
                        <a:t>(</a:t>
                      </a:r>
                      <a:r>
                        <a:rPr lang="ko-KR" altLang="en-US" sz="1000" kern="1200" dirty="0">
                          <a:latin typeface="+mn-ea"/>
                          <a:ea typeface="+mn-ea"/>
                        </a:rPr>
                        <a:t>제</a:t>
                      </a:r>
                      <a:r>
                        <a:rPr lang="en-US" altLang="ko-KR" sz="1000" kern="1200" dirty="0">
                          <a:latin typeface="+mn-ea"/>
                          <a:ea typeface="+mn-ea"/>
                        </a:rPr>
                        <a:t>92</a:t>
                      </a:r>
                      <a:r>
                        <a:rPr lang="ko-KR" altLang="en-US" sz="1000" kern="1200" dirty="0">
                          <a:latin typeface="+mn-ea"/>
                          <a:ea typeface="+mn-ea"/>
                        </a:rPr>
                        <a:t>조의</a:t>
                      </a:r>
                      <a:r>
                        <a:rPr lang="en-US" altLang="ko-KR" sz="1000" kern="1200" dirty="0">
                          <a:latin typeface="+mn-ea"/>
                          <a:ea typeface="+mn-ea"/>
                        </a:rPr>
                        <a:t>5</a:t>
                      </a:r>
                      <a:r>
                        <a:rPr lang="ko-KR" altLang="en-US" sz="1000" kern="1200" dirty="0">
                          <a:latin typeface="+mn-ea"/>
                          <a:ea typeface="+mn-ea"/>
                        </a:rPr>
                        <a:t>제</a:t>
                      </a:r>
                      <a:r>
                        <a:rPr lang="en-US" altLang="ko-KR" sz="1000" kern="1200" dirty="0">
                          <a:latin typeface="+mn-ea"/>
                          <a:ea typeface="+mn-ea"/>
                        </a:rPr>
                        <a:t>2</a:t>
                      </a:r>
                      <a:r>
                        <a:rPr lang="ko-KR" altLang="en-US" sz="1000" kern="1200" dirty="0">
                          <a:latin typeface="+mn-ea"/>
                          <a:ea typeface="+mn-ea"/>
                        </a:rPr>
                        <a:t>항에 따라 특허권의 존속기간의 연장이 등록된 경우에는 그 연장된 </a:t>
                      </a:r>
                      <a:r>
                        <a:rPr lang="ko-KR" altLang="en-US" sz="1000" kern="1200" dirty="0" err="1">
                          <a:latin typeface="+mn-ea"/>
                          <a:ea typeface="+mn-ea"/>
                        </a:rPr>
                        <a:t>날까지를</a:t>
                      </a:r>
                      <a:r>
                        <a:rPr lang="ko-KR" altLang="en-US" sz="1000" kern="1200" dirty="0">
                          <a:latin typeface="+mn-ea"/>
                          <a:ea typeface="+mn-ea"/>
                        </a:rPr>
                        <a:t> 말한다</a:t>
                      </a:r>
                      <a:r>
                        <a:rPr lang="en-US" altLang="ko-KR" sz="1000" kern="1200" dirty="0">
                          <a:latin typeface="+mn-ea"/>
                          <a:ea typeface="+mn-ea"/>
                        </a:rPr>
                        <a:t>)</a:t>
                      </a:r>
                      <a:r>
                        <a:rPr lang="ko-KR" altLang="en-US" sz="1000" kern="1200" dirty="0">
                          <a:latin typeface="+mn-ea"/>
                          <a:ea typeface="+mn-ea"/>
                        </a:rPr>
                        <a:t>을 한 차례만 연장할 수 있다</a:t>
                      </a:r>
                      <a:r>
                        <a:rPr lang="en-US" altLang="ko-KR" sz="1000" kern="1200" dirty="0">
                          <a:latin typeface="+mn-ea"/>
                          <a:ea typeface="+mn-ea"/>
                        </a:rPr>
                        <a:t>. </a:t>
                      </a:r>
                      <a:r>
                        <a:rPr lang="ko-KR" altLang="en-US" sz="1000" kern="1200" dirty="0">
                          <a:latin typeface="+mn-ea"/>
                          <a:ea typeface="+mn-ea"/>
                        </a:rPr>
                        <a:t>다만</a:t>
                      </a:r>
                      <a:r>
                        <a:rPr lang="en-US" altLang="ko-KR" sz="1000" kern="1200" dirty="0">
                          <a:latin typeface="+mn-ea"/>
                          <a:ea typeface="+mn-ea"/>
                        </a:rPr>
                        <a:t>, </a:t>
                      </a:r>
                      <a:r>
                        <a:rPr lang="ko-KR" altLang="en-US" sz="1000" kern="1200" dirty="0" err="1">
                          <a:latin typeface="+mn-ea"/>
                          <a:ea typeface="+mn-ea"/>
                        </a:rPr>
                        <a:t>허가등을</a:t>
                      </a:r>
                      <a:r>
                        <a:rPr lang="ko-KR" altLang="en-US" sz="1000" kern="1200" dirty="0">
                          <a:latin typeface="+mn-ea"/>
                          <a:ea typeface="+mn-ea"/>
                        </a:rPr>
                        <a:t> 받은 날부터 </a:t>
                      </a:r>
                      <a:r>
                        <a:rPr lang="en-US" altLang="ko-KR" sz="1000" kern="1200" dirty="0">
                          <a:latin typeface="+mn-ea"/>
                          <a:ea typeface="+mn-ea"/>
                        </a:rPr>
                        <a:t>14</a:t>
                      </a:r>
                      <a:r>
                        <a:rPr lang="ko-KR" altLang="en-US" sz="1000" kern="1200" dirty="0">
                          <a:latin typeface="+mn-ea"/>
                          <a:ea typeface="+mn-ea"/>
                        </a:rPr>
                        <a:t>년을 초과하여 연장할 수 없다</a:t>
                      </a:r>
                      <a:r>
                        <a:rPr lang="en-US" altLang="ko-KR" sz="1000" kern="1200" dirty="0">
                          <a:latin typeface="+mn-ea"/>
                          <a:ea typeface="+mn-ea"/>
                        </a:rPr>
                        <a:t>.</a:t>
                      </a:r>
                      <a:endParaRPr lang="ko-KR" altLang="en-US" sz="1000" kern="1200" dirty="0">
                        <a:latin typeface="+mn-ea"/>
                        <a:ea typeface="+mn-ea"/>
                      </a:endParaRPr>
                    </a:p>
                    <a:p>
                      <a:pPr marL="153670" marR="0" indent="-15367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② </a:t>
                      </a:r>
                      <a:r>
                        <a:rPr lang="en-US" altLang="ko-KR" sz="1000" b="1" kern="1200" dirty="0">
                          <a:latin typeface="+mn-ea"/>
                          <a:ea typeface="+mn-ea"/>
                        </a:rPr>
                        <a:t>(</a:t>
                      </a:r>
                      <a:r>
                        <a:rPr lang="ko-KR" altLang="en-US" sz="1000" b="1" kern="1200" dirty="0">
                          <a:latin typeface="+mn-ea"/>
                          <a:ea typeface="+mn-ea"/>
                        </a:rPr>
                        <a:t>연장기간</a:t>
                      </a:r>
                      <a:r>
                        <a:rPr lang="en-US" altLang="ko-KR" sz="1000" b="1" kern="1200" dirty="0">
                          <a:latin typeface="+mn-ea"/>
                          <a:ea typeface="+mn-ea"/>
                        </a:rPr>
                        <a:t>) </a:t>
                      </a:r>
                      <a:r>
                        <a:rPr lang="ko-KR" altLang="en-US" sz="1000" kern="1200" dirty="0">
                          <a:latin typeface="+mn-ea"/>
                          <a:ea typeface="+mn-ea"/>
                        </a:rPr>
                        <a:t>제</a:t>
                      </a:r>
                      <a:r>
                        <a:rPr lang="en-US" altLang="ko-KR" sz="1000" kern="1200" dirty="0">
                          <a:latin typeface="+mn-ea"/>
                          <a:ea typeface="+mn-ea"/>
                        </a:rPr>
                        <a:t>1</a:t>
                      </a:r>
                      <a:r>
                        <a:rPr lang="ko-KR" altLang="en-US" sz="1000" kern="1200" dirty="0">
                          <a:latin typeface="+mn-ea"/>
                          <a:ea typeface="+mn-ea"/>
                        </a:rPr>
                        <a:t>항을 적용할 때 허가 등을 받은 자에게 </a:t>
                      </a:r>
                      <a:r>
                        <a:rPr lang="ko-KR" altLang="en-US" sz="1000" kern="1200" dirty="0" err="1">
                          <a:latin typeface="+mn-ea"/>
                          <a:ea typeface="+mn-ea"/>
                        </a:rPr>
                        <a:t>책임있는</a:t>
                      </a:r>
                      <a:r>
                        <a:rPr lang="ko-KR" altLang="en-US" sz="1000" kern="1200" dirty="0">
                          <a:latin typeface="+mn-ea"/>
                          <a:ea typeface="+mn-ea"/>
                        </a:rPr>
                        <a:t> 사유로 소요된 기간은 제</a:t>
                      </a:r>
                      <a:r>
                        <a:rPr lang="en-US" altLang="ko-KR" sz="1000" kern="1200" dirty="0">
                          <a:latin typeface="+mn-ea"/>
                          <a:ea typeface="+mn-ea"/>
                        </a:rPr>
                        <a:t>1</a:t>
                      </a:r>
                      <a:r>
                        <a:rPr lang="ko-KR" altLang="en-US" sz="1000" kern="1200" dirty="0">
                          <a:latin typeface="+mn-ea"/>
                          <a:ea typeface="+mn-ea"/>
                        </a:rPr>
                        <a:t>항의 </a:t>
                      </a:r>
                      <a:r>
                        <a:rPr lang="en-US" altLang="ko-KR" sz="1000" kern="1200" dirty="0">
                          <a:latin typeface="+mn-ea"/>
                          <a:ea typeface="+mn-ea"/>
                        </a:rPr>
                        <a:t>"</a:t>
                      </a:r>
                      <a:r>
                        <a:rPr lang="ko-KR" altLang="en-US" sz="1000" kern="1200" dirty="0">
                          <a:latin typeface="+mn-ea"/>
                          <a:ea typeface="+mn-ea"/>
                        </a:rPr>
                        <a:t>실시할 수 없었던 기간</a:t>
                      </a:r>
                      <a:r>
                        <a:rPr lang="en-US" altLang="ko-KR" sz="1000" kern="1200" dirty="0">
                          <a:latin typeface="+mn-ea"/>
                          <a:ea typeface="+mn-ea"/>
                        </a:rPr>
                        <a:t>"</a:t>
                      </a:r>
                      <a:r>
                        <a:rPr lang="ko-KR" altLang="en-US" sz="1000" kern="1200" dirty="0">
                          <a:latin typeface="+mn-ea"/>
                          <a:ea typeface="+mn-ea"/>
                        </a:rPr>
                        <a:t>에 포함되지 아니한다</a:t>
                      </a:r>
                      <a:r>
                        <a:rPr lang="en-US" altLang="ko-KR" sz="1000" kern="1200" dirty="0">
                          <a:latin typeface="+mn-ea"/>
                          <a:ea typeface="+mn-ea"/>
                        </a:rPr>
                        <a:t>.</a:t>
                      </a:r>
                      <a:endParaRPr lang="ko-KR" altLang="en-US" sz="1000" kern="1200" dirty="0">
                        <a:solidFill>
                          <a:schemeClr val="tx1"/>
                        </a:solidFill>
                        <a:latin typeface="+mn-ea"/>
                        <a:ea typeface="+mn-ea"/>
                        <a:cs typeface="+mn-cs"/>
                      </a:endParaRPr>
                    </a:p>
                  </a:txBody>
                  <a:tcPr marL="15858" marR="15858" marT="4384" marB="4384"/>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000" b="1" kern="1200" dirty="0">
                          <a:latin typeface="+mn-ea"/>
                          <a:ea typeface="+mn-ea"/>
                        </a:rPr>
                        <a:t>제</a:t>
                      </a:r>
                      <a:r>
                        <a:rPr lang="en-US" altLang="ko-KR" sz="1000" b="1" kern="1200" dirty="0">
                          <a:latin typeface="+mn-ea"/>
                          <a:ea typeface="+mn-ea"/>
                        </a:rPr>
                        <a:t>92</a:t>
                      </a:r>
                      <a:r>
                        <a:rPr lang="ko-KR" altLang="en-US" sz="1000" b="1" kern="1200" dirty="0">
                          <a:latin typeface="+mn-ea"/>
                          <a:ea typeface="+mn-ea"/>
                        </a:rPr>
                        <a:t>조의</a:t>
                      </a:r>
                      <a:r>
                        <a:rPr lang="en-US" altLang="ko-KR" sz="1000" b="1" kern="1200" dirty="0">
                          <a:latin typeface="+mn-ea"/>
                          <a:ea typeface="+mn-ea"/>
                        </a:rPr>
                        <a:t>2【</a:t>
                      </a:r>
                      <a:r>
                        <a:rPr lang="ko-KR" altLang="en-US" sz="1000" b="1" kern="1200" dirty="0">
                          <a:latin typeface="+mn-ea"/>
                          <a:ea typeface="+mn-ea"/>
                        </a:rPr>
                        <a:t>등록지연에 따른 특허권의 존속기간의 연장</a:t>
                      </a:r>
                      <a:r>
                        <a:rPr lang="en-US" altLang="ko-KR" sz="1000" b="1" kern="1200" dirty="0">
                          <a:latin typeface="+mn-ea"/>
                          <a:ea typeface="+mn-ea"/>
                        </a:rPr>
                        <a:t>】</a:t>
                      </a:r>
                      <a:endParaRPr lang="ko-KR" altLang="en-US" sz="1000" b="1" kern="1200" dirty="0">
                        <a:latin typeface="+mn-ea"/>
                        <a:ea typeface="+mn-ea"/>
                      </a:endParaRPr>
                    </a:p>
                    <a:p>
                      <a:pPr marL="161290" marR="0" indent="-16129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① </a:t>
                      </a:r>
                      <a:r>
                        <a:rPr lang="en-US" altLang="ko-KR" sz="1000" b="1" kern="1200" dirty="0">
                          <a:latin typeface="+mn-ea"/>
                          <a:ea typeface="+mn-ea"/>
                        </a:rPr>
                        <a:t>(</a:t>
                      </a:r>
                      <a:r>
                        <a:rPr lang="ko-KR" altLang="en-US" sz="1000" b="1" kern="1200" dirty="0">
                          <a:latin typeface="+mn-ea"/>
                          <a:ea typeface="+mn-ea"/>
                        </a:rPr>
                        <a:t>의의</a:t>
                      </a:r>
                      <a:r>
                        <a:rPr lang="en-US" altLang="ko-KR" sz="1000" b="1" kern="1200" dirty="0">
                          <a:latin typeface="+mn-ea"/>
                          <a:ea typeface="+mn-ea"/>
                        </a:rPr>
                        <a:t>)</a:t>
                      </a:r>
                      <a:r>
                        <a:rPr lang="en-US" altLang="ko-KR" sz="1000" kern="1200" dirty="0">
                          <a:latin typeface="+mn-ea"/>
                          <a:ea typeface="+mn-ea"/>
                        </a:rPr>
                        <a:t> </a:t>
                      </a:r>
                      <a:r>
                        <a:rPr lang="ko-KR" altLang="en-US" sz="1000" kern="1200" dirty="0">
                          <a:latin typeface="+mn-ea"/>
                          <a:ea typeface="+mn-ea"/>
                        </a:rPr>
                        <a:t>특허출원에 대하여 </a:t>
                      </a:r>
                      <a:r>
                        <a:rPr lang="ko-KR" altLang="en-US" sz="1000" kern="1200" dirty="0" err="1">
                          <a:latin typeface="+mn-ea"/>
                          <a:ea typeface="+mn-ea"/>
                        </a:rPr>
                        <a:t>특허출원일부터</a:t>
                      </a:r>
                      <a:r>
                        <a:rPr lang="ko-KR" altLang="en-US" sz="1000" kern="1200" dirty="0">
                          <a:latin typeface="+mn-ea"/>
                          <a:ea typeface="+mn-ea"/>
                        </a:rPr>
                        <a:t> </a:t>
                      </a:r>
                      <a:r>
                        <a:rPr lang="en-US" altLang="ko-KR" sz="1000" kern="1200" dirty="0">
                          <a:latin typeface="+mn-ea"/>
                          <a:ea typeface="+mn-ea"/>
                        </a:rPr>
                        <a:t>4</a:t>
                      </a:r>
                      <a:r>
                        <a:rPr lang="ko-KR" altLang="en-US" sz="1000" kern="1200" dirty="0">
                          <a:latin typeface="+mn-ea"/>
                          <a:ea typeface="+mn-ea"/>
                        </a:rPr>
                        <a:t>년과 출원심사 </a:t>
                      </a:r>
                      <a:r>
                        <a:rPr lang="ko-KR" altLang="en-US" sz="1000" kern="1200" dirty="0" err="1">
                          <a:latin typeface="+mn-ea"/>
                          <a:ea typeface="+mn-ea"/>
                        </a:rPr>
                        <a:t>청구일부터</a:t>
                      </a:r>
                      <a:r>
                        <a:rPr lang="ko-KR" altLang="en-US" sz="1000" kern="1200" dirty="0">
                          <a:latin typeface="+mn-ea"/>
                          <a:ea typeface="+mn-ea"/>
                        </a:rPr>
                        <a:t> </a:t>
                      </a:r>
                      <a:r>
                        <a:rPr lang="en-US" altLang="ko-KR" sz="1000" kern="1200" dirty="0">
                          <a:latin typeface="+mn-ea"/>
                          <a:ea typeface="+mn-ea"/>
                        </a:rPr>
                        <a:t>3</a:t>
                      </a:r>
                      <a:r>
                        <a:rPr lang="ko-KR" altLang="en-US" sz="1000" kern="1200" dirty="0">
                          <a:latin typeface="+mn-ea"/>
                          <a:ea typeface="+mn-ea"/>
                        </a:rPr>
                        <a:t>년 중 늦은 날보다 지연되어 특허권의 설정등록이 이루어지는 경우에는 제</a:t>
                      </a:r>
                      <a:r>
                        <a:rPr lang="en-US" altLang="ko-KR" sz="1000" kern="1200" dirty="0">
                          <a:latin typeface="+mn-ea"/>
                          <a:ea typeface="+mn-ea"/>
                        </a:rPr>
                        <a:t>88</a:t>
                      </a:r>
                      <a:r>
                        <a:rPr lang="ko-KR" altLang="en-US" sz="1000" kern="1200" dirty="0">
                          <a:latin typeface="+mn-ea"/>
                          <a:ea typeface="+mn-ea"/>
                        </a:rPr>
                        <a:t>조제</a:t>
                      </a:r>
                      <a:r>
                        <a:rPr lang="en-US" altLang="ko-KR" sz="1000" kern="1200" dirty="0">
                          <a:latin typeface="+mn-ea"/>
                          <a:ea typeface="+mn-ea"/>
                        </a:rPr>
                        <a:t>1</a:t>
                      </a:r>
                      <a:r>
                        <a:rPr lang="ko-KR" altLang="en-US" sz="1000" kern="1200" dirty="0">
                          <a:latin typeface="+mn-ea"/>
                          <a:ea typeface="+mn-ea"/>
                        </a:rPr>
                        <a:t>항에도 불구하고 그 지연된 기간만큼 해당 특허권의 존속기간을 연장할 수 있다</a:t>
                      </a:r>
                      <a:r>
                        <a:rPr lang="en-US" altLang="ko-KR" sz="1000" kern="1200" dirty="0">
                          <a:latin typeface="+mn-ea"/>
                          <a:ea typeface="+mn-ea"/>
                        </a:rPr>
                        <a:t>.</a:t>
                      </a:r>
                      <a:endParaRPr lang="ko-KR" altLang="en-US" sz="1000" kern="1200" dirty="0">
                        <a:latin typeface="+mn-ea"/>
                        <a:ea typeface="+mn-ea"/>
                      </a:endParaRPr>
                    </a:p>
                    <a:p>
                      <a:pPr marL="157480" marR="0" indent="-15748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57480" marR="0" indent="-15748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57480" marR="0" indent="-15748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57480" marR="0" indent="-15748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② </a:t>
                      </a:r>
                      <a:r>
                        <a:rPr lang="en-US" altLang="ko-KR" sz="1000" b="1" kern="1200" dirty="0">
                          <a:latin typeface="+mn-ea"/>
                          <a:ea typeface="+mn-ea"/>
                        </a:rPr>
                        <a:t>(</a:t>
                      </a:r>
                      <a:r>
                        <a:rPr lang="ko-KR" altLang="en-US" sz="1000" b="1" kern="1200" dirty="0">
                          <a:latin typeface="+mn-ea"/>
                          <a:ea typeface="+mn-ea"/>
                        </a:rPr>
                        <a:t>연장기간</a:t>
                      </a:r>
                      <a:r>
                        <a:rPr lang="en-US" altLang="ko-KR" sz="1000" b="1" kern="1200" dirty="0">
                          <a:latin typeface="+mn-ea"/>
                          <a:ea typeface="+mn-ea"/>
                        </a:rPr>
                        <a:t>: </a:t>
                      </a:r>
                      <a:r>
                        <a:rPr lang="ko-KR" altLang="en-US" sz="1000" b="1" kern="1200" dirty="0">
                          <a:latin typeface="+mn-ea"/>
                          <a:ea typeface="+mn-ea"/>
                        </a:rPr>
                        <a:t>일반</a:t>
                      </a:r>
                      <a:r>
                        <a:rPr lang="en-US" altLang="ko-KR" sz="1000" b="1" kern="1200" dirty="0">
                          <a:latin typeface="+mn-ea"/>
                          <a:ea typeface="+mn-ea"/>
                        </a:rPr>
                        <a:t>)</a:t>
                      </a:r>
                      <a:r>
                        <a:rPr lang="en-US" altLang="ko-KR" sz="1000" kern="1200" dirty="0">
                          <a:latin typeface="+mn-ea"/>
                          <a:ea typeface="+mn-ea"/>
                        </a:rPr>
                        <a:t> </a:t>
                      </a:r>
                      <a:r>
                        <a:rPr lang="ko-KR" altLang="en-US" sz="1000" kern="1200" dirty="0">
                          <a:latin typeface="+mn-ea"/>
                          <a:ea typeface="+mn-ea"/>
                        </a:rPr>
                        <a:t>제</a:t>
                      </a:r>
                      <a:r>
                        <a:rPr lang="en-US" altLang="ko-KR" sz="1000" kern="1200" dirty="0">
                          <a:latin typeface="+mn-ea"/>
                          <a:ea typeface="+mn-ea"/>
                        </a:rPr>
                        <a:t>1</a:t>
                      </a:r>
                      <a:r>
                        <a:rPr lang="ko-KR" altLang="en-US" sz="1000" kern="1200" dirty="0">
                          <a:latin typeface="+mn-ea"/>
                          <a:ea typeface="+mn-ea"/>
                        </a:rPr>
                        <a:t>항의 규정을 적용할 때 </a:t>
                      </a:r>
                      <a:r>
                        <a:rPr lang="ko-KR" altLang="en-US" sz="1000" kern="1200" dirty="0" err="1">
                          <a:latin typeface="+mn-ea"/>
                          <a:ea typeface="+mn-ea"/>
                        </a:rPr>
                        <a:t>출원인으로</a:t>
                      </a:r>
                      <a:r>
                        <a:rPr lang="ko-KR" altLang="en-US" sz="1000" kern="1200" dirty="0">
                          <a:latin typeface="+mn-ea"/>
                          <a:ea typeface="+mn-ea"/>
                        </a:rPr>
                        <a:t> 인하여 지연된 기간은 제</a:t>
                      </a:r>
                      <a:r>
                        <a:rPr lang="en-US" altLang="ko-KR" sz="1000" kern="1200" dirty="0">
                          <a:latin typeface="+mn-ea"/>
                          <a:ea typeface="+mn-ea"/>
                        </a:rPr>
                        <a:t>1</a:t>
                      </a:r>
                      <a:r>
                        <a:rPr lang="ko-KR" altLang="en-US" sz="1000" kern="1200" dirty="0">
                          <a:latin typeface="+mn-ea"/>
                          <a:ea typeface="+mn-ea"/>
                        </a:rPr>
                        <a:t>항에 따른 특허권의 존속기간의 연장에서 제외된다</a:t>
                      </a:r>
                      <a:r>
                        <a:rPr lang="en-US" altLang="ko-KR" sz="1000" kern="1200" dirty="0">
                          <a:latin typeface="+mn-ea"/>
                          <a:ea typeface="+mn-ea"/>
                        </a:rPr>
                        <a:t>. </a:t>
                      </a:r>
                      <a:r>
                        <a:rPr lang="ko-KR" altLang="en-US" sz="1000" kern="1200" dirty="0">
                          <a:latin typeface="+mn-ea"/>
                          <a:ea typeface="+mn-ea"/>
                        </a:rPr>
                        <a:t>다만</a:t>
                      </a:r>
                      <a:r>
                        <a:rPr lang="en-US" altLang="ko-KR" sz="1000" kern="1200" dirty="0">
                          <a:latin typeface="+mn-ea"/>
                          <a:ea typeface="+mn-ea"/>
                        </a:rPr>
                        <a:t>, </a:t>
                      </a:r>
                      <a:r>
                        <a:rPr lang="ko-KR" altLang="en-US" sz="1000" kern="1200" dirty="0" err="1">
                          <a:latin typeface="+mn-ea"/>
                          <a:ea typeface="+mn-ea"/>
                        </a:rPr>
                        <a:t>출원인으로</a:t>
                      </a:r>
                      <a:r>
                        <a:rPr lang="ko-KR" altLang="en-US" sz="1000" kern="1200" dirty="0">
                          <a:latin typeface="+mn-ea"/>
                          <a:ea typeface="+mn-ea"/>
                        </a:rPr>
                        <a:t> 인하여 지연된 기간이 겹치는 경우에는 특허권의 존속기간의 연장에서 제외되는 기간은 </a:t>
                      </a:r>
                      <a:r>
                        <a:rPr lang="ko-KR" altLang="en-US" sz="1000" kern="1200" dirty="0" err="1">
                          <a:latin typeface="+mn-ea"/>
                          <a:ea typeface="+mn-ea"/>
                        </a:rPr>
                        <a:t>출원인으로</a:t>
                      </a:r>
                      <a:r>
                        <a:rPr lang="ko-KR" altLang="en-US" sz="1000" kern="1200" dirty="0">
                          <a:latin typeface="+mn-ea"/>
                          <a:ea typeface="+mn-ea"/>
                        </a:rPr>
                        <a:t> 인하여 실제 지연된 기간을 초과하여서는 </a:t>
                      </a:r>
                      <a:r>
                        <a:rPr lang="ko-KR" altLang="en-US" sz="1000" kern="1200" dirty="0" err="1">
                          <a:latin typeface="+mn-ea"/>
                          <a:ea typeface="+mn-ea"/>
                        </a:rPr>
                        <a:t>아니된다</a:t>
                      </a:r>
                      <a:r>
                        <a:rPr lang="en-US" altLang="ko-KR" sz="1000" kern="1200" dirty="0">
                          <a:latin typeface="+mn-ea"/>
                          <a:ea typeface="+mn-ea"/>
                        </a:rPr>
                        <a:t>.</a:t>
                      </a:r>
                      <a:endParaRPr lang="ko-KR" altLang="en-US" sz="1000" kern="1200" dirty="0">
                        <a:latin typeface="+mn-ea"/>
                        <a:ea typeface="+mn-ea"/>
                      </a:endParaRPr>
                    </a:p>
                    <a:p>
                      <a:pPr marL="156210" marR="0" indent="-15621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③</a:t>
                      </a:r>
                      <a:r>
                        <a:rPr lang="ko-KR" altLang="en-US" sz="1000" b="1" kern="1200" dirty="0">
                          <a:latin typeface="+mn-ea"/>
                          <a:ea typeface="+mn-ea"/>
                        </a:rPr>
                        <a:t> </a:t>
                      </a:r>
                      <a:r>
                        <a:rPr lang="en-US" altLang="ko-KR" sz="1000" b="1" kern="1200" dirty="0">
                          <a:latin typeface="+mn-ea"/>
                          <a:ea typeface="+mn-ea"/>
                        </a:rPr>
                        <a:t>(</a:t>
                      </a:r>
                      <a:r>
                        <a:rPr lang="ko-KR" altLang="en-US" sz="1000" b="1" kern="1200" dirty="0">
                          <a:latin typeface="+mn-ea"/>
                          <a:ea typeface="+mn-ea"/>
                        </a:rPr>
                        <a:t>연장기간</a:t>
                      </a:r>
                      <a:r>
                        <a:rPr lang="en-US" altLang="ko-KR" sz="1000" b="1" kern="1200" dirty="0">
                          <a:latin typeface="+mn-ea"/>
                          <a:ea typeface="+mn-ea"/>
                        </a:rPr>
                        <a:t>: </a:t>
                      </a:r>
                      <a:r>
                        <a:rPr lang="ko-KR" altLang="en-US" sz="1000" b="1" kern="1200" dirty="0">
                          <a:latin typeface="+mn-ea"/>
                          <a:ea typeface="+mn-ea"/>
                        </a:rPr>
                        <a:t>지연기간</a:t>
                      </a:r>
                      <a:r>
                        <a:rPr lang="en-US" altLang="ko-KR" sz="1000" b="1" kern="1200" dirty="0">
                          <a:latin typeface="+mn-ea"/>
                          <a:ea typeface="+mn-ea"/>
                        </a:rPr>
                        <a:t>)</a:t>
                      </a:r>
                      <a:r>
                        <a:rPr lang="en-US" altLang="ko-KR" sz="1000" kern="1200" dirty="0">
                          <a:latin typeface="+mn-ea"/>
                          <a:ea typeface="+mn-ea"/>
                        </a:rPr>
                        <a:t> </a:t>
                      </a:r>
                      <a:r>
                        <a:rPr lang="ko-KR" altLang="en-US" sz="1000" kern="1200" dirty="0">
                          <a:latin typeface="+mn-ea"/>
                          <a:ea typeface="+mn-ea"/>
                        </a:rPr>
                        <a:t>제</a:t>
                      </a:r>
                      <a:r>
                        <a:rPr lang="en-US" altLang="ko-KR" sz="1000" kern="1200" dirty="0">
                          <a:latin typeface="+mn-ea"/>
                          <a:ea typeface="+mn-ea"/>
                        </a:rPr>
                        <a:t>2</a:t>
                      </a:r>
                      <a:r>
                        <a:rPr lang="ko-KR" altLang="en-US" sz="1000" kern="1200" dirty="0">
                          <a:latin typeface="+mn-ea"/>
                          <a:ea typeface="+mn-ea"/>
                        </a:rPr>
                        <a:t>항에서 </a:t>
                      </a:r>
                      <a:r>
                        <a:rPr lang="en-US" altLang="ko-KR" sz="1000" kern="1200" dirty="0">
                          <a:latin typeface="+mn-ea"/>
                          <a:ea typeface="+mn-ea"/>
                        </a:rPr>
                        <a:t>"</a:t>
                      </a:r>
                      <a:r>
                        <a:rPr lang="ko-KR" altLang="en-US" sz="1000" kern="1200" dirty="0" err="1">
                          <a:latin typeface="+mn-ea"/>
                          <a:ea typeface="+mn-ea"/>
                        </a:rPr>
                        <a:t>출원인으로</a:t>
                      </a:r>
                      <a:r>
                        <a:rPr lang="ko-KR" altLang="en-US" sz="1000" kern="1200" dirty="0">
                          <a:latin typeface="+mn-ea"/>
                          <a:ea typeface="+mn-ea"/>
                        </a:rPr>
                        <a:t> 인하여 지연된 기간</a:t>
                      </a:r>
                      <a:r>
                        <a:rPr lang="en-US" altLang="ko-KR" sz="1000" kern="1200" dirty="0">
                          <a:latin typeface="+mn-ea"/>
                          <a:ea typeface="+mn-ea"/>
                        </a:rPr>
                        <a:t>"</a:t>
                      </a:r>
                      <a:r>
                        <a:rPr lang="ko-KR" altLang="en-US" sz="1000" kern="1200" dirty="0">
                          <a:latin typeface="+mn-ea"/>
                          <a:ea typeface="+mn-ea"/>
                        </a:rPr>
                        <a:t>에 관한 사항은 대통령령으로 정한다</a:t>
                      </a:r>
                      <a:r>
                        <a:rPr lang="en-US" altLang="ko-KR" sz="1000" kern="1200" dirty="0">
                          <a:latin typeface="+mn-ea"/>
                          <a:ea typeface="+mn-ea"/>
                        </a:rPr>
                        <a:t>.</a:t>
                      </a:r>
                      <a:endParaRPr lang="ko-KR" altLang="en-US" sz="1000" kern="1200" dirty="0">
                        <a:latin typeface="+mn-ea"/>
                        <a:ea typeface="+mn-ea"/>
                      </a:endParaRPr>
                    </a:p>
                    <a:p>
                      <a:pPr marL="160020" marR="0" indent="-16002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④ </a:t>
                      </a:r>
                      <a:r>
                        <a:rPr lang="en-US" altLang="ko-KR" sz="1000" b="1" kern="1200" dirty="0">
                          <a:solidFill>
                            <a:schemeClr val="tx1"/>
                          </a:solidFill>
                          <a:latin typeface="+mn-ea"/>
                          <a:ea typeface="+mn-ea"/>
                        </a:rPr>
                        <a:t>(</a:t>
                      </a:r>
                      <a:r>
                        <a:rPr lang="ko-KR" altLang="en-US" sz="1000" b="1" kern="1200" dirty="0">
                          <a:solidFill>
                            <a:schemeClr val="tx1"/>
                          </a:solidFill>
                          <a:latin typeface="+mn-ea"/>
                          <a:ea typeface="+mn-ea"/>
                        </a:rPr>
                        <a:t>연장기간</a:t>
                      </a:r>
                      <a:r>
                        <a:rPr lang="en-US" altLang="ko-KR" sz="1000" b="1" kern="1200" dirty="0">
                          <a:solidFill>
                            <a:schemeClr val="tx1"/>
                          </a:solidFill>
                          <a:latin typeface="+mn-ea"/>
                          <a:ea typeface="+mn-ea"/>
                        </a:rPr>
                        <a:t>: </a:t>
                      </a:r>
                      <a:r>
                        <a:rPr lang="ko-KR" altLang="en-US" sz="1000" b="1" kern="1200" dirty="0">
                          <a:solidFill>
                            <a:schemeClr val="tx1"/>
                          </a:solidFill>
                          <a:latin typeface="+mn-ea"/>
                          <a:ea typeface="+mn-ea"/>
                        </a:rPr>
                        <a:t>출원일 기산</a:t>
                      </a:r>
                      <a:r>
                        <a:rPr lang="en-US" altLang="ko-KR" sz="1000" b="1" kern="1200" dirty="0">
                          <a:solidFill>
                            <a:schemeClr val="tx1"/>
                          </a:solidFill>
                          <a:latin typeface="+mn-ea"/>
                          <a:ea typeface="+mn-ea"/>
                        </a:rPr>
                        <a:t>)</a:t>
                      </a:r>
                      <a:r>
                        <a:rPr lang="en-US" altLang="ko-KR" sz="1000" kern="1200" dirty="0">
                          <a:solidFill>
                            <a:schemeClr val="tx1"/>
                          </a:solidFill>
                          <a:latin typeface="+mn-ea"/>
                          <a:ea typeface="+mn-ea"/>
                        </a:rPr>
                        <a:t>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1</a:t>
                      </a:r>
                      <a:r>
                        <a:rPr lang="ko-KR" altLang="en-US" sz="1000" kern="1200" dirty="0">
                          <a:solidFill>
                            <a:schemeClr val="tx1"/>
                          </a:solidFill>
                          <a:latin typeface="+mn-ea"/>
                          <a:ea typeface="+mn-ea"/>
                        </a:rPr>
                        <a:t>항에 따라 </a:t>
                      </a:r>
                      <a:r>
                        <a:rPr lang="ko-KR" altLang="en-US" sz="1000" kern="1200" dirty="0" err="1">
                          <a:solidFill>
                            <a:schemeClr val="tx1"/>
                          </a:solidFill>
                          <a:latin typeface="+mn-ea"/>
                          <a:ea typeface="+mn-ea"/>
                        </a:rPr>
                        <a:t>특허출원일부터</a:t>
                      </a:r>
                      <a:r>
                        <a:rPr lang="ko-KR" altLang="en-US" sz="1000" kern="1200" dirty="0">
                          <a:solidFill>
                            <a:schemeClr val="tx1"/>
                          </a:solidFill>
                          <a:latin typeface="+mn-ea"/>
                          <a:ea typeface="+mn-ea"/>
                        </a:rPr>
                        <a:t> </a:t>
                      </a:r>
                      <a:r>
                        <a:rPr lang="en-US" altLang="ko-KR" sz="1000" kern="1200" dirty="0">
                          <a:solidFill>
                            <a:schemeClr val="tx1"/>
                          </a:solidFill>
                          <a:latin typeface="+mn-ea"/>
                          <a:ea typeface="+mn-ea"/>
                        </a:rPr>
                        <a:t>4</a:t>
                      </a:r>
                      <a:r>
                        <a:rPr lang="ko-KR" altLang="en-US" sz="1000" kern="1200" dirty="0">
                          <a:solidFill>
                            <a:schemeClr val="tx1"/>
                          </a:solidFill>
                          <a:latin typeface="+mn-ea"/>
                          <a:ea typeface="+mn-ea"/>
                        </a:rPr>
                        <a:t>년을 기산할 때에는 제</a:t>
                      </a:r>
                      <a:r>
                        <a:rPr lang="en-US" altLang="ko-KR" sz="1000" kern="1200" dirty="0">
                          <a:solidFill>
                            <a:schemeClr val="tx1"/>
                          </a:solidFill>
                          <a:latin typeface="+mn-ea"/>
                          <a:ea typeface="+mn-ea"/>
                        </a:rPr>
                        <a:t>34</a:t>
                      </a:r>
                      <a:r>
                        <a:rPr lang="ko-KR" altLang="en-US" sz="1000" kern="1200" dirty="0">
                          <a:solidFill>
                            <a:schemeClr val="tx1"/>
                          </a:solidFill>
                          <a:latin typeface="+mn-ea"/>
                          <a:ea typeface="+mn-ea"/>
                        </a:rPr>
                        <a:t>조</a:t>
                      </a:r>
                      <a:r>
                        <a:rPr lang="en-US" altLang="ko-KR" sz="1000" kern="1200" dirty="0">
                          <a:solidFill>
                            <a:schemeClr val="tx1"/>
                          </a:solidFill>
                          <a:latin typeface="+mn-ea"/>
                          <a:ea typeface="+mn-ea"/>
                        </a:rPr>
                        <a:t>,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35</a:t>
                      </a:r>
                      <a:r>
                        <a:rPr lang="ko-KR" altLang="en-US" sz="1000" kern="1200" dirty="0">
                          <a:solidFill>
                            <a:schemeClr val="tx1"/>
                          </a:solidFill>
                          <a:latin typeface="+mn-ea"/>
                          <a:ea typeface="+mn-ea"/>
                        </a:rPr>
                        <a:t>조</a:t>
                      </a:r>
                      <a:r>
                        <a:rPr lang="en-US" altLang="ko-KR" sz="1000" kern="1200" dirty="0">
                          <a:solidFill>
                            <a:schemeClr val="tx1"/>
                          </a:solidFill>
                          <a:latin typeface="+mn-ea"/>
                          <a:ea typeface="+mn-ea"/>
                        </a:rPr>
                        <a:t>,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52</a:t>
                      </a:r>
                      <a:r>
                        <a:rPr lang="ko-KR" altLang="en-US" sz="1000" kern="1200" dirty="0">
                          <a:solidFill>
                            <a:schemeClr val="tx1"/>
                          </a:solidFill>
                          <a:latin typeface="+mn-ea"/>
                          <a:ea typeface="+mn-ea"/>
                        </a:rPr>
                        <a:t>조제</a:t>
                      </a:r>
                      <a:r>
                        <a:rPr lang="en-US" altLang="ko-KR" sz="1000" kern="1200" dirty="0">
                          <a:solidFill>
                            <a:schemeClr val="tx1"/>
                          </a:solidFill>
                          <a:latin typeface="+mn-ea"/>
                          <a:ea typeface="+mn-ea"/>
                        </a:rPr>
                        <a:t>2</a:t>
                      </a:r>
                      <a:r>
                        <a:rPr lang="ko-KR" altLang="en-US" sz="1000" kern="1200" dirty="0">
                          <a:solidFill>
                            <a:schemeClr val="tx1"/>
                          </a:solidFill>
                          <a:latin typeface="+mn-ea"/>
                          <a:ea typeface="+mn-ea"/>
                        </a:rPr>
                        <a:t>항</a:t>
                      </a:r>
                      <a:r>
                        <a:rPr lang="en-US" altLang="ko-KR" sz="1000" kern="1200" dirty="0">
                          <a:solidFill>
                            <a:schemeClr val="tx1"/>
                          </a:solidFill>
                          <a:latin typeface="+mn-ea"/>
                          <a:ea typeface="+mn-ea"/>
                        </a:rPr>
                        <a:t>,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52</a:t>
                      </a:r>
                      <a:r>
                        <a:rPr lang="ko-KR" altLang="en-US" sz="1000" kern="1200" dirty="0">
                          <a:solidFill>
                            <a:schemeClr val="tx1"/>
                          </a:solidFill>
                          <a:latin typeface="+mn-ea"/>
                          <a:ea typeface="+mn-ea"/>
                        </a:rPr>
                        <a:t>조의</a:t>
                      </a:r>
                      <a:r>
                        <a:rPr lang="en-US" altLang="ko-KR" sz="1000" kern="1200" dirty="0">
                          <a:solidFill>
                            <a:schemeClr val="tx1"/>
                          </a:solidFill>
                          <a:latin typeface="+mn-ea"/>
                          <a:ea typeface="+mn-ea"/>
                        </a:rPr>
                        <a:t>2</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2</a:t>
                      </a:r>
                      <a:r>
                        <a:rPr lang="ko-KR" altLang="en-US" sz="1000" kern="1200" dirty="0">
                          <a:solidFill>
                            <a:schemeClr val="tx1"/>
                          </a:solidFill>
                          <a:latin typeface="+mn-ea"/>
                          <a:ea typeface="+mn-ea"/>
                        </a:rPr>
                        <a:t>항</a:t>
                      </a:r>
                      <a:r>
                        <a:rPr lang="en-US" altLang="ko-KR" sz="1000" kern="1200" dirty="0">
                          <a:solidFill>
                            <a:schemeClr val="tx1"/>
                          </a:solidFill>
                          <a:latin typeface="+mn-ea"/>
                          <a:ea typeface="+mn-ea"/>
                        </a:rPr>
                        <a:t>,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53</a:t>
                      </a:r>
                      <a:r>
                        <a:rPr lang="ko-KR" altLang="en-US" sz="1000" kern="1200" dirty="0">
                          <a:solidFill>
                            <a:schemeClr val="tx1"/>
                          </a:solidFill>
                          <a:latin typeface="+mn-ea"/>
                          <a:ea typeface="+mn-ea"/>
                        </a:rPr>
                        <a:t>조제</a:t>
                      </a:r>
                      <a:r>
                        <a:rPr lang="en-US" altLang="ko-KR" sz="1000" kern="1200" dirty="0">
                          <a:solidFill>
                            <a:schemeClr val="tx1"/>
                          </a:solidFill>
                          <a:latin typeface="+mn-ea"/>
                          <a:ea typeface="+mn-ea"/>
                        </a:rPr>
                        <a:t>2</a:t>
                      </a:r>
                      <a:r>
                        <a:rPr lang="ko-KR" altLang="en-US" sz="1000" kern="1200" dirty="0">
                          <a:solidFill>
                            <a:schemeClr val="tx1"/>
                          </a:solidFill>
                          <a:latin typeface="+mn-ea"/>
                          <a:ea typeface="+mn-ea"/>
                        </a:rPr>
                        <a:t>항</a:t>
                      </a:r>
                      <a:r>
                        <a:rPr lang="en-US" altLang="ko-KR" sz="1000" kern="1200" dirty="0">
                          <a:solidFill>
                            <a:schemeClr val="tx1"/>
                          </a:solidFill>
                          <a:latin typeface="+mn-ea"/>
                          <a:ea typeface="+mn-ea"/>
                        </a:rPr>
                        <a:t>,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199</a:t>
                      </a:r>
                      <a:r>
                        <a:rPr lang="ko-KR" altLang="en-US" sz="1000" kern="1200" dirty="0">
                          <a:solidFill>
                            <a:schemeClr val="tx1"/>
                          </a:solidFill>
                          <a:latin typeface="+mn-ea"/>
                          <a:ea typeface="+mn-ea"/>
                        </a:rPr>
                        <a:t>조제</a:t>
                      </a:r>
                      <a:r>
                        <a:rPr lang="en-US" altLang="ko-KR" sz="1000" kern="1200" dirty="0">
                          <a:solidFill>
                            <a:schemeClr val="tx1"/>
                          </a:solidFill>
                          <a:latin typeface="+mn-ea"/>
                          <a:ea typeface="+mn-ea"/>
                        </a:rPr>
                        <a:t>1</a:t>
                      </a:r>
                      <a:r>
                        <a:rPr lang="ko-KR" altLang="en-US" sz="1000" kern="1200" dirty="0">
                          <a:solidFill>
                            <a:schemeClr val="tx1"/>
                          </a:solidFill>
                          <a:latin typeface="+mn-ea"/>
                          <a:ea typeface="+mn-ea"/>
                        </a:rPr>
                        <a:t>항 및 제</a:t>
                      </a:r>
                      <a:r>
                        <a:rPr lang="en-US" altLang="ko-KR" sz="1000" kern="1200" dirty="0">
                          <a:solidFill>
                            <a:schemeClr val="tx1"/>
                          </a:solidFill>
                          <a:latin typeface="+mn-ea"/>
                          <a:ea typeface="+mn-ea"/>
                        </a:rPr>
                        <a:t>214</a:t>
                      </a:r>
                      <a:r>
                        <a:rPr lang="ko-KR" altLang="en-US" sz="1000" kern="1200" dirty="0">
                          <a:solidFill>
                            <a:schemeClr val="tx1"/>
                          </a:solidFill>
                          <a:latin typeface="+mn-ea"/>
                          <a:ea typeface="+mn-ea"/>
                        </a:rPr>
                        <a:t>조제</a:t>
                      </a:r>
                      <a:r>
                        <a:rPr lang="en-US" altLang="ko-KR" sz="1000" kern="1200" dirty="0">
                          <a:solidFill>
                            <a:schemeClr val="tx1"/>
                          </a:solidFill>
                          <a:latin typeface="+mn-ea"/>
                          <a:ea typeface="+mn-ea"/>
                        </a:rPr>
                        <a:t>4</a:t>
                      </a:r>
                      <a:r>
                        <a:rPr lang="ko-KR" altLang="en-US" sz="1000" kern="1200" dirty="0">
                          <a:solidFill>
                            <a:schemeClr val="tx1"/>
                          </a:solidFill>
                          <a:latin typeface="+mn-ea"/>
                          <a:ea typeface="+mn-ea"/>
                        </a:rPr>
                        <a:t>항에도 불구하고 다음 각 호에 해당하는 날을 특허출원일로 본다</a:t>
                      </a:r>
                      <a:r>
                        <a:rPr lang="en-US" altLang="ko-KR" sz="1000" kern="1200" dirty="0">
                          <a:solidFill>
                            <a:schemeClr val="tx1"/>
                          </a:solidFill>
                          <a:latin typeface="+mn-ea"/>
                          <a:ea typeface="+mn-ea"/>
                        </a:rPr>
                        <a:t>.</a:t>
                      </a:r>
                      <a:endParaRPr lang="ko-KR" altLang="en-US" sz="1000" kern="1200" dirty="0">
                        <a:solidFill>
                          <a:schemeClr val="tx1"/>
                        </a:solidFill>
                        <a:latin typeface="+mn-ea"/>
                        <a:ea typeface="+mn-ea"/>
                      </a:endParaRPr>
                    </a:p>
                    <a:p>
                      <a:pPr marL="203200" marR="0" indent="-20320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solidFill>
                            <a:schemeClr val="tx1"/>
                          </a:solidFill>
                          <a:latin typeface="+mn-ea"/>
                          <a:ea typeface="+mn-ea"/>
                        </a:rPr>
                        <a:t>1.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34</a:t>
                      </a:r>
                      <a:r>
                        <a:rPr lang="ko-KR" altLang="en-US" sz="1000" kern="1200" dirty="0">
                          <a:solidFill>
                            <a:schemeClr val="tx1"/>
                          </a:solidFill>
                          <a:latin typeface="+mn-ea"/>
                          <a:ea typeface="+mn-ea"/>
                        </a:rPr>
                        <a:t>조 또는 제</a:t>
                      </a:r>
                      <a:r>
                        <a:rPr lang="en-US" altLang="ko-KR" sz="1000" kern="1200" dirty="0">
                          <a:solidFill>
                            <a:schemeClr val="tx1"/>
                          </a:solidFill>
                          <a:latin typeface="+mn-ea"/>
                          <a:ea typeface="+mn-ea"/>
                        </a:rPr>
                        <a:t>35</a:t>
                      </a:r>
                      <a:r>
                        <a:rPr lang="ko-KR" altLang="en-US" sz="1000" kern="1200" dirty="0">
                          <a:solidFill>
                            <a:schemeClr val="tx1"/>
                          </a:solidFill>
                          <a:latin typeface="+mn-ea"/>
                          <a:ea typeface="+mn-ea"/>
                        </a:rPr>
                        <a:t>조에 따른 정당한 권리자의 특허출원의 경우에는 정당한 권리자가 출원을 한 날</a:t>
                      </a:r>
                    </a:p>
                    <a:p>
                      <a:pPr marL="0" marR="0" indent="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solidFill>
                            <a:schemeClr val="tx1"/>
                          </a:solidFill>
                          <a:latin typeface="+mn-ea"/>
                          <a:ea typeface="+mn-ea"/>
                        </a:rPr>
                        <a:t>2.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52</a:t>
                      </a:r>
                      <a:r>
                        <a:rPr lang="ko-KR" altLang="en-US" sz="1000" kern="1200" dirty="0">
                          <a:solidFill>
                            <a:schemeClr val="tx1"/>
                          </a:solidFill>
                          <a:latin typeface="+mn-ea"/>
                          <a:ea typeface="+mn-ea"/>
                        </a:rPr>
                        <a:t>조에 따른 분할출원의 경우에는 분할출원을 한 날</a:t>
                      </a:r>
                      <a:endParaRPr lang="en-US" altLang="ko-KR" sz="1000" kern="1200" dirty="0">
                        <a:solidFill>
                          <a:schemeClr val="tx1"/>
                        </a:solidFill>
                        <a:latin typeface="+mn-ea"/>
                        <a:ea typeface="+mn-ea"/>
                      </a:endParaRPr>
                    </a:p>
                    <a:p>
                      <a:pPr marL="0" marR="0" indent="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solidFill>
                            <a:schemeClr val="tx1"/>
                          </a:solidFill>
                          <a:latin typeface="+mn-ea"/>
                          <a:ea typeface="+mn-ea"/>
                        </a:rPr>
                        <a:t>2</a:t>
                      </a:r>
                      <a:r>
                        <a:rPr lang="ko-KR" altLang="en-US" sz="1000" kern="1200" dirty="0">
                          <a:solidFill>
                            <a:schemeClr val="tx1"/>
                          </a:solidFill>
                          <a:latin typeface="+mn-ea"/>
                          <a:ea typeface="+mn-ea"/>
                        </a:rPr>
                        <a:t>의</a:t>
                      </a:r>
                      <a:r>
                        <a:rPr lang="en-US" altLang="ko-KR" sz="1000" kern="1200" dirty="0">
                          <a:solidFill>
                            <a:schemeClr val="tx1"/>
                          </a:solidFill>
                          <a:latin typeface="+mn-ea"/>
                          <a:ea typeface="+mn-ea"/>
                        </a:rPr>
                        <a:t>2.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52</a:t>
                      </a:r>
                      <a:r>
                        <a:rPr lang="ko-KR" altLang="en-US" sz="1000" kern="1200" dirty="0">
                          <a:solidFill>
                            <a:schemeClr val="tx1"/>
                          </a:solidFill>
                          <a:latin typeface="+mn-ea"/>
                          <a:ea typeface="+mn-ea"/>
                        </a:rPr>
                        <a:t>조의</a:t>
                      </a:r>
                      <a:r>
                        <a:rPr lang="en-US" altLang="ko-KR" sz="1000" kern="1200" dirty="0">
                          <a:solidFill>
                            <a:schemeClr val="tx1"/>
                          </a:solidFill>
                          <a:latin typeface="+mn-ea"/>
                          <a:ea typeface="+mn-ea"/>
                        </a:rPr>
                        <a:t>2</a:t>
                      </a:r>
                      <a:r>
                        <a:rPr lang="ko-KR" altLang="en-US" sz="1000" kern="1200" dirty="0">
                          <a:solidFill>
                            <a:schemeClr val="tx1"/>
                          </a:solidFill>
                          <a:latin typeface="+mn-ea"/>
                          <a:ea typeface="+mn-ea"/>
                        </a:rPr>
                        <a:t>에 따른 분리출원의 경우에는 분리출원을 한 날</a:t>
                      </a:r>
                    </a:p>
                    <a:p>
                      <a:pPr marL="0" marR="0" indent="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solidFill>
                            <a:schemeClr val="tx1"/>
                          </a:solidFill>
                          <a:latin typeface="+mn-ea"/>
                          <a:ea typeface="+mn-ea"/>
                        </a:rPr>
                        <a:t>3.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53</a:t>
                      </a:r>
                      <a:r>
                        <a:rPr lang="ko-KR" altLang="en-US" sz="1000" kern="1200" dirty="0">
                          <a:solidFill>
                            <a:schemeClr val="tx1"/>
                          </a:solidFill>
                          <a:latin typeface="+mn-ea"/>
                          <a:ea typeface="+mn-ea"/>
                        </a:rPr>
                        <a:t>조에 따른 변경출원의 경우에는 변경출원을 한 날</a:t>
                      </a:r>
                    </a:p>
                    <a:p>
                      <a:pPr marL="205740" marR="0" indent="-20574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solidFill>
                            <a:schemeClr val="tx1"/>
                          </a:solidFill>
                          <a:latin typeface="+mn-ea"/>
                          <a:ea typeface="+mn-ea"/>
                        </a:rPr>
                        <a:t>4.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199</a:t>
                      </a:r>
                      <a:r>
                        <a:rPr lang="ko-KR" altLang="en-US" sz="1000" kern="1200" dirty="0">
                          <a:solidFill>
                            <a:schemeClr val="tx1"/>
                          </a:solidFill>
                          <a:latin typeface="+mn-ea"/>
                          <a:ea typeface="+mn-ea"/>
                        </a:rPr>
                        <a:t>조제</a:t>
                      </a:r>
                      <a:r>
                        <a:rPr lang="en-US" altLang="ko-KR" sz="1000" kern="1200" dirty="0">
                          <a:solidFill>
                            <a:schemeClr val="tx1"/>
                          </a:solidFill>
                          <a:latin typeface="+mn-ea"/>
                          <a:ea typeface="+mn-ea"/>
                        </a:rPr>
                        <a:t>1</a:t>
                      </a:r>
                      <a:r>
                        <a:rPr lang="ko-KR" altLang="en-US" sz="1000" kern="1200" dirty="0">
                          <a:solidFill>
                            <a:schemeClr val="tx1"/>
                          </a:solidFill>
                          <a:latin typeface="+mn-ea"/>
                          <a:ea typeface="+mn-ea"/>
                        </a:rPr>
                        <a:t>항에 따라 특허출원으로 보는 국제출원의 경우에는 제</a:t>
                      </a:r>
                      <a:r>
                        <a:rPr lang="en-US" altLang="ko-KR" sz="1000" kern="1200" dirty="0">
                          <a:solidFill>
                            <a:schemeClr val="tx1"/>
                          </a:solidFill>
                          <a:latin typeface="+mn-ea"/>
                          <a:ea typeface="+mn-ea"/>
                        </a:rPr>
                        <a:t>203</a:t>
                      </a:r>
                      <a:r>
                        <a:rPr lang="ko-KR" altLang="en-US" sz="1000" kern="1200" dirty="0">
                          <a:solidFill>
                            <a:schemeClr val="tx1"/>
                          </a:solidFill>
                          <a:latin typeface="+mn-ea"/>
                          <a:ea typeface="+mn-ea"/>
                        </a:rPr>
                        <a:t>조제</a:t>
                      </a:r>
                      <a:r>
                        <a:rPr lang="en-US" altLang="ko-KR" sz="1000" kern="1200" dirty="0">
                          <a:solidFill>
                            <a:schemeClr val="tx1"/>
                          </a:solidFill>
                          <a:latin typeface="+mn-ea"/>
                          <a:ea typeface="+mn-ea"/>
                        </a:rPr>
                        <a:t>1</a:t>
                      </a:r>
                      <a:r>
                        <a:rPr lang="ko-KR" altLang="en-US" sz="1000" kern="1200" dirty="0">
                          <a:solidFill>
                            <a:schemeClr val="tx1"/>
                          </a:solidFill>
                          <a:latin typeface="+mn-ea"/>
                          <a:ea typeface="+mn-ea"/>
                        </a:rPr>
                        <a:t>항 각 호의 사항을 기재한 서면을 제출한 날</a:t>
                      </a:r>
                    </a:p>
                    <a:p>
                      <a:pPr marL="204470" marR="0" indent="-20447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solidFill>
                            <a:schemeClr val="tx1"/>
                          </a:solidFill>
                          <a:latin typeface="+mn-ea"/>
                          <a:ea typeface="+mn-ea"/>
                        </a:rPr>
                        <a:t>5.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214</a:t>
                      </a:r>
                      <a:r>
                        <a:rPr lang="ko-KR" altLang="en-US" sz="1000" kern="1200" dirty="0">
                          <a:solidFill>
                            <a:schemeClr val="tx1"/>
                          </a:solidFill>
                          <a:latin typeface="+mn-ea"/>
                          <a:ea typeface="+mn-ea"/>
                        </a:rPr>
                        <a:t>조에 따라 특허출원으로 보는 국제출원의 경우에는 국제출원의 </a:t>
                      </a:r>
                      <a:r>
                        <a:rPr lang="ko-KR" altLang="en-US" sz="1000" kern="1200" dirty="0" err="1">
                          <a:solidFill>
                            <a:schemeClr val="tx1"/>
                          </a:solidFill>
                          <a:latin typeface="+mn-ea"/>
                          <a:ea typeface="+mn-ea"/>
                        </a:rPr>
                        <a:t>출원인이</a:t>
                      </a:r>
                      <a:r>
                        <a:rPr lang="ko-KR" altLang="en-US" sz="1000" kern="1200" dirty="0">
                          <a:solidFill>
                            <a:schemeClr val="tx1"/>
                          </a:solidFill>
                          <a:latin typeface="+mn-ea"/>
                          <a:ea typeface="+mn-ea"/>
                        </a:rPr>
                        <a:t> 제</a:t>
                      </a:r>
                      <a:r>
                        <a:rPr lang="en-US" altLang="ko-KR" sz="1000" kern="1200" dirty="0">
                          <a:solidFill>
                            <a:schemeClr val="tx1"/>
                          </a:solidFill>
                          <a:latin typeface="+mn-ea"/>
                          <a:ea typeface="+mn-ea"/>
                        </a:rPr>
                        <a:t>214</a:t>
                      </a:r>
                      <a:r>
                        <a:rPr lang="ko-KR" altLang="en-US" sz="1000" kern="1200" dirty="0">
                          <a:solidFill>
                            <a:schemeClr val="tx1"/>
                          </a:solidFill>
                          <a:latin typeface="+mn-ea"/>
                          <a:ea typeface="+mn-ea"/>
                        </a:rPr>
                        <a:t>조제</a:t>
                      </a:r>
                      <a:r>
                        <a:rPr lang="en-US" altLang="ko-KR" sz="1000" kern="1200" dirty="0">
                          <a:solidFill>
                            <a:schemeClr val="tx1"/>
                          </a:solidFill>
                          <a:latin typeface="+mn-ea"/>
                          <a:ea typeface="+mn-ea"/>
                        </a:rPr>
                        <a:t>1</a:t>
                      </a:r>
                      <a:r>
                        <a:rPr lang="ko-KR" altLang="en-US" sz="1000" kern="1200" dirty="0">
                          <a:solidFill>
                            <a:schemeClr val="tx1"/>
                          </a:solidFill>
                          <a:latin typeface="+mn-ea"/>
                          <a:ea typeface="+mn-ea"/>
                        </a:rPr>
                        <a:t>항에 따라 결정을 신청한 날</a:t>
                      </a:r>
                    </a:p>
                    <a:p>
                      <a:pPr marL="203200" marR="0" indent="-20320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solidFill>
                            <a:schemeClr val="tx1"/>
                          </a:solidFill>
                          <a:latin typeface="+mn-ea"/>
                          <a:ea typeface="+mn-ea"/>
                        </a:rPr>
                        <a:t>6. </a:t>
                      </a:r>
                      <a:r>
                        <a:rPr lang="ko-KR" altLang="en-US" sz="1000" kern="1200" dirty="0">
                          <a:solidFill>
                            <a:schemeClr val="tx1"/>
                          </a:solidFill>
                          <a:latin typeface="+mn-ea"/>
                          <a:ea typeface="+mn-ea"/>
                        </a:rPr>
                        <a:t>제</a:t>
                      </a:r>
                      <a:r>
                        <a:rPr lang="en-US" altLang="ko-KR" sz="1000" kern="1200" dirty="0">
                          <a:solidFill>
                            <a:schemeClr val="tx1"/>
                          </a:solidFill>
                          <a:latin typeface="+mn-ea"/>
                          <a:ea typeface="+mn-ea"/>
                        </a:rPr>
                        <a:t>1</a:t>
                      </a:r>
                      <a:r>
                        <a:rPr lang="ko-KR" altLang="en-US" sz="1000" kern="1200" dirty="0">
                          <a:solidFill>
                            <a:schemeClr val="tx1"/>
                          </a:solidFill>
                          <a:latin typeface="+mn-ea"/>
                          <a:ea typeface="+mn-ea"/>
                        </a:rPr>
                        <a:t>호부터 제</a:t>
                      </a:r>
                      <a:r>
                        <a:rPr lang="en-US" altLang="ko-KR" sz="1000" kern="1200" dirty="0">
                          <a:solidFill>
                            <a:schemeClr val="tx1"/>
                          </a:solidFill>
                          <a:latin typeface="+mn-ea"/>
                          <a:ea typeface="+mn-ea"/>
                        </a:rPr>
                        <a:t>5</a:t>
                      </a:r>
                      <a:r>
                        <a:rPr lang="ko-KR" altLang="en-US" sz="1000" kern="1200" dirty="0">
                          <a:solidFill>
                            <a:schemeClr val="tx1"/>
                          </a:solidFill>
                          <a:latin typeface="+mn-ea"/>
                          <a:ea typeface="+mn-ea"/>
                        </a:rPr>
                        <a:t>호까지의 규정 중 어느 하나에 해당되지 아니하는 특허출원에 대하여는 그 특허출원</a:t>
                      </a:r>
                      <a:r>
                        <a:rPr lang="ko-KR" altLang="en-US" sz="1000" kern="1200" dirty="0">
                          <a:latin typeface="+mn-ea"/>
                          <a:ea typeface="+mn-ea"/>
                        </a:rPr>
                        <a:t>일</a:t>
                      </a:r>
                      <a:endParaRPr lang="ko-KR" altLang="en-US" sz="1000" kern="1200" dirty="0">
                        <a:solidFill>
                          <a:schemeClr val="tx1"/>
                        </a:solidFill>
                        <a:latin typeface="+mn-ea"/>
                        <a:ea typeface="+mn-ea"/>
                        <a:cs typeface="+mn-cs"/>
                      </a:endParaRPr>
                    </a:p>
                  </a:txBody>
                  <a:tcPr marL="15858" marR="15858" marT="4384" marB="4384"/>
                </a:tc>
                <a:extLst>
                  <a:ext uri="{0D108BD9-81ED-4DB2-BD59-A6C34878D82A}">
                    <a16:rowId xmlns:a16="http://schemas.microsoft.com/office/drawing/2014/main" val="10001"/>
                  </a:ext>
                </a:extLst>
              </a:tr>
            </a:tbl>
          </a:graphicData>
        </a:graphic>
      </p:graphicFrame>
      <p:sp>
        <p:nvSpPr>
          <p:cNvPr id="6" name="슬라이드 번호 개체 틀 5"/>
          <p:cNvSpPr>
            <a:spLocks noGrp="1"/>
          </p:cNvSpPr>
          <p:nvPr>
            <p:ph type="sldNum" sz="quarter" idx="12"/>
          </p:nvPr>
        </p:nvSpPr>
        <p:spPr/>
        <p:txBody>
          <a:bodyPr/>
          <a:lstStyle/>
          <a:p>
            <a:r>
              <a:rPr lang="en-US" altLang="ko-KR"/>
              <a:t>302</a:t>
            </a:r>
            <a:endParaRPr lang="ko-KR" altLang="en-US"/>
          </a:p>
        </p:txBody>
      </p:sp>
    </p:spTree>
    <p:extLst>
      <p:ext uri="{BB962C8B-B14F-4D97-AF65-F5344CB8AC3E}">
        <p14:creationId xmlns:p14="http://schemas.microsoft.com/office/powerpoint/2010/main" val="2807220424"/>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89</a:t>
            </a:r>
            <a:r>
              <a:rPr lang="ko-KR" altLang="en-US" dirty="0"/>
              <a:t>조</a:t>
            </a:r>
            <a:r>
              <a:rPr lang="en-US" altLang="ko-KR" dirty="0"/>
              <a:t>~</a:t>
            </a:r>
            <a:r>
              <a:rPr lang="ko-KR" altLang="en-US" dirty="0"/>
              <a:t>제</a:t>
            </a:r>
            <a:r>
              <a:rPr lang="en-US" altLang="ko-KR" dirty="0"/>
              <a:t>95</a:t>
            </a:r>
            <a:r>
              <a:rPr lang="ko-KR" altLang="en-US" dirty="0"/>
              <a:t>조</a:t>
            </a:r>
          </a:p>
        </p:txBody>
      </p:sp>
      <p:sp>
        <p:nvSpPr>
          <p:cNvPr id="4" name="텍스트 개체 틀 3"/>
          <p:cNvSpPr>
            <a:spLocks noGrp="1"/>
          </p:cNvSpPr>
          <p:nvPr>
            <p:ph type="body" sz="quarter" idx="13"/>
          </p:nvPr>
        </p:nvSpPr>
        <p:spPr/>
        <p:txBody>
          <a:bodyPr/>
          <a:lstStyle/>
          <a:p>
            <a:r>
              <a:rPr lang="ko-KR" altLang="en-US" dirty="0"/>
              <a:t>법조문의 비교</a:t>
            </a:r>
          </a:p>
        </p:txBody>
      </p:sp>
      <p:graphicFrame>
        <p:nvGraphicFramePr>
          <p:cNvPr id="5" name="표 4"/>
          <p:cNvGraphicFramePr>
            <a:graphicFrameLocks noGrp="1"/>
          </p:cNvGraphicFramePr>
          <p:nvPr/>
        </p:nvGraphicFramePr>
        <p:xfrm>
          <a:off x="339837" y="1015045"/>
          <a:ext cx="11518788" cy="5503936"/>
        </p:xfrm>
        <a:graphic>
          <a:graphicData uri="http://schemas.openxmlformats.org/drawingml/2006/table">
            <a:tbl>
              <a:tblPr>
                <a:tableStyleId>{8799B23B-EC83-4686-B30A-512413B5E67A}</a:tableStyleId>
              </a:tblPr>
              <a:tblGrid>
                <a:gridCol w="298116">
                  <a:extLst>
                    <a:ext uri="{9D8B030D-6E8A-4147-A177-3AD203B41FA5}">
                      <a16:colId xmlns:a16="http://schemas.microsoft.com/office/drawing/2014/main" val="20000"/>
                    </a:ext>
                  </a:extLst>
                </a:gridCol>
                <a:gridCol w="5401340">
                  <a:extLst>
                    <a:ext uri="{9D8B030D-6E8A-4147-A177-3AD203B41FA5}">
                      <a16:colId xmlns:a16="http://schemas.microsoft.com/office/drawing/2014/main" val="20001"/>
                    </a:ext>
                  </a:extLst>
                </a:gridCol>
                <a:gridCol w="5819332">
                  <a:extLst>
                    <a:ext uri="{9D8B030D-6E8A-4147-A177-3AD203B41FA5}">
                      <a16:colId xmlns:a16="http://schemas.microsoft.com/office/drawing/2014/main" val="20002"/>
                    </a:ext>
                  </a:extLst>
                </a:gridCol>
              </a:tblGrid>
              <a:tr h="0">
                <a:tc>
                  <a:txBody>
                    <a:bodyPr/>
                    <a:lstStyle/>
                    <a:p>
                      <a:pPr marL="0" marR="0" indent="0" algn="ctr" fontAlgn="base" latinLnBrk="0">
                        <a:lnSpc>
                          <a:spcPct val="100000"/>
                        </a:lnSpc>
                        <a:spcBef>
                          <a:spcPts val="0"/>
                        </a:spcBef>
                        <a:spcAft>
                          <a:spcPts val="0"/>
                        </a:spcAft>
                      </a:pPr>
                      <a:r>
                        <a:rPr lang="ko-KR" altLang="en-US" sz="1000" kern="1200" dirty="0">
                          <a:latin typeface="+mn-ea"/>
                          <a:ea typeface="+mn-ea"/>
                        </a:rPr>
                        <a:t>구분</a:t>
                      </a:r>
                      <a:endParaRPr lang="ko-KR" altLang="en-US" sz="1000" kern="1200" dirty="0">
                        <a:solidFill>
                          <a:schemeClr val="tx1"/>
                        </a:solidFill>
                        <a:latin typeface="+mn-ea"/>
                        <a:ea typeface="+mn-ea"/>
                        <a:cs typeface="+mn-cs"/>
                      </a:endParaRPr>
                    </a:p>
                  </a:txBody>
                  <a:tcPr marL="15858" marR="15858" marT="4384" marB="4384"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kern="1200" dirty="0">
                          <a:latin typeface="+mn-ea"/>
                          <a:ea typeface="+mn-ea"/>
                        </a:rPr>
                        <a:t>허가 등에 따른 존속기간 연장</a:t>
                      </a:r>
                      <a:endParaRPr lang="ko-KR" altLang="en-US" sz="1000" kern="1200" dirty="0">
                        <a:solidFill>
                          <a:schemeClr val="tx1"/>
                        </a:solidFill>
                        <a:latin typeface="+mn-ea"/>
                        <a:ea typeface="+mn-ea"/>
                        <a:cs typeface="+mn-cs"/>
                      </a:endParaRPr>
                    </a:p>
                  </a:txBody>
                  <a:tcPr marL="15858" marR="15858" marT="4384" marB="4384"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kern="1200" dirty="0">
                          <a:latin typeface="+mn-ea"/>
                          <a:ea typeface="+mn-ea"/>
                        </a:rPr>
                        <a:t>등록지연에 따른 존속기간 연장</a:t>
                      </a:r>
                      <a:endParaRPr lang="ko-KR" altLang="en-US" sz="1000" kern="1200" dirty="0">
                        <a:solidFill>
                          <a:schemeClr val="tx1"/>
                        </a:solidFill>
                        <a:latin typeface="+mn-ea"/>
                        <a:ea typeface="+mn-ea"/>
                        <a:cs typeface="+mn-cs"/>
                      </a:endParaRPr>
                    </a:p>
                  </a:txBody>
                  <a:tcPr marL="15858" marR="15858" marT="4384" marB="4384" anchor="ctr">
                    <a:solidFill>
                      <a:schemeClr val="accent1">
                        <a:lumMod val="20000"/>
                        <a:lumOff val="80000"/>
                      </a:schemeClr>
                    </a:solidFill>
                  </a:tcPr>
                </a:tc>
                <a:extLst>
                  <a:ext uri="{0D108BD9-81ED-4DB2-BD59-A6C34878D82A}">
                    <a16:rowId xmlns:a16="http://schemas.microsoft.com/office/drawing/2014/main" val="10000"/>
                  </a:ext>
                </a:extLst>
              </a:tr>
              <a:tr h="1554922">
                <a:tc>
                  <a:txBody>
                    <a:bodyPr/>
                    <a:lstStyle/>
                    <a:p>
                      <a:pPr marL="0" marR="0" indent="0" algn="ctr" fontAlgn="base" latinLnBrk="0">
                        <a:lnSpc>
                          <a:spcPct val="100000"/>
                        </a:lnSpc>
                        <a:spcBef>
                          <a:spcPts val="0"/>
                        </a:spcBef>
                        <a:spcAft>
                          <a:spcPts val="0"/>
                        </a:spcAft>
                      </a:pPr>
                      <a:r>
                        <a:rPr lang="ko-KR" altLang="en-US" sz="1000" kern="1200" dirty="0">
                          <a:latin typeface="+mn-ea"/>
                          <a:ea typeface="+mn-ea"/>
                        </a:rPr>
                        <a:t>출원</a:t>
                      </a:r>
                      <a:endParaRPr lang="en-US" altLang="ko-KR" sz="1000" kern="1200" dirty="0">
                        <a:latin typeface="+mn-ea"/>
                        <a:ea typeface="+mn-ea"/>
                      </a:endParaRPr>
                    </a:p>
                    <a:p>
                      <a:pPr marL="0" marR="0" indent="0" algn="ctr" fontAlgn="base" latinLnBrk="0">
                        <a:lnSpc>
                          <a:spcPct val="100000"/>
                        </a:lnSpc>
                        <a:spcBef>
                          <a:spcPts val="0"/>
                        </a:spcBef>
                        <a:spcAft>
                          <a:spcPts val="0"/>
                        </a:spcAft>
                      </a:pPr>
                      <a:endParaRPr lang="en-US" altLang="ko-KR" sz="1000" kern="1200" dirty="0">
                        <a:solidFill>
                          <a:schemeClr val="tx1"/>
                        </a:solidFill>
                        <a:latin typeface="+mn-ea"/>
                        <a:ea typeface="+mn-ea"/>
                        <a:cs typeface="+mn-cs"/>
                      </a:endParaRPr>
                    </a:p>
                    <a:p>
                      <a:pPr marL="0" marR="0" indent="0" algn="ctr" fontAlgn="base" latinLnBrk="0">
                        <a:lnSpc>
                          <a:spcPct val="100000"/>
                        </a:lnSpc>
                        <a:spcBef>
                          <a:spcPts val="0"/>
                        </a:spcBef>
                        <a:spcAft>
                          <a:spcPts val="0"/>
                        </a:spcAft>
                      </a:pPr>
                      <a:endParaRPr lang="en-US" altLang="ko-KR" sz="1000" kern="1200" dirty="0">
                        <a:solidFill>
                          <a:schemeClr val="tx1"/>
                        </a:solidFill>
                        <a:latin typeface="+mn-ea"/>
                        <a:ea typeface="+mn-ea"/>
                        <a:cs typeface="+mn-cs"/>
                      </a:endParaRPr>
                    </a:p>
                    <a:p>
                      <a:pPr marL="0" marR="0" indent="0" algn="ctr" fontAlgn="base" latinLnBrk="0">
                        <a:lnSpc>
                          <a:spcPct val="100000"/>
                        </a:lnSpc>
                        <a:spcBef>
                          <a:spcPts val="0"/>
                        </a:spcBef>
                        <a:spcAft>
                          <a:spcPts val="0"/>
                        </a:spcAft>
                      </a:pPr>
                      <a:endParaRPr lang="en-US" altLang="ko-KR" sz="1000" kern="1200" dirty="0">
                        <a:solidFill>
                          <a:schemeClr val="tx1"/>
                        </a:solidFill>
                        <a:latin typeface="+mn-ea"/>
                        <a:ea typeface="+mn-ea"/>
                        <a:cs typeface="+mn-cs"/>
                      </a:endParaRPr>
                    </a:p>
                    <a:p>
                      <a:pPr marL="0" marR="0" indent="0" algn="ctr" fontAlgn="base" latinLnBrk="0">
                        <a:lnSpc>
                          <a:spcPct val="100000"/>
                        </a:lnSpc>
                        <a:spcBef>
                          <a:spcPts val="0"/>
                        </a:spcBef>
                        <a:spcAft>
                          <a:spcPts val="0"/>
                        </a:spcAft>
                      </a:pPr>
                      <a:endParaRPr lang="en-US" altLang="ko-KR" sz="1000" kern="1200" dirty="0">
                        <a:solidFill>
                          <a:schemeClr val="tx1"/>
                        </a:solidFill>
                        <a:latin typeface="+mn-ea"/>
                        <a:ea typeface="+mn-ea"/>
                        <a:cs typeface="+mn-cs"/>
                      </a:endParaRPr>
                    </a:p>
                    <a:p>
                      <a:pPr marL="0" marR="0" indent="0" algn="ctr" fontAlgn="base" latinLnBrk="0">
                        <a:lnSpc>
                          <a:spcPct val="100000"/>
                        </a:lnSpc>
                        <a:spcBef>
                          <a:spcPts val="0"/>
                        </a:spcBef>
                        <a:spcAft>
                          <a:spcPts val="0"/>
                        </a:spcAft>
                      </a:pPr>
                      <a:endParaRPr lang="en-US" altLang="ko-KR" sz="1000" kern="1200" dirty="0">
                        <a:solidFill>
                          <a:schemeClr val="tx1"/>
                        </a:solidFill>
                        <a:latin typeface="+mn-ea"/>
                        <a:ea typeface="+mn-ea"/>
                        <a:cs typeface="+mn-cs"/>
                      </a:endParaRPr>
                    </a:p>
                    <a:p>
                      <a:pPr marL="0" marR="0" indent="0" algn="ctr" fontAlgn="base" latinLnBrk="0">
                        <a:lnSpc>
                          <a:spcPct val="100000"/>
                        </a:lnSpc>
                        <a:spcBef>
                          <a:spcPts val="0"/>
                        </a:spcBef>
                        <a:spcAft>
                          <a:spcPts val="0"/>
                        </a:spcAft>
                      </a:pPr>
                      <a:endParaRPr lang="ko-KR" altLang="en-US" sz="1000" kern="1200" dirty="0">
                        <a:solidFill>
                          <a:schemeClr val="tx1"/>
                        </a:solidFill>
                        <a:latin typeface="+mn-ea"/>
                        <a:ea typeface="+mn-ea"/>
                        <a:cs typeface="+mn-cs"/>
                      </a:endParaRPr>
                    </a:p>
                  </a:txBody>
                  <a:tcPr marL="15858" marR="15858" marT="4384" marB="4384" anchor="ctr"/>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000" b="1" kern="1200" dirty="0">
                          <a:latin typeface="+mn-ea"/>
                          <a:ea typeface="+mn-ea"/>
                        </a:rPr>
                        <a:t>제</a:t>
                      </a:r>
                      <a:r>
                        <a:rPr lang="en-US" altLang="ko-KR" sz="1000" b="1" kern="1200" dirty="0">
                          <a:latin typeface="+mn-ea"/>
                          <a:ea typeface="+mn-ea"/>
                        </a:rPr>
                        <a:t>90</a:t>
                      </a:r>
                      <a:r>
                        <a:rPr lang="ko-KR" altLang="en-US" sz="1000" b="1" kern="1200" dirty="0">
                          <a:latin typeface="+mn-ea"/>
                          <a:ea typeface="+mn-ea"/>
                        </a:rPr>
                        <a:t>조</a:t>
                      </a:r>
                      <a:r>
                        <a:rPr lang="en-US" altLang="ko-KR" sz="1000" b="1" kern="1200" dirty="0">
                          <a:latin typeface="+mn-ea"/>
                          <a:ea typeface="+mn-ea"/>
                        </a:rPr>
                        <a:t>【</a:t>
                      </a:r>
                      <a:r>
                        <a:rPr lang="ko-KR" altLang="en-US" sz="1000" b="1" kern="1200" dirty="0">
                          <a:latin typeface="+mn-ea"/>
                          <a:ea typeface="+mn-ea"/>
                        </a:rPr>
                        <a:t>허가 등에 따른 특허권의 존속기간의 연장등록출원</a:t>
                      </a:r>
                      <a:r>
                        <a:rPr lang="en-US" altLang="ko-KR" sz="1000" b="1" kern="1200" dirty="0">
                          <a:latin typeface="+mn-ea"/>
                          <a:ea typeface="+mn-ea"/>
                        </a:rPr>
                        <a:t>】</a:t>
                      </a:r>
                      <a:endParaRPr lang="ko-KR" altLang="en-US" sz="1000" b="1" kern="1200" dirty="0">
                        <a:latin typeface="+mn-ea"/>
                        <a:ea typeface="+mn-ea"/>
                      </a:endParaRPr>
                    </a:p>
                    <a:p>
                      <a:pPr marL="154940" marR="0" indent="-15494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① </a:t>
                      </a:r>
                      <a:r>
                        <a:rPr lang="en-US" altLang="ko-KR" sz="1000" b="1" kern="1200" dirty="0">
                          <a:latin typeface="+mn-ea"/>
                          <a:ea typeface="+mn-ea"/>
                        </a:rPr>
                        <a:t>(</a:t>
                      </a:r>
                      <a:r>
                        <a:rPr lang="ko-KR" altLang="en-US" sz="1000" b="1" kern="1200" dirty="0">
                          <a:latin typeface="+mn-ea"/>
                          <a:ea typeface="+mn-ea"/>
                        </a:rPr>
                        <a:t>출원서 제출</a:t>
                      </a:r>
                      <a:r>
                        <a:rPr lang="en-US" altLang="ko-KR" sz="1000" b="1" kern="1200" dirty="0">
                          <a:latin typeface="+mn-ea"/>
                          <a:ea typeface="+mn-ea"/>
                        </a:rPr>
                        <a:t>) </a:t>
                      </a:r>
                      <a:r>
                        <a:rPr lang="ko-KR" altLang="en-US" sz="1000" kern="1200" dirty="0">
                          <a:latin typeface="+mn-ea"/>
                          <a:ea typeface="+mn-ea"/>
                        </a:rPr>
                        <a:t>제</a:t>
                      </a:r>
                      <a:r>
                        <a:rPr lang="en-US" altLang="ko-KR" sz="1000" kern="1200" dirty="0">
                          <a:latin typeface="+mn-ea"/>
                          <a:ea typeface="+mn-ea"/>
                        </a:rPr>
                        <a:t>89</a:t>
                      </a:r>
                      <a:r>
                        <a:rPr lang="ko-KR" altLang="en-US" sz="1000" kern="1200" dirty="0">
                          <a:latin typeface="+mn-ea"/>
                          <a:ea typeface="+mn-ea"/>
                        </a:rPr>
                        <a:t>조제</a:t>
                      </a:r>
                      <a:r>
                        <a:rPr lang="en-US" altLang="ko-KR" sz="1000" kern="1200" dirty="0">
                          <a:latin typeface="+mn-ea"/>
                          <a:ea typeface="+mn-ea"/>
                        </a:rPr>
                        <a:t>1</a:t>
                      </a:r>
                      <a:r>
                        <a:rPr lang="ko-KR" altLang="en-US" sz="1000" kern="1200" dirty="0">
                          <a:latin typeface="+mn-ea"/>
                          <a:ea typeface="+mn-ea"/>
                        </a:rPr>
                        <a:t>항에 따라 특허권의 존속기간의 연장등록출원을 하려는 자</a:t>
                      </a:r>
                      <a:r>
                        <a:rPr lang="en-US" altLang="ko-KR" sz="1000" kern="1200" dirty="0">
                          <a:latin typeface="+mn-ea"/>
                          <a:ea typeface="+mn-ea"/>
                        </a:rPr>
                        <a:t>(</a:t>
                      </a:r>
                      <a:r>
                        <a:rPr lang="ko-KR" altLang="en-US" sz="1000" kern="1200" dirty="0">
                          <a:latin typeface="+mn-ea"/>
                          <a:ea typeface="+mn-ea"/>
                        </a:rPr>
                        <a:t>이하 이 조 및 제</a:t>
                      </a:r>
                      <a:r>
                        <a:rPr lang="en-US" altLang="ko-KR" sz="1000" kern="1200" dirty="0">
                          <a:latin typeface="+mn-ea"/>
                          <a:ea typeface="+mn-ea"/>
                        </a:rPr>
                        <a:t>91</a:t>
                      </a:r>
                      <a:r>
                        <a:rPr lang="ko-KR" altLang="en-US" sz="1000" kern="1200" dirty="0">
                          <a:latin typeface="+mn-ea"/>
                          <a:ea typeface="+mn-ea"/>
                        </a:rPr>
                        <a:t>조에서 </a:t>
                      </a:r>
                      <a:r>
                        <a:rPr lang="en-US" altLang="ko-KR" sz="1000" kern="1200" dirty="0">
                          <a:latin typeface="+mn-ea"/>
                          <a:ea typeface="+mn-ea"/>
                        </a:rPr>
                        <a:t>"</a:t>
                      </a:r>
                      <a:r>
                        <a:rPr lang="ko-KR" altLang="en-US" sz="1000" kern="1200" dirty="0">
                          <a:latin typeface="+mn-ea"/>
                          <a:ea typeface="+mn-ea"/>
                        </a:rPr>
                        <a:t>연장등록출원인</a:t>
                      </a:r>
                      <a:r>
                        <a:rPr lang="en-US" altLang="ko-KR" sz="1000" kern="1200" dirty="0">
                          <a:latin typeface="+mn-ea"/>
                          <a:ea typeface="+mn-ea"/>
                        </a:rPr>
                        <a:t>"</a:t>
                      </a:r>
                      <a:r>
                        <a:rPr lang="ko-KR" altLang="en-US" sz="1000" kern="1200" dirty="0">
                          <a:latin typeface="+mn-ea"/>
                          <a:ea typeface="+mn-ea"/>
                        </a:rPr>
                        <a:t>이라 한다</a:t>
                      </a:r>
                      <a:r>
                        <a:rPr lang="en-US" altLang="ko-KR" sz="1000" kern="1200" dirty="0">
                          <a:latin typeface="+mn-ea"/>
                          <a:ea typeface="+mn-ea"/>
                        </a:rPr>
                        <a:t>)</a:t>
                      </a:r>
                      <a:r>
                        <a:rPr lang="ko-KR" altLang="en-US" sz="1000" kern="1200" dirty="0">
                          <a:latin typeface="+mn-ea"/>
                          <a:ea typeface="+mn-ea"/>
                        </a:rPr>
                        <a:t>는 다음 각 호의 사항을 적은 특허권의 존속기간의 </a:t>
                      </a:r>
                      <a:r>
                        <a:rPr lang="ko-KR" altLang="en-US" sz="1000" kern="1200" dirty="0" err="1">
                          <a:latin typeface="+mn-ea"/>
                          <a:ea typeface="+mn-ea"/>
                        </a:rPr>
                        <a:t>연장등록출원서를</a:t>
                      </a:r>
                      <a:r>
                        <a:rPr lang="ko-KR" altLang="en-US" sz="1000" kern="1200" dirty="0">
                          <a:latin typeface="+mn-ea"/>
                          <a:ea typeface="+mn-ea"/>
                        </a:rPr>
                        <a:t> 지식재산처장에게 제출하여야 한다</a:t>
                      </a:r>
                      <a:r>
                        <a:rPr lang="en-US" altLang="ko-KR" sz="1000" kern="1200" dirty="0">
                          <a:latin typeface="+mn-ea"/>
                          <a:ea typeface="+mn-ea"/>
                        </a:rPr>
                        <a:t>.</a:t>
                      </a:r>
                      <a:endParaRPr lang="ko-KR" altLang="en-US" sz="1000" kern="1200" dirty="0">
                        <a:latin typeface="+mn-ea"/>
                        <a:ea typeface="+mn-ea"/>
                      </a:endParaRPr>
                    </a:p>
                    <a:p>
                      <a:pPr marL="198120" marR="0" indent="-19812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1. </a:t>
                      </a:r>
                      <a:r>
                        <a:rPr lang="ko-KR" altLang="en-US" sz="1000" kern="1200" dirty="0">
                          <a:latin typeface="+mn-ea"/>
                          <a:ea typeface="+mn-ea"/>
                        </a:rPr>
                        <a:t>연장등록출원인의 성명 및 주소</a:t>
                      </a:r>
                      <a:r>
                        <a:rPr lang="en-US" altLang="ko-KR" sz="1000" kern="1200" dirty="0">
                          <a:latin typeface="+mn-ea"/>
                          <a:ea typeface="+mn-ea"/>
                        </a:rPr>
                        <a:t>(</a:t>
                      </a:r>
                      <a:r>
                        <a:rPr lang="ko-KR" altLang="en-US" sz="1000" kern="1200" dirty="0">
                          <a:latin typeface="+mn-ea"/>
                          <a:ea typeface="+mn-ea"/>
                        </a:rPr>
                        <a:t>법인인 경우에는 그 명칭 및 영업소의 소재지</a:t>
                      </a:r>
                      <a:r>
                        <a:rPr lang="en-US" altLang="ko-KR" sz="1000" kern="1200" dirty="0">
                          <a:latin typeface="+mn-ea"/>
                          <a:ea typeface="+mn-ea"/>
                        </a:rPr>
                        <a:t>)</a:t>
                      </a:r>
                      <a:endParaRPr lang="ko-KR" altLang="en-US" sz="1000" kern="1200" dirty="0">
                        <a:latin typeface="+mn-ea"/>
                        <a:ea typeface="+mn-ea"/>
                      </a:endParaRPr>
                    </a:p>
                    <a:p>
                      <a:pPr marL="204470" marR="0" indent="-20447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2. </a:t>
                      </a:r>
                      <a:r>
                        <a:rPr lang="ko-KR" altLang="en-US" sz="1000" kern="1200" dirty="0">
                          <a:latin typeface="+mn-ea"/>
                          <a:ea typeface="+mn-ea"/>
                        </a:rPr>
                        <a:t>연장등록출원인의 대리인이 있는 경우에는 그 대리인의 성명 및 주소나 영업소의 소재지</a:t>
                      </a:r>
                      <a:r>
                        <a:rPr lang="en-US" altLang="ko-KR" sz="1000" kern="1200" dirty="0">
                          <a:latin typeface="+mn-ea"/>
                          <a:ea typeface="+mn-ea"/>
                        </a:rPr>
                        <a:t>[</a:t>
                      </a:r>
                      <a:r>
                        <a:rPr lang="ko-KR" altLang="en-US" sz="1000" kern="1200" dirty="0">
                          <a:latin typeface="+mn-ea"/>
                          <a:ea typeface="+mn-ea"/>
                        </a:rPr>
                        <a:t>대리인이 특허법인</a:t>
                      </a:r>
                      <a:r>
                        <a:rPr lang="en-US" altLang="ko-KR" sz="1000" kern="1200" dirty="0">
                          <a:latin typeface="+mn-ea"/>
                          <a:ea typeface="+mn-ea"/>
                        </a:rPr>
                        <a:t>·</a:t>
                      </a:r>
                      <a:r>
                        <a:rPr lang="ko-KR" altLang="en-US" sz="1000" kern="1200" dirty="0">
                          <a:latin typeface="+mn-ea"/>
                          <a:ea typeface="+mn-ea"/>
                        </a:rPr>
                        <a:t>특허법인</a:t>
                      </a:r>
                      <a:r>
                        <a:rPr lang="en-US" altLang="ko-KR" sz="1000" kern="1200" dirty="0">
                          <a:latin typeface="+mn-ea"/>
                          <a:ea typeface="+mn-ea"/>
                        </a:rPr>
                        <a:t>(</a:t>
                      </a:r>
                      <a:r>
                        <a:rPr lang="ko-KR" altLang="en-US" sz="1000" kern="1200" dirty="0">
                          <a:latin typeface="+mn-ea"/>
                          <a:ea typeface="+mn-ea"/>
                        </a:rPr>
                        <a:t>유한</a:t>
                      </a:r>
                      <a:r>
                        <a:rPr lang="en-US" altLang="ko-KR" sz="1000" kern="1200" dirty="0">
                          <a:latin typeface="+mn-ea"/>
                          <a:ea typeface="+mn-ea"/>
                        </a:rPr>
                        <a:t>)</a:t>
                      </a:r>
                      <a:r>
                        <a:rPr lang="ko-KR" altLang="en-US" sz="1000" kern="1200" dirty="0">
                          <a:latin typeface="+mn-ea"/>
                          <a:ea typeface="+mn-ea"/>
                        </a:rPr>
                        <a:t>인 경우에는 그 명칭</a:t>
                      </a:r>
                      <a:r>
                        <a:rPr lang="en-US" altLang="ko-KR" sz="1000" kern="1200" dirty="0">
                          <a:latin typeface="+mn-ea"/>
                          <a:ea typeface="+mn-ea"/>
                        </a:rPr>
                        <a:t>, </a:t>
                      </a:r>
                      <a:r>
                        <a:rPr lang="ko-KR" altLang="en-US" sz="1000" kern="1200" dirty="0">
                          <a:latin typeface="+mn-ea"/>
                          <a:ea typeface="+mn-ea"/>
                        </a:rPr>
                        <a:t>사무소의 소재지 및 지정된 변리사의 성명</a:t>
                      </a:r>
                      <a:r>
                        <a:rPr lang="en-US" altLang="ko-KR" sz="1000" kern="1200" dirty="0">
                          <a:latin typeface="+mn-ea"/>
                          <a:ea typeface="+mn-ea"/>
                        </a:rPr>
                        <a:t>]</a:t>
                      </a:r>
                      <a:endParaRPr lang="ko-KR" altLang="en-US" sz="1000" kern="1200" dirty="0">
                        <a:latin typeface="+mn-ea"/>
                        <a:ea typeface="+mn-ea"/>
                      </a:endParaRPr>
                    </a:p>
                    <a:p>
                      <a:pPr marL="208280" marR="0" indent="-20828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3. </a:t>
                      </a:r>
                      <a:r>
                        <a:rPr lang="ko-KR" altLang="en-US" sz="1000" kern="1200" dirty="0">
                          <a:latin typeface="+mn-ea"/>
                          <a:ea typeface="+mn-ea"/>
                        </a:rPr>
                        <a:t>연장대상특허권의 특허번호 및 </a:t>
                      </a:r>
                      <a:r>
                        <a:rPr lang="ko-KR" altLang="en-US" sz="1000" u="sng" kern="1200" dirty="0">
                          <a:latin typeface="+mn-ea"/>
                          <a:ea typeface="+mn-ea"/>
                        </a:rPr>
                        <a:t>연장대상청구범위의 표시</a:t>
                      </a:r>
                    </a:p>
                    <a:p>
                      <a:pPr marL="0" marR="0" indent="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4. </a:t>
                      </a:r>
                      <a:r>
                        <a:rPr lang="ko-KR" altLang="en-US" sz="1000" kern="1200" dirty="0">
                          <a:latin typeface="+mn-ea"/>
                          <a:ea typeface="+mn-ea"/>
                        </a:rPr>
                        <a:t>연장신청의 기간</a:t>
                      </a:r>
                    </a:p>
                    <a:p>
                      <a:pPr marL="0" marR="0" indent="0" algn="just" fontAlgn="base" latinLnBrk="1">
                        <a:lnSpc>
                          <a:spcPct val="100000"/>
                        </a:lnSpc>
                        <a:spcBef>
                          <a:spcPts val="0"/>
                        </a:spcBef>
                        <a:spcAft>
                          <a:spcPts val="0"/>
                        </a:spcAft>
                        <a:tabLst>
                          <a:tab pos="152400" algn="l"/>
                          <a:tab pos="359410" algn="l"/>
                          <a:tab pos="152400" algn="l"/>
                          <a:tab pos="359410" algn="l"/>
                        </a:tabLst>
                      </a:pPr>
                      <a:r>
                        <a:rPr lang="en-US" altLang="ko-KR" sz="1000" u="sng" kern="1200" dirty="0">
                          <a:latin typeface="+mn-ea"/>
                          <a:ea typeface="+mn-ea"/>
                        </a:rPr>
                        <a:t>5. </a:t>
                      </a:r>
                      <a:r>
                        <a:rPr lang="ko-KR" altLang="en-US" sz="1000" u="sng" kern="1200" dirty="0">
                          <a:latin typeface="+mn-ea"/>
                          <a:ea typeface="+mn-ea"/>
                        </a:rPr>
                        <a:t>제</a:t>
                      </a:r>
                      <a:r>
                        <a:rPr lang="en-US" altLang="ko-KR" sz="1000" u="sng" kern="1200" dirty="0">
                          <a:latin typeface="+mn-ea"/>
                          <a:ea typeface="+mn-ea"/>
                        </a:rPr>
                        <a:t>89</a:t>
                      </a:r>
                      <a:r>
                        <a:rPr lang="ko-KR" altLang="en-US" sz="1000" u="sng" kern="1200" dirty="0">
                          <a:latin typeface="+mn-ea"/>
                          <a:ea typeface="+mn-ea"/>
                        </a:rPr>
                        <a:t>조제</a:t>
                      </a:r>
                      <a:r>
                        <a:rPr lang="en-US" altLang="ko-KR" sz="1000" u="sng" kern="1200" dirty="0">
                          <a:latin typeface="+mn-ea"/>
                          <a:ea typeface="+mn-ea"/>
                        </a:rPr>
                        <a:t>1</a:t>
                      </a:r>
                      <a:r>
                        <a:rPr lang="ko-KR" altLang="en-US" sz="1000" u="sng" kern="1200" dirty="0">
                          <a:latin typeface="+mn-ea"/>
                          <a:ea typeface="+mn-ea"/>
                        </a:rPr>
                        <a:t>항에 따른 허가 등의 내용</a:t>
                      </a:r>
                    </a:p>
                    <a:p>
                      <a:pPr marL="199390" marR="0" indent="-19939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6. </a:t>
                      </a:r>
                      <a:r>
                        <a:rPr lang="ko-KR" altLang="en-US" sz="1000" kern="1200" dirty="0">
                          <a:latin typeface="+mn-ea"/>
                          <a:ea typeface="+mn-ea"/>
                        </a:rPr>
                        <a:t>총리령으로 정하는 연장이유</a:t>
                      </a:r>
                      <a:r>
                        <a:rPr lang="en-US" altLang="ko-KR" sz="1000" kern="1200" dirty="0">
                          <a:latin typeface="+mn-ea"/>
                          <a:ea typeface="+mn-ea"/>
                        </a:rPr>
                        <a:t>(</a:t>
                      </a:r>
                      <a:r>
                        <a:rPr lang="ko-KR" altLang="en-US" sz="1000" kern="1200" dirty="0">
                          <a:latin typeface="+mn-ea"/>
                          <a:ea typeface="+mn-ea"/>
                        </a:rPr>
                        <a:t>이를 증명할 수 있는 자료를 첨부하여야 한다</a:t>
                      </a:r>
                      <a:r>
                        <a:rPr lang="en-US" altLang="ko-KR" sz="1000" kern="1200" dirty="0">
                          <a:latin typeface="+mn-ea"/>
                          <a:ea typeface="+mn-ea"/>
                        </a:rPr>
                        <a:t>)</a:t>
                      </a:r>
                    </a:p>
                    <a:p>
                      <a:pPr marL="199390" marR="0" indent="-199390" algn="just" fontAlgn="base" latinLnBrk="1">
                        <a:lnSpc>
                          <a:spcPct val="100000"/>
                        </a:lnSpc>
                        <a:spcBef>
                          <a:spcPts val="0"/>
                        </a:spcBef>
                        <a:spcAft>
                          <a:spcPts val="0"/>
                        </a:spcAft>
                        <a:tabLst>
                          <a:tab pos="152400" algn="l"/>
                          <a:tab pos="359410" algn="l"/>
                          <a:tab pos="152400" algn="l"/>
                          <a:tab pos="359410" algn="l"/>
                        </a:tabLst>
                      </a:pPr>
                      <a:endParaRPr lang="ko-KR" altLang="en-US" sz="1000" kern="1200" dirty="0">
                        <a:latin typeface="+mn-ea"/>
                        <a:ea typeface="+mn-ea"/>
                      </a:endParaRPr>
                    </a:p>
                    <a:p>
                      <a:pPr marL="158750" marR="0" indent="-15875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②</a:t>
                      </a:r>
                      <a:r>
                        <a:rPr lang="ko-KR" altLang="en-US" sz="1000" b="1" kern="1200" dirty="0">
                          <a:latin typeface="+mn-ea"/>
                          <a:ea typeface="+mn-ea"/>
                        </a:rPr>
                        <a:t> </a:t>
                      </a:r>
                      <a:r>
                        <a:rPr lang="en-US" altLang="ko-KR" sz="1000" b="1" kern="1200" dirty="0">
                          <a:latin typeface="+mn-ea"/>
                          <a:ea typeface="+mn-ea"/>
                        </a:rPr>
                        <a:t>(</a:t>
                      </a:r>
                      <a:r>
                        <a:rPr lang="ko-KR" altLang="en-US" sz="1000" b="1" kern="1200" dirty="0">
                          <a:latin typeface="+mn-ea"/>
                          <a:ea typeface="+mn-ea"/>
                        </a:rPr>
                        <a:t>시기적 요건</a:t>
                      </a:r>
                      <a:r>
                        <a:rPr lang="en-US" altLang="ko-KR" sz="1000" b="1" kern="1200" dirty="0">
                          <a:latin typeface="+mn-ea"/>
                          <a:ea typeface="+mn-ea"/>
                        </a:rPr>
                        <a:t>)</a:t>
                      </a:r>
                      <a:r>
                        <a:rPr lang="ko-KR" altLang="en-US" sz="1000" b="1" kern="1200" dirty="0">
                          <a:latin typeface="+mn-ea"/>
                          <a:ea typeface="+mn-ea"/>
                        </a:rPr>
                        <a:t> </a:t>
                      </a:r>
                      <a:r>
                        <a:rPr lang="ko-KR" altLang="en-US" sz="1000" kern="1200" dirty="0">
                          <a:latin typeface="+mn-ea"/>
                          <a:ea typeface="+mn-ea"/>
                        </a:rPr>
                        <a:t>제</a:t>
                      </a:r>
                      <a:r>
                        <a:rPr lang="en-US" altLang="ko-KR" sz="1000" kern="1200" dirty="0">
                          <a:latin typeface="+mn-ea"/>
                          <a:ea typeface="+mn-ea"/>
                        </a:rPr>
                        <a:t>1</a:t>
                      </a:r>
                      <a:r>
                        <a:rPr lang="ko-KR" altLang="en-US" sz="1000" kern="1200" dirty="0">
                          <a:latin typeface="+mn-ea"/>
                          <a:ea typeface="+mn-ea"/>
                        </a:rPr>
                        <a:t>항에 따른 특허권의 존속기간의 연장등록출원은 제</a:t>
                      </a:r>
                      <a:r>
                        <a:rPr lang="en-US" altLang="ko-KR" sz="1000" kern="1200" dirty="0">
                          <a:latin typeface="+mn-ea"/>
                          <a:ea typeface="+mn-ea"/>
                        </a:rPr>
                        <a:t>89</a:t>
                      </a:r>
                      <a:r>
                        <a:rPr lang="ko-KR" altLang="en-US" sz="1000" kern="1200" dirty="0">
                          <a:latin typeface="+mn-ea"/>
                          <a:ea typeface="+mn-ea"/>
                        </a:rPr>
                        <a:t>조제</a:t>
                      </a:r>
                      <a:r>
                        <a:rPr lang="en-US" altLang="ko-KR" sz="1000" kern="1200" dirty="0">
                          <a:latin typeface="+mn-ea"/>
                          <a:ea typeface="+mn-ea"/>
                        </a:rPr>
                        <a:t>1</a:t>
                      </a:r>
                      <a:r>
                        <a:rPr lang="ko-KR" altLang="en-US" sz="1000" kern="1200" dirty="0">
                          <a:latin typeface="+mn-ea"/>
                          <a:ea typeface="+mn-ea"/>
                        </a:rPr>
                        <a:t>항에 따른 허가 등을 받은 날부터 </a:t>
                      </a:r>
                      <a:r>
                        <a:rPr lang="en-US" altLang="ko-KR" sz="1000" kern="1200" dirty="0">
                          <a:latin typeface="+mn-ea"/>
                          <a:ea typeface="+mn-ea"/>
                        </a:rPr>
                        <a:t>3</a:t>
                      </a:r>
                      <a:r>
                        <a:rPr lang="ko-KR" altLang="en-US" sz="1000" kern="1200" dirty="0">
                          <a:latin typeface="+mn-ea"/>
                          <a:ea typeface="+mn-ea"/>
                        </a:rPr>
                        <a:t>개월 이내에 출원하여야 한다</a:t>
                      </a:r>
                      <a:r>
                        <a:rPr lang="en-US" altLang="ko-KR" sz="1000" kern="1200" dirty="0">
                          <a:latin typeface="+mn-ea"/>
                          <a:ea typeface="+mn-ea"/>
                        </a:rPr>
                        <a:t>. </a:t>
                      </a:r>
                      <a:r>
                        <a:rPr lang="ko-KR" altLang="en-US" sz="1000" kern="1200" dirty="0">
                          <a:latin typeface="+mn-ea"/>
                          <a:ea typeface="+mn-ea"/>
                        </a:rPr>
                        <a:t>다만</a:t>
                      </a:r>
                      <a:r>
                        <a:rPr lang="en-US" altLang="ko-KR" sz="1000" kern="1200" dirty="0">
                          <a:latin typeface="+mn-ea"/>
                          <a:ea typeface="+mn-ea"/>
                        </a:rPr>
                        <a:t>, </a:t>
                      </a:r>
                      <a:r>
                        <a:rPr lang="ko-KR" altLang="en-US" sz="1000" kern="1200" dirty="0">
                          <a:latin typeface="+mn-ea"/>
                          <a:ea typeface="+mn-ea"/>
                        </a:rPr>
                        <a:t>제</a:t>
                      </a:r>
                      <a:r>
                        <a:rPr lang="en-US" altLang="ko-KR" sz="1000" kern="1200" dirty="0">
                          <a:latin typeface="+mn-ea"/>
                          <a:ea typeface="+mn-ea"/>
                        </a:rPr>
                        <a:t>88</a:t>
                      </a:r>
                      <a:r>
                        <a:rPr lang="ko-KR" altLang="en-US" sz="1000" kern="1200" dirty="0">
                          <a:latin typeface="+mn-ea"/>
                          <a:ea typeface="+mn-ea"/>
                        </a:rPr>
                        <a:t>조에 따른 특허권의 존속기간의 만료 전 </a:t>
                      </a:r>
                      <a:r>
                        <a:rPr lang="en-US" altLang="ko-KR" sz="1000" kern="1200" dirty="0">
                          <a:latin typeface="+mn-ea"/>
                          <a:ea typeface="+mn-ea"/>
                        </a:rPr>
                        <a:t>6</a:t>
                      </a:r>
                      <a:r>
                        <a:rPr lang="ko-KR" altLang="en-US" sz="1000" kern="1200" dirty="0">
                          <a:latin typeface="+mn-ea"/>
                          <a:ea typeface="+mn-ea"/>
                        </a:rPr>
                        <a:t>개월 이후에는 그 특허권의 존속기간의 연장등록출원을 할 수 없다</a:t>
                      </a:r>
                      <a:r>
                        <a:rPr lang="en-US" altLang="ko-KR" sz="1000" kern="1200" dirty="0">
                          <a:latin typeface="+mn-ea"/>
                          <a:ea typeface="+mn-ea"/>
                        </a:rPr>
                        <a:t>.</a:t>
                      </a:r>
                    </a:p>
                    <a:p>
                      <a:pPr marL="158750" marR="0" indent="-158750" algn="just" fontAlgn="base" latinLnBrk="1">
                        <a:lnSpc>
                          <a:spcPct val="100000"/>
                        </a:lnSpc>
                        <a:spcBef>
                          <a:spcPts val="0"/>
                        </a:spcBef>
                        <a:spcAft>
                          <a:spcPts val="0"/>
                        </a:spcAft>
                        <a:tabLst>
                          <a:tab pos="152400" algn="l"/>
                          <a:tab pos="359410" algn="l"/>
                          <a:tab pos="152400" algn="l"/>
                          <a:tab pos="359410" algn="l"/>
                        </a:tabLst>
                      </a:pPr>
                      <a:endParaRPr lang="ko-KR" altLang="en-US" sz="1000" kern="1200" dirty="0">
                        <a:latin typeface="+mn-ea"/>
                        <a:ea typeface="+mn-ea"/>
                      </a:endParaRPr>
                    </a:p>
                    <a:p>
                      <a:pPr marL="160020" marR="0" indent="-16002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③</a:t>
                      </a:r>
                      <a:r>
                        <a:rPr lang="ko-KR" altLang="en-US" sz="1000" b="1" kern="1200" dirty="0">
                          <a:latin typeface="+mn-ea"/>
                          <a:ea typeface="+mn-ea"/>
                        </a:rPr>
                        <a:t> </a:t>
                      </a:r>
                      <a:r>
                        <a:rPr lang="en-US" altLang="ko-KR" sz="1000" b="1" kern="1200" dirty="0">
                          <a:latin typeface="+mn-ea"/>
                          <a:ea typeface="+mn-ea"/>
                        </a:rPr>
                        <a:t>(</a:t>
                      </a:r>
                      <a:r>
                        <a:rPr lang="ko-KR" altLang="en-US" sz="1000" b="1" kern="1200" dirty="0">
                          <a:latin typeface="+mn-ea"/>
                          <a:ea typeface="+mn-ea"/>
                        </a:rPr>
                        <a:t>주체적 요건</a:t>
                      </a:r>
                      <a:r>
                        <a:rPr lang="en-US" altLang="ko-KR" sz="1000" b="1" kern="1200" dirty="0">
                          <a:latin typeface="+mn-ea"/>
                          <a:ea typeface="+mn-ea"/>
                        </a:rPr>
                        <a:t>) </a:t>
                      </a:r>
                      <a:r>
                        <a:rPr lang="ko-KR" altLang="en-US" sz="1000" kern="1200" dirty="0">
                          <a:latin typeface="+mn-ea"/>
                          <a:ea typeface="+mn-ea"/>
                        </a:rPr>
                        <a:t>특허권이 공유인 경우에는 공유자 모두가 공동으로 특허권의 존속기간의 연장등록출원을 하여야 한다</a:t>
                      </a:r>
                      <a:r>
                        <a:rPr lang="en-US" altLang="ko-KR" sz="1000" kern="1200" dirty="0">
                          <a:latin typeface="+mn-ea"/>
                          <a:ea typeface="+mn-ea"/>
                        </a:rPr>
                        <a:t>.</a:t>
                      </a:r>
                    </a:p>
                    <a:p>
                      <a:pPr marL="160020" marR="0" indent="-160020" algn="just" fontAlgn="base" latinLnBrk="1">
                        <a:lnSpc>
                          <a:spcPct val="100000"/>
                        </a:lnSpc>
                        <a:spcBef>
                          <a:spcPts val="0"/>
                        </a:spcBef>
                        <a:spcAft>
                          <a:spcPts val="0"/>
                        </a:spcAft>
                        <a:tabLst>
                          <a:tab pos="152400" algn="l"/>
                          <a:tab pos="359410" algn="l"/>
                          <a:tab pos="152400" algn="l"/>
                          <a:tab pos="359410" algn="l"/>
                        </a:tabLst>
                      </a:pPr>
                      <a:endParaRPr lang="ko-KR" altLang="en-US" sz="1000" kern="1200" dirty="0">
                        <a:latin typeface="+mn-ea"/>
                        <a:ea typeface="+mn-ea"/>
                      </a:endParaRPr>
                    </a:p>
                    <a:p>
                      <a:pPr marL="158750" marR="0" indent="-158750" algn="just" fontAlgn="base" latinLnBrk="1">
                        <a:lnSpc>
                          <a:spcPct val="100000"/>
                        </a:lnSpc>
                        <a:spcBef>
                          <a:spcPts val="0"/>
                        </a:spcBef>
                        <a:spcAft>
                          <a:spcPts val="0"/>
                        </a:spcAft>
                        <a:tabLst>
                          <a:tab pos="152400" algn="l"/>
                          <a:tab pos="359410" algn="l"/>
                          <a:tab pos="152400" algn="l"/>
                          <a:tab pos="359410" algn="l"/>
                        </a:tabLst>
                      </a:pPr>
                      <a:r>
                        <a:rPr lang="ko-KR" altLang="en-US" sz="1000" u="sng" kern="1200" dirty="0">
                          <a:latin typeface="+mn-ea"/>
                          <a:ea typeface="+mn-ea"/>
                        </a:rPr>
                        <a:t>④ </a:t>
                      </a:r>
                      <a:r>
                        <a:rPr lang="en-US" altLang="ko-KR" sz="1000" b="1" u="sng" kern="1200" dirty="0">
                          <a:latin typeface="+mn-ea"/>
                          <a:ea typeface="+mn-ea"/>
                        </a:rPr>
                        <a:t>(</a:t>
                      </a:r>
                      <a:r>
                        <a:rPr lang="ko-KR" altLang="en-US" sz="1000" b="1" u="sng" kern="1200" dirty="0">
                          <a:latin typeface="+mn-ea"/>
                          <a:ea typeface="+mn-ea"/>
                        </a:rPr>
                        <a:t>출원의 효과</a:t>
                      </a:r>
                      <a:r>
                        <a:rPr lang="en-US" altLang="ko-KR" sz="1000" b="1" u="sng" kern="1200" dirty="0">
                          <a:latin typeface="+mn-ea"/>
                          <a:ea typeface="+mn-ea"/>
                        </a:rPr>
                        <a:t>) </a:t>
                      </a:r>
                      <a:r>
                        <a:rPr lang="ko-KR" altLang="en-US" sz="1000" u="sng" kern="1200" dirty="0">
                          <a:latin typeface="+mn-ea"/>
                          <a:ea typeface="+mn-ea"/>
                        </a:rPr>
                        <a:t>제</a:t>
                      </a:r>
                      <a:r>
                        <a:rPr lang="en-US" altLang="ko-KR" sz="1000" u="sng" kern="1200" dirty="0">
                          <a:latin typeface="+mn-ea"/>
                          <a:ea typeface="+mn-ea"/>
                        </a:rPr>
                        <a:t>1</a:t>
                      </a:r>
                      <a:r>
                        <a:rPr lang="ko-KR" altLang="en-US" sz="1000" u="sng" kern="1200" dirty="0">
                          <a:latin typeface="+mn-ea"/>
                          <a:ea typeface="+mn-ea"/>
                        </a:rPr>
                        <a:t>항에 따른 특허권의 존속기간의 연장등록출원이 있으면 그 존속기간은 연장된 것으로 본다</a:t>
                      </a:r>
                      <a:r>
                        <a:rPr lang="en-US" altLang="ko-KR" sz="1000" u="sng" kern="1200" dirty="0">
                          <a:latin typeface="+mn-ea"/>
                          <a:ea typeface="+mn-ea"/>
                        </a:rPr>
                        <a:t>. </a:t>
                      </a:r>
                      <a:r>
                        <a:rPr lang="ko-KR" altLang="en-US" sz="1000" u="sng" kern="1200" dirty="0">
                          <a:latin typeface="+mn-ea"/>
                          <a:ea typeface="+mn-ea"/>
                        </a:rPr>
                        <a:t>다만</a:t>
                      </a:r>
                      <a:r>
                        <a:rPr lang="en-US" altLang="ko-KR" sz="1000" u="sng" kern="1200" dirty="0">
                          <a:latin typeface="+mn-ea"/>
                          <a:ea typeface="+mn-ea"/>
                        </a:rPr>
                        <a:t>, </a:t>
                      </a:r>
                      <a:r>
                        <a:rPr lang="ko-KR" altLang="en-US" sz="1000" u="sng" kern="1200" dirty="0">
                          <a:latin typeface="+mn-ea"/>
                          <a:ea typeface="+mn-ea"/>
                        </a:rPr>
                        <a:t>그 출원에 관하여 제</a:t>
                      </a:r>
                      <a:r>
                        <a:rPr lang="en-US" altLang="ko-KR" sz="1000" u="sng" kern="1200" dirty="0">
                          <a:latin typeface="+mn-ea"/>
                          <a:ea typeface="+mn-ea"/>
                        </a:rPr>
                        <a:t>91</a:t>
                      </a:r>
                      <a:r>
                        <a:rPr lang="ko-KR" altLang="en-US" sz="1000" u="sng" kern="1200" dirty="0">
                          <a:latin typeface="+mn-ea"/>
                          <a:ea typeface="+mn-ea"/>
                        </a:rPr>
                        <a:t>조의 연장등록거절결정이 확정된 경우에는 그러하지 아니하다</a:t>
                      </a:r>
                      <a:r>
                        <a:rPr lang="en-US" altLang="ko-KR" sz="1000" u="sng" kern="1200" dirty="0">
                          <a:latin typeface="+mn-ea"/>
                          <a:ea typeface="+mn-ea"/>
                        </a:rPr>
                        <a:t>.</a:t>
                      </a:r>
                      <a:endParaRPr lang="ko-KR" altLang="en-US" sz="1000" u="sng" kern="1200" dirty="0">
                        <a:latin typeface="+mn-ea"/>
                        <a:ea typeface="+mn-ea"/>
                      </a:endParaRPr>
                    </a:p>
                    <a:p>
                      <a:pPr marL="153670" marR="0" indent="-153670" algn="just" fontAlgn="base" latinLnBrk="1">
                        <a:lnSpc>
                          <a:spcPct val="100000"/>
                        </a:lnSpc>
                        <a:spcBef>
                          <a:spcPts val="0"/>
                        </a:spcBef>
                        <a:spcAft>
                          <a:spcPts val="0"/>
                        </a:spcAft>
                        <a:tabLst>
                          <a:tab pos="152400" algn="l"/>
                          <a:tab pos="359410" algn="l"/>
                          <a:tab pos="152400" algn="l"/>
                          <a:tab pos="359410" algn="l"/>
                        </a:tabLst>
                      </a:pPr>
                      <a:r>
                        <a:rPr lang="ko-KR" altLang="en-US" sz="1000" u="sng" kern="1200" dirty="0">
                          <a:latin typeface="+mn-ea"/>
                          <a:ea typeface="+mn-ea"/>
                        </a:rPr>
                        <a:t>⑤</a:t>
                      </a:r>
                      <a:r>
                        <a:rPr lang="ko-KR" altLang="en-US" sz="1000" b="1" u="sng" kern="1200" dirty="0">
                          <a:latin typeface="+mn-ea"/>
                          <a:ea typeface="+mn-ea"/>
                        </a:rPr>
                        <a:t> </a:t>
                      </a:r>
                      <a:r>
                        <a:rPr lang="en-US" altLang="ko-KR" sz="1000" b="1" u="sng" kern="1200" dirty="0">
                          <a:latin typeface="+mn-ea"/>
                          <a:ea typeface="+mn-ea"/>
                        </a:rPr>
                        <a:t>(</a:t>
                      </a:r>
                      <a:r>
                        <a:rPr lang="ko-KR" altLang="en-US" sz="1000" b="1" u="sng" kern="1200" dirty="0">
                          <a:latin typeface="+mn-ea"/>
                          <a:ea typeface="+mn-ea"/>
                        </a:rPr>
                        <a:t>특허공보 게재</a:t>
                      </a:r>
                      <a:r>
                        <a:rPr lang="en-US" altLang="ko-KR" sz="1000" b="1" u="sng" kern="1200" dirty="0">
                          <a:latin typeface="+mn-ea"/>
                          <a:ea typeface="+mn-ea"/>
                        </a:rPr>
                        <a:t>)</a:t>
                      </a:r>
                      <a:r>
                        <a:rPr lang="en-US" altLang="ko-KR" sz="1000" u="sng" kern="1200" dirty="0">
                          <a:latin typeface="+mn-ea"/>
                          <a:ea typeface="+mn-ea"/>
                        </a:rPr>
                        <a:t> </a:t>
                      </a:r>
                      <a:r>
                        <a:rPr lang="ko-KR" altLang="en-US" sz="1000" u="sng" kern="1200" dirty="0">
                          <a:latin typeface="+mn-ea"/>
                          <a:ea typeface="+mn-ea"/>
                        </a:rPr>
                        <a:t>지식재산처장은 제</a:t>
                      </a:r>
                      <a:r>
                        <a:rPr lang="en-US" altLang="ko-KR" sz="1000" u="sng" kern="1200" dirty="0">
                          <a:latin typeface="+mn-ea"/>
                          <a:ea typeface="+mn-ea"/>
                        </a:rPr>
                        <a:t>1</a:t>
                      </a:r>
                      <a:r>
                        <a:rPr lang="ko-KR" altLang="en-US" sz="1000" u="sng" kern="1200" dirty="0">
                          <a:latin typeface="+mn-ea"/>
                          <a:ea typeface="+mn-ea"/>
                        </a:rPr>
                        <a:t>항에 따른 특허권의 존속기간의 연장등록출원이 있으면 제</a:t>
                      </a:r>
                      <a:r>
                        <a:rPr lang="en-US" altLang="ko-KR" sz="1000" u="sng" kern="1200" dirty="0">
                          <a:latin typeface="+mn-ea"/>
                          <a:ea typeface="+mn-ea"/>
                        </a:rPr>
                        <a:t>1</a:t>
                      </a:r>
                      <a:r>
                        <a:rPr lang="ko-KR" altLang="en-US" sz="1000" u="sng" kern="1200" dirty="0">
                          <a:latin typeface="+mn-ea"/>
                          <a:ea typeface="+mn-ea"/>
                        </a:rPr>
                        <a:t>항 각 호의 사항을 특허공보에 게재하여야 한다</a:t>
                      </a:r>
                      <a:r>
                        <a:rPr lang="en-US" altLang="ko-KR" sz="1000" u="sng" kern="1200" dirty="0">
                          <a:latin typeface="+mn-ea"/>
                          <a:ea typeface="+mn-ea"/>
                        </a:rPr>
                        <a:t>.</a:t>
                      </a:r>
                    </a:p>
                    <a:p>
                      <a:pPr marL="153670" marR="0" indent="-153670" algn="just" fontAlgn="base" latinLnBrk="1">
                        <a:lnSpc>
                          <a:spcPct val="100000"/>
                        </a:lnSpc>
                        <a:spcBef>
                          <a:spcPts val="0"/>
                        </a:spcBef>
                        <a:spcAft>
                          <a:spcPts val="0"/>
                        </a:spcAft>
                        <a:tabLst>
                          <a:tab pos="152400" algn="l"/>
                          <a:tab pos="359410" algn="l"/>
                          <a:tab pos="152400" algn="l"/>
                          <a:tab pos="359410" algn="l"/>
                        </a:tabLst>
                      </a:pPr>
                      <a:endParaRPr lang="ko-KR" altLang="en-US" sz="1000" u="sng" kern="1200" dirty="0">
                        <a:latin typeface="+mn-ea"/>
                        <a:ea typeface="+mn-ea"/>
                      </a:endParaRPr>
                    </a:p>
                    <a:p>
                      <a:pPr marL="153670" marR="0" indent="-15367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⑥ </a:t>
                      </a:r>
                      <a:r>
                        <a:rPr lang="en-US" altLang="ko-KR" sz="1000" b="1" kern="1200" dirty="0">
                          <a:latin typeface="+mn-ea"/>
                          <a:ea typeface="+mn-ea"/>
                        </a:rPr>
                        <a:t>(</a:t>
                      </a:r>
                      <a:r>
                        <a:rPr lang="ko-KR" altLang="en-US" sz="1000" b="1" kern="1200" dirty="0">
                          <a:latin typeface="+mn-ea"/>
                          <a:ea typeface="+mn-ea"/>
                        </a:rPr>
                        <a:t>출원서의 보정</a:t>
                      </a:r>
                      <a:r>
                        <a:rPr lang="en-US" altLang="ko-KR" sz="1000" b="1" kern="1200" dirty="0">
                          <a:latin typeface="+mn-ea"/>
                          <a:ea typeface="+mn-ea"/>
                        </a:rPr>
                        <a:t>)</a:t>
                      </a:r>
                      <a:r>
                        <a:rPr lang="en-US" altLang="ko-KR" sz="1000" kern="1200" dirty="0">
                          <a:latin typeface="+mn-ea"/>
                          <a:ea typeface="+mn-ea"/>
                        </a:rPr>
                        <a:t> </a:t>
                      </a:r>
                      <a:r>
                        <a:rPr lang="ko-KR" altLang="en-US" sz="1000" kern="1200" dirty="0" err="1">
                          <a:latin typeface="+mn-ea"/>
                          <a:ea typeface="+mn-ea"/>
                        </a:rPr>
                        <a:t>연장등록출원인은</a:t>
                      </a:r>
                      <a:r>
                        <a:rPr lang="ko-KR" altLang="en-US" sz="1000" kern="1200" dirty="0">
                          <a:latin typeface="+mn-ea"/>
                          <a:ea typeface="+mn-ea"/>
                        </a:rPr>
                        <a:t> </a:t>
                      </a:r>
                      <a:r>
                        <a:rPr lang="ko-KR" altLang="en-US" sz="1000" u="sng" kern="1200" dirty="0">
                          <a:latin typeface="+mn-ea"/>
                          <a:ea typeface="+mn-ea"/>
                        </a:rPr>
                        <a:t>지식재산처장이 연장등록여부결정등본을 송달하기 전까지</a:t>
                      </a:r>
                      <a:r>
                        <a:rPr lang="ko-KR" altLang="en-US" sz="1000" kern="1200" dirty="0">
                          <a:latin typeface="+mn-ea"/>
                          <a:ea typeface="+mn-ea"/>
                        </a:rPr>
                        <a:t> </a:t>
                      </a:r>
                      <a:r>
                        <a:rPr lang="ko-KR" altLang="en-US" sz="1000" kern="1200" dirty="0" err="1">
                          <a:latin typeface="+mn-ea"/>
                          <a:ea typeface="+mn-ea"/>
                        </a:rPr>
                        <a:t>연장등록출원서에</a:t>
                      </a:r>
                      <a:r>
                        <a:rPr lang="ko-KR" altLang="en-US" sz="1000" kern="1200" dirty="0">
                          <a:latin typeface="+mn-ea"/>
                          <a:ea typeface="+mn-ea"/>
                        </a:rPr>
                        <a:t> 적혀 있는 사항 중 제</a:t>
                      </a:r>
                      <a:r>
                        <a:rPr lang="en-US" altLang="ko-KR" sz="1000" kern="1200" dirty="0">
                          <a:latin typeface="+mn-ea"/>
                          <a:ea typeface="+mn-ea"/>
                        </a:rPr>
                        <a:t>1</a:t>
                      </a:r>
                      <a:r>
                        <a:rPr lang="ko-KR" altLang="en-US" sz="1000" kern="1200" dirty="0" err="1">
                          <a:latin typeface="+mn-ea"/>
                          <a:ea typeface="+mn-ea"/>
                        </a:rPr>
                        <a:t>항제</a:t>
                      </a:r>
                      <a:r>
                        <a:rPr lang="en-US" altLang="ko-KR" sz="1000" kern="1200" dirty="0">
                          <a:latin typeface="+mn-ea"/>
                          <a:ea typeface="+mn-ea"/>
                        </a:rPr>
                        <a:t>3</a:t>
                      </a:r>
                      <a:r>
                        <a:rPr lang="ko-KR" altLang="en-US" sz="1000" kern="1200" dirty="0">
                          <a:latin typeface="+mn-ea"/>
                          <a:ea typeface="+mn-ea"/>
                        </a:rPr>
                        <a:t>호부터 제</a:t>
                      </a:r>
                      <a:r>
                        <a:rPr lang="en-US" altLang="ko-KR" sz="1000" kern="1200" dirty="0">
                          <a:latin typeface="+mn-ea"/>
                          <a:ea typeface="+mn-ea"/>
                        </a:rPr>
                        <a:t>6</a:t>
                      </a:r>
                      <a:r>
                        <a:rPr lang="ko-KR" altLang="en-US" sz="1000" kern="1200" dirty="0">
                          <a:latin typeface="+mn-ea"/>
                          <a:ea typeface="+mn-ea"/>
                        </a:rPr>
                        <a:t>호까지의 사항</a:t>
                      </a:r>
                      <a:r>
                        <a:rPr lang="en-US" altLang="ko-KR" sz="1000" kern="1200" dirty="0">
                          <a:latin typeface="+mn-ea"/>
                          <a:ea typeface="+mn-ea"/>
                        </a:rPr>
                        <a:t>(</a:t>
                      </a:r>
                      <a:r>
                        <a:rPr lang="ko-KR" altLang="en-US" sz="1000" kern="1200" dirty="0">
                          <a:latin typeface="+mn-ea"/>
                          <a:ea typeface="+mn-ea"/>
                        </a:rPr>
                        <a:t>제</a:t>
                      </a:r>
                      <a:r>
                        <a:rPr lang="en-US" altLang="ko-KR" sz="1000" kern="1200" dirty="0">
                          <a:latin typeface="+mn-ea"/>
                          <a:ea typeface="+mn-ea"/>
                        </a:rPr>
                        <a:t>3</a:t>
                      </a:r>
                      <a:r>
                        <a:rPr lang="ko-KR" altLang="en-US" sz="1000" kern="1200" dirty="0">
                          <a:latin typeface="+mn-ea"/>
                          <a:ea typeface="+mn-ea"/>
                        </a:rPr>
                        <a:t>호 중 연장대상특허권의 특허번호는 제외한다</a:t>
                      </a:r>
                      <a:r>
                        <a:rPr lang="en-US" altLang="ko-KR" sz="1000" kern="1200" dirty="0">
                          <a:latin typeface="+mn-ea"/>
                          <a:ea typeface="+mn-ea"/>
                        </a:rPr>
                        <a:t>)</a:t>
                      </a:r>
                      <a:r>
                        <a:rPr lang="ko-KR" altLang="en-US" sz="1000" kern="1200" dirty="0">
                          <a:latin typeface="+mn-ea"/>
                          <a:ea typeface="+mn-ea"/>
                        </a:rPr>
                        <a:t>에 대하여 보정할 수 있다</a:t>
                      </a:r>
                      <a:r>
                        <a:rPr lang="en-US" altLang="ko-KR" sz="1000" kern="1200" dirty="0">
                          <a:latin typeface="+mn-ea"/>
                          <a:ea typeface="+mn-ea"/>
                        </a:rPr>
                        <a:t>. </a:t>
                      </a:r>
                      <a:r>
                        <a:rPr lang="ko-KR" altLang="en-US" sz="1000" kern="1200" dirty="0">
                          <a:latin typeface="+mn-ea"/>
                          <a:ea typeface="+mn-ea"/>
                        </a:rPr>
                        <a:t>다만</a:t>
                      </a:r>
                      <a:r>
                        <a:rPr lang="en-US" altLang="ko-KR" sz="1000" kern="1200" dirty="0">
                          <a:latin typeface="+mn-ea"/>
                          <a:ea typeface="+mn-ea"/>
                        </a:rPr>
                        <a:t>, </a:t>
                      </a:r>
                      <a:r>
                        <a:rPr lang="ko-KR" altLang="en-US" sz="1000" kern="1200" dirty="0">
                          <a:latin typeface="+mn-ea"/>
                          <a:ea typeface="+mn-ea"/>
                        </a:rPr>
                        <a:t>제</a:t>
                      </a:r>
                      <a:r>
                        <a:rPr lang="en-US" altLang="ko-KR" sz="1000" kern="1200" dirty="0">
                          <a:latin typeface="+mn-ea"/>
                          <a:ea typeface="+mn-ea"/>
                        </a:rPr>
                        <a:t>93</a:t>
                      </a:r>
                      <a:r>
                        <a:rPr lang="ko-KR" altLang="en-US" sz="1000" kern="1200" dirty="0">
                          <a:latin typeface="+mn-ea"/>
                          <a:ea typeface="+mn-ea"/>
                        </a:rPr>
                        <a:t>조에 따라 준용되는 거절이유통지를 받은 후에는 해당 거절이유통지에 따른 의견서 제출기간에만 보정할 수 있다</a:t>
                      </a:r>
                      <a:r>
                        <a:rPr lang="en-US" altLang="ko-KR" sz="1000" kern="1200" dirty="0">
                          <a:latin typeface="+mn-ea"/>
                          <a:ea typeface="+mn-ea"/>
                        </a:rPr>
                        <a:t>.</a:t>
                      </a:r>
                    </a:p>
                    <a:p>
                      <a:pPr marL="153670" marR="0" indent="-15367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solidFill>
                            <a:schemeClr val="tx1"/>
                          </a:solidFill>
                          <a:latin typeface="+mn-ea"/>
                          <a:ea typeface="+mn-ea"/>
                          <a:cs typeface="+mn-cs"/>
                        </a:rPr>
                        <a:t>⑦ </a:t>
                      </a:r>
                      <a:r>
                        <a:rPr lang="en-US" altLang="ko-KR" sz="1000" kern="1200" dirty="0">
                          <a:solidFill>
                            <a:schemeClr val="tx1"/>
                          </a:solidFill>
                          <a:latin typeface="+mn-ea"/>
                          <a:ea typeface="+mn-ea"/>
                          <a:cs typeface="+mn-cs"/>
                        </a:rPr>
                        <a:t>(</a:t>
                      </a:r>
                      <a:r>
                        <a:rPr lang="ko-KR" altLang="en-US" sz="1000" kern="1200" dirty="0">
                          <a:solidFill>
                            <a:schemeClr val="tx1"/>
                          </a:solidFill>
                          <a:latin typeface="+mn-ea"/>
                          <a:ea typeface="+mn-ea"/>
                          <a:cs typeface="+mn-cs"/>
                        </a:rPr>
                        <a:t>객체적 요건</a:t>
                      </a:r>
                      <a:r>
                        <a:rPr lang="en-US" altLang="ko-KR" sz="1000" kern="1200" dirty="0">
                          <a:solidFill>
                            <a:schemeClr val="tx1"/>
                          </a:solidFill>
                          <a:latin typeface="+mn-ea"/>
                          <a:ea typeface="+mn-ea"/>
                          <a:cs typeface="+mn-cs"/>
                        </a:rPr>
                        <a:t>) </a:t>
                      </a:r>
                      <a:r>
                        <a:rPr lang="ko-KR" altLang="en-US" sz="1000" kern="1200" dirty="0">
                          <a:solidFill>
                            <a:schemeClr val="tx1"/>
                          </a:solidFill>
                          <a:latin typeface="+mn-ea"/>
                          <a:ea typeface="+mn-ea"/>
                          <a:cs typeface="+mn-cs"/>
                        </a:rPr>
                        <a:t>하나의 </a:t>
                      </a:r>
                      <a:r>
                        <a:rPr lang="ko-KR" altLang="en-US" sz="1000" kern="1200" dirty="0" err="1">
                          <a:solidFill>
                            <a:schemeClr val="tx1"/>
                          </a:solidFill>
                          <a:latin typeface="+mn-ea"/>
                          <a:ea typeface="+mn-ea"/>
                          <a:cs typeface="+mn-cs"/>
                        </a:rPr>
                        <a:t>허가등에</a:t>
                      </a:r>
                      <a:r>
                        <a:rPr lang="ko-KR" altLang="en-US" sz="1000" kern="1200" dirty="0">
                          <a:solidFill>
                            <a:schemeClr val="tx1"/>
                          </a:solidFill>
                          <a:latin typeface="+mn-ea"/>
                          <a:ea typeface="+mn-ea"/>
                          <a:cs typeface="+mn-cs"/>
                        </a:rPr>
                        <a:t> 대하여 둘 이상의 특허권이 있는 경우에는 </a:t>
                      </a:r>
                      <a:r>
                        <a:rPr lang="ko-KR" altLang="en-US" sz="1000" kern="1200" dirty="0" err="1">
                          <a:solidFill>
                            <a:schemeClr val="tx1"/>
                          </a:solidFill>
                          <a:latin typeface="+mn-ea"/>
                          <a:ea typeface="+mn-ea"/>
                          <a:cs typeface="+mn-cs"/>
                        </a:rPr>
                        <a:t>연장등록출원인은</a:t>
                      </a:r>
                      <a:r>
                        <a:rPr lang="ko-KR" altLang="en-US" sz="1000" kern="1200" dirty="0">
                          <a:solidFill>
                            <a:schemeClr val="tx1"/>
                          </a:solidFill>
                          <a:latin typeface="+mn-ea"/>
                          <a:ea typeface="+mn-ea"/>
                          <a:cs typeface="+mn-cs"/>
                        </a:rPr>
                        <a:t> 그 중 하나의 특허권에 대해서만 존속기간의 연장등록출원을 하여야 하고</a:t>
                      </a:r>
                      <a:r>
                        <a:rPr lang="en-US" altLang="ko-KR" sz="1000" kern="1200" dirty="0">
                          <a:solidFill>
                            <a:schemeClr val="tx1"/>
                          </a:solidFill>
                          <a:latin typeface="+mn-ea"/>
                          <a:ea typeface="+mn-ea"/>
                          <a:cs typeface="+mn-cs"/>
                        </a:rPr>
                        <a:t>, </a:t>
                      </a:r>
                      <a:r>
                        <a:rPr lang="ko-KR" altLang="en-US" sz="1000" kern="1200" dirty="0">
                          <a:solidFill>
                            <a:schemeClr val="tx1"/>
                          </a:solidFill>
                          <a:latin typeface="+mn-ea"/>
                          <a:ea typeface="+mn-ea"/>
                          <a:cs typeface="+mn-cs"/>
                        </a:rPr>
                        <a:t>하나의 </a:t>
                      </a:r>
                      <a:r>
                        <a:rPr lang="ko-KR" altLang="en-US" sz="1000" kern="1200" dirty="0" err="1">
                          <a:solidFill>
                            <a:schemeClr val="tx1"/>
                          </a:solidFill>
                          <a:latin typeface="+mn-ea"/>
                          <a:ea typeface="+mn-ea"/>
                          <a:cs typeface="+mn-cs"/>
                        </a:rPr>
                        <a:t>허가등에</a:t>
                      </a:r>
                      <a:r>
                        <a:rPr lang="ko-KR" altLang="en-US" sz="1000" kern="1200" dirty="0">
                          <a:solidFill>
                            <a:schemeClr val="tx1"/>
                          </a:solidFill>
                          <a:latin typeface="+mn-ea"/>
                          <a:ea typeface="+mn-ea"/>
                          <a:cs typeface="+mn-cs"/>
                        </a:rPr>
                        <a:t> 대하여 둘 이상의 특허권에 대한 존속기간의 연장등록출원이 있는 경우에는 어느 특허권의 존속기간도 연장할 수 없다</a:t>
                      </a:r>
                      <a:r>
                        <a:rPr lang="en-US" altLang="ko-KR" sz="1000" kern="1200" dirty="0">
                          <a:solidFill>
                            <a:schemeClr val="tx1"/>
                          </a:solidFill>
                          <a:latin typeface="+mn-ea"/>
                          <a:ea typeface="+mn-ea"/>
                          <a:cs typeface="+mn-cs"/>
                        </a:rPr>
                        <a:t>. </a:t>
                      </a:r>
                    </a:p>
                    <a:p>
                      <a:pPr marL="153670" marR="0" indent="-15367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solidFill>
                            <a:schemeClr val="tx1"/>
                          </a:solidFill>
                          <a:latin typeface="+mn-ea"/>
                          <a:ea typeface="+mn-ea"/>
                          <a:cs typeface="+mn-cs"/>
                        </a:rPr>
                        <a:t>⑧ (</a:t>
                      </a:r>
                      <a:r>
                        <a:rPr lang="ko-KR" altLang="en-US" sz="1000" kern="1200" dirty="0">
                          <a:solidFill>
                            <a:schemeClr val="tx1"/>
                          </a:solidFill>
                          <a:latin typeface="+mn-ea"/>
                          <a:ea typeface="+mn-ea"/>
                          <a:cs typeface="+mn-cs"/>
                        </a:rPr>
                        <a:t>객체적 요건</a:t>
                      </a:r>
                      <a:r>
                        <a:rPr lang="en-US" altLang="ko-KR" sz="1000" kern="1200" dirty="0">
                          <a:solidFill>
                            <a:schemeClr val="tx1"/>
                          </a:solidFill>
                          <a:latin typeface="+mn-ea"/>
                          <a:ea typeface="+mn-ea"/>
                          <a:cs typeface="+mn-cs"/>
                        </a:rPr>
                        <a:t>) </a:t>
                      </a:r>
                      <a:r>
                        <a:rPr lang="ko-KR" altLang="en-US" sz="1000" kern="1200" dirty="0">
                          <a:solidFill>
                            <a:schemeClr val="tx1"/>
                          </a:solidFill>
                          <a:latin typeface="+mn-ea"/>
                          <a:ea typeface="+mn-ea"/>
                          <a:cs typeface="+mn-cs"/>
                        </a:rPr>
                        <a:t>특허권의 존속기간의 연장등록출원이 다음 각 호의 어느 하나에 해당하는 경우 그 출원은 제</a:t>
                      </a:r>
                      <a:r>
                        <a:rPr lang="en-US" altLang="ko-KR" sz="1000" kern="1200" dirty="0">
                          <a:solidFill>
                            <a:schemeClr val="tx1"/>
                          </a:solidFill>
                          <a:latin typeface="+mn-ea"/>
                          <a:ea typeface="+mn-ea"/>
                          <a:cs typeface="+mn-cs"/>
                        </a:rPr>
                        <a:t>7</a:t>
                      </a:r>
                      <a:r>
                        <a:rPr lang="ko-KR" altLang="en-US" sz="1000" kern="1200" dirty="0">
                          <a:solidFill>
                            <a:schemeClr val="tx1"/>
                          </a:solidFill>
                          <a:latin typeface="+mn-ea"/>
                          <a:ea typeface="+mn-ea"/>
                          <a:cs typeface="+mn-cs"/>
                        </a:rPr>
                        <a:t>항을 적용할 때는 처음부터 없었던 것으로 본다</a:t>
                      </a:r>
                      <a:r>
                        <a:rPr lang="en-US" altLang="ko-KR" sz="1000" kern="1200" dirty="0">
                          <a:solidFill>
                            <a:schemeClr val="tx1"/>
                          </a:solidFill>
                          <a:latin typeface="+mn-ea"/>
                          <a:ea typeface="+mn-ea"/>
                          <a:cs typeface="+mn-cs"/>
                        </a:rPr>
                        <a:t>. </a:t>
                      </a:r>
                    </a:p>
                    <a:p>
                      <a:pPr marL="153670" marR="0" indent="-15367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solidFill>
                            <a:schemeClr val="tx1"/>
                          </a:solidFill>
                          <a:latin typeface="+mn-ea"/>
                          <a:ea typeface="+mn-ea"/>
                          <a:cs typeface="+mn-cs"/>
                        </a:rPr>
                        <a:t>  1. </a:t>
                      </a:r>
                      <a:r>
                        <a:rPr lang="ko-KR" altLang="en-US" sz="1000" kern="1200" dirty="0">
                          <a:solidFill>
                            <a:schemeClr val="tx1"/>
                          </a:solidFill>
                          <a:latin typeface="+mn-ea"/>
                          <a:ea typeface="+mn-ea"/>
                          <a:cs typeface="+mn-cs"/>
                        </a:rPr>
                        <a:t>포기</a:t>
                      </a:r>
                      <a:r>
                        <a:rPr lang="en-US" altLang="ko-KR" sz="1000" kern="1200" dirty="0">
                          <a:solidFill>
                            <a:schemeClr val="tx1"/>
                          </a:solidFill>
                          <a:latin typeface="+mn-ea"/>
                          <a:ea typeface="+mn-ea"/>
                          <a:cs typeface="+mn-cs"/>
                        </a:rPr>
                        <a:t>, </a:t>
                      </a:r>
                      <a:r>
                        <a:rPr lang="ko-KR" altLang="en-US" sz="1000" kern="1200" dirty="0">
                          <a:solidFill>
                            <a:schemeClr val="tx1"/>
                          </a:solidFill>
                          <a:latin typeface="+mn-ea"/>
                          <a:ea typeface="+mn-ea"/>
                          <a:cs typeface="+mn-cs"/>
                        </a:rPr>
                        <a:t>무효 또는 취하된 경우</a:t>
                      </a:r>
                    </a:p>
                    <a:p>
                      <a:pPr marL="153670" marR="0" indent="-15367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solidFill>
                            <a:schemeClr val="tx1"/>
                          </a:solidFill>
                          <a:latin typeface="+mn-ea"/>
                          <a:ea typeface="+mn-ea"/>
                          <a:cs typeface="+mn-cs"/>
                        </a:rPr>
                        <a:t>  </a:t>
                      </a:r>
                      <a:r>
                        <a:rPr lang="en-US" altLang="ko-KR" sz="1000" kern="1200" dirty="0">
                          <a:solidFill>
                            <a:schemeClr val="tx1"/>
                          </a:solidFill>
                          <a:latin typeface="+mn-ea"/>
                          <a:ea typeface="+mn-ea"/>
                          <a:cs typeface="+mn-cs"/>
                        </a:rPr>
                        <a:t>2. </a:t>
                      </a:r>
                      <a:r>
                        <a:rPr lang="ko-KR" altLang="en-US" sz="1000" kern="1200" dirty="0">
                          <a:solidFill>
                            <a:schemeClr val="tx1"/>
                          </a:solidFill>
                          <a:latin typeface="+mn-ea"/>
                          <a:ea typeface="+mn-ea"/>
                          <a:cs typeface="+mn-cs"/>
                        </a:rPr>
                        <a:t>거절결정이나 거절한다는 취지의 </a:t>
                      </a:r>
                      <a:r>
                        <a:rPr lang="ko-KR" altLang="en-US" sz="1000" kern="1200" dirty="0" err="1">
                          <a:solidFill>
                            <a:schemeClr val="tx1"/>
                          </a:solidFill>
                          <a:latin typeface="+mn-ea"/>
                          <a:ea typeface="+mn-ea"/>
                          <a:cs typeface="+mn-cs"/>
                        </a:rPr>
                        <a:t>심결이</a:t>
                      </a:r>
                      <a:r>
                        <a:rPr lang="ko-KR" altLang="en-US" sz="1000" kern="1200" dirty="0">
                          <a:solidFill>
                            <a:schemeClr val="tx1"/>
                          </a:solidFill>
                          <a:latin typeface="+mn-ea"/>
                          <a:ea typeface="+mn-ea"/>
                          <a:cs typeface="+mn-cs"/>
                        </a:rPr>
                        <a:t> 확정된 경우</a:t>
                      </a:r>
                    </a:p>
                  </a:txBody>
                  <a:tcPr marL="15858" marR="15858" marT="4384" marB="4384"/>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000" b="1" kern="1200" dirty="0">
                          <a:latin typeface="+mn-ea"/>
                          <a:ea typeface="+mn-ea"/>
                        </a:rPr>
                        <a:t>제</a:t>
                      </a:r>
                      <a:r>
                        <a:rPr lang="en-US" altLang="ko-KR" sz="1000" b="1" kern="1200" dirty="0">
                          <a:latin typeface="+mn-ea"/>
                          <a:ea typeface="+mn-ea"/>
                        </a:rPr>
                        <a:t>92</a:t>
                      </a:r>
                      <a:r>
                        <a:rPr lang="ko-KR" altLang="en-US" sz="1000" b="1" kern="1200" dirty="0">
                          <a:latin typeface="+mn-ea"/>
                          <a:ea typeface="+mn-ea"/>
                        </a:rPr>
                        <a:t>조의</a:t>
                      </a:r>
                      <a:r>
                        <a:rPr lang="en-US" altLang="ko-KR" sz="1000" b="1" kern="1200" dirty="0">
                          <a:latin typeface="+mn-ea"/>
                          <a:ea typeface="+mn-ea"/>
                        </a:rPr>
                        <a:t>3【</a:t>
                      </a:r>
                      <a:r>
                        <a:rPr lang="ko-KR" altLang="en-US" sz="1000" b="1" kern="1200" dirty="0">
                          <a:latin typeface="+mn-ea"/>
                          <a:ea typeface="+mn-ea"/>
                        </a:rPr>
                        <a:t>등록지연에 따른 특허권의 존속기간의 연장등록출원</a:t>
                      </a:r>
                      <a:r>
                        <a:rPr lang="en-US" altLang="ko-KR" sz="1000" b="1" kern="1200" dirty="0">
                          <a:latin typeface="+mn-ea"/>
                          <a:ea typeface="+mn-ea"/>
                        </a:rPr>
                        <a:t>】</a:t>
                      </a:r>
                      <a:endParaRPr lang="ko-KR" altLang="en-US" sz="1000" b="1" kern="1200" dirty="0">
                        <a:latin typeface="+mn-ea"/>
                        <a:ea typeface="+mn-ea"/>
                      </a:endParaRPr>
                    </a:p>
                    <a:p>
                      <a:pPr marL="156210" marR="0" indent="-15621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①</a:t>
                      </a:r>
                      <a:r>
                        <a:rPr lang="ko-KR" altLang="en-US" sz="1000" b="1" kern="1200" dirty="0">
                          <a:latin typeface="+mn-ea"/>
                          <a:ea typeface="+mn-ea"/>
                        </a:rPr>
                        <a:t> </a:t>
                      </a:r>
                      <a:r>
                        <a:rPr lang="en-US" altLang="ko-KR" sz="1000" b="1" kern="1200" dirty="0">
                          <a:latin typeface="+mn-ea"/>
                          <a:ea typeface="+mn-ea"/>
                        </a:rPr>
                        <a:t>(</a:t>
                      </a:r>
                      <a:r>
                        <a:rPr lang="ko-KR" altLang="en-US" sz="1000" b="1" kern="1200" dirty="0">
                          <a:latin typeface="+mn-ea"/>
                          <a:ea typeface="+mn-ea"/>
                        </a:rPr>
                        <a:t>출원서 제출</a:t>
                      </a:r>
                      <a:r>
                        <a:rPr lang="en-US" altLang="ko-KR" sz="1000" b="1" kern="1200" dirty="0">
                          <a:latin typeface="+mn-ea"/>
                          <a:ea typeface="+mn-ea"/>
                        </a:rPr>
                        <a:t>) </a:t>
                      </a:r>
                      <a:r>
                        <a:rPr lang="ko-KR" altLang="en-US" sz="1000" kern="1200" dirty="0">
                          <a:latin typeface="+mn-ea"/>
                          <a:ea typeface="+mn-ea"/>
                        </a:rPr>
                        <a:t>제</a:t>
                      </a:r>
                      <a:r>
                        <a:rPr lang="en-US" altLang="ko-KR" sz="1000" kern="1200" dirty="0">
                          <a:latin typeface="+mn-ea"/>
                          <a:ea typeface="+mn-ea"/>
                        </a:rPr>
                        <a:t>92</a:t>
                      </a:r>
                      <a:r>
                        <a:rPr lang="ko-KR" altLang="en-US" sz="1000" kern="1200" dirty="0">
                          <a:latin typeface="+mn-ea"/>
                          <a:ea typeface="+mn-ea"/>
                        </a:rPr>
                        <a:t>조의</a:t>
                      </a:r>
                      <a:r>
                        <a:rPr lang="en-US" altLang="ko-KR" sz="1000" kern="1200" dirty="0">
                          <a:latin typeface="+mn-ea"/>
                          <a:ea typeface="+mn-ea"/>
                        </a:rPr>
                        <a:t>2</a:t>
                      </a:r>
                      <a:r>
                        <a:rPr lang="ko-KR" altLang="en-US" sz="1000" kern="1200" dirty="0">
                          <a:latin typeface="+mn-ea"/>
                          <a:ea typeface="+mn-ea"/>
                        </a:rPr>
                        <a:t>에 따라 특허권의 존속기간의 연장등록출원을 하려는 자</a:t>
                      </a:r>
                      <a:r>
                        <a:rPr lang="en-US" altLang="ko-KR" sz="1000" kern="1200" dirty="0">
                          <a:latin typeface="+mn-ea"/>
                          <a:ea typeface="+mn-ea"/>
                        </a:rPr>
                        <a:t>(</a:t>
                      </a:r>
                      <a:r>
                        <a:rPr lang="ko-KR" altLang="en-US" sz="1000" kern="1200" dirty="0">
                          <a:latin typeface="+mn-ea"/>
                          <a:ea typeface="+mn-ea"/>
                        </a:rPr>
                        <a:t>이하 이 조 및 제</a:t>
                      </a:r>
                      <a:r>
                        <a:rPr lang="en-US" altLang="ko-KR" sz="1000" kern="1200" dirty="0">
                          <a:latin typeface="+mn-ea"/>
                          <a:ea typeface="+mn-ea"/>
                        </a:rPr>
                        <a:t>92</a:t>
                      </a:r>
                      <a:r>
                        <a:rPr lang="ko-KR" altLang="en-US" sz="1000" kern="1200" dirty="0">
                          <a:latin typeface="+mn-ea"/>
                          <a:ea typeface="+mn-ea"/>
                        </a:rPr>
                        <a:t>조의</a:t>
                      </a:r>
                      <a:r>
                        <a:rPr lang="en-US" altLang="ko-KR" sz="1000" kern="1200" dirty="0">
                          <a:latin typeface="+mn-ea"/>
                          <a:ea typeface="+mn-ea"/>
                        </a:rPr>
                        <a:t>4</a:t>
                      </a:r>
                      <a:r>
                        <a:rPr lang="ko-KR" altLang="en-US" sz="1000" kern="1200" dirty="0">
                          <a:latin typeface="+mn-ea"/>
                          <a:ea typeface="+mn-ea"/>
                        </a:rPr>
                        <a:t>에서 </a:t>
                      </a:r>
                      <a:r>
                        <a:rPr lang="en-US" altLang="ko-KR" sz="1000" kern="1200" dirty="0">
                          <a:latin typeface="+mn-ea"/>
                          <a:ea typeface="+mn-ea"/>
                        </a:rPr>
                        <a:t>"</a:t>
                      </a:r>
                      <a:r>
                        <a:rPr lang="ko-KR" altLang="en-US" sz="1000" kern="1200" dirty="0">
                          <a:latin typeface="+mn-ea"/>
                          <a:ea typeface="+mn-ea"/>
                        </a:rPr>
                        <a:t>연장등록출원인</a:t>
                      </a:r>
                      <a:r>
                        <a:rPr lang="en-US" altLang="ko-KR" sz="1000" kern="1200" dirty="0">
                          <a:latin typeface="+mn-ea"/>
                          <a:ea typeface="+mn-ea"/>
                        </a:rPr>
                        <a:t>"</a:t>
                      </a:r>
                      <a:r>
                        <a:rPr lang="ko-KR" altLang="en-US" sz="1000" kern="1200" dirty="0">
                          <a:latin typeface="+mn-ea"/>
                          <a:ea typeface="+mn-ea"/>
                        </a:rPr>
                        <a:t>이라 한다</a:t>
                      </a:r>
                      <a:r>
                        <a:rPr lang="en-US" altLang="ko-KR" sz="1000" kern="1200" dirty="0">
                          <a:latin typeface="+mn-ea"/>
                          <a:ea typeface="+mn-ea"/>
                        </a:rPr>
                        <a:t>)</a:t>
                      </a:r>
                      <a:r>
                        <a:rPr lang="ko-KR" altLang="en-US" sz="1000" kern="1200" dirty="0">
                          <a:latin typeface="+mn-ea"/>
                          <a:ea typeface="+mn-ea"/>
                        </a:rPr>
                        <a:t>는 다음 각 호의 사항을 적은 특허권의 존속기간의 </a:t>
                      </a:r>
                      <a:r>
                        <a:rPr lang="ko-KR" altLang="en-US" sz="1000" kern="1200" dirty="0" err="1">
                          <a:latin typeface="+mn-ea"/>
                          <a:ea typeface="+mn-ea"/>
                        </a:rPr>
                        <a:t>연장등록출원서를</a:t>
                      </a:r>
                      <a:r>
                        <a:rPr lang="ko-KR" altLang="en-US" sz="1000" kern="1200" dirty="0">
                          <a:latin typeface="+mn-ea"/>
                          <a:ea typeface="+mn-ea"/>
                        </a:rPr>
                        <a:t> 지식재산처장에게 제출하여야 한다</a:t>
                      </a:r>
                      <a:r>
                        <a:rPr lang="en-US" altLang="ko-KR" sz="1000" kern="1200" dirty="0">
                          <a:latin typeface="+mn-ea"/>
                          <a:ea typeface="+mn-ea"/>
                        </a:rPr>
                        <a:t>. </a:t>
                      </a:r>
                      <a:endParaRPr lang="ko-KR" altLang="en-US" sz="1000" kern="1200" dirty="0">
                        <a:latin typeface="+mn-ea"/>
                        <a:ea typeface="+mn-ea"/>
                      </a:endParaRPr>
                    </a:p>
                    <a:p>
                      <a:pPr marL="204470" marR="0" indent="-20447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1. </a:t>
                      </a:r>
                      <a:r>
                        <a:rPr lang="ko-KR" altLang="en-US" sz="1000" kern="1200" dirty="0">
                          <a:latin typeface="+mn-ea"/>
                          <a:ea typeface="+mn-ea"/>
                        </a:rPr>
                        <a:t>연장등록출원인의 성명 및 주소</a:t>
                      </a:r>
                      <a:r>
                        <a:rPr lang="en-US" altLang="ko-KR" sz="1000" kern="1200" dirty="0">
                          <a:latin typeface="+mn-ea"/>
                          <a:ea typeface="+mn-ea"/>
                        </a:rPr>
                        <a:t>(</a:t>
                      </a:r>
                      <a:r>
                        <a:rPr lang="ko-KR" altLang="en-US" sz="1000" kern="1200" dirty="0">
                          <a:latin typeface="+mn-ea"/>
                          <a:ea typeface="+mn-ea"/>
                        </a:rPr>
                        <a:t>법인인 경우에는 그 명칭 및 영업소의 소재지</a:t>
                      </a:r>
                      <a:r>
                        <a:rPr lang="en-US" altLang="ko-KR" sz="1000" kern="1200" dirty="0">
                          <a:latin typeface="+mn-ea"/>
                          <a:ea typeface="+mn-ea"/>
                        </a:rPr>
                        <a:t>)</a:t>
                      </a:r>
                      <a:endParaRPr lang="ko-KR" altLang="en-US" sz="1000" kern="1200" dirty="0">
                        <a:latin typeface="+mn-ea"/>
                        <a:ea typeface="+mn-ea"/>
                      </a:endParaRPr>
                    </a:p>
                    <a:p>
                      <a:pPr marL="196850" marR="0" indent="-19685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2. </a:t>
                      </a:r>
                      <a:r>
                        <a:rPr lang="ko-KR" altLang="en-US" sz="1000" kern="1200" dirty="0">
                          <a:latin typeface="+mn-ea"/>
                          <a:ea typeface="+mn-ea"/>
                        </a:rPr>
                        <a:t>연장등록출원인의 대리인이 있는 경우에는 그 대리인의 성명 및 주소나 영업소의 소재지</a:t>
                      </a:r>
                      <a:r>
                        <a:rPr lang="en-US" altLang="ko-KR" sz="1000" kern="1200" dirty="0">
                          <a:latin typeface="+mn-ea"/>
                          <a:ea typeface="+mn-ea"/>
                        </a:rPr>
                        <a:t>(</a:t>
                      </a:r>
                      <a:r>
                        <a:rPr lang="ko-KR" altLang="en-US" sz="1000" kern="1200" dirty="0">
                          <a:latin typeface="+mn-ea"/>
                          <a:ea typeface="+mn-ea"/>
                        </a:rPr>
                        <a:t>대리인이 특허법인</a:t>
                      </a:r>
                      <a:r>
                        <a:rPr lang="en-US" altLang="ko-KR" sz="1000" kern="1200" dirty="0">
                          <a:latin typeface="+mn-ea"/>
                          <a:ea typeface="+mn-ea"/>
                        </a:rPr>
                        <a:t>·</a:t>
                      </a:r>
                      <a:r>
                        <a:rPr lang="ko-KR" altLang="en-US" sz="1000" kern="1200" dirty="0">
                          <a:latin typeface="+mn-ea"/>
                          <a:ea typeface="+mn-ea"/>
                        </a:rPr>
                        <a:t>특허법인</a:t>
                      </a:r>
                      <a:r>
                        <a:rPr lang="en-US" altLang="ko-KR" sz="1000" kern="1200" dirty="0">
                          <a:latin typeface="+mn-ea"/>
                          <a:ea typeface="+mn-ea"/>
                        </a:rPr>
                        <a:t>(</a:t>
                      </a:r>
                      <a:r>
                        <a:rPr lang="ko-KR" altLang="en-US" sz="1000" kern="1200" dirty="0">
                          <a:latin typeface="+mn-ea"/>
                          <a:ea typeface="+mn-ea"/>
                        </a:rPr>
                        <a:t>유한</a:t>
                      </a:r>
                      <a:r>
                        <a:rPr lang="en-US" altLang="ko-KR" sz="1000" kern="1200" dirty="0">
                          <a:latin typeface="+mn-ea"/>
                          <a:ea typeface="+mn-ea"/>
                        </a:rPr>
                        <a:t>)</a:t>
                      </a:r>
                      <a:r>
                        <a:rPr lang="ko-KR" altLang="en-US" sz="1000" kern="1200" dirty="0">
                          <a:latin typeface="+mn-ea"/>
                          <a:ea typeface="+mn-ea"/>
                        </a:rPr>
                        <a:t>인 경우에는 그 명칭</a:t>
                      </a:r>
                      <a:r>
                        <a:rPr lang="en-US" altLang="ko-KR" sz="1000" kern="1200" dirty="0">
                          <a:latin typeface="+mn-ea"/>
                          <a:ea typeface="+mn-ea"/>
                        </a:rPr>
                        <a:t>, </a:t>
                      </a:r>
                      <a:r>
                        <a:rPr lang="ko-KR" altLang="en-US" sz="1000" kern="1200" dirty="0">
                          <a:latin typeface="+mn-ea"/>
                          <a:ea typeface="+mn-ea"/>
                        </a:rPr>
                        <a:t>사무소의 소재지 및 지정된 변리사의 성명</a:t>
                      </a:r>
                      <a:r>
                        <a:rPr lang="en-US" altLang="ko-KR" sz="1000" kern="1200" dirty="0">
                          <a:latin typeface="+mn-ea"/>
                          <a:ea typeface="+mn-ea"/>
                        </a:rPr>
                        <a:t>)</a:t>
                      </a:r>
                      <a:endParaRPr lang="ko-KR" altLang="en-US" sz="1000" kern="1200" dirty="0">
                        <a:latin typeface="+mn-ea"/>
                        <a:ea typeface="+mn-ea"/>
                      </a:endParaRPr>
                    </a:p>
                    <a:p>
                      <a:pPr marL="198120" marR="0" indent="-19812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3. </a:t>
                      </a:r>
                      <a:r>
                        <a:rPr lang="ko-KR" altLang="en-US" sz="1000" kern="1200" dirty="0">
                          <a:latin typeface="+mn-ea"/>
                          <a:ea typeface="+mn-ea"/>
                        </a:rPr>
                        <a:t>연장 대상 특허권의 특허번호</a:t>
                      </a:r>
                    </a:p>
                    <a:p>
                      <a:pPr marL="198120" marR="0" indent="-19812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4. </a:t>
                      </a:r>
                      <a:r>
                        <a:rPr lang="ko-KR" altLang="en-US" sz="1000" kern="1200" dirty="0">
                          <a:latin typeface="+mn-ea"/>
                          <a:ea typeface="+mn-ea"/>
                        </a:rPr>
                        <a:t>연장신청의 기간</a:t>
                      </a:r>
                      <a:endParaRPr lang="en-US" altLang="ko-KR" sz="1000" kern="1200" dirty="0">
                        <a:latin typeface="+mn-ea"/>
                        <a:ea typeface="+mn-ea"/>
                      </a:endParaRPr>
                    </a:p>
                    <a:p>
                      <a:pPr marL="198120" marR="0" indent="-19812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98120" marR="0" indent="-19812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5. </a:t>
                      </a:r>
                      <a:r>
                        <a:rPr lang="ko-KR" altLang="en-US" sz="1000" kern="1200" dirty="0">
                          <a:latin typeface="+mn-ea"/>
                          <a:ea typeface="+mn-ea"/>
                        </a:rPr>
                        <a:t>총리령이 정하는 연장이유</a:t>
                      </a:r>
                      <a:r>
                        <a:rPr lang="en-US" altLang="ko-KR" sz="1000" kern="1200" dirty="0">
                          <a:latin typeface="+mn-ea"/>
                          <a:ea typeface="+mn-ea"/>
                        </a:rPr>
                        <a:t>(</a:t>
                      </a:r>
                      <a:r>
                        <a:rPr lang="ko-KR" altLang="en-US" sz="1000" kern="1200" dirty="0">
                          <a:latin typeface="+mn-ea"/>
                          <a:ea typeface="+mn-ea"/>
                        </a:rPr>
                        <a:t>이를 증명할 수 있는 자료를 첨부하여야 한다</a:t>
                      </a:r>
                      <a:r>
                        <a:rPr lang="en-US" altLang="ko-KR" sz="1000" kern="1200" dirty="0">
                          <a:latin typeface="+mn-ea"/>
                          <a:ea typeface="+mn-ea"/>
                        </a:rPr>
                        <a:t>)</a:t>
                      </a:r>
                    </a:p>
                    <a:p>
                      <a:pPr marL="161290" marR="0" indent="-16129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61290" marR="0" indent="-16129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②</a:t>
                      </a:r>
                      <a:r>
                        <a:rPr lang="ko-KR" altLang="en-US" sz="1000" b="1" kern="1200" dirty="0">
                          <a:latin typeface="+mn-ea"/>
                          <a:ea typeface="+mn-ea"/>
                        </a:rPr>
                        <a:t> </a:t>
                      </a:r>
                      <a:r>
                        <a:rPr lang="en-US" altLang="ko-KR" sz="1000" b="1" kern="1200" dirty="0">
                          <a:latin typeface="+mn-ea"/>
                          <a:ea typeface="+mn-ea"/>
                        </a:rPr>
                        <a:t>(</a:t>
                      </a:r>
                      <a:r>
                        <a:rPr lang="ko-KR" altLang="en-US" sz="1000" b="1" kern="1200" dirty="0">
                          <a:latin typeface="+mn-ea"/>
                          <a:ea typeface="+mn-ea"/>
                        </a:rPr>
                        <a:t>시기적 요건</a:t>
                      </a:r>
                      <a:r>
                        <a:rPr lang="en-US" altLang="ko-KR" sz="1000" b="1" kern="1200" dirty="0">
                          <a:latin typeface="+mn-ea"/>
                          <a:ea typeface="+mn-ea"/>
                        </a:rPr>
                        <a:t>)</a:t>
                      </a:r>
                      <a:r>
                        <a:rPr lang="en-US" altLang="ko-KR" sz="1000" kern="1200" dirty="0">
                          <a:latin typeface="+mn-ea"/>
                          <a:ea typeface="+mn-ea"/>
                        </a:rPr>
                        <a:t> </a:t>
                      </a:r>
                      <a:r>
                        <a:rPr lang="ko-KR" altLang="en-US" sz="1000" kern="1200" dirty="0">
                          <a:latin typeface="+mn-ea"/>
                          <a:ea typeface="+mn-ea"/>
                        </a:rPr>
                        <a:t>제</a:t>
                      </a:r>
                      <a:r>
                        <a:rPr lang="en-US" altLang="ko-KR" sz="1000" kern="1200" dirty="0">
                          <a:latin typeface="+mn-ea"/>
                          <a:ea typeface="+mn-ea"/>
                        </a:rPr>
                        <a:t>1</a:t>
                      </a:r>
                      <a:r>
                        <a:rPr lang="ko-KR" altLang="en-US" sz="1000" kern="1200" dirty="0">
                          <a:latin typeface="+mn-ea"/>
                          <a:ea typeface="+mn-ea"/>
                        </a:rPr>
                        <a:t>항에 따른 특허권의 존속기간의 연장등록출원은 특허권의 </a:t>
                      </a:r>
                      <a:r>
                        <a:rPr lang="ko-KR" altLang="en-US" sz="1000" kern="1200" dirty="0" err="1">
                          <a:latin typeface="+mn-ea"/>
                          <a:ea typeface="+mn-ea"/>
                        </a:rPr>
                        <a:t>설정등록일부터</a:t>
                      </a:r>
                      <a:r>
                        <a:rPr lang="ko-KR" altLang="en-US" sz="1000" kern="1200" dirty="0">
                          <a:latin typeface="+mn-ea"/>
                          <a:ea typeface="+mn-ea"/>
                        </a:rPr>
                        <a:t> </a:t>
                      </a:r>
                      <a:r>
                        <a:rPr lang="en-US" altLang="ko-KR" sz="1000" kern="1200" dirty="0">
                          <a:latin typeface="+mn-ea"/>
                          <a:ea typeface="+mn-ea"/>
                        </a:rPr>
                        <a:t>3</a:t>
                      </a:r>
                      <a:r>
                        <a:rPr lang="ko-KR" altLang="en-US" sz="1000" kern="1200" dirty="0">
                          <a:latin typeface="+mn-ea"/>
                          <a:ea typeface="+mn-ea"/>
                        </a:rPr>
                        <a:t>개월 이내에 출원하여야 한다</a:t>
                      </a:r>
                      <a:r>
                        <a:rPr lang="en-US" altLang="ko-KR" sz="1000" kern="1200" dirty="0">
                          <a:latin typeface="+mn-ea"/>
                          <a:ea typeface="+mn-ea"/>
                        </a:rPr>
                        <a:t>.</a:t>
                      </a:r>
                      <a:endParaRPr lang="ko-KR" altLang="en-US" sz="1000" kern="1200" dirty="0">
                        <a:latin typeface="+mn-ea"/>
                        <a:ea typeface="+mn-ea"/>
                      </a:endParaRPr>
                    </a:p>
                    <a:p>
                      <a:pPr marL="160020" marR="0" indent="-16002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60020" marR="0" indent="-16002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60020" marR="0" indent="-16002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③ </a:t>
                      </a:r>
                      <a:r>
                        <a:rPr lang="en-US" altLang="ko-KR" sz="1000" b="1" kern="1200" dirty="0">
                          <a:latin typeface="+mn-ea"/>
                          <a:ea typeface="+mn-ea"/>
                        </a:rPr>
                        <a:t>(</a:t>
                      </a:r>
                      <a:r>
                        <a:rPr lang="ko-KR" altLang="en-US" sz="1000" b="1" kern="1200" dirty="0">
                          <a:latin typeface="+mn-ea"/>
                          <a:ea typeface="+mn-ea"/>
                        </a:rPr>
                        <a:t>주체적 요건</a:t>
                      </a:r>
                      <a:r>
                        <a:rPr lang="en-US" altLang="ko-KR" sz="1000" b="1" kern="1200" dirty="0">
                          <a:latin typeface="+mn-ea"/>
                          <a:ea typeface="+mn-ea"/>
                        </a:rPr>
                        <a:t>)</a:t>
                      </a:r>
                      <a:r>
                        <a:rPr lang="en-US" altLang="ko-KR" sz="1000" kern="1200" dirty="0">
                          <a:latin typeface="+mn-ea"/>
                          <a:ea typeface="+mn-ea"/>
                        </a:rPr>
                        <a:t> </a:t>
                      </a:r>
                      <a:r>
                        <a:rPr lang="ko-KR" altLang="en-US" sz="1000" kern="1200" dirty="0">
                          <a:latin typeface="+mn-ea"/>
                          <a:ea typeface="+mn-ea"/>
                        </a:rPr>
                        <a:t>특허권이 공유인 경우에는 공유자 모두가 공동으로 특허권의 존속기간의 연장등록출원을 하여야 한다</a:t>
                      </a:r>
                      <a:r>
                        <a:rPr lang="en-US" altLang="ko-KR" sz="1000" kern="1200" dirty="0">
                          <a:latin typeface="+mn-ea"/>
                          <a:ea typeface="+mn-ea"/>
                        </a:rPr>
                        <a:t>.</a:t>
                      </a:r>
                      <a:endParaRPr lang="ko-KR" altLang="en-US" sz="1000" kern="1200" dirty="0">
                        <a:latin typeface="+mn-ea"/>
                        <a:ea typeface="+mn-ea"/>
                      </a:endParaRPr>
                    </a:p>
                    <a:p>
                      <a:pPr marL="162560" marR="0" indent="-16256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62560" marR="0" indent="-16256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62560" marR="0" indent="-16256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62560" marR="0" indent="-16256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62560" marR="0" indent="-16256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62560" marR="0" indent="-16256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62560" marR="0" indent="-16256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④ </a:t>
                      </a:r>
                      <a:r>
                        <a:rPr lang="en-US" altLang="ko-KR" sz="1000" b="1" kern="1200" dirty="0">
                          <a:latin typeface="+mn-ea"/>
                          <a:ea typeface="+mn-ea"/>
                        </a:rPr>
                        <a:t>(</a:t>
                      </a:r>
                      <a:r>
                        <a:rPr lang="ko-KR" altLang="en-US" sz="1000" b="1" kern="1200" dirty="0">
                          <a:latin typeface="+mn-ea"/>
                          <a:ea typeface="+mn-ea"/>
                        </a:rPr>
                        <a:t>출원서의 보정</a:t>
                      </a:r>
                      <a:r>
                        <a:rPr lang="en-US" altLang="ko-KR" sz="1000" b="1" kern="1200" dirty="0">
                          <a:latin typeface="+mn-ea"/>
                          <a:ea typeface="+mn-ea"/>
                        </a:rPr>
                        <a:t>)</a:t>
                      </a:r>
                      <a:r>
                        <a:rPr lang="en-US" altLang="ko-KR" sz="1000" kern="1200" dirty="0">
                          <a:latin typeface="+mn-ea"/>
                          <a:ea typeface="+mn-ea"/>
                        </a:rPr>
                        <a:t> </a:t>
                      </a:r>
                      <a:r>
                        <a:rPr lang="ko-KR" altLang="en-US" sz="1000" kern="1200" dirty="0" err="1">
                          <a:latin typeface="+mn-ea"/>
                          <a:ea typeface="+mn-ea"/>
                        </a:rPr>
                        <a:t>연장등록출원인은</a:t>
                      </a:r>
                      <a:r>
                        <a:rPr lang="ko-KR" altLang="en-US" sz="1000" kern="1200" dirty="0">
                          <a:latin typeface="+mn-ea"/>
                          <a:ea typeface="+mn-ea"/>
                        </a:rPr>
                        <a:t> </a:t>
                      </a:r>
                      <a:r>
                        <a:rPr lang="ko-KR" altLang="en-US" sz="1000" u="sng" kern="1200" dirty="0">
                          <a:latin typeface="+mn-ea"/>
                          <a:ea typeface="+mn-ea"/>
                        </a:rPr>
                        <a:t>심사관이 특허권의 존속기간의 연장등록 여부결정 전까지</a:t>
                      </a:r>
                      <a:r>
                        <a:rPr lang="ko-KR" altLang="en-US" sz="1000" kern="1200" dirty="0">
                          <a:latin typeface="+mn-ea"/>
                          <a:ea typeface="+mn-ea"/>
                        </a:rPr>
                        <a:t> </a:t>
                      </a:r>
                      <a:r>
                        <a:rPr lang="ko-KR" altLang="en-US" sz="1000" kern="1200" dirty="0" err="1">
                          <a:latin typeface="+mn-ea"/>
                          <a:ea typeface="+mn-ea"/>
                        </a:rPr>
                        <a:t>연장등록출원서에</a:t>
                      </a:r>
                      <a:r>
                        <a:rPr lang="ko-KR" altLang="en-US" sz="1000" kern="1200" dirty="0">
                          <a:latin typeface="+mn-ea"/>
                          <a:ea typeface="+mn-ea"/>
                        </a:rPr>
                        <a:t> 기재된 사항 중 제</a:t>
                      </a:r>
                      <a:r>
                        <a:rPr lang="en-US" altLang="ko-KR" sz="1000" kern="1200" dirty="0">
                          <a:latin typeface="+mn-ea"/>
                          <a:ea typeface="+mn-ea"/>
                        </a:rPr>
                        <a:t>1</a:t>
                      </a:r>
                      <a:r>
                        <a:rPr lang="ko-KR" altLang="en-US" sz="1000" kern="1200" dirty="0" err="1">
                          <a:latin typeface="+mn-ea"/>
                          <a:ea typeface="+mn-ea"/>
                        </a:rPr>
                        <a:t>항제</a:t>
                      </a:r>
                      <a:r>
                        <a:rPr lang="en-US" altLang="ko-KR" sz="1000" kern="1200" dirty="0">
                          <a:latin typeface="+mn-ea"/>
                          <a:ea typeface="+mn-ea"/>
                        </a:rPr>
                        <a:t>4</a:t>
                      </a:r>
                      <a:r>
                        <a:rPr lang="ko-KR" altLang="en-US" sz="1000" kern="1200" dirty="0">
                          <a:latin typeface="+mn-ea"/>
                          <a:ea typeface="+mn-ea"/>
                        </a:rPr>
                        <a:t>호 및 제</a:t>
                      </a:r>
                      <a:r>
                        <a:rPr lang="en-US" altLang="ko-KR" sz="1000" kern="1200" dirty="0">
                          <a:latin typeface="+mn-ea"/>
                          <a:ea typeface="+mn-ea"/>
                        </a:rPr>
                        <a:t>5</a:t>
                      </a:r>
                      <a:r>
                        <a:rPr lang="ko-KR" altLang="en-US" sz="1000" kern="1200" dirty="0">
                          <a:latin typeface="+mn-ea"/>
                          <a:ea typeface="+mn-ea"/>
                        </a:rPr>
                        <a:t>호의 사항에 대하여 보정할 수 있다</a:t>
                      </a:r>
                      <a:r>
                        <a:rPr lang="en-US" altLang="ko-KR" sz="1000" kern="1200" dirty="0">
                          <a:latin typeface="+mn-ea"/>
                          <a:ea typeface="+mn-ea"/>
                        </a:rPr>
                        <a:t>. </a:t>
                      </a:r>
                      <a:r>
                        <a:rPr lang="ko-KR" altLang="en-US" sz="1000" kern="1200" dirty="0">
                          <a:latin typeface="+mn-ea"/>
                          <a:ea typeface="+mn-ea"/>
                        </a:rPr>
                        <a:t>다만</a:t>
                      </a:r>
                      <a:r>
                        <a:rPr lang="en-US" altLang="ko-KR" sz="1000" kern="1200" dirty="0">
                          <a:latin typeface="+mn-ea"/>
                          <a:ea typeface="+mn-ea"/>
                        </a:rPr>
                        <a:t>, </a:t>
                      </a:r>
                      <a:r>
                        <a:rPr lang="ko-KR" altLang="en-US" sz="1000" kern="1200" dirty="0">
                          <a:latin typeface="+mn-ea"/>
                          <a:ea typeface="+mn-ea"/>
                        </a:rPr>
                        <a:t>제</a:t>
                      </a:r>
                      <a:r>
                        <a:rPr lang="en-US" altLang="ko-KR" sz="1000" kern="1200" dirty="0">
                          <a:latin typeface="+mn-ea"/>
                          <a:ea typeface="+mn-ea"/>
                        </a:rPr>
                        <a:t>93</a:t>
                      </a:r>
                      <a:r>
                        <a:rPr lang="ko-KR" altLang="en-US" sz="1000" kern="1200" dirty="0">
                          <a:latin typeface="+mn-ea"/>
                          <a:ea typeface="+mn-ea"/>
                        </a:rPr>
                        <a:t>조에 따라 준용되는 거절이유통지를 받은 후에는 해당 거절이유통지에 따른 의견서 제출기간에만 보정할 수 있다</a:t>
                      </a:r>
                      <a:r>
                        <a:rPr lang="en-US" altLang="ko-KR" sz="1000" kern="1200" dirty="0">
                          <a:latin typeface="+mn-ea"/>
                          <a:ea typeface="+mn-ea"/>
                        </a:rPr>
                        <a:t>.</a:t>
                      </a:r>
                      <a:endParaRPr lang="ko-KR" altLang="en-US" sz="1000" kern="1200" dirty="0">
                        <a:solidFill>
                          <a:schemeClr val="tx1"/>
                        </a:solidFill>
                        <a:latin typeface="+mn-ea"/>
                        <a:ea typeface="+mn-ea"/>
                        <a:cs typeface="+mn-cs"/>
                      </a:endParaRPr>
                    </a:p>
                  </a:txBody>
                  <a:tcPr marL="15858" marR="15858" marT="4384" marB="4384"/>
                </a:tc>
                <a:extLst>
                  <a:ext uri="{0D108BD9-81ED-4DB2-BD59-A6C34878D82A}">
                    <a16:rowId xmlns:a16="http://schemas.microsoft.com/office/drawing/2014/main" val="10001"/>
                  </a:ext>
                </a:extLst>
              </a:tr>
            </a:tbl>
          </a:graphicData>
        </a:graphic>
      </p:graphicFrame>
      <p:sp>
        <p:nvSpPr>
          <p:cNvPr id="2" name="슬라이드 번호 개체 틀 1"/>
          <p:cNvSpPr>
            <a:spLocks noGrp="1"/>
          </p:cNvSpPr>
          <p:nvPr>
            <p:ph type="sldNum" sz="quarter" idx="12"/>
          </p:nvPr>
        </p:nvSpPr>
        <p:spPr/>
        <p:txBody>
          <a:bodyPr/>
          <a:lstStyle/>
          <a:p>
            <a:r>
              <a:rPr lang="en-US" altLang="ko-KR"/>
              <a:t>303</a:t>
            </a:r>
            <a:endParaRPr lang="ko-KR" altLang="en-US"/>
          </a:p>
        </p:txBody>
      </p:sp>
      <p:sp>
        <p:nvSpPr>
          <p:cNvPr id="6" name="직사각형 5">
            <a:extLst>
              <a:ext uri="{FF2B5EF4-FFF2-40B4-BE49-F238E27FC236}">
                <a16:creationId xmlns:a16="http://schemas.microsoft.com/office/drawing/2014/main" id="{DF0F4B3F-363E-837B-8BC9-B898AC99AF77}"/>
              </a:ext>
            </a:extLst>
          </p:cNvPr>
          <p:cNvSpPr/>
          <p:nvPr/>
        </p:nvSpPr>
        <p:spPr>
          <a:xfrm>
            <a:off x="528918" y="3998259"/>
            <a:ext cx="5567082" cy="76200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 name="직선 연결선 7">
            <a:extLst>
              <a:ext uri="{FF2B5EF4-FFF2-40B4-BE49-F238E27FC236}">
                <a16:creationId xmlns:a16="http://schemas.microsoft.com/office/drawing/2014/main" id="{2B6E07A2-BB94-B288-24BF-58271C16DA4D}"/>
              </a:ext>
            </a:extLst>
          </p:cNvPr>
          <p:cNvCxnSpPr>
            <a:cxnSpLocks/>
            <a:stCxn id="6" idx="3"/>
          </p:cNvCxnSpPr>
          <p:nvPr/>
        </p:nvCxnSpPr>
        <p:spPr>
          <a:xfrm>
            <a:off x="6096000" y="4379259"/>
            <a:ext cx="1030941" cy="0"/>
          </a:xfrm>
          <a:prstGeom prst="line">
            <a:avLst/>
          </a:prstGeom>
          <a:ln w="28575">
            <a:solidFill>
              <a:srgbClr val="FF0000"/>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0" name="곱하기 기호 9">
            <a:extLst>
              <a:ext uri="{FF2B5EF4-FFF2-40B4-BE49-F238E27FC236}">
                <a16:creationId xmlns:a16="http://schemas.microsoft.com/office/drawing/2014/main" id="{BA4DF09F-DB76-35F1-F802-8473F9F85164}"/>
              </a:ext>
            </a:extLst>
          </p:cNvPr>
          <p:cNvSpPr/>
          <p:nvPr/>
        </p:nvSpPr>
        <p:spPr>
          <a:xfrm>
            <a:off x="7046257" y="3939981"/>
            <a:ext cx="842682" cy="932329"/>
          </a:xfrm>
          <a:prstGeom prst="mathMultiply">
            <a:avLst>
              <a:gd name="adj1" fmla="val 6499"/>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직사각형 10">
            <a:extLst>
              <a:ext uri="{FF2B5EF4-FFF2-40B4-BE49-F238E27FC236}">
                <a16:creationId xmlns:a16="http://schemas.microsoft.com/office/drawing/2014/main" id="{AD9FBF6F-877B-1555-5285-48FB687865DE}"/>
              </a:ext>
            </a:extLst>
          </p:cNvPr>
          <p:cNvSpPr/>
          <p:nvPr/>
        </p:nvSpPr>
        <p:spPr>
          <a:xfrm>
            <a:off x="627529" y="2944904"/>
            <a:ext cx="5396752" cy="587192"/>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 name="연결선: 꺾임 12">
            <a:extLst>
              <a:ext uri="{FF2B5EF4-FFF2-40B4-BE49-F238E27FC236}">
                <a16:creationId xmlns:a16="http://schemas.microsoft.com/office/drawing/2014/main" id="{FD338198-714A-5D5D-EA38-FF8D11D5BAAA}"/>
              </a:ext>
            </a:extLst>
          </p:cNvPr>
          <p:cNvCxnSpPr>
            <a:cxnSpLocks/>
            <a:stCxn id="11" idx="1"/>
            <a:endCxn id="6" idx="1"/>
          </p:cNvCxnSpPr>
          <p:nvPr/>
        </p:nvCxnSpPr>
        <p:spPr>
          <a:xfrm rot="10800000" flipV="1">
            <a:off x="528919" y="3238499"/>
            <a:ext cx="98611" cy="1140759"/>
          </a:xfrm>
          <a:prstGeom prst="bentConnector3">
            <a:avLst>
              <a:gd name="adj1" fmla="val 331820"/>
            </a:avLst>
          </a:prstGeom>
          <a:ln w="28575">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A0D0B15A-54DB-235D-87B5-00F176B4DCCB}"/>
              </a:ext>
            </a:extLst>
          </p:cNvPr>
          <p:cNvSpPr txBox="1"/>
          <p:nvPr/>
        </p:nvSpPr>
        <p:spPr>
          <a:xfrm>
            <a:off x="7888939" y="4135432"/>
            <a:ext cx="3890685" cy="523220"/>
          </a:xfrm>
          <a:prstGeom prst="rect">
            <a:avLst/>
          </a:prstGeom>
          <a:noFill/>
          <a:ln w="28575">
            <a:solidFill>
              <a:schemeClr val="accent4"/>
            </a:solidFill>
          </a:ln>
        </p:spPr>
        <p:txBody>
          <a:bodyPr wrap="square" rtlCol="0">
            <a:spAutoFit/>
          </a:bodyPr>
          <a:lstStyle/>
          <a:p>
            <a:r>
              <a:rPr lang="ko-KR" altLang="en-US" sz="1400" dirty="0">
                <a:solidFill>
                  <a:schemeClr val="accent4">
                    <a:lumMod val="50000"/>
                  </a:schemeClr>
                </a:solidFill>
              </a:rPr>
              <a:t>등록일로부터 </a:t>
            </a:r>
            <a:r>
              <a:rPr lang="en-US" altLang="ko-KR" sz="1400" dirty="0">
                <a:solidFill>
                  <a:schemeClr val="accent4">
                    <a:lumMod val="50000"/>
                  </a:schemeClr>
                </a:solidFill>
              </a:rPr>
              <a:t>3</a:t>
            </a:r>
            <a:r>
              <a:rPr lang="ko-KR" altLang="en-US" sz="1400" dirty="0">
                <a:solidFill>
                  <a:schemeClr val="accent4">
                    <a:lumMod val="50000"/>
                  </a:schemeClr>
                </a:solidFill>
              </a:rPr>
              <a:t>개월 이내 출원하므로</a:t>
            </a:r>
            <a:r>
              <a:rPr lang="en-US" altLang="ko-KR" sz="1400" dirty="0">
                <a:solidFill>
                  <a:schemeClr val="accent4">
                    <a:lumMod val="50000"/>
                  </a:schemeClr>
                </a:solidFill>
              </a:rPr>
              <a:t>, </a:t>
            </a:r>
            <a:r>
              <a:rPr lang="ko-KR" altLang="en-US" sz="1400" dirty="0" err="1">
                <a:solidFill>
                  <a:schemeClr val="accent4">
                    <a:lumMod val="50000"/>
                  </a:schemeClr>
                </a:solidFill>
              </a:rPr>
              <a:t>출원계속</a:t>
            </a:r>
            <a:r>
              <a:rPr lang="ko-KR" altLang="en-US" sz="1400" dirty="0">
                <a:solidFill>
                  <a:schemeClr val="accent4">
                    <a:lumMod val="50000"/>
                  </a:schemeClr>
                </a:solidFill>
              </a:rPr>
              <a:t> 중 존속기간이 만료되는 경우를 가정하지 않아도 됨</a:t>
            </a:r>
          </a:p>
        </p:txBody>
      </p:sp>
    </p:spTree>
    <p:extLst>
      <p:ext uri="{BB962C8B-B14F-4D97-AF65-F5344CB8AC3E}">
        <p14:creationId xmlns:p14="http://schemas.microsoft.com/office/powerpoint/2010/main" val="3002163607"/>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89</a:t>
            </a:r>
            <a:r>
              <a:rPr lang="ko-KR" altLang="en-US" dirty="0"/>
              <a:t>조</a:t>
            </a:r>
            <a:r>
              <a:rPr lang="en-US" altLang="ko-KR" dirty="0"/>
              <a:t>~</a:t>
            </a:r>
            <a:r>
              <a:rPr lang="ko-KR" altLang="en-US" dirty="0"/>
              <a:t>제</a:t>
            </a:r>
            <a:r>
              <a:rPr lang="en-US" altLang="ko-KR" dirty="0"/>
              <a:t>95</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법조문의 비교</a:t>
            </a:r>
          </a:p>
        </p:txBody>
      </p:sp>
      <p:graphicFrame>
        <p:nvGraphicFramePr>
          <p:cNvPr id="5" name="표 4"/>
          <p:cNvGraphicFramePr>
            <a:graphicFrameLocks noGrp="1"/>
          </p:cNvGraphicFramePr>
          <p:nvPr/>
        </p:nvGraphicFramePr>
        <p:xfrm>
          <a:off x="339837" y="1086764"/>
          <a:ext cx="11518788" cy="5509569"/>
        </p:xfrm>
        <a:graphic>
          <a:graphicData uri="http://schemas.openxmlformats.org/drawingml/2006/table">
            <a:tbl>
              <a:tblPr>
                <a:tableStyleId>{8799B23B-EC83-4686-B30A-512413B5E67A}</a:tableStyleId>
              </a:tblPr>
              <a:tblGrid>
                <a:gridCol w="361912">
                  <a:extLst>
                    <a:ext uri="{9D8B030D-6E8A-4147-A177-3AD203B41FA5}">
                      <a16:colId xmlns:a16="http://schemas.microsoft.com/office/drawing/2014/main" val="20000"/>
                    </a:ext>
                  </a:extLst>
                </a:gridCol>
                <a:gridCol w="5380074">
                  <a:extLst>
                    <a:ext uri="{9D8B030D-6E8A-4147-A177-3AD203B41FA5}">
                      <a16:colId xmlns:a16="http://schemas.microsoft.com/office/drawing/2014/main" val="20001"/>
                    </a:ext>
                  </a:extLst>
                </a:gridCol>
                <a:gridCol w="5776802">
                  <a:extLst>
                    <a:ext uri="{9D8B030D-6E8A-4147-A177-3AD203B41FA5}">
                      <a16:colId xmlns:a16="http://schemas.microsoft.com/office/drawing/2014/main" val="1596742533"/>
                    </a:ext>
                  </a:extLst>
                </a:gridCol>
              </a:tblGrid>
              <a:tr h="188051">
                <a:tc>
                  <a:txBody>
                    <a:bodyPr/>
                    <a:lstStyle/>
                    <a:p>
                      <a:pPr marL="0" marR="0" indent="0" algn="ctr" fontAlgn="base" latinLnBrk="0">
                        <a:lnSpc>
                          <a:spcPct val="100000"/>
                        </a:lnSpc>
                        <a:spcBef>
                          <a:spcPts val="0"/>
                        </a:spcBef>
                        <a:spcAft>
                          <a:spcPts val="0"/>
                        </a:spcAft>
                      </a:pPr>
                      <a:r>
                        <a:rPr lang="ko-KR" altLang="en-US" sz="1000" kern="1200" dirty="0">
                          <a:latin typeface="+mn-ea"/>
                          <a:ea typeface="+mn-ea"/>
                        </a:rPr>
                        <a:t>구분</a:t>
                      </a:r>
                      <a:endParaRPr lang="ko-KR" altLang="en-US" sz="1000" kern="1200" dirty="0">
                        <a:solidFill>
                          <a:schemeClr val="tx1"/>
                        </a:solidFill>
                        <a:latin typeface="+mn-ea"/>
                        <a:ea typeface="+mn-ea"/>
                        <a:cs typeface="+mn-cs"/>
                      </a:endParaRPr>
                    </a:p>
                  </a:txBody>
                  <a:tcPr marL="15858" marR="15858" marT="4384" marB="4384"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kern="1200" dirty="0">
                          <a:latin typeface="+mn-ea"/>
                          <a:ea typeface="+mn-ea"/>
                        </a:rPr>
                        <a:t>허가 등에 따른 존속기간 연장</a:t>
                      </a:r>
                      <a:endParaRPr lang="ko-KR" altLang="en-US" sz="1000" kern="1200" dirty="0">
                        <a:solidFill>
                          <a:schemeClr val="tx1"/>
                        </a:solidFill>
                        <a:latin typeface="+mn-ea"/>
                        <a:ea typeface="+mn-ea"/>
                        <a:cs typeface="+mn-cs"/>
                      </a:endParaRPr>
                    </a:p>
                  </a:txBody>
                  <a:tcPr marL="15858" marR="15858" marT="4384" marB="4384"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kern="1200" dirty="0">
                          <a:latin typeface="+mn-ea"/>
                          <a:ea typeface="+mn-ea"/>
                        </a:rPr>
                        <a:t>등록지연에 따른 존속기간 연장</a:t>
                      </a:r>
                      <a:endParaRPr lang="ko-KR" altLang="en-US" sz="1000" kern="1200" dirty="0">
                        <a:solidFill>
                          <a:schemeClr val="tx1"/>
                        </a:solidFill>
                        <a:latin typeface="+mn-ea"/>
                        <a:ea typeface="+mn-ea"/>
                        <a:cs typeface="+mn-cs"/>
                      </a:endParaRPr>
                    </a:p>
                  </a:txBody>
                  <a:tcPr marL="15858" marR="15858" marT="4384" marB="4384" anchor="ctr">
                    <a:solidFill>
                      <a:schemeClr val="accent1">
                        <a:lumMod val="20000"/>
                        <a:lumOff val="80000"/>
                      </a:schemeClr>
                    </a:solidFill>
                  </a:tcPr>
                </a:tc>
                <a:extLst>
                  <a:ext uri="{0D108BD9-81ED-4DB2-BD59-A6C34878D82A}">
                    <a16:rowId xmlns:a16="http://schemas.microsoft.com/office/drawing/2014/main" val="10000"/>
                  </a:ext>
                </a:extLst>
              </a:tr>
              <a:tr h="1966251">
                <a:tc>
                  <a:txBody>
                    <a:bodyPr/>
                    <a:lstStyle/>
                    <a:p>
                      <a:pPr marL="0" marR="0" indent="0" algn="ctr" fontAlgn="base" latinLnBrk="0">
                        <a:lnSpc>
                          <a:spcPct val="100000"/>
                        </a:lnSpc>
                        <a:spcBef>
                          <a:spcPts val="0"/>
                        </a:spcBef>
                        <a:spcAft>
                          <a:spcPts val="0"/>
                        </a:spcAft>
                      </a:pPr>
                      <a:r>
                        <a:rPr lang="ko-KR" altLang="en-US" sz="1000" kern="1200" dirty="0">
                          <a:latin typeface="+mn-ea"/>
                          <a:ea typeface="+mn-ea"/>
                        </a:rPr>
                        <a:t>거절결정</a:t>
                      </a:r>
                      <a:endParaRPr lang="ko-KR" altLang="en-US" sz="1000" kern="1200" dirty="0">
                        <a:solidFill>
                          <a:schemeClr val="tx1"/>
                        </a:solidFill>
                        <a:latin typeface="+mn-ea"/>
                        <a:ea typeface="+mn-ea"/>
                        <a:cs typeface="+mn-cs"/>
                      </a:endParaRPr>
                    </a:p>
                  </a:txBody>
                  <a:tcPr marL="15858" marR="15858" marT="4384" marB="4384" anchor="ctr">
                    <a:noFill/>
                  </a:tcPr>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000" b="1" kern="1200" dirty="0">
                          <a:latin typeface="+mn-ea"/>
                          <a:ea typeface="+mn-ea"/>
                        </a:rPr>
                        <a:t>제</a:t>
                      </a:r>
                      <a:r>
                        <a:rPr lang="en-US" altLang="ko-KR" sz="1000" b="1" kern="1200" dirty="0">
                          <a:latin typeface="+mn-ea"/>
                          <a:ea typeface="+mn-ea"/>
                        </a:rPr>
                        <a:t>91</a:t>
                      </a:r>
                      <a:r>
                        <a:rPr lang="ko-KR" altLang="en-US" sz="1000" b="1" kern="1200" dirty="0">
                          <a:latin typeface="+mn-ea"/>
                          <a:ea typeface="+mn-ea"/>
                        </a:rPr>
                        <a:t>조</a:t>
                      </a:r>
                      <a:r>
                        <a:rPr lang="en-US" altLang="ko-KR" sz="1000" b="1" kern="1200" dirty="0">
                          <a:latin typeface="+mn-ea"/>
                          <a:ea typeface="+mn-ea"/>
                        </a:rPr>
                        <a:t>【</a:t>
                      </a:r>
                      <a:r>
                        <a:rPr lang="ko-KR" altLang="en-US" sz="1000" b="1" kern="1200" dirty="0">
                          <a:latin typeface="+mn-ea"/>
                          <a:ea typeface="+mn-ea"/>
                        </a:rPr>
                        <a:t>허가 등에 따른 특허권의 존속기간의 연장등록거절결정</a:t>
                      </a:r>
                      <a:r>
                        <a:rPr lang="en-US" altLang="ko-KR" sz="1000" b="1" kern="1200" dirty="0">
                          <a:latin typeface="+mn-ea"/>
                          <a:ea typeface="+mn-ea"/>
                        </a:rPr>
                        <a:t>】 </a:t>
                      </a:r>
                      <a:endParaRPr lang="ko-KR" altLang="en-US" sz="1000" b="1" kern="1200" dirty="0">
                        <a:latin typeface="+mn-ea"/>
                        <a:ea typeface="+mn-ea"/>
                      </a:endParaRPr>
                    </a:p>
                    <a:p>
                      <a:pPr marL="0" marR="0" indent="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심사관은 제</a:t>
                      </a:r>
                      <a:r>
                        <a:rPr lang="en-US" altLang="ko-KR" sz="1000" kern="1200" dirty="0">
                          <a:latin typeface="+mn-ea"/>
                          <a:ea typeface="+mn-ea"/>
                        </a:rPr>
                        <a:t>90</a:t>
                      </a:r>
                      <a:r>
                        <a:rPr lang="ko-KR" altLang="en-US" sz="1000" kern="1200" dirty="0">
                          <a:latin typeface="+mn-ea"/>
                          <a:ea typeface="+mn-ea"/>
                        </a:rPr>
                        <a:t>조에 따른 특허권의 존속기간의 연장등록출원이 다음 각 호의 어느 하나에 해당하는 경우에는 그 출원에 대하여 연장등록거절결정을 하여야 한다</a:t>
                      </a:r>
                      <a:r>
                        <a:rPr lang="en-US" altLang="ko-KR" sz="1000" kern="1200" dirty="0">
                          <a:latin typeface="+mn-ea"/>
                          <a:ea typeface="+mn-ea"/>
                        </a:rPr>
                        <a:t>.</a:t>
                      </a:r>
                      <a:endParaRPr lang="ko-KR" altLang="en-US" sz="1000" kern="1200" dirty="0">
                        <a:latin typeface="+mn-ea"/>
                        <a:ea typeface="+mn-ea"/>
                      </a:endParaRPr>
                    </a:p>
                    <a:p>
                      <a:pPr marL="213360" marR="0" indent="-21336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1. </a:t>
                      </a:r>
                      <a:r>
                        <a:rPr lang="en-US" altLang="ko-KR" sz="1000" b="1" kern="1200" dirty="0">
                          <a:latin typeface="+mn-ea"/>
                          <a:ea typeface="+mn-ea"/>
                        </a:rPr>
                        <a:t>(</a:t>
                      </a:r>
                      <a:r>
                        <a:rPr lang="ko-KR" altLang="en-US" sz="1000" b="1" kern="1200" dirty="0">
                          <a:latin typeface="+mn-ea"/>
                          <a:ea typeface="+mn-ea"/>
                        </a:rPr>
                        <a:t>객체</a:t>
                      </a:r>
                      <a:r>
                        <a:rPr lang="en-US" altLang="ko-KR" sz="1000" b="1" kern="1200" dirty="0">
                          <a:latin typeface="+mn-ea"/>
                          <a:ea typeface="+mn-ea"/>
                        </a:rPr>
                        <a:t>: </a:t>
                      </a:r>
                      <a:r>
                        <a:rPr lang="ko-KR" altLang="en-US" sz="1000" b="1" kern="1200" dirty="0">
                          <a:latin typeface="+mn-ea"/>
                          <a:ea typeface="+mn-ea"/>
                        </a:rPr>
                        <a:t>허가 등의 필요성</a:t>
                      </a:r>
                      <a:r>
                        <a:rPr lang="en-US" altLang="ko-KR" sz="1000" b="1" kern="1200" dirty="0">
                          <a:latin typeface="+mn-ea"/>
                          <a:ea typeface="+mn-ea"/>
                        </a:rPr>
                        <a:t>) </a:t>
                      </a:r>
                      <a:r>
                        <a:rPr lang="ko-KR" altLang="en-US" sz="1000" kern="1200" dirty="0">
                          <a:latin typeface="+mn-ea"/>
                          <a:ea typeface="+mn-ea"/>
                        </a:rPr>
                        <a:t>그 특허발명의 실시가 제</a:t>
                      </a:r>
                      <a:r>
                        <a:rPr lang="en-US" altLang="ko-KR" sz="1000" kern="1200" dirty="0">
                          <a:latin typeface="+mn-ea"/>
                          <a:ea typeface="+mn-ea"/>
                        </a:rPr>
                        <a:t>89</a:t>
                      </a:r>
                      <a:r>
                        <a:rPr lang="ko-KR" altLang="en-US" sz="1000" kern="1200" dirty="0">
                          <a:latin typeface="+mn-ea"/>
                          <a:ea typeface="+mn-ea"/>
                        </a:rPr>
                        <a:t>조제</a:t>
                      </a:r>
                      <a:r>
                        <a:rPr lang="en-US" altLang="ko-KR" sz="1000" kern="1200" dirty="0">
                          <a:latin typeface="+mn-ea"/>
                          <a:ea typeface="+mn-ea"/>
                        </a:rPr>
                        <a:t>1</a:t>
                      </a:r>
                      <a:r>
                        <a:rPr lang="ko-KR" altLang="en-US" sz="1000" kern="1200" dirty="0">
                          <a:latin typeface="+mn-ea"/>
                          <a:ea typeface="+mn-ea"/>
                        </a:rPr>
                        <a:t>항에 따른 허가 등을 받을 필요가 있는 것으로 인정되지 아니하는 경우</a:t>
                      </a:r>
                    </a:p>
                    <a:p>
                      <a:pPr marL="200660" marR="0" lvl="0" indent="-200660" algn="just" defTabSz="914400" rtl="0" eaLnBrk="1" fontAlgn="base" latinLnBrk="1" hangingPunct="1">
                        <a:lnSpc>
                          <a:spcPct val="100000"/>
                        </a:lnSpc>
                        <a:spcBef>
                          <a:spcPts val="0"/>
                        </a:spcBef>
                        <a:spcAft>
                          <a:spcPts val="0"/>
                        </a:spcAft>
                        <a:buClrTx/>
                        <a:buSzTx/>
                        <a:buFontTx/>
                        <a:buNone/>
                        <a:tabLst>
                          <a:tab pos="152400" algn="l"/>
                          <a:tab pos="359410" algn="l"/>
                          <a:tab pos="152400" algn="l"/>
                          <a:tab pos="359410" algn="l"/>
                        </a:tabLst>
                        <a:defRPr/>
                      </a:pPr>
                      <a:r>
                        <a:rPr lang="en-US" altLang="ko-KR" sz="1000" kern="1200" dirty="0">
                          <a:latin typeface="+mn-ea"/>
                          <a:ea typeface="+mn-ea"/>
                        </a:rPr>
                        <a:t>2.</a:t>
                      </a:r>
                      <a:r>
                        <a:rPr lang="en-US" altLang="ko-KR" sz="1000" b="1" kern="1200" dirty="0">
                          <a:latin typeface="+mn-ea"/>
                          <a:ea typeface="+mn-ea"/>
                        </a:rPr>
                        <a:t> </a:t>
                      </a:r>
                      <a:r>
                        <a:rPr lang="en-US" altLang="ko-KR" sz="1000" b="1" kern="1200" dirty="0">
                          <a:solidFill>
                            <a:schemeClr val="tx1"/>
                          </a:solidFill>
                          <a:effectLst/>
                          <a:latin typeface="+mn-lt"/>
                          <a:ea typeface="+mn-ea"/>
                          <a:cs typeface="+mn-cs"/>
                        </a:rPr>
                        <a:t>(</a:t>
                      </a:r>
                      <a:r>
                        <a:rPr lang="ko-KR" altLang="en-US" sz="1000" b="1" kern="1200" dirty="0">
                          <a:solidFill>
                            <a:schemeClr val="tx1"/>
                          </a:solidFill>
                          <a:effectLst/>
                          <a:latin typeface="+mn-lt"/>
                          <a:ea typeface="+mn-ea"/>
                          <a:cs typeface="+mn-cs"/>
                        </a:rPr>
                        <a:t>객체</a:t>
                      </a:r>
                      <a:r>
                        <a:rPr lang="en-US" altLang="ko-KR" sz="1000" b="1" kern="1200" dirty="0">
                          <a:solidFill>
                            <a:schemeClr val="tx1"/>
                          </a:solidFill>
                          <a:effectLst/>
                          <a:latin typeface="+mn-lt"/>
                          <a:ea typeface="+mn-ea"/>
                          <a:cs typeface="+mn-cs"/>
                        </a:rPr>
                        <a:t>: </a:t>
                      </a:r>
                      <a:r>
                        <a:rPr lang="ko-KR" altLang="en-US" sz="1000" b="1" kern="1200" dirty="0">
                          <a:solidFill>
                            <a:schemeClr val="tx1"/>
                          </a:solidFill>
                          <a:effectLst/>
                          <a:latin typeface="+mn-lt"/>
                          <a:ea typeface="+mn-ea"/>
                          <a:cs typeface="+mn-cs"/>
                        </a:rPr>
                        <a:t>허가 등의 취득</a:t>
                      </a:r>
                      <a:r>
                        <a:rPr lang="en-US" altLang="ko-KR" sz="1000" b="1" kern="1200" dirty="0">
                          <a:solidFill>
                            <a:schemeClr val="tx1"/>
                          </a:solidFill>
                          <a:effectLst/>
                          <a:latin typeface="+mn-lt"/>
                          <a:ea typeface="+mn-ea"/>
                          <a:cs typeface="+mn-cs"/>
                        </a:rPr>
                        <a:t>) </a:t>
                      </a:r>
                      <a:r>
                        <a:rPr lang="ko-KR" altLang="en-US" sz="1000" kern="1200" dirty="0">
                          <a:latin typeface="+mn-ea"/>
                          <a:ea typeface="+mn-ea"/>
                        </a:rPr>
                        <a:t>그 특허권자 또는 그 특허권의 전용실시권이나 등록된 통상실시권을 가진 자가 제</a:t>
                      </a:r>
                      <a:r>
                        <a:rPr lang="en-US" altLang="ko-KR" sz="1000" kern="1200" dirty="0">
                          <a:latin typeface="+mn-ea"/>
                          <a:ea typeface="+mn-ea"/>
                        </a:rPr>
                        <a:t>89</a:t>
                      </a:r>
                      <a:r>
                        <a:rPr lang="ko-KR" altLang="en-US" sz="1000" kern="1200" dirty="0">
                          <a:latin typeface="+mn-ea"/>
                          <a:ea typeface="+mn-ea"/>
                        </a:rPr>
                        <a:t>조제</a:t>
                      </a:r>
                      <a:r>
                        <a:rPr lang="en-US" altLang="ko-KR" sz="1000" kern="1200" dirty="0">
                          <a:latin typeface="+mn-ea"/>
                          <a:ea typeface="+mn-ea"/>
                        </a:rPr>
                        <a:t>1</a:t>
                      </a:r>
                      <a:r>
                        <a:rPr lang="ko-KR" altLang="en-US" sz="1000" kern="1200" dirty="0">
                          <a:latin typeface="+mn-ea"/>
                          <a:ea typeface="+mn-ea"/>
                        </a:rPr>
                        <a:t>항에 따른 허가 등을 받지 아니한 경우</a:t>
                      </a:r>
                    </a:p>
                    <a:p>
                      <a:pPr marL="208280" marR="0" indent="-20828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3. </a:t>
                      </a:r>
                      <a:r>
                        <a:rPr lang="en-US" altLang="ko-KR" sz="1000" b="1" kern="1200" dirty="0">
                          <a:latin typeface="+mn-ea"/>
                          <a:ea typeface="+mn-ea"/>
                        </a:rPr>
                        <a:t>(</a:t>
                      </a:r>
                      <a:r>
                        <a:rPr lang="ko-KR" altLang="en-US" sz="1000" b="1" kern="1200" dirty="0">
                          <a:latin typeface="+mn-ea"/>
                          <a:ea typeface="+mn-ea"/>
                        </a:rPr>
                        <a:t>객체</a:t>
                      </a:r>
                      <a:r>
                        <a:rPr lang="en-US" altLang="ko-KR" sz="1000" b="1" kern="1200" dirty="0">
                          <a:latin typeface="+mn-ea"/>
                          <a:ea typeface="+mn-ea"/>
                        </a:rPr>
                        <a:t>: </a:t>
                      </a:r>
                      <a:r>
                        <a:rPr lang="ko-KR" altLang="en-US" sz="1000" b="1" kern="1200" dirty="0">
                          <a:latin typeface="+mn-ea"/>
                          <a:ea typeface="+mn-ea"/>
                        </a:rPr>
                        <a:t>연장기간</a:t>
                      </a:r>
                      <a:r>
                        <a:rPr lang="en-US" altLang="ko-KR" sz="1000" b="1" kern="1200" dirty="0">
                          <a:latin typeface="+mn-ea"/>
                          <a:ea typeface="+mn-ea"/>
                        </a:rPr>
                        <a:t>)</a:t>
                      </a:r>
                      <a:r>
                        <a:rPr lang="en-US" altLang="ko-KR" sz="1000" kern="1200" dirty="0">
                          <a:latin typeface="+mn-ea"/>
                          <a:ea typeface="+mn-ea"/>
                        </a:rPr>
                        <a:t> </a:t>
                      </a:r>
                      <a:r>
                        <a:rPr lang="ko-KR" altLang="en-US" sz="1000" kern="1200" dirty="0">
                          <a:latin typeface="+mn-ea"/>
                          <a:ea typeface="+mn-ea"/>
                        </a:rPr>
                        <a:t>연장신청의 기간이 제</a:t>
                      </a:r>
                      <a:r>
                        <a:rPr lang="en-US" altLang="ko-KR" sz="1000" kern="1200" dirty="0">
                          <a:latin typeface="+mn-ea"/>
                          <a:ea typeface="+mn-ea"/>
                        </a:rPr>
                        <a:t>89</a:t>
                      </a:r>
                      <a:r>
                        <a:rPr lang="ko-KR" altLang="en-US" sz="1000" kern="1200" dirty="0">
                          <a:latin typeface="+mn-ea"/>
                          <a:ea typeface="+mn-ea"/>
                        </a:rPr>
                        <a:t>조에 따라 인정되는 그 특허발명을 실시할 수 없었던 기간을 초과하는 경우</a:t>
                      </a:r>
                    </a:p>
                    <a:p>
                      <a:pPr marL="208280" marR="0" indent="-20828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4. </a:t>
                      </a:r>
                      <a:r>
                        <a:rPr lang="en-US" altLang="ko-KR" sz="1000" b="1" kern="1200" dirty="0">
                          <a:latin typeface="+mn-ea"/>
                          <a:ea typeface="+mn-ea"/>
                        </a:rPr>
                        <a:t>(</a:t>
                      </a:r>
                      <a:r>
                        <a:rPr lang="ko-KR" altLang="en-US" sz="1000" b="1" kern="1200" dirty="0">
                          <a:latin typeface="+mn-ea"/>
                          <a:ea typeface="+mn-ea"/>
                        </a:rPr>
                        <a:t>주체</a:t>
                      </a:r>
                      <a:r>
                        <a:rPr lang="en-US" altLang="ko-KR" sz="1000" b="1" kern="1200" dirty="0">
                          <a:latin typeface="+mn-ea"/>
                          <a:ea typeface="+mn-ea"/>
                        </a:rPr>
                        <a:t>)</a:t>
                      </a:r>
                      <a:r>
                        <a:rPr lang="ko-KR" altLang="en-US" sz="1000" b="1" kern="1200" dirty="0">
                          <a:latin typeface="+mn-ea"/>
                          <a:ea typeface="+mn-ea"/>
                        </a:rPr>
                        <a:t> </a:t>
                      </a:r>
                      <a:r>
                        <a:rPr lang="ko-KR" altLang="en-US" sz="1000" kern="1200" dirty="0" err="1">
                          <a:latin typeface="+mn-ea"/>
                          <a:ea typeface="+mn-ea"/>
                        </a:rPr>
                        <a:t>연장등록출원인이</a:t>
                      </a:r>
                      <a:r>
                        <a:rPr lang="ko-KR" altLang="en-US" sz="1000" kern="1200" dirty="0">
                          <a:latin typeface="+mn-ea"/>
                          <a:ea typeface="+mn-ea"/>
                        </a:rPr>
                        <a:t> 해당 특허권자가 아닌 경우</a:t>
                      </a:r>
                    </a:p>
                    <a:p>
                      <a:pPr marL="210820" marR="0" indent="-21082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5. </a:t>
                      </a:r>
                      <a:r>
                        <a:rPr lang="en-US" altLang="ko-KR" sz="1000" b="1" kern="1200" dirty="0">
                          <a:latin typeface="+mn-ea"/>
                          <a:ea typeface="+mn-ea"/>
                        </a:rPr>
                        <a:t>(</a:t>
                      </a:r>
                      <a:r>
                        <a:rPr lang="ko-KR" altLang="en-US" sz="1000" b="1" kern="1200" dirty="0">
                          <a:latin typeface="+mn-ea"/>
                          <a:ea typeface="+mn-ea"/>
                        </a:rPr>
                        <a:t>주체</a:t>
                      </a:r>
                      <a:r>
                        <a:rPr lang="en-US" altLang="ko-KR" sz="1000" b="1" kern="1200" dirty="0">
                          <a:latin typeface="+mn-ea"/>
                          <a:ea typeface="+mn-ea"/>
                        </a:rPr>
                        <a:t>) </a:t>
                      </a:r>
                      <a:r>
                        <a:rPr lang="ko-KR" altLang="en-US" sz="1000" kern="1200" dirty="0">
                          <a:latin typeface="+mn-ea"/>
                          <a:ea typeface="+mn-ea"/>
                        </a:rPr>
                        <a:t>제</a:t>
                      </a:r>
                      <a:r>
                        <a:rPr lang="en-US" altLang="ko-KR" sz="1000" kern="1200" dirty="0">
                          <a:latin typeface="+mn-ea"/>
                          <a:ea typeface="+mn-ea"/>
                        </a:rPr>
                        <a:t>90</a:t>
                      </a:r>
                      <a:r>
                        <a:rPr lang="ko-KR" altLang="en-US" sz="1000" kern="1200" dirty="0">
                          <a:latin typeface="+mn-ea"/>
                          <a:ea typeface="+mn-ea"/>
                        </a:rPr>
                        <a:t>조제</a:t>
                      </a:r>
                      <a:r>
                        <a:rPr lang="en-US" altLang="ko-KR" sz="1000" kern="1200" dirty="0">
                          <a:latin typeface="+mn-ea"/>
                          <a:ea typeface="+mn-ea"/>
                        </a:rPr>
                        <a:t>3</a:t>
                      </a:r>
                      <a:r>
                        <a:rPr lang="ko-KR" altLang="en-US" sz="1000" kern="1200" dirty="0">
                          <a:latin typeface="+mn-ea"/>
                          <a:ea typeface="+mn-ea"/>
                        </a:rPr>
                        <a:t>항을 위반하여 연장등록출원을 한 경우 </a:t>
                      </a:r>
                      <a:endParaRPr lang="en-US" altLang="ko-KR" sz="1000" kern="1200" dirty="0">
                        <a:latin typeface="+mn-ea"/>
                        <a:ea typeface="+mn-ea"/>
                      </a:endParaRPr>
                    </a:p>
                    <a:p>
                      <a:pPr marL="210820" marR="0" indent="-21082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6. </a:t>
                      </a:r>
                      <a:r>
                        <a:rPr lang="en-US" altLang="ko-KR" sz="1000" b="1" kern="1200" dirty="0">
                          <a:latin typeface="+mn-ea"/>
                          <a:ea typeface="+mn-ea"/>
                        </a:rPr>
                        <a:t>(</a:t>
                      </a:r>
                      <a:r>
                        <a:rPr lang="ko-KR" altLang="en-US" sz="1000" b="1" kern="1200" dirty="0">
                          <a:latin typeface="+mn-ea"/>
                          <a:ea typeface="+mn-ea"/>
                        </a:rPr>
                        <a:t>객체</a:t>
                      </a:r>
                      <a:r>
                        <a:rPr lang="en-US" altLang="ko-KR" sz="1000" b="1" kern="1200" dirty="0">
                          <a:latin typeface="+mn-ea"/>
                          <a:ea typeface="+mn-ea"/>
                        </a:rPr>
                        <a:t>: </a:t>
                      </a:r>
                      <a:r>
                        <a:rPr lang="ko-KR" altLang="en-US" sz="1000" b="1" kern="1200" dirty="0">
                          <a:latin typeface="+mn-ea"/>
                          <a:ea typeface="+mn-ea"/>
                        </a:rPr>
                        <a:t>연장횟수</a:t>
                      </a:r>
                      <a:r>
                        <a:rPr lang="en-US" altLang="ko-KR" sz="1000" b="1" kern="1200" dirty="0">
                          <a:latin typeface="+mn-ea"/>
                          <a:ea typeface="+mn-ea"/>
                        </a:rPr>
                        <a:t>) </a:t>
                      </a:r>
                      <a:r>
                        <a:rPr lang="ko-KR" altLang="en-US" sz="1000" kern="1200" dirty="0">
                          <a:latin typeface="+mn-ea"/>
                          <a:ea typeface="+mn-ea"/>
                        </a:rPr>
                        <a:t>제</a:t>
                      </a:r>
                      <a:r>
                        <a:rPr lang="en-US" altLang="ko-KR" sz="1000" kern="1200" dirty="0">
                          <a:latin typeface="+mn-ea"/>
                          <a:ea typeface="+mn-ea"/>
                        </a:rPr>
                        <a:t>90</a:t>
                      </a:r>
                      <a:r>
                        <a:rPr lang="ko-KR" altLang="en-US" sz="1000" kern="1200" dirty="0">
                          <a:latin typeface="+mn-ea"/>
                          <a:ea typeface="+mn-ea"/>
                        </a:rPr>
                        <a:t>조제</a:t>
                      </a:r>
                      <a:r>
                        <a:rPr lang="en-US" altLang="ko-KR" sz="1000" kern="1200" dirty="0">
                          <a:latin typeface="+mn-ea"/>
                          <a:ea typeface="+mn-ea"/>
                        </a:rPr>
                        <a:t>7</a:t>
                      </a:r>
                      <a:r>
                        <a:rPr lang="ko-KR" altLang="en-US" sz="1000" kern="1200" dirty="0">
                          <a:latin typeface="+mn-ea"/>
                          <a:ea typeface="+mn-ea"/>
                        </a:rPr>
                        <a:t>항을 위반하여 하나의 </a:t>
                      </a:r>
                      <a:r>
                        <a:rPr lang="ko-KR" altLang="en-US" sz="1000" kern="1200" dirty="0" err="1">
                          <a:latin typeface="+mn-ea"/>
                          <a:ea typeface="+mn-ea"/>
                        </a:rPr>
                        <a:t>허가등에</a:t>
                      </a:r>
                      <a:r>
                        <a:rPr lang="ko-KR" altLang="en-US" sz="1000" kern="1200" dirty="0">
                          <a:latin typeface="+mn-ea"/>
                          <a:ea typeface="+mn-ea"/>
                        </a:rPr>
                        <a:t> 대하여 둘 이상의 특허권에 대한 존속기간의 연장등록출원을 한 경우</a:t>
                      </a:r>
                      <a:endParaRPr lang="ko-KR" altLang="en-US" sz="1000" kern="1200" dirty="0">
                        <a:solidFill>
                          <a:schemeClr val="tx1"/>
                        </a:solidFill>
                        <a:latin typeface="+mn-ea"/>
                        <a:ea typeface="+mn-ea"/>
                        <a:cs typeface="+mn-cs"/>
                      </a:endParaRPr>
                    </a:p>
                  </a:txBody>
                  <a:tcPr marL="15858" marR="15858" marT="4384" marB="4384">
                    <a:noFill/>
                  </a:tcPr>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000" b="1" kern="1200" dirty="0">
                          <a:latin typeface="+mn-ea"/>
                          <a:ea typeface="+mn-ea"/>
                        </a:rPr>
                        <a:t>제</a:t>
                      </a:r>
                      <a:r>
                        <a:rPr lang="en-US" altLang="ko-KR" sz="1000" b="1" kern="1200" dirty="0">
                          <a:latin typeface="+mn-ea"/>
                          <a:ea typeface="+mn-ea"/>
                        </a:rPr>
                        <a:t>92</a:t>
                      </a:r>
                      <a:r>
                        <a:rPr lang="ko-KR" altLang="en-US" sz="1000" b="1" kern="1200" dirty="0">
                          <a:latin typeface="+mn-ea"/>
                          <a:ea typeface="+mn-ea"/>
                        </a:rPr>
                        <a:t>조의</a:t>
                      </a:r>
                      <a:r>
                        <a:rPr lang="en-US" altLang="ko-KR" sz="1000" b="1" kern="1200" dirty="0">
                          <a:latin typeface="+mn-ea"/>
                          <a:ea typeface="+mn-ea"/>
                        </a:rPr>
                        <a:t>4【</a:t>
                      </a:r>
                      <a:r>
                        <a:rPr lang="ko-KR" altLang="en-US" sz="1000" b="1" kern="1200" dirty="0">
                          <a:latin typeface="+mn-ea"/>
                          <a:ea typeface="+mn-ea"/>
                        </a:rPr>
                        <a:t>등록지연에 따른 특허권의 존속기간의 </a:t>
                      </a:r>
                      <a:r>
                        <a:rPr lang="ko-KR" altLang="en-US" sz="1000" b="1" kern="1200" dirty="0" err="1">
                          <a:latin typeface="+mn-ea"/>
                          <a:ea typeface="+mn-ea"/>
                        </a:rPr>
                        <a:t>연장등록거절결정</a:t>
                      </a:r>
                      <a:r>
                        <a:rPr lang="en-US" altLang="ko-KR" sz="1000" b="1" kern="1200" dirty="0">
                          <a:latin typeface="+mn-ea"/>
                          <a:ea typeface="+mn-ea"/>
                        </a:rPr>
                        <a:t>】</a:t>
                      </a:r>
                    </a:p>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000" kern="1200" dirty="0">
                          <a:latin typeface="+mn-ea"/>
                          <a:ea typeface="+mn-ea"/>
                        </a:rPr>
                        <a:t>심사관은 제</a:t>
                      </a:r>
                      <a:r>
                        <a:rPr lang="en-US" altLang="ko-KR" sz="1000" kern="1200" dirty="0">
                          <a:latin typeface="+mn-ea"/>
                          <a:ea typeface="+mn-ea"/>
                        </a:rPr>
                        <a:t>92</a:t>
                      </a:r>
                      <a:r>
                        <a:rPr lang="ko-KR" altLang="en-US" sz="1000" kern="1200" dirty="0">
                          <a:latin typeface="+mn-ea"/>
                          <a:ea typeface="+mn-ea"/>
                        </a:rPr>
                        <a:t>조의</a:t>
                      </a:r>
                      <a:r>
                        <a:rPr lang="en-US" altLang="ko-KR" sz="1000" kern="1200" dirty="0">
                          <a:latin typeface="+mn-ea"/>
                          <a:ea typeface="+mn-ea"/>
                        </a:rPr>
                        <a:t>3</a:t>
                      </a:r>
                      <a:r>
                        <a:rPr lang="ko-KR" altLang="en-US" sz="1000" kern="1200" dirty="0">
                          <a:latin typeface="+mn-ea"/>
                          <a:ea typeface="+mn-ea"/>
                        </a:rPr>
                        <a:t>에 따른 특허권의 존속기간의 연장등록출원이 다음 각 호의 어느 하나에 해당하는 경우에는 그 출원에 대하여 </a:t>
                      </a:r>
                      <a:r>
                        <a:rPr lang="ko-KR" altLang="en-US" sz="1000" kern="1200" dirty="0" err="1">
                          <a:latin typeface="+mn-ea"/>
                          <a:ea typeface="+mn-ea"/>
                        </a:rPr>
                        <a:t>연장등록거절결정을</a:t>
                      </a:r>
                      <a:r>
                        <a:rPr lang="ko-KR" altLang="en-US" sz="1000" kern="1200" dirty="0">
                          <a:latin typeface="+mn-ea"/>
                          <a:ea typeface="+mn-ea"/>
                        </a:rPr>
                        <a:t> 하여야 한다</a:t>
                      </a:r>
                      <a:r>
                        <a:rPr lang="en-US" altLang="ko-KR" sz="1000" kern="1200" dirty="0">
                          <a:latin typeface="+mn-ea"/>
                          <a:ea typeface="+mn-ea"/>
                        </a:rPr>
                        <a:t>.</a:t>
                      </a:r>
                    </a:p>
                    <a:p>
                      <a:pPr marL="208280" marR="0" indent="-20828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208280" marR="0" indent="-20828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208280" marR="0" indent="-20828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208280" marR="0" indent="-20828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208280" marR="0" indent="-20828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1. </a:t>
                      </a:r>
                      <a:r>
                        <a:rPr lang="en-US" altLang="ko-KR" sz="1000" b="1" kern="1200" dirty="0">
                          <a:latin typeface="+mn-ea"/>
                          <a:ea typeface="+mn-ea"/>
                        </a:rPr>
                        <a:t>(</a:t>
                      </a:r>
                      <a:r>
                        <a:rPr lang="ko-KR" altLang="en-US" sz="1000" b="1" kern="1200" dirty="0">
                          <a:latin typeface="+mn-ea"/>
                          <a:ea typeface="+mn-ea"/>
                        </a:rPr>
                        <a:t>객체</a:t>
                      </a:r>
                      <a:r>
                        <a:rPr lang="en-US" altLang="ko-KR" sz="1000" b="1" kern="1200" dirty="0">
                          <a:latin typeface="+mn-ea"/>
                          <a:ea typeface="+mn-ea"/>
                        </a:rPr>
                        <a:t>: </a:t>
                      </a:r>
                      <a:r>
                        <a:rPr lang="ko-KR" altLang="en-US" sz="1000" b="1" kern="1200" dirty="0">
                          <a:latin typeface="+mn-ea"/>
                          <a:ea typeface="+mn-ea"/>
                        </a:rPr>
                        <a:t>연장기간</a:t>
                      </a:r>
                      <a:r>
                        <a:rPr lang="en-US" altLang="ko-KR" sz="1000" b="1" kern="1200" dirty="0">
                          <a:latin typeface="+mn-ea"/>
                          <a:ea typeface="+mn-ea"/>
                        </a:rPr>
                        <a:t>)</a:t>
                      </a:r>
                      <a:r>
                        <a:rPr lang="en-US" altLang="ko-KR" sz="1000" kern="1200" dirty="0">
                          <a:latin typeface="+mn-ea"/>
                          <a:ea typeface="+mn-ea"/>
                        </a:rPr>
                        <a:t> </a:t>
                      </a:r>
                      <a:r>
                        <a:rPr lang="ko-KR" altLang="en-US" sz="1000" kern="1200" dirty="0">
                          <a:latin typeface="+mn-ea"/>
                          <a:ea typeface="+mn-ea"/>
                        </a:rPr>
                        <a:t>연장신청의 기간이 제</a:t>
                      </a:r>
                      <a:r>
                        <a:rPr lang="en-US" altLang="ko-KR" sz="1000" kern="1200" dirty="0">
                          <a:latin typeface="+mn-ea"/>
                          <a:ea typeface="+mn-ea"/>
                        </a:rPr>
                        <a:t>92</a:t>
                      </a:r>
                      <a:r>
                        <a:rPr lang="ko-KR" altLang="en-US" sz="1000" kern="1200" dirty="0">
                          <a:latin typeface="+mn-ea"/>
                          <a:ea typeface="+mn-ea"/>
                        </a:rPr>
                        <a:t>조의</a:t>
                      </a:r>
                      <a:r>
                        <a:rPr lang="en-US" altLang="ko-KR" sz="1000" kern="1200" dirty="0">
                          <a:latin typeface="+mn-ea"/>
                          <a:ea typeface="+mn-ea"/>
                        </a:rPr>
                        <a:t>2</a:t>
                      </a:r>
                      <a:r>
                        <a:rPr lang="ko-KR" altLang="en-US" sz="1000" kern="1200" dirty="0">
                          <a:latin typeface="+mn-ea"/>
                          <a:ea typeface="+mn-ea"/>
                        </a:rPr>
                        <a:t>에 따라 인정되는 연장의 기간을 초과한 경우</a:t>
                      </a:r>
                    </a:p>
                    <a:p>
                      <a:pPr marL="198120" marR="0" indent="-198120" algn="just" fontAlgn="base" latinLnBrk="1">
                        <a:lnSpc>
                          <a:spcPct val="100000"/>
                        </a:lnSpc>
                        <a:spcBef>
                          <a:spcPts val="0"/>
                        </a:spcBef>
                        <a:spcAft>
                          <a:spcPts val="0"/>
                        </a:spcAft>
                        <a:tabLst>
                          <a:tab pos="152400" algn="l"/>
                          <a:tab pos="359410" algn="l"/>
                          <a:tab pos="152400" algn="l"/>
                          <a:tab pos="359410" algn="l"/>
                        </a:tabLst>
                      </a:pPr>
                      <a:endParaRPr lang="en-US" altLang="ko-KR" sz="1000" kern="1200" dirty="0">
                        <a:latin typeface="+mn-ea"/>
                        <a:ea typeface="+mn-ea"/>
                      </a:endParaRPr>
                    </a:p>
                    <a:p>
                      <a:pPr marL="198120" marR="0" indent="-19812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2. </a:t>
                      </a:r>
                      <a:r>
                        <a:rPr lang="en-US" altLang="ko-KR" sz="1000" b="1" kern="1200" dirty="0">
                          <a:latin typeface="+mn-ea"/>
                          <a:ea typeface="+mn-ea"/>
                        </a:rPr>
                        <a:t>(</a:t>
                      </a:r>
                      <a:r>
                        <a:rPr lang="ko-KR" altLang="en-US" sz="1000" b="1" kern="1200" dirty="0">
                          <a:latin typeface="+mn-ea"/>
                          <a:ea typeface="+mn-ea"/>
                        </a:rPr>
                        <a:t>주체</a:t>
                      </a:r>
                      <a:r>
                        <a:rPr lang="en-US" altLang="ko-KR" sz="1000" b="1" kern="1200" dirty="0">
                          <a:latin typeface="+mn-ea"/>
                          <a:ea typeface="+mn-ea"/>
                        </a:rPr>
                        <a:t>)</a:t>
                      </a:r>
                      <a:r>
                        <a:rPr lang="ko-KR" altLang="en-US" sz="1000" b="1" kern="1200" dirty="0">
                          <a:latin typeface="+mn-ea"/>
                          <a:ea typeface="+mn-ea"/>
                        </a:rPr>
                        <a:t> </a:t>
                      </a:r>
                      <a:r>
                        <a:rPr lang="ko-KR" altLang="en-US" sz="1000" kern="1200" dirty="0" err="1">
                          <a:latin typeface="+mn-ea"/>
                          <a:ea typeface="+mn-ea"/>
                        </a:rPr>
                        <a:t>연장등록출원인이</a:t>
                      </a:r>
                      <a:r>
                        <a:rPr lang="ko-KR" altLang="en-US" sz="1000" kern="1200" dirty="0">
                          <a:latin typeface="+mn-ea"/>
                          <a:ea typeface="+mn-ea"/>
                        </a:rPr>
                        <a:t> 해당 특허권자가 아닌 경우</a:t>
                      </a:r>
                    </a:p>
                    <a:p>
                      <a:pPr marL="224790" marR="0" indent="-22479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3. </a:t>
                      </a:r>
                      <a:r>
                        <a:rPr lang="en-US" altLang="ko-KR" sz="1000" b="1" kern="1200" dirty="0">
                          <a:latin typeface="+mn-ea"/>
                          <a:ea typeface="+mn-ea"/>
                        </a:rPr>
                        <a:t>(</a:t>
                      </a:r>
                      <a:r>
                        <a:rPr lang="ko-KR" altLang="en-US" sz="1000" b="1" kern="1200" dirty="0">
                          <a:latin typeface="+mn-ea"/>
                          <a:ea typeface="+mn-ea"/>
                        </a:rPr>
                        <a:t>주체</a:t>
                      </a:r>
                      <a:r>
                        <a:rPr lang="en-US" altLang="ko-KR" sz="1000" b="1" kern="1200" dirty="0">
                          <a:latin typeface="+mn-ea"/>
                          <a:ea typeface="+mn-ea"/>
                        </a:rPr>
                        <a:t>) </a:t>
                      </a:r>
                      <a:r>
                        <a:rPr lang="ko-KR" altLang="en-US" sz="1000" kern="1200" dirty="0">
                          <a:latin typeface="+mn-ea"/>
                          <a:ea typeface="+mn-ea"/>
                        </a:rPr>
                        <a:t>제</a:t>
                      </a:r>
                      <a:r>
                        <a:rPr lang="en-US" altLang="ko-KR" sz="1000" kern="1200" dirty="0">
                          <a:latin typeface="+mn-ea"/>
                          <a:ea typeface="+mn-ea"/>
                        </a:rPr>
                        <a:t>92</a:t>
                      </a:r>
                      <a:r>
                        <a:rPr lang="ko-KR" altLang="en-US" sz="1000" kern="1200" dirty="0">
                          <a:latin typeface="+mn-ea"/>
                          <a:ea typeface="+mn-ea"/>
                        </a:rPr>
                        <a:t>조의</a:t>
                      </a:r>
                      <a:r>
                        <a:rPr lang="en-US" altLang="ko-KR" sz="1000" kern="1200" dirty="0">
                          <a:latin typeface="+mn-ea"/>
                          <a:ea typeface="+mn-ea"/>
                        </a:rPr>
                        <a:t>3</a:t>
                      </a:r>
                      <a:r>
                        <a:rPr lang="ko-KR" altLang="en-US" sz="1000" kern="1200" dirty="0">
                          <a:latin typeface="+mn-ea"/>
                          <a:ea typeface="+mn-ea"/>
                        </a:rPr>
                        <a:t>제</a:t>
                      </a:r>
                      <a:r>
                        <a:rPr lang="en-US" altLang="ko-KR" sz="1000" kern="1200" dirty="0">
                          <a:latin typeface="+mn-ea"/>
                          <a:ea typeface="+mn-ea"/>
                        </a:rPr>
                        <a:t>3</a:t>
                      </a:r>
                      <a:r>
                        <a:rPr lang="ko-KR" altLang="en-US" sz="1000" kern="1200" dirty="0">
                          <a:latin typeface="+mn-ea"/>
                          <a:ea typeface="+mn-ea"/>
                        </a:rPr>
                        <a:t>항을 위반하여 연장등록출원을 한 경우</a:t>
                      </a:r>
                      <a:endParaRPr lang="ko-KR" altLang="en-US" sz="1000" kern="1200" dirty="0">
                        <a:solidFill>
                          <a:schemeClr val="tx1"/>
                        </a:solidFill>
                        <a:latin typeface="+mn-ea"/>
                        <a:ea typeface="+mn-ea"/>
                        <a:cs typeface="+mn-cs"/>
                      </a:endParaRPr>
                    </a:p>
                  </a:txBody>
                  <a:tcPr marL="15858" marR="15858" marT="4384" marB="4384">
                    <a:noFill/>
                  </a:tcPr>
                </a:tc>
                <a:extLst>
                  <a:ext uri="{0D108BD9-81ED-4DB2-BD59-A6C34878D82A}">
                    <a16:rowId xmlns:a16="http://schemas.microsoft.com/office/drawing/2014/main" val="3032985272"/>
                  </a:ext>
                </a:extLst>
              </a:tr>
              <a:tr h="2144071">
                <a:tc>
                  <a:txBody>
                    <a:bodyPr/>
                    <a:lstStyle/>
                    <a:p>
                      <a:pPr marL="0" marR="0" indent="0" algn="ctr" fontAlgn="base" latinLnBrk="0">
                        <a:lnSpc>
                          <a:spcPct val="100000"/>
                        </a:lnSpc>
                        <a:spcBef>
                          <a:spcPts val="0"/>
                        </a:spcBef>
                        <a:spcAft>
                          <a:spcPts val="0"/>
                        </a:spcAft>
                      </a:pPr>
                      <a:r>
                        <a:rPr lang="ko-KR" altLang="en-US" sz="1000" kern="1200" dirty="0">
                          <a:latin typeface="+mn-ea"/>
                          <a:ea typeface="+mn-ea"/>
                        </a:rPr>
                        <a:t>등록결정</a:t>
                      </a:r>
                      <a:endParaRPr lang="ko-KR" altLang="en-US" sz="1000" kern="1200" dirty="0">
                        <a:solidFill>
                          <a:schemeClr val="tx1"/>
                        </a:solidFill>
                        <a:latin typeface="+mn-ea"/>
                        <a:ea typeface="+mn-ea"/>
                        <a:cs typeface="+mn-cs"/>
                      </a:endParaRPr>
                    </a:p>
                  </a:txBody>
                  <a:tcPr marL="15858" marR="15858" marT="4384" marB="4384" anchor="ctr"/>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000" b="1" kern="1200" dirty="0">
                          <a:latin typeface="+mn-ea"/>
                          <a:ea typeface="+mn-ea"/>
                        </a:rPr>
                        <a:t>제</a:t>
                      </a:r>
                      <a:r>
                        <a:rPr lang="en-US" altLang="ko-KR" sz="1000" b="1" kern="1200" dirty="0">
                          <a:latin typeface="+mn-ea"/>
                          <a:ea typeface="+mn-ea"/>
                        </a:rPr>
                        <a:t>92</a:t>
                      </a:r>
                      <a:r>
                        <a:rPr lang="ko-KR" altLang="en-US" sz="1000" b="1" kern="1200" dirty="0">
                          <a:latin typeface="+mn-ea"/>
                          <a:ea typeface="+mn-ea"/>
                        </a:rPr>
                        <a:t>조</a:t>
                      </a:r>
                      <a:r>
                        <a:rPr lang="en-US" altLang="ko-KR" sz="1000" b="1" kern="1200" dirty="0">
                          <a:latin typeface="+mn-ea"/>
                          <a:ea typeface="+mn-ea"/>
                        </a:rPr>
                        <a:t>【</a:t>
                      </a:r>
                      <a:r>
                        <a:rPr lang="ko-KR" altLang="en-US" sz="1000" b="1" kern="1200" dirty="0">
                          <a:latin typeface="+mn-ea"/>
                          <a:ea typeface="+mn-ea"/>
                        </a:rPr>
                        <a:t>허가 등에 따른 특허권의 존속기간의 연장등록결정 등</a:t>
                      </a:r>
                      <a:r>
                        <a:rPr lang="en-US" altLang="ko-KR" sz="1000" b="1" kern="1200" dirty="0">
                          <a:latin typeface="+mn-ea"/>
                          <a:ea typeface="+mn-ea"/>
                        </a:rPr>
                        <a:t>】</a:t>
                      </a:r>
                      <a:endParaRPr lang="ko-KR" altLang="en-US" sz="1000" b="1" kern="1200" dirty="0">
                        <a:latin typeface="+mn-ea"/>
                        <a:ea typeface="+mn-ea"/>
                      </a:endParaRPr>
                    </a:p>
                    <a:p>
                      <a:pPr marL="154940" marR="0" indent="-15494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① </a:t>
                      </a:r>
                      <a:r>
                        <a:rPr lang="en-US" altLang="ko-KR" sz="1000" b="1" kern="1200" dirty="0">
                          <a:latin typeface="+mn-ea"/>
                          <a:ea typeface="+mn-ea"/>
                        </a:rPr>
                        <a:t>(</a:t>
                      </a:r>
                      <a:r>
                        <a:rPr lang="ko-KR" altLang="en-US" sz="1000" b="1" kern="1200" dirty="0">
                          <a:latin typeface="+mn-ea"/>
                          <a:ea typeface="+mn-ea"/>
                        </a:rPr>
                        <a:t>등록결정</a:t>
                      </a:r>
                      <a:r>
                        <a:rPr lang="en-US" altLang="ko-KR" sz="1000" b="1" kern="1200" dirty="0">
                          <a:latin typeface="+mn-ea"/>
                          <a:ea typeface="+mn-ea"/>
                        </a:rPr>
                        <a:t>)</a:t>
                      </a:r>
                      <a:r>
                        <a:rPr lang="en-US" altLang="ko-KR" sz="1000" kern="1200" dirty="0">
                          <a:latin typeface="+mn-ea"/>
                          <a:ea typeface="+mn-ea"/>
                        </a:rPr>
                        <a:t> </a:t>
                      </a:r>
                      <a:r>
                        <a:rPr lang="ko-KR" altLang="en-US" sz="1000" kern="1200" dirty="0">
                          <a:latin typeface="+mn-ea"/>
                          <a:ea typeface="+mn-ea"/>
                        </a:rPr>
                        <a:t>심사관은 제</a:t>
                      </a:r>
                      <a:r>
                        <a:rPr lang="en-US" altLang="ko-KR" sz="1000" kern="1200" dirty="0">
                          <a:latin typeface="+mn-ea"/>
                          <a:ea typeface="+mn-ea"/>
                        </a:rPr>
                        <a:t>90</a:t>
                      </a:r>
                      <a:r>
                        <a:rPr lang="ko-KR" altLang="en-US" sz="1000" kern="1200" dirty="0">
                          <a:latin typeface="+mn-ea"/>
                          <a:ea typeface="+mn-ea"/>
                        </a:rPr>
                        <a:t>조에 따른 특허권의 존속기간의 연장등록출원에 대하여 제</a:t>
                      </a:r>
                      <a:r>
                        <a:rPr lang="en-US" altLang="ko-KR" sz="1000" kern="1200" dirty="0">
                          <a:latin typeface="+mn-ea"/>
                          <a:ea typeface="+mn-ea"/>
                        </a:rPr>
                        <a:t>91</a:t>
                      </a:r>
                      <a:r>
                        <a:rPr lang="ko-KR" altLang="en-US" sz="1000" kern="1200" dirty="0">
                          <a:latin typeface="+mn-ea"/>
                          <a:ea typeface="+mn-ea"/>
                        </a:rPr>
                        <a:t>조 각 호의 어느 하나에 해당하는 사유를 발견할 수 없을 때에는 연장등록결정을 하여야 한다</a:t>
                      </a:r>
                      <a:r>
                        <a:rPr lang="en-US" altLang="ko-KR" sz="1000" kern="1200" dirty="0">
                          <a:latin typeface="+mn-ea"/>
                          <a:ea typeface="+mn-ea"/>
                        </a:rPr>
                        <a:t>.</a:t>
                      </a:r>
                      <a:endParaRPr lang="ko-KR" altLang="en-US" sz="1000" kern="1200" dirty="0">
                        <a:latin typeface="+mn-ea"/>
                        <a:ea typeface="+mn-ea"/>
                      </a:endParaRPr>
                    </a:p>
                    <a:p>
                      <a:pPr marL="157480" marR="0" indent="-15748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② </a:t>
                      </a:r>
                      <a:r>
                        <a:rPr lang="en-US" altLang="ko-KR" sz="1000" b="1" kern="1200" dirty="0">
                          <a:latin typeface="+mn-ea"/>
                          <a:ea typeface="+mn-ea"/>
                        </a:rPr>
                        <a:t>(</a:t>
                      </a:r>
                      <a:r>
                        <a:rPr lang="ko-KR" altLang="en-US" sz="1000" b="1" kern="1200" dirty="0">
                          <a:latin typeface="+mn-ea"/>
                          <a:ea typeface="+mn-ea"/>
                        </a:rPr>
                        <a:t>특허원부 등록</a:t>
                      </a:r>
                      <a:r>
                        <a:rPr lang="en-US" altLang="ko-KR" sz="1000" b="1" kern="1200" dirty="0">
                          <a:latin typeface="+mn-ea"/>
                          <a:ea typeface="+mn-ea"/>
                        </a:rPr>
                        <a:t>)</a:t>
                      </a:r>
                      <a:r>
                        <a:rPr lang="en-US" altLang="ko-KR" sz="1000" kern="1200" dirty="0">
                          <a:latin typeface="+mn-ea"/>
                          <a:ea typeface="+mn-ea"/>
                        </a:rPr>
                        <a:t> </a:t>
                      </a:r>
                      <a:r>
                        <a:rPr lang="ko-KR" altLang="en-US" sz="1000" kern="1200" dirty="0">
                          <a:latin typeface="+mn-ea"/>
                          <a:ea typeface="+mn-ea"/>
                        </a:rPr>
                        <a:t>지식재산처장은 제</a:t>
                      </a:r>
                      <a:r>
                        <a:rPr lang="en-US" altLang="ko-KR" sz="1000" kern="1200" dirty="0">
                          <a:latin typeface="+mn-ea"/>
                          <a:ea typeface="+mn-ea"/>
                        </a:rPr>
                        <a:t>1</a:t>
                      </a:r>
                      <a:r>
                        <a:rPr lang="ko-KR" altLang="en-US" sz="1000" kern="1200" dirty="0">
                          <a:latin typeface="+mn-ea"/>
                          <a:ea typeface="+mn-ea"/>
                        </a:rPr>
                        <a:t>항에 따른 연장등록결정을 한 경우에는 특허권의 존속기간의 연장을 특허원부에 등록하여야 한다</a:t>
                      </a:r>
                      <a:r>
                        <a:rPr lang="en-US" altLang="ko-KR" sz="1000" kern="1200" dirty="0">
                          <a:latin typeface="+mn-ea"/>
                          <a:ea typeface="+mn-ea"/>
                        </a:rPr>
                        <a:t>.</a:t>
                      </a:r>
                      <a:endParaRPr lang="ko-KR" altLang="en-US" sz="1000" kern="1200" dirty="0">
                        <a:latin typeface="+mn-ea"/>
                        <a:ea typeface="+mn-ea"/>
                      </a:endParaRPr>
                    </a:p>
                    <a:p>
                      <a:pPr marL="149860" marR="0" indent="-14986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③ </a:t>
                      </a:r>
                      <a:r>
                        <a:rPr lang="en-US" altLang="ko-KR" sz="1000" b="1" kern="1200" dirty="0">
                          <a:latin typeface="+mn-ea"/>
                          <a:ea typeface="+mn-ea"/>
                        </a:rPr>
                        <a:t>(</a:t>
                      </a:r>
                      <a:r>
                        <a:rPr lang="ko-KR" altLang="en-US" sz="1000" b="1" kern="1200" dirty="0">
                          <a:latin typeface="+mn-ea"/>
                          <a:ea typeface="+mn-ea"/>
                        </a:rPr>
                        <a:t>특허공보 게재</a:t>
                      </a:r>
                      <a:r>
                        <a:rPr lang="en-US" altLang="ko-KR" sz="1000" b="1" kern="1200" dirty="0">
                          <a:latin typeface="+mn-ea"/>
                          <a:ea typeface="+mn-ea"/>
                        </a:rPr>
                        <a:t>)</a:t>
                      </a:r>
                      <a:r>
                        <a:rPr lang="ko-KR" altLang="en-US" sz="1000" b="1" kern="1200" dirty="0">
                          <a:latin typeface="+mn-ea"/>
                          <a:ea typeface="+mn-ea"/>
                        </a:rPr>
                        <a:t> </a:t>
                      </a:r>
                      <a:r>
                        <a:rPr lang="ko-KR" altLang="en-US" sz="1000" kern="1200" dirty="0">
                          <a:latin typeface="+mn-ea"/>
                          <a:ea typeface="+mn-ea"/>
                        </a:rPr>
                        <a:t>지식재산처장은 제</a:t>
                      </a:r>
                      <a:r>
                        <a:rPr lang="en-US" altLang="ko-KR" sz="1000" kern="1200" dirty="0">
                          <a:latin typeface="+mn-ea"/>
                          <a:ea typeface="+mn-ea"/>
                        </a:rPr>
                        <a:t>2</a:t>
                      </a:r>
                      <a:r>
                        <a:rPr lang="ko-KR" altLang="en-US" sz="1000" kern="1200" dirty="0">
                          <a:latin typeface="+mn-ea"/>
                          <a:ea typeface="+mn-ea"/>
                        </a:rPr>
                        <a:t>항에 따른 등록을 한 경우에는 다음 각 호의 사항을 특허공보에 게재하여야 한다</a:t>
                      </a:r>
                      <a:r>
                        <a:rPr lang="en-US" altLang="ko-KR" sz="1000" kern="1200" dirty="0">
                          <a:latin typeface="+mn-ea"/>
                          <a:ea typeface="+mn-ea"/>
                        </a:rPr>
                        <a:t>.</a:t>
                      </a:r>
                      <a:endParaRPr lang="ko-KR" altLang="en-US" sz="1000" kern="1200" dirty="0">
                        <a:latin typeface="+mn-ea"/>
                        <a:ea typeface="+mn-ea"/>
                      </a:endParaRPr>
                    </a:p>
                    <a:p>
                      <a:pPr marL="203200" marR="0" indent="-20320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1. </a:t>
                      </a:r>
                      <a:r>
                        <a:rPr lang="ko-KR" altLang="en-US" sz="1000" kern="1200" dirty="0">
                          <a:latin typeface="+mn-ea"/>
                          <a:ea typeface="+mn-ea"/>
                        </a:rPr>
                        <a:t>특허권자의 성명 및 주소</a:t>
                      </a:r>
                      <a:r>
                        <a:rPr lang="en-US" altLang="ko-KR" sz="1000" kern="1200" dirty="0">
                          <a:latin typeface="+mn-ea"/>
                          <a:ea typeface="+mn-ea"/>
                        </a:rPr>
                        <a:t>(</a:t>
                      </a:r>
                      <a:r>
                        <a:rPr lang="ko-KR" altLang="en-US" sz="1000" kern="1200" dirty="0">
                          <a:latin typeface="+mn-ea"/>
                          <a:ea typeface="+mn-ea"/>
                        </a:rPr>
                        <a:t>법인인 경우에는 그 명칭 및 영업소의 소재지</a:t>
                      </a:r>
                      <a:r>
                        <a:rPr lang="en-US" altLang="ko-KR" sz="1000" kern="1200" dirty="0">
                          <a:latin typeface="+mn-ea"/>
                          <a:ea typeface="+mn-ea"/>
                        </a:rPr>
                        <a:t>)</a:t>
                      </a:r>
                      <a:endParaRPr lang="ko-KR" altLang="en-US" sz="1000" kern="1200" dirty="0">
                        <a:latin typeface="+mn-ea"/>
                        <a:ea typeface="+mn-ea"/>
                      </a:endParaRPr>
                    </a:p>
                    <a:p>
                      <a:pPr marL="0" marR="0" indent="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2. </a:t>
                      </a:r>
                      <a:r>
                        <a:rPr lang="ko-KR" altLang="en-US" sz="1000" kern="1200" dirty="0">
                          <a:latin typeface="+mn-ea"/>
                          <a:ea typeface="+mn-ea"/>
                        </a:rPr>
                        <a:t>특허번호</a:t>
                      </a:r>
                    </a:p>
                    <a:p>
                      <a:pPr marL="0" marR="0" indent="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3. </a:t>
                      </a:r>
                      <a:r>
                        <a:rPr lang="ko-KR" altLang="en-US" sz="1000" kern="1200" dirty="0">
                          <a:latin typeface="+mn-ea"/>
                          <a:ea typeface="+mn-ea"/>
                        </a:rPr>
                        <a:t>연장등록의 연월일</a:t>
                      </a:r>
                    </a:p>
                    <a:p>
                      <a:pPr marL="0" marR="0" indent="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4. </a:t>
                      </a:r>
                      <a:r>
                        <a:rPr lang="ko-KR" altLang="en-US" sz="1000" kern="1200" dirty="0">
                          <a:latin typeface="+mn-ea"/>
                          <a:ea typeface="+mn-ea"/>
                        </a:rPr>
                        <a:t>연장기간</a:t>
                      </a:r>
                    </a:p>
                    <a:p>
                      <a:pPr marL="0" marR="0" indent="0" algn="just" fontAlgn="base" latinLnBrk="1">
                        <a:lnSpc>
                          <a:spcPct val="100000"/>
                        </a:lnSpc>
                        <a:spcBef>
                          <a:spcPts val="0"/>
                        </a:spcBef>
                        <a:spcAft>
                          <a:spcPts val="0"/>
                        </a:spcAft>
                        <a:tabLst>
                          <a:tab pos="152400" algn="l"/>
                          <a:tab pos="359410" algn="l"/>
                          <a:tab pos="152400" algn="l"/>
                          <a:tab pos="359410" algn="l"/>
                        </a:tabLst>
                      </a:pPr>
                      <a:r>
                        <a:rPr lang="en-US" altLang="ko-KR" sz="1000" u="sng" kern="1200" dirty="0">
                          <a:latin typeface="+mn-ea"/>
                          <a:ea typeface="+mn-ea"/>
                        </a:rPr>
                        <a:t>5. </a:t>
                      </a:r>
                      <a:r>
                        <a:rPr lang="ko-KR" altLang="en-US" sz="1000" u="sng" kern="1200" dirty="0">
                          <a:latin typeface="+mn-ea"/>
                          <a:ea typeface="+mn-ea"/>
                        </a:rPr>
                        <a:t>제</a:t>
                      </a:r>
                      <a:r>
                        <a:rPr lang="en-US" altLang="ko-KR" sz="1000" u="sng" kern="1200" dirty="0">
                          <a:latin typeface="+mn-ea"/>
                          <a:ea typeface="+mn-ea"/>
                        </a:rPr>
                        <a:t>89</a:t>
                      </a:r>
                      <a:r>
                        <a:rPr lang="ko-KR" altLang="en-US" sz="1000" u="sng" kern="1200" dirty="0">
                          <a:latin typeface="+mn-ea"/>
                          <a:ea typeface="+mn-ea"/>
                        </a:rPr>
                        <a:t>조제</a:t>
                      </a:r>
                      <a:r>
                        <a:rPr lang="en-US" altLang="ko-KR" sz="1000" u="sng" kern="1200" dirty="0">
                          <a:latin typeface="+mn-ea"/>
                          <a:ea typeface="+mn-ea"/>
                        </a:rPr>
                        <a:t>1</a:t>
                      </a:r>
                      <a:r>
                        <a:rPr lang="ko-KR" altLang="en-US" sz="1000" u="sng" kern="1200" dirty="0">
                          <a:latin typeface="+mn-ea"/>
                          <a:ea typeface="+mn-ea"/>
                        </a:rPr>
                        <a:t>항에 따른 허가 등의 내용</a:t>
                      </a:r>
                      <a:endParaRPr lang="ko-KR" altLang="en-US" sz="1000" u="sng" kern="1200" dirty="0">
                        <a:solidFill>
                          <a:schemeClr val="tx1"/>
                        </a:solidFill>
                        <a:latin typeface="+mn-ea"/>
                        <a:ea typeface="+mn-ea"/>
                        <a:cs typeface="+mn-cs"/>
                      </a:endParaRPr>
                    </a:p>
                  </a:txBody>
                  <a:tcPr marL="15858" marR="15858" marT="4384" marB="4384"/>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000" b="1" kern="1200" dirty="0">
                          <a:latin typeface="+mn-ea"/>
                          <a:ea typeface="+mn-ea"/>
                        </a:rPr>
                        <a:t>제</a:t>
                      </a:r>
                      <a:r>
                        <a:rPr lang="en-US" altLang="ko-KR" sz="1000" b="1" kern="1200" dirty="0">
                          <a:latin typeface="+mn-ea"/>
                          <a:ea typeface="+mn-ea"/>
                        </a:rPr>
                        <a:t>92</a:t>
                      </a:r>
                      <a:r>
                        <a:rPr lang="ko-KR" altLang="en-US" sz="1000" b="1" kern="1200" dirty="0">
                          <a:latin typeface="+mn-ea"/>
                          <a:ea typeface="+mn-ea"/>
                        </a:rPr>
                        <a:t>조의</a:t>
                      </a:r>
                      <a:r>
                        <a:rPr lang="en-US" altLang="ko-KR" sz="1000" b="1" kern="1200" dirty="0">
                          <a:latin typeface="+mn-ea"/>
                          <a:ea typeface="+mn-ea"/>
                        </a:rPr>
                        <a:t>5【</a:t>
                      </a:r>
                      <a:r>
                        <a:rPr lang="ko-KR" altLang="en-US" sz="1000" b="1" kern="1200" dirty="0">
                          <a:latin typeface="+mn-ea"/>
                          <a:ea typeface="+mn-ea"/>
                        </a:rPr>
                        <a:t>등록지연에 따른 특허권의 존속기간의 연장등록결정 등</a:t>
                      </a:r>
                      <a:r>
                        <a:rPr lang="en-US" altLang="ko-KR" sz="1000" b="1" kern="1200" dirty="0">
                          <a:latin typeface="+mn-ea"/>
                          <a:ea typeface="+mn-ea"/>
                        </a:rPr>
                        <a:t>】</a:t>
                      </a:r>
                      <a:endParaRPr lang="ko-KR" altLang="en-US" sz="1000" b="1" kern="1200" dirty="0">
                        <a:latin typeface="+mn-ea"/>
                        <a:ea typeface="+mn-ea"/>
                      </a:endParaRPr>
                    </a:p>
                    <a:p>
                      <a:pPr marL="163830" marR="0" indent="-16383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① </a:t>
                      </a:r>
                      <a:r>
                        <a:rPr lang="en-US" altLang="ko-KR" sz="1000" b="1" kern="1200" dirty="0">
                          <a:latin typeface="+mn-ea"/>
                          <a:ea typeface="+mn-ea"/>
                        </a:rPr>
                        <a:t>(</a:t>
                      </a:r>
                      <a:r>
                        <a:rPr lang="ko-KR" altLang="en-US" sz="1000" b="1" kern="1200" dirty="0">
                          <a:latin typeface="+mn-ea"/>
                          <a:ea typeface="+mn-ea"/>
                        </a:rPr>
                        <a:t>등록결정</a:t>
                      </a:r>
                      <a:r>
                        <a:rPr lang="en-US" altLang="ko-KR" sz="1000" b="1" kern="1200" dirty="0">
                          <a:latin typeface="+mn-ea"/>
                          <a:ea typeface="+mn-ea"/>
                        </a:rPr>
                        <a:t>)</a:t>
                      </a:r>
                      <a:r>
                        <a:rPr lang="en-US" altLang="ko-KR" sz="1000" kern="1200" dirty="0">
                          <a:latin typeface="+mn-ea"/>
                          <a:ea typeface="+mn-ea"/>
                        </a:rPr>
                        <a:t> </a:t>
                      </a:r>
                      <a:r>
                        <a:rPr lang="ko-KR" altLang="en-US" sz="1000" kern="1200" dirty="0">
                          <a:latin typeface="+mn-ea"/>
                          <a:ea typeface="+mn-ea"/>
                        </a:rPr>
                        <a:t>심사관은 제</a:t>
                      </a:r>
                      <a:r>
                        <a:rPr lang="en-US" altLang="ko-KR" sz="1000" kern="1200" dirty="0">
                          <a:latin typeface="+mn-ea"/>
                          <a:ea typeface="+mn-ea"/>
                        </a:rPr>
                        <a:t>92</a:t>
                      </a:r>
                      <a:r>
                        <a:rPr lang="ko-KR" altLang="en-US" sz="1000" kern="1200" dirty="0">
                          <a:latin typeface="+mn-ea"/>
                          <a:ea typeface="+mn-ea"/>
                        </a:rPr>
                        <a:t>조의</a:t>
                      </a:r>
                      <a:r>
                        <a:rPr lang="en-US" altLang="ko-KR" sz="1000" kern="1200" dirty="0">
                          <a:latin typeface="+mn-ea"/>
                          <a:ea typeface="+mn-ea"/>
                        </a:rPr>
                        <a:t>3</a:t>
                      </a:r>
                      <a:r>
                        <a:rPr lang="ko-KR" altLang="en-US" sz="1000" kern="1200" dirty="0">
                          <a:latin typeface="+mn-ea"/>
                          <a:ea typeface="+mn-ea"/>
                        </a:rPr>
                        <a:t>에 따른 특허권의 존속기간의 연장등록출원에 대하여 제</a:t>
                      </a:r>
                      <a:r>
                        <a:rPr lang="en-US" altLang="ko-KR" sz="1000" kern="1200" dirty="0">
                          <a:latin typeface="+mn-ea"/>
                          <a:ea typeface="+mn-ea"/>
                        </a:rPr>
                        <a:t>92</a:t>
                      </a:r>
                      <a:r>
                        <a:rPr lang="ko-KR" altLang="en-US" sz="1000" kern="1200" dirty="0">
                          <a:latin typeface="+mn-ea"/>
                          <a:ea typeface="+mn-ea"/>
                        </a:rPr>
                        <a:t>조의</a:t>
                      </a:r>
                      <a:r>
                        <a:rPr lang="en-US" altLang="ko-KR" sz="1000" kern="1200" dirty="0">
                          <a:latin typeface="+mn-ea"/>
                          <a:ea typeface="+mn-ea"/>
                        </a:rPr>
                        <a:t>4 </a:t>
                      </a:r>
                      <a:r>
                        <a:rPr lang="ko-KR" altLang="en-US" sz="1000" kern="1200" dirty="0">
                          <a:latin typeface="+mn-ea"/>
                          <a:ea typeface="+mn-ea"/>
                        </a:rPr>
                        <a:t>각 호의 어느 하나에 해당하는 사유를 발견할 수 없는 경우에는 연장등록결정을 하여야 한다</a:t>
                      </a:r>
                      <a:r>
                        <a:rPr lang="en-US" altLang="ko-KR" sz="1000" kern="1200" dirty="0">
                          <a:latin typeface="+mn-ea"/>
                          <a:ea typeface="+mn-ea"/>
                        </a:rPr>
                        <a:t>.</a:t>
                      </a:r>
                      <a:endParaRPr lang="ko-KR" altLang="en-US" sz="1000" kern="1200" dirty="0">
                        <a:latin typeface="+mn-ea"/>
                        <a:ea typeface="+mn-ea"/>
                      </a:endParaRPr>
                    </a:p>
                    <a:p>
                      <a:pPr marL="152400" marR="0" indent="-15240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② </a:t>
                      </a:r>
                      <a:r>
                        <a:rPr lang="en-US" altLang="ko-KR" sz="1000" b="1" kern="1200" dirty="0">
                          <a:latin typeface="+mn-ea"/>
                          <a:ea typeface="+mn-ea"/>
                        </a:rPr>
                        <a:t>(</a:t>
                      </a:r>
                      <a:r>
                        <a:rPr lang="ko-KR" altLang="en-US" sz="1000" b="1" kern="1200" dirty="0">
                          <a:latin typeface="+mn-ea"/>
                          <a:ea typeface="+mn-ea"/>
                        </a:rPr>
                        <a:t>특허원부 등록</a:t>
                      </a:r>
                      <a:r>
                        <a:rPr lang="en-US" altLang="ko-KR" sz="1000" b="1" kern="1200" dirty="0">
                          <a:latin typeface="+mn-ea"/>
                          <a:ea typeface="+mn-ea"/>
                        </a:rPr>
                        <a:t>)</a:t>
                      </a:r>
                      <a:r>
                        <a:rPr lang="en-US" altLang="ko-KR" sz="1000" kern="1200" dirty="0">
                          <a:latin typeface="+mn-ea"/>
                          <a:ea typeface="+mn-ea"/>
                        </a:rPr>
                        <a:t> </a:t>
                      </a:r>
                      <a:r>
                        <a:rPr lang="ko-KR" altLang="en-US" sz="1000" kern="1200" dirty="0">
                          <a:latin typeface="+mn-ea"/>
                          <a:ea typeface="+mn-ea"/>
                        </a:rPr>
                        <a:t>지식재산처장은 제</a:t>
                      </a:r>
                      <a:r>
                        <a:rPr lang="en-US" altLang="ko-KR" sz="1000" kern="1200" dirty="0">
                          <a:latin typeface="+mn-ea"/>
                          <a:ea typeface="+mn-ea"/>
                        </a:rPr>
                        <a:t>1</a:t>
                      </a:r>
                      <a:r>
                        <a:rPr lang="ko-KR" altLang="en-US" sz="1000" kern="1200" dirty="0">
                          <a:latin typeface="+mn-ea"/>
                          <a:ea typeface="+mn-ea"/>
                        </a:rPr>
                        <a:t>항의 연장등록결정이 있으면 특허권의 존속기간의 연장을 특허원부에 등록하여야 한다</a:t>
                      </a:r>
                      <a:r>
                        <a:rPr lang="en-US" altLang="ko-KR" sz="1000" kern="1200" dirty="0">
                          <a:latin typeface="+mn-ea"/>
                          <a:ea typeface="+mn-ea"/>
                        </a:rPr>
                        <a:t>.</a:t>
                      </a:r>
                      <a:endParaRPr lang="ko-KR" altLang="en-US" sz="1000" kern="1200" dirty="0">
                        <a:latin typeface="+mn-ea"/>
                        <a:ea typeface="+mn-ea"/>
                      </a:endParaRPr>
                    </a:p>
                    <a:p>
                      <a:pPr marL="154940" marR="0" indent="-15494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③ </a:t>
                      </a:r>
                      <a:r>
                        <a:rPr lang="en-US" altLang="ko-KR" sz="1000" b="1" kern="1200" dirty="0">
                          <a:latin typeface="+mn-ea"/>
                          <a:ea typeface="+mn-ea"/>
                        </a:rPr>
                        <a:t>(</a:t>
                      </a:r>
                      <a:r>
                        <a:rPr lang="ko-KR" altLang="en-US" sz="1000" b="1" kern="1200" dirty="0">
                          <a:latin typeface="+mn-ea"/>
                          <a:ea typeface="+mn-ea"/>
                        </a:rPr>
                        <a:t>특허공보 게재</a:t>
                      </a:r>
                      <a:r>
                        <a:rPr lang="en-US" altLang="ko-KR" sz="1000" b="1" kern="1200" dirty="0">
                          <a:latin typeface="+mn-ea"/>
                          <a:ea typeface="+mn-ea"/>
                        </a:rPr>
                        <a:t>) </a:t>
                      </a:r>
                      <a:r>
                        <a:rPr lang="ko-KR" altLang="en-US" sz="1000" kern="1200" dirty="0">
                          <a:latin typeface="+mn-ea"/>
                          <a:ea typeface="+mn-ea"/>
                        </a:rPr>
                        <a:t>제</a:t>
                      </a:r>
                      <a:r>
                        <a:rPr lang="en-US" altLang="ko-KR" sz="1000" kern="1200" dirty="0">
                          <a:latin typeface="+mn-ea"/>
                          <a:ea typeface="+mn-ea"/>
                        </a:rPr>
                        <a:t>2</a:t>
                      </a:r>
                      <a:r>
                        <a:rPr lang="ko-KR" altLang="en-US" sz="1000" kern="1200" dirty="0">
                          <a:latin typeface="+mn-ea"/>
                          <a:ea typeface="+mn-ea"/>
                        </a:rPr>
                        <a:t>항에 따른 등록이 있으면 다음 각 호의 사항을 특허공보에 게재하여야 한다</a:t>
                      </a:r>
                      <a:r>
                        <a:rPr lang="en-US" altLang="ko-KR" sz="1000" kern="1200" dirty="0">
                          <a:latin typeface="+mn-ea"/>
                          <a:ea typeface="+mn-ea"/>
                        </a:rPr>
                        <a:t>.</a:t>
                      </a:r>
                      <a:endParaRPr lang="ko-KR" altLang="en-US" sz="1000" kern="1200" dirty="0">
                        <a:latin typeface="+mn-ea"/>
                        <a:ea typeface="+mn-ea"/>
                      </a:endParaRPr>
                    </a:p>
                    <a:p>
                      <a:pPr marL="209550" marR="0" indent="-20955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1. </a:t>
                      </a:r>
                      <a:r>
                        <a:rPr lang="ko-KR" altLang="en-US" sz="1000" kern="1200" dirty="0">
                          <a:latin typeface="+mn-ea"/>
                          <a:ea typeface="+mn-ea"/>
                        </a:rPr>
                        <a:t>특허권자의 성명 및 주소</a:t>
                      </a:r>
                      <a:r>
                        <a:rPr lang="en-US" altLang="ko-KR" sz="1000" kern="1200" dirty="0">
                          <a:latin typeface="+mn-ea"/>
                          <a:ea typeface="+mn-ea"/>
                        </a:rPr>
                        <a:t>(</a:t>
                      </a:r>
                      <a:r>
                        <a:rPr lang="ko-KR" altLang="en-US" sz="1000" kern="1200" dirty="0">
                          <a:latin typeface="+mn-ea"/>
                          <a:ea typeface="+mn-ea"/>
                        </a:rPr>
                        <a:t>법인인 경우에는 그 명칭 및 영업소의 소재지</a:t>
                      </a:r>
                      <a:r>
                        <a:rPr lang="en-US" altLang="ko-KR" sz="1000" kern="1200" dirty="0">
                          <a:latin typeface="+mn-ea"/>
                          <a:ea typeface="+mn-ea"/>
                        </a:rPr>
                        <a:t>)</a:t>
                      </a:r>
                      <a:endParaRPr lang="ko-KR" altLang="en-US" sz="1000" kern="1200" dirty="0">
                        <a:latin typeface="+mn-ea"/>
                        <a:ea typeface="+mn-ea"/>
                      </a:endParaRPr>
                    </a:p>
                    <a:p>
                      <a:pPr marL="0" marR="0" indent="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2. </a:t>
                      </a:r>
                      <a:r>
                        <a:rPr lang="ko-KR" altLang="en-US" sz="1000" kern="1200" dirty="0">
                          <a:latin typeface="+mn-ea"/>
                          <a:ea typeface="+mn-ea"/>
                        </a:rPr>
                        <a:t>특허번호</a:t>
                      </a:r>
                    </a:p>
                    <a:p>
                      <a:pPr marL="0" marR="0" indent="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3. </a:t>
                      </a:r>
                      <a:r>
                        <a:rPr lang="ko-KR" altLang="en-US" sz="1000" kern="1200" dirty="0">
                          <a:latin typeface="+mn-ea"/>
                          <a:ea typeface="+mn-ea"/>
                        </a:rPr>
                        <a:t>연장등록 연월일</a:t>
                      </a:r>
                    </a:p>
                    <a:p>
                      <a:pPr marL="0" marR="0" indent="0" algn="just" fontAlgn="base" latinLnBrk="1">
                        <a:lnSpc>
                          <a:spcPct val="100000"/>
                        </a:lnSpc>
                        <a:spcBef>
                          <a:spcPts val="0"/>
                        </a:spcBef>
                        <a:spcAft>
                          <a:spcPts val="0"/>
                        </a:spcAft>
                        <a:tabLst>
                          <a:tab pos="152400" algn="l"/>
                          <a:tab pos="359410" algn="l"/>
                          <a:tab pos="152400" algn="l"/>
                          <a:tab pos="359410" algn="l"/>
                        </a:tabLst>
                      </a:pPr>
                      <a:r>
                        <a:rPr lang="en-US" altLang="ko-KR" sz="1000" kern="1200" dirty="0">
                          <a:latin typeface="+mn-ea"/>
                          <a:ea typeface="+mn-ea"/>
                        </a:rPr>
                        <a:t>4. </a:t>
                      </a:r>
                      <a:r>
                        <a:rPr lang="ko-KR" altLang="en-US" sz="1000" kern="1200" dirty="0">
                          <a:latin typeface="+mn-ea"/>
                          <a:ea typeface="+mn-ea"/>
                        </a:rPr>
                        <a:t>연장 기간</a:t>
                      </a:r>
                      <a:endParaRPr lang="ko-KR" altLang="en-US" sz="1000" kern="1200" dirty="0">
                        <a:solidFill>
                          <a:schemeClr val="tx1"/>
                        </a:solidFill>
                        <a:latin typeface="+mn-ea"/>
                        <a:ea typeface="+mn-ea"/>
                        <a:cs typeface="+mn-cs"/>
                      </a:endParaRPr>
                    </a:p>
                  </a:txBody>
                  <a:tcPr marL="15858" marR="15858" marT="4384" marB="4384"/>
                </a:tc>
                <a:extLst>
                  <a:ext uri="{0D108BD9-81ED-4DB2-BD59-A6C34878D82A}">
                    <a16:rowId xmlns:a16="http://schemas.microsoft.com/office/drawing/2014/main" val="10001"/>
                  </a:ext>
                </a:extLst>
              </a:tr>
              <a:tr h="365871">
                <a:tc>
                  <a:txBody>
                    <a:bodyPr/>
                    <a:lstStyle/>
                    <a:p>
                      <a:pPr marL="0" marR="0" indent="0" algn="ctr" fontAlgn="base" latinLnBrk="0">
                        <a:lnSpc>
                          <a:spcPct val="100000"/>
                        </a:lnSpc>
                        <a:spcBef>
                          <a:spcPts val="0"/>
                        </a:spcBef>
                        <a:spcAft>
                          <a:spcPts val="0"/>
                        </a:spcAft>
                      </a:pPr>
                      <a:r>
                        <a:rPr lang="ko-KR" altLang="en-US" sz="1000" kern="1200">
                          <a:latin typeface="+mn-ea"/>
                          <a:ea typeface="+mn-ea"/>
                        </a:rPr>
                        <a:t>준용규정</a:t>
                      </a:r>
                      <a:endParaRPr lang="ko-KR" altLang="en-US" sz="1000" kern="1200">
                        <a:solidFill>
                          <a:schemeClr val="tx1"/>
                        </a:solidFill>
                        <a:latin typeface="+mn-ea"/>
                        <a:ea typeface="+mn-ea"/>
                        <a:cs typeface="+mn-cs"/>
                      </a:endParaRPr>
                    </a:p>
                  </a:txBody>
                  <a:tcPr marL="15858" marR="15858" marT="4384" marB="4384" anchor="ctr"/>
                </a:tc>
                <a:tc gridSpan="2">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000" b="1" kern="1200" dirty="0">
                          <a:latin typeface="+mn-ea"/>
                          <a:ea typeface="+mn-ea"/>
                        </a:rPr>
                        <a:t>제</a:t>
                      </a:r>
                      <a:r>
                        <a:rPr lang="en-US" altLang="ko-KR" sz="1000" b="1" kern="1200" dirty="0">
                          <a:latin typeface="+mn-ea"/>
                          <a:ea typeface="+mn-ea"/>
                        </a:rPr>
                        <a:t>93</a:t>
                      </a:r>
                      <a:r>
                        <a:rPr lang="ko-KR" altLang="en-US" sz="1000" b="1" kern="1200" dirty="0">
                          <a:latin typeface="+mn-ea"/>
                          <a:ea typeface="+mn-ea"/>
                        </a:rPr>
                        <a:t>조</a:t>
                      </a:r>
                      <a:r>
                        <a:rPr lang="en-US" altLang="ko-KR" sz="1000" b="1" kern="1200" dirty="0">
                          <a:latin typeface="+mn-ea"/>
                          <a:ea typeface="+mn-ea"/>
                        </a:rPr>
                        <a:t>【</a:t>
                      </a:r>
                      <a:r>
                        <a:rPr lang="ko-KR" altLang="en-US" sz="1000" b="1" kern="1200" dirty="0">
                          <a:latin typeface="+mn-ea"/>
                          <a:ea typeface="+mn-ea"/>
                        </a:rPr>
                        <a:t>준용규정</a:t>
                      </a:r>
                      <a:r>
                        <a:rPr lang="en-US" altLang="ko-KR" sz="1000" b="1" kern="1200" dirty="0">
                          <a:latin typeface="+mn-ea"/>
                          <a:ea typeface="+mn-ea"/>
                        </a:rPr>
                        <a:t>】</a:t>
                      </a:r>
                      <a:endParaRPr lang="ko-KR" altLang="en-US" sz="1000" b="1" kern="1200" dirty="0">
                        <a:latin typeface="+mn-ea"/>
                        <a:ea typeface="+mn-ea"/>
                      </a:endParaRPr>
                    </a:p>
                    <a:p>
                      <a:pPr marL="0" marR="0" indent="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특허권의 존속기간의 연장등록출원의 심사에 관하여는 제</a:t>
                      </a:r>
                      <a:r>
                        <a:rPr lang="en-US" altLang="ko-KR" sz="1000" kern="1200" dirty="0">
                          <a:latin typeface="+mn-ea"/>
                          <a:ea typeface="+mn-ea"/>
                        </a:rPr>
                        <a:t>57</a:t>
                      </a:r>
                      <a:r>
                        <a:rPr lang="ko-KR" altLang="en-US" sz="1000" kern="1200" dirty="0">
                          <a:latin typeface="+mn-ea"/>
                          <a:ea typeface="+mn-ea"/>
                        </a:rPr>
                        <a:t>조제</a:t>
                      </a:r>
                      <a:r>
                        <a:rPr lang="en-US" altLang="ko-KR" sz="1000" kern="1200" dirty="0">
                          <a:latin typeface="+mn-ea"/>
                          <a:ea typeface="+mn-ea"/>
                        </a:rPr>
                        <a:t>1</a:t>
                      </a:r>
                      <a:r>
                        <a:rPr lang="ko-KR" altLang="en-US" sz="1000" kern="1200" dirty="0">
                          <a:latin typeface="+mn-ea"/>
                          <a:ea typeface="+mn-ea"/>
                        </a:rPr>
                        <a:t>항</a:t>
                      </a:r>
                      <a:r>
                        <a:rPr lang="en-US" altLang="ko-KR" sz="1000" kern="1200" dirty="0">
                          <a:latin typeface="+mn-ea"/>
                          <a:ea typeface="+mn-ea"/>
                        </a:rPr>
                        <a:t>, </a:t>
                      </a:r>
                      <a:r>
                        <a:rPr lang="ko-KR" altLang="en-US" sz="1000" kern="1200" dirty="0">
                          <a:latin typeface="+mn-ea"/>
                          <a:ea typeface="+mn-ea"/>
                        </a:rPr>
                        <a:t>제</a:t>
                      </a:r>
                      <a:r>
                        <a:rPr lang="en-US" altLang="ko-KR" sz="1000" kern="1200" dirty="0">
                          <a:latin typeface="+mn-ea"/>
                          <a:ea typeface="+mn-ea"/>
                        </a:rPr>
                        <a:t>63</a:t>
                      </a:r>
                      <a:r>
                        <a:rPr lang="ko-KR" altLang="en-US" sz="1000" kern="1200" dirty="0">
                          <a:latin typeface="+mn-ea"/>
                          <a:ea typeface="+mn-ea"/>
                        </a:rPr>
                        <a:t>조</a:t>
                      </a:r>
                      <a:r>
                        <a:rPr lang="en-US" altLang="ko-KR" sz="1000" kern="1200" dirty="0">
                          <a:latin typeface="+mn-ea"/>
                          <a:ea typeface="+mn-ea"/>
                        </a:rPr>
                        <a:t>, </a:t>
                      </a:r>
                      <a:r>
                        <a:rPr lang="ko-KR" altLang="en-US" sz="1000" kern="1200" dirty="0">
                          <a:latin typeface="+mn-ea"/>
                          <a:ea typeface="+mn-ea"/>
                        </a:rPr>
                        <a:t>제</a:t>
                      </a:r>
                      <a:r>
                        <a:rPr lang="en-US" altLang="ko-KR" sz="1000" kern="1200" dirty="0">
                          <a:latin typeface="+mn-ea"/>
                          <a:ea typeface="+mn-ea"/>
                        </a:rPr>
                        <a:t>67</a:t>
                      </a:r>
                      <a:r>
                        <a:rPr lang="ko-KR" altLang="en-US" sz="1000" kern="1200" dirty="0">
                          <a:latin typeface="+mn-ea"/>
                          <a:ea typeface="+mn-ea"/>
                        </a:rPr>
                        <a:t>조</a:t>
                      </a:r>
                      <a:r>
                        <a:rPr lang="en-US" altLang="ko-KR" sz="1000" kern="1200" dirty="0">
                          <a:latin typeface="+mn-ea"/>
                          <a:ea typeface="+mn-ea"/>
                        </a:rPr>
                        <a:t>, </a:t>
                      </a:r>
                      <a:r>
                        <a:rPr lang="ko-KR" altLang="en-US" sz="1000" kern="1200" dirty="0">
                          <a:latin typeface="+mn-ea"/>
                          <a:ea typeface="+mn-ea"/>
                        </a:rPr>
                        <a:t>제</a:t>
                      </a:r>
                      <a:r>
                        <a:rPr lang="en-US" altLang="ko-KR" sz="1000" kern="1200" dirty="0">
                          <a:latin typeface="+mn-ea"/>
                          <a:ea typeface="+mn-ea"/>
                        </a:rPr>
                        <a:t>78</a:t>
                      </a:r>
                      <a:r>
                        <a:rPr lang="ko-KR" altLang="en-US" sz="1000" kern="1200" dirty="0">
                          <a:latin typeface="+mn-ea"/>
                          <a:ea typeface="+mn-ea"/>
                        </a:rPr>
                        <a:t>조제</a:t>
                      </a:r>
                      <a:r>
                        <a:rPr lang="en-US" altLang="ko-KR" sz="1000" kern="1200" dirty="0">
                          <a:latin typeface="+mn-ea"/>
                          <a:ea typeface="+mn-ea"/>
                        </a:rPr>
                        <a:t>1</a:t>
                      </a:r>
                      <a:r>
                        <a:rPr lang="ko-KR" altLang="en-US" sz="1000" kern="1200" dirty="0" err="1">
                          <a:latin typeface="+mn-ea"/>
                          <a:ea typeface="+mn-ea"/>
                        </a:rPr>
                        <a:t>항ㆍ제</a:t>
                      </a:r>
                      <a:r>
                        <a:rPr lang="en-US" altLang="ko-KR" sz="1000" kern="1200" dirty="0">
                          <a:latin typeface="+mn-ea"/>
                          <a:ea typeface="+mn-ea"/>
                        </a:rPr>
                        <a:t>3</a:t>
                      </a:r>
                      <a:r>
                        <a:rPr lang="ko-KR" altLang="en-US" sz="1000" kern="1200" dirty="0">
                          <a:latin typeface="+mn-ea"/>
                          <a:ea typeface="+mn-ea"/>
                        </a:rPr>
                        <a:t>항</a:t>
                      </a:r>
                      <a:r>
                        <a:rPr lang="en-US" altLang="ko-KR" sz="1000" kern="1200" dirty="0">
                          <a:latin typeface="+mn-ea"/>
                          <a:ea typeface="+mn-ea"/>
                        </a:rPr>
                        <a:t>, </a:t>
                      </a:r>
                      <a:r>
                        <a:rPr lang="ko-KR" altLang="en-US" sz="1000" kern="1200" dirty="0">
                          <a:latin typeface="+mn-ea"/>
                          <a:ea typeface="+mn-ea"/>
                        </a:rPr>
                        <a:t>제</a:t>
                      </a:r>
                      <a:r>
                        <a:rPr lang="en-US" altLang="ko-KR" sz="1000" kern="1200" dirty="0">
                          <a:latin typeface="+mn-ea"/>
                          <a:ea typeface="+mn-ea"/>
                        </a:rPr>
                        <a:t>148</a:t>
                      </a:r>
                      <a:r>
                        <a:rPr lang="ko-KR" altLang="en-US" sz="1000" kern="1200" dirty="0">
                          <a:latin typeface="+mn-ea"/>
                          <a:ea typeface="+mn-ea"/>
                        </a:rPr>
                        <a:t>조제</a:t>
                      </a:r>
                      <a:r>
                        <a:rPr lang="en-US" altLang="ko-KR" sz="1000" kern="1200" dirty="0">
                          <a:latin typeface="+mn-ea"/>
                          <a:ea typeface="+mn-ea"/>
                        </a:rPr>
                        <a:t>1</a:t>
                      </a:r>
                      <a:r>
                        <a:rPr lang="ko-KR" altLang="en-US" sz="1000" kern="1200" dirty="0">
                          <a:latin typeface="+mn-ea"/>
                          <a:ea typeface="+mn-ea"/>
                        </a:rPr>
                        <a:t>호부터 제</a:t>
                      </a:r>
                      <a:r>
                        <a:rPr lang="en-US" altLang="ko-KR" sz="1000" kern="1200" dirty="0">
                          <a:latin typeface="+mn-ea"/>
                          <a:ea typeface="+mn-ea"/>
                        </a:rPr>
                        <a:t>5</a:t>
                      </a:r>
                      <a:r>
                        <a:rPr lang="ko-KR" altLang="en-US" sz="1000" kern="1200" dirty="0">
                          <a:latin typeface="+mn-ea"/>
                          <a:ea typeface="+mn-ea"/>
                        </a:rPr>
                        <a:t>호까지 및 같은 조 제</a:t>
                      </a:r>
                      <a:r>
                        <a:rPr lang="en-US" altLang="ko-KR" sz="1000" kern="1200" dirty="0">
                          <a:latin typeface="+mn-ea"/>
                          <a:ea typeface="+mn-ea"/>
                        </a:rPr>
                        <a:t>7</a:t>
                      </a:r>
                      <a:r>
                        <a:rPr lang="ko-KR" altLang="en-US" sz="1000" kern="1200" dirty="0">
                          <a:latin typeface="+mn-ea"/>
                          <a:ea typeface="+mn-ea"/>
                        </a:rPr>
                        <a:t>호를 준용한다</a:t>
                      </a:r>
                      <a:r>
                        <a:rPr lang="en-US" altLang="ko-KR" sz="1000" kern="1200" dirty="0">
                          <a:latin typeface="+mn-ea"/>
                          <a:ea typeface="+mn-ea"/>
                        </a:rPr>
                        <a:t>. </a:t>
                      </a:r>
                      <a:r>
                        <a:rPr lang="ko-KR" altLang="en-US" sz="1000" kern="1200" dirty="0">
                          <a:latin typeface="+mn-ea"/>
                          <a:ea typeface="+mn-ea"/>
                        </a:rPr>
                        <a:t>이 경우 제</a:t>
                      </a:r>
                      <a:r>
                        <a:rPr lang="en-US" altLang="ko-KR" sz="1000" kern="1200" dirty="0">
                          <a:latin typeface="+mn-ea"/>
                          <a:ea typeface="+mn-ea"/>
                        </a:rPr>
                        <a:t>78</a:t>
                      </a:r>
                      <a:r>
                        <a:rPr lang="ko-KR" altLang="en-US" sz="1000" kern="1200" dirty="0">
                          <a:latin typeface="+mn-ea"/>
                          <a:ea typeface="+mn-ea"/>
                        </a:rPr>
                        <a:t>조제</a:t>
                      </a:r>
                      <a:r>
                        <a:rPr lang="en-US" altLang="ko-KR" sz="1000" kern="1200" dirty="0">
                          <a:latin typeface="+mn-ea"/>
                          <a:ea typeface="+mn-ea"/>
                        </a:rPr>
                        <a:t>1</a:t>
                      </a:r>
                      <a:r>
                        <a:rPr lang="ko-KR" altLang="en-US" sz="1000" kern="1200" dirty="0">
                          <a:latin typeface="+mn-ea"/>
                          <a:ea typeface="+mn-ea"/>
                        </a:rPr>
                        <a:t>항 중 “특허취소신청에 대한 </a:t>
                      </a:r>
                      <a:r>
                        <a:rPr lang="ko-KR" altLang="en-US" sz="1000" kern="1200" dirty="0" err="1">
                          <a:latin typeface="+mn-ea"/>
                          <a:ea typeface="+mn-ea"/>
                        </a:rPr>
                        <a:t>결정”은</a:t>
                      </a:r>
                      <a:r>
                        <a:rPr lang="ko-KR" altLang="en-US" sz="1000" kern="1200" dirty="0">
                          <a:latin typeface="+mn-ea"/>
                          <a:ea typeface="+mn-ea"/>
                        </a:rPr>
                        <a:t> “제</a:t>
                      </a:r>
                      <a:r>
                        <a:rPr lang="en-US" altLang="ko-KR" sz="1000" kern="1200" dirty="0">
                          <a:latin typeface="+mn-ea"/>
                          <a:ea typeface="+mn-ea"/>
                        </a:rPr>
                        <a:t>92</a:t>
                      </a:r>
                      <a:r>
                        <a:rPr lang="ko-KR" altLang="en-US" sz="1000" kern="1200" dirty="0">
                          <a:latin typeface="+mn-ea"/>
                          <a:ea typeface="+mn-ea"/>
                        </a:rPr>
                        <a:t>조의</a:t>
                      </a:r>
                      <a:r>
                        <a:rPr lang="en-US" altLang="ko-KR" sz="1000" kern="1200" dirty="0">
                          <a:latin typeface="+mn-ea"/>
                          <a:ea typeface="+mn-ea"/>
                        </a:rPr>
                        <a:t>4 </a:t>
                      </a:r>
                      <a:r>
                        <a:rPr lang="ko-KR" altLang="en-US" sz="1000" kern="1200" dirty="0">
                          <a:latin typeface="+mn-ea"/>
                          <a:ea typeface="+mn-ea"/>
                        </a:rPr>
                        <a:t>및 제</a:t>
                      </a:r>
                      <a:r>
                        <a:rPr lang="en-US" altLang="ko-KR" sz="1000" kern="1200" dirty="0">
                          <a:latin typeface="+mn-ea"/>
                          <a:ea typeface="+mn-ea"/>
                        </a:rPr>
                        <a:t>92</a:t>
                      </a:r>
                      <a:r>
                        <a:rPr lang="ko-KR" altLang="en-US" sz="1000" kern="1200" dirty="0">
                          <a:latin typeface="+mn-ea"/>
                          <a:ea typeface="+mn-ea"/>
                        </a:rPr>
                        <a:t>조의</a:t>
                      </a:r>
                      <a:r>
                        <a:rPr lang="en-US" altLang="ko-KR" sz="1000" kern="1200" dirty="0">
                          <a:latin typeface="+mn-ea"/>
                          <a:ea typeface="+mn-ea"/>
                        </a:rPr>
                        <a:t>5</a:t>
                      </a:r>
                      <a:r>
                        <a:rPr lang="ko-KR" altLang="en-US" sz="1000" kern="1200" dirty="0">
                          <a:latin typeface="+mn-ea"/>
                          <a:ea typeface="+mn-ea"/>
                        </a:rPr>
                        <a:t>에 따른 </a:t>
                      </a:r>
                      <a:r>
                        <a:rPr lang="ko-KR" altLang="en-US" sz="1000" kern="1200" dirty="0" err="1">
                          <a:latin typeface="+mn-ea"/>
                          <a:ea typeface="+mn-ea"/>
                        </a:rPr>
                        <a:t>연장등록거절결정</a:t>
                      </a:r>
                      <a:r>
                        <a:rPr lang="ko-KR" altLang="en-US" sz="1000" kern="1200" dirty="0">
                          <a:latin typeface="+mn-ea"/>
                          <a:ea typeface="+mn-ea"/>
                        </a:rPr>
                        <a:t> 또는 </a:t>
                      </a:r>
                      <a:r>
                        <a:rPr lang="ko-KR" altLang="en-US" sz="1000" kern="1200" dirty="0" err="1">
                          <a:latin typeface="+mn-ea"/>
                          <a:ea typeface="+mn-ea"/>
                        </a:rPr>
                        <a:t>연장등록결정”으로</a:t>
                      </a:r>
                      <a:r>
                        <a:rPr lang="en-US" altLang="ko-KR" sz="1000" kern="1200" dirty="0">
                          <a:latin typeface="+mn-ea"/>
                          <a:ea typeface="+mn-ea"/>
                        </a:rPr>
                        <a:t>, “</a:t>
                      </a:r>
                      <a:r>
                        <a:rPr lang="ko-KR" altLang="en-US" sz="1000" kern="1200" dirty="0">
                          <a:latin typeface="+mn-ea"/>
                          <a:ea typeface="+mn-ea"/>
                        </a:rPr>
                        <a:t>그 </a:t>
                      </a:r>
                      <a:r>
                        <a:rPr lang="ko-KR" altLang="en-US" sz="1000" kern="1200" dirty="0" err="1">
                          <a:latin typeface="+mn-ea"/>
                          <a:ea typeface="+mn-ea"/>
                        </a:rPr>
                        <a:t>심사절차”는</a:t>
                      </a:r>
                      <a:r>
                        <a:rPr lang="ko-KR" altLang="en-US" sz="1000" kern="1200" dirty="0">
                          <a:latin typeface="+mn-ea"/>
                          <a:ea typeface="+mn-ea"/>
                        </a:rPr>
                        <a:t> “</a:t>
                      </a:r>
                      <a:r>
                        <a:rPr lang="ko-KR" altLang="en-US" sz="1000" kern="1200" dirty="0" err="1">
                          <a:latin typeface="+mn-ea"/>
                          <a:ea typeface="+mn-ea"/>
                        </a:rPr>
                        <a:t>허가등에</a:t>
                      </a:r>
                      <a:r>
                        <a:rPr lang="ko-KR" altLang="en-US" sz="1000" kern="1200" dirty="0">
                          <a:latin typeface="+mn-ea"/>
                          <a:ea typeface="+mn-ea"/>
                        </a:rPr>
                        <a:t> 따른 연장등록출원 심사 </a:t>
                      </a:r>
                      <a:r>
                        <a:rPr lang="ko-KR" altLang="en-US" sz="1000" kern="1200" dirty="0" err="1">
                          <a:latin typeface="+mn-ea"/>
                          <a:ea typeface="+mn-ea"/>
                        </a:rPr>
                        <a:t>절차”로</a:t>
                      </a:r>
                      <a:r>
                        <a:rPr lang="ko-KR" altLang="en-US" sz="1000" kern="1200" dirty="0">
                          <a:latin typeface="+mn-ea"/>
                          <a:ea typeface="+mn-ea"/>
                        </a:rPr>
                        <a:t> 본다</a:t>
                      </a:r>
                      <a:r>
                        <a:rPr lang="en-US" altLang="ko-KR" sz="1000" kern="1200" dirty="0">
                          <a:latin typeface="+mn-ea"/>
                          <a:ea typeface="+mn-ea"/>
                        </a:rPr>
                        <a:t>.</a:t>
                      </a:r>
                      <a:endParaRPr lang="ko-KR" altLang="en-US" sz="1000" kern="1200" dirty="0">
                        <a:solidFill>
                          <a:schemeClr val="tx1"/>
                        </a:solidFill>
                        <a:latin typeface="+mn-ea"/>
                        <a:ea typeface="+mn-ea"/>
                        <a:cs typeface="+mn-cs"/>
                      </a:endParaRPr>
                    </a:p>
                  </a:txBody>
                  <a:tcPr marL="15858" marR="15858" marT="4384" marB="4384"/>
                </a:tc>
                <a:tc hMerge="1">
                  <a:txBody>
                    <a:bodyPr/>
                    <a:lstStyle/>
                    <a:p>
                      <a:pPr latinLnBrk="1"/>
                      <a:endParaRPr lang="ko-KR" altLang="en-US"/>
                    </a:p>
                  </a:txBody>
                  <a:tcPr/>
                </a:tc>
                <a:extLst>
                  <a:ext uri="{0D108BD9-81ED-4DB2-BD59-A6C34878D82A}">
                    <a16:rowId xmlns:a16="http://schemas.microsoft.com/office/drawing/2014/main" val="10002"/>
                  </a:ext>
                </a:extLst>
              </a:tr>
              <a:tr h="721511">
                <a:tc>
                  <a:txBody>
                    <a:bodyPr/>
                    <a:lstStyle/>
                    <a:p>
                      <a:pPr marL="0" marR="0" indent="0" algn="ctr" fontAlgn="base" latinLnBrk="0">
                        <a:lnSpc>
                          <a:spcPct val="100000"/>
                        </a:lnSpc>
                        <a:spcBef>
                          <a:spcPts val="0"/>
                        </a:spcBef>
                        <a:spcAft>
                          <a:spcPts val="0"/>
                        </a:spcAft>
                      </a:pPr>
                      <a:r>
                        <a:rPr lang="ko-KR" altLang="en-US" sz="1000" kern="1200">
                          <a:latin typeface="+mn-ea"/>
                          <a:ea typeface="+mn-ea"/>
                        </a:rPr>
                        <a:t>효력</a:t>
                      </a:r>
                      <a:endParaRPr lang="ko-KR" altLang="en-US" sz="1000" kern="1200">
                        <a:solidFill>
                          <a:schemeClr val="tx1"/>
                        </a:solidFill>
                        <a:latin typeface="+mn-ea"/>
                        <a:ea typeface="+mn-ea"/>
                        <a:cs typeface="+mn-cs"/>
                      </a:endParaRPr>
                    </a:p>
                  </a:txBody>
                  <a:tcPr marL="15858" marR="15858" marT="4384" marB="4384" anchor="ctr"/>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000" b="1" kern="1200" dirty="0">
                          <a:latin typeface="+mn-ea"/>
                          <a:ea typeface="+mn-ea"/>
                        </a:rPr>
                        <a:t>제</a:t>
                      </a:r>
                      <a:r>
                        <a:rPr lang="en-US" altLang="ko-KR" sz="1000" b="1" kern="1200" dirty="0">
                          <a:latin typeface="+mn-ea"/>
                          <a:ea typeface="+mn-ea"/>
                        </a:rPr>
                        <a:t>95</a:t>
                      </a:r>
                      <a:r>
                        <a:rPr lang="ko-KR" altLang="en-US" sz="1000" b="1" kern="1200" dirty="0">
                          <a:latin typeface="+mn-ea"/>
                          <a:ea typeface="+mn-ea"/>
                        </a:rPr>
                        <a:t>조</a:t>
                      </a:r>
                      <a:r>
                        <a:rPr lang="en-US" altLang="ko-KR" sz="1000" b="1" kern="1200" dirty="0">
                          <a:latin typeface="+mn-ea"/>
                          <a:ea typeface="+mn-ea"/>
                        </a:rPr>
                        <a:t>【</a:t>
                      </a:r>
                      <a:r>
                        <a:rPr lang="ko-KR" altLang="en-US" sz="1000" b="1" kern="1200" dirty="0">
                          <a:latin typeface="+mn-ea"/>
                          <a:ea typeface="+mn-ea"/>
                        </a:rPr>
                        <a:t>허가 등에 따른 존속기간이 연장된 경우의 특허권의 효력</a:t>
                      </a:r>
                      <a:r>
                        <a:rPr lang="en-US" altLang="ko-KR" sz="1000" b="1" kern="1200" dirty="0">
                          <a:latin typeface="+mn-ea"/>
                          <a:ea typeface="+mn-ea"/>
                        </a:rPr>
                        <a:t>】</a:t>
                      </a:r>
                      <a:endParaRPr lang="ko-KR" altLang="en-US" sz="1000" b="1" kern="1200" dirty="0">
                        <a:latin typeface="+mn-ea"/>
                        <a:ea typeface="+mn-ea"/>
                      </a:endParaRPr>
                    </a:p>
                    <a:p>
                      <a:pPr marL="0" marR="0" indent="0"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제</a:t>
                      </a:r>
                      <a:r>
                        <a:rPr lang="en-US" altLang="ko-KR" sz="1000" kern="1200" dirty="0">
                          <a:latin typeface="+mn-ea"/>
                          <a:ea typeface="+mn-ea"/>
                        </a:rPr>
                        <a:t>90</a:t>
                      </a:r>
                      <a:r>
                        <a:rPr lang="ko-KR" altLang="en-US" sz="1000" kern="1200" dirty="0">
                          <a:latin typeface="+mn-ea"/>
                          <a:ea typeface="+mn-ea"/>
                        </a:rPr>
                        <a:t>조제</a:t>
                      </a:r>
                      <a:r>
                        <a:rPr lang="en-US" altLang="ko-KR" sz="1000" kern="1200" dirty="0">
                          <a:latin typeface="+mn-ea"/>
                          <a:ea typeface="+mn-ea"/>
                        </a:rPr>
                        <a:t>4</a:t>
                      </a:r>
                      <a:r>
                        <a:rPr lang="ko-KR" altLang="en-US" sz="1000" kern="1200" dirty="0">
                          <a:latin typeface="+mn-ea"/>
                          <a:ea typeface="+mn-ea"/>
                        </a:rPr>
                        <a:t>항에 따라 특허권의 존속기간이 연장된 특허권의 효력은 그 연장등록의 이유가 된 허가 등의 대상물건</a:t>
                      </a:r>
                      <a:r>
                        <a:rPr lang="en-US" altLang="ko-KR" sz="1000" kern="1200" dirty="0">
                          <a:latin typeface="+mn-ea"/>
                          <a:ea typeface="+mn-ea"/>
                        </a:rPr>
                        <a:t>(</a:t>
                      </a:r>
                      <a:r>
                        <a:rPr lang="ko-KR" altLang="en-US" sz="1000" kern="1200" dirty="0">
                          <a:latin typeface="+mn-ea"/>
                          <a:ea typeface="+mn-ea"/>
                        </a:rPr>
                        <a:t>그 허가 등에 있어 물건에 대하여 특정의 용도가 정하여져 있는 경우에는 그 용도에 사용되는 물건</a:t>
                      </a:r>
                      <a:r>
                        <a:rPr lang="en-US" altLang="ko-KR" sz="1000" kern="1200" dirty="0">
                          <a:latin typeface="+mn-ea"/>
                          <a:ea typeface="+mn-ea"/>
                        </a:rPr>
                        <a:t>)</a:t>
                      </a:r>
                      <a:r>
                        <a:rPr lang="ko-KR" altLang="en-US" sz="1000" kern="1200" dirty="0">
                          <a:latin typeface="+mn-ea"/>
                          <a:ea typeface="+mn-ea"/>
                        </a:rPr>
                        <a:t>에 관한 그 특허발명의 실시 행위에만 미친다</a:t>
                      </a:r>
                      <a:r>
                        <a:rPr lang="en-US" altLang="ko-KR" sz="1000" kern="1200" dirty="0">
                          <a:latin typeface="+mn-ea"/>
                          <a:ea typeface="+mn-ea"/>
                        </a:rPr>
                        <a:t>.</a:t>
                      </a:r>
                      <a:endParaRPr lang="ko-KR" altLang="en-US" sz="1000" kern="1200" dirty="0">
                        <a:solidFill>
                          <a:schemeClr val="tx1"/>
                        </a:solidFill>
                        <a:latin typeface="+mn-ea"/>
                        <a:ea typeface="+mn-ea"/>
                        <a:cs typeface="+mn-cs"/>
                      </a:endParaRPr>
                    </a:p>
                  </a:txBody>
                  <a:tcPr marL="15858" marR="15858" marT="4384" marB="4384"/>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000" b="1" kern="1200" dirty="0">
                          <a:latin typeface="+mn-ea"/>
                          <a:ea typeface="+mn-ea"/>
                        </a:rPr>
                        <a:t>제</a:t>
                      </a:r>
                      <a:r>
                        <a:rPr lang="en-US" altLang="ko-KR" sz="1000" b="1" kern="1200" dirty="0">
                          <a:latin typeface="+mn-ea"/>
                          <a:ea typeface="+mn-ea"/>
                        </a:rPr>
                        <a:t>94</a:t>
                      </a:r>
                      <a:r>
                        <a:rPr lang="ko-KR" altLang="en-US" sz="1000" b="1" kern="1200" dirty="0">
                          <a:latin typeface="+mn-ea"/>
                          <a:ea typeface="+mn-ea"/>
                        </a:rPr>
                        <a:t>조</a:t>
                      </a:r>
                      <a:r>
                        <a:rPr lang="en-US" altLang="ko-KR" sz="1000" b="1" kern="1200" dirty="0">
                          <a:latin typeface="+mn-ea"/>
                          <a:ea typeface="+mn-ea"/>
                        </a:rPr>
                        <a:t>【</a:t>
                      </a:r>
                      <a:r>
                        <a:rPr lang="ko-KR" altLang="en-US" sz="1000" b="1" kern="1200" dirty="0">
                          <a:latin typeface="+mn-ea"/>
                          <a:ea typeface="+mn-ea"/>
                        </a:rPr>
                        <a:t>특허권의 효력</a:t>
                      </a:r>
                      <a:r>
                        <a:rPr lang="en-US" altLang="ko-KR" sz="1000" b="1" kern="1200" dirty="0">
                          <a:latin typeface="+mn-ea"/>
                          <a:ea typeface="+mn-ea"/>
                        </a:rPr>
                        <a:t>】</a:t>
                      </a:r>
                      <a:endParaRPr lang="ko-KR" altLang="en-US" sz="1000" b="1" kern="1200" dirty="0">
                        <a:latin typeface="+mn-ea"/>
                        <a:ea typeface="+mn-ea"/>
                      </a:endParaRPr>
                    </a:p>
                    <a:p>
                      <a:pPr marL="180975" marR="0" indent="-180975" algn="just" fontAlgn="base" latinLnBrk="1">
                        <a:lnSpc>
                          <a:spcPct val="100000"/>
                        </a:lnSpc>
                        <a:spcBef>
                          <a:spcPts val="0"/>
                        </a:spcBef>
                        <a:spcAft>
                          <a:spcPts val="0"/>
                        </a:spcAft>
                        <a:tabLst>
                          <a:tab pos="152400" algn="l"/>
                          <a:tab pos="359410" algn="l"/>
                          <a:tab pos="152400" algn="l"/>
                          <a:tab pos="359410" algn="l"/>
                        </a:tabLst>
                      </a:pPr>
                      <a:r>
                        <a:rPr lang="ko-KR" altLang="en-US" sz="1000" kern="1200" dirty="0">
                          <a:latin typeface="+mn-ea"/>
                          <a:ea typeface="+mn-ea"/>
                        </a:rPr>
                        <a:t>① 특허권자는 업으로서 특허발명을 실시할 권리를 독점한다</a:t>
                      </a:r>
                      <a:r>
                        <a:rPr lang="en-US" altLang="ko-KR" sz="1000" kern="1200" dirty="0">
                          <a:latin typeface="+mn-ea"/>
                          <a:ea typeface="+mn-ea"/>
                        </a:rPr>
                        <a:t>. </a:t>
                      </a:r>
                      <a:r>
                        <a:rPr lang="ko-KR" altLang="en-US" sz="1000" kern="1200" dirty="0">
                          <a:latin typeface="+mn-ea"/>
                          <a:ea typeface="+mn-ea"/>
                        </a:rPr>
                        <a:t>다만</a:t>
                      </a:r>
                      <a:r>
                        <a:rPr lang="en-US" altLang="ko-KR" sz="1000" kern="1200" dirty="0">
                          <a:latin typeface="+mn-ea"/>
                          <a:ea typeface="+mn-ea"/>
                        </a:rPr>
                        <a:t>, </a:t>
                      </a:r>
                      <a:r>
                        <a:rPr lang="ko-KR" altLang="en-US" sz="1000" kern="1200" dirty="0">
                          <a:latin typeface="+mn-ea"/>
                          <a:ea typeface="+mn-ea"/>
                        </a:rPr>
                        <a:t>그 특허권에 관하여 </a:t>
                      </a:r>
                      <a:r>
                        <a:rPr lang="ko-KR" altLang="en-US" sz="1000" kern="1200" dirty="0" err="1">
                          <a:latin typeface="+mn-ea"/>
                          <a:ea typeface="+mn-ea"/>
                        </a:rPr>
                        <a:t>전용실시권을</a:t>
                      </a:r>
                      <a:r>
                        <a:rPr lang="ko-KR" altLang="en-US" sz="1000" kern="1200" dirty="0">
                          <a:latin typeface="+mn-ea"/>
                          <a:ea typeface="+mn-ea"/>
                        </a:rPr>
                        <a:t> 설정하였을 때에는 제</a:t>
                      </a:r>
                      <a:r>
                        <a:rPr lang="en-US" altLang="ko-KR" sz="1000" kern="1200" dirty="0">
                          <a:latin typeface="+mn-ea"/>
                          <a:ea typeface="+mn-ea"/>
                        </a:rPr>
                        <a:t>100</a:t>
                      </a:r>
                      <a:r>
                        <a:rPr lang="ko-KR" altLang="en-US" sz="1000" kern="1200" dirty="0">
                          <a:latin typeface="+mn-ea"/>
                          <a:ea typeface="+mn-ea"/>
                        </a:rPr>
                        <a:t>조제</a:t>
                      </a:r>
                      <a:r>
                        <a:rPr lang="en-US" altLang="ko-KR" sz="1000" kern="1200" dirty="0">
                          <a:latin typeface="+mn-ea"/>
                          <a:ea typeface="+mn-ea"/>
                        </a:rPr>
                        <a:t>2</a:t>
                      </a:r>
                      <a:r>
                        <a:rPr lang="ko-KR" altLang="en-US" sz="1000" kern="1200" dirty="0">
                          <a:latin typeface="+mn-ea"/>
                          <a:ea typeface="+mn-ea"/>
                        </a:rPr>
                        <a:t>항</a:t>
                      </a:r>
                      <a:r>
                        <a:rPr lang="en-US" altLang="ko-KR" sz="1000" kern="1200" dirty="0">
                          <a:latin typeface="+mn-ea"/>
                          <a:ea typeface="+mn-ea"/>
                        </a:rPr>
                        <a:t>[</a:t>
                      </a:r>
                      <a:r>
                        <a:rPr lang="ko-KR" altLang="en-US" sz="1000" kern="1200" dirty="0" err="1">
                          <a:latin typeface="+mn-ea"/>
                          <a:ea typeface="+mn-ea"/>
                        </a:rPr>
                        <a:t>전용실시권의</a:t>
                      </a:r>
                      <a:r>
                        <a:rPr lang="ko-KR" altLang="en-US" sz="1000" kern="1200" dirty="0">
                          <a:latin typeface="+mn-ea"/>
                          <a:ea typeface="+mn-ea"/>
                        </a:rPr>
                        <a:t> 효력</a:t>
                      </a:r>
                      <a:r>
                        <a:rPr lang="en-US" altLang="ko-KR" sz="1000" kern="1200" dirty="0">
                          <a:latin typeface="+mn-ea"/>
                          <a:ea typeface="+mn-ea"/>
                        </a:rPr>
                        <a:t>]</a:t>
                      </a:r>
                      <a:r>
                        <a:rPr lang="ko-KR" altLang="en-US" sz="1000" kern="1200" dirty="0">
                          <a:latin typeface="+mn-ea"/>
                          <a:ea typeface="+mn-ea"/>
                        </a:rPr>
                        <a:t>에 따라 </a:t>
                      </a:r>
                      <a:r>
                        <a:rPr lang="ko-KR" altLang="en-US" sz="1000" kern="1200" dirty="0" err="1">
                          <a:latin typeface="+mn-ea"/>
                          <a:ea typeface="+mn-ea"/>
                        </a:rPr>
                        <a:t>전용실시권자가</a:t>
                      </a:r>
                      <a:r>
                        <a:rPr lang="ko-KR" altLang="en-US" sz="1000" kern="1200" dirty="0">
                          <a:latin typeface="+mn-ea"/>
                          <a:ea typeface="+mn-ea"/>
                        </a:rPr>
                        <a:t> 그 특허발명을 실시할 권리를 독점하는 범위에서는 그러하지 아니하다</a:t>
                      </a:r>
                      <a:r>
                        <a:rPr lang="en-US" altLang="ko-KR" sz="1000" kern="1200" dirty="0">
                          <a:latin typeface="+mn-ea"/>
                          <a:ea typeface="+mn-ea"/>
                        </a:rPr>
                        <a:t>.</a:t>
                      </a:r>
                      <a:endParaRPr lang="ko-KR" altLang="en-US" sz="1000" kern="1200" dirty="0">
                        <a:solidFill>
                          <a:schemeClr val="tx1"/>
                        </a:solidFill>
                        <a:latin typeface="+mn-ea"/>
                        <a:ea typeface="+mn-ea"/>
                        <a:cs typeface="+mn-cs"/>
                      </a:endParaRPr>
                    </a:p>
                  </a:txBody>
                  <a:tcPr marL="15858" marR="15858" marT="4384" marB="4384"/>
                </a:tc>
                <a:extLst>
                  <a:ext uri="{0D108BD9-81ED-4DB2-BD59-A6C34878D82A}">
                    <a16:rowId xmlns:a16="http://schemas.microsoft.com/office/drawing/2014/main" val="10003"/>
                  </a:ext>
                </a:extLst>
              </a:tr>
            </a:tbl>
          </a:graphicData>
        </a:graphic>
      </p:graphicFrame>
      <p:sp>
        <p:nvSpPr>
          <p:cNvPr id="2" name="슬라이드 번호 개체 틀 1"/>
          <p:cNvSpPr>
            <a:spLocks noGrp="1"/>
          </p:cNvSpPr>
          <p:nvPr>
            <p:ph type="sldNum" sz="quarter" idx="12"/>
          </p:nvPr>
        </p:nvSpPr>
        <p:spPr/>
        <p:txBody>
          <a:bodyPr/>
          <a:lstStyle/>
          <a:p>
            <a:r>
              <a:rPr lang="en-US" altLang="ko-KR"/>
              <a:t>304</a:t>
            </a:r>
            <a:endParaRPr lang="ko-KR" altLang="en-US"/>
          </a:p>
        </p:txBody>
      </p:sp>
    </p:spTree>
    <p:extLst>
      <p:ext uri="{BB962C8B-B14F-4D97-AF65-F5344CB8AC3E}">
        <p14:creationId xmlns:p14="http://schemas.microsoft.com/office/powerpoint/2010/main" val="2781723817"/>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직사각형 77">
            <a:extLst>
              <a:ext uri="{FF2B5EF4-FFF2-40B4-BE49-F238E27FC236}">
                <a16:creationId xmlns:a16="http://schemas.microsoft.com/office/drawing/2014/main" id="{2C4116BC-9513-41E7-B4FC-BDDAF79EE0F1}"/>
              </a:ext>
            </a:extLst>
          </p:cNvPr>
          <p:cNvSpPr/>
          <p:nvPr/>
        </p:nvSpPr>
        <p:spPr>
          <a:xfrm>
            <a:off x="6781800" y="3596311"/>
            <a:ext cx="3373000" cy="2049075"/>
          </a:xfrm>
          <a:prstGeom prst="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특허권의 효력 개괄</a:t>
            </a:r>
          </a:p>
        </p:txBody>
      </p:sp>
      <p:sp>
        <p:nvSpPr>
          <p:cNvPr id="6" name="직사각형 5"/>
          <p:cNvSpPr/>
          <p:nvPr/>
        </p:nvSpPr>
        <p:spPr>
          <a:xfrm>
            <a:off x="323850" y="3441328"/>
            <a:ext cx="738640" cy="790575"/>
          </a:xfrm>
          <a:prstGeom prst="rect">
            <a:avLst/>
          </a:prstGeom>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효력</a:t>
            </a:r>
          </a:p>
        </p:txBody>
      </p:sp>
      <p:sp>
        <p:nvSpPr>
          <p:cNvPr id="7" name="직사각형 6"/>
          <p:cNvSpPr/>
          <p:nvPr/>
        </p:nvSpPr>
        <p:spPr>
          <a:xfrm>
            <a:off x="1370257" y="2479303"/>
            <a:ext cx="738640" cy="790575"/>
          </a:xfrm>
          <a:prstGeom prst="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효력</a:t>
            </a:r>
            <a:endParaRPr lang="en-US" altLang="ko-KR" sz="1200" dirty="0">
              <a:solidFill>
                <a:schemeClr val="tx1"/>
              </a:solidFill>
            </a:endParaRPr>
          </a:p>
          <a:p>
            <a:pPr algn="ctr"/>
            <a:r>
              <a:rPr lang="ko-KR" altLang="en-US" sz="1200" dirty="0">
                <a:solidFill>
                  <a:schemeClr val="tx1"/>
                </a:solidFill>
              </a:rPr>
              <a:t>범위</a:t>
            </a:r>
          </a:p>
        </p:txBody>
      </p:sp>
      <p:sp>
        <p:nvSpPr>
          <p:cNvPr id="8" name="직사각형 7"/>
          <p:cNvSpPr/>
          <p:nvPr/>
        </p:nvSpPr>
        <p:spPr>
          <a:xfrm>
            <a:off x="1370257" y="4527178"/>
            <a:ext cx="738640" cy="790575"/>
          </a:xfrm>
          <a:prstGeom prst="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효력</a:t>
            </a:r>
            <a:endParaRPr lang="en-US" altLang="ko-KR" sz="1200" dirty="0">
              <a:solidFill>
                <a:schemeClr val="tx1"/>
              </a:solidFill>
            </a:endParaRPr>
          </a:p>
          <a:p>
            <a:pPr algn="ctr"/>
            <a:r>
              <a:rPr lang="ko-KR" altLang="en-US" sz="1200" dirty="0">
                <a:solidFill>
                  <a:schemeClr val="tx1"/>
                </a:solidFill>
              </a:rPr>
              <a:t>내용</a:t>
            </a:r>
          </a:p>
        </p:txBody>
      </p:sp>
      <p:sp>
        <p:nvSpPr>
          <p:cNvPr id="9" name="직사각형 8"/>
          <p:cNvSpPr/>
          <p:nvPr/>
        </p:nvSpPr>
        <p:spPr>
          <a:xfrm>
            <a:off x="2407871" y="2033059"/>
            <a:ext cx="70346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a:solidFill>
                  <a:schemeClr val="tx1"/>
                </a:solidFill>
              </a:rPr>
              <a:t>시간적</a:t>
            </a:r>
            <a:endParaRPr lang="ko-KR" altLang="en-US" sz="1100" dirty="0">
              <a:solidFill>
                <a:schemeClr val="tx1"/>
              </a:solidFill>
            </a:endParaRPr>
          </a:p>
        </p:txBody>
      </p:sp>
      <p:sp>
        <p:nvSpPr>
          <p:cNvPr id="10" name="직사각형 9"/>
          <p:cNvSpPr/>
          <p:nvPr/>
        </p:nvSpPr>
        <p:spPr>
          <a:xfrm>
            <a:off x="2407871" y="2892235"/>
            <a:ext cx="70346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내용적</a:t>
            </a:r>
          </a:p>
        </p:txBody>
      </p:sp>
      <p:sp>
        <p:nvSpPr>
          <p:cNvPr id="11" name="직사각형 10"/>
          <p:cNvSpPr/>
          <p:nvPr/>
        </p:nvSpPr>
        <p:spPr>
          <a:xfrm>
            <a:off x="2407871" y="3451867"/>
            <a:ext cx="70346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지역적</a:t>
            </a:r>
          </a:p>
        </p:txBody>
      </p:sp>
      <p:sp>
        <p:nvSpPr>
          <p:cNvPr id="12" name="직사각형 11"/>
          <p:cNvSpPr/>
          <p:nvPr/>
        </p:nvSpPr>
        <p:spPr>
          <a:xfrm>
            <a:off x="3392724" y="1703015"/>
            <a:ext cx="128382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존속기간</a:t>
            </a:r>
            <a:endParaRPr lang="en-US" altLang="ko-KR" sz="1100" dirty="0">
              <a:solidFill>
                <a:schemeClr val="tx1"/>
              </a:solidFill>
            </a:endParaRPr>
          </a:p>
          <a:p>
            <a:pPr algn="ct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88)</a:t>
            </a:r>
            <a:endParaRPr lang="ko-KR" altLang="en-US" sz="1100" dirty="0">
              <a:solidFill>
                <a:schemeClr val="tx1"/>
              </a:solidFill>
            </a:endParaRPr>
          </a:p>
        </p:txBody>
      </p:sp>
      <p:sp>
        <p:nvSpPr>
          <p:cNvPr id="13" name="직사각형 12"/>
          <p:cNvSpPr/>
          <p:nvPr/>
        </p:nvSpPr>
        <p:spPr>
          <a:xfrm>
            <a:off x="3392724" y="2309284"/>
            <a:ext cx="128382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존속기간의 연장</a:t>
            </a:r>
            <a:endParaRPr lang="en-US" altLang="ko-KR" sz="1100" dirty="0">
              <a:solidFill>
                <a:schemeClr val="tx1"/>
              </a:solidFill>
            </a:endParaRPr>
          </a:p>
          <a:p>
            <a:pPr algn="ct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89~95)</a:t>
            </a:r>
            <a:endParaRPr lang="ko-KR" altLang="en-US" sz="1100" dirty="0">
              <a:solidFill>
                <a:schemeClr val="tx1"/>
              </a:solidFill>
            </a:endParaRPr>
          </a:p>
        </p:txBody>
      </p:sp>
      <p:sp>
        <p:nvSpPr>
          <p:cNvPr id="14" name="직사각형 13"/>
          <p:cNvSpPr/>
          <p:nvPr/>
        </p:nvSpPr>
        <p:spPr>
          <a:xfrm>
            <a:off x="3392724" y="2891177"/>
            <a:ext cx="128382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청구범위</a:t>
            </a:r>
          </a:p>
        </p:txBody>
      </p:sp>
      <p:sp>
        <p:nvSpPr>
          <p:cNvPr id="15" name="직사각형 14"/>
          <p:cNvSpPr/>
          <p:nvPr/>
        </p:nvSpPr>
        <p:spPr>
          <a:xfrm>
            <a:off x="3392724" y="3452891"/>
            <a:ext cx="128382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속지주의</a:t>
            </a:r>
          </a:p>
        </p:txBody>
      </p:sp>
      <p:sp>
        <p:nvSpPr>
          <p:cNvPr id="17" name="직사각형 16"/>
          <p:cNvSpPr/>
          <p:nvPr/>
        </p:nvSpPr>
        <p:spPr>
          <a:xfrm>
            <a:off x="2407871" y="4296704"/>
            <a:ext cx="70346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의의</a:t>
            </a:r>
            <a:endParaRPr lang="en-US" altLang="ko-KR" sz="1100" dirty="0">
              <a:solidFill>
                <a:schemeClr val="tx1"/>
              </a:solidFill>
            </a:endParaRPr>
          </a:p>
        </p:txBody>
      </p:sp>
      <p:sp>
        <p:nvSpPr>
          <p:cNvPr id="18" name="직사각형 17"/>
          <p:cNvSpPr/>
          <p:nvPr/>
        </p:nvSpPr>
        <p:spPr>
          <a:xfrm>
            <a:off x="2407871" y="5394005"/>
            <a:ext cx="70346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제한</a:t>
            </a:r>
          </a:p>
        </p:txBody>
      </p:sp>
      <p:sp>
        <p:nvSpPr>
          <p:cNvPr id="19" name="직사각형 18"/>
          <p:cNvSpPr/>
          <p:nvPr/>
        </p:nvSpPr>
        <p:spPr>
          <a:xfrm>
            <a:off x="2407871" y="6191762"/>
            <a:ext cx="70346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확장</a:t>
            </a:r>
          </a:p>
        </p:txBody>
      </p:sp>
      <p:sp>
        <p:nvSpPr>
          <p:cNvPr id="20" name="직사각형 19"/>
          <p:cNvSpPr/>
          <p:nvPr/>
        </p:nvSpPr>
        <p:spPr>
          <a:xfrm>
            <a:off x="3392724" y="3996693"/>
            <a:ext cx="128382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적극적 효력</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94)</a:t>
            </a:r>
            <a:endParaRPr lang="ko-KR" altLang="en-US" sz="1100" dirty="0">
              <a:solidFill>
                <a:schemeClr val="tx1"/>
              </a:solidFill>
            </a:endParaRPr>
          </a:p>
        </p:txBody>
      </p:sp>
      <p:sp>
        <p:nvSpPr>
          <p:cNvPr id="21" name="직사각형 20"/>
          <p:cNvSpPr/>
          <p:nvPr/>
        </p:nvSpPr>
        <p:spPr>
          <a:xfrm>
            <a:off x="3392724" y="4533007"/>
            <a:ext cx="1283827" cy="384748"/>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solidFill>
              </a:rPr>
              <a:t>소극적 효력</a:t>
            </a:r>
          </a:p>
        </p:txBody>
      </p:sp>
      <p:sp>
        <p:nvSpPr>
          <p:cNvPr id="22" name="직사각형 21"/>
          <p:cNvSpPr/>
          <p:nvPr/>
        </p:nvSpPr>
        <p:spPr>
          <a:xfrm>
            <a:off x="3392724" y="5110129"/>
            <a:ext cx="128382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적극적 효력</a:t>
            </a:r>
          </a:p>
        </p:txBody>
      </p:sp>
      <p:sp>
        <p:nvSpPr>
          <p:cNvPr id="23" name="직사각형 22"/>
          <p:cNvSpPr/>
          <p:nvPr/>
        </p:nvSpPr>
        <p:spPr>
          <a:xfrm>
            <a:off x="3392724" y="5646443"/>
            <a:ext cx="128382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소극적 효력</a:t>
            </a:r>
          </a:p>
        </p:txBody>
      </p:sp>
      <p:sp>
        <p:nvSpPr>
          <p:cNvPr id="24" name="직사각형 23"/>
          <p:cNvSpPr/>
          <p:nvPr/>
        </p:nvSpPr>
        <p:spPr>
          <a:xfrm>
            <a:off x="3392724" y="6189368"/>
            <a:ext cx="1283827" cy="38474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소극적 효력</a:t>
            </a:r>
          </a:p>
        </p:txBody>
      </p:sp>
      <p:sp>
        <p:nvSpPr>
          <p:cNvPr id="25" name="직사각형 24"/>
          <p:cNvSpPr/>
          <p:nvPr/>
        </p:nvSpPr>
        <p:spPr>
          <a:xfrm>
            <a:off x="6848506" y="876020"/>
            <a:ext cx="3218361" cy="2905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특허권 공유에 의한 제한</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99)</a:t>
            </a:r>
            <a:endParaRPr lang="ko-KR" altLang="en-US" sz="1100" dirty="0">
              <a:solidFill>
                <a:schemeClr val="tx1"/>
              </a:solidFill>
            </a:endParaRPr>
          </a:p>
        </p:txBody>
      </p:sp>
      <p:sp>
        <p:nvSpPr>
          <p:cNvPr id="26" name="직사각형 25"/>
          <p:cNvSpPr/>
          <p:nvPr/>
        </p:nvSpPr>
        <p:spPr>
          <a:xfrm>
            <a:off x="6848506" y="1260768"/>
            <a:ext cx="3218361" cy="2905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특허권 포기에 의한 제한</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119)</a:t>
            </a:r>
            <a:endParaRPr lang="ko-KR" altLang="en-US" sz="1100" dirty="0">
              <a:solidFill>
                <a:schemeClr val="tx1"/>
              </a:solidFill>
            </a:endParaRPr>
          </a:p>
        </p:txBody>
      </p:sp>
      <p:sp>
        <p:nvSpPr>
          <p:cNvPr id="27" name="직사각형 26"/>
          <p:cNvSpPr/>
          <p:nvPr/>
        </p:nvSpPr>
        <p:spPr>
          <a:xfrm>
            <a:off x="6848506" y="1637006"/>
            <a:ext cx="3218361" cy="290513"/>
          </a:xfrm>
          <a:prstGeom prst="rect">
            <a:avLst/>
          </a:prstGeom>
          <a:solidFill>
            <a:schemeClr val="tx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1">
                    <a:lumMod val="95000"/>
                  </a:schemeClr>
                </a:solidFill>
              </a:rPr>
              <a:t>이용</a:t>
            </a:r>
            <a:r>
              <a:rPr lang="en-US" altLang="ko-KR" sz="1100" dirty="0">
                <a:solidFill>
                  <a:schemeClr val="bg1">
                    <a:lumMod val="95000"/>
                  </a:schemeClr>
                </a:solidFill>
              </a:rPr>
              <a:t>/</a:t>
            </a:r>
            <a:r>
              <a:rPr lang="ko-KR" altLang="en-US" sz="1100" dirty="0">
                <a:solidFill>
                  <a:schemeClr val="bg1">
                    <a:lumMod val="95000"/>
                  </a:schemeClr>
                </a:solidFill>
              </a:rPr>
              <a:t>저촉관계에 의한 제한</a:t>
            </a:r>
            <a:r>
              <a:rPr lang="en-US" altLang="ko-KR" sz="1100" dirty="0">
                <a:solidFill>
                  <a:schemeClr val="bg1">
                    <a:lumMod val="95000"/>
                  </a:schemeClr>
                </a:solidFill>
              </a:rPr>
              <a:t>(</a:t>
            </a:r>
            <a:r>
              <a:rPr lang="ko-KR" altLang="en-US" sz="1100" dirty="0">
                <a:solidFill>
                  <a:schemeClr val="bg1">
                    <a:lumMod val="95000"/>
                  </a:schemeClr>
                </a:solidFill>
              </a:rPr>
              <a:t>法 </a:t>
            </a:r>
            <a:r>
              <a:rPr lang="en-US" altLang="ko-KR" sz="1100" dirty="0">
                <a:solidFill>
                  <a:schemeClr val="bg1">
                    <a:lumMod val="95000"/>
                  </a:schemeClr>
                </a:solidFill>
              </a:rPr>
              <a:t>98)</a:t>
            </a:r>
            <a:endParaRPr lang="ko-KR" altLang="en-US" sz="1100" dirty="0">
              <a:solidFill>
                <a:schemeClr val="bg1">
                  <a:lumMod val="95000"/>
                </a:schemeClr>
              </a:solidFill>
            </a:endParaRPr>
          </a:p>
        </p:txBody>
      </p:sp>
      <p:sp>
        <p:nvSpPr>
          <p:cNvPr id="28" name="직사각형 27"/>
          <p:cNvSpPr/>
          <p:nvPr/>
        </p:nvSpPr>
        <p:spPr>
          <a:xfrm>
            <a:off x="6848506" y="1991330"/>
            <a:ext cx="3218361" cy="2905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타법에 의한 제한</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89)</a:t>
            </a:r>
            <a:endParaRPr lang="ko-KR" altLang="en-US" sz="1100" dirty="0">
              <a:solidFill>
                <a:schemeClr val="tx1"/>
              </a:solidFill>
            </a:endParaRPr>
          </a:p>
        </p:txBody>
      </p:sp>
      <p:sp>
        <p:nvSpPr>
          <p:cNvPr id="29" name="직사각형 28"/>
          <p:cNvSpPr/>
          <p:nvPr/>
        </p:nvSpPr>
        <p:spPr>
          <a:xfrm>
            <a:off x="5221739" y="4200973"/>
            <a:ext cx="1283827" cy="384748"/>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침해성립요건 부정</a:t>
            </a:r>
          </a:p>
        </p:txBody>
      </p:sp>
      <p:sp>
        <p:nvSpPr>
          <p:cNvPr id="30" name="직사각형 29"/>
          <p:cNvSpPr/>
          <p:nvPr/>
        </p:nvSpPr>
        <p:spPr>
          <a:xfrm>
            <a:off x="5221739" y="5646443"/>
            <a:ext cx="1283827" cy="384748"/>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권리행사 부정</a:t>
            </a:r>
          </a:p>
        </p:txBody>
      </p:sp>
      <p:sp>
        <p:nvSpPr>
          <p:cNvPr id="31" name="직사각형 30"/>
          <p:cNvSpPr/>
          <p:nvPr/>
        </p:nvSpPr>
        <p:spPr>
          <a:xfrm>
            <a:off x="6848506" y="2509171"/>
            <a:ext cx="3218361" cy="2905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실시권</a:t>
            </a:r>
            <a:r>
              <a:rPr lang="ko-KR" altLang="en-US" sz="1100" dirty="0">
                <a:solidFill>
                  <a:schemeClr val="tx1"/>
                </a:solidFill>
              </a:rPr>
              <a:t> 존재에 의한 제한</a:t>
            </a:r>
          </a:p>
        </p:txBody>
      </p:sp>
      <p:sp>
        <p:nvSpPr>
          <p:cNvPr id="32" name="직사각형 31"/>
          <p:cNvSpPr/>
          <p:nvPr/>
        </p:nvSpPr>
        <p:spPr>
          <a:xfrm>
            <a:off x="6848506" y="2874504"/>
            <a:ext cx="3218361" cy="2905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권리소진에 의한 제한</a:t>
            </a:r>
          </a:p>
        </p:txBody>
      </p:sp>
      <p:sp>
        <p:nvSpPr>
          <p:cNvPr id="33" name="직사각형 32"/>
          <p:cNvSpPr/>
          <p:nvPr/>
        </p:nvSpPr>
        <p:spPr>
          <a:xfrm>
            <a:off x="6848506" y="4910921"/>
            <a:ext cx="3218361" cy="2905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특허권의 하자에 의한 제한</a:t>
            </a:r>
          </a:p>
        </p:txBody>
      </p:sp>
      <p:sp>
        <p:nvSpPr>
          <p:cNvPr id="34" name="직사각형 33"/>
          <p:cNvSpPr/>
          <p:nvPr/>
        </p:nvSpPr>
        <p:spPr>
          <a:xfrm>
            <a:off x="6848506" y="3644735"/>
            <a:ext cx="3218361" cy="2905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특허권의 효력이 미치지 아니하는 범위</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96)</a:t>
            </a:r>
            <a:endParaRPr lang="ko-KR" altLang="en-US" sz="1100" dirty="0">
              <a:solidFill>
                <a:schemeClr val="tx1"/>
              </a:solidFill>
            </a:endParaRPr>
          </a:p>
        </p:txBody>
      </p:sp>
      <p:sp>
        <p:nvSpPr>
          <p:cNvPr id="35" name="직사각형 34"/>
          <p:cNvSpPr/>
          <p:nvPr/>
        </p:nvSpPr>
        <p:spPr>
          <a:xfrm>
            <a:off x="6848506" y="4029483"/>
            <a:ext cx="3218361" cy="412412"/>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특허료의 추가납부 또는 보전에 의하여 회복한 특허출원과 특허권의 효력 제한</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81</a:t>
            </a:r>
            <a:r>
              <a:rPr lang="ko-KR" altLang="en-US" sz="1100" dirty="0">
                <a:solidFill>
                  <a:schemeClr val="tx1"/>
                </a:solidFill>
              </a:rPr>
              <a:t>의</a:t>
            </a:r>
            <a:r>
              <a:rPr lang="en-US" altLang="ko-KR" sz="1100" dirty="0">
                <a:solidFill>
                  <a:schemeClr val="tx1"/>
                </a:solidFill>
              </a:rPr>
              <a:t>3④)</a:t>
            </a:r>
            <a:endParaRPr lang="ko-KR" altLang="en-US" sz="1100" dirty="0">
              <a:solidFill>
                <a:schemeClr val="tx1"/>
              </a:solidFill>
            </a:endParaRPr>
          </a:p>
        </p:txBody>
      </p:sp>
      <p:sp>
        <p:nvSpPr>
          <p:cNvPr id="36" name="직사각형 35"/>
          <p:cNvSpPr/>
          <p:nvPr/>
        </p:nvSpPr>
        <p:spPr>
          <a:xfrm>
            <a:off x="6848506" y="4527620"/>
            <a:ext cx="3218361" cy="2905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재심에 의하여 회복된 특허권의 효력 제한</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181)</a:t>
            </a:r>
            <a:endParaRPr lang="ko-KR" altLang="en-US" sz="1100" dirty="0">
              <a:solidFill>
                <a:schemeClr val="tx1"/>
              </a:solidFill>
            </a:endParaRPr>
          </a:p>
        </p:txBody>
      </p:sp>
      <p:sp>
        <p:nvSpPr>
          <p:cNvPr id="37" name="직사각형 36"/>
          <p:cNvSpPr/>
          <p:nvPr/>
        </p:nvSpPr>
        <p:spPr>
          <a:xfrm>
            <a:off x="6848506" y="5694617"/>
            <a:ext cx="3218361" cy="2905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권리남용에 의한 제한</a:t>
            </a:r>
          </a:p>
        </p:txBody>
      </p:sp>
      <p:sp>
        <p:nvSpPr>
          <p:cNvPr id="38" name="직사각형 37"/>
          <p:cNvSpPr/>
          <p:nvPr/>
        </p:nvSpPr>
        <p:spPr>
          <a:xfrm>
            <a:off x="6848506" y="6238879"/>
            <a:ext cx="3218361" cy="2905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간접침해</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127)</a:t>
            </a:r>
            <a:endParaRPr lang="ko-KR" altLang="en-US" sz="1100" dirty="0">
              <a:solidFill>
                <a:schemeClr val="tx1"/>
              </a:solidFill>
            </a:endParaRPr>
          </a:p>
        </p:txBody>
      </p:sp>
      <p:cxnSp>
        <p:nvCxnSpPr>
          <p:cNvPr id="40" name="꺾인 연결선 39"/>
          <p:cNvCxnSpPr>
            <a:stCxn id="6" idx="3"/>
            <a:endCxn id="7" idx="1"/>
          </p:cNvCxnSpPr>
          <p:nvPr/>
        </p:nvCxnSpPr>
        <p:spPr>
          <a:xfrm flipV="1">
            <a:off x="1062490" y="2874591"/>
            <a:ext cx="307767" cy="9620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6" idx="3"/>
            <a:endCxn id="8" idx="1"/>
          </p:cNvCxnSpPr>
          <p:nvPr/>
        </p:nvCxnSpPr>
        <p:spPr>
          <a:xfrm>
            <a:off x="1062490" y="3836616"/>
            <a:ext cx="307767" cy="10858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7" idx="3"/>
            <a:endCxn id="9" idx="1"/>
          </p:cNvCxnSpPr>
          <p:nvPr/>
        </p:nvCxnSpPr>
        <p:spPr>
          <a:xfrm flipV="1">
            <a:off x="2108897" y="2225433"/>
            <a:ext cx="298973" cy="64915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7" idx="3"/>
            <a:endCxn id="11" idx="1"/>
          </p:cNvCxnSpPr>
          <p:nvPr/>
        </p:nvCxnSpPr>
        <p:spPr>
          <a:xfrm>
            <a:off x="2108897" y="2874591"/>
            <a:ext cx="298973" cy="7696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7" idx="3"/>
            <a:endCxn id="10" idx="1"/>
          </p:cNvCxnSpPr>
          <p:nvPr/>
        </p:nvCxnSpPr>
        <p:spPr>
          <a:xfrm>
            <a:off x="2108897" y="2874591"/>
            <a:ext cx="298973" cy="21001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꺾인 연결선 49"/>
          <p:cNvCxnSpPr>
            <a:stCxn id="9" idx="3"/>
            <a:endCxn id="12" idx="1"/>
          </p:cNvCxnSpPr>
          <p:nvPr/>
        </p:nvCxnSpPr>
        <p:spPr>
          <a:xfrm flipV="1">
            <a:off x="3111338" y="1895389"/>
            <a:ext cx="281387" cy="33004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꺾인 연결선 51"/>
          <p:cNvCxnSpPr>
            <a:stCxn id="9" idx="3"/>
            <a:endCxn id="13" idx="1"/>
          </p:cNvCxnSpPr>
          <p:nvPr/>
        </p:nvCxnSpPr>
        <p:spPr>
          <a:xfrm>
            <a:off x="3111338" y="2225433"/>
            <a:ext cx="281387" cy="2762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꺾인 연결선 53"/>
          <p:cNvCxnSpPr>
            <a:stCxn id="10" idx="3"/>
            <a:endCxn id="14" idx="1"/>
          </p:cNvCxnSpPr>
          <p:nvPr/>
        </p:nvCxnSpPr>
        <p:spPr>
          <a:xfrm flipV="1">
            <a:off x="3111338" y="3083551"/>
            <a:ext cx="281387" cy="105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꺾인 연결선 55"/>
          <p:cNvCxnSpPr>
            <a:stCxn id="11" idx="3"/>
            <a:endCxn id="15" idx="1"/>
          </p:cNvCxnSpPr>
          <p:nvPr/>
        </p:nvCxnSpPr>
        <p:spPr>
          <a:xfrm>
            <a:off x="3111338" y="3644241"/>
            <a:ext cx="281387" cy="102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꺾인 연결선 57"/>
          <p:cNvCxnSpPr>
            <a:stCxn id="8" idx="3"/>
            <a:endCxn id="17" idx="1"/>
          </p:cNvCxnSpPr>
          <p:nvPr/>
        </p:nvCxnSpPr>
        <p:spPr>
          <a:xfrm flipV="1">
            <a:off x="2108897" y="4489078"/>
            <a:ext cx="298973" cy="43338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꺾인 연결선 59"/>
          <p:cNvCxnSpPr>
            <a:stCxn id="8" idx="3"/>
            <a:endCxn id="19" idx="1"/>
          </p:cNvCxnSpPr>
          <p:nvPr/>
        </p:nvCxnSpPr>
        <p:spPr>
          <a:xfrm>
            <a:off x="2108897" y="4922466"/>
            <a:ext cx="298973" cy="14616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꺾인 연결선 61"/>
          <p:cNvCxnSpPr>
            <a:stCxn id="8" idx="3"/>
            <a:endCxn id="18" idx="1"/>
          </p:cNvCxnSpPr>
          <p:nvPr/>
        </p:nvCxnSpPr>
        <p:spPr>
          <a:xfrm>
            <a:off x="2108897" y="4922466"/>
            <a:ext cx="298973" cy="66391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꺾인 연결선 63"/>
          <p:cNvCxnSpPr>
            <a:stCxn id="17" idx="3"/>
            <a:endCxn id="20" idx="1"/>
          </p:cNvCxnSpPr>
          <p:nvPr/>
        </p:nvCxnSpPr>
        <p:spPr>
          <a:xfrm flipV="1">
            <a:off x="3111338" y="4189067"/>
            <a:ext cx="281387" cy="30001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17" idx="3"/>
            <a:endCxn id="21" idx="1"/>
          </p:cNvCxnSpPr>
          <p:nvPr/>
        </p:nvCxnSpPr>
        <p:spPr>
          <a:xfrm>
            <a:off x="3111338" y="4489078"/>
            <a:ext cx="281387" cy="23630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꺾인 연결선 68"/>
          <p:cNvCxnSpPr>
            <a:stCxn id="18" idx="3"/>
            <a:endCxn id="22" idx="1"/>
          </p:cNvCxnSpPr>
          <p:nvPr/>
        </p:nvCxnSpPr>
        <p:spPr>
          <a:xfrm flipV="1">
            <a:off x="3111338" y="5302503"/>
            <a:ext cx="281387" cy="28387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stCxn id="18" idx="3"/>
            <a:endCxn id="23" idx="1"/>
          </p:cNvCxnSpPr>
          <p:nvPr/>
        </p:nvCxnSpPr>
        <p:spPr>
          <a:xfrm>
            <a:off x="3111338" y="5586379"/>
            <a:ext cx="281387" cy="25243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꺾인 연결선 72"/>
          <p:cNvCxnSpPr>
            <a:stCxn id="19" idx="3"/>
            <a:endCxn id="24" idx="1"/>
          </p:cNvCxnSpPr>
          <p:nvPr/>
        </p:nvCxnSpPr>
        <p:spPr>
          <a:xfrm flipV="1">
            <a:off x="3111338" y="6381742"/>
            <a:ext cx="281387" cy="239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꺾인 연결선 74"/>
          <p:cNvCxnSpPr>
            <a:stCxn id="23" idx="3"/>
            <a:endCxn id="29" idx="1"/>
          </p:cNvCxnSpPr>
          <p:nvPr/>
        </p:nvCxnSpPr>
        <p:spPr>
          <a:xfrm flipV="1">
            <a:off x="4676552" y="4393347"/>
            <a:ext cx="545187" cy="1445470"/>
          </a:xfrm>
          <a:prstGeom prst="bentConnector3">
            <a:avLst>
              <a:gd name="adj1" fmla="val 65724"/>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꺾인 연결선 76"/>
          <p:cNvCxnSpPr>
            <a:endCxn id="30" idx="1"/>
          </p:cNvCxnSpPr>
          <p:nvPr/>
        </p:nvCxnSpPr>
        <p:spPr>
          <a:xfrm>
            <a:off x="4676552" y="5838816"/>
            <a:ext cx="545187" cy="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꺾인 연결선 78"/>
          <p:cNvCxnSpPr>
            <a:stCxn id="22" idx="3"/>
            <a:endCxn id="25" idx="1"/>
          </p:cNvCxnSpPr>
          <p:nvPr/>
        </p:nvCxnSpPr>
        <p:spPr>
          <a:xfrm flipV="1">
            <a:off x="4676551" y="1021277"/>
            <a:ext cx="2171955" cy="4281226"/>
          </a:xfrm>
          <a:prstGeom prst="bentConnector3">
            <a:avLst>
              <a:gd name="adj1" fmla="val 996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꺾인 연결선 81"/>
          <p:cNvCxnSpPr>
            <a:stCxn id="22" idx="3"/>
            <a:endCxn id="28" idx="1"/>
          </p:cNvCxnSpPr>
          <p:nvPr/>
        </p:nvCxnSpPr>
        <p:spPr>
          <a:xfrm flipV="1">
            <a:off x="4676551" y="2136587"/>
            <a:ext cx="2171955" cy="3165916"/>
          </a:xfrm>
          <a:prstGeom prst="bentConnector3">
            <a:avLst>
              <a:gd name="adj1" fmla="val 955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꺾인 연결선 84"/>
          <p:cNvCxnSpPr>
            <a:stCxn id="22" idx="3"/>
            <a:endCxn id="26" idx="1"/>
          </p:cNvCxnSpPr>
          <p:nvPr/>
        </p:nvCxnSpPr>
        <p:spPr>
          <a:xfrm flipV="1">
            <a:off x="4676551" y="1406025"/>
            <a:ext cx="2171955" cy="3896478"/>
          </a:xfrm>
          <a:prstGeom prst="bentConnector3">
            <a:avLst>
              <a:gd name="adj1" fmla="val 9138"/>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꺾인 연결선 86"/>
          <p:cNvCxnSpPr>
            <a:stCxn id="22" idx="3"/>
            <a:endCxn id="27" idx="1"/>
          </p:cNvCxnSpPr>
          <p:nvPr/>
        </p:nvCxnSpPr>
        <p:spPr>
          <a:xfrm flipV="1">
            <a:off x="4676551" y="1782263"/>
            <a:ext cx="2171955" cy="3520240"/>
          </a:xfrm>
          <a:prstGeom prst="bentConnector3">
            <a:avLst>
              <a:gd name="adj1" fmla="val 9138"/>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꺾인 연결선 91"/>
          <p:cNvCxnSpPr>
            <a:cxnSpLocks/>
            <a:stCxn id="29" idx="3"/>
            <a:endCxn id="31" idx="1"/>
          </p:cNvCxnSpPr>
          <p:nvPr/>
        </p:nvCxnSpPr>
        <p:spPr>
          <a:xfrm flipV="1">
            <a:off x="6505566" y="2654428"/>
            <a:ext cx="342940" cy="173891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꺾인 연결선 93"/>
          <p:cNvCxnSpPr>
            <a:cxnSpLocks/>
            <a:stCxn id="29" idx="3"/>
            <a:endCxn id="36" idx="1"/>
          </p:cNvCxnSpPr>
          <p:nvPr/>
        </p:nvCxnSpPr>
        <p:spPr>
          <a:xfrm>
            <a:off x="6505566" y="4393347"/>
            <a:ext cx="342940" cy="27953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꺾인 연결선 95"/>
          <p:cNvCxnSpPr>
            <a:cxnSpLocks/>
            <a:stCxn id="29" idx="3"/>
            <a:endCxn id="32" idx="1"/>
          </p:cNvCxnSpPr>
          <p:nvPr/>
        </p:nvCxnSpPr>
        <p:spPr>
          <a:xfrm flipV="1">
            <a:off x="6505566" y="3019761"/>
            <a:ext cx="342940" cy="137358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꺾인 연결선 97"/>
          <p:cNvCxnSpPr>
            <a:cxnSpLocks/>
            <a:stCxn id="29" idx="3"/>
            <a:endCxn id="33" idx="1"/>
          </p:cNvCxnSpPr>
          <p:nvPr/>
        </p:nvCxnSpPr>
        <p:spPr>
          <a:xfrm>
            <a:off x="6505566" y="4393347"/>
            <a:ext cx="342940" cy="66283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꺾인 연결선 99"/>
          <p:cNvCxnSpPr>
            <a:cxnSpLocks/>
            <a:stCxn id="29" idx="3"/>
            <a:endCxn id="34" idx="1"/>
          </p:cNvCxnSpPr>
          <p:nvPr/>
        </p:nvCxnSpPr>
        <p:spPr>
          <a:xfrm flipV="1">
            <a:off x="6505566" y="3789992"/>
            <a:ext cx="342940" cy="60335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꺾인 연결선 101"/>
          <p:cNvCxnSpPr>
            <a:cxnSpLocks/>
            <a:stCxn id="29" idx="3"/>
            <a:endCxn id="35" idx="1"/>
          </p:cNvCxnSpPr>
          <p:nvPr/>
        </p:nvCxnSpPr>
        <p:spPr>
          <a:xfrm flipV="1">
            <a:off x="6505566" y="4235689"/>
            <a:ext cx="342940" cy="15765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꺾인 연결선 103"/>
          <p:cNvCxnSpPr>
            <a:cxnSpLocks/>
            <a:stCxn id="30" idx="3"/>
            <a:endCxn id="37" idx="1"/>
          </p:cNvCxnSpPr>
          <p:nvPr/>
        </p:nvCxnSpPr>
        <p:spPr>
          <a:xfrm>
            <a:off x="6505566" y="5838817"/>
            <a:ext cx="342940" cy="105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직선 연결선 105"/>
          <p:cNvCxnSpPr>
            <a:stCxn id="24" idx="3"/>
            <a:endCxn id="38" idx="1"/>
          </p:cNvCxnSpPr>
          <p:nvPr/>
        </p:nvCxnSpPr>
        <p:spPr>
          <a:xfrm>
            <a:off x="4676552" y="6381742"/>
            <a:ext cx="2171954" cy="239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9" name="모서리가 둥근 직사각형 108"/>
          <p:cNvSpPr/>
          <p:nvPr/>
        </p:nvSpPr>
        <p:spPr>
          <a:xfrm>
            <a:off x="10541000" y="2657833"/>
            <a:ext cx="1346200" cy="314870"/>
          </a:xfrm>
          <a:prstGeom prst="round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정당한 권원</a:t>
            </a:r>
          </a:p>
        </p:txBody>
      </p:sp>
      <p:sp>
        <p:nvSpPr>
          <p:cNvPr id="110" name="모서리가 둥근 직사각형 109"/>
          <p:cNvSpPr/>
          <p:nvPr/>
        </p:nvSpPr>
        <p:spPr>
          <a:xfrm>
            <a:off x="10541000" y="4032066"/>
            <a:ext cx="1346200" cy="314870"/>
          </a:xfrm>
          <a:prstGeom prst="round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법률 제한</a:t>
            </a:r>
          </a:p>
        </p:txBody>
      </p:sp>
      <p:cxnSp>
        <p:nvCxnSpPr>
          <p:cNvPr id="112" name="꺾인 연결선 111"/>
          <p:cNvCxnSpPr>
            <a:stCxn id="31" idx="3"/>
            <a:endCxn id="109" idx="1"/>
          </p:cNvCxnSpPr>
          <p:nvPr/>
        </p:nvCxnSpPr>
        <p:spPr>
          <a:xfrm>
            <a:off x="10066867" y="2654428"/>
            <a:ext cx="474133" cy="16084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꺾인 연결선 114"/>
          <p:cNvCxnSpPr>
            <a:stCxn id="32" idx="3"/>
            <a:endCxn id="109" idx="1"/>
          </p:cNvCxnSpPr>
          <p:nvPr/>
        </p:nvCxnSpPr>
        <p:spPr>
          <a:xfrm flipV="1">
            <a:off x="10066867" y="2815268"/>
            <a:ext cx="474133" cy="20449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꺾인 연결선 118"/>
          <p:cNvCxnSpPr>
            <a:stCxn id="36" idx="3"/>
            <a:endCxn id="110" idx="1"/>
          </p:cNvCxnSpPr>
          <p:nvPr/>
        </p:nvCxnSpPr>
        <p:spPr>
          <a:xfrm flipV="1">
            <a:off x="10066867" y="4189501"/>
            <a:ext cx="474133" cy="48337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꺾인 연결선 120"/>
          <p:cNvCxnSpPr>
            <a:stCxn id="35" idx="3"/>
            <a:endCxn id="110" idx="1"/>
          </p:cNvCxnSpPr>
          <p:nvPr/>
        </p:nvCxnSpPr>
        <p:spPr>
          <a:xfrm flipV="1">
            <a:off x="10066867" y="4189501"/>
            <a:ext cx="474133" cy="4618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꺾인 연결선 122"/>
          <p:cNvCxnSpPr>
            <a:stCxn id="34" idx="3"/>
            <a:endCxn id="110" idx="1"/>
          </p:cNvCxnSpPr>
          <p:nvPr/>
        </p:nvCxnSpPr>
        <p:spPr>
          <a:xfrm>
            <a:off x="10066867" y="3789992"/>
            <a:ext cx="474133" cy="39950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305</a:t>
            </a:r>
            <a:endParaRPr lang="ko-KR" altLang="en-US"/>
          </a:p>
        </p:txBody>
      </p:sp>
      <p:sp>
        <p:nvSpPr>
          <p:cNvPr id="93" name="직사각형 92">
            <a:extLst>
              <a:ext uri="{FF2B5EF4-FFF2-40B4-BE49-F238E27FC236}">
                <a16:creationId xmlns:a16="http://schemas.microsoft.com/office/drawing/2014/main" id="{BB011385-A101-4911-AE11-9E58FF91202C}"/>
              </a:ext>
            </a:extLst>
          </p:cNvPr>
          <p:cNvSpPr/>
          <p:nvPr/>
        </p:nvSpPr>
        <p:spPr>
          <a:xfrm>
            <a:off x="6848506" y="5269873"/>
            <a:ext cx="3218361" cy="2905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자유기술에 의한 제한</a:t>
            </a:r>
          </a:p>
        </p:txBody>
      </p:sp>
      <p:cxnSp>
        <p:nvCxnSpPr>
          <p:cNvPr id="95" name="꺾인 연결선 97">
            <a:extLst>
              <a:ext uri="{FF2B5EF4-FFF2-40B4-BE49-F238E27FC236}">
                <a16:creationId xmlns:a16="http://schemas.microsoft.com/office/drawing/2014/main" id="{832C1DF3-DEA1-4804-B318-1020C3F8DF61}"/>
              </a:ext>
            </a:extLst>
          </p:cNvPr>
          <p:cNvCxnSpPr>
            <a:cxnSpLocks/>
            <a:stCxn id="29" idx="3"/>
            <a:endCxn id="93" idx="1"/>
          </p:cNvCxnSpPr>
          <p:nvPr/>
        </p:nvCxnSpPr>
        <p:spPr>
          <a:xfrm>
            <a:off x="6505566" y="4393347"/>
            <a:ext cx="342940" cy="1021783"/>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B1B8144C-3AC8-4E45-998D-729FE60B0081}"/>
              </a:ext>
            </a:extLst>
          </p:cNvPr>
          <p:cNvSpPr txBox="1"/>
          <p:nvPr/>
        </p:nvSpPr>
        <p:spPr>
          <a:xfrm>
            <a:off x="10704986" y="4940048"/>
            <a:ext cx="1018227" cy="646331"/>
          </a:xfrm>
          <a:prstGeom prst="rect">
            <a:avLst/>
          </a:prstGeom>
          <a:noFill/>
          <a:ln>
            <a:solidFill>
              <a:schemeClr val="bg1">
                <a:lumMod val="50000"/>
              </a:schemeClr>
            </a:solidFill>
          </a:ln>
        </p:spPr>
        <p:txBody>
          <a:bodyPr wrap="none" rtlCol="0">
            <a:spAutoFit/>
          </a:bodyPr>
          <a:lstStyle/>
          <a:p>
            <a:pPr algn="ctr"/>
            <a:r>
              <a:rPr lang="ko-KR" altLang="en-US" dirty="0"/>
              <a:t>보호범위</a:t>
            </a:r>
            <a:endParaRPr lang="en-US" altLang="ko-KR" dirty="0"/>
          </a:p>
          <a:p>
            <a:pPr algn="ctr"/>
            <a:r>
              <a:rPr lang="ko-KR" altLang="en-US" dirty="0"/>
              <a:t>판단</a:t>
            </a:r>
            <a:endParaRPr lang="en-US" altLang="ko-KR" dirty="0"/>
          </a:p>
        </p:txBody>
      </p:sp>
      <p:cxnSp>
        <p:nvCxnSpPr>
          <p:cNvPr id="83" name="직선 화살표 연결선 82">
            <a:extLst>
              <a:ext uri="{FF2B5EF4-FFF2-40B4-BE49-F238E27FC236}">
                <a16:creationId xmlns:a16="http://schemas.microsoft.com/office/drawing/2014/main" id="{F69E0C9B-2475-4F79-B6E9-2D756CE2601D}"/>
              </a:ext>
            </a:extLst>
          </p:cNvPr>
          <p:cNvCxnSpPr>
            <a:cxnSpLocks/>
            <a:stCxn id="80" idx="1"/>
          </p:cNvCxnSpPr>
          <p:nvPr/>
        </p:nvCxnSpPr>
        <p:spPr>
          <a:xfrm flipH="1">
            <a:off x="10154802" y="5263214"/>
            <a:ext cx="550184" cy="665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3" name="직사각형 62">
            <a:extLst>
              <a:ext uri="{FF2B5EF4-FFF2-40B4-BE49-F238E27FC236}">
                <a16:creationId xmlns:a16="http://schemas.microsoft.com/office/drawing/2014/main" id="{6F6650F9-307C-46BC-DDCD-568903D2B77B}"/>
              </a:ext>
            </a:extLst>
          </p:cNvPr>
          <p:cNvSpPr/>
          <p:nvPr/>
        </p:nvSpPr>
        <p:spPr>
          <a:xfrm>
            <a:off x="6848506" y="3251192"/>
            <a:ext cx="3218361" cy="2905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업이 아닌 실시에 의한 제한</a:t>
            </a:r>
          </a:p>
        </p:txBody>
      </p:sp>
    </p:spTree>
    <p:extLst>
      <p:ext uri="{BB962C8B-B14F-4D97-AF65-F5344CB8AC3E}">
        <p14:creationId xmlns:p14="http://schemas.microsoft.com/office/powerpoint/2010/main" val="1738049375"/>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특허권의 소극적 효력</a:t>
            </a:r>
          </a:p>
        </p:txBody>
      </p:sp>
      <p:sp>
        <p:nvSpPr>
          <p:cNvPr id="2" name="슬라이드 번호 개체 틀 1"/>
          <p:cNvSpPr>
            <a:spLocks noGrp="1"/>
          </p:cNvSpPr>
          <p:nvPr>
            <p:ph type="sldNum" sz="quarter" idx="12"/>
          </p:nvPr>
        </p:nvSpPr>
        <p:spPr/>
        <p:txBody>
          <a:bodyPr/>
          <a:lstStyle/>
          <a:p>
            <a:r>
              <a:rPr lang="en-US" altLang="ko-KR"/>
              <a:t>306</a:t>
            </a:r>
            <a:endParaRPr lang="ko-KR" altLang="en-US"/>
          </a:p>
        </p:txBody>
      </p:sp>
      <p:sp>
        <p:nvSpPr>
          <p:cNvPr id="66" name="모서리가 둥근 직사각형 73">
            <a:extLst>
              <a:ext uri="{FF2B5EF4-FFF2-40B4-BE49-F238E27FC236}">
                <a16:creationId xmlns:a16="http://schemas.microsoft.com/office/drawing/2014/main" id="{A2D85254-C7C7-4921-A321-FC8F78CA60E1}"/>
              </a:ext>
            </a:extLst>
          </p:cNvPr>
          <p:cNvSpPr/>
          <p:nvPr/>
        </p:nvSpPr>
        <p:spPr>
          <a:xfrm>
            <a:off x="562188" y="1052973"/>
            <a:ext cx="1152128" cy="505937"/>
          </a:xfrm>
          <a:prstGeom prst="roundRect">
            <a:avLst/>
          </a:prstGeom>
          <a:solidFill>
            <a:schemeClr val="accent4"/>
          </a:solidFill>
          <a:ln>
            <a:solidFill>
              <a:schemeClr val="bg1">
                <a:lumMod val="50000"/>
              </a:schemeClr>
            </a:solidFill>
          </a:ln>
        </p:spPr>
        <p:style>
          <a:lnRef idx="1">
            <a:schemeClr val="accent4"/>
          </a:lnRef>
          <a:fillRef idx="3">
            <a:schemeClr val="accent4"/>
          </a:fillRef>
          <a:effectRef idx="2">
            <a:schemeClr val="accent4"/>
          </a:effectRef>
          <a:fontRef idx="minor">
            <a:schemeClr val="lt1"/>
          </a:fontRef>
        </p:style>
        <p:txBody>
          <a:bodyPr rtlCol="0" anchor="ctr"/>
          <a:lstStyle/>
          <a:p>
            <a:pPr algn="ctr"/>
            <a:r>
              <a:rPr lang="ko-KR" altLang="en-US" sz="2400" b="1"/>
              <a:t>침해</a:t>
            </a:r>
            <a:endParaRPr lang="ko-KR" altLang="en-US" sz="2400" b="1" dirty="0"/>
          </a:p>
        </p:txBody>
      </p:sp>
      <p:sp>
        <p:nvSpPr>
          <p:cNvPr id="67" name="모서리가 둥근 직사각형 75">
            <a:extLst>
              <a:ext uri="{FF2B5EF4-FFF2-40B4-BE49-F238E27FC236}">
                <a16:creationId xmlns:a16="http://schemas.microsoft.com/office/drawing/2014/main" id="{F9D857E2-97FB-43BE-AD52-8A205649B0F7}"/>
              </a:ext>
            </a:extLst>
          </p:cNvPr>
          <p:cNvSpPr/>
          <p:nvPr/>
        </p:nvSpPr>
        <p:spPr>
          <a:xfrm>
            <a:off x="1667348" y="1709395"/>
            <a:ext cx="1517032" cy="272111"/>
          </a:xfrm>
          <a:prstGeom prst="roundRect">
            <a:avLst/>
          </a:prstGeom>
          <a:solidFill>
            <a:schemeClr val="accent1"/>
          </a:solid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ko-KR" altLang="en-US" sz="1200" dirty="0">
                <a:solidFill>
                  <a:schemeClr val="bg1"/>
                </a:solidFill>
              </a:rPr>
              <a:t>성립요건</a:t>
            </a:r>
          </a:p>
        </p:txBody>
      </p:sp>
      <p:sp>
        <p:nvSpPr>
          <p:cNvPr id="68" name="모서리가 둥근 직사각형 77">
            <a:extLst>
              <a:ext uri="{FF2B5EF4-FFF2-40B4-BE49-F238E27FC236}">
                <a16:creationId xmlns:a16="http://schemas.microsoft.com/office/drawing/2014/main" id="{65B1EB52-1FD8-435F-A420-47BCA5A33258}"/>
              </a:ext>
            </a:extLst>
          </p:cNvPr>
          <p:cNvSpPr/>
          <p:nvPr/>
        </p:nvSpPr>
        <p:spPr>
          <a:xfrm>
            <a:off x="1667348" y="3023179"/>
            <a:ext cx="1517032" cy="272111"/>
          </a:xfrm>
          <a:prstGeom prst="roundRect">
            <a:avLst/>
          </a:prstGeom>
          <a:solidFill>
            <a:schemeClr val="accent2"/>
          </a:solidFill>
          <a:ln>
            <a:solidFill>
              <a:schemeClr val="bg1">
                <a:lumMod val="50000"/>
              </a:schemeClr>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ko-KR" altLang="en-US" sz="1200" dirty="0">
                <a:solidFill>
                  <a:schemeClr val="bg1"/>
                </a:solidFill>
              </a:rPr>
              <a:t>종류</a:t>
            </a:r>
          </a:p>
        </p:txBody>
      </p:sp>
      <p:sp>
        <p:nvSpPr>
          <p:cNvPr id="69" name="모서리가 둥근 직사각형 79">
            <a:extLst>
              <a:ext uri="{FF2B5EF4-FFF2-40B4-BE49-F238E27FC236}">
                <a16:creationId xmlns:a16="http://schemas.microsoft.com/office/drawing/2014/main" id="{F8862226-3DA6-4950-BC11-85A40BB6D5C3}"/>
              </a:ext>
            </a:extLst>
          </p:cNvPr>
          <p:cNvSpPr/>
          <p:nvPr/>
        </p:nvSpPr>
        <p:spPr>
          <a:xfrm>
            <a:off x="1667348" y="4233674"/>
            <a:ext cx="1517032" cy="272111"/>
          </a:xfrm>
          <a:prstGeom prst="roundRect">
            <a:avLst/>
          </a:prstGeom>
          <a:ln>
            <a:solidFill>
              <a:schemeClr val="bg1">
                <a:lumMod val="50000"/>
              </a:schemeClr>
            </a:solidFill>
          </a:ln>
        </p:spPr>
        <p:style>
          <a:lnRef idx="1">
            <a:schemeClr val="accent3"/>
          </a:lnRef>
          <a:fillRef idx="3">
            <a:schemeClr val="accent3"/>
          </a:fillRef>
          <a:effectRef idx="2">
            <a:schemeClr val="accent3"/>
          </a:effectRef>
          <a:fontRef idx="minor">
            <a:schemeClr val="lt1"/>
          </a:fontRef>
        </p:style>
        <p:txBody>
          <a:bodyPr rtlCol="0" anchor="ctr"/>
          <a:lstStyle/>
          <a:p>
            <a:pPr algn="ctr"/>
            <a:r>
              <a:rPr lang="ko-KR" altLang="en-US" sz="1200" dirty="0">
                <a:solidFill>
                  <a:schemeClr val="bg1"/>
                </a:solidFill>
              </a:rPr>
              <a:t>조치</a:t>
            </a:r>
          </a:p>
        </p:txBody>
      </p:sp>
      <p:sp>
        <p:nvSpPr>
          <p:cNvPr id="70" name="모서리가 둥근 직사각형 80">
            <a:extLst>
              <a:ext uri="{FF2B5EF4-FFF2-40B4-BE49-F238E27FC236}">
                <a16:creationId xmlns:a16="http://schemas.microsoft.com/office/drawing/2014/main" id="{C4271554-236F-416F-8D40-3A33DE4EA29F}"/>
              </a:ext>
            </a:extLst>
          </p:cNvPr>
          <p:cNvSpPr/>
          <p:nvPr/>
        </p:nvSpPr>
        <p:spPr>
          <a:xfrm>
            <a:off x="6067134" y="2324984"/>
            <a:ext cx="1277005"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직접침해</a:t>
            </a:r>
          </a:p>
        </p:txBody>
      </p:sp>
      <p:sp>
        <p:nvSpPr>
          <p:cNvPr id="71" name="모서리가 둥근 직사각형 82">
            <a:extLst>
              <a:ext uri="{FF2B5EF4-FFF2-40B4-BE49-F238E27FC236}">
                <a16:creationId xmlns:a16="http://schemas.microsoft.com/office/drawing/2014/main" id="{4A829A53-AB6B-47B0-B220-6997AC4EDF3E}"/>
              </a:ext>
            </a:extLst>
          </p:cNvPr>
          <p:cNvSpPr/>
          <p:nvPr/>
        </p:nvSpPr>
        <p:spPr>
          <a:xfrm>
            <a:off x="6064700" y="3080298"/>
            <a:ext cx="1277005"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간접침해</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127)</a:t>
            </a:r>
            <a:endParaRPr lang="ko-KR" altLang="en-US" sz="1200" dirty="0">
              <a:solidFill>
                <a:schemeClr val="tx1">
                  <a:lumMod val="50000"/>
                  <a:lumOff val="50000"/>
                </a:schemeClr>
              </a:solidFill>
            </a:endParaRPr>
          </a:p>
        </p:txBody>
      </p:sp>
      <p:sp>
        <p:nvSpPr>
          <p:cNvPr id="72" name="모서리가 둥근 직사각형 83">
            <a:extLst>
              <a:ext uri="{FF2B5EF4-FFF2-40B4-BE49-F238E27FC236}">
                <a16:creationId xmlns:a16="http://schemas.microsoft.com/office/drawing/2014/main" id="{080BEF68-A9B8-49DB-9916-CB07C0DE52A6}"/>
              </a:ext>
            </a:extLst>
          </p:cNvPr>
          <p:cNvSpPr/>
          <p:nvPr/>
        </p:nvSpPr>
        <p:spPr>
          <a:xfrm>
            <a:off x="3627137" y="4331160"/>
            <a:ext cx="907081"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민사</a:t>
            </a:r>
          </a:p>
        </p:txBody>
      </p:sp>
      <p:sp>
        <p:nvSpPr>
          <p:cNvPr id="73" name="모서리가 둥근 직사각형 85">
            <a:extLst>
              <a:ext uri="{FF2B5EF4-FFF2-40B4-BE49-F238E27FC236}">
                <a16:creationId xmlns:a16="http://schemas.microsoft.com/office/drawing/2014/main" id="{EDE6105A-3321-40F1-A463-7969CADEEF8B}"/>
              </a:ext>
            </a:extLst>
          </p:cNvPr>
          <p:cNvSpPr/>
          <p:nvPr/>
        </p:nvSpPr>
        <p:spPr>
          <a:xfrm>
            <a:off x="3627137" y="5859249"/>
            <a:ext cx="907081"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형사</a:t>
            </a:r>
          </a:p>
        </p:txBody>
      </p:sp>
      <p:cxnSp>
        <p:nvCxnSpPr>
          <p:cNvPr id="75" name="꺾인 연결선 87">
            <a:extLst>
              <a:ext uri="{FF2B5EF4-FFF2-40B4-BE49-F238E27FC236}">
                <a16:creationId xmlns:a16="http://schemas.microsoft.com/office/drawing/2014/main" id="{FF386483-0D89-4099-A494-0D6CCA55164F}"/>
              </a:ext>
            </a:extLst>
          </p:cNvPr>
          <p:cNvCxnSpPr>
            <a:stCxn id="66" idx="2"/>
            <a:endCxn id="69" idx="1"/>
          </p:cNvCxnSpPr>
          <p:nvPr/>
        </p:nvCxnSpPr>
        <p:spPr>
          <a:xfrm rot="16200000" flipH="1">
            <a:off x="-2610" y="2699772"/>
            <a:ext cx="2810820" cy="529096"/>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7" name="꺾인 연결선 88">
            <a:extLst>
              <a:ext uri="{FF2B5EF4-FFF2-40B4-BE49-F238E27FC236}">
                <a16:creationId xmlns:a16="http://schemas.microsoft.com/office/drawing/2014/main" id="{B0444112-2523-4809-AFAF-5C3B27BA6172}"/>
              </a:ext>
            </a:extLst>
          </p:cNvPr>
          <p:cNvCxnSpPr>
            <a:stCxn id="66" idx="2"/>
            <a:endCxn id="67" idx="1"/>
          </p:cNvCxnSpPr>
          <p:nvPr/>
        </p:nvCxnSpPr>
        <p:spPr>
          <a:xfrm rot="16200000" flipH="1">
            <a:off x="1259530" y="1437632"/>
            <a:ext cx="286541" cy="529096"/>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9" name="꺾인 연결선 89">
            <a:extLst>
              <a:ext uri="{FF2B5EF4-FFF2-40B4-BE49-F238E27FC236}">
                <a16:creationId xmlns:a16="http://schemas.microsoft.com/office/drawing/2014/main" id="{59DA640C-24E0-4631-A873-84489C2461C9}"/>
              </a:ext>
            </a:extLst>
          </p:cNvPr>
          <p:cNvCxnSpPr>
            <a:stCxn id="66" idx="2"/>
            <a:endCxn id="68" idx="1"/>
          </p:cNvCxnSpPr>
          <p:nvPr/>
        </p:nvCxnSpPr>
        <p:spPr>
          <a:xfrm rot="16200000" flipH="1">
            <a:off x="602638" y="2094524"/>
            <a:ext cx="1600325" cy="529096"/>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2" name="꺾인 연결선 90">
            <a:extLst>
              <a:ext uri="{FF2B5EF4-FFF2-40B4-BE49-F238E27FC236}">
                <a16:creationId xmlns:a16="http://schemas.microsoft.com/office/drawing/2014/main" id="{5DA72B22-A4C9-4967-85EF-52E5BFF2D939}"/>
              </a:ext>
            </a:extLst>
          </p:cNvPr>
          <p:cNvCxnSpPr>
            <a:stCxn id="68" idx="3"/>
            <a:endCxn id="70" idx="1"/>
          </p:cNvCxnSpPr>
          <p:nvPr/>
        </p:nvCxnSpPr>
        <p:spPr>
          <a:xfrm flipV="1">
            <a:off x="3184380" y="2461040"/>
            <a:ext cx="2882754" cy="698195"/>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5" name="꺾인 연결선 92">
            <a:extLst>
              <a:ext uri="{FF2B5EF4-FFF2-40B4-BE49-F238E27FC236}">
                <a16:creationId xmlns:a16="http://schemas.microsoft.com/office/drawing/2014/main" id="{D6BC5ED1-2BC8-436A-AD7F-9FBE8A706863}"/>
              </a:ext>
            </a:extLst>
          </p:cNvPr>
          <p:cNvCxnSpPr>
            <a:cxnSpLocks/>
            <a:stCxn id="68" idx="3"/>
            <a:endCxn id="71" idx="1"/>
          </p:cNvCxnSpPr>
          <p:nvPr/>
        </p:nvCxnSpPr>
        <p:spPr>
          <a:xfrm>
            <a:off x="3184380" y="3159235"/>
            <a:ext cx="2880320" cy="57119"/>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7" name="꺾인 연결선 94">
            <a:extLst>
              <a:ext uri="{FF2B5EF4-FFF2-40B4-BE49-F238E27FC236}">
                <a16:creationId xmlns:a16="http://schemas.microsoft.com/office/drawing/2014/main" id="{7D94F8E4-95C8-4C35-93A9-EDB17ADA325B}"/>
              </a:ext>
            </a:extLst>
          </p:cNvPr>
          <p:cNvCxnSpPr>
            <a:cxnSpLocks/>
            <a:endCxn id="72" idx="1"/>
          </p:cNvCxnSpPr>
          <p:nvPr/>
        </p:nvCxnSpPr>
        <p:spPr>
          <a:xfrm>
            <a:off x="3184380" y="4369730"/>
            <a:ext cx="442757" cy="97486"/>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2" name="꺾인 연결선 96">
            <a:extLst>
              <a:ext uri="{FF2B5EF4-FFF2-40B4-BE49-F238E27FC236}">
                <a16:creationId xmlns:a16="http://schemas.microsoft.com/office/drawing/2014/main" id="{2ED608A9-F5CD-4A6A-8EBE-68036E5C3853}"/>
              </a:ext>
            </a:extLst>
          </p:cNvPr>
          <p:cNvCxnSpPr>
            <a:cxnSpLocks/>
            <a:stCxn id="69" idx="3"/>
            <a:endCxn id="73" idx="1"/>
          </p:cNvCxnSpPr>
          <p:nvPr/>
        </p:nvCxnSpPr>
        <p:spPr>
          <a:xfrm>
            <a:off x="3184380" y="4369730"/>
            <a:ext cx="442757" cy="1625575"/>
          </a:xfrm>
          <a:prstGeom prst="bentConnector3">
            <a:avLst>
              <a:gd name="adj1" fmla="val 5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94" name="모서리가 둥근 직사각형 98">
            <a:extLst>
              <a:ext uri="{FF2B5EF4-FFF2-40B4-BE49-F238E27FC236}">
                <a16:creationId xmlns:a16="http://schemas.microsoft.com/office/drawing/2014/main" id="{4C918EF9-72D6-46E2-A9C6-B965D80ECD1D}"/>
              </a:ext>
            </a:extLst>
          </p:cNvPr>
          <p:cNvSpPr/>
          <p:nvPr/>
        </p:nvSpPr>
        <p:spPr>
          <a:xfrm>
            <a:off x="3654277" y="946784"/>
            <a:ext cx="4169915" cy="272111"/>
          </a:xfrm>
          <a:prstGeom prst="roundRect">
            <a:avLst/>
          </a:prstGeom>
          <a:solidFill>
            <a:schemeClr val="accent5">
              <a:lumMod val="20000"/>
              <a:lumOff val="80000"/>
            </a:schemeClr>
          </a:solidFill>
        </p:spPr>
        <p:style>
          <a:lnRef idx="1">
            <a:schemeClr val="accent5"/>
          </a:lnRef>
          <a:fillRef idx="3">
            <a:schemeClr val="accent5"/>
          </a:fillRef>
          <a:effectRef idx="2">
            <a:schemeClr val="accent5"/>
          </a:effectRef>
          <a:fontRef idx="minor">
            <a:schemeClr val="lt1"/>
          </a:fontRef>
        </p:style>
        <p:txBody>
          <a:bodyPr rtlCol="0" anchor="ctr"/>
          <a:lstStyle/>
          <a:p>
            <a:r>
              <a:rPr lang="en-US" altLang="ko-KR" sz="1200" dirty="0">
                <a:solidFill>
                  <a:schemeClr val="tx1">
                    <a:lumMod val="50000"/>
                    <a:lumOff val="50000"/>
                  </a:schemeClr>
                </a:solidFill>
              </a:rPr>
              <a:t>1. </a:t>
            </a:r>
            <a:r>
              <a:rPr lang="ko-KR" altLang="en-US" sz="1200" dirty="0">
                <a:solidFill>
                  <a:schemeClr val="tx1">
                    <a:lumMod val="50000"/>
                    <a:lumOff val="50000"/>
                  </a:schemeClr>
                </a:solidFill>
              </a:rPr>
              <a:t>특허권의 존속 중</a:t>
            </a:r>
          </a:p>
        </p:txBody>
      </p:sp>
      <p:sp>
        <p:nvSpPr>
          <p:cNvPr id="96" name="모서리가 둥근 직사각형 100">
            <a:extLst>
              <a:ext uri="{FF2B5EF4-FFF2-40B4-BE49-F238E27FC236}">
                <a16:creationId xmlns:a16="http://schemas.microsoft.com/office/drawing/2014/main" id="{A2D427AE-5404-4D87-B11C-0CB52DCBDFEE}"/>
              </a:ext>
            </a:extLst>
          </p:cNvPr>
          <p:cNvSpPr/>
          <p:nvPr/>
        </p:nvSpPr>
        <p:spPr>
          <a:xfrm>
            <a:off x="3654277" y="1254853"/>
            <a:ext cx="4169915" cy="272111"/>
          </a:xfrm>
          <a:prstGeom prst="roundRect">
            <a:avLst/>
          </a:prstGeom>
          <a:solidFill>
            <a:schemeClr val="accent5">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r>
              <a:rPr lang="en-US" altLang="ko-KR" sz="1200" dirty="0">
                <a:solidFill>
                  <a:schemeClr val="tx1">
                    <a:lumMod val="50000"/>
                    <a:lumOff val="50000"/>
                  </a:schemeClr>
                </a:solidFill>
              </a:rPr>
              <a:t>2. </a:t>
            </a:r>
            <a:r>
              <a:rPr lang="ko-KR" altLang="en-US" sz="1200" dirty="0">
                <a:solidFill>
                  <a:schemeClr val="tx1">
                    <a:lumMod val="50000"/>
                    <a:lumOff val="50000"/>
                  </a:schemeClr>
                </a:solidFill>
              </a:rPr>
              <a:t>정당한 권원이 없는 자</a:t>
            </a:r>
          </a:p>
        </p:txBody>
      </p:sp>
      <p:sp>
        <p:nvSpPr>
          <p:cNvPr id="98" name="모서리가 둥근 직사각형 102">
            <a:extLst>
              <a:ext uri="{FF2B5EF4-FFF2-40B4-BE49-F238E27FC236}">
                <a16:creationId xmlns:a16="http://schemas.microsoft.com/office/drawing/2014/main" id="{D284877A-0B0A-446D-8008-C50371A84181}"/>
              </a:ext>
            </a:extLst>
          </p:cNvPr>
          <p:cNvSpPr/>
          <p:nvPr/>
        </p:nvSpPr>
        <p:spPr>
          <a:xfrm>
            <a:off x="3654277" y="1575716"/>
            <a:ext cx="4169915" cy="272111"/>
          </a:xfrm>
          <a:prstGeom prst="roundRect">
            <a:avLst/>
          </a:prstGeom>
          <a:solidFill>
            <a:schemeClr val="accent5">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r>
              <a:rPr lang="en-US" altLang="ko-KR" sz="1200" dirty="0">
                <a:solidFill>
                  <a:schemeClr val="tx1">
                    <a:lumMod val="50000"/>
                    <a:lumOff val="50000"/>
                  </a:schemeClr>
                </a:solidFill>
              </a:rPr>
              <a:t>3. </a:t>
            </a:r>
            <a:r>
              <a:rPr lang="ko-KR" altLang="en-US" sz="1200" dirty="0">
                <a:solidFill>
                  <a:schemeClr val="tx1">
                    <a:lumMod val="50000"/>
                    <a:lumOff val="50000"/>
                  </a:schemeClr>
                </a:solidFill>
              </a:rPr>
              <a:t>업으로서</a:t>
            </a:r>
          </a:p>
        </p:txBody>
      </p:sp>
      <p:sp>
        <p:nvSpPr>
          <p:cNvPr id="100" name="모서리가 둥근 직사각형 104">
            <a:extLst>
              <a:ext uri="{FF2B5EF4-FFF2-40B4-BE49-F238E27FC236}">
                <a16:creationId xmlns:a16="http://schemas.microsoft.com/office/drawing/2014/main" id="{F5C97EB5-FC57-47E9-B141-BEF218854306}"/>
              </a:ext>
            </a:extLst>
          </p:cNvPr>
          <p:cNvSpPr/>
          <p:nvPr/>
        </p:nvSpPr>
        <p:spPr>
          <a:xfrm>
            <a:off x="3654277" y="1884321"/>
            <a:ext cx="4169915" cy="272111"/>
          </a:xfrm>
          <a:prstGeom prst="roundRect">
            <a:avLst/>
          </a:prstGeom>
          <a:solidFill>
            <a:schemeClr val="accent5">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r>
              <a:rPr lang="en-US" altLang="ko-KR" sz="1200" dirty="0">
                <a:solidFill>
                  <a:schemeClr val="tx1">
                    <a:lumMod val="50000"/>
                    <a:lumOff val="50000"/>
                  </a:schemeClr>
                </a:solidFill>
              </a:rPr>
              <a:t>4. </a:t>
            </a:r>
            <a:r>
              <a:rPr lang="ko-KR" altLang="en-US" sz="1200" dirty="0">
                <a:solidFill>
                  <a:schemeClr val="tx1">
                    <a:lumMod val="50000"/>
                    <a:lumOff val="50000"/>
                  </a:schemeClr>
                </a:solidFill>
              </a:rPr>
              <a:t>특허발명의 </a:t>
            </a:r>
            <a:r>
              <a:rPr lang="ko-KR" altLang="en-US" sz="1200" dirty="0" err="1">
                <a:solidFill>
                  <a:schemeClr val="tx1">
                    <a:lumMod val="50000"/>
                    <a:lumOff val="50000"/>
                  </a:schemeClr>
                </a:solidFill>
              </a:rPr>
              <a:t>보호범위</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97)</a:t>
            </a:r>
            <a:r>
              <a:rPr lang="ko-KR" altLang="en-US" sz="1200" dirty="0">
                <a:solidFill>
                  <a:schemeClr val="tx1">
                    <a:lumMod val="50000"/>
                    <a:lumOff val="50000"/>
                  </a:schemeClr>
                </a:solidFill>
              </a:rPr>
              <a:t>에 속하는 발명을 실시</a:t>
            </a:r>
          </a:p>
        </p:txBody>
      </p:sp>
      <p:cxnSp>
        <p:nvCxnSpPr>
          <p:cNvPr id="102" name="꺾인 연결선 106">
            <a:extLst>
              <a:ext uri="{FF2B5EF4-FFF2-40B4-BE49-F238E27FC236}">
                <a16:creationId xmlns:a16="http://schemas.microsoft.com/office/drawing/2014/main" id="{52A04DBD-63E7-4D39-A71F-73BCA698069F}"/>
              </a:ext>
            </a:extLst>
          </p:cNvPr>
          <p:cNvCxnSpPr>
            <a:stCxn id="67" idx="3"/>
            <a:endCxn id="94" idx="1"/>
          </p:cNvCxnSpPr>
          <p:nvPr/>
        </p:nvCxnSpPr>
        <p:spPr>
          <a:xfrm flipV="1">
            <a:off x="3184380" y="1082840"/>
            <a:ext cx="469897" cy="76261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꺾인 연결선 107">
            <a:extLst>
              <a:ext uri="{FF2B5EF4-FFF2-40B4-BE49-F238E27FC236}">
                <a16:creationId xmlns:a16="http://schemas.microsoft.com/office/drawing/2014/main" id="{5A8F2E01-312D-4008-8DBF-3518D4FA8B79}"/>
              </a:ext>
            </a:extLst>
          </p:cNvPr>
          <p:cNvCxnSpPr>
            <a:stCxn id="67" idx="3"/>
            <a:endCxn id="100" idx="1"/>
          </p:cNvCxnSpPr>
          <p:nvPr/>
        </p:nvCxnSpPr>
        <p:spPr>
          <a:xfrm>
            <a:off x="3184380" y="1845451"/>
            <a:ext cx="469897" cy="1749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꺾인 연결선 110">
            <a:extLst>
              <a:ext uri="{FF2B5EF4-FFF2-40B4-BE49-F238E27FC236}">
                <a16:creationId xmlns:a16="http://schemas.microsoft.com/office/drawing/2014/main" id="{8CE6747A-FB7D-4009-86A2-578575EDAAEB}"/>
              </a:ext>
            </a:extLst>
          </p:cNvPr>
          <p:cNvCxnSpPr>
            <a:stCxn id="67" idx="3"/>
            <a:endCxn id="96" idx="1"/>
          </p:cNvCxnSpPr>
          <p:nvPr/>
        </p:nvCxnSpPr>
        <p:spPr>
          <a:xfrm flipV="1">
            <a:off x="3184380" y="1390909"/>
            <a:ext cx="469897" cy="45454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꺾인 연결선 112">
            <a:extLst>
              <a:ext uri="{FF2B5EF4-FFF2-40B4-BE49-F238E27FC236}">
                <a16:creationId xmlns:a16="http://schemas.microsoft.com/office/drawing/2014/main" id="{77CF4D42-1515-4252-A1EE-0CF4D7B9F7BF}"/>
              </a:ext>
            </a:extLst>
          </p:cNvPr>
          <p:cNvCxnSpPr>
            <a:stCxn id="67" idx="3"/>
            <a:endCxn id="98" idx="1"/>
          </p:cNvCxnSpPr>
          <p:nvPr/>
        </p:nvCxnSpPr>
        <p:spPr>
          <a:xfrm flipV="1">
            <a:off x="3184380" y="1711772"/>
            <a:ext cx="469897" cy="13367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0" name="모서리가 둥근 직사각형 113">
            <a:extLst>
              <a:ext uri="{FF2B5EF4-FFF2-40B4-BE49-F238E27FC236}">
                <a16:creationId xmlns:a16="http://schemas.microsoft.com/office/drawing/2014/main" id="{C3852852-055E-45A3-9BBD-83FC34F11D8C}"/>
              </a:ext>
            </a:extLst>
          </p:cNvPr>
          <p:cNvSpPr/>
          <p:nvPr/>
        </p:nvSpPr>
        <p:spPr>
          <a:xfrm>
            <a:off x="8619555" y="1070704"/>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문언침해</a:t>
            </a:r>
          </a:p>
        </p:txBody>
      </p:sp>
      <p:sp>
        <p:nvSpPr>
          <p:cNvPr id="112" name="모서리가 둥근 직사각형 115">
            <a:extLst>
              <a:ext uri="{FF2B5EF4-FFF2-40B4-BE49-F238E27FC236}">
                <a16:creationId xmlns:a16="http://schemas.microsoft.com/office/drawing/2014/main" id="{4F7B58BB-90A2-4685-86C2-4BCD4B206D64}"/>
              </a:ext>
            </a:extLst>
          </p:cNvPr>
          <p:cNvSpPr/>
          <p:nvPr/>
        </p:nvSpPr>
        <p:spPr>
          <a:xfrm>
            <a:off x="8619555" y="1396113"/>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균등침해</a:t>
            </a:r>
          </a:p>
        </p:txBody>
      </p:sp>
      <p:sp>
        <p:nvSpPr>
          <p:cNvPr id="115" name="모서리가 둥근 직사각형 116">
            <a:extLst>
              <a:ext uri="{FF2B5EF4-FFF2-40B4-BE49-F238E27FC236}">
                <a16:creationId xmlns:a16="http://schemas.microsoft.com/office/drawing/2014/main" id="{DEEC8AB7-B94B-40F0-B1B8-FB75E2CDCFCF}"/>
              </a:ext>
            </a:extLst>
          </p:cNvPr>
          <p:cNvSpPr/>
          <p:nvPr/>
        </p:nvSpPr>
        <p:spPr>
          <a:xfrm>
            <a:off x="8619555" y="1721295"/>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b="1" dirty="0">
                <a:solidFill>
                  <a:schemeClr val="tx1">
                    <a:lumMod val="50000"/>
                    <a:lumOff val="50000"/>
                  </a:schemeClr>
                </a:solidFill>
              </a:rPr>
              <a:t>이용</a:t>
            </a:r>
            <a:r>
              <a:rPr lang="en-US" altLang="ko-KR" sz="1200" b="1" dirty="0">
                <a:solidFill>
                  <a:schemeClr val="tx1">
                    <a:lumMod val="50000"/>
                    <a:lumOff val="50000"/>
                  </a:schemeClr>
                </a:solidFill>
              </a:rPr>
              <a:t>/</a:t>
            </a:r>
            <a:r>
              <a:rPr lang="ko-KR" altLang="en-US" sz="1200" b="1" dirty="0">
                <a:solidFill>
                  <a:schemeClr val="tx1">
                    <a:lumMod val="50000"/>
                    <a:lumOff val="50000"/>
                  </a:schemeClr>
                </a:solidFill>
              </a:rPr>
              <a:t>저촉 침해</a:t>
            </a:r>
            <a:r>
              <a:rPr lang="en-US" altLang="ko-KR" sz="1200" b="1" dirty="0">
                <a:solidFill>
                  <a:schemeClr val="tx1">
                    <a:lumMod val="50000"/>
                    <a:lumOff val="50000"/>
                  </a:schemeClr>
                </a:solidFill>
              </a:rPr>
              <a:t>(</a:t>
            </a:r>
            <a:r>
              <a:rPr lang="ko-KR" altLang="en-US" sz="1200" b="1" dirty="0">
                <a:solidFill>
                  <a:schemeClr val="tx1">
                    <a:lumMod val="50000"/>
                    <a:lumOff val="50000"/>
                  </a:schemeClr>
                </a:solidFill>
              </a:rPr>
              <a:t>法 </a:t>
            </a:r>
            <a:r>
              <a:rPr lang="en-US" altLang="ko-KR" sz="1200" b="1" dirty="0">
                <a:solidFill>
                  <a:schemeClr val="tx1">
                    <a:lumMod val="50000"/>
                    <a:lumOff val="50000"/>
                  </a:schemeClr>
                </a:solidFill>
              </a:rPr>
              <a:t>98)</a:t>
            </a:r>
            <a:endParaRPr lang="ko-KR" altLang="en-US" sz="1200" b="1" dirty="0">
              <a:solidFill>
                <a:schemeClr val="tx1">
                  <a:lumMod val="50000"/>
                  <a:lumOff val="50000"/>
                </a:schemeClr>
              </a:solidFill>
            </a:endParaRPr>
          </a:p>
        </p:txBody>
      </p:sp>
      <p:sp>
        <p:nvSpPr>
          <p:cNvPr id="119" name="모서리가 둥근 직사각형 117">
            <a:extLst>
              <a:ext uri="{FF2B5EF4-FFF2-40B4-BE49-F238E27FC236}">
                <a16:creationId xmlns:a16="http://schemas.microsoft.com/office/drawing/2014/main" id="{AC335138-6834-4F1F-A81F-7DF9DD21F684}"/>
              </a:ext>
            </a:extLst>
          </p:cNvPr>
          <p:cNvSpPr/>
          <p:nvPr/>
        </p:nvSpPr>
        <p:spPr>
          <a:xfrm>
            <a:off x="8619555" y="2047870"/>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생략</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불완전이용침해</a:t>
            </a:r>
          </a:p>
        </p:txBody>
      </p:sp>
      <p:sp>
        <p:nvSpPr>
          <p:cNvPr id="121" name="모서리가 둥근 직사각형 119">
            <a:extLst>
              <a:ext uri="{FF2B5EF4-FFF2-40B4-BE49-F238E27FC236}">
                <a16:creationId xmlns:a16="http://schemas.microsoft.com/office/drawing/2014/main" id="{7CCEA30F-AEAB-41A8-A569-30D091496A8C}"/>
              </a:ext>
            </a:extLst>
          </p:cNvPr>
          <p:cNvSpPr/>
          <p:nvPr/>
        </p:nvSpPr>
        <p:spPr>
          <a:xfrm>
            <a:off x="8619555" y="2373709"/>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선택침해</a:t>
            </a:r>
          </a:p>
        </p:txBody>
      </p:sp>
      <p:sp>
        <p:nvSpPr>
          <p:cNvPr id="123" name="모서리가 둥근 직사각형 121">
            <a:extLst>
              <a:ext uri="{FF2B5EF4-FFF2-40B4-BE49-F238E27FC236}">
                <a16:creationId xmlns:a16="http://schemas.microsoft.com/office/drawing/2014/main" id="{9F3BC31A-65C4-47D5-9408-EF1389E27FB9}"/>
              </a:ext>
            </a:extLst>
          </p:cNvPr>
          <p:cNvSpPr/>
          <p:nvPr/>
        </p:nvSpPr>
        <p:spPr>
          <a:xfrm>
            <a:off x="8619555" y="2698891"/>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우회침해</a:t>
            </a:r>
          </a:p>
        </p:txBody>
      </p:sp>
      <p:sp>
        <p:nvSpPr>
          <p:cNvPr id="150" name="모서리가 둥근 직사각형 124">
            <a:extLst>
              <a:ext uri="{FF2B5EF4-FFF2-40B4-BE49-F238E27FC236}">
                <a16:creationId xmlns:a16="http://schemas.microsoft.com/office/drawing/2014/main" id="{8D3870C4-412D-47BA-B6E9-242C0A25C12D}"/>
              </a:ext>
            </a:extLst>
          </p:cNvPr>
          <p:cNvSpPr/>
          <p:nvPr/>
        </p:nvSpPr>
        <p:spPr>
          <a:xfrm>
            <a:off x="8619555" y="3070249"/>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물건의 특허발명침해</a:t>
            </a:r>
          </a:p>
        </p:txBody>
      </p:sp>
      <p:sp>
        <p:nvSpPr>
          <p:cNvPr id="151" name="모서리가 둥근 직사각형 125">
            <a:extLst>
              <a:ext uri="{FF2B5EF4-FFF2-40B4-BE49-F238E27FC236}">
                <a16:creationId xmlns:a16="http://schemas.microsoft.com/office/drawing/2014/main" id="{039794FD-FAC5-41F6-852C-78051316D115}"/>
              </a:ext>
            </a:extLst>
          </p:cNvPr>
          <p:cNvSpPr/>
          <p:nvPr/>
        </p:nvSpPr>
        <p:spPr>
          <a:xfrm>
            <a:off x="8619555" y="3396825"/>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방법의 특허발명침해</a:t>
            </a:r>
          </a:p>
        </p:txBody>
      </p:sp>
      <p:cxnSp>
        <p:nvCxnSpPr>
          <p:cNvPr id="152" name="꺾인 연결선 127">
            <a:extLst>
              <a:ext uri="{FF2B5EF4-FFF2-40B4-BE49-F238E27FC236}">
                <a16:creationId xmlns:a16="http://schemas.microsoft.com/office/drawing/2014/main" id="{52C635E3-2899-457E-9801-C0CF0A417AF2}"/>
              </a:ext>
            </a:extLst>
          </p:cNvPr>
          <p:cNvCxnSpPr>
            <a:stCxn id="70" idx="3"/>
            <a:endCxn id="119" idx="1"/>
          </p:cNvCxnSpPr>
          <p:nvPr/>
        </p:nvCxnSpPr>
        <p:spPr>
          <a:xfrm flipV="1">
            <a:off x="7344139" y="2183925"/>
            <a:ext cx="1275416" cy="27711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꺾인 연결선 128">
            <a:extLst>
              <a:ext uri="{FF2B5EF4-FFF2-40B4-BE49-F238E27FC236}">
                <a16:creationId xmlns:a16="http://schemas.microsoft.com/office/drawing/2014/main" id="{A3ECEBA8-A047-4F7D-B256-6625774A84E0}"/>
              </a:ext>
            </a:extLst>
          </p:cNvPr>
          <p:cNvCxnSpPr>
            <a:stCxn id="70" idx="3"/>
            <a:endCxn id="110" idx="1"/>
          </p:cNvCxnSpPr>
          <p:nvPr/>
        </p:nvCxnSpPr>
        <p:spPr>
          <a:xfrm flipV="1">
            <a:off x="7344139" y="1206759"/>
            <a:ext cx="1275416" cy="125428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꺾인 연결선 129">
            <a:extLst>
              <a:ext uri="{FF2B5EF4-FFF2-40B4-BE49-F238E27FC236}">
                <a16:creationId xmlns:a16="http://schemas.microsoft.com/office/drawing/2014/main" id="{1B5821AF-6740-4FB4-A08D-C14037EF439C}"/>
              </a:ext>
            </a:extLst>
          </p:cNvPr>
          <p:cNvCxnSpPr>
            <a:stCxn id="70" idx="3"/>
            <a:endCxn id="112" idx="1"/>
          </p:cNvCxnSpPr>
          <p:nvPr/>
        </p:nvCxnSpPr>
        <p:spPr>
          <a:xfrm flipV="1">
            <a:off x="7344139" y="1532169"/>
            <a:ext cx="1275416" cy="92887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꺾인 연결선 130">
            <a:extLst>
              <a:ext uri="{FF2B5EF4-FFF2-40B4-BE49-F238E27FC236}">
                <a16:creationId xmlns:a16="http://schemas.microsoft.com/office/drawing/2014/main" id="{246CB03C-4BDD-4FF8-AB50-7703F54AFE2E}"/>
              </a:ext>
            </a:extLst>
          </p:cNvPr>
          <p:cNvCxnSpPr>
            <a:stCxn id="70" idx="3"/>
            <a:endCxn id="115" idx="1"/>
          </p:cNvCxnSpPr>
          <p:nvPr/>
        </p:nvCxnSpPr>
        <p:spPr>
          <a:xfrm flipV="1">
            <a:off x="7344139" y="1857351"/>
            <a:ext cx="1275416" cy="60368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꺾인 연결선 131">
            <a:extLst>
              <a:ext uri="{FF2B5EF4-FFF2-40B4-BE49-F238E27FC236}">
                <a16:creationId xmlns:a16="http://schemas.microsoft.com/office/drawing/2014/main" id="{816D648E-462C-44FA-ACB5-BFC92F1EB008}"/>
              </a:ext>
            </a:extLst>
          </p:cNvPr>
          <p:cNvCxnSpPr>
            <a:stCxn id="70" idx="3"/>
            <a:endCxn id="121" idx="1"/>
          </p:cNvCxnSpPr>
          <p:nvPr/>
        </p:nvCxnSpPr>
        <p:spPr>
          <a:xfrm>
            <a:off x="7344139" y="2461040"/>
            <a:ext cx="1275416" cy="48725"/>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7" name="꺾인 연결선 132">
            <a:extLst>
              <a:ext uri="{FF2B5EF4-FFF2-40B4-BE49-F238E27FC236}">
                <a16:creationId xmlns:a16="http://schemas.microsoft.com/office/drawing/2014/main" id="{5DE17342-832C-47A3-B5FE-B1646CD9927B}"/>
              </a:ext>
            </a:extLst>
          </p:cNvPr>
          <p:cNvCxnSpPr>
            <a:stCxn id="70" idx="3"/>
            <a:endCxn id="123" idx="1"/>
          </p:cNvCxnSpPr>
          <p:nvPr/>
        </p:nvCxnSpPr>
        <p:spPr>
          <a:xfrm>
            <a:off x="7344139" y="2461040"/>
            <a:ext cx="1275416" cy="37390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8" name="꺾인 연결선 133">
            <a:extLst>
              <a:ext uri="{FF2B5EF4-FFF2-40B4-BE49-F238E27FC236}">
                <a16:creationId xmlns:a16="http://schemas.microsoft.com/office/drawing/2014/main" id="{45629E76-2AE4-4F64-943D-1FC562B2B31D}"/>
              </a:ext>
            </a:extLst>
          </p:cNvPr>
          <p:cNvCxnSpPr>
            <a:stCxn id="71" idx="3"/>
            <a:endCxn id="151" idx="1"/>
          </p:cNvCxnSpPr>
          <p:nvPr/>
        </p:nvCxnSpPr>
        <p:spPr>
          <a:xfrm>
            <a:off x="7341706" y="3216354"/>
            <a:ext cx="1277849" cy="31652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9" name="꺾인 연결선 134">
            <a:extLst>
              <a:ext uri="{FF2B5EF4-FFF2-40B4-BE49-F238E27FC236}">
                <a16:creationId xmlns:a16="http://schemas.microsoft.com/office/drawing/2014/main" id="{1B00A11B-F916-48EA-B697-D083673FA621}"/>
              </a:ext>
            </a:extLst>
          </p:cNvPr>
          <p:cNvCxnSpPr>
            <a:stCxn id="71" idx="3"/>
            <a:endCxn id="150" idx="1"/>
          </p:cNvCxnSpPr>
          <p:nvPr/>
        </p:nvCxnSpPr>
        <p:spPr>
          <a:xfrm flipV="1">
            <a:off x="7341706" y="3206305"/>
            <a:ext cx="1277849" cy="1004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0" name="모서리가 둥근 직사각형 135">
            <a:extLst>
              <a:ext uri="{FF2B5EF4-FFF2-40B4-BE49-F238E27FC236}">
                <a16:creationId xmlns:a16="http://schemas.microsoft.com/office/drawing/2014/main" id="{BAA4CFA1-384F-411E-ABC8-C1BD334574A7}"/>
              </a:ext>
            </a:extLst>
          </p:cNvPr>
          <p:cNvSpPr/>
          <p:nvPr/>
        </p:nvSpPr>
        <p:spPr>
          <a:xfrm>
            <a:off x="5172699" y="3934346"/>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침해금지예방청구</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126)</a:t>
            </a:r>
            <a:endParaRPr lang="ko-KR" altLang="en-US" sz="1200" dirty="0">
              <a:solidFill>
                <a:schemeClr val="tx1">
                  <a:lumMod val="50000"/>
                  <a:lumOff val="50000"/>
                </a:schemeClr>
              </a:solidFill>
            </a:endParaRPr>
          </a:p>
        </p:txBody>
      </p:sp>
      <p:sp>
        <p:nvSpPr>
          <p:cNvPr id="161" name="모서리가 둥근 직사각형 136">
            <a:extLst>
              <a:ext uri="{FF2B5EF4-FFF2-40B4-BE49-F238E27FC236}">
                <a16:creationId xmlns:a16="http://schemas.microsoft.com/office/drawing/2014/main" id="{791C274B-A464-44C4-AD21-23BCF612678B}"/>
              </a:ext>
            </a:extLst>
          </p:cNvPr>
          <p:cNvSpPr/>
          <p:nvPr/>
        </p:nvSpPr>
        <p:spPr>
          <a:xfrm>
            <a:off x="5172699" y="4269803"/>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손해배상청구</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128)</a:t>
            </a:r>
            <a:endParaRPr lang="ko-KR" altLang="en-US" sz="1200" dirty="0">
              <a:solidFill>
                <a:schemeClr val="tx1">
                  <a:lumMod val="50000"/>
                  <a:lumOff val="50000"/>
                </a:schemeClr>
              </a:solidFill>
            </a:endParaRPr>
          </a:p>
        </p:txBody>
      </p:sp>
      <p:sp>
        <p:nvSpPr>
          <p:cNvPr id="162" name="모서리가 둥근 직사각형 137">
            <a:extLst>
              <a:ext uri="{FF2B5EF4-FFF2-40B4-BE49-F238E27FC236}">
                <a16:creationId xmlns:a16="http://schemas.microsoft.com/office/drawing/2014/main" id="{42B326E7-61B4-4DA0-8315-F01EB2F0BD59}"/>
              </a:ext>
            </a:extLst>
          </p:cNvPr>
          <p:cNvSpPr/>
          <p:nvPr/>
        </p:nvSpPr>
        <p:spPr>
          <a:xfrm>
            <a:off x="5172699" y="4594985"/>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신용회복청구</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131)</a:t>
            </a:r>
            <a:endParaRPr lang="ko-KR" altLang="en-US" sz="1200" dirty="0">
              <a:solidFill>
                <a:schemeClr val="tx1">
                  <a:lumMod val="50000"/>
                  <a:lumOff val="50000"/>
                </a:schemeClr>
              </a:solidFill>
            </a:endParaRPr>
          </a:p>
        </p:txBody>
      </p:sp>
      <p:sp>
        <p:nvSpPr>
          <p:cNvPr id="163" name="모서리가 둥근 직사각형 138">
            <a:extLst>
              <a:ext uri="{FF2B5EF4-FFF2-40B4-BE49-F238E27FC236}">
                <a16:creationId xmlns:a16="http://schemas.microsoft.com/office/drawing/2014/main" id="{855CFE1D-D1A5-40DB-ACD2-9D234454571A}"/>
              </a:ext>
            </a:extLst>
          </p:cNvPr>
          <p:cNvSpPr/>
          <p:nvPr/>
        </p:nvSpPr>
        <p:spPr>
          <a:xfrm>
            <a:off x="5172699" y="4921560"/>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부당이득반환청구</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民法 </a:t>
            </a:r>
            <a:r>
              <a:rPr lang="en-US" altLang="ko-KR" sz="1200" dirty="0">
                <a:solidFill>
                  <a:schemeClr val="tx1">
                    <a:lumMod val="50000"/>
                    <a:lumOff val="50000"/>
                  </a:schemeClr>
                </a:solidFill>
              </a:rPr>
              <a:t>741)</a:t>
            </a:r>
            <a:endParaRPr lang="ko-KR" altLang="en-US" sz="1200" dirty="0">
              <a:solidFill>
                <a:schemeClr val="tx1">
                  <a:lumMod val="50000"/>
                  <a:lumOff val="50000"/>
                </a:schemeClr>
              </a:solidFill>
            </a:endParaRPr>
          </a:p>
        </p:txBody>
      </p:sp>
      <p:sp>
        <p:nvSpPr>
          <p:cNvPr id="164" name="모서리가 둥근 직사각형 139">
            <a:extLst>
              <a:ext uri="{FF2B5EF4-FFF2-40B4-BE49-F238E27FC236}">
                <a16:creationId xmlns:a16="http://schemas.microsoft.com/office/drawing/2014/main" id="{402142D8-597F-43AB-BE47-3A2C3A332F7E}"/>
              </a:ext>
            </a:extLst>
          </p:cNvPr>
          <p:cNvSpPr/>
          <p:nvPr/>
        </p:nvSpPr>
        <p:spPr>
          <a:xfrm>
            <a:off x="5172699" y="5372023"/>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err="1">
                <a:solidFill>
                  <a:schemeClr val="tx1">
                    <a:lumMod val="50000"/>
                    <a:lumOff val="50000"/>
                  </a:schemeClr>
                </a:solidFill>
              </a:rPr>
              <a:t>침해죄</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225)</a:t>
            </a:r>
            <a:endParaRPr lang="ko-KR" altLang="en-US" sz="1200" dirty="0">
              <a:solidFill>
                <a:schemeClr val="tx1">
                  <a:lumMod val="50000"/>
                  <a:lumOff val="50000"/>
                </a:schemeClr>
              </a:solidFill>
            </a:endParaRPr>
          </a:p>
        </p:txBody>
      </p:sp>
      <p:sp>
        <p:nvSpPr>
          <p:cNvPr id="165" name="모서리가 둥근 직사각형 140">
            <a:extLst>
              <a:ext uri="{FF2B5EF4-FFF2-40B4-BE49-F238E27FC236}">
                <a16:creationId xmlns:a16="http://schemas.microsoft.com/office/drawing/2014/main" id="{1F94A1D7-A928-487B-989D-B565D64417F8}"/>
              </a:ext>
            </a:extLst>
          </p:cNvPr>
          <p:cNvSpPr/>
          <p:nvPr/>
        </p:nvSpPr>
        <p:spPr>
          <a:xfrm>
            <a:off x="5172699" y="5697205"/>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몰수</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231)</a:t>
            </a:r>
            <a:endParaRPr lang="ko-KR" altLang="en-US" sz="1200" dirty="0">
              <a:solidFill>
                <a:schemeClr val="tx1">
                  <a:lumMod val="50000"/>
                  <a:lumOff val="50000"/>
                </a:schemeClr>
              </a:solidFill>
            </a:endParaRPr>
          </a:p>
        </p:txBody>
      </p:sp>
      <p:sp>
        <p:nvSpPr>
          <p:cNvPr id="166" name="모서리가 둥근 직사각형 141">
            <a:extLst>
              <a:ext uri="{FF2B5EF4-FFF2-40B4-BE49-F238E27FC236}">
                <a16:creationId xmlns:a16="http://schemas.microsoft.com/office/drawing/2014/main" id="{A3DF3E9C-CBFA-4D82-812A-2241C553289F}"/>
              </a:ext>
            </a:extLst>
          </p:cNvPr>
          <p:cNvSpPr/>
          <p:nvPr/>
        </p:nvSpPr>
        <p:spPr>
          <a:xfrm>
            <a:off x="5172699" y="6023780"/>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err="1">
                <a:solidFill>
                  <a:schemeClr val="tx1">
                    <a:lumMod val="50000"/>
                    <a:lumOff val="50000"/>
                  </a:schemeClr>
                </a:solidFill>
              </a:rPr>
              <a:t>양벌규정</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230)</a:t>
            </a:r>
            <a:endParaRPr lang="ko-KR" altLang="en-US" sz="1200" dirty="0">
              <a:solidFill>
                <a:schemeClr val="tx1">
                  <a:lumMod val="50000"/>
                  <a:lumOff val="50000"/>
                </a:schemeClr>
              </a:solidFill>
            </a:endParaRPr>
          </a:p>
        </p:txBody>
      </p:sp>
      <p:cxnSp>
        <p:nvCxnSpPr>
          <p:cNvPr id="172" name="꺾인 연결선 142">
            <a:extLst>
              <a:ext uri="{FF2B5EF4-FFF2-40B4-BE49-F238E27FC236}">
                <a16:creationId xmlns:a16="http://schemas.microsoft.com/office/drawing/2014/main" id="{E6424E80-8786-426E-9848-31D457168A66}"/>
              </a:ext>
            </a:extLst>
          </p:cNvPr>
          <p:cNvCxnSpPr>
            <a:cxnSpLocks/>
            <a:stCxn id="72" idx="3"/>
            <a:endCxn id="160" idx="1"/>
          </p:cNvCxnSpPr>
          <p:nvPr/>
        </p:nvCxnSpPr>
        <p:spPr>
          <a:xfrm flipV="1">
            <a:off x="4534218" y="4070402"/>
            <a:ext cx="638481" cy="39681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꺾인 연결선 143">
            <a:extLst>
              <a:ext uri="{FF2B5EF4-FFF2-40B4-BE49-F238E27FC236}">
                <a16:creationId xmlns:a16="http://schemas.microsoft.com/office/drawing/2014/main" id="{265EE89C-B521-4072-B03E-0FCD3AAF4C13}"/>
              </a:ext>
            </a:extLst>
          </p:cNvPr>
          <p:cNvCxnSpPr>
            <a:cxnSpLocks/>
            <a:stCxn id="72" idx="3"/>
            <a:endCxn id="161" idx="1"/>
          </p:cNvCxnSpPr>
          <p:nvPr/>
        </p:nvCxnSpPr>
        <p:spPr>
          <a:xfrm flipV="1">
            <a:off x="4534218" y="4405859"/>
            <a:ext cx="638481" cy="6135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꺾인 연결선 144">
            <a:extLst>
              <a:ext uri="{FF2B5EF4-FFF2-40B4-BE49-F238E27FC236}">
                <a16:creationId xmlns:a16="http://schemas.microsoft.com/office/drawing/2014/main" id="{9FA47B7F-C16E-4F29-A131-92B876F70486}"/>
              </a:ext>
            </a:extLst>
          </p:cNvPr>
          <p:cNvCxnSpPr>
            <a:cxnSpLocks/>
            <a:stCxn id="72" idx="3"/>
            <a:endCxn id="162" idx="1"/>
          </p:cNvCxnSpPr>
          <p:nvPr/>
        </p:nvCxnSpPr>
        <p:spPr>
          <a:xfrm>
            <a:off x="4534218" y="4467216"/>
            <a:ext cx="638481" cy="2638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꺾인 연결선 145">
            <a:extLst>
              <a:ext uri="{FF2B5EF4-FFF2-40B4-BE49-F238E27FC236}">
                <a16:creationId xmlns:a16="http://schemas.microsoft.com/office/drawing/2014/main" id="{0F669D33-649A-43C1-BFE7-1382458FA21D}"/>
              </a:ext>
            </a:extLst>
          </p:cNvPr>
          <p:cNvCxnSpPr>
            <a:cxnSpLocks/>
            <a:stCxn id="72" idx="3"/>
            <a:endCxn id="163" idx="1"/>
          </p:cNvCxnSpPr>
          <p:nvPr/>
        </p:nvCxnSpPr>
        <p:spPr>
          <a:xfrm>
            <a:off x="4534218" y="4467216"/>
            <a:ext cx="638481" cy="5904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꺾인 연결선 146">
            <a:extLst>
              <a:ext uri="{FF2B5EF4-FFF2-40B4-BE49-F238E27FC236}">
                <a16:creationId xmlns:a16="http://schemas.microsoft.com/office/drawing/2014/main" id="{669EC8D5-1AB5-4272-A390-FA9CFF0162B1}"/>
              </a:ext>
            </a:extLst>
          </p:cNvPr>
          <p:cNvCxnSpPr>
            <a:cxnSpLocks/>
            <a:stCxn id="73" idx="3"/>
            <a:endCxn id="164" idx="1"/>
          </p:cNvCxnSpPr>
          <p:nvPr/>
        </p:nvCxnSpPr>
        <p:spPr>
          <a:xfrm flipV="1">
            <a:off x="4534218" y="5508079"/>
            <a:ext cx="638481" cy="4872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꺾인 연결선 147">
            <a:extLst>
              <a:ext uri="{FF2B5EF4-FFF2-40B4-BE49-F238E27FC236}">
                <a16:creationId xmlns:a16="http://schemas.microsoft.com/office/drawing/2014/main" id="{558BB470-6A34-4E85-B8EA-04B9E47119E4}"/>
              </a:ext>
            </a:extLst>
          </p:cNvPr>
          <p:cNvCxnSpPr>
            <a:cxnSpLocks/>
            <a:stCxn id="73" idx="3"/>
            <a:endCxn id="166" idx="1"/>
          </p:cNvCxnSpPr>
          <p:nvPr/>
        </p:nvCxnSpPr>
        <p:spPr>
          <a:xfrm>
            <a:off x="4534218" y="5995305"/>
            <a:ext cx="638481" cy="16453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꺾인 연결선 148">
            <a:extLst>
              <a:ext uri="{FF2B5EF4-FFF2-40B4-BE49-F238E27FC236}">
                <a16:creationId xmlns:a16="http://schemas.microsoft.com/office/drawing/2014/main" id="{F899B392-4CE3-4197-BD3C-8479E4BB9E7D}"/>
              </a:ext>
            </a:extLst>
          </p:cNvPr>
          <p:cNvCxnSpPr>
            <a:cxnSpLocks/>
            <a:stCxn id="73" idx="3"/>
            <a:endCxn id="165" idx="1"/>
          </p:cNvCxnSpPr>
          <p:nvPr/>
        </p:nvCxnSpPr>
        <p:spPr>
          <a:xfrm flipV="1">
            <a:off x="4534218" y="5833261"/>
            <a:ext cx="638481" cy="16204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9" name="모서리가 둥근 직사각형 117">
            <a:extLst>
              <a:ext uri="{FF2B5EF4-FFF2-40B4-BE49-F238E27FC236}">
                <a16:creationId xmlns:a16="http://schemas.microsoft.com/office/drawing/2014/main" id="{FF01D1C4-B015-41BF-9625-A96C0B1F3ABD}"/>
              </a:ext>
            </a:extLst>
          </p:cNvPr>
          <p:cNvSpPr/>
          <p:nvPr/>
        </p:nvSpPr>
        <p:spPr>
          <a:xfrm>
            <a:off x="8205601" y="4419084"/>
            <a:ext cx="2826099"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손해액의 산정 등</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128②~⑨)</a:t>
            </a:r>
            <a:endParaRPr lang="ko-KR" altLang="en-US" sz="1200" dirty="0">
              <a:solidFill>
                <a:schemeClr val="tx1">
                  <a:lumMod val="50000"/>
                  <a:lumOff val="50000"/>
                </a:schemeClr>
              </a:solidFill>
            </a:endParaRPr>
          </a:p>
        </p:txBody>
      </p:sp>
      <p:sp>
        <p:nvSpPr>
          <p:cNvPr id="180" name="모서리가 둥근 직사각형 118">
            <a:extLst>
              <a:ext uri="{FF2B5EF4-FFF2-40B4-BE49-F238E27FC236}">
                <a16:creationId xmlns:a16="http://schemas.microsoft.com/office/drawing/2014/main" id="{A900B23F-7A7B-4DAE-869A-316D3CA7721D}"/>
              </a:ext>
            </a:extLst>
          </p:cNvPr>
          <p:cNvSpPr/>
          <p:nvPr/>
        </p:nvSpPr>
        <p:spPr>
          <a:xfrm>
            <a:off x="8205601" y="4867430"/>
            <a:ext cx="2826099"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감정사항 설명의무</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128</a:t>
            </a:r>
            <a:r>
              <a:rPr lang="ko-KR" altLang="en-US" sz="1200" dirty="0">
                <a:solidFill>
                  <a:schemeClr val="tx1">
                    <a:lumMod val="50000"/>
                    <a:lumOff val="50000"/>
                  </a:schemeClr>
                </a:solidFill>
              </a:rPr>
              <a:t>의</a:t>
            </a:r>
            <a:r>
              <a:rPr lang="en-US" altLang="ko-KR" sz="1200" dirty="0">
                <a:solidFill>
                  <a:schemeClr val="tx1">
                    <a:lumMod val="50000"/>
                    <a:lumOff val="50000"/>
                  </a:schemeClr>
                </a:solidFill>
              </a:rPr>
              <a:t>2)</a:t>
            </a:r>
            <a:endParaRPr lang="ko-KR" altLang="en-US" sz="1200" dirty="0">
              <a:solidFill>
                <a:schemeClr val="tx1">
                  <a:lumMod val="50000"/>
                  <a:lumOff val="50000"/>
                </a:schemeClr>
              </a:solidFill>
            </a:endParaRPr>
          </a:p>
        </p:txBody>
      </p:sp>
      <p:sp>
        <p:nvSpPr>
          <p:cNvPr id="181" name="모서리가 둥근 직사각형 119">
            <a:extLst>
              <a:ext uri="{FF2B5EF4-FFF2-40B4-BE49-F238E27FC236}">
                <a16:creationId xmlns:a16="http://schemas.microsoft.com/office/drawing/2014/main" id="{450796F3-853C-43A0-A266-28F623D2F248}"/>
              </a:ext>
            </a:extLst>
          </p:cNvPr>
          <p:cNvSpPr/>
          <p:nvPr/>
        </p:nvSpPr>
        <p:spPr>
          <a:xfrm>
            <a:off x="8205601" y="5272117"/>
            <a:ext cx="2826099"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생산방법의 추정</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129)</a:t>
            </a:r>
            <a:endParaRPr lang="ko-KR" altLang="en-US" sz="1200" dirty="0">
              <a:solidFill>
                <a:schemeClr val="tx1">
                  <a:lumMod val="50000"/>
                  <a:lumOff val="50000"/>
                </a:schemeClr>
              </a:solidFill>
            </a:endParaRPr>
          </a:p>
        </p:txBody>
      </p:sp>
      <p:sp>
        <p:nvSpPr>
          <p:cNvPr id="182" name="모서리가 둥근 직사각형 120">
            <a:extLst>
              <a:ext uri="{FF2B5EF4-FFF2-40B4-BE49-F238E27FC236}">
                <a16:creationId xmlns:a16="http://schemas.microsoft.com/office/drawing/2014/main" id="{3C559B42-0077-4A1F-8CF1-19C41415C986}"/>
              </a:ext>
            </a:extLst>
          </p:cNvPr>
          <p:cNvSpPr/>
          <p:nvPr/>
        </p:nvSpPr>
        <p:spPr>
          <a:xfrm>
            <a:off x="8205601" y="5683803"/>
            <a:ext cx="2826099"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과실의 추정</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130)</a:t>
            </a:r>
            <a:endParaRPr lang="ko-KR" altLang="en-US" sz="1200" dirty="0">
              <a:solidFill>
                <a:schemeClr val="tx1">
                  <a:lumMod val="50000"/>
                  <a:lumOff val="50000"/>
                </a:schemeClr>
              </a:solidFill>
            </a:endParaRPr>
          </a:p>
        </p:txBody>
      </p:sp>
      <p:sp>
        <p:nvSpPr>
          <p:cNvPr id="183" name="모서리가 둥근 직사각형 121">
            <a:extLst>
              <a:ext uri="{FF2B5EF4-FFF2-40B4-BE49-F238E27FC236}">
                <a16:creationId xmlns:a16="http://schemas.microsoft.com/office/drawing/2014/main" id="{926BC384-3ACD-4292-B0E8-F9AE8C0A3696}"/>
              </a:ext>
            </a:extLst>
          </p:cNvPr>
          <p:cNvSpPr/>
          <p:nvPr/>
        </p:nvSpPr>
        <p:spPr>
          <a:xfrm>
            <a:off x="8205601" y="6088490"/>
            <a:ext cx="2826099"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자료의 제출</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132)</a:t>
            </a:r>
            <a:endParaRPr lang="ko-KR" altLang="en-US" sz="1200" dirty="0">
              <a:solidFill>
                <a:schemeClr val="tx1">
                  <a:lumMod val="50000"/>
                  <a:lumOff val="50000"/>
                </a:schemeClr>
              </a:solidFill>
            </a:endParaRPr>
          </a:p>
        </p:txBody>
      </p:sp>
      <p:sp>
        <p:nvSpPr>
          <p:cNvPr id="184" name="왼쪽 화살표 86">
            <a:extLst>
              <a:ext uri="{FF2B5EF4-FFF2-40B4-BE49-F238E27FC236}">
                <a16:creationId xmlns:a16="http://schemas.microsoft.com/office/drawing/2014/main" id="{C5306CAB-0800-424A-9D2A-950D835BED68}"/>
              </a:ext>
            </a:extLst>
          </p:cNvPr>
          <p:cNvSpPr/>
          <p:nvPr/>
        </p:nvSpPr>
        <p:spPr>
          <a:xfrm>
            <a:off x="7278223" y="4502539"/>
            <a:ext cx="765279" cy="1187679"/>
          </a:xfrm>
          <a:prstGeom prst="leftArrow">
            <a:avLst>
              <a:gd name="adj1" fmla="val 75663"/>
              <a:gd name="adj2" fmla="val 50000"/>
            </a:avLst>
          </a:prstGeom>
          <a:solidFill>
            <a:schemeClr val="accent2">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85" name="TextBox 184">
            <a:extLst>
              <a:ext uri="{FF2B5EF4-FFF2-40B4-BE49-F238E27FC236}">
                <a16:creationId xmlns:a16="http://schemas.microsoft.com/office/drawing/2014/main" id="{2AA44819-6C30-4AF9-9C1D-EAD79589B8CD}"/>
              </a:ext>
            </a:extLst>
          </p:cNvPr>
          <p:cNvSpPr txBox="1"/>
          <p:nvPr/>
        </p:nvSpPr>
        <p:spPr>
          <a:xfrm>
            <a:off x="7442562" y="4979732"/>
            <a:ext cx="498710" cy="276999"/>
          </a:xfrm>
          <a:prstGeom prst="rect">
            <a:avLst/>
          </a:prstGeom>
          <a:noFill/>
        </p:spPr>
        <p:txBody>
          <a:bodyPr wrap="none" rtlCol="0">
            <a:spAutoFit/>
          </a:bodyPr>
          <a:lstStyle/>
          <a:p>
            <a:r>
              <a:rPr lang="ko-KR" altLang="en-US" sz="1200" dirty="0"/>
              <a:t>실효성</a:t>
            </a:r>
          </a:p>
        </p:txBody>
      </p:sp>
      <p:sp>
        <p:nvSpPr>
          <p:cNvPr id="186" name="모서리가 둥근 직사각형 117">
            <a:extLst>
              <a:ext uri="{FF2B5EF4-FFF2-40B4-BE49-F238E27FC236}">
                <a16:creationId xmlns:a16="http://schemas.microsoft.com/office/drawing/2014/main" id="{02A140FD-89AF-4AD7-BE9F-237FD64B99AF}"/>
              </a:ext>
            </a:extLst>
          </p:cNvPr>
          <p:cNvSpPr/>
          <p:nvPr/>
        </p:nvSpPr>
        <p:spPr>
          <a:xfrm>
            <a:off x="8205601" y="3873221"/>
            <a:ext cx="2826099" cy="41366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구체적인 행위의 </a:t>
            </a:r>
            <a:r>
              <a:rPr lang="ko-KR" altLang="en-US" sz="1200" dirty="0" err="1">
                <a:solidFill>
                  <a:schemeClr val="tx1">
                    <a:lumMod val="50000"/>
                    <a:lumOff val="50000"/>
                  </a:schemeClr>
                </a:solidFill>
              </a:rPr>
              <a:t>내용ㆍ방식ㆍ형태</a:t>
            </a:r>
            <a:r>
              <a:rPr lang="ko-KR" altLang="en-US" sz="1200" dirty="0">
                <a:solidFill>
                  <a:schemeClr val="tx1">
                    <a:lumMod val="50000"/>
                    <a:lumOff val="50000"/>
                  </a:schemeClr>
                </a:solidFill>
              </a:rPr>
              <a:t> </a:t>
            </a:r>
            <a:endParaRPr lang="en-US" altLang="ko-KR" sz="1200" dirty="0">
              <a:solidFill>
                <a:schemeClr val="tx1">
                  <a:lumMod val="50000"/>
                  <a:lumOff val="50000"/>
                </a:schemeClr>
              </a:solidFill>
            </a:endParaRPr>
          </a:p>
          <a:p>
            <a:pPr algn="ctr"/>
            <a:r>
              <a:rPr lang="ko-KR" altLang="en-US" sz="1200" dirty="0">
                <a:solidFill>
                  <a:schemeClr val="tx1">
                    <a:lumMod val="50000"/>
                    <a:lumOff val="50000"/>
                  </a:schemeClr>
                </a:solidFill>
              </a:rPr>
              <a:t>제시 의무</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126</a:t>
            </a:r>
            <a:r>
              <a:rPr lang="ko-KR" altLang="en-US" sz="1200" dirty="0">
                <a:solidFill>
                  <a:schemeClr val="tx1">
                    <a:lumMod val="50000"/>
                    <a:lumOff val="50000"/>
                  </a:schemeClr>
                </a:solidFill>
              </a:rPr>
              <a:t>의</a:t>
            </a:r>
            <a:r>
              <a:rPr lang="en-US" altLang="ko-KR" sz="1200" dirty="0">
                <a:solidFill>
                  <a:schemeClr val="tx1">
                    <a:lumMod val="50000"/>
                    <a:lumOff val="50000"/>
                  </a:schemeClr>
                </a:solidFill>
              </a:rPr>
              <a:t>2)</a:t>
            </a:r>
            <a:endParaRPr lang="ko-KR" altLang="en-US" sz="1200" dirty="0">
              <a:solidFill>
                <a:schemeClr val="tx1">
                  <a:lumMod val="50000"/>
                  <a:lumOff val="50000"/>
                </a:schemeClr>
              </a:solidFill>
            </a:endParaRPr>
          </a:p>
        </p:txBody>
      </p:sp>
    </p:spTree>
    <p:extLst>
      <p:ext uri="{BB962C8B-B14F-4D97-AF65-F5344CB8AC3E}">
        <p14:creationId xmlns:p14="http://schemas.microsoft.com/office/powerpoint/2010/main" val="708209787"/>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94</a:t>
            </a:r>
            <a:r>
              <a:rPr lang="ko-KR" altLang="en-US" dirty="0"/>
              <a:t>조</a:t>
            </a:r>
            <a:r>
              <a:rPr lang="en-US" altLang="ko-KR" dirty="0"/>
              <a:t>~</a:t>
            </a:r>
            <a:r>
              <a:rPr lang="ko-KR" altLang="en-US" dirty="0"/>
              <a:t>제</a:t>
            </a:r>
            <a:r>
              <a:rPr lang="en-US" altLang="ko-KR" dirty="0"/>
              <a:t>96</a:t>
            </a:r>
            <a:r>
              <a:rPr lang="ko-KR" altLang="en-US" dirty="0"/>
              <a:t>조</a:t>
            </a:r>
          </a:p>
        </p:txBody>
      </p:sp>
      <p:sp>
        <p:nvSpPr>
          <p:cNvPr id="4" name="텍스트 개체 틀 3"/>
          <p:cNvSpPr>
            <a:spLocks noGrp="1"/>
          </p:cNvSpPr>
          <p:nvPr>
            <p:ph type="body" sz="quarter" idx="13"/>
          </p:nvPr>
        </p:nvSpPr>
        <p:spPr/>
        <p:txBody>
          <a:bodyPr/>
          <a:lstStyle/>
          <a:p>
            <a:r>
              <a:rPr lang="ko-KR" altLang="en-US" dirty="0"/>
              <a:t>권리소진에 의한 제한</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307</a:t>
            </a:r>
            <a:endParaRPr lang="ko-KR" altLang="en-US"/>
          </a:p>
        </p:txBody>
      </p:sp>
      <p:sp>
        <p:nvSpPr>
          <p:cNvPr id="23" name="직사각형 22"/>
          <p:cNvSpPr/>
          <p:nvPr/>
        </p:nvSpPr>
        <p:spPr>
          <a:xfrm>
            <a:off x="304800" y="3511883"/>
            <a:ext cx="1921933" cy="395287"/>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a:solidFill>
                  <a:schemeClr val="bg1">
                    <a:lumMod val="95000"/>
                  </a:schemeClr>
                </a:solidFill>
              </a:rPr>
              <a:t>권리소진</a:t>
            </a:r>
            <a:endParaRPr lang="ko-KR" altLang="en-US" sz="2000" dirty="0">
              <a:solidFill>
                <a:schemeClr val="bg1">
                  <a:lumMod val="95000"/>
                </a:schemeClr>
              </a:solidFill>
            </a:endParaRPr>
          </a:p>
        </p:txBody>
      </p:sp>
      <p:sp>
        <p:nvSpPr>
          <p:cNvPr id="24" name="직사각형 23"/>
          <p:cNvSpPr/>
          <p:nvPr/>
        </p:nvSpPr>
        <p:spPr>
          <a:xfrm>
            <a:off x="304800" y="3959550"/>
            <a:ext cx="1921933" cy="265960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base"/>
            <a:r>
              <a:rPr lang="en-US" altLang="ko-KR" sz="1400" dirty="0">
                <a:solidFill>
                  <a:schemeClr val="tx1"/>
                </a:solidFill>
              </a:rPr>
              <a:t>1) </a:t>
            </a:r>
            <a:r>
              <a:rPr lang="ko-KR" altLang="en-US" sz="1400" dirty="0">
                <a:solidFill>
                  <a:schemeClr val="tx1"/>
                </a:solidFill>
              </a:rPr>
              <a:t>특허권자 또는 </a:t>
            </a:r>
            <a:r>
              <a:rPr lang="ko-KR" altLang="en-US" sz="1400" dirty="0" err="1">
                <a:solidFill>
                  <a:schemeClr val="tx1"/>
                </a:solidFill>
              </a:rPr>
              <a:t>제조ㆍ판매권을</a:t>
            </a:r>
            <a:r>
              <a:rPr lang="ko-KR" altLang="en-US" sz="1400" dirty="0">
                <a:solidFill>
                  <a:schemeClr val="tx1"/>
                </a:solidFill>
              </a:rPr>
              <a:t> 갖는 </a:t>
            </a:r>
            <a:r>
              <a:rPr lang="ko-KR" altLang="en-US" sz="1400" dirty="0" err="1">
                <a:solidFill>
                  <a:schemeClr val="tx1"/>
                </a:solidFill>
              </a:rPr>
              <a:t>실시권자</a:t>
            </a:r>
            <a:r>
              <a:rPr lang="en-US" altLang="ko-KR" sz="1400" dirty="0">
                <a:solidFill>
                  <a:schemeClr val="tx1"/>
                </a:solidFill>
              </a:rPr>
              <a:t>(</a:t>
            </a:r>
            <a:r>
              <a:rPr lang="ko-KR" altLang="en-US" sz="1400" dirty="0">
                <a:solidFill>
                  <a:schemeClr val="tx1"/>
                </a:solidFill>
              </a:rPr>
              <a:t>이하 “특허권자 </a:t>
            </a:r>
            <a:r>
              <a:rPr lang="ko-KR" altLang="en-US" sz="1400" dirty="0" err="1">
                <a:solidFill>
                  <a:schemeClr val="tx1"/>
                </a:solidFill>
              </a:rPr>
              <a:t>등”이라</a:t>
            </a:r>
            <a:r>
              <a:rPr lang="ko-KR" altLang="en-US" sz="1400" dirty="0">
                <a:solidFill>
                  <a:schemeClr val="tx1"/>
                </a:solidFill>
              </a:rPr>
              <a:t> 함</a:t>
            </a:r>
            <a:r>
              <a:rPr lang="en-US" altLang="ko-KR" sz="1400" dirty="0">
                <a:solidFill>
                  <a:schemeClr val="tx1"/>
                </a:solidFill>
              </a:rPr>
              <a:t>)</a:t>
            </a:r>
            <a:r>
              <a:rPr lang="ko-KR" altLang="en-US" sz="1400" dirty="0">
                <a:solidFill>
                  <a:schemeClr val="tx1"/>
                </a:solidFill>
              </a:rPr>
              <a:t>가 </a:t>
            </a:r>
            <a:r>
              <a:rPr lang="en-US" altLang="ko-KR" sz="1400" dirty="0">
                <a:solidFill>
                  <a:schemeClr val="tx1"/>
                </a:solidFill>
              </a:rPr>
              <a:t>2) </a:t>
            </a:r>
            <a:r>
              <a:rPr lang="ko-KR" altLang="en-US" sz="1400" dirty="0">
                <a:solidFill>
                  <a:schemeClr val="tx1"/>
                </a:solidFill>
              </a:rPr>
              <a:t>특허발명을 실질적으로 구현한 제품</a:t>
            </a:r>
            <a:r>
              <a:rPr lang="en-US" altLang="ko-KR" sz="1400" dirty="0">
                <a:solidFill>
                  <a:schemeClr val="tx1"/>
                </a:solidFill>
              </a:rPr>
              <a:t>(</a:t>
            </a:r>
            <a:r>
              <a:rPr lang="ko-KR" altLang="en-US" sz="1400" dirty="0">
                <a:solidFill>
                  <a:schemeClr val="tx1"/>
                </a:solidFill>
              </a:rPr>
              <a:t>이하 “</a:t>
            </a:r>
            <a:r>
              <a:rPr lang="ko-KR" altLang="en-US" sz="1400" dirty="0" err="1">
                <a:solidFill>
                  <a:schemeClr val="tx1"/>
                </a:solidFill>
              </a:rPr>
              <a:t>특허제품”이라</a:t>
            </a:r>
            <a:r>
              <a:rPr lang="ko-KR" altLang="en-US" sz="1400" dirty="0">
                <a:solidFill>
                  <a:schemeClr val="tx1"/>
                </a:solidFill>
              </a:rPr>
              <a:t> 함</a:t>
            </a:r>
            <a:r>
              <a:rPr lang="en-US" altLang="ko-KR" sz="1400" dirty="0">
                <a:solidFill>
                  <a:schemeClr val="tx1"/>
                </a:solidFill>
              </a:rPr>
              <a:t>)</a:t>
            </a:r>
            <a:r>
              <a:rPr lang="ko-KR" altLang="en-US" sz="1400" dirty="0">
                <a:solidFill>
                  <a:schemeClr val="tx1"/>
                </a:solidFill>
              </a:rPr>
              <a:t>을 </a:t>
            </a:r>
            <a:r>
              <a:rPr lang="en-US" altLang="ko-KR" sz="1400" dirty="0">
                <a:solidFill>
                  <a:schemeClr val="tx1"/>
                </a:solidFill>
              </a:rPr>
              <a:t>3) </a:t>
            </a:r>
            <a:r>
              <a:rPr lang="ko-KR" altLang="en-US" sz="1400" dirty="0">
                <a:solidFill>
                  <a:schemeClr val="tx1"/>
                </a:solidFill>
              </a:rPr>
              <a:t>적법하게 판매한 경우</a:t>
            </a:r>
            <a:r>
              <a:rPr lang="en-US" altLang="ko-KR" sz="1400" dirty="0">
                <a:solidFill>
                  <a:schemeClr val="tx1"/>
                </a:solidFill>
              </a:rPr>
              <a:t>, 4)</a:t>
            </a:r>
            <a:r>
              <a:rPr lang="ko-KR" altLang="en-US" sz="1400" dirty="0">
                <a:solidFill>
                  <a:schemeClr val="tx1"/>
                </a:solidFill>
              </a:rPr>
              <a:t> 판매할 때 권리가 소진되어 동일물에 대해서는 특허권의 침해를 주장할 수 없게 되는 것을 말한다</a:t>
            </a:r>
            <a:r>
              <a:rPr lang="en-US" altLang="ko-KR" sz="1400" dirty="0">
                <a:solidFill>
                  <a:schemeClr val="tx1"/>
                </a:solidFill>
              </a:rPr>
              <a:t>.</a:t>
            </a:r>
            <a:endParaRPr lang="ko-KR" altLang="en-US" sz="1400" dirty="0">
              <a:solidFill>
                <a:schemeClr val="tx1"/>
              </a:solidFill>
            </a:endParaRPr>
          </a:p>
        </p:txBody>
      </p:sp>
      <p:sp>
        <p:nvSpPr>
          <p:cNvPr id="6" name="모서리가 둥근 사각형 설명선 5"/>
          <p:cNvSpPr/>
          <p:nvPr/>
        </p:nvSpPr>
        <p:spPr>
          <a:xfrm>
            <a:off x="304800" y="2600793"/>
            <a:ext cx="1921933" cy="711200"/>
          </a:xfrm>
          <a:prstGeom prst="wedgeRoundRectCallout">
            <a:avLst>
              <a:gd name="adj1" fmla="val -32681"/>
              <a:gd name="adj2" fmla="val 71479"/>
              <a:gd name="adj3" fmla="val 16667"/>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buFontTx/>
              <a:buChar char="-"/>
            </a:pPr>
            <a:r>
              <a:rPr lang="ko-KR" altLang="en-US" sz="1100" dirty="0">
                <a:solidFill>
                  <a:srgbClr val="FF0000"/>
                </a:solidFill>
              </a:rPr>
              <a:t>권리자 이중이득 불필요</a:t>
            </a:r>
            <a:endParaRPr lang="en-US" altLang="ko-KR" sz="1100" dirty="0">
              <a:solidFill>
                <a:srgbClr val="FF0000"/>
              </a:solidFill>
            </a:endParaRPr>
          </a:p>
          <a:p>
            <a:pPr marL="171450" indent="-171450">
              <a:buFontTx/>
              <a:buChar char="-"/>
            </a:pPr>
            <a:r>
              <a:rPr lang="ko-KR" altLang="en-US" sz="1100" dirty="0">
                <a:solidFill>
                  <a:schemeClr val="tx1"/>
                </a:solidFill>
              </a:rPr>
              <a:t>유통과정 보호</a:t>
            </a:r>
            <a:endParaRPr lang="en-US" altLang="ko-KR" sz="1100" dirty="0">
              <a:solidFill>
                <a:schemeClr val="tx1"/>
              </a:solidFill>
            </a:endParaRPr>
          </a:p>
          <a:p>
            <a:pPr marL="171450" indent="-171450">
              <a:buFontTx/>
              <a:buChar char="-"/>
            </a:pPr>
            <a:r>
              <a:rPr lang="ko-KR" altLang="en-US" sz="1100" dirty="0">
                <a:solidFill>
                  <a:schemeClr val="tx1"/>
                </a:solidFill>
              </a:rPr>
              <a:t>양수인 또는 </a:t>
            </a:r>
            <a:r>
              <a:rPr lang="ko-KR" altLang="en-US" sz="1100" dirty="0" err="1">
                <a:solidFill>
                  <a:schemeClr val="tx1"/>
                </a:solidFill>
              </a:rPr>
              <a:t>전득자</a:t>
            </a:r>
            <a:r>
              <a:rPr lang="ko-KR" altLang="en-US" sz="1100" dirty="0">
                <a:solidFill>
                  <a:schemeClr val="tx1"/>
                </a:solidFill>
              </a:rPr>
              <a:t> 보호</a:t>
            </a:r>
          </a:p>
        </p:txBody>
      </p:sp>
      <p:sp>
        <p:nvSpPr>
          <p:cNvPr id="27" name="직사각형 26"/>
          <p:cNvSpPr/>
          <p:nvPr/>
        </p:nvSpPr>
        <p:spPr>
          <a:xfrm>
            <a:off x="2772093" y="3726685"/>
            <a:ext cx="1168393" cy="16135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외국에서</a:t>
            </a:r>
            <a:endParaRPr lang="en-US" altLang="ko-KR" sz="1400" dirty="0">
              <a:solidFill>
                <a:schemeClr val="tx1"/>
              </a:solidFill>
            </a:endParaRPr>
          </a:p>
          <a:p>
            <a:pPr algn="ctr"/>
            <a:r>
              <a:rPr lang="ko-KR" altLang="en-US" sz="1400" dirty="0">
                <a:solidFill>
                  <a:schemeClr val="tx1"/>
                </a:solidFill>
              </a:rPr>
              <a:t>판매</a:t>
            </a:r>
          </a:p>
        </p:txBody>
      </p:sp>
      <p:sp>
        <p:nvSpPr>
          <p:cNvPr id="28" name="직사각형 27"/>
          <p:cNvSpPr/>
          <p:nvPr/>
        </p:nvSpPr>
        <p:spPr>
          <a:xfrm>
            <a:off x="2772093" y="5382946"/>
            <a:ext cx="1168393" cy="143681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부품교환</a:t>
            </a:r>
          </a:p>
        </p:txBody>
      </p:sp>
      <p:sp>
        <p:nvSpPr>
          <p:cNvPr id="29" name="직사각형 28"/>
          <p:cNvSpPr/>
          <p:nvPr/>
        </p:nvSpPr>
        <p:spPr>
          <a:xfrm>
            <a:off x="2772093" y="1777306"/>
            <a:ext cx="1168393" cy="93871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방법발명</a:t>
            </a:r>
            <a:endParaRPr lang="en-US" altLang="ko-KR" sz="1400" dirty="0">
              <a:solidFill>
                <a:schemeClr val="tx1"/>
              </a:solidFill>
            </a:endParaRPr>
          </a:p>
          <a:p>
            <a:pPr algn="ctr"/>
            <a:r>
              <a:rPr lang="ko-KR" altLang="en-US" sz="1400" dirty="0">
                <a:solidFill>
                  <a:schemeClr val="tx1"/>
                </a:solidFill>
              </a:rPr>
              <a:t>특허</a:t>
            </a:r>
          </a:p>
        </p:txBody>
      </p:sp>
      <p:sp>
        <p:nvSpPr>
          <p:cNvPr id="32" name="직사각형 31"/>
          <p:cNvSpPr/>
          <p:nvPr/>
        </p:nvSpPr>
        <p:spPr>
          <a:xfrm>
            <a:off x="2772093" y="2744168"/>
            <a:ext cx="1168393" cy="93871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조건부 </a:t>
            </a:r>
            <a:endParaRPr lang="en-US" altLang="ko-KR" sz="1400" dirty="0">
              <a:solidFill>
                <a:schemeClr val="tx1"/>
              </a:solidFill>
            </a:endParaRPr>
          </a:p>
          <a:p>
            <a:pPr algn="ctr"/>
            <a:r>
              <a:rPr lang="ko-KR" altLang="en-US" sz="1400" dirty="0">
                <a:solidFill>
                  <a:schemeClr val="tx1"/>
                </a:solidFill>
              </a:rPr>
              <a:t>판매</a:t>
            </a:r>
          </a:p>
        </p:txBody>
      </p:sp>
      <p:sp>
        <p:nvSpPr>
          <p:cNvPr id="9" name="직사각형 8"/>
          <p:cNvSpPr/>
          <p:nvPr/>
        </p:nvSpPr>
        <p:spPr>
          <a:xfrm>
            <a:off x="3940486" y="3724357"/>
            <a:ext cx="8152902" cy="1615827"/>
          </a:xfrm>
          <a:prstGeom prst="rect">
            <a:avLst/>
          </a:prstGeom>
          <a:ln>
            <a:solidFill>
              <a:schemeClr val="bg1">
                <a:lumMod val="50000"/>
              </a:schemeClr>
            </a:solidFill>
          </a:ln>
        </p:spPr>
        <p:txBody>
          <a:bodyPr wrap="square">
            <a:spAutoFit/>
          </a:bodyPr>
          <a:lstStyle/>
          <a:p>
            <a:pPr marL="157163" indent="-157163" algn="just" fontAlgn="base"/>
            <a:r>
              <a:rPr lang="en-US" altLang="ko-KR" sz="1100" dirty="0">
                <a:latin typeface="+mn-ea"/>
              </a:rPr>
              <a:t>1. </a:t>
            </a:r>
            <a:r>
              <a:rPr lang="ko-KR" altLang="en-US" sz="1100" dirty="0">
                <a:latin typeface="+mn-ea"/>
              </a:rPr>
              <a:t>국내와 외국 특허권의 특허권자가 각기 다른 경우 외국의 특허권자가 판매한 특허제품</a:t>
            </a:r>
            <a:r>
              <a:rPr lang="en-US" altLang="ko-KR" sz="1100" dirty="0">
                <a:latin typeface="+mn-ea"/>
              </a:rPr>
              <a:t>(</a:t>
            </a:r>
            <a:r>
              <a:rPr lang="ko-KR" altLang="en-US" sz="1100" dirty="0">
                <a:latin typeface="+mn-ea"/>
              </a:rPr>
              <a:t>진정상품</a:t>
            </a:r>
            <a:r>
              <a:rPr lang="en-US" altLang="ko-KR" sz="1100" dirty="0">
                <a:latin typeface="+mn-ea"/>
              </a:rPr>
              <a:t>)</a:t>
            </a:r>
            <a:r>
              <a:rPr lang="ko-KR" altLang="en-US" sz="1100" dirty="0">
                <a:latin typeface="+mn-ea"/>
              </a:rPr>
              <a:t>을 제</a:t>
            </a:r>
            <a:r>
              <a:rPr lang="en-US" altLang="ko-KR" sz="1100" dirty="0">
                <a:latin typeface="+mn-ea"/>
              </a:rPr>
              <a:t>3</a:t>
            </a:r>
            <a:r>
              <a:rPr lang="ko-KR" altLang="en-US" sz="1100" dirty="0">
                <a:latin typeface="+mn-ea"/>
              </a:rPr>
              <a:t>자가 구매하여 국내에 </a:t>
            </a:r>
            <a:r>
              <a:rPr lang="ko-KR" altLang="en-US" sz="1100" dirty="0" err="1">
                <a:latin typeface="+mn-ea"/>
              </a:rPr>
              <a:t>병행수입하는</a:t>
            </a:r>
            <a:r>
              <a:rPr lang="ko-KR" altLang="en-US" sz="1100" dirty="0">
                <a:latin typeface="+mn-ea"/>
              </a:rPr>
              <a:t> 경우</a:t>
            </a:r>
            <a:r>
              <a:rPr lang="en-US" altLang="ko-KR" sz="1100" dirty="0">
                <a:latin typeface="+mn-ea"/>
              </a:rPr>
              <a:t>: </a:t>
            </a:r>
            <a:r>
              <a:rPr lang="ko-KR" altLang="en-US" sz="1100" dirty="0">
                <a:latin typeface="+mn-ea"/>
              </a:rPr>
              <a:t>외국에서 특허권의 경우 권리소진이 발생하지만</a:t>
            </a:r>
            <a:r>
              <a:rPr lang="en-US" altLang="ko-KR" sz="1100" dirty="0">
                <a:latin typeface="+mn-ea"/>
              </a:rPr>
              <a:t>, </a:t>
            </a:r>
            <a:r>
              <a:rPr lang="ko-KR" altLang="en-US" sz="1100" dirty="0">
                <a:latin typeface="+mn-ea"/>
              </a:rPr>
              <a:t>국내에서 특허권의 경우 특허권자가 달라 국내의 특허권자가 특허제품의 판매를 통해 이득을 취한 것도 아니고 특허독립의 원칙 및 속지주의에 의하여 국내에서 권리소진이 발생하지 않아서</a:t>
            </a:r>
            <a:r>
              <a:rPr lang="en-US" altLang="ko-KR" sz="1100" dirty="0">
                <a:latin typeface="+mn-ea"/>
              </a:rPr>
              <a:t>, </a:t>
            </a:r>
            <a:r>
              <a:rPr lang="ko-KR" altLang="en-US" sz="1100" dirty="0">
                <a:highlight>
                  <a:srgbClr val="FFFF00"/>
                </a:highlight>
                <a:latin typeface="+mn-ea"/>
              </a:rPr>
              <a:t>국내 특허권의 침해라고 볼 것이다</a:t>
            </a:r>
            <a:r>
              <a:rPr lang="en-US" altLang="ko-KR" sz="1100" dirty="0">
                <a:highlight>
                  <a:srgbClr val="FFFF00"/>
                </a:highlight>
                <a:latin typeface="+mn-ea"/>
              </a:rPr>
              <a:t>.</a:t>
            </a:r>
          </a:p>
          <a:p>
            <a:pPr marL="157163" indent="-157163" algn="just" fontAlgn="base"/>
            <a:r>
              <a:rPr lang="en-US" altLang="ko-KR" sz="1100" dirty="0">
                <a:latin typeface="+mn-ea"/>
              </a:rPr>
              <a:t>2. </a:t>
            </a:r>
            <a:r>
              <a:rPr lang="ko-KR" altLang="en-US" sz="1100" dirty="0">
                <a:latin typeface="+mn-ea"/>
              </a:rPr>
              <a:t>국내와 외국 특허권의 특허권자가 동일한 경우 특허권자가 외국에서 판매한 특허제품을 제</a:t>
            </a:r>
            <a:r>
              <a:rPr lang="en-US" altLang="ko-KR" sz="1100" dirty="0">
                <a:latin typeface="+mn-ea"/>
              </a:rPr>
              <a:t>3</a:t>
            </a:r>
            <a:r>
              <a:rPr lang="ko-KR" altLang="en-US" sz="1100" dirty="0">
                <a:latin typeface="+mn-ea"/>
              </a:rPr>
              <a:t>자가 구매한 후 국내에 </a:t>
            </a:r>
            <a:r>
              <a:rPr lang="ko-KR" altLang="en-US" sz="1100" dirty="0" err="1">
                <a:latin typeface="+mn-ea"/>
              </a:rPr>
              <a:t>병행수입하는</a:t>
            </a:r>
            <a:r>
              <a:rPr lang="ko-KR" altLang="en-US" sz="1100" dirty="0">
                <a:latin typeface="+mn-ea"/>
              </a:rPr>
              <a:t> 경우</a:t>
            </a:r>
            <a:r>
              <a:rPr lang="en-US" altLang="ko-KR" sz="1100" dirty="0">
                <a:latin typeface="+mn-ea"/>
              </a:rPr>
              <a:t>: </a:t>
            </a:r>
            <a:r>
              <a:rPr lang="ko-KR" altLang="en-US" sz="1100" dirty="0">
                <a:latin typeface="+mn-ea"/>
              </a:rPr>
              <a:t>외국에서 특허제품의 판매를 통해 외국과 국내에서 특허권의 권리소진이 발생하였고</a:t>
            </a:r>
            <a:r>
              <a:rPr lang="en-US" altLang="ko-KR" sz="1100" dirty="0">
                <a:latin typeface="+mn-ea"/>
              </a:rPr>
              <a:t>, </a:t>
            </a:r>
            <a:r>
              <a:rPr lang="ko-KR" altLang="en-US" sz="1100" dirty="0">
                <a:latin typeface="+mn-ea"/>
              </a:rPr>
              <a:t>특허권자가 이득을 취하였기 때문에 </a:t>
            </a:r>
            <a:r>
              <a:rPr lang="ko-KR" altLang="en-US" sz="1100" dirty="0">
                <a:highlight>
                  <a:srgbClr val="FFFF00"/>
                </a:highlight>
                <a:latin typeface="+mn-ea"/>
              </a:rPr>
              <a:t>국내 특허권의 침해가 아니라고 볼 것이다</a:t>
            </a:r>
            <a:r>
              <a:rPr lang="en-US" altLang="ko-KR" sz="1100" dirty="0">
                <a:highlight>
                  <a:srgbClr val="FFFF00"/>
                </a:highlight>
                <a:latin typeface="+mn-ea"/>
              </a:rPr>
              <a:t>.</a:t>
            </a:r>
            <a:endParaRPr lang="ko-KR" altLang="en-US" sz="1100" dirty="0">
              <a:highlight>
                <a:srgbClr val="FFFF00"/>
              </a:highlight>
              <a:latin typeface="+mn-ea"/>
            </a:endParaRPr>
          </a:p>
          <a:p>
            <a:pPr marL="165100" indent="-165100" algn="just" fontAlgn="base"/>
            <a:r>
              <a:rPr lang="en-US" altLang="ko-KR" sz="1100" dirty="0">
                <a:latin typeface="+mn-ea"/>
              </a:rPr>
              <a:t>3. 	</a:t>
            </a:r>
            <a:r>
              <a:rPr lang="ko-KR" altLang="en-US" sz="1100" dirty="0">
                <a:latin typeface="+mn-ea"/>
              </a:rPr>
              <a:t>국내 특허권자가 특허권이 없는 외국에서 특허제품을 판매하거나 국내에서 판매하여 외국에 수출하였는데</a:t>
            </a:r>
            <a:r>
              <a:rPr lang="en-US" altLang="ko-KR" sz="1100" dirty="0">
                <a:latin typeface="+mn-ea"/>
              </a:rPr>
              <a:t>, </a:t>
            </a:r>
            <a:r>
              <a:rPr lang="ko-KR" altLang="en-US" sz="1100" dirty="0">
                <a:latin typeface="+mn-ea"/>
              </a:rPr>
              <a:t>제</a:t>
            </a:r>
            <a:r>
              <a:rPr lang="en-US" altLang="ko-KR" sz="1100" dirty="0">
                <a:latin typeface="+mn-ea"/>
              </a:rPr>
              <a:t>3</a:t>
            </a:r>
            <a:r>
              <a:rPr lang="ko-KR" altLang="en-US" sz="1100" dirty="0">
                <a:latin typeface="+mn-ea"/>
              </a:rPr>
              <a:t>자가 이를 그대로 또는 가공하여 국내에 수입할 경우</a:t>
            </a:r>
            <a:r>
              <a:rPr lang="en-US" altLang="ko-KR" sz="1100" dirty="0">
                <a:latin typeface="+mn-ea"/>
              </a:rPr>
              <a:t>: </a:t>
            </a:r>
            <a:r>
              <a:rPr lang="ko-KR" altLang="en-US" sz="1100" dirty="0">
                <a:latin typeface="+mn-ea"/>
              </a:rPr>
              <a:t>국내외 특허제품의 판매를 통해 국내 특허권의 권리소진이 발생하였고</a:t>
            </a:r>
            <a:r>
              <a:rPr lang="en-US" altLang="ko-KR" sz="1100" dirty="0">
                <a:latin typeface="+mn-ea"/>
              </a:rPr>
              <a:t>, </a:t>
            </a:r>
            <a:r>
              <a:rPr lang="ko-KR" altLang="en-US" sz="1100" dirty="0">
                <a:latin typeface="+mn-ea"/>
              </a:rPr>
              <a:t>특허권자가 이득을 취하였기 때문에 </a:t>
            </a:r>
            <a:r>
              <a:rPr lang="ko-KR" altLang="en-US" sz="1100" dirty="0">
                <a:highlight>
                  <a:srgbClr val="FFFF00"/>
                </a:highlight>
                <a:latin typeface="+mn-ea"/>
              </a:rPr>
              <a:t>국내 특허권의 침해가 아니라고 볼 것이다</a:t>
            </a:r>
            <a:r>
              <a:rPr lang="en-US" altLang="ko-KR" sz="1100" dirty="0">
                <a:highlight>
                  <a:srgbClr val="FFFF00"/>
                </a:highlight>
                <a:latin typeface="+mn-ea"/>
              </a:rPr>
              <a:t>. </a:t>
            </a:r>
            <a:endParaRPr lang="ko-KR" altLang="en-US" sz="1100" dirty="0">
              <a:highlight>
                <a:srgbClr val="FFFF00"/>
              </a:highlight>
              <a:latin typeface="+mn-ea"/>
            </a:endParaRPr>
          </a:p>
        </p:txBody>
      </p:sp>
      <p:sp>
        <p:nvSpPr>
          <p:cNvPr id="10" name="직사각형 9"/>
          <p:cNvSpPr/>
          <p:nvPr/>
        </p:nvSpPr>
        <p:spPr>
          <a:xfrm>
            <a:off x="3940485" y="5373215"/>
            <a:ext cx="8152903" cy="1446550"/>
          </a:xfrm>
          <a:prstGeom prst="rect">
            <a:avLst/>
          </a:prstGeom>
          <a:ln>
            <a:solidFill>
              <a:schemeClr val="bg1">
                <a:lumMod val="50000"/>
              </a:schemeClr>
            </a:solidFill>
          </a:ln>
        </p:spPr>
        <p:txBody>
          <a:bodyPr wrap="square">
            <a:spAutoFit/>
          </a:bodyPr>
          <a:lstStyle/>
          <a:p>
            <a:pPr marL="139700" indent="-139700" fontAlgn="base"/>
            <a:r>
              <a:rPr lang="en-US" altLang="ko-KR" sz="1100" dirty="0"/>
              <a:t>1. </a:t>
            </a:r>
            <a:r>
              <a:rPr lang="ko-KR" altLang="en-US" sz="1100" dirty="0">
                <a:highlight>
                  <a:srgbClr val="FFFF00"/>
                </a:highlight>
              </a:rPr>
              <a:t>부품이 </a:t>
            </a:r>
            <a:r>
              <a:rPr lang="ko-KR" altLang="en-US" sz="1100" dirty="0" err="1">
                <a:highlight>
                  <a:srgbClr val="FFFF00"/>
                </a:highlight>
              </a:rPr>
              <a:t>비소모품인</a:t>
            </a:r>
            <a:r>
              <a:rPr lang="ko-KR" altLang="en-US" sz="1100" dirty="0">
                <a:highlight>
                  <a:srgbClr val="FFFF00"/>
                </a:highlight>
              </a:rPr>
              <a:t> 경우</a:t>
            </a:r>
            <a:r>
              <a:rPr lang="ko-KR" altLang="en-US" sz="1100" dirty="0"/>
              <a:t>에는 발명의 기술적 사상과 관련된 본질적인 구성요소라면 부품의 교체가 생산에 해당한다</a:t>
            </a:r>
            <a:r>
              <a:rPr lang="en-US" altLang="ko-KR" sz="1100" dirty="0"/>
              <a:t>(</a:t>
            </a:r>
            <a:r>
              <a:rPr lang="ko-KR" altLang="en-US" sz="1100" dirty="0"/>
              <a:t>서울중앙지방법원 </a:t>
            </a:r>
            <a:r>
              <a:rPr lang="en-US" altLang="ko-KR" sz="1100" dirty="0"/>
              <a:t>2006. 8. 23. </a:t>
            </a:r>
            <a:r>
              <a:rPr lang="ko-KR" altLang="en-US" sz="1100" dirty="0"/>
              <a:t>선고 </a:t>
            </a:r>
            <a:r>
              <a:rPr lang="en-US" altLang="ko-KR" sz="1100" dirty="0"/>
              <a:t>2005</a:t>
            </a:r>
            <a:r>
              <a:rPr lang="ko-KR" altLang="en-US" sz="1100" dirty="0"/>
              <a:t>가합</a:t>
            </a:r>
            <a:r>
              <a:rPr lang="en-US" altLang="ko-KR" sz="1100" dirty="0"/>
              <a:t>48548).</a:t>
            </a:r>
          </a:p>
          <a:p>
            <a:pPr marL="147638" indent="-147638" fontAlgn="base"/>
            <a:r>
              <a:rPr lang="en-US" altLang="ko-KR" sz="1100" dirty="0"/>
              <a:t>2. </a:t>
            </a:r>
            <a:r>
              <a:rPr lang="ko-KR" altLang="en-US" sz="1100" dirty="0">
                <a:highlight>
                  <a:srgbClr val="FFFF00"/>
                </a:highlight>
              </a:rPr>
              <a:t>부품이 소모품인 경우</a:t>
            </a:r>
            <a:r>
              <a:rPr lang="ko-KR" altLang="en-US" sz="1100" dirty="0"/>
              <a:t>에는 </a:t>
            </a:r>
            <a:r>
              <a:rPr lang="en-US" altLang="ko-KR" sz="1100" dirty="0"/>
              <a:t>ⅰ) </a:t>
            </a:r>
            <a:r>
              <a:rPr lang="ko-KR" altLang="en-US" sz="1100" dirty="0"/>
              <a:t>특허발명의 본질적인 구성요소에 해당하고 </a:t>
            </a:r>
            <a:r>
              <a:rPr lang="en-US" altLang="ko-KR" sz="1100" dirty="0"/>
              <a:t>ⅱ) </a:t>
            </a:r>
            <a:r>
              <a:rPr lang="ko-KR" altLang="en-US" sz="1100" dirty="0"/>
              <a:t>일반적으로 널리 쉽게 구할 수 없는 물품으로서 </a:t>
            </a:r>
            <a:r>
              <a:rPr lang="en-US" altLang="ko-KR" sz="1100" dirty="0"/>
              <a:t>ⅲ)</a:t>
            </a:r>
            <a:r>
              <a:rPr lang="ko-KR" altLang="en-US" sz="1100" dirty="0"/>
              <a:t>　해당 발명에 관한 물건의 구입시에 이미 그러한 교체가 예정되어 있었고</a:t>
            </a:r>
            <a:r>
              <a:rPr lang="en-US" altLang="ko-KR" sz="1100" dirty="0"/>
              <a:t>, ⅳ) </a:t>
            </a:r>
            <a:r>
              <a:rPr lang="ko-KR" altLang="en-US" sz="1100" dirty="0"/>
              <a:t>특허권자 측에 의하여 그러한 부품을 따로 </a:t>
            </a:r>
            <a:r>
              <a:rPr lang="ko-KR" altLang="en-US" sz="1100" dirty="0" err="1"/>
              <a:t>제조ㆍ판매하고</a:t>
            </a:r>
            <a:r>
              <a:rPr lang="ko-KR" altLang="en-US" sz="1100" dirty="0"/>
              <a:t> 있다면 생산에 해당한다</a:t>
            </a:r>
            <a:r>
              <a:rPr lang="en-US" altLang="ko-KR" sz="1100" dirty="0"/>
              <a:t>(</a:t>
            </a:r>
            <a:r>
              <a:rPr lang="ko-KR" altLang="en-US" sz="1100" dirty="0"/>
              <a:t>대법원 </a:t>
            </a:r>
            <a:r>
              <a:rPr lang="en-US" altLang="ko-KR" sz="1100" dirty="0"/>
              <a:t>2001. 1. 30. </a:t>
            </a:r>
            <a:r>
              <a:rPr lang="ko-KR" altLang="en-US" sz="1100" dirty="0"/>
              <a:t>선고 </a:t>
            </a:r>
            <a:r>
              <a:rPr lang="en-US" altLang="ko-KR" sz="1100" dirty="0"/>
              <a:t>98</a:t>
            </a:r>
            <a:r>
              <a:rPr lang="ko-KR" altLang="en-US" sz="1100" dirty="0"/>
              <a:t>후</a:t>
            </a:r>
            <a:r>
              <a:rPr lang="en-US" altLang="ko-KR" sz="1100" dirty="0"/>
              <a:t>2580).</a:t>
            </a:r>
          </a:p>
          <a:p>
            <a:pPr marL="157163" indent="-157163" fontAlgn="base"/>
            <a:r>
              <a:rPr lang="en-US" altLang="ko-KR" sz="1100" dirty="0"/>
              <a:t>3. </a:t>
            </a:r>
            <a:r>
              <a:rPr lang="ko-KR" altLang="en-US" sz="1100" dirty="0"/>
              <a:t>다만</a:t>
            </a:r>
            <a:r>
              <a:rPr lang="en-US" altLang="ko-KR" sz="1100" dirty="0"/>
              <a:t>, </a:t>
            </a:r>
            <a:r>
              <a:rPr lang="ko-KR" altLang="en-US" sz="1100" dirty="0"/>
              <a:t>특허법원 </a:t>
            </a:r>
            <a:r>
              <a:rPr lang="en-US" altLang="ko-KR" sz="1100" dirty="0"/>
              <a:t>2017. 11. 10. </a:t>
            </a:r>
            <a:r>
              <a:rPr lang="ko-KR" altLang="en-US" sz="1100" dirty="0"/>
              <a:t>선고 </a:t>
            </a:r>
            <a:r>
              <a:rPr lang="en-US" altLang="ko-KR" sz="1100" dirty="0"/>
              <a:t>2017</a:t>
            </a:r>
            <a:r>
              <a:rPr lang="ko-KR" altLang="en-US" sz="1100" dirty="0"/>
              <a:t>나</a:t>
            </a:r>
            <a:r>
              <a:rPr lang="en-US" altLang="ko-KR" sz="1100" dirty="0"/>
              <a:t>1001 </a:t>
            </a:r>
            <a:r>
              <a:rPr lang="ko-KR" altLang="en-US" sz="1100" dirty="0"/>
              <a:t>판결에서는 부품을 교체하는 것이 원래 </a:t>
            </a:r>
            <a:r>
              <a:rPr lang="ko-KR" altLang="en-US" sz="1100" dirty="0">
                <a:highlight>
                  <a:srgbClr val="FFFF00"/>
                </a:highlight>
              </a:rPr>
              <a:t>특허제품과의 동일성을 해할 정도에 이르게 된 경우</a:t>
            </a:r>
            <a:r>
              <a:rPr lang="ko-KR" altLang="en-US" sz="1100" dirty="0"/>
              <a:t>에는 재생산으로 특허권을 침해하는 것으로</a:t>
            </a:r>
            <a:r>
              <a:rPr lang="en-US" altLang="ko-KR" sz="1100" dirty="0"/>
              <a:t>, </a:t>
            </a:r>
            <a:r>
              <a:rPr lang="ko-KR" altLang="en-US" sz="1100" dirty="0"/>
              <a:t>동일성을 유지되는 경우에는 수리로서 특허권을 침해하지 않은 것으로 판단하고 있다</a:t>
            </a:r>
            <a:r>
              <a:rPr lang="en-US" altLang="ko-KR" sz="1100" dirty="0"/>
              <a:t>. </a:t>
            </a:r>
            <a:r>
              <a:rPr lang="ko-KR" altLang="en-US" sz="1100" dirty="0"/>
              <a:t>이는 본질적 부분의 교체라면 생산이 </a:t>
            </a:r>
            <a:r>
              <a:rPr lang="ko-KR" altLang="en-US" sz="1100" dirty="0">
                <a:highlight>
                  <a:srgbClr val="FFFF00"/>
                </a:highlight>
              </a:rPr>
              <a:t>된다는 기존의 판례보다 수리의 범위를 조금 더 넓게 인정해 주려는 경향</a:t>
            </a:r>
            <a:r>
              <a:rPr lang="ko-KR" altLang="en-US" sz="1100" dirty="0"/>
              <a:t>으로 파악된다</a:t>
            </a:r>
            <a:r>
              <a:rPr lang="en-US" altLang="ko-KR" sz="1100" dirty="0"/>
              <a:t>. </a:t>
            </a:r>
            <a:endParaRPr lang="ko-KR" altLang="en-US" sz="1100" dirty="0"/>
          </a:p>
        </p:txBody>
      </p:sp>
      <p:sp>
        <p:nvSpPr>
          <p:cNvPr id="11" name="직사각형 10"/>
          <p:cNvSpPr/>
          <p:nvPr/>
        </p:nvSpPr>
        <p:spPr>
          <a:xfrm>
            <a:off x="3940485" y="1777307"/>
            <a:ext cx="8152903" cy="938719"/>
          </a:xfrm>
          <a:prstGeom prst="rect">
            <a:avLst/>
          </a:prstGeom>
          <a:ln>
            <a:solidFill>
              <a:schemeClr val="bg1">
                <a:lumMod val="50000"/>
              </a:schemeClr>
            </a:solidFill>
          </a:ln>
        </p:spPr>
        <p:txBody>
          <a:bodyPr wrap="square">
            <a:spAutoFit/>
          </a:bodyPr>
          <a:lstStyle/>
          <a:p>
            <a:pPr fontAlgn="base"/>
            <a:r>
              <a:rPr lang="ko-KR" altLang="en-US" sz="1100" dirty="0">
                <a:solidFill>
                  <a:schemeClr val="tx2"/>
                </a:solidFill>
              </a:rPr>
              <a:t>방법발명에 대한 특허권자로부터 방법의 실시에만 사용되는 물건을 양도받은 제</a:t>
            </a:r>
            <a:r>
              <a:rPr lang="en-US" altLang="ko-KR" sz="1100" dirty="0">
                <a:solidFill>
                  <a:schemeClr val="tx2"/>
                </a:solidFill>
              </a:rPr>
              <a:t>3</a:t>
            </a:r>
            <a:r>
              <a:rPr lang="ko-KR" altLang="en-US" sz="1100" dirty="0">
                <a:solidFill>
                  <a:schemeClr val="tx2"/>
                </a:solidFill>
              </a:rPr>
              <a:t>자가 해당 물건을 양도</a:t>
            </a:r>
            <a:r>
              <a:rPr lang="en-US" altLang="ko-KR" sz="1100" dirty="0">
                <a:solidFill>
                  <a:schemeClr val="tx2"/>
                </a:solidFill>
              </a:rPr>
              <a:t>, </a:t>
            </a:r>
            <a:r>
              <a:rPr lang="ko-KR" altLang="en-US" sz="1100" dirty="0">
                <a:solidFill>
                  <a:schemeClr val="tx2"/>
                </a:solidFill>
              </a:rPr>
              <a:t>대여</a:t>
            </a:r>
            <a:r>
              <a:rPr lang="en-US" altLang="ko-KR" sz="1100" dirty="0">
                <a:solidFill>
                  <a:schemeClr val="tx2"/>
                </a:solidFill>
              </a:rPr>
              <a:t>, </a:t>
            </a:r>
            <a:r>
              <a:rPr lang="ko-KR" altLang="en-US" sz="1100" dirty="0">
                <a:solidFill>
                  <a:schemeClr val="tx2"/>
                </a:solidFill>
              </a:rPr>
              <a:t>수출</a:t>
            </a:r>
            <a:r>
              <a:rPr lang="en-US" altLang="ko-KR" sz="1100" dirty="0">
                <a:solidFill>
                  <a:schemeClr val="tx2"/>
                </a:solidFill>
              </a:rPr>
              <a:t>, </a:t>
            </a:r>
            <a:r>
              <a:rPr lang="ko-KR" altLang="en-US" sz="1100" dirty="0">
                <a:solidFill>
                  <a:schemeClr val="tx2"/>
                </a:solidFill>
              </a:rPr>
              <a:t>수입 또는 대여의 </a:t>
            </a:r>
            <a:r>
              <a:rPr lang="ko-KR" altLang="en-US" sz="1100" dirty="0" err="1">
                <a:solidFill>
                  <a:schemeClr val="tx2"/>
                </a:solidFill>
              </a:rPr>
              <a:t>청약뿐만</a:t>
            </a:r>
            <a:r>
              <a:rPr lang="ko-KR" altLang="en-US" sz="1100" dirty="0">
                <a:solidFill>
                  <a:schemeClr val="tx2"/>
                </a:solidFill>
              </a:rPr>
              <a:t> 아니라 사용하는 행위를 하더라도 특허권이 소진된다</a:t>
            </a:r>
            <a:r>
              <a:rPr lang="en-US" altLang="ko-KR" sz="1100" dirty="0">
                <a:solidFill>
                  <a:schemeClr val="accent3">
                    <a:lumMod val="50000"/>
                  </a:schemeClr>
                </a:solidFill>
                <a:highlight>
                  <a:srgbClr val="FFFF00"/>
                </a:highlight>
              </a:rPr>
              <a:t>(</a:t>
            </a:r>
            <a:r>
              <a:rPr lang="ko-KR" altLang="en-US" sz="1100" dirty="0">
                <a:solidFill>
                  <a:schemeClr val="accent3">
                    <a:lumMod val="50000"/>
                  </a:schemeClr>
                </a:solidFill>
                <a:highlight>
                  <a:srgbClr val="FFFF00"/>
                </a:highlight>
              </a:rPr>
              <a:t>대가 확보 기회 부여</a:t>
            </a:r>
            <a:r>
              <a:rPr lang="en-US" altLang="ko-KR" sz="1100" dirty="0">
                <a:solidFill>
                  <a:schemeClr val="accent3">
                    <a:lumMod val="50000"/>
                  </a:schemeClr>
                </a:solidFill>
                <a:highlight>
                  <a:srgbClr val="FFFF00"/>
                </a:highlight>
              </a:rPr>
              <a:t>, </a:t>
            </a:r>
            <a:r>
              <a:rPr lang="ko-KR" altLang="en-US" sz="1100" dirty="0">
                <a:solidFill>
                  <a:schemeClr val="accent3">
                    <a:lumMod val="50000"/>
                  </a:schemeClr>
                </a:solidFill>
                <a:highlight>
                  <a:srgbClr val="FFFF00"/>
                </a:highlight>
              </a:rPr>
              <a:t>제품판매시 소진 회피 악용 방지</a:t>
            </a:r>
            <a:r>
              <a:rPr lang="en-US" altLang="ko-KR" sz="1100" dirty="0">
                <a:solidFill>
                  <a:schemeClr val="accent3">
                    <a:lumMod val="50000"/>
                  </a:schemeClr>
                </a:solidFill>
                <a:highlight>
                  <a:srgbClr val="FFFF00"/>
                </a:highlight>
              </a:rPr>
              <a:t>)</a:t>
            </a:r>
            <a:r>
              <a:rPr lang="en-US" altLang="ko-KR" sz="1100" dirty="0">
                <a:solidFill>
                  <a:schemeClr val="tx2"/>
                </a:solidFill>
              </a:rPr>
              <a:t>. </a:t>
            </a:r>
            <a:r>
              <a:rPr lang="ko-KR" altLang="en-US" sz="1100" dirty="0">
                <a:solidFill>
                  <a:schemeClr val="tx2"/>
                </a:solidFill>
              </a:rPr>
              <a:t>다만</a:t>
            </a:r>
            <a:r>
              <a:rPr lang="en-US" altLang="ko-KR" sz="1100" dirty="0">
                <a:solidFill>
                  <a:schemeClr val="tx2"/>
                </a:solidFill>
              </a:rPr>
              <a:t>, </a:t>
            </a:r>
            <a:r>
              <a:rPr lang="ko-KR" altLang="en-US" sz="1100" dirty="0">
                <a:solidFill>
                  <a:schemeClr val="tx2"/>
                </a:solidFill>
              </a:rPr>
              <a:t>방법의 발명에 대한 특허권이 공유인 경우에 있어서는</a:t>
            </a:r>
            <a:r>
              <a:rPr lang="en-US" altLang="ko-KR" sz="1100" dirty="0">
                <a:solidFill>
                  <a:schemeClr val="tx2"/>
                </a:solidFill>
              </a:rPr>
              <a:t>, </a:t>
            </a:r>
            <a:r>
              <a:rPr lang="ko-KR" altLang="en-US" sz="1100" dirty="0">
                <a:solidFill>
                  <a:schemeClr val="tx2"/>
                </a:solidFill>
              </a:rPr>
              <a:t>우리나라에서 그 방법의 실시에만 사용되는 물건이 양도되었다고 하더라도</a:t>
            </a:r>
            <a:r>
              <a:rPr lang="en-US" altLang="ko-KR" sz="1100" dirty="0">
                <a:solidFill>
                  <a:schemeClr val="tx2"/>
                </a:solidFill>
              </a:rPr>
              <a:t>, </a:t>
            </a:r>
            <a:r>
              <a:rPr lang="ko-KR" altLang="en-US" sz="1100" dirty="0">
                <a:solidFill>
                  <a:schemeClr val="tx2"/>
                </a:solidFill>
              </a:rPr>
              <a:t>그 물건이 공유자 중 일부의 소유이고 그 소유자가 아닌 다른 공유자가 그 물건의 양도에 대해서 동의를 한 바가 없다면</a:t>
            </a:r>
            <a:r>
              <a:rPr lang="en-US" altLang="ko-KR" sz="1100" dirty="0">
                <a:solidFill>
                  <a:schemeClr val="tx2"/>
                </a:solidFill>
              </a:rPr>
              <a:t>, </a:t>
            </a:r>
            <a:r>
              <a:rPr lang="ko-KR" altLang="en-US" sz="1100" dirty="0">
                <a:solidFill>
                  <a:schemeClr val="tx2"/>
                </a:solidFill>
              </a:rPr>
              <a:t>양수인 또는 </a:t>
            </a:r>
            <a:r>
              <a:rPr lang="ko-KR" altLang="en-US" sz="1100" dirty="0" err="1">
                <a:solidFill>
                  <a:schemeClr val="tx2"/>
                </a:solidFill>
              </a:rPr>
              <a:t>전득자가</a:t>
            </a:r>
            <a:r>
              <a:rPr lang="ko-KR" altLang="en-US" sz="1100" dirty="0">
                <a:solidFill>
                  <a:schemeClr val="tx2"/>
                </a:solidFill>
              </a:rPr>
              <a:t> 그 물건을 이용하여 해당 방법발명을 실시하는 것과 관련하여서 특허권이 소진되지 아니한다</a:t>
            </a:r>
            <a:r>
              <a:rPr lang="en-US" altLang="ko-KR" sz="1100" dirty="0">
                <a:solidFill>
                  <a:schemeClr val="accent3">
                    <a:lumMod val="50000"/>
                  </a:schemeClr>
                </a:solidFill>
                <a:highlight>
                  <a:srgbClr val="FFFF00"/>
                </a:highlight>
              </a:rPr>
              <a:t>(</a:t>
            </a:r>
            <a:r>
              <a:rPr lang="ko-KR" altLang="en-US" sz="1100" dirty="0">
                <a:solidFill>
                  <a:schemeClr val="accent3">
                    <a:lumMod val="50000"/>
                  </a:schemeClr>
                </a:solidFill>
                <a:highlight>
                  <a:srgbClr val="FFFF00"/>
                </a:highlight>
              </a:rPr>
              <a:t>제</a:t>
            </a:r>
            <a:r>
              <a:rPr lang="en-US" altLang="ko-KR" sz="1100" dirty="0">
                <a:solidFill>
                  <a:schemeClr val="accent3">
                    <a:lumMod val="50000"/>
                  </a:schemeClr>
                </a:solidFill>
                <a:highlight>
                  <a:srgbClr val="FFFF00"/>
                </a:highlight>
              </a:rPr>
              <a:t>99</a:t>
            </a:r>
            <a:r>
              <a:rPr lang="ko-KR" altLang="en-US" sz="1100" dirty="0">
                <a:solidFill>
                  <a:schemeClr val="accent3">
                    <a:lumMod val="50000"/>
                  </a:schemeClr>
                </a:solidFill>
                <a:highlight>
                  <a:srgbClr val="FFFF00"/>
                </a:highlight>
              </a:rPr>
              <a:t>조제</a:t>
            </a:r>
            <a:r>
              <a:rPr lang="en-US" altLang="ko-KR" sz="1100" dirty="0">
                <a:solidFill>
                  <a:schemeClr val="accent3">
                    <a:lumMod val="50000"/>
                  </a:schemeClr>
                </a:solidFill>
                <a:highlight>
                  <a:srgbClr val="FFFF00"/>
                </a:highlight>
              </a:rPr>
              <a:t>4</a:t>
            </a:r>
            <a:r>
              <a:rPr lang="ko-KR" altLang="en-US" sz="1100" dirty="0">
                <a:solidFill>
                  <a:schemeClr val="accent3">
                    <a:lumMod val="50000"/>
                  </a:schemeClr>
                </a:solidFill>
                <a:highlight>
                  <a:srgbClr val="FFFF00"/>
                </a:highlight>
              </a:rPr>
              <a:t>항의 무력화 방지</a:t>
            </a:r>
            <a:r>
              <a:rPr lang="en-US" altLang="ko-KR" sz="1100" dirty="0">
                <a:solidFill>
                  <a:schemeClr val="accent3">
                    <a:lumMod val="50000"/>
                  </a:schemeClr>
                </a:solidFill>
                <a:highlight>
                  <a:srgbClr val="FFFF00"/>
                </a:highlight>
              </a:rPr>
              <a:t>)</a:t>
            </a:r>
            <a:endParaRPr lang="ko-KR" altLang="en-US" sz="1100" dirty="0">
              <a:solidFill>
                <a:schemeClr val="accent3">
                  <a:lumMod val="50000"/>
                </a:schemeClr>
              </a:solidFill>
              <a:highlight>
                <a:srgbClr val="FFFF00"/>
              </a:highlight>
            </a:endParaRPr>
          </a:p>
        </p:txBody>
      </p:sp>
      <p:sp>
        <p:nvSpPr>
          <p:cNvPr id="12" name="직사각형 11"/>
          <p:cNvSpPr/>
          <p:nvPr/>
        </p:nvSpPr>
        <p:spPr>
          <a:xfrm>
            <a:off x="3940486" y="2744168"/>
            <a:ext cx="8152902" cy="938719"/>
          </a:xfrm>
          <a:prstGeom prst="rect">
            <a:avLst/>
          </a:prstGeom>
          <a:ln>
            <a:solidFill>
              <a:schemeClr val="bg1">
                <a:lumMod val="50000"/>
              </a:schemeClr>
            </a:solidFill>
          </a:ln>
        </p:spPr>
        <p:txBody>
          <a:bodyPr wrap="square">
            <a:spAutoFit/>
          </a:bodyPr>
          <a:lstStyle/>
          <a:p>
            <a:pPr fontAlgn="base"/>
            <a:r>
              <a:rPr lang="ko-KR" altLang="en-US" sz="1100" dirty="0"/>
              <a:t>권리소진은 특허권자가 특허제품의 판매를 적법하게 한 경우에 적용되기 </a:t>
            </a:r>
            <a:r>
              <a:rPr lang="ko-KR" altLang="en-US" sz="1100" dirty="0">
                <a:solidFill>
                  <a:schemeClr val="accent3">
                    <a:lumMod val="50000"/>
                  </a:schemeClr>
                </a:solidFill>
              </a:rPr>
              <a:t>때문에</a:t>
            </a:r>
            <a:r>
              <a:rPr lang="ko-KR" altLang="en-US" sz="1100" dirty="0">
                <a:solidFill>
                  <a:srgbClr val="FF0000"/>
                </a:solidFill>
              </a:rPr>
              <a:t> </a:t>
            </a:r>
            <a:r>
              <a:rPr lang="ko-KR" altLang="en-US" sz="1100" dirty="0"/>
              <a:t>특허제품을 판매할 때 조건을 부과하여 권리소진을 배제할 수 있는지 문제이다</a:t>
            </a:r>
            <a:r>
              <a:rPr lang="en-US" altLang="ko-KR" sz="1100" dirty="0"/>
              <a:t>. </a:t>
            </a:r>
            <a:r>
              <a:rPr lang="ko-KR" altLang="en-US" sz="1100" dirty="0">
                <a:highlight>
                  <a:srgbClr val="FFFF00"/>
                </a:highlight>
              </a:rPr>
              <a:t>특허권자가 특허제품을 판매할 때 특허권자의 권한 양도를 추정하는 것이 아니라</a:t>
            </a:r>
            <a:r>
              <a:rPr lang="en-US" altLang="ko-KR" sz="1100" dirty="0">
                <a:highlight>
                  <a:srgbClr val="FFFF00"/>
                </a:highlight>
              </a:rPr>
              <a:t> </a:t>
            </a:r>
            <a:r>
              <a:rPr lang="ko-KR" altLang="en-US" sz="1100" dirty="0">
                <a:highlight>
                  <a:srgbClr val="FFFF00"/>
                </a:highlight>
              </a:rPr>
              <a:t>특허권자의 권리범위를 제한하기 때문에 배제불가</a:t>
            </a:r>
            <a:r>
              <a:rPr lang="ko-KR" altLang="en-US" sz="1100" dirty="0"/>
              <a:t>라는 것이 일반적이다</a:t>
            </a:r>
            <a:r>
              <a:rPr lang="en-US" altLang="ko-KR" sz="1100" dirty="0"/>
              <a:t>. </a:t>
            </a:r>
            <a:r>
              <a:rPr lang="ko-KR" altLang="en-US" sz="1100" dirty="0"/>
              <a:t>우리나라는 이에 관한 사례가 아직 존재하지 않으나</a:t>
            </a:r>
            <a:r>
              <a:rPr lang="en-US" altLang="ko-KR" sz="1100" dirty="0"/>
              <a:t>, </a:t>
            </a:r>
            <a:r>
              <a:rPr lang="ko-KR" altLang="en-US" sz="1100" dirty="0"/>
              <a:t>만약 조건부 판매에 의하여 권리소진을 제한할 수 있다면 </a:t>
            </a:r>
            <a:r>
              <a:rPr lang="en-US" altLang="ko-KR" sz="1100" dirty="0"/>
              <a:t>ⅰ) </a:t>
            </a:r>
            <a:r>
              <a:rPr lang="ko-KR" altLang="en-US" sz="1100" dirty="0"/>
              <a:t>조건부 판매가 계약법적으로 유효한지 여부</a:t>
            </a:r>
            <a:r>
              <a:rPr lang="en-US" altLang="ko-KR" sz="1100" dirty="0"/>
              <a:t>, ⅱ) </a:t>
            </a:r>
            <a:r>
              <a:rPr lang="ko-KR" altLang="en-US" sz="1100" dirty="0"/>
              <a:t>계약법적으로 유효하더라도 특허권의 남용이나 독점금지법 등의 법률에 위반되는지 여부와 함께 검토되어야 할 것이다</a:t>
            </a:r>
            <a:r>
              <a:rPr lang="en-US" altLang="ko-KR" sz="1100" dirty="0"/>
              <a:t>. </a:t>
            </a:r>
            <a:endParaRPr lang="ko-KR" altLang="en-US" sz="1100" dirty="0"/>
          </a:p>
        </p:txBody>
      </p:sp>
      <p:cxnSp>
        <p:nvCxnSpPr>
          <p:cNvPr id="16" name="꺾인 연결선 15"/>
          <p:cNvCxnSpPr>
            <a:cxnSpLocks/>
            <a:stCxn id="23" idx="3"/>
            <a:endCxn id="27" idx="1"/>
          </p:cNvCxnSpPr>
          <p:nvPr/>
        </p:nvCxnSpPr>
        <p:spPr>
          <a:xfrm>
            <a:off x="2226733" y="3709527"/>
            <a:ext cx="545360" cy="82390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꺾인 연결선 17"/>
          <p:cNvCxnSpPr>
            <a:cxnSpLocks/>
            <a:stCxn id="23" idx="3"/>
            <a:endCxn id="32" idx="1"/>
          </p:cNvCxnSpPr>
          <p:nvPr/>
        </p:nvCxnSpPr>
        <p:spPr>
          <a:xfrm flipV="1">
            <a:off x="2226733" y="3213528"/>
            <a:ext cx="545360" cy="49599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cxnSpLocks/>
            <a:stCxn id="23" idx="3"/>
            <a:endCxn id="28" idx="1"/>
          </p:cNvCxnSpPr>
          <p:nvPr/>
        </p:nvCxnSpPr>
        <p:spPr>
          <a:xfrm>
            <a:off x="2226733" y="3709527"/>
            <a:ext cx="545360" cy="239182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꺾인 연결선 33"/>
          <p:cNvCxnSpPr>
            <a:cxnSpLocks/>
            <a:stCxn id="23" idx="3"/>
            <a:endCxn id="29" idx="1"/>
          </p:cNvCxnSpPr>
          <p:nvPr/>
        </p:nvCxnSpPr>
        <p:spPr>
          <a:xfrm flipV="1">
            <a:off x="2226733" y="2246666"/>
            <a:ext cx="545360" cy="146286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F1A53DA1-17DD-4A5C-8016-7DBB3C4B2FAC}"/>
              </a:ext>
            </a:extLst>
          </p:cNvPr>
          <p:cNvSpPr txBox="1"/>
          <p:nvPr/>
        </p:nvSpPr>
        <p:spPr>
          <a:xfrm>
            <a:off x="182877" y="1100368"/>
            <a:ext cx="832279" cy="307777"/>
          </a:xfrm>
          <a:prstGeom prst="rect">
            <a:avLst/>
          </a:prstGeom>
          <a:noFill/>
        </p:spPr>
        <p:txBody>
          <a:bodyPr wrap="none" rtlCol="0">
            <a:spAutoFit/>
          </a:bodyPr>
          <a:lstStyle/>
          <a:p>
            <a:r>
              <a:rPr lang="ko-KR" altLang="en-US" sz="1400" dirty="0"/>
              <a:t>특허권자</a:t>
            </a:r>
          </a:p>
        </p:txBody>
      </p:sp>
      <p:sp>
        <p:nvSpPr>
          <p:cNvPr id="31" name="TextBox 30">
            <a:extLst>
              <a:ext uri="{FF2B5EF4-FFF2-40B4-BE49-F238E27FC236}">
                <a16:creationId xmlns:a16="http://schemas.microsoft.com/office/drawing/2014/main" id="{58BE72FB-6166-497D-820F-E3580178B75E}"/>
              </a:ext>
            </a:extLst>
          </p:cNvPr>
          <p:cNvSpPr txBox="1"/>
          <p:nvPr/>
        </p:nvSpPr>
        <p:spPr>
          <a:xfrm>
            <a:off x="1752192" y="1117787"/>
            <a:ext cx="670376" cy="307777"/>
          </a:xfrm>
          <a:prstGeom prst="rect">
            <a:avLst/>
          </a:prstGeom>
          <a:noFill/>
        </p:spPr>
        <p:txBody>
          <a:bodyPr wrap="none" rtlCol="0">
            <a:spAutoFit/>
          </a:bodyPr>
          <a:lstStyle/>
          <a:p>
            <a:r>
              <a:rPr lang="ko-KR" altLang="en-US" sz="1400" dirty="0"/>
              <a:t>양수인</a:t>
            </a:r>
          </a:p>
        </p:txBody>
      </p:sp>
      <p:sp>
        <p:nvSpPr>
          <p:cNvPr id="33" name="TextBox 32">
            <a:extLst>
              <a:ext uri="{FF2B5EF4-FFF2-40B4-BE49-F238E27FC236}">
                <a16:creationId xmlns:a16="http://schemas.microsoft.com/office/drawing/2014/main" id="{C8894784-B227-4ED2-9987-4261AB713A83}"/>
              </a:ext>
            </a:extLst>
          </p:cNvPr>
          <p:cNvSpPr txBox="1"/>
          <p:nvPr/>
        </p:nvSpPr>
        <p:spPr>
          <a:xfrm>
            <a:off x="252547" y="1430677"/>
            <a:ext cx="598241" cy="276999"/>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r>
              <a:rPr lang="ko-KR" altLang="en-US" sz="1200" dirty="0"/>
              <a:t>특허권</a:t>
            </a:r>
          </a:p>
        </p:txBody>
      </p:sp>
      <p:sp>
        <p:nvSpPr>
          <p:cNvPr id="35" name="TextBox 34">
            <a:extLst>
              <a:ext uri="{FF2B5EF4-FFF2-40B4-BE49-F238E27FC236}">
                <a16:creationId xmlns:a16="http://schemas.microsoft.com/office/drawing/2014/main" id="{DEEB2988-AAD1-4E67-81D9-196F1A2D245C}"/>
              </a:ext>
            </a:extLst>
          </p:cNvPr>
          <p:cNvSpPr txBox="1"/>
          <p:nvPr/>
        </p:nvSpPr>
        <p:spPr>
          <a:xfrm>
            <a:off x="252547" y="1706786"/>
            <a:ext cx="598241" cy="276999"/>
          </a:xfrm>
          <a:prstGeom prst="rect">
            <a:avLst/>
          </a:prstGeom>
          <a:solidFill>
            <a:schemeClr val="accent2"/>
          </a:solidFill>
          <a:ln>
            <a:solidFill>
              <a:schemeClr val="bg1">
                <a:lumMod val="50000"/>
              </a:schemeClr>
            </a:solidFill>
          </a:ln>
        </p:spPr>
        <p:txBody>
          <a:bodyPr wrap="none" rtlCol="0">
            <a:spAutoFit/>
          </a:bodyPr>
          <a:lstStyle/>
          <a:p>
            <a:r>
              <a:rPr lang="ko-KR" altLang="en-US" sz="1200" dirty="0"/>
              <a:t>소유권</a:t>
            </a:r>
          </a:p>
        </p:txBody>
      </p:sp>
      <p:cxnSp>
        <p:nvCxnSpPr>
          <p:cNvPr id="30" name="직선 화살표 연결선 29">
            <a:extLst>
              <a:ext uri="{FF2B5EF4-FFF2-40B4-BE49-F238E27FC236}">
                <a16:creationId xmlns:a16="http://schemas.microsoft.com/office/drawing/2014/main" id="{D75221A7-EF00-4EA4-9955-B31378273D26}"/>
              </a:ext>
            </a:extLst>
          </p:cNvPr>
          <p:cNvCxnSpPr>
            <a:cxnSpLocks/>
          </p:cNvCxnSpPr>
          <p:nvPr/>
        </p:nvCxnSpPr>
        <p:spPr>
          <a:xfrm>
            <a:off x="997738" y="1645824"/>
            <a:ext cx="676075"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E1541500-C4A4-4DC4-A60C-66AFFD266F70}"/>
              </a:ext>
            </a:extLst>
          </p:cNvPr>
          <p:cNvSpPr txBox="1"/>
          <p:nvPr/>
        </p:nvSpPr>
        <p:spPr>
          <a:xfrm>
            <a:off x="968083" y="1331369"/>
            <a:ext cx="691215" cy="600164"/>
          </a:xfrm>
          <a:prstGeom prst="rect">
            <a:avLst/>
          </a:prstGeom>
          <a:noFill/>
        </p:spPr>
        <p:txBody>
          <a:bodyPr wrap="none" rtlCol="0">
            <a:spAutoFit/>
          </a:bodyPr>
          <a:lstStyle/>
          <a:p>
            <a:pPr algn="ctr">
              <a:lnSpc>
                <a:spcPct val="150000"/>
              </a:lnSpc>
            </a:pPr>
            <a:r>
              <a:rPr lang="ko-KR" altLang="en-US" sz="1100" dirty="0">
                <a:solidFill>
                  <a:schemeClr val="accent1"/>
                </a:solidFill>
              </a:rPr>
              <a:t>특허제품</a:t>
            </a:r>
            <a:endParaRPr lang="en-US" altLang="ko-KR" sz="1100" dirty="0">
              <a:solidFill>
                <a:schemeClr val="accent1"/>
              </a:solidFill>
            </a:endParaRPr>
          </a:p>
          <a:p>
            <a:pPr algn="ctr">
              <a:lnSpc>
                <a:spcPct val="150000"/>
              </a:lnSpc>
            </a:pPr>
            <a:r>
              <a:rPr lang="ko-KR" altLang="en-US" sz="1100" dirty="0">
                <a:solidFill>
                  <a:schemeClr val="accent1"/>
                </a:solidFill>
              </a:rPr>
              <a:t>판매</a:t>
            </a:r>
          </a:p>
        </p:txBody>
      </p:sp>
      <p:sp>
        <p:nvSpPr>
          <p:cNvPr id="41" name="TextBox 40">
            <a:extLst>
              <a:ext uri="{FF2B5EF4-FFF2-40B4-BE49-F238E27FC236}">
                <a16:creationId xmlns:a16="http://schemas.microsoft.com/office/drawing/2014/main" id="{31FF8D70-3460-4E73-86F3-B68C79D5C01A}"/>
              </a:ext>
            </a:extLst>
          </p:cNvPr>
          <p:cNvSpPr txBox="1"/>
          <p:nvPr/>
        </p:nvSpPr>
        <p:spPr>
          <a:xfrm>
            <a:off x="1782645" y="1513773"/>
            <a:ext cx="598241" cy="276999"/>
          </a:xfrm>
          <a:prstGeom prst="rect">
            <a:avLst/>
          </a:prstGeom>
          <a:solidFill>
            <a:schemeClr val="accent2"/>
          </a:solidFill>
          <a:ln>
            <a:solidFill>
              <a:schemeClr val="bg1">
                <a:lumMod val="50000"/>
              </a:schemeClr>
            </a:solidFill>
          </a:ln>
        </p:spPr>
        <p:txBody>
          <a:bodyPr wrap="none" rtlCol="0">
            <a:spAutoFit/>
          </a:bodyPr>
          <a:lstStyle/>
          <a:p>
            <a:r>
              <a:rPr lang="ko-KR" altLang="en-US" sz="1200" dirty="0"/>
              <a:t>소유권</a:t>
            </a:r>
          </a:p>
        </p:txBody>
      </p:sp>
      <p:cxnSp>
        <p:nvCxnSpPr>
          <p:cNvPr id="44" name="연결선: 꺾임 43">
            <a:extLst>
              <a:ext uri="{FF2B5EF4-FFF2-40B4-BE49-F238E27FC236}">
                <a16:creationId xmlns:a16="http://schemas.microsoft.com/office/drawing/2014/main" id="{DA265B91-23C1-4C1F-A842-C64018B8A41D}"/>
              </a:ext>
            </a:extLst>
          </p:cNvPr>
          <p:cNvCxnSpPr>
            <a:stCxn id="35" idx="2"/>
            <a:endCxn id="41" idx="2"/>
          </p:cNvCxnSpPr>
          <p:nvPr/>
        </p:nvCxnSpPr>
        <p:spPr>
          <a:xfrm rot="5400000" flipH="1" flipV="1">
            <a:off x="1220210" y="1122230"/>
            <a:ext cx="193013" cy="1530098"/>
          </a:xfrm>
          <a:prstGeom prst="bentConnector3">
            <a:avLst>
              <a:gd name="adj1" fmla="val -118438"/>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EE7A7CFD-E726-4D0D-933B-B2B2F1FF620C}"/>
              </a:ext>
            </a:extLst>
          </p:cNvPr>
          <p:cNvSpPr txBox="1"/>
          <p:nvPr/>
        </p:nvSpPr>
        <p:spPr>
          <a:xfrm>
            <a:off x="1059701" y="2160763"/>
            <a:ext cx="437940" cy="320601"/>
          </a:xfrm>
          <a:prstGeom prst="rect">
            <a:avLst/>
          </a:prstGeom>
          <a:noFill/>
        </p:spPr>
        <p:txBody>
          <a:bodyPr wrap="none" rtlCol="0">
            <a:spAutoFit/>
          </a:bodyPr>
          <a:lstStyle/>
          <a:p>
            <a:pPr algn="ctr">
              <a:lnSpc>
                <a:spcPct val="150000"/>
              </a:lnSpc>
            </a:pPr>
            <a:r>
              <a:rPr lang="ko-KR" altLang="en-US" sz="1100" dirty="0">
                <a:solidFill>
                  <a:schemeClr val="tx2"/>
                </a:solidFill>
              </a:rPr>
              <a:t>이전</a:t>
            </a:r>
          </a:p>
        </p:txBody>
      </p:sp>
      <p:sp>
        <p:nvSpPr>
          <p:cNvPr id="5" name="타원 4">
            <a:extLst>
              <a:ext uri="{FF2B5EF4-FFF2-40B4-BE49-F238E27FC236}">
                <a16:creationId xmlns:a16="http://schemas.microsoft.com/office/drawing/2014/main" id="{DEC7CD6E-7C14-3FBD-0703-FAE10130D4FF}"/>
              </a:ext>
            </a:extLst>
          </p:cNvPr>
          <p:cNvSpPr/>
          <p:nvPr/>
        </p:nvSpPr>
        <p:spPr>
          <a:xfrm>
            <a:off x="2604453" y="2081983"/>
            <a:ext cx="335280" cy="335280"/>
          </a:xfrm>
          <a:prstGeom prst="ellipse">
            <a:avLst/>
          </a:prstGeom>
          <a:solidFill>
            <a:schemeClr val="accent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15" name="직사각형 14">
            <a:extLst>
              <a:ext uri="{FF2B5EF4-FFF2-40B4-BE49-F238E27FC236}">
                <a16:creationId xmlns:a16="http://schemas.microsoft.com/office/drawing/2014/main" id="{3B1AEFEC-D096-6B30-3DCD-039C66D51535}"/>
              </a:ext>
            </a:extLst>
          </p:cNvPr>
          <p:cNvSpPr/>
          <p:nvPr/>
        </p:nvSpPr>
        <p:spPr>
          <a:xfrm>
            <a:off x="2772093" y="978845"/>
            <a:ext cx="1168393" cy="756992"/>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실시권자의</a:t>
            </a:r>
            <a:endParaRPr lang="en-US" altLang="ko-KR" sz="1400" dirty="0">
              <a:solidFill>
                <a:schemeClr val="tx1"/>
              </a:solidFill>
            </a:endParaRPr>
          </a:p>
          <a:p>
            <a:pPr algn="ctr"/>
            <a:r>
              <a:rPr lang="ko-KR" altLang="en-US" sz="1400" dirty="0">
                <a:solidFill>
                  <a:schemeClr val="tx1"/>
                </a:solidFill>
              </a:rPr>
              <a:t>계약조건</a:t>
            </a:r>
            <a:endParaRPr lang="en-US" altLang="ko-KR" sz="1400" dirty="0">
              <a:solidFill>
                <a:schemeClr val="tx1"/>
              </a:solidFill>
            </a:endParaRPr>
          </a:p>
          <a:p>
            <a:pPr algn="ctr"/>
            <a:r>
              <a:rPr lang="ko-KR" altLang="en-US" sz="1400" dirty="0">
                <a:solidFill>
                  <a:schemeClr val="tx1"/>
                </a:solidFill>
              </a:rPr>
              <a:t>위반</a:t>
            </a:r>
          </a:p>
        </p:txBody>
      </p:sp>
      <p:sp>
        <p:nvSpPr>
          <p:cNvPr id="17" name="직사각형 16">
            <a:extLst>
              <a:ext uri="{FF2B5EF4-FFF2-40B4-BE49-F238E27FC236}">
                <a16:creationId xmlns:a16="http://schemas.microsoft.com/office/drawing/2014/main" id="{5C10220A-A66E-650E-EB83-351B70E78B8C}"/>
              </a:ext>
            </a:extLst>
          </p:cNvPr>
          <p:cNvSpPr/>
          <p:nvPr/>
        </p:nvSpPr>
        <p:spPr>
          <a:xfrm>
            <a:off x="3940485" y="978845"/>
            <a:ext cx="8152903" cy="769441"/>
          </a:xfrm>
          <a:prstGeom prst="rect">
            <a:avLst/>
          </a:prstGeom>
          <a:ln>
            <a:solidFill>
              <a:schemeClr val="bg1">
                <a:lumMod val="50000"/>
              </a:schemeClr>
            </a:solidFill>
          </a:ln>
        </p:spPr>
        <p:txBody>
          <a:bodyPr wrap="square">
            <a:spAutoFit/>
          </a:bodyPr>
          <a:lstStyle/>
          <a:p>
            <a:pPr fontAlgn="base"/>
            <a:r>
              <a:rPr lang="ko-KR" altLang="en-US" sz="1100" dirty="0" err="1">
                <a:solidFill>
                  <a:schemeClr val="tx2"/>
                </a:solidFill>
              </a:rPr>
              <a:t>실시권자가</a:t>
            </a:r>
            <a:r>
              <a:rPr lang="ko-KR" altLang="en-US" sz="1100" dirty="0">
                <a:solidFill>
                  <a:schemeClr val="tx2"/>
                </a:solidFill>
              </a:rPr>
              <a:t> 실시권의 제한조건을 벗어나서 판매한 경우에는 실시권의 제한조건이 </a:t>
            </a:r>
            <a:r>
              <a:rPr lang="ko-KR" altLang="en-US" sz="1100" dirty="0" err="1">
                <a:solidFill>
                  <a:schemeClr val="tx2"/>
                </a:solidFill>
              </a:rPr>
              <a:t>위법하다거나</a:t>
            </a:r>
            <a:r>
              <a:rPr lang="ko-KR" altLang="en-US" sz="1100" dirty="0">
                <a:solidFill>
                  <a:schemeClr val="tx2"/>
                </a:solidFill>
              </a:rPr>
              <a:t> 무효인 경우를 제외하고는</a:t>
            </a:r>
            <a:r>
              <a:rPr lang="en-US" altLang="ko-KR" sz="1100" dirty="0">
                <a:solidFill>
                  <a:schemeClr val="tx2"/>
                </a:solidFill>
              </a:rPr>
              <a:t>, </a:t>
            </a:r>
            <a:r>
              <a:rPr lang="ko-KR" altLang="en-US" sz="1100" dirty="0">
                <a:solidFill>
                  <a:schemeClr val="tx2"/>
                </a:solidFill>
              </a:rPr>
              <a:t>권리소진의 효과가 발생하지 않아서 특허권의 침해가 된다</a:t>
            </a:r>
            <a:r>
              <a:rPr lang="en-US" altLang="ko-KR" sz="1100" dirty="0">
                <a:solidFill>
                  <a:schemeClr val="tx2"/>
                </a:solidFill>
              </a:rPr>
              <a:t>. </a:t>
            </a:r>
            <a:r>
              <a:rPr lang="ko-KR" altLang="en-US" sz="1100" dirty="0">
                <a:solidFill>
                  <a:schemeClr val="tx2"/>
                </a:solidFill>
              </a:rPr>
              <a:t>다만</a:t>
            </a:r>
            <a:r>
              <a:rPr lang="en-US" altLang="ko-KR" sz="1100" dirty="0">
                <a:solidFill>
                  <a:schemeClr val="tx2"/>
                </a:solidFill>
              </a:rPr>
              <a:t>, </a:t>
            </a:r>
            <a:r>
              <a:rPr lang="ko-KR" altLang="en-US" sz="1100" dirty="0">
                <a:solidFill>
                  <a:schemeClr val="tx2"/>
                </a:solidFill>
                <a:highlight>
                  <a:srgbClr val="FFFF00"/>
                </a:highlight>
              </a:rPr>
              <a:t>계약상 부수적인 제한조건을 위반</a:t>
            </a:r>
            <a:r>
              <a:rPr lang="ko-KR" altLang="en-US" sz="1100" dirty="0">
                <a:solidFill>
                  <a:schemeClr val="tx2"/>
                </a:solidFill>
              </a:rPr>
              <a:t>하여 판매한 경우에는 일률적으로 특허권자의 동의를 받지 않은 양도행위로서 권리소진의 원칙이 배제된다고 볼 수는 없고</a:t>
            </a:r>
            <a:r>
              <a:rPr lang="en-US" altLang="ko-KR" sz="1100" dirty="0">
                <a:solidFill>
                  <a:schemeClr val="tx2"/>
                </a:solidFill>
              </a:rPr>
              <a:t>, </a:t>
            </a:r>
            <a:r>
              <a:rPr lang="en-US" altLang="ko-KR" sz="1100" dirty="0">
                <a:solidFill>
                  <a:schemeClr val="tx2"/>
                </a:solidFill>
                <a:highlight>
                  <a:srgbClr val="FFFF00"/>
                </a:highlight>
              </a:rPr>
              <a:t>ⅰ) </a:t>
            </a:r>
            <a:r>
              <a:rPr lang="ko-KR" altLang="en-US" sz="1100" dirty="0">
                <a:solidFill>
                  <a:schemeClr val="tx2"/>
                </a:solidFill>
                <a:highlight>
                  <a:srgbClr val="FFFF00"/>
                </a:highlight>
              </a:rPr>
              <a:t>계약의 구체적인 내용</a:t>
            </a:r>
            <a:r>
              <a:rPr lang="en-US" altLang="ko-KR" sz="1100" dirty="0">
                <a:solidFill>
                  <a:schemeClr val="tx2"/>
                </a:solidFill>
                <a:highlight>
                  <a:srgbClr val="FFFF00"/>
                </a:highlight>
              </a:rPr>
              <a:t>, ⅱ) </a:t>
            </a:r>
            <a:r>
              <a:rPr lang="ko-KR" altLang="en-US" sz="1100" dirty="0">
                <a:solidFill>
                  <a:schemeClr val="tx2"/>
                </a:solidFill>
                <a:highlight>
                  <a:srgbClr val="FFFF00"/>
                </a:highlight>
              </a:rPr>
              <a:t>특허권자가 판매로 보상을 받았음에도 추가적인 유통을 금지할 이익과 </a:t>
            </a:r>
            <a:r>
              <a:rPr lang="en-US" altLang="ko-KR" sz="1100" dirty="0">
                <a:solidFill>
                  <a:schemeClr val="tx2"/>
                </a:solidFill>
                <a:highlight>
                  <a:srgbClr val="FFFF00"/>
                </a:highlight>
              </a:rPr>
              <a:t>ⅲ) </a:t>
            </a:r>
            <a:r>
              <a:rPr lang="ko-KR" altLang="en-US" sz="1100" dirty="0">
                <a:solidFill>
                  <a:schemeClr val="tx2"/>
                </a:solidFill>
                <a:highlight>
                  <a:srgbClr val="FFFF00"/>
                </a:highlight>
              </a:rPr>
              <a:t>특허제품을 구입한 수요자 보호의 필요성 등을 종합하여 권리소진 여부를 판단</a:t>
            </a:r>
            <a:r>
              <a:rPr lang="ko-KR" altLang="en-US" sz="1100" dirty="0">
                <a:solidFill>
                  <a:schemeClr val="tx2"/>
                </a:solidFill>
              </a:rPr>
              <a:t>하여야 한다</a:t>
            </a:r>
            <a:r>
              <a:rPr lang="en-US" altLang="ko-KR" sz="1100" dirty="0">
                <a:solidFill>
                  <a:schemeClr val="tx2"/>
                </a:solidFill>
              </a:rPr>
              <a:t>.</a:t>
            </a:r>
            <a:endParaRPr lang="ko-KR" altLang="en-US" sz="1100" dirty="0">
              <a:solidFill>
                <a:schemeClr val="accent3">
                  <a:lumMod val="50000"/>
                </a:schemeClr>
              </a:solidFill>
              <a:highlight>
                <a:srgbClr val="FFFF00"/>
              </a:highlight>
            </a:endParaRPr>
          </a:p>
        </p:txBody>
      </p:sp>
      <p:cxnSp>
        <p:nvCxnSpPr>
          <p:cNvPr id="19" name="꺾인 연결선 33">
            <a:extLst>
              <a:ext uri="{FF2B5EF4-FFF2-40B4-BE49-F238E27FC236}">
                <a16:creationId xmlns:a16="http://schemas.microsoft.com/office/drawing/2014/main" id="{51FB009F-CE47-144D-C8E6-D29CBE33A0D4}"/>
              </a:ext>
            </a:extLst>
          </p:cNvPr>
          <p:cNvCxnSpPr>
            <a:cxnSpLocks/>
            <a:stCxn id="23" idx="3"/>
            <a:endCxn id="15" idx="1"/>
          </p:cNvCxnSpPr>
          <p:nvPr/>
        </p:nvCxnSpPr>
        <p:spPr>
          <a:xfrm flipV="1">
            <a:off x="2226733" y="1357341"/>
            <a:ext cx="545360" cy="2352186"/>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타원 39">
            <a:extLst>
              <a:ext uri="{FF2B5EF4-FFF2-40B4-BE49-F238E27FC236}">
                <a16:creationId xmlns:a16="http://schemas.microsoft.com/office/drawing/2014/main" id="{195AD9EB-D6BF-F001-8FFA-27C3B3D6154A}"/>
              </a:ext>
            </a:extLst>
          </p:cNvPr>
          <p:cNvSpPr/>
          <p:nvPr/>
        </p:nvSpPr>
        <p:spPr>
          <a:xfrm>
            <a:off x="2604453" y="1194387"/>
            <a:ext cx="335280" cy="335280"/>
          </a:xfrm>
          <a:prstGeom prst="ellipse">
            <a:avLst/>
          </a:prstGeom>
          <a:solidFill>
            <a:schemeClr val="accent3">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42" name="타원 41">
            <a:extLst>
              <a:ext uri="{FF2B5EF4-FFF2-40B4-BE49-F238E27FC236}">
                <a16:creationId xmlns:a16="http://schemas.microsoft.com/office/drawing/2014/main" id="{7B113673-0345-D191-3192-413F9C62CA22}"/>
              </a:ext>
            </a:extLst>
          </p:cNvPr>
          <p:cNvSpPr/>
          <p:nvPr/>
        </p:nvSpPr>
        <p:spPr>
          <a:xfrm>
            <a:off x="2604453" y="3048845"/>
            <a:ext cx="335280" cy="335280"/>
          </a:xfrm>
          <a:prstGeom prst="ellipse">
            <a:avLst/>
          </a:prstGeom>
          <a:solidFill>
            <a:schemeClr val="accent6">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43" name="타원 42">
            <a:extLst>
              <a:ext uri="{FF2B5EF4-FFF2-40B4-BE49-F238E27FC236}">
                <a16:creationId xmlns:a16="http://schemas.microsoft.com/office/drawing/2014/main" id="{3AB2786A-3E40-6900-0C41-521892D289DA}"/>
              </a:ext>
            </a:extLst>
          </p:cNvPr>
          <p:cNvSpPr/>
          <p:nvPr/>
        </p:nvSpPr>
        <p:spPr>
          <a:xfrm>
            <a:off x="2604453" y="4362989"/>
            <a:ext cx="335280" cy="335280"/>
          </a:xfrm>
          <a:prstGeom prst="ellipse">
            <a:avLst/>
          </a:prstGeom>
          <a:solidFill>
            <a:schemeClr val="accent6">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46" name="타원 45">
            <a:extLst>
              <a:ext uri="{FF2B5EF4-FFF2-40B4-BE49-F238E27FC236}">
                <a16:creationId xmlns:a16="http://schemas.microsoft.com/office/drawing/2014/main" id="{1C3F969E-090B-3F02-18AD-A188E1E64AE9}"/>
              </a:ext>
            </a:extLst>
          </p:cNvPr>
          <p:cNvSpPr/>
          <p:nvPr/>
        </p:nvSpPr>
        <p:spPr>
          <a:xfrm>
            <a:off x="2604453" y="5928850"/>
            <a:ext cx="335280" cy="335280"/>
          </a:xfrm>
          <a:prstGeom prst="ellipse">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dirty="0"/>
              <a:t>4</a:t>
            </a:r>
            <a:endParaRPr lang="ko-KR" altLang="en-US" dirty="0"/>
          </a:p>
        </p:txBody>
      </p:sp>
    </p:spTree>
    <p:extLst>
      <p:ext uri="{BB962C8B-B14F-4D97-AF65-F5344CB8AC3E}">
        <p14:creationId xmlns:p14="http://schemas.microsoft.com/office/powerpoint/2010/main" val="429767619"/>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94</a:t>
            </a:r>
            <a:r>
              <a:rPr lang="ko-KR" altLang="en-US" dirty="0"/>
              <a:t>조</a:t>
            </a:r>
            <a:r>
              <a:rPr lang="en-US" altLang="ko-KR" dirty="0"/>
              <a:t>~</a:t>
            </a:r>
            <a:r>
              <a:rPr lang="ko-KR" altLang="en-US" dirty="0"/>
              <a:t>제</a:t>
            </a:r>
            <a:r>
              <a:rPr lang="en-US" altLang="ko-KR" dirty="0"/>
              <a:t>96</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권리소진에 의한 제한</a:t>
            </a:r>
            <a:r>
              <a:rPr lang="en-US" altLang="ko-KR" dirty="0">
                <a:solidFill>
                  <a:schemeClr val="tx1">
                    <a:lumMod val="65000"/>
                    <a:lumOff val="35000"/>
                  </a:schemeClr>
                </a:solidFill>
              </a:rPr>
              <a:t>: </a:t>
            </a:r>
            <a:r>
              <a:rPr lang="ko-KR" altLang="en-US" dirty="0">
                <a:solidFill>
                  <a:schemeClr val="tx1">
                    <a:lumMod val="65000"/>
                    <a:lumOff val="35000"/>
                  </a:schemeClr>
                </a:solidFill>
              </a:rPr>
              <a:t>외국에서 판매</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308</a:t>
            </a:r>
            <a:endParaRPr lang="ko-KR" altLang="en-US"/>
          </a:p>
        </p:txBody>
      </p:sp>
      <p:sp>
        <p:nvSpPr>
          <p:cNvPr id="5" name="TextBox 4">
            <a:extLst>
              <a:ext uri="{FF2B5EF4-FFF2-40B4-BE49-F238E27FC236}">
                <a16:creationId xmlns:a16="http://schemas.microsoft.com/office/drawing/2014/main" id="{D772623E-4D4B-4741-9B6B-301711A6033C}"/>
              </a:ext>
            </a:extLst>
          </p:cNvPr>
          <p:cNvSpPr txBox="1"/>
          <p:nvPr/>
        </p:nvSpPr>
        <p:spPr>
          <a:xfrm>
            <a:off x="1295920" y="2104420"/>
            <a:ext cx="1515292" cy="369332"/>
          </a:xfrm>
          <a:prstGeom prst="rect">
            <a:avLst/>
          </a:prstGeom>
          <a:solidFill>
            <a:schemeClr val="tx2">
              <a:lumMod val="20000"/>
              <a:lumOff val="80000"/>
            </a:schemeClr>
          </a:solidFill>
          <a:ln>
            <a:solidFill>
              <a:schemeClr val="bg1">
                <a:lumMod val="50000"/>
              </a:schemeClr>
            </a:solidFill>
          </a:ln>
        </p:spPr>
        <p:txBody>
          <a:bodyPr wrap="square" rtlCol="0" anchor="ctr">
            <a:noAutofit/>
          </a:bodyPr>
          <a:lstStyle/>
          <a:p>
            <a:pPr algn="ctr"/>
            <a:r>
              <a:rPr lang="ko-KR" altLang="en-US" dirty="0"/>
              <a:t>한국</a:t>
            </a:r>
          </a:p>
        </p:txBody>
      </p:sp>
      <p:sp>
        <p:nvSpPr>
          <p:cNvPr id="38" name="TextBox 37">
            <a:extLst>
              <a:ext uri="{FF2B5EF4-FFF2-40B4-BE49-F238E27FC236}">
                <a16:creationId xmlns:a16="http://schemas.microsoft.com/office/drawing/2014/main" id="{1E39D742-C841-486D-AF46-4239D6038C46}"/>
              </a:ext>
            </a:extLst>
          </p:cNvPr>
          <p:cNvSpPr txBox="1"/>
          <p:nvPr/>
        </p:nvSpPr>
        <p:spPr>
          <a:xfrm>
            <a:off x="1295920" y="2473751"/>
            <a:ext cx="1515292" cy="1003098"/>
          </a:xfrm>
          <a:prstGeom prst="rect">
            <a:avLst/>
          </a:prstGeom>
          <a:noFill/>
          <a:ln>
            <a:solidFill>
              <a:schemeClr val="bg1">
                <a:lumMod val="50000"/>
              </a:schemeClr>
            </a:solidFill>
          </a:ln>
        </p:spPr>
        <p:txBody>
          <a:bodyPr wrap="square" rtlCol="0" anchor="ctr">
            <a:noAutofit/>
          </a:bodyPr>
          <a:lstStyle/>
          <a:p>
            <a:endParaRPr lang="ko-KR" altLang="en-US" sz="1400" dirty="0"/>
          </a:p>
        </p:txBody>
      </p:sp>
      <p:sp>
        <p:nvSpPr>
          <p:cNvPr id="39" name="TextBox 38">
            <a:extLst>
              <a:ext uri="{FF2B5EF4-FFF2-40B4-BE49-F238E27FC236}">
                <a16:creationId xmlns:a16="http://schemas.microsoft.com/office/drawing/2014/main" id="{22795BC1-808B-43E6-8770-6A6EBA31D7CD}"/>
              </a:ext>
            </a:extLst>
          </p:cNvPr>
          <p:cNvSpPr txBox="1"/>
          <p:nvPr/>
        </p:nvSpPr>
        <p:spPr>
          <a:xfrm>
            <a:off x="3392872" y="2104420"/>
            <a:ext cx="1515292" cy="369332"/>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dirty="0"/>
              <a:t>외국</a:t>
            </a:r>
          </a:p>
        </p:txBody>
      </p:sp>
      <p:sp>
        <p:nvSpPr>
          <p:cNvPr id="40" name="TextBox 39">
            <a:extLst>
              <a:ext uri="{FF2B5EF4-FFF2-40B4-BE49-F238E27FC236}">
                <a16:creationId xmlns:a16="http://schemas.microsoft.com/office/drawing/2014/main" id="{AFCA6984-C33C-4303-94DD-1F1BA5773746}"/>
              </a:ext>
            </a:extLst>
          </p:cNvPr>
          <p:cNvSpPr txBox="1"/>
          <p:nvPr/>
        </p:nvSpPr>
        <p:spPr>
          <a:xfrm>
            <a:off x="3392872" y="2473751"/>
            <a:ext cx="1515292" cy="1003098"/>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endParaRPr lang="en-US" altLang="ko-KR" sz="1400" dirty="0"/>
          </a:p>
          <a:p>
            <a:endParaRPr lang="ko-KR" altLang="en-US" sz="1400" dirty="0"/>
          </a:p>
        </p:txBody>
      </p:sp>
      <p:sp>
        <p:nvSpPr>
          <p:cNvPr id="7" name="타원 6">
            <a:extLst>
              <a:ext uri="{FF2B5EF4-FFF2-40B4-BE49-F238E27FC236}">
                <a16:creationId xmlns:a16="http://schemas.microsoft.com/office/drawing/2014/main" id="{D869C6F1-50B3-46AC-AD21-7F896CF9EC5F}"/>
              </a:ext>
            </a:extLst>
          </p:cNvPr>
          <p:cNvSpPr/>
          <p:nvPr/>
        </p:nvSpPr>
        <p:spPr>
          <a:xfrm>
            <a:off x="1443967" y="2566866"/>
            <a:ext cx="370857" cy="369333"/>
          </a:xfrm>
          <a:prstGeom prst="ellipse">
            <a:avLst/>
          </a:prstGeom>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갑</a:t>
            </a:r>
          </a:p>
        </p:txBody>
      </p:sp>
      <p:sp>
        <p:nvSpPr>
          <p:cNvPr id="42" name="타원 41">
            <a:extLst>
              <a:ext uri="{FF2B5EF4-FFF2-40B4-BE49-F238E27FC236}">
                <a16:creationId xmlns:a16="http://schemas.microsoft.com/office/drawing/2014/main" id="{240921BE-7F77-4A3A-9ECD-CF672DEB17A0}"/>
              </a:ext>
            </a:extLst>
          </p:cNvPr>
          <p:cNvSpPr/>
          <p:nvPr/>
        </p:nvSpPr>
        <p:spPr>
          <a:xfrm>
            <a:off x="3537636" y="2566866"/>
            <a:ext cx="370857" cy="369333"/>
          </a:xfrm>
          <a:prstGeom prst="ellipse">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을</a:t>
            </a:r>
          </a:p>
        </p:txBody>
      </p:sp>
      <p:sp>
        <p:nvSpPr>
          <p:cNvPr id="43" name="타원 42">
            <a:extLst>
              <a:ext uri="{FF2B5EF4-FFF2-40B4-BE49-F238E27FC236}">
                <a16:creationId xmlns:a16="http://schemas.microsoft.com/office/drawing/2014/main" id="{2D472FFB-7076-40EC-9893-DB247B1E8F6D}"/>
              </a:ext>
            </a:extLst>
          </p:cNvPr>
          <p:cNvSpPr/>
          <p:nvPr/>
        </p:nvSpPr>
        <p:spPr>
          <a:xfrm>
            <a:off x="3537636" y="3073526"/>
            <a:ext cx="370857" cy="369333"/>
          </a:xfrm>
          <a:prstGeom prst="ellipse">
            <a:avLst/>
          </a:prstGeom>
          <a:solidFill>
            <a:schemeClr val="tx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병</a:t>
            </a:r>
          </a:p>
        </p:txBody>
      </p:sp>
      <p:sp>
        <p:nvSpPr>
          <p:cNvPr id="13" name="TextBox 12">
            <a:extLst>
              <a:ext uri="{FF2B5EF4-FFF2-40B4-BE49-F238E27FC236}">
                <a16:creationId xmlns:a16="http://schemas.microsoft.com/office/drawing/2014/main" id="{8613F4E5-4F0F-44CE-B07B-DB64187DF573}"/>
              </a:ext>
            </a:extLst>
          </p:cNvPr>
          <p:cNvSpPr txBox="1"/>
          <p:nvPr/>
        </p:nvSpPr>
        <p:spPr>
          <a:xfrm>
            <a:off x="1805508" y="2566864"/>
            <a:ext cx="869052" cy="276999"/>
          </a:xfrm>
          <a:prstGeom prst="rect">
            <a:avLst/>
          </a:prstGeom>
          <a:noFill/>
        </p:spPr>
        <p:txBody>
          <a:bodyPr wrap="square" rtlCol="0">
            <a:spAutoFit/>
          </a:bodyPr>
          <a:lstStyle/>
          <a:p>
            <a:r>
              <a:rPr lang="ko-KR" altLang="en-US" sz="1200" dirty="0"/>
              <a:t>특허권자</a:t>
            </a:r>
          </a:p>
        </p:txBody>
      </p:sp>
      <p:sp>
        <p:nvSpPr>
          <p:cNvPr id="46" name="TextBox 45">
            <a:extLst>
              <a:ext uri="{FF2B5EF4-FFF2-40B4-BE49-F238E27FC236}">
                <a16:creationId xmlns:a16="http://schemas.microsoft.com/office/drawing/2014/main" id="{C9A1E865-0364-4E9F-AFB1-A8B6641E5C68}"/>
              </a:ext>
            </a:extLst>
          </p:cNvPr>
          <p:cNvSpPr txBox="1"/>
          <p:nvPr/>
        </p:nvSpPr>
        <p:spPr>
          <a:xfrm>
            <a:off x="3908493" y="2566865"/>
            <a:ext cx="830943" cy="276999"/>
          </a:xfrm>
          <a:prstGeom prst="rect">
            <a:avLst/>
          </a:prstGeom>
          <a:noFill/>
        </p:spPr>
        <p:txBody>
          <a:bodyPr wrap="square" rtlCol="0">
            <a:spAutoFit/>
          </a:bodyPr>
          <a:lstStyle/>
          <a:p>
            <a:r>
              <a:rPr lang="ko-KR" altLang="en-US" sz="1200" dirty="0"/>
              <a:t>특허권자</a:t>
            </a:r>
          </a:p>
        </p:txBody>
      </p:sp>
      <p:cxnSp>
        <p:nvCxnSpPr>
          <p:cNvPr id="15" name="직선 화살표 연결선 14">
            <a:extLst>
              <a:ext uri="{FF2B5EF4-FFF2-40B4-BE49-F238E27FC236}">
                <a16:creationId xmlns:a16="http://schemas.microsoft.com/office/drawing/2014/main" id="{14BF4D70-5BF1-4570-B0E5-38F93300D8A2}"/>
              </a:ext>
            </a:extLst>
          </p:cNvPr>
          <p:cNvCxnSpPr>
            <a:cxnSpLocks/>
            <a:endCxn id="43" idx="0"/>
          </p:cNvCxnSpPr>
          <p:nvPr/>
        </p:nvCxnSpPr>
        <p:spPr>
          <a:xfrm>
            <a:off x="3723065" y="2969642"/>
            <a:ext cx="0" cy="103884"/>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1C543A88-5E62-4F46-BF0C-63B1F62273C5}"/>
              </a:ext>
            </a:extLst>
          </p:cNvPr>
          <p:cNvCxnSpPr>
            <a:cxnSpLocks/>
            <a:stCxn id="43" idx="2"/>
          </p:cNvCxnSpPr>
          <p:nvPr/>
        </p:nvCxnSpPr>
        <p:spPr>
          <a:xfrm flipH="1">
            <a:off x="2198899" y="3258193"/>
            <a:ext cx="1338737" cy="0"/>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15EE100B-FFBA-4349-81AD-0774E9615306}"/>
              </a:ext>
            </a:extLst>
          </p:cNvPr>
          <p:cNvSpPr txBox="1"/>
          <p:nvPr/>
        </p:nvSpPr>
        <p:spPr>
          <a:xfrm>
            <a:off x="3823214" y="2886765"/>
            <a:ext cx="830943" cy="276999"/>
          </a:xfrm>
          <a:prstGeom prst="rect">
            <a:avLst/>
          </a:prstGeom>
          <a:noFill/>
        </p:spPr>
        <p:txBody>
          <a:bodyPr wrap="square" rtlCol="0">
            <a:spAutoFit/>
          </a:bodyPr>
          <a:lstStyle/>
          <a:p>
            <a:r>
              <a:rPr lang="ko-KR" altLang="en-US" sz="1200" dirty="0"/>
              <a:t>판매</a:t>
            </a:r>
          </a:p>
        </p:txBody>
      </p:sp>
      <p:sp>
        <p:nvSpPr>
          <p:cNvPr id="48" name="TextBox 47">
            <a:extLst>
              <a:ext uri="{FF2B5EF4-FFF2-40B4-BE49-F238E27FC236}">
                <a16:creationId xmlns:a16="http://schemas.microsoft.com/office/drawing/2014/main" id="{FAC7C934-DF0C-4EEB-BA03-534FE2BEF1C1}"/>
              </a:ext>
            </a:extLst>
          </p:cNvPr>
          <p:cNvSpPr txBox="1"/>
          <p:nvPr/>
        </p:nvSpPr>
        <p:spPr>
          <a:xfrm>
            <a:off x="2824097" y="2983089"/>
            <a:ext cx="522631" cy="276999"/>
          </a:xfrm>
          <a:prstGeom prst="rect">
            <a:avLst/>
          </a:prstGeom>
          <a:noFill/>
        </p:spPr>
        <p:txBody>
          <a:bodyPr wrap="square" rtlCol="0">
            <a:spAutoFit/>
          </a:bodyPr>
          <a:lstStyle/>
          <a:p>
            <a:r>
              <a:rPr lang="ko-KR" altLang="en-US" sz="1200" dirty="0"/>
              <a:t>수입</a:t>
            </a:r>
          </a:p>
        </p:txBody>
      </p:sp>
      <p:sp>
        <p:nvSpPr>
          <p:cNvPr id="49" name="타원 48">
            <a:extLst>
              <a:ext uri="{FF2B5EF4-FFF2-40B4-BE49-F238E27FC236}">
                <a16:creationId xmlns:a16="http://schemas.microsoft.com/office/drawing/2014/main" id="{27858C81-ED03-4574-AD1A-EE9D514988FD}"/>
              </a:ext>
            </a:extLst>
          </p:cNvPr>
          <p:cNvSpPr/>
          <p:nvPr/>
        </p:nvSpPr>
        <p:spPr>
          <a:xfrm>
            <a:off x="1812920" y="3073526"/>
            <a:ext cx="370857" cy="369333"/>
          </a:xfrm>
          <a:prstGeom prst="ellipse">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정</a:t>
            </a:r>
          </a:p>
        </p:txBody>
      </p:sp>
      <p:sp>
        <p:nvSpPr>
          <p:cNvPr id="50" name="TextBox 49">
            <a:extLst>
              <a:ext uri="{FF2B5EF4-FFF2-40B4-BE49-F238E27FC236}">
                <a16:creationId xmlns:a16="http://schemas.microsoft.com/office/drawing/2014/main" id="{97BBC16D-90A6-4F94-99BA-8B0901F0D214}"/>
              </a:ext>
            </a:extLst>
          </p:cNvPr>
          <p:cNvSpPr txBox="1"/>
          <p:nvPr/>
        </p:nvSpPr>
        <p:spPr>
          <a:xfrm>
            <a:off x="5011271" y="1982268"/>
            <a:ext cx="6832386" cy="1477328"/>
          </a:xfrm>
          <a:prstGeom prst="rect">
            <a:avLst/>
          </a:prstGeom>
          <a:noFill/>
        </p:spPr>
        <p:txBody>
          <a:bodyPr wrap="square">
            <a:spAutoFit/>
          </a:bodyPr>
          <a:lstStyle/>
          <a:p>
            <a:pPr algn="just" fontAlgn="base"/>
            <a:r>
              <a:rPr lang="ko-KR" altLang="en-US" sz="1800" dirty="0">
                <a:latin typeface="+mn-ea"/>
              </a:rPr>
              <a:t>외국에서 특허권의 경우 권리소진이 발생하지만</a:t>
            </a:r>
            <a:r>
              <a:rPr lang="en-US" altLang="ko-KR" sz="1800" dirty="0">
                <a:latin typeface="+mn-ea"/>
              </a:rPr>
              <a:t>, </a:t>
            </a:r>
            <a:r>
              <a:rPr lang="ko-KR" altLang="en-US" sz="1800" dirty="0">
                <a:latin typeface="+mn-ea"/>
              </a:rPr>
              <a:t>국내에서 특허권의 경우 특허권자가 달라 국내의 특허권자가 특허제품의 판매를 통해 이득을 취한 것도 아니고 특허독립의 원칙 및 속지주의에 의하여 국내에서 권리소진이 발생하지 않아서</a:t>
            </a:r>
            <a:r>
              <a:rPr lang="en-US" altLang="ko-KR" sz="1800" dirty="0">
                <a:latin typeface="+mn-ea"/>
              </a:rPr>
              <a:t>, </a:t>
            </a:r>
            <a:r>
              <a:rPr lang="ko-KR" altLang="en-US" sz="1800" dirty="0">
                <a:latin typeface="+mn-ea"/>
              </a:rPr>
              <a:t>정의 수입은 </a:t>
            </a:r>
            <a:r>
              <a:rPr lang="ko-KR" altLang="en-US" sz="1800" dirty="0">
                <a:solidFill>
                  <a:srgbClr val="FF0000"/>
                </a:solidFill>
                <a:latin typeface="+mn-ea"/>
              </a:rPr>
              <a:t>국내 갑의 특허권의 침해라고 볼 것이다</a:t>
            </a:r>
            <a:r>
              <a:rPr lang="en-US" altLang="ko-KR" sz="1800" dirty="0">
                <a:solidFill>
                  <a:srgbClr val="FF0000"/>
                </a:solidFill>
                <a:latin typeface="+mn-ea"/>
              </a:rPr>
              <a:t>.</a:t>
            </a:r>
          </a:p>
        </p:txBody>
      </p:sp>
      <p:sp>
        <p:nvSpPr>
          <p:cNvPr id="51" name="TextBox 50">
            <a:extLst>
              <a:ext uri="{FF2B5EF4-FFF2-40B4-BE49-F238E27FC236}">
                <a16:creationId xmlns:a16="http://schemas.microsoft.com/office/drawing/2014/main" id="{8C3EB50E-DEC0-47AD-BD69-A884E3F18DA1}"/>
              </a:ext>
            </a:extLst>
          </p:cNvPr>
          <p:cNvSpPr txBox="1"/>
          <p:nvPr/>
        </p:nvSpPr>
        <p:spPr>
          <a:xfrm>
            <a:off x="1295920" y="3693134"/>
            <a:ext cx="1515292" cy="369332"/>
          </a:xfrm>
          <a:prstGeom prst="rect">
            <a:avLst/>
          </a:prstGeom>
          <a:solidFill>
            <a:schemeClr val="tx2">
              <a:lumMod val="20000"/>
              <a:lumOff val="80000"/>
            </a:schemeClr>
          </a:solidFill>
          <a:ln>
            <a:solidFill>
              <a:schemeClr val="bg1">
                <a:lumMod val="50000"/>
              </a:schemeClr>
            </a:solidFill>
          </a:ln>
        </p:spPr>
        <p:txBody>
          <a:bodyPr wrap="square" rtlCol="0" anchor="ctr">
            <a:noAutofit/>
          </a:bodyPr>
          <a:lstStyle/>
          <a:p>
            <a:pPr algn="ctr"/>
            <a:r>
              <a:rPr lang="ko-KR" altLang="en-US" dirty="0"/>
              <a:t>한국</a:t>
            </a:r>
          </a:p>
        </p:txBody>
      </p:sp>
      <p:sp>
        <p:nvSpPr>
          <p:cNvPr id="52" name="TextBox 51">
            <a:extLst>
              <a:ext uri="{FF2B5EF4-FFF2-40B4-BE49-F238E27FC236}">
                <a16:creationId xmlns:a16="http://schemas.microsoft.com/office/drawing/2014/main" id="{1615990E-C54B-41B4-AD18-1F7C50408252}"/>
              </a:ext>
            </a:extLst>
          </p:cNvPr>
          <p:cNvSpPr txBox="1"/>
          <p:nvPr/>
        </p:nvSpPr>
        <p:spPr>
          <a:xfrm>
            <a:off x="1295920" y="4062465"/>
            <a:ext cx="1515292" cy="1003098"/>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endParaRPr lang="ko-KR" altLang="en-US" sz="1400" dirty="0"/>
          </a:p>
        </p:txBody>
      </p:sp>
      <p:sp>
        <p:nvSpPr>
          <p:cNvPr id="53" name="TextBox 52">
            <a:extLst>
              <a:ext uri="{FF2B5EF4-FFF2-40B4-BE49-F238E27FC236}">
                <a16:creationId xmlns:a16="http://schemas.microsoft.com/office/drawing/2014/main" id="{C736127E-80CA-4362-B0A0-1D70C2E34D74}"/>
              </a:ext>
            </a:extLst>
          </p:cNvPr>
          <p:cNvSpPr txBox="1"/>
          <p:nvPr/>
        </p:nvSpPr>
        <p:spPr>
          <a:xfrm>
            <a:off x="3392872" y="3693134"/>
            <a:ext cx="1515292" cy="369332"/>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dirty="0"/>
              <a:t>외국</a:t>
            </a:r>
          </a:p>
        </p:txBody>
      </p:sp>
      <p:sp>
        <p:nvSpPr>
          <p:cNvPr id="54" name="TextBox 53">
            <a:extLst>
              <a:ext uri="{FF2B5EF4-FFF2-40B4-BE49-F238E27FC236}">
                <a16:creationId xmlns:a16="http://schemas.microsoft.com/office/drawing/2014/main" id="{E56434E2-0D30-404C-98AE-07613FF146CA}"/>
              </a:ext>
            </a:extLst>
          </p:cNvPr>
          <p:cNvSpPr txBox="1"/>
          <p:nvPr/>
        </p:nvSpPr>
        <p:spPr>
          <a:xfrm>
            <a:off x="3392872" y="4062465"/>
            <a:ext cx="1515292" cy="1003098"/>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endParaRPr lang="en-US" altLang="ko-KR" sz="1400" dirty="0"/>
          </a:p>
          <a:p>
            <a:endParaRPr lang="ko-KR" altLang="en-US" sz="1400" dirty="0"/>
          </a:p>
        </p:txBody>
      </p:sp>
      <p:sp>
        <p:nvSpPr>
          <p:cNvPr id="55" name="타원 54">
            <a:extLst>
              <a:ext uri="{FF2B5EF4-FFF2-40B4-BE49-F238E27FC236}">
                <a16:creationId xmlns:a16="http://schemas.microsoft.com/office/drawing/2014/main" id="{06FC9A49-71D0-4EF0-8FC1-38548FFF6F9F}"/>
              </a:ext>
            </a:extLst>
          </p:cNvPr>
          <p:cNvSpPr/>
          <p:nvPr/>
        </p:nvSpPr>
        <p:spPr>
          <a:xfrm>
            <a:off x="1443967" y="4155580"/>
            <a:ext cx="370857" cy="369333"/>
          </a:xfrm>
          <a:prstGeom prst="ellipse">
            <a:avLst/>
          </a:prstGeom>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갑</a:t>
            </a:r>
          </a:p>
        </p:txBody>
      </p:sp>
      <p:sp>
        <p:nvSpPr>
          <p:cNvPr id="56" name="타원 55">
            <a:extLst>
              <a:ext uri="{FF2B5EF4-FFF2-40B4-BE49-F238E27FC236}">
                <a16:creationId xmlns:a16="http://schemas.microsoft.com/office/drawing/2014/main" id="{D7ABC74B-21F9-4F86-9A5B-CDDE8A3900A7}"/>
              </a:ext>
            </a:extLst>
          </p:cNvPr>
          <p:cNvSpPr/>
          <p:nvPr/>
        </p:nvSpPr>
        <p:spPr>
          <a:xfrm>
            <a:off x="3537636" y="4155580"/>
            <a:ext cx="370857" cy="369333"/>
          </a:xfrm>
          <a:prstGeom prst="ellipse">
            <a:avLst/>
          </a:prstGeom>
          <a:solidFill>
            <a:schemeClr val="accent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갑</a:t>
            </a:r>
          </a:p>
        </p:txBody>
      </p:sp>
      <p:sp>
        <p:nvSpPr>
          <p:cNvPr id="57" name="타원 56">
            <a:extLst>
              <a:ext uri="{FF2B5EF4-FFF2-40B4-BE49-F238E27FC236}">
                <a16:creationId xmlns:a16="http://schemas.microsoft.com/office/drawing/2014/main" id="{548EB278-5A81-4865-8DB3-37E0622402FE}"/>
              </a:ext>
            </a:extLst>
          </p:cNvPr>
          <p:cNvSpPr/>
          <p:nvPr/>
        </p:nvSpPr>
        <p:spPr>
          <a:xfrm>
            <a:off x="3537636" y="4644831"/>
            <a:ext cx="370857" cy="369333"/>
          </a:xfrm>
          <a:prstGeom prst="ellipse">
            <a:avLst/>
          </a:prstGeom>
          <a:solidFill>
            <a:schemeClr val="tx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병</a:t>
            </a:r>
          </a:p>
        </p:txBody>
      </p:sp>
      <p:sp>
        <p:nvSpPr>
          <p:cNvPr id="58" name="TextBox 57">
            <a:extLst>
              <a:ext uri="{FF2B5EF4-FFF2-40B4-BE49-F238E27FC236}">
                <a16:creationId xmlns:a16="http://schemas.microsoft.com/office/drawing/2014/main" id="{0E813BAB-0884-4529-A885-E337536EBA84}"/>
              </a:ext>
            </a:extLst>
          </p:cNvPr>
          <p:cNvSpPr txBox="1"/>
          <p:nvPr/>
        </p:nvSpPr>
        <p:spPr>
          <a:xfrm>
            <a:off x="1805508" y="4155578"/>
            <a:ext cx="869052" cy="276999"/>
          </a:xfrm>
          <a:prstGeom prst="rect">
            <a:avLst/>
          </a:prstGeom>
          <a:noFill/>
        </p:spPr>
        <p:txBody>
          <a:bodyPr wrap="square" rtlCol="0">
            <a:spAutoFit/>
          </a:bodyPr>
          <a:lstStyle/>
          <a:p>
            <a:r>
              <a:rPr lang="ko-KR" altLang="en-US" sz="1200" dirty="0"/>
              <a:t>특허권자</a:t>
            </a:r>
          </a:p>
        </p:txBody>
      </p:sp>
      <p:sp>
        <p:nvSpPr>
          <p:cNvPr id="59" name="TextBox 58">
            <a:extLst>
              <a:ext uri="{FF2B5EF4-FFF2-40B4-BE49-F238E27FC236}">
                <a16:creationId xmlns:a16="http://schemas.microsoft.com/office/drawing/2014/main" id="{DFE209F8-64AF-4D40-8452-62D5712C51FF}"/>
              </a:ext>
            </a:extLst>
          </p:cNvPr>
          <p:cNvSpPr txBox="1"/>
          <p:nvPr/>
        </p:nvSpPr>
        <p:spPr>
          <a:xfrm>
            <a:off x="3908493" y="4155579"/>
            <a:ext cx="830943" cy="276999"/>
          </a:xfrm>
          <a:prstGeom prst="rect">
            <a:avLst/>
          </a:prstGeom>
          <a:noFill/>
        </p:spPr>
        <p:txBody>
          <a:bodyPr wrap="square" rtlCol="0">
            <a:spAutoFit/>
          </a:bodyPr>
          <a:lstStyle/>
          <a:p>
            <a:r>
              <a:rPr lang="ko-KR" altLang="en-US" sz="1200" dirty="0"/>
              <a:t>특허권자</a:t>
            </a:r>
          </a:p>
        </p:txBody>
      </p:sp>
      <p:cxnSp>
        <p:nvCxnSpPr>
          <p:cNvPr id="60" name="직선 화살표 연결선 59">
            <a:extLst>
              <a:ext uri="{FF2B5EF4-FFF2-40B4-BE49-F238E27FC236}">
                <a16:creationId xmlns:a16="http://schemas.microsoft.com/office/drawing/2014/main" id="{598A72B9-4AB4-4E16-A38B-F5A1815345AA}"/>
              </a:ext>
            </a:extLst>
          </p:cNvPr>
          <p:cNvCxnSpPr>
            <a:cxnSpLocks/>
            <a:stCxn id="56" idx="4"/>
            <a:endCxn id="57" idx="0"/>
          </p:cNvCxnSpPr>
          <p:nvPr/>
        </p:nvCxnSpPr>
        <p:spPr>
          <a:xfrm>
            <a:off x="3723065" y="4524913"/>
            <a:ext cx="0" cy="119918"/>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027AC4FA-0D1E-4DFD-9D8A-97C9C1579FB0}"/>
              </a:ext>
            </a:extLst>
          </p:cNvPr>
          <p:cNvCxnSpPr>
            <a:cxnSpLocks/>
            <a:stCxn id="57" idx="2"/>
          </p:cNvCxnSpPr>
          <p:nvPr/>
        </p:nvCxnSpPr>
        <p:spPr>
          <a:xfrm flipH="1">
            <a:off x="2198899" y="4829498"/>
            <a:ext cx="1338737" cy="0"/>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F4087310-9586-4D05-915C-CE54A596C88F}"/>
              </a:ext>
            </a:extLst>
          </p:cNvPr>
          <p:cNvSpPr txBox="1"/>
          <p:nvPr/>
        </p:nvSpPr>
        <p:spPr>
          <a:xfrm>
            <a:off x="3798009" y="4485556"/>
            <a:ext cx="830943" cy="276999"/>
          </a:xfrm>
          <a:prstGeom prst="rect">
            <a:avLst/>
          </a:prstGeom>
          <a:noFill/>
        </p:spPr>
        <p:txBody>
          <a:bodyPr wrap="square" rtlCol="0">
            <a:spAutoFit/>
          </a:bodyPr>
          <a:lstStyle/>
          <a:p>
            <a:r>
              <a:rPr lang="ko-KR" altLang="en-US" sz="1200" dirty="0"/>
              <a:t>판매</a:t>
            </a:r>
          </a:p>
        </p:txBody>
      </p:sp>
      <p:sp>
        <p:nvSpPr>
          <p:cNvPr id="63" name="TextBox 62">
            <a:extLst>
              <a:ext uri="{FF2B5EF4-FFF2-40B4-BE49-F238E27FC236}">
                <a16:creationId xmlns:a16="http://schemas.microsoft.com/office/drawing/2014/main" id="{7098BDEB-5960-4D28-AB57-A4F964B9F804}"/>
              </a:ext>
            </a:extLst>
          </p:cNvPr>
          <p:cNvSpPr txBox="1"/>
          <p:nvPr/>
        </p:nvSpPr>
        <p:spPr>
          <a:xfrm>
            <a:off x="2788416" y="4548149"/>
            <a:ext cx="522631" cy="276999"/>
          </a:xfrm>
          <a:prstGeom prst="rect">
            <a:avLst/>
          </a:prstGeom>
          <a:noFill/>
        </p:spPr>
        <p:txBody>
          <a:bodyPr wrap="square" rtlCol="0">
            <a:spAutoFit/>
          </a:bodyPr>
          <a:lstStyle/>
          <a:p>
            <a:r>
              <a:rPr lang="ko-KR" altLang="en-US" sz="1200" dirty="0"/>
              <a:t>수입</a:t>
            </a:r>
          </a:p>
        </p:txBody>
      </p:sp>
      <p:sp>
        <p:nvSpPr>
          <p:cNvPr id="64" name="타원 63">
            <a:extLst>
              <a:ext uri="{FF2B5EF4-FFF2-40B4-BE49-F238E27FC236}">
                <a16:creationId xmlns:a16="http://schemas.microsoft.com/office/drawing/2014/main" id="{C5AD0F24-6B4A-4A67-ADFE-990F24132B3F}"/>
              </a:ext>
            </a:extLst>
          </p:cNvPr>
          <p:cNvSpPr/>
          <p:nvPr/>
        </p:nvSpPr>
        <p:spPr>
          <a:xfrm>
            <a:off x="1812920" y="4644831"/>
            <a:ext cx="370857" cy="369333"/>
          </a:xfrm>
          <a:prstGeom prst="ellipse">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정</a:t>
            </a:r>
          </a:p>
        </p:txBody>
      </p:sp>
      <p:sp>
        <p:nvSpPr>
          <p:cNvPr id="65" name="TextBox 64">
            <a:extLst>
              <a:ext uri="{FF2B5EF4-FFF2-40B4-BE49-F238E27FC236}">
                <a16:creationId xmlns:a16="http://schemas.microsoft.com/office/drawing/2014/main" id="{BE2CB544-D35B-40B2-AD43-FEB6DB24AD92}"/>
              </a:ext>
            </a:extLst>
          </p:cNvPr>
          <p:cNvSpPr txBox="1"/>
          <p:nvPr/>
        </p:nvSpPr>
        <p:spPr>
          <a:xfrm>
            <a:off x="5011271" y="3830959"/>
            <a:ext cx="6832386" cy="923330"/>
          </a:xfrm>
          <a:prstGeom prst="rect">
            <a:avLst/>
          </a:prstGeom>
          <a:noFill/>
        </p:spPr>
        <p:txBody>
          <a:bodyPr wrap="square">
            <a:spAutoFit/>
          </a:bodyPr>
          <a:lstStyle/>
          <a:p>
            <a:pPr algn="just" fontAlgn="base"/>
            <a:r>
              <a:rPr lang="ko-KR" altLang="en-US" sz="1800" dirty="0">
                <a:latin typeface="+mn-ea"/>
              </a:rPr>
              <a:t>외국에서 특허제품의 판매를 통해 외국과 국내에서 특허권의 권리소진이 발생하였고</a:t>
            </a:r>
            <a:r>
              <a:rPr lang="en-US" altLang="ko-KR" sz="1800" dirty="0">
                <a:latin typeface="+mn-ea"/>
              </a:rPr>
              <a:t>, </a:t>
            </a:r>
            <a:r>
              <a:rPr lang="ko-KR" altLang="en-US" sz="1800" dirty="0">
                <a:latin typeface="+mn-ea"/>
              </a:rPr>
              <a:t>특허권자가 이득을 취하였기 때문에 정의 수입은 국내 갑의 </a:t>
            </a:r>
            <a:r>
              <a:rPr lang="ko-KR" altLang="en-US" sz="1800" dirty="0">
                <a:solidFill>
                  <a:srgbClr val="FF0000"/>
                </a:solidFill>
                <a:latin typeface="+mn-ea"/>
              </a:rPr>
              <a:t>특허권의 침해가 아니라고 볼 것이다</a:t>
            </a:r>
            <a:r>
              <a:rPr lang="en-US" altLang="ko-KR" sz="1800" dirty="0">
                <a:solidFill>
                  <a:srgbClr val="FF0000"/>
                </a:solidFill>
                <a:latin typeface="+mn-ea"/>
              </a:rPr>
              <a:t>.</a:t>
            </a:r>
          </a:p>
        </p:txBody>
      </p:sp>
      <p:sp>
        <p:nvSpPr>
          <p:cNvPr id="66" name="TextBox 65">
            <a:extLst>
              <a:ext uri="{FF2B5EF4-FFF2-40B4-BE49-F238E27FC236}">
                <a16:creationId xmlns:a16="http://schemas.microsoft.com/office/drawing/2014/main" id="{7258BA9E-4105-4CAB-82EB-1C7CCD65A5EC}"/>
              </a:ext>
            </a:extLst>
          </p:cNvPr>
          <p:cNvSpPr txBox="1"/>
          <p:nvPr/>
        </p:nvSpPr>
        <p:spPr>
          <a:xfrm>
            <a:off x="1295920" y="5261423"/>
            <a:ext cx="1515292" cy="369332"/>
          </a:xfrm>
          <a:prstGeom prst="rect">
            <a:avLst/>
          </a:prstGeom>
          <a:solidFill>
            <a:schemeClr val="tx2">
              <a:lumMod val="20000"/>
              <a:lumOff val="80000"/>
            </a:schemeClr>
          </a:solidFill>
          <a:ln>
            <a:solidFill>
              <a:schemeClr val="bg1">
                <a:lumMod val="50000"/>
              </a:schemeClr>
            </a:solidFill>
          </a:ln>
        </p:spPr>
        <p:txBody>
          <a:bodyPr wrap="square" rtlCol="0" anchor="ctr">
            <a:noAutofit/>
          </a:bodyPr>
          <a:lstStyle/>
          <a:p>
            <a:pPr algn="ctr"/>
            <a:r>
              <a:rPr lang="ko-KR" altLang="en-US" dirty="0"/>
              <a:t>한국</a:t>
            </a:r>
          </a:p>
        </p:txBody>
      </p:sp>
      <p:sp>
        <p:nvSpPr>
          <p:cNvPr id="67" name="TextBox 66">
            <a:extLst>
              <a:ext uri="{FF2B5EF4-FFF2-40B4-BE49-F238E27FC236}">
                <a16:creationId xmlns:a16="http://schemas.microsoft.com/office/drawing/2014/main" id="{2F01145E-BECF-419D-A92F-87A5887BC94C}"/>
              </a:ext>
            </a:extLst>
          </p:cNvPr>
          <p:cNvSpPr txBox="1"/>
          <p:nvPr/>
        </p:nvSpPr>
        <p:spPr>
          <a:xfrm>
            <a:off x="1295920" y="5630754"/>
            <a:ext cx="1515292" cy="1003098"/>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endParaRPr lang="ko-KR" altLang="en-US" sz="1400" dirty="0"/>
          </a:p>
        </p:txBody>
      </p:sp>
      <p:sp>
        <p:nvSpPr>
          <p:cNvPr id="68" name="TextBox 67">
            <a:extLst>
              <a:ext uri="{FF2B5EF4-FFF2-40B4-BE49-F238E27FC236}">
                <a16:creationId xmlns:a16="http://schemas.microsoft.com/office/drawing/2014/main" id="{22431728-3A18-44CC-8CFC-2EC85B7E54CB}"/>
              </a:ext>
            </a:extLst>
          </p:cNvPr>
          <p:cNvSpPr txBox="1"/>
          <p:nvPr/>
        </p:nvSpPr>
        <p:spPr>
          <a:xfrm>
            <a:off x="3392872" y="5261423"/>
            <a:ext cx="1515292" cy="369332"/>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dirty="0"/>
              <a:t>외국</a:t>
            </a:r>
          </a:p>
        </p:txBody>
      </p:sp>
      <p:sp>
        <p:nvSpPr>
          <p:cNvPr id="69" name="TextBox 68">
            <a:extLst>
              <a:ext uri="{FF2B5EF4-FFF2-40B4-BE49-F238E27FC236}">
                <a16:creationId xmlns:a16="http://schemas.microsoft.com/office/drawing/2014/main" id="{3E6007A1-6F62-4B0A-99A4-B67DFF3438D5}"/>
              </a:ext>
            </a:extLst>
          </p:cNvPr>
          <p:cNvSpPr txBox="1"/>
          <p:nvPr/>
        </p:nvSpPr>
        <p:spPr>
          <a:xfrm>
            <a:off x="3392872" y="5630754"/>
            <a:ext cx="1515292" cy="1003098"/>
          </a:xfrm>
          <a:prstGeom prst="rect">
            <a:avLst/>
          </a:prstGeom>
          <a:noFill/>
          <a:ln>
            <a:solidFill>
              <a:schemeClr val="bg1">
                <a:lumMod val="50000"/>
              </a:schemeClr>
            </a:solidFill>
          </a:ln>
        </p:spPr>
        <p:txBody>
          <a:bodyPr wrap="square" rtlCol="0" anchor="ctr">
            <a:noAutofit/>
          </a:bodyPr>
          <a:lstStyle/>
          <a:p>
            <a:endParaRPr lang="en-US" altLang="ko-KR" sz="1400" dirty="0"/>
          </a:p>
          <a:p>
            <a:endParaRPr lang="ko-KR" altLang="en-US" sz="1400" dirty="0"/>
          </a:p>
        </p:txBody>
      </p:sp>
      <p:sp>
        <p:nvSpPr>
          <p:cNvPr id="70" name="타원 69">
            <a:extLst>
              <a:ext uri="{FF2B5EF4-FFF2-40B4-BE49-F238E27FC236}">
                <a16:creationId xmlns:a16="http://schemas.microsoft.com/office/drawing/2014/main" id="{E15CE73B-0E54-4F64-9EF0-530C94AC35B7}"/>
              </a:ext>
            </a:extLst>
          </p:cNvPr>
          <p:cNvSpPr/>
          <p:nvPr/>
        </p:nvSpPr>
        <p:spPr>
          <a:xfrm>
            <a:off x="1443967" y="5723869"/>
            <a:ext cx="370857" cy="369333"/>
          </a:xfrm>
          <a:prstGeom prst="ellipse">
            <a:avLst/>
          </a:prstGeom>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갑</a:t>
            </a:r>
          </a:p>
        </p:txBody>
      </p:sp>
      <p:sp>
        <p:nvSpPr>
          <p:cNvPr id="72" name="타원 71">
            <a:extLst>
              <a:ext uri="{FF2B5EF4-FFF2-40B4-BE49-F238E27FC236}">
                <a16:creationId xmlns:a16="http://schemas.microsoft.com/office/drawing/2014/main" id="{17EBB885-E6B3-406C-A43C-7A44AC225CD1}"/>
              </a:ext>
            </a:extLst>
          </p:cNvPr>
          <p:cNvSpPr/>
          <p:nvPr/>
        </p:nvSpPr>
        <p:spPr>
          <a:xfrm>
            <a:off x="3537636" y="6204404"/>
            <a:ext cx="370857" cy="369333"/>
          </a:xfrm>
          <a:prstGeom prst="ellipse">
            <a:avLst/>
          </a:prstGeom>
          <a:solidFill>
            <a:schemeClr val="tx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병</a:t>
            </a:r>
          </a:p>
        </p:txBody>
      </p:sp>
      <p:sp>
        <p:nvSpPr>
          <p:cNvPr id="73" name="TextBox 72">
            <a:extLst>
              <a:ext uri="{FF2B5EF4-FFF2-40B4-BE49-F238E27FC236}">
                <a16:creationId xmlns:a16="http://schemas.microsoft.com/office/drawing/2014/main" id="{E042DA7F-5129-42C2-B7E6-C83840ED1483}"/>
              </a:ext>
            </a:extLst>
          </p:cNvPr>
          <p:cNvSpPr txBox="1"/>
          <p:nvPr/>
        </p:nvSpPr>
        <p:spPr>
          <a:xfrm>
            <a:off x="1812920" y="5709881"/>
            <a:ext cx="869052" cy="276999"/>
          </a:xfrm>
          <a:prstGeom prst="rect">
            <a:avLst/>
          </a:prstGeom>
          <a:noFill/>
        </p:spPr>
        <p:txBody>
          <a:bodyPr wrap="square" rtlCol="0">
            <a:spAutoFit/>
          </a:bodyPr>
          <a:lstStyle/>
          <a:p>
            <a:r>
              <a:rPr lang="ko-KR" altLang="en-US" sz="1200" dirty="0"/>
              <a:t>특허권자</a:t>
            </a:r>
          </a:p>
        </p:txBody>
      </p:sp>
      <p:cxnSp>
        <p:nvCxnSpPr>
          <p:cNvPr id="75" name="직선 화살표 연결선 74">
            <a:extLst>
              <a:ext uri="{FF2B5EF4-FFF2-40B4-BE49-F238E27FC236}">
                <a16:creationId xmlns:a16="http://schemas.microsoft.com/office/drawing/2014/main" id="{66C0EB37-5A4E-4F53-978B-F8B2B1210147}"/>
              </a:ext>
            </a:extLst>
          </p:cNvPr>
          <p:cNvCxnSpPr>
            <a:cxnSpLocks/>
            <a:stCxn id="70" idx="6"/>
            <a:endCxn id="72" idx="1"/>
          </p:cNvCxnSpPr>
          <p:nvPr/>
        </p:nvCxnSpPr>
        <p:spPr>
          <a:xfrm>
            <a:off x="1814824" y="5908536"/>
            <a:ext cx="1777123" cy="349956"/>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 name="직선 화살표 연결선 75">
            <a:extLst>
              <a:ext uri="{FF2B5EF4-FFF2-40B4-BE49-F238E27FC236}">
                <a16:creationId xmlns:a16="http://schemas.microsoft.com/office/drawing/2014/main" id="{F5142966-6D5B-40CB-BCE7-9B2140353FF1}"/>
              </a:ext>
            </a:extLst>
          </p:cNvPr>
          <p:cNvCxnSpPr>
            <a:cxnSpLocks/>
            <a:stCxn id="72" idx="2"/>
          </p:cNvCxnSpPr>
          <p:nvPr/>
        </p:nvCxnSpPr>
        <p:spPr>
          <a:xfrm flipH="1">
            <a:off x="2198899" y="6389071"/>
            <a:ext cx="1338737" cy="0"/>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A7CF7D69-5DE0-4A94-85E1-63C3A991B626}"/>
              </a:ext>
            </a:extLst>
          </p:cNvPr>
          <p:cNvSpPr txBox="1"/>
          <p:nvPr/>
        </p:nvSpPr>
        <p:spPr>
          <a:xfrm>
            <a:off x="2788416" y="6386400"/>
            <a:ext cx="522631" cy="276999"/>
          </a:xfrm>
          <a:prstGeom prst="rect">
            <a:avLst/>
          </a:prstGeom>
          <a:noFill/>
        </p:spPr>
        <p:txBody>
          <a:bodyPr wrap="square" rtlCol="0">
            <a:spAutoFit/>
          </a:bodyPr>
          <a:lstStyle/>
          <a:p>
            <a:r>
              <a:rPr lang="ko-KR" altLang="en-US" sz="1200" dirty="0"/>
              <a:t>수입</a:t>
            </a:r>
          </a:p>
        </p:txBody>
      </p:sp>
      <p:sp>
        <p:nvSpPr>
          <p:cNvPr id="79" name="타원 78">
            <a:extLst>
              <a:ext uri="{FF2B5EF4-FFF2-40B4-BE49-F238E27FC236}">
                <a16:creationId xmlns:a16="http://schemas.microsoft.com/office/drawing/2014/main" id="{03CF87AF-A358-45AA-8D8F-02EDCC987392}"/>
              </a:ext>
            </a:extLst>
          </p:cNvPr>
          <p:cNvSpPr/>
          <p:nvPr/>
        </p:nvSpPr>
        <p:spPr>
          <a:xfrm>
            <a:off x="1812920" y="6204404"/>
            <a:ext cx="370857" cy="369333"/>
          </a:xfrm>
          <a:prstGeom prst="ellipse">
            <a:avLst/>
          </a:prstGeom>
          <a:solidFill>
            <a:schemeClr val="accent4">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정</a:t>
            </a:r>
          </a:p>
        </p:txBody>
      </p:sp>
      <p:sp>
        <p:nvSpPr>
          <p:cNvPr id="80" name="TextBox 79">
            <a:extLst>
              <a:ext uri="{FF2B5EF4-FFF2-40B4-BE49-F238E27FC236}">
                <a16:creationId xmlns:a16="http://schemas.microsoft.com/office/drawing/2014/main" id="{CDA25756-A4CC-4F0A-A487-BDB059D68F56}"/>
              </a:ext>
            </a:extLst>
          </p:cNvPr>
          <p:cNvSpPr txBox="1"/>
          <p:nvPr/>
        </p:nvSpPr>
        <p:spPr>
          <a:xfrm>
            <a:off x="5011271" y="5399248"/>
            <a:ext cx="6832386" cy="923330"/>
          </a:xfrm>
          <a:prstGeom prst="rect">
            <a:avLst/>
          </a:prstGeom>
          <a:noFill/>
        </p:spPr>
        <p:txBody>
          <a:bodyPr wrap="square">
            <a:spAutoFit/>
          </a:bodyPr>
          <a:lstStyle/>
          <a:p>
            <a:pPr algn="just" fontAlgn="base"/>
            <a:r>
              <a:rPr lang="ko-KR" altLang="en-US" sz="1800" dirty="0">
                <a:latin typeface="+mn-ea"/>
              </a:rPr>
              <a:t>국내외 특허제품의 판매를 통해 국내 특허권의 권리소진이 발생하였고</a:t>
            </a:r>
            <a:r>
              <a:rPr lang="en-US" altLang="ko-KR" sz="1800" dirty="0">
                <a:latin typeface="+mn-ea"/>
              </a:rPr>
              <a:t>, </a:t>
            </a:r>
            <a:r>
              <a:rPr lang="ko-KR" altLang="en-US" sz="1800" dirty="0">
                <a:latin typeface="+mn-ea"/>
              </a:rPr>
              <a:t>특허권자가 이득을 취하였기 때문에 정의 수입은 </a:t>
            </a:r>
            <a:r>
              <a:rPr lang="ko-KR" altLang="en-US" sz="1800" dirty="0">
                <a:solidFill>
                  <a:srgbClr val="FF0000"/>
                </a:solidFill>
                <a:latin typeface="+mn-ea"/>
              </a:rPr>
              <a:t>국내 </a:t>
            </a:r>
            <a:r>
              <a:rPr lang="ko-KR" altLang="en-US" dirty="0">
                <a:solidFill>
                  <a:srgbClr val="FF0000"/>
                </a:solidFill>
                <a:latin typeface="+mn-ea"/>
              </a:rPr>
              <a:t>갑의 </a:t>
            </a:r>
            <a:r>
              <a:rPr lang="ko-KR" altLang="en-US" sz="1800" dirty="0">
                <a:solidFill>
                  <a:srgbClr val="FF0000"/>
                </a:solidFill>
                <a:latin typeface="+mn-ea"/>
              </a:rPr>
              <a:t>특허권의 침해가 아니라고 볼 것이다</a:t>
            </a:r>
            <a:r>
              <a:rPr lang="en-US" altLang="ko-KR" sz="1800" dirty="0">
                <a:solidFill>
                  <a:srgbClr val="FF0000"/>
                </a:solidFill>
                <a:latin typeface="+mn-ea"/>
              </a:rPr>
              <a:t>.</a:t>
            </a:r>
          </a:p>
        </p:txBody>
      </p:sp>
      <p:sp>
        <p:nvSpPr>
          <p:cNvPr id="85" name="TextBox 84">
            <a:extLst>
              <a:ext uri="{FF2B5EF4-FFF2-40B4-BE49-F238E27FC236}">
                <a16:creationId xmlns:a16="http://schemas.microsoft.com/office/drawing/2014/main" id="{B5BE89A8-9B12-44C4-ADF6-A9043D2F45C5}"/>
              </a:ext>
            </a:extLst>
          </p:cNvPr>
          <p:cNvSpPr txBox="1"/>
          <p:nvPr/>
        </p:nvSpPr>
        <p:spPr>
          <a:xfrm>
            <a:off x="2911616" y="5905612"/>
            <a:ext cx="522631" cy="276999"/>
          </a:xfrm>
          <a:prstGeom prst="rect">
            <a:avLst/>
          </a:prstGeom>
          <a:noFill/>
        </p:spPr>
        <p:txBody>
          <a:bodyPr wrap="square" rtlCol="0">
            <a:spAutoFit/>
          </a:bodyPr>
          <a:lstStyle/>
          <a:p>
            <a:r>
              <a:rPr lang="ko-KR" altLang="en-US" sz="1200" dirty="0"/>
              <a:t>수출</a:t>
            </a:r>
          </a:p>
        </p:txBody>
      </p:sp>
      <p:cxnSp>
        <p:nvCxnSpPr>
          <p:cNvPr id="87" name="직선 연결선 86">
            <a:extLst>
              <a:ext uri="{FF2B5EF4-FFF2-40B4-BE49-F238E27FC236}">
                <a16:creationId xmlns:a16="http://schemas.microsoft.com/office/drawing/2014/main" id="{81B162EB-D58A-443E-A30C-32AD0095BAA7}"/>
              </a:ext>
            </a:extLst>
          </p:cNvPr>
          <p:cNvCxnSpPr/>
          <p:nvPr/>
        </p:nvCxnSpPr>
        <p:spPr>
          <a:xfrm>
            <a:off x="261257" y="3592061"/>
            <a:ext cx="11686903" cy="0"/>
          </a:xfrm>
          <a:prstGeom prst="line">
            <a:avLst/>
          </a:prstGeom>
          <a:ln w="3810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88" name="직선 연결선 87">
            <a:extLst>
              <a:ext uri="{FF2B5EF4-FFF2-40B4-BE49-F238E27FC236}">
                <a16:creationId xmlns:a16="http://schemas.microsoft.com/office/drawing/2014/main" id="{ADBD8DC9-694D-4E16-ACBA-53521A16A249}"/>
              </a:ext>
            </a:extLst>
          </p:cNvPr>
          <p:cNvCxnSpPr/>
          <p:nvPr/>
        </p:nvCxnSpPr>
        <p:spPr>
          <a:xfrm>
            <a:off x="261257" y="5185728"/>
            <a:ext cx="11686903" cy="0"/>
          </a:xfrm>
          <a:prstGeom prst="line">
            <a:avLst/>
          </a:prstGeom>
          <a:ln w="3810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885D176E-20DA-444B-B66C-0CA94C54F08F}"/>
              </a:ext>
            </a:extLst>
          </p:cNvPr>
          <p:cNvSpPr txBox="1"/>
          <p:nvPr/>
        </p:nvSpPr>
        <p:spPr>
          <a:xfrm>
            <a:off x="261257" y="1087176"/>
            <a:ext cx="11791406" cy="646331"/>
          </a:xfrm>
          <a:prstGeom prst="rect">
            <a:avLst/>
          </a:prstGeom>
          <a:solidFill>
            <a:schemeClr val="bg1">
              <a:lumMod val="95000"/>
            </a:schemeClr>
          </a:solidFill>
          <a:ln>
            <a:solidFill>
              <a:schemeClr val="bg1">
                <a:lumMod val="50000"/>
              </a:schemeClr>
            </a:solidFill>
          </a:ln>
        </p:spPr>
        <p:txBody>
          <a:bodyPr wrap="square" rtlCol="0">
            <a:spAutoFit/>
          </a:bodyPr>
          <a:lstStyle/>
          <a:p>
            <a:r>
              <a:rPr lang="ko-KR" altLang="en-US" dirty="0"/>
              <a:t>권리소진의 요건으로서 판매는 국내외를 불문하고</a:t>
            </a:r>
            <a:r>
              <a:rPr lang="en-US" altLang="ko-KR" dirty="0"/>
              <a:t>, </a:t>
            </a:r>
            <a:r>
              <a:rPr lang="ko-KR" altLang="en-US" dirty="0"/>
              <a:t>권리소진이 적용되는 범위는 특허독립의 원칙 및 속지주의 원칙에 따라 국내로 한정되는 것으로 이해</a:t>
            </a:r>
            <a:endParaRPr lang="en-US" altLang="ko-KR" dirty="0"/>
          </a:p>
        </p:txBody>
      </p:sp>
      <p:sp>
        <p:nvSpPr>
          <p:cNvPr id="6" name="사각형: 둥근 모서리 5">
            <a:extLst>
              <a:ext uri="{FF2B5EF4-FFF2-40B4-BE49-F238E27FC236}">
                <a16:creationId xmlns:a16="http://schemas.microsoft.com/office/drawing/2014/main" id="{34FCC3A0-811F-D127-FDB9-09D14CEB1BE6}"/>
              </a:ext>
            </a:extLst>
          </p:cNvPr>
          <p:cNvSpPr/>
          <p:nvPr/>
        </p:nvSpPr>
        <p:spPr>
          <a:xfrm>
            <a:off x="468725" y="2575753"/>
            <a:ext cx="484550" cy="459138"/>
          </a:xfrm>
          <a:prstGeom prst="roundRect">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2800" dirty="0"/>
              <a:t>1</a:t>
            </a:r>
            <a:endParaRPr lang="ko-KR" altLang="en-US" sz="2800" dirty="0"/>
          </a:p>
        </p:txBody>
      </p:sp>
      <p:sp>
        <p:nvSpPr>
          <p:cNvPr id="8" name="사각형: 둥근 모서리 7">
            <a:extLst>
              <a:ext uri="{FF2B5EF4-FFF2-40B4-BE49-F238E27FC236}">
                <a16:creationId xmlns:a16="http://schemas.microsoft.com/office/drawing/2014/main" id="{1E3418AF-1B3C-460D-2A1A-C2EC09F60ECF}"/>
              </a:ext>
            </a:extLst>
          </p:cNvPr>
          <p:cNvSpPr/>
          <p:nvPr/>
        </p:nvSpPr>
        <p:spPr>
          <a:xfrm>
            <a:off x="468725" y="4155578"/>
            <a:ext cx="484550" cy="459138"/>
          </a:xfrm>
          <a:prstGeom prst="roundRect">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2800" dirty="0"/>
              <a:t>2</a:t>
            </a:r>
            <a:endParaRPr lang="ko-KR" altLang="en-US" sz="2800" dirty="0"/>
          </a:p>
        </p:txBody>
      </p:sp>
      <p:sp>
        <p:nvSpPr>
          <p:cNvPr id="9" name="사각형: 둥근 모서리 8">
            <a:extLst>
              <a:ext uri="{FF2B5EF4-FFF2-40B4-BE49-F238E27FC236}">
                <a16:creationId xmlns:a16="http://schemas.microsoft.com/office/drawing/2014/main" id="{9D0E5CED-29C2-791C-A43A-4FF117F81D52}"/>
              </a:ext>
            </a:extLst>
          </p:cNvPr>
          <p:cNvSpPr/>
          <p:nvPr/>
        </p:nvSpPr>
        <p:spPr>
          <a:xfrm>
            <a:off x="468725" y="5762449"/>
            <a:ext cx="484550" cy="459138"/>
          </a:xfrm>
          <a:prstGeom prst="roundRect">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2800" dirty="0"/>
              <a:t>3</a:t>
            </a:r>
            <a:endParaRPr lang="ko-KR" altLang="en-US" sz="2800" dirty="0"/>
          </a:p>
        </p:txBody>
      </p:sp>
    </p:spTree>
    <p:extLst>
      <p:ext uri="{BB962C8B-B14F-4D97-AF65-F5344CB8AC3E}">
        <p14:creationId xmlns:p14="http://schemas.microsoft.com/office/powerpoint/2010/main" val="1717998306"/>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94</a:t>
            </a:r>
            <a:r>
              <a:rPr lang="ko-KR" altLang="en-US" dirty="0"/>
              <a:t>조</a:t>
            </a:r>
          </a:p>
        </p:txBody>
      </p:sp>
      <p:sp>
        <p:nvSpPr>
          <p:cNvPr id="4" name="텍스트 개체 틀 3"/>
          <p:cNvSpPr>
            <a:spLocks noGrp="1"/>
          </p:cNvSpPr>
          <p:nvPr>
            <p:ph type="body" sz="quarter" idx="13"/>
          </p:nvPr>
        </p:nvSpPr>
        <p:spPr/>
        <p:txBody>
          <a:bodyPr/>
          <a:lstStyle/>
          <a:p>
            <a:r>
              <a:rPr lang="ko-KR" altLang="en-US" dirty="0"/>
              <a:t>권리소진 </a:t>
            </a:r>
            <a:r>
              <a:rPr lang="en-US" altLang="ko-KR" dirty="0"/>
              <a:t>CASE: </a:t>
            </a:r>
            <a:r>
              <a:rPr lang="ko-KR" altLang="en-US" dirty="0"/>
              <a:t>사료제조방법 사건</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309</a:t>
            </a:r>
            <a:endParaRPr lang="ko-KR" altLang="en-US"/>
          </a:p>
        </p:txBody>
      </p:sp>
      <p:sp>
        <p:nvSpPr>
          <p:cNvPr id="36" name="Line 5">
            <a:extLst>
              <a:ext uri="{FF2B5EF4-FFF2-40B4-BE49-F238E27FC236}">
                <a16:creationId xmlns:a16="http://schemas.microsoft.com/office/drawing/2014/main" id="{E854A4B8-96C6-43D9-A5B4-70A829B94199}"/>
              </a:ext>
            </a:extLst>
          </p:cNvPr>
          <p:cNvSpPr>
            <a:spLocks noChangeShapeType="1"/>
          </p:cNvSpPr>
          <p:nvPr/>
        </p:nvSpPr>
        <p:spPr bwMode="auto">
          <a:xfrm>
            <a:off x="514351" y="1792914"/>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37" name="TextBox 36">
            <a:extLst>
              <a:ext uri="{FF2B5EF4-FFF2-40B4-BE49-F238E27FC236}">
                <a16:creationId xmlns:a16="http://schemas.microsoft.com/office/drawing/2014/main" id="{DAC7A1B5-855F-4329-B5E1-C6D3B1632D78}"/>
              </a:ext>
            </a:extLst>
          </p:cNvPr>
          <p:cNvSpPr txBox="1"/>
          <p:nvPr/>
        </p:nvSpPr>
        <p:spPr>
          <a:xfrm>
            <a:off x="1269021" y="2049089"/>
            <a:ext cx="80499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출원</a:t>
            </a:r>
          </a:p>
        </p:txBody>
      </p:sp>
      <p:sp>
        <p:nvSpPr>
          <p:cNvPr id="38" name="타원 37">
            <a:extLst>
              <a:ext uri="{FF2B5EF4-FFF2-40B4-BE49-F238E27FC236}">
                <a16:creationId xmlns:a16="http://schemas.microsoft.com/office/drawing/2014/main" id="{5BC46C1C-A6EA-42E7-99E5-44568BB4E05C}"/>
              </a:ext>
            </a:extLst>
          </p:cNvPr>
          <p:cNvSpPr/>
          <p:nvPr/>
        </p:nvSpPr>
        <p:spPr>
          <a:xfrm>
            <a:off x="1594150" y="169898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9" name="직선 연결선 38">
            <a:extLst>
              <a:ext uri="{FF2B5EF4-FFF2-40B4-BE49-F238E27FC236}">
                <a16:creationId xmlns:a16="http://schemas.microsoft.com/office/drawing/2014/main" id="{3D9CB9A2-7B4D-48C0-8EB1-6D081971D7EA}"/>
              </a:ext>
            </a:extLst>
          </p:cNvPr>
          <p:cNvCxnSpPr>
            <a:cxnSpLocks/>
            <a:stCxn id="37" idx="0"/>
            <a:endCxn id="38" idx="4"/>
          </p:cNvCxnSpPr>
          <p:nvPr/>
        </p:nvCxnSpPr>
        <p:spPr>
          <a:xfrm flipH="1" flipV="1">
            <a:off x="1671519" y="186031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273C7D35-0104-4E10-89BE-5DB672C5D41A}"/>
              </a:ext>
            </a:extLst>
          </p:cNvPr>
          <p:cNvSpPr txBox="1"/>
          <p:nvPr/>
        </p:nvSpPr>
        <p:spPr>
          <a:xfrm>
            <a:off x="2564217" y="1013468"/>
            <a:ext cx="1486006" cy="461665"/>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혈분사료제조방법</a:t>
            </a:r>
            <a:endParaRPr lang="en-US" altLang="ko-KR" sz="1200" dirty="0">
              <a:solidFill>
                <a:schemeClr val="tx1"/>
              </a:solidFill>
              <a:latin typeface="+mn-ea"/>
            </a:endParaRPr>
          </a:p>
          <a:p>
            <a:pPr algn="ctr"/>
            <a:r>
              <a:rPr lang="ko-KR" altLang="en-US" sz="1200" dirty="0">
                <a:solidFill>
                  <a:schemeClr val="tx1"/>
                </a:solidFill>
                <a:latin typeface="+mn-ea"/>
              </a:rPr>
              <a:t>실시</a:t>
            </a:r>
          </a:p>
        </p:txBody>
      </p:sp>
      <p:sp>
        <p:nvSpPr>
          <p:cNvPr id="41" name="타원 40">
            <a:extLst>
              <a:ext uri="{FF2B5EF4-FFF2-40B4-BE49-F238E27FC236}">
                <a16:creationId xmlns:a16="http://schemas.microsoft.com/office/drawing/2014/main" id="{3A36312D-0971-47DE-8819-960AADA3A329}"/>
              </a:ext>
            </a:extLst>
          </p:cNvPr>
          <p:cNvSpPr/>
          <p:nvPr/>
        </p:nvSpPr>
        <p:spPr>
          <a:xfrm>
            <a:off x="3229850" y="1698980"/>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3" name="직선 연결선 42">
            <a:extLst>
              <a:ext uri="{FF2B5EF4-FFF2-40B4-BE49-F238E27FC236}">
                <a16:creationId xmlns:a16="http://schemas.microsoft.com/office/drawing/2014/main" id="{75EDF473-CF75-48C4-A970-3C80A1DC1F8D}"/>
              </a:ext>
            </a:extLst>
          </p:cNvPr>
          <p:cNvCxnSpPr>
            <a:cxnSpLocks/>
            <a:stCxn id="40" idx="2"/>
            <a:endCxn id="41" idx="0"/>
          </p:cNvCxnSpPr>
          <p:nvPr/>
        </p:nvCxnSpPr>
        <p:spPr>
          <a:xfrm flipH="1">
            <a:off x="3307219" y="1475133"/>
            <a:ext cx="1" cy="22384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3B401103-3443-412E-9BF4-1F5F20F43B03}"/>
              </a:ext>
            </a:extLst>
          </p:cNvPr>
          <p:cNvSpPr txBox="1"/>
          <p:nvPr/>
        </p:nvSpPr>
        <p:spPr>
          <a:xfrm>
            <a:off x="2252355" y="2049089"/>
            <a:ext cx="80499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등록</a:t>
            </a:r>
          </a:p>
        </p:txBody>
      </p:sp>
      <p:sp>
        <p:nvSpPr>
          <p:cNvPr id="51" name="타원 50">
            <a:extLst>
              <a:ext uri="{FF2B5EF4-FFF2-40B4-BE49-F238E27FC236}">
                <a16:creationId xmlns:a16="http://schemas.microsoft.com/office/drawing/2014/main" id="{EAC2ADC0-30FF-4A3D-B32C-6C13D5A4CE84}"/>
              </a:ext>
            </a:extLst>
          </p:cNvPr>
          <p:cNvSpPr/>
          <p:nvPr/>
        </p:nvSpPr>
        <p:spPr>
          <a:xfrm>
            <a:off x="2577484" y="169898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2" name="직선 연결선 61">
            <a:extLst>
              <a:ext uri="{FF2B5EF4-FFF2-40B4-BE49-F238E27FC236}">
                <a16:creationId xmlns:a16="http://schemas.microsoft.com/office/drawing/2014/main" id="{01615A73-F5B8-4286-97D1-4829E0C74367}"/>
              </a:ext>
            </a:extLst>
          </p:cNvPr>
          <p:cNvCxnSpPr>
            <a:cxnSpLocks/>
            <a:stCxn id="50" idx="0"/>
            <a:endCxn id="51" idx="4"/>
          </p:cNvCxnSpPr>
          <p:nvPr/>
        </p:nvCxnSpPr>
        <p:spPr>
          <a:xfrm flipH="1" flipV="1">
            <a:off x="2654853" y="186031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73319886-C7F1-4E7B-A602-8F68F274C6EC}"/>
              </a:ext>
            </a:extLst>
          </p:cNvPr>
          <p:cNvSpPr txBox="1"/>
          <p:nvPr/>
        </p:nvSpPr>
        <p:spPr>
          <a:xfrm>
            <a:off x="3404820" y="2049089"/>
            <a:ext cx="1048682"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a:solidFill>
                  <a:schemeClr val="tx1"/>
                </a:solidFill>
                <a:latin typeface="+mn-ea"/>
              </a:rPr>
              <a:t>권리범위확인심판청구</a:t>
            </a:r>
            <a:endParaRPr lang="ko-KR" altLang="en-US" sz="1200" dirty="0">
              <a:solidFill>
                <a:schemeClr val="tx1"/>
              </a:solidFill>
              <a:latin typeface="+mn-ea"/>
            </a:endParaRPr>
          </a:p>
        </p:txBody>
      </p:sp>
      <p:sp>
        <p:nvSpPr>
          <p:cNvPr id="65" name="타원 64">
            <a:extLst>
              <a:ext uri="{FF2B5EF4-FFF2-40B4-BE49-F238E27FC236}">
                <a16:creationId xmlns:a16="http://schemas.microsoft.com/office/drawing/2014/main" id="{DEB4E698-2389-44DF-BC34-9763BE1A7C6E}"/>
              </a:ext>
            </a:extLst>
          </p:cNvPr>
          <p:cNvSpPr/>
          <p:nvPr/>
        </p:nvSpPr>
        <p:spPr>
          <a:xfrm>
            <a:off x="3851791" y="169898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6" name="직선 연결선 65">
            <a:extLst>
              <a:ext uri="{FF2B5EF4-FFF2-40B4-BE49-F238E27FC236}">
                <a16:creationId xmlns:a16="http://schemas.microsoft.com/office/drawing/2014/main" id="{C4F219AE-26AA-46C9-8D2D-D89D3ED84067}"/>
              </a:ext>
            </a:extLst>
          </p:cNvPr>
          <p:cNvCxnSpPr>
            <a:cxnSpLocks/>
            <a:stCxn id="64" idx="0"/>
            <a:endCxn id="65" idx="4"/>
          </p:cNvCxnSpPr>
          <p:nvPr/>
        </p:nvCxnSpPr>
        <p:spPr>
          <a:xfrm flipH="1" flipV="1">
            <a:off x="3929160" y="186031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1931382D-9A6B-4FA5-88A6-B5CB431420D4}"/>
              </a:ext>
            </a:extLst>
          </p:cNvPr>
          <p:cNvSpPr txBox="1"/>
          <p:nvPr/>
        </p:nvSpPr>
        <p:spPr>
          <a:xfrm>
            <a:off x="3480881" y="2672659"/>
            <a:ext cx="896560"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균등물</a:t>
            </a:r>
            <a:endParaRPr lang="ko-KR" altLang="en-US" sz="1200" dirty="0">
              <a:solidFill>
                <a:schemeClr val="tx1"/>
              </a:solidFill>
              <a:latin typeface="+mn-ea"/>
            </a:endParaRPr>
          </a:p>
        </p:txBody>
      </p:sp>
      <p:sp>
        <p:nvSpPr>
          <p:cNvPr id="5" name="직사각형 4">
            <a:extLst>
              <a:ext uri="{FF2B5EF4-FFF2-40B4-BE49-F238E27FC236}">
                <a16:creationId xmlns:a16="http://schemas.microsoft.com/office/drawing/2014/main" id="{4E9EC0FD-C606-4F8A-A538-F38D283E0F00}"/>
              </a:ext>
            </a:extLst>
          </p:cNvPr>
          <p:cNvSpPr/>
          <p:nvPr/>
        </p:nvSpPr>
        <p:spPr>
          <a:xfrm>
            <a:off x="391665" y="2526010"/>
            <a:ext cx="2563514" cy="4572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유기성 폐기물을 순간 </a:t>
            </a:r>
            <a:r>
              <a:rPr lang="ko-KR" altLang="en-US" sz="1200" dirty="0" err="1">
                <a:solidFill>
                  <a:schemeClr val="tx1"/>
                </a:solidFill>
              </a:rPr>
              <a:t>고온처리하여</a:t>
            </a:r>
            <a:r>
              <a:rPr lang="ko-KR" altLang="en-US" sz="1200" dirty="0">
                <a:solidFill>
                  <a:schemeClr val="tx1"/>
                </a:solidFill>
              </a:rPr>
              <a:t> </a:t>
            </a:r>
            <a:endParaRPr lang="en-US" altLang="ko-KR" sz="1200" dirty="0">
              <a:solidFill>
                <a:schemeClr val="tx1"/>
              </a:solidFill>
            </a:endParaRPr>
          </a:p>
          <a:p>
            <a:pPr algn="ctr"/>
            <a:r>
              <a:rPr lang="ko-KR" altLang="en-US" sz="1200" dirty="0">
                <a:solidFill>
                  <a:schemeClr val="tx1"/>
                </a:solidFill>
              </a:rPr>
              <a:t>사료를 제조하는 방법</a:t>
            </a:r>
          </a:p>
        </p:txBody>
      </p:sp>
      <p:cxnSp>
        <p:nvCxnSpPr>
          <p:cNvPr id="104" name="직선 연결선 103">
            <a:extLst>
              <a:ext uri="{FF2B5EF4-FFF2-40B4-BE49-F238E27FC236}">
                <a16:creationId xmlns:a16="http://schemas.microsoft.com/office/drawing/2014/main" id="{754F4F66-B98E-432B-BA6C-D83BEDF9EA3F}"/>
              </a:ext>
            </a:extLst>
          </p:cNvPr>
          <p:cNvCxnSpPr>
            <a:cxnSpLocks/>
            <a:stCxn id="5" idx="0"/>
            <a:endCxn id="37" idx="2"/>
          </p:cNvCxnSpPr>
          <p:nvPr/>
        </p:nvCxnSpPr>
        <p:spPr>
          <a:xfrm flipH="1" flipV="1">
            <a:off x="1671520" y="2326088"/>
            <a:ext cx="1902" cy="19992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7B21A458-D60A-4B2A-9B37-636FFD88C5D2}"/>
              </a:ext>
            </a:extLst>
          </p:cNvPr>
          <p:cNvSpPr txBox="1"/>
          <p:nvPr/>
        </p:nvSpPr>
        <p:spPr>
          <a:xfrm>
            <a:off x="3773229" y="3043192"/>
            <a:ext cx="2032348" cy="461665"/>
          </a:xfrm>
          <a:prstGeom prst="rect">
            <a:avLst/>
          </a:prstGeom>
          <a:solidFill>
            <a:schemeClr val="accent1">
              <a:lumMod val="60000"/>
              <a:lumOff val="4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균등물이나 권리소진 되었기 때문에 </a:t>
            </a:r>
            <a:r>
              <a:rPr lang="ko-KR" altLang="en-US" sz="1200" dirty="0" err="1">
                <a:solidFill>
                  <a:schemeClr val="tx1"/>
                </a:solidFill>
                <a:latin typeface="+mn-ea"/>
              </a:rPr>
              <a:t>기각심결</a:t>
            </a:r>
            <a:endParaRPr lang="en-US" altLang="ko-KR" sz="1200" dirty="0">
              <a:solidFill>
                <a:schemeClr val="tx1"/>
              </a:solidFill>
              <a:latin typeface="+mn-ea"/>
            </a:endParaRPr>
          </a:p>
        </p:txBody>
      </p:sp>
      <p:sp>
        <p:nvSpPr>
          <p:cNvPr id="106" name="타원 105">
            <a:extLst>
              <a:ext uri="{FF2B5EF4-FFF2-40B4-BE49-F238E27FC236}">
                <a16:creationId xmlns:a16="http://schemas.microsoft.com/office/drawing/2014/main" id="{0C1EC754-E7F5-4381-89DF-63D2EEBA59F9}"/>
              </a:ext>
            </a:extLst>
          </p:cNvPr>
          <p:cNvSpPr/>
          <p:nvPr/>
        </p:nvSpPr>
        <p:spPr>
          <a:xfrm>
            <a:off x="4712033" y="1698980"/>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7" name="직선 연결선 106">
            <a:extLst>
              <a:ext uri="{FF2B5EF4-FFF2-40B4-BE49-F238E27FC236}">
                <a16:creationId xmlns:a16="http://schemas.microsoft.com/office/drawing/2014/main" id="{6188361F-7BEF-4F4A-B969-5BDECDCD4740}"/>
              </a:ext>
            </a:extLst>
          </p:cNvPr>
          <p:cNvCxnSpPr>
            <a:cxnSpLocks/>
            <a:stCxn id="105" idx="0"/>
            <a:endCxn id="106" idx="4"/>
          </p:cNvCxnSpPr>
          <p:nvPr/>
        </p:nvCxnSpPr>
        <p:spPr>
          <a:xfrm flipH="1" flipV="1">
            <a:off x="4789402" y="1860318"/>
            <a:ext cx="1" cy="118287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83412B41-FD6A-4705-BE8B-2C41BBC0873B}"/>
              </a:ext>
            </a:extLst>
          </p:cNvPr>
          <p:cNvSpPr txBox="1"/>
          <p:nvPr/>
        </p:nvSpPr>
        <p:spPr>
          <a:xfrm>
            <a:off x="5315105" y="2049089"/>
            <a:ext cx="1048682"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심결취소소송</a:t>
            </a:r>
            <a:endParaRPr lang="en-US" altLang="ko-KR" sz="1200" dirty="0">
              <a:solidFill>
                <a:schemeClr val="tx1"/>
              </a:solidFill>
              <a:latin typeface="+mn-ea"/>
            </a:endParaRPr>
          </a:p>
          <a:p>
            <a:pPr algn="ctr"/>
            <a:r>
              <a:rPr lang="ko-KR" altLang="en-US" sz="1200" dirty="0">
                <a:solidFill>
                  <a:schemeClr val="tx1"/>
                </a:solidFill>
                <a:latin typeface="+mn-ea"/>
              </a:rPr>
              <a:t>제기</a:t>
            </a:r>
          </a:p>
        </p:txBody>
      </p:sp>
      <p:sp>
        <p:nvSpPr>
          <p:cNvPr id="109" name="타원 108">
            <a:extLst>
              <a:ext uri="{FF2B5EF4-FFF2-40B4-BE49-F238E27FC236}">
                <a16:creationId xmlns:a16="http://schemas.microsoft.com/office/drawing/2014/main" id="{480860A7-12E9-46AA-B737-934A40696292}"/>
              </a:ext>
            </a:extLst>
          </p:cNvPr>
          <p:cNvSpPr/>
          <p:nvPr/>
        </p:nvSpPr>
        <p:spPr>
          <a:xfrm>
            <a:off x="5762076" y="169898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0" name="직선 연결선 109">
            <a:extLst>
              <a:ext uri="{FF2B5EF4-FFF2-40B4-BE49-F238E27FC236}">
                <a16:creationId xmlns:a16="http://schemas.microsoft.com/office/drawing/2014/main" id="{C033F80C-552B-4BB8-AE1B-4EBEC3B4DEA3}"/>
              </a:ext>
            </a:extLst>
          </p:cNvPr>
          <p:cNvCxnSpPr>
            <a:cxnSpLocks/>
            <a:stCxn id="108" idx="0"/>
            <a:endCxn id="109" idx="4"/>
          </p:cNvCxnSpPr>
          <p:nvPr/>
        </p:nvCxnSpPr>
        <p:spPr>
          <a:xfrm flipH="1" flipV="1">
            <a:off x="5839445" y="186031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1" name="TextBox 110">
            <a:extLst>
              <a:ext uri="{FF2B5EF4-FFF2-40B4-BE49-F238E27FC236}">
                <a16:creationId xmlns:a16="http://schemas.microsoft.com/office/drawing/2014/main" id="{F6630180-F984-45B3-A95E-DC019D437DD3}"/>
              </a:ext>
            </a:extLst>
          </p:cNvPr>
          <p:cNvSpPr txBox="1"/>
          <p:nvPr/>
        </p:nvSpPr>
        <p:spPr>
          <a:xfrm>
            <a:off x="4625220" y="1013468"/>
            <a:ext cx="2905640"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특허권의 공유자 중 한명으로부터 사료제조설비를 경매 등에 의하여 양도받아 실시</a:t>
            </a:r>
          </a:p>
        </p:txBody>
      </p:sp>
      <p:cxnSp>
        <p:nvCxnSpPr>
          <p:cNvPr id="112" name="직선 연결선 111">
            <a:extLst>
              <a:ext uri="{FF2B5EF4-FFF2-40B4-BE49-F238E27FC236}">
                <a16:creationId xmlns:a16="http://schemas.microsoft.com/office/drawing/2014/main" id="{D5C7BDAB-9E2B-4C26-AB88-35E4815D3CD0}"/>
              </a:ext>
            </a:extLst>
          </p:cNvPr>
          <p:cNvCxnSpPr>
            <a:cxnSpLocks/>
            <a:stCxn id="40" idx="3"/>
            <a:endCxn id="111" idx="1"/>
          </p:cNvCxnSpPr>
          <p:nvPr/>
        </p:nvCxnSpPr>
        <p:spPr>
          <a:xfrm>
            <a:off x="4050223" y="1244301"/>
            <a:ext cx="574997"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3" name="TextBox 112">
            <a:extLst>
              <a:ext uri="{FF2B5EF4-FFF2-40B4-BE49-F238E27FC236}">
                <a16:creationId xmlns:a16="http://schemas.microsoft.com/office/drawing/2014/main" id="{679C5EEF-DD35-4048-9EB7-ABAD66F26DC8}"/>
              </a:ext>
            </a:extLst>
          </p:cNvPr>
          <p:cNvSpPr txBox="1"/>
          <p:nvPr/>
        </p:nvSpPr>
        <p:spPr>
          <a:xfrm>
            <a:off x="6354529" y="3043192"/>
            <a:ext cx="2032348" cy="461665"/>
          </a:xfrm>
          <a:prstGeom prst="rect">
            <a:avLst/>
          </a:prstGeom>
          <a:solidFill>
            <a:schemeClr val="accent1">
              <a:lumMod val="60000"/>
              <a:lumOff val="4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균등물이나 </a:t>
            </a:r>
            <a:r>
              <a:rPr lang="ko-KR" altLang="en-US" sz="1200" dirty="0" err="1">
                <a:solidFill>
                  <a:schemeClr val="tx1"/>
                </a:solidFill>
                <a:latin typeface="+mn-ea"/>
              </a:rPr>
              <a:t>권리소진되지</a:t>
            </a:r>
            <a:r>
              <a:rPr lang="ko-KR" altLang="en-US" sz="1200" dirty="0">
                <a:solidFill>
                  <a:schemeClr val="tx1"/>
                </a:solidFill>
                <a:latin typeface="+mn-ea"/>
              </a:rPr>
              <a:t> </a:t>
            </a:r>
            <a:endParaRPr lang="en-US" altLang="ko-KR" sz="1200" dirty="0">
              <a:solidFill>
                <a:schemeClr val="tx1"/>
              </a:solidFill>
              <a:latin typeface="+mn-ea"/>
            </a:endParaRPr>
          </a:p>
          <a:p>
            <a:pPr algn="ctr"/>
            <a:r>
              <a:rPr lang="ko-KR" altLang="en-US" sz="1200" dirty="0">
                <a:solidFill>
                  <a:schemeClr val="tx1"/>
                </a:solidFill>
                <a:latin typeface="+mn-ea"/>
              </a:rPr>
              <a:t>않아 인용판결</a:t>
            </a:r>
            <a:r>
              <a:rPr lang="en-US" altLang="ko-KR" sz="1200" dirty="0">
                <a:solidFill>
                  <a:schemeClr val="tx1"/>
                </a:solidFill>
                <a:latin typeface="+mn-ea"/>
              </a:rPr>
              <a:t>(</a:t>
            </a:r>
            <a:r>
              <a:rPr lang="ko-KR" altLang="en-US" sz="1200" dirty="0" err="1">
                <a:solidFill>
                  <a:schemeClr val="tx1"/>
                </a:solidFill>
                <a:latin typeface="+mn-ea"/>
              </a:rPr>
              <a:t>취소환송</a:t>
            </a:r>
            <a:r>
              <a:rPr lang="en-US" altLang="ko-KR" sz="1200" dirty="0">
                <a:solidFill>
                  <a:schemeClr val="tx1"/>
                </a:solidFill>
                <a:latin typeface="+mn-ea"/>
              </a:rPr>
              <a:t>)</a:t>
            </a:r>
            <a:r>
              <a:rPr lang="ko-KR" altLang="en-US" sz="1200" dirty="0">
                <a:solidFill>
                  <a:schemeClr val="tx1"/>
                </a:solidFill>
                <a:latin typeface="+mn-ea"/>
              </a:rPr>
              <a:t> </a:t>
            </a:r>
            <a:endParaRPr lang="en-US" altLang="ko-KR" sz="1200" dirty="0">
              <a:solidFill>
                <a:schemeClr val="tx1"/>
              </a:solidFill>
              <a:latin typeface="+mn-ea"/>
            </a:endParaRPr>
          </a:p>
        </p:txBody>
      </p:sp>
      <p:sp>
        <p:nvSpPr>
          <p:cNvPr id="114" name="타원 113">
            <a:extLst>
              <a:ext uri="{FF2B5EF4-FFF2-40B4-BE49-F238E27FC236}">
                <a16:creationId xmlns:a16="http://schemas.microsoft.com/office/drawing/2014/main" id="{22C516EE-BA1F-47F6-8660-657D52BB5B82}"/>
              </a:ext>
            </a:extLst>
          </p:cNvPr>
          <p:cNvSpPr/>
          <p:nvPr/>
        </p:nvSpPr>
        <p:spPr>
          <a:xfrm>
            <a:off x="7293333" y="1698980"/>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5" name="직선 연결선 114">
            <a:extLst>
              <a:ext uri="{FF2B5EF4-FFF2-40B4-BE49-F238E27FC236}">
                <a16:creationId xmlns:a16="http://schemas.microsoft.com/office/drawing/2014/main" id="{3652EC2F-E5F3-4AED-B6D8-520E81285572}"/>
              </a:ext>
            </a:extLst>
          </p:cNvPr>
          <p:cNvCxnSpPr>
            <a:cxnSpLocks/>
            <a:stCxn id="113" idx="0"/>
            <a:endCxn id="114" idx="4"/>
          </p:cNvCxnSpPr>
          <p:nvPr/>
        </p:nvCxnSpPr>
        <p:spPr>
          <a:xfrm flipH="1" flipV="1">
            <a:off x="7370702" y="1860318"/>
            <a:ext cx="1" cy="118287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6" name="TextBox 115">
            <a:extLst>
              <a:ext uri="{FF2B5EF4-FFF2-40B4-BE49-F238E27FC236}">
                <a16:creationId xmlns:a16="http://schemas.microsoft.com/office/drawing/2014/main" id="{6D52C961-602D-4C45-81F9-C6FD25F0DC3D}"/>
              </a:ext>
            </a:extLst>
          </p:cNvPr>
          <p:cNvSpPr txBox="1"/>
          <p:nvPr/>
        </p:nvSpPr>
        <p:spPr>
          <a:xfrm>
            <a:off x="8205602" y="1194618"/>
            <a:ext cx="775030"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a:solidFill>
                  <a:schemeClr val="tx1"/>
                </a:solidFill>
                <a:latin typeface="+mn-ea"/>
              </a:rPr>
              <a:t>상고</a:t>
            </a:r>
            <a:endParaRPr lang="ko-KR" altLang="en-US" sz="1200" dirty="0">
              <a:solidFill>
                <a:schemeClr val="tx1"/>
              </a:solidFill>
              <a:latin typeface="+mn-ea"/>
            </a:endParaRPr>
          </a:p>
        </p:txBody>
      </p:sp>
      <p:sp>
        <p:nvSpPr>
          <p:cNvPr id="117" name="타원 116">
            <a:extLst>
              <a:ext uri="{FF2B5EF4-FFF2-40B4-BE49-F238E27FC236}">
                <a16:creationId xmlns:a16="http://schemas.microsoft.com/office/drawing/2014/main" id="{121CC400-69CE-451E-8D14-094211994EE6}"/>
              </a:ext>
            </a:extLst>
          </p:cNvPr>
          <p:cNvSpPr/>
          <p:nvPr/>
        </p:nvSpPr>
        <p:spPr>
          <a:xfrm>
            <a:off x="8515747" y="1698980"/>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8" name="직선 연결선 117">
            <a:extLst>
              <a:ext uri="{FF2B5EF4-FFF2-40B4-BE49-F238E27FC236}">
                <a16:creationId xmlns:a16="http://schemas.microsoft.com/office/drawing/2014/main" id="{072C29CE-8B12-469A-93C0-B5D30D82A400}"/>
              </a:ext>
            </a:extLst>
          </p:cNvPr>
          <p:cNvCxnSpPr>
            <a:cxnSpLocks/>
            <a:stCxn id="116" idx="2"/>
            <a:endCxn id="117" idx="0"/>
          </p:cNvCxnSpPr>
          <p:nvPr/>
        </p:nvCxnSpPr>
        <p:spPr>
          <a:xfrm flipH="1">
            <a:off x="8593116" y="1471617"/>
            <a:ext cx="1" cy="22736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9" name="TextBox 118">
            <a:extLst>
              <a:ext uri="{FF2B5EF4-FFF2-40B4-BE49-F238E27FC236}">
                <a16:creationId xmlns:a16="http://schemas.microsoft.com/office/drawing/2014/main" id="{A5F05147-E480-4407-9565-8300B71B2AFC}"/>
              </a:ext>
            </a:extLst>
          </p:cNvPr>
          <p:cNvSpPr txBox="1"/>
          <p:nvPr/>
        </p:nvSpPr>
        <p:spPr>
          <a:xfrm>
            <a:off x="8817467" y="3043192"/>
            <a:ext cx="2769082" cy="461665"/>
          </a:xfrm>
          <a:prstGeom prst="rect">
            <a:avLst/>
          </a:prstGeom>
          <a:solidFill>
            <a:schemeClr val="accent1">
              <a:lumMod val="60000"/>
              <a:lumOff val="4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균등물이고</a:t>
            </a:r>
            <a:r>
              <a:rPr lang="en-US" altLang="ko-KR" sz="1200" dirty="0">
                <a:solidFill>
                  <a:schemeClr val="tx1"/>
                </a:solidFill>
                <a:latin typeface="+mn-ea"/>
              </a:rPr>
              <a:t>, </a:t>
            </a:r>
            <a:r>
              <a:rPr lang="ko-KR" altLang="en-US" sz="1200" dirty="0" err="1">
                <a:solidFill>
                  <a:schemeClr val="tx1"/>
                </a:solidFill>
                <a:latin typeface="+mn-ea"/>
              </a:rPr>
              <a:t>권리소진여부는</a:t>
            </a:r>
            <a:r>
              <a:rPr lang="ko-KR" altLang="en-US" sz="1200" dirty="0">
                <a:solidFill>
                  <a:schemeClr val="tx1"/>
                </a:solidFill>
                <a:latin typeface="+mn-ea"/>
              </a:rPr>
              <a:t> 권리범위확인과 관련이 없기 때문에 기각판결</a:t>
            </a:r>
            <a:endParaRPr lang="en-US" altLang="ko-KR" sz="1200" dirty="0">
              <a:solidFill>
                <a:schemeClr val="tx1"/>
              </a:solidFill>
              <a:latin typeface="+mn-ea"/>
            </a:endParaRPr>
          </a:p>
        </p:txBody>
      </p:sp>
      <p:sp>
        <p:nvSpPr>
          <p:cNvPr id="120" name="타원 119">
            <a:extLst>
              <a:ext uri="{FF2B5EF4-FFF2-40B4-BE49-F238E27FC236}">
                <a16:creationId xmlns:a16="http://schemas.microsoft.com/office/drawing/2014/main" id="{F345768B-BC37-450C-B1EB-8C673ED8FD10}"/>
              </a:ext>
            </a:extLst>
          </p:cNvPr>
          <p:cNvSpPr/>
          <p:nvPr/>
        </p:nvSpPr>
        <p:spPr>
          <a:xfrm>
            <a:off x="10124638" y="1698980"/>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21" name="직선 연결선 120">
            <a:extLst>
              <a:ext uri="{FF2B5EF4-FFF2-40B4-BE49-F238E27FC236}">
                <a16:creationId xmlns:a16="http://schemas.microsoft.com/office/drawing/2014/main" id="{AB3EE128-6890-4D2F-AFEA-667831B7AF63}"/>
              </a:ext>
            </a:extLst>
          </p:cNvPr>
          <p:cNvCxnSpPr>
            <a:cxnSpLocks/>
            <a:stCxn id="119" idx="0"/>
            <a:endCxn id="120" idx="4"/>
          </p:cNvCxnSpPr>
          <p:nvPr/>
        </p:nvCxnSpPr>
        <p:spPr>
          <a:xfrm flipH="1" flipV="1">
            <a:off x="10202007" y="1860318"/>
            <a:ext cx="1" cy="118287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5" name="직사각형 124">
            <a:extLst>
              <a:ext uri="{FF2B5EF4-FFF2-40B4-BE49-F238E27FC236}">
                <a16:creationId xmlns:a16="http://schemas.microsoft.com/office/drawing/2014/main" id="{121FAB3D-B4B0-413F-BB43-4FE1BA29C6A0}"/>
              </a:ext>
            </a:extLst>
          </p:cNvPr>
          <p:cNvSpPr/>
          <p:nvPr/>
        </p:nvSpPr>
        <p:spPr>
          <a:xfrm>
            <a:off x="6386972" y="3603393"/>
            <a:ext cx="2547492" cy="276999"/>
          </a:xfrm>
          <a:prstGeom prst="rect">
            <a:avLst/>
          </a:prstGeom>
          <a:solidFill>
            <a:schemeClr val="accent4">
              <a:lumMod val="20000"/>
              <a:lumOff val="80000"/>
            </a:schemeClr>
          </a:solidFill>
          <a:ln>
            <a:solidFill>
              <a:schemeClr val="bg1">
                <a:lumMod val="50000"/>
              </a:schemeClr>
            </a:solidFill>
          </a:ln>
        </p:spPr>
        <p:txBody>
          <a:bodyPr wrap="none">
            <a:spAutoFit/>
          </a:bodyPr>
          <a:lstStyle/>
          <a:p>
            <a:pPr algn="ctr"/>
            <a:r>
              <a:rPr lang="ko-KR" altLang="en-US" sz="1200" dirty="0"/>
              <a:t>대법원 </a:t>
            </a:r>
            <a:r>
              <a:rPr lang="en-US" altLang="ko-KR" sz="1200" dirty="0"/>
              <a:t>2010. 12. 9. </a:t>
            </a:r>
            <a:r>
              <a:rPr lang="ko-KR" altLang="en-US" sz="1200" dirty="0"/>
              <a:t>선고 </a:t>
            </a:r>
            <a:r>
              <a:rPr lang="en-US" altLang="ko-KR" sz="1200" dirty="0"/>
              <a:t>2010</a:t>
            </a:r>
            <a:r>
              <a:rPr lang="ko-KR" altLang="en-US" sz="1200" dirty="0"/>
              <a:t>후</a:t>
            </a:r>
            <a:r>
              <a:rPr lang="en-US" altLang="ko-KR" sz="1200" dirty="0"/>
              <a:t>289</a:t>
            </a:r>
            <a:endParaRPr lang="ko-KR" altLang="en-US" sz="1200" dirty="0"/>
          </a:p>
        </p:txBody>
      </p:sp>
      <p:sp>
        <p:nvSpPr>
          <p:cNvPr id="126" name="직사각형 125">
            <a:extLst>
              <a:ext uri="{FF2B5EF4-FFF2-40B4-BE49-F238E27FC236}">
                <a16:creationId xmlns:a16="http://schemas.microsoft.com/office/drawing/2014/main" id="{69FC02C0-F3F4-4B74-8747-D484B8541DBC}"/>
              </a:ext>
            </a:extLst>
          </p:cNvPr>
          <p:cNvSpPr/>
          <p:nvPr/>
        </p:nvSpPr>
        <p:spPr>
          <a:xfrm>
            <a:off x="3229850" y="3605279"/>
            <a:ext cx="2961970" cy="276999"/>
          </a:xfrm>
          <a:prstGeom prst="rect">
            <a:avLst/>
          </a:prstGeom>
          <a:solidFill>
            <a:schemeClr val="accent4">
              <a:lumMod val="20000"/>
              <a:lumOff val="80000"/>
            </a:schemeClr>
          </a:solidFill>
          <a:ln>
            <a:solidFill>
              <a:schemeClr val="bg1">
                <a:lumMod val="50000"/>
              </a:schemeClr>
            </a:solidFill>
          </a:ln>
        </p:spPr>
        <p:txBody>
          <a:bodyPr wrap="square">
            <a:spAutoFit/>
          </a:bodyPr>
          <a:lstStyle/>
          <a:p>
            <a:r>
              <a:rPr lang="ko-KR" altLang="en-US" sz="1200" dirty="0"/>
              <a:t>특허법원 </a:t>
            </a:r>
            <a:r>
              <a:rPr lang="en-US" altLang="ko-KR" sz="1200" dirty="0"/>
              <a:t>2009. 12. 18. </a:t>
            </a:r>
            <a:r>
              <a:rPr lang="ko-KR" altLang="en-US" sz="1200" dirty="0"/>
              <a:t>선고 </a:t>
            </a:r>
            <a:r>
              <a:rPr lang="en-US" altLang="ko-KR" sz="1200" dirty="0"/>
              <a:t>2008</a:t>
            </a:r>
            <a:r>
              <a:rPr lang="ko-KR" altLang="en-US" sz="1200" dirty="0"/>
              <a:t>허</a:t>
            </a:r>
            <a:r>
              <a:rPr lang="en-US" altLang="ko-KR" sz="1200" dirty="0"/>
              <a:t>13299</a:t>
            </a:r>
            <a:endParaRPr lang="ko-KR" altLang="en-US" sz="1200" dirty="0"/>
          </a:p>
        </p:txBody>
      </p:sp>
      <p:sp>
        <p:nvSpPr>
          <p:cNvPr id="128" name="직사각형 127">
            <a:extLst>
              <a:ext uri="{FF2B5EF4-FFF2-40B4-BE49-F238E27FC236}">
                <a16:creationId xmlns:a16="http://schemas.microsoft.com/office/drawing/2014/main" id="{17CE0C80-F8DE-4E82-9631-D262D7366DBC}"/>
              </a:ext>
            </a:extLst>
          </p:cNvPr>
          <p:cNvSpPr/>
          <p:nvPr/>
        </p:nvSpPr>
        <p:spPr>
          <a:xfrm>
            <a:off x="181849" y="3880392"/>
            <a:ext cx="6013997" cy="2862322"/>
          </a:xfrm>
          <a:prstGeom prst="rect">
            <a:avLst/>
          </a:prstGeom>
          <a:ln>
            <a:solidFill>
              <a:schemeClr val="bg1">
                <a:lumMod val="50000"/>
              </a:schemeClr>
            </a:solidFill>
          </a:ln>
        </p:spPr>
        <p:txBody>
          <a:bodyPr wrap="square">
            <a:spAutoFit/>
          </a:bodyPr>
          <a:lstStyle/>
          <a:p>
            <a:r>
              <a:rPr lang="en-US" altLang="ko-KR" sz="1000" dirty="0"/>
              <a:t>[1] </a:t>
            </a:r>
            <a:r>
              <a:rPr lang="ko-KR" altLang="en-US" sz="1000" dirty="0"/>
              <a:t>명칭이 ‘혈분 사료 </a:t>
            </a:r>
            <a:r>
              <a:rPr lang="ko-KR" altLang="en-US" sz="1000" dirty="0" err="1"/>
              <a:t>제조방법’인</a:t>
            </a:r>
            <a:r>
              <a:rPr lang="ko-KR" altLang="en-US" sz="1000" dirty="0"/>
              <a:t> 확인대상발명은</a:t>
            </a:r>
            <a:r>
              <a:rPr lang="en-US" altLang="ko-KR" sz="1000" dirty="0"/>
              <a:t>, </a:t>
            </a:r>
            <a:r>
              <a:rPr lang="ko-KR" altLang="en-US" sz="1000" dirty="0"/>
              <a:t>명칭이 ‘유기성 폐기물을 순간 </a:t>
            </a:r>
            <a:r>
              <a:rPr lang="ko-KR" altLang="en-US" sz="1000" dirty="0" err="1"/>
              <a:t>고온처리하여</a:t>
            </a:r>
            <a:r>
              <a:rPr lang="ko-KR" altLang="en-US" sz="1000" dirty="0"/>
              <a:t> 사료를 제조하는 </a:t>
            </a:r>
            <a:r>
              <a:rPr lang="ko-KR" altLang="en-US" sz="1000" dirty="0" err="1"/>
              <a:t>방법’인</a:t>
            </a:r>
            <a:r>
              <a:rPr lang="ko-KR" altLang="en-US" sz="1000" dirty="0"/>
              <a:t> 특허발명의 청구항 </a:t>
            </a:r>
            <a:r>
              <a:rPr lang="en-US" altLang="ko-KR" sz="1000" dirty="0"/>
              <a:t>1, 2</a:t>
            </a:r>
            <a:r>
              <a:rPr lang="ko-KR" altLang="en-US" sz="1000" dirty="0"/>
              <a:t>와 그 </a:t>
            </a:r>
            <a:r>
              <a:rPr lang="ko-KR" altLang="en-US" sz="1000" dirty="0" err="1"/>
              <a:t>임펠라의</a:t>
            </a:r>
            <a:r>
              <a:rPr lang="ko-KR" altLang="en-US" sz="1000" dirty="0"/>
              <a:t> 회전속도에서 다소 차이가 있으나</a:t>
            </a:r>
            <a:r>
              <a:rPr lang="en-US" altLang="ko-KR" sz="1000" dirty="0"/>
              <a:t>, </a:t>
            </a:r>
            <a:r>
              <a:rPr lang="ko-KR" altLang="en-US" sz="1000" dirty="0"/>
              <a:t>그 차이에도 불구하고 위 </a:t>
            </a:r>
            <a:r>
              <a:rPr lang="ko-KR" altLang="en-US" sz="1000" dirty="0" err="1"/>
              <a:t>발명들에서</a:t>
            </a:r>
            <a:r>
              <a:rPr lang="ko-KR" altLang="en-US" sz="1000" dirty="0"/>
              <a:t> 과제의 해결원리가 동일하고</a:t>
            </a:r>
            <a:r>
              <a:rPr lang="en-US" altLang="ko-KR" sz="1000" dirty="0"/>
              <a:t>, </a:t>
            </a:r>
            <a:r>
              <a:rPr lang="ko-KR" altLang="en-US" sz="1000" dirty="0"/>
              <a:t>그 회전속도를 치환하더라도 위 청구항 </a:t>
            </a:r>
            <a:r>
              <a:rPr lang="en-US" altLang="ko-KR" sz="1000" dirty="0"/>
              <a:t>1, 2</a:t>
            </a:r>
            <a:r>
              <a:rPr lang="ko-KR" altLang="en-US" sz="1000" dirty="0"/>
              <a:t>에서와 같은 목적을 달성할 수 있고 실질적으로 동일한 작용효과를 나타내며</a:t>
            </a:r>
            <a:r>
              <a:rPr lang="en-US" altLang="ko-KR" sz="1000" dirty="0"/>
              <a:t>, </a:t>
            </a:r>
            <a:r>
              <a:rPr lang="ko-KR" altLang="en-US" sz="1000" dirty="0"/>
              <a:t>그와 같이 치환하는 것이 그 기술분야에서 통상의 지식을 가진 사람이라면 누구나 용이하게 생각해 낼 수 있는 정도로 자명하여</a:t>
            </a:r>
            <a:r>
              <a:rPr lang="en-US" altLang="ko-KR" sz="1000" dirty="0"/>
              <a:t>, </a:t>
            </a:r>
            <a:r>
              <a:rPr lang="ko-KR" altLang="en-US" sz="1000" dirty="0"/>
              <a:t>전체적으로 위 청구항 </a:t>
            </a:r>
            <a:r>
              <a:rPr lang="en-US" altLang="ko-KR" sz="1000" dirty="0"/>
              <a:t>1, 2</a:t>
            </a:r>
            <a:r>
              <a:rPr lang="ko-KR" altLang="en-US" sz="1000" dirty="0"/>
              <a:t>와 기술적 구성이 균등한 범위 내에 있으므로</a:t>
            </a:r>
            <a:r>
              <a:rPr lang="en-US" altLang="ko-KR" sz="1000" dirty="0"/>
              <a:t>, </a:t>
            </a:r>
            <a:r>
              <a:rPr lang="ko-KR" altLang="en-US" sz="1000" dirty="0"/>
              <a:t>특허발명의 권리범위에 속한다</a:t>
            </a:r>
            <a:r>
              <a:rPr lang="en-US" altLang="ko-KR" sz="1000" dirty="0"/>
              <a:t>.</a:t>
            </a:r>
          </a:p>
          <a:p>
            <a:endParaRPr lang="en-US" altLang="ko-KR" sz="1000" dirty="0"/>
          </a:p>
          <a:p>
            <a:r>
              <a:rPr lang="en-US" altLang="ko-KR" sz="1000" dirty="0"/>
              <a:t>[2] </a:t>
            </a:r>
            <a:r>
              <a:rPr lang="ko-KR" altLang="en-US" sz="1000" dirty="0"/>
              <a:t>물건의 발명 또는 물건을 생산하는 방법의 발명에 대한 특허권자 또는 그 특허권자로부터 허락을 받은 </a:t>
            </a:r>
            <a:r>
              <a:rPr lang="ko-KR" altLang="en-US" sz="1000" dirty="0" err="1"/>
              <a:t>실시권자가</a:t>
            </a:r>
            <a:r>
              <a:rPr lang="ko-KR" altLang="en-US" sz="1000" dirty="0"/>
              <a:t> 우리나라에서 특허물건 또는 특허방법에 의해 생산한 물건을 양도한 경우에는 당해 물건에 관해서는 특허권이 이미 그 목적을 달성하였으므로 소진된다</a:t>
            </a:r>
            <a:r>
              <a:rPr lang="en-US" altLang="ko-KR" sz="1000" dirty="0"/>
              <a:t>. </a:t>
            </a:r>
            <a:r>
              <a:rPr lang="ko-KR" altLang="en-US" sz="1000" dirty="0"/>
              <a:t>그리고 방법의 발명에 대한 특허권자가 우리나라에서 그 방법의 실시에만 사용하는 물건을 양도한 경우에도 양수인 또는 </a:t>
            </a:r>
            <a:r>
              <a:rPr lang="ko-KR" altLang="en-US" sz="1000" dirty="0" err="1"/>
              <a:t>전득자가</a:t>
            </a:r>
            <a:r>
              <a:rPr lang="ko-KR" altLang="en-US" sz="1000" dirty="0"/>
              <a:t> 그 물건을 이용하여 해당 방법발명을 실시하는 것과 관련하여서는 특허권이 소진되며</a:t>
            </a:r>
            <a:r>
              <a:rPr lang="en-US" altLang="ko-KR" sz="1000" dirty="0"/>
              <a:t>, </a:t>
            </a:r>
            <a:r>
              <a:rPr lang="ko-KR" altLang="en-US" sz="1000" dirty="0"/>
              <a:t>위에서 본 특허권 소진의 근거에 비추어 볼 때 </a:t>
            </a:r>
            <a:r>
              <a:rPr lang="ko-KR" altLang="en-US" sz="1000" dirty="0">
                <a:solidFill>
                  <a:srgbClr val="FF0000"/>
                </a:solidFill>
              </a:rPr>
              <a:t>물건의 양도가 계약에 의한 </a:t>
            </a:r>
            <a:r>
              <a:rPr lang="ko-KR" altLang="en-US" sz="1000" dirty="0" err="1">
                <a:solidFill>
                  <a:srgbClr val="FF0000"/>
                </a:solidFill>
              </a:rPr>
              <a:t>경우뿐만</a:t>
            </a:r>
            <a:r>
              <a:rPr lang="ko-KR" altLang="en-US" sz="1000" dirty="0">
                <a:solidFill>
                  <a:srgbClr val="FF0000"/>
                </a:solidFill>
              </a:rPr>
              <a:t> 아니라 경매절차에 의한 경우에도 특별한 사정이 없는 한 특허권 소진의 법리는 적용된다</a:t>
            </a:r>
            <a:r>
              <a:rPr lang="en-US" altLang="ko-KR" sz="1000" dirty="0">
                <a:solidFill>
                  <a:srgbClr val="FF0000"/>
                </a:solidFill>
              </a:rPr>
              <a:t>.</a:t>
            </a:r>
          </a:p>
          <a:p>
            <a:endParaRPr lang="en-US" altLang="ko-KR" sz="1000" dirty="0"/>
          </a:p>
          <a:p>
            <a:r>
              <a:rPr lang="en-US" altLang="ko-KR" sz="1000" dirty="0"/>
              <a:t>[3] </a:t>
            </a:r>
            <a:r>
              <a:rPr lang="ko-KR" altLang="en-US" sz="1000" dirty="0"/>
              <a:t>방법의 발명에 대한 특허권이 공유인 경우에 있어서는</a:t>
            </a:r>
            <a:r>
              <a:rPr lang="en-US" altLang="ko-KR" sz="1000" dirty="0"/>
              <a:t>, </a:t>
            </a:r>
            <a:r>
              <a:rPr lang="ko-KR" altLang="en-US" sz="1000" dirty="0"/>
              <a:t>우리나라에서 그 방법의 실시에만 사용되는 물건이 양도되었다고 하더라도</a:t>
            </a:r>
            <a:r>
              <a:rPr lang="en-US" altLang="ko-KR" sz="1000" dirty="0"/>
              <a:t>, </a:t>
            </a:r>
            <a:r>
              <a:rPr lang="ko-KR" altLang="en-US" sz="1000" dirty="0"/>
              <a:t>그 물건이 공유자 중 일부의 소유이고 그 소유자가 아닌 다른 공유자가 그 물건의 양도에 대해서 동의를 한 바가 없다면</a:t>
            </a:r>
            <a:r>
              <a:rPr lang="en-US" altLang="ko-KR" sz="1000" dirty="0"/>
              <a:t>, </a:t>
            </a:r>
            <a:r>
              <a:rPr lang="ko-KR" altLang="en-US" sz="1000" dirty="0">
                <a:solidFill>
                  <a:srgbClr val="FF0000"/>
                </a:solidFill>
              </a:rPr>
              <a:t>양수인 또는 </a:t>
            </a:r>
            <a:r>
              <a:rPr lang="ko-KR" altLang="en-US" sz="1000" dirty="0" err="1">
                <a:solidFill>
                  <a:srgbClr val="FF0000"/>
                </a:solidFill>
              </a:rPr>
              <a:t>전득자가</a:t>
            </a:r>
            <a:r>
              <a:rPr lang="ko-KR" altLang="en-US" sz="1000" dirty="0">
                <a:solidFill>
                  <a:srgbClr val="FF0000"/>
                </a:solidFill>
              </a:rPr>
              <a:t> 그 물건을 이용하여 해당 방법발명을 실시하는 것과 관련하여서 특허권이 소진되지 않는다</a:t>
            </a:r>
            <a:r>
              <a:rPr lang="en-US" altLang="ko-KR" sz="1000" dirty="0">
                <a:solidFill>
                  <a:srgbClr val="FF0000"/>
                </a:solidFill>
              </a:rPr>
              <a:t>.</a:t>
            </a:r>
            <a:endParaRPr lang="ko-KR" altLang="en-US" sz="1000" dirty="0">
              <a:solidFill>
                <a:srgbClr val="FF0000"/>
              </a:solidFill>
            </a:endParaRPr>
          </a:p>
        </p:txBody>
      </p:sp>
      <p:sp>
        <p:nvSpPr>
          <p:cNvPr id="129" name="직사각형 128">
            <a:extLst>
              <a:ext uri="{FF2B5EF4-FFF2-40B4-BE49-F238E27FC236}">
                <a16:creationId xmlns:a16="http://schemas.microsoft.com/office/drawing/2014/main" id="{AFB9BF30-A99E-4F2D-B627-E58D6382A86D}"/>
              </a:ext>
            </a:extLst>
          </p:cNvPr>
          <p:cNvSpPr/>
          <p:nvPr/>
        </p:nvSpPr>
        <p:spPr>
          <a:xfrm>
            <a:off x="6382489" y="3880392"/>
            <a:ext cx="5452954" cy="1631216"/>
          </a:xfrm>
          <a:prstGeom prst="rect">
            <a:avLst/>
          </a:prstGeom>
          <a:ln>
            <a:solidFill>
              <a:schemeClr val="bg1">
                <a:lumMod val="50000"/>
              </a:schemeClr>
            </a:solidFill>
          </a:ln>
        </p:spPr>
        <p:txBody>
          <a:bodyPr wrap="square">
            <a:spAutoFit/>
          </a:bodyPr>
          <a:lstStyle/>
          <a:p>
            <a:r>
              <a:rPr lang="en-US" altLang="ko-KR" sz="1000" dirty="0"/>
              <a:t>[1] </a:t>
            </a:r>
            <a:r>
              <a:rPr lang="ko-KR" altLang="en-US" sz="1000" dirty="0"/>
              <a:t>특허권의 적극적 권리범위 확인심판은 특허발명의 보호범위를 기초로 하여 심판청구인이 확인대상발명에 대하여 특허권의 효력이 미치는가를 확인하는 권리확정을 목적으로 한 것이므로</a:t>
            </a:r>
            <a:r>
              <a:rPr lang="en-US" altLang="ko-KR" sz="1000" dirty="0"/>
              <a:t>, </a:t>
            </a:r>
            <a:r>
              <a:rPr lang="ko-KR" altLang="en-US" sz="1000" dirty="0"/>
              <a:t>설령 확인대상발명의 실시와 관련된 특정한 물건과의 관계에서 특허권이 소진되었다 하더라도 그와 같은 사정은 특허권 침해소송에서 항변으로 주장함은 별론으로 하고 확인대상발명이 특허권의 권리범위에 속한다는 확인을 구하는 것과는 아무런 관련이 없다</a:t>
            </a:r>
            <a:r>
              <a:rPr lang="en-US" altLang="ko-KR" sz="1000" dirty="0"/>
              <a:t>.</a:t>
            </a:r>
          </a:p>
          <a:p>
            <a:endParaRPr lang="en-US" altLang="ko-KR" sz="1000" dirty="0"/>
          </a:p>
          <a:p>
            <a:r>
              <a:rPr lang="en-US" altLang="ko-KR" sz="1000" dirty="0"/>
              <a:t>[2] </a:t>
            </a:r>
            <a:r>
              <a:rPr lang="ko-KR" altLang="en-US" sz="1000" dirty="0"/>
              <a:t>명칭을 ‘유기성 폐기물을 순간 </a:t>
            </a:r>
            <a:r>
              <a:rPr lang="ko-KR" altLang="en-US" sz="1000" dirty="0" err="1"/>
              <a:t>고온처리하여</a:t>
            </a:r>
            <a:r>
              <a:rPr lang="ko-KR" altLang="en-US" sz="1000" dirty="0"/>
              <a:t> 사료를 제조하는 </a:t>
            </a:r>
            <a:r>
              <a:rPr lang="ko-KR" altLang="en-US" sz="1000" dirty="0" err="1"/>
              <a:t>방법’으로</a:t>
            </a:r>
            <a:r>
              <a:rPr lang="ko-KR" altLang="en-US" sz="1000" dirty="0"/>
              <a:t> 하는 특허발명 특허청구범위 제</a:t>
            </a:r>
            <a:r>
              <a:rPr lang="en-US" altLang="ko-KR" sz="1000" dirty="0"/>
              <a:t>1, 2</a:t>
            </a:r>
            <a:r>
              <a:rPr lang="ko-KR" altLang="en-US" sz="1000" dirty="0"/>
              <a:t>항에 대한 특허권의 공유자 중 </a:t>
            </a:r>
            <a:r>
              <a:rPr lang="en-US" altLang="ko-KR" sz="1000" dirty="0"/>
              <a:t>1</a:t>
            </a:r>
            <a:r>
              <a:rPr lang="ko-KR" altLang="en-US" sz="1000" dirty="0"/>
              <a:t>인의 소유였던 사료제조설비가 甲에게 양도된 사안에서</a:t>
            </a:r>
            <a:r>
              <a:rPr lang="en-US" altLang="ko-KR" sz="1000" dirty="0"/>
              <a:t>, </a:t>
            </a:r>
            <a:r>
              <a:rPr lang="ko-KR" altLang="en-US" sz="1000" dirty="0"/>
              <a:t>甲이 위 설비를 이용하여 확인대상발명을 실시하는 것과 관련하여 확인대상발명이 그 권리범위에 속한다는 확인을 구하는 것과 위 특허권이 소진되었는지 여부는 아무런 관련이 없다</a:t>
            </a:r>
            <a:r>
              <a:rPr lang="en-US" altLang="ko-KR" sz="1000" dirty="0"/>
              <a:t>.</a:t>
            </a:r>
            <a:endParaRPr lang="ko-KR" altLang="en-US" sz="1000" dirty="0">
              <a:solidFill>
                <a:srgbClr val="FF0000"/>
              </a:solidFill>
            </a:endParaRPr>
          </a:p>
        </p:txBody>
      </p:sp>
      <p:cxnSp>
        <p:nvCxnSpPr>
          <p:cNvPr id="131" name="직선 연결선 130">
            <a:extLst>
              <a:ext uri="{FF2B5EF4-FFF2-40B4-BE49-F238E27FC236}">
                <a16:creationId xmlns:a16="http://schemas.microsoft.com/office/drawing/2014/main" id="{A9D1F465-23A4-453F-8707-F6ED25613985}"/>
              </a:ext>
            </a:extLst>
          </p:cNvPr>
          <p:cNvCxnSpPr>
            <a:cxnSpLocks/>
            <a:stCxn id="73" idx="0"/>
            <a:endCxn id="64" idx="2"/>
          </p:cNvCxnSpPr>
          <p:nvPr/>
        </p:nvCxnSpPr>
        <p:spPr>
          <a:xfrm flipV="1">
            <a:off x="3929161" y="2510754"/>
            <a:ext cx="0" cy="16190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6" name="연결선: 꺾임 135">
            <a:extLst>
              <a:ext uri="{FF2B5EF4-FFF2-40B4-BE49-F238E27FC236}">
                <a16:creationId xmlns:a16="http://schemas.microsoft.com/office/drawing/2014/main" id="{BBAA78F2-A121-40B1-89AC-693451FBD316}"/>
              </a:ext>
            </a:extLst>
          </p:cNvPr>
          <p:cNvCxnSpPr>
            <a:stCxn id="113" idx="1"/>
            <a:endCxn id="126" idx="3"/>
          </p:cNvCxnSpPr>
          <p:nvPr/>
        </p:nvCxnSpPr>
        <p:spPr>
          <a:xfrm rot="10800000" flipV="1">
            <a:off x="6191821" y="3274025"/>
            <a:ext cx="162709" cy="46975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8" name="연결선: 꺾임 137">
            <a:extLst>
              <a:ext uri="{FF2B5EF4-FFF2-40B4-BE49-F238E27FC236}">
                <a16:creationId xmlns:a16="http://schemas.microsoft.com/office/drawing/2014/main" id="{78414585-310E-48B7-A734-DE2A3366F2FB}"/>
              </a:ext>
            </a:extLst>
          </p:cNvPr>
          <p:cNvCxnSpPr>
            <a:stCxn id="119" idx="2"/>
            <a:endCxn id="125" idx="3"/>
          </p:cNvCxnSpPr>
          <p:nvPr/>
        </p:nvCxnSpPr>
        <p:spPr>
          <a:xfrm rot="5400000">
            <a:off x="9449718" y="2989603"/>
            <a:ext cx="237036" cy="1267544"/>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9" name="말풍선: 모서리가 둥근 사각형 138">
            <a:extLst>
              <a:ext uri="{FF2B5EF4-FFF2-40B4-BE49-F238E27FC236}">
                <a16:creationId xmlns:a16="http://schemas.microsoft.com/office/drawing/2014/main" id="{E77BF664-46A4-4416-A23E-F16BC7FF9E39}"/>
              </a:ext>
            </a:extLst>
          </p:cNvPr>
          <p:cNvSpPr/>
          <p:nvPr/>
        </p:nvSpPr>
        <p:spPr>
          <a:xfrm>
            <a:off x="6557197" y="5670387"/>
            <a:ext cx="5452954" cy="332924"/>
          </a:xfrm>
          <a:prstGeom prst="wedgeRoundRectCallout">
            <a:avLst>
              <a:gd name="adj1" fmla="val -57903"/>
              <a:gd name="adj2" fmla="val -37700"/>
              <a:gd name="adj3" fmla="val 16667"/>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1) </a:t>
            </a:r>
            <a:r>
              <a:rPr lang="ko-KR" altLang="en-US" sz="1200" dirty="0">
                <a:solidFill>
                  <a:schemeClr val="tx1"/>
                </a:solidFill>
              </a:rPr>
              <a:t>양수자 및 </a:t>
            </a:r>
            <a:r>
              <a:rPr lang="ko-KR" altLang="en-US" sz="1200" dirty="0" err="1">
                <a:solidFill>
                  <a:schemeClr val="tx1"/>
                </a:solidFill>
              </a:rPr>
              <a:t>전득자의</a:t>
            </a:r>
            <a:r>
              <a:rPr lang="ko-KR" altLang="en-US" sz="1200" dirty="0">
                <a:solidFill>
                  <a:schemeClr val="tx1"/>
                </a:solidFill>
              </a:rPr>
              <a:t> 보호</a:t>
            </a:r>
            <a:r>
              <a:rPr lang="en-US" altLang="ko-KR" sz="1200" dirty="0">
                <a:solidFill>
                  <a:schemeClr val="tx1"/>
                </a:solidFill>
              </a:rPr>
              <a:t>, 2), </a:t>
            </a:r>
            <a:r>
              <a:rPr lang="ko-KR" altLang="en-US" sz="1200" dirty="0">
                <a:solidFill>
                  <a:schemeClr val="tx1"/>
                </a:solidFill>
              </a:rPr>
              <a:t>유통 과정의 활성화</a:t>
            </a:r>
            <a:r>
              <a:rPr lang="en-US" altLang="ko-KR" sz="1200" dirty="0">
                <a:solidFill>
                  <a:schemeClr val="tx1"/>
                </a:solidFill>
              </a:rPr>
              <a:t>, 3) </a:t>
            </a:r>
            <a:r>
              <a:rPr lang="ko-KR" altLang="en-US" sz="1200" dirty="0">
                <a:solidFill>
                  <a:schemeClr val="tx1"/>
                </a:solidFill>
              </a:rPr>
              <a:t>특허권자의 이중 이득 불필요</a:t>
            </a:r>
          </a:p>
        </p:txBody>
      </p:sp>
      <p:sp>
        <p:nvSpPr>
          <p:cNvPr id="140" name="말풍선: 모서리가 둥근 사각형 139">
            <a:extLst>
              <a:ext uri="{FF2B5EF4-FFF2-40B4-BE49-F238E27FC236}">
                <a16:creationId xmlns:a16="http://schemas.microsoft.com/office/drawing/2014/main" id="{9CD8E41F-E746-4BFE-A002-2C21002A580A}"/>
              </a:ext>
            </a:extLst>
          </p:cNvPr>
          <p:cNvSpPr/>
          <p:nvPr/>
        </p:nvSpPr>
        <p:spPr>
          <a:xfrm>
            <a:off x="6557197" y="6097880"/>
            <a:ext cx="5452954" cy="475448"/>
          </a:xfrm>
          <a:prstGeom prst="wedgeRoundRectCallout">
            <a:avLst>
              <a:gd name="adj1" fmla="val -57903"/>
              <a:gd name="adj2" fmla="val -37700"/>
              <a:gd name="adj3" fmla="val 16667"/>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solidFill>
              </a:rPr>
              <a:t>제조설비의 양도가 제</a:t>
            </a:r>
            <a:r>
              <a:rPr lang="en-US" altLang="ko-KR" sz="1200" dirty="0">
                <a:solidFill>
                  <a:schemeClr val="tx1"/>
                </a:solidFill>
              </a:rPr>
              <a:t>99</a:t>
            </a:r>
            <a:r>
              <a:rPr lang="ko-KR" altLang="en-US" sz="1200" dirty="0">
                <a:solidFill>
                  <a:schemeClr val="tx1"/>
                </a:solidFill>
              </a:rPr>
              <a:t>조제</a:t>
            </a:r>
            <a:r>
              <a:rPr lang="en-US" altLang="ko-KR" sz="1200" dirty="0">
                <a:solidFill>
                  <a:schemeClr val="tx1"/>
                </a:solidFill>
              </a:rPr>
              <a:t>3</a:t>
            </a:r>
            <a:r>
              <a:rPr lang="ko-KR" altLang="en-US" sz="1200" dirty="0">
                <a:solidFill>
                  <a:schemeClr val="tx1"/>
                </a:solidFill>
              </a:rPr>
              <a:t>항에 의한 방법발명의 실시가 아닐 뿐만 아니라</a:t>
            </a:r>
            <a:r>
              <a:rPr lang="en-US" altLang="ko-KR" sz="1200" dirty="0">
                <a:solidFill>
                  <a:schemeClr val="tx1"/>
                </a:solidFill>
              </a:rPr>
              <a:t>, </a:t>
            </a:r>
            <a:r>
              <a:rPr lang="ko-KR" altLang="en-US" sz="1200" dirty="0">
                <a:solidFill>
                  <a:schemeClr val="tx1"/>
                </a:solidFill>
              </a:rPr>
              <a:t>만약 소진된다면 제</a:t>
            </a:r>
            <a:r>
              <a:rPr lang="en-US" altLang="ko-KR" sz="1200" dirty="0">
                <a:solidFill>
                  <a:schemeClr val="tx1"/>
                </a:solidFill>
              </a:rPr>
              <a:t>99</a:t>
            </a:r>
            <a:r>
              <a:rPr lang="ko-KR" altLang="en-US" sz="1200" dirty="0">
                <a:solidFill>
                  <a:schemeClr val="tx1"/>
                </a:solidFill>
              </a:rPr>
              <a:t>조제</a:t>
            </a:r>
            <a:r>
              <a:rPr lang="en-US" altLang="ko-KR" sz="1200" dirty="0">
                <a:solidFill>
                  <a:schemeClr val="tx1"/>
                </a:solidFill>
              </a:rPr>
              <a:t>4</a:t>
            </a:r>
            <a:r>
              <a:rPr lang="ko-KR" altLang="en-US" sz="1200" dirty="0">
                <a:solidFill>
                  <a:schemeClr val="tx1"/>
                </a:solidFill>
              </a:rPr>
              <a:t>항을 무력화하는 결과를 초래함</a:t>
            </a:r>
          </a:p>
        </p:txBody>
      </p:sp>
    </p:spTree>
    <p:extLst>
      <p:ext uri="{BB962C8B-B14F-4D97-AF65-F5344CB8AC3E}">
        <p14:creationId xmlns:p14="http://schemas.microsoft.com/office/powerpoint/2010/main" val="733380906"/>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94</a:t>
            </a:r>
            <a:r>
              <a:rPr lang="ko-KR" altLang="en-US" dirty="0"/>
              <a:t>조</a:t>
            </a:r>
            <a:r>
              <a:rPr lang="en-US" altLang="ko-KR" dirty="0"/>
              <a:t>~</a:t>
            </a:r>
            <a:r>
              <a:rPr lang="ko-KR" altLang="en-US" dirty="0"/>
              <a:t>제</a:t>
            </a:r>
            <a:r>
              <a:rPr lang="en-US" altLang="ko-KR" dirty="0"/>
              <a:t>96</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실시 </a:t>
            </a:r>
            <a:r>
              <a:rPr lang="en-US" altLang="ko-KR" dirty="0">
                <a:solidFill>
                  <a:schemeClr val="tx1">
                    <a:lumMod val="65000"/>
                    <a:lumOff val="35000"/>
                  </a:schemeClr>
                </a:solidFill>
              </a:rPr>
              <a:t>vs </a:t>
            </a:r>
            <a:r>
              <a:rPr lang="ko-KR" altLang="en-US" dirty="0">
                <a:solidFill>
                  <a:schemeClr val="tx1">
                    <a:lumMod val="65000"/>
                    <a:lumOff val="35000"/>
                  </a:schemeClr>
                </a:solidFill>
              </a:rPr>
              <a:t>침해</a:t>
            </a:r>
          </a:p>
        </p:txBody>
      </p:sp>
      <p:cxnSp>
        <p:nvCxnSpPr>
          <p:cNvPr id="18" name="직선 연결선 17"/>
          <p:cNvCxnSpPr/>
          <p:nvPr/>
        </p:nvCxnSpPr>
        <p:spPr>
          <a:xfrm>
            <a:off x="0" y="214984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77875" y="976902"/>
            <a:ext cx="11936323" cy="1169551"/>
          </a:xfrm>
          <a:prstGeom prst="rect">
            <a:avLst/>
          </a:prstGeom>
          <a:noFill/>
        </p:spPr>
        <p:txBody>
          <a:bodyPr wrap="square" rtlCol="0">
            <a:spAutoFit/>
          </a:bodyPr>
          <a:lstStyle/>
          <a:p>
            <a:pPr fontAlgn="base"/>
            <a:r>
              <a:rPr lang="ko-KR" altLang="en-US" sz="1400" dirty="0">
                <a:solidFill>
                  <a:schemeClr val="tx2"/>
                </a:solidFill>
              </a:rPr>
              <a:t>「실시행위의 독립성」이란 각각의 </a:t>
            </a:r>
            <a:r>
              <a:rPr lang="ko-KR" altLang="en-US" sz="1400" dirty="0">
                <a:highlight>
                  <a:srgbClr val="FFFF00"/>
                </a:highlight>
              </a:rPr>
              <a:t>실시행위는 서로 독립적이므로 침해 여부 역시 각각 독립적으로 판단하여야 한다는 것</a:t>
            </a:r>
            <a:r>
              <a:rPr lang="ko-KR" altLang="en-US" sz="1400" dirty="0">
                <a:solidFill>
                  <a:schemeClr val="tx2"/>
                </a:solidFill>
              </a:rPr>
              <a:t>을 말한다</a:t>
            </a:r>
            <a:r>
              <a:rPr lang="en-US" altLang="ko-KR" sz="1400" dirty="0">
                <a:solidFill>
                  <a:schemeClr val="tx2"/>
                </a:solidFill>
              </a:rPr>
              <a:t>. </a:t>
            </a:r>
            <a:r>
              <a:rPr lang="ko-KR" altLang="en-US" sz="1400" dirty="0">
                <a:solidFill>
                  <a:schemeClr val="tx2"/>
                </a:solidFill>
              </a:rPr>
              <a:t>즉</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2</a:t>
            </a:r>
            <a:r>
              <a:rPr lang="ko-KR" altLang="en-US" sz="1400" dirty="0">
                <a:solidFill>
                  <a:schemeClr val="tx2"/>
                </a:solidFill>
              </a:rPr>
              <a:t>조제</a:t>
            </a:r>
            <a:r>
              <a:rPr lang="en-US" altLang="ko-KR" sz="1400" dirty="0">
                <a:solidFill>
                  <a:schemeClr val="tx2"/>
                </a:solidFill>
              </a:rPr>
              <a:t>3</a:t>
            </a:r>
            <a:r>
              <a:rPr lang="ko-KR" altLang="en-US" sz="1400" dirty="0" err="1">
                <a:solidFill>
                  <a:schemeClr val="tx2"/>
                </a:solidFill>
              </a:rPr>
              <a:t>호에서</a:t>
            </a:r>
            <a:r>
              <a:rPr lang="ko-KR" altLang="en-US" sz="1400" dirty="0">
                <a:solidFill>
                  <a:schemeClr val="tx2"/>
                </a:solidFill>
              </a:rPr>
              <a:t> 규정한 각각의 실시행위는 특허권의 효력상 독립적이며 어느 하나의 실시행위는 다른 실시행위에 영향을 미치지 아니하기 때문에 한 단계의 실시행위가 적법하다고 하여 다른 단계의 행위까지도 적법하게 되는 것은 아니다</a:t>
            </a:r>
            <a:r>
              <a:rPr lang="en-US" altLang="ko-KR" sz="1400" dirty="0">
                <a:solidFill>
                  <a:schemeClr val="tx2"/>
                </a:solidFill>
              </a:rPr>
              <a:t>. </a:t>
            </a:r>
            <a:r>
              <a:rPr lang="ko-KR" altLang="en-US" sz="1400" dirty="0">
                <a:solidFill>
                  <a:schemeClr val="tx2"/>
                </a:solidFill>
              </a:rPr>
              <a:t>예컨대</a:t>
            </a:r>
            <a:r>
              <a:rPr lang="en-US" altLang="ko-KR" sz="1400" dirty="0">
                <a:solidFill>
                  <a:schemeClr val="tx2"/>
                </a:solidFill>
              </a:rPr>
              <a:t>, </a:t>
            </a:r>
            <a:r>
              <a:rPr lang="ko-KR" altLang="en-US" sz="1400" dirty="0">
                <a:solidFill>
                  <a:schemeClr val="tx2"/>
                </a:solidFill>
              </a:rPr>
              <a:t>甲이 위법하게 특허발명을 생산한 경우에는 그것을 판매하지 않더라도 특허권의 침해가 되며</a:t>
            </a:r>
            <a:r>
              <a:rPr lang="en-US" altLang="ko-KR" sz="1400" dirty="0">
                <a:solidFill>
                  <a:schemeClr val="tx2"/>
                </a:solidFill>
              </a:rPr>
              <a:t>, </a:t>
            </a:r>
            <a:r>
              <a:rPr lang="ko-KR" altLang="en-US" sz="1400" dirty="0">
                <a:solidFill>
                  <a:schemeClr val="tx2"/>
                </a:solidFill>
              </a:rPr>
              <a:t>乙이 침해자인 甲으로부터 특허발명을 선의로 적법하게 구입하였다고 하더라도 乙이 특허발명을 사용 또는 판매하는 경우에는 독립적인 별개의 실시행위에 해당되므로 특허권의 효력은 여전히 거기에까지 미치게 되어 별개의 특허권의 침해가 된다</a:t>
            </a:r>
            <a:r>
              <a:rPr lang="en-US" altLang="ko-KR" sz="1400" dirty="0">
                <a:solidFill>
                  <a:schemeClr val="tx2"/>
                </a:solidFill>
              </a:rPr>
              <a:t>. </a:t>
            </a:r>
            <a:endParaRPr lang="ko-KR" altLang="en-US" sz="1400" dirty="0">
              <a:solidFill>
                <a:schemeClr val="tx2"/>
              </a:solidFill>
            </a:endParaRPr>
          </a:p>
        </p:txBody>
      </p:sp>
      <p:sp>
        <p:nvSpPr>
          <p:cNvPr id="20" name="직사각형 19"/>
          <p:cNvSpPr/>
          <p:nvPr/>
        </p:nvSpPr>
        <p:spPr>
          <a:xfrm>
            <a:off x="365125" y="2481789"/>
            <a:ext cx="800100" cy="790575"/>
          </a:xfrm>
          <a:prstGeom prst="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실시</a:t>
            </a:r>
            <a:endParaRPr lang="ko-KR" altLang="en-US" sz="1200" dirty="0">
              <a:solidFill>
                <a:schemeClr val="tx1"/>
              </a:solidFill>
            </a:endParaRPr>
          </a:p>
        </p:txBody>
      </p:sp>
      <p:sp>
        <p:nvSpPr>
          <p:cNvPr id="21" name="직사각형 20"/>
          <p:cNvSpPr/>
          <p:nvPr/>
        </p:nvSpPr>
        <p:spPr>
          <a:xfrm>
            <a:off x="365125" y="4783674"/>
            <a:ext cx="800100" cy="790575"/>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침해</a:t>
            </a:r>
            <a:endParaRPr lang="en-US" altLang="ko-KR" sz="1200" dirty="0">
              <a:solidFill>
                <a:schemeClr val="tx1"/>
              </a:solidFill>
            </a:endParaRPr>
          </a:p>
          <a:p>
            <a:pPr algn="ctr"/>
            <a:r>
              <a:rPr lang="ko-KR" altLang="en-US" sz="1200" dirty="0">
                <a:solidFill>
                  <a:schemeClr val="tx1"/>
                </a:solidFill>
              </a:rPr>
              <a:t>성립요건</a:t>
            </a:r>
          </a:p>
        </p:txBody>
      </p:sp>
      <p:sp>
        <p:nvSpPr>
          <p:cNvPr id="22" name="직사각형 21"/>
          <p:cNvSpPr/>
          <p:nvPr/>
        </p:nvSpPr>
        <p:spPr>
          <a:xfrm>
            <a:off x="1440391" y="2340512"/>
            <a:ext cx="800100" cy="53656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물건발명</a:t>
            </a:r>
          </a:p>
        </p:txBody>
      </p:sp>
      <p:sp>
        <p:nvSpPr>
          <p:cNvPr id="23" name="직사각형 22"/>
          <p:cNvSpPr/>
          <p:nvPr/>
        </p:nvSpPr>
        <p:spPr>
          <a:xfrm>
            <a:off x="1440391" y="3043253"/>
            <a:ext cx="800100" cy="23611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방법발명</a:t>
            </a:r>
          </a:p>
        </p:txBody>
      </p:sp>
      <p:sp>
        <p:nvSpPr>
          <p:cNvPr id="24" name="직사각형 23"/>
          <p:cNvSpPr/>
          <p:nvPr/>
        </p:nvSpPr>
        <p:spPr>
          <a:xfrm>
            <a:off x="1440391" y="3430334"/>
            <a:ext cx="800100" cy="55399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제법발명</a:t>
            </a:r>
            <a:endParaRPr lang="ko-KR" altLang="en-US" sz="1200" dirty="0">
              <a:solidFill>
                <a:schemeClr val="tx1"/>
              </a:solidFill>
            </a:endParaRPr>
          </a:p>
        </p:txBody>
      </p:sp>
      <p:sp>
        <p:nvSpPr>
          <p:cNvPr id="25" name="직사각형 24"/>
          <p:cNvSpPr/>
          <p:nvPr/>
        </p:nvSpPr>
        <p:spPr>
          <a:xfrm>
            <a:off x="1440391" y="4493162"/>
            <a:ext cx="1429810" cy="290512"/>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특허권 존속 중</a:t>
            </a:r>
          </a:p>
        </p:txBody>
      </p:sp>
      <p:sp>
        <p:nvSpPr>
          <p:cNvPr id="26" name="직사각형 25"/>
          <p:cNvSpPr/>
          <p:nvPr/>
        </p:nvSpPr>
        <p:spPr>
          <a:xfrm>
            <a:off x="1440391" y="4879452"/>
            <a:ext cx="1429810" cy="29950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정당한 권원 없는 자</a:t>
            </a:r>
          </a:p>
        </p:txBody>
      </p:sp>
      <p:sp>
        <p:nvSpPr>
          <p:cNvPr id="30" name="직사각형 29"/>
          <p:cNvSpPr/>
          <p:nvPr/>
        </p:nvSpPr>
        <p:spPr>
          <a:xfrm>
            <a:off x="1440391" y="5283467"/>
            <a:ext cx="1429810" cy="28968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업으로서</a:t>
            </a:r>
          </a:p>
        </p:txBody>
      </p:sp>
      <p:sp>
        <p:nvSpPr>
          <p:cNvPr id="35" name="직사각형 34"/>
          <p:cNvSpPr/>
          <p:nvPr/>
        </p:nvSpPr>
        <p:spPr>
          <a:xfrm>
            <a:off x="1440391" y="5681397"/>
            <a:ext cx="1429810" cy="554948"/>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보호범위에 속하는 발명 실시</a:t>
            </a:r>
          </a:p>
        </p:txBody>
      </p:sp>
      <p:sp>
        <p:nvSpPr>
          <p:cNvPr id="2" name="직사각형 1"/>
          <p:cNvSpPr/>
          <p:nvPr/>
        </p:nvSpPr>
        <p:spPr>
          <a:xfrm>
            <a:off x="2240492" y="2352980"/>
            <a:ext cx="3466041" cy="553998"/>
          </a:xfrm>
          <a:prstGeom prst="rect">
            <a:avLst/>
          </a:prstGeom>
        </p:spPr>
        <p:txBody>
          <a:bodyPr wrap="square">
            <a:spAutoFit/>
          </a:bodyPr>
          <a:lstStyle/>
          <a:p>
            <a:r>
              <a:rPr lang="ko-KR" altLang="en-US" sz="1000" dirty="0"/>
              <a:t>그 물건을 </a:t>
            </a:r>
            <a:r>
              <a:rPr lang="ko-KR" altLang="en-US" sz="1000" dirty="0" err="1"/>
              <a:t>생산ㆍ사용ㆍ양도ㆍ대여ㆍ</a:t>
            </a:r>
            <a:r>
              <a:rPr kumimoji="1" lang="ko-KR" altLang="en-US" sz="1000" b="0" i="0" u="none" strike="noStrike" cap="none" normalizeH="0" baseline="0" dirty="0" err="1">
                <a:ln>
                  <a:noFill/>
                </a:ln>
                <a:solidFill>
                  <a:srgbClr val="444444"/>
                </a:solidFill>
                <a:effectLst/>
                <a:latin typeface="+mn-ea"/>
                <a:cs typeface="굴림" pitchFamily="50" charset="-127"/>
              </a:rPr>
              <a:t>수출</a:t>
            </a:r>
            <a:r>
              <a:rPr lang="ko-KR" altLang="en-US" sz="1000" dirty="0"/>
              <a:t> 또는 수입하거나 그 물건의 양도 또는 대여의 청약</a:t>
            </a:r>
            <a:r>
              <a:rPr lang="en-US" altLang="ko-KR" sz="1000" dirty="0"/>
              <a:t>(</a:t>
            </a:r>
            <a:r>
              <a:rPr lang="ko-KR" altLang="en-US" sz="1000" dirty="0"/>
              <a:t>양도 또는 대여를 위한 전시를 포함한다</a:t>
            </a:r>
            <a:r>
              <a:rPr lang="en-US" altLang="ko-KR" sz="1000" dirty="0"/>
              <a:t>. </a:t>
            </a:r>
            <a:r>
              <a:rPr lang="ko-KR" altLang="en-US" sz="1000" dirty="0"/>
              <a:t>이하 같다</a:t>
            </a:r>
            <a:r>
              <a:rPr lang="en-US" altLang="ko-KR" sz="1000" dirty="0"/>
              <a:t>)</a:t>
            </a:r>
            <a:r>
              <a:rPr lang="ko-KR" altLang="en-US" sz="1000" dirty="0"/>
              <a:t>을 하는 행위</a:t>
            </a:r>
          </a:p>
        </p:txBody>
      </p:sp>
      <p:sp>
        <p:nvSpPr>
          <p:cNvPr id="36" name="직사각형 35"/>
          <p:cNvSpPr/>
          <p:nvPr/>
        </p:nvSpPr>
        <p:spPr>
          <a:xfrm>
            <a:off x="2240491" y="3043253"/>
            <a:ext cx="4067176" cy="246221"/>
          </a:xfrm>
          <a:prstGeom prst="rect">
            <a:avLst/>
          </a:prstGeom>
        </p:spPr>
        <p:txBody>
          <a:bodyPr wrap="square">
            <a:spAutoFit/>
          </a:bodyPr>
          <a:lstStyle/>
          <a:p>
            <a:r>
              <a:rPr lang="ko-KR" altLang="en-US" sz="1000" dirty="0"/>
              <a:t>그 방법을 사용하는 행위</a:t>
            </a:r>
            <a:r>
              <a:rPr lang="ko-KR" altLang="en-US" sz="1000" dirty="0">
                <a:solidFill>
                  <a:srgbClr val="FF0000"/>
                </a:solidFill>
              </a:rPr>
              <a:t> 또는 그 사용을 청약하는 행위</a:t>
            </a:r>
          </a:p>
        </p:txBody>
      </p:sp>
      <p:sp>
        <p:nvSpPr>
          <p:cNvPr id="37" name="직사각형 36"/>
          <p:cNvSpPr/>
          <p:nvPr/>
        </p:nvSpPr>
        <p:spPr>
          <a:xfrm>
            <a:off x="2240492" y="3430334"/>
            <a:ext cx="3609975" cy="553998"/>
          </a:xfrm>
          <a:prstGeom prst="rect">
            <a:avLst/>
          </a:prstGeom>
        </p:spPr>
        <p:txBody>
          <a:bodyPr wrap="square">
            <a:spAutoFit/>
          </a:bodyPr>
          <a:lstStyle/>
          <a:p>
            <a:r>
              <a:rPr lang="ko-KR" altLang="en-US" sz="1000" dirty="0"/>
              <a:t>그 방법을 사용하는 행위</a:t>
            </a:r>
            <a:r>
              <a:rPr lang="ko-KR" altLang="en-US" sz="1000" dirty="0">
                <a:solidFill>
                  <a:srgbClr val="FF0000"/>
                </a:solidFill>
              </a:rPr>
              <a:t> 또는 그 사용을 청약하는 행위</a:t>
            </a:r>
            <a:r>
              <a:rPr lang="ko-KR" altLang="en-US" sz="1000" dirty="0"/>
              <a:t> 외에 그 방법에 의하여 생산한 물건을 </a:t>
            </a:r>
            <a:r>
              <a:rPr lang="ko-KR" altLang="en-US" sz="1000" dirty="0" err="1"/>
              <a:t>사용ㆍ양도ㆍ대여ㆍ</a:t>
            </a:r>
            <a:r>
              <a:rPr kumimoji="1" lang="ko-KR" altLang="en-US" sz="1000" b="0" i="0" u="none" strike="noStrike" cap="none" normalizeH="0" baseline="0" dirty="0" err="1">
                <a:ln>
                  <a:noFill/>
                </a:ln>
                <a:solidFill>
                  <a:srgbClr val="444444"/>
                </a:solidFill>
                <a:effectLst/>
                <a:latin typeface="+mn-ea"/>
                <a:cs typeface="굴림" pitchFamily="50" charset="-127"/>
              </a:rPr>
              <a:t>수출</a:t>
            </a:r>
            <a:r>
              <a:rPr lang="ko-KR" altLang="en-US" sz="1000" dirty="0"/>
              <a:t> 또는 수입하거나 그 물건의 양도 또는 대여의 청약을 하는 행위</a:t>
            </a:r>
          </a:p>
        </p:txBody>
      </p:sp>
      <p:sp>
        <p:nvSpPr>
          <p:cNvPr id="39" name="직사각형 38"/>
          <p:cNvSpPr/>
          <p:nvPr/>
        </p:nvSpPr>
        <p:spPr>
          <a:xfrm>
            <a:off x="2878651" y="4877275"/>
            <a:ext cx="3081869" cy="246221"/>
          </a:xfrm>
          <a:prstGeom prst="rect">
            <a:avLst/>
          </a:prstGeom>
        </p:spPr>
        <p:txBody>
          <a:bodyPr wrap="square">
            <a:spAutoFit/>
          </a:bodyPr>
          <a:lstStyle/>
          <a:p>
            <a:r>
              <a:rPr lang="en-US" altLang="ko-KR" sz="1000" dirty="0"/>
              <a:t>- </a:t>
            </a:r>
            <a:r>
              <a:rPr lang="ko-KR" altLang="en-US" sz="1000" dirty="0"/>
              <a:t>정당한 권원</a:t>
            </a:r>
            <a:r>
              <a:rPr lang="en-US" altLang="ko-KR" sz="1000" dirty="0"/>
              <a:t>: </a:t>
            </a:r>
            <a:r>
              <a:rPr lang="ko-KR" altLang="en-US" sz="1000" dirty="0" err="1"/>
              <a:t>실시권</a:t>
            </a:r>
            <a:r>
              <a:rPr lang="en-US" altLang="ko-KR" sz="1000" dirty="0"/>
              <a:t>, </a:t>
            </a:r>
            <a:r>
              <a:rPr lang="ko-KR" altLang="en-US" sz="1000" dirty="0"/>
              <a:t>권리소진</a:t>
            </a:r>
          </a:p>
        </p:txBody>
      </p:sp>
      <p:sp>
        <p:nvSpPr>
          <p:cNvPr id="41" name="직사각형 40"/>
          <p:cNvSpPr/>
          <p:nvPr/>
        </p:nvSpPr>
        <p:spPr>
          <a:xfrm>
            <a:off x="2878651" y="5283467"/>
            <a:ext cx="3081869" cy="246221"/>
          </a:xfrm>
          <a:prstGeom prst="rect">
            <a:avLst/>
          </a:prstGeom>
        </p:spPr>
        <p:txBody>
          <a:bodyPr wrap="square">
            <a:spAutoFit/>
          </a:bodyPr>
          <a:lstStyle/>
          <a:p>
            <a:r>
              <a:rPr lang="en-US" altLang="ko-KR" sz="1000" dirty="0"/>
              <a:t>- </a:t>
            </a:r>
            <a:r>
              <a:rPr lang="ko-KR" altLang="en-US" sz="1000" dirty="0"/>
              <a:t>개인적</a:t>
            </a:r>
            <a:r>
              <a:rPr lang="en-US" altLang="ko-KR" sz="1000" dirty="0"/>
              <a:t>, </a:t>
            </a:r>
            <a:r>
              <a:rPr lang="ko-KR" altLang="en-US" sz="1000" dirty="0"/>
              <a:t>가정적 실시를 제외</a:t>
            </a:r>
          </a:p>
        </p:txBody>
      </p:sp>
      <p:sp>
        <p:nvSpPr>
          <p:cNvPr id="46" name="직사각형 45"/>
          <p:cNvSpPr/>
          <p:nvPr/>
        </p:nvSpPr>
        <p:spPr>
          <a:xfrm>
            <a:off x="2878651" y="5682347"/>
            <a:ext cx="3167385" cy="553998"/>
          </a:xfrm>
          <a:prstGeom prst="rect">
            <a:avLst/>
          </a:prstGeom>
        </p:spPr>
        <p:txBody>
          <a:bodyPr wrap="square">
            <a:spAutoFit/>
          </a:bodyPr>
          <a:lstStyle/>
          <a:p>
            <a:pPr marL="93663" indent="-93663"/>
            <a:r>
              <a:rPr lang="en-US" altLang="ko-KR" sz="1000" dirty="0"/>
              <a:t>- </a:t>
            </a:r>
            <a:r>
              <a:rPr lang="ko-KR" altLang="en-US" sz="1000" dirty="0"/>
              <a:t>특허발명 실시 ○ </a:t>
            </a:r>
            <a:r>
              <a:rPr lang="en-US" altLang="ko-KR" sz="1000" dirty="0"/>
              <a:t>&amp; </a:t>
            </a:r>
            <a:r>
              <a:rPr lang="ko-KR" altLang="en-US" sz="1000" dirty="0"/>
              <a:t>법률 제한</a:t>
            </a:r>
            <a:r>
              <a:rPr lang="en-US" altLang="ko-KR" sz="1000" dirty="0"/>
              <a:t>(</a:t>
            </a:r>
            <a:r>
              <a:rPr lang="ko-KR" altLang="en-US" sz="1000" dirty="0"/>
              <a:t>法 </a:t>
            </a:r>
            <a:r>
              <a:rPr lang="en-US" altLang="ko-KR" sz="1000" dirty="0"/>
              <a:t>96, 81</a:t>
            </a:r>
            <a:r>
              <a:rPr lang="ko-KR" altLang="en-US" sz="1000" dirty="0"/>
              <a:t>의</a:t>
            </a:r>
            <a:r>
              <a:rPr lang="en-US" altLang="ko-KR" sz="1000" dirty="0"/>
              <a:t>3</a:t>
            </a:r>
            <a:r>
              <a:rPr lang="ko-KR" altLang="en-US" sz="1000" dirty="0"/>
              <a:t>④</a:t>
            </a:r>
            <a:r>
              <a:rPr lang="en-US" altLang="ko-KR" sz="1000" dirty="0"/>
              <a:t>, 181) </a:t>
            </a:r>
            <a:r>
              <a:rPr lang="ko-KR" altLang="en-US" sz="1000" dirty="0"/>
              <a:t>에 해당하지 않을 것</a:t>
            </a:r>
            <a:endParaRPr lang="en-US" altLang="ko-KR" sz="1000" dirty="0"/>
          </a:p>
          <a:p>
            <a:r>
              <a:rPr lang="en-US" altLang="ko-KR" sz="1000" dirty="0"/>
              <a:t>- </a:t>
            </a:r>
            <a:r>
              <a:rPr lang="ko-KR" altLang="en-US" sz="1000" dirty="0"/>
              <a:t>특허발명 실시 </a:t>
            </a:r>
            <a:r>
              <a:rPr lang="en-US" altLang="ko-KR" sz="1000" dirty="0"/>
              <a:t>× &amp; </a:t>
            </a:r>
            <a:r>
              <a:rPr lang="ko-KR" altLang="en-US" sz="1000" dirty="0"/>
              <a:t>법률 확장</a:t>
            </a:r>
            <a:r>
              <a:rPr lang="en-US" altLang="ko-KR" sz="1000" dirty="0"/>
              <a:t>(</a:t>
            </a:r>
            <a:r>
              <a:rPr lang="ko-KR" altLang="en-US" sz="1000" dirty="0"/>
              <a:t>法 </a:t>
            </a:r>
            <a:r>
              <a:rPr lang="en-US" altLang="ko-KR" sz="1000" dirty="0"/>
              <a:t>127)</a:t>
            </a:r>
            <a:r>
              <a:rPr lang="ko-KR" altLang="en-US" sz="1000" dirty="0"/>
              <a:t>에 해당할 것</a:t>
            </a:r>
          </a:p>
        </p:txBody>
      </p:sp>
      <p:cxnSp>
        <p:nvCxnSpPr>
          <p:cNvPr id="8" name="꺾인 연결선 7"/>
          <p:cNvCxnSpPr>
            <a:stCxn id="20" idx="3"/>
            <a:endCxn id="22" idx="1"/>
          </p:cNvCxnSpPr>
          <p:nvPr/>
        </p:nvCxnSpPr>
        <p:spPr>
          <a:xfrm flipV="1">
            <a:off x="1165225" y="2608794"/>
            <a:ext cx="275166" cy="26828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꺾인 연결선 11"/>
          <p:cNvCxnSpPr>
            <a:stCxn id="20" idx="3"/>
            <a:endCxn id="24" idx="1"/>
          </p:cNvCxnSpPr>
          <p:nvPr/>
        </p:nvCxnSpPr>
        <p:spPr>
          <a:xfrm>
            <a:off x="1165225" y="2877077"/>
            <a:ext cx="275166" cy="83025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꺾인 연결선 13"/>
          <p:cNvCxnSpPr>
            <a:stCxn id="20" idx="3"/>
            <a:endCxn id="23" idx="1"/>
          </p:cNvCxnSpPr>
          <p:nvPr/>
        </p:nvCxnSpPr>
        <p:spPr>
          <a:xfrm>
            <a:off x="1165225" y="2877077"/>
            <a:ext cx="275166" cy="28423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21" idx="3"/>
            <a:endCxn id="25" idx="1"/>
          </p:cNvCxnSpPr>
          <p:nvPr/>
        </p:nvCxnSpPr>
        <p:spPr>
          <a:xfrm flipV="1">
            <a:off x="1165225" y="4638418"/>
            <a:ext cx="275166" cy="54054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꺾인 연결선 48"/>
          <p:cNvCxnSpPr>
            <a:stCxn id="21" idx="3"/>
            <a:endCxn id="35" idx="1"/>
          </p:cNvCxnSpPr>
          <p:nvPr/>
        </p:nvCxnSpPr>
        <p:spPr>
          <a:xfrm>
            <a:off x="1165225" y="5178962"/>
            <a:ext cx="275166" cy="77990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꺾인 연결선 50"/>
          <p:cNvCxnSpPr>
            <a:stCxn id="21" idx="3"/>
            <a:endCxn id="26" idx="1"/>
          </p:cNvCxnSpPr>
          <p:nvPr/>
        </p:nvCxnSpPr>
        <p:spPr>
          <a:xfrm flipV="1">
            <a:off x="1165225" y="5029207"/>
            <a:ext cx="275166" cy="14975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꺾인 연결선 52"/>
          <p:cNvCxnSpPr>
            <a:stCxn id="21" idx="3"/>
            <a:endCxn id="30" idx="1"/>
          </p:cNvCxnSpPr>
          <p:nvPr/>
        </p:nvCxnSpPr>
        <p:spPr>
          <a:xfrm>
            <a:off x="1165225" y="5178962"/>
            <a:ext cx="275166" cy="24934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직선 연결선 54"/>
          <p:cNvCxnSpPr/>
          <p:nvPr/>
        </p:nvCxnSpPr>
        <p:spPr>
          <a:xfrm flipH="1" flipV="1">
            <a:off x="6066766" y="2481789"/>
            <a:ext cx="1" cy="409998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64" name="표 63"/>
          <p:cNvGraphicFramePr>
            <a:graphicFrameLocks noGrp="1"/>
          </p:cNvGraphicFramePr>
          <p:nvPr/>
        </p:nvGraphicFramePr>
        <p:xfrm>
          <a:off x="6231466" y="4326467"/>
          <a:ext cx="5655734" cy="2333996"/>
        </p:xfrm>
        <a:graphic>
          <a:graphicData uri="http://schemas.openxmlformats.org/drawingml/2006/table">
            <a:tbl>
              <a:tblPr>
                <a:tableStyleId>{8799B23B-EC83-4686-B30A-512413B5E67A}</a:tableStyleId>
              </a:tblPr>
              <a:tblGrid>
                <a:gridCol w="1093756">
                  <a:extLst>
                    <a:ext uri="{9D8B030D-6E8A-4147-A177-3AD203B41FA5}">
                      <a16:colId xmlns:a16="http://schemas.microsoft.com/office/drawing/2014/main" val="20000"/>
                    </a:ext>
                  </a:extLst>
                </a:gridCol>
                <a:gridCol w="1093756">
                  <a:extLst>
                    <a:ext uri="{9D8B030D-6E8A-4147-A177-3AD203B41FA5}">
                      <a16:colId xmlns:a16="http://schemas.microsoft.com/office/drawing/2014/main" val="20001"/>
                    </a:ext>
                  </a:extLst>
                </a:gridCol>
                <a:gridCol w="1734111">
                  <a:extLst>
                    <a:ext uri="{9D8B030D-6E8A-4147-A177-3AD203B41FA5}">
                      <a16:colId xmlns:a16="http://schemas.microsoft.com/office/drawing/2014/main" val="20002"/>
                    </a:ext>
                  </a:extLst>
                </a:gridCol>
                <a:gridCol w="1734111">
                  <a:extLst>
                    <a:ext uri="{9D8B030D-6E8A-4147-A177-3AD203B41FA5}">
                      <a16:colId xmlns:a16="http://schemas.microsoft.com/office/drawing/2014/main" val="20003"/>
                    </a:ext>
                  </a:extLst>
                </a:gridCol>
              </a:tblGrid>
              <a:tr h="238816">
                <a:tc>
                  <a:txBody>
                    <a:bodyPr/>
                    <a:lstStyle/>
                    <a:p>
                      <a:pPr marL="0" marR="0" algn="ctr">
                        <a:lnSpc>
                          <a:spcPct val="100000"/>
                        </a:lnSpc>
                        <a:spcBef>
                          <a:spcPts val="0"/>
                        </a:spcBef>
                        <a:spcAft>
                          <a:spcPts val="0"/>
                        </a:spcAft>
                      </a:pPr>
                      <a:r>
                        <a:rPr lang="ko-KR" altLang="en-US" sz="1050" dirty="0">
                          <a:effectLst/>
                        </a:rPr>
                        <a:t>주체</a:t>
                      </a:r>
                      <a:endParaRPr lang="ko-KR" altLang="en-US" sz="1050" dirty="0">
                        <a:solidFill>
                          <a:schemeClr val="bg1"/>
                        </a:solidFill>
                        <a:effectLst/>
                        <a:latin typeface="+mn-ea"/>
                        <a:ea typeface="+mn-ea"/>
                      </a:endParaRPr>
                    </a:p>
                  </a:txBody>
                  <a:tcPr marL="48000" marR="48000" marT="14981" marB="14981" anchor="ctr">
                    <a:solidFill>
                      <a:schemeClr val="accent1">
                        <a:lumMod val="20000"/>
                        <a:lumOff val="80000"/>
                      </a:schemeClr>
                    </a:solidFill>
                  </a:tcPr>
                </a:tc>
                <a:tc>
                  <a:txBody>
                    <a:bodyPr/>
                    <a:lstStyle/>
                    <a:p>
                      <a:pPr marL="0" marR="0" algn="ctr">
                        <a:lnSpc>
                          <a:spcPct val="100000"/>
                        </a:lnSpc>
                        <a:spcBef>
                          <a:spcPts val="0"/>
                        </a:spcBef>
                        <a:spcAft>
                          <a:spcPts val="0"/>
                        </a:spcAft>
                      </a:pPr>
                      <a:r>
                        <a:rPr lang="ko-KR" altLang="en-US" sz="1050" dirty="0">
                          <a:effectLst/>
                        </a:rPr>
                        <a:t>행 위</a:t>
                      </a:r>
                      <a:endParaRPr lang="ko-KR" altLang="en-US" sz="1050" dirty="0">
                        <a:solidFill>
                          <a:schemeClr val="bg1"/>
                        </a:solidFill>
                        <a:effectLst/>
                        <a:latin typeface="+mn-ea"/>
                        <a:ea typeface="+mn-ea"/>
                      </a:endParaRPr>
                    </a:p>
                  </a:txBody>
                  <a:tcPr marL="48000" marR="48000" marT="14981" marB="14981" anchor="ctr">
                    <a:solidFill>
                      <a:schemeClr val="accent1">
                        <a:lumMod val="20000"/>
                        <a:lumOff val="80000"/>
                      </a:schemeClr>
                    </a:solidFill>
                  </a:tcPr>
                </a:tc>
                <a:tc>
                  <a:txBody>
                    <a:bodyPr/>
                    <a:lstStyle/>
                    <a:p>
                      <a:pPr marL="0" marR="0" algn="ctr">
                        <a:lnSpc>
                          <a:spcPct val="100000"/>
                        </a:lnSpc>
                        <a:spcBef>
                          <a:spcPts val="0"/>
                        </a:spcBef>
                        <a:spcAft>
                          <a:spcPts val="0"/>
                        </a:spcAft>
                      </a:pPr>
                      <a:r>
                        <a:rPr lang="ko-KR" altLang="en-US" sz="1050" dirty="0">
                          <a:effectLst/>
                        </a:rPr>
                        <a:t>실시여부</a:t>
                      </a:r>
                      <a:endParaRPr lang="ko-KR" altLang="en-US" sz="1050" dirty="0">
                        <a:solidFill>
                          <a:schemeClr val="bg1"/>
                        </a:solidFill>
                        <a:effectLst/>
                        <a:latin typeface="+mn-ea"/>
                        <a:ea typeface="+mn-ea"/>
                      </a:endParaRPr>
                    </a:p>
                  </a:txBody>
                  <a:tcPr marL="48000" marR="48000" marT="14981" marB="14981" anchor="ctr">
                    <a:solidFill>
                      <a:schemeClr val="accent1">
                        <a:lumMod val="20000"/>
                        <a:lumOff val="80000"/>
                      </a:schemeClr>
                    </a:solidFill>
                  </a:tcPr>
                </a:tc>
                <a:tc>
                  <a:txBody>
                    <a:bodyPr/>
                    <a:lstStyle/>
                    <a:p>
                      <a:pPr marL="0" marR="0" algn="ctr">
                        <a:lnSpc>
                          <a:spcPct val="100000"/>
                        </a:lnSpc>
                        <a:spcBef>
                          <a:spcPts val="0"/>
                        </a:spcBef>
                        <a:spcAft>
                          <a:spcPts val="0"/>
                        </a:spcAft>
                      </a:pPr>
                      <a:r>
                        <a:rPr lang="ko-KR" altLang="en-US" sz="1050" dirty="0">
                          <a:effectLst/>
                        </a:rPr>
                        <a:t>침해여부</a:t>
                      </a:r>
                      <a:endParaRPr lang="ko-KR" altLang="en-US" sz="1050" dirty="0">
                        <a:solidFill>
                          <a:schemeClr val="bg1"/>
                        </a:solidFill>
                        <a:effectLst/>
                        <a:latin typeface="+mn-ea"/>
                        <a:ea typeface="+mn-ea"/>
                      </a:endParaRPr>
                    </a:p>
                  </a:txBody>
                  <a:tcPr marL="48000" marR="48000" marT="14981" marB="14981" anchor="ctr">
                    <a:solidFill>
                      <a:schemeClr val="accent1">
                        <a:lumMod val="20000"/>
                        <a:lumOff val="80000"/>
                      </a:schemeClr>
                    </a:solidFill>
                  </a:tcPr>
                </a:tc>
                <a:extLst>
                  <a:ext uri="{0D108BD9-81ED-4DB2-BD59-A6C34878D82A}">
                    <a16:rowId xmlns:a16="http://schemas.microsoft.com/office/drawing/2014/main" val="10000"/>
                  </a:ext>
                </a:extLst>
              </a:tr>
              <a:tr h="447566">
                <a:tc>
                  <a:txBody>
                    <a:bodyPr/>
                    <a:lstStyle/>
                    <a:p>
                      <a:pPr marL="0" marR="0" algn="ctr">
                        <a:lnSpc>
                          <a:spcPct val="100000"/>
                        </a:lnSpc>
                        <a:spcBef>
                          <a:spcPts val="0"/>
                        </a:spcBef>
                        <a:spcAft>
                          <a:spcPts val="0"/>
                        </a:spcAft>
                      </a:pPr>
                      <a:r>
                        <a:rPr lang="ko-KR" altLang="en-US" sz="1050" dirty="0">
                          <a:effectLst/>
                        </a:rPr>
                        <a:t>乙</a:t>
                      </a:r>
                      <a:endParaRPr lang="ko-KR" altLang="en-US" sz="1050" dirty="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en-US" sz="1050" dirty="0">
                          <a:effectLst/>
                        </a:rPr>
                        <a:t>A </a:t>
                      </a:r>
                      <a:r>
                        <a:rPr lang="ko-KR" altLang="en-US" sz="1050" dirty="0">
                          <a:effectLst/>
                        </a:rPr>
                        <a:t>생산</a:t>
                      </a:r>
                    </a:p>
                    <a:p>
                      <a:pPr marL="35560" marR="35560" algn="ctr">
                        <a:lnSpc>
                          <a:spcPct val="100000"/>
                        </a:lnSpc>
                        <a:spcBef>
                          <a:spcPts val="0"/>
                        </a:spcBef>
                        <a:spcAft>
                          <a:spcPts val="0"/>
                        </a:spcAft>
                      </a:pPr>
                      <a:r>
                        <a:rPr lang="en-US" sz="1050" dirty="0">
                          <a:effectLst/>
                        </a:rPr>
                        <a:t>A </a:t>
                      </a:r>
                      <a:r>
                        <a:rPr lang="ko-KR" altLang="en-US" sz="1050" dirty="0">
                          <a:effectLst/>
                        </a:rPr>
                        <a:t>판매</a:t>
                      </a:r>
                      <a:endParaRPr lang="ko-KR" altLang="en-US" sz="1050" dirty="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ko-KR" altLang="en-US" sz="1050">
                          <a:effectLst/>
                        </a:rPr>
                        <a:t>실시</a:t>
                      </a:r>
                    </a:p>
                    <a:p>
                      <a:pPr marL="35560" marR="35560" algn="ctr">
                        <a:lnSpc>
                          <a:spcPct val="100000"/>
                        </a:lnSpc>
                        <a:spcBef>
                          <a:spcPts val="0"/>
                        </a:spcBef>
                        <a:spcAft>
                          <a:spcPts val="0"/>
                        </a:spcAft>
                      </a:pPr>
                      <a:r>
                        <a:rPr lang="ko-KR" altLang="en-US" sz="1050">
                          <a:effectLst/>
                        </a:rPr>
                        <a:t>실시</a:t>
                      </a:r>
                      <a:endParaRPr lang="ko-KR" altLang="en-US" sz="105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ko-KR" altLang="en-US" sz="1050">
                          <a:effectLst/>
                        </a:rPr>
                        <a:t>침해</a:t>
                      </a:r>
                    </a:p>
                    <a:p>
                      <a:pPr marL="35560" marR="35560" algn="ctr">
                        <a:lnSpc>
                          <a:spcPct val="100000"/>
                        </a:lnSpc>
                        <a:spcBef>
                          <a:spcPts val="0"/>
                        </a:spcBef>
                        <a:spcAft>
                          <a:spcPts val="0"/>
                        </a:spcAft>
                      </a:pPr>
                      <a:r>
                        <a:rPr lang="ko-KR" altLang="en-US" sz="1050">
                          <a:effectLst/>
                        </a:rPr>
                        <a:t>침해</a:t>
                      </a:r>
                      <a:endParaRPr lang="ko-KR" altLang="en-US" sz="1050">
                        <a:solidFill>
                          <a:srgbClr val="000000"/>
                        </a:solidFill>
                        <a:effectLst/>
                        <a:latin typeface="+mn-ea"/>
                        <a:ea typeface="+mn-ea"/>
                      </a:endParaRPr>
                    </a:p>
                  </a:txBody>
                  <a:tcPr marL="48000" marR="48000" marT="14981" marB="14981" anchor="ctr"/>
                </a:tc>
                <a:extLst>
                  <a:ext uri="{0D108BD9-81ED-4DB2-BD59-A6C34878D82A}">
                    <a16:rowId xmlns:a16="http://schemas.microsoft.com/office/drawing/2014/main" val="10001"/>
                  </a:ext>
                </a:extLst>
              </a:tr>
              <a:tr h="447566">
                <a:tc>
                  <a:txBody>
                    <a:bodyPr/>
                    <a:lstStyle/>
                    <a:p>
                      <a:pPr marL="0" marR="0" algn="ctr">
                        <a:lnSpc>
                          <a:spcPct val="100000"/>
                        </a:lnSpc>
                        <a:spcBef>
                          <a:spcPts val="0"/>
                        </a:spcBef>
                        <a:spcAft>
                          <a:spcPts val="0"/>
                        </a:spcAft>
                      </a:pPr>
                      <a:r>
                        <a:rPr lang="ko-KR" altLang="en-US" sz="1050">
                          <a:effectLst/>
                        </a:rPr>
                        <a:t>丙</a:t>
                      </a:r>
                      <a:endParaRPr lang="ko-KR" altLang="en-US" sz="105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en-US" sz="1050" dirty="0">
                          <a:effectLst/>
                        </a:rPr>
                        <a:t>A </a:t>
                      </a:r>
                      <a:r>
                        <a:rPr lang="ko-KR" altLang="en-US" sz="1050" dirty="0">
                          <a:effectLst/>
                        </a:rPr>
                        <a:t>구입</a:t>
                      </a:r>
                    </a:p>
                    <a:p>
                      <a:pPr marL="35560" marR="35560" algn="ctr">
                        <a:lnSpc>
                          <a:spcPct val="100000"/>
                        </a:lnSpc>
                        <a:spcBef>
                          <a:spcPts val="0"/>
                        </a:spcBef>
                        <a:spcAft>
                          <a:spcPts val="0"/>
                        </a:spcAft>
                      </a:pPr>
                      <a:r>
                        <a:rPr lang="en-US" sz="1050" dirty="0">
                          <a:effectLst/>
                        </a:rPr>
                        <a:t>A </a:t>
                      </a:r>
                      <a:r>
                        <a:rPr lang="ko-KR" altLang="en-US" sz="1050" dirty="0">
                          <a:effectLst/>
                        </a:rPr>
                        <a:t>사용</a:t>
                      </a:r>
                      <a:endParaRPr lang="ko-KR" altLang="en-US" sz="1050" dirty="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ko-KR" altLang="en-US" sz="1050" dirty="0" err="1">
                          <a:effectLst/>
                        </a:rPr>
                        <a:t>비실시</a:t>
                      </a:r>
                      <a:endParaRPr lang="ko-KR" altLang="en-US" sz="1050" dirty="0">
                        <a:effectLst/>
                      </a:endParaRPr>
                    </a:p>
                    <a:p>
                      <a:pPr marL="35560" marR="35560" algn="ctr">
                        <a:lnSpc>
                          <a:spcPct val="100000"/>
                        </a:lnSpc>
                        <a:spcBef>
                          <a:spcPts val="0"/>
                        </a:spcBef>
                        <a:spcAft>
                          <a:spcPts val="0"/>
                        </a:spcAft>
                      </a:pPr>
                      <a:r>
                        <a:rPr lang="ko-KR" altLang="en-US" sz="1050" dirty="0">
                          <a:effectLst/>
                        </a:rPr>
                        <a:t>실시</a:t>
                      </a:r>
                      <a:endParaRPr lang="ko-KR" altLang="en-US" sz="1050" dirty="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ko-KR" altLang="en-US" sz="1050" dirty="0" err="1">
                          <a:effectLst/>
                        </a:rPr>
                        <a:t>비침해</a:t>
                      </a:r>
                      <a:endParaRPr lang="ko-KR" altLang="en-US" sz="1050" dirty="0">
                        <a:effectLst/>
                      </a:endParaRPr>
                    </a:p>
                    <a:p>
                      <a:pPr marL="35560" marR="35560" algn="ctr">
                        <a:lnSpc>
                          <a:spcPct val="100000"/>
                        </a:lnSpc>
                        <a:spcBef>
                          <a:spcPts val="0"/>
                        </a:spcBef>
                        <a:spcAft>
                          <a:spcPts val="0"/>
                        </a:spcAft>
                      </a:pPr>
                      <a:r>
                        <a:rPr lang="ko-KR" altLang="en-US" sz="1050" dirty="0" err="1">
                          <a:effectLst/>
                        </a:rPr>
                        <a:t>비침해</a:t>
                      </a:r>
                      <a:r>
                        <a:rPr lang="en-US" altLang="ko-KR" sz="1050" dirty="0">
                          <a:effectLst/>
                        </a:rPr>
                        <a:t>(∵</a:t>
                      </a:r>
                      <a:r>
                        <a:rPr lang="ko-KR" altLang="en-US" sz="1050" dirty="0">
                          <a:effectLst/>
                        </a:rPr>
                        <a:t>업이 아님</a:t>
                      </a:r>
                      <a:r>
                        <a:rPr lang="en-US" altLang="ko-KR" sz="1050" dirty="0">
                          <a:effectLst/>
                        </a:rPr>
                        <a:t>)</a:t>
                      </a:r>
                      <a:endParaRPr lang="en-US" altLang="ko-KR" sz="1050" dirty="0">
                        <a:solidFill>
                          <a:srgbClr val="000000"/>
                        </a:solidFill>
                        <a:effectLst/>
                        <a:latin typeface="+mn-ea"/>
                        <a:ea typeface="+mn-ea"/>
                      </a:endParaRPr>
                    </a:p>
                  </a:txBody>
                  <a:tcPr marL="48000" marR="48000" marT="14981" marB="14981" anchor="ctr"/>
                </a:tc>
                <a:extLst>
                  <a:ext uri="{0D108BD9-81ED-4DB2-BD59-A6C34878D82A}">
                    <a16:rowId xmlns:a16="http://schemas.microsoft.com/office/drawing/2014/main" val="10002"/>
                  </a:ext>
                </a:extLst>
              </a:tr>
              <a:tr h="238816">
                <a:tc>
                  <a:txBody>
                    <a:bodyPr/>
                    <a:lstStyle/>
                    <a:p>
                      <a:pPr marL="0" marR="0" algn="ctr">
                        <a:lnSpc>
                          <a:spcPct val="100000"/>
                        </a:lnSpc>
                        <a:spcBef>
                          <a:spcPts val="0"/>
                        </a:spcBef>
                        <a:spcAft>
                          <a:spcPts val="0"/>
                        </a:spcAft>
                      </a:pPr>
                      <a:r>
                        <a:rPr lang="ko-KR" altLang="en-US" sz="1050">
                          <a:effectLst/>
                        </a:rPr>
                        <a:t>丁</a:t>
                      </a:r>
                      <a:endParaRPr lang="ko-KR" altLang="en-US" sz="105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en-US" sz="1050" dirty="0">
                          <a:effectLst/>
                        </a:rPr>
                        <a:t>A </a:t>
                      </a:r>
                      <a:r>
                        <a:rPr lang="ko-KR" altLang="en-US" sz="1050" dirty="0">
                          <a:effectLst/>
                        </a:rPr>
                        <a:t>사용</a:t>
                      </a:r>
                      <a:endParaRPr lang="ko-KR" altLang="en-US" sz="1050" dirty="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ko-KR" altLang="en-US" sz="1050" dirty="0">
                          <a:effectLst/>
                        </a:rPr>
                        <a:t>실시</a:t>
                      </a:r>
                      <a:endParaRPr lang="ko-KR" altLang="en-US" sz="1050" dirty="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ko-KR" altLang="en-US" sz="1050" dirty="0" err="1">
                          <a:effectLst/>
                        </a:rPr>
                        <a:t>비침해</a:t>
                      </a:r>
                      <a:r>
                        <a:rPr lang="en-US" altLang="ko-KR" sz="1050" dirty="0">
                          <a:effectLst/>
                        </a:rPr>
                        <a:t>(∵</a:t>
                      </a:r>
                      <a:r>
                        <a:rPr lang="ko-KR" altLang="en-US" sz="1050" dirty="0">
                          <a:effectLst/>
                        </a:rPr>
                        <a:t>권리소진</a:t>
                      </a:r>
                      <a:r>
                        <a:rPr lang="en-US" altLang="ko-KR" sz="1050" dirty="0">
                          <a:effectLst/>
                        </a:rPr>
                        <a:t>)</a:t>
                      </a:r>
                      <a:endParaRPr lang="en-US" altLang="ko-KR" sz="1050" dirty="0">
                        <a:solidFill>
                          <a:srgbClr val="000000"/>
                        </a:solidFill>
                        <a:effectLst/>
                        <a:latin typeface="+mn-ea"/>
                        <a:ea typeface="+mn-ea"/>
                      </a:endParaRPr>
                    </a:p>
                  </a:txBody>
                  <a:tcPr marL="48000" marR="48000" marT="14981" marB="14981" anchor="ctr"/>
                </a:tc>
                <a:extLst>
                  <a:ext uri="{0D108BD9-81ED-4DB2-BD59-A6C34878D82A}">
                    <a16:rowId xmlns:a16="http://schemas.microsoft.com/office/drawing/2014/main" val="10003"/>
                  </a:ext>
                </a:extLst>
              </a:tr>
              <a:tr h="447566">
                <a:tc>
                  <a:txBody>
                    <a:bodyPr/>
                    <a:lstStyle/>
                    <a:p>
                      <a:pPr marL="0" marR="0" algn="ctr">
                        <a:lnSpc>
                          <a:spcPct val="100000"/>
                        </a:lnSpc>
                        <a:spcBef>
                          <a:spcPts val="0"/>
                        </a:spcBef>
                        <a:spcAft>
                          <a:spcPts val="0"/>
                        </a:spcAft>
                      </a:pPr>
                      <a:r>
                        <a:rPr lang="ko-KR" altLang="en-US" sz="1050">
                          <a:effectLst/>
                        </a:rPr>
                        <a:t>戊</a:t>
                      </a:r>
                      <a:endParaRPr lang="ko-KR" altLang="en-US" sz="105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en-US" sz="1050" dirty="0">
                          <a:effectLst/>
                        </a:rPr>
                        <a:t>A </a:t>
                      </a:r>
                      <a:r>
                        <a:rPr lang="ko-KR" altLang="en-US" sz="1050" dirty="0">
                          <a:effectLst/>
                        </a:rPr>
                        <a:t>사용</a:t>
                      </a:r>
                    </a:p>
                    <a:p>
                      <a:pPr marL="35560" marR="35560" algn="ctr">
                        <a:lnSpc>
                          <a:spcPct val="100000"/>
                        </a:lnSpc>
                        <a:spcBef>
                          <a:spcPts val="0"/>
                        </a:spcBef>
                        <a:spcAft>
                          <a:spcPts val="0"/>
                        </a:spcAft>
                      </a:pPr>
                      <a:r>
                        <a:rPr lang="en-US" sz="1050" dirty="0">
                          <a:effectLst/>
                        </a:rPr>
                        <a:t>A </a:t>
                      </a:r>
                      <a:r>
                        <a:rPr lang="ko-KR" altLang="en-US" sz="1050" dirty="0">
                          <a:effectLst/>
                        </a:rPr>
                        <a:t>생산</a:t>
                      </a:r>
                      <a:endParaRPr lang="ko-KR" altLang="en-US" sz="1050" dirty="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ko-KR" altLang="en-US" sz="1050" dirty="0">
                          <a:effectLst/>
                        </a:rPr>
                        <a:t>실시</a:t>
                      </a:r>
                    </a:p>
                    <a:p>
                      <a:pPr marL="35560" marR="35560" algn="ctr">
                        <a:lnSpc>
                          <a:spcPct val="100000"/>
                        </a:lnSpc>
                        <a:spcBef>
                          <a:spcPts val="0"/>
                        </a:spcBef>
                        <a:spcAft>
                          <a:spcPts val="0"/>
                        </a:spcAft>
                      </a:pPr>
                      <a:r>
                        <a:rPr lang="ko-KR" altLang="en-US" sz="1050" dirty="0">
                          <a:effectLst/>
                        </a:rPr>
                        <a:t>실시</a:t>
                      </a:r>
                      <a:endParaRPr lang="ko-KR" altLang="en-US" sz="1050" dirty="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ko-KR" altLang="en-US" sz="1050" dirty="0" err="1">
                          <a:effectLst/>
                        </a:rPr>
                        <a:t>비침해</a:t>
                      </a:r>
                      <a:r>
                        <a:rPr lang="en-US" altLang="ko-KR" sz="1050" dirty="0">
                          <a:effectLst/>
                        </a:rPr>
                        <a:t>(∵</a:t>
                      </a:r>
                      <a:r>
                        <a:rPr lang="ko-KR" altLang="en-US" sz="1050" dirty="0">
                          <a:effectLst/>
                        </a:rPr>
                        <a:t>권리소진</a:t>
                      </a:r>
                      <a:r>
                        <a:rPr lang="en-US" altLang="ko-KR" sz="1050" dirty="0">
                          <a:effectLst/>
                        </a:rPr>
                        <a:t>)</a:t>
                      </a:r>
                    </a:p>
                    <a:p>
                      <a:pPr marL="35560" marR="35560" algn="ctr">
                        <a:lnSpc>
                          <a:spcPct val="100000"/>
                        </a:lnSpc>
                        <a:spcBef>
                          <a:spcPts val="0"/>
                        </a:spcBef>
                        <a:spcAft>
                          <a:spcPts val="0"/>
                        </a:spcAft>
                      </a:pPr>
                      <a:r>
                        <a:rPr lang="ko-KR" altLang="en-US" sz="1050" dirty="0">
                          <a:effectLst/>
                        </a:rPr>
                        <a:t>침해</a:t>
                      </a:r>
                      <a:endParaRPr lang="ko-KR" altLang="en-US" sz="1050" dirty="0">
                        <a:solidFill>
                          <a:srgbClr val="000000"/>
                        </a:solidFill>
                        <a:effectLst/>
                        <a:latin typeface="+mn-ea"/>
                        <a:ea typeface="+mn-ea"/>
                      </a:endParaRPr>
                    </a:p>
                  </a:txBody>
                  <a:tcPr marL="48000" marR="48000" marT="14981" marB="14981" anchor="ctr"/>
                </a:tc>
                <a:extLst>
                  <a:ext uri="{0D108BD9-81ED-4DB2-BD59-A6C34878D82A}">
                    <a16:rowId xmlns:a16="http://schemas.microsoft.com/office/drawing/2014/main" val="10004"/>
                  </a:ext>
                </a:extLst>
              </a:tr>
              <a:tr h="253917">
                <a:tc>
                  <a:txBody>
                    <a:bodyPr/>
                    <a:lstStyle/>
                    <a:p>
                      <a:pPr marL="0" marR="0" algn="ctr">
                        <a:lnSpc>
                          <a:spcPct val="100000"/>
                        </a:lnSpc>
                        <a:spcBef>
                          <a:spcPts val="0"/>
                        </a:spcBef>
                        <a:spcAft>
                          <a:spcPts val="0"/>
                        </a:spcAft>
                      </a:pPr>
                      <a:r>
                        <a:rPr lang="ko-KR" altLang="en-US" sz="1050">
                          <a:effectLst/>
                        </a:rPr>
                        <a:t>己</a:t>
                      </a:r>
                      <a:endParaRPr lang="ko-KR" altLang="en-US" sz="105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en-US" sz="1050" dirty="0">
                          <a:effectLst/>
                        </a:rPr>
                        <a:t>b </a:t>
                      </a:r>
                      <a:r>
                        <a:rPr lang="ko-KR" altLang="en-US" sz="1050" dirty="0">
                          <a:effectLst/>
                        </a:rPr>
                        <a:t>생산</a:t>
                      </a:r>
                      <a:endParaRPr lang="ko-KR" altLang="en-US" sz="1050" dirty="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ko-KR" altLang="en-US" sz="1050">
                          <a:effectLst/>
                        </a:rPr>
                        <a:t>비실시</a:t>
                      </a:r>
                      <a:endParaRPr lang="ko-KR" altLang="en-US" sz="1050">
                        <a:solidFill>
                          <a:srgbClr val="000000"/>
                        </a:solidFill>
                        <a:effectLst/>
                        <a:latin typeface="+mn-ea"/>
                        <a:ea typeface="+mn-ea"/>
                      </a:endParaRPr>
                    </a:p>
                  </a:txBody>
                  <a:tcPr marL="48000" marR="48000" marT="14981" marB="14981" anchor="ctr"/>
                </a:tc>
                <a:tc>
                  <a:txBody>
                    <a:bodyPr/>
                    <a:lstStyle/>
                    <a:p>
                      <a:pPr marL="35560" marR="35560" algn="ctr">
                        <a:lnSpc>
                          <a:spcPct val="100000"/>
                        </a:lnSpc>
                        <a:spcBef>
                          <a:spcPts val="0"/>
                        </a:spcBef>
                        <a:spcAft>
                          <a:spcPts val="0"/>
                        </a:spcAft>
                      </a:pPr>
                      <a:r>
                        <a:rPr lang="ko-KR" altLang="en-US" sz="1050" dirty="0">
                          <a:effectLst/>
                        </a:rPr>
                        <a:t>침해</a:t>
                      </a:r>
                      <a:r>
                        <a:rPr lang="en-US" altLang="ko-KR" sz="1050" dirty="0">
                          <a:effectLst/>
                        </a:rPr>
                        <a:t>(∵</a:t>
                      </a:r>
                      <a:r>
                        <a:rPr lang="ko-KR" altLang="en-US" sz="1050" dirty="0">
                          <a:effectLst/>
                        </a:rPr>
                        <a:t>간접침해</a:t>
                      </a:r>
                      <a:r>
                        <a:rPr lang="en-US" altLang="ko-KR" sz="1050" dirty="0">
                          <a:effectLst/>
                        </a:rPr>
                        <a:t>)</a:t>
                      </a:r>
                      <a:endParaRPr lang="en-US" altLang="ko-KR" sz="1050" dirty="0">
                        <a:solidFill>
                          <a:srgbClr val="000000"/>
                        </a:solidFill>
                        <a:effectLst/>
                        <a:latin typeface="+mn-ea"/>
                        <a:ea typeface="+mn-ea"/>
                      </a:endParaRPr>
                    </a:p>
                  </a:txBody>
                  <a:tcPr marL="48000" marR="48000" marT="14981" marB="14981" anchor="ctr"/>
                </a:tc>
                <a:extLst>
                  <a:ext uri="{0D108BD9-81ED-4DB2-BD59-A6C34878D82A}">
                    <a16:rowId xmlns:a16="http://schemas.microsoft.com/office/drawing/2014/main" val="10005"/>
                  </a:ext>
                </a:extLst>
              </a:tr>
              <a:tr h="259749">
                <a:tc>
                  <a:txBody>
                    <a:bodyPr/>
                    <a:lstStyle/>
                    <a:p>
                      <a:pPr marL="0" marR="0" algn="ctr">
                        <a:lnSpc>
                          <a:spcPct val="100000"/>
                        </a:lnSpc>
                        <a:spcBef>
                          <a:spcPts val="0"/>
                        </a:spcBef>
                        <a:spcAft>
                          <a:spcPts val="0"/>
                        </a:spcAft>
                      </a:pPr>
                      <a:r>
                        <a:rPr lang="ko-KR" altLang="en-US" sz="1050">
                          <a:effectLst/>
                        </a:rPr>
                        <a:t>비고</a:t>
                      </a:r>
                      <a:endParaRPr lang="ko-KR" altLang="en-US" sz="1050">
                        <a:solidFill>
                          <a:srgbClr val="000000"/>
                        </a:solidFill>
                        <a:effectLst/>
                        <a:latin typeface="+mn-ea"/>
                        <a:ea typeface="+mn-ea"/>
                      </a:endParaRPr>
                    </a:p>
                  </a:txBody>
                  <a:tcPr marL="48000" marR="48000" marT="14981" marB="14981" anchor="ctr"/>
                </a:tc>
                <a:tc gridSpan="3">
                  <a:txBody>
                    <a:bodyPr/>
                    <a:lstStyle/>
                    <a:p>
                      <a:pPr marL="35560" marR="35560" algn="just">
                        <a:lnSpc>
                          <a:spcPct val="100000"/>
                        </a:lnSpc>
                        <a:spcBef>
                          <a:spcPts val="0"/>
                        </a:spcBef>
                        <a:spcAft>
                          <a:spcPts val="0"/>
                        </a:spcAft>
                      </a:pPr>
                      <a:r>
                        <a:rPr lang="ko-KR" altLang="en-US" sz="1050" dirty="0">
                          <a:effectLst/>
                        </a:rPr>
                        <a:t>각각의 </a:t>
                      </a:r>
                      <a:r>
                        <a:rPr lang="ko-KR" altLang="en-US" sz="1050" dirty="0" err="1">
                          <a:effectLst/>
                        </a:rPr>
                        <a:t>실시행위별로</a:t>
                      </a:r>
                      <a:r>
                        <a:rPr lang="ko-KR" altLang="en-US" sz="1050" dirty="0">
                          <a:effectLst/>
                        </a:rPr>
                        <a:t> 침해인지 여부를 판단</a:t>
                      </a:r>
                      <a:r>
                        <a:rPr lang="en-US" altLang="ko-KR" sz="1050" dirty="0">
                          <a:effectLst/>
                        </a:rPr>
                        <a:t>(</a:t>
                      </a:r>
                      <a:r>
                        <a:rPr lang="ko-KR" altLang="en-US" sz="1050" dirty="0">
                          <a:effectLst/>
                        </a:rPr>
                        <a:t>실시행위의 독립성</a:t>
                      </a:r>
                      <a:r>
                        <a:rPr lang="en-US" altLang="ko-KR" sz="1050" dirty="0">
                          <a:effectLst/>
                        </a:rPr>
                        <a:t>)</a:t>
                      </a:r>
                      <a:endParaRPr lang="en-US" altLang="ko-KR" sz="1050" dirty="0">
                        <a:solidFill>
                          <a:srgbClr val="000000"/>
                        </a:solidFill>
                        <a:effectLst/>
                        <a:latin typeface="+mn-ea"/>
                        <a:ea typeface="+mn-ea"/>
                      </a:endParaRPr>
                    </a:p>
                  </a:txBody>
                  <a:tcPr marL="48000" marR="48000" marT="14981" marB="14981" anchor="ct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6"/>
                  </a:ext>
                </a:extLst>
              </a:tr>
            </a:tbl>
          </a:graphicData>
        </a:graphic>
      </p:graphicFrame>
      <p:sp>
        <p:nvSpPr>
          <p:cNvPr id="66" name="직사각형 65"/>
          <p:cNvSpPr/>
          <p:nvPr/>
        </p:nvSpPr>
        <p:spPr>
          <a:xfrm>
            <a:off x="7374499" y="2363251"/>
            <a:ext cx="381000" cy="34961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甲</a:t>
            </a:r>
          </a:p>
        </p:txBody>
      </p:sp>
      <p:sp>
        <p:nvSpPr>
          <p:cNvPr id="67" name="직사각형 66"/>
          <p:cNvSpPr/>
          <p:nvPr/>
        </p:nvSpPr>
        <p:spPr>
          <a:xfrm>
            <a:off x="7374499" y="3069842"/>
            <a:ext cx="381000" cy="34961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丁</a:t>
            </a:r>
          </a:p>
        </p:txBody>
      </p:sp>
      <p:sp>
        <p:nvSpPr>
          <p:cNvPr id="68" name="직사각형 67"/>
          <p:cNvSpPr/>
          <p:nvPr/>
        </p:nvSpPr>
        <p:spPr>
          <a:xfrm>
            <a:off x="7374499" y="3772657"/>
            <a:ext cx="381000" cy="34961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戊</a:t>
            </a:r>
          </a:p>
        </p:txBody>
      </p:sp>
      <p:cxnSp>
        <p:nvCxnSpPr>
          <p:cNvPr id="70" name="직선 화살표 연결선 69"/>
          <p:cNvCxnSpPr>
            <a:stCxn id="66" idx="2"/>
            <a:endCxn id="67" idx="0"/>
          </p:cNvCxnSpPr>
          <p:nvPr/>
        </p:nvCxnSpPr>
        <p:spPr>
          <a:xfrm>
            <a:off x="7564999" y="2712864"/>
            <a:ext cx="0" cy="356978"/>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1" name="직선 화살표 연결선 70"/>
          <p:cNvCxnSpPr>
            <a:stCxn id="67" idx="2"/>
            <a:endCxn id="68" idx="0"/>
          </p:cNvCxnSpPr>
          <p:nvPr/>
        </p:nvCxnSpPr>
        <p:spPr>
          <a:xfrm>
            <a:off x="7564999" y="3419455"/>
            <a:ext cx="0" cy="35320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3" name="직사각형 82"/>
          <p:cNvSpPr/>
          <p:nvPr/>
        </p:nvSpPr>
        <p:spPr>
          <a:xfrm>
            <a:off x="7755498" y="2363251"/>
            <a:ext cx="1515519"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A </a:t>
            </a:r>
            <a:r>
              <a:rPr lang="ko-KR" altLang="en-US" sz="1200" dirty="0">
                <a:solidFill>
                  <a:schemeClr val="tx1"/>
                </a:solidFill>
              </a:rPr>
              <a:t>생산</a:t>
            </a:r>
          </a:p>
        </p:txBody>
      </p:sp>
      <p:sp>
        <p:nvSpPr>
          <p:cNvPr id="84" name="직사각형 83"/>
          <p:cNvSpPr/>
          <p:nvPr/>
        </p:nvSpPr>
        <p:spPr>
          <a:xfrm>
            <a:off x="7755498" y="3069229"/>
            <a:ext cx="1515519"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A </a:t>
            </a:r>
            <a:r>
              <a:rPr lang="ko-KR" altLang="en-US" sz="1200" dirty="0">
                <a:solidFill>
                  <a:schemeClr val="tx1"/>
                </a:solidFill>
              </a:rPr>
              <a:t>사용</a:t>
            </a:r>
          </a:p>
        </p:txBody>
      </p:sp>
      <p:sp>
        <p:nvSpPr>
          <p:cNvPr id="85" name="직사각형 84"/>
          <p:cNvSpPr/>
          <p:nvPr/>
        </p:nvSpPr>
        <p:spPr>
          <a:xfrm>
            <a:off x="7755498" y="3772656"/>
            <a:ext cx="1515519"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A </a:t>
            </a:r>
            <a:r>
              <a:rPr lang="ko-KR" altLang="en-US" sz="1200" dirty="0">
                <a:solidFill>
                  <a:schemeClr val="tx1"/>
                </a:solidFill>
              </a:rPr>
              <a:t>사용</a:t>
            </a:r>
            <a:endParaRPr lang="en-US" altLang="ko-KR" sz="1200" dirty="0">
              <a:solidFill>
                <a:schemeClr val="tx1"/>
              </a:solidFill>
            </a:endParaRPr>
          </a:p>
          <a:p>
            <a:r>
              <a:rPr lang="en-US" altLang="ko-KR" sz="1200" dirty="0">
                <a:solidFill>
                  <a:schemeClr val="tx1"/>
                </a:solidFill>
              </a:rPr>
              <a:t>A </a:t>
            </a:r>
            <a:r>
              <a:rPr lang="ko-KR" altLang="en-US" sz="1200" dirty="0">
                <a:solidFill>
                  <a:schemeClr val="tx1"/>
                </a:solidFill>
              </a:rPr>
              <a:t>생산</a:t>
            </a:r>
          </a:p>
        </p:txBody>
      </p:sp>
      <p:sp>
        <p:nvSpPr>
          <p:cNvPr id="86" name="직사각형 85"/>
          <p:cNvSpPr/>
          <p:nvPr/>
        </p:nvSpPr>
        <p:spPr>
          <a:xfrm>
            <a:off x="6900366" y="3423044"/>
            <a:ext cx="664634"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A </a:t>
            </a:r>
            <a:r>
              <a:rPr lang="ko-KR" altLang="en-US" sz="1200" dirty="0">
                <a:solidFill>
                  <a:schemeClr val="tx1"/>
                </a:solidFill>
              </a:rPr>
              <a:t>판매</a:t>
            </a:r>
          </a:p>
        </p:txBody>
      </p:sp>
      <p:sp>
        <p:nvSpPr>
          <p:cNvPr id="87" name="직사각형 86"/>
          <p:cNvSpPr/>
          <p:nvPr/>
        </p:nvSpPr>
        <p:spPr>
          <a:xfrm>
            <a:off x="6900366" y="2720229"/>
            <a:ext cx="664634"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A </a:t>
            </a:r>
            <a:r>
              <a:rPr lang="ko-KR" altLang="en-US" sz="1200" dirty="0">
                <a:solidFill>
                  <a:schemeClr val="tx1"/>
                </a:solidFill>
              </a:rPr>
              <a:t>판매</a:t>
            </a:r>
          </a:p>
        </p:txBody>
      </p:sp>
      <p:sp>
        <p:nvSpPr>
          <p:cNvPr id="88" name="직사각형 87"/>
          <p:cNvSpPr/>
          <p:nvPr/>
        </p:nvSpPr>
        <p:spPr>
          <a:xfrm>
            <a:off x="9575814" y="2363251"/>
            <a:ext cx="381000" cy="34961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乙</a:t>
            </a:r>
          </a:p>
        </p:txBody>
      </p:sp>
      <p:sp>
        <p:nvSpPr>
          <p:cNvPr id="89" name="직사각형 88"/>
          <p:cNvSpPr/>
          <p:nvPr/>
        </p:nvSpPr>
        <p:spPr>
          <a:xfrm>
            <a:off x="9575814" y="3069842"/>
            <a:ext cx="381000" cy="34961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丙</a:t>
            </a:r>
          </a:p>
        </p:txBody>
      </p:sp>
      <p:sp>
        <p:nvSpPr>
          <p:cNvPr id="90" name="직사각형 89"/>
          <p:cNvSpPr/>
          <p:nvPr/>
        </p:nvSpPr>
        <p:spPr>
          <a:xfrm>
            <a:off x="9575814" y="3772657"/>
            <a:ext cx="381000" cy="349613"/>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己</a:t>
            </a:r>
          </a:p>
        </p:txBody>
      </p:sp>
      <p:cxnSp>
        <p:nvCxnSpPr>
          <p:cNvPr id="91" name="직선 화살표 연결선 90"/>
          <p:cNvCxnSpPr>
            <a:stCxn id="88" idx="2"/>
            <a:endCxn id="89" idx="0"/>
          </p:cNvCxnSpPr>
          <p:nvPr/>
        </p:nvCxnSpPr>
        <p:spPr>
          <a:xfrm>
            <a:off x="9766314" y="2712864"/>
            <a:ext cx="0" cy="356978"/>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직사각형 92"/>
          <p:cNvSpPr/>
          <p:nvPr/>
        </p:nvSpPr>
        <p:spPr>
          <a:xfrm>
            <a:off x="9956813" y="2363251"/>
            <a:ext cx="1515519"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A </a:t>
            </a:r>
            <a:r>
              <a:rPr lang="ko-KR" altLang="en-US" sz="1200" dirty="0">
                <a:solidFill>
                  <a:schemeClr val="tx1"/>
                </a:solidFill>
              </a:rPr>
              <a:t>생산</a:t>
            </a:r>
            <a:endParaRPr lang="en-US" altLang="ko-KR" sz="1200" dirty="0">
              <a:solidFill>
                <a:schemeClr val="tx1"/>
              </a:solidFill>
            </a:endParaRPr>
          </a:p>
        </p:txBody>
      </p:sp>
      <p:sp>
        <p:nvSpPr>
          <p:cNvPr id="94" name="직사각형 93"/>
          <p:cNvSpPr/>
          <p:nvPr/>
        </p:nvSpPr>
        <p:spPr>
          <a:xfrm>
            <a:off x="9956813" y="3069229"/>
            <a:ext cx="1515519"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err="1">
                <a:solidFill>
                  <a:schemeClr val="tx1"/>
                </a:solidFill>
              </a:rPr>
              <a:t>구입후</a:t>
            </a:r>
            <a:r>
              <a:rPr lang="ko-KR" altLang="en-US" sz="1200" dirty="0">
                <a:solidFill>
                  <a:schemeClr val="tx1"/>
                </a:solidFill>
              </a:rPr>
              <a:t> 집에서 </a:t>
            </a:r>
            <a:r>
              <a:rPr lang="en-US" altLang="ko-KR" sz="1200" dirty="0">
                <a:solidFill>
                  <a:schemeClr val="tx1"/>
                </a:solidFill>
              </a:rPr>
              <a:t>A </a:t>
            </a:r>
            <a:r>
              <a:rPr lang="ko-KR" altLang="en-US" sz="1200" dirty="0">
                <a:solidFill>
                  <a:schemeClr val="tx1"/>
                </a:solidFill>
              </a:rPr>
              <a:t>사용</a:t>
            </a:r>
          </a:p>
        </p:txBody>
      </p:sp>
      <p:sp>
        <p:nvSpPr>
          <p:cNvPr id="95" name="직사각형 94"/>
          <p:cNvSpPr/>
          <p:nvPr/>
        </p:nvSpPr>
        <p:spPr>
          <a:xfrm>
            <a:off x="9956813" y="3772656"/>
            <a:ext cx="1515519"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A </a:t>
            </a:r>
            <a:r>
              <a:rPr lang="ko-KR" altLang="en-US" sz="1200" dirty="0">
                <a:solidFill>
                  <a:schemeClr val="tx1"/>
                </a:solidFill>
              </a:rPr>
              <a:t>생산에만 사용하는 </a:t>
            </a:r>
            <a:r>
              <a:rPr lang="en-US" altLang="ko-KR" sz="1200" dirty="0">
                <a:solidFill>
                  <a:schemeClr val="tx1"/>
                </a:solidFill>
              </a:rPr>
              <a:t>b </a:t>
            </a:r>
            <a:r>
              <a:rPr lang="ko-KR" altLang="en-US" sz="1200" dirty="0">
                <a:solidFill>
                  <a:schemeClr val="tx1"/>
                </a:solidFill>
              </a:rPr>
              <a:t>생산</a:t>
            </a:r>
          </a:p>
        </p:txBody>
      </p:sp>
      <p:sp>
        <p:nvSpPr>
          <p:cNvPr id="97" name="직사각형 96"/>
          <p:cNvSpPr/>
          <p:nvPr/>
        </p:nvSpPr>
        <p:spPr>
          <a:xfrm>
            <a:off x="9101681" y="2720229"/>
            <a:ext cx="664634"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A </a:t>
            </a:r>
            <a:r>
              <a:rPr lang="ko-KR" altLang="en-US" sz="1200" dirty="0">
                <a:solidFill>
                  <a:schemeClr val="tx1"/>
                </a:solidFill>
              </a:rPr>
              <a:t>판매</a:t>
            </a:r>
          </a:p>
        </p:txBody>
      </p:sp>
      <p:sp>
        <p:nvSpPr>
          <p:cNvPr id="98" name="모서리가 둥근 사각형 설명선 97"/>
          <p:cNvSpPr/>
          <p:nvPr/>
        </p:nvSpPr>
        <p:spPr>
          <a:xfrm>
            <a:off x="6155267" y="2363251"/>
            <a:ext cx="973665" cy="266728"/>
          </a:xfrm>
          <a:prstGeom prst="wedgeRoundRectCallout">
            <a:avLst>
              <a:gd name="adj1" fmla="val 71341"/>
              <a:gd name="adj2" fmla="val 5363"/>
              <a:gd name="adj3" fmla="val 16667"/>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t>특허권자</a:t>
            </a:r>
            <a:endParaRPr lang="ko-KR" altLang="en-US" sz="1400" dirty="0"/>
          </a:p>
        </p:txBody>
      </p:sp>
      <p:sp>
        <p:nvSpPr>
          <p:cNvPr id="99" name="모서리가 둥근 사각형 설명선 98"/>
          <p:cNvSpPr/>
          <p:nvPr/>
        </p:nvSpPr>
        <p:spPr>
          <a:xfrm>
            <a:off x="10164233" y="2097574"/>
            <a:ext cx="1646767" cy="266728"/>
          </a:xfrm>
          <a:prstGeom prst="wedgeRoundRectCallout">
            <a:avLst>
              <a:gd name="adj1" fmla="val -59957"/>
              <a:gd name="adj2" fmla="val 56152"/>
              <a:gd name="adj3" fmla="val 16667"/>
            </a:avLst>
          </a:prstGeom>
          <a:solidFill>
            <a:schemeClr val="accent6">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정당한 </a:t>
            </a:r>
            <a:r>
              <a:rPr lang="ko-KR" altLang="en-US" sz="1400" dirty="0" err="1"/>
              <a:t>권원</a:t>
            </a:r>
            <a:r>
              <a:rPr lang="ko-KR" altLang="en-US" sz="1400" dirty="0"/>
              <a:t> 없는 자</a:t>
            </a:r>
          </a:p>
        </p:txBody>
      </p:sp>
      <p:sp>
        <p:nvSpPr>
          <p:cNvPr id="5" name="슬라이드 번호 개체 틀 4"/>
          <p:cNvSpPr>
            <a:spLocks noGrp="1"/>
          </p:cNvSpPr>
          <p:nvPr>
            <p:ph type="sldNum" sz="quarter" idx="12"/>
          </p:nvPr>
        </p:nvSpPr>
        <p:spPr/>
        <p:txBody>
          <a:bodyPr/>
          <a:lstStyle/>
          <a:p>
            <a:r>
              <a:rPr lang="en-US" altLang="ko-KR"/>
              <a:t>310</a:t>
            </a:r>
            <a:endParaRPr lang="ko-KR" altLang="en-US"/>
          </a:p>
        </p:txBody>
      </p:sp>
    </p:spTree>
    <p:extLst>
      <p:ext uri="{BB962C8B-B14F-4D97-AF65-F5344CB8AC3E}">
        <p14:creationId xmlns:p14="http://schemas.microsoft.com/office/powerpoint/2010/main" val="2604258224"/>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ko-KR" altLang="en-US" dirty="0"/>
              <a:t>실시행위의 독립성이 적용되는 </a:t>
            </a:r>
            <a:r>
              <a:rPr lang="en-US" altLang="ko-KR" dirty="0"/>
              <a:t>CASE</a:t>
            </a:r>
            <a:endParaRPr lang="ko-KR" altLang="en-US" dirty="0"/>
          </a:p>
        </p:txBody>
      </p:sp>
      <p:sp>
        <p:nvSpPr>
          <p:cNvPr id="15" name="직사각형 14"/>
          <p:cNvSpPr/>
          <p:nvPr/>
        </p:nvSpPr>
        <p:spPr>
          <a:xfrm>
            <a:off x="5695950" y="3601175"/>
            <a:ext cx="1343522" cy="835695"/>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70533" name="AutoShape 5"/>
          <p:cNvSpPr>
            <a:spLocks noChangeArrowheads="1"/>
          </p:cNvSpPr>
          <p:nvPr/>
        </p:nvSpPr>
        <p:spPr bwMode="auto">
          <a:xfrm>
            <a:off x="2594471" y="2156066"/>
            <a:ext cx="706967" cy="397878"/>
          </a:xfrm>
          <a:prstGeom prst="roundRect">
            <a:avLst>
              <a:gd name="adj" fmla="val 49614"/>
            </a:avLst>
          </a:prstGeom>
          <a:ln>
            <a:solidFill>
              <a:schemeClr val="bg1">
                <a:lumMod val="50000"/>
              </a:schemeClr>
            </a:solidFill>
            <a:headEnd/>
            <a:tailEnd/>
          </a:ln>
        </p:spPr>
        <p:style>
          <a:lnRef idx="2">
            <a:schemeClr val="accent1">
              <a:shade val="50000"/>
            </a:schemeClr>
          </a:lnRef>
          <a:fillRef idx="1">
            <a:schemeClr val="accent1"/>
          </a:fillRef>
          <a:effectRef idx="0">
            <a:schemeClr val="accent1"/>
          </a:effectRef>
          <a:fontRef idx="minor">
            <a:schemeClr val="lt1"/>
          </a:fontRef>
        </p:style>
        <p:txBody>
          <a:bodyPr wrap="none" lIns="90000" tIns="46800" rIns="90000" bIns="46800" anchor="ctr"/>
          <a:lstStyle/>
          <a:p>
            <a:pPr algn="ctr"/>
            <a:r>
              <a:rPr lang="ko-KR" altLang="en-US" sz="1400" dirty="0">
                <a:solidFill>
                  <a:schemeClr val="bg1"/>
                </a:solidFill>
                <a:latin typeface="+mn-ea"/>
              </a:rPr>
              <a:t>甲</a:t>
            </a:r>
          </a:p>
        </p:txBody>
      </p:sp>
      <p:sp>
        <p:nvSpPr>
          <p:cNvPr id="2070534" name="Text Box 6"/>
          <p:cNvSpPr txBox="1">
            <a:spLocks noChangeArrowheads="1"/>
          </p:cNvSpPr>
          <p:nvPr/>
        </p:nvSpPr>
        <p:spPr bwMode="auto">
          <a:xfrm>
            <a:off x="2177488" y="1837079"/>
            <a:ext cx="1540933" cy="299943"/>
          </a:xfrm>
          <a:prstGeom prst="rect">
            <a:avLst/>
          </a:prstGeom>
          <a:noFill/>
          <a:ln w="38100" cmpd="dbl" algn="ctr">
            <a:noFill/>
            <a:miter lim="800000"/>
            <a:headEnd/>
            <a:tailEnd/>
          </a:ln>
          <a:effectLst/>
        </p:spPr>
        <p:txBody>
          <a:bodyPr lIns="90000" tIns="46800" rIns="90000" bIns="46800" anchor="ctr" anchorCtr="1">
            <a:spAutoFit/>
          </a:bodyPr>
          <a:lstStyle/>
          <a:p>
            <a:pPr algn="ctr">
              <a:spcBef>
                <a:spcPct val="50000"/>
              </a:spcBef>
            </a:pPr>
            <a:r>
              <a:rPr lang="ko-KR" altLang="en-US" sz="1400" dirty="0" err="1">
                <a:solidFill>
                  <a:srgbClr val="4D4D4D"/>
                </a:solidFill>
                <a:latin typeface="+mn-ea"/>
              </a:rPr>
              <a:t>특허권자</a:t>
            </a:r>
            <a:endParaRPr lang="ko-KR" altLang="en-US" sz="1400" dirty="0">
              <a:solidFill>
                <a:srgbClr val="4D4D4D"/>
              </a:solidFill>
              <a:latin typeface="+mn-ea"/>
            </a:endParaRPr>
          </a:p>
        </p:txBody>
      </p:sp>
      <p:sp>
        <p:nvSpPr>
          <p:cNvPr id="2070535" name="AutoShape 7"/>
          <p:cNvSpPr>
            <a:spLocks noChangeArrowheads="1"/>
          </p:cNvSpPr>
          <p:nvPr/>
        </p:nvSpPr>
        <p:spPr bwMode="auto">
          <a:xfrm>
            <a:off x="5765238" y="2156066"/>
            <a:ext cx="706967" cy="397878"/>
          </a:xfrm>
          <a:prstGeom prst="roundRect">
            <a:avLst>
              <a:gd name="adj" fmla="val 50000"/>
            </a:avLst>
          </a:prstGeom>
          <a:ln>
            <a:solidFill>
              <a:schemeClr val="bg1">
                <a:lumMod val="50000"/>
              </a:schemeClr>
            </a:solidFill>
            <a:headEnd/>
            <a:tailEnd/>
          </a:ln>
        </p:spPr>
        <p:style>
          <a:lnRef idx="2">
            <a:schemeClr val="accent1">
              <a:shade val="50000"/>
            </a:schemeClr>
          </a:lnRef>
          <a:fillRef idx="1">
            <a:schemeClr val="accent1"/>
          </a:fillRef>
          <a:effectRef idx="0">
            <a:schemeClr val="accent1"/>
          </a:effectRef>
          <a:fontRef idx="minor">
            <a:schemeClr val="lt1"/>
          </a:fontRef>
        </p:style>
        <p:txBody>
          <a:bodyPr wrap="none" lIns="90000" tIns="46800" rIns="90000" bIns="46800" anchor="ctr"/>
          <a:lstStyle/>
          <a:p>
            <a:pPr algn="ctr"/>
            <a:r>
              <a:rPr lang="ko-KR" altLang="en-US" sz="1400" dirty="0">
                <a:solidFill>
                  <a:schemeClr val="bg1"/>
                </a:solidFill>
                <a:latin typeface="+mn-ea"/>
              </a:rPr>
              <a:t>乙</a:t>
            </a:r>
          </a:p>
        </p:txBody>
      </p:sp>
      <p:sp>
        <p:nvSpPr>
          <p:cNvPr id="2070536" name="Text Box 8"/>
          <p:cNvSpPr txBox="1">
            <a:spLocks noChangeArrowheads="1"/>
          </p:cNvSpPr>
          <p:nvPr/>
        </p:nvSpPr>
        <p:spPr bwMode="auto">
          <a:xfrm>
            <a:off x="5075205" y="1863231"/>
            <a:ext cx="2089151" cy="299943"/>
          </a:xfrm>
          <a:prstGeom prst="rect">
            <a:avLst/>
          </a:prstGeom>
          <a:noFill/>
          <a:ln w="38100" cmpd="dbl" algn="ctr">
            <a:noFill/>
            <a:miter lim="800000"/>
            <a:headEnd/>
            <a:tailEnd/>
          </a:ln>
          <a:effectLst/>
        </p:spPr>
        <p:txBody>
          <a:bodyPr lIns="90000" tIns="46800" rIns="90000" bIns="46800" anchor="ctr" anchorCtr="1">
            <a:spAutoFit/>
          </a:bodyPr>
          <a:lstStyle/>
          <a:p>
            <a:pPr algn="ctr">
              <a:spcBef>
                <a:spcPct val="50000"/>
              </a:spcBef>
            </a:pPr>
            <a:r>
              <a:rPr lang="en-US" altLang="ko-KR" sz="1400">
                <a:solidFill>
                  <a:srgbClr val="4D4D4D"/>
                </a:solidFill>
                <a:latin typeface="+mn-ea"/>
              </a:rPr>
              <a:t>SET MAKER</a:t>
            </a:r>
          </a:p>
        </p:txBody>
      </p:sp>
      <p:sp>
        <p:nvSpPr>
          <p:cNvPr id="2070537" name="AutoShape 9"/>
          <p:cNvSpPr>
            <a:spLocks noChangeArrowheads="1"/>
          </p:cNvSpPr>
          <p:nvPr/>
        </p:nvSpPr>
        <p:spPr bwMode="auto">
          <a:xfrm>
            <a:off x="8908489" y="2156066"/>
            <a:ext cx="706967" cy="397878"/>
          </a:xfrm>
          <a:prstGeom prst="roundRect">
            <a:avLst>
              <a:gd name="adj" fmla="val 50000"/>
            </a:avLst>
          </a:prstGeom>
          <a:ln>
            <a:solidFill>
              <a:schemeClr val="bg1">
                <a:lumMod val="50000"/>
              </a:schemeClr>
            </a:solidFill>
            <a:headEnd/>
            <a:tailEnd/>
          </a:ln>
        </p:spPr>
        <p:style>
          <a:lnRef idx="2">
            <a:schemeClr val="accent1">
              <a:shade val="50000"/>
            </a:schemeClr>
          </a:lnRef>
          <a:fillRef idx="1">
            <a:schemeClr val="accent1"/>
          </a:fillRef>
          <a:effectRef idx="0">
            <a:schemeClr val="accent1"/>
          </a:effectRef>
          <a:fontRef idx="minor">
            <a:schemeClr val="lt1"/>
          </a:fontRef>
        </p:style>
        <p:txBody>
          <a:bodyPr wrap="none" lIns="90000" tIns="46800" rIns="90000" bIns="46800" anchor="ctr"/>
          <a:lstStyle/>
          <a:p>
            <a:pPr algn="ctr"/>
            <a:r>
              <a:rPr lang="ko-KR" altLang="en-US" sz="1400" dirty="0">
                <a:solidFill>
                  <a:schemeClr val="bg1"/>
                </a:solidFill>
                <a:latin typeface="+mn-ea"/>
              </a:rPr>
              <a:t>丙</a:t>
            </a:r>
          </a:p>
        </p:txBody>
      </p:sp>
      <p:sp>
        <p:nvSpPr>
          <p:cNvPr id="2070538" name="Text Box 10"/>
          <p:cNvSpPr txBox="1">
            <a:spLocks noChangeArrowheads="1"/>
          </p:cNvSpPr>
          <p:nvPr/>
        </p:nvSpPr>
        <p:spPr bwMode="auto">
          <a:xfrm>
            <a:off x="8491504" y="1854014"/>
            <a:ext cx="1540933" cy="299943"/>
          </a:xfrm>
          <a:prstGeom prst="rect">
            <a:avLst/>
          </a:prstGeom>
          <a:noFill/>
          <a:ln w="38100" cmpd="dbl" algn="ctr">
            <a:noFill/>
            <a:miter lim="800000"/>
            <a:headEnd/>
            <a:tailEnd/>
          </a:ln>
          <a:effectLst/>
        </p:spPr>
        <p:txBody>
          <a:bodyPr lIns="90000" tIns="46800" rIns="90000" bIns="46800" anchor="ctr" anchorCtr="1">
            <a:spAutoFit/>
          </a:bodyPr>
          <a:lstStyle/>
          <a:p>
            <a:pPr algn="ctr">
              <a:spcBef>
                <a:spcPct val="50000"/>
              </a:spcBef>
            </a:pPr>
            <a:r>
              <a:rPr lang="ko-KR" altLang="en-US" sz="1400" dirty="0">
                <a:solidFill>
                  <a:srgbClr val="4D4D4D"/>
                </a:solidFill>
                <a:latin typeface="+mn-ea"/>
              </a:rPr>
              <a:t>납품업자</a:t>
            </a:r>
          </a:p>
        </p:txBody>
      </p:sp>
      <p:cxnSp>
        <p:nvCxnSpPr>
          <p:cNvPr id="2070546" name="AutoShape 18"/>
          <p:cNvCxnSpPr>
            <a:cxnSpLocks noChangeShapeType="1"/>
            <a:stCxn id="43" idx="2"/>
          </p:cNvCxnSpPr>
          <p:nvPr/>
        </p:nvCxnSpPr>
        <p:spPr bwMode="auto">
          <a:xfrm flipH="1">
            <a:off x="6144123" y="3262644"/>
            <a:ext cx="2943719" cy="0"/>
          </a:xfrm>
          <a:prstGeom prst="straightConnector1">
            <a:avLst/>
          </a:prstGeom>
          <a:noFill/>
          <a:ln w="12700">
            <a:solidFill>
              <a:srgbClr val="292929"/>
            </a:solidFill>
            <a:round/>
            <a:headEnd/>
            <a:tailEnd type="triangle" w="med" len="med"/>
          </a:ln>
          <a:effectLst/>
        </p:spPr>
      </p:cxnSp>
      <p:sp>
        <p:nvSpPr>
          <p:cNvPr id="2070547" name="Text Box 19"/>
          <p:cNvSpPr txBox="1">
            <a:spLocks noChangeArrowheads="1"/>
          </p:cNvSpPr>
          <p:nvPr/>
        </p:nvSpPr>
        <p:spPr bwMode="auto">
          <a:xfrm>
            <a:off x="7039472" y="3262644"/>
            <a:ext cx="1443567" cy="270159"/>
          </a:xfrm>
          <a:prstGeom prst="rect">
            <a:avLst/>
          </a:prstGeom>
          <a:noFill/>
          <a:ln w="12700" algn="ctr">
            <a:noFill/>
            <a:miter lim="800000"/>
            <a:headEnd/>
            <a:tailEnd/>
          </a:ln>
          <a:effectLst/>
        </p:spPr>
        <p:txBody>
          <a:bodyPr lIns="90000" tIns="46800" rIns="90000" bIns="46800">
            <a:spAutoFit/>
          </a:bodyPr>
          <a:lstStyle/>
          <a:p>
            <a:pPr algn="ctr">
              <a:spcBef>
                <a:spcPct val="50000"/>
              </a:spcBef>
            </a:pPr>
            <a:r>
              <a:rPr lang="ko-KR" altLang="en-US" sz="1200" dirty="0" err="1">
                <a:solidFill>
                  <a:srgbClr val="FF0000"/>
                </a:solidFill>
                <a:latin typeface="+mn-ea"/>
              </a:rPr>
              <a:t>비침해보증계약</a:t>
            </a:r>
            <a:endParaRPr lang="ko-KR" altLang="en-US" sz="1200" dirty="0">
              <a:solidFill>
                <a:srgbClr val="FF0000"/>
              </a:solidFill>
              <a:latin typeface="+mn-ea"/>
            </a:endParaRPr>
          </a:p>
        </p:txBody>
      </p:sp>
      <p:grpSp>
        <p:nvGrpSpPr>
          <p:cNvPr id="19" name="그룹 18"/>
          <p:cNvGrpSpPr/>
          <p:nvPr/>
        </p:nvGrpSpPr>
        <p:grpSpPr>
          <a:xfrm>
            <a:off x="2947955" y="2553943"/>
            <a:ext cx="6316133" cy="3941443"/>
            <a:chOff x="2947955" y="2031416"/>
            <a:chExt cx="6316133" cy="4310117"/>
          </a:xfrm>
        </p:grpSpPr>
        <p:cxnSp>
          <p:nvCxnSpPr>
            <p:cNvPr id="2070548" name="AutoShape 20"/>
            <p:cNvCxnSpPr>
              <a:cxnSpLocks noChangeShapeType="1"/>
              <a:stCxn id="2070533" idx="2"/>
            </p:cNvCxnSpPr>
            <p:nvPr/>
          </p:nvCxnSpPr>
          <p:spPr bwMode="auto">
            <a:xfrm>
              <a:off x="2947955" y="2031416"/>
              <a:ext cx="0" cy="4297790"/>
            </a:xfrm>
            <a:prstGeom prst="straightConnector1">
              <a:avLst/>
            </a:prstGeom>
            <a:noFill/>
            <a:ln w="28575">
              <a:solidFill>
                <a:schemeClr val="bg1">
                  <a:lumMod val="50000"/>
                </a:schemeClr>
              </a:solidFill>
              <a:round/>
              <a:headEnd/>
              <a:tailEnd/>
            </a:ln>
            <a:effectLst/>
          </p:spPr>
        </p:cxnSp>
        <p:cxnSp>
          <p:nvCxnSpPr>
            <p:cNvPr id="2070549" name="AutoShape 21"/>
            <p:cNvCxnSpPr>
              <a:cxnSpLocks noChangeShapeType="1"/>
            </p:cNvCxnSpPr>
            <p:nvPr/>
          </p:nvCxnSpPr>
          <p:spPr bwMode="auto">
            <a:xfrm>
              <a:off x="6120837" y="2031416"/>
              <a:ext cx="0" cy="4297790"/>
            </a:xfrm>
            <a:prstGeom prst="straightConnector1">
              <a:avLst/>
            </a:prstGeom>
            <a:noFill/>
            <a:ln w="28575">
              <a:solidFill>
                <a:schemeClr val="bg1">
                  <a:lumMod val="50000"/>
                </a:schemeClr>
              </a:solidFill>
              <a:round/>
              <a:headEnd/>
              <a:tailEnd/>
            </a:ln>
            <a:effectLst/>
          </p:spPr>
        </p:cxnSp>
        <p:cxnSp>
          <p:nvCxnSpPr>
            <p:cNvPr id="2070550" name="AutoShape 22"/>
            <p:cNvCxnSpPr>
              <a:cxnSpLocks noChangeShapeType="1"/>
              <a:stCxn id="2070537" idx="2"/>
            </p:cNvCxnSpPr>
            <p:nvPr/>
          </p:nvCxnSpPr>
          <p:spPr bwMode="auto">
            <a:xfrm>
              <a:off x="9261973" y="2031416"/>
              <a:ext cx="2115" cy="4310117"/>
            </a:xfrm>
            <a:prstGeom prst="straightConnector1">
              <a:avLst/>
            </a:prstGeom>
            <a:noFill/>
            <a:ln w="28575">
              <a:solidFill>
                <a:schemeClr val="bg1">
                  <a:lumMod val="50000"/>
                </a:schemeClr>
              </a:solidFill>
              <a:round/>
              <a:headEnd/>
              <a:tailEnd/>
            </a:ln>
            <a:effectLst/>
          </p:spPr>
        </p:cxnSp>
      </p:grpSp>
      <p:sp>
        <p:nvSpPr>
          <p:cNvPr id="2070551" name="AutoShape 23"/>
          <p:cNvSpPr>
            <a:spLocks noChangeArrowheads="1"/>
          </p:cNvSpPr>
          <p:nvPr/>
        </p:nvSpPr>
        <p:spPr bwMode="auto">
          <a:xfrm>
            <a:off x="2969124" y="4617065"/>
            <a:ext cx="3126876" cy="485441"/>
          </a:xfrm>
          <a:prstGeom prst="rightArrow">
            <a:avLst>
              <a:gd name="adj1" fmla="val 61333"/>
              <a:gd name="adj2" fmla="val 67222"/>
            </a:avLst>
          </a:prstGeom>
          <a:ln>
            <a:headEnd/>
            <a:tailEnd/>
          </a:ln>
        </p:spPr>
        <p:style>
          <a:lnRef idx="1">
            <a:schemeClr val="accent3"/>
          </a:lnRef>
          <a:fillRef idx="2">
            <a:schemeClr val="accent3"/>
          </a:fillRef>
          <a:effectRef idx="1">
            <a:schemeClr val="accent3"/>
          </a:effectRef>
          <a:fontRef idx="minor">
            <a:schemeClr val="dk1"/>
          </a:fontRef>
        </p:style>
        <p:txBody>
          <a:bodyPr wrap="none" lIns="90000" tIns="46800" rIns="90000" bIns="46800" anchor="ctr"/>
          <a:lstStyle/>
          <a:p>
            <a:pPr algn="ctr"/>
            <a:r>
              <a:rPr lang="ko-KR" altLang="en-US" sz="1200" dirty="0">
                <a:solidFill>
                  <a:srgbClr val="4D4D4D"/>
                </a:solidFill>
                <a:latin typeface="+mn-ea"/>
              </a:rPr>
              <a:t>침해금지 </a:t>
            </a:r>
            <a:r>
              <a:rPr lang="en-US" altLang="ko-KR" sz="1200" dirty="0">
                <a:solidFill>
                  <a:srgbClr val="4D4D4D"/>
                </a:solidFill>
                <a:latin typeface="+mn-ea"/>
              </a:rPr>
              <a:t>&amp; </a:t>
            </a:r>
            <a:r>
              <a:rPr lang="ko-KR" altLang="en-US" sz="1200" dirty="0">
                <a:solidFill>
                  <a:srgbClr val="4D4D4D"/>
                </a:solidFill>
                <a:latin typeface="+mn-ea"/>
              </a:rPr>
              <a:t>손해배상청구</a:t>
            </a:r>
          </a:p>
        </p:txBody>
      </p:sp>
      <p:sp>
        <p:nvSpPr>
          <p:cNvPr id="2070553" name="AutoShape 25"/>
          <p:cNvSpPr>
            <a:spLocks noChangeArrowheads="1"/>
          </p:cNvSpPr>
          <p:nvPr/>
        </p:nvSpPr>
        <p:spPr bwMode="auto">
          <a:xfrm>
            <a:off x="6129305" y="5473766"/>
            <a:ext cx="3111500" cy="485441"/>
          </a:xfrm>
          <a:prstGeom prst="rightArrow">
            <a:avLst>
              <a:gd name="adj1" fmla="val 61333"/>
              <a:gd name="adj2" fmla="val 66677"/>
            </a:avLst>
          </a:prstGeom>
          <a:ln>
            <a:headEnd/>
            <a:tailEnd/>
          </a:ln>
        </p:spPr>
        <p:style>
          <a:lnRef idx="1">
            <a:schemeClr val="accent5"/>
          </a:lnRef>
          <a:fillRef idx="2">
            <a:schemeClr val="accent5"/>
          </a:fillRef>
          <a:effectRef idx="1">
            <a:schemeClr val="accent5"/>
          </a:effectRef>
          <a:fontRef idx="minor">
            <a:schemeClr val="dk1"/>
          </a:fontRef>
        </p:style>
        <p:txBody>
          <a:bodyPr wrap="none" lIns="90000" tIns="46800" rIns="90000" bIns="46800" anchor="ctr"/>
          <a:lstStyle/>
          <a:p>
            <a:pPr algn="ctr"/>
            <a:r>
              <a:rPr lang="ko-KR" altLang="en-US" sz="1200">
                <a:solidFill>
                  <a:srgbClr val="4D4D4D"/>
                </a:solidFill>
                <a:latin typeface="+mn-ea"/>
              </a:rPr>
              <a:t>구상권행사 </a:t>
            </a:r>
            <a:r>
              <a:rPr lang="en-US" altLang="ko-KR" sz="1200">
                <a:solidFill>
                  <a:srgbClr val="4D4D4D"/>
                </a:solidFill>
                <a:latin typeface="+mn-ea"/>
              </a:rPr>
              <a:t>(</a:t>
            </a:r>
            <a:r>
              <a:rPr lang="ko-KR" altLang="en-US" sz="1200">
                <a:solidFill>
                  <a:srgbClr val="4D4D4D"/>
                </a:solidFill>
                <a:latin typeface="+mn-ea"/>
              </a:rPr>
              <a:t>계약근거</a:t>
            </a:r>
            <a:r>
              <a:rPr lang="en-US" altLang="ko-KR" sz="1200">
                <a:solidFill>
                  <a:srgbClr val="4D4D4D"/>
                </a:solidFill>
                <a:latin typeface="+mn-ea"/>
              </a:rPr>
              <a:t>)</a:t>
            </a:r>
          </a:p>
        </p:txBody>
      </p:sp>
      <p:sp>
        <p:nvSpPr>
          <p:cNvPr id="41" name="Oval 11"/>
          <p:cNvSpPr>
            <a:spLocks noChangeArrowheads="1"/>
          </p:cNvSpPr>
          <p:nvPr/>
        </p:nvSpPr>
        <p:spPr bwMode="auto">
          <a:xfrm>
            <a:off x="2771708" y="2713990"/>
            <a:ext cx="352492" cy="331254"/>
          </a:xfrm>
          <a:prstGeom prst="ellipse">
            <a:avLst/>
          </a:prstGeom>
          <a:ln>
            <a:solidFill>
              <a:schemeClr val="bg1">
                <a:lumMod val="50000"/>
              </a:schemeClr>
            </a:solidFill>
            <a:headEnd/>
            <a:tailEnd/>
          </a:ln>
        </p:spPr>
        <p:style>
          <a:lnRef idx="2">
            <a:schemeClr val="accent2">
              <a:shade val="50000"/>
            </a:schemeClr>
          </a:lnRef>
          <a:fillRef idx="1">
            <a:schemeClr val="accent2"/>
          </a:fillRef>
          <a:effectRef idx="0">
            <a:schemeClr val="accent2"/>
          </a:effectRef>
          <a:fontRef idx="minor">
            <a:schemeClr val="lt1"/>
          </a:fontRef>
        </p:style>
        <p:txBody>
          <a:bodyPr wrap="none" lIns="90000" tIns="46800" rIns="90000" bIns="46800" anchor="ctr"/>
          <a:lstStyle/>
          <a:p>
            <a:pPr algn="ctr"/>
            <a:r>
              <a:rPr lang="en-US" altLang="ko-KR" sz="1400" dirty="0">
                <a:solidFill>
                  <a:schemeClr val="bg1"/>
                </a:solidFill>
                <a:latin typeface="+mn-ea"/>
              </a:rPr>
              <a:t>a</a:t>
            </a:r>
          </a:p>
        </p:txBody>
      </p:sp>
      <p:sp>
        <p:nvSpPr>
          <p:cNvPr id="43" name="Oval 11"/>
          <p:cNvSpPr>
            <a:spLocks noChangeArrowheads="1"/>
          </p:cNvSpPr>
          <p:nvPr/>
        </p:nvSpPr>
        <p:spPr bwMode="auto">
          <a:xfrm>
            <a:off x="9087842" y="3097017"/>
            <a:ext cx="352492" cy="331254"/>
          </a:xfrm>
          <a:prstGeom prst="ellipse">
            <a:avLst/>
          </a:prstGeom>
          <a:ln>
            <a:solidFill>
              <a:schemeClr val="bg1">
                <a:lumMod val="50000"/>
              </a:schemeClr>
            </a:solidFill>
            <a:headEnd/>
            <a:tailEnd/>
          </a:ln>
        </p:spPr>
        <p:style>
          <a:lnRef idx="2">
            <a:schemeClr val="accent2">
              <a:shade val="50000"/>
            </a:schemeClr>
          </a:lnRef>
          <a:fillRef idx="1">
            <a:schemeClr val="accent2"/>
          </a:fillRef>
          <a:effectRef idx="0">
            <a:schemeClr val="accent2"/>
          </a:effectRef>
          <a:fontRef idx="minor">
            <a:schemeClr val="lt1"/>
          </a:fontRef>
        </p:style>
        <p:txBody>
          <a:bodyPr wrap="none" lIns="90000" tIns="46800" rIns="90000" bIns="46800" anchor="ctr"/>
          <a:lstStyle/>
          <a:p>
            <a:pPr algn="ctr"/>
            <a:r>
              <a:rPr lang="en-US" altLang="ko-KR" sz="1400">
                <a:solidFill>
                  <a:schemeClr val="bg1"/>
                </a:solidFill>
                <a:latin typeface="+mn-ea"/>
              </a:rPr>
              <a:t>a</a:t>
            </a:r>
          </a:p>
        </p:txBody>
      </p:sp>
      <p:sp>
        <p:nvSpPr>
          <p:cNvPr id="44" name="Text Box 19"/>
          <p:cNvSpPr txBox="1">
            <a:spLocks noChangeArrowheads="1"/>
          </p:cNvSpPr>
          <p:nvPr/>
        </p:nvSpPr>
        <p:spPr bwMode="auto">
          <a:xfrm>
            <a:off x="9490572" y="3143951"/>
            <a:ext cx="1443567" cy="270159"/>
          </a:xfrm>
          <a:prstGeom prst="rect">
            <a:avLst/>
          </a:prstGeom>
          <a:noFill/>
          <a:ln w="12700" algn="ctr">
            <a:noFill/>
            <a:miter lim="800000"/>
            <a:headEnd/>
            <a:tailEnd/>
          </a:ln>
          <a:effectLst/>
        </p:spPr>
        <p:txBody>
          <a:bodyPr lIns="90000" tIns="46800" rIns="90000" bIns="46800">
            <a:spAutoFit/>
          </a:bodyPr>
          <a:lstStyle/>
          <a:p>
            <a:pPr>
              <a:spcBef>
                <a:spcPct val="50000"/>
              </a:spcBef>
            </a:pPr>
            <a:r>
              <a:rPr lang="ko-KR" altLang="en-US" sz="1200" dirty="0">
                <a:solidFill>
                  <a:srgbClr val="4D4D4D"/>
                </a:solidFill>
                <a:latin typeface="+mn-ea"/>
              </a:rPr>
              <a:t>생산</a:t>
            </a:r>
          </a:p>
        </p:txBody>
      </p:sp>
      <p:sp>
        <p:nvSpPr>
          <p:cNvPr id="45" name="Text Box 19"/>
          <p:cNvSpPr txBox="1">
            <a:spLocks noChangeArrowheads="1"/>
          </p:cNvSpPr>
          <p:nvPr/>
        </p:nvSpPr>
        <p:spPr bwMode="auto">
          <a:xfrm>
            <a:off x="7039472" y="2997637"/>
            <a:ext cx="1443567" cy="270159"/>
          </a:xfrm>
          <a:prstGeom prst="rect">
            <a:avLst/>
          </a:prstGeom>
          <a:noFill/>
          <a:ln w="12700" algn="ctr">
            <a:noFill/>
            <a:miter lim="800000"/>
            <a:headEnd/>
            <a:tailEnd/>
          </a:ln>
          <a:effectLst/>
        </p:spPr>
        <p:txBody>
          <a:bodyPr lIns="90000" tIns="46800" rIns="90000" bIns="46800">
            <a:spAutoFit/>
          </a:bodyPr>
          <a:lstStyle/>
          <a:p>
            <a:pPr algn="ctr">
              <a:spcBef>
                <a:spcPct val="50000"/>
              </a:spcBef>
            </a:pPr>
            <a:r>
              <a:rPr lang="ko-KR" altLang="en-US" sz="1200" dirty="0">
                <a:solidFill>
                  <a:srgbClr val="4D4D4D"/>
                </a:solidFill>
                <a:latin typeface="+mn-ea"/>
              </a:rPr>
              <a:t>납품</a:t>
            </a:r>
            <a:r>
              <a:rPr lang="en-US" altLang="ko-KR" sz="1200" dirty="0">
                <a:solidFill>
                  <a:srgbClr val="4D4D4D"/>
                </a:solidFill>
                <a:latin typeface="+mn-ea"/>
              </a:rPr>
              <a:t>(</a:t>
            </a:r>
            <a:r>
              <a:rPr lang="ko-KR" altLang="en-US" sz="1200" dirty="0">
                <a:solidFill>
                  <a:srgbClr val="4D4D4D"/>
                </a:solidFill>
                <a:latin typeface="+mn-ea"/>
              </a:rPr>
              <a:t>양도</a:t>
            </a:r>
            <a:r>
              <a:rPr lang="en-US" altLang="ko-KR" sz="1200" dirty="0">
                <a:solidFill>
                  <a:srgbClr val="4D4D4D"/>
                </a:solidFill>
                <a:latin typeface="+mn-ea"/>
              </a:rPr>
              <a:t>)</a:t>
            </a:r>
            <a:endParaRPr lang="ko-KR" altLang="en-US" sz="1200" dirty="0">
              <a:solidFill>
                <a:srgbClr val="4D4D4D"/>
              </a:solidFill>
              <a:latin typeface="+mn-ea"/>
            </a:endParaRPr>
          </a:p>
        </p:txBody>
      </p:sp>
      <p:sp>
        <p:nvSpPr>
          <p:cNvPr id="48" name="Oval 11"/>
          <p:cNvSpPr>
            <a:spLocks noChangeArrowheads="1"/>
          </p:cNvSpPr>
          <p:nvPr/>
        </p:nvSpPr>
        <p:spPr bwMode="auto">
          <a:xfrm>
            <a:off x="5944591" y="3699209"/>
            <a:ext cx="352492" cy="331254"/>
          </a:xfrm>
          <a:prstGeom prst="ellipse">
            <a:avLst/>
          </a:prstGeom>
          <a:ln>
            <a:solidFill>
              <a:schemeClr val="bg1">
                <a:lumMod val="50000"/>
              </a:schemeClr>
            </a:solidFill>
            <a:headEnd/>
            <a:tailEnd/>
          </a:ln>
        </p:spPr>
        <p:style>
          <a:lnRef idx="2">
            <a:schemeClr val="accent2">
              <a:shade val="50000"/>
            </a:schemeClr>
          </a:lnRef>
          <a:fillRef idx="1">
            <a:schemeClr val="accent2"/>
          </a:fillRef>
          <a:effectRef idx="0">
            <a:schemeClr val="accent2"/>
          </a:effectRef>
          <a:fontRef idx="minor">
            <a:schemeClr val="lt1"/>
          </a:fontRef>
        </p:style>
        <p:txBody>
          <a:bodyPr wrap="none" lIns="90000" tIns="46800" rIns="90000" bIns="46800" anchor="ctr"/>
          <a:lstStyle/>
          <a:p>
            <a:pPr algn="ctr"/>
            <a:r>
              <a:rPr lang="en-US" altLang="ko-KR" sz="1400" dirty="0">
                <a:solidFill>
                  <a:schemeClr val="bg1"/>
                </a:solidFill>
                <a:latin typeface="+mn-ea"/>
              </a:rPr>
              <a:t>a</a:t>
            </a:r>
          </a:p>
        </p:txBody>
      </p:sp>
      <p:sp>
        <p:nvSpPr>
          <p:cNvPr id="49" name="Oval 11"/>
          <p:cNvSpPr>
            <a:spLocks noChangeArrowheads="1"/>
          </p:cNvSpPr>
          <p:nvPr/>
        </p:nvSpPr>
        <p:spPr bwMode="auto">
          <a:xfrm>
            <a:off x="5944591" y="4030463"/>
            <a:ext cx="352492" cy="331254"/>
          </a:xfrm>
          <a:prstGeom prst="ellipse">
            <a:avLst/>
          </a:prstGeom>
          <a:solidFill>
            <a:schemeClr val="tx2"/>
          </a:solidFill>
          <a:ln>
            <a:solidFill>
              <a:schemeClr val="bg1">
                <a:lumMod val="50000"/>
              </a:schemeClr>
            </a:solidFill>
            <a:headEnd/>
            <a:tailEnd/>
          </a:ln>
        </p:spPr>
        <p:style>
          <a:lnRef idx="2">
            <a:schemeClr val="accent2">
              <a:shade val="50000"/>
            </a:schemeClr>
          </a:lnRef>
          <a:fillRef idx="1">
            <a:schemeClr val="accent2"/>
          </a:fillRef>
          <a:effectRef idx="0">
            <a:schemeClr val="accent2"/>
          </a:effectRef>
          <a:fontRef idx="minor">
            <a:schemeClr val="lt1"/>
          </a:fontRef>
        </p:style>
        <p:txBody>
          <a:bodyPr wrap="none" lIns="90000" tIns="46800" rIns="90000" bIns="46800" anchor="ctr"/>
          <a:lstStyle/>
          <a:p>
            <a:pPr algn="ctr"/>
            <a:r>
              <a:rPr lang="en-US" altLang="ko-KR" sz="1400" dirty="0">
                <a:solidFill>
                  <a:schemeClr val="bg1"/>
                </a:solidFill>
                <a:latin typeface="+mn-ea"/>
              </a:rPr>
              <a:t>b</a:t>
            </a:r>
          </a:p>
        </p:txBody>
      </p:sp>
      <p:sp>
        <p:nvSpPr>
          <p:cNvPr id="16" name="TextBox 15"/>
          <p:cNvSpPr txBox="1"/>
          <p:nvPr/>
        </p:nvSpPr>
        <p:spPr>
          <a:xfrm>
            <a:off x="6358031" y="3693257"/>
            <a:ext cx="633507" cy="625447"/>
          </a:xfrm>
          <a:prstGeom prst="rect">
            <a:avLst/>
          </a:prstGeom>
          <a:noFill/>
        </p:spPr>
        <p:txBody>
          <a:bodyPr wrap="none" rtlCol="0">
            <a:spAutoFit/>
          </a:bodyPr>
          <a:lstStyle/>
          <a:p>
            <a:pPr algn="ctr"/>
            <a:r>
              <a:rPr lang="en-US" altLang="ko-KR" dirty="0"/>
              <a:t>SET </a:t>
            </a:r>
          </a:p>
          <a:p>
            <a:pPr algn="ctr"/>
            <a:r>
              <a:rPr lang="ko-KR" altLang="en-US" dirty="0"/>
              <a:t>생산</a:t>
            </a:r>
          </a:p>
        </p:txBody>
      </p:sp>
      <p:sp>
        <p:nvSpPr>
          <p:cNvPr id="21" name="TextBox 20"/>
          <p:cNvSpPr txBox="1"/>
          <p:nvPr/>
        </p:nvSpPr>
        <p:spPr>
          <a:xfrm>
            <a:off x="344423" y="1195401"/>
            <a:ext cx="5224507" cy="400110"/>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r>
              <a:rPr lang="ko-KR" altLang="en-US" sz="2000" dirty="0" err="1"/>
              <a:t>특허권자는</a:t>
            </a:r>
            <a:r>
              <a:rPr lang="ko-KR" altLang="en-US" sz="2000" dirty="0"/>
              <a:t> 왜 </a:t>
            </a:r>
            <a:r>
              <a:rPr lang="en-US" altLang="ko-KR" sz="2000" dirty="0"/>
              <a:t>SET MAKER</a:t>
            </a:r>
            <a:r>
              <a:rPr lang="ko-KR" altLang="en-US" sz="2000" dirty="0"/>
              <a:t>를 공격하는 것일까</a:t>
            </a:r>
            <a:r>
              <a:rPr lang="en-US" altLang="ko-KR" sz="2000" dirty="0"/>
              <a:t>?</a:t>
            </a:r>
            <a:endParaRPr lang="ko-KR" altLang="en-US" sz="2000" dirty="0"/>
          </a:p>
        </p:txBody>
      </p:sp>
      <p:sp>
        <p:nvSpPr>
          <p:cNvPr id="4" name="슬라이드 번호 개체 틀 3"/>
          <p:cNvSpPr>
            <a:spLocks noGrp="1"/>
          </p:cNvSpPr>
          <p:nvPr>
            <p:ph type="sldNum" sz="quarter" idx="12"/>
          </p:nvPr>
        </p:nvSpPr>
        <p:spPr/>
        <p:txBody>
          <a:bodyPr/>
          <a:lstStyle/>
          <a:p>
            <a:r>
              <a:rPr lang="en-US" altLang="ko-KR"/>
              <a:t>311</a:t>
            </a:r>
            <a:endParaRPr lang="ko-KR" altLang="en-US"/>
          </a:p>
        </p:txBody>
      </p:sp>
      <p:sp>
        <p:nvSpPr>
          <p:cNvPr id="5" name="TextBox 4">
            <a:extLst>
              <a:ext uri="{FF2B5EF4-FFF2-40B4-BE49-F238E27FC236}">
                <a16:creationId xmlns:a16="http://schemas.microsoft.com/office/drawing/2014/main" id="{C36D5402-CB69-24C3-912D-CA7C589F74C8}"/>
              </a:ext>
            </a:extLst>
          </p:cNvPr>
          <p:cNvSpPr txBox="1"/>
          <p:nvPr/>
        </p:nvSpPr>
        <p:spPr>
          <a:xfrm>
            <a:off x="5963051" y="1003832"/>
            <a:ext cx="2056973" cy="646331"/>
          </a:xfrm>
          <a:prstGeom prst="rect">
            <a:avLst/>
          </a:prstGeom>
          <a:noFill/>
          <a:ln w="28575">
            <a:solidFill>
              <a:srgbClr val="FF0000"/>
            </a:solidFill>
          </a:ln>
        </p:spPr>
        <p:txBody>
          <a:bodyPr wrap="none" rtlCol="0">
            <a:spAutoFit/>
          </a:bodyPr>
          <a:lstStyle/>
          <a:p>
            <a:r>
              <a:rPr lang="en-US" altLang="ko-KR" dirty="0">
                <a:solidFill>
                  <a:schemeClr val="accent2">
                    <a:lumMod val="50000"/>
                  </a:schemeClr>
                </a:solidFill>
              </a:rPr>
              <a:t>- </a:t>
            </a:r>
            <a:r>
              <a:rPr lang="ko-KR" altLang="en-US" dirty="0">
                <a:solidFill>
                  <a:schemeClr val="accent2">
                    <a:lumMod val="50000"/>
                  </a:schemeClr>
                </a:solidFill>
              </a:rPr>
              <a:t>손해배상액의 결정</a:t>
            </a:r>
            <a:endParaRPr lang="en-US" altLang="ko-KR" dirty="0">
              <a:solidFill>
                <a:schemeClr val="accent2">
                  <a:lumMod val="50000"/>
                </a:schemeClr>
              </a:solidFill>
            </a:endParaRPr>
          </a:p>
          <a:p>
            <a:r>
              <a:rPr lang="en-US" altLang="ko-KR" dirty="0">
                <a:solidFill>
                  <a:schemeClr val="accent2">
                    <a:lumMod val="50000"/>
                  </a:schemeClr>
                </a:solidFill>
              </a:rPr>
              <a:t>- </a:t>
            </a:r>
            <a:r>
              <a:rPr lang="ko-KR" altLang="en-US" dirty="0">
                <a:solidFill>
                  <a:schemeClr val="accent2">
                    <a:lumMod val="50000"/>
                  </a:schemeClr>
                </a:solidFill>
              </a:rPr>
              <a:t>침해금지의 영향력</a:t>
            </a:r>
          </a:p>
        </p:txBody>
      </p:sp>
    </p:spTree>
    <p:extLst>
      <p:ext uri="{BB962C8B-B14F-4D97-AF65-F5344CB8AC3E}">
        <p14:creationId xmlns:p14="http://schemas.microsoft.com/office/powerpoint/2010/main" val="365759996"/>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양쪽 모서리가 둥근 사각형 108"/>
          <p:cNvSpPr/>
          <p:nvPr/>
        </p:nvSpPr>
        <p:spPr>
          <a:xfrm>
            <a:off x="8551302" y="5181873"/>
            <a:ext cx="1629660" cy="395343"/>
          </a:xfrm>
          <a:prstGeom prst="round2SameRect">
            <a:avLst>
              <a:gd name="adj1" fmla="val 0"/>
              <a:gd name="adj2" fmla="val 50000"/>
            </a:avLst>
          </a:prstGeom>
          <a:pattFill prst="lgGrid">
            <a:fgClr>
              <a:schemeClr val="accent2"/>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9" name="직사각형 8"/>
          <p:cNvSpPr/>
          <p:nvPr/>
        </p:nvSpPr>
        <p:spPr>
          <a:xfrm>
            <a:off x="719674" y="2743177"/>
            <a:ext cx="1405467" cy="1379094"/>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94</a:t>
            </a:r>
            <a:r>
              <a:rPr lang="ko-KR" altLang="en-US" dirty="0"/>
              <a:t>조</a:t>
            </a:r>
            <a:r>
              <a:rPr lang="en-US" altLang="ko-KR" dirty="0"/>
              <a:t>~</a:t>
            </a:r>
            <a:r>
              <a:rPr lang="ko-KR" altLang="en-US" dirty="0"/>
              <a:t>제</a:t>
            </a:r>
            <a:r>
              <a:rPr lang="en-US" altLang="ko-KR" dirty="0"/>
              <a:t>96</a:t>
            </a:r>
            <a:r>
              <a:rPr lang="ko-KR" altLang="en-US" dirty="0"/>
              <a:t>조</a:t>
            </a:r>
          </a:p>
        </p:txBody>
      </p:sp>
      <p:sp>
        <p:nvSpPr>
          <p:cNvPr id="4" name="텍스트 개체 틀 3"/>
          <p:cNvSpPr>
            <a:spLocks noGrp="1"/>
          </p:cNvSpPr>
          <p:nvPr>
            <p:ph type="body" sz="quarter" idx="13"/>
          </p:nvPr>
        </p:nvSpPr>
        <p:spPr/>
        <p:txBody>
          <a:bodyPr/>
          <a:lstStyle/>
          <a:p>
            <a:r>
              <a:rPr lang="ko-KR" altLang="en-US" dirty="0"/>
              <a:t>제</a:t>
            </a:r>
            <a:r>
              <a:rPr lang="en-US" altLang="ko-KR" dirty="0"/>
              <a:t>96</a:t>
            </a:r>
            <a:r>
              <a:rPr lang="ko-KR" altLang="en-US" dirty="0"/>
              <a:t>조제</a:t>
            </a:r>
            <a:r>
              <a:rPr lang="en-US" altLang="ko-KR" dirty="0"/>
              <a:t>1</a:t>
            </a:r>
            <a:r>
              <a:rPr lang="ko-KR" altLang="en-US" dirty="0" err="1"/>
              <a:t>항제</a:t>
            </a:r>
            <a:r>
              <a:rPr lang="en-US" altLang="ko-KR" dirty="0"/>
              <a:t>1</a:t>
            </a:r>
            <a:r>
              <a:rPr lang="ko-KR" altLang="en-US" dirty="0"/>
              <a:t>호</a:t>
            </a:r>
          </a:p>
        </p:txBody>
      </p:sp>
      <p:sp>
        <p:nvSpPr>
          <p:cNvPr id="19" name="TextBox 18"/>
          <p:cNvSpPr txBox="1"/>
          <p:nvPr/>
        </p:nvSpPr>
        <p:spPr>
          <a:xfrm>
            <a:off x="77876" y="976902"/>
            <a:ext cx="5882658" cy="1600438"/>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pPr fontAlgn="base"/>
            <a:r>
              <a:rPr lang="ko-KR" altLang="en-US" sz="1400" dirty="0">
                <a:solidFill>
                  <a:schemeClr val="tx2"/>
                </a:solidFill>
              </a:rPr>
              <a:t>각각의 실시행위별로 특허권의 침해인지를 판단하므로</a:t>
            </a:r>
            <a:r>
              <a:rPr lang="en-US" altLang="ko-KR" sz="1400" dirty="0">
                <a:solidFill>
                  <a:schemeClr val="tx2"/>
                </a:solidFill>
              </a:rPr>
              <a:t>, </a:t>
            </a:r>
            <a:r>
              <a:rPr lang="ko-KR" altLang="en-US" sz="1400" dirty="0">
                <a:solidFill>
                  <a:schemeClr val="tx2"/>
                </a:solidFill>
              </a:rPr>
              <a:t>연구 또는 시험을 위한 실시는 침해가 아니나 그 결과 제작된 것을 업으로서 연구 또는 시험 이외의 것에 실시했을 때는 특허권의 침해가 된다</a:t>
            </a:r>
            <a:r>
              <a:rPr lang="en-US" altLang="ko-KR" sz="1400" dirty="0">
                <a:solidFill>
                  <a:schemeClr val="tx2"/>
                </a:solidFill>
              </a:rPr>
              <a:t>. </a:t>
            </a:r>
            <a:r>
              <a:rPr lang="ko-KR" altLang="en-US" sz="1400" dirty="0">
                <a:solidFill>
                  <a:schemeClr val="tx2"/>
                </a:solidFill>
              </a:rPr>
              <a:t>예를 들면 물건을 생산하는 방법에 관한 특허발명을 시험하여 생산된 물건을 타인에게 양도하는 것은 특허권의 침해가 된다</a:t>
            </a:r>
            <a:r>
              <a:rPr lang="en-US" altLang="ko-KR" sz="1400" dirty="0">
                <a:solidFill>
                  <a:schemeClr val="tx2"/>
                </a:solidFill>
              </a:rPr>
              <a:t>. </a:t>
            </a:r>
            <a:r>
              <a:rPr lang="ko-KR" altLang="en-US" sz="1400" dirty="0">
                <a:solidFill>
                  <a:schemeClr val="tx2"/>
                </a:solidFill>
              </a:rPr>
              <a:t>그러나 </a:t>
            </a:r>
            <a:r>
              <a:rPr lang="ko-KR" altLang="en-US" sz="1400" dirty="0">
                <a:solidFill>
                  <a:srgbClr val="FF0000"/>
                </a:solidFill>
              </a:rPr>
              <a:t>물건제조장치에 관한 특허발명을 시험하여 생산된 물건을 타인에게 양도하는 것은 물건의 양도가 물건제조장치의 실시</a:t>
            </a:r>
            <a:r>
              <a:rPr lang="en-US" altLang="ko-KR" sz="1400" dirty="0">
                <a:solidFill>
                  <a:srgbClr val="FF0000"/>
                </a:solidFill>
              </a:rPr>
              <a:t>(</a:t>
            </a:r>
            <a:r>
              <a:rPr lang="ko-KR" altLang="en-US" sz="1400" dirty="0">
                <a:solidFill>
                  <a:srgbClr val="FF0000"/>
                </a:solidFill>
              </a:rPr>
              <a:t>法 </a:t>
            </a:r>
            <a:r>
              <a:rPr lang="en-US" altLang="ko-KR" sz="1400" dirty="0" err="1">
                <a:solidFill>
                  <a:srgbClr val="FF0000"/>
                </a:solidFill>
              </a:rPr>
              <a:t>2Ⅲ</a:t>
            </a:r>
            <a:r>
              <a:rPr lang="ko-KR" altLang="en-US" sz="1400" dirty="0">
                <a:solidFill>
                  <a:srgbClr val="FF0000"/>
                </a:solidFill>
              </a:rPr>
              <a:t>가</a:t>
            </a:r>
            <a:r>
              <a:rPr lang="en-US" altLang="ko-KR" sz="1400" dirty="0">
                <a:solidFill>
                  <a:srgbClr val="FF0000"/>
                </a:solidFill>
              </a:rPr>
              <a:t>)</a:t>
            </a:r>
            <a:r>
              <a:rPr lang="ko-KR" altLang="en-US" sz="1400" dirty="0">
                <a:solidFill>
                  <a:srgbClr val="FF0000"/>
                </a:solidFill>
              </a:rPr>
              <a:t>가 아니므로 </a:t>
            </a:r>
            <a:r>
              <a:rPr lang="ko-KR" altLang="en-US" sz="1400" dirty="0">
                <a:solidFill>
                  <a:schemeClr val="tx2"/>
                </a:solidFill>
              </a:rPr>
              <a:t>특허권의 침해가 되지 아니한다</a:t>
            </a:r>
            <a:r>
              <a:rPr lang="en-US" altLang="ko-KR" sz="1400" dirty="0">
                <a:solidFill>
                  <a:schemeClr val="tx2"/>
                </a:solidFill>
              </a:rPr>
              <a:t>.</a:t>
            </a:r>
            <a:endParaRPr lang="ko-KR" altLang="en-US" sz="1400" dirty="0">
              <a:solidFill>
                <a:schemeClr val="tx2"/>
              </a:solidFill>
            </a:endParaRPr>
          </a:p>
        </p:txBody>
      </p:sp>
      <p:cxnSp>
        <p:nvCxnSpPr>
          <p:cNvPr id="55" name="직선 연결선 54"/>
          <p:cNvCxnSpPr/>
          <p:nvPr/>
        </p:nvCxnSpPr>
        <p:spPr>
          <a:xfrm flipH="1" flipV="1">
            <a:off x="6066767" y="976902"/>
            <a:ext cx="1" cy="560487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직사각형 57"/>
          <p:cNvSpPr/>
          <p:nvPr/>
        </p:nvSpPr>
        <p:spPr>
          <a:xfrm>
            <a:off x="872113" y="3271384"/>
            <a:ext cx="1066768" cy="3496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a:solidFill>
                  <a:schemeClr val="tx1"/>
                </a:solidFill>
              </a:rPr>
              <a:t>A </a:t>
            </a:r>
            <a:r>
              <a:rPr lang="ko-KR" altLang="en-US" sz="1200" dirty="0">
                <a:solidFill>
                  <a:schemeClr val="tx1"/>
                </a:solidFill>
              </a:rPr>
              <a:t>제조방법</a:t>
            </a:r>
          </a:p>
        </p:txBody>
      </p:sp>
      <p:sp>
        <p:nvSpPr>
          <p:cNvPr id="65" name="직사각형 64"/>
          <p:cNvSpPr/>
          <p:nvPr/>
        </p:nvSpPr>
        <p:spPr>
          <a:xfrm>
            <a:off x="4148740" y="3271384"/>
            <a:ext cx="1066768"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a:t>
            </a:r>
            <a:r>
              <a:rPr lang="ko-KR" altLang="en-US" sz="1200" dirty="0">
                <a:solidFill>
                  <a:schemeClr val="tx1"/>
                </a:solidFill>
              </a:rPr>
              <a:t>판매</a:t>
            </a:r>
          </a:p>
        </p:txBody>
      </p:sp>
      <p:cxnSp>
        <p:nvCxnSpPr>
          <p:cNvPr id="6" name="직선 연결선 5"/>
          <p:cNvCxnSpPr>
            <a:stCxn id="58" idx="3"/>
            <a:endCxn id="65" idx="1"/>
          </p:cNvCxnSpPr>
          <p:nvPr/>
        </p:nvCxnSpPr>
        <p:spPr>
          <a:xfrm>
            <a:off x="1938881" y="3446191"/>
            <a:ext cx="2209859"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직사각형 68"/>
          <p:cNvSpPr/>
          <p:nvPr/>
        </p:nvSpPr>
        <p:spPr>
          <a:xfrm>
            <a:off x="2341085" y="3045963"/>
            <a:ext cx="1612867"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accent3">
                    <a:lumMod val="50000"/>
                  </a:schemeClr>
                </a:solidFill>
              </a:rPr>
              <a:t>사용</a:t>
            </a:r>
            <a:endParaRPr lang="en-US" altLang="ko-KR" sz="1200" dirty="0">
              <a:solidFill>
                <a:schemeClr val="accent3">
                  <a:lumMod val="50000"/>
                </a:schemeClr>
              </a:solidFill>
            </a:endParaRPr>
          </a:p>
          <a:p>
            <a:pPr algn="ctr"/>
            <a:r>
              <a:rPr lang="en-US" altLang="ko-KR" sz="1200" dirty="0">
                <a:solidFill>
                  <a:schemeClr val="tx1"/>
                </a:solidFill>
              </a:rPr>
              <a:t>(</a:t>
            </a:r>
            <a:r>
              <a:rPr lang="ko-KR" altLang="en-US" sz="1200" dirty="0">
                <a:solidFill>
                  <a:schemeClr val="tx1"/>
                </a:solidFill>
              </a:rPr>
              <a:t>∵ 시험을 위해</a:t>
            </a:r>
            <a:r>
              <a:rPr lang="en-US" altLang="ko-KR" sz="1200" dirty="0">
                <a:solidFill>
                  <a:schemeClr val="tx1"/>
                </a:solidFill>
              </a:rPr>
              <a:t>)</a:t>
            </a:r>
            <a:endParaRPr lang="ko-KR" altLang="en-US" sz="1200" dirty="0">
              <a:solidFill>
                <a:schemeClr val="tx1"/>
              </a:solidFill>
            </a:endParaRPr>
          </a:p>
        </p:txBody>
      </p:sp>
      <p:sp>
        <p:nvSpPr>
          <p:cNvPr id="72" name="직사각형 71"/>
          <p:cNvSpPr/>
          <p:nvPr/>
        </p:nvSpPr>
        <p:spPr>
          <a:xfrm>
            <a:off x="872113" y="3694667"/>
            <a:ext cx="1066768" cy="3496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a:t>
            </a:r>
            <a:r>
              <a:rPr lang="ko-KR" altLang="en-US" sz="1200" dirty="0">
                <a:solidFill>
                  <a:schemeClr val="tx1"/>
                </a:solidFill>
              </a:rPr>
              <a:t>제조장치</a:t>
            </a:r>
          </a:p>
        </p:txBody>
      </p:sp>
      <p:sp>
        <p:nvSpPr>
          <p:cNvPr id="73" name="직사각형 72"/>
          <p:cNvSpPr/>
          <p:nvPr/>
        </p:nvSpPr>
        <p:spPr>
          <a:xfrm>
            <a:off x="4148740" y="3694667"/>
            <a:ext cx="1066768"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a:t>
            </a:r>
            <a:r>
              <a:rPr lang="ko-KR" altLang="en-US" sz="1200" dirty="0">
                <a:solidFill>
                  <a:schemeClr val="tx1"/>
                </a:solidFill>
              </a:rPr>
              <a:t>판매</a:t>
            </a:r>
          </a:p>
        </p:txBody>
      </p:sp>
      <p:cxnSp>
        <p:nvCxnSpPr>
          <p:cNvPr id="74" name="직선 연결선 73"/>
          <p:cNvCxnSpPr>
            <a:stCxn id="72" idx="3"/>
            <a:endCxn id="73" idx="1"/>
          </p:cNvCxnSpPr>
          <p:nvPr/>
        </p:nvCxnSpPr>
        <p:spPr>
          <a:xfrm>
            <a:off x="1938881" y="3869474"/>
            <a:ext cx="2209859"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직사각형 74"/>
          <p:cNvSpPr/>
          <p:nvPr/>
        </p:nvSpPr>
        <p:spPr>
          <a:xfrm>
            <a:off x="2341085" y="3884129"/>
            <a:ext cx="1612867"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accent3">
                    <a:lumMod val="50000"/>
                  </a:schemeClr>
                </a:solidFill>
              </a:rPr>
              <a:t>사용</a:t>
            </a:r>
            <a:endParaRPr lang="en-US" altLang="ko-KR" sz="1200" dirty="0">
              <a:solidFill>
                <a:schemeClr val="accent3">
                  <a:lumMod val="50000"/>
                </a:schemeClr>
              </a:solidFill>
            </a:endParaRPr>
          </a:p>
          <a:p>
            <a:pPr algn="ctr"/>
            <a:r>
              <a:rPr lang="en-US" altLang="ko-KR" sz="1200" dirty="0">
                <a:solidFill>
                  <a:schemeClr val="tx1"/>
                </a:solidFill>
              </a:rPr>
              <a:t>(</a:t>
            </a:r>
            <a:r>
              <a:rPr lang="ko-KR" altLang="en-US" sz="1200" dirty="0">
                <a:solidFill>
                  <a:schemeClr val="tx1"/>
                </a:solidFill>
              </a:rPr>
              <a:t>∵ 시험을 위해</a:t>
            </a:r>
            <a:r>
              <a:rPr lang="en-US" altLang="ko-KR" sz="1200" dirty="0">
                <a:solidFill>
                  <a:schemeClr val="tx1"/>
                </a:solidFill>
              </a:rPr>
              <a:t>)</a:t>
            </a:r>
            <a:endParaRPr lang="ko-KR" altLang="en-US" sz="1200" dirty="0">
              <a:solidFill>
                <a:schemeClr val="tx1"/>
              </a:solidFill>
            </a:endParaRPr>
          </a:p>
        </p:txBody>
      </p:sp>
      <p:sp>
        <p:nvSpPr>
          <p:cNvPr id="10" name="TextBox 9"/>
          <p:cNvSpPr txBox="1"/>
          <p:nvPr/>
        </p:nvSpPr>
        <p:spPr>
          <a:xfrm>
            <a:off x="903860" y="2812103"/>
            <a:ext cx="1018227" cy="369332"/>
          </a:xfrm>
          <a:prstGeom prst="rect">
            <a:avLst/>
          </a:prstGeom>
          <a:noFill/>
        </p:spPr>
        <p:txBody>
          <a:bodyPr wrap="none" rtlCol="0">
            <a:spAutoFit/>
          </a:bodyPr>
          <a:lstStyle/>
          <a:p>
            <a:r>
              <a:rPr lang="ko-KR" altLang="en-US" dirty="0"/>
              <a:t>특허발명</a:t>
            </a:r>
          </a:p>
        </p:txBody>
      </p:sp>
      <p:graphicFrame>
        <p:nvGraphicFramePr>
          <p:cNvPr id="11" name="표 10"/>
          <p:cNvGraphicFramePr>
            <a:graphicFrameLocks noGrp="1"/>
          </p:cNvGraphicFramePr>
          <p:nvPr/>
        </p:nvGraphicFramePr>
        <p:xfrm>
          <a:off x="254000" y="4542336"/>
          <a:ext cx="5596467" cy="1352550"/>
        </p:xfrm>
        <a:graphic>
          <a:graphicData uri="http://schemas.openxmlformats.org/drawingml/2006/table">
            <a:tbl>
              <a:tblPr>
                <a:tableStyleId>{8799B23B-EC83-4686-B30A-512413B5E67A}</a:tableStyleId>
              </a:tblPr>
              <a:tblGrid>
                <a:gridCol w="855035">
                  <a:extLst>
                    <a:ext uri="{9D8B030D-6E8A-4147-A177-3AD203B41FA5}">
                      <a16:colId xmlns:a16="http://schemas.microsoft.com/office/drawing/2014/main" val="20000"/>
                    </a:ext>
                  </a:extLst>
                </a:gridCol>
                <a:gridCol w="2110501">
                  <a:extLst>
                    <a:ext uri="{9D8B030D-6E8A-4147-A177-3AD203B41FA5}">
                      <a16:colId xmlns:a16="http://schemas.microsoft.com/office/drawing/2014/main" val="20001"/>
                    </a:ext>
                  </a:extLst>
                </a:gridCol>
                <a:gridCol w="717464">
                  <a:extLst>
                    <a:ext uri="{9D8B030D-6E8A-4147-A177-3AD203B41FA5}">
                      <a16:colId xmlns:a16="http://schemas.microsoft.com/office/drawing/2014/main" val="20002"/>
                    </a:ext>
                  </a:extLst>
                </a:gridCol>
                <a:gridCol w="1913467">
                  <a:extLst>
                    <a:ext uri="{9D8B030D-6E8A-4147-A177-3AD203B41FA5}">
                      <a16:colId xmlns:a16="http://schemas.microsoft.com/office/drawing/2014/main" val="20003"/>
                    </a:ext>
                  </a:extLst>
                </a:gridCol>
              </a:tblGrid>
              <a:tr h="0">
                <a:tc>
                  <a:txBody>
                    <a:bodyPr/>
                    <a:lstStyle/>
                    <a:p>
                      <a:pPr marL="0" marR="0" indent="0" algn="ctr" fontAlgn="base" latinLnBrk="0">
                        <a:lnSpc>
                          <a:spcPct val="100000"/>
                        </a:lnSpc>
                        <a:spcBef>
                          <a:spcPts val="0"/>
                        </a:spcBef>
                        <a:spcAft>
                          <a:spcPts val="0"/>
                        </a:spcAft>
                      </a:pPr>
                      <a:r>
                        <a:rPr lang="ko-KR" altLang="en-US" sz="1100" kern="1200" dirty="0"/>
                        <a:t>특허발명</a:t>
                      </a:r>
                      <a:endParaRPr lang="ko-KR" altLang="en-US" sz="11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100" kern="1200" dirty="0"/>
                        <a:t>제</a:t>
                      </a:r>
                      <a:r>
                        <a:rPr lang="en-US" altLang="ko-KR" sz="1100" kern="1200" dirty="0"/>
                        <a:t>3</a:t>
                      </a:r>
                      <a:r>
                        <a:rPr lang="ko-KR" altLang="en-US" sz="1100" kern="1200" dirty="0"/>
                        <a:t>자의 실시</a:t>
                      </a:r>
                      <a:endParaRPr lang="ko-KR" altLang="en-US" sz="11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100" kern="1200" dirty="0"/>
                        <a:t>침해 여부</a:t>
                      </a:r>
                      <a:endParaRPr lang="ko-KR" altLang="en-US" sz="11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100" kern="1200" dirty="0"/>
                        <a:t>비고</a:t>
                      </a:r>
                      <a:endParaRPr lang="ko-KR" altLang="en-US" sz="11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extLst>
                  <a:ext uri="{0D108BD9-81ED-4DB2-BD59-A6C34878D82A}">
                    <a16:rowId xmlns:a16="http://schemas.microsoft.com/office/drawing/2014/main" val="10000"/>
                  </a:ext>
                </a:extLst>
              </a:tr>
              <a:tr h="0">
                <a:tc rowSpan="2">
                  <a:txBody>
                    <a:bodyPr/>
                    <a:lstStyle/>
                    <a:p>
                      <a:pPr marL="0" marR="0" indent="0" algn="ctr" fontAlgn="base" latinLnBrk="0">
                        <a:lnSpc>
                          <a:spcPct val="100000"/>
                        </a:lnSpc>
                        <a:spcBef>
                          <a:spcPts val="0"/>
                        </a:spcBef>
                        <a:spcAft>
                          <a:spcPts val="0"/>
                        </a:spcAft>
                      </a:pPr>
                      <a:r>
                        <a:rPr lang="en-US" sz="1100" kern="1200" dirty="0"/>
                        <a:t>A </a:t>
                      </a:r>
                      <a:r>
                        <a:rPr lang="ko-KR" altLang="en-US" sz="1100" kern="1200" dirty="0"/>
                        <a:t>제조방법</a:t>
                      </a:r>
                    </a:p>
                    <a:p>
                      <a:pPr marL="0" marR="0" indent="0" algn="ctr" fontAlgn="base" latinLnBrk="0">
                        <a:lnSpc>
                          <a:spcPct val="100000"/>
                        </a:lnSpc>
                        <a:spcBef>
                          <a:spcPts val="0"/>
                        </a:spcBef>
                        <a:spcAft>
                          <a:spcPts val="0"/>
                        </a:spcAft>
                      </a:pPr>
                      <a:r>
                        <a:rPr lang="en-US" altLang="ko-KR" sz="1100" kern="1200" dirty="0"/>
                        <a:t>(</a:t>
                      </a:r>
                      <a:r>
                        <a:rPr lang="ko-KR" altLang="en-US" sz="1100" kern="1200" dirty="0"/>
                        <a:t>方</a:t>
                      </a:r>
                      <a:r>
                        <a:rPr lang="en-US" altLang="ko-KR" sz="1100" kern="1200" dirty="0"/>
                        <a:t>1)</a:t>
                      </a:r>
                      <a:endParaRPr lang="ko-KR" altLang="en-US" sz="1100" kern="1200" dirty="0">
                        <a:solidFill>
                          <a:schemeClr val="tx2"/>
                        </a:solidFill>
                        <a:latin typeface="+mn-lt"/>
                        <a:ea typeface="+mn-ea"/>
                        <a:cs typeface="+mn-cs"/>
                      </a:endParaRPr>
                    </a:p>
                  </a:txBody>
                  <a:tcPr marL="17907" marR="17907" marT="17907" marB="17907" anchor="ctr"/>
                </a:tc>
                <a:tc>
                  <a:txBody>
                    <a:bodyPr/>
                    <a:lstStyle/>
                    <a:p>
                      <a:pPr marL="17780" marR="17780" indent="0" algn="just" fontAlgn="base" latinLnBrk="1">
                        <a:lnSpc>
                          <a:spcPct val="100000"/>
                        </a:lnSpc>
                        <a:spcBef>
                          <a:spcPts val="0"/>
                        </a:spcBef>
                        <a:spcAft>
                          <a:spcPts val="0"/>
                        </a:spcAft>
                      </a:pPr>
                      <a:r>
                        <a:rPr lang="en-US" altLang="ko-KR" sz="1100" kern="1200" dirty="0"/>
                        <a:t>A </a:t>
                      </a:r>
                      <a:r>
                        <a:rPr lang="ko-KR" altLang="en-US" sz="1100" kern="1200" dirty="0"/>
                        <a:t>제조방법 사용</a:t>
                      </a:r>
                      <a:r>
                        <a:rPr lang="en-US" altLang="ko-KR" sz="1100" kern="1200" dirty="0"/>
                        <a:t>(</a:t>
                      </a:r>
                      <a:r>
                        <a:rPr lang="ko-KR" altLang="en-US" sz="1100" kern="1200" dirty="0"/>
                        <a:t>∵ 시험을 위해</a:t>
                      </a:r>
                      <a:r>
                        <a:rPr lang="en-US" altLang="ko-KR" sz="1100" kern="1200" dirty="0"/>
                        <a:t>)</a:t>
                      </a:r>
                      <a:endParaRPr lang="ko-KR" altLang="en-US" sz="1100" kern="1200" dirty="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00000"/>
                        </a:lnSpc>
                        <a:spcBef>
                          <a:spcPts val="0"/>
                        </a:spcBef>
                        <a:spcAft>
                          <a:spcPts val="0"/>
                        </a:spcAft>
                      </a:pPr>
                      <a:r>
                        <a:rPr lang="en-US" sz="1100" kern="1200"/>
                        <a:t>×</a:t>
                      </a:r>
                      <a:endParaRPr lang="en-US" sz="1100" kern="1200">
                        <a:solidFill>
                          <a:schemeClr val="tx2"/>
                        </a:solidFill>
                        <a:latin typeface="+mn-lt"/>
                        <a:ea typeface="+mn-ea"/>
                        <a:cs typeface="+mn-cs"/>
                      </a:endParaRPr>
                    </a:p>
                  </a:txBody>
                  <a:tcPr marL="17907" marR="17907" marT="17907" marB="17907" anchor="ctr"/>
                </a:tc>
                <a:tc>
                  <a:txBody>
                    <a:bodyPr/>
                    <a:lstStyle/>
                    <a:p>
                      <a:pPr marL="17780" marR="17780" indent="0" algn="just" fontAlgn="base" latinLnBrk="1">
                        <a:lnSpc>
                          <a:spcPct val="100000"/>
                        </a:lnSpc>
                        <a:spcBef>
                          <a:spcPts val="0"/>
                        </a:spcBef>
                        <a:spcAft>
                          <a:spcPts val="0"/>
                        </a:spcAft>
                      </a:pPr>
                      <a:r>
                        <a:rPr lang="ko-KR" altLang="en-US" sz="1100" kern="1200" dirty="0"/>
                        <a:t>제</a:t>
                      </a:r>
                      <a:r>
                        <a:rPr lang="en-US" altLang="ko-KR" sz="1100" kern="1200" dirty="0"/>
                        <a:t>96</a:t>
                      </a:r>
                      <a:r>
                        <a:rPr lang="ko-KR" altLang="en-US" sz="1100" kern="1200" dirty="0"/>
                        <a:t>조제</a:t>
                      </a:r>
                      <a:r>
                        <a:rPr lang="en-US" altLang="ko-KR" sz="1100" kern="1200" dirty="0"/>
                        <a:t>1</a:t>
                      </a:r>
                      <a:r>
                        <a:rPr lang="ko-KR" altLang="en-US" sz="1100" kern="1200" dirty="0" err="1"/>
                        <a:t>항제</a:t>
                      </a:r>
                      <a:r>
                        <a:rPr lang="en-US" altLang="ko-KR" sz="1100" kern="1200" dirty="0"/>
                        <a:t>1</a:t>
                      </a:r>
                      <a:r>
                        <a:rPr lang="ko-KR" altLang="en-US" sz="1100" kern="1200" dirty="0"/>
                        <a:t>호 해당</a:t>
                      </a:r>
                      <a:endParaRPr lang="ko-KR" altLang="en-US" sz="11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01"/>
                  </a:ext>
                </a:extLst>
              </a:tr>
              <a:tr h="98732">
                <a:tc v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100" kern="1200" dirty="0"/>
                        <a:t>제조방법</a:t>
                      </a:r>
                      <a:r>
                        <a:rPr lang="en-US" altLang="ko-KR" sz="1100" kern="1200" dirty="0"/>
                        <a:t>(</a:t>
                      </a:r>
                      <a:r>
                        <a:rPr lang="ko-KR" altLang="en-US" sz="1100" kern="1200" dirty="0"/>
                        <a:t>方</a:t>
                      </a:r>
                      <a:r>
                        <a:rPr lang="en-US" altLang="ko-KR" sz="1100" kern="1200" dirty="0"/>
                        <a:t>1)</a:t>
                      </a:r>
                      <a:r>
                        <a:rPr lang="ko-KR" altLang="en-US" sz="1100" kern="1200" dirty="0"/>
                        <a:t>의 사용에 의하여 생산된 </a:t>
                      </a:r>
                      <a:r>
                        <a:rPr lang="en-US" altLang="ko-KR" sz="1100" kern="1200" dirty="0"/>
                        <a:t>A </a:t>
                      </a:r>
                      <a:r>
                        <a:rPr lang="ko-KR" altLang="en-US" sz="1100" kern="1200" dirty="0"/>
                        <a:t>판매</a:t>
                      </a:r>
                      <a:endParaRPr lang="ko-KR" altLang="en-US" sz="1100" kern="1200" dirty="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00000"/>
                        </a:lnSpc>
                        <a:spcBef>
                          <a:spcPts val="0"/>
                        </a:spcBef>
                        <a:spcAft>
                          <a:spcPts val="0"/>
                        </a:spcAft>
                      </a:pPr>
                      <a:r>
                        <a:rPr lang="ko-KR" altLang="en-US" sz="1100" kern="1200" dirty="0"/>
                        <a:t>○</a:t>
                      </a:r>
                      <a:endParaRPr lang="ko-KR" altLang="en-US" sz="1100" kern="1200" dirty="0">
                        <a:solidFill>
                          <a:schemeClr val="tx2"/>
                        </a:solidFill>
                        <a:latin typeface="+mn-lt"/>
                        <a:ea typeface="+mn-ea"/>
                        <a:cs typeface="+mn-cs"/>
                      </a:endParaRPr>
                    </a:p>
                  </a:txBody>
                  <a:tcPr marL="17907" marR="17907" marT="17907" marB="17907" anchor="ctr"/>
                </a:tc>
                <a:tc>
                  <a:txBody>
                    <a:bodyPr/>
                    <a:lstStyle/>
                    <a:p>
                      <a:pPr marL="17780" marR="17780" indent="0" algn="just" fontAlgn="base" latinLnBrk="1">
                        <a:lnSpc>
                          <a:spcPct val="100000"/>
                        </a:lnSpc>
                        <a:spcBef>
                          <a:spcPts val="0"/>
                        </a:spcBef>
                        <a:spcAft>
                          <a:spcPts val="0"/>
                        </a:spcAft>
                      </a:pPr>
                      <a:r>
                        <a:rPr lang="ko-KR" altLang="en-US" sz="1100" kern="1200" dirty="0"/>
                        <a:t>제</a:t>
                      </a:r>
                      <a:r>
                        <a:rPr lang="en-US" altLang="ko-KR" sz="1100" kern="1200" dirty="0"/>
                        <a:t>2</a:t>
                      </a:r>
                      <a:r>
                        <a:rPr lang="ko-KR" altLang="en-US" sz="1100" kern="1200" dirty="0"/>
                        <a:t>조제</a:t>
                      </a:r>
                      <a:r>
                        <a:rPr lang="en-US" altLang="ko-KR" sz="1100" kern="1200" dirty="0"/>
                        <a:t>3</a:t>
                      </a:r>
                      <a:r>
                        <a:rPr lang="ko-KR" altLang="en-US" sz="1100" kern="1200" dirty="0"/>
                        <a:t>호</a:t>
                      </a:r>
                      <a:r>
                        <a:rPr lang="en-US" altLang="ko-KR" sz="1100" kern="1200" dirty="0"/>
                        <a:t>(</a:t>
                      </a:r>
                      <a:r>
                        <a:rPr lang="ko-KR" altLang="en-US" sz="1100" kern="1200" dirty="0"/>
                        <a:t>다</a:t>
                      </a:r>
                      <a:r>
                        <a:rPr lang="en-US" altLang="ko-KR" sz="1100" kern="1200" dirty="0"/>
                        <a:t>)</a:t>
                      </a:r>
                      <a:r>
                        <a:rPr lang="ko-KR" altLang="en-US" sz="1100" kern="1200" dirty="0"/>
                        <a:t>목의 실시에 해당</a:t>
                      </a:r>
                      <a:r>
                        <a:rPr lang="en-US" altLang="ko-KR" sz="1100" kern="1200" dirty="0"/>
                        <a:t>(</a:t>
                      </a:r>
                      <a:r>
                        <a:rPr lang="ko-KR" altLang="en-US" sz="1100" kern="1200" dirty="0"/>
                        <a:t>실시행위의 독립성</a:t>
                      </a:r>
                      <a:r>
                        <a:rPr lang="en-US" altLang="ko-KR" sz="1100" kern="1200" dirty="0"/>
                        <a:t>)*</a:t>
                      </a:r>
                      <a:endParaRPr lang="ko-KR" altLang="en-US" sz="11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02"/>
                  </a:ext>
                </a:extLst>
              </a:tr>
              <a:tr h="0">
                <a:tc rowSpan="2">
                  <a:txBody>
                    <a:bodyPr/>
                    <a:lstStyle/>
                    <a:p>
                      <a:pPr marL="0" marR="0" indent="0" algn="ctr" fontAlgn="base" latinLnBrk="0">
                        <a:lnSpc>
                          <a:spcPct val="100000"/>
                        </a:lnSpc>
                        <a:spcBef>
                          <a:spcPts val="0"/>
                        </a:spcBef>
                        <a:spcAft>
                          <a:spcPts val="0"/>
                        </a:spcAft>
                      </a:pPr>
                      <a:r>
                        <a:rPr lang="en-US" sz="1100" kern="1200"/>
                        <a:t>A </a:t>
                      </a:r>
                      <a:r>
                        <a:rPr lang="ko-KR" altLang="en-US" sz="1100" kern="1200"/>
                        <a:t>제조장치</a:t>
                      </a:r>
                    </a:p>
                    <a:p>
                      <a:pPr marL="0" marR="0" indent="0" algn="ctr" fontAlgn="base" latinLnBrk="0">
                        <a:lnSpc>
                          <a:spcPct val="100000"/>
                        </a:lnSpc>
                        <a:spcBef>
                          <a:spcPts val="0"/>
                        </a:spcBef>
                        <a:spcAft>
                          <a:spcPts val="0"/>
                        </a:spcAft>
                      </a:pPr>
                      <a:r>
                        <a:rPr lang="en-US" altLang="ko-KR" sz="1100" kern="1200"/>
                        <a:t>(</a:t>
                      </a:r>
                      <a:r>
                        <a:rPr lang="ko-KR" altLang="en-US" sz="1100" kern="1200"/>
                        <a:t>裝</a:t>
                      </a:r>
                      <a:r>
                        <a:rPr lang="en-US" altLang="ko-KR" sz="1100" kern="1200"/>
                        <a:t>1)</a:t>
                      </a:r>
                      <a:endParaRPr lang="ko-KR" altLang="en-US" sz="1100" kern="1200">
                        <a:solidFill>
                          <a:schemeClr val="tx2"/>
                        </a:solidFill>
                        <a:latin typeface="+mn-lt"/>
                        <a:ea typeface="+mn-ea"/>
                        <a:cs typeface="+mn-cs"/>
                      </a:endParaRPr>
                    </a:p>
                  </a:txBody>
                  <a:tcPr marL="17907" marR="17907" marT="17907" marB="17907" anchor="ctr"/>
                </a:tc>
                <a:tc>
                  <a:txBody>
                    <a:bodyPr/>
                    <a:lstStyle/>
                    <a:p>
                      <a:pPr marL="17780" marR="17780" indent="0" algn="just" fontAlgn="base" latinLnBrk="1">
                        <a:lnSpc>
                          <a:spcPct val="100000"/>
                        </a:lnSpc>
                        <a:spcBef>
                          <a:spcPts val="0"/>
                        </a:spcBef>
                        <a:spcAft>
                          <a:spcPts val="0"/>
                        </a:spcAft>
                      </a:pPr>
                      <a:r>
                        <a:rPr lang="en-US" altLang="ko-KR" sz="1100" kern="1200"/>
                        <a:t>A </a:t>
                      </a:r>
                      <a:r>
                        <a:rPr lang="ko-KR" altLang="en-US" sz="1100" kern="1200"/>
                        <a:t>제조장치 사용</a:t>
                      </a:r>
                      <a:r>
                        <a:rPr lang="en-US" altLang="ko-KR" sz="1100" kern="1200"/>
                        <a:t>(</a:t>
                      </a:r>
                      <a:r>
                        <a:rPr lang="ko-KR" altLang="en-US" sz="1100" kern="1200"/>
                        <a:t>∵ 시험을 위해</a:t>
                      </a:r>
                      <a:r>
                        <a:rPr lang="en-US" altLang="ko-KR" sz="1100" kern="1200"/>
                        <a:t>)</a:t>
                      </a:r>
                      <a:endParaRPr lang="ko-KR" altLang="en-US" sz="11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00000"/>
                        </a:lnSpc>
                        <a:spcBef>
                          <a:spcPts val="0"/>
                        </a:spcBef>
                        <a:spcAft>
                          <a:spcPts val="0"/>
                        </a:spcAft>
                      </a:pPr>
                      <a:r>
                        <a:rPr lang="en-US" sz="1100" kern="1200" dirty="0"/>
                        <a:t>×</a:t>
                      </a:r>
                      <a:endParaRPr lang="en-US" sz="1100" kern="1200" dirty="0">
                        <a:solidFill>
                          <a:schemeClr val="tx2"/>
                        </a:solidFill>
                        <a:latin typeface="+mn-lt"/>
                        <a:ea typeface="+mn-ea"/>
                        <a:cs typeface="+mn-cs"/>
                      </a:endParaRPr>
                    </a:p>
                  </a:txBody>
                  <a:tcPr marL="17907" marR="17907" marT="17907" marB="17907" anchor="ctr"/>
                </a:tc>
                <a:tc>
                  <a:txBody>
                    <a:bodyPr/>
                    <a:lstStyle/>
                    <a:p>
                      <a:pPr marL="17780" marR="17780" indent="0" algn="just" fontAlgn="base" latinLnBrk="1">
                        <a:lnSpc>
                          <a:spcPct val="100000"/>
                        </a:lnSpc>
                        <a:spcBef>
                          <a:spcPts val="0"/>
                        </a:spcBef>
                        <a:spcAft>
                          <a:spcPts val="0"/>
                        </a:spcAft>
                      </a:pPr>
                      <a:r>
                        <a:rPr lang="ko-KR" altLang="en-US" sz="1100" kern="1200" dirty="0"/>
                        <a:t>제</a:t>
                      </a:r>
                      <a:r>
                        <a:rPr lang="en-US" altLang="ko-KR" sz="1100" kern="1200" dirty="0"/>
                        <a:t>96</a:t>
                      </a:r>
                      <a:r>
                        <a:rPr lang="ko-KR" altLang="en-US" sz="1100" kern="1200" dirty="0"/>
                        <a:t>조제</a:t>
                      </a:r>
                      <a:r>
                        <a:rPr lang="en-US" altLang="ko-KR" sz="1100" kern="1200" dirty="0"/>
                        <a:t>1</a:t>
                      </a:r>
                      <a:r>
                        <a:rPr lang="ko-KR" altLang="en-US" sz="1100" kern="1200" dirty="0" err="1"/>
                        <a:t>항제</a:t>
                      </a:r>
                      <a:r>
                        <a:rPr lang="en-US" altLang="ko-KR" sz="1100" kern="1200" dirty="0"/>
                        <a:t>1</a:t>
                      </a:r>
                      <a:r>
                        <a:rPr lang="ko-KR" altLang="en-US" sz="1100" kern="1200" dirty="0"/>
                        <a:t>호 해당</a:t>
                      </a:r>
                      <a:endParaRPr lang="ko-KR" altLang="en-US" sz="11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03"/>
                  </a:ext>
                </a:extLst>
              </a:tr>
              <a:tr h="98732">
                <a:tc v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100" kern="1200"/>
                        <a:t>제조장치</a:t>
                      </a:r>
                      <a:r>
                        <a:rPr lang="en-US" altLang="ko-KR" sz="1100" kern="1200"/>
                        <a:t>(</a:t>
                      </a:r>
                      <a:r>
                        <a:rPr lang="ko-KR" altLang="en-US" sz="1100" kern="1200"/>
                        <a:t>裝</a:t>
                      </a:r>
                      <a:r>
                        <a:rPr lang="en-US" altLang="ko-KR" sz="1100" kern="1200"/>
                        <a:t>1)</a:t>
                      </a:r>
                      <a:r>
                        <a:rPr lang="ko-KR" altLang="en-US" sz="1100" kern="1200"/>
                        <a:t>의 사용에 의하여 생산된 </a:t>
                      </a:r>
                      <a:r>
                        <a:rPr lang="en-US" altLang="ko-KR" sz="1100" kern="1200"/>
                        <a:t>A </a:t>
                      </a:r>
                      <a:r>
                        <a:rPr lang="ko-KR" altLang="en-US" sz="1100" kern="1200"/>
                        <a:t>판매</a:t>
                      </a:r>
                      <a:endParaRPr lang="ko-KR" altLang="en-US" sz="11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00000"/>
                        </a:lnSpc>
                        <a:spcBef>
                          <a:spcPts val="0"/>
                        </a:spcBef>
                        <a:spcAft>
                          <a:spcPts val="0"/>
                        </a:spcAft>
                      </a:pPr>
                      <a:r>
                        <a:rPr lang="en-US" sz="1100" kern="1200" dirty="0"/>
                        <a:t>×</a:t>
                      </a:r>
                      <a:endParaRPr lang="en-US" sz="1100" kern="1200" dirty="0">
                        <a:solidFill>
                          <a:schemeClr val="tx2"/>
                        </a:solidFill>
                        <a:latin typeface="+mn-lt"/>
                        <a:ea typeface="+mn-ea"/>
                        <a:cs typeface="+mn-cs"/>
                      </a:endParaRPr>
                    </a:p>
                  </a:txBody>
                  <a:tcPr marL="17907" marR="17907" marT="17907" marB="17907" anchor="ctr"/>
                </a:tc>
                <a:tc>
                  <a:txBody>
                    <a:bodyPr/>
                    <a:lstStyle/>
                    <a:p>
                      <a:pPr marL="17780" marR="17780" indent="0" algn="just" fontAlgn="base" latinLnBrk="1">
                        <a:lnSpc>
                          <a:spcPct val="100000"/>
                        </a:lnSpc>
                        <a:spcBef>
                          <a:spcPts val="0"/>
                        </a:spcBef>
                        <a:spcAft>
                          <a:spcPts val="0"/>
                        </a:spcAft>
                      </a:pPr>
                      <a:r>
                        <a:rPr lang="ko-KR" altLang="en-US" sz="1100" kern="1200" dirty="0"/>
                        <a:t>제</a:t>
                      </a:r>
                      <a:r>
                        <a:rPr lang="en-US" altLang="ko-KR" sz="1100" kern="1200" dirty="0"/>
                        <a:t>2</a:t>
                      </a:r>
                      <a:r>
                        <a:rPr lang="ko-KR" altLang="en-US" sz="1100" kern="1200" dirty="0"/>
                        <a:t>조제</a:t>
                      </a:r>
                      <a:r>
                        <a:rPr lang="en-US" altLang="ko-KR" sz="1100" kern="1200" dirty="0"/>
                        <a:t>3</a:t>
                      </a:r>
                      <a:r>
                        <a:rPr lang="ko-KR" altLang="en-US" sz="1100" kern="1200" dirty="0"/>
                        <a:t>호</a:t>
                      </a:r>
                      <a:r>
                        <a:rPr lang="en-US" altLang="ko-KR" sz="1100" kern="1200" dirty="0"/>
                        <a:t>(</a:t>
                      </a:r>
                      <a:r>
                        <a:rPr lang="ko-KR" altLang="en-US" sz="1100" kern="1200" dirty="0"/>
                        <a:t>가</a:t>
                      </a:r>
                      <a:r>
                        <a:rPr lang="en-US" altLang="ko-KR" sz="1100" kern="1200" dirty="0"/>
                        <a:t>)</a:t>
                      </a:r>
                      <a:r>
                        <a:rPr lang="ko-KR" altLang="en-US" sz="1100" kern="1200" dirty="0"/>
                        <a:t>목의 실시에 해당하지 아니함</a:t>
                      </a:r>
                      <a:r>
                        <a:rPr lang="en-US" altLang="ko-KR" sz="1100" kern="1200" dirty="0"/>
                        <a:t>**</a:t>
                      </a:r>
                      <a:endParaRPr lang="ko-KR" altLang="en-US" sz="11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04"/>
                  </a:ext>
                </a:extLst>
              </a:tr>
            </a:tbl>
          </a:graphicData>
        </a:graphic>
      </p:graphicFrame>
      <p:sp>
        <p:nvSpPr>
          <p:cNvPr id="13" name="타원 12"/>
          <p:cNvSpPr/>
          <p:nvPr/>
        </p:nvSpPr>
        <p:spPr>
          <a:xfrm>
            <a:off x="2341085" y="2726243"/>
            <a:ext cx="2755847" cy="1608690"/>
          </a:xfrm>
          <a:prstGeom prst="ellipse">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p:cNvSpPr txBox="1"/>
          <p:nvPr/>
        </p:nvSpPr>
        <p:spPr>
          <a:xfrm>
            <a:off x="3562025" y="2743176"/>
            <a:ext cx="1915909" cy="369332"/>
          </a:xfrm>
          <a:prstGeom prst="rect">
            <a:avLst/>
          </a:prstGeom>
          <a:noFill/>
        </p:spPr>
        <p:txBody>
          <a:bodyPr wrap="none" rtlCol="0">
            <a:spAutoFit/>
          </a:bodyPr>
          <a:lstStyle/>
          <a:p>
            <a:r>
              <a:rPr lang="ko-KR" altLang="en-US">
                <a:solidFill>
                  <a:srgbClr val="FF0000"/>
                </a:solidFill>
              </a:rPr>
              <a:t>실시행위의 독립성</a:t>
            </a:r>
            <a:endParaRPr lang="ko-KR" altLang="en-US" dirty="0">
              <a:solidFill>
                <a:srgbClr val="FF0000"/>
              </a:solidFill>
            </a:endParaRPr>
          </a:p>
        </p:txBody>
      </p:sp>
      <p:sp>
        <p:nvSpPr>
          <p:cNvPr id="77" name="직사각형 76"/>
          <p:cNvSpPr/>
          <p:nvPr/>
        </p:nvSpPr>
        <p:spPr>
          <a:xfrm>
            <a:off x="177800" y="5934370"/>
            <a:ext cx="5715000" cy="707886"/>
          </a:xfrm>
          <a:prstGeom prst="rect">
            <a:avLst/>
          </a:prstGeom>
        </p:spPr>
        <p:txBody>
          <a:bodyPr wrap="square">
            <a:spAutoFit/>
          </a:bodyPr>
          <a:lstStyle/>
          <a:p>
            <a:pPr marL="93663" indent="-93663"/>
            <a:r>
              <a:rPr lang="en-US" altLang="ko-KR" sz="1000" dirty="0"/>
              <a:t>* A </a:t>
            </a:r>
            <a:r>
              <a:rPr lang="ko-KR" altLang="en-US" sz="1000" dirty="0"/>
              <a:t>제조방법의 실시</a:t>
            </a:r>
            <a:r>
              <a:rPr lang="en-US" altLang="ko-KR" sz="1000" dirty="0"/>
              <a:t>: </a:t>
            </a:r>
            <a:r>
              <a:rPr lang="ko-KR" altLang="en-US" sz="1000" dirty="0"/>
              <a:t>제조방법을 사용하는 행위 외에 그 방법에 의하여 </a:t>
            </a:r>
            <a:r>
              <a:rPr lang="ko-KR" altLang="en-US" sz="1000" dirty="0">
                <a:solidFill>
                  <a:srgbClr val="FF0000"/>
                </a:solidFill>
              </a:rPr>
              <a:t>생산한 물건</a:t>
            </a:r>
            <a:r>
              <a:rPr lang="en-US" altLang="ko-KR" sz="1000" dirty="0">
                <a:solidFill>
                  <a:srgbClr val="FF0000"/>
                </a:solidFill>
              </a:rPr>
              <a:t>(A)</a:t>
            </a:r>
            <a:r>
              <a:rPr lang="ko-KR" altLang="en-US" sz="1000" dirty="0"/>
              <a:t>을 </a:t>
            </a:r>
            <a:r>
              <a:rPr lang="ko-KR" altLang="en-US" sz="1000" dirty="0" err="1"/>
              <a:t>사용ㆍ양도ㆍ대여</a:t>
            </a:r>
            <a:r>
              <a:rPr lang="ko-KR" altLang="en-US" sz="1000" dirty="0"/>
              <a:t> </a:t>
            </a:r>
            <a:r>
              <a:rPr lang="ko-KR" altLang="en-US" sz="1000" dirty="0" err="1"/>
              <a:t>ㆍ</a:t>
            </a:r>
            <a:r>
              <a:rPr kumimoji="1" lang="ko-KR" altLang="en-US" sz="1000" b="0" i="0" u="none" strike="noStrike" cap="none" normalizeH="0" baseline="0" dirty="0" err="1">
                <a:ln>
                  <a:noFill/>
                </a:ln>
                <a:solidFill>
                  <a:srgbClr val="444444"/>
                </a:solidFill>
                <a:effectLst/>
                <a:latin typeface="+mn-ea"/>
                <a:cs typeface="굴림" pitchFamily="50" charset="-127"/>
              </a:rPr>
              <a:t>수출</a:t>
            </a:r>
            <a:r>
              <a:rPr kumimoji="1" lang="ko-KR" altLang="en-US" sz="1000" b="0" i="0" u="none" strike="noStrike" cap="none" normalizeH="0" baseline="0" dirty="0">
                <a:ln>
                  <a:noFill/>
                </a:ln>
                <a:solidFill>
                  <a:srgbClr val="444444"/>
                </a:solidFill>
                <a:effectLst/>
                <a:latin typeface="+mn-ea"/>
                <a:cs typeface="굴림" pitchFamily="50" charset="-127"/>
              </a:rPr>
              <a:t> </a:t>
            </a:r>
            <a:r>
              <a:rPr lang="ko-KR" altLang="en-US" sz="1000" dirty="0"/>
              <a:t>또는 수입하거나 그 물건의 양도 또는 대여의 청약을 하는 행위</a:t>
            </a:r>
            <a:endParaRPr lang="en-US" altLang="ko-KR" sz="1000" dirty="0"/>
          </a:p>
          <a:p>
            <a:pPr marL="93663" indent="-93663"/>
            <a:r>
              <a:rPr lang="en-US" altLang="ko-KR" sz="1000" dirty="0"/>
              <a:t>* A </a:t>
            </a:r>
            <a:r>
              <a:rPr lang="ko-KR" altLang="en-US" sz="1000" dirty="0"/>
              <a:t>제조장치의 실시</a:t>
            </a:r>
            <a:r>
              <a:rPr lang="en-US" altLang="ko-KR" sz="1000" dirty="0"/>
              <a:t>: </a:t>
            </a:r>
            <a:r>
              <a:rPr lang="ko-KR" altLang="en-US" sz="1000" dirty="0"/>
              <a:t>제조장치를 </a:t>
            </a:r>
            <a:r>
              <a:rPr lang="ko-KR" altLang="en-US" sz="1000" dirty="0" err="1"/>
              <a:t>생산ㆍ</a:t>
            </a:r>
            <a:r>
              <a:rPr lang="ko-KR" altLang="en-US" sz="1000" dirty="0" err="1">
                <a:solidFill>
                  <a:srgbClr val="FF0000"/>
                </a:solidFill>
              </a:rPr>
              <a:t>사용</a:t>
            </a:r>
            <a:r>
              <a:rPr lang="en-US" altLang="ko-KR" sz="1000" dirty="0">
                <a:solidFill>
                  <a:srgbClr val="FF0000"/>
                </a:solidFill>
              </a:rPr>
              <a:t>(A </a:t>
            </a:r>
            <a:r>
              <a:rPr lang="ko-KR" altLang="en-US" sz="1000" dirty="0">
                <a:solidFill>
                  <a:srgbClr val="FF0000"/>
                </a:solidFill>
              </a:rPr>
              <a:t>생산</a:t>
            </a:r>
            <a:r>
              <a:rPr lang="en-US" altLang="ko-KR" sz="1000" dirty="0">
                <a:solidFill>
                  <a:srgbClr val="FF0000"/>
                </a:solidFill>
              </a:rPr>
              <a:t>)</a:t>
            </a:r>
            <a:r>
              <a:rPr lang="ko-KR" altLang="en-US" sz="1000" dirty="0" err="1"/>
              <a:t>ㆍ양도ㆍ대여ㆍ</a:t>
            </a:r>
            <a:r>
              <a:rPr kumimoji="1" lang="ko-KR" altLang="en-US" sz="1000" b="0" i="0" u="none" strike="noStrike" cap="none" normalizeH="0" baseline="0" dirty="0" err="1">
                <a:ln>
                  <a:noFill/>
                </a:ln>
                <a:solidFill>
                  <a:srgbClr val="444444"/>
                </a:solidFill>
                <a:effectLst/>
                <a:latin typeface="+mn-ea"/>
                <a:cs typeface="굴림" pitchFamily="50" charset="-127"/>
              </a:rPr>
              <a:t>수출</a:t>
            </a:r>
            <a:r>
              <a:rPr lang="ko-KR" altLang="en-US" sz="1000" dirty="0"/>
              <a:t> 또는 수입하거나 그 물건의 양도 또는 대여의 청약</a:t>
            </a:r>
            <a:r>
              <a:rPr lang="en-US" altLang="ko-KR" sz="1000" dirty="0"/>
              <a:t>(</a:t>
            </a:r>
            <a:r>
              <a:rPr lang="ko-KR" altLang="en-US" sz="1000" dirty="0"/>
              <a:t>양도 또는 대여를 위한 전시를 포함한다</a:t>
            </a:r>
            <a:r>
              <a:rPr lang="en-US" altLang="ko-KR" sz="1000" dirty="0"/>
              <a:t>. </a:t>
            </a:r>
            <a:r>
              <a:rPr lang="ko-KR" altLang="en-US" sz="1000" dirty="0"/>
              <a:t>이하 같다</a:t>
            </a:r>
            <a:r>
              <a:rPr lang="en-US" altLang="ko-KR" sz="1000" dirty="0"/>
              <a:t>)</a:t>
            </a:r>
            <a:r>
              <a:rPr lang="ko-KR" altLang="en-US" sz="1000" dirty="0"/>
              <a:t>을 하는 행위</a:t>
            </a:r>
          </a:p>
        </p:txBody>
      </p:sp>
      <p:sp>
        <p:nvSpPr>
          <p:cNvPr id="79" name="TextBox 78"/>
          <p:cNvSpPr txBox="1"/>
          <p:nvPr/>
        </p:nvSpPr>
        <p:spPr>
          <a:xfrm>
            <a:off x="6207743" y="976902"/>
            <a:ext cx="5882658" cy="2677656"/>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pPr fontAlgn="base"/>
            <a:r>
              <a:rPr lang="ko-KR" altLang="en-US" sz="1400" dirty="0">
                <a:solidFill>
                  <a:schemeClr val="tx2"/>
                </a:solidFill>
              </a:rPr>
              <a:t>기존에 논란이 되었던 부분은 특허발명인 의약품의 존속기간이 만료된 후 상업화할 목적으로 특허권의 존속기간 중 약사법의 허가를 얻기 위한 시험을 한 경우</a:t>
            </a:r>
            <a:r>
              <a:rPr lang="en-US" altLang="ko-KR" sz="1400" dirty="0">
                <a:solidFill>
                  <a:schemeClr val="tx2"/>
                </a:solidFill>
              </a:rPr>
              <a:t>(</a:t>
            </a:r>
            <a:r>
              <a:rPr lang="ko-KR" altLang="en-US" sz="1400" dirty="0">
                <a:solidFill>
                  <a:schemeClr val="tx2"/>
                </a:solidFill>
              </a:rPr>
              <a:t>통상적으로 시험결과를 얻어내기 위해서는 </a:t>
            </a:r>
            <a:r>
              <a:rPr lang="en-US" altLang="ko-KR" sz="1400" dirty="0">
                <a:solidFill>
                  <a:schemeClr val="tx2"/>
                </a:solidFill>
              </a:rPr>
              <a:t>2~3</a:t>
            </a:r>
            <a:r>
              <a:rPr lang="ko-KR" altLang="en-US" sz="1400" dirty="0">
                <a:solidFill>
                  <a:schemeClr val="tx2"/>
                </a:solidFill>
              </a:rPr>
              <a:t>년의 시간이 소요됨</a:t>
            </a:r>
            <a:r>
              <a:rPr lang="en-US" altLang="ko-KR" sz="1400" dirty="0">
                <a:solidFill>
                  <a:schemeClr val="tx2"/>
                </a:solidFill>
              </a:rPr>
              <a:t>) </a:t>
            </a:r>
            <a:r>
              <a:rPr lang="ko-KR" altLang="en-US" sz="1400" dirty="0">
                <a:solidFill>
                  <a:schemeClr val="tx2"/>
                </a:solidFill>
              </a:rPr>
              <a:t>특허권의 침해가 되는지 여부이다</a:t>
            </a:r>
            <a:r>
              <a:rPr lang="en-US" altLang="ko-KR" sz="1400" dirty="0">
                <a:solidFill>
                  <a:schemeClr val="tx2"/>
                </a:solidFill>
              </a:rPr>
              <a:t>. </a:t>
            </a:r>
            <a:r>
              <a:rPr lang="ko-KR" altLang="en-US" sz="1400" dirty="0">
                <a:solidFill>
                  <a:schemeClr val="tx2"/>
                </a:solidFill>
              </a:rPr>
              <a:t>이에 대하여 판례는 연구 또는 시험을 하기 위한 특허발명의 실시에 해당하기 때문에 침해가 아니라고 판시하였다</a:t>
            </a:r>
            <a:r>
              <a:rPr lang="en-US" altLang="ko-KR" sz="1400" dirty="0">
                <a:solidFill>
                  <a:schemeClr val="tx2"/>
                </a:solidFill>
              </a:rPr>
              <a:t>. </a:t>
            </a:r>
            <a:r>
              <a:rPr lang="ko-KR" altLang="en-US" sz="1400" dirty="0">
                <a:solidFill>
                  <a:srgbClr val="FF0000"/>
                </a:solidFill>
              </a:rPr>
              <a:t>허가를 얻기 위한 시험이 침해가 된다면 의약품의 존속기간이 만료된 후에도 시험결과를 얻어내기까지 특허권자를 부당하게 보호</a:t>
            </a:r>
            <a:r>
              <a:rPr lang="ko-KR" altLang="en-US" sz="1400" dirty="0">
                <a:solidFill>
                  <a:schemeClr val="tx2"/>
                </a:solidFill>
              </a:rPr>
              <a:t>하는 결과가 되므로 제</a:t>
            </a:r>
            <a:r>
              <a:rPr lang="en-US" altLang="ko-KR" sz="1400" dirty="0">
                <a:solidFill>
                  <a:schemeClr val="tx2"/>
                </a:solidFill>
              </a:rPr>
              <a:t>96</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1</a:t>
            </a:r>
            <a:r>
              <a:rPr lang="ko-KR" altLang="en-US" sz="1400" dirty="0">
                <a:solidFill>
                  <a:schemeClr val="tx2"/>
                </a:solidFill>
              </a:rPr>
              <a:t>호에 해당하여 침해가 아니라고 하였다</a:t>
            </a:r>
            <a:r>
              <a:rPr lang="en-US" altLang="ko-KR" sz="1400" dirty="0">
                <a:solidFill>
                  <a:schemeClr val="tx2"/>
                </a:solidFill>
              </a:rPr>
              <a:t>. 2010</a:t>
            </a:r>
            <a:r>
              <a:rPr lang="ko-KR" altLang="en-US" sz="1400" dirty="0">
                <a:solidFill>
                  <a:schemeClr val="tx2"/>
                </a:solidFill>
              </a:rPr>
              <a:t>년 </a:t>
            </a:r>
            <a:r>
              <a:rPr lang="en-US" altLang="ko-KR" sz="1400" dirty="0">
                <a:solidFill>
                  <a:schemeClr val="tx2"/>
                </a:solidFill>
              </a:rPr>
              <a:t>1</a:t>
            </a:r>
            <a:r>
              <a:rPr lang="ko-KR" altLang="en-US" sz="1400" dirty="0">
                <a:solidFill>
                  <a:schemeClr val="tx2"/>
                </a:solidFill>
              </a:rPr>
              <a:t>월 </a:t>
            </a:r>
            <a:r>
              <a:rPr lang="en-US" altLang="ko-KR" sz="1400" dirty="0">
                <a:solidFill>
                  <a:schemeClr val="tx2"/>
                </a:solidFill>
              </a:rPr>
              <a:t>27</a:t>
            </a:r>
            <a:r>
              <a:rPr lang="ko-KR" altLang="en-US" sz="1400" dirty="0">
                <a:solidFill>
                  <a:schemeClr val="tx2"/>
                </a:solidFill>
              </a:rPr>
              <a:t>일 개정</a:t>
            </a:r>
            <a:r>
              <a:rPr lang="en-US" altLang="ko-KR" sz="1400" dirty="0">
                <a:solidFill>
                  <a:schemeClr val="tx2"/>
                </a:solidFill>
              </a:rPr>
              <a:t>(</a:t>
            </a:r>
            <a:r>
              <a:rPr lang="ko-KR" altLang="en-US" sz="1400" dirty="0">
                <a:solidFill>
                  <a:schemeClr val="tx2"/>
                </a:solidFill>
              </a:rPr>
              <a:t>법률 제</a:t>
            </a:r>
            <a:r>
              <a:rPr lang="en-US" altLang="ko-KR" sz="1400" dirty="0">
                <a:solidFill>
                  <a:schemeClr val="tx2"/>
                </a:solidFill>
              </a:rPr>
              <a:t>9985</a:t>
            </a:r>
            <a:r>
              <a:rPr lang="ko-KR" altLang="en-US" sz="1400" dirty="0">
                <a:solidFill>
                  <a:schemeClr val="tx2"/>
                </a:solidFill>
              </a:rPr>
              <a:t>호</a:t>
            </a:r>
            <a:r>
              <a:rPr lang="en-US" altLang="ko-KR" sz="1400" dirty="0">
                <a:solidFill>
                  <a:schemeClr val="tx2"/>
                </a:solidFill>
              </a:rPr>
              <a:t>, 2010. 7. 28. </a:t>
            </a:r>
            <a:r>
              <a:rPr lang="ko-KR" altLang="en-US" sz="1400" dirty="0">
                <a:solidFill>
                  <a:schemeClr val="tx2"/>
                </a:solidFill>
              </a:rPr>
              <a:t>시행</a:t>
            </a:r>
            <a:r>
              <a:rPr lang="en-US" altLang="ko-KR" sz="1400" dirty="0">
                <a:solidFill>
                  <a:schemeClr val="tx2"/>
                </a:solidFill>
              </a:rPr>
              <a:t>)</a:t>
            </a:r>
            <a:r>
              <a:rPr lang="ko-KR" altLang="en-US" sz="1400" dirty="0">
                <a:solidFill>
                  <a:schemeClr val="tx2"/>
                </a:solidFill>
              </a:rPr>
              <a:t>된 특허법에서는 제</a:t>
            </a:r>
            <a:r>
              <a:rPr lang="en-US" altLang="ko-KR" sz="1400" dirty="0">
                <a:solidFill>
                  <a:schemeClr val="tx2"/>
                </a:solidFill>
              </a:rPr>
              <a:t>96</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1</a:t>
            </a:r>
            <a:r>
              <a:rPr lang="ko-KR" altLang="en-US" sz="1400" dirty="0">
                <a:solidFill>
                  <a:schemeClr val="tx2"/>
                </a:solidFill>
              </a:rPr>
              <a:t>호의 연구 또는 시험을 하기 위한 특허발명의 실시에 “「</a:t>
            </a:r>
            <a:r>
              <a:rPr lang="ko-KR" altLang="en-US" sz="1400" dirty="0" err="1">
                <a:solidFill>
                  <a:schemeClr val="tx2"/>
                </a:solidFill>
              </a:rPr>
              <a:t>약사법」에</a:t>
            </a:r>
            <a:r>
              <a:rPr lang="ko-KR" altLang="en-US" sz="1400" dirty="0">
                <a:solidFill>
                  <a:schemeClr val="tx2"/>
                </a:solidFill>
              </a:rPr>
              <a:t> 따른 의약품의 </a:t>
            </a:r>
            <a:r>
              <a:rPr lang="ko-KR" altLang="en-US" sz="1400" dirty="0" err="1">
                <a:solidFill>
                  <a:schemeClr val="tx2"/>
                </a:solidFill>
              </a:rPr>
              <a:t>품목허가ㆍ품목신고</a:t>
            </a:r>
            <a:r>
              <a:rPr lang="ko-KR" altLang="en-US" sz="1400" dirty="0">
                <a:solidFill>
                  <a:schemeClr val="tx2"/>
                </a:solidFill>
              </a:rPr>
              <a:t> 및 「</a:t>
            </a:r>
            <a:r>
              <a:rPr lang="ko-KR" altLang="en-US" sz="1400" dirty="0" err="1">
                <a:solidFill>
                  <a:schemeClr val="tx2"/>
                </a:solidFill>
              </a:rPr>
              <a:t>농약관리법」에</a:t>
            </a:r>
            <a:r>
              <a:rPr lang="ko-KR" altLang="en-US" sz="1400" dirty="0">
                <a:solidFill>
                  <a:schemeClr val="tx2"/>
                </a:solidFill>
              </a:rPr>
              <a:t> 따른 농약의 등록을 위한 연구 또는 시험을 포함한다</a:t>
            </a:r>
            <a:r>
              <a:rPr lang="en-US" altLang="ko-KR" sz="1400" dirty="0">
                <a:solidFill>
                  <a:schemeClr val="tx2"/>
                </a:solidFill>
              </a:rPr>
              <a:t>.”</a:t>
            </a:r>
            <a:r>
              <a:rPr lang="ko-KR" altLang="en-US" sz="1400" dirty="0">
                <a:solidFill>
                  <a:schemeClr val="tx2"/>
                </a:solidFill>
              </a:rPr>
              <a:t>라고 하여 이를 명확히 하고 있다</a:t>
            </a:r>
            <a:r>
              <a:rPr lang="en-US" altLang="ko-KR" sz="1400" dirty="0">
                <a:solidFill>
                  <a:schemeClr val="tx2"/>
                </a:solidFill>
              </a:rPr>
              <a:t>.</a:t>
            </a:r>
            <a:endParaRPr lang="ko-KR" altLang="en-US" sz="1400" dirty="0">
              <a:solidFill>
                <a:schemeClr val="tx2"/>
              </a:solidFill>
            </a:endParaRPr>
          </a:p>
        </p:txBody>
      </p:sp>
      <p:cxnSp>
        <p:nvCxnSpPr>
          <p:cNvPr id="82" name="직선 연결선 81"/>
          <p:cNvCxnSpPr/>
          <p:nvPr/>
        </p:nvCxnSpPr>
        <p:spPr>
          <a:xfrm>
            <a:off x="6840966" y="5169518"/>
            <a:ext cx="5037767" cy="0"/>
          </a:xfrm>
          <a:prstGeom prst="line">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직사각형 91"/>
          <p:cNvSpPr/>
          <p:nvPr/>
        </p:nvSpPr>
        <p:spPr>
          <a:xfrm>
            <a:off x="6342951" y="4963706"/>
            <a:ext cx="823208" cy="422862"/>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甲</a:t>
            </a:r>
            <a:endParaRPr lang="en-US" altLang="ko-KR" sz="1000" dirty="0">
              <a:solidFill>
                <a:schemeClr val="tx1"/>
              </a:solidFill>
            </a:endParaRPr>
          </a:p>
          <a:p>
            <a:pPr algn="ctr"/>
            <a:r>
              <a:rPr lang="ko-KR" altLang="en-US" sz="1000" dirty="0">
                <a:solidFill>
                  <a:schemeClr val="tx1"/>
                </a:solidFill>
              </a:rPr>
              <a:t>특허출원</a:t>
            </a:r>
            <a:r>
              <a:rPr lang="en-US" altLang="ko-KR" sz="1000" dirty="0">
                <a:solidFill>
                  <a:schemeClr val="tx1"/>
                </a:solidFill>
              </a:rPr>
              <a:t>(X)</a:t>
            </a:r>
            <a:endParaRPr lang="ko-KR" altLang="en-US" sz="1000" dirty="0">
              <a:solidFill>
                <a:schemeClr val="tx1"/>
              </a:solidFill>
            </a:endParaRPr>
          </a:p>
        </p:txBody>
      </p:sp>
      <p:sp>
        <p:nvSpPr>
          <p:cNvPr id="107" name="직사각형 106"/>
          <p:cNvSpPr/>
          <p:nvPr/>
        </p:nvSpPr>
        <p:spPr>
          <a:xfrm>
            <a:off x="7457001" y="4963706"/>
            <a:ext cx="823208" cy="422862"/>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설정등록</a:t>
            </a:r>
            <a:r>
              <a:rPr lang="en-US" altLang="ko-KR" sz="1000" dirty="0">
                <a:solidFill>
                  <a:schemeClr val="tx1"/>
                </a:solidFill>
              </a:rPr>
              <a:t>(X)</a:t>
            </a:r>
            <a:endParaRPr lang="ko-KR" altLang="en-US" sz="1000" dirty="0">
              <a:solidFill>
                <a:schemeClr val="tx1"/>
              </a:solidFill>
            </a:endParaRPr>
          </a:p>
        </p:txBody>
      </p:sp>
      <p:sp>
        <p:nvSpPr>
          <p:cNvPr id="108" name="직사각형 107"/>
          <p:cNvSpPr/>
          <p:nvPr/>
        </p:nvSpPr>
        <p:spPr>
          <a:xfrm>
            <a:off x="9769358" y="4963706"/>
            <a:ext cx="823208" cy="422862"/>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존속기간</a:t>
            </a:r>
            <a:endParaRPr lang="en-US" altLang="ko-KR" sz="1000" dirty="0">
              <a:solidFill>
                <a:schemeClr val="tx1"/>
              </a:solidFill>
            </a:endParaRPr>
          </a:p>
          <a:p>
            <a:pPr algn="ctr"/>
            <a:r>
              <a:rPr lang="ko-KR" altLang="en-US" sz="1000" dirty="0">
                <a:solidFill>
                  <a:schemeClr val="tx1"/>
                </a:solidFill>
              </a:rPr>
              <a:t>만료</a:t>
            </a:r>
            <a:r>
              <a:rPr lang="en-US" altLang="ko-KR" sz="1000" dirty="0">
                <a:solidFill>
                  <a:schemeClr val="tx1"/>
                </a:solidFill>
              </a:rPr>
              <a:t>(X)</a:t>
            </a:r>
            <a:endParaRPr lang="ko-KR" altLang="en-US" sz="1000" dirty="0">
              <a:solidFill>
                <a:schemeClr val="tx1"/>
              </a:solidFill>
            </a:endParaRPr>
          </a:p>
        </p:txBody>
      </p:sp>
      <p:sp>
        <p:nvSpPr>
          <p:cNvPr id="110" name="직사각형 109"/>
          <p:cNvSpPr/>
          <p:nvPr/>
        </p:nvSpPr>
        <p:spPr>
          <a:xfrm>
            <a:off x="8832748" y="5577215"/>
            <a:ext cx="1066768"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乙의 임상시험</a:t>
            </a:r>
          </a:p>
        </p:txBody>
      </p:sp>
      <p:sp>
        <p:nvSpPr>
          <p:cNvPr id="111" name="직사각형 110"/>
          <p:cNvSpPr/>
          <p:nvPr/>
        </p:nvSpPr>
        <p:spPr>
          <a:xfrm>
            <a:off x="6309348" y="3779339"/>
            <a:ext cx="5637124" cy="555594"/>
          </a:xfrm>
          <a:prstGeom prst="rect">
            <a:avLst/>
          </a:prstGeom>
          <a:noFill/>
          <a:ln>
            <a:noFill/>
          </a:ln>
        </p:spPr>
        <p:style>
          <a:lnRef idx="2">
            <a:schemeClr val="accent5"/>
          </a:lnRef>
          <a:fillRef idx="1">
            <a:schemeClr val="lt1"/>
          </a:fillRef>
          <a:effectRef idx="0">
            <a:schemeClr val="accent5"/>
          </a:effectRef>
          <a:fontRef idx="minor">
            <a:schemeClr val="dk1"/>
          </a:fontRef>
        </p:style>
        <p:txBody>
          <a:bodyPr rtlCol="0" anchor="t"/>
          <a:lstStyle/>
          <a:p>
            <a:r>
              <a:rPr lang="ko-KR" altLang="en-US" sz="1600" dirty="0">
                <a:solidFill>
                  <a:schemeClr val="tx1"/>
                </a:solidFill>
              </a:rPr>
              <a:t>乙이 약사법의 허가를 얻기 위한 임상시험을 한 경우 甲의 특허권의 침해인가</a:t>
            </a:r>
            <a:r>
              <a:rPr lang="en-US" altLang="ko-KR" sz="1600" dirty="0">
                <a:solidFill>
                  <a:schemeClr val="tx1"/>
                </a:solidFill>
              </a:rPr>
              <a:t>?</a:t>
            </a:r>
          </a:p>
        </p:txBody>
      </p:sp>
      <p:sp>
        <p:nvSpPr>
          <p:cNvPr id="28" name="자유형 27"/>
          <p:cNvSpPr/>
          <p:nvPr/>
        </p:nvSpPr>
        <p:spPr>
          <a:xfrm>
            <a:off x="10210800" y="5376333"/>
            <a:ext cx="1651000" cy="643467"/>
          </a:xfrm>
          <a:custGeom>
            <a:avLst/>
            <a:gdLst>
              <a:gd name="connsiteX0" fmla="*/ 0 w 1651000"/>
              <a:gd name="connsiteY0" fmla="*/ 0 h 643467"/>
              <a:gd name="connsiteX1" fmla="*/ 0 w 1651000"/>
              <a:gd name="connsiteY1" fmla="*/ 643467 h 643467"/>
              <a:gd name="connsiteX2" fmla="*/ 1651000 w 1651000"/>
              <a:gd name="connsiteY2" fmla="*/ 643467 h 643467"/>
            </a:gdLst>
            <a:ahLst/>
            <a:cxnLst>
              <a:cxn ang="0">
                <a:pos x="connsiteX0" y="connsiteY0"/>
              </a:cxn>
              <a:cxn ang="0">
                <a:pos x="connsiteX1" y="connsiteY1"/>
              </a:cxn>
              <a:cxn ang="0">
                <a:pos x="connsiteX2" y="connsiteY2"/>
              </a:cxn>
            </a:cxnLst>
            <a:rect l="l" t="t" r="r" b="b"/>
            <a:pathLst>
              <a:path w="1651000" h="643467">
                <a:moveTo>
                  <a:pt x="0" y="0"/>
                </a:moveTo>
                <a:lnTo>
                  <a:pt x="0" y="643467"/>
                </a:lnTo>
                <a:lnTo>
                  <a:pt x="1651000" y="643467"/>
                </a:lnTo>
              </a:path>
            </a:pathLst>
          </a:custGeom>
          <a:ln w="38100">
            <a:solidFill>
              <a:schemeClr val="accent5"/>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12" name="직사각형 111"/>
          <p:cNvSpPr/>
          <p:nvPr/>
        </p:nvSpPr>
        <p:spPr>
          <a:xfrm>
            <a:off x="10502916" y="6019800"/>
            <a:ext cx="1066768" cy="349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乙의 판매</a:t>
            </a:r>
          </a:p>
        </p:txBody>
      </p:sp>
      <p:sp>
        <p:nvSpPr>
          <p:cNvPr id="2" name="슬라이드 번호 개체 틀 1"/>
          <p:cNvSpPr>
            <a:spLocks noGrp="1"/>
          </p:cNvSpPr>
          <p:nvPr>
            <p:ph type="sldNum" sz="quarter" idx="12"/>
          </p:nvPr>
        </p:nvSpPr>
        <p:spPr/>
        <p:txBody>
          <a:bodyPr/>
          <a:lstStyle/>
          <a:p>
            <a:r>
              <a:rPr lang="en-US" altLang="ko-KR"/>
              <a:t>312</a:t>
            </a:r>
            <a:endParaRPr lang="ko-KR" altLang="en-US"/>
          </a:p>
        </p:txBody>
      </p:sp>
    </p:spTree>
    <p:extLst>
      <p:ext uri="{BB962C8B-B14F-4D97-AF65-F5344CB8AC3E}">
        <p14:creationId xmlns:p14="http://schemas.microsoft.com/office/powerpoint/2010/main" val="3791660358"/>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94</a:t>
            </a:r>
            <a:r>
              <a:rPr lang="ko-KR" altLang="en-US" dirty="0"/>
              <a:t>조</a:t>
            </a:r>
            <a:r>
              <a:rPr lang="en-US" altLang="ko-KR" dirty="0"/>
              <a:t>~</a:t>
            </a:r>
            <a:r>
              <a:rPr lang="ko-KR" altLang="en-US" dirty="0"/>
              <a:t>제</a:t>
            </a:r>
            <a:r>
              <a:rPr lang="en-US" altLang="ko-KR" dirty="0"/>
              <a:t>96</a:t>
            </a:r>
            <a:r>
              <a:rPr lang="ko-KR" altLang="en-US" dirty="0"/>
              <a:t>조</a:t>
            </a:r>
          </a:p>
        </p:txBody>
      </p:sp>
      <p:sp>
        <p:nvSpPr>
          <p:cNvPr id="4" name="텍스트 개체 틀 3"/>
          <p:cNvSpPr>
            <a:spLocks noGrp="1"/>
          </p:cNvSpPr>
          <p:nvPr>
            <p:ph type="body" sz="quarter" idx="13"/>
          </p:nvPr>
        </p:nvSpPr>
        <p:spPr/>
        <p:txBody>
          <a:bodyPr/>
          <a:lstStyle/>
          <a:p>
            <a:r>
              <a:rPr lang="ko-KR" altLang="en-US" dirty="0"/>
              <a:t>제</a:t>
            </a:r>
            <a:r>
              <a:rPr lang="en-US" altLang="ko-KR" dirty="0"/>
              <a:t>96</a:t>
            </a:r>
            <a:r>
              <a:rPr lang="ko-KR" altLang="en-US" dirty="0"/>
              <a:t>조제</a:t>
            </a:r>
            <a:r>
              <a:rPr lang="en-US" altLang="ko-KR" dirty="0"/>
              <a:t>1</a:t>
            </a:r>
            <a:r>
              <a:rPr lang="ko-KR" altLang="en-US" dirty="0" err="1"/>
              <a:t>항제</a:t>
            </a:r>
            <a:r>
              <a:rPr lang="en-US" altLang="ko-KR" dirty="0"/>
              <a:t>2</a:t>
            </a:r>
            <a:r>
              <a:rPr lang="ko-KR" altLang="en-US" dirty="0"/>
              <a:t>호</a:t>
            </a:r>
          </a:p>
        </p:txBody>
      </p:sp>
      <p:cxnSp>
        <p:nvCxnSpPr>
          <p:cNvPr id="30" name="직선 연결선 29"/>
          <p:cNvCxnSpPr/>
          <p:nvPr/>
        </p:nvCxnSpPr>
        <p:spPr>
          <a:xfrm>
            <a:off x="0" y="214984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77875" y="976902"/>
            <a:ext cx="11936323" cy="1169551"/>
          </a:xfrm>
          <a:prstGeom prst="rect">
            <a:avLst/>
          </a:prstGeom>
          <a:noFill/>
        </p:spPr>
        <p:txBody>
          <a:bodyPr wrap="square" rtlCol="0">
            <a:spAutoFit/>
          </a:bodyPr>
          <a:lstStyle/>
          <a:p>
            <a:pPr fontAlgn="base"/>
            <a:r>
              <a:rPr lang="en-US" altLang="ko-KR" sz="1400" dirty="0">
                <a:solidFill>
                  <a:schemeClr val="tx2"/>
                </a:solidFill>
              </a:rPr>
              <a:t>｢</a:t>
            </a:r>
            <a:r>
              <a:rPr lang="ko-KR" altLang="en-US" sz="1400" dirty="0">
                <a:solidFill>
                  <a:schemeClr val="tx2"/>
                </a:solidFill>
              </a:rPr>
              <a:t>국내</a:t>
            </a:r>
            <a:r>
              <a:rPr lang="en-US" altLang="ko-KR" sz="1400" dirty="0">
                <a:solidFill>
                  <a:schemeClr val="tx2"/>
                </a:solidFill>
              </a:rPr>
              <a:t>｣</a:t>
            </a:r>
            <a:r>
              <a:rPr lang="ko-KR" altLang="en-US" sz="1400" dirty="0">
                <a:solidFill>
                  <a:schemeClr val="tx2"/>
                </a:solidFill>
              </a:rPr>
              <a:t>란 영토뿐만 아니라 영해 및 영공 등을 포함하며</a:t>
            </a:r>
            <a:r>
              <a:rPr lang="en-US" altLang="ko-KR" sz="1400" dirty="0">
                <a:solidFill>
                  <a:schemeClr val="tx2"/>
                </a:solidFill>
              </a:rPr>
              <a:t>, </a:t>
            </a:r>
            <a:r>
              <a:rPr lang="ko-KR" altLang="en-US" sz="1400" dirty="0">
                <a:solidFill>
                  <a:schemeClr val="tx2"/>
                </a:solidFill>
              </a:rPr>
              <a:t>「국내를 통과하는데 불과한」이란 주유를 하거나 하역을 위하여 일시 정박하거나 착륙한 교통기관을 말한다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t>
            </a:r>
            <a:r>
              <a:rPr lang="ko-KR" altLang="en-US" sz="1400" dirty="0" err="1">
                <a:solidFill>
                  <a:schemeClr val="tx2"/>
                </a:solidFill>
              </a:rPr>
              <a:t>기계ㆍ기구ㆍ장치</a:t>
            </a:r>
            <a:r>
              <a:rPr lang="en-US" altLang="ko-KR" sz="1400" dirty="0">
                <a:solidFill>
                  <a:schemeClr val="tx2"/>
                </a:solidFill>
              </a:rPr>
              <a:t>, </a:t>
            </a:r>
            <a:r>
              <a:rPr lang="ko-KR" altLang="en-US" sz="1400" dirty="0">
                <a:solidFill>
                  <a:schemeClr val="tx2"/>
                </a:solidFill>
              </a:rPr>
              <a:t>그 밖의 물건</a:t>
            </a:r>
            <a:r>
              <a:rPr lang="en-US" altLang="ko-KR" sz="1400" dirty="0">
                <a:solidFill>
                  <a:schemeClr val="tx2"/>
                </a:solidFill>
              </a:rPr>
              <a:t>｣</a:t>
            </a:r>
            <a:r>
              <a:rPr lang="ko-KR" altLang="en-US" sz="1400" dirty="0">
                <a:solidFill>
                  <a:schemeClr val="tx2"/>
                </a:solidFill>
              </a:rPr>
              <a:t>은 직접 항공기 등의 운행에 필요한 것뿐만 아니라 여객의 생활에 필요한 일체의 설비물도 포함하는 것으로 넓게 해석하는 것이 타당하다고 본다</a:t>
            </a:r>
            <a:r>
              <a:rPr lang="en-US" altLang="ko-KR" sz="1400" dirty="0">
                <a:solidFill>
                  <a:schemeClr val="tx2"/>
                </a:solidFill>
              </a:rPr>
              <a:t>. </a:t>
            </a:r>
            <a:r>
              <a:rPr lang="ko-KR" altLang="en-US" sz="1400" dirty="0">
                <a:solidFill>
                  <a:schemeClr val="tx2"/>
                </a:solidFill>
              </a:rPr>
              <a:t>다만 물건 이외의 </a:t>
            </a:r>
            <a:r>
              <a:rPr lang="en-US" altLang="ko-KR" sz="1400" dirty="0">
                <a:solidFill>
                  <a:schemeClr val="tx2"/>
                </a:solidFill>
              </a:rPr>
              <a:t>｢</a:t>
            </a:r>
            <a:r>
              <a:rPr lang="ko-KR" altLang="en-US" sz="1400" dirty="0">
                <a:solidFill>
                  <a:schemeClr val="tx2"/>
                </a:solidFill>
              </a:rPr>
              <a:t>방법</a:t>
            </a:r>
            <a:r>
              <a:rPr lang="en-US" altLang="ko-KR" sz="1400" dirty="0">
                <a:solidFill>
                  <a:schemeClr val="tx2"/>
                </a:solidFill>
              </a:rPr>
              <a:t>｣</a:t>
            </a:r>
            <a:r>
              <a:rPr lang="ko-KR" altLang="en-US" sz="1400" dirty="0">
                <a:solidFill>
                  <a:schemeClr val="tx2"/>
                </a:solidFill>
              </a:rPr>
              <a:t>은 포함되지 아니함을 유의하여야 한다</a:t>
            </a:r>
            <a:r>
              <a:rPr lang="en-US" altLang="ko-KR" sz="1400" dirty="0">
                <a:solidFill>
                  <a:schemeClr val="tx2"/>
                </a:solidFill>
              </a:rPr>
              <a:t>. </a:t>
            </a:r>
            <a:r>
              <a:rPr lang="ko-KR" altLang="en-US" sz="1400" dirty="0">
                <a:solidFill>
                  <a:schemeClr val="tx2"/>
                </a:solidFill>
              </a:rPr>
              <a:t>또한</a:t>
            </a:r>
            <a:r>
              <a:rPr lang="en-US" altLang="ko-KR" sz="1400" dirty="0">
                <a:solidFill>
                  <a:schemeClr val="tx2"/>
                </a:solidFill>
              </a:rPr>
              <a:t>, </a:t>
            </a:r>
            <a:r>
              <a:rPr lang="ko-KR" altLang="en-US" sz="1400" dirty="0">
                <a:highlight>
                  <a:srgbClr val="FFFF00"/>
                </a:highlight>
              </a:rPr>
              <a:t>일시적 또는 우발적으로 </a:t>
            </a:r>
            <a:r>
              <a:rPr lang="ko-KR" altLang="en-US" sz="1400" dirty="0" err="1">
                <a:highlight>
                  <a:srgbClr val="FFFF00"/>
                </a:highlight>
              </a:rPr>
              <a:t>선박ㆍ항공기ㆍ차량</a:t>
            </a:r>
            <a:r>
              <a:rPr lang="ko-KR" altLang="en-US" sz="1400" dirty="0">
                <a:highlight>
                  <a:srgbClr val="FFFF00"/>
                </a:highlight>
              </a:rPr>
              <a:t> 또는 이들에서 사용하는 </a:t>
            </a:r>
            <a:r>
              <a:rPr lang="ko-KR" altLang="en-US" sz="1400" dirty="0" err="1">
                <a:highlight>
                  <a:srgbClr val="FFFF00"/>
                </a:highlight>
              </a:rPr>
              <a:t>기계ㆍ기구</a:t>
            </a:r>
            <a:r>
              <a:rPr lang="ko-KR" altLang="en-US" sz="1400" dirty="0">
                <a:highlight>
                  <a:srgbClr val="FFFF00"/>
                </a:highlight>
              </a:rPr>
              <a:t> 등을 육상에서 수리 등을 하는 경우에 수리장치 또는 방법이 특허에 해당되거나 선박 또는 항공기에 적재된 특허물이 수입을 목적으로 하는 경우</a:t>
            </a:r>
            <a:r>
              <a:rPr lang="ko-KR" altLang="en-US" sz="1400" dirty="0">
                <a:solidFill>
                  <a:schemeClr val="tx2"/>
                </a:solidFill>
              </a:rPr>
              <a:t>에는 이들에 대하여 특허권의 효력이 미친다는 것은 당연하다</a:t>
            </a:r>
            <a:r>
              <a:rPr lang="en-US" altLang="ko-KR" sz="1400" dirty="0">
                <a:solidFill>
                  <a:schemeClr val="tx2"/>
                </a:solidFill>
              </a:rPr>
              <a:t>.</a:t>
            </a:r>
            <a:endParaRPr lang="ko-KR" altLang="en-US" sz="1400" dirty="0">
              <a:solidFill>
                <a:schemeClr val="tx2"/>
              </a:solidFill>
            </a:endParaRPr>
          </a:p>
        </p:txBody>
      </p:sp>
      <p:sp>
        <p:nvSpPr>
          <p:cNvPr id="2" name="자유형 1"/>
          <p:cNvSpPr/>
          <p:nvPr/>
        </p:nvSpPr>
        <p:spPr>
          <a:xfrm>
            <a:off x="1693370" y="4106334"/>
            <a:ext cx="5909734" cy="1193800"/>
          </a:xfrm>
          <a:custGeom>
            <a:avLst/>
            <a:gdLst>
              <a:gd name="connsiteX0" fmla="*/ 0 w 5909734"/>
              <a:gd name="connsiteY0" fmla="*/ 16933 h 1193800"/>
              <a:gd name="connsiteX1" fmla="*/ 1176867 w 5909734"/>
              <a:gd name="connsiteY1" fmla="*/ 1193800 h 1193800"/>
              <a:gd name="connsiteX2" fmla="*/ 4715934 w 5909734"/>
              <a:gd name="connsiteY2" fmla="*/ 1193800 h 1193800"/>
              <a:gd name="connsiteX3" fmla="*/ 5909734 w 5909734"/>
              <a:gd name="connsiteY3" fmla="*/ 0 h 1193800"/>
              <a:gd name="connsiteX4" fmla="*/ 0 w 5909734"/>
              <a:gd name="connsiteY4" fmla="*/ 16933 h 1193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09734" h="1193800">
                <a:moveTo>
                  <a:pt x="0" y="16933"/>
                </a:moveTo>
                <a:lnTo>
                  <a:pt x="1176867" y="1193800"/>
                </a:lnTo>
                <a:lnTo>
                  <a:pt x="4715934" y="1193800"/>
                </a:lnTo>
                <a:lnTo>
                  <a:pt x="5909734" y="0"/>
                </a:lnTo>
                <a:lnTo>
                  <a:pt x="0" y="16933"/>
                </a:lnTo>
                <a:close/>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포인트가 5개인 별 4"/>
          <p:cNvSpPr/>
          <p:nvPr/>
        </p:nvSpPr>
        <p:spPr>
          <a:xfrm>
            <a:off x="2573902" y="4948767"/>
            <a:ext cx="660402" cy="567266"/>
          </a:xfrm>
          <a:prstGeom prst="star5">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TextBox 6"/>
          <p:cNvSpPr txBox="1"/>
          <p:nvPr/>
        </p:nvSpPr>
        <p:spPr>
          <a:xfrm>
            <a:off x="2234524" y="5596462"/>
            <a:ext cx="1348446" cy="584775"/>
          </a:xfrm>
          <a:prstGeom prst="rect">
            <a:avLst/>
          </a:prstGeom>
          <a:noFill/>
        </p:spPr>
        <p:txBody>
          <a:bodyPr wrap="none" rtlCol="0">
            <a:spAutoFit/>
          </a:bodyPr>
          <a:lstStyle/>
          <a:p>
            <a:pPr algn="ctr"/>
            <a:r>
              <a:rPr lang="ko-KR" altLang="en-US" sz="1600" dirty="0"/>
              <a:t>프로펠러 사용</a:t>
            </a:r>
            <a:endParaRPr lang="en-US" altLang="ko-KR" sz="1600" dirty="0"/>
          </a:p>
          <a:p>
            <a:pPr algn="ctr"/>
            <a:r>
              <a:rPr lang="en-US" altLang="ko-KR" sz="1600" dirty="0"/>
              <a:t>(A)</a:t>
            </a:r>
            <a:endParaRPr lang="ko-KR" altLang="en-US" sz="1600" dirty="0"/>
          </a:p>
        </p:txBody>
      </p:sp>
      <p:sp>
        <p:nvSpPr>
          <p:cNvPr id="8" name="직사각형 7"/>
          <p:cNvSpPr/>
          <p:nvPr/>
        </p:nvSpPr>
        <p:spPr>
          <a:xfrm>
            <a:off x="3556036" y="4639733"/>
            <a:ext cx="2065867" cy="618067"/>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순서도: 대조 14"/>
          <p:cNvSpPr/>
          <p:nvPr/>
        </p:nvSpPr>
        <p:spPr>
          <a:xfrm rot="5400000">
            <a:off x="3903155" y="4576237"/>
            <a:ext cx="372533" cy="762000"/>
          </a:xfrm>
          <a:prstGeom prst="flowChartCollat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39" name="TextBox 38"/>
          <p:cNvSpPr txBox="1"/>
          <p:nvPr/>
        </p:nvSpPr>
        <p:spPr>
          <a:xfrm>
            <a:off x="4461262" y="4677828"/>
            <a:ext cx="1164101" cy="584775"/>
          </a:xfrm>
          <a:prstGeom prst="rect">
            <a:avLst/>
          </a:prstGeom>
          <a:noFill/>
        </p:spPr>
        <p:txBody>
          <a:bodyPr wrap="none" rtlCol="0">
            <a:spAutoFit/>
          </a:bodyPr>
          <a:lstStyle/>
          <a:p>
            <a:pPr algn="ctr"/>
            <a:r>
              <a:rPr lang="ko-KR" altLang="en-US" sz="1600"/>
              <a:t>자동차 수입</a:t>
            </a:r>
            <a:endParaRPr lang="en-US" altLang="ko-KR" sz="1600" dirty="0"/>
          </a:p>
          <a:p>
            <a:pPr algn="ctr"/>
            <a:r>
              <a:rPr lang="en-US" altLang="ko-KR" sz="1600" dirty="0"/>
              <a:t>(B)</a:t>
            </a:r>
            <a:endParaRPr lang="ko-KR" altLang="en-US" sz="1600" dirty="0"/>
          </a:p>
        </p:txBody>
      </p:sp>
      <p:sp>
        <p:nvSpPr>
          <p:cNvPr id="40" name="TextBox 39"/>
          <p:cNvSpPr txBox="1"/>
          <p:nvPr/>
        </p:nvSpPr>
        <p:spPr>
          <a:xfrm>
            <a:off x="4982118" y="5702300"/>
            <a:ext cx="922047" cy="338554"/>
          </a:xfrm>
          <a:prstGeom prst="rect">
            <a:avLst/>
          </a:prstGeom>
          <a:noFill/>
        </p:spPr>
        <p:txBody>
          <a:bodyPr wrap="none" rtlCol="0">
            <a:spAutoFit/>
          </a:bodyPr>
          <a:lstStyle/>
          <a:p>
            <a:r>
              <a:rPr lang="ko-KR" altLang="en-US" sz="1600" dirty="0"/>
              <a:t>컨테이너</a:t>
            </a:r>
          </a:p>
        </p:txBody>
      </p:sp>
      <p:cxnSp>
        <p:nvCxnSpPr>
          <p:cNvPr id="20" name="구부러진 연결선 19"/>
          <p:cNvCxnSpPr>
            <a:stCxn id="8" idx="2"/>
            <a:endCxn id="40" idx="0"/>
          </p:cNvCxnSpPr>
          <p:nvPr/>
        </p:nvCxnSpPr>
        <p:spPr>
          <a:xfrm rot="16200000" flipH="1">
            <a:off x="4793806" y="5052964"/>
            <a:ext cx="444500" cy="854172"/>
          </a:xfrm>
          <a:prstGeom prst="curved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자유형 20"/>
          <p:cNvSpPr/>
          <p:nvPr/>
        </p:nvSpPr>
        <p:spPr>
          <a:xfrm>
            <a:off x="7086638" y="4470399"/>
            <a:ext cx="3860800" cy="1896534"/>
          </a:xfrm>
          <a:custGeom>
            <a:avLst/>
            <a:gdLst>
              <a:gd name="connsiteX0" fmla="*/ 8467 w 3860800"/>
              <a:gd name="connsiteY0" fmla="*/ 1896534 h 1896534"/>
              <a:gd name="connsiteX1" fmla="*/ 0 w 3860800"/>
              <a:gd name="connsiteY1" fmla="*/ 1176867 h 1896534"/>
              <a:gd name="connsiteX2" fmla="*/ 8467 w 3860800"/>
              <a:gd name="connsiteY2" fmla="*/ 558800 h 1896534"/>
              <a:gd name="connsiteX3" fmla="*/ 25400 w 3860800"/>
              <a:gd name="connsiteY3" fmla="*/ 364067 h 1896534"/>
              <a:gd name="connsiteX4" fmla="*/ 42333 w 3860800"/>
              <a:gd name="connsiteY4" fmla="*/ 330200 h 1896534"/>
              <a:gd name="connsiteX5" fmla="*/ 50800 w 3860800"/>
              <a:gd name="connsiteY5" fmla="*/ 296334 h 1896534"/>
              <a:gd name="connsiteX6" fmla="*/ 67733 w 3860800"/>
              <a:gd name="connsiteY6" fmla="*/ 245534 h 1896534"/>
              <a:gd name="connsiteX7" fmla="*/ 93133 w 3860800"/>
              <a:gd name="connsiteY7" fmla="*/ 110067 h 1896534"/>
              <a:gd name="connsiteX8" fmla="*/ 127000 w 3860800"/>
              <a:gd name="connsiteY8" fmla="*/ 59267 h 1896534"/>
              <a:gd name="connsiteX9" fmla="*/ 135467 w 3860800"/>
              <a:gd name="connsiteY9" fmla="*/ 33867 h 1896534"/>
              <a:gd name="connsiteX10" fmla="*/ 169333 w 3860800"/>
              <a:gd name="connsiteY10" fmla="*/ 25400 h 1896534"/>
              <a:gd name="connsiteX11" fmla="*/ 330200 w 3860800"/>
              <a:gd name="connsiteY11" fmla="*/ 8467 h 1896534"/>
              <a:gd name="connsiteX12" fmla="*/ 745067 w 3860800"/>
              <a:gd name="connsiteY12" fmla="*/ 0 h 1896534"/>
              <a:gd name="connsiteX13" fmla="*/ 3014133 w 3860800"/>
              <a:gd name="connsiteY13" fmla="*/ 8467 h 1896534"/>
              <a:gd name="connsiteX14" fmla="*/ 3098800 w 3860800"/>
              <a:gd name="connsiteY14" fmla="*/ 16934 h 1896534"/>
              <a:gd name="connsiteX15" fmla="*/ 3403600 w 3860800"/>
              <a:gd name="connsiteY15" fmla="*/ 33867 h 1896534"/>
              <a:gd name="connsiteX16" fmla="*/ 3522133 w 3860800"/>
              <a:gd name="connsiteY16" fmla="*/ 84667 h 1896534"/>
              <a:gd name="connsiteX17" fmla="*/ 3556000 w 3860800"/>
              <a:gd name="connsiteY17" fmla="*/ 93134 h 1896534"/>
              <a:gd name="connsiteX18" fmla="*/ 3699933 w 3860800"/>
              <a:gd name="connsiteY18" fmla="*/ 110067 h 1896534"/>
              <a:gd name="connsiteX19" fmla="*/ 3801533 w 3860800"/>
              <a:gd name="connsiteY19" fmla="*/ 101600 h 1896534"/>
              <a:gd name="connsiteX20" fmla="*/ 3860800 w 3860800"/>
              <a:gd name="connsiteY20" fmla="*/ 84667 h 189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860800" h="1896534">
                <a:moveTo>
                  <a:pt x="8467" y="1896534"/>
                </a:moveTo>
                <a:cubicBezTo>
                  <a:pt x="5645" y="1656645"/>
                  <a:pt x="0" y="1416773"/>
                  <a:pt x="0" y="1176867"/>
                </a:cubicBezTo>
                <a:cubicBezTo>
                  <a:pt x="0" y="970825"/>
                  <a:pt x="3786" y="764788"/>
                  <a:pt x="8467" y="558800"/>
                </a:cubicBezTo>
                <a:cubicBezTo>
                  <a:pt x="8652" y="550671"/>
                  <a:pt x="16923" y="397975"/>
                  <a:pt x="25400" y="364067"/>
                </a:cubicBezTo>
                <a:cubicBezTo>
                  <a:pt x="28461" y="351822"/>
                  <a:pt x="37901" y="342018"/>
                  <a:pt x="42333" y="330200"/>
                </a:cubicBezTo>
                <a:cubicBezTo>
                  <a:pt x="46419" y="319305"/>
                  <a:pt x="47456" y="307479"/>
                  <a:pt x="50800" y="296334"/>
                </a:cubicBezTo>
                <a:cubicBezTo>
                  <a:pt x="55929" y="279238"/>
                  <a:pt x="62089" y="262467"/>
                  <a:pt x="67733" y="245534"/>
                </a:cubicBezTo>
                <a:cubicBezTo>
                  <a:pt x="70712" y="215744"/>
                  <a:pt x="71802" y="142063"/>
                  <a:pt x="93133" y="110067"/>
                </a:cubicBezTo>
                <a:cubicBezTo>
                  <a:pt x="104422" y="93134"/>
                  <a:pt x="120564" y="78574"/>
                  <a:pt x="127000" y="59267"/>
                </a:cubicBezTo>
                <a:cubicBezTo>
                  <a:pt x="129822" y="50800"/>
                  <a:pt x="128498" y="39442"/>
                  <a:pt x="135467" y="33867"/>
                </a:cubicBezTo>
                <a:cubicBezTo>
                  <a:pt x="144553" y="26598"/>
                  <a:pt x="158145" y="28597"/>
                  <a:pt x="169333" y="25400"/>
                </a:cubicBezTo>
                <a:cubicBezTo>
                  <a:pt x="246866" y="3248"/>
                  <a:pt x="139133" y="14346"/>
                  <a:pt x="330200" y="8467"/>
                </a:cubicBezTo>
                <a:cubicBezTo>
                  <a:pt x="468452" y="4213"/>
                  <a:pt x="606778" y="2822"/>
                  <a:pt x="745067" y="0"/>
                </a:cubicBezTo>
                <a:lnTo>
                  <a:pt x="3014133" y="8467"/>
                </a:lnTo>
                <a:cubicBezTo>
                  <a:pt x="3042495" y="8671"/>
                  <a:pt x="3070497" y="15088"/>
                  <a:pt x="3098800" y="16934"/>
                </a:cubicBezTo>
                <a:lnTo>
                  <a:pt x="3403600" y="33867"/>
                </a:lnTo>
                <a:cubicBezTo>
                  <a:pt x="3532944" y="70821"/>
                  <a:pt x="3391651" y="25356"/>
                  <a:pt x="3522133" y="84667"/>
                </a:cubicBezTo>
                <a:cubicBezTo>
                  <a:pt x="3532726" y="89482"/>
                  <a:pt x="3544641" y="90610"/>
                  <a:pt x="3556000" y="93134"/>
                </a:cubicBezTo>
                <a:cubicBezTo>
                  <a:pt x="3619546" y="107255"/>
                  <a:pt x="3612594" y="102788"/>
                  <a:pt x="3699933" y="110067"/>
                </a:cubicBezTo>
                <a:cubicBezTo>
                  <a:pt x="3733800" y="107245"/>
                  <a:pt x="3768011" y="107187"/>
                  <a:pt x="3801533" y="101600"/>
                </a:cubicBezTo>
                <a:cubicBezTo>
                  <a:pt x="3908486" y="83775"/>
                  <a:pt x="3826028" y="84667"/>
                  <a:pt x="3860800" y="84667"/>
                </a:cubicBez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2" name="자유형 21"/>
          <p:cNvSpPr/>
          <p:nvPr/>
        </p:nvSpPr>
        <p:spPr>
          <a:xfrm>
            <a:off x="6239969" y="3132667"/>
            <a:ext cx="2963334" cy="1312333"/>
          </a:xfrm>
          <a:custGeom>
            <a:avLst/>
            <a:gdLst>
              <a:gd name="connsiteX0" fmla="*/ 2963334 w 2963334"/>
              <a:gd name="connsiteY0" fmla="*/ 1312333 h 1312333"/>
              <a:gd name="connsiteX1" fmla="*/ 2963334 w 2963334"/>
              <a:gd name="connsiteY1" fmla="*/ 0 h 1312333"/>
              <a:gd name="connsiteX2" fmla="*/ 609600 w 2963334"/>
              <a:gd name="connsiteY2" fmla="*/ 0 h 1312333"/>
              <a:gd name="connsiteX3" fmla="*/ 0 w 2963334"/>
              <a:gd name="connsiteY3" fmla="*/ 948266 h 1312333"/>
            </a:gdLst>
            <a:ahLst/>
            <a:cxnLst>
              <a:cxn ang="0">
                <a:pos x="connsiteX0" y="connsiteY0"/>
              </a:cxn>
              <a:cxn ang="0">
                <a:pos x="connsiteX1" y="connsiteY1"/>
              </a:cxn>
              <a:cxn ang="0">
                <a:pos x="connsiteX2" y="connsiteY2"/>
              </a:cxn>
              <a:cxn ang="0">
                <a:pos x="connsiteX3" y="connsiteY3"/>
              </a:cxn>
            </a:cxnLst>
            <a:rect l="l" t="t" r="r" b="b"/>
            <a:pathLst>
              <a:path w="2963334" h="1312333">
                <a:moveTo>
                  <a:pt x="2963334" y="1312333"/>
                </a:moveTo>
                <a:lnTo>
                  <a:pt x="2963334" y="0"/>
                </a:lnTo>
                <a:lnTo>
                  <a:pt x="609600" y="0"/>
                </a:lnTo>
                <a:lnTo>
                  <a:pt x="0" y="948266"/>
                </a:lnTo>
              </a:path>
            </a:pathLst>
          </a:custGeom>
          <a:ln w="5715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48" name="TextBox 47"/>
          <p:cNvSpPr txBox="1"/>
          <p:nvPr/>
        </p:nvSpPr>
        <p:spPr>
          <a:xfrm>
            <a:off x="7260612" y="2590905"/>
            <a:ext cx="1348446" cy="584775"/>
          </a:xfrm>
          <a:prstGeom prst="rect">
            <a:avLst/>
          </a:prstGeom>
          <a:noFill/>
        </p:spPr>
        <p:txBody>
          <a:bodyPr wrap="none" rtlCol="0">
            <a:spAutoFit/>
          </a:bodyPr>
          <a:lstStyle/>
          <a:p>
            <a:r>
              <a:rPr lang="ko-KR" altLang="en-US" sz="1600" dirty="0"/>
              <a:t>수리장치 사용</a:t>
            </a:r>
            <a:endParaRPr lang="en-US" altLang="ko-KR" sz="1600" dirty="0"/>
          </a:p>
          <a:p>
            <a:pPr algn="ctr"/>
            <a:r>
              <a:rPr lang="en-US" altLang="ko-KR" sz="1600" dirty="0"/>
              <a:t>(C)</a:t>
            </a:r>
            <a:endParaRPr lang="ko-KR" altLang="en-US" sz="1600" dirty="0"/>
          </a:p>
        </p:txBody>
      </p:sp>
      <p:sp>
        <p:nvSpPr>
          <p:cNvPr id="49" name="TextBox 48"/>
          <p:cNvSpPr txBox="1"/>
          <p:nvPr/>
        </p:nvSpPr>
        <p:spPr>
          <a:xfrm>
            <a:off x="372534" y="2755949"/>
            <a:ext cx="1207382" cy="830997"/>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r>
              <a:rPr lang="ko-KR" altLang="en-US" sz="1600" dirty="0"/>
              <a:t>프로펠러</a:t>
            </a:r>
            <a:r>
              <a:rPr lang="en-US" altLang="ko-KR" sz="1600" dirty="0"/>
              <a:t>(A)</a:t>
            </a:r>
          </a:p>
          <a:p>
            <a:r>
              <a:rPr lang="ko-KR" altLang="en-US" sz="1600" dirty="0"/>
              <a:t>자동차</a:t>
            </a:r>
            <a:r>
              <a:rPr lang="en-US" altLang="ko-KR" sz="1600" dirty="0"/>
              <a:t>(B)</a:t>
            </a:r>
          </a:p>
          <a:p>
            <a:r>
              <a:rPr lang="ko-KR" altLang="en-US" sz="1600" dirty="0"/>
              <a:t>수리장치</a:t>
            </a:r>
            <a:r>
              <a:rPr lang="en-US" altLang="ko-KR" sz="1600" dirty="0"/>
              <a:t>(C)</a:t>
            </a:r>
            <a:endParaRPr lang="ko-KR" altLang="en-US" sz="1600" dirty="0"/>
          </a:p>
        </p:txBody>
      </p:sp>
      <p:sp>
        <p:nvSpPr>
          <p:cNvPr id="52" name="TextBox 51"/>
          <p:cNvSpPr txBox="1"/>
          <p:nvPr/>
        </p:nvSpPr>
        <p:spPr>
          <a:xfrm>
            <a:off x="515201" y="2421628"/>
            <a:ext cx="922047" cy="338554"/>
          </a:xfrm>
          <a:prstGeom prst="rect">
            <a:avLst/>
          </a:prstGeom>
          <a:noFill/>
        </p:spPr>
        <p:txBody>
          <a:bodyPr wrap="none" rtlCol="0">
            <a:spAutoFit/>
          </a:bodyPr>
          <a:lstStyle/>
          <a:p>
            <a:r>
              <a:rPr lang="ko-KR" altLang="en-US" sz="1600" dirty="0">
                <a:solidFill>
                  <a:srgbClr val="FF0000"/>
                </a:solidFill>
              </a:rPr>
              <a:t>특허발명</a:t>
            </a:r>
          </a:p>
        </p:txBody>
      </p:sp>
      <p:sp>
        <p:nvSpPr>
          <p:cNvPr id="26" name="모서리가 둥근 사각형 설명선 25"/>
          <p:cNvSpPr/>
          <p:nvPr/>
        </p:nvSpPr>
        <p:spPr>
          <a:xfrm>
            <a:off x="1437248" y="6040854"/>
            <a:ext cx="868243" cy="326080"/>
          </a:xfrm>
          <a:prstGeom prst="wedgeRoundRectCallout">
            <a:avLst>
              <a:gd name="adj1" fmla="val 47320"/>
              <a:gd name="adj2" fmla="val -86184"/>
              <a:gd name="adj3" fmla="val 16667"/>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err="1"/>
              <a:t>비침해</a:t>
            </a:r>
            <a:endParaRPr lang="ko-KR" altLang="en-US" sz="1600" dirty="0"/>
          </a:p>
        </p:txBody>
      </p:sp>
      <p:sp>
        <p:nvSpPr>
          <p:cNvPr id="54" name="모서리가 둥근 사각형 설명선 53"/>
          <p:cNvSpPr/>
          <p:nvPr/>
        </p:nvSpPr>
        <p:spPr>
          <a:xfrm>
            <a:off x="4154848" y="4186654"/>
            <a:ext cx="868243" cy="326080"/>
          </a:xfrm>
          <a:prstGeom prst="wedgeRoundRectCallout">
            <a:avLst>
              <a:gd name="adj1" fmla="val 40494"/>
              <a:gd name="adj2" fmla="val 121536"/>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침해</a:t>
            </a:r>
          </a:p>
        </p:txBody>
      </p:sp>
      <p:sp>
        <p:nvSpPr>
          <p:cNvPr id="56" name="모서리가 둥근 사각형 설명선 55"/>
          <p:cNvSpPr/>
          <p:nvPr/>
        </p:nvSpPr>
        <p:spPr>
          <a:xfrm>
            <a:off x="8709878" y="2340921"/>
            <a:ext cx="868243" cy="326080"/>
          </a:xfrm>
          <a:prstGeom prst="wedgeRoundRectCallout">
            <a:avLst>
              <a:gd name="adj1" fmla="val -67748"/>
              <a:gd name="adj2" fmla="val 43641"/>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침해</a:t>
            </a:r>
          </a:p>
        </p:txBody>
      </p:sp>
      <p:sp>
        <p:nvSpPr>
          <p:cNvPr id="6" name="슬라이드 번호 개체 틀 5"/>
          <p:cNvSpPr>
            <a:spLocks noGrp="1"/>
          </p:cNvSpPr>
          <p:nvPr>
            <p:ph type="sldNum" sz="quarter" idx="12"/>
          </p:nvPr>
        </p:nvSpPr>
        <p:spPr/>
        <p:txBody>
          <a:bodyPr/>
          <a:lstStyle/>
          <a:p>
            <a:r>
              <a:rPr lang="en-US" altLang="ko-KR"/>
              <a:t>313</a:t>
            </a:r>
            <a:endParaRPr lang="ko-KR" altLang="en-US"/>
          </a:p>
        </p:txBody>
      </p:sp>
    </p:spTree>
    <p:extLst>
      <p:ext uri="{BB962C8B-B14F-4D97-AF65-F5344CB8AC3E}">
        <p14:creationId xmlns:p14="http://schemas.microsoft.com/office/powerpoint/2010/main" val="1922116815"/>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94</a:t>
            </a:r>
            <a:r>
              <a:rPr lang="ko-KR" altLang="en-US" dirty="0"/>
              <a:t>조</a:t>
            </a:r>
            <a:r>
              <a:rPr lang="en-US" altLang="ko-KR" dirty="0"/>
              <a:t>~</a:t>
            </a:r>
            <a:r>
              <a:rPr lang="ko-KR" altLang="en-US" dirty="0"/>
              <a:t>제</a:t>
            </a:r>
            <a:r>
              <a:rPr lang="en-US" altLang="ko-KR" dirty="0"/>
              <a:t>96</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특허권 하자에 의한 제한</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314</a:t>
            </a:r>
            <a:endParaRPr lang="ko-KR" altLang="en-US"/>
          </a:p>
        </p:txBody>
      </p:sp>
      <p:sp>
        <p:nvSpPr>
          <p:cNvPr id="20" name="직사각형 19"/>
          <p:cNvSpPr/>
          <p:nvPr/>
        </p:nvSpPr>
        <p:spPr>
          <a:xfrm>
            <a:off x="519222" y="1457016"/>
            <a:ext cx="2954348" cy="360040"/>
          </a:xfrm>
          <a:prstGeom prst="rect">
            <a:avLst/>
          </a:prstGeom>
          <a:solidFill>
            <a:schemeClr val="accent2"/>
          </a:solidFill>
          <a:ln w="12700">
            <a:solidFill>
              <a:schemeClr val="bg1">
                <a:lumMod val="5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ko-KR" altLang="en-US" sz="1400" dirty="0"/>
              <a:t>권리의 유효성</a:t>
            </a:r>
          </a:p>
        </p:txBody>
      </p:sp>
      <p:sp>
        <p:nvSpPr>
          <p:cNvPr id="21" name="직사각형 20"/>
          <p:cNvSpPr/>
          <p:nvPr/>
        </p:nvSpPr>
        <p:spPr>
          <a:xfrm>
            <a:off x="3896275" y="1457016"/>
            <a:ext cx="2954348" cy="360040"/>
          </a:xfrm>
          <a:prstGeom prst="rect">
            <a:avLst/>
          </a:prstGeom>
          <a:solidFill>
            <a:schemeClr val="accent4"/>
          </a:solidFill>
          <a:ln>
            <a:solidFill>
              <a:schemeClr val="bg1">
                <a:lumMod val="50000"/>
              </a:schemeClr>
            </a:solidFill>
          </a:ln>
        </p:spPr>
        <p:style>
          <a:lnRef idx="1">
            <a:schemeClr val="accent4"/>
          </a:lnRef>
          <a:fillRef idx="3">
            <a:schemeClr val="accent4"/>
          </a:fillRef>
          <a:effectRef idx="2">
            <a:schemeClr val="accent4"/>
          </a:effectRef>
          <a:fontRef idx="minor">
            <a:schemeClr val="lt1"/>
          </a:fontRef>
        </p:style>
        <p:txBody>
          <a:bodyPr rtlCol="0" anchor="ctr"/>
          <a:lstStyle/>
          <a:p>
            <a:pPr algn="ctr"/>
            <a:r>
              <a:rPr lang="ko-KR" altLang="en-US" sz="1400" dirty="0"/>
              <a:t>원칙</a:t>
            </a:r>
            <a:r>
              <a:rPr lang="en-US" altLang="ko-KR" sz="1400" dirty="0"/>
              <a:t>: </a:t>
            </a:r>
            <a:r>
              <a:rPr lang="ko-KR" altLang="en-US" sz="1400" dirty="0"/>
              <a:t>권리범위 인정</a:t>
            </a:r>
          </a:p>
        </p:txBody>
      </p:sp>
      <p:sp>
        <p:nvSpPr>
          <p:cNvPr id="22" name="직사각형 21"/>
          <p:cNvSpPr/>
          <p:nvPr/>
        </p:nvSpPr>
        <p:spPr>
          <a:xfrm>
            <a:off x="3896275" y="4158911"/>
            <a:ext cx="2954348" cy="360040"/>
          </a:xfrm>
          <a:prstGeom prst="rect">
            <a:avLst/>
          </a:prstGeom>
          <a:solidFill>
            <a:schemeClr val="accent4"/>
          </a:solidFill>
          <a:ln>
            <a:solidFill>
              <a:schemeClr val="bg1">
                <a:lumMod val="50000"/>
              </a:schemeClr>
            </a:solidFill>
          </a:ln>
        </p:spPr>
        <p:style>
          <a:lnRef idx="1">
            <a:schemeClr val="accent4"/>
          </a:lnRef>
          <a:fillRef idx="3">
            <a:schemeClr val="accent4"/>
          </a:fillRef>
          <a:effectRef idx="2">
            <a:schemeClr val="accent4"/>
          </a:effectRef>
          <a:fontRef idx="minor">
            <a:schemeClr val="lt1"/>
          </a:fontRef>
        </p:style>
        <p:txBody>
          <a:bodyPr rtlCol="0" anchor="ctr"/>
          <a:lstStyle/>
          <a:p>
            <a:pPr algn="ctr"/>
            <a:r>
              <a:rPr lang="ko-KR" altLang="en-US" sz="1400" dirty="0"/>
              <a:t>예외</a:t>
            </a:r>
            <a:r>
              <a:rPr lang="en-US" altLang="ko-KR" sz="1400" dirty="0"/>
              <a:t>: </a:t>
            </a:r>
            <a:r>
              <a:rPr lang="ko-KR" altLang="en-US" sz="1400" dirty="0"/>
              <a:t>권리범위 불인정</a:t>
            </a:r>
          </a:p>
        </p:txBody>
      </p:sp>
      <p:sp>
        <p:nvSpPr>
          <p:cNvPr id="26" name="직사각형 25"/>
          <p:cNvSpPr/>
          <p:nvPr/>
        </p:nvSpPr>
        <p:spPr>
          <a:xfrm>
            <a:off x="7501448" y="1457016"/>
            <a:ext cx="3657598" cy="360040"/>
          </a:xfrm>
          <a:prstGeom prst="rect">
            <a:avLst/>
          </a:prstGeom>
          <a:solidFill>
            <a:schemeClr val="accent5"/>
          </a:solidFill>
          <a:ln w="12700">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t>원칙</a:t>
            </a:r>
            <a:r>
              <a:rPr lang="en-US" altLang="ko-KR" sz="1400" dirty="0"/>
              <a:t>: </a:t>
            </a:r>
            <a:r>
              <a:rPr lang="ko-KR" altLang="en-US" sz="1400" dirty="0"/>
              <a:t>권리행사가능</a:t>
            </a:r>
          </a:p>
        </p:txBody>
      </p:sp>
      <p:sp>
        <p:nvSpPr>
          <p:cNvPr id="30" name="직사각형 29"/>
          <p:cNvSpPr/>
          <p:nvPr/>
        </p:nvSpPr>
        <p:spPr>
          <a:xfrm>
            <a:off x="7501448" y="4158911"/>
            <a:ext cx="3657598" cy="360040"/>
          </a:xfrm>
          <a:prstGeom prst="rect">
            <a:avLst/>
          </a:prstGeom>
          <a:solidFill>
            <a:schemeClr val="accent5"/>
          </a:solidFill>
          <a:ln w="12700">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t>예외</a:t>
            </a:r>
            <a:r>
              <a:rPr lang="en-US" altLang="ko-KR" sz="1400" dirty="0"/>
              <a:t>: </a:t>
            </a:r>
            <a:r>
              <a:rPr lang="ko-KR" altLang="en-US" sz="1400" dirty="0"/>
              <a:t>권리행사불가능</a:t>
            </a:r>
          </a:p>
        </p:txBody>
      </p:sp>
      <p:cxnSp>
        <p:nvCxnSpPr>
          <p:cNvPr id="31" name="직선 연결선 30"/>
          <p:cNvCxnSpPr>
            <a:endCxn id="21" idx="1"/>
          </p:cNvCxnSpPr>
          <p:nvPr/>
        </p:nvCxnSpPr>
        <p:spPr>
          <a:xfrm>
            <a:off x="3473572" y="1637036"/>
            <a:ext cx="422703" cy="0"/>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3" name="꺾인 연결선 32"/>
          <p:cNvCxnSpPr>
            <a:stCxn id="20" idx="3"/>
            <a:endCxn id="22" idx="1"/>
          </p:cNvCxnSpPr>
          <p:nvPr/>
        </p:nvCxnSpPr>
        <p:spPr>
          <a:xfrm>
            <a:off x="3473570" y="1637036"/>
            <a:ext cx="422705" cy="2701895"/>
          </a:xfrm>
          <a:prstGeom prst="bentConnector3">
            <a:avLst>
              <a:gd name="adj1" fmla="val 50000"/>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6" name="꺾인 연결선 35"/>
          <p:cNvCxnSpPr>
            <a:stCxn id="21" idx="3"/>
            <a:endCxn id="30" idx="1"/>
          </p:cNvCxnSpPr>
          <p:nvPr/>
        </p:nvCxnSpPr>
        <p:spPr>
          <a:xfrm>
            <a:off x="6850623" y="1637036"/>
            <a:ext cx="650825" cy="2701895"/>
          </a:xfrm>
          <a:prstGeom prst="bentConnector3">
            <a:avLst>
              <a:gd name="adj1" fmla="val 50000"/>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519222" y="1817057"/>
            <a:ext cx="2954351" cy="897568"/>
          </a:xfrm>
          <a:prstGeom prst="rect">
            <a:avLst/>
          </a:prstGeom>
          <a:ln>
            <a:solidFill>
              <a:schemeClr val="bg1">
                <a:lumMod val="50000"/>
              </a:schemeClr>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r>
              <a:rPr lang="ko-KR" altLang="en-US" sz="1200" dirty="0"/>
              <a:t>특허권의 하자가 있더라도 하자를 이유로 특허취소신청의 취소결정이나 무효심판의 </a:t>
            </a:r>
            <a:r>
              <a:rPr lang="ko-KR" altLang="en-US" sz="1200" dirty="0" err="1"/>
              <a:t>인용심결확정에</a:t>
            </a:r>
            <a:r>
              <a:rPr lang="ko-KR" altLang="en-US" sz="1200" dirty="0"/>
              <a:t> 의한 소멸되기 전까지는 권리가 유효</a:t>
            </a:r>
          </a:p>
        </p:txBody>
      </p:sp>
      <p:sp>
        <p:nvSpPr>
          <p:cNvPr id="38" name="TextBox 37"/>
          <p:cNvSpPr txBox="1"/>
          <p:nvPr/>
        </p:nvSpPr>
        <p:spPr>
          <a:xfrm>
            <a:off x="3896274" y="4518952"/>
            <a:ext cx="2954351" cy="1015663"/>
          </a:xfrm>
          <a:prstGeom prst="rect">
            <a:avLst/>
          </a:prstGeom>
          <a:ln>
            <a:solidFill>
              <a:schemeClr val="bg1">
                <a:lumMod val="50000"/>
              </a:schemeClr>
            </a:solidFill>
          </a:ln>
        </p:spPr>
        <p:style>
          <a:lnRef idx="2">
            <a:schemeClr val="accent4"/>
          </a:lnRef>
          <a:fillRef idx="1">
            <a:schemeClr val="lt1"/>
          </a:fillRef>
          <a:effectRef idx="0">
            <a:schemeClr val="accent4"/>
          </a:effectRef>
          <a:fontRef idx="minor">
            <a:schemeClr val="dk1"/>
          </a:fontRef>
        </p:style>
        <p:txBody>
          <a:bodyPr wrap="square" rtlCol="0">
            <a:spAutoFit/>
          </a:bodyPr>
          <a:lstStyle/>
          <a:p>
            <a:pPr marL="88900" indent="-88900">
              <a:buFont typeface="Wingdings" pitchFamily="2" charset="2"/>
              <a:buChar char="§"/>
            </a:pPr>
            <a:r>
              <a:rPr lang="ko-KR" altLang="en-US" sz="1200" dirty="0" err="1"/>
              <a:t>신규성</a:t>
            </a:r>
            <a:r>
              <a:rPr lang="ko-KR" altLang="en-US" sz="1200" dirty="0"/>
              <a:t> 위반인데 착오로 등록된 경우</a:t>
            </a:r>
            <a:endParaRPr lang="en-US" altLang="ko-KR" sz="1200" dirty="0"/>
          </a:p>
          <a:p>
            <a:pPr marL="88900" indent="-88900">
              <a:buFont typeface="Wingdings" pitchFamily="2" charset="2"/>
              <a:buChar char="§"/>
            </a:pPr>
            <a:r>
              <a:rPr lang="ko-KR" altLang="en-US" sz="1200" dirty="0" err="1"/>
              <a:t>선출원</a:t>
            </a:r>
            <a:r>
              <a:rPr lang="ko-KR" altLang="en-US" sz="1200" dirty="0"/>
              <a:t> 위반인데 착오로 등록된 경우</a:t>
            </a:r>
            <a:endParaRPr lang="en-US" altLang="ko-KR" sz="1200" dirty="0"/>
          </a:p>
          <a:p>
            <a:pPr marL="88900" indent="-88900">
              <a:buFont typeface="Wingdings" pitchFamily="2" charset="2"/>
              <a:buChar char="§"/>
            </a:pPr>
            <a:r>
              <a:rPr lang="ko-KR" altLang="en-US" sz="1200" dirty="0"/>
              <a:t>확대된 </a:t>
            </a:r>
            <a:r>
              <a:rPr lang="ko-KR" altLang="en-US" sz="1200" dirty="0" err="1"/>
              <a:t>선출원</a:t>
            </a:r>
            <a:r>
              <a:rPr lang="ko-KR" altLang="en-US" sz="1200" dirty="0"/>
              <a:t> 위반인데 착오로 등록된 경우</a:t>
            </a:r>
            <a:endParaRPr lang="en-US" altLang="ko-KR" sz="1200" dirty="0"/>
          </a:p>
          <a:p>
            <a:pPr marL="88900" indent="-88900">
              <a:buFont typeface="Wingdings" pitchFamily="2" charset="2"/>
              <a:buChar char="§"/>
            </a:pPr>
            <a:r>
              <a:rPr lang="ko-KR" altLang="en-US" sz="1200" dirty="0" err="1"/>
              <a:t>실시불가능한</a:t>
            </a:r>
            <a:r>
              <a:rPr lang="ko-KR" altLang="en-US" sz="1200" dirty="0"/>
              <a:t> 경우</a:t>
            </a:r>
            <a:endParaRPr lang="en-US" altLang="ko-KR" sz="1200" dirty="0"/>
          </a:p>
          <a:p>
            <a:pPr marL="88900" indent="-88900">
              <a:buFont typeface="Wingdings" pitchFamily="2" charset="2"/>
              <a:buChar char="§"/>
            </a:pPr>
            <a:r>
              <a:rPr lang="ko-KR" altLang="en-US" sz="1200" dirty="0"/>
              <a:t>기술적 범위를 특정할 수 없는 경우</a:t>
            </a:r>
          </a:p>
        </p:txBody>
      </p:sp>
      <p:sp>
        <p:nvSpPr>
          <p:cNvPr id="39" name="TextBox 38"/>
          <p:cNvSpPr txBox="1"/>
          <p:nvPr/>
        </p:nvSpPr>
        <p:spPr>
          <a:xfrm>
            <a:off x="7501446" y="1817057"/>
            <a:ext cx="3657602" cy="1569660"/>
          </a:xfrm>
          <a:prstGeom prst="rect">
            <a:avLst/>
          </a:prstGeom>
          <a:ln>
            <a:solidFill>
              <a:schemeClr val="bg1">
                <a:lumMod val="50000"/>
              </a:schemeClr>
            </a:solidFill>
          </a:ln>
        </p:spPr>
        <p:style>
          <a:lnRef idx="2">
            <a:schemeClr val="accent5"/>
          </a:lnRef>
          <a:fillRef idx="1">
            <a:schemeClr val="lt1"/>
          </a:fillRef>
          <a:effectRef idx="0">
            <a:schemeClr val="accent5"/>
          </a:effectRef>
          <a:fontRef idx="minor">
            <a:schemeClr val="dk1"/>
          </a:fontRef>
        </p:style>
        <p:txBody>
          <a:bodyPr wrap="square" rtlCol="0">
            <a:spAutoFit/>
          </a:bodyPr>
          <a:lstStyle/>
          <a:p>
            <a:pPr marL="88900" indent="-88900">
              <a:buFont typeface="Wingdings" pitchFamily="2" charset="2"/>
              <a:buChar char="§"/>
            </a:pPr>
            <a:r>
              <a:rPr lang="ko-KR" altLang="en-US" sz="1200" dirty="0"/>
              <a:t>권리행사 후 취소결정이나 </a:t>
            </a:r>
            <a:r>
              <a:rPr lang="ko-KR" altLang="en-US" sz="1200" dirty="0" err="1"/>
              <a:t>무효심결의</a:t>
            </a:r>
            <a:r>
              <a:rPr lang="ko-KR" altLang="en-US" sz="1200" dirty="0"/>
              <a:t> 확정에 의하여 특허권이 소급하여 소멸한 경우</a:t>
            </a:r>
            <a:r>
              <a:rPr lang="en-US" altLang="ko-KR" sz="1200" dirty="0"/>
              <a:t>, </a:t>
            </a:r>
            <a:r>
              <a:rPr lang="ko-KR" altLang="en-US" sz="1200" dirty="0"/>
              <a:t>권리침해소송 등의 민사소송의 확정판결 혹은 </a:t>
            </a:r>
            <a:r>
              <a:rPr lang="ko-KR" altLang="en-US" sz="1200" dirty="0" err="1"/>
              <a:t>침해죄의</a:t>
            </a:r>
            <a:r>
              <a:rPr lang="ko-KR" altLang="en-US" sz="1200" dirty="0"/>
              <a:t> 확정판결에 대하여 재심의 소를 제기가능</a:t>
            </a:r>
            <a:endParaRPr lang="en-US" altLang="ko-KR" sz="1200" dirty="0"/>
          </a:p>
          <a:p>
            <a:pPr marL="88900" indent="-88900">
              <a:buFont typeface="Wingdings" pitchFamily="2" charset="2"/>
              <a:buChar char="§"/>
            </a:pPr>
            <a:r>
              <a:rPr lang="ko-KR" altLang="en-US" sz="1200" dirty="0"/>
              <a:t>특허권자가 </a:t>
            </a:r>
            <a:r>
              <a:rPr lang="ko-KR" altLang="en-US" sz="1200" dirty="0" err="1"/>
              <a:t>무효심결의</a:t>
            </a:r>
            <a:r>
              <a:rPr lang="ko-KR" altLang="en-US" sz="1200" dirty="0"/>
              <a:t> 확정 전에 특허권을 행사하여 고의 또는 과실로 타인에게 손해를 입힌 경우 그 손해를 배상해야 하며</a:t>
            </a:r>
            <a:r>
              <a:rPr lang="en-US" altLang="ko-KR" sz="1200" dirty="0"/>
              <a:t>, </a:t>
            </a:r>
            <a:r>
              <a:rPr lang="ko-KR" altLang="en-US" sz="1200" dirty="0"/>
              <a:t>고의 또는 과실에 없더라도 부당이득은 반환해야 함</a:t>
            </a:r>
          </a:p>
        </p:txBody>
      </p:sp>
      <p:sp>
        <p:nvSpPr>
          <p:cNvPr id="40" name="TextBox 39"/>
          <p:cNvSpPr txBox="1"/>
          <p:nvPr/>
        </p:nvSpPr>
        <p:spPr>
          <a:xfrm>
            <a:off x="7501446" y="4518952"/>
            <a:ext cx="3657602" cy="1015663"/>
          </a:xfrm>
          <a:prstGeom prst="rect">
            <a:avLst/>
          </a:prstGeom>
          <a:ln>
            <a:solidFill>
              <a:schemeClr val="bg1">
                <a:lumMod val="50000"/>
              </a:schemeClr>
            </a:solidFill>
          </a:ln>
        </p:spPr>
        <p:style>
          <a:lnRef idx="2">
            <a:schemeClr val="accent5"/>
          </a:lnRef>
          <a:fillRef idx="1">
            <a:schemeClr val="lt1"/>
          </a:fillRef>
          <a:effectRef idx="0">
            <a:schemeClr val="accent5"/>
          </a:effectRef>
          <a:fontRef idx="minor">
            <a:schemeClr val="dk1"/>
          </a:fontRef>
        </p:style>
        <p:txBody>
          <a:bodyPr wrap="square" rtlCol="0">
            <a:spAutoFit/>
          </a:bodyPr>
          <a:lstStyle/>
          <a:p>
            <a:r>
              <a:rPr lang="ko-KR" altLang="en-US" sz="1200" dirty="0"/>
              <a:t>특허발명에 대한 취소결정이나 </a:t>
            </a:r>
            <a:r>
              <a:rPr lang="ko-KR" altLang="en-US" sz="1200" dirty="0" err="1"/>
              <a:t>무효심결이</a:t>
            </a:r>
            <a:r>
              <a:rPr lang="ko-KR" altLang="en-US" sz="1200" dirty="0"/>
              <a:t> 확정되기 전이라고 하더라도 특허발명의 진보성이 부정되어 그 특허가 취소결정이나 무효로 될 것임이 명백한 경우에는 그 특허권에 기초한 침해금지 또는 손해배상 등의 청구는 특별한 사정이 없는 한 권리남용에 해당하여 불허</a:t>
            </a:r>
          </a:p>
        </p:txBody>
      </p:sp>
      <p:sp>
        <p:nvSpPr>
          <p:cNvPr id="41" name="타원 40"/>
          <p:cNvSpPr/>
          <p:nvPr/>
        </p:nvSpPr>
        <p:spPr>
          <a:xfrm>
            <a:off x="304800" y="1287830"/>
            <a:ext cx="347920" cy="349207"/>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algn="ctr"/>
            <a:r>
              <a:rPr lang="en-US" altLang="ko-KR" dirty="0"/>
              <a:t>1</a:t>
            </a:r>
            <a:endParaRPr lang="ko-KR" altLang="en-US" dirty="0"/>
          </a:p>
        </p:txBody>
      </p:sp>
      <p:sp>
        <p:nvSpPr>
          <p:cNvPr id="45" name="TextBox 44"/>
          <p:cNvSpPr txBox="1"/>
          <p:nvPr/>
        </p:nvSpPr>
        <p:spPr>
          <a:xfrm>
            <a:off x="519222" y="5961911"/>
            <a:ext cx="10339278" cy="461665"/>
          </a:xfrm>
          <a:prstGeom prst="rect">
            <a:avLst/>
          </a:prstGeom>
          <a:noFill/>
        </p:spPr>
        <p:txBody>
          <a:bodyPr wrap="square" rtlCol="0">
            <a:spAutoFit/>
          </a:bodyPr>
          <a:lstStyle/>
          <a:p>
            <a:pPr marL="90488" indent="-90488">
              <a:buFont typeface="Arial" charset="0"/>
              <a:buChar char="•"/>
            </a:pPr>
            <a:r>
              <a:rPr lang="ko-KR" altLang="en-US" sz="1200" dirty="0"/>
              <a:t>권리범위 불인정하는 것을 이유로 실시자가 항변하는 것은 </a:t>
            </a:r>
            <a:r>
              <a:rPr lang="ko-KR" altLang="en-US" sz="1200" dirty="0">
                <a:solidFill>
                  <a:srgbClr val="FF0000"/>
                </a:solidFill>
              </a:rPr>
              <a:t>특허권 하자의 항변</a:t>
            </a:r>
            <a:r>
              <a:rPr lang="en-US" altLang="ko-KR" sz="1200" dirty="0"/>
              <a:t>,</a:t>
            </a:r>
            <a:r>
              <a:rPr lang="ko-KR" altLang="en-US" sz="1200" dirty="0"/>
              <a:t> 권리행사불가능을 이유로 실시자가 항변하는 것은 </a:t>
            </a:r>
            <a:r>
              <a:rPr lang="ko-KR" altLang="en-US" sz="1200" dirty="0">
                <a:solidFill>
                  <a:srgbClr val="FF0000"/>
                </a:solidFill>
              </a:rPr>
              <a:t>권리남용의 항변</a:t>
            </a:r>
            <a:r>
              <a:rPr lang="ko-KR" altLang="en-US" sz="1200" dirty="0"/>
              <a:t>이라 함</a:t>
            </a:r>
            <a:endParaRPr lang="en-US" altLang="ko-KR" sz="1200" dirty="0"/>
          </a:p>
          <a:p>
            <a:pPr marL="90488" indent="-90488">
              <a:buFont typeface="Arial" charset="0"/>
              <a:buChar char="•"/>
            </a:pPr>
            <a:r>
              <a:rPr lang="ko-KR" altLang="en-US" sz="1200" dirty="0"/>
              <a:t>특허권 하자의 항변은 침해소송뿐만 아니라 권리범위확인심판에서 가능하나</a:t>
            </a:r>
            <a:r>
              <a:rPr lang="en-US" altLang="ko-KR" sz="1200" dirty="0"/>
              <a:t>, </a:t>
            </a:r>
            <a:r>
              <a:rPr lang="ko-KR" altLang="en-US" sz="1200" dirty="0"/>
              <a:t>권리남용의 항변은 침해소송에서만 가능함</a:t>
            </a:r>
            <a:endParaRPr lang="en-US" altLang="ko-KR" sz="1200" dirty="0"/>
          </a:p>
        </p:txBody>
      </p:sp>
      <p:sp>
        <p:nvSpPr>
          <p:cNvPr id="46" name="타원 45"/>
          <p:cNvSpPr/>
          <p:nvPr/>
        </p:nvSpPr>
        <p:spPr>
          <a:xfrm>
            <a:off x="3810000" y="3969036"/>
            <a:ext cx="347920" cy="349207"/>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algn="ctr"/>
            <a:r>
              <a:rPr lang="en-US" altLang="ko-KR" dirty="0"/>
              <a:t>2</a:t>
            </a:r>
            <a:endParaRPr lang="ko-KR" altLang="en-US" dirty="0"/>
          </a:p>
        </p:txBody>
      </p:sp>
      <p:cxnSp>
        <p:nvCxnSpPr>
          <p:cNvPr id="47" name="꺾인 연결선 46"/>
          <p:cNvCxnSpPr>
            <a:stCxn id="21" idx="3"/>
            <a:endCxn id="26" idx="1"/>
          </p:cNvCxnSpPr>
          <p:nvPr/>
        </p:nvCxnSpPr>
        <p:spPr>
          <a:xfrm>
            <a:off x="6850623" y="1637036"/>
            <a:ext cx="650825" cy="12700"/>
          </a:xfrm>
          <a:prstGeom prst="bentConnector3">
            <a:avLst>
              <a:gd name="adj1" fmla="val 50000"/>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8" name="타원 47"/>
          <p:cNvSpPr/>
          <p:nvPr/>
        </p:nvSpPr>
        <p:spPr>
          <a:xfrm>
            <a:off x="7327488" y="1282412"/>
            <a:ext cx="347920" cy="349207"/>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algn="ctr"/>
            <a:r>
              <a:rPr lang="en-US" altLang="ko-KR" dirty="0"/>
              <a:t>3</a:t>
            </a:r>
            <a:endParaRPr lang="ko-KR" altLang="en-US" dirty="0"/>
          </a:p>
        </p:txBody>
      </p:sp>
      <p:sp>
        <p:nvSpPr>
          <p:cNvPr id="49" name="타원 48"/>
          <p:cNvSpPr/>
          <p:nvPr/>
        </p:nvSpPr>
        <p:spPr>
          <a:xfrm>
            <a:off x="7327488" y="3969035"/>
            <a:ext cx="347920" cy="349207"/>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algn="ctr"/>
            <a:r>
              <a:rPr lang="en-US" altLang="ko-KR" dirty="0"/>
              <a:t>4</a:t>
            </a:r>
            <a:endParaRPr lang="ko-KR" altLang="en-US" dirty="0"/>
          </a:p>
        </p:txBody>
      </p:sp>
      <p:sp>
        <p:nvSpPr>
          <p:cNvPr id="5" name="말풍선: 모서리가 둥근 사각형 4">
            <a:extLst>
              <a:ext uri="{FF2B5EF4-FFF2-40B4-BE49-F238E27FC236}">
                <a16:creationId xmlns:a16="http://schemas.microsoft.com/office/drawing/2014/main" id="{81997CC6-2A9C-4979-FFBB-786BD844DE42}"/>
              </a:ext>
            </a:extLst>
          </p:cNvPr>
          <p:cNvSpPr/>
          <p:nvPr/>
        </p:nvSpPr>
        <p:spPr>
          <a:xfrm>
            <a:off x="152400" y="2975441"/>
            <a:ext cx="3280711" cy="2206159"/>
          </a:xfrm>
          <a:prstGeom prst="wedgeRoundRectCallout">
            <a:avLst>
              <a:gd name="adj1" fmla="val -32667"/>
              <a:gd name="adj2" fmla="val -58485"/>
              <a:gd name="adj3" fmla="val 16667"/>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2">
                    <a:lumMod val="25000"/>
                  </a:schemeClr>
                </a:solidFill>
              </a:rPr>
              <a:t>행정처분의 공정력이 부정되어 당연무효가 되기 위해서는 그 하자가 법규의 중요한 부분을 위반한 </a:t>
            </a:r>
            <a:r>
              <a:rPr lang="ko-KR" altLang="en-US" sz="1050" dirty="0">
                <a:solidFill>
                  <a:srgbClr val="FF0000"/>
                </a:solidFill>
              </a:rPr>
              <a:t>중대</a:t>
            </a:r>
            <a:r>
              <a:rPr lang="ko-KR" altLang="en-US" sz="1050" dirty="0">
                <a:solidFill>
                  <a:schemeClr val="bg2">
                    <a:lumMod val="25000"/>
                  </a:schemeClr>
                </a:solidFill>
              </a:rPr>
              <a:t>한 것으로서 객관적으로 </a:t>
            </a:r>
            <a:r>
              <a:rPr lang="ko-KR" altLang="en-US" sz="1050" dirty="0">
                <a:solidFill>
                  <a:srgbClr val="FF0000"/>
                </a:solidFill>
              </a:rPr>
              <a:t>명백</a:t>
            </a:r>
            <a:r>
              <a:rPr lang="ko-KR" altLang="en-US" sz="1050" dirty="0">
                <a:solidFill>
                  <a:schemeClr val="bg2">
                    <a:lumMod val="25000"/>
                  </a:schemeClr>
                </a:solidFill>
              </a:rPr>
              <a:t>하여야 하나</a:t>
            </a:r>
            <a:r>
              <a:rPr lang="en-US" altLang="ko-KR" sz="1050" dirty="0">
                <a:solidFill>
                  <a:schemeClr val="bg2">
                    <a:lumMod val="25000"/>
                  </a:schemeClr>
                </a:solidFill>
                <a:highlight>
                  <a:srgbClr val="FFFF00"/>
                </a:highlight>
              </a:rPr>
              <a:t>, </a:t>
            </a:r>
            <a:r>
              <a:rPr lang="ko-KR" altLang="en-US" sz="1050" dirty="0">
                <a:solidFill>
                  <a:schemeClr val="bg2">
                    <a:lumMod val="25000"/>
                  </a:schemeClr>
                </a:solidFill>
                <a:highlight>
                  <a:srgbClr val="FFFF00"/>
                </a:highlight>
              </a:rPr>
              <a:t>지식재산처 심사관이 특허결정을 할 때에는 엄격한 선행기술의 조사</a:t>
            </a:r>
            <a:r>
              <a:rPr lang="en-US" altLang="ko-KR" sz="1050" dirty="0">
                <a:solidFill>
                  <a:schemeClr val="bg2">
                    <a:lumMod val="25000"/>
                  </a:schemeClr>
                </a:solidFill>
                <a:highlight>
                  <a:srgbClr val="FFFF00"/>
                </a:highlight>
              </a:rPr>
              <a:t>, </a:t>
            </a:r>
            <a:r>
              <a:rPr lang="ko-KR" altLang="en-US" sz="1050" dirty="0">
                <a:solidFill>
                  <a:schemeClr val="bg2">
                    <a:lumMod val="25000"/>
                  </a:schemeClr>
                </a:solidFill>
                <a:highlight>
                  <a:srgbClr val="FFFF00"/>
                </a:highlight>
              </a:rPr>
              <a:t>거절이유의 통지 등의 절차를 거쳐 특허출원에 대하여 거절이유를 발견할 수 없는 때에 한하여 이루어지는 점</a:t>
            </a:r>
            <a:r>
              <a:rPr lang="en-US" altLang="ko-KR" sz="1050" dirty="0">
                <a:solidFill>
                  <a:schemeClr val="bg2">
                    <a:lumMod val="25000"/>
                  </a:schemeClr>
                </a:solidFill>
                <a:highlight>
                  <a:srgbClr val="FFFF00"/>
                </a:highlight>
              </a:rPr>
              <a:t>, </a:t>
            </a:r>
            <a:r>
              <a:rPr lang="ko-KR" altLang="en-US" sz="1050" dirty="0">
                <a:solidFill>
                  <a:schemeClr val="bg2">
                    <a:lumMod val="25000"/>
                  </a:schemeClr>
                </a:solidFill>
                <a:highlight>
                  <a:srgbClr val="FFFF00"/>
                </a:highlight>
              </a:rPr>
              <a:t>특허무효사유 가운데는 신규성 또는 진보성 결여와 같이 단순한 사실확정의 문제에서 나아가 법적 평가의 성격을 지니는 것들이 적지 </a:t>
            </a:r>
            <a:r>
              <a:rPr lang="ko-KR" altLang="en-US" sz="1050" dirty="0" err="1">
                <a:solidFill>
                  <a:schemeClr val="bg2">
                    <a:lumMod val="25000"/>
                  </a:schemeClr>
                </a:solidFill>
                <a:highlight>
                  <a:srgbClr val="FFFF00"/>
                </a:highlight>
              </a:rPr>
              <a:t>않은데다가</a:t>
            </a:r>
            <a:r>
              <a:rPr lang="ko-KR" altLang="en-US" sz="1050" dirty="0">
                <a:solidFill>
                  <a:schemeClr val="bg2">
                    <a:lumMod val="25000"/>
                  </a:schemeClr>
                </a:solidFill>
                <a:highlight>
                  <a:srgbClr val="FFFF00"/>
                </a:highlight>
              </a:rPr>
              <a:t> 대체로 그 판단이 반드시 자명하지는 아니한 점 </a:t>
            </a:r>
            <a:r>
              <a:rPr lang="ko-KR" altLang="en-US" sz="1050" dirty="0">
                <a:solidFill>
                  <a:schemeClr val="bg2">
                    <a:lumMod val="25000"/>
                  </a:schemeClr>
                </a:solidFill>
              </a:rPr>
              <a:t>등에 비추어 보면</a:t>
            </a:r>
            <a:r>
              <a:rPr lang="en-US" altLang="ko-KR" sz="1050" dirty="0">
                <a:solidFill>
                  <a:schemeClr val="bg2">
                    <a:lumMod val="25000"/>
                  </a:schemeClr>
                </a:solidFill>
              </a:rPr>
              <a:t>, </a:t>
            </a:r>
            <a:r>
              <a:rPr lang="ko-KR" altLang="en-US" sz="1050" dirty="0">
                <a:solidFill>
                  <a:schemeClr val="bg2">
                    <a:lumMod val="25000"/>
                  </a:schemeClr>
                </a:solidFill>
              </a:rPr>
              <a:t>특허법 소정의 특허무효사유는 원칙적으로 행정법상의 당연무효사유에 해당한다고 보기는 어렵고 단순한 취소사유에 불과하다</a:t>
            </a:r>
            <a:r>
              <a:rPr lang="en-US" altLang="ko-KR" sz="1050" dirty="0">
                <a:solidFill>
                  <a:schemeClr val="bg2">
                    <a:lumMod val="25000"/>
                  </a:schemeClr>
                </a:solidFill>
              </a:rPr>
              <a:t>.</a:t>
            </a:r>
            <a:endParaRPr lang="ko-KR" altLang="en-US" sz="1050" dirty="0">
              <a:solidFill>
                <a:schemeClr val="bg2">
                  <a:lumMod val="25000"/>
                </a:schemeClr>
              </a:solidFill>
            </a:endParaRPr>
          </a:p>
        </p:txBody>
      </p:sp>
    </p:spTree>
    <p:extLst>
      <p:ext uri="{BB962C8B-B14F-4D97-AF65-F5344CB8AC3E}">
        <p14:creationId xmlns:p14="http://schemas.microsoft.com/office/powerpoint/2010/main" val="4247679434"/>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94</a:t>
            </a:r>
            <a:r>
              <a:rPr lang="ko-KR" altLang="en-US" dirty="0"/>
              <a:t>조</a:t>
            </a:r>
            <a:r>
              <a:rPr lang="en-US" altLang="ko-KR" dirty="0"/>
              <a:t>~</a:t>
            </a:r>
            <a:r>
              <a:rPr lang="ko-KR" altLang="en-US" dirty="0"/>
              <a:t>제</a:t>
            </a:r>
            <a:r>
              <a:rPr lang="en-US" altLang="ko-KR" dirty="0"/>
              <a:t>96</a:t>
            </a:r>
            <a:r>
              <a:rPr lang="ko-KR" altLang="en-US" dirty="0"/>
              <a:t>조</a:t>
            </a:r>
          </a:p>
        </p:txBody>
      </p:sp>
      <p:sp>
        <p:nvSpPr>
          <p:cNvPr id="4" name="텍스트 개체 틀 3"/>
          <p:cNvSpPr>
            <a:spLocks noGrp="1"/>
          </p:cNvSpPr>
          <p:nvPr>
            <p:ph type="body" sz="quarter" idx="13"/>
          </p:nvPr>
        </p:nvSpPr>
        <p:spPr/>
        <p:txBody>
          <a:bodyPr/>
          <a:lstStyle/>
          <a:p>
            <a:r>
              <a:rPr lang="ko-KR" altLang="en-US" dirty="0"/>
              <a:t>특허발명이 공지기술과 동일한 경우 특허권의 효력</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315</a:t>
            </a:r>
            <a:endParaRPr lang="ko-KR" altLang="en-US"/>
          </a:p>
        </p:txBody>
      </p:sp>
      <p:cxnSp>
        <p:nvCxnSpPr>
          <p:cNvPr id="23" name="직선 연결선 22"/>
          <p:cNvCxnSpPr/>
          <p:nvPr/>
        </p:nvCxnSpPr>
        <p:spPr>
          <a:xfrm>
            <a:off x="752475" y="2378508"/>
            <a:ext cx="401425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4" name="타원 23"/>
          <p:cNvSpPr/>
          <p:nvPr/>
        </p:nvSpPr>
        <p:spPr>
          <a:xfrm>
            <a:off x="1174640" y="229378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25" name="직사각형 24"/>
          <p:cNvSpPr/>
          <p:nvPr/>
        </p:nvSpPr>
        <p:spPr>
          <a:xfrm>
            <a:off x="743898" y="2578184"/>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A+B </a:t>
            </a:r>
          </a:p>
          <a:p>
            <a:pPr algn="ctr"/>
            <a:r>
              <a:rPr lang="ko-KR" altLang="en-US" sz="1200" dirty="0">
                <a:solidFill>
                  <a:schemeClr val="tx1"/>
                </a:solidFill>
              </a:rPr>
              <a:t>공지</a:t>
            </a:r>
            <a:endParaRPr lang="en-US" altLang="ko-KR" sz="1200" dirty="0">
              <a:solidFill>
                <a:schemeClr val="tx1"/>
              </a:solidFill>
            </a:endParaRPr>
          </a:p>
        </p:txBody>
      </p:sp>
      <p:cxnSp>
        <p:nvCxnSpPr>
          <p:cNvPr id="27" name="직선 연결선 26"/>
          <p:cNvCxnSpPr>
            <a:stCxn id="25" idx="0"/>
            <a:endCxn id="24" idx="4"/>
          </p:cNvCxnSpPr>
          <p:nvPr/>
        </p:nvCxnSpPr>
        <p:spPr>
          <a:xfrm flipV="1">
            <a:off x="1252009" y="2455119"/>
            <a:ext cx="0" cy="1230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타원 31"/>
          <p:cNvSpPr/>
          <p:nvPr/>
        </p:nvSpPr>
        <p:spPr>
          <a:xfrm>
            <a:off x="4027907" y="229378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34" name="직사각형 33"/>
          <p:cNvSpPr/>
          <p:nvPr/>
        </p:nvSpPr>
        <p:spPr>
          <a:xfrm>
            <a:off x="3597165" y="2578184"/>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A+B </a:t>
            </a:r>
          </a:p>
          <a:p>
            <a:pPr algn="ct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자 실시</a:t>
            </a:r>
            <a:endParaRPr lang="en-US" altLang="ko-KR" sz="1200" dirty="0">
              <a:solidFill>
                <a:schemeClr val="tx1"/>
              </a:solidFill>
            </a:endParaRPr>
          </a:p>
        </p:txBody>
      </p:sp>
      <p:cxnSp>
        <p:nvCxnSpPr>
          <p:cNvPr id="35" name="직선 연결선 34"/>
          <p:cNvCxnSpPr>
            <a:stCxn id="34" idx="0"/>
            <a:endCxn id="32" idx="4"/>
          </p:cNvCxnSpPr>
          <p:nvPr/>
        </p:nvCxnSpPr>
        <p:spPr>
          <a:xfrm flipV="1">
            <a:off x="4105276" y="2455119"/>
            <a:ext cx="0" cy="1230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 name="타원 41"/>
          <p:cNvSpPr/>
          <p:nvPr/>
        </p:nvSpPr>
        <p:spPr>
          <a:xfrm>
            <a:off x="2122906" y="229378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3" name="직사각형 42"/>
          <p:cNvSpPr/>
          <p:nvPr/>
        </p:nvSpPr>
        <p:spPr>
          <a:xfrm>
            <a:off x="1692164" y="1773859"/>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A+B </a:t>
            </a:r>
          </a:p>
          <a:p>
            <a:pPr algn="ctr"/>
            <a:r>
              <a:rPr lang="ko-KR" altLang="en-US" sz="1200" dirty="0">
                <a:solidFill>
                  <a:schemeClr val="tx1"/>
                </a:solidFill>
              </a:rPr>
              <a:t>출원</a:t>
            </a:r>
            <a:endParaRPr lang="en-US" altLang="ko-KR" sz="1200" dirty="0">
              <a:solidFill>
                <a:schemeClr val="tx1"/>
              </a:solidFill>
            </a:endParaRPr>
          </a:p>
        </p:txBody>
      </p:sp>
      <p:cxnSp>
        <p:nvCxnSpPr>
          <p:cNvPr id="44" name="직선 연결선 43"/>
          <p:cNvCxnSpPr>
            <a:stCxn id="43" idx="2"/>
            <a:endCxn id="42" idx="0"/>
          </p:cNvCxnSpPr>
          <p:nvPr/>
        </p:nvCxnSpPr>
        <p:spPr>
          <a:xfrm>
            <a:off x="2200275" y="2156853"/>
            <a:ext cx="0" cy="1369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타원 49"/>
          <p:cNvSpPr/>
          <p:nvPr/>
        </p:nvSpPr>
        <p:spPr>
          <a:xfrm>
            <a:off x="3139128" y="229378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51" name="직사각형 50"/>
          <p:cNvSpPr/>
          <p:nvPr/>
        </p:nvSpPr>
        <p:spPr>
          <a:xfrm>
            <a:off x="2708386" y="1773859"/>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A+B </a:t>
            </a:r>
          </a:p>
          <a:p>
            <a:pPr algn="ctr"/>
            <a:r>
              <a:rPr lang="ko-KR" altLang="en-US" sz="1200" dirty="0">
                <a:solidFill>
                  <a:srgbClr val="FF0000"/>
                </a:solidFill>
              </a:rPr>
              <a:t>착오등록</a:t>
            </a:r>
            <a:endParaRPr lang="en-US" altLang="ko-KR" sz="1200" dirty="0">
              <a:solidFill>
                <a:srgbClr val="FF0000"/>
              </a:solidFill>
            </a:endParaRPr>
          </a:p>
        </p:txBody>
      </p:sp>
      <p:cxnSp>
        <p:nvCxnSpPr>
          <p:cNvPr id="52" name="직선 연결선 51"/>
          <p:cNvCxnSpPr>
            <a:stCxn id="51" idx="2"/>
            <a:endCxn id="50" idx="0"/>
          </p:cNvCxnSpPr>
          <p:nvPr/>
        </p:nvCxnSpPr>
        <p:spPr>
          <a:xfrm>
            <a:off x="3216497" y="2156853"/>
            <a:ext cx="0" cy="1369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 name="직사각형 14"/>
          <p:cNvSpPr/>
          <p:nvPr/>
        </p:nvSpPr>
        <p:spPr>
          <a:xfrm>
            <a:off x="433504" y="1483275"/>
            <a:ext cx="4241056" cy="261610"/>
          </a:xfrm>
          <a:prstGeom prst="rect">
            <a:avLst/>
          </a:prstGeom>
          <a:solidFill>
            <a:schemeClr val="accent1">
              <a:lumMod val="20000"/>
              <a:lumOff val="80000"/>
            </a:schemeClr>
          </a:solidFill>
          <a:ln>
            <a:solidFill>
              <a:schemeClr val="bg1">
                <a:lumMod val="50000"/>
              </a:schemeClr>
            </a:solidFill>
          </a:ln>
        </p:spPr>
        <p:txBody>
          <a:bodyPr wrap="square">
            <a:spAutoFit/>
          </a:bodyPr>
          <a:lstStyle/>
          <a:p>
            <a:pPr fontAlgn="base" latinLnBrk="0"/>
            <a:r>
              <a:rPr lang="en-US" altLang="ko-KR" sz="1100" b="1" dirty="0"/>
              <a:t>(</a:t>
            </a:r>
            <a:r>
              <a:rPr lang="ko-KR" altLang="en-US" sz="1100" b="1" dirty="0"/>
              <a:t>유형</a:t>
            </a:r>
            <a:r>
              <a:rPr lang="en-US" altLang="ko-KR" sz="1100" b="1" dirty="0"/>
              <a:t>1)</a:t>
            </a:r>
            <a:r>
              <a:rPr lang="ko-KR" altLang="en-US" sz="1100" dirty="0"/>
              <a:t> 특허발명이 공지기술과 내재적 동일성</a:t>
            </a:r>
            <a:r>
              <a:rPr lang="en-US" altLang="ko-KR" sz="1100" dirty="0"/>
              <a:t>(</a:t>
            </a:r>
            <a:r>
              <a:rPr lang="ko-KR" altLang="en-US" sz="1100" dirty="0" err="1"/>
              <a:t>문언적</a:t>
            </a:r>
            <a:r>
              <a:rPr lang="ko-KR" altLang="en-US" sz="1100" dirty="0"/>
              <a:t> 동일</a:t>
            </a:r>
            <a:r>
              <a:rPr lang="en-US" altLang="ko-KR" sz="1100" dirty="0"/>
              <a:t>)</a:t>
            </a:r>
            <a:r>
              <a:rPr lang="ko-KR" altLang="en-US" sz="1100" dirty="0"/>
              <a:t>이 있는 경우</a:t>
            </a:r>
          </a:p>
        </p:txBody>
      </p:sp>
      <p:cxnSp>
        <p:nvCxnSpPr>
          <p:cNvPr id="79" name="직선 연결선 78"/>
          <p:cNvCxnSpPr/>
          <p:nvPr/>
        </p:nvCxnSpPr>
        <p:spPr>
          <a:xfrm flipH="1">
            <a:off x="336431" y="1403719"/>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직사각형 15"/>
          <p:cNvSpPr/>
          <p:nvPr/>
        </p:nvSpPr>
        <p:spPr>
          <a:xfrm>
            <a:off x="431800" y="1478608"/>
            <a:ext cx="4521200" cy="161172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13" name="직선 연결선 112"/>
          <p:cNvCxnSpPr/>
          <p:nvPr/>
        </p:nvCxnSpPr>
        <p:spPr>
          <a:xfrm>
            <a:off x="752475" y="4190376"/>
            <a:ext cx="401425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타원 113"/>
          <p:cNvSpPr/>
          <p:nvPr/>
        </p:nvSpPr>
        <p:spPr>
          <a:xfrm>
            <a:off x="1174640" y="410564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15" name="직사각형 114"/>
          <p:cNvSpPr/>
          <p:nvPr/>
        </p:nvSpPr>
        <p:spPr>
          <a:xfrm>
            <a:off x="743898" y="4390052"/>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a1+B </a:t>
            </a:r>
          </a:p>
          <a:p>
            <a:pPr algn="ctr"/>
            <a:r>
              <a:rPr lang="ko-KR" altLang="en-US" sz="1200" dirty="0">
                <a:solidFill>
                  <a:schemeClr val="tx1"/>
                </a:solidFill>
              </a:rPr>
              <a:t>공지</a:t>
            </a:r>
            <a:endParaRPr lang="en-US" altLang="ko-KR" sz="1200" dirty="0">
              <a:solidFill>
                <a:schemeClr val="tx1"/>
              </a:solidFill>
            </a:endParaRPr>
          </a:p>
        </p:txBody>
      </p:sp>
      <p:cxnSp>
        <p:nvCxnSpPr>
          <p:cNvPr id="116" name="직선 연결선 115"/>
          <p:cNvCxnSpPr>
            <a:stCxn id="115" idx="0"/>
            <a:endCxn id="114" idx="4"/>
          </p:cNvCxnSpPr>
          <p:nvPr/>
        </p:nvCxnSpPr>
        <p:spPr>
          <a:xfrm flipV="1">
            <a:off x="1252009" y="4266987"/>
            <a:ext cx="0" cy="1230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7" name="타원 116"/>
          <p:cNvSpPr/>
          <p:nvPr/>
        </p:nvSpPr>
        <p:spPr>
          <a:xfrm>
            <a:off x="4188780" y="410564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18" name="직사각형 117"/>
          <p:cNvSpPr/>
          <p:nvPr/>
        </p:nvSpPr>
        <p:spPr>
          <a:xfrm>
            <a:off x="3758038" y="4390052"/>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a2+B </a:t>
            </a:r>
          </a:p>
          <a:p>
            <a:pPr algn="ct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자 실시</a:t>
            </a:r>
            <a:endParaRPr lang="en-US" altLang="ko-KR" sz="1200" dirty="0">
              <a:solidFill>
                <a:schemeClr val="tx1"/>
              </a:solidFill>
            </a:endParaRPr>
          </a:p>
        </p:txBody>
      </p:sp>
      <p:cxnSp>
        <p:nvCxnSpPr>
          <p:cNvPr id="119" name="직선 연결선 118"/>
          <p:cNvCxnSpPr>
            <a:stCxn id="118" idx="0"/>
            <a:endCxn id="117" idx="4"/>
          </p:cNvCxnSpPr>
          <p:nvPr/>
        </p:nvCxnSpPr>
        <p:spPr>
          <a:xfrm flipV="1">
            <a:off x="4266149" y="4266987"/>
            <a:ext cx="0" cy="1230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0" name="타원 119"/>
          <p:cNvSpPr/>
          <p:nvPr/>
        </p:nvSpPr>
        <p:spPr>
          <a:xfrm>
            <a:off x="1868896" y="410564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21" name="직사각형 120"/>
          <p:cNvSpPr/>
          <p:nvPr/>
        </p:nvSpPr>
        <p:spPr>
          <a:xfrm>
            <a:off x="1438154" y="3585727"/>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A+B </a:t>
            </a:r>
          </a:p>
          <a:p>
            <a:pPr algn="ctr"/>
            <a:r>
              <a:rPr lang="ko-KR" altLang="en-US" sz="1200" dirty="0">
                <a:solidFill>
                  <a:schemeClr val="tx1"/>
                </a:solidFill>
              </a:rPr>
              <a:t>출원</a:t>
            </a:r>
            <a:endParaRPr lang="en-US" altLang="ko-KR" sz="1200" dirty="0">
              <a:solidFill>
                <a:schemeClr val="tx1"/>
              </a:solidFill>
            </a:endParaRPr>
          </a:p>
        </p:txBody>
      </p:sp>
      <p:cxnSp>
        <p:nvCxnSpPr>
          <p:cNvPr id="122" name="직선 연결선 121"/>
          <p:cNvCxnSpPr>
            <a:stCxn id="121" idx="2"/>
            <a:endCxn id="120" idx="0"/>
          </p:cNvCxnSpPr>
          <p:nvPr/>
        </p:nvCxnSpPr>
        <p:spPr>
          <a:xfrm>
            <a:off x="1946265" y="3968721"/>
            <a:ext cx="0" cy="1369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3" name="타원 122"/>
          <p:cNvSpPr/>
          <p:nvPr/>
        </p:nvSpPr>
        <p:spPr>
          <a:xfrm>
            <a:off x="2885118" y="410564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24" name="직사각형 123"/>
          <p:cNvSpPr/>
          <p:nvPr/>
        </p:nvSpPr>
        <p:spPr>
          <a:xfrm>
            <a:off x="2454376" y="3585727"/>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A+B </a:t>
            </a:r>
          </a:p>
          <a:p>
            <a:pPr algn="ctr"/>
            <a:r>
              <a:rPr lang="ko-KR" altLang="en-US" sz="1200" dirty="0">
                <a:solidFill>
                  <a:srgbClr val="FF0000"/>
                </a:solidFill>
              </a:rPr>
              <a:t>착오등록</a:t>
            </a:r>
            <a:endParaRPr lang="en-US" altLang="ko-KR" sz="1200" dirty="0">
              <a:solidFill>
                <a:srgbClr val="FF0000"/>
              </a:solidFill>
            </a:endParaRPr>
          </a:p>
        </p:txBody>
      </p:sp>
      <p:cxnSp>
        <p:nvCxnSpPr>
          <p:cNvPr id="125" name="직선 연결선 124"/>
          <p:cNvCxnSpPr>
            <a:stCxn id="124" idx="2"/>
            <a:endCxn id="123" idx="0"/>
          </p:cNvCxnSpPr>
          <p:nvPr/>
        </p:nvCxnSpPr>
        <p:spPr>
          <a:xfrm>
            <a:off x="2962487" y="3968721"/>
            <a:ext cx="0" cy="1369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6" name="직사각형 125"/>
          <p:cNvSpPr/>
          <p:nvPr/>
        </p:nvSpPr>
        <p:spPr>
          <a:xfrm>
            <a:off x="433503" y="3252808"/>
            <a:ext cx="4241056" cy="261610"/>
          </a:xfrm>
          <a:prstGeom prst="rect">
            <a:avLst/>
          </a:prstGeom>
          <a:solidFill>
            <a:schemeClr val="accent1">
              <a:lumMod val="20000"/>
              <a:lumOff val="80000"/>
            </a:schemeClr>
          </a:solidFill>
          <a:ln>
            <a:solidFill>
              <a:schemeClr val="bg1">
                <a:lumMod val="50000"/>
              </a:schemeClr>
            </a:solidFill>
          </a:ln>
        </p:spPr>
        <p:txBody>
          <a:bodyPr wrap="square">
            <a:spAutoFit/>
          </a:bodyPr>
          <a:lstStyle/>
          <a:p>
            <a:pPr fontAlgn="base" latinLnBrk="0"/>
            <a:r>
              <a:rPr lang="en-US" altLang="ko-KR" sz="1100" b="1" dirty="0"/>
              <a:t>(</a:t>
            </a:r>
            <a:r>
              <a:rPr lang="ko-KR" altLang="en-US" sz="1100" b="1" dirty="0"/>
              <a:t>유형</a:t>
            </a:r>
            <a:r>
              <a:rPr lang="en-US" altLang="ko-KR" sz="1100" b="1" dirty="0"/>
              <a:t>2)</a:t>
            </a:r>
            <a:r>
              <a:rPr lang="ko-KR" altLang="en-US" sz="1100" dirty="0"/>
              <a:t> 특허발명이 공지기술과 실질적 동일성이 있는 경우</a:t>
            </a:r>
          </a:p>
        </p:txBody>
      </p:sp>
      <p:cxnSp>
        <p:nvCxnSpPr>
          <p:cNvPr id="127" name="직선 연결선 126"/>
          <p:cNvCxnSpPr/>
          <p:nvPr/>
        </p:nvCxnSpPr>
        <p:spPr>
          <a:xfrm flipH="1">
            <a:off x="336431" y="3173252"/>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8" name="직사각형 127"/>
          <p:cNvSpPr/>
          <p:nvPr/>
        </p:nvSpPr>
        <p:spPr>
          <a:xfrm>
            <a:off x="431800" y="3248141"/>
            <a:ext cx="4521200" cy="161172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2" name="직사각형 141"/>
          <p:cNvSpPr/>
          <p:nvPr/>
        </p:nvSpPr>
        <p:spPr>
          <a:xfrm>
            <a:off x="433503" y="5200147"/>
            <a:ext cx="4241056" cy="261610"/>
          </a:xfrm>
          <a:prstGeom prst="rect">
            <a:avLst/>
          </a:prstGeom>
          <a:solidFill>
            <a:schemeClr val="accent1">
              <a:lumMod val="20000"/>
              <a:lumOff val="80000"/>
            </a:schemeClr>
          </a:solidFill>
          <a:ln>
            <a:solidFill>
              <a:schemeClr val="bg1">
                <a:lumMod val="50000"/>
              </a:schemeClr>
            </a:solidFill>
          </a:ln>
        </p:spPr>
        <p:txBody>
          <a:bodyPr wrap="square">
            <a:spAutoFit/>
          </a:bodyPr>
          <a:lstStyle/>
          <a:p>
            <a:pPr fontAlgn="base" latinLnBrk="0"/>
            <a:r>
              <a:rPr lang="en-US" altLang="ko-KR" sz="1100" b="1" dirty="0"/>
              <a:t>(</a:t>
            </a:r>
            <a:r>
              <a:rPr lang="ko-KR" altLang="en-US" sz="1100" b="1" dirty="0"/>
              <a:t>유형</a:t>
            </a:r>
            <a:r>
              <a:rPr lang="en-US" altLang="ko-KR" sz="1100" b="1" dirty="0"/>
              <a:t>3)</a:t>
            </a:r>
            <a:r>
              <a:rPr lang="ko-KR" altLang="en-US" sz="1100" dirty="0"/>
              <a:t> 특허발명의 구성요소 일부가 공지기술인 경우</a:t>
            </a:r>
          </a:p>
        </p:txBody>
      </p:sp>
      <p:cxnSp>
        <p:nvCxnSpPr>
          <p:cNvPr id="143" name="직선 연결선 142"/>
          <p:cNvCxnSpPr/>
          <p:nvPr/>
        </p:nvCxnSpPr>
        <p:spPr>
          <a:xfrm flipH="1">
            <a:off x="336431" y="5120591"/>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4" name="직사각형 143"/>
          <p:cNvSpPr/>
          <p:nvPr/>
        </p:nvSpPr>
        <p:spPr>
          <a:xfrm>
            <a:off x="431800" y="5195480"/>
            <a:ext cx="4521200" cy="161172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5" name="타원 144"/>
          <p:cNvSpPr/>
          <p:nvPr/>
        </p:nvSpPr>
        <p:spPr>
          <a:xfrm>
            <a:off x="3343593" y="410564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46" name="직사각형 145"/>
          <p:cNvSpPr/>
          <p:nvPr/>
        </p:nvSpPr>
        <p:spPr>
          <a:xfrm>
            <a:off x="2912851" y="4390052"/>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a1+B </a:t>
            </a:r>
          </a:p>
          <a:p>
            <a:pPr algn="ct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자 실시</a:t>
            </a:r>
            <a:endParaRPr lang="en-US" altLang="ko-KR" sz="1200" dirty="0">
              <a:solidFill>
                <a:schemeClr val="tx1"/>
              </a:solidFill>
            </a:endParaRPr>
          </a:p>
        </p:txBody>
      </p:sp>
      <p:cxnSp>
        <p:nvCxnSpPr>
          <p:cNvPr id="147" name="직선 연결선 146"/>
          <p:cNvCxnSpPr>
            <a:stCxn id="146" idx="0"/>
            <a:endCxn id="145" idx="4"/>
          </p:cNvCxnSpPr>
          <p:nvPr/>
        </p:nvCxnSpPr>
        <p:spPr>
          <a:xfrm flipV="1">
            <a:off x="3420962" y="4266987"/>
            <a:ext cx="0" cy="1230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433503" y="4868331"/>
            <a:ext cx="2138727" cy="261610"/>
          </a:xfrm>
          <a:prstGeom prst="rect">
            <a:avLst/>
          </a:prstGeom>
          <a:noFill/>
        </p:spPr>
        <p:txBody>
          <a:bodyPr wrap="none" rtlCol="0">
            <a:spAutoFit/>
          </a:bodyPr>
          <a:lstStyle/>
          <a:p>
            <a:r>
              <a:rPr lang="en-US" altLang="ko-KR" sz="1100" dirty="0"/>
              <a:t>* A</a:t>
            </a:r>
            <a:r>
              <a:rPr lang="ko-KR" altLang="en-US" sz="1100" dirty="0"/>
              <a:t>는 </a:t>
            </a:r>
            <a:r>
              <a:rPr lang="en-US" altLang="ko-KR" sz="1100" dirty="0"/>
              <a:t>a1</a:t>
            </a:r>
            <a:r>
              <a:rPr lang="ko-KR" altLang="en-US" sz="1100" dirty="0"/>
              <a:t>과 </a:t>
            </a:r>
            <a:r>
              <a:rPr lang="en-US" altLang="ko-KR" sz="1100" dirty="0"/>
              <a:t>a2</a:t>
            </a:r>
            <a:r>
              <a:rPr lang="ko-KR" altLang="en-US" sz="1100" dirty="0"/>
              <a:t>를 포괄하는 개념임</a:t>
            </a:r>
          </a:p>
        </p:txBody>
      </p:sp>
      <p:cxnSp>
        <p:nvCxnSpPr>
          <p:cNvPr id="148" name="직선 연결선 147"/>
          <p:cNvCxnSpPr/>
          <p:nvPr/>
        </p:nvCxnSpPr>
        <p:spPr>
          <a:xfrm>
            <a:off x="752475" y="6116581"/>
            <a:ext cx="4014258"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9" name="타원 148"/>
          <p:cNvSpPr/>
          <p:nvPr/>
        </p:nvSpPr>
        <p:spPr>
          <a:xfrm>
            <a:off x="1174640" y="603185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50" name="직사각형 149"/>
          <p:cNvSpPr/>
          <p:nvPr/>
        </p:nvSpPr>
        <p:spPr>
          <a:xfrm>
            <a:off x="743898" y="6316257"/>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a:t>
            </a:r>
          </a:p>
          <a:p>
            <a:pPr algn="ctr"/>
            <a:r>
              <a:rPr lang="ko-KR" altLang="en-US" sz="1200" dirty="0">
                <a:solidFill>
                  <a:schemeClr val="tx1"/>
                </a:solidFill>
              </a:rPr>
              <a:t>공지</a:t>
            </a:r>
            <a:endParaRPr lang="en-US" altLang="ko-KR" sz="1200" dirty="0">
              <a:solidFill>
                <a:schemeClr val="tx1"/>
              </a:solidFill>
            </a:endParaRPr>
          </a:p>
        </p:txBody>
      </p:sp>
      <p:cxnSp>
        <p:nvCxnSpPr>
          <p:cNvPr id="151" name="직선 연결선 150"/>
          <p:cNvCxnSpPr>
            <a:stCxn id="150" idx="0"/>
            <a:endCxn id="149" idx="4"/>
          </p:cNvCxnSpPr>
          <p:nvPr/>
        </p:nvCxnSpPr>
        <p:spPr>
          <a:xfrm flipV="1">
            <a:off x="1252009" y="6193192"/>
            <a:ext cx="0" cy="1230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2" name="타원 151"/>
          <p:cNvSpPr/>
          <p:nvPr/>
        </p:nvSpPr>
        <p:spPr>
          <a:xfrm>
            <a:off x="4188780" y="603185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53" name="직사각형 152"/>
          <p:cNvSpPr/>
          <p:nvPr/>
        </p:nvSpPr>
        <p:spPr>
          <a:xfrm>
            <a:off x="3758038" y="6316257"/>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A+B </a:t>
            </a:r>
          </a:p>
          <a:p>
            <a:pPr algn="ct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자 실시</a:t>
            </a:r>
            <a:endParaRPr lang="en-US" altLang="ko-KR" sz="1200" dirty="0">
              <a:solidFill>
                <a:schemeClr val="tx1"/>
              </a:solidFill>
            </a:endParaRPr>
          </a:p>
        </p:txBody>
      </p:sp>
      <p:cxnSp>
        <p:nvCxnSpPr>
          <p:cNvPr id="154" name="직선 연결선 153"/>
          <p:cNvCxnSpPr>
            <a:stCxn id="153" idx="0"/>
            <a:endCxn id="152" idx="4"/>
          </p:cNvCxnSpPr>
          <p:nvPr/>
        </p:nvCxnSpPr>
        <p:spPr>
          <a:xfrm flipV="1">
            <a:off x="4266149" y="6193192"/>
            <a:ext cx="0" cy="1230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5" name="타원 154"/>
          <p:cNvSpPr/>
          <p:nvPr/>
        </p:nvSpPr>
        <p:spPr>
          <a:xfrm>
            <a:off x="1868896" y="603185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56" name="직사각형 155"/>
          <p:cNvSpPr/>
          <p:nvPr/>
        </p:nvSpPr>
        <p:spPr>
          <a:xfrm>
            <a:off x="1438154" y="5511932"/>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A+B </a:t>
            </a:r>
          </a:p>
          <a:p>
            <a:pPr algn="ctr"/>
            <a:r>
              <a:rPr lang="ko-KR" altLang="en-US" sz="1200" dirty="0">
                <a:solidFill>
                  <a:schemeClr val="tx1"/>
                </a:solidFill>
              </a:rPr>
              <a:t>출원</a:t>
            </a:r>
            <a:endParaRPr lang="en-US" altLang="ko-KR" sz="1200" dirty="0">
              <a:solidFill>
                <a:schemeClr val="tx1"/>
              </a:solidFill>
            </a:endParaRPr>
          </a:p>
        </p:txBody>
      </p:sp>
      <p:cxnSp>
        <p:nvCxnSpPr>
          <p:cNvPr id="157" name="직선 연결선 156"/>
          <p:cNvCxnSpPr>
            <a:stCxn id="156" idx="2"/>
            <a:endCxn id="155" idx="0"/>
          </p:cNvCxnSpPr>
          <p:nvPr/>
        </p:nvCxnSpPr>
        <p:spPr>
          <a:xfrm>
            <a:off x="1946265" y="5894926"/>
            <a:ext cx="0" cy="1369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8" name="타원 157"/>
          <p:cNvSpPr/>
          <p:nvPr/>
        </p:nvSpPr>
        <p:spPr>
          <a:xfrm>
            <a:off x="2885118" y="603185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59" name="직사각형 158"/>
          <p:cNvSpPr/>
          <p:nvPr/>
        </p:nvSpPr>
        <p:spPr>
          <a:xfrm>
            <a:off x="2454376" y="5511932"/>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A+B </a:t>
            </a:r>
          </a:p>
          <a:p>
            <a:pPr algn="ctr"/>
            <a:r>
              <a:rPr lang="ko-KR" altLang="en-US" sz="1200" dirty="0">
                <a:solidFill>
                  <a:schemeClr val="tx1"/>
                </a:solidFill>
              </a:rPr>
              <a:t>등록</a:t>
            </a:r>
            <a:endParaRPr lang="en-US" altLang="ko-KR" sz="1200" dirty="0">
              <a:solidFill>
                <a:schemeClr val="tx1"/>
              </a:solidFill>
            </a:endParaRPr>
          </a:p>
        </p:txBody>
      </p:sp>
      <p:cxnSp>
        <p:nvCxnSpPr>
          <p:cNvPr id="160" name="직선 연결선 159"/>
          <p:cNvCxnSpPr>
            <a:stCxn id="159" idx="2"/>
            <a:endCxn id="158" idx="0"/>
          </p:cNvCxnSpPr>
          <p:nvPr/>
        </p:nvCxnSpPr>
        <p:spPr>
          <a:xfrm>
            <a:off x="2962487" y="5894926"/>
            <a:ext cx="0" cy="1369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1" name="타원 160"/>
          <p:cNvSpPr/>
          <p:nvPr/>
        </p:nvSpPr>
        <p:spPr>
          <a:xfrm>
            <a:off x="3343593" y="603185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62" name="직사각형 161"/>
          <p:cNvSpPr/>
          <p:nvPr/>
        </p:nvSpPr>
        <p:spPr>
          <a:xfrm>
            <a:off x="2912851" y="6316257"/>
            <a:ext cx="1016222" cy="3829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B </a:t>
            </a:r>
          </a:p>
          <a:p>
            <a:pPr algn="ct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자 실시</a:t>
            </a:r>
            <a:endParaRPr lang="en-US" altLang="ko-KR" sz="1200" dirty="0">
              <a:solidFill>
                <a:schemeClr val="tx1"/>
              </a:solidFill>
            </a:endParaRPr>
          </a:p>
        </p:txBody>
      </p:sp>
      <p:cxnSp>
        <p:nvCxnSpPr>
          <p:cNvPr id="163" name="직선 연결선 162"/>
          <p:cNvCxnSpPr>
            <a:stCxn id="162" idx="0"/>
            <a:endCxn id="161" idx="4"/>
          </p:cNvCxnSpPr>
          <p:nvPr/>
        </p:nvCxnSpPr>
        <p:spPr>
          <a:xfrm flipV="1">
            <a:off x="3420962" y="6193192"/>
            <a:ext cx="0" cy="1230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5710376" y="962710"/>
            <a:ext cx="1919550" cy="389513"/>
          </a:xfrm>
          <a:prstGeom prst="roundRect">
            <a:avLst>
              <a:gd name="adj" fmla="val 50000"/>
            </a:avLst>
          </a:prstGeom>
          <a:solidFill>
            <a:schemeClr val="accent4">
              <a:lumMod val="60000"/>
              <a:lumOff val="40000"/>
            </a:schemeClr>
          </a:solidFill>
          <a:ln>
            <a:solidFill>
              <a:schemeClr val="bg1">
                <a:lumMod val="50000"/>
              </a:schemeClr>
            </a:solidFill>
          </a:ln>
        </p:spPr>
        <p:txBody>
          <a:bodyPr wrap="square" tIns="0" bIns="0" rtlCol="0">
            <a:spAutoFit/>
          </a:bodyPr>
          <a:lstStyle/>
          <a:p>
            <a:r>
              <a:rPr lang="ko-KR" altLang="en-US" dirty="0"/>
              <a:t>특허요건의 판단</a:t>
            </a:r>
          </a:p>
        </p:txBody>
      </p:sp>
      <p:sp>
        <p:nvSpPr>
          <p:cNvPr id="164" name="TextBox 163"/>
          <p:cNvSpPr txBox="1"/>
          <p:nvPr/>
        </p:nvSpPr>
        <p:spPr>
          <a:xfrm>
            <a:off x="9359154" y="962710"/>
            <a:ext cx="1451171" cy="389513"/>
          </a:xfrm>
          <a:prstGeom prst="roundRect">
            <a:avLst>
              <a:gd name="adj" fmla="val 50000"/>
            </a:avLst>
          </a:prstGeom>
          <a:solidFill>
            <a:schemeClr val="accent4">
              <a:lumMod val="60000"/>
              <a:lumOff val="40000"/>
            </a:schemeClr>
          </a:solidFill>
          <a:ln>
            <a:solidFill>
              <a:schemeClr val="bg1">
                <a:lumMod val="50000"/>
              </a:schemeClr>
            </a:solidFill>
          </a:ln>
        </p:spPr>
        <p:txBody>
          <a:bodyPr wrap="square" tIns="0" bIns="0" rtlCol="0">
            <a:spAutoFit/>
          </a:bodyPr>
          <a:lstStyle/>
          <a:p>
            <a:r>
              <a:rPr lang="ko-KR" altLang="en-US" dirty="0"/>
              <a:t>침해의 판단</a:t>
            </a:r>
          </a:p>
        </p:txBody>
      </p:sp>
      <p:sp>
        <p:nvSpPr>
          <p:cNvPr id="19" name="직사각형 18"/>
          <p:cNvSpPr/>
          <p:nvPr/>
        </p:nvSpPr>
        <p:spPr>
          <a:xfrm>
            <a:off x="5046137" y="1479356"/>
            <a:ext cx="3090333" cy="830997"/>
          </a:xfrm>
          <a:prstGeom prst="rect">
            <a:avLst/>
          </a:prstGeom>
        </p:spPr>
        <p:txBody>
          <a:bodyPr wrap="square">
            <a:spAutoFit/>
          </a:bodyPr>
          <a:lstStyle/>
          <a:p>
            <a:pPr fontAlgn="base"/>
            <a:r>
              <a:rPr lang="ko-KR" altLang="en-US" sz="1600" dirty="0"/>
              <a:t>공지 </a:t>
            </a:r>
            <a:r>
              <a:rPr lang="en-US" altLang="ko-KR" sz="1600" dirty="0"/>
              <a:t>A+B</a:t>
            </a:r>
            <a:r>
              <a:rPr lang="ko-KR" altLang="en-US" sz="1600" dirty="0"/>
              <a:t>와 출원된 발명 </a:t>
            </a:r>
            <a:r>
              <a:rPr lang="en-US" altLang="ko-KR" sz="1600" dirty="0"/>
              <a:t>A+B</a:t>
            </a:r>
            <a:r>
              <a:rPr lang="ko-KR" altLang="en-US" sz="1600" dirty="0"/>
              <a:t>는 동일하기 때문에 </a:t>
            </a:r>
            <a:r>
              <a:rPr lang="ko-KR" altLang="en-US" sz="1600" dirty="0" err="1"/>
              <a:t>신규성</a:t>
            </a:r>
            <a:r>
              <a:rPr lang="ko-KR" altLang="en-US" sz="1600" dirty="0"/>
              <a:t> 위반임에도 불구하고 착오로 등록</a:t>
            </a:r>
          </a:p>
        </p:txBody>
      </p:sp>
      <p:sp>
        <p:nvSpPr>
          <p:cNvPr id="28" name="직사각형 27"/>
          <p:cNvSpPr/>
          <p:nvPr/>
        </p:nvSpPr>
        <p:spPr>
          <a:xfrm>
            <a:off x="5046136" y="3198972"/>
            <a:ext cx="3090333" cy="830997"/>
          </a:xfrm>
          <a:prstGeom prst="rect">
            <a:avLst/>
          </a:prstGeom>
        </p:spPr>
        <p:txBody>
          <a:bodyPr wrap="square">
            <a:spAutoFit/>
          </a:bodyPr>
          <a:lstStyle/>
          <a:p>
            <a:pPr fontAlgn="base"/>
            <a:r>
              <a:rPr lang="ko-KR" altLang="en-US" sz="1600" dirty="0"/>
              <a:t>공지 </a:t>
            </a:r>
            <a:r>
              <a:rPr lang="en-US" altLang="ko-KR" sz="1600" dirty="0"/>
              <a:t>a1+B</a:t>
            </a:r>
            <a:r>
              <a:rPr lang="ko-KR" altLang="en-US" sz="1600" dirty="0"/>
              <a:t>와 출원된 발명 </a:t>
            </a:r>
            <a:r>
              <a:rPr lang="en-US" altLang="ko-KR" sz="1600" dirty="0"/>
              <a:t>A+B</a:t>
            </a:r>
            <a:r>
              <a:rPr lang="ko-KR" altLang="en-US" sz="1600" dirty="0"/>
              <a:t>는 동일하기 때문에 </a:t>
            </a:r>
            <a:r>
              <a:rPr lang="ko-KR" altLang="en-US" sz="1600" dirty="0" err="1"/>
              <a:t>신규성</a:t>
            </a:r>
            <a:r>
              <a:rPr lang="ko-KR" altLang="en-US" sz="1600" dirty="0"/>
              <a:t> 위반임에도 불구하고 착오로 등록</a:t>
            </a:r>
          </a:p>
        </p:txBody>
      </p:sp>
      <p:sp>
        <p:nvSpPr>
          <p:cNvPr id="29" name="직사각형 28"/>
          <p:cNvSpPr/>
          <p:nvPr/>
        </p:nvSpPr>
        <p:spPr>
          <a:xfrm>
            <a:off x="5037670" y="5129941"/>
            <a:ext cx="3098799" cy="1077218"/>
          </a:xfrm>
          <a:prstGeom prst="rect">
            <a:avLst/>
          </a:prstGeom>
        </p:spPr>
        <p:txBody>
          <a:bodyPr wrap="square">
            <a:spAutoFit/>
          </a:bodyPr>
          <a:lstStyle/>
          <a:p>
            <a:pPr fontAlgn="base"/>
            <a:r>
              <a:rPr lang="ko-KR" altLang="en-US" sz="1600" dirty="0"/>
              <a:t>공지 </a:t>
            </a:r>
            <a:r>
              <a:rPr lang="en-US" altLang="ko-KR" sz="1600" dirty="0"/>
              <a:t>A</a:t>
            </a:r>
            <a:r>
              <a:rPr lang="ko-KR" altLang="en-US" sz="1600" dirty="0"/>
              <a:t>와 출원된 발명 </a:t>
            </a:r>
            <a:r>
              <a:rPr lang="en-US" altLang="ko-KR" sz="1600" dirty="0"/>
              <a:t>A+B</a:t>
            </a:r>
            <a:r>
              <a:rPr lang="ko-KR" altLang="en-US" sz="1600" dirty="0"/>
              <a:t>는 동일하지 않기 때문에 </a:t>
            </a:r>
            <a:r>
              <a:rPr lang="ko-KR" altLang="en-US" sz="1600" dirty="0" err="1"/>
              <a:t>신규성</a:t>
            </a:r>
            <a:r>
              <a:rPr lang="ko-KR" altLang="en-US" sz="1600" dirty="0"/>
              <a:t> 위반이 아니고</a:t>
            </a:r>
            <a:r>
              <a:rPr lang="en-US" altLang="ko-KR" sz="1600" dirty="0"/>
              <a:t>, </a:t>
            </a:r>
            <a:r>
              <a:rPr lang="ko-KR" altLang="en-US" sz="1600" dirty="0"/>
              <a:t>만약 </a:t>
            </a:r>
            <a:r>
              <a:rPr lang="en-US" altLang="ko-KR" sz="1600" dirty="0"/>
              <a:t>A+B</a:t>
            </a:r>
            <a:r>
              <a:rPr lang="ko-KR" altLang="en-US" sz="1600" dirty="0"/>
              <a:t>가 </a:t>
            </a:r>
            <a:r>
              <a:rPr lang="en-US" altLang="ko-KR" sz="1600" dirty="0"/>
              <a:t>A</a:t>
            </a:r>
            <a:r>
              <a:rPr lang="ko-KR" altLang="en-US" sz="1600" dirty="0"/>
              <a:t>로부터 용이하지 않다면 </a:t>
            </a:r>
            <a:r>
              <a:rPr lang="ko-KR" altLang="en-US" sz="1600" dirty="0" err="1"/>
              <a:t>등록가능함</a:t>
            </a:r>
            <a:r>
              <a:rPr lang="ko-KR" altLang="en-US" sz="1600" dirty="0"/>
              <a:t> </a:t>
            </a:r>
          </a:p>
        </p:txBody>
      </p:sp>
      <p:cxnSp>
        <p:nvCxnSpPr>
          <p:cNvPr id="166" name="직선 연결선 165"/>
          <p:cNvCxnSpPr/>
          <p:nvPr/>
        </p:nvCxnSpPr>
        <p:spPr>
          <a:xfrm>
            <a:off x="8255000" y="922870"/>
            <a:ext cx="0" cy="588433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7" name="직선 연결선 166"/>
          <p:cNvCxnSpPr/>
          <p:nvPr/>
        </p:nvCxnSpPr>
        <p:spPr>
          <a:xfrm>
            <a:off x="5029203" y="922870"/>
            <a:ext cx="0" cy="588433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8" name="직사각형 167"/>
          <p:cNvSpPr/>
          <p:nvPr/>
        </p:nvSpPr>
        <p:spPr>
          <a:xfrm>
            <a:off x="8348137" y="1479356"/>
            <a:ext cx="3487305" cy="830997"/>
          </a:xfrm>
          <a:prstGeom prst="rect">
            <a:avLst/>
          </a:prstGeom>
        </p:spPr>
        <p:txBody>
          <a:bodyPr wrap="square">
            <a:spAutoFit/>
          </a:bodyPr>
          <a:lstStyle/>
          <a:p>
            <a:pPr fontAlgn="base"/>
            <a:r>
              <a:rPr lang="ko-KR" altLang="en-US" sz="1600" dirty="0"/>
              <a:t>특허취소신청이나 특허무효심판과 관계없이 제</a:t>
            </a:r>
            <a:r>
              <a:rPr lang="en-US" altLang="ko-KR" sz="1600" dirty="0"/>
              <a:t>3</a:t>
            </a:r>
            <a:r>
              <a:rPr lang="ko-KR" altLang="en-US" sz="1600" dirty="0"/>
              <a:t>자의 </a:t>
            </a:r>
            <a:r>
              <a:rPr lang="en-US" altLang="ko-KR" sz="1600" dirty="0"/>
              <a:t>A+B </a:t>
            </a:r>
            <a:r>
              <a:rPr lang="ko-KR" altLang="en-US" sz="1600" dirty="0"/>
              <a:t>실시에 대해서 권리범위를 불인정 </a:t>
            </a:r>
          </a:p>
        </p:txBody>
      </p:sp>
      <p:sp>
        <p:nvSpPr>
          <p:cNvPr id="170" name="직사각형 169"/>
          <p:cNvSpPr/>
          <p:nvPr/>
        </p:nvSpPr>
        <p:spPr>
          <a:xfrm>
            <a:off x="8348137" y="3206188"/>
            <a:ext cx="3487305" cy="1815882"/>
          </a:xfrm>
          <a:prstGeom prst="rect">
            <a:avLst/>
          </a:prstGeom>
        </p:spPr>
        <p:txBody>
          <a:bodyPr wrap="square">
            <a:spAutoFit/>
          </a:bodyPr>
          <a:lstStyle/>
          <a:p>
            <a:pPr fontAlgn="base"/>
            <a:r>
              <a:rPr lang="ko-KR" altLang="en-US" sz="1600" dirty="0"/>
              <a:t>특허취소신청이나 특허무효심판과 관계없이 제</a:t>
            </a:r>
            <a:r>
              <a:rPr lang="en-US" altLang="ko-KR" sz="1600" dirty="0"/>
              <a:t>3</a:t>
            </a:r>
            <a:r>
              <a:rPr lang="ko-KR" altLang="en-US" sz="1600" dirty="0"/>
              <a:t>자의 </a:t>
            </a:r>
            <a:r>
              <a:rPr lang="en-US" altLang="ko-KR" sz="1600" dirty="0"/>
              <a:t>a1+B </a:t>
            </a:r>
            <a:r>
              <a:rPr lang="ko-KR" altLang="en-US" sz="1600" dirty="0"/>
              <a:t>실시에 대해서 권리범위를 불인정</a:t>
            </a:r>
            <a:r>
              <a:rPr lang="en-US" altLang="ko-KR" sz="1600" dirty="0"/>
              <a:t>. a2+B </a:t>
            </a:r>
            <a:r>
              <a:rPr lang="ko-KR" altLang="en-US" sz="1600" dirty="0"/>
              <a:t>실시에 대해서는 </a:t>
            </a:r>
            <a:r>
              <a:rPr lang="ko-KR" altLang="en-US" sz="1600" dirty="0">
                <a:solidFill>
                  <a:srgbClr val="FF0000"/>
                </a:solidFill>
              </a:rPr>
              <a:t>권리범위를 </a:t>
            </a:r>
            <a:r>
              <a:rPr lang="ko-KR" altLang="en-US" sz="1600" dirty="0" err="1">
                <a:solidFill>
                  <a:srgbClr val="FF0000"/>
                </a:solidFill>
              </a:rPr>
              <a:t>불인정하되</a:t>
            </a:r>
            <a:r>
              <a:rPr lang="en-US" altLang="ko-KR" sz="1600" dirty="0">
                <a:solidFill>
                  <a:srgbClr val="FF0000"/>
                </a:solidFill>
              </a:rPr>
              <a:t>, </a:t>
            </a:r>
            <a:r>
              <a:rPr lang="ko-KR" altLang="en-US" sz="1600" dirty="0">
                <a:solidFill>
                  <a:srgbClr val="FF0000"/>
                </a:solidFill>
              </a:rPr>
              <a:t>특허권자가 정정</a:t>
            </a:r>
            <a:r>
              <a:rPr lang="en-US" altLang="ko-KR" sz="1600" dirty="0">
                <a:solidFill>
                  <a:srgbClr val="FF0000"/>
                </a:solidFill>
              </a:rPr>
              <a:t>(</a:t>
            </a:r>
            <a:r>
              <a:rPr lang="ko-KR" altLang="en-US" sz="1600" dirty="0">
                <a:solidFill>
                  <a:srgbClr val="FF0000"/>
                </a:solidFill>
              </a:rPr>
              <a:t>심판</a:t>
            </a:r>
            <a:r>
              <a:rPr lang="en-US" altLang="ko-KR" sz="1600" dirty="0">
                <a:solidFill>
                  <a:srgbClr val="FF0000"/>
                </a:solidFill>
              </a:rPr>
              <a:t>)</a:t>
            </a:r>
            <a:r>
              <a:rPr lang="ko-KR" altLang="en-US" sz="1600" dirty="0">
                <a:solidFill>
                  <a:srgbClr val="FF0000"/>
                </a:solidFill>
              </a:rPr>
              <a:t>청구를 통해 취소사유</a:t>
            </a:r>
            <a:r>
              <a:rPr lang="en-US" altLang="ko-KR" sz="1600" dirty="0">
                <a:solidFill>
                  <a:srgbClr val="FF0000"/>
                </a:solidFill>
              </a:rPr>
              <a:t>, </a:t>
            </a:r>
            <a:r>
              <a:rPr lang="ko-KR" altLang="en-US" sz="1600" dirty="0">
                <a:solidFill>
                  <a:srgbClr val="FF0000"/>
                </a:solidFill>
              </a:rPr>
              <a:t>무효사유를 극복한 경우에</a:t>
            </a:r>
            <a:r>
              <a:rPr lang="en-US" altLang="ko-KR" sz="1600" dirty="0">
                <a:solidFill>
                  <a:srgbClr val="FF0000"/>
                </a:solidFill>
              </a:rPr>
              <a:t> </a:t>
            </a:r>
            <a:r>
              <a:rPr lang="ko-KR" altLang="en-US" sz="1600" dirty="0">
                <a:solidFill>
                  <a:srgbClr val="FF0000"/>
                </a:solidFill>
              </a:rPr>
              <a:t>권리범위를 인정하는 것이 타당</a:t>
            </a:r>
          </a:p>
        </p:txBody>
      </p:sp>
      <p:sp>
        <p:nvSpPr>
          <p:cNvPr id="171" name="직사각형 170"/>
          <p:cNvSpPr/>
          <p:nvPr/>
        </p:nvSpPr>
        <p:spPr>
          <a:xfrm>
            <a:off x="8348137" y="5136588"/>
            <a:ext cx="3487305" cy="830997"/>
          </a:xfrm>
          <a:prstGeom prst="rect">
            <a:avLst/>
          </a:prstGeom>
        </p:spPr>
        <p:txBody>
          <a:bodyPr wrap="square">
            <a:spAutoFit/>
          </a:bodyPr>
          <a:lstStyle/>
          <a:p>
            <a:pPr fontAlgn="base"/>
            <a:r>
              <a:rPr lang="ko-KR" altLang="en-US" sz="1600" dirty="0"/>
              <a:t>구성요소완비의 원칙에 따라 제</a:t>
            </a:r>
            <a:r>
              <a:rPr lang="en-US" altLang="ko-KR" sz="1600" dirty="0"/>
              <a:t>3</a:t>
            </a:r>
            <a:r>
              <a:rPr lang="ko-KR" altLang="en-US" sz="1600" dirty="0"/>
              <a:t>자의 </a:t>
            </a:r>
            <a:r>
              <a:rPr lang="en-US" altLang="ko-KR" sz="1600" dirty="0"/>
              <a:t>B </a:t>
            </a:r>
            <a:r>
              <a:rPr lang="ko-KR" altLang="en-US" sz="1600" dirty="0"/>
              <a:t>실시는 권리범위에 속하지 않으나</a:t>
            </a:r>
            <a:r>
              <a:rPr lang="en-US" altLang="ko-KR" sz="1600" dirty="0"/>
              <a:t>, A+B </a:t>
            </a:r>
            <a:r>
              <a:rPr lang="ko-KR" altLang="en-US" sz="1600" dirty="0"/>
              <a:t>실시는 권리범위에 속함</a:t>
            </a:r>
          </a:p>
        </p:txBody>
      </p:sp>
      <p:sp>
        <p:nvSpPr>
          <p:cNvPr id="172" name="TextBox 171"/>
          <p:cNvSpPr txBox="1"/>
          <p:nvPr/>
        </p:nvSpPr>
        <p:spPr>
          <a:xfrm>
            <a:off x="1900113" y="962710"/>
            <a:ext cx="1222184" cy="389513"/>
          </a:xfrm>
          <a:prstGeom prst="roundRect">
            <a:avLst>
              <a:gd name="adj" fmla="val 50000"/>
            </a:avLst>
          </a:prstGeom>
          <a:solidFill>
            <a:schemeClr val="bg2">
              <a:lumMod val="25000"/>
            </a:schemeClr>
          </a:solidFill>
          <a:ln>
            <a:solidFill>
              <a:schemeClr val="bg1">
                <a:lumMod val="50000"/>
              </a:schemeClr>
            </a:solidFill>
          </a:ln>
        </p:spPr>
        <p:txBody>
          <a:bodyPr wrap="none" tIns="0" bIns="0" rtlCol="0">
            <a:spAutoFit/>
          </a:bodyPr>
          <a:lstStyle/>
          <a:p>
            <a:pPr algn="dist"/>
            <a:r>
              <a:rPr lang="ko-KR" altLang="en-US" dirty="0">
                <a:solidFill>
                  <a:schemeClr val="accent4"/>
                </a:solidFill>
              </a:rPr>
              <a:t>유        형</a:t>
            </a:r>
          </a:p>
        </p:txBody>
      </p:sp>
    </p:spTree>
    <p:extLst>
      <p:ext uri="{BB962C8B-B14F-4D97-AF65-F5344CB8AC3E}">
        <p14:creationId xmlns:p14="http://schemas.microsoft.com/office/powerpoint/2010/main" val="761006106"/>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F6FE51-D1BE-CFFA-9294-F732D92AAB07}"/>
            </a:ext>
          </a:extLst>
        </p:cNvPr>
        <p:cNvGrpSpPr/>
        <p:nvPr/>
      </p:nvGrpSpPr>
      <p:grpSpPr>
        <a:xfrm>
          <a:off x="0" y="0"/>
          <a:ext cx="0" cy="0"/>
          <a:chOff x="0" y="0"/>
          <a:chExt cx="0" cy="0"/>
        </a:xfrm>
      </p:grpSpPr>
      <p:cxnSp>
        <p:nvCxnSpPr>
          <p:cNvPr id="16" name="직선 화살표 연결선 15">
            <a:extLst>
              <a:ext uri="{FF2B5EF4-FFF2-40B4-BE49-F238E27FC236}">
                <a16:creationId xmlns:a16="http://schemas.microsoft.com/office/drawing/2014/main" id="{871BBB0C-E38A-D865-2024-7F1EE43250A6}"/>
              </a:ext>
            </a:extLst>
          </p:cNvPr>
          <p:cNvCxnSpPr>
            <a:cxnSpLocks/>
          </p:cNvCxnSpPr>
          <p:nvPr/>
        </p:nvCxnSpPr>
        <p:spPr>
          <a:xfrm>
            <a:off x="286871" y="3636204"/>
            <a:ext cx="11320842" cy="0"/>
          </a:xfrm>
          <a:prstGeom prst="straightConnector1">
            <a:avLst/>
          </a:prstGeom>
          <a:ln w="38100">
            <a:solidFill>
              <a:schemeClr val="tx1">
                <a:lumMod val="85000"/>
                <a:lumOff val="15000"/>
              </a:schemeClr>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5A963973-D300-97DD-B6F3-99542B0FBB27}"/>
              </a:ext>
            </a:extLst>
          </p:cNvPr>
          <p:cNvSpPr txBox="1"/>
          <p:nvPr/>
        </p:nvSpPr>
        <p:spPr>
          <a:xfrm>
            <a:off x="1333624" y="3067722"/>
            <a:ext cx="829074"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accent4"/>
                </a:solidFill>
                <a:latin typeface="+mn-ea"/>
              </a:rPr>
              <a:t>공지기술</a:t>
            </a:r>
            <a:r>
              <a:rPr lang="en-US" altLang="ko-KR" sz="1200" dirty="0">
                <a:solidFill>
                  <a:schemeClr val="accent4"/>
                </a:solidFill>
                <a:latin typeface="+mn-ea"/>
              </a:rPr>
              <a:t>2</a:t>
            </a:r>
            <a:endParaRPr lang="ko-KR" altLang="en-US" sz="1200" dirty="0">
              <a:solidFill>
                <a:schemeClr val="accent4"/>
              </a:solidFill>
              <a:latin typeface="+mn-ea"/>
            </a:endParaRPr>
          </a:p>
        </p:txBody>
      </p:sp>
      <p:sp>
        <p:nvSpPr>
          <p:cNvPr id="28" name="TextBox 27">
            <a:extLst>
              <a:ext uri="{FF2B5EF4-FFF2-40B4-BE49-F238E27FC236}">
                <a16:creationId xmlns:a16="http://schemas.microsoft.com/office/drawing/2014/main" id="{49DA9BBC-8F1C-21AF-1714-406A96F1CF38}"/>
              </a:ext>
            </a:extLst>
          </p:cNvPr>
          <p:cNvSpPr txBox="1"/>
          <p:nvPr/>
        </p:nvSpPr>
        <p:spPr>
          <a:xfrm>
            <a:off x="4916692" y="3897120"/>
            <a:ext cx="460382"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accent4"/>
                </a:solidFill>
                <a:latin typeface="+mn-ea"/>
              </a:rPr>
              <a:t>실시</a:t>
            </a:r>
          </a:p>
        </p:txBody>
      </p:sp>
      <p:sp>
        <p:nvSpPr>
          <p:cNvPr id="31" name="타원 30">
            <a:extLst>
              <a:ext uri="{FF2B5EF4-FFF2-40B4-BE49-F238E27FC236}">
                <a16:creationId xmlns:a16="http://schemas.microsoft.com/office/drawing/2014/main" id="{AC707DB9-456F-E437-F2FE-F8413584E2AB}"/>
              </a:ext>
            </a:extLst>
          </p:cNvPr>
          <p:cNvSpPr/>
          <p:nvPr/>
        </p:nvSpPr>
        <p:spPr>
          <a:xfrm>
            <a:off x="1670791" y="3555535"/>
            <a:ext cx="154738" cy="161338"/>
          </a:xfrm>
          <a:prstGeom prst="ellipse">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 name="직선 연결선 3">
            <a:extLst>
              <a:ext uri="{FF2B5EF4-FFF2-40B4-BE49-F238E27FC236}">
                <a16:creationId xmlns:a16="http://schemas.microsoft.com/office/drawing/2014/main" id="{F7879CB7-70A5-8BB3-D0C0-51956BF376FE}"/>
              </a:ext>
            </a:extLst>
          </p:cNvPr>
          <p:cNvCxnSpPr>
            <a:stCxn id="21" idx="2"/>
            <a:endCxn id="31" idx="0"/>
          </p:cNvCxnSpPr>
          <p:nvPr/>
        </p:nvCxnSpPr>
        <p:spPr>
          <a:xfrm flipH="1">
            <a:off x="1748160" y="3344721"/>
            <a:ext cx="1" cy="21081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E5848AC9-EAFA-E9D6-941F-A479A609E1BA}"/>
              </a:ext>
            </a:extLst>
          </p:cNvPr>
          <p:cNvSpPr txBox="1"/>
          <p:nvPr/>
        </p:nvSpPr>
        <p:spPr>
          <a:xfrm>
            <a:off x="2409987" y="3067722"/>
            <a:ext cx="919212"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accent4"/>
                </a:solidFill>
                <a:latin typeface="+mn-ea"/>
              </a:rPr>
              <a:t>특허출원</a:t>
            </a:r>
          </a:p>
        </p:txBody>
      </p:sp>
      <p:sp>
        <p:nvSpPr>
          <p:cNvPr id="43" name="타원 42">
            <a:extLst>
              <a:ext uri="{FF2B5EF4-FFF2-40B4-BE49-F238E27FC236}">
                <a16:creationId xmlns:a16="http://schemas.microsoft.com/office/drawing/2014/main" id="{8F5B1B7D-A839-613D-7222-76E645DA8E42}"/>
              </a:ext>
            </a:extLst>
          </p:cNvPr>
          <p:cNvSpPr/>
          <p:nvPr/>
        </p:nvSpPr>
        <p:spPr>
          <a:xfrm>
            <a:off x="2792222" y="355553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4" name="직선 연결선 43">
            <a:extLst>
              <a:ext uri="{FF2B5EF4-FFF2-40B4-BE49-F238E27FC236}">
                <a16:creationId xmlns:a16="http://schemas.microsoft.com/office/drawing/2014/main" id="{6EA69848-10E8-6829-1D66-E6AB1455DF18}"/>
              </a:ext>
            </a:extLst>
          </p:cNvPr>
          <p:cNvCxnSpPr>
            <a:cxnSpLocks/>
            <a:stCxn id="42" idx="2"/>
            <a:endCxn id="43" idx="0"/>
          </p:cNvCxnSpPr>
          <p:nvPr/>
        </p:nvCxnSpPr>
        <p:spPr>
          <a:xfrm flipH="1">
            <a:off x="2869591" y="3344721"/>
            <a:ext cx="2" cy="21081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8EC80E02-276F-957E-DD72-D5AA1331AC1B}"/>
              </a:ext>
            </a:extLst>
          </p:cNvPr>
          <p:cNvSpPr txBox="1"/>
          <p:nvPr/>
        </p:nvSpPr>
        <p:spPr>
          <a:xfrm>
            <a:off x="3788573" y="3067722"/>
            <a:ext cx="460382"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accent4"/>
                </a:solidFill>
                <a:latin typeface="+mn-ea"/>
              </a:rPr>
              <a:t>등록</a:t>
            </a:r>
          </a:p>
        </p:txBody>
      </p:sp>
      <p:sp>
        <p:nvSpPr>
          <p:cNvPr id="46" name="타원 45">
            <a:extLst>
              <a:ext uri="{FF2B5EF4-FFF2-40B4-BE49-F238E27FC236}">
                <a16:creationId xmlns:a16="http://schemas.microsoft.com/office/drawing/2014/main" id="{7C080C55-C3A7-F6E0-F8DF-12D607085848}"/>
              </a:ext>
            </a:extLst>
          </p:cNvPr>
          <p:cNvSpPr/>
          <p:nvPr/>
        </p:nvSpPr>
        <p:spPr>
          <a:xfrm>
            <a:off x="3941395" y="355553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7" name="직선 연결선 46">
            <a:extLst>
              <a:ext uri="{FF2B5EF4-FFF2-40B4-BE49-F238E27FC236}">
                <a16:creationId xmlns:a16="http://schemas.microsoft.com/office/drawing/2014/main" id="{B0ACFA23-F08A-98DF-92D3-9684C4AD573D}"/>
              </a:ext>
            </a:extLst>
          </p:cNvPr>
          <p:cNvCxnSpPr>
            <a:stCxn id="45" idx="2"/>
            <a:endCxn id="46" idx="0"/>
          </p:cNvCxnSpPr>
          <p:nvPr/>
        </p:nvCxnSpPr>
        <p:spPr>
          <a:xfrm>
            <a:off x="4018764" y="3344721"/>
            <a:ext cx="0" cy="21081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타원 47">
            <a:extLst>
              <a:ext uri="{FF2B5EF4-FFF2-40B4-BE49-F238E27FC236}">
                <a16:creationId xmlns:a16="http://schemas.microsoft.com/office/drawing/2014/main" id="{B511C078-99BD-03B3-802B-FE5F32BB9A7F}"/>
              </a:ext>
            </a:extLst>
          </p:cNvPr>
          <p:cNvSpPr/>
          <p:nvPr/>
        </p:nvSpPr>
        <p:spPr>
          <a:xfrm>
            <a:off x="5069514" y="3555535"/>
            <a:ext cx="154738" cy="161338"/>
          </a:xfrm>
          <a:prstGeom prst="ellipse">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9" name="직선 연결선 48">
            <a:extLst>
              <a:ext uri="{FF2B5EF4-FFF2-40B4-BE49-F238E27FC236}">
                <a16:creationId xmlns:a16="http://schemas.microsoft.com/office/drawing/2014/main" id="{FA4BF997-1D61-D47B-FB32-A0E168FA6927}"/>
              </a:ext>
            </a:extLst>
          </p:cNvPr>
          <p:cNvCxnSpPr>
            <a:stCxn id="28" idx="0"/>
            <a:endCxn id="48" idx="4"/>
          </p:cNvCxnSpPr>
          <p:nvPr/>
        </p:nvCxnSpPr>
        <p:spPr>
          <a:xfrm flipV="1">
            <a:off x="5146883" y="3716873"/>
            <a:ext cx="0" cy="18024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F1F0BC0A-C712-7CF2-087F-25A499D21DE4}"/>
              </a:ext>
            </a:extLst>
          </p:cNvPr>
          <p:cNvSpPr txBox="1"/>
          <p:nvPr/>
        </p:nvSpPr>
        <p:spPr>
          <a:xfrm>
            <a:off x="9416723" y="3067722"/>
            <a:ext cx="736099"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accent4"/>
                </a:solidFill>
                <a:latin typeface="+mn-ea"/>
              </a:rPr>
              <a:t>침해소송</a:t>
            </a:r>
            <a:endParaRPr lang="en-US" altLang="ko-KR" sz="1200" dirty="0">
              <a:solidFill>
                <a:schemeClr val="accent4"/>
              </a:solidFill>
              <a:latin typeface="+mn-ea"/>
            </a:endParaRPr>
          </a:p>
        </p:txBody>
      </p:sp>
      <p:sp>
        <p:nvSpPr>
          <p:cNvPr id="51" name="타원 50">
            <a:extLst>
              <a:ext uri="{FF2B5EF4-FFF2-40B4-BE49-F238E27FC236}">
                <a16:creationId xmlns:a16="http://schemas.microsoft.com/office/drawing/2014/main" id="{7CC2FEF4-CAA1-1A8E-0BC2-C4D214D7DCEE}"/>
              </a:ext>
            </a:extLst>
          </p:cNvPr>
          <p:cNvSpPr/>
          <p:nvPr/>
        </p:nvSpPr>
        <p:spPr>
          <a:xfrm>
            <a:off x="9707400" y="355553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2" name="직선 연결선 51">
            <a:extLst>
              <a:ext uri="{FF2B5EF4-FFF2-40B4-BE49-F238E27FC236}">
                <a16:creationId xmlns:a16="http://schemas.microsoft.com/office/drawing/2014/main" id="{C3D1BC98-4A2C-9BE1-3E96-2E2F3A4146FC}"/>
              </a:ext>
            </a:extLst>
          </p:cNvPr>
          <p:cNvCxnSpPr>
            <a:stCxn id="50" idx="2"/>
            <a:endCxn id="51" idx="0"/>
          </p:cNvCxnSpPr>
          <p:nvPr/>
        </p:nvCxnSpPr>
        <p:spPr>
          <a:xfrm flipH="1">
            <a:off x="9784769" y="3344721"/>
            <a:ext cx="4" cy="21081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제목 9">
            <a:extLst>
              <a:ext uri="{FF2B5EF4-FFF2-40B4-BE49-F238E27FC236}">
                <a16:creationId xmlns:a16="http://schemas.microsoft.com/office/drawing/2014/main" id="{6B465A78-9C01-75E9-7937-6CC591017CAB}"/>
              </a:ext>
            </a:extLst>
          </p:cNvPr>
          <p:cNvSpPr>
            <a:spLocks noGrp="1"/>
          </p:cNvSpPr>
          <p:nvPr>
            <p:ph type="title"/>
          </p:nvPr>
        </p:nvSpPr>
        <p:spPr/>
        <p:txBody>
          <a:bodyPr/>
          <a:lstStyle/>
          <a:p>
            <a:r>
              <a:rPr lang="ko-KR" altLang="en-US" dirty="0"/>
              <a:t>제</a:t>
            </a:r>
            <a:r>
              <a:rPr lang="en-US" altLang="ko-KR" dirty="0"/>
              <a:t>94</a:t>
            </a:r>
            <a:r>
              <a:rPr lang="ko-KR" altLang="en-US" dirty="0"/>
              <a:t>조</a:t>
            </a:r>
            <a:r>
              <a:rPr lang="en-US" altLang="ko-KR" dirty="0"/>
              <a:t>~</a:t>
            </a:r>
            <a:r>
              <a:rPr lang="ko-KR" altLang="en-US" dirty="0"/>
              <a:t>제</a:t>
            </a:r>
            <a:r>
              <a:rPr lang="en-US" altLang="ko-KR" dirty="0"/>
              <a:t>96</a:t>
            </a:r>
            <a:r>
              <a:rPr lang="ko-KR" altLang="en-US" dirty="0"/>
              <a:t>조</a:t>
            </a:r>
          </a:p>
        </p:txBody>
      </p:sp>
      <p:sp>
        <p:nvSpPr>
          <p:cNvPr id="11" name="텍스트 개체 틀 10">
            <a:extLst>
              <a:ext uri="{FF2B5EF4-FFF2-40B4-BE49-F238E27FC236}">
                <a16:creationId xmlns:a16="http://schemas.microsoft.com/office/drawing/2014/main" id="{944263F4-262D-35F9-B032-D307C19F83D7}"/>
              </a:ext>
            </a:extLst>
          </p:cNvPr>
          <p:cNvSpPr>
            <a:spLocks noGrp="1"/>
          </p:cNvSpPr>
          <p:nvPr>
            <p:ph type="body" sz="quarter" idx="13"/>
          </p:nvPr>
        </p:nvSpPr>
        <p:spPr/>
        <p:txBody>
          <a:bodyPr/>
          <a:lstStyle/>
          <a:p>
            <a:r>
              <a:rPr lang="ko-KR" altLang="en-US" dirty="0"/>
              <a:t>자유기술의 항변 개괄</a:t>
            </a:r>
          </a:p>
        </p:txBody>
      </p:sp>
      <p:sp>
        <p:nvSpPr>
          <p:cNvPr id="2" name="슬라이드 번호 개체 틀 1">
            <a:extLst>
              <a:ext uri="{FF2B5EF4-FFF2-40B4-BE49-F238E27FC236}">
                <a16:creationId xmlns:a16="http://schemas.microsoft.com/office/drawing/2014/main" id="{3187BB24-BBD3-0EFA-6CDD-1CF8361B7D18}"/>
              </a:ext>
            </a:extLst>
          </p:cNvPr>
          <p:cNvSpPr>
            <a:spLocks noGrp="1"/>
          </p:cNvSpPr>
          <p:nvPr>
            <p:ph type="sldNum" sz="quarter" idx="4294967295"/>
          </p:nvPr>
        </p:nvSpPr>
        <p:spPr>
          <a:xfrm>
            <a:off x="11125200" y="0"/>
            <a:ext cx="1066800" cy="744538"/>
          </a:xfrm>
        </p:spPr>
        <p:txBody>
          <a:bodyPr/>
          <a:lstStyle/>
          <a:p>
            <a:r>
              <a:rPr lang="en-US" altLang="ko-KR"/>
              <a:t>316</a:t>
            </a:r>
            <a:endParaRPr lang="ko-KR" altLang="en-US"/>
          </a:p>
        </p:txBody>
      </p:sp>
      <p:sp>
        <p:nvSpPr>
          <p:cNvPr id="7" name="TextBox 6">
            <a:extLst>
              <a:ext uri="{FF2B5EF4-FFF2-40B4-BE49-F238E27FC236}">
                <a16:creationId xmlns:a16="http://schemas.microsoft.com/office/drawing/2014/main" id="{215CEB84-A42D-7820-D500-5324B85AA312}"/>
              </a:ext>
            </a:extLst>
          </p:cNvPr>
          <p:cNvSpPr txBox="1"/>
          <p:nvPr/>
        </p:nvSpPr>
        <p:spPr>
          <a:xfrm>
            <a:off x="8461335" y="2743159"/>
            <a:ext cx="2646879" cy="253916"/>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050" dirty="0">
                <a:solidFill>
                  <a:schemeClr val="tx2"/>
                </a:solidFill>
                <a:latin typeface="+mn-ea"/>
              </a:rPr>
              <a:t>피고제품을 아이폰 </a:t>
            </a:r>
            <a:r>
              <a:rPr lang="en-US" altLang="ko-KR" sz="1050" dirty="0">
                <a:solidFill>
                  <a:schemeClr val="tx2"/>
                </a:solidFill>
                <a:latin typeface="+mn-ea"/>
              </a:rPr>
              <a:t>16</a:t>
            </a:r>
            <a:r>
              <a:rPr lang="ko-KR" altLang="en-US" sz="1050" dirty="0">
                <a:solidFill>
                  <a:schemeClr val="tx2"/>
                </a:solidFill>
                <a:latin typeface="+mn-ea"/>
              </a:rPr>
              <a:t>의 </a:t>
            </a:r>
            <a:r>
              <a:rPr lang="en-US" altLang="ko-KR" sz="1050" dirty="0" err="1">
                <a:solidFill>
                  <a:schemeClr val="tx2"/>
                </a:solidFill>
                <a:latin typeface="+mn-ea"/>
              </a:rPr>
              <a:t>a+b+c2+d</a:t>
            </a:r>
            <a:r>
              <a:rPr lang="ko-KR" altLang="en-US" sz="1050" dirty="0">
                <a:solidFill>
                  <a:schemeClr val="tx2"/>
                </a:solidFill>
                <a:latin typeface="+mn-ea"/>
              </a:rPr>
              <a:t>로 특정 </a:t>
            </a:r>
          </a:p>
        </p:txBody>
      </p:sp>
      <p:sp>
        <p:nvSpPr>
          <p:cNvPr id="13" name="TextBox 12">
            <a:extLst>
              <a:ext uri="{FF2B5EF4-FFF2-40B4-BE49-F238E27FC236}">
                <a16:creationId xmlns:a16="http://schemas.microsoft.com/office/drawing/2014/main" id="{DB32A0A1-0885-BF2E-975E-DB8EB1D77E47}"/>
              </a:ext>
            </a:extLst>
          </p:cNvPr>
          <p:cNvSpPr txBox="1"/>
          <p:nvPr/>
        </p:nvSpPr>
        <p:spPr>
          <a:xfrm>
            <a:off x="1204840" y="2591642"/>
            <a:ext cx="1074333" cy="415498"/>
          </a:xfrm>
          <a:prstGeom prst="rect">
            <a:avLst/>
          </a:prstGeom>
          <a:noFill/>
        </p:spPr>
        <p:txBody>
          <a:bodyPr wrap="none" rtlCol="0">
            <a:spAutoFit/>
          </a:bodyPr>
          <a:lstStyle/>
          <a:p>
            <a:pPr algn="ctr"/>
            <a:r>
              <a:rPr lang="en-US" altLang="ko-KR" sz="1050" dirty="0" err="1">
                <a:solidFill>
                  <a:schemeClr val="tx2"/>
                </a:solidFill>
              </a:rPr>
              <a:t>a+b+c1</a:t>
            </a:r>
            <a:r>
              <a:rPr lang="ko-KR" altLang="en-US" sz="1050" dirty="0">
                <a:solidFill>
                  <a:schemeClr val="tx2"/>
                </a:solidFill>
              </a:rPr>
              <a:t>로 된</a:t>
            </a:r>
            <a:endParaRPr lang="en-US" altLang="ko-KR" sz="1050" dirty="0">
              <a:solidFill>
                <a:schemeClr val="tx2"/>
              </a:solidFill>
            </a:endParaRPr>
          </a:p>
          <a:p>
            <a:pPr algn="ctr"/>
            <a:r>
              <a:rPr lang="ko-KR" altLang="en-US" sz="1050" dirty="0">
                <a:solidFill>
                  <a:schemeClr val="tx2"/>
                </a:solidFill>
              </a:rPr>
              <a:t>동영상 압축방법</a:t>
            </a:r>
          </a:p>
        </p:txBody>
      </p:sp>
      <p:sp>
        <p:nvSpPr>
          <p:cNvPr id="17" name="TextBox 16">
            <a:extLst>
              <a:ext uri="{FF2B5EF4-FFF2-40B4-BE49-F238E27FC236}">
                <a16:creationId xmlns:a16="http://schemas.microsoft.com/office/drawing/2014/main" id="{6A62734C-3E59-1655-8156-CEBDB2610413}"/>
              </a:ext>
            </a:extLst>
          </p:cNvPr>
          <p:cNvSpPr txBox="1"/>
          <p:nvPr/>
        </p:nvSpPr>
        <p:spPr>
          <a:xfrm>
            <a:off x="2274948" y="2611142"/>
            <a:ext cx="1207382" cy="415498"/>
          </a:xfrm>
          <a:prstGeom prst="rect">
            <a:avLst/>
          </a:prstGeom>
          <a:noFill/>
        </p:spPr>
        <p:txBody>
          <a:bodyPr wrap="none" rtlCol="0">
            <a:spAutoFit/>
          </a:bodyPr>
          <a:lstStyle/>
          <a:p>
            <a:pPr algn="ctr"/>
            <a:r>
              <a:rPr lang="en-US" altLang="ko-KR" sz="1050" dirty="0" err="1">
                <a:solidFill>
                  <a:schemeClr val="tx2"/>
                </a:solidFill>
              </a:rPr>
              <a:t>a+b+c</a:t>
            </a:r>
            <a:r>
              <a:rPr lang="ko-KR" altLang="en-US" sz="1050" dirty="0">
                <a:solidFill>
                  <a:schemeClr val="tx2"/>
                </a:solidFill>
              </a:rPr>
              <a:t>를 포함하는</a:t>
            </a:r>
            <a:endParaRPr lang="en-US" altLang="ko-KR" sz="1050" dirty="0">
              <a:solidFill>
                <a:schemeClr val="tx2"/>
              </a:solidFill>
            </a:endParaRPr>
          </a:p>
          <a:p>
            <a:pPr algn="ctr"/>
            <a:r>
              <a:rPr lang="ko-KR" altLang="en-US" sz="1050" dirty="0">
                <a:solidFill>
                  <a:schemeClr val="tx2"/>
                </a:solidFill>
              </a:rPr>
              <a:t>동영상 압축방법</a:t>
            </a:r>
          </a:p>
        </p:txBody>
      </p:sp>
      <p:sp>
        <p:nvSpPr>
          <p:cNvPr id="18" name="TextBox 17">
            <a:extLst>
              <a:ext uri="{FF2B5EF4-FFF2-40B4-BE49-F238E27FC236}">
                <a16:creationId xmlns:a16="http://schemas.microsoft.com/office/drawing/2014/main" id="{D590009C-4DD8-726B-32AA-03B2CFF12C09}"/>
              </a:ext>
            </a:extLst>
          </p:cNvPr>
          <p:cNvSpPr txBox="1"/>
          <p:nvPr/>
        </p:nvSpPr>
        <p:spPr>
          <a:xfrm>
            <a:off x="3949059" y="4239551"/>
            <a:ext cx="2441694" cy="415498"/>
          </a:xfrm>
          <a:prstGeom prst="rect">
            <a:avLst/>
          </a:prstGeom>
          <a:noFill/>
        </p:spPr>
        <p:txBody>
          <a:bodyPr wrap="none" rtlCol="0">
            <a:spAutoFit/>
          </a:bodyPr>
          <a:lstStyle/>
          <a:p>
            <a:pPr algn="ctr"/>
            <a:r>
              <a:rPr lang="ko-KR" altLang="en-US" sz="1050" dirty="0">
                <a:solidFill>
                  <a:schemeClr val="tx2"/>
                </a:solidFill>
              </a:rPr>
              <a:t>아이폰 </a:t>
            </a:r>
            <a:r>
              <a:rPr lang="en-US" altLang="ko-KR" sz="1050" dirty="0">
                <a:solidFill>
                  <a:schemeClr val="tx2"/>
                </a:solidFill>
              </a:rPr>
              <a:t>16</a:t>
            </a:r>
            <a:r>
              <a:rPr lang="ko-KR" altLang="en-US" sz="1050" dirty="0">
                <a:solidFill>
                  <a:schemeClr val="tx2"/>
                </a:solidFill>
              </a:rPr>
              <a:t>에서 </a:t>
            </a:r>
            <a:endParaRPr lang="en-US" altLang="ko-KR" sz="1050" dirty="0">
              <a:solidFill>
                <a:schemeClr val="tx2"/>
              </a:solidFill>
            </a:endParaRPr>
          </a:p>
          <a:p>
            <a:pPr algn="ctr"/>
            <a:r>
              <a:rPr lang="en-US" altLang="ko-KR" sz="1050" dirty="0" err="1">
                <a:solidFill>
                  <a:schemeClr val="tx2"/>
                </a:solidFill>
              </a:rPr>
              <a:t>a+b+c2+d+e</a:t>
            </a:r>
            <a:r>
              <a:rPr lang="ko-KR" altLang="en-US" sz="1050" dirty="0">
                <a:solidFill>
                  <a:schemeClr val="tx2"/>
                </a:solidFill>
              </a:rPr>
              <a:t>로 된 동영상 압축방법 사용</a:t>
            </a:r>
          </a:p>
        </p:txBody>
      </p:sp>
      <p:sp>
        <p:nvSpPr>
          <p:cNvPr id="19" name="TextBox 18">
            <a:extLst>
              <a:ext uri="{FF2B5EF4-FFF2-40B4-BE49-F238E27FC236}">
                <a16:creationId xmlns:a16="http://schemas.microsoft.com/office/drawing/2014/main" id="{483F3330-B296-88AE-5CBD-01E87CF2F6AA}"/>
              </a:ext>
            </a:extLst>
          </p:cNvPr>
          <p:cNvSpPr txBox="1"/>
          <p:nvPr/>
        </p:nvSpPr>
        <p:spPr>
          <a:xfrm>
            <a:off x="3597498" y="2611142"/>
            <a:ext cx="907621" cy="415498"/>
          </a:xfrm>
          <a:prstGeom prst="rect">
            <a:avLst/>
          </a:prstGeom>
          <a:noFill/>
        </p:spPr>
        <p:txBody>
          <a:bodyPr wrap="none" rtlCol="0">
            <a:spAutoFit/>
          </a:bodyPr>
          <a:lstStyle/>
          <a:p>
            <a:pPr algn="ctr"/>
            <a:r>
              <a:rPr lang="ko-KR" altLang="en-US" sz="1050" dirty="0">
                <a:solidFill>
                  <a:schemeClr val="tx2"/>
                </a:solidFill>
              </a:rPr>
              <a:t>등록번호</a:t>
            </a:r>
            <a:endParaRPr lang="en-US" altLang="ko-KR" sz="1050" dirty="0">
              <a:solidFill>
                <a:schemeClr val="tx2"/>
              </a:solidFill>
            </a:endParaRPr>
          </a:p>
          <a:p>
            <a:pPr algn="ctr"/>
            <a:r>
              <a:rPr lang="en-US" altLang="ko-KR" sz="1050" dirty="0">
                <a:solidFill>
                  <a:schemeClr val="tx2"/>
                </a:solidFill>
              </a:rPr>
              <a:t>10-1234567</a:t>
            </a:r>
            <a:endParaRPr lang="ko-KR" altLang="en-US" sz="1050" dirty="0">
              <a:solidFill>
                <a:schemeClr val="tx2"/>
              </a:solidFill>
            </a:endParaRPr>
          </a:p>
        </p:txBody>
      </p:sp>
      <p:sp>
        <p:nvSpPr>
          <p:cNvPr id="20" name="TextBox 19">
            <a:extLst>
              <a:ext uri="{FF2B5EF4-FFF2-40B4-BE49-F238E27FC236}">
                <a16:creationId xmlns:a16="http://schemas.microsoft.com/office/drawing/2014/main" id="{AF54C249-0275-73E2-5B2A-03466F4CF7ED}"/>
              </a:ext>
            </a:extLst>
          </p:cNvPr>
          <p:cNvSpPr txBox="1"/>
          <p:nvPr/>
        </p:nvSpPr>
        <p:spPr>
          <a:xfrm>
            <a:off x="7906877" y="3812987"/>
            <a:ext cx="3899639" cy="1615827"/>
          </a:xfrm>
          <a:prstGeom prst="rect">
            <a:avLst/>
          </a:prstGeom>
          <a:noFill/>
          <a:ln>
            <a:solidFill>
              <a:schemeClr val="bg1">
                <a:lumMod val="50000"/>
              </a:schemeClr>
            </a:solidFill>
          </a:ln>
        </p:spPr>
        <p:txBody>
          <a:bodyPr wrap="square">
            <a:spAutoFit/>
          </a:bodyPr>
          <a:lstStyle/>
          <a:p>
            <a:r>
              <a:rPr lang="en-US" altLang="ko-KR" sz="1100" dirty="0"/>
              <a:t>【</a:t>
            </a:r>
            <a:r>
              <a:rPr lang="ko-KR" altLang="en-US" sz="1100" dirty="0"/>
              <a:t>청구취지</a:t>
            </a:r>
            <a:r>
              <a:rPr lang="en-US" altLang="ko-KR" sz="1100" dirty="0"/>
              <a:t>】</a:t>
            </a:r>
          </a:p>
          <a:p>
            <a:r>
              <a:rPr lang="ko-KR" altLang="en-US" sz="1100" dirty="0"/>
              <a:t>피고제품 </a:t>
            </a:r>
            <a:r>
              <a:rPr lang="en-US" altLang="ko-KR" sz="1100" dirty="0"/>
              <a:t>＂</a:t>
            </a:r>
            <a:r>
              <a:rPr lang="ko-KR" altLang="en-US" sz="1100" dirty="0"/>
              <a:t>동영상 압축방법을 사용하는 </a:t>
            </a:r>
            <a:r>
              <a:rPr lang="ko-KR" altLang="en-US" sz="1100" dirty="0">
                <a:highlight>
                  <a:srgbClr val="FF00FF"/>
                </a:highlight>
              </a:rPr>
              <a:t>아이폰 </a:t>
            </a:r>
            <a:r>
              <a:rPr lang="en-US" altLang="ko-KR" sz="1100" dirty="0">
                <a:highlight>
                  <a:srgbClr val="FF00FF"/>
                </a:highlight>
              </a:rPr>
              <a:t>16</a:t>
            </a:r>
            <a:r>
              <a:rPr lang="en-US" altLang="ko-KR" sz="1100" dirty="0"/>
              <a:t>＂</a:t>
            </a:r>
            <a:r>
              <a:rPr lang="ko-KR" altLang="en-US" sz="1100" dirty="0"/>
              <a:t>은 특허등록 제</a:t>
            </a:r>
            <a:r>
              <a:rPr lang="en-US" altLang="ko-KR" sz="1100" dirty="0"/>
              <a:t>10-1234567</a:t>
            </a:r>
            <a:r>
              <a:rPr lang="ko-KR" altLang="en-US" sz="1100" dirty="0"/>
              <a:t>호의 침해이므로</a:t>
            </a:r>
            <a:r>
              <a:rPr lang="en-US" altLang="ko-KR" sz="1100" dirty="0"/>
              <a:t>, </a:t>
            </a:r>
            <a:r>
              <a:rPr lang="ko-KR" altLang="en-US" sz="1100" dirty="0"/>
              <a:t>그 실시를 금지한다</a:t>
            </a:r>
            <a:r>
              <a:rPr lang="en-US" altLang="ko-KR" sz="1100" dirty="0"/>
              <a:t>.”</a:t>
            </a:r>
          </a:p>
          <a:p>
            <a:endParaRPr lang="en-US" altLang="ko-KR" sz="1100" dirty="0"/>
          </a:p>
          <a:p>
            <a:r>
              <a:rPr lang="en-US" altLang="ko-KR" sz="1100" dirty="0"/>
              <a:t>【</a:t>
            </a:r>
            <a:r>
              <a:rPr lang="ko-KR" altLang="en-US" sz="1100" dirty="0"/>
              <a:t>청구원인</a:t>
            </a:r>
            <a:r>
              <a:rPr lang="en-US" altLang="ko-KR" sz="1100" dirty="0"/>
              <a:t>】</a:t>
            </a:r>
          </a:p>
          <a:p>
            <a:r>
              <a:rPr lang="en-US" altLang="ko-KR" sz="1100" dirty="0"/>
              <a:t>1. </a:t>
            </a:r>
            <a:r>
              <a:rPr lang="ko-KR" altLang="en-US" sz="1100" dirty="0"/>
              <a:t>이 사건 특허의 요지</a:t>
            </a:r>
            <a:r>
              <a:rPr lang="en-US" altLang="ko-KR" sz="1100" dirty="0"/>
              <a:t>(</a:t>
            </a:r>
            <a:r>
              <a:rPr lang="en-US" altLang="ko-KR" sz="1100" dirty="0" err="1"/>
              <a:t>a+b+c</a:t>
            </a:r>
            <a:r>
              <a:rPr lang="en-US" altLang="ko-KR" sz="1100" dirty="0"/>
              <a:t>)</a:t>
            </a:r>
          </a:p>
          <a:p>
            <a:r>
              <a:rPr lang="en-US" altLang="ko-KR" sz="1100" dirty="0"/>
              <a:t>2. </a:t>
            </a:r>
            <a:r>
              <a:rPr lang="ko-KR" altLang="en-US" sz="1100" dirty="0"/>
              <a:t>피고제품의 요지</a:t>
            </a:r>
            <a:r>
              <a:rPr lang="en-US" altLang="ko-KR" sz="1100" dirty="0"/>
              <a:t>(</a:t>
            </a:r>
            <a:r>
              <a:rPr lang="en-US" altLang="ko-KR" sz="1100" dirty="0" err="1">
                <a:highlight>
                  <a:srgbClr val="FF00FF"/>
                </a:highlight>
              </a:rPr>
              <a:t>a+b+c2</a:t>
            </a:r>
            <a:r>
              <a:rPr lang="en-US" altLang="ko-KR" sz="1100" dirty="0"/>
              <a:t>)</a:t>
            </a:r>
          </a:p>
          <a:p>
            <a:r>
              <a:rPr lang="en-US" altLang="ko-KR" sz="1100" dirty="0">
                <a:highlight>
                  <a:srgbClr val="808000"/>
                </a:highlight>
              </a:rPr>
              <a:t>3. </a:t>
            </a:r>
            <a:r>
              <a:rPr lang="ko-KR" altLang="en-US" sz="1100" dirty="0">
                <a:highlight>
                  <a:srgbClr val="808000"/>
                </a:highlight>
              </a:rPr>
              <a:t>침해인지 판단</a:t>
            </a:r>
            <a:r>
              <a:rPr lang="en-US" altLang="ko-KR" sz="1100" dirty="0">
                <a:highlight>
                  <a:srgbClr val="808000"/>
                </a:highlight>
              </a:rPr>
              <a:t> (</a:t>
            </a:r>
            <a:r>
              <a:rPr lang="ko-KR" altLang="en-US" sz="1100" dirty="0">
                <a:highlight>
                  <a:srgbClr val="808000"/>
                </a:highlight>
              </a:rPr>
              <a:t>특허발명과 피고제품의 대비</a:t>
            </a:r>
            <a:r>
              <a:rPr lang="en-US" altLang="ko-KR" sz="1100" dirty="0">
                <a:highlight>
                  <a:srgbClr val="808000"/>
                </a:highlight>
              </a:rPr>
              <a:t>)</a:t>
            </a:r>
          </a:p>
          <a:p>
            <a:r>
              <a:rPr lang="en-US" altLang="ko-KR" sz="1100" dirty="0"/>
              <a:t>4. </a:t>
            </a:r>
            <a:r>
              <a:rPr lang="ko-KR" altLang="en-US" sz="1100" dirty="0"/>
              <a:t>결론</a:t>
            </a:r>
            <a:endParaRPr lang="en-US" altLang="ko-KR" sz="1100" dirty="0"/>
          </a:p>
        </p:txBody>
      </p:sp>
      <p:cxnSp>
        <p:nvCxnSpPr>
          <p:cNvPr id="23" name="연결선: 꺾임 22">
            <a:extLst>
              <a:ext uri="{FF2B5EF4-FFF2-40B4-BE49-F238E27FC236}">
                <a16:creationId xmlns:a16="http://schemas.microsoft.com/office/drawing/2014/main" id="{BA254067-7865-6927-8E7E-7A195D8B3852}"/>
              </a:ext>
            </a:extLst>
          </p:cNvPr>
          <p:cNvCxnSpPr>
            <a:stCxn id="18" idx="3"/>
            <a:endCxn id="7" idx="1"/>
          </p:cNvCxnSpPr>
          <p:nvPr/>
        </p:nvCxnSpPr>
        <p:spPr>
          <a:xfrm flipV="1">
            <a:off x="6390753" y="2870117"/>
            <a:ext cx="2070582" cy="1577183"/>
          </a:xfrm>
          <a:prstGeom prst="bentConnector3">
            <a:avLst/>
          </a:prstGeom>
          <a:ln w="38100">
            <a:solidFill>
              <a:schemeClr val="accent1"/>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654FC369-E884-5731-82C2-876ACB3C153E}"/>
              </a:ext>
            </a:extLst>
          </p:cNvPr>
          <p:cNvSpPr txBox="1"/>
          <p:nvPr/>
        </p:nvSpPr>
        <p:spPr>
          <a:xfrm>
            <a:off x="6550200" y="3252636"/>
            <a:ext cx="1741182" cy="307777"/>
          </a:xfrm>
          <a:prstGeom prst="rect">
            <a:avLst/>
          </a:prstGeom>
          <a:solidFill>
            <a:schemeClr val="bg1">
              <a:lumMod val="85000"/>
            </a:schemeClr>
          </a:solidFill>
        </p:spPr>
        <p:txBody>
          <a:bodyPr wrap="none" rtlCol="0">
            <a:spAutoFit/>
          </a:bodyPr>
          <a:lstStyle/>
          <a:p>
            <a:r>
              <a:rPr lang="ko-KR" altLang="en-US" sz="1400" dirty="0">
                <a:solidFill>
                  <a:srgbClr val="0070C0"/>
                </a:solidFill>
              </a:rPr>
              <a:t>사실적 관점에서 동일</a:t>
            </a:r>
          </a:p>
        </p:txBody>
      </p:sp>
      <p:cxnSp>
        <p:nvCxnSpPr>
          <p:cNvPr id="25" name="연결선: 꺾임 24">
            <a:extLst>
              <a:ext uri="{FF2B5EF4-FFF2-40B4-BE49-F238E27FC236}">
                <a16:creationId xmlns:a16="http://schemas.microsoft.com/office/drawing/2014/main" id="{1098A877-091E-3405-4AC4-644D93D48B2C}"/>
              </a:ext>
            </a:extLst>
          </p:cNvPr>
          <p:cNvCxnSpPr>
            <a:cxnSpLocks/>
            <a:stCxn id="13" idx="0"/>
            <a:endCxn id="7" idx="3"/>
          </p:cNvCxnSpPr>
          <p:nvPr/>
        </p:nvCxnSpPr>
        <p:spPr>
          <a:xfrm rot="16200000" flipH="1">
            <a:off x="6285872" y="-1952224"/>
            <a:ext cx="278475" cy="9366207"/>
          </a:xfrm>
          <a:prstGeom prst="bentConnector4">
            <a:avLst>
              <a:gd name="adj1" fmla="val -246270"/>
              <a:gd name="adj2" fmla="val 102441"/>
            </a:avLst>
          </a:prstGeom>
          <a:ln w="38100">
            <a:solidFill>
              <a:srgbClr val="FF0000"/>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5DAD674B-6854-3B65-384F-6865CDD2F410}"/>
              </a:ext>
            </a:extLst>
          </p:cNvPr>
          <p:cNvSpPr txBox="1"/>
          <p:nvPr/>
        </p:nvSpPr>
        <p:spPr>
          <a:xfrm>
            <a:off x="286871" y="1364300"/>
            <a:ext cx="11519645" cy="523220"/>
          </a:xfrm>
          <a:prstGeom prst="rect">
            <a:avLst/>
          </a:prstGeom>
          <a:noFill/>
        </p:spPr>
        <p:txBody>
          <a:bodyPr wrap="square" rtlCol="0">
            <a:spAutoFit/>
          </a:bodyPr>
          <a:lstStyle/>
          <a:p>
            <a:r>
              <a:rPr lang="ko-KR" altLang="en-US" sz="1400" dirty="0">
                <a:highlight>
                  <a:srgbClr val="FFFF00"/>
                </a:highlight>
                <a:latin typeface="+mn-ea"/>
              </a:rPr>
              <a:t>피고 제품</a:t>
            </a:r>
            <a:r>
              <a:rPr lang="en-US" altLang="ko-KR" sz="1400" dirty="0">
                <a:highlight>
                  <a:srgbClr val="FFFF00"/>
                </a:highlight>
                <a:latin typeface="+mn-ea"/>
              </a:rPr>
              <a:t>(</a:t>
            </a:r>
            <a:r>
              <a:rPr lang="en-US" altLang="ko-KR" sz="1400" dirty="0" err="1">
                <a:highlight>
                  <a:srgbClr val="FFFF00"/>
                </a:highlight>
                <a:latin typeface="+mn-ea"/>
              </a:rPr>
              <a:t>a+b+c2+d</a:t>
            </a:r>
            <a:r>
              <a:rPr lang="en-US" altLang="ko-KR" sz="1400" dirty="0">
                <a:highlight>
                  <a:srgbClr val="FFFF00"/>
                </a:highlight>
                <a:latin typeface="+mn-ea"/>
              </a:rPr>
              <a:t>)</a:t>
            </a:r>
            <a:r>
              <a:rPr lang="ko-KR" altLang="en-US" sz="1400" dirty="0">
                <a:latin typeface="+mn-ea"/>
              </a:rPr>
              <a:t>이 공지기술</a:t>
            </a:r>
            <a:r>
              <a:rPr lang="en-US" altLang="ko-KR" sz="1400" dirty="0">
                <a:latin typeface="+mn-ea"/>
              </a:rPr>
              <a:t>2(</a:t>
            </a:r>
            <a:r>
              <a:rPr lang="en-US" altLang="ko-KR" sz="1400" dirty="0" err="1">
                <a:latin typeface="+mn-ea"/>
              </a:rPr>
              <a:t>a+b+c1</a:t>
            </a:r>
            <a:r>
              <a:rPr lang="en-US" altLang="ko-KR" sz="1400" dirty="0">
                <a:latin typeface="+mn-ea"/>
              </a:rPr>
              <a:t>)</a:t>
            </a:r>
            <a:r>
              <a:rPr lang="ko-KR" altLang="en-US" sz="1400" dirty="0">
                <a:latin typeface="+mn-ea"/>
              </a:rPr>
              <a:t>와 동일하거나 통상의 기술자가 공지기술</a:t>
            </a:r>
            <a:r>
              <a:rPr lang="en-US" altLang="ko-KR" sz="1400" dirty="0">
                <a:latin typeface="+mn-ea"/>
              </a:rPr>
              <a:t>2(</a:t>
            </a:r>
            <a:r>
              <a:rPr lang="en-US" altLang="ko-KR" sz="1400" dirty="0" err="1">
                <a:latin typeface="+mn-ea"/>
              </a:rPr>
              <a:t>a+b+c1</a:t>
            </a:r>
            <a:r>
              <a:rPr lang="en-US" altLang="ko-KR" sz="1400" dirty="0">
                <a:latin typeface="+mn-ea"/>
              </a:rPr>
              <a:t>)</a:t>
            </a:r>
            <a:r>
              <a:rPr lang="ko-KR" altLang="en-US" sz="1400" dirty="0">
                <a:latin typeface="+mn-ea"/>
              </a:rPr>
              <a:t>로부터 용이하게 실시할 수 있어 자유기술영역</a:t>
            </a:r>
            <a:r>
              <a:rPr lang="en-US" altLang="ko-KR" sz="1400" dirty="0">
                <a:latin typeface="+mn-ea"/>
              </a:rPr>
              <a:t>(=</a:t>
            </a:r>
            <a:r>
              <a:rPr lang="ko-KR" altLang="en-US" sz="1400" dirty="0">
                <a:latin typeface="+mn-ea"/>
              </a:rPr>
              <a:t>공공영역</a:t>
            </a:r>
            <a:r>
              <a:rPr lang="en-US" altLang="ko-KR" sz="1400" dirty="0">
                <a:latin typeface="+mn-ea"/>
              </a:rPr>
              <a:t>)</a:t>
            </a:r>
            <a:r>
              <a:rPr lang="ko-KR" altLang="en-US" sz="1400" dirty="0">
                <a:latin typeface="+mn-ea"/>
              </a:rPr>
              <a:t>에 속하므로 </a:t>
            </a:r>
            <a:r>
              <a:rPr lang="ko-KR" altLang="en-US" sz="1400" dirty="0">
                <a:highlight>
                  <a:srgbClr val="00FFFF"/>
                </a:highlight>
                <a:latin typeface="+mn-ea"/>
              </a:rPr>
              <a:t>특허발명</a:t>
            </a:r>
            <a:r>
              <a:rPr lang="en-US" altLang="ko-KR" sz="1400" dirty="0">
                <a:highlight>
                  <a:srgbClr val="00FFFF"/>
                </a:highlight>
                <a:latin typeface="+mn-ea"/>
              </a:rPr>
              <a:t>(10-1234567)</a:t>
            </a:r>
            <a:r>
              <a:rPr lang="ko-KR" altLang="en-US" sz="1400" dirty="0">
                <a:highlight>
                  <a:srgbClr val="00FFFF"/>
                </a:highlight>
                <a:latin typeface="+mn-ea"/>
              </a:rPr>
              <a:t>과 대비할 필요도 없이</a:t>
            </a:r>
            <a:r>
              <a:rPr lang="ko-KR" altLang="en-US" sz="1400" dirty="0">
                <a:latin typeface="+mn-ea"/>
              </a:rPr>
              <a:t> 침해가 아니다</a:t>
            </a:r>
            <a:r>
              <a:rPr lang="en-US" altLang="ko-KR" sz="1400" dirty="0">
                <a:highlight>
                  <a:srgbClr val="C0C0C0"/>
                </a:highlight>
                <a:latin typeface="+mn-ea"/>
              </a:rPr>
              <a:t>(</a:t>
            </a:r>
            <a:r>
              <a:rPr lang="en-US" altLang="ko-KR" sz="1400" dirty="0">
                <a:highlight>
                  <a:srgbClr val="C0C0C0"/>
                </a:highlight>
              </a:rPr>
              <a:t>99</a:t>
            </a:r>
            <a:r>
              <a:rPr lang="ko-KR" altLang="en-US" sz="1400" dirty="0">
                <a:highlight>
                  <a:srgbClr val="C0C0C0"/>
                </a:highlight>
              </a:rPr>
              <a:t>후</a:t>
            </a:r>
            <a:r>
              <a:rPr lang="en-US" altLang="ko-KR" sz="1400" dirty="0">
                <a:highlight>
                  <a:srgbClr val="C0C0C0"/>
                </a:highlight>
              </a:rPr>
              <a:t>710)</a:t>
            </a:r>
            <a:r>
              <a:rPr lang="en-US" altLang="ko-KR" sz="1400" dirty="0">
                <a:latin typeface="+mn-ea"/>
              </a:rPr>
              <a:t>.</a:t>
            </a:r>
            <a:r>
              <a:rPr lang="ko-KR" altLang="en-US" sz="1400" dirty="0">
                <a:latin typeface="+mn-ea"/>
              </a:rPr>
              <a:t>  </a:t>
            </a:r>
          </a:p>
        </p:txBody>
      </p:sp>
      <p:sp>
        <p:nvSpPr>
          <p:cNvPr id="37" name="말풍선: 모서리가 둥근 사각형 36">
            <a:extLst>
              <a:ext uri="{FF2B5EF4-FFF2-40B4-BE49-F238E27FC236}">
                <a16:creationId xmlns:a16="http://schemas.microsoft.com/office/drawing/2014/main" id="{AAF07CAA-4E31-9882-B9E8-62134D1D514A}"/>
              </a:ext>
            </a:extLst>
          </p:cNvPr>
          <p:cNvSpPr/>
          <p:nvPr/>
        </p:nvSpPr>
        <p:spPr>
          <a:xfrm>
            <a:off x="1492911" y="1018077"/>
            <a:ext cx="4190713" cy="263104"/>
          </a:xfrm>
          <a:prstGeom prst="wedgeRoundRectCallout">
            <a:avLst>
              <a:gd name="adj1" fmla="val -41418"/>
              <a:gd name="adj2" fmla="val 83130"/>
              <a:gd name="adj3" fmla="val 16667"/>
            </a:avLst>
          </a:prstGeom>
          <a:solidFill>
            <a:schemeClr val="accent4"/>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t>특허권자가 특정한 구성 전체</a:t>
            </a:r>
            <a:r>
              <a:rPr lang="en-US" altLang="ko-KR" sz="1200" dirty="0">
                <a:highlight>
                  <a:srgbClr val="C0C0C0"/>
                </a:highlight>
              </a:rPr>
              <a:t>(2008</a:t>
            </a:r>
            <a:r>
              <a:rPr lang="ko-KR" altLang="en-US" sz="1200" dirty="0">
                <a:highlight>
                  <a:srgbClr val="C0C0C0"/>
                </a:highlight>
              </a:rPr>
              <a:t>후</a:t>
            </a:r>
            <a:r>
              <a:rPr lang="en-US" altLang="ko-KR" sz="1200" dirty="0">
                <a:highlight>
                  <a:srgbClr val="C0C0C0"/>
                </a:highlight>
              </a:rPr>
              <a:t>64) - </a:t>
            </a:r>
            <a:r>
              <a:rPr lang="ko-KR" altLang="en-US" sz="1200" dirty="0">
                <a:highlight>
                  <a:srgbClr val="C0C0C0"/>
                </a:highlight>
              </a:rPr>
              <a:t>전체구성설</a:t>
            </a:r>
          </a:p>
        </p:txBody>
      </p:sp>
      <p:sp>
        <p:nvSpPr>
          <p:cNvPr id="38" name="말풍선: 모서리가 둥근 사각형 37">
            <a:extLst>
              <a:ext uri="{FF2B5EF4-FFF2-40B4-BE49-F238E27FC236}">
                <a16:creationId xmlns:a16="http://schemas.microsoft.com/office/drawing/2014/main" id="{E02C5329-536B-CB1D-3A41-C7889ADC9C96}"/>
              </a:ext>
            </a:extLst>
          </p:cNvPr>
          <p:cNvSpPr/>
          <p:nvPr/>
        </p:nvSpPr>
        <p:spPr>
          <a:xfrm>
            <a:off x="2946959" y="2059022"/>
            <a:ext cx="5149291" cy="234402"/>
          </a:xfrm>
          <a:prstGeom prst="wedgeRoundRectCallout">
            <a:avLst>
              <a:gd name="adj1" fmla="val -43715"/>
              <a:gd name="adj2" fmla="val -137131"/>
              <a:gd name="adj3" fmla="val 16667"/>
            </a:avLst>
          </a:prstGeom>
          <a:solidFill>
            <a:schemeClr val="accent1">
              <a:lumMod val="50000"/>
            </a:schemeClr>
          </a:solidFill>
          <a:ln>
            <a:solidFill>
              <a:schemeClr val="accent3">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t>특허발명과 대비하여 </a:t>
            </a:r>
            <a:r>
              <a:rPr lang="ko-KR" altLang="en-US" sz="1200" dirty="0" err="1"/>
              <a:t>문언칭해</a:t>
            </a:r>
            <a:r>
              <a:rPr lang="en-US" altLang="ko-KR" sz="1200" dirty="0"/>
              <a:t>, </a:t>
            </a:r>
            <a:r>
              <a:rPr lang="ko-KR" altLang="en-US" sz="1200" dirty="0"/>
              <a:t>균등침해인지 상관없이 적용</a:t>
            </a:r>
            <a:r>
              <a:rPr lang="en-US" altLang="ko-KR" sz="1200" dirty="0">
                <a:highlight>
                  <a:srgbClr val="C0C0C0"/>
                </a:highlight>
              </a:rPr>
              <a:t>(2016</a:t>
            </a:r>
            <a:r>
              <a:rPr lang="ko-KR" altLang="en-US" sz="1200" dirty="0">
                <a:highlight>
                  <a:srgbClr val="C0C0C0"/>
                </a:highlight>
              </a:rPr>
              <a:t>후</a:t>
            </a:r>
            <a:r>
              <a:rPr lang="en-US" altLang="ko-KR" sz="1200" dirty="0">
                <a:highlight>
                  <a:srgbClr val="C0C0C0"/>
                </a:highlight>
              </a:rPr>
              <a:t>366)</a:t>
            </a:r>
            <a:endParaRPr lang="ko-KR" altLang="en-US" sz="1200" dirty="0">
              <a:highlight>
                <a:srgbClr val="C0C0C0"/>
              </a:highlight>
            </a:endParaRPr>
          </a:p>
        </p:txBody>
      </p:sp>
      <p:sp>
        <p:nvSpPr>
          <p:cNvPr id="41" name="TextBox 40">
            <a:extLst>
              <a:ext uri="{FF2B5EF4-FFF2-40B4-BE49-F238E27FC236}">
                <a16:creationId xmlns:a16="http://schemas.microsoft.com/office/drawing/2014/main" id="{C7464863-D2FA-968D-7B4C-68E5BAEC8CFA}"/>
              </a:ext>
            </a:extLst>
          </p:cNvPr>
          <p:cNvSpPr txBox="1"/>
          <p:nvPr/>
        </p:nvSpPr>
        <p:spPr>
          <a:xfrm>
            <a:off x="267783" y="3067722"/>
            <a:ext cx="829074"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accent4"/>
                </a:solidFill>
                <a:latin typeface="+mn-ea"/>
              </a:rPr>
              <a:t>공지기술</a:t>
            </a:r>
            <a:r>
              <a:rPr lang="en-US" altLang="ko-KR" sz="1200" dirty="0">
                <a:solidFill>
                  <a:schemeClr val="accent4"/>
                </a:solidFill>
                <a:latin typeface="+mn-ea"/>
              </a:rPr>
              <a:t>1</a:t>
            </a:r>
            <a:endParaRPr lang="ko-KR" altLang="en-US" sz="1200" dirty="0">
              <a:solidFill>
                <a:schemeClr val="accent4"/>
              </a:solidFill>
              <a:latin typeface="+mn-ea"/>
            </a:endParaRPr>
          </a:p>
        </p:txBody>
      </p:sp>
      <p:sp>
        <p:nvSpPr>
          <p:cNvPr id="56" name="타원 55">
            <a:extLst>
              <a:ext uri="{FF2B5EF4-FFF2-40B4-BE49-F238E27FC236}">
                <a16:creationId xmlns:a16="http://schemas.microsoft.com/office/drawing/2014/main" id="{48EABE9C-0882-61A1-E683-3C36A8617BA6}"/>
              </a:ext>
            </a:extLst>
          </p:cNvPr>
          <p:cNvSpPr/>
          <p:nvPr/>
        </p:nvSpPr>
        <p:spPr>
          <a:xfrm>
            <a:off x="604950" y="3555535"/>
            <a:ext cx="154738" cy="161338"/>
          </a:xfrm>
          <a:prstGeom prst="ellipse">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9" name="직선 연결선 58">
            <a:extLst>
              <a:ext uri="{FF2B5EF4-FFF2-40B4-BE49-F238E27FC236}">
                <a16:creationId xmlns:a16="http://schemas.microsoft.com/office/drawing/2014/main" id="{88AF467F-C738-26B9-33AF-E9B2855FA436}"/>
              </a:ext>
            </a:extLst>
          </p:cNvPr>
          <p:cNvCxnSpPr>
            <a:stCxn id="41" idx="2"/>
            <a:endCxn id="56" idx="0"/>
          </p:cNvCxnSpPr>
          <p:nvPr/>
        </p:nvCxnSpPr>
        <p:spPr>
          <a:xfrm flipH="1">
            <a:off x="682319" y="3344721"/>
            <a:ext cx="1" cy="21081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B2241239-FCE8-FA96-F365-E84A0AD8D860}"/>
              </a:ext>
            </a:extLst>
          </p:cNvPr>
          <p:cNvSpPr txBox="1"/>
          <p:nvPr/>
        </p:nvSpPr>
        <p:spPr>
          <a:xfrm>
            <a:off x="138999" y="2591642"/>
            <a:ext cx="1074333" cy="415498"/>
          </a:xfrm>
          <a:prstGeom prst="rect">
            <a:avLst/>
          </a:prstGeom>
          <a:noFill/>
        </p:spPr>
        <p:txBody>
          <a:bodyPr wrap="none" rtlCol="0">
            <a:spAutoFit/>
          </a:bodyPr>
          <a:lstStyle/>
          <a:p>
            <a:pPr algn="ctr"/>
            <a:r>
              <a:rPr lang="en-US" altLang="ko-KR" sz="1050" dirty="0" err="1">
                <a:solidFill>
                  <a:schemeClr val="tx2"/>
                </a:solidFill>
              </a:rPr>
              <a:t>a+b+c</a:t>
            </a:r>
            <a:r>
              <a:rPr lang="ko-KR" altLang="en-US" sz="1050" dirty="0">
                <a:solidFill>
                  <a:schemeClr val="tx2"/>
                </a:solidFill>
              </a:rPr>
              <a:t>로 된</a:t>
            </a:r>
            <a:endParaRPr lang="en-US" altLang="ko-KR" sz="1050" dirty="0">
              <a:solidFill>
                <a:schemeClr val="tx2"/>
              </a:solidFill>
            </a:endParaRPr>
          </a:p>
          <a:p>
            <a:pPr algn="ctr"/>
            <a:r>
              <a:rPr lang="ko-KR" altLang="en-US" sz="1050" dirty="0">
                <a:solidFill>
                  <a:schemeClr val="tx2"/>
                </a:solidFill>
              </a:rPr>
              <a:t>동영상 압축방법</a:t>
            </a:r>
          </a:p>
        </p:txBody>
      </p:sp>
      <p:sp>
        <p:nvSpPr>
          <p:cNvPr id="64" name="TextBox 63">
            <a:extLst>
              <a:ext uri="{FF2B5EF4-FFF2-40B4-BE49-F238E27FC236}">
                <a16:creationId xmlns:a16="http://schemas.microsoft.com/office/drawing/2014/main" id="{9FA67D86-812B-4EF5-0252-B6960E114425}"/>
              </a:ext>
            </a:extLst>
          </p:cNvPr>
          <p:cNvSpPr txBox="1"/>
          <p:nvPr/>
        </p:nvSpPr>
        <p:spPr>
          <a:xfrm>
            <a:off x="2409987" y="3908486"/>
            <a:ext cx="919212"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accent4"/>
                </a:solidFill>
                <a:latin typeface="+mn-ea"/>
              </a:rPr>
              <a:t>제</a:t>
            </a:r>
            <a:r>
              <a:rPr lang="en-US" altLang="ko-KR" sz="1200" dirty="0">
                <a:solidFill>
                  <a:schemeClr val="accent4"/>
                </a:solidFill>
                <a:latin typeface="+mn-ea"/>
              </a:rPr>
              <a:t>30</a:t>
            </a:r>
            <a:r>
              <a:rPr lang="ko-KR" altLang="en-US" sz="1200" dirty="0" err="1">
                <a:solidFill>
                  <a:schemeClr val="accent4"/>
                </a:solidFill>
                <a:latin typeface="+mn-ea"/>
              </a:rPr>
              <a:t>조주장</a:t>
            </a:r>
            <a:endParaRPr lang="ko-KR" altLang="en-US" sz="1200" dirty="0">
              <a:solidFill>
                <a:schemeClr val="accent4"/>
              </a:solidFill>
              <a:latin typeface="+mn-ea"/>
            </a:endParaRPr>
          </a:p>
        </p:txBody>
      </p:sp>
      <p:cxnSp>
        <p:nvCxnSpPr>
          <p:cNvPr id="65" name="직선 연결선 64">
            <a:extLst>
              <a:ext uri="{FF2B5EF4-FFF2-40B4-BE49-F238E27FC236}">
                <a16:creationId xmlns:a16="http://schemas.microsoft.com/office/drawing/2014/main" id="{558E0138-FFE0-4EEB-33B9-B3DE5FD590FE}"/>
              </a:ext>
            </a:extLst>
          </p:cNvPr>
          <p:cNvCxnSpPr>
            <a:cxnSpLocks/>
            <a:stCxn id="43" idx="4"/>
            <a:endCxn id="64" idx="0"/>
          </p:cNvCxnSpPr>
          <p:nvPr/>
        </p:nvCxnSpPr>
        <p:spPr>
          <a:xfrm>
            <a:off x="2869591" y="3716873"/>
            <a:ext cx="2" cy="19161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연결선: 꺾임 69">
            <a:extLst>
              <a:ext uri="{FF2B5EF4-FFF2-40B4-BE49-F238E27FC236}">
                <a16:creationId xmlns:a16="http://schemas.microsoft.com/office/drawing/2014/main" id="{880B9D57-8861-5B7A-EB2A-F7B8AE7F504C}"/>
              </a:ext>
            </a:extLst>
          </p:cNvPr>
          <p:cNvCxnSpPr>
            <a:stCxn id="56" idx="4"/>
            <a:endCxn id="64" idx="1"/>
          </p:cNvCxnSpPr>
          <p:nvPr/>
        </p:nvCxnSpPr>
        <p:spPr>
          <a:xfrm rot="16200000" flipH="1">
            <a:off x="1381097" y="3018095"/>
            <a:ext cx="330113" cy="1727668"/>
          </a:xfrm>
          <a:prstGeom prst="bentConnector2">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6116DA8A-C648-95F5-2B0B-982D7FB5AFA2}"/>
              </a:ext>
            </a:extLst>
          </p:cNvPr>
          <p:cNvSpPr txBox="1"/>
          <p:nvPr/>
        </p:nvSpPr>
        <p:spPr>
          <a:xfrm>
            <a:off x="257986" y="4345937"/>
            <a:ext cx="1904711" cy="591145"/>
          </a:xfrm>
          <a:prstGeom prst="roundRect">
            <a:avLst>
              <a:gd name="adj" fmla="val 38207"/>
            </a:avLst>
          </a:prstGeom>
          <a:solidFill>
            <a:schemeClr val="accent1">
              <a:lumMod val="20000"/>
              <a:lumOff val="80000"/>
            </a:schemeClr>
          </a:solidFill>
          <a:ln>
            <a:solidFill>
              <a:schemeClr val="tx1">
                <a:lumMod val="95000"/>
                <a:lumOff val="5000"/>
              </a:schemeClr>
            </a:solidFill>
          </a:ln>
        </p:spPr>
        <p:txBody>
          <a:bodyPr wrap="square">
            <a:spAutoFit/>
          </a:bodyPr>
          <a:lstStyle/>
          <a:p>
            <a:pPr algn="ctr"/>
            <a:r>
              <a:rPr lang="ko-KR" altLang="en-US" sz="1200" dirty="0">
                <a:solidFill>
                  <a:schemeClr val="tx1">
                    <a:lumMod val="95000"/>
                    <a:lumOff val="5000"/>
                  </a:schemeClr>
                </a:solidFill>
              </a:rPr>
              <a:t>자유기술의 항변 불가</a:t>
            </a:r>
            <a:endParaRPr lang="en-US" altLang="ko-KR" sz="1200" dirty="0">
              <a:solidFill>
                <a:schemeClr val="tx1">
                  <a:lumMod val="95000"/>
                  <a:lumOff val="5000"/>
                </a:schemeClr>
              </a:solidFill>
            </a:endParaRPr>
          </a:p>
          <a:p>
            <a:pPr algn="ctr"/>
            <a:r>
              <a:rPr lang="en-US" altLang="ko-KR" sz="1200" dirty="0">
                <a:solidFill>
                  <a:schemeClr val="tx1">
                    <a:lumMod val="95000"/>
                    <a:lumOff val="5000"/>
                  </a:schemeClr>
                </a:solidFill>
                <a:highlight>
                  <a:srgbClr val="C0C0C0"/>
                </a:highlight>
              </a:rPr>
              <a:t>(</a:t>
            </a:r>
            <a:r>
              <a:rPr lang="en-US" altLang="ko-KR" sz="1200" dirty="0">
                <a:highlight>
                  <a:srgbClr val="C0C0C0"/>
                </a:highlight>
              </a:rPr>
              <a:t>2022</a:t>
            </a:r>
            <a:r>
              <a:rPr lang="ko-KR" altLang="en-US" sz="1200" dirty="0">
                <a:highlight>
                  <a:srgbClr val="C0C0C0"/>
                </a:highlight>
              </a:rPr>
              <a:t>후</a:t>
            </a:r>
            <a:r>
              <a:rPr lang="en-US" altLang="ko-KR" sz="1200" dirty="0">
                <a:highlight>
                  <a:srgbClr val="C0C0C0"/>
                </a:highlight>
              </a:rPr>
              <a:t>10012</a:t>
            </a:r>
            <a:r>
              <a:rPr lang="en-US" altLang="ko-KR" sz="1200" dirty="0">
                <a:solidFill>
                  <a:schemeClr val="tx1">
                    <a:lumMod val="95000"/>
                    <a:lumOff val="5000"/>
                  </a:schemeClr>
                </a:solidFill>
                <a:highlight>
                  <a:srgbClr val="C0C0C0"/>
                </a:highlight>
              </a:rPr>
              <a:t>)</a:t>
            </a:r>
            <a:r>
              <a:rPr lang="en-US" altLang="ko-KR" sz="1200" dirty="0">
                <a:solidFill>
                  <a:schemeClr val="tx1">
                    <a:lumMod val="95000"/>
                    <a:lumOff val="5000"/>
                  </a:schemeClr>
                </a:solidFill>
              </a:rPr>
              <a:t> </a:t>
            </a:r>
            <a:endParaRPr lang="ko-KR" altLang="en-US" sz="1200" dirty="0">
              <a:solidFill>
                <a:schemeClr val="tx1">
                  <a:lumMod val="95000"/>
                  <a:lumOff val="5000"/>
                </a:schemeClr>
              </a:solidFill>
            </a:endParaRPr>
          </a:p>
        </p:txBody>
      </p:sp>
      <p:cxnSp>
        <p:nvCxnSpPr>
          <p:cNvPr id="74" name="직선 화살표 연결선 73">
            <a:extLst>
              <a:ext uri="{FF2B5EF4-FFF2-40B4-BE49-F238E27FC236}">
                <a16:creationId xmlns:a16="http://schemas.microsoft.com/office/drawing/2014/main" id="{486DDD92-76D0-55B1-7CA6-9E29F14F7857}"/>
              </a:ext>
            </a:extLst>
          </p:cNvPr>
          <p:cNvCxnSpPr/>
          <p:nvPr/>
        </p:nvCxnSpPr>
        <p:spPr>
          <a:xfrm flipV="1">
            <a:off x="453613" y="3344721"/>
            <a:ext cx="0" cy="1001216"/>
          </a:xfrm>
          <a:prstGeom prst="straightConnector1">
            <a:avLst/>
          </a:prstGeom>
          <a:ln w="285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DF6DBB94-EB3F-5636-A054-37C4F330C15B}"/>
              </a:ext>
            </a:extLst>
          </p:cNvPr>
          <p:cNvSpPr txBox="1"/>
          <p:nvPr/>
        </p:nvSpPr>
        <p:spPr>
          <a:xfrm>
            <a:off x="101061" y="5008044"/>
            <a:ext cx="5423439" cy="1615827"/>
          </a:xfrm>
          <a:prstGeom prst="rect">
            <a:avLst/>
          </a:prstGeom>
          <a:noFill/>
          <a:ln>
            <a:solidFill>
              <a:schemeClr val="bg1">
                <a:lumMod val="50000"/>
              </a:schemeClr>
            </a:solidFill>
          </a:ln>
        </p:spPr>
        <p:txBody>
          <a:bodyPr wrap="square">
            <a:spAutoFit/>
          </a:bodyPr>
          <a:lstStyle/>
          <a:p>
            <a:pPr marL="228600" marR="0" indent="-228600" fontAlgn="base">
              <a:buAutoNum type="arabicPeriod"/>
            </a:pPr>
            <a:r>
              <a:rPr lang="ko-KR" altLang="en-US" sz="1100" dirty="0"/>
              <a:t>자유기술의 항변을 인정한다면 </a:t>
            </a:r>
            <a:r>
              <a:rPr lang="ko-KR" altLang="en-US" sz="1100" dirty="0" err="1"/>
              <a:t>공지예외적용주장을</a:t>
            </a:r>
            <a:r>
              <a:rPr lang="ko-KR" altLang="en-US" sz="1100" dirty="0"/>
              <a:t> 하여 등록된 특허는 실질적으로 권리행사를 할 수 없게 되어 </a:t>
            </a:r>
            <a:r>
              <a:rPr lang="ko-KR" altLang="en-US" sz="1100" dirty="0" err="1"/>
              <a:t>공지예외적용주장제도의</a:t>
            </a:r>
            <a:r>
              <a:rPr lang="ko-KR" altLang="en-US" sz="1100" dirty="0"/>
              <a:t> 취지를 </a:t>
            </a:r>
            <a:r>
              <a:rPr lang="ko-KR" altLang="en-US" sz="1100" dirty="0" err="1"/>
              <a:t>몰각시키고</a:t>
            </a:r>
            <a:r>
              <a:rPr lang="ko-KR" altLang="en-US" sz="1100" dirty="0"/>
              <a:t> 제도를 형해화</a:t>
            </a:r>
            <a:endParaRPr lang="en-US" altLang="ko-KR" sz="1100" dirty="0"/>
          </a:p>
          <a:p>
            <a:pPr marL="228600" marR="0" indent="-228600" fontAlgn="base">
              <a:buAutoNum type="arabicPeriod"/>
            </a:pPr>
            <a:r>
              <a:rPr lang="ko-KR" altLang="en-US" sz="1100" dirty="0"/>
              <a:t>자유기술의 항변은 애당초 특허를 받을 수 없는 공공영역에 대해서 권리범위를 인정하지 않겠다는 것인데</a:t>
            </a:r>
            <a:r>
              <a:rPr lang="en-US" altLang="ko-KR" sz="1100" dirty="0"/>
              <a:t>, </a:t>
            </a:r>
            <a:r>
              <a:rPr lang="ko-KR" altLang="en-US" sz="1100" dirty="0"/>
              <a:t>시기적</a:t>
            </a:r>
            <a:r>
              <a:rPr lang="en-US" altLang="ko-KR" sz="1100" dirty="0"/>
              <a:t>, </a:t>
            </a:r>
            <a:r>
              <a:rPr lang="ko-KR" altLang="en-US" sz="1100" dirty="0"/>
              <a:t>절차적 요건 등을 지키면서 </a:t>
            </a:r>
            <a:r>
              <a:rPr lang="ko-KR" altLang="en-US" sz="1100" dirty="0" err="1"/>
              <a:t>공지예외적용주장을</a:t>
            </a:r>
            <a:r>
              <a:rPr lang="ko-KR" altLang="en-US" sz="1100" dirty="0"/>
              <a:t> 하였다면 입법적 결단을 통해 공공영역이 </a:t>
            </a:r>
            <a:r>
              <a:rPr lang="ko-KR" altLang="en-US" sz="1100" dirty="0" err="1"/>
              <a:t>독점배타적인</a:t>
            </a:r>
            <a:r>
              <a:rPr lang="ko-KR" altLang="en-US" sz="1100" dirty="0"/>
              <a:t> 특허를 받을 수 있는 영역에 편입되어 더 이상 공공영역이 아님</a:t>
            </a:r>
            <a:endParaRPr lang="en-US" altLang="ko-KR" sz="1100" dirty="0"/>
          </a:p>
          <a:p>
            <a:pPr marL="228600" marR="0" indent="-228600" fontAlgn="base">
              <a:buAutoNum type="arabicPeriod"/>
            </a:pPr>
            <a:r>
              <a:rPr lang="ko-KR" altLang="en-US" sz="1100" dirty="0"/>
              <a:t>공지된 발명에 대하여 별다른 창작적 기여를 하지 않은 제</a:t>
            </a:r>
            <a:r>
              <a:rPr lang="en-US" altLang="ko-KR" sz="1100" dirty="0"/>
              <a:t>3</a:t>
            </a:r>
            <a:r>
              <a:rPr lang="ko-KR" altLang="en-US" sz="1100" dirty="0"/>
              <a:t>자에게 특허권자와의 형평을 도모하기 위하여 인정되는 선사용에 의한 통상실시권</a:t>
            </a:r>
            <a:r>
              <a:rPr lang="en-US" altLang="ko-KR" sz="1100" dirty="0"/>
              <a:t>(</a:t>
            </a:r>
            <a:r>
              <a:rPr lang="ko-KR" altLang="en-US" sz="1100" dirty="0"/>
              <a:t>法 </a:t>
            </a:r>
            <a:r>
              <a:rPr lang="en-US" altLang="ko-KR" sz="1100" dirty="0"/>
              <a:t>103)</a:t>
            </a:r>
            <a:r>
              <a:rPr lang="ko-KR" altLang="en-US" sz="1100" dirty="0"/>
              <a:t>을 넘어서는 무상의 실시 권한을 부여하는 것은 온당치 않음</a:t>
            </a:r>
          </a:p>
        </p:txBody>
      </p:sp>
      <p:graphicFrame>
        <p:nvGraphicFramePr>
          <p:cNvPr id="77" name="표 76">
            <a:extLst>
              <a:ext uri="{FF2B5EF4-FFF2-40B4-BE49-F238E27FC236}">
                <a16:creationId xmlns:a16="http://schemas.microsoft.com/office/drawing/2014/main" id="{40AE533A-4DAC-C1C7-D117-2938B5DA030F}"/>
              </a:ext>
            </a:extLst>
          </p:cNvPr>
          <p:cNvGraphicFramePr>
            <a:graphicFrameLocks noGrp="1"/>
          </p:cNvGraphicFramePr>
          <p:nvPr/>
        </p:nvGraphicFramePr>
        <p:xfrm>
          <a:off x="6116462" y="5605596"/>
          <a:ext cx="3300261" cy="975360"/>
        </p:xfrm>
        <a:graphic>
          <a:graphicData uri="http://schemas.openxmlformats.org/drawingml/2006/table">
            <a:tbl>
              <a:tblPr>
                <a:tableStyleId>{8799B23B-EC83-4686-B30A-512413B5E67A}</a:tableStyleId>
              </a:tblPr>
              <a:tblGrid>
                <a:gridCol w="1100087">
                  <a:extLst>
                    <a:ext uri="{9D8B030D-6E8A-4147-A177-3AD203B41FA5}">
                      <a16:colId xmlns:a16="http://schemas.microsoft.com/office/drawing/2014/main" val="20000"/>
                    </a:ext>
                  </a:extLst>
                </a:gridCol>
                <a:gridCol w="1100087">
                  <a:extLst>
                    <a:ext uri="{9D8B030D-6E8A-4147-A177-3AD203B41FA5}">
                      <a16:colId xmlns:a16="http://schemas.microsoft.com/office/drawing/2014/main" val="20002"/>
                    </a:ext>
                  </a:extLst>
                </a:gridCol>
                <a:gridCol w="1100087">
                  <a:extLst>
                    <a:ext uri="{9D8B030D-6E8A-4147-A177-3AD203B41FA5}">
                      <a16:colId xmlns:a16="http://schemas.microsoft.com/office/drawing/2014/main" val="20003"/>
                    </a:ext>
                  </a:extLst>
                </a:gridCol>
              </a:tblGrid>
              <a:tr h="170666">
                <a:tc>
                  <a:txBody>
                    <a:bodyPr/>
                    <a:lstStyle/>
                    <a:p>
                      <a:pPr algn="ctr" latinLnBrk="1"/>
                      <a:r>
                        <a:rPr lang="ko-KR" altLang="en-US" sz="1000" b="1" dirty="0"/>
                        <a:t>특허발명의 특정</a:t>
                      </a:r>
                    </a:p>
                  </a:txBody>
                  <a:tcPr anchor="ctr">
                    <a:solidFill>
                      <a:schemeClr val="accent1">
                        <a:lumMod val="20000"/>
                        <a:lumOff val="80000"/>
                      </a:schemeClr>
                    </a:solidFill>
                  </a:tcPr>
                </a:tc>
                <a:tc>
                  <a:txBody>
                    <a:bodyPr/>
                    <a:lstStyle/>
                    <a:p>
                      <a:pPr algn="ctr" latinLnBrk="1"/>
                      <a:r>
                        <a:rPr lang="ko-KR" altLang="en-US" sz="1000" b="1" dirty="0"/>
                        <a:t>피고제품의 특정</a:t>
                      </a:r>
                    </a:p>
                  </a:txBody>
                  <a:tcPr anchor="ctr">
                    <a:solidFill>
                      <a:schemeClr val="accent1">
                        <a:lumMod val="20000"/>
                        <a:lumOff val="80000"/>
                      </a:schemeClr>
                    </a:solidFill>
                  </a:tcPr>
                </a:tc>
                <a:tc>
                  <a:txBody>
                    <a:bodyPr/>
                    <a:lstStyle/>
                    <a:p>
                      <a:pPr algn="ctr" latinLnBrk="1"/>
                      <a:r>
                        <a:rPr lang="ko-KR" altLang="en-US" sz="1000" b="1" dirty="0"/>
                        <a:t>판단</a:t>
                      </a:r>
                      <a:r>
                        <a:rPr lang="en-US" altLang="ko-KR" sz="1000" b="1" dirty="0"/>
                        <a:t>(○/×/△) </a:t>
                      </a:r>
                      <a:endParaRPr lang="ko-KR" altLang="en-US" sz="1000" b="1" dirty="0"/>
                    </a:p>
                  </a:txBody>
                  <a:tcPr anchor="ctr">
                    <a:solidFill>
                      <a:schemeClr val="accent1">
                        <a:lumMod val="20000"/>
                        <a:lumOff val="80000"/>
                      </a:schemeClr>
                    </a:solidFill>
                  </a:tcPr>
                </a:tc>
                <a:extLst>
                  <a:ext uri="{0D108BD9-81ED-4DB2-BD59-A6C34878D82A}">
                    <a16:rowId xmlns:a16="http://schemas.microsoft.com/office/drawing/2014/main" val="10000"/>
                  </a:ext>
                </a:extLst>
              </a:tr>
              <a:tr h="170666">
                <a:tc>
                  <a:txBody>
                    <a:bodyPr/>
                    <a:lstStyle/>
                    <a:p>
                      <a:pPr algn="ctr" latinLnBrk="1"/>
                      <a:r>
                        <a:rPr lang="en-US" altLang="ko-KR" sz="1000" dirty="0"/>
                        <a:t>a</a:t>
                      </a:r>
                      <a:endParaRPr lang="ko-KR" altLang="en-US" sz="1000" dirty="0"/>
                    </a:p>
                  </a:txBody>
                  <a:tcPr anchor="ctr"/>
                </a:tc>
                <a:tc>
                  <a:txBody>
                    <a:bodyPr/>
                    <a:lstStyle/>
                    <a:p>
                      <a:pPr algn="ctr" latinLnBrk="1"/>
                      <a:r>
                        <a:rPr lang="en-US" altLang="ko-KR" sz="1000" dirty="0"/>
                        <a:t>a</a:t>
                      </a:r>
                      <a:endParaRPr lang="ko-KR" altLang="en-US" sz="1000" dirty="0"/>
                    </a:p>
                  </a:txBody>
                  <a:tcPr anchor="ctr"/>
                </a:tc>
                <a:tc>
                  <a:txBody>
                    <a:bodyPr/>
                    <a:lstStyle/>
                    <a:p>
                      <a:pPr algn="ctr" latinLnBrk="1"/>
                      <a:r>
                        <a:rPr lang="en-US" altLang="ko-KR" sz="1000" dirty="0"/>
                        <a:t>○</a:t>
                      </a:r>
                      <a:endParaRPr lang="ko-KR" altLang="en-US" sz="1000" dirty="0"/>
                    </a:p>
                  </a:txBody>
                  <a:tcPr anchor="ctr"/>
                </a:tc>
                <a:extLst>
                  <a:ext uri="{0D108BD9-81ED-4DB2-BD59-A6C34878D82A}">
                    <a16:rowId xmlns:a16="http://schemas.microsoft.com/office/drawing/2014/main" val="10001"/>
                  </a:ext>
                </a:extLst>
              </a:tr>
              <a:tr h="170666">
                <a:tc>
                  <a:txBody>
                    <a:bodyPr/>
                    <a:lstStyle/>
                    <a:p>
                      <a:pPr algn="ctr" latinLnBrk="1"/>
                      <a:r>
                        <a:rPr lang="en-US" altLang="ko-KR" sz="1000" dirty="0"/>
                        <a:t>b</a:t>
                      </a:r>
                      <a:endParaRPr lang="ko-KR" altLang="en-US" sz="1000" dirty="0"/>
                    </a:p>
                  </a:txBody>
                  <a:tcPr anchor="ctr"/>
                </a:tc>
                <a:tc>
                  <a:txBody>
                    <a:bodyPr/>
                    <a:lstStyle/>
                    <a:p>
                      <a:pPr algn="ctr" latinLnBrk="1"/>
                      <a:r>
                        <a:rPr lang="en-US" altLang="ko-KR" sz="1000" dirty="0"/>
                        <a:t>b</a:t>
                      </a:r>
                      <a:endParaRPr lang="ko-KR" altLang="en-US" sz="1000" dirty="0"/>
                    </a:p>
                  </a:txBody>
                  <a:tcPr anchor="ctr"/>
                </a:tc>
                <a:tc>
                  <a:txBody>
                    <a:bodyPr/>
                    <a:lstStyle/>
                    <a:p>
                      <a:pPr algn="ctr" latinLnBrk="1"/>
                      <a:r>
                        <a:rPr lang="en-US" altLang="ko-KR" sz="1000" dirty="0"/>
                        <a:t>○</a:t>
                      </a:r>
                      <a:endParaRPr lang="ko-KR" altLang="en-US" sz="1000" dirty="0"/>
                    </a:p>
                  </a:txBody>
                  <a:tcPr anchor="ctr"/>
                </a:tc>
                <a:extLst>
                  <a:ext uri="{0D108BD9-81ED-4DB2-BD59-A6C34878D82A}">
                    <a16:rowId xmlns:a16="http://schemas.microsoft.com/office/drawing/2014/main" val="10002"/>
                  </a:ext>
                </a:extLst>
              </a:tr>
              <a:tr h="170666">
                <a:tc>
                  <a:txBody>
                    <a:bodyPr/>
                    <a:lstStyle/>
                    <a:p>
                      <a:pPr algn="ctr" latinLnBrk="1"/>
                      <a:r>
                        <a:rPr lang="en-US" altLang="ko-KR" sz="1000" dirty="0"/>
                        <a:t>c</a:t>
                      </a:r>
                      <a:endParaRPr lang="ko-KR" altLang="en-US" sz="1000" dirty="0"/>
                    </a:p>
                  </a:txBody>
                  <a:tcPr anchor="ctr"/>
                </a:tc>
                <a:tc>
                  <a:txBody>
                    <a:bodyPr/>
                    <a:lstStyle/>
                    <a:p>
                      <a:pPr algn="ctr" latinLnBrk="1"/>
                      <a:r>
                        <a:rPr lang="en-US" altLang="ko-KR" sz="1000" dirty="0" err="1"/>
                        <a:t>c2</a:t>
                      </a:r>
                      <a:endParaRPr lang="ko-KR" altLang="en-US" sz="1000" dirty="0"/>
                    </a:p>
                  </a:txBody>
                  <a:tcPr anchor="ctr"/>
                </a:tc>
                <a:tc>
                  <a:txBody>
                    <a:bodyPr/>
                    <a:lstStyle/>
                    <a:p>
                      <a:pPr algn="ctr" latinLnBrk="1"/>
                      <a:r>
                        <a:rPr lang="en-US" altLang="ko-KR" sz="1000" dirty="0"/>
                        <a:t>△</a:t>
                      </a:r>
                      <a:endParaRPr lang="ko-KR" altLang="en-US" sz="1000" dirty="0"/>
                    </a:p>
                  </a:txBody>
                  <a:tcPr anchor="ctr"/>
                </a:tc>
                <a:extLst>
                  <a:ext uri="{0D108BD9-81ED-4DB2-BD59-A6C34878D82A}">
                    <a16:rowId xmlns:a16="http://schemas.microsoft.com/office/drawing/2014/main" val="10003"/>
                  </a:ext>
                </a:extLst>
              </a:tr>
            </a:tbl>
          </a:graphicData>
        </a:graphic>
      </p:graphicFrame>
      <p:cxnSp>
        <p:nvCxnSpPr>
          <p:cNvPr id="79" name="연결선: 꺾임 78">
            <a:extLst>
              <a:ext uri="{FF2B5EF4-FFF2-40B4-BE49-F238E27FC236}">
                <a16:creationId xmlns:a16="http://schemas.microsoft.com/office/drawing/2014/main" id="{F489ACF1-75A3-4468-A494-F8F7A8AC6FC9}"/>
              </a:ext>
            </a:extLst>
          </p:cNvPr>
          <p:cNvCxnSpPr>
            <a:cxnSpLocks/>
            <a:stCxn id="19" idx="3"/>
            <a:endCxn id="7" idx="0"/>
          </p:cNvCxnSpPr>
          <p:nvPr/>
        </p:nvCxnSpPr>
        <p:spPr>
          <a:xfrm flipV="1">
            <a:off x="4505119" y="2743159"/>
            <a:ext cx="5279656" cy="75732"/>
          </a:xfrm>
          <a:prstGeom prst="bentConnector4">
            <a:avLst>
              <a:gd name="adj1" fmla="val 37467"/>
              <a:gd name="adj2" fmla="val 437825"/>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DB21E3F1-FCFB-1277-7331-E6AC703595E6}"/>
              </a:ext>
            </a:extLst>
          </p:cNvPr>
          <p:cNvSpPr txBox="1"/>
          <p:nvPr/>
        </p:nvSpPr>
        <p:spPr>
          <a:xfrm>
            <a:off x="4695825" y="2653607"/>
            <a:ext cx="1694928" cy="461665"/>
          </a:xfrm>
          <a:prstGeom prst="rect">
            <a:avLst/>
          </a:prstGeom>
          <a:solidFill>
            <a:schemeClr val="accent6">
              <a:lumMod val="50000"/>
            </a:schemeClr>
          </a:solidFill>
        </p:spPr>
        <p:txBody>
          <a:bodyPr wrap="square" rtlCol="0">
            <a:spAutoFit/>
          </a:bodyPr>
          <a:lstStyle/>
          <a:p>
            <a:pPr algn="ctr"/>
            <a:r>
              <a:rPr lang="ko-KR" altLang="en-US" sz="1400" dirty="0">
                <a:solidFill>
                  <a:schemeClr val="bg1"/>
                </a:solidFill>
              </a:rPr>
              <a:t>침해인지 판단</a:t>
            </a:r>
            <a:endParaRPr lang="en-US" altLang="ko-KR" sz="1400" dirty="0">
              <a:solidFill>
                <a:schemeClr val="bg1"/>
              </a:solidFill>
            </a:endParaRPr>
          </a:p>
          <a:p>
            <a:pPr algn="ctr"/>
            <a:r>
              <a:rPr lang="en-US" altLang="ko-KR" sz="1000" dirty="0">
                <a:solidFill>
                  <a:schemeClr val="bg1"/>
                </a:solidFill>
              </a:rPr>
              <a:t>(</a:t>
            </a:r>
            <a:r>
              <a:rPr lang="ko-KR" altLang="en-US" sz="1000" dirty="0">
                <a:solidFill>
                  <a:schemeClr val="bg1"/>
                </a:solidFill>
              </a:rPr>
              <a:t>특허발명과 피고제품의 대비</a:t>
            </a:r>
            <a:r>
              <a:rPr lang="en-US" altLang="ko-KR" sz="1000" dirty="0">
                <a:solidFill>
                  <a:schemeClr val="bg1"/>
                </a:solidFill>
              </a:rPr>
              <a:t>)</a:t>
            </a:r>
            <a:endParaRPr lang="ko-KR" altLang="en-US" sz="1000" dirty="0">
              <a:solidFill>
                <a:schemeClr val="bg1"/>
              </a:solidFill>
            </a:endParaRPr>
          </a:p>
        </p:txBody>
      </p:sp>
      <p:cxnSp>
        <p:nvCxnSpPr>
          <p:cNvPr id="86" name="연결선: 꺾임 85">
            <a:extLst>
              <a:ext uri="{FF2B5EF4-FFF2-40B4-BE49-F238E27FC236}">
                <a16:creationId xmlns:a16="http://schemas.microsoft.com/office/drawing/2014/main" id="{EA0E28D3-8346-D381-DA21-9C1E2C7C8EE2}"/>
              </a:ext>
            </a:extLst>
          </p:cNvPr>
          <p:cNvCxnSpPr>
            <a:cxnSpLocks/>
            <a:stCxn id="84" idx="2"/>
            <a:endCxn id="77" idx="0"/>
          </p:cNvCxnSpPr>
          <p:nvPr/>
        </p:nvCxnSpPr>
        <p:spPr>
          <a:xfrm rot="16200000" flipH="1">
            <a:off x="5409778" y="3248782"/>
            <a:ext cx="2490324" cy="2223303"/>
          </a:xfrm>
          <a:prstGeom prst="bentConnector3">
            <a:avLst>
              <a:gd name="adj1" fmla="val 37378"/>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90" name="말풍선: 모서리가 둥근 사각형 89">
            <a:extLst>
              <a:ext uri="{FF2B5EF4-FFF2-40B4-BE49-F238E27FC236}">
                <a16:creationId xmlns:a16="http://schemas.microsoft.com/office/drawing/2014/main" id="{6B760041-A908-9407-05A0-F3FB7827C5E4}"/>
              </a:ext>
            </a:extLst>
          </p:cNvPr>
          <p:cNvSpPr/>
          <p:nvPr/>
        </p:nvSpPr>
        <p:spPr>
          <a:xfrm>
            <a:off x="9707400" y="5493700"/>
            <a:ext cx="2138714" cy="804524"/>
          </a:xfrm>
          <a:prstGeom prst="wedgeRoundRectCallout">
            <a:avLst>
              <a:gd name="adj1" fmla="val -54367"/>
              <a:gd name="adj2" fmla="val -106390"/>
              <a:gd name="adj3" fmla="val 16667"/>
            </a:avLst>
          </a:prstGeom>
          <a:solidFill>
            <a:schemeClr val="accent2">
              <a:alpha val="30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특허발명과 대비하기 위하여 특허발명과 대응되는 구성</a:t>
            </a:r>
            <a:endParaRPr lang="en-US" altLang="ko-KR" sz="1200" dirty="0">
              <a:solidFill>
                <a:schemeClr val="tx1"/>
              </a:solidFill>
            </a:endParaRPr>
          </a:p>
          <a:p>
            <a:pPr algn="ctr"/>
            <a:r>
              <a:rPr lang="en-US" altLang="ko-KR" sz="1000" dirty="0">
                <a:solidFill>
                  <a:schemeClr val="tx1"/>
                </a:solidFill>
              </a:rPr>
              <a:t>(</a:t>
            </a:r>
            <a:r>
              <a:rPr lang="ko-KR" altLang="en-US" sz="1000" dirty="0">
                <a:solidFill>
                  <a:schemeClr val="tx1"/>
                </a:solidFill>
              </a:rPr>
              <a:t>대응되지 않은 구성 </a:t>
            </a:r>
            <a:r>
              <a:rPr lang="en-US" altLang="ko-KR" sz="1000" dirty="0">
                <a:solidFill>
                  <a:schemeClr val="tx1"/>
                </a:solidFill>
              </a:rPr>
              <a:t>d</a:t>
            </a:r>
            <a:r>
              <a:rPr lang="ko-KR" altLang="en-US" sz="1000" dirty="0">
                <a:solidFill>
                  <a:schemeClr val="tx1"/>
                </a:solidFill>
              </a:rPr>
              <a:t>는 대비함에 있어서 영향 </a:t>
            </a:r>
            <a:r>
              <a:rPr lang="en-US" altLang="ko-KR" sz="1000" dirty="0">
                <a:solidFill>
                  <a:schemeClr val="tx1"/>
                </a:solidFill>
              </a:rPr>
              <a:t>X)</a:t>
            </a:r>
            <a:r>
              <a:rPr lang="ko-KR" altLang="en-US" sz="1200" dirty="0">
                <a:solidFill>
                  <a:schemeClr val="tx1"/>
                </a:solidFill>
              </a:rPr>
              <a:t> </a:t>
            </a:r>
          </a:p>
        </p:txBody>
      </p:sp>
      <p:sp>
        <p:nvSpPr>
          <p:cNvPr id="91" name="말풍선: 모서리가 둥근 사각형 90">
            <a:extLst>
              <a:ext uri="{FF2B5EF4-FFF2-40B4-BE49-F238E27FC236}">
                <a16:creationId xmlns:a16="http://schemas.microsoft.com/office/drawing/2014/main" id="{DC8E458E-6643-A6E4-7ABF-3BD9CF0B8A04}"/>
              </a:ext>
            </a:extLst>
          </p:cNvPr>
          <p:cNvSpPr/>
          <p:nvPr/>
        </p:nvSpPr>
        <p:spPr>
          <a:xfrm>
            <a:off x="9784769" y="4468871"/>
            <a:ext cx="2302456" cy="418281"/>
          </a:xfrm>
          <a:prstGeom prst="wedgeRoundRectCallout">
            <a:avLst>
              <a:gd name="adj1" fmla="val -11134"/>
              <a:gd name="adj2" fmla="val -114301"/>
              <a:gd name="adj3" fmla="val 16667"/>
            </a:avLst>
          </a:prstGeom>
          <a:solidFill>
            <a:schemeClr val="accent2">
              <a:alpha val="30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판결의 효력이 미치는 범위를 명확히 하기 위하여 다른 것과 구별</a:t>
            </a:r>
          </a:p>
        </p:txBody>
      </p:sp>
      <p:sp>
        <p:nvSpPr>
          <p:cNvPr id="92" name="TextBox 91">
            <a:extLst>
              <a:ext uri="{FF2B5EF4-FFF2-40B4-BE49-F238E27FC236}">
                <a16:creationId xmlns:a16="http://schemas.microsoft.com/office/drawing/2014/main" id="{AED4F92F-1001-0742-56B4-31310BAAD720}"/>
              </a:ext>
            </a:extLst>
          </p:cNvPr>
          <p:cNvSpPr txBox="1"/>
          <p:nvPr/>
        </p:nvSpPr>
        <p:spPr>
          <a:xfrm>
            <a:off x="5986411" y="5348694"/>
            <a:ext cx="1826141" cy="261610"/>
          </a:xfrm>
          <a:prstGeom prst="rect">
            <a:avLst/>
          </a:prstGeom>
          <a:noFill/>
        </p:spPr>
        <p:txBody>
          <a:bodyPr wrap="none" rtlCol="0">
            <a:spAutoFit/>
          </a:bodyPr>
          <a:lstStyle/>
          <a:p>
            <a:r>
              <a:rPr lang="ko-KR" altLang="en-US" sz="1100" dirty="0">
                <a:solidFill>
                  <a:srgbClr val="FF0000"/>
                </a:solidFill>
              </a:rPr>
              <a:t>청구항 </a:t>
            </a:r>
            <a:r>
              <a:rPr lang="ko-KR" altLang="en-US" sz="1100" dirty="0" err="1">
                <a:solidFill>
                  <a:srgbClr val="FF0000"/>
                </a:solidFill>
              </a:rPr>
              <a:t>대비표</a:t>
            </a:r>
            <a:r>
              <a:rPr lang="en-US" altLang="ko-KR" sz="1100" dirty="0">
                <a:solidFill>
                  <a:srgbClr val="FF0000"/>
                </a:solidFill>
              </a:rPr>
              <a:t>(Claim-chart)</a:t>
            </a:r>
            <a:endParaRPr lang="ko-KR" altLang="en-US" sz="1100" dirty="0">
              <a:solidFill>
                <a:srgbClr val="FF0000"/>
              </a:solidFill>
            </a:endParaRPr>
          </a:p>
        </p:txBody>
      </p:sp>
      <p:sp>
        <p:nvSpPr>
          <p:cNvPr id="3" name="TextBox 2">
            <a:extLst>
              <a:ext uri="{FF2B5EF4-FFF2-40B4-BE49-F238E27FC236}">
                <a16:creationId xmlns:a16="http://schemas.microsoft.com/office/drawing/2014/main" id="{AE43B6D9-2D4D-30F6-B689-5F69A6234C77}"/>
              </a:ext>
            </a:extLst>
          </p:cNvPr>
          <p:cNvSpPr txBox="1"/>
          <p:nvPr/>
        </p:nvSpPr>
        <p:spPr>
          <a:xfrm>
            <a:off x="3638093" y="787019"/>
            <a:ext cx="2171036" cy="261610"/>
          </a:xfrm>
          <a:prstGeom prst="rect">
            <a:avLst/>
          </a:prstGeom>
          <a:noFill/>
        </p:spPr>
        <p:txBody>
          <a:bodyPr wrap="square" rtlCol="0">
            <a:spAutoFit/>
          </a:bodyPr>
          <a:lstStyle/>
          <a:p>
            <a:r>
              <a:rPr lang="en-US" altLang="ko-KR" sz="1100" dirty="0" err="1"/>
              <a:t>cf</a:t>
            </a:r>
            <a:r>
              <a:rPr lang="en-US" altLang="ko-KR" sz="1100" dirty="0"/>
              <a:t>) </a:t>
            </a:r>
            <a:r>
              <a:rPr lang="ko-KR" altLang="en-US" sz="1100" dirty="0"/>
              <a:t>대응구성설 </a:t>
            </a:r>
            <a:r>
              <a:rPr lang="en-US" altLang="ko-KR" sz="1100" dirty="0"/>
              <a:t>– a+ b+ </a:t>
            </a:r>
            <a:r>
              <a:rPr lang="en-US" altLang="ko-KR" sz="1100" dirty="0" err="1"/>
              <a:t>c2</a:t>
            </a:r>
            <a:r>
              <a:rPr lang="en-US" altLang="ko-KR" sz="1100" dirty="0"/>
              <a:t> </a:t>
            </a:r>
            <a:endParaRPr lang="ko-KR" altLang="en-US" sz="1100" dirty="0"/>
          </a:p>
        </p:txBody>
      </p:sp>
    </p:spTree>
    <p:extLst>
      <p:ext uri="{BB962C8B-B14F-4D97-AF65-F5344CB8AC3E}">
        <p14:creationId xmlns:p14="http://schemas.microsoft.com/office/powerpoint/2010/main" val="1412592911"/>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직사각형 14"/>
          <p:cNvSpPr/>
          <p:nvPr/>
        </p:nvSpPr>
        <p:spPr>
          <a:xfrm>
            <a:off x="429412" y="3247265"/>
            <a:ext cx="11233248" cy="1764196"/>
          </a:xfrm>
          <a:prstGeom prst="rect">
            <a:avLst/>
          </a:prstGeom>
          <a:no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n-ea"/>
            </a:endParaRPr>
          </a:p>
        </p:txBody>
      </p:sp>
      <p:cxnSp>
        <p:nvCxnSpPr>
          <p:cNvPr id="16" name="직선 화살표 연결선 15"/>
          <p:cNvCxnSpPr/>
          <p:nvPr/>
        </p:nvCxnSpPr>
        <p:spPr>
          <a:xfrm>
            <a:off x="813455" y="4165117"/>
            <a:ext cx="10561173" cy="0"/>
          </a:xfrm>
          <a:prstGeom prst="straightConnector1">
            <a:avLst/>
          </a:prstGeom>
          <a:ln w="38100">
            <a:solidFill>
              <a:schemeClr val="bg1">
                <a:lumMod val="50000"/>
              </a:schemeClr>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1160710" y="3426304"/>
            <a:ext cx="619080"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en-US" altLang="ko-KR" sz="1200" dirty="0" err="1">
                <a:solidFill>
                  <a:schemeClr val="tx1"/>
                </a:solidFill>
                <a:latin typeface="+mn-ea"/>
              </a:rPr>
              <a:t>a+b+c</a:t>
            </a:r>
            <a:endParaRPr lang="en-US" altLang="ko-KR" sz="1200" dirty="0">
              <a:solidFill>
                <a:schemeClr val="tx1"/>
              </a:solidFill>
              <a:latin typeface="+mn-ea"/>
            </a:endParaRPr>
          </a:p>
          <a:p>
            <a:pPr algn="ctr"/>
            <a:r>
              <a:rPr lang="ko-KR" altLang="en-US" sz="1200" dirty="0">
                <a:solidFill>
                  <a:schemeClr val="tx1"/>
                </a:solidFill>
                <a:latin typeface="+mn-ea"/>
              </a:rPr>
              <a:t>공지</a:t>
            </a:r>
          </a:p>
        </p:txBody>
      </p:sp>
      <p:sp>
        <p:nvSpPr>
          <p:cNvPr id="28" name="TextBox 27"/>
          <p:cNvSpPr txBox="1"/>
          <p:nvPr/>
        </p:nvSpPr>
        <p:spPr>
          <a:xfrm>
            <a:off x="6212798" y="4426033"/>
            <a:ext cx="1077539"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乙 </a:t>
            </a:r>
            <a:r>
              <a:rPr lang="en-US" altLang="ko-KR" sz="1200" dirty="0">
                <a:solidFill>
                  <a:schemeClr val="tx1"/>
                </a:solidFill>
                <a:latin typeface="+mn-ea"/>
              </a:rPr>
              <a:t>a+b+c2+d</a:t>
            </a:r>
          </a:p>
          <a:p>
            <a:pPr algn="ctr"/>
            <a:r>
              <a:rPr lang="ko-KR" altLang="en-US" sz="1200" dirty="0">
                <a:solidFill>
                  <a:schemeClr val="tx1"/>
                </a:solidFill>
                <a:latin typeface="+mn-ea"/>
              </a:rPr>
              <a:t>실시</a:t>
            </a:r>
          </a:p>
        </p:txBody>
      </p:sp>
      <p:graphicFrame>
        <p:nvGraphicFramePr>
          <p:cNvPr id="3" name="표 2"/>
          <p:cNvGraphicFramePr>
            <a:graphicFrameLocks noGrp="1"/>
          </p:cNvGraphicFramePr>
          <p:nvPr/>
        </p:nvGraphicFramePr>
        <p:xfrm>
          <a:off x="429412" y="5154375"/>
          <a:ext cx="11233249" cy="1543692"/>
        </p:xfrm>
        <a:graphic>
          <a:graphicData uri="http://schemas.openxmlformats.org/drawingml/2006/table">
            <a:tbl>
              <a:tblPr>
                <a:tableStyleId>{8799B23B-EC83-4686-B30A-512413B5E67A}</a:tableStyleId>
              </a:tblPr>
              <a:tblGrid>
                <a:gridCol w="768541">
                  <a:extLst>
                    <a:ext uri="{9D8B030D-6E8A-4147-A177-3AD203B41FA5}">
                      <a16:colId xmlns:a16="http://schemas.microsoft.com/office/drawing/2014/main" val="20000"/>
                    </a:ext>
                  </a:extLst>
                </a:gridCol>
                <a:gridCol w="2021746">
                  <a:extLst>
                    <a:ext uri="{9D8B030D-6E8A-4147-A177-3AD203B41FA5}">
                      <a16:colId xmlns:a16="http://schemas.microsoft.com/office/drawing/2014/main" val="20001"/>
                    </a:ext>
                  </a:extLst>
                </a:gridCol>
                <a:gridCol w="3879841">
                  <a:extLst>
                    <a:ext uri="{9D8B030D-6E8A-4147-A177-3AD203B41FA5}">
                      <a16:colId xmlns:a16="http://schemas.microsoft.com/office/drawing/2014/main" val="20002"/>
                    </a:ext>
                  </a:extLst>
                </a:gridCol>
                <a:gridCol w="4563121">
                  <a:extLst>
                    <a:ext uri="{9D8B030D-6E8A-4147-A177-3AD203B41FA5}">
                      <a16:colId xmlns:a16="http://schemas.microsoft.com/office/drawing/2014/main" val="20003"/>
                    </a:ext>
                  </a:extLst>
                </a:gridCol>
              </a:tblGrid>
              <a:tr h="296432">
                <a:tc gridSpan="2">
                  <a:txBody>
                    <a:bodyPr/>
                    <a:lstStyle/>
                    <a:p>
                      <a:pPr marL="0" marR="0" algn="ctr">
                        <a:lnSpc>
                          <a:spcPct val="130000"/>
                        </a:lnSpc>
                        <a:spcBef>
                          <a:spcPts val="0"/>
                        </a:spcBef>
                        <a:spcAft>
                          <a:spcPts val="0"/>
                        </a:spcAft>
                      </a:pPr>
                      <a:r>
                        <a:rPr lang="ko-KR" altLang="en-US" sz="1200" kern="1200" dirty="0"/>
                        <a:t>구 분</a:t>
                      </a:r>
                      <a:endParaRPr lang="ko-KR" altLang="en-US" sz="1200" kern="1200" dirty="0">
                        <a:solidFill>
                          <a:schemeClr val="tx1"/>
                        </a:solidFill>
                        <a:latin typeface="+mn-lt"/>
                        <a:ea typeface="+mn-ea"/>
                        <a:cs typeface="+mn-cs"/>
                      </a:endParaRPr>
                    </a:p>
                  </a:txBody>
                  <a:tcPr marL="23876" marR="23876" marT="17907" marB="17907" anchor="ctr">
                    <a:solidFill>
                      <a:schemeClr val="accent1">
                        <a:lumMod val="20000"/>
                        <a:lumOff val="80000"/>
                      </a:schemeClr>
                    </a:solidFill>
                  </a:tcPr>
                </a:tc>
                <a:tc hMerge="1">
                  <a:txBody>
                    <a:bodyPr/>
                    <a:lstStyle/>
                    <a:p>
                      <a:pPr latinLnBrk="1"/>
                      <a:endParaRPr lang="ko-KR" altLang="en-US"/>
                    </a:p>
                  </a:txBody>
                  <a:tcPr/>
                </a:tc>
                <a:tc>
                  <a:txBody>
                    <a:bodyPr/>
                    <a:lstStyle/>
                    <a:p>
                      <a:pPr marL="0" marR="0" algn="ctr">
                        <a:lnSpc>
                          <a:spcPct val="130000"/>
                        </a:lnSpc>
                        <a:spcBef>
                          <a:spcPts val="0"/>
                        </a:spcBef>
                        <a:spcAft>
                          <a:spcPts val="0"/>
                        </a:spcAft>
                      </a:pPr>
                      <a:r>
                        <a:rPr lang="ko-KR" altLang="en-US" sz="1200" dirty="0">
                          <a:effectLst/>
                        </a:rPr>
                        <a:t>특허권 하자의 항변</a:t>
                      </a:r>
                      <a:r>
                        <a:rPr lang="en-US" altLang="ko-KR" sz="1200" dirty="0">
                          <a:effectLst/>
                        </a:rPr>
                        <a:t>(</a:t>
                      </a:r>
                      <a:r>
                        <a:rPr lang="ko-KR" altLang="en-US" sz="1200" dirty="0">
                          <a:effectLst/>
                        </a:rPr>
                        <a:t>무효의 항변</a:t>
                      </a:r>
                      <a:r>
                        <a:rPr lang="en-US" altLang="ko-KR" sz="1200" dirty="0">
                          <a:effectLst/>
                        </a:rPr>
                        <a:t>)</a:t>
                      </a:r>
                      <a:endParaRPr lang="ko-KR" altLang="en-US" sz="1200" dirty="0">
                        <a:solidFill>
                          <a:srgbClr val="000000"/>
                        </a:solidFill>
                        <a:effectLst/>
                        <a:latin typeface="Rix모던고딕 L" panose="02020603020101020101" pitchFamily="18" charset="-127"/>
                      </a:endParaRPr>
                    </a:p>
                  </a:txBody>
                  <a:tcPr marL="23876" marR="23876" marT="17907" marB="17907" anchor="ctr">
                    <a:solidFill>
                      <a:schemeClr val="accent1">
                        <a:lumMod val="20000"/>
                        <a:lumOff val="80000"/>
                      </a:schemeClr>
                    </a:solidFill>
                  </a:tcPr>
                </a:tc>
                <a:tc>
                  <a:txBody>
                    <a:bodyPr/>
                    <a:lstStyle/>
                    <a:p>
                      <a:pPr marL="0" marR="0" algn="ctr">
                        <a:lnSpc>
                          <a:spcPct val="130000"/>
                        </a:lnSpc>
                        <a:spcBef>
                          <a:spcPts val="0"/>
                        </a:spcBef>
                        <a:spcAft>
                          <a:spcPts val="0"/>
                        </a:spcAft>
                      </a:pPr>
                      <a:r>
                        <a:rPr lang="ko-KR" altLang="en-US" sz="1200" dirty="0">
                          <a:effectLst/>
                        </a:rPr>
                        <a:t>자유기술의 항변</a:t>
                      </a:r>
                      <a:endParaRPr lang="ko-KR" altLang="en-US" sz="1200" dirty="0">
                        <a:solidFill>
                          <a:srgbClr val="000000"/>
                        </a:solidFill>
                        <a:effectLst/>
                        <a:latin typeface="Rix모던고딕 L" panose="02020603020101020101" pitchFamily="18" charset="-127"/>
                      </a:endParaRPr>
                    </a:p>
                  </a:txBody>
                  <a:tcPr marL="23876" marR="23876" marT="17907" marB="17907" anchor="ctr">
                    <a:solidFill>
                      <a:schemeClr val="accent1">
                        <a:lumMod val="20000"/>
                        <a:lumOff val="80000"/>
                      </a:schemeClr>
                    </a:solidFill>
                  </a:tcPr>
                </a:tc>
                <a:extLst>
                  <a:ext uri="{0D108BD9-81ED-4DB2-BD59-A6C34878D82A}">
                    <a16:rowId xmlns:a16="http://schemas.microsoft.com/office/drawing/2014/main" val="10000"/>
                  </a:ext>
                </a:extLst>
              </a:tr>
              <a:tr h="296432">
                <a:tc gridSpan="2">
                  <a:txBody>
                    <a:bodyPr/>
                    <a:lstStyle/>
                    <a:p>
                      <a:pPr marL="0" marR="0" algn="ctr">
                        <a:lnSpc>
                          <a:spcPct val="130000"/>
                        </a:lnSpc>
                        <a:spcBef>
                          <a:spcPts val="0"/>
                        </a:spcBef>
                        <a:spcAft>
                          <a:spcPts val="0"/>
                        </a:spcAft>
                      </a:pPr>
                      <a:r>
                        <a:rPr lang="ko-KR" altLang="en-US" sz="1200" kern="1200"/>
                        <a:t>판단대상</a:t>
                      </a:r>
                      <a:endParaRPr lang="ko-KR" altLang="en-US" sz="1200" kern="1200">
                        <a:solidFill>
                          <a:schemeClr val="tx1"/>
                        </a:solidFill>
                        <a:latin typeface="+mn-lt"/>
                        <a:ea typeface="+mn-ea"/>
                        <a:cs typeface="+mn-cs"/>
                      </a:endParaRPr>
                    </a:p>
                  </a:txBody>
                  <a:tcPr marL="23876" marR="23876" marT="17907" marB="17907" anchor="ctr"/>
                </a:tc>
                <a:tc hMerge="1">
                  <a:txBody>
                    <a:bodyPr/>
                    <a:lstStyle/>
                    <a:p>
                      <a:pPr latinLnBrk="1"/>
                      <a:endParaRPr lang="ko-KR" altLang="en-US"/>
                    </a:p>
                  </a:txBody>
                  <a:tcPr/>
                </a:tc>
                <a:tc>
                  <a:txBody>
                    <a:bodyPr/>
                    <a:lstStyle/>
                    <a:p>
                      <a:pPr marL="35560" marR="35560" algn="ctr">
                        <a:lnSpc>
                          <a:spcPct val="130000"/>
                        </a:lnSpc>
                        <a:spcBef>
                          <a:spcPts val="0"/>
                        </a:spcBef>
                        <a:spcAft>
                          <a:spcPts val="0"/>
                        </a:spcAft>
                      </a:pPr>
                      <a:r>
                        <a:rPr lang="ko-KR" altLang="en-US" sz="1200" dirty="0">
                          <a:effectLst/>
                        </a:rPr>
                        <a:t>공지기술 </a:t>
                      </a:r>
                      <a:r>
                        <a:rPr lang="en-US" altLang="ko-KR" sz="1200" dirty="0">
                          <a:effectLst/>
                        </a:rPr>
                        <a:t>vs </a:t>
                      </a:r>
                      <a:r>
                        <a:rPr lang="ko-KR" altLang="en-US" sz="1200" dirty="0">
                          <a:effectLst/>
                        </a:rPr>
                        <a:t>특허발명</a:t>
                      </a:r>
                      <a:endParaRPr lang="ko-KR" altLang="en-US" sz="1200" dirty="0">
                        <a:solidFill>
                          <a:srgbClr val="000000"/>
                        </a:solidFill>
                        <a:effectLst/>
                        <a:latin typeface="Rix모던고딕 L" panose="02020603020101020101" pitchFamily="18" charset="-127"/>
                      </a:endParaRPr>
                    </a:p>
                  </a:txBody>
                  <a:tcPr marL="23876" marR="23876" marT="17907" marB="17907" anchor="ctr"/>
                </a:tc>
                <a:tc>
                  <a:txBody>
                    <a:bodyPr/>
                    <a:lstStyle/>
                    <a:p>
                      <a:pPr marL="35560" marR="35560" algn="ctr">
                        <a:lnSpc>
                          <a:spcPct val="130000"/>
                        </a:lnSpc>
                        <a:spcBef>
                          <a:spcPts val="0"/>
                        </a:spcBef>
                        <a:spcAft>
                          <a:spcPts val="0"/>
                        </a:spcAft>
                      </a:pPr>
                      <a:r>
                        <a:rPr lang="ko-KR" altLang="en-US" sz="1200" dirty="0">
                          <a:effectLst/>
                        </a:rPr>
                        <a:t>공지기술 </a:t>
                      </a:r>
                      <a:r>
                        <a:rPr lang="en-US" altLang="ko-KR" sz="1200" dirty="0">
                          <a:effectLst/>
                        </a:rPr>
                        <a:t>vs </a:t>
                      </a:r>
                      <a:r>
                        <a:rPr lang="ko-KR" altLang="en-US" sz="1200" dirty="0">
                          <a:effectLst/>
                        </a:rPr>
                        <a:t>확인대상발명</a:t>
                      </a:r>
                      <a:r>
                        <a:rPr lang="en-US" altLang="ko-KR" sz="1200" dirty="0">
                          <a:effectLst/>
                        </a:rPr>
                        <a:t>(</a:t>
                      </a:r>
                      <a:r>
                        <a:rPr lang="en-US" altLang="ko-KR" sz="1200" dirty="0">
                          <a:latin typeface="+mn-ea"/>
                        </a:rPr>
                        <a:t>α-</a:t>
                      </a:r>
                      <a:r>
                        <a:rPr lang="ko-KR" altLang="en-US" sz="1200" dirty="0">
                          <a:latin typeface="+mn-ea"/>
                        </a:rPr>
                        <a:t>전체구성설</a:t>
                      </a:r>
                      <a:r>
                        <a:rPr lang="en-US" altLang="ko-KR" sz="1200" dirty="0">
                          <a:latin typeface="+mn-ea"/>
                        </a:rPr>
                        <a:t>)</a:t>
                      </a:r>
                      <a:endParaRPr lang="ko-KR" altLang="en-US" sz="1200" dirty="0">
                        <a:solidFill>
                          <a:srgbClr val="000000"/>
                        </a:solidFill>
                        <a:effectLst/>
                        <a:latin typeface="Rix모던고딕 L" panose="02020603020101020101" pitchFamily="18" charset="-127"/>
                      </a:endParaRPr>
                    </a:p>
                  </a:txBody>
                  <a:tcPr marL="23876" marR="23876" marT="17907" marB="17907" anchor="ctr"/>
                </a:tc>
                <a:extLst>
                  <a:ext uri="{0D108BD9-81ED-4DB2-BD59-A6C34878D82A}">
                    <a16:rowId xmlns:a16="http://schemas.microsoft.com/office/drawing/2014/main" val="10001"/>
                  </a:ext>
                </a:extLst>
              </a:tr>
              <a:tr h="296432">
                <a:tc rowSpan="2">
                  <a:txBody>
                    <a:bodyPr/>
                    <a:lstStyle/>
                    <a:p>
                      <a:pPr marL="0" marR="0" algn="ctr">
                        <a:lnSpc>
                          <a:spcPct val="130000"/>
                        </a:lnSpc>
                        <a:spcBef>
                          <a:spcPts val="0"/>
                        </a:spcBef>
                        <a:spcAft>
                          <a:spcPts val="0"/>
                        </a:spcAft>
                      </a:pPr>
                      <a:r>
                        <a:rPr lang="ko-KR" altLang="en-US" sz="1200" kern="1200"/>
                        <a:t>적용</a:t>
                      </a:r>
                    </a:p>
                    <a:p>
                      <a:pPr marL="0" marR="0" algn="ctr">
                        <a:lnSpc>
                          <a:spcPct val="130000"/>
                        </a:lnSpc>
                        <a:spcBef>
                          <a:spcPts val="0"/>
                        </a:spcBef>
                        <a:spcAft>
                          <a:spcPts val="0"/>
                        </a:spcAft>
                      </a:pPr>
                      <a:r>
                        <a:rPr lang="ko-KR" altLang="en-US" sz="1200" kern="1200"/>
                        <a:t>범위</a:t>
                      </a:r>
                      <a:endParaRPr lang="ko-KR" altLang="en-US" sz="1200" kern="1200">
                        <a:solidFill>
                          <a:schemeClr val="tx1"/>
                        </a:solidFill>
                        <a:latin typeface="+mn-lt"/>
                        <a:ea typeface="+mn-ea"/>
                        <a:cs typeface="+mn-cs"/>
                      </a:endParaRPr>
                    </a:p>
                  </a:txBody>
                  <a:tcPr marL="23876" marR="23876" marT="17907" marB="17907" anchor="ctr"/>
                </a:tc>
                <a:tc>
                  <a:txBody>
                    <a:bodyPr/>
                    <a:lstStyle/>
                    <a:p>
                      <a:pPr marL="0" marR="0" algn="ctr">
                        <a:lnSpc>
                          <a:spcPct val="130000"/>
                        </a:lnSpc>
                        <a:spcBef>
                          <a:spcPts val="0"/>
                        </a:spcBef>
                        <a:spcAft>
                          <a:spcPts val="0"/>
                        </a:spcAft>
                      </a:pPr>
                      <a:r>
                        <a:rPr lang="ko-KR" altLang="en-US" sz="1200" kern="1200" dirty="0"/>
                        <a:t>동일성</a:t>
                      </a:r>
                      <a:endParaRPr lang="ko-KR" altLang="en-US" sz="1200" kern="1200" dirty="0">
                        <a:solidFill>
                          <a:schemeClr val="tx1"/>
                        </a:solidFill>
                        <a:latin typeface="+mn-lt"/>
                        <a:ea typeface="+mn-ea"/>
                        <a:cs typeface="+mn-cs"/>
                      </a:endParaRPr>
                    </a:p>
                  </a:txBody>
                  <a:tcPr marL="23876" marR="23876" marT="17907" marB="17907" anchor="ctr"/>
                </a:tc>
                <a:tc>
                  <a:txBody>
                    <a:bodyPr/>
                    <a:lstStyle/>
                    <a:p>
                      <a:pPr marL="35560" marR="35560" algn="ctr">
                        <a:lnSpc>
                          <a:spcPct val="130000"/>
                        </a:lnSpc>
                        <a:spcBef>
                          <a:spcPts val="0"/>
                        </a:spcBef>
                        <a:spcAft>
                          <a:spcPts val="0"/>
                        </a:spcAft>
                      </a:pPr>
                      <a:r>
                        <a:rPr lang="ko-KR" altLang="en-US" sz="1200" dirty="0">
                          <a:effectLst/>
                        </a:rPr>
                        <a:t>인정</a:t>
                      </a:r>
                      <a:endParaRPr lang="ko-KR" altLang="en-US" sz="1200" dirty="0">
                        <a:solidFill>
                          <a:srgbClr val="000000"/>
                        </a:solidFill>
                        <a:effectLst/>
                        <a:latin typeface="Rix모던고딕 L" panose="02020603020101020101" pitchFamily="18" charset="-127"/>
                      </a:endParaRPr>
                    </a:p>
                  </a:txBody>
                  <a:tcPr marL="23876" marR="23876" marT="17907" marB="17907" anchor="ctr"/>
                </a:tc>
                <a:tc>
                  <a:txBody>
                    <a:bodyPr/>
                    <a:lstStyle/>
                    <a:p>
                      <a:pPr marL="35560" marR="35560" algn="ctr">
                        <a:lnSpc>
                          <a:spcPct val="130000"/>
                        </a:lnSpc>
                        <a:spcBef>
                          <a:spcPts val="0"/>
                        </a:spcBef>
                        <a:spcAft>
                          <a:spcPts val="0"/>
                        </a:spcAft>
                      </a:pPr>
                      <a:r>
                        <a:rPr lang="ko-KR" altLang="en-US" sz="1200" dirty="0">
                          <a:effectLst/>
                        </a:rPr>
                        <a:t>인정</a:t>
                      </a:r>
                      <a:endParaRPr lang="ko-KR" altLang="en-US" sz="1200" dirty="0">
                        <a:solidFill>
                          <a:srgbClr val="000000"/>
                        </a:solidFill>
                        <a:effectLst/>
                        <a:latin typeface="Rix모던고딕 L" panose="02020603020101020101" pitchFamily="18" charset="-127"/>
                      </a:endParaRPr>
                    </a:p>
                  </a:txBody>
                  <a:tcPr marL="23876" marR="23876" marT="17907" marB="17907" anchor="ctr"/>
                </a:tc>
                <a:extLst>
                  <a:ext uri="{0D108BD9-81ED-4DB2-BD59-A6C34878D82A}">
                    <a16:rowId xmlns:a16="http://schemas.microsoft.com/office/drawing/2014/main" val="10002"/>
                  </a:ext>
                </a:extLst>
              </a:tr>
              <a:tr h="357964">
                <a:tc vMerge="1">
                  <a:txBody>
                    <a:bodyPr/>
                    <a:lstStyle/>
                    <a:p>
                      <a:pPr latinLnBrk="1"/>
                      <a:endParaRPr lang="ko-KR" altLang="en-US"/>
                    </a:p>
                  </a:txBody>
                  <a:tcPr/>
                </a:tc>
                <a:tc>
                  <a:txBody>
                    <a:bodyPr/>
                    <a:lstStyle/>
                    <a:p>
                      <a:pPr marL="0" marR="0" algn="ctr">
                        <a:lnSpc>
                          <a:spcPct val="130000"/>
                        </a:lnSpc>
                        <a:spcBef>
                          <a:spcPts val="0"/>
                        </a:spcBef>
                        <a:spcAft>
                          <a:spcPts val="0"/>
                        </a:spcAft>
                      </a:pPr>
                      <a:r>
                        <a:rPr lang="ko-KR" altLang="en-US" sz="1200" kern="1200" dirty="0"/>
                        <a:t>용이성</a:t>
                      </a:r>
                      <a:endParaRPr lang="ko-KR" altLang="en-US" sz="1200" kern="1200" dirty="0">
                        <a:solidFill>
                          <a:schemeClr val="tx1"/>
                        </a:solidFill>
                        <a:latin typeface="+mn-lt"/>
                        <a:ea typeface="+mn-ea"/>
                        <a:cs typeface="+mn-cs"/>
                      </a:endParaRPr>
                    </a:p>
                  </a:txBody>
                  <a:tcPr marL="23876" marR="23876" marT="17907" marB="17907" anchor="ctr"/>
                </a:tc>
                <a:tc>
                  <a:txBody>
                    <a:bodyPr/>
                    <a:lstStyle/>
                    <a:p>
                      <a:pPr marL="35560" marR="35560" algn="ctr">
                        <a:lnSpc>
                          <a:spcPct val="130000"/>
                        </a:lnSpc>
                        <a:spcBef>
                          <a:spcPts val="0"/>
                        </a:spcBef>
                        <a:spcAft>
                          <a:spcPts val="0"/>
                        </a:spcAft>
                      </a:pPr>
                      <a:r>
                        <a:rPr lang="ko-KR" altLang="en-US" sz="1200" dirty="0">
                          <a:effectLst/>
                        </a:rPr>
                        <a:t>부정</a:t>
                      </a:r>
                      <a:r>
                        <a:rPr lang="en-US" altLang="ko-KR" sz="1200" dirty="0">
                          <a:effectLst/>
                        </a:rPr>
                        <a:t>(</a:t>
                      </a:r>
                      <a:r>
                        <a:rPr lang="ko-KR" altLang="en-US" sz="1200" dirty="0">
                          <a:effectLst/>
                        </a:rPr>
                        <a:t>단</a:t>
                      </a:r>
                      <a:r>
                        <a:rPr lang="en-US" altLang="ko-KR" sz="1200" dirty="0">
                          <a:effectLst/>
                        </a:rPr>
                        <a:t>, </a:t>
                      </a:r>
                      <a:r>
                        <a:rPr lang="ko-KR" altLang="en-US" sz="1200" dirty="0">
                          <a:effectLst/>
                        </a:rPr>
                        <a:t>최근의 판례가 일정한 경우 권리행사를 제한함</a:t>
                      </a:r>
                      <a:r>
                        <a:rPr lang="en-US" altLang="ko-KR" sz="1200" dirty="0">
                          <a:effectLst/>
                        </a:rPr>
                        <a:t>)</a:t>
                      </a:r>
                      <a:endParaRPr lang="en-US" altLang="ko-KR" sz="1200" dirty="0">
                        <a:solidFill>
                          <a:srgbClr val="000000"/>
                        </a:solidFill>
                        <a:effectLst/>
                        <a:latin typeface="Rix모던고딕 L" panose="02020603020101020101" pitchFamily="18" charset="-127"/>
                      </a:endParaRPr>
                    </a:p>
                  </a:txBody>
                  <a:tcPr marL="23876" marR="23876" marT="17907" marB="17907" anchor="ctr"/>
                </a:tc>
                <a:tc>
                  <a:txBody>
                    <a:bodyPr/>
                    <a:lstStyle/>
                    <a:p>
                      <a:pPr marL="35560" marR="35560" algn="ctr">
                        <a:lnSpc>
                          <a:spcPct val="130000"/>
                        </a:lnSpc>
                        <a:spcBef>
                          <a:spcPts val="0"/>
                        </a:spcBef>
                        <a:spcAft>
                          <a:spcPts val="0"/>
                        </a:spcAft>
                      </a:pPr>
                      <a:r>
                        <a:rPr lang="ko-KR" altLang="en-US" sz="1200" dirty="0">
                          <a:effectLst/>
                        </a:rPr>
                        <a:t>인정</a:t>
                      </a:r>
                      <a:endParaRPr lang="ko-KR" altLang="en-US" sz="1200" dirty="0">
                        <a:solidFill>
                          <a:srgbClr val="000000"/>
                        </a:solidFill>
                        <a:effectLst/>
                        <a:latin typeface="Rix모던고딕 L" panose="02020603020101020101" pitchFamily="18" charset="-127"/>
                      </a:endParaRPr>
                    </a:p>
                  </a:txBody>
                  <a:tcPr marL="23876" marR="23876" marT="17907" marB="17907" anchor="ctr"/>
                </a:tc>
                <a:extLst>
                  <a:ext uri="{0D108BD9-81ED-4DB2-BD59-A6C34878D82A}">
                    <a16:rowId xmlns:a16="http://schemas.microsoft.com/office/drawing/2014/main" val="10003"/>
                  </a:ext>
                </a:extLst>
              </a:tr>
              <a:tr h="296432">
                <a:tc gridSpan="2">
                  <a:txBody>
                    <a:bodyPr/>
                    <a:lstStyle/>
                    <a:p>
                      <a:pPr marL="0" marR="0" algn="ctr">
                        <a:lnSpc>
                          <a:spcPct val="130000"/>
                        </a:lnSpc>
                        <a:spcBef>
                          <a:spcPts val="0"/>
                        </a:spcBef>
                        <a:spcAft>
                          <a:spcPts val="0"/>
                        </a:spcAft>
                      </a:pPr>
                      <a:r>
                        <a:rPr lang="ko-KR" altLang="en-US" sz="1200" kern="1200" dirty="0"/>
                        <a:t>권리범위</a:t>
                      </a:r>
                      <a:endParaRPr lang="ko-KR" altLang="en-US" sz="1200" kern="1200" dirty="0">
                        <a:solidFill>
                          <a:schemeClr val="tx1"/>
                        </a:solidFill>
                        <a:latin typeface="+mn-lt"/>
                        <a:ea typeface="+mn-ea"/>
                        <a:cs typeface="+mn-cs"/>
                      </a:endParaRPr>
                    </a:p>
                  </a:txBody>
                  <a:tcPr marL="23876" marR="23876" marT="17907" marB="17907" anchor="ctr"/>
                </a:tc>
                <a:tc hMerge="1">
                  <a:txBody>
                    <a:bodyPr/>
                    <a:lstStyle/>
                    <a:p>
                      <a:pPr latinLnBrk="1"/>
                      <a:endParaRPr lang="ko-KR" altLang="en-US"/>
                    </a:p>
                  </a:txBody>
                  <a:tcPr/>
                </a:tc>
                <a:tc>
                  <a:txBody>
                    <a:bodyPr/>
                    <a:lstStyle/>
                    <a:p>
                      <a:pPr marL="35560" marR="35560" algn="ctr">
                        <a:lnSpc>
                          <a:spcPct val="130000"/>
                        </a:lnSpc>
                        <a:spcBef>
                          <a:spcPts val="0"/>
                        </a:spcBef>
                        <a:spcAft>
                          <a:spcPts val="0"/>
                        </a:spcAft>
                      </a:pPr>
                      <a:r>
                        <a:rPr lang="ko-KR" altLang="en-US" sz="1200" dirty="0">
                          <a:effectLst/>
                        </a:rPr>
                        <a:t>부정</a:t>
                      </a:r>
                      <a:endParaRPr lang="ko-KR" altLang="en-US" sz="1200" dirty="0">
                        <a:solidFill>
                          <a:srgbClr val="000000"/>
                        </a:solidFill>
                        <a:effectLst/>
                        <a:latin typeface="Rix모던고딕 L" panose="02020603020101020101" pitchFamily="18" charset="-127"/>
                      </a:endParaRPr>
                    </a:p>
                  </a:txBody>
                  <a:tcPr marL="23876" marR="23876" marT="17907" marB="17907" anchor="ctr"/>
                </a:tc>
                <a:tc>
                  <a:txBody>
                    <a:bodyPr/>
                    <a:lstStyle/>
                    <a:p>
                      <a:pPr marL="35560" marR="35560" algn="ctr">
                        <a:lnSpc>
                          <a:spcPct val="130000"/>
                        </a:lnSpc>
                        <a:spcBef>
                          <a:spcPts val="0"/>
                        </a:spcBef>
                        <a:spcAft>
                          <a:spcPts val="0"/>
                        </a:spcAft>
                      </a:pPr>
                      <a:r>
                        <a:rPr lang="ko-KR" altLang="en-US" sz="1200" dirty="0">
                          <a:effectLst/>
                        </a:rPr>
                        <a:t>특허발명과 대비 필요성</a:t>
                      </a:r>
                      <a:r>
                        <a:rPr lang="en-US" altLang="ko-KR" sz="1200" dirty="0">
                          <a:effectLst/>
                        </a:rPr>
                        <a:t>×(</a:t>
                      </a:r>
                      <a:r>
                        <a:rPr lang="ko-KR" altLang="en-US" sz="1200" dirty="0">
                          <a:effectLst/>
                        </a:rPr>
                        <a:t>권리범위 언급</a:t>
                      </a:r>
                      <a:r>
                        <a:rPr lang="en-US" altLang="ko-KR" sz="1200" dirty="0">
                          <a:effectLst/>
                        </a:rPr>
                        <a:t>×) - </a:t>
                      </a:r>
                      <a:r>
                        <a:rPr lang="ko-KR" altLang="en-US" sz="1200" dirty="0">
                          <a:effectLst/>
                        </a:rPr>
                        <a:t>문언침해</a:t>
                      </a:r>
                      <a:r>
                        <a:rPr lang="en-US" altLang="ko-KR" sz="1200" dirty="0">
                          <a:effectLst/>
                        </a:rPr>
                        <a:t>, </a:t>
                      </a:r>
                      <a:r>
                        <a:rPr lang="ko-KR" altLang="en-US" sz="1200" dirty="0">
                          <a:effectLst/>
                        </a:rPr>
                        <a:t>균등침해 적용</a:t>
                      </a:r>
                      <a:endParaRPr lang="en-US" altLang="ko-KR" sz="1200" dirty="0">
                        <a:solidFill>
                          <a:srgbClr val="000000"/>
                        </a:solidFill>
                        <a:effectLst/>
                        <a:latin typeface="Rix모던고딕 L" panose="02020603020101020101" pitchFamily="18" charset="-127"/>
                      </a:endParaRPr>
                    </a:p>
                  </a:txBody>
                  <a:tcPr marL="23876" marR="23876" marT="17907" marB="17907" anchor="ctr"/>
                </a:tc>
                <a:extLst>
                  <a:ext uri="{0D108BD9-81ED-4DB2-BD59-A6C34878D82A}">
                    <a16:rowId xmlns:a16="http://schemas.microsoft.com/office/drawing/2014/main" val="10004"/>
                  </a:ext>
                </a:extLst>
              </a:tr>
            </a:tbl>
          </a:graphicData>
        </a:graphic>
      </p:graphicFrame>
      <p:sp>
        <p:nvSpPr>
          <p:cNvPr id="31" name="타원 30"/>
          <p:cNvSpPr/>
          <p:nvPr/>
        </p:nvSpPr>
        <p:spPr>
          <a:xfrm>
            <a:off x="1392881" y="4084448"/>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 name="직선 연결선 3"/>
          <p:cNvCxnSpPr>
            <a:stCxn id="21" idx="2"/>
            <a:endCxn id="31" idx="0"/>
          </p:cNvCxnSpPr>
          <p:nvPr/>
        </p:nvCxnSpPr>
        <p:spPr>
          <a:xfrm>
            <a:off x="1470250" y="3887969"/>
            <a:ext cx="0" cy="19647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2603090" y="3426304"/>
            <a:ext cx="891591"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甲 </a:t>
            </a:r>
            <a:r>
              <a:rPr lang="en-US" altLang="ko-KR" sz="1200" dirty="0">
                <a:solidFill>
                  <a:schemeClr val="tx1"/>
                </a:solidFill>
                <a:latin typeface="+mn-ea"/>
              </a:rPr>
              <a:t>a+b+c1</a:t>
            </a:r>
          </a:p>
          <a:p>
            <a:pPr algn="ctr"/>
            <a:r>
              <a:rPr lang="ko-KR" altLang="en-US" sz="1200" dirty="0">
                <a:solidFill>
                  <a:schemeClr val="tx1"/>
                </a:solidFill>
                <a:latin typeface="+mn-ea"/>
              </a:rPr>
              <a:t>출원</a:t>
            </a:r>
          </a:p>
        </p:txBody>
      </p:sp>
      <p:sp>
        <p:nvSpPr>
          <p:cNvPr id="43" name="타원 42"/>
          <p:cNvSpPr/>
          <p:nvPr/>
        </p:nvSpPr>
        <p:spPr>
          <a:xfrm>
            <a:off x="2971515" y="408444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4" name="직선 연결선 43"/>
          <p:cNvCxnSpPr>
            <a:stCxn id="42" idx="2"/>
            <a:endCxn id="43" idx="0"/>
          </p:cNvCxnSpPr>
          <p:nvPr/>
        </p:nvCxnSpPr>
        <p:spPr>
          <a:xfrm flipH="1">
            <a:off x="3048884" y="3887969"/>
            <a:ext cx="2" cy="19647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4477724" y="3426304"/>
            <a:ext cx="713657"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en-US" altLang="ko-KR" sz="1200" dirty="0">
                <a:solidFill>
                  <a:schemeClr val="tx1"/>
                </a:solidFill>
                <a:latin typeface="+mn-ea"/>
              </a:rPr>
              <a:t>a+b+c1</a:t>
            </a:r>
          </a:p>
          <a:p>
            <a:pPr algn="ctr"/>
            <a:r>
              <a:rPr lang="ko-KR" altLang="en-US" sz="1200" dirty="0">
                <a:solidFill>
                  <a:schemeClr val="tx1"/>
                </a:solidFill>
                <a:latin typeface="+mn-ea"/>
              </a:rPr>
              <a:t>등록</a:t>
            </a:r>
          </a:p>
        </p:txBody>
      </p:sp>
      <p:sp>
        <p:nvSpPr>
          <p:cNvPr id="46" name="타원 45"/>
          <p:cNvSpPr/>
          <p:nvPr/>
        </p:nvSpPr>
        <p:spPr>
          <a:xfrm>
            <a:off x="4757183" y="408444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7" name="직선 연결선 46"/>
          <p:cNvCxnSpPr>
            <a:stCxn id="45" idx="2"/>
            <a:endCxn id="46" idx="0"/>
          </p:cNvCxnSpPr>
          <p:nvPr/>
        </p:nvCxnSpPr>
        <p:spPr>
          <a:xfrm flipH="1">
            <a:off x="4834552" y="3887969"/>
            <a:ext cx="1" cy="19647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타원 47"/>
          <p:cNvSpPr/>
          <p:nvPr/>
        </p:nvSpPr>
        <p:spPr>
          <a:xfrm>
            <a:off x="6674198" y="408444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9" name="직선 연결선 48"/>
          <p:cNvCxnSpPr>
            <a:stCxn id="28" idx="0"/>
            <a:endCxn id="48" idx="4"/>
          </p:cNvCxnSpPr>
          <p:nvPr/>
        </p:nvCxnSpPr>
        <p:spPr>
          <a:xfrm flipH="1" flipV="1">
            <a:off x="6751567" y="4245786"/>
            <a:ext cx="1" cy="18024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7557593" y="3426304"/>
            <a:ext cx="1782860"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침해소송제기</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확인대상발명</a:t>
            </a:r>
            <a:r>
              <a:rPr lang="en-US" altLang="ko-KR" sz="1200" dirty="0">
                <a:latin typeface="+mn-ea"/>
              </a:rPr>
              <a:t> α</a:t>
            </a:r>
            <a:r>
              <a:rPr lang="ko-KR" altLang="en-US" sz="1200" dirty="0">
                <a:latin typeface="+mn-ea"/>
              </a:rPr>
              <a:t>로 특정</a:t>
            </a:r>
            <a:r>
              <a:rPr lang="en-US" altLang="ko-KR" sz="1200" dirty="0">
                <a:latin typeface="+mn-ea"/>
              </a:rPr>
              <a:t>)</a:t>
            </a:r>
            <a:r>
              <a:rPr lang="ko-KR" altLang="en-US" sz="1200" dirty="0">
                <a:solidFill>
                  <a:schemeClr val="tx1"/>
                </a:solidFill>
                <a:latin typeface="+mn-ea"/>
              </a:rPr>
              <a:t> </a:t>
            </a:r>
          </a:p>
        </p:txBody>
      </p:sp>
      <p:sp>
        <p:nvSpPr>
          <p:cNvPr id="51" name="타원 50"/>
          <p:cNvSpPr/>
          <p:nvPr/>
        </p:nvSpPr>
        <p:spPr>
          <a:xfrm>
            <a:off x="8371651" y="408444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2" name="직선 연결선 51"/>
          <p:cNvCxnSpPr>
            <a:stCxn id="50" idx="2"/>
            <a:endCxn id="51" idx="0"/>
          </p:cNvCxnSpPr>
          <p:nvPr/>
        </p:nvCxnSpPr>
        <p:spPr>
          <a:xfrm flipH="1">
            <a:off x="8449020" y="3887969"/>
            <a:ext cx="3" cy="19647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9492167" y="4426033"/>
            <a:ext cx="95410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소송 中 항변</a:t>
            </a:r>
          </a:p>
        </p:txBody>
      </p:sp>
      <p:sp>
        <p:nvSpPr>
          <p:cNvPr id="54" name="타원 53"/>
          <p:cNvSpPr/>
          <p:nvPr/>
        </p:nvSpPr>
        <p:spPr>
          <a:xfrm>
            <a:off x="9891851" y="408444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5" name="직선 연결선 54"/>
          <p:cNvCxnSpPr>
            <a:stCxn id="53" idx="0"/>
            <a:endCxn id="54" idx="4"/>
          </p:cNvCxnSpPr>
          <p:nvPr/>
        </p:nvCxnSpPr>
        <p:spPr>
          <a:xfrm flipH="1" flipV="1">
            <a:off x="9969220" y="4245786"/>
            <a:ext cx="1" cy="18024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77875" y="986046"/>
            <a:ext cx="11936323" cy="1815882"/>
          </a:xfrm>
          <a:prstGeom prst="rect">
            <a:avLst/>
          </a:prstGeom>
          <a:noFill/>
        </p:spPr>
        <p:txBody>
          <a:bodyPr wrap="square" rtlCol="0">
            <a:spAutoFit/>
          </a:bodyPr>
          <a:lstStyle/>
          <a:p>
            <a:pPr marL="171450" indent="-171450">
              <a:buFontTx/>
              <a:buChar char="-"/>
            </a:pPr>
            <a:r>
              <a:rPr lang="ko-KR" altLang="en-US" sz="1400" dirty="0" err="1">
                <a:latin typeface="+mn-ea"/>
              </a:rPr>
              <a:t>특허권자</a:t>
            </a:r>
            <a:r>
              <a:rPr lang="en-US" altLang="ko-KR" sz="1400" dirty="0">
                <a:latin typeface="+mn-ea"/>
              </a:rPr>
              <a:t>(</a:t>
            </a:r>
            <a:r>
              <a:rPr lang="ko-KR" altLang="en-US" sz="1400" dirty="0">
                <a:latin typeface="+mn-ea"/>
              </a:rPr>
              <a:t>甲</a:t>
            </a:r>
            <a:r>
              <a:rPr lang="en-US" altLang="ko-KR" sz="1400" dirty="0">
                <a:latin typeface="+mn-ea"/>
              </a:rPr>
              <a:t>)</a:t>
            </a:r>
            <a:r>
              <a:rPr lang="ko-KR" altLang="en-US" sz="1400" dirty="0">
                <a:latin typeface="+mn-ea"/>
              </a:rPr>
              <a:t>가 제기한 특허권 침해소송에서 실시자</a:t>
            </a:r>
            <a:r>
              <a:rPr lang="en-US" altLang="ko-KR" sz="1400" dirty="0">
                <a:latin typeface="+mn-ea"/>
              </a:rPr>
              <a:t>(</a:t>
            </a:r>
            <a:r>
              <a:rPr lang="ko-KR" altLang="en-US" sz="1400" dirty="0">
                <a:latin typeface="+mn-ea"/>
              </a:rPr>
              <a:t>乙</a:t>
            </a:r>
            <a:r>
              <a:rPr lang="en-US" altLang="ko-KR" sz="1400" dirty="0">
                <a:latin typeface="+mn-ea"/>
              </a:rPr>
              <a:t>)</a:t>
            </a:r>
            <a:r>
              <a:rPr lang="ko-KR" altLang="en-US" sz="1400" dirty="0">
                <a:latin typeface="+mn-ea"/>
              </a:rPr>
              <a:t>는 「</a:t>
            </a:r>
            <a:r>
              <a:rPr lang="en-US" altLang="ko-KR" sz="1400" dirty="0">
                <a:latin typeface="+mn-ea"/>
              </a:rPr>
              <a:t>ⅰ) </a:t>
            </a:r>
            <a:r>
              <a:rPr lang="ko-KR" altLang="en-US" sz="1400" dirty="0">
                <a:latin typeface="+mn-ea"/>
              </a:rPr>
              <a:t>특허권자의 등록발명 </a:t>
            </a:r>
            <a:r>
              <a:rPr lang="en-US" altLang="ko-KR" sz="1400" dirty="0">
                <a:latin typeface="+mn-ea"/>
              </a:rPr>
              <a:t>a+b+c1</a:t>
            </a:r>
            <a:r>
              <a:rPr lang="ko-KR" altLang="en-US" sz="1400" dirty="0">
                <a:latin typeface="+mn-ea"/>
              </a:rPr>
              <a:t>이 공지기술인 </a:t>
            </a:r>
            <a:r>
              <a:rPr lang="en-US" altLang="ko-KR" sz="1400" dirty="0" err="1">
                <a:latin typeface="+mn-ea"/>
              </a:rPr>
              <a:t>a+b+c</a:t>
            </a:r>
            <a:r>
              <a:rPr lang="ko-KR" altLang="en-US" sz="1400" dirty="0">
                <a:latin typeface="+mn-ea"/>
              </a:rPr>
              <a:t>와 동일하기 때문에 특허무효심판여부와 </a:t>
            </a:r>
            <a:r>
              <a:rPr lang="ko-KR" altLang="en-US" sz="1400" dirty="0" err="1">
                <a:latin typeface="+mn-ea"/>
              </a:rPr>
              <a:t>관련없이</a:t>
            </a:r>
            <a:r>
              <a:rPr lang="ko-KR" altLang="en-US" sz="1400" dirty="0">
                <a:latin typeface="+mn-ea"/>
              </a:rPr>
              <a:t> 특허권의 권리범위를 인정할 수 없어 침해가 아니다 또는 </a:t>
            </a:r>
            <a:r>
              <a:rPr lang="en-US" altLang="ko-KR" sz="1400" dirty="0">
                <a:latin typeface="+mn-ea"/>
              </a:rPr>
              <a:t>ⅱ) </a:t>
            </a:r>
            <a:r>
              <a:rPr lang="ko-KR" altLang="en-US" sz="1400" dirty="0">
                <a:latin typeface="+mn-ea"/>
              </a:rPr>
              <a:t>확인대상발명 </a:t>
            </a:r>
            <a:r>
              <a:rPr lang="en-US" altLang="ko-KR" sz="1400" dirty="0">
                <a:latin typeface="+mn-ea"/>
              </a:rPr>
              <a:t>α</a:t>
            </a:r>
            <a:r>
              <a:rPr lang="ko-KR" altLang="en-US" sz="1400" dirty="0">
                <a:latin typeface="+mn-ea"/>
              </a:rPr>
              <a:t>가 공지기술인 </a:t>
            </a:r>
            <a:r>
              <a:rPr lang="en-US" altLang="ko-KR" sz="1400" dirty="0" err="1">
                <a:latin typeface="+mn-ea"/>
              </a:rPr>
              <a:t>a+b+c</a:t>
            </a:r>
            <a:r>
              <a:rPr lang="ko-KR" altLang="en-US" sz="1400" dirty="0">
                <a:latin typeface="+mn-ea"/>
              </a:rPr>
              <a:t>와 동일하거나 </a:t>
            </a:r>
            <a:r>
              <a:rPr lang="en-US" altLang="ko-KR" sz="1400" dirty="0" err="1">
                <a:latin typeface="+mn-ea"/>
              </a:rPr>
              <a:t>a+b+c</a:t>
            </a:r>
            <a:r>
              <a:rPr lang="ko-KR" altLang="en-US" sz="1400" dirty="0">
                <a:latin typeface="+mn-ea"/>
              </a:rPr>
              <a:t>로부터 용이하게 실시할 수 있기 때문에 특허발명과는 대비할 </a:t>
            </a:r>
            <a:r>
              <a:rPr lang="ko-KR" altLang="en-US" sz="1400" dirty="0" err="1">
                <a:latin typeface="+mn-ea"/>
              </a:rPr>
              <a:t>필요없이</a:t>
            </a:r>
            <a:r>
              <a:rPr lang="ko-KR" altLang="en-US" sz="1400" dirty="0">
                <a:latin typeface="+mn-ea"/>
              </a:rPr>
              <a:t> 침해가 아니다</a:t>
            </a:r>
            <a:r>
              <a:rPr lang="en-US" altLang="ko-KR" sz="1400" dirty="0">
                <a:latin typeface="+mn-ea"/>
              </a:rPr>
              <a:t>.</a:t>
            </a:r>
            <a:r>
              <a:rPr lang="ko-KR" altLang="en-US" sz="1400" dirty="0">
                <a:latin typeface="+mn-ea"/>
              </a:rPr>
              <a:t>」 라고 항변할 수 있다</a:t>
            </a:r>
            <a:r>
              <a:rPr lang="en-US" altLang="ko-KR" sz="1400" dirty="0">
                <a:latin typeface="+mn-ea"/>
              </a:rPr>
              <a:t>. </a:t>
            </a:r>
            <a:r>
              <a:rPr lang="ko-KR" altLang="en-US" sz="1400" dirty="0">
                <a:latin typeface="+mn-ea"/>
              </a:rPr>
              <a:t>강학상 전자를 특허권 하자의 항변</a:t>
            </a:r>
            <a:r>
              <a:rPr lang="en-US" altLang="ko-KR" sz="1400" dirty="0">
                <a:latin typeface="+mn-ea"/>
              </a:rPr>
              <a:t>(</a:t>
            </a:r>
            <a:r>
              <a:rPr lang="ko-KR" altLang="en-US" sz="1400" dirty="0">
                <a:latin typeface="+mn-ea"/>
              </a:rPr>
              <a:t>무효의 항변</a:t>
            </a:r>
            <a:r>
              <a:rPr lang="en-US" altLang="ko-KR" sz="1400" dirty="0">
                <a:latin typeface="+mn-ea"/>
              </a:rPr>
              <a:t>), </a:t>
            </a:r>
            <a:r>
              <a:rPr lang="ko-KR" altLang="en-US" sz="1400" dirty="0">
                <a:latin typeface="+mn-ea"/>
              </a:rPr>
              <a:t>후자를 자유기술의 항변이라 한다</a:t>
            </a:r>
            <a:r>
              <a:rPr lang="en-US" altLang="ko-KR" sz="1400" dirty="0">
                <a:latin typeface="+mn-ea"/>
              </a:rPr>
              <a:t>. </a:t>
            </a:r>
          </a:p>
          <a:p>
            <a:pPr marL="171450" indent="-171450">
              <a:buFontTx/>
              <a:buChar char="-"/>
            </a:pPr>
            <a:r>
              <a:rPr lang="ko-KR" altLang="en-US" sz="1400" dirty="0">
                <a:latin typeface="+mn-ea"/>
              </a:rPr>
              <a:t>한편</a:t>
            </a:r>
            <a:r>
              <a:rPr lang="en-US" altLang="ko-KR" sz="1400" dirty="0">
                <a:latin typeface="+mn-ea"/>
              </a:rPr>
              <a:t>, </a:t>
            </a:r>
            <a:r>
              <a:rPr lang="ko-KR" altLang="en-US" sz="1400" dirty="0">
                <a:latin typeface="+mn-ea"/>
              </a:rPr>
              <a:t>확인대상발명 </a:t>
            </a:r>
            <a:r>
              <a:rPr lang="en-US" altLang="ko-KR" sz="1400" dirty="0">
                <a:latin typeface="+mn-ea"/>
              </a:rPr>
              <a:t>α</a:t>
            </a:r>
            <a:r>
              <a:rPr lang="ko-KR" altLang="en-US" sz="1400" dirty="0">
                <a:latin typeface="+mn-ea"/>
              </a:rPr>
              <a:t>는 당해 특허발명과 서로 대비할 수 있을 만큼 구체적으로 특정되어야 하는 것인바</a:t>
            </a:r>
            <a:r>
              <a:rPr lang="en-US" altLang="ko-KR" sz="1400" dirty="0">
                <a:latin typeface="+mn-ea"/>
              </a:rPr>
              <a:t>, </a:t>
            </a:r>
            <a:r>
              <a:rPr lang="ko-KR" altLang="en-US" sz="1400" dirty="0">
                <a:latin typeface="+mn-ea"/>
              </a:rPr>
              <a:t>그 특정을 위해서는 </a:t>
            </a:r>
            <a:r>
              <a:rPr lang="ko-KR" altLang="en-US" sz="1400" dirty="0">
                <a:highlight>
                  <a:srgbClr val="FFFF00"/>
                </a:highlight>
                <a:latin typeface="+mn-ea"/>
              </a:rPr>
              <a:t>대상물의 구체적인 구성을 전부 기재할 필요는 없고 특허발명의 구성요소에 대응하는 부분의 구체적인 구성을 기재</a:t>
            </a:r>
            <a:r>
              <a:rPr lang="ko-KR" altLang="en-US" sz="1400" dirty="0">
                <a:latin typeface="+mn-ea"/>
              </a:rPr>
              <a:t>하면 되는 것이나 다만</a:t>
            </a:r>
            <a:r>
              <a:rPr lang="en-US" altLang="ko-KR" sz="1400" dirty="0">
                <a:latin typeface="+mn-ea"/>
              </a:rPr>
              <a:t>, </a:t>
            </a:r>
            <a:r>
              <a:rPr lang="ko-KR" altLang="en-US" sz="1400" dirty="0">
                <a:latin typeface="+mn-ea"/>
              </a:rPr>
              <a:t>그 구체적인 구성의 기재는 특허발명의 구성요소와 대비하여 그 차이점을 판단함에 필요한 정도는 되어야 한다</a:t>
            </a:r>
            <a:r>
              <a:rPr lang="en-US" altLang="ko-KR" sz="1400" dirty="0">
                <a:latin typeface="+mn-ea"/>
              </a:rPr>
              <a:t>. </a:t>
            </a:r>
            <a:r>
              <a:rPr lang="ko-KR" altLang="en-US" sz="1400" dirty="0">
                <a:latin typeface="+mn-ea"/>
              </a:rPr>
              <a:t>즉</a:t>
            </a:r>
            <a:r>
              <a:rPr lang="en-US" altLang="ko-KR" sz="1400" dirty="0">
                <a:latin typeface="+mn-ea"/>
              </a:rPr>
              <a:t>, </a:t>
            </a:r>
            <a:r>
              <a:rPr lang="ko-KR" altLang="en-US" sz="1400" dirty="0" err="1">
                <a:highlight>
                  <a:srgbClr val="FFFF00"/>
                </a:highlight>
                <a:latin typeface="+mn-ea"/>
              </a:rPr>
              <a:t>특허권자는</a:t>
            </a:r>
            <a:r>
              <a:rPr lang="ko-KR" altLang="en-US" sz="1400" dirty="0">
                <a:highlight>
                  <a:srgbClr val="FFFF00"/>
                </a:highlight>
                <a:latin typeface="+mn-ea"/>
              </a:rPr>
              <a:t> 확인대상발명 </a:t>
            </a:r>
            <a:r>
              <a:rPr lang="en-US" altLang="ko-KR" sz="1400" dirty="0">
                <a:highlight>
                  <a:srgbClr val="FFFF00"/>
                </a:highlight>
                <a:latin typeface="+mn-ea"/>
              </a:rPr>
              <a:t>α</a:t>
            </a:r>
            <a:r>
              <a:rPr lang="ko-KR" altLang="en-US" sz="1400" dirty="0">
                <a:highlight>
                  <a:srgbClr val="FFFF00"/>
                </a:highlight>
                <a:latin typeface="+mn-ea"/>
              </a:rPr>
              <a:t>를 </a:t>
            </a:r>
            <a:r>
              <a:rPr lang="en-US" altLang="ko-KR" sz="1400" dirty="0">
                <a:highlight>
                  <a:srgbClr val="FFFF00"/>
                </a:highlight>
                <a:latin typeface="+mn-ea"/>
              </a:rPr>
              <a:t>a+b+c2 </a:t>
            </a:r>
            <a:r>
              <a:rPr lang="ko-KR" altLang="en-US" sz="1400" dirty="0">
                <a:highlight>
                  <a:srgbClr val="FFFF00"/>
                </a:highlight>
                <a:latin typeface="+mn-ea"/>
              </a:rPr>
              <a:t>또는 </a:t>
            </a:r>
            <a:r>
              <a:rPr lang="en-US" altLang="ko-KR" sz="1400" dirty="0">
                <a:highlight>
                  <a:srgbClr val="FFFF00"/>
                </a:highlight>
                <a:latin typeface="+mn-ea"/>
              </a:rPr>
              <a:t>a+b+c2+d</a:t>
            </a:r>
            <a:r>
              <a:rPr lang="ko-KR" altLang="en-US" sz="1400" dirty="0">
                <a:highlight>
                  <a:srgbClr val="FFFF00"/>
                </a:highlight>
                <a:latin typeface="+mn-ea"/>
              </a:rPr>
              <a:t>로 특정</a:t>
            </a:r>
            <a:r>
              <a:rPr lang="ko-KR" altLang="en-US" sz="1400" dirty="0">
                <a:latin typeface="+mn-ea"/>
              </a:rPr>
              <a:t>할 수 있다</a:t>
            </a:r>
            <a:r>
              <a:rPr lang="en-US" altLang="ko-KR" sz="1400" dirty="0">
                <a:latin typeface="+mn-ea"/>
              </a:rPr>
              <a:t>. </a:t>
            </a:r>
            <a:r>
              <a:rPr lang="ko-KR" altLang="en-US" sz="1400" dirty="0">
                <a:latin typeface="+mn-ea"/>
              </a:rPr>
              <a:t>다만</a:t>
            </a:r>
            <a:r>
              <a:rPr lang="en-US" altLang="ko-KR" sz="1400" dirty="0">
                <a:latin typeface="+mn-ea"/>
              </a:rPr>
              <a:t>, </a:t>
            </a:r>
            <a:r>
              <a:rPr lang="ko-KR" altLang="en-US" sz="1400" dirty="0">
                <a:highlight>
                  <a:srgbClr val="FFFF00"/>
                </a:highlight>
                <a:latin typeface="+mn-ea"/>
              </a:rPr>
              <a:t>특허권자가 확인대상발명 </a:t>
            </a:r>
            <a:r>
              <a:rPr lang="en-US" altLang="ko-KR" sz="1400" dirty="0">
                <a:highlight>
                  <a:srgbClr val="FFFF00"/>
                </a:highlight>
                <a:latin typeface="+mn-ea"/>
              </a:rPr>
              <a:t>α</a:t>
            </a:r>
            <a:r>
              <a:rPr lang="ko-KR" altLang="en-US" sz="1400" dirty="0">
                <a:highlight>
                  <a:srgbClr val="FFFF00"/>
                </a:highlight>
                <a:latin typeface="+mn-ea"/>
              </a:rPr>
              <a:t>를 </a:t>
            </a:r>
            <a:r>
              <a:rPr lang="en-US" altLang="ko-KR" sz="1400" dirty="0">
                <a:highlight>
                  <a:srgbClr val="FFFF00"/>
                </a:highlight>
                <a:latin typeface="+mn-ea"/>
              </a:rPr>
              <a:t>a+b+c2+d</a:t>
            </a:r>
            <a:r>
              <a:rPr lang="ko-KR" altLang="en-US" sz="1400" dirty="0">
                <a:highlight>
                  <a:srgbClr val="FFFF00"/>
                </a:highlight>
                <a:latin typeface="+mn-ea"/>
              </a:rPr>
              <a:t>로 특정하는 것이 </a:t>
            </a:r>
            <a:r>
              <a:rPr lang="en-US" altLang="ko-KR" sz="1400" dirty="0">
                <a:highlight>
                  <a:srgbClr val="FFFF00"/>
                </a:highlight>
                <a:latin typeface="+mn-ea"/>
              </a:rPr>
              <a:t>a+b+c2</a:t>
            </a:r>
            <a:r>
              <a:rPr lang="ko-KR" altLang="en-US" sz="1400" dirty="0">
                <a:highlight>
                  <a:srgbClr val="FFFF00"/>
                </a:highlight>
                <a:latin typeface="+mn-ea"/>
              </a:rPr>
              <a:t>로 특정하는 것보다 실시자의 자유기술의 항변을 어렵게 만들기 때문에</a:t>
            </a:r>
            <a:r>
              <a:rPr lang="en-US" altLang="ko-KR" sz="1400" dirty="0">
                <a:highlight>
                  <a:srgbClr val="FFFF00"/>
                </a:highlight>
                <a:latin typeface="+mn-ea"/>
              </a:rPr>
              <a:t>(</a:t>
            </a:r>
            <a:r>
              <a:rPr lang="ko-KR" altLang="en-US" sz="1400" dirty="0">
                <a:highlight>
                  <a:srgbClr val="FFFF00"/>
                </a:highlight>
                <a:latin typeface="+mn-ea"/>
              </a:rPr>
              <a:t>예를 들어</a:t>
            </a:r>
            <a:r>
              <a:rPr lang="en-US" altLang="ko-KR" sz="1400" dirty="0">
                <a:highlight>
                  <a:srgbClr val="FFFF00"/>
                </a:highlight>
                <a:latin typeface="+mn-ea"/>
              </a:rPr>
              <a:t>, a+b+c2</a:t>
            </a:r>
            <a:r>
              <a:rPr lang="ko-KR" altLang="en-US" sz="1400" dirty="0">
                <a:highlight>
                  <a:srgbClr val="FFFF00"/>
                </a:highlight>
                <a:latin typeface="+mn-ea"/>
              </a:rPr>
              <a:t>는 </a:t>
            </a:r>
            <a:r>
              <a:rPr lang="en-US" altLang="ko-KR" sz="1400" dirty="0" err="1">
                <a:highlight>
                  <a:srgbClr val="FFFF00"/>
                </a:highlight>
                <a:latin typeface="+mn-ea"/>
              </a:rPr>
              <a:t>a+b+c</a:t>
            </a:r>
            <a:r>
              <a:rPr lang="ko-KR" altLang="en-US" sz="1400" dirty="0">
                <a:highlight>
                  <a:srgbClr val="FFFF00"/>
                </a:highlight>
                <a:latin typeface="+mn-ea"/>
              </a:rPr>
              <a:t>로부터 용이하나</a:t>
            </a:r>
            <a:r>
              <a:rPr lang="en-US" altLang="ko-KR" sz="1400" dirty="0">
                <a:highlight>
                  <a:srgbClr val="FFFF00"/>
                </a:highlight>
                <a:latin typeface="+mn-ea"/>
              </a:rPr>
              <a:t>, a+b+c2+d</a:t>
            </a:r>
            <a:r>
              <a:rPr lang="ko-KR" altLang="en-US" sz="1400" dirty="0">
                <a:highlight>
                  <a:srgbClr val="FFFF00"/>
                </a:highlight>
                <a:latin typeface="+mn-ea"/>
              </a:rPr>
              <a:t>는 </a:t>
            </a:r>
            <a:r>
              <a:rPr lang="en-US" altLang="ko-KR" sz="1400" dirty="0" err="1">
                <a:highlight>
                  <a:srgbClr val="FFFF00"/>
                </a:highlight>
                <a:latin typeface="+mn-ea"/>
              </a:rPr>
              <a:t>a+b+c</a:t>
            </a:r>
            <a:r>
              <a:rPr lang="ko-KR" altLang="en-US" sz="1400" dirty="0">
                <a:highlight>
                  <a:srgbClr val="FFFF00"/>
                </a:highlight>
                <a:latin typeface="+mn-ea"/>
              </a:rPr>
              <a:t>로부터 용이하지 않은 경우</a:t>
            </a:r>
            <a:r>
              <a:rPr lang="en-US" altLang="ko-KR" sz="1400" dirty="0">
                <a:highlight>
                  <a:srgbClr val="FFFF00"/>
                </a:highlight>
                <a:latin typeface="+mn-ea"/>
              </a:rPr>
              <a:t>) </a:t>
            </a:r>
            <a:r>
              <a:rPr lang="ko-KR" altLang="en-US" sz="1400" dirty="0" err="1">
                <a:highlight>
                  <a:srgbClr val="FFFF00"/>
                </a:highlight>
                <a:latin typeface="+mn-ea"/>
              </a:rPr>
              <a:t>특허권자에게</a:t>
            </a:r>
            <a:r>
              <a:rPr lang="ko-KR" altLang="en-US" sz="1400" dirty="0">
                <a:highlight>
                  <a:srgbClr val="FFFF00"/>
                </a:highlight>
                <a:latin typeface="+mn-ea"/>
              </a:rPr>
              <a:t> 이익</a:t>
            </a:r>
            <a:r>
              <a:rPr lang="ko-KR" altLang="en-US" sz="1400" dirty="0">
                <a:latin typeface="+mn-ea"/>
              </a:rPr>
              <a:t>이 된다</a:t>
            </a:r>
            <a:r>
              <a:rPr lang="en-US" altLang="ko-KR" sz="1400" dirty="0">
                <a:latin typeface="+mn-ea"/>
              </a:rPr>
              <a:t>.</a:t>
            </a:r>
          </a:p>
        </p:txBody>
      </p:sp>
      <p:cxnSp>
        <p:nvCxnSpPr>
          <p:cNvPr id="58" name="직선 연결선 57"/>
          <p:cNvCxnSpPr/>
          <p:nvPr/>
        </p:nvCxnSpPr>
        <p:spPr>
          <a:xfrm>
            <a:off x="0" y="281864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제목 9"/>
          <p:cNvSpPr>
            <a:spLocks noGrp="1"/>
          </p:cNvSpPr>
          <p:nvPr>
            <p:ph type="title"/>
          </p:nvPr>
        </p:nvSpPr>
        <p:spPr/>
        <p:txBody>
          <a:bodyPr/>
          <a:lstStyle/>
          <a:p>
            <a:r>
              <a:rPr lang="ko-KR" altLang="en-US" dirty="0"/>
              <a:t>제</a:t>
            </a:r>
            <a:r>
              <a:rPr lang="en-US" altLang="ko-KR" dirty="0"/>
              <a:t>94</a:t>
            </a:r>
            <a:r>
              <a:rPr lang="ko-KR" altLang="en-US" dirty="0"/>
              <a:t>조</a:t>
            </a:r>
            <a:r>
              <a:rPr lang="en-US" altLang="ko-KR" dirty="0"/>
              <a:t>~</a:t>
            </a:r>
            <a:r>
              <a:rPr lang="ko-KR" altLang="en-US" dirty="0"/>
              <a:t>제</a:t>
            </a:r>
            <a:r>
              <a:rPr lang="en-US" altLang="ko-KR" dirty="0"/>
              <a:t>96</a:t>
            </a:r>
            <a:r>
              <a:rPr lang="ko-KR" altLang="en-US" dirty="0"/>
              <a:t>조</a:t>
            </a:r>
          </a:p>
        </p:txBody>
      </p:sp>
      <p:sp>
        <p:nvSpPr>
          <p:cNvPr id="11" name="텍스트 개체 틀 10"/>
          <p:cNvSpPr>
            <a:spLocks noGrp="1"/>
          </p:cNvSpPr>
          <p:nvPr>
            <p:ph type="body" sz="quarter" idx="13"/>
          </p:nvPr>
        </p:nvSpPr>
        <p:spPr/>
        <p:txBody>
          <a:bodyPr/>
          <a:lstStyle/>
          <a:p>
            <a:r>
              <a:rPr lang="ko-KR" altLang="en-US" dirty="0"/>
              <a:t>자유기술의 항변 </a:t>
            </a:r>
            <a:r>
              <a:rPr lang="en-US" altLang="ko-KR" dirty="0"/>
              <a:t>CASE</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317</a:t>
            </a:r>
            <a:endParaRPr lang="ko-KR" altLang="en-US"/>
          </a:p>
        </p:txBody>
      </p:sp>
      <p:cxnSp>
        <p:nvCxnSpPr>
          <p:cNvPr id="6" name="연결선: 꺾임 5">
            <a:extLst>
              <a:ext uri="{FF2B5EF4-FFF2-40B4-BE49-F238E27FC236}">
                <a16:creationId xmlns:a16="http://schemas.microsoft.com/office/drawing/2014/main" id="{C63BED9D-B00C-4D35-BBB5-01FE5DF44951}"/>
              </a:ext>
            </a:extLst>
          </p:cNvPr>
          <p:cNvCxnSpPr>
            <a:stCxn id="21" idx="0"/>
            <a:endCxn id="45" idx="0"/>
          </p:cNvCxnSpPr>
          <p:nvPr/>
        </p:nvCxnSpPr>
        <p:spPr>
          <a:xfrm rot="5400000" flipH="1" flipV="1">
            <a:off x="3152401" y="1744153"/>
            <a:ext cx="12700" cy="3364303"/>
          </a:xfrm>
          <a:prstGeom prst="bentConnector3">
            <a:avLst>
              <a:gd name="adj1" fmla="val 1800000"/>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 name="연결선: 꺾임 7">
            <a:extLst>
              <a:ext uri="{FF2B5EF4-FFF2-40B4-BE49-F238E27FC236}">
                <a16:creationId xmlns:a16="http://schemas.microsoft.com/office/drawing/2014/main" id="{902024CC-4410-42C7-8210-DFBF7E66EE6D}"/>
              </a:ext>
            </a:extLst>
          </p:cNvPr>
          <p:cNvCxnSpPr>
            <a:cxnSpLocks/>
            <a:stCxn id="21" idx="1"/>
            <a:endCxn id="50" idx="1"/>
          </p:cNvCxnSpPr>
          <p:nvPr/>
        </p:nvCxnSpPr>
        <p:spPr>
          <a:xfrm rot="10800000" flipH="1">
            <a:off x="1160709" y="3657137"/>
            <a:ext cx="6396883" cy="12700"/>
          </a:xfrm>
          <a:prstGeom prst="bentConnector5">
            <a:avLst>
              <a:gd name="adj1" fmla="val -3574"/>
              <a:gd name="adj2" fmla="val 5552228"/>
              <a:gd name="adj3" fmla="val 76955"/>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238614C5-2FD6-4B7B-B484-BBA2D3E97B0C}"/>
              </a:ext>
            </a:extLst>
          </p:cNvPr>
          <p:cNvSpPr txBox="1"/>
          <p:nvPr/>
        </p:nvSpPr>
        <p:spPr>
          <a:xfrm>
            <a:off x="1888247" y="3066637"/>
            <a:ext cx="2326278" cy="307777"/>
          </a:xfrm>
          <a:prstGeom prst="rect">
            <a:avLst/>
          </a:prstGeom>
          <a:solidFill>
            <a:schemeClr val="bg1"/>
          </a:solidFill>
        </p:spPr>
        <p:txBody>
          <a:bodyPr wrap="none" rtlCol="0">
            <a:spAutoFit/>
          </a:bodyPr>
          <a:lstStyle/>
          <a:p>
            <a:r>
              <a:rPr lang="ko-KR" altLang="en-US" sz="1400" dirty="0"/>
              <a:t>하자의 항변</a:t>
            </a:r>
            <a:r>
              <a:rPr lang="en-US" altLang="ko-KR" sz="1400" dirty="0"/>
              <a:t>, </a:t>
            </a:r>
            <a:r>
              <a:rPr lang="ko-KR" altLang="en-US" sz="1400" dirty="0"/>
              <a:t>권리남용의 항변</a:t>
            </a:r>
          </a:p>
        </p:txBody>
      </p:sp>
      <p:sp>
        <p:nvSpPr>
          <p:cNvPr id="36" name="TextBox 35">
            <a:extLst>
              <a:ext uri="{FF2B5EF4-FFF2-40B4-BE49-F238E27FC236}">
                <a16:creationId xmlns:a16="http://schemas.microsoft.com/office/drawing/2014/main" id="{466A6BCC-ABC9-40EC-BD61-983AE4FC1AF7}"/>
              </a:ext>
            </a:extLst>
          </p:cNvPr>
          <p:cNvSpPr txBox="1"/>
          <p:nvPr/>
        </p:nvSpPr>
        <p:spPr>
          <a:xfrm>
            <a:off x="4517071" y="2832669"/>
            <a:ext cx="1367682" cy="307777"/>
          </a:xfrm>
          <a:prstGeom prst="rect">
            <a:avLst/>
          </a:prstGeom>
          <a:solidFill>
            <a:schemeClr val="bg1"/>
          </a:solidFill>
        </p:spPr>
        <p:txBody>
          <a:bodyPr wrap="none" rtlCol="0">
            <a:spAutoFit/>
          </a:bodyPr>
          <a:lstStyle/>
          <a:p>
            <a:r>
              <a:rPr lang="ko-KR" altLang="en-US" sz="1400" dirty="0"/>
              <a:t>자유기술의 항변</a:t>
            </a:r>
          </a:p>
        </p:txBody>
      </p:sp>
    </p:spTree>
    <p:extLst>
      <p:ext uri="{BB962C8B-B14F-4D97-AF65-F5344CB8AC3E}">
        <p14:creationId xmlns:p14="http://schemas.microsoft.com/office/powerpoint/2010/main" val="174632839"/>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직사각형 14"/>
          <p:cNvSpPr/>
          <p:nvPr/>
        </p:nvSpPr>
        <p:spPr>
          <a:xfrm>
            <a:off x="429412" y="1226935"/>
            <a:ext cx="11233248" cy="2202065"/>
          </a:xfrm>
          <a:prstGeom prst="rect">
            <a:avLst/>
          </a:prstGeom>
          <a:no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n-ea"/>
            </a:endParaRPr>
          </a:p>
        </p:txBody>
      </p:sp>
      <p:cxnSp>
        <p:nvCxnSpPr>
          <p:cNvPr id="16" name="직선 화살표 연결선 15"/>
          <p:cNvCxnSpPr/>
          <p:nvPr/>
        </p:nvCxnSpPr>
        <p:spPr>
          <a:xfrm>
            <a:off x="813455" y="2144788"/>
            <a:ext cx="10561173" cy="0"/>
          </a:xfrm>
          <a:prstGeom prst="straightConnector1">
            <a:avLst/>
          </a:prstGeom>
          <a:ln w="38100">
            <a:solidFill>
              <a:schemeClr val="bg1">
                <a:lumMod val="50000"/>
              </a:schemeClr>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1113422" y="1405975"/>
            <a:ext cx="713657"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en-US" altLang="ko-KR" sz="1200" dirty="0">
                <a:solidFill>
                  <a:schemeClr val="tx1"/>
                </a:solidFill>
                <a:latin typeface="+mn-ea"/>
              </a:rPr>
              <a:t>a+b+c1</a:t>
            </a:r>
          </a:p>
          <a:p>
            <a:pPr algn="ctr"/>
            <a:r>
              <a:rPr lang="ko-KR" altLang="en-US" sz="1200" dirty="0">
                <a:solidFill>
                  <a:schemeClr val="tx1"/>
                </a:solidFill>
                <a:latin typeface="+mn-ea"/>
              </a:rPr>
              <a:t>공지</a:t>
            </a:r>
          </a:p>
        </p:txBody>
      </p:sp>
      <p:sp>
        <p:nvSpPr>
          <p:cNvPr id="28" name="TextBox 27"/>
          <p:cNvSpPr txBox="1"/>
          <p:nvPr/>
        </p:nvSpPr>
        <p:spPr>
          <a:xfrm>
            <a:off x="6076724" y="2405704"/>
            <a:ext cx="1349688"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a:t>
            </a:r>
            <a:r>
              <a:rPr lang="en-US" altLang="ko-KR" sz="1200" dirty="0">
                <a:solidFill>
                  <a:schemeClr val="tx1"/>
                </a:solidFill>
                <a:latin typeface="+mn-ea"/>
              </a:rPr>
              <a:t>a+b+c2+d*</a:t>
            </a:r>
          </a:p>
          <a:p>
            <a:pPr algn="ctr"/>
            <a:r>
              <a:rPr lang="ko-KR" altLang="en-US" sz="1200" dirty="0">
                <a:solidFill>
                  <a:schemeClr val="tx1"/>
                </a:solidFill>
                <a:latin typeface="+mn-ea"/>
              </a:rPr>
              <a:t>실시</a:t>
            </a:r>
          </a:p>
        </p:txBody>
      </p:sp>
      <p:sp>
        <p:nvSpPr>
          <p:cNvPr id="31" name="타원 30"/>
          <p:cNvSpPr/>
          <p:nvPr/>
        </p:nvSpPr>
        <p:spPr>
          <a:xfrm>
            <a:off x="1392881" y="2064119"/>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 name="직선 연결선 3"/>
          <p:cNvCxnSpPr>
            <a:stCxn id="21" idx="2"/>
            <a:endCxn id="31" idx="0"/>
          </p:cNvCxnSpPr>
          <p:nvPr/>
        </p:nvCxnSpPr>
        <p:spPr>
          <a:xfrm flipH="1">
            <a:off x="1470250" y="1867640"/>
            <a:ext cx="1" cy="19647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2603090" y="1405975"/>
            <a:ext cx="891591"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甲 </a:t>
            </a:r>
            <a:r>
              <a:rPr lang="en-US" altLang="ko-KR" sz="1200" dirty="0">
                <a:solidFill>
                  <a:schemeClr val="tx1"/>
                </a:solidFill>
                <a:latin typeface="+mn-ea"/>
              </a:rPr>
              <a:t>a+b+c2</a:t>
            </a:r>
          </a:p>
          <a:p>
            <a:pPr algn="ctr"/>
            <a:r>
              <a:rPr lang="ko-KR" altLang="en-US" sz="1200" dirty="0">
                <a:solidFill>
                  <a:schemeClr val="tx1"/>
                </a:solidFill>
                <a:latin typeface="+mn-ea"/>
              </a:rPr>
              <a:t>출원</a:t>
            </a:r>
          </a:p>
        </p:txBody>
      </p:sp>
      <p:sp>
        <p:nvSpPr>
          <p:cNvPr id="43" name="타원 42"/>
          <p:cNvSpPr/>
          <p:nvPr/>
        </p:nvSpPr>
        <p:spPr>
          <a:xfrm>
            <a:off x="2971515" y="206411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4" name="직선 연결선 43"/>
          <p:cNvCxnSpPr>
            <a:stCxn id="42" idx="2"/>
            <a:endCxn id="43" idx="0"/>
          </p:cNvCxnSpPr>
          <p:nvPr/>
        </p:nvCxnSpPr>
        <p:spPr>
          <a:xfrm flipH="1">
            <a:off x="3048884" y="1867640"/>
            <a:ext cx="2" cy="19647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4477724" y="1405975"/>
            <a:ext cx="713658"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en-US" altLang="ko-KR" sz="1200" dirty="0">
                <a:solidFill>
                  <a:schemeClr val="tx1"/>
                </a:solidFill>
                <a:latin typeface="+mn-ea"/>
              </a:rPr>
              <a:t>a+b+c2</a:t>
            </a:r>
          </a:p>
          <a:p>
            <a:pPr algn="ctr"/>
            <a:r>
              <a:rPr lang="ko-KR" altLang="en-US" sz="1200" dirty="0">
                <a:solidFill>
                  <a:schemeClr val="tx1"/>
                </a:solidFill>
                <a:latin typeface="+mn-ea"/>
              </a:rPr>
              <a:t>등록</a:t>
            </a:r>
          </a:p>
        </p:txBody>
      </p:sp>
      <p:sp>
        <p:nvSpPr>
          <p:cNvPr id="46" name="타원 45"/>
          <p:cNvSpPr/>
          <p:nvPr/>
        </p:nvSpPr>
        <p:spPr>
          <a:xfrm>
            <a:off x="4757183" y="206411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7" name="직선 연결선 46"/>
          <p:cNvCxnSpPr>
            <a:stCxn id="45" idx="2"/>
            <a:endCxn id="46" idx="0"/>
          </p:cNvCxnSpPr>
          <p:nvPr/>
        </p:nvCxnSpPr>
        <p:spPr>
          <a:xfrm flipH="1">
            <a:off x="4834552" y="1867640"/>
            <a:ext cx="1" cy="19647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타원 47"/>
          <p:cNvSpPr/>
          <p:nvPr/>
        </p:nvSpPr>
        <p:spPr>
          <a:xfrm>
            <a:off x="6674198" y="2064119"/>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9" name="직선 연결선 48"/>
          <p:cNvCxnSpPr>
            <a:cxnSpLocks/>
            <a:stCxn id="28" idx="0"/>
            <a:endCxn id="48" idx="4"/>
          </p:cNvCxnSpPr>
          <p:nvPr/>
        </p:nvCxnSpPr>
        <p:spPr>
          <a:xfrm flipH="1" flipV="1">
            <a:off x="6751567" y="2225457"/>
            <a:ext cx="1" cy="18024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7667552" y="1405975"/>
            <a:ext cx="2452632"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침해소송제기</a:t>
            </a:r>
            <a:r>
              <a:rPr lang="en-US" altLang="ko-KR" sz="1200" dirty="0">
                <a:solidFill>
                  <a:schemeClr val="tx1"/>
                </a:solidFill>
                <a:latin typeface="+mn-ea"/>
              </a:rPr>
              <a:t>/</a:t>
            </a:r>
            <a:r>
              <a:rPr lang="ko-KR" altLang="en-US" sz="1200" dirty="0">
                <a:solidFill>
                  <a:schemeClr val="tx1"/>
                </a:solidFill>
                <a:latin typeface="+mn-ea"/>
              </a:rPr>
              <a:t>권리범위확인심판청구</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확인대상발명</a:t>
            </a:r>
            <a:r>
              <a:rPr lang="en-US" altLang="ko-KR" sz="1200" dirty="0">
                <a:latin typeface="+mn-ea"/>
              </a:rPr>
              <a:t> α</a:t>
            </a:r>
            <a:r>
              <a:rPr lang="ko-KR" altLang="en-US" sz="1200" dirty="0">
                <a:latin typeface="+mn-ea"/>
              </a:rPr>
              <a:t>로 특정</a:t>
            </a:r>
            <a:r>
              <a:rPr lang="en-US" altLang="ko-KR" sz="1200" dirty="0">
                <a:latin typeface="+mn-ea"/>
              </a:rPr>
              <a:t>)</a:t>
            </a:r>
            <a:r>
              <a:rPr lang="ko-KR" altLang="en-US" sz="1200" dirty="0">
                <a:solidFill>
                  <a:schemeClr val="tx1"/>
                </a:solidFill>
                <a:latin typeface="+mn-ea"/>
              </a:rPr>
              <a:t> </a:t>
            </a:r>
          </a:p>
        </p:txBody>
      </p:sp>
      <p:sp>
        <p:nvSpPr>
          <p:cNvPr id="51" name="타원 50"/>
          <p:cNvSpPr/>
          <p:nvPr/>
        </p:nvSpPr>
        <p:spPr>
          <a:xfrm>
            <a:off x="8816496" y="206411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2" name="직선 연결선 51"/>
          <p:cNvCxnSpPr>
            <a:cxnSpLocks/>
            <a:stCxn id="50" idx="2"/>
            <a:endCxn id="51" idx="0"/>
          </p:cNvCxnSpPr>
          <p:nvPr/>
        </p:nvCxnSpPr>
        <p:spPr>
          <a:xfrm flipH="1">
            <a:off x="8893865" y="1867640"/>
            <a:ext cx="3" cy="19647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10568928" y="2405704"/>
            <a:ext cx="460382"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항변</a:t>
            </a:r>
          </a:p>
        </p:txBody>
      </p:sp>
      <p:sp>
        <p:nvSpPr>
          <p:cNvPr id="54" name="타원 53"/>
          <p:cNvSpPr/>
          <p:nvPr/>
        </p:nvSpPr>
        <p:spPr>
          <a:xfrm>
            <a:off x="10721749" y="2064119"/>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5" name="직선 연결선 54"/>
          <p:cNvCxnSpPr>
            <a:stCxn id="53" idx="0"/>
            <a:endCxn id="54" idx="4"/>
          </p:cNvCxnSpPr>
          <p:nvPr/>
        </p:nvCxnSpPr>
        <p:spPr>
          <a:xfrm flipH="1" flipV="1">
            <a:off x="10799118" y="2225457"/>
            <a:ext cx="1" cy="18024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제목 9"/>
          <p:cNvSpPr>
            <a:spLocks noGrp="1"/>
          </p:cNvSpPr>
          <p:nvPr>
            <p:ph type="title"/>
          </p:nvPr>
        </p:nvSpPr>
        <p:spPr/>
        <p:txBody>
          <a:bodyPr/>
          <a:lstStyle/>
          <a:p>
            <a:r>
              <a:rPr lang="ko-KR" altLang="en-US" dirty="0"/>
              <a:t>제</a:t>
            </a:r>
            <a:r>
              <a:rPr lang="en-US" altLang="ko-KR" dirty="0"/>
              <a:t>94</a:t>
            </a:r>
            <a:r>
              <a:rPr lang="ko-KR" altLang="en-US" dirty="0"/>
              <a:t>조</a:t>
            </a:r>
            <a:r>
              <a:rPr lang="en-US" altLang="ko-KR" dirty="0"/>
              <a:t>~</a:t>
            </a:r>
            <a:r>
              <a:rPr lang="ko-KR" altLang="en-US" dirty="0"/>
              <a:t>제</a:t>
            </a:r>
            <a:r>
              <a:rPr lang="en-US" altLang="ko-KR" dirty="0"/>
              <a:t>96</a:t>
            </a:r>
            <a:r>
              <a:rPr lang="ko-KR" altLang="en-US" dirty="0"/>
              <a:t>조</a:t>
            </a:r>
          </a:p>
        </p:txBody>
      </p:sp>
      <p:sp>
        <p:nvSpPr>
          <p:cNvPr id="11" name="텍스트 개체 틀 10"/>
          <p:cNvSpPr>
            <a:spLocks noGrp="1"/>
          </p:cNvSpPr>
          <p:nvPr>
            <p:ph type="body" sz="quarter" idx="13"/>
          </p:nvPr>
        </p:nvSpPr>
        <p:spPr/>
        <p:txBody>
          <a:bodyPr/>
          <a:lstStyle/>
          <a:p>
            <a:r>
              <a:rPr lang="ko-KR" altLang="en-US" dirty="0"/>
              <a:t>자유기술의 항변 </a:t>
            </a:r>
            <a:r>
              <a:rPr lang="en-US" altLang="ko-KR" dirty="0"/>
              <a:t>CASE</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318</a:t>
            </a:r>
            <a:endParaRPr lang="ko-KR" altLang="en-US"/>
          </a:p>
        </p:txBody>
      </p:sp>
      <p:sp>
        <p:nvSpPr>
          <p:cNvPr id="7" name="TextBox 6">
            <a:extLst>
              <a:ext uri="{FF2B5EF4-FFF2-40B4-BE49-F238E27FC236}">
                <a16:creationId xmlns:a16="http://schemas.microsoft.com/office/drawing/2014/main" id="{1C794A4D-4D3A-41FB-8F22-EE1ED82F5545}"/>
              </a:ext>
            </a:extLst>
          </p:cNvPr>
          <p:cNvSpPr txBox="1"/>
          <p:nvPr/>
        </p:nvSpPr>
        <p:spPr>
          <a:xfrm>
            <a:off x="555603" y="3065574"/>
            <a:ext cx="4934364" cy="307777"/>
          </a:xfrm>
          <a:prstGeom prst="rect">
            <a:avLst/>
          </a:prstGeom>
          <a:noFill/>
        </p:spPr>
        <p:txBody>
          <a:bodyPr wrap="none" rtlCol="0">
            <a:spAutoFit/>
          </a:bodyPr>
          <a:lstStyle/>
          <a:p>
            <a:r>
              <a:rPr lang="en-US" altLang="ko-KR" sz="1400" dirty="0">
                <a:latin typeface="+mn-ea"/>
              </a:rPr>
              <a:t>* a+b+c1</a:t>
            </a:r>
            <a:r>
              <a:rPr lang="ko-KR" altLang="en-US" sz="1400" dirty="0">
                <a:latin typeface="+mn-ea"/>
              </a:rPr>
              <a:t>로부터 </a:t>
            </a:r>
            <a:r>
              <a:rPr lang="en-US" altLang="ko-KR" sz="1400" dirty="0">
                <a:latin typeface="+mn-ea"/>
              </a:rPr>
              <a:t>a+b+c2+d</a:t>
            </a:r>
            <a:r>
              <a:rPr lang="ko-KR" altLang="en-US" sz="1400" dirty="0">
                <a:latin typeface="+mn-ea"/>
              </a:rPr>
              <a:t>는 용이하지 않고</a:t>
            </a:r>
            <a:r>
              <a:rPr lang="en-US" altLang="ko-KR" sz="1400" dirty="0">
                <a:latin typeface="+mn-ea"/>
              </a:rPr>
              <a:t>, a+b+c2</a:t>
            </a:r>
            <a:r>
              <a:rPr lang="ko-KR" altLang="en-US" sz="1400" dirty="0">
                <a:latin typeface="+mn-ea"/>
              </a:rPr>
              <a:t>는 용이함</a:t>
            </a:r>
          </a:p>
        </p:txBody>
      </p:sp>
      <p:graphicFrame>
        <p:nvGraphicFramePr>
          <p:cNvPr id="8" name="표 7">
            <a:extLst>
              <a:ext uri="{FF2B5EF4-FFF2-40B4-BE49-F238E27FC236}">
                <a16:creationId xmlns:a16="http://schemas.microsoft.com/office/drawing/2014/main" id="{93A675EA-E53F-4567-A57F-84AE23954995}"/>
              </a:ext>
            </a:extLst>
          </p:cNvPr>
          <p:cNvGraphicFramePr>
            <a:graphicFrameLocks noGrp="1"/>
          </p:cNvGraphicFramePr>
          <p:nvPr/>
        </p:nvGraphicFramePr>
        <p:xfrm>
          <a:off x="429413" y="3689915"/>
          <a:ext cx="11233251" cy="2118965"/>
        </p:xfrm>
        <a:graphic>
          <a:graphicData uri="http://schemas.openxmlformats.org/drawingml/2006/table">
            <a:tbl>
              <a:tblPr>
                <a:tableStyleId>{8799B23B-EC83-4686-B30A-512413B5E67A}</a:tableStyleId>
              </a:tblPr>
              <a:tblGrid>
                <a:gridCol w="1435655">
                  <a:extLst>
                    <a:ext uri="{9D8B030D-6E8A-4147-A177-3AD203B41FA5}">
                      <a16:colId xmlns:a16="http://schemas.microsoft.com/office/drawing/2014/main" val="2139666124"/>
                    </a:ext>
                  </a:extLst>
                </a:gridCol>
                <a:gridCol w="2449399">
                  <a:extLst>
                    <a:ext uri="{9D8B030D-6E8A-4147-A177-3AD203B41FA5}">
                      <a16:colId xmlns:a16="http://schemas.microsoft.com/office/drawing/2014/main" val="1555843567"/>
                    </a:ext>
                  </a:extLst>
                </a:gridCol>
                <a:gridCol w="2449399">
                  <a:extLst>
                    <a:ext uri="{9D8B030D-6E8A-4147-A177-3AD203B41FA5}">
                      <a16:colId xmlns:a16="http://schemas.microsoft.com/office/drawing/2014/main" val="2204792389"/>
                    </a:ext>
                  </a:extLst>
                </a:gridCol>
                <a:gridCol w="2449399">
                  <a:extLst>
                    <a:ext uri="{9D8B030D-6E8A-4147-A177-3AD203B41FA5}">
                      <a16:colId xmlns:a16="http://schemas.microsoft.com/office/drawing/2014/main" val="2353368581"/>
                    </a:ext>
                  </a:extLst>
                </a:gridCol>
                <a:gridCol w="2449399">
                  <a:extLst>
                    <a:ext uri="{9D8B030D-6E8A-4147-A177-3AD203B41FA5}">
                      <a16:colId xmlns:a16="http://schemas.microsoft.com/office/drawing/2014/main" val="193635068"/>
                    </a:ext>
                  </a:extLst>
                </a:gridCol>
              </a:tblGrid>
              <a:tr h="543388">
                <a:tc rowSpan="2">
                  <a:txBody>
                    <a:bodyPr/>
                    <a:lstStyle/>
                    <a:p>
                      <a:pPr algn="ctr" latinLnBrk="1"/>
                      <a:r>
                        <a:rPr lang="ko-KR" altLang="en-US" sz="1400" b="0" dirty="0"/>
                        <a:t>확인대상발명</a:t>
                      </a:r>
                      <a:r>
                        <a:rPr lang="en-US" altLang="ko-KR" sz="1400" b="0" dirty="0"/>
                        <a:t>(α)</a:t>
                      </a:r>
                      <a:endParaRPr lang="ko-KR" altLang="en-US" sz="1400" b="0" dirty="0"/>
                    </a:p>
                  </a:txBody>
                  <a:tcPr anchor="ctr">
                    <a:solidFill>
                      <a:schemeClr val="accent1">
                        <a:lumMod val="20000"/>
                        <a:lumOff val="80000"/>
                      </a:schemeClr>
                    </a:solidFill>
                  </a:tcPr>
                </a:tc>
                <a:tc gridSpan="2">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b="0" dirty="0"/>
                        <a:t>권리범위확인심판</a:t>
                      </a:r>
                    </a:p>
                  </a:txBody>
                  <a:tcPr anchor="ctr">
                    <a:solidFill>
                      <a:schemeClr val="accent1">
                        <a:lumMod val="20000"/>
                        <a:lumOff val="80000"/>
                      </a:schemeClr>
                    </a:solidFill>
                  </a:tcPr>
                </a:tc>
                <a:tc hMerge="1">
                  <a:txBody>
                    <a:bodyPr/>
                    <a:lstStyle/>
                    <a:p>
                      <a:pPr algn="ctr" latinLnBrk="1"/>
                      <a:endParaRPr lang="ko-KR" altLang="en-US" sz="1400" dirty="0"/>
                    </a:p>
                  </a:txBody>
                  <a:tcPr anchor="ctr"/>
                </a:tc>
                <a:tc gridSpan="2">
                  <a:txBody>
                    <a:bodyPr/>
                    <a:lstStyle/>
                    <a:p>
                      <a:pPr algn="ctr" latinLnBrk="1"/>
                      <a:r>
                        <a:rPr lang="ko-KR" altLang="en-US" sz="1400" b="0" dirty="0"/>
                        <a:t>침해소송</a:t>
                      </a:r>
                    </a:p>
                  </a:txBody>
                  <a:tcPr anchor="ctr">
                    <a:solidFill>
                      <a:schemeClr val="accent1">
                        <a:lumMod val="20000"/>
                        <a:lumOff val="80000"/>
                      </a:schemeClr>
                    </a:solidFill>
                  </a:tcPr>
                </a:tc>
                <a:tc hMerge="1">
                  <a:txBody>
                    <a:bodyPr/>
                    <a:lstStyle/>
                    <a:p>
                      <a:pPr algn="ctr" latinLnBrk="1"/>
                      <a:endParaRPr lang="ko-KR" altLang="en-US" sz="1400" dirty="0"/>
                    </a:p>
                  </a:txBody>
                  <a:tcPr anchor="ctr"/>
                </a:tc>
                <a:extLst>
                  <a:ext uri="{0D108BD9-81ED-4DB2-BD59-A6C34878D82A}">
                    <a16:rowId xmlns:a16="http://schemas.microsoft.com/office/drawing/2014/main" val="823115506"/>
                  </a:ext>
                </a:extLst>
              </a:tr>
              <a:tr h="488801">
                <a:tc vMerge="1">
                  <a:txBody>
                    <a:bodyPr/>
                    <a:lstStyle/>
                    <a:p>
                      <a:pPr algn="ctr" latinLnBrk="1"/>
                      <a:endParaRPr lang="ko-KR" altLang="en-US" sz="1400" dirty="0"/>
                    </a:p>
                  </a:txBody>
                  <a:tcPr anchor="ctr"/>
                </a:tc>
                <a:tc>
                  <a:txBody>
                    <a:bodyPr/>
                    <a:lstStyle/>
                    <a:p>
                      <a:pPr algn="ctr" latinLnBrk="1"/>
                      <a:r>
                        <a:rPr lang="ko-KR" altLang="en-US" sz="1400" b="0" dirty="0"/>
                        <a:t>자유기술의 항변</a:t>
                      </a:r>
                      <a:r>
                        <a:rPr lang="en-US" altLang="ko-KR" sz="1400" b="0" dirty="0"/>
                        <a:t>*</a:t>
                      </a:r>
                      <a:endParaRPr lang="ko-KR" altLang="en-US" sz="1400" b="0" dirty="0"/>
                    </a:p>
                  </a:txBody>
                  <a:tcPr anchor="ctr">
                    <a:solidFill>
                      <a:schemeClr val="accent1">
                        <a:lumMod val="20000"/>
                        <a:lumOff val="80000"/>
                      </a:schemeClr>
                    </a:solidFill>
                  </a:tcPr>
                </a:tc>
                <a:tc>
                  <a:txBody>
                    <a:bodyPr/>
                    <a:lstStyle/>
                    <a:p>
                      <a:pPr algn="ctr" latinLnBrk="1"/>
                      <a:r>
                        <a:rPr lang="ko-KR" altLang="en-US" sz="1400" b="0" dirty="0"/>
                        <a:t>권리남용의 항변</a:t>
                      </a:r>
                      <a:r>
                        <a:rPr lang="en-US" altLang="ko-KR" sz="1400" b="0" dirty="0"/>
                        <a:t>**</a:t>
                      </a:r>
                      <a:endParaRPr lang="ko-KR" altLang="en-US" sz="1400" b="0" dirty="0"/>
                    </a:p>
                  </a:txBody>
                  <a:tcPr anchor="ctr">
                    <a:solidFill>
                      <a:schemeClr val="accent1">
                        <a:lumMod val="20000"/>
                        <a:lumOff val="80000"/>
                      </a:schemeClr>
                    </a:solidFill>
                  </a:tcPr>
                </a:tc>
                <a:tc>
                  <a:txBody>
                    <a:bodyPr/>
                    <a:lstStyle/>
                    <a:p>
                      <a:pPr algn="ctr" latinLnBrk="1"/>
                      <a:r>
                        <a:rPr lang="ko-KR" altLang="en-US" sz="1400" b="0" dirty="0"/>
                        <a:t>자유기술의 항변</a:t>
                      </a:r>
                      <a:r>
                        <a:rPr lang="en-US" altLang="ko-KR" sz="1400" b="0" dirty="0"/>
                        <a:t>*</a:t>
                      </a:r>
                      <a:endParaRPr lang="ko-KR" altLang="en-US" sz="1400" b="0" dirty="0"/>
                    </a:p>
                  </a:txBody>
                  <a:tcPr anchor="ctr">
                    <a:solidFill>
                      <a:schemeClr val="accent1">
                        <a:lumMod val="20000"/>
                        <a:lumOff val="80000"/>
                      </a:schemeClr>
                    </a:solidFill>
                  </a:tcPr>
                </a:tc>
                <a:tc>
                  <a:txBody>
                    <a:bodyPr/>
                    <a:lstStyle/>
                    <a:p>
                      <a:pPr algn="ctr" latinLnBrk="1"/>
                      <a:r>
                        <a:rPr lang="ko-KR" altLang="en-US" sz="1400" b="0" dirty="0"/>
                        <a:t>권리남용의 항변</a:t>
                      </a:r>
                      <a:r>
                        <a:rPr lang="en-US" altLang="ko-KR" sz="1400" b="0" dirty="0"/>
                        <a:t>**</a:t>
                      </a:r>
                      <a:endParaRPr lang="ko-KR" altLang="en-US" sz="1400" b="0" dirty="0"/>
                    </a:p>
                  </a:txBody>
                  <a:tcPr anchor="ctr">
                    <a:solidFill>
                      <a:schemeClr val="accent1">
                        <a:lumMod val="20000"/>
                        <a:lumOff val="80000"/>
                      </a:schemeClr>
                    </a:solidFill>
                  </a:tcPr>
                </a:tc>
                <a:extLst>
                  <a:ext uri="{0D108BD9-81ED-4DB2-BD59-A6C34878D82A}">
                    <a16:rowId xmlns:a16="http://schemas.microsoft.com/office/drawing/2014/main" val="3721336299"/>
                  </a:ext>
                </a:extLst>
              </a:tr>
              <a:tr h="543388">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dirty="0"/>
                        <a:t>a+b+c2</a:t>
                      </a:r>
                      <a:endParaRPr lang="ko-KR" altLang="en-US" sz="1400" dirty="0"/>
                    </a:p>
                  </a:txBody>
                  <a:tcPr anchor="ctr"/>
                </a:tc>
                <a:tc>
                  <a:txBody>
                    <a:bodyPr/>
                    <a:lstStyle/>
                    <a:p>
                      <a:pPr algn="ctr" latinLnBrk="1"/>
                      <a:r>
                        <a:rPr lang="ko-KR" altLang="en-US" sz="1400" dirty="0"/>
                        <a:t>인정</a:t>
                      </a:r>
                    </a:p>
                  </a:txBody>
                  <a:tcPr anchor="ctr">
                    <a:noFill/>
                  </a:tcPr>
                </a:tc>
                <a:tc>
                  <a:txBody>
                    <a:bodyPr/>
                    <a:lstStyle/>
                    <a:p>
                      <a:pPr algn="ctr" latinLnBrk="1"/>
                      <a:r>
                        <a:rPr lang="ko-KR" altLang="en-US" sz="1400" dirty="0"/>
                        <a:t>불인정</a:t>
                      </a:r>
                    </a:p>
                  </a:txBody>
                  <a:tcPr anchor="ctr">
                    <a:solidFill>
                      <a:schemeClr val="accent2"/>
                    </a:solidFill>
                  </a:tcPr>
                </a:tc>
                <a:tc>
                  <a:txBody>
                    <a:bodyPr/>
                    <a:lstStyle/>
                    <a:p>
                      <a:pPr algn="ctr" latinLnBrk="1"/>
                      <a:r>
                        <a:rPr lang="ko-KR" altLang="en-US" sz="1400" dirty="0"/>
                        <a:t>인정</a:t>
                      </a:r>
                    </a:p>
                  </a:txBody>
                  <a:tcPr anchor="ctr">
                    <a:noFill/>
                  </a:tcPr>
                </a:tc>
                <a:tc>
                  <a:txBody>
                    <a:bodyPr/>
                    <a:lstStyle/>
                    <a:p>
                      <a:pPr algn="ctr" latinLnBrk="1"/>
                      <a:r>
                        <a:rPr lang="ko-KR" altLang="en-US" sz="1400" dirty="0"/>
                        <a:t>인정</a:t>
                      </a:r>
                    </a:p>
                  </a:txBody>
                  <a:tcPr anchor="ctr">
                    <a:noFill/>
                  </a:tcPr>
                </a:tc>
                <a:extLst>
                  <a:ext uri="{0D108BD9-81ED-4DB2-BD59-A6C34878D82A}">
                    <a16:rowId xmlns:a16="http://schemas.microsoft.com/office/drawing/2014/main" val="3381830176"/>
                  </a:ext>
                </a:extLst>
              </a:tr>
              <a:tr h="543388">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dirty="0"/>
                        <a:t>a+b+c2+d</a:t>
                      </a:r>
                      <a:endParaRPr lang="ko-KR" altLang="en-US" sz="1400" dirty="0"/>
                    </a:p>
                  </a:txBody>
                  <a:tcPr anchor="ctr"/>
                </a:tc>
                <a:tc>
                  <a:txBody>
                    <a:bodyPr/>
                    <a:lstStyle/>
                    <a:p>
                      <a:pPr algn="ctr" latinLnBrk="1"/>
                      <a:r>
                        <a:rPr lang="ko-KR" altLang="en-US" sz="1400" dirty="0"/>
                        <a:t>불인정</a:t>
                      </a:r>
                    </a:p>
                  </a:txBody>
                  <a:tcPr anchor="ctr">
                    <a:noFill/>
                  </a:tcPr>
                </a:tc>
                <a:tc>
                  <a:txBody>
                    <a:bodyPr/>
                    <a:lstStyle/>
                    <a:p>
                      <a:pPr algn="ctr" latinLnBrk="1"/>
                      <a:r>
                        <a:rPr lang="ko-KR" altLang="en-US" sz="1400" dirty="0"/>
                        <a:t>불인정</a:t>
                      </a:r>
                    </a:p>
                  </a:txBody>
                  <a:tcPr anchor="ctr">
                    <a:noFill/>
                  </a:tcPr>
                </a:tc>
                <a:tc>
                  <a:txBody>
                    <a:bodyPr/>
                    <a:lstStyle/>
                    <a:p>
                      <a:pPr algn="ctr" latinLnBrk="1"/>
                      <a:r>
                        <a:rPr lang="ko-KR" altLang="en-US" sz="1400" dirty="0"/>
                        <a:t>불인정</a:t>
                      </a:r>
                    </a:p>
                  </a:txBody>
                  <a:tcPr anchor="ctr">
                    <a:noFill/>
                  </a:tcPr>
                </a:tc>
                <a:tc>
                  <a:txBody>
                    <a:bodyPr/>
                    <a:lstStyle/>
                    <a:p>
                      <a:pPr algn="ctr" latinLnBrk="1"/>
                      <a:r>
                        <a:rPr lang="ko-KR" altLang="en-US" sz="1400" dirty="0"/>
                        <a:t>인정</a:t>
                      </a:r>
                    </a:p>
                  </a:txBody>
                  <a:tcPr anchor="ctr">
                    <a:noFill/>
                  </a:tcPr>
                </a:tc>
                <a:extLst>
                  <a:ext uri="{0D108BD9-81ED-4DB2-BD59-A6C34878D82A}">
                    <a16:rowId xmlns:a16="http://schemas.microsoft.com/office/drawing/2014/main" val="413640213"/>
                  </a:ext>
                </a:extLst>
              </a:tr>
            </a:tbl>
          </a:graphicData>
        </a:graphic>
      </p:graphicFrame>
      <p:sp>
        <p:nvSpPr>
          <p:cNvPr id="9" name="직사각형 8">
            <a:extLst>
              <a:ext uri="{FF2B5EF4-FFF2-40B4-BE49-F238E27FC236}">
                <a16:creationId xmlns:a16="http://schemas.microsoft.com/office/drawing/2014/main" id="{1D00192B-0D3A-45F0-9E8F-666CB730B078}"/>
              </a:ext>
            </a:extLst>
          </p:cNvPr>
          <p:cNvSpPr/>
          <p:nvPr/>
        </p:nvSpPr>
        <p:spPr>
          <a:xfrm>
            <a:off x="429412" y="5948867"/>
            <a:ext cx="11107058" cy="738664"/>
          </a:xfrm>
          <a:prstGeom prst="rect">
            <a:avLst/>
          </a:prstGeom>
        </p:spPr>
        <p:txBody>
          <a:bodyPr wrap="square">
            <a:spAutoFit/>
          </a:bodyPr>
          <a:lstStyle/>
          <a:p>
            <a:r>
              <a:rPr lang="en-US" altLang="ko-KR" sz="1400" dirty="0"/>
              <a:t>* </a:t>
            </a:r>
            <a:r>
              <a:rPr lang="ko-KR" altLang="en-US" sz="1400" dirty="0">
                <a:solidFill>
                  <a:srgbClr val="FF0000"/>
                </a:solidFill>
              </a:rPr>
              <a:t>확인대상발명</a:t>
            </a:r>
            <a:r>
              <a:rPr lang="en-US" altLang="ko-KR" sz="1400" dirty="0">
                <a:solidFill>
                  <a:srgbClr val="FF0000"/>
                </a:solidFill>
              </a:rPr>
              <a:t>(α)</a:t>
            </a:r>
            <a:r>
              <a:rPr lang="ko-KR" altLang="en-US" sz="1400" dirty="0"/>
              <a:t>이 공지기술로부터 유사하기 때문에 권리범위에 속하지 않는다</a:t>
            </a:r>
            <a:r>
              <a:rPr lang="en-US" altLang="ko-KR" sz="1400" dirty="0"/>
              <a:t>.</a:t>
            </a:r>
          </a:p>
          <a:p>
            <a:r>
              <a:rPr lang="en-US" altLang="ko-KR" sz="1400" dirty="0"/>
              <a:t>** </a:t>
            </a:r>
            <a:r>
              <a:rPr lang="ko-KR" altLang="en-US" sz="1400" dirty="0">
                <a:solidFill>
                  <a:srgbClr val="FF0000"/>
                </a:solidFill>
              </a:rPr>
              <a:t>특허발명</a:t>
            </a:r>
            <a:r>
              <a:rPr lang="en-US" altLang="ko-KR" sz="1400" dirty="0">
                <a:solidFill>
                  <a:srgbClr val="FF0000"/>
                </a:solidFill>
              </a:rPr>
              <a:t>(a+b+c2)</a:t>
            </a:r>
            <a:r>
              <a:rPr lang="ko-KR" altLang="en-US" sz="1400" dirty="0"/>
              <a:t>이 공지기술로부터 용이함이 명백하고 특별한 사정이 없기 때문에 </a:t>
            </a:r>
            <a:r>
              <a:rPr lang="en-US" altLang="ko-KR" sz="1400" dirty="0"/>
              <a:t>(</a:t>
            </a:r>
            <a:r>
              <a:rPr lang="ko-KR" altLang="en-US" sz="1400" dirty="0"/>
              <a:t>권리범위에 속하더라도</a:t>
            </a:r>
            <a:r>
              <a:rPr lang="en-US" altLang="ko-KR" sz="1400" dirty="0"/>
              <a:t>) </a:t>
            </a:r>
            <a:r>
              <a:rPr lang="ko-KR" altLang="en-US" sz="1400" dirty="0"/>
              <a:t>권리남용으로서</a:t>
            </a:r>
            <a:r>
              <a:rPr lang="en-US" altLang="ko-KR" sz="1400" dirty="0"/>
              <a:t>, </a:t>
            </a:r>
            <a:r>
              <a:rPr lang="ko-KR" altLang="en-US" sz="1400" dirty="0"/>
              <a:t>침해가 아니다</a:t>
            </a:r>
            <a:r>
              <a:rPr lang="en-US" altLang="ko-KR" sz="1400" dirty="0"/>
              <a:t>.</a:t>
            </a:r>
            <a:endParaRPr lang="ko-KR" altLang="en-US" sz="1400" dirty="0"/>
          </a:p>
          <a:p>
            <a:pPr marL="285750" indent="-285750">
              <a:buFont typeface="Arial" panose="020B0604020202020204" pitchFamily="34" charset="0"/>
              <a:buChar char="•"/>
            </a:pPr>
            <a:endParaRPr lang="ko-KR" altLang="en-US" sz="1400" dirty="0"/>
          </a:p>
        </p:txBody>
      </p:sp>
      <p:cxnSp>
        <p:nvCxnSpPr>
          <p:cNvPr id="5" name="연결선: 구부러짐 4">
            <a:extLst>
              <a:ext uri="{FF2B5EF4-FFF2-40B4-BE49-F238E27FC236}">
                <a16:creationId xmlns:a16="http://schemas.microsoft.com/office/drawing/2014/main" id="{0D48A1EF-2658-40FF-8457-001B16EB22F3}"/>
              </a:ext>
            </a:extLst>
          </p:cNvPr>
          <p:cNvCxnSpPr>
            <a:stCxn id="31" idx="4"/>
            <a:endCxn id="46" idx="3"/>
          </p:cNvCxnSpPr>
          <p:nvPr/>
        </p:nvCxnSpPr>
        <p:spPr>
          <a:xfrm rot="5400000" flipH="1" flipV="1">
            <a:off x="3113233" y="558847"/>
            <a:ext cx="23627" cy="3309594"/>
          </a:xfrm>
          <a:prstGeom prst="curvedConnector3">
            <a:avLst>
              <a:gd name="adj1" fmla="val -967537"/>
            </a:avLst>
          </a:prstGeom>
          <a:ln w="38100">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0" name="연결선: 구부러짐 29">
            <a:extLst>
              <a:ext uri="{FF2B5EF4-FFF2-40B4-BE49-F238E27FC236}">
                <a16:creationId xmlns:a16="http://schemas.microsoft.com/office/drawing/2014/main" id="{18E69015-EB4E-42E3-AC8B-42C25BE6B111}"/>
              </a:ext>
            </a:extLst>
          </p:cNvPr>
          <p:cNvCxnSpPr>
            <a:cxnSpLocks/>
            <a:stCxn id="21" idx="0"/>
            <a:endCxn id="50" idx="0"/>
          </p:cNvCxnSpPr>
          <p:nvPr/>
        </p:nvCxnSpPr>
        <p:spPr>
          <a:xfrm rot="5400000" flipH="1" flipV="1">
            <a:off x="5182059" y="-2305833"/>
            <a:ext cx="12700" cy="7423617"/>
          </a:xfrm>
          <a:prstGeom prst="curvedConnector3">
            <a:avLst>
              <a:gd name="adj1" fmla="val 3788575"/>
            </a:avLst>
          </a:prstGeom>
          <a:ln w="38100">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8965085"/>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p:cNvSpPr txBox="1"/>
          <p:nvPr/>
        </p:nvSpPr>
        <p:spPr>
          <a:xfrm>
            <a:off x="319113" y="3305450"/>
            <a:ext cx="922047" cy="584775"/>
          </a:xfrm>
          <a:prstGeom prst="rect">
            <a:avLst/>
          </a:prstGeom>
          <a:solidFill>
            <a:schemeClr val="bg2">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600" dirty="0">
                <a:solidFill>
                  <a:schemeClr val="accent4"/>
                </a:solidFill>
                <a:latin typeface="+mn-ea"/>
              </a:rPr>
              <a:t>권리남용</a:t>
            </a:r>
            <a:endParaRPr lang="en-US" altLang="ko-KR" sz="1600" dirty="0">
              <a:solidFill>
                <a:schemeClr val="accent4"/>
              </a:solidFill>
              <a:latin typeface="+mn-ea"/>
            </a:endParaRPr>
          </a:p>
          <a:p>
            <a:pPr algn="ctr"/>
            <a:r>
              <a:rPr lang="ko-KR" altLang="en-US" sz="1600" dirty="0">
                <a:solidFill>
                  <a:schemeClr val="accent4"/>
                </a:solidFill>
                <a:latin typeface="+mn-ea"/>
              </a:rPr>
              <a:t>제한</a:t>
            </a:r>
          </a:p>
        </p:txBody>
      </p:sp>
      <p:sp>
        <p:nvSpPr>
          <p:cNvPr id="10" name="제목 9"/>
          <p:cNvSpPr>
            <a:spLocks noGrp="1"/>
          </p:cNvSpPr>
          <p:nvPr>
            <p:ph type="title"/>
          </p:nvPr>
        </p:nvSpPr>
        <p:spPr/>
        <p:txBody>
          <a:bodyPr/>
          <a:lstStyle/>
          <a:p>
            <a:r>
              <a:rPr lang="ko-KR" altLang="en-US" dirty="0"/>
              <a:t>제</a:t>
            </a:r>
            <a:r>
              <a:rPr lang="en-US" altLang="ko-KR" dirty="0"/>
              <a:t>94</a:t>
            </a:r>
            <a:r>
              <a:rPr lang="ko-KR" altLang="en-US" dirty="0"/>
              <a:t>조</a:t>
            </a:r>
            <a:r>
              <a:rPr lang="en-US" altLang="ko-KR" dirty="0"/>
              <a:t>~</a:t>
            </a:r>
            <a:r>
              <a:rPr lang="ko-KR" altLang="en-US" dirty="0"/>
              <a:t>제</a:t>
            </a:r>
            <a:r>
              <a:rPr lang="en-US" altLang="ko-KR" dirty="0"/>
              <a:t>96</a:t>
            </a:r>
            <a:r>
              <a:rPr lang="ko-KR" altLang="en-US" dirty="0"/>
              <a:t>조</a:t>
            </a:r>
          </a:p>
        </p:txBody>
      </p:sp>
      <p:sp>
        <p:nvSpPr>
          <p:cNvPr id="11" name="텍스트 개체 틀 10"/>
          <p:cNvSpPr>
            <a:spLocks noGrp="1"/>
          </p:cNvSpPr>
          <p:nvPr>
            <p:ph type="body" sz="quarter" idx="13"/>
          </p:nvPr>
        </p:nvSpPr>
        <p:spPr/>
        <p:txBody>
          <a:bodyPr/>
          <a:lstStyle/>
          <a:p>
            <a:r>
              <a:rPr lang="ko-KR" altLang="en-US" dirty="0"/>
              <a:t>권리남용의 제한</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319</a:t>
            </a:r>
            <a:endParaRPr lang="ko-KR" altLang="en-US"/>
          </a:p>
        </p:txBody>
      </p:sp>
      <p:sp>
        <p:nvSpPr>
          <p:cNvPr id="5" name="TextBox 4">
            <a:extLst>
              <a:ext uri="{FF2B5EF4-FFF2-40B4-BE49-F238E27FC236}">
                <a16:creationId xmlns:a16="http://schemas.microsoft.com/office/drawing/2014/main" id="{ADC00B75-C1DE-40B2-9EE8-B0A1A71ECA8F}"/>
              </a:ext>
            </a:extLst>
          </p:cNvPr>
          <p:cNvSpPr txBox="1"/>
          <p:nvPr/>
        </p:nvSpPr>
        <p:spPr>
          <a:xfrm>
            <a:off x="1777041" y="1804482"/>
            <a:ext cx="1290738" cy="369332"/>
          </a:xfrm>
          <a:prstGeom prst="rect">
            <a:avLst/>
          </a:prstGeom>
          <a:solidFill>
            <a:schemeClr val="bg2">
              <a:lumMod val="90000"/>
            </a:schemeClr>
          </a:solidFill>
          <a:ln>
            <a:solidFill>
              <a:schemeClr val="bg2">
                <a:lumMod val="50000"/>
              </a:schemeClr>
            </a:solidFill>
          </a:ln>
        </p:spPr>
        <p:txBody>
          <a:bodyPr wrap="none" rtlCol="0">
            <a:spAutoFit/>
          </a:bodyPr>
          <a:lstStyle/>
          <a:p>
            <a:r>
              <a:rPr lang="ko-KR" altLang="en-US" dirty="0"/>
              <a:t>특허법 규정</a:t>
            </a:r>
          </a:p>
        </p:txBody>
      </p:sp>
      <p:sp>
        <p:nvSpPr>
          <p:cNvPr id="29" name="TextBox 28">
            <a:extLst>
              <a:ext uri="{FF2B5EF4-FFF2-40B4-BE49-F238E27FC236}">
                <a16:creationId xmlns:a16="http://schemas.microsoft.com/office/drawing/2014/main" id="{5B9A832B-20BC-4ECE-98F1-E3D9325C6B77}"/>
              </a:ext>
            </a:extLst>
          </p:cNvPr>
          <p:cNvSpPr txBox="1"/>
          <p:nvPr/>
        </p:nvSpPr>
        <p:spPr>
          <a:xfrm>
            <a:off x="1777041" y="3405800"/>
            <a:ext cx="1290738" cy="369332"/>
          </a:xfrm>
          <a:prstGeom prst="rect">
            <a:avLst/>
          </a:prstGeom>
          <a:solidFill>
            <a:schemeClr val="bg2">
              <a:lumMod val="90000"/>
            </a:schemeClr>
          </a:solidFill>
          <a:ln>
            <a:solidFill>
              <a:schemeClr val="bg2">
                <a:lumMod val="50000"/>
              </a:schemeClr>
            </a:solidFill>
          </a:ln>
        </p:spPr>
        <p:txBody>
          <a:bodyPr wrap="square" rtlCol="0">
            <a:spAutoFit/>
          </a:bodyPr>
          <a:lstStyle/>
          <a:p>
            <a:pPr algn="ctr"/>
            <a:r>
              <a:rPr lang="ko-KR" altLang="en-US"/>
              <a:t>판례</a:t>
            </a:r>
            <a:endParaRPr lang="ko-KR" altLang="en-US" dirty="0"/>
          </a:p>
        </p:txBody>
      </p:sp>
      <p:sp>
        <p:nvSpPr>
          <p:cNvPr id="30" name="TextBox 29">
            <a:extLst>
              <a:ext uri="{FF2B5EF4-FFF2-40B4-BE49-F238E27FC236}">
                <a16:creationId xmlns:a16="http://schemas.microsoft.com/office/drawing/2014/main" id="{19868293-0334-4BB8-9BC6-EF7250C3BB0C}"/>
              </a:ext>
            </a:extLst>
          </p:cNvPr>
          <p:cNvSpPr txBox="1"/>
          <p:nvPr/>
        </p:nvSpPr>
        <p:spPr>
          <a:xfrm>
            <a:off x="1777041" y="5701506"/>
            <a:ext cx="1290738" cy="369332"/>
          </a:xfrm>
          <a:prstGeom prst="rect">
            <a:avLst/>
          </a:prstGeom>
          <a:solidFill>
            <a:schemeClr val="bg2">
              <a:lumMod val="90000"/>
            </a:schemeClr>
          </a:solidFill>
          <a:ln>
            <a:solidFill>
              <a:schemeClr val="bg2">
                <a:lumMod val="50000"/>
              </a:schemeClr>
            </a:solidFill>
          </a:ln>
        </p:spPr>
        <p:txBody>
          <a:bodyPr wrap="square" rtlCol="0">
            <a:spAutoFit/>
          </a:bodyPr>
          <a:lstStyle/>
          <a:p>
            <a:pPr algn="ctr"/>
            <a:r>
              <a:rPr lang="ko-KR" altLang="en-US" dirty="0"/>
              <a:t>타법</a:t>
            </a:r>
          </a:p>
        </p:txBody>
      </p:sp>
      <p:sp>
        <p:nvSpPr>
          <p:cNvPr id="32" name="TextBox 31">
            <a:extLst>
              <a:ext uri="{FF2B5EF4-FFF2-40B4-BE49-F238E27FC236}">
                <a16:creationId xmlns:a16="http://schemas.microsoft.com/office/drawing/2014/main" id="{F9FE522F-77BE-43F0-AAC1-929A7FDD7DB0}"/>
              </a:ext>
            </a:extLst>
          </p:cNvPr>
          <p:cNvSpPr txBox="1"/>
          <p:nvPr/>
        </p:nvSpPr>
        <p:spPr>
          <a:xfrm>
            <a:off x="3433312" y="1234663"/>
            <a:ext cx="2455654" cy="307777"/>
          </a:xfrm>
          <a:prstGeom prst="rect">
            <a:avLst/>
          </a:prstGeom>
          <a:solidFill>
            <a:schemeClr val="accent4">
              <a:lumMod val="20000"/>
              <a:lumOff val="80000"/>
            </a:schemeClr>
          </a:solidFill>
          <a:ln>
            <a:solidFill>
              <a:schemeClr val="bg2">
                <a:lumMod val="50000"/>
              </a:schemeClr>
            </a:solidFill>
          </a:ln>
        </p:spPr>
        <p:txBody>
          <a:bodyPr wrap="square" rtlCol="0">
            <a:spAutoFit/>
          </a:bodyPr>
          <a:lstStyle/>
          <a:p>
            <a:pPr algn="ctr"/>
            <a:r>
              <a:rPr lang="ko-KR" altLang="en-US" sz="1400" dirty="0"/>
              <a:t>실시의무</a:t>
            </a:r>
            <a:r>
              <a:rPr lang="en-US" altLang="ko-KR" sz="1400" dirty="0"/>
              <a:t>(</a:t>
            </a:r>
            <a:r>
              <a:rPr lang="ko-KR" altLang="en-US" sz="1400" dirty="0"/>
              <a:t>제</a:t>
            </a:r>
            <a:r>
              <a:rPr lang="en-US" altLang="ko-KR" sz="1400" dirty="0"/>
              <a:t>107</a:t>
            </a:r>
            <a:r>
              <a:rPr lang="ko-KR" altLang="en-US" sz="1400" dirty="0"/>
              <a:t>조</a:t>
            </a:r>
            <a:r>
              <a:rPr lang="en-US" altLang="ko-KR" sz="1400" dirty="0"/>
              <a:t>)</a:t>
            </a:r>
          </a:p>
        </p:txBody>
      </p:sp>
      <p:sp>
        <p:nvSpPr>
          <p:cNvPr id="33" name="TextBox 32">
            <a:extLst>
              <a:ext uri="{FF2B5EF4-FFF2-40B4-BE49-F238E27FC236}">
                <a16:creationId xmlns:a16="http://schemas.microsoft.com/office/drawing/2014/main" id="{DF93A701-81E9-45AB-B5EF-A3570949381D}"/>
              </a:ext>
            </a:extLst>
          </p:cNvPr>
          <p:cNvSpPr txBox="1"/>
          <p:nvPr/>
        </p:nvSpPr>
        <p:spPr>
          <a:xfrm>
            <a:off x="3433312" y="1681675"/>
            <a:ext cx="2455654" cy="523220"/>
          </a:xfrm>
          <a:prstGeom prst="rect">
            <a:avLst/>
          </a:prstGeom>
          <a:solidFill>
            <a:schemeClr val="accent4">
              <a:lumMod val="20000"/>
              <a:lumOff val="80000"/>
            </a:schemeClr>
          </a:solidFill>
          <a:ln>
            <a:solidFill>
              <a:schemeClr val="bg2">
                <a:lumMod val="50000"/>
              </a:schemeClr>
            </a:solidFill>
          </a:ln>
        </p:spPr>
        <p:txBody>
          <a:bodyPr wrap="square" rtlCol="0">
            <a:spAutoFit/>
          </a:bodyPr>
          <a:lstStyle/>
          <a:p>
            <a:pPr algn="ctr"/>
            <a:r>
              <a:rPr lang="ko-KR" altLang="en-US" sz="1400" dirty="0"/>
              <a:t>실시협조의무</a:t>
            </a:r>
            <a:endParaRPr lang="en-US" altLang="ko-KR" sz="1400" dirty="0"/>
          </a:p>
          <a:p>
            <a:pPr algn="ctr"/>
            <a:r>
              <a:rPr lang="en-US" altLang="ko-KR" sz="1400" dirty="0"/>
              <a:t>(</a:t>
            </a:r>
            <a:r>
              <a:rPr lang="ko-KR" altLang="en-US" sz="1400" dirty="0"/>
              <a:t>제</a:t>
            </a:r>
            <a:r>
              <a:rPr lang="en-US" altLang="ko-KR" sz="1400" dirty="0"/>
              <a:t>107</a:t>
            </a:r>
            <a:r>
              <a:rPr lang="ko-KR" altLang="en-US" sz="1400" dirty="0"/>
              <a:t>조</a:t>
            </a:r>
            <a:r>
              <a:rPr lang="en-US" altLang="ko-KR" sz="1400" dirty="0"/>
              <a:t>, </a:t>
            </a:r>
            <a:r>
              <a:rPr lang="ko-KR" altLang="en-US" sz="1400" dirty="0"/>
              <a:t>제</a:t>
            </a:r>
            <a:r>
              <a:rPr lang="en-US" altLang="ko-KR" sz="1400" dirty="0"/>
              <a:t>138</a:t>
            </a:r>
            <a:r>
              <a:rPr lang="ko-KR" altLang="en-US" sz="1400" dirty="0"/>
              <a:t>조</a:t>
            </a:r>
            <a:r>
              <a:rPr lang="en-US" altLang="ko-KR" sz="1400" dirty="0"/>
              <a:t>)</a:t>
            </a:r>
            <a:endParaRPr lang="ko-KR" altLang="en-US" sz="1400" dirty="0"/>
          </a:p>
        </p:txBody>
      </p:sp>
      <p:cxnSp>
        <p:nvCxnSpPr>
          <p:cNvPr id="7" name="연결선: 꺾임 6">
            <a:extLst>
              <a:ext uri="{FF2B5EF4-FFF2-40B4-BE49-F238E27FC236}">
                <a16:creationId xmlns:a16="http://schemas.microsoft.com/office/drawing/2014/main" id="{A8665CD2-1774-4016-8C3F-C52BE8E03F12}"/>
              </a:ext>
            </a:extLst>
          </p:cNvPr>
          <p:cNvCxnSpPr>
            <a:stCxn id="21" idx="3"/>
            <a:endCxn id="5" idx="1"/>
          </p:cNvCxnSpPr>
          <p:nvPr/>
        </p:nvCxnSpPr>
        <p:spPr>
          <a:xfrm flipV="1">
            <a:off x="1241160" y="1989148"/>
            <a:ext cx="535881" cy="160869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연결선: 꺾임 8">
            <a:extLst>
              <a:ext uri="{FF2B5EF4-FFF2-40B4-BE49-F238E27FC236}">
                <a16:creationId xmlns:a16="http://schemas.microsoft.com/office/drawing/2014/main" id="{DD738C77-860D-4590-8942-D4469D436BD4}"/>
              </a:ext>
            </a:extLst>
          </p:cNvPr>
          <p:cNvCxnSpPr>
            <a:stCxn id="21" idx="3"/>
            <a:endCxn id="30" idx="1"/>
          </p:cNvCxnSpPr>
          <p:nvPr/>
        </p:nvCxnSpPr>
        <p:spPr>
          <a:xfrm>
            <a:off x="1241160" y="3597838"/>
            <a:ext cx="535881" cy="228833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연결선: 꺾임 12">
            <a:extLst>
              <a:ext uri="{FF2B5EF4-FFF2-40B4-BE49-F238E27FC236}">
                <a16:creationId xmlns:a16="http://schemas.microsoft.com/office/drawing/2014/main" id="{8F8CE7FB-E046-46E6-B7C2-34A5F9394BA6}"/>
              </a:ext>
            </a:extLst>
          </p:cNvPr>
          <p:cNvCxnSpPr>
            <a:cxnSpLocks/>
            <a:stCxn id="21" idx="3"/>
            <a:endCxn id="29" idx="1"/>
          </p:cNvCxnSpPr>
          <p:nvPr/>
        </p:nvCxnSpPr>
        <p:spPr>
          <a:xfrm flipV="1">
            <a:off x="1241160" y="3590466"/>
            <a:ext cx="535881" cy="737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E082FDAE-81D8-4EA4-8B72-EFE04C463B6D}"/>
              </a:ext>
            </a:extLst>
          </p:cNvPr>
          <p:cNvSpPr txBox="1"/>
          <p:nvPr/>
        </p:nvSpPr>
        <p:spPr>
          <a:xfrm>
            <a:off x="6096000" y="1234663"/>
            <a:ext cx="5791200" cy="307777"/>
          </a:xfrm>
          <a:prstGeom prst="rect">
            <a:avLst/>
          </a:prstGeom>
          <a:noFill/>
          <a:ln>
            <a:solidFill>
              <a:schemeClr val="bg1">
                <a:lumMod val="65000"/>
              </a:schemeClr>
            </a:solidFill>
          </a:ln>
        </p:spPr>
        <p:txBody>
          <a:bodyPr wrap="square" rtlCol="0">
            <a:spAutoFit/>
          </a:bodyPr>
          <a:lstStyle/>
          <a:p>
            <a:r>
              <a:rPr lang="ko-KR" altLang="en-US" sz="1400" dirty="0"/>
              <a:t>강제실시권 허락 인정 </a:t>
            </a:r>
            <a:r>
              <a:rPr lang="en-US" altLang="ko-KR" sz="1400" dirty="0"/>
              <a:t>+ </a:t>
            </a:r>
            <a:r>
              <a:rPr lang="ko-KR" altLang="en-US" sz="1400" dirty="0"/>
              <a:t>특허권 취소 불인정</a:t>
            </a:r>
            <a:r>
              <a:rPr lang="en-US" altLang="ko-KR" sz="1400" dirty="0"/>
              <a:t>(</a:t>
            </a:r>
            <a:r>
              <a:rPr lang="ko-KR" altLang="en-US" sz="1400" dirty="0"/>
              <a:t>제</a:t>
            </a:r>
            <a:r>
              <a:rPr lang="en-US" altLang="ko-KR" sz="1400" dirty="0"/>
              <a:t>116</a:t>
            </a:r>
            <a:r>
              <a:rPr lang="ko-KR" altLang="en-US" sz="1400" dirty="0"/>
              <a:t>조 삭제</a:t>
            </a:r>
            <a:r>
              <a:rPr lang="en-US" altLang="ko-KR" sz="1400" dirty="0"/>
              <a:t>)</a:t>
            </a:r>
          </a:p>
        </p:txBody>
      </p:sp>
      <p:sp>
        <p:nvSpPr>
          <p:cNvPr id="40" name="TextBox 39">
            <a:extLst>
              <a:ext uri="{FF2B5EF4-FFF2-40B4-BE49-F238E27FC236}">
                <a16:creationId xmlns:a16="http://schemas.microsoft.com/office/drawing/2014/main" id="{BACC3818-E066-4B6A-9B1C-62D8F5D43D3C}"/>
              </a:ext>
            </a:extLst>
          </p:cNvPr>
          <p:cNvSpPr txBox="1"/>
          <p:nvPr/>
        </p:nvSpPr>
        <p:spPr>
          <a:xfrm>
            <a:off x="3433312" y="2562475"/>
            <a:ext cx="2455654" cy="523220"/>
          </a:xfrm>
          <a:prstGeom prst="rect">
            <a:avLst/>
          </a:prstGeom>
          <a:solidFill>
            <a:schemeClr val="accent2">
              <a:lumMod val="20000"/>
              <a:lumOff val="80000"/>
            </a:schemeClr>
          </a:solidFill>
          <a:ln>
            <a:solidFill>
              <a:schemeClr val="bg2">
                <a:lumMod val="50000"/>
              </a:schemeClr>
            </a:solidFill>
          </a:ln>
        </p:spPr>
        <p:txBody>
          <a:bodyPr wrap="square" rtlCol="0">
            <a:spAutoFit/>
          </a:bodyPr>
          <a:lstStyle/>
          <a:p>
            <a:pPr algn="ctr"/>
            <a:r>
              <a:rPr lang="ko-KR" altLang="en-US" sz="1400" dirty="0"/>
              <a:t>하자 있는 특허권에 의한 </a:t>
            </a:r>
            <a:endParaRPr lang="en-US" altLang="ko-KR" sz="1400" dirty="0"/>
          </a:p>
          <a:p>
            <a:pPr algn="ctr"/>
            <a:r>
              <a:rPr lang="ko-KR" altLang="en-US" sz="1400" dirty="0"/>
              <a:t>권리행사</a:t>
            </a:r>
            <a:endParaRPr lang="en-US" altLang="ko-KR" sz="1400" dirty="0"/>
          </a:p>
        </p:txBody>
      </p:sp>
      <p:sp>
        <p:nvSpPr>
          <p:cNvPr id="41" name="TextBox 40">
            <a:extLst>
              <a:ext uri="{FF2B5EF4-FFF2-40B4-BE49-F238E27FC236}">
                <a16:creationId xmlns:a16="http://schemas.microsoft.com/office/drawing/2014/main" id="{5F48A04F-23E6-4040-ABD7-16C960413756}"/>
              </a:ext>
            </a:extLst>
          </p:cNvPr>
          <p:cNvSpPr txBox="1"/>
          <p:nvPr/>
        </p:nvSpPr>
        <p:spPr>
          <a:xfrm>
            <a:off x="3433312" y="3225149"/>
            <a:ext cx="2455654" cy="830997"/>
          </a:xfrm>
          <a:prstGeom prst="rect">
            <a:avLst/>
          </a:prstGeom>
          <a:solidFill>
            <a:schemeClr val="accent2">
              <a:lumMod val="20000"/>
              <a:lumOff val="80000"/>
            </a:schemeClr>
          </a:solidFill>
          <a:ln>
            <a:solidFill>
              <a:schemeClr val="bg2">
                <a:lumMod val="50000"/>
              </a:schemeClr>
            </a:solidFill>
          </a:ln>
        </p:spPr>
        <p:txBody>
          <a:bodyPr wrap="square" rtlCol="0" anchor="ctr">
            <a:noAutofit/>
          </a:bodyPr>
          <a:lstStyle/>
          <a:p>
            <a:pPr algn="ctr"/>
            <a:r>
              <a:rPr lang="ko-KR" altLang="en-US" sz="1400" dirty="0"/>
              <a:t>장기간 행사하지 않았던 특허권에 의한 권리행사</a:t>
            </a:r>
          </a:p>
        </p:txBody>
      </p:sp>
      <p:sp>
        <p:nvSpPr>
          <p:cNvPr id="56" name="TextBox 55">
            <a:extLst>
              <a:ext uri="{FF2B5EF4-FFF2-40B4-BE49-F238E27FC236}">
                <a16:creationId xmlns:a16="http://schemas.microsoft.com/office/drawing/2014/main" id="{36D71BEB-1AAB-48EF-B4B4-A70638D87150}"/>
              </a:ext>
            </a:extLst>
          </p:cNvPr>
          <p:cNvSpPr txBox="1"/>
          <p:nvPr/>
        </p:nvSpPr>
        <p:spPr>
          <a:xfrm>
            <a:off x="3433312" y="4176552"/>
            <a:ext cx="2455654" cy="769595"/>
          </a:xfrm>
          <a:prstGeom prst="rect">
            <a:avLst/>
          </a:prstGeom>
          <a:solidFill>
            <a:schemeClr val="accent2">
              <a:lumMod val="20000"/>
              <a:lumOff val="80000"/>
            </a:schemeClr>
          </a:solidFill>
          <a:ln>
            <a:solidFill>
              <a:schemeClr val="bg2">
                <a:lumMod val="50000"/>
              </a:schemeClr>
            </a:solidFill>
          </a:ln>
        </p:spPr>
        <p:txBody>
          <a:bodyPr wrap="square" rtlCol="0" anchor="ctr">
            <a:noAutofit/>
          </a:bodyPr>
          <a:lstStyle/>
          <a:p>
            <a:pPr algn="ctr"/>
            <a:r>
              <a:rPr lang="ko-KR" altLang="en-US" sz="1400" dirty="0"/>
              <a:t>표준특허의 특허권자가 </a:t>
            </a:r>
            <a:r>
              <a:rPr lang="en-US" altLang="ko-KR" sz="1400" dirty="0"/>
              <a:t>FRAND </a:t>
            </a:r>
            <a:r>
              <a:rPr lang="ko-KR" altLang="en-US" sz="1400" dirty="0"/>
              <a:t>선언을 위반한 </a:t>
            </a:r>
            <a:endParaRPr lang="en-US" altLang="ko-KR" sz="1400" dirty="0"/>
          </a:p>
          <a:p>
            <a:pPr algn="ctr"/>
            <a:r>
              <a:rPr lang="ko-KR" altLang="en-US" sz="1400" dirty="0"/>
              <a:t>권리행사</a:t>
            </a:r>
          </a:p>
        </p:txBody>
      </p:sp>
      <p:sp>
        <p:nvSpPr>
          <p:cNvPr id="59" name="TextBox 58">
            <a:extLst>
              <a:ext uri="{FF2B5EF4-FFF2-40B4-BE49-F238E27FC236}">
                <a16:creationId xmlns:a16="http://schemas.microsoft.com/office/drawing/2014/main" id="{4FB89DDC-975D-439C-B7E3-EB24CE17D9A4}"/>
              </a:ext>
            </a:extLst>
          </p:cNvPr>
          <p:cNvSpPr txBox="1"/>
          <p:nvPr/>
        </p:nvSpPr>
        <p:spPr>
          <a:xfrm>
            <a:off x="6096000" y="1698925"/>
            <a:ext cx="5791200" cy="307777"/>
          </a:xfrm>
          <a:prstGeom prst="rect">
            <a:avLst/>
          </a:prstGeom>
          <a:noFill/>
          <a:ln>
            <a:solidFill>
              <a:schemeClr val="bg1">
                <a:lumMod val="65000"/>
              </a:schemeClr>
            </a:solidFill>
          </a:ln>
        </p:spPr>
        <p:txBody>
          <a:bodyPr wrap="square" rtlCol="0">
            <a:spAutoFit/>
          </a:bodyPr>
          <a:lstStyle/>
          <a:p>
            <a:r>
              <a:rPr lang="ko-KR" altLang="en-US" sz="1400" dirty="0"/>
              <a:t>강제실시권 허락 인정</a:t>
            </a:r>
            <a:endParaRPr lang="en-US" altLang="ko-KR" sz="1400" dirty="0"/>
          </a:p>
        </p:txBody>
      </p:sp>
      <p:sp>
        <p:nvSpPr>
          <p:cNvPr id="60" name="TextBox 59">
            <a:extLst>
              <a:ext uri="{FF2B5EF4-FFF2-40B4-BE49-F238E27FC236}">
                <a16:creationId xmlns:a16="http://schemas.microsoft.com/office/drawing/2014/main" id="{5A37BF12-EC7F-4715-98F7-38A118E940A2}"/>
              </a:ext>
            </a:extLst>
          </p:cNvPr>
          <p:cNvSpPr txBox="1"/>
          <p:nvPr/>
        </p:nvSpPr>
        <p:spPr>
          <a:xfrm>
            <a:off x="6096000" y="2571101"/>
            <a:ext cx="5791200" cy="307777"/>
          </a:xfrm>
          <a:prstGeom prst="rect">
            <a:avLst/>
          </a:prstGeom>
          <a:noFill/>
          <a:ln>
            <a:solidFill>
              <a:schemeClr val="bg1">
                <a:lumMod val="65000"/>
              </a:schemeClr>
            </a:solidFill>
          </a:ln>
        </p:spPr>
        <p:txBody>
          <a:bodyPr wrap="square" rtlCol="0">
            <a:spAutoFit/>
          </a:bodyPr>
          <a:lstStyle/>
          <a:p>
            <a:r>
              <a:rPr lang="en-US" altLang="ko-KR" sz="1400" dirty="0"/>
              <a:t>1) </a:t>
            </a:r>
            <a:r>
              <a:rPr lang="ko-KR" altLang="en-US" sz="1400" dirty="0"/>
              <a:t>진보성 위반 </a:t>
            </a:r>
            <a:r>
              <a:rPr lang="en-US" altLang="ko-KR" sz="1400" dirty="0"/>
              <a:t>+ 2) </a:t>
            </a:r>
            <a:r>
              <a:rPr lang="ko-KR" altLang="en-US" sz="1400" dirty="0"/>
              <a:t>명백 </a:t>
            </a:r>
            <a:r>
              <a:rPr lang="en-US" altLang="ko-KR" sz="1400" dirty="0"/>
              <a:t>+ 3) </a:t>
            </a:r>
            <a:r>
              <a:rPr lang="ko-KR" altLang="en-US" sz="1400" dirty="0"/>
              <a:t>특별한 사정이 없을 것</a:t>
            </a:r>
            <a:endParaRPr lang="en-US" altLang="ko-KR" sz="1400" dirty="0"/>
          </a:p>
        </p:txBody>
      </p:sp>
      <p:sp>
        <p:nvSpPr>
          <p:cNvPr id="61" name="TextBox 60">
            <a:extLst>
              <a:ext uri="{FF2B5EF4-FFF2-40B4-BE49-F238E27FC236}">
                <a16:creationId xmlns:a16="http://schemas.microsoft.com/office/drawing/2014/main" id="{563327E6-A580-4480-A053-0B48A81D7B4A}"/>
              </a:ext>
            </a:extLst>
          </p:cNvPr>
          <p:cNvSpPr txBox="1"/>
          <p:nvPr/>
        </p:nvSpPr>
        <p:spPr>
          <a:xfrm>
            <a:off x="6096000" y="3222083"/>
            <a:ext cx="5791200" cy="1169551"/>
          </a:xfrm>
          <a:prstGeom prst="rect">
            <a:avLst/>
          </a:prstGeom>
          <a:noFill/>
          <a:ln>
            <a:solidFill>
              <a:schemeClr val="bg1">
                <a:lumMod val="65000"/>
              </a:schemeClr>
            </a:solidFill>
          </a:ln>
        </p:spPr>
        <p:txBody>
          <a:bodyPr wrap="square" rtlCol="0">
            <a:spAutoFit/>
          </a:bodyPr>
          <a:lstStyle/>
          <a:p>
            <a:r>
              <a:rPr lang="en-US" altLang="ko-KR" sz="1400" dirty="0"/>
              <a:t>1) </a:t>
            </a:r>
            <a:r>
              <a:rPr lang="ko-KR" altLang="en-US" sz="1400" dirty="0"/>
              <a:t>권리자가 실제로 권리를 행사할 수 있는 기회가 있었음에도 불구하고 상당한 기간이 경과하도록 권리를 행사하지 아니할 것</a:t>
            </a:r>
            <a:r>
              <a:rPr lang="en-US" altLang="ko-KR" sz="1400" dirty="0"/>
              <a:t> + 2)</a:t>
            </a:r>
            <a:r>
              <a:rPr lang="ko-KR" altLang="en-US" sz="1400" dirty="0"/>
              <a:t> 상대방이 권리자가 권리를 행사하지 아니할 것으로 신뢰할 만한 정당한 기대를 가지게 될 것 </a:t>
            </a:r>
            <a:r>
              <a:rPr lang="en-US" altLang="ko-KR" sz="1400" dirty="0"/>
              <a:t>+ 3) </a:t>
            </a:r>
            <a:r>
              <a:rPr lang="ko-KR" altLang="en-US" sz="1400" dirty="0"/>
              <a:t>새삼스럽게 그 권리를 행사하는 것이 법질서 전체를 지배하는 신의성실의 원칙에 위반될 것</a:t>
            </a:r>
            <a:endParaRPr lang="en-US" altLang="ko-KR" sz="1400" dirty="0"/>
          </a:p>
        </p:txBody>
      </p:sp>
      <p:sp>
        <p:nvSpPr>
          <p:cNvPr id="17" name="직사각형 16">
            <a:extLst>
              <a:ext uri="{FF2B5EF4-FFF2-40B4-BE49-F238E27FC236}">
                <a16:creationId xmlns:a16="http://schemas.microsoft.com/office/drawing/2014/main" id="{DF09A59E-60CB-4D83-896B-51B4922327BD}"/>
              </a:ext>
            </a:extLst>
          </p:cNvPr>
          <p:cNvSpPr/>
          <p:nvPr/>
        </p:nvSpPr>
        <p:spPr>
          <a:xfrm>
            <a:off x="6096000" y="4456542"/>
            <a:ext cx="5791200" cy="954107"/>
          </a:xfrm>
          <a:prstGeom prst="rect">
            <a:avLst/>
          </a:prstGeom>
          <a:ln>
            <a:solidFill>
              <a:schemeClr val="bg1">
                <a:lumMod val="65000"/>
              </a:schemeClr>
            </a:solidFill>
          </a:ln>
        </p:spPr>
        <p:txBody>
          <a:bodyPr wrap="square">
            <a:spAutoFit/>
          </a:bodyPr>
          <a:lstStyle/>
          <a:p>
            <a:r>
              <a:rPr lang="en-US" altLang="ko-KR" sz="1400" dirty="0"/>
              <a:t>1) </a:t>
            </a:r>
            <a:r>
              <a:rPr lang="ko-KR" altLang="en-US" sz="1400" dirty="0"/>
              <a:t>상대방에 대한 특허권의 행사가 특허제도의 목적이나 기능을 일탈하여 공정한 경쟁질서와 거래 질서를 어지럽히고 </a:t>
            </a:r>
            <a:r>
              <a:rPr lang="en-US" altLang="ko-KR" sz="1400" dirty="0"/>
              <a:t>2) </a:t>
            </a:r>
            <a:r>
              <a:rPr lang="ko-KR" altLang="en-US" sz="1400" dirty="0"/>
              <a:t>수요자 또는 상대방에 대한 관계에서 신의성실의 원칙에 위배되는 등 </a:t>
            </a:r>
            <a:r>
              <a:rPr lang="en-US" altLang="ko-KR" sz="1400" dirty="0"/>
              <a:t>3) </a:t>
            </a:r>
            <a:r>
              <a:rPr lang="ko-KR" altLang="en-US" sz="1400" dirty="0"/>
              <a:t>법적으로 보호받을 만한 가치가 없다고 인정될 것</a:t>
            </a:r>
          </a:p>
        </p:txBody>
      </p:sp>
      <p:sp>
        <p:nvSpPr>
          <p:cNvPr id="62" name="TextBox 61">
            <a:extLst>
              <a:ext uri="{FF2B5EF4-FFF2-40B4-BE49-F238E27FC236}">
                <a16:creationId xmlns:a16="http://schemas.microsoft.com/office/drawing/2014/main" id="{70BB3388-B47D-49B3-851D-A7180D33E27C}"/>
              </a:ext>
            </a:extLst>
          </p:cNvPr>
          <p:cNvSpPr txBox="1"/>
          <p:nvPr/>
        </p:nvSpPr>
        <p:spPr>
          <a:xfrm>
            <a:off x="3433312" y="5747672"/>
            <a:ext cx="2455654" cy="307777"/>
          </a:xfrm>
          <a:prstGeom prst="rect">
            <a:avLst/>
          </a:prstGeom>
          <a:solidFill>
            <a:schemeClr val="accent1">
              <a:lumMod val="20000"/>
              <a:lumOff val="80000"/>
            </a:schemeClr>
          </a:solidFill>
          <a:ln>
            <a:solidFill>
              <a:schemeClr val="bg2">
                <a:lumMod val="50000"/>
              </a:schemeClr>
            </a:solidFill>
          </a:ln>
        </p:spPr>
        <p:txBody>
          <a:bodyPr wrap="square" rtlCol="0">
            <a:spAutoFit/>
          </a:bodyPr>
          <a:lstStyle/>
          <a:p>
            <a:pPr algn="ctr"/>
            <a:r>
              <a:rPr lang="ko-KR" altLang="en-US" sz="1400" dirty="0"/>
              <a:t>공정거래법 제</a:t>
            </a:r>
            <a:r>
              <a:rPr lang="en-US" altLang="ko-KR" sz="1400" dirty="0"/>
              <a:t>59</a:t>
            </a:r>
            <a:r>
              <a:rPr lang="ko-KR" altLang="en-US" sz="1400" dirty="0"/>
              <a:t>조</a:t>
            </a:r>
          </a:p>
        </p:txBody>
      </p:sp>
      <p:sp>
        <p:nvSpPr>
          <p:cNvPr id="20" name="직사각형 19">
            <a:extLst>
              <a:ext uri="{FF2B5EF4-FFF2-40B4-BE49-F238E27FC236}">
                <a16:creationId xmlns:a16="http://schemas.microsoft.com/office/drawing/2014/main" id="{4646DA44-5A12-4DBA-B3A5-6A12983B16C3}"/>
              </a:ext>
            </a:extLst>
          </p:cNvPr>
          <p:cNvSpPr/>
          <p:nvPr/>
        </p:nvSpPr>
        <p:spPr>
          <a:xfrm>
            <a:off x="6076223" y="5752651"/>
            <a:ext cx="5810977" cy="523220"/>
          </a:xfrm>
          <a:prstGeom prst="rect">
            <a:avLst/>
          </a:prstGeom>
          <a:ln>
            <a:solidFill>
              <a:schemeClr val="bg1">
                <a:lumMod val="65000"/>
              </a:schemeClr>
            </a:solidFill>
          </a:ln>
        </p:spPr>
        <p:txBody>
          <a:bodyPr wrap="square">
            <a:spAutoFit/>
          </a:bodyPr>
          <a:lstStyle/>
          <a:p>
            <a:r>
              <a:rPr lang="ko-KR" altLang="en-US" sz="1400" dirty="0"/>
              <a:t>이 법의 규정은 저작권법</a:t>
            </a:r>
            <a:r>
              <a:rPr lang="en-US" altLang="ko-KR" sz="1400" dirty="0"/>
              <a:t>, </a:t>
            </a:r>
            <a:r>
              <a:rPr lang="ko-KR" altLang="en-US" sz="1400" dirty="0"/>
              <a:t>특허법</a:t>
            </a:r>
            <a:r>
              <a:rPr lang="en-US" altLang="ko-KR" sz="1400" dirty="0"/>
              <a:t>, </a:t>
            </a:r>
            <a:r>
              <a:rPr lang="ko-KR" altLang="en-US" sz="1400" dirty="0"/>
              <a:t>실용신안법</a:t>
            </a:r>
            <a:r>
              <a:rPr lang="en-US" altLang="ko-KR" sz="1400" dirty="0"/>
              <a:t>, </a:t>
            </a:r>
            <a:r>
              <a:rPr lang="ko-KR" altLang="en-US" sz="1400" dirty="0"/>
              <a:t>디자인보호법 또는 상표법에 의한 권리의 정당한 행사라고 인정되는 행위에 대하여는 적용하지 아니한다</a:t>
            </a:r>
            <a:r>
              <a:rPr lang="en-US" altLang="ko-KR" sz="1400" dirty="0"/>
              <a:t>.</a:t>
            </a:r>
            <a:endParaRPr lang="ko-KR" altLang="en-US" sz="1400" dirty="0"/>
          </a:p>
        </p:txBody>
      </p:sp>
      <p:cxnSp>
        <p:nvCxnSpPr>
          <p:cNvPr id="23" name="연결선: 꺾임 22">
            <a:extLst>
              <a:ext uri="{FF2B5EF4-FFF2-40B4-BE49-F238E27FC236}">
                <a16:creationId xmlns:a16="http://schemas.microsoft.com/office/drawing/2014/main" id="{406E56D3-CCA3-4646-A490-E32B739BAAB8}"/>
              </a:ext>
            </a:extLst>
          </p:cNvPr>
          <p:cNvCxnSpPr>
            <a:stCxn id="5" idx="3"/>
            <a:endCxn id="32" idx="1"/>
          </p:cNvCxnSpPr>
          <p:nvPr/>
        </p:nvCxnSpPr>
        <p:spPr>
          <a:xfrm flipV="1">
            <a:off x="3067779" y="1388552"/>
            <a:ext cx="365533" cy="60059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연결선: 꺾임 24">
            <a:extLst>
              <a:ext uri="{FF2B5EF4-FFF2-40B4-BE49-F238E27FC236}">
                <a16:creationId xmlns:a16="http://schemas.microsoft.com/office/drawing/2014/main" id="{43CAFE56-D257-4D01-8293-A563378F648D}"/>
              </a:ext>
            </a:extLst>
          </p:cNvPr>
          <p:cNvCxnSpPr>
            <a:stCxn id="5" idx="3"/>
            <a:endCxn id="33" idx="1"/>
          </p:cNvCxnSpPr>
          <p:nvPr/>
        </p:nvCxnSpPr>
        <p:spPr>
          <a:xfrm flipV="1">
            <a:off x="3067779" y="1943285"/>
            <a:ext cx="365533" cy="4586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연결선: 꺾임 26">
            <a:extLst>
              <a:ext uri="{FF2B5EF4-FFF2-40B4-BE49-F238E27FC236}">
                <a16:creationId xmlns:a16="http://schemas.microsoft.com/office/drawing/2014/main" id="{2BE40099-70BB-4EC4-9860-36BF816B5D1B}"/>
              </a:ext>
            </a:extLst>
          </p:cNvPr>
          <p:cNvCxnSpPr>
            <a:stCxn id="29" idx="3"/>
            <a:endCxn id="40" idx="1"/>
          </p:cNvCxnSpPr>
          <p:nvPr/>
        </p:nvCxnSpPr>
        <p:spPr>
          <a:xfrm flipV="1">
            <a:off x="3067779" y="2824085"/>
            <a:ext cx="365533" cy="76638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연결선: 꺾임 34">
            <a:extLst>
              <a:ext uri="{FF2B5EF4-FFF2-40B4-BE49-F238E27FC236}">
                <a16:creationId xmlns:a16="http://schemas.microsoft.com/office/drawing/2014/main" id="{A37D53D4-865E-4A4C-BD6A-D97FB0D1A9E1}"/>
              </a:ext>
            </a:extLst>
          </p:cNvPr>
          <p:cNvCxnSpPr>
            <a:stCxn id="29" idx="3"/>
            <a:endCxn id="41" idx="1"/>
          </p:cNvCxnSpPr>
          <p:nvPr/>
        </p:nvCxnSpPr>
        <p:spPr>
          <a:xfrm>
            <a:off x="3067779" y="3590466"/>
            <a:ext cx="365533" cy="5018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연결선: 꺾임 36">
            <a:extLst>
              <a:ext uri="{FF2B5EF4-FFF2-40B4-BE49-F238E27FC236}">
                <a16:creationId xmlns:a16="http://schemas.microsoft.com/office/drawing/2014/main" id="{8CA55121-ED26-4747-A303-5594A38654F0}"/>
              </a:ext>
            </a:extLst>
          </p:cNvPr>
          <p:cNvCxnSpPr>
            <a:cxnSpLocks/>
            <a:stCxn id="29" idx="3"/>
            <a:endCxn id="56" idx="1"/>
          </p:cNvCxnSpPr>
          <p:nvPr/>
        </p:nvCxnSpPr>
        <p:spPr>
          <a:xfrm>
            <a:off x="3067779" y="3590466"/>
            <a:ext cx="365533" cy="97088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68C2F54C-4B28-4EBA-8CBB-D8C0123E2DF5}"/>
              </a:ext>
            </a:extLst>
          </p:cNvPr>
          <p:cNvCxnSpPr>
            <a:stCxn id="30" idx="3"/>
            <a:endCxn id="62" idx="1"/>
          </p:cNvCxnSpPr>
          <p:nvPr/>
        </p:nvCxnSpPr>
        <p:spPr>
          <a:xfrm>
            <a:off x="3067779" y="5886172"/>
            <a:ext cx="365533" cy="1538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 name="직선 연결선 5">
            <a:extLst>
              <a:ext uri="{FF2B5EF4-FFF2-40B4-BE49-F238E27FC236}">
                <a16:creationId xmlns:a16="http://schemas.microsoft.com/office/drawing/2014/main" id="{070E5136-76B4-4B35-9B58-CC349AAD5DD8}"/>
              </a:ext>
            </a:extLst>
          </p:cNvPr>
          <p:cNvCxnSpPr>
            <a:stCxn id="32" idx="3"/>
            <a:endCxn id="39" idx="1"/>
          </p:cNvCxnSpPr>
          <p:nvPr/>
        </p:nvCxnSpPr>
        <p:spPr>
          <a:xfrm>
            <a:off x="5888966" y="1388552"/>
            <a:ext cx="207034"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연결선: 꺾임 11">
            <a:extLst>
              <a:ext uri="{FF2B5EF4-FFF2-40B4-BE49-F238E27FC236}">
                <a16:creationId xmlns:a16="http://schemas.microsoft.com/office/drawing/2014/main" id="{14FE3A1B-109E-4F9C-BB12-B403E95CDA8F}"/>
              </a:ext>
            </a:extLst>
          </p:cNvPr>
          <p:cNvCxnSpPr>
            <a:stCxn id="33" idx="3"/>
            <a:endCxn id="59" idx="1"/>
          </p:cNvCxnSpPr>
          <p:nvPr/>
        </p:nvCxnSpPr>
        <p:spPr>
          <a:xfrm flipV="1">
            <a:off x="5888966" y="1852814"/>
            <a:ext cx="207034" cy="9047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연결선: 꺾임 14">
            <a:extLst>
              <a:ext uri="{FF2B5EF4-FFF2-40B4-BE49-F238E27FC236}">
                <a16:creationId xmlns:a16="http://schemas.microsoft.com/office/drawing/2014/main" id="{9286A4FA-56BD-45DA-A529-C3EC7061C13F}"/>
              </a:ext>
            </a:extLst>
          </p:cNvPr>
          <p:cNvCxnSpPr>
            <a:stCxn id="40" idx="3"/>
            <a:endCxn id="60" idx="1"/>
          </p:cNvCxnSpPr>
          <p:nvPr/>
        </p:nvCxnSpPr>
        <p:spPr>
          <a:xfrm flipV="1">
            <a:off x="5888966" y="2724990"/>
            <a:ext cx="207034" cy="9909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연결선: 꺾임 17">
            <a:extLst>
              <a:ext uri="{FF2B5EF4-FFF2-40B4-BE49-F238E27FC236}">
                <a16:creationId xmlns:a16="http://schemas.microsoft.com/office/drawing/2014/main" id="{0AA2C297-B13C-4171-817E-8FD7FDE09608}"/>
              </a:ext>
            </a:extLst>
          </p:cNvPr>
          <p:cNvCxnSpPr>
            <a:stCxn id="41" idx="3"/>
            <a:endCxn id="61" idx="1"/>
          </p:cNvCxnSpPr>
          <p:nvPr/>
        </p:nvCxnSpPr>
        <p:spPr>
          <a:xfrm>
            <a:off x="5888966" y="3640648"/>
            <a:ext cx="207034" cy="16621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연결선: 꺾임 21">
            <a:extLst>
              <a:ext uri="{FF2B5EF4-FFF2-40B4-BE49-F238E27FC236}">
                <a16:creationId xmlns:a16="http://schemas.microsoft.com/office/drawing/2014/main" id="{F61F1966-6915-4B9E-94BE-A82E504A2FED}"/>
              </a:ext>
            </a:extLst>
          </p:cNvPr>
          <p:cNvCxnSpPr>
            <a:stCxn id="56" idx="3"/>
            <a:endCxn id="17" idx="1"/>
          </p:cNvCxnSpPr>
          <p:nvPr/>
        </p:nvCxnSpPr>
        <p:spPr>
          <a:xfrm>
            <a:off x="5888966" y="4561350"/>
            <a:ext cx="207034" cy="37224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연결선: 꺾임 25">
            <a:extLst>
              <a:ext uri="{FF2B5EF4-FFF2-40B4-BE49-F238E27FC236}">
                <a16:creationId xmlns:a16="http://schemas.microsoft.com/office/drawing/2014/main" id="{E31CD6BC-BDAA-493E-BE3F-AD012A9F594B}"/>
              </a:ext>
            </a:extLst>
          </p:cNvPr>
          <p:cNvCxnSpPr>
            <a:stCxn id="62" idx="3"/>
            <a:endCxn id="20" idx="1"/>
          </p:cNvCxnSpPr>
          <p:nvPr/>
        </p:nvCxnSpPr>
        <p:spPr>
          <a:xfrm>
            <a:off x="5888966" y="5901561"/>
            <a:ext cx="187257" cy="1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말풍선: 모서리가 둥근 사각형 2">
            <a:extLst>
              <a:ext uri="{FF2B5EF4-FFF2-40B4-BE49-F238E27FC236}">
                <a16:creationId xmlns:a16="http://schemas.microsoft.com/office/drawing/2014/main" id="{565A6740-BC80-D896-6738-F0C761ADCB65}"/>
              </a:ext>
            </a:extLst>
          </p:cNvPr>
          <p:cNvSpPr/>
          <p:nvPr/>
        </p:nvSpPr>
        <p:spPr>
          <a:xfrm>
            <a:off x="780136" y="5062900"/>
            <a:ext cx="5221361" cy="599950"/>
          </a:xfrm>
          <a:prstGeom prst="wedgeRoundRectCallout">
            <a:avLst>
              <a:gd name="adj1" fmla="val -1686"/>
              <a:gd name="adj2" fmla="val -96397"/>
              <a:gd name="adj3" fmla="val 16667"/>
            </a:avLst>
          </a:prstGeom>
          <a:solidFill>
            <a:schemeClr val="accent4">
              <a:lumMod val="20000"/>
              <a:lumOff val="80000"/>
            </a:schemeClr>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fontAlgn="base"/>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자에게 실시권을 허락하는 것이 아니라 ‘</a:t>
            </a:r>
            <a:r>
              <a:rPr lang="en-US" altLang="ko-KR" sz="1200" dirty="0">
                <a:solidFill>
                  <a:schemeClr val="tx1"/>
                </a:solidFill>
              </a:rPr>
              <a:t>FRAND </a:t>
            </a:r>
            <a:r>
              <a:rPr lang="ko-KR" altLang="en-US" sz="1200" dirty="0">
                <a:solidFill>
                  <a:schemeClr val="tx1"/>
                </a:solidFill>
              </a:rPr>
              <a:t>조건에 의한 </a:t>
            </a:r>
            <a:r>
              <a:rPr lang="ko-KR" altLang="en-US" sz="1200" dirty="0" err="1">
                <a:solidFill>
                  <a:schemeClr val="tx1"/>
                </a:solidFill>
              </a:rPr>
              <a:t>실시권</a:t>
            </a:r>
            <a:r>
              <a:rPr lang="ko-KR" altLang="en-US" sz="1200" dirty="0">
                <a:solidFill>
                  <a:schemeClr val="tx1"/>
                </a:solidFill>
              </a:rPr>
              <a:t> </a:t>
            </a:r>
            <a:r>
              <a:rPr lang="ko-KR" altLang="en-US" sz="1200" dirty="0" err="1">
                <a:solidFill>
                  <a:schemeClr val="tx1"/>
                </a:solidFill>
              </a:rPr>
              <a:t>허락’이라는</a:t>
            </a:r>
            <a:r>
              <a:rPr lang="ko-KR" altLang="en-US" sz="1200" dirty="0">
                <a:solidFill>
                  <a:schemeClr val="tx1"/>
                </a:solidFill>
              </a:rPr>
              <a:t> 제한을 수용하는 의사표시를 한 것에 불과 </a:t>
            </a:r>
            <a:r>
              <a:rPr lang="en-US" altLang="ko-KR" sz="1200" dirty="0">
                <a:solidFill>
                  <a:schemeClr val="tx1"/>
                </a:solidFill>
              </a:rPr>
              <a:t>/ </a:t>
            </a:r>
            <a:r>
              <a:rPr lang="ko-KR" altLang="en-US" sz="1200" dirty="0" err="1">
                <a:solidFill>
                  <a:schemeClr val="tx1"/>
                </a:solidFill>
              </a:rPr>
              <a:t>실시권</a:t>
            </a:r>
            <a:r>
              <a:rPr lang="ko-KR" altLang="en-US" sz="1200" dirty="0">
                <a:solidFill>
                  <a:schemeClr val="tx1"/>
                </a:solidFill>
              </a:rPr>
              <a:t> 허락 요청 없이 무단으로 실시하는 자에 대하여 침해금지를 구한다고 하여 권리남용에 해당하지 않음</a:t>
            </a:r>
          </a:p>
        </p:txBody>
      </p:sp>
    </p:spTree>
    <p:extLst>
      <p:ext uri="{BB962C8B-B14F-4D97-AF65-F5344CB8AC3E}">
        <p14:creationId xmlns:p14="http://schemas.microsoft.com/office/powerpoint/2010/main" val="2528837270"/>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4" name="텍스트 개체 틀 3"/>
          <p:cNvSpPr>
            <a:spLocks noGrp="1"/>
          </p:cNvSpPr>
          <p:nvPr>
            <p:ph type="body" sz="quarter" idx="13"/>
          </p:nvPr>
        </p:nvSpPr>
        <p:spPr/>
        <p:txBody>
          <a:bodyPr/>
          <a:lstStyle/>
          <a:p>
            <a:r>
              <a:rPr lang="ko-KR" altLang="en-US" dirty="0"/>
              <a:t>주변한정주의 </a:t>
            </a:r>
            <a:r>
              <a:rPr lang="en-US" altLang="ko-KR" dirty="0"/>
              <a:t>vs </a:t>
            </a:r>
            <a:r>
              <a:rPr lang="ko-KR" altLang="en-US" dirty="0"/>
              <a:t>중심한정주의</a:t>
            </a:r>
          </a:p>
        </p:txBody>
      </p:sp>
      <p:graphicFrame>
        <p:nvGraphicFramePr>
          <p:cNvPr id="2" name="표 1"/>
          <p:cNvGraphicFramePr>
            <a:graphicFrameLocks noGrp="1"/>
          </p:cNvGraphicFramePr>
          <p:nvPr/>
        </p:nvGraphicFramePr>
        <p:xfrm>
          <a:off x="499387" y="1083732"/>
          <a:ext cx="11065932" cy="4703325"/>
        </p:xfrm>
        <a:graphic>
          <a:graphicData uri="http://schemas.openxmlformats.org/drawingml/2006/table">
            <a:tbl>
              <a:tblPr>
                <a:tableStyleId>{8799B23B-EC83-4686-B30A-512413B5E67A}</a:tableStyleId>
              </a:tblPr>
              <a:tblGrid>
                <a:gridCol w="1977925">
                  <a:extLst>
                    <a:ext uri="{9D8B030D-6E8A-4147-A177-3AD203B41FA5}">
                      <a16:colId xmlns:a16="http://schemas.microsoft.com/office/drawing/2014/main" val="20000"/>
                    </a:ext>
                  </a:extLst>
                </a:gridCol>
                <a:gridCol w="4935438">
                  <a:extLst>
                    <a:ext uri="{9D8B030D-6E8A-4147-A177-3AD203B41FA5}">
                      <a16:colId xmlns:a16="http://schemas.microsoft.com/office/drawing/2014/main" val="20001"/>
                    </a:ext>
                  </a:extLst>
                </a:gridCol>
                <a:gridCol w="4152569">
                  <a:extLst>
                    <a:ext uri="{9D8B030D-6E8A-4147-A177-3AD203B41FA5}">
                      <a16:colId xmlns:a16="http://schemas.microsoft.com/office/drawing/2014/main" val="20002"/>
                    </a:ext>
                  </a:extLst>
                </a:gridCol>
              </a:tblGrid>
              <a:tr h="561192">
                <a:tc>
                  <a:txBody>
                    <a:bodyPr/>
                    <a:lstStyle/>
                    <a:p>
                      <a:pPr marL="0" marR="0" indent="0" algn="ctr" fontAlgn="base" latinLnBrk="0">
                        <a:lnSpc>
                          <a:spcPct val="100000"/>
                        </a:lnSpc>
                        <a:spcBef>
                          <a:spcPts val="0"/>
                        </a:spcBef>
                        <a:spcAft>
                          <a:spcPts val="0"/>
                        </a:spcAft>
                      </a:pPr>
                      <a:r>
                        <a:rPr lang="ko-KR" altLang="en-US" sz="1600" kern="1200" dirty="0"/>
                        <a:t>구 분</a:t>
                      </a:r>
                      <a:endParaRPr lang="ko-KR" altLang="en-US" sz="16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600" kern="1200" dirty="0"/>
                        <a:t>주변한정주의</a:t>
                      </a:r>
                      <a:endParaRPr lang="ko-KR" altLang="en-US" sz="16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600" kern="1200" dirty="0"/>
                        <a:t>중심한정주의</a:t>
                      </a:r>
                      <a:endParaRPr lang="ko-KR" altLang="en-US" sz="16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extLst>
                  <a:ext uri="{0D108BD9-81ED-4DB2-BD59-A6C34878D82A}">
                    <a16:rowId xmlns:a16="http://schemas.microsoft.com/office/drawing/2014/main" val="10000"/>
                  </a:ext>
                </a:extLst>
              </a:tr>
              <a:tr h="706466">
                <a:tc>
                  <a:txBody>
                    <a:bodyPr/>
                    <a:lstStyle/>
                    <a:p>
                      <a:pPr marL="0" marR="0" indent="0" algn="ctr" fontAlgn="base" latinLnBrk="0">
                        <a:lnSpc>
                          <a:spcPct val="100000"/>
                        </a:lnSpc>
                        <a:spcBef>
                          <a:spcPts val="0"/>
                        </a:spcBef>
                        <a:spcAft>
                          <a:spcPts val="0"/>
                        </a:spcAft>
                      </a:pPr>
                      <a:r>
                        <a:rPr lang="ko-KR" altLang="en-US" sz="1600" kern="1200"/>
                        <a:t>의 의</a:t>
                      </a:r>
                      <a:endParaRPr lang="ko-KR" altLang="en-US" sz="1600" kern="1200">
                        <a:solidFill>
                          <a:schemeClr val="tx2"/>
                        </a:solidFill>
                        <a:latin typeface="+mn-lt"/>
                        <a:ea typeface="+mn-ea"/>
                        <a:cs typeface="+mn-cs"/>
                      </a:endParaRPr>
                    </a:p>
                  </a:txBody>
                  <a:tcPr marL="72000" marR="72000" marT="17907" marB="17907" anchor="ctr"/>
                </a:tc>
                <a:tc>
                  <a:txBody>
                    <a:bodyPr/>
                    <a:lstStyle/>
                    <a:p>
                      <a:pPr marL="17780" marR="17780" indent="0" algn="just" fontAlgn="base" latinLnBrk="1">
                        <a:lnSpc>
                          <a:spcPct val="100000"/>
                        </a:lnSpc>
                        <a:spcBef>
                          <a:spcPts val="0"/>
                        </a:spcBef>
                        <a:spcAft>
                          <a:spcPts val="0"/>
                        </a:spcAft>
                      </a:pPr>
                      <a:r>
                        <a:rPr lang="ko-KR" altLang="en-US" sz="1600" kern="1200" dirty="0"/>
                        <a:t>청구범위의 기재에 의해서 문언 그대로 해석</a:t>
                      </a:r>
                      <a:endParaRPr lang="ko-KR" altLang="en-US" sz="1600" kern="1200" dirty="0">
                        <a:solidFill>
                          <a:schemeClr val="tx2"/>
                        </a:solidFill>
                        <a:latin typeface="+mn-lt"/>
                        <a:ea typeface="+mn-ea"/>
                        <a:cs typeface="+mn-cs"/>
                      </a:endParaRPr>
                    </a:p>
                  </a:txBody>
                  <a:tcPr marL="72000" marR="72000" marT="17907" marB="17907" anchor="ctr"/>
                </a:tc>
                <a:tc>
                  <a:txBody>
                    <a:bodyPr/>
                    <a:lstStyle/>
                    <a:p>
                      <a:pPr marL="17780" marR="17780" indent="0" algn="just" fontAlgn="base" latinLnBrk="1">
                        <a:lnSpc>
                          <a:spcPct val="100000"/>
                        </a:lnSpc>
                        <a:spcBef>
                          <a:spcPts val="0"/>
                        </a:spcBef>
                        <a:spcAft>
                          <a:spcPts val="0"/>
                        </a:spcAft>
                      </a:pPr>
                      <a:r>
                        <a:rPr lang="ko-KR" altLang="en-US" sz="1600" kern="1200" dirty="0"/>
                        <a:t>청구범위의 기재에서 발명의 핵심사상을 추출하여 확장 해석</a:t>
                      </a:r>
                      <a:endParaRPr lang="ko-KR" altLang="en-US" sz="1600" kern="1200" dirty="0">
                        <a:solidFill>
                          <a:schemeClr val="tx2"/>
                        </a:solidFill>
                        <a:latin typeface="+mn-lt"/>
                        <a:ea typeface="+mn-ea"/>
                        <a:cs typeface="+mn-cs"/>
                      </a:endParaRPr>
                    </a:p>
                  </a:txBody>
                  <a:tcPr marL="72000" marR="72000" marT="17907" marB="17907" anchor="ctr"/>
                </a:tc>
                <a:extLst>
                  <a:ext uri="{0D108BD9-81ED-4DB2-BD59-A6C34878D82A}">
                    <a16:rowId xmlns:a16="http://schemas.microsoft.com/office/drawing/2014/main" val="10001"/>
                  </a:ext>
                </a:extLst>
              </a:tr>
              <a:tr h="706466">
                <a:tc>
                  <a:txBody>
                    <a:bodyPr/>
                    <a:lstStyle/>
                    <a:p>
                      <a:pPr marL="0" marR="0" indent="0" algn="ctr" fontAlgn="base" latinLnBrk="0">
                        <a:lnSpc>
                          <a:spcPct val="100000"/>
                        </a:lnSpc>
                        <a:spcBef>
                          <a:spcPts val="0"/>
                        </a:spcBef>
                        <a:spcAft>
                          <a:spcPts val="0"/>
                        </a:spcAft>
                      </a:pPr>
                      <a:r>
                        <a:rPr lang="ko-KR" altLang="en-US" sz="1600" kern="1200" dirty="0"/>
                        <a:t>판단의 용이성</a:t>
                      </a:r>
                      <a:endParaRPr lang="en-US" altLang="ko-KR" sz="1600" kern="1200" dirty="0"/>
                    </a:p>
                    <a:p>
                      <a:pPr marL="0" marR="0" indent="0" algn="ctr" fontAlgn="base" latinLnBrk="0">
                        <a:lnSpc>
                          <a:spcPct val="100000"/>
                        </a:lnSpc>
                        <a:spcBef>
                          <a:spcPts val="0"/>
                        </a:spcBef>
                        <a:spcAft>
                          <a:spcPts val="0"/>
                        </a:spcAft>
                      </a:pPr>
                      <a:r>
                        <a:rPr lang="en-US" altLang="ko-KR" sz="1600" kern="1200" dirty="0">
                          <a:solidFill>
                            <a:schemeClr val="tx2"/>
                          </a:solidFill>
                          <a:latin typeface="+mn-lt"/>
                          <a:ea typeface="+mn-ea"/>
                          <a:cs typeface="+mn-cs"/>
                        </a:rPr>
                        <a:t>(</a:t>
                      </a:r>
                      <a:r>
                        <a:rPr lang="ko-KR" altLang="en-US" sz="1600" kern="1200" dirty="0">
                          <a:solidFill>
                            <a:schemeClr val="tx2"/>
                          </a:solidFill>
                          <a:latin typeface="+mn-lt"/>
                          <a:ea typeface="+mn-ea"/>
                          <a:cs typeface="+mn-cs"/>
                        </a:rPr>
                        <a:t>법적 안정성</a:t>
                      </a:r>
                      <a:r>
                        <a:rPr lang="en-US" altLang="ko-KR" sz="1600" kern="1200" dirty="0">
                          <a:solidFill>
                            <a:schemeClr val="tx2"/>
                          </a:solidFill>
                          <a:latin typeface="+mn-lt"/>
                          <a:ea typeface="+mn-ea"/>
                          <a:cs typeface="+mn-cs"/>
                        </a:rPr>
                        <a:t>)</a:t>
                      </a:r>
                      <a:endParaRPr lang="ko-KR" altLang="en-US" sz="1600" kern="1200" dirty="0">
                        <a:solidFill>
                          <a:schemeClr val="tx2"/>
                        </a:solidFill>
                        <a:latin typeface="+mn-lt"/>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ko-KR" altLang="en-US" sz="1600" kern="1200" dirty="0"/>
                        <a:t>○</a:t>
                      </a:r>
                      <a:endParaRPr lang="ko-KR" altLang="en-US" sz="1600" kern="1200" dirty="0">
                        <a:solidFill>
                          <a:schemeClr val="tx2"/>
                        </a:solidFill>
                        <a:latin typeface="+mn-lt"/>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en-US" sz="1600" kern="1200"/>
                        <a:t>×</a:t>
                      </a:r>
                      <a:endParaRPr lang="en-US" sz="1600" kern="1200">
                        <a:solidFill>
                          <a:schemeClr val="tx2"/>
                        </a:solidFill>
                        <a:latin typeface="+mn-lt"/>
                        <a:ea typeface="+mn-ea"/>
                        <a:cs typeface="+mn-cs"/>
                      </a:endParaRPr>
                    </a:p>
                  </a:txBody>
                  <a:tcPr marL="72000" marR="72000" marT="17907" marB="17907" anchor="ctr"/>
                </a:tc>
                <a:extLst>
                  <a:ext uri="{0D108BD9-81ED-4DB2-BD59-A6C34878D82A}">
                    <a16:rowId xmlns:a16="http://schemas.microsoft.com/office/drawing/2014/main" val="10002"/>
                  </a:ext>
                </a:extLst>
              </a:tr>
              <a:tr h="706466">
                <a:tc>
                  <a:txBody>
                    <a:bodyPr/>
                    <a:lstStyle/>
                    <a:p>
                      <a:pPr marL="0" marR="0" indent="0" algn="ctr" fontAlgn="base" latinLnBrk="0">
                        <a:lnSpc>
                          <a:spcPct val="100000"/>
                        </a:lnSpc>
                        <a:spcBef>
                          <a:spcPts val="0"/>
                        </a:spcBef>
                        <a:spcAft>
                          <a:spcPts val="0"/>
                        </a:spcAft>
                      </a:pPr>
                      <a:r>
                        <a:rPr lang="ko-KR" altLang="en-US" sz="1600" kern="1200" dirty="0"/>
                        <a:t>특허권자의 보호</a:t>
                      </a:r>
                      <a:endParaRPr lang="en-US" altLang="ko-KR" sz="1600" kern="1200" dirty="0"/>
                    </a:p>
                    <a:p>
                      <a:pPr marL="0" marR="0" indent="0" algn="ctr" fontAlgn="base" latinLnBrk="0">
                        <a:lnSpc>
                          <a:spcPct val="100000"/>
                        </a:lnSpc>
                        <a:spcBef>
                          <a:spcPts val="0"/>
                        </a:spcBef>
                        <a:spcAft>
                          <a:spcPts val="0"/>
                        </a:spcAft>
                      </a:pPr>
                      <a:r>
                        <a:rPr lang="en-US" altLang="ko-KR" sz="1600" kern="1200" dirty="0">
                          <a:solidFill>
                            <a:schemeClr val="tx2"/>
                          </a:solidFill>
                          <a:latin typeface="+mn-lt"/>
                          <a:ea typeface="+mn-ea"/>
                          <a:cs typeface="+mn-cs"/>
                        </a:rPr>
                        <a:t>(</a:t>
                      </a:r>
                      <a:r>
                        <a:rPr lang="ko-KR" altLang="en-US" sz="1600" kern="1200" dirty="0">
                          <a:solidFill>
                            <a:schemeClr val="tx2"/>
                          </a:solidFill>
                          <a:latin typeface="+mn-lt"/>
                          <a:ea typeface="+mn-ea"/>
                          <a:cs typeface="+mn-cs"/>
                        </a:rPr>
                        <a:t>구체적 타당성</a:t>
                      </a:r>
                      <a:r>
                        <a:rPr lang="en-US" altLang="ko-KR" sz="1600" kern="1200" dirty="0">
                          <a:solidFill>
                            <a:schemeClr val="tx2"/>
                          </a:solidFill>
                          <a:latin typeface="+mn-lt"/>
                          <a:ea typeface="+mn-ea"/>
                          <a:cs typeface="+mn-cs"/>
                        </a:rPr>
                        <a:t>)</a:t>
                      </a:r>
                      <a:endParaRPr lang="ko-KR" altLang="en-US" sz="1600" kern="1200" dirty="0">
                        <a:solidFill>
                          <a:schemeClr val="tx2"/>
                        </a:solidFill>
                        <a:latin typeface="+mn-lt"/>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en-US" sz="1600" kern="1200" dirty="0"/>
                        <a:t>×</a:t>
                      </a:r>
                      <a:endParaRPr lang="en-US" sz="1600" kern="1200" dirty="0">
                        <a:solidFill>
                          <a:schemeClr val="tx2"/>
                        </a:solidFill>
                        <a:latin typeface="+mn-lt"/>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ko-KR" altLang="en-US" sz="1600" kern="1200"/>
                        <a:t>○</a:t>
                      </a:r>
                      <a:endParaRPr lang="ko-KR" altLang="en-US" sz="1600" kern="1200">
                        <a:solidFill>
                          <a:schemeClr val="tx2"/>
                        </a:solidFill>
                        <a:latin typeface="+mn-lt"/>
                        <a:ea typeface="+mn-ea"/>
                        <a:cs typeface="+mn-cs"/>
                      </a:endParaRPr>
                    </a:p>
                  </a:txBody>
                  <a:tcPr marL="72000" marR="72000" marT="17907" marB="17907" anchor="ctr"/>
                </a:tc>
                <a:extLst>
                  <a:ext uri="{0D108BD9-81ED-4DB2-BD59-A6C34878D82A}">
                    <a16:rowId xmlns:a16="http://schemas.microsoft.com/office/drawing/2014/main" val="10003"/>
                  </a:ext>
                </a:extLst>
              </a:tr>
              <a:tr h="2022735">
                <a:tc>
                  <a:txBody>
                    <a:bodyPr/>
                    <a:lstStyle/>
                    <a:p>
                      <a:pPr marL="0" marR="0" indent="0" algn="ctr" fontAlgn="base" latinLnBrk="0">
                        <a:lnSpc>
                          <a:spcPct val="100000"/>
                        </a:lnSpc>
                        <a:spcBef>
                          <a:spcPts val="0"/>
                        </a:spcBef>
                        <a:spcAft>
                          <a:spcPts val="0"/>
                        </a:spcAft>
                      </a:pPr>
                      <a:r>
                        <a:rPr lang="ko-KR" altLang="en-US" sz="1600" kern="1200"/>
                        <a:t>판례 및 특허법의 태도</a:t>
                      </a:r>
                      <a:endParaRPr lang="ko-KR" altLang="en-US" sz="1600" kern="1200">
                        <a:solidFill>
                          <a:schemeClr val="tx2"/>
                        </a:solidFill>
                        <a:latin typeface="+mn-lt"/>
                        <a:ea typeface="+mn-ea"/>
                        <a:cs typeface="+mn-cs"/>
                      </a:endParaRPr>
                    </a:p>
                  </a:txBody>
                  <a:tcPr marL="72000" marR="72000" marT="17907" marB="17907" anchor="ctr"/>
                </a:tc>
                <a:tc gridSpan="2">
                  <a:txBody>
                    <a:bodyPr/>
                    <a:lstStyle/>
                    <a:p>
                      <a:pPr marL="233363" marR="17780" indent="-233363" algn="just" fontAlgn="base" latinLnBrk="1">
                        <a:lnSpc>
                          <a:spcPct val="100000"/>
                        </a:lnSpc>
                        <a:spcBef>
                          <a:spcPts val="0"/>
                        </a:spcBef>
                        <a:spcAft>
                          <a:spcPts val="0"/>
                        </a:spcAft>
                      </a:pPr>
                      <a:r>
                        <a:rPr lang="en-US" altLang="ko-KR" sz="1600" kern="1200" dirty="0"/>
                        <a:t>1.</a:t>
                      </a:r>
                      <a:r>
                        <a:rPr lang="en-US" altLang="ko-KR" sz="1600" kern="1200" baseline="0" dirty="0"/>
                        <a:t> </a:t>
                      </a:r>
                      <a:r>
                        <a:rPr lang="ko-KR" altLang="en-US" sz="1600" kern="1200" dirty="0"/>
                        <a:t>판례의 태도 </a:t>
                      </a:r>
                      <a:r>
                        <a:rPr lang="en-US" altLang="ko-KR" sz="1600" kern="1200" dirty="0"/>
                        <a:t>- 90</a:t>
                      </a:r>
                      <a:r>
                        <a:rPr lang="ko-KR" altLang="en-US" sz="1600" kern="1200" dirty="0"/>
                        <a:t>년대 초반까지 중심한정주의 입장에 있었으나 </a:t>
                      </a:r>
                      <a:r>
                        <a:rPr lang="en-US" altLang="ko-KR" sz="1600" kern="1200" dirty="0"/>
                        <a:t>90</a:t>
                      </a:r>
                      <a:r>
                        <a:rPr lang="ko-KR" altLang="en-US" sz="1600" kern="1200" dirty="0"/>
                        <a:t>년대 후반 이후 주변한정주의 입장으로 변화</a:t>
                      </a:r>
                    </a:p>
                    <a:p>
                      <a:pPr marL="17780" marR="17780" indent="0" algn="just" fontAlgn="base" latinLnBrk="1">
                        <a:lnSpc>
                          <a:spcPct val="100000"/>
                        </a:lnSpc>
                        <a:spcBef>
                          <a:spcPts val="0"/>
                        </a:spcBef>
                        <a:spcAft>
                          <a:spcPts val="0"/>
                        </a:spcAft>
                      </a:pPr>
                      <a:r>
                        <a:rPr lang="en-US" altLang="ko-KR" sz="1600" kern="1200" dirty="0"/>
                        <a:t>2. </a:t>
                      </a:r>
                      <a:r>
                        <a:rPr lang="ko-KR" altLang="en-US" sz="1600" kern="1200" dirty="0"/>
                        <a:t>주변한정주의의 보완</a:t>
                      </a:r>
                      <a:r>
                        <a:rPr lang="en-US" altLang="ko-KR" sz="1600" kern="1200" dirty="0"/>
                        <a:t>(</a:t>
                      </a:r>
                      <a:r>
                        <a:rPr lang="ko-KR" altLang="en-US" sz="1600" kern="1200" dirty="0"/>
                        <a:t>특허권자의 보호</a:t>
                      </a:r>
                      <a:r>
                        <a:rPr lang="en-US" altLang="ko-KR" sz="1600" kern="1200" dirty="0"/>
                        <a:t>)</a:t>
                      </a:r>
                      <a:endParaRPr lang="ko-KR" altLang="en-US" sz="1600" kern="1200" dirty="0"/>
                    </a:p>
                    <a:p>
                      <a:pPr marL="17780" marR="17780" indent="0" algn="just" fontAlgn="base" latinLnBrk="1">
                        <a:lnSpc>
                          <a:spcPct val="100000"/>
                        </a:lnSpc>
                        <a:spcBef>
                          <a:spcPts val="0"/>
                        </a:spcBef>
                        <a:spcAft>
                          <a:spcPts val="0"/>
                        </a:spcAft>
                      </a:pPr>
                      <a:r>
                        <a:rPr lang="ko-KR" altLang="en-US" sz="1600" kern="1200" dirty="0"/>
                        <a:t>① </a:t>
                      </a:r>
                      <a:r>
                        <a:rPr lang="ko-KR" altLang="en-US" sz="1600" kern="1200" dirty="0" err="1"/>
                        <a:t>다항제</a:t>
                      </a:r>
                      <a:r>
                        <a:rPr lang="en-US" altLang="ko-KR" sz="1600" kern="1200" dirty="0"/>
                        <a:t>(</a:t>
                      </a:r>
                      <a:r>
                        <a:rPr lang="ko-KR" altLang="en-US" sz="1600" kern="1200" dirty="0"/>
                        <a:t>法 </a:t>
                      </a:r>
                      <a:r>
                        <a:rPr lang="en-US" altLang="ko-KR" sz="1600" kern="1200" dirty="0"/>
                        <a:t>42</a:t>
                      </a:r>
                      <a:r>
                        <a:rPr lang="ko-KR" altLang="en-US" sz="1600" kern="1200" dirty="0"/>
                        <a:t>④</a:t>
                      </a:r>
                      <a:r>
                        <a:rPr lang="en-US" altLang="ko-KR" sz="1600" kern="1200" dirty="0"/>
                        <a:t>)*</a:t>
                      </a:r>
                      <a:endParaRPr lang="ko-KR" altLang="en-US" sz="1600" kern="1200" dirty="0"/>
                    </a:p>
                    <a:p>
                      <a:pPr marL="17780" marR="17780" indent="0" algn="just" fontAlgn="base" latinLnBrk="1">
                        <a:lnSpc>
                          <a:spcPct val="100000"/>
                        </a:lnSpc>
                        <a:spcBef>
                          <a:spcPts val="0"/>
                        </a:spcBef>
                        <a:spcAft>
                          <a:spcPts val="0"/>
                        </a:spcAft>
                      </a:pPr>
                      <a:r>
                        <a:rPr lang="ko-KR" altLang="en-US" sz="1600" kern="1200" dirty="0"/>
                        <a:t>② 간접침해</a:t>
                      </a:r>
                      <a:r>
                        <a:rPr lang="en-US" altLang="ko-KR" sz="1600" kern="1200" dirty="0"/>
                        <a:t>(</a:t>
                      </a:r>
                      <a:r>
                        <a:rPr lang="ko-KR" altLang="en-US" sz="1600" kern="1200" dirty="0"/>
                        <a:t>法 </a:t>
                      </a:r>
                      <a:r>
                        <a:rPr lang="en-US" altLang="ko-KR" sz="1600" kern="1200" dirty="0"/>
                        <a:t>127)</a:t>
                      </a:r>
                      <a:endParaRPr lang="ko-KR" altLang="en-US" sz="1600" kern="1200" dirty="0"/>
                    </a:p>
                    <a:p>
                      <a:pPr marL="17780" marR="17780" indent="0" algn="just" fontAlgn="base" latinLnBrk="1">
                        <a:lnSpc>
                          <a:spcPct val="100000"/>
                        </a:lnSpc>
                        <a:spcBef>
                          <a:spcPts val="0"/>
                        </a:spcBef>
                        <a:spcAft>
                          <a:spcPts val="0"/>
                        </a:spcAft>
                      </a:pPr>
                      <a:r>
                        <a:rPr lang="ko-KR" altLang="en-US" sz="1600" kern="1200" dirty="0"/>
                        <a:t>③ </a:t>
                      </a:r>
                      <a:r>
                        <a:rPr lang="ko-KR" altLang="en-US" sz="1600" kern="1200" dirty="0" err="1"/>
                        <a:t>균등론</a:t>
                      </a:r>
                      <a:r>
                        <a:rPr lang="en-US" altLang="ko-KR" sz="1600" kern="1200" dirty="0"/>
                        <a:t>(</a:t>
                      </a:r>
                      <a:r>
                        <a:rPr lang="ko-KR" altLang="en-US" sz="1600" kern="1200" dirty="0"/>
                        <a:t>判例가 인정</a:t>
                      </a:r>
                      <a:r>
                        <a:rPr lang="en-US" altLang="ko-KR" sz="1600" kern="1200" dirty="0"/>
                        <a:t>)</a:t>
                      </a:r>
                      <a:endParaRPr lang="ko-KR" altLang="en-US" sz="1600" kern="1200" dirty="0"/>
                    </a:p>
                    <a:p>
                      <a:pPr marL="17780" marR="17780" indent="0" algn="just" fontAlgn="base" latinLnBrk="1">
                        <a:lnSpc>
                          <a:spcPct val="100000"/>
                        </a:lnSpc>
                        <a:spcBef>
                          <a:spcPts val="0"/>
                        </a:spcBef>
                        <a:spcAft>
                          <a:spcPts val="0"/>
                        </a:spcAft>
                      </a:pPr>
                      <a:r>
                        <a:rPr lang="ko-KR" altLang="en-US" sz="1600" kern="1200" dirty="0"/>
                        <a:t>④ 생략침해</a:t>
                      </a:r>
                      <a:r>
                        <a:rPr lang="en-US" altLang="ko-KR" sz="1600" kern="1200" dirty="0"/>
                        <a:t>, </a:t>
                      </a:r>
                      <a:r>
                        <a:rPr lang="ko-KR" altLang="en-US" sz="1600" kern="1200" dirty="0"/>
                        <a:t>불완전이용침해 이론</a:t>
                      </a:r>
                      <a:r>
                        <a:rPr lang="en-US" altLang="ko-KR" sz="1600" kern="1200" dirty="0"/>
                        <a:t>(</a:t>
                      </a:r>
                      <a:r>
                        <a:rPr lang="ko-KR" altLang="en-US" sz="1600" kern="1200" dirty="0"/>
                        <a:t>判例는 불인정</a:t>
                      </a:r>
                      <a:r>
                        <a:rPr lang="en-US" altLang="ko-KR" sz="1600" kern="1200" dirty="0"/>
                        <a:t>)</a:t>
                      </a:r>
                      <a:endParaRPr lang="ko-KR" altLang="en-US" sz="1600" kern="1200" dirty="0">
                        <a:solidFill>
                          <a:schemeClr val="tx2"/>
                        </a:solidFill>
                        <a:latin typeface="+mn-lt"/>
                        <a:ea typeface="+mn-ea"/>
                        <a:cs typeface="+mn-cs"/>
                      </a:endParaRPr>
                    </a:p>
                  </a:txBody>
                  <a:tcPr marL="72000" marR="72000" marT="17907" marB="17907" anchor="ctr"/>
                </a:tc>
                <a:tc hMerge="1">
                  <a:txBody>
                    <a:bodyPr/>
                    <a:lstStyle/>
                    <a:p>
                      <a:pPr latinLnBrk="1"/>
                      <a:endParaRPr lang="ko-KR" altLang="en-US"/>
                    </a:p>
                  </a:txBody>
                  <a:tcPr/>
                </a:tc>
                <a:extLst>
                  <a:ext uri="{0D108BD9-81ED-4DB2-BD59-A6C34878D82A}">
                    <a16:rowId xmlns:a16="http://schemas.microsoft.com/office/drawing/2014/main" val="10004"/>
                  </a:ext>
                </a:extLst>
              </a:tr>
            </a:tbl>
          </a:graphicData>
        </a:graphic>
      </p:graphicFrame>
      <p:sp>
        <p:nvSpPr>
          <p:cNvPr id="5" name="직사각형 4"/>
          <p:cNvSpPr/>
          <p:nvPr/>
        </p:nvSpPr>
        <p:spPr>
          <a:xfrm>
            <a:off x="380997" y="5859279"/>
            <a:ext cx="11184322" cy="646331"/>
          </a:xfrm>
          <a:prstGeom prst="rect">
            <a:avLst/>
          </a:prstGeom>
        </p:spPr>
        <p:txBody>
          <a:bodyPr wrap="square">
            <a:spAutoFit/>
          </a:bodyPr>
          <a:lstStyle/>
          <a:p>
            <a:pPr marL="93663" indent="-93663" fontAlgn="base"/>
            <a:r>
              <a:rPr lang="en-US" altLang="ko-KR" sz="1200" dirty="0"/>
              <a:t>*</a:t>
            </a:r>
            <a:r>
              <a:rPr lang="ko-KR" altLang="en-US" sz="1200" dirty="0" err="1"/>
              <a:t>다항제는</a:t>
            </a:r>
            <a:r>
              <a:rPr lang="ko-KR" altLang="en-US" sz="1200" dirty="0"/>
              <a:t> 청구범위에 하나의 청구항만을 적을 수 있는 </a:t>
            </a:r>
            <a:r>
              <a:rPr lang="ko-KR" altLang="en-US" sz="1200" dirty="0" err="1"/>
              <a:t>단항제</a:t>
            </a:r>
            <a:r>
              <a:rPr lang="en-US" altLang="ko-KR" sz="1200" dirty="0"/>
              <a:t>(</a:t>
            </a:r>
            <a:r>
              <a:rPr lang="ko-KR" altLang="en-US" sz="1200" dirty="0" err="1"/>
              <a:t>單項制</a:t>
            </a:r>
            <a:r>
              <a:rPr lang="en-US" altLang="ko-KR" sz="1200" dirty="0"/>
              <a:t>)</a:t>
            </a:r>
            <a:r>
              <a:rPr lang="ko-KR" altLang="en-US" sz="1200" dirty="0"/>
              <a:t>와 반대되는 개념으로서 보호범위의 해석원리로서 주변한정주의의 입장을 취할 때 발명의 다면적 보호를 위한 청구범위의 기재방법이라는 점에 그 의미가 있다</a:t>
            </a:r>
            <a:r>
              <a:rPr lang="en-US" altLang="ko-KR" sz="1200" dirty="0"/>
              <a:t>. </a:t>
            </a:r>
            <a:r>
              <a:rPr lang="ko-KR" altLang="en-US" sz="1200" dirty="0"/>
              <a:t>우리 특허법은 종래</a:t>
            </a:r>
            <a:r>
              <a:rPr lang="en-US" altLang="ko-KR" sz="1200" dirty="0"/>
              <a:t>(1961</a:t>
            </a:r>
            <a:r>
              <a:rPr lang="ko-KR" altLang="en-US" sz="1200" dirty="0"/>
              <a:t>년 제정 특허법</a:t>
            </a:r>
            <a:r>
              <a:rPr lang="en-US" altLang="ko-KR" sz="1200" dirty="0"/>
              <a:t>)</a:t>
            </a:r>
            <a:r>
              <a:rPr lang="ko-KR" altLang="en-US" sz="1200" dirty="0"/>
              <a:t>에는 하나의 청구항만을 기재하도록 하는 </a:t>
            </a:r>
            <a:r>
              <a:rPr lang="ko-KR" altLang="en-US" sz="1200" dirty="0" err="1"/>
              <a:t>단항제를</a:t>
            </a:r>
            <a:r>
              <a:rPr lang="ko-KR" altLang="en-US" sz="1200" dirty="0"/>
              <a:t> 채택하고 있었으나</a:t>
            </a:r>
            <a:r>
              <a:rPr lang="en-US" altLang="ko-KR" sz="1200" dirty="0"/>
              <a:t>, 1980</a:t>
            </a:r>
            <a:r>
              <a:rPr lang="ko-KR" altLang="en-US" sz="1200" dirty="0"/>
              <a:t>년 법률 제</a:t>
            </a:r>
            <a:r>
              <a:rPr lang="en-US" altLang="ko-KR" sz="1200" dirty="0"/>
              <a:t>3325</a:t>
            </a:r>
            <a:r>
              <a:rPr lang="ko-KR" altLang="en-US" sz="1200" dirty="0"/>
              <a:t>호부터 </a:t>
            </a:r>
            <a:r>
              <a:rPr lang="ko-KR" altLang="en-US" sz="1200" dirty="0" err="1"/>
              <a:t>다항제를</a:t>
            </a:r>
            <a:r>
              <a:rPr lang="ko-KR" altLang="en-US" sz="1200" dirty="0"/>
              <a:t> 도입하였다</a:t>
            </a:r>
            <a:r>
              <a:rPr lang="en-US" altLang="ko-KR" sz="1200" dirty="0"/>
              <a:t>. </a:t>
            </a:r>
            <a:endParaRPr lang="ko-KR" altLang="en-US" sz="1200" dirty="0"/>
          </a:p>
        </p:txBody>
      </p:sp>
      <p:sp>
        <p:nvSpPr>
          <p:cNvPr id="6" name="슬라이드 번호 개체 틀 5"/>
          <p:cNvSpPr>
            <a:spLocks noGrp="1"/>
          </p:cNvSpPr>
          <p:nvPr>
            <p:ph type="sldNum" sz="quarter" idx="12"/>
          </p:nvPr>
        </p:nvSpPr>
        <p:spPr/>
        <p:txBody>
          <a:bodyPr/>
          <a:lstStyle/>
          <a:p>
            <a:r>
              <a:rPr lang="en-US" altLang="ko-KR"/>
              <a:t>320</a:t>
            </a:r>
            <a:endParaRPr lang="ko-KR" altLang="en-US"/>
          </a:p>
        </p:txBody>
      </p:sp>
    </p:spTree>
    <p:extLst>
      <p:ext uri="{BB962C8B-B14F-4D97-AF65-F5344CB8AC3E}">
        <p14:creationId xmlns:p14="http://schemas.microsoft.com/office/powerpoint/2010/main" val="369900297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모서리가 둥근 직사각형 16"/>
          <p:cNvSpPr/>
          <p:nvPr/>
        </p:nvSpPr>
        <p:spPr bwMode="auto">
          <a:xfrm>
            <a:off x="7506055" y="2633691"/>
            <a:ext cx="2046329" cy="2099710"/>
          </a:xfrm>
          <a:prstGeom prst="roundRect">
            <a:avLst/>
          </a:prstGeom>
          <a:ln>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lIns="90000" tIns="46800" rIns="90000" bIns="46800" anchor="ctr"/>
          <a:lstStyle/>
          <a:p>
            <a:pPr algn="ctr">
              <a:buFont typeface="Wingdings" pitchFamily="2" charset="2"/>
              <a:buNone/>
              <a:defRPr/>
            </a:pPr>
            <a:r>
              <a:rPr lang="ko-KR" altLang="en-US" sz="2800" dirty="0">
                <a:solidFill>
                  <a:schemeClr val="bg1"/>
                </a:solidFill>
                <a:latin typeface="+mn-ea"/>
              </a:rPr>
              <a:t> 확인대상발명 </a:t>
            </a:r>
            <a:endParaRPr lang="en-US" altLang="ko-KR" sz="2800" dirty="0">
              <a:solidFill>
                <a:schemeClr val="bg1"/>
              </a:solidFill>
              <a:latin typeface="+mn-ea"/>
            </a:endParaRPr>
          </a:p>
          <a:p>
            <a:pPr algn="ctr">
              <a:buFont typeface="Wingdings" pitchFamily="2" charset="2"/>
              <a:buNone/>
              <a:defRPr/>
            </a:pPr>
            <a:r>
              <a:rPr lang="ko-KR" altLang="en-US" sz="2800" dirty="0">
                <a:solidFill>
                  <a:schemeClr val="bg1"/>
                </a:solidFill>
                <a:latin typeface="+mn-ea"/>
              </a:rPr>
              <a:t>특정</a:t>
            </a:r>
          </a:p>
        </p:txBody>
      </p:sp>
      <p:sp>
        <p:nvSpPr>
          <p:cNvPr id="23" name="오른쪽 화살표 22"/>
          <p:cNvSpPr/>
          <p:nvPr/>
        </p:nvSpPr>
        <p:spPr bwMode="auto">
          <a:xfrm>
            <a:off x="4390735" y="2940401"/>
            <a:ext cx="2936798" cy="655858"/>
          </a:xfrm>
          <a:prstGeom prst="rightArrow">
            <a:avLst>
              <a:gd name="adj1" fmla="val 74108"/>
              <a:gd name="adj2" fmla="val 29844"/>
            </a:avLst>
          </a:prstGeom>
          <a:ln>
            <a:headEnd type="none" w="med" len="med"/>
            <a:tailEnd type="none" w="med" len="med"/>
          </a:ln>
        </p:spPr>
        <p:style>
          <a:lnRef idx="1">
            <a:schemeClr val="accent3"/>
          </a:lnRef>
          <a:fillRef idx="2">
            <a:schemeClr val="accent3"/>
          </a:fillRef>
          <a:effectRef idx="1">
            <a:schemeClr val="accent3"/>
          </a:effectRef>
          <a:fontRef idx="minor">
            <a:schemeClr val="dk1"/>
          </a:fontRef>
        </p:style>
        <p:txBody>
          <a:bodyPr lIns="90000" tIns="46800" rIns="90000" bIns="46800" anchor="ctr"/>
          <a:lstStyle/>
          <a:p>
            <a:pPr algn="ctr">
              <a:buFont typeface="Wingdings" pitchFamily="2" charset="2"/>
              <a:buNone/>
              <a:defRPr/>
            </a:pPr>
            <a:r>
              <a:rPr lang="ko-KR" altLang="en-US" dirty="0">
                <a:solidFill>
                  <a:srgbClr val="1C1C1C"/>
                </a:solidFill>
                <a:latin typeface="+mn-ea"/>
              </a:rPr>
              <a:t>특허발명의 실시인지 판단</a:t>
            </a:r>
          </a:p>
        </p:txBody>
      </p:sp>
      <p:sp>
        <p:nvSpPr>
          <p:cNvPr id="25" name="왼쪽/오른쪽 화살표 24"/>
          <p:cNvSpPr/>
          <p:nvPr/>
        </p:nvSpPr>
        <p:spPr bwMode="auto">
          <a:xfrm>
            <a:off x="4390735" y="3727430"/>
            <a:ext cx="2936798" cy="655858"/>
          </a:xfrm>
          <a:prstGeom prst="leftRightArrow">
            <a:avLst>
              <a:gd name="adj1" fmla="val 73237"/>
              <a:gd name="adj2" fmla="val 50000"/>
            </a:avLst>
          </a:prstGeom>
          <a:ln>
            <a:headEnd type="none" w="med" len="med"/>
            <a:tailEnd type="none" w="med" len="med"/>
          </a:ln>
        </p:spPr>
        <p:style>
          <a:lnRef idx="1">
            <a:schemeClr val="accent5"/>
          </a:lnRef>
          <a:fillRef idx="2">
            <a:schemeClr val="accent5"/>
          </a:fillRef>
          <a:effectRef idx="1">
            <a:schemeClr val="accent5"/>
          </a:effectRef>
          <a:fontRef idx="minor">
            <a:schemeClr val="dk1"/>
          </a:fontRef>
        </p:style>
        <p:txBody>
          <a:bodyPr lIns="90000" tIns="46800" rIns="90000" bIns="46800" anchor="ctr"/>
          <a:lstStyle/>
          <a:p>
            <a:pPr algn="ctr">
              <a:buFont typeface="Wingdings" pitchFamily="2" charset="2"/>
              <a:buNone/>
              <a:defRPr/>
            </a:pPr>
            <a:r>
              <a:rPr lang="ko-KR" altLang="en-US" dirty="0">
                <a:solidFill>
                  <a:srgbClr val="1C1C1C"/>
                </a:solidFill>
                <a:latin typeface="+mn-ea"/>
              </a:rPr>
              <a:t>법률 제한</a:t>
            </a:r>
            <a:r>
              <a:rPr lang="en-US" altLang="ko-KR" dirty="0">
                <a:solidFill>
                  <a:srgbClr val="1C1C1C"/>
                </a:solidFill>
                <a:latin typeface="+mn-ea"/>
              </a:rPr>
              <a:t>, </a:t>
            </a:r>
            <a:r>
              <a:rPr lang="ko-KR" altLang="en-US" dirty="0">
                <a:solidFill>
                  <a:srgbClr val="1C1C1C"/>
                </a:solidFill>
                <a:latin typeface="+mn-ea"/>
              </a:rPr>
              <a:t>확장 고려</a:t>
            </a:r>
          </a:p>
        </p:txBody>
      </p:sp>
      <p:sp>
        <p:nvSpPr>
          <p:cNvPr id="26" name="모서리가 둥근 직사각형 25"/>
          <p:cNvSpPr/>
          <p:nvPr/>
        </p:nvSpPr>
        <p:spPr bwMode="auto">
          <a:xfrm>
            <a:off x="2255573" y="2633691"/>
            <a:ext cx="1868358" cy="2099710"/>
          </a:xfrm>
          <a:prstGeom prst="roundRect">
            <a:avLst/>
          </a:prstGeom>
          <a:ln>
            <a:headEnd type="none" w="med" len="med"/>
            <a:tailEnd type="none" w="med" len="med"/>
          </a:ln>
        </p:spPr>
        <p:style>
          <a:lnRef idx="2">
            <a:schemeClr val="accent2">
              <a:shade val="50000"/>
            </a:schemeClr>
          </a:lnRef>
          <a:fillRef idx="1">
            <a:schemeClr val="accent2"/>
          </a:fillRef>
          <a:effectRef idx="0">
            <a:schemeClr val="accent2"/>
          </a:effectRef>
          <a:fontRef idx="minor">
            <a:schemeClr val="lt1"/>
          </a:fontRef>
        </p:style>
        <p:txBody>
          <a:bodyPr lIns="90000" tIns="46800" rIns="90000" bIns="46800" anchor="ctr"/>
          <a:lstStyle/>
          <a:p>
            <a:pPr algn="ctr">
              <a:defRPr/>
            </a:pPr>
            <a:r>
              <a:rPr lang="ko-KR" altLang="en-US" sz="2800" dirty="0">
                <a:solidFill>
                  <a:schemeClr val="bg1"/>
                </a:solidFill>
                <a:latin typeface="+mn-ea"/>
              </a:rPr>
              <a:t>특허발명 </a:t>
            </a:r>
            <a:endParaRPr lang="en-US" altLang="ko-KR" sz="2800" dirty="0">
              <a:solidFill>
                <a:schemeClr val="bg1"/>
              </a:solidFill>
              <a:latin typeface="+mn-ea"/>
            </a:endParaRPr>
          </a:p>
          <a:p>
            <a:pPr marL="457200" indent="-457200" algn="ctr">
              <a:defRPr/>
            </a:pPr>
            <a:r>
              <a:rPr lang="ko-KR" altLang="en-US" sz="2800" dirty="0">
                <a:solidFill>
                  <a:schemeClr val="bg1"/>
                </a:solidFill>
                <a:latin typeface="+mn-ea"/>
              </a:rPr>
              <a:t>특정</a:t>
            </a:r>
          </a:p>
        </p:txBody>
      </p:sp>
      <p:sp>
        <p:nvSpPr>
          <p:cNvPr id="3" name="모서리가 둥근 사각형 설명선 2"/>
          <p:cNvSpPr/>
          <p:nvPr/>
        </p:nvSpPr>
        <p:spPr>
          <a:xfrm>
            <a:off x="579797" y="5381473"/>
            <a:ext cx="3544135" cy="1152128"/>
          </a:xfrm>
          <a:prstGeom prst="wedgeRoundRectCallout">
            <a:avLst>
              <a:gd name="adj1" fmla="val 17600"/>
              <a:gd name="adj2" fmla="val -105327"/>
              <a:gd name="adj3" fmla="val 16667"/>
            </a:avLst>
          </a:prstGeom>
          <a:ln w="12700"/>
        </p:spPr>
        <p:style>
          <a:lnRef idx="2">
            <a:schemeClr val="accent2"/>
          </a:lnRef>
          <a:fillRef idx="1">
            <a:schemeClr val="lt1"/>
          </a:fillRef>
          <a:effectRef idx="0">
            <a:schemeClr val="accent2"/>
          </a:effectRef>
          <a:fontRef idx="minor">
            <a:schemeClr val="dk1"/>
          </a:fontRef>
        </p:style>
        <p:txBody>
          <a:bodyPr rtlCol="0" anchor="ctr"/>
          <a:lstStyle/>
          <a:p>
            <a:pPr marL="85725" indent="-85725">
              <a:buFont typeface="Wingdings" pitchFamily="2" charset="2"/>
              <a:buChar char="§"/>
            </a:pPr>
            <a:r>
              <a:rPr lang="ko-KR" altLang="en-US" sz="1200" dirty="0">
                <a:latin typeface="+mn-ea"/>
              </a:rPr>
              <a:t>청구범위 중심의 원칙</a:t>
            </a:r>
            <a:endParaRPr lang="en-US" altLang="ko-KR" sz="1200" dirty="0">
              <a:latin typeface="+mn-ea"/>
            </a:endParaRPr>
          </a:p>
          <a:p>
            <a:pPr marL="85725" indent="-85725">
              <a:buFont typeface="Wingdings" pitchFamily="2" charset="2"/>
              <a:buChar char="§"/>
            </a:pPr>
            <a:r>
              <a:rPr lang="ko-KR" altLang="en-US" sz="1200" dirty="0">
                <a:latin typeface="+mn-ea"/>
              </a:rPr>
              <a:t>발명의 설명 참작의 원칙</a:t>
            </a:r>
            <a:endParaRPr lang="en-US" altLang="ko-KR" sz="1200" dirty="0">
              <a:latin typeface="+mn-ea"/>
            </a:endParaRPr>
          </a:p>
          <a:p>
            <a:pPr marL="85725" indent="-85725">
              <a:buFont typeface="Wingdings" pitchFamily="2" charset="2"/>
              <a:buChar char="§"/>
            </a:pPr>
            <a:r>
              <a:rPr lang="ko-KR" altLang="en-US" sz="1200" dirty="0">
                <a:latin typeface="+mn-ea"/>
              </a:rPr>
              <a:t>공지기술참작의 원칙</a:t>
            </a:r>
            <a:endParaRPr lang="en-US" altLang="ko-KR" sz="1200" dirty="0">
              <a:latin typeface="+mn-ea"/>
            </a:endParaRPr>
          </a:p>
          <a:p>
            <a:pPr marL="85725" indent="-85725">
              <a:buFont typeface="Wingdings" pitchFamily="2" charset="2"/>
              <a:buChar char="§"/>
            </a:pPr>
            <a:r>
              <a:rPr lang="ko-KR" altLang="en-US" sz="1200" dirty="0">
                <a:latin typeface="+mn-ea"/>
              </a:rPr>
              <a:t>출원경과참작의 원칙</a:t>
            </a:r>
            <a:endParaRPr lang="en-US" altLang="ko-KR" sz="1200" dirty="0">
              <a:latin typeface="+mn-ea"/>
            </a:endParaRPr>
          </a:p>
          <a:p>
            <a:pPr marL="85725" indent="-85725">
              <a:buFont typeface="Wingdings" pitchFamily="2" charset="2"/>
              <a:buChar char="§"/>
            </a:pPr>
            <a:r>
              <a:rPr lang="ko-KR" altLang="en-US" sz="1200" dirty="0">
                <a:latin typeface="+mn-ea"/>
              </a:rPr>
              <a:t>특허권하자참작의 원칙</a:t>
            </a:r>
          </a:p>
        </p:txBody>
      </p:sp>
      <p:sp>
        <p:nvSpPr>
          <p:cNvPr id="13" name="모서리가 둥근 사각형 설명선 12"/>
          <p:cNvSpPr/>
          <p:nvPr/>
        </p:nvSpPr>
        <p:spPr>
          <a:xfrm>
            <a:off x="5859137" y="1673060"/>
            <a:ext cx="5157206" cy="540060"/>
          </a:xfrm>
          <a:prstGeom prst="wedgeRoundRectCallout">
            <a:avLst>
              <a:gd name="adj1" fmla="val -11134"/>
              <a:gd name="adj2" fmla="val 86476"/>
              <a:gd name="adj3" fmla="val 16667"/>
            </a:avLst>
          </a:prstGeom>
          <a:ln w="12700">
            <a:solidFill>
              <a:schemeClr val="accent4"/>
            </a:solidFill>
          </a:ln>
        </p:spPr>
        <p:style>
          <a:lnRef idx="2">
            <a:schemeClr val="accent2"/>
          </a:lnRef>
          <a:fillRef idx="1">
            <a:schemeClr val="lt1"/>
          </a:fillRef>
          <a:effectRef idx="0">
            <a:schemeClr val="accent2"/>
          </a:effectRef>
          <a:fontRef idx="minor">
            <a:schemeClr val="dk1"/>
          </a:fontRef>
        </p:style>
        <p:txBody>
          <a:bodyPr rtlCol="0" anchor="ctr"/>
          <a:lstStyle/>
          <a:p>
            <a:pPr marL="85725" indent="-85725">
              <a:buFont typeface="Wingdings" pitchFamily="2" charset="2"/>
              <a:buChar char="§"/>
            </a:pPr>
            <a:r>
              <a:rPr lang="ko-KR" altLang="en-US" sz="1200" dirty="0">
                <a:latin typeface="+mn-ea"/>
              </a:rPr>
              <a:t>사회통념상 다른 것과 구별될 수 있을 정도로 특정</a:t>
            </a:r>
            <a:r>
              <a:rPr lang="en-US" altLang="ko-KR" sz="1200" dirty="0">
                <a:latin typeface="+mn-ea"/>
              </a:rPr>
              <a:t>(</a:t>
            </a:r>
            <a:r>
              <a:rPr lang="ko-KR" altLang="en-US" sz="1200" dirty="0">
                <a:latin typeface="+mn-ea"/>
              </a:rPr>
              <a:t>청구취지로서 특정</a:t>
            </a:r>
            <a:r>
              <a:rPr lang="en-US" altLang="ko-KR" sz="1200" dirty="0">
                <a:latin typeface="+mn-ea"/>
              </a:rPr>
              <a:t>), </a:t>
            </a:r>
          </a:p>
          <a:p>
            <a:pPr marL="85725" indent="-85725">
              <a:buFont typeface="Wingdings" pitchFamily="2" charset="2"/>
              <a:buChar char="§"/>
            </a:pPr>
            <a:r>
              <a:rPr lang="ko-KR" altLang="en-US" sz="1200" dirty="0">
                <a:latin typeface="+mn-ea"/>
              </a:rPr>
              <a:t>특허발명과 서로 대비할 수 있을 만큼 구체적으로 특정</a:t>
            </a:r>
            <a:r>
              <a:rPr lang="en-US" altLang="ko-KR" sz="1200" dirty="0">
                <a:latin typeface="+mn-ea"/>
              </a:rPr>
              <a:t>(</a:t>
            </a:r>
            <a:r>
              <a:rPr lang="ko-KR" altLang="en-US" sz="1200" dirty="0">
                <a:latin typeface="+mn-ea"/>
              </a:rPr>
              <a:t>청구원인으로서 특정</a:t>
            </a:r>
            <a:r>
              <a:rPr lang="en-US" altLang="ko-KR" sz="1200" dirty="0">
                <a:latin typeface="+mn-ea"/>
              </a:rPr>
              <a:t>)</a:t>
            </a:r>
          </a:p>
        </p:txBody>
      </p:sp>
      <p:sp>
        <p:nvSpPr>
          <p:cNvPr id="14" name="모서리가 둥근 사각형 설명선 13"/>
          <p:cNvSpPr/>
          <p:nvPr/>
        </p:nvSpPr>
        <p:spPr>
          <a:xfrm>
            <a:off x="750157" y="1859328"/>
            <a:ext cx="4879189" cy="540060"/>
          </a:xfrm>
          <a:prstGeom prst="wedgeRoundRectCallout">
            <a:avLst>
              <a:gd name="adj1" fmla="val 41553"/>
              <a:gd name="adj2" fmla="val 158787"/>
              <a:gd name="adj3" fmla="val 16667"/>
            </a:avLst>
          </a:prstGeom>
          <a:ln w="12700">
            <a:solidFill>
              <a:schemeClr val="accent3"/>
            </a:solidFill>
          </a:ln>
        </p:spPr>
        <p:style>
          <a:lnRef idx="2">
            <a:schemeClr val="accent2"/>
          </a:lnRef>
          <a:fillRef idx="1">
            <a:schemeClr val="lt1"/>
          </a:fillRef>
          <a:effectRef idx="0">
            <a:schemeClr val="accent2"/>
          </a:effectRef>
          <a:fontRef idx="minor">
            <a:schemeClr val="dk1"/>
          </a:fontRef>
        </p:style>
        <p:txBody>
          <a:bodyPr rtlCol="0" anchor="ctr"/>
          <a:lstStyle/>
          <a:p>
            <a:pPr marL="85725" indent="-85725">
              <a:buFont typeface="Wingdings" pitchFamily="2" charset="2"/>
              <a:buChar char="§"/>
            </a:pPr>
            <a:r>
              <a:rPr lang="ko-KR" altLang="en-US" sz="1200" dirty="0">
                <a:latin typeface="+mn-ea"/>
              </a:rPr>
              <a:t>구성요소완비의 원칙</a:t>
            </a:r>
            <a:r>
              <a:rPr lang="en-US" altLang="ko-KR" sz="1200" dirty="0">
                <a:latin typeface="+mn-ea"/>
              </a:rPr>
              <a:t>(All Elements Rule)</a:t>
            </a:r>
          </a:p>
          <a:p>
            <a:pPr marL="85725" indent="-85725">
              <a:buFont typeface="Wingdings" pitchFamily="2" charset="2"/>
              <a:buChar char="§"/>
            </a:pPr>
            <a:r>
              <a:rPr lang="ko-KR" altLang="en-US" sz="1200" dirty="0" err="1">
                <a:latin typeface="+mn-ea"/>
              </a:rPr>
              <a:t>균등론</a:t>
            </a:r>
            <a:r>
              <a:rPr lang="en-US" altLang="ko-KR" sz="1200" dirty="0">
                <a:latin typeface="+mn-ea"/>
              </a:rPr>
              <a:t>(Doctrine Of Equivalents)</a:t>
            </a:r>
            <a:endParaRPr lang="ko-KR" altLang="en-US" sz="1200" dirty="0">
              <a:latin typeface="+mn-ea"/>
            </a:endParaRPr>
          </a:p>
        </p:txBody>
      </p:sp>
      <p:sp>
        <p:nvSpPr>
          <p:cNvPr id="15" name="모서리가 둥근 사각형 설명선 14"/>
          <p:cNvSpPr/>
          <p:nvPr/>
        </p:nvSpPr>
        <p:spPr>
          <a:xfrm>
            <a:off x="4390737" y="5093441"/>
            <a:ext cx="6810664" cy="1440160"/>
          </a:xfrm>
          <a:prstGeom prst="wedgeRoundRectCallout">
            <a:avLst>
              <a:gd name="adj1" fmla="val -31269"/>
              <a:gd name="adj2" fmla="val -104169"/>
              <a:gd name="adj3" fmla="val 16667"/>
            </a:avLst>
          </a:prstGeom>
          <a:ln w="12700">
            <a:solidFill>
              <a:schemeClr val="accent5"/>
            </a:solidFill>
          </a:ln>
        </p:spPr>
        <p:style>
          <a:lnRef idx="2">
            <a:schemeClr val="accent2"/>
          </a:lnRef>
          <a:fillRef idx="1">
            <a:schemeClr val="lt1"/>
          </a:fillRef>
          <a:effectRef idx="0">
            <a:schemeClr val="accent2"/>
          </a:effectRef>
          <a:fontRef idx="minor">
            <a:schemeClr val="dk1"/>
          </a:fontRef>
        </p:style>
        <p:txBody>
          <a:bodyPr rtlCol="0" anchor="ctr"/>
          <a:lstStyle/>
          <a:p>
            <a:pPr marL="85725" indent="-85725">
              <a:buFont typeface="Wingdings" pitchFamily="2" charset="2"/>
              <a:buChar char="§"/>
            </a:pPr>
            <a:r>
              <a:rPr lang="ko-KR" altLang="en-US" sz="1200" dirty="0">
                <a:latin typeface="+mn-ea"/>
              </a:rPr>
              <a:t>법률의 제한</a:t>
            </a:r>
            <a:endParaRPr lang="en-US" altLang="ko-KR" sz="1200" dirty="0">
              <a:latin typeface="+mn-ea"/>
            </a:endParaRPr>
          </a:p>
          <a:p>
            <a:pPr marL="257175" lvl="1" indent="-171450">
              <a:buFont typeface="옥션고딕 M" pitchFamily="2" charset="-127"/>
              <a:buChar char="-"/>
            </a:pPr>
            <a:r>
              <a:rPr lang="ko-KR" altLang="en-US" sz="1200" dirty="0">
                <a:latin typeface="+mn-ea"/>
              </a:rPr>
              <a:t>특허권의 효력이 미치는 아니하는 범위</a:t>
            </a:r>
            <a:r>
              <a:rPr lang="en-US" altLang="ko-KR" sz="1200" dirty="0">
                <a:latin typeface="+mn-ea"/>
              </a:rPr>
              <a:t>(</a:t>
            </a:r>
            <a:r>
              <a:rPr lang="ko-KR" altLang="en-US" sz="1200" dirty="0">
                <a:latin typeface="+mn-ea"/>
              </a:rPr>
              <a:t>法 </a:t>
            </a:r>
            <a:r>
              <a:rPr lang="en-US" altLang="ko-KR" sz="1200" dirty="0">
                <a:latin typeface="+mn-ea"/>
              </a:rPr>
              <a:t>96)</a:t>
            </a:r>
          </a:p>
          <a:p>
            <a:pPr marL="257175" lvl="1" indent="-171450">
              <a:buFont typeface="옥션고딕 M" pitchFamily="2" charset="-127"/>
              <a:buChar char="-"/>
            </a:pPr>
            <a:r>
              <a:rPr lang="ko-KR" altLang="en-US" sz="1200" dirty="0">
                <a:latin typeface="+mn-ea"/>
              </a:rPr>
              <a:t>특허료의 추가납부 또는 보전에 의하여 회복한 특허출원과 특허권의 효력 제한</a:t>
            </a:r>
            <a:r>
              <a:rPr lang="en-US" altLang="ko-KR" sz="1200" dirty="0">
                <a:latin typeface="+mn-ea"/>
              </a:rPr>
              <a:t>(</a:t>
            </a:r>
            <a:r>
              <a:rPr lang="ko-KR" altLang="en-US" sz="1200" dirty="0">
                <a:latin typeface="+mn-ea"/>
              </a:rPr>
              <a:t>法 </a:t>
            </a:r>
            <a:r>
              <a:rPr lang="en-US" altLang="ko-KR" sz="1200" dirty="0">
                <a:latin typeface="+mn-ea"/>
              </a:rPr>
              <a:t>81</a:t>
            </a:r>
            <a:r>
              <a:rPr lang="ko-KR" altLang="en-US" sz="1200" dirty="0">
                <a:latin typeface="+mn-ea"/>
              </a:rPr>
              <a:t>의</a:t>
            </a:r>
            <a:r>
              <a:rPr lang="en-US" altLang="ko-KR" sz="1200" dirty="0">
                <a:latin typeface="+mn-ea"/>
              </a:rPr>
              <a:t>3④)</a:t>
            </a:r>
          </a:p>
          <a:p>
            <a:pPr marL="257175" lvl="1" indent="-171450">
              <a:buFont typeface="옥션고딕 M" pitchFamily="2" charset="-127"/>
              <a:buChar char="-"/>
            </a:pPr>
            <a:r>
              <a:rPr lang="ko-KR" altLang="en-US" sz="1200" dirty="0">
                <a:latin typeface="+mn-ea"/>
              </a:rPr>
              <a:t>재심에 의하여 회복한 특허권의 효력의 제한</a:t>
            </a:r>
            <a:r>
              <a:rPr lang="en-US" altLang="ko-KR" sz="1200" dirty="0">
                <a:latin typeface="+mn-ea"/>
              </a:rPr>
              <a:t>(</a:t>
            </a:r>
            <a:r>
              <a:rPr lang="ko-KR" altLang="en-US" sz="1200" dirty="0">
                <a:latin typeface="+mn-ea"/>
              </a:rPr>
              <a:t>法 </a:t>
            </a:r>
            <a:r>
              <a:rPr lang="en-US" altLang="ko-KR" sz="1200" dirty="0">
                <a:latin typeface="+mn-ea"/>
              </a:rPr>
              <a:t>181)</a:t>
            </a:r>
          </a:p>
          <a:p>
            <a:pPr marL="85725" indent="-85725">
              <a:buFont typeface="Wingdings" pitchFamily="2" charset="2"/>
              <a:buChar char="§"/>
            </a:pPr>
            <a:r>
              <a:rPr lang="ko-KR" altLang="en-US" sz="1200" dirty="0">
                <a:latin typeface="+mn-ea"/>
              </a:rPr>
              <a:t>법률의 확장</a:t>
            </a:r>
            <a:endParaRPr lang="en-US" altLang="ko-KR" sz="1200" dirty="0">
              <a:latin typeface="+mn-ea"/>
            </a:endParaRPr>
          </a:p>
          <a:p>
            <a:pPr marL="266700" lvl="1" indent="-180975">
              <a:buFont typeface="옥션고딕 M" pitchFamily="2" charset="-127"/>
              <a:buChar char="-"/>
            </a:pPr>
            <a:r>
              <a:rPr lang="ko-KR" altLang="en-US" sz="1200" dirty="0">
                <a:latin typeface="+mn-ea"/>
              </a:rPr>
              <a:t>침해로 보는 행위</a:t>
            </a:r>
            <a:r>
              <a:rPr lang="en-US" altLang="ko-KR" sz="1200" dirty="0">
                <a:latin typeface="+mn-ea"/>
              </a:rPr>
              <a:t>(</a:t>
            </a:r>
            <a:r>
              <a:rPr lang="ko-KR" altLang="en-US" sz="1200" dirty="0">
                <a:latin typeface="+mn-ea"/>
              </a:rPr>
              <a:t>法 </a:t>
            </a:r>
            <a:r>
              <a:rPr lang="en-US" altLang="ko-KR" sz="1200" dirty="0">
                <a:latin typeface="+mn-ea"/>
              </a:rPr>
              <a:t>127)</a:t>
            </a:r>
            <a:endParaRPr lang="ko-KR" altLang="en-US" sz="1200" dirty="0">
              <a:latin typeface="+mn-ea"/>
            </a:endParaRPr>
          </a:p>
        </p:txBody>
      </p:sp>
      <p:sp>
        <p:nvSpPr>
          <p:cNvPr id="4" name="제목 3"/>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p:cNvSpPr>
            <a:spLocks noGrp="1"/>
          </p:cNvSpPr>
          <p:nvPr>
            <p:ph type="body" sz="quarter" idx="13"/>
          </p:nvPr>
        </p:nvSpPr>
        <p:spPr/>
        <p:txBody>
          <a:bodyPr/>
          <a:lstStyle/>
          <a:p>
            <a:r>
              <a:rPr lang="ko-KR" altLang="en-US" dirty="0">
                <a:solidFill>
                  <a:srgbClr val="525252"/>
                </a:solidFill>
              </a:rPr>
              <a:t>보호범위 판단 일반</a:t>
            </a:r>
          </a:p>
        </p:txBody>
      </p:sp>
      <p:sp>
        <p:nvSpPr>
          <p:cNvPr id="19" name="타원 18"/>
          <p:cNvSpPr/>
          <p:nvPr/>
        </p:nvSpPr>
        <p:spPr>
          <a:xfrm>
            <a:off x="2836804" y="4557891"/>
            <a:ext cx="347920" cy="349207"/>
          </a:xfrm>
          <a:prstGeom prst="ellipse">
            <a:avLst/>
          </a:prstGeom>
          <a:solidFill>
            <a:schemeClr val="tx1">
              <a:lumMod val="85000"/>
              <a:lumOff val="15000"/>
            </a:schemeClr>
          </a:solidFill>
        </p:spPr>
        <p:style>
          <a:lnRef idx="2">
            <a:schemeClr val="dk1"/>
          </a:lnRef>
          <a:fillRef idx="1">
            <a:schemeClr val="lt1"/>
          </a:fillRef>
          <a:effectRef idx="0">
            <a:schemeClr val="dk1"/>
          </a:effectRef>
          <a:fontRef idx="minor">
            <a:schemeClr val="dk1"/>
          </a:fontRef>
        </p:style>
        <p:txBody>
          <a:bodyPr rtlCol="0" anchor="ctr"/>
          <a:lstStyle/>
          <a:p>
            <a:pPr algn="ctr"/>
            <a:r>
              <a:rPr lang="en-US" altLang="ko-KR" dirty="0">
                <a:solidFill>
                  <a:srgbClr val="FFFF00"/>
                </a:solidFill>
              </a:rPr>
              <a:t>1</a:t>
            </a:r>
            <a:endParaRPr lang="ko-KR" altLang="en-US" dirty="0">
              <a:solidFill>
                <a:srgbClr val="FFFF00"/>
              </a:solidFill>
            </a:endParaRPr>
          </a:p>
        </p:txBody>
      </p:sp>
      <p:sp>
        <p:nvSpPr>
          <p:cNvPr id="20" name="타원 19"/>
          <p:cNvSpPr/>
          <p:nvPr/>
        </p:nvSpPr>
        <p:spPr>
          <a:xfrm>
            <a:off x="7954789" y="2459087"/>
            <a:ext cx="347920" cy="349207"/>
          </a:xfrm>
          <a:prstGeom prst="ellipse">
            <a:avLst/>
          </a:prstGeom>
          <a:solidFill>
            <a:schemeClr val="tx1">
              <a:lumMod val="85000"/>
              <a:lumOff val="15000"/>
            </a:schemeClr>
          </a:solidFill>
        </p:spPr>
        <p:style>
          <a:lnRef idx="2">
            <a:schemeClr val="dk1"/>
          </a:lnRef>
          <a:fillRef idx="1">
            <a:schemeClr val="lt1"/>
          </a:fillRef>
          <a:effectRef idx="0">
            <a:schemeClr val="dk1"/>
          </a:effectRef>
          <a:fontRef idx="minor">
            <a:schemeClr val="dk1"/>
          </a:fontRef>
        </p:style>
        <p:txBody>
          <a:bodyPr rtlCol="0" anchor="ctr"/>
          <a:lstStyle/>
          <a:p>
            <a:pPr algn="ctr"/>
            <a:r>
              <a:rPr lang="en-US" altLang="ko-KR" dirty="0">
                <a:solidFill>
                  <a:srgbClr val="FFFF00"/>
                </a:solidFill>
              </a:rPr>
              <a:t>2</a:t>
            </a:r>
            <a:endParaRPr lang="ko-KR" altLang="en-US" dirty="0">
              <a:solidFill>
                <a:srgbClr val="FFFF00"/>
              </a:solidFill>
            </a:endParaRPr>
          </a:p>
        </p:txBody>
      </p:sp>
      <p:sp>
        <p:nvSpPr>
          <p:cNvPr id="21" name="타원 20"/>
          <p:cNvSpPr/>
          <p:nvPr/>
        </p:nvSpPr>
        <p:spPr>
          <a:xfrm>
            <a:off x="5511214" y="4208684"/>
            <a:ext cx="347920" cy="349207"/>
          </a:xfrm>
          <a:prstGeom prst="ellipse">
            <a:avLst/>
          </a:prstGeom>
          <a:solidFill>
            <a:schemeClr val="tx1">
              <a:lumMod val="85000"/>
              <a:lumOff val="15000"/>
            </a:schemeClr>
          </a:solidFill>
        </p:spPr>
        <p:style>
          <a:lnRef idx="2">
            <a:schemeClr val="dk1"/>
          </a:lnRef>
          <a:fillRef idx="1">
            <a:schemeClr val="lt1"/>
          </a:fillRef>
          <a:effectRef idx="0">
            <a:schemeClr val="dk1"/>
          </a:effectRef>
          <a:fontRef idx="minor">
            <a:schemeClr val="dk1"/>
          </a:fontRef>
        </p:style>
        <p:txBody>
          <a:bodyPr rtlCol="0" anchor="ctr"/>
          <a:lstStyle/>
          <a:p>
            <a:pPr algn="ctr"/>
            <a:r>
              <a:rPr lang="en-US" altLang="ko-KR" dirty="0">
                <a:solidFill>
                  <a:srgbClr val="FFFF00"/>
                </a:solidFill>
              </a:rPr>
              <a:t>4</a:t>
            </a:r>
            <a:endParaRPr lang="ko-KR" altLang="en-US" dirty="0">
              <a:solidFill>
                <a:srgbClr val="FFFF00"/>
              </a:solidFill>
            </a:endParaRPr>
          </a:p>
        </p:txBody>
      </p:sp>
      <p:sp>
        <p:nvSpPr>
          <p:cNvPr id="22" name="타원 21"/>
          <p:cNvSpPr/>
          <p:nvPr/>
        </p:nvSpPr>
        <p:spPr>
          <a:xfrm>
            <a:off x="5070947" y="2808294"/>
            <a:ext cx="347920" cy="349207"/>
          </a:xfrm>
          <a:prstGeom prst="ellipse">
            <a:avLst/>
          </a:prstGeom>
          <a:solidFill>
            <a:schemeClr val="tx1">
              <a:lumMod val="85000"/>
              <a:lumOff val="15000"/>
            </a:schemeClr>
          </a:solidFill>
        </p:spPr>
        <p:style>
          <a:lnRef idx="2">
            <a:schemeClr val="dk1"/>
          </a:lnRef>
          <a:fillRef idx="1">
            <a:schemeClr val="lt1"/>
          </a:fillRef>
          <a:effectRef idx="0">
            <a:schemeClr val="dk1"/>
          </a:effectRef>
          <a:fontRef idx="minor">
            <a:schemeClr val="dk1"/>
          </a:fontRef>
        </p:style>
        <p:txBody>
          <a:bodyPr rtlCol="0" anchor="ctr"/>
          <a:lstStyle/>
          <a:p>
            <a:pPr algn="ctr"/>
            <a:r>
              <a:rPr lang="en-US" altLang="ko-KR" dirty="0">
                <a:solidFill>
                  <a:srgbClr val="FFFF00"/>
                </a:solidFill>
              </a:rPr>
              <a:t>3</a:t>
            </a:r>
            <a:endParaRPr lang="ko-KR" altLang="en-US" dirty="0">
              <a:solidFill>
                <a:srgbClr val="FFFF00"/>
              </a:solidFill>
            </a:endParaRPr>
          </a:p>
        </p:txBody>
      </p:sp>
      <p:sp>
        <p:nvSpPr>
          <p:cNvPr id="2" name="슬라이드 번호 개체 틀 1"/>
          <p:cNvSpPr>
            <a:spLocks noGrp="1"/>
          </p:cNvSpPr>
          <p:nvPr>
            <p:ph type="sldNum" sz="quarter" idx="12"/>
          </p:nvPr>
        </p:nvSpPr>
        <p:spPr/>
        <p:txBody>
          <a:bodyPr/>
          <a:lstStyle/>
          <a:p>
            <a:r>
              <a:rPr lang="en-US" altLang="ko-KR"/>
              <a:t>321</a:t>
            </a:r>
            <a:endParaRPr lang="ko-KR" altLang="en-US"/>
          </a:p>
        </p:txBody>
      </p:sp>
      <p:sp>
        <p:nvSpPr>
          <p:cNvPr id="18" name="타원 17">
            <a:extLst>
              <a:ext uri="{FF2B5EF4-FFF2-40B4-BE49-F238E27FC236}">
                <a16:creationId xmlns:a16="http://schemas.microsoft.com/office/drawing/2014/main" id="{FC1C6DF0-8FAD-489C-8CAE-37AF35D28651}"/>
              </a:ext>
            </a:extLst>
          </p:cNvPr>
          <p:cNvSpPr/>
          <p:nvPr/>
        </p:nvSpPr>
        <p:spPr>
          <a:xfrm>
            <a:off x="1746614" y="1039415"/>
            <a:ext cx="347920" cy="349207"/>
          </a:xfrm>
          <a:prstGeom prst="ellipse">
            <a:avLst/>
          </a:prstGeom>
          <a:solidFill>
            <a:schemeClr val="tx1">
              <a:lumMod val="85000"/>
              <a:lumOff val="15000"/>
            </a:schemeClr>
          </a:solidFill>
        </p:spPr>
        <p:style>
          <a:lnRef idx="2">
            <a:schemeClr val="dk1"/>
          </a:lnRef>
          <a:fillRef idx="1">
            <a:schemeClr val="lt1"/>
          </a:fillRef>
          <a:effectRef idx="0">
            <a:schemeClr val="dk1"/>
          </a:effectRef>
          <a:fontRef idx="minor">
            <a:schemeClr val="dk1"/>
          </a:fontRef>
        </p:style>
        <p:txBody>
          <a:bodyPr rtlCol="0" anchor="ctr"/>
          <a:lstStyle/>
          <a:p>
            <a:pPr algn="ctr"/>
            <a:r>
              <a:rPr lang="en-US" altLang="ko-KR" dirty="0">
                <a:solidFill>
                  <a:srgbClr val="FFFF00"/>
                </a:solidFill>
              </a:rPr>
              <a:t>0</a:t>
            </a:r>
            <a:endParaRPr lang="ko-KR" altLang="en-US" dirty="0">
              <a:solidFill>
                <a:srgbClr val="FFFF00"/>
              </a:solidFill>
            </a:endParaRPr>
          </a:p>
        </p:txBody>
      </p:sp>
      <p:sp>
        <p:nvSpPr>
          <p:cNvPr id="6" name="직사각형 5">
            <a:extLst>
              <a:ext uri="{FF2B5EF4-FFF2-40B4-BE49-F238E27FC236}">
                <a16:creationId xmlns:a16="http://schemas.microsoft.com/office/drawing/2014/main" id="{1A4DCEFA-96B8-4881-A312-CE93ABAF22E0}"/>
              </a:ext>
            </a:extLst>
          </p:cNvPr>
          <p:cNvSpPr/>
          <p:nvPr/>
        </p:nvSpPr>
        <p:spPr>
          <a:xfrm>
            <a:off x="2094534" y="1039415"/>
            <a:ext cx="2329485" cy="369332"/>
          </a:xfrm>
          <a:prstGeom prst="rect">
            <a:avLst/>
          </a:prstGeom>
        </p:spPr>
        <p:txBody>
          <a:bodyPr wrap="none">
            <a:spAutoFit/>
          </a:bodyPr>
          <a:lstStyle/>
          <a:p>
            <a:pPr algn="ctr">
              <a:buFont typeface="Wingdings" pitchFamily="2" charset="2"/>
              <a:buNone/>
              <a:defRPr/>
            </a:pPr>
            <a:r>
              <a:rPr lang="ko-KR" altLang="en-US" dirty="0">
                <a:solidFill>
                  <a:srgbClr val="1C1C1C"/>
                </a:solidFill>
                <a:latin typeface="+mn-ea"/>
              </a:rPr>
              <a:t>자유실시기술인지 판단</a:t>
            </a:r>
          </a:p>
        </p:txBody>
      </p:sp>
    </p:spTree>
    <p:extLst>
      <p:ext uri="{BB962C8B-B14F-4D97-AF65-F5344CB8AC3E}">
        <p14:creationId xmlns:p14="http://schemas.microsoft.com/office/powerpoint/2010/main" val="786874744"/>
      </p:ext>
    </p:extLst>
  </p:cSld>
  <p:clrMapOvr>
    <a:masterClrMapping/>
  </p:clrMapOvr>
  <p:transition/>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p:cNvSpPr>
            <a:spLocks noGrp="1"/>
          </p:cNvSpPr>
          <p:nvPr>
            <p:ph type="body" sz="quarter" idx="13"/>
          </p:nvPr>
        </p:nvSpPr>
        <p:spPr/>
        <p:txBody>
          <a:bodyPr/>
          <a:lstStyle/>
          <a:p>
            <a:r>
              <a:rPr lang="ko-KR" altLang="en-US" dirty="0"/>
              <a:t>특허발명의 특정</a:t>
            </a:r>
          </a:p>
        </p:txBody>
      </p:sp>
      <p:sp>
        <p:nvSpPr>
          <p:cNvPr id="3" name="슬라이드 번호 개체 틀 2"/>
          <p:cNvSpPr>
            <a:spLocks noGrp="1"/>
          </p:cNvSpPr>
          <p:nvPr>
            <p:ph type="sldNum" sz="quarter" idx="4294967295"/>
          </p:nvPr>
        </p:nvSpPr>
        <p:spPr>
          <a:xfrm>
            <a:off x="11125200" y="0"/>
            <a:ext cx="1066800" cy="744538"/>
          </a:xfrm>
        </p:spPr>
        <p:txBody>
          <a:bodyPr/>
          <a:lstStyle/>
          <a:p>
            <a:r>
              <a:rPr lang="en-US" altLang="ko-KR"/>
              <a:t>322</a:t>
            </a:r>
            <a:endParaRPr lang="ko-KR" altLang="en-US"/>
          </a:p>
        </p:txBody>
      </p:sp>
      <p:cxnSp>
        <p:nvCxnSpPr>
          <p:cNvPr id="16" name="직선 연결선 15"/>
          <p:cNvCxnSpPr/>
          <p:nvPr/>
        </p:nvCxnSpPr>
        <p:spPr>
          <a:xfrm>
            <a:off x="0" y="192970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77875" y="976902"/>
            <a:ext cx="11936323" cy="954107"/>
          </a:xfrm>
          <a:prstGeom prst="rect">
            <a:avLst/>
          </a:prstGeom>
          <a:noFill/>
        </p:spPr>
        <p:txBody>
          <a:bodyPr wrap="square" rtlCol="0">
            <a:spAutoFit/>
          </a:bodyPr>
          <a:lstStyle/>
          <a:p>
            <a:pPr fontAlgn="base"/>
            <a:r>
              <a:rPr lang="ko-KR" altLang="en-US" sz="1400" dirty="0">
                <a:solidFill>
                  <a:schemeClr val="tx2"/>
                </a:solidFill>
              </a:rPr>
              <a:t>특허발명의 보호범위는 청구범위에 적혀 있는 사항에 의하여 정하여진다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97). </a:t>
            </a:r>
            <a:r>
              <a:rPr lang="ko-KR" altLang="en-US" sz="1400" dirty="0">
                <a:solidFill>
                  <a:schemeClr val="tx2"/>
                </a:solidFill>
              </a:rPr>
              <a:t>이는 특허발명의 보호범위가 청구범위에 기재된 그대로 정해진다는 의미는 아니며</a:t>
            </a:r>
            <a:r>
              <a:rPr lang="en-US" altLang="ko-KR" sz="1400" dirty="0">
                <a:solidFill>
                  <a:schemeClr val="tx2"/>
                </a:solidFill>
              </a:rPr>
              <a:t>, </a:t>
            </a:r>
            <a:r>
              <a:rPr lang="ko-KR" altLang="en-US" sz="1400" dirty="0">
                <a:solidFill>
                  <a:schemeClr val="tx2"/>
                </a:solidFill>
              </a:rPr>
              <a:t>발명의 </a:t>
            </a:r>
            <a:r>
              <a:rPr lang="ko-KR" altLang="en-US" sz="1400" dirty="0" err="1">
                <a:solidFill>
                  <a:schemeClr val="tx2"/>
                </a:solidFill>
              </a:rPr>
              <a:t>설명ㆍ도면의</a:t>
            </a:r>
            <a:r>
              <a:rPr lang="ko-KR" altLang="en-US" sz="1400" dirty="0">
                <a:solidFill>
                  <a:schemeClr val="tx2"/>
                </a:solidFill>
              </a:rPr>
              <a:t> 참작과 함께 출원 당시의 기술수준</a:t>
            </a:r>
            <a:r>
              <a:rPr lang="en-US" altLang="ko-KR" sz="1400" dirty="0">
                <a:solidFill>
                  <a:schemeClr val="tx2"/>
                </a:solidFill>
              </a:rPr>
              <a:t>, </a:t>
            </a:r>
            <a:r>
              <a:rPr lang="ko-KR" altLang="en-US" sz="1400" dirty="0">
                <a:solidFill>
                  <a:schemeClr val="tx2"/>
                </a:solidFill>
              </a:rPr>
              <a:t>출원의 경과 및 특허권의 하자 등을 참작하여 해석된 청구범위가 특허발명의 보호범위결정의 기준이 된다는 의미이다</a:t>
            </a:r>
            <a:r>
              <a:rPr lang="en-US" altLang="ko-KR" sz="1400" dirty="0">
                <a:solidFill>
                  <a:schemeClr val="tx2"/>
                </a:solidFill>
              </a:rPr>
              <a:t>. </a:t>
            </a:r>
            <a:r>
              <a:rPr lang="ko-KR" altLang="en-US" sz="1400" dirty="0">
                <a:solidFill>
                  <a:schemeClr val="tx2"/>
                </a:solidFill>
              </a:rPr>
              <a:t>즉 특허발명을 특정할 때에는 청구범위 기준의 원칙</a:t>
            </a:r>
            <a:r>
              <a:rPr lang="en-US" altLang="ko-KR" sz="1400" dirty="0">
                <a:solidFill>
                  <a:schemeClr val="tx2"/>
                </a:solidFill>
              </a:rPr>
              <a:t>, </a:t>
            </a:r>
            <a:r>
              <a:rPr lang="ko-KR" altLang="en-US" sz="1400" dirty="0">
                <a:solidFill>
                  <a:schemeClr val="tx2"/>
                </a:solidFill>
              </a:rPr>
              <a:t>발명의 설명 참작의 원칙</a:t>
            </a:r>
            <a:r>
              <a:rPr lang="en-US" altLang="ko-KR" sz="1400" dirty="0">
                <a:solidFill>
                  <a:schemeClr val="tx2"/>
                </a:solidFill>
              </a:rPr>
              <a:t>, </a:t>
            </a:r>
            <a:r>
              <a:rPr lang="ko-KR" altLang="en-US" sz="1400" dirty="0">
                <a:solidFill>
                  <a:schemeClr val="tx2"/>
                </a:solidFill>
              </a:rPr>
              <a:t>공지기술 참작의 원칙</a:t>
            </a:r>
            <a:r>
              <a:rPr lang="en-US" altLang="ko-KR" sz="1400" dirty="0">
                <a:solidFill>
                  <a:schemeClr val="tx2"/>
                </a:solidFill>
              </a:rPr>
              <a:t>, </a:t>
            </a:r>
            <a:r>
              <a:rPr lang="ko-KR" altLang="en-US" sz="1400" dirty="0">
                <a:solidFill>
                  <a:schemeClr val="tx2"/>
                </a:solidFill>
              </a:rPr>
              <a:t>출원 경과 참작의 원칙 및 특허권 하자 참작의 원칙 등이 고려된다</a:t>
            </a:r>
            <a:r>
              <a:rPr lang="en-US" altLang="ko-KR" sz="1400" dirty="0">
                <a:solidFill>
                  <a:schemeClr val="tx2"/>
                </a:solidFill>
              </a:rPr>
              <a:t>.</a:t>
            </a:r>
            <a:endParaRPr lang="ko-KR" altLang="en-US" sz="1400" dirty="0">
              <a:solidFill>
                <a:schemeClr val="tx2"/>
              </a:solidFill>
            </a:endParaRPr>
          </a:p>
        </p:txBody>
      </p:sp>
      <p:graphicFrame>
        <p:nvGraphicFramePr>
          <p:cNvPr id="2" name="표 1"/>
          <p:cNvGraphicFramePr>
            <a:graphicFrameLocks noGrp="1"/>
          </p:cNvGraphicFramePr>
          <p:nvPr/>
        </p:nvGraphicFramePr>
        <p:xfrm>
          <a:off x="330201" y="2122566"/>
          <a:ext cx="11489266" cy="4352577"/>
        </p:xfrm>
        <a:graphic>
          <a:graphicData uri="http://schemas.openxmlformats.org/drawingml/2006/table">
            <a:tbl>
              <a:tblPr>
                <a:tableStyleId>{8799B23B-EC83-4686-B30A-512413B5E67A}</a:tableStyleId>
              </a:tblPr>
              <a:tblGrid>
                <a:gridCol w="1677050">
                  <a:extLst>
                    <a:ext uri="{9D8B030D-6E8A-4147-A177-3AD203B41FA5}">
                      <a16:colId xmlns:a16="http://schemas.microsoft.com/office/drawing/2014/main" val="20000"/>
                    </a:ext>
                  </a:extLst>
                </a:gridCol>
                <a:gridCol w="9812216">
                  <a:extLst>
                    <a:ext uri="{9D8B030D-6E8A-4147-A177-3AD203B41FA5}">
                      <a16:colId xmlns:a16="http://schemas.microsoft.com/office/drawing/2014/main" val="20001"/>
                    </a:ext>
                  </a:extLst>
                </a:gridCol>
              </a:tblGrid>
              <a:tr h="456141">
                <a:tc>
                  <a:txBody>
                    <a:bodyPr/>
                    <a:lstStyle/>
                    <a:p>
                      <a:pPr marL="0" marR="0" indent="0" algn="ctr" fontAlgn="base" latinLnBrk="0">
                        <a:lnSpc>
                          <a:spcPct val="120000"/>
                        </a:lnSpc>
                        <a:spcBef>
                          <a:spcPts val="0"/>
                        </a:spcBef>
                        <a:spcAft>
                          <a:spcPts val="0"/>
                        </a:spcAft>
                      </a:pPr>
                      <a:r>
                        <a:rPr lang="ko-KR" altLang="en-US" sz="1100" kern="1200" dirty="0"/>
                        <a:t>청구범위 기준 원칙</a:t>
                      </a:r>
                      <a:endParaRPr lang="ko-KR" altLang="en-US" sz="11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177800" indent="-177800" fontAlgn="base" latinLnBrk="1">
                        <a:buFontTx/>
                        <a:buChar char="-"/>
                      </a:pPr>
                      <a:r>
                        <a:rPr lang="ko-KR" altLang="en-US" sz="1100" kern="1200" dirty="0">
                          <a:solidFill>
                            <a:schemeClr val="tx1"/>
                          </a:solidFill>
                          <a:effectLst/>
                          <a:latin typeface="+mn-lt"/>
                          <a:ea typeface="+mn-ea"/>
                          <a:cs typeface="+mn-cs"/>
                        </a:rPr>
                        <a:t>발명의 설명에 적혀 있는 발명일지라도 청구범위에 포함되지 아니한 것은 특허발명의 보호범위에 속하지 않음 </a:t>
                      </a:r>
                      <a:endParaRPr lang="en-US" altLang="ko-KR" sz="1100" kern="1200" dirty="0">
                        <a:solidFill>
                          <a:schemeClr val="tx1"/>
                        </a:solidFill>
                        <a:effectLst/>
                        <a:latin typeface="+mn-lt"/>
                        <a:ea typeface="+mn-ea"/>
                        <a:cs typeface="+mn-cs"/>
                      </a:endParaRPr>
                    </a:p>
                    <a:p>
                      <a:pPr marL="171450" indent="-171450" fontAlgn="base" latinLnBrk="1">
                        <a:buFontTx/>
                        <a:buChar char="-"/>
                      </a:pPr>
                      <a:r>
                        <a:rPr lang="ko-KR" altLang="en-US" sz="1100" kern="1200" dirty="0" err="1"/>
                        <a:t>청구항별로</a:t>
                      </a:r>
                      <a:r>
                        <a:rPr lang="ko-KR" altLang="en-US" sz="1100" kern="1200" dirty="0"/>
                        <a:t> 독립적으로 보호범위를 판단하고</a:t>
                      </a:r>
                      <a:r>
                        <a:rPr lang="en-US" altLang="ko-KR" sz="1100" kern="1200" dirty="0"/>
                        <a:t>, </a:t>
                      </a:r>
                      <a:r>
                        <a:rPr lang="ko-KR" altLang="en-US" sz="1100" kern="1200" dirty="0"/>
                        <a:t>하나의 청구항의 보호범위에 포함된다면 그 특허발명의 보호범위에 속함</a:t>
                      </a:r>
                      <a:endParaRPr lang="ko-KR" altLang="en-US" sz="1100" kern="1200" dirty="0">
                        <a:solidFill>
                          <a:schemeClr val="tx2"/>
                        </a:solidFill>
                        <a:latin typeface="+mn-lt"/>
                        <a:ea typeface="+mn-ea"/>
                        <a:cs typeface="+mn-cs"/>
                      </a:endParaRPr>
                    </a:p>
                  </a:txBody>
                  <a:tcPr marL="72000" marR="72000" marT="17907" marB="17907" anchor="ctr"/>
                </a:tc>
                <a:extLst>
                  <a:ext uri="{0D108BD9-81ED-4DB2-BD59-A6C34878D82A}">
                    <a16:rowId xmlns:a16="http://schemas.microsoft.com/office/drawing/2014/main" val="10000"/>
                  </a:ext>
                </a:extLst>
              </a:tr>
              <a:tr h="1759155">
                <a:tc>
                  <a:txBody>
                    <a:bodyPr/>
                    <a:lstStyle/>
                    <a:p>
                      <a:pPr marL="0" marR="0" indent="0" algn="ctr" fontAlgn="base" latinLnBrk="0">
                        <a:lnSpc>
                          <a:spcPct val="120000"/>
                        </a:lnSpc>
                        <a:spcBef>
                          <a:spcPts val="0"/>
                        </a:spcBef>
                        <a:spcAft>
                          <a:spcPts val="0"/>
                        </a:spcAft>
                      </a:pPr>
                      <a:r>
                        <a:rPr lang="ko-KR" altLang="en-US" sz="1100" kern="1200" dirty="0"/>
                        <a:t>발명의 설명 </a:t>
                      </a:r>
                    </a:p>
                    <a:p>
                      <a:pPr marL="0" marR="0" indent="0" algn="ctr" fontAlgn="base" latinLnBrk="0">
                        <a:lnSpc>
                          <a:spcPct val="120000"/>
                        </a:lnSpc>
                        <a:spcBef>
                          <a:spcPts val="0"/>
                        </a:spcBef>
                        <a:spcAft>
                          <a:spcPts val="0"/>
                        </a:spcAft>
                      </a:pPr>
                      <a:r>
                        <a:rPr lang="ko-KR" altLang="en-US" sz="1100" kern="1200" dirty="0"/>
                        <a:t>참작 원칙</a:t>
                      </a:r>
                      <a:endParaRPr lang="ko-KR" altLang="en-US" sz="11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203200" marR="31750" indent="-171450" algn="l" fontAlgn="base" latinLnBrk="1">
                        <a:lnSpc>
                          <a:spcPct val="120000"/>
                        </a:lnSpc>
                        <a:spcBef>
                          <a:spcPts val="0"/>
                        </a:spcBef>
                        <a:spcAft>
                          <a:spcPts val="0"/>
                        </a:spcAft>
                        <a:buFontTx/>
                        <a:buChar char="-"/>
                      </a:pPr>
                      <a:r>
                        <a:rPr lang="ko-KR" altLang="en-US" sz="1100" kern="1200" dirty="0">
                          <a:solidFill>
                            <a:srgbClr val="FF0000"/>
                          </a:solidFill>
                        </a:rPr>
                        <a:t>특별한 사정이 없는 한</a:t>
                      </a:r>
                      <a:r>
                        <a:rPr lang="ko-KR" altLang="en-US" sz="1100" kern="1200" dirty="0"/>
                        <a:t> 발명의 설명이나 도면 등에 의하여 청구범위를 제한하거나 확장하여 해석하는 것은 허용되지 않지만</a:t>
                      </a:r>
                      <a:r>
                        <a:rPr lang="en-US" altLang="ko-KR" sz="1100" kern="1200" dirty="0"/>
                        <a:t>, </a:t>
                      </a:r>
                      <a:r>
                        <a:rPr lang="ko-KR" altLang="en-US" sz="1100" kern="1200" dirty="0"/>
                        <a:t>청구범위에 적혀 있는 사항은 발명의 설명이나 도면 등을 참작하여야 그 기술적인 의미를 정확하게 이해할 수 있으므로</a:t>
                      </a:r>
                      <a:r>
                        <a:rPr lang="en-US" altLang="ko-KR" sz="1100" kern="1200" dirty="0"/>
                        <a:t>, </a:t>
                      </a:r>
                      <a:r>
                        <a:rPr lang="ko-KR" altLang="en-US" sz="1100" kern="1200" dirty="0"/>
                        <a:t>청구범위에 적혀 있는 사항의 해석은 그 문언의 일반적인 의미내용을 기초로 하면서도 발명의 설명 및 도면 등을 참작하여 그 문언에 의하여 표현하려는 기술적 의의를 고찰한 다음 객관적</a:t>
                      </a:r>
                      <a:r>
                        <a:rPr lang="en-US" altLang="ko-KR" sz="1100" kern="1200" dirty="0"/>
                        <a:t>, </a:t>
                      </a:r>
                      <a:r>
                        <a:rPr lang="ko-KR" altLang="en-US" sz="1100" kern="1200" dirty="0"/>
                        <a:t>합리적으로 하여야 한다</a:t>
                      </a:r>
                      <a:r>
                        <a:rPr lang="en-US" altLang="ko-KR" sz="1100" kern="1200" dirty="0"/>
                        <a:t>.</a:t>
                      </a:r>
                    </a:p>
                    <a:p>
                      <a:pPr marL="31750" marR="31750" indent="0" algn="l" fontAlgn="base" latinLnBrk="1">
                        <a:lnSpc>
                          <a:spcPct val="120000"/>
                        </a:lnSpc>
                        <a:spcBef>
                          <a:spcPts val="0"/>
                        </a:spcBef>
                        <a:spcAft>
                          <a:spcPts val="0"/>
                        </a:spcAft>
                        <a:buFontTx/>
                        <a:buNone/>
                      </a:pPr>
                      <a:endParaRPr lang="en-US" altLang="ko-KR" sz="1100" kern="1200" dirty="0"/>
                    </a:p>
                    <a:p>
                      <a:pPr marL="31750" marR="31750" indent="0" algn="l" fontAlgn="base" latinLnBrk="1">
                        <a:lnSpc>
                          <a:spcPct val="120000"/>
                        </a:lnSpc>
                        <a:spcBef>
                          <a:spcPts val="0"/>
                        </a:spcBef>
                        <a:spcAft>
                          <a:spcPts val="0"/>
                        </a:spcAft>
                        <a:buFontTx/>
                        <a:buNone/>
                      </a:pPr>
                      <a:r>
                        <a:rPr lang="ko-KR" altLang="en-US" sz="1100" kern="1200" dirty="0"/>
                        <a:t>* </a:t>
                      </a:r>
                      <a:r>
                        <a:rPr lang="ko-KR" altLang="en-US" sz="1100" kern="1200" dirty="0" err="1"/>
                        <a:t>제한해석되는</a:t>
                      </a:r>
                      <a:r>
                        <a:rPr lang="ko-KR" altLang="en-US" sz="1100" kern="1200" dirty="0"/>
                        <a:t> 특별한 사정</a:t>
                      </a:r>
                      <a:r>
                        <a:rPr lang="en-US" altLang="ko-KR" sz="1100" kern="1200" dirty="0">
                          <a:solidFill>
                            <a:srgbClr val="FF0000"/>
                          </a:solidFill>
                        </a:rPr>
                        <a:t>(</a:t>
                      </a:r>
                      <a:r>
                        <a:rPr lang="ko-KR" altLang="en-US" sz="1100" kern="1200" dirty="0">
                          <a:solidFill>
                            <a:srgbClr val="FF0000"/>
                          </a:solidFill>
                        </a:rPr>
                        <a:t>진실로 발명하지 않은 부분까지 보호범위를 인정하는 것은 제</a:t>
                      </a:r>
                      <a:r>
                        <a:rPr lang="en-US" altLang="ko-KR" sz="1100" kern="1200" dirty="0">
                          <a:solidFill>
                            <a:srgbClr val="FF0000"/>
                          </a:solidFill>
                        </a:rPr>
                        <a:t>3</a:t>
                      </a:r>
                      <a:r>
                        <a:rPr lang="ko-KR" altLang="en-US" sz="1100" kern="1200" dirty="0">
                          <a:solidFill>
                            <a:srgbClr val="FF0000"/>
                          </a:solidFill>
                        </a:rPr>
                        <a:t>자에게 </a:t>
                      </a:r>
                      <a:r>
                        <a:rPr lang="ko-KR" altLang="en-US" sz="1100" kern="1200" dirty="0" err="1">
                          <a:solidFill>
                            <a:srgbClr val="FF0000"/>
                          </a:solidFill>
                        </a:rPr>
                        <a:t>불측의</a:t>
                      </a:r>
                      <a:r>
                        <a:rPr lang="ko-KR" altLang="en-US" sz="1100" kern="1200" dirty="0">
                          <a:solidFill>
                            <a:srgbClr val="FF0000"/>
                          </a:solidFill>
                        </a:rPr>
                        <a:t> 손해를 줄 수 있음</a:t>
                      </a:r>
                      <a:r>
                        <a:rPr lang="en-US" altLang="ko-KR" sz="1100" kern="1200" dirty="0">
                          <a:solidFill>
                            <a:srgbClr val="FF0000"/>
                          </a:solidFill>
                        </a:rPr>
                        <a:t>) - </a:t>
                      </a:r>
                      <a:r>
                        <a:rPr lang="ko-KR" altLang="en-US" sz="1100" kern="1200" dirty="0">
                          <a:highlight>
                            <a:srgbClr val="FFFF00"/>
                          </a:highlight>
                        </a:rPr>
                        <a:t>기능적 표현으로 되어 있는 청구항</a:t>
                      </a:r>
                      <a:endParaRPr lang="ko-KR" altLang="en-US" sz="1100" kern="1200" dirty="0">
                        <a:solidFill>
                          <a:srgbClr val="FF0000"/>
                        </a:solidFill>
                      </a:endParaRPr>
                    </a:p>
                    <a:p>
                      <a:pPr marL="140970" marR="31750" indent="-140970" algn="l" fontAlgn="base" latinLnBrk="1">
                        <a:lnSpc>
                          <a:spcPct val="120000"/>
                        </a:lnSpc>
                        <a:spcBef>
                          <a:spcPts val="0"/>
                        </a:spcBef>
                        <a:spcAft>
                          <a:spcPts val="0"/>
                        </a:spcAft>
                      </a:pPr>
                      <a:r>
                        <a:rPr lang="ko-KR" altLang="en-US" sz="1100" kern="1200" dirty="0"/>
                        <a:t>  ① 문언 그대로 해석하는 것이 명백히 불합리한 경우 </a:t>
                      </a:r>
                      <a:r>
                        <a:rPr lang="en-US" altLang="ko-KR" sz="1100" kern="1200" dirty="0"/>
                        <a:t>– </a:t>
                      </a:r>
                    </a:p>
                    <a:p>
                      <a:pPr marL="233363" marR="31750" indent="-233363" algn="l" fontAlgn="base" latinLnBrk="1">
                        <a:lnSpc>
                          <a:spcPct val="120000"/>
                        </a:lnSpc>
                        <a:spcBef>
                          <a:spcPts val="0"/>
                        </a:spcBef>
                        <a:spcAft>
                          <a:spcPts val="0"/>
                        </a:spcAft>
                      </a:pPr>
                      <a:r>
                        <a:rPr lang="en-US" altLang="ko-KR" sz="1100" kern="1200" dirty="0"/>
                        <a:t>  </a:t>
                      </a:r>
                      <a:r>
                        <a:rPr lang="ko-KR" altLang="en-US" sz="1100" kern="1200" dirty="0"/>
                        <a:t>② 발명의 설명에 의하여 보충을 하더라도 기술적 범위를 확정할 수 없는 경우  발명의 설명 또는 도면에 의하여 뒷받침되는 범위내로</a:t>
                      </a:r>
                      <a:r>
                        <a:rPr lang="en-US" altLang="ko-KR" sz="1100" kern="1200" dirty="0">
                          <a:solidFill>
                            <a:srgbClr val="FF0000"/>
                          </a:solidFill>
                        </a:rPr>
                        <a:t>(</a:t>
                      </a:r>
                      <a:r>
                        <a:rPr lang="ko-KR" altLang="en-US" sz="1100" kern="1200" dirty="0">
                          <a:solidFill>
                            <a:srgbClr val="FF0000"/>
                          </a:solidFill>
                        </a:rPr>
                        <a:t>단</a:t>
                      </a:r>
                      <a:r>
                        <a:rPr lang="en-US" altLang="ko-KR" sz="1100" kern="1200" dirty="0">
                          <a:solidFill>
                            <a:srgbClr val="FF0000"/>
                          </a:solidFill>
                        </a:rPr>
                        <a:t>,</a:t>
                      </a:r>
                      <a:r>
                        <a:rPr lang="ko-KR" altLang="en-US" sz="1100" kern="1200" dirty="0">
                          <a:solidFill>
                            <a:srgbClr val="FF0000"/>
                          </a:solidFill>
                        </a:rPr>
                        <a:t> 발명의 설명에 의하더라도 구성요소 일부가 추상적이거나 불분명하여 도저히 그 발명 자체의 기술적 범위를 특정할 수 없으면 보호범위 불인정</a:t>
                      </a:r>
                      <a:r>
                        <a:rPr lang="en-US" altLang="ko-KR" sz="1100" kern="1200" dirty="0">
                          <a:solidFill>
                            <a:srgbClr val="FF0000"/>
                          </a:solidFill>
                        </a:rPr>
                        <a:t>)</a:t>
                      </a:r>
                    </a:p>
                    <a:p>
                      <a:pPr marL="140970" marR="31750" indent="-140970" algn="l" fontAlgn="base" latinLnBrk="1">
                        <a:lnSpc>
                          <a:spcPct val="120000"/>
                        </a:lnSpc>
                        <a:spcBef>
                          <a:spcPts val="0"/>
                        </a:spcBef>
                        <a:spcAft>
                          <a:spcPts val="0"/>
                        </a:spcAft>
                      </a:pPr>
                      <a:r>
                        <a:rPr lang="en-US" altLang="ko-KR" sz="1100" kern="1200" dirty="0">
                          <a:solidFill>
                            <a:srgbClr val="FF0000"/>
                          </a:solidFill>
                          <a:latin typeface="+mn-lt"/>
                          <a:ea typeface="+mn-ea"/>
                          <a:cs typeface="+mn-cs"/>
                        </a:rPr>
                        <a:t>Cf) </a:t>
                      </a:r>
                      <a:r>
                        <a:rPr lang="ko-KR" altLang="en-US" sz="1100" kern="1200" dirty="0" err="1">
                          <a:solidFill>
                            <a:srgbClr val="FF0000"/>
                          </a:solidFill>
                          <a:latin typeface="+mn-lt"/>
                          <a:ea typeface="+mn-ea"/>
                          <a:cs typeface="+mn-cs"/>
                        </a:rPr>
                        <a:t>확장해석되는</a:t>
                      </a:r>
                      <a:r>
                        <a:rPr lang="ko-KR" altLang="en-US" sz="1100" kern="1200" dirty="0">
                          <a:solidFill>
                            <a:srgbClr val="FF0000"/>
                          </a:solidFill>
                          <a:latin typeface="+mn-lt"/>
                          <a:ea typeface="+mn-ea"/>
                          <a:cs typeface="+mn-cs"/>
                        </a:rPr>
                        <a:t> 사례는 아직 없음</a:t>
                      </a:r>
                    </a:p>
                  </a:txBody>
                  <a:tcPr marL="72000" marR="72000" marT="17907" marB="17907" anchor="ctr"/>
                </a:tc>
                <a:extLst>
                  <a:ext uri="{0D108BD9-81ED-4DB2-BD59-A6C34878D82A}">
                    <a16:rowId xmlns:a16="http://schemas.microsoft.com/office/drawing/2014/main" val="10001"/>
                  </a:ext>
                </a:extLst>
              </a:tr>
              <a:tr h="1017341">
                <a:tc>
                  <a:txBody>
                    <a:bodyPr/>
                    <a:lstStyle/>
                    <a:p>
                      <a:pPr marL="0" marR="0" indent="0" algn="ctr" fontAlgn="base" latinLnBrk="0">
                        <a:lnSpc>
                          <a:spcPct val="120000"/>
                        </a:lnSpc>
                        <a:spcBef>
                          <a:spcPts val="0"/>
                        </a:spcBef>
                        <a:spcAft>
                          <a:spcPts val="0"/>
                        </a:spcAft>
                      </a:pPr>
                      <a:r>
                        <a:rPr lang="ko-KR" altLang="en-US" sz="1100" kern="1200" dirty="0"/>
                        <a:t>공지기술 참작 원칙</a:t>
                      </a:r>
                      <a:endParaRPr lang="ko-KR" altLang="en-US" sz="11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203200" marR="31750" indent="-171450" algn="l" fontAlgn="base" latinLnBrk="1">
                        <a:lnSpc>
                          <a:spcPct val="120000"/>
                        </a:lnSpc>
                        <a:spcBef>
                          <a:spcPts val="0"/>
                        </a:spcBef>
                        <a:spcAft>
                          <a:spcPts val="0"/>
                        </a:spcAft>
                        <a:buFontTx/>
                        <a:buChar char="-"/>
                      </a:pPr>
                      <a:r>
                        <a:rPr lang="ko-KR" altLang="en-US" sz="1100" kern="1200" dirty="0"/>
                        <a:t>공지기술로부터 개량진보의 정도가 큰 발명의 보호범위는 넓게</a:t>
                      </a:r>
                      <a:r>
                        <a:rPr lang="en-US" altLang="ko-KR" sz="1100" kern="1200" dirty="0"/>
                        <a:t>, </a:t>
                      </a:r>
                      <a:r>
                        <a:rPr lang="ko-KR" altLang="en-US" sz="1100" kern="1200" dirty="0"/>
                        <a:t>개량진보의 정도가 작은 발명의 보호범위는 좁게 인정</a:t>
                      </a:r>
                      <a:r>
                        <a:rPr lang="en-US" altLang="ko-KR" sz="1100" kern="1200" dirty="0"/>
                        <a:t>(</a:t>
                      </a:r>
                      <a:r>
                        <a:rPr lang="ko-KR" altLang="en-US" sz="1100" kern="1200" dirty="0"/>
                        <a:t>산업발전촉진에 대한 기여력의 측정이며</a:t>
                      </a:r>
                      <a:r>
                        <a:rPr lang="en-US" altLang="ko-KR" sz="1100" kern="1200" dirty="0"/>
                        <a:t>, </a:t>
                      </a:r>
                      <a:r>
                        <a:rPr lang="ko-KR" altLang="en-US" sz="1100" kern="1200" dirty="0"/>
                        <a:t>균등범위에서 차이가 발생함</a:t>
                      </a:r>
                      <a:r>
                        <a:rPr lang="en-US" altLang="ko-KR" sz="1100" kern="1200" dirty="0"/>
                        <a:t>)</a:t>
                      </a:r>
                    </a:p>
                    <a:p>
                      <a:pPr marL="203200" marR="31750" indent="-171450" algn="l" defTabSz="914400" rtl="0" eaLnBrk="1" fontAlgn="base" latinLnBrk="1" hangingPunct="1">
                        <a:lnSpc>
                          <a:spcPct val="120000"/>
                        </a:lnSpc>
                        <a:spcBef>
                          <a:spcPts val="0"/>
                        </a:spcBef>
                        <a:spcAft>
                          <a:spcPts val="0"/>
                        </a:spcAft>
                        <a:buClrTx/>
                        <a:buSzTx/>
                        <a:buFontTx/>
                        <a:buChar char="-"/>
                        <a:tabLst/>
                        <a:defRPr/>
                      </a:pPr>
                      <a:r>
                        <a:rPr lang="ko-KR" altLang="en-US" sz="1100" kern="1200" dirty="0">
                          <a:solidFill>
                            <a:schemeClr val="tx1"/>
                          </a:solidFill>
                          <a:effectLst/>
                          <a:latin typeface="+mn-lt"/>
                          <a:ea typeface="+mn-ea"/>
                          <a:cs typeface="+mn-cs"/>
                        </a:rPr>
                        <a:t>특허발명이 공지기술과 비교하여 </a:t>
                      </a:r>
                      <a:r>
                        <a:rPr lang="ko-KR" altLang="en-US" sz="1100" kern="1200" dirty="0" err="1">
                          <a:solidFill>
                            <a:schemeClr val="tx1"/>
                          </a:solidFill>
                          <a:effectLst/>
                          <a:latin typeface="+mn-lt"/>
                          <a:ea typeface="+mn-ea"/>
                          <a:cs typeface="+mn-cs"/>
                        </a:rPr>
                        <a:t>개량ㆍ진보되지</a:t>
                      </a:r>
                      <a:r>
                        <a:rPr lang="ko-KR" altLang="en-US" sz="1100" kern="1200" dirty="0">
                          <a:solidFill>
                            <a:schemeClr val="tx1"/>
                          </a:solidFill>
                          <a:effectLst/>
                          <a:latin typeface="+mn-lt"/>
                          <a:ea typeface="+mn-ea"/>
                          <a:cs typeface="+mn-cs"/>
                        </a:rPr>
                        <a:t> 아니한 경우</a:t>
                      </a:r>
                      <a:r>
                        <a:rPr lang="en-US" altLang="ko-KR" sz="1100" kern="1200" dirty="0">
                          <a:solidFill>
                            <a:schemeClr val="tx1"/>
                          </a:solidFill>
                          <a:effectLst/>
                          <a:latin typeface="+mn-lt"/>
                          <a:ea typeface="+mn-ea"/>
                          <a:cs typeface="+mn-cs"/>
                        </a:rPr>
                        <a:t>, </a:t>
                      </a:r>
                      <a:r>
                        <a:rPr lang="ko-KR" altLang="en-US" sz="1100" kern="1200" dirty="0">
                          <a:solidFill>
                            <a:schemeClr val="tx1"/>
                          </a:solidFill>
                          <a:effectLst/>
                          <a:latin typeface="+mn-lt"/>
                          <a:ea typeface="+mn-ea"/>
                          <a:cs typeface="+mn-cs"/>
                        </a:rPr>
                        <a:t>즉 특허발명이 공지기술과 동일한 경우에는 보호범위를 인정할 수 없는데</a:t>
                      </a:r>
                      <a:r>
                        <a:rPr lang="en-US" altLang="ko-KR" sz="1100" kern="1200" dirty="0">
                          <a:solidFill>
                            <a:schemeClr val="tx1"/>
                          </a:solidFill>
                          <a:effectLst/>
                          <a:latin typeface="+mn-lt"/>
                          <a:ea typeface="+mn-ea"/>
                          <a:cs typeface="+mn-cs"/>
                        </a:rPr>
                        <a:t>, </a:t>
                      </a:r>
                      <a:r>
                        <a:rPr lang="ko-KR" altLang="en-US" sz="1100" kern="1200" dirty="0">
                          <a:solidFill>
                            <a:schemeClr val="tx1"/>
                          </a:solidFill>
                          <a:effectLst/>
                          <a:latin typeface="+mn-lt"/>
                          <a:ea typeface="+mn-ea"/>
                          <a:cs typeface="+mn-cs"/>
                        </a:rPr>
                        <a:t>이를 특히 공지기술제외의 원칙이라 함</a:t>
                      </a:r>
                    </a:p>
                  </a:txBody>
                  <a:tcPr marL="72000" marR="72000" marT="17907" marB="17907" anchor="ctr"/>
                </a:tc>
                <a:extLst>
                  <a:ext uri="{0D108BD9-81ED-4DB2-BD59-A6C34878D82A}">
                    <a16:rowId xmlns:a16="http://schemas.microsoft.com/office/drawing/2014/main" val="10002"/>
                  </a:ext>
                </a:extLst>
              </a:tr>
              <a:tr h="522798">
                <a:tc>
                  <a:txBody>
                    <a:bodyPr/>
                    <a:lstStyle/>
                    <a:p>
                      <a:pPr marL="0" marR="0" indent="0" algn="ctr" fontAlgn="base" latinLnBrk="0">
                        <a:lnSpc>
                          <a:spcPct val="120000"/>
                        </a:lnSpc>
                        <a:spcBef>
                          <a:spcPts val="0"/>
                        </a:spcBef>
                        <a:spcAft>
                          <a:spcPts val="0"/>
                        </a:spcAft>
                      </a:pPr>
                      <a:r>
                        <a:rPr lang="ko-KR" altLang="en-US" sz="1100" kern="1200" dirty="0"/>
                        <a:t>출원경과 참작 원칙</a:t>
                      </a:r>
                      <a:endParaRPr lang="ko-KR" altLang="en-US" sz="11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203200" marR="31750" indent="-171450" algn="l" fontAlgn="base" latinLnBrk="1">
                        <a:lnSpc>
                          <a:spcPct val="120000"/>
                        </a:lnSpc>
                        <a:spcBef>
                          <a:spcPts val="0"/>
                        </a:spcBef>
                        <a:spcAft>
                          <a:spcPts val="0"/>
                        </a:spcAft>
                        <a:buFontTx/>
                        <a:buChar char="-"/>
                      </a:pPr>
                      <a:r>
                        <a:rPr lang="ko-KR" altLang="en-US" sz="1100" kern="1200" dirty="0"/>
                        <a:t>출원과정에서 확인대상발명의 치환된 구성요소가 청구범위로부터 의식적으로 제외되는 등 특단의 사정을 참작해야 함</a:t>
                      </a:r>
                      <a:r>
                        <a:rPr lang="en-US" altLang="ko-KR" sz="1100" kern="1200" dirty="0"/>
                        <a:t> </a:t>
                      </a:r>
                    </a:p>
                    <a:p>
                      <a:pPr marL="203200" marR="31750" indent="-171450" algn="l" fontAlgn="base" latinLnBrk="1">
                        <a:lnSpc>
                          <a:spcPct val="120000"/>
                        </a:lnSpc>
                        <a:spcBef>
                          <a:spcPts val="0"/>
                        </a:spcBef>
                        <a:spcAft>
                          <a:spcPts val="0"/>
                        </a:spcAft>
                        <a:buFontTx/>
                        <a:buChar char="-"/>
                      </a:pPr>
                      <a:r>
                        <a:rPr lang="ko-KR" altLang="en-US" sz="1100" kern="1200" dirty="0" err="1"/>
                        <a:t>균등론의</a:t>
                      </a:r>
                      <a:r>
                        <a:rPr lang="ko-KR" altLang="en-US" sz="1100" kern="1200" dirty="0"/>
                        <a:t> 적용에 따른 청구범위의 확장해석을 억제하기 위한 이론으로 발전</a:t>
                      </a:r>
                      <a:endParaRPr lang="ko-KR" altLang="en-US" sz="1100" kern="1200" dirty="0">
                        <a:solidFill>
                          <a:schemeClr val="tx2"/>
                        </a:solidFill>
                        <a:latin typeface="+mn-lt"/>
                        <a:ea typeface="+mn-ea"/>
                        <a:cs typeface="+mn-cs"/>
                      </a:endParaRPr>
                    </a:p>
                  </a:txBody>
                  <a:tcPr marL="72000" marR="72000" marT="17907" marB="17907" anchor="ctr"/>
                </a:tc>
                <a:extLst>
                  <a:ext uri="{0D108BD9-81ED-4DB2-BD59-A6C34878D82A}">
                    <a16:rowId xmlns:a16="http://schemas.microsoft.com/office/drawing/2014/main" val="10003"/>
                  </a:ext>
                </a:extLst>
              </a:tr>
              <a:tr h="522798">
                <a:tc>
                  <a:txBody>
                    <a:bodyPr/>
                    <a:lstStyle/>
                    <a:p>
                      <a:pPr marL="0" marR="0" indent="0" algn="ctr" fontAlgn="base" latinLnBrk="0">
                        <a:lnSpc>
                          <a:spcPct val="120000"/>
                        </a:lnSpc>
                        <a:spcBef>
                          <a:spcPts val="0"/>
                        </a:spcBef>
                        <a:spcAft>
                          <a:spcPts val="0"/>
                        </a:spcAft>
                      </a:pPr>
                      <a:r>
                        <a:rPr lang="ko-KR" altLang="en-US" sz="1100" kern="1200" dirty="0"/>
                        <a:t>특허권 하자 참작 원칙</a:t>
                      </a:r>
                      <a:endParaRPr lang="ko-KR" altLang="en-US" sz="11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203200" marR="31750" indent="-171450" algn="l" fontAlgn="base" latinLnBrk="1">
                        <a:lnSpc>
                          <a:spcPct val="120000"/>
                        </a:lnSpc>
                        <a:spcBef>
                          <a:spcPts val="0"/>
                        </a:spcBef>
                        <a:spcAft>
                          <a:spcPts val="0"/>
                        </a:spcAft>
                        <a:buFontTx/>
                        <a:buChar char="-"/>
                      </a:pPr>
                      <a:r>
                        <a:rPr lang="ko-KR" altLang="en-US" sz="1100" kern="1200" dirty="0"/>
                        <a:t>특허발명의 일부 또는 전부가 출원 당시 공지여서 </a:t>
                      </a:r>
                      <a:r>
                        <a:rPr lang="ko-KR" altLang="en-US" sz="1100" kern="1200" dirty="0" err="1"/>
                        <a:t>신규성이</a:t>
                      </a:r>
                      <a:r>
                        <a:rPr lang="ko-KR" altLang="en-US" sz="1100" kern="1200" dirty="0"/>
                        <a:t> 없는 경우</a:t>
                      </a:r>
                      <a:r>
                        <a:rPr lang="en-US" altLang="ko-KR" sz="1100" kern="1200" dirty="0"/>
                        <a:t>, </a:t>
                      </a:r>
                      <a:r>
                        <a:rPr lang="ko-KR" altLang="en-US" sz="1100" kern="1200" dirty="0"/>
                        <a:t>선행특허와 동일하여 선출원주의</a:t>
                      </a:r>
                      <a:r>
                        <a:rPr lang="en-US" altLang="ko-KR" sz="1100" kern="1200" dirty="0"/>
                        <a:t>, </a:t>
                      </a:r>
                      <a:r>
                        <a:rPr lang="ko-KR" altLang="en-US" sz="1100" kern="1200" dirty="0"/>
                        <a:t>확대된 선출원에 위반된 경우</a:t>
                      </a:r>
                      <a:r>
                        <a:rPr lang="en-US" altLang="ko-KR" sz="1100" kern="1200" dirty="0"/>
                        <a:t>, </a:t>
                      </a:r>
                      <a:r>
                        <a:rPr lang="ko-KR" altLang="en-US" sz="1100" kern="1200" dirty="0"/>
                        <a:t>명세서의 기재불비 등으로 인하여 특허발명의 기술적 범위를 특정할 수 없는 경우</a:t>
                      </a:r>
                      <a:r>
                        <a:rPr lang="en-US" altLang="ko-KR" sz="1100" kern="1200" dirty="0"/>
                        <a:t>, </a:t>
                      </a:r>
                      <a:r>
                        <a:rPr lang="ko-KR" altLang="en-US" sz="1100" kern="1200" dirty="0"/>
                        <a:t>특허발명의 실시가 불가능한 경우는 권리범위를 불인정함</a:t>
                      </a:r>
                      <a:endParaRPr lang="en-US" altLang="ko-KR" sz="1100" kern="1200" dirty="0"/>
                    </a:p>
                  </a:txBody>
                  <a:tcPr marL="72000" marR="72000" marT="17907" marB="17907" anchor="ct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448975161"/>
      </p:ext>
    </p:extLst>
  </p:cSld>
  <p:clrMapOvr>
    <a:masterClrMapping/>
  </p:clrMapOvr>
  <p:transition/>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p:cNvSpPr>
            <a:spLocks noGrp="1"/>
          </p:cNvSpPr>
          <p:nvPr>
            <p:ph type="body" sz="quarter" idx="13"/>
          </p:nvPr>
        </p:nvSpPr>
        <p:spPr/>
        <p:txBody>
          <a:bodyPr/>
          <a:lstStyle/>
          <a:p>
            <a:r>
              <a:rPr lang="ko-KR" altLang="en-US" dirty="0">
                <a:solidFill>
                  <a:srgbClr val="525252"/>
                </a:solidFill>
              </a:rPr>
              <a:t>확인대상발명의 특정</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323</a:t>
            </a:r>
            <a:endParaRPr lang="ko-KR" altLang="en-US"/>
          </a:p>
        </p:txBody>
      </p:sp>
      <p:cxnSp>
        <p:nvCxnSpPr>
          <p:cNvPr id="16" name="직선 연결선 15"/>
          <p:cNvCxnSpPr/>
          <p:nvPr/>
        </p:nvCxnSpPr>
        <p:spPr>
          <a:xfrm>
            <a:off x="0" y="298127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77875" y="976902"/>
            <a:ext cx="11936323" cy="2031325"/>
          </a:xfrm>
          <a:prstGeom prst="rect">
            <a:avLst/>
          </a:prstGeom>
          <a:noFill/>
        </p:spPr>
        <p:txBody>
          <a:bodyPr wrap="square" rtlCol="0">
            <a:spAutoFit/>
          </a:bodyPr>
          <a:lstStyle/>
          <a:p>
            <a:pPr fontAlgn="base"/>
            <a:r>
              <a:rPr lang="ko-KR" altLang="en-US" sz="1400" dirty="0" err="1">
                <a:solidFill>
                  <a:schemeClr val="tx2"/>
                </a:solidFill>
              </a:rPr>
              <a:t>확인대상발명이란</a:t>
            </a:r>
            <a:r>
              <a:rPr lang="ko-KR" altLang="en-US" sz="1400" dirty="0">
                <a:solidFill>
                  <a:schemeClr val="tx2"/>
                </a:solidFill>
              </a:rPr>
              <a:t> 권리범위확인심판에서 특허발명의 권리범위에 속하는지 여부의 판단대상이 되는 구체적인 실시형태를 말하며</a:t>
            </a:r>
            <a:r>
              <a:rPr lang="en-US" altLang="ko-KR" sz="1400" dirty="0">
                <a:solidFill>
                  <a:schemeClr val="tx2"/>
                </a:solidFill>
              </a:rPr>
              <a:t>, </a:t>
            </a:r>
            <a:r>
              <a:rPr lang="ko-KR" altLang="en-US" sz="1400" dirty="0">
                <a:solidFill>
                  <a:schemeClr val="tx2"/>
                </a:solidFill>
              </a:rPr>
              <a:t>침해소송에서는 대상 제품</a:t>
            </a:r>
            <a:r>
              <a:rPr lang="en-US" altLang="ko-KR" sz="1400" dirty="0">
                <a:solidFill>
                  <a:schemeClr val="tx2"/>
                </a:solidFill>
              </a:rPr>
              <a:t>, </a:t>
            </a:r>
            <a:r>
              <a:rPr lang="ko-KR" altLang="en-US" sz="1400" dirty="0">
                <a:solidFill>
                  <a:schemeClr val="tx2"/>
                </a:solidFill>
              </a:rPr>
              <a:t>피고 제품</a:t>
            </a:r>
            <a:r>
              <a:rPr lang="en-US" altLang="ko-KR" sz="1400" dirty="0">
                <a:solidFill>
                  <a:schemeClr val="tx2"/>
                </a:solidFill>
              </a:rPr>
              <a:t>, </a:t>
            </a:r>
            <a:r>
              <a:rPr lang="ko-KR" altLang="en-US" sz="1400" dirty="0">
                <a:solidFill>
                  <a:schemeClr val="tx2"/>
                </a:solidFill>
              </a:rPr>
              <a:t>피고 실시제품 등으로 표시된다</a:t>
            </a:r>
            <a:r>
              <a:rPr lang="en-US" altLang="ko-KR" sz="1400" dirty="0">
                <a:solidFill>
                  <a:schemeClr val="tx2"/>
                </a:solidFill>
              </a:rPr>
              <a:t>. </a:t>
            </a:r>
            <a:r>
              <a:rPr lang="ko-KR" altLang="en-US" sz="1400" dirty="0">
                <a:solidFill>
                  <a:schemeClr val="tx2"/>
                </a:solidFill>
              </a:rPr>
              <a:t>확인대상발명은 대상물을 주관적으로 가공하여 설명서 또는 도면에 의하여 기재하는데</a:t>
            </a:r>
            <a:r>
              <a:rPr lang="en-US" altLang="ko-KR" sz="1400" dirty="0">
                <a:solidFill>
                  <a:schemeClr val="tx2"/>
                </a:solidFill>
              </a:rPr>
              <a:t>, </a:t>
            </a:r>
            <a:r>
              <a:rPr lang="ko-KR" altLang="en-US" sz="1400" dirty="0">
                <a:solidFill>
                  <a:schemeClr val="accent3">
                    <a:lumMod val="50000"/>
                  </a:schemeClr>
                </a:solidFill>
                <a:highlight>
                  <a:srgbClr val="FFFF00"/>
                </a:highlight>
              </a:rPr>
              <a:t>사회통념상 다른 것과 </a:t>
            </a:r>
            <a:r>
              <a:rPr lang="ko-KR" altLang="en-US" sz="1400" dirty="0">
                <a:solidFill>
                  <a:srgbClr val="FF0000"/>
                </a:solidFill>
                <a:highlight>
                  <a:srgbClr val="FFFF00"/>
                </a:highlight>
              </a:rPr>
              <a:t>구별</a:t>
            </a:r>
            <a:r>
              <a:rPr lang="ko-KR" altLang="en-US" sz="1400" dirty="0">
                <a:solidFill>
                  <a:schemeClr val="accent3">
                    <a:lumMod val="50000"/>
                  </a:schemeClr>
                </a:solidFill>
                <a:highlight>
                  <a:srgbClr val="FFFF00"/>
                </a:highlight>
              </a:rPr>
              <a:t>될 수 있을 정도로 구체적으로 특정되어야 한다</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그리고</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해당 특허발명과 서로 </a:t>
            </a:r>
            <a:r>
              <a:rPr lang="ko-KR" altLang="en-US" sz="1400" dirty="0">
                <a:solidFill>
                  <a:srgbClr val="FF0000"/>
                </a:solidFill>
                <a:highlight>
                  <a:srgbClr val="FFFF00"/>
                </a:highlight>
              </a:rPr>
              <a:t>대비</a:t>
            </a:r>
            <a:r>
              <a:rPr lang="ko-KR" altLang="en-US" sz="1400" dirty="0">
                <a:solidFill>
                  <a:schemeClr val="accent3">
                    <a:lumMod val="50000"/>
                  </a:schemeClr>
                </a:solidFill>
                <a:highlight>
                  <a:srgbClr val="FFFF00"/>
                </a:highlight>
              </a:rPr>
              <a:t>할 수 있을 만큼 특정되어야 하는 </a:t>
            </a:r>
            <a:r>
              <a:rPr lang="ko-KR" altLang="en-US" sz="1400" dirty="0" err="1">
                <a:solidFill>
                  <a:schemeClr val="accent3">
                    <a:lumMod val="50000"/>
                  </a:schemeClr>
                </a:solidFill>
                <a:highlight>
                  <a:srgbClr val="FFFF00"/>
                </a:highlight>
              </a:rPr>
              <a:t>것인바</a:t>
            </a:r>
            <a:r>
              <a:rPr lang="en-US" altLang="ko-KR" sz="1400" dirty="0">
                <a:solidFill>
                  <a:schemeClr val="accent3">
                    <a:lumMod val="50000"/>
                  </a:schemeClr>
                </a:solidFill>
                <a:highlight>
                  <a:srgbClr val="FFFF00"/>
                </a:highlight>
              </a:rPr>
              <a:t>, </a:t>
            </a:r>
            <a:r>
              <a:rPr lang="ko-KR" altLang="en-US" sz="1400" dirty="0">
                <a:solidFill>
                  <a:schemeClr val="bg2">
                    <a:lumMod val="25000"/>
                  </a:schemeClr>
                </a:solidFill>
              </a:rPr>
              <a:t>그 특정을 위해서는 대상물의 구체적인 구성을 전부 적을 필요는 없고 특허발명의 구성요소에 </a:t>
            </a:r>
            <a:r>
              <a:rPr lang="ko-KR" altLang="en-US" sz="1400" dirty="0">
                <a:solidFill>
                  <a:srgbClr val="FF0000"/>
                </a:solidFill>
              </a:rPr>
              <a:t>대응</a:t>
            </a:r>
            <a:r>
              <a:rPr lang="ko-KR" altLang="en-US" sz="1400" dirty="0">
                <a:solidFill>
                  <a:schemeClr val="bg2">
                    <a:lumMod val="25000"/>
                  </a:schemeClr>
                </a:solidFill>
              </a:rPr>
              <a:t>하는 부분의 구체적인 구성을 기재하면 되는 것이나 다만</a:t>
            </a:r>
            <a:r>
              <a:rPr lang="en-US" altLang="ko-KR" sz="1400" dirty="0">
                <a:solidFill>
                  <a:schemeClr val="bg2">
                    <a:lumMod val="25000"/>
                  </a:schemeClr>
                </a:solidFill>
              </a:rPr>
              <a:t>, </a:t>
            </a:r>
            <a:r>
              <a:rPr lang="ko-KR" altLang="en-US" sz="1400" dirty="0">
                <a:solidFill>
                  <a:schemeClr val="bg2">
                    <a:lumMod val="25000"/>
                  </a:schemeClr>
                </a:solidFill>
              </a:rPr>
              <a:t>그 구체적인 구성의 기재는 특허발명의 구성요소와 대비하여 그 차이점을 판단함에 필요한 정도는 되어야 한다</a:t>
            </a:r>
            <a:r>
              <a:rPr lang="en-US" altLang="ko-KR" sz="1400" dirty="0">
                <a:solidFill>
                  <a:srgbClr val="FF0000"/>
                </a:solidFill>
              </a:rPr>
              <a:t>. </a:t>
            </a:r>
            <a:r>
              <a:rPr lang="ko-KR" altLang="en-US" sz="1400" dirty="0">
                <a:solidFill>
                  <a:schemeClr val="tx2"/>
                </a:solidFill>
              </a:rPr>
              <a:t>확인대상발명의 구성요소 </a:t>
            </a:r>
            <a:r>
              <a:rPr lang="ko-KR" altLang="en-US" sz="1400" dirty="0"/>
              <a:t>중 </a:t>
            </a:r>
            <a:r>
              <a:rPr lang="ko-KR" altLang="en-US" sz="1400" dirty="0">
                <a:highlight>
                  <a:srgbClr val="FFFF00"/>
                </a:highlight>
              </a:rPr>
              <a:t>특허발명의 구성요소에 대응하지 아니한 구성요소</a:t>
            </a:r>
            <a:r>
              <a:rPr lang="ko-KR" altLang="en-US" sz="1400" dirty="0">
                <a:solidFill>
                  <a:schemeClr val="tx2"/>
                </a:solidFill>
              </a:rPr>
              <a:t>는 특허발명과 </a:t>
            </a:r>
            <a:r>
              <a:rPr lang="ko-KR" altLang="en-US" sz="1400" dirty="0">
                <a:solidFill>
                  <a:srgbClr val="FF0000"/>
                </a:solidFill>
              </a:rPr>
              <a:t>대비</a:t>
            </a:r>
            <a:r>
              <a:rPr lang="ko-KR" altLang="en-US" sz="1400" dirty="0">
                <a:solidFill>
                  <a:schemeClr val="tx2"/>
                </a:solidFill>
              </a:rPr>
              <a:t>하여 </a:t>
            </a:r>
            <a:r>
              <a:rPr lang="ko-KR" altLang="en-US" sz="1400" dirty="0" err="1">
                <a:solidFill>
                  <a:schemeClr val="tx2"/>
                </a:solidFill>
              </a:rPr>
              <a:t>구성요소완비의</a:t>
            </a:r>
            <a:r>
              <a:rPr lang="ko-KR" altLang="en-US" sz="1400" dirty="0">
                <a:solidFill>
                  <a:schemeClr val="tx2"/>
                </a:solidFill>
              </a:rPr>
              <a:t> 원칙</a:t>
            </a:r>
            <a:r>
              <a:rPr lang="en-US" altLang="ko-KR" sz="1400" dirty="0">
                <a:solidFill>
                  <a:schemeClr val="tx2"/>
                </a:solidFill>
              </a:rPr>
              <a:t>, </a:t>
            </a:r>
            <a:r>
              <a:rPr lang="ko-KR" altLang="en-US" sz="1400" dirty="0" err="1">
                <a:solidFill>
                  <a:schemeClr val="tx2"/>
                </a:solidFill>
              </a:rPr>
              <a:t>균등론</a:t>
            </a:r>
            <a:r>
              <a:rPr lang="ko-KR" altLang="en-US" sz="1400" dirty="0">
                <a:solidFill>
                  <a:schemeClr val="tx2"/>
                </a:solidFill>
              </a:rPr>
              <a:t> 등에 의한 특허발명의 실시인지 판단함에 있어서 자유기술의 항변의 경우를 제외하고는 일반적으로 영향을 미치지 아니한다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확인대상발명이 독립항의 권리범위에 속하지 아니하면 종속항에 대응되는 부분의 구성이 기재되어 있지 않거나 불명확한 부분이 있다고 하더라도 특정된 것으로 보고 종속항의 권리범위에 속하지 아니한다고 판단할 수 있다</a:t>
            </a:r>
            <a:r>
              <a:rPr lang="en-US" altLang="ko-KR" sz="1400" dirty="0">
                <a:solidFill>
                  <a:schemeClr val="tx2"/>
                </a:solidFill>
              </a:rPr>
              <a:t>. </a:t>
            </a:r>
            <a:r>
              <a:rPr lang="ko-KR" altLang="en-US" sz="1400" dirty="0">
                <a:solidFill>
                  <a:schemeClr val="tx2"/>
                </a:solidFill>
              </a:rPr>
              <a:t>이는 </a:t>
            </a:r>
            <a:r>
              <a:rPr lang="ko-KR" altLang="en-US" sz="1400" dirty="0">
                <a:solidFill>
                  <a:schemeClr val="tx2"/>
                </a:solidFill>
                <a:highlight>
                  <a:srgbClr val="FFFF00"/>
                </a:highlight>
              </a:rPr>
              <a:t>독립항의 권리범위가 인정되었을 때 </a:t>
            </a:r>
            <a:r>
              <a:rPr lang="ko-KR" altLang="en-US" sz="1400" dirty="0">
                <a:solidFill>
                  <a:schemeClr val="tx2"/>
                </a:solidFill>
              </a:rPr>
              <a:t>그 권리범위는 독립항을 구체화한 종속항의 권리범위보다 더 넓을 수밖에 없기 때문이다</a:t>
            </a:r>
            <a:r>
              <a:rPr lang="en-US" altLang="ko-KR" sz="1400" dirty="0">
                <a:solidFill>
                  <a:schemeClr val="tx2"/>
                </a:solidFill>
              </a:rPr>
              <a:t>.</a:t>
            </a:r>
            <a:endParaRPr lang="ko-KR" altLang="en-US" sz="1400" dirty="0">
              <a:solidFill>
                <a:schemeClr val="tx2"/>
              </a:solidFill>
            </a:endParaRPr>
          </a:p>
        </p:txBody>
      </p:sp>
      <p:cxnSp>
        <p:nvCxnSpPr>
          <p:cNvPr id="9" name="직선 연결선 8"/>
          <p:cNvCxnSpPr/>
          <p:nvPr/>
        </p:nvCxnSpPr>
        <p:spPr>
          <a:xfrm>
            <a:off x="752475" y="3321463"/>
            <a:ext cx="106521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직사각형 11"/>
          <p:cNvSpPr/>
          <p:nvPr/>
        </p:nvSpPr>
        <p:spPr>
          <a:xfrm>
            <a:off x="870196" y="3944489"/>
            <a:ext cx="1424294" cy="56294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 C</a:t>
            </a:r>
            <a:r>
              <a:rPr lang="ko-KR" altLang="en-US" sz="1200" dirty="0">
                <a:solidFill>
                  <a:schemeClr val="tx1"/>
                </a:solidFill>
              </a:rPr>
              <a:t>를 포함하는 자전거</a:t>
            </a:r>
            <a:endParaRPr lang="en-US" altLang="ko-KR" sz="1200" dirty="0">
              <a:solidFill>
                <a:schemeClr val="tx1"/>
              </a:solidFill>
            </a:endParaRPr>
          </a:p>
        </p:txBody>
      </p:sp>
      <p:cxnSp>
        <p:nvCxnSpPr>
          <p:cNvPr id="13" name="직선 연결선 12"/>
          <p:cNvCxnSpPr>
            <a:stCxn id="12" idx="0"/>
            <a:endCxn id="15" idx="2"/>
          </p:cNvCxnSpPr>
          <p:nvPr/>
        </p:nvCxnSpPr>
        <p:spPr>
          <a:xfrm flipV="1">
            <a:off x="1582343" y="3446560"/>
            <a:ext cx="0" cy="49792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 name="직사각형 14"/>
          <p:cNvSpPr/>
          <p:nvPr/>
        </p:nvSpPr>
        <p:spPr>
          <a:xfrm>
            <a:off x="1007812" y="3196365"/>
            <a:ext cx="1149061"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설정등록</a:t>
            </a:r>
          </a:p>
        </p:txBody>
      </p:sp>
      <p:sp>
        <p:nvSpPr>
          <p:cNvPr id="19" name="직사각형 18"/>
          <p:cNvSpPr/>
          <p:nvPr/>
        </p:nvSpPr>
        <p:spPr>
          <a:xfrm>
            <a:off x="3094826" y="3944489"/>
            <a:ext cx="1424294" cy="56294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tx1"/>
                </a:solidFill>
              </a:rPr>
              <a:t>A, B, C1, D</a:t>
            </a:r>
            <a:r>
              <a:rPr lang="ko-KR" altLang="en-US" sz="1200" dirty="0">
                <a:solidFill>
                  <a:schemeClr val="tx1"/>
                </a:solidFill>
              </a:rPr>
              <a:t>를 </a:t>
            </a:r>
            <a:endParaRPr lang="en-US" altLang="ko-KR" sz="1200" dirty="0">
              <a:solidFill>
                <a:schemeClr val="tx1"/>
              </a:solidFill>
            </a:endParaRPr>
          </a:p>
          <a:p>
            <a:pPr algn="ctr"/>
            <a:r>
              <a:rPr lang="ko-KR" altLang="en-US" sz="1200" dirty="0">
                <a:solidFill>
                  <a:schemeClr val="tx1"/>
                </a:solidFill>
              </a:rPr>
              <a:t>포함하는 자전거</a:t>
            </a:r>
            <a:endParaRPr lang="en-US" altLang="ko-KR" sz="1200" dirty="0">
              <a:solidFill>
                <a:schemeClr val="tx1"/>
              </a:solidFill>
            </a:endParaRPr>
          </a:p>
        </p:txBody>
      </p:sp>
      <p:cxnSp>
        <p:nvCxnSpPr>
          <p:cNvPr id="20" name="직선 연결선 19"/>
          <p:cNvCxnSpPr>
            <a:stCxn id="19" idx="0"/>
            <a:endCxn id="21" idx="2"/>
          </p:cNvCxnSpPr>
          <p:nvPr/>
        </p:nvCxnSpPr>
        <p:spPr>
          <a:xfrm flipV="1">
            <a:off x="3806973" y="3446560"/>
            <a:ext cx="0" cy="49792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 name="직사각형 20"/>
          <p:cNvSpPr/>
          <p:nvPr/>
        </p:nvSpPr>
        <p:spPr>
          <a:xfrm>
            <a:off x="3232442" y="3196365"/>
            <a:ext cx="1149061" cy="250195"/>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자 실시</a:t>
            </a:r>
          </a:p>
        </p:txBody>
      </p:sp>
      <p:sp>
        <p:nvSpPr>
          <p:cNvPr id="22" name="직사각형 21"/>
          <p:cNvSpPr/>
          <p:nvPr/>
        </p:nvSpPr>
        <p:spPr>
          <a:xfrm>
            <a:off x="5229028" y="3944489"/>
            <a:ext cx="2120062" cy="56294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피고제품</a:t>
            </a:r>
            <a:r>
              <a:rPr lang="en-US" altLang="ko-KR" sz="1200" dirty="0">
                <a:solidFill>
                  <a:schemeClr val="tx1"/>
                </a:solidFill>
              </a:rPr>
              <a:t>(</a:t>
            </a:r>
            <a:r>
              <a:rPr lang="ko-KR" altLang="en-US" sz="1200" dirty="0">
                <a:solidFill>
                  <a:schemeClr val="tx1"/>
                </a:solidFill>
              </a:rPr>
              <a:t>확인대상발명</a:t>
            </a:r>
            <a:r>
              <a:rPr lang="en-US" altLang="ko-KR" sz="1200" dirty="0">
                <a:solidFill>
                  <a:schemeClr val="tx1"/>
                </a:solidFill>
              </a:rPr>
              <a:t>)</a:t>
            </a:r>
            <a:r>
              <a:rPr lang="ko-KR" altLang="en-US" sz="1200" dirty="0">
                <a:solidFill>
                  <a:schemeClr val="tx1"/>
                </a:solidFill>
              </a:rPr>
              <a:t>의 특정</a:t>
            </a:r>
            <a:endParaRPr lang="en-US" altLang="ko-KR" sz="1200" dirty="0">
              <a:solidFill>
                <a:schemeClr val="tx1"/>
              </a:solidFill>
            </a:endParaRPr>
          </a:p>
          <a:p>
            <a:pPr algn="ctr"/>
            <a:r>
              <a:rPr lang="en-US" altLang="ko-KR" sz="1200" dirty="0">
                <a:solidFill>
                  <a:schemeClr val="tx1"/>
                </a:solidFill>
              </a:rPr>
              <a:t>A, B, C1 </a:t>
            </a:r>
            <a:r>
              <a:rPr lang="ko-KR" altLang="en-US" sz="1200" dirty="0">
                <a:solidFill>
                  <a:schemeClr val="tx1"/>
                </a:solidFill>
              </a:rPr>
              <a:t>또는 </a:t>
            </a:r>
            <a:r>
              <a:rPr lang="en-US" altLang="ko-KR" sz="1200" dirty="0">
                <a:solidFill>
                  <a:schemeClr val="tx1"/>
                </a:solidFill>
              </a:rPr>
              <a:t>A, B, C1, D</a:t>
            </a:r>
          </a:p>
        </p:txBody>
      </p:sp>
      <p:cxnSp>
        <p:nvCxnSpPr>
          <p:cNvPr id="23" name="직선 연결선 22"/>
          <p:cNvCxnSpPr>
            <a:stCxn id="22" idx="0"/>
            <a:endCxn id="24" idx="2"/>
          </p:cNvCxnSpPr>
          <p:nvPr/>
        </p:nvCxnSpPr>
        <p:spPr>
          <a:xfrm flipV="1">
            <a:off x="6289059" y="3446560"/>
            <a:ext cx="0" cy="49792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4" name="직사각형 23"/>
          <p:cNvSpPr/>
          <p:nvPr/>
        </p:nvSpPr>
        <p:spPr>
          <a:xfrm>
            <a:off x="5714528" y="3196365"/>
            <a:ext cx="1149061" cy="250195"/>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침해소송제기</a:t>
            </a:r>
          </a:p>
        </p:txBody>
      </p:sp>
      <p:graphicFrame>
        <p:nvGraphicFramePr>
          <p:cNvPr id="25" name="표 24"/>
          <p:cNvGraphicFramePr>
            <a:graphicFrameLocks noGrp="1"/>
          </p:cNvGraphicFramePr>
          <p:nvPr/>
        </p:nvGraphicFramePr>
        <p:xfrm>
          <a:off x="752476" y="4905383"/>
          <a:ext cx="10575924" cy="1684859"/>
        </p:xfrm>
        <a:graphic>
          <a:graphicData uri="http://schemas.openxmlformats.org/drawingml/2006/table">
            <a:tbl>
              <a:tblPr>
                <a:tableStyleId>{8799B23B-EC83-4686-B30A-512413B5E67A}</a:tableStyleId>
              </a:tblPr>
              <a:tblGrid>
                <a:gridCol w="1762654">
                  <a:extLst>
                    <a:ext uri="{9D8B030D-6E8A-4147-A177-3AD203B41FA5}">
                      <a16:colId xmlns:a16="http://schemas.microsoft.com/office/drawing/2014/main" val="20000"/>
                    </a:ext>
                  </a:extLst>
                </a:gridCol>
                <a:gridCol w="1762654">
                  <a:extLst>
                    <a:ext uri="{9D8B030D-6E8A-4147-A177-3AD203B41FA5}">
                      <a16:colId xmlns:a16="http://schemas.microsoft.com/office/drawing/2014/main" val="20001"/>
                    </a:ext>
                  </a:extLst>
                </a:gridCol>
                <a:gridCol w="3525308">
                  <a:extLst>
                    <a:ext uri="{9D8B030D-6E8A-4147-A177-3AD203B41FA5}">
                      <a16:colId xmlns:a16="http://schemas.microsoft.com/office/drawing/2014/main" val="20002"/>
                    </a:ext>
                  </a:extLst>
                </a:gridCol>
                <a:gridCol w="3525308">
                  <a:extLst>
                    <a:ext uri="{9D8B030D-6E8A-4147-A177-3AD203B41FA5}">
                      <a16:colId xmlns:a16="http://schemas.microsoft.com/office/drawing/2014/main" val="20003"/>
                    </a:ext>
                  </a:extLst>
                </a:gridCol>
              </a:tblGrid>
              <a:tr h="297328">
                <a:tc gridSpan="2">
                  <a:txBody>
                    <a:bodyPr/>
                    <a:lstStyle/>
                    <a:p>
                      <a:pPr algn="ctr" latinLnBrk="1"/>
                      <a:r>
                        <a:rPr lang="ko-KR" altLang="en-US" sz="1200" b="1" dirty="0"/>
                        <a:t>특허발명의 특정</a:t>
                      </a:r>
                    </a:p>
                  </a:txBody>
                  <a:tcPr anchor="ctr">
                    <a:solidFill>
                      <a:schemeClr val="accent1">
                        <a:lumMod val="20000"/>
                        <a:lumOff val="80000"/>
                      </a:schemeClr>
                    </a:solidFill>
                  </a:tcPr>
                </a:tc>
                <a:tc hMerge="1">
                  <a:txBody>
                    <a:bodyPr/>
                    <a:lstStyle/>
                    <a:p>
                      <a:pPr latinLnBrk="1"/>
                      <a:endParaRPr lang="ko-KR" altLang="en-US"/>
                    </a:p>
                  </a:txBody>
                  <a:tcPr/>
                </a:tc>
                <a:tc>
                  <a:txBody>
                    <a:bodyPr/>
                    <a:lstStyle/>
                    <a:p>
                      <a:pPr algn="ctr" latinLnBrk="1"/>
                      <a:r>
                        <a:rPr lang="ko-KR" altLang="en-US" sz="1200" b="1" dirty="0"/>
                        <a:t>피고제품의 특정</a:t>
                      </a:r>
                    </a:p>
                  </a:txBody>
                  <a:tcPr anchor="ctr">
                    <a:solidFill>
                      <a:schemeClr val="accent1">
                        <a:lumMod val="20000"/>
                        <a:lumOff val="80000"/>
                      </a:schemeClr>
                    </a:solidFill>
                  </a:tcPr>
                </a:tc>
                <a:tc>
                  <a:txBody>
                    <a:bodyPr/>
                    <a:lstStyle/>
                    <a:p>
                      <a:pPr algn="ctr" latinLnBrk="1"/>
                      <a:r>
                        <a:rPr lang="ko-KR" altLang="en-US" sz="1200" b="1" dirty="0"/>
                        <a:t>판단</a:t>
                      </a:r>
                      <a:r>
                        <a:rPr lang="en-US" altLang="ko-KR" sz="1200" b="1" dirty="0"/>
                        <a:t>(○/×/△) </a:t>
                      </a:r>
                      <a:endParaRPr lang="ko-KR" altLang="en-US" sz="1200" b="1" dirty="0"/>
                    </a:p>
                  </a:txBody>
                  <a:tcPr anchor="ctr">
                    <a:solidFill>
                      <a:schemeClr val="accent1">
                        <a:lumMod val="20000"/>
                        <a:lumOff val="80000"/>
                      </a:schemeClr>
                    </a:solidFill>
                  </a:tcPr>
                </a:tc>
                <a:extLst>
                  <a:ext uri="{0D108BD9-81ED-4DB2-BD59-A6C34878D82A}">
                    <a16:rowId xmlns:a16="http://schemas.microsoft.com/office/drawing/2014/main" val="10000"/>
                  </a:ext>
                </a:extLst>
              </a:tr>
              <a:tr h="297328">
                <a:tc gridSpan="2">
                  <a:txBody>
                    <a:bodyPr/>
                    <a:lstStyle/>
                    <a:p>
                      <a:pPr algn="ctr" latinLnBrk="1"/>
                      <a:r>
                        <a:rPr lang="en-US" altLang="ko-KR" sz="1200" dirty="0"/>
                        <a:t>A</a:t>
                      </a:r>
                      <a:endParaRPr lang="ko-KR" altLang="en-US" sz="1200" dirty="0"/>
                    </a:p>
                  </a:txBody>
                  <a:tcPr anchor="ctr"/>
                </a:tc>
                <a:tc hMerge="1">
                  <a:txBody>
                    <a:bodyPr/>
                    <a:lstStyle/>
                    <a:p>
                      <a:pPr latinLnBrk="1"/>
                      <a:endParaRPr lang="ko-KR" altLang="en-US"/>
                    </a:p>
                  </a:txBody>
                  <a:tcPr/>
                </a:tc>
                <a:tc>
                  <a:txBody>
                    <a:bodyPr/>
                    <a:lstStyle/>
                    <a:p>
                      <a:pPr algn="ctr" latinLnBrk="1"/>
                      <a:r>
                        <a:rPr lang="en-US" altLang="ko-KR" sz="1200" dirty="0"/>
                        <a:t>A</a:t>
                      </a:r>
                      <a:endParaRPr lang="ko-KR" altLang="en-US" sz="1200" dirty="0"/>
                    </a:p>
                  </a:txBody>
                  <a:tcPr anchor="ctr"/>
                </a:tc>
                <a:tc>
                  <a:txBody>
                    <a:bodyPr/>
                    <a:lstStyle/>
                    <a:p>
                      <a:pPr algn="ctr" latinLnBrk="1"/>
                      <a:r>
                        <a:rPr lang="en-US" altLang="ko-KR" sz="1200" dirty="0"/>
                        <a:t>○</a:t>
                      </a:r>
                      <a:endParaRPr lang="ko-KR" altLang="en-US" sz="1200" dirty="0"/>
                    </a:p>
                  </a:txBody>
                  <a:tcPr anchor="ctr"/>
                </a:tc>
                <a:extLst>
                  <a:ext uri="{0D108BD9-81ED-4DB2-BD59-A6C34878D82A}">
                    <a16:rowId xmlns:a16="http://schemas.microsoft.com/office/drawing/2014/main" val="10001"/>
                  </a:ext>
                </a:extLst>
              </a:tr>
              <a:tr h="297328">
                <a:tc gridSpan="2">
                  <a:txBody>
                    <a:bodyPr/>
                    <a:lstStyle/>
                    <a:p>
                      <a:pPr algn="ctr" latinLnBrk="1"/>
                      <a:r>
                        <a:rPr lang="en-US" altLang="ko-KR" sz="1200" dirty="0"/>
                        <a:t>B</a:t>
                      </a:r>
                      <a:endParaRPr lang="ko-KR" altLang="en-US" sz="1200" dirty="0"/>
                    </a:p>
                  </a:txBody>
                  <a:tcPr anchor="ctr"/>
                </a:tc>
                <a:tc hMerge="1">
                  <a:txBody>
                    <a:bodyPr/>
                    <a:lstStyle/>
                    <a:p>
                      <a:pPr latinLnBrk="1"/>
                      <a:endParaRPr lang="ko-KR" altLang="en-US"/>
                    </a:p>
                  </a:txBody>
                  <a:tcPr/>
                </a:tc>
                <a:tc>
                  <a:txBody>
                    <a:bodyPr/>
                    <a:lstStyle/>
                    <a:p>
                      <a:pPr algn="ctr" latinLnBrk="1"/>
                      <a:r>
                        <a:rPr lang="en-US" altLang="ko-KR" sz="1200" dirty="0"/>
                        <a:t>B</a:t>
                      </a:r>
                      <a:endParaRPr lang="ko-KR" altLang="en-US" sz="1200" dirty="0"/>
                    </a:p>
                  </a:txBody>
                  <a:tcPr anchor="ctr"/>
                </a:tc>
                <a:tc>
                  <a:txBody>
                    <a:bodyPr/>
                    <a:lstStyle/>
                    <a:p>
                      <a:pPr algn="ctr" latinLnBrk="1"/>
                      <a:r>
                        <a:rPr lang="en-US" altLang="ko-KR" sz="1200" dirty="0"/>
                        <a:t>○</a:t>
                      </a:r>
                      <a:endParaRPr lang="ko-KR" altLang="en-US" sz="1200" dirty="0"/>
                    </a:p>
                  </a:txBody>
                  <a:tcPr anchor="ctr"/>
                </a:tc>
                <a:extLst>
                  <a:ext uri="{0D108BD9-81ED-4DB2-BD59-A6C34878D82A}">
                    <a16:rowId xmlns:a16="http://schemas.microsoft.com/office/drawing/2014/main" val="10002"/>
                  </a:ext>
                </a:extLst>
              </a:tr>
              <a:tr h="297328">
                <a:tc gridSpan="2">
                  <a:txBody>
                    <a:bodyPr/>
                    <a:lstStyle/>
                    <a:p>
                      <a:pPr algn="ctr" latinLnBrk="1"/>
                      <a:r>
                        <a:rPr lang="en-US" altLang="ko-KR" sz="1200" dirty="0"/>
                        <a:t>C</a:t>
                      </a:r>
                      <a:endParaRPr lang="ko-KR" altLang="en-US" sz="1200" dirty="0"/>
                    </a:p>
                  </a:txBody>
                  <a:tcPr anchor="ctr"/>
                </a:tc>
                <a:tc hMerge="1">
                  <a:txBody>
                    <a:bodyPr/>
                    <a:lstStyle/>
                    <a:p>
                      <a:pPr latinLnBrk="1"/>
                      <a:endParaRPr lang="ko-KR" altLang="en-US"/>
                    </a:p>
                  </a:txBody>
                  <a:tcPr/>
                </a:tc>
                <a:tc>
                  <a:txBody>
                    <a:bodyPr/>
                    <a:lstStyle/>
                    <a:p>
                      <a:pPr algn="ctr" latinLnBrk="1"/>
                      <a:r>
                        <a:rPr lang="en-US" altLang="ko-KR" sz="1200" dirty="0"/>
                        <a:t>C1</a:t>
                      </a:r>
                      <a:endParaRPr lang="ko-KR" altLang="en-US" sz="1200" dirty="0"/>
                    </a:p>
                  </a:txBody>
                  <a:tcPr anchor="ctr"/>
                </a:tc>
                <a:tc>
                  <a:txBody>
                    <a:bodyPr/>
                    <a:lstStyle/>
                    <a:p>
                      <a:pPr algn="ctr" latinLnBrk="1"/>
                      <a:r>
                        <a:rPr lang="en-US" altLang="ko-KR" sz="1200" dirty="0"/>
                        <a:t>△</a:t>
                      </a:r>
                      <a:endParaRPr lang="ko-KR" altLang="en-US" sz="1200" dirty="0"/>
                    </a:p>
                  </a:txBody>
                  <a:tcPr anchor="ctr"/>
                </a:tc>
                <a:extLst>
                  <a:ext uri="{0D108BD9-81ED-4DB2-BD59-A6C34878D82A}">
                    <a16:rowId xmlns:a16="http://schemas.microsoft.com/office/drawing/2014/main" val="10003"/>
                  </a:ext>
                </a:extLst>
              </a:tr>
              <a:tr h="495547">
                <a:tc>
                  <a:txBody>
                    <a:bodyPr/>
                    <a:lstStyle/>
                    <a:p>
                      <a:pPr algn="ctr" latinLnBrk="1"/>
                      <a:r>
                        <a:rPr lang="ko-KR" altLang="en-US" sz="1200" b="1" dirty="0"/>
                        <a:t>결 </a:t>
                      </a:r>
                      <a:r>
                        <a:rPr lang="ko-KR" altLang="en-US" sz="1200" b="1" dirty="0" err="1"/>
                        <a:t>론</a:t>
                      </a:r>
                      <a:endParaRPr lang="ko-KR" altLang="en-US" sz="1200" b="1" dirty="0"/>
                    </a:p>
                  </a:txBody>
                  <a:tcPr anchor="ctr">
                    <a:solidFill>
                      <a:schemeClr val="accent1">
                        <a:lumMod val="20000"/>
                        <a:lumOff val="80000"/>
                      </a:schemeClr>
                    </a:solidFill>
                  </a:tcPr>
                </a:tc>
                <a:tc gridSpan="3">
                  <a:txBody>
                    <a:bodyPr/>
                    <a:lstStyle/>
                    <a:p>
                      <a:pPr algn="l" latinLnBrk="1"/>
                      <a:r>
                        <a:rPr lang="en-US" altLang="ko-KR" sz="1200" dirty="0"/>
                        <a:t>△(</a:t>
                      </a:r>
                      <a:r>
                        <a:rPr lang="ko-KR" altLang="en-US" sz="1200" dirty="0"/>
                        <a:t>특허발명과 확인대상발명을 대비하여 특허발명에 대응되는 구성이 모두 동일하면 구성요소완비의 원칙을 적용하고</a:t>
                      </a:r>
                      <a:r>
                        <a:rPr lang="en-US" altLang="ko-KR" sz="1200" dirty="0"/>
                        <a:t>, </a:t>
                      </a:r>
                      <a:r>
                        <a:rPr lang="ko-KR" altLang="en-US" sz="1200" dirty="0"/>
                        <a:t>대응되는 구성의 일부에 차이가 있다면 </a:t>
                      </a:r>
                      <a:r>
                        <a:rPr lang="ko-KR" altLang="en-US" sz="1200" dirty="0" err="1"/>
                        <a:t>균등론의</a:t>
                      </a:r>
                      <a:r>
                        <a:rPr lang="ko-KR" altLang="en-US" sz="1200" dirty="0"/>
                        <a:t> 적용 여부를 검토하여 침해 여부를 판단한다</a:t>
                      </a:r>
                      <a:r>
                        <a:rPr lang="en-US" altLang="ko-KR" sz="1200" dirty="0"/>
                        <a:t>. </a:t>
                      </a:r>
                      <a:r>
                        <a:rPr lang="ko-KR" altLang="en-US" sz="1200" dirty="0"/>
                        <a:t>특허발명의 구성요소 중 일부라도 생략되어 있다면 </a:t>
                      </a:r>
                      <a:r>
                        <a:rPr lang="ko-KR" altLang="en-US" sz="1200" dirty="0" err="1"/>
                        <a:t>비침해이다</a:t>
                      </a:r>
                      <a:r>
                        <a:rPr lang="en-US" altLang="ko-KR" sz="1200" dirty="0"/>
                        <a:t>.)</a:t>
                      </a:r>
                      <a:endParaRPr lang="ko-KR" altLang="en-US" sz="1200" dirty="0"/>
                    </a:p>
                  </a:txBody>
                  <a:tcPr anchor="ctr"/>
                </a:tc>
                <a:tc hMerge="1">
                  <a:txBody>
                    <a:bodyPr/>
                    <a:lstStyle/>
                    <a:p>
                      <a:pPr algn="l" latinLnBrk="1"/>
                      <a:endParaRPr lang="ko-KR" altLang="en-US" sz="1200" dirty="0"/>
                    </a:p>
                  </a:txBody>
                  <a:tcPr anchor="ctr"/>
                </a:tc>
                <a:tc hMerge="1">
                  <a:txBody>
                    <a:bodyPr/>
                    <a:lstStyle/>
                    <a:p>
                      <a:pPr algn="ctr" latinLnBrk="1"/>
                      <a:endParaRPr lang="ko-KR" altLang="en-US" sz="1400" dirty="0"/>
                    </a:p>
                  </a:txBody>
                  <a:tcPr anchor="ctr"/>
                </a:tc>
                <a:extLst>
                  <a:ext uri="{0D108BD9-81ED-4DB2-BD59-A6C34878D82A}">
                    <a16:rowId xmlns:a16="http://schemas.microsoft.com/office/drawing/2014/main" val="10004"/>
                  </a:ext>
                </a:extLst>
              </a:tr>
            </a:tbl>
          </a:graphicData>
        </a:graphic>
      </p:graphicFrame>
      <p:cxnSp>
        <p:nvCxnSpPr>
          <p:cNvPr id="3" name="직선 화살표 연결선 2"/>
          <p:cNvCxnSpPr/>
          <p:nvPr/>
        </p:nvCxnSpPr>
        <p:spPr>
          <a:xfrm>
            <a:off x="3452501" y="5376106"/>
            <a:ext cx="1794617" cy="0"/>
          </a:xfrm>
          <a:prstGeom prst="straightConnector1">
            <a:avLst/>
          </a:prstGeom>
          <a:ln w="127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 name="직선 화살표 연결선 25"/>
          <p:cNvCxnSpPr/>
          <p:nvPr/>
        </p:nvCxnSpPr>
        <p:spPr>
          <a:xfrm>
            <a:off x="3452501" y="5666663"/>
            <a:ext cx="1794617" cy="0"/>
          </a:xfrm>
          <a:prstGeom prst="straightConnector1">
            <a:avLst/>
          </a:prstGeom>
          <a:ln w="127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 name="직선 화살표 연결선 26"/>
          <p:cNvCxnSpPr/>
          <p:nvPr/>
        </p:nvCxnSpPr>
        <p:spPr>
          <a:xfrm>
            <a:off x="3452501" y="5948674"/>
            <a:ext cx="1794617" cy="0"/>
          </a:xfrm>
          <a:prstGeom prst="straightConnector1">
            <a:avLst/>
          </a:prstGeom>
          <a:ln w="127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3500797" y="5076876"/>
            <a:ext cx="1529586" cy="307777"/>
          </a:xfrm>
          <a:prstGeom prst="rect">
            <a:avLst/>
          </a:prstGeom>
          <a:noFill/>
        </p:spPr>
        <p:txBody>
          <a:bodyPr wrap="none" rtlCol="0">
            <a:spAutoFit/>
          </a:bodyPr>
          <a:lstStyle/>
          <a:p>
            <a:r>
              <a:rPr lang="ko-KR" altLang="en-US" sz="1400" dirty="0">
                <a:solidFill>
                  <a:srgbClr val="FF0000"/>
                </a:solidFill>
              </a:rPr>
              <a:t>대응되는 구성요소</a:t>
            </a:r>
          </a:p>
        </p:txBody>
      </p:sp>
      <p:sp>
        <p:nvSpPr>
          <p:cNvPr id="28" name="TextBox 27"/>
          <p:cNvSpPr txBox="1"/>
          <p:nvPr/>
        </p:nvSpPr>
        <p:spPr>
          <a:xfrm>
            <a:off x="6217549" y="5783579"/>
            <a:ext cx="2438488" cy="307777"/>
          </a:xfrm>
          <a:prstGeom prst="rect">
            <a:avLst/>
          </a:prstGeom>
          <a:noFill/>
        </p:spPr>
        <p:txBody>
          <a:bodyPr wrap="none" rtlCol="0">
            <a:spAutoFit/>
          </a:bodyPr>
          <a:lstStyle/>
          <a:p>
            <a:r>
              <a:rPr lang="ko-KR" altLang="en-US" sz="1400" dirty="0">
                <a:solidFill>
                  <a:srgbClr val="FF0000"/>
                </a:solidFill>
              </a:rPr>
              <a:t>차이점을 판단함에 필요한 정도</a:t>
            </a:r>
          </a:p>
        </p:txBody>
      </p:sp>
      <p:sp>
        <p:nvSpPr>
          <p:cNvPr id="7" name="타원 6"/>
          <p:cNvSpPr/>
          <p:nvPr/>
        </p:nvSpPr>
        <p:spPr>
          <a:xfrm>
            <a:off x="5826793" y="5723822"/>
            <a:ext cx="427289" cy="427289"/>
          </a:xfrm>
          <a:prstGeom prst="ellipse">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TextBox 28"/>
          <p:cNvSpPr txBox="1"/>
          <p:nvPr/>
        </p:nvSpPr>
        <p:spPr>
          <a:xfrm>
            <a:off x="7610475" y="3679325"/>
            <a:ext cx="4000500" cy="1055608"/>
          </a:xfrm>
          <a:prstGeom prst="wedgeRoundRectCallout">
            <a:avLst>
              <a:gd name="adj1" fmla="val -54881"/>
              <a:gd name="adj2" fmla="val -7694"/>
              <a:gd name="adj3" fmla="val 16667"/>
            </a:avLst>
          </a:prstGeom>
          <a:noFill/>
          <a:ln>
            <a:solidFill>
              <a:schemeClr val="bg1">
                <a:lumMod val="50000"/>
              </a:schemeClr>
            </a:solidFill>
          </a:ln>
        </p:spPr>
        <p:txBody>
          <a:bodyPr wrap="square" rtlCol="0">
            <a:spAutoFit/>
          </a:bodyPr>
          <a:lstStyle/>
          <a:p>
            <a:r>
              <a:rPr lang="en-US" altLang="ko-KR" sz="1200" dirty="0"/>
              <a:t>* </a:t>
            </a:r>
            <a:r>
              <a:rPr lang="ko-KR" altLang="en-US" sz="1200" dirty="0"/>
              <a:t>특정을 위한 소명방법</a:t>
            </a:r>
            <a:r>
              <a:rPr lang="en-US" altLang="ko-KR" sz="1200" dirty="0">
                <a:solidFill>
                  <a:srgbClr val="FF0000"/>
                </a:solidFill>
              </a:rPr>
              <a:t>(</a:t>
            </a:r>
            <a:r>
              <a:rPr lang="ko-KR" altLang="en-US" sz="1200" dirty="0">
                <a:solidFill>
                  <a:srgbClr val="FF0000"/>
                </a:solidFill>
              </a:rPr>
              <a:t>사회통념상 구별될 수 있을 정도</a:t>
            </a:r>
            <a:r>
              <a:rPr lang="en-US" altLang="ko-KR" sz="1200" dirty="0">
                <a:solidFill>
                  <a:srgbClr val="FF0000"/>
                </a:solidFill>
              </a:rPr>
              <a:t>)</a:t>
            </a:r>
          </a:p>
          <a:p>
            <a:pPr marL="180975" lvl="1" indent="-95250">
              <a:buFont typeface="옥션고딕 M" pitchFamily="2" charset="-127"/>
              <a:buChar char="-"/>
              <a:tabLst>
                <a:tab pos="180975" algn="l"/>
              </a:tabLst>
            </a:pPr>
            <a:r>
              <a:rPr lang="ko-KR" altLang="en-US" sz="1100" dirty="0"/>
              <a:t>상품명</a:t>
            </a:r>
            <a:r>
              <a:rPr lang="en-US" altLang="ko-KR" sz="1100" dirty="0"/>
              <a:t>, </a:t>
            </a:r>
            <a:r>
              <a:rPr lang="ko-KR" altLang="en-US" sz="1100" dirty="0"/>
              <a:t>모델번호</a:t>
            </a:r>
            <a:r>
              <a:rPr lang="en-US" altLang="ko-KR" sz="1100" dirty="0"/>
              <a:t>, </a:t>
            </a:r>
            <a:r>
              <a:rPr lang="ko-KR" altLang="en-US" sz="1100" dirty="0"/>
              <a:t>형식번호에 의한 제품의 특정</a:t>
            </a:r>
            <a:endParaRPr lang="en-US" altLang="ko-KR" sz="1100" dirty="0"/>
          </a:p>
          <a:p>
            <a:pPr marL="180975" lvl="1" indent="-95250">
              <a:buFont typeface="옥션고딕 M" pitchFamily="2" charset="-127"/>
              <a:buChar char="-"/>
              <a:tabLst>
                <a:tab pos="180975" algn="l"/>
              </a:tabLst>
            </a:pPr>
            <a:r>
              <a:rPr lang="ko-KR" altLang="en-US" sz="1100" dirty="0"/>
              <a:t>현장사진</a:t>
            </a:r>
            <a:r>
              <a:rPr lang="en-US" altLang="ko-KR" sz="1100" dirty="0"/>
              <a:t>,  </a:t>
            </a:r>
            <a:r>
              <a:rPr lang="ko-KR" altLang="en-US" sz="1100" dirty="0"/>
              <a:t>제품카탈로그</a:t>
            </a:r>
            <a:r>
              <a:rPr lang="en-US" altLang="ko-KR" sz="1100" dirty="0"/>
              <a:t>, </a:t>
            </a:r>
            <a:r>
              <a:rPr lang="ko-KR" altLang="en-US" sz="1100" dirty="0"/>
              <a:t>전기제품에 내장된 회로도</a:t>
            </a:r>
            <a:r>
              <a:rPr lang="en-US" altLang="ko-KR" sz="1100" dirty="0"/>
              <a:t>,  </a:t>
            </a:r>
            <a:r>
              <a:rPr lang="ko-KR" altLang="en-US" sz="1100" dirty="0"/>
              <a:t>사양서 등에 의한 특정</a:t>
            </a:r>
            <a:endParaRPr lang="en-US" altLang="ko-KR" sz="1100" dirty="0"/>
          </a:p>
          <a:p>
            <a:pPr marL="180975" lvl="1" indent="-95250">
              <a:buFont typeface="옥션고딕 M" pitchFamily="2" charset="-127"/>
              <a:buChar char="-"/>
              <a:tabLst>
                <a:tab pos="180975" algn="l"/>
              </a:tabLst>
            </a:pPr>
            <a:r>
              <a:rPr lang="ko-KR" altLang="en-US" sz="1100" dirty="0"/>
              <a:t>자료제출명령 및 현장 검증에 의한 특정</a:t>
            </a:r>
            <a:endParaRPr lang="en-US" altLang="ko-KR" sz="1100" dirty="0"/>
          </a:p>
        </p:txBody>
      </p:sp>
    </p:spTree>
    <p:extLst>
      <p:ext uri="{BB962C8B-B14F-4D97-AF65-F5344CB8AC3E}">
        <p14:creationId xmlns:p14="http://schemas.microsoft.com/office/powerpoint/2010/main" val="1060408534"/>
      </p:ext>
    </p:extLst>
  </p:cSld>
  <p:clrMapOvr>
    <a:masterClrMapping/>
  </p:clrMapOvr>
  <p:transition/>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p:cNvSpPr>
            <a:spLocks noGrp="1"/>
          </p:cNvSpPr>
          <p:nvPr>
            <p:ph type="body" sz="quarter" idx="13"/>
          </p:nvPr>
        </p:nvSpPr>
        <p:spPr/>
        <p:txBody>
          <a:bodyPr/>
          <a:lstStyle/>
          <a:p>
            <a:r>
              <a:rPr lang="ko-KR" altLang="en-US" dirty="0"/>
              <a:t>특허발명의 실시인지 판단</a:t>
            </a:r>
          </a:p>
        </p:txBody>
      </p:sp>
      <p:grpSp>
        <p:nvGrpSpPr>
          <p:cNvPr id="2" name="그룹 1"/>
          <p:cNvGrpSpPr/>
          <p:nvPr/>
        </p:nvGrpSpPr>
        <p:grpSpPr>
          <a:xfrm>
            <a:off x="359794" y="1896491"/>
            <a:ext cx="6298368" cy="3819477"/>
            <a:chOff x="1358900" y="1261466"/>
            <a:chExt cx="10177730" cy="3819477"/>
          </a:xfrm>
        </p:grpSpPr>
        <p:sp>
          <p:nvSpPr>
            <p:cNvPr id="7" name="AutoShape 2"/>
            <p:cNvSpPr>
              <a:spLocks noChangeArrowheads="1"/>
            </p:cNvSpPr>
            <p:nvPr/>
          </p:nvSpPr>
          <p:spPr bwMode="auto">
            <a:xfrm>
              <a:off x="2927351" y="2717156"/>
              <a:ext cx="2829983" cy="935037"/>
            </a:xfrm>
            <a:prstGeom prst="flowChartDecision">
              <a:avLst/>
            </a:prstGeom>
            <a:ln>
              <a:headEnd/>
              <a:tailEnd/>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altLang="ko-KR" sz="1200" dirty="0">
                  <a:solidFill>
                    <a:schemeClr val="bg1"/>
                  </a:solidFill>
                  <a:latin typeface="+mn-ea"/>
                </a:rPr>
                <a:t>AER?</a:t>
              </a:r>
            </a:p>
            <a:p>
              <a:pPr algn="ctr">
                <a:defRPr/>
              </a:pPr>
              <a:r>
                <a:rPr lang="en-US" altLang="ko-KR" sz="1200" dirty="0">
                  <a:solidFill>
                    <a:schemeClr val="bg1"/>
                  </a:solidFill>
                  <a:latin typeface="+mn-ea"/>
                </a:rPr>
                <a:t>(</a:t>
              </a:r>
              <a:r>
                <a:rPr lang="ko-KR" altLang="en-US" sz="1200" dirty="0">
                  <a:solidFill>
                    <a:schemeClr val="bg1"/>
                  </a:solidFill>
                  <a:latin typeface="+mn-ea"/>
                </a:rPr>
                <a:t>문언침해</a:t>
              </a:r>
              <a:r>
                <a:rPr lang="en-US" altLang="ko-KR" sz="1200" dirty="0">
                  <a:solidFill>
                    <a:schemeClr val="bg1"/>
                  </a:solidFill>
                  <a:latin typeface="+mn-ea"/>
                </a:rPr>
                <a:t>)</a:t>
              </a:r>
            </a:p>
          </p:txBody>
        </p:sp>
        <p:sp>
          <p:nvSpPr>
            <p:cNvPr id="8" name="Rectangle 5"/>
            <p:cNvSpPr>
              <a:spLocks noChangeArrowheads="1"/>
            </p:cNvSpPr>
            <p:nvPr/>
          </p:nvSpPr>
          <p:spPr bwMode="auto">
            <a:xfrm>
              <a:off x="3599723" y="1261466"/>
              <a:ext cx="1344083" cy="719138"/>
            </a:xfrm>
            <a:prstGeom prst="rect">
              <a:avLst/>
            </a:prstGeom>
            <a:solidFill>
              <a:schemeClr val="accent2">
                <a:lumMod val="60000"/>
                <a:lumOff val="40000"/>
                <a:alpha val="30196"/>
              </a:schemeClr>
            </a:solidFill>
            <a:ln w="9525">
              <a:solidFill>
                <a:schemeClr val="tx1"/>
              </a:solidFill>
              <a:miter lim="800000"/>
              <a:headEnd/>
              <a:tailEnd/>
            </a:ln>
          </p:spPr>
          <p:txBody>
            <a:bodyPr wrap="none" anchor="ctr"/>
            <a:lstStyle/>
            <a:p>
              <a:pPr algn="ctr"/>
              <a:r>
                <a:rPr lang="ko-KR" altLang="en-US" sz="1200" b="0">
                  <a:solidFill>
                    <a:schemeClr val="tx1"/>
                  </a:solidFill>
                  <a:latin typeface="+mn-ea"/>
                </a:rPr>
                <a:t>침해</a:t>
              </a:r>
            </a:p>
          </p:txBody>
        </p:sp>
        <p:sp>
          <p:nvSpPr>
            <p:cNvPr id="9" name="Rectangle 6"/>
            <p:cNvSpPr>
              <a:spLocks noChangeArrowheads="1"/>
            </p:cNvSpPr>
            <p:nvPr/>
          </p:nvSpPr>
          <p:spPr bwMode="auto">
            <a:xfrm>
              <a:off x="3670300" y="4361806"/>
              <a:ext cx="1344084" cy="719137"/>
            </a:xfrm>
            <a:prstGeom prst="rect">
              <a:avLst/>
            </a:prstGeom>
            <a:solidFill>
              <a:schemeClr val="accent1">
                <a:alpha val="50195"/>
              </a:schemeClr>
            </a:solidFill>
            <a:ln w="9525">
              <a:solidFill>
                <a:schemeClr val="tx1"/>
              </a:solidFill>
              <a:miter lim="800000"/>
              <a:headEnd/>
              <a:tailEnd/>
            </a:ln>
          </p:spPr>
          <p:txBody>
            <a:bodyPr wrap="none" anchor="ctr"/>
            <a:lstStyle/>
            <a:p>
              <a:pPr algn="ctr"/>
              <a:r>
                <a:rPr lang="ko-KR" altLang="en-US" sz="1200" b="0">
                  <a:solidFill>
                    <a:schemeClr val="tx1"/>
                  </a:solidFill>
                  <a:latin typeface="+mn-ea"/>
                </a:rPr>
                <a:t>비침해</a:t>
              </a:r>
            </a:p>
          </p:txBody>
        </p:sp>
        <p:sp>
          <p:nvSpPr>
            <p:cNvPr id="10" name="Text Box 8"/>
            <p:cNvSpPr txBox="1">
              <a:spLocks noChangeArrowheads="1"/>
            </p:cNvSpPr>
            <p:nvPr/>
          </p:nvSpPr>
          <p:spPr bwMode="auto">
            <a:xfrm>
              <a:off x="1358900" y="3291831"/>
              <a:ext cx="2048933" cy="276999"/>
            </a:xfrm>
            <a:prstGeom prst="rect">
              <a:avLst/>
            </a:prstGeom>
            <a:noFill/>
            <a:ln w="9525">
              <a:noFill/>
              <a:miter lim="800000"/>
              <a:headEnd/>
              <a:tailEnd/>
            </a:ln>
          </p:spPr>
          <p:txBody>
            <a:bodyPr>
              <a:spAutoFit/>
            </a:bodyPr>
            <a:lstStyle/>
            <a:p>
              <a:pPr>
                <a:spcBef>
                  <a:spcPct val="50000"/>
                </a:spcBef>
              </a:pPr>
              <a:r>
                <a:rPr lang="ko-KR" altLang="en-US" sz="1200" b="0">
                  <a:solidFill>
                    <a:schemeClr val="tx1"/>
                  </a:solidFill>
                  <a:latin typeface="+mn-ea"/>
                </a:rPr>
                <a:t>구성요소의 부가</a:t>
              </a:r>
            </a:p>
          </p:txBody>
        </p:sp>
        <p:sp>
          <p:nvSpPr>
            <p:cNvPr id="11" name="Text Box 12"/>
            <p:cNvSpPr txBox="1">
              <a:spLocks noChangeArrowheads="1"/>
            </p:cNvSpPr>
            <p:nvPr/>
          </p:nvSpPr>
          <p:spPr bwMode="auto">
            <a:xfrm>
              <a:off x="4464051" y="3653781"/>
              <a:ext cx="2592916" cy="276999"/>
            </a:xfrm>
            <a:prstGeom prst="rect">
              <a:avLst/>
            </a:prstGeom>
            <a:noFill/>
            <a:ln w="9525">
              <a:noFill/>
              <a:miter lim="800000"/>
              <a:headEnd/>
              <a:tailEnd/>
            </a:ln>
          </p:spPr>
          <p:txBody>
            <a:bodyPr>
              <a:spAutoFit/>
            </a:bodyPr>
            <a:lstStyle/>
            <a:p>
              <a:pPr>
                <a:spcBef>
                  <a:spcPct val="50000"/>
                </a:spcBef>
              </a:pPr>
              <a:r>
                <a:rPr lang="ko-KR" altLang="en-US" sz="1200" b="0">
                  <a:solidFill>
                    <a:schemeClr val="tx1"/>
                  </a:solidFill>
                  <a:latin typeface="+mn-ea"/>
                </a:rPr>
                <a:t>구성요소의 삭제</a:t>
              </a:r>
            </a:p>
          </p:txBody>
        </p:sp>
        <p:sp>
          <p:nvSpPr>
            <p:cNvPr id="12" name="AutoShape 2"/>
            <p:cNvSpPr>
              <a:spLocks noChangeArrowheads="1"/>
            </p:cNvSpPr>
            <p:nvPr/>
          </p:nvSpPr>
          <p:spPr bwMode="auto">
            <a:xfrm>
              <a:off x="6915151" y="2717156"/>
              <a:ext cx="2829983" cy="935037"/>
            </a:xfrm>
            <a:prstGeom prst="flowChartDecision">
              <a:avLst/>
            </a:prstGeom>
            <a:ln>
              <a:headEnd/>
              <a:tailEnd/>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r>
                <a:rPr lang="en-US" altLang="ko-KR" sz="1200" dirty="0">
                  <a:solidFill>
                    <a:schemeClr val="bg1"/>
                  </a:solidFill>
                  <a:latin typeface="+mn-ea"/>
                </a:rPr>
                <a:t>DOE?</a:t>
              </a:r>
            </a:p>
            <a:p>
              <a:pPr algn="ctr">
                <a:defRPr/>
              </a:pPr>
              <a:r>
                <a:rPr lang="en-US" altLang="ko-KR" sz="1200" dirty="0">
                  <a:solidFill>
                    <a:schemeClr val="bg1"/>
                  </a:solidFill>
                  <a:latin typeface="+mn-ea"/>
                </a:rPr>
                <a:t>(</a:t>
              </a:r>
              <a:r>
                <a:rPr lang="ko-KR" altLang="en-US" sz="1200" dirty="0">
                  <a:solidFill>
                    <a:schemeClr val="bg1"/>
                  </a:solidFill>
                  <a:latin typeface="+mn-ea"/>
                </a:rPr>
                <a:t>균등침해</a:t>
              </a:r>
              <a:r>
                <a:rPr lang="en-US" altLang="ko-KR" sz="1200" dirty="0">
                  <a:solidFill>
                    <a:schemeClr val="bg1"/>
                  </a:solidFill>
                  <a:latin typeface="+mn-ea"/>
                </a:rPr>
                <a:t>)</a:t>
              </a:r>
            </a:p>
          </p:txBody>
        </p:sp>
        <p:cxnSp>
          <p:nvCxnSpPr>
            <p:cNvPr id="13" name="직선 화살표 연결선 36"/>
            <p:cNvCxnSpPr>
              <a:cxnSpLocks noChangeShapeType="1"/>
              <a:stCxn id="7" idx="2"/>
              <a:endCxn id="9" idx="0"/>
            </p:cNvCxnSpPr>
            <p:nvPr/>
          </p:nvCxnSpPr>
          <p:spPr bwMode="auto">
            <a:xfrm flipH="1">
              <a:off x="4342342" y="3652193"/>
              <a:ext cx="1" cy="709613"/>
            </a:xfrm>
            <a:prstGeom prst="straightConnector1">
              <a:avLst/>
            </a:prstGeom>
            <a:noFill/>
            <a:ln w="9525">
              <a:solidFill>
                <a:srgbClr val="5F5F5F"/>
              </a:solidFill>
              <a:round/>
              <a:headEnd type="none" w="med" len="med"/>
              <a:tailEnd type="triangle" w="med" len="med"/>
            </a:ln>
          </p:spPr>
        </p:cxnSp>
        <p:sp>
          <p:nvSpPr>
            <p:cNvPr id="14" name="Text Box 8"/>
            <p:cNvSpPr txBox="1">
              <a:spLocks noChangeArrowheads="1"/>
            </p:cNvSpPr>
            <p:nvPr/>
          </p:nvSpPr>
          <p:spPr bwMode="auto">
            <a:xfrm>
              <a:off x="5486400" y="2788593"/>
              <a:ext cx="2051051" cy="276999"/>
            </a:xfrm>
            <a:prstGeom prst="rect">
              <a:avLst/>
            </a:prstGeom>
            <a:noFill/>
            <a:ln w="9525">
              <a:noFill/>
              <a:miter lim="800000"/>
              <a:headEnd/>
              <a:tailEnd/>
            </a:ln>
          </p:spPr>
          <p:txBody>
            <a:bodyPr>
              <a:spAutoFit/>
            </a:bodyPr>
            <a:lstStyle/>
            <a:p>
              <a:pPr>
                <a:spcBef>
                  <a:spcPct val="50000"/>
                </a:spcBef>
              </a:pPr>
              <a:r>
                <a:rPr lang="ko-KR" altLang="en-US" sz="1200" b="0" dirty="0">
                  <a:solidFill>
                    <a:schemeClr val="tx1"/>
                  </a:solidFill>
                  <a:latin typeface="+mn-ea"/>
                </a:rPr>
                <a:t>구성요소의 변경</a:t>
              </a:r>
            </a:p>
          </p:txBody>
        </p:sp>
        <p:cxnSp>
          <p:nvCxnSpPr>
            <p:cNvPr id="15" name="Shape 41"/>
            <p:cNvCxnSpPr>
              <a:cxnSpLocks noChangeShapeType="1"/>
              <a:stCxn id="12" idx="2"/>
              <a:endCxn id="9" idx="3"/>
            </p:cNvCxnSpPr>
            <p:nvPr/>
          </p:nvCxnSpPr>
          <p:spPr bwMode="auto">
            <a:xfrm rot="5400000">
              <a:off x="6137673" y="2528905"/>
              <a:ext cx="1069182" cy="3315759"/>
            </a:xfrm>
            <a:prstGeom prst="bentConnector2">
              <a:avLst/>
            </a:prstGeom>
            <a:noFill/>
            <a:ln w="9525">
              <a:solidFill>
                <a:srgbClr val="5F5F5F"/>
              </a:solidFill>
              <a:round/>
              <a:headEnd type="none" w="med" len="med"/>
              <a:tailEnd type="triangle" w="med" len="med"/>
            </a:ln>
          </p:spPr>
        </p:cxnSp>
        <p:cxnSp>
          <p:nvCxnSpPr>
            <p:cNvPr id="17" name="꺾인 연결선 43"/>
            <p:cNvCxnSpPr>
              <a:cxnSpLocks noChangeShapeType="1"/>
              <a:stCxn id="12" idx="3"/>
              <a:endCxn id="8" idx="3"/>
            </p:cNvCxnSpPr>
            <p:nvPr/>
          </p:nvCxnSpPr>
          <p:spPr bwMode="auto">
            <a:xfrm flipH="1" flipV="1">
              <a:off x="4943805" y="1621036"/>
              <a:ext cx="4801328" cy="1563639"/>
            </a:xfrm>
            <a:prstGeom prst="bentConnector3">
              <a:avLst>
                <a:gd name="adj1" fmla="val -23426"/>
              </a:avLst>
            </a:prstGeom>
            <a:noFill/>
            <a:ln w="9525">
              <a:solidFill>
                <a:srgbClr val="5F5F5F"/>
              </a:solidFill>
              <a:round/>
              <a:headEnd type="none" w="med" len="med"/>
              <a:tailEnd type="triangle" w="med" len="med"/>
            </a:ln>
          </p:spPr>
        </p:cxnSp>
        <p:cxnSp>
          <p:nvCxnSpPr>
            <p:cNvPr id="19" name="직선 화살표 연결선 45"/>
            <p:cNvCxnSpPr>
              <a:cxnSpLocks noChangeShapeType="1"/>
              <a:stCxn id="7" idx="3"/>
              <a:endCxn id="12" idx="1"/>
            </p:cNvCxnSpPr>
            <p:nvPr/>
          </p:nvCxnSpPr>
          <p:spPr bwMode="auto">
            <a:xfrm>
              <a:off x="5757334" y="3185467"/>
              <a:ext cx="1157817" cy="1588"/>
            </a:xfrm>
            <a:prstGeom prst="straightConnector1">
              <a:avLst/>
            </a:prstGeom>
            <a:noFill/>
            <a:ln w="9525">
              <a:solidFill>
                <a:srgbClr val="5F5F5F"/>
              </a:solidFill>
              <a:round/>
              <a:headEnd type="none" w="med" len="med"/>
              <a:tailEnd type="triangle" w="med" len="med"/>
            </a:ln>
          </p:spPr>
        </p:cxnSp>
        <p:cxnSp>
          <p:nvCxnSpPr>
            <p:cNvPr id="20" name="꺾인 연결선 47"/>
            <p:cNvCxnSpPr>
              <a:cxnSpLocks noChangeShapeType="1"/>
              <a:stCxn id="7" idx="1"/>
              <a:endCxn id="8" idx="1"/>
            </p:cNvCxnSpPr>
            <p:nvPr/>
          </p:nvCxnSpPr>
          <p:spPr bwMode="auto">
            <a:xfrm rot="10800000" flipH="1">
              <a:off x="2927350" y="1621037"/>
              <a:ext cx="672372" cy="1563639"/>
            </a:xfrm>
            <a:prstGeom prst="bentConnector3">
              <a:avLst>
                <a:gd name="adj1" fmla="val -244312"/>
              </a:avLst>
            </a:prstGeom>
            <a:noFill/>
            <a:ln w="9525">
              <a:solidFill>
                <a:srgbClr val="5F5F5F"/>
              </a:solidFill>
              <a:round/>
              <a:headEnd type="none" w="med" len="med"/>
              <a:tailEnd type="triangle" w="med" len="med"/>
            </a:ln>
          </p:spPr>
        </p:cxnSp>
        <p:sp>
          <p:nvSpPr>
            <p:cNvPr id="21" name="Text Box 8"/>
            <p:cNvSpPr txBox="1">
              <a:spLocks noChangeArrowheads="1"/>
            </p:cNvSpPr>
            <p:nvPr/>
          </p:nvSpPr>
          <p:spPr bwMode="auto">
            <a:xfrm>
              <a:off x="6096000" y="4360218"/>
              <a:ext cx="2048933" cy="276999"/>
            </a:xfrm>
            <a:prstGeom prst="rect">
              <a:avLst/>
            </a:prstGeom>
            <a:noFill/>
            <a:ln w="9525">
              <a:noFill/>
              <a:miter lim="800000"/>
              <a:headEnd/>
              <a:tailEnd/>
            </a:ln>
          </p:spPr>
          <p:txBody>
            <a:bodyPr>
              <a:spAutoFit/>
            </a:bodyPr>
            <a:lstStyle/>
            <a:p>
              <a:pPr>
                <a:spcBef>
                  <a:spcPct val="50000"/>
                </a:spcBef>
              </a:pPr>
              <a:r>
                <a:rPr lang="ko-KR" altLang="en-US" sz="1200" b="0" dirty="0" err="1">
                  <a:solidFill>
                    <a:schemeClr val="tx1"/>
                  </a:solidFill>
                  <a:latin typeface="+mn-ea"/>
                </a:rPr>
                <a:t>균등범위</a:t>
              </a:r>
              <a:r>
                <a:rPr lang="ko-KR" altLang="en-US" sz="1200" b="0" dirty="0">
                  <a:solidFill>
                    <a:schemeClr val="tx1"/>
                  </a:solidFill>
                  <a:latin typeface="+mn-ea"/>
                </a:rPr>
                <a:t> 外</a:t>
              </a:r>
            </a:p>
          </p:txBody>
        </p:sp>
        <p:sp>
          <p:nvSpPr>
            <p:cNvPr id="24" name="Text Box 8"/>
            <p:cNvSpPr txBox="1">
              <a:spLocks noChangeArrowheads="1"/>
            </p:cNvSpPr>
            <p:nvPr/>
          </p:nvSpPr>
          <p:spPr bwMode="auto">
            <a:xfrm>
              <a:off x="9487697" y="2769573"/>
              <a:ext cx="2048933" cy="276999"/>
            </a:xfrm>
            <a:prstGeom prst="rect">
              <a:avLst/>
            </a:prstGeom>
            <a:noFill/>
            <a:ln w="9525">
              <a:noFill/>
              <a:miter lim="800000"/>
              <a:headEnd/>
              <a:tailEnd/>
            </a:ln>
          </p:spPr>
          <p:txBody>
            <a:bodyPr>
              <a:spAutoFit/>
            </a:bodyPr>
            <a:lstStyle/>
            <a:p>
              <a:pPr>
                <a:spcBef>
                  <a:spcPct val="50000"/>
                </a:spcBef>
              </a:pPr>
              <a:r>
                <a:rPr lang="ko-KR" altLang="en-US" sz="1200" b="0" dirty="0">
                  <a:solidFill>
                    <a:schemeClr val="tx1"/>
                  </a:solidFill>
                  <a:latin typeface="+mn-ea"/>
                </a:rPr>
                <a:t>균등범위 內</a:t>
              </a:r>
            </a:p>
          </p:txBody>
        </p:sp>
      </p:grpSp>
      <p:sp>
        <p:nvSpPr>
          <p:cNvPr id="3" name="직사각형 2"/>
          <p:cNvSpPr/>
          <p:nvPr/>
        </p:nvSpPr>
        <p:spPr>
          <a:xfrm>
            <a:off x="6925733" y="1580536"/>
            <a:ext cx="4876800" cy="397032"/>
          </a:xfrm>
          <a:prstGeom prst="rect">
            <a:avLst/>
          </a:prstGeom>
          <a:solidFill>
            <a:schemeClr val="accent4">
              <a:lumMod val="20000"/>
              <a:lumOff val="80000"/>
            </a:schemeClr>
          </a:solidFill>
        </p:spPr>
        <p:txBody>
          <a:bodyPr wrap="square">
            <a:spAutoFit/>
          </a:bodyPr>
          <a:lstStyle/>
          <a:p>
            <a:pPr>
              <a:lnSpc>
                <a:spcPct val="110000"/>
              </a:lnSpc>
              <a:defRPr/>
            </a:pPr>
            <a:r>
              <a:rPr lang="en-US" altLang="ko-KR" b="1" dirty="0">
                <a:latin typeface="+mn-ea"/>
              </a:rPr>
              <a:t>* </a:t>
            </a:r>
            <a:r>
              <a:rPr lang="ko-KR" altLang="en-US" b="1" dirty="0">
                <a:latin typeface="+mn-ea"/>
              </a:rPr>
              <a:t>누가 특허를 침해 하였는가</a:t>
            </a:r>
            <a:r>
              <a:rPr lang="en-US" altLang="ko-KR" b="1" dirty="0">
                <a:latin typeface="+mn-ea"/>
              </a:rPr>
              <a:t>?  </a:t>
            </a:r>
          </a:p>
        </p:txBody>
      </p:sp>
      <p:cxnSp>
        <p:nvCxnSpPr>
          <p:cNvPr id="22" name="직선 연결선 21"/>
          <p:cNvCxnSpPr/>
          <p:nvPr/>
        </p:nvCxnSpPr>
        <p:spPr>
          <a:xfrm>
            <a:off x="6756402" y="947892"/>
            <a:ext cx="0" cy="55054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직사각형 22"/>
          <p:cNvSpPr/>
          <p:nvPr/>
        </p:nvSpPr>
        <p:spPr>
          <a:xfrm>
            <a:off x="7027333" y="2291159"/>
            <a:ext cx="4275667" cy="1446550"/>
          </a:xfrm>
          <a:prstGeom prst="rect">
            <a:avLst/>
          </a:prstGeom>
        </p:spPr>
        <p:txBody>
          <a:bodyPr wrap="square" lIns="0" rIns="0">
            <a:spAutoFit/>
          </a:bodyPr>
          <a:lstStyle/>
          <a:p>
            <a:pPr marL="0" lvl="1">
              <a:lnSpc>
                <a:spcPct val="110000"/>
              </a:lnSpc>
              <a:defRPr/>
            </a:pPr>
            <a:r>
              <a:rPr lang="en-US" altLang="ko-KR" sz="1600" dirty="0">
                <a:latin typeface="+mn-ea"/>
              </a:rPr>
              <a:t>[</a:t>
            </a:r>
            <a:r>
              <a:rPr lang="ko-KR" altLang="en-US" sz="1600" dirty="0" err="1">
                <a:latin typeface="+mn-ea"/>
              </a:rPr>
              <a:t>청구항</a:t>
            </a:r>
            <a:r>
              <a:rPr lang="ko-KR" altLang="en-US" sz="1600" dirty="0">
                <a:latin typeface="+mn-ea"/>
              </a:rPr>
              <a:t> </a:t>
            </a:r>
            <a:r>
              <a:rPr lang="en-US" altLang="ko-KR" sz="1600" dirty="0">
                <a:latin typeface="+mn-ea"/>
              </a:rPr>
              <a:t>1]  a, b, c, d</a:t>
            </a:r>
            <a:r>
              <a:rPr lang="ko-KR" altLang="en-US" sz="1600" dirty="0">
                <a:latin typeface="+mn-ea"/>
              </a:rPr>
              <a:t>를 포함하는 재봉틀</a:t>
            </a:r>
            <a:r>
              <a:rPr lang="en-US" altLang="ko-KR" sz="1600" dirty="0">
                <a:latin typeface="+mn-ea"/>
              </a:rPr>
              <a:t>.</a:t>
            </a:r>
          </a:p>
          <a:p>
            <a:pPr marL="0" lvl="1">
              <a:lnSpc>
                <a:spcPct val="110000"/>
              </a:lnSpc>
              <a:defRPr/>
            </a:pPr>
            <a:endParaRPr lang="en-US" altLang="ko-KR" sz="1600" dirty="0">
              <a:latin typeface="+mn-ea"/>
            </a:endParaRPr>
          </a:p>
          <a:p>
            <a:pPr marL="271463" lvl="1" indent="-177800">
              <a:lnSpc>
                <a:spcPct val="110000"/>
              </a:lnSpc>
              <a:buFontTx/>
              <a:buChar char="-"/>
              <a:defRPr/>
            </a:pPr>
            <a:r>
              <a:rPr lang="ko-KR" altLang="en-US" sz="1600" dirty="0">
                <a:latin typeface="+mn-ea"/>
              </a:rPr>
              <a:t>삼순이 </a:t>
            </a:r>
            <a:r>
              <a:rPr lang="en-US" altLang="ko-KR" sz="1600" dirty="0">
                <a:latin typeface="+mn-ea"/>
              </a:rPr>
              <a:t>: a, b, c </a:t>
            </a:r>
            <a:r>
              <a:rPr lang="ko-KR" altLang="en-US" sz="1600" dirty="0">
                <a:latin typeface="+mn-ea"/>
              </a:rPr>
              <a:t>로 구성된 재봉틀</a:t>
            </a:r>
            <a:r>
              <a:rPr lang="en-US" altLang="ko-KR" sz="1600" dirty="0">
                <a:latin typeface="+mn-ea"/>
              </a:rPr>
              <a:t>?</a:t>
            </a:r>
          </a:p>
          <a:p>
            <a:pPr marL="271463" lvl="1" indent="-177800">
              <a:lnSpc>
                <a:spcPct val="110000"/>
              </a:lnSpc>
              <a:buFontTx/>
              <a:buChar char="-"/>
              <a:defRPr/>
            </a:pPr>
            <a:r>
              <a:rPr lang="ko-KR" altLang="en-US" sz="1600" dirty="0" err="1">
                <a:latin typeface="+mn-ea"/>
              </a:rPr>
              <a:t>향단이</a:t>
            </a:r>
            <a:r>
              <a:rPr lang="ko-KR" altLang="en-US" sz="1600" dirty="0">
                <a:latin typeface="+mn-ea"/>
              </a:rPr>
              <a:t> </a:t>
            </a:r>
            <a:r>
              <a:rPr lang="en-US" altLang="ko-KR" sz="1600" dirty="0">
                <a:latin typeface="+mn-ea"/>
              </a:rPr>
              <a:t>: a, b, c, d, e </a:t>
            </a:r>
            <a:r>
              <a:rPr lang="ko-KR" altLang="en-US" sz="1600" dirty="0">
                <a:latin typeface="+mn-ea"/>
              </a:rPr>
              <a:t>로 구성된 재봉틀</a:t>
            </a:r>
            <a:r>
              <a:rPr lang="en-US" altLang="ko-KR" sz="1600" dirty="0">
                <a:latin typeface="+mn-ea"/>
              </a:rPr>
              <a:t>?</a:t>
            </a:r>
          </a:p>
          <a:p>
            <a:pPr marL="271463" lvl="1" indent="-177800">
              <a:lnSpc>
                <a:spcPct val="110000"/>
              </a:lnSpc>
              <a:buFontTx/>
              <a:buChar char="-"/>
              <a:defRPr/>
            </a:pPr>
            <a:r>
              <a:rPr lang="ko-KR" altLang="en-US" sz="1600" dirty="0">
                <a:latin typeface="+mn-ea"/>
              </a:rPr>
              <a:t>간난이 </a:t>
            </a:r>
            <a:r>
              <a:rPr lang="en-US" altLang="ko-KR" sz="1600" dirty="0">
                <a:latin typeface="+mn-ea"/>
              </a:rPr>
              <a:t>: a, b, c, f</a:t>
            </a:r>
            <a:r>
              <a:rPr lang="ko-KR" altLang="en-US" sz="1600" dirty="0">
                <a:latin typeface="+mn-ea"/>
              </a:rPr>
              <a:t>로 구성된 재봉틀</a:t>
            </a:r>
            <a:r>
              <a:rPr lang="en-US" altLang="ko-KR" sz="1600" dirty="0">
                <a:latin typeface="+mn-ea"/>
              </a:rPr>
              <a:t>?</a:t>
            </a:r>
          </a:p>
        </p:txBody>
      </p:sp>
      <p:sp>
        <p:nvSpPr>
          <p:cNvPr id="6" name="슬라이드 번호 개체 틀 5"/>
          <p:cNvSpPr>
            <a:spLocks noGrp="1"/>
          </p:cNvSpPr>
          <p:nvPr>
            <p:ph type="sldNum" sz="quarter" idx="12"/>
          </p:nvPr>
        </p:nvSpPr>
        <p:spPr/>
        <p:txBody>
          <a:bodyPr/>
          <a:lstStyle/>
          <a:p>
            <a:r>
              <a:rPr lang="en-US" altLang="ko-KR"/>
              <a:t>324</a:t>
            </a:r>
            <a:endParaRPr lang="ko-KR" altLang="en-US"/>
          </a:p>
        </p:txBody>
      </p:sp>
    </p:spTree>
    <p:extLst>
      <p:ext uri="{BB962C8B-B14F-4D97-AF65-F5344CB8AC3E}">
        <p14:creationId xmlns:p14="http://schemas.microsoft.com/office/powerpoint/2010/main" val="3416438534"/>
      </p:ext>
    </p:extLst>
  </p:cSld>
  <p:clrMapOvr>
    <a:masterClrMapping/>
  </p:clrMapOvr>
  <p:transition/>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슬라이드 번호 개체 틀 13"/>
          <p:cNvSpPr>
            <a:spLocks noGrp="1"/>
          </p:cNvSpPr>
          <p:nvPr>
            <p:ph type="sldNum" sz="quarter" idx="12"/>
          </p:nvPr>
        </p:nvSpPr>
        <p:spPr/>
        <p:txBody>
          <a:bodyPr/>
          <a:lstStyle/>
          <a:p>
            <a:r>
              <a:rPr lang="en-US" altLang="ko-KR"/>
              <a:t>325</a:t>
            </a:r>
            <a:endParaRPr lang="ko-KR" altLang="en-US"/>
          </a:p>
        </p:txBody>
      </p:sp>
      <p:sp>
        <p:nvSpPr>
          <p:cNvPr id="2" name="제목 1"/>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3" name="텍스트 개체 틀 2"/>
          <p:cNvSpPr>
            <a:spLocks noGrp="1"/>
          </p:cNvSpPr>
          <p:nvPr>
            <p:ph type="body" sz="quarter" idx="13"/>
          </p:nvPr>
        </p:nvSpPr>
        <p:spPr/>
        <p:txBody>
          <a:bodyPr/>
          <a:lstStyle/>
          <a:p>
            <a:r>
              <a:rPr lang="en-US" altLang="ko-KR" dirty="0"/>
              <a:t>All Elements Rule </a:t>
            </a:r>
            <a:r>
              <a:rPr lang="ko-KR" altLang="en-US" dirty="0"/>
              <a:t>적용의 구체적 </a:t>
            </a:r>
            <a:r>
              <a:rPr lang="en-US" altLang="ko-KR" dirty="0"/>
              <a:t>CASE</a:t>
            </a:r>
            <a:endParaRPr lang="ko-KR" altLang="en-US" dirty="0"/>
          </a:p>
        </p:txBody>
      </p:sp>
      <p:sp>
        <p:nvSpPr>
          <p:cNvPr id="4" name="Rectangle 2"/>
          <p:cNvSpPr txBox="1">
            <a:spLocks noChangeArrowheads="1"/>
          </p:cNvSpPr>
          <p:nvPr/>
        </p:nvSpPr>
        <p:spPr bwMode="auto">
          <a:xfrm>
            <a:off x="649340" y="1035725"/>
            <a:ext cx="5082117" cy="3528392"/>
          </a:xfrm>
          <a:prstGeom prst="rect">
            <a:avLst/>
          </a:prstGeom>
          <a:noFill/>
          <a:ln>
            <a:solidFill>
              <a:schemeClr val="bg1">
                <a:lumMod val="50000"/>
              </a:schemeClr>
            </a:solidFill>
            <a:miter lim="800000"/>
            <a:headEnd/>
            <a:tailEnd/>
          </a:ln>
        </p:spPr>
        <p:txBody>
          <a:bodyPr vert="horz" lIns="91440" tIns="45720" rIns="91440" bIns="45720" rtlCol="0" anchor="b">
            <a:normAutofit/>
          </a:bodyPr>
          <a:lst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ko-KR" altLang="en-US" sz="1600" dirty="0" err="1">
                <a:latin typeface="+mn-ea"/>
              </a:rPr>
              <a:t>청구항</a:t>
            </a:r>
            <a:r>
              <a:rPr lang="ko-KR" altLang="en-US" sz="1600" dirty="0">
                <a:latin typeface="+mn-ea"/>
              </a:rPr>
              <a:t> </a:t>
            </a:r>
            <a:r>
              <a:rPr lang="en-US" altLang="ko-KR" sz="1600" dirty="0">
                <a:latin typeface="+mn-ea"/>
              </a:rPr>
              <a:t>1. </a:t>
            </a:r>
          </a:p>
          <a:p>
            <a:pPr marL="457200" lvl="1" indent="0">
              <a:buClr>
                <a:schemeClr val="tx1"/>
              </a:buClr>
              <a:buNone/>
            </a:pPr>
            <a:r>
              <a:rPr lang="ko-KR" altLang="en-US" sz="1600" dirty="0">
                <a:latin typeface="+mn-ea"/>
              </a:rPr>
              <a:t>받침대와</a:t>
            </a:r>
            <a:r>
              <a:rPr lang="en-US" altLang="ko-KR" sz="1600" dirty="0">
                <a:latin typeface="+mn-ea"/>
              </a:rPr>
              <a:t>;</a:t>
            </a:r>
          </a:p>
          <a:p>
            <a:pPr marL="457200" lvl="1" indent="0">
              <a:buClr>
                <a:schemeClr val="tx1"/>
              </a:buClr>
              <a:buNone/>
            </a:pPr>
            <a:r>
              <a:rPr lang="ko-KR" altLang="en-US" sz="1600" dirty="0">
                <a:latin typeface="+mn-ea"/>
              </a:rPr>
              <a:t>상기 받침대의 일단에 결합되어 있는 등받이와</a:t>
            </a:r>
            <a:r>
              <a:rPr lang="en-US" altLang="ko-KR" sz="1600" dirty="0">
                <a:latin typeface="+mn-ea"/>
              </a:rPr>
              <a:t>;</a:t>
            </a:r>
          </a:p>
          <a:p>
            <a:pPr marL="457200" lvl="1" indent="0">
              <a:buClr>
                <a:schemeClr val="tx1"/>
              </a:buClr>
              <a:buNone/>
            </a:pPr>
            <a:r>
              <a:rPr lang="ko-KR" altLang="en-US" sz="1600" dirty="0">
                <a:latin typeface="+mn-ea"/>
              </a:rPr>
              <a:t>상기 받침대 하부에 연결되어 상기 받침대를 지지하는 </a:t>
            </a:r>
            <a:r>
              <a:rPr lang="en-US" altLang="ko-KR" sz="1600" dirty="0">
                <a:latin typeface="+mn-ea"/>
              </a:rPr>
              <a:t>4</a:t>
            </a:r>
            <a:r>
              <a:rPr lang="ko-KR" altLang="en-US" sz="1600" dirty="0">
                <a:latin typeface="+mn-ea"/>
              </a:rPr>
              <a:t>개의 다리와</a:t>
            </a:r>
            <a:r>
              <a:rPr lang="en-US" altLang="ko-KR" sz="1600" dirty="0">
                <a:latin typeface="+mn-ea"/>
              </a:rPr>
              <a:t>;</a:t>
            </a:r>
          </a:p>
          <a:p>
            <a:pPr marL="457200" lvl="1" indent="0">
              <a:buClr>
                <a:schemeClr val="tx1"/>
              </a:buClr>
              <a:buNone/>
            </a:pPr>
            <a:r>
              <a:rPr lang="ko-KR" altLang="en-US" sz="1600" dirty="0">
                <a:latin typeface="+mn-ea"/>
              </a:rPr>
              <a:t>상기 받침대 및 상기 등받이에 결합되어 있는 팔걸이</a:t>
            </a:r>
          </a:p>
          <a:p>
            <a:pPr marL="457200" lvl="1" indent="0">
              <a:buClr>
                <a:schemeClr val="tx1"/>
              </a:buClr>
              <a:buNone/>
            </a:pPr>
            <a:r>
              <a:rPr lang="ko-KR" altLang="en-US" sz="1600" dirty="0" err="1">
                <a:latin typeface="+mn-ea"/>
              </a:rPr>
              <a:t>를</a:t>
            </a:r>
            <a:r>
              <a:rPr lang="ko-KR" altLang="en-US" sz="1600" dirty="0">
                <a:latin typeface="+mn-ea"/>
              </a:rPr>
              <a:t> 포함하는 의자</a:t>
            </a:r>
            <a:r>
              <a:rPr lang="en-US" altLang="ko-KR" sz="1600" dirty="0">
                <a:latin typeface="+mn-ea"/>
              </a:rPr>
              <a:t>.</a:t>
            </a:r>
          </a:p>
          <a:p>
            <a:pPr lvl="1">
              <a:buClr>
                <a:schemeClr val="tx1"/>
              </a:buClr>
              <a:buFont typeface="Arial" panose="020B0604020202020204" pitchFamily="34" charset="0"/>
              <a:buNone/>
            </a:pPr>
            <a:endParaRPr lang="en-US" altLang="ko-KR" sz="1600" dirty="0">
              <a:latin typeface="+mn-ea"/>
            </a:endParaRPr>
          </a:p>
        </p:txBody>
      </p:sp>
      <p:pic>
        <p:nvPicPr>
          <p:cNvPr id="5" name="Picture 5" descr="317_130">
            <a:hlinkClick r:id="rId2"/>
          </p:cNvPr>
          <p:cNvPicPr>
            <a:picLocks noChangeAspect="1" noChangeArrowheads="1"/>
          </p:cNvPicPr>
          <p:nvPr/>
        </p:nvPicPr>
        <p:blipFill>
          <a:blip r:embed="rId3" cstate="print">
            <a:grayscl/>
          </a:blip>
          <a:srcRect/>
          <a:stretch>
            <a:fillRect/>
          </a:stretch>
        </p:blipFill>
        <p:spPr bwMode="auto">
          <a:xfrm>
            <a:off x="3331190" y="5140181"/>
            <a:ext cx="1651000" cy="1238250"/>
          </a:xfrm>
          <a:prstGeom prst="rect">
            <a:avLst/>
          </a:prstGeom>
          <a:noFill/>
          <a:ln>
            <a:miter lim="800000"/>
            <a:headEnd/>
            <a:tailEnd/>
          </a:ln>
        </p:spPr>
      </p:pic>
      <p:pic>
        <p:nvPicPr>
          <p:cNvPr id="6" name="Picture 3" descr="20060524191814_5_2">
            <a:hlinkClick r:id="rId4"/>
          </p:cNvPr>
          <p:cNvPicPr>
            <a:picLocks noChangeAspect="1" noChangeArrowheads="1"/>
          </p:cNvPicPr>
          <p:nvPr/>
        </p:nvPicPr>
        <p:blipFill>
          <a:blip r:embed="rId5" cstate="print">
            <a:clrChange>
              <a:clrFrom>
                <a:srgbClr val="A5877C"/>
              </a:clrFrom>
              <a:clrTo>
                <a:srgbClr val="A5877C">
                  <a:alpha val="0"/>
                </a:srgbClr>
              </a:clrTo>
            </a:clrChange>
            <a:grayscl/>
          </a:blip>
          <a:srcRect/>
          <a:stretch>
            <a:fillRect/>
          </a:stretch>
        </p:blipFill>
        <p:spPr bwMode="auto">
          <a:xfrm>
            <a:off x="8336383" y="4333979"/>
            <a:ext cx="1651000" cy="1238250"/>
          </a:xfrm>
          <a:prstGeom prst="rect">
            <a:avLst/>
          </a:prstGeom>
          <a:noFill/>
          <a:ln w="9525">
            <a:noFill/>
            <a:miter lim="800000"/>
            <a:headEnd/>
            <a:tailEnd/>
          </a:ln>
        </p:spPr>
      </p:pic>
      <p:pic>
        <p:nvPicPr>
          <p:cNvPr id="7" name="Picture 4" descr="B68_130">
            <a:hlinkClick r:id="rId6"/>
          </p:cNvPr>
          <p:cNvPicPr>
            <a:picLocks noChangeAspect="1" noChangeArrowheads="1"/>
          </p:cNvPicPr>
          <p:nvPr/>
        </p:nvPicPr>
        <p:blipFill>
          <a:blip r:embed="rId7" cstate="print">
            <a:grayscl/>
          </a:blip>
          <a:srcRect/>
          <a:stretch>
            <a:fillRect/>
          </a:stretch>
        </p:blipFill>
        <p:spPr bwMode="auto">
          <a:xfrm>
            <a:off x="8336383" y="2460729"/>
            <a:ext cx="1651000" cy="1238250"/>
          </a:xfrm>
          <a:prstGeom prst="rect">
            <a:avLst/>
          </a:prstGeom>
          <a:noFill/>
          <a:ln w="9525">
            <a:noFill/>
            <a:miter lim="800000"/>
            <a:headEnd/>
            <a:tailEnd/>
          </a:ln>
        </p:spPr>
      </p:pic>
      <p:sp>
        <p:nvSpPr>
          <p:cNvPr id="8" name="직사각형 7"/>
          <p:cNvSpPr/>
          <p:nvPr/>
        </p:nvSpPr>
        <p:spPr bwMode="auto">
          <a:xfrm>
            <a:off x="642892" y="4636125"/>
            <a:ext cx="5088565" cy="1800200"/>
          </a:xfrm>
          <a:prstGeom prst="rect">
            <a:avLst/>
          </a:prstGeom>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rtlCol="0" anchor="ctr"/>
          <a:lstStyle/>
          <a:p>
            <a:pPr algn="ctr"/>
            <a:endParaRPr lang="ko-KR" altLang="en-US">
              <a:latin typeface="+mn-ea"/>
            </a:endParaRPr>
          </a:p>
        </p:txBody>
      </p:sp>
      <p:sp>
        <p:nvSpPr>
          <p:cNvPr id="9" name="TextBox 8"/>
          <p:cNvSpPr txBox="1"/>
          <p:nvPr/>
        </p:nvSpPr>
        <p:spPr>
          <a:xfrm>
            <a:off x="652643" y="4638459"/>
            <a:ext cx="1629805" cy="369332"/>
          </a:xfrm>
          <a:prstGeom prst="rect">
            <a:avLst/>
          </a:prstGeom>
          <a:solidFill>
            <a:schemeClr val="tx2">
              <a:lumMod val="75000"/>
            </a:schemeClr>
          </a:solidFill>
        </p:spPr>
        <p:txBody>
          <a:bodyPr wrap="none" rtlCol="0">
            <a:spAutoFit/>
          </a:bodyPr>
          <a:lstStyle/>
          <a:p>
            <a:r>
              <a:rPr lang="en-US" altLang="ko-KR" dirty="0">
                <a:solidFill>
                  <a:srgbClr val="FFFF00"/>
                </a:solidFill>
                <a:latin typeface="+mn-ea"/>
              </a:rPr>
              <a:t>1. My product</a:t>
            </a:r>
            <a:endParaRPr lang="ko-KR" altLang="en-US" dirty="0">
              <a:solidFill>
                <a:srgbClr val="FFFF00"/>
              </a:solidFill>
              <a:latin typeface="+mn-ea"/>
            </a:endParaRPr>
          </a:p>
        </p:txBody>
      </p:sp>
      <p:sp>
        <p:nvSpPr>
          <p:cNvPr id="10" name="TextBox 9"/>
          <p:cNvSpPr txBox="1"/>
          <p:nvPr/>
        </p:nvSpPr>
        <p:spPr>
          <a:xfrm>
            <a:off x="652642" y="1047351"/>
            <a:ext cx="1509644" cy="369332"/>
          </a:xfrm>
          <a:prstGeom prst="rect">
            <a:avLst/>
          </a:prstGeom>
          <a:solidFill>
            <a:schemeClr val="tx2">
              <a:lumMod val="75000"/>
            </a:schemeClr>
          </a:solidFill>
        </p:spPr>
        <p:txBody>
          <a:bodyPr wrap="none" rtlCol="0">
            <a:spAutoFit/>
          </a:bodyPr>
          <a:lstStyle/>
          <a:p>
            <a:r>
              <a:rPr lang="en-US" altLang="ko-KR" dirty="0">
                <a:solidFill>
                  <a:srgbClr val="FFFF00"/>
                </a:solidFill>
                <a:latin typeface="+mn-ea"/>
              </a:rPr>
              <a:t>2. My patent</a:t>
            </a:r>
            <a:endParaRPr lang="ko-KR" altLang="en-US" dirty="0">
              <a:solidFill>
                <a:srgbClr val="FFFF00"/>
              </a:solidFill>
              <a:latin typeface="+mn-ea"/>
            </a:endParaRPr>
          </a:p>
        </p:txBody>
      </p:sp>
      <p:sp>
        <p:nvSpPr>
          <p:cNvPr id="11" name="직사각형 10"/>
          <p:cNvSpPr/>
          <p:nvPr/>
        </p:nvSpPr>
        <p:spPr bwMode="auto">
          <a:xfrm>
            <a:off x="6434988" y="1035725"/>
            <a:ext cx="5088565" cy="5328592"/>
          </a:xfrm>
          <a:prstGeom prst="rect">
            <a:avLst/>
          </a:prstGeom>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rtlCol="0" anchor="ctr"/>
          <a:lstStyle/>
          <a:p>
            <a:pPr algn="ctr"/>
            <a:endParaRPr lang="ko-KR" altLang="en-US">
              <a:latin typeface="+mn-ea"/>
            </a:endParaRPr>
          </a:p>
        </p:txBody>
      </p:sp>
      <p:sp>
        <p:nvSpPr>
          <p:cNvPr id="12" name="TextBox 11"/>
          <p:cNvSpPr txBox="1"/>
          <p:nvPr/>
        </p:nvSpPr>
        <p:spPr>
          <a:xfrm>
            <a:off x="6444740" y="1047351"/>
            <a:ext cx="1900713" cy="369332"/>
          </a:xfrm>
          <a:prstGeom prst="rect">
            <a:avLst/>
          </a:prstGeom>
          <a:solidFill>
            <a:schemeClr val="tx2">
              <a:lumMod val="75000"/>
            </a:schemeClr>
          </a:solidFill>
        </p:spPr>
        <p:txBody>
          <a:bodyPr wrap="none" rtlCol="0">
            <a:spAutoFit/>
          </a:bodyPr>
          <a:lstStyle/>
          <a:p>
            <a:r>
              <a:rPr lang="en-US" altLang="ko-KR" dirty="0">
                <a:solidFill>
                  <a:srgbClr val="FFFF00"/>
                </a:solidFill>
                <a:latin typeface="+mn-ea"/>
              </a:rPr>
              <a:t>3. Other product</a:t>
            </a:r>
            <a:endParaRPr lang="ko-KR" altLang="en-US" dirty="0">
              <a:solidFill>
                <a:srgbClr val="FFFF00"/>
              </a:solidFill>
              <a:latin typeface="+mn-ea"/>
            </a:endParaRPr>
          </a:p>
        </p:txBody>
      </p:sp>
      <p:pic>
        <p:nvPicPr>
          <p:cNvPr id="13" name="Picture 5" descr="317_130">
            <a:hlinkClick r:id="rId2"/>
          </p:cNvPr>
          <p:cNvPicPr>
            <a:picLocks noChangeAspect="1" noChangeArrowheads="1"/>
          </p:cNvPicPr>
          <p:nvPr/>
        </p:nvPicPr>
        <p:blipFill>
          <a:blip r:embed="rId3" cstate="print">
            <a:grayscl/>
          </a:blip>
          <a:srcRect/>
          <a:stretch>
            <a:fillRect/>
          </a:stretch>
        </p:blipFill>
        <p:spPr bwMode="auto">
          <a:xfrm>
            <a:off x="4579329" y="1107733"/>
            <a:ext cx="1074936" cy="806202"/>
          </a:xfrm>
          <a:prstGeom prst="rect">
            <a:avLst/>
          </a:prstGeom>
          <a:noFill/>
          <a:ln>
            <a:miter lim="800000"/>
            <a:headEnd/>
            <a:tailEnd/>
          </a:ln>
        </p:spPr>
      </p:pic>
      <p:cxnSp>
        <p:nvCxnSpPr>
          <p:cNvPr id="16" name="연결선: 꺾임 15">
            <a:extLst>
              <a:ext uri="{FF2B5EF4-FFF2-40B4-BE49-F238E27FC236}">
                <a16:creationId xmlns:a16="http://schemas.microsoft.com/office/drawing/2014/main" id="{0C040CF4-EB84-4A94-A840-FC81C1C322CD}"/>
              </a:ext>
            </a:extLst>
          </p:cNvPr>
          <p:cNvCxnSpPr>
            <a:stCxn id="9" idx="1"/>
            <a:endCxn id="10" idx="1"/>
          </p:cNvCxnSpPr>
          <p:nvPr/>
        </p:nvCxnSpPr>
        <p:spPr>
          <a:xfrm rot="10800000">
            <a:off x="652643" y="1232017"/>
            <a:ext cx="1" cy="3591108"/>
          </a:xfrm>
          <a:prstGeom prst="bentConnector3">
            <a:avLst>
              <a:gd name="adj1" fmla="val 22860100000"/>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연결선: 꺾임 17">
            <a:extLst>
              <a:ext uri="{FF2B5EF4-FFF2-40B4-BE49-F238E27FC236}">
                <a16:creationId xmlns:a16="http://schemas.microsoft.com/office/drawing/2014/main" id="{448B5D00-12E2-428E-B5FD-7A1C317354E1}"/>
              </a:ext>
            </a:extLst>
          </p:cNvPr>
          <p:cNvCxnSpPr>
            <a:endCxn id="12" idx="0"/>
          </p:cNvCxnSpPr>
          <p:nvPr/>
        </p:nvCxnSpPr>
        <p:spPr>
          <a:xfrm flipV="1">
            <a:off x="2162286" y="1047351"/>
            <a:ext cx="5232811" cy="203479"/>
          </a:xfrm>
          <a:prstGeom prst="bentConnector4">
            <a:avLst>
              <a:gd name="adj1" fmla="val 40919"/>
              <a:gd name="adj2" fmla="val 212346"/>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22669914"/>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p:cNvSpPr txBox="1">
            <a:spLocks noChangeArrowheads="1"/>
          </p:cNvSpPr>
          <p:nvPr/>
        </p:nvSpPr>
        <p:spPr bwMode="auto">
          <a:xfrm>
            <a:off x="649340" y="1035725"/>
            <a:ext cx="5082117" cy="3528392"/>
          </a:xfrm>
          <a:prstGeom prst="rect">
            <a:avLst/>
          </a:prstGeom>
          <a:noFill/>
          <a:ln>
            <a:solidFill>
              <a:schemeClr val="bg1">
                <a:lumMod val="50000"/>
              </a:schemeClr>
            </a:solidFill>
            <a:miter lim="800000"/>
            <a:headEnd/>
            <a:tailEnd/>
          </a:ln>
        </p:spPr>
        <p:txBody>
          <a:bodyPr vert="horz" lIns="91440" tIns="45720" rIns="91440" bIns="45720" rtlCol="0" anchor="b">
            <a:normAutofit/>
          </a:bodyPr>
          <a:lst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ko-KR" altLang="en-US" sz="1600" dirty="0" err="1">
                <a:latin typeface="+mn-ea"/>
              </a:rPr>
              <a:t>청구항</a:t>
            </a:r>
            <a:r>
              <a:rPr lang="ko-KR" altLang="en-US" sz="1600" dirty="0">
                <a:latin typeface="+mn-ea"/>
              </a:rPr>
              <a:t> </a:t>
            </a:r>
            <a:r>
              <a:rPr lang="en-US" altLang="ko-KR" sz="1600" dirty="0">
                <a:latin typeface="+mn-ea"/>
              </a:rPr>
              <a:t>1. </a:t>
            </a:r>
          </a:p>
          <a:p>
            <a:pPr marL="457200" lvl="1" indent="0">
              <a:buClr>
                <a:schemeClr val="tx1"/>
              </a:buClr>
              <a:buNone/>
            </a:pPr>
            <a:r>
              <a:rPr lang="ko-KR" altLang="en-US" sz="1600" dirty="0">
                <a:latin typeface="+mn-ea"/>
              </a:rPr>
              <a:t>받침대와</a:t>
            </a:r>
            <a:r>
              <a:rPr lang="en-US" altLang="ko-KR" sz="1600" dirty="0">
                <a:latin typeface="+mn-ea"/>
              </a:rPr>
              <a:t>;</a:t>
            </a:r>
          </a:p>
          <a:p>
            <a:pPr marL="457200" lvl="1" indent="0">
              <a:buClr>
                <a:schemeClr val="tx1"/>
              </a:buClr>
              <a:buNone/>
            </a:pPr>
            <a:r>
              <a:rPr lang="ko-KR" altLang="en-US" sz="1600" dirty="0">
                <a:latin typeface="+mn-ea"/>
              </a:rPr>
              <a:t>상기 받침대의 일단에 결합되어 있는 등받이와</a:t>
            </a:r>
            <a:r>
              <a:rPr lang="en-US" altLang="ko-KR" sz="1600" dirty="0">
                <a:latin typeface="+mn-ea"/>
              </a:rPr>
              <a:t>;</a:t>
            </a:r>
          </a:p>
          <a:p>
            <a:pPr marL="457200" lvl="1" indent="0">
              <a:buClr>
                <a:schemeClr val="tx1"/>
              </a:buClr>
              <a:buNone/>
            </a:pPr>
            <a:r>
              <a:rPr lang="ko-KR" altLang="en-US" sz="1600" dirty="0">
                <a:latin typeface="+mn-ea"/>
              </a:rPr>
              <a:t>상기 받침대 하부에 연결되어 상기 받침대를 지지하는 </a:t>
            </a:r>
            <a:r>
              <a:rPr lang="en-US" altLang="ko-KR" sz="1600" dirty="0">
                <a:latin typeface="+mn-ea"/>
              </a:rPr>
              <a:t>4</a:t>
            </a:r>
            <a:r>
              <a:rPr lang="ko-KR" altLang="en-US" sz="1600" dirty="0">
                <a:latin typeface="+mn-ea"/>
              </a:rPr>
              <a:t>개의 다리</a:t>
            </a:r>
          </a:p>
          <a:p>
            <a:pPr marL="457200" lvl="1" indent="0">
              <a:buClr>
                <a:schemeClr val="tx1"/>
              </a:buClr>
              <a:buNone/>
            </a:pPr>
            <a:r>
              <a:rPr lang="ko-KR" altLang="en-US" sz="1600" dirty="0" err="1">
                <a:latin typeface="+mn-ea"/>
              </a:rPr>
              <a:t>를</a:t>
            </a:r>
            <a:r>
              <a:rPr lang="ko-KR" altLang="en-US" sz="1600" dirty="0">
                <a:latin typeface="+mn-ea"/>
              </a:rPr>
              <a:t> 포함하는 의자</a:t>
            </a:r>
            <a:r>
              <a:rPr lang="en-US" altLang="ko-KR" sz="1600" dirty="0">
                <a:latin typeface="+mn-ea"/>
              </a:rPr>
              <a:t>.</a:t>
            </a:r>
          </a:p>
          <a:p>
            <a:pPr lvl="1">
              <a:buClr>
                <a:schemeClr val="tx1"/>
              </a:buClr>
              <a:buFont typeface="Arial" panose="020B0604020202020204" pitchFamily="34" charset="0"/>
              <a:buNone/>
            </a:pPr>
            <a:endParaRPr lang="en-US" altLang="ko-KR" sz="1600" dirty="0">
              <a:latin typeface="+mn-ea"/>
            </a:endParaRPr>
          </a:p>
          <a:p>
            <a:pPr lvl="1">
              <a:buClr>
                <a:schemeClr val="tx1"/>
              </a:buClr>
              <a:buFont typeface="Arial" panose="020B0604020202020204" pitchFamily="34" charset="0"/>
              <a:buNone/>
            </a:pPr>
            <a:endParaRPr lang="en-US" altLang="ko-KR" sz="1600" dirty="0">
              <a:latin typeface="+mn-ea"/>
            </a:endParaRPr>
          </a:p>
        </p:txBody>
      </p:sp>
      <p:sp>
        <p:nvSpPr>
          <p:cNvPr id="5" name="슬라이드 번호 개체 틀 4"/>
          <p:cNvSpPr>
            <a:spLocks noGrp="1"/>
          </p:cNvSpPr>
          <p:nvPr>
            <p:ph type="sldNum" sz="quarter" idx="12"/>
          </p:nvPr>
        </p:nvSpPr>
        <p:spPr/>
        <p:txBody>
          <a:bodyPr/>
          <a:lstStyle/>
          <a:p>
            <a:r>
              <a:rPr lang="en-US" altLang="ko-KR"/>
              <a:t>326</a:t>
            </a:r>
            <a:endParaRPr lang="ko-KR" altLang="en-US"/>
          </a:p>
        </p:txBody>
      </p:sp>
      <p:sp>
        <p:nvSpPr>
          <p:cNvPr id="2" name="제목 1"/>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3" name="텍스트 개체 틀 2"/>
          <p:cNvSpPr>
            <a:spLocks noGrp="1"/>
          </p:cNvSpPr>
          <p:nvPr>
            <p:ph type="body" sz="quarter" idx="13"/>
          </p:nvPr>
        </p:nvSpPr>
        <p:spPr/>
        <p:txBody>
          <a:bodyPr/>
          <a:lstStyle/>
          <a:p>
            <a:r>
              <a:rPr lang="en-US" altLang="ko-KR" dirty="0"/>
              <a:t>All Elements Rule </a:t>
            </a:r>
            <a:r>
              <a:rPr lang="ko-KR" altLang="en-US" dirty="0"/>
              <a:t>적용의 구체적 </a:t>
            </a:r>
            <a:r>
              <a:rPr lang="en-US" altLang="ko-KR" dirty="0"/>
              <a:t>CASE</a:t>
            </a:r>
            <a:endParaRPr lang="ko-KR" altLang="en-US" dirty="0"/>
          </a:p>
        </p:txBody>
      </p:sp>
      <p:pic>
        <p:nvPicPr>
          <p:cNvPr id="4" name="Picture 3" descr="20060524191814_3_2">
            <a:hlinkClick r:id="rId2"/>
          </p:cNvPr>
          <p:cNvPicPr>
            <a:picLocks noChangeAspect="1" noChangeArrowheads="1"/>
          </p:cNvPicPr>
          <p:nvPr/>
        </p:nvPicPr>
        <p:blipFill>
          <a:blip r:embed="rId3" cstate="print">
            <a:clrChange>
              <a:clrFrom>
                <a:srgbClr val="6B5548"/>
              </a:clrFrom>
              <a:clrTo>
                <a:srgbClr val="6B5548">
                  <a:alpha val="0"/>
                </a:srgbClr>
              </a:clrTo>
            </a:clrChange>
            <a:grayscl/>
          </a:blip>
          <a:srcRect/>
          <a:stretch>
            <a:fillRect/>
          </a:stretch>
        </p:blipFill>
        <p:spPr bwMode="auto">
          <a:xfrm>
            <a:off x="6898107" y="4653059"/>
            <a:ext cx="1651000" cy="1238250"/>
          </a:xfrm>
          <a:prstGeom prst="rect">
            <a:avLst/>
          </a:prstGeom>
          <a:noFill/>
          <a:ln>
            <a:miter lim="800000"/>
            <a:headEnd/>
            <a:tailEnd/>
          </a:ln>
        </p:spPr>
      </p:pic>
      <p:pic>
        <p:nvPicPr>
          <p:cNvPr id="6" name="Picture 5" descr="20060524191814_4_2">
            <a:hlinkClick r:id="rId4"/>
          </p:cNvPr>
          <p:cNvPicPr>
            <a:picLocks noChangeAspect="1" noChangeArrowheads="1"/>
          </p:cNvPicPr>
          <p:nvPr/>
        </p:nvPicPr>
        <p:blipFill>
          <a:blip r:embed="rId5" cstate="print">
            <a:clrChange>
              <a:clrFrom>
                <a:srgbClr val="73584D"/>
              </a:clrFrom>
              <a:clrTo>
                <a:srgbClr val="73584D">
                  <a:alpha val="0"/>
                </a:srgbClr>
              </a:clrTo>
            </a:clrChange>
            <a:grayscl/>
          </a:blip>
          <a:srcRect/>
          <a:stretch>
            <a:fillRect/>
          </a:stretch>
        </p:blipFill>
        <p:spPr bwMode="auto">
          <a:xfrm>
            <a:off x="8085667" y="2132780"/>
            <a:ext cx="1031699" cy="1316037"/>
          </a:xfrm>
          <a:prstGeom prst="rect">
            <a:avLst/>
          </a:prstGeom>
          <a:noFill/>
          <a:ln>
            <a:miter lim="800000"/>
            <a:headEnd/>
            <a:tailEnd/>
          </a:ln>
        </p:spPr>
      </p:pic>
      <p:pic>
        <p:nvPicPr>
          <p:cNvPr id="7" name="Picture 4" descr="20060524191814_5_2">
            <a:hlinkClick r:id="rId6"/>
          </p:cNvPr>
          <p:cNvPicPr>
            <a:picLocks noChangeAspect="1" noChangeArrowheads="1"/>
          </p:cNvPicPr>
          <p:nvPr/>
        </p:nvPicPr>
        <p:blipFill>
          <a:blip r:embed="rId7" cstate="print">
            <a:clrChange>
              <a:clrFrom>
                <a:srgbClr val="A6887D"/>
              </a:clrFrom>
              <a:clrTo>
                <a:srgbClr val="A6887D">
                  <a:alpha val="0"/>
                </a:srgbClr>
              </a:clrTo>
            </a:clrChange>
            <a:grayscl/>
          </a:blip>
          <a:srcRect/>
          <a:stretch>
            <a:fillRect/>
          </a:stretch>
        </p:blipFill>
        <p:spPr bwMode="auto">
          <a:xfrm>
            <a:off x="4348516" y="1196675"/>
            <a:ext cx="1362968" cy="1022226"/>
          </a:xfrm>
          <a:prstGeom prst="rect">
            <a:avLst/>
          </a:prstGeom>
          <a:noFill/>
          <a:ln w="9525">
            <a:noFill/>
            <a:miter lim="800000"/>
            <a:headEnd/>
            <a:tailEnd/>
          </a:ln>
        </p:spPr>
      </p:pic>
      <p:pic>
        <p:nvPicPr>
          <p:cNvPr id="8" name="Picture 5" descr="317_130">
            <a:hlinkClick r:id="rId8"/>
          </p:cNvPr>
          <p:cNvPicPr>
            <a:picLocks noChangeAspect="1" noChangeArrowheads="1"/>
          </p:cNvPicPr>
          <p:nvPr/>
        </p:nvPicPr>
        <p:blipFill>
          <a:blip r:embed="rId9" cstate="print">
            <a:grayscl/>
          </a:blip>
          <a:srcRect/>
          <a:stretch>
            <a:fillRect/>
          </a:stretch>
        </p:blipFill>
        <p:spPr bwMode="auto">
          <a:xfrm>
            <a:off x="3356591" y="5157115"/>
            <a:ext cx="1651000" cy="1238250"/>
          </a:xfrm>
          <a:prstGeom prst="rect">
            <a:avLst/>
          </a:prstGeom>
          <a:noFill/>
          <a:ln>
            <a:miter lim="800000"/>
            <a:headEnd/>
            <a:tailEnd/>
          </a:ln>
        </p:spPr>
      </p:pic>
      <p:sp>
        <p:nvSpPr>
          <p:cNvPr id="10" name="TextBox 9"/>
          <p:cNvSpPr txBox="1"/>
          <p:nvPr/>
        </p:nvSpPr>
        <p:spPr>
          <a:xfrm>
            <a:off x="642892" y="4636125"/>
            <a:ext cx="1629805" cy="369332"/>
          </a:xfrm>
          <a:prstGeom prst="rect">
            <a:avLst/>
          </a:prstGeom>
          <a:solidFill>
            <a:schemeClr val="tx2">
              <a:lumMod val="75000"/>
            </a:schemeClr>
          </a:solidFill>
        </p:spPr>
        <p:txBody>
          <a:bodyPr wrap="none" rtlCol="0">
            <a:spAutoFit/>
          </a:bodyPr>
          <a:lstStyle/>
          <a:p>
            <a:r>
              <a:rPr lang="en-US" altLang="ko-KR" dirty="0">
                <a:solidFill>
                  <a:srgbClr val="FFFF00"/>
                </a:solidFill>
                <a:latin typeface="+mn-ea"/>
              </a:rPr>
              <a:t>1. My product</a:t>
            </a:r>
            <a:endParaRPr lang="ko-KR" altLang="en-US" dirty="0">
              <a:solidFill>
                <a:srgbClr val="FFFF00"/>
              </a:solidFill>
              <a:latin typeface="+mn-ea"/>
            </a:endParaRPr>
          </a:p>
        </p:txBody>
      </p:sp>
      <p:sp>
        <p:nvSpPr>
          <p:cNvPr id="11" name="TextBox 10"/>
          <p:cNvSpPr txBox="1"/>
          <p:nvPr/>
        </p:nvSpPr>
        <p:spPr>
          <a:xfrm>
            <a:off x="654210" y="1044826"/>
            <a:ext cx="1509644" cy="369332"/>
          </a:xfrm>
          <a:prstGeom prst="rect">
            <a:avLst/>
          </a:prstGeom>
          <a:solidFill>
            <a:schemeClr val="tx2">
              <a:lumMod val="75000"/>
            </a:schemeClr>
          </a:solidFill>
        </p:spPr>
        <p:txBody>
          <a:bodyPr wrap="none" rtlCol="0">
            <a:spAutoFit/>
          </a:bodyPr>
          <a:lstStyle/>
          <a:p>
            <a:r>
              <a:rPr lang="en-US" altLang="ko-KR" dirty="0">
                <a:solidFill>
                  <a:srgbClr val="FFFF00"/>
                </a:solidFill>
                <a:latin typeface="+mn-ea"/>
              </a:rPr>
              <a:t>2. My patent</a:t>
            </a:r>
            <a:endParaRPr lang="ko-KR" altLang="en-US" dirty="0">
              <a:solidFill>
                <a:srgbClr val="FFFF00"/>
              </a:solidFill>
              <a:latin typeface="+mn-ea"/>
            </a:endParaRPr>
          </a:p>
        </p:txBody>
      </p:sp>
      <p:pic>
        <p:nvPicPr>
          <p:cNvPr id="12" name="Picture 4" descr="B68_130">
            <a:hlinkClick r:id="rId10"/>
          </p:cNvPr>
          <p:cNvPicPr>
            <a:picLocks noChangeAspect="1" noChangeArrowheads="1"/>
          </p:cNvPicPr>
          <p:nvPr/>
        </p:nvPicPr>
        <p:blipFill>
          <a:blip r:embed="rId11" cstate="print">
            <a:grayscl/>
          </a:blip>
          <a:srcRect/>
          <a:stretch>
            <a:fillRect/>
          </a:stretch>
        </p:blipFill>
        <p:spPr bwMode="auto">
          <a:xfrm>
            <a:off x="9586406" y="3644947"/>
            <a:ext cx="1651000" cy="1238250"/>
          </a:xfrm>
          <a:prstGeom prst="rect">
            <a:avLst/>
          </a:prstGeom>
          <a:noFill/>
          <a:ln w="9525">
            <a:noFill/>
            <a:miter lim="800000"/>
            <a:headEnd/>
            <a:tailEnd/>
          </a:ln>
        </p:spPr>
      </p:pic>
      <p:sp>
        <p:nvSpPr>
          <p:cNvPr id="14" name="TextBox 13"/>
          <p:cNvSpPr txBox="1"/>
          <p:nvPr/>
        </p:nvSpPr>
        <p:spPr>
          <a:xfrm>
            <a:off x="6434988" y="1035725"/>
            <a:ext cx="1900713" cy="369332"/>
          </a:xfrm>
          <a:prstGeom prst="rect">
            <a:avLst/>
          </a:prstGeom>
          <a:solidFill>
            <a:schemeClr val="tx2">
              <a:lumMod val="75000"/>
            </a:schemeClr>
          </a:solidFill>
        </p:spPr>
        <p:txBody>
          <a:bodyPr wrap="none" rtlCol="0">
            <a:spAutoFit/>
          </a:bodyPr>
          <a:lstStyle/>
          <a:p>
            <a:r>
              <a:rPr lang="en-US" altLang="ko-KR" dirty="0">
                <a:solidFill>
                  <a:srgbClr val="FFFF00"/>
                </a:solidFill>
                <a:latin typeface="+mn-ea"/>
              </a:rPr>
              <a:t>3. Other product</a:t>
            </a:r>
            <a:endParaRPr lang="ko-KR" altLang="en-US" dirty="0">
              <a:solidFill>
                <a:srgbClr val="FFFF00"/>
              </a:solidFill>
              <a:latin typeface="+mn-ea"/>
            </a:endParaRPr>
          </a:p>
        </p:txBody>
      </p:sp>
      <p:sp>
        <p:nvSpPr>
          <p:cNvPr id="16" name="직사각형 15"/>
          <p:cNvSpPr/>
          <p:nvPr/>
        </p:nvSpPr>
        <p:spPr bwMode="auto">
          <a:xfrm>
            <a:off x="642892" y="4636125"/>
            <a:ext cx="5088565" cy="1800200"/>
          </a:xfrm>
          <a:prstGeom prst="rect">
            <a:avLst/>
          </a:prstGeom>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rtlCol="0" anchor="ctr"/>
          <a:lstStyle/>
          <a:p>
            <a:pPr algn="ctr"/>
            <a:endParaRPr lang="ko-KR" altLang="en-US">
              <a:latin typeface="+mn-ea"/>
            </a:endParaRPr>
          </a:p>
        </p:txBody>
      </p:sp>
      <p:sp>
        <p:nvSpPr>
          <p:cNvPr id="17" name="직사각형 16"/>
          <p:cNvSpPr/>
          <p:nvPr/>
        </p:nvSpPr>
        <p:spPr bwMode="auto">
          <a:xfrm>
            <a:off x="6434988" y="1035725"/>
            <a:ext cx="5088565" cy="5328592"/>
          </a:xfrm>
          <a:prstGeom prst="rect">
            <a:avLst/>
          </a:prstGeom>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rtlCol="0" anchor="ctr"/>
          <a:lstStyle/>
          <a:p>
            <a:pPr algn="ctr"/>
            <a:endParaRPr lang="ko-KR" altLang="en-US">
              <a:latin typeface="+mn-ea"/>
            </a:endParaRPr>
          </a:p>
        </p:txBody>
      </p:sp>
      <p:cxnSp>
        <p:nvCxnSpPr>
          <p:cNvPr id="13" name="연결선: 꺾임 12">
            <a:extLst>
              <a:ext uri="{FF2B5EF4-FFF2-40B4-BE49-F238E27FC236}">
                <a16:creationId xmlns:a16="http://schemas.microsoft.com/office/drawing/2014/main" id="{C106BF5A-3749-406F-9977-90A1FD4C6C42}"/>
              </a:ext>
            </a:extLst>
          </p:cNvPr>
          <p:cNvCxnSpPr>
            <a:cxnSpLocks/>
            <a:stCxn id="10" idx="1"/>
            <a:endCxn id="11" idx="1"/>
          </p:cNvCxnSpPr>
          <p:nvPr/>
        </p:nvCxnSpPr>
        <p:spPr>
          <a:xfrm rot="10800000" flipH="1">
            <a:off x="642892" y="1229493"/>
            <a:ext cx="11318" cy="3591299"/>
          </a:xfrm>
          <a:prstGeom prst="bentConnector3">
            <a:avLst>
              <a:gd name="adj1" fmla="val -201979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 name="연결선: 꺾임 19">
            <a:extLst>
              <a:ext uri="{FF2B5EF4-FFF2-40B4-BE49-F238E27FC236}">
                <a16:creationId xmlns:a16="http://schemas.microsoft.com/office/drawing/2014/main" id="{0C456FF3-0AA1-4853-B74A-3D9A074DE0F4}"/>
              </a:ext>
            </a:extLst>
          </p:cNvPr>
          <p:cNvCxnSpPr>
            <a:stCxn id="11" idx="3"/>
            <a:endCxn id="14" idx="0"/>
          </p:cNvCxnSpPr>
          <p:nvPr/>
        </p:nvCxnSpPr>
        <p:spPr>
          <a:xfrm flipV="1">
            <a:off x="2163854" y="1035725"/>
            <a:ext cx="5221491" cy="193767"/>
          </a:xfrm>
          <a:prstGeom prst="bentConnector4">
            <a:avLst>
              <a:gd name="adj1" fmla="val 40900"/>
              <a:gd name="adj2" fmla="val 217977"/>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371701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2"/>
          <p:cNvSpPr txBox="1">
            <a:spLocks noChangeArrowheads="1"/>
          </p:cNvSpPr>
          <p:nvPr/>
        </p:nvSpPr>
        <p:spPr bwMode="auto">
          <a:xfrm>
            <a:off x="649340" y="1035725"/>
            <a:ext cx="5082117" cy="3528392"/>
          </a:xfrm>
          <a:prstGeom prst="rect">
            <a:avLst/>
          </a:prstGeom>
          <a:noFill/>
          <a:ln>
            <a:solidFill>
              <a:schemeClr val="bg1">
                <a:lumMod val="50000"/>
              </a:schemeClr>
            </a:solidFill>
            <a:miter lim="800000"/>
            <a:headEnd/>
            <a:tailEnd/>
          </a:ln>
        </p:spPr>
        <p:txBody>
          <a:bodyPr vert="horz" lIns="91440" tIns="45720" rIns="91440" bIns="45720" rtlCol="0" anchor="b">
            <a:normAutofit/>
          </a:bodyPr>
          <a:lst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ko-KR" altLang="en-US" sz="1600" dirty="0" err="1">
                <a:latin typeface="+mn-ea"/>
              </a:rPr>
              <a:t>청구항</a:t>
            </a:r>
            <a:r>
              <a:rPr lang="ko-KR" altLang="en-US" sz="1600" dirty="0">
                <a:latin typeface="+mn-ea"/>
              </a:rPr>
              <a:t> </a:t>
            </a:r>
            <a:r>
              <a:rPr lang="en-US" altLang="ko-KR" sz="1600" dirty="0">
                <a:latin typeface="+mn-ea"/>
              </a:rPr>
              <a:t>1. </a:t>
            </a:r>
          </a:p>
          <a:p>
            <a:pPr marL="457200" lvl="1" indent="0">
              <a:buClr>
                <a:schemeClr val="tx1"/>
              </a:buClr>
              <a:buNone/>
            </a:pPr>
            <a:r>
              <a:rPr lang="ko-KR" altLang="en-US" sz="1600" dirty="0">
                <a:latin typeface="+mn-ea"/>
              </a:rPr>
              <a:t>받침대와</a:t>
            </a:r>
            <a:r>
              <a:rPr lang="en-US" altLang="ko-KR" sz="1600" dirty="0">
                <a:latin typeface="+mn-ea"/>
              </a:rPr>
              <a:t>;</a:t>
            </a:r>
          </a:p>
          <a:p>
            <a:pPr marL="457200" lvl="1" indent="0">
              <a:buClr>
                <a:schemeClr val="tx1"/>
              </a:buClr>
              <a:buNone/>
            </a:pPr>
            <a:r>
              <a:rPr lang="ko-KR" altLang="en-US" sz="1600" dirty="0">
                <a:latin typeface="+mn-ea"/>
              </a:rPr>
              <a:t>상기 받침대 하부에 연결되어 상기 받침대를 지지하는 </a:t>
            </a:r>
            <a:r>
              <a:rPr lang="en-US" altLang="ko-KR" sz="1600" dirty="0">
                <a:latin typeface="+mn-ea"/>
              </a:rPr>
              <a:t>4</a:t>
            </a:r>
            <a:r>
              <a:rPr lang="ko-KR" altLang="en-US" sz="1600" dirty="0">
                <a:latin typeface="+mn-ea"/>
              </a:rPr>
              <a:t>개의 다리</a:t>
            </a:r>
          </a:p>
          <a:p>
            <a:pPr marL="457200" lvl="1" indent="0">
              <a:buClr>
                <a:schemeClr val="tx1"/>
              </a:buClr>
              <a:buNone/>
            </a:pPr>
            <a:r>
              <a:rPr lang="ko-KR" altLang="en-US" sz="1600" dirty="0" err="1">
                <a:latin typeface="+mn-ea"/>
              </a:rPr>
              <a:t>를</a:t>
            </a:r>
            <a:r>
              <a:rPr lang="ko-KR" altLang="en-US" sz="1600" dirty="0">
                <a:latin typeface="+mn-ea"/>
              </a:rPr>
              <a:t> 포함하는 의자</a:t>
            </a:r>
            <a:r>
              <a:rPr lang="en-US" altLang="ko-KR" sz="1600" dirty="0">
                <a:latin typeface="+mn-ea"/>
              </a:rPr>
              <a:t>.</a:t>
            </a:r>
          </a:p>
          <a:p>
            <a:pPr lvl="1">
              <a:buClr>
                <a:schemeClr val="tx1"/>
              </a:buClr>
              <a:buFont typeface="Arial" panose="020B0604020202020204" pitchFamily="34" charset="0"/>
              <a:buNone/>
            </a:pPr>
            <a:endParaRPr lang="en-US" altLang="ko-KR" sz="1600" dirty="0">
              <a:latin typeface="+mn-ea"/>
            </a:endParaRPr>
          </a:p>
          <a:p>
            <a:pPr lvl="1">
              <a:buClr>
                <a:schemeClr val="tx1"/>
              </a:buClr>
              <a:buFont typeface="Arial" panose="020B0604020202020204" pitchFamily="34" charset="0"/>
              <a:buNone/>
            </a:pPr>
            <a:endParaRPr lang="en-US" altLang="ko-KR" sz="1600" dirty="0">
              <a:latin typeface="+mn-ea"/>
            </a:endParaRPr>
          </a:p>
          <a:p>
            <a:pPr lvl="1">
              <a:buClr>
                <a:schemeClr val="tx1"/>
              </a:buClr>
              <a:buFont typeface="Arial" panose="020B0604020202020204" pitchFamily="34" charset="0"/>
              <a:buNone/>
            </a:pPr>
            <a:endParaRPr lang="en-US" altLang="ko-KR" sz="1600" dirty="0">
              <a:latin typeface="+mn-ea"/>
            </a:endParaRPr>
          </a:p>
        </p:txBody>
      </p:sp>
      <p:sp>
        <p:nvSpPr>
          <p:cNvPr id="8" name="슬라이드 번호 개체 틀 7"/>
          <p:cNvSpPr>
            <a:spLocks noGrp="1"/>
          </p:cNvSpPr>
          <p:nvPr>
            <p:ph type="sldNum" sz="quarter" idx="12"/>
          </p:nvPr>
        </p:nvSpPr>
        <p:spPr/>
        <p:txBody>
          <a:bodyPr/>
          <a:lstStyle/>
          <a:p>
            <a:r>
              <a:rPr lang="en-US" altLang="ko-KR"/>
              <a:t>327</a:t>
            </a:r>
            <a:endParaRPr lang="ko-KR" altLang="en-US"/>
          </a:p>
        </p:txBody>
      </p:sp>
      <p:sp>
        <p:nvSpPr>
          <p:cNvPr id="2" name="제목 1"/>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3" name="텍스트 개체 틀 2"/>
          <p:cNvSpPr>
            <a:spLocks noGrp="1"/>
          </p:cNvSpPr>
          <p:nvPr>
            <p:ph type="body" sz="quarter" idx="13"/>
          </p:nvPr>
        </p:nvSpPr>
        <p:spPr/>
        <p:txBody>
          <a:bodyPr/>
          <a:lstStyle/>
          <a:p>
            <a:r>
              <a:rPr lang="en-US" altLang="ko-KR" dirty="0"/>
              <a:t>All Elements Rule </a:t>
            </a:r>
            <a:r>
              <a:rPr lang="ko-KR" altLang="en-US" dirty="0"/>
              <a:t>적용의 구체적 </a:t>
            </a:r>
            <a:r>
              <a:rPr lang="en-US" altLang="ko-KR" dirty="0"/>
              <a:t>CASE</a:t>
            </a:r>
            <a:endParaRPr lang="ko-KR" altLang="en-US" dirty="0"/>
          </a:p>
        </p:txBody>
      </p:sp>
      <p:pic>
        <p:nvPicPr>
          <p:cNvPr id="4" name="Picture 3" descr="20060524191814_3_2">
            <a:hlinkClick r:id="rId2"/>
          </p:cNvPr>
          <p:cNvPicPr>
            <a:picLocks noChangeAspect="1" noChangeArrowheads="1"/>
          </p:cNvPicPr>
          <p:nvPr/>
        </p:nvPicPr>
        <p:blipFill>
          <a:blip r:embed="rId3" cstate="print">
            <a:clrChange>
              <a:clrFrom>
                <a:srgbClr val="65574E"/>
              </a:clrFrom>
              <a:clrTo>
                <a:srgbClr val="65574E">
                  <a:alpha val="0"/>
                </a:srgbClr>
              </a:clrTo>
            </a:clrChange>
            <a:grayscl/>
          </a:blip>
          <a:srcRect/>
          <a:stretch>
            <a:fillRect/>
          </a:stretch>
        </p:blipFill>
        <p:spPr bwMode="auto">
          <a:xfrm>
            <a:off x="4294171" y="1188208"/>
            <a:ext cx="1362968" cy="878210"/>
          </a:xfrm>
          <a:prstGeom prst="rect">
            <a:avLst/>
          </a:prstGeom>
          <a:noFill/>
          <a:ln>
            <a:miter lim="800000"/>
            <a:headEnd/>
            <a:tailEnd/>
          </a:ln>
        </p:spPr>
      </p:pic>
      <p:pic>
        <p:nvPicPr>
          <p:cNvPr id="5" name="Picture 6" descr="20060808171144_1_2">
            <a:hlinkClick r:id="rId4"/>
          </p:cNvPr>
          <p:cNvPicPr>
            <a:picLocks noChangeAspect="1" noChangeArrowheads="1"/>
          </p:cNvPicPr>
          <p:nvPr/>
        </p:nvPicPr>
        <p:blipFill>
          <a:blip r:embed="rId5" cstate="print"/>
          <a:srcRect/>
          <a:stretch>
            <a:fillRect/>
          </a:stretch>
        </p:blipFill>
        <p:spPr bwMode="auto">
          <a:xfrm>
            <a:off x="8112379" y="4644592"/>
            <a:ext cx="1648884" cy="1316038"/>
          </a:xfrm>
          <a:prstGeom prst="rect">
            <a:avLst/>
          </a:prstGeom>
          <a:noFill/>
          <a:ln>
            <a:miter lim="800000"/>
            <a:headEnd/>
            <a:tailEnd/>
          </a:ln>
        </p:spPr>
      </p:pic>
      <p:pic>
        <p:nvPicPr>
          <p:cNvPr id="6" name="Picture 4" descr="718C_130">
            <a:hlinkClick r:id="rId6"/>
          </p:cNvPr>
          <p:cNvPicPr>
            <a:picLocks noChangeAspect="1" noChangeArrowheads="1"/>
          </p:cNvPicPr>
          <p:nvPr/>
        </p:nvPicPr>
        <p:blipFill>
          <a:blip r:embed="rId7" cstate="print">
            <a:grayscl/>
          </a:blip>
          <a:srcRect/>
          <a:stretch>
            <a:fillRect/>
          </a:stretch>
        </p:blipFill>
        <p:spPr bwMode="auto">
          <a:xfrm>
            <a:off x="6480197" y="3636480"/>
            <a:ext cx="1651000" cy="1238250"/>
          </a:xfrm>
          <a:prstGeom prst="rect">
            <a:avLst/>
          </a:prstGeom>
          <a:noFill/>
          <a:ln w="9525">
            <a:noFill/>
            <a:miter lim="800000"/>
            <a:headEnd/>
            <a:tailEnd/>
          </a:ln>
        </p:spPr>
      </p:pic>
      <p:pic>
        <p:nvPicPr>
          <p:cNvPr id="7" name="Picture 5" descr="B04_130">
            <a:hlinkClick r:id="rId8"/>
          </p:cNvPr>
          <p:cNvPicPr>
            <a:picLocks noChangeAspect="1" noChangeArrowheads="1"/>
          </p:cNvPicPr>
          <p:nvPr/>
        </p:nvPicPr>
        <p:blipFill>
          <a:blip r:embed="rId9" cstate="print">
            <a:grayscl/>
          </a:blip>
          <a:srcRect/>
          <a:stretch>
            <a:fillRect/>
          </a:stretch>
        </p:blipFill>
        <p:spPr bwMode="auto">
          <a:xfrm>
            <a:off x="9648549" y="2988408"/>
            <a:ext cx="1651000" cy="1238250"/>
          </a:xfrm>
          <a:prstGeom prst="rect">
            <a:avLst/>
          </a:prstGeom>
          <a:noFill/>
          <a:ln w="9525">
            <a:noFill/>
            <a:miter lim="800000"/>
            <a:headEnd/>
            <a:tailEnd/>
          </a:ln>
        </p:spPr>
      </p:pic>
      <p:pic>
        <p:nvPicPr>
          <p:cNvPr id="9" name="Picture 5" descr="317_130">
            <a:hlinkClick r:id="rId10"/>
          </p:cNvPr>
          <p:cNvPicPr>
            <a:picLocks noChangeAspect="1" noChangeArrowheads="1"/>
          </p:cNvPicPr>
          <p:nvPr/>
        </p:nvPicPr>
        <p:blipFill>
          <a:blip r:embed="rId11" cstate="print">
            <a:grayscl/>
          </a:blip>
          <a:srcRect/>
          <a:stretch>
            <a:fillRect/>
          </a:stretch>
        </p:blipFill>
        <p:spPr bwMode="auto">
          <a:xfrm>
            <a:off x="3373525" y="5148648"/>
            <a:ext cx="1651000" cy="1238250"/>
          </a:xfrm>
          <a:prstGeom prst="rect">
            <a:avLst/>
          </a:prstGeom>
          <a:noFill/>
          <a:ln>
            <a:miter lim="800000"/>
            <a:headEnd/>
            <a:tailEnd/>
          </a:ln>
        </p:spPr>
      </p:pic>
      <p:sp>
        <p:nvSpPr>
          <p:cNvPr id="11" name="TextBox 10"/>
          <p:cNvSpPr txBox="1"/>
          <p:nvPr/>
        </p:nvSpPr>
        <p:spPr>
          <a:xfrm>
            <a:off x="658839" y="4636125"/>
            <a:ext cx="1629805" cy="369332"/>
          </a:xfrm>
          <a:prstGeom prst="rect">
            <a:avLst/>
          </a:prstGeom>
          <a:solidFill>
            <a:schemeClr val="tx2">
              <a:lumMod val="75000"/>
            </a:schemeClr>
          </a:solidFill>
        </p:spPr>
        <p:txBody>
          <a:bodyPr wrap="none" rtlCol="0">
            <a:spAutoFit/>
          </a:bodyPr>
          <a:lstStyle/>
          <a:p>
            <a:r>
              <a:rPr lang="en-US" altLang="ko-KR" dirty="0">
                <a:solidFill>
                  <a:srgbClr val="FFFF00"/>
                </a:solidFill>
                <a:latin typeface="+mn-ea"/>
              </a:rPr>
              <a:t>1. My product</a:t>
            </a:r>
            <a:endParaRPr lang="ko-KR" altLang="en-US" dirty="0">
              <a:solidFill>
                <a:srgbClr val="FFFF00"/>
              </a:solidFill>
              <a:latin typeface="+mn-ea"/>
            </a:endParaRPr>
          </a:p>
        </p:txBody>
      </p:sp>
      <p:sp>
        <p:nvSpPr>
          <p:cNvPr id="12" name="TextBox 11"/>
          <p:cNvSpPr txBox="1"/>
          <p:nvPr/>
        </p:nvSpPr>
        <p:spPr>
          <a:xfrm>
            <a:off x="651518" y="1044351"/>
            <a:ext cx="1509644" cy="369332"/>
          </a:xfrm>
          <a:prstGeom prst="rect">
            <a:avLst/>
          </a:prstGeom>
          <a:solidFill>
            <a:schemeClr val="tx2">
              <a:lumMod val="75000"/>
            </a:schemeClr>
          </a:solidFill>
        </p:spPr>
        <p:txBody>
          <a:bodyPr wrap="none" rtlCol="0">
            <a:spAutoFit/>
          </a:bodyPr>
          <a:lstStyle/>
          <a:p>
            <a:r>
              <a:rPr lang="en-US" altLang="ko-KR" dirty="0">
                <a:solidFill>
                  <a:srgbClr val="FFFF00"/>
                </a:solidFill>
                <a:latin typeface="+mn-ea"/>
              </a:rPr>
              <a:t>2. My patent</a:t>
            </a:r>
            <a:endParaRPr lang="ko-KR" altLang="en-US" dirty="0">
              <a:solidFill>
                <a:srgbClr val="FFFF00"/>
              </a:solidFill>
              <a:latin typeface="+mn-ea"/>
            </a:endParaRPr>
          </a:p>
        </p:txBody>
      </p:sp>
      <p:sp>
        <p:nvSpPr>
          <p:cNvPr id="14" name="TextBox 13"/>
          <p:cNvSpPr txBox="1"/>
          <p:nvPr/>
        </p:nvSpPr>
        <p:spPr>
          <a:xfrm>
            <a:off x="6445694" y="1047192"/>
            <a:ext cx="1900713" cy="369332"/>
          </a:xfrm>
          <a:prstGeom prst="rect">
            <a:avLst/>
          </a:prstGeom>
          <a:solidFill>
            <a:schemeClr val="tx2">
              <a:lumMod val="75000"/>
            </a:schemeClr>
          </a:solidFill>
        </p:spPr>
        <p:txBody>
          <a:bodyPr wrap="none" rtlCol="0">
            <a:spAutoFit/>
          </a:bodyPr>
          <a:lstStyle/>
          <a:p>
            <a:r>
              <a:rPr lang="en-US" altLang="ko-KR" dirty="0">
                <a:solidFill>
                  <a:srgbClr val="FFFF00"/>
                </a:solidFill>
                <a:latin typeface="+mn-ea"/>
              </a:rPr>
              <a:t>3. Other product</a:t>
            </a:r>
            <a:endParaRPr lang="ko-KR" altLang="en-US" dirty="0">
              <a:solidFill>
                <a:srgbClr val="FFFF00"/>
              </a:solidFill>
              <a:latin typeface="+mn-ea"/>
            </a:endParaRPr>
          </a:p>
        </p:txBody>
      </p:sp>
      <p:pic>
        <p:nvPicPr>
          <p:cNvPr id="15" name="Picture 5" descr="20060524191814_4_2">
            <a:hlinkClick r:id="rId12"/>
          </p:cNvPr>
          <p:cNvPicPr>
            <a:picLocks noChangeAspect="1" noChangeArrowheads="1"/>
          </p:cNvPicPr>
          <p:nvPr/>
        </p:nvPicPr>
        <p:blipFill>
          <a:blip r:embed="rId13" cstate="print">
            <a:clrChange>
              <a:clrFrom>
                <a:srgbClr val="72574C"/>
              </a:clrFrom>
              <a:clrTo>
                <a:srgbClr val="72574C">
                  <a:alpha val="0"/>
                </a:srgbClr>
              </a:clrTo>
            </a:clrChange>
            <a:grayscl/>
          </a:blip>
          <a:srcRect/>
          <a:stretch>
            <a:fillRect/>
          </a:stretch>
        </p:blipFill>
        <p:spPr bwMode="auto">
          <a:xfrm>
            <a:off x="8051800" y="1908289"/>
            <a:ext cx="1092200" cy="1316037"/>
          </a:xfrm>
          <a:prstGeom prst="rect">
            <a:avLst/>
          </a:prstGeom>
          <a:noFill/>
          <a:ln>
            <a:miter lim="800000"/>
            <a:headEnd/>
            <a:tailEnd/>
          </a:ln>
        </p:spPr>
      </p:pic>
      <p:sp>
        <p:nvSpPr>
          <p:cNvPr id="17" name="직사각형 16"/>
          <p:cNvSpPr/>
          <p:nvPr/>
        </p:nvSpPr>
        <p:spPr bwMode="auto">
          <a:xfrm>
            <a:off x="642892" y="4636125"/>
            <a:ext cx="5088565" cy="1800200"/>
          </a:xfrm>
          <a:prstGeom prst="rect">
            <a:avLst/>
          </a:prstGeom>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rtlCol="0" anchor="ctr"/>
          <a:lstStyle/>
          <a:p>
            <a:pPr algn="ctr"/>
            <a:endParaRPr lang="ko-KR" altLang="en-US">
              <a:latin typeface="+mn-ea"/>
            </a:endParaRPr>
          </a:p>
        </p:txBody>
      </p:sp>
      <p:sp>
        <p:nvSpPr>
          <p:cNvPr id="18" name="직사각형 17"/>
          <p:cNvSpPr/>
          <p:nvPr/>
        </p:nvSpPr>
        <p:spPr bwMode="auto">
          <a:xfrm>
            <a:off x="6434988" y="1035725"/>
            <a:ext cx="5088565" cy="5328592"/>
          </a:xfrm>
          <a:prstGeom prst="rect">
            <a:avLst/>
          </a:prstGeom>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rtlCol="0" anchor="ctr"/>
          <a:lstStyle/>
          <a:p>
            <a:pPr algn="ctr"/>
            <a:endParaRPr lang="ko-KR" altLang="en-US">
              <a:latin typeface="+mn-ea"/>
            </a:endParaRPr>
          </a:p>
        </p:txBody>
      </p:sp>
      <p:cxnSp>
        <p:nvCxnSpPr>
          <p:cNvPr id="13" name="연결선: 꺾임 12">
            <a:extLst>
              <a:ext uri="{FF2B5EF4-FFF2-40B4-BE49-F238E27FC236}">
                <a16:creationId xmlns:a16="http://schemas.microsoft.com/office/drawing/2014/main" id="{6D5BA194-9812-4E6A-8D9F-1F7D279E9076}"/>
              </a:ext>
            </a:extLst>
          </p:cNvPr>
          <p:cNvCxnSpPr>
            <a:cxnSpLocks/>
            <a:stCxn id="11" idx="1"/>
            <a:endCxn id="12" idx="1"/>
          </p:cNvCxnSpPr>
          <p:nvPr/>
        </p:nvCxnSpPr>
        <p:spPr>
          <a:xfrm rot="10800000">
            <a:off x="651519" y="1229017"/>
            <a:ext cx="7321" cy="3591774"/>
          </a:xfrm>
          <a:prstGeom prst="bentConnector3">
            <a:avLst>
              <a:gd name="adj1" fmla="val 3222524"/>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 name="연결선: 꺾임 21">
            <a:extLst>
              <a:ext uri="{FF2B5EF4-FFF2-40B4-BE49-F238E27FC236}">
                <a16:creationId xmlns:a16="http://schemas.microsoft.com/office/drawing/2014/main" id="{DF0D08AC-8F8D-485B-8825-4344D9966893}"/>
              </a:ext>
            </a:extLst>
          </p:cNvPr>
          <p:cNvCxnSpPr>
            <a:stCxn id="12" idx="3"/>
            <a:endCxn id="14" idx="0"/>
          </p:cNvCxnSpPr>
          <p:nvPr/>
        </p:nvCxnSpPr>
        <p:spPr>
          <a:xfrm flipV="1">
            <a:off x="2161162" y="1047192"/>
            <a:ext cx="5234889" cy="181825"/>
          </a:xfrm>
          <a:prstGeom prst="bentConnector4">
            <a:avLst>
              <a:gd name="adj1" fmla="val 40923"/>
              <a:gd name="adj2" fmla="val 227288"/>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5576536"/>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2"/>
          <p:cNvSpPr txBox="1">
            <a:spLocks noChangeArrowheads="1"/>
          </p:cNvSpPr>
          <p:nvPr/>
        </p:nvSpPr>
        <p:spPr bwMode="auto">
          <a:xfrm>
            <a:off x="649340" y="1035725"/>
            <a:ext cx="5082117" cy="3528392"/>
          </a:xfrm>
          <a:prstGeom prst="rect">
            <a:avLst/>
          </a:prstGeom>
          <a:noFill/>
          <a:ln>
            <a:solidFill>
              <a:schemeClr val="bg1">
                <a:lumMod val="50000"/>
              </a:schemeClr>
            </a:solidFill>
            <a:miter lim="800000"/>
            <a:headEnd/>
            <a:tailEnd/>
          </a:ln>
        </p:spPr>
        <p:txBody>
          <a:bodyPr vert="horz" lIns="91440" tIns="45720" rIns="91440" bIns="45720" rtlCol="0" anchor="b">
            <a:normAutofit/>
          </a:bodyPr>
          <a:lst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ko-KR" altLang="en-US" sz="1600" dirty="0" err="1">
                <a:latin typeface="+mn-ea"/>
              </a:rPr>
              <a:t>청구항</a:t>
            </a:r>
            <a:r>
              <a:rPr lang="ko-KR" altLang="en-US" sz="1600" dirty="0">
                <a:latin typeface="+mn-ea"/>
              </a:rPr>
              <a:t> </a:t>
            </a:r>
            <a:r>
              <a:rPr lang="en-US" altLang="ko-KR" sz="1600" dirty="0">
                <a:latin typeface="+mn-ea"/>
              </a:rPr>
              <a:t>1. </a:t>
            </a:r>
          </a:p>
          <a:p>
            <a:pPr marL="457200" lvl="1" indent="0">
              <a:buNone/>
            </a:pPr>
            <a:r>
              <a:rPr lang="ko-KR" altLang="en-US" sz="1600" dirty="0">
                <a:latin typeface="+mn-ea"/>
              </a:rPr>
              <a:t>받침대와</a:t>
            </a:r>
            <a:r>
              <a:rPr lang="en-US" altLang="ko-KR" sz="1600" dirty="0">
                <a:latin typeface="+mn-ea"/>
              </a:rPr>
              <a:t>;</a:t>
            </a:r>
          </a:p>
          <a:p>
            <a:pPr marL="457200" lvl="1" indent="0">
              <a:buNone/>
            </a:pPr>
            <a:r>
              <a:rPr lang="ko-KR" altLang="en-US" sz="1600" dirty="0">
                <a:latin typeface="+mn-ea"/>
              </a:rPr>
              <a:t>상기 받침대에 결합되어 상기 받침대를 지지하는 복수의 다리</a:t>
            </a:r>
          </a:p>
          <a:p>
            <a:pPr marL="457200" lvl="1" indent="0">
              <a:buNone/>
            </a:pPr>
            <a:r>
              <a:rPr lang="ko-KR" altLang="en-US" sz="1600" dirty="0" err="1">
                <a:latin typeface="+mn-ea"/>
              </a:rPr>
              <a:t>를</a:t>
            </a:r>
            <a:r>
              <a:rPr lang="ko-KR" altLang="en-US" sz="1600" dirty="0">
                <a:latin typeface="+mn-ea"/>
              </a:rPr>
              <a:t> 포함하는 의자</a:t>
            </a:r>
            <a:r>
              <a:rPr lang="en-US" altLang="ko-KR" sz="1600" dirty="0">
                <a:latin typeface="+mn-ea"/>
              </a:rPr>
              <a:t>.</a:t>
            </a:r>
          </a:p>
          <a:p>
            <a:endParaRPr lang="en-US" altLang="ko-KR" sz="1600" dirty="0">
              <a:latin typeface="+mn-ea"/>
            </a:endParaRPr>
          </a:p>
          <a:p>
            <a:endParaRPr lang="en-US" altLang="ko-KR" sz="1600" dirty="0">
              <a:latin typeface="+mn-ea"/>
            </a:endParaRPr>
          </a:p>
        </p:txBody>
      </p:sp>
      <p:sp>
        <p:nvSpPr>
          <p:cNvPr id="7" name="슬라이드 번호 개체 틀 6"/>
          <p:cNvSpPr>
            <a:spLocks noGrp="1"/>
          </p:cNvSpPr>
          <p:nvPr>
            <p:ph type="sldNum" sz="quarter" idx="12"/>
          </p:nvPr>
        </p:nvSpPr>
        <p:spPr/>
        <p:txBody>
          <a:bodyPr/>
          <a:lstStyle/>
          <a:p>
            <a:r>
              <a:rPr lang="en-US" altLang="ko-KR"/>
              <a:t>328</a:t>
            </a:r>
            <a:endParaRPr lang="ko-KR" altLang="en-US"/>
          </a:p>
        </p:txBody>
      </p:sp>
      <p:sp>
        <p:nvSpPr>
          <p:cNvPr id="2" name="제목 1"/>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3" name="텍스트 개체 틀 2"/>
          <p:cNvSpPr>
            <a:spLocks noGrp="1"/>
          </p:cNvSpPr>
          <p:nvPr>
            <p:ph type="body" sz="quarter" idx="13"/>
          </p:nvPr>
        </p:nvSpPr>
        <p:spPr/>
        <p:txBody>
          <a:bodyPr/>
          <a:lstStyle/>
          <a:p>
            <a:r>
              <a:rPr lang="en-US" altLang="ko-KR" dirty="0"/>
              <a:t>All Elements Rule </a:t>
            </a:r>
            <a:r>
              <a:rPr lang="ko-KR" altLang="en-US" dirty="0"/>
              <a:t>적용의 구체적 </a:t>
            </a:r>
            <a:r>
              <a:rPr lang="en-US" altLang="ko-KR" dirty="0"/>
              <a:t>CASE</a:t>
            </a:r>
            <a:endParaRPr lang="ko-KR" altLang="en-US" dirty="0"/>
          </a:p>
        </p:txBody>
      </p:sp>
      <p:pic>
        <p:nvPicPr>
          <p:cNvPr id="4" name="Picture 5" descr="20060705124333_9_0">
            <a:hlinkClick r:id="rId2"/>
          </p:cNvPr>
          <p:cNvPicPr>
            <a:picLocks noChangeAspect="1" noChangeArrowheads="1"/>
          </p:cNvPicPr>
          <p:nvPr/>
        </p:nvPicPr>
        <p:blipFill>
          <a:blip r:embed="rId3" cstate="print">
            <a:grayscl/>
          </a:blip>
          <a:srcRect/>
          <a:stretch>
            <a:fillRect/>
          </a:stretch>
        </p:blipFill>
        <p:spPr bwMode="auto">
          <a:xfrm>
            <a:off x="7508040" y="2069238"/>
            <a:ext cx="1534583" cy="1379538"/>
          </a:xfrm>
          <a:prstGeom prst="rect">
            <a:avLst/>
          </a:prstGeom>
          <a:noFill/>
          <a:ln>
            <a:miter lim="800000"/>
            <a:headEnd/>
            <a:tailEnd/>
          </a:ln>
        </p:spPr>
      </p:pic>
      <p:pic>
        <p:nvPicPr>
          <p:cNvPr id="5" name="Picture 3" descr="20060524191814_4_2">
            <a:hlinkClick r:id="rId4"/>
          </p:cNvPr>
          <p:cNvPicPr>
            <a:picLocks noChangeAspect="1" noChangeArrowheads="1"/>
          </p:cNvPicPr>
          <p:nvPr/>
        </p:nvPicPr>
        <p:blipFill>
          <a:blip r:embed="rId5" cstate="print">
            <a:clrChange>
              <a:clrFrom>
                <a:srgbClr val="70554A"/>
              </a:clrFrom>
              <a:clrTo>
                <a:srgbClr val="70554A">
                  <a:alpha val="0"/>
                </a:srgbClr>
              </a:clrTo>
            </a:clrChange>
            <a:grayscl/>
          </a:blip>
          <a:srcRect/>
          <a:stretch>
            <a:fillRect/>
          </a:stretch>
        </p:blipFill>
        <p:spPr bwMode="auto">
          <a:xfrm>
            <a:off x="4405254" y="1216768"/>
            <a:ext cx="1292180" cy="1031180"/>
          </a:xfrm>
          <a:prstGeom prst="rect">
            <a:avLst/>
          </a:prstGeom>
          <a:noFill/>
          <a:ln>
            <a:miter lim="800000"/>
            <a:headEnd/>
            <a:tailEnd/>
          </a:ln>
        </p:spPr>
      </p:pic>
      <p:pic>
        <p:nvPicPr>
          <p:cNvPr id="6" name="Picture 4" descr="718C_130">
            <a:hlinkClick r:id="rId6"/>
          </p:cNvPr>
          <p:cNvPicPr>
            <a:picLocks noChangeAspect="1" noChangeArrowheads="1"/>
          </p:cNvPicPr>
          <p:nvPr/>
        </p:nvPicPr>
        <p:blipFill>
          <a:blip r:embed="rId7" cstate="print">
            <a:grayscl/>
          </a:blip>
          <a:srcRect/>
          <a:stretch>
            <a:fillRect/>
          </a:stretch>
        </p:blipFill>
        <p:spPr bwMode="auto">
          <a:xfrm>
            <a:off x="6828358" y="4152906"/>
            <a:ext cx="1651000" cy="1238250"/>
          </a:xfrm>
          <a:prstGeom prst="rect">
            <a:avLst/>
          </a:prstGeom>
          <a:noFill/>
          <a:ln w="9525">
            <a:noFill/>
            <a:miter lim="800000"/>
            <a:headEnd/>
            <a:tailEnd/>
          </a:ln>
        </p:spPr>
      </p:pic>
      <p:pic>
        <p:nvPicPr>
          <p:cNvPr id="8" name="Picture 5" descr="317_130">
            <a:hlinkClick r:id="rId8"/>
          </p:cNvPr>
          <p:cNvPicPr>
            <a:picLocks noChangeAspect="1" noChangeArrowheads="1"/>
          </p:cNvPicPr>
          <p:nvPr/>
        </p:nvPicPr>
        <p:blipFill>
          <a:blip r:embed="rId9" cstate="print">
            <a:grayscl/>
          </a:blip>
          <a:srcRect/>
          <a:stretch>
            <a:fillRect/>
          </a:stretch>
        </p:blipFill>
        <p:spPr bwMode="auto">
          <a:xfrm>
            <a:off x="3381992" y="5165582"/>
            <a:ext cx="1651000" cy="1238250"/>
          </a:xfrm>
          <a:prstGeom prst="rect">
            <a:avLst/>
          </a:prstGeom>
          <a:noFill/>
          <a:ln>
            <a:miter lim="800000"/>
            <a:headEnd/>
            <a:tailEnd/>
          </a:ln>
        </p:spPr>
      </p:pic>
      <p:sp>
        <p:nvSpPr>
          <p:cNvPr id="10" name="TextBox 9"/>
          <p:cNvSpPr txBox="1"/>
          <p:nvPr/>
        </p:nvSpPr>
        <p:spPr>
          <a:xfrm>
            <a:off x="651518" y="4639121"/>
            <a:ext cx="1629805" cy="369332"/>
          </a:xfrm>
          <a:prstGeom prst="rect">
            <a:avLst/>
          </a:prstGeom>
          <a:solidFill>
            <a:schemeClr val="tx2">
              <a:lumMod val="75000"/>
            </a:schemeClr>
          </a:solidFill>
        </p:spPr>
        <p:txBody>
          <a:bodyPr wrap="none" rtlCol="0">
            <a:spAutoFit/>
          </a:bodyPr>
          <a:lstStyle/>
          <a:p>
            <a:r>
              <a:rPr lang="en-US" altLang="ko-KR" dirty="0">
                <a:solidFill>
                  <a:srgbClr val="FFFF00"/>
                </a:solidFill>
                <a:latin typeface="+mn-ea"/>
              </a:rPr>
              <a:t>1. My product</a:t>
            </a:r>
            <a:endParaRPr lang="ko-KR" altLang="en-US" dirty="0">
              <a:solidFill>
                <a:srgbClr val="FFFF00"/>
              </a:solidFill>
              <a:latin typeface="+mn-ea"/>
            </a:endParaRPr>
          </a:p>
        </p:txBody>
      </p:sp>
      <p:sp>
        <p:nvSpPr>
          <p:cNvPr id="11" name="TextBox 10"/>
          <p:cNvSpPr txBox="1"/>
          <p:nvPr/>
        </p:nvSpPr>
        <p:spPr>
          <a:xfrm>
            <a:off x="651687" y="1046874"/>
            <a:ext cx="1509644" cy="369332"/>
          </a:xfrm>
          <a:prstGeom prst="rect">
            <a:avLst/>
          </a:prstGeom>
          <a:solidFill>
            <a:schemeClr val="tx2">
              <a:lumMod val="75000"/>
            </a:schemeClr>
          </a:solidFill>
        </p:spPr>
        <p:txBody>
          <a:bodyPr wrap="none" rtlCol="0">
            <a:spAutoFit/>
          </a:bodyPr>
          <a:lstStyle/>
          <a:p>
            <a:r>
              <a:rPr lang="en-US" altLang="ko-KR" dirty="0">
                <a:solidFill>
                  <a:srgbClr val="FFFF00"/>
                </a:solidFill>
                <a:latin typeface="+mn-ea"/>
              </a:rPr>
              <a:t>2. My patent</a:t>
            </a:r>
            <a:endParaRPr lang="ko-KR" altLang="en-US" dirty="0">
              <a:solidFill>
                <a:srgbClr val="FFFF00"/>
              </a:solidFill>
              <a:latin typeface="+mn-ea"/>
            </a:endParaRPr>
          </a:p>
        </p:txBody>
      </p:sp>
      <p:pic>
        <p:nvPicPr>
          <p:cNvPr id="12" name="Picture 6" descr="20060808171144_1_2">
            <a:hlinkClick r:id="rId10"/>
          </p:cNvPr>
          <p:cNvPicPr>
            <a:picLocks noChangeAspect="1" noChangeArrowheads="1"/>
          </p:cNvPicPr>
          <p:nvPr/>
        </p:nvPicPr>
        <p:blipFill>
          <a:blip r:embed="rId11" cstate="print"/>
          <a:srcRect/>
          <a:stretch>
            <a:fillRect/>
          </a:stretch>
        </p:blipFill>
        <p:spPr bwMode="auto">
          <a:xfrm>
            <a:off x="8180115" y="4661526"/>
            <a:ext cx="1648884" cy="1316038"/>
          </a:xfrm>
          <a:prstGeom prst="rect">
            <a:avLst/>
          </a:prstGeom>
          <a:noFill/>
          <a:ln>
            <a:miter lim="800000"/>
            <a:headEnd/>
            <a:tailEnd/>
          </a:ln>
        </p:spPr>
      </p:pic>
      <p:pic>
        <p:nvPicPr>
          <p:cNvPr id="13" name="Picture 5" descr="B04_130">
            <a:hlinkClick r:id="rId12"/>
          </p:cNvPr>
          <p:cNvPicPr>
            <a:picLocks noChangeAspect="1" noChangeArrowheads="1"/>
          </p:cNvPicPr>
          <p:nvPr/>
        </p:nvPicPr>
        <p:blipFill>
          <a:blip r:embed="rId13" cstate="print">
            <a:grayscl/>
          </a:blip>
          <a:srcRect/>
          <a:stretch>
            <a:fillRect/>
          </a:stretch>
        </p:blipFill>
        <p:spPr bwMode="auto">
          <a:xfrm>
            <a:off x="9716285" y="3005342"/>
            <a:ext cx="1651000" cy="1238250"/>
          </a:xfrm>
          <a:prstGeom prst="rect">
            <a:avLst/>
          </a:prstGeom>
          <a:noFill/>
          <a:ln w="9525">
            <a:noFill/>
            <a:miter lim="800000"/>
            <a:headEnd/>
            <a:tailEnd/>
          </a:ln>
        </p:spPr>
      </p:pic>
      <p:sp>
        <p:nvSpPr>
          <p:cNvPr id="15" name="TextBox 14"/>
          <p:cNvSpPr txBox="1"/>
          <p:nvPr/>
        </p:nvSpPr>
        <p:spPr>
          <a:xfrm>
            <a:off x="6444421" y="1046874"/>
            <a:ext cx="1900713" cy="369332"/>
          </a:xfrm>
          <a:prstGeom prst="rect">
            <a:avLst/>
          </a:prstGeom>
          <a:solidFill>
            <a:schemeClr val="tx2">
              <a:lumMod val="75000"/>
            </a:schemeClr>
          </a:solidFill>
        </p:spPr>
        <p:txBody>
          <a:bodyPr wrap="none" rtlCol="0">
            <a:spAutoFit/>
          </a:bodyPr>
          <a:lstStyle/>
          <a:p>
            <a:r>
              <a:rPr lang="en-US" altLang="ko-KR" dirty="0">
                <a:solidFill>
                  <a:srgbClr val="FFFF00"/>
                </a:solidFill>
                <a:latin typeface="+mn-ea"/>
              </a:rPr>
              <a:t>3. Other product</a:t>
            </a:r>
            <a:endParaRPr lang="ko-KR" altLang="en-US" dirty="0">
              <a:solidFill>
                <a:srgbClr val="FFFF00"/>
              </a:solidFill>
              <a:latin typeface="+mn-ea"/>
            </a:endParaRPr>
          </a:p>
        </p:txBody>
      </p:sp>
      <p:sp>
        <p:nvSpPr>
          <p:cNvPr id="17" name="직사각형 16"/>
          <p:cNvSpPr/>
          <p:nvPr/>
        </p:nvSpPr>
        <p:spPr bwMode="auto">
          <a:xfrm>
            <a:off x="642892" y="4636125"/>
            <a:ext cx="5088565" cy="1800200"/>
          </a:xfrm>
          <a:prstGeom prst="rect">
            <a:avLst/>
          </a:prstGeom>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rtlCol="0" anchor="ctr"/>
          <a:lstStyle/>
          <a:p>
            <a:pPr algn="ctr"/>
            <a:endParaRPr lang="ko-KR" altLang="en-US">
              <a:latin typeface="+mn-ea"/>
            </a:endParaRPr>
          </a:p>
        </p:txBody>
      </p:sp>
      <p:sp>
        <p:nvSpPr>
          <p:cNvPr id="18" name="직사각형 17"/>
          <p:cNvSpPr/>
          <p:nvPr/>
        </p:nvSpPr>
        <p:spPr bwMode="auto">
          <a:xfrm>
            <a:off x="6434988" y="1035725"/>
            <a:ext cx="5088565" cy="5328592"/>
          </a:xfrm>
          <a:prstGeom prst="rect">
            <a:avLst/>
          </a:prstGeom>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rtlCol="0" anchor="ctr"/>
          <a:lstStyle/>
          <a:p>
            <a:pPr algn="ctr"/>
            <a:endParaRPr lang="ko-KR" altLang="en-US">
              <a:latin typeface="+mn-ea"/>
            </a:endParaRPr>
          </a:p>
        </p:txBody>
      </p:sp>
      <p:cxnSp>
        <p:nvCxnSpPr>
          <p:cNvPr id="14" name="연결선: 꺾임 13">
            <a:extLst>
              <a:ext uri="{FF2B5EF4-FFF2-40B4-BE49-F238E27FC236}">
                <a16:creationId xmlns:a16="http://schemas.microsoft.com/office/drawing/2014/main" id="{A05E34B4-A6C5-4FA6-AED4-B315CFAAA36E}"/>
              </a:ext>
            </a:extLst>
          </p:cNvPr>
          <p:cNvCxnSpPr>
            <a:stCxn id="10" idx="1"/>
            <a:endCxn id="11" idx="1"/>
          </p:cNvCxnSpPr>
          <p:nvPr/>
        </p:nvCxnSpPr>
        <p:spPr>
          <a:xfrm rot="10800000" flipH="1">
            <a:off x="651517" y="1231541"/>
            <a:ext cx="169" cy="3592247"/>
          </a:xfrm>
          <a:prstGeom prst="bentConnector3">
            <a:avLst>
              <a:gd name="adj1" fmla="val -135266272"/>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 name="연결선: 꺾임 19">
            <a:extLst>
              <a:ext uri="{FF2B5EF4-FFF2-40B4-BE49-F238E27FC236}">
                <a16:creationId xmlns:a16="http://schemas.microsoft.com/office/drawing/2014/main" id="{DE50E006-C4AA-44CE-B2A1-5C6E71D24D3D}"/>
              </a:ext>
            </a:extLst>
          </p:cNvPr>
          <p:cNvCxnSpPr>
            <a:cxnSpLocks/>
            <a:stCxn id="11" idx="3"/>
            <a:endCxn id="15" idx="0"/>
          </p:cNvCxnSpPr>
          <p:nvPr/>
        </p:nvCxnSpPr>
        <p:spPr>
          <a:xfrm flipV="1">
            <a:off x="2161331" y="1046874"/>
            <a:ext cx="5233447" cy="184666"/>
          </a:xfrm>
          <a:prstGeom prst="bentConnector4">
            <a:avLst>
              <a:gd name="adj1" fmla="val 40920"/>
              <a:gd name="adj2" fmla="val 22379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566270"/>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3"/>
          <p:cNvSpPr>
            <a:spLocks noGrp="1"/>
          </p:cNvSpPr>
          <p:nvPr>
            <p:ph type="sldNum" sz="quarter" idx="12"/>
          </p:nvPr>
        </p:nvSpPr>
        <p:spPr/>
        <p:txBody>
          <a:bodyPr/>
          <a:lstStyle/>
          <a:p>
            <a:r>
              <a:rPr lang="en-US" altLang="ko-KR"/>
              <a:t>329</a:t>
            </a:r>
            <a:endParaRPr lang="ko-KR" altLang="en-US"/>
          </a:p>
        </p:txBody>
      </p:sp>
      <p:sp>
        <p:nvSpPr>
          <p:cNvPr id="2" name="제목 1"/>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3" name="텍스트 개체 틀 2"/>
          <p:cNvSpPr>
            <a:spLocks noGrp="1"/>
          </p:cNvSpPr>
          <p:nvPr>
            <p:ph type="body" sz="quarter" idx="13"/>
          </p:nvPr>
        </p:nvSpPr>
        <p:spPr/>
        <p:txBody>
          <a:bodyPr/>
          <a:lstStyle/>
          <a:p>
            <a:r>
              <a:rPr lang="en-US" altLang="ko-KR" dirty="0"/>
              <a:t>All Elements Rule </a:t>
            </a:r>
            <a:r>
              <a:rPr lang="ko-KR" altLang="en-US" dirty="0"/>
              <a:t>적용의 구체적 </a:t>
            </a:r>
            <a:r>
              <a:rPr lang="en-US" altLang="ko-KR" dirty="0"/>
              <a:t>CASE</a:t>
            </a:r>
            <a:endParaRPr lang="ko-KR" altLang="en-US" dirty="0"/>
          </a:p>
        </p:txBody>
      </p:sp>
      <p:graphicFrame>
        <p:nvGraphicFramePr>
          <p:cNvPr id="19" name="표 18"/>
          <p:cNvGraphicFramePr>
            <a:graphicFrameLocks noGrp="1"/>
          </p:cNvGraphicFramePr>
          <p:nvPr/>
        </p:nvGraphicFramePr>
        <p:xfrm>
          <a:off x="190500" y="1111260"/>
          <a:ext cx="11715832" cy="5360808"/>
        </p:xfrm>
        <a:graphic>
          <a:graphicData uri="http://schemas.openxmlformats.org/drawingml/2006/table">
            <a:tbl>
              <a:tblPr>
                <a:tableStyleId>{8799B23B-EC83-4686-B30A-512413B5E67A}</a:tableStyleId>
              </a:tblPr>
              <a:tblGrid>
                <a:gridCol w="2221979">
                  <a:extLst>
                    <a:ext uri="{9D8B030D-6E8A-4147-A177-3AD203B41FA5}">
                      <a16:colId xmlns:a16="http://schemas.microsoft.com/office/drawing/2014/main" val="20000"/>
                    </a:ext>
                  </a:extLst>
                </a:gridCol>
                <a:gridCol w="1075773">
                  <a:extLst>
                    <a:ext uri="{9D8B030D-6E8A-4147-A177-3AD203B41FA5}">
                      <a16:colId xmlns:a16="http://schemas.microsoft.com/office/drawing/2014/main" val="20001"/>
                    </a:ext>
                  </a:extLst>
                </a:gridCol>
                <a:gridCol w="1052260">
                  <a:extLst>
                    <a:ext uri="{9D8B030D-6E8A-4147-A177-3AD203B41FA5}">
                      <a16:colId xmlns:a16="http://schemas.microsoft.com/office/drawing/2014/main" val="20002"/>
                    </a:ext>
                  </a:extLst>
                </a:gridCol>
                <a:gridCol w="1052260">
                  <a:extLst>
                    <a:ext uri="{9D8B030D-6E8A-4147-A177-3AD203B41FA5}">
                      <a16:colId xmlns:a16="http://schemas.microsoft.com/office/drawing/2014/main" val="20003"/>
                    </a:ext>
                  </a:extLst>
                </a:gridCol>
                <a:gridCol w="1052260">
                  <a:extLst>
                    <a:ext uri="{9D8B030D-6E8A-4147-A177-3AD203B41FA5}">
                      <a16:colId xmlns:a16="http://schemas.microsoft.com/office/drawing/2014/main" val="20004"/>
                    </a:ext>
                  </a:extLst>
                </a:gridCol>
                <a:gridCol w="1052260">
                  <a:extLst>
                    <a:ext uri="{9D8B030D-6E8A-4147-A177-3AD203B41FA5}">
                      <a16:colId xmlns:a16="http://schemas.microsoft.com/office/drawing/2014/main" val="20005"/>
                    </a:ext>
                  </a:extLst>
                </a:gridCol>
                <a:gridCol w="1052260">
                  <a:extLst>
                    <a:ext uri="{9D8B030D-6E8A-4147-A177-3AD203B41FA5}">
                      <a16:colId xmlns:a16="http://schemas.microsoft.com/office/drawing/2014/main" val="20006"/>
                    </a:ext>
                  </a:extLst>
                </a:gridCol>
                <a:gridCol w="1052260">
                  <a:extLst>
                    <a:ext uri="{9D8B030D-6E8A-4147-A177-3AD203B41FA5}">
                      <a16:colId xmlns:a16="http://schemas.microsoft.com/office/drawing/2014/main" val="20007"/>
                    </a:ext>
                  </a:extLst>
                </a:gridCol>
                <a:gridCol w="1052260">
                  <a:extLst>
                    <a:ext uri="{9D8B030D-6E8A-4147-A177-3AD203B41FA5}">
                      <a16:colId xmlns:a16="http://schemas.microsoft.com/office/drawing/2014/main" val="20008"/>
                    </a:ext>
                  </a:extLst>
                </a:gridCol>
                <a:gridCol w="1052260">
                  <a:extLst>
                    <a:ext uri="{9D8B030D-6E8A-4147-A177-3AD203B41FA5}">
                      <a16:colId xmlns:a16="http://schemas.microsoft.com/office/drawing/2014/main" val="20009"/>
                    </a:ext>
                  </a:extLst>
                </a:gridCol>
              </a:tblGrid>
              <a:tr h="883348">
                <a:tc>
                  <a:txBody>
                    <a:bodyPr/>
                    <a:lstStyle/>
                    <a:p>
                      <a:pPr latinLnBrk="1"/>
                      <a:r>
                        <a:rPr lang="en-US" altLang="ko-KR" sz="1800" dirty="0"/>
                        <a:t>All Elements Rule</a:t>
                      </a:r>
                      <a:endParaRPr lang="ko-KR" altLang="en-US" sz="1800" b="0" dirty="0">
                        <a:latin typeface="+mn-ea"/>
                        <a:ea typeface="+mn-ea"/>
                      </a:endParaRPr>
                    </a:p>
                  </a:txBody>
                  <a:tcPr marL="121920" marR="121920"/>
                </a:tc>
                <a:tc>
                  <a:txBody>
                    <a:bodyPr/>
                    <a:lstStyle/>
                    <a:p>
                      <a:pPr latinLnBrk="1"/>
                      <a:endParaRPr lang="ko-KR" altLang="en-US" sz="1800" b="0">
                        <a:latin typeface="+mn-ea"/>
                        <a:ea typeface="+mn-ea"/>
                      </a:endParaRPr>
                    </a:p>
                  </a:txBody>
                  <a:tcPr marL="121920" marR="121920"/>
                </a:tc>
                <a:tc>
                  <a:txBody>
                    <a:bodyPr/>
                    <a:lstStyle/>
                    <a:p>
                      <a:pPr latinLnBrk="1"/>
                      <a:endParaRPr lang="ko-KR" altLang="en-US" sz="1800" b="0">
                        <a:latin typeface="+mn-ea"/>
                        <a:ea typeface="+mn-ea"/>
                      </a:endParaRPr>
                    </a:p>
                  </a:txBody>
                  <a:tcPr marL="121920" marR="121920"/>
                </a:tc>
                <a:tc>
                  <a:txBody>
                    <a:bodyPr/>
                    <a:lstStyle/>
                    <a:p>
                      <a:pPr latinLnBrk="1"/>
                      <a:endParaRPr lang="ko-KR" altLang="en-US" sz="1800" b="0">
                        <a:latin typeface="+mn-ea"/>
                        <a:ea typeface="+mn-ea"/>
                      </a:endParaRPr>
                    </a:p>
                  </a:txBody>
                  <a:tcPr marL="121920" marR="121920"/>
                </a:tc>
                <a:tc>
                  <a:txBody>
                    <a:bodyPr/>
                    <a:lstStyle/>
                    <a:p>
                      <a:pPr latinLnBrk="1"/>
                      <a:endParaRPr lang="ko-KR" altLang="en-US" sz="1800" b="0">
                        <a:latin typeface="+mn-ea"/>
                        <a:ea typeface="+mn-ea"/>
                      </a:endParaRPr>
                    </a:p>
                  </a:txBody>
                  <a:tcPr marL="121920" marR="121920"/>
                </a:tc>
                <a:tc>
                  <a:txBody>
                    <a:bodyPr/>
                    <a:lstStyle/>
                    <a:p>
                      <a:pPr latinLnBrk="1"/>
                      <a:endParaRPr lang="ko-KR" altLang="en-US" sz="1800" b="0">
                        <a:latin typeface="+mn-ea"/>
                        <a:ea typeface="+mn-ea"/>
                      </a:endParaRPr>
                    </a:p>
                  </a:txBody>
                  <a:tcPr marL="121920" marR="121920"/>
                </a:tc>
                <a:tc>
                  <a:txBody>
                    <a:bodyPr/>
                    <a:lstStyle/>
                    <a:p>
                      <a:pPr latinLnBrk="1"/>
                      <a:endParaRPr lang="ko-KR" altLang="en-US" sz="1800" b="0">
                        <a:latin typeface="+mn-ea"/>
                        <a:ea typeface="+mn-ea"/>
                      </a:endParaRPr>
                    </a:p>
                  </a:txBody>
                  <a:tcPr marL="121920" marR="121920"/>
                </a:tc>
                <a:tc>
                  <a:txBody>
                    <a:bodyPr/>
                    <a:lstStyle/>
                    <a:p>
                      <a:pPr latinLnBrk="1"/>
                      <a:endParaRPr lang="ko-KR" altLang="en-US" sz="1800" b="0" dirty="0">
                        <a:latin typeface="+mn-ea"/>
                        <a:ea typeface="+mn-ea"/>
                      </a:endParaRPr>
                    </a:p>
                  </a:txBody>
                  <a:tcPr marL="121920" marR="121920"/>
                </a:tc>
                <a:tc>
                  <a:txBody>
                    <a:bodyPr/>
                    <a:lstStyle/>
                    <a:p>
                      <a:pPr latinLnBrk="1"/>
                      <a:endParaRPr lang="ko-KR" altLang="en-US" sz="1800" b="0" dirty="0">
                        <a:latin typeface="+mn-ea"/>
                        <a:ea typeface="+mn-ea"/>
                      </a:endParaRPr>
                    </a:p>
                  </a:txBody>
                  <a:tcPr marL="121920" marR="121920"/>
                </a:tc>
                <a:tc>
                  <a:txBody>
                    <a:bodyPr/>
                    <a:lstStyle/>
                    <a:p>
                      <a:pPr latinLnBrk="1"/>
                      <a:endParaRPr lang="ko-KR" altLang="en-US" sz="1800" b="0" dirty="0">
                        <a:latin typeface="+mn-ea"/>
                        <a:ea typeface="+mn-ea"/>
                      </a:endParaRPr>
                    </a:p>
                  </a:txBody>
                  <a:tcPr marL="121920" marR="121920"/>
                </a:tc>
                <a:extLst>
                  <a:ext uri="{0D108BD9-81ED-4DB2-BD59-A6C34878D82A}">
                    <a16:rowId xmlns:a16="http://schemas.microsoft.com/office/drawing/2014/main" val="10000"/>
                  </a:ext>
                </a:extLst>
              </a:tr>
              <a:tr h="1545543">
                <a:tc>
                  <a:txBody>
                    <a:bodyPr/>
                    <a:lstStyle/>
                    <a:p>
                      <a:pPr marL="0" lvl="1" indent="0" eaLnBrk="1" hangingPunct="1">
                        <a:buClr>
                          <a:schemeClr val="tx1"/>
                        </a:buClr>
                        <a:buFontTx/>
                        <a:buNone/>
                      </a:pPr>
                      <a:r>
                        <a:rPr lang="ko-KR" altLang="en-US" sz="1000" dirty="0"/>
                        <a:t>받침대와</a:t>
                      </a:r>
                      <a:r>
                        <a:rPr lang="en-US" altLang="ko-KR" sz="1000" dirty="0"/>
                        <a:t>;</a:t>
                      </a:r>
                    </a:p>
                    <a:p>
                      <a:pPr marL="0" lvl="1" indent="0" eaLnBrk="1" hangingPunct="1">
                        <a:buClr>
                          <a:schemeClr val="tx1"/>
                        </a:buClr>
                        <a:buFontTx/>
                        <a:buNone/>
                      </a:pPr>
                      <a:r>
                        <a:rPr lang="ko-KR" altLang="en-US" sz="1000" dirty="0"/>
                        <a:t>상기 받침대의 일단에 결합되어 있는 등받이와</a:t>
                      </a:r>
                      <a:r>
                        <a:rPr lang="en-US" altLang="ko-KR" sz="1000" dirty="0"/>
                        <a:t>;</a:t>
                      </a:r>
                    </a:p>
                    <a:p>
                      <a:pPr marL="0" lvl="1" indent="0" eaLnBrk="1" hangingPunct="1">
                        <a:buClr>
                          <a:schemeClr val="tx1"/>
                        </a:buClr>
                        <a:buFontTx/>
                        <a:buNone/>
                      </a:pPr>
                      <a:r>
                        <a:rPr lang="ko-KR" altLang="en-US" sz="1000" dirty="0"/>
                        <a:t>상기 받침대 하부에 연결되어 상기 받침대를 지지하는 </a:t>
                      </a:r>
                      <a:r>
                        <a:rPr lang="en-US" altLang="ko-KR" sz="1000" dirty="0"/>
                        <a:t>4</a:t>
                      </a:r>
                      <a:r>
                        <a:rPr lang="ko-KR" altLang="en-US" sz="1000" dirty="0"/>
                        <a:t>개의 다리와</a:t>
                      </a:r>
                      <a:r>
                        <a:rPr lang="en-US" altLang="ko-KR" sz="1000" dirty="0"/>
                        <a:t>;</a:t>
                      </a:r>
                    </a:p>
                    <a:p>
                      <a:pPr marL="0" lvl="1" indent="0" eaLnBrk="1" hangingPunct="1">
                        <a:buClr>
                          <a:schemeClr val="tx1"/>
                        </a:buClr>
                        <a:buFontTx/>
                        <a:buNone/>
                      </a:pPr>
                      <a:r>
                        <a:rPr lang="ko-KR" altLang="en-US" sz="1000" dirty="0"/>
                        <a:t>상기 받침대 및 상기 등받이에 결합되어 있는 </a:t>
                      </a:r>
                      <a:r>
                        <a:rPr lang="ko-KR" altLang="en-US" sz="1000" u="none" dirty="0"/>
                        <a:t>팔걸이</a:t>
                      </a:r>
                      <a:endParaRPr lang="en-US" altLang="ko-KR" sz="1000" u="none" dirty="0"/>
                    </a:p>
                    <a:p>
                      <a:pPr marL="0" lvl="1" indent="0" eaLnBrk="1" hangingPunct="1">
                        <a:buClr>
                          <a:schemeClr val="tx1"/>
                        </a:buClr>
                        <a:buFontTx/>
                        <a:buNone/>
                      </a:pPr>
                      <a:r>
                        <a:rPr lang="ko-KR" altLang="en-US" sz="1000" dirty="0" err="1"/>
                        <a:t>를</a:t>
                      </a:r>
                      <a:r>
                        <a:rPr lang="ko-KR" altLang="en-US" sz="1000" dirty="0"/>
                        <a:t> 포함하는 의자</a:t>
                      </a:r>
                      <a:r>
                        <a:rPr lang="en-US" altLang="ko-KR" sz="1000" dirty="0"/>
                        <a:t>.</a:t>
                      </a:r>
                      <a:endParaRPr lang="en-US" altLang="ko-KR" sz="1000" b="0" dirty="0">
                        <a:latin typeface="+mn-ea"/>
                        <a:ea typeface="+mn-ea"/>
                      </a:endParaRPr>
                    </a:p>
                  </a:txBody>
                  <a:tcPr marL="121920" marR="121920"/>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extLst>
                  <a:ext uri="{0D108BD9-81ED-4DB2-BD59-A6C34878D82A}">
                    <a16:rowId xmlns:a16="http://schemas.microsoft.com/office/drawing/2014/main" val="10001"/>
                  </a:ext>
                </a:extLst>
              </a:tr>
              <a:tr h="1224725">
                <a:tc>
                  <a:txBody>
                    <a:bodyPr/>
                    <a:lstStyle/>
                    <a:p>
                      <a:pPr latinLnBrk="1"/>
                      <a:r>
                        <a:rPr lang="ko-KR" altLang="en-US" sz="1000" dirty="0"/>
                        <a:t>받침대와</a:t>
                      </a:r>
                      <a:r>
                        <a:rPr lang="en-US" altLang="ko-KR" sz="1000" dirty="0"/>
                        <a:t>;</a:t>
                      </a:r>
                    </a:p>
                    <a:p>
                      <a:pPr latinLnBrk="1"/>
                      <a:r>
                        <a:rPr lang="ko-KR" altLang="en-US" sz="1000" dirty="0"/>
                        <a:t>상기 받침대의 일단에 결합되어 있는 등받이와</a:t>
                      </a:r>
                      <a:r>
                        <a:rPr lang="en-US" altLang="ko-KR" sz="1000" dirty="0"/>
                        <a:t>;</a:t>
                      </a:r>
                    </a:p>
                    <a:p>
                      <a:pPr latinLnBrk="1"/>
                      <a:r>
                        <a:rPr lang="ko-KR" altLang="en-US" sz="1000" dirty="0"/>
                        <a:t>상기 받침대 하부에 연결되어 상기 받침대를 지지하는 </a:t>
                      </a:r>
                      <a:r>
                        <a:rPr lang="en-US" altLang="ko-KR" sz="1000" dirty="0"/>
                        <a:t>4</a:t>
                      </a:r>
                      <a:r>
                        <a:rPr lang="ko-KR" altLang="en-US" sz="1000" dirty="0"/>
                        <a:t>개의 다리</a:t>
                      </a:r>
                    </a:p>
                    <a:p>
                      <a:pPr latinLnBrk="1"/>
                      <a:r>
                        <a:rPr lang="ko-KR" altLang="en-US" sz="1000" dirty="0" err="1"/>
                        <a:t>를</a:t>
                      </a:r>
                      <a:r>
                        <a:rPr lang="ko-KR" altLang="en-US" sz="1000" dirty="0"/>
                        <a:t> 포함하는 의자</a:t>
                      </a:r>
                      <a:r>
                        <a:rPr lang="en-US" altLang="ko-KR" sz="1000" dirty="0"/>
                        <a:t>.</a:t>
                      </a:r>
                      <a:endParaRPr lang="en-US" altLang="ko-KR" sz="1000" b="0" dirty="0">
                        <a:latin typeface="+mn-ea"/>
                        <a:ea typeface="+mn-ea"/>
                      </a:endParaRPr>
                    </a:p>
                  </a:txBody>
                  <a:tcPr marL="121920" marR="121920"/>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extLst>
                  <a:ext uri="{0D108BD9-81ED-4DB2-BD59-A6C34878D82A}">
                    <a16:rowId xmlns:a16="http://schemas.microsoft.com/office/drawing/2014/main" val="10002"/>
                  </a:ext>
                </a:extLst>
              </a:tr>
              <a:tr h="853596">
                <a:tc>
                  <a:txBody>
                    <a:bodyPr/>
                    <a:lstStyle/>
                    <a:p>
                      <a:pPr latinLnBrk="1"/>
                      <a:r>
                        <a:rPr lang="ko-KR" altLang="en-US" sz="1000" dirty="0"/>
                        <a:t>받침대와</a:t>
                      </a:r>
                      <a:r>
                        <a:rPr lang="en-US" altLang="ko-KR" sz="1000" dirty="0"/>
                        <a:t>;</a:t>
                      </a:r>
                    </a:p>
                    <a:p>
                      <a:pPr latinLnBrk="1"/>
                      <a:r>
                        <a:rPr lang="ko-KR" altLang="en-US" sz="1000" dirty="0"/>
                        <a:t>상기 받침대 하부에 연결되어 상기 받침대를 지지하는 </a:t>
                      </a:r>
                      <a:r>
                        <a:rPr lang="en-US" altLang="ko-KR" sz="1000" dirty="0"/>
                        <a:t>4</a:t>
                      </a:r>
                      <a:r>
                        <a:rPr lang="ko-KR" altLang="en-US" sz="1000" dirty="0"/>
                        <a:t>개의 다리</a:t>
                      </a:r>
                    </a:p>
                    <a:p>
                      <a:pPr latinLnBrk="1"/>
                      <a:r>
                        <a:rPr lang="ko-KR" altLang="en-US" sz="1000" dirty="0" err="1"/>
                        <a:t>를</a:t>
                      </a:r>
                      <a:r>
                        <a:rPr lang="ko-KR" altLang="en-US" sz="1000" dirty="0"/>
                        <a:t> 포함하는 의자</a:t>
                      </a:r>
                      <a:r>
                        <a:rPr lang="en-US" altLang="ko-KR" sz="1000" dirty="0"/>
                        <a:t>.</a:t>
                      </a:r>
                      <a:endParaRPr lang="en-US" altLang="ko-KR" sz="1000" b="0" dirty="0">
                        <a:latin typeface="+mn-ea"/>
                        <a:ea typeface="+mn-ea"/>
                      </a:endParaRPr>
                    </a:p>
                  </a:txBody>
                  <a:tcPr marL="121920" marR="121920"/>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tc>
                  <a:txBody>
                    <a:bodyPr/>
                    <a:lstStyle/>
                    <a:p>
                      <a:pPr latinLnBrk="1"/>
                      <a:r>
                        <a:rPr lang="en-US" altLang="ko-KR" sz="1200" dirty="0"/>
                        <a:t>No</a:t>
                      </a:r>
                      <a:endParaRPr lang="ko-KR" altLang="en-US" sz="1200" b="0" dirty="0">
                        <a:latin typeface="+mn-ea"/>
                        <a:ea typeface="+mn-ea"/>
                      </a:endParaRPr>
                    </a:p>
                  </a:txBody>
                  <a:tcPr marL="121920" marR="121920"/>
                </a:tc>
                <a:extLst>
                  <a:ext uri="{0D108BD9-81ED-4DB2-BD59-A6C34878D82A}">
                    <a16:rowId xmlns:a16="http://schemas.microsoft.com/office/drawing/2014/main" val="10003"/>
                  </a:ext>
                </a:extLst>
              </a:tr>
              <a:tr h="853596">
                <a:tc>
                  <a:txBody>
                    <a:bodyPr/>
                    <a:lstStyle/>
                    <a:p>
                      <a:pPr latinLnBrk="1"/>
                      <a:r>
                        <a:rPr lang="ko-KR" altLang="en-US" sz="1000" dirty="0"/>
                        <a:t>받침대와</a:t>
                      </a:r>
                      <a:r>
                        <a:rPr lang="en-US" altLang="ko-KR" sz="1000" dirty="0"/>
                        <a:t>;</a:t>
                      </a:r>
                    </a:p>
                    <a:p>
                      <a:pPr latinLnBrk="1"/>
                      <a:r>
                        <a:rPr lang="ko-KR" altLang="en-US" sz="1000" dirty="0"/>
                        <a:t>상기 받침대에 결합되어 상기 받침대를 지지하는 복수의 다리</a:t>
                      </a:r>
                    </a:p>
                    <a:p>
                      <a:pPr latinLnBrk="1"/>
                      <a:r>
                        <a:rPr lang="ko-KR" altLang="en-US" sz="1000" dirty="0" err="1"/>
                        <a:t>를</a:t>
                      </a:r>
                      <a:r>
                        <a:rPr lang="ko-KR" altLang="en-US" sz="1000" dirty="0"/>
                        <a:t> 포함하는 의자</a:t>
                      </a:r>
                      <a:r>
                        <a:rPr lang="en-US" altLang="ko-KR" sz="1000" dirty="0"/>
                        <a:t>.</a:t>
                      </a:r>
                      <a:endParaRPr lang="en-US" altLang="ko-KR" sz="1000" b="0" dirty="0">
                        <a:latin typeface="+mn-ea"/>
                        <a:ea typeface="+mn-ea"/>
                      </a:endParaRPr>
                    </a:p>
                  </a:txBody>
                  <a:tcPr marL="121920" marR="121920"/>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Yes</a:t>
                      </a:r>
                      <a:endParaRPr lang="ko-KR" altLang="en-US" sz="1200" b="0" dirty="0">
                        <a:latin typeface="+mn-ea"/>
                        <a:ea typeface="+mn-ea"/>
                      </a:endParaRPr>
                    </a:p>
                  </a:txBody>
                  <a:tcPr marL="121920" marR="121920">
                    <a:solidFill>
                      <a:schemeClr val="accent1">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lang="en-US" altLang="ko-KR" sz="1200" dirty="0">
                          <a:solidFill>
                            <a:schemeClr val="tx1"/>
                          </a:solidFill>
                        </a:rPr>
                        <a:t>Yes</a:t>
                      </a:r>
                      <a:endParaRPr lang="ko-KR" altLang="en-US" sz="1200" b="0" dirty="0">
                        <a:solidFill>
                          <a:schemeClr val="tx1"/>
                        </a:solidFill>
                        <a:latin typeface="+mn-ea"/>
                        <a:ea typeface="+mn-ea"/>
                      </a:endParaRPr>
                    </a:p>
                  </a:txBody>
                  <a:tcPr marL="121920" marR="121920">
                    <a:solidFill>
                      <a:schemeClr val="accent1">
                        <a:lumMod val="20000"/>
                        <a:lumOff val="80000"/>
                      </a:schemeClr>
                    </a:solidFill>
                  </a:tcPr>
                </a:tc>
                <a:tc>
                  <a:txBody>
                    <a:bodyPr/>
                    <a:lstStyle/>
                    <a:p>
                      <a:pPr latinLnBrk="1"/>
                      <a:r>
                        <a:rPr lang="en-US" altLang="ko-KR" sz="1200" dirty="0"/>
                        <a:t>No</a:t>
                      </a:r>
                      <a:endParaRPr lang="ko-KR" altLang="en-US" sz="1200" b="0" dirty="0">
                        <a:latin typeface="+mn-ea"/>
                        <a:ea typeface="+mn-ea"/>
                      </a:endParaRPr>
                    </a:p>
                  </a:txBody>
                  <a:tcPr marL="121920" marR="121920"/>
                </a:tc>
                <a:extLst>
                  <a:ext uri="{0D108BD9-81ED-4DB2-BD59-A6C34878D82A}">
                    <a16:rowId xmlns:a16="http://schemas.microsoft.com/office/drawing/2014/main" val="10004"/>
                  </a:ext>
                </a:extLst>
              </a:tr>
            </a:tbl>
          </a:graphicData>
        </a:graphic>
      </p:graphicFrame>
      <p:pic>
        <p:nvPicPr>
          <p:cNvPr id="20" name="Picture 5" descr="317_130">
            <a:hlinkClick r:id="rId2"/>
          </p:cNvPr>
          <p:cNvPicPr>
            <a:picLocks noChangeAspect="1" noChangeArrowheads="1"/>
          </p:cNvPicPr>
          <p:nvPr/>
        </p:nvPicPr>
        <p:blipFill>
          <a:blip r:embed="rId3" cstate="print">
            <a:grayscl/>
          </a:blip>
          <a:srcRect/>
          <a:stretch>
            <a:fillRect/>
          </a:stretch>
        </p:blipFill>
        <p:spPr bwMode="auto">
          <a:xfrm>
            <a:off x="2476501" y="1149361"/>
            <a:ext cx="952500" cy="809625"/>
          </a:xfrm>
          <a:prstGeom prst="rect">
            <a:avLst/>
          </a:prstGeom>
          <a:noFill/>
          <a:ln>
            <a:miter lim="800000"/>
            <a:headEnd/>
            <a:tailEnd/>
          </a:ln>
        </p:spPr>
      </p:pic>
      <p:pic>
        <p:nvPicPr>
          <p:cNvPr id="21" name="Picture 3" descr="20060524191814_5_2">
            <a:hlinkClick r:id="rId4"/>
          </p:cNvPr>
          <p:cNvPicPr>
            <a:picLocks noChangeAspect="1" noChangeArrowheads="1"/>
          </p:cNvPicPr>
          <p:nvPr/>
        </p:nvPicPr>
        <p:blipFill>
          <a:blip r:embed="rId5" cstate="print">
            <a:clrChange>
              <a:clrFrom>
                <a:srgbClr val="A5877C"/>
              </a:clrFrom>
              <a:clrTo>
                <a:srgbClr val="A5877C">
                  <a:alpha val="0"/>
                </a:srgbClr>
              </a:clrTo>
            </a:clrChange>
            <a:grayscl/>
          </a:blip>
          <a:srcRect/>
          <a:stretch>
            <a:fillRect/>
          </a:stretch>
        </p:blipFill>
        <p:spPr bwMode="auto">
          <a:xfrm>
            <a:off x="3536951" y="1158886"/>
            <a:ext cx="952500" cy="785813"/>
          </a:xfrm>
          <a:prstGeom prst="rect">
            <a:avLst/>
          </a:prstGeom>
          <a:noFill/>
          <a:ln w="9525">
            <a:noFill/>
            <a:miter lim="800000"/>
            <a:headEnd/>
            <a:tailEnd/>
          </a:ln>
        </p:spPr>
      </p:pic>
      <p:pic>
        <p:nvPicPr>
          <p:cNvPr id="22" name="Picture 4" descr="B68_130">
            <a:hlinkClick r:id="rId6"/>
          </p:cNvPr>
          <p:cNvPicPr>
            <a:picLocks noChangeAspect="1" noChangeArrowheads="1"/>
          </p:cNvPicPr>
          <p:nvPr/>
        </p:nvPicPr>
        <p:blipFill>
          <a:blip r:embed="rId7" cstate="print">
            <a:grayscl/>
          </a:blip>
          <a:srcRect/>
          <a:stretch>
            <a:fillRect/>
          </a:stretch>
        </p:blipFill>
        <p:spPr bwMode="auto">
          <a:xfrm>
            <a:off x="5615518" y="1162060"/>
            <a:ext cx="908049" cy="793750"/>
          </a:xfrm>
          <a:prstGeom prst="rect">
            <a:avLst/>
          </a:prstGeom>
          <a:noFill/>
          <a:ln w="9525">
            <a:noFill/>
            <a:miter lim="800000"/>
            <a:headEnd/>
            <a:tailEnd/>
          </a:ln>
        </p:spPr>
      </p:pic>
      <p:pic>
        <p:nvPicPr>
          <p:cNvPr id="23" name="Picture 3" descr="20060524191814_3_2">
            <a:hlinkClick r:id="rId8"/>
          </p:cNvPr>
          <p:cNvPicPr>
            <a:picLocks noChangeAspect="1" noChangeArrowheads="1"/>
          </p:cNvPicPr>
          <p:nvPr/>
        </p:nvPicPr>
        <p:blipFill>
          <a:blip r:embed="rId9" cstate="print">
            <a:clrChange>
              <a:clrFrom>
                <a:srgbClr val="6A5345"/>
              </a:clrFrom>
              <a:clrTo>
                <a:srgbClr val="6A5345">
                  <a:alpha val="0"/>
                </a:srgbClr>
              </a:clrTo>
            </a:clrChange>
            <a:grayscl/>
          </a:blip>
          <a:srcRect l="14172" r="14960" b="22047"/>
          <a:stretch>
            <a:fillRect/>
          </a:stretch>
        </p:blipFill>
        <p:spPr bwMode="auto">
          <a:xfrm>
            <a:off x="4597401" y="1143011"/>
            <a:ext cx="773247" cy="785813"/>
          </a:xfrm>
          <a:prstGeom prst="rect">
            <a:avLst/>
          </a:prstGeom>
          <a:noFill/>
          <a:ln w="9525">
            <a:noFill/>
            <a:miter lim="800000"/>
            <a:headEnd/>
            <a:tailEnd/>
          </a:ln>
        </p:spPr>
      </p:pic>
      <p:pic>
        <p:nvPicPr>
          <p:cNvPr id="24" name="Picture 5" descr="20060524191814_4_2">
            <a:hlinkClick r:id="rId10"/>
          </p:cNvPr>
          <p:cNvPicPr>
            <a:picLocks noChangeAspect="1" noChangeArrowheads="1"/>
          </p:cNvPicPr>
          <p:nvPr/>
        </p:nvPicPr>
        <p:blipFill>
          <a:blip r:embed="rId11" cstate="print">
            <a:clrChange>
              <a:clrFrom>
                <a:srgbClr val="6E584A"/>
              </a:clrFrom>
              <a:clrTo>
                <a:srgbClr val="6E584A">
                  <a:alpha val="0"/>
                </a:srgbClr>
              </a:clrTo>
            </a:clrChange>
            <a:grayscl/>
          </a:blip>
          <a:srcRect l="17308" r="13461"/>
          <a:stretch>
            <a:fillRect/>
          </a:stretch>
        </p:blipFill>
        <p:spPr bwMode="auto">
          <a:xfrm>
            <a:off x="6916686" y="1149361"/>
            <a:ext cx="528295" cy="779463"/>
          </a:xfrm>
          <a:prstGeom prst="rect">
            <a:avLst/>
          </a:prstGeom>
          <a:noFill/>
          <a:ln w="9525">
            <a:noFill/>
            <a:miter lim="800000"/>
            <a:headEnd/>
            <a:tailEnd/>
          </a:ln>
        </p:spPr>
      </p:pic>
      <p:pic>
        <p:nvPicPr>
          <p:cNvPr id="25" name="Picture 5" descr="B04_130">
            <a:hlinkClick r:id="rId12"/>
          </p:cNvPr>
          <p:cNvPicPr>
            <a:picLocks noChangeAspect="1" noChangeArrowheads="1"/>
          </p:cNvPicPr>
          <p:nvPr/>
        </p:nvPicPr>
        <p:blipFill>
          <a:blip r:embed="rId13" cstate="print">
            <a:grayscl/>
          </a:blip>
          <a:srcRect/>
          <a:stretch>
            <a:fillRect/>
          </a:stretch>
        </p:blipFill>
        <p:spPr bwMode="auto">
          <a:xfrm>
            <a:off x="7727951" y="1149361"/>
            <a:ext cx="975783" cy="803275"/>
          </a:xfrm>
          <a:prstGeom prst="rect">
            <a:avLst/>
          </a:prstGeom>
          <a:noFill/>
          <a:ln w="9525">
            <a:noFill/>
            <a:miter lim="800000"/>
            <a:headEnd/>
            <a:tailEnd/>
          </a:ln>
        </p:spPr>
      </p:pic>
      <p:pic>
        <p:nvPicPr>
          <p:cNvPr id="26" name="Picture 4" descr="718C_130">
            <a:hlinkClick r:id="rId14"/>
          </p:cNvPr>
          <p:cNvPicPr>
            <a:picLocks noChangeAspect="1" noChangeArrowheads="1"/>
          </p:cNvPicPr>
          <p:nvPr/>
        </p:nvPicPr>
        <p:blipFill>
          <a:blip r:embed="rId15" cstate="print">
            <a:grayscl/>
          </a:blip>
          <a:srcRect/>
          <a:stretch>
            <a:fillRect/>
          </a:stretch>
        </p:blipFill>
        <p:spPr bwMode="auto">
          <a:xfrm>
            <a:off x="8779933" y="1149361"/>
            <a:ext cx="973667" cy="790575"/>
          </a:xfrm>
          <a:prstGeom prst="rect">
            <a:avLst/>
          </a:prstGeom>
          <a:noFill/>
          <a:ln w="9525">
            <a:noFill/>
            <a:miter lim="800000"/>
            <a:headEnd/>
            <a:tailEnd/>
          </a:ln>
        </p:spPr>
      </p:pic>
      <p:pic>
        <p:nvPicPr>
          <p:cNvPr id="27" name="Picture 6" descr="20060808171144_1_2">
            <a:hlinkClick r:id="rId16"/>
          </p:cNvPr>
          <p:cNvPicPr>
            <a:picLocks noChangeAspect="1" noChangeArrowheads="1"/>
          </p:cNvPicPr>
          <p:nvPr/>
        </p:nvPicPr>
        <p:blipFill>
          <a:blip r:embed="rId17" cstate="print"/>
          <a:srcRect/>
          <a:stretch>
            <a:fillRect/>
          </a:stretch>
        </p:blipFill>
        <p:spPr bwMode="auto">
          <a:xfrm>
            <a:off x="9836152" y="1154123"/>
            <a:ext cx="984249" cy="785812"/>
          </a:xfrm>
          <a:prstGeom prst="rect">
            <a:avLst/>
          </a:prstGeom>
          <a:noFill/>
          <a:ln w="9525">
            <a:noFill/>
            <a:miter lim="800000"/>
            <a:headEnd/>
            <a:tailEnd/>
          </a:ln>
        </p:spPr>
      </p:pic>
      <p:pic>
        <p:nvPicPr>
          <p:cNvPr id="28" name="Picture 5" descr="20060705124333_9_0">
            <a:hlinkClick r:id="rId18"/>
          </p:cNvPr>
          <p:cNvPicPr>
            <a:picLocks noChangeAspect="1" noChangeArrowheads="1"/>
          </p:cNvPicPr>
          <p:nvPr/>
        </p:nvPicPr>
        <p:blipFill>
          <a:blip r:embed="rId19" cstate="print">
            <a:grayscl/>
          </a:blip>
          <a:srcRect/>
          <a:stretch>
            <a:fillRect/>
          </a:stretch>
        </p:blipFill>
        <p:spPr bwMode="auto">
          <a:xfrm>
            <a:off x="10953751" y="1154123"/>
            <a:ext cx="874183" cy="785812"/>
          </a:xfrm>
          <a:prstGeom prst="rect">
            <a:avLst/>
          </a:prstGeom>
          <a:noFill/>
          <a:ln w="9525">
            <a:noFill/>
            <a:miter lim="800000"/>
            <a:headEnd/>
            <a:tailEnd/>
          </a:ln>
        </p:spPr>
      </p:pic>
    </p:spTree>
    <p:extLst>
      <p:ext uri="{BB962C8B-B14F-4D97-AF65-F5344CB8AC3E}">
        <p14:creationId xmlns:p14="http://schemas.microsoft.com/office/powerpoint/2010/main" val="392984726"/>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슬라이드 번호 개체 틀 28"/>
          <p:cNvSpPr>
            <a:spLocks noGrp="1"/>
          </p:cNvSpPr>
          <p:nvPr>
            <p:ph type="sldNum" sz="quarter" idx="12"/>
          </p:nvPr>
        </p:nvSpPr>
        <p:spPr/>
        <p:txBody>
          <a:bodyPr/>
          <a:lstStyle/>
          <a:p>
            <a:r>
              <a:rPr lang="en-US" altLang="ko-KR"/>
              <a:t>330</a:t>
            </a:r>
            <a:endParaRPr lang="ko-KR" altLang="en-US"/>
          </a:p>
        </p:txBody>
      </p:sp>
      <p:sp>
        <p:nvSpPr>
          <p:cNvPr id="2" name="제목 1"/>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3" name="텍스트 개체 틀 2"/>
          <p:cNvSpPr>
            <a:spLocks noGrp="1"/>
          </p:cNvSpPr>
          <p:nvPr>
            <p:ph type="body" sz="quarter" idx="13"/>
          </p:nvPr>
        </p:nvSpPr>
        <p:spPr/>
        <p:txBody>
          <a:bodyPr/>
          <a:lstStyle/>
          <a:p>
            <a:r>
              <a:rPr lang="ko-KR" altLang="en-US" dirty="0" err="1">
                <a:solidFill>
                  <a:srgbClr val="525252"/>
                </a:solidFill>
                <a:latin typeface="+mj-ea"/>
              </a:rPr>
              <a:t>다기재</a:t>
            </a:r>
            <a:r>
              <a:rPr lang="ko-KR" altLang="en-US" dirty="0">
                <a:solidFill>
                  <a:srgbClr val="525252"/>
                </a:solidFill>
                <a:latin typeface="+mj-ea"/>
              </a:rPr>
              <a:t> </a:t>
            </a:r>
            <a:r>
              <a:rPr lang="ko-KR" altLang="en-US" dirty="0" err="1">
                <a:solidFill>
                  <a:srgbClr val="525252"/>
                </a:solidFill>
                <a:latin typeface="+mj-ea"/>
              </a:rPr>
              <a:t>협범위의</a:t>
            </a:r>
            <a:r>
              <a:rPr lang="ko-KR" altLang="en-US" dirty="0">
                <a:solidFill>
                  <a:srgbClr val="525252"/>
                </a:solidFill>
                <a:latin typeface="+mj-ea"/>
              </a:rPr>
              <a:t> 원칙</a:t>
            </a:r>
            <a:r>
              <a:rPr lang="en-US" altLang="ko-KR" dirty="0">
                <a:solidFill>
                  <a:srgbClr val="525252"/>
                </a:solidFill>
                <a:latin typeface="+mj-ea"/>
              </a:rPr>
              <a:t>(</a:t>
            </a:r>
            <a:r>
              <a:rPr lang="ko-KR" altLang="en-US" dirty="0" err="1">
                <a:solidFill>
                  <a:srgbClr val="525252"/>
                </a:solidFill>
                <a:latin typeface="+mj-ea"/>
              </a:rPr>
              <a:t>소기재</a:t>
            </a:r>
            <a:r>
              <a:rPr lang="ko-KR" altLang="en-US" dirty="0">
                <a:solidFill>
                  <a:srgbClr val="525252"/>
                </a:solidFill>
                <a:latin typeface="+mj-ea"/>
              </a:rPr>
              <a:t> 광범위의 원칙</a:t>
            </a:r>
            <a:r>
              <a:rPr lang="en-US" altLang="ko-KR" dirty="0">
                <a:solidFill>
                  <a:srgbClr val="525252"/>
                </a:solidFill>
                <a:latin typeface="+mj-ea"/>
              </a:rPr>
              <a:t>)</a:t>
            </a:r>
            <a:endParaRPr lang="ko-KR" altLang="en-US" dirty="0">
              <a:solidFill>
                <a:srgbClr val="525252"/>
              </a:solidFill>
              <a:latin typeface="+mj-ea"/>
            </a:endParaRPr>
          </a:p>
        </p:txBody>
      </p:sp>
      <p:cxnSp>
        <p:nvCxnSpPr>
          <p:cNvPr id="4" name="직선 연결선 3"/>
          <p:cNvCxnSpPr/>
          <p:nvPr/>
        </p:nvCxnSpPr>
        <p:spPr>
          <a:xfrm>
            <a:off x="0" y="149789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a:off x="77875" y="976902"/>
            <a:ext cx="11936323" cy="523220"/>
          </a:xfrm>
          <a:prstGeom prst="rect">
            <a:avLst/>
          </a:prstGeom>
          <a:noFill/>
        </p:spPr>
        <p:txBody>
          <a:bodyPr wrap="square" rtlCol="0">
            <a:spAutoFit/>
          </a:bodyPr>
          <a:lstStyle/>
          <a:p>
            <a:r>
              <a:rPr lang="ko-KR" altLang="en-US" sz="1400" dirty="0" err="1">
                <a:highlight>
                  <a:srgbClr val="FFFF00"/>
                </a:highlight>
                <a:latin typeface="+mn-ea"/>
              </a:rPr>
              <a:t>청구항에</a:t>
            </a:r>
            <a:r>
              <a:rPr lang="ko-KR" altLang="en-US" sz="1400" dirty="0">
                <a:highlight>
                  <a:srgbClr val="FFFF00"/>
                </a:highlight>
                <a:latin typeface="+mn-ea"/>
              </a:rPr>
              <a:t> 구성요소를 많이 기재하면 등록가능성이 높아지지만</a:t>
            </a:r>
            <a:r>
              <a:rPr lang="en-US" altLang="ko-KR" sz="1400" dirty="0">
                <a:highlight>
                  <a:srgbClr val="FFFF00"/>
                </a:highlight>
                <a:latin typeface="+mn-ea"/>
              </a:rPr>
              <a:t>, </a:t>
            </a:r>
            <a:r>
              <a:rPr lang="ko-KR" altLang="en-US" sz="1400" dirty="0">
                <a:highlight>
                  <a:srgbClr val="FFFF00"/>
                </a:highlight>
                <a:latin typeface="+mn-ea"/>
              </a:rPr>
              <a:t>상대적으로 권리범위는 좁아지게 된다</a:t>
            </a:r>
            <a:r>
              <a:rPr lang="en-US" altLang="ko-KR" sz="1400" dirty="0">
                <a:highlight>
                  <a:srgbClr val="FFFF00"/>
                </a:highlight>
                <a:latin typeface="+mn-ea"/>
              </a:rPr>
              <a:t>. </a:t>
            </a:r>
            <a:r>
              <a:rPr lang="ko-KR" altLang="en-US" sz="1400" dirty="0">
                <a:solidFill>
                  <a:schemeClr val="tx2"/>
                </a:solidFill>
                <a:latin typeface="+mn-ea"/>
              </a:rPr>
              <a:t>따라서</a:t>
            </a:r>
            <a:r>
              <a:rPr lang="en-US" altLang="ko-KR" sz="1400" dirty="0">
                <a:solidFill>
                  <a:schemeClr val="tx2"/>
                </a:solidFill>
                <a:latin typeface="+mn-ea"/>
              </a:rPr>
              <a:t>, </a:t>
            </a:r>
            <a:r>
              <a:rPr lang="ko-KR" altLang="en-US" sz="1400" dirty="0">
                <a:solidFill>
                  <a:schemeClr val="tx2"/>
                </a:solidFill>
                <a:latin typeface="+mn-ea"/>
              </a:rPr>
              <a:t>등록가능성을 만족할 정도의 구성요소만을 기재하는 것이 가장 바람직하다</a:t>
            </a:r>
            <a:r>
              <a:rPr lang="en-US" altLang="ko-KR" sz="1400" dirty="0">
                <a:solidFill>
                  <a:schemeClr val="tx2"/>
                </a:solidFill>
                <a:latin typeface="+mn-ea"/>
              </a:rPr>
              <a:t>. </a:t>
            </a:r>
            <a:r>
              <a:rPr lang="ko-KR" altLang="en-US" sz="1400" dirty="0" err="1">
                <a:solidFill>
                  <a:schemeClr val="tx2"/>
                </a:solidFill>
                <a:latin typeface="+mn-ea"/>
              </a:rPr>
              <a:t>청구항</a:t>
            </a:r>
            <a:r>
              <a:rPr lang="ko-KR" altLang="en-US" sz="1400" dirty="0">
                <a:solidFill>
                  <a:schemeClr val="tx2"/>
                </a:solidFill>
                <a:latin typeface="+mn-ea"/>
              </a:rPr>
              <a:t> 작성시 한정사항을 최소화하는 것도 중요하지만 그 보다 더 중요한 것은 구성요소가 생략 불가능한 필수요소인지에 대한 판단이다</a:t>
            </a:r>
            <a:r>
              <a:rPr lang="en-US" altLang="ko-KR" sz="1400" dirty="0">
                <a:solidFill>
                  <a:schemeClr val="tx2"/>
                </a:solidFill>
                <a:latin typeface="+mn-ea"/>
              </a:rPr>
              <a:t>.</a:t>
            </a:r>
            <a:endParaRPr lang="ko-KR" altLang="en-US" sz="1200" dirty="0">
              <a:solidFill>
                <a:schemeClr val="tx2"/>
              </a:solidFill>
              <a:latin typeface="+mn-ea"/>
            </a:endParaRPr>
          </a:p>
        </p:txBody>
      </p:sp>
      <p:sp>
        <p:nvSpPr>
          <p:cNvPr id="6" name="AutoShape 5"/>
          <p:cNvSpPr>
            <a:spLocks noChangeArrowheads="1"/>
          </p:cNvSpPr>
          <p:nvPr/>
        </p:nvSpPr>
        <p:spPr bwMode="auto">
          <a:xfrm rot="10800000">
            <a:off x="6523580" y="2537173"/>
            <a:ext cx="2743200" cy="1524000"/>
          </a:xfrm>
          <a:prstGeom prst="triangle">
            <a:avLst>
              <a:gd name="adj" fmla="val 50000"/>
            </a:avLst>
          </a:prstGeom>
          <a:noFill/>
          <a:ln w="28575">
            <a:solidFill>
              <a:schemeClr val="accent1"/>
            </a:solidFill>
            <a:miter lim="800000"/>
            <a:headEnd type="none" w="sm" len="sm"/>
            <a:tailEnd type="none" w="sm" len="sm"/>
          </a:ln>
        </p:spPr>
        <p:txBody>
          <a:bodyPr rot="10800000" wrap="none" anchor="ctr"/>
          <a:lstStyle/>
          <a:p>
            <a:pPr algn="ctr"/>
            <a:endParaRPr lang="ko-KR" altLang="ko-KR" sz="1400" b="0">
              <a:solidFill>
                <a:srgbClr val="000000"/>
              </a:solidFill>
              <a:latin typeface="+mn-ea"/>
            </a:endParaRPr>
          </a:p>
        </p:txBody>
      </p:sp>
      <p:sp>
        <p:nvSpPr>
          <p:cNvPr id="7" name="Rectangle 9"/>
          <p:cNvSpPr>
            <a:spLocks noChangeArrowheads="1"/>
          </p:cNvSpPr>
          <p:nvPr/>
        </p:nvSpPr>
        <p:spPr bwMode="auto">
          <a:xfrm>
            <a:off x="2163227" y="2537173"/>
            <a:ext cx="609600" cy="482600"/>
          </a:xfrm>
          <a:prstGeom prst="rect">
            <a:avLst/>
          </a:prstGeom>
          <a:noFill/>
          <a:ln w="28575">
            <a:solidFill>
              <a:schemeClr val="accent1"/>
            </a:solidFill>
            <a:miter lim="800000"/>
            <a:headEnd type="none" w="sm" len="sm"/>
            <a:tailEnd type="none" w="sm" len="sm"/>
          </a:ln>
        </p:spPr>
        <p:txBody>
          <a:bodyPr wrap="none" anchor="ctr"/>
          <a:lstStyle/>
          <a:p>
            <a:pPr algn="ctr"/>
            <a:endParaRPr lang="ko-KR" altLang="ko-KR" sz="1400" b="0">
              <a:solidFill>
                <a:srgbClr val="000000"/>
              </a:solidFill>
              <a:latin typeface="+mn-ea"/>
            </a:endParaRPr>
          </a:p>
        </p:txBody>
      </p:sp>
      <p:sp>
        <p:nvSpPr>
          <p:cNvPr id="8" name="Rectangle 10"/>
          <p:cNvSpPr>
            <a:spLocks noChangeArrowheads="1"/>
          </p:cNvSpPr>
          <p:nvPr/>
        </p:nvSpPr>
        <p:spPr bwMode="auto">
          <a:xfrm>
            <a:off x="1553627" y="2537173"/>
            <a:ext cx="609600" cy="482600"/>
          </a:xfrm>
          <a:prstGeom prst="rect">
            <a:avLst/>
          </a:prstGeom>
          <a:noFill/>
          <a:ln w="28575">
            <a:solidFill>
              <a:schemeClr val="accent1"/>
            </a:solidFill>
            <a:miter lim="800000"/>
            <a:headEnd type="none" w="sm" len="sm"/>
            <a:tailEnd type="none" w="sm" len="sm"/>
          </a:ln>
        </p:spPr>
        <p:txBody>
          <a:bodyPr wrap="none" anchor="ctr"/>
          <a:lstStyle/>
          <a:p>
            <a:pPr algn="ctr"/>
            <a:endParaRPr lang="ko-KR" altLang="ko-KR" sz="1400" b="0">
              <a:solidFill>
                <a:srgbClr val="000000"/>
              </a:solidFill>
              <a:latin typeface="+mn-ea"/>
            </a:endParaRPr>
          </a:p>
        </p:txBody>
      </p:sp>
      <p:sp>
        <p:nvSpPr>
          <p:cNvPr id="9" name="Rectangle 11"/>
          <p:cNvSpPr>
            <a:spLocks noChangeArrowheads="1"/>
          </p:cNvSpPr>
          <p:nvPr/>
        </p:nvSpPr>
        <p:spPr bwMode="auto">
          <a:xfrm>
            <a:off x="2772827" y="3019773"/>
            <a:ext cx="609600" cy="482600"/>
          </a:xfrm>
          <a:prstGeom prst="rect">
            <a:avLst/>
          </a:prstGeom>
          <a:noFill/>
          <a:ln w="28575">
            <a:solidFill>
              <a:schemeClr val="accent1"/>
            </a:solidFill>
            <a:miter lim="800000"/>
            <a:headEnd type="none" w="sm" len="sm"/>
            <a:tailEnd type="none" w="sm" len="sm"/>
          </a:ln>
        </p:spPr>
        <p:txBody>
          <a:bodyPr wrap="none" anchor="ctr"/>
          <a:lstStyle/>
          <a:p>
            <a:pPr algn="ctr"/>
            <a:endParaRPr lang="ko-KR" altLang="ko-KR" sz="1400" b="0">
              <a:solidFill>
                <a:srgbClr val="000000"/>
              </a:solidFill>
              <a:latin typeface="+mn-ea"/>
            </a:endParaRPr>
          </a:p>
        </p:txBody>
      </p:sp>
      <p:sp>
        <p:nvSpPr>
          <p:cNvPr id="10" name="Rectangle 13"/>
          <p:cNvSpPr>
            <a:spLocks noChangeArrowheads="1"/>
          </p:cNvSpPr>
          <p:nvPr/>
        </p:nvSpPr>
        <p:spPr bwMode="auto">
          <a:xfrm>
            <a:off x="2163227" y="3502373"/>
            <a:ext cx="609600" cy="482600"/>
          </a:xfrm>
          <a:prstGeom prst="rect">
            <a:avLst/>
          </a:prstGeom>
          <a:noFill/>
          <a:ln w="28575">
            <a:solidFill>
              <a:schemeClr val="accent1"/>
            </a:solidFill>
            <a:miter lim="800000"/>
            <a:headEnd type="none" w="sm" len="sm"/>
            <a:tailEnd type="none" w="sm" len="sm"/>
          </a:ln>
        </p:spPr>
        <p:txBody>
          <a:bodyPr wrap="none" anchor="ctr"/>
          <a:lstStyle/>
          <a:p>
            <a:pPr algn="ctr"/>
            <a:endParaRPr lang="ko-KR" altLang="ko-KR" sz="1400" b="0">
              <a:solidFill>
                <a:srgbClr val="000000"/>
              </a:solidFill>
              <a:latin typeface="+mn-ea"/>
            </a:endParaRPr>
          </a:p>
        </p:txBody>
      </p:sp>
      <p:sp>
        <p:nvSpPr>
          <p:cNvPr id="11" name="Rectangle 14"/>
          <p:cNvSpPr>
            <a:spLocks noChangeArrowheads="1"/>
          </p:cNvSpPr>
          <p:nvPr/>
        </p:nvSpPr>
        <p:spPr bwMode="auto">
          <a:xfrm>
            <a:off x="2772827" y="3502373"/>
            <a:ext cx="609600" cy="482600"/>
          </a:xfrm>
          <a:prstGeom prst="rect">
            <a:avLst/>
          </a:prstGeom>
          <a:noFill/>
          <a:ln w="28575">
            <a:solidFill>
              <a:schemeClr val="accent1"/>
            </a:solidFill>
            <a:miter lim="800000"/>
            <a:headEnd type="none" w="sm" len="sm"/>
            <a:tailEnd type="none" w="sm" len="sm"/>
          </a:ln>
        </p:spPr>
        <p:txBody>
          <a:bodyPr wrap="none" anchor="ctr"/>
          <a:lstStyle/>
          <a:p>
            <a:pPr algn="ctr"/>
            <a:endParaRPr lang="ko-KR" altLang="ko-KR" sz="1400" b="0">
              <a:solidFill>
                <a:srgbClr val="000000"/>
              </a:solidFill>
              <a:latin typeface="+mn-ea"/>
            </a:endParaRPr>
          </a:p>
        </p:txBody>
      </p:sp>
      <p:sp>
        <p:nvSpPr>
          <p:cNvPr id="12" name="Rectangle 15"/>
          <p:cNvSpPr>
            <a:spLocks noChangeArrowheads="1"/>
          </p:cNvSpPr>
          <p:nvPr/>
        </p:nvSpPr>
        <p:spPr bwMode="auto">
          <a:xfrm>
            <a:off x="3382427" y="3502373"/>
            <a:ext cx="609600" cy="482600"/>
          </a:xfrm>
          <a:prstGeom prst="rect">
            <a:avLst/>
          </a:prstGeom>
          <a:noFill/>
          <a:ln w="28575">
            <a:solidFill>
              <a:schemeClr val="accent1"/>
            </a:solidFill>
            <a:miter lim="800000"/>
            <a:headEnd type="none" w="sm" len="sm"/>
            <a:tailEnd type="none" w="sm" len="sm"/>
          </a:ln>
        </p:spPr>
        <p:txBody>
          <a:bodyPr wrap="none" anchor="ctr"/>
          <a:lstStyle/>
          <a:p>
            <a:pPr algn="ctr"/>
            <a:endParaRPr lang="ko-KR" altLang="ko-KR" sz="1400" b="0">
              <a:solidFill>
                <a:srgbClr val="000000"/>
              </a:solidFill>
              <a:latin typeface="+mn-ea"/>
            </a:endParaRPr>
          </a:p>
        </p:txBody>
      </p:sp>
      <p:sp>
        <p:nvSpPr>
          <p:cNvPr id="13" name="Rectangle 16"/>
          <p:cNvSpPr>
            <a:spLocks noChangeArrowheads="1"/>
          </p:cNvSpPr>
          <p:nvPr/>
        </p:nvSpPr>
        <p:spPr bwMode="auto">
          <a:xfrm>
            <a:off x="1553627" y="3502373"/>
            <a:ext cx="609600" cy="482600"/>
          </a:xfrm>
          <a:prstGeom prst="rect">
            <a:avLst/>
          </a:prstGeom>
          <a:noFill/>
          <a:ln w="28575">
            <a:solidFill>
              <a:schemeClr val="accent1"/>
            </a:solidFill>
            <a:miter lim="800000"/>
            <a:headEnd type="none" w="sm" len="sm"/>
            <a:tailEnd type="none" w="sm" len="sm"/>
          </a:ln>
        </p:spPr>
        <p:txBody>
          <a:bodyPr wrap="none" anchor="ctr"/>
          <a:lstStyle/>
          <a:p>
            <a:pPr algn="ctr"/>
            <a:endParaRPr lang="ko-KR" altLang="ko-KR" sz="1400" b="0">
              <a:solidFill>
                <a:srgbClr val="000000"/>
              </a:solidFill>
              <a:latin typeface="+mn-ea"/>
            </a:endParaRPr>
          </a:p>
        </p:txBody>
      </p:sp>
      <p:sp>
        <p:nvSpPr>
          <p:cNvPr id="14" name="Line 17"/>
          <p:cNvSpPr>
            <a:spLocks noChangeShapeType="1"/>
          </p:cNvSpPr>
          <p:nvPr/>
        </p:nvSpPr>
        <p:spPr bwMode="auto">
          <a:xfrm>
            <a:off x="2163227" y="3003500"/>
            <a:ext cx="0" cy="533400"/>
          </a:xfrm>
          <a:prstGeom prst="line">
            <a:avLst/>
          </a:prstGeom>
          <a:noFill/>
          <a:ln w="28575">
            <a:solidFill>
              <a:schemeClr val="accent1"/>
            </a:solidFill>
            <a:round/>
            <a:headEnd type="none" w="sm" len="sm"/>
            <a:tailEnd type="none" w="sm" len="sm"/>
          </a:ln>
        </p:spPr>
        <p:txBody>
          <a:bodyPr wrap="none" anchor="ctr"/>
          <a:lstStyle/>
          <a:p>
            <a:pPr>
              <a:defRPr/>
            </a:pPr>
            <a:endParaRPr lang="ko-KR" altLang="en-US" sz="1050">
              <a:latin typeface="+mn-ea"/>
            </a:endParaRPr>
          </a:p>
        </p:txBody>
      </p:sp>
      <p:sp>
        <p:nvSpPr>
          <p:cNvPr id="15" name="Line 18"/>
          <p:cNvSpPr>
            <a:spLocks noChangeShapeType="1"/>
          </p:cNvSpPr>
          <p:nvPr/>
        </p:nvSpPr>
        <p:spPr bwMode="auto">
          <a:xfrm flipH="1">
            <a:off x="1553628" y="3019773"/>
            <a:ext cx="632884" cy="0"/>
          </a:xfrm>
          <a:prstGeom prst="line">
            <a:avLst/>
          </a:prstGeom>
          <a:noFill/>
          <a:ln w="28575">
            <a:solidFill>
              <a:schemeClr val="accent1"/>
            </a:solidFill>
            <a:round/>
            <a:headEnd type="none" w="sm" len="sm"/>
            <a:tailEnd type="none" w="sm" len="sm"/>
          </a:ln>
        </p:spPr>
        <p:txBody>
          <a:bodyPr wrap="none" anchor="ctr"/>
          <a:lstStyle/>
          <a:p>
            <a:pPr>
              <a:defRPr/>
            </a:pPr>
            <a:endParaRPr lang="ko-KR" altLang="en-US" sz="1050">
              <a:latin typeface="+mn-ea"/>
            </a:endParaRPr>
          </a:p>
        </p:txBody>
      </p:sp>
      <p:sp>
        <p:nvSpPr>
          <p:cNvPr id="16" name="Line 19"/>
          <p:cNvSpPr>
            <a:spLocks noChangeShapeType="1"/>
          </p:cNvSpPr>
          <p:nvPr/>
        </p:nvSpPr>
        <p:spPr bwMode="auto">
          <a:xfrm>
            <a:off x="1553627" y="3019773"/>
            <a:ext cx="0" cy="609600"/>
          </a:xfrm>
          <a:prstGeom prst="line">
            <a:avLst/>
          </a:prstGeom>
          <a:noFill/>
          <a:ln w="28575">
            <a:solidFill>
              <a:schemeClr val="accent1"/>
            </a:solidFill>
            <a:round/>
            <a:headEnd type="none" w="sm" len="sm"/>
            <a:tailEnd type="none" w="sm" len="sm"/>
          </a:ln>
        </p:spPr>
        <p:txBody>
          <a:bodyPr wrap="none" anchor="ctr"/>
          <a:lstStyle/>
          <a:p>
            <a:pPr>
              <a:defRPr/>
            </a:pPr>
            <a:endParaRPr lang="ko-KR" altLang="en-US" sz="1050">
              <a:latin typeface="+mn-ea"/>
            </a:endParaRPr>
          </a:p>
        </p:txBody>
      </p:sp>
      <p:sp>
        <p:nvSpPr>
          <p:cNvPr id="17" name="Line 20"/>
          <p:cNvSpPr>
            <a:spLocks noChangeShapeType="1"/>
          </p:cNvSpPr>
          <p:nvPr/>
        </p:nvSpPr>
        <p:spPr bwMode="auto">
          <a:xfrm>
            <a:off x="6946914" y="3007073"/>
            <a:ext cx="1896533" cy="0"/>
          </a:xfrm>
          <a:prstGeom prst="line">
            <a:avLst/>
          </a:prstGeom>
          <a:noFill/>
          <a:ln w="28575">
            <a:solidFill>
              <a:schemeClr val="accent1"/>
            </a:solidFill>
            <a:round/>
            <a:headEnd type="none" w="sm" len="sm"/>
            <a:tailEnd type="none" w="sm" len="sm"/>
          </a:ln>
        </p:spPr>
        <p:txBody>
          <a:bodyPr wrap="none" anchor="ctr"/>
          <a:lstStyle/>
          <a:p>
            <a:pPr>
              <a:defRPr/>
            </a:pPr>
            <a:endParaRPr lang="ko-KR" altLang="en-US" sz="1050">
              <a:latin typeface="+mn-ea"/>
            </a:endParaRPr>
          </a:p>
        </p:txBody>
      </p:sp>
      <p:sp>
        <p:nvSpPr>
          <p:cNvPr id="18" name="Line 21"/>
          <p:cNvSpPr>
            <a:spLocks noChangeShapeType="1"/>
          </p:cNvSpPr>
          <p:nvPr/>
        </p:nvSpPr>
        <p:spPr bwMode="auto">
          <a:xfrm>
            <a:off x="7404113" y="3489673"/>
            <a:ext cx="1016000" cy="0"/>
          </a:xfrm>
          <a:prstGeom prst="line">
            <a:avLst/>
          </a:prstGeom>
          <a:noFill/>
          <a:ln w="28575">
            <a:solidFill>
              <a:schemeClr val="accent1"/>
            </a:solidFill>
            <a:round/>
            <a:headEnd type="none" w="sm" len="sm"/>
            <a:tailEnd type="none" w="sm" len="sm"/>
          </a:ln>
        </p:spPr>
        <p:txBody>
          <a:bodyPr wrap="none" anchor="ctr"/>
          <a:lstStyle/>
          <a:p>
            <a:pPr>
              <a:defRPr/>
            </a:pPr>
            <a:endParaRPr lang="ko-KR" altLang="en-US" sz="1050">
              <a:latin typeface="+mn-ea"/>
            </a:endParaRPr>
          </a:p>
        </p:txBody>
      </p:sp>
      <p:sp>
        <p:nvSpPr>
          <p:cNvPr id="19" name="Text Box 22"/>
          <p:cNvSpPr txBox="1">
            <a:spLocks noChangeArrowheads="1"/>
          </p:cNvSpPr>
          <p:nvPr/>
        </p:nvSpPr>
        <p:spPr bwMode="auto">
          <a:xfrm>
            <a:off x="4110560" y="2613374"/>
            <a:ext cx="1380067" cy="307975"/>
          </a:xfrm>
          <a:prstGeom prst="rect">
            <a:avLst/>
          </a:prstGeom>
          <a:noFill/>
          <a:ln w="12700">
            <a:noFill/>
            <a:miter lim="800000"/>
            <a:headEnd type="none" w="sm" len="sm"/>
            <a:tailEnd type="none" w="sm" len="sm"/>
          </a:ln>
        </p:spPr>
        <p:txBody>
          <a:bodyPr>
            <a:spAutoFit/>
          </a:bodyPr>
          <a:lstStyle/>
          <a:p>
            <a:pPr defTabSz="762000" latinLnBrk="0">
              <a:spcBef>
                <a:spcPct val="50000"/>
              </a:spcBef>
            </a:pPr>
            <a:r>
              <a:rPr lang="ko-KR" altLang="en-US" sz="1400">
                <a:solidFill>
                  <a:srgbClr val="000066"/>
                </a:solidFill>
                <a:latin typeface="+mn-ea"/>
              </a:rPr>
              <a:t>특허 </a:t>
            </a:r>
            <a:r>
              <a:rPr lang="en-US" altLang="ko-KR" sz="1400">
                <a:solidFill>
                  <a:srgbClr val="000066"/>
                </a:solidFill>
                <a:latin typeface="+mn-ea"/>
              </a:rPr>
              <a:t>A </a:t>
            </a:r>
          </a:p>
        </p:txBody>
      </p:sp>
      <p:sp>
        <p:nvSpPr>
          <p:cNvPr id="20" name="Text Box 23"/>
          <p:cNvSpPr txBox="1">
            <a:spLocks noChangeArrowheads="1"/>
          </p:cNvSpPr>
          <p:nvPr/>
        </p:nvSpPr>
        <p:spPr bwMode="auto">
          <a:xfrm>
            <a:off x="4093627" y="3108674"/>
            <a:ext cx="1320800" cy="307975"/>
          </a:xfrm>
          <a:prstGeom prst="rect">
            <a:avLst/>
          </a:prstGeom>
          <a:noFill/>
          <a:ln w="12700">
            <a:noFill/>
            <a:miter lim="800000"/>
            <a:headEnd type="none" w="sm" len="sm"/>
            <a:tailEnd type="none" w="sm" len="sm"/>
          </a:ln>
        </p:spPr>
        <p:txBody>
          <a:bodyPr>
            <a:spAutoFit/>
          </a:bodyPr>
          <a:lstStyle/>
          <a:p>
            <a:pPr defTabSz="762000" latinLnBrk="0">
              <a:spcBef>
                <a:spcPct val="50000"/>
              </a:spcBef>
            </a:pPr>
            <a:r>
              <a:rPr lang="ko-KR" altLang="en-US" sz="1400">
                <a:solidFill>
                  <a:srgbClr val="000066"/>
                </a:solidFill>
                <a:latin typeface="+mn-ea"/>
              </a:rPr>
              <a:t>특허 </a:t>
            </a:r>
            <a:r>
              <a:rPr lang="en-US" altLang="ko-KR" sz="1400">
                <a:solidFill>
                  <a:srgbClr val="000066"/>
                </a:solidFill>
                <a:latin typeface="+mn-ea"/>
              </a:rPr>
              <a:t>B</a:t>
            </a:r>
          </a:p>
        </p:txBody>
      </p:sp>
      <p:sp>
        <p:nvSpPr>
          <p:cNvPr id="21" name="Text Box 24"/>
          <p:cNvSpPr txBox="1">
            <a:spLocks noChangeArrowheads="1"/>
          </p:cNvSpPr>
          <p:nvPr/>
        </p:nvSpPr>
        <p:spPr bwMode="auto">
          <a:xfrm>
            <a:off x="4093627" y="3603974"/>
            <a:ext cx="1397000" cy="307975"/>
          </a:xfrm>
          <a:prstGeom prst="rect">
            <a:avLst/>
          </a:prstGeom>
          <a:noFill/>
          <a:ln w="12700">
            <a:noFill/>
            <a:miter lim="800000"/>
            <a:headEnd type="none" w="sm" len="sm"/>
            <a:tailEnd type="none" w="sm" len="sm"/>
          </a:ln>
        </p:spPr>
        <p:txBody>
          <a:bodyPr>
            <a:spAutoFit/>
          </a:bodyPr>
          <a:lstStyle/>
          <a:p>
            <a:pPr defTabSz="762000" latinLnBrk="0">
              <a:spcBef>
                <a:spcPct val="50000"/>
              </a:spcBef>
            </a:pPr>
            <a:r>
              <a:rPr lang="ko-KR" altLang="en-US" sz="1400">
                <a:solidFill>
                  <a:srgbClr val="000066"/>
                </a:solidFill>
                <a:latin typeface="+mn-ea"/>
              </a:rPr>
              <a:t>특허 </a:t>
            </a:r>
            <a:r>
              <a:rPr lang="en-US" altLang="ko-KR" sz="1400">
                <a:solidFill>
                  <a:srgbClr val="000066"/>
                </a:solidFill>
                <a:latin typeface="+mn-ea"/>
              </a:rPr>
              <a:t>C </a:t>
            </a:r>
          </a:p>
        </p:txBody>
      </p:sp>
      <p:sp>
        <p:nvSpPr>
          <p:cNvPr id="22" name="Text Box 25"/>
          <p:cNvSpPr txBox="1">
            <a:spLocks noChangeArrowheads="1"/>
          </p:cNvSpPr>
          <p:nvPr/>
        </p:nvSpPr>
        <p:spPr bwMode="auto">
          <a:xfrm>
            <a:off x="9182113" y="2613374"/>
            <a:ext cx="1416051" cy="307975"/>
          </a:xfrm>
          <a:prstGeom prst="rect">
            <a:avLst/>
          </a:prstGeom>
          <a:noFill/>
          <a:ln w="12700">
            <a:noFill/>
            <a:miter lim="800000"/>
            <a:headEnd type="none" w="sm" len="sm"/>
            <a:tailEnd type="none" w="sm" len="sm"/>
          </a:ln>
        </p:spPr>
        <p:txBody>
          <a:bodyPr>
            <a:spAutoFit/>
          </a:bodyPr>
          <a:lstStyle/>
          <a:p>
            <a:pPr defTabSz="762000" latinLnBrk="0">
              <a:spcBef>
                <a:spcPct val="50000"/>
              </a:spcBef>
            </a:pPr>
            <a:r>
              <a:rPr lang="ko-KR" altLang="en-US" sz="1400">
                <a:solidFill>
                  <a:srgbClr val="000066"/>
                </a:solidFill>
                <a:latin typeface="+mn-ea"/>
              </a:rPr>
              <a:t>특허 </a:t>
            </a:r>
            <a:r>
              <a:rPr lang="en-US" altLang="ko-KR" sz="1400">
                <a:solidFill>
                  <a:srgbClr val="000066"/>
                </a:solidFill>
                <a:latin typeface="+mn-ea"/>
              </a:rPr>
              <a:t>A </a:t>
            </a:r>
          </a:p>
        </p:txBody>
      </p:sp>
      <p:sp>
        <p:nvSpPr>
          <p:cNvPr id="23" name="Text Box 26"/>
          <p:cNvSpPr txBox="1">
            <a:spLocks noChangeArrowheads="1"/>
          </p:cNvSpPr>
          <p:nvPr/>
        </p:nvSpPr>
        <p:spPr bwMode="auto">
          <a:xfrm>
            <a:off x="9182113" y="3138837"/>
            <a:ext cx="1320800" cy="307975"/>
          </a:xfrm>
          <a:prstGeom prst="rect">
            <a:avLst/>
          </a:prstGeom>
          <a:noFill/>
          <a:ln w="12700">
            <a:noFill/>
            <a:miter lim="800000"/>
            <a:headEnd type="none" w="sm" len="sm"/>
            <a:tailEnd type="none" w="sm" len="sm"/>
          </a:ln>
        </p:spPr>
        <p:txBody>
          <a:bodyPr>
            <a:spAutoFit/>
          </a:bodyPr>
          <a:lstStyle/>
          <a:p>
            <a:pPr defTabSz="762000" latinLnBrk="0">
              <a:spcBef>
                <a:spcPct val="50000"/>
              </a:spcBef>
            </a:pPr>
            <a:r>
              <a:rPr lang="ko-KR" altLang="en-US" sz="1400">
                <a:solidFill>
                  <a:srgbClr val="000066"/>
                </a:solidFill>
                <a:latin typeface="+mn-ea"/>
              </a:rPr>
              <a:t>특허 </a:t>
            </a:r>
            <a:r>
              <a:rPr lang="en-US" altLang="ko-KR" sz="1400">
                <a:solidFill>
                  <a:srgbClr val="000066"/>
                </a:solidFill>
                <a:latin typeface="+mn-ea"/>
              </a:rPr>
              <a:t>B</a:t>
            </a:r>
          </a:p>
        </p:txBody>
      </p:sp>
      <p:sp>
        <p:nvSpPr>
          <p:cNvPr id="24" name="Text Box 27"/>
          <p:cNvSpPr txBox="1">
            <a:spLocks noChangeArrowheads="1"/>
          </p:cNvSpPr>
          <p:nvPr/>
        </p:nvSpPr>
        <p:spPr bwMode="auto">
          <a:xfrm>
            <a:off x="9165180" y="3603974"/>
            <a:ext cx="1432984" cy="307975"/>
          </a:xfrm>
          <a:prstGeom prst="rect">
            <a:avLst/>
          </a:prstGeom>
          <a:noFill/>
          <a:ln w="12700">
            <a:noFill/>
            <a:miter lim="800000"/>
            <a:headEnd type="none" w="sm" len="sm"/>
            <a:tailEnd type="none" w="sm" len="sm"/>
          </a:ln>
        </p:spPr>
        <p:txBody>
          <a:bodyPr>
            <a:spAutoFit/>
          </a:bodyPr>
          <a:lstStyle/>
          <a:p>
            <a:pPr defTabSz="762000" latinLnBrk="0">
              <a:spcBef>
                <a:spcPct val="50000"/>
              </a:spcBef>
            </a:pPr>
            <a:r>
              <a:rPr lang="ko-KR" altLang="en-US" sz="1400">
                <a:solidFill>
                  <a:srgbClr val="000066"/>
                </a:solidFill>
                <a:latin typeface="+mn-ea"/>
              </a:rPr>
              <a:t>특허 </a:t>
            </a:r>
            <a:r>
              <a:rPr lang="en-US" altLang="ko-KR" sz="1400">
                <a:solidFill>
                  <a:srgbClr val="000066"/>
                </a:solidFill>
                <a:latin typeface="+mn-ea"/>
              </a:rPr>
              <a:t>C</a:t>
            </a:r>
          </a:p>
        </p:txBody>
      </p:sp>
      <p:sp>
        <p:nvSpPr>
          <p:cNvPr id="25" name="AutoShape 28"/>
          <p:cNvSpPr>
            <a:spLocks noChangeArrowheads="1"/>
          </p:cNvSpPr>
          <p:nvPr/>
        </p:nvSpPr>
        <p:spPr bwMode="auto">
          <a:xfrm>
            <a:off x="5465227" y="3032473"/>
            <a:ext cx="609600" cy="457200"/>
          </a:xfrm>
          <a:prstGeom prst="rightArrow">
            <a:avLst>
              <a:gd name="adj1" fmla="val 70834"/>
              <a:gd name="adj2" fmla="val 37500"/>
            </a:avLst>
          </a:prstGeom>
          <a:ln>
            <a:headEnd type="none" w="sm" len="sm"/>
            <a:tailEnd type="none" w="sm" len="sm"/>
          </a:ln>
        </p:spPr>
        <p:style>
          <a:lnRef idx="1">
            <a:schemeClr val="accent1"/>
          </a:lnRef>
          <a:fillRef idx="3">
            <a:schemeClr val="accent1"/>
          </a:fillRef>
          <a:effectRef idx="2">
            <a:schemeClr val="accent1"/>
          </a:effectRef>
          <a:fontRef idx="minor">
            <a:schemeClr val="lt1"/>
          </a:fontRef>
        </p:style>
        <p:txBody>
          <a:bodyPr wrap="none" anchor="ctr"/>
          <a:lstStyle/>
          <a:p>
            <a:pPr algn="ctr">
              <a:defRPr/>
            </a:pPr>
            <a:endParaRPr lang="ko-KR" altLang="ko-KR" sz="1400" b="0">
              <a:solidFill>
                <a:srgbClr val="000000"/>
              </a:solidFill>
              <a:latin typeface="+mn-ea"/>
            </a:endParaRPr>
          </a:p>
        </p:txBody>
      </p:sp>
      <p:sp>
        <p:nvSpPr>
          <p:cNvPr id="26" name="Text Box 29"/>
          <p:cNvSpPr txBox="1">
            <a:spLocks noChangeArrowheads="1"/>
          </p:cNvSpPr>
          <p:nvPr/>
        </p:nvSpPr>
        <p:spPr bwMode="auto">
          <a:xfrm>
            <a:off x="1553627" y="4471068"/>
            <a:ext cx="7721600" cy="954107"/>
          </a:xfrm>
          <a:prstGeom prst="rect">
            <a:avLst/>
          </a:prstGeom>
          <a:noFill/>
          <a:ln w="12700">
            <a:noFill/>
            <a:miter lim="800000"/>
            <a:headEnd type="none" w="sm" len="sm"/>
            <a:tailEnd type="none" w="sm" len="sm"/>
          </a:ln>
        </p:spPr>
        <p:txBody>
          <a:bodyPr>
            <a:spAutoFit/>
          </a:bodyPr>
          <a:lstStyle/>
          <a:p>
            <a:pPr defTabSz="762000" latinLnBrk="0">
              <a:spcBef>
                <a:spcPct val="50000"/>
              </a:spcBef>
            </a:pPr>
            <a:r>
              <a:rPr lang="ko-KR" altLang="en-US" sz="1400" b="0" dirty="0">
                <a:solidFill>
                  <a:srgbClr val="000066"/>
                </a:solidFill>
                <a:latin typeface="+mn-ea"/>
              </a:rPr>
              <a:t>특허 </a:t>
            </a:r>
            <a:r>
              <a:rPr lang="en-US" altLang="ko-KR" sz="1400" b="0" dirty="0">
                <a:solidFill>
                  <a:srgbClr val="000066"/>
                </a:solidFill>
                <a:latin typeface="+mn-ea"/>
              </a:rPr>
              <a:t>A : </a:t>
            </a:r>
            <a:r>
              <a:rPr lang="ko-KR" altLang="en-US" sz="1400" b="0" dirty="0">
                <a:solidFill>
                  <a:srgbClr val="000066"/>
                </a:solidFill>
                <a:latin typeface="+mn-ea"/>
              </a:rPr>
              <a:t>서울시 서초구</a:t>
            </a:r>
          </a:p>
          <a:p>
            <a:pPr defTabSz="762000" latinLnBrk="0">
              <a:spcBef>
                <a:spcPct val="50000"/>
              </a:spcBef>
            </a:pPr>
            <a:r>
              <a:rPr lang="ko-KR" altLang="en-US" sz="1400" b="0" dirty="0">
                <a:solidFill>
                  <a:srgbClr val="000066"/>
                </a:solidFill>
                <a:latin typeface="+mn-ea"/>
              </a:rPr>
              <a:t>특허 </a:t>
            </a:r>
            <a:r>
              <a:rPr lang="en-US" altLang="ko-KR" sz="1400" b="0" dirty="0">
                <a:solidFill>
                  <a:srgbClr val="000066"/>
                </a:solidFill>
                <a:latin typeface="+mn-ea"/>
              </a:rPr>
              <a:t>B : </a:t>
            </a:r>
            <a:r>
              <a:rPr lang="ko-KR" altLang="en-US" sz="1400" b="0" dirty="0">
                <a:solidFill>
                  <a:srgbClr val="000066"/>
                </a:solidFill>
                <a:latin typeface="+mn-ea"/>
              </a:rPr>
              <a:t>서울시 서초구 서초대로</a:t>
            </a:r>
            <a:r>
              <a:rPr lang="en-US" altLang="ko-KR" sz="1400" b="0" dirty="0">
                <a:solidFill>
                  <a:srgbClr val="000066"/>
                </a:solidFill>
                <a:latin typeface="+mn-ea"/>
              </a:rPr>
              <a:t>32</a:t>
            </a:r>
            <a:r>
              <a:rPr lang="ko-KR" altLang="en-US" sz="1400" b="0" dirty="0">
                <a:solidFill>
                  <a:srgbClr val="000066"/>
                </a:solidFill>
                <a:latin typeface="+mn-ea"/>
              </a:rPr>
              <a:t>길</a:t>
            </a:r>
            <a:r>
              <a:rPr lang="en-US" altLang="ko-KR" sz="1400" b="0" dirty="0">
                <a:solidFill>
                  <a:srgbClr val="000066"/>
                </a:solidFill>
                <a:latin typeface="+mn-ea"/>
              </a:rPr>
              <a:t>9-15</a:t>
            </a:r>
            <a:endParaRPr lang="ko-KR" altLang="en-US" sz="1400" b="0" dirty="0">
              <a:solidFill>
                <a:srgbClr val="000066"/>
              </a:solidFill>
              <a:latin typeface="+mn-ea"/>
            </a:endParaRPr>
          </a:p>
          <a:p>
            <a:pPr defTabSz="762000" latinLnBrk="0">
              <a:spcBef>
                <a:spcPct val="50000"/>
              </a:spcBef>
            </a:pPr>
            <a:r>
              <a:rPr lang="ko-KR" altLang="en-US" sz="1400" b="0" dirty="0">
                <a:solidFill>
                  <a:srgbClr val="000066"/>
                </a:solidFill>
                <a:latin typeface="+mn-ea"/>
              </a:rPr>
              <a:t>특허 </a:t>
            </a:r>
            <a:r>
              <a:rPr lang="en-US" altLang="ko-KR" sz="1400" b="0" dirty="0">
                <a:solidFill>
                  <a:srgbClr val="000066"/>
                </a:solidFill>
                <a:latin typeface="+mn-ea"/>
              </a:rPr>
              <a:t>C : </a:t>
            </a:r>
            <a:r>
              <a:rPr lang="ko-KR" altLang="en-US" sz="1400" b="0" dirty="0">
                <a:solidFill>
                  <a:srgbClr val="000066"/>
                </a:solidFill>
                <a:latin typeface="+mn-ea"/>
              </a:rPr>
              <a:t>서울시 서초구 서초대로</a:t>
            </a:r>
            <a:r>
              <a:rPr lang="en-US" altLang="ko-KR" sz="1400" b="0" dirty="0">
                <a:solidFill>
                  <a:srgbClr val="000066"/>
                </a:solidFill>
                <a:latin typeface="+mn-ea"/>
              </a:rPr>
              <a:t>32</a:t>
            </a:r>
            <a:r>
              <a:rPr lang="ko-KR" altLang="en-US" sz="1400" b="0" dirty="0">
                <a:solidFill>
                  <a:srgbClr val="000066"/>
                </a:solidFill>
                <a:latin typeface="+mn-ea"/>
              </a:rPr>
              <a:t>길</a:t>
            </a:r>
            <a:r>
              <a:rPr lang="en-US" altLang="ko-KR" sz="1400" b="0" dirty="0">
                <a:solidFill>
                  <a:srgbClr val="000066"/>
                </a:solidFill>
                <a:latin typeface="+mn-ea"/>
              </a:rPr>
              <a:t>9-15, </a:t>
            </a:r>
            <a:r>
              <a:rPr lang="ko-KR" altLang="en-US" sz="1400" b="0" dirty="0" err="1">
                <a:solidFill>
                  <a:srgbClr val="000066"/>
                </a:solidFill>
                <a:latin typeface="+mn-ea"/>
              </a:rPr>
              <a:t>거영빌딩</a:t>
            </a:r>
            <a:r>
              <a:rPr lang="en-US" altLang="ko-KR" sz="1400" b="0" dirty="0">
                <a:solidFill>
                  <a:srgbClr val="000066"/>
                </a:solidFill>
                <a:latin typeface="+mn-ea"/>
              </a:rPr>
              <a:t>(2</a:t>
            </a:r>
            <a:r>
              <a:rPr lang="ko-KR" altLang="en-US" sz="1400" b="0" dirty="0">
                <a:solidFill>
                  <a:srgbClr val="000066"/>
                </a:solidFill>
                <a:latin typeface="+mn-ea"/>
              </a:rPr>
              <a:t>층</a:t>
            </a:r>
            <a:r>
              <a:rPr lang="en-US" altLang="ko-KR" sz="1400" b="0" dirty="0">
                <a:solidFill>
                  <a:srgbClr val="000066"/>
                </a:solidFill>
                <a:latin typeface="+mn-ea"/>
              </a:rPr>
              <a:t>)</a:t>
            </a:r>
            <a:endParaRPr lang="ko-KR" altLang="en-US" sz="1400" b="0" dirty="0">
              <a:solidFill>
                <a:srgbClr val="000066"/>
              </a:solidFill>
              <a:latin typeface="+mn-ea"/>
            </a:endParaRPr>
          </a:p>
        </p:txBody>
      </p:sp>
      <p:sp>
        <p:nvSpPr>
          <p:cNvPr id="27" name="Text Box 4"/>
          <p:cNvSpPr txBox="1">
            <a:spLocks noChangeArrowheads="1"/>
          </p:cNvSpPr>
          <p:nvPr/>
        </p:nvSpPr>
        <p:spPr bwMode="auto">
          <a:xfrm>
            <a:off x="1553627" y="2058916"/>
            <a:ext cx="2286000" cy="346075"/>
          </a:xfrm>
          <a:prstGeom prst="roundRect">
            <a:avLst>
              <a:gd name="adj" fmla="val 50000"/>
            </a:avLst>
          </a:prstGeom>
          <a:solidFill>
            <a:schemeClr val="accent5">
              <a:lumMod val="75000"/>
            </a:schemeClr>
          </a:solidFill>
          <a:ln w="9525" algn="ctr">
            <a:noFill/>
            <a:miter lim="800000"/>
            <a:headEnd/>
            <a:tailEnd/>
          </a:ln>
        </p:spPr>
        <p:txBody>
          <a:bodyPr lIns="0" tIns="0" rIns="0" bIns="0"/>
          <a:lstStyle/>
          <a:p>
            <a:pPr algn="ctr">
              <a:spcBef>
                <a:spcPct val="50000"/>
              </a:spcBef>
              <a:defRPr/>
            </a:pPr>
            <a:r>
              <a:rPr lang="en-US" altLang="ko-KR" sz="1400" dirty="0">
                <a:solidFill>
                  <a:schemeClr val="bg1"/>
                </a:solidFill>
                <a:latin typeface="+mn-ea"/>
                <a:cs typeface="Arial" charset="0"/>
              </a:rPr>
              <a:t>Element </a:t>
            </a:r>
            <a:r>
              <a:rPr lang="ko-KR" altLang="en-US" sz="1400" dirty="0">
                <a:solidFill>
                  <a:schemeClr val="bg1"/>
                </a:solidFill>
                <a:latin typeface="+mn-ea"/>
                <a:cs typeface="Arial" charset="0"/>
              </a:rPr>
              <a:t>수</a:t>
            </a:r>
            <a:endParaRPr lang="en-US" altLang="ko-KR" sz="1400" dirty="0">
              <a:solidFill>
                <a:schemeClr val="bg1"/>
              </a:solidFill>
              <a:latin typeface="+mn-ea"/>
              <a:cs typeface="Arial" charset="0"/>
            </a:endParaRPr>
          </a:p>
        </p:txBody>
      </p:sp>
      <p:sp>
        <p:nvSpPr>
          <p:cNvPr id="28" name="Text Box 4"/>
          <p:cNvSpPr txBox="1">
            <a:spLocks noChangeArrowheads="1"/>
          </p:cNvSpPr>
          <p:nvPr/>
        </p:nvSpPr>
        <p:spPr bwMode="auto">
          <a:xfrm>
            <a:off x="6815680" y="2058916"/>
            <a:ext cx="2286000" cy="346075"/>
          </a:xfrm>
          <a:prstGeom prst="roundRect">
            <a:avLst>
              <a:gd name="adj" fmla="val 50000"/>
            </a:avLst>
          </a:prstGeom>
          <a:solidFill>
            <a:schemeClr val="accent5">
              <a:lumMod val="75000"/>
            </a:schemeClr>
          </a:solidFill>
          <a:ln w="9525" algn="ctr">
            <a:noFill/>
            <a:miter lim="800000"/>
            <a:headEnd/>
            <a:tailEnd/>
          </a:ln>
        </p:spPr>
        <p:txBody>
          <a:bodyPr lIns="0" tIns="0" rIns="0" bIns="0"/>
          <a:lstStyle/>
          <a:p>
            <a:pPr algn="ctr">
              <a:spcBef>
                <a:spcPct val="50000"/>
              </a:spcBef>
              <a:defRPr/>
            </a:pPr>
            <a:r>
              <a:rPr lang="ko-KR" altLang="en-US" sz="1400" dirty="0">
                <a:solidFill>
                  <a:schemeClr val="bg1"/>
                </a:solidFill>
                <a:latin typeface="+mn-ea"/>
                <a:cs typeface="Arial" charset="0"/>
              </a:rPr>
              <a:t>청구범위 </a:t>
            </a:r>
            <a:r>
              <a:rPr lang="ko-KR" altLang="en-US" sz="1400" dirty="0" err="1">
                <a:solidFill>
                  <a:schemeClr val="bg1"/>
                </a:solidFill>
                <a:latin typeface="+mn-ea"/>
                <a:cs typeface="Arial" charset="0"/>
              </a:rPr>
              <a:t>광협</a:t>
            </a:r>
            <a:endParaRPr lang="en-US" altLang="ko-KR" sz="1400" dirty="0">
              <a:solidFill>
                <a:schemeClr val="bg1"/>
              </a:solidFill>
              <a:latin typeface="+mn-ea"/>
              <a:cs typeface="Arial" charset="0"/>
            </a:endParaRPr>
          </a:p>
        </p:txBody>
      </p:sp>
    </p:spTree>
    <p:extLst>
      <p:ext uri="{BB962C8B-B14F-4D97-AF65-F5344CB8AC3E}">
        <p14:creationId xmlns:p14="http://schemas.microsoft.com/office/powerpoint/2010/main" val="1032079848"/>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그룹 6">
            <a:extLst>
              <a:ext uri="{FF2B5EF4-FFF2-40B4-BE49-F238E27FC236}">
                <a16:creationId xmlns:a16="http://schemas.microsoft.com/office/drawing/2014/main" id="{C9165B72-F6DE-1749-DF8E-B0D1D2C88FC4}"/>
              </a:ext>
            </a:extLst>
          </p:cNvPr>
          <p:cNvGrpSpPr/>
          <p:nvPr/>
        </p:nvGrpSpPr>
        <p:grpSpPr>
          <a:xfrm>
            <a:off x="5180495" y="3405090"/>
            <a:ext cx="6361550" cy="842464"/>
            <a:chOff x="5180495" y="2510672"/>
            <a:chExt cx="6361550" cy="1243826"/>
          </a:xfrm>
        </p:grpSpPr>
        <p:sp>
          <p:nvSpPr>
            <p:cNvPr id="28" name="자유형 27"/>
            <p:cNvSpPr/>
            <p:nvPr/>
          </p:nvSpPr>
          <p:spPr>
            <a:xfrm>
              <a:off x="6527801" y="2510672"/>
              <a:ext cx="5014244" cy="1243826"/>
            </a:xfrm>
            <a:custGeom>
              <a:avLst/>
              <a:gdLst>
                <a:gd name="connsiteX0" fmla="*/ 207308 w 1243825"/>
                <a:gd name="connsiteY0" fmla="*/ 0 h 4668332"/>
                <a:gd name="connsiteX1" fmla="*/ 1036517 w 1243825"/>
                <a:gd name="connsiteY1" fmla="*/ 0 h 4668332"/>
                <a:gd name="connsiteX2" fmla="*/ 1243825 w 1243825"/>
                <a:gd name="connsiteY2" fmla="*/ 207308 h 4668332"/>
                <a:gd name="connsiteX3" fmla="*/ 1243825 w 1243825"/>
                <a:gd name="connsiteY3" fmla="*/ 4668332 h 4668332"/>
                <a:gd name="connsiteX4" fmla="*/ 1243825 w 1243825"/>
                <a:gd name="connsiteY4" fmla="*/ 4668332 h 4668332"/>
                <a:gd name="connsiteX5" fmla="*/ 0 w 1243825"/>
                <a:gd name="connsiteY5" fmla="*/ 4668332 h 4668332"/>
                <a:gd name="connsiteX6" fmla="*/ 0 w 1243825"/>
                <a:gd name="connsiteY6" fmla="*/ 4668332 h 4668332"/>
                <a:gd name="connsiteX7" fmla="*/ 0 w 1243825"/>
                <a:gd name="connsiteY7" fmla="*/ 207308 h 4668332"/>
                <a:gd name="connsiteX8" fmla="*/ 207308 w 1243825"/>
                <a:gd name="connsiteY8" fmla="*/ 0 h 466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3825" h="4668332">
                  <a:moveTo>
                    <a:pt x="1243825" y="778071"/>
                  </a:moveTo>
                  <a:lnTo>
                    <a:pt x="1243825" y="3890261"/>
                  </a:lnTo>
                  <a:cubicBezTo>
                    <a:pt x="1243825" y="4319977"/>
                    <a:pt x="1219095" y="4668330"/>
                    <a:pt x="1188590" y="4668330"/>
                  </a:cubicBezTo>
                  <a:lnTo>
                    <a:pt x="0" y="4668330"/>
                  </a:lnTo>
                  <a:lnTo>
                    <a:pt x="0" y="4668330"/>
                  </a:lnTo>
                  <a:lnTo>
                    <a:pt x="0" y="2"/>
                  </a:lnTo>
                  <a:lnTo>
                    <a:pt x="0" y="2"/>
                  </a:lnTo>
                  <a:lnTo>
                    <a:pt x="1188590" y="2"/>
                  </a:lnTo>
                  <a:cubicBezTo>
                    <a:pt x="1219095" y="2"/>
                    <a:pt x="1243825" y="348355"/>
                    <a:pt x="1243825" y="778071"/>
                  </a:cubicBezTo>
                  <a:close/>
                </a:path>
              </a:pathLst>
            </a:custGeom>
          </p:spPr>
          <p:style>
            <a:lnRef idx="2">
              <a:schemeClr val="accent2">
                <a:tint val="40000"/>
                <a:alpha val="90000"/>
                <a:hueOff val="0"/>
                <a:satOff val="0"/>
                <a:lumOff val="0"/>
                <a:alphaOff val="0"/>
              </a:schemeClr>
            </a:lnRef>
            <a:fillRef idx="1">
              <a:schemeClr val="accent2">
                <a:tint val="40000"/>
                <a:alpha val="90000"/>
                <a:hueOff val="0"/>
                <a:satOff val="0"/>
                <a:lumOff val="0"/>
                <a:alphaOff val="0"/>
              </a:schemeClr>
            </a:fillRef>
            <a:effectRef idx="0">
              <a:schemeClr val="accent2">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247651" tIns="184544" rIns="308369" bIns="184545" numCol="1" spcCol="1270" anchor="ctr" anchorCtr="0">
              <a:noAutofit/>
            </a:bodyPr>
            <a:lstStyle/>
            <a:p>
              <a:pPr marL="114300" lvl="1" indent="-114300" algn="l" defTabSz="533400" latinLnBrk="1">
                <a:lnSpc>
                  <a:spcPct val="90000"/>
                </a:lnSpc>
                <a:spcBef>
                  <a:spcPct val="0"/>
                </a:spcBef>
                <a:spcAft>
                  <a:spcPct val="15000"/>
                </a:spcAft>
                <a:buChar char="••"/>
              </a:pPr>
              <a:r>
                <a:rPr kumimoji="0" lang="ko-KR" altLang="en-US" sz="1200" b="0" kern="1200" dirty="0">
                  <a:latin typeface="+mn-ea"/>
                  <a:ea typeface="+mn-ea"/>
                </a:rPr>
                <a:t>특허 등록될 수 있도록</a:t>
              </a:r>
              <a:endParaRPr lang="ko-KR" altLang="en-US" sz="1200" kern="1200" dirty="0">
                <a:latin typeface="+mn-ea"/>
                <a:ea typeface="+mn-ea"/>
              </a:endParaRPr>
            </a:p>
            <a:p>
              <a:pPr marL="114300" lvl="1" indent="-114300" algn="l" defTabSz="533400" latinLnBrk="1">
                <a:lnSpc>
                  <a:spcPct val="90000"/>
                </a:lnSpc>
                <a:spcBef>
                  <a:spcPct val="0"/>
                </a:spcBef>
                <a:spcAft>
                  <a:spcPct val="15000"/>
                </a:spcAft>
                <a:buChar char="••"/>
              </a:pPr>
              <a:r>
                <a:rPr kumimoji="0" lang="ko-KR" altLang="en-US" sz="1200" b="0" kern="1200" dirty="0">
                  <a:latin typeface="+mn-ea"/>
                  <a:ea typeface="+mn-ea"/>
                </a:rPr>
                <a:t>특히</a:t>
              </a:r>
              <a:r>
                <a:rPr kumimoji="0" lang="en-US" altLang="ko-KR" sz="1200" b="0" kern="1200" dirty="0">
                  <a:latin typeface="+mn-ea"/>
                  <a:ea typeface="+mn-ea"/>
                </a:rPr>
                <a:t>, </a:t>
              </a:r>
              <a:r>
                <a:rPr kumimoji="0" lang="ko-KR" altLang="en-US" sz="1200" b="0" kern="1200" dirty="0">
                  <a:latin typeface="+mn-ea"/>
                  <a:ea typeface="+mn-ea"/>
                </a:rPr>
                <a:t>공지기술과 구별되게 구성</a:t>
              </a:r>
              <a:r>
                <a:rPr kumimoji="0" lang="en-US" altLang="ko-KR" sz="1200" b="0" kern="1200" dirty="0">
                  <a:latin typeface="+mn-ea"/>
                  <a:ea typeface="+mn-ea"/>
                </a:rPr>
                <a:t>, </a:t>
              </a:r>
              <a:r>
                <a:rPr kumimoji="0" lang="ko-KR" altLang="en-US" sz="1200" b="0" kern="1200" dirty="0">
                  <a:latin typeface="+mn-ea"/>
                  <a:ea typeface="+mn-ea"/>
                </a:rPr>
                <a:t>효과상 차이 기재</a:t>
              </a:r>
              <a:r>
                <a:rPr kumimoji="0" lang="en-US" altLang="ko-KR" sz="1200" b="0" kern="1200" dirty="0">
                  <a:latin typeface="+mn-ea"/>
                  <a:ea typeface="+mn-ea"/>
                </a:rPr>
                <a:t>(</a:t>
              </a:r>
              <a:r>
                <a:rPr kumimoji="0" lang="ko-KR" altLang="en-US" sz="1200" b="0" kern="1200" dirty="0" err="1">
                  <a:latin typeface="+mn-ea"/>
                  <a:ea typeface="+mn-ea"/>
                </a:rPr>
                <a:t>신규성</a:t>
              </a:r>
              <a:r>
                <a:rPr kumimoji="0" lang="en-US" altLang="ko-KR" sz="1200" b="0" kern="1200" dirty="0">
                  <a:latin typeface="+mn-ea"/>
                  <a:ea typeface="+mn-ea"/>
                </a:rPr>
                <a:t>, </a:t>
              </a:r>
              <a:r>
                <a:rPr kumimoji="0" lang="ko-KR" altLang="en-US" sz="1200" b="0" kern="1200" dirty="0">
                  <a:latin typeface="+mn-ea"/>
                  <a:ea typeface="+mn-ea"/>
                </a:rPr>
                <a:t>진보성 고려</a:t>
              </a:r>
              <a:r>
                <a:rPr kumimoji="0" lang="en-US" altLang="ko-KR" sz="1200" b="0" kern="1200" dirty="0">
                  <a:latin typeface="+mn-ea"/>
                  <a:ea typeface="+mn-ea"/>
                </a:rPr>
                <a:t>)</a:t>
              </a:r>
            </a:p>
          </p:txBody>
        </p:sp>
        <p:sp>
          <p:nvSpPr>
            <p:cNvPr id="29" name="자유형 28"/>
            <p:cNvSpPr/>
            <p:nvPr/>
          </p:nvSpPr>
          <p:spPr>
            <a:xfrm>
              <a:off x="5180495" y="2510672"/>
              <a:ext cx="1499705" cy="1243826"/>
            </a:xfrm>
            <a:custGeom>
              <a:avLst/>
              <a:gdLst>
                <a:gd name="connsiteX0" fmla="*/ 0 w 1693216"/>
                <a:gd name="connsiteY0" fmla="*/ 259136 h 1554782"/>
                <a:gd name="connsiteX1" fmla="*/ 259136 w 1693216"/>
                <a:gd name="connsiteY1" fmla="*/ 0 h 1554782"/>
                <a:gd name="connsiteX2" fmla="*/ 1434080 w 1693216"/>
                <a:gd name="connsiteY2" fmla="*/ 0 h 1554782"/>
                <a:gd name="connsiteX3" fmla="*/ 1693216 w 1693216"/>
                <a:gd name="connsiteY3" fmla="*/ 259136 h 1554782"/>
                <a:gd name="connsiteX4" fmla="*/ 1693216 w 1693216"/>
                <a:gd name="connsiteY4" fmla="*/ 1295646 h 1554782"/>
                <a:gd name="connsiteX5" fmla="*/ 1434080 w 1693216"/>
                <a:gd name="connsiteY5" fmla="*/ 1554782 h 1554782"/>
                <a:gd name="connsiteX6" fmla="*/ 259136 w 1693216"/>
                <a:gd name="connsiteY6" fmla="*/ 1554782 h 1554782"/>
                <a:gd name="connsiteX7" fmla="*/ 0 w 1693216"/>
                <a:gd name="connsiteY7" fmla="*/ 1295646 h 1554782"/>
                <a:gd name="connsiteX8" fmla="*/ 0 w 1693216"/>
                <a:gd name="connsiteY8" fmla="*/ 259136 h 155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3216" h="1554782">
                  <a:moveTo>
                    <a:pt x="0" y="259136"/>
                  </a:moveTo>
                  <a:cubicBezTo>
                    <a:pt x="0" y="116019"/>
                    <a:pt x="116019" y="0"/>
                    <a:pt x="259136" y="0"/>
                  </a:cubicBezTo>
                  <a:lnTo>
                    <a:pt x="1434080" y="0"/>
                  </a:lnTo>
                  <a:cubicBezTo>
                    <a:pt x="1577197" y="0"/>
                    <a:pt x="1693216" y="116019"/>
                    <a:pt x="1693216" y="259136"/>
                  </a:cubicBezTo>
                  <a:lnTo>
                    <a:pt x="1693216" y="1295646"/>
                  </a:lnTo>
                  <a:cubicBezTo>
                    <a:pt x="1693216" y="1438763"/>
                    <a:pt x="1577197" y="1554782"/>
                    <a:pt x="1434080" y="1554782"/>
                  </a:cubicBezTo>
                  <a:lnTo>
                    <a:pt x="259136" y="1554782"/>
                  </a:lnTo>
                  <a:cubicBezTo>
                    <a:pt x="116019" y="1554782"/>
                    <a:pt x="0" y="1438763"/>
                    <a:pt x="0" y="1295646"/>
                  </a:cubicBezTo>
                  <a:lnTo>
                    <a:pt x="0" y="259136"/>
                  </a:lnTo>
                  <a:close/>
                </a:path>
              </a:pathLst>
            </a:custGeom>
            <a:ln>
              <a:solidFill>
                <a:schemeClr val="bg1">
                  <a:lumMod val="50000"/>
                </a:schemeClr>
              </a:solidFill>
            </a:ln>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152098" tIns="113998" rIns="152098" bIns="113998" numCol="1" spcCol="1270" anchor="ctr" anchorCtr="0">
              <a:noAutofit/>
            </a:bodyPr>
            <a:lstStyle/>
            <a:p>
              <a:pPr lvl="0" algn="ctr" defTabSz="889000" latinLnBrk="1">
                <a:lnSpc>
                  <a:spcPct val="100000"/>
                </a:lnSpc>
                <a:spcBef>
                  <a:spcPct val="0"/>
                </a:spcBef>
                <a:spcAft>
                  <a:spcPts val="0"/>
                </a:spcAft>
              </a:pPr>
              <a:r>
                <a:rPr kumimoji="0" lang="ko-KR" altLang="en-US" b="0" kern="1200" dirty="0">
                  <a:latin typeface="+mn-ea"/>
                  <a:ea typeface="+mn-ea"/>
                </a:rPr>
                <a:t>공지기술과 </a:t>
              </a:r>
              <a:endParaRPr kumimoji="0" lang="en-US" altLang="ko-KR" b="0" kern="1200" dirty="0">
                <a:latin typeface="+mn-ea"/>
                <a:ea typeface="+mn-ea"/>
              </a:endParaRPr>
            </a:p>
            <a:p>
              <a:pPr lvl="0" algn="ctr" defTabSz="889000" latinLnBrk="1">
                <a:lnSpc>
                  <a:spcPct val="100000"/>
                </a:lnSpc>
                <a:spcBef>
                  <a:spcPct val="0"/>
                </a:spcBef>
                <a:spcAft>
                  <a:spcPts val="0"/>
                </a:spcAft>
              </a:pPr>
              <a:r>
                <a:rPr kumimoji="0" lang="ko-KR" altLang="en-US" b="0" kern="1200" dirty="0">
                  <a:latin typeface="+mn-ea"/>
                  <a:ea typeface="+mn-ea"/>
                </a:rPr>
                <a:t>구별되게</a:t>
              </a:r>
              <a:endParaRPr lang="ko-KR" altLang="en-US" kern="1200" dirty="0">
                <a:latin typeface="+mn-ea"/>
                <a:ea typeface="+mn-ea"/>
              </a:endParaRPr>
            </a:p>
          </p:txBody>
        </p:sp>
      </p:grpSp>
      <p:grpSp>
        <p:nvGrpSpPr>
          <p:cNvPr id="9" name="그룹 8">
            <a:extLst>
              <a:ext uri="{FF2B5EF4-FFF2-40B4-BE49-F238E27FC236}">
                <a16:creationId xmlns:a16="http://schemas.microsoft.com/office/drawing/2014/main" id="{D1D1D104-A063-8FC9-6113-D2352D6D5477}"/>
              </a:ext>
            </a:extLst>
          </p:cNvPr>
          <p:cNvGrpSpPr/>
          <p:nvPr/>
        </p:nvGrpSpPr>
        <p:grpSpPr>
          <a:xfrm>
            <a:off x="5180495" y="4511564"/>
            <a:ext cx="6361550" cy="1045781"/>
            <a:chOff x="5180495" y="3945966"/>
            <a:chExt cx="6361550" cy="1243826"/>
          </a:xfrm>
        </p:grpSpPr>
        <p:sp>
          <p:nvSpPr>
            <p:cNvPr id="30" name="자유형 29"/>
            <p:cNvSpPr/>
            <p:nvPr/>
          </p:nvSpPr>
          <p:spPr>
            <a:xfrm>
              <a:off x="6527801" y="3945966"/>
              <a:ext cx="5014244" cy="1243826"/>
            </a:xfrm>
            <a:custGeom>
              <a:avLst/>
              <a:gdLst>
                <a:gd name="connsiteX0" fmla="*/ 207308 w 1243825"/>
                <a:gd name="connsiteY0" fmla="*/ 0 h 4668332"/>
                <a:gd name="connsiteX1" fmla="*/ 1036517 w 1243825"/>
                <a:gd name="connsiteY1" fmla="*/ 0 h 4668332"/>
                <a:gd name="connsiteX2" fmla="*/ 1243825 w 1243825"/>
                <a:gd name="connsiteY2" fmla="*/ 207308 h 4668332"/>
                <a:gd name="connsiteX3" fmla="*/ 1243825 w 1243825"/>
                <a:gd name="connsiteY3" fmla="*/ 4668332 h 4668332"/>
                <a:gd name="connsiteX4" fmla="*/ 1243825 w 1243825"/>
                <a:gd name="connsiteY4" fmla="*/ 4668332 h 4668332"/>
                <a:gd name="connsiteX5" fmla="*/ 0 w 1243825"/>
                <a:gd name="connsiteY5" fmla="*/ 4668332 h 4668332"/>
                <a:gd name="connsiteX6" fmla="*/ 0 w 1243825"/>
                <a:gd name="connsiteY6" fmla="*/ 4668332 h 4668332"/>
                <a:gd name="connsiteX7" fmla="*/ 0 w 1243825"/>
                <a:gd name="connsiteY7" fmla="*/ 207308 h 4668332"/>
                <a:gd name="connsiteX8" fmla="*/ 207308 w 1243825"/>
                <a:gd name="connsiteY8" fmla="*/ 0 h 466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3825" h="4668332">
                  <a:moveTo>
                    <a:pt x="1243825" y="778071"/>
                  </a:moveTo>
                  <a:lnTo>
                    <a:pt x="1243825" y="3890261"/>
                  </a:lnTo>
                  <a:cubicBezTo>
                    <a:pt x="1243825" y="4319977"/>
                    <a:pt x="1219095" y="4668330"/>
                    <a:pt x="1188590" y="4668330"/>
                  </a:cubicBezTo>
                  <a:lnTo>
                    <a:pt x="0" y="4668330"/>
                  </a:lnTo>
                  <a:lnTo>
                    <a:pt x="0" y="4668330"/>
                  </a:lnTo>
                  <a:lnTo>
                    <a:pt x="0" y="2"/>
                  </a:lnTo>
                  <a:lnTo>
                    <a:pt x="0" y="2"/>
                  </a:lnTo>
                  <a:lnTo>
                    <a:pt x="1188590" y="2"/>
                  </a:lnTo>
                  <a:cubicBezTo>
                    <a:pt x="1219095" y="2"/>
                    <a:pt x="1243825" y="348355"/>
                    <a:pt x="1243825" y="778071"/>
                  </a:cubicBezTo>
                  <a:close/>
                </a:path>
              </a:pathLst>
            </a:custGeom>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247651" tIns="184545" rIns="308369" bIns="184544" numCol="1" spcCol="1270" anchor="ctr" anchorCtr="0">
              <a:noAutofit/>
            </a:bodyPr>
            <a:lstStyle/>
            <a:p>
              <a:pPr marL="114300" lvl="1" indent="-114300" algn="l" defTabSz="533400" latinLnBrk="1">
                <a:lnSpc>
                  <a:spcPct val="90000"/>
                </a:lnSpc>
                <a:spcBef>
                  <a:spcPct val="0"/>
                </a:spcBef>
                <a:spcAft>
                  <a:spcPct val="15000"/>
                </a:spcAft>
                <a:buChar char="••"/>
              </a:pPr>
              <a:r>
                <a:rPr kumimoji="0" lang="ko-KR" altLang="en-US" sz="1200" b="0" kern="1200" dirty="0">
                  <a:latin typeface="+mn-ea"/>
                  <a:ea typeface="+mn-ea"/>
                </a:rPr>
                <a:t>구성요소 적게</a:t>
              </a:r>
              <a:endParaRPr lang="ko-KR" altLang="en-US" sz="1200" kern="1200" dirty="0">
                <a:latin typeface="+mn-ea"/>
                <a:ea typeface="+mn-ea"/>
              </a:endParaRPr>
            </a:p>
            <a:p>
              <a:pPr marL="114300" lvl="1" indent="-114300" algn="l" defTabSz="533400" latinLnBrk="1">
                <a:lnSpc>
                  <a:spcPct val="90000"/>
                </a:lnSpc>
                <a:spcBef>
                  <a:spcPct val="0"/>
                </a:spcBef>
                <a:spcAft>
                  <a:spcPct val="15000"/>
                </a:spcAft>
                <a:buChar char="••"/>
              </a:pPr>
              <a:r>
                <a:rPr kumimoji="0" lang="ko-KR" altLang="en-US" sz="1200" b="0" kern="1200" dirty="0">
                  <a:latin typeface="+mn-ea"/>
                  <a:ea typeface="+mn-ea"/>
                </a:rPr>
                <a:t>청구범위 용어 포괄적</a:t>
              </a:r>
            </a:p>
            <a:p>
              <a:pPr marL="114300" lvl="1" indent="-114300" algn="l" defTabSz="533400" latinLnBrk="1">
                <a:lnSpc>
                  <a:spcPct val="90000"/>
                </a:lnSpc>
                <a:spcBef>
                  <a:spcPct val="0"/>
                </a:spcBef>
                <a:spcAft>
                  <a:spcPct val="15000"/>
                </a:spcAft>
                <a:buChar char="••"/>
              </a:pPr>
              <a:r>
                <a:rPr kumimoji="0" lang="ko-KR" altLang="en-US" sz="1200" b="0" kern="1200" dirty="0">
                  <a:latin typeface="+mn-ea"/>
                  <a:ea typeface="+mn-ea"/>
                </a:rPr>
                <a:t>불필요한 제한 금지</a:t>
              </a:r>
            </a:p>
            <a:p>
              <a:pPr marL="114300" lvl="1" indent="-114300" algn="l" defTabSz="533400" latinLnBrk="1">
                <a:lnSpc>
                  <a:spcPct val="90000"/>
                </a:lnSpc>
                <a:spcBef>
                  <a:spcPct val="0"/>
                </a:spcBef>
                <a:spcAft>
                  <a:spcPct val="15000"/>
                </a:spcAft>
                <a:buChar char="••"/>
              </a:pPr>
              <a:r>
                <a:rPr kumimoji="0" lang="ko-KR" altLang="en-US" sz="1200" b="0" kern="1200" dirty="0">
                  <a:latin typeface="+mn-ea"/>
                  <a:ea typeface="+mn-ea"/>
                </a:rPr>
                <a:t>단계적인 청구범위로 작성</a:t>
              </a:r>
              <a:r>
                <a:rPr kumimoji="0" lang="en-US" altLang="ko-KR" sz="1200" b="0" kern="1200" dirty="0">
                  <a:latin typeface="+mn-ea"/>
                  <a:ea typeface="+mn-ea"/>
                </a:rPr>
                <a:t>(</a:t>
              </a:r>
              <a:r>
                <a:rPr kumimoji="0" lang="ko-KR" altLang="en-US" sz="1200" b="0" kern="1200" dirty="0" err="1">
                  <a:latin typeface="+mn-ea"/>
                  <a:ea typeface="+mn-ea"/>
                </a:rPr>
                <a:t>독립항은</a:t>
              </a:r>
              <a:r>
                <a:rPr kumimoji="0" lang="ko-KR" altLang="en-US" sz="1200" b="0" kern="1200" dirty="0">
                  <a:latin typeface="+mn-ea"/>
                  <a:ea typeface="+mn-ea"/>
                </a:rPr>
                <a:t> 포괄적</a:t>
              </a:r>
              <a:r>
                <a:rPr kumimoji="0" lang="en-US" altLang="ko-KR" sz="1200" b="0" kern="1200" dirty="0">
                  <a:latin typeface="+mn-ea"/>
                  <a:ea typeface="+mn-ea"/>
                </a:rPr>
                <a:t>, </a:t>
              </a:r>
              <a:r>
                <a:rPr kumimoji="0" lang="ko-KR" altLang="en-US" sz="1200" b="0" kern="1200" dirty="0" err="1">
                  <a:latin typeface="+mn-ea"/>
                  <a:ea typeface="+mn-ea"/>
                </a:rPr>
                <a:t>종속항은</a:t>
              </a:r>
              <a:r>
                <a:rPr kumimoji="0" lang="ko-KR" altLang="en-US" sz="1200" b="0" kern="1200" dirty="0">
                  <a:latin typeface="+mn-ea"/>
                  <a:ea typeface="+mn-ea"/>
                </a:rPr>
                <a:t> 구체적</a:t>
              </a:r>
              <a:r>
                <a:rPr kumimoji="0" lang="en-US" altLang="ko-KR" sz="1200" b="0" kern="1200" dirty="0">
                  <a:latin typeface="+mn-ea"/>
                  <a:ea typeface="+mn-ea"/>
                </a:rPr>
                <a:t>)</a:t>
              </a:r>
            </a:p>
            <a:p>
              <a:pPr marL="114300" lvl="1" indent="-114300" algn="l" defTabSz="533400" latinLnBrk="1">
                <a:lnSpc>
                  <a:spcPct val="90000"/>
                </a:lnSpc>
                <a:spcBef>
                  <a:spcPct val="0"/>
                </a:spcBef>
                <a:spcAft>
                  <a:spcPct val="15000"/>
                </a:spcAft>
                <a:buChar char="••"/>
              </a:pPr>
              <a:r>
                <a:rPr kumimoji="0" lang="ko-KR" altLang="en-US" sz="1200" b="0" kern="1200" dirty="0">
                  <a:latin typeface="+mn-ea"/>
                  <a:ea typeface="+mn-ea"/>
                </a:rPr>
                <a:t>발명의 개념 확장</a:t>
              </a:r>
              <a:endParaRPr kumimoji="0" lang="en-US" altLang="ko-KR" sz="1200" b="0" kern="1200" dirty="0">
                <a:latin typeface="+mn-ea"/>
                <a:ea typeface="+mn-ea"/>
              </a:endParaRPr>
            </a:p>
          </p:txBody>
        </p:sp>
        <p:sp>
          <p:nvSpPr>
            <p:cNvPr id="31" name="자유형 30"/>
            <p:cNvSpPr/>
            <p:nvPr/>
          </p:nvSpPr>
          <p:spPr>
            <a:xfrm>
              <a:off x="5180495" y="3945966"/>
              <a:ext cx="1499705" cy="1243826"/>
            </a:xfrm>
            <a:custGeom>
              <a:avLst/>
              <a:gdLst>
                <a:gd name="connsiteX0" fmla="*/ 0 w 1693216"/>
                <a:gd name="connsiteY0" fmla="*/ 259136 h 1554782"/>
                <a:gd name="connsiteX1" fmla="*/ 259136 w 1693216"/>
                <a:gd name="connsiteY1" fmla="*/ 0 h 1554782"/>
                <a:gd name="connsiteX2" fmla="*/ 1434080 w 1693216"/>
                <a:gd name="connsiteY2" fmla="*/ 0 h 1554782"/>
                <a:gd name="connsiteX3" fmla="*/ 1693216 w 1693216"/>
                <a:gd name="connsiteY3" fmla="*/ 259136 h 1554782"/>
                <a:gd name="connsiteX4" fmla="*/ 1693216 w 1693216"/>
                <a:gd name="connsiteY4" fmla="*/ 1295646 h 1554782"/>
                <a:gd name="connsiteX5" fmla="*/ 1434080 w 1693216"/>
                <a:gd name="connsiteY5" fmla="*/ 1554782 h 1554782"/>
                <a:gd name="connsiteX6" fmla="*/ 259136 w 1693216"/>
                <a:gd name="connsiteY6" fmla="*/ 1554782 h 1554782"/>
                <a:gd name="connsiteX7" fmla="*/ 0 w 1693216"/>
                <a:gd name="connsiteY7" fmla="*/ 1295646 h 1554782"/>
                <a:gd name="connsiteX8" fmla="*/ 0 w 1693216"/>
                <a:gd name="connsiteY8" fmla="*/ 259136 h 155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3216" h="1554782">
                  <a:moveTo>
                    <a:pt x="0" y="259136"/>
                  </a:moveTo>
                  <a:cubicBezTo>
                    <a:pt x="0" y="116019"/>
                    <a:pt x="116019" y="0"/>
                    <a:pt x="259136" y="0"/>
                  </a:cubicBezTo>
                  <a:lnTo>
                    <a:pt x="1434080" y="0"/>
                  </a:lnTo>
                  <a:cubicBezTo>
                    <a:pt x="1577197" y="0"/>
                    <a:pt x="1693216" y="116019"/>
                    <a:pt x="1693216" y="259136"/>
                  </a:cubicBezTo>
                  <a:lnTo>
                    <a:pt x="1693216" y="1295646"/>
                  </a:lnTo>
                  <a:cubicBezTo>
                    <a:pt x="1693216" y="1438763"/>
                    <a:pt x="1577197" y="1554782"/>
                    <a:pt x="1434080" y="1554782"/>
                  </a:cubicBezTo>
                  <a:lnTo>
                    <a:pt x="259136" y="1554782"/>
                  </a:lnTo>
                  <a:cubicBezTo>
                    <a:pt x="116019" y="1554782"/>
                    <a:pt x="0" y="1438763"/>
                    <a:pt x="0" y="1295646"/>
                  </a:cubicBezTo>
                  <a:lnTo>
                    <a:pt x="0" y="259136"/>
                  </a:lnTo>
                  <a:close/>
                </a:path>
              </a:pathLst>
            </a:custGeom>
            <a:ln>
              <a:solidFill>
                <a:schemeClr val="bg1">
                  <a:lumMod val="50000"/>
                </a:schemeClr>
              </a:solid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152098" tIns="113998" rIns="152098" bIns="113998" numCol="1" spcCol="1270" anchor="ctr" anchorCtr="0">
              <a:noAutofit/>
            </a:bodyPr>
            <a:lstStyle/>
            <a:p>
              <a:pPr lvl="0" algn="ctr" defTabSz="889000" latinLnBrk="1">
                <a:lnSpc>
                  <a:spcPct val="100000"/>
                </a:lnSpc>
                <a:spcBef>
                  <a:spcPct val="0"/>
                </a:spcBef>
                <a:spcAft>
                  <a:spcPts val="0"/>
                </a:spcAft>
              </a:pPr>
              <a:r>
                <a:rPr kumimoji="0" lang="ko-KR" altLang="en-US" b="0" kern="1200" dirty="0">
                  <a:latin typeface="+mn-ea"/>
                  <a:ea typeface="+mn-ea"/>
                </a:rPr>
                <a:t>권리범위 </a:t>
              </a:r>
              <a:endParaRPr kumimoji="0" lang="en-US" altLang="ko-KR" b="0" kern="1200" dirty="0">
                <a:latin typeface="+mn-ea"/>
                <a:ea typeface="+mn-ea"/>
              </a:endParaRPr>
            </a:p>
            <a:p>
              <a:pPr lvl="0" algn="ctr" defTabSz="889000" latinLnBrk="1">
                <a:lnSpc>
                  <a:spcPct val="100000"/>
                </a:lnSpc>
                <a:spcBef>
                  <a:spcPct val="0"/>
                </a:spcBef>
                <a:spcAft>
                  <a:spcPts val="0"/>
                </a:spcAft>
              </a:pPr>
              <a:r>
                <a:rPr kumimoji="0" lang="ko-KR" altLang="en-US" b="0" kern="1200" dirty="0">
                  <a:latin typeface="+mn-ea"/>
                  <a:ea typeface="+mn-ea"/>
                </a:rPr>
                <a:t>포괄적으로</a:t>
              </a:r>
              <a:endParaRPr lang="ko-KR" altLang="en-US" kern="1200" dirty="0">
                <a:latin typeface="+mn-ea"/>
                <a:ea typeface="+mn-ea"/>
              </a:endParaRPr>
            </a:p>
          </p:txBody>
        </p:sp>
      </p:grpSp>
      <p:grpSp>
        <p:nvGrpSpPr>
          <p:cNvPr id="11" name="그룹 10">
            <a:extLst>
              <a:ext uri="{FF2B5EF4-FFF2-40B4-BE49-F238E27FC236}">
                <a16:creationId xmlns:a16="http://schemas.microsoft.com/office/drawing/2014/main" id="{6DDB9EFF-AA78-53D5-2487-42D866B82F43}"/>
              </a:ext>
            </a:extLst>
          </p:cNvPr>
          <p:cNvGrpSpPr/>
          <p:nvPr/>
        </p:nvGrpSpPr>
        <p:grpSpPr>
          <a:xfrm>
            <a:off x="5180495" y="5687275"/>
            <a:ext cx="6361550" cy="919884"/>
            <a:chOff x="5180495" y="5363333"/>
            <a:chExt cx="6361550" cy="1243826"/>
          </a:xfrm>
        </p:grpSpPr>
        <p:sp>
          <p:nvSpPr>
            <p:cNvPr id="32" name="자유형 31"/>
            <p:cNvSpPr/>
            <p:nvPr/>
          </p:nvSpPr>
          <p:spPr>
            <a:xfrm>
              <a:off x="6527801" y="5363333"/>
              <a:ext cx="5014244" cy="1243826"/>
            </a:xfrm>
            <a:custGeom>
              <a:avLst/>
              <a:gdLst>
                <a:gd name="connsiteX0" fmla="*/ 207308 w 1243825"/>
                <a:gd name="connsiteY0" fmla="*/ 0 h 4668332"/>
                <a:gd name="connsiteX1" fmla="*/ 1036517 w 1243825"/>
                <a:gd name="connsiteY1" fmla="*/ 0 h 4668332"/>
                <a:gd name="connsiteX2" fmla="*/ 1243825 w 1243825"/>
                <a:gd name="connsiteY2" fmla="*/ 207308 h 4668332"/>
                <a:gd name="connsiteX3" fmla="*/ 1243825 w 1243825"/>
                <a:gd name="connsiteY3" fmla="*/ 4668332 h 4668332"/>
                <a:gd name="connsiteX4" fmla="*/ 1243825 w 1243825"/>
                <a:gd name="connsiteY4" fmla="*/ 4668332 h 4668332"/>
                <a:gd name="connsiteX5" fmla="*/ 0 w 1243825"/>
                <a:gd name="connsiteY5" fmla="*/ 4668332 h 4668332"/>
                <a:gd name="connsiteX6" fmla="*/ 0 w 1243825"/>
                <a:gd name="connsiteY6" fmla="*/ 4668332 h 4668332"/>
                <a:gd name="connsiteX7" fmla="*/ 0 w 1243825"/>
                <a:gd name="connsiteY7" fmla="*/ 207308 h 4668332"/>
                <a:gd name="connsiteX8" fmla="*/ 207308 w 1243825"/>
                <a:gd name="connsiteY8" fmla="*/ 0 h 466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3825" h="4668332">
                  <a:moveTo>
                    <a:pt x="1243825" y="778071"/>
                  </a:moveTo>
                  <a:lnTo>
                    <a:pt x="1243825" y="3890261"/>
                  </a:lnTo>
                  <a:cubicBezTo>
                    <a:pt x="1243825" y="4319977"/>
                    <a:pt x="1219095" y="4668330"/>
                    <a:pt x="1188590" y="4668330"/>
                  </a:cubicBezTo>
                  <a:lnTo>
                    <a:pt x="0" y="4668330"/>
                  </a:lnTo>
                  <a:lnTo>
                    <a:pt x="0" y="4668330"/>
                  </a:lnTo>
                  <a:lnTo>
                    <a:pt x="0" y="2"/>
                  </a:lnTo>
                  <a:lnTo>
                    <a:pt x="0" y="2"/>
                  </a:lnTo>
                  <a:lnTo>
                    <a:pt x="1188590" y="2"/>
                  </a:lnTo>
                  <a:cubicBezTo>
                    <a:pt x="1219095" y="2"/>
                    <a:pt x="1243825" y="348355"/>
                    <a:pt x="1243825" y="778071"/>
                  </a:cubicBezTo>
                  <a:close/>
                </a:path>
              </a:pathLst>
            </a:custGeom>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247651" tIns="184545" rIns="308369" bIns="184544" numCol="1" spcCol="1270" anchor="ctr" anchorCtr="0">
              <a:noAutofit/>
            </a:bodyPr>
            <a:lstStyle/>
            <a:p>
              <a:pPr marL="114300" lvl="1" indent="-114300" algn="l" defTabSz="533400" latinLnBrk="1">
                <a:lnSpc>
                  <a:spcPct val="90000"/>
                </a:lnSpc>
                <a:spcBef>
                  <a:spcPct val="0"/>
                </a:spcBef>
                <a:spcAft>
                  <a:spcPct val="15000"/>
                </a:spcAft>
                <a:buChar char="••"/>
              </a:pPr>
              <a:r>
                <a:rPr kumimoji="0" lang="ko-KR" altLang="en-US" sz="1200" b="0" kern="1200" dirty="0">
                  <a:latin typeface="+mn-ea"/>
                  <a:ea typeface="+mn-ea"/>
                </a:rPr>
                <a:t>침해증명 고려</a:t>
              </a:r>
              <a:endParaRPr lang="ko-KR" altLang="en-US" sz="1200" kern="1200" dirty="0">
                <a:latin typeface="+mn-ea"/>
                <a:ea typeface="+mn-ea"/>
              </a:endParaRPr>
            </a:p>
            <a:p>
              <a:pPr marL="114300" lvl="1" indent="-114300" algn="l" defTabSz="533400" latinLnBrk="1">
                <a:lnSpc>
                  <a:spcPct val="90000"/>
                </a:lnSpc>
                <a:spcBef>
                  <a:spcPct val="0"/>
                </a:spcBef>
                <a:spcAft>
                  <a:spcPct val="15000"/>
                </a:spcAft>
                <a:buChar char="••"/>
              </a:pPr>
              <a:r>
                <a:rPr kumimoji="0" lang="ko-KR" altLang="en-US" sz="1200" b="0" kern="1200" dirty="0">
                  <a:latin typeface="+mn-ea"/>
                  <a:ea typeface="+mn-ea"/>
                </a:rPr>
                <a:t>가능하면 물건</a:t>
              </a:r>
              <a:r>
                <a:rPr kumimoji="0" lang="en-US" altLang="ko-KR" sz="1200" b="0" kern="1200" dirty="0">
                  <a:latin typeface="+mn-ea"/>
                  <a:ea typeface="+mn-ea"/>
                </a:rPr>
                <a:t>/</a:t>
              </a:r>
              <a:r>
                <a:rPr kumimoji="0" lang="ko-KR" altLang="en-US" sz="1200" b="0" kern="1200" dirty="0">
                  <a:latin typeface="+mn-ea"/>
                  <a:ea typeface="+mn-ea"/>
                </a:rPr>
                <a:t>물질발명으로</a:t>
              </a:r>
              <a:r>
                <a:rPr kumimoji="0" lang="en-US" altLang="ko-KR" sz="1200" b="0" kern="1200" dirty="0">
                  <a:latin typeface="+mn-ea"/>
                  <a:ea typeface="+mn-ea"/>
                </a:rPr>
                <a:t>(</a:t>
              </a:r>
              <a:r>
                <a:rPr kumimoji="0" lang="ko-KR" altLang="en-US" sz="1200" b="0" kern="1200" dirty="0">
                  <a:latin typeface="+mn-ea"/>
                  <a:ea typeface="+mn-ea"/>
                </a:rPr>
                <a:t>제조방법도 함께 청구</a:t>
              </a:r>
              <a:r>
                <a:rPr kumimoji="0" lang="en-US" altLang="ko-KR" sz="1200" b="0" kern="1200" dirty="0">
                  <a:latin typeface="+mn-ea"/>
                  <a:ea typeface="+mn-ea"/>
                </a:rPr>
                <a:t>)</a:t>
              </a:r>
            </a:p>
            <a:p>
              <a:pPr marL="114300" lvl="1" indent="-114300" algn="l" defTabSz="533400" latinLnBrk="1">
                <a:lnSpc>
                  <a:spcPct val="90000"/>
                </a:lnSpc>
                <a:spcBef>
                  <a:spcPct val="0"/>
                </a:spcBef>
                <a:spcAft>
                  <a:spcPct val="15000"/>
                </a:spcAft>
                <a:buChar char="••"/>
              </a:pPr>
              <a:r>
                <a:rPr kumimoji="0" lang="ko-KR" altLang="en-US" sz="1200" b="0" kern="1200" dirty="0">
                  <a:latin typeface="+mn-ea"/>
                  <a:ea typeface="+mn-ea"/>
                </a:rPr>
                <a:t>누구에게 권리 행사할 지 고려</a:t>
              </a:r>
              <a:r>
                <a:rPr kumimoji="0" lang="en-US" altLang="ko-KR" sz="1200" b="0" kern="1200" dirty="0">
                  <a:latin typeface="+mn-ea"/>
                  <a:ea typeface="+mn-ea"/>
                </a:rPr>
                <a:t>(</a:t>
              </a:r>
              <a:r>
                <a:rPr kumimoji="0" lang="ko-KR" altLang="en-US" sz="1200" b="0" kern="1200" dirty="0">
                  <a:latin typeface="+mn-ea"/>
                  <a:ea typeface="+mn-ea"/>
                </a:rPr>
                <a:t>생산업자</a:t>
              </a:r>
              <a:r>
                <a:rPr kumimoji="0" lang="en-US" altLang="ko-KR" sz="1200" b="0" kern="1200" dirty="0">
                  <a:latin typeface="+mn-ea"/>
                  <a:ea typeface="+mn-ea"/>
                </a:rPr>
                <a:t>, </a:t>
              </a:r>
              <a:r>
                <a:rPr kumimoji="0" lang="ko-KR" altLang="en-US" sz="1200" b="0" kern="1200" dirty="0">
                  <a:latin typeface="+mn-ea"/>
                  <a:ea typeface="+mn-ea"/>
                </a:rPr>
                <a:t>조립업자</a:t>
              </a:r>
              <a:r>
                <a:rPr kumimoji="0" lang="en-US" altLang="ko-KR" sz="1200" b="0" kern="1200" dirty="0">
                  <a:latin typeface="+mn-ea"/>
                  <a:ea typeface="+mn-ea"/>
                </a:rPr>
                <a:t>, </a:t>
              </a:r>
              <a:r>
                <a:rPr kumimoji="0" lang="ko-KR" altLang="en-US" sz="1200" b="0" kern="1200" dirty="0">
                  <a:latin typeface="+mn-ea"/>
                  <a:ea typeface="+mn-ea"/>
                </a:rPr>
                <a:t>사용업자 등</a:t>
              </a:r>
              <a:r>
                <a:rPr kumimoji="0" lang="en-US" altLang="ko-KR" sz="1200" b="0" kern="1200" dirty="0">
                  <a:latin typeface="+mn-ea"/>
                  <a:ea typeface="+mn-ea"/>
                </a:rPr>
                <a:t>)</a:t>
              </a:r>
            </a:p>
            <a:p>
              <a:pPr marL="114300" lvl="1" indent="-114300" algn="l" defTabSz="533400" latinLnBrk="1">
                <a:lnSpc>
                  <a:spcPct val="90000"/>
                </a:lnSpc>
                <a:spcBef>
                  <a:spcPct val="0"/>
                </a:spcBef>
                <a:spcAft>
                  <a:spcPct val="15000"/>
                </a:spcAft>
                <a:buChar char="••"/>
              </a:pPr>
              <a:r>
                <a:rPr kumimoji="0" lang="ko-KR" altLang="en-US" sz="1200" b="0" kern="1200" dirty="0">
                  <a:latin typeface="+mn-ea"/>
                  <a:ea typeface="+mn-ea"/>
                </a:rPr>
                <a:t>요소기술 </a:t>
              </a:r>
              <a:r>
                <a:rPr kumimoji="0" lang="en-US" altLang="ko-KR" sz="1200" b="0" kern="1200" dirty="0">
                  <a:latin typeface="+mn-ea"/>
                  <a:ea typeface="+mn-ea"/>
                </a:rPr>
                <a:t>vs </a:t>
              </a:r>
              <a:r>
                <a:rPr kumimoji="0" lang="ko-KR" altLang="en-US" sz="1200" b="0" kern="1200" dirty="0">
                  <a:latin typeface="+mn-ea"/>
                  <a:ea typeface="+mn-ea"/>
                </a:rPr>
                <a:t>전체기술 모두 청구</a:t>
              </a:r>
            </a:p>
          </p:txBody>
        </p:sp>
        <p:sp>
          <p:nvSpPr>
            <p:cNvPr id="33" name="자유형 32"/>
            <p:cNvSpPr/>
            <p:nvPr/>
          </p:nvSpPr>
          <p:spPr>
            <a:xfrm>
              <a:off x="5180495" y="5363333"/>
              <a:ext cx="1499705" cy="1243826"/>
            </a:xfrm>
            <a:custGeom>
              <a:avLst/>
              <a:gdLst>
                <a:gd name="connsiteX0" fmla="*/ 0 w 1693216"/>
                <a:gd name="connsiteY0" fmla="*/ 259136 h 1554782"/>
                <a:gd name="connsiteX1" fmla="*/ 259136 w 1693216"/>
                <a:gd name="connsiteY1" fmla="*/ 0 h 1554782"/>
                <a:gd name="connsiteX2" fmla="*/ 1434080 w 1693216"/>
                <a:gd name="connsiteY2" fmla="*/ 0 h 1554782"/>
                <a:gd name="connsiteX3" fmla="*/ 1693216 w 1693216"/>
                <a:gd name="connsiteY3" fmla="*/ 259136 h 1554782"/>
                <a:gd name="connsiteX4" fmla="*/ 1693216 w 1693216"/>
                <a:gd name="connsiteY4" fmla="*/ 1295646 h 1554782"/>
                <a:gd name="connsiteX5" fmla="*/ 1434080 w 1693216"/>
                <a:gd name="connsiteY5" fmla="*/ 1554782 h 1554782"/>
                <a:gd name="connsiteX6" fmla="*/ 259136 w 1693216"/>
                <a:gd name="connsiteY6" fmla="*/ 1554782 h 1554782"/>
                <a:gd name="connsiteX7" fmla="*/ 0 w 1693216"/>
                <a:gd name="connsiteY7" fmla="*/ 1295646 h 1554782"/>
                <a:gd name="connsiteX8" fmla="*/ 0 w 1693216"/>
                <a:gd name="connsiteY8" fmla="*/ 259136 h 155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3216" h="1554782">
                  <a:moveTo>
                    <a:pt x="0" y="259136"/>
                  </a:moveTo>
                  <a:cubicBezTo>
                    <a:pt x="0" y="116019"/>
                    <a:pt x="116019" y="0"/>
                    <a:pt x="259136" y="0"/>
                  </a:cubicBezTo>
                  <a:lnTo>
                    <a:pt x="1434080" y="0"/>
                  </a:lnTo>
                  <a:cubicBezTo>
                    <a:pt x="1577197" y="0"/>
                    <a:pt x="1693216" y="116019"/>
                    <a:pt x="1693216" y="259136"/>
                  </a:cubicBezTo>
                  <a:lnTo>
                    <a:pt x="1693216" y="1295646"/>
                  </a:lnTo>
                  <a:cubicBezTo>
                    <a:pt x="1693216" y="1438763"/>
                    <a:pt x="1577197" y="1554782"/>
                    <a:pt x="1434080" y="1554782"/>
                  </a:cubicBezTo>
                  <a:lnTo>
                    <a:pt x="259136" y="1554782"/>
                  </a:lnTo>
                  <a:cubicBezTo>
                    <a:pt x="116019" y="1554782"/>
                    <a:pt x="0" y="1438763"/>
                    <a:pt x="0" y="1295646"/>
                  </a:cubicBezTo>
                  <a:lnTo>
                    <a:pt x="0" y="259136"/>
                  </a:lnTo>
                  <a:close/>
                </a:path>
              </a:pathLst>
            </a:custGeom>
            <a:ln>
              <a:solidFill>
                <a:schemeClr val="bg1">
                  <a:lumMod val="50000"/>
                </a:schemeClr>
              </a:solidFill>
            </a:ln>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152098" tIns="113998" rIns="152098" bIns="113998" numCol="1" spcCol="1270" anchor="ctr" anchorCtr="0">
              <a:noAutofit/>
            </a:bodyPr>
            <a:lstStyle/>
            <a:p>
              <a:pPr lvl="0" algn="ctr" defTabSz="889000" latinLnBrk="1">
                <a:lnSpc>
                  <a:spcPct val="100000"/>
                </a:lnSpc>
                <a:spcBef>
                  <a:spcPct val="0"/>
                </a:spcBef>
                <a:spcAft>
                  <a:spcPts val="0"/>
                </a:spcAft>
              </a:pPr>
              <a:r>
                <a:rPr kumimoji="0" lang="ko-KR" altLang="en-US" b="0" kern="1200" dirty="0">
                  <a:latin typeface="+mn-ea"/>
                  <a:ea typeface="+mn-ea"/>
                </a:rPr>
                <a:t>권리행사가 </a:t>
              </a:r>
              <a:endParaRPr kumimoji="0" lang="en-US" altLang="ko-KR" b="0" kern="1200" dirty="0">
                <a:latin typeface="+mn-ea"/>
                <a:ea typeface="+mn-ea"/>
              </a:endParaRPr>
            </a:p>
            <a:p>
              <a:pPr lvl="0" algn="ctr" defTabSz="889000" latinLnBrk="1">
                <a:lnSpc>
                  <a:spcPct val="100000"/>
                </a:lnSpc>
                <a:spcBef>
                  <a:spcPct val="0"/>
                </a:spcBef>
                <a:spcAft>
                  <a:spcPts val="0"/>
                </a:spcAft>
              </a:pPr>
              <a:r>
                <a:rPr kumimoji="0" lang="ko-KR" altLang="en-US" b="0" kern="1200" dirty="0">
                  <a:latin typeface="+mn-ea"/>
                  <a:ea typeface="+mn-ea"/>
                </a:rPr>
                <a:t>용이하도록</a:t>
              </a:r>
              <a:endParaRPr lang="ko-KR" altLang="en-US" kern="1200" dirty="0">
                <a:latin typeface="+mn-ea"/>
                <a:ea typeface="+mn-ea"/>
              </a:endParaRPr>
            </a:p>
          </p:txBody>
        </p:sp>
      </p:grpSp>
      <p:sp>
        <p:nvSpPr>
          <p:cNvPr id="16" name="TextBox 15"/>
          <p:cNvSpPr txBox="1"/>
          <p:nvPr/>
        </p:nvSpPr>
        <p:spPr>
          <a:xfrm>
            <a:off x="3040919" y="3507723"/>
            <a:ext cx="1244719" cy="779026"/>
          </a:xfrm>
          <a:prstGeom prst="roundRect">
            <a:avLst>
              <a:gd name="adj" fmla="val 50000"/>
            </a:avLst>
          </a:prstGeom>
          <a:solidFill>
            <a:schemeClr val="bg1">
              <a:lumMod val="95000"/>
            </a:schemeClr>
          </a:solidFill>
          <a:ln>
            <a:solidFill>
              <a:schemeClr val="bg1">
                <a:lumMod val="50000"/>
              </a:schemeClr>
            </a:solidFill>
          </a:ln>
        </p:spPr>
        <p:txBody>
          <a:bodyPr wrap="none" tIns="0" bIns="0" rtlCol="0" anchor="ctr">
            <a:spAutoFit/>
          </a:bodyPr>
          <a:lstStyle/>
          <a:p>
            <a:pPr algn="ctr"/>
            <a:r>
              <a:rPr lang="ko-KR" altLang="en-US" dirty="0"/>
              <a:t>특허요건</a:t>
            </a:r>
            <a:endParaRPr lang="en-US" altLang="ko-KR" dirty="0"/>
          </a:p>
          <a:p>
            <a:pPr algn="ctr"/>
            <a:r>
              <a:rPr lang="ko-KR" altLang="en-US" dirty="0"/>
              <a:t>만족</a:t>
            </a:r>
          </a:p>
        </p:txBody>
      </p:sp>
      <p:sp>
        <p:nvSpPr>
          <p:cNvPr id="17" name="TextBox 16"/>
          <p:cNvSpPr txBox="1"/>
          <p:nvPr/>
        </p:nvSpPr>
        <p:spPr>
          <a:xfrm>
            <a:off x="3040919" y="4916032"/>
            <a:ext cx="1244719" cy="779026"/>
          </a:xfrm>
          <a:prstGeom prst="roundRect">
            <a:avLst>
              <a:gd name="adj" fmla="val 50000"/>
            </a:avLst>
          </a:prstGeom>
          <a:solidFill>
            <a:schemeClr val="accent4">
              <a:lumMod val="20000"/>
              <a:lumOff val="80000"/>
            </a:schemeClr>
          </a:solidFill>
          <a:ln>
            <a:solidFill>
              <a:schemeClr val="bg1">
                <a:lumMod val="50000"/>
              </a:schemeClr>
            </a:solidFill>
          </a:ln>
        </p:spPr>
        <p:txBody>
          <a:bodyPr wrap="none" tIns="0" bIns="0" rtlCol="0">
            <a:spAutoFit/>
          </a:bodyPr>
          <a:lstStyle/>
          <a:p>
            <a:pPr algn="ctr"/>
            <a:r>
              <a:rPr lang="ko-KR" altLang="en-US" dirty="0"/>
              <a:t>권리행사</a:t>
            </a:r>
            <a:endParaRPr lang="en-US" altLang="ko-KR" dirty="0"/>
          </a:p>
          <a:p>
            <a:pPr algn="ctr"/>
            <a:r>
              <a:rPr lang="ko-KR" altLang="en-US" dirty="0"/>
              <a:t>가능</a:t>
            </a:r>
          </a:p>
        </p:txBody>
      </p:sp>
      <p:sp>
        <p:nvSpPr>
          <p:cNvPr id="4" name="제목 3"/>
          <p:cNvSpPr>
            <a:spLocks noGrp="1"/>
          </p:cNvSpPr>
          <p:nvPr>
            <p:ph type="title"/>
          </p:nvPr>
        </p:nvSpPr>
        <p:spPr/>
        <p:txBody>
          <a:bodyPr/>
          <a:lstStyle/>
          <a:p>
            <a:r>
              <a:rPr lang="ko-KR" altLang="en-US" dirty="0"/>
              <a:t>참고노트</a:t>
            </a:r>
          </a:p>
        </p:txBody>
      </p:sp>
      <p:sp>
        <p:nvSpPr>
          <p:cNvPr id="5" name="텍스트 개체 틀 4"/>
          <p:cNvSpPr>
            <a:spLocks noGrp="1"/>
          </p:cNvSpPr>
          <p:nvPr>
            <p:ph type="body" sz="quarter" idx="13"/>
          </p:nvPr>
        </p:nvSpPr>
        <p:spPr/>
        <p:txBody>
          <a:bodyPr/>
          <a:lstStyle/>
          <a:p>
            <a:r>
              <a:rPr lang="ko-KR" altLang="en-US" dirty="0"/>
              <a:t>청구범위의 작성방향</a:t>
            </a:r>
          </a:p>
        </p:txBody>
      </p:sp>
      <p:sp>
        <p:nvSpPr>
          <p:cNvPr id="6" name="직사각형 5"/>
          <p:cNvSpPr/>
          <p:nvPr/>
        </p:nvSpPr>
        <p:spPr>
          <a:xfrm>
            <a:off x="397935" y="3962884"/>
            <a:ext cx="914400" cy="914400"/>
          </a:xfrm>
          <a:prstGeom prst="rect">
            <a:avLst/>
          </a:prstGeom>
          <a:solidFill>
            <a:schemeClr val="tx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청구</a:t>
            </a:r>
            <a:endParaRPr lang="en-US" altLang="ko-KR" dirty="0"/>
          </a:p>
          <a:p>
            <a:pPr algn="ctr"/>
            <a:r>
              <a:rPr lang="ko-KR" altLang="en-US" dirty="0"/>
              <a:t>범위</a:t>
            </a:r>
          </a:p>
        </p:txBody>
      </p:sp>
      <p:sp>
        <p:nvSpPr>
          <p:cNvPr id="22" name="직사각형 21"/>
          <p:cNvSpPr/>
          <p:nvPr/>
        </p:nvSpPr>
        <p:spPr>
          <a:xfrm>
            <a:off x="1854207" y="3440037"/>
            <a:ext cx="914400" cy="9144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권리</a:t>
            </a:r>
            <a:endParaRPr lang="en-US" altLang="ko-KR" dirty="0">
              <a:solidFill>
                <a:schemeClr val="tx1"/>
              </a:solidFill>
            </a:endParaRPr>
          </a:p>
          <a:p>
            <a:pPr algn="ctr"/>
            <a:r>
              <a:rPr lang="ko-KR" altLang="en-US" dirty="0">
                <a:solidFill>
                  <a:schemeClr val="tx1"/>
                </a:solidFill>
              </a:rPr>
              <a:t>요구서</a:t>
            </a:r>
          </a:p>
        </p:txBody>
      </p:sp>
      <p:sp>
        <p:nvSpPr>
          <p:cNvPr id="23" name="직사각형 22"/>
          <p:cNvSpPr/>
          <p:nvPr/>
        </p:nvSpPr>
        <p:spPr>
          <a:xfrm>
            <a:off x="1854207" y="4849734"/>
            <a:ext cx="914400" cy="9144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dirty="0">
                <a:solidFill>
                  <a:schemeClr val="accent3">
                    <a:lumMod val="50000"/>
                  </a:schemeClr>
                </a:solidFill>
              </a:rPr>
              <a:t>권리서</a:t>
            </a:r>
          </a:p>
        </p:txBody>
      </p:sp>
      <p:cxnSp>
        <p:nvCxnSpPr>
          <p:cNvPr id="8" name="꺾인 연결선 7"/>
          <p:cNvCxnSpPr>
            <a:cxnSpLocks/>
            <a:stCxn id="6" idx="3"/>
            <a:endCxn id="22" idx="1"/>
          </p:cNvCxnSpPr>
          <p:nvPr/>
        </p:nvCxnSpPr>
        <p:spPr>
          <a:xfrm flipV="1">
            <a:off x="1312335" y="3897237"/>
            <a:ext cx="541872" cy="52284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꺾인 연결선 9"/>
          <p:cNvCxnSpPr>
            <a:stCxn id="6" idx="3"/>
            <a:endCxn id="23" idx="1"/>
          </p:cNvCxnSpPr>
          <p:nvPr/>
        </p:nvCxnSpPr>
        <p:spPr>
          <a:xfrm>
            <a:off x="1312335" y="4420084"/>
            <a:ext cx="541872" cy="8868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직선 연결선 23"/>
          <p:cNvCxnSpPr>
            <a:stCxn id="22" idx="3"/>
            <a:endCxn id="16" idx="1"/>
          </p:cNvCxnSpPr>
          <p:nvPr/>
        </p:nvCxnSpPr>
        <p:spPr>
          <a:xfrm flipV="1">
            <a:off x="2768607" y="3897236"/>
            <a:ext cx="272312" cy="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직선 연결선 25"/>
          <p:cNvCxnSpPr>
            <a:stCxn id="23" idx="3"/>
            <a:endCxn id="17" idx="1"/>
          </p:cNvCxnSpPr>
          <p:nvPr/>
        </p:nvCxnSpPr>
        <p:spPr>
          <a:xfrm flipV="1">
            <a:off x="2768607" y="5305545"/>
            <a:ext cx="272312" cy="138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cxnSpLocks/>
          </p:cNvCxnSpPr>
          <p:nvPr/>
        </p:nvCxnSpPr>
        <p:spPr>
          <a:xfrm flipV="1">
            <a:off x="4285638" y="4993341"/>
            <a:ext cx="894857" cy="31220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꺾인 연결선 35"/>
          <p:cNvCxnSpPr>
            <a:cxnSpLocks/>
            <a:stCxn id="17" idx="3"/>
          </p:cNvCxnSpPr>
          <p:nvPr/>
        </p:nvCxnSpPr>
        <p:spPr>
          <a:xfrm>
            <a:off x="4285638" y="5305545"/>
            <a:ext cx="894857" cy="7790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331</a:t>
            </a:r>
            <a:endParaRPr lang="ko-KR" altLang="en-US"/>
          </a:p>
        </p:txBody>
      </p:sp>
      <p:cxnSp>
        <p:nvCxnSpPr>
          <p:cNvPr id="18" name="연결선: 꺾임 17">
            <a:extLst>
              <a:ext uri="{FF2B5EF4-FFF2-40B4-BE49-F238E27FC236}">
                <a16:creationId xmlns:a16="http://schemas.microsoft.com/office/drawing/2014/main" id="{E7711BC3-1C44-7633-E940-0A230A426A72}"/>
              </a:ext>
            </a:extLst>
          </p:cNvPr>
          <p:cNvCxnSpPr>
            <a:cxnSpLocks/>
            <a:stCxn id="16" idx="3"/>
          </p:cNvCxnSpPr>
          <p:nvPr/>
        </p:nvCxnSpPr>
        <p:spPr>
          <a:xfrm>
            <a:off x="4285638" y="3897236"/>
            <a:ext cx="894857" cy="12700"/>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35" name="직선 연결선 34">
            <a:extLst>
              <a:ext uri="{FF2B5EF4-FFF2-40B4-BE49-F238E27FC236}">
                <a16:creationId xmlns:a16="http://schemas.microsoft.com/office/drawing/2014/main" id="{13095AB7-ACBE-EBEB-3164-E159D20C9EB7}"/>
              </a:ext>
            </a:extLst>
          </p:cNvPr>
          <p:cNvCxnSpPr/>
          <p:nvPr/>
        </p:nvCxnSpPr>
        <p:spPr>
          <a:xfrm>
            <a:off x="134471" y="3155580"/>
            <a:ext cx="11878235" cy="0"/>
          </a:xfrm>
          <a:prstGeom prst="line">
            <a:avLst/>
          </a:prstGeom>
          <a:ln w="28575">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37" name="사각형: 둥근 위쪽 모서리 36">
            <a:extLst>
              <a:ext uri="{FF2B5EF4-FFF2-40B4-BE49-F238E27FC236}">
                <a16:creationId xmlns:a16="http://schemas.microsoft.com/office/drawing/2014/main" id="{2ABD2162-5B63-7D50-FE4A-3FCB7235DDD1}"/>
              </a:ext>
            </a:extLst>
          </p:cNvPr>
          <p:cNvSpPr/>
          <p:nvPr/>
        </p:nvSpPr>
        <p:spPr>
          <a:xfrm rot="10800000">
            <a:off x="7167348" y="2072193"/>
            <a:ext cx="1882588" cy="448235"/>
          </a:xfrm>
          <a:prstGeom prst="round2SameRect">
            <a:avLst>
              <a:gd name="adj1" fmla="val 50000"/>
              <a:gd name="adj2" fmla="val 0"/>
            </a:avLst>
          </a:prstGeom>
          <a:pattFill prst="ltHorz">
            <a:fgClr>
              <a:schemeClr val="accent6"/>
            </a:fgClr>
            <a:bgClr>
              <a:schemeClr val="bg1"/>
            </a:bgClr>
          </a:patt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사각형: 둥근 위쪽 모서리 37">
            <a:extLst>
              <a:ext uri="{FF2B5EF4-FFF2-40B4-BE49-F238E27FC236}">
                <a16:creationId xmlns:a16="http://schemas.microsoft.com/office/drawing/2014/main" id="{E49FCDF8-FEDD-F04A-6E52-A6CA15208CCB}"/>
              </a:ext>
            </a:extLst>
          </p:cNvPr>
          <p:cNvSpPr/>
          <p:nvPr/>
        </p:nvSpPr>
        <p:spPr>
          <a:xfrm>
            <a:off x="4698627" y="1426364"/>
            <a:ext cx="1882588" cy="448235"/>
          </a:xfrm>
          <a:prstGeom prst="round2SameRect">
            <a:avLst>
              <a:gd name="adj1" fmla="val 50000"/>
              <a:gd name="adj2" fmla="val 0"/>
            </a:avLst>
          </a:prstGeom>
          <a:pattFill prst="pct25">
            <a:fgClr>
              <a:schemeClr val="accent2"/>
            </a:fgClr>
            <a:bgClr>
              <a:schemeClr val="bg1"/>
            </a:bgClr>
          </a:patt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0" name="오른쪽 화살표 26">
            <a:extLst>
              <a:ext uri="{FF2B5EF4-FFF2-40B4-BE49-F238E27FC236}">
                <a16:creationId xmlns:a16="http://schemas.microsoft.com/office/drawing/2014/main" id="{A0D6238D-30A5-3900-D665-533B409131D3}"/>
              </a:ext>
            </a:extLst>
          </p:cNvPr>
          <p:cNvSpPr/>
          <p:nvPr/>
        </p:nvSpPr>
        <p:spPr bwMode="auto">
          <a:xfrm>
            <a:off x="654425" y="1800298"/>
            <a:ext cx="10703858" cy="333378"/>
          </a:xfrm>
          <a:prstGeom prst="rightArrow">
            <a:avLst>
              <a:gd name="adj1" fmla="val 61198"/>
              <a:gd name="adj2" fmla="val 75558"/>
            </a:avLst>
          </a:prstGeom>
          <a:solidFill>
            <a:schemeClr val="accent3">
              <a:lumMod val="40000"/>
              <a:lumOff val="60000"/>
            </a:schemeClr>
          </a:solidFill>
          <a:ln>
            <a:solidFill>
              <a:schemeClr val="accent3">
                <a:lumMod val="20000"/>
                <a:lumOff val="80000"/>
              </a:schemeClr>
            </a:solidFill>
            <a:headEnd type="none" w="med" len="med"/>
            <a:tailEnd type="none" w="med" len="med"/>
          </a:ln>
        </p:spPr>
        <p:style>
          <a:lnRef idx="1">
            <a:schemeClr val="accent3"/>
          </a:lnRef>
          <a:fillRef idx="3">
            <a:schemeClr val="accent3"/>
          </a:fillRef>
          <a:effectRef idx="2">
            <a:schemeClr val="accent3"/>
          </a:effectRef>
          <a:fontRef idx="minor">
            <a:schemeClr val="lt1"/>
          </a:fontRef>
        </p:style>
        <p:txBody>
          <a:bodyPr lIns="90000" tIns="46800" rIns="90000" bIns="46800" anchor="ctr"/>
          <a:lstStyle/>
          <a:p>
            <a:pPr algn="ctr">
              <a:buFont typeface="Wingdings" pitchFamily="2" charset="2"/>
              <a:buNone/>
              <a:defRPr/>
            </a:pPr>
            <a:endParaRPr lang="ko-KR" altLang="en-US" sz="1400" dirty="0">
              <a:solidFill>
                <a:srgbClr val="1C1C1C"/>
              </a:solidFill>
              <a:latin typeface="Rix모던고딕 L" panose="02020603020101020101" pitchFamily="18" charset="-127"/>
              <a:ea typeface="Rix모던고딕 L" panose="02020603020101020101" pitchFamily="18" charset="-127"/>
            </a:endParaRPr>
          </a:p>
        </p:txBody>
      </p:sp>
      <p:sp>
        <p:nvSpPr>
          <p:cNvPr id="41" name="직사각형 40">
            <a:extLst>
              <a:ext uri="{FF2B5EF4-FFF2-40B4-BE49-F238E27FC236}">
                <a16:creationId xmlns:a16="http://schemas.microsoft.com/office/drawing/2014/main" id="{77A28ACA-31B6-8669-EE20-716A97176ECE}"/>
              </a:ext>
            </a:extLst>
          </p:cNvPr>
          <p:cNvSpPr/>
          <p:nvPr/>
        </p:nvSpPr>
        <p:spPr>
          <a:xfrm>
            <a:off x="1442791" y="1736276"/>
            <a:ext cx="1322296" cy="448235"/>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공지기술</a:t>
            </a:r>
          </a:p>
        </p:txBody>
      </p:sp>
      <p:sp>
        <p:nvSpPr>
          <p:cNvPr id="42" name="직사각형 41">
            <a:extLst>
              <a:ext uri="{FF2B5EF4-FFF2-40B4-BE49-F238E27FC236}">
                <a16:creationId xmlns:a16="http://schemas.microsoft.com/office/drawing/2014/main" id="{F51A671C-F1C9-5606-6DFA-266176151DCD}"/>
              </a:ext>
            </a:extLst>
          </p:cNvPr>
          <p:cNvSpPr/>
          <p:nvPr/>
        </p:nvSpPr>
        <p:spPr>
          <a:xfrm>
            <a:off x="3770845" y="1736276"/>
            <a:ext cx="1322296" cy="448235"/>
          </a:xfrm>
          <a:prstGeom prst="rect">
            <a:avLst/>
          </a:prstGeom>
          <a:solidFill>
            <a:schemeClr val="accent1">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특허출원</a:t>
            </a:r>
          </a:p>
        </p:txBody>
      </p:sp>
      <p:sp>
        <p:nvSpPr>
          <p:cNvPr id="43" name="직사각형 42">
            <a:extLst>
              <a:ext uri="{FF2B5EF4-FFF2-40B4-BE49-F238E27FC236}">
                <a16:creationId xmlns:a16="http://schemas.microsoft.com/office/drawing/2014/main" id="{EBC6D32C-F72A-8F52-0D29-DCE7D22DA870}"/>
              </a:ext>
            </a:extLst>
          </p:cNvPr>
          <p:cNvSpPr/>
          <p:nvPr/>
        </p:nvSpPr>
        <p:spPr>
          <a:xfrm>
            <a:off x="6228229" y="1736276"/>
            <a:ext cx="1322296" cy="448235"/>
          </a:xfrm>
          <a:prstGeom prst="rect">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특허등록</a:t>
            </a:r>
          </a:p>
        </p:txBody>
      </p:sp>
      <p:sp>
        <p:nvSpPr>
          <p:cNvPr id="44" name="직사각형 43">
            <a:extLst>
              <a:ext uri="{FF2B5EF4-FFF2-40B4-BE49-F238E27FC236}">
                <a16:creationId xmlns:a16="http://schemas.microsoft.com/office/drawing/2014/main" id="{2EBE447E-9FA8-14DE-DFC6-70AE4C782A95}"/>
              </a:ext>
            </a:extLst>
          </p:cNvPr>
          <p:cNvSpPr/>
          <p:nvPr/>
        </p:nvSpPr>
        <p:spPr>
          <a:xfrm>
            <a:off x="8727141" y="1736276"/>
            <a:ext cx="1322296" cy="448235"/>
          </a:xfrm>
          <a:prstGeom prst="rect">
            <a:avLst/>
          </a:prstGeom>
          <a:solidFill>
            <a:schemeClr val="tx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제</a:t>
            </a:r>
            <a:r>
              <a:rPr lang="en-US" altLang="ko-KR" dirty="0"/>
              <a:t>3</a:t>
            </a:r>
            <a:r>
              <a:rPr lang="ko-KR" altLang="en-US" dirty="0" err="1"/>
              <a:t>자실시</a:t>
            </a:r>
            <a:endParaRPr lang="ko-KR" altLang="en-US" dirty="0"/>
          </a:p>
        </p:txBody>
      </p:sp>
      <p:sp>
        <p:nvSpPr>
          <p:cNvPr id="45" name="TextBox 44">
            <a:extLst>
              <a:ext uri="{FF2B5EF4-FFF2-40B4-BE49-F238E27FC236}">
                <a16:creationId xmlns:a16="http://schemas.microsoft.com/office/drawing/2014/main" id="{162F106E-B709-DF0C-B5A5-E138D3759E91}"/>
              </a:ext>
            </a:extLst>
          </p:cNvPr>
          <p:cNvSpPr txBox="1"/>
          <p:nvPr/>
        </p:nvSpPr>
        <p:spPr>
          <a:xfrm>
            <a:off x="4204716" y="860494"/>
            <a:ext cx="2924198" cy="523220"/>
          </a:xfrm>
          <a:prstGeom prst="rect">
            <a:avLst/>
          </a:prstGeom>
          <a:noFill/>
        </p:spPr>
        <p:txBody>
          <a:bodyPr wrap="none" rtlCol="0">
            <a:spAutoFit/>
          </a:bodyPr>
          <a:lstStyle/>
          <a:p>
            <a:pPr algn="ctr"/>
            <a:r>
              <a:rPr lang="ko-KR" altLang="en-US" sz="1400" dirty="0"/>
              <a:t>공지기술과 차별성을 확보하기 위하여</a:t>
            </a:r>
            <a:endParaRPr lang="en-US" altLang="ko-KR" sz="1400" dirty="0"/>
          </a:p>
          <a:p>
            <a:pPr algn="ctr"/>
            <a:r>
              <a:rPr lang="ko-KR" altLang="en-US" sz="1400" dirty="0"/>
              <a:t>구성요소를 많이 기재하는 것이 유리</a:t>
            </a:r>
          </a:p>
        </p:txBody>
      </p:sp>
      <p:sp>
        <p:nvSpPr>
          <p:cNvPr id="46" name="TextBox 45">
            <a:extLst>
              <a:ext uri="{FF2B5EF4-FFF2-40B4-BE49-F238E27FC236}">
                <a16:creationId xmlns:a16="http://schemas.microsoft.com/office/drawing/2014/main" id="{AB51920C-8F58-94D8-00E0-01C3C88BFD2B}"/>
              </a:ext>
            </a:extLst>
          </p:cNvPr>
          <p:cNvSpPr txBox="1"/>
          <p:nvPr/>
        </p:nvSpPr>
        <p:spPr>
          <a:xfrm>
            <a:off x="6736305" y="2578570"/>
            <a:ext cx="2811988" cy="523220"/>
          </a:xfrm>
          <a:prstGeom prst="rect">
            <a:avLst/>
          </a:prstGeom>
          <a:noFill/>
        </p:spPr>
        <p:txBody>
          <a:bodyPr wrap="none" rtlCol="0">
            <a:spAutoFit/>
          </a:bodyPr>
          <a:lstStyle/>
          <a:p>
            <a:pPr algn="ctr"/>
            <a:r>
              <a:rPr lang="ko-KR" altLang="en-US" sz="1400" dirty="0"/>
              <a:t>침해 주장을 하기 위하여</a:t>
            </a:r>
            <a:endParaRPr lang="en-US" altLang="ko-KR" sz="1400" dirty="0"/>
          </a:p>
          <a:p>
            <a:pPr algn="ctr"/>
            <a:r>
              <a:rPr lang="ko-KR" altLang="en-US" sz="1400" dirty="0"/>
              <a:t>구성요소를 적게 기재하는 것이 유리</a:t>
            </a:r>
          </a:p>
        </p:txBody>
      </p:sp>
    </p:spTree>
    <p:extLst>
      <p:ext uri="{BB962C8B-B14F-4D97-AF65-F5344CB8AC3E}">
        <p14:creationId xmlns:p14="http://schemas.microsoft.com/office/powerpoint/2010/main" val="175183344"/>
      </p:ext>
    </p:extLst>
  </p:cSld>
  <p:clrMapOvr>
    <a:masterClrMapping/>
  </p:clrMapOvr>
  <p:transition/>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종속항의 필요성</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332</a:t>
            </a:r>
            <a:endParaRPr lang="ko-KR" altLang="en-US"/>
          </a:p>
        </p:txBody>
      </p:sp>
      <p:sp>
        <p:nvSpPr>
          <p:cNvPr id="93" name="TextBox 92"/>
          <p:cNvSpPr txBox="1"/>
          <p:nvPr/>
        </p:nvSpPr>
        <p:spPr>
          <a:xfrm>
            <a:off x="77875" y="986046"/>
            <a:ext cx="11936323" cy="1892826"/>
          </a:xfrm>
          <a:prstGeom prst="rect">
            <a:avLst/>
          </a:prstGeom>
          <a:noFill/>
        </p:spPr>
        <p:txBody>
          <a:bodyPr wrap="square" rtlCol="0">
            <a:spAutoFit/>
          </a:bodyPr>
          <a:lstStyle/>
          <a:p>
            <a:pPr fontAlgn="base"/>
            <a:r>
              <a:rPr lang="ko-KR" altLang="en-US" sz="1300" dirty="0"/>
              <a:t>청구범위의 청구항은 상호 독립되어 있기 때문에 </a:t>
            </a:r>
            <a:r>
              <a:rPr lang="ko-KR" altLang="en-US" sz="1300" dirty="0" err="1"/>
              <a:t>독립항</a:t>
            </a:r>
            <a:r>
              <a:rPr lang="en-US" altLang="ko-KR" sz="1300" dirty="0"/>
              <a:t>, </a:t>
            </a:r>
            <a:r>
              <a:rPr lang="ko-KR" altLang="en-US" sz="1300" dirty="0" err="1"/>
              <a:t>종속항</a:t>
            </a:r>
            <a:r>
              <a:rPr lang="ko-KR" altLang="en-US" sz="1300" dirty="0"/>
              <a:t> 상관없이 </a:t>
            </a:r>
            <a:r>
              <a:rPr lang="ko-KR" altLang="en-US" sz="1300" dirty="0" err="1"/>
              <a:t>청구항별로</a:t>
            </a:r>
            <a:r>
              <a:rPr lang="ko-KR" altLang="en-US" sz="1300" dirty="0"/>
              <a:t> 특허요건을 판단하고</a:t>
            </a:r>
            <a:r>
              <a:rPr lang="en-US" altLang="ko-KR" sz="1300" dirty="0"/>
              <a:t>, </a:t>
            </a:r>
            <a:r>
              <a:rPr lang="ko-KR" altLang="en-US" sz="1300" dirty="0" err="1"/>
              <a:t>등륵후에는</a:t>
            </a:r>
            <a:r>
              <a:rPr lang="ko-KR" altLang="en-US" sz="1300" dirty="0"/>
              <a:t> </a:t>
            </a:r>
            <a:r>
              <a:rPr lang="ko-KR" altLang="en-US" sz="1300" dirty="0" err="1"/>
              <a:t>청구항별로</a:t>
            </a:r>
            <a:r>
              <a:rPr lang="ko-KR" altLang="en-US" sz="1300" dirty="0"/>
              <a:t> 침해여부를 판단하는 것이 원칙이다</a:t>
            </a:r>
            <a:r>
              <a:rPr lang="en-US" altLang="ko-KR" sz="1300" dirty="0"/>
              <a:t>. </a:t>
            </a:r>
            <a:r>
              <a:rPr lang="ko-KR" altLang="en-US" sz="1300" dirty="0"/>
              <a:t>그러나 종속항의 보호범위는 독립항을 한정하거나 부가하여 구체화한 청구항이기 때문에 독립항의 보호범위보다 상대적으로 좁다</a:t>
            </a:r>
            <a:r>
              <a:rPr lang="en-US" altLang="ko-KR" sz="1300" dirty="0"/>
              <a:t>. </a:t>
            </a:r>
            <a:r>
              <a:rPr lang="ko-KR" altLang="en-US" sz="1300" dirty="0"/>
              <a:t>따라서 독립항이 특허요건판단에 있어서 신규성</a:t>
            </a:r>
            <a:r>
              <a:rPr lang="en-US" altLang="ko-KR" sz="1300" dirty="0"/>
              <a:t>, </a:t>
            </a:r>
            <a:r>
              <a:rPr lang="ko-KR" altLang="en-US" sz="1300" dirty="0"/>
              <a:t>진보성 위반이 아니면</a:t>
            </a:r>
            <a:r>
              <a:rPr lang="en-US" altLang="ko-KR" sz="1300" dirty="0"/>
              <a:t>, </a:t>
            </a:r>
            <a:r>
              <a:rPr lang="ko-KR" altLang="en-US" sz="1300" dirty="0"/>
              <a:t>종속항도 신규성</a:t>
            </a:r>
            <a:r>
              <a:rPr lang="en-US" altLang="ko-KR" sz="1300" dirty="0"/>
              <a:t>, </a:t>
            </a:r>
            <a:r>
              <a:rPr lang="ko-KR" altLang="en-US" sz="1300" dirty="0"/>
              <a:t>진보성 위반이 아니다</a:t>
            </a:r>
            <a:r>
              <a:rPr lang="en-US" altLang="ko-KR" sz="1300" dirty="0"/>
              <a:t>. </a:t>
            </a:r>
            <a:r>
              <a:rPr lang="ko-KR" altLang="en-US" sz="1300" dirty="0" err="1"/>
              <a:t>등록후</a:t>
            </a:r>
            <a:r>
              <a:rPr lang="ko-KR" altLang="en-US" sz="1300" dirty="0"/>
              <a:t> 침해여부판단에 있어서도 독립항의 침해가 아니면 종속항의 침해도 되지 아니한다</a:t>
            </a:r>
            <a:r>
              <a:rPr lang="en-US" altLang="ko-KR" sz="1300" dirty="0"/>
              <a:t>(</a:t>
            </a:r>
            <a:r>
              <a:rPr lang="ko-KR" altLang="en-US" sz="1300" dirty="0"/>
              <a:t>물론 독립항의 보호범위가 인정되지 아니하고</a:t>
            </a:r>
            <a:r>
              <a:rPr lang="en-US" altLang="ko-KR" sz="1300" dirty="0"/>
              <a:t>, </a:t>
            </a:r>
            <a:r>
              <a:rPr lang="ko-KR" altLang="en-US" sz="1300" dirty="0"/>
              <a:t>종속항의 보호범위만 인정되면 독립항의 침해가 아닐지라도 종속항의 침해가 될 수도 있다</a:t>
            </a:r>
            <a:r>
              <a:rPr lang="en-US" altLang="ko-KR" sz="1300" dirty="0"/>
              <a:t>). </a:t>
            </a:r>
            <a:r>
              <a:rPr lang="ko-KR" altLang="en-US" sz="1300" dirty="0"/>
              <a:t>이와 같은 논리라면 표면적으로 살펴보면 종속항의 존재 의의가 없는 것으로 보일 수도 있다</a:t>
            </a:r>
            <a:r>
              <a:rPr lang="en-US" altLang="ko-KR" sz="1300" dirty="0"/>
              <a:t>. </a:t>
            </a:r>
            <a:r>
              <a:rPr lang="ko-KR" altLang="en-US" sz="1300" dirty="0"/>
              <a:t>종속항의 가장 중요한 존재 의의는 </a:t>
            </a:r>
            <a:r>
              <a:rPr lang="ko-KR" altLang="en-US" sz="1300" dirty="0">
                <a:highlight>
                  <a:srgbClr val="FFFF00"/>
                </a:highlight>
              </a:rPr>
              <a:t>등록 후 특허의 취소나 무효 가능성을 대비</a:t>
            </a:r>
            <a:r>
              <a:rPr lang="ko-KR" altLang="en-US" sz="1300" dirty="0"/>
              <a:t>할 수 있다는 것이다</a:t>
            </a:r>
            <a:r>
              <a:rPr lang="en-US" altLang="ko-KR" sz="1300" dirty="0"/>
              <a:t>. </a:t>
            </a:r>
            <a:r>
              <a:rPr lang="ko-KR" altLang="en-US" sz="1300" dirty="0"/>
              <a:t>제</a:t>
            </a:r>
            <a:r>
              <a:rPr lang="en-US" altLang="ko-KR" sz="1300" dirty="0"/>
              <a:t>3</a:t>
            </a:r>
            <a:r>
              <a:rPr lang="ko-KR" altLang="en-US" sz="1300" dirty="0"/>
              <a:t>자가 실시하는 발명이 독립항과 그 종속항의 침해인 경우 독립항이 특허취소신청에 의하여 취소나 특허무효심판에 의하여 무효가 되더라도 종속항이 있다면 권리행사를 할 수 있게 된다</a:t>
            </a:r>
            <a:r>
              <a:rPr lang="en-US" altLang="ko-KR" sz="1300" dirty="0"/>
              <a:t>. </a:t>
            </a:r>
            <a:r>
              <a:rPr lang="ko-KR" altLang="en-US" sz="1300" dirty="0"/>
              <a:t>종속항에 의하여 권리행사를 하기 위해서는 종속항에는 독립항을 한정하거나 부가하여 구체화해서 </a:t>
            </a:r>
            <a:r>
              <a:rPr lang="ko-KR" altLang="en-US" sz="1300" dirty="0">
                <a:highlight>
                  <a:srgbClr val="FFFF00"/>
                </a:highlight>
              </a:rPr>
              <a:t>별개의 새로운 발명이라고 부를 수 있는 정도의 구성요소</a:t>
            </a:r>
            <a:r>
              <a:rPr lang="ko-KR" altLang="en-US" sz="1300" dirty="0"/>
              <a:t>를 적어야 한다</a:t>
            </a:r>
            <a:r>
              <a:rPr lang="en-US" altLang="ko-KR" sz="1300" dirty="0"/>
              <a:t>. </a:t>
            </a:r>
            <a:r>
              <a:rPr lang="ko-KR" altLang="en-US" sz="1300" dirty="0"/>
              <a:t>즉</a:t>
            </a:r>
            <a:r>
              <a:rPr lang="en-US" altLang="ko-KR" sz="1300" dirty="0"/>
              <a:t>, </a:t>
            </a:r>
            <a:r>
              <a:rPr lang="ko-KR" altLang="en-US" sz="1300" dirty="0"/>
              <a:t>심사관이 독립항의 구성요소와 결합하였을 때 신규성</a:t>
            </a:r>
            <a:r>
              <a:rPr lang="en-US" altLang="ko-KR" sz="1300" dirty="0"/>
              <a:t>, </a:t>
            </a:r>
            <a:r>
              <a:rPr lang="ko-KR" altLang="en-US" sz="1300" dirty="0"/>
              <a:t>진보성 등의 특허요건 위반이 아니라고 판단할 만한 구성요소를 종속항에 적어야 한다</a:t>
            </a:r>
            <a:r>
              <a:rPr lang="en-US" altLang="ko-KR" sz="1300" dirty="0"/>
              <a:t>. </a:t>
            </a:r>
            <a:r>
              <a:rPr lang="ko-KR" altLang="en-US" sz="1300" dirty="0"/>
              <a:t>그렇지 아니한 경우 </a:t>
            </a:r>
            <a:r>
              <a:rPr lang="ko-KR" altLang="en-US" sz="1300" dirty="0">
                <a:solidFill>
                  <a:srgbClr val="FF0000"/>
                </a:solidFill>
              </a:rPr>
              <a:t>독립항의 특허요건 위반이 있으면</a:t>
            </a:r>
            <a:r>
              <a:rPr lang="en-US" altLang="ko-KR" sz="1300" dirty="0">
                <a:solidFill>
                  <a:srgbClr val="FF0000"/>
                </a:solidFill>
              </a:rPr>
              <a:t>, </a:t>
            </a:r>
            <a:r>
              <a:rPr lang="ko-KR" altLang="en-US" sz="1300" dirty="0">
                <a:solidFill>
                  <a:srgbClr val="FF0000"/>
                </a:solidFill>
              </a:rPr>
              <a:t>종속항도 같이 특허요건 위반이 된다</a:t>
            </a:r>
            <a:r>
              <a:rPr lang="en-US" altLang="ko-KR" sz="1300" dirty="0">
                <a:solidFill>
                  <a:srgbClr val="FF0000"/>
                </a:solidFill>
              </a:rPr>
              <a:t>. </a:t>
            </a:r>
            <a:r>
              <a:rPr lang="ko-KR" altLang="en-US" sz="1300" dirty="0">
                <a:solidFill>
                  <a:srgbClr val="FF0000"/>
                </a:solidFill>
              </a:rPr>
              <a:t>이와 같은 종속항을 적는 것은 출원인에게 </a:t>
            </a:r>
            <a:r>
              <a:rPr lang="ko-KR" altLang="en-US" sz="1300" dirty="0" err="1">
                <a:solidFill>
                  <a:srgbClr val="FF0000"/>
                </a:solidFill>
              </a:rPr>
              <a:t>심사청구료</a:t>
            </a:r>
            <a:r>
              <a:rPr lang="en-US" altLang="ko-KR" sz="1300" dirty="0">
                <a:solidFill>
                  <a:srgbClr val="FF0000"/>
                </a:solidFill>
              </a:rPr>
              <a:t>, </a:t>
            </a:r>
            <a:r>
              <a:rPr lang="ko-KR" altLang="en-US" sz="1300" dirty="0">
                <a:solidFill>
                  <a:srgbClr val="FF0000"/>
                </a:solidFill>
              </a:rPr>
              <a:t>특허료 등 청구항 수에 따라 달라지는 비용 부담만 가중시키는 결과를 초래한다</a:t>
            </a:r>
            <a:r>
              <a:rPr lang="en-US" altLang="ko-KR" sz="1300" dirty="0">
                <a:solidFill>
                  <a:srgbClr val="FF0000"/>
                </a:solidFill>
              </a:rPr>
              <a:t>. </a:t>
            </a:r>
            <a:endParaRPr lang="ko-KR" altLang="en-US" sz="1300" dirty="0">
              <a:solidFill>
                <a:srgbClr val="FF0000"/>
              </a:solidFill>
            </a:endParaRPr>
          </a:p>
        </p:txBody>
      </p:sp>
      <p:cxnSp>
        <p:nvCxnSpPr>
          <p:cNvPr id="95" name="직선 연결선 94"/>
          <p:cNvCxnSpPr/>
          <p:nvPr/>
        </p:nvCxnSpPr>
        <p:spPr>
          <a:xfrm>
            <a:off x="0" y="287887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직사각형 78"/>
          <p:cNvSpPr/>
          <p:nvPr/>
        </p:nvSpPr>
        <p:spPr>
          <a:xfrm>
            <a:off x="111853" y="3046066"/>
            <a:ext cx="8424936" cy="3657600"/>
          </a:xfrm>
          <a:prstGeom prst="rect">
            <a:avLst/>
          </a:prstGeom>
          <a:solidFill>
            <a:schemeClr val="accent3">
              <a:lumMod val="20000"/>
              <a:lumOff val="80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80" name="직선 화살표 연결선 79"/>
          <p:cNvCxnSpPr/>
          <p:nvPr/>
        </p:nvCxnSpPr>
        <p:spPr>
          <a:xfrm>
            <a:off x="399885" y="4048381"/>
            <a:ext cx="7920880" cy="0"/>
          </a:xfrm>
          <a:prstGeom prst="straightConnector1">
            <a:avLst/>
          </a:prstGeom>
          <a:ln w="28575">
            <a:solidFill>
              <a:schemeClr val="accent2">
                <a:lumMod val="50000"/>
              </a:schemeClr>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81" name="타원 80"/>
          <p:cNvSpPr/>
          <p:nvPr/>
        </p:nvSpPr>
        <p:spPr>
          <a:xfrm>
            <a:off x="903941" y="3951322"/>
            <a:ext cx="216024" cy="216024"/>
          </a:xfrm>
          <a:prstGeom prst="ellipse">
            <a:avLst/>
          </a:prstGeom>
        </p:spPr>
        <p:style>
          <a:lnRef idx="0">
            <a:schemeClr val="accent2"/>
          </a:lnRef>
          <a:fillRef idx="3">
            <a:schemeClr val="accent2"/>
          </a:fillRef>
          <a:effectRef idx="3">
            <a:schemeClr val="accent2"/>
          </a:effectRef>
          <a:fontRef idx="minor">
            <a:schemeClr val="lt1"/>
          </a:fontRef>
        </p:style>
        <p:txBody>
          <a:bodyPr rtlCol="0" anchor="ctr"/>
          <a:lstStyle/>
          <a:p>
            <a:pPr algn="ctr"/>
            <a:endParaRPr lang="ko-KR" altLang="en-US"/>
          </a:p>
        </p:txBody>
      </p:sp>
      <p:sp>
        <p:nvSpPr>
          <p:cNvPr id="82" name="타원 81"/>
          <p:cNvSpPr/>
          <p:nvPr/>
        </p:nvSpPr>
        <p:spPr>
          <a:xfrm>
            <a:off x="2992173" y="3951322"/>
            <a:ext cx="216024" cy="216024"/>
          </a:xfrm>
          <a:prstGeom prst="ellipse">
            <a:avLst/>
          </a:prstGeom>
        </p:spPr>
        <p:style>
          <a:lnRef idx="0">
            <a:schemeClr val="accent4"/>
          </a:lnRef>
          <a:fillRef idx="3">
            <a:schemeClr val="accent4"/>
          </a:fillRef>
          <a:effectRef idx="3">
            <a:schemeClr val="accent4"/>
          </a:effectRef>
          <a:fontRef idx="minor">
            <a:schemeClr val="lt1"/>
          </a:fontRef>
        </p:style>
        <p:txBody>
          <a:bodyPr rtlCol="0" anchor="ctr"/>
          <a:lstStyle/>
          <a:p>
            <a:pPr algn="ctr"/>
            <a:endParaRPr lang="ko-KR" altLang="en-US"/>
          </a:p>
        </p:txBody>
      </p:sp>
      <p:sp>
        <p:nvSpPr>
          <p:cNvPr id="83" name="타원 82"/>
          <p:cNvSpPr/>
          <p:nvPr/>
        </p:nvSpPr>
        <p:spPr>
          <a:xfrm>
            <a:off x="5044401" y="3951322"/>
            <a:ext cx="216024" cy="216024"/>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endParaRPr lang="ko-KR" altLang="en-US"/>
          </a:p>
        </p:txBody>
      </p:sp>
      <p:sp>
        <p:nvSpPr>
          <p:cNvPr id="84" name="타원 83"/>
          <p:cNvSpPr/>
          <p:nvPr/>
        </p:nvSpPr>
        <p:spPr>
          <a:xfrm>
            <a:off x="5800486" y="3951322"/>
            <a:ext cx="216024" cy="216024"/>
          </a:xfrm>
          <a:prstGeom prst="ellipse">
            <a:avLst/>
          </a:prstGeom>
        </p:spPr>
        <p:style>
          <a:lnRef idx="0">
            <a:schemeClr val="accent3"/>
          </a:lnRef>
          <a:fillRef idx="3">
            <a:schemeClr val="accent3"/>
          </a:fillRef>
          <a:effectRef idx="3">
            <a:schemeClr val="accent3"/>
          </a:effectRef>
          <a:fontRef idx="minor">
            <a:schemeClr val="lt1"/>
          </a:fontRef>
        </p:style>
        <p:txBody>
          <a:bodyPr rtlCol="0" anchor="ctr"/>
          <a:lstStyle/>
          <a:p>
            <a:pPr algn="ctr"/>
            <a:endParaRPr lang="ko-KR" altLang="en-US"/>
          </a:p>
        </p:txBody>
      </p:sp>
      <p:sp>
        <p:nvSpPr>
          <p:cNvPr id="85" name="TextBox 84"/>
          <p:cNvSpPr txBox="1"/>
          <p:nvPr/>
        </p:nvSpPr>
        <p:spPr>
          <a:xfrm>
            <a:off x="2862849" y="3610497"/>
            <a:ext cx="561372" cy="276999"/>
          </a:xfrm>
          <a:prstGeom prst="rect">
            <a:avLst/>
          </a:prstGeom>
          <a:noFill/>
        </p:spPr>
        <p:txBody>
          <a:bodyPr wrap="none" rtlCol="0">
            <a:spAutoFit/>
          </a:bodyPr>
          <a:lstStyle/>
          <a:p>
            <a:r>
              <a:rPr lang="ko-KR" altLang="en-US" sz="1200" dirty="0"/>
              <a:t>공지</a:t>
            </a:r>
            <a:r>
              <a:rPr lang="en-US" altLang="ko-KR" sz="1200" dirty="0"/>
              <a:t>3</a:t>
            </a:r>
            <a:endParaRPr lang="ko-KR" altLang="en-US" sz="1200" dirty="0"/>
          </a:p>
        </p:txBody>
      </p:sp>
      <p:sp>
        <p:nvSpPr>
          <p:cNvPr id="86" name="TextBox 85"/>
          <p:cNvSpPr txBox="1"/>
          <p:nvPr/>
        </p:nvSpPr>
        <p:spPr>
          <a:xfrm>
            <a:off x="4864381" y="3610496"/>
            <a:ext cx="576064" cy="276999"/>
          </a:xfrm>
          <a:prstGeom prst="rect">
            <a:avLst/>
          </a:prstGeom>
          <a:noFill/>
        </p:spPr>
        <p:txBody>
          <a:bodyPr wrap="square" rtlCol="0">
            <a:spAutoFit/>
          </a:bodyPr>
          <a:lstStyle/>
          <a:p>
            <a:pPr algn="ctr"/>
            <a:r>
              <a:rPr lang="ko-KR" altLang="en-US" sz="1200" dirty="0"/>
              <a:t>등록</a:t>
            </a:r>
          </a:p>
        </p:txBody>
      </p:sp>
      <p:sp>
        <p:nvSpPr>
          <p:cNvPr id="87" name="TextBox 86"/>
          <p:cNvSpPr txBox="1"/>
          <p:nvPr/>
        </p:nvSpPr>
        <p:spPr>
          <a:xfrm>
            <a:off x="5459496" y="3627366"/>
            <a:ext cx="898003" cy="276999"/>
          </a:xfrm>
          <a:prstGeom prst="rect">
            <a:avLst/>
          </a:prstGeom>
          <a:noFill/>
        </p:spPr>
        <p:txBody>
          <a:bodyPr wrap="none" rtlCol="0">
            <a:spAutoFit/>
          </a:bodyPr>
          <a:lstStyle/>
          <a:p>
            <a:r>
              <a:rPr lang="ko-KR" altLang="en-US" sz="1200" dirty="0"/>
              <a:t>제</a:t>
            </a:r>
            <a:r>
              <a:rPr lang="en-US" altLang="ko-KR" sz="1200" dirty="0"/>
              <a:t>3</a:t>
            </a:r>
            <a:r>
              <a:rPr lang="ko-KR" altLang="en-US" sz="1200" dirty="0"/>
              <a:t>자 실시</a:t>
            </a:r>
          </a:p>
        </p:txBody>
      </p:sp>
      <p:sp>
        <p:nvSpPr>
          <p:cNvPr id="88" name="직사각형 87"/>
          <p:cNvSpPr/>
          <p:nvPr/>
        </p:nvSpPr>
        <p:spPr>
          <a:xfrm>
            <a:off x="350737" y="4258569"/>
            <a:ext cx="1080120" cy="1764196"/>
          </a:xfrm>
          <a:prstGeom prst="rect">
            <a:avLst/>
          </a:prstGeom>
        </p:spPr>
        <p:style>
          <a:lnRef idx="2">
            <a:schemeClr val="accent2"/>
          </a:lnRef>
          <a:fillRef idx="1">
            <a:schemeClr val="lt1"/>
          </a:fillRef>
          <a:effectRef idx="0">
            <a:schemeClr val="accent2"/>
          </a:effectRef>
          <a:fontRef idx="minor">
            <a:schemeClr val="dk1"/>
          </a:fontRef>
        </p:style>
        <p:txBody>
          <a:bodyPr rtlCol="0" anchor="ctr">
            <a:noAutofit/>
          </a:bodyPr>
          <a:lstStyle/>
          <a:p>
            <a:r>
              <a:rPr lang="ko-KR" altLang="en-US" sz="1000" dirty="0">
                <a:solidFill>
                  <a:schemeClr val="tx1"/>
                </a:solidFill>
              </a:rPr>
              <a:t>핸들</a:t>
            </a:r>
            <a:r>
              <a:rPr lang="en-US" altLang="ko-KR" sz="1000" dirty="0">
                <a:solidFill>
                  <a:schemeClr val="tx1"/>
                </a:solidFill>
              </a:rPr>
              <a:t>, </a:t>
            </a:r>
            <a:r>
              <a:rPr lang="ko-KR" altLang="en-US" sz="1000" dirty="0">
                <a:solidFill>
                  <a:schemeClr val="tx1"/>
                </a:solidFill>
              </a:rPr>
              <a:t>바퀴</a:t>
            </a:r>
            <a:r>
              <a:rPr lang="en-US" altLang="ko-KR" sz="1000" dirty="0">
                <a:solidFill>
                  <a:schemeClr val="tx1"/>
                </a:solidFill>
              </a:rPr>
              <a:t>, </a:t>
            </a:r>
            <a:r>
              <a:rPr lang="ko-KR" altLang="en-US" sz="1000" dirty="0">
                <a:solidFill>
                  <a:schemeClr val="tx1"/>
                </a:solidFill>
              </a:rPr>
              <a:t>바디</a:t>
            </a:r>
            <a:r>
              <a:rPr lang="en-US" altLang="ko-KR" sz="1000" dirty="0">
                <a:solidFill>
                  <a:schemeClr val="tx1"/>
                </a:solidFill>
              </a:rPr>
              <a:t> </a:t>
            </a:r>
            <a:r>
              <a:rPr lang="ko-KR" altLang="en-US" sz="1000" dirty="0">
                <a:solidFill>
                  <a:schemeClr val="tx1"/>
                </a:solidFill>
              </a:rPr>
              <a:t>및</a:t>
            </a:r>
            <a:r>
              <a:rPr lang="en-US" altLang="ko-KR" sz="1000" dirty="0">
                <a:solidFill>
                  <a:schemeClr val="tx1"/>
                </a:solidFill>
              </a:rPr>
              <a:t> </a:t>
            </a:r>
            <a:r>
              <a:rPr lang="ko-KR" altLang="en-US" sz="1000" dirty="0" err="1">
                <a:solidFill>
                  <a:schemeClr val="tx1"/>
                </a:solidFill>
              </a:rPr>
              <a:t>폐달을</a:t>
            </a:r>
            <a:r>
              <a:rPr lang="ko-KR" altLang="en-US" sz="1000" dirty="0">
                <a:solidFill>
                  <a:schemeClr val="tx1"/>
                </a:solidFill>
              </a:rPr>
              <a:t> 포함하는 자전거</a:t>
            </a:r>
          </a:p>
        </p:txBody>
      </p:sp>
      <p:sp>
        <p:nvSpPr>
          <p:cNvPr id="89" name="타원 88"/>
          <p:cNvSpPr/>
          <p:nvPr/>
        </p:nvSpPr>
        <p:spPr>
          <a:xfrm>
            <a:off x="4276661" y="3951322"/>
            <a:ext cx="216024" cy="216024"/>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endParaRPr lang="ko-KR" altLang="en-US"/>
          </a:p>
        </p:txBody>
      </p:sp>
      <p:sp>
        <p:nvSpPr>
          <p:cNvPr id="90" name="TextBox 89"/>
          <p:cNvSpPr txBox="1"/>
          <p:nvPr/>
        </p:nvSpPr>
        <p:spPr>
          <a:xfrm>
            <a:off x="4144301" y="3610497"/>
            <a:ext cx="476412" cy="276999"/>
          </a:xfrm>
          <a:prstGeom prst="rect">
            <a:avLst/>
          </a:prstGeom>
          <a:noFill/>
        </p:spPr>
        <p:txBody>
          <a:bodyPr wrap="none" rtlCol="0">
            <a:spAutoFit/>
          </a:bodyPr>
          <a:lstStyle/>
          <a:p>
            <a:r>
              <a:rPr lang="ko-KR" altLang="en-US" sz="1200" dirty="0"/>
              <a:t>출원</a:t>
            </a:r>
          </a:p>
        </p:txBody>
      </p:sp>
      <p:sp>
        <p:nvSpPr>
          <p:cNvPr id="91" name="TextBox 90"/>
          <p:cNvSpPr txBox="1"/>
          <p:nvPr/>
        </p:nvSpPr>
        <p:spPr>
          <a:xfrm>
            <a:off x="1622165" y="3616021"/>
            <a:ext cx="649928" cy="276999"/>
          </a:xfrm>
          <a:prstGeom prst="rect">
            <a:avLst/>
          </a:prstGeom>
          <a:noFill/>
        </p:spPr>
        <p:txBody>
          <a:bodyPr wrap="square" rtlCol="0">
            <a:spAutoFit/>
          </a:bodyPr>
          <a:lstStyle/>
          <a:p>
            <a:pPr algn="ctr"/>
            <a:r>
              <a:rPr lang="ko-KR" altLang="en-US" sz="1200" dirty="0"/>
              <a:t>공지</a:t>
            </a:r>
            <a:r>
              <a:rPr lang="en-US" altLang="ko-KR" sz="1200" dirty="0"/>
              <a:t>2</a:t>
            </a:r>
            <a:endParaRPr lang="ko-KR" altLang="en-US" sz="1200" dirty="0"/>
          </a:p>
        </p:txBody>
      </p:sp>
      <p:sp>
        <p:nvSpPr>
          <p:cNvPr id="92" name="타원 91"/>
          <p:cNvSpPr/>
          <p:nvPr/>
        </p:nvSpPr>
        <p:spPr>
          <a:xfrm>
            <a:off x="1826533" y="3951322"/>
            <a:ext cx="216024" cy="216024"/>
          </a:xfrm>
          <a:prstGeom prst="ellipse">
            <a:avLst/>
          </a:prstGeom>
        </p:spPr>
        <p:style>
          <a:lnRef idx="0">
            <a:schemeClr val="accent2"/>
          </a:lnRef>
          <a:fillRef idx="3">
            <a:schemeClr val="accent2"/>
          </a:fillRef>
          <a:effectRef idx="3">
            <a:schemeClr val="accent2"/>
          </a:effectRef>
          <a:fontRef idx="minor">
            <a:schemeClr val="lt1"/>
          </a:fontRef>
        </p:style>
        <p:txBody>
          <a:bodyPr rtlCol="0" anchor="ctr"/>
          <a:lstStyle/>
          <a:p>
            <a:pPr algn="ctr"/>
            <a:endParaRPr lang="ko-KR" altLang="en-US"/>
          </a:p>
        </p:txBody>
      </p:sp>
      <p:sp>
        <p:nvSpPr>
          <p:cNvPr id="94" name="직사각형 93"/>
          <p:cNvSpPr/>
          <p:nvPr/>
        </p:nvSpPr>
        <p:spPr>
          <a:xfrm>
            <a:off x="3740029" y="4258569"/>
            <a:ext cx="1368152" cy="1764196"/>
          </a:xfrm>
          <a:prstGeom prst="rect">
            <a:avLst/>
          </a:prstGeom>
        </p:spPr>
        <p:style>
          <a:lnRef idx="2">
            <a:schemeClr val="accent5"/>
          </a:lnRef>
          <a:fillRef idx="1">
            <a:schemeClr val="lt1"/>
          </a:fillRef>
          <a:effectRef idx="0">
            <a:schemeClr val="accent5"/>
          </a:effectRef>
          <a:fontRef idx="minor">
            <a:schemeClr val="dk1"/>
          </a:fontRef>
        </p:style>
        <p:txBody>
          <a:bodyPr rtlCol="0" anchor="ctr">
            <a:noAutofit/>
          </a:bodyPr>
          <a:lstStyle/>
          <a:p>
            <a:pPr marL="228600" indent="-228600">
              <a:buAutoNum type="arabicPeriod"/>
            </a:pPr>
            <a:r>
              <a:rPr lang="ko-KR" altLang="en-US" sz="1000" dirty="0">
                <a:solidFill>
                  <a:schemeClr val="tx1"/>
                </a:solidFill>
              </a:rPr>
              <a:t>핸들</a:t>
            </a:r>
            <a:r>
              <a:rPr lang="en-US" altLang="ko-KR" sz="1000" dirty="0">
                <a:solidFill>
                  <a:schemeClr val="tx1"/>
                </a:solidFill>
              </a:rPr>
              <a:t>, </a:t>
            </a:r>
            <a:r>
              <a:rPr lang="ko-KR" altLang="en-US" sz="1000" dirty="0">
                <a:solidFill>
                  <a:schemeClr val="tx1"/>
                </a:solidFill>
              </a:rPr>
              <a:t>바퀴</a:t>
            </a:r>
            <a:r>
              <a:rPr lang="en-US" altLang="ko-KR" sz="1000" dirty="0">
                <a:solidFill>
                  <a:schemeClr val="tx1"/>
                </a:solidFill>
              </a:rPr>
              <a:t>, </a:t>
            </a:r>
            <a:r>
              <a:rPr lang="ko-KR" altLang="en-US" sz="1000" dirty="0">
                <a:solidFill>
                  <a:schemeClr val="tx1"/>
                </a:solidFill>
              </a:rPr>
              <a:t>바디</a:t>
            </a:r>
            <a:r>
              <a:rPr lang="en-US" altLang="ko-KR" sz="1000" dirty="0">
                <a:solidFill>
                  <a:schemeClr val="tx1"/>
                </a:solidFill>
              </a:rPr>
              <a:t>, </a:t>
            </a:r>
            <a:r>
              <a:rPr lang="ko-KR" altLang="en-US" sz="1000" dirty="0" err="1">
                <a:solidFill>
                  <a:schemeClr val="tx1"/>
                </a:solidFill>
              </a:rPr>
              <a:t>폐달</a:t>
            </a:r>
            <a:r>
              <a:rPr lang="en-US" altLang="ko-KR" sz="1000" dirty="0">
                <a:solidFill>
                  <a:schemeClr val="tx1"/>
                </a:solidFill>
              </a:rPr>
              <a:t> </a:t>
            </a:r>
            <a:r>
              <a:rPr lang="ko-KR" altLang="en-US" sz="1000" dirty="0">
                <a:solidFill>
                  <a:schemeClr val="tx1"/>
                </a:solidFill>
              </a:rPr>
              <a:t>및 </a:t>
            </a:r>
            <a:r>
              <a:rPr lang="ko-KR" altLang="en-US" sz="1000" dirty="0" err="1">
                <a:solidFill>
                  <a:schemeClr val="tx1"/>
                </a:solidFill>
              </a:rPr>
              <a:t>라이트를</a:t>
            </a:r>
            <a:r>
              <a:rPr lang="ko-KR" altLang="en-US" sz="1000" dirty="0">
                <a:solidFill>
                  <a:schemeClr val="tx1"/>
                </a:solidFill>
              </a:rPr>
              <a:t> 포함하는 자전거</a:t>
            </a:r>
            <a:endParaRPr lang="en-US" altLang="ko-KR" sz="1000" dirty="0">
              <a:solidFill>
                <a:schemeClr val="tx1"/>
              </a:solidFill>
            </a:endParaRPr>
          </a:p>
          <a:p>
            <a:pPr marL="228600" indent="-228600">
              <a:buAutoNum type="arabicPeriod"/>
            </a:pPr>
            <a:r>
              <a:rPr lang="en-US" altLang="ko-KR" sz="1000" dirty="0">
                <a:solidFill>
                  <a:schemeClr val="tx1"/>
                </a:solidFill>
              </a:rPr>
              <a:t>1</a:t>
            </a:r>
            <a:r>
              <a:rPr lang="ko-KR" altLang="en-US" sz="1000" dirty="0">
                <a:solidFill>
                  <a:schemeClr val="tx1"/>
                </a:solidFill>
              </a:rPr>
              <a:t>항에 있어서</a:t>
            </a:r>
            <a:r>
              <a:rPr lang="en-US" altLang="ko-KR" sz="1000" dirty="0">
                <a:solidFill>
                  <a:schemeClr val="tx1"/>
                </a:solidFill>
              </a:rPr>
              <a:t>, </a:t>
            </a:r>
            <a:r>
              <a:rPr lang="ko-KR" altLang="en-US" sz="1000" dirty="0">
                <a:solidFill>
                  <a:schemeClr val="tx1"/>
                </a:solidFill>
              </a:rPr>
              <a:t>안장을 더 포함하는 자전거</a:t>
            </a:r>
            <a:endParaRPr lang="en-US" altLang="ko-KR" sz="1000" dirty="0">
              <a:solidFill>
                <a:schemeClr val="tx1"/>
              </a:solidFill>
            </a:endParaRPr>
          </a:p>
          <a:p>
            <a:pPr marL="228600" indent="-228600">
              <a:buAutoNum type="arabicPeriod"/>
            </a:pPr>
            <a:r>
              <a:rPr lang="en-US" altLang="ko-KR" sz="1000" dirty="0">
                <a:solidFill>
                  <a:schemeClr val="tx1"/>
                </a:solidFill>
              </a:rPr>
              <a:t>1</a:t>
            </a:r>
            <a:r>
              <a:rPr lang="ko-KR" altLang="en-US" sz="1000" dirty="0">
                <a:solidFill>
                  <a:schemeClr val="tx1"/>
                </a:solidFill>
              </a:rPr>
              <a:t>항에 있어서</a:t>
            </a:r>
            <a:r>
              <a:rPr lang="en-US" altLang="ko-KR" sz="1000" dirty="0">
                <a:solidFill>
                  <a:schemeClr val="tx1"/>
                </a:solidFill>
              </a:rPr>
              <a:t>, </a:t>
            </a:r>
            <a:r>
              <a:rPr lang="ko-KR" altLang="en-US" sz="1000" dirty="0">
                <a:solidFill>
                  <a:schemeClr val="tx1"/>
                </a:solidFill>
              </a:rPr>
              <a:t>기어를 더 포함하는 자전거</a:t>
            </a:r>
            <a:r>
              <a:rPr lang="en-US" altLang="ko-KR" sz="1000" dirty="0">
                <a:solidFill>
                  <a:schemeClr val="tx1"/>
                </a:solidFill>
              </a:rPr>
              <a:t>  </a:t>
            </a:r>
          </a:p>
        </p:txBody>
      </p:sp>
      <p:sp>
        <p:nvSpPr>
          <p:cNvPr id="96" name="TextBox 95"/>
          <p:cNvSpPr txBox="1"/>
          <p:nvPr/>
        </p:nvSpPr>
        <p:spPr>
          <a:xfrm>
            <a:off x="773747" y="3627366"/>
            <a:ext cx="561372" cy="276999"/>
          </a:xfrm>
          <a:prstGeom prst="rect">
            <a:avLst/>
          </a:prstGeom>
          <a:noFill/>
        </p:spPr>
        <p:txBody>
          <a:bodyPr wrap="none" rtlCol="0">
            <a:spAutoFit/>
          </a:bodyPr>
          <a:lstStyle/>
          <a:p>
            <a:r>
              <a:rPr lang="ko-KR" altLang="en-US" sz="1200" dirty="0"/>
              <a:t>공지</a:t>
            </a:r>
            <a:r>
              <a:rPr lang="en-US" altLang="ko-KR" sz="1200" dirty="0"/>
              <a:t>1</a:t>
            </a:r>
            <a:endParaRPr lang="ko-KR" altLang="en-US" sz="1200" dirty="0"/>
          </a:p>
        </p:txBody>
      </p:sp>
      <p:sp>
        <p:nvSpPr>
          <p:cNvPr id="97" name="타원 96"/>
          <p:cNvSpPr/>
          <p:nvPr/>
        </p:nvSpPr>
        <p:spPr>
          <a:xfrm>
            <a:off x="6772593" y="3951322"/>
            <a:ext cx="216024" cy="216024"/>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algn="ctr"/>
            <a:endParaRPr lang="ko-KR" altLang="en-US"/>
          </a:p>
        </p:txBody>
      </p:sp>
      <p:sp>
        <p:nvSpPr>
          <p:cNvPr id="98" name="TextBox 97"/>
          <p:cNvSpPr txBox="1"/>
          <p:nvPr/>
        </p:nvSpPr>
        <p:spPr>
          <a:xfrm>
            <a:off x="6304541" y="3610496"/>
            <a:ext cx="1224136" cy="276999"/>
          </a:xfrm>
          <a:prstGeom prst="rect">
            <a:avLst/>
          </a:prstGeom>
          <a:noFill/>
        </p:spPr>
        <p:txBody>
          <a:bodyPr wrap="square" rtlCol="0">
            <a:spAutoFit/>
          </a:bodyPr>
          <a:lstStyle/>
          <a:p>
            <a:pPr algn="ctr"/>
            <a:r>
              <a:rPr lang="ko-KR" altLang="en-US" sz="1200" dirty="0">
                <a:solidFill>
                  <a:schemeClr val="tx2">
                    <a:lumMod val="75000"/>
                  </a:schemeClr>
                </a:solidFill>
              </a:rPr>
              <a:t>침해소송제기</a:t>
            </a:r>
          </a:p>
        </p:txBody>
      </p:sp>
      <p:sp>
        <p:nvSpPr>
          <p:cNvPr id="99" name="직사각형 98"/>
          <p:cNvSpPr/>
          <p:nvPr/>
        </p:nvSpPr>
        <p:spPr>
          <a:xfrm>
            <a:off x="1480005" y="4258569"/>
            <a:ext cx="1080120" cy="1764196"/>
          </a:xfrm>
          <a:prstGeom prst="rect">
            <a:avLst/>
          </a:prstGeom>
        </p:spPr>
        <p:style>
          <a:lnRef idx="2">
            <a:schemeClr val="accent2"/>
          </a:lnRef>
          <a:fillRef idx="1">
            <a:schemeClr val="lt1"/>
          </a:fillRef>
          <a:effectRef idx="0">
            <a:schemeClr val="accent2"/>
          </a:effectRef>
          <a:fontRef idx="minor">
            <a:schemeClr val="dk1"/>
          </a:fontRef>
        </p:style>
        <p:txBody>
          <a:bodyPr rtlCol="0" anchor="ctr">
            <a:noAutofit/>
          </a:bodyPr>
          <a:lstStyle/>
          <a:p>
            <a:r>
              <a:rPr lang="ko-KR" altLang="en-US" sz="1000" dirty="0">
                <a:solidFill>
                  <a:schemeClr val="tx1"/>
                </a:solidFill>
              </a:rPr>
              <a:t>핸들</a:t>
            </a:r>
            <a:r>
              <a:rPr lang="en-US" altLang="ko-KR" sz="1000" dirty="0">
                <a:solidFill>
                  <a:schemeClr val="tx1"/>
                </a:solidFill>
              </a:rPr>
              <a:t>, </a:t>
            </a:r>
            <a:r>
              <a:rPr lang="ko-KR" altLang="en-US" sz="1000" dirty="0">
                <a:solidFill>
                  <a:schemeClr val="tx1"/>
                </a:solidFill>
              </a:rPr>
              <a:t>바퀴</a:t>
            </a:r>
            <a:r>
              <a:rPr lang="en-US" altLang="ko-KR" sz="1000" dirty="0">
                <a:solidFill>
                  <a:schemeClr val="tx1"/>
                </a:solidFill>
              </a:rPr>
              <a:t>, </a:t>
            </a:r>
            <a:r>
              <a:rPr lang="ko-KR" altLang="en-US" sz="1000" dirty="0">
                <a:solidFill>
                  <a:schemeClr val="tx1"/>
                </a:solidFill>
              </a:rPr>
              <a:t>바디</a:t>
            </a:r>
            <a:r>
              <a:rPr lang="en-US" altLang="ko-KR" sz="1000" dirty="0">
                <a:solidFill>
                  <a:schemeClr val="tx1"/>
                </a:solidFill>
              </a:rPr>
              <a:t> </a:t>
            </a:r>
            <a:r>
              <a:rPr lang="ko-KR" altLang="en-US" sz="1000" dirty="0">
                <a:solidFill>
                  <a:schemeClr val="tx1"/>
                </a:solidFill>
              </a:rPr>
              <a:t>및</a:t>
            </a:r>
            <a:r>
              <a:rPr lang="en-US" altLang="ko-KR" sz="1000" dirty="0">
                <a:solidFill>
                  <a:schemeClr val="tx1"/>
                </a:solidFill>
              </a:rPr>
              <a:t> </a:t>
            </a:r>
            <a:r>
              <a:rPr lang="ko-KR" altLang="en-US" sz="1000" dirty="0">
                <a:solidFill>
                  <a:schemeClr val="tx1"/>
                </a:solidFill>
              </a:rPr>
              <a:t>안장을 포함하는 자전거</a:t>
            </a:r>
          </a:p>
        </p:txBody>
      </p:sp>
      <p:sp>
        <p:nvSpPr>
          <p:cNvPr id="100" name="직사각형 99"/>
          <p:cNvSpPr/>
          <p:nvPr/>
        </p:nvSpPr>
        <p:spPr>
          <a:xfrm>
            <a:off x="2607393" y="4258569"/>
            <a:ext cx="1080120" cy="1764196"/>
          </a:xfrm>
          <a:prstGeom prst="rect">
            <a:avLst/>
          </a:prstGeom>
        </p:spPr>
        <p:style>
          <a:lnRef idx="2">
            <a:schemeClr val="accent4"/>
          </a:lnRef>
          <a:fillRef idx="1">
            <a:schemeClr val="lt1"/>
          </a:fillRef>
          <a:effectRef idx="0">
            <a:schemeClr val="accent4"/>
          </a:effectRef>
          <a:fontRef idx="minor">
            <a:schemeClr val="dk1"/>
          </a:fontRef>
        </p:style>
        <p:txBody>
          <a:bodyPr rtlCol="0" anchor="ctr">
            <a:noAutofit/>
          </a:bodyPr>
          <a:lstStyle/>
          <a:p>
            <a:r>
              <a:rPr lang="ko-KR" altLang="en-US" sz="1000" dirty="0">
                <a:solidFill>
                  <a:schemeClr val="tx1"/>
                </a:solidFill>
              </a:rPr>
              <a:t>핸들</a:t>
            </a:r>
            <a:r>
              <a:rPr lang="en-US" altLang="ko-KR" sz="1000" dirty="0">
                <a:solidFill>
                  <a:schemeClr val="tx1"/>
                </a:solidFill>
              </a:rPr>
              <a:t>, </a:t>
            </a:r>
            <a:r>
              <a:rPr lang="ko-KR" altLang="en-US" sz="1000" dirty="0">
                <a:solidFill>
                  <a:schemeClr val="tx1"/>
                </a:solidFill>
              </a:rPr>
              <a:t>바퀴</a:t>
            </a:r>
            <a:r>
              <a:rPr lang="en-US" altLang="ko-KR" sz="1000" dirty="0">
                <a:solidFill>
                  <a:schemeClr val="tx1"/>
                </a:solidFill>
              </a:rPr>
              <a:t>, </a:t>
            </a:r>
            <a:r>
              <a:rPr lang="ko-KR" altLang="en-US" sz="1000" dirty="0">
                <a:solidFill>
                  <a:schemeClr val="tx1"/>
                </a:solidFill>
              </a:rPr>
              <a:t>바디</a:t>
            </a:r>
            <a:r>
              <a:rPr lang="en-US" altLang="ko-KR" sz="1000" dirty="0">
                <a:solidFill>
                  <a:schemeClr val="tx1"/>
                </a:solidFill>
              </a:rPr>
              <a:t> </a:t>
            </a:r>
            <a:r>
              <a:rPr lang="ko-KR" altLang="en-US" sz="1000" dirty="0">
                <a:solidFill>
                  <a:schemeClr val="tx1"/>
                </a:solidFill>
              </a:rPr>
              <a:t>및 </a:t>
            </a:r>
            <a:r>
              <a:rPr lang="ko-KR" altLang="en-US" sz="1000" dirty="0" err="1">
                <a:solidFill>
                  <a:schemeClr val="tx1"/>
                </a:solidFill>
              </a:rPr>
              <a:t>라이트를</a:t>
            </a:r>
            <a:r>
              <a:rPr lang="ko-KR" altLang="en-US" sz="1000" dirty="0">
                <a:solidFill>
                  <a:schemeClr val="tx1"/>
                </a:solidFill>
              </a:rPr>
              <a:t> 포함하는 자전거</a:t>
            </a:r>
          </a:p>
        </p:txBody>
      </p:sp>
      <p:sp>
        <p:nvSpPr>
          <p:cNvPr id="101" name="직사각형 100"/>
          <p:cNvSpPr/>
          <p:nvPr/>
        </p:nvSpPr>
        <p:spPr>
          <a:xfrm>
            <a:off x="5368437" y="4258569"/>
            <a:ext cx="1080120" cy="1764196"/>
          </a:xfrm>
          <a:prstGeom prst="rect">
            <a:avLst/>
          </a:prstGeom>
        </p:spPr>
        <p:style>
          <a:lnRef idx="2">
            <a:schemeClr val="accent3"/>
          </a:lnRef>
          <a:fillRef idx="1">
            <a:schemeClr val="lt1"/>
          </a:fillRef>
          <a:effectRef idx="0">
            <a:schemeClr val="accent3"/>
          </a:effectRef>
          <a:fontRef idx="minor">
            <a:schemeClr val="dk1"/>
          </a:fontRef>
        </p:style>
        <p:txBody>
          <a:bodyPr rtlCol="0" anchor="ctr">
            <a:noAutofit/>
          </a:bodyPr>
          <a:lstStyle/>
          <a:p>
            <a:r>
              <a:rPr lang="ko-KR" altLang="en-US" sz="1000" dirty="0">
                <a:solidFill>
                  <a:schemeClr val="tx1"/>
                </a:solidFill>
              </a:rPr>
              <a:t>핸들</a:t>
            </a:r>
            <a:r>
              <a:rPr lang="en-US" altLang="ko-KR" sz="1000" dirty="0">
                <a:solidFill>
                  <a:schemeClr val="tx1"/>
                </a:solidFill>
              </a:rPr>
              <a:t>, </a:t>
            </a:r>
            <a:r>
              <a:rPr lang="ko-KR" altLang="en-US" sz="1000" dirty="0">
                <a:solidFill>
                  <a:schemeClr val="tx1"/>
                </a:solidFill>
              </a:rPr>
              <a:t>바퀴</a:t>
            </a:r>
            <a:r>
              <a:rPr lang="en-US" altLang="ko-KR" sz="1000" dirty="0">
                <a:solidFill>
                  <a:schemeClr val="tx1"/>
                </a:solidFill>
              </a:rPr>
              <a:t>, </a:t>
            </a:r>
            <a:r>
              <a:rPr lang="ko-KR" altLang="en-US" sz="1000" dirty="0">
                <a:solidFill>
                  <a:schemeClr val="tx1"/>
                </a:solidFill>
              </a:rPr>
              <a:t>바디</a:t>
            </a:r>
            <a:r>
              <a:rPr lang="en-US" altLang="ko-KR" sz="1000" dirty="0">
                <a:solidFill>
                  <a:schemeClr val="tx1"/>
                </a:solidFill>
              </a:rPr>
              <a:t>, </a:t>
            </a:r>
            <a:r>
              <a:rPr lang="ko-KR" altLang="en-US" sz="1000" dirty="0" err="1">
                <a:solidFill>
                  <a:schemeClr val="tx1"/>
                </a:solidFill>
              </a:rPr>
              <a:t>폐달</a:t>
            </a:r>
            <a:r>
              <a:rPr lang="en-US" altLang="ko-KR" sz="1000" dirty="0">
                <a:solidFill>
                  <a:schemeClr val="tx1"/>
                </a:solidFill>
              </a:rPr>
              <a:t>, </a:t>
            </a:r>
            <a:r>
              <a:rPr lang="ko-KR" altLang="en-US" sz="1000" dirty="0" err="1">
                <a:solidFill>
                  <a:schemeClr val="tx1"/>
                </a:solidFill>
              </a:rPr>
              <a:t>라이트</a:t>
            </a:r>
            <a:r>
              <a:rPr lang="en-US" altLang="ko-KR" sz="1000" dirty="0">
                <a:solidFill>
                  <a:schemeClr val="tx1"/>
                </a:solidFill>
              </a:rPr>
              <a:t>, </a:t>
            </a:r>
            <a:r>
              <a:rPr lang="ko-KR" altLang="en-US" sz="1000" dirty="0">
                <a:solidFill>
                  <a:schemeClr val="tx1"/>
                </a:solidFill>
              </a:rPr>
              <a:t>안장 및 기어를 포함하는 자전거</a:t>
            </a:r>
          </a:p>
        </p:txBody>
      </p:sp>
      <p:sp>
        <p:nvSpPr>
          <p:cNvPr id="102" name="타원 101"/>
          <p:cNvSpPr/>
          <p:nvPr/>
        </p:nvSpPr>
        <p:spPr>
          <a:xfrm>
            <a:off x="7535689" y="3951322"/>
            <a:ext cx="216024" cy="216024"/>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ko-KR" altLang="en-US"/>
          </a:p>
        </p:txBody>
      </p:sp>
      <p:sp>
        <p:nvSpPr>
          <p:cNvPr id="103" name="TextBox 102"/>
          <p:cNvSpPr txBox="1"/>
          <p:nvPr/>
        </p:nvSpPr>
        <p:spPr>
          <a:xfrm>
            <a:off x="7036061" y="4212476"/>
            <a:ext cx="1224136" cy="276999"/>
          </a:xfrm>
          <a:prstGeom prst="rect">
            <a:avLst/>
          </a:prstGeom>
          <a:noFill/>
        </p:spPr>
        <p:txBody>
          <a:bodyPr wrap="square" rtlCol="0">
            <a:spAutoFit/>
          </a:bodyPr>
          <a:lstStyle/>
          <a:p>
            <a:pPr algn="ctr"/>
            <a:r>
              <a:rPr lang="ko-KR" altLang="en-US" sz="1200" dirty="0">
                <a:solidFill>
                  <a:schemeClr val="tx2">
                    <a:lumMod val="75000"/>
                  </a:schemeClr>
                </a:solidFill>
              </a:rPr>
              <a:t>무효심판청구</a:t>
            </a:r>
          </a:p>
        </p:txBody>
      </p:sp>
      <p:sp>
        <p:nvSpPr>
          <p:cNvPr id="104" name="TextBox 103"/>
          <p:cNvSpPr txBox="1"/>
          <p:nvPr/>
        </p:nvSpPr>
        <p:spPr>
          <a:xfrm>
            <a:off x="433910" y="3432134"/>
            <a:ext cx="1156086" cy="246221"/>
          </a:xfrm>
          <a:prstGeom prst="rect">
            <a:avLst/>
          </a:prstGeom>
          <a:noFill/>
        </p:spPr>
        <p:txBody>
          <a:bodyPr wrap="none" rtlCol="0">
            <a:spAutoFit/>
          </a:bodyPr>
          <a:lstStyle/>
          <a:p>
            <a:r>
              <a:rPr lang="en-US" altLang="ko-KR" sz="1000" dirty="0">
                <a:solidFill>
                  <a:srgbClr val="FF0000"/>
                </a:solidFill>
              </a:rPr>
              <a:t>(</a:t>
            </a:r>
            <a:r>
              <a:rPr lang="ko-KR" altLang="en-US" sz="1000" dirty="0">
                <a:solidFill>
                  <a:srgbClr val="FF0000"/>
                </a:solidFill>
              </a:rPr>
              <a:t>심사관 </a:t>
            </a:r>
            <a:r>
              <a:rPr lang="en-US" altLang="ko-KR" sz="1000" dirty="0">
                <a:solidFill>
                  <a:srgbClr val="FF0000"/>
                </a:solidFill>
              </a:rPr>
              <a:t>SEARCH)</a:t>
            </a:r>
            <a:endParaRPr lang="ko-KR" altLang="en-US" sz="1000" dirty="0">
              <a:solidFill>
                <a:srgbClr val="FF0000"/>
              </a:solidFill>
            </a:endParaRPr>
          </a:p>
        </p:txBody>
      </p:sp>
      <p:sp>
        <p:nvSpPr>
          <p:cNvPr id="105" name="TextBox 104"/>
          <p:cNvSpPr txBox="1"/>
          <p:nvPr/>
        </p:nvSpPr>
        <p:spPr>
          <a:xfrm>
            <a:off x="1407997" y="3432134"/>
            <a:ext cx="1156086" cy="246221"/>
          </a:xfrm>
          <a:prstGeom prst="rect">
            <a:avLst/>
          </a:prstGeom>
          <a:noFill/>
        </p:spPr>
        <p:txBody>
          <a:bodyPr wrap="none" rtlCol="0">
            <a:spAutoFit/>
          </a:bodyPr>
          <a:lstStyle/>
          <a:p>
            <a:r>
              <a:rPr lang="en-US" altLang="ko-KR" sz="1000" dirty="0">
                <a:solidFill>
                  <a:srgbClr val="FF0000"/>
                </a:solidFill>
              </a:rPr>
              <a:t>(</a:t>
            </a:r>
            <a:r>
              <a:rPr lang="ko-KR" altLang="en-US" sz="1000" dirty="0">
                <a:solidFill>
                  <a:srgbClr val="FF0000"/>
                </a:solidFill>
              </a:rPr>
              <a:t>심사관 </a:t>
            </a:r>
            <a:r>
              <a:rPr lang="en-US" altLang="ko-KR" sz="1000" dirty="0">
                <a:solidFill>
                  <a:srgbClr val="FF0000"/>
                </a:solidFill>
              </a:rPr>
              <a:t>SEARCH)</a:t>
            </a:r>
            <a:endParaRPr lang="ko-KR" altLang="en-US" sz="1000" dirty="0">
              <a:solidFill>
                <a:srgbClr val="FF0000"/>
              </a:solidFill>
            </a:endParaRPr>
          </a:p>
        </p:txBody>
      </p:sp>
      <p:sp>
        <p:nvSpPr>
          <p:cNvPr id="106" name="TextBox 105"/>
          <p:cNvSpPr txBox="1"/>
          <p:nvPr/>
        </p:nvSpPr>
        <p:spPr>
          <a:xfrm>
            <a:off x="2565492" y="3432134"/>
            <a:ext cx="1104790" cy="246221"/>
          </a:xfrm>
          <a:prstGeom prst="rect">
            <a:avLst/>
          </a:prstGeom>
          <a:noFill/>
        </p:spPr>
        <p:txBody>
          <a:bodyPr wrap="none" rtlCol="0">
            <a:spAutoFit/>
          </a:bodyPr>
          <a:lstStyle/>
          <a:p>
            <a:r>
              <a:rPr lang="en-US" altLang="ko-KR" sz="1000" dirty="0">
                <a:solidFill>
                  <a:schemeClr val="accent4"/>
                </a:solidFill>
              </a:rPr>
              <a:t>(</a:t>
            </a:r>
            <a:r>
              <a:rPr lang="ko-KR" altLang="en-US" sz="1000" dirty="0">
                <a:solidFill>
                  <a:schemeClr val="accent4"/>
                </a:solidFill>
              </a:rPr>
              <a:t>제</a:t>
            </a:r>
            <a:r>
              <a:rPr lang="en-US" altLang="ko-KR" sz="1000" dirty="0">
                <a:solidFill>
                  <a:schemeClr val="accent4"/>
                </a:solidFill>
              </a:rPr>
              <a:t>3</a:t>
            </a:r>
            <a:r>
              <a:rPr lang="ko-KR" altLang="en-US" sz="1000" dirty="0">
                <a:solidFill>
                  <a:schemeClr val="accent4"/>
                </a:solidFill>
              </a:rPr>
              <a:t>자 </a:t>
            </a:r>
            <a:r>
              <a:rPr lang="en-US" altLang="ko-KR" sz="1000" dirty="0">
                <a:solidFill>
                  <a:schemeClr val="accent4"/>
                </a:solidFill>
              </a:rPr>
              <a:t>SEARCH)</a:t>
            </a:r>
            <a:endParaRPr lang="ko-KR" altLang="en-US" sz="1000" dirty="0">
              <a:solidFill>
                <a:schemeClr val="accent4"/>
              </a:solidFill>
            </a:endParaRPr>
          </a:p>
        </p:txBody>
      </p:sp>
      <p:sp>
        <p:nvSpPr>
          <p:cNvPr id="107" name="TextBox 106"/>
          <p:cNvSpPr txBox="1"/>
          <p:nvPr/>
        </p:nvSpPr>
        <p:spPr>
          <a:xfrm>
            <a:off x="6581581" y="5136851"/>
            <a:ext cx="1883199" cy="576064"/>
          </a:xfrm>
          <a:prstGeom prst="rect">
            <a:avLst/>
          </a:prstGeom>
          <a:noFill/>
        </p:spPr>
        <p:txBody>
          <a:bodyPr wrap="square" rtlCol="0">
            <a:noAutofit/>
          </a:bodyPr>
          <a:lstStyle/>
          <a:p>
            <a:pPr marL="0" lvl="1" algn="just">
              <a:defRPr/>
            </a:pPr>
            <a:r>
              <a:rPr lang="ko-KR" altLang="en-US" sz="2400" b="1" dirty="0" err="1">
                <a:solidFill>
                  <a:srgbClr val="FF0000"/>
                </a:solidFill>
                <a:cs typeface="맑은 고딕"/>
              </a:rPr>
              <a:t>청구항</a:t>
            </a:r>
            <a:r>
              <a:rPr lang="en-US" altLang="ko-KR" sz="2400" b="1" dirty="0">
                <a:solidFill>
                  <a:srgbClr val="FF0000"/>
                </a:solidFill>
                <a:cs typeface="맑은 고딕"/>
              </a:rPr>
              <a:t> 2, 3</a:t>
            </a:r>
            <a:r>
              <a:rPr lang="ko-KR" altLang="en-US" sz="2400" b="1" dirty="0">
                <a:solidFill>
                  <a:srgbClr val="FF0000"/>
                </a:solidFill>
                <a:cs typeface="맑은 고딕"/>
              </a:rPr>
              <a:t>의 가치</a:t>
            </a:r>
            <a:r>
              <a:rPr lang="en-US" altLang="ko-KR" sz="2400" b="1" dirty="0">
                <a:solidFill>
                  <a:srgbClr val="FF0000"/>
                </a:solidFill>
                <a:cs typeface="맑은 고딕"/>
              </a:rPr>
              <a:t>?</a:t>
            </a:r>
            <a:endParaRPr lang="ko-KR" altLang="en-US" sz="2400" b="1" dirty="0">
              <a:solidFill>
                <a:srgbClr val="FF0000"/>
              </a:solidFill>
              <a:cs typeface="맑은 고딕"/>
            </a:endParaRPr>
          </a:p>
        </p:txBody>
      </p:sp>
      <p:graphicFrame>
        <p:nvGraphicFramePr>
          <p:cNvPr id="108" name="표 107"/>
          <p:cNvGraphicFramePr>
            <a:graphicFrameLocks noGrp="1"/>
          </p:cNvGraphicFramePr>
          <p:nvPr/>
        </p:nvGraphicFramePr>
        <p:xfrm>
          <a:off x="8675198" y="3026456"/>
          <a:ext cx="3347522" cy="3672840"/>
        </p:xfrm>
        <a:graphic>
          <a:graphicData uri="http://schemas.openxmlformats.org/drawingml/2006/table">
            <a:tbl>
              <a:tblPr>
                <a:tableStyleId>{BC89EF96-8CEA-46FF-86C4-4CE0E7609802}</a:tableStyleId>
              </a:tblPr>
              <a:tblGrid>
                <a:gridCol w="208280">
                  <a:extLst>
                    <a:ext uri="{9D8B030D-6E8A-4147-A177-3AD203B41FA5}">
                      <a16:colId xmlns:a16="http://schemas.microsoft.com/office/drawing/2014/main" val="20000"/>
                    </a:ext>
                  </a:extLst>
                </a:gridCol>
                <a:gridCol w="523207">
                  <a:extLst>
                    <a:ext uri="{9D8B030D-6E8A-4147-A177-3AD203B41FA5}">
                      <a16:colId xmlns:a16="http://schemas.microsoft.com/office/drawing/2014/main" val="20001"/>
                    </a:ext>
                  </a:extLst>
                </a:gridCol>
                <a:gridCol w="523207">
                  <a:extLst>
                    <a:ext uri="{9D8B030D-6E8A-4147-A177-3AD203B41FA5}">
                      <a16:colId xmlns:a16="http://schemas.microsoft.com/office/drawing/2014/main" val="20002"/>
                    </a:ext>
                  </a:extLst>
                </a:gridCol>
                <a:gridCol w="523207">
                  <a:extLst>
                    <a:ext uri="{9D8B030D-6E8A-4147-A177-3AD203B41FA5}">
                      <a16:colId xmlns:a16="http://schemas.microsoft.com/office/drawing/2014/main" val="20003"/>
                    </a:ext>
                  </a:extLst>
                </a:gridCol>
                <a:gridCol w="523207">
                  <a:extLst>
                    <a:ext uri="{9D8B030D-6E8A-4147-A177-3AD203B41FA5}">
                      <a16:colId xmlns:a16="http://schemas.microsoft.com/office/drawing/2014/main" val="20004"/>
                    </a:ext>
                  </a:extLst>
                </a:gridCol>
                <a:gridCol w="523207">
                  <a:extLst>
                    <a:ext uri="{9D8B030D-6E8A-4147-A177-3AD203B41FA5}">
                      <a16:colId xmlns:a16="http://schemas.microsoft.com/office/drawing/2014/main" val="20005"/>
                    </a:ext>
                  </a:extLst>
                </a:gridCol>
                <a:gridCol w="523207">
                  <a:extLst>
                    <a:ext uri="{9D8B030D-6E8A-4147-A177-3AD203B41FA5}">
                      <a16:colId xmlns:a16="http://schemas.microsoft.com/office/drawing/2014/main" val="20006"/>
                    </a:ext>
                  </a:extLst>
                </a:gridCol>
              </a:tblGrid>
              <a:tr h="276754">
                <a:tc gridSpan="2">
                  <a:txBody>
                    <a:bodyPr/>
                    <a:lstStyle/>
                    <a:p>
                      <a:pPr latinLnBrk="1"/>
                      <a:r>
                        <a:rPr lang="ko-KR" altLang="en-US" sz="700" b="1" dirty="0"/>
                        <a:t>출원발명</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dirty="0"/>
                    </a:p>
                  </a:txBody>
                  <a:tcPr/>
                </a:tc>
                <a:tc>
                  <a:txBody>
                    <a:bodyPr/>
                    <a:lstStyle/>
                    <a:p>
                      <a:pPr latinLnBrk="1"/>
                      <a:r>
                        <a:rPr lang="ko-KR" altLang="en-US" sz="700" b="1" dirty="0"/>
                        <a:t>공지</a:t>
                      </a:r>
                      <a:r>
                        <a:rPr lang="en-US" altLang="ko-KR" sz="700" b="1" dirty="0"/>
                        <a:t>1</a:t>
                      </a:r>
                      <a:endParaRPr lang="ko-KR" altLang="en-US" sz="700" b="1"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latinLnBrk="1"/>
                      <a:r>
                        <a:rPr lang="ko-KR" altLang="en-US" sz="700" b="1" dirty="0"/>
                        <a:t>공지</a:t>
                      </a:r>
                      <a:r>
                        <a:rPr lang="en-US" altLang="ko-KR" sz="700" b="1" dirty="0"/>
                        <a:t>2</a:t>
                      </a:r>
                      <a:endParaRPr lang="ko-KR" altLang="en-US" sz="700" b="1"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latinLnBrk="1"/>
                      <a:r>
                        <a:rPr lang="ko-KR" altLang="en-US" sz="700" b="1" dirty="0"/>
                        <a:t>심사</a:t>
                      </a:r>
                      <a:endParaRPr lang="en-US" altLang="ko-KR" sz="700" b="1" dirty="0"/>
                    </a:p>
                    <a:p>
                      <a:pPr latinLnBrk="1"/>
                      <a:r>
                        <a:rPr lang="en-US" altLang="ko-KR" sz="700" b="1" dirty="0"/>
                        <a:t>(1&amp;2)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latinLnBrk="1"/>
                      <a:r>
                        <a:rPr lang="ko-KR" altLang="en-US" sz="700" b="1" dirty="0"/>
                        <a:t>공지</a:t>
                      </a:r>
                      <a:r>
                        <a:rPr lang="en-US" altLang="ko-KR" sz="700" b="1" dirty="0"/>
                        <a:t>3</a:t>
                      </a:r>
                      <a:endParaRPr lang="ko-KR" altLang="en-US" sz="700" b="1"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latinLnBrk="1"/>
                      <a:r>
                        <a:rPr lang="ko-KR" altLang="en-US" sz="700" b="1" dirty="0"/>
                        <a:t>심판</a:t>
                      </a:r>
                      <a:endParaRPr lang="en-US" altLang="ko-KR" sz="700" b="1" dirty="0"/>
                    </a:p>
                    <a:p>
                      <a:pPr latinLnBrk="1"/>
                      <a:r>
                        <a:rPr lang="en-US" altLang="ko-KR" sz="700" b="1" dirty="0"/>
                        <a:t>(1&amp;2&amp;3)</a:t>
                      </a:r>
                      <a:endParaRPr lang="ko-KR" altLang="en-US" sz="700" b="1"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164667">
                <a:tc rowSpan="5">
                  <a:txBody>
                    <a:bodyPr/>
                    <a:lstStyle/>
                    <a:p>
                      <a:pPr latinLnBrk="1"/>
                      <a:r>
                        <a:rPr lang="en-US" altLang="ko-KR" sz="700" dirty="0"/>
                        <a:t>1</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lang="ko-KR" altLang="en-US" sz="700" dirty="0"/>
                        <a:t>핸들</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1" lang="en-US" altLang="ko-KR" sz="700" u="none" strike="noStrike" cap="none" normalizeH="0" baseline="0" dirty="0">
                          <a:ln>
                            <a:noFill/>
                          </a:ln>
                          <a:effectLst/>
                        </a:rPr>
                        <a:t>O</a:t>
                      </a:r>
                      <a:endParaRPr kumimoji="1" lang="en-US" altLang="ko-KR" sz="7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1" lang="en-US" altLang="ko-KR" sz="700" u="none" strike="noStrike" cap="none" normalizeH="0" baseline="0" dirty="0">
                          <a:ln>
                            <a:noFill/>
                          </a:ln>
                          <a:effectLst/>
                        </a:rPr>
                        <a:t>O</a:t>
                      </a:r>
                      <a:endParaRPr kumimoji="1" lang="en-US" altLang="ko-KR" sz="7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indent="0" algn="l" defTabSz="914400" rtl="0" eaLnBrk="1" fontAlgn="auto" latinLnBrk="1" hangingPunct="1">
                        <a:lnSpc>
                          <a:spcPct val="100000"/>
                        </a:lnSpc>
                        <a:spcBef>
                          <a:spcPts val="0"/>
                        </a:spcBef>
                        <a:spcAft>
                          <a:spcPts val="0"/>
                        </a:spcAft>
                        <a:buClrTx/>
                        <a:buSzTx/>
                        <a:buFontTx/>
                        <a:buNone/>
                        <a:tabLst/>
                        <a:defRPr/>
                      </a:pPr>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1"/>
                  </a:ext>
                </a:extLst>
              </a:tr>
              <a:tr h="164667">
                <a:tc vMerge="1">
                  <a:txBody>
                    <a:bodyPr/>
                    <a:lstStyle/>
                    <a:p>
                      <a:pPr latinLnBrk="1"/>
                      <a:endParaRPr lang="ko-KR" altLang="en-US" sz="1400" dirty="0"/>
                    </a:p>
                  </a:txBody>
                  <a:tcPr/>
                </a:tc>
                <a:tc>
                  <a:txBody>
                    <a:bodyPr/>
                    <a:lstStyle/>
                    <a:p>
                      <a:pPr latinLnBrk="1"/>
                      <a:r>
                        <a:rPr lang="ko-KR" altLang="en-US" sz="700" dirty="0"/>
                        <a:t>바퀴</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1" lang="en-US" altLang="ko-KR" sz="700" u="none" strike="noStrike" cap="none" normalizeH="0" baseline="0" dirty="0">
                          <a:ln>
                            <a:noFill/>
                          </a:ln>
                          <a:effectLst/>
                        </a:rPr>
                        <a:t>O</a:t>
                      </a:r>
                      <a:endParaRPr kumimoji="1" lang="en-US" altLang="ko-KR" sz="7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2"/>
                  </a:ext>
                </a:extLst>
              </a:tr>
              <a:tr h="164667">
                <a:tc vMerge="1">
                  <a:txBody>
                    <a:bodyPr/>
                    <a:lstStyle/>
                    <a:p>
                      <a:pPr latinLnBrk="1"/>
                      <a:endParaRPr lang="ko-KR" altLang="en-US" sz="1400" dirty="0"/>
                    </a:p>
                  </a:txBody>
                  <a:tcPr/>
                </a:tc>
                <a:tc>
                  <a:txBody>
                    <a:bodyPr/>
                    <a:lstStyle/>
                    <a:p>
                      <a:pPr latinLnBrk="1"/>
                      <a:r>
                        <a:rPr lang="ko-KR" altLang="en-US" sz="700" dirty="0"/>
                        <a:t>바디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3"/>
                  </a:ext>
                </a:extLst>
              </a:tr>
              <a:tr h="164667">
                <a:tc vMerge="1">
                  <a:txBody>
                    <a:bodyPr/>
                    <a:lstStyle/>
                    <a:p>
                      <a:pPr latinLnBrk="1"/>
                      <a:endParaRPr lang="ko-KR" altLang="en-US" sz="1400" dirty="0"/>
                    </a:p>
                  </a:txBody>
                  <a:tcPr/>
                </a:tc>
                <a:tc>
                  <a:txBody>
                    <a:bodyPr/>
                    <a:lstStyle/>
                    <a:p>
                      <a:pPr latinLnBrk="1"/>
                      <a:r>
                        <a:rPr lang="ko-KR" altLang="en-US" sz="700" dirty="0" err="1"/>
                        <a:t>폐달</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4"/>
                  </a:ext>
                </a:extLst>
              </a:tr>
              <a:tr h="164667">
                <a:tc vMerge="1">
                  <a:txBody>
                    <a:bodyPr/>
                    <a:lstStyle/>
                    <a:p>
                      <a:pPr latinLnBrk="1"/>
                      <a:endParaRPr lang="ko-KR" altLang="en-US" sz="1400" dirty="0"/>
                    </a:p>
                  </a:txBody>
                  <a:tcPr/>
                </a:tc>
                <a:tc>
                  <a:txBody>
                    <a:bodyPr/>
                    <a:lstStyle/>
                    <a:p>
                      <a:pPr latinLnBrk="1"/>
                      <a:r>
                        <a:rPr lang="ko-KR" altLang="en-US" sz="700" dirty="0" err="1"/>
                        <a:t>라이트</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pPr latinLnBrk="1"/>
                      <a:r>
                        <a:rPr kumimoji="1" lang="en-US" altLang="ko-KR" sz="700" u="none" strike="noStrike" cap="none" normalizeH="0" baseline="0">
                          <a:ln>
                            <a:noFill/>
                          </a:ln>
                          <a:effectLst/>
                        </a:rPr>
                        <a:t>O</a:t>
                      </a:r>
                      <a:endParaRPr lang="en-US" altLang="ko-KR" sz="70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solidFill>
                            <a:srgbClr val="FFFF00"/>
                          </a:solidFill>
                          <a:effectLst/>
                        </a:rPr>
                        <a:t>O</a:t>
                      </a:r>
                      <a:endParaRPr lang="ko-KR" altLang="en-US" sz="700" dirty="0">
                        <a:solidFill>
                          <a:srgbClr val="FFFF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extLst>
                  <a:ext uri="{0D108BD9-81ED-4DB2-BD59-A6C34878D82A}">
                    <a16:rowId xmlns:a16="http://schemas.microsoft.com/office/drawing/2014/main" val="10005"/>
                  </a:ext>
                </a:extLst>
              </a:tr>
              <a:tr h="164667">
                <a:tc rowSpan="6">
                  <a:txBody>
                    <a:bodyPr/>
                    <a:lstStyle/>
                    <a:p>
                      <a:pPr latinLnBrk="1"/>
                      <a:r>
                        <a:rPr lang="en-US" altLang="ko-KR" sz="700" dirty="0"/>
                        <a:t>2</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lang="ko-KR" altLang="en-US" sz="700" dirty="0"/>
                        <a:t>핸들</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6"/>
                  </a:ext>
                </a:extLst>
              </a:tr>
              <a:tr h="164667">
                <a:tc vMerge="1">
                  <a:txBody>
                    <a:bodyPr/>
                    <a:lstStyle/>
                    <a:p>
                      <a:pPr latinLnBrk="1"/>
                      <a:endParaRPr lang="ko-KR" altLang="en-US" sz="1400"/>
                    </a:p>
                  </a:txBody>
                  <a:tcPr/>
                </a:tc>
                <a:tc>
                  <a:txBody>
                    <a:bodyPr/>
                    <a:lstStyle/>
                    <a:p>
                      <a:pPr latinLnBrk="1"/>
                      <a:r>
                        <a:rPr lang="ko-KR" altLang="en-US" sz="700" dirty="0"/>
                        <a:t>바퀴</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7"/>
                  </a:ext>
                </a:extLst>
              </a:tr>
              <a:tr h="164667">
                <a:tc vMerge="1">
                  <a:txBody>
                    <a:bodyPr/>
                    <a:lstStyle/>
                    <a:p>
                      <a:pPr latinLnBrk="1"/>
                      <a:endParaRPr lang="ko-KR" altLang="en-US" sz="1400" dirty="0"/>
                    </a:p>
                  </a:txBody>
                  <a:tcPr/>
                </a:tc>
                <a:tc>
                  <a:txBody>
                    <a:bodyPr/>
                    <a:lstStyle/>
                    <a:p>
                      <a:pPr latinLnBrk="1"/>
                      <a:r>
                        <a:rPr lang="ko-KR" altLang="en-US" sz="700" dirty="0"/>
                        <a:t>바디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8"/>
                  </a:ext>
                </a:extLst>
              </a:tr>
              <a:tr h="164667">
                <a:tc vMerge="1">
                  <a:txBody>
                    <a:bodyPr/>
                    <a:lstStyle/>
                    <a:p>
                      <a:pPr latinLnBrk="1"/>
                      <a:endParaRPr lang="ko-KR" altLang="en-US" sz="1400"/>
                    </a:p>
                  </a:txBody>
                  <a:tcPr/>
                </a:tc>
                <a:tc>
                  <a:txBody>
                    <a:bodyPr/>
                    <a:lstStyle/>
                    <a:p>
                      <a:pPr latinLnBrk="1"/>
                      <a:r>
                        <a:rPr lang="ko-KR" altLang="en-US" sz="700" dirty="0" err="1"/>
                        <a:t>폐달</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09"/>
                  </a:ext>
                </a:extLst>
              </a:tr>
              <a:tr h="164667">
                <a:tc vMerge="1">
                  <a:txBody>
                    <a:bodyPr/>
                    <a:lstStyle/>
                    <a:p>
                      <a:pPr latinLnBrk="1"/>
                      <a:endParaRPr lang="ko-KR" altLang="en-US" sz="1400" dirty="0"/>
                    </a:p>
                  </a:txBody>
                  <a:tcPr/>
                </a:tc>
                <a:tc>
                  <a:txBody>
                    <a:bodyPr/>
                    <a:lstStyle/>
                    <a:p>
                      <a:pPr latinLnBrk="1"/>
                      <a:r>
                        <a:rPr lang="ko-KR" altLang="en-US" sz="700" dirty="0" err="1"/>
                        <a:t>라이트</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solidFill>
                            <a:srgbClr val="FFFF00"/>
                          </a:solidFill>
                          <a:effectLst/>
                        </a:rPr>
                        <a:t>O</a:t>
                      </a:r>
                      <a:endParaRPr lang="ko-KR" altLang="en-US" sz="700" dirty="0">
                        <a:solidFill>
                          <a:srgbClr val="FFFF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solidFill>
                  </a:tcPr>
                </a:tc>
                <a:extLst>
                  <a:ext uri="{0D108BD9-81ED-4DB2-BD59-A6C34878D82A}">
                    <a16:rowId xmlns:a16="http://schemas.microsoft.com/office/drawing/2014/main" val="10010"/>
                  </a:ext>
                </a:extLst>
              </a:tr>
              <a:tr h="164667">
                <a:tc vMerge="1">
                  <a:txBody>
                    <a:bodyPr/>
                    <a:lstStyle/>
                    <a:p>
                      <a:pPr latinLnBrk="1"/>
                      <a:endParaRPr lang="ko-KR" altLang="en-US" sz="1400" dirty="0"/>
                    </a:p>
                  </a:txBody>
                  <a:tcPr/>
                </a:tc>
                <a:tc>
                  <a:txBody>
                    <a:bodyPr/>
                    <a:lstStyle/>
                    <a:p>
                      <a:pPr latinLnBrk="1"/>
                      <a:r>
                        <a:rPr lang="ko-KR" altLang="en-US" sz="700" dirty="0"/>
                        <a:t>안장</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11"/>
                  </a:ext>
                </a:extLst>
              </a:tr>
              <a:tr h="164667">
                <a:tc rowSpan="6">
                  <a:txBody>
                    <a:bodyPr/>
                    <a:lstStyle/>
                    <a:p>
                      <a:pPr latinLnBrk="1"/>
                      <a:r>
                        <a:rPr lang="en-US" altLang="ko-KR" sz="700" dirty="0"/>
                        <a:t>3</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lang="ko-KR" altLang="en-US" sz="700" dirty="0"/>
                        <a:t>핸들</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12"/>
                  </a:ext>
                </a:extLst>
              </a:tr>
              <a:tr h="164667">
                <a:tc vMerge="1">
                  <a:txBody>
                    <a:bodyPr/>
                    <a:lstStyle/>
                    <a:p>
                      <a:pPr latinLnBrk="1"/>
                      <a:endParaRPr lang="ko-KR" altLang="en-US" sz="1400" dirty="0"/>
                    </a:p>
                  </a:txBody>
                  <a:tcPr/>
                </a:tc>
                <a:tc>
                  <a:txBody>
                    <a:bodyPr/>
                    <a:lstStyle/>
                    <a:p>
                      <a:pPr latinLnBrk="1"/>
                      <a:r>
                        <a:rPr lang="ko-KR" altLang="en-US" sz="700" dirty="0"/>
                        <a:t>바퀴</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13"/>
                  </a:ext>
                </a:extLst>
              </a:tr>
              <a:tr h="164667">
                <a:tc vMerge="1">
                  <a:txBody>
                    <a:bodyPr/>
                    <a:lstStyle/>
                    <a:p>
                      <a:pPr latinLnBrk="1"/>
                      <a:endParaRPr lang="ko-KR" altLang="en-US" sz="1400" dirty="0"/>
                    </a:p>
                  </a:txBody>
                  <a:tcPr/>
                </a:tc>
                <a:tc>
                  <a:txBody>
                    <a:bodyPr/>
                    <a:lstStyle/>
                    <a:p>
                      <a:pPr latinLnBrk="1"/>
                      <a:r>
                        <a:rPr lang="ko-KR" altLang="en-US" sz="700" dirty="0"/>
                        <a:t>바디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14"/>
                  </a:ext>
                </a:extLst>
              </a:tr>
              <a:tr h="164667">
                <a:tc vMerge="1">
                  <a:txBody>
                    <a:bodyPr/>
                    <a:lstStyle/>
                    <a:p>
                      <a:pPr latinLnBrk="1"/>
                      <a:endParaRPr lang="ko-KR" altLang="en-US" sz="1400" dirty="0"/>
                    </a:p>
                  </a:txBody>
                  <a:tcPr/>
                </a:tc>
                <a:tc>
                  <a:txBody>
                    <a:bodyPr/>
                    <a:lstStyle/>
                    <a:p>
                      <a:pPr latinLnBrk="1"/>
                      <a:r>
                        <a:rPr lang="ko-KR" altLang="en-US" sz="700" dirty="0" err="1"/>
                        <a:t>폐달</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015"/>
                  </a:ext>
                </a:extLst>
              </a:tr>
              <a:tr h="164667">
                <a:tc vMerge="1">
                  <a:txBody>
                    <a:bodyPr/>
                    <a:lstStyle/>
                    <a:p>
                      <a:pPr latinLnBrk="1"/>
                      <a:endParaRPr lang="ko-KR" altLang="en-US" sz="1400"/>
                    </a:p>
                  </a:txBody>
                  <a:tcPr/>
                </a:tc>
                <a:tc>
                  <a:txBody>
                    <a:bodyPr/>
                    <a:lstStyle/>
                    <a:p>
                      <a:pPr latinLnBrk="1"/>
                      <a:r>
                        <a:rPr lang="ko-KR" altLang="en-US" sz="700" dirty="0" err="1"/>
                        <a:t>라이트</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O</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extLst>
                  <a:ext uri="{0D108BD9-81ED-4DB2-BD59-A6C34878D82A}">
                    <a16:rowId xmlns:a16="http://schemas.microsoft.com/office/drawing/2014/main" val="10016"/>
                  </a:ext>
                </a:extLst>
              </a:tr>
              <a:tr h="164667">
                <a:tc vMerge="1">
                  <a:txBody>
                    <a:bodyPr/>
                    <a:lstStyle/>
                    <a:p>
                      <a:pPr latinLnBrk="1"/>
                      <a:endParaRPr lang="ko-KR" altLang="en-US" sz="1400" dirty="0"/>
                    </a:p>
                  </a:txBody>
                  <a:tcPr/>
                </a:tc>
                <a:tc>
                  <a:txBody>
                    <a:bodyPr/>
                    <a:lstStyle/>
                    <a:p>
                      <a:pPr latinLnBrk="1"/>
                      <a:r>
                        <a:rPr lang="ko-KR" altLang="en-US" sz="700" dirty="0"/>
                        <a:t>기어</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latinLnBrk="1"/>
                      <a:r>
                        <a:rPr kumimoji="1" lang="en-US" altLang="ko-KR" sz="700" u="none" strike="noStrike" cap="none" normalizeH="0" baseline="0" dirty="0">
                          <a:ln>
                            <a:noFill/>
                          </a:ln>
                          <a:effectLst/>
                        </a:rPr>
                        <a:t>X</a:t>
                      </a:r>
                      <a:endParaRPr lang="ko-KR" altLang="en-US" sz="7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extLst>
                  <a:ext uri="{0D108BD9-81ED-4DB2-BD59-A6C34878D82A}">
                    <a16:rowId xmlns:a16="http://schemas.microsoft.com/office/drawing/2014/main" val="10017"/>
                  </a:ext>
                </a:extLst>
              </a:tr>
            </a:tbl>
          </a:graphicData>
        </a:graphic>
      </p:graphicFrame>
    </p:spTree>
    <p:extLst>
      <p:ext uri="{BB962C8B-B14F-4D97-AF65-F5344CB8AC3E}">
        <p14:creationId xmlns:p14="http://schemas.microsoft.com/office/powerpoint/2010/main" val="3085790389"/>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p:cNvSpPr>
            <a:spLocks noGrp="1"/>
          </p:cNvSpPr>
          <p:nvPr>
            <p:ph type="body" sz="quarter" idx="13"/>
          </p:nvPr>
        </p:nvSpPr>
        <p:spPr/>
        <p:txBody>
          <a:bodyPr/>
          <a:lstStyle/>
          <a:p>
            <a:r>
              <a:rPr lang="ko-KR" altLang="en-US" dirty="0" err="1">
                <a:solidFill>
                  <a:srgbClr val="525252"/>
                </a:solidFill>
              </a:rPr>
              <a:t>균등론의</a:t>
            </a:r>
            <a:r>
              <a:rPr lang="ko-KR" altLang="en-US" dirty="0">
                <a:solidFill>
                  <a:srgbClr val="525252"/>
                </a:solidFill>
              </a:rPr>
              <a:t> 적용요건</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333</a:t>
            </a:r>
            <a:endParaRPr lang="ko-KR" altLang="en-US" dirty="0"/>
          </a:p>
        </p:txBody>
      </p:sp>
      <p:sp>
        <p:nvSpPr>
          <p:cNvPr id="6" name="직사각형 5"/>
          <p:cNvSpPr/>
          <p:nvPr/>
        </p:nvSpPr>
        <p:spPr>
          <a:xfrm>
            <a:off x="462322" y="3566860"/>
            <a:ext cx="1092198" cy="914400"/>
          </a:xfrm>
          <a:prstGeom prst="rect">
            <a:avLst/>
          </a:prstGeom>
          <a:solidFill>
            <a:schemeClr val="tx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err="1"/>
              <a:t>균등론</a:t>
            </a:r>
            <a:endParaRPr lang="en-US" altLang="ko-KR" dirty="0"/>
          </a:p>
          <a:p>
            <a:pPr algn="ctr"/>
            <a:r>
              <a:rPr lang="ko-KR" altLang="en-US" dirty="0"/>
              <a:t>적용요건</a:t>
            </a:r>
          </a:p>
        </p:txBody>
      </p:sp>
      <p:sp>
        <p:nvSpPr>
          <p:cNvPr id="7" name="직사각형 6"/>
          <p:cNvSpPr/>
          <p:nvPr/>
        </p:nvSpPr>
        <p:spPr>
          <a:xfrm>
            <a:off x="1953514" y="2694798"/>
            <a:ext cx="1439332" cy="457200"/>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적극적 요건</a:t>
            </a:r>
            <a:endParaRPr lang="en-US" altLang="ko-KR" dirty="0">
              <a:solidFill>
                <a:schemeClr val="tx1"/>
              </a:solidFill>
            </a:endParaRPr>
          </a:p>
          <a:p>
            <a:pPr algn="ctr"/>
            <a:r>
              <a:rPr lang="en-US" altLang="ko-KR" sz="1200" dirty="0">
                <a:solidFill>
                  <a:schemeClr val="tx1"/>
                </a:solidFill>
              </a:rPr>
              <a:t>(</a:t>
            </a:r>
            <a:r>
              <a:rPr lang="ko-KR" altLang="en-US" sz="1200" dirty="0" err="1">
                <a:solidFill>
                  <a:schemeClr val="tx1"/>
                </a:solidFill>
              </a:rPr>
              <a:t>특허권자</a:t>
            </a:r>
            <a:r>
              <a:rPr lang="ko-KR" altLang="en-US" sz="1200" dirty="0">
                <a:solidFill>
                  <a:schemeClr val="tx1"/>
                </a:solidFill>
              </a:rPr>
              <a:t> 주장</a:t>
            </a:r>
            <a:r>
              <a:rPr lang="en-US" altLang="ko-KR" sz="1200" dirty="0">
                <a:solidFill>
                  <a:schemeClr val="tx1"/>
                </a:solidFill>
              </a:rPr>
              <a:t>)</a:t>
            </a:r>
            <a:endParaRPr lang="ko-KR" altLang="en-US" dirty="0">
              <a:solidFill>
                <a:schemeClr val="tx1"/>
              </a:solidFill>
            </a:endParaRPr>
          </a:p>
        </p:txBody>
      </p:sp>
      <p:sp>
        <p:nvSpPr>
          <p:cNvPr id="8" name="직사각형 7"/>
          <p:cNvSpPr/>
          <p:nvPr/>
        </p:nvSpPr>
        <p:spPr>
          <a:xfrm>
            <a:off x="1953514" y="4955394"/>
            <a:ext cx="1439332" cy="457200"/>
          </a:xfrm>
          <a:prstGeom prst="rect">
            <a:avLst/>
          </a:prstGeom>
          <a:solidFill>
            <a:schemeClr val="accent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2">
                    <a:lumMod val="20000"/>
                    <a:lumOff val="80000"/>
                  </a:schemeClr>
                </a:solidFill>
              </a:rPr>
              <a:t>소극적 요건</a:t>
            </a:r>
            <a:endParaRPr lang="en-US" altLang="ko-KR" dirty="0">
              <a:solidFill>
                <a:schemeClr val="tx2">
                  <a:lumMod val="20000"/>
                  <a:lumOff val="80000"/>
                </a:schemeClr>
              </a:solidFill>
            </a:endParaRPr>
          </a:p>
          <a:p>
            <a:pPr algn="ctr"/>
            <a:r>
              <a:rPr lang="en-US" altLang="ko-KR" sz="1200" dirty="0">
                <a:solidFill>
                  <a:schemeClr val="tx2">
                    <a:lumMod val="20000"/>
                    <a:lumOff val="80000"/>
                  </a:schemeClr>
                </a:solidFill>
              </a:rPr>
              <a:t>(</a:t>
            </a:r>
            <a:r>
              <a:rPr lang="ko-KR" altLang="en-US" sz="1200" dirty="0" err="1">
                <a:solidFill>
                  <a:schemeClr val="tx2">
                    <a:lumMod val="20000"/>
                    <a:lumOff val="80000"/>
                  </a:schemeClr>
                </a:solidFill>
              </a:rPr>
              <a:t>실시자</a:t>
            </a:r>
            <a:r>
              <a:rPr lang="ko-KR" altLang="en-US" sz="1200" dirty="0">
                <a:solidFill>
                  <a:schemeClr val="tx2">
                    <a:lumMod val="20000"/>
                    <a:lumOff val="80000"/>
                  </a:schemeClr>
                </a:solidFill>
              </a:rPr>
              <a:t> 항변</a:t>
            </a:r>
            <a:r>
              <a:rPr lang="en-US" altLang="ko-KR" sz="1200" dirty="0">
                <a:solidFill>
                  <a:schemeClr val="tx2">
                    <a:lumMod val="20000"/>
                    <a:lumOff val="80000"/>
                  </a:schemeClr>
                </a:solidFill>
              </a:rPr>
              <a:t>)</a:t>
            </a:r>
            <a:endParaRPr lang="ko-KR" altLang="en-US" dirty="0">
              <a:solidFill>
                <a:schemeClr val="tx2">
                  <a:lumMod val="20000"/>
                  <a:lumOff val="80000"/>
                </a:schemeClr>
              </a:solidFill>
            </a:endParaRPr>
          </a:p>
        </p:txBody>
      </p:sp>
      <p:cxnSp>
        <p:nvCxnSpPr>
          <p:cNvPr id="3" name="꺾인 연결선 2"/>
          <p:cNvCxnSpPr>
            <a:stCxn id="6" idx="3"/>
            <a:endCxn id="7" idx="1"/>
          </p:cNvCxnSpPr>
          <p:nvPr/>
        </p:nvCxnSpPr>
        <p:spPr>
          <a:xfrm flipV="1">
            <a:off x="1554520" y="2923398"/>
            <a:ext cx="398994" cy="110066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꺾인 연결선 9"/>
          <p:cNvCxnSpPr>
            <a:stCxn id="6" idx="3"/>
            <a:endCxn id="8" idx="1"/>
          </p:cNvCxnSpPr>
          <p:nvPr/>
        </p:nvCxnSpPr>
        <p:spPr>
          <a:xfrm>
            <a:off x="1554520" y="4024060"/>
            <a:ext cx="398994" cy="115993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직사각형 11"/>
          <p:cNvSpPr/>
          <p:nvPr/>
        </p:nvSpPr>
        <p:spPr>
          <a:xfrm>
            <a:off x="3719871" y="1573687"/>
            <a:ext cx="3488265" cy="50885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400" dirty="0">
                <a:solidFill>
                  <a:schemeClr val="tx1"/>
                </a:solidFill>
              </a:rPr>
              <a:t>과제의 </a:t>
            </a:r>
            <a:r>
              <a:rPr lang="ko-KR" altLang="en-US" sz="1400" dirty="0" err="1">
                <a:solidFill>
                  <a:schemeClr val="tx1"/>
                </a:solidFill>
              </a:rPr>
              <a:t>해결원리가</a:t>
            </a:r>
            <a:r>
              <a:rPr lang="ko-KR" altLang="en-US" sz="1400" dirty="0">
                <a:solidFill>
                  <a:schemeClr val="tx1"/>
                </a:solidFill>
              </a:rPr>
              <a:t> 동일</a:t>
            </a:r>
            <a:endParaRPr lang="en-US" altLang="ko-KR" sz="1400" dirty="0">
              <a:solidFill>
                <a:schemeClr val="tx1"/>
              </a:solidFill>
            </a:endParaRPr>
          </a:p>
        </p:txBody>
      </p:sp>
      <p:sp>
        <p:nvSpPr>
          <p:cNvPr id="13" name="직사각형 12"/>
          <p:cNvSpPr/>
          <p:nvPr/>
        </p:nvSpPr>
        <p:spPr>
          <a:xfrm>
            <a:off x="3719871" y="2718236"/>
            <a:ext cx="3488265" cy="50885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400" dirty="0">
                <a:solidFill>
                  <a:schemeClr val="tx1"/>
                </a:solidFill>
              </a:rPr>
              <a:t>변경가능성이 있을 것</a:t>
            </a:r>
            <a:r>
              <a:rPr lang="en-US" altLang="ko-KR" sz="1400" dirty="0">
                <a:solidFill>
                  <a:srgbClr val="FF0000"/>
                </a:solidFill>
              </a:rPr>
              <a:t>(</a:t>
            </a:r>
            <a:r>
              <a:rPr lang="ko-KR" altLang="en-US" sz="1400" dirty="0">
                <a:solidFill>
                  <a:srgbClr val="FF0000"/>
                </a:solidFill>
              </a:rPr>
              <a:t>작용효과가 실질적 동일</a:t>
            </a:r>
            <a:r>
              <a:rPr lang="en-US" altLang="ko-KR" sz="1400" dirty="0">
                <a:solidFill>
                  <a:srgbClr val="FF0000"/>
                </a:solidFill>
              </a:rPr>
              <a:t>)</a:t>
            </a:r>
            <a:endParaRPr lang="ko-KR" altLang="en-US" sz="1400" dirty="0">
              <a:solidFill>
                <a:srgbClr val="FF0000"/>
              </a:solidFill>
            </a:endParaRPr>
          </a:p>
        </p:txBody>
      </p:sp>
      <p:sp>
        <p:nvSpPr>
          <p:cNvPr id="14" name="직사각형 13"/>
          <p:cNvSpPr/>
          <p:nvPr/>
        </p:nvSpPr>
        <p:spPr>
          <a:xfrm>
            <a:off x="3719871" y="3748283"/>
            <a:ext cx="3488265" cy="50885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400" dirty="0">
                <a:solidFill>
                  <a:schemeClr val="tx1"/>
                </a:solidFill>
              </a:rPr>
              <a:t>변경용이성이 있을 것</a:t>
            </a:r>
            <a:endParaRPr lang="en-US" altLang="ko-KR" sz="1400" dirty="0">
              <a:solidFill>
                <a:schemeClr val="tx1"/>
              </a:solidFill>
            </a:endParaRPr>
          </a:p>
          <a:p>
            <a:r>
              <a:rPr lang="en-US" altLang="ko-KR" sz="1200" dirty="0">
                <a:solidFill>
                  <a:schemeClr val="tx1"/>
                </a:solidFill>
              </a:rPr>
              <a:t>(</a:t>
            </a:r>
            <a:r>
              <a:rPr lang="ko-KR" altLang="en-US" sz="1200" dirty="0" err="1">
                <a:solidFill>
                  <a:schemeClr val="tx1"/>
                </a:solidFill>
              </a:rPr>
              <a:t>침해시를</a:t>
            </a:r>
            <a:r>
              <a:rPr lang="ko-KR" altLang="en-US" sz="1200" dirty="0">
                <a:solidFill>
                  <a:schemeClr val="tx1"/>
                </a:solidFill>
              </a:rPr>
              <a:t> 기준으로 판단</a:t>
            </a:r>
            <a:r>
              <a:rPr lang="en-US" altLang="ko-KR" sz="1200" dirty="0">
                <a:solidFill>
                  <a:schemeClr val="tx1"/>
                </a:solidFill>
              </a:rPr>
              <a:t>)</a:t>
            </a:r>
            <a:endParaRPr lang="ko-KR" altLang="en-US" sz="1400" dirty="0">
              <a:solidFill>
                <a:schemeClr val="tx1"/>
              </a:solidFill>
            </a:endParaRPr>
          </a:p>
        </p:txBody>
      </p:sp>
      <p:sp>
        <p:nvSpPr>
          <p:cNvPr id="16" name="직사각형 15"/>
          <p:cNvSpPr/>
          <p:nvPr/>
        </p:nvSpPr>
        <p:spPr>
          <a:xfrm>
            <a:off x="3719871" y="4837100"/>
            <a:ext cx="3488265" cy="50885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400" dirty="0">
                <a:solidFill>
                  <a:schemeClr val="tx1"/>
                </a:solidFill>
              </a:rPr>
              <a:t>확인대상발명이 공지기술이 아닐 것</a:t>
            </a:r>
            <a:endParaRPr lang="en-US" altLang="ko-KR" sz="1400" dirty="0">
              <a:solidFill>
                <a:schemeClr val="tx1"/>
              </a:solidFill>
            </a:endParaRPr>
          </a:p>
          <a:p>
            <a:r>
              <a:rPr lang="en-US" altLang="ko-KR" sz="1200" dirty="0">
                <a:solidFill>
                  <a:schemeClr val="tx1"/>
                </a:solidFill>
              </a:rPr>
              <a:t>(</a:t>
            </a:r>
            <a:r>
              <a:rPr lang="ko-KR" altLang="en-US" sz="1200" dirty="0">
                <a:solidFill>
                  <a:schemeClr val="tx1"/>
                </a:solidFill>
              </a:rPr>
              <a:t>자유기술의 항변</a:t>
            </a:r>
            <a:r>
              <a:rPr lang="en-US" altLang="ko-KR" sz="1200" dirty="0">
                <a:solidFill>
                  <a:schemeClr val="tx1"/>
                </a:solidFill>
              </a:rPr>
              <a:t>)</a:t>
            </a:r>
            <a:endParaRPr lang="ko-KR" altLang="en-US" sz="1200" dirty="0">
              <a:solidFill>
                <a:schemeClr val="tx1"/>
              </a:solidFill>
            </a:endParaRPr>
          </a:p>
        </p:txBody>
      </p:sp>
      <p:sp>
        <p:nvSpPr>
          <p:cNvPr id="17" name="직사각형 16"/>
          <p:cNvSpPr/>
          <p:nvPr/>
        </p:nvSpPr>
        <p:spPr>
          <a:xfrm>
            <a:off x="3719871" y="5830258"/>
            <a:ext cx="3488265" cy="50885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400" dirty="0">
                <a:solidFill>
                  <a:schemeClr val="tx1"/>
                </a:solidFill>
              </a:rPr>
              <a:t>의식적으로 제외된 것이 아닐 것</a:t>
            </a:r>
            <a:endParaRPr lang="en-US" altLang="ko-KR" sz="1400" dirty="0">
              <a:solidFill>
                <a:schemeClr val="tx1"/>
              </a:solidFill>
            </a:endParaRPr>
          </a:p>
          <a:p>
            <a:r>
              <a:rPr lang="en-US" altLang="ko-KR" sz="1200" dirty="0">
                <a:solidFill>
                  <a:schemeClr val="tx1"/>
                </a:solidFill>
              </a:rPr>
              <a:t>(</a:t>
            </a:r>
            <a:r>
              <a:rPr lang="ko-KR" altLang="en-US" sz="1200" dirty="0">
                <a:solidFill>
                  <a:schemeClr val="tx1"/>
                </a:solidFill>
              </a:rPr>
              <a:t>출원경과참작의 항변</a:t>
            </a:r>
            <a:r>
              <a:rPr lang="en-US" altLang="ko-KR" sz="1200" dirty="0">
                <a:solidFill>
                  <a:schemeClr val="tx1"/>
                </a:solidFill>
              </a:rPr>
              <a:t>)</a:t>
            </a:r>
            <a:endParaRPr lang="ko-KR" altLang="en-US" sz="1200" dirty="0">
              <a:solidFill>
                <a:schemeClr val="tx1"/>
              </a:solidFill>
            </a:endParaRPr>
          </a:p>
        </p:txBody>
      </p:sp>
      <p:sp>
        <p:nvSpPr>
          <p:cNvPr id="18" name="직사각형 17"/>
          <p:cNvSpPr/>
          <p:nvPr/>
        </p:nvSpPr>
        <p:spPr>
          <a:xfrm>
            <a:off x="220134" y="980467"/>
            <a:ext cx="1151466" cy="49065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bg1">
                    <a:lumMod val="50000"/>
                  </a:schemeClr>
                </a:solidFill>
              </a:rPr>
              <a:t>특허발명</a:t>
            </a:r>
            <a:endParaRPr lang="en-US" altLang="ko-KR" sz="1600" dirty="0">
              <a:solidFill>
                <a:schemeClr val="bg1">
                  <a:lumMod val="50000"/>
                </a:schemeClr>
              </a:solidFill>
            </a:endParaRPr>
          </a:p>
          <a:p>
            <a:pPr algn="ctr"/>
            <a:r>
              <a:rPr lang="en-US" altLang="ko-KR" sz="1600" dirty="0">
                <a:solidFill>
                  <a:schemeClr val="bg1">
                    <a:lumMod val="50000"/>
                  </a:schemeClr>
                </a:solidFill>
              </a:rPr>
              <a:t>(A+B)</a:t>
            </a:r>
            <a:endParaRPr lang="ko-KR" altLang="en-US" sz="1600" dirty="0">
              <a:solidFill>
                <a:schemeClr val="bg1">
                  <a:lumMod val="50000"/>
                </a:schemeClr>
              </a:solidFill>
            </a:endParaRPr>
          </a:p>
        </p:txBody>
      </p:sp>
      <p:sp>
        <p:nvSpPr>
          <p:cNvPr id="19" name="직사각형 18"/>
          <p:cNvSpPr/>
          <p:nvPr/>
        </p:nvSpPr>
        <p:spPr>
          <a:xfrm>
            <a:off x="2226734" y="980467"/>
            <a:ext cx="1481665" cy="49065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bg1">
                    <a:lumMod val="50000"/>
                  </a:schemeClr>
                </a:solidFill>
              </a:rPr>
              <a:t>확인대상발명</a:t>
            </a:r>
            <a:endParaRPr lang="en-US" altLang="ko-KR" sz="1600" dirty="0">
              <a:solidFill>
                <a:schemeClr val="bg1">
                  <a:lumMod val="50000"/>
                </a:schemeClr>
              </a:solidFill>
            </a:endParaRPr>
          </a:p>
          <a:p>
            <a:pPr algn="ctr"/>
            <a:r>
              <a:rPr lang="en-US" altLang="ko-KR" sz="1600" dirty="0">
                <a:solidFill>
                  <a:schemeClr val="bg1">
                    <a:lumMod val="50000"/>
                  </a:schemeClr>
                </a:solidFill>
              </a:rPr>
              <a:t>(A+B1)</a:t>
            </a:r>
            <a:endParaRPr lang="ko-KR" altLang="en-US" sz="1600" dirty="0">
              <a:solidFill>
                <a:schemeClr val="bg1">
                  <a:lumMod val="50000"/>
                </a:schemeClr>
              </a:solidFill>
            </a:endParaRPr>
          </a:p>
        </p:txBody>
      </p:sp>
      <p:sp>
        <p:nvSpPr>
          <p:cNvPr id="20" name="직사각형 19"/>
          <p:cNvSpPr/>
          <p:nvPr/>
        </p:nvSpPr>
        <p:spPr>
          <a:xfrm>
            <a:off x="1371600" y="980467"/>
            <a:ext cx="855134" cy="4906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2400" dirty="0">
                <a:solidFill>
                  <a:schemeClr val="tx1"/>
                </a:solidFill>
              </a:rPr>
              <a:t>vs</a:t>
            </a:r>
            <a:endParaRPr lang="ko-KR" altLang="en-US" sz="2400" dirty="0">
              <a:solidFill>
                <a:schemeClr val="tx1"/>
              </a:solidFill>
            </a:endParaRPr>
          </a:p>
        </p:txBody>
      </p:sp>
      <p:cxnSp>
        <p:nvCxnSpPr>
          <p:cNvPr id="22" name="꺾인 연결선 21"/>
          <p:cNvCxnSpPr>
            <a:stCxn id="7" idx="3"/>
            <a:endCxn id="12" idx="1"/>
          </p:cNvCxnSpPr>
          <p:nvPr/>
        </p:nvCxnSpPr>
        <p:spPr>
          <a:xfrm flipV="1">
            <a:off x="3392846" y="1828112"/>
            <a:ext cx="327025" cy="109528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stCxn id="7" idx="3"/>
            <a:endCxn id="14" idx="1"/>
          </p:cNvCxnSpPr>
          <p:nvPr/>
        </p:nvCxnSpPr>
        <p:spPr>
          <a:xfrm>
            <a:off x="3392846" y="2923398"/>
            <a:ext cx="327025" cy="107931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stCxn id="7" idx="3"/>
            <a:endCxn id="13" idx="1"/>
          </p:cNvCxnSpPr>
          <p:nvPr/>
        </p:nvCxnSpPr>
        <p:spPr>
          <a:xfrm>
            <a:off x="3392846" y="2923398"/>
            <a:ext cx="327025" cy="4926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stCxn id="8" idx="3"/>
            <a:endCxn id="16" idx="1"/>
          </p:cNvCxnSpPr>
          <p:nvPr/>
        </p:nvCxnSpPr>
        <p:spPr>
          <a:xfrm flipV="1">
            <a:off x="3392846" y="5091525"/>
            <a:ext cx="327025" cy="9246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꺾인 연결선 29"/>
          <p:cNvCxnSpPr>
            <a:stCxn id="8" idx="3"/>
            <a:endCxn id="17" idx="1"/>
          </p:cNvCxnSpPr>
          <p:nvPr/>
        </p:nvCxnSpPr>
        <p:spPr>
          <a:xfrm>
            <a:off x="3392846" y="5183994"/>
            <a:ext cx="327025" cy="90068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3719871" y="5345950"/>
            <a:ext cx="3498073" cy="276999"/>
          </a:xfrm>
          <a:prstGeom prst="rect">
            <a:avLst/>
          </a:prstGeom>
          <a:noFill/>
        </p:spPr>
        <p:txBody>
          <a:bodyPr wrap="square" rtlCol="0">
            <a:noAutofit/>
          </a:bodyPr>
          <a:lstStyle/>
          <a:p>
            <a:r>
              <a:rPr lang="en-US" altLang="ko-KR" sz="1200" b="1" dirty="0">
                <a:solidFill>
                  <a:srgbClr val="FF0000"/>
                </a:solidFill>
              </a:rPr>
              <a:t>A+B1</a:t>
            </a:r>
            <a:r>
              <a:rPr lang="ko-KR" altLang="en-US" sz="1200" b="1" dirty="0">
                <a:solidFill>
                  <a:srgbClr val="FF0000"/>
                </a:solidFill>
              </a:rPr>
              <a:t>이 공지기술과 동일하거나 공지기술로부터 용이하지 않을 것</a:t>
            </a:r>
          </a:p>
        </p:txBody>
      </p:sp>
      <p:sp>
        <p:nvSpPr>
          <p:cNvPr id="35" name="TextBox 34"/>
          <p:cNvSpPr txBox="1"/>
          <p:nvPr/>
        </p:nvSpPr>
        <p:spPr>
          <a:xfrm>
            <a:off x="3719871" y="6341794"/>
            <a:ext cx="3498073" cy="276999"/>
          </a:xfrm>
          <a:prstGeom prst="rect">
            <a:avLst/>
          </a:prstGeom>
          <a:noFill/>
        </p:spPr>
        <p:txBody>
          <a:bodyPr wrap="square" rtlCol="0">
            <a:noAutofit/>
          </a:bodyPr>
          <a:lstStyle/>
          <a:p>
            <a:r>
              <a:rPr lang="en-US" altLang="ko-KR" sz="1200" b="1" dirty="0">
                <a:solidFill>
                  <a:srgbClr val="FF0000"/>
                </a:solidFill>
              </a:rPr>
              <a:t>A+B</a:t>
            </a:r>
            <a:r>
              <a:rPr lang="ko-KR" altLang="en-US" sz="1200" b="1" dirty="0">
                <a:solidFill>
                  <a:srgbClr val="FF0000"/>
                </a:solidFill>
              </a:rPr>
              <a:t> 출원절차를 통하여  </a:t>
            </a:r>
            <a:r>
              <a:rPr lang="en-US" altLang="ko-KR" sz="1200" b="1" dirty="0">
                <a:solidFill>
                  <a:srgbClr val="FF0000"/>
                </a:solidFill>
              </a:rPr>
              <a:t>A+B1</a:t>
            </a:r>
            <a:r>
              <a:rPr lang="ko-KR" altLang="en-US" sz="1200" b="1" dirty="0">
                <a:solidFill>
                  <a:srgbClr val="FF0000"/>
                </a:solidFill>
              </a:rPr>
              <a:t>이 의식적으로 제외된 것이 아닐 것</a:t>
            </a:r>
          </a:p>
        </p:txBody>
      </p:sp>
      <p:sp>
        <p:nvSpPr>
          <p:cNvPr id="36" name="모서리가 둥근 사각형 설명선 35"/>
          <p:cNvSpPr/>
          <p:nvPr/>
        </p:nvSpPr>
        <p:spPr>
          <a:xfrm>
            <a:off x="7535161" y="966197"/>
            <a:ext cx="4345733" cy="1328023"/>
          </a:xfrm>
          <a:prstGeom prst="wedgeRoundRectCallout">
            <a:avLst>
              <a:gd name="adj1" fmla="val -57043"/>
              <a:gd name="adj2" fmla="val 28825"/>
              <a:gd name="adj3" fmla="val 16667"/>
            </a:avLst>
          </a:prstGeom>
          <a:ln>
            <a:solidFill>
              <a:schemeClr val="bg1">
                <a:lumMod val="50000"/>
              </a:schemeClr>
            </a:solidFill>
          </a:ln>
        </p:spPr>
        <p:txBody>
          <a:bodyPr wrap="square">
            <a:spAutoFit/>
          </a:bodyPr>
          <a:lstStyle/>
          <a:p>
            <a:r>
              <a:rPr lang="ko-KR" altLang="en-US" sz="1200" dirty="0">
                <a:solidFill>
                  <a:srgbClr val="FF0000"/>
                </a:solidFill>
              </a:rPr>
              <a:t>과제의 </a:t>
            </a:r>
            <a:r>
              <a:rPr lang="ko-KR" altLang="en-US" sz="1200" dirty="0" err="1">
                <a:solidFill>
                  <a:srgbClr val="FF0000"/>
                </a:solidFill>
              </a:rPr>
              <a:t>해결원리가</a:t>
            </a:r>
            <a:r>
              <a:rPr lang="ko-KR" altLang="en-US" sz="1200" dirty="0">
                <a:solidFill>
                  <a:srgbClr val="FF0000"/>
                </a:solidFill>
              </a:rPr>
              <a:t> 동일한 지 여부를 가릴 때에는 </a:t>
            </a:r>
            <a:r>
              <a:rPr lang="ko-KR" altLang="en-US" sz="1200" dirty="0" err="1"/>
              <a:t>청구범위에</a:t>
            </a:r>
            <a:r>
              <a:rPr lang="ko-KR" altLang="en-US" sz="1200" dirty="0"/>
              <a:t> 기재된 구성의 일부를 형식적으로 추출할 것이 아니라 명세서의 발명의 설명의 기재와 출원 당시의 </a:t>
            </a:r>
            <a:r>
              <a:rPr lang="ko-KR" altLang="en-US" sz="1200" dirty="0" err="1"/>
              <a:t>공지기술</a:t>
            </a:r>
            <a:r>
              <a:rPr lang="ko-KR" altLang="en-US" sz="1200" dirty="0"/>
              <a:t> 등을 참작하여 </a:t>
            </a:r>
            <a:r>
              <a:rPr lang="ko-KR" altLang="en-US" sz="1200" dirty="0" err="1"/>
              <a:t>선행기술과</a:t>
            </a:r>
            <a:r>
              <a:rPr lang="ko-KR" altLang="en-US" sz="1200" dirty="0"/>
              <a:t> 대비하여 볼 때 </a:t>
            </a:r>
            <a:r>
              <a:rPr lang="ko-KR" altLang="en-US" sz="1200" dirty="0" err="1"/>
              <a:t>특허발명에</a:t>
            </a:r>
            <a:r>
              <a:rPr lang="ko-KR" altLang="en-US" sz="1200" dirty="0"/>
              <a:t> 특유한 </a:t>
            </a:r>
            <a:r>
              <a:rPr lang="ko-KR" altLang="en-US" sz="1200" dirty="0" err="1"/>
              <a:t>해결수단이</a:t>
            </a:r>
            <a:r>
              <a:rPr lang="ko-KR" altLang="en-US" sz="1200" dirty="0"/>
              <a:t> 기초하고 있는 </a:t>
            </a:r>
            <a:r>
              <a:rPr lang="ko-KR" altLang="en-US" sz="1200" dirty="0" err="1">
                <a:solidFill>
                  <a:srgbClr val="FF0000"/>
                </a:solidFill>
              </a:rPr>
              <a:t>기술사상의</a:t>
            </a:r>
            <a:r>
              <a:rPr lang="ko-KR" altLang="en-US" sz="1200" dirty="0">
                <a:solidFill>
                  <a:srgbClr val="FF0000"/>
                </a:solidFill>
              </a:rPr>
              <a:t> 핵심이</a:t>
            </a:r>
            <a:r>
              <a:rPr lang="ko-KR" altLang="en-US" sz="1200" dirty="0"/>
              <a:t> 무엇인가를 실질적으로 탐구하여 판단</a:t>
            </a:r>
            <a:r>
              <a:rPr lang="en-US" altLang="ko-KR" sz="1200" dirty="0"/>
              <a:t>(</a:t>
            </a:r>
            <a:r>
              <a:rPr lang="ko-KR" altLang="en-US" sz="1200" dirty="0"/>
              <a:t>대법원 </a:t>
            </a:r>
            <a:r>
              <a:rPr lang="en-US" altLang="ko-KR" sz="1200" dirty="0"/>
              <a:t>2014. 7. 24. </a:t>
            </a:r>
            <a:r>
              <a:rPr lang="ko-KR" altLang="en-US" sz="1200" dirty="0"/>
              <a:t>선고 </a:t>
            </a:r>
            <a:r>
              <a:rPr lang="en-US" altLang="ko-KR" sz="1200" dirty="0"/>
              <a:t>2013</a:t>
            </a:r>
            <a:r>
              <a:rPr lang="ko-KR" altLang="en-US" sz="1200" dirty="0"/>
              <a:t>다</a:t>
            </a:r>
            <a:r>
              <a:rPr lang="en-US" altLang="ko-KR" sz="1200" dirty="0"/>
              <a:t>14361)</a:t>
            </a:r>
            <a:endParaRPr lang="ko-KR" altLang="en-US" sz="1200" dirty="0"/>
          </a:p>
        </p:txBody>
      </p:sp>
      <p:sp>
        <p:nvSpPr>
          <p:cNvPr id="29" name="TextBox 28"/>
          <p:cNvSpPr txBox="1"/>
          <p:nvPr/>
        </p:nvSpPr>
        <p:spPr>
          <a:xfrm>
            <a:off x="3719871" y="2034707"/>
            <a:ext cx="3498073" cy="276999"/>
          </a:xfrm>
          <a:prstGeom prst="rect">
            <a:avLst/>
          </a:prstGeom>
          <a:noFill/>
        </p:spPr>
        <p:txBody>
          <a:bodyPr wrap="square" rtlCol="0">
            <a:noAutofit/>
          </a:bodyPr>
          <a:lstStyle/>
          <a:p>
            <a:r>
              <a:rPr lang="en-US" altLang="ko-KR" sz="1200" b="1" dirty="0">
                <a:solidFill>
                  <a:srgbClr val="FF0000"/>
                </a:solidFill>
              </a:rPr>
              <a:t>B</a:t>
            </a:r>
            <a:r>
              <a:rPr lang="ko-KR" altLang="en-US" sz="1200" b="1" dirty="0">
                <a:solidFill>
                  <a:srgbClr val="FF0000"/>
                </a:solidFill>
              </a:rPr>
              <a:t>와 </a:t>
            </a:r>
            <a:r>
              <a:rPr lang="en-US" altLang="ko-KR" sz="1200" b="1" dirty="0">
                <a:solidFill>
                  <a:srgbClr val="FF0000"/>
                </a:solidFill>
              </a:rPr>
              <a:t>B1</a:t>
            </a:r>
            <a:r>
              <a:rPr lang="ko-KR" altLang="en-US" sz="1200" b="1" dirty="0">
                <a:solidFill>
                  <a:srgbClr val="FF0000"/>
                </a:solidFill>
              </a:rPr>
              <a:t>의 변경된 부분이 있더라도 과제의 </a:t>
            </a:r>
            <a:r>
              <a:rPr lang="ko-KR" altLang="en-US" sz="1200" b="1" dirty="0" err="1">
                <a:solidFill>
                  <a:srgbClr val="FF0000"/>
                </a:solidFill>
              </a:rPr>
              <a:t>해결원리가</a:t>
            </a:r>
            <a:r>
              <a:rPr lang="ko-KR" altLang="en-US" sz="1200" b="1" dirty="0">
                <a:solidFill>
                  <a:srgbClr val="FF0000"/>
                </a:solidFill>
              </a:rPr>
              <a:t> 동일할 것</a:t>
            </a:r>
          </a:p>
        </p:txBody>
      </p:sp>
      <p:sp>
        <p:nvSpPr>
          <p:cNvPr id="37" name="TextBox 36"/>
          <p:cNvSpPr txBox="1"/>
          <p:nvPr/>
        </p:nvSpPr>
        <p:spPr>
          <a:xfrm>
            <a:off x="3719871" y="3224611"/>
            <a:ext cx="3498073" cy="276999"/>
          </a:xfrm>
          <a:prstGeom prst="rect">
            <a:avLst/>
          </a:prstGeom>
          <a:noFill/>
        </p:spPr>
        <p:txBody>
          <a:bodyPr wrap="square" rtlCol="0">
            <a:noAutofit/>
          </a:bodyPr>
          <a:lstStyle/>
          <a:p>
            <a:r>
              <a:rPr lang="en-US" altLang="ko-KR" sz="1200" b="1" dirty="0">
                <a:solidFill>
                  <a:srgbClr val="FF0000"/>
                </a:solidFill>
              </a:rPr>
              <a:t>B</a:t>
            </a:r>
            <a:r>
              <a:rPr lang="ko-KR" altLang="en-US" sz="1200" b="1" dirty="0">
                <a:solidFill>
                  <a:srgbClr val="FF0000"/>
                </a:solidFill>
              </a:rPr>
              <a:t>와 </a:t>
            </a:r>
            <a:r>
              <a:rPr lang="en-US" altLang="ko-KR" sz="1200" b="1" dirty="0">
                <a:solidFill>
                  <a:srgbClr val="FF0000"/>
                </a:solidFill>
              </a:rPr>
              <a:t>B1</a:t>
            </a:r>
            <a:r>
              <a:rPr lang="ko-KR" altLang="en-US" sz="1200" b="1" dirty="0">
                <a:solidFill>
                  <a:srgbClr val="FF0000"/>
                </a:solidFill>
              </a:rPr>
              <a:t>이 작용효과가 실질적 동일한 것</a:t>
            </a:r>
          </a:p>
        </p:txBody>
      </p:sp>
      <p:sp>
        <p:nvSpPr>
          <p:cNvPr id="38" name="TextBox 37"/>
          <p:cNvSpPr txBox="1"/>
          <p:nvPr/>
        </p:nvSpPr>
        <p:spPr>
          <a:xfrm>
            <a:off x="3719871" y="4335220"/>
            <a:ext cx="3498073" cy="276999"/>
          </a:xfrm>
          <a:prstGeom prst="rect">
            <a:avLst/>
          </a:prstGeom>
          <a:noFill/>
        </p:spPr>
        <p:txBody>
          <a:bodyPr wrap="square" rtlCol="0">
            <a:noAutofit/>
          </a:bodyPr>
          <a:lstStyle/>
          <a:p>
            <a:r>
              <a:rPr lang="en-US" altLang="ko-KR" sz="1200" b="1" dirty="0">
                <a:solidFill>
                  <a:srgbClr val="FF0000"/>
                </a:solidFill>
              </a:rPr>
              <a:t>B</a:t>
            </a:r>
            <a:r>
              <a:rPr lang="ko-KR" altLang="en-US" sz="1200" b="1" dirty="0">
                <a:solidFill>
                  <a:srgbClr val="FF0000"/>
                </a:solidFill>
              </a:rPr>
              <a:t>로부터 </a:t>
            </a:r>
            <a:r>
              <a:rPr lang="en-US" altLang="ko-KR" sz="1200" b="1" dirty="0">
                <a:solidFill>
                  <a:srgbClr val="FF0000"/>
                </a:solidFill>
              </a:rPr>
              <a:t>B1</a:t>
            </a:r>
            <a:r>
              <a:rPr lang="ko-KR" altLang="en-US" sz="1200" b="1" dirty="0">
                <a:solidFill>
                  <a:srgbClr val="FF0000"/>
                </a:solidFill>
              </a:rPr>
              <a:t>를 쉽게 변경할 수 있을 것</a:t>
            </a:r>
          </a:p>
        </p:txBody>
      </p:sp>
      <p:sp>
        <p:nvSpPr>
          <p:cNvPr id="31" name="모서리가 둥근 사각형 설명선 35">
            <a:extLst>
              <a:ext uri="{FF2B5EF4-FFF2-40B4-BE49-F238E27FC236}">
                <a16:creationId xmlns:a16="http://schemas.microsoft.com/office/drawing/2014/main" id="{2389E7A8-0254-4325-BD2D-160C07890E64}"/>
              </a:ext>
            </a:extLst>
          </p:cNvPr>
          <p:cNvSpPr/>
          <p:nvPr/>
        </p:nvSpPr>
        <p:spPr>
          <a:xfrm>
            <a:off x="7535161" y="2387569"/>
            <a:ext cx="4345733" cy="3188479"/>
          </a:xfrm>
          <a:prstGeom prst="wedgeRoundRectCallout">
            <a:avLst>
              <a:gd name="adj1" fmla="val -57400"/>
              <a:gd name="adj2" fmla="val -33962"/>
              <a:gd name="adj3" fmla="val 16667"/>
            </a:avLst>
          </a:prstGeom>
          <a:ln>
            <a:solidFill>
              <a:schemeClr val="bg1">
                <a:lumMod val="50000"/>
              </a:schemeClr>
            </a:solidFill>
          </a:ln>
        </p:spPr>
        <p:txBody>
          <a:bodyPr wrap="square">
            <a:noAutofit/>
          </a:bodyPr>
          <a:lstStyle/>
          <a:p>
            <a:r>
              <a:rPr lang="ko-KR" altLang="en-US" sz="1200" dirty="0"/>
              <a:t>작용효과가 실질적으로 동일한지 여부는 </a:t>
            </a:r>
            <a:r>
              <a:rPr lang="ko-KR" altLang="en-US" sz="1200" dirty="0">
                <a:solidFill>
                  <a:srgbClr val="FF0000"/>
                </a:solidFill>
              </a:rPr>
              <a:t>선행기술에서 해결되지 않았던 기술과제로서 특허발명이 해결한 과제를 침해제품 등도 해결하는지를 중심으로 판단</a:t>
            </a:r>
            <a:r>
              <a:rPr lang="ko-KR" altLang="en-US" sz="1200" dirty="0"/>
              <a:t>하여야 한다</a:t>
            </a:r>
            <a:r>
              <a:rPr lang="en-US" altLang="ko-KR" sz="1200" dirty="0"/>
              <a:t>. </a:t>
            </a:r>
            <a:r>
              <a:rPr lang="ko-KR" altLang="en-US" sz="1200" dirty="0"/>
              <a:t>따라서 발명의 설명의 기재와 출원 당시의 공지기술 등을 참작하여 파악되는 </a:t>
            </a:r>
            <a:r>
              <a:rPr lang="ko-KR" altLang="en-US" sz="1200" dirty="0">
                <a:solidFill>
                  <a:srgbClr val="FF0000"/>
                </a:solidFill>
              </a:rPr>
              <a:t>특허발명에 특유한 해결수단이 기초하고 있는 기술사상의 핵심이 침해제품 등에서도 구현되어 있다면 작용효과가 실질적으로 동일</a:t>
            </a:r>
            <a:r>
              <a:rPr lang="ko-KR" altLang="en-US" sz="1200" dirty="0"/>
              <a:t>하다고 보는 것이 원칙이다</a:t>
            </a:r>
            <a:r>
              <a:rPr lang="en-US" altLang="ko-KR" sz="1200" dirty="0"/>
              <a:t>. </a:t>
            </a:r>
            <a:r>
              <a:rPr lang="ko-KR" altLang="en-US" sz="1200" dirty="0"/>
              <a:t>그러나 위와 같은 기술사상의 핵심이 특허발명의 출원 당시에 이미 공지되었거나 그와 다름없는 것에 불과한 경우에는 이러한 기술사상의 핵심이 특허발명에 특유하다고 볼 수 없고</a:t>
            </a:r>
            <a:r>
              <a:rPr lang="en-US" altLang="ko-KR" sz="1200" dirty="0"/>
              <a:t>, </a:t>
            </a:r>
            <a:r>
              <a:rPr lang="ko-KR" altLang="en-US" sz="1200" dirty="0"/>
              <a:t>특허발명이 선행기술에서 해결되지 않았던 기술과제를 해결하였다고 말할 수도 없다</a:t>
            </a:r>
            <a:r>
              <a:rPr lang="en-US" altLang="ko-KR" sz="1200" dirty="0"/>
              <a:t>. </a:t>
            </a:r>
            <a:r>
              <a:rPr lang="ko-KR" altLang="en-US" sz="1200" dirty="0"/>
              <a:t>이러한 때에는 </a:t>
            </a:r>
            <a:r>
              <a:rPr lang="ko-KR" altLang="en-US" sz="1200" dirty="0">
                <a:solidFill>
                  <a:srgbClr val="FF0000"/>
                </a:solidFill>
              </a:rPr>
              <a:t>특허발명의 기술사상의 핵심이 침해제품 등에서 구현되어 있는지를 가지고 작용효과가 실질적으로 동일한지 여부를 판단할 수 없고</a:t>
            </a:r>
            <a:r>
              <a:rPr lang="en-US" altLang="ko-KR" sz="1200" dirty="0">
                <a:solidFill>
                  <a:srgbClr val="FF0000"/>
                </a:solidFill>
              </a:rPr>
              <a:t>, </a:t>
            </a:r>
            <a:r>
              <a:rPr lang="ko-KR" altLang="en-US" sz="1200" dirty="0">
                <a:solidFill>
                  <a:srgbClr val="FF0000"/>
                </a:solidFill>
              </a:rPr>
              <a:t>균등 여부가 문제되는 구성요소의 개별적 기능이나 역할 등을 비교하여 판단</a:t>
            </a:r>
            <a:r>
              <a:rPr lang="ko-KR" altLang="en-US" sz="1200" dirty="0"/>
              <a:t>하여야 한다</a:t>
            </a:r>
            <a:r>
              <a:rPr lang="en-US" altLang="ko-KR" sz="1200" dirty="0"/>
              <a:t>(</a:t>
            </a:r>
            <a:r>
              <a:rPr lang="ko-KR" altLang="en-US" sz="1200" dirty="0"/>
              <a:t>대법원 </a:t>
            </a:r>
            <a:r>
              <a:rPr lang="en-US" altLang="ko-KR" sz="1200" dirty="0"/>
              <a:t>2019. 1. 31. </a:t>
            </a:r>
            <a:r>
              <a:rPr lang="ko-KR" altLang="en-US" sz="1200" dirty="0"/>
              <a:t>선고 </a:t>
            </a:r>
            <a:r>
              <a:rPr lang="en-US" altLang="ko-KR" sz="1200" dirty="0"/>
              <a:t>2018</a:t>
            </a:r>
            <a:r>
              <a:rPr lang="ko-KR" altLang="en-US" sz="1200" dirty="0"/>
              <a:t>다</a:t>
            </a:r>
            <a:r>
              <a:rPr lang="en-US" altLang="ko-KR" sz="1200" dirty="0"/>
              <a:t>267252).</a:t>
            </a:r>
            <a:endParaRPr lang="ko-KR" altLang="en-US" sz="1200" dirty="0"/>
          </a:p>
        </p:txBody>
      </p:sp>
      <p:sp>
        <p:nvSpPr>
          <p:cNvPr id="32" name="직사각형 31">
            <a:extLst>
              <a:ext uri="{FF2B5EF4-FFF2-40B4-BE49-F238E27FC236}">
                <a16:creationId xmlns:a16="http://schemas.microsoft.com/office/drawing/2014/main" id="{53A11580-544F-473D-B4EC-225920DB4670}"/>
              </a:ext>
            </a:extLst>
          </p:cNvPr>
          <p:cNvSpPr/>
          <p:nvPr/>
        </p:nvSpPr>
        <p:spPr>
          <a:xfrm>
            <a:off x="3635203" y="2387569"/>
            <a:ext cx="2073003" cy="307777"/>
          </a:xfrm>
          <a:prstGeom prst="rect">
            <a:avLst/>
          </a:prstGeom>
          <a:noFill/>
        </p:spPr>
        <p:txBody>
          <a:bodyPr wrap="none">
            <a:spAutoFit/>
          </a:bodyPr>
          <a:lstStyle/>
          <a:p>
            <a:r>
              <a:rPr lang="en-US" altLang="ko-KR" sz="1400" b="1" dirty="0">
                <a:solidFill>
                  <a:schemeClr val="accent4"/>
                </a:solidFill>
              </a:rPr>
              <a:t>(invention as a whole)</a:t>
            </a:r>
            <a:endParaRPr lang="ko-KR" altLang="en-US" sz="1400" dirty="0">
              <a:solidFill>
                <a:schemeClr val="accent4"/>
              </a:solidFill>
            </a:endParaRPr>
          </a:p>
        </p:txBody>
      </p:sp>
      <p:sp>
        <p:nvSpPr>
          <p:cNvPr id="33" name="직사각형 32">
            <a:extLst>
              <a:ext uri="{FF2B5EF4-FFF2-40B4-BE49-F238E27FC236}">
                <a16:creationId xmlns:a16="http://schemas.microsoft.com/office/drawing/2014/main" id="{4B4823C7-4A4C-44E9-AF87-2422B4288820}"/>
              </a:ext>
            </a:extLst>
          </p:cNvPr>
          <p:cNvSpPr/>
          <p:nvPr/>
        </p:nvSpPr>
        <p:spPr>
          <a:xfrm>
            <a:off x="3635203" y="3422442"/>
            <a:ext cx="3930884" cy="307777"/>
          </a:xfrm>
          <a:prstGeom prst="rect">
            <a:avLst/>
          </a:prstGeom>
          <a:noFill/>
        </p:spPr>
        <p:txBody>
          <a:bodyPr wrap="none">
            <a:spAutoFit/>
          </a:bodyPr>
          <a:lstStyle/>
          <a:p>
            <a:r>
              <a:rPr lang="en-US" altLang="ko-KR" sz="1400" b="1" dirty="0">
                <a:solidFill>
                  <a:schemeClr val="accent4"/>
                </a:solidFill>
              </a:rPr>
              <a:t>(invention as a whole vs individual element)</a:t>
            </a:r>
            <a:endParaRPr lang="ko-KR" altLang="en-US" sz="1400" dirty="0">
              <a:solidFill>
                <a:schemeClr val="accent4"/>
              </a:solidFill>
            </a:endParaRPr>
          </a:p>
        </p:txBody>
      </p:sp>
      <p:sp>
        <p:nvSpPr>
          <p:cNvPr id="39" name="직사각형 38">
            <a:extLst>
              <a:ext uri="{FF2B5EF4-FFF2-40B4-BE49-F238E27FC236}">
                <a16:creationId xmlns:a16="http://schemas.microsoft.com/office/drawing/2014/main" id="{E82D7359-F6BF-4E40-BF5F-E2DE35E324AB}"/>
              </a:ext>
            </a:extLst>
          </p:cNvPr>
          <p:cNvSpPr/>
          <p:nvPr/>
        </p:nvSpPr>
        <p:spPr>
          <a:xfrm>
            <a:off x="3635203" y="4491410"/>
            <a:ext cx="1882247" cy="307777"/>
          </a:xfrm>
          <a:prstGeom prst="rect">
            <a:avLst/>
          </a:prstGeom>
          <a:noFill/>
        </p:spPr>
        <p:txBody>
          <a:bodyPr wrap="none">
            <a:spAutoFit/>
          </a:bodyPr>
          <a:lstStyle/>
          <a:p>
            <a:r>
              <a:rPr lang="en-US" altLang="ko-KR" sz="1400" b="1" dirty="0">
                <a:solidFill>
                  <a:schemeClr val="accent4"/>
                </a:solidFill>
              </a:rPr>
              <a:t>(individual element)</a:t>
            </a:r>
            <a:endParaRPr lang="ko-KR" altLang="en-US" sz="1400" dirty="0">
              <a:solidFill>
                <a:schemeClr val="accent4"/>
              </a:solidFill>
            </a:endParaRPr>
          </a:p>
        </p:txBody>
      </p:sp>
      <p:sp>
        <p:nvSpPr>
          <p:cNvPr id="9" name="사각형: 둥근 모서리 8">
            <a:extLst>
              <a:ext uri="{FF2B5EF4-FFF2-40B4-BE49-F238E27FC236}">
                <a16:creationId xmlns:a16="http://schemas.microsoft.com/office/drawing/2014/main" id="{2F8B0C3E-50A4-4AB9-9237-C60795F799B7}"/>
              </a:ext>
            </a:extLst>
          </p:cNvPr>
          <p:cNvSpPr/>
          <p:nvPr/>
        </p:nvSpPr>
        <p:spPr>
          <a:xfrm>
            <a:off x="3803684" y="1358161"/>
            <a:ext cx="975350" cy="307777"/>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구성</a:t>
            </a:r>
            <a:r>
              <a:rPr lang="en-US" altLang="ko-KR" sz="1400" dirty="0"/>
              <a:t>(</a:t>
            </a:r>
            <a:r>
              <a:rPr lang="ko-KR" altLang="en-US" sz="1400" dirty="0"/>
              <a:t>전체</a:t>
            </a:r>
            <a:r>
              <a:rPr lang="en-US" altLang="ko-KR" sz="1400" dirty="0"/>
              <a:t>)</a:t>
            </a:r>
            <a:endParaRPr lang="ko-KR" altLang="en-US" sz="1400" dirty="0"/>
          </a:p>
        </p:txBody>
      </p:sp>
      <p:sp>
        <p:nvSpPr>
          <p:cNvPr id="40" name="사각형: 둥근 모서리 39">
            <a:extLst>
              <a:ext uri="{FF2B5EF4-FFF2-40B4-BE49-F238E27FC236}">
                <a16:creationId xmlns:a16="http://schemas.microsoft.com/office/drawing/2014/main" id="{20FC12A4-B9F1-403A-A91F-8F97EE13B7A8}"/>
              </a:ext>
            </a:extLst>
          </p:cNvPr>
          <p:cNvSpPr/>
          <p:nvPr/>
        </p:nvSpPr>
        <p:spPr>
          <a:xfrm>
            <a:off x="6441571" y="2510857"/>
            <a:ext cx="672861" cy="307777"/>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효과</a:t>
            </a:r>
          </a:p>
        </p:txBody>
      </p:sp>
      <p:sp>
        <p:nvSpPr>
          <p:cNvPr id="41" name="사각형: 둥근 모서리 40">
            <a:extLst>
              <a:ext uri="{FF2B5EF4-FFF2-40B4-BE49-F238E27FC236}">
                <a16:creationId xmlns:a16="http://schemas.microsoft.com/office/drawing/2014/main" id="{3B35C810-18CD-4DF9-9634-EE436F56A83A}"/>
              </a:ext>
            </a:extLst>
          </p:cNvPr>
          <p:cNvSpPr/>
          <p:nvPr/>
        </p:nvSpPr>
        <p:spPr>
          <a:xfrm>
            <a:off x="6196802" y="4075593"/>
            <a:ext cx="975350" cy="307777"/>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구성</a:t>
            </a:r>
            <a:r>
              <a:rPr lang="en-US" altLang="ko-KR" sz="1400" dirty="0"/>
              <a:t>(</a:t>
            </a:r>
            <a:r>
              <a:rPr lang="ko-KR" altLang="en-US" sz="1400" dirty="0"/>
              <a:t>요소</a:t>
            </a:r>
            <a:r>
              <a:rPr lang="en-US" altLang="ko-KR" sz="1400" dirty="0"/>
              <a:t>)</a:t>
            </a:r>
            <a:endParaRPr lang="ko-KR" altLang="en-US" sz="1400" dirty="0"/>
          </a:p>
        </p:txBody>
      </p:sp>
      <p:sp>
        <p:nvSpPr>
          <p:cNvPr id="11" name="TextBox 10">
            <a:extLst>
              <a:ext uri="{FF2B5EF4-FFF2-40B4-BE49-F238E27FC236}">
                <a16:creationId xmlns:a16="http://schemas.microsoft.com/office/drawing/2014/main" id="{20D811D8-47BC-4476-8FD9-DA0465AB16D1}"/>
              </a:ext>
            </a:extLst>
          </p:cNvPr>
          <p:cNvSpPr txBox="1"/>
          <p:nvPr/>
        </p:nvSpPr>
        <p:spPr>
          <a:xfrm>
            <a:off x="2164066" y="4120395"/>
            <a:ext cx="1018227" cy="369332"/>
          </a:xfrm>
          <a:prstGeom prst="rect">
            <a:avLst/>
          </a:prstGeom>
          <a:noFill/>
          <a:ln>
            <a:solidFill>
              <a:schemeClr val="bg1">
                <a:lumMod val="75000"/>
              </a:schemeClr>
            </a:solidFill>
          </a:ln>
        </p:spPr>
        <p:txBody>
          <a:bodyPr wrap="none" rtlCol="0">
            <a:spAutoFit/>
          </a:bodyPr>
          <a:lstStyle/>
          <a:p>
            <a:r>
              <a:rPr lang="ko-KR" altLang="en-US"/>
              <a:t>특별사정</a:t>
            </a:r>
          </a:p>
        </p:txBody>
      </p:sp>
      <p:cxnSp>
        <p:nvCxnSpPr>
          <p:cNvPr id="21" name="직선 화살표 연결선 20">
            <a:extLst>
              <a:ext uri="{FF2B5EF4-FFF2-40B4-BE49-F238E27FC236}">
                <a16:creationId xmlns:a16="http://schemas.microsoft.com/office/drawing/2014/main" id="{55313A93-F157-4D3A-9EB9-CFC43EC68B2F}"/>
              </a:ext>
            </a:extLst>
          </p:cNvPr>
          <p:cNvCxnSpPr>
            <a:stCxn id="11" idx="2"/>
            <a:endCxn id="8" idx="0"/>
          </p:cNvCxnSpPr>
          <p:nvPr/>
        </p:nvCxnSpPr>
        <p:spPr>
          <a:xfrm>
            <a:off x="2673180" y="4489727"/>
            <a:ext cx="0" cy="465667"/>
          </a:xfrm>
          <a:prstGeom prst="straightConnector1">
            <a:avLst/>
          </a:prstGeom>
          <a:ln w="1905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48B262A9-A66E-AA6F-BAE7-4AFB0D45A418}"/>
              </a:ext>
            </a:extLst>
          </p:cNvPr>
          <p:cNvSpPr txBox="1"/>
          <p:nvPr/>
        </p:nvSpPr>
        <p:spPr>
          <a:xfrm>
            <a:off x="7575549" y="5830258"/>
            <a:ext cx="1102286" cy="430887"/>
          </a:xfrm>
          <a:prstGeom prst="rect">
            <a:avLst/>
          </a:prstGeom>
          <a:solidFill>
            <a:schemeClr val="accent4">
              <a:lumMod val="40000"/>
              <a:lumOff val="60000"/>
            </a:schemeClr>
          </a:solidFill>
          <a:ln>
            <a:solidFill>
              <a:schemeClr val="bg1">
                <a:lumMod val="50000"/>
              </a:schemeClr>
            </a:solidFill>
          </a:ln>
        </p:spPr>
        <p:txBody>
          <a:bodyPr wrap="square" rtlCol="0" anchor="ctr">
            <a:noAutofit/>
          </a:bodyPr>
          <a:lstStyle/>
          <a:p>
            <a:pPr algn="ctr"/>
            <a:r>
              <a:rPr lang="ko-KR" altLang="en-US" sz="1100" dirty="0"/>
              <a:t>기술사상의 핵심 </a:t>
            </a:r>
            <a:endParaRPr lang="en-US" altLang="ko-KR" sz="1100" dirty="0"/>
          </a:p>
          <a:p>
            <a:pPr algn="ctr"/>
            <a:r>
              <a:rPr lang="ko-KR" altLang="en-US" sz="1100" dirty="0"/>
              <a:t>공지여부</a:t>
            </a:r>
          </a:p>
        </p:txBody>
      </p:sp>
      <p:sp>
        <p:nvSpPr>
          <p:cNvPr id="23" name="TextBox 22">
            <a:extLst>
              <a:ext uri="{FF2B5EF4-FFF2-40B4-BE49-F238E27FC236}">
                <a16:creationId xmlns:a16="http://schemas.microsoft.com/office/drawing/2014/main" id="{264CDB05-2965-F675-39AC-25081255BB61}"/>
              </a:ext>
            </a:extLst>
          </p:cNvPr>
          <p:cNvSpPr txBox="1"/>
          <p:nvPr/>
        </p:nvSpPr>
        <p:spPr>
          <a:xfrm>
            <a:off x="9072655" y="5718808"/>
            <a:ext cx="2897886" cy="338554"/>
          </a:xfrm>
          <a:prstGeom prst="rect">
            <a:avLst/>
          </a:prstGeom>
          <a:noFill/>
          <a:ln>
            <a:solidFill>
              <a:schemeClr val="bg1">
                <a:lumMod val="50000"/>
              </a:schemeClr>
            </a:solidFill>
          </a:ln>
        </p:spPr>
        <p:txBody>
          <a:bodyPr wrap="square" rtlCol="0" anchor="ctr">
            <a:noAutofit/>
          </a:bodyPr>
          <a:lstStyle/>
          <a:p>
            <a:pPr algn="ctr"/>
            <a:r>
              <a:rPr lang="en-US" altLang="ko-KR" sz="1100" dirty="0">
                <a:highlight>
                  <a:srgbClr val="FFFF00"/>
                </a:highlight>
              </a:rPr>
              <a:t>(</a:t>
            </a:r>
            <a:r>
              <a:rPr lang="ko-KR" altLang="en-US" sz="1100" dirty="0">
                <a:highlight>
                  <a:srgbClr val="FFFF00"/>
                </a:highlight>
              </a:rPr>
              <a:t>발명 전체 판단</a:t>
            </a:r>
            <a:r>
              <a:rPr lang="en-US" altLang="ko-KR" sz="1100" dirty="0">
                <a:highlight>
                  <a:srgbClr val="FFFF00"/>
                </a:highlight>
              </a:rPr>
              <a:t>)</a:t>
            </a:r>
            <a:r>
              <a:rPr lang="en-US" altLang="ko-KR" sz="1100" dirty="0"/>
              <a:t> </a:t>
            </a:r>
            <a:r>
              <a:rPr lang="ko-KR" altLang="en-US" sz="1100" dirty="0"/>
              <a:t>실질적으로 작용 효과 동일</a:t>
            </a:r>
            <a:r>
              <a:rPr lang="ko-KR" altLang="en-US" sz="1600" kern="0" spc="0" dirty="0">
                <a:solidFill>
                  <a:srgbClr val="000000"/>
                </a:solidFill>
                <a:effectLst/>
                <a:latin typeface="Yoon가변 윤명조 320_TT" panose="02020603020101020101" pitchFamily="18" charset="-127"/>
                <a:ea typeface="Yoon가변 윤명조 320_TT" panose="02020603020101020101" pitchFamily="18" charset="-127"/>
              </a:rPr>
              <a:t>○</a:t>
            </a:r>
            <a:endParaRPr lang="ko-KR" altLang="en-US" sz="1600" kern="0" spc="0" dirty="0">
              <a:solidFill>
                <a:srgbClr val="000000"/>
              </a:solidFill>
              <a:effectLst/>
              <a:latin typeface="Yoon가변 윤명조 320_TT" panose="02020603020101020101" pitchFamily="18" charset="-127"/>
            </a:endParaRPr>
          </a:p>
        </p:txBody>
      </p:sp>
      <p:sp>
        <p:nvSpPr>
          <p:cNvPr id="25" name="TextBox 24">
            <a:extLst>
              <a:ext uri="{FF2B5EF4-FFF2-40B4-BE49-F238E27FC236}">
                <a16:creationId xmlns:a16="http://schemas.microsoft.com/office/drawing/2014/main" id="{9A066D9A-A0FD-EF9C-2274-CFE2052C65E5}"/>
              </a:ext>
            </a:extLst>
          </p:cNvPr>
          <p:cNvSpPr txBox="1"/>
          <p:nvPr/>
        </p:nvSpPr>
        <p:spPr>
          <a:xfrm>
            <a:off x="9072655" y="6239153"/>
            <a:ext cx="2897886" cy="338553"/>
          </a:xfrm>
          <a:prstGeom prst="rect">
            <a:avLst/>
          </a:prstGeom>
          <a:noFill/>
          <a:ln>
            <a:solidFill>
              <a:schemeClr val="bg1">
                <a:lumMod val="50000"/>
              </a:schemeClr>
            </a:solidFill>
          </a:ln>
        </p:spPr>
        <p:txBody>
          <a:bodyPr wrap="square" rtlCol="0" anchor="ctr">
            <a:noAutofit/>
          </a:bodyPr>
          <a:lstStyle/>
          <a:p>
            <a:pPr algn="ctr"/>
            <a:r>
              <a:rPr lang="en-US" altLang="ko-KR" sz="1100" dirty="0">
                <a:highlight>
                  <a:srgbClr val="00FFFF"/>
                </a:highlight>
              </a:rPr>
              <a:t>(</a:t>
            </a:r>
            <a:r>
              <a:rPr lang="ko-KR" altLang="en-US" sz="1100" dirty="0">
                <a:highlight>
                  <a:srgbClr val="00FFFF"/>
                </a:highlight>
              </a:rPr>
              <a:t>구성요소 판단</a:t>
            </a:r>
            <a:r>
              <a:rPr lang="en-US" altLang="ko-KR" sz="1100" dirty="0">
                <a:highlight>
                  <a:srgbClr val="00FFFF"/>
                </a:highlight>
              </a:rPr>
              <a:t>)</a:t>
            </a:r>
            <a:r>
              <a:rPr lang="en-US" altLang="ko-KR" sz="1100" dirty="0"/>
              <a:t> </a:t>
            </a:r>
            <a:r>
              <a:rPr lang="ko-KR" altLang="en-US" sz="1100" dirty="0"/>
              <a:t>실질적으로 작용 효과 동일</a:t>
            </a:r>
            <a:r>
              <a:rPr lang="ko-KR" altLang="en-US" sz="1100" kern="0" spc="0" dirty="0">
                <a:solidFill>
                  <a:srgbClr val="000000"/>
                </a:solidFill>
                <a:effectLst/>
                <a:latin typeface="Yoon가변 윤명조 320_TT" panose="02020603020101020101" pitchFamily="18" charset="-127"/>
                <a:ea typeface="Yoon가변 윤명조 320_TT" panose="02020603020101020101" pitchFamily="18" charset="-127"/>
              </a:rPr>
              <a:t>△</a:t>
            </a:r>
            <a:endParaRPr lang="ko-KR" altLang="en-US" sz="1100" dirty="0"/>
          </a:p>
        </p:txBody>
      </p:sp>
      <p:cxnSp>
        <p:nvCxnSpPr>
          <p:cNvPr id="42" name="연결선: 꺾임 41">
            <a:extLst>
              <a:ext uri="{FF2B5EF4-FFF2-40B4-BE49-F238E27FC236}">
                <a16:creationId xmlns:a16="http://schemas.microsoft.com/office/drawing/2014/main" id="{27EAAEC2-3212-E612-F239-0780CA93C2F4}"/>
              </a:ext>
            </a:extLst>
          </p:cNvPr>
          <p:cNvCxnSpPr>
            <a:stCxn id="15" idx="3"/>
            <a:endCxn id="23" idx="1"/>
          </p:cNvCxnSpPr>
          <p:nvPr/>
        </p:nvCxnSpPr>
        <p:spPr>
          <a:xfrm flipV="1">
            <a:off x="8677835" y="5888085"/>
            <a:ext cx="394820" cy="157617"/>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44" name="연결선: 꺾임 43">
            <a:extLst>
              <a:ext uri="{FF2B5EF4-FFF2-40B4-BE49-F238E27FC236}">
                <a16:creationId xmlns:a16="http://schemas.microsoft.com/office/drawing/2014/main" id="{13FCA2C8-9F9A-9E46-12E4-21EF7730DB5F}"/>
              </a:ext>
            </a:extLst>
          </p:cNvPr>
          <p:cNvCxnSpPr>
            <a:stCxn id="15" idx="3"/>
            <a:endCxn id="25" idx="1"/>
          </p:cNvCxnSpPr>
          <p:nvPr/>
        </p:nvCxnSpPr>
        <p:spPr>
          <a:xfrm>
            <a:off x="8677835" y="6045702"/>
            <a:ext cx="394820" cy="362728"/>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2617BB38-F094-ADFD-5873-2A383F13337A}"/>
              </a:ext>
            </a:extLst>
          </p:cNvPr>
          <p:cNvSpPr txBox="1"/>
          <p:nvPr/>
        </p:nvSpPr>
        <p:spPr>
          <a:xfrm>
            <a:off x="8698587" y="5607494"/>
            <a:ext cx="499201" cy="253916"/>
          </a:xfrm>
          <a:prstGeom prst="rect">
            <a:avLst/>
          </a:prstGeom>
          <a:noFill/>
        </p:spPr>
        <p:txBody>
          <a:bodyPr wrap="square">
            <a:spAutoFit/>
          </a:bodyPr>
          <a:lstStyle/>
          <a:p>
            <a:r>
              <a:rPr lang="en-US" altLang="ko-KR" sz="1050" dirty="0"/>
              <a:t>No</a:t>
            </a:r>
            <a:endParaRPr lang="ko-KR" altLang="en-US" sz="1050" dirty="0"/>
          </a:p>
        </p:txBody>
      </p:sp>
      <p:sp>
        <p:nvSpPr>
          <p:cNvPr id="47" name="TextBox 46">
            <a:extLst>
              <a:ext uri="{FF2B5EF4-FFF2-40B4-BE49-F238E27FC236}">
                <a16:creationId xmlns:a16="http://schemas.microsoft.com/office/drawing/2014/main" id="{03EB004C-338A-CAE9-0F95-521FAAF5BE5E}"/>
              </a:ext>
            </a:extLst>
          </p:cNvPr>
          <p:cNvSpPr txBox="1"/>
          <p:nvPr/>
        </p:nvSpPr>
        <p:spPr>
          <a:xfrm>
            <a:off x="8698587" y="6434863"/>
            <a:ext cx="499201" cy="253916"/>
          </a:xfrm>
          <a:prstGeom prst="rect">
            <a:avLst/>
          </a:prstGeom>
          <a:noFill/>
        </p:spPr>
        <p:txBody>
          <a:bodyPr wrap="square">
            <a:spAutoFit/>
          </a:bodyPr>
          <a:lstStyle/>
          <a:p>
            <a:r>
              <a:rPr lang="en-US" altLang="ko-KR" sz="1050" dirty="0"/>
              <a:t>Yes</a:t>
            </a:r>
            <a:endParaRPr lang="ko-KR" altLang="en-US" sz="1050" dirty="0"/>
          </a:p>
        </p:txBody>
      </p:sp>
    </p:spTree>
    <p:extLst>
      <p:ext uri="{BB962C8B-B14F-4D97-AF65-F5344CB8AC3E}">
        <p14:creationId xmlns:p14="http://schemas.microsoft.com/office/powerpoint/2010/main" val="3838329613"/>
      </p:ext>
    </p:extLst>
  </p:cSld>
  <p:clrMapOvr>
    <a:masterClrMapping/>
  </p:clrMapOvr>
  <p:transition/>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13ABD282-6DB4-4B29-8D7C-87A889303219}"/>
              </a:ext>
            </a:extLst>
          </p:cNvPr>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3" name="텍스트 개체 틀 2">
            <a:extLst>
              <a:ext uri="{FF2B5EF4-FFF2-40B4-BE49-F238E27FC236}">
                <a16:creationId xmlns:a16="http://schemas.microsoft.com/office/drawing/2014/main" id="{01D1676A-F890-42D2-B914-6CB0570ABE86}"/>
              </a:ext>
            </a:extLst>
          </p:cNvPr>
          <p:cNvSpPr>
            <a:spLocks noGrp="1"/>
          </p:cNvSpPr>
          <p:nvPr>
            <p:ph type="body" sz="quarter" idx="13"/>
          </p:nvPr>
        </p:nvSpPr>
        <p:spPr/>
        <p:txBody>
          <a:bodyPr/>
          <a:lstStyle/>
          <a:p>
            <a:r>
              <a:rPr lang="ko-KR" altLang="en-US" dirty="0">
                <a:solidFill>
                  <a:srgbClr val="525252"/>
                </a:solidFill>
              </a:rPr>
              <a:t>과제의 해결원리가 동일할 것의 판단 </a:t>
            </a:r>
          </a:p>
        </p:txBody>
      </p:sp>
      <p:sp>
        <p:nvSpPr>
          <p:cNvPr id="4" name="직사각형 3">
            <a:extLst>
              <a:ext uri="{FF2B5EF4-FFF2-40B4-BE49-F238E27FC236}">
                <a16:creationId xmlns:a16="http://schemas.microsoft.com/office/drawing/2014/main" id="{85E1D961-A774-4683-961E-C3264CBA0412}"/>
              </a:ext>
            </a:extLst>
          </p:cNvPr>
          <p:cNvSpPr/>
          <p:nvPr/>
        </p:nvSpPr>
        <p:spPr>
          <a:xfrm>
            <a:off x="4155412" y="1817344"/>
            <a:ext cx="2680815" cy="4172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3600" dirty="0">
                <a:solidFill>
                  <a:schemeClr val="bg1">
                    <a:lumMod val="50000"/>
                  </a:schemeClr>
                </a:solidFill>
              </a:rPr>
              <a:t> A + B + C</a:t>
            </a:r>
            <a:endParaRPr lang="ko-KR" altLang="en-US" sz="3600" dirty="0">
              <a:solidFill>
                <a:schemeClr val="bg1">
                  <a:lumMod val="50000"/>
                </a:schemeClr>
              </a:solidFill>
            </a:endParaRPr>
          </a:p>
        </p:txBody>
      </p:sp>
      <p:sp>
        <p:nvSpPr>
          <p:cNvPr id="5" name="직사각형 4">
            <a:extLst>
              <a:ext uri="{FF2B5EF4-FFF2-40B4-BE49-F238E27FC236}">
                <a16:creationId xmlns:a16="http://schemas.microsoft.com/office/drawing/2014/main" id="{35FF4077-9838-44C7-8132-C20BCA721794}"/>
              </a:ext>
            </a:extLst>
          </p:cNvPr>
          <p:cNvSpPr/>
          <p:nvPr/>
        </p:nvSpPr>
        <p:spPr>
          <a:xfrm>
            <a:off x="7803499" y="1817344"/>
            <a:ext cx="2892725" cy="4172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3600" dirty="0">
                <a:solidFill>
                  <a:schemeClr val="bg1">
                    <a:lumMod val="50000"/>
                  </a:schemeClr>
                </a:solidFill>
              </a:rPr>
              <a:t>A + B1 + C1</a:t>
            </a:r>
            <a:endParaRPr lang="ko-KR" altLang="en-US" sz="3600" dirty="0">
              <a:solidFill>
                <a:schemeClr val="bg1">
                  <a:lumMod val="50000"/>
                </a:schemeClr>
              </a:solidFill>
            </a:endParaRPr>
          </a:p>
        </p:txBody>
      </p:sp>
      <p:sp>
        <p:nvSpPr>
          <p:cNvPr id="6" name="직사각형 5">
            <a:extLst>
              <a:ext uri="{FF2B5EF4-FFF2-40B4-BE49-F238E27FC236}">
                <a16:creationId xmlns:a16="http://schemas.microsoft.com/office/drawing/2014/main" id="{5AA5AF0B-42E6-4A26-8F53-332E019F4FBD}"/>
              </a:ext>
            </a:extLst>
          </p:cNvPr>
          <p:cNvSpPr/>
          <p:nvPr/>
        </p:nvSpPr>
        <p:spPr>
          <a:xfrm>
            <a:off x="6948366" y="1817344"/>
            <a:ext cx="855134" cy="4172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3600" dirty="0">
                <a:solidFill>
                  <a:schemeClr val="tx1"/>
                </a:solidFill>
              </a:rPr>
              <a:t>vs</a:t>
            </a:r>
            <a:endParaRPr lang="ko-KR" altLang="en-US" sz="3600" dirty="0">
              <a:solidFill>
                <a:schemeClr val="tx1"/>
              </a:solidFill>
            </a:endParaRPr>
          </a:p>
        </p:txBody>
      </p:sp>
      <p:sp>
        <p:nvSpPr>
          <p:cNvPr id="7" name="직사각형 6">
            <a:extLst>
              <a:ext uri="{FF2B5EF4-FFF2-40B4-BE49-F238E27FC236}">
                <a16:creationId xmlns:a16="http://schemas.microsoft.com/office/drawing/2014/main" id="{4408A2CE-4C6D-4243-B251-36D8988F3695}"/>
              </a:ext>
            </a:extLst>
          </p:cNvPr>
          <p:cNvSpPr/>
          <p:nvPr/>
        </p:nvSpPr>
        <p:spPr>
          <a:xfrm>
            <a:off x="1744276" y="2528895"/>
            <a:ext cx="2454518" cy="314102"/>
          </a:xfrm>
          <a:prstGeom prst="rect">
            <a:avLst/>
          </a:prstGeom>
          <a:solidFill>
            <a:schemeClr val="bg2">
              <a:lumMod val="50000"/>
            </a:schemeClr>
          </a:solidFill>
          <a:ln>
            <a:solidFill>
              <a:schemeClr val="bg1">
                <a:lumMod val="50000"/>
              </a:schemeClr>
            </a:solidFill>
          </a:ln>
        </p:spPr>
        <p:txBody>
          <a:bodyPr wrap="none">
            <a:spAutoFit/>
          </a:bodyPr>
          <a:lstStyle/>
          <a:p>
            <a:r>
              <a:rPr lang="en-US" altLang="ko-KR" b="1" dirty="0">
                <a:solidFill>
                  <a:schemeClr val="accent4"/>
                </a:solidFill>
              </a:rPr>
              <a:t>invention as a whole</a:t>
            </a:r>
            <a:endParaRPr lang="ko-KR" altLang="en-US" dirty="0">
              <a:solidFill>
                <a:schemeClr val="accent4"/>
              </a:solidFill>
            </a:endParaRPr>
          </a:p>
        </p:txBody>
      </p:sp>
      <p:sp>
        <p:nvSpPr>
          <p:cNvPr id="8" name="직사각형 7">
            <a:extLst>
              <a:ext uri="{FF2B5EF4-FFF2-40B4-BE49-F238E27FC236}">
                <a16:creationId xmlns:a16="http://schemas.microsoft.com/office/drawing/2014/main" id="{BF9ECF34-DED7-41AB-AB76-3751A825C3AB}"/>
              </a:ext>
            </a:extLst>
          </p:cNvPr>
          <p:cNvSpPr/>
          <p:nvPr/>
        </p:nvSpPr>
        <p:spPr>
          <a:xfrm>
            <a:off x="1744275" y="1140813"/>
            <a:ext cx="2454517" cy="369332"/>
          </a:xfrm>
          <a:prstGeom prst="rect">
            <a:avLst/>
          </a:prstGeom>
          <a:solidFill>
            <a:schemeClr val="bg2">
              <a:lumMod val="50000"/>
            </a:schemeClr>
          </a:solidFill>
          <a:ln>
            <a:solidFill>
              <a:schemeClr val="bg1">
                <a:lumMod val="50000"/>
              </a:schemeClr>
            </a:solidFill>
          </a:ln>
        </p:spPr>
        <p:txBody>
          <a:bodyPr wrap="square">
            <a:spAutoFit/>
          </a:bodyPr>
          <a:lstStyle/>
          <a:p>
            <a:pPr algn="ctr"/>
            <a:r>
              <a:rPr lang="en-US" altLang="ko-KR" b="1" dirty="0">
                <a:solidFill>
                  <a:schemeClr val="accent4"/>
                </a:solidFill>
              </a:rPr>
              <a:t>individual element</a:t>
            </a:r>
            <a:endParaRPr lang="ko-KR" altLang="en-US" dirty="0">
              <a:solidFill>
                <a:schemeClr val="accent4"/>
              </a:solidFill>
            </a:endParaRPr>
          </a:p>
        </p:txBody>
      </p:sp>
      <p:cxnSp>
        <p:nvCxnSpPr>
          <p:cNvPr id="10" name="직선 연결선 9">
            <a:extLst>
              <a:ext uri="{FF2B5EF4-FFF2-40B4-BE49-F238E27FC236}">
                <a16:creationId xmlns:a16="http://schemas.microsoft.com/office/drawing/2014/main" id="{F83E74E3-DD1D-4AC2-A54D-BFAFCDA5D677}"/>
              </a:ext>
            </a:extLst>
          </p:cNvPr>
          <p:cNvCxnSpPr>
            <a:cxnSpLocks/>
          </p:cNvCxnSpPr>
          <p:nvPr/>
        </p:nvCxnSpPr>
        <p:spPr>
          <a:xfrm>
            <a:off x="4519714" y="2271307"/>
            <a:ext cx="2156601"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8AE7CC2A-9447-4A57-9CF5-6190209237C2}"/>
              </a:ext>
            </a:extLst>
          </p:cNvPr>
          <p:cNvSpPr txBox="1"/>
          <p:nvPr/>
        </p:nvSpPr>
        <p:spPr>
          <a:xfrm>
            <a:off x="5036048" y="2696632"/>
            <a:ext cx="917239" cy="369332"/>
          </a:xfrm>
          <a:prstGeom prst="rect">
            <a:avLst/>
          </a:prstGeom>
          <a:noFill/>
          <a:ln>
            <a:solidFill>
              <a:schemeClr val="bg1">
                <a:lumMod val="50000"/>
              </a:schemeClr>
            </a:solidFill>
          </a:ln>
        </p:spPr>
        <p:txBody>
          <a:bodyPr wrap="square" tIns="0" bIns="0" rtlCol="0">
            <a:spAutoFit/>
          </a:bodyPr>
          <a:lstStyle/>
          <a:p>
            <a:pPr algn="ctr"/>
            <a:r>
              <a:rPr lang="ko-KR" altLang="en-US" sz="1200" dirty="0"/>
              <a:t>기술사상의 </a:t>
            </a:r>
            <a:endParaRPr lang="en-US" altLang="ko-KR" sz="1200" dirty="0"/>
          </a:p>
          <a:p>
            <a:pPr algn="ctr"/>
            <a:r>
              <a:rPr lang="ko-KR" altLang="en-US" sz="1200" dirty="0"/>
              <a:t>핵심</a:t>
            </a:r>
          </a:p>
        </p:txBody>
      </p:sp>
      <p:cxnSp>
        <p:nvCxnSpPr>
          <p:cNvPr id="15" name="직선 화살표 연결선 14">
            <a:extLst>
              <a:ext uri="{FF2B5EF4-FFF2-40B4-BE49-F238E27FC236}">
                <a16:creationId xmlns:a16="http://schemas.microsoft.com/office/drawing/2014/main" id="{31EC78A5-3B92-414F-9823-3BD777B7C713}"/>
              </a:ext>
            </a:extLst>
          </p:cNvPr>
          <p:cNvCxnSpPr>
            <a:cxnSpLocks/>
            <a:endCxn id="12" idx="0"/>
          </p:cNvCxnSpPr>
          <p:nvPr/>
        </p:nvCxnSpPr>
        <p:spPr>
          <a:xfrm>
            <a:off x="5492905" y="2271307"/>
            <a:ext cx="1763" cy="42532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0147C859-6B4F-4FB7-A877-3E0249D59457}"/>
              </a:ext>
            </a:extLst>
          </p:cNvPr>
          <p:cNvCxnSpPr>
            <a:cxnSpLocks/>
          </p:cNvCxnSpPr>
          <p:nvPr/>
        </p:nvCxnSpPr>
        <p:spPr>
          <a:xfrm>
            <a:off x="7978907" y="2271307"/>
            <a:ext cx="2527539"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연결선: 꺾임 19">
            <a:extLst>
              <a:ext uri="{FF2B5EF4-FFF2-40B4-BE49-F238E27FC236}">
                <a16:creationId xmlns:a16="http://schemas.microsoft.com/office/drawing/2014/main" id="{E31F2F42-A3C6-48D2-8D77-5775A27E13A4}"/>
              </a:ext>
            </a:extLst>
          </p:cNvPr>
          <p:cNvCxnSpPr>
            <a:cxnSpLocks/>
            <a:stCxn id="12" idx="3"/>
            <a:endCxn id="5" idx="2"/>
          </p:cNvCxnSpPr>
          <p:nvPr/>
        </p:nvCxnSpPr>
        <p:spPr>
          <a:xfrm flipV="1">
            <a:off x="5953287" y="2234627"/>
            <a:ext cx="3296575" cy="646671"/>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D9987812-0E30-4DEF-B422-EB0A66D8EA75}"/>
              </a:ext>
            </a:extLst>
          </p:cNvPr>
          <p:cNvSpPr txBox="1"/>
          <p:nvPr/>
        </p:nvSpPr>
        <p:spPr>
          <a:xfrm>
            <a:off x="5518553" y="2337313"/>
            <a:ext cx="1252266" cy="276999"/>
          </a:xfrm>
          <a:prstGeom prst="rect">
            <a:avLst/>
          </a:prstGeom>
          <a:noFill/>
          <a:ln>
            <a:noFill/>
          </a:ln>
        </p:spPr>
        <p:txBody>
          <a:bodyPr wrap="none" rtlCol="0">
            <a:spAutoFit/>
          </a:bodyPr>
          <a:lstStyle/>
          <a:p>
            <a:pPr algn="ctr"/>
            <a:r>
              <a:rPr lang="ko-KR" altLang="en-US" sz="1200" dirty="0"/>
              <a:t>추출</a:t>
            </a:r>
            <a:r>
              <a:rPr lang="en-US" altLang="ko-KR" sz="1200" dirty="0">
                <a:highlight>
                  <a:srgbClr val="FFFF00"/>
                </a:highlight>
              </a:rPr>
              <a:t>(</a:t>
            </a:r>
            <a:r>
              <a:rPr lang="ko-KR" altLang="en-US" sz="1200" dirty="0">
                <a:highlight>
                  <a:srgbClr val="FFFF00"/>
                </a:highlight>
              </a:rPr>
              <a:t>상위개념화</a:t>
            </a:r>
            <a:r>
              <a:rPr lang="en-US" altLang="ko-KR" sz="1200" dirty="0">
                <a:highlight>
                  <a:srgbClr val="FFFF00"/>
                </a:highlight>
              </a:rPr>
              <a:t>)</a:t>
            </a:r>
            <a:endParaRPr lang="ko-KR" altLang="en-US" sz="1200" dirty="0">
              <a:highlight>
                <a:srgbClr val="FFFF00"/>
              </a:highlight>
            </a:endParaRPr>
          </a:p>
        </p:txBody>
      </p:sp>
      <p:sp>
        <p:nvSpPr>
          <p:cNvPr id="24" name="TextBox 23">
            <a:extLst>
              <a:ext uri="{FF2B5EF4-FFF2-40B4-BE49-F238E27FC236}">
                <a16:creationId xmlns:a16="http://schemas.microsoft.com/office/drawing/2014/main" id="{54A42830-3E99-468F-B1B6-8EFCCCFE670F}"/>
              </a:ext>
            </a:extLst>
          </p:cNvPr>
          <p:cNvSpPr txBox="1"/>
          <p:nvPr/>
        </p:nvSpPr>
        <p:spPr>
          <a:xfrm>
            <a:off x="7354048" y="2616865"/>
            <a:ext cx="537328" cy="235576"/>
          </a:xfrm>
          <a:prstGeom prst="rect">
            <a:avLst/>
          </a:prstGeom>
          <a:noFill/>
          <a:ln>
            <a:noFill/>
          </a:ln>
        </p:spPr>
        <p:txBody>
          <a:bodyPr wrap="none" rtlCol="0">
            <a:spAutoFit/>
          </a:bodyPr>
          <a:lstStyle/>
          <a:p>
            <a:pPr algn="ctr"/>
            <a:r>
              <a:rPr lang="ko-KR" altLang="en-US" sz="1200" dirty="0"/>
              <a:t>포함</a:t>
            </a:r>
            <a:r>
              <a:rPr lang="en-US" altLang="ko-KR" sz="1200" dirty="0"/>
              <a:t>?</a:t>
            </a:r>
            <a:endParaRPr lang="ko-KR" altLang="en-US" sz="1200" dirty="0"/>
          </a:p>
        </p:txBody>
      </p:sp>
      <p:cxnSp>
        <p:nvCxnSpPr>
          <p:cNvPr id="26" name="직선 연결선 25">
            <a:extLst>
              <a:ext uri="{FF2B5EF4-FFF2-40B4-BE49-F238E27FC236}">
                <a16:creationId xmlns:a16="http://schemas.microsoft.com/office/drawing/2014/main" id="{39268BB5-3557-4C91-ADDF-9B4DE17C1AF0}"/>
              </a:ext>
            </a:extLst>
          </p:cNvPr>
          <p:cNvCxnSpPr/>
          <p:nvPr/>
        </p:nvCxnSpPr>
        <p:spPr>
          <a:xfrm>
            <a:off x="5382356" y="1761156"/>
            <a:ext cx="376263"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ACDA9FA2-0B67-4102-9CFD-E7A8CF59016D}"/>
              </a:ext>
            </a:extLst>
          </p:cNvPr>
          <p:cNvSpPr txBox="1"/>
          <p:nvPr/>
        </p:nvSpPr>
        <p:spPr>
          <a:xfrm>
            <a:off x="5111867" y="1236511"/>
            <a:ext cx="917239" cy="369332"/>
          </a:xfrm>
          <a:prstGeom prst="rect">
            <a:avLst/>
          </a:prstGeom>
          <a:noFill/>
          <a:ln>
            <a:solidFill>
              <a:schemeClr val="bg1">
                <a:lumMod val="50000"/>
              </a:schemeClr>
            </a:solidFill>
          </a:ln>
        </p:spPr>
        <p:txBody>
          <a:bodyPr wrap="none" tIns="0" bIns="0" rtlCol="0">
            <a:spAutoFit/>
          </a:bodyPr>
          <a:lstStyle/>
          <a:p>
            <a:pPr algn="ctr"/>
            <a:r>
              <a:rPr lang="ko-KR" altLang="en-US" sz="1200" dirty="0"/>
              <a:t>기술사상의 </a:t>
            </a:r>
            <a:endParaRPr lang="en-US" altLang="ko-KR" sz="1200" dirty="0"/>
          </a:p>
          <a:p>
            <a:pPr algn="ctr"/>
            <a:r>
              <a:rPr lang="ko-KR" altLang="en-US" sz="1200" dirty="0"/>
              <a:t>핵심</a:t>
            </a:r>
          </a:p>
        </p:txBody>
      </p:sp>
      <p:cxnSp>
        <p:nvCxnSpPr>
          <p:cNvPr id="29" name="직선 화살표 연결선 28">
            <a:extLst>
              <a:ext uri="{FF2B5EF4-FFF2-40B4-BE49-F238E27FC236}">
                <a16:creationId xmlns:a16="http://schemas.microsoft.com/office/drawing/2014/main" id="{BE7D4001-62D4-4343-A658-3BD47F984154}"/>
              </a:ext>
            </a:extLst>
          </p:cNvPr>
          <p:cNvCxnSpPr>
            <a:endCxn id="27" idx="2"/>
          </p:cNvCxnSpPr>
          <p:nvPr/>
        </p:nvCxnSpPr>
        <p:spPr>
          <a:xfrm flipV="1">
            <a:off x="5570486" y="1605843"/>
            <a:ext cx="1" cy="15531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1" name="연결선: 꺾임 30">
            <a:extLst>
              <a:ext uri="{FF2B5EF4-FFF2-40B4-BE49-F238E27FC236}">
                <a16:creationId xmlns:a16="http://schemas.microsoft.com/office/drawing/2014/main" id="{F695AD41-0E97-4367-B90C-579C9C44D8E7}"/>
              </a:ext>
            </a:extLst>
          </p:cNvPr>
          <p:cNvCxnSpPr>
            <a:cxnSpLocks/>
            <a:stCxn id="27" idx="3"/>
            <a:endCxn id="35" idx="0"/>
          </p:cNvCxnSpPr>
          <p:nvPr/>
        </p:nvCxnSpPr>
        <p:spPr>
          <a:xfrm>
            <a:off x="6029106" y="1421177"/>
            <a:ext cx="3100199" cy="308131"/>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2" name="직선 연결선 31">
            <a:extLst>
              <a:ext uri="{FF2B5EF4-FFF2-40B4-BE49-F238E27FC236}">
                <a16:creationId xmlns:a16="http://schemas.microsoft.com/office/drawing/2014/main" id="{5EA96801-1BA0-468B-83AA-BDA74B785543}"/>
              </a:ext>
            </a:extLst>
          </p:cNvPr>
          <p:cNvCxnSpPr>
            <a:cxnSpLocks/>
          </p:cNvCxnSpPr>
          <p:nvPr/>
        </p:nvCxnSpPr>
        <p:spPr>
          <a:xfrm>
            <a:off x="8873598" y="1761156"/>
            <a:ext cx="511414"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 name="타원 34">
            <a:extLst>
              <a:ext uri="{FF2B5EF4-FFF2-40B4-BE49-F238E27FC236}">
                <a16:creationId xmlns:a16="http://schemas.microsoft.com/office/drawing/2014/main" id="{B3422E59-12D5-43FD-8C3B-529BD10AD35A}"/>
              </a:ext>
            </a:extLst>
          </p:cNvPr>
          <p:cNvSpPr/>
          <p:nvPr/>
        </p:nvSpPr>
        <p:spPr>
          <a:xfrm>
            <a:off x="9090486" y="1729308"/>
            <a:ext cx="77638" cy="6602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7" name="직선 연결선 36">
            <a:extLst>
              <a:ext uri="{FF2B5EF4-FFF2-40B4-BE49-F238E27FC236}">
                <a16:creationId xmlns:a16="http://schemas.microsoft.com/office/drawing/2014/main" id="{DC6A6F77-FA95-435F-A3EB-93A95CBD55D7}"/>
              </a:ext>
            </a:extLst>
          </p:cNvPr>
          <p:cNvCxnSpPr/>
          <p:nvPr/>
        </p:nvCxnSpPr>
        <p:spPr>
          <a:xfrm>
            <a:off x="6228176" y="1761156"/>
            <a:ext cx="376263"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76DA66D0-283F-4A44-A9CB-9BE8D5B3F2F7}"/>
              </a:ext>
            </a:extLst>
          </p:cNvPr>
          <p:cNvSpPr txBox="1"/>
          <p:nvPr/>
        </p:nvSpPr>
        <p:spPr>
          <a:xfrm>
            <a:off x="5977787" y="755868"/>
            <a:ext cx="917239" cy="369332"/>
          </a:xfrm>
          <a:prstGeom prst="rect">
            <a:avLst/>
          </a:prstGeom>
          <a:noFill/>
          <a:ln>
            <a:solidFill>
              <a:schemeClr val="bg1">
                <a:lumMod val="50000"/>
              </a:schemeClr>
            </a:solidFill>
          </a:ln>
        </p:spPr>
        <p:txBody>
          <a:bodyPr wrap="none" tIns="0" bIns="0" rtlCol="0">
            <a:spAutoFit/>
          </a:bodyPr>
          <a:lstStyle/>
          <a:p>
            <a:pPr algn="ctr"/>
            <a:r>
              <a:rPr lang="ko-KR" altLang="en-US" sz="1200" dirty="0"/>
              <a:t>기술사상의 </a:t>
            </a:r>
            <a:endParaRPr lang="en-US" altLang="ko-KR" sz="1200" dirty="0"/>
          </a:p>
          <a:p>
            <a:pPr algn="ctr"/>
            <a:r>
              <a:rPr lang="ko-KR" altLang="en-US" sz="1200" dirty="0"/>
              <a:t>핵심</a:t>
            </a:r>
          </a:p>
        </p:txBody>
      </p:sp>
      <p:cxnSp>
        <p:nvCxnSpPr>
          <p:cNvPr id="40" name="직선 화살표 연결선 39">
            <a:extLst>
              <a:ext uri="{FF2B5EF4-FFF2-40B4-BE49-F238E27FC236}">
                <a16:creationId xmlns:a16="http://schemas.microsoft.com/office/drawing/2014/main" id="{AD57C3E6-CCA4-4B82-A46F-C850CBCCACCB}"/>
              </a:ext>
            </a:extLst>
          </p:cNvPr>
          <p:cNvCxnSpPr>
            <a:cxnSpLocks/>
            <a:endCxn id="39" idx="2"/>
          </p:cNvCxnSpPr>
          <p:nvPr/>
        </p:nvCxnSpPr>
        <p:spPr>
          <a:xfrm flipV="1">
            <a:off x="6436407" y="1125200"/>
            <a:ext cx="0" cy="63595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 name="직선 연결선 44">
            <a:extLst>
              <a:ext uri="{FF2B5EF4-FFF2-40B4-BE49-F238E27FC236}">
                <a16:creationId xmlns:a16="http://schemas.microsoft.com/office/drawing/2014/main" id="{19479122-1E98-445B-AB32-DEEC04D46CBB}"/>
              </a:ext>
            </a:extLst>
          </p:cNvPr>
          <p:cNvCxnSpPr>
            <a:cxnSpLocks/>
          </p:cNvCxnSpPr>
          <p:nvPr/>
        </p:nvCxnSpPr>
        <p:spPr>
          <a:xfrm>
            <a:off x="9956407" y="1761156"/>
            <a:ext cx="511414"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타원 45">
            <a:extLst>
              <a:ext uri="{FF2B5EF4-FFF2-40B4-BE49-F238E27FC236}">
                <a16:creationId xmlns:a16="http://schemas.microsoft.com/office/drawing/2014/main" id="{DF71CCB4-8012-438E-B32B-A9ABDD81F93C}"/>
              </a:ext>
            </a:extLst>
          </p:cNvPr>
          <p:cNvSpPr/>
          <p:nvPr/>
        </p:nvSpPr>
        <p:spPr>
          <a:xfrm>
            <a:off x="10173295" y="1729308"/>
            <a:ext cx="77638" cy="6602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8" name="연결선: 꺾임 47">
            <a:extLst>
              <a:ext uri="{FF2B5EF4-FFF2-40B4-BE49-F238E27FC236}">
                <a16:creationId xmlns:a16="http://schemas.microsoft.com/office/drawing/2014/main" id="{50898BEC-72BD-4AD3-8921-AA664A31C9FC}"/>
              </a:ext>
            </a:extLst>
          </p:cNvPr>
          <p:cNvCxnSpPr>
            <a:stCxn id="39" idx="3"/>
            <a:endCxn id="46" idx="0"/>
          </p:cNvCxnSpPr>
          <p:nvPr/>
        </p:nvCxnSpPr>
        <p:spPr>
          <a:xfrm>
            <a:off x="6895026" y="940534"/>
            <a:ext cx="3317088" cy="788774"/>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0" name="직선 연결선 49">
            <a:extLst>
              <a:ext uri="{FF2B5EF4-FFF2-40B4-BE49-F238E27FC236}">
                <a16:creationId xmlns:a16="http://schemas.microsoft.com/office/drawing/2014/main" id="{FFC9945D-72FE-4D84-BFDD-D1C9BB687117}"/>
              </a:ext>
            </a:extLst>
          </p:cNvPr>
          <p:cNvCxnSpPr/>
          <p:nvPr/>
        </p:nvCxnSpPr>
        <p:spPr>
          <a:xfrm>
            <a:off x="0" y="3192964"/>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직선 연결선 51">
            <a:extLst>
              <a:ext uri="{FF2B5EF4-FFF2-40B4-BE49-F238E27FC236}">
                <a16:creationId xmlns:a16="http://schemas.microsoft.com/office/drawing/2014/main" id="{374DA387-EDBF-4F26-9AE5-DE973B706671}"/>
              </a:ext>
            </a:extLst>
          </p:cNvPr>
          <p:cNvCxnSpPr>
            <a:cxnSpLocks/>
          </p:cNvCxnSpPr>
          <p:nvPr/>
        </p:nvCxnSpPr>
        <p:spPr>
          <a:xfrm>
            <a:off x="1547914" y="3857034"/>
            <a:ext cx="5322786" cy="0"/>
          </a:xfrm>
          <a:prstGeom prst="line">
            <a:avLst/>
          </a:prstGeom>
          <a:ln w="571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CFC94E9C-E199-4E10-ADE4-AD97B4127093}"/>
              </a:ext>
            </a:extLst>
          </p:cNvPr>
          <p:cNvSpPr txBox="1"/>
          <p:nvPr/>
        </p:nvSpPr>
        <p:spPr>
          <a:xfrm>
            <a:off x="742165" y="3566527"/>
            <a:ext cx="788999" cy="584775"/>
          </a:xfrm>
          <a:prstGeom prst="rect">
            <a:avLst/>
          </a:prstGeom>
          <a:noFill/>
          <a:ln>
            <a:solidFill>
              <a:schemeClr val="bg1">
                <a:lumMod val="50000"/>
              </a:schemeClr>
            </a:solidFill>
          </a:ln>
        </p:spPr>
        <p:txBody>
          <a:bodyPr wrap="none" rtlCol="0">
            <a:spAutoFit/>
          </a:bodyPr>
          <a:lstStyle/>
          <a:p>
            <a:pPr algn="ctr"/>
            <a:r>
              <a:rPr lang="ko-KR" altLang="en-US" dirty="0"/>
              <a:t>사상</a:t>
            </a:r>
            <a:endParaRPr lang="en-US" altLang="ko-KR" dirty="0"/>
          </a:p>
          <a:p>
            <a:pPr algn="ctr"/>
            <a:r>
              <a:rPr lang="en-US" altLang="ko-KR" sz="1400" dirty="0"/>
              <a:t>(</a:t>
            </a:r>
            <a:r>
              <a:rPr lang="ko-KR" altLang="en-US" sz="1400" dirty="0"/>
              <a:t>추상적</a:t>
            </a:r>
            <a:r>
              <a:rPr lang="en-US" altLang="ko-KR" sz="1400" dirty="0"/>
              <a:t>)</a:t>
            </a:r>
            <a:endParaRPr lang="ko-KR" altLang="en-US" sz="1400" dirty="0"/>
          </a:p>
        </p:txBody>
      </p:sp>
      <p:sp>
        <p:nvSpPr>
          <p:cNvPr id="56" name="타원 55">
            <a:extLst>
              <a:ext uri="{FF2B5EF4-FFF2-40B4-BE49-F238E27FC236}">
                <a16:creationId xmlns:a16="http://schemas.microsoft.com/office/drawing/2014/main" id="{5BADE8EA-CE74-424B-B21B-0DCF7BE2C9EF}"/>
              </a:ext>
            </a:extLst>
          </p:cNvPr>
          <p:cNvSpPr/>
          <p:nvPr/>
        </p:nvSpPr>
        <p:spPr>
          <a:xfrm>
            <a:off x="1563244" y="4616407"/>
            <a:ext cx="196254" cy="196189"/>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accent4">
                    <a:lumMod val="60000"/>
                    <a:lumOff val="40000"/>
                  </a:schemeClr>
                </a:solidFill>
              </a:rPr>
              <a:t>1</a:t>
            </a:r>
            <a:endParaRPr lang="ko-KR" altLang="en-US" dirty="0">
              <a:solidFill>
                <a:schemeClr val="accent4">
                  <a:lumMod val="60000"/>
                  <a:lumOff val="40000"/>
                </a:schemeClr>
              </a:solidFill>
            </a:endParaRPr>
          </a:p>
        </p:txBody>
      </p:sp>
      <p:sp>
        <p:nvSpPr>
          <p:cNvPr id="57" name="타원 56">
            <a:extLst>
              <a:ext uri="{FF2B5EF4-FFF2-40B4-BE49-F238E27FC236}">
                <a16:creationId xmlns:a16="http://schemas.microsoft.com/office/drawing/2014/main" id="{32CB8D89-24F9-4822-8504-A588EDDD5206}"/>
              </a:ext>
            </a:extLst>
          </p:cNvPr>
          <p:cNvSpPr/>
          <p:nvPr/>
        </p:nvSpPr>
        <p:spPr>
          <a:xfrm>
            <a:off x="3126181" y="4616407"/>
            <a:ext cx="196254" cy="19618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bg1">
                  <a:lumMod val="50000"/>
                </a:schemeClr>
              </a:solidFill>
            </a:endParaRPr>
          </a:p>
        </p:txBody>
      </p:sp>
      <p:sp>
        <p:nvSpPr>
          <p:cNvPr id="58" name="타원 57">
            <a:extLst>
              <a:ext uri="{FF2B5EF4-FFF2-40B4-BE49-F238E27FC236}">
                <a16:creationId xmlns:a16="http://schemas.microsoft.com/office/drawing/2014/main" id="{CD8D8B6C-2FE5-4236-9325-00219CC37419}"/>
              </a:ext>
            </a:extLst>
          </p:cNvPr>
          <p:cNvSpPr/>
          <p:nvPr/>
        </p:nvSpPr>
        <p:spPr>
          <a:xfrm>
            <a:off x="3126181" y="4875097"/>
            <a:ext cx="196254" cy="19618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9" name="타원 58">
            <a:extLst>
              <a:ext uri="{FF2B5EF4-FFF2-40B4-BE49-F238E27FC236}">
                <a16:creationId xmlns:a16="http://schemas.microsoft.com/office/drawing/2014/main" id="{84A8D9BC-2A52-4D0E-9F95-0BCA33430E05}"/>
              </a:ext>
            </a:extLst>
          </p:cNvPr>
          <p:cNvSpPr/>
          <p:nvPr/>
        </p:nvSpPr>
        <p:spPr>
          <a:xfrm>
            <a:off x="4676407" y="4616407"/>
            <a:ext cx="196254" cy="196189"/>
          </a:xfrm>
          <a:prstGeom prst="ellipse">
            <a:avLst/>
          </a:prstGeom>
          <a:solidFill>
            <a:schemeClr val="accent3">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accent4">
                    <a:lumMod val="60000"/>
                    <a:lumOff val="40000"/>
                  </a:schemeClr>
                </a:solidFill>
              </a:rPr>
              <a:t>2</a:t>
            </a:r>
            <a:endParaRPr lang="ko-KR" altLang="en-US" dirty="0">
              <a:solidFill>
                <a:schemeClr val="accent4">
                  <a:lumMod val="60000"/>
                  <a:lumOff val="40000"/>
                </a:schemeClr>
              </a:solidFill>
            </a:endParaRPr>
          </a:p>
        </p:txBody>
      </p:sp>
      <p:sp>
        <p:nvSpPr>
          <p:cNvPr id="60" name="타원 59">
            <a:extLst>
              <a:ext uri="{FF2B5EF4-FFF2-40B4-BE49-F238E27FC236}">
                <a16:creationId xmlns:a16="http://schemas.microsoft.com/office/drawing/2014/main" id="{44D52CF0-2570-4219-B143-4708639E68A8}"/>
              </a:ext>
            </a:extLst>
          </p:cNvPr>
          <p:cNvSpPr/>
          <p:nvPr/>
        </p:nvSpPr>
        <p:spPr>
          <a:xfrm>
            <a:off x="4676407" y="4875097"/>
            <a:ext cx="196254" cy="19618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1" name="타원 60">
            <a:extLst>
              <a:ext uri="{FF2B5EF4-FFF2-40B4-BE49-F238E27FC236}">
                <a16:creationId xmlns:a16="http://schemas.microsoft.com/office/drawing/2014/main" id="{B8388A53-2351-42EA-ABF5-11CB52EF4D51}"/>
              </a:ext>
            </a:extLst>
          </p:cNvPr>
          <p:cNvSpPr/>
          <p:nvPr/>
        </p:nvSpPr>
        <p:spPr>
          <a:xfrm>
            <a:off x="6557091" y="4616407"/>
            <a:ext cx="196254" cy="196189"/>
          </a:xfrm>
          <a:prstGeom prst="ellipse">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62" name="타원 61">
            <a:extLst>
              <a:ext uri="{FF2B5EF4-FFF2-40B4-BE49-F238E27FC236}">
                <a16:creationId xmlns:a16="http://schemas.microsoft.com/office/drawing/2014/main" id="{9547E1B9-FD74-4D4F-9088-35124329E35E}"/>
              </a:ext>
            </a:extLst>
          </p:cNvPr>
          <p:cNvSpPr/>
          <p:nvPr/>
        </p:nvSpPr>
        <p:spPr>
          <a:xfrm>
            <a:off x="6557091" y="4875097"/>
            <a:ext cx="196254" cy="19618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3" name="타원 62">
            <a:extLst>
              <a:ext uri="{FF2B5EF4-FFF2-40B4-BE49-F238E27FC236}">
                <a16:creationId xmlns:a16="http://schemas.microsoft.com/office/drawing/2014/main" id="{342947D0-770C-4A44-AAB6-E3EA72892A4D}"/>
              </a:ext>
            </a:extLst>
          </p:cNvPr>
          <p:cNvSpPr/>
          <p:nvPr/>
        </p:nvSpPr>
        <p:spPr>
          <a:xfrm>
            <a:off x="4676407" y="5136614"/>
            <a:ext cx="196254" cy="19618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4" name="타원 63">
            <a:extLst>
              <a:ext uri="{FF2B5EF4-FFF2-40B4-BE49-F238E27FC236}">
                <a16:creationId xmlns:a16="http://schemas.microsoft.com/office/drawing/2014/main" id="{2C4C55E1-3907-42B8-AC2D-FB43510F62B5}"/>
              </a:ext>
            </a:extLst>
          </p:cNvPr>
          <p:cNvSpPr/>
          <p:nvPr/>
        </p:nvSpPr>
        <p:spPr>
          <a:xfrm>
            <a:off x="4676407" y="5402356"/>
            <a:ext cx="196254" cy="19618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타원 64">
            <a:extLst>
              <a:ext uri="{FF2B5EF4-FFF2-40B4-BE49-F238E27FC236}">
                <a16:creationId xmlns:a16="http://schemas.microsoft.com/office/drawing/2014/main" id="{6523B457-ABB8-44EE-8F4A-E9C6BA6B466F}"/>
              </a:ext>
            </a:extLst>
          </p:cNvPr>
          <p:cNvSpPr/>
          <p:nvPr/>
        </p:nvSpPr>
        <p:spPr>
          <a:xfrm>
            <a:off x="6557091" y="5126736"/>
            <a:ext cx="196254" cy="19618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6" name="타원 65">
            <a:extLst>
              <a:ext uri="{FF2B5EF4-FFF2-40B4-BE49-F238E27FC236}">
                <a16:creationId xmlns:a16="http://schemas.microsoft.com/office/drawing/2014/main" id="{3050AF93-90B6-469D-9D2F-0DDB8E050EBE}"/>
              </a:ext>
            </a:extLst>
          </p:cNvPr>
          <p:cNvSpPr/>
          <p:nvPr/>
        </p:nvSpPr>
        <p:spPr>
          <a:xfrm>
            <a:off x="6557091" y="5392477"/>
            <a:ext cx="196254" cy="19618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 name="타원 70">
            <a:extLst>
              <a:ext uri="{FF2B5EF4-FFF2-40B4-BE49-F238E27FC236}">
                <a16:creationId xmlns:a16="http://schemas.microsoft.com/office/drawing/2014/main" id="{B2C6A636-AA10-4265-A144-F22D32A14766}"/>
              </a:ext>
            </a:extLst>
          </p:cNvPr>
          <p:cNvSpPr/>
          <p:nvPr/>
        </p:nvSpPr>
        <p:spPr>
          <a:xfrm>
            <a:off x="6557091" y="5683244"/>
            <a:ext cx="196254" cy="196189"/>
          </a:xfrm>
          <a:prstGeom prst="ellipse">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4</a:t>
            </a:r>
            <a:endParaRPr lang="ko-KR" altLang="en-US" dirty="0"/>
          </a:p>
        </p:txBody>
      </p:sp>
      <p:sp>
        <p:nvSpPr>
          <p:cNvPr id="72" name="타원 71">
            <a:extLst>
              <a:ext uri="{FF2B5EF4-FFF2-40B4-BE49-F238E27FC236}">
                <a16:creationId xmlns:a16="http://schemas.microsoft.com/office/drawing/2014/main" id="{2F1FB8BD-6BF1-4839-A714-E7747B4BE477}"/>
              </a:ext>
            </a:extLst>
          </p:cNvPr>
          <p:cNvSpPr/>
          <p:nvPr/>
        </p:nvSpPr>
        <p:spPr>
          <a:xfrm>
            <a:off x="6557091" y="5941934"/>
            <a:ext cx="196254" cy="19618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3" name="타원 72">
            <a:extLst>
              <a:ext uri="{FF2B5EF4-FFF2-40B4-BE49-F238E27FC236}">
                <a16:creationId xmlns:a16="http://schemas.microsoft.com/office/drawing/2014/main" id="{F6FAEE08-66A6-4C1E-A007-C007BA5700EF}"/>
              </a:ext>
            </a:extLst>
          </p:cNvPr>
          <p:cNvSpPr/>
          <p:nvPr/>
        </p:nvSpPr>
        <p:spPr>
          <a:xfrm>
            <a:off x="6557091" y="6193573"/>
            <a:ext cx="196254" cy="19618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타원 73">
            <a:extLst>
              <a:ext uri="{FF2B5EF4-FFF2-40B4-BE49-F238E27FC236}">
                <a16:creationId xmlns:a16="http://schemas.microsoft.com/office/drawing/2014/main" id="{06977C56-CAFC-4021-9B55-EC2A96154239}"/>
              </a:ext>
            </a:extLst>
          </p:cNvPr>
          <p:cNvSpPr/>
          <p:nvPr/>
        </p:nvSpPr>
        <p:spPr>
          <a:xfrm>
            <a:off x="6557091" y="6459314"/>
            <a:ext cx="196254" cy="19618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6" name="연결선: 꺾임 75">
            <a:extLst>
              <a:ext uri="{FF2B5EF4-FFF2-40B4-BE49-F238E27FC236}">
                <a16:creationId xmlns:a16="http://schemas.microsoft.com/office/drawing/2014/main" id="{0DF74135-B6C0-4D1F-8986-ACE5D2D4CF55}"/>
              </a:ext>
            </a:extLst>
          </p:cNvPr>
          <p:cNvCxnSpPr>
            <a:stCxn id="56" idx="6"/>
            <a:endCxn id="57" idx="2"/>
          </p:cNvCxnSpPr>
          <p:nvPr/>
        </p:nvCxnSpPr>
        <p:spPr>
          <a:xfrm>
            <a:off x="1759498" y="4714502"/>
            <a:ext cx="1366683"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연결선: 꺾임 77">
            <a:extLst>
              <a:ext uri="{FF2B5EF4-FFF2-40B4-BE49-F238E27FC236}">
                <a16:creationId xmlns:a16="http://schemas.microsoft.com/office/drawing/2014/main" id="{EB0244E2-9CE3-4C4B-9FAF-2C821997E8FA}"/>
              </a:ext>
            </a:extLst>
          </p:cNvPr>
          <p:cNvCxnSpPr>
            <a:stCxn id="56" idx="6"/>
            <a:endCxn id="58" idx="2"/>
          </p:cNvCxnSpPr>
          <p:nvPr/>
        </p:nvCxnSpPr>
        <p:spPr>
          <a:xfrm>
            <a:off x="1759498" y="4714502"/>
            <a:ext cx="1366683" cy="25869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연결선: 꺾임 79">
            <a:extLst>
              <a:ext uri="{FF2B5EF4-FFF2-40B4-BE49-F238E27FC236}">
                <a16:creationId xmlns:a16="http://schemas.microsoft.com/office/drawing/2014/main" id="{9CE93995-6832-4837-9C66-FD8EB25A6D0B}"/>
              </a:ext>
            </a:extLst>
          </p:cNvPr>
          <p:cNvCxnSpPr>
            <a:stCxn id="57" idx="6"/>
            <a:endCxn id="59" idx="2"/>
          </p:cNvCxnSpPr>
          <p:nvPr/>
        </p:nvCxnSpPr>
        <p:spPr>
          <a:xfrm>
            <a:off x="3322435" y="4714502"/>
            <a:ext cx="1353972"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연결선: 꺾임 81">
            <a:extLst>
              <a:ext uri="{FF2B5EF4-FFF2-40B4-BE49-F238E27FC236}">
                <a16:creationId xmlns:a16="http://schemas.microsoft.com/office/drawing/2014/main" id="{5238094A-6734-4526-852B-CBDC5737910E}"/>
              </a:ext>
            </a:extLst>
          </p:cNvPr>
          <p:cNvCxnSpPr>
            <a:stCxn id="57" idx="6"/>
            <a:endCxn id="60" idx="2"/>
          </p:cNvCxnSpPr>
          <p:nvPr/>
        </p:nvCxnSpPr>
        <p:spPr>
          <a:xfrm>
            <a:off x="3322435" y="4714502"/>
            <a:ext cx="1353972" cy="25869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연결선: 꺾임 83">
            <a:extLst>
              <a:ext uri="{FF2B5EF4-FFF2-40B4-BE49-F238E27FC236}">
                <a16:creationId xmlns:a16="http://schemas.microsoft.com/office/drawing/2014/main" id="{2EC9A48B-51BC-442D-8D38-0D25A802EB1E}"/>
              </a:ext>
            </a:extLst>
          </p:cNvPr>
          <p:cNvCxnSpPr>
            <a:stCxn id="58" idx="6"/>
            <a:endCxn id="63" idx="2"/>
          </p:cNvCxnSpPr>
          <p:nvPr/>
        </p:nvCxnSpPr>
        <p:spPr>
          <a:xfrm>
            <a:off x="3322435" y="4973192"/>
            <a:ext cx="1353972" cy="261517"/>
          </a:xfrm>
          <a:prstGeom prst="bentConnector3">
            <a:avLst>
              <a:gd name="adj1" fmla="val 3804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연결선: 꺾임 86">
            <a:extLst>
              <a:ext uri="{FF2B5EF4-FFF2-40B4-BE49-F238E27FC236}">
                <a16:creationId xmlns:a16="http://schemas.microsoft.com/office/drawing/2014/main" id="{74B53530-52DE-488F-A85D-31E1AEE89162}"/>
              </a:ext>
            </a:extLst>
          </p:cNvPr>
          <p:cNvCxnSpPr>
            <a:stCxn id="58" idx="6"/>
            <a:endCxn id="64" idx="2"/>
          </p:cNvCxnSpPr>
          <p:nvPr/>
        </p:nvCxnSpPr>
        <p:spPr>
          <a:xfrm>
            <a:off x="3322435" y="4973192"/>
            <a:ext cx="1353972" cy="527259"/>
          </a:xfrm>
          <a:prstGeom prst="bentConnector3">
            <a:avLst>
              <a:gd name="adj1" fmla="val 3804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연결선: 꺾임 89">
            <a:extLst>
              <a:ext uri="{FF2B5EF4-FFF2-40B4-BE49-F238E27FC236}">
                <a16:creationId xmlns:a16="http://schemas.microsoft.com/office/drawing/2014/main" id="{E274B664-0BDD-4943-8A71-0EE3E319233D}"/>
              </a:ext>
            </a:extLst>
          </p:cNvPr>
          <p:cNvCxnSpPr>
            <a:stCxn id="59" idx="6"/>
            <a:endCxn id="61" idx="2"/>
          </p:cNvCxnSpPr>
          <p:nvPr/>
        </p:nvCxnSpPr>
        <p:spPr>
          <a:xfrm>
            <a:off x="4872661" y="4714502"/>
            <a:ext cx="1684430"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연결선: 꺾임 91">
            <a:extLst>
              <a:ext uri="{FF2B5EF4-FFF2-40B4-BE49-F238E27FC236}">
                <a16:creationId xmlns:a16="http://schemas.microsoft.com/office/drawing/2014/main" id="{93AF7F39-A803-40F5-B78C-F161878B4B31}"/>
              </a:ext>
            </a:extLst>
          </p:cNvPr>
          <p:cNvCxnSpPr>
            <a:stCxn id="59" idx="6"/>
            <a:endCxn id="62" idx="2"/>
          </p:cNvCxnSpPr>
          <p:nvPr/>
        </p:nvCxnSpPr>
        <p:spPr>
          <a:xfrm>
            <a:off x="4872661" y="4714502"/>
            <a:ext cx="1684430" cy="25869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연결선: 꺾임 93">
            <a:extLst>
              <a:ext uri="{FF2B5EF4-FFF2-40B4-BE49-F238E27FC236}">
                <a16:creationId xmlns:a16="http://schemas.microsoft.com/office/drawing/2014/main" id="{C1A12389-238E-4BD1-9144-9FCDFA5EC1EB}"/>
              </a:ext>
            </a:extLst>
          </p:cNvPr>
          <p:cNvCxnSpPr>
            <a:stCxn id="60" idx="6"/>
            <a:endCxn id="65" idx="2"/>
          </p:cNvCxnSpPr>
          <p:nvPr/>
        </p:nvCxnSpPr>
        <p:spPr>
          <a:xfrm>
            <a:off x="4872661" y="4973192"/>
            <a:ext cx="1684430" cy="251639"/>
          </a:xfrm>
          <a:prstGeom prst="bentConnector3">
            <a:avLst>
              <a:gd name="adj1" fmla="val 4378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연결선: 꺾임 95">
            <a:extLst>
              <a:ext uri="{FF2B5EF4-FFF2-40B4-BE49-F238E27FC236}">
                <a16:creationId xmlns:a16="http://schemas.microsoft.com/office/drawing/2014/main" id="{11F29B98-B61C-4964-A6D4-C48325C8F1F4}"/>
              </a:ext>
            </a:extLst>
          </p:cNvPr>
          <p:cNvCxnSpPr>
            <a:stCxn id="60" idx="6"/>
            <a:endCxn id="66" idx="2"/>
          </p:cNvCxnSpPr>
          <p:nvPr/>
        </p:nvCxnSpPr>
        <p:spPr>
          <a:xfrm>
            <a:off x="4872661" y="4973192"/>
            <a:ext cx="1684430" cy="517380"/>
          </a:xfrm>
          <a:prstGeom prst="bentConnector3">
            <a:avLst>
              <a:gd name="adj1" fmla="val 4378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연결선: 꺾임 99">
            <a:extLst>
              <a:ext uri="{FF2B5EF4-FFF2-40B4-BE49-F238E27FC236}">
                <a16:creationId xmlns:a16="http://schemas.microsoft.com/office/drawing/2014/main" id="{BBF8E595-EE05-4460-9FE4-C2837310DB27}"/>
              </a:ext>
            </a:extLst>
          </p:cNvPr>
          <p:cNvCxnSpPr>
            <a:stCxn id="63" idx="6"/>
            <a:endCxn id="71" idx="2"/>
          </p:cNvCxnSpPr>
          <p:nvPr/>
        </p:nvCxnSpPr>
        <p:spPr>
          <a:xfrm>
            <a:off x="4872661" y="5234709"/>
            <a:ext cx="1684430" cy="546630"/>
          </a:xfrm>
          <a:prstGeom prst="bentConnector3">
            <a:avLst>
              <a:gd name="adj1" fmla="val 34167"/>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연결선: 꺾임 102">
            <a:extLst>
              <a:ext uri="{FF2B5EF4-FFF2-40B4-BE49-F238E27FC236}">
                <a16:creationId xmlns:a16="http://schemas.microsoft.com/office/drawing/2014/main" id="{D9D2B1D5-29B7-426F-8E0B-4E4E351B7F34}"/>
              </a:ext>
            </a:extLst>
          </p:cNvPr>
          <p:cNvCxnSpPr>
            <a:stCxn id="63" idx="6"/>
            <a:endCxn id="72" idx="2"/>
          </p:cNvCxnSpPr>
          <p:nvPr/>
        </p:nvCxnSpPr>
        <p:spPr>
          <a:xfrm>
            <a:off x="4872661" y="5234709"/>
            <a:ext cx="1684430" cy="805320"/>
          </a:xfrm>
          <a:prstGeom prst="bentConnector3">
            <a:avLst>
              <a:gd name="adj1" fmla="val 34167"/>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연결선: 꺾임 105">
            <a:extLst>
              <a:ext uri="{FF2B5EF4-FFF2-40B4-BE49-F238E27FC236}">
                <a16:creationId xmlns:a16="http://schemas.microsoft.com/office/drawing/2014/main" id="{3D85C5F6-C59C-4610-95B8-96EE2211683E}"/>
              </a:ext>
            </a:extLst>
          </p:cNvPr>
          <p:cNvCxnSpPr>
            <a:stCxn id="64" idx="6"/>
            <a:endCxn id="73" idx="2"/>
          </p:cNvCxnSpPr>
          <p:nvPr/>
        </p:nvCxnSpPr>
        <p:spPr>
          <a:xfrm>
            <a:off x="4872661" y="5500451"/>
            <a:ext cx="1684430" cy="791217"/>
          </a:xfrm>
          <a:prstGeom prst="bentConnector3">
            <a:avLst>
              <a:gd name="adj1" fmla="val 24667"/>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연결선: 꺾임 108">
            <a:extLst>
              <a:ext uri="{FF2B5EF4-FFF2-40B4-BE49-F238E27FC236}">
                <a16:creationId xmlns:a16="http://schemas.microsoft.com/office/drawing/2014/main" id="{6D93675A-17D6-44B9-9ED0-00F7C258DBD0}"/>
              </a:ext>
            </a:extLst>
          </p:cNvPr>
          <p:cNvCxnSpPr>
            <a:stCxn id="64" idx="6"/>
            <a:endCxn id="74" idx="2"/>
          </p:cNvCxnSpPr>
          <p:nvPr/>
        </p:nvCxnSpPr>
        <p:spPr>
          <a:xfrm>
            <a:off x="4872661" y="5500451"/>
            <a:ext cx="1684430" cy="1056958"/>
          </a:xfrm>
          <a:prstGeom prst="bentConnector3">
            <a:avLst>
              <a:gd name="adj1" fmla="val 24667"/>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6" name="화살표: 왼쪽 115">
            <a:extLst>
              <a:ext uri="{FF2B5EF4-FFF2-40B4-BE49-F238E27FC236}">
                <a16:creationId xmlns:a16="http://schemas.microsoft.com/office/drawing/2014/main" id="{32829C73-F900-4751-8110-C07CC215C664}"/>
              </a:ext>
            </a:extLst>
          </p:cNvPr>
          <p:cNvSpPr/>
          <p:nvPr/>
        </p:nvSpPr>
        <p:spPr>
          <a:xfrm>
            <a:off x="1661371" y="3256300"/>
            <a:ext cx="5061428" cy="516944"/>
          </a:xfrm>
          <a:prstGeom prst="leftArrow">
            <a:avLst>
              <a:gd name="adj1" fmla="val 79481"/>
              <a:gd name="adj2" fmla="val 42630"/>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50000"/>
                  </a:schemeClr>
                </a:solidFill>
              </a:rPr>
              <a:t>내적 증거</a:t>
            </a:r>
            <a:r>
              <a:rPr lang="en-US" altLang="ko-KR" dirty="0">
                <a:solidFill>
                  <a:schemeClr val="bg1">
                    <a:lumMod val="50000"/>
                  </a:schemeClr>
                </a:solidFill>
              </a:rPr>
              <a:t>: </a:t>
            </a:r>
            <a:r>
              <a:rPr lang="ko-KR" altLang="en-US" dirty="0">
                <a:solidFill>
                  <a:schemeClr val="bg1">
                    <a:lumMod val="50000"/>
                  </a:schemeClr>
                </a:solidFill>
              </a:rPr>
              <a:t>명세서</a:t>
            </a:r>
            <a:r>
              <a:rPr lang="en-US" altLang="ko-KR" dirty="0">
                <a:solidFill>
                  <a:schemeClr val="bg1">
                    <a:lumMod val="50000"/>
                  </a:schemeClr>
                </a:solidFill>
              </a:rPr>
              <a:t>(</a:t>
            </a:r>
            <a:r>
              <a:rPr lang="ko-KR" altLang="en-US" dirty="0">
                <a:solidFill>
                  <a:schemeClr val="bg1">
                    <a:lumMod val="50000"/>
                  </a:schemeClr>
                </a:solidFill>
              </a:rPr>
              <a:t>大</a:t>
            </a:r>
            <a:r>
              <a:rPr lang="en-US" altLang="ko-KR" dirty="0">
                <a:solidFill>
                  <a:schemeClr val="bg1">
                    <a:lumMod val="50000"/>
                  </a:schemeClr>
                </a:solidFill>
              </a:rPr>
              <a:t>)</a:t>
            </a:r>
            <a:endParaRPr lang="ko-KR" altLang="en-US" dirty="0">
              <a:solidFill>
                <a:schemeClr val="bg1">
                  <a:lumMod val="50000"/>
                </a:schemeClr>
              </a:solidFill>
            </a:endParaRPr>
          </a:p>
        </p:txBody>
      </p:sp>
      <p:sp>
        <p:nvSpPr>
          <p:cNvPr id="117" name="화살표: 오른쪽 116">
            <a:extLst>
              <a:ext uri="{FF2B5EF4-FFF2-40B4-BE49-F238E27FC236}">
                <a16:creationId xmlns:a16="http://schemas.microsoft.com/office/drawing/2014/main" id="{C60943A4-928A-4F03-984D-6A5BA63AFBB1}"/>
              </a:ext>
            </a:extLst>
          </p:cNvPr>
          <p:cNvSpPr/>
          <p:nvPr/>
        </p:nvSpPr>
        <p:spPr>
          <a:xfrm>
            <a:off x="1661371" y="3920534"/>
            <a:ext cx="3069534" cy="586457"/>
          </a:xfrm>
          <a:prstGeom prst="rightArrow">
            <a:avLst>
              <a:gd name="adj1" fmla="val 80318"/>
              <a:gd name="adj2" fmla="val 50000"/>
            </a:avLst>
          </a:prstGeom>
          <a:solidFill>
            <a:schemeClr val="accent2">
              <a:lumMod val="20000"/>
              <a:lumOff val="8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50000"/>
                  </a:schemeClr>
                </a:solidFill>
              </a:rPr>
              <a:t>외적 증거</a:t>
            </a:r>
            <a:r>
              <a:rPr lang="en-US" altLang="ko-KR" dirty="0">
                <a:solidFill>
                  <a:schemeClr val="bg1">
                    <a:lumMod val="50000"/>
                  </a:schemeClr>
                </a:solidFill>
              </a:rPr>
              <a:t>: </a:t>
            </a:r>
            <a:r>
              <a:rPr lang="ko-KR" altLang="en-US" dirty="0">
                <a:solidFill>
                  <a:schemeClr val="bg1">
                    <a:lumMod val="50000"/>
                  </a:schemeClr>
                </a:solidFill>
              </a:rPr>
              <a:t>공지기술</a:t>
            </a:r>
            <a:r>
              <a:rPr lang="en-US" altLang="ko-KR" dirty="0">
                <a:solidFill>
                  <a:schemeClr val="bg1">
                    <a:lumMod val="50000"/>
                  </a:schemeClr>
                </a:solidFill>
              </a:rPr>
              <a:t>(</a:t>
            </a:r>
            <a:r>
              <a:rPr lang="ko-KR" altLang="en-US" dirty="0">
                <a:solidFill>
                  <a:schemeClr val="bg1">
                    <a:lumMod val="50000"/>
                  </a:schemeClr>
                </a:solidFill>
              </a:rPr>
              <a:t>小</a:t>
            </a:r>
            <a:r>
              <a:rPr lang="en-US" altLang="ko-KR" dirty="0">
                <a:solidFill>
                  <a:schemeClr val="bg1">
                    <a:lumMod val="50000"/>
                  </a:schemeClr>
                </a:solidFill>
              </a:rPr>
              <a:t>)</a:t>
            </a:r>
            <a:endParaRPr lang="ko-KR" altLang="en-US" dirty="0">
              <a:solidFill>
                <a:schemeClr val="bg1">
                  <a:lumMod val="50000"/>
                </a:schemeClr>
              </a:solidFill>
            </a:endParaRPr>
          </a:p>
        </p:txBody>
      </p:sp>
      <p:sp>
        <p:nvSpPr>
          <p:cNvPr id="120" name="TextBox 119">
            <a:extLst>
              <a:ext uri="{FF2B5EF4-FFF2-40B4-BE49-F238E27FC236}">
                <a16:creationId xmlns:a16="http://schemas.microsoft.com/office/drawing/2014/main" id="{FEFC63E3-3886-4A20-8CF8-30AD7DD76538}"/>
              </a:ext>
            </a:extLst>
          </p:cNvPr>
          <p:cNvSpPr txBox="1"/>
          <p:nvPr/>
        </p:nvSpPr>
        <p:spPr>
          <a:xfrm>
            <a:off x="6945775" y="4485609"/>
            <a:ext cx="5068425" cy="1077218"/>
          </a:xfrm>
          <a:prstGeom prst="rect">
            <a:avLst/>
          </a:prstGeom>
          <a:noFill/>
          <a:ln>
            <a:solidFill>
              <a:schemeClr val="bg1">
                <a:lumMod val="50000"/>
              </a:schemeClr>
            </a:solidFill>
          </a:ln>
        </p:spPr>
        <p:txBody>
          <a:bodyPr wrap="square" rtlCol="0">
            <a:spAutoFit/>
          </a:bodyPr>
          <a:lstStyle/>
          <a:p>
            <a:r>
              <a:rPr lang="ko-KR" altLang="en-US" sz="1600" dirty="0">
                <a:solidFill>
                  <a:srgbClr val="FF0000"/>
                </a:solidFill>
              </a:rPr>
              <a:t>특허발명</a:t>
            </a:r>
            <a:r>
              <a:rPr lang="en-US" altLang="ko-KR" sz="1600" dirty="0">
                <a:solidFill>
                  <a:srgbClr val="FF0000"/>
                </a:solidFill>
              </a:rPr>
              <a:t>(3)</a:t>
            </a:r>
            <a:r>
              <a:rPr lang="ko-KR" altLang="en-US" sz="1600" dirty="0">
                <a:solidFill>
                  <a:srgbClr val="FF0000"/>
                </a:solidFill>
              </a:rPr>
              <a:t>의 기술사상의 핵심이 </a:t>
            </a:r>
            <a:r>
              <a:rPr lang="en-US" altLang="ko-KR" sz="1600" dirty="0">
                <a:solidFill>
                  <a:srgbClr val="FF0000"/>
                </a:solidFill>
              </a:rPr>
              <a:t>1</a:t>
            </a:r>
            <a:r>
              <a:rPr lang="ko-KR" altLang="en-US" sz="1600" dirty="0">
                <a:solidFill>
                  <a:srgbClr val="FF0000"/>
                </a:solidFill>
              </a:rPr>
              <a:t>번으로 파악되는 경우</a:t>
            </a:r>
            <a:endParaRPr lang="en-US" altLang="ko-KR" sz="1600" dirty="0">
              <a:solidFill>
                <a:srgbClr val="FF0000"/>
              </a:solidFill>
            </a:endParaRPr>
          </a:p>
          <a:p>
            <a:r>
              <a:rPr lang="ko-KR" altLang="en-US" sz="1600" dirty="0">
                <a:solidFill>
                  <a:srgbClr val="FF0000"/>
                </a:solidFill>
              </a:rPr>
              <a:t>피고제품</a:t>
            </a:r>
            <a:r>
              <a:rPr lang="en-US" altLang="ko-KR" sz="1600" dirty="0">
                <a:solidFill>
                  <a:srgbClr val="FF0000"/>
                </a:solidFill>
              </a:rPr>
              <a:t>(4)</a:t>
            </a:r>
            <a:r>
              <a:rPr lang="ko-KR" altLang="en-US" sz="1600" dirty="0">
                <a:solidFill>
                  <a:srgbClr val="FF0000"/>
                </a:solidFill>
              </a:rPr>
              <a:t>은 과제의 해결원리가 동일한 반면</a:t>
            </a:r>
            <a:r>
              <a:rPr lang="en-US" altLang="ko-KR" sz="1600" dirty="0">
                <a:solidFill>
                  <a:srgbClr val="FF0000"/>
                </a:solidFill>
              </a:rPr>
              <a:t>,</a:t>
            </a:r>
          </a:p>
          <a:p>
            <a:r>
              <a:rPr lang="ko-KR" altLang="en-US" sz="1600" dirty="0">
                <a:solidFill>
                  <a:srgbClr val="FF0000"/>
                </a:solidFill>
              </a:rPr>
              <a:t>특허발명</a:t>
            </a:r>
            <a:r>
              <a:rPr lang="en-US" altLang="ko-KR" sz="1600" dirty="0">
                <a:solidFill>
                  <a:srgbClr val="FF0000"/>
                </a:solidFill>
              </a:rPr>
              <a:t>(3)</a:t>
            </a:r>
            <a:r>
              <a:rPr lang="ko-KR" altLang="en-US" sz="1600" dirty="0">
                <a:solidFill>
                  <a:srgbClr val="FF0000"/>
                </a:solidFill>
              </a:rPr>
              <a:t>의 기술사항의 핵심이 </a:t>
            </a:r>
            <a:r>
              <a:rPr lang="en-US" altLang="ko-KR" sz="1600" dirty="0">
                <a:solidFill>
                  <a:srgbClr val="FF0000"/>
                </a:solidFill>
              </a:rPr>
              <a:t>2</a:t>
            </a:r>
            <a:r>
              <a:rPr lang="ko-KR" altLang="en-US" sz="1600" dirty="0">
                <a:solidFill>
                  <a:srgbClr val="FF0000"/>
                </a:solidFill>
              </a:rPr>
              <a:t>번으로 파악되는 경우</a:t>
            </a:r>
            <a:endParaRPr lang="en-US" altLang="ko-KR" sz="1600" dirty="0">
              <a:solidFill>
                <a:srgbClr val="FF0000"/>
              </a:solidFill>
            </a:endParaRPr>
          </a:p>
          <a:p>
            <a:r>
              <a:rPr lang="ko-KR" altLang="en-US" sz="1600" dirty="0">
                <a:solidFill>
                  <a:srgbClr val="FF0000"/>
                </a:solidFill>
              </a:rPr>
              <a:t>피고제품</a:t>
            </a:r>
            <a:r>
              <a:rPr lang="en-US" altLang="ko-KR" sz="1600" dirty="0">
                <a:solidFill>
                  <a:srgbClr val="FF0000"/>
                </a:solidFill>
              </a:rPr>
              <a:t>(4)</a:t>
            </a:r>
            <a:r>
              <a:rPr lang="ko-KR" altLang="en-US" sz="1600" dirty="0">
                <a:solidFill>
                  <a:srgbClr val="FF0000"/>
                </a:solidFill>
              </a:rPr>
              <a:t>은 과제의 해결원리가 동일하지 않음</a:t>
            </a:r>
          </a:p>
        </p:txBody>
      </p:sp>
      <p:sp>
        <p:nvSpPr>
          <p:cNvPr id="127" name="TextBox 126">
            <a:extLst>
              <a:ext uri="{FF2B5EF4-FFF2-40B4-BE49-F238E27FC236}">
                <a16:creationId xmlns:a16="http://schemas.microsoft.com/office/drawing/2014/main" id="{16995C1B-F1C5-4ECB-98D4-759118B5B60C}"/>
              </a:ext>
            </a:extLst>
          </p:cNvPr>
          <p:cNvSpPr txBox="1"/>
          <p:nvPr/>
        </p:nvSpPr>
        <p:spPr>
          <a:xfrm>
            <a:off x="563766" y="5637369"/>
            <a:ext cx="1581103" cy="681038"/>
          </a:xfrm>
          <a:prstGeom prst="roundRect">
            <a:avLst/>
          </a:prstGeom>
          <a:solidFill>
            <a:schemeClr val="accent2">
              <a:lumMod val="50000"/>
            </a:schemeClr>
          </a:solidFill>
          <a:ln>
            <a:solidFill>
              <a:schemeClr val="bg1">
                <a:lumMod val="50000"/>
              </a:schemeClr>
            </a:solidFill>
          </a:ln>
        </p:spPr>
        <p:txBody>
          <a:bodyPr wrap="square" tIns="0" bIns="0" rtlCol="0">
            <a:spAutoFit/>
          </a:bodyPr>
          <a:lstStyle/>
          <a:p>
            <a:pPr algn="ctr"/>
            <a:r>
              <a:rPr lang="ko-KR" altLang="en-US" sz="2000" dirty="0">
                <a:solidFill>
                  <a:schemeClr val="bg1"/>
                </a:solidFill>
              </a:rPr>
              <a:t>기술사상의 </a:t>
            </a:r>
            <a:endParaRPr lang="en-US" altLang="ko-KR" sz="2000" dirty="0">
              <a:solidFill>
                <a:schemeClr val="bg1"/>
              </a:solidFill>
            </a:endParaRPr>
          </a:p>
          <a:p>
            <a:pPr algn="ctr"/>
            <a:r>
              <a:rPr lang="ko-KR" altLang="en-US" sz="2000" dirty="0">
                <a:solidFill>
                  <a:schemeClr val="bg1"/>
                </a:solidFill>
              </a:rPr>
              <a:t>핵심</a:t>
            </a:r>
          </a:p>
        </p:txBody>
      </p:sp>
      <p:sp>
        <p:nvSpPr>
          <p:cNvPr id="67" name="TextBox 66">
            <a:extLst>
              <a:ext uri="{FF2B5EF4-FFF2-40B4-BE49-F238E27FC236}">
                <a16:creationId xmlns:a16="http://schemas.microsoft.com/office/drawing/2014/main" id="{61E2DCF0-A9C6-4EBC-822D-6BA290267E2F}"/>
              </a:ext>
            </a:extLst>
          </p:cNvPr>
          <p:cNvSpPr txBox="1"/>
          <p:nvPr/>
        </p:nvSpPr>
        <p:spPr>
          <a:xfrm>
            <a:off x="6887450" y="3566527"/>
            <a:ext cx="788999" cy="584775"/>
          </a:xfrm>
          <a:prstGeom prst="rect">
            <a:avLst/>
          </a:prstGeom>
          <a:noFill/>
          <a:ln>
            <a:solidFill>
              <a:schemeClr val="bg1">
                <a:lumMod val="50000"/>
              </a:schemeClr>
            </a:solidFill>
          </a:ln>
        </p:spPr>
        <p:txBody>
          <a:bodyPr wrap="none" rtlCol="0">
            <a:spAutoFit/>
          </a:bodyPr>
          <a:lstStyle/>
          <a:p>
            <a:pPr algn="ctr"/>
            <a:r>
              <a:rPr lang="ko-KR" altLang="en-US" dirty="0"/>
              <a:t>기술</a:t>
            </a:r>
            <a:endParaRPr lang="en-US" altLang="ko-KR" dirty="0"/>
          </a:p>
          <a:p>
            <a:pPr algn="ctr"/>
            <a:r>
              <a:rPr lang="en-US" altLang="ko-KR" sz="1400" dirty="0"/>
              <a:t>(</a:t>
            </a:r>
            <a:r>
              <a:rPr lang="ko-KR" altLang="en-US" sz="1400" dirty="0"/>
              <a:t>구체적</a:t>
            </a:r>
            <a:r>
              <a:rPr lang="en-US" altLang="ko-KR" sz="1400" dirty="0"/>
              <a:t>)</a:t>
            </a:r>
            <a:endParaRPr lang="ko-KR" altLang="en-US" sz="1400" dirty="0"/>
          </a:p>
        </p:txBody>
      </p:sp>
      <p:sp>
        <p:nvSpPr>
          <p:cNvPr id="9" name="슬라이드 번호 개체 틀 1">
            <a:extLst>
              <a:ext uri="{FF2B5EF4-FFF2-40B4-BE49-F238E27FC236}">
                <a16:creationId xmlns:a16="http://schemas.microsoft.com/office/drawing/2014/main" id="{AA8DC480-8980-987E-67FA-5B37658F2BD9}"/>
              </a:ext>
            </a:extLst>
          </p:cNvPr>
          <p:cNvSpPr txBox="1">
            <a:spLocks/>
          </p:cNvSpPr>
          <p:nvPr/>
        </p:nvSpPr>
        <p:spPr>
          <a:xfrm>
            <a:off x="11125200" y="0"/>
            <a:ext cx="1066800" cy="744538"/>
          </a:xfrm>
          <a:prstGeom prst="rect">
            <a:avLst/>
          </a:prstGeom>
        </p:spPr>
        <p:txBody>
          <a:bodyPr vert="horz" lIns="91440" tIns="45720" rIns="91440" bIns="45720" rtlCol="0" anchor="ctr"/>
          <a:lstStyle>
            <a:defPPr>
              <a:defRPr lang="ko-KR"/>
            </a:defPPr>
            <a:lvl1pPr marL="0" algn="ctr" defTabSz="914400" rtl="0" eaLnBrk="1" latinLnBrk="1" hangingPunct="1">
              <a:defRPr sz="3600" b="1" kern="1200" cap="none" spc="0">
                <a:ln w="12700">
                  <a:solidFill>
                    <a:schemeClr val="tx2">
                      <a:satMod val="155000"/>
                    </a:schemeClr>
                  </a:solidFill>
                  <a:prstDash val="solid"/>
                </a:ln>
                <a:solidFill>
                  <a:schemeClr val="bg2">
                    <a:tint val="85000"/>
                    <a:satMod val="155000"/>
                  </a:schemeClr>
                </a:solidFill>
                <a:effectLst/>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fld id="{3875FC6C-1516-4DC4-8C58-3090F7D4F003}" type="slidenum">
              <a:rPr lang="ko-KR" altLang="en-US" smtClean="0"/>
              <a:pPr/>
              <a:t>342</a:t>
            </a:fld>
            <a:endParaRPr lang="ko-KR" altLang="en-US" dirty="0"/>
          </a:p>
        </p:txBody>
      </p:sp>
    </p:spTree>
    <p:extLst>
      <p:ext uri="{BB962C8B-B14F-4D97-AF65-F5344CB8AC3E}">
        <p14:creationId xmlns:p14="http://schemas.microsoft.com/office/powerpoint/2010/main" val="4010279389"/>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3" name="_x440835080" descr="EMB000042081dc3">
            <a:extLst>
              <a:ext uri="{FF2B5EF4-FFF2-40B4-BE49-F238E27FC236}">
                <a16:creationId xmlns:a16="http://schemas.microsoft.com/office/drawing/2014/main" id="{312419BF-16C0-48E9-8FDC-33538105A35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624" y="4289969"/>
            <a:ext cx="2211388" cy="2146300"/>
          </a:xfrm>
          <a:prstGeom prst="rect">
            <a:avLst/>
          </a:prstGeom>
          <a:noFill/>
          <a:extLst>
            <a:ext uri="{909E8E84-426E-40DD-AFC4-6F175D3DCCD1}">
              <a14:hiddenFill xmlns:a14="http://schemas.microsoft.com/office/drawing/2010/main">
                <a:solidFill>
                  <a:srgbClr val="FFFFFF"/>
                </a:solidFill>
              </a14:hiddenFill>
            </a:ext>
          </a:extLst>
        </p:spPr>
      </p:pic>
      <p:sp>
        <p:nvSpPr>
          <p:cNvPr id="4" name="제목 3"/>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p:cNvSpPr>
            <a:spLocks noGrp="1"/>
          </p:cNvSpPr>
          <p:nvPr>
            <p:ph type="body" sz="quarter" idx="13"/>
          </p:nvPr>
        </p:nvSpPr>
        <p:spPr/>
        <p:txBody>
          <a:bodyPr>
            <a:normAutofit/>
          </a:bodyPr>
          <a:lstStyle/>
          <a:p>
            <a:r>
              <a:rPr lang="ko-KR" altLang="en-US" dirty="0" err="1"/>
              <a:t>균등론</a:t>
            </a:r>
            <a:r>
              <a:rPr lang="ko-KR" altLang="en-US" dirty="0"/>
              <a:t> 적용 </a:t>
            </a:r>
            <a:r>
              <a:rPr lang="en-US" altLang="ko-KR" dirty="0"/>
              <a:t>CASE: </a:t>
            </a:r>
            <a:r>
              <a:rPr lang="en-US" altLang="ko-KR" sz="2000" dirty="0"/>
              <a:t>1</a:t>
            </a:r>
            <a:r>
              <a:rPr lang="ko-KR" altLang="en-US" sz="2000" dirty="0"/>
              <a:t>차 </a:t>
            </a:r>
            <a:r>
              <a:rPr lang="ko-KR" altLang="en-US" sz="2000" dirty="0" err="1"/>
              <a:t>구이김</a:t>
            </a:r>
            <a:r>
              <a:rPr lang="ko-KR" altLang="en-US" sz="2000" dirty="0"/>
              <a:t> 절단 및 수납장치 사건</a:t>
            </a:r>
            <a:r>
              <a:rPr lang="en-US" altLang="ko-KR" sz="2000" dirty="0"/>
              <a:t>(2013</a:t>
            </a:r>
            <a:r>
              <a:rPr lang="ko-KR" altLang="en-US" sz="2000" dirty="0"/>
              <a:t>다</a:t>
            </a:r>
            <a:r>
              <a:rPr lang="en-US" altLang="ko-KR" sz="2000" dirty="0"/>
              <a:t>14361)</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335</a:t>
            </a:r>
            <a:endParaRPr lang="ko-KR" altLang="en-US"/>
          </a:p>
        </p:txBody>
      </p:sp>
      <p:sp>
        <p:nvSpPr>
          <p:cNvPr id="20" name="모서리가 둥근 직사각형 30">
            <a:extLst>
              <a:ext uri="{FF2B5EF4-FFF2-40B4-BE49-F238E27FC236}">
                <a16:creationId xmlns:a16="http://schemas.microsoft.com/office/drawing/2014/main" id="{AE73B341-45E3-4DD9-96F6-7EE2630C588C}"/>
              </a:ext>
            </a:extLst>
          </p:cNvPr>
          <p:cNvSpPr/>
          <p:nvPr/>
        </p:nvSpPr>
        <p:spPr>
          <a:xfrm>
            <a:off x="314368" y="1044214"/>
            <a:ext cx="1517032" cy="272111"/>
          </a:xfrm>
          <a:prstGeom prst="roundRect">
            <a:avLst>
              <a:gd name="adj" fmla="val 50000"/>
            </a:avLst>
          </a:prstGeom>
          <a:solidFill>
            <a:schemeClr val="accent1"/>
          </a:solid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ko-KR" altLang="en-US" sz="1200" dirty="0">
                <a:solidFill>
                  <a:schemeClr val="bg1"/>
                </a:solidFill>
              </a:rPr>
              <a:t>특허발명</a:t>
            </a:r>
          </a:p>
        </p:txBody>
      </p:sp>
      <p:pic>
        <p:nvPicPr>
          <p:cNvPr id="1031" name="_x440831160" descr="EMB000042081dc1">
            <a:extLst>
              <a:ext uri="{FF2B5EF4-FFF2-40B4-BE49-F238E27FC236}">
                <a16:creationId xmlns:a16="http://schemas.microsoft.com/office/drawing/2014/main" id="{7E6C97A2-4B4E-4896-A8BC-799E6A910B6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8624" y="1494881"/>
            <a:ext cx="2211388" cy="1593850"/>
          </a:xfrm>
          <a:prstGeom prst="rect">
            <a:avLst/>
          </a:prstGeom>
          <a:noFill/>
          <a:extLst>
            <a:ext uri="{909E8E84-426E-40DD-AFC4-6F175D3DCCD1}">
              <a14:hiddenFill xmlns:a14="http://schemas.microsoft.com/office/drawing/2010/main">
                <a:solidFill>
                  <a:srgbClr val="FFFFFF"/>
                </a:solidFill>
              </a14:hiddenFill>
            </a:ext>
          </a:extLst>
        </p:spPr>
      </p:pic>
      <p:pic>
        <p:nvPicPr>
          <p:cNvPr id="1030" name="_x440832840" descr="EMB000042081dc2">
            <a:extLst>
              <a:ext uri="{FF2B5EF4-FFF2-40B4-BE49-F238E27FC236}">
                <a16:creationId xmlns:a16="http://schemas.microsoft.com/office/drawing/2014/main" id="{5247787C-231F-4C5B-A4C0-D60A43928ED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41100" y="1820156"/>
            <a:ext cx="2049212" cy="1593849"/>
          </a:xfrm>
          <a:prstGeom prst="rect">
            <a:avLst/>
          </a:prstGeom>
          <a:noFill/>
          <a:extLst>
            <a:ext uri="{909E8E84-426E-40DD-AFC4-6F175D3DCCD1}">
              <a14:hiddenFill xmlns:a14="http://schemas.microsoft.com/office/drawing/2010/main">
                <a:solidFill>
                  <a:srgbClr val="FFFFFF"/>
                </a:solidFill>
              </a14:hiddenFill>
            </a:ext>
          </a:extLst>
        </p:spPr>
      </p:pic>
      <p:sp>
        <p:nvSpPr>
          <p:cNvPr id="24" name="모서리가 둥근 직사각형 30">
            <a:extLst>
              <a:ext uri="{FF2B5EF4-FFF2-40B4-BE49-F238E27FC236}">
                <a16:creationId xmlns:a16="http://schemas.microsoft.com/office/drawing/2014/main" id="{AF28E306-26BA-45B7-B2FF-6B6D1C271F73}"/>
              </a:ext>
            </a:extLst>
          </p:cNvPr>
          <p:cNvSpPr/>
          <p:nvPr/>
        </p:nvSpPr>
        <p:spPr>
          <a:xfrm>
            <a:off x="314368" y="3769270"/>
            <a:ext cx="1517032" cy="272111"/>
          </a:xfrm>
          <a:prstGeom prst="roundRect">
            <a:avLst>
              <a:gd name="adj" fmla="val 50000"/>
            </a:avLst>
          </a:prstGeom>
          <a:solidFill>
            <a:schemeClr val="accent1"/>
          </a:solid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ko-KR" altLang="en-US" sz="1200" dirty="0">
                <a:solidFill>
                  <a:schemeClr val="bg1"/>
                </a:solidFill>
              </a:rPr>
              <a:t>확인대상발명</a:t>
            </a:r>
          </a:p>
        </p:txBody>
      </p:sp>
      <p:pic>
        <p:nvPicPr>
          <p:cNvPr id="1035" name="_x440834200" descr="EMB000042081dc4">
            <a:extLst>
              <a:ext uri="{FF2B5EF4-FFF2-40B4-BE49-F238E27FC236}">
                <a16:creationId xmlns:a16="http://schemas.microsoft.com/office/drawing/2014/main" id="{FDC095B2-F3C2-44F5-9706-6697938B617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60011" y="4289969"/>
            <a:ext cx="2574759" cy="2498976"/>
          </a:xfrm>
          <a:prstGeom prst="rect">
            <a:avLst/>
          </a:prstGeom>
          <a:noFill/>
          <a:extLst>
            <a:ext uri="{909E8E84-426E-40DD-AFC4-6F175D3DCCD1}">
              <a14:hiddenFill xmlns:a14="http://schemas.microsoft.com/office/drawing/2010/main">
                <a:solidFill>
                  <a:srgbClr val="FFFFFF"/>
                </a:solidFill>
              </a14:hiddenFill>
            </a:ext>
          </a:extLst>
        </p:spPr>
      </p:pic>
      <p:cxnSp>
        <p:nvCxnSpPr>
          <p:cNvPr id="13" name="직선 연결선 12">
            <a:extLst>
              <a:ext uri="{FF2B5EF4-FFF2-40B4-BE49-F238E27FC236}">
                <a16:creationId xmlns:a16="http://schemas.microsoft.com/office/drawing/2014/main" id="{C7F7009E-FDE0-40EE-89F3-A9D6CD905823}"/>
              </a:ext>
            </a:extLst>
          </p:cNvPr>
          <p:cNvCxnSpPr/>
          <p:nvPr/>
        </p:nvCxnSpPr>
        <p:spPr>
          <a:xfrm>
            <a:off x="4671400" y="923109"/>
            <a:ext cx="0" cy="586583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975F8453-A1B9-495D-9A85-4B8F610FAD7C}"/>
              </a:ext>
            </a:extLst>
          </p:cNvPr>
          <p:cNvSpPr/>
          <p:nvPr/>
        </p:nvSpPr>
        <p:spPr>
          <a:xfrm>
            <a:off x="4752489" y="914400"/>
            <a:ext cx="7190885" cy="5816977"/>
          </a:xfrm>
          <a:prstGeom prst="rect">
            <a:avLst/>
          </a:prstGeom>
        </p:spPr>
        <p:txBody>
          <a:bodyPr wrap="square">
            <a:spAutoFit/>
          </a:bodyPr>
          <a:lstStyle/>
          <a:p>
            <a:r>
              <a:rPr lang="en-US" altLang="ko-KR" sz="1200" dirty="0"/>
              <a:t>(1) </a:t>
            </a:r>
            <a:r>
              <a:rPr lang="ko-KR" altLang="en-US" sz="1200" dirty="0"/>
              <a:t>이 사건 제</a:t>
            </a:r>
            <a:r>
              <a:rPr lang="en-US" altLang="ko-KR" sz="1200" dirty="0"/>
              <a:t>1</a:t>
            </a:r>
            <a:r>
              <a:rPr lang="ko-KR" altLang="en-US" sz="1200" dirty="0"/>
              <a:t>항 발명 중 원심 판시 구성 </a:t>
            </a:r>
            <a:r>
              <a:rPr lang="en-US" altLang="ko-KR" sz="1200" dirty="0"/>
              <a:t>7</a:t>
            </a:r>
            <a:r>
              <a:rPr lang="ko-KR" altLang="en-US" sz="1200" dirty="0"/>
              <a:t>은 ‘</a:t>
            </a:r>
            <a:r>
              <a:rPr lang="ko-KR" altLang="en-US" sz="1200" dirty="0">
                <a:solidFill>
                  <a:srgbClr val="FF0000"/>
                </a:solidFill>
              </a:rPr>
              <a:t>가이드케이스의 하부에 고정 배치되고 아래로 갈수록 그 두께가 선형적으로 넓어지는 격자형의 </a:t>
            </a:r>
            <a:r>
              <a:rPr lang="ko-KR" altLang="en-US" sz="1200" dirty="0" err="1">
                <a:solidFill>
                  <a:srgbClr val="FF0000"/>
                </a:solidFill>
              </a:rPr>
              <a:t>절단날</a:t>
            </a:r>
            <a:r>
              <a:rPr lang="en-US" altLang="ko-KR" sz="1200" dirty="0">
                <a:solidFill>
                  <a:srgbClr val="FF0000"/>
                </a:solidFill>
              </a:rPr>
              <a:t>(80)</a:t>
            </a:r>
            <a:r>
              <a:rPr lang="en-US" altLang="ko-KR" sz="1200" dirty="0"/>
              <a:t>’</a:t>
            </a:r>
            <a:r>
              <a:rPr lang="ko-KR" altLang="en-US" sz="1200" dirty="0"/>
              <a:t>로서</a:t>
            </a:r>
            <a:r>
              <a:rPr lang="en-US" altLang="ko-KR" sz="1200" dirty="0"/>
              <a:t>, </a:t>
            </a:r>
            <a:r>
              <a:rPr lang="ko-KR" altLang="en-US" sz="1200" dirty="0"/>
              <a:t>이는 가이드케이스의 하부에 고정 배치되고 아래로 갈수록 그 두께가 선형적으로 넓어지는 ‘격자형 </a:t>
            </a:r>
            <a:r>
              <a:rPr lang="ko-KR" altLang="en-US" sz="1200" dirty="0" err="1"/>
              <a:t>부재’와</a:t>
            </a:r>
            <a:r>
              <a:rPr lang="ko-KR" altLang="en-US" sz="1200" dirty="0"/>
              <a:t> 그러한 격자형 부재와 같은 위치에 고정 배치되는 ‘격자형 </a:t>
            </a:r>
            <a:r>
              <a:rPr lang="ko-KR" altLang="en-US" sz="1200" dirty="0" err="1"/>
              <a:t>칼날’이</a:t>
            </a:r>
            <a:r>
              <a:rPr lang="ko-KR" altLang="en-US" sz="1200" dirty="0"/>
              <a:t> 일체로 형성된 것이다</a:t>
            </a:r>
            <a:r>
              <a:rPr lang="en-US" altLang="ko-KR" sz="1200" dirty="0"/>
              <a:t>. </a:t>
            </a:r>
          </a:p>
          <a:p>
            <a:r>
              <a:rPr lang="en-US" altLang="ko-KR" sz="1200" dirty="0"/>
              <a:t>(2) </a:t>
            </a:r>
            <a:r>
              <a:rPr lang="ko-KR" altLang="en-US" sz="1200" dirty="0"/>
              <a:t>그런데 피고 실시제품은 이 사건 제</a:t>
            </a:r>
            <a:r>
              <a:rPr lang="en-US" altLang="ko-KR" sz="1200" dirty="0"/>
              <a:t>1</a:t>
            </a:r>
            <a:r>
              <a:rPr lang="ko-KR" altLang="en-US" sz="1200" dirty="0"/>
              <a:t>항 발명의 ‘격자형 부재’ 구성처럼 </a:t>
            </a:r>
            <a:r>
              <a:rPr lang="ko-KR" altLang="en-US" sz="1200" dirty="0">
                <a:solidFill>
                  <a:srgbClr val="FF0000"/>
                </a:solidFill>
              </a:rPr>
              <a:t>가이드케이스의 하부에 고정 배치되고 아래로 갈수록 그 두께가 선형적으로 넓어지는 경사면을 구비한 ‘격자형 박스</a:t>
            </a:r>
            <a:r>
              <a:rPr lang="en-US" altLang="ko-KR" sz="1200" dirty="0">
                <a:solidFill>
                  <a:srgbClr val="FF0000"/>
                </a:solidFill>
              </a:rPr>
              <a:t>(185)</a:t>
            </a:r>
            <a:r>
              <a:rPr lang="en-US" altLang="ko-KR" sz="1200" dirty="0"/>
              <a:t>’ </a:t>
            </a:r>
            <a:r>
              <a:rPr lang="ko-KR" altLang="en-US" sz="1200" dirty="0"/>
              <a:t>구성을 그대로 가지되</a:t>
            </a:r>
            <a:r>
              <a:rPr lang="en-US" altLang="ko-KR" sz="1200" dirty="0"/>
              <a:t>, </a:t>
            </a:r>
            <a:r>
              <a:rPr lang="ko-KR" altLang="en-US" sz="1200" dirty="0"/>
              <a:t>다만 이 사건 제</a:t>
            </a:r>
            <a:r>
              <a:rPr lang="en-US" altLang="ko-KR" sz="1200" dirty="0"/>
              <a:t>1</a:t>
            </a:r>
            <a:r>
              <a:rPr lang="ko-KR" altLang="en-US" sz="1200" dirty="0"/>
              <a:t>항 </a:t>
            </a:r>
            <a:r>
              <a:rPr lang="ko-KR" altLang="en-US" sz="1200" dirty="0">
                <a:solidFill>
                  <a:srgbClr val="FF0000"/>
                </a:solidFill>
              </a:rPr>
              <a:t>발명의 ‘격자형 </a:t>
            </a:r>
            <a:r>
              <a:rPr lang="ko-KR" altLang="en-US" sz="1200" dirty="0" err="1">
                <a:solidFill>
                  <a:srgbClr val="FF0000"/>
                </a:solidFill>
              </a:rPr>
              <a:t>칼날’구성을</a:t>
            </a:r>
            <a:r>
              <a:rPr lang="ko-KR" altLang="en-US" sz="1200" dirty="0">
                <a:solidFill>
                  <a:srgbClr val="FF0000"/>
                </a:solidFill>
              </a:rPr>
              <a:t> 상하로 이동되는 절단용 실린더에 연동하고 각 </a:t>
            </a:r>
            <a:r>
              <a:rPr lang="ko-KR" altLang="en-US" sz="1200" dirty="0" err="1">
                <a:solidFill>
                  <a:srgbClr val="FF0000"/>
                </a:solidFill>
              </a:rPr>
              <a:t>가압절판에</a:t>
            </a:r>
            <a:r>
              <a:rPr lang="ko-KR" altLang="en-US" sz="1200" dirty="0">
                <a:solidFill>
                  <a:srgbClr val="FF0000"/>
                </a:solidFill>
              </a:rPr>
              <a:t> 인접하여 수직으로 형성되는 ‘격자형 </a:t>
            </a:r>
            <a:r>
              <a:rPr lang="ko-KR" altLang="en-US" sz="1200" dirty="0" err="1">
                <a:solidFill>
                  <a:srgbClr val="FF0000"/>
                </a:solidFill>
              </a:rPr>
              <a:t>절단날</a:t>
            </a:r>
            <a:r>
              <a:rPr lang="en-US" altLang="ko-KR" sz="1200" dirty="0">
                <a:solidFill>
                  <a:srgbClr val="FF0000"/>
                </a:solidFill>
              </a:rPr>
              <a:t>(180)</a:t>
            </a:r>
            <a:r>
              <a:rPr lang="en-US" altLang="ko-KR" sz="1200" dirty="0"/>
              <a:t>’ </a:t>
            </a:r>
            <a:r>
              <a:rPr lang="ko-KR" altLang="en-US" sz="1200" dirty="0"/>
              <a:t>구성으로 변경한 것이다</a:t>
            </a:r>
            <a:r>
              <a:rPr lang="en-US" altLang="ko-KR" sz="1200" dirty="0"/>
              <a:t>. </a:t>
            </a:r>
          </a:p>
          <a:p>
            <a:r>
              <a:rPr lang="en-US" altLang="ko-KR" sz="1200" dirty="0"/>
              <a:t>(3) </a:t>
            </a:r>
            <a:r>
              <a:rPr lang="ko-KR" altLang="en-US" sz="1200" dirty="0"/>
              <a:t>따라서</a:t>
            </a:r>
            <a:r>
              <a:rPr lang="en-US" altLang="ko-KR" sz="1200" dirty="0"/>
              <a:t>, ‘</a:t>
            </a:r>
            <a:r>
              <a:rPr lang="ko-KR" altLang="en-US" sz="1200" dirty="0"/>
              <a:t>격자형 </a:t>
            </a:r>
            <a:r>
              <a:rPr lang="ko-KR" altLang="en-US" sz="1200" dirty="0" err="1"/>
              <a:t>부재’와</a:t>
            </a:r>
            <a:r>
              <a:rPr lang="ko-KR" altLang="en-US" sz="1200" dirty="0"/>
              <a:t> 일체로 형성되어 가이드케이스의 하부에 고정 배치되는 이 사건 제</a:t>
            </a:r>
            <a:r>
              <a:rPr lang="en-US" altLang="ko-KR" sz="1200" dirty="0"/>
              <a:t>1</a:t>
            </a:r>
            <a:r>
              <a:rPr lang="ko-KR" altLang="en-US" sz="1200" dirty="0"/>
              <a:t>항 발명의 ‘격자형 </a:t>
            </a:r>
            <a:r>
              <a:rPr lang="ko-KR" altLang="en-US" sz="1200" dirty="0" err="1"/>
              <a:t>칼날’과</a:t>
            </a:r>
            <a:r>
              <a:rPr lang="ko-KR" altLang="en-US" sz="1200" dirty="0"/>
              <a:t> 달리</a:t>
            </a:r>
            <a:r>
              <a:rPr lang="en-US" altLang="ko-KR" sz="1200" dirty="0"/>
              <a:t>, </a:t>
            </a:r>
            <a:r>
              <a:rPr lang="ko-KR" altLang="en-US" sz="1200" dirty="0"/>
              <a:t>피고 실시제품은 ‘격자형 </a:t>
            </a:r>
            <a:r>
              <a:rPr lang="ko-KR" altLang="en-US" sz="1200" dirty="0" err="1"/>
              <a:t>절단날’이</a:t>
            </a:r>
            <a:r>
              <a:rPr lang="ko-KR" altLang="en-US" sz="1200" dirty="0"/>
              <a:t> ‘</a:t>
            </a:r>
            <a:r>
              <a:rPr lang="ko-KR" altLang="en-US" sz="1200" dirty="0" err="1"/>
              <a:t>격자형박스’와</a:t>
            </a:r>
            <a:r>
              <a:rPr lang="ko-KR" altLang="en-US" sz="1200" dirty="0"/>
              <a:t> 분리되어 상하로 이동되도록 가이드케이스의 위쪽에 별도로 배치되는 점에서 차이가 있다</a:t>
            </a:r>
            <a:r>
              <a:rPr lang="en-US" altLang="ko-KR" sz="1200" dirty="0"/>
              <a:t>.</a:t>
            </a:r>
            <a:r>
              <a:rPr lang="ko-KR" altLang="en-US" sz="1200" dirty="0"/>
              <a:t> </a:t>
            </a:r>
            <a:endParaRPr lang="en-US" altLang="ko-KR" sz="1200" dirty="0"/>
          </a:p>
          <a:p>
            <a:r>
              <a:rPr lang="en-US" altLang="ko-KR" sz="1200" dirty="0"/>
              <a:t>(4) ‘</a:t>
            </a:r>
            <a:r>
              <a:rPr lang="ko-KR" altLang="en-US" sz="1200" dirty="0"/>
              <a:t>종래에는 포장용기들의 각 수납공간 사이의 간격만큼 절단된 각각의 적층 김들의 사이를 벌려 놓는 구조를 제시하지 못했지만</a:t>
            </a:r>
            <a:r>
              <a:rPr lang="en-US" altLang="ko-KR" sz="1200" dirty="0"/>
              <a:t>, </a:t>
            </a:r>
            <a:r>
              <a:rPr lang="ko-KR" altLang="en-US" sz="1200" dirty="0">
                <a:solidFill>
                  <a:srgbClr val="FF0000"/>
                </a:solidFill>
              </a:rPr>
              <a:t>위 적층 김들을 누르는 </a:t>
            </a:r>
            <a:r>
              <a:rPr lang="ko-KR" altLang="en-US" sz="1200" dirty="0" err="1">
                <a:solidFill>
                  <a:srgbClr val="FF0000"/>
                </a:solidFill>
              </a:rPr>
              <a:t>가압절판들이</a:t>
            </a:r>
            <a:r>
              <a:rPr lang="ko-KR" altLang="en-US" sz="1200" dirty="0">
                <a:solidFill>
                  <a:srgbClr val="FF0000"/>
                </a:solidFill>
              </a:rPr>
              <a:t> 격자형 절단날의 외측 경사면을 따라 서로 사이가 벌어지도록 유도함으로써 수납공정까지 자동화할 수 있다</a:t>
            </a:r>
            <a:r>
              <a:rPr lang="ko-KR" altLang="en-US" sz="1200" dirty="0"/>
              <a:t>’는 취지가 이 사건 특허발명의 명세서에 기재되어 있다</a:t>
            </a:r>
            <a:r>
              <a:rPr lang="en-US" altLang="ko-KR" sz="1200" dirty="0"/>
              <a:t>.</a:t>
            </a:r>
          </a:p>
          <a:p>
            <a:r>
              <a:rPr lang="en-US" altLang="ko-KR" sz="1200" dirty="0"/>
              <a:t>(5) </a:t>
            </a:r>
            <a:r>
              <a:rPr lang="ko-KR" altLang="en-US" sz="1200" dirty="0"/>
              <a:t>이러한 명세서의 기재와 출원 당시 공지기술 등을 종합하여 보면</a:t>
            </a:r>
            <a:r>
              <a:rPr lang="en-US" altLang="ko-KR" sz="1200" dirty="0"/>
              <a:t>, </a:t>
            </a:r>
            <a:r>
              <a:rPr lang="ko-KR" altLang="en-US" sz="1200" dirty="0"/>
              <a:t>이 사건 제</a:t>
            </a:r>
            <a:r>
              <a:rPr lang="en-US" altLang="ko-KR" sz="1200" dirty="0"/>
              <a:t>1</a:t>
            </a:r>
            <a:r>
              <a:rPr lang="ko-KR" altLang="en-US" sz="1200" dirty="0"/>
              <a:t>항 발명에 </a:t>
            </a:r>
            <a:r>
              <a:rPr lang="ko-KR" altLang="en-US" sz="1200" dirty="0">
                <a:solidFill>
                  <a:srgbClr val="FF0000"/>
                </a:solidFill>
              </a:rPr>
              <a:t>특유한 해결수단이 기초하고 있는 기술사상의 핵심은 ‘절단된 각각의 적층 김들이 하강하면서 가이드케이스의 하부에 고정 배치되는 격자형 부재의 외측 경사면을 따라 서로 사이가 벌어지도록 </a:t>
            </a:r>
            <a:r>
              <a:rPr lang="ko-KR" altLang="en-US" sz="1200" dirty="0" err="1">
                <a:solidFill>
                  <a:srgbClr val="FF0000"/>
                </a:solidFill>
              </a:rPr>
              <a:t>유도</a:t>
            </a:r>
            <a:r>
              <a:rPr lang="ko-KR" altLang="en-US" sz="1200" dirty="0" err="1"/>
              <a:t>’하는</a:t>
            </a:r>
            <a:r>
              <a:rPr lang="ko-KR" altLang="en-US" sz="1200" dirty="0"/>
              <a:t> 데에 있다</a:t>
            </a:r>
            <a:r>
              <a:rPr lang="en-US" altLang="ko-KR" sz="1200" dirty="0"/>
              <a:t>. </a:t>
            </a:r>
            <a:r>
              <a:rPr lang="ko-KR" altLang="en-US" sz="1200" dirty="0"/>
              <a:t>그런데 피고 실시제품도 경사면을 구비한 ‘격자형 박스’ 구성에 의해 ‘절단된 각각의 적층 김들이 하강하면서 가이드케이스의 하부에 고정 배치되는 격자형 박스의 외측 경사면을 따라 서로 사이가 벌어지도록 </a:t>
            </a:r>
            <a:r>
              <a:rPr lang="ko-KR" altLang="en-US" sz="1200" dirty="0" err="1"/>
              <a:t>유도’할</a:t>
            </a:r>
            <a:r>
              <a:rPr lang="ko-KR" altLang="en-US" sz="1200" dirty="0"/>
              <a:t> 수 있다</a:t>
            </a:r>
            <a:r>
              <a:rPr lang="en-US" altLang="ko-KR" sz="1200" dirty="0"/>
              <a:t>. </a:t>
            </a:r>
            <a:r>
              <a:rPr lang="ko-KR" altLang="en-US" sz="1200" dirty="0"/>
              <a:t>따라서</a:t>
            </a:r>
            <a:endParaRPr lang="en-US" altLang="ko-KR" sz="1200" dirty="0">
              <a:solidFill>
                <a:srgbClr val="FF0000"/>
              </a:solidFill>
            </a:endParaRPr>
          </a:p>
          <a:p>
            <a:r>
              <a:rPr lang="ko-KR" altLang="en-US" sz="1200" dirty="0">
                <a:solidFill>
                  <a:srgbClr val="FF0000"/>
                </a:solidFill>
              </a:rPr>
              <a:t>피고 실시제품은 위와 같은 구성의 변경에도 불구하고 해결수단이 기초하고 있는 기술사상의 핵심에서 이 사건 제</a:t>
            </a:r>
            <a:r>
              <a:rPr lang="en-US" altLang="ko-KR" sz="1200" dirty="0">
                <a:solidFill>
                  <a:srgbClr val="FF0000"/>
                </a:solidFill>
              </a:rPr>
              <a:t>1</a:t>
            </a:r>
            <a:r>
              <a:rPr lang="ko-KR" altLang="en-US" sz="1200" dirty="0">
                <a:solidFill>
                  <a:srgbClr val="FF0000"/>
                </a:solidFill>
              </a:rPr>
              <a:t>항 발명과 차이가 없으므로</a:t>
            </a:r>
            <a:r>
              <a:rPr lang="en-US" altLang="ko-KR" sz="1200" dirty="0">
                <a:solidFill>
                  <a:srgbClr val="FF0000"/>
                </a:solidFill>
              </a:rPr>
              <a:t>, </a:t>
            </a:r>
            <a:r>
              <a:rPr lang="ko-KR" altLang="en-US" sz="1200" dirty="0">
                <a:solidFill>
                  <a:srgbClr val="FF0000"/>
                </a:solidFill>
              </a:rPr>
              <a:t>과제의 해결원리가 동일하다</a:t>
            </a:r>
            <a:r>
              <a:rPr lang="en-US" altLang="ko-KR" sz="1200" dirty="0">
                <a:solidFill>
                  <a:srgbClr val="FF0000"/>
                </a:solidFill>
              </a:rPr>
              <a:t>. </a:t>
            </a:r>
            <a:endParaRPr lang="en-US" altLang="ko-KR" sz="1200" dirty="0"/>
          </a:p>
          <a:p>
            <a:r>
              <a:rPr lang="en-US" altLang="ko-KR" sz="1200" dirty="0"/>
              <a:t>(6) </a:t>
            </a:r>
            <a:r>
              <a:rPr lang="ko-KR" altLang="en-US" sz="1200" dirty="0"/>
              <a:t>그리고 피고 실시제품은 위와 같은 구성의 변경에 의하더라도 ‘절단된 각각의 적층 김들이 포장용기 내에 정확히 위치하도록 사이를 벌려 놓아 </a:t>
            </a:r>
            <a:r>
              <a:rPr lang="ko-KR" altLang="en-US" sz="1200" dirty="0">
                <a:solidFill>
                  <a:srgbClr val="FF0000"/>
                </a:solidFill>
              </a:rPr>
              <a:t>수납공정까지 </a:t>
            </a:r>
            <a:r>
              <a:rPr lang="ko-KR" altLang="en-US" sz="1200" dirty="0" err="1">
                <a:solidFill>
                  <a:srgbClr val="FF0000"/>
                </a:solidFill>
              </a:rPr>
              <a:t>자동화</a:t>
            </a:r>
            <a:r>
              <a:rPr lang="ko-KR" altLang="en-US" sz="1200" dirty="0" err="1"/>
              <a:t>’한다는</a:t>
            </a:r>
            <a:r>
              <a:rPr lang="ko-KR" altLang="en-US" sz="1200" dirty="0"/>
              <a:t> 점에서 이 사건 제</a:t>
            </a:r>
            <a:r>
              <a:rPr lang="en-US" altLang="ko-KR" sz="1200" dirty="0"/>
              <a:t>1</a:t>
            </a:r>
            <a:r>
              <a:rPr lang="ko-KR" altLang="en-US" sz="1200" dirty="0"/>
              <a:t>항 </a:t>
            </a:r>
            <a:r>
              <a:rPr lang="ko-KR" altLang="en-US" sz="1200" dirty="0" err="1"/>
              <a:t>발명에서와</a:t>
            </a:r>
            <a:r>
              <a:rPr lang="ko-KR" altLang="en-US" sz="1200" dirty="0"/>
              <a:t> </a:t>
            </a:r>
            <a:r>
              <a:rPr lang="ko-KR" altLang="en-US" sz="1200" dirty="0">
                <a:solidFill>
                  <a:srgbClr val="FF0000"/>
                </a:solidFill>
              </a:rPr>
              <a:t>실질적으로 동일한 작용효과</a:t>
            </a:r>
            <a:r>
              <a:rPr lang="ko-KR" altLang="en-US" sz="1200" dirty="0"/>
              <a:t>를 나타낸다</a:t>
            </a:r>
            <a:r>
              <a:rPr lang="en-US" altLang="ko-KR" sz="1200" dirty="0"/>
              <a:t>. </a:t>
            </a:r>
          </a:p>
          <a:p>
            <a:r>
              <a:rPr lang="en-US" altLang="ko-KR" sz="1200" dirty="0"/>
              <a:t>(7) </a:t>
            </a:r>
            <a:r>
              <a:rPr lang="ko-KR" altLang="en-US" sz="1200" dirty="0"/>
              <a:t>나아가 피고 실시제품처럼 상부에 배치된 칼날이 상하 이동하면서 하부에 고정된 물체를 절단하도록 하는 것은 </a:t>
            </a:r>
            <a:r>
              <a:rPr lang="ko-KR" altLang="en-US" sz="1200" dirty="0">
                <a:solidFill>
                  <a:srgbClr val="FF0000"/>
                </a:solidFill>
              </a:rPr>
              <a:t>그 기술분야에서 관용적으로 채택되는 기술수단에 불과</a:t>
            </a:r>
            <a:r>
              <a:rPr lang="ko-KR" altLang="en-US" sz="1200" dirty="0"/>
              <a:t>하므로</a:t>
            </a:r>
            <a:r>
              <a:rPr lang="en-US" altLang="ko-KR" sz="1200" dirty="0"/>
              <a:t>, </a:t>
            </a:r>
            <a:r>
              <a:rPr lang="ko-KR" altLang="en-US" sz="1200" dirty="0"/>
              <a:t>통상의 기술자라면 누구나 쉽게 그와 같은 구성의 변경을 생각해 낼 수 있다고 볼 수 있다</a:t>
            </a:r>
            <a:r>
              <a:rPr lang="en-US" altLang="ko-KR" sz="1200" dirty="0"/>
              <a:t>. </a:t>
            </a:r>
          </a:p>
          <a:p>
            <a:r>
              <a:rPr lang="en-US" altLang="ko-KR" sz="1200" dirty="0"/>
              <a:t>(8) </a:t>
            </a:r>
            <a:r>
              <a:rPr lang="ko-KR" altLang="en-US" sz="1200" dirty="0"/>
              <a:t>비록 피고 실시제품에서 ‘격자형 </a:t>
            </a:r>
            <a:r>
              <a:rPr lang="ko-KR" altLang="en-US" sz="1200" dirty="0" err="1"/>
              <a:t>절단날’이</a:t>
            </a:r>
            <a:r>
              <a:rPr lang="ko-KR" altLang="en-US" sz="1200" dirty="0"/>
              <a:t> 상하로 이동하기 위해 구조가 다소 복잡해지고 ‘</a:t>
            </a:r>
            <a:r>
              <a:rPr lang="ko-KR" altLang="en-US" sz="1200" dirty="0" err="1"/>
              <a:t>가압절판’과의</a:t>
            </a:r>
            <a:r>
              <a:rPr lang="ko-KR" altLang="en-US" sz="1200" dirty="0"/>
              <a:t> 관계에서 구체적인 절단방식이 달라지는 등의 차이가 생긴다고 하더라도</a:t>
            </a:r>
            <a:r>
              <a:rPr lang="en-US" altLang="ko-KR" sz="1200" dirty="0"/>
              <a:t>, </a:t>
            </a:r>
            <a:r>
              <a:rPr lang="ko-KR" altLang="en-US" sz="1200" dirty="0"/>
              <a:t>이는 앞서 </a:t>
            </a:r>
            <a:r>
              <a:rPr lang="ko-KR" altLang="en-US" sz="1200" dirty="0">
                <a:solidFill>
                  <a:srgbClr val="FF0000"/>
                </a:solidFill>
              </a:rPr>
              <a:t>본 기술사상의 핵심과 관련 없는 관용적 기술수단을 채택함에 따른 부수적인 것에 불과</a:t>
            </a:r>
            <a:r>
              <a:rPr lang="ko-KR" altLang="en-US" sz="1200" dirty="0"/>
              <a:t>하다고 보이므로 이러한 차이를 들어 실질적인 작용효과에 차이가 있다고 볼 수 없다</a:t>
            </a:r>
            <a:r>
              <a:rPr lang="en-US" altLang="ko-KR" sz="1200" dirty="0"/>
              <a:t>. </a:t>
            </a:r>
          </a:p>
        </p:txBody>
      </p:sp>
    </p:spTree>
    <p:extLst>
      <p:ext uri="{BB962C8B-B14F-4D97-AF65-F5344CB8AC3E}">
        <p14:creationId xmlns:p14="http://schemas.microsoft.com/office/powerpoint/2010/main" val="4187947753"/>
      </p:ext>
    </p:extLst>
  </p:cSld>
  <p:clrMapOvr>
    <a:masterClrMapping/>
  </p:clrMapOvr>
  <p:transition/>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p:cNvSpPr>
            <a:spLocks noGrp="1"/>
          </p:cNvSpPr>
          <p:nvPr>
            <p:ph type="body" sz="quarter" idx="13"/>
          </p:nvPr>
        </p:nvSpPr>
        <p:spPr/>
        <p:txBody>
          <a:bodyPr>
            <a:normAutofit/>
          </a:bodyPr>
          <a:lstStyle/>
          <a:p>
            <a:r>
              <a:rPr lang="ko-KR" altLang="en-US" dirty="0" err="1"/>
              <a:t>균등론</a:t>
            </a:r>
            <a:r>
              <a:rPr lang="ko-KR" altLang="en-US" dirty="0"/>
              <a:t> 적용 </a:t>
            </a:r>
            <a:r>
              <a:rPr lang="en-US" altLang="ko-KR" dirty="0"/>
              <a:t>CASE: </a:t>
            </a:r>
            <a:r>
              <a:rPr lang="en-US" altLang="ko-KR" sz="2000" dirty="0"/>
              <a:t>2</a:t>
            </a:r>
            <a:r>
              <a:rPr lang="ko-KR" altLang="en-US" sz="2000" dirty="0"/>
              <a:t>차 </a:t>
            </a:r>
            <a:r>
              <a:rPr lang="ko-KR" altLang="en-US" sz="2000" dirty="0" err="1"/>
              <a:t>구이김</a:t>
            </a:r>
            <a:r>
              <a:rPr lang="ko-KR" altLang="en-US" sz="2000" dirty="0"/>
              <a:t> 절단 및 수납장치 사건</a:t>
            </a:r>
            <a:r>
              <a:rPr lang="en-US" altLang="ko-KR" sz="2000" dirty="0"/>
              <a:t>(2016</a:t>
            </a:r>
            <a:r>
              <a:rPr lang="ko-KR" altLang="en-US" sz="2000" dirty="0"/>
              <a:t>마</a:t>
            </a:r>
            <a:r>
              <a:rPr lang="en-US" altLang="ko-KR" sz="2000" dirty="0"/>
              <a:t>5698)</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336</a:t>
            </a:r>
            <a:endParaRPr lang="ko-KR" altLang="en-US"/>
          </a:p>
        </p:txBody>
      </p:sp>
      <p:graphicFrame>
        <p:nvGraphicFramePr>
          <p:cNvPr id="6" name="표 5">
            <a:extLst>
              <a:ext uri="{FF2B5EF4-FFF2-40B4-BE49-F238E27FC236}">
                <a16:creationId xmlns:a16="http://schemas.microsoft.com/office/drawing/2014/main" id="{6D5B99FE-2039-4829-9A1D-E1296B4A9F36}"/>
              </a:ext>
            </a:extLst>
          </p:cNvPr>
          <p:cNvGraphicFramePr>
            <a:graphicFrameLocks noGrp="1"/>
          </p:cNvGraphicFramePr>
          <p:nvPr/>
        </p:nvGraphicFramePr>
        <p:xfrm>
          <a:off x="403224" y="1053779"/>
          <a:ext cx="11255376" cy="5629274"/>
        </p:xfrm>
        <a:graphic>
          <a:graphicData uri="http://schemas.openxmlformats.org/drawingml/2006/table">
            <a:tbl>
              <a:tblPr>
                <a:tableStyleId>{8799B23B-EC83-4686-B30A-512413B5E67A}</a:tableStyleId>
              </a:tblPr>
              <a:tblGrid>
                <a:gridCol w="868363">
                  <a:extLst>
                    <a:ext uri="{9D8B030D-6E8A-4147-A177-3AD203B41FA5}">
                      <a16:colId xmlns:a16="http://schemas.microsoft.com/office/drawing/2014/main" val="583779324"/>
                    </a:ext>
                  </a:extLst>
                </a:gridCol>
                <a:gridCol w="3357563">
                  <a:extLst>
                    <a:ext uri="{9D8B030D-6E8A-4147-A177-3AD203B41FA5}">
                      <a16:colId xmlns:a16="http://schemas.microsoft.com/office/drawing/2014/main" val="1953530234"/>
                    </a:ext>
                  </a:extLst>
                </a:gridCol>
                <a:gridCol w="7029450">
                  <a:extLst>
                    <a:ext uri="{9D8B030D-6E8A-4147-A177-3AD203B41FA5}">
                      <a16:colId xmlns:a16="http://schemas.microsoft.com/office/drawing/2014/main" val="3725399194"/>
                    </a:ext>
                  </a:extLst>
                </a:gridCol>
              </a:tblGrid>
              <a:tr h="555792">
                <a:tc>
                  <a:txBody>
                    <a:bodyPr/>
                    <a:lstStyle/>
                    <a:p>
                      <a:pPr algn="ctr" latinLnBrk="1"/>
                      <a:endParaRPr lang="ko-KR" altLang="en-US" dirty="0"/>
                    </a:p>
                  </a:txBody>
                  <a:tcPr anchor="ctr"/>
                </a:tc>
                <a:tc>
                  <a:txBody>
                    <a:bodyPr/>
                    <a:lstStyle/>
                    <a:p>
                      <a:pPr algn="ctr" latinLnBrk="1"/>
                      <a:r>
                        <a:rPr lang="ko-KR" altLang="en-US" dirty="0"/>
                        <a:t>특허발명</a:t>
                      </a:r>
                    </a:p>
                  </a:txBody>
                  <a:tcPr anchor="ctr"/>
                </a:tc>
                <a:tc>
                  <a:txBody>
                    <a:bodyPr/>
                    <a:lstStyle/>
                    <a:p>
                      <a:pPr algn="ctr" latinLnBrk="1"/>
                      <a:r>
                        <a:rPr lang="ko-KR" altLang="en-US" dirty="0"/>
                        <a:t>확인대상발명</a:t>
                      </a:r>
                    </a:p>
                  </a:txBody>
                  <a:tcPr anchor="ctr"/>
                </a:tc>
                <a:extLst>
                  <a:ext uri="{0D108BD9-81ED-4DB2-BD59-A6C34878D82A}">
                    <a16:rowId xmlns:a16="http://schemas.microsoft.com/office/drawing/2014/main" val="3719064409"/>
                  </a:ext>
                </a:extLst>
              </a:tr>
              <a:tr h="2536741">
                <a:tc>
                  <a:txBody>
                    <a:bodyPr/>
                    <a:lstStyle/>
                    <a:p>
                      <a:pPr algn="ctr" latinLnBrk="1"/>
                      <a:r>
                        <a:rPr lang="ko-KR" altLang="en-US" dirty="0"/>
                        <a:t>구성</a:t>
                      </a:r>
                      <a:r>
                        <a:rPr lang="en-US" altLang="ko-KR" dirty="0"/>
                        <a:t>6</a:t>
                      </a:r>
                      <a:endParaRPr lang="ko-KR" altLang="en-US" dirty="0"/>
                    </a:p>
                  </a:txBody>
                  <a:tcPr anchor="ctr"/>
                </a:tc>
                <a:tc>
                  <a:txBody>
                    <a:bodyPr/>
                    <a:lstStyle/>
                    <a:p>
                      <a:pPr algn="ctr" latinLnBrk="1"/>
                      <a:endParaRPr lang="ko-KR" altLang="en-US" dirty="0"/>
                    </a:p>
                  </a:txBody>
                  <a:tcPr anchor="ctr"/>
                </a:tc>
                <a:tc>
                  <a:txBody>
                    <a:bodyPr/>
                    <a:lstStyle/>
                    <a:p>
                      <a:pPr algn="ctr" latinLnBrk="1"/>
                      <a:endParaRPr lang="ko-KR" altLang="en-US" dirty="0"/>
                    </a:p>
                  </a:txBody>
                  <a:tcPr anchor="ctr"/>
                </a:tc>
                <a:extLst>
                  <a:ext uri="{0D108BD9-81ED-4DB2-BD59-A6C34878D82A}">
                    <a16:rowId xmlns:a16="http://schemas.microsoft.com/office/drawing/2014/main" val="2798725918"/>
                  </a:ext>
                </a:extLst>
              </a:tr>
              <a:tr h="2536741">
                <a:tc>
                  <a:txBody>
                    <a:bodyPr/>
                    <a:lstStyle/>
                    <a:p>
                      <a:pPr algn="ctr" latinLnBrk="1"/>
                      <a:r>
                        <a:rPr lang="ko-KR" altLang="en-US" dirty="0"/>
                        <a:t>구성</a:t>
                      </a:r>
                      <a:r>
                        <a:rPr lang="en-US" altLang="ko-KR" dirty="0"/>
                        <a:t>7</a:t>
                      </a:r>
                      <a:endParaRPr lang="ko-KR" altLang="en-US" dirty="0"/>
                    </a:p>
                  </a:txBody>
                  <a:tcPr anchor="ctr"/>
                </a:tc>
                <a:tc>
                  <a:txBody>
                    <a:bodyPr/>
                    <a:lstStyle/>
                    <a:p>
                      <a:pPr algn="ctr" latinLnBrk="1"/>
                      <a:endParaRPr lang="ko-KR" altLang="en-US"/>
                    </a:p>
                  </a:txBody>
                  <a:tcPr anchor="ctr"/>
                </a:tc>
                <a:tc>
                  <a:txBody>
                    <a:bodyPr/>
                    <a:lstStyle/>
                    <a:p>
                      <a:pPr algn="ctr" latinLnBrk="1"/>
                      <a:endParaRPr lang="ko-KR" altLang="en-US" dirty="0"/>
                    </a:p>
                  </a:txBody>
                  <a:tcPr anchor="ctr"/>
                </a:tc>
                <a:extLst>
                  <a:ext uri="{0D108BD9-81ED-4DB2-BD59-A6C34878D82A}">
                    <a16:rowId xmlns:a16="http://schemas.microsoft.com/office/drawing/2014/main" val="1434571486"/>
                  </a:ext>
                </a:extLst>
              </a:tr>
            </a:tbl>
          </a:graphicData>
        </a:graphic>
      </p:graphicFrame>
      <p:pic>
        <p:nvPicPr>
          <p:cNvPr id="7" name="그림 6">
            <a:extLst>
              <a:ext uri="{FF2B5EF4-FFF2-40B4-BE49-F238E27FC236}">
                <a16:creationId xmlns:a16="http://schemas.microsoft.com/office/drawing/2014/main" id="{FF6DF429-CE5D-4E51-9FC2-2458D6DC461F}"/>
              </a:ext>
            </a:extLst>
          </p:cNvPr>
          <p:cNvPicPr>
            <a:picLocks noChangeAspect="1"/>
          </p:cNvPicPr>
          <p:nvPr/>
        </p:nvPicPr>
        <p:blipFill>
          <a:blip r:embed="rId3"/>
          <a:stretch>
            <a:fillRect/>
          </a:stretch>
        </p:blipFill>
        <p:spPr>
          <a:xfrm>
            <a:off x="1368599" y="4352470"/>
            <a:ext cx="3117676" cy="2048330"/>
          </a:xfrm>
          <a:prstGeom prst="rect">
            <a:avLst/>
          </a:prstGeom>
        </p:spPr>
      </p:pic>
      <p:pic>
        <p:nvPicPr>
          <p:cNvPr id="8" name="그림 7">
            <a:extLst>
              <a:ext uri="{FF2B5EF4-FFF2-40B4-BE49-F238E27FC236}">
                <a16:creationId xmlns:a16="http://schemas.microsoft.com/office/drawing/2014/main" id="{5BEC61C0-530B-44FD-AA45-4E2CE7278A62}"/>
              </a:ext>
            </a:extLst>
          </p:cNvPr>
          <p:cNvPicPr>
            <a:picLocks noChangeAspect="1"/>
          </p:cNvPicPr>
          <p:nvPr/>
        </p:nvPicPr>
        <p:blipFill rotWithShape="1">
          <a:blip r:embed="rId4"/>
          <a:srcRect r="60092"/>
          <a:stretch/>
        </p:blipFill>
        <p:spPr>
          <a:xfrm>
            <a:off x="6058257" y="4391441"/>
            <a:ext cx="4151851" cy="2048330"/>
          </a:xfrm>
          <a:prstGeom prst="rect">
            <a:avLst/>
          </a:prstGeom>
        </p:spPr>
      </p:pic>
      <p:pic>
        <p:nvPicPr>
          <p:cNvPr id="9" name="그림 8">
            <a:extLst>
              <a:ext uri="{FF2B5EF4-FFF2-40B4-BE49-F238E27FC236}">
                <a16:creationId xmlns:a16="http://schemas.microsoft.com/office/drawing/2014/main" id="{57D0A1A6-C28A-49E0-85AD-A4EB59A34D7B}"/>
              </a:ext>
            </a:extLst>
          </p:cNvPr>
          <p:cNvPicPr>
            <a:picLocks noChangeAspect="1"/>
          </p:cNvPicPr>
          <p:nvPr/>
        </p:nvPicPr>
        <p:blipFill>
          <a:blip r:embed="rId5"/>
          <a:stretch>
            <a:fillRect/>
          </a:stretch>
        </p:blipFill>
        <p:spPr>
          <a:xfrm>
            <a:off x="1558533" y="1729579"/>
            <a:ext cx="2570548" cy="2267037"/>
          </a:xfrm>
          <a:prstGeom prst="rect">
            <a:avLst/>
          </a:prstGeom>
        </p:spPr>
      </p:pic>
      <p:pic>
        <p:nvPicPr>
          <p:cNvPr id="10" name="그림 9">
            <a:extLst>
              <a:ext uri="{FF2B5EF4-FFF2-40B4-BE49-F238E27FC236}">
                <a16:creationId xmlns:a16="http://schemas.microsoft.com/office/drawing/2014/main" id="{EFF595B7-11A6-4E47-9DCD-5BAA683B9102}"/>
              </a:ext>
            </a:extLst>
          </p:cNvPr>
          <p:cNvPicPr>
            <a:picLocks noChangeAspect="1"/>
          </p:cNvPicPr>
          <p:nvPr/>
        </p:nvPicPr>
        <p:blipFill rotWithShape="1">
          <a:blip r:embed="rId6"/>
          <a:srcRect r="543"/>
          <a:stretch/>
        </p:blipFill>
        <p:spPr>
          <a:xfrm>
            <a:off x="4692449" y="1687621"/>
            <a:ext cx="2122689" cy="2048330"/>
          </a:xfrm>
          <a:prstGeom prst="rect">
            <a:avLst/>
          </a:prstGeom>
        </p:spPr>
      </p:pic>
      <p:pic>
        <p:nvPicPr>
          <p:cNvPr id="11" name="그림 10">
            <a:extLst>
              <a:ext uri="{FF2B5EF4-FFF2-40B4-BE49-F238E27FC236}">
                <a16:creationId xmlns:a16="http://schemas.microsoft.com/office/drawing/2014/main" id="{D6D8275E-60DB-45A2-8E65-90A6F0D8C0B7}"/>
              </a:ext>
            </a:extLst>
          </p:cNvPr>
          <p:cNvPicPr>
            <a:picLocks noChangeAspect="1"/>
          </p:cNvPicPr>
          <p:nvPr/>
        </p:nvPicPr>
        <p:blipFill rotWithShape="1">
          <a:blip r:embed="rId7"/>
          <a:srcRect l="1876" r="3083"/>
          <a:stretch/>
        </p:blipFill>
        <p:spPr>
          <a:xfrm>
            <a:off x="6900863" y="1792415"/>
            <a:ext cx="2243138" cy="2048330"/>
          </a:xfrm>
          <a:prstGeom prst="rect">
            <a:avLst/>
          </a:prstGeom>
        </p:spPr>
      </p:pic>
      <p:pic>
        <p:nvPicPr>
          <p:cNvPr id="12" name="그림 11">
            <a:extLst>
              <a:ext uri="{FF2B5EF4-FFF2-40B4-BE49-F238E27FC236}">
                <a16:creationId xmlns:a16="http://schemas.microsoft.com/office/drawing/2014/main" id="{54F27013-58F5-4A0D-98B8-8E5CEA7A4E9A}"/>
              </a:ext>
            </a:extLst>
          </p:cNvPr>
          <p:cNvPicPr>
            <a:picLocks noChangeAspect="1"/>
          </p:cNvPicPr>
          <p:nvPr/>
        </p:nvPicPr>
        <p:blipFill>
          <a:blip r:embed="rId8"/>
          <a:stretch>
            <a:fillRect/>
          </a:stretch>
        </p:blipFill>
        <p:spPr>
          <a:xfrm>
            <a:off x="9215438" y="2004218"/>
            <a:ext cx="2433527" cy="1717758"/>
          </a:xfrm>
          <a:prstGeom prst="rect">
            <a:avLst/>
          </a:prstGeom>
        </p:spPr>
      </p:pic>
    </p:spTree>
    <p:extLst>
      <p:ext uri="{BB962C8B-B14F-4D97-AF65-F5344CB8AC3E}">
        <p14:creationId xmlns:p14="http://schemas.microsoft.com/office/powerpoint/2010/main" val="3650093679"/>
      </p:ext>
    </p:extLst>
  </p:cSld>
  <p:clrMapOvr>
    <a:masterClrMapping/>
  </p:clrMapOvr>
  <p:transition/>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p:cNvSpPr>
            <a:spLocks noGrp="1"/>
          </p:cNvSpPr>
          <p:nvPr>
            <p:ph type="body" sz="quarter" idx="13"/>
          </p:nvPr>
        </p:nvSpPr>
        <p:spPr/>
        <p:txBody>
          <a:bodyPr>
            <a:normAutofit/>
          </a:bodyPr>
          <a:lstStyle/>
          <a:p>
            <a:r>
              <a:rPr lang="ko-KR" altLang="en-US" dirty="0" err="1"/>
              <a:t>균등론</a:t>
            </a:r>
            <a:r>
              <a:rPr lang="ko-KR" altLang="en-US" dirty="0"/>
              <a:t> 적용 </a:t>
            </a:r>
            <a:r>
              <a:rPr lang="en-US" altLang="ko-KR" dirty="0"/>
              <a:t>CASE: </a:t>
            </a:r>
            <a:r>
              <a:rPr lang="en-US" altLang="ko-KR" sz="2000" dirty="0"/>
              <a:t>2</a:t>
            </a:r>
            <a:r>
              <a:rPr lang="ko-KR" altLang="en-US" sz="2000" dirty="0"/>
              <a:t>차 </a:t>
            </a:r>
            <a:r>
              <a:rPr lang="ko-KR" altLang="en-US" sz="2000" dirty="0" err="1"/>
              <a:t>구이김</a:t>
            </a:r>
            <a:r>
              <a:rPr lang="ko-KR" altLang="en-US" sz="2000" dirty="0"/>
              <a:t> 절단 및 수납장치 사건</a:t>
            </a:r>
            <a:r>
              <a:rPr lang="en-US" altLang="ko-KR" sz="2000" dirty="0"/>
              <a:t>(2016</a:t>
            </a:r>
            <a:r>
              <a:rPr lang="ko-KR" altLang="en-US" sz="2000" dirty="0"/>
              <a:t>마</a:t>
            </a:r>
            <a:r>
              <a:rPr lang="en-US" altLang="ko-KR" sz="2000" dirty="0"/>
              <a:t>5698)</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337</a:t>
            </a:r>
            <a:endParaRPr lang="ko-KR" altLang="en-US"/>
          </a:p>
        </p:txBody>
      </p:sp>
      <p:sp>
        <p:nvSpPr>
          <p:cNvPr id="13" name="직사각형 12">
            <a:extLst>
              <a:ext uri="{FF2B5EF4-FFF2-40B4-BE49-F238E27FC236}">
                <a16:creationId xmlns:a16="http://schemas.microsoft.com/office/drawing/2014/main" id="{FFE7F95F-8B51-4C72-BF92-D428868C8E17}"/>
              </a:ext>
            </a:extLst>
          </p:cNvPr>
          <p:cNvSpPr/>
          <p:nvPr/>
        </p:nvSpPr>
        <p:spPr>
          <a:xfrm>
            <a:off x="285749" y="914400"/>
            <a:ext cx="11657625" cy="6147837"/>
          </a:xfrm>
          <a:prstGeom prst="rect">
            <a:avLst/>
          </a:prstGeom>
        </p:spPr>
        <p:txBody>
          <a:bodyPr wrap="square">
            <a:spAutoFit/>
          </a:bodyPr>
          <a:lstStyle/>
          <a:p>
            <a:r>
              <a:rPr lang="en-US" altLang="ko-KR" sz="1150" b="1" dirty="0"/>
              <a:t>(1) </a:t>
            </a:r>
            <a:r>
              <a:rPr lang="ko-KR" altLang="en-US" sz="1150" b="1" dirty="0"/>
              <a:t>과제 해결원리의 동일성 여부 </a:t>
            </a:r>
            <a:r>
              <a:rPr lang="en-US" altLang="ko-KR" sz="1200" b="1" dirty="0">
                <a:solidFill>
                  <a:schemeClr val="accent1">
                    <a:lumMod val="50000"/>
                  </a:schemeClr>
                </a:solidFill>
              </a:rPr>
              <a:t>(invention as a whole)</a:t>
            </a:r>
            <a:endParaRPr lang="ko-KR" altLang="en-US" sz="1150" b="1" dirty="0">
              <a:solidFill>
                <a:schemeClr val="accent1">
                  <a:lumMod val="50000"/>
                </a:schemeClr>
              </a:solidFill>
            </a:endParaRPr>
          </a:p>
          <a:p>
            <a:r>
              <a:rPr lang="en-US" altLang="ko-KR" sz="1150" dirty="0"/>
              <a:t>(</a:t>
            </a:r>
            <a:r>
              <a:rPr lang="ko-KR" altLang="en-US" sz="1150" dirty="0"/>
              <a:t>가</a:t>
            </a:r>
            <a:r>
              <a:rPr lang="en-US" altLang="ko-KR" sz="1150" dirty="0"/>
              <a:t>) </a:t>
            </a:r>
            <a:r>
              <a:rPr lang="ko-KR" altLang="en-US" sz="1150" dirty="0"/>
              <a:t>채무자의 원심 판시 이 사건 실시제품에는 이 사건 특허발명의 청구범위 제</a:t>
            </a:r>
            <a:r>
              <a:rPr lang="en-US" altLang="ko-KR" sz="1150" dirty="0"/>
              <a:t>1</a:t>
            </a:r>
            <a:r>
              <a:rPr lang="ko-KR" altLang="en-US" sz="1150" dirty="0"/>
              <a:t>항</a:t>
            </a:r>
            <a:r>
              <a:rPr lang="en-US" altLang="ko-KR" sz="1150" dirty="0"/>
              <a:t>(</a:t>
            </a:r>
            <a:r>
              <a:rPr lang="ko-KR" altLang="en-US" sz="1150" dirty="0"/>
              <a:t>이하 ‘이 사건 제</a:t>
            </a:r>
            <a:r>
              <a:rPr lang="en-US" altLang="ko-KR" sz="1150" dirty="0"/>
              <a:t>1</a:t>
            </a:r>
            <a:r>
              <a:rPr lang="ko-KR" altLang="en-US" sz="1150" dirty="0"/>
              <a:t>항 </a:t>
            </a:r>
            <a:r>
              <a:rPr lang="ko-KR" altLang="en-US" sz="1150" dirty="0" err="1"/>
              <a:t>발명’이라고</a:t>
            </a:r>
            <a:r>
              <a:rPr lang="ko-KR" altLang="en-US" sz="1150" dirty="0"/>
              <a:t> 한다</a:t>
            </a:r>
            <a:r>
              <a:rPr lang="en-US" altLang="ko-KR" sz="1150" dirty="0"/>
              <a:t>)</a:t>
            </a:r>
            <a:r>
              <a:rPr lang="ko-KR" altLang="en-US" sz="1150" dirty="0"/>
              <a:t>의 구성 </a:t>
            </a:r>
            <a:r>
              <a:rPr lang="en-US" altLang="ko-KR" sz="1150" dirty="0"/>
              <a:t>6</a:t>
            </a:r>
            <a:r>
              <a:rPr lang="ko-KR" altLang="en-US" sz="1150" dirty="0"/>
              <a:t>과 구성 </a:t>
            </a:r>
            <a:r>
              <a:rPr lang="en-US" altLang="ko-KR" sz="1150" dirty="0"/>
              <a:t>7</a:t>
            </a:r>
            <a:r>
              <a:rPr lang="ko-KR" altLang="en-US" sz="1150" dirty="0"/>
              <a:t>을 제외한 나머지 구성들인 ① 구성 </a:t>
            </a:r>
            <a:r>
              <a:rPr lang="en-US" altLang="ko-KR" sz="1150" dirty="0"/>
              <a:t>1(</a:t>
            </a:r>
            <a:r>
              <a:rPr lang="ko-KR" altLang="en-US" sz="1150" dirty="0"/>
              <a:t>프레임</a:t>
            </a:r>
            <a:r>
              <a:rPr lang="en-US" altLang="ko-KR" sz="1150" dirty="0"/>
              <a:t>), ② </a:t>
            </a:r>
            <a:r>
              <a:rPr lang="ko-KR" altLang="en-US" sz="1150" dirty="0"/>
              <a:t>구성 </a:t>
            </a:r>
            <a:r>
              <a:rPr lang="en-US" altLang="ko-KR" sz="1150" dirty="0"/>
              <a:t>2(</a:t>
            </a:r>
            <a:r>
              <a:rPr lang="ko-KR" altLang="en-US" sz="1150" dirty="0"/>
              <a:t>절단용 </a:t>
            </a:r>
            <a:r>
              <a:rPr lang="ko-KR" altLang="en-US" sz="1150" dirty="0" err="1"/>
              <a:t>실런더유닛</a:t>
            </a:r>
            <a:r>
              <a:rPr lang="en-US" altLang="ko-KR" sz="1150" dirty="0"/>
              <a:t>), ③ </a:t>
            </a:r>
            <a:r>
              <a:rPr lang="ko-KR" altLang="en-US" sz="1150" dirty="0"/>
              <a:t>구성 </a:t>
            </a:r>
            <a:r>
              <a:rPr lang="en-US" altLang="ko-KR" sz="1150" dirty="0"/>
              <a:t>3(</a:t>
            </a:r>
            <a:r>
              <a:rPr lang="ko-KR" altLang="en-US" sz="1150" dirty="0" err="1"/>
              <a:t>승강판</a:t>
            </a:r>
            <a:r>
              <a:rPr lang="en-US" altLang="ko-KR" sz="1150" dirty="0"/>
              <a:t>), ④ </a:t>
            </a:r>
            <a:r>
              <a:rPr lang="ko-KR" altLang="en-US" sz="1150" dirty="0"/>
              <a:t>구성 </a:t>
            </a:r>
            <a:r>
              <a:rPr lang="en-US" altLang="ko-KR" sz="1150" dirty="0"/>
              <a:t>4(</a:t>
            </a:r>
            <a:r>
              <a:rPr lang="ko-KR" altLang="en-US" sz="1150" dirty="0" err="1"/>
              <a:t>가압절판</a:t>
            </a:r>
            <a:r>
              <a:rPr lang="en-US" altLang="ko-KR" sz="1150" dirty="0"/>
              <a:t>), ⑤ </a:t>
            </a:r>
            <a:r>
              <a:rPr lang="ko-KR" altLang="en-US" sz="1150" dirty="0"/>
              <a:t>구성 </a:t>
            </a:r>
            <a:r>
              <a:rPr lang="en-US" altLang="ko-KR" sz="1150" dirty="0"/>
              <a:t>5(</a:t>
            </a:r>
            <a:r>
              <a:rPr lang="ko-KR" altLang="en-US" sz="1150" dirty="0" err="1"/>
              <a:t>가압봉</a:t>
            </a:r>
            <a:r>
              <a:rPr lang="en-US" altLang="ko-KR" sz="1150" dirty="0"/>
              <a:t>), ⑥ </a:t>
            </a:r>
            <a:r>
              <a:rPr lang="ko-KR" altLang="en-US" sz="1150" dirty="0"/>
              <a:t>구성 </a:t>
            </a:r>
            <a:r>
              <a:rPr lang="en-US" altLang="ko-KR" sz="1150" dirty="0"/>
              <a:t>8(</a:t>
            </a:r>
            <a:r>
              <a:rPr lang="ko-KR" altLang="en-US" sz="1150" dirty="0"/>
              <a:t>포장용기 </a:t>
            </a:r>
            <a:r>
              <a:rPr lang="ko-KR" altLang="en-US" sz="1150" dirty="0" err="1"/>
              <a:t>이송유닛</a:t>
            </a:r>
            <a:r>
              <a:rPr lang="en-US" altLang="ko-KR" sz="1150" dirty="0"/>
              <a:t>)</a:t>
            </a:r>
            <a:r>
              <a:rPr lang="ko-KR" altLang="en-US" sz="1150" dirty="0"/>
              <a:t>과 동일한 구성들이 포함되어 있다</a:t>
            </a:r>
            <a:r>
              <a:rPr lang="en-US" altLang="ko-KR" sz="1150" dirty="0"/>
              <a:t>.</a:t>
            </a:r>
          </a:p>
          <a:p>
            <a:r>
              <a:rPr lang="en-US" altLang="ko-KR" sz="1150" dirty="0"/>
              <a:t>(</a:t>
            </a:r>
            <a:r>
              <a:rPr lang="ko-KR" altLang="en-US" sz="1150" dirty="0"/>
              <a:t>나</a:t>
            </a:r>
            <a:r>
              <a:rPr lang="en-US" altLang="ko-KR" sz="1150" dirty="0"/>
              <a:t>) </a:t>
            </a:r>
            <a:r>
              <a:rPr lang="ko-KR" altLang="en-US" sz="1150" dirty="0"/>
              <a:t>이 사건 제</a:t>
            </a:r>
            <a:r>
              <a:rPr lang="en-US" altLang="ko-KR" sz="1150" dirty="0"/>
              <a:t>1</a:t>
            </a:r>
            <a:r>
              <a:rPr lang="ko-KR" altLang="en-US" sz="1150" dirty="0"/>
              <a:t>항 발명의 구성 </a:t>
            </a:r>
            <a:r>
              <a:rPr lang="en-US" altLang="ko-KR" sz="1150" dirty="0"/>
              <a:t>6</a:t>
            </a:r>
            <a:r>
              <a:rPr lang="ko-KR" altLang="en-US" sz="1150" dirty="0"/>
              <a:t>은 ‘적층 </a:t>
            </a:r>
            <a:r>
              <a:rPr lang="ko-KR" altLang="en-US" sz="1150" dirty="0" err="1"/>
              <a:t>구이김을</a:t>
            </a:r>
            <a:r>
              <a:rPr lang="ko-KR" altLang="en-US" sz="1150" dirty="0"/>
              <a:t> 내부로 수용하기 위한 투입구가 </a:t>
            </a:r>
            <a:r>
              <a:rPr lang="ko-KR" altLang="en-US" sz="1150" dirty="0" err="1"/>
              <a:t>일측에</a:t>
            </a:r>
            <a:r>
              <a:rPr lang="ko-KR" altLang="en-US" sz="1150" dirty="0"/>
              <a:t> 형성되고 그 내측에는 투입 중인 </a:t>
            </a:r>
            <a:r>
              <a:rPr lang="ko-KR" altLang="en-US" sz="1150" dirty="0" err="1"/>
              <a:t>구이김을</a:t>
            </a:r>
            <a:r>
              <a:rPr lang="ko-KR" altLang="en-US" sz="1150" dirty="0"/>
              <a:t> 정확한 절단위치까지 이송하기 위한 </a:t>
            </a:r>
            <a:r>
              <a:rPr lang="ko-KR" altLang="en-US" sz="1150" dirty="0" err="1"/>
              <a:t>인입작동유닛이</a:t>
            </a:r>
            <a:r>
              <a:rPr lang="ko-KR" altLang="en-US" sz="1150" dirty="0"/>
              <a:t> 구비되어 상기 </a:t>
            </a:r>
            <a:r>
              <a:rPr lang="ko-KR" altLang="en-US" sz="1150" dirty="0" err="1"/>
              <a:t>구이김을</a:t>
            </a:r>
            <a:r>
              <a:rPr lang="ko-KR" altLang="en-US" sz="1150" dirty="0"/>
              <a:t> 내부로 자동 </a:t>
            </a:r>
            <a:r>
              <a:rPr lang="ko-KR" altLang="en-US" sz="1150" dirty="0" err="1"/>
              <a:t>인입할</a:t>
            </a:r>
            <a:r>
              <a:rPr lang="ko-KR" altLang="en-US" sz="1150" dirty="0"/>
              <a:t> 수 있게 함과 아울러 </a:t>
            </a:r>
            <a:r>
              <a:rPr lang="ko-KR" altLang="en-US" sz="1150" dirty="0">
                <a:solidFill>
                  <a:srgbClr val="FF0000"/>
                </a:solidFill>
              </a:rPr>
              <a:t>상기 </a:t>
            </a:r>
            <a:r>
              <a:rPr lang="ko-KR" altLang="en-US" sz="1150" dirty="0" err="1">
                <a:solidFill>
                  <a:srgbClr val="FF0000"/>
                </a:solidFill>
              </a:rPr>
              <a:t>가압절판의</a:t>
            </a:r>
            <a:r>
              <a:rPr lang="ko-KR" altLang="en-US" sz="1150" dirty="0">
                <a:solidFill>
                  <a:srgbClr val="FF0000"/>
                </a:solidFill>
              </a:rPr>
              <a:t> 승강 작동을 안정적으로 안내해주는 </a:t>
            </a:r>
            <a:r>
              <a:rPr lang="ko-KR" altLang="en-US" sz="1150" dirty="0" err="1">
                <a:solidFill>
                  <a:srgbClr val="FF0000"/>
                </a:solidFill>
              </a:rPr>
              <a:t>가이드케이스</a:t>
            </a:r>
            <a:r>
              <a:rPr lang="ko-KR" altLang="en-US" sz="1150" dirty="0" err="1"/>
              <a:t>’이다</a:t>
            </a:r>
            <a:r>
              <a:rPr lang="en-US" altLang="ko-KR" sz="1150" dirty="0"/>
              <a:t>. </a:t>
            </a:r>
            <a:r>
              <a:rPr lang="ko-KR" altLang="en-US" sz="1150" dirty="0"/>
              <a:t>이 사건 실시제품은 “</a:t>
            </a:r>
            <a:r>
              <a:rPr lang="ko-KR" altLang="en-US" sz="1150" dirty="0" err="1"/>
              <a:t>구이김을</a:t>
            </a:r>
            <a:r>
              <a:rPr lang="ko-KR" altLang="en-US" sz="1150" dirty="0"/>
              <a:t> 이송하는 </a:t>
            </a:r>
            <a:r>
              <a:rPr lang="ko-KR" altLang="en-US" sz="1150" dirty="0" err="1"/>
              <a:t>인입작동유닛이</a:t>
            </a:r>
            <a:r>
              <a:rPr lang="ko-KR" altLang="en-US" sz="1150" dirty="0"/>
              <a:t> 구비되는 한편</a:t>
            </a:r>
            <a:r>
              <a:rPr lang="en-US" altLang="ko-KR" sz="1150" dirty="0"/>
              <a:t>, </a:t>
            </a:r>
            <a:r>
              <a:rPr lang="ko-KR" altLang="en-US" sz="1150" dirty="0" err="1"/>
              <a:t>구이김이</a:t>
            </a:r>
            <a:r>
              <a:rPr lang="ko-KR" altLang="en-US" sz="1150" dirty="0"/>
              <a:t> 투입되는 곳에 </a:t>
            </a:r>
            <a:r>
              <a:rPr lang="ko-KR" altLang="en-US" sz="1150" dirty="0">
                <a:solidFill>
                  <a:srgbClr val="FF0000"/>
                </a:solidFill>
              </a:rPr>
              <a:t>회동이 가능한 </a:t>
            </a:r>
            <a:r>
              <a:rPr lang="ko-KR" altLang="en-US" sz="1150" dirty="0" err="1">
                <a:solidFill>
                  <a:srgbClr val="FF0000"/>
                </a:solidFill>
              </a:rPr>
              <a:t>회동푸셔가</a:t>
            </a:r>
            <a:r>
              <a:rPr lang="ko-KR" altLang="en-US" sz="1150" dirty="0">
                <a:solidFill>
                  <a:srgbClr val="FF0000"/>
                </a:solidFill>
              </a:rPr>
              <a:t> 형성되고 그 맞은편에는 </a:t>
            </a:r>
            <a:r>
              <a:rPr lang="en-US" altLang="ko-KR" sz="1150" dirty="0">
                <a:solidFill>
                  <a:srgbClr val="FF0000"/>
                </a:solidFill>
              </a:rPr>
              <a:t>4</a:t>
            </a:r>
            <a:r>
              <a:rPr lang="ko-KR" altLang="en-US" sz="1150" dirty="0">
                <a:solidFill>
                  <a:srgbClr val="FF0000"/>
                </a:solidFill>
              </a:rPr>
              <a:t>개의 </a:t>
            </a:r>
            <a:r>
              <a:rPr lang="ko-KR" altLang="en-US" sz="1150" dirty="0" err="1">
                <a:solidFill>
                  <a:srgbClr val="FF0000"/>
                </a:solidFill>
              </a:rPr>
              <a:t>수직봉</a:t>
            </a:r>
            <a:r>
              <a:rPr lang="ko-KR" altLang="en-US" sz="1150" dirty="0">
                <a:solidFill>
                  <a:srgbClr val="FF0000"/>
                </a:solidFill>
              </a:rPr>
              <a:t> 형상의 </a:t>
            </a:r>
            <a:r>
              <a:rPr lang="ko-KR" altLang="en-US" sz="1150" dirty="0" err="1">
                <a:solidFill>
                  <a:srgbClr val="FF0000"/>
                </a:solidFill>
              </a:rPr>
              <a:t>스토퍼가</a:t>
            </a:r>
            <a:r>
              <a:rPr lang="ko-KR" altLang="en-US" sz="1150" dirty="0">
                <a:solidFill>
                  <a:srgbClr val="FF0000"/>
                </a:solidFill>
              </a:rPr>
              <a:t> 설치</a:t>
            </a:r>
            <a:r>
              <a:rPr lang="ko-KR" altLang="en-US" sz="1150" dirty="0"/>
              <a:t>되며</a:t>
            </a:r>
            <a:r>
              <a:rPr lang="en-US" altLang="ko-KR" sz="1150" dirty="0"/>
              <a:t>, </a:t>
            </a:r>
            <a:r>
              <a:rPr lang="ko-KR" altLang="en-US" sz="1150" dirty="0"/>
              <a:t>위쪽 변의 길이가 아래쪽 변의 길이보다 짧은 사다리꼴 형상의 </a:t>
            </a:r>
            <a:r>
              <a:rPr lang="ko-KR" altLang="en-US" sz="1150" dirty="0" err="1"/>
              <a:t>가압절판이</a:t>
            </a:r>
            <a:r>
              <a:rPr lang="ko-KR" altLang="en-US" sz="1150" dirty="0"/>
              <a:t> </a:t>
            </a:r>
            <a:r>
              <a:rPr lang="ko-KR" altLang="en-US" sz="1150" dirty="0" err="1"/>
              <a:t>상사점</a:t>
            </a:r>
            <a:r>
              <a:rPr lang="en-US" altLang="ko-KR" sz="1150" dirty="0"/>
              <a:t>(</a:t>
            </a:r>
            <a:r>
              <a:rPr lang="ko-KR" altLang="en-US" sz="1150" dirty="0" err="1"/>
              <a:t>상사점</a:t>
            </a:r>
            <a:r>
              <a:rPr lang="en-US" altLang="ko-KR" sz="1150" dirty="0"/>
              <a:t>: </a:t>
            </a:r>
            <a:r>
              <a:rPr lang="ko-KR" altLang="en-US" sz="1150" dirty="0"/>
              <a:t>왕복운동의 상승행정 중 가장 높은 위치</a:t>
            </a:r>
            <a:r>
              <a:rPr lang="en-US" altLang="ko-KR" sz="1150" dirty="0"/>
              <a:t>)</a:t>
            </a:r>
            <a:r>
              <a:rPr lang="ko-KR" altLang="en-US" sz="1150" dirty="0"/>
              <a:t>에서 중간판 내측에 형성된 </a:t>
            </a:r>
            <a:r>
              <a:rPr lang="ko-KR" altLang="en-US" sz="1150" dirty="0">
                <a:solidFill>
                  <a:srgbClr val="FF0000"/>
                </a:solidFill>
              </a:rPr>
              <a:t>사각케이스 형상의 중공</a:t>
            </a:r>
            <a:r>
              <a:rPr lang="ko-KR" altLang="en-US" sz="1150" dirty="0"/>
              <a:t>에 끼워져 모이게 되는 기술 구성”</a:t>
            </a:r>
            <a:r>
              <a:rPr lang="en-US" altLang="ko-KR" sz="1150" dirty="0"/>
              <a:t>(</a:t>
            </a:r>
            <a:r>
              <a:rPr lang="ko-KR" altLang="en-US" sz="1150" dirty="0"/>
              <a:t>이하 ‘구성 </a:t>
            </a:r>
            <a:r>
              <a:rPr lang="en-US" altLang="ko-KR" sz="1150" dirty="0"/>
              <a:t>6 </a:t>
            </a:r>
            <a:r>
              <a:rPr lang="ko-KR" altLang="en-US" sz="1150" dirty="0" err="1"/>
              <a:t>대응구성’이라</a:t>
            </a:r>
            <a:r>
              <a:rPr lang="ko-KR" altLang="en-US" sz="1150" dirty="0"/>
              <a:t> 한다</a:t>
            </a:r>
            <a:r>
              <a:rPr lang="en-US" altLang="ko-KR" sz="1150" dirty="0"/>
              <a:t>)</a:t>
            </a:r>
            <a:r>
              <a:rPr lang="ko-KR" altLang="en-US" sz="1150" dirty="0"/>
              <a:t>을 포함하고 있다</a:t>
            </a:r>
            <a:r>
              <a:rPr lang="en-US" altLang="ko-KR" sz="1150" dirty="0"/>
              <a:t>.</a:t>
            </a:r>
          </a:p>
          <a:p>
            <a:r>
              <a:rPr lang="en-US" altLang="ko-KR" sz="1150" dirty="0"/>
              <a:t>(</a:t>
            </a:r>
            <a:r>
              <a:rPr lang="ko-KR" altLang="en-US" sz="1150" dirty="0"/>
              <a:t>다</a:t>
            </a:r>
            <a:r>
              <a:rPr lang="en-US" altLang="ko-KR" sz="1150" dirty="0"/>
              <a:t>) </a:t>
            </a:r>
            <a:r>
              <a:rPr lang="ko-KR" altLang="en-US" sz="1150" dirty="0"/>
              <a:t>이 사건 제</a:t>
            </a:r>
            <a:r>
              <a:rPr lang="en-US" altLang="ko-KR" sz="1150" dirty="0"/>
              <a:t>1</a:t>
            </a:r>
            <a:r>
              <a:rPr lang="ko-KR" altLang="en-US" sz="1150" dirty="0"/>
              <a:t>항 발명의 구성 </a:t>
            </a:r>
            <a:r>
              <a:rPr lang="en-US" altLang="ko-KR" sz="1150" dirty="0"/>
              <a:t>7</a:t>
            </a:r>
            <a:r>
              <a:rPr lang="ko-KR" altLang="en-US" sz="1150" dirty="0"/>
              <a:t>은 ‘</a:t>
            </a:r>
            <a:r>
              <a:rPr lang="ko-KR" altLang="en-US" sz="1150" dirty="0">
                <a:solidFill>
                  <a:srgbClr val="FF0000"/>
                </a:solidFill>
              </a:rPr>
              <a:t>가이드케이스의 하부에 고정 배치되고 아래로 갈수록 그 두께가 선형적으로 넓어지는 격자형의 </a:t>
            </a:r>
            <a:r>
              <a:rPr lang="ko-KR" altLang="en-US" sz="1150" dirty="0" err="1">
                <a:solidFill>
                  <a:srgbClr val="FF0000"/>
                </a:solidFill>
              </a:rPr>
              <a:t>절단날</a:t>
            </a:r>
            <a:r>
              <a:rPr lang="ko-KR" altLang="en-US" sz="1150" dirty="0" err="1"/>
              <a:t>’이다</a:t>
            </a:r>
            <a:r>
              <a:rPr lang="en-US" altLang="ko-KR" sz="1150" dirty="0"/>
              <a:t>. </a:t>
            </a:r>
            <a:r>
              <a:rPr lang="ko-KR" altLang="en-US" sz="1150" dirty="0"/>
              <a:t>이 사건 실시제품은 “</a:t>
            </a:r>
            <a:r>
              <a:rPr lang="ko-KR" altLang="en-US" sz="1150" dirty="0">
                <a:solidFill>
                  <a:srgbClr val="FF0000"/>
                </a:solidFill>
              </a:rPr>
              <a:t>김의 절단위치 하부에 고정 배치되고 아래로 갈수록 그 두께가 선형적으로 넓어지는 경사면을 구비한 ‘격자형 </a:t>
            </a:r>
            <a:r>
              <a:rPr lang="ko-KR" altLang="en-US" sz="1150" dirty="0" err="1">
                <a:solidFill>
                  <a:srgbClr val="FF0000"/>
                </a:solidFill>
              </a:rPr>
              <a:t>박스’와</a:t>
            </a:r>
            <a:r>
              <a:rPr lang="en-US" altLang="ko-KR" sz="1150" dirty="0">
                <a:solidFill>
                  <a:srgbClr val="FF0000"/>
                </a:solidFill>
              </a:rPr>
              <a:t>, </a:t>
            </a:r>
            <a:r>
              <a:rPr lang="ko-KR" altLang="en-US" sz="1150" dirty="0">
                <a:solidFill>
                  <a:srgbClr val="FF0000"/>
                </a:solidFill>
              </a:rPr>
              <a:t>상하로 이동되는 절단용 실린더에 연동하고 각 </a:t>
            </a:r>
            <a:r>
              <a:rPr lang="ko-KR" altLang="en-US" sz="1150" dirty="0" err="1">
                <a:solidFill>
                  <a:srgbClr val="FF0000"/>
                </a:solidFill>
              </a:rPr>
              <a:t>가압절판에</a:t>
            </a:r>
            <a:r>
              <a:rPr lang="ko-KR" altLang="en-US" sz="1150" dirty="0">
                <a:solidFill>
                  <a:srgbClr val="FF0000"/>
                </a:solidFill>
              </a:rPr>
              <a:t> 인접하여 수직으로 형성되는 ‘격자형 </a:t>
            </a:r>
            <a:r>
              <a:rPr lang="ko-KR" altLang="en-US" sz="1150" dirty="0" err="1">
                <a:solidFill>
                  <a:srgbClr val="FF0000"/>
                </a:solidFill>
              </a:rPr>
              <a:t>절단날</a:t>
            </a:r>
            <a:r>
              <a:rPr lang="ko-KR" altLang="en-US" sz="1150" dirty="0" err="1"/>
              <a:t>’의</a:t>
            </a:r>
            <a:r>
              <a:rPr lang="ko-KR" altLang="en-US" sz="1150" dirty="0"/>
              <a:t> 기술 구성”</a:t>
            </a:r>
            <a:r>
              <a:rPr lang="en-US" altLang="ko-KR" sz="1150" dirty="0"/>
              <a:t>(</a:t>
            </a:r>
            <a:r>
              <a:rPr lang="ko-KR" altLang="en-US" sz="1150" dirty="0"/>
              <a:t>이하 ‘구성 </a:t>
            </a:r>
            <a:r>
              <a:rPr lang="en-US" altLang="ko-KR" sz="1150" dirty="0"/>
              <a:t>7 </a:t>
            </a:r>
            <a:r>
              <a:rPr lang="ko-KR" altLang="en-US" sz="1150" dirty="0" err="1"/>
              <a:t>대응구성’이라</a:t>
            </a:r>
            <a:r>
              <a:rPr lang="ko-KR" altLang="en-US" sz="1150" dirty="0"/>
              <a:t> 한다</a:t>
            </a:r>
            <a:r>
              <a:rPr lang="en-US" altLang="ko-KR" sz="1150" dirty="0"/>
              <a:t>)</a:t>
            </a:r>
            <a:r>
              <a:rPr lang="ko-KR" altLang="en-US" sz="1150" dirty="0"/>
              <a:t>을 포함하고 있다</a:t>
            </a:r>
            <a:r>
              <a:rPr lang="en-US" altLang="ko-KR" sz="1150" dirty="0"/>
              <a:t>.</a:t>
            </a:r>
          </a:p>
          <a:p>
            <a:r>
              <a:rPr lang="en-US" altLang="ko-KR" sz="1150" dirty="0"/>
              <a:t>(</a:t>
            </a:r>
            <a:r>
              <a:rPr lang="ko-KR" altLang="en-US" sz="1150" dirty="0"/>
              <a:t>라</a:t>
            </a:r>
            <a:r>
              <a:rPr lang="en-US" altLang="ko-KR" sz="1150" dirty="0"/>
              <a:t>) </a:t>
            </a:r>
            <a:r>
              <a:rPr lang="ko-KR" altLang="en-US" sz="1150" dirty="0"/>
              <a:t>이 사건 특허발명의 설명에는 ‘</a:t>
            </a:r>
            <a:r>
              <a:rPr lang="ko-KR" altLang="en-US" sz="1150" dirty="0">
                <a:solidFill>
                  <a:srgbClr val="FF0000"/>
                </a:solidFill>
              </a:rPr>
              <a:t>종래에는 포장용기들의 각 수납공간 사이의 간격만큼 절단된 각각의 적층 김들의 사이를 벌려 놓는 구조를 제시하지 못했지만</a:t>
            </a:r>
            <a:r>
              <a:rPr lang="en-US" altLang="ko-KR" sz="1150" dirty="0">
                <a:solidFill>
                  <a:srgbClr val="FF0000"/>
                </a:solidFill>
              </a:rPr>
              <a:t>, </a:t>
            </a:r>
            <a:r>
              <a:rPr lang="ko-KR" altLang="en-US" sz="1150" dirty="0">
                <a:solidFill>
                  <a:srgbClr val="FF0000"/>
                </a:solidFill>
              </a:rPr>
              <a:t>위 적층 김들을 누르는 </a:t>
            </a:r>
            <a:r>
              <a:rPr lang="ko-KR" altLang="en-US" sz="1150" dirty="0" err="1">
                <a:solidFill>
                  <a:srgbClr val="FF0000"/>
                </a:solidFill>
              </a:rPr>
              <a:t>가압절판들이</a:t>
            </a:r>
            <a:r>
              <a:rPr lang="ko-KR" altLang="en-US" sz="1150" dirty="0">
                <a:solidFill>
                  <a:srgbClr val="FF0000"/>
                </a:solidFill>
              </a:rPr>
              <a:t> 격자형 절단날의 외측 경사면을 따라 서로 사이가 벌어지도록 유도함으로써 수납공정까지 자동화할 수 있다</a:t>
            </a:r>
            <a:r>
              <a:rPr lang="ko-KR" altLang="en-US" sz="1150" dirty="0"/>
              <a:t>’는 취지가 기재되어 있다</a:t>
            </a:r>
            <a:r>
              <a:rPr lang="en-US" altLang="ko-KR" sz="1150" dirty="0"/>
              <a:t>.</a:t>
            </a:r>
          </a:p>
          <a:p>
            <a:r>
              <a:rPr lang="en-US" altLang="ko-KR" sz="1150" dirty="0"/>
              <a:t>(</a:t>
            </a:r>
            <a:r>
              <a:rPr lang="ko-KR" altLang="en-US" sz="1150" dirty="0"/>
              <a:t>마</a:t>
            </a:r>
            <a:r>
              <a:rPr lang="en-US" altLang="ko-KR" sz="1150" dirty="0"/>
              <a:t>) </a:t>
            </a:r>
            <a:r>
              <a:rPr lang="ko-KR" altLang="en-US" sz="1150" dirty="0"/>
              <a:t>이러한 발명의 설명의 기재를 통하여 파악되는 이 사건 제</a:t>
            </a:r>
            <a:r>
              <a:rPr lang="en-US" altLang="ko-KR" sz="1150" dirty="0"/>
              <a:t>1</a:t>
            </a:r>
            <a:r>
              <a:rPr lang="ko-KR" altLang="en-US" sz="1150" dirty="0"/>
              <a:t>항 발명에</a:t>
            </a:r>
            <a:r>
              <a:rPr lang="ko-KR" altLang="en-US" sz="1150" dirty="0">
                <a:solidFill>
                  <a:srgbClr val="FF0000"/>
                </a:solidFill>
              </a:rPr>
              <a:t> 특유한 해결수단이 기초하고 있는 기술사상의 핵심은 ‘절단된 각각의 적층 김들이 하강하면서 가이드케이스의 하부에 고정 배치되는 격자형 부품의 외측 경사면을 따라 서로 사이가 벌어지도록 </a:t>
            </a:r>
            <a:r>
              <a:rPr lang="ko-KR" altLang="en-US" sz="1150" dirty="0" err="1">
                <a:solidFill>
                  <a:srgbClr val="FF0000"/>
                </a:solidFill>
              </a:rPr>
              <a:t>유도</a:t>
            </a:r>
            <a:r>
              <a:rPr lang="ko-KR" altLang="en-US" sz="1150" dirty="0" err="1"/>
              <a:t>’하는</a:t>
            </a:r>
            <a:r>
              <a:rPr lang="ko-KR" altLang="en-US" sz="1150" dirty="0"/>
              <a:t> 데에 있다</a:t>
            </a:r>
            <a:r>
              <a:rPr lang="en-US" altLang="ko-KR" sz="1150" dirty="0"/>
              <a:t>. </a:t>
            </a:r>
            <a:r>
              <a:rPr lang="ko-KR" altLang="en-US" sz="1150" dirty="0"/>
              <a:t>원심 판시 선출원고안은 이 사건 특허발명의 출원 당시에 공지된 기술이 아니고</a:t>
            </a:r>
            <a:r>
              <a:rPr lang="en-US" altLang="ko-KR" sz="1150" dirty="0"/>
              <a:t>, </a:t>
            </a:r>
            <a:r>
              <a:rPr lang="ko-KR" altLang="en-US" sz="1150" dirty="0"/>
              <a:t>그 밖에 </a:t>
            </a:r>
            <a:r>
              <a:rPr lang="ko-KR" altLang="en-US" sz="1150" dirty="0">
                <a:solidFill>
                  <a:srgbClr val="FF0000"/>
                </a:solidFill>
              </a:rPr>
              <a:t>위와 같은 기술사상의 핵심이 이 사건 특허발명의 출원 당시에 공지되었다고 볼 만한 사정은 보이지 않는다</a:t>
            </a:r>
            <a:r>
              <a:rPr lang="en-US" altLang="ko-KR" sz="1150" dirty="0">
                <a:solidFill>
                  <a:srgbClr val="FF0000"/>
                </a:solidFill>
              </a:rPr>
              <a:t>.</a:t>
            </a:r>
            <a:r>
              <a:rPr lang="en-US" altLang="ko-KR" sz="1150" dirty="0"/>
              <a:t> </a:t>
            </a:r>
            <a:r>
              <a:rPr lang="ko-KR" altLang="en-US" sz="1150" dirty="0"/>
              <a:t>그리고 발명의 설명에 </a:t>
            </a:r>
            <a:r>
              <a:rPr lang="ko-KR" altLang="en-US" sz="1150" dirty="0">
                <a:solidFill>
                  <a:srgbClr val="FF0000"/>
                </a:solidFill>
              </a:rPr>
              <a:t>구성 </a:t>
            </a:r>
            <a:r>
              <a:rPr lang="en-US" altLang="ko-KR" sz="1150" dirty="0">
                <a:solidFill>
                  <a:srgbClr val="FF0000"/>
                </a:solidFill>
              </a:rPr>
              <a:t>6 </a:t>
            </a:r>
            <a:r>
              <a:rPr lang="ko-KR" altLang="en-US" sz="1150" dirty="0">
                <a:solidFill>
                  <a:srgbClr val="FF0000"/>
                </a:solidFill>
              </a:rPr>
              <a:t>가이드케이스가 </a:t>
            </a:r>
            <a:r>
              <a:rPr lang="ko-KR" altLang="en-US" sz="1150" dirty="0" err="1">
                <a:solidFill>
                  <a:srgbClr val="FF0000"/>
                </a:solidFill>
              </a:rPr>
              <a:t>가압절판의</a:t>
            </a:r>
            <a:r>
              <a:rPr lang="ko-KR" altLang="en-US" sz="1150" dirty="0">
                <a:solidFill>
                  <a:srgbClr val="FF0000"/>
                </a:solidFill>
              </a:rPr>
              <a:t> 승강작동을 안정적으로 안내한다고 기재되어 있으나</a:t>
            </a:r>
            <a:r>
              <a:rPr lang="en-US" altLang="ko-KR" sz="1150" dirty="0">
                <a:solidFill>
                  <a:srgbClr val="FF0000"/>
                </a:solidFill>
              </a:rPr>
              <a:t>, </a:t>
            </a:r>
            <a:r>
              <a:rPr lang="ko-KR" altLang="en-US" sz="1150" dirty="0">
                <a:solidFill>
                  <a:srgbClr val="FF0000"/>
                </a:solidFill>
              </a:rPr>
              <a:t>이러한 기능은 </a:t>
            </a:r>
            <a:r>
              <a:rPr lang="ko-KR" altLang="en-US" sz="1150" dirty="0" err="1">
                <a:solidFill>
                  <a:srgbClr val="FF0000"/>
                </a:solidFill>
              </a:rPr>
              <a:t>가압절판의</a:t>
            </a:r>
            <a:r>
              <a:rPr lang="ko-KR" altLang="en-US" sz="1150" dirty="0">
                <a:solidFill>
                  <a:srgbClr val="FF0000"/>
                </a:solidFill>
              </a:rPr>
              <a:t> 승강작동을 안정적으로 안내하는 것을 통해 앞서 본 이 사건 제</a:t>
            </a:r>
            <a:r>
              <a:rPr lang="en-US" altLang="ko-KR" sz="1150" dirty="0">
                <a:solidFill>
                  <a:srgbClr val="FF0000"/>
                </a:solidFill>
              </a:rPr>
              <a:t>1</a:t>
            </a:r>
            <a:r>
              <a:rPr lang="ko-KR" altLang="en-US" sz="1150" dirty="0">
                <a:solidFill>
                  <a:srgbClr val="FF0000"/>
                </a:solidFill>
              </a:rPr>
              <a:t>항 발명의 기술사상의 핵심을 구현하는 데 기여하는 정도에 그칠 뿐 이 사건 제</a:t>
            </a:r>
            <a:r>
              <a:rPr lang="en-US" altLang="ko-KR" sz="1150" dirty="0">
                <a:solidFill>
                  <a:srgbClr val="FF0000"/>
                </a:solidFill>
              </a:rPr>
              <a:t>1</a:t>
            </a:r>
            <a:r>
              <a:rPr lang="ko-KR" altLang="en-US" sz="1150" dirty="0">
                <a:solidFill>
                  <a:srgbClr val="FF0000"/>
                </a:solidFill>
              </a:rPr>
              <a:t>항 발명에 특유한 해결수단이 기초하고 있는 기술사상의 핵심으로 파악할 수는 없다</a:t>
            </a:r>
            <a:r>
              <a:rPr lang="en-US" altLang="ko-KR" sz="1150" dirty="0">
                <a:solidFill>
                  <a:srgbClr val="FF0000"/>
                </a:solidFill>
              </a:rPr>
              <a:t>.</a:t>
            </a:r>
          </a:p>
          <a:p>
            <a:r>
              <a:rPr lang="en-US" altLang="ko-KR" sz="1150" dirty="0"/>
              <a:t>(</a:t>
            </a:r>
            <a:r>
              <a:rPr lang="ko-KR" altLang="en-US" sz="1150" dirty="0"/>
              <a:t>바</a:t>
            </a:r>
            <a:r>
              <a:rPr lang="en-US" altLang="ko-KR" sz="1150" dirty="0"/>
              <a:t>) </a:t>
            </a:r>
            <a:r>
              <a:rPr lang="ko-KR" altLang="en-US" sz="1150" dirty="0"/>
              <a:t>이 사건 </a:t>
            </a:r>
            <a:r>
              <a:rPr lang="ko-KR" altLang="en-US" sz="1150" dirty="0">
                <a:solidFill>
                  <a:srgbClr val="FF0000"/>
                </a:solidFill>
              </a:rPr>
              <a:t>실시제품도 경사면을 구비한 ‘격자형 박스’ 구성에 의해 ‘절단된 각각의 적층 김들이 하강하면서 격자형 박스의 외측 경사면을 따라 서로 사이가 벌어지도록 </a:t>
            </a:r>
            <a:r>
              <a:rPr lang="ko-KR" altLang="en-US" sz="1150" dirty="0" err="1">
                <a:solidFill>
                  <a:srgbClr val="FF0000"/>
                </a:solidFill>
              </a:rPr>
              <a:t>유도’</a:t>
            </a:r>
            <a:r>
              <a:rPr lang="ko-KR" altLang="en-US" sz="1150" dirty="0" err="1"/>
              <a:t>하고</a:t>
            </a:r>
            <a:r>
              <a:rPr lang="ko-KR" altLang="en-US" sz="1150" dirty="0"/>
              <a:t> 있다</a:t>
            </a:r>
            <a:r>
              <a:rPr lang="en-US" altLang="ko-KR" sz="1150" dirty="0"/>
              <a:t>.</a:t>
            </a:r>
          </a:p>
          <a:p>
            <a:r>
              <a:rPr lang="en-US" altLang="ko-KR" sz="1150" dirty="0"/>
              <a:t>(</a:t>
            </a:r>
            <a:r>
              <a:rPr lang="ko-KR" altLang="en-US" sz="1150" dirty="0"/>
              <a:t>사</a:t>
            </a:r>
            <a:r>
              <a:rPr lang="en-US" altLang="ko-KR" sz="1150" dirty="0"/>
              <a:t>) </a:t>
            </a:r>
            <a:r>
              <a:rPr lang="ko-KR" altLang="en-US" sz="1150" dirty="0"/>
              <a:t>따라서 이 사건 실시제품은 위와 같은 구성의 차이에도 불구하고 기술사상의 핵심에서 이 사건 제</a:t>
            </a:r>
            <a:r>
              <a:rPr lang="en-US" altLang="ko-KR" sz="1150" dirty="0"/>
              <a:t>1</a:t>
            </a:r>
            <a:r>
              <a:rPr lang="ko-KR" altLang="en-US" sz="1150" dirty="0"/>
              <a:t>항 발명과 같으므로 과제 해결원리가 동일하다</a:t>
            </a:r>
            <a:r>
              <a:rPr lang="en-US" altLang="ko-KR" sz="1150" dirty="0"/>
              <a:t>.</a:t>
            </a:r>
          </a:p>
          <a:p>
            <a:r>
              <a:rPr lang="en-US" altLang="ko-KR" sz="1150" b="1" dirty="0"/>
              <a:t>(2) </a:t>
            </a:r>
            <a:r>
              <a:rPr lang="ko-KR" altLang="en-US" sz="1150" b="1" dirty="0"/>
              <a:t>작용효과의 동일 여부 </a:t>
            </a:r>
            <a:r>
              <a:rPr lang="en-US" altLang="ko-KR" sz="1200" b="1" dirty="0">
                <a:solidFill>
                  <a:schemeClr val="accent1">
                    <a:lumMod val="50000"/>
                  </a:schemeClr>
                </a:solidFill>
              </a:rPr>
              <a:t>(invention as a whole vs individual element)</a:t>
            </a:r>
            <a:endParaRPr lang="ko-KR" altLang="en-US" sz="1150" b="1" dirty="0">
              <a:solidFill>
                <a:schemeClr val="accent1">
                  <a:lumMod val="50000"/>
                </a:schemeClr>
              </a:solidFill>
            </a:endParaRPr>
          </a:p>
          <a:p>
            <a:r>
              <a:rPr lang="ko-KR" altLang="en-US" sz="1150" dirty="0"/>
              <a:t> 이 사건 실시제품은 구성 </a:t>
            </a:r>
            <a:r>
              <a:rPr lang="en-US" altLang="ko-KR" sz="1150" dirty="0"/>
              <a:t>7</a:t>
            </a:r>
            <a:r>
              <a:rPr lang="ko-KR" altLang="en-US" sz="1150" dirty="0"/>
              <a:t>이 구성 </a:t>
            </a:r>
            <a:r>
              <a:rPr lang="en-US" altLang="ko-KR" sz="1150" dirty="0"/>
              <a:t>7 </a:t>
            </a:r>
            <a:r>
              <a:rPr lang="ko-KR" altLang="en-US" sz="1150" dirty="0"/>
              <a:t>대응구성으로 변경되었더라도 </a:t>
            </a:r>
            <a:r>
              <a:rPr lang="ko-KR" altLang="en-US" sz="1150" dirty="0">
                <a:solidFill>
                  <a:srgbClr val="FF0000"/>
                </a:solidFill>
              </a:rPr>
              <a:t>‘절단된 각각의 적층 김들이 포장용기 내에 정확히 위치하도록 사이를 벌려 놓아 수납공정까지 </a:t>
            </a:r>
            <a:r>
              <a:rPr lang="ko-KR" altLang="en-US" sz="1150" dirty="0" err="1">
                <a:solidFill>
                  <a:srgbClr val="FF0000"/>
                </a:solidFill>
              </a:rPr>
              <a:t>자동화’</a:t>
            </a:r>
            <a:r>
              <a:rPr lang="ko-KR" altLang="en-US" sz="1150" dirty="0" err="1"/>
              <a:t>한다는</a:t>
            </a:r>
            <a:r>
              <a:rPr lang="ko-KR" altLang="en-US" sz="1150" dirty="0"/>
              <a:t> 점에서 이 사건 제</a:t>
            </a:r>
            <a:r>
              <a:rPr lang="en-US" altLang="ko-KR" sz="1150" dirty="0"/>
              <a:t>1</a:t>
            </a:r>
            <a:r>
              <a:rPr lang="ko-KR" altLang="en-US" sz="1150" dirty="0"/>
              <a:t>항 발명의 </a:t>
            </a:r>
            <a:r>
              <a:rPr lang="ko-KR" altLang="en-US" sz="1150" dirty="0">
                <a:solidFill>
                  <a:srgbClr val="FF0000"/>
                </a:solidFill>
              </a:rPr>
              <a:t>기술사상의 핵심을 구현할 수 있는 정도로 실질적으로 동일한 작용효과</a:t>
            </a:r>
            <a:r>
              <a:rPr lang="ko-KR" altLang="en-US" sz="1150" dirty="0"/>
              <a:t>를 나타낸다</a:t>
            </a:r>
            <a:r>
              <a:rPr lang="en-US" altLang="ko-KR" sz="1150" dirty="0"/>
              <a:t>. </a:t>
            </a:r>
            <a:r>
              <a:rPr lang="ko-KR" altLang="en-US" sz="1150" dirty="0">
                <a:solidFill>
                  <a:srgbClr val="FF0000"/>
                </a:solidFill>
              </a:rPr>
              <a:t>구성 </a:t>
            </a:r>
            <a:r>
              <a:rPr lang="en-US" altLang="ko-KR" sz="1150" dirty="0">
                <a:solidFill>
                  <a:srgbClr val="FF0000"/>
                </a:solidFill>
              </a:rPr>
              <a:t>6 </a:t>
            </a:r>
            <a:r>
              <a:rPr lang="ko-KR" altLang="en-US" sz="1150" dirty="0">
                <a:solidFill>
                  <a:srgbClr val="FF0000"/>
                </a:solidFill>
              </a:rPr>
              <a:t>대응구성이 </a:t>
            </a:r>
            <a:r>
              <a:rPr lang="ko-KR" altLang="en-US" sz="1150" dirty="0" err="1">
                <a:solidFill>
                  <a:srgbClr val="FF0000"/>
                </a:solidFill>
              </a:rPr>
              <a:t>가압절판을</a:t>
            </a:r>
            <a:r>
              <a:rPr lang="ko-KR" altLang="en-US" sz="1150" dirty="0">
                <a:solidFill>
                  <a:srgbClr val="FF0000"/>
                </a:solidFill>
              </a:rPr>
              <a:t> 안내하는 효과가 구성 </a:t>
            </a:r>
            <a:r>
              <a:rPr lang="en-US" altLang="ko-KR" sz="1150" dirty="0">
                <a:solidFill>
                  <a:srgbClr val="FF0000"/>
                </a:solidFill>
              </a:rPr>
              <a:t>6 </a:t>
            </a:r>
            <a:r>
              <a:rPr lang="ko-KR" altLang="en-US" sz="1150" dirty="0">
                <a:solidFill>
                  <a:srgbClr val="FF0000"/>
                </a:solidFill>
              </a:rPr>
              <a:t>가이드케이스 구성보다 떨어진다고 해도 이 사건 실시제품에서 구성 </a:t>
            </a:r>
            <a:r>
              <a:rPr lang="en-US" altLang="ko-KR" sz="1150" dirty="0">
                <a:solidFill>
                  <a:srgbClr val="FF0000"/>
                </a:solidFill>
              </a:rPr>
              <a:t>6</a:t>
            </a:r>
            <a:r>
              <a:rPr lang="ko-KR" altLang="en-US" sz="1150" dirty="0">
                <a:solidFill>
                  <a:srgbClr val="FF0000"/>
                </a:solidFill>
              </a:rPr>
              <a:t>이 결여되었다고 볼 정도는 아니고</a:t>
            </a:r>
            <a:r>
              <a:rPr lang="en-US" altLang="ko-KR" sz="1150" dirty="0">
                <a:solidFill>
                  <a:srgbClr val="FF0000"/>
                </a:solidFill>
              </a:rPr>
              <a:t>, </a:t>
            </a:r>
            <a:r>
              <a:rPr lang="ko-KR" altLang="en-US" sz="1150" dirty="0">
                <a:solidFill>
                  <a:srgbClr val="FF0000"/>
                </a:solidFill>
              </a:rPr>
              <a:t>이로 인하여 이 사건 실시제품이 이 사건 제</a:t>
            </a:r>
            <a:r>
              <a:rPr lang="en-US" altLang="ko-KR" sz="1150" dirty="0">
                <a:solidFill>
                  <a:srgbClr val="FF0000"/>
                </a:solidFill>
              </a:rPr>
              <a:t>1</a:t>
            </a:r>
            <a:r>
              <a:rPr lang="ko-KR" altLang="en-US" sz="1150" dirty="0">
                <a:solidFill>
                  <a:srgbClr val="FF0000"/>
                </a:solidFill>
              </a:rPr>
              <a:t>항 발명의 기술사상의 핵심을 구현하지 못한다고 볼 수는 없어 구성 </a:t>
            </a:r>
            <a:r>
              <a:rPr lang="en-US" altLang="ko-KR" sz="1150" dirty="0">
                <a:solidFill>
                  <a:srgbClr val="FF0000"/>
                </a:solidFill>
              </a:rPr>
              <a:t>6</a:t>
            </a:r>
            <a:r>
              <a:rPr lang="ko-KR" altLang="en-US" sz="1150" dirty="0">
                <a:solidFill>
                  <a:srgbClr val="FF0000"/>
                </a:solidFill>
              </a:rPr>
              <a:t>과 그 효과는 실질적으로 동일하다고 볼 수 있다</a:t>
            </a:r>
            <a:r>
              <a:rPr lang="en-US" altLang="ko-KR" sz="1150" dirty="0">
                <a:solidFill>
                  <a:srgbClr val="FF0000"/>
                </a:solidFill>
              </a:rPr>
              <a:t>.</a:t>
            </a:r>
          </a:p>
          <a:p>
            <a:r>
              <a:rPr lang="en-US" altLang="ko-KR" sz="1150" b="1" dirty="0"/>
              <a:t>(3) </a:t>
            </a:r>
            <a:r>
              <a:rPr lang="ko-KR" altLang="en-US" sz="1150" b="1" dirty="0"/>
              <a:t>구성 변경의 용이성 여부 </a:t>
            </a:r>
            <a:r>
              <a:rPr lang="en-US" altLang="ko-KR" sz="1200" b="1" dirty="0">
                <a:solidFill>
                  <a:schemeClr val="accent1">
                    <a:lumMod val="50000"/>
                  </a:schemeClr>
                </a:solidFill>
              </a:rPr>
              <a:t>(individual element)</a:t>
            </a:r>
            <a:endParaRPr lang="ko-KR" altLang="en-US" sz="1150" b="1" dirty="0">
              <a:solidFill>
                <a:schemeClr val="accent1">
                  <a:lumMod val="50000"/>
                </a:schemeClr>
              </a:solidFill>
            </a:endParaRPr>
          </a:p>
          <a:p>
            <a:r>
              <a:rPr lang="ko-KR" altLang="en-US" sz="1150" dirty="0"/>
              <a:t>상부에 배치된 칼날이 상하 이동하면서 하부에 고정된 물체를 절단하도록 하는 것은 이 사건 특허발명의 기술분야에서 관용적으로 채택되는 기술수단에 불과하다</a:t>
            </a:r>
            <a:r>
              <a:rPr lang="en-US" altLang="ko-KR" sz="1150" dirty="0"/>
              <a:t>. </a:t>
            </a:r>
            <a:r>
              <a:rPr lang="ko-KR" altLang="en-US" sz="1150" dirty="0"/>
              <a:t>따라서 구성 </a:t>
            </a:r>
            <a:r>
              <a:rPr lang="en-US" altLang="ko-KR" sz="1150" dirty="0"/>
              <a:t>7</a:t>
            </a:r>
            <a:r>
              <a:rPr lang="ko-KR" altLang="en-US" sz="1150" dirty="0"/>
              <a:t>을 구성 </a:t>
            </a:r>
            <a:r>
              <a:rPr lang="en-US" altLang="ko-KR" sz="1150" dirty="0"/>
              <a:t>7 </a:t>
            </a:r>
            <a:r>
              <a:rPr lang="ko-KR" altLang="en-US" sz="1150" dirty="0"/>
              <a:t>대응구성과 같이 ‘격자형 </a:t>
            </a:r>
            <a:r>
              <a:rPr lang="ko-KR" altLang="en-US" sz="1150" dirty="0" err="1"/>
              <a:t>절단날’이</a:t>
            </a:r>
            <a:r>
              <a:rPr lang="ko-KR" altLang="en-US" sz="1150" dirty="0"/>
              <a:t> ‘격자형 </a:t>
            </a:r>
            <a:r>
              <a:rPr lang="ko-KR" altLang="en-US" sz="1150" dirty="0" err="1"/>
              <a:t>박스’와</a:t>
            </a:r>
            <a:r>
              <a:rPr lang="ko-KR" altLang="en-US" sz="1150" dirty="0"/>
              <a:t> 분리되어 상하로 이동되도록 각 </a:t>
            </a:r>
            <a:r>
              <a:rPr lang="ko-KR" altLang="en-US" sz="1150" dirty="0" err="1"/>
              <a:t>가압절판에</a:t>
            </a:r>
            <a:r>
              <a:rPr lang="ko-KR" altLang="en-US" sz="1150" dirty="0"/>
              <a:t> 인접한 위쪽에 별도로 배치하는 구성으로 변경하는 것은 통상의 기술자라면 누구나 쉽게 생각해 낼 수 있다고 볼 수 있다</a:t>
            </a:r>
            <a:r>
              <a:rPr lang="en-US" altLang="ko-KR" sz="1150" dirty="0"/>
              <a:t>. </a:t>
            </a:r>
            <a:r>
              <a:rPr lang="ko-KR" altLang="en-US" sz="1150" dirty="0"/>
              <a:t>그리고 상자 형태의 구성 </a:t>
            </a:r>
            <a:r>
              <a:rPr lang="en-US" altLang="ko-KR" sz="1150" dirty="0"/>
              <a:t>6</a:t>
            </a:r>
            <a:r>
              <a:rPr lang="ko-KR" altLang="en-US" sz="1150" dirty="0"/>
              <a:t>을 그 중 두 면을 제거한 ‘</a:t>
            </a:r>
            <a:r>
              <a:rPr lang="ko-KR" altLang="en-US" sz="1150" dirty="0" err="1"/>
              <a:t>회동푸셔와</a:t>
            </a:r>
            <a:r>
              <a:rPr lang="ko-KR" altLang="en-US" sz="1150" dirty="0"/>
              <a:t> </a:t>
            </a:r>
            <a:r>
              <a:rPr lang="ko-KR" altLang="en-US" sz="1150" dirty="0" err="1"/>
              <a:t>스토퍼’를</a:t>
            </a:r>
            <a:r>
              <a:rPr lang="ko-KR" altLang="en-US" sz="1150" dirty="0"/>
              <a:t> 두고 그 위쪽에 ‘사각케이스 형상의 중공이 그 내측에 형성된 </a:t>
            </a:r>
            <a:r>
              <a:rPr lang="ko-KR" altLang="en-US" sz="1150" dirty="0" err="1"/>
              <a:t>중간판’을</a:t>
            </a:r>
            <a:r>
              <a:rPr lang="ko-KR" altLang="en-US" sz="1150" dirty="0"/>
              <a:t> 별도로 배치하는 구성 </a:t>
            </a:r>
            <a:r>
              <a:rPr lang="en-US" altLang="ko-KR" sz="1150" dirty="0"/>
              <a:t>6 </a:t>
            </a:r>
            <a:r>
              <a:rPr lang="ko-KR" altLang="en-US" sz="1150" dirty="0"/>
              <a:t>대응구성으로 변경하는 것도</a:t>
            </a:r>
            <a:r>
              <a:rPr lang="en-US" altLang="ko-KR" sz="1150" dirty="0"/>
              <a:t>, </a:t>
            </a:r>
            <a:r>
              <a:rPr lang="ko-KR" altLang="en-US" sz="1150" dirty="0"/>
              <a:t>부품의 형태나 배치 관계 등을 고려하여 통상의 기술자가 별다른 기술적인 노력 없이 쉽게 생각해 낼 수 있을 것으로 볼 수 있다</a:t>
            </a:r>
            <a:r>
              <a:rPr lang="en-US" altLang="ko-KR" sz="1150" dirty="0"/>
              <a:t>.</a:t>
            </a:r>
          </a:p>
          <a:p>
            <a:r>
              <a:rPr lang="en-US" altLang="ko-KR" sz="1150" b="1" dirty="0"/>
              <a:t>(4) </a:t>
            </a:r>
            <a:r>
              <a:rPr lang="ko-KR" altLang="en-US" sz="1150" b="1" dirty="0"/>
              <a:t>의식적 제외 여부</a:t>
            </a:r>
          </a:p>
          <a:p>
            <a:r>
              <a:rPr lang="ko-KR" altLang="en-US" sz="1150" dirty="0"/>
              <a:t>출원인이 출원 시에 균등 여부가 문제 되는 침해 제품 등의 구성을 용이하게 생각해 낼 수 있었음에도 그것을 청구범위에 기재하지 않은 경우라도</a:t>
            </a:r>
            <a:r>
              <a:rPr lang="en-US" altLang="ko-KR" sz="1150" dirty="0"/>
              <a:t>, </a:t>
            </a:r>
            <a:r>
              <a:rPr lang="ko-KR" altLang="en-US" sz="1150" dirty="0" err="1"/>
              <a:t>그것만을</a:t>
            </a:r>
            <a:r>
              <a:rPr lang="ko-KR" altLang="en-US" sz="1150" dirty="0"/>
              <a:t> 이유로 위 구성요소가 특허발명의 출원절차에 있어서 청구범위로부터 의식적으로 제외된 것에 해당하는 등의 특별한 사정이 존재한다고 할 수는 없다</a:t>
            </a:r>
            <a:r>
              <a:rPr lang="en-US" altLang="ko-KR" sz="1150" dirty="0"/>
              <a:t>.</a:t>
            </a:r>
          </a:p>
        </p:txBody>
      </p:sp>
    </p:spTree>
    <p:extLst>
      <p:ext uri="{BB962C8B-B14F-4D97-AF65-F5344CB8AC3E}">
        <p14:creationId xmlns:p14="http://schemas.microsoft.com/office/powerpoint/2010/main" val="552773613"/>
      </p:ext>
    </p:extLst>
  </p:cSld>
  <p:clrMapOvr>
    <a:masterClrMapping/>
  </p:clrMapOvr>
  <p:transition/>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p:cNvSpPr>
            <a:spLocks noGrp="1"/>
          </p:cNvSpPr>
          <p:nvPr>
            <p:ph type="body" sz="quarter" idx="13"/>
          </p:nvPr>
        </p:nvSpPr>
        <p:spPr/>
        <p:txBody>
          <a:bodyPr>
            <a:normAutofit/>
          </a:bodyPr>
          <a:lstStyle/>
          <a:p>
            <a:r>
              <a:rPr lang="ko-KR" altLang="en-US" dirty="0" err="1"/>
              <a:t>균등론</a:t>
            </a:r>
            <a:r>
              <a:rPr lang="ko-KR" altLang="en-US" dirty="0"/>
              <a:t> 적용 </a:t>
            </a:r>
            <a:r>
              <a:rPr lang="en-US" altLang="ko-KR" dirty="0"/>
              <a:t>CASE: </a:t>
            </a:r>
            <a:r>
              <a:rPr lang="ko-KR" altLang="en-US" sz="2000" dirty="0"/>
              <a:t>양방향 가압 장치 사건</a:t>
            </a:r>
            <a:r>
              <a:rPr lang="en-US" altLang="ko-KR" sz="2000" dirty="0"/>
              <a:t>(2018</a:t>
            </a:r>
            <a:r>
              <a:rPr lang="ko-KR" altLang="en-US" sz="2000" dirty="0"/>
              <a:t>다</a:t>
            </a:r>
            <a:r>
              <a:rPr lang="en-US" altLang="ko-KR" sz="2000" dirty="0"/>
              <a:t>267252)</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338</a:t>
            </a:r>
            <a:endParaRPr lang="ko-KR" altLang="en-US"/>
          </a:p>
        </p:txBody>
      </p:sp>
      <p:sp>
        <p:nvSpPr>
          <p:cNvPr id="20" name="모서리가 둥근 직사각형 30">
            <a:extLst>
              <a:ext uri="{FF2B5EF4-FFF2-40B4-BE49-F238E27FC236}">
                <a16:creationId xmlns:a16="http://schemas.microsoft.com/office/drawing/2014/main" id="{AE73B341-45E3-4DD9-96F6-7EE2630C588C}"/>
              </a:ext>
            </a:extLst>
          </p:cNvPr>
          <p:cNvSpPr/>
          <p:nvPr/>
        </p:nvSpPr>
        <p:spPr>
          <a:xfrm>
            <a:off x="314368" y="1044214"/>
            <a:ext cx="1517032" cy="272111"/>
          </a:xfrm>
          <a:prstGeom prst="roundRect">
            <a:avLst>
              <a:gd name="adj" fmla="val 50000"/>
            </a:avLst>
          </a:prstGeom>
          <a:solidFill>
            <a:schemeClr val="accent1"/>
          </a:solid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ko-KR" altLang="en-US" sz="1200" dirty="0">
                <a:solidFill>
                  <a:schemeClr val="bg1"/>
                </a:solidFill>
              </a:rPr>
              <a:t>특허발명</a:t>
            </a:r>
          </a:p>
        </p:txBody>
      </p:sp>
      <p:sp>
        <p:nvSpPr>
          <p:cNvPr id="24" name="모서리가 둥근 직사각형 30">
            <a:extLst>
              <a:ext uri="{FF2B5EF4-FFF2-40B4-BE49-F238E27FC236}">
                <a16:creationId xmlns:a16="http://schemas.microsoft.com/office/drawing/2014/main" id="{AF28E306-26BA-45B7-B2FF-6B6D1C271F73}"/>
              </a:ext>
            </a:extLst>
          </p:cNvPr>
          <p:cNvSpPr/>
          <p:nvPr/>
        </p:nvSpPr>
        <p:spPr>
          <a:xfrm>
            <a:off x="314368" y="5508531"/>
            <a:ext cx="1517032" cy="272111"/>
          </a:xfrm>
          <a:prstGeom prst="roundRect">
            <a:avLst>
              <a:gd name="adj" fmla="val 50000"/>
            </a:avLst>
          </a:prstGeom>
          <a:solidFill>
            <a:schemeClr val="accent1"/>
          </a:solid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ko-KR" altLang="en-US" sz="1200" dirty="0">
                <a:solidFill>
                  <a:schemeClr val="bg1"/>
                </a:solidFill>
              </a:rPr>
              <a:t>확인대상발명</a:t>
            </a:r>
          </a:p>
        </p:txBody>
      </p:sp>
      <p:cxnSp>
        <p:nvCxnSpPr>
          <p:cNvPr id="13" name="직선 연결선 12">
            <a:extLst>
              <a:ext uri="{FF2B5EF4-FFF2-40B4-BE49-F238E27FC236}">
                <a16:creationId xmlns:a16="http://schemas.microsoft.com/office/drawing/2014/main" id="{C7F7009E-FDE0-40EE-89F3-A9D6CD905823}"/>
              </a:ext>
            </a:extLst>
          </p:cNvPr>
          <p:cNvCxnSpPr/>
          <p:nvPr/>
        </p:nvCxnSpPr>
        <p:spPr>
          <a:xfrm>
            <a:off x="5585800" y="923109"/>
            <a:ext cx="0" cy="586583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975F8453-A1B9-495D-9A85-4B8F610FAD7C}"/>
              </a:ext>
            </a:extLst>
          </p:cNvPr>
          <p:cNvSpPr/>
          <p:nvPr/>
        </p:nvSpPr>
        <p:spPr>
          <a:xfrm>
            <a:off x="5776111" y="914400"/>
            <a:ext cx="6167263" cy="5632311"/>
          </a:xfrm>
          <a:prstGeom prst="rect">
            <a:avLst/>
          </a:prstGeom>
        </p:spPr>
        <p:txBody>
          <a:bodyPr wrap="square">
            <a:spAutoFit/>
          </a:bodyPr>
          <a:lstStyle/>
          <a:p>
            <a:pPr marL="228600" indent="-228600">
              <a:buAutoNum type="arabicParenBoth"/>
            </a:pPr>
            <a:r>
              <a:rPr lang="ko-KR" altLang="en-US" sz="1200" dirty="0"/>
              <a:t>이 사건 특허발명</a:t>
            </a:r>
            <a:r>
              <a:rPr lang="en-US" altLang="ko-KR" sz="1200" dirty="0"/>
              <a:t>(</a:t>
            </a:r>
            <a:r>
              <a:rPr lang="ko-KR" altLang="en-US" sz="1200" dirty="0"/>
              <a:t>특허등록번호 생략</a:t>
            </a:r>
            <a:r>
              <a:rPr lang="en-US" altLang="ko-KR" sz="1200" dirty="0"/>
              <a:t>)</a:t>
            </a:r>
            <a:r>
              <a:rPr lang="ko-KR" altLang="en-US" sz="1200" dirty="0"/>
              <a:t>은 ‘</a:t>
            </a:r>
            <a:r>
              <a:rPr lang="ko-KR" altLang="en-US" sz="1200" dirty="0">
                <a:solidFill>
                  <a:srgbClr val="FF0000"/>
                </a:solidFill>
              </a:rPr>
              <a:t>직접 </a:t>
            </a:r>
            <a:r>
              <a:rPr lang="ko-KR" altLang="en-US" sz="1200" dirty="0" err="1">
                <a:solidFill>
                  <a:srgbClr val="FF0000"/>
                </a:solidFill>
              </a:rPr>
              <a:t>가압식</a:t>
            </a:r>
            <a:r>
              <a:rPr lang="ko-KR" altLang="en-US" sz="1200" dirty="0">
                <a:solidFill>
                  <a:srgbClr val="FF0000"/>
                </a:solidFill>
              </a:rPr>
              <a:t> </a:t>
            </a:r>
            <a:r>
              <a:rPr lang="ko-KR" altLang="en-US" sz="1200" dirty="0" err="1">
                <a:solidFill>
                  <a:srgbClr val="FF0000"/>
                </a:solidFill>
              </a:rPr>
              <a:t>용탕</a:t>
            </a:r>
            <a:r>
              <a:rPr lang="ko-KR" altLang="en-US" sz="1200" dirty="0">
                <a:solidFill>
                  <a:srgbClr val="FF0000"/>
                </a:solidFill>
              </a:rPr>
              <a:t> </a:t>
            </a:r>
            <a:r>
              <a:rPr lang="ko-KR" altLang="en-US" sz="1200" dirty="0" err="1">
                <a:solidFill>
                  <a:srgbClr val="FF0000"/>
                </a:solidFill>
              </a:rPr>
              <a:t>단조장치</a:t>
            </a:r>
            <a:r>
              <a:rPr lang="ko-KR" altLang="en-US" sz="1200" dirty="0" err="1"/>
              <a:t>’라는</a:t>
            </a:r>
            <a:r>
              <a:rPr lang="ko-KR" altLang="en-US" sz="1200" dirty="0"/>
              <a:t> 명칭의 발명이다</a:t>
            </a:r>
            <a:r>
              <a:rPr lang="en-US" altLang="ko-KR" sz="1200" dirty="0"/>
              <a:t>.</a:t>
            </a:r>
          </a:p>
          <a:p>
            <a:pPr marL="228600" indent="-228600">
              <a:buAutoNum type="arabicParenBoth"/>
            </a:pPr>
            <a:endParaRPr lang="en-US" altLang="ko-KR" sz="1200" dirty="0"/>
          </a:p>
          <a:p>
            <a:r>
              <a:rPr lang="en-US" altLang="ko-KR" sz="1200" dirty="0"/>
              <a:t>(2) </a:t>
            </a:r>
            <a:r>
              <a:rPr lang="ko-KR" altLang="en-US" sz="1200" dirty="0"/>
              <a:t>회생채무자 주식회사 알로드가 실시하고 있는 원심 판시 피고 제품에는 이 사건 특허발명의 특허청구범위 제</a:t>
            </a:r>
            <a:r>
              <a:rPr lang="en-US" altLang="ko-KR" sz="1200" dirty="0"/>
              <a:t>1</a:t>
            </a:r>
            <a:r>
              <a:rPr lang="ko-KR" altLang="en-US" sz="1200" dirty="0"/>
              <a:t>항</a:t>
            </a:r>
            <a:r>
              <a:rPr lang="en-US" altLang="ko-KR" sz="1200" dirty="0"/>
              <a:t>(</a:t>
            </a:r>
            <a:r>
              <a:rPr lang="ko-KR" altLang="en-US" sz="1200" dirty="0"/>
              <a:t>이하 ‘이 사건 제</a:t>
            </a:r>
            <a:r>
              <a:rPr lang="en-US" altLang="ko-KR" sz="1200" dirty="0"/>
              <a:t>1</a:t>
            </a:r>
            <a:r>
              <a:rPr lang="ko-KR" altLang="en-US" sz="1200" dirty="0"/>
              <a:t>항 </a:t>
            </a:r>
            <a:r>
              <a:rPr lang="ko-KR" altLang="en-US" sz="1200" dirty="0" err="1"/>
              <a:t>발명’이라고</a:t>
            </a:r>
            <a:r>
              <a:rPr lang="ko-KR" altLang="en-US" sz="1200" dirty="0"/>
              <a:t> 한다</a:t>
            </a:r>
            <a:r>
              <a:rPr lang="en-US" altLang="ko-KR" sz="1200" dirty="0"/>
              <a:t>)</a:t>
            </a:r>
            <a:r>
              <a:rPr lang="ko-KR" altLang="en-US" sz="1200" dirty="0"/>
              <a:t>의 ‘</a:t>
            </a:r>
            <a:r>
              <a:rPr lang="ko-KR" altLang="en-US" sz="1200" dirty="0">
                <a:solidFill>
                  <a:srgbClr val="FF0000"/>
                </a:solidFill>
              </a:rPr>
              <a:t>사이드 홀더에 있는 보온용 전기 가열장치</a:t>
            </a:r>
            <a:r>
              <a:rPr lang="en-US" altLang="ko-KR" sz="1200" dirty="0"/>
              <a:t>(</a:t>
            </a:r>
            <a:r>
              <a:rPr lang="ko-KR" altLang="en-US" sz="1200" dirty="0"/>
              <a:t>원심 판시 구성 </a:t>
            </a:r>
            <a:r>
              <a:rPr lang="en-US" altLang="ko-KR" sz="1200" dirty="0"/>
              <a:t>5-5)’</a:t>
            </a:r>
            <a:r>
              <a:rPr lang="ko-KR" altLang="en-US" sz="1200" dirty="0"/>
              <a:t>를 제외한 모든 구성들이 포함되어 있다</a:t>
            </a:r>
            <a:r>
              <a:rPr lang="en-US" altLang="ko-KR" sz="1200" dirty="0"/>
              <a:t>.</a:t>
            </a:r>
          </a:p>
          <a:p>
            <a:endParaRPr lang="en-US" altLang="ko-KR" sz="1200" dirty="0"/>
          </a:p>
          <a:p>
            <a:r>
              <a:rPr lang="en-US" altLang="ko-KR" sz="1200" dirty="0"/>
              <a:t>(3) </a:t>
            </a:r>
            <a:r>
              <a:rPr lang="ko-KR" altLang="en-US" sz="1200" dirty="0"/>
              <a:t>피고 제품은 위 ‘</a:t>
            </a:r>
            <a:r>
              <a:rPr lang="ko-KR" altLang="en-US" sz="1200" dirty="0">
                <a:solidFill>
                  <a:srgbClr val="FF0000"/>
                </a:solidFill>
              </a:rPr>
              <a:t>보온용 전기 가열장치</a:t>
            </a:r>
            <a:r>
              <a:rPr lang="ko-KR" altLang="en-US" sz="1200" dirty="0"/>
              <a:t>’ 대신 사이드 </a:t>
            </a:r>
            <a:r>
              <a:rPr lang="ko-KR" altLang="en-US" sz="1200" dirty="0" err="1"/>
              <a:t>케이싱</a:t>
            </a:r>
            <a:r>
              <a:rPr lang="ko-KR" altLang="en-US" sz="1200" dirty="0"/>
              <a:t> </a:t>
            </a:r>
            <a:r>
              <a:rPr lang="ko-KR" altLang="en-US" sz="1200" dirty="0">
                <a:solidFill>
                  <a:srgbClr val="FF0000"/>
                </a:solidFill>
              </a:rPr>
              <a:t>외부</a:t>
            </a:r>
            <a:r>
              <a:rPr lang="ko-KR" altLang="en-US" sz="1200" dirty="0"/>
              <a:t>에 ‘</a:t>
            </a:r>
            <a:r>
              <a:rPr lang="ko-KR" altLang="en-US" sz="1200" dirty="0">
                <a:solidFill>
                  <a:srgbClr val="FF0000"/>
                </a:solidFill>
              </a:rPr>
              <a:t>가스 </a:t>
            </a:r>
            <a:r>
              <a:rPr lang="ko-KR" altLang="en-US" sz="1200" dirty="0" err="1">
                <a:solidFill>
                  <a:srgbClr val="FF0000"/>
                </a:solidFill>
              </a:rPr>
              <a:t>가열장치</a:t>
            </a:r>
            <a:r>
              <a:rPr lang="ko-KR" altLang="en-US" sz="1200" dirty="0" err="1"/>
              <a:t>’를</a:t>
            </a:r>
            <a:r>
              <a:rPr lang="ko-KR" altLang="en-US" sz="1200" dirty="0"/>
              <a:t> 두고 있다</a:t>
            </a:r>
            <a:r>
              <a:rPr lang="en-US" altLang="ko-KR" sz="1200" dirty="0"/>
              <a:t>.</a:t>
            </a:r>
          </a:p>
          <a:p>
            <a:endParaRPr lang="en-US" altLang="ko-KR" sz="1200" dirty="0"/>
          </a:p>
          <a:p>
            <a:r>
              <a:rPr lang="en-US" altLang="ko-KR" sz="1200" dirty="0"/>
              <a:t>(4) </a:t>
            </a:r>
            <a:r>
              <a:rPr lang="ko-KR" altLang="en-US" sz="1200" dirty="0"/>
              <a:t>이 사건 특허발명의 발명의 상세한 설명에는 이 사건 제</a:t>
            </a:r>
            <a:r>
              <a:rPr lang="en-US" altLang="ko-KR" sz="1200" dirty="0"/>
              <a:t>1</a:t>
            </a:r>
            <a:r>
              <a:rPr lang="ko-KR" altLang="en-US" sz="1200" dirty="0"/>
              <a:t>항 발명과 관련하여</a:t>
            </a:r>
            <a:r>
              <a:rPr lang="en-US" altLang="ko-KR" sz="1200" dirty="0"/>
              <a:t>, ‘</a:t>
            </a:r>
            <a:r>
              <a:rPr lang="ko-KR" altLang="en-US" sz="1200" dirty="0"/>
              <a:t>본 발명의 직접 </a:t>
            </a:r>
            <a:r>
              <a:rPr lang="ko-KR" altLang="en-US" sz="1200" dirty="0" err="1"/>
              <a:t>가압식</a:t>
            </a:r>
            <a:r>
              <a:rPr lang="ko-KR" altLang="en-US" sz="1200" dirty="0"/>
              <a:t> </a:t>
            </a:r>
            <a:r>
              <a:rPr lang="ko-KR" altLang="en-US" sz="1200" dirty="0" err="1"/>
              <a:t>용탕</a:t>
            </a:r>
            <a:r>
              <a:rPr lang="ko-KR" altLang="en-US" sz="1200" dirty="0"/>
              <a:t> 단조공정은 </a:t>
            </a:r>
            <a:r>
              <a:rPr lang="ko-KR" altLang="en-US" sz="1200" dirty="0">
                <a:solidFill>
                  <a:srgbClr val="FF0000"/>
                </a:solidFill>
              </a:rPr>
              <a:t>상부 금형이 하강하여 하부 금형에 주입된 </a:t>
            </a:r>
            <a:r>
              <a:rPr lang="ko-KR" altLang="en-US" sz="1200" dirty="0" err="1">
                <a:solidFill>
                  <a:srgbClr val="FF0000"/>
                </a:solidFill>
              </a:rPr>
              <a:t>용탕</a:t>
            </a:r>
            <a:r>
              <a:rPr lang="ko-KR" altLang="en-US" sz="1200" dirty="0">
                <a:solidFill>
                  <a:srgbClr val="FF0000"/>
                </a:solidFill>
              </a:rPr>
              <a:t> 전체 표면에 걸쳐 직접 강압</a:t>
            </a:r>
            <a:r>
              <a:rPr lang="en-US" altLang="ko-KR" sz="1200" dirty="0">
                <a:solidFill>
                  <a:srgbClr val="FF0000"/>
                </a:solidFill>
              </a:rPr>
              <a:t>, </a:t>
            </a:r>
            <a:r>
              <a:rPr lang="ko-KR" altLang="en-US" sz="1200" dirty="0">
                <a:solidFill>
                  <a:srgbClr val="FF0000"/>
                </a:solidFill>
              </a:rPr>
              <a:t>예비성형 및 </a:t>
            </a:r>
            <a:r>
              <a:rPr lang="ko-KR" altLang="en-US" sz="1200" dirty="0" err="1">
                <a:solidFill>
                  <a:srgbClr val="FF0000"/>
                </a:solidFill>
              </a:rPr>
              <a:t>고압단조하고</a:t>
            </a:r>
            <a:r>
              <a:rPr lang="ko-KR" altLang="en-US" sz="1200" dirty="0">
                <a:solidFill>
                  <a:srgbClr val="FF0000"/>
                </a:solidFill>
              </a:rPr>
              <a:t> 재차 하부 금형에 의해 고압으로 가압함으로써 단순히 금형 온도에 크게 의존하는 종래 간접방식에 비해 단조효과가 월등히 우수</a:t>
            </a:r>
            <a:r>
              <a:rPr lang="ko-KR" altLang="en-US" sz="1200" dirty="0"/>
              <a:t>할 뿐만 아니라</a:t>
            </a:r>
            <a:r>
              <a:rPr lang="en-US" altLang="ko-KR" sz="1200" dirty="0"/>
              <a:t>, </a:t>
            </a:r>
            <a:r>
              <a:rPr lang="ko-KR" altLang="en-US" sz="1200" dirty="0"/>
              <a:t>응고에 따른 국부적인 체적변화에 대응하는 노크 아웃 실린더가 하부에 장착되어 고압으로 작동하기 때문에 그 단조효과를 더해 </a:t>
            </a:r>
            <a:r>
              <a:rPr lang="ko-KR" altLang="en-US" sz="1200" dirty="0" err="1"/>
              <a:t>주며’라고</a:t>
            </a:r>
            <a:r>
              <a:rPr lang="ko-KR" altLang="en-US" sz="1200" dirty="0"/>
              <a:t> 기재되어 있다</a:t>
            </a:r>
            <a:r>
              <a:rPr lang="en-US" altLang="ko-KR" sz="1200" dirty="0"/>
              <a:t>.</a:t>
            </a:r>
          </a:p>
          <a:p>
            <a:endParaRPr lang="en-US" altLang="ko-KR" sz="1200" dirty="0"/>
          </a:p>
          <a:p>
            <a:r>
              <a:rPr lang="en-US" altLang="ko-KR" sz="1200" dirty="0"/>
              <a:t>(5) </a:t>
            </a:r>
            <a:r>
              <a:rPr lang="ko-KR" altLang="en-US" sz="1200" dirty="0"/>
              <a:t>그러나 위와 같이 발명의 상세한 설명에서 파악되는 ‘</a:t>
            </a:r>
            <a:r>
              <a:rPr lang="ko-KR" altLang="en-US" sz="1200" dirty="0">
                <a:solidFill>
                  <a:srgbClr val="FF0000"/>
                </a:solidFill>
              </a:rPr>
              <a:t>상</a:t>
            </a:r>
            <a:r>
              <a:rPr lang="en-US" altLang="ko-KR" sz="1200" dirty="0">
                <a:solidFill>
                  <a:srgbClr val="FF0000"/>
                </a:solidFill>
              </a:rPr>
              <a:t>·</a:t>
            </a:r>
            <a:r>
              <a:rPr lang="ko-KR" altLang="en-US" sz="1200" dirty="0">
                <a:solidFill>
                  <a:srgbClr val="FF0000"/>
                </a:solidFill>
              </a:rPr>
              <a:t>하부 양방향에서 가압하여 단조효과를 </a:t>
            </a:r>
            <a:r>
              <a:rPr lang="ko-KR" altLang="en-US" sz="1200" dirty="0" err="1">
                <a:solidFill>
                  <a:srgbClr val="FF0000"/>
                </a:solidFill>
              </a:rPr>
              <a:t>향상시킨다</a:t>
            </a:r>
            <a:r>
              <a:rPr lang="ko-KR" altLang="en-US" sz="1200" dirty="0" err="1"/>
              <a:t>’는</a:t>
            </a:r>
            <a:r>
              <a:rPr lang="ko-KR" altLang="en-US" sz="1200" dirty="0"/>
              <a:t> 기술사상은 이 사건 제</a:t>
            </a:r>
            <a:r>
              <a:rPr lang="en-US" altLang="ko-KR" sz="1200" dirty="0"/>
              <a:t>1</a:t>
            </a:r>
            <a:r>
              <a:rPr lang="ko-KR" altLang="en-US" sz="1200" dirty="0"/>
              <a:t>항 발명의 출원 당시에 공지된 을 제</a:t>
            </a:r>
            <a:r>
              <a:rPr lang="en-US" altLang="ko-KR" sz="1200" dirty="0"/>
              <a:t>7</a:t>
            </a:r>
            <a:r>
              <a:rPr lang="ko-KR" altLang="en-US" sz="1200" dirty="0" err="1"/>
              <a:t>호증에</a:t>
            </a:r>
            <a:r>
              <a:rPr lang="ko-KR" altLang="en-US" sz="1200" dirty="0"/>
              <a:t> 나타나 있다</a:t>
            </a:r>
            <a:r>
              <a:rPr lang="en-US" altLang="ko-KR" sz="1200" dirty="0"/>
              <a:t>.</a:t>
            </a:r>
          </a:p>
          <a:p>
            <a:endParaRPr lang="en-US" altLang="ko-KR" sz="1200" dirty="0"/>
          </a:p>
          <a:p>
            <a:r>
              <a:rPr lang="en-US" altLang="ko-KR" sz="1200" dirty="0"/>
              <a:t>(6) </a:t>
            </a:r>
            <a:r>
              <a:rPr lang="ko-KR" altLang="en-US" sz="1200" dirty="0"/>
              <a:t>위 ‘</a:t>
            </a:r>
            <a:r>
              <a:rPr lang="ko-KR" altLang="en-US" sz="1200" dirty="0">
                <a:solidFill>
                  <a:srgbClr val="FF0000"/>
                </a:solidFill>
              </a:rPr>
              <a:t>상</a:t>
            </a:r>
            <a:r>
              <a:rPr lang="en-US" altLang="ko-KR" sz="1200" dirty="0">
                <a:solidFill>
                  <a:srgbClr val="FF0000"/>
                </a:solidFill>
              </a:rPr>
              <a:t>·</a:t>
            </a:r>
            <a:r>
              <a:rPr lang="ko-KR" altLang="en-US" sz="1200" dirty="0">
                <a:solidFill>
                  <a:srgbClr val="FF0000"/>
                </a:solidFill>
              </a:rPr>
              <a:t>하부 양방향에서 가압하여 단조효과를 </a:t>
            </a:r>
            <a:r>
              <a:rPr lang="ko-KR" altLang="en-US" sz="1200" dirty="0" err="1">
                <a:solidFill>
                  <a:srgbClr val="FF0000"/>
                </a:solidFill>
              </a:rPr>
              <a:t>향상시킨다’는</a:t>
            </a:r>
            <a:r>
              <a:rPr lang="ko-KR" altLang="en-US" sz="1200" dirty="0">
                <a:solidFill>
                  <a:srgbClr val="FF0000"/>
                </a:solidFill>
              </a:rPr>
              <a:t> 기술사상이 특허발명에 특유하다고 볼 수 없고</a:t>
            </a:r>
            <a:r>
              <a:rPr lang="en-US" altLang="ko-KR" sz="1200" dirty="0">
                <a:solidFill>
                  <a:srgbClr val="FF0000"/>
                </a:solidFill>
              </a:rPr>
              <a:t>, </a:t>
            </a:r>
            <a:r>
              <a:rPr lang="ko-KR" altLang="en-US" sz="1200" dirty="0">
                <a:solidFill>
                  <a:srgbClr val="FF0000"/>
                </a:solidFill>
              </a:rPr>
              <a:t>이 사건 제</a:t>
            </a:r>
            <a:r>
              <a:rPr lang="en-US" altLang="ko-KR" sz="1200" dirty="0">
                <a:solidFill>
                  <a:srgbClr val="FF0000"/>
                </a:solidFill>
              </a:rPr>
              <a:t>1</a:t>
            </a:r>
            <a:r>
              <a:rPr lang="ko-KR" altLang="en-US" sz="1200" dirty="0">
                <a:solidFill>
                  <a:srgbClr val="FF0000"/>
                </a:solidFill>
              </a:rPr>
              <a:t>항 발명이 선행기술에서 해결되지 않았던 기술과제를 해결하였다고 말할 수도 없으므로</a:t>
            </a:r>
            <a:r>
              <a:rPr lang="en-US" altLang="ko-KR" sz="1200" dirty="0">
                <a:solidFill>
                  <a:srgbClr val="FF0000"/>
                </a:solidFill>
              </a:rPr>
              <a:t>, </a:t>
            </a:r>
            <a:r>
              <a:rPr lang="ko-KR" altLang="en-US" sz="1200" dirty="0">
                <a:solidFill>
                  <a:srgbClr val="FF0000"/>
                </a:solidFill>
              </a:rPr>
              <a:t>작용효과가 실질적으로 동일한지 여부는 위 기술사상을 구현하는지를 기준으로 삼을 수는 없고</a:t>
            </a:r>
            <a:r>
              <a:rPr lang="en-US" altLang="ko-KR" sz="1200" dirty="0">
                <a:solidFill>
                  <a:srgbClr val="FF0000"/>
                </a:solidFill>
              </a:rPr>
              <a:t>, </a:t>
            </a:r>
            <a:r>
              <a:rPr lang="ko-KR" altLang="en-US" sz="1200" dirty="0">
                <a:solidFill>
                  <a:srgbClr val="FF0000"/>
                </a:solidFill>
              </a:rPr>
              <a:t>이 사건 제</a:t>
            </a:r>
            <a:r>
              <a:rPr lang="en-US" altLang="ko-KR" sz="1200" dirty="0">
                <a:solidFill>
                  <a:srgbClr val="FF0000"/>
                </a:solidFill>
              </a:rPr>
              <a:t>1</a:t>
            </a:r>
            <a:r>
              <a:rPr lang="ko-KR" altLang="en-US" sz="1200" dirty="0">
                <a:solidFill>
                  <a:srgbClr val="FF0000"/>
                </a:solidFill>
              </a:rPr>
              <a:t>항 발명의 ‘보온용 전기 </a:t>
            </a:r>
            <a:r>
              <a:rPr lang="ko-KR" altLang="en-US" sz="1200" dirty="0" err="1">
                <a:solidFill>
                  <a:srgbClr val="FF0000"/>
                </a:solidFill>
              </a:rPr>
              <a:t>가열장치’와</a:t>
            </a:r>
            <a:r>
              <a:rPr lang="ko-KR" altLang="en-US" sz="1200" dirty="0">
                <a:solidFill>
                  <a:srgbClr val="FF0000"/>
                </a:solidFill>
              </a:rPr>
              <a:t> 피고 제품의 ‘가스 </a:t>
            </a:r>
            <a:r>
              <a:rPr lang="ko-KR" altLang="en-US" sz="1200" dirty="0" err="1">
                <a:solidFill>
                  <a:srgbClr val="FF0000"/>
                </a:solidFill>
              </a:rPr>
              <a:t>가열장치’의</a:t>
            </a:r>
            <a:r>
              <a:rPr lang="ko-KR" altLang="en-US" sz="1200" dirty="0">
                <a:solidFill>
                  <a:srgbClr val="FF0000"/>
                </a:solidFill>
              </a:rPr>
              <a:t> 개별적인 기능이나 역할 등을 비교하여 결정하여야 한다</a:t>
            </a:r>
            <a:r>
              <a:rPr lang="en-US" altLang="ko-KR" sz="1200" dirty="0">
                <a:solidFill>
                  <a:srgbClr val="FF0000"/>
                </a:solidFill>
              </a:rPr>
              <a:t>. </a:t>
            </a:r>
            <a:r>
              <a:rPr lang="ko-KR" altLang="en-US" sz="1200" dirty="0">
                <a:solidFill>
                  <a:srgbClr val="FF0000"/>
                </a:solidFill>
              </a:rPr>
              <a:t>위 두 구성은 금형의 온도를 조절하는 기능이나 </a:t>
            </a:r>
            <a:r>
              <a:rPr lang="ko-KR" altLang="en-US" sz="1200" dirty="0" err="1">
                <a:solidFill>
                  <a:srgbClr val="FF0000"/>
                </a:solidFill>
              </a:rPr>
              <a:t>착탈</a:t>
            </a:r>
            <a:r>
              <a:rPr lang="ko-KR" altLang="en-US" sz="1200" dirty="0">
                <a:solidFill>
                  <a:srgbClr val="FF0000"/>
                </a:solidFill>
              </a:rPr>
              <a:t> 여부 등에서 차이가 나므로 그 실질적 작용효과가 동일하다고 볼 수 없다</a:t>
            </a:r>
            <a:r>
              <a:rPr lang="en-US" altLang="ko-KR" sz="1200" dirty="0">
                <a:solidFill>
                  <a:srgbClr val="FF0000"/>
                </a:solidFill>
              </a:rPr>
              <a:t>.</a:t>
            </a:r>
          </a:p>
          <a:p>
            <a:endParaRPr lang="en-US" altLang="ko-KR" sz="1200" dirty="0"/>
          </a:p>
          <a:p>
            <a:r>
              <a:rPr lang="en-US" altLang="ko-KR" sz="1200" dirty="0"/>
              <a:t>(7) </a:t>
            </a:r>
            <a:r>
              <a:rPr lang="ko-KR" altLang="en-US" sz="1200" dirty="0"/>
              <a:t>따라서 피고 제품은 이 사건 제</a:t>
            </a:r>
            <a:r>
              <a:rPr lang="en-US" altLang="ko-KR" sz="1200" dirty="0"/>
              <a:t>1</a:t>
            </a:r>
            <a:r>
              <a:rPr lang="ko-KR" altLang="en-US" sz="1200" dirty="0"/>
              <a:t>항 발명의 ‘보온용 전기 </a:t>
            </a:r>
            <a:r>
              <a:rPr lang="ko-KR" altLang="en-US" sz="1200" dirty="0" err="1"/>
              <a:t>가열장치’와</a:t>
            </a:r>
            <a:r>
              <a:rPr lang="ko-KR" altLang="en-US" sz="1200" dirty="0"/>
              <a:t> 균등한 요소를 포함하고 있지 않으므로 이 사건 제</a:t>
            </a:r>
            <a:r>
              <a:rPr lang="en-US" altLang="ko-KR" sz="1200" dirty="0"/>
              <a:t>1</a:t>
            </a:r>
            <a:r>
              <a:rPr lang="ko-KR" altLang="en-US" sz="1200" dirty="0"/>
              <a:t>항 발명을 침해한다고 할 수 없다</a:t>
            </a:r>
            <a:r>
              <a:rPr lang="en-US" altLang="ko-KR" sz="1200" dirty="0"/>
              <a:t>. </a:t>
            </a:r>
            <a:r>
              <a:rPr lang="ko-KR" altLang="en-US" sz="1200" dirty="0"/>
              <a:t>원심의 이유 설시에 부적절한 점이 있으나</a:t>
            </a:r>
            <a:r>
              <a:rPr lang="en-US" altLang="ko-KR" sz="1200" dirty="0"/>
              <a:t>, </a:t>
            </a:r>
            <a:r>
              <a:rPr lang="ko-KR" altLang="en-US" sz="1200" dirty="0"/>
              <a:t>피고 제품이 이 사건 제</a:t>
            </a:r>
            <a:r>
              <a:rPr lang="en-US" altLang="ko-KR" sz="1200" dirty="0"/>
              <a:t>1</a:t>
            </a:r>
            <a:r>
              <a:rPr lang="ko-KR" altLang="en-US" sz="1200" dirty="0"/>
              <a:t>항 발명을 침해하지 않는다고 본 원심의 결론에 상고이유 주장과 같이 특허발명의 균등침해에 관한 법리를 오해하는 등으로 판결 결과에 영향을 미친 잘못이 없다</a:t>
            </a:r>
            <a:r>
              <a:rPr lang="en-US" altLang="ko-KR" sz="1200" dirty="0"/>
              <a:t>.</a:t>
            </a:r>
          </a:p>
        </p:txBody>
      </p:sp>
      <p:sp>
        <p:nvSpPr>
          <p:cNvPr id="14" name="TextBox 13">
            <a:extLst>
              <a:ext uri="{FF2B5EF4-FFF2-40B4-BE49-F238E27FC236}">
                <a16:creationId xmlns:a16="http://schemas.microsoft.com/office/drawing/2014/main" id="{5C0378C8-4DDA-4D10-8228-C65D11472BC8}"/>
              </a:ext>
            </a:extLst>
          </p:cNvPr>
          <p:cNvSpPr txBox="1"/>
          <p:nvPr/>
        </p:nvSpPr>
        <p:spPr>
          <a:xfrm>
            <a:off x="142507" y="1349469"/>
            <a:ext cx="5325785" cy="461665"/>
          </a:xfrm>
          <a:prstGeom prst="rect">
            <a:avLst/>
          </a:prstGeom>
          <a:noFill/>
        </p:spPr>
        <p:txBody>
          <a:bodyPr wrap="square">
            <a:spAutoFit/>
          </a:bodyPr>
          <a:lstStyle/>
          <a:p>
            <a:r>
              <a:rPr lang="en-US" altLang="ko-KR" sz="1200" dirty="0"/>
              <a:t>(</a:t>
            </a:r>
            <a:r>
              <a:rPr lang="ko-KR" altLang="en-US" sz="1200" dirty="0"/>
              <a:t>자동차 알루미늄 </a:t>
            </a:r>
            <a:r>
              <a:rPr lang="ko-KR" altLang="en-US" sz="1200" dirty="0" err="1"/>
              <a:t>휠을</a:t>
            </a:r>
            <a:r>
              <a:rPr lang="ko-KR" altLang="en-US" sz="1200" dirty="0"/>
              <a:t> 만들기 위해</a:t>
            </a:r>
            <a:r>
              <a:rPr lang="en-US" altLang="ko-KR" sz="1200" dirty="0"/>
              <a:t>) </a:t>
            </a:r>
            <a:r>
              <a:rPr lang="ko-KR" altLang="en-US" sz="1200" dirty="0"/>
              <a:t>상금형과 하금형으로 </a:t>
            </a:r>
            <a:r>
              <a:rPr lang="ko-KR" altLang="en-US" sz="1200" dirty="0" err="1"/>
              <a:t>용탕</a:t>
            </a:r>
            <a:r>
              <a:rPr lang="en-US" altLang="ko-KR" sz="1200" dirty="0"/>
              <a:t>(</a:t>
            </a:r>
            <a:r>
              <a:rPr lang="ko-KR" altLang="en-US" sz="1200" dirty="0"/>
              <a:t>붉은 색</a:t>
            </a:r>
            <a:r>
              <a:rPr lang="en-US" altLang="ko-KR" sz="1200" dirty="0"/>
              <a:t>)</a:t>
            </a:r>
            <a:r>
              <a:rPr lang="ko-KR" altLang="en-US" sz="1200" dirty="0"/>
              <a:t>을 가압하는 장치이다</a:t>
            </a:r>
            <a:r>
              <a:rPr lang="en-US" altLang="ko-KR" sz="1200" dirty="0"/>
              <a:t>.</a:t>
            </a:r>
            <a:endParaRPr lang="ko-KR" altLang="en-US" sz="1200" dirty="0"/>
          </a:p>
        </p:txBody>
      </p:sp>
      <p:pic>
        <p:nvPicPr>
          <p:cNvPr id="7" name="그림 6">
            <a:extLst>
              <a:ext uri="{FF2B5EF4-FFF2-40B4-BE49-F238E27FC236}">
                <a16:creationId xmlns:a16="http://schemas.microsoft.com/office/drawing/2014/main" id="{59E6F7BC-1FA8-4182-8EDD-19C17DB360CE}"/>
              </a:ext>
            </a:extLst>
          </p:cNvPr>
          <p:cNvPicPr>
            <a:picLocks noChangeAspect="1"/>
          </p:cNvPicPr>
          <p:nvPr/>
        </p:nvPicPr>
        <p:blipFill>
          <a:blip r:embed="rId3"/>
          <a:stretch>
            <a:fillRect/>
          </a:stretch>
        </p:blipFill>
        <p:spPr>
          <a:xfrm>
            <a:off x="142507" y="1780356"/>
            <a:ext cx="5252982" cy="3646464"/>
          </a:xfrm>
          <a:prstGeom prst="rect">
            <a:avLst/>
          </a:prstGeom>
        </p:spPr>
      </p:pic>
      <p:sp>
        <p:nvSpPr>
          <p:cNvPr id="18" name="TextBox 17">
            <a:extLst>
              <a:ext uri="{FF2B5EF4-FFF2-40B4-BE49-F238E27FC236}">
                <a16:creationId xmlns:a16="http://schemas.microsoft.com/office/drawing/2014/main" id="{660CAA3D-1A18-4659-A981-B6054037F122}"/>
              </a:ext>
            </a:extLst>
          </p:cNvPr>
          <p:cNvSpPr txBox="1"/>
          <p:nvPr/>
        </p:nvSpPr>
        <p:spPr>
          <a:xfrm>
            <a:off x="142318" y="5862353"/>
            <a:ext cx="5325784" cy="830997"/>
          </a:xfrm>
          <a:prstGeom prst="rect">
            <a:avLst/>
          </a:prstGeom>
          <a:noFill/>
        </p:spPr>
        <p:txBody>
          <a:bodyPr wrap="square">
            <a:spAutoFit/>
          </a:bodyPr>
          <a:lstStyle/>
          <a:p>
            <a:pPr algn="l"/>
            <a:r>
              <a:rPr lang="ko-KR" altLang="en-US" sz="1200" b="0" i="0" u="none" strike="noStrike" baseline="0" dirty="0">
                <a:latin typeface="SandSm"/>
              </a:rPr>
              <a:t>침해제품도 위와 같은 가압 방식을 구현하는 기본적인 구성은 갖추고 있다</a:t>
            </a:r>
            <a:r>
              <a:rPr lang="en-US" altLang="ko-KR" sz="1200" b="0" i="0" u="none" strike="noStrike" baseline="0" dirty="0">
                <a:latin typeface="SandSm"/>
              </a:rPr>
              <a:t>.</a:t>
            </a:r>
          </a:p>
          <a:p>
            <a:pPr algn="l"/>
            <a:r>
              <a:rPr lang="ko-KR" altLang="en-US" sz="1200" b="0" i="0" u="none" strike="noStrike" baseline="0" dirty="0">
                <a:latin typeface="SandSm"/>
              </a:rPr>
              <a:t>다만 피고 제품은 ‘보온용 </a:t>
            </a:r>
            <a:r>
              <a:rPr lang="ko-KR" altLang="en-US" sz="1200" b="0" i="0" u="none" strike="noStrike" baseline="0" dirty="0" err="1">
                <a:latin typeface="SandSm"/>
              </a:rPr>
              <a:t>전기가열장치’를</a:t>
            </a:r>
            <a:r>
              <a:rPr lang="ko-KR" altLang="en-US" sz="1200" b="0" i="0" u="none" strike="noStrike" baseline="0" dirty="0">
                <a:latin typeface="SandSm"/>
              </a:rPr>
              <a:t> 갖는 </a:t>
            </a:r>
            <a:r>
              <a:rPr lang="ko-KR" altLang="en-US" sz="1200" b="0" i="0" u="none" strike="noStrike" baseline="0" dirty="0" err="1">
                <a:latin typeface="SandSm"/>
              </a:rPr>
              <a:t>사이드홀더</a:t>
            </a:r>
            <a:r>
              <a:rPr lang="ko-KR" altLang="en-US" sz="1200" b="0" i="0" u="none" strike="noStrike" baseline="0" dirty="0">
                <a:latin typeface="SandSm"/>
              </a:rPr>
              <a:t> 구성 대신</a:t>
            </a:r>
            <a:r>
              <a:rPr lang="en-US" altLang="ko-KR" sz="1200" b="0" i="0" u="none" strike="noStrike" baseline="0" dirty="0">
                <a:latin typeface="SandSm"/>
              </a:rPr>
              <a:t>, </a:t>
            </a:r>
            <a:r>
              <a:rPr lang="ko-KR" altLang="en-US" sz="1200" b="0" i="0" u="none" strike="noStrike" baseline="0" dirty="0" err="1">
                <a:latin typeface="SandSm"/>
              </a:rPr>
              <a:t>사이드홀더</a:t>
            </a:r>
            <a:r>
              <a:rPr lang="en-US" altLang="ko-KR" sz="1200" b="0" i="0" u="none" strike="noStrike" baseline="0" dirty="0">
                <a:latin typeface="SandSm"/>
              </a:rPr>
              <a:t>(= </a:t>
            </a:r>
            <a:r>
              <a:rPr lang="ko-KR" altLang="en-US" sz="1200" b="0" i="0" u="none" strike="noStrike" baseline="0" dirty="0">
                <a:latin typeface="SandSm"/>
              </a:rPr>
              <a:t>사이드 </a:t>
            </a:r>
            <a:r>
              <a:rPr lang="ko-KR" altLang="en-US" sz="1200" b="0" i="0" u="none" strike="noStrike" baseline="0" dirty="0" err="1">
                <a:latin typeface="SandSm"/>
              </a:rPr>
              <a:t>케이싱</a:t>
            </a:r>
            <a:r>
              <a:rPr lang="en-US" altLang="ko-KR" sz="1200" b="0" i="0" u="none" strike="noStrike" baseline="0" dirty="0">
                <a:latin typeface="SandSm"/>
              </a:rPr>
              <a:t>)</a:t>
            </a:r>
            <a:r>
              <a:rPr lang="ko-KR" altLang="en-US" sz="1200" b="0" i="0" u="none" strike="noStrike" baseline="0" dirty="0">
                <a:latin typeface="SandSm"/>
              </a:rPr>
              <a:t>의 외부에서 ‘가스 </a:t>
            </a:r>
            <a:r>
              <a:rPr lang="ko-KR" altLang="en-US" sz="1200" b="0" i="0" u="none" strike="noStrike" baseline="0" dirty="0" err="1">
                <a:latin typeface="SandSm"/>
              </a:rPr>
              <a:t>가열장치’를</a:t>
            </a:r>
            <a:r>
              <a:rPr lang="ko-KR" altLang="en-US" sz="1200" b="0" i="0" u="none" strike="noStrike" baseline="0" dirty="0">
                <a:latin typeface="SandSm"/>
              </a:rPr>
              <a:t> 이용하여 가압한다는 점에서만 차이가 난다</a:t>
            </a:r>
            <a:r>
              <a:rPr lang="en-US" altLang="ko-KR" sz="1200" b="0" i="0" u="none" strike="noStrike" baseline="0" dirty="0">
                <a:latin typeface="SandSm"/>
              </a:rPr>
              <a:t>.</a:t>
            </a:r>
            <a:endParaRPr lang="ko-KR" altLang="en-US" sz="1200" dirty="0"/>
          </a:p>
        </p:txBody>
      </p:sp>
    </p:spTree>
    <p:extLst>
      <p:ext uri="{BB962C8B-B14F-4D97-AF65-F5344CB8AC3E}">
        <p14:creationId xmlns:p14="http://schemas.microsoft.com/office/powerpoint/2010/main" val="1410004626"/>
      </p:ext>
    </p:extLst>
  </p:cSld>
  <p:clrMapOvr>
    <a:masterClrMapping/>
  </p:clrMapOvr>
  <p:transition/>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p:cNvSpPr>
            <a:spLocks noGrp="1"/>
          </p:cNvSpPr>
          <p:nvPr>
            <p:ph type="body" sz="quarter" idx="13"/>
          </p:nvPr>
        </p:nvSpPr>
        <p:spPr/>
        <p:txBody>
          <a:bodyPr>
            <a:normAutofit/>
          </a:bodyPr>
          <a:lstStyle/>
          <a:p>
            <a:r>
              <a:rPr lang="ko-KR" altLang="en-US" dirty="0" err="1">
                <a:solidFill>
                  <a:srgbClr val="525252"/>
                </a:solidFill>
              </a:rPr>
              <a:t>균등론</a:t>
            </a:r>
            <a:r>
              <a:rPr lang="ko-KR" altLang="en-US" dirty="0">
                <a:solidFill>
                  <a:srgbClr val="525252"/>
                </a:solidFill>
              </a:rPr>
              <a:t> 적용의</a:t>
            </a:r>
            <a:r>
              <a:rPr lang="en-US" altLang="ko-KR" dirty="0">
                <a:solidFill>
                  <a:srgbClr val="525252"/>
                </a:solidFill>
              </a:rPr>
              <a:t> </a:t>
            </a:r>
            <a:r>
              <a:rPr lang="ko-KR" altLang="en-US" dirty="0">
                <a:solidFill>
                  <a:srgbClr val="525252"/>
                </a:solidFill>
              </a:rPr>
              <a:t>구체적인 형태</a:t>
            </a:r>
            <a:r>
              <a:rPr lang="en-US" altLang="ko-KR" dirty="0">
                <a:solidFill>
                  <a:srgbClr val="525252"/>
                </a:solidFill>
              </a:rPr>
              <a:t>*</a:t>
            </a:r>
            <a:endParaRPr lang="ko-KR" altLang="en-US" dirty="0">
              <a:solidFill>
                <a:srgbClr val="525252"/>
              </a:solidFill>
            </a:endParaRP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339</a:t>
            </a:r>
            <a:endParaRPr lang="ko-KR" altLang="en-US"/>
          </a:p>
        </p:txBody>
      </p:sp>
      <p:graphicFrame>
        <p:nvGraphicFramePr>
          <p:cNvPr id="3" name="표 2">
            <a:extLst>
              <a:ext uri="{FF2B5EF4-FFF2-40B4-BE49-F238E27FC236}">
                <a16:creationId xmlns:a16="http://schemas.microsoft.com/office/drawing/2014/main" id="{BC1E5285-6FEB-45A7-8080-E7CD81C41E91}"/>
              </a:ext>
            </a:extLst>
          </p:cNvPr>
          <p:cNvGraphicFramePr>
            <a:graphicFrameLocks noGrp="1"/>
          </p:cNvGraphicFramePr>
          <p:nvPr/>
        </p:nvGraphicFramePr>
        <p:xfrm>
          <a:off x="771525" y="1245480"/>
          <a:ext cx="10887075" cy="4912433"/>
        </p:xfrm>
        <a:graphic>
          <a:graphicData uri="http://schemas.openxmlformats.org/drawingml/2006/table">
            <a:tbl>
              <a:tblPr/>
              <a:tblGrid>
                <a:gridCol w="942975">
                  <a:extLst>
                    <a:ext uri="{9D8B030D-6E8A-4147-A177-3AD203B41FA5}">
                      <a16:colId xmlns:a16="http://schemas.microsoft.com/office/drawing/2014/main" val="1216149691"/>
                    </a:ext>
                  </a:extLst>
                </a:gridCol>
                <a:gridCol w="5297073">
                  <a:extLst>
                    <a:ext uri="{9D8B030D-6E8A-4147-A177-3AD203B41FA5}">
                      <a16:colId xmlns:a16="http://schemas.microsoft.com/office/drawing/2014/main" val="2075396199"/>
                    </a:ext>
                  </a:extLst>
                </a:gridCol>
                <a:gridCol w="4647027">
                  <a:extLst>
                    <a:ext uri="{9D8B030D-6E8A-4147-A177-3AD203B41FA5}">
                      <a16:colId xmlns:a16="http://schemas.microsoft.com/office/drawing/2014/main" val="2376493507"/>
                    </a:ext>
                  </a:extLst>
                </a:gridCol>
              </a:tblGrid>
              <a:tr h="354867">
                <a:tc>
                  <a:txBody>
                    <a:bodyPr/>
                    <a:lstStyle/>
                    <a:p>
                      <a:pPr marL="0" marR="0" indent="0" algn="just" fontAlgn="base" latinLnBrk="1">
                        <a:lnSpc>
                          <a:spcPct val="130000"/>
                        </a:lnSpc>
                        <a:spcBef>
                          <a:spcPts val="0"/>
                        </a:spcBef>
                        <a:spcAft>
                          <a:spcPts val="0"/>
                        </a:spcAft>
                      </a:pPr>
                      <a:endParaRPr lang="ko-KR" altLang="en-US" sz="1600" kern="0" spc="-60" dirty="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600" kern="0" spc="-60" dirty="0">
                          <a:solidFill>
                            <a:srgbClr val="000000"/>
                          </a:solidFill>
                          <a:effectLst/>
                          <a:latin typeface="+mn-ea"/>
                          <a:ea typeface="+mn-ea"/>
                        </a:rPr>
                        <a:t>기술사상의 핵심이 공지되지 아니한 경우</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600" kern="0" spc="-60">
                          <a:solidFill>
                            <a:srgbClr val="000000"/>
                          </a:solidFill>
                          <a:effectLst/>
                          <a:latin typeface="+mn-ea"/>
                          <a:ea typeface="+mn-ea"/>
                        </a:rPr>
                        <a:t>기술사상의 </a:t>
                      </a:r>
                      <a:r>
                        <a:rPr lang="ko-KR" altLang="en-US" sz="1600" kern="0" spc="-60" dirty="0">
                          <a:solidFill>
                            <a:srgbClr val="000000"/>
                          </a:solidFill>
                          <a:effectLst/>
                          <a:latin typeface="+mn-ea"/>
                          <a:ea typeface="+mn-ea"/>
                        </a:rPr>
                        <a:t>핵심이 공지된 경우</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510636474"/>
                  </a:ext>
                </a:extLst>
              </a:tr>
              <a:tr h="2064471">
                <a:tc>
                  <a:txBody>
                    <a:bodyPr/>
                    <a:lstStyle/>
                    <a:p>
                      <a:pPr marL="0" marR="0" indent="0" algn="ctr" fontAlgn="base" latinLnBrk="0">
                        <a:lnSpc>
                          <a:spcPct val="130000"/>
                        </a:lnSpc>
                        <a:spcBef>
                          <a:spcPts val="0"/>
                        </a:spcBef>
                        <a:spcAft>
                          <a:spcPts val="0"/>
                        </a:spcAft>
                      </a:pPr>
                      <a:r>
                        <a:rPr lang="ko-KR" altLang="en-US" sz="1600" kern="0" spc="-60" dirty="0">
                          <a:solidFill>
                            <a:srgbClr val="000000"/>
                          </a:solidFill>
                          <a:effectLst/>
                          <a:latin typeface="+mn-ea"/>
                          <a:ea typeface="+mn-ea"/>
                        </a:rPr>
                        <a:t>본질적 </a:t>
                      </a:r>
                    </a:p>
                    <a:p>
                      <a:pPr marL="0" marR="0" indent="0" algn="ctr" fontAlgn="base" latinLnBrk="0">
                        <a:lnSpc>
                          <a:spcPct val="130000"/>
                        </a:lnSpc>
                        <a:spcBef>
                          <a:spcPts val="0"/>
                        </a:spcBef>
                        <a:spcAft>
                          <a:spcPts val="0"/>
                        </a:spcAft>
                      </a:pPr>
                      <a:r>
                        <a:rPr lang="ko-KR" altLang="en-US" sz="1600" kern="0" spc="-60" dirty="0">
                          <a:solidFill>
                            <a:srgbClr val="000000"/>
                          </a:solidFill>
                          <a:effectLst/>
                          <a:latin typeface="+mn-ea"/>
                          <a:ea typeface="+mn-ea"/>
                        </a:rPr>
                        <a:t>구성의</a:t>
                      </a:r>
                    </a:p>
                    <a:p>
                      <a:pPr marL="0" marR="0" indent="0" algn="ctr" fontAlgn="base" latinLnBrk="0">
                        <a:lnSpc>
                          <a:spcPct val="130000"/>
                        </a:lnSpc>
                        <a:spcBef>
                          <a:spcPts val="0"/>
                        </a:spcBef>
                        <a:spcAft>
                          <a:spcPts val="0"/>
                        </a:spcAft>
                      </a:pPr>
                      <a:r>
                        <a:rPr lang="ko-KR" altLang="en-US" sz="1600" kern="0" spc="-60" dirty="0">
                          <a:solidFill>
                            <a:srgbClr val="000000"/>
                          </a:solidFill>
                          <a:effectLst/>
                          <a:latin typeface="+mn-ea"/>
                          <a:ea typeface="+mn-ea"/>
                        </a:rPr>
                        <a:t>차이가 </a:t>
                      </a:r>
                    </a:p>
                    <a:p>
                      <a:pPr marL="0" marR="0" indent="0" algn="ctr" fontAlgn="base" latinLnBrk="0">
                        <a:lnSpc>
                          <a:spcPct val="130000"/>
                        </a:lnSpc>
                        <a:spcBef>
                          <a:spcPts val="0"/>
                        </a:spcBef>
                        <a:spcAft>
                          <a:spcPts val="0"/>
                        </a:spcAft>
                      </a:pPr>
                      <a:r>
                        <a:rPr lang="ko-KR" altLang="en-US" sz="1600" kern="0" spc="-60" dirty="0">
                          <a:solidFill>
                            <a:srgbClr val="000000"/>
                          </a:solidFill>
                          <a:effectLst/>
                          <a:latin typeface="+mn-ea"/>
                          <a:ea typeface="+mn-ea"/>
                        </a:rPr>
                        <a:t>있는 </a:t>
                      </a:r>
                    </a:p>
                    <a:p>
                      <a:pPr marL="0" marR="0" indent="0" algn="ctr" fontAlgn="base" latinLnBrk="0">
                        <a:lnSpc>
                          <a:spcPct val="130000"/>
                        </a:lnSpc>
                        <a:spcBef>
                          <a:spcPts val="0"/>
                        </a:spcBef>
                        <a:spcAft>
                          <a:spcPts val="0"/>
                        </a:spcAft>
                      </a:pPr>
                      <a:r>
                        <a:rPr lang="ko-KR" altLang="en-US" sz="1600" kern="0" spc="-60" dirty="0">
                          <a:solidFill>
                            <a:srgbClr val="000000"/>
                          </a:solidFill>
                          <a:effectLst/>
                          <a:latin typeface="+mn-ea"/>
                          <a:ea typeface="+mn-ea"/>
                        </a:rPr>
                        <a:t>경우</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85725" marR="0" indent="-85725" algn="just" fontAlgn="base" latinLnBrk="1">
                        <a:lnSpc>
                          <a:spcPct val="130000"/>
                        </a:lnSpc>
                        <a:spcBef>
                          <a:spcPts val="0"/>
                        </a:spcBef>
                        <a:spcAft>
                          <a:spcPts val="0"/>
                        </a:spcAft>
                      </a:pPr>
                      <a:endParaRPr lang="en-US" altLang="ko-KR" sz="1600" kern="0" spc="-60" dirty="0">
                        <a:solidFill>
                          <a:srgbClr val="000000"/>
                        </a:solidFill>
                        <a:effectLst/>
                        <a:latin typeface="+mn-ea"/>
                        <a:ea typeface="+mn-ea"/>
                      </a:endParaRPr>
                    </a:p>
                    <a:p>
                      <a:pPr marL="85725" marR="0" indent="-85725" algn="just" fontAlgn="base" latinLnBrk="1">
                        <a:lnSpc>
                          <a:spcPct val="130000"/>
                        </a:lnSpc>
                        <a:spcBef>
                          <a:spcPts val="0"/>
                        </a:spcBef>
                        <a:spcAft>
                          <a:spcPts val="0"/>
                        </a:spcAft>
                      </a:pPr>
                      <a:r>
                        <a:rPr lang="en-US" altLang="ko-KR" sz="1600" kern="0" spc="-60" dirty="0">
                          <a:solidFill>
                            <a:srgbClr val="000000"/>
                          </a:solidFill>
                          <a:effectLst/>
                          <a:latin typeface="+mn-ea"/>
                          <a:ea typeface="+mn-ea"/>
                        </a:rPr>
                        <a:t>-</a:t>
                      </a:r>
                      <a:r>
                        <a:rPr lang="ko-KR" altLang="en-US" sz="1600" kern="0" spc="-60" dirty="0">
                          <a:solidFill>
                            <a:srgbClr val="000000"/>
                          </a:solidFill>
                          <a:effectLst/>
                          <a:latin typeface="+mn-ea"/>
                          <a:ea typeface="+mn-ea"/>
                        </a:rPr>
                        <a:t>선행기술과 비교하여 정해지는 특허발명의 실질적 가치를 기준으로 구성에서 과제해결원리가 어느 정도 상위개념화가 가능함</a:t>
                      </a:r>
                      <a:endParaRPr lang="en-US" altLang="ko-KR" sz="1600" kern="0" spc="-60" dirty="0">
                        <a:solidFill>
                          <a:srgbClr val="000000"/>
                        </a:solidFill>
                        <a:effectLst/>
                        <a:latin typeface="+mn-ea"/>
                        <a:ea typeface="+mn-ea"/>
                      </a:endParaRPr>
                    </a:p>
                    <a:p>
                      <a:pPr marL="85725" marR="0" indent="-85725" algn="just" fontAlgn="base" latinLnBrk="1">
                        <a:lnSpc>
                          <a:spcPct val="130000"/>
                        </a:lnSpc>
                        <a:spcBef>
                          <a:spcPts val="0"/>
                        </a:spcBef>
                        <a:spcAft>
                          <a:spcPts val="0"/>
                        </a:spcAft>
                      </a:pPr>
                      <a:r>
                        <a:rPr lang="en-US" altLang="ko-KR" sz="1600" kern="0" spc="-60" dirty="0">
                          <a:solidFill>
                            <a:srgbClr val="000000"/>
                          </a:solidFill>
                          <a:effectLst/>
                          <a:latin typeface="+mn-ea"/>
                          <a:ea typeface="+mn-ea"/>
                        </a:rPr>
                        <a:t>   (</a:t>
                      </a:r>
                      <a:r>
                        <a:rPr lang="ko-KR" altLang="en-US" sz="1600" kern="0" spc="-60" dirty="0">
                          <a:solidFill>
                            <a:srgbClr val="000000"/>
                          </a:solidFill>
                          <a:effectLst/>
                          <a:latin typeface="+mn-ea"/>
                          <a:ea typeface="+mn-ea"/>
                        </a:rPr>
                        <a:t>균등범위가 넓어짐</a:t>
                      </a:r>
                      <a:r>
                        <a:rPr lang="en-US" altLang="ko-KR" sz="1600" kern="0" spc="-60" dirty="0">
                          <a:solidFill>
                            <a:srgbClr val="000000"/>
                          </a:solidFill>
                          <a:effectLst/>
                          <a:latin typeface="+mn-ea"/>
                          <a:ea typeface="+mn-ea"/>
                        </a:rPr>
                        <a:t>)</a:t>
                      </a:r>
                      <a:endParaRPr lang="ko-KR" altLang="en-US" sz="1600" kern="0" spc="-60" dirty="0">
                        <a:solidFill>
                          <a:srgbClr val="000000"/>
                        </a:solidFill>
                        <a:effectLst/>
                        <a:latin typeface="+mn-ea"/>
                        <a:ea typeface="+mn-ea"/>
                      </a:endParaRPr>
                    </a:p>
                    <a:p>
                      <a:pPr marL="85725" marR="0" indent="-85725" algn="just" fontAlgn="base" latinLnBrk="1">
                        <a:lnSpc>
                          <a:spcPct val="130000"/>
                        </a:lnSpc>
                        <a:spcBef>
                          <a:spcPts val="0"/>
                        </a:spcBef>
                        <a:spcAft>
                          <a:spcPts val="0"/>
                        </a:spcAft>
                      </a:pPr>
                      <a:r>
                        <a:rPr lang="en-US" altLang="ko-KR" sz="1600" kern="0" spc="-60" dirty="0">
                          <a:solidFill>
                            <a:srgbClr val="000000"/>
                          </a:solidFill>
                          <a:effectLst/>
                          <a:latin typeface="+mn-ea"/>
                          <a:ea typeface="+mn-ea"/>
                        </a:rPr>
                        <a:t>-</a:t>
                      </a:r>
                      <a:r>
                        <a:rPr lang="ko-KR" altLang="en-US" sz="1600" kern="0" spc="-60" dirty="0">
                          <a:solidFill>
                            <a:srgbClr val="000000"/>
                          </a:solidFill>
                          <a:effectLst/>
                          <a:latin typeface="+mn-ea"/>
                          <a:ea typeface="+mn-ea"/>
                        </a:rPr>
                        <a:t>과제해결원리가 동일하다면</a:t>
                      </a:r>
                      <a:r>
                        <a:rPr lang="en-US" altLang="ko-KR" sz="1600" kern="0" spc="-60" dirty="0">
                          <a:solidFill>
                            <a:srgbClr val="000000"/>
                          </a:solidFill>
                          <a:effectLst/>
                          <a:latin typeface="+mn-ea"/>
                          <a:ea typeface="+mn-ea"/>
                        </a:rPr>
                        <a:t>, </a:t>
                      </a:r>
                      <a:r>
                        <a:rPr lang="ko-KR" altLang="en-US" sz="1600" kern="0" spc="-60" dirty="0">
                          <a:solidFill>
                            <a:srgbClr val="000000"/>
                          </a:solidFill>
                          <a:effectLst/>
                          <a:latin typeface="+mn-ea"/>
                          <a:ea typeface="+mn-ea"/>
                        </a:rPr>
                        <a:t>이러한 해결원리를 </a:t>
                      </a:r>
                      <a:r>
                        <a:rPr lang="ko-KR" altLang="en-US" sz="1600" kern="0" spc="-60" dirty="0" err="1">
                          <a:solidFill>
                            <a:srgbClr val="000000"/>
                          </a:solidFill>
                          <a:effectLst/>
                          <a:latin typeface="+mn-ea"/>
                          <a:ea typeface="+mn-ea"/>
                        </a:rPr>
                        <a:t>구현하는지의</a:t>
                      </a:r>
                      <a:r>
                        <a:rPr lang="ko-KR" altLang="en-US" sz="1600" kern="0" spc="-60" dirty="0">
                          <a:solidFill>
                            <a:srgbClr val="000000"/>
                          </a:solidFill>
                          <a:effectLst/>
                          <a:latin typeface="+mn-ea"/>
                          <a:ea typeface="+mn-ea"/>
                        </a:rPr>
                        <a:t> 관점에서 효과가 동일한지를 판단하므로 제</a:t>
                      </a:r>
                      <a:r>
                        <a:rPr lang="en-US" altLang="ko-KR" sz="1600" kern="0" spc="-60" dirty="0">
                          <a:solidFill>
                            <a:srgbClr val="000000"/>
                          </a:solidFill>
                          <a:effectLst/>
                          <a:latin typeface="+mn-ea"/>
                          <a:ea typeface="+mn-ea"/>
                        </a:rPr>
                        <a:t>2</a:t>
                      </a:r>
                      <a:r>
                        <a:rPr lang="ko-KR" altLang="en-US" sz="1600" kern="0" spc="-60" dirty="0">
                          <a:solidFill>
                            <a:srgbClr val="000000"/>
                          </a:solidFill>
                          <a:effectLst/>
                          <a:latin typeface="+mn-ea"/>
                          <a:ea typeface="+mn-ea"/>
                        </a:rPr>
                        <a:t>요건도 만족되기 쉬움</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85725" marR="0" indent="-85725" algn="just" fontAlgn="base" latinLnBrk="1">
                        <a:lnSpc>
                          <a:spcPct val="130000"/>
                        </a:lnSpc>
                        <a:spcBef>
                          <a:spcPts val="0"/>
                        </a:spcBef>
                        <a:spcAft>
                          <a:spcPts val="0"/>
                        </a:spcAft>
                      </a:pPr>
                      <a:r>
                        <a:rPr lang="en-US" altLang="ko-KR" sz="1600" kern="0" spc="-60" dirty="0">
                          <a:solidFill>
                            <a:srgbClr val="000000"/>
                          </a:solidFill>
                          <a:effectLst/>
                          <a:latin typeface="+mn-ea"/>
                          <a:ea typeface="+mn-ea"/>
                        </a:rPr>
                        <a:t>-</a:t>
                      </a:r>
                      <a:r>
                        <a:rPr lang="ko-KR" altLang="en-US" sz="1600" kern="0" spc="-60" dirty="0">
                          <a:solidFill>
                            <a:srgbClr val="000000"/>
                          </a:solidFill>
                          <a:effectLst/>
                          <a:latin typeface="+mn-ea"/>
                          <a:ea typeface="+mn-ea"/>
                        </a:rPr>
                        <a:t>과제해결원리가 청구범위의 구성에 근접한 것으로 파악되어야 함</a:t>
                      </a:r>
                    </a:p>
                    <a:p>
                      <a:pPr marL="30480" marR="0" indent="-30480" algn="just" fontAlgn="base" latinLnBrk="1">
                        <a:lnSpc>
                          <a:spcPct val="130000"/>
                        </a:lnSpc>
                        <a:spcBef>
                          <a:spcPts val="0"/>
                        </a:spcBef>
                        <a:spcAft>
                          <a:spcPts val="0"/>
                        </a:spcAft>
                      </a:pPr>
                      <a:r>
                        <a:rPr lang="en-US" altLang="ko-KR" sz="1600" kern="0" spc="-60" dirty="0">
                          <a:solidFill>
                            <a:srgbClr val="000000"/>
                          </a:solidFill>
                          <a:effectLst/>
                          <a:latin typeface="+mn-ea"/>
                          <a:ea typeface="+mn-ea"/>
                        </a:rPr>
                        <a:t>   (</a:t>
                      </a:r>
                      <a:r>
                        <a:rPr lang="ko-KR" altLang="en-US" sz="1600" kern="0" spc="-60" dirty="0">
                          <a:solidFill>
                            <a:srgbClr val="000000"/>
                          </a:solidFill>
                          <a:effectLst/>
                          <a:latin typeface="+mn-ea"/>
                          <a:ea typeface="+mn-ea"/>
                        </a:rPr>
                        <a:t>균등범위가 </a:t>
                      </a:r>
                      <a:r>
                        <a:rPr lang="ko-KR" altLang="en-US" sz="1600" kern="0" spc="-60" dirty="0" err="1">
                          <a:solidFill>
                            <a:srgbClr val="000000"/>
                          </a:solidFill>
                          <a:effectLst/>
                          <a:latin typeface="+mn-ea"/>
                          <a:ea typeface="+mn-ea"/>
                        </a:rPr>
                        <a:t>좁아짐</a:t>
                      </a:r>
                      <a:r>
                        <a:rPr lang="en-US" altLang="ko-KR" sz="1600" kern="0" spc="-60" dirty="0">
                          <a:solidFill>
                            <a:srgbClr val="000000"/>
                          </a:solidFill>
                          <a:effectLst/>
                          <a:latin typeface="+mn-ea"/>
                          <a:ea typeface="+mn-ea"/>
                        </a:rPr>
                        <a:t>)</a:t>
                      </a:r>
                      <a:endParaRPr lang="ko-KR" altLang="en-US" sz="1600" kern="0" spc="-60" dirty="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05260202"/>
                  </a:ext>
                </a:extLst>
              </a:tr>
              <a:tr h="2493095">
                <a:tc>
                  <a:txBody>
                    <a:bodyPr/>
                    <a:lstStyle/>
                    <a:p>
                      <a:pPr marL="0" marR="0" indent="0" algn="ctr" fontAlgn="base" latinLnBrk="0">
                        <a:lnSpc>
                          <a:spcPct val="130000"/>
                        </a:lnSpc>
                        <a:spcBef>
                          <a:spcPts val="0"/>
                        </a:spcBef>
                        <a:spcAft>
                          <a:spcPts val="0"/>
                        </a:spcAft>
                      </a:pPr>
                      <a:r>
                        <a:rPr lang="ko-KR" altLang="en-US" sz="1600" kern="0" spc="-60">
                          <a:solidFill>
                            <a:srgbClr val="000000"/>
                          </a:solidFill>
                          <a:effectLst/>
                          <a:latin typeface="+mn-ea"/>
                          <a:ea typeface="+mn-ea"/>
                        </a:rPr>
                        <a:t>비본질적</a:t>
                      </a:r>
                    </a:p>
                    <a:p>
                      <a:pPr marL="0" marR="0" indent="0" algn="ctr" fontAlgn="base" latinLnBrk="0">
                        <a:lnSpc>
                          <a:spcPct val="130000"/>
                        </a:lnSpc>
                        <a:spcBef>
                          <a:spcPts val="0"/>
                        </a:spcBef>
                        <a:spcAft>
                          <a:spcPts val="0"/>
                        </a:spcAft>
                      </a:pPr>
                      <a:r>
                        <a:rPr lang="ko-KR" altLang="en-US" sz="1600" kern="0" spc="-60">
                          <a:solidFill>
                            <a:srgbClr val="000000"/>
                          </a:solidFill>
                          <a:effectLst/>
                          <a:latin typeface="+mn-ea"/>
                          <a:ea typeface="+mn-ea"/>
                        </a:rPr>
                        <a:t>구성의 </a:t>
                      </a:r>
                    </a:p>
                    <a:p>
                      <a:pPr marL="0" marR="0" indent="0" algn="ctr" fontAlgn="base" latinLnBrk="0">
                        <a:lnSpc>
                          <a:spcPct val="130000"/>
                        </a:lnSpc>
                        <a:spcBef>
                          <a:spcPts val="0"/>
                        </a:spcBef>
                        <a:spcAft>
                          <a:spcPts val="0"/>
                        </a:spcAft>
                      </a:pPr>
                      <a:r>
                        <a:rPr lang="ko-KR" altLang="en-US" sz="1600" kern="0" spc="-60">
                          <a:solidFill>
                            <a:srgbClr val="000000"/>
                          </a:solidFill>
                          <a:effectLst/>
                          <a:latin typeface="+mn-ea"/>
                          <a:ea typeface="+mn-ea"/>
                        </a:rPr>
                        <a:t>차이가</a:t>
                      </a:r>
                    </a:p>
                    <a:p>
                      <a:pPr marL="0" marR="0" indent="0" algn="ctr" fontAlgn="base" latinLnBrk="0">
                        <a:lnSpc>
                          <a:spcPct val="130000"/>
                        </a:lnSpc>
                        <a:spcBef>
                          <a:spcPts val="0"/>
                        </a:spcBef>
                        <a:spcAft>
                          <a:spcPts val="0"/>
                        </a:spcAft>
                      </a:pPr>
                      <a:r>
                        <a:rPr lang="ko-KR" altLang="en-US" sz="1600" kern="0" spc="-60">
                          <a:solidFill>
                            <a:srgbClr val="000000"/>
                          </a:solidFill>
                          <a:effectLst/>
                          <a:latin typeface="+mn-ea"/>
                          <a:ea typeface="+mn-ea"/>
                        </a:rPr>
                        <a:t>있는</a:t>
                      </a:r>
                    </a:p>
                    <a:p>
                      <a:pPr marL="0" marR="0" indent="0" algn="ctr" fontAlgn="base" latinLnBrk="0">
                        <a:lnSpc>
                          <a:spcPct val="130000"/>
                        </a:lnSpc>
                        <a:spcBef>
                          <a:spcPts val="0"/>
                        </a:spcBef>
                        <a:spcAft>
                          <a:spcPts val="0"/>
                        </a:spcAft>
                      </a:pPr>
                      <a:r>
                        <a:rPr lang="ko-KR" altLang="en-US" sz="1600" kern="0" spc="-60">
                          <a:solidFill>
                            <a:srgbClr val="000000"/>
                          </a:solidFill>
                          <a:effectLst/>
                          <a:latin typeface="+mn-ea"/>
                          <a:ea typeface="+mn-ea"/>
                        </a:rPr>
                        <a:t>경우</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30480" marR="0" indent="-30480" algn="just" fontAlgn="base" latinLnBrk="1">
                        <a:lnSpc>
                          <a:spcPct val="130000"/>
                        </a:lnSpc>
                        <a:spcBef>
                          <a:spcPts val="0"/>
                        </a:spcBef>
                        <a:spcAft>
                          <a:spcPts val="0"/>
                        </a:spcAft>
                      </a:pPr>
                      <a:r>
                        <a:rPr lang="en-US" altLang="ko-KR" sz="1600" kern="0" spc="-60" dirty="0">
                          <a:solidFill>
                            <a:srgbClr val="000000"/>
                          </a:solidFill>
                          <a:effectLst/>
                          <a:latin typeface="+mn-ea"/>
                          <a:ea typeface="+mn-ea"/>
                        </a:rPr>
                        <a:t>-</a:t>
                      </a:r>
                      <a:r>
                        <a:rPr lang="ko-KR" altLang="en-US" sz="1600" kern="0" spc="-60" dirty="0">
                          <a:solidFill>
                            <a:srgbClr val="000000"/>
                          </a:solidFill>
                          <a:effectLst/>
                          <a:latin typeface="+mn-ea"/>
                          <a:ea typeface="+mn-ea"/>
                        </a:rPr>
                        <a:t>본질적 구성이 공통되므로 과제해결원리가 같음</a:t>
                      </a:r>
                    </a:p>
                    <a:p>
                      <a:pPr marL="85725" marR="0" indent="-85725" algn="just" fontAlgn="base" latinLnBrk="1">
                        <a:lnSpc>
                          <a:spcPct val="130000"/>
                        </a:lnSpc>
                        <a:spcBef>
                          <a:spcPts val="0"/>
                        </a:spcBef>
                        <a:spcAft>
                          <a:spcPts val="0"/>
                        </a:spcAft>
                      </a:pPr>
                      <a:r>
                        <a:rPr lang="en-US" altLang="ko-KR" sz="1600" kern="0" spc="-60" dirty="0">
                          <a:solidFill>
                            <a:srgbClr val="000000"/>
                          </a:solidFill>
                          <a:effectLst/>
                          <a:latin typeface="+mn-ea"/>
                          <a:ea typeface="+mn-ea"/>
                        </a:rPr>
                        <a:t>-</a:t>
                      </a:r>
                      <a:r>
                        <a:rPr lang="ko-KR" altLang="en-US" sz="1600" kern="0" spc="-60" dirty="0">
                          <a:solidFill>
                            <a:srgbClr val="000000"/>
                          </a:solidFill>
                          <a:effectLst/>
                          <a:latin typeface="+mn-ea"/>
                          <a:ea typeface="+mn-ea"/>
                        </a:rPr>
                        <a:t>해결원리를 </a:t>
                      </a:r>
                      <a:r>
                        <a:rPr lang="ko-KR" altLang="en-US" sz="1600" kern="0" spc="-60" dirty="0" err="1">
                          <a:solidFill>
                            <a:srgbClr val="000000"/>
                          </a:solidFill>
                          <a:effectLst/>
                          <a:latin typeface="+mn-ea"/>
                          <a:ea typeface="+mn-ea"/>
                        </a:rPr>
                        <a:t>구현하는지의</a:t>
                      </a:r>
                      <a:r>
                        <a:rPr lang="ko-KR" altLang="en-US" sz="1600" kern="0" spc="-60" dirty="0">
                          <a:solidFill>
                            <a:srgbClr val="000000"/>
                          </a:solidFill>
                          <a:effectLst/>
                          <a:latin typeface="+mn-ea"/>
                          <a:ea typeface="+mn-ea"/>
                        </a:rPr>
                        <a:t> 관점에서 효과가 동일한지를 판단하므로 제</a:t>
                      </a:r>
                      <a:r>
                        <a:rPr lang="en-US" altLang="ko-KR" sz="1600" kern="0" spc="-60" dirty="0">
                          <a:solidFill>
                            <a:srgbClr val="000000"/>
                          </a:solidFill>
                          <a:effectLst/>
                          <a:latin typeface="+mn-ea"/>
                          <a:ea typeface="+mn-ea"/>
                        </a:rPr>
                        <a:t>2</a:t>
                      </a:r>
                      <a:r>
                        <a:rPr lang="ko-KR" altLang="en-US" sz="1600" kern="0" spc="-60" dirty="0">
                          <a:solidFill>
                            <a:srgbClr val="000000"/>
                          </a:solidFill>
                          <a:effectLst/>
                          <a:latin typeface="+mn-ea"/>
                          <a:ea typeface="+mn-ea"/>
                        </a:rPr>
                        <a:t>요건도 만족되기 쉬움</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a:txBody>
                    <a:bodyPr/>
                    <a:lstStyle/>
                    <a:p>
                      <a:pPr marL="30480" marR="0" indent="-30480" algn="just" fontAlgn="base" latinLnBrk="1">
                        <a:lnSpc>
                          <a:spcPct val="130000"/>
                        </a:lnSpc>
                        <a:spcBef>
                          <a:spcPts val="0"/>
                        </a:spcBef>
                        <a:spcAft>
                          <a:spcPts val="0"/>
                        </a:spcAft>
                      </a:pPr>
                      <a:endParaRPr lang="en-US" altLang="ko-KR" sz="1600" kern="0" spc="-60" dirty="0">
                        <a:solidFill>
                          <a:srgbClr val="000000"/>
                        </a:solidFill>
                        <a:effectLst/>
                        <a:latin typeface="+mn-ea"/>
                        <a:ea typeface="+mn-ea"/>
                      </a:endParaRPr>
                    </a:p>
                    <a:p>
                      <a:pPr marL="30480" marR="0" indent="-30480" algn="just" fontAlgn="base" latinLnBrk="1">
                        <a:lnSpc>
                          <a:spcPct val="130000"/>
                        </a:lnSpc>
                        <a:spcBef>
                          <a:spcPts val="0"/>
                        </a:spcBef>
                        <a:spcAft>
                          <a:spcPts val="0"/>
                        </a:spcAft>
                      </a:pPr>
                      <a:endParaRPr lang="en-US" altLang="ko-KR" sz="1600" kern="0" spc="-60" dirty="0">
                        <a:solidFill>
                          <a:srgbClr val="000000"/>
                        </a:solidFill>
                        <a:effectLst/>
                        <a:latin typeface="+mn-ea"/>
                        <a:ea typeface="+mn-ea"/>
                      </a:endParaRPr>
                    </a:p>
                    <a:p>
                      <a:pPr marL="30480" marR="0" indent="-30480" algn="just" fontAlgn="base" latinLnBrk="1">
                        <a:lnSpc>
                          <a:spcPct val="130000"/>
                        </a:lnSpc>
                        <a:spcBef>
                          <a:spcPts val="0"/>
                        </a:spcBef>
                        <a:spcAft>
                          <a:spcPts val="0"/>
                        </a:spcAft>
                      </a:pPr>
                      <a:r>
                        <a:rPr lang="en-US" altLang="ko-KR" sz="1600" kern="0" spc="-60" dirty="0">
                          <a:solidFill>
                            <a:srgbClr val="000000"/>
                          </a:solidFill>
                          <a:effectLst/>
                          <a:latin typeface="+mn-ea"/>
                          <a:ea typeface="+mn-ea"/>
                        </a:rPr>
                        <a:t>-</a:t>
                      </a:r>
                      <a:r>
                        <a:rPr lang="ko-KR" altLang="en-US" sz="1600" kern="0" spc="-60" dirty="0">
                          <a:solidFill>
                            <a:srgbClr val="000000"/>
                          </a:solidFill>
                          <a:effectLst/>
                          <a:latin typeface="+mn-ea"/>
                          <a:ea typeface="+mn-ea"/>
                        </a:rPr>
                        <a:t>본질적 구성이 공통되므로 과제해결원리가 같음</a:t>
                      </a:r>
                    </a:p>
                    <a:p>
                      <a:pPr marL="85725" marR="0" indent="-85725" algn="just" fontAlgn="base" latinLnBrk="1">
                        <a:lnSpc>
                          <a:spcPct val="130000"/>
                        </a:lnSpc>
                        <a:spcBef>
                          <a:spcPts val="0"/>
                        </a:spcBef>
                        <a:spcAft>
                          <a:spcPts val="0"/>
                        </a:spcAft>
                      </a:pPr>
                      <a:r>
                        <a:rPr lang="en-US" altLang="ko-KR" sz="1600" kern="0" spc="-60" dirty="0">
                          <a:solidFill>
                            <a:srgbClr val="000000"/>
                          </a:solidFill>
                          <a:effectLst/>
                          <a:latin typeface="+mn-ea"/>
                          <a:ea typeface="+mn-ea"/>
                        </a:rPr>
                        <a:t>-</a:t>
                      </a:r>
                      <a:r>
                        <a:rPr lang="ko-KR" altLang="en-US" sz="1600" kern="0" spc="-60" dirty="0">
                          <a:solidFill>
                            <a:srgbClr val="000000"/>
                          </a:solidFill>
                          <a:effectLst/>
                          <a:latin typeface="+mn-ea"/>
                          <a:ea typeface="+mn-ea"/>
                        </a:rPr>
                        <a:t>그러나 특허발명이 선행기술에서 해결되지 않았던 기술 과제를 해결하였다고 할 수 없으므로 차이나는 구성의 기능이나 역할을 비교하여 양자의 작용효과가 동일하지 않다고 볼 수 있음</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99480593"/>
                  </a:ext>
                </a:extLst>
              </a:tr>
            </a:tbl>
          </a:graphicData>
        </a:graphic>
      </p:graphicFrame>
      <p:sp>
        <p:nvSpPr>
          <p:cNvPr id="6" name="직사각형 5">
            <a:extLst>
              <a:ext uri="{FF2B5EF4-FFF2-40B4-BE49-F238E27FC236}">
                <a16:creationId xmlns:a16="http://schemas.microsoft.com/office/drawing/2014/main" id="{61A1715E-2870-45F4-8F18-090AF4E6F493}"/>
              </a:ext>
            </a:extLst>
          </p:cNvPr>
          <p:cNvSpPr/>
          <p:nvPr/>
        </p:nvSpPr>
        <p:spPr>
          <a:xfrm>
            <a:off x="1758934" y="1701279"/>
            <a:ext cx="4700326" cy="338554"/>
          </a:xfrm>
          <a:prstGeom prst="rect">
            <a:avLst/>
          </a:prstGeom>
          <a:solidFill>
            <a:schemeClr val="accent4"/>
          </a:solidFill>
        </p:spPr>
        <p:txBody>
          <a:bodyPr wrap="none">
            <a:spAutoFit/>
          </a:bodyPr>
          <a:lstStyle/>
          <a:p>
            <a:r>
              <a:rPr lang="en-US" altLang="ko-KR" sz="1600" dirty="0"/>
              <a:t>2</a:t>
            </a:r>
            <a:r>
              <a:rPr lang="ko-KR" altLang="en-US" sz="1600" dirty="0"/>
              <a:t>차 </a:t>
            </a:r>
            <a:r>
              <a:rPr lang="ko-KR" altLang="en-US" sz="1600" dirty="0" err="1"/>
              <a:t>구이김</a:t>
            </a:r>
            <a:r>
              <a:rPr lang="ko-KR" altLang="en-US" sz="1600" dirty="0"/>
              <a:t> 절단 및 수납장치 사건</a:t>
            </a:r>
            <a:r>
              <a:rPr lang="en-US" altLang="ko-KR" sz="1600" dirty="0"/>
              <a:t>(2016</a:t>
            </a:r>
            <a:r>
              <a:rPr lang="ko-KR" altLang="en-US" sz="1600" dirty="0"/>
              <a:t>마</a:t>
            </a:r>
            <a:r>
              <a:rPr lang="en-US" altLang="ko-KR" sz="1600" dirty="0"/>
              <a:t>5698): </a:t>
            </a:r>
            <a:r>
              <a:rPr lang="ko-KR" altLang="en-US" sz="1600" dirty="0"/>
              <a:t>긍정</a:t>
            </a:r>
          </a:p>
        </p:txBody>
      </p:sp>
      <p:sp>
        <p:nvSpPr>
          <p:cNvPr id="7" name="직사각형 6">
            <a:extLst>
              <a:ext uri="{FF2B5EF4-FFF2-40B4-BE49-F238E27FC236}">
                <a16:creationId xmlns:a16="http://schemas.microsoft.com/office/drawing/2014/main" id="{3B88BE97-C5BE-4F9B-A28F-B4DEFAA64D3B}"/>
              </a:ext>
            </a:extLst>
          </p:cNvPr>
          <p:cNvSpPr/>
          <p:nvPr/>
        </p:nvSpPr>
        <p:spPr>
          <a:xfrm>
            <a:off x="1758934" y="3769935"/>
            <a:ext cx="4700326" cy="338554"/>
          </a:xfrm>
          <a:prstGeom prst="rect">
            <a:avLst/>
          </a:prstGeom>
          <a:solidFill>
            <a:schemeClr val="accent4"/>
          </a:solidFill>
        </p:spPr>
        <p:txBody>
          <a:bodyPr wrap="none">
            <a:spAutoFit/>
          </a:bodyPr>
          <a:lstStyle/>
          <a:p>
            <a:r>
              <a:rPr lang="en-US" altLang="ko-KR" sz="1600" dirty="0"/>
              <a:t>2</a:t>
            </a:r>
            <a:r>
              <a:rPr lang="ko-KR" altLang="en-US" sz="1600" dirty="0"/>
              <a:t>차 </a:t>
            </a:r>
            <a:r>
              <a:rPr lang="ko-KR" altLang="en-US" sz="1600" dirty="0" err="1"/>
              <a:t>구이김</a:t>
            </a:r>
            <a:r>
              <a:rPr lang="ko-KR" altLang="en-US" sz="1600" dirty="0"/>
              <a:t> 절단 및 수납장치 사건</a:t>
            </a:r>
            <a:r>
              <a:rPr lang="en-US" altLang="ko-KR" sz="1600" dirty="0"/>
              <a:t>(2016</a:t>
            </a:r>
            <a:r>
              <a:rPr lang="ko-KR" altLang="en-US" sz="1600" dirty="0"/>
              <a:t>마</a:t>
            </a:r>
            <a:r>
              <a:rPr lang="en-US" altLang="ko-KR" sz="1600" dirty="0"/>
              <a:t>5698): </a:t>
            </a:r>
            <a:r>
              <a:rPr lang="ko-KR" altLang="en-US" sz="1600" dirty="0"/>
              <a:t>긍정</a:t>
            </a:r>
          </a:p>
        </p:txBody>
      </p:sp>
      <p:sp>
        <p:nvSpPr>
          <p:cNvPr id="8" name="직사각형 7">
            <a:extLst>
              <a:ext uri="{FF2B5EF4-FFF2-40B4-BE49-F238E27FC236}">
                <a16:creationId xmlns:a16="http://schemas.microsoft.com/office/drawing/2014/main" id="{11C1A5B2-75BA-428A-B3BC-0C0D5298D396}"/>
              </a:ext>
            </a:extLst>
          </p:cNvPr>
          <p:cNvSpPr/>
          <p:nvPr/>
        </p:nvSpPr>
        <p:spPr>
          <a:xfrm>
            <a:off x="7146869" y="3769935"/>
            <a:ext cx="3961341" cy="338554"/>
          </a:xfrm>
          <a:prstGeom prst="rect">
            <a:avLst/>
          </a:prstGeom>
          <a:solidFill>
            <a:schemeClr val="accent2"/>
          </a:solidFill>
        </p:spPr>
        <p:txBody>
          <a:bodyPr wrap="none">
            <a:spAutoFit/>
          </a:bodyPr>
          <a:lstStyle/>
          <a:p>
            <a:r>
              <a:rPr lang="ko-KR" altLang="en-US" sz="1600" dirty="0">
                <a:solidFill>
                  <a:schemeClr val="bg1"/>
                </a:solidFill>
              </a:rPr>
              <a:t>양방향 가압 장치 사건</a:t>
            </a:r>
            <a:r>
              <a:rPr lang="en-US" altLang="ko-KR" sz="1600" dirty="0">
                <a:solidFill>
                  <a:schemeClr val="bg1"/>
                </a:solidFill>
              </a:rPr>
              <a:t>(2018</a:t>
            </a:r>
            <a:r>
              <a:rPr lang="ko-KR" altLang="en-US" sz="1600" dirty="0">
                <a:solidFill>
                  <a:schemeClr val="bg1"/>
                </a:solidFill>
              </a:rPr>
              <a:t>다</a:t>
            </a:r>
            <a:r>
              <a:rPr lang="en-US" altLang="ko-KR" sz="1600" dirty="0">
                <a:solidFill>
                  <a:schemeClr val="bg1"/>
                </a:solidFill>
              </a:rPr>
              <a:t>267252): </a:t>
            </a:r>
            <a:r>
              <a:rPr lang="ko-KR" altLang="en-US" sz="1600" dirty="0">
                <a:solidFill>
                  <a:schemeClr val="bg1"/>
                </a:solidFill>
              </a:rPr>
              <a:t>부정</a:t>
            </a:r>
          </a:p>
        </p:txBody>
      </p:sp>
      <p:sp>
        <p:nvSpPr>
          <p:cNvPr id="9" name="직사각형 8">
            <a:extLst>
              <a:ext uri="{FF2B5EF4-FFF2-40B4-BE49-F238E27FC236}">
                <a16:creationId xmlns:a16="http://schemas.microsoft.com/office/drawing/2014/main" id="{55CCA78B-EDA5-44A9-A84C-7C4F963AB8F3}"/>
              </a:ext>
            </a:extLst>
          </p:cNvPr>
          <p:cNvSpPr/>
          <p:nvPr/>
        </p:nvSpPr>
        <p:spPr>
          <a:xfrm>
            <a:off x="771525" y="6267156"/>
            <a:ext cx="9744075" cy="314381"/>
          </a:xfrm>
          <a:prstGeom prst="rect">
            <a:avLst/>
          </a:prstGeom>
        </p:spPr>
        <p:txBody>
          <a:bodyPr wrap="square">
            <a:spAutoFit/>
          </a:bodyPr>
          <a:lstStyle/>
          <a:p>
            <a:pPr marL="242570" indent="-242570" algn="just" fontAlgn="base">
              <a:lnSpc>
                <a:spcPct val="130000"/>
              </a:lnSpc>
              <a:tabLst>
                <a:tab pos="186690" algn="l"/>
                <a:tab pos="321310" algn="l"/>
                <a:tab pos="186690" algn="l"/>
                <a:tab pos="321310" algn="l"/>
              </a:tabLst>
            </a:pPr>
            <a:r>
              <a:rPr lang="en-US" altLang="ko-KR" sz="1200" kern="0" dirty="0">
                <a:solidFill>
                  <a:schemeClr val="bg2">
                    <a:lumMod val="50000"/>
                  </a:schemeClr>
                </a:solidFill>
                <a:latin typeface="+mn-ea"/>
              </a:rPr>
              <a:t>* </a:t>
            </a:r>
            <a:r>
              <a:rPr lang="ko-KR" altLang="en-US" sz="1200" kern="0" dirty="0" err="1">
                <a:solidFill>
                  <a:schemeClr val="bg2">
                    <a:lumMod val="50000"/>
                  </a:schemeClr>
                </a:solidFill>
                <a:latin typeface="+mn-ea"/>
              </a:rPr>
              <a:t>구민승</a:t>
            </a:r>
            <a:r>
              <a:rPr lang="en-US" altLang="ko-KR" sz="1200" kern="0" spc="-30" dirty="0">
                <a:solidFill>
                  <a:schemeClr val="bg2">
                    <a:lumMod val="50000"/>
                  </a:schemeClr>
                </a:solidFill>
                <a:latin typeface="+mn-ea"/>
              </a:rPr>
              <a:t>, “</a:t>
            </a:r>
            <a:r>
              <a:rPr lang="ko-KR" altLang="en-US" sz="1200" kern="0" dirty="0">
                <a:solidFill>
                  <a:schemeClr val="bg2">
                    <a:lumMod val="50000"/>
                  </a:schemeClr>
                </a:solidFill>
                <a:latin typeface="+mn-ea"/>
              </a:rPr>
              <a:t>특허 균등침해의 제</a:t>
            </a:r>
            <a:r>
              <a:rPr lang="en-US" altLang="ko-KR" sz="1200" kern="0" spc="-30" dirty="0">
                <a:solidFill>
                  <a:schemeClr val="bg2">
                    <a:lumMod val="50000"/>
                  </a:schemeClr>
                </a:solidFill>
                <a:latin typeface="+mn-ea"/>
              </a:rPr>
              <a:t>1, 2</a:t>
            </a:r>
            <a:r>
              <a:rPr lang="ko-KR" altLang="en-US" sz="1200" kern="0" dirty="0">
                <a:solidFill>
                  <a:schemeClr val="bg2">
                    <a:lumMod val="50000"/>
                  </a:schemeClr>
                </a:solidFill>
                <a:latin typeface="+mn-ea"/>
              </a:rPr>
              <a:t>요건</a:t>
            </a:r>
            <a:r>
              <a:rPr lang="ko-KR" altLang="en-US" sz="1200" kern="0" spc="-30" dirty="0">
                <a:solidFill>
                  <a:schemeClr val="bg2">
                    <a:lumMod val="50000"/>
                  </a:schemeClr>
                </a:solidFill>
                <a:latin typeface="+mn-ea"/>
              </a:rPr>
              <a:t>”</a:t>
            </a:r>
            <a:r>
              <a:rPr lang="en-US" altLang="ko-KR" sz="1200" kern="0" spc="-30" dirty="0">
                <a:solidFill>
                  <a:schemeClr val="bg2">
                    <a:lumMod val="50000"/>
                  </a:schemeClr>
                </a:solidFill>
                <a:latin typeface="+mn-ea"/>
              </a:rPr>
              <a:t>, </a:t>
            </a:r>
            <a:r>
              <a:rPr lang="ko-KR" altLang="en-US" sz="1200" kern="0" dirty="0">
                <a:solidFill>
                  <a:schemeClr val="bg2">
                    <a:lumMod val="50000"/>
                  </a:schemeClr>
                </a:solidFill>
                <a:latin typeface="+mn-ea"/>
              </a:rPr>
              <a:t>사법 </a:t>
            </a:r>
            <a:r>
              <a:rPr lang="en-US" altLang="ko-KR" sz="1200" kern="0" spc="-30" dirty="0">
                <a:solidFill>
                  <a:schemeClr val="bg2">
                    <a:lumMod val="50000"/>
                  </a:schemeClr>
                </a:solidFill>
                <a:latin typeface="+mn-ea"/>
              </a:rPr>
              <a:t>48</a:t>
            </a:r>
            <a:r>
              <a:rPr lang="ko-KR" altLang="en-US" sz="1200" kern="0" dirty="0">
                <a:solidFill>
                  <a:schemeClr val="bg2">
                    <a:lumMod val="50000"/>
                  </a:schemeClr>
                </a:solidFill>
                <a:latin typeface="+mn-ea"/>
              </a:rPr>
              <a:t>호</a:t>
            </a:r>
            <a:r>
              <a:rPr lang="en-US" altLang="ko-KR" sz="1200" kern="0" spc="-30" dirty="0">
                <a:solidFill>
                  <a:schemeClr val="bg2">
                    <a:lumMod val="50000"/>
                  </a:schemeClr>
                </a:solidFill>
                <a:latin typeface="+mn-ea"/>
              </a:rPr>
              <a:t>, </a:t>
            </a:r>
            <a:r>
              <a:rPr lang="ko-KR" altLang="en-US" sz="1200" kern="0" dirty="0">
                <a:solidFill>
                  <a:schemeClr val="bg2">
                    <a:lumMod val="50000"/>
                  </a:schemeClr>
                </a:solidFill>
                <a:latin typeface="+mn-ea"/>
              </a:rPr>
              <a:t>사법발전재단</a:t>
            </a:r>
            <a:r>
              <a:rPr lang="en-US" altLang="ko-KR" sz="1200" kern="0" spc="-30" dirty="0">
                <a:solidFill>
                  <a:schemeClr val="bg2">
                    <a:lumMod val="50000"/>
                  </a:schemeClr>
                </a:solidFill>
                <a:latin typeface="+mn-ea"/>
              </a:rPr>
              <a:t>, 2019 </a:t>
            </a:r>
            <a:r>
              <a:rPr lang="ko-KR" altLang="en-US" sz="1200" kern="0" dirty="0">
                <a:solidFill>
                  <a:schemeClr val="bg2">
                    <a:lumMod val="50000"/>
                  </a:schemeClr>
                </a:solidFill>
                <a:latin typeface="+mn-ea"/>
              </a:rPr>
              <a:t>여름호</a:t>
            </a:r>
            <a:r>
              <a:rPr lang="en-US" altLang="ko-KR" sz="1200" kern="0" spc="-30" dirty="0">
                <a:solidFill>
                  <a:schemeClr val="bg2">
                    <a:lumMod val="50000"/>
                  </a:schemeClr>
                </a:solidFill>
                <a:latin typeface="+mn-ea"/>
              </a:rPr>
              <a:t>, 97-99</a:t>
            </a:r>
            <a:r>
              <a:rPr lang="ko-KR" altLang="en-US" sz="1200" kern="0" dirty="0">
                <a:solidFill>
                  <a:schemeClr val="bg2">
                    <a:lumMod val="50000"/>
                  </a:schemeClr>
                </a:solidFill>
                <a:latin typeface="+mn-ea"/>
              </a:rPr>
              <a:t>면</a:t>
            </a:r>
          </a:p>
        </p:txBody>
      </p:sp>
      <p:sp>
        <p:nvSpPr>
          <p:cNvPr id="10" name="직사각형 9">
            <a:extLst>
              <a:ext uri="{FF2B5EF4-FFF2-40B4-BE49-F238E27FC236}">
                <a16:creationId xmlns:a16="http://schemas.microsoft.com/office/drawing/2014/main" id="{46F06FE9-BA11-424F-B584-C049979F7E55}"/>
              </a:ext>
            </a:extLst>
          </p:cNvPr>
          <p:cNvSpPr/>
          <p:nvPr/>
        </p:nvSpPr>
        <p:spPr>
          <a:xfrm>
            <a:off x="7146869" y="4146039"/>
            <a:ext cx="3302507" cy="338554"/>
          </a:xfrm>
          <a:prstGeom prst="rect">
            <a:avLst/>
          </a:prstGeom>
          <a:solidFill>
            <a:schemeClr val="accent1">
              <a:lumMod val="75000"/>
            </a:schemeClr>
          </a:solidFill>
        </p:spPr>
        <p:txBody>
          <a:bodyPr wrap="none">
            <a:spAutoFit/>
          </a:bodyPr>
          <a:lstStyle/>
          <a:p>
            <a:r>
              <a:rPr lang="en-US" altLang="ko-KR" sz="1600" dirty="0">
                <a:solidFill>
                  <a:schemeClr val="bg1"/>
                </a:solidFill>
              </a:rPr>
              <a:t>LED </a:t>
            </a:r>
            <a:r>
              <a:rPr lang="ko-KR" altLang="en-US" sz="1600" dirty="0" err="1">
                <a:solidFill>
                  <a:schemeClr val="bg1"/>
                </a:solidFill>
              </a:rPr>
              <a:t>등기구</a:t>
            </a:r>
            <a:r>
              <a:rPr lang="ko-KR" altLang="en-US" sz="1600" dirty="0">
                <a:solidFill>
                  <a:schemeClr val="bg1"/>
                </a:solidFill>
              </a:rPr>
              <a:t> 사건</a:t>
            </a:r>
            <a:r>
              <a:rPr lang="en-US" altLang="ko-KR" sz="1600" dirty="0">
                <a:solidFill>
                  <a:schemeClr val="bg1"/>
                </a:solidFill>
              </a:rPr>
              <a:t>(2014</a:t>
            </a:r>
            <a:r>
              <a:rPr lang="ko-KR" altLang="en-US" sz="1600" dirty="0">
                <a:solidFill>
                  <a:schemeClr val="bg1"/>
                </a:solidFill>
              </a:rPr>
              <a:t>후</a:t>
            </a:r>
            <a:r>
              <a:rPr lang="en-US" altLang="ko-KR" sz="1600" dirty="0">
                <a:solidFill>
                  <a:schemeClr val="bg1"/>
                </a:solidFill>
              </a:rPr>
              <a:t>2788): </a:t>
            </a:r>
            <a:r>
              <a:rPr lang="ko-KR" altLang="en-US" sz="1600" dirty="0">
                <a:solidFill>
                  <a:schemeClr val="bg1"/>
                </a:solidFill>
              </a:rPr>
              <a:t>긍정</a:t>
            </a:r>
          </a:p>
        </p:txBody>
      </p:sp>
      <p:sp>
        <p:nvSpPr>
          <p:cNvPr id="11" name="원형: 비어 있음 10">
            <a:extLst>
              <a:ext uri="{FF2B5EF4-FFF2-40B4-BE49-F238E27FC236}">
                <a16:creationId xmlns:a16="http://schemas.microsoft.com/office/drawing/2014/main" id="{DE8A882F-F42A-45EC-9091-64AA087AA3E1}"/>
              </a:ext>
            </a:extLst>
          </p:cNvPr>
          <p:cNvSpPr/>
          <p:nvPr/>
        </p:nvSpPr>
        <p:spPr>
          <a:xfrm>
            <a:off x="3074126" y="4355790"/>
            <a:ext cx="1645920" cy="1601862"/>
          </a:xfrm>
          <a:prstGeom prst="donut">
            <a:avLst>
              <a:gd name="adj" fmla="val 15654"/>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12" name="곱하기 기호 11">
            <a:extLst>
              <a:ext uri="{FF2B5EF4-FFF2-40B4-BE49-F238E27FC236}">
                <a16:creationId xmlns:a16="http://schemas.microsoft.com/office/drawing/2014/main" id="{2297B2D9-9775-4C7E-AE12-C02D75B93D75}"/>
              </a:ext>
            </a:extLst>
          </p:cNvPr>
          <p:cNvSpPr/>
          <p:nvPr/>
        </p:nvSpPr>
        <p:spPr>
          <a:xfrm>
            <a:off x="7972373" y="1550127"/>
            <a:ext cx="2173114" cy="2094736"/>
          </a:xfrm>
          <a:prstGeom prst="mathMultiply">
            <a:avLst>
              <a:gd name="adj1" fmla="val 1280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곱하기 기호 13">
            <a:extLst>
              <a:ext uri="{FF2B5EF4-FFF2-40B4-BE49-F238E27FC236}">
                <a16:creationId xmlns:a16="http://schemas.microsoft.com/office/drawing/2014/main" id="{20A00921-6FFE-433F-8035-4B093322A4D1}"/>
              </a:ext>
            </a:extLst>
          </p:cNvPr>
          <p:cNvSpPr/>
          <p:nvPr/>
        </p:nvSpPr>
        <p:spPr>
          <a:xfrm>
            <a:off x="7972373" y="4273885"/>
            <a:ext cx="2173114" cy="2094736"/>
          </a:xfrm>
          <a:prstGeom prst="mathMultiply">
            <a:avLst>
              <a:gd name="adj1" fmla="val 1280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이등변 삼각형 14">
            <a:extLst>
              <a:ext uri="{FF2B5EF4-FFF2-40B4-BE49-F238E27FC236}">
                <a16:creationId xmlns:a16="http://schemas.microsoft.com/office/drawing/2014/main" id="{4B17A073-63B8-4E39-8D89-ED04F7248702}"/>
              </a:ext>
            </a:extLst>
          </p:cNvPr>
          <p:cNvSpPr/>
          <p:nvPr/>
        </p:nvSpPr>
        <p:spPr>
          <a:xfrm>
            <a:off x="3281945" y="2088569"/>
            <a:ext cx="1654304" cy="1320603"/>
          </a:xfrm>
          <a:prstGeom prst="triangl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이등변 삼각형 15">
            <a:extLst>
              <a:ext uri="{FF2B5EF4-FFF2-40B4-BE49-F238E27FC236}">
                <a16:creationId xmlns:a16="http://schemas.microsoft.com/office/drawing/2014/main" id="{D5BD2F37-0623-4CF1-8237-592E31ED2313}"/>
              </a:ext>
            </a:extLst>
          </p:cNvPr>
          <p:cNvSpPr/>
          <p:nvPr/>
        </p:nvSpPr>
        <p:spPr>
          <a:xfrm>
            <a:off x="3498148" y="2406705"/>
            <a:ext cx="1221898" cy="953824"/>
          </a:xfrm>
          <a:prstGeom prst="triangl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직사각형 12">
            <a:extLst>
              <a:ext uri="{FF2B5EF4-FFF2-40B4-BE49-F238E27FC236}">
                <a16:creationId xmlns:a16="http://schemas.microsoft.com/office/drawing/2014/main" id="{3612AA01-5FCE-02A3-1BF6-A447DBC93EC6}"/>
              </a:ext>
            </a:extLst>
          </p:cNvPr>
          <p:cNvSpPr/>
          <p:nvPr/>
        </p:nvSpPr>
        <p:spPr>
          <a:xfrm>
            <a:off x="7146869" y="1701279"/>
            <a:ext cx="4216219" cy="338554"/>
          </a:xfrm>
          <a:prstGeom prst="rect">
            <a:avLst/>
          </a:prstGeom>
          <a:solidFill>
            <a:schemeClr val="accent2"/>
          </a:solidFill>
        </p:spPr>
        <p:txBody>
          <a:bodyPr wrap="none">
            <a:spAutoFit/>
          </a:bodyPr>
          <a:lstStyle/>
          <a:p>
            <a:r>
              <a:rPr lang="ko-KR" altLang="en-US" sz="1600" dirty="0">
                <a:solidFill>
                  <a:schemeClr val="bg1"/>
                </a:solidFill>
              </a:rPr>
              <a:t>경구 투여용 약제학적 제제</a:t>
            </a:r>
            <a:r>
              <a:rPr lang="en-US" altLang="ko-KR" sz="1600" dirty="0">
                <a:solidFill>
                  <a:schemeClr val="bg1"/>
                </a:solidFill>
              </a:rPr>
              <a:t>(2022</a:t>
            </a:r>
            <a:r>
              <a:rPr lang="ko-KR" altLang="en-US" sz="1600" dirty="0">
                <a:solidFill>
                  <a:schemeClr val="bg1"/>
                </a:solidFill>
              </a:rPr>
              <a:t>후</a:t>
            </a:r>
            <a:r>
              <a:rPr lang="en-US" altLang="ko-KR" sz="1600" dirty="0">
                <a:solidFill>
                  <a:schemeClr val="bg1"/>
                </a:solidFill>
              </a:rPr>
              <a:t>10746): </a:t>
            </a:r>
            <a:r>
              <a:rPr lang="ko-KR" altLang="en-US" sz="1600" dirty="0">
                <a:solidFill>
                  <a:schemeClr val="bg1"/>
                </a:solidFill>
              </a:rPr>
              <a:t>부정</a:t>
            </a:r>
          </a:p>
        </p:txBody>
      </p:sp>
    </p:spTree>
    <p:extLst>
      <p:ext uri="{BB962C8B-B14F-4D97-AF65-F5344CB8AC3E}">
        <p14:creationId xmlns:p14="http://schemas.microsoft.com/office/powerpoint/2010/main" val="1121977733"/>
      </p:ext>
    </p:extLst>
  </p:cSld>
  <p:clrMapOvr>
    <a:masterClrMapping/>
  </p:clrMapOvr>
  <p:transition/>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47CFEA-37AC-DCCB-9584-1502F905C09B}"/>
            </a:ext>
          </a:extLst>
        </p:cNvPr>
        <p:cNvGrpSpPr/>
        <p:nvPr/>
      </p:nvGrpSpPr>
      <p:grpSpPr>
        <a:xfrm>
          <a:off x="0" y="0"/>
          <a:ext cx="0" cy="0"/>
          <a:chOff x="0" y="0"/>
          <a:chExt cx="0" cy="0"/>
        </a:xfrm>
      </p:grpSpPr>
      <p:sp>
        <p:nvSpPr>
          <p:cNvPr id="4" name="제목 3">
            <a:extLst>
              <a:ext uri="{FF2B5EF4-FFF2-40B4-BE49-F238E27FC236}">
                <a16:creationId xmlns:a16="http://schemas.microsoft.com/office/drawing/2014/main" id="{C61C31CA-22F2-27C8-3ECE-29AD608307F0}"/>
              </a:ext>
            </a:extLst>
          </p:cNvPr>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a:extLst>
              <a:ext uri="{FF2B5EF4-FFF2-40B4-BE49-F238E27FC236}">
                <a16:creationId xmlns:a16="http://schemas.microsoft.com/office/drawing/2014/main" id="{95610510-9918-91EB-2296-FE35EFC25DE7}"/>
              </a:ext>
            </a:extLst>
          </p:cNvPr>
          <p:cNvSpPr>
            <a:spLocks noGrp="1"/>
          </p:cNvSpPr>
          <p:nvPr>
            <p:ph type="body" sz="quarter" idx="13"/>
          </p:nvPr>
        </p:nvSpPr>
        <p:spPr/>
        <p:txBody>
          <a:bodyPr>
            <a:normAutofit/>
          </a:bodyPr>
          <a:lstStyle/>
          <a:p>
            <a:r>
              <a:rPr lang="ko-KR" altLang="en-US" sz="2400" dirty="0" err="1"/>
              <a:t>균등론</a:t>
            </a:r>
            <a:r>
              <a:rPr lang="ko-KR" altLang="en-US" sz="2400" dirty="0"/>
              <a:t> 적용 </a:t>
            </a:r>
            <a:r>
              <a:rPr lang="en-US" altLang="ko-KR" sz="2400" dirty="0"/>
              <a:t>CASE: </a:t>
            </a:r>
            <a:r>
              <a:rPr lang="ko-KR" altLang="en-US" sz="1600" dirty="0"/>
              <a:t>세정수단 포함 정수기 사건</a:t>
            </a:r>
            <a:r>
              <a:rPr lang="en-US" altLang="ko-KR" sz="1600" dirty="0"/>
              <a:t>(</a:t>
            </a:r>
            <a:r>
              <a:rPr lang="ko-KR" altLang="en-US" sz="1600" dirty="0"/>
              <a:t>대법원 </a:t>
            </a:r>
            <a:r>
              <a:rPr lang="en-US" altLang="ko-KR" sz="1600" dirty="0"/>
              <a:t>2025. 7. 17. </a:t>
            </a:r>
            <a:r>
              <a:rPr lang="ko-KR" altLang="en-US" sz="1600" dirty="0"/>
              <a:t>선고 </a:t>
            </a:r>
            <a:r>
              <a:rPr lang="en-US" altLang="ko-KR" sz="1600" dirty="0"/>
              <a:t>2023</a:t>
            </a:r>
            <a:r>
              <a:rPr lang="ko-KR" altLang="en-US" sz="1600" dirty="0"/>
              <a:t>후</a:t>
            </a:r>
            <a:r>
              <a:rPr lang="en-US" altLang="ko-KR" sz="1600" dirty="0"/>
              <a:t>11340)</a:t>
            </a:r>
            <a:endParaRPr lang="ko-KR" altLang="en-US" sz="1600" dirty="0"/>
          </a:p>
        </p:txBody>
      </p:sp>
      <p:sp>
        <p:nvSpPr>
          <p:cNvPr id="2" name="슬라이드 번호 개체 틀 1">
            <a:extLst>
              <a:ext uri="{FF2B5EF4-FFF2-40B4-BE49-F238E27FC236}">
                <a16:creationId xmlns:a16="http://schemas.microsoft.com/office/drawing/2014/main" id="{C1A49E15-770A-A724-A533-6E3F736BA483}"/>
              </a:ext>
            </a:extLst>
          </p:cNvPr>
          <p:cNvSpPr>
            <a:spLocks noGrp="1"/>
          </p:cNvSpPr>
          <p:nvPr>
            <p:ph type="sldNum" sz="quarter" idx="4294967295"/>
          </p:nvPr>
        </p:nvSpPr>
        <p:spPr>
          <a:xfrm>
            <a:off x="11125200" y="0"/>
            <a:ext cx="1066800" cy="744538"/>
          </a:xfrm>
        </p:spPr>
        <p:txBody>
          <a:bodyPr/>
          <a:lstStyle/>
          <a:p>
            <a:r>
              <a:rPr lang="en-US" altLang="ko-KR"/>
              <a:t>340</a:t>
            </a:r>
            <a:endParaRPr lang="ko-KR" altLang="en-US"/>
          </a:p>
        </p:txBody>
      </p:sp>
      <p:sp>
        <p:nvSpPr>
          <p:cNvPr id="16" name="직사각형 15">
            <a:extLst>
              <a:ext uri="{FF2B5EF4-FFF2-40B4-BE49-F238E27FC236}">
                <a16:creationId xmlns:a16="http://schemas.microsoft.com/office/drawing/2014/main" id="{AE7AF4A8-189C-4902-DEFA-2E02E077DCC1}"/>
              </a:ext>
            </a:extLst>
          </p:cNvPr>
          <p:cNvSpPr/>
          <p:nvPr/>
        </p:nvSpPr>
        <p:spPr>
          <a:xfrm>
            <a:off x="72320" y="1328496"/>
            <a:ext cx="6535452" cy="5435847"/>
          </a:xfrm>
          <a:prstGeom prst="rect">
            <a:avLst/>
          </a:prstGeom>
        </p:spPr>
        <p:txBody>
          <a:bodyPr wrap="square">
            <a:spAutoFit/>
          </a:bodyPr>
          <a:lstStyle/>
          <a:p>
            <a:pPr marL="179388" indent="-179388" fontAlgn="base">
              <a:lnSpc>
                <a:spcPct val="120000"/>
              </a:lnSpc>
            </a:pPr>
            <a:r>
              <a:rPr lang="en-US" altLang="ko-KR" sz="1000" dirty="0"/>
              <a:t>1)  </a:t>
            </a:r>
            <a:r>
              <a:rPr lang="ko-KR" altLang="en-US" sz="1000" dirty="0"/>
              <a:t>원고</a:t>
            </a:r>
            <a:r>
              <a:rPr lang="en-US" altLang="ko-KR" sz="1000" b="1" dirty="0">
                <a:solidFill>
                  <a:schemeClr val="accent1"/>
                </a:solidFill>
              </a:rPr>
              <a:t>(</a:t>
            </a:r>
            <a:r>
              <a:rPr lang="ko-KR" altLang="en-US" sz="1000" b="1" dirty="0">
                <a:solidFill>
                  <a:schemeClr val="accent1"/>
                </a:solidFill>
              </a:rPr>
              <a:t>청</a:t>
            </a:r>
            <a:r>
              <a:rPr lang="en-US" altLang="ko-KR" sz="1000" b="1" dirty="0">
                <a:solidFill>
                  <a:schemeClr val="accent1"/>
                </a:solidFill>
              </a:rPr>
              <a:t>O</a:t>
            </a:r>
            <a:r>
              <a:rPr lang="ko-KR" altLang="en-US" sz="1000" b="1" dirty="0" err="1">
                <a:solidFill>
                  <a:schemeClr val="accent1"/>
                </a:solidFill>
              </a:rPr>
              <a:t>나이스</a:t>
            </a:r>
            <a:r>
              <a:rPr lang="en-US" altLang="ko-KR" sz="1000" b="1" dirty="0">
                <a:solidFill>
                  <a:schemeClr val="accent1"/>
                </a:solidFill>
              </a:rPr>
              <a:t>)</a:t>
            </a:r>
            <a:r>
              <a:rPr lang="ko-KR" altLang="en-US" sz="1000" dirty="0"/>
              <a:t>의 이 사건 특허발명의 명칭은 </a:t>
            </a:r>
            <a:r>
              <a:rPr lang="ko-KR" altLang="en-US" sz="1000" dirty="0">
                <a:solidFill>
                  <a:srgbClr val="FF0000"/>
                </a:solidFill>
              </a:rPr>
              <a:t>‘자가세정 가능한 </a:t>
            </a:r>
            <a:r>
              <a:rPr lang="ko-KR" altLang="en-US" sz="1000" dirty="0" err="1">
                <a:solidFill>
                  <a:srgbClr val="FF0000"/>
                </a:solidFill>
              </a:rPr>
              <a:t>정수기’</a:t>
            </a:r>
            <a:r>
              <a:rPr lang="ko-KR" altLang="en-US" sz="1000" dirty="0" err="1"/>
              <a:t>이다</a:t>
            </a:r>
            <a:r>
              <a:rPr lang="en-US" altLang="ko-KR" sz="1000" dirty="0"/>
              <a:t>. </a:t>
            </a:r>
            <a:r>
              <a:rPr lang="ko-KR" altLang="en-US" sz="1000" dirty="0"/>
              <a:t>이 사건 특허발명의 </a:t>
            </a:r>
            <a:r>
              <a:rPr lang="ko-KR" altLang="en-US" sz="1000" dirty="0" err="1"/>
              <a:t>출원인인</a:t>
            </a:r>
            <a:r>
              <a:rPr lang="ko-KR" altLang="en-US" sz="1000" dirty="0"/>
              <a:t> 원고는</a:t>
            </a:r>
            <a:r>
              <a:rPr lang="en-US" altLang="ko-KR" sz="1000" dirty="0"/>
              <a:t>, </a:t>
            </a:r>
            <a:r>
              <a:rPr lang="ko-KR" altLang="en-US" sz="1000" dirty="0"/>
              <a:t>자신이 </a:t>
            </a:r>
            <a:r>
              <a:rPr lang="ko-KR" altLang="en-US" sz="1000" dirty="0" err="1"/>
              <a:t>원출원한</a:t>
            </a:r>
            <a:r>
              <a:rPr lang="ko-KR" altLang="en-US" sz="1000" dirty="0"/>
              <a:t> 발명</a:t>
            </a:r>
            <a:r>
              <a:rPr lang="en-US" altLang="ko-KR" sz="1000" dirty="0"/>
              <a:t>[</a:t>
            </a:r>
            <a:r>
              <a:rPr lang="ko-KR" altLang="en-US" sz="1000" dirty="0"/>
              <a:t>출원일 </a:t>
            </a:r>
            <a:r>
              <a:rPr lang="en-US" altLang="ko-KR" sz="1000" dirty="0"/>
              <a:t>2009. 2. 3., (</a:t>
            </a:r>
            <a:r>
              <a:rPr lang="ko-KR" altLang="en-US" sz="1000" dirty="0"/>
              <a:t>출원번호 </a:t>
            </a:r>
            <a:r>
              <a:rPr lang="en-US" altLang="ko-KR" sz="1000" dirty="0"/>
              <a:t>1 </a:t>
            </a:r>
            <a:r>
              <a:rPr lang="ko-KR" altLang="en-US" sz="1000" dirty="0"/>
              <a:t>생략</a:t>
            </a:r>
            <a:r>
              <a:rPr lang="en-US" altLang="ko-KR" sz="1000" dirty="0"/>
              <a:t>], </a:t>
            </a:r>
            <a:r>
              <a:rPr lang="ko-KR" altLang="en-US" sz="1000" dirty="0"/>
              <a:t>이하 ‘</a:t>
            </a:r>
            <a:r>
              <a:rPr lang="ko-KR" altLang="en-US" sz="1000" dirty="0" err="1"/>
              <a:t>원출원</a:t>
            </a:r>
            <a:r>
              <a:rPr lang="ko-KR" altLang="en-US" sz="1000" dirty="0"/>
              <a:t> </a:t>
            </a:r>
            <a:r>
              <a:rPr lang="ko-KR" altLang="en-US" sz="1000" dirty="0" err="1"/>
              <a:t>발명’이라</a:t>
            </a:r>
            <a:r>
              <a:rPr lang="ko-KR" altLang="en-US" sz="1000" dirty="0"/>
              <a:t> 한다</a:t>
            </a:r>
            <a:r>
              <a:rPr lang="en-US" altLang="ko-KR" sz="1000" dirty="0"/>
              <a:t>]</a:t>
            </a:r>
            <a:r>
              <a:rPr lang="ko-KR" altLang="en-US" sz="1000" dirty="0"/>
              <a:t>의 출원서에 최초로 첨부된 명세서 또는 도면에 기재된 사항의 범위에서 그 일부를 분할출원하고</a:t>
            </a:r>
            <a:r>
              <a:rPr lang="en-US" altLang="ko-KR" sz="1000" dirty="0"/>
              <a:t>[</a:t>
            </a:r>
            <a:r>
              <a:rPr lang="ko-KR" altLang="en-US" sz="1000" dirty="0"/>
              <a:t>출원일 </a:t>
            </a:r>
            <a:r>
              <a:rPr lang="en-US" altLang="ko-KR" sz="1000" dirty="0"/>
              <a:t>2010. 10. 28., (</a:t>
            </a:r>
            <a:r>
              <a:rPr lang="ko-KR" altLang="en-US" sz="1000" dirty="0"/>
              <a:t>출원번호 </a:t>
            </a:r>
            <a:r>
              <a:rPr lang="en-US" altLang="ko-KR" sz="1000" dirty="0"/>
              <a:t>2 </a:t>
            </a:r>
            <a:r>
              <a:rPr lang="ko-KR" altLang="en-US" sz="1000" dirty="0"/>
              <a:t>생략</a:t>
            </a:r>
            <a:r>
              <a:rPr lang="en-US" altLang="ko-KR" sz="1000" dirty="0"/>
              <a:t>), </a:t>
            </a:r>
            <a:r>
              <a:rPr lang="ko-KR" altLang="en-US" sz="1000" dirty="0"/>
              <a:t>이하 ‘</a:t>
            </a:r>
            <a:r>
              <a:rPr lang="en-US" altLang="ko-KR" sz="1000" dirty="0"/>
              <a:t>1</a:t>
            </a:r>
            <a:r>
              <a:rPr lang="ko-KR" altLang="en-US" sz="1000" dirty="0"/>
              <a:t>세대 분할출원 </a:t>
            </a:r>
            <a:r>
              <a:rPr lang="ko-KR" altLang="en-US" sz="1000" dirty="0" err="1"/>
              <a:t>발명’이라</a:t>
            </a:r>
            <a:r>
              <a:rPr lang="ko-KR" altLang="en-US" sz="1000" dirty="0"/>
              <a:t> 한다</a:t>
            </a:r>
            <a:r>
              <a:rPr lang="en-US" altLang="ko-KR" sz="1000" dirty="0"/>
              <a:t>], </a:t>
            </a:r>
            <a:r>
              <a:rPr lang="en-US" altLang="ko-KR" sz="1000" dirty="0">
                <a:solidFill>
                  <a:srgbClr val="FF0000"/>
                </a:solidFill>
              </a:rPr>
              <a:t>1</a:t>
            </a:r>
            <a:r>
              <a:rPr lang="ko-KR" altLang="en-US" sz="1000" dirty="0">
                <a:solidFill>
                  <a:srgbClr val="FF0000"/>
                </a:solidFill>
              </a:rPr>
              <a:t>세대 분할출원 발명의 출원서에 최초로 첨부된 명세서 또는 도면에 기재된 사항의 범위에서 그 일부를 다시 </a:t>
            </a:r>
            <a:r>
              <a:rPr lang="ko-KR" altLang="en-US" sz="1000" dirty="0" err="1">
                <a:solidFill>
                  <a:srgbClr val="FF0000"/>
                </a:solidFill>
              </a:rPr>
              <a:t>분할출원하여</a:t>
            </a:r>
            <a:r>
              <a:rPr lang="en-US" altLang="ko-KR" sz="1000" dirty="0">
                <a:solidFill>
                  <a:srgbClr val="FF0000"/>
                </a:solidFill>
              </a:rPr>
              <a:t>[</a:t>
            </a:r>
            <a:r>
              <a:rPr lang="ko-KR" altLang="en-US" sz="1000" dirty="0">
                <a:solidFill>
                  <a:srgbClr val="FF0000"/>
                </a:solidFill>
              </a:rPr>
              <a:t>출원일 </a:t>
            </a:r>
            <a:r>
              <a:rPr lang="en-US" altLang="ko-KR" sz="1000" dirty="0">
                <a:solidFill>
                  <a:srgbClr val="FF0000"/>
                </a:solidFill>
              </a:rPr>
              <a:t>2011. 4. 4., (</a:t>
            </a:r>
            <a:r>
              <a:rPr lang="ko-KR" altLang="en-US" sz="1000" dirty="0">
                <a:solidFill>
                  <a:srgbClr val="FF0000"/>
                </a:solidFill>
              </a:rPr>
              <a:t>출원번호 </a:t>
            </a:r>
            <a:r>
              <a:rPr lang="en-US" altLang="ko-KR" sz="1000" dirty="0">
                <a:solidFill>
                  <a:srgbClr val="FF0000"/>
                </a:solidFill>
              </a:rPr>
              <a:t>3 </a:t>
            </a:r>
            <a:r>
              <a:rPr lang="ko-KR" altLang="en-US" sz="1000" dirty="0">
                <a:solidFill>
                  <a:srgbClr val="FF0000"/>
                </a:solidFill>
              </a:rPr>
              <a:t>생략</a:t>
            </a:r>
            <a:r>
              <a:rPr lang="en-US" altLang="ko-KR" sz="1000" dirty="0">
                <a:solidFill>
                  <a:srgbClr val="FF0000"/>
                </a:solidFill>
              </a:rPr>
              <a:t>)], </a:t>
            </a:r>
            <a:r>
              <a:rPr lang="ko-KR" altLang="en-US" sz="1000" dirty="0">
                <a:solidFill>
                  <a:srgbClr val="FF0000"/>
                </a:solidFill>
              </a:rPr>
              <a:t>이 사건 특허발명으로 특허등록을 받았다</a:t>
            </a:r>
            <a:r>
              <a:rPr lang="en-US" altLang="ko-KR" sz="1000" dirty="0">
                <a:solidFill>
                  <a:srgbClr val="FF0000"/>
                </a:solidFill>
              </a:rPr>
              <a:t>.</a:t>
            </a:r>
            <a:endParaRPr lang="ko-KR" altLang="en-US" sz="1000" dirty="0">
              <a:solidFill>
                <a:srgbClr val="FF0000"/>
              </a:solidFill>
            </a:endParaRPr>
          </a:p>
          <a:p>
            <a:pPr marL="179388" indent="-179388" fontAlgn="base">
              <a:lnSpc>
                <a:spcPct val="120000"/>
              </a:lnSpc>
            </a:pPr>
            <a:r>
              <a:rPr lang="en-US" altLang="ko-KR" sz="1000" dirty="0"/>
              <a:t>2)  </a:t>
            </a:r>
            <a:r>
              <a:rPr lang="ko-KR" altLang="en-US" sz="1000" dirty="0"/>
              <a:t>이 사건 특허발명의 청구범위 제</a:t>
            </a:r>
            <a:r>
              <a:rPr lang="en-US" altLang="ko-KR" sz="1000" dirty="0"/>
              <a:t>1</a:t>
            </a:r>
            <a:r>
              <a:rPr lang="ko-KR" altLang="en-US" sz="1000" dirty="0"/>
              <a:t>항에는 ‘여과부에서 여과된 물을 이용하여 저장탱크를 세정할 수 있도록 저장탱크에 연결되며</a:t>
            </a:r>
            <a:r>
              <a:rPr lang="en-US" altLang="ko-KR" sz="1000" dirty="0"/>
              <a:t>, </a:t>
            </a:r>
            <a:r>
              <a:rPr lang="ko-KR" altLang="en-US" sz="1000" dirty="0">
                <a:solidFill>
                  <a:srgbClr val="FF0000"/>
                </a:solidFill>
              </a:rPr>
              <a:t>세정수단</a:t>
            </a:r>
            <a:r>
              <a:rPr lang="ko-KR" altLang="en-US" sz="1000" dirty="0"/>
              <a:t>을 구비하는 </a:t>
            </a:r>
            <a:r>
              <a:rPr lang="ko-KR" altLang="en-US" sz="1000" dirty="0" err="1"/>
              <a:t>세정부’라는</a:t>
            </a:r>
            <a:r>
              <a:rPr lang="ko-KR" altLang="en-US" sz="1000" dirty="0"/>
              <a:t> 사항이 적혀 있다</a:t>
            </a:r>
            <a:r>
              <a:rPr lang="en-US" altLang="ko-KR" sz="1000" dirty="0"/>
              <a:t>(</a:t>
            </a:r>
            <a:r>
              <a:rPr lang="ko-KR" altLang="en-US" sz="1000" dirty="0"/>
              <a:t>구성요소 </a:t>
            </a:r>
            <a:r>
              <a:rPr lang="en-US" altLang="ko-KR" sz="1000" dirty="0"/>
              <a:t>3). </a:t>
            </a:r>
            <a:r>
              <a:rPr lang="ko-KR" altLang="en-US" sz="1000" dirty="0"/>
              <a:t>그 청구범위에 ‘</a:t>
            </a:r>
            <a:r>
              <a:rPr lang="ko-KR" altLang="en-US" sz="1000" dirty="0" err="1"/>
              <a:t>세정수단’의</a:t>
            </a:r>
            <a:r>
              <a:rPr lang="ko-KR" altLang="en-US" sz="1000" dirty="0"/>
              <a:t> 구체적인 기술적 구성은 적혀 있지 않다</a:t>
            </a:r>
            <a:r>
              <a:rPr lang="en-US" altLang="ko-KR" sz="1000" dirty="0"/>
              <a:t>.</a:t>
            </a:r>
            <a:endParaRPr lang="ko-KR" altLang="en-US" sz="1000" dirty="0"/>
          </a:p>
          <a:p>
            <a:pPr marL="179388" indent="-179388" fontAlgn="base">
              <a:lnSpc>
                <a:spcPct val="120000"/>
              </a:lnSpc>
            </a:pPr>
            <a:r>
              <a:rPr lang="en-US" altLang="ko-KR" sz="1000" dirty="0"/>
              <a:t>3)  </a:t>
            </a:r>
            <a:r>
              <a:rPr lang="ko-KR" altLang="en-US" sz="1000" dirty="0"/>
              <a:t>이 사건 특허발명 명세서의 발명에 관한 </a:t>
            </a:r>
            <a:r>
              <a:rPr lang="ko-KR" altLang="en-US" sz="1000" dirty="0">
                <a:solidFill>
                  <a:srgbClr val="FF0000"/>
                </a:solidFill>
              </a:rPr>
              <a:t>설명에는 ‘세정수단은 세정물질 또는 살균물질을 희석시켜 저장탱크에 공급할 수 있다</a:t>
            </a:r>
            <a:r>
              <a:rPr lang="en-US" altLang="ko-KR" sz="1000" dirty="0">
                <a:solidFill>
                  <a:srgbClr val="FF0000"/>
                </a:solidFill>
              </a:rPr>
              <a:t>. </a:t>
            </a:r>
            <a:r>
              <a:rPr lang="ko-KR" altLang="en-US" sz="1000" dirty="0">
                <a:solidFill>
                  <a:srgbClr val="FF0000"/>
                </a:solidFill>
              </a:rPr>
              <a:t>세정수단에 유입된</a:t>
            </a:r>
            <a:r>
              <a:rPr lang="en-US" altLang="ko-KR" sz="1000" dirty="0">
                <a:solidFill>
                  <a:srgbClr val="FF0000"/>
                </a:solidFill>
              </a:rPr>
              <a:t>, </a:t>
            </a:r>
            <a:r>
              <a:rPr lang="ko-KR" altLang="en-US" sz="1000" dirty="0">
                <a:solidFill>
                  <a:srgbClr val="FF0000"/>
                </a:solidFill>
              </a:rPr>
              <a:t>여과부에서 여과되는 물에</a:t>
            </a:r>
            <a:r>
              <a:rPr lang="en-US" altLang="ko-KR" sz="1000" dirty="0">
                <a:solidFill>
                  <a:srgbClr val="FF0000"/>
                </a:solidFill>
              </a:rPr>
              <a:t>, </a:t>
            </a:r>
            <a:r>
              <a:rPr lang="ko-KR" altLang="en-US" sz="1000" dirty="0">
                <a:solidFill>
                  <a:srgbClr val="FF0000"/>
                </a:solidFill>
              </a:rPr>
              <a:t>세정수단에 포함된 </a:t>
            </a:r>
            <a:r>
              <a:rPr lang="ko-KR" altLang="en-US" sz="1000" dirty="0">
                <a:solidFill>
                  <a:srgbClr val="FF0000"/>
                </a:solidFill>
                <a:highlight>
                  <a:srgbClr val="FFFF00"/>
                </a:highlight>
              </a:rPr>
              <a:t>세정물질 또는 살균물질</a:t>
            </a:r>
            <a:r>
              <a:rPr lang="ko-KR" altLang="en-US" sz="1000" dirty="0">
                <a:solidFill>
                  <a:srgbClr val="FF0000"/>
                </a:solidFill>
              </a:rPr>
              <a:t>이 희석된다</a:t>
            </a:r>
            <a:r>
              <a:rPr lang="en-US" altLang="ko-KR" sz="1000" dirty="0">
                <a:solidFill>
                  <a:srgbClr val="FF0000"/>
                </a:solidFill>
              </a:rPr>
              <a:t>. </a:t>
            </a:r>
            <a:r>
              <a:rPr lang="ko-KR" altLang="en-US" sz="1000" dirty="0">
                <a:solidFill>
                  <a:srgbClr val="FF0000"/>
                </a:solidFill>
              </a:rPr>
              <a:t>세정물질 또는 살균물질이 희석된 여과된 물이</a:t>
            </a:r>
            <a:r>
              <a:rPr lang="en-US" altLang="ko-KR" sz="1000" dirty="0">
                <a:solidFill>
                  <a:srgbClr val="FF0000"/>
                </a:solidFill>
              </a:rPr>
              <a:t>, </a:t>
            </a:r>
            <a:r>
              <a:rPr lang="ko-KR" altLang="en-US" sz="1000" dirty="0">
                <a:solidFill>
                  <a:srgbClr val="FF0000"/>
                </a:solidFill>
              </a:rPr>
              <a:t>저장탱크에 공급되면서</a:t>
            </a:r>
            <a:r>
              <a:rPr lang="en-US" altLang="ko-KR" sz="1000" dirty="0">
                <a:solidFill>
                  <a:srgbClr val="FF0000"/>
                </a:solidFill>
              </a:rPr>
              <a:t>, </a:t>
            </a:r>
            <a:r>
              <a:rPr lang="ko-KR" altLang="en-US" sz="1000" dirty="0">
                <a:solidFill>
                  <a:srgbClr val="FF0000"/>
                </a:solidFill>
              </a:rPr>
              <a:t>저장탱크가 세정 또는 살균된다</a:t>
            </a:r>
            <a:r>
              <a:rPr lang="en-US" altLang="ko-KR" sz="1000" dirty="0">
                <a:solidFill>
                  <a:srgbClr val="FF0000"/>
                </a:solidFill>
              </a:rPr>
              <a:t>.</a:t>
            </a:r>
            <a:r>
              <a:rPr lang="ko-KR" altLang="en-US" sz="1000" dirty="0"/>
              <a:t>는 내용이 있다</a:t>
            </a:r>
            <a:r>
              <a:rPr lang="en-US" altLang="ko-KR" sz="1000" dirty="0"/>
              <a:t>.</a:t>
            </a:r>
            <a:endParaRPr lang="ko-KR" altLang="en-US" sz="1000" dirty="0"/>
          </a:p>
          <a:p>
            <a:pPr marL="179388" indent="-179388" fontAlgn="base">
              <a:lnSpc>
                <a:spcPct val="120000"/>
              </a:lnSpc>
            </a:pPr>
            <a:r>
              <a:rPr lang="en-US" altLang="ko-KR" sz="1000" dirty="0"/>
              <a:t>4)  </a:t>
            </a:r>
            <a:r>
              <a:rPr lang="ko-KR" altLang="en-US" sz="1000" dirty="0"/>
              <a:t>한편 원고는 </a:t>
            </a:r>
            <a:r>
              <a:rPr lang="ko-KR" altLang="en-US" sz="1000" dirty="0" err="1"/>
              <a:t>원출원</a:t>
            </a:r>
            <a:r>
              <a:rPr lang="ko-KR" altLang="en-US" sz="1000" dirty="0"/>
              <a:t> 발명의 출원 과정에서 </a:t>
            </a:r>
            <a:r>
              <a:rPr lang="en-US" altLang="ko-KR" sz="1000" dirty="0"/>
              <a:t>2011. 1. 5. </a:t>
            </a:r>
            <a:r>
              <a:rPr lang="ko-KR" altLang="en-US" sz="1000" dirty="0"/>
              <a:t>지식재산처 심사관으로부터 ‘</a:t>
            </a:r>
            <a:r>
              <a:rPr lang="ko-KR" altLang="en-US" sz="1000" dirty="0" err="1"/>
              <a:t>원출원</a:t>
            </a:r>
            <a:r>
              <a:rPr lang="ko-KR" altLang="en-US" sz="1000" dirty="0"/>
              <a:t> 발명의 청구범위 제</a:t>
            </a:r>
            <a:r>
              <a:rPr lang="en-US" altLang="ko-KR" sz="1000" dirty="0"/>
              <a:t>1</a:t>
            </a:r>
            <a:r>
              <a:rPr lang="ko-KR" altLang="en-US" sz="1000" dirty="0"/>
              <a:t>항은 선행기술 문헌에 기재된 정수기 및 정수기 저수조 세척방법</a:t>
            </a:r>
            <a:r>
              <a:rPr lang="en-US" altLang="ko-KR" sz="1000" dirty="0"/>
              <a:t>(</a:t>
            </a:r>
            <a:r>
              <a:rPr lang="ko-KR" altLang="en-US" sz="1000" dirty="0"/>
              <a:t>이하 ‘비교대상 </a:t>
            </a:r>
            <a:r>
              <a:rPr lang="ko-KR" altLang="en-US" sz="1000" dirty="0" err="1"/>
              <a:t>발명’이라</a:t>
            </a:r>
            <a:r>
              <a:rPr lang="ko-KR" altLang="en-US" sz="1000" dirty="0"/>
              <a:t> 한다</a:t>
            </a:r>
            <a:r>
              <a:rPr lang="en-US" altLang="ko-KR" sz="1000" dirty="0"/>
              <a:t>)</a:t>
            </a:r>
            <a:r>
              <a:rPr lang="ko-KR" altLang="en-US" sz="1000" dirty="0"/>
              <a:t>과 실질적으로 동일하다</a:t>
            </a:r>
            <a:r>
              <a:rPr lang="en-US" altLang="ko-KR" sz="1000" dirty="0"/>
              <a:t>. </a:t>
            </a:r>
            <a:r>
              <a:rPr lang="ko-KR" altLang="en-US" sz="1000" dirty="0" err="1"/>
              <a:t>원출원</a:t>
            </a:r>
            <a:r>
              <a:rPr lang="ko-KR" altLang="en-US" sz="1000" dirty="0"/>
              <a:t> 제</a:t>
            </a:r>
            <a:r>
              <a:rPr lang="en-US" altLang="ko-KR" sz="1000" dirty="0"/>
              <a:t>2</a:t>
            </a:r>
            <a:r>
              <a:rPr lang="ko-KR" altLang="en-US" sz="1000" dirty="0"/>
              <a:t>항부터 제</a:t>
            </a:r>
            <a:r>
              <a:rPr lang="en-US" altLang="ko-KR" sz="1000" dirty="0"/>
              <a:t>21</a:t>
            </a:r>
            <a:r>
              <a:rPr lang="ko-KR" altLang="en-US" sz="1000" dirty="0"/>
              <a:t>항의 발명도 마찬가지이다</a:t>
            </a:r>
            <a:r>
              <a:rPr lang="en-US" altLang="ko-KR" sz="1000" dirty="0"/>
              <a:t>. </a:t>
            </a:r>
            <a:r>
              <a:rPr lang="ko-KR" altLang="en-US" sz="1000" dirty="0" err="1"/>
              <a:t>원출원</a:t>
            </a:r>
            <a:r>
              <a:rPr lang="ko-KR" altLang="en-US" sz="1000" dirty="0"/>
              <a:t> 발명은 특허를 받을 수 없다</a:t>
            </a:r>
            <a:r>
              <a:rPr lang="en-US" altLang="ko-KR" sz="1000" dirty="0"/>
              <a:t>.’</a:t>
            </a:r>
            <a:r>
              <a:rPr lang="ko-KR" altLang="en-US" sz="1000" dirty="0"/>
              <a:t>는 거절이유를 </a:t>
            </a:r>
            <a:r>
              <a:rPr lang="ko-KR" altLang="en-US" sz="1000" dirty="0" err="1"/>
              <a:t>통지받았다</a:t>
            </a:r>
            <a:r>
              <a:rPr lang="en-US" altLang="ko-KR" sz="1000" dirty="0"/>
              <a:t>.</a:t>
            </a:r>
            <a:endParaRPr lang="ko-KR" altLang="en-US" sz="1000" dirty="0"/>
          </a:p>
          <a:p>
            <a:pPr marL="179388" indent="-179388" fontAlgn="base">
              <a:lnSpc>
                <a:spcPct val="120000"/>
              </a:lnSpc>
            </a:pPr>
            <a:r>
              <a:rPr lang="en-US" altLang="ko-KR" sz="1000" dirty="0"/>
              <a:t>5)  </a:t>
            </a:r>
            <a:r>
              <a:rPr lang="ko-KR" altLang="en-US" sz="1000" dirty="0"/>
              <a:t>그러자 원고는 </a:t>
            </a:r>
            <a:r>
              <a:rPr lang="en-US" altLang="ko-KR" sz="1000" dirty="0"/>
              <a:t>2011. 3. 7. </a:t>
            </a:r>
            <a:r>
              <a:rPr lang="ko-KR" altLang="en-US" sz="1000" dirty="0"/>
              <a:t>지식재산처 심사관에게 </a:t>
            </a:r>
            <a:r>
              <a:rPr lang="ko-KR" altLang="en-US" sz="1000" dirty="0">
                <a:solidFill>
                  <a:srgbClr val="FF0000"/>
                </a:solidFill>
              </a:rPr>
              <a:t>‘</a:t>
            </a:r>
            <a:r>
              <a:rPr lang="ko-KR" altLang="en-US" sz="1000" dirty="0" err="1">
                <a:solidFill>
                  <a:srgbClr val="FF0000"/>
                </a:solidFill>
              </a:rPr>
              <a:t>원출원</a:t>
            </a:r>
            <a:r>
              <a:rPr lang="ko-KR" altLang="en-US" sz="1000" dirty="0">
                <a:solidFill>
                  <a:srgbClr val="FF0000"/>
                </a:solidFill>
              </a:rPr>
              <a:t> 제</a:t>
            </a:r>
            <a:r>
              <a:rPr lang="en-US" altLang="ko-KR" sz="1000" dirty="0">
                <a:solidFill>
                  <a:srgbClr val="FF0000"/>
                </a:solidFill>
              </a:rPr>
              <a:t>1</a:t>
            </a:r>
            <a:r>
              <a:rPr lang="ko-KR" altLang="en-US" sz="1000" dirty="0">
                <a:solidFill>
                  <a:srgbClr val="FF0000"/>
                </a:solidFill>
              </a:rPr>
              <a:t>항 발명의 세정수단은 그 내부에 </a:t>
            </a:r>
            <a:r>
              <a:rPr lang="ko-KR" altLang="en-US" sz="1000" dirty="0">
                <a:solidFill>
                  <a:srgbClr val="FF0000"/>
                </a:solidFill>
                <a:highlight>
                  <a:srgbClr val="FFFF00"/>
                </a:highlight>
              </a:rPr>
              <a:t>세정물질 또는 살균물질을 </a:t>
            </a:r>
            <a:r>
              <a:rPr lang="ko-KR" altLang="en-US" sz="1000" dirty="0">
                <a:solidFill>
                  <a:srgbClr val="FF0000"/>
                </a:solidFill>
              </a:rPr>
              <a:t>포함하고 있어</a:t>
            </a:r>
            <a:r>
              <a:rPr lang="en-US" altLang="ko-KR" sz="1000" dirty="0">
                <a:solidFill>
                  <a:srgbClr val="FF0000"/>
                </a:solidFill>
              </a:rPr>
              <a:t>, </a:t>
            </a:r>
            <a:r>
              <a:rPr lang="ko-KR" altLang="en-US" sz="1000" dirty="0">
                <a:solidFill>
                  <a:srgbClr val="FF0000"/>
                </a:solidFill>
              </a:rPr>
              <a:t>세정</a:t>
            </a:r>
            <a:r>
              <a:rPr lang="en-US" altLang="ko-KR" sz="1000" dirty="0">
                <a:solidFill>
                  <a:srgbClr val="FF0000"/>
                </a:solidFill>
              </a:rPr>
              <a:t>․</a:t>
            </a:r>
            <a:r>
              <a:rPr lang="ko-KR" altLang="en-US" sz="1000" dirty="0">
                <a:solidFill>
                  <a:srgbClr val="FF0000"/>
                </a:solidFill>
              </a:rPr>
              <a:t>살균을 위한 시간이 극히 짧고 별도의 전력이 소모되지 않는다</a:t>
            </a:r>
            <a:r>
              <a:rPr lang="en-US" altLang="ko-KR" sz="1000" dirty="0">
                <a:solidFill>
                  <a:srgbClr val="FF0000"/>
                </a:solidFill>
              </a:rPr>
              <a:t>. </a:t>
            </a:r>
            <a:r>
              <a:rPr lang="ko-KR" altLang="en-US" sz="1000" dirty="0">
                <a:solidFill>
                  <a:srgbClr val="FF0000"/>
                </a:solidFill>
              </a:rPr>
              <a:t>반면 비교대상 발명은 살균물질을 미리 포함하지 않아</a:t>
            </a:r>
            <a:r>
              <a:rPr lang="en-US" altLang="ko-KR" sz="1000" dirty="0">
                <a:solidFill>
                  <a:srgbClr val="FF0000"/>
                </a:solidFill>
              </a:rPr>
              <a:t>, </a:t>
            </a:r>
            <a:r>
              <a:rPr lang="ko-KR" altLang="en-US" sz="1000" dirty="0">
                <a:solidFill>
                  <a:srgbClr val="FF0000"/>
                </a:solidFill>
                <a:highlight>
                  <a:srgbClr val="FFFF00"/>
                </a:highlight>
              </a:rPr>
              <a:t>세척을 위해서는 전기분해에 의하여 살균물질을 새롭게 생성</a:t>
            </a:r>
            <a:r>
              <a:rPr lang="ko-KR" altLang="en-US" sz="1000" dirty="0">
                <a:solidFill>
                  <a:srgbClr val="FF0000"/>
                </a:solidFill>
              </a:rPr>
              <a:t>해야 하는데</a:t>
            </a:r>
            <a:r>
              <a:rPr lang="en-US" altLang="ko-KR" sz="1000" dirty="0">
                <a:solidFill>
                  <a:srgbClr val="FF0000"/>
                </a:solidFill>
              </a:rPr>
              <a:t>, </a:t>
            </a:r>
            <a:r>
              <a:rPr lang="ko-KR" altLang="en-US" sz="1000" dirty="0">
                <a:solidFill>
                  <a:srgbClr val="FF0000"/>
                </a:solidFill>
              </a:rPr>
              <a:t>전기분해에 많은 시간이 소요되고 전력도 소모된다</a:t>
            </a:r>
            <a:r>
              <a:rPr lang="en-US" altLang="ko-KR" sz="1000" dirty="0">
                <a:solidFill>
                  <a:srgbClr val="FF0000"/>
                </a:solidFill>
              </a:rPr>
              <a:t>.</a:t>
            </a:r>
            <a:r>
              <a:rPr lang="ko-KR" altLang="en-US" sz="1000" dirty="0">
                <a:solidFill>
                  <a:srgbClr val="FF0000"/>
                </a:solidFill>
              </a:rPr>
              <a:t> </a:t>
            </a:r>
            <a:r>
              <a:rPr lang="ko-KR" altLang="en-US" sz="1000" dirty="0"/>
              <a:t>이처럼 </a:t>
            </a:r>
            <a:r>
              <a:rPr lang="ko-KR" altLang="en-US" sz="1000" dirty="0" err="1"/>
              <a:t>원출원</a:t>
            </a:r>
            <a:r>
              <a:rPr lang="ko-KR" altLang="en-US" sz="1000" dirty="0"/>
              <a:t> 제</a:t>
            </a:r>
            <a:r>
              <a:rPr lang="en-US" altLang="ko-KR" sz="1000" dirty="0"/>
              <a:t>1</a:t>
            </a:r>
            <a:r>
              <a:rPr lang="ko-KR" altLang="en-US" sz="1000" dirty="0"/>
              <a:t>항 발명과 비교대상 발명은 구성과 효과에 차이가 있어</a:t>
            </a:r>
            <a:r>
              <a:rPr lang="en-US" altLang="ko-KR" sz="1000" dirty="0"/>
              <a:t>, </a:t>
            </a:r>
            <a:r>
              <a:rPr lang="ko-KR" altLang="en-US" sz="1000" dirty="0"/>
              <a:t>실질적으로 동일하지 않다</a:t>
            </a:r>
            <a:r>
              <a:rPr lang="en-US" altLang="ko-KR" sz="1000" dirty="0"/>
              <a:t>.’</a:t>
            </a:r>
            <a:r>
              <a:rPr lang="ko-KR" altLang="en-US" sz="1000" dirty="0"/>
              <a:t>는 의견을 제출하였다</a:t>
            </a:r>
            <a:r>
              <a:rPr lang="en-US" altLang="ko-KR" sz="1000" dirty="0"/>
              <a:t>. </a:t>
            </a:r>
            <a:r>
              <a:rPr lang="ko-KR" altLang="en-US" sz="1000" dirty="0"/>
              <a:t>그러면서 원고는 </a:t>
            </a:r>
            <a:r>
              <a:rPr lang="ko-KR" altLang="en-US" sz="1000" dirty="0" err="1"/>
              <a:t>원출원</a:t>
            </a:r>
            <a:r>
              <a:rPr lang="ko-KR" altLang="en-US" sz="1000" dirty="0"/>
              <a:t> 제</a:t>
            </a:r>
            <a:r>
              <a:rPr lang="en-US" altLang="ko-KR" sz="1000" dirty="0"/>
              <a:t>1</a:t>
            </a:r>
            <a:r>
              <a:rPr lang="ko-KR" altLang="en-US" sz="1000" dirty="0"/>
              <a:t>항 </a:t>
            </a:r>
            <a:r>
              <a:rPr lang="ko-KR" altLang="en-US" sz="1000" dirty="0">
                <a:solidFill>
                  <a:srgbClr val="FF0000"/>
                </a:solidFill>
              </a:rPr>
              <a:t>발명의 세정수단을 ‘세정물질 또는 살균물질을 내부에 포함하고 있는 필터 또는 세정살균제 </a:t>
            </a:r>
            <a:r>
              <a:rPr lang="ko-KR" altLang="en-US" sz="1000" dirty="0" err="1">
                <a:solidFill>
                  <a:srgbClr val="FF0000"/>
                </a:solidFill>
              </a:rPr>
              <a:t>도징시스템을</a:t>
            </a:r>
            <a:r>
              <a:rPr lang="ko-KR" altLang="en-US" sz="1000" dirty="0">
                <a:solidFill>
                  <a:srgbClr val="FF0000"/>
                </a:solidFill>
              </a:rPr>
              <a:t> 포함하여 구성되는 </a:t>
            </a:r>
            <a:r>
              <a:rPr lang="ko-KR" altLang="en-US" sz="1000" dirty="0" err="1">
                <a:solidFill>
                  <a:srgbClr val="FF0000"/>
                </a:solidFill>
              </a:rPr>
              <a:t>세정수단’으로</a:t>
            </a:r>
            <a:r>
              <a:rPr lang="ko-KR" altLang="en-US" sz="1000" dirty="0">
                <a:solidFill>
                  <a:srgbClr val="FF0000"/>
                </a:solidFill>
              </a:rPr>
              <a:t> 한정</a:t>
            </a:r>
            <a:r>
              <a:rPr lang="ko-KR" altLang="en-US" sz="1000" dirty="0"/>
              <a:t>하는 등으로 </a:t>
            </a:r>
            <a:r>
              <a:rPr lang="ko-KR" altLang="en-US" sz="1000" u="sng" dirty="0" err="1"/>
              <a:t>원출원</a:t>
            </a:r>
            <a:r>
              <a:rPr lang="ko-KR" altLang="en-US" sz="1000" u="sng" dirty="0"/>
              <a:t> 발명</a:t>
            </a:r>
            <a:r>
              <a:rPr lang="ko-KR" altLang="en-US" sz="1000" dirty="0"/>
              <a:t>의 청구범위 등을 보정하였다</a:t>
            </a:r>
            <a:r>
              <a:rPr lang="en-US" altLang="ko-KR" sz="1000" dirty="0"/>
              <a:t>. </a:t>
            </a:r>
            <a:endParaRPr lang="ko-KR" altLang="en-US" sz="1000" dirty="0"/>
          </a:p>
          <a:p>
            <a:pPr marL="179388" indent="-179388" fontAlgn="base">
              <a:lnSpc>
                <a:spcPct val="120000"/>
              </a:lnSpc>
            </a:pPr>
            <a:r>
              <a:rPr lang="en-US" altLang="ko-KR" sz="1000" dirty="0"/>
              <a:t>6)  </a:t>
            </a:r>
            <a:r>
              <a:rPr lang="ko-KR" altLang="en-US" sz="1000" dirty="0"/>
              <a:t>원고는 위와 같이 </a:t>
            </a:r>
            <a:r>
              <a:rPr lang="ko-KR" altLang="en-US" sz="1000" dirty="0" err="1"/>
              <a:t>원출원</a:t>
            </a:r>
            <a:r>
              <a:rPr lang="ko-KR" altLang="en-US" sz="1000" dirty="0"/>
              <a:t> 발명을 보정한 이후인 </a:t>
            </a:r>
            <a:r>
              <a:rPr lang="en-US" altLang="ko-KR" sz="1000" dirty="0"/>
              <a:t>2011. 4. 4. </a:t>
            </a:r>
            <a:r>
              <a:rPr lang="ko-KR" altLang="en-US" sz="1000" dirty="0"/>
              <a:t>이 사건 특허발명을 출원하여 특허로 </a:t>
            </a:r>
            <a:r>
              <a:rPr lang="ko-KR" altLang="en-US" sz="1000" dirty="0" err="1"/>
              <a:t>등록받았다</a:t>
            </a:r>
            <a:r>
              <a:rPr lang="en-US" altLang="ko-KR" sz="1000" dirty="0"/>
              <a:t>.</a:t>
            </a:r>
            <a:endParaRPr lang="ko-KR" altLang="en-US" sz="1000" dirty="0"/>
          </a:p>
          <a:p>
            <a:pPr marL="179388" indent="-179388" fontAlgn="base">
              <a:lnSpc>
                <a:spcPct val="120000"/>
              </a:lnSpc>
            </a:pPr>
            <a:r>
              <a:rPr lang="en-US" altLang="ko-KR" sz="1000" dirty="0"/>
              <a:t>7)  </a:t>
            </a:r>
            <a:r>
              <a:rPr lang="ko-KR" altLang="en-US" sz="1000" dirty="0"/>
              <a:t>피고</a:t>
            </a:r>
            <a:r>
              <a:rPr lang="en-US" altLang="ko-KR" sz="1000" b="1" dirty="0">
                <a:solidFill>
                  <a:schemeClr val="accent1"/>
                </a:solidFill>
              </a:rPr>
              <a:t>(</a:t>
            </a:r>
            <a:r>
              <a:rPr lang="ko-KR" altLang="en-US" sz="1000" b="1" dirty="0">
                <a:solidFill>
                  <a:schemeClr val="accent1"/>
                </a:solidFill>
              </a:rPr>
              <a:t>코</a:t>
            </a:r>
            <a:r>
              <a:rPr lang="en-US" altLang="ko-KR" sz="1000" b="1" dirty="0">
                <a:solidFill>
                  <a:schemeClr val="accent1"/>
                </a:solidFill>
              </a:rPr>
              <a:t>O</a:t>
            </a:r>
            <a:r>
              <a:rPr lang="ko-KR" altLang="en-US" sz="1000" b="1" dirty="0">
                <a:solidFill>
                  <a:schemeClr val="accent1"/>
                </a:solidFill>
              </a:rPr>
              <a:t>이</a:t>
            </a:r>
            <a:r>
              <a:rPr lang="en-US" altLang="ko-KR" sz="1000" b="1" dirty="0">
                <a:solidFill>
                  <a:schemeClr val="accent1"/>
                </a:solidFill>
              </a:rPr>
              <a:t>)</a:t>
            </a:r>
            <a:r>
              <a:rPr lang="ko-KR" altLang="en-US" sz="1000" dirty="0"/>
              <a:t>는</a:t>
            </a:r>
            <a:r>
              <a:rPr lang="en-US" altLang="ko-KR" sz="1000" dirty="0"/>
              <a:t>, </a:t>
            </a:r>
            <a:r>
              <a:rPr lang="ko-KR" altLang="en-US" sz="1000" dirty="0"/>
              <a:t>원고의 이 사건 제</a:t>
            </a:r>
            <a:r>
              <a:rPr lang="en-US" altLang="ko-KR" sz="1000" dirty="0"/>
              <a:t>1</a:t>
            </a:r>
            <a:r>
              <a:rPr lang="ko-KR" altLang="en-US" sz="1000" dirty="0"/>
              <a:t>항 발명과 이를 인용하는 </a:t>
            </a:r>
            <a:r>
              <a:rPr lang="ko-KR" altLang="en-US" sz="1000" dirty="0" err="1"/>
              <a:t>종속항</a:t>
            </a:r>
            <a:r>
              <a:rPr lang="ko-KR" altLang="en-US" sz="1000" dirty="0"/>
              <a:t> 발명인 이 사건 제</a:t>
            </a:r>
            <a:r>
              <a:rPr lang="en-US" altLang="ko-KR" sz="1000" dirty="0"/>
              <a:t>10</a:t>
            </a:r>
            <a:r>
              <a:rPr lang="ko-KR" altLang="en-US" sz="1000" dirty="0"/>
              <a:t>항 발명의 보호범위를 확인하기 위하여 특허심판원에 원고를 상대로</a:t>
            </a:r>
            <a:r>
              <a:rPr lang="en-US" altLang="ko-KR" sz="1000" dirty="0"/>
              <a:t>, </a:t>
            </a:r>
            <a:r>
              <a:rPr lang="ko-KR" altLang="en-US" sz="1000" dirty="0"/>
              <a:t>확인대상 발명이 제</a:t>
            </a:r>
            <a:r>
              <a:rPr lang="en-US" altLang="ko-KR" sz="1000" dirty="0"/>
              <a:t>1</a:t>
            </a:r>
            <a:r>
              <a:rPr lang="ko-KR" altLang="en-US" sz="1000" dirty="0"/>
              <a:t>항</a:t>
            </a:r>
            <a:r>
              <a:rPr lang="en-US" altLang="ko-KR" sz="1000" dirty="0"/>
              <a:t>, </a:t>
            </a:r>
            <a:r>
              <a:rPr lang="ko-KR" altLang="en-US" sz="1000" dirty="0"/>
              <a:t>제</a:t>
            </a:r>
            <a:r>
              <a:rPr lang="en-US" altLang="ko-KR" sz="1000" dirty="0"/>
              <a:t>10</a:t>
            </a:r>
            <a:r>
              <a:rPr lang="ko-KR" altLang="en-US" sz="1000" dirty="0"/>
              <a:t>항 발명 특허권의 권리범위에 속하지 않는다는 확인을 구하는 소극적 권리범위 확인심판을 청구하였다</a:t>
            </a:r>
            <a:r>
              <a:rPr lang="en-US" altLang="ko-KR" sz="1000" dirty="0"/>
              <a:t>. </a:t>
            </a:r>
            <a:r>
              <a:rPr lang="ko-KR" altLang="en-US" sz="1000" dirty="0">
                <a:solidFill>
                  <a:srgbClr val="FF0000"/>
                </a:solidFill>
              </a:rPr>
              <a:t>확인대상발명의 설명서에는 ‘</a:t>
            </a:r>
            <a:r>
              <a:rPr lang="ko-KR" altLang="en-US" sz="1000" dirty="0">
                <a:solidFill>
                  <a:srgbClr val="FF0000"/>
                </a:solidFill>
                <a:highlight>
                  <a:srgbClr val="FFFF00"/>
                </a:highlight>
              </a:rPr>
              <a:t>확인대상 발명은 여과된 물을 </a:t>
            </a:r>
            <a:r>
              <a:rPr lang="ko-KR" altLang="en-US" sz="1000" dirty="0" err="1">
                <a:solidFill>
                  <a:srgbClr val="FF0000"/>
                </a:solidFill>
                <a:highlight>
                  <a:srgbClr val="FFFF00"/>
                </a:highlight>
              </a:rPr>
              <a:t>전기분해하여</a:t>
            </a:r>
            <a:r>
              <a:rPr lang="ko-KR" altLang="en-US" sz="1000" dirty="0">
                <a:solidFill>
                  <a:srgbClr val="FF0000"/>
                </a:solidFill>
                <a:highlight>
                  <a:srgbClr val="FFFF00"/>
                </a:highlight>
              </a:rPr>
              <a:t> </a:t>
            </a:r>
            <a:r>
              <a:rPr lang="ko-KR" altLang="en-US" sz="1000" dirty="0" err="1">
                <a:solidFill>
                  <a:srgbClr val="FF0000"/>
                </a:solidFill>
                <a:highlight>
                  <a:srgbClr val="FFFF00"/>
                </a:highlight>
              </a:rPr>
              <a:t>전기분해수를</a:t>
            </a:r>
            <a:r>
              <a:rPr lang="ko-KR" altLang="en-US" sz="1000" dirty="0">
                <a:solidFill>
                  <a:srgbClr val="FF0000"/>
                </a:solidFill>
                <a:highlight>
                  <a:srgbClr val="FFFF00"/>
                </a:highlight>
              </a:rPr>
              <a:t> 생성하는 전극 살균기를 포함한다</a:t>
            </a:r>
            <a:r>
              <a:rPr lang="en-US" altLang="ko-KR" sz="1000" dirty="0">
                <a:solidFill>
                  <a:srgbClr val="FF0000"/>
                </a:solidFill>
                <a:highlight>
                  <a:srgbClr val="FFFF00"/>
                </a:highlight>
              </a:rPr>
              <a:t>. </a:t>
            </a:r>
            <a:r>
              <a:rPr lang="ko-KR" altLang="en-US" sz="1000" dirty="0">
                <a:solidFill>
                  <a:srgbClr val="FF0000"/>
                </a:solidFill>
                <a:highlight>
                  <a:srgbClr val="FFFF00"/>
                </a:highlight>
              </a:rPr>
              <a:t>전극 살균기는 세정물질 또는 살균물질을 포함하고 있지 않고</a:t>
            </a:r>
            <a:r>
              <a:rPr lang="en-US" altLang="ko-KR" sz="1000" dirty="0">
                <a:solidFill>
                  <a:srgbClr val="FF0000"/>
                </a:solidFill>
                <a:highlight>
                  <a:srgbClr val="FFFF00"/>
                </a:highlight>
              </a:rPr>
              <a:t>, </a:t>
            </a:r>
            <a:r>
              <a:rPr lang="ko-KR" altLang="en-US" sz="1000" dirty="0">
                <a:solidFill>
                  <a:srgbClr val="FF0000"/>
                </a:solidFill>
                <a:highlight>
                  <a:srgbClr val="FFFF00"/>
                </a:highlight>
              </a:rPr>
              <a:t>물을 </a:t>
            </a:r>
            <a:r>
              <a:rPr lang="ko-KR" altLang="en-US" sz="1000" dirty="0" err="1">
                <a:solidFill>
                  <a:srgbClr val="FF0000"/>
                </a:solidFill>
                <a:highlight>
                  <a:srgbClr val="FFFF00"/>
                </a:highlight>
              </a:rPr>
              <a:t>전기분해함으로써</a:t>
            </a:r>
            <a:r>
              <a:rPr lang="ko-KR" altLang="en-US" sz="1000" dirty="0">
                <a:solidFill>
                  <a:srgbClr val="FF0000"/>
                </a:solidFill>
                <a:highlight>
                  <a:srgbClr val="FFFF00"/>
                </a:highlight>
              </a:rPr>
              <a:t> </a:t>
            </a:r>
            <a:r>
              <a:rPr lang="ko-KR" altLang="en-US" sz="1000" dirty="0" err="1">
                <a:solidFill>
                  <a:srgbClr val="FF0000"/>
                </a:solidFill>
                <a:highlight>
                  <a:srgbClr val="FFFF00"/>
                </a:highlight>
              </a:rPr>
              <a:t>전기분해수를</a:t>
            </a:r>
            <a:r>
              <a:rPr lang="ko-KR" altLang="en-US" sz="1000" dirty="0">
                <a:solidFill>
                  <a:srgbClr val="FF0000"/>
                </a:solidFill>
                <a:highlight>
                  <a:srgbClr val="FFFF00"/>
                </a:highlight>
              </a:rPr>
              <a:t> 생성한다</a:t>
            </a:r>
            <a:r>
              <a:rPr lang="en-US" altLang="ko-KR" sz="1000" dirty="0">
                <a:solidFill>
                  <a:srgbClr val="FF0000"/>
                </a:solidFill>
                <a:highlight>
                  <a:srgbClr val="FFFF00"/>
                </a:highlight>
              </a:rPr>
              <a:t>.</a:t>
            </a:r>
            <a:r>
              <a:rPr lang="en-US" altLang="ko-KR" sz="1000" dirty="0">
                <a:solidFill>
                  <a:srgbClr val="FF0000"/>
                </a:solidFill>
              </a:rPr>
              <a:t>’</a:t>
            </a:r>
            <a:r>
              <a:rPr lang="ko-KR" altLang="en-US" sz="1000" dirty="0">
                <a:solidFill>
                  <a:srgbClr val="FF0000"/>
                </a:solidFill>
              </a:rPr>
              <a:t>는 내용 등이 기재되어 있다</a:t>
            </a:r>
            <a:r>
              <a:rPr lang="en-US" altLang="ko-KR" sz="1000" dirty="0">
                <a:solidFill>
                  <a:srgbClr val="FF0000"/>
                </a:solidFill>
              </a:rPr>
              <a:t>. </a:t>
            </a:r>
            <a:r>
              <a:rPr lang="ko-KR" altLang="en-US" sz="1000" dirty="0">
                <a:solidFill>
                  <a:srgbClr val="FF0000"/>
                </a:solidFill>
              </a:rPr>
              <a:t>확인대상 발명의 도면에는 전극 살균기 구성이 도시되어 있다</a:t>
            </a:r>
            <a:r>
              <a:rPr lang="en-US" altLang="ko-KR" sz="1000" dirty="0">
                <a:solidFill>
                  <a:srgbClr val="FF0000"/>
                </a:solidFill>
              </a:rPr>
              <a:t>.</a:t>
            </a:r>
            <a:endParaRPr lang="ko-KR" altLang="en-US" sz="1000" dirty="0">
              <a:solidFill>
                <a:srgbClr val="FF0000"/>
              </a:solidFill>
            </a:endParaRPr>
          </a:p>
        </p:txBody>
      </p:sp>
      <p:sp>
        <p:nvSpPr>
          <p:cNvPr id="3" name="모서리가 둥근 직사각형 30">
            <a:extLst>
              <a:ext uri="{FF2B5EF4-FFF2-40B4-BE49-F238E27FC236}">
                <a16:creationId xmlns:a16="http://schemas.microsoft.com/office/drawing/2014/main" id="{2EB66FB3-9973-2BB7-B1C9-5A4042205645}"/>
              </a:ext>
            </a:extLst>
          </p:cNvPr>
          <p:cNvSpPr/>
          <p:nvPr/>
        </p:nvSpPr>
        <p:spPr>
          <a:xfrm>
            <a:off x="72320" y="1004447"/>
            <a:ext cx="895868" cy="272111"/>
          </a:xfrm>
          <a:prstGeom prst="roundRect">
            <a:avLst>
              <a:gd name="adj" fmla="val 50000"/>
            </a:avLst>
          </a:prstGeom>
          <a:solidFill>
            <a:schemeClr val="accent1"/>
          </a:solid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ko-KR" altLang="en-US" sz="1200" dirty="0">
                <a:solidFill>
                  <a:schemeClr val="bg1"/>
                </a:solidFill>
              </a:rPr>
              <a:t>사실관계</a:t>
            </a:r>
          </a:p>
        </p:txBody>
      </p:sp>
      <p:pic>
        <p:nvPicPr>
          <p:cNvPr id="22" name="그림 21">
            <a:extLst>
              <a:ext uri="{FF2B5EF4-FFF2-40B4-BE49-F238E27FC236}">
                <a16:creationId xmlns:a16="http://schemas.microsoft.com/office/drawing/2014/main" id="{32FC4D45-26AE-9523-DC85-1C39F7B447B8}"/>
              </a:ext>
            </a:extLst>
          </p:cNvPr>
          <p:cNvPicPr>
            <a:picLocks noChangeAspect="1"/>
          </p:cNvPicPr>
          <p:nvPr/>
        </p:nvPicPr>
        <p:blipFill>
          <a:blip r:embed="rId3"/>
          <a:stretch>
            <a:fillRect/>
          </a:stretch>
        </p:blipFill>
        <p:spPr>
          <a:xfrm>
            <a:off x="7010152" y="1004447"/>
            <a:ext cx="4770466" cy="5519999"/>
          </a:xfrm>
          <a:prstGeom prst="rect">
            <a:avLst/>
          </a:prstGeom>
        </p:spPr>
      </p:pic>
      <p:sp>
        <p:nvSpPr>
          <p:cNvPr id="23" name="직사각형 22">
            <a:extLst>
              <a:ext uri="{FF2B5EF4-FFF2-40B4-BE49-F238E27FC236}">
                <a16:creationId xmlns:a16="http://schemas.microsoft.com/office/drawing/2014/main" id="{C42E7296-5ADB-B750-BA3B-74CBD375B57E}"/>
              </a:ext>
            </a:extLst>
          </p:cNvPr>
          <p:cNvSpPr/>
          <p:nvPr/>
        </p:nvSpPr>
        <p:spPr>
          <a:xfrm>
            <a:off x="7010152" y="2187388"/>
            <a:ext cx="4770466" cy="1241612"/>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5" name="직선 연결선 24">
            <a:extLst>
              <a:ext uri="{FF2B5EF4-FFF2-40B4-BE49-F238E27FC236}">
                <a16:creationId xmlns:a16="http://schemas.microsoft.com/office/drawing/2014/main" id="{FB8EBA51-256E-82B3-159A-F32E981F21C1}"/>
              </a:ext>
            </a:extLst>
          </p:cNvPr>
          <p:cNvCxnSpPr>
            <a:cxnSpLocks/>
          </p:cNvCxnSpPr>
          <p:nvPr/>
        </p:nvCxnSpPr>
        <p:spPr>
          <a:xfrm>
            <a:off x="6607772" y="1004447"/>
            <a:ext cx="0" cy="571011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직사각형 26">
            <a:extLst>
              <a:ext uri="{FF2B5EF4-FFF2-40B4-BE49-F238E27FC236}">
                <a16:creationId xmlns:a16="http://schemas.microsoft.com/office/drawing/2014/main" id="{DBAEAA86-AF7C-83BA-A15E-342254DC240E}"/>
              </a:ext>
            </a:extLst>
          </p:cNvPr>
          <p:cNvSpPr/>
          <p:nvPr/>
        </p:nvSpPr>
        <p:spPr>
          <a:xfrm>
            <a:off x="8265210" y="2617695"/>
            <a:ext cx="726390" cy="197223"/>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dirty="0">
              <a:highlight>
                <a:srgbClr val="FFFF00"/>
              </a:highlight>
            </a:endParaRPr>
          </a:p>
        </p:txBody>
      </p:sp>
    </p:spTree>
    <p:extLst>
      <p:ext uri="{BB962C8B-B14F-4D97-AF65-F5344CB8AC3E}">
        <p14:creationId xmlns:p14="http://schemas.microsoft.com/office/powerpoint/2010/main" val="2359037218"/>
      </p:ext>
    </p:extLst>
  </p:cSld>
  <p:clrMapOvr>
    <a:masterClrMapping/>
  </p:clrMapOvr>
  <p:transition/>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2D1881-C777-5973-076F-808E4345CCE5}"/>
            </a:ext>
          </a:extLst>
        </p:cNvPr>
        <p:cNvGrpSpPr/>
        <p:nvPr/>
      </p:nvGrpSpPr>
      <p:grpSpPr>
        <a:xfrm>
          <a:off x="0" y="0"/>
          <a:ext cx="0" cy="0"/>
          <a:chOff x="0" y="0"/>
          <a:chExt cx="0" cy="0"/>
        </a:xfrm>
      </p:grpSpPr>
      <p:sp>
        <p:nvSpPr>
          <p:cNvPr id="4" name="제목 3">
            <a:extLst>
              <a:ext uri="{FF2B5EF4-FFF2-40B4-BE49-F238E27FC236}">
                <a16:creationId xmlns:a16="http://schemas.microsoft.com/office/drawing/2014/main" id="{99DF8529-3411-08A2-1727-4DEA5CB48E15}"/>
              </a:ext>
            </a:extLst>
          </p:cNvPr>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a:extLst>
              <a:ext uri="{FF2B5EF4-FFF2-40B4-BE49-F238E27FC236}">
                <a16:creationId xmlns:a16="http://schemas.microsoft.com/office/drawing/2014/main" id="{D25265E5-7613-1644-0825-A037B6EC9D20}"/>
              </a:ext>
            </a:extLst>
          </p:cNvPr>
          <p:cNvSpPr>
            <a:spLocks noGrp="1"/>
          </p:cNvSpPr>
          <p:nvPr>
            <p:ph type="body" sz="quarter" idx="13"/>
          </p:nvPr>
        </p:nvSpPr>
        <p:spPr/>
        <p:txBody>
          <a:bodyPr>
            <a:normAutofit/>
          </a:bodyPr>
          <a:lstStyle/>
          <a:p>
            <a:pPr marL="0" marR="0" lvl="0" indent="0" algn="l" defTabSz="914400" rtl="0" eaLnBrk="1" fontAlgn="auto" latinLnBrk="1" hangingPunct="1">
              <a:lnSpc>
                <a:spcPct val="90000"/>
              </a:lnSpc>
              <a:spcBef>
                <a:spcPts val="1000"/>
              </a:spcBef>
              <a:spcAft>
                <a:spcPts val="0"/>
              </a:spcAft>
              <a:buClrTx/>
              <a:buSzTx/>
              <a:buFont typeface="Arial" panose="020B0604020202020204" pitchFamily="34" charset="0"/>
              <a:buNone/>
              <a:tabLst/>
              <a:defRPr/>
            </a:pPr>
            <a:r>
              <a:rPr kumimoji="0" lang="ko-KR" altLang="en-US" sz="2400" b="1" i="0" u="none" strike="noStrike" kern="1200" cap="none" spc="0" normalizeH="0" baseline="0" noProof="0" dirty="0" err="1">
                <a:ln>
                  <a:noFill/>
                </a:ln>
                <a:effectLst/>
                <a:uLnTx/>
                <a:uFillTx/>
                <a:latin typeface="Rix모던명조 B" panose="02020603020101020101" pitchFamily="18" charset="-127"/>
                <a:ea typeface="Rix모던명조 B" panose="02020603020101020101" pitchFamily="18" charset="-127"/>
                <a:cs typeface="+mn-cs"/>
              </a:rPr>
              <a:t>균등론</a:t>
            </a:r>
            <a:r>
              <a:rPr kumimoji="0" lang="ko-KR" altLang="en-US" sz="2400" b="1" i="0" u="none" strike="noStrike" kern="1200" cap="none" spc="0" normalizeH="0" baseline="0" noProof="0" dirty="0">
                <a:ln>
                  <a:noFill/>
                </a:ln>
                <a:effectLst/>
                <a:uLnTx/>
                <a:uFillTx/>
                <a:latin typeface="Rix모던명조 B" panose="02020603020101020101" pitchFamily="18" charset="-127"/>
                <a:ea typeface="Rix모던명조 B" panose="02020603020101020101" pitchFamily="18" charset="-127"/>
                <a:cs typeface="+mn-cs"/>
              </a:rPr>
              <a:t> 적용 </a:t>
            </a:r>
            <a:r>
              <a:rPr kumimoji="0" lang="en-US" altLang="ko-KR" sz="2400" b="1" i="0" u="none" strike="noStrike" kern="1200" cap="none" spc="0" normalizeH="0" baseline="0" noProof="0" dirty="0">
                <a:ln>
                  <a:noFill/>
                </a:ln>
                <a:effectLst/>
                <a:uLnTx/>
                <a:uFillTx/>
                <a:latin typeface="Rix모던명조 B" panose="02020603020101020101" pitchFamily="18" charset="-127"/>
                <a:ea typeface="Rix모던명조 B" panose="02020603020101020101" pitchFamily="18" charset="-127"/>
                <a:cs typeface="+mn-cs"/>
              </a:rPr>
              <a:t>CASE: </a:t>
            </a:r>
            <a:r>
              <a:rPr kumimoji="0" lang="ko-KR" altLang="en-US" sz="1600" b="1" i="0" u="none" strike="noStrike" kern="1200" cap="none" spc="0" normalizeH="0" baseline="0" noProof="0" dirty="0">
                <a:ln>
                  <a:noFill/>
                </a:ln>
                <a:effectLst/>
                <a:uLnTx/>
                <a:uFillTx/>
                <a:latin typeface="Rix모던명조 B" panose="02020603020101020101" pitchFamily="18" charset="-127"/>
                <a:ea typeface="Rix모던명조 B" panose="02020603020101020101" pitchFamily="18" charset="-127"/>
                <a:cs typeface="+mn-cs"/>
              </a:rPr>
              <a:t>세정수단 포함 정수기 사건</a:t>
            </a:r>
            <a:r>
              <a:rPr kumimoji="0" lang="en-US" altLang="ko-KR" sz="1600" b="1" i="0" u="none" strike="noStrike" kern="1200" cap="none" spc="0" normalizeH="0" baseline="0" noProof="0" dirty="0">
                <a:ln>
                  <a:noFill/>
                </a:ln>
                <a:effectLst/>
                <a:uLnTx/>
                <a:uFillTx/>
                <a:latin typeface="Rix모던명조 B" panose="02020603020101020101" pitchFamily="18" charset="-127"/>
                <a:ea typeface="Rix모던명조 B" panose="02020603020101020101" pitchFamily="18" charset="-127"/>
                <a:cs typeface="+mn-cs"/>
              </a:rPr>
              <a:t>(</a:t>
            </a:r>
            <a:r>
              <a:rPr kumimoji="0" lang="ko-KR" altLang="en-US" sz="1600" b="1" i="0" u="none" strike="noStrike" kern="1200" cap="none" spc="0" normalizeH="0" baseline="0" noProof="0" dirty="0">
                <a:ln>
                  <a:noFill/>
                </a:ln>
                <a:effectLst/>
                <a:uLnTx/>
                <a:uFillTx/>
                <a:latin typeface="Rix모던명조 B" panose="02020603020101020101" pitchFamily="18" charset="-127"/>
                <a:ea typeface="Rix모던명조 B" panose="02020603020101020101" pitchFamily="18" charset="-127"/>
                <a:cs typeface="+mn-cs"/>
              </a:rPr>
              <a:t>대법원 </a:t>
            </a:r>
            <a:r>
              <a:rPr kumimoji="0" lang="en-US" altLang="ko-KR" sz="1600" b="1" i="0" u="none" strike="noStrike" kern="1200" cap="none" spc="0" normalizeH="0" baseline="0" noProof="0" dirty="0">
                <a:ln>
                  <a:noFill/>
                </a:ln>
                <a:effectLst/>
                <a:uLnTx/>
                <a:uFillTx/>
                <a:latin typeface="Rix모던명조 B" panose="02020603020101020101" pitchFamily="18" charset="-127"/>
                <a:ea typeface="Rix모던명조 B" panose="02020603020101020101" pitchFamily="18" charset="-127"/>
                <a:cs typeface="+mn-cs"/>
              </a:rPr>
              <a:t>2025. 7. 17. </a:t>
            </a:r>
            <a:r>
              <a:rPr kumimoji="0" lang="ko-KR" altLang="en-US" sz="1600" b="1" i="0" u="none" strike="noStrike" kern="1200" cap="none" spc="0" normalizeH="0" baseline="0" noProof="0" dirty="0">
                <a:ln>
                  <a:noFill/>
                </a:ln>
                <a:effectLst/>
                <a:uLnTx/>
                <a:uFillTx/>
                <a:latin typeface="Rix모던명조 B" panose="02020603020101020101" pitchFamily="18" charset="-127"/>
                <a:ea typeface="Rix모던명조 B" panose="02020603020101020101" pitchFamily="18" charset="-127"/>
                <a:cs typeface="+mn-cs"/>
              </a:rPr>
              <a:t>선고 </a:t>
            </a:r>
            <a:r>
              <a:rPr kumimoji="0" lang="en-US" altLang="ko-KR" sz="1600" b="1" i="0" u="none" strike="noStrike" kern="1200" cap="none" spc="0" normalizeH="0" baseline="0" noProof="0" dirty="0">
                <a:ln>
                  <a:noFill/>
                </a:ln>
                <a:effectLst/>
                <a:uLnTx/>
                <a:uFillTx/>
                <a:latin typeface="Rix모던명조 B" panose="02020603020101020101" pitchFamily="18" charset="-127"/>
                <a:ea typeface="Rix모던명조 B" panose="02020603020101020101" pitchFamily="18" charset="-127"/>
                <a:cs typeface="+mn-cs"/>
              </a:rPr>
              <a:t>2023</a:t>
            </a:r>
            <a:r>
              <a:rPr kumimoji="0" lang="ko-KR" altLang="en-US" sz="1600" b="1" i="0" u="none" strike="noStrike" kern="1200" cap="none" spc="0" normalizeH="0" baseline="0" noProof="0" dirty="0">
                <a:ln>
                  <a:noFill/>
                </a:ln>
                <a:effectLst/>
                <a:uLnTx/>
                <a:uFillTx/>
                <a:latin typeface="Rix모던명조 B" panose="02020603020101020101" pitchFamily="18" charset="-127"/>
                <a:ea typeface="Rix모던명조 B" panose="02020603020101020101" pitchFamily="18" charset="-127"/>
                <a:cs typeface="+mn-cs"/>
              </a:rPr>
              <a:t>후</a:t>
            </a:r>
            <a:r>
              <a:rPr kumimoji="0" lang="en-US" altLang="ko-KR" sz="1600" b="1" i="0" u="none" strike="noStrike" kern="1200" cap="none" spc="0" normalizeH="0" baseline="0" noProof="0" dirty="0">
                <a:ln>
                  <a:noFill/>
                </a:ln>
                <a:effectLst/>
                <a:uLnTx/>
                <a:uFillTx/>
                <a:latin typeface="Rix모던명조 B" panose="02020603020101020101" pitchFamily="18" charset="-127"/>
                <a:ea typeface="Rix모던명조 B" panose="02020603020101020101" pitchFamily="18" charset="-127"/>
                <a:cs typeface="+mn-cs"/>
              </a:rPr>
              <a:t>11340)</a:t>
            </a:r>
            <a:endParaRPr kumimoji="0" lang="ko-KR" altLang="en-US" sz="1600" b="1" i="0" u="none" strike="noStrike" kern="1200" cap="none" spc="0" normalizeH="0" baseline="0" noProof="0" dirty="0">
              <a:ln>
                <a:noFill/>
              </a:ln>
              <a:effectLst/>
              <a:uLnTx/>
              <a:uFillTx/>
              <a:latin typeface="Rix모던명조 B" panose="02020603020101020101" pitchFamily="18" charset="-127"/>
              <a:ea typeface="Rix모던명조 B" panose="02020603020101020101" pitchFamily="18" charset="-127"/>
              <a:cs typeface="+mn-cs"/>
            </a:endParaRPr>
          </a:p>
        </p:txBody>
      </p:sp>
      <p:sp>
        <p:nvSpPr>
          <p:cNvPr id="2" name="슬라이드 번호 개체 틀 1">
            <a:extLst>
              <a:ext uri="{FF2B5EF4-FFF2-40B4-BE49-F238E27FC236}">
                <a16:creationId xmlns:a16="http://schemas.microsoft.com/office/drawing/2014/main" id="{EA5A0299-62CF-CE79-7E74-EF241DA6FFFE}"/>
              </a:ext>
            </a:extLst>
          </p:cNvPr>
          <p:cNvSpPr>
            <a:spLocks noGrp="1"/>
          </p:cNvSpPr>
          <p:nvPr>
            <p:ph type="sldNum" sz="quarter" idx="4294967295"/>
          </p:nvPr>
        </p:nvSpPr>
        <p:spPr>
          <a:xfrm>
            <a:off x="11125200" y="0"/>
            <a:ext cx="1066800" cy="744538"/>
          </a:xfrm>
        </p:spPr>
        <p:txBody>
          <a:bodyPr/>
          <a:lstStyle/>
          <a:p>
            <a:r>
              <a:rPr lang="en-US" altLang="ko-KR"/>
              <a:t>341</a:t>
            </a:r>
            <a:endParaRPr lang="ko-KR" altLang="en-US"/>
          </a:p>
        </p:txBody>
      </p:sp>
      <p:cxnSp>
        <p:nvCxnSpPr>
          <p:cNvPr id="13" name="직선 연결선 12">
            <a:extLst>
              <a:ext uri="{FF2B5EF4-FFF2-40B4-BE49-F238E27FC236}">
                <a16:creationId xmlns:a16="http://schemas.microsoft.com/office/drawing/2014/main" id="{A39D3FBE-493C-5E71-76A6-F2A66E11298B}"/>
              </a:ext>
            </a:extLst>
          </p:cNvPr>
          <p:cNvCxnSpPr>
            <a:cxnSpLocks/>
          </p:cNvCxnSpPr>
          <p:nvPr/>
        </p:nvCxnSpPr>
        <p:spPr>
          <a:xfrm>
            <a:off x="5572211" y="905437"/>
            <a:ext cx="0" cy="586291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07449DA1-4B6F-771C-991D-70F8C8CBC22D}"/>
              </a:ext>
            </a:extLst>
          </p:cNvPr>
          <p:cNvSpPr txBox="1"/>
          <p:nvPr/>
        </p:nvSpPr>
        <p:spPr>
          <a:xfrm>
            <a:off x="36945" y="955604"/>
            <a:ext cx="5490170" cy="1927772"/>
          </a:xfrm>
          <a:prstGeom prst="rect">
            <a:avLst/>
          </a:prstGeom>
          <a:solidFill>
            <a:schemeClr val="accent4">
              <a:lumMod val="20000"/>
              <a:lumOff val="80000"/>
            </a:schemeClr>
          </a:solidFill>
          <a:ln>
            <a:solidFill>
              <a:schemeClr val="bg1">
                <a:lumMod val="50000"/>
              </a:schemeClr>
            </a:solidFill>
          </a:ln>
        </p:spPr>
        <p:txBody>
          <a:bodyPr wrap="square">
            <a:spAutoFit/>
          </a:bodyPr>
          <a:lstStyle/>
          <a:p>
            <a:pPr marR="0" algn="just" fontAlgn="base" latinLnBrk="1">
              <a:lnSpc>
                <a:spcPct val="120000"/>
              </a:lnSpc>
              <a:buNone/>
              <a:tabLst>
                <a:tab pos="114300" algn="l"/>
                <a:tab pos="408940" algn="l"/>
                <a:tab pos="624840" algn="l"/>
                <a:tab pos="4561840" algn="r"/>
                <a:tab pos="114300" algn="l"/>
                <a:tab pos="408940" algn="l"/>
                <a:tab pos="624840" algn="l"/>
                <a:tab pos="4561840" algn="r"/>
              </a:tabLst>
            </a:pPr>
            <a:r>
              <a:rPr lang="en-US" altLang="ko-KR" sz="1000" b="1" kern="0" spc="-40" dirty="0">
                <a:effectLst/>
                <a:uFill>
                  <a:solidFill>
                    <a:srgbClr val="000000"/>
                  </a:solidFill>
                </a:uFill>
                <a:latin typeface="+mn-ea"/>
              </a:rPr>
              <a:t>(</a:t>
            </a:r>
            <a:r>
              <a:rPr lang="ko-KR" altLang="en-US" sz="1000" b="1" kern="0" spc="-40" dirty="0">
                <a:effectLst/>
                <a:uFill>
                  <a:solidFill>
                    <a:srgbClr val="000000"/>
                  </a:solidFill>
                </a:uFill>
                <a:latin typeface="+mn-ea"/>
              </a:rPr>
              <a:t>청구범위의 제한해석</a:t>
            </a:r>
            <a:r>
              <a:rPr lang="en-US" altLang="ko-KR" sz="1000" b="1" kern="0" spc="-40" dirty="0">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특허발명의 보호범위는 청구범위에 적혀 있는 사항에 따라 정해지고</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발명에 관한 설명이나 도면 등으로 보호범위를 제한하거나 확장하는 것은 원칙적으로 허용되지 않는다</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그런데 청구범위에 적혀 있는 사항이 통상적인 구조</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방법</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물질 등이 아니라 기능</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효과</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성질 등의 이른바 기능적 표현으로 되어 있어 </a:t>
            </a:r>
            <a:r>
              <a:rPr lang="ko-KR" altLang="en-US" sz="1000" kern="0" spc="-40" dirty="0">
                <a:solidFill>
                  <a:srgbClr val="FF0000"/>
                </a:solidFill>
                <a:effectLst/>
                <a:uFill>
                  <a:solidFill>
                    <a:srgbClr val="000000"/>
                  </a:solidFill>
                </a:uFill>
                <a:latin typeface="+mn-ea"/>
              </a:rPr>
              <a:t>그 용어의 기재만으로 기술적 구성의 구체적인 내용을 알 수 없는 경우에는</a:t>
            </a:r>
            <a:r>
              <a:rPr lang="en-US" altLang="ko-KR" sz="1000" kern="0" spc="-40" dirty="0">
                <a:solidFill>
                  <a:srgbClr val="FF0000"/>
                </a:solidFill>
                <a:effectLst/>
                <a:uFill>
                  <a:solidFill>
                    <a:srgbClr val="000000"/>
                  </a:solidFill>
                </a:uFill>
                <a:latin typeface="+mn-ea"/>
              </a:rPr>
              <a:t>, </a:t>
            </a:r>
            <a:r>
              <a:rPr lang="ko-KR" altLang="en-US" sz="1000" kern="0" spc="-40" dirty="0">
                <a:solidFill>
                  <a:srgbClr val="FF0000"/>
                </a:solidFill>
                <a:effectLst/>
                <a:uFill>
                  <a:solidFill>
                    <a:srgbClr val="000000"/>
                  </a:solidFill>
                </a:uFill>
                <a:latin typeface="+mn-ea"/>
              </a:rPr>
              <a:t>그 특허권의 침해 판단이나 권리범위 확인이 문제되는 국면에서 청구범위를 문언 그대로 해석하면 명세서의 다른 기재에 비추어 보아 명백히 불합리할 때가 있다</a:t>
            </a:r>
            <a:r>
              <a:rPr lang="en-US" altLang="ko-KR" sz="1000" kern="0" spc="-40" dirty="0">
                <a:solidFill>
                  <a:srgbClr val="FF0000"/>
                </a:solidFill>
                <a:effectLst/>
                <a:uFill>
                  <a:solidFill>
                    <a:srgbClr val="000000"/>
                  </a:solidFill>
                </a:uFill>
                <a:latin typeface="+mn-ea"/>
              </a:rPr>
              <a:t>. </a:t>
            </a:r>
            <a:r>
              <a:rPr lang="ko-KR" altLang="en-US" sz="1000" kern="0" spc="-40" dirty="0">
                <a:solidFill>
                  <a:srgbClr val="FF0000"/>
                </a:solidFill>
                <a:effectLst/>
                <a:uFill>
                  <a:solidFill>
                    <a:srgbClr val="000000"/>
                  </a:solidFill>
                </a:uFill>
                <a:latin typeface="+mn-ea"/>
              </a:rPr>
              <a:t>청구범위에 문언적으로 포함된다고 해석되는 것 중 일부가 발명에 관한 설명의 기재에 의하여 뒷받침되지 않거나</a:t>
            </a:r>
            <a:r>
              <a:rPr lang="en-US" altLang="ko-KR" sz="1000" kern="0" spc="-40" dirty="0">
                <a:solidFill>
                  <a:srgbClr val="FF0000"/>
                </a:solidFill>
                <a:effectLst/>
                <a:uFill>
                  <a:solidFill>
                    <a:srgbClr val="000000"/>
                  </a:solidFill>
                </a:uFill>
                <a:latin typeface="+mn-ea"/>
              </a:rPr>
              <a:t>, </a:t>
            </a:r>
            <a:r>
              <a:rPr lang="ko-KR" altLang="en-US" sz="1000" kern="0" spc="-40" dirty="0">
                <a:solidFill>
                  <a:srgbClr val="FF0000"/>
                </a:solidFill>
                <a:effectLst/>
                <a:uFill>
                  <a:solidFill>
                    <a:srgbClr val="000000"/>
                  </a:solidFill>
                </a:uFill>
                <a:latin typeface="+mn-ea"/>
              </a:rPr>
              <a:t>출원인이 그중 일부를 특허권의 권리범위에서 의식적으로 제외하고 있다고 보이는 경우 등이 이에 해당한다</a:t>
            </a:r>
            <a:r>
              <a:rPr lang="en-US" altLang="ko-KR" sz="1000" kern="0" spc="-40" dirty="0">
                <a:solidFill>
                  <a:srgbClr val="FF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이러한 경우에는 출원된 기술사상의 내용</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명세서의 다른 기재</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출원인의 의사</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제</a:t>
            </a:r>
            <a:r>
              <a:rPr lang="en-US" altLang="ko-KR" sz="1000" kern="0" spc="-40" dirty="0">
                <a:solidFill>
                  <a:srgbClr val="000000"/>
                </a:solidFill>
                <a:effectLst/>
                <a:uFill>
                  <a:solidFill>
                    <a:srgbClr val="000000"/>
                  </a:solidFill>
                </a:uFill>
                <a:latin typeface="+mn-ea"/>
              </a:rPr>
              <a:t>3</a:t>
            </a:r>
            <a:r>
              <a:rPr lang="ko-KR" altLang="en-US" sz="1000" kern="0" spc="-40" dirty="0">
                <a:solidFill>
                  <a:srgbClr val="000000"/>
                </a:solidFill>
                <a:effectLst/>
                <a:uFill>
                  <a:solidFill>
                    <a:srgbClr val="000000"/>
                  </a:solidFill>
                </a:uFill>
                <a:latin typeface="+mn-ea"/>
              </a:rPr>
              <a:t>자에 대한 법적 안정성을 두루 참작하여 특허권의 권리범위를 제한 해석할 수 있다</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이는 독립항과 그 종속항의 권리범위가 동일하게 된다고 하여도 마찬가지이다</a:t>
            </a:r>
            <a:r>
              <a:rPr lang="en-US" altLang="ko-KR" sz="1000" kern="0" spc="-40" dirty="0">
                <a:solidFill>
                  <a:srgbClr val="000000"/>
                </a:solidFill>
                <a:effectLst/>
                <a:uFill>
                  <a:solidFill>
                    <a:srgbClr val="000000"/>
                  </a:solidFill>
                </a:uFill>
                <a:latin typeface="+mn-ea"/>
              </a:rPr>
              <a:t>. </a:t>
            </a:r>
            <a:endParaRPr lang="ko-KR" altLang="en-US" sz="1000" kern="0" spc="-30" dirty="0">
              <a:solidFill>
                <a:srgbClr val="000000"/>
              </a:solidFill>
              <a:effectLst/>
              <a:latin typeface="+mn-ea"/>
            </a:endParaRPr>
          </a:p>
        </p:txBody>
      </p:sp>
      <p:sp>
        <p:nvSpPr>
          <p:cNvPr id="12" name="직사각형 11">
            <a:extLst>
              <a:ext uri="{FF2B5EF4-FFF2-40B4-BE49-F238E27FC236}">
                <a16:creationId xmlns:a16="http://schemas.microsoft.com/office/drawing/2014/main" id="{C7AE0789-0D0A-BC46-E839-42F93AD878BF}"/>
              </a:ext>
            </a:extLst>
          </p:cNvPr>
          <p:cNvSpPr/>
          <p:nvPr/>
        </p:nvSpPr>
        <p:spPr>
          <a:xfrm>
            <a:off x="36943" y="2904754"/>
            <a:ext cx="5535267" cy="4093428"/>
          </a:xfrm>
          <a:prstGeom prst="rect">
            <a:avLst/>
          </a:prstGeom>
        </p:spPr>
        <p:txBody>
          <a:bodyPr wrap="square">
            <a:spAutoFit/>
          </a:bodyPr>
          <a:lstStyle/>
          <a:p>
            <a:pPr marL="179388" indent="-179388" fontAlgn="base"/>
            <a:r>
              <a:rPr lang="en-US" altLang="ko-KR" sz="1000" dirty="0"/>
              <a:t>1)  </a:t>
            </a:r>
            <a:r>
              <a:rPr lang="ko-KR" altLang="en-US" sz="1000" dirty="0"/>
              <a:t>이 사건 제</a:t>
            </a:r>
            <a:r>
              <a:rPr lang="en-US" altLang="ko-KR" sz="1000" dirty="0"/>
              <a:t>1</a:t>
            </a:r>
            <a:r>
              <a:rPr lang="ko-KR" altLang="en-US" sz="1000" dirty="0"/>
              <a:t>항 발명의 청구범위에 적혀 있는 </a:t>
            </a:r>
            <a:r>
              <a:rPr lang="ko-KR" altLang="en-US" sz="1000" dirty="0">
                <a:solidFill>
                  <a:srgbClr val="FF0000"/>
                </a:solidFill>
              </a:rPr>
              <a:t>‘</a:t>
            </a:r>
            <a:r>
              <a:rPr lang="ko-KR" altLang="en-US" sz="1000" dirty="0" err="1">
                <a:solidFill>
                  <a:srgbClr val="FF0000"/>
                </a:solidFill>
              </a:rPr>
              <a:t>세정수단’이라는</a:t>
            </a:r>
            <a:r>
              <a:rPr lang="ko-KR" altLang="en-US" sz="1000" dirty="0">
                <a:solidFill>
                  <a:srgbClr val="FF0000"/>
                </a:solidFill>
              </a:rPr>
              <a:t> 용어는 ‘세정 기능을 하는 </a:t>
            </a:r>
            <a:r>
              <a:rPr lang="ko-KR" altLang="en-US" sz="1000" dirty="0" err="1">
                <a:solidFill>
                  <a:srgbClr val="FF0000"/>
                </a:solidFill>
              </a:rPr>
              <a:t>수단’이라는</a:t>
            </a:r>
            <a:r>
              <a:rPr lang="ko-KR" altLang="en-US" sz="1000" dirty="0">
                <a:solidFill>
                  <a:srgbClr val="FF0000"/>
                </a:solidFill>
              </a:rPr>
              <a:t> </a:t>
            </a:r>
            <a:r>
              <a:rPr lang="ko-KR" altLang="en-US" sz="1000" dirty="0">
                <a:solidFill>
                  <a:srgbClr val="FF0000"/>
                </a:solidFill>
                <a:highlight>
                  <a:srgbClr val="FFFF00"/>
                </a:highlight>
              </a:rPr>
              <a:t>기능적 표현으로서 그 용어 자체만으로는 기술적 구성의 구체적인 내용을 알 수 없다</a:t>
            </a:r>
            <a:r>
              <a:rPr lang="en-US" altLang="ko-KR" sz="1000" dirty="0">
                <a:solidFill>
                  <a:srgbClr val="FF0000"/>
                </a:solidFill>
                <a:highlight>
                  <a:srgbClr val="FFFF00"/>
                </a:highlight>
              </a:rPr>
              <a:t>.</a:t>
            </a:r>
          </a:p>
          <a:p>
            <a:pPr marL="179388" indent="-179388" fontAlgn="base"/>
            <a:r>
              <a:rPr lang="en-US" altLang="ko-KR" sz="1000" dirty="0"/>
              <a:t>2)  </a:t>
            </a:r>
            <a:r>
              <a:rPr lang="ko-KR" altLang="en-US" sz="1000" dirty="0">
                <a:solidFill>
                  <a:srgbClr val="FF0000"/>
                </a:solidFill>
              </a:rPr>
              <a:t>특허발명 명세서의 </a:t>
            </a:r>
            <a:r>
              <a:rPr lang="ko-KR" altLang="en-US" sz="1000" dirty="0">
                <a:solidFill>
                  <a:srgbClr val="FF0000"/>
                </a:solidFill>
                <a:highlight>
                  <a:srgbClr val="FFFF00"/>
                </a:highlight>
              </a:rPr>
              <a:t>발명에 관한 설명</a:t>
            </a:r>
            <a:r>
              <a:rPr lang="ko-KR" altLang="en-US" sz="1000" dirty="0">
                <a:solidFill>
                  <a:srgbClr val="FF0000"/>
                </a:solidFill>
              </a:rPr>
              <a:t>에</a:t>
            </a:r>
            <a:r>
              <a:rPr lang="ko-KR" altLang="en-US" sz="1000" dirty="0"/>
              <a:t>는 ‘</a:t>
            </a:r>
            <a:r>
              <a:rPr lang="ko-KR" altLang="en-US" sz="1000" dirty="0" err="1"/>
              <a:t>세정수단’에</a:t>
            </a:r>
            <a:r>
              <a:rPr lang="ko-KR" altLang="en-US" sz="1000" dirty="0"/>
              <a:t> 대한 설명으로 ‘여과부에서 여과된 물에 세정물질 또는 살균물질을 희석한 것을 가지고 저장탱크를 세정하는 </a:t>
            </a:r>
            <a:r>
              <a:rPr lang="ko-KR" altLang="en-US" sz="1000" dirty="0" err="1"/>
              <a:t>수단’이라는</a:t>
            </a:r>
            <a:r>
              <a:rPr lang="ko-KR" altLang="en-US" sz="1000" dirty="0"/>
              <a:t> 내용이 기재되어 있다</a:t>
            </a:r>
            <a:r>
              <a:rPr lang="en-US" altLang="ko-KR" sz="1000" dirty="0"/>
              <a:t>. </a:t>
            </a:r>
            <a:r>
              <a:rPr lang="ko-KR" altLang="en-US" sz="1000" dirty="0"/>
              <a:t>그러나 이러한 내용 외에 ‘전기분해 방식으로 살균물질을 생성하여 세정하는 </a:t>
            </a:r>
            <a:r>
              <a:rPr lang="ko-KR" altLang="en-US" sz="1000" dirty="0" err="1"/>
              <a:t>수단’에</a:t>
            </a:r>
            <a:r>
              <a:rPr lang="ko-KR" altLang="en-US" sz="1000" dirty="0"/>
              <a:t> 관한 내용은 기재되어 있지 않고</a:t>
            </a:r>
            <a:r>
              <a:rPr lang="en-US" altLang="ko-KR" sz="1000" dirty="0"/>
              <a:t>, </a:t>
            </a:r>
            <a:r>
              <a:rPr lang="en-US" altLang="ko-KR" sz="1000" dirty="0">
                <a:solidFill>
                  <a:srgbClr val="FF0000"/>
                </a:solidFill>
              </a:rPr>
              <a:t>‘</a:t>
            </a:r>
            <a:r>
              <a:rPr lang="ko-KR" altLang="en-US" sz="1000" dirty="0" err="1">
                <a:solidFill>
                  <a:srgbClr val="FF0000"/>
                </a:solidFill>
              </a:rPr>
              <a:t>세정수단’의</a:t>
            </a:r>
            <a:r>
              <a:rPr lang="ko-KR" altLang="en-US" sz="1000" dirty="0">
                <a:solidFill>
                  <a:srgbClr val="FF0000"/>
                </a:solidFill>
              </a:rPr>
              <a:t> 구성을 구체적으로 개시하거나 시사하는 내용도 나타나 있지 않다</a:t>
            </a:r>
            <a:r>
              <a:rPr lang="en-US" altLang="ko-KR" sz="1000" dirty="0">
                <a:solidFill>
                  <a:srgbClr val="FF0000"/>
                </a:solidFill>
              </a:rPr>
              <a:t>.</a:t>
            </a:r>
          </a:p>
          <a:p>
            <a:pPr marL="179388" indent="-179388" fontAlgn="base"/>
            <a:r>
              <a:rPr lang="en-US" altLang="ko-KR" sz="1000" dirty="0"/>
              <a:t>3)  </a:t>
            </a:r>
            <a:r>
              <a:rPr lang="ko-KR" altLang="en-US" sz="1000" dirty="0"/>
              <a:t>원고는 </a:t>
            </a:r>
            <a:r>
              <a:rPr lang="ko-KR" altLang="en-US" sz="1000" dirty="0" err="1"/>
              <a:t>원출원</a:t>
            </a:r>
            <a:r>
              <a:rPr lang="ko-KR" altLang="en-US" sz="1000" dirty="0"/>
              <a:t> 발명의 출원 과정에서 거절이유를 극복하기 위해</a:t>
            </a:r>
            <a:r>
              <a:rPr lang="en-US" altLang="ko-KR" sz="1000" dirty="0"/>
              <a:t>, </a:t>
            </a:r>
            <a:r>
              <a:rPr lang="ko-KR" altLang="en-US" sz="1000" dirty="0" err="1">
                <a:solidFill>
                  <a:srgbClr val="FF0000"/>
                </a:solidFill>
              </a:rPr>
              <a:t>원출원</a:t>
            </a:r>
            <a:r>
              <a:rPr lang="ko-KR" altLang="en-US" sz="1000" dirty="0">
                <a:solidFill>
                  <a:srgbClr val="FF0000"/>
                </a:solidFill>
              </a:rPr>
              <a:t> 제</a:t>
            </a:r>
            <a:r>
              <a:rPr lang="en-US" altLang="ko-KR" sz="1000" dirty="0">
                <a:solidFill>
                  <a:srgbClr val="FF0000"/>
                </a:solidFill>
              </a:rPr>
              <a:t>1</a:t>
            </a:r>
            <a:r>
              <a:rPr lang="ko-KR" altLang="en-US" sz="1000" dirty="0">
                <a:solidFill>
                  <a:srgbClr val="FF0000"/>
                </a:solidFill>
              </a:rPr>
              <a:t>항 발명의 ‘</a:t>
            </a:r>
            <a:r>
              <a:rPr lang="ko-KR" altLang="en-US" sz="1000" dirty="0" err="1">
                <a:solidFill>
                  <a:srgbClr val="FF0000"/>
                </a:solidFill>
              </a:rPr>
              <a:t>세정수단’에는</a:t>
            </a:r>
            <a:r>
              <a:rPr lang="ko-KR" altLang="en-US" sz="1000" dirty="0">
                <a:solidFill>
                  <a:srgbClr val="FF0000"/>
                </a:solidFill>
              </a:rPr>
              <a:t> ‘전기분해 방식으로 살균물질을 생성하여 세정하는 </a:t>
            </a:r>
            <a:r>
              <a:rPr lang="ko-KR" altLang="en-US" sz="1000" dirty="0" err="1">
                <a:solidFill>
                  <a:srgbClr val="FF0000"/>
                </a:solidFill>
              </a:rPr>
              <a:t>수단’이</a:t>
            </a:r>
            <a:r>
              <a:rPr lang="ko-KR" altLang="en-US" sz="1000" dirty="0">
                <a:solidFill>
                  <a:srgbClr val="FF0000"/>
                </a:solidFill>
              </a:rPr>
              <a:t> 포함되지 않는다는 취지의 의견을 제출</a:t>
            </a:r>
            <a:r>
              <a:rPr lang="ko-KR" altLang="en-US" sz="1000" dirty="0"/>
              <a:t>하였다</a:t>
            </a:r>
            <a:r>
              <a:rPr lang="en-US" altLang="ko-KR" sz="1000" dirty="0"/>
              <a:t>. </a:t>
            </a:r>
            <a:r>
              <a:rPr lang="ko-KR" altLang="en-US" sz="1000" dirty="0" err="1">
                <a:solidFill>
                  <a:srgbClr val="FF0000"/>
                </a:solidFill>
              </a:rPr>
              <a:t>원출원</a:t>
            </a:r>
            <a:r>
              <a:rPr lang="ko-KR" altLang="en-US" sz="1000" dirty="0">
                <a:solidFill>
                  <a:srgbClr val="FF0000"/>
                </a:solidFill>
              </a:rPr>
              <a:t> 발명과 이 사건 특허발명의 출원인은 모두 원고로 동일</a:t>
            </a:r>
            <a:r>
              <a:rPr lang="ko-KR" altLang="en-US" sz="1000" dirty="0"/>
              <a:t>하다</a:t>
            </a:r>
            <a:r>
              <a:rPr lang="en-US" altLang="ko-KR" sz="1000" dirty="0"/>
              <a:t>. </a:t>
            </a:r>
            <a:r>
              <a:rPr lang="ko-KR" altLang="en-US" sz="1000" dirty="0"/>
              <a:t>이 사건 특허발명은 </a:t>
            </a:r>
            <a:r>
              <a:rPr lang="ko-KR" altLang="en-US" sz="1000" dirty="0" err="1"/>
              <a:t>원출원</a:t>
            </a:r>
            <a:r>
              <a:rPr lang="ko-KR" altLang="en-US" sz="1000" dirty="0"/>
              <a:t> 발명을 기초로 하는 </a:t>
            </a:r>
            <a:r>
              <a:rPr lang="en-US" altLang="ko-KR" sz="1000" dirty="0"/>
              <a:t>1</a:t>
            </a:r>
            <a:r>
              <a:rPr lang="ko-KR" altLang="en-US" sz="1000" dirty="0"/>
              <a:t>세대 분할출원 발명으로부터 </a:t>
            </a:r>
            <a:r>
              <a:rPr lang="ko-KR" altLang="en-US" sz="1000" dirty="0" err="1"/>
              <a:t>분할출원된</a:t>
            </a:r>
            <a:r>
              <a:rPr lang="ko-KR" altLang="en-US" sz="1000" dirty="0"/>
              <a:t> 발명으로서 </a:t>
            </a:r>
            <a:r>
              <a:rPr lang="ko-KR" altLang="en-US" sz="1000" dirty="0" err="1"/>
              <a:t>원출원</a:t>
            </a:r>
            <a:r>
              <a:rPr lang="ko-KR" altLang="en-US" sz="1000" dirty="0"/>
              <a:t> 발명의 출원서에 최초로 첨부된 명세서 또는 도면에 기재된 사항의 범위 내에 있는 발명이다</a:t>
            </a:r>
            <a:r>
              <a:rPr lang="en-US" altLang="ko-KR" sz="1000" dirty="0"/>
              <a:t>. </a:t>
            </a:r>
            <a:r>
              <a:rPr lang="ko-KR" altLang="en-US" sz="1000" dirty="0">
                <a:solidFill>
                  <a:srgbClr val="FF0000"/>
                </a:solidFill>
              </a:rPr>
              <a:t>원고는 </a:t>
            </a:r>
            <a:r>
              <a:rPr lang="ko-KR" altLang="en-US" sz="1000" dirty="0" err="1">
                <a:solidFill>
                  <a:srgbClr val="FF0000"/>
                </a:solidFill>
              </a:rPr>
              <a:t>원출원</a:t>
            </a:r>
            <a:r>
              <a:rPr lang="ko-KR" altLang="en-US" sz="1000" dirty="0">
                <a:solidFill>
                  <a:srgbClr val="FF0000"/>
                </a:solidFill>
              </a:rPr>
              <a:t> 발명에 관한 위와 같은 의견제출 이후에 이 사건 특허발명을 출원하였다</a:t>
            </a:r>
            <a:r>
              <a:rPr lang="en-US" altLang="ko-KR" sz="1000" dirty="0">
                <a:solidFill>
                  <a:srgbClr val="FF0000"/>
                </a:solidFill>
              </a:rPr>
              <a:t>.</a:t>
            </a:r>
            <a:r>
              <a:rPr lang="en-US" altLang="ko-KR" sz="1000" dirty="0"/>
              <a:t> </a:t>
            </a:r>
            <a:r>
              <a:rPr lang="ko-KR" altLang="en-US" sz="1000" dirty="0"/>
              <a:t>이러한 사정을 고려하면</a:t>
            </a:r>
            <a:r>
              <a:rPr lang="en-US" altLang="ko-KR" sz="1000" dirty="0"/>
              <a:t>, </a:t>
            </a:r>
            <a:r>
              <a:rPr lang="ko-KR" altLang="en-US" sz="1000" dirty="0" err="1">
                <a:solidFill>
                  <a:srgbClr val="FF0000"/>
                </a:solidFill>
                <a:highlight>
                  <a:srgbClr val="FFFF00"/>
                </a:highlight>
              </a:rPr>
              <a:t>원출원</a:t>
            </a:r>
            <a:r>
              <a:rPr lang="ko-KR" altLang="en-US" sz="1000" dirty="0">
                <a:solidFill>
                  <a:srgbClr val="FF0000"/>
                </a:solidFill>
                <a:highlight>
                  <a:srgbClr val="FFFF00"/>
                </a:highlight>
              </a:rPr>
              <a:t> 발명에 대한 출원경과는 그 후 </a:t>
            </a:r>
            <a:r>
              <a:rPr lang="ko-KR" altLang="en-US" sz="1000" dirty="0" err="1">
                <a:solidFill>
                  <a:srgbClr val="FF0000"/>
                </a:solidFill>
                <a:highlight>
                  <a:srgbClr val="FFFF00"/>
                </a:highlight>
              </a:rPr>
              <a:t>분할출원된</a:t>
            </a:r>
            <a:r>
              <a:rPr lang="ko-KR" altLang="en-US" sz="1000" dirty="0">
                <a:solidFill>
                  <a:srgbClr val="FF0000"/>
                </a:solidFill>
                <a:highlight>
                  <a:srgbClr val="FFFF00"/>
                </a:highlight>
              </a:rPr>
              <a:t> 이 사건 특허발명의 청구범위를 해석할 때에도 참작할 수 있다</a:t>
            </a:r>
            <a:r>
              <a:rPr lang="en-US" altLang="ko-KR" sz="1000" dirty="0">
                <a:solidFill>
                  <a:srgbClr val="FF0000"/>
                </a:solidFill>
              </a:rPr>
              <a:t>.</a:t>
            </a:r>
            <a:r>
              <a:rPr lang="en-US" altLang="ko-KR" sz="1000" dirty="0"/>
              <a:t> </a:t>
            </a:r>
            <a:r>
              <a:rPr lang="ko-KR" altLang="en-US" sz="1000" dirty="0"/>
              <a:t>이를 참작하면</a:t>
            </a:r>
            <a:r>
              <a:rPr lang="en-US" altLang="ko-KR" sz="1000" dirty="0"/>
              <a:t>, </a:t>
            </a:r>
            <a:r>
              <a:rPr lang="ko-KR" altLang="en-US" sz="1000" dirty="0"/>
              <a:t>원고는 이 사건 제</a:t>
            </a:r>
            <a:r>
              <a:rPr lang="en-US" altLang="ko-KR" sz="1000" dirty="0"/>
              <a:t>1</a:t>
            </a:r>
            <a:r>
              <a:rPr lang="ko-KR" altLang="en-US" sz="1000" dirty="0"/>
              <a:t>항 발명의 ‘세정수단’ 중 ‘전기분해 방식으로 살균물질을 생성하여 세정하는 </a:t>
            </a:r>
            <a:r>
              <a:rPr lang="ko-KR" altLang="en-US" sz="1000" dirty="0" err="1"/>
              <a:t>수단’을</a:t>
            </a:r>
            <a:r>
              <a:rPr lang="ko-KR" altLang="en-US" sz="1000" dirty="0"/>
              <a:t> 의식적으로 제외하였다고 보인다</a:t>
            </a:r>
            <a:r>
              <a:rPr lang="en-US" altLang="ko-KR" sz="1000" dirty="0"/>
              <a:t>. </a:t>
            </a:r>
          </a:p>
          <a:p>
            <a:pPr marL="179388" indent="-179388" fontAlgn="base"/>
            <a:r>
              <a:rPr lang="en-US" altLang="ko-KR" sz="1000" dirty="0"/>
              <a:t>4)  </a:t>
            </a:r>
            <a:r>
              <a:rPr lang="ko-KR" altLang="en-US" sz="1000" dirty="0"/>
              <a:t>따라서 이 사건 제</a:t>
            </a:r>
            <a:r>
              <a:rPr lang="en-US" altLang="ko-KR" sz="1000" dirty="0"/>
              <a:t>1</a:t>
            </a:r>
            <a:r>
              <a:rPr lang="ko-KR" altLang="en-US" sz="1000" dirty="0"/>
              <a:t>항 발명의 </a:t>
            </a:r>
            <a:r>
              <a:rPr lang="ko-KR" altLang="en-US" sz="1000" dirty="0">
                <a:solidFill>
                  <a:srgbClr val="FF0000"/>
                </a:solidFill>
              </a:rPr>
              <a:t>‘</a:t>
            </a:r>
            <a:r>
              <a:rPr lang="ko-KR" altLang="en-US" sz="1000" dirty="0" err="1">
                <a:solidFill>
                  <a:srgbClr val="FF0000"/>
                </a:solidFill>
              </a:rPr>
              <a:t>세정수단’에</a:t>
            </a:r>
            <a:r>
              <a:rPr lang="ko-KR" altLang="en-US" sz="1000" dirty="0">
                <a:solidFill>
                  <a:srgbClr val="FF0000"/>
                </a:solidFill>
              </a:rPr>
              <a:t> 문언적으로 포함된다고 해석되는 것 중 ‘전기분해 방식으로 살균물질을 생성하여 세정하는 </a:t>
            </a:r>
            <a:r>
              <a:rPr lang="ko-KR" altLang="en-US" sz="1000" dirty="0" err="1">
                <a:solidFill>
                  <a:srgbClr val="FF0000"/>
                </a:solidFill>
              </a:rPr>
              <a:t>수단’은</a:t>
            </a:r>
            <a:r>
              <a:rPr lang="ko-KR" altLang="en-US" sz="1000" dirty="0">
                <a:solidFill>
                  <a:srgbClr val="FF0000"/>
                </a:solidFill>
              </a:rPr>
              <a:t> </a:t>
            </a:r>
            <a:r>
              <a:rPr lang="ko-KR" altLang="en-US" sz="1000" dirty="0">
                <a:solidFill>
                  <a:srgbClr val="FF0000"/>
                </a:solidFill>
                <a:highlight>
                  <a:srgbClr val="FFFF00"/>
                </a:highlight>
              </a:rPr>
              <a:t>발명에 관한 설명의 기재에 의하여 뒷받침되지 않고</a:t>
            </a:r>
            <a:r>
              <a:rPr lang="en-US" altLang="ko-KR" sz="1000" dirty="0">
                <a:solidFill>
                  <a:srgbClr val="FF0000"/>
                </a:solidFill>
                <a:highlight>
                  <a:srgbClr val="FFFF00"/>
                </a:highlight>
              </a:rPr>
              <a:t>, </a:t>
            </a:r>
            <a:r>
              <a:rPr lang="ko-KR" altLang="en-US" sz="1000" dirty="0" err="1">
                <a:solidFill>
                  <a:srgbClr val="FF0000"/>
                </a:solidFill>
                <a:highlight>
                  <a:srgbClr val="FFFF00"/>
                </a:highlight>
              </a:rPr>
              <a:t>출원인인</a:t>
            </a:r>
            <a:r>
              <a:rPr lang="ko-KR" altLang="en-US" sz="1000" dirty="0">
                <a:solidFill>
                  <a:srgbClr val="FF0000"/>
                </a:solidFill>
                <a:highlight>
                  <a:srgbClr val="FFFF00"/>
                </a:highlight>
              </a:rPr>
              <a:t> 원고가 특허권의 권리범위에서 의식적으로 제외한 부분에도 해당한다</a:t>
            </a:r>
            <a:r>
              <a:rPr lang="en-US" altLang="ko-KR" sz="1000" dirty="0">
                <a:solidFill>
                  <a:srgbClr val="FF0000"/>
                </a:solidFill>
                <a:highlight>
                  <a:srgbClr val="FFFF00"/>
                </a:highlight>
              </a:rPr>
              <a:t>. </a:t>
            </a:r>
            <a:r>
              <a:rPr lang="ko-KR" altLang="en-US" sz="1000" dirty="0">
                <a:solidFill>
                  <a:srgbClr val="FF0000"/>
                </a:solidFill>
                <a:highlight>
                  <a:srgbClr val="FFFF00"/>
                </a:highlight>
              </a:rPr>
              <a:t>그러므로 그 ‘</a:t>
            </a:r>
            <a:r>
              <a:rPr lang="ko-KR" altLang="en-US" sz="1000" dirty="0" err="1">
                <a:solidFill>
                  <a:srgbClr val="FF0000"/>
                </a:solidFill>
                <a:highlight>
                  <a:srgbClr val="FFFF00"/>
                </a:highlight>
              </a:rPr>
              <a:t>세정수단’을</a:t>
            </a:r>
            <a:r>
              <a:rPr lang="ko-KR" altLang="en-US" sz="1000" dirty="0">
                <a:solidFill>
                  <a:srgbClr val="FF0000"/>
                </a:solidFill>
                <a:highlight>
                  <a:srgbClr val="FFFF00"/>
                </a:highlight>
              </a:rPr>
              <a:t> 문언 그대로 해석하는 것은 명백히 불합리하다</a:t>
            </a:r>
            <a:r>
              <a:rPr lang="en-US" altLang="ko-KR" sz="1000" dirty="0">
                <a:solidFill>
                  <a:srgbClr val="FF0000"/>
                </a:solidFill>
                <a:highlight>
                  <a:srgbClr val="FFFF00"/>
                </a:highlight>
              </a:rPr>
              <a:t>.</a:t>
            </a:r>
          </a:p>
          <a:p>
            <a:pPr marL="179388" indent="-179388" fontAlgn="base"/>
            <a:r>
              <a:rPr lang="en-US" altLang="ko-KR" sz="1000" dirty="0"/>
              <a:t>5)  </a:t>
            </a:r>
            <a:r>
              <a:rPr lang="ko-KR" altLang="en-US" sz="1000" dirty="0">
                <a:solidFill>
                  <a:srgbClr val="FF0000"/>
                </a:solidFill>
              </a:rPr>
              <a:t>결국 출원된 기술사상의 내용</a:t>
            </a:r>
            <a:r>
              <a:rPr lang="en-US" altLang="ko-KR" sz="1000" dirty="0">
                <a:solidFill>
                  <a:srgbClr val="FF0000"/>
                </a:solidFill>
              </a:rPr>
              <a:t>, </a:t>
            </a:r>
            <a:r>
              <a:rPr lang="ko-KR" altLang="en-US" sz="1000" dirty="0">
                <a:solidFill>
                  <a:srgbClr val="FF0000"/>
                </a:solidFill>
              </a:rPr>
              <a:t>발명에 관한 설명의 기재</a:t>
            </a:r>
            <a:r>
              <a:rPr lang="en-US" altLang="ko-KR" sz="1000" dirty="0">
                <a:solidFill>
                  <a:srgbClr val="FF0000"/>
                </a:solidFill>
              </a:rPr>
              <a:t>, </a:t>
            </a:r>
            <a:r>
              <a:rPr lang="ko-KR" altLang="en-US" sz="1000" dirty="0">
                <a:solidFill>
                  <a:srgbClr val="FF0000"/>
                </a:solidFill>
              </a:rPr>
              <a:t>출원인의 의사</a:t>
            </a:r>
            <a:r>
              <a:rPr lang="en-US" altLang="ko-KR" sz="1000" dirty="0">
                <a:solidFill>
                  <a:srgbClr val="FF0000"/>
                </a:solidFill>
              </a:rPr>
              <a:t>, </a:t>
            </a:r>
            <a:r>
              <a:rPr lang="ko-KR" altLang="en-US" sz="1000" dirty="0">
                <a:solidFill>
                  <a:srgbClr val="FF0000"/>
                </a:solidFill>
              </a:rPr>
              <a:t>제</a:t>
            </a:r>
            <a:r>
              <a:rPr lang="en-US" altLang="ko-KR" sz="1000" dirty="0">
                <a:solidFill>
                  <a:srgbClr val="FF0000"/>
                </a:solidFill>
              </a:rPr>
              <a:t>3</a:t>
            </a:r>
            <a:r>
              <a:rPr lang="ko-KR" altLang="en-US" sz="1000" dirty="0">
                <a:solidFill>
                  <a:srgbClr val="FF0000"/>
                </a:solidFill>
              </a:rPr>
              <a:t>자에 대한 법적 안정성을 두루 참작</a:t>
            </a:r>
            <a:r>
              <a:rPr lang="ko-KR" altLang="en-US" sz="1000" dirty="0"/>
              <a:t>하면</a:t>
            </a:r>
            <a:r>
              <a:rPr lang="en-US" altLang="ko-KR" sz="1000" dirty="0"/>
              <a:t>, </a:t>
            </a:r>
            <a:r>
              <a:rPr lang="ko-KR" altLang="en-US" sz="1000" dirty="0"/>
              <a:t>이 사건 제</a:t>
            </a:r>
            <a:r>
              <a:rPr lang="en-US" altLang="ko-KR" sz="1000" dirty="0"/>
              <a:t>1</a:t>
            </a:r>
            <a:r>
              <a:rPr lang="ko-KR" altLang="en-US" sz="1000" dirty="0"/>
              <a:t>항 </a:t>
            </a:r>
            <a:r>
              <a:rPr lang="ko-KR" altLang="en-US" sz="1000" dirty="0">
                <a:solidFill>
                  <a:srgbClr val="FF0000"/>
                </a:solidFill>
              </a:rPr>
              <a:t>발명의 ‘</a:t>
            </a:r>
            <a:r>
              <a:rPr lang="ko-KR" altLang="en-US" sz="1000" dirty="0" err="1">
                <a:solidFill>
                  <a:srgbClr val="FF0000"/>
                </a:solidFill>
              </a:rPr>
              <a:t>세정수단’은</a:t>
            </a:r>
            <a:r>
              <a:rPr lang="ko-KR" altLang="en-US" sz="1000" dirty="0">
                <a:solidFill>
                  <a:srgbClr val="FF0000"/>
                </a:solidFill>
              </a:rPr>
              <a:t> ‘세정물질 또는 살균물질을 내부에 포함하고</a:t>
            </a:r>
            <a:r>
              <a:rPr lang="en-US" altLang="ko-KR" sz="1000" dirty="0">
                <a:solidFill>
                  <a:srgbClr val="FF0000"/>
                </a:solidFill>
              </a:rPr>
              <a:t>, </a:t>
            </a:r>
            <a:r>
              <a:rPr lang="ko-KR" altLang="en-US" sz="1000" dirty="0">
                <a:solidFill>
                  <a:srgbClr val="FF0000"/>
                </a:solidFill>
              </a:rPr>
              <a:t>그 세정물질 또는 살균물질을 여과부에서 여과된 물에 희석하여 저장탱크에 공급함으로써 저장탱크를 세정하기 위한 </a:t>
            </a:r>
            <a:r>
              <a:rPr lang="ko-KR" altLang="en-US" sz="1000" dirty="0" err="1">
                <a:solidFill>
                  <a:srgbClr val="FF0000"/>
                </a:solidFill>
              </a:rPr>
              <a:t>수단’으로</a:t>
            </a:r>
            <a:r>
              <a:rPr lang="ko-KR" altLang="en-US" sz="1000" dirty="0">
                <a:solidFill>
                  <a:srgbClr val="FF0000"/>
                </a:solidFill>
              </a:rPr>
              <a:t> 해석</a:t>
            </a:r>
            <a:r>
              <a:rPr lang="ko-KR" altLang="en-US" sz="1000" dirty="0"/>
              <a:t>하는 것이 타당하다</a:t>
            </a:r>
            <a:r>
              <a:rPr lang="en-US" altLang="ko-KR" sz="1000" dirty="0"/>
              <a:t>. </a:t>
            </a:r>
            <a:r>
              <a:rPr lang="ko-KR" altLang="en-US" sz="1000" dirty="0"/>
              <a:t>이 사건 </a:t>
            </a:r>
            <a:r>
              <a:rPr lang="ko-KR" altLang="en-US" sz="1000" dirty="0">
                <a:solidFill>
                  <a:srgbClr val="FF0000"/>
                </a:solidFill>
              </a:rPr>
              <a:t>제</a:t>
            </a:r>
            <a:r>
              <a:rPr lang="en-US" altLang="ko-KR" sz="1000" dirty="0">
                <a:solidFill>
                  <a:srgbClr val="FF0000"/>
                </a:solidFill>
              </a:rPr>
              <a:t>1</a:t>
            </a:r>
            <a:r>
              <a:rPr lang="ko-KR" altLang="en-US" sz="1000" dirty="0">
                <a:solidFill>
                  <a:srgbClr val="FF0000"/>
                </a:solidFill>
              </a:rPr>
              <a:t>항 발명 특허권의 권리범위가 이 사건 제</a:t>
            </a:r>
            <a:r>
              <a:rPr lang="en-US" altLang="ko-KR" sz="1000" dirty="0">
                <a:solidFill>
                  <a:srgbClr val="FF0000"/>
                </a:solidFill>
              </a:rPr>
              <a:t>1</a:t>
            </a:r>
            <a:r>
              <a:rPr lang="ko-KR" altLang="en-US" sz="1000" dirty="0">
                <a:solidFill>
                  <a:srgbClr val="FF0000"/>
                </a:solidFill>
              </a:rPr>
              <a:t>항 발명의 구성 중 ‘</a:t>
            </a:r>
            <a:r>
              <a:rPr lang="ko-KR" altLang="en-US" sz="1000" dirty="0" err="1">
                <a:solidFill>
                  <a:srgbClr val="FF0000"/>
                </a:solidFill>
              </a:rPr>
              <a:t>세정수단’을</a:t>
            </a:r>
            <a:r>
              <a:rPr lang="ko-KR" altLang="en-US" sz="1000" dirty="0">
                <a:solidFill>
                  <a:srgbClr val="FF0000"/>
                </a:solidFill>
              </a:rPr>
              <a:t> </a:t>
            </a:r>
            <a:r>
              <a:rPr lang="ko-KR" altLang="en-US" sz="1000" dirty="0">
                <a:solidFill>
                  <a:srgbClr val="FF0000"/>
                </a:solidFill>
                <a:highlight>
                  <a:srgbClr val="FFFF00"/>
                </a:highlight>
              </a:rPr>
              <a:t>구체적으로 한정한 </a:t>
            </a:r>
            <a:r>
              <a:rPr lang="ko-KR" altLang="en-US" sz="1000" dirty="0" err="1">
                <a:solidFill>
                  <a:srgbClr val="FF0000"/>
                </a:solidFill>
                <a:highlight>
                  <a:srgbClr val="FFFF00"/>
                </a:highlight>
              </a:rPr>
              <a:t>종속항인</a:t>
            </a:r>
            <a:r>
              <a:rPr lang="ko-KR" altLang="en-US" sz="1000" dirty="0">
                <a:solidFill>
                  <a:srgbClr val="FF0000"/>
                </a:solidFill>
                <a:highlight>
                  <a:srgbClr val="FFFF00"/>
                </a:highlight>
              </a:rPr>
              <a:t> 이 사건 제</a:t>
            </a:r>
            <a:r>
              <a:rPr lang="en-US" altLang="ko-KR" sz="1000" dirty="0">
                <a:solidFill>
                  <a:srgbClr val="FF0000"/>
                </a:solidFill>
                <a:highlight>
                  <a:srgbClr val="FFFF00"/>
                </a:highlight>
              </a:rPr>
              <a:t>5</a:t>
            </a:r>
            <a:r>
              <a:rPr lang="ko-KR" altLang="en-US" sz="1000" dirty="0">
                <a:solidFill>
                  <a:srgbClr val="FF0000"/>
                </a:solidFill>
                <a:highlight>
                  <a:srgbClr val="FFFF00"/>
                </a:highlight>
              </a:rPr>
              <a:t>항 발명 특허권이나 그 </a:t>
            </a:r>
            <a:r>
              <a:rPr lang="ko-KR" altLang="en-US" sz="1000" dirty="0" err="1">
                <a:solidFill>
                  <a:srgbClr val="FF0000"/>
                </a:solidFill>
                <a:highlight>
                  <a:srgbClr val="FFFF00"/>
                </a:highlight>
              </a:rPr>
              <a:t>종속항인</a:t>
            </a:r>
            <a:r>
              <a:rPr lang="ko-KR" altLang="en-US" sz="1000" dirty="0">
                <a:solidFill>
                  <a:srgbClr val="FF0000"/>
                </a:solidFill>
                <a:highlight>
                  <a:srgbClr val="FFFF00"/>
                </a:highlight>
              </a:rPr>
              <a:t> 이 사건 제</a:t>
            </a:r>
            <a:r>
              <a:rPr lang="en-US" altLang="ko-KR" sz="1000" dirty="0">
                <a:solidFill>
                  <a:srgbClr val="FF0000"/>
                </a:solidFill>
                <a:highlight>
                  <a:srgbClr val="FFFF00"/>
                </a:highlight>
              </a:rPr>
              <a:t>6</a:t>
            </a:r>
            <a:r>
              <a:rPr lang="ko-KR" altLang="en-US" sz="1000" dirty="0">
                <a:solidFill>
                  <a:srgbClr val="FF0000"/>
                </a:solidFill>
                <a:highlight>
                  <a:srgbClr val="FFFF00"/>
                </a:highlight>
              </a:rPr>
              <a:t>항 발명 특허권의 권리범위와 실질적으로 동일하게 된다고 하여도 마찬가지이다</a:t>
            </a:r>
            <a:r>
              <a:rPr lang="en-US" altLang="ko-KR" sz="1000" dirty="0">
                <a:highlight>
                  <a:srgbClr val="FFFF00"/>
                </a:highlight>
              </a:rPr>
              <a:t>.</a:t>
            </a:r>
          </a:p>
        </p:txBody>
      </p:sp>
      <p:sp>
        <p:nvSpPr>
          <p:cNvPr id="7" name="TextBox 6">
            <a:extLst>
              <a:ext uri="{FF2B5EF4-FFF2-40B4-BE49-F238E27FC236}">
                <a16:creationId xmlns:a16="http://schemas.microsoft.com/office/drawing/2014/main" id="{7001B615-050D-82E2-3421-74200140E53E}"/>
              </a:ext>
            </a:extLst>
          </p:cNvPr>
          <p:cNvSpPr txBox="1"/>
          <p:nvPr/>
        </p:nvSpPr>
        <p:spPr>
          <a:xfrm>
            <a:off x="5626001" y="973541"/>
            <a:ext cx="6439682" cy="1743106"/>
          </a:xfrm>
          <a:prstGeom prst="rect">
            <a:avLst/>
          </a:prstGeom>
          <a:solidFill>
            <a:schemeClr val="accent1">
              <a:lumMod val="20000"/>
              <a:lumOff val="80000"/>
            </a:schemeClr>
          </a:solidFill>
          <a:ln>
            <a:solidFill>
              <a:schemeClr val="bg1">
                <a:lumMod val="50000"/>
              </a:schemeClr>
            </a:solidFill>
          </a:ln>
        </p:spPr>
        <p:txBody>
          <a:bodyPr wrap="square">
            <a:spAutoFit/>
          </a:bodyPr>
          <a:lstStyle/>
          <a:p>
            <a:pPr marR="0" algn="just" fontAlgn="base" latinLnBrk="1">
              <a:lnSpc>
                <a:spcPct val="120000"/>
              </a:lnSpc>
              <a:buNone/>
              <a:tabLst>
                <a:tab pos="114300" algn="l"/>
                <a:tab pos="408940" algn="l"/>
                <a:tab pos="624840" algn="l"/>
                <a:tab pos="4561840" algn="r"/>
                <a:tab pos="114300" algn="l"/>
                <a:tab pos="408940" algn="l"/>
                <a:tab pos="624840" algn="l"/>
                <a:tab pos="4561840" algn="r"/>
              </a:tabLst>
            </a:pPr>
            <a:r>
              <a:rPr lang="en-US" altLang="ko-KR" sz="1000" b="1" kern="0" spc="-40" dirty="0">
                <a:effectLst/>
                <a:uFill>
                  <a:solidFill>
                    <a:srgbClr val="000000"/>
                  </a:solidFill>
                </a:uFill>
                <a:latin typeface="+mn-ea"/>
              </a:rPr>
              <a:t>(</a:t>
            </a:r>
            <a:r>
              <a:rPr lang="ko-KR" altLang="en-US" sz="1000" b="1" kern="0" spc="-40" dirty="0">
                <a:uFill>
                  <a:solidFill>
                    <a:srgbClr val="000000"/>
                  </a:solidFill>
                </a:uFill>
                <a:latin typeface="+mn-ea"/>
              </a:rPr>
              <a:t>균등론의 적용</a:t>
            </a:r>
            <a:r>
              <a:rPr lang="en-US" altLang="ko-KR" sz="1000" b="1" kern="0" spc="-40" dirty="0">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확인대상 발명과 특허발명의 ‘과제 해결원리가 </a:t>
            </a:r>
            <a:r>
              <a:rPr lang="ko-KR" altLang="en-US" sz="1000" kern="0" spc="-40" dirty="0" err="1">
                <a:solidFill>
                  <a:srgbClr val="000000"/>
                </a:solidFill>
                <a:effectLst/>
                <a:uFill>
                  <a:solidFill>
                    <a:srgbClr val="000000"/>
                  </a:solidFill>
                </a:uFill>
                <a:latin typeface="+mn-ea"/>
              </a:rPr>
              <a:t>동일’한지를</a:t>
            </a:r>
            <a:r>
              <a:rPr lang="ko-KR" altLang="en-US" sz="1000" kern="0" spc="-40" dirty="0">
                <a:solidFill>
                  <a:srgbClr val="000000"/>
                </a:solidFill>
                <a:effectLst/>
                <a:uFill>
                  <a:solidFill>
                    <a:srgbClr val="000000"/>
                  </a:solidFill>
                </a:uFill>
                <a:latin typeface="+mn-ea"/>
              </a:rPr>
              <a:t> 가릴 때에는 청구범위에 기재된 구성의 일부를 형식적으로 추출할 것이 아니라</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명세서에 적힌 발명에 관한 설명의 기재와 출원 당시의 공지기술 등을 참작하여 선행기술과 대비하여 볼 때 특허발명에 특유한 해결수단이 기초하고 있는 기술사상의 핵심이 무엇인가를 실질적으로 탐구하여 판단하여야 한다</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FF0000"/>
                </a:solidFill>
                <a:effectLst/>
                <a:uFill>
                  <a:solidFill>
                    <a:srgbClr val="000000"/>
                  </a:solidFill>
                </a:uFill>
                <a:latin typeface="+mn-ea"/>
              </a:rPr>
              <a:t>특허법이 보호하려는 특허발명의 실질적 가치는 선행기술에서 해결되지 않았던 기술과제를 특허발명이 해결하여 기술발전에 기여</a:t>
            </a:r>
            <a:r>
              <a:rPr lang="ko-KR" altLang="en-US" sz="1000" kern="0" spc="-40" dirty="0">
                <a:solidFill>
                  <a:srgbClr val="000000"/>
                </a:solidFill>
                <a:effectLst/>
                <a:uFill>
                  <a:solidFill>
                    <a:srgbClr val="000000"/>
                  </a:solidFill>
                </a:uFill>
                <a:latin typeface="+mn-ea"/>
              </a:rPr>
              <a:t>하였다는 데에 있으므로</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확인대상 발명의 변경된 구성요소가 특허발명의 대응되는 구성요소와 균등한지를 판단할 때에도 특허발명에 특유한 과제 해결원리를 고려하는 것이다</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그리고 특허발명의 과제 해결원리를 파악할 때 발명에 관한 설명의 </a:t>
            </a:r>
            <a:r>
              <a:rPr lang="ko-KR" altLang="en-US" sz="1000" kern="0" spc="-40" dirty="0" err="1">
                <a:solidFill>
                  <a:srgbClr val="000000"/>
                </a:solidFill>
                <a:effectLst/>
                <a:uFill>
                  <a:solidFill>
                    <a:srgbClr val="000000"/>
                  </a:solidFill>
                </a:uFill>
                <a:latin typeface="+mn-ea"/>
              </a:rPr>
              <a:t>기재뿐만</a:t>
            </a:r>
            <a:r>
              <a:rPr lang="ko-KR" altLang="en-US" sz="1000" kern="0" spc="-40" dirty="0">
                <a:solidFill>
                  <a:srgbClr val="000000"/>
                </a:solidFill>
                <a:effectLst/>
                <a:uFill>
                  <a:solidFill>
                    <a:srgbClr val="000000"/>
                  </a:solidFill>
                </a:uFill>
                <a:latin typeface="+mn-ea"/>
              </a:rPr>
              <a:t> 아니라 출원 당시의 공지기술 등까지 참작하는 것은 전체 선행기술과의 관계에서 특허발명이 기술발전에 기여한 정도에 따라 특허발명의 실질적 가치를 객관적으로 파악하여 그에 합당한 보호를 하기 위한 것이다</a:t>
            </a:r>
            <a:r>
              <a:rPr lang="en-US" altLang="ko-KR" sz="1000" kern="0" spc="-40" dirty="0">
                <a:solidFill>
                  <a:srgbClr val="000000"/>
                </a:solidFill>
                <a:effectLst/>
                <a:uFill>
                  <a:solidFill>
                    <a:srgbClr val="000000"/>
                  </a:solidFill>
                </a:uFill>
                <a:latin typeface="+mn-ea"/>
              </a:rPr>
              <a:t>. </a:t>
            </a:r>
            <a:r>
              <a:rPr lang="ko-KR" altLang="en-US" sz="1000" kern="0" spc="-40" dirty="0">
                <a:solidFill>
                  <a:srgbClr val="000000"/>
                </a:solidFill>
                <a:effectLst/>
                <a:uFill>
                  <a:solidFill>
                    <a:srgbClr val="000000"/>
                  </a:solidFill>
                </a:uFill>
                <a:latin typeface="+mn-ea"/>
              </a:rPr>
              <a:t>따라서 </a:t>
            </a:r>
            <a:r>
              <a:rPr lang="ko-KR" altLang="en-US" sz="1000" kern="0" spc="-40" dirty="0">
                <a:solidFill>
                  <a:srgbClr val="FF0000"/>
                </a:solidFill>
                <a:effectLst/>
                <a:uFill>
                  <a:solidFill>
                    <a:srgbClr val="000000"/>
                  </a:solidFill>
                </a:uFill>
                <a:latin typeface="+mn-ea"/>
              </a:rPr>
              <a:t>이러한 선행기술을 참작하여 특허발명이 기술발전에 기여한 정도에 따라 특허발명의 과제 해결원리를 얼마나 넓게 또는 좁게 파악할지 결정</a:t>
            </a:r>
            <a:r>
              <a:rPr lang="ko-KR" altLang="en-US" sz="1000" kern="0" spc="-40" dirty="0">
                <a:solidFill>
                  <a:srgbClr val="000000"/>
                </a:solidFill>
                <a:effectLst/>
                <a:uFill>
                  <a:solidFill>
                    <a:srgbClr val="000000"/>
                  </a:solidFill>
                </a:uFill>
                <a:latin typeface="+mn-ea"/>
              </a:rPr>
              <a:t>하여야 한다</a:t>
            </a:r>
            <a:endParaRPr lang="ko-KR" altLang="en-US" sz="1000" kern="0" spc="-30" dirty="0">
              <a:solidFill>
                <a:srgbClr val="000000"/>
              </a:solidFill>
              <a:effectLst/>
              <a:latin typeface="+mn-ea"/>
            </a:endParaRPr>
          </a:p>
        </p:txBody>
      </p:sp>
      <p:sp>
        <p:nvSpPr>
          <p:cNvPr id="8" name="직사각형 7">
            <a:extLst>
              <a:ext uri="{FF2B5EF4-FFF2-40B4-BE49-F238E27FC236}">
                <a16:creationId xmlns:a16="http://schemas.microsoft.com/office/drawing/2014/main" id="{ED9CBCD5-11D3-3E74-6F59-6E197642956D}"/>
              </a:ext>
            </a:extLst>
          </p:cNvPr>
          <p:cNvSpPr/>
          <p:nvPr/>
        </p:nvSpPr>
        <p:spPr>
          <a:xfrm>
            <a:off x="5626001" y="2726549"/>
            <a:ext cx="6467373" cy="4093428"/>
          </a:xfrm>
          <a:prstGeom prst="rect">
            <a:avLst/>
          </a:prstGeom>
        </p:spPr>
        <p:txBody>
          <a:bodyPr wrap="square">
            <a:spAutoFit/>
          </a:bodyPr>
          <a:lstStyle/>
          <a:p>
            <a:pPr marL="179388" indent="-179388" fontAlgn="base"/>
            <a:r>
              <a:rPr lang="en-US" altLang="ko-KR" sz="1000" dirty="0"/>
              <a:t>1)  </a:t>
            </a:r>
            <a:r>
              <a:rPr lang="ko-KR" altLang="en-US" sz="1000" dirty="0"/>
              <a:t>이 사건 제</a:t>
            </a:r>
            <a:r>
              <a:rPr lang="en-US" altLang="ko-KR" sz="1000" dirty="0"/>
              <a:t>1</a:t>
            </a:r>
            <a:r>
              <a:rPr lang="ko-KR" altLang="en-US" sz="1000" dirty="0"/>
              <a:t>항 발명의</a:t>
            </a:r>
            <a:r>
              <a:rPr lang="ko-KR" altLang="en-US" sz="1000" dirty="0">
                <a:solidFill>
                  <a:srgbClr val="FF0000"/>
                </a:solidFill>
              </a:rPr>
              <a:t> ‘</a:t>
            </a:r>
            <a:r>
              <a:rPr lang="ko-KR" altLang="en-US" sz="1000" dirty="0" err="1">
                <a:solidFill>
                  <a:srgbClr val="FF0000"/>
                </a:solidFill>
              </a:rPr>
              <a:t>세정수단’은</a:t>
            </a:r>
            <a:r>
              <a:rPr lang="ko-KR" altLang="en-US" sz="1000" dirty="0">
                <a:solidFill>
                  <a:srgbClr val="FF0000"/>
                </a:solidFill>
              </a:rPr>
              <a:t> ‘세정물질 또는 살균물질을 내부에 포함하고</a:t>
            </a:r>
            <a:r>
              <a:rPr lang="en-US" altLang="ko-KR" sz="1000" dirty="0">
                <a:solidFill>
                  <a:srgbClr val="FF0000"/>
                </a:solidFill>
              </a:rPr>
              <a:t>, </a:t>
            </a:r>
            <a:r>
              <a:rPr lang="ko-KR" altLang="en-US" sz="1000" dirty="0">
                <a:solidFill>
                  <a:srgbClr val="FF0000"/>
                </a:solidFill>
              </a:rPr>
              <a:t>그 세정물질 또는 살균물질을 여과부에서 여과된 물에 희석하여 저장탱크에 공급함으로써 저장탱크를 세정하기 위한 </a:t>
            </a:r>
            <a:r>
              <a:rPr lang="ko-KR" altLang="en-US" sz="1000" dirty="0" err="1">
                <a:solidFill>
                  <a:srgbClr val="FF0000"/>
                </a:solidFill>
              </a:rPr>
              <a:t>수단</a:t>
            </a:r>
            <a:r>
              <a:rPr lang="ko-KR" altLang="en-US" sz="1000" dirty="0" err="1"/>
              <a:t>’이다</a:t>
            </a:r>
            <a:r>
              <a:rPr lang="en-US" altLang="ko-KR" sz="1000" dirty="0"/>
              <a:t>. </a:t>
            </a:r>
            <a:r>
              <a:rPr lang="ko-KR" altLang="en-US" sz="1000" dirty="0"/>
              <a:t>이에 대응하는 확인대상 발명의 구성요소는 </a:t>
            </a:r>
            <a:r>
              <a:rPr lang="ko-KR" altLang="en-US" sz="1000" dirty="0">
                <a:solidFill>
                  <a:srgbClr val="FF0000"/>
                </a:solidFill>
              </a:rPr>
              <a:t>‘여과부에서 여과된 물</a:t>
            </a:r>
            <a:r>
              <a:rPr lang="en-US" altLang="ko-KR" sz="1000" dirty="0">
                <a:solidFill>
                  <a:srgbClr val="FF0000"/>
                </a:solidFill>
              </a:rPr>
              <a:t>(</a:t>
            </a:r>
            <a:r>
              <a:rPr lang="ko-KR" altLang="en-US" sz="1000" dirty="0" err="1">
                <a:solidFill>
                  <a:srgbClr val="FF0000"/>
                </a:solidFill>
              </a:rPr>
              <a:t>선카본필터만</a:t>
            </a:r>
            <a:r>
              <a:rPr lang="ko-KR" altLang="en-US" sz="1000" dirty="0">
                <a:solidFill>
                  <a:srgbClr val="FF0000"/>
                </a:solidFill>
              </a:rPr>
              <a:t> 통과한 것</a:t>
            </a:r>
            <a:r>
              <a:rPr lang="en-US" altLang="ko-KR" sz="1000" dirty="0">
                <a:solidFill>
                  <a:srgbClr val="FF0000"/>
                </a:solidFill>
              </a:rPr>
              <a:t>)</a:t>
            </a:r>
            <a:r>
              <a:rPr lang="ko-KR" altLang="en-US" sz="1000" dirty="0">
                <a:solidFill>
                  <a:srgbClr val="FF0000"/>
                </a:solidFill>
              </a:rPr>
              <a:t>을 </a:t>
            </a:r>
            <a:r>
              <a:rPr lang="ko-KR" altLang="en-US" sz="1000" dirty="0" err="1">
                <a:solidFill>
                  <a:srgbClr val="FF0000"/>
                </a:solidFill>
              </a:rPr>
              <a:t>전기분해하여</a:t>
            </a:r>
            <a:r>
              <a:rPr lang="ko-KR" altLang="en-US" sz="1000" dirty="0">
                <a:solidFill>
                  <a:srgbClr val="FF0000"/>
                </a:solidFill>
              </a:rPr>
              <a:t> </a:t>
            </a:r>
            <a:r>
              <a:rPr lang="ko-KR" altLang="en-US" sz="1000" dirty="0" err="1">
                <a:solidFill>
                  <a:srgbClr val="FF0000"/>
                </a:solidFill>
              </a:rPr>
              <a:t>전기분해수를</a:t>
            </a:r>
            <a:r>
              <a:rPr lang="ko-KR" altLang="en-US" sz="1000" dirty="0">
                <a:solidFill>
                  <a:srgbClr val="FF0000"/>
                </a:solidFill>
              </a:rPr>
              <a:t> 생성하는 전극 살균기로서</a:t>
            </a:r>
            <a:r>
              <a:rPr lang="en-US" altLang="ko-KR" sz="1000" dirty="0">
                <a:solidFill>
                  <a:srgbClr val="FF0000"/>
                </a:solidFill>
              </a:rPr>
              <a:t>, </a:t>
            </a:r>
            <a:r>
              <a:rPr lang="ko-KR" altLang="en-US" sz="1000" dirty="0">
                <a:solidFill>
                  <a:srgbClr val="FF0000"/>
                </a:solidFill>
              </a:rPr>
              <a:t>전극 살균기에서 생성된 전기분해수로 유로와 정수탱크를 살균하는 </a:t>
            </a:r>
            <a:r>
              <a:rPr lang="ko-KR" altLang="en-US" sz="1000" dirty="0" err="1">
                <a:solidFill>
                  <a:srgbClr val="FF0000"/>
                </a:solidFill>
              </a:rPr>
              <a:t>것’</a:t>
            </a:r>
            <a:r>
              <a:rPr lang="ko-KR" altLang="en-US" sz="1000" dirty="0" err="1"/>
              <a:t>으로</a:t>
            </a:r>
            <a:r>
              <a:rPr lang="ko-KR" altLang="en-US" sz="1000" dirty="0"/>
              <a:t> 이 사건 제</a:t>
            </a:r>
            <a:r>
              <a:rPr lang="en-US" altLang="ko-KR" sz="1000" dirty="0"/>
              <a:t>1</a:t>
            </a:r>
            <a:r>
              <a:rPr lang="ko-KR" altLang="en-US" sz="1000" dirty="0"/>
              <a:t>항 발명의 ‘</a:t>
            </a:r>
            <a:r>
              <a:rPr lang="ko-KR" altLang="en-US" sz="1000" dirty="0" err="1"/>
              <a:t>세정수단’과</a:t>
            </a:r>
            <a:r>
              <a:rPr lang="ko-KR" altLang="en-US" sz="1000" dirty="0"/>
              <a:t> 차이가 있다</a:t>
            </a:r>
            <a:r>
              <a:rPr lang="en-US" altLang="ko-KR" sz="1000" dirty="0"/>
              <a:t>.</a:t>
            </a:r>
          </a:p>
          <a:p>
            <a:pPr marL="179388" indent="-179388" fontAlgn="base"/>
            <a:r>
              <a:rPr lang="en-US" altLang="ko-KR" sz="1000" dirty="0"/>
              <a:t>2)  </a:t>
            </a:r>
            <a:r>
              <a:rPr lang="ko-KR" altLang="en-US" sz="1000" dirty="0">
                <a:solidFill>
                  <a:srgbClr val="FF0000"/>
                </a:solidFill>
              </a:rPr>
              <a:t>특허발명 명세서의 발명에 관한 설명</a:t>
            </a:r>
            <a:r>
              <a:rPr lang="ko-KR" altLang="en-US" sz="1000" dirty="0"/>
              <a:t>에 따르면</a:t>
            </a:r>
            <a:r>
              <a:rPr lang="en-US" altLang="ko-KR" sz="1000" dirty="0"/>
              <a:t>, </a:t>
            </a:r>
            <a:r>
              <a:rPr lang="ko-KR" altLang="en-US" sz="1000" dirty="0"/>
              <a:t>이 사건 제</a:t>
            </a:r>
            <a:r>
              <a:rPr lang="en-US" altLang="ko-KR" sz="1000" dirty="0"/>
              <a:t>1</a:t>
            </a:r>
            <a:r>
              <a:rPr lang="ko-KR" altLang="en-US" sz="1000" dirty="0"/>
              <a:t>항 발명이 해결하려는 과제는 </a:t>
            </a:r>
            <a:r>
              <a:rPr lang="ko-KR" altLang="en-US" sz="1000" dirty="0">
                <a:solidFill>
                  <a:srgbClr val="FF0000"/>
                </a:solidFill>
              </a:rPr>
              <a:t>정수기의 저장탱크를 정수기에서 분리할 필요 없이 자가 세정</a:t>
            </a:r>
            <a:r>
              <a:rPr lang="ko-KR" altLang="en-US" sz="1000" dirty="0"/>
              <a:t>할 수 있도록 하는 것이다</a:t>
            </a:r>
            <a:r>
              <a:rPr lang="en-US" altLang="ko-KR" sz="1000" dirty="0"/>
              <a:t>. </a:t>
            </a:r>
            <a:r>
              <a:rPr lang="ko-KR" altLang="en-US" sz="1000" dirty="0"/>
              <a:t>이를 위해 이 사건 제</a:t>
            </a:r>
            <a:r>
              <a:rPr lang="en-US" altLang="ko-KR" sz="1000" dirty="0"/>
              <a:t>1</a:t>
            </a:r>
            <a:r>
              <a:rPr lang="ko-KR" altLang="en-US" sz="1000" dirty="0"/>
              <a:t>항 발명은</a:t>
            </a:r>
            <a:r>
              <a:rPr lang="en-US" altLang="ko-KR" sz="1000" dirty="0"/>
              <a:t>, </a:t>
            </a:r>
            <a:r>
              <a:rPr lang="ko-KR" altLang="en-US" sz="1000" dirty="0"/>
              <a:t>자가 세정을 위해 정수기의 여과부에서 여과되는 물을 사용하되</a:t>
            </a:r>
            <a:r>
              <a:rPr lang="en-US" altLang="ko-KR" sz="1000" dirty="0"/>
              <a:t>, </a:t>
            </a:r>
            <a:r>
              <a:rPr lang="ko-KR" altLang="en-US" sz="1000" dirty="0"/>
              <a:t>여과부에 구비된 다수 개의 필터 중 일부 필터만을 통과하여 여과된 물</a:t>
            </a:r>
            <a:r>
              <a:rPr lang="en-US" altLang="ko-KR" sz="1000" dirty="0"/>
              <a:t>[</a:t>
            </a:r>
            <a:r>
              <a:rPr lang="ko-KR" altLang="en-US" sz="1000" dirty="0" err="1"/>
              <a:t>알오</a:t>
            </a:r>
            <a:r>
              <a:rPr lang="en-US" altLang="ko-KR" sz="1000" dirty="0"/>
              <a:t>(RO)</a:t>
            </a:r>
            <a:r>
              <a:rPr lang="ko-KR" altLang="en-US" sz="1000" dirty="0" err="1"/>
              <a:t>멤브레인</a:t>
            </a:r>
            <a:r>
              <a:rPr lang="ko-KR" altLang="en-US" sz="1000" dirty="0"/>
              <a:t> 필터 등은 통과하지 않는다</a:t>
            </a:r>
            <a:r>
              <a:rPr lang="en-US" altLang="ko-KR" sz="1000" dirty="0"/>
              <a:t>]</a:t>
            </a:r>
            <a:r>
              <a:rPr lang="ko-KR" altLang="en-US" sz="1000" dirty="0"/>
              <a:t>을 사용하고</a:t>
            </a:r>
            <a:r>
              <a:rPr lang="en-US" altLang="ko-KR" sz="1000" dirty="0"/>
              <a:t>, </a:t>
            </a:r>
            <a:r>
              <a:rPr lang="ko-KR" altLang="en-US" sz="1000" dirty="0"/>
              <a:t>세정수단에 포함된 세정물질 또는 살균물질을 그와 같이 여과된 물에 희석시켜 저장탱크에 공급하는 해결수단을 채택하고 있다</a:t>
            </a:r>
            <a:r>
              <a:rPr lang="en-US" altLang="ko-KR" sz="1000" dirty="0"/>
              <a:t>.</a:t>
            </a:r>
          </a:p>
          <a:p>
            <a:pPr marL="179388" indent="-179388" fontAlgn="base"/>
            <a:r>
              <a:rPr lang="en-US" altLang="ko-KR" sz="1000" dirty="0"/>
              <a:t>3)  </a:t>
            </a:r>
            <a:r>
              <a:rPr lang="ko-KR" altLang="en-US" sz="1000" dirty="0"/>
              <a:t>그런데 이 사건 </a:t>
            </a:r>
            <a:r>
              <a:rPr lang="ko-KR" altLang="en-US" sz="1000" dirty="0">
                <a:solidFill>
                  <a:srgbClr val="FF0000"/>
                </a:solidFill>
              </a:rPr>
              <a:t>특허발명의 출원 당시 공지된 선행기술 문헌</a:t>
            </a:r>
            <a:r>
              <a:rPr lang="ko-KR" altLang="en-US" sz="1000" dirty="0"/>
              <a:t>에는</a:t>
            </a:r>
            <a:r>
              <a:rPr lang="en-US" altLang="ko-KR" sz="1000" dirty="0"/>
              <a:t>, </a:t>
            </a:r>
            <a:r>
              <a:rPr lang="ko-KR" altLang="en-US" sz="1000" dirty="0"/>
              <a:t>정수기의 </a:t>
            </a:r>
            <a:r>
              <a:rPr lang="ko-KR" altLang="en-US" sz="1000" dirty="0">
                <a:solidFill>
                  <a:srgbClr val="FF0000"/>
                </a:solidFill>
              </a:rPr>
              <a:t>여과부에서 여과되는 물을 활용</a:t>
            </a:r>
            <a:r>
              <a:rPr lang="ko-KR" altLang="en-US" sz="1000" dirty="0"/>
              <a:t>하여 저수조를 자동으로 살균 또는 소독하는 기술</a:t>
            </a:r>
            <a:r>
              <a:rPr lang="en-US" altLang="ko-KR" sz="1000" dirty="0"/>
              <a:t>, </a:t>
            </a:r>
            <a:r>
              <a:rPr lang="ko-KR" altLang="en-US" sz="1000" dirty="0"/>
              <a:t>정수기의 수조 등을 소독하기 위해 염소수나 </a:t>
            </a:r>
            <a:r>
              <a:rPr lang="ko-KR" altLang="en-US" sz="1000" dirty="0" err="1"/>
              <a:t>살균수를</a:t>
            </a:r>
            <a:r>
              <a:rPr lang="ko-KR" altLang="en-US" sz="1000" dirty="0"/>
              <a:t> 생성할 때 </a:t>
            </a:r>
            <a:r>
              <a:rPr lang="ko-KR" altLang="en-US" sz="1000" dirty="0">
                <a:solidFill>
                  <a:srgbClr val="FF0000"/>
                </a:solidFill>
              </a:rPr>
              <a:t>살균장치에 공급되는 물은 일부의 필터만을 거치고 나머지 필터는 거치지 않도록 하여</a:t>
            </a:r>
            <a:r>
              <a:rPr lang="ko-KR" altLang="en-US" sz="1000" dirty="0"/>
              <a:t> 필터의 수명 단축을 방지하는 기술 등이 개시되어 있다</a:t>
            </a:r>
            <a:r>
              <a:rPr lang="en-US" altLang="ko-KR" sz="1000" dirty="0"/>
              <a:t>.</a:t>
            </a:r>
          </a:p>
          <a:p>
            <a:pPr marL="179388" indent="-179388" fontAlgn="base"/>
            <a:r>
              <a:rPr lang="en-US" altLang="ko-KR" sz="1000" dirty="0"/>
              <a:t>4)  </a:t>
            </a:r>
            <a:r>
              <a:rPr lang="ko-KR" altLang="en-US" sz="1000" dirty="0"/>
              <a:t>위와 같은 이 사건 </a:t>
            </a:r>
            <a:r>
              <a:rPr lang="ko-KR" altLang="en-US" sz="1000" dirty="0">
                <a:solidFill>
                  <a:srgbClr val="FF0000"/>
                </a:solidFill>
              </a:rPr>
              <a:t>특허발명의 명세서에 적힌 발명에 관한 설명의 기재와 출원 당시의 공지기술 등을 참작</a:t>
            </a:r>
            <a:r>
              <a:rPr lang="ko-KR" altLang="en-US" sz="1000" dirty="0"/>
              <a:t>하면</a:t>
            </a:r>
            <a:r>
              <a:rPr lang="en-US" altLang="ko-KR" sz="1000" dirty="0"/>
              <a:t>, </a:t>
            </a:r>
            <a:r>
              <a:rPr lang="ko-KR" altLang="en-US" sz="1000" dirty="0"/>
              <a:t>이 사건 제</a:t>
            </a:r>
            <a:r>
              <a:rPr lang="en-US" altLang="ko-KR" sz="1000" dirty="0"/>
              <a:t>1</a:t>
            </a:r>
            <a:r>
              <a:rPr lang="ko-KR" altLang="en-US" sz="1000" dirty="0"/>
              <a:t>항 발명은 출원 당시 이미 공지된 ‘정수기의 여과부에서 여과되는 물을 정수기의 자가 세정에 사용하되</a:t>
            </a:r>
            <a:r>
              <a:rPr lang="en-US" altLang="ko-KR" sz="1000" dirty="0"/>
              <a:t>, </a:t>
            </a:r>
            <a:r>
              <a:rPr lang="ko-KR" altLang="en-US" sz="1000" dirty="0"/>
              <a:t>여과부에 구비된 필터 중 일부 필터만을 통과하여 여과된 물을 사용한다</a:t>
            </a:r>
            <a:r>
              <a:rPr lang="en-US" altLang="ko-KR" sz="1000" dirty="0"/>
              <a:t>.’</a:t>
            </a:r>
            <a:r>
              <a:rPr lang="ko-KR" altLang="en-US" sz="1000" dirty="0"/>
              <a:t>는 기술사상에다가 세정물질 또는 살균물질을 내부에 포함하는 ‘세정수단’ 구성을 결합한 것이어서 선행기술과의 관계에서 기술발전에 기여한 정도가 크다고 보기는 어렵다</a:t>
            </a:r>
            <a:r>
              <a:rPr lang="en-US" altLang="ko-KR" sz="1000" dirty="0"/>
              <a:t>. </a:t>
            </a:r>
            <a:r>
              <a:rPr lang="ko-KR" altLang="en-US" sz="1000" dirty="0"/>
              <a:t>따라서 이 사건 </a:t>
            </a:r>
            <a:r>
              <a:rPr lang="ko-KR" altLang="en-US" sz="1000" dirty="0">
                <a:solidFill>
                  <a:srgbClr val="FF0000"/>
                </a:solidFill>
                <a:highlight>
                  <a:srgbClr val="FFFF00"/>
                </a:highlight>
              </a:rPr>
              <a:t>제</a:t>
            </a:r>
            <a:r>
              <a:rPr lang="en-US" altLang="ko-KR" sz="1000" dirty="0">
                <a:solidFill>
                  <a:srgbClr val="FF0000"/>
                </a:solidFill>
                <a:highlight>
                  <a:srgbClr val="FFFF00"/>
                </a:highlight>
              </a:rPr>
              <a:t>1</a:t>
            </a:r>
            <a:r>
              <a:rPr lang="ko-KR" altLang="en-US" sz="1000" dirty="0">
                <a:solidFill>
                  <a:srgbClr val="FF0000"/>
                </a:solidFill>
                <a:highlight>
                  <a:srgbClr val="FFFF00"/>
                </a:highlight>
              </a:rPr>
              <a:t>항 발명에 특유한 과제 해결원리는 청구범위 기재에 근접한 정도로 파악</a:t>
            </a:r>
            <a:r>
              <a:rPr lang="ko-KR" altLang="en-US" sz="1000" dirty="0"/>
              <a:t>하여야 한다</a:t>
            </a:r>
            <a:r>
              <a:rPr lang="en-US" altLang="ko-KR" sz="1000" dirty="0"/>
              <a:t>.</a:t>
            </a:r>
          </a:p>
          <a:p>
            <a:pPr marL="179388" indent="-179388" fontAlgn="base"/>
            <a:r>
              <a:rPr lang="en-US" altLang="ko-KR" sz="1000" dirty="0"/>
              <a:t>5)  </a:t>
            </a:r>
            <a:r>
              <a:rPr lang="ko-KR" altLang="en-US" sz="1000" dirty="0"/>
              <a:t>그런데 확인대상 발명은 </a:t>
            </a:r>
            <a:r>
              <a:rPr lang="ko-KR" altLang="en-US" sz="1000" dirty="0">
                <a:solidFill>
                  <a:srgbClr val="FF0000"/>
                </a:solidFill>
              </a:rPr>
              <a:t>여과부의 일부 필터를 통해 여과된 물로 전극 살균기를 통해 </a:t>
            </a:r>
            <a:r>
              <a:rPr lang="ko-KR" altLang="en-US" sz="1000" dirty="0" err="1">
                <a:solidFill>
                  <a:srgbClr val="FF0000"/>
                </a:solidFill>
              </a:rPr>
              <a:t>전기분해수를</a:t>
            </a:r>
            <a:r>
              <a:rPr lang="ko-KR" altLang="en-US" sz="1000" dirty="0">
                <a:solidFill>
                  <a:srgbClr val="FF0000"/>
                </a:solidFill>
              </a:rPr>
              <a:t> 생성하여 정수탱크를 자가 세정</a:t>
            </a:r>
            <a:r>
              <a:rPr lang="ko-KR" altLang="en-US" sz="1000" dirty="0"/>
              <a:t>하는 반면</a:t>
            </a:r>
            <a:r>
              <a:rPr lang="en-US" altLang="ko-KR" sz="1000" dirty="0"/>
              <a:t>, </a:t>
            </a:r>
            <a:r>
              <a:rPr lang="ko-KR" altLang="en-US" sz="1000" dirty="0"/>
              <a:t>이 사건 제</a:t>
            </a:r>
            <a:r>
              <a:rPr lang="en-US" altLang="ko-KR" sz="1000" dirty="0"/>
              <a:t>1</a:t>
            </a:r>
            <a:r>
              <a:rPr lang="ko-KR" altLang="en-US" sz="1000" dirty="0"/>
              <a:t>항 발명은 </a:t>
            </a:r>
            <a:r>
              <a:rPr lang="ko-KR" altLang="en-US" sz="1000" dirty="0">
                <a:solidFill>
                  <a:srgbClr val="FF0000"/>
                </a:solidFill>
              </a:rPr>
              <a:t>여과부의 일부 필터를 통해 여과된 물에 세정물질 또는 살균물질을 희석하여 저장탱크를 자가 세정</a:t>
            </a:r>
            <a:r>
              <a:rPr lang="ko-KR" altLang="en-US" sz="1000" dirty="0"/>
              <a:t>하므로</a:t>
            </a:r>
            <a:r>
              <a:rPr lang="en-US" altLang="ko-KR" sz="1000" dirty="0"/>
              <a:t>, </a:t>
            </a:r>
            <a:r>
              <a:rPr lang="ko-KR" altLang="en-US" sz="1000" dirty="0">
                <a:solidFill>
                  <a:srgbClr val="FF0000"/>
                </a:solidFill>
              </a:rPr>
              <a:t>확인대상 발명은 이 사건 제</a:t>
            </a:r>
            <a:r>
              <a:rPr lang="en-US" altLang="ko-KR" sz="1000" dirty="0">
                <a:solidFill>
                  <a:srgbClr val="FF0000"/>
                </a:solidFill>
              </a:rPr>
              <a:t>1</a:t>
            </a:r>
            <a:r>
              <a:rPr lang="ko-KR" altLang="en-US" sz="1000" dirty="0">
                <a:solidFill>
                  <a:srgbClr val="FF0000"/>
                </a:solidFill>
              </a:rPr>
              <a:t>항 발명과 과제 해결원리가 동일하다고 볼 수 없다</a:t>
            </a:r>
            <a:r>
              <a:rPr lang="en-US" altLang="ko-KR" sz="1000" dirty="0"/>
              <a:t>. </a:t>
            </a:r>
          </a:p>
          <a:p>
            <a:pPr marL="179388" indent="-179388" fontAlgn="base"/>
            <a:r>
              <a:rPr lang="en-US" altLang="ko-KR" sz="1000" dirty="0"/>
              <a:t>6)  </a:t>
            </a:r>
            <a:r>
              <a:rPr lang="ko-KR" altLang="en-US" sz="1000" dirty="0"/>
              <a:t>따라서 확인대상 발명은 이 사건 제</a:t>
            </a:r>
            <a:r>
              <a:rPr lang="en-US" altLang="ko-KR" sz="1000" dirty="0"/>
              <a:t>1</a:t>
            </a:r>
            <a:r>
              <a:rPr lang="ko-KR" altLang="en-US" sz="1000" dirty="0"/>
              <a:t>항 발명의 청구범위에 기재된 구성요소와 동일하거나 균등한 구성요소 및 그 구성요소들 사이의 유기적 결합관계를 그대로 포함하고 있지 않으므로 이 사건 제</a:t>
            </a:r>
            <a:r>
              <a:rPr lang="en-US" altLang="ko-KR" sz="1000" dirty="0"/>
              <a:t>1</a:t>
            </a:r>
            <a:r>
              <a:rPr lang="ko-KR" altLang="en-US" sz="1000" dirty="0"/>
              <a:t>항 발명 특허권의 권리범위에 속하지 않고</a:t>
            </a:r>
            <a:r>
              <a:rPr lang="en-US" altLang="ko-KR" sz="1000" dirty="0"/>
              <a:t>, </a:t>
            </a:r>
            <a:r>
              <a:rPr lang="ko-KR" altLang="en-US" sz="1000" dirty="0"/>
              <a:t>이 사건 제</a:t>
            </a:r>
            <a:r>
              <a:rPr lang="en-US" altLang="ko-KR" sz="1000" dirty="0"/>
              <a:t>1</a:t>
            </a:r>
            <a:r>
              <a:rPr lang="ko-KR" altLang="en-US" sz="1000" dirty="0"/>
              <a:t>항 발명을 인용하는 </a:t>
            </a:r>
            <a:r>
              <a:rPr lang="ko-KR" altLang="en-US" sz="1000" dirty="0" err="1"/>
              <a:t>종속항</a:t>
            </a:r>
            <a:r>
              <a:rPr lang="ko-KR" altLang="en-US" sz="1000" dirty="0"/>
              <a:t> 발명인 이 사건 제</a:t>
            </a:r>
            <a:r>
              <a:rPr lang="en-US" altLang="ko-KR" sz="1000" dirty="0"/>
              <a:t>10</a:t>
            </a:r>
            <a:r>
              <a:rPr lang="ko-KR" altLang="en-US" sz="1000" dirty="0"/>
              <a:t>항 발명 특허권의 권리범위에도 속하지 않는다</a:t>
            </a:r>
            <a:r>
              <a:rPr lang="en-US" altLang="ko-KR" sz="1000" dirty="0"/>
              <a:t>.</a:t>
            </a:r>
          </a:p>
        </p:txBody>
      </p:sp>
    </p:spTree>
    <p:extLst>
      <p:ext uri="{BB962C8B-B14F-4D97-AF65-F5344CB8AC3E}">
        <p14:creationId xmlns:p14="http://schemas.microsoft.com/office/powerpoint/2010/main" val="812970170"/>
      </p:ext>
    </p:extLst>
  </p:cSld>
  <p:clrMapOvr>
    <a:masterClrMapping/>
  </p:clrMapOvr>
  <p:transition/>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직사각형 53">
            <a:extLst>
              <a:ext uri="{FF2B5EF4-FFF2-40B4-BE49-F238E27FC236}">
                <a16:creationId xmlns:a16="http://schemas.microsoft.com/office/drawing/2014/main" id="{09C238A0-7356-46E4-911B-9818AEA8D9FD}"/>
              </a:ext>
            </a:extLst>
          </p:cNvPr>
          <p:cNvSpPr/>
          <p:nvPr/>
        </p:nvSpPr>
        <p:spPr>
          <a:xfrm>
            <a:off x="5641676" y="4140678"/>
            <a:ext cx="4899803" cy="54817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제목 3"/>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5" name="텍스트 개체 틀 4"/>
          <p:cNvSpPr>
            <a:spLocks noGrp="1"/>
          </p:cNvSpPr>
          <p:nvPr>
            <p:ph type="body" sz="quarter" idx="13"/>
          </p:nvPr>
        </p:nvSpPr>
        <p:spPr/>
        <p:txBody>
          <a:bodyPr>
            <a:normAutofit/>
          </a:bodyPr>
          <a:lstStyle/>
          <a:p>
            <a:r>
              <a:rPr lang="ko-KR" altLang="en-US" dirty="0">
                <a:solidFill>
                  <a:schemeClr val="tx1">
                    <a:lumMod val="65000"/>
                    <a:lumOff val="35000"/>
                  </a:schemeClr>
                </a:solidFill>
              </a:rPr>
              <a:t>균등론의 변경용이성 </a:t>
            </a:r>
            <a:r>
              <a:rPr lang="en-US" altLang="ko-KR" dirty="0">
                <a:solidFill>
                  <a:schemeClr val="tx1">
                    <a:lumMod val="65000"/>
                    <a:lumOff val="35000"/>
                  </a:schemeClr>
                </a:solidFill>
              </a:rPr>
              <a:t>vs </a:t>
            </a:r>
            <a:r>
              <a:rPr lang="ko-KR" altLang="en-US" dirty="0">
                <a:solidFill>
                  <a:schemeClr val="tx1">
                    <a:lumMod val="65000"/>
                    <a:lumOff val="35000"/>
                  </a:schemeClr>
                </a:solidFill>
              </a:rPr>
              <a:t>진보성의 용이성</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342</a:t>
            </a:r>
            <a:endParaRPr lang="ko-KR" altLang="en-US"/>
          </a:p>
        </p:txBody>
      </p:sp>
      <p:sp>
        <p:nvSpPr>
          <p:cNvPr id="13" name="타원 12">
            <a:extLst>
              <a:ext uri="{FF2B5EF4-FFF2-40B4-BE49-F238E27FC236}">
                <a16:creationId xmlns:a16="http://schemas.microsoft.com/office/drawing/2014/main" id="{EB928773-CCE8-442A-A290-4068F17C3F01}"/>
              </a:ext>
            </a:extLst>
          </p:cNvPr>
          <p:cNvSpPr/>
          <p:nvPr/>
        </p:nvSpPr>
        <p:spPr>
          <a:xfrm>
            <a:off x="1069619" y="1923689"/>
            <a:ext cx="3027872" cy="3027872"/>
          </a:xfrm>
          <a:prstGeom prst="ellipse">
            <a:avLst/>
          </a:pr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 name="직선 연결선 17">
            <a:extLst>
              <a:ext uri="{FF2B5EF4-FFF2-40B4-BE49-F238E27FC236}">
                <a16:creationId xmlns:a16="http://schemas.microsoft.com/office/drawing/2014/main" id="{273B1037-77F6-4A62-8118-BB5BEEB4AB8A}"/>
              </a:ext>
            </a:extLst>
          </p:cNvPr>
          <p:cNvCxnSpPr>
            <a:cxnSpLocks/>
          </p:cNvCxnSpPr>
          <p:nvPr/>
        </p:nvCxnSpPr>
        <p:spPr>
          <a:xfrm>
            <a:off x="2583555" y="1250829"/>
            <a:ext cx="0" cy="3700732"/>
          </a:xfrm>
          <a:prstGeom prst="line">
            <a:avLst/>
          </a:prstGeom>
          <a:ln w="12700">
            <a:solidFill>
              <a:srgbClr val="FF0000"/>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22" name="직선 연결선 21">
            <a:extLst>
              <a:ext uri="{FF2B5EF4-FFF2-40B4-BE49-F238E27FC236}">
                <a16:creationId xmlns:a16="http://schemas.microsoft.com/office/drawing/2014/main" id="{458A2B04-DA27-4195-A785-F5CBC2953282}"/>
              </a:ext>
            </a:extLst>
          </p:cNvPr>
          <p:cNvCxnSpPr>
            <a:cxnSpLocks/>
          </p:cNvCxnSpPr>
          <p:nvPr/>
        </p:nvCxnSpPr>
        <p:spPr>
          <a:xfrm flipH="1">
            <a:off x="448573" y="3437625"/>
            <a:ext cx="11084943" cy="0"/>
          </a:xfrm>
          <a:prstGeom prst="line">
            <a:avLst/>
          </a:prstGeom>
          <a:ln w="12700">
            <a:solidFill>
              <a:srgbClr val="FF0000"/>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25" name="타원 24">
            <a:extLst>
              <a:ext uri="{FF2B5EF4-FFF2-40B4-BE49-F238E27FC236}">
                <a16:creationId xmlns:a16="http://schemas.microsoft.com/office/drawing/2014/main" id="{F2FA437D-159C-409C-AA30-6AF7525A71FA}"/>
              </a:ext>
            </a:extLst>
          </p:cNvPr>
          <p:cNvSpPr/>
          <p:nvPr/>
        </p:nvSpPr>
        <p:spPr>
          <a:xfrm>
            <a:off x="1259430" y="1932315"/>
            <a:ext cx="3027872" cy="3027872"/>
          </a:xfrm>
          <a:prstGeom prst="ellipse">
            <a:avLst/>
          </a:prstGeom>
          <a:noFill/>
          <a:ln w="285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9" name="직선 연결선 28">
            <a:extLst>
              <a:ext uri="{FF2B5EF4-FFF2-40B4-BE49-F238E27FC236}">
                <a16:creationId xmlns:a16="http://schemas.microsoft.com/office/drawing/2014/main" id="{92AEAB7D-4081-4B69-B3FD-C07A6138C71B}"/>
              </a:ext>
            </a:extLst>
          </p:cNvPr>
          <p:cNvCxnSpPr>
            <a:cxnSpLocks/>
          </p:cNvCxnSpPr>
          <p:nvPr/>
        </p:nvCxnSpPr>
        <p:spPr>
          <a:xfrm flipH="1">
            <a:off x="448573" y="4951561"/>
            <a:ext cx="11084943" cy="0"/>
          </a:xfrm>
          <a:prstGeom prst="line">
            <a:avLst/>
          </a:prstGeom>
          <a:ln w="1270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BDD2CDE5-D8E8-4E19-8A9A-00D5B74AC118}"/>
              </a:ext>
            </a:extLst>
          </p:cNvPr>
          <p:cNvCxnSpPr/>
          <p:nvPr/>
        </p:nvCxnSpPr>
        <p:spPr>
          <a:xfrm>
            <a:off x="5641676" y="4951561"/>
            <a:ext cx="4899804" cy="0"/>
          </a:xfrm>
          <a:prstGeom prst="line">
            <a:avLst/>
          </a:prstGeom>
          <a:ln w="381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33" name="직선 화살표 연결선 32">
            <a:extLst>
              <a:ext uri="{FF2B5EF4-FFF2-40B4-BE49-F238E27FC236}">
                <a16:creationId xmlns:a16="http://schemas.microsoft.com/office/drawing/2014/main" id="{E224E1A4-572E-4612-B23C-AE324ABFE707}"/>
              </a:ext>
            </a:extLst>
          </p:cNvPr>
          <p:cNvCxnSpPr/>
          <p:nvPr/>
        </p:nvCxnSpPr>
        <p:spPr>
          <a:xfrm>
            <a:off x="2583555" y="4960187"/>
            <a:ext cx="0" cy="1207700"/>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B5AFCD7F-3F7F-4896-B490-89C5031B3993}"/>
              </a:ext>
            </a:extLst>
          </p:cNvPr>
          <p:cNvSpPr txBox="1"/>
          <p:nvPr/>
        </p:nvSpPr>
        <p:spPr>
          <a:xfrm>
            <a:off x="2625591" y="5119467"/>
            <a:ext cx="809837" cy="369332"/>
          </a:xfrm>
          <a:prstGeom prst="rect">
            <a:avLst/>
          </a:prstGeom>
          <a:noFill/>
        </p:spPr>
        <p:txBody>
          <a:bodyPr wrap="none" rtlCol="0">
            <a:spAutoFit/>
          </a:bodyPr>
          <a:lstStyle/>
          <a:p>
            <a:r>
              <a:rPr lang="ko-KR" altLang="en-US"/>
              <a:t>동일성</a:t>
            </a:r>
          </a:p>
        </p:txBody>
      </p:sp>
      <p:cxnSp>
        <p:nvCxnSpPr>
          <p:cNvPr id="35" name="직선 화살표 연결선 34">
            <a:extLst>
              <a:ext uri="{FF2B5EF4-FFF2-40B4-BE49-F238E27FC236}">
                <a16:creationId xmlns:a16="http://schemas.microsoft.com/office/drawing/2014/main" id="{D304AF8D-E047-4F76-B026-FADE8F8E38F5}"/>
              </a:ext>
            </a:extLst>
          </p:cNvPr>
          <p:cNvCxnSpPr>
            <a:cxnSpLocks/>
          </p:cNvCxnSpPr>
          <p:nvPr/>
        </p:nvCxnSpPr>
        <p:spPr>
          <a:xfrm flipV="1">
            <a:off x="2583555" y="4123426"/>
            <a:ext cx="0" cy="828135"/>
          </a:xfrm>
          <a:prstGeom prst="straightConnector1">
            <a:avLst/>
          </a:prstGeom>
          <a:ln w="5715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BE417FED-9673-4AAA-9DCB-34D00D82E053}"/>
              </a:ext>
            </a:extLst>
          </p:cNvPr>
          <p:cNvSpPr txBox="1"/>
          <p:nvPr/>
        </p:nvSpPr>
        <p:spPr>
          <a:xfrm>
            <a:off x="2625591" y="4288929"/>
            <a:ext cx="809837" cy="369332"/>
          </a:xfrm>
          <a:prstGeom prst="rect">
            <a:avLst/>
          </a:prstGeom>
          <a:noFill/>
        </p:spPr>
        <p:txBody>
          <a:bodyPr wrap="none" rtlCol="0">
            <a:spAutoFit/>
          </a:bodyPr>
          <a:lstStyle/>
          <a:p>
            <a:r>
              <a:rPr lang="ko-KR" altLang="en-US" dirty="0"/>
              <a:t>용이성</a:t>
            </a:r>
          </a:p>
        </p:txBody>
      </p:sp>
      <p:cxnSp>
        <p:nvCxnSpPr>
          <p:cNvPr id="40" name="직선 화살표 연결선 39">
            <a:extLst>
              <a:ext uri="{FF2B5EF4-FFF2-40B4-BE49-F238E27FC236}">
                <a16:creationId xmlns:a16="http://schemas.microsoft.com/office/drawing/2014/main" id="{B9774442-13D4-44BC-88EC-198881BCD081}"/>
              </a:ext>
            </a:extLst>
          </p:cNvPr>
          <p:cNvCxnSpPr>
            <a:cxnSpLocks/>
          </p:cNvCxnSpPr>
          <p:nvPr/>
        </p:nvCxnSpPr>
        <p:spPr>
          <a:xfrm flipV="1">
            <a:off x="2583555" y="3446251"/>
            <a:ext cx="0" cy="685801"/>
          </a:xfrm>
          <a:prstGeom prst="straightConnector1">
            <a:avLst/>
          </a:prstGeom>
          <a:ln w="762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4B83FF38-355B-414E-814D-72B1CC3A63E4}"/>
              </a:ext>
            </a:extLst>
          </p:cNvPr>
          <p:cNvSpPr txBox="1"/>
          <p:nvPr/>
        </p:nvSpPr>
        <p:spPr>
          <a:xfrm>
            <a:off x="2625591" y="3642350"/>
            <a:ext cx="1018227" cy="369332"/>
          </a:xfrm>
          <a:prstGeom prst="rect">
            <a:avLst/>
          </a:prstGeom>
          <a:noFill/>
        </p:spPr>
        <p:txBody>
          <a:bodyPr wrap="none" rtlCol="0">
            <a:spAutoFit/>
          </a:bodyPr>
          <a:lstStyle/>
          <a:p>
            <a:r>
              <a:rPr lang="ko-KR" altLang="en-US" dirty="0"/>
              <a:t>비용이성</a:t>
            </a:r>
          </a:p>
        </p:txBody>
      </p:sp>
      <p:cxnSp>
        <p:nvCxnSpPr>
          <p:cNvPr id="43" name="직선 화살표 연결선 42">
            <a:extLst>
              <a:ext uri="{FF2B5EF4-FFF2-40B4-BE49-F238E27FC236}">
                <a16:creationId xmlns:a16="http://schemas.microsoft.com/office/drawing/2014/main" id="{6200D327-1D59-4A22-A6F3-4E21375991D1}"/>
              </a:ext>
            </a:extLst>
          </p:cNvPr>
          <p:cNvCxnSpPr/>
          <p:nvPr/>
        </p:nvCxnSpPr>
        <p:spPr>
          <a:xfrm>
            <a:off x="8104463" y="4960187"/>
            <a:ext cx="0" cy="1207700"/>
          </a:xfrm>
          <a:prstGeom prst="straightConnector1">
            <a:avLst/>
          </a:prstGeom>
          <a:ln w="381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C41787C3-99AA-440B-BAAD-8D02D2B82270}"/>
              </a:ext>
            </a:extLst>
          </p:cNvPr>
          <p:cNvSpPr txBox="1"/>
          <p:nvPr/>
        </p:nvSpPr>
        <p:spPr>
          <a:xfrm>
            <a:off x="8146499" y="5119467"/>
            <a:ext cx="809837" cy="369332"/>
          </a:xfrm>
          <a:prstGeom prst="rect">
            <a:avLst/>
          </a:prstGeom>
          <a:noFill/>
        </p:spPr>
        <p:txBody>
          <a:bodyPr wrap="none" rtlCol="0">
            <a:spAutoFit/>
          </a:bodyPr>
          <a:lstStyle/>
          <a:p>
            <a:r>
              <a:rPr lang="ko-KR" altLang="en-US"/>
              <a:t>동일성</a:t>
            </a:r>
          </a:p>
        </p:txBody>
      </p:sp>
      <p:cxnSp>
        <p:nvCxnSpPr>
          <p:cNvPr id="45" name="직선 화살표 연결선 44">
            <a:extLst>
              <a:ext uri="{FF2B5EF4-FFF2-40B4-BE49-F238E27FC236}">
                <a16:creationId xmlns:a16="http://schemas.microsoft.com/office/drawing/2014/main" id="{C9C42008-FAB0-405D-B4DC-61E6B441396D}"/>
              </a:ext>
            </a:extLst>
          </p:cNvPr>
          <p:cNvCxnSpPr>
            <a:cxnSpLocks/>
          </p:cNvCxnSpPr>
          <p:nvPr/>
        </p:nvCxnSpPr>
        <p:spPr>
          <a:xfrm flipV="1">
            <a:off x="8104463" y="4123426"/>
            <a:ext cx="0" cy="828135"/>
          </a:xfrm>
          <a:prstGeom prst="straightConnector1">
            <a:avLst/>
          </a:prstGeom>
          <a:ln w="5715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C5788838-1118-41B6-9F2A-99D559B8995A}"/>
              </a:ext>
            </a:extLst>
          </p:cNvPr>
          <p:cNvSpPr txBox="1"/>
          <p:nvPr/>
        </p:nvSpPr>
        <p:spPr>
          <a:xfrm>
            <a:off x="8139485" y="4474803"/>
            <a:ext cx="809837" cy="369332"/>
          </a:xfrm>
          <a:prstGeom prst="rect">
            <a:avLst/>
          </a:prstGeom>
          <a:noFill/>
        </p:spPr>
        <p:txBody>
          <a:bodyPr wrap="none" rtlCol="0">
            <a:spAutoFit/>
          </a:bodyPr>
          <a:lstStyle/>
          <a:p>
            <a:r>
              <a:rPr lang="ko-KR" altLang="en-US" dirty="0"/>
              <a:t>용이성</a:t>
            </a:r>
          </a:p>
        </p:txBody>
      </p:sp>
      <p:cxnSp>
        <p:nvCxnSpPr>
          <p:cNvPr id="47" name="직선 화살표 연결선 46">
            <a:extLst>
              <a:ext uri="{FF2B5EF4-FFF2-40B4-BE49-F238E27FC236}">
                <a16:creationId xmlns:a16="http://schemas.microsoft.com/office/drawing/2014/main" id="{69E8F3DD-4556-4F9F-B3FE-DF5624872A87}"/>
              </a:ext>
            </a:extLst>
          </p:cNvPr>
          <p:cNvCxnSpPr>
            <a:cxnSpLocks/>
          </p:cNvCxnSpPr>
          <p:nvPr/>
        </p:nvCxnSpPr>
        <p:spPr>
          <a:xfrm flipV="1">
            <a:off x="8104463" y="3446251"/>
            <a:ext cx="0" cy="685801"/>
          </a:xfrm>
          <a:prstGeom prst="straightConnector1">
            <a:avLst/>
          </a:prstGeom>
          <a:ln w="762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BA31AD99-4690-4F66-A6E4-ECE40AE974C8}"/>
              </a:ext>
            </a:extLst>
          </p:cNvPr>
          <p:cNvSpPr txBox="1"/>
          <p:nvPr/>
        </p:nvSpPr>
        <p:spPr>
          <a:xfrm>
            <a:off x="8146499" y="3642350"/>
            <a:ext cx="1018227" cy="369332"/>
          </a:xfrm>
          <a:prstGeom prst="rect">
            <a:avLst/>
          </a:prstGeom>
          <a:noFill/>
        </p:spPr>
        <p:txBody>
          <a:bodyPr wrap="none" rtlCol="0">
            <a:spAutoFit/>
          </a:bodyPr>
          <a:lstStyle/>
          <a:p>
            <a:r>
              <a:rPr lang="ko-KR" altLang="en-US" dirty="0"/>
              <a:t>비용이성</a:t>
            </a:r>
          </a:p>
        </p:txBody>
      </p:sp>
      <p:sp>
        <p:nvSpPr>
          <p:cNvPr id="50" name="자유형: 도형 49">
            <a:extLst>
              <a:ext uri="{FF2B5EF4-FFF2-40B4-BE49-F238E27FC236}">
                <a16:creationId xmlns:a16="http://schemas.microsoft.com/office/drawing/2014/main" id="{E1BC7325-4658-477D-95EB-25643563C16D}"/>
              </a:ext>
            </a:extLst>
          </p:cNvPr>
          <p:cNvSpPr/>
          <p:nvPr/>
        </p:nvSpPr>
        <p:spPr>
          <a:xfrm>
            <a:off x="5753834" y="4745239"/>
            <a:ext cx="4899803" cy="369332"/>
          </a:xfrm>
          <a:custGeom>
            <a:avLst/>
            <a:gdLst>
              <a:gd name="connsiteX0" fmla="*/ 0 w 4882551"/>
              <a:gd name="connsiteY0" fmla="*/ 41615 h 453091"/>
              <a:gd name="connsiteX1" fmla="*/ 2018581 w 4882551"/>
              <a:gd name="connsiteY1" fmla="*/ 32988 h 453091"/>
              <a:gd name="connsiteX2" fmla="*/ 2587925 w 4882551"/>
              <a:gd name="connsiteY2" fmla="*/ 403924 h 453091"/>
              <a:gd name="connsiteX3" fmla="*/ 4882551 w 4882551"/>
              <a:gd name="connsiteY3" fmla="*/ 438430 h 453091"/>
            </a:gdLst>
            <a:ahLst/>
            <a:cxnLst>
              <a:cxn ang="0">
                <a:pos x="connsiteX0" y="connsiteY0"/>
              </a:cxn>
              <a:cxn ang="0">
                <a:pos x="connsiteX1" y="connsiteY1"/>
              </a:cxn>
              <a:cxn ang="0">
                <a:pos x="connsiteX2" y="connsiteY2"/>
              </a:cxn>
              <a:cxn ang="0">
                <a:pos x="connsiteX3" y="connsiteY3"/>
              </a:cxn>
            </a:cxnLst>
            <a:rect l="l" t="t" r="r" b="b"/>
            <a:pathLst>
              <a:path w="4882551" h="453091">
                <a:moveTo>
                  <a:pt x="0" y="41615"/>
                </a:moveTo>
                <a:cubicBezTo>
                  <a:pt x="793630" y="7109"/>
                  <a:pt x="1587260" y="-27397"/>
                  <a:pt x="2018581" y="32988"/>
                </a:cubicBezTo>
                <a:cubicBezTo>
                  <a:pt x="2449902" y="93373"/>
                  <a:pt x="2110597" y="336350"/>
                  <a:pt x="2587925" y="403924"/>
                </a:cubicBezTo>
                <a:cubicBezTo>
                  <a:pt x="3065253" y="471498"/>
                  <a:pt x="3973902" y="454964"/>
                  <a:pt x="4882551" y="438430"/>
                </a:cubicBezTo>
              </a:path>
            </a:pathLst>
          </a:custGeom>
          <a:noFill/>
          <a:ln w="3810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1" name="직선 연결선 50">
            <a:extLst>
              <a:ext uri="{FF2B5EF4-FFF2-40B4-BE49-F238E27FC236}">
                <a16:creationId xmlns:a16="http://schemas.microsoft.com/office/drawing/2014/main" id="{79A8D58D-5364-4F69-9FE5-86892D9C32F4}"/>
              </a:ext>
            </a:extLst>
          </p:cNvPr>
          <p:cNvCxnSpPr>
            <a:cxnSpLocks/>
          </p:cNvCxnSpPr>
          <p:nvPr/>
        </p:nvCxnSpPr>
        <p:spPr>
          <a:xfrm flipH="1">
            <a:off x="448573" y="4140678"/>
            <a:ext cx="11084943" cy="0"/>
          </a:xfrm>
          <a:prstGeom prst="line">
            <a:avLst/>
          </a:prstGeom>
          <a:ln w="1270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53" name="말풍선: 모서리가 둥근 사각형 52">
            <a:extLst>
              <a:ext uri="{FF2B5EF4-FFF2-40B4-BE49-F238E27FC236}">
                <a16:creationId xmlns:a16="http://schemas.microsoft.com/office/drawing/2014/main" id="{ECCFE7AD-7DFE-4407-ACCA-AA20C483649B}"/>
              </a:ext>
            </a:extLst>
          </p:cNvPr>
          <p:cNvSpPr/>
          <p:nvPr/>
        </p:nvSpPr>
        <p:spPr>
          <a:xfrm>
            <a:off x="9501877" y="5521213"/>
            <a:ext cx="1906432" cy="474140"/>
          </a:xfrm>
          <a:prstGeom prst="wedgeRoundRectCallout">
            <a:avLst>
              <a:gd name="adj1" fmla="val -54769"/>
              <a:gd name="adj2" fmla="val -131050"/>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단순한 균등수단의 전환</a:t>
            </a:r>
            <a:r>
              <a:rPr lang="en-US" altLang="ko-KR" sz="1200" dirty="0">
                <a:solidFill>
                  <a:schemeClr val="tx1"/>
                </a:solidFill>
              </a:rPr>
              <a:t>, </a:t>
            </a:r>
          </a:p>
          <a:p>
            <a:pPr algn="ctr"/>
            <a:r>
              <a:rPr lang="ko-KR" altLang="en-US" sz="1200" dirty="0">
                <a:solidFill>
                  <a:schemeClr val="tx1"/>
                </a:solidFill>
              </a:rPr>
              <a:t>균등물의</a:t>
            </a:r>
            <a:r>
              <a:rPr lang="en-US" altLang="ko-KR" sz="1200" dirty="0">
                <a:solidFill>
                  <a:schemeClr val="tx1"/>
                </a:solidFill>
              </a:rPr>
              <a:t> </a:t>
            </a:r>
            <a:r>
              <a:rPr lang="ko-KR" altLang="en-US" sz="1200" dirty="0">
                <a:solidFill>
                  <a:schemeClr val="tx1"/>
                </a:solidFill>
              </a:rPr>
              <a:t>치환</a:t>
            </a:r>
          </a:p>
        </p:txBody>
      </p:sp>
      <p:sp>
        <p:nvSpPr>
          <p:cNvPr id="56" name="TextBox 55">
            <a:extLst>
              <a:ext uri="{FF2B5EF4-FFF2-40B4-BE49-F238E27FC236}">
                <a16:creationId xmlns:a16="http://schemas.microsoft.com/office/drawing/2014/main" id="{FF3B9926-2160-45CF-B632-D813138BAD4D}"/>
              </a:ext>
            </a:extLst>
          </p:cNvPr>
          <p:cNvSpPr txBox="1"/>
          <p:nvPr/>
        </p:nvSpPr>
        <p:spPr>
          <a:xfrm>
            <a:off x="5611427" y="4149305"/>
            <a:ext cx="2351926" cy="307777"/>
          </a:xfrm>
          <a:prstGeom prst="rect">
            <a:avLst/>
          </a:prstGeom>
          <a:noFill/>
        </p:spPr>
        <p:txBody>
          <a:bodyPr wrap="none" rtlCol="0">
            <a:spAutoFit/>
          </a:bodyPr>
          <a:lstStyle/>
          <a:p>
            <a:r>
              <a:rPr lang="en-US" altLang="ko-KR" sz="1400" dirty="0"/>
              <a:t>Gray Area(Public Domain)</a:t>
            </a:r>
            <a:endParaRPr lang="ko-KR" altLang="en-US" sz="1400" dirty="0"/>
          </a:p>
        </p:txBody>
      </p:sp>
      <p:sp>
        <p:nvSpPr>
          <p:cNvPr id="3" name="말풍선: 모서리가 둥근 사각형 2">
            <a:extLst>
              <a:ext uri="{FF2B5EF4-FFF2-40B4-BE49-F238E27FC236}">
                <a16:creationId xmlns:a16="http://schemas.microsoft.com/office/drawing/2014/main" id="{34523D2A-0F3F-4467-A2B3-E92B757FF33C}"/>
              </a:ext>
            </a:extLst>
          </p:cNvPr>
          <p:cNvSpPr/>
          <p:nvPr/>
        </p:nvSpPr>
        <p:spPr>
          <a:xfrm>
            <a:off x="5611427" y="2178156"/>
            <a:ext cx="3782739" cy="764989"/>
          </a:xfrm>
          <a:prstGeom prst="wedgeRoundRectCallout">
            <a:avLst>
              <a:gd name="adj1" fmla="val -30112"/>
              <a:gd name="adj2" fmla="val 200886"/>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제</a:t>
            </a:r>
            <a:r>
              <a:rPr lang="en-US" altLang="ko-KR" dirty="0">
                <a:solidFill>
                  <a:schemeClr val="tx1"/>
                </a:solidFill>
              </a:rPr>
              <a:t>3</a:t>
            </a:r>
            <a:r>
              <a:rPr lang="ko-KR" altLang="en-US" dirty="0">
                <a:solidFill>
                  <a:schemeClr val="tx1"/>
                </a:solidFill>
              </a:rPr>
              <a:t>자가 출원하여 </a:t>
            </a:r>
            <a:r>
              <a:rPr lang="ko-KR" altLang="en-US" dirty="0" err="1">
                <a:solidFill>
                  <a:schemeClr val="tx1"/>
                </a:solidFill>
              </a:rPr>
              <a:t>등록받지</a:t>
            </a:r>
            <a:r>
              <a:rPr lang="ko-KR" altLang="en-US" dirty="0">
                <a:solidFill>
                  <a:schemeClr val="tx1"/>
                </a:solidFill>
              </a:rPr>
              <a:t> 못하지만</a:t>
            </a:r>
            <a:r>
              <a:rPr lang="en-US" altLang="ko-KR" dirty="0">
                <a:solidFill>
                  <a:schemeClr val="tx1"/>
                </a:solidFill>
              </a:rPr>
              <a:t>,</a:t>
            </a:r>
          </a:p>
          <a:p>
            <a:pPr algn="ctr"/>
            <a:r>
              <a:rPr lang="ko-KR" altLang="en-US" dirty="0">
                <a:solidFill>
                  <a:schemeClr val="tx1"/>
                </a:solidFill>
              </a:rPr>
              <a:t>실시하면 침해가 되지 않는 영역</a:t>
            </a:r>
          </a:p>
        </p:txBody>
      </p:sp>
    </p:spTree>
    <p:extLst>
      <p:ext uri="{BB962C8B-B14F-4D97-AF65-F5344CB8AC3E}">
        <p14:creationId xmlns:p14="http://schemas.microsoft.com/office/powerpoint/2010/main" val="14607652"/>
      </p:ext>
    </p:extLst>
  </p:cSld>
  <p:clrMapOvr>
    <a:masterClrMapping/>
  </p:clrMapOvr>
  <p:transition/>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직사각형 52">
            <a:extLst>
              <a:ext uri="{FF2B5EF4-FFF2-40B4-BE49-F238E27FC236}">
                <a16:creationId xmlns:a16="http://schemas.microsoft.com/office/drawing/2014/main" id="{16979F2A-EC57-4BF1-BCF2-7F6924301FD2}"/>
              </a:ext>
            </a:extLst>
          </p:cNvPr>
          <p:cNvSpPr/>
          <p:nvPr/>
        </p:nvSpPr>
        <p:spPr>
          <a:xfrm>
            <a:off x="3538525" y="1546898"/>
            <a:ext cx="2453766" cy="677631"/>
          </a:xfrm>
          <a:prstGeom prst="rect">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4" name="텍스트 개체 틀 3"/>
          <p:cNvSpPr>
            <a:spLocks noGrp="1"/>
          </p:cNvSpPr>
          <p:nvPr>
            <p:ph type="body" sz="quarter" idx="13"/>
          </p:nvPr>
        </p:nvSpPr>
        <p:spPr/>
        <p:txBody>
          <a:bodyPr/>
          <a:lstStyle/>
          <a:p>
            <a:r>
              <a:rPr lang="ko-KR" altLang="en-US" dirty="0"/>
              <a:t>출원경과참작의 원칙</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343</a:t>
            </a:r>
            <a:endParaRPr lang="ko-KR" altLang="en-US"/>
          </a:p>
        </p:txBody>
      </p:sp>
      <p:sp>
        <p:nvSpPr>
          <p:cNvPr id="5" name="직사각형 4">
            <a:extLst>
              <a:ext uri="{FF2B5EF4-FFF2-40B4-BE49-F238E27FC236}">
                <a16:creationId xmlns:a16="http://schemas.microsoft.com/office/drawing/2014/main" id="{98B48BB3-223A-4357-ABE2-B98DEBA7B296}"/>
              </a:ext>
            </a:extLst>
          </p:cNvPr>
          <p:cNvSpPr/>
          <p:nvPr/>
        </p:nvSpPr>
        <p:spPr>
          <a:xfrm>
            <a:off x="1084490" y="1546898"/>
            <a:ext cx="2453766" cy="677631"/>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a1</a:t>
            </a:r>
            <a:endParaRPr lang="ko-KR" altLang="en-US" dirty="0">
              <a:solidFill>
                <a:schemeClr val="tx1"/>
              </a:solidFill>
            </a:endParaRPr>
          </a:p>
        </p:txBody>
      </p:sp>
      <p:sp>
        <p:nvSpPr>
          <p:cNvPr id="6" name="TextBox 5">
            <a:extLst>
              <a:ext uri="{FF2B5EF4-FFF2-40B4-BE49-F238E27FC236}">
                <a16:creationId xmlns:a16="http://schemas.microsoft.com/office/drawing/2014/main" id="{4D609AEC-F64E-4003-8C1E-EB053CFF3275}"/>
              </a:ext>
            </a:extLst>
          </p:cNvPr>
          <p:cNvSpPr txBox="1"/>
          <p:nvPr/>
        </p:nvSpPr>
        <p:spPr>
          <a:xfrm>
            <a:off x="5696469" y="2414589"/>
            <a:ext cx="601447" cy="646331"/>
          </a:xfrm>
          <a:prstGeom prst="rect">
            <a:avLst/>
          </a:prstGeom>
          <a:noFill/>
        </p:spPr>
        <p:txBody>
          <a:bodyPr wrap="none" rtlCol="0">
            <a:spAutoFit/>
          </a:bodyPr>
          <a:lstStyle/>
          <a:p>
            <a:pPr algn="ctr"/>
            <a:r>
              <a:rPr lang="ko-KR" altLang="en-US" dirty="0"/>
              <a:t>출원</a:t>
            </a:r>
            <a:endParaRPr lang="en-US" altLang="ko-KR" dirty="0"/>
          </a:p>
          <a:p>
            <a:pPr algn="ctr"/>
            <a:r>
              <a:rPr lang="en-US" altLang="ko-KR" dirty="0"/>
              <a:t>(A)</a:t>
            </a:r>
            <a:endParaRPr lang="ko-KR" altLang="en-US" dirty="0"/>
          </a:p>
        </p:txBody>
      </p:sp>
      <p:sp>
        <p:nvSpPr>
          <p:cNvPr id="37" name="TextBox 36">
            <a:extLst>
              <a:ext uri="{FF2B5EF4-FFF2-40B4-BE49-F238E27FC236}">
                <a16:creationId xmlns:a16="http://schemas.microsoft.com/office/drawing/2014/main" id="{21AF2997-F302-412B-A7BC-42B2B15DC838}"/>
              </a:ext>
            </a:extLst>
          </p:cNvPr>
          <p:cNvSpPr txBox="1"/>
          <p:nvPr/>
        </p:nvSpPr>
        <p:spPr>
          <a:xfrm>
            <a:off x="3101276" y="2424175"/>
            <a:ext cx="873958" cy="646331"/>
          </a:xfrm>
          <a:prstGeom prst="rect">
            <a:avLst/>
          </a:prstGeom>
          <a:noFill/>
        </p:spPr>
        <p:txBody>
          <a:bodyPr wrap="none" rtlCol="0">
            <a:spAutoFit/>
          </a:bodyPr>
          <a:lstStyle/>
          <a:p>
            <a:pPr algn="ctr"/>
            <a:r>
              <a:rPr lang="ko-KR" altLang="en-US" dirty="0"/>
              <a:t>감축 등</a:t>
            </a:r>
            <a:endParaRPr lang="en-US" altLang="ko-KR" dirty="0"/>
          </a:p>
          <a:p>
            <a:pPr algn="ctr"/>
            <a:r>
              <a:rPr lang="en-US" altLang="ko-KR" dirty="0"/>
              <a:t>(a1)</a:t>
            </a:r>
            <a:endParaRPr lang="ko-KR" altLang="en-US" dirty="0"/>
          </a:p>
        </p:txBody>
      </p:sp>
      <p:cxnSp>
        <p:nvCxnSpPr>
          <p:cNvPr id="8" name="직선 연결선 7">
            <a:extLst>
              <a:ext uri="{FF2B5EF4-FFF2-40B4-BE49-F238E27FC236}">
                <a16:creationId xmlns:a16="http://schemas.microsoft.com/office/drawing/2014/main" id="{A124B153-4560-49AB-A1F1-16BAA7607EFE}"/>
              </a:ext>
            </a:extLst>
          </p:cNvPr>
          <p:cNvCxnSpPr>
            <a:cxnSpLocks/>
          </p:cNvCxnSpPr>
          <p:nvPr/>
        </p:nvCxnSpPr>
        <p:spPr>
          <a:xfrm flipH="1">
            <a:off x="3524766" y="1719540"/>
            <a:ext cx="13489" cy="67763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E842306E-96B8-44EB-B14D-A21E72D0BC57}"/>
              </a:ext>
            </a:extLst>
          </p:cNvPr>
          <p:cNvCxnSpPr>
            <a:cxnSpLocks/>
          </p:cNvCxnSpPr>
          <p:nvPr/>
        </p:nvCxnSpPr>
        <p:spPr>
          <a:xfrm>
            <a:off x="5992021" y="1719540"/>
            <a:ext cx="0" cy="67763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36733253-7B34-4BE3-9A5B-089827B19052}"/>
              </a:ext>
            </a:extLst>
          </p:cNvPr>
          <p:cNvSpPr txBox="1"/>
          <p:nvPr/>
        </p:nvSpPr>
        <p:spPr>
          <a:xfrm>
            <a:off x="3668949" y="1654880"/>
            <a:ext cx="2323072" cy="461665"/>
          </a:xfrm>
          <a:prstGeom prst="rect">
            <a:avLst/>
          </a:prstGeom>
          <a:noFill/>
        </p:spPr>
        <p:txBody>
          <a:bodyPr wrap="none" rtlCol="0">
            <a:spAutoFit/>
          </a:bodyPr>
          <a:lstStyle/>
          <a:p>
            <a:r>
              <a:rPr lang="en-US" altLang="ko-KR" sz="2400" dirty="0">
                <a:solidFill>
                  <a:schemeClr val="accent2"/>
                </a:solidFill>
              </a:rPr>
              <a:t>a2: </a:t>
            </a:r>
            <a:r>
              <a:rPr lang="ko-KR" altLang="en-US" sz="2400" dirty="0">
                <a:solidFill>
                  <a:schemeClr val="accent2"/>
                </a:solidFill>
              </a:rPr>
              <a:t>의식적 제외</a:t>
            </a:r>
            <a:r>
              <a:rPr lang="en-US" altLang="ko-KR" sz="2400" dirty="0">
                <a:solidFill>
                  <a:schemeClr val="accent2"/>
                </a:solidFill>
              </a:rPr>
              <a:t>?</a:t>
            </a:r>
            <a:endParaRPr lang="ko-KR" altLang="en-US" sz="2400" dirty="0">
              <a:solidFill>
                <a:schemeClr val="accent2"/>
              </a:solidFill>
            </a:endParaRPr>
          </a:p>
        </p:txBody>
      </p:sp>
      <p:sp>
        <p:nvSpPr>
          <p:cNvPr id="14" name="말풍선: 모서리가 둥근 사각형 13">
            <a:extLst>
              <a:ext uri="{FF2B5EF4-FFF2-40B4-BE49-F238E27FC236}">
                <a16:creationId xmlns:a16="http://schemas.microsoft.com/office/drawing/2014/main" id="{8DB5DCBA-750B-4757-AE59-D9DD39BA6714}"/>
              </a:ext>
            </a:extLst>
          </p:cNvPr>
          <p:cNvSpPr/>
          <p:nvPr/>
        </p:nvSpPr>
        <p:spPr>
          <a:xfrm>
            <a:off x="1807199" y="2599255"/>
            <a:ext cx="1254034" cy="1267879"/>
          </a:xfrm>
          <a:prstGeom prst="wedgeRoundRectCallout">
            <a:avLst>
              <a:gd name="adj1" fmla="val 64952"/>
              <a:gd name="adj2" fmla="val -49031"/>
              <a:gd name="adj3" fmla="val 16667"/>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600" dirty="0">
                <a:solidFill>
                  <a:schemeClr val="tx1"/>
                </a:solidFill>
              </a:rPr>
              <a:t>- </a:t>
            </a:r>
            <a:r>
              <a:rPr lang="ko-KR" altLang="en-US" sz="1600" dirty="0">
                <a:solidFill>
                  <a:schemeClr val="tx1"/>
                </a:solidFill>
              </a:rPr>
              <a:t>보정</a:t>
            </a:r>
            <a:endParaRPr lang="en-US" altLang="ko-KR" sz="1600" dirty="0">
              <a:solidFill>
                <a:schemeClr val="tx1"/>
              </a:solidFill>
            </a:endParaRPr>
          </a:p>
          <a:p>
            <a:r>
              <a:rPr lang="en-US" altLang="ko-KR" sz="1600" dirty="0">
                <a:solidFill>
                  <a:schemeClr val="tx1"/>
                </a:solidFill>
              </a:rPr>
              <a:t>- </a:t>
            </a:r>
            <a:r>
              <a:rPr lang="ko-KR" altLang="en-US" sz="1600" dirty="0">
                <a:solidFill>
                  <a:schemeClr val="tx1"/>
                </a:solidFill>
              </a:rPr>
              <a:t>의견서</a:t>
            </a:r>
            <a:endParaRPr lang="en-US" altLang="ko-KR" sz="1600" dirty="0">
              <a:solidFill>
                <a:schemeClr val="tx1"/>
              </a:solidFill>
            </a:endParaRPr>
          </a:p>
          <a:p>
            <a:r>
              <a:rPr lang="en-US" altLang="ko-KR" sz="1600" dirty="0">
                <a:solidFill>
                  <a:schemeClr val="tx1"/>
                </a:solidFill>
              </a:rPr>
              <a:t>- </a:t>
            </a:r>
            <a:r>
              <a:rPr lang="ko-KR" altLang="en-US" sz="1600" dirty="0">
                <a:solidFill>
                  <a:schemeClr val="tx1"/>
                </a:solidFill>
              </a:rPr>
              <a:t>분할출원</a:t>
            </a:r>
            <a:endParaRPr lang="en-US" altLang="ko-KR" sz="1600" dirty="0">
              <a:solidFill>
                <a:schemeClr val="tx1"/>
              </a:solidFill>
            </a:endParaRPr>
          </a:p>
          <a:p>
            <a:r>
              <a:rPr lang="en-US" altLang="ko-KR" sz="1600" dirty="0">
                <a:solidFill>
                  <a:schemeClr val="tx1"/>
                </a:solidFill>
              </a:rPr>
              <a:t>- </a:t>
            </a:r>
            <a:r>
              <a:rPr lang="ko-KR" altLang="en-US" sz="1600" dirty="0">
                <a:solidFill>
                  <a:schemeClr val="tx1"/>
                </a:solidFill>
              </a:rPr>
              <a:t>정정</a:t>
            </a:r>
          </a:p>
        </p:txBody>
      </p:sp>
      <p:sp>
        <p:nvSpPr>
          <p:cNvPr id="20" name="TextBox 19">
            <a:extLst>
              <a:ext uri="{FF2B5EF4-FFF2-40B4-BE49-F238E27FC236}">
                <a16:creationId xmlns:a16="http://schemas.microsoft.com/office/drawing/2014/main" id="{19F3CD83-9928-46CE-9B1F-D3884CAC549D}"/>
              </a:ext>
            </a:extLst>
          </p:cNvPr>
          <p:cNvSpPr txBox="1"/>
          <p:nvPr/>
        </p:nvSpPr>
        <p:spPr>
          <a:xfrm>
            <a:off x="6620445" y="1459605"/>
            <a:ext cx="1579278" cy="307777"/>
          </a:xfrm>
          <a:prstGeom prst="rect">
            <a:avLst/>
          </a:prstGeom>
          <a:noFill/>
          <a:ln>
            <a:solidFill>
              <a:schemeClr val="bg1">
                <a:lumMod val="50000"/>
              </a:schemeClr>
            </a:solidFill>
          </a:ln>
        </p:spPr>
        <p:txBody>
          <a:bodyPr wrap="none" rtlCol="0">
            <a:spAutoFit/>
          </a:bodyPr>
          <a:lstStyle/>
          <a:p>
            <a:r>
              <a:rPr lang="ko-KR" altLang="en-US" sz="1400" dirty="0"/>
              <a:t>엄격한 규준의 입장</a:t>
            </a:r>
          </a:p>
        </p:txBody>
      </p:sp>
      <p:sp>
        <p:nvSpPr>
          <p:cNvPr id="54" name="TextBox 53">
            <a:extLst>
              <a:ext uri="{FF2B5EF4-FFF2-40B4-BE49-F238E27FC236}">
                <a16:creationId xmlns:a16="http://schemas.microsoft.com/office/drawing/2014/main" id="{33F90E9A-0BE4-4F20-A057-E4FF3FF38745}"/>
              </a:ext>
            </a:extLst>
          </p:cNvPr>
          <p:cNvSpPr txBox="1"/>
          <p:nvPr/>
        </p:nvSpPr>
        <p:spPr>
          <a:xfrm>
            <a:off x="6620445" y="2013681"/>
            <a:ext cx="1579278" cy="307777"/>
          </a:xfrm>
          <a:prstGeom prst="rect">
            <a:avLst/>
          </a:prstGeom>
          <a:noFill/>
          <a:ln>
            <a:solidFill>
              <a:schemeClr val="bg1">
                <a:lumMod val="50000"/>
              </a:schemeClr>
            </a:solidFill>
          </a:ln>
        </p:spPr>
        <p:txBody>
          <a:bodyPr wrap="none" rtlCol="0">
            <a:spAutoFit/>
          </a:bodyPr>
          <a:lstStyle/>
          <a:p>
            <a:r>
              <a:rPr lang="ko-KR" altLang="en-US" sz="1400" dirty="0"/>
              <a:t>유연한 규준의 입장</a:t>
            </a:r>
          </a:p>
        </p:txBody>
      </p:sp>
      <p:sp>
        <p:nvSpPr>
          <p:cNvPr id="55" name="TextBox 54">
            <a:extLst>
              <a:ext uri="{FF2B5EF4-FFF2-40B4-BE49-F238E27FC236}">
                <a16:creationId xmlns:a16="http://schemas.microsoft.com/office/drawing/2014/main" id="{40B50E6E-709C-4AF8-ACC9-D22CED5362CB}"/>
              </a:ext>
            </a:extLst>
          </p:cNvPr>
          <p:cNvSpPr txBox="1"/>
          <p:nvPr/>
        </p:nvSpPr>
        <p:spPr>
          <a:xfrm>
            <a:off x="8315093" y="1459605"/>
            <a:ext cx="1616148" cy="307777"/>
          </a:xfrm>
          <a:prstGeom prst="rect">
            <a:avLst/>
          </a:prstGeom>
          <a:noFill/>
          <a:ln>
            <a:noFill/>
          </a:ln>
        </p:spPr>
        <p:txBody>
          <a:bodyPr wrap="none" rtlCol="0">
            <a:spAutoFit/>
          </a:bodyPr>
          <a:lstStyle/>
          <a:p>
            <a:r>
              <a:rPr lang="en-US" altLang="ko-KR" sz="1400" dirty="0"/>
              <a:t>a2</a:t>
            </a:r>
            <a:r>
              <a:rPr lang="ko-KR" altLang="en-US" sz="1400" dirty="0"/>
              <a:t>는</a:t>
            </a:r>
            <a:r>
              <a:rPr lang="en-US" altLang="ko-KR" sz="1400" dirty="0"/>
              <a:t> </a:t>
            </a:r>
            <a:r>
              <a:rPr lang="ko-KR" altLang="en-US" sz="1400" dirty="0"/>
              <a:t>의식적 제외됨</a:t>
            </a:r>
          </a:p>
        </p:txBody>
      </p:sp>
      <p:sp>
        <p:nvSpPr>
          <p:cNvPr id="75" name="TextBox 74">
            <a:extLst>
              <a:ext uri="{FF2B5EF4-FFF2-40B4-BE49-F238E27FC236}">
                <a16:creationId xmlns:a16="http://schemas.microsoft.com/office/drawing/2014/main" id="{9A2D9A58-C0C9-4C3E-8FFB-E9D0186E5769}"/>
              </a:ext>
            </a:extLst>
          </p:cNvPr>
          <p:cNvSpPr txBox="1"/>
          <p:nvPr/>
        </p:nvSpPr>
        <p:spPr>
          <a:xfrm>
            <a:off x="8428309" y="2014761"/>
            <a:ext cx="508473" cy="307777"/>
          </a:xfrm>
          <a:prstGeom prst="rect">
            <a:avLst/>
          </a:prstGeom>
          <a:noFill/>
          <a:ln>
            <a:solidFill>
              <a:schemeClr val="bg1">
                <a:lumMod val="50000"/>
              </a:schemeClr>
            </a:solidFill>
          </a:ln>
        </p:spPr>
        <p:txBody>
          <a:bodyPr wrap="none" rtlCol="0">
            <a:spAutoFit/>
          </a:bodyPr>
          <a:lstStyle/>
          <a:p>
            <a:r>
              <a:rPr lang="ko-KR" altLang="en-US" sz="1400"/>
              <a:t>미국</a:t>
            </a:r>
            <a:endParaRPr lang="ko-KR" altLang="en-US" sz="1400" dirty="0"/>
          </a:p>
        </p:txBody>
      </p:sp>
      <p:sp>
        <p:nvSpPr>
          <p:cNvPr id="76" name="TextBox 75">
            <a:extLst>
              <a:ext uri="{FF2B5EF4-FFF2-40B4-BE49-F238E27FC236}">
                <a16:creationId xmlns:a16="http://schemas.microsoft.com/office/drawing/2014/main" id="{2B52EE1E-66AB-4420-88EC-432F3B7B6438}"/>
              </a:ext>
            </a:extLst>
          </p:cNvPr>
          <p:cNvSpPr txBox="1"/>
          <p:nvPr/>
        </p:nvSpPr>
        <p:spPr>
          <a:xfrm>
            <a:off x="8428309" y="2933220"/>
            <a:ext cx="508473" cy="307777"/>
          </a:xfrm>
          <a:prstGeom prst="rect">
            <a:avLst/>
          </a:prstGeom>
          <a:noFill/>
          <a:ln>
            <a:solidFill>
              <a:schemeClr val="bg1">
                <a:lumMod val="50000"/>
              </a:schemeClr>
            </a:solidFill>
          </a:ln>
        </p:spPr>
        <p:txBody>
          <a:bodyPr wrap="none" rtlCol="0">
            <a:spAutoFit/>
          </a:bodyPr>
          <a:lstStyle/>
          <a:p>
            <a:r>
              <a:rPr lang="ko-KR" altLang="en-US" sz="1400" dirty="0"/>
              <a:t>한국</a:t>
            </a:r>
          </a:p>
        </p:txBody>
      </p:sp>
      <p:sp>
        <p:nvSpPr>
          <p:cNvPr id="77" name="TextBox 76">
            <a:extLst>
              <a:ext uri="{FF2B5EF4-FFF2-40B4-BE49-F238E27FC236}">
                <a16:creationId xmlns:a16="http://schemas.microsoft.com/office/drawing/2014/main" id="{3A453C2B-EF9D-4F2A-9AA2-7C515FE937E6}"/>
              </a:ext>
            </a:extLst>
          </p:cNvPr>
          <p:cNvSpPr txBox="1"/>
          <p:nvPr/>
        </p:nvSpPr>
        <p:spPr>
          <a:xfrm>
            <a:off x="8982146" y="2014761"/>
            <a:ext cx="2556716" cy="738664"/>
          </a:xfrm>
          <a:prstGeom prst="rect">
            <a:avLst/>
          </a:prstGeom>
          <a:noFill/>
          <a:ln>
            <a:noFill/>
          </a:ln>
        </p:spPr>
        <p:txBody>
          <a:bodyPr wrap="square" rtlCol="0">
            <a:spAutoFit/>
          </a:bodyPr>
          <a:lstStyle/>
          <a:p>
            <a:r>
              <a:rPr lang="en-US" altLang="ko-KR" sz="1400" dirty="0"/>
              <a:t>a2</a:t>
            </a:r>
            <a:r>
              <a:rPr lang="ko-KR" altLang="en-US" sz="1400" dirty="0"/>
              <a:t>는 의식적 제외되는 것으로 추정하되</a:t>
            </a:r>
            <a:r>
              <a:rPr lang="en-US" altLang="ko-KR" sz="1400" dirty="0"/>
              <a:t>, </a:t>
            </a:r>
            <a:r>
              <a:rPr lang="ko-KR" altLang="en-US" sz="1400" dirty="0"/>
              <a:t>특허권자의 증명에 의하여 </a:t>
            </a:r>
            <a:r>
              <a:rPr lang="ko-KR" altLang="en-US" sz="1400" dirty="0" err="1"/>
              <a:t>복멸가능</a:t>
            </a:r>
            <a:endParaRPr lang="ko-KR" altLang="en-US" sz="1400" dirty="0"/>
          </a:p>
        </p:txBody>
      </p:sp>
      <p:sp>
        <p:nvSpPr>
          <p:cNvPr id="78" name="TextBox 77">
            <a:extLst>
              <a:ext uri="{FF2B5EF4-FFF2-40B4-BE49-F238E27FC236}">
                <a16:creationId xmlns:a16="http://schemas.microsoft.com/office/drawing/2014/main" id="{62518D9A-54B7-4449-A7F0-D1737A77A362}"/>
              </a:ext>
            </a:extLst>
          </p:cNvPr>
          <p:cNvSpPr txBox="1"/>
          <p:nvPr/>
        </p:nvSpPr>
        <p:spPr>
          <a:xfrm>
            <a:off x="8982146" y="2940921"/>
            <a:ext cx="2556716" cy="738664"/>
          </a:xfrm>
          <a:prstGeom prst="rect">
            <a:avLst/>
          </a:prstGeom>
          <a:noFill/>
          <a:ln>
            <a:noFill/>
          </a:ln>
        </p:spPr>
        <p:txBody>
          <a:bodyPr wrap="square" rtlCol="0">
            <a:spAutoFit/>
          </a:bodyPr>
          <a:lstStyle/>
          <a:p>
            <a:r>
              <a:rPr lang="en-US" altLang="ko-KR" sz="1400" dirty="0"/>
              <a:t>a2</a:t>
            </a:r>
            <a:r>
              <a:rPr lang="ko-KR" altLang="en-US" sz="1400" dirty="0"/>
              <a:t>는 출원인이 이를 권리범위에서 제외하려는 의사가 존재하지 않으면 제외되지 않음</a:t>
            </a:r>
          </a:p>
        </p:txBody>
      </p:sp>
      <p:cxnSp>
        <p:nvCxnSpPr>
          <p:cNvPr id="23" name="연결선: 꺾임 22">
            <a:extLst>
              <a:ext uri="{FF2B5EF4-FFF2-40B4-BE49-F238E27FC236}">
                <a16:creationId xmlns:a16="http://schemas.microsoft.com/office/drawing/2014/main" id="{21A0D5B8-21E2-47F9-A11B-674AB4D25135}"/>
              </a:ext>
            </a:extLst>
          </p:cNvPr>
          <p:cNvCxnSpPr>
            <a:stCxn id="9" idx="3"/>
            <a:endCxn id="20" idx="1"/>
          </p:cNvCxnSpPr>
          <p:nvPr/>
        </p:nvCxnSpPr>
        <p:spPr>
          <a:xfrm flipV="1">
            <a:off x="5992021" y="1613494"/>
            <a:ext cx="628424" cy="27221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연결선: 꺾임 24">
            <a:extLst>
              <a:ext uri="{FF2B5EF4-FFF2-40B4-BE49-F238E27FC236}">
                <a16:creationId xmlns:a16="http://schemas.microsoft.com/office/drawing/2014/main" id="{5CCE0084-B3C0-4D83-AAB8-9836A6F465F3}"/>
              </a:ext>
            </a:extLst>
          </p:cNvPr>
          <p:cNvCxnSpPr>
            <a:stCxn id="9" idx="3"/>
            <a:endCxn id="54" idx="1"/>
          </p:cNvCxnSpPr>
          <p:nvPr/>
        </p:nvCxnSpPr>
        <p:spPr>
          <a:xfrm>
            <a:off x="5992021" y="1885713"/>
            <a:ext cx="628424" cy="28185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연결선: 꺾임 29">
            <a:extLst>
              <a:ext uri="{FF2B5EF4-FFF2-40B4-BE49-F238E27FC236}">
                <a16:creationId xmlns:a16="http://schemas.microsoft.com/office/drawing/2014/main" id="{19DC1BC0-DB6B-4E6E-9D35-5DF2BC063AFC}"/>
              </a:ext>
            </a:extLst>
          </p:cNvPr>
          <p:cNvCxnSpPr>
            <a:stCxn id="54" idx="3"/>
            <a:endCxn id="75" idx="1"/>
          </p:cNvCxnSpPr>
          <p:nvPr/>
        </p:nvCxnSpPr>
        <p:spPr>
          <a:xfrm>
            <a:off x="8199723" y="2167570"/>
            <a:ext cx="228586" cy="108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연결선: 꺾임 31">
            <a:extLst>
              <a:ext uri="{FF2B5EF4-FFF2-40B4-BE49-F238E27FC236}">
                <a16:creationId xmlns:a16="http://schemas.microsoft.com/office/drawing/2014/main" id="{E7AF94E3-1CAC-4A78-B5A8-011A0ACA4AFB}"/>
              </a:ext>
            </a:extLst>
          </p:cNvPr>
          <p:cNvCxnSpPr>
            <a:stCxn id="54" idx="3"/>
            <a:endCxn id="76" idx="1"/>
          </p:cNvCxnSpPr>
          <p:nvPr/>
        </p:nvCxnSpPr>
        <p:spPr>
          <a:xfrm>
            <a:off x="8199723" y="2167570"/>
            <a:ext cx="228586" cy="91953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직선 연결선 33">
            <a:extLst>
              <a:ext uri="{FF2B5EF4-FFF2-40B4-BE49-F238E27FC236}">
                <a16:creationId xmlns:a16="http://schemas.microsoft.com/office/drawing/2014/main" id="{B9944478-583F-49C6-B3FD-10772FE7601C}"/>
              </a:ext>
            </a:extLst>
          </p:cNvPr>
          <p:cNvCxnSpPr/>
          <p:nvPr/>
        </p:nvCxnSpPr>
        <p:spPr>
          <a:xfrm>
            <a:off x="165463" y="3942425"/>
            <a:ext cx="11869783"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직사각형 79">
            <a:extLst>
              <a:ext uri="{FF2B5EF4-FFF2-40B4-BE49-F238E27FC236}">
                <a16:creationId xmlns:a16="http://schemas.microsoft.com/office/drawing/2014/main" id="{10E3CC8C-4A74-41D1-A165-E0114F9859BA}"/>
              </a:ext>
            </a:extLst>
          </p:cNvPr>
          <p:cNvSpPr/>
          <p:nvPr/>
        </p:nvSpPr>
        <p:spPr>
          <a:xfrm>
            <a:off x="429412" y="4039354"/>
            <a:ext cx="11233248" cy="1602635"/>
          </a:xfrm>
          <a:prstGeom prst="rect">
            <a:avLst/>
          </a:prstGeom>
          <a:no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mn-ea"/>
            </a:endParaRPr>
          </a:p>
        </p:txBody>
      </p:sp>
      <p:cxnSp>
        <p:nvCxnSpPr>
          <p:cNvPr id="81" name="직선 화살표 연결선 80">
            <a:extLst>
              <a:ext uri="{FF2B5EF4-FFF2-40B4-BE49-F238E27FC236}">
                <a16:creationId xmlns:a16="http://schemas.microsoft.com/office/drawing/2014/main" id="{9E45680A-4EE0-40AE-B753-C9184E485606}"/>
              </a:ext>
            </a:extLst>
          </p:cNvPr>
          <p:cNvCxnSpPr/>
          <p:nvPr/>
        </p:nvCxnSpPr>
        <p:spPr>
          <a:xfrm>
            <a:off x="813455" y="4957206"/>
            <a:ext cx="10561173" cy="0"/>
          </a:xfrm>
          <a:prstGeom prst="straightConnector1">
            <a:avLst/>
          </a:prstGeom>
          <a:ln w="38100">
            <a:solidFill>
              <a:schemeClr val="bg1">
                <a:lumMod val="50000"/>
              </a:schemeClr>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TextBox 81">
            <a:extLst>
              <a:ext uri="{FF2B5EF4-FFF2-40B4-BE49-F238E27FC236}">
                <a16:creationId xmlns:a16="http://schemas.microsoft.com/office/drawing/2014/main" id="{79410679-0743-41CB-AFD3-1BC9BB35CBFC}"/>
              </a:ext>
            </a:extLst>
          </p:cNvPr>
          <p:cNvSpPr txBox="1"/>
          <p:nvPr/>
        </p:nvSpPr>
        <p:spPr>
          <a:xfrm>
            <a:off x="1288950" y="4218393"/>
            <a:ext cx="362600"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en-US" altLang="ko-KR" sz="1200" dirty="0">
                <a:solidFill>
                  <a:schemeClr val="tx1"/>
                </a:solidFill>
                <a:latin typeface="+mn-ea"/>
              </a:rPr>
              <a:t>a1</a:t>
            </a:r>
            <a:endParaRPr lang="ko-KR" altLang="en-US" sz="1200" dirty="0">
              <a:solidFill>
                <a:schemeClr val="tx1"/>
              </a:solidFill>
              <a:latin typeface="+mn-ea"/>
            </a:endParaRPr>
          </a:p>
        </p:txBody>
      </p:sp>
      <p:sp>
        <p:nvSpPr>
          <p:cNvPr id="83" name="TextBox 82">
            <a:extLst>
              <a:ext uri="{FF2B5EF4-FFF2-40B4-BE49-F238E27FC236}">
                <a16:creationId xmlns:a16="http://schemas.microsoft.com/office/drawing/2014/main" id="{16B2F95D-7736-43D7-A61D-C4EEF9836D04}"/>
              </a:ext>
            </a:extLst>
          </p:cNvPr>
          <p:cNvSpPr txBox="1"/>
          <p:nvPr/>
        </p:nvSpPr>
        <p:spPr>
          <a:xfrm>
            <a:off x="9092943" y="5218122"/>
            <a:ext cx="856325"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乙 </a:t>
            </a:r>
            <a:r>
              <a:rPr lang="en-US" altLang="ko-KR" sz="1200" dirty="0">
                <a:solidFill>
                  <a:schemeClr val="tx1"/>
                </a:solidFill>
                <a:latin typeface="+mn-ea"/>
              </a:rPr>
              <a:t>a2 </a:t>
            </a:r>
            <a:r>
              <a:rPr lang="ko-KR" altLang="en-US" sz="1200" dirty="0">
                <a:solidFill>
                  <a:schemeClr val="tx1"/>
                </a:solidFill>
                <a:latin typeface="+mn-ea"/>
              </a:rPr>
              <a:t>실시</a:t>
            </a:r>
          </a:p>
        </p:txBody>
      </p:sp>
      <p:sp>
        <p:nvSpPr>
          <p:cNvPr id="84" name="타원 83">
            <a:extLst>
              <a:ext uri="{FF2B5EF4-FFF2-40B4-BE49-F238E27FC236}">
                <a16:creationId xmlns:a16="http://schemas.microsoft.com/office/drawing/2014/main" id="{2F579EA8-1D0E-4715-913D-36F9984EEA94}"/>
              </a:ext>
            </a:extLst>
          </p:cNvPr>
          <p:cNvSpPr/>
          <p:nvPr/>
        </p:nvSpPr>
        <p:spPr>
          <a:xfrm>
            <a:off x="1392881" y="4876537"/>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5" name="직선 연결선 84">
            <a:extLst>
              <a:ext uri="{FF2B5EF4-FFF2-40B4-BE49-F238E27FC236}">
                <a16:creationId xmlns:a16="http://schemas.microsoft.com/office/drawing/2014/main" id="{6176D137-08AB-425E-94DD-4C4F79CAB9FC}"/>
              </a:ext>
            </a:extLst>
          </p:cNvPr>
          <p:cNvCxnSpPr>
            <a:stCxn id="82" idx="2"/>
            <a:endCxn id="84" idx="0"/>
          </p:cNvCxnSpPr>
          <p:nvPr/>
        </p:nvCxnSpPr>
        <p:spPr>
          <a:xfrm>
            <a:off x="1470250" y="4495392"/>
            <a:ext cx="0" cy="38114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9BF05EDD-07C5-45F6-A7F1-AF950866B5C1}"/>
              </a:ext>
            </a:extLst>
          </p:cNvPr>
          <p:cNvSpPr txBox="1"/>
          <p:nvPr/>
        </p:nvSpPr>
        <p:spPr>
          <a:xfrm>
            <a:off x="2106163" y="4218393"/>
            <a:ext cx="1885453"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en-US" altLang="ko-KR" sz="1200" dirty="0">
                <a:solidFill>
                  <a:schemeClr val="tx1"/>
                </a:solidFill>
                <a:latin typeface="+mn-ea"/>
              </a:rPr>
              <a:t>  </a:t>
            </a:r>
            <a:r>
              <a:rPr lang="ko-KR" altLang="en-US" sz="1200" dirty="0">
                <a:solidFill>
                  <a:schemeClr val="tx1"/>
                </a:solidFill>
                <a:latin typeface="+mn-ea"/>
              </a:rPr>
              <a:t>甲 출원 </a:t>
            </a:r>
            <a:r>
              <a:rPr lang="en-US" altLang="ko-KR" sz="1200" dirty="0">
                <a:solidFill>
                  <a:schemeClr val="tx1"/>
                </a:solidFill>
                <a:latin typeface="+mn-ea"/>
              </a:rPr>
              <a:t>A</a:t>
            </a:r>
          </a:p>
          <a:p>
            <a:pPr algn="ctr"/>
            <a:r>
              <a:rPr lang="en-US" altLang="ko-KR" sz="1200" dirty="0">
                <a:solidFill>
                  <a:schemeClr val="tx1"/>
                </a:solidFill>
                <a:latin typeface="+mn-ea"/>
              </a:rPr>
              <a:t>( A</a:t>
            </a:r>
            <a:r>
              <a:rPr lang="ko-KR" altLang="en-US" sz="1200" dirty="0">
                <a:solidFill>
                  <a:schemeClr val="tx1"/>
                </a:solidFill>
                <a:latin typeface="+mn-ea"/>
              </a:rPr>
              <a:t>의 실시예로 </a:t>
            </a:r>
            <a:r>
              <a:rPr lang="en-US" altLang="ko-KR" sz="1200" dirty="0">
                <a:solidFill>
                  <a:schemeClr val="tx1"/>
                </a:solidFill>
                <a:latin typeface="+mn-ea"/>
              </a:rPr>
              <a:t>a1, a2, a3)</a:t>
            </a:r>
            <a:endParaRPr lang="ko-KR" altLang="en-US" sz="1200" dirty="0">
              <a:solidFill>
                <a:schemeClr val="tx1"/>
              </a:solidFill>
              <a:latin typeface="+mn-ea"/>
            </a:endParaRPr>
          </a:p>
        </p:txBody>
      </p:sp>
      <p:sp>
        <p:nvSpPr>
          <p:cNvPr id="87" name="타원 86">
            <a:extLst>
              <a:ext uri="{FF2B5EF4-FFF2-40B4-BE49-F238E27FC236}">
                <a16:creationId xmlns:a16="http://schemas.microsoft.com/office/drawing/2014/main" id="{92916FB1-454E-402C-9F9B-0D3D8408CC58}"/>
              </a:ext>
            </a:extLst>
          </p:cNvPr>
          <p:cNvSpPr/>
          <p:nvPr/>
        </p:nvSpPr>
        <p:spPr>
          <a:xfrm>
            <a:off x="2971515" y="487653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8" name="직선 연결선 87">
            <a:extLst>
              <a:ext uri="{FF2B5EF4-FFF2-40B4-BE49-F238E27FC236}">
                <a16:creationId xmlns:a16="http://schemas.microsoft.com/office/drawing/2014/main" id="{DF9B4FD8-FF9C-448A-8FB9-24A6BB119E58}"/>
              </a:ext>
            </a:extLst>
          </p:cNvPr>
          <p:cNvCxnSpPr>
            <a:stCxn id="86" idx="2"/>
            <a:endCxn id="87" idx="0"/>
          </p:cNvCxnSpPr>
          <p:nvPr/>
        </p:nvCxnSpPr>
        <p:spPr>
          <a:xfrm flipH="1">
            <a:off x="3048884" y="4680058"/>
            <a:ext cx="6" cy="19647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902D1971-AF6B-4FA6-A993-8CCC8501C831}"/>
              </a:ext>
            </a:extLst>
          </p:cNvPr>
          <p:cNvSpPr txBox="1"/>
          <p:nvPr/>
        </p:nvSpPr>
        <p:spPr>
          <a:xfrm>
            <a:off x="4406390" y="4218393"/>
            <a:ext cx="856325"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甲 보정 </a:t>
            </a:r>
            <a:r>
              <a:rPr lang="en-US" altLang="ko-KR" sz="1200" dirty="0">
                <a:solidFill>
                  <a:schemeClr val="tx1"/>
                </a:solidFill>
                <a:latin typeface="+mn-ea"/>
              </a:rPr>
              <a:t>a3</a:t>
            </a:r>
            <a:endParaRPr lang="ko-KR" altLang="en-US" sz="1200" dirty="0">
              <a:solidFill>
                <a:schemeClr val="tx1"/>
              </a:solidFill>
              <a:latin typeface="+mn-ea"/>
            </a:endParaRPr>
          </a:p>
        </p:txBody>
      </p:sp>
      <p:sp>
        <p:nvSpPr>
          <p:cNvPr id="90" name="타원 89">
            <a:extLst>
              <a:ext uri="{FF2B5EF4-FFF2-40B4-BE49-F238E27FC236}">
                <a16:creationId xmlns:a16="http://schemas.microsoft.com/office/drawing/2014/main" id="{5134C8B5-623B-4B24-A72E-84E8059F3F92}"/>
              </a:ext>
            </a:extLst>
          </p:cNvPr>
          <p:cNvSpPr/>
          <p:nvPr/>
        </p:nvSpPr>
        <p:spPr>
          <a:xfrm>
            <a:off x="4757183" y="487653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1" name="직선 연결선 90">
            <a:extLst>
              <a:ext uri="{FF2B5EF4-FFF2-40B4-BE49-F238E27FC236}">
                <a16:creationId xmlns:a16="http://schemas.microsoft.com/office/drawing/2014/main" id="{8EF7747D-4A45-47FF-A4AA-FCDDECB219CA}"/>
              </a:ext>
            </a:extLst>
          </p:cNvPr>
          <p:cNvCxnSpPr>
            <a:stCxn id="89" idx="2"/>
            <a:endCxn id="90" idx="0"/>
          </p:cNvCxnSpPr>
          <p:nvPr/>
        </p:nvCxnSpPr>
        <p:spPr>
          <a:xfrm flipH="1">
            <a:off x="4834552" y="4495392"/>
            <a:ext cx="1" cy="38114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타원 91">
            <a:extLst>
              <a:ext uri="{FF2B5EF4-FFF2-40B4-BE49-F238E27FC236}">
                <a16:creationId xmlns:a16="http://schemas.microsoft.com/office/drawing/2014/main" id="{4B52C445-CE51-4D16-9730-F5221D038ED9}"/>
              </a:ext>
            </a:extLst>
          </p:cNvPr>
          <p:cNvSpPr/>
          <p:nvPr/>
        </p:nvSpPr>
        <p:spPr>
          <a:xfrm>
            <a:off x="9443736" y="4876537"/>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3" name="직선 연결선 92">
            <a:extLst>
              <a:ext uri="{FF2B5EF4-FFF2-40B4-BE49-F238E27FC236}">
                <a16:creationId xmlns:a16="http://schemas.microsoft.com/office/drawing/2014/main" id="{2E22B6D4-28E5-4FDC-B425-E97BB77D1BA9}"/>
              </a:ext>
            </a:extLst>
          </p:cNvPr>
          <p:cNvCxnSpPr>
            <a:stCxn id="83" idx="0"/>
            <a:endCxn id="92" idx="4"/>
          </p:cNvCxnSpPr>
          <p:nvPr/>
        </p:nvCxnSpPr>
        <p:spPr>
          <a:xfrm flipH="1" flipV="1">
            <a:off x="9521105" y="5037875"/>
            <a:ext cx="1" cy="18024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0" name="TextBox 99">
            <a:extLst>
              <a:ext uri="{FF2B5EF4-FFF2-40B4-BE49-F238E27FC236}">
                <a16:creationId xmlns:a16="http://schemas.microsoft.com/office/drawing/2014/main" id="{202DB669-8913-4B1F-9D56-167CC6978547}"/>
              </a:ext>
            </a:extLst>
          </p:cNvPr>
          <p:cNvSpPr txBox="1"/>
          <p:nvPr/>
        </p:nvSpPr>
        <p:spPr>
          <a:xfrm>
            <a:off x="6697583" y="4218393"/>
            <a:ext cx="856325"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甲 등록 </a:t>
            </a:r>
            <a:r>
              <a:rPr lang="en-US" altLang="ko-KR" sz="1200" dirty="0">
                <a:solidFill>
                  <a:schemeClr val="tx1"/>
                </a:solidFill>
                <a:latin typeface="+mn-ea"/>
              </a:rPr>
              <a:t>a3</a:t>
            </a:r>
            <a:endParaRPr lang="ko-KR" altLang="en-US" sz="1200" dirty="0">
              <a:solidFill>
                <a:schemeClr val="tx1"/>
              </a:solidFill>
              <a:latin typeface="+mn-ea"/>
            </a:endParaRPr>
          </a:p>
        </p:txBody>
      </p:sp>
      <p:sp>
        <p:nvSpPr>
          <p:cNvPr id="101" name="타원 100">
            <a:extLst>
              <a:ext uri="{FF2B5EF4-FFF2-40B4-BE49-F238E27FC236}">
                <a16:creationId xmlns:a16="http://schemas.microsoft.com/office/drawing/2014/main" id="{43FA6BD0-BF1B-4E68-9BC6-31B12CF6B650}"/>
              </a:ext>
            </a:extLst>
          </p:cNvPr>
          <p:cNvSpPr/>
          <p:nvPr/>
        </p:nvSpPr>
        <p:spPr>
          <a:xfrm>
            <a:off x="7048375" y="487653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2" name="직선 연결선 101">
            <a:extLst>
              <a:ext uri="{FF2B5EF4-FFF2-40B4-BE49-F238E27FC236}">
                <a16:creationId xmlns:a16="http://schemas.microsoft.com/office/drawing/2014/main" id="{2394CBC8-CECB-4F3E-9A59-0F4DB670695E}"/>
              </a:ext>
            </a:extLst>
          </p:cNvPr>
          <p:cNvCxnSpPr>
            <a:stCxn id="100" idx="2"/>
            <a:endCxn id="101" idx="0"/>
          </p:cNvCxnSpPr>
          <p:nvPr/>
        </p:nvCxnSpPr>
        <p:spPr>
          <a:xfrm flipH="1">
            <a:off x="7125744" y="4495392"/>
            <a:ext cx="2" cy="38114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aphicFrame>
        <p:nvGraphicFramePr>
          <p:cNvPr id="35" name="표 34">
            <a:extLst>
              <a:ext uri="{FF2B5EF4-FFF2-40B4-BE49-F238E27FC236}">
                <a16:creationId xmlns:a16="http://schemas.microsoft.com/office/drawing/2014/main" id="{695B8B30-E55E-47A3-938D-D790453B3758}"/>
              </a:ext>
            </a:extLst>
          </p:cNvPr>
          <p:cNvGraphicFramePr>
            <a:graphicFrameLocks noGrp="1"/>
          </p:cNvGraphicFramePr>
          <p:nvPr/>
        </p:nvGraphicFramePr>
        <p:xfrm>
          <a:off x="429412" y="5727815"/>
          <a:ext cx="11233248" cy="889000"/>
        </p:xfrm>
        <a:graphic>
          <a:graphicData uri="http://schemas.openxmlformats.org/drawingml/2006/table">
            <a:tbl>
              <a:tblPr>
                <a:tableStyleId>{8799B23B-EC83-4686-B30A-512413B5E67A}</a:tableStyleId>
              </a:tblPr>
              <a:tblGrid>
                <a:gridCol w="2808312">
                  <a:extLst>
                    <a:ext uri="{9D8B030D-6E8A-4147-A177-3AD203B41FA5}">
                      <a16:colId xmlns:a16="http://schemas.microsoft.com/office/drawing/2014/main" val="2184163920"/>
                    </a:ext>
                  </a:extLst>
                </a:gridCol>
                <a:gridCol w="2808312">
                  <a:extLst>
                    <a:ext uri="{9D8B030D-6E8A-4147-A177-3AD203B41FA5}">
                      <a16:colId xmlns:a16="http://schemas.microsoft.com/office/drawing/2014/main" val="2551427500"/>
                    </a:ext>
                  </a:extLst>
                </a:gridCol>
                <a:gridCol w="2808312">
                  <a:extLst>
                    <a:ext uri="{9D8B030D-6E8A-4147-A177-3AD203B41FA5}">
                      <a16:colId xmlns:a16="http://schemas.microsoft.com/office/drawing/2014/main" val="1087544309"/>
                    </a:ext>
                  </a:extLst>
                </a:gridCol>
                <a:gridCol w="2808312">
                  <a:extLst>
                    <a:ext uri="{9D8B030D-6E8A-4147-A177-3AD203B41FA5}">
                      <a16:colId xmlns:a16="http://schemas.microsoft.com/office/drawing/2014/main" val="1039223403"/>
                    </a:ext>
                  </a:extLst>
                </a:gridCol>
              </a:tblGrid>
              <a:tr h="370840">
                <a:tc>
                  <a:txBody>
                    <a:bodyPr/>
                    <a:lstStyle/>
                    <a:p>
                      <a:pPr algn="ctr" latinLnBrk="1"/>
                      <a:r>
                        <a:rPr lang="ko-KR" altLang="en-US" sz="1400" dirty="0"/>
                        <a:t>구분</a:t>
                      </a:r>
                    </a:p>
                  </a:txBody>
                  <a:tcPr anchor="ctr">
                    <a:solidFill>
                      <a:schemeClr val="accent1">
                        <a:lumMod val="20000"/>
                        <a:lumOff val="80000"/>
                      </a:schemeClr>
                    </a:solidFill>
                  </a:tcPr>
                </a:tc>
                <a:tc>
                  <a:txBody>
                    <a:bodyPr/>
                    <a:lstStyle/>
                    <a:p>
                      <a:pPr algn="ctr" latinLnBrk="1"/>
                      <a:r>
                        <a:rPr lang="ko-KR" altLang="en-US" sz="1400" dirty="0"/>
                        <a:t>엄격한 규준의 입장</a:t>
                      </a:r>
                    </a:p>
                  </a:txBody>
                  <a:tcPr anchor="ctr">
                    <a:solidFill>
                      <a:schemeClr val="accent1">
                        <a:lumMod val="20000"/>
                        <a:lumOff val="80000"/>
                      </a:schemeClr>
                    </a:solidFill>
                  </a:tcPr>
                </a:tc>
                <a:tc>
                  <a:txBody>
                    <a:bodyPr/>
                    <a:lstStyle/>
                    <a:p>
                      <a:pPr algn="ctr" latinLnBrk="1"/>
                      <a:r>
                        <a:rPr lang="ko-KR" altLang="en-US" sz="1400" dirty="0"/>
                        <a:t>유연한 규준의 입장</a:t>
                      </a:r>
                      <a:r>
                        <a:rPr lang="en-US" altLang="ko-KR" sz="1400" dirty="0"/>
                        <a:t>(</a:t>
                      </a:r>
                      <a:r>
                        <a:rPr lang="ko-KR" altLang="en-US" sz="1400" dirty="0"/>
                        <a:t>미국</a:t>
                      </a:r>
                      <a:r>
                        <a:rPr lang="en-US" altLang="ko-KR" sz="1400" dirty="0"/>
                        <a:t>)</a:t>
                      </a:r>
                      <a:endParaRPr lang="ko-KR" altLang="en-US" sz="1400" dirty="0"/>
                    </a:p>
                  </a:txBody>
                  <a:tcPr anchor="ctr">
                    <a:solidFill>
                      <a:schemeClr val="accent1">
                        <a:lumMod val="20000"/>
                        <a:lumOff val="80000"/>
                      </a:schemeClr>
                    </a:solidFill>
                  </a:tcPr>
                </a:tc>
                <a:tc>
                  <a:txBody>
                    <a:bodyPr/>
                    <a:lstStyle/>
                    <a:p>
                      <a:pPr algn="ctr" latinLnBrk="1"/>
                      <a:r>
                        <a:rPr lang="ko-KR" altLang="en-US" sz="1400" dirty="0"/>
                        <a:t>유연한 규준의 입장</a:t>
                      </a:r>
                      <a:r>
                        <a:rPr lang="en-US" altLang="ko-KR" sz="1400" dirty="0"/>
                        <a:t>(</a:t>
                      </a:r>
                      <a:r>
                        <a:rPr lang="ko-KR" altLang="en-US" sz="1400" dirty="0"/>
                        <a:t>한국</a:t>
                      </a:r>
                      <a:r>
                        <a:rPr lang="en-US" altLang="ko-KR" sz="1400" dirty="0"/>
                        <a:t>)</a:t>
                      </a:r>
                      <a:endParaRPr lang="ko-KR" altLang="en-US" sz="1400" dirty="0"/>
                    </a:p>
                  </a:txBody>
                  <a:tcPr anchor="ctr">
                    <a:solidFill>
                      <a:schemeClr val="accent1">
                        <a:lumMod val="20000"/>
                        <a:lumOff val="80000"/>
                      </a:schemeClr>
                    </a:solidFill>
                  </a:tcPr>
                </a:tc>
                <a:extLst>
                  <a:ext uri="{0D108BD9-81ED-4DB2-BD59-A6C34878D82A}">
                    <a16:rowId xmlns:a16="http://schemas.microsoft.com/office/drawing/2014/main" val="1810814211"/>
                  </a:ext>
                </a:extLst>
              </a:tr>
              <a:tr h="370840">
                <a:tc>
                  <a:txBody>
                    <a:bodyPr/>
                    <a:lstStyle/>
                    <a:p>
                      <a:pPr algn="ctr" latinLnBrk="1"/>
                      <a:r>
                        <a:rPr lang="ko-KR" altLang="en-US" sz="1400" dirty="0"/>
                        <a:t>의식적 제외 여부</a:t>
                      </a:r>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dirty="0"/>
                        <a:t>a2</a:t>
                      </a:r>
                      <a:r>
                        <a:rPr lang="ko-KR" altLang="en-US" sz="1400" dirty="0"/>
                        <a:t>는 의식적 제외</a:t>
                      </a:r>
                      <a:r>
                        <a:rPr lang="ko-KR" altLang="en-US" sz="1400" kern="1200" dirty="0">
                          <a:solidFill>
                            <a:schemeClr val="tx1"/>
                          </a:solidFill>
                          <a:effectLst/>
                          <a:latin typeface="+mn-lt"/>
                          <a:ea typeface="+mn-ea"/>
                          <a:cs typeface="+mn-cs"/>
                        </a:rPr>
                        <a:t>○</a:t>
                      </a:r>
                      <a:endParaRPr lang="ko-KR" altLang="en-US" sz="1400" dirty="0"/>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dirty="0"/>
                        <a:t>a2</a:t>
                      </a:r>
                      <a:r>
                        <a:rPr lang="ko-KR" altLang="en-US" sz="1400" dirty="0"/>
                        <a:t>는 의식적 제외</a:t>
                      </a:r>
                      <a:r>
                        <a:rPr lang="ko-KR" altLang="en-US" sz="1400" kern="1200" dirty="0">
                          <a:solidFill>
                            <a:schemeClr val="tx1"/>
                          </a:solidFill>
                          <a:effectLst/>
                          <a:latin typeface="+mn-lt"/>
                          <a:ea typeface="+mn-ea"/>
                          <a:cs typeface="+mn-cs"/>
                        </a:rPr>
                        <a:t>○</a:t>
                      </a:r>
                      <a:endParaRPr lang="en-US" altLang="ko-KR" sz="1400" dirty="0"/>
                    </a:p>
                    <a:p>
                      <a:pPr algn="ctr" latinLnBrk="1"/>
                      <a:r>
                        <a:rPr lang="en-US" altLang="ko-KR" sz="1400" dirty="0"/>
                        <a:t>(</a:t>
                      </a:r>
                      <a:r>
                        <a:rPr lang="ko-KR" altLang="en-US" sz="1400" dirty="0"/>
                        <a:t>단</a:t>
                      </a:r>
                      <a:r>
                        <a:rPr lang="en-US" altLang="ko-KR" sz="1400" dirty="0"/>
                        <a:t>, </a:t>
                      </a:r>
                      <a:r>
                        <a:rPr lang="ko-KR" altLang="en-US" sz="1400" dirty="0"/>
                        <a:t>특허권자가 추정 </a:t>
                      </a:r>
                      <a:r>
                        <a:rPr lang="ko-KR" altLang="en-US" sz="1400" dirty="0" err="1"/>
                        <a:t>복멸</a:t>
                      </a:r>
                      <a:r>
                        <a:rPr lang="en-US" altLang="ko-KR" sz="1400" dirty="0"/>
                        <a:t>)</a:t>
                      </a:r>
                      <a:endParaRPr lang="ko-KR" altLang="en-US" sz="1400" dirty="0"/>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dirty="0"/>
                        <a:t>a2</a:t>
                      </a:r>
                      <a:r>
                        <a:rPr lang="ko-KR" altLang="en-US" sz="1400" dirty="0"/>
                        <a:t>는 의식적 제외</a:t>
                      </a:r>
                      <a:r>
                        <a:rPr lang="en-US" altLang="ko-KR" sz="1400" kern="1200" dirty="0">
                          <a:solidFill>
                            <a:schemeClr val="tx1"/>
                          </a:solidFill>
                          <a:effectLst/>
                          <a:latin typeface="+mn-lt"/>
                          <a:ea typeface="+mn-ea"/>
                          <a:cs typeface="+mn-cs"/>
                        </a:rPr>
                        <a:t>×</a:t>
                      </a:r>
                      <a:r>
                        <a:rPr lang="ko-KR" altLang="en-US" sz="1400" dirty="0"/>
                        <a:t> </a:t>
                      </a:r>
                    </a:p>
                  </a:txBody>
                  <a:tcPr anchor="ctr"/>
                </a:tc>
                <a:extLst>
                  <a:ext uri="{0D108BD9-81ED-4DB2-BD59-A6C34878D82A}">
                    <a16:rowId xmlns:a16="http://schemas.microsoft.com/office/drawing/2014/main" val="3257349097"/>
                  </a:ext>
                </a:extLst>
              </a:tr>
            </a:tbl>
          </a:graphicData>
        </a:graphic>
      </p:graphicFrame>
      <p:sp>
        <p:nvSpPr>
          <p:cNvPr id="44" name="TextBox 43">
            <a:extLst>
              <a:ext uri="{FF2B5EF4-FFF2-40B4-BE49-F238E27FC236}">
                <a16:creationId xmlns:a16="http://schemas.microsoft.com/office/drawing/2014/main" id="{B3A7F981-B8B0-4050-8D6C-87D51EDE42AB}"/>
              </a:ext>
            </a:extLst>
          </p:cNvPr>
          <p:cNvSpPr txBox="1"/>
          <p:nvPr/>
        </p:nvSpPr>
        <p:spPr>
          <a:xfrm>
            <a:off x="5598845" y="3309840"/>
            <a:ext cx="803852"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BEFORE</a:t>
            </a:r>
            <a:endParaRPr lang="ko-KR" altLang="en-US" sz="1200" dirty="0">
              <a:solidFill>
                <a:schemeClr val="tx1"/>
              </a:solidFill>
              <a:latin typeface="+mn-ea"/>
            </a:endParaRPr>
          </a:p>
        </p:txBody>
      </p:sp>
      <p:cxnSp>
        <p:nvCxnSpPr>
          <p:cNvPr id="45" name="직선 연결선 44">
            <a:extLst>
              <a:ext uri="{FF2B5EF4-FFF2-40B4-BE49-F238E27FC236}">
                <a16:creationId xmlns:a16="http://schemas.microsoft.com/office/drawing/2014/main" id="{A263D7A6-F8B1-4A04-ABF6-E19BDF7022AF}"/>
              </a:ext>
            </a:extLst>
          </p:cNvPr>
          <p:cNvCxnSpPr>
            <a:cxnSpLocks/>
            <a:stCxn id="44" idx="0"/>
            <a:endCxn id="6" idx="2"/>
          </p:cNvCxnSpPr>
          <p:nvPr/>
        </p:nvCxnSpPr>
        <p:spPr>
          <a:xfrm flipH="1" flipV="1">
            <a:off x="5997193" y="3060920"/>
            <a:ext cx="3578" cy="24892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461AF0E5-55BB-4374-808D-0B5798BC8CB3}"/>
              </a:ext>
            </a:extLst>
          </p:cNvPr>
          <p:cNvSpPr txBox="1"/>
          <p:nvPr/>
        </p:nvSpPr>
        <p:spPr>
          <a:xfrm>
            <a:off x="3126253" y="3309840"/>
            <a:ext cx="803852"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AFTER</a:t>
            </a:r>
            <a:endParaRPr lang="ko-KR" altLang="en-US" sz="1200" dirty="0">
              <a:solidFill>
                <a:schemeClr val="tx1"/>
              </a:solidFill>
              <a:latin typeface="+mn-ea"/>
            </a:endParaRPr>
          </a:p>
        </p:txBody>
      </p:sp>
      <p:cxnSp>
        <p:nvCxnSpPr>
          <p:cNvPr id="51" name="직선 연결선 50">
            <a:extLst>
              <a:ext uri="{FF2B5EF4-FFF2-40B4-BE49-F238E27FC236}">
                <a16:creationId xmlns:a16="http://schemas.microsoft.com/office/drawing/2014/main" id="{53DFE7E3-7CE4-4878-AF0A-99E4A721CB5B}"/>
              </a:ext>
            </a:extLst>
          </p:cNvPr>
          <p:cNvCxnSpPr>
            <a:cxnSpLocks/>
            <a:stCxn id="50" idx="0"/>
          </p:cNvCxnSpPr>
          <p:nvPr/>
        </p:nvCxnSpPr>
        <p:spPr>
          <a:xfrm flipH="1" flipV="1">
            <a:off x="3524601" y="3060920"/>
            <a:ext cx="3578" cy="24892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 name="말풍선: 모서리가 둥근 사각형 6">
            <a:extLst>
              <a:ext uri="{FF2B5EF4-FFF2-40B4-BE49-F238E27FC236}">
                <a16:creationId xmlns:a16="http://schemas.microsoft.com/office/drawing/2014/main" id="{B2C631AF-BECC-47A6-AC16-CB5B1370A81C}"/>
              </a:ext>
            </a:extLst>
          </p:cNvPr>
          <p:cNvSpPr/>
          <p:nvPr/>
        </p:nvSpPr>
        <p:spPr>
          <a:xfrm>
            <a:off x="3668950" y="787792"/>
            <a:ext cx="6407380" cy="612648"/>
          </a:xfrm>
          <a:prstGeom prst="wedgeRoundRectCallout">
            <a:avLst>
              <a:gd name="adj1" fmla="val -39711"/>
              <a:gd name="adj2" fmla="val 69817"/>
              <a:gd name="adj3" fmla="val 16667"/>
            </a:avLst>
          </a:prstGeom>
          <a:solidFill>
            <a:schemeClr val="bg1">
              <a:lumMod val="9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ko-KR" altLang="en-US" sz="1400" dirty="0">
                <a:solidFill>
                  <a:schemeClr val="tx1"/>
                </a:solidFill>
              </a:rPr>
              <a:t>청구범위의 변경인 경우 변경 전 권리범위에 대해서 </a:t>
            </a:r>
            <a:r>
              <a:rPr lang="ko-KR" altLang="en-US" sz="1400" dirty="0" err="1">
                <a:solidFill>
                  <a:schemeClr val="tx1"/>
                </a:solidFill>
              </a:rPr>
              <a:t>금반언의</a:t>
            </a:r>
            <a:r>
              <a:rPr lang="ko-KR" altLang="en-US" sz="1400" dirty="0">
                <a:solidFill>
                  <a:schemeClr val="tx1"/>
                </a:solidFill>
              </a:rPr>
              <a:t> 적용이 비교적 명확하나</a:t>
            </a:r>
            <a:r>
              <a:rPr lang="en-US" altLang="ko-KR" sz="1400" dirty="0">
                <a:solidFill>
                  <a:schemeClr val="tx1"/>
                </a:solidFill>
              </a:rPr>
              <a:t>, </a:t>
            </a:r>
          </a:p>
          <a:p>
            <a:r>
              <a:rPr lang="ko-KR" altLang="en-US" sz="1400" dirty="0">
                <a:solidFill>
                  <a:schemeClr val="tx1"/>
                </a:solidFill>
              </a:rPr>
              <a:t>청구범위의 감축인 경우 변경 전 권리범위에 대해서 </a:t>
            </a:r>
            <a:r>
              <a:rPr lang="ko-KR" altLang="en-US" sz="1400" dirty="0" err="1">
                <a:solidFill>
                  <a:schemeClr val="tx1"/>
                </a:solidFill>
              </a:rPr>
              <a:t>금반언이</a:t>
            </a:r>
            <a:r>
              <a:rPr lang="ko-KR" altLang="en-US" sz="1400" dirty="0">
                <a:solidFill>
                  <a:schemeClr val="tx1"/>
                </a:solidFill>
              </a:rPr>
              <a:t> 적용되는지 문제임 </a:t>
            </a:r>
          </a:p>
        </p:txBody>
      </p:sp>
    </p:spTree>
    <p:extLst>
      <p:ext uri="{BB962C8B-B14F-4D97-AF65-F5344CB8AC3E}">
        <p14:creationId xmlns:p14="http://schemas.microsoft.com/office/powerpoint/2010/main" val="1839903125"/>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4" name="텍스트 개체 틀 3"/>
          <p:cNvSpPr>
            <a:spLocks noGrp="1"/>
          </p:cNvSpPr>
          <p:nvPr>
            <p:ph type="body" sz="quarter" idx="13"/>
          </p:nvPr>
        </p:nvSpPr>
        <p:spPr/>
        <p:txBody>
          <a:bodyPr/>
          <a:lstStyle/>
          <a:p>
            <a:r>
              <a:rPr lang="ko-KR" altLang="en-US" dirty="0"/>
              <a:t>출원경과참작의 원칙</a:t>
            </a:r>
            <a:r>
              <a:rPr lang="en-US" altLang="ko-KR" dirty="0"/>
              <a:t>: </a:t>
            </a:r>
            <a:r>
              <a:rPr lang="ko-KR" altLang="en-US" dirty="0"/>
              <a:t>안락의자 사건</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344</a:t>
            </a:r>
            <a:endParaRPr lang="ko-KR" altLang="en-US"/>
          </a:p>
        </p:txBody>
      </p:sp>
      <p:sp>
        <p:nvSpPr>
          <p:cNvPr id="68" name="TextBox 67"/>
          <p:cNvSpPr txBox="1"/>
          <p:nvPr/>
        </p:nvSpPr>
        <p:spPr>
          <a:xfrm>
            <a:off x="77875" y="1362569"/>
            <a:ext cx="11936323" cy="1815882"/>
          </a:xfrm>
          <a:prstGeom prst="rect">
            <a:avLst/>
          </a:prstGeom>
          <a:noFill/>
        </p:spPr>
        <p:txBody>
          <a:bodyPr wrap="square" rtlCol="0">
            <a:spAutoFit/>
          </a:bodyPr>
          <a:lstStyle/>
          <a:p>
            <a:r>
              <a:rPr lang="ko-KR" altLang="en-US" sz="1400" dirty="0"/>
              <a:t>지식재산처 심사관으로부터 실용신안공고 제</a:t>
            </a:r>
            <a:r>
              <a:rPr lang="en-US" altLang="ko-KR" sz="1400" dirty="0"/>
              <a:t>95-4971</a:t>
            </a:r>
            <a:r>
              <a:rPr lang="ko-KR" altLang="en-US" sz="1400" dirty="0"/>
              <a:t>호 고안 등에 의하여 통상의 기술자가 극히 용이하게 고안할 수 있다는 이유로 거절이유통지를 받고</a:t>
            </a:r>
            <a:r>
              <a:rPr lang="en-US" altLang="ko-KR" sz="1400" dirty="0"/>
              <a:t>, 1998. 7. 22. </a:t>
            </a:r>
            <a:r>
              <a:rPr lang="ko-KR" altLang="en-US" sz="1400" dirty="0"/>
              <a:t>의견서 및 </a:t>
            </a:r>
            <a:r>
              <a:rPr lang="ko-KR" altLang="en-US" sz="1400" dirty="0" err="1"/>
              <a:t>보정서를</a:t>
            </a:r>
            <a:r>
              <a:rPr lang="ko-KR" altLang="en-US" sz="1400" dirty="0"/>
              <a:t> 제출하면서 </a:t>
            </a:r>
            <a:r>
              <a:rPr lang="ko-KR" altLang="en-US" sz="1400" dirty="0">
                <a:highlight>
                  <a:srgbClr val="FFFF00"/>
                </a:highlight>
              </a:rPr>
              <a:t>인용발명에 저촉되는 부분을 공지의 기술로 하여 청구범위를 대폭 축소 한정한다고 주장함</a:t>
            </a:r>
            <a:r>
              <a:rPr lang="ko-KR" altLang="en-US" sz="1400" dirty="0"/>
              <a:t>과 아울러 </a:t>
            </a:r>
            <a:r>
              <a:rPr lang="ko-KR" altLang="en-US" sz="1400" dirty="0" err="1"/>
              <a:t>청구항</a:t>
            </a:r>
            <a:r>
              <a:rPr lang="ko-KR" altLang="en-US" sz="1400" dirty="0"/>
              <a:t> 제</a:t>
            </a:r>
            <a:r>
              <a:rPr lang="en-US" altLang="ko-KR" sz="1400" dirty="0"/>
              <a:t>1</a:t>
            </a:r>
            <a:r>
              <a:rPr lang="ko-KR" altLang="en-US" sz="1400" dirty="0"/>
              <a:t>항과 제</a:t>
            </a:r>
            <a:r>
              <a:rPr lang="en-US" altLang="ko-KR" sz="1400" dirty="0"/>
              <a:t>2</a:t>
            </a:r>
            <a:r>
              <a:rPr lang="ko-KR" altLang="en-US" sz="1400" dirty="0"/>
              <a:t>항을 결합하여 하나의 항으로 만들되 </a:t>
            </a:r>
            <a:r>
              <a:rPr lang="ko-KR" altLang="en-US" sz="1400" dirty="0" err="1"/>
              <a:t>청구항</a:t>
            </a:r>
            <a:r>
              <a:rPr lang="ko-KR" altLang="en-US" sz="1400" dirty="0"/>
              <a:t> 제</a:t>
            </a:r>
            <a:r>
              <a:rPr lang="en-US" altLang="ko-KR" sz="1400" dirty="0"/>
              <a:t>1</a:t>
            </a:r>
            <a:r>
              <a:rPr lang="ko-KR" altLang="en-US" sz="1400" dirty="0"/>
              <a:t>항에 있던 부분을 </a:t>
            </a:r>
            <a:r>
              <a:rPr lang="ko-KR" altLang="en-US" sz="1400" dirty="0" err="1"/>
              <a:t>전제부로</a:t>
            </a:r>
            <a:r>
              <a:rPr lang="ko-KR" altLang="en-US" sz="1400" dirty="0"/>
              <a:t> 기재하고 </a:t>
            </a:r>
            <a:r>
              <a:rPr lang="ko-KR" altLang="en-US" sz="1400" dirty="0" err="1"/>
              <a:t>청구항</a:t>
            </a:r>
            <a:r>
              <a:rPr lang="ko-KR" altLang="en-US" sz="1400" dirty="0"/>
              <a:t> 제</a:t>
            </a:r>
            <a:r>
              <a:rPr lang="en-US" altLang="ko-KR" sz="1400" dirty="0"/>
              <a:t>2</a:t>
            </a:r>
            <a:r>
              <a:rPr lang="ko-KR" altLang="en-US" sz="1400" dirty="0"/>
              <a:t>항에 있던 부분을 </a:t>
            </a:r>
            <a:r>
              <a:rPr lang="ko-KR" altLang="en-US" sz="1400" dirty="0" err="1"/>
              <a:t>특징부에</a:t>
            </a:r>
            <a:r>
              <a:rPr lang="ko-KR" altLang="en-US" sz="1400" dirty="0"/>
              <a:t> 기재하였는바</a:t>
            </a:r>
            <a:r>
              <a:rPr lang="en-US" altLang="ko-KR" sz="1400" dirty="0"/>
              <a:t>, </a:t>
            </a:r>
            <a:r>
              <a:rPr lang="ko-KR" altLang="en-US" sz="1400" dirty="0">
                <a:highlight>
                  <a:srgbClr val="FFFF00"/>
                </a:highlight>
              </a:rPr>
              <a:t>그렇다면 출원인 스스로 전제부의 기재사항인 「등받이와 보조받침을 직접 연결하여 연계동작을 하는 연결레버를 안내부가 안내하도록 하는 구성」을 공지의 기술로 한정한 것이라 하겠고</a:t>
            </a:r>
            <a:r>
              <a:rPr lang="en-US" altLang="ko-KR" sz="1400" dirty="0">
                <a:highlight>
                  <a:srgbClr val="FFFF00"/>
                </a:highlight>
              </a:rPr>
              <a:t>, </a:t>
            </a:r>
            <a:r>
              <a:rPr lang="ko-KR" altLang="en-US" sz="1400" dirty="0">
                <a:highlight>
                  <a:srgbClr val="FFFF00"/>
                </a:highlight>
              </a:rPr>
              <a:t>나아가 다시 </a:t>
            </a:r>
            <a:r>
              <a:rPr lang="ko-KR" altLang="en-US" sz="1400" dirty="0" err="1">
                <a:highlight>
                  <a:srgbClr val="FFFF00"/>
                </a:highlight>
              </a:rPr>
              <a:t>특징부에서</a:t>
            </a:r>
            <a:r>
              <a:rPr lang="ko-KR" altLang="en-US" sz="1400" dirty="0">
                <a:highlight>
                  <a:srgbClr val="FFFF00"/>
                </a:highlight>
              </a:rPr>
              <a:t> 위 </a:t>
            </a:r>
            <a:r>
              <a:rPr lang="ko-KR" altLang="en-US" sz="1400" b="1" dirty="0" err="1">
                <a:highlight>
                  <a:srgbClr val="FFFF00"/>
                </a:highlight>
              </a:rPr>
              <a:t>안내부를</a:t>
            </a:r>
            <a:r>
              <a:rPr lang="ko-KR" altLang="en-US" sz="1400" b="1" dirty="0">
                <a:highlight>
                  <a:srgbClr val="FFFF00"/>
                </a:highlight>
              </a:rPr>
              <a:t> 「한 쌍의 롤러」로 한정</a:t>
            </a:r>
            <a:r>
              <a:rPr lang="ko-KR" altLang="en-US" sz="1400" dirty="0">
                <a:highlight>
                  <a:srgbClr val="FFFF00"/>
                </a:highlight>
              </a:rPr>
              <a:t>한 것은 </a:t>
            </a:r>
            <a:r>
              <a:rPr lang="ko-KR" altLang="en-US" sz="1400" dirty="0" err="1">
                <a:highlight>
                  <a:srgbClr val="FFFF00"/>
                </a:highlight>
              </a:rPr>
              <a:t>출원인이</a:t>
            </a:r>
            <a:r>
              <a:rPr lang="ko-KR" altLang="en-US" sz="1400" dirty="0">
                <a:highlight>
                  <a:srgbClr val="FFFF00"/>
                </a:highlight>
              </a:rPr>
              <a:t> 이와 균등관계에 있는 구성에 대해서는 그 권리범위를 주장하지 않겠다는 취지로 볼 것이므로</a:t>
            </a:r>
            <a:r>
              <a:rPr lang="en-US" altLang="ko-KR" sz="1400" dirty="0"/>
              <a:t>, </a:t>
            </a:r>
            <a:r>
              <a:rPr lang="ko-KR" altLang="en-US" sz="1400" dirty="0"/>
              <a:t>결국 </a:t>
            </a:r>
            <a:r>
              <a:rPr lang="ko-KR" altLang="en-US" sz="1400" dirty="0" err="1"/>
              <a:t>출원경과금반언의</a:t>
            </a:r>
            <a:r>
              <a:rPr lang="ko-KR" altLang="en-US" sz="1400" dirty="0"/>
              <a:t> 원칙상 등받이와 보조받침을 직접 연결하여 연계동작을 하는 연결레버를 안내부가 안내하도록 함에 있어서</a:t>
            </a:r>
            <a:r>
              <a:rPr lang="en-US" altLang="ko-KR" sz="1400" dirty="0"/>
              <a:t>, </a:t>
            </a:r>
            <a:r>
              <a:rPr lang="ko-KR" altLang="en-US" sz="1400" dirty="0"/>
              <a:t>그 </a:t>
            </a:r>
            <a:r>
              <a:rPr lang="ko-KR" altLang="en-US" sz="1400" dirty="0" err="1"/>
              <a:t>안내부를</a:t>
            </a:r>
            <a:r>
              <a:rPr lang="ko-KR" altLang="en-US" sz="1400" dirty="0"/>
              <a:t> </a:t>
            </a:r>
            <a:r>
              <a:rPr lang="en-US" altLang="ko-KR" sz="1400" dirty="0"/>
              <a:t>{</a:t>
            </a:r>
            <a:r>
              <a:rPr lang="ko-KR" altLang="en-US" sz="1400" dirty="0"/>
              <a:t>확인대상 고안과 같은</a:t>
            </a:r>
            <a:r>
              <a:rPr lang="en-US" altLang="ko-KR" sz="1400" dirty="0"/>
              <a:t>} </a:t>
            </a:r>
            <a:r>
              <a:rPr lang="ko-KR" altLang="en-US" sz="1400" dirty="0" err="1"/>
              <a:t>슬라이드관으로</a:t>
            </a:r>
            <a:r>
              <a:rPr lang="ko-KR" altLang="en-US" sz="1400" dirty="0"/>
              <a:t> 구성하는 것은 이 사건 등록고안의 </a:t>
            </a:r>
            <a:r>
              <a:rPr lang="ko-KR" altLang="en-US" sz="1400" dirty="0" err="1"/>
              <a:t>출원인이</a:t>
            </a:r>
            <a:r>
              <a:rPr lang="ko-KR" altLang="en-US" sz="1400" dirty="0"/>
              <a:t> 의식적으로 그 보호범위로부터 제외한 것으로 봄이 상당하여</a:t>
            </a:r>
            <a:r>
              <a:rPr lang="en-US" altLang="ko-KR" sz="1400" dirty="0"/>
              <a:t>, </a:t>
            </a:r>
            <a:r>
              <a:rPr lang="ko-KR" altLang="en-US" sz="1400" dirty="0"/>
              <a:t>확인대상 고안의 </a:t>
            </a:r>
            <a:r>
              <a:rPr lang="ko-KR" altLang="en-US" sz="1400" dirty="0" err="1"/>
              <a:t>슬라이드관은</a:t>
            </a:r>
            <a:r>
              <a:rPr lang="ko-KR" altLang="en-US" sz="1400" dirty="0"/>
              <a:t> 이 사건 등록고안 제</a:t>
            </a:r>
            <a:r>
              <a:rPr lang="en-US" altLang="ko-KR" sz="1400" dirty="0"/>
              <a:t>1</a:t>
            </a:r>
            <a:r>
              <a:rPr lang="ko-KR" altLang="en-US" sz="1400" dirty="0"/>
              <a:t>항의 롤러의 </a:t>
            </a:r>
            <a:r>
              <a:rPr lang="ko-KR" altLang="en-US" sz="1400" dirty="0" err="1"/>
              <a:t>균등론이</a:t>
            </a:r>
            <a:r>
              <a:rPr lang="ko-KR" altLang="en-US" sz="1400" dirty="0"/>
              <a:t> 될 수 없다</a:t>
            </a:r>
            <a:r>
              <a:rPr lang="en-US" altLang="ko-KR" sz="1400" dirty="0"/>
              <a:t>.</a:t>
            </a:r>
            <a:endParaRPr lang="ko-KR" altLang="en-US" sz="1400" dirty="0"/>
          </a:p>
        </p:txBody>
      </p:sp>
      <p:cxnSp>
        <p:nvCxnSpPr>
          <p:cNvPr id="69" name="직선 연결선 68"/>
          <p:cNvCxnSpPr/>
          <p:nvPr/>
        </p:nvCxnSpPr>
        <p:spPr>
          <a:xfrm>
            <a:off x="0" y="318502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직사각형 25">
            <a:extLst>
              <a:ext uri="{FF2B5EF4-FFF2-40B4-BE49-F238E27FC236}">
                <a16:creationId xmlns:a16="http://schemas.microsoft.com/office/drawing/2014/main" id="{A4FF0869-CBDC-43D3-B938-20DD818F4ED7}"/>
              </a:ext>
            </a:extLst>
          </p:cNvPr>
          <p:cNvSpPr/>
          <p:nvPr/>
        </p:nvSpPr>
        <p:spPr>
          <a:xfrm>
            <a:off x="395535" y="3245223"/>
            <a:ext cx="11381597" cy="3399663"/>
          </a:xfrm>
          <a:prstGeom prst="rect">
            <a:avLst/>
          </a:prstGeom>
          <a:solidFill>
            <a:schemeClr val="accent3">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7" name="직선 화살표 연결선 26">
            <a:extLst>
              <a:ext uri="{FF2B5EF4-FFF2-40B4-BE49-F238E27FC236}">
                <a16:creationId xmlns:a16="http://schemas.microsoft.com/office/drawing/2014/main" id="{8039A30E-DFD5-4A0D-8D00-D86BAE958A29}"/>
              </a:ext>
            </a:extLst>
          </p:cNvPr>
          <p:cNvCxnSpPr/>
          <p:nvPr/>
        </p:nvCxnSpPr>
        <p:spPr>
          <a:xfrm>
            <a:off x="683568" y="3914419"/>
            <a:ext cx="10721032" cy="0"/>
          </a:xfrm>
          <a:prstGeom prst="straightConnector1">
            <a:avLst/>
          </a:prstGeom>
          <a:ln w="28575">
            <a:solidFill>
              <a:schemeClr val="accent2">
                <a:lumMod val="50000"/>
              </a:schemeClr>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28" name="타원 27">
            <a:extLst>
              <a:ext uri="{FF2B5EF4-FFF2-40B4-BE49-F238E27FC236}">
                <a16:creationId xmlns:a16="http://schemas.microsoft.com/office/drawing/2014/main" id="{A2B12965-996C-42AF-B35D-47F9EBD5F5E7}"/>
              </a:ext>
            </a:extLst>
          </p:cNvPr>
          <p:cNvSpPr/>
          <p:nvPr/>
        </p:nvSpPr>
        <p:spPr>
          <a:xfrm>
            <a:off x="1475656" y="3817360"/>
            <a:ext cx="216024" cy="216024"/>
          </a:xfrm>
          <a:prstGeom prst="ellipse">
            <a:avLst/>
          </a:prstGeom>
        </p:spPr>
        <p:style>
          <a:lnRef idx="0">
            <a:schemeClr val="accent2"/>
          </a:lnRef>
          <a:fillRef idx="3">
            <a:schemeClr val="accent2"/>
          </a:fillRef>
          <a:effectRef idx="3">
            <a:schemeClr val="accent2"/>
          </a:effectRef>
          <a:fontRef idx="minor">
            <a:schemeClr val="lt1"/>
          </a:fontRef>
        </p:style>
        <p:txBody>
          <a:bodyPr rtlCol="0" anchor="ctr"/>
          <a:lstStyle/>
          <a:p>
            <a:pPr algn="ctr"/>
            <a:endParaRPr lang="ko-KR" altLang="en-US"/>
          </a:p>
        </p:txBody>
      </p:sp>
      <p:sp>
        <p:nvSpPr>
          <p:cNvPr id="40" name="타원 39">
            <a:extLst>
              <a:ext uri="{FF2B5EF4-FFF2-40B4-BE49-F238E27FC236}">
                <a16:creationId xmlns:a16="http://schemas.microsoft.com/office/drawing/2014/main" id="{70E459C9-0899-4343-9340-28FA46A2DF5B}"/>
              </a:ext>
            </a:extLst>
          </p:cNvPr>
          <p:cNvSpPr/>
          <p:nvPr/>
        </p:nvSpPr>
        <p:spPr>
          <a:xfrm>
            <a:off x="3963671" y="3817360"/>
            <a:ext cx="216024" cy="216024"/>
          </a:xfrm>
          <a:prstGeom prst="ellipse">
            <a:avLst/>
          </a:prstGeom>
        </p:spPr>
        <p:style>
          <a:lnRef idx="0">
            <a:schemeClr val="accent4"/>
          </a:lnRef>
          <a:fillRef idx="3">
            <a:schemeClr val="accent4"/>
          </a:fillRef>
          <a:effectRef idx="3">
            <a:schemeClr val="accent4"/>
          </a:effectRef>
          <a:fontRef idx="minor">
            <a:schemeClr val="lt1"/>
          </a:fontRef>
        </p:style>
        <p:txBody>
          <a:bodyPr rtlCol="0" anchor="ctr"/>
          <a:lstStyle/>
          <a:p>
            <a:pPr algn="ctr"/>
            <a:endParaRPr lang="ko-KR" altLang="en-US"/>
          </a:p>
        </p:txBody>
      </p:sp>
      <p:sp>
        <p:nvSpPr>
          <p:cNvPr id="42" name="타원 41">
            <a:extLst>
              <a:ext uri="{FF2B5EF4-FFF2-40B4-BE49-F238E27FC236}">
                <a16:creationId xmlns:a16="http://schemas.microsoft.com/office/drawing/2014/main" id="{49EED887-63DA-487A-BF16-30458C848ADB}"/>
              </a:ext>
            </a:extLst>
          </p:cNvPr>
          <p:cNvSpPr/>
          <p:nvPr/>
        </p:nvSpPr>
        <p:spPr>
          <a:xfrm>
            <a:off x="6487561" y="3817360"/>
            <a:ext cx="216024" cy="216024"/>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algn="ctr"/>
            <a:endParaRPr lang="ko-KR" altLang="en-US"/>
          </a:p>
        </p:txBody>
      </p:sp>
      <p:sp>
        <p:nvSpPr>
          <p:cNvPr id="43" name="타원 42">
            <a:extLst>
              <a:ext uri="{FF2B5EF4-FFF2-40B4-BE49-F238E27FC236}">
                <a16:creationId xmlns:a16="http://schemas.microsoft.com/office/drawing/2014/main" id="{BCEFBCBC-76D5-4A45-98C5-BB91EB245F0A}"/>
              </a:ext>
            </a:extLst>
          </p:cNvPr>
          <p:cNvSpPr/>
          <p:nvPr/>
        </p:nvSpPr>
        <p:spPr>
          <a:xfrm>
            <a:off x="7615602" y="3817360"/>
            <a:ext cx="216024" cy="216024"/>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endParaRPr lang="ko-KR" altLang="en-US"/>
          </a:p>
        </p:txBody>
      </p:sp>
      <p:sp>
        <p:nvSpPr>
          <p:cNvPr id="44" name="TextBox 43">
            <a:extLst>
              <a:ext uri="{FF2B5EF4-FFF2-40B4-BE49-F238E27FC236}">
                <a16:creationId xmlns:a16="http://schemas.microsoft.com/office/drawing/2014/main" id="{EE00173E-8CF9-4073-BCE2-F345BDFCB43D}"/>
              </a:ext>
            </a:extLst>
          </p:cNvPr>
          <p:cNvSpPr txBox="1"/>
          <p:nvPr/>
        </p:nvSpPr>
        <p:spPr>
          <a:xfrm>
            <a:off x="1345462" y="3493404"/>
            <a:ext cx="476412" cy="276999"/>
          </a:xfrm>
          <a:prstGeom prst="rect">
            <a:avLst/>
          </a:prstGeom>
          <a:noFill/>
        </p:spPr>
        <p:txBody>
          <a:bodyPr wrap="none" rtlCol="0">
            <a:spAutoFit/>
          </a:bodyPr>
          <a:lstStyle/>
          <a:p>
            <a:r>
              <a:rPr lang="ko-KR" altLang="en-US" sz="1200" dirty="0"/>
              <a:t>출원</a:t>
            </a:r>
          </a:p>
        </p:txBody>
      </p:sp>
      <p:sp>
        <p:nvSpPr>
          <p:cNvPr id="45" name="TextBox 44">
            <a:extLst>
              <a:ext uri="{FF2B5EF4-FFF2-40B4-BE49-F238E27FC236}">
                <a16:creationId xmlns:a16="http://schemas.microsoft.com/office/drawing/2014/main" id="{5A2E0B94-04A4-461F-899E-120C1A995D93}"/>
              </a:ext>
            </a:extLst>
          </p:cNvPr>
          <p:cNvSpPr txBox="1"/>
          <p:nvPr/>
        </p:nvSpPr>
        <p:spPr>
          <a:xfrm>
            <a:off x="3847299" y="3476535"/>
            <a:ext cx="476412" cy="276999"/>
          </a:xfrm>
          <a:prstGeom prst="rect">
            <a:avLst/>
          </a:prstGeom>
          <a:noFill/>
        </p:spPr>
        <p:txBody>
          <a:bodyPr wrap="none" rtlCol="0">
            <a:spAutoFit/>
          </a:bodyPr>
          <a:lstStyle/>
          <a:p>
            <a:r>
              <a:rPr lang="ko-KR" altLang="en-US" sz="1200" dirty="0"/>
              <a:t>보정</a:t>
            </a:r>
          </a:p>
        </p:txBody>
      </p:sp>
      <p:sp>
        <p:nvSpPr>
          <p:cNvPr id="48" name="TextBox 47">
            <a:extLst>
              <a:ext uri="{FF2B5EF4-FFF2-40B4-BE49-F238E27FC236}">
                <a16:creationId xmlns:a16="http://schemas.microsoft.com/office/drawing/2014/main" id="{DE5134AB-B966-4413-89EF-16C2CF7828BC}"/>
              </a:ext>
            </a:extLst>
          </p:cNvPr>
          <p:cNvSpPr txBox="1"/>
          <p:nvPr/>
        </p:nvSpPr>
        <p:spPr>
          <a:xfrm>
            <a:off x="6307541" y="3476534"/>
            <a:ext cx="576064" cy="276999"/>
          </a:xfrm>
          <a:prstGeom prst="rect">
            <a:avLst/>
          </a:prstGeom>
          <a:noFill/>
        </p:spPr>
        <p:txBody>
          <a:bodyPr wrap="square" rtlCol="0">
            <a:spAutoFit/>
          </a:bodyPr>
          <a:lstStyle/>
          <a:p>
            <a:pPr algn="ctr"/>
            <a:r>
              <a:rPr lang="ko-KR" altLang="en-US" sz="1200" dirty="0"/>
              <a:t>등록</a:t>
            </a:r>
          </a:p>
        </p:txBody>
      </p:sp>
      <p:sp>
        <p:nvSpPr>
          <p:cNvPr id="49" name="TextBox 48">
            <a:extLst>
              <a:ext uri="{FF2B5EF4-FFF2-40B4-BE49-F238E27FC236}">
                <a16:creationId xmlns:a16="http://schemas.microsoft.com/office/drawing/2014/main" id="{D58B9F63-10B3-4E84-ABA6-CC576EC34363}"/>
              </a:ext>
            </a:extLst>
          </p:cNvPr>
          <p:cNvSpPr txBox="1"/>
          <p:nvPr/>
        </p:nvSpPr>
        <p:spPr>
          <a:xfrm>
            <a:off x="7274612" y="3493404"/>
            <a:ext cx="898003" cy="276999"/>
          </a:xfrm>
          <a:prstGeom prst="rect">
            <a:avLst/>
          </a:prstGeom>
          <a:noFill/>
        </p:spPr>
        <p:txBody>
          <a:bodyPr wrap="none" rtlCol="0">
            <a:spAutoFit/>
          </a:bodyPr>
          <a:lstStyle/>
          <a:p>
            <a:r>
              <a:rPr lang="ko-KR" altLang="en-US" sz="1200" dirty="0"/>
              <a:t>제</a:t>
            </a:r>
            <a:r>
              <a:rPr lang="en-US" altLang="ko-KR" sz="1200" dirty="0"/>
              <a:t>3</a:t>
            </a:r>
            <a:r>
              <a:rPr lang="ko-KR" altLang="en-US" sz="1200" dirty="0"/>
              <a:t>자 실시</a:t>
            </a:r>
          </a:p>
        </p:txBody>
      </p:sp>
      <p:sp>
        <p:nvSpPr>
          <p:cNvPr id="51" name="직사각형 50">
            <a:extLst>
              <a:ext uri="{FF2B5EF4-FFF2-40B4-BE49-F238E27FC236}">
                <a16:creationId xmlns:a16="http://schemas.microsoft.com/office/drawing/2014/main" id="{E74BDD42-6A18-4DF5-B0FE-91883B022401}"/>
              </a:ext>
            </a:extLst>
          </p:cNvPr>
          <p:cNvSpPr/>
          <p:nvPr/>
        </p:nvSpPr>
        <p:spPr>
          <a:xfrm>
            <a:off x="899592" y="4124607"/>
            <a:ext cx="1368152" cy="2448272"/>
          </a:xfrm>
          <a:prstGeom prst="rect">
            <a:avLst/>
          </a:prstGeom>
        </p:spPr>
        <p:style>
          <a:lnRef idx="2">
            <a:schemeClr val="accent2"/>
          </a:lnRef>
          <a:fillRef idx="1">
            <a:schemeClr val="lt1"/>
          </a:fillRef>
          <a:effectRef idx="0">
            <a:schemeClr val="accent2"/>
          </a:effectRef>
          <a:fontRef idx="minor">
            <a:schemeClr val="dk1"/>
          </a:fontRef>
        </p:style>
        <p:txBody>
          <a:bodyPr rtlCol="0" anchor="ctr">
            <a:noAutofit/>
          </a:bodyPr>
          <a:lstStyle/>
          <a:p>
            <a:pPr marL="180975" indent="-180975">
              <a:buAutoNum type="arabicPeriod"/>
            </a:pPr>
            <a:r>
              <a:rPr lang="ko-KR" altLang="en-US" sz="1200" dirty="0">
                <a:solidFill>
                  <a:schemeClr val="tx1"/>
                </a:solidFill>
              </a:rPr>
              <a:t>등받이와 보조받침을 직접 연결하여 연계동작을 하는 연결레버를 안내부가 안내하도록 하는 구성을 갖는 안락의자</a:t>
            </a:r>
            <a:endParaRPr lang="en-US" altLang="ko-KR" sz="1200" dirty="0">
              <a:solidFill>
                <a:schemeClr val="tx1"/>
              </a:solidFill>
            </a:endParaRPr>
          </a:p>
          <a:p>
            <a:pPr marL="180975" indent="-180975">
              <a:buAutoNum type="arabicPeriod"/>
            </a:pPr>
            <a:endParaRPr lang="en-US" altLang="ko-KR" sz="1200" dirty="0">
              <a:solidFill>
                <a:schemeClr val="tx1"/>
              </a:solidFill>
            </a:endParaRPr>
          </a:p>
          <a:p>
            <a:pPr marL="180975" indent="-180975">
              <a:buAutoNum type="arabicPeriod"/>
            </a:pPr>
            <a:r>
              <a:rPr lang="en-US" altLang="ko-KR" sz="1200" dirty="0">
                <a:solidFill>
                  <a:schemeClr val="tx1"/>
                </a:solidFill>
              </a:rPr>
              <a:t> </a:t>
            </a:r>
            <a:r>
              <a:rPr lang="ko-KR" altLang="en-US" sz="1200" dirty="0">
                <a:solidFill>
                  <a:schemeClr val="tx1"/>
                </a:solidFill>
              </a:rPr>
              <a:t>제</a:t>
            </a:r>
            <a:r>
              <a:rPr lang="en-US" altLang="ko-KR" sz="1200" dirty="0">
                <a:solidFill>
                  <a:schemeClr val="tx1"/>
                </a:solidFill>
              </a:rPr>
              <a:t>1</a:t>
            </a:r>
            <a:r>
              <a:rPr lang="ko-KR" altLang="en-US" sz="1200" dirty="0">
                <a:solidFill>
                  <a:schemeClr val="tx1"/>
                </a:solidFill>
              </a:rPr>
              <a:t>항에 있어서</a:t>
            </a:r>
            <a:r>
              <a:rPr lang="en-US" altLang="ko-KR" sz="1200" dirty="0">
                <a:solidFill>
                  <a:schemeClr val="tx1"/>
                </a:solidFill>
              </a:rPr>
              <a:t>, </a:t>
            </a:r>
            <a:r>
              <a:rPr lang="ko-KR" altLang="en-US" sz="1200" dirty="0">
                <a:solidFill>
                  <a:schemeClr val="tx1"/>
                </a:solidFill>
              </a:rPr>
              <a:t>상기 </a:t>
            </a:r>
            <a:r>
              <a:rPr lang="ko-KR" altLang="en-US" sz="1200" dirty="0" err="1">
                <a:solidFill>
                  <a:schemeClr val="tx1"/>
                </a:solidFill>
              </a:rPr>
              <a:t>안내부는</a:t>
            </a:r>
            <a:r>
              <a:rPr lang="ko-KR" altLang="en-US" sz="1200" dirty="0">
                <a:solidFill>
                  <a:schemeClr val="tx1"/>
                </a:solidFill>
              </a:rPr>
              <a:t> </a:t>
            </a:r>
            <a:r>
              <a:rPr lang="ko-KR" altLang="en-US" sz="1200" dirty="0" err="1">
                <a:solidFill>
                  <a:schemeClr val="tx1"/>
                </a:solidFill>
              </a:rPr>
              <a:t>한쌍의</a:t>
            </a:r>
            <a:r>
              <a:rPr lang="ko-KR" altLang="en-US" sz="1200" dirty="0">
                <a:solidFill>
                  <a:schemeClr val="tx1"/>
                </a:solidFill>
              </a:rPr>
              <a:t> 롤러인 안락의자</a:t>
            </a:r>
          </a:p>
        </p:txBody>
      </p:sp>
      <p:sp>
        <p:nvSpPr>
          <p:cNvPr id="52" name="직사각형 51">
            <a:extLst>
              <a:ext uri="{FF2B5EF4-FFF2-40B4-BE49-F238E27FC236}">
                <a16:creationId xmlns:a16="http://schemas.microsoft.com/office/drawing/2014/main" id="{8C7108CA-2429-4E15-A12F-3F26E7E5B387}"/>
              </a:ext>
            </a:extLst>
          </p:cNvPr>
          <p:cNvSpPr/>
          <p:nvPr/>
        </p:nvSpPr>
        <p:spPr>
          <a:xfrm>
            <a:off x="3423611" y="4124607"/>
            <a:ext cx="1368152" cy="2448272"/>
          </a:xfrm>
          <a:prstGeom prst="rect">
            <a:avLst/>
          </a:prstGeom>
        </p:spPr>
        <p:style>
          <a:lnRef idx="2">
            <a:schemeClr val="accent4"/>
          </a:lnRef>
          <a:fillRef idx="1">
            <a:schemeClr val="lt1"/>
          </a:fillRef>
          <a:effectRef idx="0">
            <a:schemeClr val="accent4"/>
          </a:effectRef>
          <a:fontRef idx="minor">
            <a:schemeClr val="dk1"/>
          </a:fontRef>
        </p:style>
        <p:txBody>
          <a:bodyPr rtlCol="0" anchor="ctr">
            <a:noAutofit/>
          </a:bodyPr>
          <a:lstStyle/>
          <a:p>
            <a:pPr marL="180975" indent="-180975">
              <a:buAutoNum type="arabicPeriod"/>
            </a:pPr>
            <a:r>
              <a:rPr lang="ko-KR" altLang="en-US" sz="1200" dirty="0">
                <a:solidFill>
                  <a:schemeClr val="tx1"/>
                </a:solidFill>
              </a:rPr>
              <a:t>등받이와 보조받침을 직접 연결하여 연계동작을 하는 연결레버를 안내부가 안내하도록 하는 구성을 갖는 안락의자에 있어서</a:t>
            </a:r>
            <a:r>
              <a:rPr lang="en-US" altLang="ko-KR" sz="1200" dirty="0">
                <a:solidFill>
                  <a:schemeClr val="tx1"/>
                </a:solidFill>
              </a:rPr>
              <a:t>, </a:t>
            </a:r>
            <a:r>
              <a:rPr lang="ko-KR" altLang="en-US" sz="1200" dirty="0" err="1">
                <a:solidFill>
                  <a:schemeClr val="tx1"/>
                </a:solidFill>
              </a:rPr>
              <a:t>안내부는</a:t>
            </a:r>
            <a:r>
              <a:rPr lang="ko-KR" altLang="en-US" sz="1200" dirty="0">
                <a:solidFill>
                  <a:schemeClr val="tx1"/>
                </a:solidFill>
              </a:rPr>
              <a:t> </a:t>
            </a:r>
            <a:r>
              <a:rPr lang="ko-KR" altLang="en-US" sz="1200" dirty="0" err="1">
                <a:solidFill>
                  <a:schemeClr val="tx1"/>
                </a:solidFill>
              </a:rPr>
              <a:t>한쌍의</a:t>
            </a:r>
            <a:r>
              <a:rPr lang="ko-KR" altLang="en-US" sz="1200" dirty="0">
                <a:solidFill>
                  <a:schemeClr val="tx1"/>
                </a:solidFill>
              </a:rPr>
              <a:t> 롤러인 안락의자</a:t>
            </a:r>
            <a:endParaRPr lang="en-US" altLang="ko-KR" sz="1200" dirty="0">
              <a:solidFill>
                <a:schemeClr val="tx1"/>
              </a:solidFill>
            </a:endParaRPr>
          </a:p>
          <a:p>
            <a:pPr marL="180975" indent="-180975">
              <a:buAutoNum type="arabicPeriod"/>
            </a:pPr>
            <a:endParaRPr lang="en-US" altLang="ko-KR" sz="1200" dirty="0">
              <a:solidFill>
                <a:schemeClr val="tx1"/>
              </a:solidFill>
            </a:endParaRPr>
          </a:p>
          <a:p>
            <a:pPr marL="180975" indent="-180975">
              <a:buAutoNum type="arabicPeriod"/>
            </a:pPr>
            <a:r>
              <a:rPr lang="ko-KR" altLang="en-US" sz="1200" dirty="0">
                <a:solidFill>
                  <a:schemeClr val="tx1"/>
                </a:solidFill>
              </a:rPr>
              <a:t>삭제</a:t>
            </a:r>
          </a:p>
        </p:txBody>
      </p:sp>
      <p:sp>
        <p:nvSpPr>
          <p:cNvPr id="57" name="타원 56">
            <a:extLst>
              <a:ext uri="{FF2B5EF4-FFF2-40B4-BE49-F238E27FC236}">
                <a16:creationId xmlns:a16="http://schemas.microsoft.com/office/drawing/2014/main" id="{03E7594A-4659-4924-87A3-13E6452068ED}"/>
              </a:ext>
            </a:extLst>
          </p:cNvPr>
          <p:cNvSpPr/>
          <p:nvPr/>
        </p:nvSpPr>
        <p:spPr>
          <a:xfrm>
            <a:off x="5641767" y="3817360"/>
            <a:ext cx="216024" cy="216024"/>
          </a:xfrm>
          <a:prstGeom prst="ellipse">
            <a:avLst/>
          </a:prstGeom>
        </p:spPr>
        <p:style>
          <a:lnRef idx="0">
            <a:schemeClr val="accent4"/>
          </a:lnRef>
          <a:fillRef idx="3">
            <a:schemeClr val="accent4"/>
          </a:fillRef>
          <a:effectRef idx="3">
            <a:schemeClr val="accent4"/>
          </a:effectRef>
          <a:fontRef idx="minor">
            <a:schemeClr val="lt1"/>
          </a:fontRef>
        </p:style>
        <p:txBody>
          <a:bodyPr rtlCol="0" anchor="ctr"/>
          <a:lstStyle/>
          <a:p>
            <a:pPr algn="ctr"/>
            <a:endParaRPr lang="ko-KR" altLang="en-US"/>
          </a:p>
        </p:txBody>
      </p:sp>
      <p:sp>
        <p:nvSpPr>
          <p:cNvPr id="58" name="TextBox 57">
            <a:extLst>
              <a:ext uri="{FF2B5EF4-FFF2-40B4-BE49-F238E27FC236}">
                <a16:creationId xmlns:a16="http://schemas.microsoft.com/office/drawing/2014/main" id="{AB78029D-AD41-430F-85AD-0249C69C8CA1}"/>
              </a:ext>
            </a:extLst>
          </p:cNvPr>
          <p:cNvSpPr txBox="1"/>
          <p:nvPr/>
        </p:nvSpPr>
        <p:spPr>
          <a:xfrm>
            <a:off x="5427181" y="3476535"/>
            <a:ext cx="622286" cy="276999"/>
          </a:xfrm>
          <a:prstGeom prst="rect">
            <a:avLst/>
          </a:prstGeom>
          <a:noFill/>
        </p:spPr>
        <p:txBody>
          <a:bodyPr wrap="none" rtlCol="0">
            <a:spAutoFit/>
          </a:bodyPr>
          <a:lstStyle/>
          <a:p>
            <a:r>
              <a:rPr lang="ko-KR" altLang="en-US" sz="1200"/>
              <a:t>의견서</a:t>
            </a:r>
            <a:endParaRPr lang="ko-KR" altLang="en-US" sz="1200" dirty="0"/>
          </a:p>
        </p:txBody>
      </p:sp>
      <p:sp>
        <p:nvSpPr>
          <p:cNvPr id="59" name="직사각형 58">
            <a:extLst>
              <a:ext uri="{FF2B5EF4-FFF2-40B4-BE49-F238E27FC236}">
                <a16:creationId xmlns:a16="http://schemas.microsoft.com/office/drawing/2014/main" id="{2EEDA84B-F286-45C5-9AA3-D08E7CCF7655}"/>
              </a:ext>
            </a:extLst>
          </p:cNvPr>
          <p:cNvSpPr/>
          <p:nvPr/>
        </p:nvSpPr>
        <p:spPr>
          <a:xfrm>
            <a:off x="5101707" y="4124607"/>
            <a:ext cx="1368152" cy="2448272"/>
          </a:xfrm>
          <a:prstGeom prst="rect">
            <a:avLst/>
          </a:prstGeom>
        </p:spPr>
        <p:style>
          <a:lnRef idx="2">
            <a:schemeClr val="accent4"/>
          </a:lnRef>
          <a:fillRef idx="1">
            <a:schemeClr val="lt1"/>
          </a:fillRef>
          <a:effectRef idx="0">
            <a:schemeClr val="accent4"/>
          </a:effectRef>
          <a:fontRef idx="minor">
            <a:schemeClr val="dk1"/>
          </a:fontRef>
        </p:style>
        <p:txBody>
          <a:bodyPr rtlCol="0" anchor="ctr">
            <a:noAutofit/>
          </a:bodyPr>
          <a:lstStyle/>
          <a:p>
            <a:r>
              <a:rPr lang="ko-KR" altLang="en-US" sz="1200" dirty="0" err="1"/>
              <a:t>청구항</a:t>
            </a:r>
            <a:r>
              <a:rPr lang="ko-KR" altLang="en-US" sz="1200" dirty="0"/>
              <a:t> 제</a:t>
            </a:r>
            <a:r>
              <a:rPr lang="en-US" altLang="ko-KR" sz="1200" dirty="0"/>
              <a:t>1</a:t>
            </a:r>
            <a:r>
              <a:rPr lang="ko-KR" altLang="en-US" sz="1200" dirty="0"/>
              <a:t>항과 제</a:t>
            </a:r>
            <a:r>
              <a:rPr lang="en-US" altLang="ko-KR" sz="1200" dirty="0"/>
              <a:t>2</a:t>
            </a:r>
            <a:r>
              <a:rPr lang="ko-KR" altLang="en-US" sz="1200" dirty="0"/>
              <a:t>항을 결합하여 하나의 항으로 만들되 </a:t>
            </a:r>
            <a:r>
              <a:rPr lang="ko-KR" altLang="en-US" sz="1200" dirty="0" err="1"/>
              <a:t>청구항</a:t>
            </a:r>
            <a:r>
              <a:rPr lang="ko-KR" altLang="en-US" sz="1200" dirty="0"/>
              <a:t> 제</a:t>
            </a:r>
            <a:r>
              <a:rPr lang="en-US" altLang="ko-KR" sz="1200" dirty="0"/>
              <a:t>1</a:t>
            </a:r>
            <a:r>
              <a:rPr lang="ko-KR" altLang="en-US" sz="1200" dirty="0"/>
              <a:t>항에 있던 부분을 </a:t>
            </a:r>
            <a:r>
              <a:rPr lang="ko-KR" altLang="en-US" sz="1200" dirty="0">
                <a:solidFill>
                  <a:srgbClr val="FF0000"/>
                </a:solidFill>
              </a:rPr>
              <a:t>공지기술로 한정하여 </a:t>
            </a:r>
            <a:r>
              <a:rPr lang="ko-KR" altLang="en-US" sz="1200" dirty="0" err="1">
                <a:solidFill>
                  <a:srgbClr val="FF0000"/>
                </a:solidFill>
              </a:rPr>
              <a:t>전제부로</a:t>
            </a:r>
            <a:r>
              <a:rPr lang="ko-KR" altLang="en-US" sz="1200" dirty="0">
                <a:solidFill>
                  <a:srgbClr val="FF0000"/>
                </a:solidFill>
              </a:rPr>
              <a:t> 기재</a:t>
            </a:r>
            <a:r>
              <a:rPr lang="ko-KR" altLang="en-US" sz="1200" dirty="0"/>
              <a:t>하고 </a:t>
            </a:r>
            <a:r>
              <a:rPr lang="ko-KR" altLang="en-US" sz="1200" dirty="0" err="1"/>
              <a:t>청구항</a:t>
            </a:r>
            <a:r>
              <a:rPr lang="ko-KR" altLang="en-US" sz="1200" dirty="0"/>
              <a:t> 제</a:t>
            </a:r>
            <a:r>
              <a:rPr lang="en-US" altLang="ko-KR" sz="1200" dirty="0"/>
              <a:t>2</a:t>
            </a:r>
            <a:r>
              <a:rPr lang="ko-KR" altLang="en-US" sz="1200" dirty="0"/>
              <a:t>항에 있던 부분을 </a:t>
            </a:r>
            <a:r>
              <a:rPr lang="ko-KR" altLang="en-US" sz="1200" dirty="0" err="1"/>
              <a:t>특징부에</a:t>
            </a:r>
            <a:r>
              <a:rPr lang="ko-KR" altLang="en-US" sz="1200" dirty="0"/>
              <a:t> </a:t>
            </a:r>
            <a:r>
              <a:rPr lang="ko-KR" altLang="en-US" sz="1200" dirty="0" err="1"/>
              <a:t>기재하였는</a:t>
            </a:r>
            <a:r>
              <a:rPr lang="ko-KR" altLang="en-US" sz="1200" dirty="0"/>
              <a:t> 바 재심사하여 </a:t>
            </a:r>
            <a:r>
              <a:rPr lang="ko-KR" altLang="en-US" sz="1200" dirty="0" err="1"/>
              <a:t>특허결정해달라</a:t>
            </a:r>
            <a:endParaRPr lang="ko-KR" altLang="en-US" sz="1200" dirty="0"/>
          </a:p>
        </p:txBody>
      </p:sp>
      <p:sp>
        <p:nvSpPr>
          <p:cNvPr id="60" name="타원 59">
            <a:extLst>
              <a:ext uri="{FF2B5EF4-FFF2-40B4-BE49-F238E27FC236}">
                <a16:creationId xmlns:a16="http://schemas.microsoft.com/office/drawing/2014/main" id="{E303D7A0-76B1-4B7A-B0F1-4A98B0DD42B9}"/>
              </a:ext>
            </a:extLst>
          </p:cNvPr>
          <p:cNvSpPr/>
          <p:nvPr/>
        </p:nvSpPr>
        <p:spPr>
          <a:xfrm>
            <a:off x="2693451" y="3817360"/>
            <a:ext cx="216024" cy="216024"/>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algn="ctr"/>
            <a:endParaRPr lang="ko-KR" altLang="en-US"/>
          </a:p>
        </p:txBody>
      </p:sp>
      <p:sp>
        <p:nvSpPr>
          <p:cNvPr id="61" name="TextBox 60">
            <a:extLst>
              <a:ext uri="{FF2B5EF4-FFF2-40B4-BE49-F238E27FC236}">
                <a16:creationId xmlns:a16="http://schemas.microsoft.com/office/drawing/2014/main" id="{8B686780-3000-4CB6-9D4D-F5A91258A86A}"/>
              </a:ext>
            </a:extLst>
          </p:cNvPr>
          <p:cNvSpPr txBox="1"/>
          <p:nvPr/>
        </p:nvSpPr>
        <p:spPr>
          <a:xfrm>
            <a:off x="1743602" y="3382759"/>
            <a:ext cx="2090088" cy="461665"/>
          </a:xfrm>
          <a:prstGeom prst="rect">
            <a:avLst/>
          </a:prstGeom>
          <a:noFill/>
        </p:spPr>
        <p:txBody>
          <a:bodyPr wrap="square" rtlCol="0">
            <a:spAutoFit/>
          </a:bodyPr>
          <a:lstStyle/>
          <a:p>
            <a:pPr algn="ctr"/>
            <a:r>
              <a:rPr lang="en-US" altLang="ko-KR" sz="1200" dirty="0"/>
              <a:t>OA</a:t>
            </a:r>
          </a:p>
          <a:p>
            <a:pPr algn="ctr"/>
            <a:r>
              <a:rPr lang="en-US" altLang="ko-KR" sz="1200" dirty="0"/>
              <a:t>(1</a:t>
            </a:r>
            <a:r>
              <a:rPr lang="ko-KR" altLang="en-US" sz="1200" dirty="0"/>
              <a:t>항이 진보성 위반</a:t>
            </a:r>
            <a:r>
              <a:rPr lang="en-US" altLang="ko-KR" sz="1200" dirty="0"/>
              <a:t>)</a:t>
            </a:r>
            <a:endParaRPr lang="ko-KR" altLang="en-US" sz="1200" dirty="0"/>
          </a:p>
        </p:txBody>
      </p:sp>
      <p:sp>
        <p:nvSpPr>
          <p:cNvPr id="62" name="직사각형 61">
            <a:extLst>
              <a:ext uri="{FF2B5EF4-FFF2-40B4-BE49-F238E27FC236}">
                <a16:creationId xmlns:a16="http://schemas.microsoft.com/office/drawing/2014/main" id="{BC4CC2A6-C973-43B6-8E2C-38D73049E715}"/>
              </a:ext>
            </a:extLst>
          </p:cNvPr>
          <p:cNvSpPr/>
          <p:nvPr/>
        </p:nvSpPr>
        <p:spPr>
          <a:xfrm>
            <a:off x="7039538" y="4124607"/>
            <a:ext cx="1368152" cy="2448272"/>
          </a:xfrm>
          <a:prstGeom prst="rect">
            <a:avLst/>
          </a:prstGeom>
        </p:spPr>
        <p:style>
          <a:lnRef idx="2">
            <a:schemeClr val="accent5"/>
          </a:lnRef>
          <a:fillRef idx="1">
            <a:schemeClr val="lt1"/>
          </a:fillRef>
          <a:effectRef idx="0">
            <a:schemeClr val="accent5"/>
          </a:effectRef>
          <a:fontRef idx="minor">
            <a:schemeClr val="dk1"/>
          </a:fontRef>
        </p:style>
        <p:txBody>
          <a:bodyPr rtlCol="0" anchor="ctr">
            <a:noAutofit/>
          </a:bodyPr>
          <a:lstStyle/>
          <a:p>
            <a:r>
              <a:rPr lang="ko-KR" altLang="en-US" sz="1200" dirty="0">
                <a:solidFill>
                  <a:schemeClr val="tx1"/>
                </a:solidFill>
              </a:rPr>
              <a:t>등받이와 보조받침을 직접 연결하여 연계동작을 하는 연결레버를 </a:t>
            </a:r>
            <a:r>
              <a:rPr lang="ko-KR" altLang="en-US" sz="1200" dirty="0" err="1">
                <a:solidFill>
                  <a:schemeClr val="tx1"/>
                </a:solidFill>
              </a:rPr>
              <a:t>슬라이드관으로</a:t>
            </a:r>
            <a:r>
              <a:rPr lang="ko-KR" altLang="en-US" sz="1200" dirty="0">
                <a:solidFill>
                  <a:schemeClr val="tx1"/>
                </a:solidFill>
              </a:rPr>
              <a:t> 구성된 안내부가 안내하도록 하는 구성을 갖는 안락의자</a:t>
            </a:r>
            <a:endParaRPr lang="en-US" altLang="ko-KR" sz="1200" dirty="0">
              <a:solidFill>
                <a:schemeClr val="tx1"/>
              </a:solidFill>
            </a:endParaRPr>
          </a:p>
        </p:txBody>
      </p:sp>
      <p:sp>
        <p:nvSpPr>
          <p:cNvPr id="63" name="모서리가 둥근 직사각형 55">
            <a:extLst>
              <a:ext uri="{FF2B5EF4-FFF2-40B4-BE49-F238E27FC236}">
                <a16:creationId xmlns:a16="http://schemas.microsoft.com/office/drawing/2014/main" id="{C9AAD1A9-07E2-4726-8238-4013BD935FB9}"/>
              </a:ext>
            </a:extLst>
          </p:cNvPr>
          <p:cNvSpPr/>
          <p:nvPr/>
        </p:nvSpPr>
        <p:spPr bwMode="auto">
          <a:xfrm>
            <a:off x="257975" y="994095"/>
            <a:ext cx="6509882" cy="360040"/>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2002. 6. 14. </a:t>
            </a:r>
            <a:r>
              <a:rPr lang="ko-KR" altLang="en-US" sz="1400" dirty="0"/>
              <a:t>선고 </a:t>
            </a:r>
            <a:r>
              <a:rPr lang="en-US" altLang="ko-KR" sz="1400" dirty="0"/>
              <a:t>2000</a:t>
            </a:r>
            <a:r>
              <a:rPr lang="ko-KR" altLang="en-US" sz="1400" dirty="0"/>
              <a:t>후</a:t>
            </a:r>
            <a:r>
              <a:rPr lang="en-US" altLang="ko-KR" sz="1400" dirty="0"/>
              <a:t>2712 </a:t>
            </a:r>
            <a:r>
              <a:rPr lang="ko-KR" altLang="en-US" sz="1400" dirty="0"/>
              <a:t>판결</a:t>
            </a:r>
            <a:r>
              <a:rPr lang="en-US" altLang="ko-KR" sz="1400" dirty="0"/>
              <a:t>【</a:t>
            </a:r>
            <a:r>
              <a:rPr lang="ko-KR" altLang="en-US" sz="1400" dirty="0"/>
              <a:t>권리범위확인</a:t>
            </a:r>
            <a:r>
              <a:rPr lang="en-US" altLang="ko-KR" sz="1400" dirty="0"/>
              <a:t>(</a:t>
            </a:r>
            <a:r>
              <a:rPr lang="ko-KR" altLang="en-US" sz="1400" dirty="0"/>
              <a:t>실</a:t>
            </a:r>
            <a:r>
              <a:rPr lang="en-US" altLang="ko-KR" sz="1400" dirty="0"/>
              <a:t>)】: </a:t>
            </a:r>
            <a:r>
              <a:rPr lang="ko-KR" altLang="en-US" sz="1400" dirty="0"/>
              <a:t>안락의자 사건</a:t>
            </a:r>
            <a:endParaRPr lang="en-US" altLang="ko-KR" sz="1400" dirty="0"/>
          </a:p>
        </p:txBody>
      </p:sp>
      <p:sp>
        <p:nvSpPr>
          <p:cNvPr id="70" name="TextBox 69">
            <a:extLst>
              <a:ext uri="{FF2B5EF4-FFF2-40B4-BE49-F238E27FC236}">
                <a16:creationId xmlns:a16="http://schemas.microsoft.com/office/drawing/2014/main" id="{6EB828DA-558E-40F8-BDCB-34B789188549}"/>
              </a:ext>
            </a:extLst>
          </p:cNvPr>
          <p:cNvSpPr txBox="1"/>
          <p:nvPr/>
        </p:nvSpPr>
        <p:spPr>
          <a:xfrm>
            <a:off x="10703520" y="5291559"/>
            <a:ext cx="788999" cy="523220"/>
          </a:xfrm>
          <a:prstGeom prst="rect">
            <a:avLst/>
          </a:prstGeom>
          <a:noFill/>
        </p:spPr>
        <p:txBody>
          <a:bodyPr wrap="none" rtlCol="0">
            <a:spAutoFit/>
          </a:bodyPr>
          <a:lstStyle/>
          <a:p>
            <a:pPr algn="ctr"/>
            <a:r>
              <a:rPr lang="ko-KR" altLang="en-US" sz="1400" dirty="0"/>
              <a:t>출원</a:t>
            </a:r>
            <a:endParaRPr lang="en-US" altLang="ko-KR" sz="1400" dirty="0"/>
          </a:p>
          <a:p>
            <a:pPr algn="ctr"/>
            <a:r>
              <a:rPr lang="en-US" altLang="ko-KR" sz="1400" dirty="0"/>
              <a:t>(</a:t>
            </a:r>
            <a:r>
              <a:rPr lang="ko-KR" altLang="en-US" sz="1400" dirty="0" err="1"/>
              <a:t>안내부</a:t>
            </a:r>
            <a:r>
              <a:rPr lang="en-US" altLang="ko-KR" sz="1400" dirty="0"/>
              <a:t>)</a:t>
            </a:r>
            <a:endParaRPr lang="ko-KR" altLang="en-US" sz="1400" dirty="0"/>
          </a:p>
        </p:txBody>
      </p:sp>
      <p:sp>
        <p:nvSpPr>
          <p:cNvPr id="5" name="직사각형 4">
            <a:extLst>
              <a:ext uri="{FF2B5EF4-FFF2-40B4-BE49-F238E27FC236}">
                <a16:creationId xmlns:a16="http://schemas.microsoft.com/office/drawing/2014/main" id="{4FE7D862-DD5E-4326-92AF-25CBDC64C67D}"/>
              </a:ext>
            </a:extLst>
          </p:cNvPr>
          <p:cNvSpPr/>
          <p:nvPr/>
        </p:nvSpPr>
        <p:spPr>
          <a:xfrm>
            <a:off x="8864836" y="4879146"/>
            <a:ext cx="1018227" cy="369327"/>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한쌍의</a:t>
            </a:r>
            <a:r>
              <a:rPr lang="ko-KR" altLang="en-US" sz="1200" dirty="0">
                <a:solidFill>
                  <a:schemeClr val="tx1"/>
                </a:solidFill>
              </a:rPr>
              <a:t> 롤러</a:t>
            </a:r>
          </a:p>
        </p:txBody>
      </p:sp>
      <p:sp>
        <p:nvSpPr>
          <p:cNvPr id="36" name="직사각형 35">
            <a:extLst>
              <a:ext uri="{FF2B5EF4-FFF2-40B4-BE49-F238E27FC236}">
                <a16:creationId xmlns:a16="http://schemas.microsoft.com/office/drawing/2014/main" id="{6FB9D8CC-6956-4A09-B240-1D4445CE2BA3}"/>
              </a:ext>
            </a:extLst>
          </p:cNvPr>
          <p:cNvSpPr/>
          <p:nvPr/>
        </p:nvSpPr>
        <p:spPr>
          <a:xfrm>
            <a:off x="9883063" y="4879146"/>
            <a:ext cx="1204457" cy="369327"/>
          </a:xfrm>
          <a:prstGeom prst="rect">
            <a:avLst/>
          </a:prstGeom>
          <a:solidFill>
            <a:schemeClr val="accent4">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슬라이드관</a:t>
            </a:r>
          </a:p>
        </p:txBody>
      </p:sp>
      <p:sp>
        <p:nvSpPr>
          <p:cNvPr id="37" name="TextBox 36">
            <a:extLst>
              <a:ext uri="{FF2B5EF4-FFF2-40B4-BE49-F238E27FC236}">
                <a16:creationId xmlns:a16="http://schemas.microsoft.com/office/drawing/2014/main" id="{BFF32904-58C2-4AA7-9EC1-DAA06FE7AF69}"/>
              </a:ext>
            </a:extLst>
          </p:cNvPr>
          <p:cNvSpPr txBox="1"/>
          <p:nvPr/>
        </p:nvSpPr>
        <p:spPr>
          <a:xfrm>
            <a:off x="9644077" y="5291559"/>
            <a:ext cx="508473" cy="738664"/>
          </a:xfrm>
          <a:prstGeom prst="rect">
            <a:avLst/>
          </a:prstGeom>
          <a:noFill/>
        </p:spPr>
        <p:txBody>
          <a:bodyPr wrap="none" rtlCol="0">
            <a:spAutoFit/>
          </a:bodyPr>
          <a:lstStyle/>
          <a:p>
            <a:pPr algn="ctr"/>
            <a:r>
              <a:rPr lang="ko-KR" altLang="en-US" sz="1400" dirty="0"/>
              <a:t>감축</a:t>
            </a:r>
            <a:endParaRPr lang="en-US" altLang="ko-KR" sz="1400" dirty="0"/>
          </a:p>
          <a:p>
            <a:pPr algn="ctr"/>
            <a:r>
              <a:rPr lang="ko-KR" altLang="en-US" sz="1400" dirty="0"/>
              <a:t>보정</a:t>
            </a:r>
            <a:endParaRPr lang="en-US" altLang="ko-KR" sz="1400" dirty="0"/>
          </a:p>
          <a:p>
            <a:pPr algn="ctr"/>
            <a:endParaRPr lang="ko-KR" altLang="en-US" sz="1400" dirty="0"/>
          </a:p>
        </p:txBody>
      </p:sp>
      <p:pic>
        <p:nvPicPr>
          <p:cNvPr id="1027" name="_x318566768" descr="EMB00002d2c0e36">
            <a:extLst>
              <a:ext uri="{FF2B5EF4-FFF2-40B4-BE49-F238E27FC236}">
                <a16:creationId xmlns:a16="http://schemas.microsoft.com/office/drawing/2014/main" id="{33FC9BCE-661E-4B55-9E7D-53498063A1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3333" b="12747"/>
          <a:stretch>
            <a:fillRect/>
          </a:stretch>
        </p:blipFill>
        <p:spPr bwMode="auto">
          <a:xfrm>
            <a:off x="8251640" y="3126978"/>
            <a:ext cx="1465263" cy="1141413"/>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pic>
        <p:nvPicPr>
          <p:cNvPr id="1026" name="_x318565808" descr="EMB00002d2c0e37">
            <a:extLst>
              <a:ext uri="{FF2B5EF4-FFF2-40B4-BE49-F238E27FC236}">
                <a16:creationId xmlns:a16="http://schemas.microsoft.com/office/drawing/2014/main" id="{EB785A0E-1924-4053-AB3F-59191D31A6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939" b="16272"/>
          <a:stretch>
            <a:fillRect/>
          </a:stretch>
        </p:blipFill>
        <p:spPr bwMode="auto">
          <a:xfrm>
            <a:off x="9641828" y="3128446"/>
            <a:ext cx="1368425" cy="1138237"/>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pic>
        <p:nvPicPr>
          <p:cNvPr id="1025" name="_x318565248" descr="EMB00002d2c0e38">
            <a:extLst>
              <a:ext uri="{FF2B5EF4-FFF2-40B4-BE49-F238E27FC236}">
                <a16:creationId xmlns:a16="http://schemas.microsoft.com/office/drawing/2014/main" id="{77A66F19-B387-4A96-BF36-1BFC62625AE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t="2827" b="16331"/>
          <a:stretch>
            <a:fillRect/>
          </a:stretch>
        </p:blipFill>
        <p:spPr bwMode="auto">
          <a:xfrm>
            <a:off x="10900737" y="3125269"/>
            <a:ext cx="1135063" cy="1141413"/>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sp>
        <p:nvSpPr>
          <p:cNvPr id="6" name="Rectangle 4">
            <a:extLst>
              <a:ext uri="{FF2B5EF4-FFF2-40B4-BE49-F238E27FC236}">
                <a16:creationId xmlns:a16="http://schemas.microsoft.com/office/drawing/2014/main" id="{6C0917CB-13DA-4199-A86B-3158CC9F38E8}"/>
              </a:ext>
            </a:extLst>
          </p:cNvPr>
          <p:cNvSpPr>
            <a:spLocks noChangeArrowheads="1"/>
          </p:cNvSpPr>
          <p:nvPr/>
        </p:nvSpPr>
        <p:spPr bwMode="auto">
          <a:xfrm>
            <a:off x="0" y="0"/>
            <a:ext cx="12192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ko-KR" altLang="en-US"/>
          </a:p>
        </p:txBody>
      </p:sp>
      <p:sp>
        <p:nvSpPr>
          <p:cNvPr id="46" name="TextBox 45">
            <a:extLst>
              <a:ext uri="{FF2B5EF4-FFF2-40B4-BE49-F238E27FC236}">
                <a16:creationId xmlns:a16="http://schemas.microsoft.com/office/drawing/2014/main" id="{51695525-7EC0-4946-89E6-22076BA6A1EC}"/>
              </a:ext>
            </a:extLst>
          </p:cNvPr>
          <p:cNvSpPr txBox="1"/>
          <p:nvPr/>
        </p:nvSpPr>
        <p:spPr>
          <a:xfrm>
            <a:off x="8541671" y="4262609"/>
            <a:ext cx="832279" cy="307777"/>
          </a:xfrm>
          <a:prstGeom prst="rect">
            <a:avLst/>
          </a:prstGeom>
          <a:noFill/>
        </p:spPr>
        <p:txBody>
          <a:bodyPr wrap="none" rtlCol="0">
            <a:spAutoFit/>
          </a:bodyPr>
          <a:lstStyle/>
          <a:p>
            <a:pPr algn="ctr"/>
            <a:r>
              <a:rPr lang="ko-KR" altLang="en-US" sz="1400"/>
              <a:t>롤러방식</a:t>
            </a:r>
            <a:endParaRPr lang="ko-KR" altLang="en-US" sz="1400" dirty="0"/>
          </a:p>
        </p:txBody>
      </p:sp>
      <p:sp>
        <p:nvSpPr>
          <p:cNvPr id="47" name="TextBox 46">
            <a:extLst>
              <a:ext uri="{FF2B5EF4-FFF2-40B4-BE49-F238E27FC236}">
                <a16:creationId xmlns:a16="http://schemas.microsoft.com/office/drawing/2014/main" id="{48FEAE47-84CA-4AEF-A178-A367B260AF82}"/>
              </a:ext>
            </a:extLst>
          </p:cNvPr>
          <p:cNvSpPr txBox="1"/>
          <p:nvPr/>
        </p:nvSpPr>
        <p:spPr>
          <a:xfrm>
            <a:off x="9721504" y="4262609"/>
            <a:ext cx="1156087" cy="307777"/>
          </a:xfrm>
          <a:prstGeom prst="rect">
            <a:avLst/>
          </a:prstGeom>
          <a:noFill/>
        </p:spPr>
        <p:txBody>
          <a:bodyPr wrap="none" rtlCol="0">
            <a:spAutoFit/>
          </a:bodyPr>
          <a:lstStyle/>
          <a:p>
            <a:pPr algn="ctr"/>
            <a:r>
              <a:rPr lang="ko-KR" altLang="en-US" sz="1400"/>
              <a:t>슬라이딩방식</a:t>
            </a:r>
            <a:endParaRPr lang="ko-KR" altLang="en-US" sz="1400" dirty="0"/>
          </a:p>
        </p:txBody>
      </p:sp>
      <p:sp>
        <p:nvSpPr>
          <p:cNvPr id="50" name="TextBox 49">
            <a:extLst>
              <a:ext uri="{FF2B5EF4-FFF2-40B4-BE49-F238E27FC236}">
                <a16:creationId xmlns:a16="http://schemas.microsoft.com/office/drawing/2014/main" id="{DEB029ED-B9FE-4548-9057-04331BF0107E}"/>
              </a:ext>
            </a:extLst>
          </p:cNvPr>
          <p:cNvSpPr txBox="1"/>
          <p:nvPr/>
        </p:nvSpPr>
        <p:spPr>
          <a:xfrm>
            <a:off x="10888923" y="4262609"/>
            <a:ext cx="1156087" cy="307777"/>
          </a:xfrm>
          <a:prstGeom prst="rect">
            <a:avLst/>
          </a:prstGeom>
          <a:noFill/>
        </p:spPr>
        <p:txBody>
          <a:bodyPr wrap="none" rtlCol="0">
            <a:spAutoFit/>
          </a:bodyPr>
          <a:lstStyle/>
          <a:p>
            <a:pPr algn="ctr"/>
            <a:r>
              <a:rPr lang="ko-KR" altLang="en-US" sz="1400"/>
              <a:t>슬라이딩방식</a:t>
            </a:r>
            <a:endParaRPr lang="ko-KR" altLang="en-US" sz="1400" dirty="0"/>
          </a:p>
        </p:txBody>
      </p:sp>
      <p:sp>
        <p:nvSpPr>
          <p:cNvPr id="54" name="TextBox 53">
            <a:extLst>
              <a:ext uri="{FF2B5EF4-FFF2-40B4-BE49-F238E27FC236}">
                <a16:creationId xmlns:a16="http://schemas.microsoft.com/office/drawing/2014/main" id="{4FF09771-1E4E-41E3-8990-EEF6410269A1}"/>
              </a:ext>
            </a:extLst>
          </p:cNvPr>
          <p:cNvSpPr txBox="1"/>
          <p:nvPr/>
        </p:nvSpPr>
        <p:spPr>
          <a:xfrm>
            <a:off x="10697059" y="6078031"/>
            <a:ext cx="803852"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BEFORE</a:t>
            </a:r>
            <a:endParaRPr lang="ko-KR" altLang="en-US" sz="1200" dirty="0">
              <a:solidFill>
                <a:schemeClr val="tx1"/>
              </a:solidFill>
              <a:latin typeface="+mn-ea"/>
            </a:endParaRPr>
          </a:p>
        </p:txBody>
      </p:sp>
      <p:cxnSp>
        <p:nvCxnSpPr>
          <p:cNvPr id="55" name="직선 연결선 54">
            <a:extLst>
              <a:ext uri="{FF2B5EF4-FFF2-40B4-BE49-F238E27FC236}">
                <a16:creationId xmlns:a16="http://schemas.microsoft.com/office/drawing/2014/main" id="{C71ADC94-4A94-4FF9-9872-8038D19C4B4C}"/>
              </a:ext>
            </a:extLst>
          </p:cNvPr>
          <p:cNvCxnSpPr>
            <a:cxnSpLocks/>
            <a:stCxn id="54" idx="0"/>
          </p:cNvCxnSpPr>
          <p:nvPr/>
        </p:nvCxnSpPr>
        <p:spPr>
          <a:xfrm flipH="1" flipV="1">
            <a:off x="11095407" y="5829111"/>
            <a:ext cx="3578" cy="24892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91121E02-2AD7-4D51-8C13-4B98AB8A61E7}"/>
              </a:ext>
            </a:extLst>
          </p:cNvPr>
          <p:cNvSpPr txBox="1"/>
          <p:nvPr/>
        </p:nvSpPr>
        <p:spPr>
          <a:xfrm>
            <a:off x="9491281" y="6078031"/>
            <a:ext cx="803852"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AFTER</a:t>
            </a:r>
            <a:endParaRPr lang="ko-KR" altLang="en-US" sz="1200" dirty="0">
              <a:solidFill>
                <a:schemeClr val="tx1"/>
              </a:solidFill>
              <a:latin typeface="+mn-ea"/>
            </a:endParaRPr>
          </a:p>
        </p:txBody>
      </p:sp>
      <p:cxnSp>
        <p:nvCxnSpPr>
          <p:cNvPr id="64" name="직선 연결선 63">
            <a:extLst>
              <a:ext uri="{FF2B5EF4-FFF2-40B4-BE49-F238E27FC236}">
                <a16:creationId xmlns:a16="http://schemas.microsoft.com/office/drawing/2014/main" id="{9B71ADB8-2646-4E14-B53D-DBBC9EC63A69}"/>
              </a:ext>
            </a:extLst>
          </p:cNvPr>
          <p:cNvCxnSpPr>
            <a:cxnSpLocks/>
            <a:stCxn id="56" idx="0"/>
          </p:cNvCxnSpPr>
          <p:nvPr/>
        </p:nvCxnSpPr>
        <p:spPr>
          <a:xfrm flipH="1" flipV="1">
            <a:off x="9889629" y="5829111"/>
            <a:ext cx="3578" cy="24892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10038026"/>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 name="그림 45">
            <a:extLst>
              <a:ext uri="{FF2B5EF4-FFF2-40B4-BE49-F238E27FC236}">
                <a16:creationId xmlns:a16="http://schemas.microsoft.com/office/drawing/2014/main" id="{6BFD754E-708D-47EA-A104-FFC3A533779C}"/>
              </a:ext>
            </a:extLst>
          </p:cNvPr>
          <p:cNvPicPr>
            <a:picLocks noChangeAspect="1"/>
          </p:cNvPicPr>
          <p:nvPr/>
        </p:nvPicPr>
        <p:blipFill rotWithShape="1">
          <a:blip r:embed="rId3"/>
          <a:srcRect l="23059" t="11771" r="5219" b="4289"/>
          <a:stretch/>
        </p:blipFill>
        <p:spPr>
          <a:xfrm rot="16200000">
            <a:off x="719925" y="5042679"/>
            <a:ext cx="1236277" cy="1499263"/>
          </a:xfrm>
          <a:prstGeom prst="ellipse">
            <a:avLst/>
          </a:prstGeom>
        </p:spPr>
      </p:pic>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4" name="텍스트 개체 틀 3"/>
          <p:cNvSpPr>
            <a:spLocks noGrp="1"/>
          </p:cNvSpPr>
          <p:nvPr>
            <p:ph type="body" sz="quarter" idx="13"/>
          </p:nvPr>
        </p:nvSpPr>
        <p:spPr/>
        <p:txBody>
          <a:bodyPr/>
          <a:lstStyle/>
          <a:p>
            <a:r>
              <a:rPr lang="ko-KR" altLang="en-US" dirty="0"/>
              <a:t>출원경과참작의 원칙</a:t>
            </a:r>
            <a:r>
              <a:rPr lang="en-US" altLang="ko-KR" dirty="0"/>
              <a:t>: </a:t>
            </a:r>
            <a:r>
              <a:rPr lang="ko-KR" altLang="en-US" dirty="0"/>
              <a:t>강판 포장용 받침대 사건</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345</a:t>
            </a:r>
            <a:endParaRPr lang="ko-KR" altLang="en-US"/>
          </a:p>
        </p:txBody>
      </p:sp>
      <p:sp>
        <p:nvSpPr>
          <p:cNvPr id="68" name="TextBox 67"/>
          <p:cNvSpPr txBox="1"/>
          <p:nvPr/>
        </p:nvSpPr>
        <p:spPr>
          <a:xfrm>
            <a:off x="77875" y="1371530"/>
            <a:ext cx="12024478" cy="1384995"/>
          </a:xfrm>
          <a:prstGeom prst="rect">
            <a:avLst/>
          </a:prstGeom>
          <a:noFill/>
        </p:spPr>
        <p:txBody>
          <a:bodyPr wrap="square" rtlCol="0">
            <a:spAutoFit/>
          </a:bodyPr>
          <a:lstStyle/>
          <a:p>
            <a:r>
              <a:rPr lang="ko-KR" altLang="en-US" sz="1400" dirty="0"/>
              <a:t>특허발명의 출원과정에서 어떤 구성이 청구범위에서 의식적으로 제외된 것인지 여부는 </a:t>
            </a:r>
            <a:r>
              <a:rPr lang="ko-KR" altLang="en-US" sz="1400" dirty="0" err="1"/>
              <a:t>명세서뿐만</a:t>
            </a:r>
            <a:r>
              <a:rPr lang="ko-KR" altLang="en-US" sz="1400" dirty="0"/>
              <a:t> 아니라 출원에서부터 </a:t>
            </a:r>
            <a:r>
              <a:rPr lang="ko-KR" altLang="en-US" sz="1400" dirty="0" err="1"/>
              <a:t>특허될</a:t>
            </a:r>
            <a:r>
              <a:rPr lang="ko-KR" altLang="en-US" sz="1400" dirty="0"/>
              <a:t> 때까지 지식재산처 심사관이 제시한 견해 및 출원인이 출원과정에서 제출한 보정서와 의견서 등에 나타난 출원인의 의도</a:t>
            </a:r>
            <a:r>
              <a:rPr lang="en-US" altLang="ko-KR" sz="1400" dirty="0"/>
              <a:t>, </a:t>
            </a:r>
            <a:r>
              <a:rPr lang="ko-KR" altLang="en-US" sz="1400" dirty="0"/>
              <a:t>보정이유 등을 참작하여 판단하여야 한다</a:t>
            </a:r>
            <a:r>
              <a:rPr lang="en-US" altLang="ko-KR" sz="1400" dirty="0"/>
              <a:t>(</a:t>
            </a:r>
            <a:r>
              <a:rPr lang="ko-KR" altLang="en-US" sz="1400" dirty="0"/>
              <a:t>대법원 </a:t>
            </a:r>
            <a:r>
              <a:rPr lang="en-US" altLang="ko-KR" sz="1400" dirty="0"/>
              <a:t>2002. 9. 6. </a:t>
            </a:r>
            <a:r>
              <a:rPr lang="ko-KR" altLang="en-US" sz="1400" dirty="0"/>
              <a:t>선고 </a:t>
            </a:r>
            <a:r>
              <a:rPr lang="en-US" altLang="ko-KR" sz="1400" dirty="0"/>
              <a:t>2001</a:t>
            </a:r>
            <a:r>
              <a:rPr lang="ko-KR" altLang="en-US" sz="1400" dirty="0"/>
              <a:t>후</a:t>
            </a:r>
            <a:r>
              <a:rPr lang="en-US" altLang="ko-KR" sz="1400" dirty="0"/>
              <a:t>171 </a:t>
            </a:r>
            <a:r>
              <a:rPr lang="ko-KR" altLang="en-US" sz="1400" dirty="0"/>
              <a:t>판결 참조</a:t>
            </a:r>
            <a:r>
              <a:rPr lang="en-US" altLang="ko-KR" sz="1400" dirty="0"/>
              <a:t>). </a:t>
            </a:r>
            <a:r>
              <a:rPr lang="ko-KR" altLang="en-US" sz="1400" dirty="0"/>
              <a:t>따라서 </a:t>
            </a:r>
            <a:r>
              <a:rPr lang="ko-KR" altLang="en-US" sz="1400" dirty="0">
                <a:highlight>
                  <a:srgbClr val="FFFF00"/>
                </a:highlight>
              </a:rPr>
              <a:t>출원과정에서 청구범위의 감축이 이루어졌다는 사정만으로 감축 전의 구성과 감축 후의 구성을 비교하여 그 사이에 존재하는 모든 구성이 청구범위에서 의식적으로 제외되었다고 단정할 것은 아니고</a:t>
            </a:r>
            <a:r>
              <a:rPr lang="en-US" altLang="ko-KR" sz="1400" dirty="0">
                <a:highlight>
                  <a:srgbClr val="FFFF00"/>
                </a:highlight>
              </a:rPr>
              <a:t>, </a:t>
            </a:r>
            <a:r>
              <a:rPr lang="ko-KR" altLang="en-US" sz="1400" dirty="0" err="1">
                <a:highlight>
                  <a:srgbClr val="FFFF00"/>
                </a:highlight>
              </a:rPr>
              <a:t>거절이유통지에</a:t>
            </a:r>
            <a:r>
              <a:rPr lang="ko-KR" altLang="en-US" sz="1400" dirty="0">
                <a:highlight>
                  <a:srgbClr val="FFFF00"/>
                </a:highlight>
              </a:rPr>
              <a:t> 제시된 선행기술을 회피하기 위한 의도로 그 선행기술에 나타난 구성을 배제하는 감축을 한 경우 등과 같이 보정이유를 포함하여 출원과정에 드러난 여러 사정을 종합하여 볼 때 출원인이 어떤 구성을 권리범위에서 제외하려는 의사가 존재한다고 볼 수 있을 때에 이를 인정할 수 있다</a:t>
            </a:r>
            <a:r>
              <a:rPr lang="en-US" altLang="ko-KR" sz="1400" dirty="0">
                <a:highlight>
                  <a:srgbClr val="FFFF00"/>
                </a:highlight>
              </a:rPr>
              <a:t>. </a:t>
            </a:r>
            <a:r>
              <a:rPr lang="ko-KR" altLang="en-US" sz="1400" dirty="0">
                <a:highlight>
                  <a:srgbClr val="FFFF00"/>
                </a:highlight>
              </a:rPr>
              <a:t>그리고 이러한 법리는 청구범위의 감축 없이 의견서 제출 등을 통한 의견진술이 있었던 경우에도 마찬가지로 적용된다</a:t>
            </a:r>
            <a:r>
              <a:rPr lang="en-US" altLang="ko-KR" sz="1400" dirty="0">
                <a:highlight>
                  <a:srgbClr val="FFFF00"/>
                </a:highlight>
              </a:rPr>
              <a:t>.</a:t>
            </a:r>
            <a:endParaRPr lang="ko-KR" altLang="en-US" sz="1400" dirty="0">
              <a:highlight>
                <a:srgbClr val="FFFF00"/>
              </a:highlight>
            </a:endParaRPr>
          </a:p>
        </p:txBody>
      </p:sp>
      <p:cxnSp>
        <p:nvCxnSpPr>
          <p:cNvPr id="69" name="직선 연결선 68"/>
          <p:cNvCxnSpPr/>
          <p:nvPr/>
        </p:nvCxnSpPr>
        <p:spPr>
          <a:xfrm>
            <a:off x="0" y="279238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직선 화살표 연결선 26">
            <a:extLst>
              <a:ext uri="{FF2B5EF4-FFF2-40B4-BE49-F238E27FC236}">
                <a16:creationId xmlns:a16="http://schemas.microsoft.com/office/drawing/2014/main" id="{8039A30E-DFD5-4A0D-8D00-D86BAE958A29}"/>
              </a:ext>
            </a:extLst>
          </p:cNvPr>
          <p:cNvCxnSpPr/>
          <p:nvPr/>
        </p:nvCxnSpPr>
        <p:spPr>
          <a:xfrm>
            <a:off x="683568" y="3482165"/>
            <a:ext cx="10721032" cy="0"/>
          </a:xfrm>
          <a:prstGeom prst="straightConnector1">
            <a:avLst/>
          </a:prstGeom>
          <a:ln w="28575">
            <a:solidFill>
              <a:schemeClr val="accent2">
                <a:lumMod val="50000"/>
              </a:schemeClr>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28" name="타원 27">
            <a:extLst>
              <a:ext uri="{FF2B5EF4-FFF2-40B4-BE49-F238E27FC236}">
                <a16:creationId xmlns:a16="http://schemas.microsoft.com/office/drawing/2014/main" id="{A2B12965-996C-42AF-B35D-47F9EBD5F5E7}"/>
              </a:ext>
            </a:extLst>
          </p:cNvPr>
          <p:cNvSpPr/>
          <p:nvPr/>
        </p:nvSpPr>
        <p:spPr>
          <a:xfrm>
            <a:off x="1197604" y="3385106"/>
            <a:ext cx="216024" cy="216024"/>
          </a:xfrm>
          <a:prstGeom prst="ellipse">
            <a:avLst/>
          </a:prstGeom>
        </p:spPr>
        <p:style>
          <a:lnRef idx="0">
            <a:schemeClr val="accent2"/>
          </a:lnRef>
          <a:fillRef idx="3">
            <a:schemeClr val="accent2"/>
          </a:fillRef>
          <a:effectRef idx="3">
            <a:schemeClr val="accent2"/>
          </a:effectRef>
          <a:fontRef idx="minor">
            <a:schemeClr val="lt1"/>
          </a:fontRef>
        </p:style>
        <p:txBody>
          <a:bodyPr rtlCol="0" anchor="ctr"/>
          <a:lstStyle/>
          <a:p>
            <a:pPr algn="ctr"/>
            <a:endParaRPr lang="ko-KR" altLang="en-US"/>
          </a:p>
        </p:txBody>
      </p:sp>
      <p:sp>
        <p:nvSpPr>
          <p:cNvPr id="40" name="타원 39">
            <a:extLst>
              <a:ext uri="{FF2B5EF4-FFF2-40B4-BE49-F238E27FC236}">
                <a16:creationId xmlns:a16="http://schemas.microsoft.com/office/drawing/2014/main" id="{70E459C9-0899-4343-9340-28FA46A2DF5B}"/>
              </a:ext>
            </a:extLst>
          </p:cNvPr>
          <p:cNvSpPr/>
          <p:nvPr/>
        </p:nvSpPr>
        <p:spPr>
          <a:xfrm>
            <a:off x="3153773" y="3385106"/>
            <a:ext cx="216024" cy="216024"/>
          </a:xfrm>
          <a:prstGeom prst="ellipse">
            <a:avLst/>
          </a:prstGeom>
        </p:spPr>
        <p:style>
          <a:lnRef idx="0">
            <a:schemeClr val="accent4"/>
          </a:lnRef>
          <a:fillRef idx="3">
            <a:schemeClr val="accent4"/>
          </a:fillRef>
          <a:effectRef idx="3">
            <a:schemeClr val="accent4"/>
          </a:effectRef>
          <a:fontRef idx="minor">
            <a:schemeClr val="lt1"/>
          </a:fontRef>
        </p:style>
        <p:txBody>
          <a:bodyPr rtlCol="0" anchor="ctr"/>
          <a:lstStyle/>
          <a:p>
            <a:pPr algn="ctr"/>
            <a:endParaRPr lang="ko-KR" altLang="en-US"/>
          </a:p>
        </p:txBody>
      </p:sp>
      <p:sp>
        <p:nvSpPr>
          <p:cNvPr id="42" name="타원 41">
            <a:extLst>
              <a:ext uri="{FF2B5EF4-FFF2-40B4-BE49-F238E27FC236}">
                <a16:creationId xmlns:a16="http://schemas.microsoft.com/office/drawing/2014/main" id="{49EED887-63DA-487A-BF16-30458C848ADB}"/>
              </a:ext>
            </a:extLst>
          </p:cNvPr>
          <p:cNvSpPr/>
          <p:nvPr/>
        </p:nvSpPr>
        <p:spPr>
          <a:xfrm>
            <a:off x="5677663" y="3385106"/>
            <a:ext cx="216024" cy="216024"/>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algn="ctr"/>
            <a:endParaRPr lang="ko-KR" altLang="en-US"/>
          </a:p>
        </p:txBody>
      </p:sp>
      <p:sp>
        <p:nvSpPr>
          <p:cNvPr id="43" name="타원 42">
            <a:extLst>
              <a:ext uri="{FF2B5EF4-FFF2-40B4-BE49-F238E27FC236}">
                <a16:creationId xmlns:a16="http://schemas.microsoft.com/office/drawing/2014/main" id="{BCEFBCBC-76D5-4A45-98C5-BB91EB245F0A}"/>
              </a:ext>
            </a:extLst>
          </p:cNvPr>
          <p:cNvSpPr/>
          <p:nvPr/>
        </p:nvSpPr>
        <p:spPr>
          <a:xfrm>
            <a:off x="6622820" y="3385106"/>
            <a:ext cx="216024" cy="216024"/>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endParaRPr lang="ko-KR" altLang="en-US"/>
          </a:p>
        </p:txBody>
      </p:sp>
      <p:sp>
        <p:nvSpPr>
          <p:cNvPr id="44" name="TextBox 43">
            <a:extLst>
              <a:ext uri="{FF2B5EF4-FFF2-40B4-BE49-F238E27FC236}">
                <a16:creationId xmlns:a16="http://schemas.microsoft.com/office/drawing/2014/main" id="{EE00173E-8CF9-4073-BCE2-F345BDFCB43D}"/>
              </a:ext>
            </a:extLst>
          </p:cNvPr>
          <p:cNvSpPr txBox="1"/>
          <p:nvPr/>
        </p:nvSpPr>
        <p:spPr>
          <a:xfrm>
            <a:off x="1067410" y="3061150"/>
            <a:ext cx="476412" cy="276999"/>
          </a:xfrm>
          <a:prstGeom prst="rect">
            <a:avLst/>
          </a:prstGeom>
          <a:noFill/>
        </p:spPr>
        <p:txBody>
          <a:bodyPr wrap="none" rtlCol="0">
            <a:spAutoFit/>
          </a:bodyPr>
          <a:lstStyle/>
          <a:p>
            <a:r>
              <a:rPr lang="ko-KR" altLang="en-US" sz="1200" dirty="0"/>
              <a:t>출원</a:t>
            </a:r>
          </a:p>
        </p:txBody>
      </p:sp>
      <p:sp>
        <p:nvSpPr>
          <p:cNvPr id="45" name="TextBox 44">
            <a:extLst>
              <a:ext uri="{FF2B5EF4-FFF2-40B4-BE49-F238E27FC236}">
                <a16:creationId xmlns:a16="http://schemas.microsoft.com/office/drawing/2014/main" id="{5A2E0B94-04A4-461F-899E-120C1A995D93}"/>
              </a:ext>
            </a:extLst>
          </p:cNvPr>
          <p:cNvSpPr txBox="1"/>
          <p:nvPr/>
        </p:nvSpPr>
        <p:spPr>
          <a:xfrm>
            <a:off x="3037401" y="3044281"/>
            <a:ext cx="476412" cy="276999"/>
          </a:xfrm>
          <a:prstGeom prst="rect">
            <a:avLst/>
          </a:prstGeom>
          <a:noFill/>
        </p:spPr>
        <p:txBody>
          <a:bodyPr wrap="none" rtlCol="0">
            <a:spAutoFit/>
          </a:bodyPr>
          <a:lstStyle/>
          <a:p>
            <a:r>
              <a:rPr lang="ko-KR" altLang="en-US" sz="1200" dirty="0"/>
              <a:t>보정</a:t>
            </a:r>
          </a:p>
        </p:txBody>
      </p:sp>
      <p:sp>
        <p:nvSpPr>
          <p:cNvPr id="48" name="TextBox 47">
            <a:extLst>
              <a:ext uri="{FF2B5EF4-FFF2-40B4-BE49-F238E27FC236}">
                <a16:creationId xmlns:a16="http://schemas.microsoft.com/office/drawing/2014/main" id="{DE5134AB-B966-4413-89EF-16C2CF7828BC}"/>
              </a:ext>
            </a:extLst>
          </p:cNvPr>
          <p:cNvSpPr txBox="1"/>
          <p:nvPr/>
        </p:nvSpPr>
        <p:spPr>
          <a:xfrm>
            <a:off x="5497643" y="3044280"/>
            <a:ext cx="576064" cy="276999"/>
          </a:xfrm>
          <a:prstGeom prst="rect">
            <a:avLst/>
          </a:prstGeom>
          <a:noFill/>
        </p:spPr>
        <p:txBody>
          <a:bodyPr wrap="square" rtlCol="0">
            <a:spAutoFit/>
          </a:bodyPr>
          <a:lstStyle/>
          <a:p>
            <a:pPr algn="ctr"/>
            <a:r>
              <a:rPr lang="ko-KR" altLang="en-US" sz="1200" dirty="0"/>
              <a:t>등록</a:t>
            </a:r>
          </a:p>
        </p:txBody>
      </p:sp>
      <p:sp>
        <p:nvSpPr>
          <p:cNvPr id="49" name="TextBox 48">
            <a:extLst>
              <a:ext uri="{FF2B5EF4-FFF2-40B4-BE49-F238E27FC236}">
                <a16:creationId xmlns:a16="http://schemas.microsoft.com/office/drawing/2014/main" id="{D58B9F63-10B3-4E84-ABA6-CC576EC34363}"/>
              </a:ext>
            </a:extLst>
          </p:cNvPr>
          <p:cNvSpPr txBox="1"/>
          <p:nvPr/>
        </p:nvSpPr>
        <p:spPr>
          <a:xfrm>
            <a:off x="6281830" y="3061150"/>
            <a:ext cx="898003" cy="276999"/>
          </a:xfrm>
          <a:prstGeom prst="rect">
            <a:avLst/>
          </a:prstGeom>
          <a:noFill/>
        </p:spPr>
        <p:txBody>
          <a:bodyPr wrap="none" rtlCol="0">
            <a:spAutoFit/>
          </a:bodyPr>
          <a:lstStyle/>
          <a:p>
            <a:r>
              <a:rPr lang="ko-KR" altLang="en-US" sz="1200" dirty="0"/>
              <a:t>제</a:t>
            </a:r>
            <a:r>
              <a:rPr lang="en-US" altLang="ko-KR" sz="1200" dirty="0"/>
              <a:t>3</a:t>
            </a:r>
            <a:r>
              <a:rPr lang="ko-KR" altLang="en-US" sz="1200" dirty="0"/>
              <a:t>자 실시</a:t>
            </a:r>
          </a:p>
        </p:txBody>
      </p:sp>
      <p:sp>
        <p:nvSpPr>
          <p:cNvPr id="52" name="직사각형 51">
            <a:extLst>
              <a:ext uri="{FF2B5EF4-FFF2-40B4-BE49-F238E27FC236}">
                <a16:creationId xmlns:a16="http://schemas.microsoft.com/office/drawing/2014/main" id="{8C7108CA-2429-4E15-A12F-3F26E7E5B387}"/>
              </a:ext>
            </a:extLst>
          </p:cNvPr>
          <p:cNvSpPr/>
          <p:nvPr/>
        </p:nvSpPr>
        <p:spPr>
          <a:xfrm>
            <a:off x="2104130" y="3692353"/>
            <a:ext cx="1549693" cy="1348727"/>
          </a:xfrm>
          <a:prstGeom prst="rect">
            <a:avLst/>
          </a:prstGeom>
        </p:spPr>
        <p:style>
          <a:lnRef idx="2">
            <a:schemeClr val="accent4"/>
          </a:lnRef>
          <a:fillRef idx="1">
            <a:schemeClr val="lt1"/>
          </a:fillRef>
          <a:effectRef idx="0">
            <a:schemeClr val="accent4"/>
          </a:effectRef>
          <a:fontRef idx="minor">
            <a:schemeClr val="dk1"/>
          </a:fontRef>
        </p:style>
        <p:txBody>
          <a:bodyPr rtlCol="0" anchor="ctr">
            <a:noAutofit/>
          </a:bodyPr>
          <a:lstStyle/>
          <a:p>
            <a:r>
              <a:rPr lang="ko-KR" altLang="en-US" sz="1200" dirty="0">
                <a:solidFill>
                  <a:srgbClr val="FF0000"/>
                </a:solidFill>
              </a:rPr>
              <a:t>상부 받침대와 하부 받침대</a:t>
            </a:r>
            <a:r>
              <a:rPr lang="ko-KR" altLang="en-US" sz="1200" dirty="0">
                <a:solidFill>
                  <a:schemeClr val="tx1"/>
                </a:solidFill>
              </a:rPr>
              <a:t>의 하부면이 상부면보다 넓은</a:t>
            </a:r>
            <a:r>
              <a:rPr lang="en-US" altLang="ko-KR" sz="1200" dirty="0">
                <a:solidFill>
                  <a:schemeClr val="tx1"/>
                </a:solidFill>
              </a:rPr>
              <a:t>(</a:t>
            </a:r>
            <a:r>
              <a:rPr lang="ko-KR" altLang="en-US" sz="1200" dirty="0" err="1">
                <a:solidFill>
                  <a:schemeClr val="tx1"/>
                </a:solidFill>
              </a:rPr>
              <a:t>하광</a:t>
            </a:r>
            <a:r>
              <a:rPr lang="en-US" altLang="ko-KR" sz="1200" dirty="0">
                <a:solidFill>
                  <a:schemeClr val="tx1"/>
                </a:solidFill>
              </a:rPr>
              <a:t>) </a:t>
            </a:r>
            <a:r>
              <a:rPr lang="ko-KR" altLang="en-US" sz="1200" dirty="0">
                <a:solidFill>
                  <a:schemeClr val="tx1"/>
                </a:solidFill>
              </a:rPr>
              <a:t>속이 빈 사다리꼴의 단면모양의 강판 포장용 받침대</a:t>
            </a:r>
          </a:p>
        </p:txBody>
      </p:sp>
      <p:sp>
        <p:nvSpPr>
          <p:cNvPr id="57" name="타원 56">
            <a:extLst>
              <a:ext uri="{FF2B5EF4-FFF2-40B4-BE49-F238E27FC236}">
                <a16:creationId xmlns:a16="http://schemas.microsoft.com/office/drawing/2014/main" id="{03E7594A-4659-4924-87A3-13E6452068ED}"/>
              </a:ext>
            </a:extLst>
          </p:cNvPr>
          <p:cNvSpPr/>
          <p:nvPr/>
        </p:nvSpPr>
        <p:spPr>
          <a:xfrm>
            <a:off x="4831869" y="3385106"/>
            <a:ext cx="216024" cy="216024"/>
          </a:xfrm>
          <a:prstGeom prst="ellipse">
            <a:avLst/>
          </a:prstGeom>
        </p:spPr>
        <p:style>
          <a:lnRef idx="0">
            <a:schemeClr val="accent4"/>
          </a:lnRef>
          <a:fillRef idx="3">
            <a:schemeClr val="accent4"/>
          </a:fillRef>
          <a:effectRef idx="3">
            <a:schemeClr val="accent4"/>
          </a:effectRef>
          <a:fontRef idx="minor">
            <a:schemeClr val="lt1"/>
          </a:fontRef>
        </p:style>
        <p:txBody>
          <a:bodyPr rtlCol="0" anchor="ctr"/>
          <a:lstStyle/>
          <a:p>
            <a:pPr algn="ctr"/>
            <a:endParaRPr lang="ko-KR" altLang="en-US"/>
          </a:p>
        </p:txBody>
      </p:sp>
      <p:sp>
        <p:nvSpPr>
          <p:cNvPr id="58" name="TextBox 57">
            <a:extLst>
              <a:ext uri="{FF2B5EF4-FFF2-40B4-BE49-F238E27FC236}">
                <a16:creationId xmlns:a16="http://schemas.microsoft.com/office/drawing/2014/main" id="{AB78029D-AD41-430F-85AD-0249C69C8CA1}"/>
              </a:ext>
            </a:extLst>
          </p:cNvPr>
          <p:cNvSpPr txBox="1"/>
          <p:nvPr/>
        </p:nvSpPr>
        <p:spPr>
          <a:xfrm>
            <a:off x="4617283" y="3044281"/>
            <a:ext cx="622286" cy="276999"/>
          </a:xfrm>
          <a:prstGeom prst="rect">
            <a:avLst/>
          </a:prstGeom>
          <a:noFill/>
        </p:spPr>
        <p:txBody>
          <a:bodyPr wrap="none" rtlCol="0">
            <a:spAutoFit/>
          </a:bodyPr>
          <a:lstStyle/>
          <a:p>
            <a:r>
              <a:rPr lang="ko-KR" altLang="en-US" sz="1200"/>
              <a:t>의견서</a:t>
            </a:r>
            <a:endParaRPr lang="ko-KR" altLang="en-US" sz="1200" dirty="0"/>
          </a:p>
        </p:txBody>
      </p:sp>
      <p:sp>
        <p:nvSpPr>
          <p:cNvPr id="59" name="직사각형 58">
            <a:extLst>
              <a:ext uri="{FF2B5EF4-FFF2-40B4-BE49-F238E27FC236}">
                <a16:creationId xmlns:a16="http://schemas.microsoft.com/office/drawing/2014/main" id="{2EEDA84B-F286-45C5-9AA3-D08E7CCF7655}"/>
              </a:ext>
            </a:extLst>
          </p:cNvPr>
          <p:cNvSpPr/>
          <p:nvPr/>
        </p:nvSpPr>
        <p:spPr>
          <a:xfrm>
            <a:off x="3713610" y="3692353"/>
            <a:ext cx="1877735" cy="2039156"/>
          </a:xfrm>
          <a:prstGeom prst="rect">
            <a:avLst/>
          </a:prstGeom>
        </p:spPr>
        <p:style>
          <a:lnRef idx="2">
            <a:schemeClr val="accent4"/>
          </a:lnRef>
          <a:fillRef idx="1">
            <a:schemeClr val="lt1"/>
          </a:fillRef>
          <a:effectRef idx="0">
            <a:schemeClr val="accent4"/>
          </a:effectRef>
          <a:fontRef idx="minor">
            <a:schemeClr val="dk1"/>
          </a:fontRef>
        </p:style>
        <p:txBody>
          <a:bodyPr rtlCol="0" anchor="ctr">
            <a:noAutofit/>
          </a:bodyPr>
          <a:lstStyle/>
          <a:p>
            <a:r>
              <a:rPr lang="ko-KR" altLang="en-US" sz="1200" dirty="0"/>
              <a:t>인용대상의 </a:t>
            </a:r>
            <a:r>
              <a:rPr lang="ko-KR" altLang="en-US" sz="1200" dirty="0">
                <a:solidFill>
                  <a:srgbClr val="FF0000"/>
                </a:solidFill>
              </a:rPr>
              <a:t>상부 받침대</a:t>
            </a:r>
            <a:r>
              <a:rPr lang="ko-KR" altLang="en-US" sz="1200" dirty="0"/>
              <a:t>는 </a:t>
            </a:r>
            <a:r>
              <a:rPr lang="ko-KR" altLang="en-US" sz="1200" dirty="0" err="1"/>
              <a:t>홈부가</a:t>
            </a:r>
            <a:r>
              <a:rPr lang="ko-KR" altLang="en-US" sz="1200" dirty="0"/>
              <a:t> 형성된 부분이 아래로 향하면서 </a:t>
            </a:r>
            <a:r>
              <a:rPr lang="ko-KR" altLang="en-US" sz="1200" dirty="0" err="1"/>
              <a:t>하부받침대와</a:t>
            </a:r>
            <a:r>
              <a:rPr lang="ko-KR" altLang="en-US" sz="1200" dirty="0"/>
              <a:t> 결합되어 있는 반면에 이 사건 발명의 </a:t>
            </a:r>
            <a:r>
              <a:rPr lang="ko-KR" altLang="en-US" sz="1200" dirty="0">
                <a:solidFill>
                  <a:srgbClr val="FF0000"/>
                </a:solidFill>
              </a:rPr>
              <a:t>상부 받침대는 </a:t>
            </a:r>
            <a:r>
              <a:rPr lang="ko-KR" altLang="en-US" sz="1200" dirty="0" err="1">
                <a:solidFill>
                  <a:srgbClr val="FF0000"/>
                </a:solidFill>
              </a:rPr>
              <a:t>홈부가</a:t>
            </a:r>
            <a:r>
              <a:rPr lang="ko-KR" altLang="en-US" sz="1200" dirty="0">
                <a:solidFill>
                  <a:srgbClr val="FF0000"/>
                </a:solidFill>
              </a:rPr>
              <a:t> 형성된 부분이 상부에 형성</a:t>
            </a:r>
            <a:r>
              <a:rPr lang="ko-KR" altLang="en-US" sz="1200" dirty="0"/>
              <a:t>되어 있어 </a:t>
            </a:r>
            <a:r>
              <a:rPr lang="ko-KR" altLang="en-US" sz="1200" dirty="0" err="1"/>
              <a:t>하부받침대에</a:t>
            </a:r>
            <a:r>
              <a:rPr lang="ko-KR" altLang="en-US" sz="1200" dirty="0"/>
              <a:t> 용접될 때 그 접촉면을 넓혀 결합력을 </a:t>
            </a:r>
            <a:r>
              <a:rPr lang="ko-KR" altLang="en-US" sz="1200" dirty="0" err="1"/>
              <a:t>강화시킴으로써</a:t>
            </a:r>
            <a:r>
              <a:rPr lang="ko-KR" altLang="en-US" sz="1200" dirty="0"/>
              <a:t> 구조적인 안정감을 향상시키고 있다</a:t>
            </a:r>
          </a:p>
        </p:txBody>
      </p:sp>
      <p:sp>
        <p:nvSpPr>
          <p:cNvPr id="60" name="타원 59">
            <a:extLst>
              <a:ext uri="{FF2B5EF4-FFF2-40B4-BE49-F238E27FC236}">
                <a16:creationId xmlns:a16="http://schemas.microsoft.com/office/drawing/2014/main" id="{E303D7A0-76B1-4B7A-B0F1-4A98B0DD42B9}"/>
              </a:ext>
            </a:extLst>
          </p:cNvPr>
          <p:cNvSpPr/>
          <p:nvPr/>
        </p:nvSpPr>
        <p:spPr>
          <a:xfrm>
            <a:off x="2319600" y="3385106"/>
            <a:ext cx="216024" cy="216024"/>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algn="ctr"/>
            <a:endParaRPr lang="ko-KR" altLang="en-US"/>
          </a:p>
        </p:txBody>
      </p:sp>
      <p:sp>
        <p:nvSpPr>
          <p:cNvPr id="61" name="TextBox 60">
            <a:extLst>
              <a:ext uri="{FF2B5EF4-FFF2-40B4-BE49-F238E27FC236}">
                <a16:creationId xmlns:a16="http://schemas.microsoft.com/office/drawing/2014/main" id="{8B686780-3000-4CB6-9D4D-F5A91258A86A}"/>
              </a:ext>
            </a:extLst>
          </p:cNvPr>
          <p:cNvSpPr txBox="1"/>
          <p:nvPr/>
        </p:nvSpPr>
        <p:spPr>
          <a:xfrm>
            <a:off x="1375124" y="2950505"/>
            <a:ext cx="2090088" cy="461665"/>
          </a:xfrm>
          <a:prstGeom prst="rect">
            <a:avLst/>
          </a:prstGeom>
          <a:noFill/>
        </p:spPr>
        <p:txBody>
          <a:bodyPr wrap="square" rtlCol="0">
            <a:spAutoFit/>
          </a:bodyPr>
          <a:lstStyle/>
          <a:p>
            <a:pPr algn="ctr"/>
            <a:r>
              <a:rPr lang="en-US" altLang="ko-KR" sz="1200" dirty="0"/>
              <a:t>OA</a:t>
            </a:r>
          </a:p>
          <a:p>
            <a:pPr algn="ctr"/>
            <a:r>
              <a:rPr lang="en-US" altLang="ko-KR" sz="1200" dirty="0"/>
              <a:t>(</a:t>
            </a:r>
            <a:r>
              <a:rPr lang="ko-KR" altLang="en-US" sz="1200" dirty="0"/>
              <a:t>진보성 위반</a:t>
            </a:r>
            <a:r>
              <a:rPr lang="en-US" altLang="ko-KR" sz="1200" dirty="0"/>
              <a:t>)</a:t>
            </a:r>
            <a:endParaRPr lang="ko-KR" altLang="en-US" sz="1200" dirty="0"/>
          </a:p>
        </p:txBody>
      </p:sp>
      <p:sp>
        <p:nvSpPr>
          <p:cNvPr id="62" name="직사각형 61">
            <a:extLst>
              <a:ext uri="{FF2B5EF4-FFF2-40B4-BE49-F238E27FC236}">
                <a16:creationId xmlns:a16="http://schemas.microsoft.com/office/drawing/2014/main" id="{BC4CC2A6-C973-43B6-8E2C-38D73049E715}"/>
              </a:ext>
            </a:extLst>
          </p:cNvPr>
          <p:cNvSpPr/>
          <p:nvPr/>
        </p:nvSpPr>
        <p:spPr>
          <a:xfrm>
            <a:off x="5677663" y="3692353"/>
            <a:ext cx="2620948" cy="805184"/>
          </a:xfrm>
          <a:prstGeom prst="rect">
            <a:avLst/>
          </a:prstGeom>
        </p:spPr>
        <p:style>
          <a:lnRef idx="2">
            <a:schemeClr val="accent5"/>
          </a:lnRef>
          <a:fillRef idx="1">
            <a:schemeClr val="lt1"/>
          </a:fillRef>
          <a:effectRef idx="0">
            <a:schemeClr val="accent5"/>
          </a:effectRef>
          <a:fontRef idx="minor">
            <a:schemeClr val="dk1"/>
          </a:fontRef>
        </p:style>
        <p:txBody>
          <a:bodyPr rtlCol="0" anchor="ctr">
            <a:noAutofit/>
          </a:bodyPr>
          <a:lstStyle/>
          <a:p>
            <a:r>
              <a:rPr lang="ko-KR" altLang="en-US" sz="1200" dirty="0">
                <a:solidFill>
                  <a:schemeClr val="tx1"/>
                </a:solidFill>
              </a:rPr>
              <a:t>하부 받침대가 </a:t>
            </a:r>
            <a:r>
              <a:rPr lang="ko-KR" altLang="en-US" sz="1200" dirty="0" err="1">
                <a:solidFill>
                  <a:schemeClr val="tx1"/>
                </a:solidFill>
              </a:rPr>
              <a:t>상광의</a:t>
            </a:r>
            <a:r>
              <a:rPr lang="ko-KR" altLang="en-US" sz="1200" dirty="0">
                <a:solidFill>
                  <a:schemeClr val="tx1"/>
                </a:solidFill>
              </a:rPr>
              <a:t> 속이 빈 사다리꼴이고 상부 받침대가 </a:t>
            </a:r>
            <a:r>
              <a:rPr lang="ko-KR" altLang="en-US" sz="1200" dirty="0" err="1">
                <a:solidFill>
                  <a:schemeClr val="tx1"/>
                </a:solidFill>
              </a:rPr>
              <a:t>하광의</a:t>
            </a:r>
            <a:r>
              <a:rPr lang="ko-KR" altLang="en-US" sz="1200" dirty="0">
                <a:solidFill>
                  <a:schemeClr val="tx1"/>
                </a:solidFill>
              </a:rPr>
              <a:t> 속이 빈 사다리꼴이나 </a:t>
            </a:r>
            <a:r>
              <a:rPr lang="ko-KR" altLang="en-US" sz="1200" dirty="0" err="1">
                <a:solidFill>
                  <a:schemeClr val="tx1"/>
                </a:solidFill>
              </a:rPr>
              <a:t>홈부가</a:t>
            </a:r>
            <a:r>
              <a:rPr lang="ko-KR" altLang="en-US" sz="1200" dirty="0">
                <a:solidFill>
                  <a:schemeClr val="tx1"/>
                </a:solidFill>
              </a:rPr>
              <a:t> 형성된 부분이 하부에 위치한 강판 포장용 받침대</a:t>
            </a:r>
            <a:endParaRPr lang="en-US" altLang="ko-KR" sz="1200" dirty="0">
              <a:solidFill>
                <a:schemeClr val="tx1"/>
              </a:solidFill>
            </a:endParaRPr>
          </a:p>
        </p:txBody>
      </p:sp>
      <p:sp>
        <p:nvSpPr>
          <p:cNvPr id="63" name="모서리가 둥근 직사각형 55">
            <a:extLst>
              <a:ext uri="{FF2B5EF4-FFF2-40B4-BE49-F238E27FC236}">
                <a16:creationId xmlns:a16="http://schemas.microsoft.com/office/drawing/2014/main" id="{C9AAD1A9-07E2-4726-8238-4013BD935FB9}"/>
              </a:ext>
            </a:extLst>
          </p:cNvPr>
          <p:cNvSpPr/>
          <p:nvPr/>
        </p:nvSpPr>
        <p:spPr bwMode="auto">
          <a:xfrm>
            <a:off x="351506" y="991165"/>
            <a:ext cx="6823375" cy="360040"/>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2017. 4. 26. </a:t>
            </a:r>
            <a:r>
              <a:rPr lang="ko-KR" altLang="en-US" sz="1400" dirty="0"/>
              <a:t>선고 </a:t>
            </a:r>
            <a:r>
              <a:rPr lang="en-US" altLang="ko-KR" sz="1400" dirty="0"/>
              <a:t>2014</a:t>
            </a:r>
            <a:r>
              <a:rPr lang="ko-KR" altLang="en-US" sz="1400" dirty="0"/>
              <a:t>후</a:t>
            </a:r>
            <a:r>
              <a:rPr lang="en-US" altLang="ko-KR" sz="1400" dirty="0"/>
              <a:t>638 </a:t>
            </a:r>
            <a:r>
              <a:rPr lang="ko-KR" altLang="en-US" sz="1400" dirty="0"/>
              <a:t>판결 </a:t>
            </a:r>
            <a:r>
              <a:rPr lang="en-US" altLang="ko-KR" sz="1400" dirty="0"/>
              <a:t>【</a:t>
            </a:r>
            <a:r>
              <a:rPr lang="ko-KR" altLang="en-US" sz="1400" dirty="0"/>
              <a:t>권리범위확인</a:t>
            </a:r>
            <a:r>
              <a:rPr lang="en-US" altLang="ko-KR" sz="1400" dirty="0"/>
              <a:t>(</a:t>
            </a:r>
            <a:r>
              <a:rPr lang="ko-KR" altLang="en-US" sz="1400" dirty="0" err="1"/>
              <a:t>특</a:t>
            </a:r>
            <a:r>
              <a:rPr lang="en-US" altLang="ko-KR" sz="1400" dirty="0"/>
              <a:t>)】</a:t>
            </a:r>
            <a:r>
              <a:rPr lang="ko-KR" altLang="en-US" sz="1400" dirty="0"/>
              <a:t>강판 포장용 받침대 사건</a:t>
            </a:r>
            <a:endParaRPr lang="en-US" altLang="ko-KR" sz="1400" dirty="0"/>
          </a:p>
        </p:txBody>
      </p:sp>
      <p:sp>
        <p:nvSpPr>
          <p:cNvPr id="6" name="Rectangle 4">
            <a:extLst>
              <a:ext uri="{FF2B5EF4-FFF2-40B4-BE49-F238E27FC236}">
                <a16:creationId xmlns:a16="http://schemas.microsoft.com/office/drawing/2014/main" id="{6C0917CB-13DA-4199-A86B-3158CC9F38E8}"/>
              </a:ext>
            </a:extLst>
          </p:cNvPr>
          <p:cNvSpPr>
            <a:spLocks noChangeArrowheads="1"/>
          </p:cNvSpPr>
          <p:nvPr/>
        </p:nvSpPr>
        <p:spPr bwMode="auto">
          <a:xfrm>
            <a:off x="0" y="0"/>
            <a:ext cx="12192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ko-KR" altLang="en-US"/>
          </a:p>
        </p:txBody>
      </p:sp>
      <p:sp>
        <p:nvSpPr>
          <p:cNvPr id="38" name="직사각형 37">
            <a:extLst>
              <a:ext uri="{FF2B5EF4-FFF2-40B4-BE49-F238E27FC236}">
                <a16:creationId xmlns:a16="http://schemas.microsoft.com/office/drawing/2014/main" id="{4E11EB07-81BE-428B-A8FF-55DABE5FFF89}"/>
              </a:ext>
            </a:extLst>
          </p:cNvPr>
          <p:cNvSpPr/>
          <p:nvPr/>
        </p:nvSpPr>
        <p:spPr>
          <a:xfrm>
            <a:off x="621540" y="3693973"/>
            <a:ext cx="1368152" cy="794394"/>
          </a:xfrm>
          <a:prstGeom prst="rect">
            <a:avLst/>
          </a:prstGeom>
        </p:spPr>
        <p:style>
          <a:lnRef idx="2">
            <a:schemeClr val="accent2"/>
          </a:lnRef>
          <a:fillRef idx="1">
            <a:schemeClr val="lt1"/>
          </a:fillRef>
          <a:effectRef idx="0">
            <a:schemeClr val="accent2"/>
          </a:effectRef>
          <a:fontRef idx="minor">
            <a:schemeClr val="dk1"/>
          </a:fontRef>
        </p:style>
        <p:txBody>
          <a:bodyPr rtlCol="0" anchor="ctr">
            <a:noAutofit/>
          </a:bodyPr>
          <a:lstStyle/>
          <a:p>
            <a:r>
              <a:rPr lang="ko-KR" altLang="en-US" sz="1200" dirty="0">
                <a:solidFill>
                  <a:srgbClr val="FF0000"/>
                </a:solidFill>
              </a:rPr>
              <a:t>하부 받침대</a:t>
            </a:r>
            <a:r>
              <a:rPr lang="ko-KR" altLang="en-US" sz="1200" dirty="0">
                <a:solidFill>
                  <a:schemeClr val="tx1"/>
                </a:solidFill>
              </a:rPr>
              <a:t>의 단면 모양이 속이 빈 사다리꼴인 강판 포장용 받침대</a:t>
            </a:r>
          </a:p>
        </p:txBody>
      </p:sp>
      <p:sp>
        <p:nvSpPr>
          <p:cNvPr id="53" name="타원 52">
            <a:extLst>
              <a:ext uri="{FF2B5EF4-FFF2-40B4-BE49-F238E27FC236}">
                <a16:creationId xmlns:a16="http://schemas.microsoft.com/office/drawing/2014/main" id="{3FA75365-47C3-49A9-B257-F81CBFCA12D3}"/>
              </a:ext>
            </a:extLst>
          </p:cNvPr>
          <p:cNvSpPr/>
          <p:nvPr/>
        </p:nvSpPr>
        <p:spPr>
          <a:xfrm>
            <a:off x="7661362" y="3385106"/>
            <a:ext cx="216024" cy="216024"/>
          </a:xfrm>
          <a:prstGeom prst="ellipse">
            <a:avLst/>
          </a:prstGeom>
        </p:spPr>
        <p:style>
          <a:lnRef idx="0">
            <a:schemeClr val="dk1"/>
          </a:lnRef>
          <a:fillRef idx="3">
            <a:schemeClr val="dk1"/>
          </a:fillRef>
          <a:effectRef idx="3">
            <a:schemeClr val="dk1"/>
          </a:effectRef>
          <a:fontRef idx="minor">
            <a:schemeClr val="lt1"/>
          </a:fontRef>
        </p:style>
        <p:txBody>
          <a:bodyPr rtlCol="0" anchor="ctr"/>
          <a:lstStyle/>
          <a:p>
            <a:pPr algn="ctr"/>
            <a:endParaRPr lang="ko-KR" altLang="en-US"/>
          </a:p>
        </p:txBody>
      </p:sp>
      <p:sp>
        <p:nvSpPr>
          <p:cNvPr id="54" name="TextBox 53">
            <a:extLst>
              <a:ext uri="{FF2B5EF4-FFF2-40B4-BE49-F238E27FC236}">
                <a16:creationId xmlns:a16="http://schemas.microsoft.com/office/drawing/2014/main" id="{535A3D9D-A7E1-4DAB-A917-4AE6630299D9}"/>
              </a:ext>
            </a:extLst>
          </p:cNvPr>
          <p:cNvSpPr txBox="1"/>
          <p:nvPr/>
        </p:nvSpPr>
        <p:spPr>
          <a:xfrm>
            <a:off x="7074179" y="2915406"/>
            <a:ext cx="1468672" cy="461665"/>
          </a:xfrm>
          <a:prstGeom prst="rect">
            <a:avLst/>
          </a:prstGeom>
          <a:noFill/>
        </p:spPr>
        <p:txBody>
          <a:bodyPr wrap="none" rtlCol="0">
            <a:spAutoFit/>
          </a:bodyPr>
          <a:lstStyle/>
          <a:p>
            <a:pPr algn="ctr"/>
            <a:r>
              <a:rPr lang="ko-KR" altLang="en-US" sz="1200" dirty="0"/>
              <a:t>적극적 권리범위확인</a:t>
            </a:r>
            <a:endParaRPr lang="en-US" altLang="ko-KR" sz="1200" dirty="0"/>
          </a:p>
          <a:p>
            <a:pPr algn="ctr"/>
            <a:r>
              <a:rPr lang="ko-KR" altLang="en-US" sz="1200" dirty="0"/>
              <a:t>심판청구</a:t>
            </a:r>
          </a:p>
        </p:txBody>
      </p:sp>
      <p:pic>
        <p:nvPicPr>
          <p:cNvPr id="2049" name="_x318775456" descr="EMB00002d2c0e3a">
            <a:extLst>
              <a:ext uri="{FF2B5EF4-FFF2-40B4-BE49-F238E27FC236}">
                <a16:creationId xmlns:a16="http://schemas.microsoft.com/office/drawing/2014/main" id="{DB0EFFD0-3227-44F2-BB11-E77CBF8CC567}"/>
              </a:ext>
            </a:extLst>
          </p:cNvPr>
          <p:cNvPicPr>
            <a:picLocks noChangeAspect="1" noChangeArrowheads="1"/>
          </p:cNvPicPr>
          <p:nvPr/>
        </p:nvPicPr>
        <p:blipFill rotWithShape="1">
          <a:blip r:embed="rId4">
            <a:grayscl/>
            <a:extLst>
              <a:ext uri="{BEBA8EAE-BF5A-486C-A8C5-ECC9F3942E4B}">
                <a14:imgProps xmlns:a14="http://schemas.microsoft.com/office/drawing/2010/main">
                  <a14:imgLayer r:embed="rId5">
                    <a14:imgEffect>
                      <a14:saturation sat="400000"/>
                    </a14:imgEffect>
                    <a14:imgEffect>
                      <a14:brightnessContrast contrast="-40000"/>
                    </a14:imgEffect>
                  </a14:imgLayer>
                </a14:imgProps>
              </a:ext>
              <a:ext uri="{28A0092B-C50C-407E-A947-70E740481C1C}">
                <a14:useLocalDpi xmlns:a14="http://schemas.microsoft.com/office/drawing/2010/main" val="0"/>
              </a:ext>
            </a:extLst>
          </a:blip>
          <a:srcRect l="36891" t="60938" r="34009" b="12828"/>
          <a:stretch/>
        </p:blipFill>
        <p:spPr bwMode="auto">
          <a:xfrm>
            <a:off x="7001371" y="4602632"/>
            <a:ext cx="1064159" cy="1070850"/>
          </a:xfrm>
          <a:prstGeom prst="ellipse">
            <a:avLst/>
          </a:prstGeom>
          <a:noFill/>
          <a:extLst>
            <a:ext uri="{909E8E84-426E-40DD-AFC4-6F175D3DCCD1}">
              <a14:hiddenFill xmlns:a14="http://schemas.microsoft.com/office/drawing/2010/main">
                <a:solidFill>
                  <a:srgbClr val="FFFFFF"/>
                </a:solidFill>
              </a14:hiddenFill>
            </a:ext>
          </a:extLst>
        </p:spPr>
      </p:pic>
      <p:sp>
        <p:nvSpPr>
          <p:cNvPr id="72" name="타원 71">
            <a:extLst>
              <a:ext uri="{FF2B5EF4-FFF2-40B4-BE49-F238E27FC236}">
                <a16:creationId xmlns:a16="http://schemas.microsoft.com/office/drawing/2014/main" id="{A0867DD2-1C64-4E73-9271-24A305A2D255}"/>
              </a:ext>
            </a:extLst>
          </p:cNvPr>
          <p:cNvSpPr/>
          <p:nvPr/>
        </p:nvSpPr>
        <p:spPr>
          <a:xfrm>
            <a:off x="10026657" y="3385106"/>
            <a:ext cx="216024" cy="216024"/>
          </a:xfrm>
          <a:prstGeom prst="ellipse">
            <a:avLst/>
          </a:prstGeom>
        </p:spPr>
        <p:style>
          <a:lnRef idx="0">
            <a:schemeClr val="accent6"/>
          </a:lnRef>
          <a:fillRef idx="3">
            <a:schemeClr val="accent6"/>
          </a:fillRef>
          <a:effectRef idx="3">
            <a:schemeClr val="accent6"/>
          </a:effectRef>
          <a:fontRef idx="minor">
            <a:schemeClr val="lt1"/>
          </a:fontRef>
        </p:style>
        <p:txBody>
          <a:bodyPr rtlCol="0" anchor="ctr"/>
          <a:lstStyle/>
          <a:p>
            <a:pPr algn="ctr"/>
            <a:endParaRPr lang="ko-KR" altLang="en-US"/>
          </a:p>
        </p:txBody>
      </p:sp>
      <p:sp>
        <p:nvSpPr>
          <p:cNvPr id="73" name="TextBox 72">
            <a:extLst>
              <a:ext uri="{FF2B5EF4-FFF2-40B4-BE49-F238E27FC236}">
                <a16:creationId xmlns:a16="http://schemas.microsoft.com/office/drawing/2014/main" id="{DB34E224-27BC-496F-A7B4-D65F7D411CA4}"/>
              </a:ext>
            </a:extLst>
          </p:cNvPr>
          <p:cNvSpPr txBox="1"/>
          <p:nvPr/>
        </p:nvSpPr>
        <p:spPr>
          <a:xfrm>
            <a:off x="9904478" y="3061150"/>
            <a:ext cx="460382" cy="276999"/>
          </a:xfrm>
          <a:prstGeom prst="rect">
            <a:avLst/>
          </a:prstGeom>
          <a:noFill/>
        </p:spPr>
        <p:txBody>
          <a:bodyPr wrap="none" rtlCol="0">
            <a:spAutoFit/>
          </a:bodyPr>
          <a:lstStyle/>
          <a:p>
            <a:r>
              <a:rPr lang="ko-KR" altLang="en-US" sz="1200" dirty="0"/>
              <a:t>판단</a:t>
            </a:r>
          </a:p>
        </p:txBody>
      </p:sp>
      <p:sp>
        <p:nvSpPr>
          <p:cNvPr id="74" name="직사각형 73">
            <a:extLst>
              <a:ext uri="{FF2B5EF4-FFF2-40B4-BE49-F238E27FC236}">
                <a16:creationId xmlns:a16="http://schemas.microsoft.com/office/drawing/2014/main" id="{1AD71168-D16D-4C7D-B047-9350348000C9}"/>
              </a:ext>
            </a:extLst>
          </p:cNvPr>
          <p:cNvSpPr/>
          <p:nvPr/>
        </p:nvSpPr>
        <p:spPr>
          <a:xfrm>
            <a:off x="8396281" y="3692352"/>
            <a:ext cx="3623380" cy="1515372"/>
          </a:xfrm>
          <a:prstGeom prst="rect">
            <a:avLst/>
          </a:prstGeom>
          <a:ln>
            <a:solidFill>
              <a:schemeClr val="accent6"/>
            </a:solidFill>
          </a:ln>
        </p:spPr>
        <p:style>
          <a:lnRef idx="2">
            <a:schemeClr val="accent5"/>
          </a:lnRef>
          <a:fillRef idx="1">
            <a:schemeClr val="lt1"/>
          </a:fillRef>
          <a:effectRef idx="0">
            <a:schemeClr val="accent5"/>
          </a:effectRef>
          <a:fontRef idx="minor">
            <a:schemeClr val="dk1"/>
          </a:fontRef>
        </p:style>
        <p:txBody>
          <a:bodyPr rtlCol="0" anchor="ctr">
            <a:noAutofit/>
          </a:bodyPr>
          <a:lstStyle/>
          <a:p>
            <a:r>
              <a:rPr lang="en-US" altLang="ko-KR" sz="1200" dirty="0">
                <a:solidFill>
                  <a:srgbClr val="FF0000"/>
                </a:solidFill>
              </a:rPr>
              <a:t>(</a:t>
            </a:r>
            <a:r>
              <a:rPr lang="ko-KR" altLang="en-US" sz="1200" dirty="0">
                <a:solidFill>
                  <a:srgbClr val="FF0000"/>
                </a:solidFill>
              </a:rPr>
              <a:t>보정</a:t>
            </a:r>
            <a:r>
              <a:rPr lang="en-US" altLang="ko-KR" sz="1200" dirty="0">
                <a:solidFill>
                  <a:srgbClr val="FF0000"/>
                </a:solidFill>
              </a:rPr>
              <a:t>-</a:t>
            </a:r>
            <a:r>
              <a:rPr lang="ko-KR" altLang="en-US" sz="1200" dirty="0">
                <a:solidFill>
                  <a:srgbClr val="FF0000"/>
                </a:solidFill>
              </a:rPr>
              <a:t>하부 받침대</a:t>
            </a:r>
            <a:r>
              <a:rPr lang="en-US" altLang="ko-KR" sz="1200" dirty="0">
                <a:solidFill>
                  <a:srgbClr val="FF0000"/>
                </a:solidFill>
              </a:rPr>
              <a:t>) </a:t>
            </a:r>
            <a:r>
              <a:rPr lang="ko-KR" altLang="en-US" sz="1200" dirty="0">
                <a:solidFill>
                  <a:schemeClr val="tx1"/>
                </a:solidFill>
              </a:rPr>
              <a:t>인용대상을 회피하기 위한 의도로 </a:t>
            </a:r>
            <a:r>
              <a:rPr lang="ko-KR" altLang="en-US" sz="1200" dirty="0" err="1">
                <a:solidFill>
                  <a:schemeClr val="tx1"/>
                </a:solidFill>
              </a:rPr>
              <a:t>상광</a:t>
            </a:r>
            <a:r>
              <a:rPr lang="ko-KR" altLang="en-US" sz="1200" dirty="0">
                <a:solidFill>
                  <a:schemeClr val="tx1"/>
                </a:solidFill>
              </a:rPr>
              <a:t> 모양을 배제한 것은 아니나</a:t>
            </a:r>
            <a:r>
              <a:rPr lang="en-US" altLang="ko-KR" sz="1200" dirty="0">
                <a:solidFill>
                  <a:schemeClr val="tx1"/>
                </a:solidFill>
              </a:rPr>
              <a:t>, </a:t>
            </a:r>
            <a:r>
              <a:rPr lang="ko-KR" altLang="en-US" sz="1200" dirty="0">
                <a:solidFill>
                  <a:schemeClr val="tx1"/>
                </a:solidFill>
              </a:rPr>
              <a:t>발명의 설명에 </a:t>
            </a:r>
            <a:r>
              <a:rPr lang="ko-KR" altLang="en-US" sz="1200" dirty="0" err="1">
                <a:solidFill>
                  <a:schemeClr val="tx1"/>
                </a:solidFill>
              </a:rPr>
              <a:t>하광</a:t>
            </a:r>
            <a:r>
              <a:rPr lang="ko-KR" altLang="en-US" sz="1200" dirty="0">
                <a:solidFill>
                  <a:schemeClr val="tx1"/>
                </a:solidFill>
              </a:rPr>
              <a:t> 단면 모양은 </a:t>
            </a:r>
            <a:r>
              <a:rPr lang="ko-KR" altLang="en-US" sz="1200" dirty="0" err="1">
                <a:solidFill>
                  <a:schemeClr val="tx1"/>
                </a:solidFill>
              </a:rPr>
              <a:t>하부받침대의</a:t>
            </a:r>
            <a:r>
              <a:rPr lang="ko-KR" altLang="en-US" sz="1200" dirty="0">
                <a:solidFill>
                  <a:schemeClr val="tx1"/>
                </a:solidFill>
              </a:rPr>
              <a:t> 지면과의 지지면적을 넓게 하여 구조적인 안정성을 얻을 수 있다고 기재되어 있어 애초에 하부 모양을 전제로 하고 있었던 점</a:t>
            </a:r>
            <a:r>
              <a:rPr lang="en-US" altLang="ko-KR" sz="1200" dirty="0">
                <a:solidFill>
                  <a:schemeClr val="tx1"/>
                </a:solidFill>
              </a:rPr>
              <a:t>, </a:t>
            </a:r>
            <a:r>
              <a:rPr lang="ko-KR" altLang="en-US" sz="1200" dirty="0">
                <a:solidFill>
                  <a:schemeClr val="tx1"/>
                </a:solidFill>
              </a:rPr>
              <a:t>보정은 청구범위를 이러한 발명의 설명에 부합하도록 한정한 점 등을 고려할 때 보정은 </a:t>
            </a:r>
            <a:r>
              <a:rPr lang="ko-KR" altLang="en-US" sz="1200" dirty="0" err="1">
                <a:solidFill>
                  <a:schemeClr val="tx1"/>
                </a:solidFill>
              </a:rPr>
              <a:t>상광</a:t>
            </a:r>
            <a:r>
              <a:rPr lang="ko-KR" altLang="en-US" sz="1200" dirty="0">
                <a:solidFill>
                  <a:schemeClr val="tx1"/>
                </a:solidFill>
              </a:rPr>
              <a:t> 단면모양의 구성을 배제하려는 의사가 존재함</a:t>
            </a:r>
            <a:endParaRPr lang="en-US" altLang="ko-KR" sz="1200" dirty="0">
              <a:solidFill>
                <a:schemeClr val="tx1"/>
              </a:solidFill>
            </a:endParaRPr>
          </a:p>
        </p:txBody>
      </p:sp>
      <p:sp>
        <p:nvSpPr>
          <p:cNvPr id="75" name="직사각형 74">
            <a:extLst>
              <a:ext uri="{FF2B5EF4-FFF2-40B4-BE49-F238E27FC236}">
                <a16:creationId xmlns:a16="http://schemas.microsoft.com/office/drawing/2014/main" id="{C94F6074-8C62-4FD2-A84D-37D29E9EFD01}"/>
              </a:ext>
            </a:extLst>
          </p:cNvPr>
          <p:cNvSpPr/>
          <p:nvPr/>
        </p:nvSpPr>
        <p:spPr>
          <a:xfrm>
            <a:off x="8396281" y="5273573"/>
            <a:ext cx="3623380" cy="1274861"/>
          </a:xfrm>
          <a:prstGeom prst="rect">
            <a:avLst/>
          </a:prstGeom>
          <a:ln>
            <a:solidFill>
              <a:schemeClr val="accent6"/>
            </a:solidFill>
          </a:ln>
        </p:spPr>
        <p:style>
          <a:lnRef idx="2">
            <a:schemeClr val="accent5"/>
          </a:lnRef>
          <a:fillRef idx="1">
            <a:schemeClr val="lt1"/>
          </a:fillRef>
          <a:effectRef idx="0">
            <a:schemeClr val="accent5"/>
          </a:effectRef>
          <a:fontRef idx="minor">
            <a:schemeClr val="dk1"/>
          </a:fontRef>
        </p:style>
        <p:txBody>
          <a:bodyPr rtlCol="0" anchor="ctr">
            <a:noAutofit/>
          </a:bodyPr>
          <a:lstStyle/>
          <a:p>
            <a:r>
              <a:rPr lang="en-US" altLang="ko-KR" sz="1200" dirty="0">
                <a:solidFill>
                  <a:srgbClr val="FF0000"/>
                </a:solidFill>
              </a:rPr>
              <a:t>(</a:t>
            </a:r>
            <a:r>
              <a:rPr lang="ko-KR" altLang="en-US" sz="1200" dirty="0">
                <a:solidFill>
                  <a:srgbClr val="FF0000"/>
                </a:solidFill>
              </a:rPr>
              <a:t>의견서</a:t>
            </a:r>
            <a:r>
              <a:rPr lang="en-US" altLang="ko-KR" sz="1200" dirty="0">
                <a:solidFill>
                  <a:srgbClr val="FF0000"/>
                </a:solidFill>
              </a:rPr>
              <a:t>-</a:t>
            </a:r>
            <a:r>
              <a:rPr lang="ko-KR" altLang="en-US" sz="1200" dirty="0">
                <a:solidFill>
                  <a:srgbClr val="FF0000"/>
                </a:solidFill>
              </a:rPr>
              <a:t>상부 받침대</a:t>
            </a:r>
            <a:r>
              <a:rPr lang="en-US" altLang="ko-KR" sz="1200" dirty="0">
                <a:solidFill>
                  <a:srgbClr val="FF0000"/>
                </a:solidFill>
              </a:rPr>
              <a:t>) </a:t>
            </a:r>
            <a:r>
              <a:rPr lang="ko-KR" altLang="en-US" sz="1200" dirty="0">
                <a:solidFill>
                  <a:schemeClr val="tx1"/>
                </a:solidFill>
              </a:rPr>
              <a:t>상부 받침대의 홈이 상부에 형성되어 하부 받침대와의 결합면적을 넓혀 결합력을 </a:t>
            </a:r>
            <a:r>
              <a:rPr lang="ko-KR" altLang="en-US" sz="1200" dirty="0" err="1">
                <a:solidFill>
                  <a:schemeClr val="tx1"/>
                </a:solidFill>
              </a:rPr>
              <a:t>강화시킨다는</a:t>
            </a:r>
            <a:r>
              <a:rPr lang="ko-KR" altLang="en-US" sz="1200" dirty="0">
                <a:solidFill>
                  <a:schemeClr val="tx1"/>
                </a:solidFill>
              </a:rPr>
              <a:t> 취지로 주장함으로써 </a:t>
            </a:r>
            <a:r>
              <a:rPr lang="ko-KR" altLang="en-US" sz="1200" dirty="0" err="1">
                <a:solidFill>
                  <a:schemeClr val="tx1"/>
                </a:solidFill>
              </a:rPr>
              <a:t>상부받침대의</a:t>
            </a:r>
            <a:r>
              <a:rPr lang="ko-KR" altLang="en-US" sz="1200" dirty="0">
                <a:solidFill>
                  <a:schemeClr val="tx1"/>
                </a:solidFill>
              </a:rPr>
              <a:t> 홈이 하부에 형성되어 있는 인용대상과 차별화하여</a:t>
            </a:r>
            <a:r>
              <a:rPr lang="en-US" altLang="ko-KR" sz="1200" dirty="0">
                <a:solidFill>
                  <a:schemeClr val="tx1"/>
                </a:solidFill>
              </a:rPr>
              <a:t>, </a:t>
            </a:r>
            <a:r>
              <a:rPr lang="ko-KR" altLang="en-US" sz="1200" dirty="0">
                <a:solidFill>
                  <a:schemeClr val="tx1"/>
                </a:solidFill>
              </a:rPr>
              <a:t>확인대상발명과 같은 ‘홈이 하부에 형성되어 있는’ </a:t>
            </a:r>
            <a:r>
              <a:rPr lang="ko-KR" altLang="en-US" sz="1200" dirty="0" err="1">
                <a:solidFill>
                  <a:schemeClr val="tx1"/>
                </a:solidFill>
              </a:rPr>
              <a:t>상부받침대</a:t>
            </a:r>
            <a:r>
              <a:rPr lang="ko-KR" altLang="en-US" sz="1200" dirty="0">
                <a:solidFill>
                  <a:schemeClr val="tx1"/>
                </a:solidFill>
              </a:rPr>
              <a:t> 구성 역시 이 사건 발명의 권리범위에서 제외함</a:t>
            </a:r>
            <a:endParaRPr lang="en-US" altLang="ko-KR" sz="1200" dirty="0">
              <a:solidFill>
                <a:schemeClr val="tx1"/>
              </a:solidFill>
            </a:endParaRPr>
          </a:p>
        </p:txBody>
      </p:sp>
      <p:pic>
        <p:nvPicPr>
          <p:cNvPr id="47" name="그림 46">
            <a:extLst>
              <a:ext uri="{FF2B5EF4-FFF2-40B4-BE49-F238E27FC236}">
                <a16:creationId xmlns:a16="http://schemas.microsoft.com/office/drawing/2014/main" id="{3D345C94-61B2-4219-97B3-21508880E7E8}"/>
              </a:ext>
            </a:extLst>
          </p:cNvPr>
          <p:cNvPicPr>
            <a:picLocks noChangeAspect="1"/>
          </p:cNvPicPr>
          <p:nvPr/>
        </p:nvPicPr>
        <p:blipFill rotWithShape="1">
          <a:blip r:embed="rId3"/>
          <a:srcRect l="9341" r="56692" b="70710"/>
          <a:stretch/>
        </p:blipFill>
        <p:spPr>
          <a:xfrm rot="16200000">
            <a:off x="5715202" y="4526484"/>
            <a:ext cx="1020153" cy="1211645"/>
          </a:xfrm>
          <a:prstGeom prst="ellipse">
            <a:avLst/>
          </a:prstGeom>
        </p:spPr>
      </p:pic>
      <p:pic>
        <p:nvPicPr>
          <p:cNvPr id="50" name="그림 49">
            <a:extLst>
              <a:ext uri="{FF2B5EF4-FFF2-40B4-BE49-F238E27FC236}">
                <a16:creationId xmlns:a16="http://schemas.microsoft.com/office/drawing/2014/main" id="{A7D9997F-2CF6-4556-B3D4-1B988B2AA007}"/>
              </a:ext>
            </a:extLst>
          </p:cNvPr>
          <p:cNvPicPr>
            <a:picLocks noChangeAspect="1"/>
          </p:cNvPicPr>
          <p:nvPr/>
        </p:nvPicPr>
        <p:blipFill rotWithShape="1">
          <a:blip r:embed="rId3"/>
          <a:srcRect l="22688" t="67910" r="47743" b="5263"/>
          <a:stretch/>
        </p:blipFill>
        <p:spPr>
          <a:xfrm rot="16200000">
            <a:off x="5882667" y="5731428"/>
            <a:ext cx="849275" cy="1099800"/>
          </a:xfrm>
          <a:prstGeom prst="ellipse">
            <a:avLst/>
          </a:prstGeom>
        </p:spPr>
      </p:pic>
      <p:pic>
        <p:nvPicPr>
          <p:cNvPr id="51" name="_x318775456" descr="EMB00002d2c0e3a">
            <a:extLst>
              <a:ext uri="{FF2B5EF4-FFF2-40B4-BE49-F238E27FC236}">
                <a16:creationId xmlns:a16="http://schemas.microsoft.com/office/drawing/2014/main" id="{EF37A169-EB9C-4DA9-B8A8-5041B50DE068}"/>
              </a:ext>
            </a:extLst>
          </p:cNvPr>
          <p:cNvPicPr>
            <a:picLocks noChangeAspect="1" noChangeArrowheads="1"/>
          </p:cNvPicPr>
          <p:nvPr/>
        </p:nvPicPr>
        <p:blipFill rotWithShape="1">
          <a:blip r:embed="rId4">
            <a:extLst>
              <a:ext uri="{BEBA8EAE-BF5A-486C-A8C5-ECC9F3942E4B}">
                <a14:imgProps xmlns:a14="http://schemas.microsoft.com/office/drawing/2010/main">
                  <a14:imgLayer r:embed="rId5">
                    <a14:imgEffect>
                      <a14:brightnessContrast contrast="-40000"/>
                    </a14:imgEffect>
                  </a14:imgLayer>
                </a14:imgProps>
              </a:ext>
              <a:ext uri="{28A0092B-C50C-407E-A947-70E740481C1C}">
                <a14:useLocalDpi xmlns:a14="http://schemas.microsoft.com/office/drawing/2010/main" val="0"/>
              </a:ext>
            </a:extLst>
          </a:blip>
          <a:srcRect l="71787" t="42371" b="35235"/>
          <a:stretch/>
        </p:blipFill>
        <p:spPr bwMode="auto">
          <a:xfrm>
            <a:off x="6983550" y="5731509"/>
            <a:ext cx="1099799" cy="974456"/>
          </a:xfrm>
          <a:prstGeom prst="ellipse">
            <a:avLst/>
          </a:prstGeom>
          <a:noFill/>
          <a:extLst>
            <a:ext uri="{909E8E84-426E-40DD-AFC4-6F175D3DCCD1}">
              <a14:hiddenFill xmlns:a14="http://schemas.microsoft.com/office/drawing/2010/main">
                <a:solidFill>
                  <a:srgbClr val="FFFFFF"/>
                </a:solidFill>
              </a14:hiddenFill>
            </a:ext>
          </a:extLst>
        </p:spPr>
      </p:pic>
      <p:sp>
        <p:nvSpPr>
          <p:cNvPr id="7" name="순서도: 추출 6">
            <a:extLst>
              <a:ext uri="{FF2B5EF4-FFF2-40B4-BE49-F238E27FC236}">
                <a16:creationId xmlns:a16="http://schemas.microsoft.com/office/drawing/2014/main" id="{7DDA4EA7-9131-B477-E36A-63348819E3F4}"/>
              </a:ext>
            </a:extLst>
          </p:cNvPr>
          <p:cNvSpPr/>
          <p:nvPr/>
        </p:nvSpPr>
        <p:spPr>
          <a:xfrm rot="776181">
            <a:off x="1545421" y="5674131"/>
            <a:ext cx="620785" cy="766817"/>
          </a:xfrm>
          <a:prstGeom prst="flowChartExtra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953935638"/>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9303BE-68C5-B3C8-EDF4-6F59899C34D6}"/>
            </a:ext>
          </a:extLst>
        </p:cNvPr>
        <p:cNvGrpSpPr/>
        <p:nvPr/>
      </p:nvGrpSpPr>
      <p:grpSpPr>
        <a:xfrm>
          <a:off x="0" y="0"/>
          <a:ext cx="0" cy="0"/>
          <a:chOff x="0" y="0"/>
          <a:chExt cx="0" cy="0"/>
        </a:xfrm>
      </p:grpSpPr>
      <p:sp>
        <p:nvSpPr>
          <p:cNvPr id="3" name="제목 2">
            <a:extLst>
              <a:ext uri="{FF2B5EF4-FFF2-40B4-BE49-F238E27FC236}">
                <a16:creationId xmlns:a16="http://schemas.microsoft.com/office/drawing/2014/main" id="{ACB235E4-B865-AD92-2F04-987D96AB3FEE}"/>
              </a:ext>
            </a:extLst>
          </p:cNvPr>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4" name="텍스트 개체 틀 3">
            <a:extLst>
              <a:ext uri="{FF2B5EF4-FFF2-40B4-BE49-F238E27FC236}">
                <a16:creationId xmlns:a16="http://schemas.microsoft.com/office/drawing/2014/main" id="{90213A7F-9FE8-A89C-5CE1-B0ECB2445617}"/>
              </a:ext>
            </a:extLst>
          </p:cNvPr>
          <p:cNvSpPr>
            <a:spLocks noGrp="1"/>
          </p:cNvSpPr>
          <p:nvPr>
            <p:ph type="body" sz="quarter" idx="13"/>
          </p:nvPr>
        </p:nvSpPr>
        <p:spPr/>
        <p:txBody>
          <a:bodyPr/>
          <a:lstStyle/>
          <a:p>
            <a:r>
              <a:rPr lang="ko-KR" altLang="en-US" dirty="0"/>
              <a:t>출원경과참작의 원칙</a:t>
            </a:r>
            <a:r>
              <a:rPr lang="en-US" altLang="ko-KR" dirty="0"/>
              <a:t>: </a:t>
            </a:r>
            <a:r>
              <a:rPr lang="ko-KR" altLang="en-US" dirty="0"/>
              <a:t>분할출원 </a:t>
            </a:r>
            <a:r>
              <a:rPr lang="en-US" altLang="ko-KR" dirty="0"/>
              <a:t>CASE</a:t>
            </a:r>
            <a:endParaRPr lang="ko-KR" altLang="en-US" dirty="0"/>
          </a:p>
        </p:txBody>
      </p:sp>
      <p:sp>
        <p:nvSpPr>
          <p:cNvPr id="2" name="슬라이드 번호 개체 틀 1">
            <a:extLst>
              <a:ext uri="{FF2B5EF4-FFF2-40B4-BE49-F238E27FC236}">
                <a16:creationId xmlns:a16="http://schemas.microsoft.com/office/drawing/2014/main" id="{4A57180E-848B-3F8C-85F7-3BA53894E301}"/>
              </a:ext>
            </a:extLst>
          </p:cNvPr>
          <p:cNvSpPr>
            <a:spLocks noGrp="1"/>
          </p:cNvSpPr>
          <p:nvPr>
            <p:ph type="sldNum" sz="quarter" idx="4294967295"/>
          </p:nvPr>
        </p:nvSpPr>
        <p:spPr>
          <a:xfrm>
            <a:off x="11125200" y="0"/>
            <a:ext cx="1066800" cy="744538"/>
          </a:xfrm>
        </p:spPr>
        <p:txBody>
          <a:bodyPr/>
          <a:lstStyle/>
          <a:p>
            <a:r>
              <a:rPr lang="en-US" altLang="ko-KR"/>
              <a:t>346</a:t>
            </a:r>
            <a:endParaRPr lang="ko-KR" altLang="en-US"/>
          </a:p>
        </p:txBody>
      </p:sp>
      <p:sp>
        <p:nvSpPr>
          <p:cNvPr id="68" name="TextBox 67">
            <a:extLst>
              <a:ext uri="{FF2B5EF4-FFF2-40B4-BE49-F238E27FC236}">
                <a16:creationId xmlns:a16="http://schemas.microsoft.com/office/drawing/2014/main" id="{A00F80E5-A964-14DB-8A71-4BFE1DECF6BD}"/>
              </a:ext>
            </a:extLst>
          </p:cNvPr>
          <p:cNvSpPr txBox="1"/>
          <p:nvPr/>
        </p:nvSpPr>
        <p:spPr>
          <a:xfrm>
            <a:off x="77875" y="1306878"/>
            <a:ext cx="12024478" cy="461665"/>
          </a:xfrm>
          <a:prstGeom prst="rect">
            <a:avLst/>
          </a:prstGeom>
          <a:noFill/>
        </p:spPr>
        <p:txBody>
          <a:bodyPr wrap="square" rtlCol="0">
            <a:spAutoFit/>
          </a:bodyPr>
          <a:lstStyle/>
          <a:p>
            <a:r>
              <a:rPr lang="ko-KR" altLang="en-US" sz="1200" dirty="0" err="1"/>
              <a:t>특허출원인이</a:t>
            </a:r>
            <a:r>
              <a:rPr lang="ko-KR" altLang="en-US" sz="1200" dirty="0"/>
              <a:t> 심사관으로부터 </a:t>
            </a:r>
            <a:r>
              <a:rPr lang="ko-KR" altLang="en-US" sz="1200" dirty="0" err="1"/>
              <a:t>기재불비</a:t>
            </a:r>
            <a:r>
              <a:rPr lang="ko-KR" altLang="en-US" sz="1200" dirty="0"/>
              <a:t> 및 진보성 흠결을 이유로 한 </a:t>
            </a:r>
            <a:r>
              <a:rPr lang="ko-KR" altLang="en-US" sz="1200" dirty="0" err="1"/>
              <a:t>거절이유통지를</a:t>
            </a:r>
            <a:r>
              <a:rPr lang="ko-KR" altLang="en-US" sz="1200" dirty="0"/>
              <a:t> 받고서 거절결정을 피하기 위하여 원출원의 청구범위를 한정하는 보정을 하면서 </a:t>
            </a:r>
            <a:r>
              <a:rPr lang="ko-KR" altLang="en-US" sz="1200" dirty="0" err="1"/>
              <a:t>원출원발명</a:t>
            </a:r>
            <a:r>
              <a:rPr lang="ko-KR" altLang="en-US" sz="1200" dirty="0"/>
              <a:t> 중 일부를 별개의 발명으로 </a:t>
            </a:r>
            <a:r>
              <a:rPr lang="ko-KR" altLang="en-US" sz="1200" dirty="0" err="1"/>
              <a:t>분할출원한</a:t>
            </a:r>
            <a:r>
              <a:rPr lang="ko-KR" altLang="en-US" sz="1200" dirty="0"/>
              <a:t> 경우</a:t>
            </a:r>
            <a:r>
              <a:rPr lang="en-US" altLang="ko-KR" sz="1200" dirty="0"/>
              <a:t>, </a:t>
            </a:r>
            <a:r>
              <a:rPr lang="ko-KR" altLang="en-US" sz="1200" dirty="0"/>
              <a:t>이 </a:t>
            </a:r>
            <a:r>
              <a:rPr lang="ko-KR" altLang="en-US" sz="1200" dirty="0" err="1">
                <a:highlight>
                  <a:srgbClr val="FFFF00"/>
                </a:highlight>
              </a:rPr>
              <a:t>분할출원된</a:t>
            </a:r>
            <a:r>
              <a:rPr lang="ko-KR" altLang="en-US" sz="1200" dirty="0">
                <a:highlight>
                  <a:srgbClr val="FFFF00"/>
                </a:highlight>
              </a:rPr>
              <a:t> 발명은 특별한 사정이 없는 한 보정된 발명의 보호범위로부터 의식적으로 제외한 것이라고 보아야 한다</a:t>
            </a:r>
            <a:r>
              <a:rPr lang="en-US" altLang="ko-KR" sz="1200" dirty="0">
                <a:highlight>
                  <a:srgbClr val="FFFF00"/>
                </a:highlight>
              </a:rPr>
              <a:t>.</a:t>
            </a:r>
            <a:endParaRPr lang="ko-KR" altLang="en-US" sz="1200" dirty="0">
              <a:highlight>
                <a:srgbClr val="FFFF00"/>
              </a:highlight>
            </a:endParaRPr>
          </a:p>
        </p:txBody>
      </p:sp>
      <p:cxnSp>
        <p:nvCxnSpPr>
          <p:cNvPr id="69" name="직선 연결선 68">
            <a:extLst>
              <a:ext uri="{FF2B5EF4-FFF2-40B4-BE49-F238E27FC236}">
                <a16:creationId xmlns:a16="http://schemas.microsoft.com/office/drawing/2014/main" id="{E3BF216B-E546-9C5A-591D-7422C3BEDB51}"/>
              </a:ext>
            </a:extLst>
          </p:cNvPr>
          <p:cNvCxnSpPr>
            <a:cxnSpLocks/>
          </p:cNvCxnSpPr>
          <p:nvPr/>
        </p:nvCxnSpPr>
        <p:spPr>
          <a:xfrm>
            <a:off x="165463" y="1843986"/>
            <a:ext cx="8464087"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모서리가 둥근 직사각형 55">
            <a:extLst>
              <a:ext uri="{FF2B5EF4-FFF2-40B4-BE49-F238E27FC236}">
                <a16:creationId xmlns:a16="http://schemas.microsoft.com/office/drawing/2014/main" id="{D6275C4E-4E2B-65A7-2AE5-CD6C4512AD83}"/>
              </a:ext>
            </a:extLst>
          </p:cNvPr>
          <p:cNvSpPr/>
          <p:nvPr/>
        </p:nvSpPr>
        <p:spPr bwMode="auto">
          <a:xfrm>
            <a:off x="351507" y="991165"/>
            <a:ext cx="5264202" cy="227906"/>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2008. 4. 10. </a:t>
            </a:r>
            <a:r>
              <a:rPr lang="ko-KR" altLang="en-US" sz="1400" dirty="0"/>
              <a:t>선고 </a:t>
            </a:r>
            <a:r>
              <a:rPr lang="en-US" altLang="ko-KR" sz="1400" dirty="0"/>
              <a:t>2006</a:t>
            </a:r>
            <a:r>
              <a:rPr lang="ko-KR" altLang="en-US" sz="1400" dirty="0"/>
              <a:t>다</a:t>
            </a:r>
            <a:r>
              <a:rPr lang="en-US" altLang="ko-KR" sz="1400" dirty="0"/>
              <a:t>35308 </a:t>
            </a:r>
            <a:r>
              <a:rPr lang="ko-KR" altLang="en-US" sz="1400" dirty="0"/>
              <a:t>판결 </a:t>
            </a:r>
            <a:r>
              <a:rPr lang="en-US" altLang="ko-KR" sz="1400" dirty="0"/>
              <a:t>【</a:t>
            </a:r>
            <a:r>
              <a:rPr lang="ko-KR" altLang="en-US" sz="1400" dirty="0"/>
              <a:t>특허권침해금지</a:t>
            </a:r>
            <a:r>
              <a:rPr lang="en-US" altLang="ko-KR" sz="1400" dirty="0"/>
              <a:t>】</a:t>
            </a:r>
          </a:p>
        </p:txBody>
      </p:sp>
      <p:sp>
        <p:nvSpPr>
          <p:cNvPr id="6" name="Rectangle 4">
            <a:extLst>
              <a:ext uri="{FF2B5EF4-FFF2-40B4-BE49-F238E27FC236}">
                <a16:creationId xmlns:a16="http://schemas.microsoft.com/office/drawing/2014/main" id="{64E12715-33DF-CA36-AA42-842DF9A0F70C}"/>
              </a:ext>
            </a:extLst>
          </p:cNvPr>
          <p:cNvSpPr>
            <a:spLocks noChangeArrowheads="1"/>
          </p:cNvSpPr>
          <p:nvPr/>
        </p:nvSpPr>
        <p:spPr bwMode="auto">
          <a:xfrm>
            <a:off x="0" y="0"/>
            <a:ext cx="12192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ko-KR" altLang="en-US"/>
          </a:p>
        </p:txBody>
      </p:sp>
      <p:cxnSp>
        <p:nvCxnSpPr>
          <p:cNvPr id="5" name="직선 연결선 4">
            <a:extLst>
              <a:ext uri="{FF2B5EF4-FFF2-40B4-BE49-F238E27FC236}">
                <a16:creationId xmlns:a16="http://schemas.microsoft.com/office/drawing/2014/main" id="{997881FA-58A5-7043-D571-E610A2A45A53}"/>
              </a:ext>
            </a:extLst>
          </p:cNvPr>
          <p:cNvCxnSpPr/>
          <p:nvPr/>
        </p:nvCxnSpPr>
        <p:spPr>
          <a:xfrm>
            <a:off x="165463" y="3748469"/>
            <a:ext cx="11869783"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직선 화살표 연결선 7">
            <a:extLst>
              <a:ext uri="{FF2B5EF4-FFF2-40B4-BE49-F238E27FC236}">
                <a16:creationId xmlns:a16="http://schemas.microsoft.com/office/drawing/2014/main" id="{DA9D6BAC-A077-241F-ABFF-8A0F291A1921}"/>
              </a:ext>
            </a:extLst>
          </p:cNvPr>
          <p:cNvCxnSpPr>
            <a:cxnSpLocks/>
          </p:cNvCxnSpPr>
          <p:nvPr/>
        </p:nvCxnSpPr>
        <p:spPr>
          <a:xfrm>
            <a:off x="813455" y="2116724"/>
            <a:ext cx="11082710" cy="0"/>
          </a:xfrm>
          <a:prstGeom prst="straightConnector1">
            <a:avLst/>
          </a:prstGeom>
          <a:ln w="38100">
            <a:solidFill>
              <a:schemeClr val="bg1">
                <a:lumMod val="50000"/>
              </a:schemeClr>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0D406D45-1DFB-99E3-A09C-44A880872999}"/>
              </a:ext>
            </a:extLst>
          </p:cNvPr>
          <p:cNvSpPr txBox="1"/>
          <p:nvPr/>
        </p:nvSpPr>
        <p:spPr>
          <a:xfrm>
            <a:off x="950336" y="1978224"/>
            <a:ext cx="1039830" cy="261610"/>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특허출원</a:t>
            </a:r>
            <a:r>
              <a:rPr lang="en-US" altLang="ko-KR" sz="1100" dirty="0">
                <a:solidFill>
                  <a:schemeClr val="tx1"/>
                </a:solidFill>
                <a:latin typeface="+mn-ea"/>
              </a:rPr>
              <a:t>(X)</a:t>
            </a:r>
          </a:p>
        </p:txBody>
      </p:sp>
      <p:cxnSp>
        <p:nvCxnSpPr>
          <p:cNvPr id="15" name="직선 연결선 14">
            <a:extLst>
              <a:ext uri="{FF2B5EF4-FFF2-40B4-BE49-F238E27FC236}">
                <a16:creationId xmlns:a16="http://schemas.microsoft.com/office/drawing/2014/main" id="{97C459AB-5FA4-F838-5846-E73A840BA631}"/>
              </a:ext>
            </a:extLst>
          </p:cNvPr>
          <p:cNvCxnSpPr>
            <a:cxnSpLocks/>
            <a:stCxn id="26" idx="0"/>
            <a:endCxn id="9" idx="2"/>
          </p:cNvCxnSpPr>
          <p:nvPr/>
        </p:nvCxnSpPr>
        <p:spPr>
          <a:xfrm flipV="1">
            <a:off x="1470249" y="2239834"/>
            <a:ext cx="2" cy="22277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C542B988-353E-081A-0644-3514D1DD60B1}"/>
              </a:ext>
            </a:extLst>
          </p:cNvPr>
          <p:cNvSpPr txBox="1"/>
          <p:nvPr/>
        </p:nvSpPr>
        <p:spPr>
          <a:xfrm>
            <a:off x="1178342" y="2462606"/>
            <a:ext cx="583814" cy="43088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marL="228600" indent="-228600" algn="ctr">
              <a:buAutoNum type="arabicPeriod"/>
            </a:pPr>
            <a:r>
              <a:rPr lang="en-US" altLang="ko-KR" sz="1100" dirty="0" err="1">
                <a:solidFill>
                  <a:schemeClr val="tx1"/>
                </a:solidFill>
                <a:latin typeface="+mn-ea"/>
              </a:rPr>
              <a:t>C3</a:t>
            </a:r>
            <a:endParaRPr lang="en-US" altLang="ko-KR" sz="1100" dirty="0">
              <a:solidFill>
                <a:schemeClr val="tx1"/>
              </a:solidFill>
              <a:latin typeface="+mn-ea"/>
            </a:endParaRPr>
          </a:p>
          <a:p>
            <a:pPr marL="228600" indent="-228600" algn="ctr">
              <a:buAutoNum type="arabicPeriod"/>
            </a:pPr>
            <a:r>
              <a:rPr lang="en-US" altLang="ko-KR" sz="1100" dirty="0" err="1">
                <a:solidFill>
                  <a:schemeClr val="tx1"/>
                </a:solidFill>
                <a:latin typeface="+mn-ea"/>
              </a:rPr>
              <a:t>C5</a:t>
            </a:r>
            <a:endParaRPr lang="ko-KR" altLang="en-US" sz="1100" dirty="0">
              <a:solidFill>
                <a:schemeClr val="tx1"/>
              </a:solidFill>
              <a:latin typeface="+mn-ea"/>
            </a:endParaRPr>
          </a:p>
        </p:txBody>
      </p:sp>
      <p:sp>
        <p:nvSpPr>
          <p:cNvPr id="35" name="TextBox 34">
            <a:extLst>
              <a:ext uri="{FF2B5EF4-FFF2-40B4-BE49-F238E27FC236}">
                <a16:creationId xmlns:a16="http://schemas.microsoft.com/office/drawing/2014/main" id="{37E983C8-542F-A141-C164-2900D7C76C7B}"/>
              </a:ext>
            </a:extLst>
          </p:cNvPr>
          <p:cNvSpPr txBox="1"/>
          <p:nvPr/>
        </p:nvSpPr>
        <p:spPr>
          <a:xfrm>
            <a:off x="2315319" y="1978224"/>
            <a:ext cx="888916" cy="276998"/>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lIns="0" tIns="0" rIns="0" bIns="0" rtlCol="0" anchor="ctr">
            <a:noAutofit/>
          </a:bodyPr>
          <a:lstStyle/>
          <a:p>
            <a:pPr algn="ctr"/>
            <a:r>
              <a:rPr lang="en-US" altLang="ko-KR" sz="1100" dirty="0">
                <a:solidFill>
                  <a:schemeClr val="tx1"/>
                </a:solidFill>
                <a:latin typeface="+mn-ea"/>
              </a:rPr>
              <a:t>OA(X)</a:t>
            </a:r>
          </a:p>
        </p:txBody>
      </p:sp>
      <p:cxnSp>
        <p:nvCxnSpPr>
          <p:cNvPr id="36" name="직선 연결선 35">
            <a:extLst>
              <a:ext uri="{FF2B5EF4-FFF2-40B4-BE49-F238E27FC236}">
                <a16:creationId xmlns:a16="http://schemas.microsoft.com/office/drawing/2014/main" id="{381D0B4B-B7B2-757B-CF00-DBC6A825D9FA}"/>
              </a:ext>
            </a:extLst>
          </p:cNvPr>
          <p:cNvCxnSpPr>
            <a:cxnSpLocks/>
            <a:stCxn id="37" idx="0"/>
            <a:endCxn id="35" idx="2"/>
          </p:cNvCxnSpPr>
          <p:nvPr/>
        </p:nvCxnSpPr>
        <p:spPr>
          <a:xfrm flipH="1" flipV="1">
            <a:off x="2759777" y="2255222"/>
            <a:ext cx="2" cy="20738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A811B0F3-0B70-03DB-A8D4-3E8E54A49205}"/>
              </a:ext>
            </a:extLst>
          </p:cNvPr>
          <p:cNvSpPr txBox="1"/>
          <p:nvPr/>
        </p:nvSpPr>
        <p:spPr>
          <a:xfrm>
            <a:off x="2098380" y="2462606"/>
            <a:ext cx="1322798" cy="43088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100" dirty="0">
                <a:solidFill>
                  <a:schemeClr val="tx1"/>
                </a:solidFill>
                <a:latin typeface="+mn-ea"/>
              </a:rPr>
              <a:t>제</a:t>
            </a:r>
            <a:r>
              <a:rPr lang="en-US" altLang="ko-KR" sz="1100" dirty="0">
                <a:solidFill>
                  <a:schemeClr val="tx1"/>
                </a:solidFill>
                <a:latin typeface="+mn-ea"/>
              </a:rPr>
              <a:t>42</a:t>
            </a:r>
            <a:r>
              <a:rPr lang="ko-KR" altLang="en-US" sz="1100" dirty="0">
                <a:solidFill>
                  <a:schemeClr val="tx1"/>
                </a:solidFill>
                <a:latin typeface="+mn-ea"/>
              </a:rPr>
              <a:t>조제</a:t>
            </a:r>
            <a:r>
              <a:rPr lang="en-US" altLang="ko-KR" sz="1100" dirty="0">
                <a:solidFill>
                  <a:schemeClr val="tx1"/>
                </a:solidFill>
                <a:latin typeface="+mn-ea"/>
              </a:rPr>
              <a:t>4</a:t>
            </a:r>
            <a:r>
              <a:rPr lang="ko-KR" altLang="en-US" sz="1100" dirty="0" err="1">
                <a:solidFill>
                  <a:schemeClr val="tx1"/>
                </a:solidFill>
                <a:latin typeface="+mn-ea"/>
              </a:rPr>
              <a:t>항제</a:t>
            </a:r>
            <a:r>
              <a:rPr lang="en-US" altLang="ko-KR" sz="1100" dirty="0">
                <a:solidFill>
                  <a:schemeClr val="tx1"/>
                </a:solidFill>
                <a:latin typeface="+mn-ea"/>
              </a:rPr>
              <a:t>1</a:t>
            </a:r>
            <a:r>
              <a:rPr lang="ko-KR" altLang="en-US" sz="1100" dirty="0">
                <a:solidFill>
                  <a:schemeClr val="tx1"/>
                </a:solidFill>
                <a:latin typeface="+mn-ea"/>
              </a:rPr>
              <a:t>호</a:t>
            </a:r>
            <a:r>
              <a:rPr lang="en-US" altLang="ko-KR" sz="1100" dirty="0">
                <a:solidFill>
                  <a:schemeClr val="tx1"/>
                </a:solidFill>
                <a:latin typeface="+mn-ea"/>
              </a:rPr>
              <a:t>,</a:t>
            </a:r>
          </a:p>
          <a:p>
            <a:pPr algn="ctr"/>
            <a:r>
              <a:rPr lang="ko-KR" altLang="en-US" sz="1100" dirty="0">
                <a:solidFill>
                  <a:schemeClr val="tx1"/>
                </a:solidFill>
                <a:latin typeface="+mn-ea"/>
              </a:rPr>
              <a:t>제</a:t>
            </a:r>
            <a:r>
              <a:rPr lang="en-US" altLang="ko-KR" sz="1100" dirty="0">
                <a:solidFill>
                  <a:schemeClr val="tx1"/>
                </a:solidFill>
                <a:latin typeface="+mn-ea"/>
              </a:rPr>
              <a:t>29</a:t>
            </a:r>
            <a:r>
              <a:rPr lang="ko-KR" altLang="en-US" sz="1100" dirty="0">
                <a:solidFill>
                  <a:schemeClr val="tx1"/>
                </a:solidFill>
                <a:latin typeface="+mn-ea"/>
              </a:rPr>
              <a:t>조제</a:t>
            </a:r>
            <a:r>
              <a:rPr lang="en-US" altLang="ko-KR" sz="1100" dirty="0">
                <a:solidFill>
                  <a:schemeClr val="tx1"/>
                </a:solidFill>
                <a:latin typeface="+mn-ea"/>
              </a:rPr>
              <a:t>2</a:t>
            </a:r>
            <a:r>
              <a:rPr lang="ko-KR" altLang="en-US" sz="1100" dirty="0">
                <a:solidFill>
                  <a:schemeClr val="tx1"/>
                </a:solidFill>
                <a:latin typeface="+mn-ea"/>
              </a:rPr>
              <a:t>항 위반</a:t>
            </a:r>
          </a:p>
        </p:txBody>
      </p:sp>
      <p:sp>
        <p:nvSpPr>
          <p:cNvPr id="56" name="TextBox 55">
            <a:extLst>
              <a:ext uri="{FF2B5EF4-FFF2-40B4-BE49-F238E27FC236}">
                <a16:creationId xmlns:a16="http://schemas.microsoft.com/office/drawing/2014/main" id="{076AC349-1BD5-188F-8CF7-4DB31155CA0B}"/>
              </a:ext>
            </a:extLst>
          </p:cNvPr>
          <p:cNvSpPr txBox="1"/>
          <p:nvPr/>
        </p:nvSpPr>
        <p:spPr>
          <a:xfrm>
            <a:off x="3646785" y="1978224"/>
            <a:ext cx="845946" cy="261610"/>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보정</a:t>
            </a:r>
            <a:r>
              <a:rPr lang="en-US" altLang="ko-KR" sz="1100" dirty="0">
                <a:solidFill>
                  <a:schemeClr val="tx1"/>
                </a:solidFill>
                <a:latin typeface="+mn-ea"/>
              </a:rPr>
              <a:t>(X)</a:t>
            </a:r>
          </a:p>
        </p:txBody>
      </p:sp>
      <p:cxnSp>
        <p:nvCxnSpPr>
          <p:cNvPr id="64" name="직선 연결선 63">
            <a:extLst>
              <a:ext uri="{FF2B5EF4-FFF2-40B4-BE49-F238E27FC236}">
                <a16:creationId xmlns:a16="http://schemas.microsoft.com/office/drawing/2014/main" id="{CEBF7140-1094-6709-EF9F-1AB021702749}"/>
              </a:ext>
            </a:extLst>
          </p:cNvPr>
          <p:cNvCxnSpPr>
            <a:cxnSpLocks/>
            <a:stCxn id="65" idx="0"/>
            <a:endCxn id="56" idx="2"/>
          </p:cNvCxnSpPr>
          <p:nvPr/>
        </p:nvCxnSpPr>
        <p:spPr>
          <a:xfrm flipV="1">
            <a:off x="4069756" y="2239834"/>
            <a:ext cx="2" cy="22277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6EF6CB68-0671-DA77-A7B0-3ED0CC86DD92}"/>
              </a:ext>
            </a:extLst>
          </p:cNvPr>
          <p:cNvSpPr txBox="1"/>
          <p:nvPr/>
        </p:nvSpPr>
        <p:spPr>
          <a:xfrm>
            <a:off x="3735369" y="2462606"/>
            <a:ext cx="668773" cy="43088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marL="228600" indent="-228600" algn="ctr">
              <a:buAutoNum type="arabicPeriod"/>
            </a:pPr>
            <a:r>
              <a:rPr lang="en-US" altLang="ko-KR" sz="1100" dirty="0" err="1">
                <a:solidFill>
                  <a:schemeClr val="tx1"/>
                </a:solidFill>
                <a:latin typeface="+mn-ea"/>
              </a:rPr>
              <a:t>C3</a:t>
            </a:r>
            <a:endParaRPr lang="en-US" altLang="ko-KR" sz="1100" dirty="0">
              <a:solidFill>
                <a:schemeClr val="tx1"/>
              </a:solidFill>
              <a:latin typeface="+mn-ea"/>
            </a:endParaRPr>
          </a:p>
          <a:p>
            <a:pPr marL="228600" indent="-228600" algn="ctr">
              <a:buAutoNum type="arabicPeriod"/>
            </a:pPr>
            <a:r>
              <a:rPr lang="ko-KR" altLang="en-US" sz="1100" dirty="0">
                <a:solidFill>
                  <a:schemeClr val="tx1"/>
                </a:solidFill>
                <a:latin typeface="+mn-ea"/>
              </a:rPr>
              <a:t>삭제</a:t>
            </a:r>
          </a:p>
        </p:txBody>
      </p:sp>
      <p:sp>
        <p:nvSpPr>
          <p:cNvPr id="67" name="TextBox 66">
            <a:extLst>
              <a:ext uri="{FF2B5EF4-FFF2-40B4-BE49-F238E27FC236}">
                <a16:creationId xmlns:a16="http://schemas.microsoft.com/office/drawing/2014/main" id="{BB99FF3D-F6DD-02F1-A696-7C3C93EBEA85}"/>
              </a:ext>
            </a:extLst>
          </p:cNvPr>
          <p:cNvSpPr txBox="1"/>
          <p:nvPr/>
        </p:nvSpPr>
        <p:spPr>
          <a:xfrm>
            <a:off x="5002473" y="1978224"/>
            <a:ext cx="1039830" cy="261610"/>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분할출원</a:t>
            </a:r>
            <a:r>
              <a:rPr lang="en-US" altLang="ko-KR" sz="1100" dirty="0">
                <a:solidFill>
                  <a:schemeClr val="tx1"/>
                </a:solidFill>
                <a:latin typeface="+mn-ea"/>
              </a:rPr>
              <a:t>(Y)</a:t>
            </a:r>
          </a:p>
        </p:txBody>
      </p:sp>
      <p:cxnSp>
        <p:nvCxnSpPr>
          <p:cNvPr id="70" name="직선 연결선 69">
            <a:extLst>
              <a:ext uri="{FF2B5EF4-FFF2-40B4-BE49-F238E27FC236}">
                <a16:creationId xmlns:a16="http://schemas.microsoft.com/office/drawing/2014/main" id="{1E79AA8F-4C07-25CC-DF25-CFFE3D32C075}"/>
              </a:ext>
            </a:extLst>
          </p:cNvPr>
          <p:cNvCxnSpPr>
            <a:cxnSpLocks/>
            <a:stCxn id="71" idx="0"/>
            <a:endCxn id="67" idx="2"/>
          </p:cNvCxnSpPr>
          <p:nvPr/>
        </p:nvCxnSpPr>
        <p:spPr>
          <a:xfrm flipH="1" flipV="1">
            <a:off x="5522388" y="2239834"/>
            <a:ext cx="10175" cy="22277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3AF404D1-1458-D733-6EFD-55658D7A7F79}"/>
              </a:ext>
            </a:extLst>
          </p:cNvPr>
          <p:cNvSpPr txBox="1"/>
          <p:nvPr/>
        </p:nvSpPr>
        <p:spPr>
          <a:xfrm>
            <a:off x="5186955" y="2462606"/>
            <a:ext cx="691216" cy="26161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228600" indent="-228600" algn="ctr">
              <a:buAutoNum type="arabicPeriod"/>
            </a:pPr>
            <a:r>
              <a:rPr lang="en-US" altLang="ko-KR" sz="1100" dirty="0" err="1">
                <a:solidFill>
                  <a:schemeClr val="tx1"/>
                </a:solidFill>
                <a:latin typeface="+mn-ea"/>
              </a:rPr>
              <a:t>C5</a:t>
            </a:r>
            <a:endParaRPr lang="ko-KR" altLang="en-US" sz="1100" dirty="0">
              <a:solidFill>
                <a:schemeClr val="tx1"/>
              </a:solidFill>
              <a:latin typeface="+mn-ea"/>
            </a:endParaRPr>
          </a:p>
        </p:txBody>
      </p:sp>
      <p:sp>
        <p:nvSpPr>
          <p:cNvPr id="77" name="TextBox 76">
            <a:extLst>
              <a:ext uri="{FF2B5EF4-FFF2-40B4-BE49-F238E27FC236}">
                <a16:creationId xmlns:a16="http://schemas.microsoft.com/office/drawing/2014/main" id="{E3C2A960-19B7-5461-02B7-766DD52F05CC}"/>
              </a:ext>
            </a:extLst>
          </p:cNvPr>
          <p:cNvSpPr txBox="1"/>
          <p:nvPr/>
        </p:nvSpPr>
        <p:spPr>
          <a:xfrm>
            <a:off x="6541928" y="1978224"/>
            <a:ext cx="691208" cy="261610"/>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등록</a:t>
            </a:r>
            <a:r>
              <a:rPr lang="en-US" altLang="ko-KR" sz="1100" dirty="0">
                <a:solidFill>
                  <a:schemeClr val="tx1"/>
                </a:solidFill>
                <a:latin typeface="+mn-ea"/>
              </a:rPr>
              <a:t>(X)</a:t>
            </a:r>
          </a:p>
        </p:txBody>
      </p:sp>
      <p:cxnSp>
        <p:nvCxnSpPr>
          <p:cNvPr id="78" name="직선 연결선 77">
            <a:extLst>
              <a:ext uri="{FF2B5EF4-FFF2-40B4-BE49-F238E27FC236}">
                <a16:creationId xmlns:a16="http://schemas.microsoft.com/office/drawing/2014/main" id="{C408BF48-9872-970C-4A1A-8342120F1F81}"/>
              </a:ext>
            </a:extLst>
          </p:cNvPr>
          <p:cNvCxnSpPr>
            <a:cxnSpLocks/>
            <a:stCxn id="79" idx="0"/>
            <a:endCxn id="77" idx="2"/>
          </p:cNvCxnSpPr>
          <p:nvPr/>
        </p:nvCxnSpPr>
        <p:spPr>
          <a:xfrm flipV="1">
            <a:off x="6887530" y="2239834"/>
            <a:ext cx="2" cy="22277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E7F779F6-6305-29CB-406C-ABC2671F3560}"/>
              </a:ext>
            </a:extLst>
          </p:cNvPr>
          <p:cNvSpPr txBox="1"/>
          <p:nvPr/>
        </p:nvSpPr>
        <p:spPr>
          <a:xfrm>
            <a:off x="6553143" y="2462606"/>
            <a:ext cx="668773" cy="43088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marL="228600" indent="-228600" algn="ctr">
              <a:buAutoNum type="arabicPeriod"/>
            </a:pPr>
            <a:r>
              <a:rPr lang="en-US" altLang="ko-KR" sz="1100" dirty="0" err="1">
                <a:solidFill>
                  <a:schemeClr val="tx1"/>
                </a:solidFill>
                <a:latin typeface="+mn-ea"/>
              </a:rPr>
              <a:t>C3</a:t>
            </a:r>
            <a:endParaRPr lang="en-US" altLang="ko-KR" sz="1100" dirty="0">
              <a:solidFill>
                <a:schemeClr val="tx1"/>
              </a:solidFill>
              <a:latin typeface="+mn-ea"/>
            </a:endParaRPr>
          </a:p>
          <a:p>
            <a:pPr marL="228600" indent="-228600" algn="ctr">
              <a:buAutoNum type="arabicPeriod"/>
            </a:pPr>
            <a:r>
              <a:rPr lang="ko-KR" altLang="en-US" sz="1100" dirty="0">
                <a:solidFill>
                  <a:schemeClr val="tx1"/>
                </a:solidFill>
                <a:latin typeface="+mn-ea"/>
              </a:rPr>
              <a:t>삭제</a:t>
            </a:r>
          </a:p>
        </p:txBody>
      </p:sp>
      <p:sp>
        <p:nvSpPr>
          <p:cNvPr id="80" name="TextBox 79">
            <a:extLst>
              <a:ext uri="{FF2B5EF4-FFF2-40B4-BE49-F238E27FC236}">
                <a16:creationId xmlns:a16="http://schemas.microsoft.com/office/drawing/2014/main" id="{338E046D-42B3-9ADA-AD4C-212745C36D16}"/>
              </a:ext>
            </a:extLst>
          </p:cNvPr>
          <p:cNvSpPr txBox="1"/>
          <p:nvPr/>
        </p:nvSpPr>
        <p:spPr>
          <a:xfrm>
            <a:off x="7434845" y="1978224"/>
            <a:ext cx="1039830" cy="261610"/>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절차종료</a:t>
            </a:r>
            <a:r>
              <a:rPr lang="en-US" altLang="ko-KR" sz="1100" dirty="0">
                <a:solidFill>
                  <a:schemeClr val="tx1"/>
                </a:solidFill>
                <a:latin typeface="+mn-ea"/>
              </a:rPr>
              <a:t>(Y)</a:t>
            </a:r>
          </a:p>
        </p:txBody>
      </p:sp>
      <p:sp>
        <p:nvSpPr>
          <p:cNvPr id="88" name="TextBox 87">
            <a:extLst>
              <a:ext uri="{FF2B5EF4-FFF2-40B4-BE49-F238E27FC236}">
                <a16:creationId xmlns:a16="http://schemas.microsoft.com/office/drawing/2014/main" id="{BBA5979F-AE9B-C7BD-33E3-44CDD04A43B0}"/>
              </a:ext>
            </a:extLst>
          </p:cNvPr>
          <p:cNvSpPr txBox="1"/>
          <p:nvPr/>
        </p:nvSpPr>
        <p:spPr>
          <a:xfrm>
            <a:off x="8700083" y="1964804"/>
            <a:ext cx="949302" cy="261610"/>
          </a:xfrm>
          <a:prstGeom prst="rect">
            <a:avLst/>
          </a:prstGeom>
          <a:solidFill>
            <a:schemeClr val="tx2">
              <a:lumMod val="7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bg1"/>
                </a:solidFill>
                <a:latin typeface="+mn-ea"/>
              </a:rPr>
              <a:t>제</a:t>
            </a:r>
            <a:r>
              <a:rPr lang="en-US" altLang="ko-KR" sz="1100" dirty="0">
                <a:solidFill>
                  <a:schemeClr val="bg1"/>
                </a:solidFill>
                <a:latin typeface="+mn-ea"/>
              </a:rPr>
              <a:t>3</a:t>
            </a:r>
            <a:r>
              <a:rPr lang="ko-KR" altLang="en-US" sz="1100" dirty="0">
                <a:solidFill>
                  <a:schemeClr val="bg1"/>
                </a:solidFill>
                <a:latin typeface="+mn-ea"/>
              </a:rPr>
              <a:t>자 실시</a:t>
            </a:r>
            <a:endParaRPr lang="en-US" altLang="ko-KR" sz="1100" dirty="0">
              <a:solidFill>
                <a:schemeClr val="bg1"/>
              </a:solidFill>
              <a:latin typeface="+mn-ea"/>
            </a:endParaRPr>
          </a:p>
        </p:txBody>
      </p:sp>
      <p:sp>
        <p:nvSpPr>
          <p:cNvPr id="92" name="TextBox 91">
            <a:extLst>
              <a:ext uri="{FF2B5EF4-FFF2-40B4-BE49-F238E27FC236}">
                <a16:creationId xmlns:a16="http://schemas.microsoft.com/office/drawing/2014/main" id="{D7F1C47F-11B6-859E-48A1-9E1B3C4ACE6F}"/>
              </a:ext>
            </a:extLst>
          </p:cNvPr>
          <p:cNvSpPr txBox="1"/>
          <p:nvPr/>
        </p:nvSpPr>
        <p:spPr>
          <a:xfrm>
            <a:off x="9890872" y="1978224"/>
            <a:ext cx="1093754" cy="261610"/>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침해금지소송</a:t>
            </a:r>
            <a:r>
              <a:rPr lang="en-US" altLang="ko-KR" sz="1100" dirty="0">
                <a:solidFill>
                  <a:schemeClr val="tx1"/>
                </a:solidFill>
                <a:latin typeface="+mn-ea"/>
              </a:rPr>
              <a:t>(X)</a:t>
            </a:r>
          </a:p>
        </p:txBody>
      </p:sp>
      <p:sp>
        <p:nvSpPr>
          <p:cNvPr id="96" name="TextBox 95">
            <a:extLst>
              <a:ext uri="{FF2B5EF4-FFF2-40B4-BE49-F238E27FC236}">
                <a16:creationId xmlns:a16="http://schemas.microsoft.com/office/drawing/2014/main" id="{4AEADB34-AD39-E4E1-714A-D9D2CA7166FD}"/>
              </a:ext>
            </a:extLst>
          </p:cNvPr>
          <p:cNvSpPr txBox="1"/>
          <p:nvPr/>
        </p:nvSpPr>
        <p:spPr>
          <a:xfrm>
            <a:off x="165464" y="2965460"/>
            <a:ext cx="11730702" cy="707886"/>
          </a:xfrm>
          <a:prstGeom prst="rect">
            <a:avLst/>
          </a:prstGeom>
          <a:noFill/>
          <a:ln>
            <a:solidFill>
              <a:schemeClr val="bg1">
                <a:lumMod val="50000"/>
              </a:schemeClr>
            </a:solidFill>
          </a:ln>
        </p:spPr>
        <p:txBody>
          <a:bodyPr wrap="square">
            <a:spAutoFit/>
          </a:bodyPr>
          <a:lstStyle/>
          <a:p>
            <a:r>
              <a:rPr lang="ko-KR" altLang="en-US" sz="1000" dirty="0"/>
              <a:t>이 사건 특허발명</a:t>
            </a:r>
            <a:r>
              <a:rPr lang="en-US" altLang="ko-KR" sz="1000" dirty="0"/>
              <a:t>(</a:t>
            </a:r>
            <a:r>
              <a:rPr lang="ko-KR" altLang="en-US" sz="1000" dirty="0"/>
              <a:t>특허번호 제</a:t>
            </a:r>
            <a:r>
              <a:rPr lang="en-US" altLang="ko-KR" sz="1000" dirty="0"/>
              <a:t>361255</a:t>
            </a:r>
            <a:r>
              <a:rPr lang="ko-KR" altLang="en-US" sz="1000" dirty="0"/>
              <a:t>호</a:t>
            </a:r>
            <a:r>
              <a:rPr lang="en-US" altLang="ko-KR" sz="1000" dirty="0"/>
              <a:t>)</a:t>
            </a:r>
            <a:r>
              <a:rPr lang="ko-KR" altLang="en-US" sz="1000" dirty="0"/>
              <a:t>에 대한 출원과정에서 </a:t>
            </a:r>
            <a:r>
              <a:rPr lang="ko-KR" altLang="en-US" sz="1000" dirty="0">
                <a:highlight>
                  <a:srgbClr val="FFFF00"/>
                </a:highlight>
              </a:rPr>
              <a:t>지식재산처 심사관의 </a:t>
            </a:r>
            <a:r>
              <a:rPr lang="ko-KR" altLang="en-US" sz="1000" dirty="0" err="1">
                <a:highlight>
                  <a:srgbClr val="FFFF00"/>
                </a:highlight>
              </a:rPr>
              <a:t>거절이유통지의</a:t>
            </a:r>
            <a:r>
              <a:rPr lang="ko-KR" altLang="en-US" sz="1000" dirty="0">
                <a:highlight>
                  <a:srgbClr val="FFFF00"/>
                </a:highlight>
              </a:rPr>
              <a:t> 내용</a:t>
            </a:r>
            <a:r>
              <a:rPr lang="en-US" altLang="ko-KR" sz="1000" dirty="0">
                <a:highlight>
                  <a:srgbClr val="FFFF00"/>
                </a:highlight>
              </a:rPr>
              <a:t>, </a:t>
            </a:r>
            <a:r>
              <a:rPr lang="ko-KR" altLang="en-US" sz="1000" dirty="0">
                <a:highlight>
                  <a:srgbClr val="FFFF00"/>
                </a:highlight>
              </a:rPr>
              <a:t>원고의 이에 대응한 보정서와 의견서의 내용</a:t>
            </a:r>
            <a:r>
              <a:rPr lang="en-US" altLang="ko-KR" sz="1000" dirty="0">
                <a:highlight>
                  <a:srgbClr val="FFFF00"/>
                </a:highlight>
              </a:rPr>
              <a:t>, </a:t>
            </a:r>
            <a:r>
              <a:rPr lang="ko-KR" altLang="en-US" sz="1000" dirty="0">
                <a:highlight>
                  <a:srgbClr val="FFFF00"/>
                </a:highlight>
              </a:rPr>
              <a:t>원고가 이 사건 출원발명으로부터 이 사건 화합물을 제외한 나머지 화합물에 대한 부분을 분할출원을 한 경위</a:t>
            </a:r>
            <a:r>
              <a:rPr lang="ko-KR" altLang="en-US" sz="1000" dirty="0"/>
              <a:t> 등을 참작하면</a:t>
            </a:r>
            <a:r>
              <a:rPr lang="en-US" altLang="ko-KR" sz="1000" dirty="0"/>
              <a:t>, </a:t>
            </a:r>
            <a:r>
              <a:rPr lang="ko-KR" altLang="en-US" sz="1000" dirty="0"/>
              <a:t>원고는 심사관으로부터 </a:t>
            </a:r>
            <a:r>
              <a:rPr lang="ko-KR" altLang="en-US" sz="1000" dirty="0" err="1"/>
              <a:t>거절이유통지를</a:t>
            </a:r>
            <a:r>
              <a:rPr lang="ko-KR" altLang="en-US" sz="1000" dirty="0"/>
              <a:t> 받고서 선행기술을 회피하고 </a:t>
            </a:r>
            <a:r>
              <a:rPr lang="ko-KR" altLang="en-US" sz="1000" dirty="0" err="1"/>
              <a:t>명세서기재요건을</a:t>
            </a:r>
            <a:r>
              <a:rPr lang="ko-KR" altLang="en-US" sz="1000" dirty="0"/>
              <a:t> 충족시키기 위하여 이 사건 출원발명의 화합물을 이 사건 화합물로 </a:t>
            </a:r>
            <a:r>
              <a:rPr lang="ko-KR" altLang="en-US" sz="1000" dirty="0" err="1"/>
              <a:t>감축보정하면서</a:t>
            </a:r>
            <a:r>
              <a:rPr lang="ko-KR" altLang="en-US" sz="1000" dirty="0"/>
              <a:t> 이</a:t>
            </a:r>
            <a:r>
              <a:rPr lang="en-US" altLang="ko-KR" sz="1000" dirty="0"/>
              <a:t>(</a:t>
            </a:r>
            <a:r>
              <a:rPr lang="en-US" altLang="ko-KR" sz="1000" dirty="0" err="1"/>
              <a:t>C3</a:t>
            </a:r>
            <a:r>
              <a:rPr lang="en-US" altLang="ko-KR" sz="1000" dirty="0"/>
              <a:t>)</a:t>
            </a:r>
            <a:r>
              <a:rPr lang="ko-KR" altLang="en-US" sz="1000" dirty="0"/>
              <a:t>를 제외한 나머지 화합물</a:t>
            </a:r>
            <a:r>
              <a:rPr lang="en-US" altLang="ko-KR" sz="1000" dirty="0"/>
              <a:t>(</a:t>
            </a:r>
            <a:r>
              <a:rPr lang="en-US" altLang="ko-KR" sz="1000" dirty="0" err="1"/>
              <a:t>C5</a:t>
            </a:r>
            <a:r>
              <a:rPr lang="en-US" altLang="ko-KR" sz="1000" dirty="0"/>
              <a:t>)</a:t>
            </a:r>
            <a:r>
              <a:rPr lang="ko-KR" altLang="en-US" sz="1000" dirty="0"/>
              <a:t>들을 별개의 발명으로 </a:t>
            </a:r>
            <a:r>
              <a:rPr lang="ko-KR" altLang="en-US" sz="1000" dirty="0" err="1"/>
              <a:t>분할출원함으로써</a:t>
            </a:r>
            <a:r>
              <a:rPr lang="ko-KR" altLang="en-US" sz="1000" dirty="0"/>
              <a:t> 이들을 이 사건 특허발명의 청구범위로부터 의식적으로 제외한 것으로 봄이 상당하므로</a:t>
            </a:r>
            <a:r>
              <a:rPr lang="en-US" altLang="ko-KR" sz="1000" dirty="0"/>
              <a:t>, </a:t>
            </a:r>
            <a:r>
              <a:rPr lang="ko-KR" altLang="en-US" sz="1000" dirty="0"/>
              <a:t>위 </a:t>
            </a:r>
            <a:r>
              <a:rPr lang="ko-KR" altLang="en-US" sz="1000" dirty="0" err="1"/>
              <a:t>분할출원된</a:t>
            </a:r>
            <a:r>
              <a:rPr lang="ko-KR" altLang="en-US" sz="1000" dirty="0"/>
              <a:t> 화합물에 속하는 피고의 </a:t>
            </a:r>
            <a:r>
              <a:rPr lang="ko-KR" altLang="en-US" sz="1000" dirty="0" err="1"/>
              <a:t>오르토</a:t>
            </a:r>
            <a:r>
              <a:rPr lang="en-US" altLang="ko-KR" sz="1000" dirty="0"/>
              <a:t>-</a:t>
            </a:r>
            <a:r>
              <a:rPr lang="ko-KR" altLang="en-US" sz="1000" dirty="0" err="1"/>
              <a:t>크레졸프탈레인</a:t>
            </a:r>
            <a:r>
              <a:rPr lang="ko-KR" altLang="en-US" sz="1000" dirty="0"/>
              <a:t> </a:t>
            </a:r>
            <a:r>
              <a:rPr lang="ko-KR" altLang="en-US" sz="1000" dirty="0" err="1"/>
              <a:t>헥사노일</a:t>
            </a:r>
            <a:r>
              <a:rPr lang="ko-KR" altLang="en-US" sz="1000" dirty="0"/>
              <a:t> </a:t>
            </a:r>
            <a:r>
              <a:rPr lang="ko-KR" altLang="en-US" sz="1000" dirty="0" err="1"/>
              <a:t>에스테르</a:t>
            </a:r>
            <a:r>
              <a:rPr lang="en-US" altLang="ko-KR" sz="1000" dirty="0"/>
              <a:t>(</a:t>
            </a:r>
            <a:r>
              <a:rPr lang="en-US" altLang="ko-KR" sz="1000" dirty="0" err="1"/>
              <a:t>C5</a:t>
            </a:r>
            <a:r>
              <a:rPr lang="en-US" altLang="ko-KR" sz="1000" dirty="0"/>
              <a:t>)</a:t>
            </a:r>
            <a:r>
              <a:rPr lang="ko-KR" altLang="en-US" sz="1000" dirty="0"/>
              <a:t>는 이 사건 특허발명의 보호범위에 속하지 아니한다</a:t>
            </a:r>
            <a:r>
              <a:rPr lang="en-US" altLang="ko-KR" sz="1000" dirty="0"/>
              <a:t>.</a:t>
            </a:r>
            <a:endParaRPr lang="ko-KR" altLang="en-US" sz="1000" dirty="0"/>
          </a:p>
        </p:txBody>
      </p:sp>
      <p:sp>
        <p:nvSpPr>
          <p:cNvPr id="98" name="TextBox 97">
            <a:extLst>
              <a:ext uri="{FF2B5EF4-FFF2-40B4-BE49-F238E27FC236}">
                <a16:creationId xmlns:a16="http://schemas.microsoft.com/office/drawing/2014/main" id="{4BDA7475-DB4B-AACA-9CAE-89FE73480BA3}"/>
              </a:ext>
            </a:extLst>
          </p:cNvPr>
          <p:cNvSpPr txBox="1"/>
          <p:nvPr/>
        </p:nvSpPr>
        <p:spPr>
          <a:xfrm>
            <a:off x="77875" y="4156152"/>
            <a:ext cx="12024478" cy="1015663"/>
          </a:xfrm>
          <a:prstGeom prst="rect">
            <a:avLst/>
          </a:prstGeom>
          <a:noFill/>
        </p:spPr>
        <p:txBody>
          <a:bodyPr wrap="square" rtlCol="0">
            <a:spAutoFit/>
          </a:bodyPr>
          <a:lstStyle/>
          <a:p>
            <a:r>
              <a:rPr lang="ko-KR" altLang="en-US" sz="1200" dirty="0"/>
              <a:t>원고는 </a:t>
            </a:r>
            <a:r>
              <a:rPr lang="ko-KR" altLang="en-US" sz="1200" dirty="0" err="1"/>
              <a:t>원출원</a:t>
            </a:r>
            <a:r>
              <a:rPr lang="ko-KR" altLang="en-US" sz="1200" dirty="0"/>
              <a:t> 발명의 출원 과정에서 거절이유를 극복하기 위해</a:t>
            </a:r>
            <a:r>
              <a:rPr lang="en-US" altLang="ko-KR" sz="1200" dirty="0"/>
              <a:t>, </a:t>
            </a:r>
            <a:r>
              <a:rPr lang="ko-KR" altLang="en-US" sz="1200" dirty="0" err="1"/>
              <a:t>원출원</a:t>
            </a:r>
            <a:r>
              <a:rPr lang="ko-KR" altLang="en-US" sz="1200" dirty="0"/>
              <a:t> 제</a:t>
            </a:r>
            <a:r>
              <a:rPr lang="en-US" altLang="ko-KR" sz="1200" dirty="0"/>
              <a:t>1</a:t>
            </a:r>
            <a:r>
              <a:rPr lang="ko-KR" altLang="en-US" sz="1200" dirty="0"/>
              <a:t>항 발명의 ‘</a:t>
            </a:r>
            <a:r>
              <a:rPr lang="ko-KR" altLang="en-US" sz="1200" dirty="0" err="1"/>
              <a:t>세정수단’에는</a:t>
            </a:r>
            <a:r>
              <a:rPr lang="ko-KR" altLang="en-US" sz="1200" dirty="0"/>
              <a:t> </a:t>
            </a:r>
            <a:r>
              <a:rPr lang="ko-KR" altLang="en-US" sz="1200" dirty="0">
                <a:solidFill>
                  <a:srgbClr val="FF0000"/>
                </a:solidFill>
              </a:rPr>
              <a:t>‘전기분해 방식으로 살균물질을 생성하여 세정하는 </a:t>
            </a:r>
            <a:r>
              <a:rPr lang="ko-KR" altLang="en-US" sz="1200" dirty="0" err="1">
                <a:solidFill>
                  <a:srgbClr val="FF0000"/>
                </a:solidFill>
              </a:rPr>
              <a:t>수단’이</a:t>
            </a:r>
            <a:r>
              <a:rPr lang="ko-KR" altLang="en-US" sz="1200" dirty="0">
                <a:solidFill>
                  <a:srgbClr val="FF0000"/>
                </a:solidFill>
              </a:rPr>
              <a:t> 포함되지 않는다는 취지의 의견을 제출</a:t>
            </a:r>
            <a:r>
              <a:rPr lang="ko-KR" altLang="en-US" sz="1200" dirty="0"/>
              <a:t>하였다</a:t>
            </a:r>
            <a:r>
              <a:rPr lang="en-US" altLang="ko-KR" sz="1200" dirty="0"/>
              <a:t>. </a:t>
            </a:r>
            <a:r>
              <a:rPr lang="ko-KR" altLang="en-US" sz="1200" dirty="0" err="1"/>
              <a:t>원출원</a:t>
            </a:r>
            <a:r>
              <a:rPr lang="ko-KR" altLang="en-US" sz="1200" dirty="0"/>
              <a:t> 발명과 이 사건 특허발명의 </a:t>
            </a:r>
            <a:r>
              <a:rPr lang="ko-KR" altLang="en-US" sz="1200" dirty="0">
                <a:solidFill>
                  <a:srgbClr val="FF0000"/>
                </a:solidFill>
              </a:rPr>
              <a:t>출원인은 모두 원고로 동일</a:t>
            </a:r>
            <a:r>
              <a:rPr lang="ko-KR" altLang="en-US" sz="1200" dirty="0"/>
              <a:t>하다</a:t>
            </a:r>
            <a:r>
              <a:rPr lang="en-US" altLang="ko-KR" sz="1200" dirty="0"/>
              <a:t>. </a:t>
            </a:r>
            <a:r>
              <a:rPr lang="ko-KR" altLang="en-US" sz="1200" dirty="0"/>
              <a:t>이 사건 특허발명은 </a:t>
            </a:r>
            <a:r>
              <a:rPr lang="ko-KR" altLang="en-US" sz="1200" dirty="0" err="1"/>
              <a:t>원출원</a:t>
            </a:r>
            <a:r>
              <a:rPr lang="ko-KR" altLang="en-US" sz="1200" dirty="0"/>
              <a:t> 발명을 기초로 하는 </a:t>
            </a:r>
            <a:r>
              <a:rPr lang="en-US" altLang="ko-KR" sz="1200" dirty="0"/>
              <a:t>1</a:t>
            </a:r>
            <a:r>
              <a:rPr lang="ko-KR" altLang="en-US" sz="1200" dirty="0"/>
              <a:t>세대 분할출원 발명으로부터 </a:t>
            </a:r>
            <a:r>
              <a:rPr lang="ko-KR" altLang="en-US" sz="1200" dirty="0" err="1"/>
              <a:t>분할출원된</a:t>
            </a:r>
            <a:r>
              <a:rPr lang="ko-KR" altLang="en-US" sz="1200" dirty="0"/>
              <a:t> 발명으로서 </a:t>
            </a:r>
            <a:r>
              <a:rPr lang="ko-KR" altLang="en-US" sz="1200" dirty="0" err="1"/>
              <a:t>원출원</a:t>
            </a:r>
            <a:r>
              <a:rPr lang="ko-KR" altLang="en-US" sz="1200" dirty="0"/>
              <a:t> 발명의 출원서에 최초로 첨부된 명세서 또는 도면에 기재된 사항의 범위 내에 있는 발명이다</a:t>
            </a:r>
            <a:r>
              <a:rPr lang="en-US" altLang="ko-KR" sz="1200" dirty="0"/>
              <a:t>. </a:t>
            </a:r>
            <a:r>
              <a:rPr lang="ko-KR" altLang="en-US" sz="1200" dirty="0"/>
              <a:t>원고는 </a:t>
            </a:r>
            <a:r>
              <a:rPr lang="ko-KR" altLang="en-US" sz="1200" dirty="0" err="1">
                <a:solidFill>
                  <a:srgbClr val="FF0000"/>
                </a:solidFill>
              </a:rPr>
              <a:t>원출원</a:t>
            </a:r>
            <a:r>
              <a:rPr lang="ko-KR" altLang="en-US" sz="1200" dirty="0">
                <a:solidFill>
                  <a:srgbClr val="FF0000"/>
                </a:solidFill>
              </a:rPr>
              <a:t> 발명에 관한 위와 같은 의견제출 이후에 이 사건 특허발명을 출원</a:t>
            </a:r>
            <a:r>
              <a:rPr lang="ko-KR" altLang="en-US" sz="1200" dirty="0"/>
              <a:t>하였다</a:t>
            </a:r>
            <a:r>
              <a:rPr lang="en-US" altLang="ko-KR" sz="1200" dirty="0"/>
              <a:t>. </a:t>
            </a:r>
            <a:r>
              <a:rPr lang="ko-KR" altLang="en-US" sz="1200" dirty="0"/>
              <a:t>이러한 사정을 고려하면</a:t>
            </a:r>
            <a:r>
              <a:rPr lang="en-US" altLang="ko-KR" sz="1200" dirty="0"/>
              <a:t>, </a:t>
            </a:r>
            <a:r>
              <a:rPr lang="ko-KR" altLang="en-US" sz="1200" dirty="0" err="1">
                <a:highlight>
                  <a:srgbClr val="FFFF00"/>
                </a:highlight>
              </a:rPr>
              <a:t>원출원</a:t>
            </a:r>
            <a:r>
              <a:rPr lang="ko-KR" altLang="en-US" sz="1200" dirty="0">
                <a:highlight>
                  <a:srgbClr val="FFFF00"/>
                </a:highlight>
              </a:rPr>
              <a:t> 발명에 대한 출원경과는 그 후 </a:t>
            </a:r>
            <a:r>
              <a:rPr lang="ko-KR" altLang="en-US" sz="1200" dirty="0" err="1">
                <a:highlight>
                  <a:srgbClr val="FFFF00"/>
                </a:highlight>
              </a:rPr>
              <a:t>분할출원된</a:t>
            </a:r>
            <a:r>
              <a:rPr lang="ko-KR" altLang="en-US" sz="1200" dirty="0">
                <a:highlight>
                  <a:srgbClr val="FFFF00"/>
                </a:highlight>
              </a:rPr>
              <a:t> 이 사건 특허발명의 청구범위를 해석할 때에도 참작할 수 있다</a:t>
            </a:r>
            <a:r>
              <a:rPr lang="en-US" altLang="ko-KR" sz="1200" dirty="0">
                <a:highlight>
                  <a:srgbClr val="FFFF00"/>
                </a:highlight>
              </a:rPr>
              <a:t>. </a:t>
            </a:r>
            <a:r>
              <a:rPr lang="ko-KR" altLang="en-US" sz="1200" dirty="0"/>
              <a:t>이를 참작하면</a:t>
            </a:r>
            <a:r>
              <a:rPr lang="en-US" altLang="ko-KR" sz="1200" dirty="0"/>
              <a:t>, </a:t>
            </a:r>
            <a:r>
              <a:rPr lang="ko-KR" altLang="en-US" sz="1200" dirty="0"/>
              <a:t>원고는 이 사건 제</a:t>
            </a:r>
            <a:r>
              <a:rPr lang="en-US" altLang="ko-KR" sz="1200" dirty="0"/>
              <a:t>1</a:t>
            </a:r>
            <a:r>
              <a:rPr lang="ko-KR" altLang="en-US" sz="1200" dirty="0"/>
              <a:t>항 발명의 ‘세정수단’ 중 ‘전기분해 방식으로 살균물질을 생성하여 세정하는 </a:t>
            </a:r>
            <a:r>
              <a:rPr lang="ko-KR" altLang="en-US" sz="1200" dirty="0" err="1"/>
              <a:t>수단’을</a:t>
            </a:r>
            <a:r>
              <a:rPr lang="ko-KR" altLang="en-US" sz="1200" dirty="0"/>
              <a:t> 의식적으로 제외하였다고 보인다</a:t>
            </a:r>
            <a:r>
              <a:rPr lang="en-US" altLang="ko-KR" sz="1200" dirty="0"/>
              <a:t>.</a:t>
            </a:r>
            <a:endParaRPr lang="ko-KR" altLang="en-US" sz="1200" dirty="0">
              <a:highlight>
                <a:srgbClr val="FFFF00"/>
              </a:highlight>
            </a:endParaRPr>
          </a:p>
        </p:txBody>
      </p:sp>
      <p:cxnSp>
        <p:nvCxnSpPr>
          <p:cNvPr id="99" name="직선 연결선 98">
            <a:extLst>
              <a:ext uri="{FF2B5EF4-FFF2-40B4-BE49-F238E27FC236}">
                <a16:creationId xmlns:a16="http://schemas.microsoft.com/office/drawing/2014/main" id="{21C5A4FE-0E9E-396A-5114-41FAD446E891}"/>
              </a:ext>
            </a:extLst>
          </p:cNvPr>
          <p:cNvCxnSpPr>
            <a:cxnSpLocks/>
          </p:cNvCxnSpPr>
          <p:nvPr/>
        </p:nvCxnSpPr>
        <p:spPr>
          <a:xfrm>
            <a:off x="165463" y="5210492"/>
            <a:ext cx="8464087"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모서리가 둥근 직사각형 55">
            <a:extLst>
              <a:ext uri="{FF2B5EF4-FFF2-40B4-BE49-F238E27FC236}">
                <a16:creationId xmlns:a16="http://schemas.microsoft.com/office/drawing/2014/main" id="{6F563A32-40C8-590F-6D1C-22CB2FA986BE}"/>
              </a:ext>
            </a:extLst>
          </p:cNvPr>
          <p:cNvSpPr/>
          <p:nvPr/>
        </p:nvSpPr>
        <p:spPr bwMode="auto">
          <a:xfrm>
            <a:off x="351507" y="3868150"/>
            <a:ext cx="5264202" cy="241867"/>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2025. 7. 17. </a:t>
            </a:r>
            <a:r>
              <a:rPr lang="ko-KR" altLang="en-US" sz="1400" dirty="0"/>
              <a:t>선고 </a:t>
            </a:r>
            <a:r>
              <a:rPr lang="en-US" altLang="ko-KR" sz="1400" dirty="0"/>
              <a:t>2023</a:t>
            </a:r>
            <a:r>
              <a:rPr lang="ko-KR" altLang="en-US" sz="1400" dirty="0"/>
              <a:t>후</a:t>
            </a:r>
            <a:r>
              <a:rPr lang="en-US" altLang="ko-KR" sz="1400" dirty="0"/>
              <a:t>11340 </a:t>
            </a:r>
            <a:r>
              <a:rPr lang="ko-KR" altLang="en-US" sz="1400" dirty="0"/>
              <a:t>판결 </a:t>
            </a:r>
            <a:r>
              <a:rPr lang="en-US" altLang="ko-KR" sz="1400" dirty="0"/>
              <a:t>【</a:t>
            </a:r>
            <a:r>
              <a:rPr lang="ko-KR" altLang="en-US" sz="1400" dirty="0"/>
              <a:t>권리범위확인</a:t>
            </a:r>
            <a:r>
              <a:rPr lang="en-US" altLang="ko-KR" sz="1400" dirty="0"/>
              <a:t>(</a:t>
            </a:r>
            <a:r>
              <a:rPr lang="ko-KR" altLang="en-US" sz="1400" dirty="0" err="1"/>
              <a:t>특</a:t>
            </a:r>
            <a:r>
              <a:rPr lang="en-US" altLang="ko-KR" sz="1400" dirty="0"/>
              <a:t>)】</a:t>
            </a:r>
          </a:p>
        </p:txBody>
      </p:sp>
      <p:cxnSp>
        <p:nvCxnSpPr>
          <p:cNvPr id="102" name="직선 화살표 연결선 101">
            <a:extLst>
              <a:ext uri="{FF2B5EF4-FFF2-40B4-BE49-F238E27FC236}">
                <a16:creationId xmlns:a16="http://schemas.microsoft.com/office/drawing/2014/main" id="{B5D9DF4D-DA0F-F8C6-242F-2B2D740B80DF}"/>
              </a:ext>
            </a:extLst>
          </p:cNvPr>
          <p:cNvCxnSpPr>
            <a:cxnSpLocks/>
          </p:cNvCxnSpPr>
          <p:nvPr/>
        </p:nvCxnSpPr>
        <p:spPr>
          <a:xfrm>
            <a:off x="165463" y="5473997"/>
            <a:ext cx="11730702" cy="0"/>
          </a:xfrm>
          <a:prstGeom prst="straightConnector1">
            <a:avLst/>
          </a:prstGeom>
          <a:ln w="38100">
            <a:solidFill>
              <a:schemeClr val="bg1">
                <a:lumMod val="50000"/>
              </a:schemeClr>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TextBox 102">
            <a:extLst>
              <a:ext uri="{FF2B5EF4-FFF2-40B4-BE49-F238E27FC236}">
                <a16:creationId xmlns:a16="http://schemas.microsoft.com/office/drawing/2014/main" id="{2A66490A-274A-8EFA-1E4B-C5D91BF0007C}"/>
              </a:ext>
            </a:extLst>
          </p:cNvPr>
          <p:cNvSpPr txBox="1"/>
          <p:nvPr/>
        </p:nvSpPr>
        <p:spPr>
          <a:xfrm>
            <a:off x="256166" y="5335497"/>
            <a:ext cx="1039830"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원출원</a:t>
            </a:r>
            <a:r>
              <a:rPr lang="en-US" altLang="ko-KR" sz="1200" dirty="0">
                <a:solidFill>
                  <a:schemeClr val="tx1"/>
                </a:solidFill>
                <a:latin typeface="+mn-ea"/>
              </a:rPr>
              <a:t>(X)</a:t>
            </a:r>
          </a:p>
        </p:txBody>
      </p:sp>
      <p:sp>
        <p:nvSpPr>
          <p:cNvPr id="105" name="TextBox 104">
            <a:extLst>
              <a:ext uri="{FF2B5EF4-FFF2-40B4-BE49-F238E27FC236}">
                <a16:creationId xmlns:a16="http://schemas.microsoft.com/office/drawing/2014/main" id="{6F44F71B-99CC-D442-B10F-6B0A008DDA78}"/>
              </a:ext>
            </a:extLst>
          </p:cNvPr>
          <p:cNvSpPr txBox="1"/>
          <p:nvPr/>
        </p:nvSpPr>
        <p:spPr>
          <a:xfrm>
            <a:off x="144938" y="5819879"/>
            <a:ext cx="646331" cy="246221"/>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000" dirty="0">
                <a:solidFill>
                  <a:schemeClr val="tx1"/>
                </a:solidFill>
                <a:latin typeface="+mn-ea"/>
              </a:rPr>
              <a:t>세정수단</a:t>
            </a:r>
          </a:p>
        </p:txBody>
      </p:sp>
      <p:sp>
        <p:nvSpPr>
          <p:cNvPr id="125" name="TextBox 124">
            <a:extLst>
              <a:ext uri="{FF2B5EF4-FFF2-40B4-BE49-F238E27FC236}">
                <a16:creationId xmlns:a16="http://schemas.microsoft.com/office/drawing/2014/main" id="{0DBEE1C1-C198-77B7-CEA8-6DC042F617BC}"/>
              </a:ext>
            </a:extLst>
          </p:cNvPr>
          <p:cNvSpPr txBox="1"/>
          <p:nvPr/>
        </p:nvSpPr>
        <p:spPr>
          <a:xfrm>
            <a:off x="4810682" y="5335497"/>
            <a:ext cx="1257900" cy="27699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lIns="0" tIns="0" rIns="0" bIns="0" rtlCol="0" anchor="ctr">
            <a:noAutofit/>
          </a:bodyPr>
          <a:lstStyle/>
          <a:p>
            <a:pPr algn="ctr"/>
            <a:r>
              <a:rPr lang="en-US" altLang="ko-KR" sz="1200" dirty="0">
                <a:solidFill>
                  <a:schemeClr val="tx1"/>
                </a:solidFill>
                <a:latin typeface="+mn-ea"/>
              </a:rPr>
              <a:t>X</a:t>
            </a:r>
            <a:r>
              <a:rPr lang="ko-KR" altLang="en-US" sz="1200" dirty="0">
                <a:solidFill>
                  <a:schemeClr val="tx1"/>
                </a:solidFill>
                <a:latin typeface="+mn-ea"/>
              </a:rPr>
              <a:t>기초 분할출원</a:t>
            </a:r>
            <a:r>
              <a:rPr lang="en-US" altLang="ko-KR" sz="1200" dirty="0">
                <a:solidFill>
                  <a:schemeClr val="tx1"/>
                </a:solidFill>
                <a:latin typeface="+mn-ea"/>
              </a:rPr>
              <a:t>(Y)</a:t>
            </a:r>
          </a:p>
        </p:txBody>
      </p:sp>
      <p:sp>
        <p:nvSpPr>
          <p:cNvPr id="2048" name="TextBox 2047">
            <a:extLst>
              <a:ext uri="{FF2B5EF4-FFF2-40B4-BE49-F238E27FC236}">
                <a16:creationId xmlns:a16="http://schemas.microsoft.com/office/drawing/2014/main" id="{92A85845-7BC5-880B-A9DE-D09E4BC8BE3E}"/>
              </a:ext>
            </a:extLst>
          </p:cNvPr>
          <p:cNvSpPr txBox="1"/>
          <p:nvPr/>
        </p:nvSpPr>
        <p:spPr>
          <a:xfrm>
            <a:off x="1386699" y="5335497"/>
            <a:ext cx="1039830"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OA(X)</a:t>
            </a:r>
          </a:p>
        </p:txBody>
      </p:sp>
      <p:sp>
        <p:nvSpPr>
          <p:cNvPr id="2051" name="TextBox 2050">
            <a:extLst>
              <a:ext uri="{FF2B5EF4-FFF2-40B4-BE49-F238E27FC236}">
                <a16:creationId xmlns:a16="http://schemas.microsoft.com/office/drawing/2014/main" id="{DA4B9600-2424-94D0-FBD4-EF5BECD032D5}"/>
              </a:ext>
            </a:extLst>
          </p:cNvPr>
          <p:cNvSpPr txBox="1"/>
          <p:nvPr/>
        </p:nvSpPr>
        <p:spPr>
          <a:xfrm>
            <a:off x="1075434" y="5819879"/>
            <a:ext cx="1141658" cy="246221"/>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000" dirty="0">
                <a:solidFill>
                  <a:schemeClr val="tx1"/>
                </a:solidFill>
                <a:latin typeface="+mn-ea"/>
              </a:rPr>
              <a:t>제</a:t>
            </a:r>
            <a:r>
              <a:rPr lang="en-US" altLang="ko-KR" sz="1000" dirty="0">
                <a:solidFill>
                  <a:schemeClr val="tx1"/>
                </a:solidFill>
                <a:latin typeface="+mn-ea"/>
              </a:rPr>
              <a:t>29</a:t>
            </a:r>
            <a:r>
              <a:rPr lang="ko-KR" altLang="en-US" sz="1000" dirty="0">
                <a:solidFill>
                  <a:schemeClr val="tx1"/>
                </a:solidFill>
                <a:latin typeface="+mn-ea"/>
              </a:rPr>
              <a:t>조제</a:t>
            </a:r>
            <a:r>
              <a:rPr lang="en-US" altLang="ko-KR" sz="1000" dirty="0">
                <a:solidFill>
                  <a:schemeClr val="tx1"/>
                </a:solidFill>
                <a:latin typeface="+mn-ea"/>
              </a:rPr>
              <a:t>1</a:t>
            </a:r>
            <a:r>
              <a:rPr lang="ko-KR" altLang="en-US" sz="1000" dirty="0">
                <a:solidFill>
                  <a:schemeClr val="tx1"/>
                </a:solidFill>
                <a:latin typeface="+mn-ea"/>
              </a:rPr>
              <a:t>항 위반</a:t>
            </a:r>
          </a:p>
        </p:txBody>
      </p:sp>
      <p:sp>
        <p:nvSpPr>
          <p:cNvPr id="2054" name="TextBox 2053">
            <a:extLst>
              <a:ext uri="{FF2B5EF4-FFF2-40B4-BE49-F238E27FC236}">
                <a16:creationId xmlns:a16="http://schemas.microsoft.com/office/drawing/2014/main" id="{CED1B5EE-F81F-6D65-AD48-B597BA3CB5F7}"/>
              </a:ext>
            </a:extLst>
          </p:cNvPr>
          <p:cNvSpPr txBox="1"/>
          <p:nvPr/>
        </p:nvSpPr>
        <p:spPr>
          <a:xfrm>
            <a:off x="3662581" y="5335497"/>
            <a:ext cx="1039830"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의견서</a:t>
            </a:r>
            <a:r>
              <a:rPr lang="en-US" altLang="ko-KR" sz="1200" dirty="0">
                <a:solidFill>
                  <a:schemeClr val="tx1"/>
                </a:solidFill>
                <a:latin typeface="+mn-ea"/>
              </a:rPr>
              <a:t>(X)</a:t>
            </a:r>
          </a:p>
        </p:txBody>
      </p:sp>
      <p:sp>
        <p:nvSpPr>
          <p:cNvPr id="2056" name="TextBox 2055">
            <a:extLst>
              <a:ext uri="{FF2B5EF4-FFF2-40B4-BE49-F238E27FC236}">
                <a16:creationId xmlns:a16="http://schemas.microsoft.com/office/drawing/2014/main" id="{2006C8E1-7434-2DB3-DACA-27B20BDB6F46}"/>
              </a:ext>
            </a:extLst>
          </p:cNvPr>
          <p:cNvSpPr txBox="1"/>
          <p:nvPr/>
        </p:nvSpPr>
        <p:spPr>
          <a:xfrm>
            <a:off x="3705468" y="6067529"/>
            <a:ext cx="4712450" cy="707886"/>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ko-KR" altLang="en-US" sz="1000" dirty="0" err="1">
                <a:solidFill>
                  <a:schemeClr val="tx1"/>
                </a:solidFill>
                <a:latin typeface="+mn-ea"/>
              </a:rPr>
              <a:t>원출원</a:t>
            </a:r>
            <a:r>
              <a:rPr lang="ko-KR" altLang="en-US" sz="1000" dirty="0">
                <a:solidFill>
                  <a:schemeClr val="tx1"/>
                </a:solidFill>
                <a:latin typeface="+mn-ea"/>
              </a:rPr>
              <a:t> 제</a:t>
            </a:r>
            <a:r>
              <a:rPr lang="en-US" altLang="ko-KR" sz="1000" dirty="0">
                <a:solidFill>
                  <a:schemeClr val="tx1"/>
                </a:solidFill>
                <a:latin typeface="+mn-ea"/>
              </a:rPr>
              <a:t>1</a:t>
            </a:r>
            <a:r>
              <a:rPr lang="ko-KR" altLang="en-US" sz="1000" dirty="0">
                <a:solidFill>
                  <a:schemeClr val="tx1"/>
                </a:solidFill>
                <a:latin typeface="+mn-ea"/>
              </a:rPr>
              <a:t>항 발명의 세정수단은 그 내부에 세정물질 또는 살균물질을 포함하고 있어</a:t>
            </a:r>
            <a:r>
              <a:rPr lang="en-US" altLang="ko-KR" sz="1000" dirty="0">
                <a:solidFill>
                  <a:schemeClr val="tx1"/>
                </a:solidFill>
                <a:latin typeface="+mn-ea"/>
              </a:rPr>
              <a:t>, </a:t>
            </a:r>
            <a:r>
              <a:rPr lang="ko-KR" altLang="en-US" sz="1000" dirty="0">
                <a:solidFill>
                  <a:schemeClr val="tx1"/>
                </a:solidFill>
                <a:latin typeface="+mn-ea"/>
              </a:rPr>
              <a:t>세정</a:t>
            </a:r>
            <a:r>
              <a:rPr lang="en-US" altLang="ko-KR" sz="1000" dirty="0">
                <a:solidFill>
                  <a:schemeClr val="tx1"/>
                </a:solidFill>
                <a:latin typeface="+mn-ea"/>
              </a:rPr>
              <a:t>․</a:t>
            </a:r>
            <a:r>
              <a:rPr lang="ko-KR" altLang="en-US" sz="1000" dirty="0">
                <a:solidFill>
                  <a:schemeClr val="tx1"/>
                </a:solidFill>
                <a:latin typeface="+mn-ea"/>
              </a:rPr>
              <a:t>살균을 위한 시간이 극히 짧고 별도의 전력이 소모되지 않는다</a:t>
            </a:r>
            <a:r>
              <a:rPr lang="en-US" altLang="ko-KR" sz="1000" dirty="0">
                <a:solidFill>
                  <a:schemeClr val="tx1"/>
                </a:solidFill>
                <a:latin typeface="+mn-ea"/>
              </a:rPr>
              <a:t>. </a:t>
            </a:r>
            <a:r>
              <a:rPr lang="ko-KR" altLang="en-US" sz="1000" dirty="0">
                <a:solidFill>
                  <a:schemeClr val="tx1"/>
                </a:solidFill>
                <a:latin typeface="+mn-ea"/>
              </a:rPr>
              <a:t>반면 비교대상 발명은 살균물질을 미리 포함하지 않아</a:t>
            </a:r>
            <a:r>
              <a:rPr lang="en-US" altLang="ko-KR" sz="1000" dirty="0">
                <a:solidFill>
                  <a:schemeClr val="tx1"/>
                </a:solidFill>
                <a:latin typeface="+mn-ea"/>
              </a:rPr>
              <a:t>, </a:t>
            </a:r>
            <a:r>
              <a:rPr lang="ko-KR" altLang="en-US" sz="1000" dirty="0">
                <a:solidFill>
                  <a:schemeClr val="tx1"/>
                </a:solidFill>
                <a:latin typeface="+mn-ea"/>
              </a:rPr>
              <a:t>세척을 위해서는 전기분해에 의하여 살균물질을 새롭게 생성해야 하는데</a:t>
            </a:r>
            <a:r>
              <a:rPr lang="en-US" altLang="ko-KR" sz="1000" dirty="0">
                <a:solidFill>
                  <a:schemeClr val="tx1"/>
                </a:solidFill>
                <a:latin typeface="+mn-ea"/>
              </a:rPr>
              <a:t>, </a:t>
            </a:r>
            <a:r>
              <a:rPr lang="ko-KR" altLang="en-US" sz="1000" dirty="0">
                <a:solidFill>
                  <a:schemeClr val="tx1"/>
                </a:solidFill>
                <a:latin typeface="+mn-ea"/>
              </a:rPr>
              <a:t>전기분해에 많은 시간이 소요되고 전력도 소모된다</a:t>
            </a:r>
          </a:p>
        </p:txBody>
      </p:sp>
      <p:cxnSp>
        <p:nvCxnSpPr>
          <p:cNvPr id="2062" name="연결선: 꺾임 2061">
            <a:extLst>
              <a:ext uri="{FF2B5EF4-FFF2-40B4-BE49-F238E27FC236}">
                <a16:creationId xmlns:a16="http://schemas.microsoft.com/office/drawing/2014/main" id="{AE68F2F6-762D-7741-9084-D943A5D10D8E}"/>
              </a:ext>
            </a:extLst>
          </p:cNvPr>
          <p:cNvCxnSpPr>
            <a:cxnSpLocks/>
            <a:stCxn id="2056" idx="0"/>
            <a:endCxn id="2054" idx="2"/>
          </p:cNvCxnSpPr>
          <p:nvPr/>
        </p:nvCxnSpPr>
        <p:spPr>
          <a:xfrm rot="16200000" flipV="1">
            <a:off x="4894579" y="4900414"/>
            <a:ext cx="455033" cy="1879197"/>
          </a:xfrm>
          <a:prstGeom prst="bentConnector3">
            <a:avLst/>
          </a:prstGeom>
          <a:ln w="952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65" name="TextBox 2064">
            <a:extLst>
              <a:ext uri="{FF2B5EF4-FFF2-40B4-BE49-F238E27FC236}">
                <a16:creationId xmlns:a16="http://schemas.microsoft.com/office/drawing/2014/main" id="{02984D25-7B3D-B228-6EAE-3406534F6F3A}"/>
              </a:ext>
            </a:extLst>
          </p:cNvPr>
          <p:cNvSpPr txBox="1"/>
          <p:nvPr/>
        </p:nvSpPr>
        <p:spPr>
          <a:xfrm>
            <a:off x="2527166" y="5335497"/>
            <a:ext cx="1039830"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보정서</a:t>
            </a:r>
            <a:r>
              <a:rPr lang="en-US" altLang="ko-KR" sz="1200" dirty="0">
                <a:solidFill>
                  <a:schemeClr val="tx1"/>
                </a:solidFill>
                <a:latin typeface="+mn-ea"/>
              </a:rPr>
              <a:t>(X)</a:t>
            </a:r>
          </a:p>
        </p:txBody>
      </p:sp>
      <p:sp>
        <p:nvSpPr>
          <p:cNvPr id="2067" name="TextBox 2066">
            <a:extLst>
              <a:ext uri="{FF2B5EF4-FFF2-40B4-BE49-F238E27FC236}">
                <a16:creationId xmlns:a16="http://schemas.microsoft.com/office/drawing/2014/main" id="{46C3ACAA-811B-50E9-81BB-045D6CA46333}"/>
              </a:ext>
            </a:extLst>
          </p:cNvPr>
          <p:cNvSpPr txBox="1"/>
          <p:nvPr/>
        </p:nvSpPr>
        <p:spPr>
          <a:xfrm>
            <a:off x="1075434" y="6186204"/>
            <a:ext cx="2571352" cy="553998"/>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fontAlgn="base"/>
            <a:r>
              <a:rPr lang="ko-KR" altLang="en-US" sz="1000" dirty="0"/>
              <a:t>세정물질 또는 살균물질을 내부에 포함하고 있는 필터 또는 세정살균제 </a:t>
            </a:r>
            <a:r>
              <a:rPr lang="ko-KR" altLang="en-US" sz="1000" dirty="0" err="1"/>
              <a:t>도징시스템을</a:t>
            </a:r>
            <a:r>
              <a:rPr lang="ko-KR" altLang="en-US" sz="1000" dirty="0"/>
              <a:t> 포함하여 구성되는 세정수단</a:t>
            </a:r>
          </a:p>
        </p:txBody>
      </p:sp>
      <p:cxnSp>
        <p:nvCxnSpPr>
          <p:cNvPr id="2068" name="연결선: 꺾임 2067">
            <a:extLst>
              <a:ext uri="{FF2B5EF4-FFF2-40B4-BE49-F238E27FC236}">
                <a16:creationId xmlns:a16="http://schemas.microsoft.com/office/drawing/2014/main" id="{E726E422-BFA8-C333-6BDA-00DB6B3DAC88}"/>
              </a:ext>
            </a:extLst>
          </p:cNvPr>
          <p:cNvCxnSpPr>
            <a:cxnSpLocks/>
            <a:stCxn id="105" idx="0"/>
            <a:endCxn id="103" idx="2"/>
          </p:cNvCxnSpPr>
          <p:nvPr/>
        </p:nvCxnSpPr>
        <p:spPr>
          <a:xfrm rot="5400000" flipH="1" flipV="1">
            <a:off x="518401" y="5562200"/>
            <a:ext cx="207383" cy="307977"/>
          </a:xfrm>
          <a:prstGeom prst="bentConnector3">
            <a:avLst>
              <a:gd name="adj1" fmla="val 50000"/>
            </a:avLst>
          </a:prstGeom>
          <a:ln w="952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72" name="TextBox 2071">
            <a:extLst>
              <a:ext uri="{FF2B5EF4-FFF2-40B4-BE49-F238E27FC236}">
                <a16:creationId xmlns:a16="http://schemas.microsoft.com/office/drawing/2014/main" id="{AE296D55-BA07-97FA-B2CB-CD52A86CEE76}"/>
              </a:ext>
            </a:extLst>
          </p:cNvPr>
          <p:cNvSpPr txBox="1"/>
          <p:nvPr/>
        </p:nvSpPr>
        <p:spPr>
          <a:xfrm>
            <a:off x="6162216" y="5335497"/>
            <a:ext cx="1257900" cy="276998"/>
          </a:xfrm>
          <a:prstGeom prst="rect">
            <a:avLst/>
          </a:prstGeom>
          <a:solidFill>
            <a:schemeClr val="accent6">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lIns="0" tIns="0" rIns="0" bIns="0" rtlCol="0" anchor="ctr">
            <a:noAutofit/>
          </a:bodyPr>
          <a:lstStyle/>
          <a:p>
            <a:pPr algn="ctr"/>
            <a:r>
              <a:rPr lang="en-US" altLang="ko-KR" sz="1200" dirty="0">
                <a:solidFill>
                  <a:schemeClr val="tx1"/>
                </a:solidFill>
                <a:latin typeface="+mn-ea"/>
              </a:rPr>
              <a:t>Y</a:t>
            </a:r>
            <a:r>
              <a:rPr lang="ko-KR" altLang="en-US" sz="1200" dirty="0">
                <a:solidFill>
                  <a:schemeClr val="tx1"/>
                </a:solidFill>
                <a:latin typeface="+mn-ea"/>
              </a:rPr>
              <a:t>기초 분할출원</a:t>
            </a:r>
            <a:r>
              <a:rPr lang="en-US" altLang="ko-KR" sz="1200" dirty="0">
                <a:solidFill>
                  <a:schemeClr val="tx1"/>
                </a:solidFill>
                <a:latin typeface="+mn-ea"/>
              </a:rPr>
              <a:t>(Z)</a:t>
            </a:r>
          </a:p>
        </p:txBody>
      </p:sp>
      <p:cxnSp>
        <p:nvCxnSpPr>
          <p:cNvPr id="2076" name="연결선: 꺾임 2075">
            <a:extLst>
              <a:ext uri="{FF2B5EF4-FFF2-40B4-BE49-F238E27FC236}">
                <a16:creationId xmlns:a16="http://schemas.microsoft.com/office/drawing/2014/main" id="{4B48FCD2-8543-08BF-26FF-DCFCE7161F7E}"/>
              </a:ext>
            </a:extLst>
          </p:cNvPr>
          <p:cNvCxnSpPr>
            <a:cxnSpLocks/>
            <a:stCxn id="2051" idx="0"/>
            <a:endCxn id="2048" idx="2"/>
          </p:cNvCxnSpPr>
          <p:nvPr/>
        </p:nvCxnSpPr>
        <p:spPr>
          <a:xfrm rot="5400000" flipH="1" flipV="1">
            <a:off x="1672747" y="5586013"/>
            <a:ext cx="207383" cy="260351"/>
          </a:xfrm>
          <a:prstGeom prst="bentConnector3">
            <a:avLst>
              <a:gd name="adj1" fmla="val 50000"/>
            </a:avLst>
          </a:prstGeom>
          <a:ln w="952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79" name="연결선: 꺾임 2078">
            <a:extLst>
              <a:ext uri="{FF2B5EF4-FFF2-40B4-BE49-F238E27FC236}">
                <a16:creationId xmlns:a16="http://schemas.microsoft.com/office/drawing/2014/main" id="{5E831E84-5A14-CF3B-A7E3-F952A129FE61}"/>
              </a:ext>
            </a:extLst>
          </p:cNvPr>
          <p:cNvCxnSpPr>
            <a:cxnSpLocks/>
            <a:stCxn id="2067" idx="0"/>
            <a:endCxn id="2065" idx="2"/>
          </p:cNvCxnSpPr>
          <p:nvPr/>
        </p:nvCxnSpPr>
        <p:spPr>
          <a:xfrm rot="5400000" flipH="1" flipV="1">
            <a:off x="2417241" y="5556365"/>
            <a:ext cx="573708" cy="685971"/>
          </a:xfrm>
          <a:prstGeom prst="bentConnector3">
            <a:avLst>
              <a:gd name="adj1" fmla="val 50000"/>
            </a:avLst>
          </a:prstGeom>
          <a:ln w="952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82" name="TextBox 2081">
            <a:extLst>
              <a:ext uri="{FF2B5EF4-FFF2-40B4-BE49-F238E27FC236}">
                <a16:creationId xmlns:a16="http://schemas.microsoft.com/office/drawing/2014/main" id="{AC55CF1B-E102-C406-9567-35D88D4EB10F}"/>
              </a:ext>
            </a:extLst>
          </p:cNvPr>
          <p:cNvSpPr txBox="1"/>
          <p:nvPr/>
        </p:nvSpPr>
        <p:spPr>
          <a:xfrm>
            <a:off x="7498390" y="5331609"/>
            <a:ext cx="683485" cy="276998"/>
          </a:xfrm>
          <a:prstGeom prst="rect">
            <a:avLst/>
          </a:prstGeom>
          <a:solidFill>
            <a:schemeClr val="accent6">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lIns="0" tIns="0" rIns="0" bIns="0" rtlCol="0" anchor="ctr">
            <a:noAutofit/>
          </a:bodyPr>
          <a:lstStyle/>
          <a:p>
            <a:pPr algn="ctr"/>
            <a:r>
              <a:rPr lang="ko-KR" altLang="en-US" sz="1200">
                <a:solidFill>
                  <a:schemeClr val="tx1"/>
                </a:solidFill>
                <a:latin typeface="+mn-ea"/>
              </a:rPr>
              <a:t>등록</a:t>
            </a:r>
            <a:r>
              <a:rPr lang="en-US" altLang="ko-KR" sz="1200" dirty="0">
                <a:solidFill>
                  <a:schemeClr val="tx1"/>
                </a:solidFill>
                <a:latin typeface="+mn-ea"/>
              </a:rPr>
              <a:t>(Z)</a:t>
            </a:r>
          </a:p>
        </p:txBody>
      </p:sp>
      <p:cxnSp>
        <p:nvCxnSpPr>
          <p:cNvPr id="2083" name="직선 연결선 2082">
            <a:extLst>
              <a:ext uri="{FF2B5EF4-FFF2-40B4-BE49-F238E27FC236}">
                <a16:creationId xmlns:a16="http://schemas.microsoft.com/office/drawing/2014/main" id="{C5061444-096F-A6A3-D6E5-57F14345C2C3}"/>
              </a:ext>
            </a:extLst>
          </p:cNvPr>
          <p:cNvCxnSpPr>
            <a:cxnSpLocks/>
            <a:stCxn id="2084" idx="0"/>
            <a:endCxn id="88" idx="2"/>
          </p:cNvCxnSpPr>
          <p:nvPr/>
        </p:nvCxnSpPr>
        <p:spPr>
          <a:xfrm flipV="1">
            <a:off x="9169123" y="2226414"/>
            <a:ext cx="5611" cy="23619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84" name="TextBox 2083">
            <a:extLst>
              <a:ext uri="{FF2B5EF4-FFF2-40B4-BE49-F238E27FC236}">
                <a16:creationId xmlns:a16="http://schemas.microsoft.com/office/drawing/2014/main" id="{E3F0C0BC-6A0A-B242-E6F6-200FB2CC0E3D}"/>
              </a:ext>
            </a:extLst>
          </p:cNvPr>
          <p:cNvSpPr txBox="1"/>
          <p:nvPr/>
        </p:nvSpPr>
        <p:spPr>
          <a:xfrm>
            <a:off x="8823515" y="2462606"/>
            <a:ext cx="691216" cy="26161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228600" indent="-228600" algn="ctr">
              <a:buAutoNum type="arabicPeriod"/>
            </a:pPr>
            <a:r>
              <a:rPr lang="en-US" altLang="ko-KR" sz="1100" dirty="0" err="1">
                <a:solidFill>
                  <a:schemeClr val="tx1"/>
                </a:solidFill>
                <a:latin typeface="+mn-ea"/>
              </a:rPr>
              <a:t>C5</a:t>
            </a:r>
            <a:endParaRPr lang="ko-KR" altLang="en-US" sz="1100" dirty="0">
              <a:solidFill>
                <a:schemeClr val="tx1"/>
              </a:solidFill>
              <a:latin typeface="+mn-ea"/>
            </a:endParaRPr>
          </a:p>
        </p:txBody>
      </p:sp>
      <p:sp>
        <p:nvSpPr>
          <p:cNvPr id="2087" name="TextBox 2086">
            <a:extLst>
              <a:ext uri="{FF2B5EF4-FFF2-40B4-BE49-F238E27FC236}">
                <a16:creationId xmlns:a16="http://schemas.microsoft.com/office/drawing/2014/main" id="{F6A405AB-2AC6-0ABF-C2C7-72C99AF13D21}"/>
              </a:ext>
            </a:extLst>
          </p:cNvPr>
          <p:cNvSpPr txBox="1"/>
          <p:nvPr/>
        </p:nvSpPr>
        <p:spPr>
          <a:xfrm>
            <a:off x="8275280" y="5346054"/>
            <a:ext cx="949302" cy="261610"/>
          </a:xfrm>
          <a:prstGeom prst="rect">
            <a:avLst/>
          </a:prstGeom>
          <a:solidFill>
            <a:schemeClr val="tx2">
              <a:lumMod val="7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bg1"/>
                </a:solidFill>
                <a:latin typeface="+mn-ea"/>
              </a:rPr>
              <a:t>제</a:t>
            </a:r>
            <a:r>
              <a:rPr lang="en-US" altLang="ko-KR" sz="1100" dirty="0">
                <a:solidFill>
                  <a:schemeClr val="bg1"/>
                </a:solidFill>
                <a:latin typeface="+mn-ea"/>
              </a:rPr>
              <a:t>3</a:t>
            </a:r>
            <a:r>
              <a:rPr lang="ko-KR" altLang="en-US" sz="1100" dirty="0">
                <a:solidFill>
                  <a:schemeClr val="bg1"/>
                </a:solidFill>
                <a:latin typeface="+mn-ea"/>
              </a:rPr>
              <a:t>자 실시</a:t>
            </a:r>
            <a:endParaRPr lang="en-US" altLang="ko-KR" sz="1100" dirty="0">
              <a:solidFill>
                <a:schemeClr val="bg1"/>
              </a:solidFill>
              <a:latin typeface="+mn-ea"/>
            </a:endParaRPr>
          </a:p>
        </p:txBody>
      </p:sp>
      <p:sp>
        <p:nvSpPr>
          <p:cNvPr id="2089" name="TextBox 2088">
            <a:extLst>
              <a:ext uri="{FF2B5EF4-FFF2-40B4-BE49-F238E27FC236}">
                <a16:creationId xmlns:a16="http://schemas.microsoft.com/office/drawing/2014/main" id="{3529B337-D0BE-C1D4-D96A-F6CA03E6621B}"/>
              </a:ext>
            </a:extLst>
          </p:cNvPr>
          <p:cNvSpPr txBox="1"/>
          <p:nvPr/>
        </p:nvSpPr>
        <p:spPr>
          <a:xfrm>
            <a:off x="8647618" y="5881404"/>
            <a:ext cx="858332" cy="861774"/>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fontAlgn="base"/>
            <a:r>
              <a:rPr lang="ko-KR" altLang="en-US" sz="1000" dirty="0"/>
              <a:t>전기분해 방식으로 살균물질을 생성하여 세정하는 수단 </a:t>
            </a:r>
          </a:p>
        </p:txBody>
      </p:sp>
      <p:cxnSp>
        <p:nvCxnSpPr>
          <p:cNvPr id="2090" name="연결선: 꺾임 2089">
            <a:extLst>
              <a:ext uri="{FF2B5EF4-FFF2-40B4-BE49-F238E27FC236}">
                <a16:creationId xmlns:a16="http://schemas.microsoft.com/office/drawing/2014/main" id="{59A62FCF-2667-9F8F-C986-3C880C020A60}"/>
              </a:ext>
            </a:extLst>
          </p:cNvPr>
          <p:cNvCxnSpPr>
            <a:cxnSpLocks/>
            <a:stCxn id="2089" idx="0"/>
            <a:endCxn id="2087" idx="2"/>
          </p:cNvCxnSpPr>
          <p:nvPr/>
        </p:nvCxnSpPr>
        <p:spPr>
          <a:xfrm rot="16200000" flipV="1">
            <a:off x="8776488" y="5581107"/>
            <a:ext cx="273740" cy="326853"/>
          </a:xfrm>
          <a:prstGeom prst="bentConnector3">
            <a:avLst>
              <a:gd name="adj1" fmla="val 50000"/>
            </a:avLst>
          </a:prstGeom>
          <a:ln w="952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95" name="TextBox 2094">
            <a:extLst>
              <a:ext uri="{FF2B5EF4-FFF2-40B4-BE49-F238E27FC236}">
                <a16:creationId xmlns:a16="http://schemas.microsoft.com/office/drawing/2014/main" id="{9136F4AB-F3D7-B677-F0EE-DCE104512CBB}"/>
              </a:ext>
            </a:extLst>
          </p:cNvPr>
          <p:cNvSpPr txBox="1"/>
          <p:nvPr/>
        </p:nvSpPr>
        <p:spPr>
          <a:xfrm>
            <a:off x="9306485" y="5331609"/>
            <a:ext cx="1576119" cy="276998"/>
          </a:xfrm>
          <a:prstGeom prst="rect">
            <a:avLst/>
          </a:prstGeom>
          <a:solidFill>
            <a:schemeClr val="accent6">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lIns="0" tIns="0" rIns="0" bIns="0" rtlCol="0" anchor="ctr">
            <a:noAutofit/>
          </a:bodyPr>
          <a:lstStyle/>
          <a:p>
            <a:pPr algn="ctr"/>
            <a:r>
              <a:rPr lang="ko-KR" altLang="en-US" sz="1200">
                <a:solidFill>
                  <a:schemeClr val="tx1"/>
                </a:solidFill>
                <a:latin typeface="+mn-ea"/>
              </a:rPr>
              <a:t>소극적권리범위청구</a:t>
            </a:r>
            <a:r>
              <a:rPr lang="en-US" altLang="ko-KR" sz="1200" dirty="0">
                <a:solidFill>
                  <a:schemeClr val="tx1"/>
                </a:solidFill>
                <a:latin typeface="+mn-ea"/>
              </a:rPr>
              <a:t>(Z)</a:t>
            </a:r>
          </a:p>
        </p:txBody>
      </p:sp>
      <p:sp>
        <p:nvSpPr>
          <p:cNvPr id="2103" name="TextBox 2102">
            <a:extLst>
              <a:ext uri="{FF2B5EF4-FFF2-40B4-BE49-F238E27FC236}">
                <a16:creationId xmlns:a16="http://schemas.microsoft.com/office/drawing/2014/main" id="{E8465C5D-6323-955B-2343-F84D2CEF72F4}"/>
              </a:ext>
            </a:extLst>
          </p:cNvPr>
          <p:cNvSpPr txBox="1"/>
          <p:nvPr/>
        </p:nvSpPr>
        <p:spPr>
          <a:xfrm>
            <a:off x="11086524" y="1978224"/>
            <a:ext cx="588876" cy="261610"/>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판단</a:t>
            </a:r>
            <a:r>
              <a:rPr lang="en-US" altLang="ko-KR" sz="1100" dirty="0">
                <a:solidFill>
                  <a:schemeClr val="tx1"/>
                </a:solidFill>
                <a:latin typeface="+mn-ea"/>
              </a:rPr>
              <a:t>(X)</a:t>
            </a:r>
          </a:p>
        </p:txBody>
      </p:sp>
      <p:cxnSp>
        <p:nvCxnSpPr>
          <p:cNvPr id="2105" name="직선 화살표 연결선 2104">
            <a:extLst>
              <a:ext uri="{FF2B5EF4-FFF2-40B4-BE49-F238E27FC236}">
                <a16:creationId xmlns:a16="http://schemas.microsoft.com/office/drawing/2014/main" id="{401F2E5C-8776-3F31-88D8-2A4DA1A2A675}"/>
              </a:ext>
            </a:extLst>
          </p:cNvPr>
          <p:cNvCxnSpPr>
            <a:cxnSpLocks/>
            <a:endCxn id="2103" idx="2"/>
          </p:cNvCxnSpPr>
          <p:nvPr/>
        </p:nvCxnSpPr>
        <p:spPr>
          <a:xfrm flipV="1">
            <a:off x="11380962" y="2239834"/>
            <a:ext cx="0" cy="725626"/>
          </a:xfrm>
          <a:prstGeom prst="straightConnector1">
            <a:avLst/>
          </a:prstGeom>
          <a:ln w="285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111" name="TextBox 2110">
            <a:extLst>
              <a:ext uri="{FF2B5EF4-FFF2-40B4-BE49-F238E27FC236}">
                <a16:creationId xmlns:a16="http://schemas.microsoft.com/office/drawing/2014/main" id="{6930E29A-CD20-BBD8-93BE-8E599B906B7F}"/>
              </a:ext>
            </a:extLst>
          </p:cNvPr>
          <p:cNvSpPr txBox="1"/>
          <p:nvPr/>
        </p:nvSpPr>
        <p:spPr>
          <a:xfrm>
            <a:off x="11086524" y="5348223"/>
            <a:ext cx="588876" cy="261610"/>
          </a:xfrm>
          <a:prstGeom prst="rect">
            <a:avLst/>
          </a:prstGeom>
          <a:solidFill>
            <a:schemeClr val="accent6">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판단</a:t>
            </a:r>
            <a:r>
              <a:rPr lang="en-US" altLang="ko-KR" sz="1100" dirty="0">
                <a:solidFill>
                  <a:schemeClr val="tx1"/>
                </a:solidFill>
                <a:latin typeface="+mn-ea"/>
              </a:rPr>
              <a:t>(Z)</a:t>
            </a:r>
          </a:p>
        </p:txBody>
      </p:sp>
      <p:sp>
        <p:nvSpPr>
          <p:cNvPr id="2115" name="TextBox 2114">
            <a:extLst>
              <a:ext uri="{FF2B5EF4-FFF2-40B4-BE49-F238E27FC236}">
                <a16:creationId xmlns:a16="http://schemas.microsoft.com/office/drawing/2014/main" id="{71BD37EB-A293-B424-CBAD-AAFFA9534DAF}"/>
              </a:ext>
            </a:extLst>
          </p:cNvPr>
          <p:cNvSpPr txBox="1"/>
          <p:nvPr/>
        </p:nvSpPr>
        <p:spPr>
          <a:xfrm>
            <a:off x="9830891" y="5866015"/>
            <a:ext cx="1844509" cy="553998"/>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fontAlgn="base"/>
            <a:r>
              <a:rPr lang="ko-KR" altLang="en-US" sz="1000" dirty="0">
                <a:solidFill>
                  <a:srgbClr val="FF0000"/>
                </a:solidFill>
              </a:rPr>
              <a:t>구성이 동일하지 않고</a:t>
            </a:r>
            <a:r>
              <a:rPr lang="en-US" altLang="ko-KR" sz="1000" dirty="0">
                <a:solidFill>
                  <a:srgbClr val="FF0000"/>
                </a:solidFill>
              </a:rPr>
              <a:t>, </a:t>
            </a:r>
            <a:r>
              <a:rPr lang="ko-KR" altLang="en-US" sz="1000" dirty="0">
                <a:solidFill>
                  <a:srgbClr val="FF0000"/>
                </a:solidFill>
              </a:rPr>
              <a:t>균등하지도 않아서</a:t>
            </a:r>
            <a:r>
              <a:rPr lang="en-US" altLang="ko-KR" sz="1000" dirty="0">
                <a:solidFill>
                  <a:srgbClr val="FF0000"/>
                </a:solidFill>
              </a:rPr>
              <a:t>(</a:t>
            </a:r>
            <a:r>
              <a:rPr lang="ko-KR" altLang="en-US" sz="1000" dirty="0">
                <a:solidFill>
                  <a:srgbClr val="FF0000"/>
                </a:solidFill>
              </a:rPr>
              <a:t>제</a:t>
            </a:r>
            <a:r>
              <a:rPr lang="en-US" altLang="ko-KR" sz="1000" dirty="0">
                <a:solidFill>
                  <a:srgbClr val="FF0000"/>
                </a:solidFill>
              </a:rPr>
              <a:t>1</a:t>
            </a:r>
            <a:r>
              <a:rPr lang="ko-KR" altLang="en-US" sz="1000" dirty="0">
                <a:solidFill>
                  <a:srgbClr val="FF0000"/>
                </a:solidFill>
              </a:rPr>
              <a:t>요건 </a:t>
            </a:r>
            <a:r>
              <a:rPr lang="ko-KR" altLang="en-US" sz="1000" dirty="0" err="1">
                <a:solidFill>
                  <a:srgbClr val="FF0000"/>
                </a:solidFill>
              </a:rPr>
              <a:t>불충족</a:t>
            </a:r>
            <a:r>
              <a:rPr lang="en-US" altLang="ko-KR" sz="1000" dirty="0">
                <a:solidFill>
                  <a:srgbClr val="FF0000"/>
                </a:solidFill>
              </a:rPr>
              <a:t>) </a:t>
            </a:r>
            <a:r>
              <a:rPr lang="ko-KR" altLang="en-US" sz="1000" dirty="0">
                <a:solidFill>
                  <a:srgbClr val="FF0000"/>
                </a:solidFill>
              </a:rPr>
              <a:t>보호범위에 속하지 않는다</a:t>
            </a:r>
            <a:r>
              <a:rPr lang="en-US" altLang="ko-KR" sz="1000" dirty="0">
                <a:solidFill>
                  <a:srgbClr val="FF0000"/>
                </a:solidFill>
              </a:rPr>
              <a:t>.</a:t>
            </a:r>
            <a:endParaRPr lang="ko-KR" altLang="en-US" sz="1000" dirty="0">
              <a:solidFill>
                <a:srgbClr val="FF0000"/>
              </a:solidFill>
            </a:endParaRPr>
          </a:p>
        </p:txBody>
      </p:sp>
      <p:cxnSp>
        <p:nvCxnSpPr>
          <p:cNvPr id="2116" name="연결선: 꺾임 2115">
            <a:extLst>
              <a:ext uri="{FF2B5EF4-FFF2-40B4-BE49-F238E27FC236}">
                <a16:creationId xmlns:a16="http://schemas.microsoft.com/office/drawing/2014/main" id="{0EA1D627-BDCD-71A5-B5B0-E00A90C3E33B}"/>
              </a:ext>
            </a:extLst>
          </p:cNvPr>
          <p:cNvCxnSpPr>
            <a:cxnSpLocks/>
            <a:stCxn id="2115" idx="0"/>
            <a:endCxn id="2111" idx="2"/>
          </p:cNvCxnSpPr>
          <p:nvPr/>
        </p:nvCxnSpPr>
        <p:spPr>
          <a:xfrm rot="5400000" flipH="1" flipV="1">
            <a:off x="10938963" y="5424016"/>
            <a:ext cx="256182" cy="627816"/>
          </a:xfrm>
          <a:prstGeom prst="bentConnector3">
            <a:avLst>
              <a:gd name="adj1" fmla="val 50000"/>
            </a:avLst>
          </a:prstGeom>
          <a:ln w="952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119" name="직사각형 2118">
            <a:extLst>
              <a:ext uri="{FF2B5EF4-FFF2-40B4-BE49-F238E27FC236}">
                <a16:creationId xmlns:a16="http://schemas.microsoft.com/office/drawing/2014/main" id="{77027055-9FC8-D483-723F-7C7258A1A76C}"/>
              </a:ext>
            </a:extLst>
          </p:cNvPr>
          <p:cNvSpPr/>
          <p:nvPr/>
        </p:nvSpPr>
        <p:spPr>
          <a:xfrm>
            <a:off x="5869035" y="953065"/>
            <a:ext cx="1662342" cy="325575"/>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dirty="0" err="1">
                <a:solidFill>
                  <a:srgbClr val="FF0000"/>
                </a:solidFill>
              </a:rPr>
              <a:t>원출원</a:t>
            </a:r>
            <a:r>
              <a:rPr lang="ko-KR" altLang="en-US" dirty="0">
                <a:solidFill>
                  <a:srgbClr val="FF0000"/>
                </a:solidFill>
              </a:rPr>
              <a:t> </a:t>
            </a:r>
            <a:r>
              <a:rPr lang="en-US" altLang="ko-KR" dirty="0">
                <a:solidFill>
                  <a:srgbClr val="FF0000"/>
                </a:solidFill>
              </a:rPr>
              <a:t>CASE</a:t>
            </a:r>
            <a:endParaRPr lang="ko-KR" altLang="en-US" dirty="0">
              <a:solidFill>
                <a:srgbClr val="FF0000"/>
              </a:solidFill>
            </a:endParaRPr>
          </a:p>
        </p:txBody>
      </p:sp>
      <p:sp>
        <p:nvSpPr>
          <p:cNvPr id="2120" name="직사각형 2119">
            <a:extLst>
              <a:ext uri="{FF2B5EF4-FFF2-40B4-BE49-F238E27FC236}">
                <a16:creationId xmlns:a16="http://schemas.microsoft.com/office/drawing/2014/main" id="{D3225B66-36F4-B2BD-1760-D8CFB439CEDC}"/>
              </a:ext>
            </a:extLst>
          </p:cNvPr>
          <p:cNvSpPr/>
          <p:nvPr/>
        </p:nvSpPr>
        <p:spPr>
          <a:xfrm>
            <a:off x="5869035" y="3818741"/>
            <a:ext cx="1662342" cy="325575"/>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dirty="0">
                <a:solidFill>
                  <a:srgbClr val="FF0000"/>
                </a:solidFill>
              </a:rPr>
              <a:t>분할출원 </a:t>
            </a:r>
            <a:r>
              <a:rPr lang="en-US" altLang="ko-KR" dirty="0">
                <a:solidFill>
                  <a:srgbClr val="FF0000"/>
                </a:solidFill>
              </a:rPr>
              <a:t>CASE</a:t>
            </a:r>
            <a:endParaRPr lang="ko-KR" altLang="en-US" dirty="0">
              <a:solidFill>
                <a:srgbClr val="FF0000"/>
              </a:solidFill>
            </a:endParaRPr>
          </a:p>
        </p:txBody>
      </p:sp>
      <p:sp>
        <p:nvSpPr>
          <p:cNvPr id="2121" name="TextBox 2120">
            <a:extLst>
              <a:ext uri="{FF2B5EF4-FFF2-40B4-BE49-F238E27FC236}">
                <a16:creationId xmlns:a16="http://schemas.microsoft.com/office/drawing/2014/main" id="{E1283DB6-A432-C575-9C70-C29B76965AA6}"/>
              </a:ext>
            </a:extLst>
          </p:cNvPr>
          <p:cNvSpPr txBox="1"/>
          <p:nvPr/>
        </p:nvSpPr>
        <p:spPr>
          <a:xfrm>
            <a:off x="6151841" y="5781779"/>
            <a:ext cx="646331" cy="246221"/>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rgbClr val="FF0000"/>
                </a:solidFill>
                <a:latin typeface="+mn-ea"/>
              </a:rPr>
              <a:t>세정수단</a:t>
            </a:r>
          </a:p>
        </p:txBody>
      </p:sp>
      <p:cxnSp>
        <p:nvCxnSpPr>
          <p:cNvPr id="2122" name="연결선: 꺾임 2121">
            <a:extLst>
              <a:ext uri="{FF2B5EF4-FFF2-40B4-BE49-F238E27FC236}">
                <a16:creationId xmlns:a16="http://schemas.microsoft.com/office/drawing/2014/main" id="{28DE6DB9-04D5-7C02-84C3-C226B6A9B3BD}"/>
              </a:ext>
            </a:extLst>
          </p:cNvPr>
          <p:cNvCxnSpPr>
            <a:cxnSpLocks/>
            <a:stCxn id="2121" idx="0"/>
            <a:endCxn id="2072" idx="2"/>
          </p:cNvCxnSpPr>
          <p:nvPr/>
        </p:nvCxnSpPr>
        <p:spPr>
          <a:xfrm rot="5400000" flipH="1" flipV="1">
            <a:off x="6548444" y="5539058"/>
            <a:ext cx="169284" cy="316159"/>
          </a:xfrm>
          <a:prstGeom prst="bentConnector3">
            <a:avLst>
              <a:gd name="adj1" fmla="val 50000"/>
            </a:avLst>
          </a:prstGeom>
          <a:ln w="952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6214489"/>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3" name="텍스트 개체 틀 2"/>
          <p:cNvSpPr>
            <a:spLocks noGrp="1"/>
          </p:cNvSpPr>
          <p:nvPr>
            <p:ph type="body" sz="quarter" idx="13"/>
          </p:nvPr>
        </p:nvSpPr>
        <p:spPr/>
        <p:txBody>
          <a:bodyPr/>
          <a:lstStyle/>
          <a:p>
            <a:r>
              <a:rPr lang="ko-KR" altLang="en-US" dirty="0"/>
              <a:t>무엇이 구성요소</a:t>
            </a:r>
            <a:r>
              <a:rPr lang="en-US" altLang="ko-KR" dirty="0"/>
              <a:t>(element)</a:t>
            </a:r>
            <a:r>
              <a:rPr lang="ko-KR" altLang="en-US" dirty="0"/>
              <a:t>인가</a:t>
            </a:r>
            <a:r>
              <a:rPr lang="en-US" altLang="ko-KR" dirty="0"/>
              <a:t>?</a:t>
            </a:r>
            <a:endParaRPr lang="ko-KR" altLang="en-US" dirty="0"/>
          </a:p>
        </p:txBody>
      </p:sp>
      <p:sp>
        <p:nvSpPr>
          <p:cNvPr id="4" name="슬라이드 번호 개체 틀 3"/>
          <p:cNvSpPr>
            <a:spLocks noGrp="1"/>
          </p:cNvSpPr>
          <p:nvPr>
            <p:ph type="sldNum" sz="quarter" idx="4294967295"/>
          </p:nvPr>
        </p:nvSpPr>
        <p:spPr>
          <a:xfrm>
            <a:off x="11125200" y="0"/>
            <a:ext cx="1066800" cy="744538"/>
          </a:xfrm>
        </p:spPr>
        <p:txBody>
          <a:bodyPr/>
          <a:lstStyle/>
          <a:p>
            <a:r>
              <a:rPr lang="en-US" altLang="ko-KR"/>
              <a:t>347</a:t>
            </a:r>
            <a:endParaRPr lang="ko-KR" altLang="en-US"/>
          </a:p>
        </p:txBody>
      </p:sp>
      <p:sp>
        <p:nvSpPr>
          <p:cNvPr id="12" name="TextBox 11"/>
          <p:cNvSpPr txBox="1"/>
          <p:nvPr/>
        </p:nvSpPr>
        <p:spPr>
          <a:xfrm>
            <a:off x="77875" y="986046"/>
            <a:ext cx="11936323" cy="954107"/>
          </a:xfrm>
          <a:prstGeom prst="rect">
            <a:avLst/>
          </a:prstGeom>
          <a:noFill/>
        </p:spPr>
        <p:txBody>
          <a:bodyPr wrap="square" rtlCol="0">
            <a:spAutoFit/>
          </a:bodyPr>
          <a:lstStyle/>
          <a:p>
            <a:pPr>
              <a:spcBef>
                <a:spcPct val="50000"/>
              </a:spcBef>
            </a:pPr>
            <a:r>
              <a:rPr lang="ko-KR" altLang="en-US" sz="1400" dirty="0">
                <a:latin typeface="+mn-ea"/>
              </a:rPr>
              <a:t>청구항의 구성요소</a:t>
            </a:r>
            <a:r>
              <a:rPr lang="en-US" altLang="ko-KR" sz="1400" dirty="0">
                <a:latin typeface="+mn-ea"/>
              </a:rPr>
              <a:t>(elements of claim)</a:t>
            </a:r>
            <a:r>
              <a:rPr lang="ko-KR" altLang="en-US" sz="1400" dirty="0">
                <a:latin typeface="+mn-ea"/>
              </a:rPr>
              <a:t>는 </a:t>
            </a:r>
            <a:r>
              <a:rPr lang="ko-KR" altLang="en-US" sz="1400" dirty="0" err="1">
                <a:latin typeface="+mn-ea"/>
              </a:rPr>
              <a:t>청구항을</a:t>
            </a:r>
            <a:r>
              <a:rPr lang="ko-KR" altLang="en-US" sz="1400" dirty="0">
                <a:latin typeface="+mn-ea"/>
              </a:rPr>
              <a:t> 복수개의 구성요소</a:t>
            </a:r>
            <a:r>
              <a:rPr lang="en-US" altLang="ko-KR" sz="1400" dirty="0">
                <a:latin typeface="+mn-ea"/>
              </a:rPr>
              <a:t>(element)</a:t>
            </a:r>
            <a:r>
              <a:rPr lang="ko-KR" altLang="en-US" sz="1400" dirty="0">
                <a:latin typeface="+mn-ea"/>
              </a:rPr>
              <a:t>로 나누어 </a:t>
            </a:r>
            <a:r>
              <a:rPr lang="ko-KR" altLang="en-US" sz="1400" dirty="0" err="1">
                <a:latin typeface="+mn-ea"/>
              </a:rPr>
              <a:t>청구항을</a:t>
            </a:r>
            <a:r>
              <a:rPr lang="ko-KR" altLang="en-US" sz="1400" dirty="0">
                <a:latin typeface="+mn-ea"/>
              </a:rPr>
              <a:t> 해석하기 위한 기술적 용어</a:t>
            </a:r>
            <a:r>
              <a:rPr lang="en-US" altLang="ko-KR" sz="1400" dirty="0">
                <a:latin typeface="+mn-ea"/>
              </a:rPr>
              <a:t>(technical term)</a:t>
            </a:r>
            <a:r>
              <a:rPr lang="ko-KR" altLang="en-US" sz="1400" dirty="0">
                <a:latin typeface="+mn-ea"/>
              </a:rPr>
              <a:t>이다</a:t>
            </a:r>
            <a:r>
              <a:rPr lang="en-US" altLang="ko-KR" sz="1400" dirty="0">
                <a:latin typeface="+mn-ea"/>
              </a:rPr>
              <a:t>. </a:t>
            </a:r>
            <a:r>
              <a:rPr lang="ko-KR" altLang="en-US" sz="1400" dirty="0">
                <a:latin typeface="+mn-ea"/>
              </a:rPr>
              <a:t>이 때 구성요소 단위를 작게 보는 경우 구성요소의 생략이지만 구성요소 단위를 크게 보는 경우 구성요소의 생략이 아닌 치환으로 평가할 수 있는 경우도 있기 때문에 어느 정도 기능을 수행하는 단위를 구성요소로 볼 것인지는 중요한 문제이다</a:t>
            </a:r>
            <a:r>
              <a:rPr lang="en-US" altLang="ko-KR" sz="1400" dirty="0">
                <a:latin typeface="+mn-ea"/>
              </a:rPr>
              <a:t>. </a:t>
            </a:r>
            <a:r>
              <a:rPr lang="ko-KR" altLang="en-US" sz="1400" dirty="0">
                <a:latin typeface="+mn-ea"/>
              </a:rPr>
              <a:t>보통 </a:t>
            </a:r>
            <a:r>
              <a:rPr lang="ko-KR" altLang="en-US" sz="1400" dirty="0">
                <a:solidFill>
                  <a:schemeClr val="accent3">
                    <a:lumMod val="50000"/>
                  </a:schemeClr>
                </a:solidFill>
                <a:highlight>
                  <a:srgbClr val="FFFF00"/>
                </a:highlight>
                <a:latin typeface="+mn-ea"/>
              </a:rPr>
              <a:t>실무적으로는 청구항의 문구를 임의적으로 한 단위씩 끊어 하나의 구성요소로 보고 있으나 각 구성요소의 단위는 발명 전체의 작용효과에 기여하기 위해 독자적인 기능을 보유할 정도는 되어야 할 것이다</a:t>
            </a:r>
            <a:r>
              <a:rPr lang="en-US" altLang="ko-KR" sz="1400" dirty="0">
                <a:solidFill>
                  <a:schemeClr val="accent3">
                    <a:lumMod val="50000"/>
                  </a:schemeClr>
                </a:solidFill>
                <a:highlight>
                  <a:srgbClr val="FFFF00"/>
                </a:highlight>
                <a:latin typeface="+mn-ea"/>
              </a:rPr>
              <a:t>.</a:t>
            </a:r>
            <a:endParaRPr lang="ko-KR" altLang="en-US" sz="1400" dirty="0">
              <a:solidFill>
                <a:schemeClr val="accent3">
                  <a:lumMod val="50000"/>
                </a:schemeClr>
              </a:solidFill>
              <a:highlight>
                <a:srgbClr val="FFFF00"/>
              </a:highlight>
              <a:latin typeface="+mn-ea"/>
            </a:endParaRPr>
          </a:p>
        </p:txBody>
      </p:sp>
      <p:cxnSp>
        <p:nvCxnSpPr>
          <p:cNvPr id="13" name="직선 연결선 12"/>
          <p:cNvCxnSpPr/>
          <p:nvPr/>
        </p:nvCxnSpPr>
        <p:spPr>
          <a:xfrm>
            <a:off x="0" y="194015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내용 개체 틀 2"/>
          <p:cNvSpPr txBox="1">
            <a:spLocks/>
          </p:cNvSpPr>
          <p:nvPr/>
        </p:nvSpPr>
        <p:spPr>
          <a:xfrm>
            <a:off x="285751" y="2564905"/>
            <a:ext cx="3443816" cy="3643313"/>
          </a:xfrm>
          <a:prstGeom prst="rect">
            <a:avLst/>
          </a:prstGeom>
          <a:solidFill>
            <a:schemeClr val="bg1"/>
          </a:solidFill>
          <a:ln>
            <a:solidFill>
              <a:schemeClr val="bg1">
                <a:lumMod val="50000"/>
              </a:schemeClr>
            </a:solidFill>
          </a:ln>
        </p:spPr>
        <p:txBody>
          <a:bodyPr/>
          <a:lstStyle>
            <a:lvl1pPr marL="228600" indent="-228600" algn="l" defTabSz="914400" rtl="0" eaLnBrk="1" latinLnBrk="1"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1"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1"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1"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defRPr/>
            </a:pPr>
            <a:endParaRPr lang="en-US" altLang="ko-KR" sz="1400" dirty="0">
              <a:latin typeface="+mn-ea"/>
            </a:endParaRPr>
          </a:p>
          <a:p>
            <a:pPr>
              <a:defRPr/>
            </a:pPr>
            <a:r>
              <a:rPr lang="ko-KR" altLang="en-US" sz="1400" dirty="0" err="1">
                <a:latin typeface="+mn-ea"/>
              </a:rPr>
              <a:t>청구항</a:t>
            </a:r>
            <a:endParaRPr lang="en-US" altLang="ko-KR" sz="1400" dirty="0">
              <a:latin typeface="+mn-ea"/>
            </a:endParaRPr>
          </a:p>
          <a:p>
            <a:pPr lvl="1">
              <a:defRPr/>
            </a:pPr>
            <a:r>
              <a:rPr lang="en-US" altLang="ko-KR" sz="1200" dirty="0">
                <a:latin typeface="+mn-ea"/>
              </a:rPr>
              <a:t>a, b, c</a:t>
            </a:r>
            <a:r>
              <a:rPr lang="ko-KR" altLang="en-US" sz="1200" dirty="0">
                <a:latin typeface="+mn-ea"/>
              </a:rPr>
              <a:t>로 된 </a:t>
            </a:r>
            <a:r>
              <a:rPr lang="en-US" altLang="ko-KR" sz="1200" dirty="0">
                <a:latin typeface="+mn-ea"/>
              </a:rPr>
              <a:t>X</a:t>
            </a:r>
          </a:p>
          <a:p>
            <a:pPr lvl="1">
              <a:defRPr/>
            </a:pPr>
            <a:r>
              <a:rPr lang="en-US" altLang="ko-KR" sz="1200" dirty="0">
                <a:latin typeface="+mn-ea"/>
              </a:rPr>
              <a:t>d, e, f</a:t>
            </a:r>
            <a:r>
              <a:rPr lang="ko-KR" altLang="en-US" sz="1200" dirty="0">
                <a:latin typeface="+mn-ea"/>
              </a:rPr>
              <a:t>로 된 </a:t>
            </a:r>
            <a:r>
              <a:rPr lang="en-US" altLang="ko-KR" sz="1200" dirty="0">
                <a:latin typeface="+mn-ea"/>
              </a:rPr>
              <a:t>Y</a:t>
            </a:r>
          </a:p>
          <a:p>
            <a:pPr lvl="1">
              <a:buFontTx/>
              <a:buNone/>
              <a:defRPr/>
            </a:pPr>
            <a:r>
              <a:rPr lang="ko-KR" altLang="en-US" sz="1200" dirty="0" err="1">
                <a:latin typeface="+mn-ea"/>
              </a:rPr>
              <a:t>를</a:t>
            </a:r>
            <a:r>
              <a:rPr lang="ko-KR" altLang="en-US" sz="1200" dirty="0">
                <a:latin typeface="+mn-ea"/>
              </a:rPr>
              <a:t> 포함하는 것</a:t>
            </a:r>
            <a:endParaRPr lang="en-US" altLang="ko-KR" sz="1200" dirty="0">
              <a:latin typeface="+mn-ea"/>
            </a:endParaRPr>
          </a:p>
          <a:p>
            <a:pPr lvl="1">
              <a:buFontTx/>
              <a:buNone/>
              <a:defRPr/>
            </a:pPr>
            <a:r>
              <a:rPr lang="ko-KR" altLang="en-US" sz="1200" dirty="0">
                <a:latin typeface="+mn-ea"/>
              </a:rPr>
              <a:t>을 특징으로 하는 자전거</a:t>
            </a:r>
            <a:endParaRPr lang="en-US" altLang="ko-KR" sz="1200" dirty="0">
              <a:latin typeface="+mn-ea"/>
            </a:endParaRPr>
          </a:p>
          <a:p>
            <a:pPr lvl="1">
              <a:buFontTx/>
              <a:buNone/>
              <a:defRPr/>
            </a:pPr>
            <a:endParaRPr lang="en-US" altLang="ko-KR" sz="1200" dirty="0">
              <a:latin typeface="+mn-ea"/>
            </a:endParaRPr>
          </a:p>
          <a:p>
            <a:pPr lvl="1">
              <a:buFontTx/>
              <a:buNone/>
              <a:defRPr/>
            </a:pPr>
            <a:endParaRPr lang="en-US" altLang="ko-KR" sz="1200" dirty="0">
              <a:latin typeface="+mn-ea"/>
            </a:endParaRPr>
          </a:p>
          <a:p>
            <a:pPr lvl="1">
              <a:buFontTx/>
              <a:buNone/>
              <a:defRPr/>
            </a:pPr>
            <a:endParaRPr lang="en-US" altLang="ko-KR" sz="1200" dirty="0">
              <a:latin typeface="+mn-ea"/>
            </a:endParaRPr>
          </a:p>
          <a:p>
            <a:pPr>
              <a:defRPr/>
            </a:pPr>
            <a:r>
              <a:rPr lang="ko-KR" altLang="en-US" sz="1400" dirty="0">
                <a:latin typeface="+mn-ea"/>
              </a:rPr>
              <a:t>제</a:t>
            </a:r>
            <a:r>
              <a:rPr lang="en-US" altLang="ko-KR" sz="1400" dirty="0">
                <a:latin typeface="+mn-ea"/>
              </a:rPr>
              <a:t>3</a:t>
            </a:r>
            <a:r>
              <a:rPr lang="ko-KR" altLang="en-US" sz="1400" dirty="0">
                <a:latin typeface="+mn-ea"/>
              </a:rPr>
              <a:t>자의 실시발명</a:t>
            </a:r>
            <a:endParaRPr lang="en-US" altLang="ko-KR" sz="1400" dirty="0">
              <a:latin typeface="+mn-ea"/>
            </a:endParaRPr>
          </a:p>
          <a:p>
            <a:pPr lvl="1">
              <a:defRPr/>
            </a:pPr>
            <a:r>
              <a:rPr lang="en-US" altLang="ko-KR" sz="1200" dirty="0">
                <a:latin typeface="+mn-ea"/>
              </a:rPr>
              <a:t>a, b, c</a:t>
            </a:r>
            <a:r>
              <a:rPr lang="ko-KR" altLang="en-US" sz="1200" dirty="0">
                <a:latin typeface="+mn-ea"/>
              </a:rPr>
              <a:t>로 된 </a:t>
            </a:r>
            <a:r>
              <a:rPr lang="en-US" altLang="ko-KR" sz="1200" dirty="0">
                <a:latin typeface="+mn-ea"/>
              </a:rPr>
              <a:t>X</a:t>
            </a:r>
          </a:p>
          <a:p>
            <a:pPr lvl="1">
              <a:defRPr/>
            </a:pPr>
            <a:r>
              <a:rPr lang="en-US" altLang="ko-KR" sz="1200" dirty="0">
                <a:latin typeface="+mn-ea"/>
              </a:rPr>
              <a:t>d, e</a:t>
            </a:r>
            <a:r>
              <a:rPr lang="ko-KR" altLang="en-US" sz="1200" dirty="0">
                <a:latin typeface="+mn-ea"/>
              </a:rPr>
              <a:t>로 된 </a:t>
            </a:r>
            <a:r>
              <a:rPr lang="en-US" altLang="ko-KR" sz="1200" dirty="0">
                <a:latin typeface="+mn-ea"/>
              </a:rPr>
              <a:t>Y</a:t>
            </a:r>
          </a:p>
          <a:p>
            <a:pPr lvl="1">
              <a:buFontTx/>
              <a:buNone/>
              <a:defRPr/>
            </a:pPr>
            <a:r>
              <a:rPr lang="ko-KR" altLang="en-US" sz="1200" dirty="0" err="1">
                <a:latin typeface="+mn-ea"/>
              </a:rPr>
              <a:t>를</a:t>
            </a:r>
            <a:r>
              <a:rPr lang="ko-KR" altLang="en-US" sz="1200" dirty="0">
                <a:latin typeface="+mn-ea"/>
              </a:rPr>
              <a:t> 포함하는 것</a:t>
            </a:r>
            <a:endParaRPr lang="en-US" altLang="ko-KR" sz="1200" dirty="0">
              <a:latin typeface="+mn-ea"/>
            </a:endParaRPr>
          </a:p>
          <a:p>
            <a:pPr lvl="1">
              <a:buFontTx/>
              <a:buNone/>
              <a:defRPr/>
            </a:pPr>
            <a:r>
              <a:rPr lang="ko-KR" altLang="en-US" sz="1200" dirty="0">
                <a:latin typeface="+mn-ea"/>
              </a:rPr>
              <a:t>을 특징으로 하는 자전거</a:t>
            </a:r>
            <a:endParaRPr lang="en-US" altLang="ko-KR" sz="1200" dirty="0">
              <a:latin typeface="+mn-ea"/>
            </a:endParaRPr>
          </a:p>
        </p:txBody>
      </p:sp>
      <p:graphicFrame>
        <p:nvGraphicFramePr>
          <p:cNvPr id="17" name="표 16"/>
          <p:cNvGraphicFramePr>
            <a:graphicFrameLocks noGrp="1"/>
          </p:cNvGraphicFramePr>
          <p:nvPr/>
        </p:nvGraphicFramePr>
        <p:xfrm>
          <a:off x="4095751" y="2924944"/>
          <a:ext cx="3810000" cy="3283273"/>
        </p:xfrm>
        <a:graphic>
          <a:graphicData uri="http://schemas.openxmlformats.org/drawingml/2006/table">
            <a:tbl>
              <a:tblPr>
                <a:tableStyleId>{8799B23B-EC83-4686-B30A-512413B5E67A}</a:tableStyleId>
              </a:tblPr>
              <a:tblGrid>
                <a:gridCol w="1143000">
                  <a:extLst>
                    <a:ext uri="{9D8B030D-6E8A-4147-A177-3AD203B41FA5}">
                      <a16:colId xmlns:a16="http://schemas.microsoft.com/office/drawing/2014/main" val="20000"/>
                    </a:ext>
                  </a:extLst>
                </a:gridCol>
                <a:gridCol w="1333499">
                  <a:extLst>
                    <a:ext uri="{9D8B030D-6E8A-4147-A177-3AD203B41FA5}">
                      <a16:colId xmlns:a16="http://schemas.microsoft.com/office/drawing/2014/main" val="20001"/>
                    </a:ext>
                  </a:extLst>
                </a:gridCol>
                <a:gridCol w="1333501">
                  <a:extLst>
                    <a:ext uri="{9D8B030D-6E8A-4147-A177-3AD203B41FA5}">
                      <a16:colId xmlns:a16="http://schemas.microsoft.com/office/drawing/2014/main" val="20002"/>
                    </a:ext>
                  </a:extLst>
                </a:gridCol>
              </a:tblGrid>
              <a:tr h="1063884">
                <a:tc>
                  <a:txBody>
                    <a:bodyPr/>
                    <a:lstStyle/>
                    <a:p>
                      <a:pPr marL="0" marR="0" algn="ctr">
                        <a:lnSpc>
                          <a:spcPct val="100000"/>
                        </a:lnSpc>
                        <a:spcBef>
                          <a:spcPts val="0"/>
                        </a:spcBef>
                        <a:spcAft>
                          <a:spcPts val="0"/>
                        </a:spcAft>
                      </a:pPr>
                      <a:r>
                        <a:rPr lang="ko-KR" altLang="en-US" sz="1400" dirty="0"/>
                        <a:t>특허발명</a:t>
                      </a:r>
                      <a:endParaRPr lang="en-US" altLang="ko-KR" sz="1400" dirty="0"/>
                    </a:p>
                    <a:p>
                      <a:pPr marL="0" marR="0" algn="ctr">
                        <a:lnSpc>
                          <a:spcPct val="100000"/>
                        </a:lnSpc>
                        <a:spcBef>
                          <a:spcPts val="0"/>
                        </a:spcBef>
                        <a:spcAft>
                          <a:spcPts val="0"/>
                        </a:spcAft>
                      </a:pPr>
                      <a:r>
                        <a:rPr lang="ko-KR" altLang="en-US" sz="1400" dirty="0"/>
                        <a:t>구성요소</a:t>
                      </a:r>
                      <a:endParaRPr lang="ko-KR" altLang="en-US" sz="1400" dirty="0">
                        <a:solidFill>
                          <a:srgbClr val="000000"/>
                        </a:solidFill>
                        <a:latin typeface="+mn-ea"/>
                        <a:ea typeface="+mn-ea"/>
                      </a:endParaRPr>
                    </a:p>
                  </a:txBody>
                  <a:tcPr marL="95999" marR="95999" marT="3813" marB="3813" anchor="ctr">
                    <a:solidFill>
                      <a:schemeClr val="accent1">
                        <a:lumMod val="20000"/>
                        <a:lumOff val="80000"/>
                      </a:schemeClr>
                    </a:solidFill>
                  </a:tcPr>
                </a:tc>
                <a:tc>
                  <a:txBody>
                    <a:bodyPr/>
                    <a:lstStyle/>
                    <a:p>
                      <a:pPr marL="0" marR="0" algn="ctr">
                        <a:lnSpc>
                          <a:spcPct val="100000"/>
                        </a:lnSpc>
                        <a:spcBef>
                          <a:spcPts val="0"/>
                        </a:spcBef>
                        <a:spcAft>
                          <a:spcPts val="0"/>
                        </a:spcAft>
                      </a:pPr>
                      <a:r>
                        <a:rPr lang="ko-KR" altLang="en-US" sz="1400" dirty="0"/>
                        <a:t>확인대상발명</a:t>
                      </a:r>
                      <a:endParaRPr lang="ko-KR" altLang="en-US" sz="1400" dirty="0">
                        <a:solidFill>
                          <a:srgbClr val="000000"/>
                        </a:solidFill>
                        <a:latin typeface="+mn-ea"/>
                        <a:ea typeface="+mn-ea"/>
                      </a:endParaRPr>
                    </a:p>
                  </a:txBody>
                  <a:tcPr marL="95999" marR="95999" marT="3813" marB="3813" anchor="ctr">
                    <a:solidFill>
                      <a:schemeClr val="accent1">
                        <a:lumMod val="20000"/>
                        <a:lumOff val="80000"/>
                      </a:schemeClr>
                    </a:solidFill>
                  </a:tcPr>
                </a:tc>
                <a:tc>
                  <a:txBody>
                    <a:bodyPr/>
                    <a:lstStyle/>
                    <a:p>
                      <a:pPr algn="ctr" latinLnBrk="1"/>
                      <a:r>
                        <a:rPr lang="ko-KR" altLang="en-US" sz="1400" dirty="0"/>
                        <a:t>판단</a:t>
                      </a:r>
                      <a:r>
                        <a:rPr lang="en-US" altLang="ko-KR" sz="1400" dirty="0"/>
                        <a:t>(○/×/△) </a:t>
                      </a:r>
                      <a:endParaRPr lang="ko-KR" altLang="en-US" sz="1400" b="1" dirty="0"/>
                    </a:p>
                  </a:txBody>
                  <a:tcPr marL="95999" marR="95999" marT="3813" marB="3813" anchor="ctr">
                    <a:solidFill>
                      <a:schemeClr val="accent1">
                        <a:lumMod val="20000"/>
                        <a:lumOff val="80000"/>
                      </a:schemeClr>
                    </a:solidFill>
                  </a:tcPr>
                </a:tc>
                <a:extLst>
                  <a:ext uri="{0D108BD9-81ED-4DB2-BD59-A6C34878D82A}">
                    <a16:rowId xmlns:a16="http://schemas.microsoft.com/office/drawing/2014/main" val="10000"/>
                  </a:ext>
                </a:extLst>
              </a:tr>
              <a:tr h="544926">
                <a:tc>
                  <a:txBody>
                    <a:bodyPr/>
                    <a:lstStyle/>
                    <a:p>
                      <a:pPr latinLnBrk="1">
                        <a:lnSpc>
                          <a:spcPct val="100000"/>
                        </a:lnSpc>
                      </a:pPr>
                      <a:r>
                        <a:rPr lang="en-US" altLang="ko-KR" sz="1400" dirty="0"/>
                        <a:t>abc</a:t>
                      </a:r>
                      <a:r>
                        <a:rPr lang="ko-KR" altLang="en-US" sz="1400" dirty="0"/>
                        <a:t>로 된 </a:t>
                      </a:r>
                      <a:r>
                        <a:rPr lang="en-US" altLang="ko-KR" sz="1400" dirty="0"/>
                        <a:t>X</a:t>
                      </a:r>
                      <a:endParaRPr lang="en-US" altLang="ko-KR" sz="1400" dirty="0">
                        <a:latin typeface="+mn-ea"/>
                        <a:ea typeface="+mn-ea"/>
                      </a:endParaRPr>
                    </a:p>
                  </a:txBody>
                  <a:tcPr marL="95999" marR="95999" marT="3813" marB="3813" anchor="ctr"/>
                </a:tc>
                <a:tc>
                  <a:txBody>
                    <a:bodyPr/>
                    <a:lstStyle/>
                    <a:p>
                      <a:pPr marL="0" marR="0" algn="just">
                        <a:lnSpc>
                          <a:spcPct val="100000"/>
                        </a:lnSpc>
                        <a:spcBef>
                          <a:spcPts val="0"/>
                        </a:spcBef>
                        <a:spcAft>
                          <a:spcPts val="0"/>
                        </a:spcAft>
                      </a:pPr>
                      <a:r>
                        <a:rPr lang="en-US" altLang="ko-KR" sz="1400" dirty="0"/>
                        <a:t>abc</a:t>
                      </a:r>
                      <a:r>
                        <a:rPr lang="ko-KR" altLang="en-US" sz="1400" dirty="0"/>
                        <a:t>로 된 </a:t>
                      </a:r>
                      <a:r>
                        <a:rPr lang="en-US" altLang="ko-KR" sz="1400" dirty="0"/>
                        <a:t>X</a:t>
                      </a:r>
                      <a:endParaRPr lang="ko-KR" altLang="en-US" sz="1400" dirty="0">
                        <a:solidFill>
                          <a:srgbClr val="000000"/>
                        </a:solidFill>
                        <a:latin typeface="+mn-ea"/>
                        <a:ea typeface="+mn-ea"/>
                      </a:endParaRPr>
                    </a:p>
                  </a:txBody>
                  <a:tcPr marL="95999" marR="95999" marT="3813" marB="3813" anchor="ctr"/>
                </a:tc>
                <a:tc>
                  <a:txBody>
                    <a:bodyPr/>
                    <a:lstStyle/>
                    <a:p>
                      <a:pPr marL="0" marR="0" algn="ctr">
                        <a:lnSpc>
                          <a:spcPct val="100000"/>
                        </a:lnSpc>
                        <a:spcBef>
                          <a:spcPts val="0"/>
                        </a:spcBef>
                        <a:spcAft>
                          <a:spcPts val="0"/>
                        </a:spcAft>
                      </a:pPr>
                      <a:r>
                        <a:rPr lang="ko-KR" altLang="en-US" sz="1400" dirty="0"/>
                        <a:t>○</a:t>
                      </a:r>
                      <a:endParaRPr lang="ko-KR" altLang="en-US" sz="1400" dirty="0">
                        <a:solidFill>
                          <a:srgbClr val="000000"/>
                        </a:solidFill>
                        <a:latin typeface="+mn-ea"/>
                        <a:ea typeface="+mn-ea"/>
                      </a:endParaRPr>
                    </a:p>
                  </a:txBody>
                  <a:tcPr marL="95999" marR="95999" marT="3813" marB="3813" anchor="ctr"/>
                </a:tc>
                <a:extLst>
                  <a:ext uri="{0D108BD9-81ED-4DB2-BD59-A6C34878D82A}">
                    <a16:rowId xmlns:a16="http://schemas.microsoft.com/office/drawing/2014/main" val="10001"/>
                  </a:ext>
                </a:extLst>
              </a:tr>
              <a:tr h="610579">
                <a:tc>
                  <a:txBody>
                    <a:bodyPr/>
                    <a:lstStyle/>
                    <a:p>
                      <a:pPr latinLnBrk="1">
                        <a:lnSpc>
                          <a:spcPct val="100000"/>
                        </a:lnSpc>
                      </a:pPr>
                      <a:r>
                        <a:rPr lang="en-US" altLang="ko-KR" sz="1400" dirty="0"/>
                        <a:t>def</a:t>
                      </a:r>
                      <a:r>
                        <a:rPr lang="ko-KR" altLang="en-US" sz="1400" dirty="0"/>
                        <a:t>로 된 </a:t>
                      </a:r>
                      <a:r>
                        <a:rPr lang="en-US" altLang="ko-KR" sz="1400" dirty="0"/>
                        <a:t>Y</a:t>
                      </a:r>
                      <a:endParaRPr lang="ko-KR" altLang="en-US" sz="1400" dirty="0">
                        <a:latin typeface="+mn-ea"/>
                        <a:ea typeface="+mn-ea"/>
                      </a:endParaRPr>
                    </a:p>
                  </a:txBody>
                  <a:tcPr marL="95999" marR="95999" marT="3813" marB="3813" anchor="ctr"/>
                </a:tc>
                <a:tc>
                  <a:txBody>
                    <a:bodyPr/>
                    <a:lstStyle/>
                    <a:p>
                      <a:pPr marL="0" marR="0" algn="just">
                        <a:lnSpc>
                          <a:spcPct val="100000"/>
                        </a:lnSpc>
                        <a:spcBef>
                          <a:spcPts val="0"/>
                        </a:spcBef>
                        <a:spcAft>
                          <a:spcPts val="0"/>
                        </a:spcAft>
                      </a:pPr>
                      <a:r>
                        <a:rPr lang="en-US" altLang="ko-KR" sz="1400" dirty="0"/>
                        <a:t>de</a:t>
                      </a:r>
                      <a:r>
                        <a:rPr lang="ko-KR" altLang="en-US" sz="1400" dirty="0"/>
                        <a:t>로 된 </a:t>
                      </a:r>
                      <a:r>
                        <a:rPr lang="en-US" altLang="ko-KR" sz="1400" dirty="0"/>
                        <a:t>Y</a:t>
                      </a:r>
                      <a:endParaRPr lang="ko-KR" altLang="en-US" sz="1400" dirty="0">
                        <a:solidFill>
                          <a:srgbClr val="000000"/>
                        </a:solidFill>
                        <a:latin typeface="+mn-ea"/>
                        <a:ea typeface="+mn-ea"/>
                      </a:endParaRPr>
                    </a:p>
                  </a:txBody>
                  <a:tcPr marL="95999" marR="95999" marT="3813" marB="3813"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400" dirty="0"/>
                        <a:t>△</a:t>
                      </a:r>
                      <a:endParaRPr lang="en-US" altLang="ko-KR" sz="1400" dirty="0">
                        <a:solidFill>
                          <a:srgbClr val="000000"/>
                        </a:solidFill>
                        <a:latin typeface="+mn-ea"/>
                        <a:ea typeface="+mn-ea"/>
                      </a:endParaRPr>
                    </a:p>
                  </a:txBody>
                  <a:tcPr marL="95999" marR="95999" marT="3813" marB="3813" anchor="ctr"/>
                </a:tc>
                <a:extLst>
                  <a:ext uri="{0D108BD9-81ED-4DB2-BD59-A6C34878D82A}">
                    <a16:rowId xmlns:a16="http://schemas.microsoft.com/office/drawing/2014/main" val="10002"/>
                  </a:ext>
                </a:extLst>
              </a:tr>
              <a:tr h="1063884">
                <a:tc>
                  <a:txBody>
                    <a:bodyPr/>
                    <a:lstStyle/>
                    <a:p>
                      <a:pPr marL="0" marR="0" algn="ctr">
                        <a:lnSpc>
                          <a:spcPct val="100000"/>
                        </a:lnSpc>
                        <a:spcBef>
                          <a:spcPts val="0"/>
                        </a:spcBef>
                        <a:spcAft>
                          <a:spcPts val="0"/>
                        </a:spcAft>
                      </a:pPr>
                      <a:r>
                        <a:rPr lang="ko-KR" altLang="en-US" sz="1400" dirty="0"/>
                        <a:t>종합 의견</a:t>
                      </a:r>
                      <a:endParaRPr lang="ko-KR" altLang="en-US" sz="1400" dirty="0">
                        <a:solidFill>
                          <a:schemeClr val="bg1"/>
                        </a:solidFill>
                        <a:latin typeface="+mn-ea"/>
                        <a:ea typeface="+mn-ea"/>
                      </a:endParaRPr>
                    </a:p>
                  </a:txBody>
                  <a:tcPr marL="95999" marR="95999" marT="3813" marB="3813" anchor="ctr">
                    <a:solidFill>
                      <a:schemeClr val="accent1">
                        <a:lumMod val="20000"/>
                        <a:lumOff val="80000"/>
                      </a:schemeClr>
                    </a:solidFill>
                  </a:tcPr>
                </a:tc>
                <a:tc gridSpan="2">
                  <a:txBody>
                    <a:bodyPr/>
                    <a:lstStyle/>
                    <a:p>
                      <a:pPr marL="0" marR="0" algn="just">
                        <a:lnSpc>
                          <a:spcPct val="100000"/>
                        </a:lnSpc>
                        <a:spcBef>
                          <a:spcPts val="0"/>
                        </a:spcBef>
                        <a:spcAft>
                          <a:spcPts val="0"/>
                        </a:spcAft>
                      </a:pPr>
                      <a:r>
                        <a:rPr lang="en-US" altLang="ko-KR" sz="1400" dirty="0"/>
                        <a:t>AER</a:t>
                      </a:r>
                      <a:r>
                        <a:rPr lang="ko-KR" altLang="en-US" sz="1400" dirty="0"/>
                        <a:t>이 적용되지 않으나</a:t>
                      </a:r>
                      <a:r>
                        <a:rPr lang="en-US" altLang="ko-KR" sz="1400" dirty="0"/>
                        <a:t>, </a:t>
                      </a:r>
                      <a:r>
                        <a:rPr lang="ko-KR" altLang="en-US" sz="1400" dirty="0"/>
                        <a:t>구성요소의 치환으로 </a:t>
                      </a:r>
                      <a:r>
                        <a:rPr lang="ko-KR" altLang="en-US" sz="1400" dirty="0" err="1"/>
                        <a:t>균등론이</a:t>
                      </a:r>
                      <a:r>
                        <a:rPr lang="ko-KR" altLang="en-US" sz="1400" dirty="0"/>
                        <a:t> 적용될 여지가 존재함</a:t>
                      </a:r>
                      <a:endParaRPr lang="ko-KR" altLang="en-US" sz="1400" dirty="0">
                        <a:solidFill>
                          <a:srgbClr val="000000"/>
                        </a:solidFill>
                        <a:latin typeface="+mn-ea"/>
                        <a:ea typeface="+mn-ea"/>
                      </a:endParaRPr>
                    </a:p>
                  </a:txBody>
                  <a:tcPr marL="95999" marR="95999" marT="3813" marB="3813" anchor="ctr"/>
                </a:tc>
                <a:tc hMerge="1">
                  <a:txBody>
                    <a:bodyPr/>
                    <a:lstStyle/>
                    <a:p>
                      <a:pPr latinLnBrk="1"/>
                      <a:endParaRPr lang="ko-KR" altLang="en-US"/>
                    </a:p>
                  </a:txBody>
                  <a:tcPr/>
                </a:tc>
                <a:extLst>
                  <a:ext uri="{0D108BD9-81ED-4DB2-BD59-A6C34878D82A}">
                    <a16:rowId xmlns:a16="http://schemas.microsoft.com/office/drawing/2014/main" val="10003"/>
                  </a:ext>
                </a:extLst>
              </a:tr>
            </a:tbl>
          </a:graphicData>
        </a:graphic>
      </p:graphicFrame>
      <p:graphicFrame>
        <p:nvGraphicFramePr>
          <p:cNvPr id="25" name="표 24"/>
          <p:cNvGraphicFramePr>
            <a:graphicFrameLocks noGrp="1"/>
          </p:cNvGraphicFramePr>
          <p:nvPr/>
        </p:nvGraphicFramePr>
        <p:xfrm>
          <a:off x="8096251" y="2924944"/>
          <a:ext cx="3810000" cy="3283271"/>
        </p:xfrm>
        <a:graphic>
          <a:graphicData uri="http://schemas.openxmlformats.org/drawingml/2006/table">
            <a:tbl>
              <a:tblPr>
                <a:tableStyleId>{8799B23B-EC83-4686-B30A-512413B5E67A}</a:tableStyleId>
              </a:tblPr>
              <a:tblGrid>
                <a:gridCol w="1143000">
                  <a:extLst>
                    <a:ext uri="{9D8B030D-6E8A-4147-A177-3AD203B41FA5}">
                      <a16:colId xmlns:a16="http://schemas.microsoft.com/office/drawing/2014/main" val="20000"/>
                    </a:ext>
                  </a:extLst>
                </a:gridCol>
                <a:gridCol w="1333500">
                  <a:extLst>
                    <a:ext uri="{9D8B030D-6E8A-4147-A177-3AD203B41FA5}">
                      <a16:colId xmlns:a16="http://schemas.microsoft.com/office/drawing/2014/main" val="20001"/>
                    </a:ext>
                  </a:extLst>
                </a:gridCol>
                <a:gridCol w="1333500">
                  <a:extLst>
                    <a:ext uri="{9D8B030D-6E8A-4147-A177-3AD203B41FA5}">
                      <a16:colId xmlns:a16="http://schemas.microsoft.com/office/drawing/2014/main" val="20002"/>
                    </a:ext>
                  </a:extLst>
                </a:gridCol>
              </a:tblGrid>
              <a:tr h="454396">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특허발명</a:t>
                      </a:r>
                      <a:endParaRPr kumimoji="0" lang="en-US" altLang="ko-KR" sz="1400" u="none" strike="noStrike" cap="none" normalizeH="0" baseline="0" dirty="0">
                        <a:ln>
                          <a:noFill/>
                        </a:ln>
                        <a:effectLst/>
                      </a:endParaRP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구성요소</a:t>
                      </a:r>
                      <a:endParaRPr kumimoji="0" lang="ko-KR" altLang="en-US" sz="1400" b="1" i="0" u="none" strike="noStrike" cap="none" normalizeH="0" baseline="0" dirty="0">
                        <a:ln>
                          <a:noFill/>
                        </a:ln>
                        <a:solidFill>
                          <a:srgbClr val="000000"/>
                        </a:solidFill>
                        <a:effectLst/>
                        <a:latin typeface="+mn-ea"/>
                        <a:ea typeface="+mn-ea"/>
                      </a:endParaRPr>
                    </a:p>
                  </a:txBody>
                  <a:tcPr marL="96000" marR="96000" marT="3813" marB="3813" anchor="ctr" horzOverflow="overflow">
                    <a:solidFill>
                      <a:schemeClr val="accent4">
                        <a:lumMod val="20000"/>
                        <a:lumOff val="80000"/>
                      </a:schemeClr>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확인대상발명</a:t>
                      </a:r>
                      <a:endParaRPr kumimoji="0" lang="ko-KR" altLang="en-US" sz="1400" b="1" i="0" u="none" strike="noStrike" cap="none" normalizeH="0" baseline="0" dirty="0">
                        <a:ln>
                          <a:noFill/>
                        </a:ln>
                        <a:solidFill>
                          <a:srgbClr val="000000"/>
                        </a:solidFill>
                        <a:effectLst/>
                        <a:latin typeface="+mn-ea"/>
                        <a:ea typeface="+mn-ea"/>
                      </a:endParaRPr>
                    </a:p>
                  </a:txBody>
                  <a:tcPr marL="96000" marR="96000" marT="3813" marB="3813" anchor="ctr" horzOverflow="overflow">
                    <a:solidFill>
                      <a:schemeClr val="accent4">
                        <a:lumMod val="20000"/>
                        <a:lumOff val="80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판단</a:t>
                      </a:r>
                      <a:r>
                        <a:rPr lang="en-US" altLang="ko-KR" sz="1400" dirty="0"/>
                        <a:t>(○/×/△) </a:t>
                      </a:r>
                      <a:endParaRPr lang="ko-KR" altLang="en-US" sz="1400" b="1" dirty="0"/>
                    </a:p>
                  </a:txBody>
                  <a:tcPr marL="96000" marR="96000" marT="3813" marB="3813" anchor="ctr" horzOverflow="overflow">
                    <a:solidFill>
                      <a:schemeClr val="accent4">
                        <a:lumMod val="20000"/>
                        <a:lumOff val="80000"/>
                      </a:schemeClr>
                    </a:solidFill>
                  </a:tcPr>
                </a:tc>
                <a:extLst>
                  <a:ext uri="{0D108BD9-81ED-4DB2-BD59-A6C34878D82A}">
                    <a16:rowId xmlns:a16="http://schemas.microsoft.com/office/drawing/2014/main" val="10000"/>
                  </a:ext>
                </a:extLst>
              </a:tr>
              <a:tr h="391191">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dirty="0">
                          <a:ln>
                            <a:noFill/>
                          </a:ln>
                          <a:effectLst/>
                        </a:rPr>
                        <a:t>a</a:t>
                      </a:r>
                      <a:endParaRPr kumimoji="0" lang="en-US" altLang="ko-KR"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dirty="0">
                          <a:ln>
                            <a:noFill/>
                          </a:ln>
                          <a:effectLst/>
                        </a:rPr>
                        <a:t>a</a:t>
                      </a:r>
                      <a:endParaRPr kumimoji="0" lang="ko-KR" altLang="en-US"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a:t>
                      </a:r>
                      <a:endParaRPr kumimoji="0" lang="ko-KR" altLang="en-US"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extLst>
                  <a:ext uri="{0D108BD9-81ED-4DB2-BD59-A6C34878D82A}">
                    <a16:rowId xmlns:a16="http://schemas.microsoft.com/office/drawing/2014/main" val="10001"/>
                  </a:ext>
                </a:extLst>
              </a:tr>
              <a:tr h="35019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a:ln>
                            <a:noFill/>
                          </a:ln>
                          <a:effectLst/>
                        </a:rPr>
                        <a:t>b</a:t>
                      </a:r>
                      <a:endParaRPr kumimoji="0" lang="ko-KR" altLang="en-US" sz="1400" b="0" i="0" u="none" strike="noStrike" cap="none" normalizeH="0" baseline="0">
                        <a:ln>
                          <a:noFill/>
                        </a:ln>
                        <a:solidFill>
                          <a:srgbClr val="000000"/>
                        </a:solidFill>
                        <a:effectLst/>
                        <a:latin typeface="+mn-ea"/>
                        <a:ea typeface="+mn-ea"/>
                      </a:endParaRPr>
                    </a:p>
                  </a:txBody>
                  <a:tcPr marL="96000" marR="96000" marT="3813" marB="3813"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dirty="0">
                          <a:ln>
                            <a:noFill/>
                          </a:ln>
                          <a:effectLst/>
                        </a:rPr>
                        <a:t>b</a:t>
                      </a:r>
                      <a:endParaRPr kumimoji="0" lang="ko-KR" altLang="en-US"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a:t>
                      </a:r>
                      <a:endParaRPr kumimoji="0" lang="ko-KR" altLang="en-US"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extLst>
                  <a:ext uri="{0D108BD9-81ED-4DB2-BD59-A6C34878D82A}">
                    <a16:rowId xmlns:a16="http://schemas.microsoft.com/office/drawing/2014/main" val="10002"/>
                  </a:ext>
                </a:extLst>
              </a:tr>
              <a:tr h="35019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a:ln>
                            <a:noFill/>
                          </a:ln>
                          <a:effectLst/>
                        </a:rPr>
                        <a:t>c</a:t>
                      </a:r>
                      <a:endParaRPr kumimoji="0" lang="ko-KR" altLang="en-US" sz="1400" b="0" i="0" u="none" strike="noStrike" cap="none" normalizeH="0" baseline="0">
                        <a:ln>
                          <a:noFill/>
                        </a:ln>
                        <a:solidFill>
                          <a:srgbClr val="000000"/>
                        </a:solidFill>
                        <a:effectLst/>
                        <a:latin typeface="+mn-ea"/>
                        <a:ea typeface="+mn-ea"/>
                      </a:endParaRPr>
                    </a:p>
                  </a:txBody>
                  <a:tcPr marL="96000" marR="96000" marT="3813" marB="3813"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dirty="0">
                          <a:ln>
                            <a:noFill/>
                          </a:ln>
                          <a:effectLst/>
                        </a:rPr>
                        <a:t>c</a:t>
                      </a:r>
                      <a:endParaRPr kumimoji="0" lang="ko-KR" altLang="en-US"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a:t>
                      </a:r>
                      <a:endParaRPr kumimoji="0" lang="ko-KR" altLang="en-US"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extLst>
                  <a:ext uri="{0D108BD9-81ED-4DB2-BD59-A6C34878D82A}">
                    <a16:rowId xmlns:a16="http://schemas.microsoft.com/office/drawing/2014/main" val="10003"/>
                  </a:ext>
                </a:extLst>
              </a:tr>
              <a:tr h="35019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a:ln>
                            <a:noFill/>
                          </a:ln>
                          <a:effectLst/>
                        </a:rPr>
                        <a:t>d</a:t>
                      </a:r>
                      <a:endParaRPr kumimoji="0" lang="ko-KR" altLang="en-US" sz="1400" b="0" i="0" u="none" strike="noStrike" cap="none" normalizeH="0" baseline="0">
                        <a:ln>
                          <a:noFill/>
                        </a:ln>
                        <a:solidFill>
                          <a:srgbClr val="000000"/>
                        </a:solidFill>
                        <a:effectLst/>
                        <a:latin typeface="+mn-ea"/>
                        <a:ea typeface="+mn-ea"/>
                      </a:endParaRPr>
                    </a:p>
                  </a:txBody>
                  <a:tcPr marL="96000" marR="96000" marT="3813" marB="3813"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dirty="0">
                          <a:ln>
                            <a:noFill/>
                          </a:ln>
                          <a:effectLst/>
                        </a:rPr>
                        <a:t>d</a:t>
                      </a:r>
                      <a:endParaRPr kumimoji="0" lang="ko-KR" altLang="en-US"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a:t>
                      </a:r>
                      <a:endParaRPr kumimoji="0" lang="ko-KR" altLang="en-US"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extLst>
                  <a:ext uri="{0D108BD9-81ED-4DB2-BD59-A6C34878D82A}">
                    <a16:rowId xmlns:a16="http://schemas.microsoft.com/office/drawing/2014/main" val="10004"/>
                  </a:ext>
                </a:extLst>
              </a:tr>
              <a:tr h="35019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a:ln>
                            <a:noFill/>
                          </a:ln>
                          <a:effectLst/>
                        </a:rPr>
                        <a:t>e</a:t>
                      </a:r>
                      <a:endParaRPr kumimoji="0" lang="ko-KR" altLang="en-US" sz="1400" b="0" i="0" u="none" strike="noStrike" cap="none" normalizeH="0" baseline="0">
                        <a:ln>
                          <a:noFill/>
                        </a:ln>
                        <a:solidFill>
                          <a:srgbClr val="000000"/>
                        </a:solidFill>
                        <a:effectLst/>
                        <a:latin typeface="+mn-ea"/>
                        <a:ea typeface="+mn-ea"/>
                      </a:endParaRPr>
                    </a:p>
                  </a:txBody>
                  <a:tcPr marL="96000" marR="96000" marT="3813" marB="3813"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dirty="0">
                          <a:ln>
                            <a:noFill/>
                          </a:ln>
                          <a:effectLst/>
                        </a:rPr>
                        <a:t>e</a:t>
                      </a:r>
                      <a:endParaRPr kumimoji="0" lang="ko-KR" altLang="en-US"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a:t>
                      </a:r>
                      <a:endParaRPr kumimoji="0" lang="ko-KR" altLang="en-US"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extLst>
                  <a:ext uri="{0D108BD9-81ED-4DB2-BD59-A6C34878D82A}">
                    <a16:rowId xmlns:a16="http://schemas.microsoft.com/office/drawing/2014/main" val="10005"/>
                  </a:ext>
                </a:extLst>
              </a:tr>
              <a:tr h="35019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a:ln>
                            <a:noFill/>
                          </a:ln>
                          <a:effectLst/>
                        </a:rPr>
                        <a:t>f</a:t>
                      </a:r>
                      <a:endParaRPr kumimoji="0" lang="ko-KR" altLang="en-US" sz="1400" b="0" i="0" u="none" strike="noStrike" cap="none" normalizeH="0" baseline="0">
                        <a:ln>
                          <a:noFill/>
                        </a:ln>
                        <a:solidFill>
                          <a:srgbClr val="000000"/>
                        </a:solidFill>
                        <a:effectLst/>
                        <a:latin typeface="+mn-ea"/>
                        <a:ea typeface="+mn-ea"/>
                      </a:endParaRPr>
                    </a:p>
                  </a:txBody>
                  <a:tcPr marL="96000" marR="96000" marT="3813" marB="3813"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a:ln>
                            <a:noFill/>
                          </a:ln>
                          <a:effectLst/>
                        </a:rPr>
                        <a:t>-</a:t>
                      </a:r>
                      <a:endParaRPr kumimoji="0" lang="ko-KR" altLang="en-US" sz="1400" b="0" i="0" u="none" strike="noStrike" cap="none" normalizeH="0" baseline="0">
                        <a:ln>
                          <a:noFill/>
                        </a:ln>
                        <a:solidFill>
                          <a:srgbClr val="000000"/>
                        </a:solidFill>
                        <a:effectLst/>
                        <a:latin typeface="+mn-ea"/>
                        <a:ea typeface="+mn-ea"/>
                      </a:endParaRPr>
                    </a:p>
                  </a:txBody>
                  <a:tcPr marL="96000" marR="96000" marT="3813" marB="3813"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dirty="0">
                          <a:ln>
                            <a:noFill/>
                          </a:ln>
                          <a:effectLst/>
                        </a:rPr>
                        <a:t>X</a:t>
                      </a:r>
                      <a:endParaRPr kumimoji="0" lang="ko-KR" altLang="en-US"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extLst>
                  <a:ext uri="{0D108BD9-81ED-4DB2-BD59-A6C34878D82A}">
                    <a16:rowId xmlns:a16="http://schemas.microsoft.com/office/drawing/2014/main" val="10006"/>
                  </a:ext>
                </a:extLst>
              </a:tr>
              <a:tr h="686719">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종합 의견</a:t>
                      </a:r>
                      <a:endParaRPr kumimoji="0" lang="ko-KR" altLang="en-US" sz="1400" b="0" i="0" u="none" strike="noStrike" cap="none" normalizeH="0" baseline="0" dirty="0">
                        <a:ln>
                          <a:noFill/>
                        </a:ln>
                        <a:solidFill>
                          <a:schemeClr val="bg1"/>
                        </a:solidFill>
                        <a:effectLst/>
                        <a:latin typeface="+mn-ea"/>
                        <a:ea typeface="+mn-ea"/>
                      </a:endParaRPr>
                    </a:p>
                  </a:txBody>
                  <a:tcPr marL="96000" marR="96000" marT="3813" marB="3813" anchor="ctr" horzOverflow="overflow">
                    <a:solidFill>
                      <a:schemeClr val="accent4">
                        <a:lumMod val="20000"/>
                        <a:lumOff val="80000"/>
                      </a:schemeClr>
                    </a:solidFill>
                  </a:tcPr>
                </a:tc>
                <a:tc gridSpan="2">
                  <a:txBody>
                    <a:bodyPr/>
                    <a:lstStyle/>
                    <a:p>
                      <a:pPr marL="0" marR="0" lvl="0" indent="0" algn="just"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구성요소의 삭제이므로 </a:t>
                      </a:r>
                      <a:r>
                        <a:rPr kumimoji="0" lang="en-US" altLang="ko-KR" sz="1400" u="none" strike="noStrike" cap="none" normalizeH="0" baseline="0" dirty="0">
                          <a:ln>
                            <a:noFill/>
                          </a:ln>
                          <a:effectLst/>
                        </a:rPr>
                        <a:t>AER, </a:t>
                      </a:r>
                      <a:r>
                        <a:rPr kumimoji="0" lang="ko-KR" altLang="en-US" sz="1400" u="none" strike="noStrike" cap="none" normalizeH="0" baseline="0" dirty="0" err="1">
                          <a:ln>
                            <a:noFill/>
                          </a:ln>
                          <a:effectLst/>
                        </a:rPr>
                        <a:t>균등론이</a:t>
                      </a:r>
                      <a:r>
                        <a:rPr kumimoji="0" lang="ko-KR" altLang="en-US" sz="1400" u="none" strike="noStrike" cap="none" normalizeH="0" baseline="0" dirty="0">
                          <a:ln>
                            <a:noFill/>
                          </a:ln>
                          <a:effectLst/>
                        </a:rPr>
                        <a:t> 적용될 여지가 없음</a:t>
                      </a:r>
                      <a:endParaRPr kumimoji="0" lang="ko-KR" altLang="en-US" sz="1400" b="0" i="0" u="none" strike="noStrike" cap="none" normalizeH="0" baseline="0" dirty="0">
                        <a:ln>
                          <a:noFill/>
                        </a:ln>
                        <a:solidFill>
                          <a:srgbClr val="000000"/>
                        </a:solidFill>
                        <a:effectLst/>
                        <a:latin typeface="+mn-ea"/>
                        <a:ea typeface="+mn-ea"/>
                      </a:endParaRPr>
                    </a:p>
                  </a:txBody>
                  <a:tcPr marL="96000" marR="96000" marT="3813" marB="3813" anchor="ctr" horzOverflow="overflow"/>
                </a:tc>
                <a:tc hMerge="1">
                  <a:txBody>
                    <a:bodyPr/>
                    <a:lstStyle/>
                    <a:p>
                      <a:pPr latinLnBrk="1"/>
                      <a:endParaRPr lang="ko-KR" altLang="en-US"/>
                    </a:p>
                  </a:txBody>
                  <a:tcPr/>
                </a:tc>
                <a:extLst>
                  <a:ext uri="{0D108BD9-81ED-4DB2-BD59-A6C34878D82A}">
                    <a16:rowId xmlns:a16="http://schemas.microsoft.com/office/drawing/2014/main" val="10007"/>
                  </a:ext>
                </a:extLst>
              </a:tr>
            </a:tbl>
          </a:graphicData>
        </a:graphic>
      </p:graphicFrame>
      <p:sp>
        <p:nvSpPr>
          <p:cNvPr id="26" name="Rectangle 5"/>
          <p:cNvSpPr>
            <a:spLocks noChangeArrowheads="1"/>
          </p:cNvSpPr>
          <p:nvPr/>
        </p:nvSpPr>
        <p:spPr bwMode="auto">
          <a:xfrm>
            <a:off x="4052912" y="2390854"/>
            <a:ext cx="3205137" cy="348102"/>
          </a:xfrm>
          <a:prstGeom prst="roundRect">
            <a:avLst>
              <a:gd name="adj" fmla="val 50000"/>
            </a:avLst>
          </a:prstGeom>
          <a:solidFill>
            <a:schemeClr val="accent1"/>
          </a:solidFill>
          <a:ln w="9525" algn="ctr">
            <a:noFill/>
            <a:miter lim="800000"/>
            <a:headEnd/>
            <a:tailEnd/>
          </a:ln>
        </p:spPr>
        <p:txBody>
          <a:bodyPr wrap="none" anchor="ctr"/>
          <a:lstStyle/>
          <a:p>
            <a:pPr algn="ctr" eaLnBrk="0" hangingPunct="0">
              <a:spcBef>
                <a:spcPct val="20000"/>
              </a:spcBef>
              <a:buClr>
                <a:schemeClr val="tx2">
                  <a:lumMod val="75000"/>
                </a:schemeClr>
              </a:buClr>
              <a:defRPr/>
            </a:pPr>
            <a:r>
              <a:rPr lang="en-US" altLang="ko-KR" sz="1600" kern="0" dirty="0">
                <a:solidFill>
                  <a:schemeClr val="bg1"/>
                </a:solidFill>
                <a:latin typeface="+mn-ea"/>
              </a:rPr>
              <a:t>X, Y</a:t>
            </a:r>
            <a:r>
              <a:rPr lang="ko-KR" altLang="en-US" sz="1600" kern="0" dirty="0">
                <a:solidFill>
                  <a:schemeClr val="bg1"/>
                </a:solidFill>
                <a:latin typeface="+mn-ea"/>
              </a:rPr>
              <a:t>를 구성요소로 보는 경우</a:t>
            </a:r>
            <a:endParaRPr lang="en-US" altLang="ko-KR" sz="1600" kern="0" dirty="0">
              <a:solidFill>
                <a:schemeClr val="bg1"/>
              </a:solidFill>
              <a:latin typeface="+mn-ea"/>
              <a:cs typeface="Arial" charset="0"/>
            </a:endParaRPr>
          </a:p>
        </p:txBody>
      </p:sp>
      <p:sp>
        <p:nvSpPr>
          <p:cNvPr id="27" name="Rectangle 5"/>
          <p:cNvSpPr>
            <a:spLocks noChangeArrowheads="1"/>
          </p:cNvSpPr>
          <p:nvPr/>
        </p:nvSpPr>
        <p:spPr bwMode="auto">
          <a:xfrm>
            <a:off x="8043887" y="2390854"/>
            <a:ext cx="3205137" cy="348102"/>
          </a:xfrm>
          <a:prstGeom prst="roundRect">
            <a:avLst>
              <a:gd name="adj" fmla="val 50000"/>
            </a:avLst>
          </a:prstGeom>
          <a:solidFill>
            <a:schemeClr val="accent1"/>
          </a:solidFill>
          <a:ln w="9525" algn="ctr">
            <a:noFill/>
            <a:miter lim="800000"/>
            <a:headEnd/>
            <a:tailEnd/>
          </a:ln>
        </p:spPr>
        <p:txBody>
          <a:bodyPr wrap="none" anchor="ctr"/>
          <a:lstStyle/>
          <a:p>
            <a:pPr algn="ctr" eaLnBrk="0" hangingPunct="0">
              <a:spcBef>
                <a:spcPct val="20000"/>
              </a:spcBef>
              <a:buClr>
                <a:schemeClr val="tx2">
                  <a:lumMod val="75000"/>
                </a:schemeClr>
              </a:buClr>
              <a:defRPr/>
            </a:pPr>
            <a:r>
              <a:rPr lang="en-US" altLang="ko-KR" sz="1600" kern="0" dirty="0">
                <a:solidFill>
                  <a:schemeClr val="bg1"/>
                </a:solidFill>
                <a:latin typeface="+mn-ea"/>
              </a:rPr>
              <a:t>a, b, c, d, e</a:t>
            </a:r>
            <a:r>
              <a:rPr lang="ko-KR" altLang="en-US" sz="1600" kern="0" dirty="0">
                <a:solidFill>
                  <a:schemeClr val="bg1"/>
                </a:solidFill>
                <a:latin typeface="+mn-ea"/>
              </a:rPr>
              <a:t>를 구성요소로 보는 경우</a:t>
            </a:r>
            <a:endParaRPr lang="en-US" altLang="ko-KR" sz="1600" kern="0" dirty="0">
              <a:solidFill>
                <a:schemeClr val="bg1"/>
              </a:solidFill>
              <a:latin typeface="+mn-ea"/>
              <a:cs typeface="Arial" charset="0"/>
            </a:endParaRPr>
          </a:p>
        </p:txBody>
      </p:sp>
    </p:spTree>
    <p:extLst>
      <p:ext uri="{BB962C8B-B14F-4D97-AF65-F5344CB8AC3E}">
        <p14:creationId xmlns:p14="http://schemas.microsoft.com/office/powerpoint/2010/main" val="3141989547"/>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특허요건 판단과 침해 여부 </a:t>
            </a:r>
            <a:r>
              <a:rPr lang="ko-KR" altLang="en-US" dirty="0" err="1">
                <a:solidFill>
                  <a:srgbClr val="525252"/>
                </a:solidFill>
              </a:rPr>
              <a:t>판단시</a:t>
            </a:r>
            <a:r>
              <a:rPr lang="ko-KR" altLang="en-US" dirty="0">
                <a:solidFill>
                  <a:srgbClr val="525252"/>
                </a:solidFill>
              </a:rPr>
              <a:t> 발명의 특정</a:t>
            </a:r>
          </a:p>
        </p:txBody>
      </p:sp>
      <p:sp>
        <p:nvSpPr>
          <p:cNvPr id="6" name="슬라이드 번호 개체 틀 5"/>
          <p:cNvSpPr>
            <a:spLocks noGrp="1"/>
          </p:cNvSpPr>
          <p:nvPr>
            <p:ph type="sldNum" sz="quarter" idx="4294967295"/>
          </p:nvPr>
        </p:nvSpPr>
        <p:spPr>
          <a:xfrm>
            <a:off x="11125200" y="0"/>
            <a:ext cx="1066800" cy="744538"/>
          </a:xfrm>
        </p:spPr>
        <p:txBody>
          <a:bodyPr/>
          <a:lstStyle/>
          <a:p>
            <a:r>
              <a:rPr lang="en-US" altLang="ko-KR"/>
              <a:t>348</a:t>
            </a:r>
            <a:endParaRPr lang="ko-KR" altLang="en-US"/>
          </a:p>
        </p:txBody>
      </p:sp>
      <p:cxnSp>
        <p:nvCxnSpPr>
          <p:cNvPr id="7" name="직선 연결선 6">
            <a:extLst>
              <a:ext uri="{FF2B5EF4-FFF2-40B4-BE49-F238E27FC236}">
                <a16:creationId xmlns:a16="http://schemas.microsoft.com/office/drawing/2014/main" id="{C0BDF839-943F-405B-878E-A9F83632CCF9}"/>
              </a:ext>
            </a:extLst>
          </p:cNvPr>
          <p:cNvCxnSpPr/>
          <p:nvPr/>
        </p:nvCxnSpPr>
        <p:spPr>
          <a:xfrm>
            <a:off x="1079612" y="1219200"/>
            <a:ext cx="0" cy="5071533"/>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직사각형 9">
            <a:extLst>
              <a:ext uri="{FF2B5EF4-FFF2-40B4-BE49-F238E27FC236}">
                <a16:creationId xmlns:a16="http://schemas.microsoft.com/office/drawing/2014/main" id="{A4CDB36B-5022-43D8-A6C2-8A125C0368AF}"/>
              </a:ext>
            </a:extLst>
          </p:cNvPr>
          <p:cNvSpPr/>
          <p:nvPr/>
        </p:nvSpPr>
        <p:spPr>
          <a:xfrm>
            <a:off x="381081" y="1378089"/>
            <a:ext cx="1395264"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인용대상</a:t>
            </a:r>
          </a:p>
        </p:txBody>
      </p:sp>
      <p:sp>
        <p:nvSpPr>
          <p:cNvPr id="12" name="직사각형 11">
            <a:extLst>
              <a:ext uri="{FF2B5EF4-FFF2-40B4-BE49-F238E27FC236}">
                <a16:creationId xmlns:a16="http://schemas.microsoft.com/office/drawing/2014/main" id="{79FC66BE-E98C-4C37-9121-6E24F370F874}"/>
              </a:ext>
            </a:extLst>
          </p:cNvPr>
          <p:cNvSpPr/>
          <p:nvPr/>
        </p:nvSpPr>
        <p:spPr>
          <a:xfrm>
            <a:off x="381081" y="2522661"/>
            <a:ext cx="1395264"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a:solidFill>
                  <a:schemeClr val="tx1"/>
                </a:solidFill>
              </a:rPr>
              <a:t>출원</a:t>
            </a:r>
            <a:endParaRPr lang="ko-KR" altLang="en-US" sz="1600" dirty="0">
              <a:solidFill>
                <a:schemeClr val="tx1"/>
              </a:solidFill>
            </a:endParaRPr>
          </a:p>
        </p:txBody>
      </p:sp>
      <p:sp>
        <p:nvSpPr>
          <p:cNvPr id="13" name="직사각형 12">
            <a:extLst>
              <a:ext uri="{FF2B5EF4-FFF2-40B4-BE49-F238E27FC236}">
                <a16:creationId xmlns:a16="http://schemas.microsoft.com/office/drawing/2014/main" id="{FACBFC70-7DCF-4ECE-8A2E-99AD17DC0EBA}"/>
              </a:ext>
            </a:extLst>
          </p:cNvPr>
          <p:cNvSpPr/>
          <p:nvPr/>
        </p:nvSpPr>
        <p:spPr>
          <a:xfrm>
            <a:off x="381081" y="3894264"/>
            <a:ext cx="1395264" cy="30043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등록</a:t>
            </a:r>
          </a:p>
        </p:txBody>
      </p:sp>
      <p:sp>
        <p:nvSpPr>
          <p:cNvPr id="14" name="직사각형 13">
            <a:extLst>
              <a:ext uri="{FF2B5EF4-FFF2-40B4-BE49-F238E27FC236}">
                <a16:creationId xmlns:a16="http://schemas.microsoft.com/office/drawing/2014/main" id="{47A02127-657E-464B-A410-8EDBB98AB29D}"/>
              </a:ext>
            </a:extLst>
          </p:cNvPr>
          <p:cNvSpPr/>
          <p:nvPr/>
        </p:nvSpPr>
        <p:spPr>
          <a:xfrm>
            <a:off x="381081" y="5265867"/>
            <a:ext cx="1395264" cy="36082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제</a:t>
            </a:r>
            <a:r>
              <a:rPr lang="en-US" altLang="ko-KR" sz="1600" dirty="0">
                <a:solidFill>
                  <a:schemeClr val="tx1"/>
                </a:solidFill>
              </a:rPr>
              <a:t>3</a:t>
            </a:r>
            <a:r>
              <a:rPr lang="ko-KR" altLang="en-US" sz="1600" dirty="0">
                <a:solidFill>
                  <a:schemeClr val="tx1"/>
                </a:solidFill>
              </a:rPr>
              <a:t>자 실시</a:t>
            </a:r>
            <a:endParaRPr lang="en-US" altLang="ko-KR" sz="1600" dirty="0">
              <a:solidFill>
                <a:schemeClr val="tx1"/>
              </a:solidFill>
            </a:endParaRPr>
          </a:p>
        </p:txBody>
      </p:sp>
      <p:cxnSp>
        <p:nvCxnSpPr>
          <p:cNvPr id="28" name="직선 화살표 연결선 27">
            <a:extLst>
              <a:ext uri="{FF2B5EF4-FFF2-40B4-BE49-F238E27FC236}">
                <a16:creationId xmlns:a16="http://schemas.microsoft.com/office/drawing/2014/main" id="{EF0B1072-005D-4E87-BC18-3A4839AADABB}"/>
              </a:ext>
            </a:extLst>
          </p:cNvPr>
          <p:cNvCxnSpPr>
            <a:cxnSpLocks/>
            <a:endCxn id="33" idx="1"/>
          </p:cNvCxnSpPr>
          <p:nvPr/>
        </p:nvCxnSpPr>
        <p:spPr>
          <a:xfrm>
            <a:off x="1079612" y="4795167"/>
            <a:ext cx="559509" cy="0"/>
          </a:xfrm>
          <a:prstGeom prst="straightConnector1">
            <a:avLst/>
          </a:prstGeom>
          <a:ln w="28575">
            <a:solidFill>
              <a:schemeClr val="accent2">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B3354629-4131-481A-8384-FABF1D582C19}"/>
              </a:ext>
            </a:extLst>
          </p:cNvPr>
          <p:cNvCxnSpPr/>
          <p:nvPr/>
        </p:nvCxnSpPr>
        <p:spPr>
          <a:xfrm flipV="1">
            <a:off x="5090755" y="1041400"/>
            <a:ext cx="0" cy="532553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직선 화살표 연결선 29">
            <a:extLst>
              <a:ext uri="{FF2B5EF4-FFF2-40B4-BE49-F238E27FC236}">
                <a16:creationId xmlns:a16="http://schemas.microsoft.com/office/drawing/2014/main" id="{512C1082-5D29-45DB-8348-521862242325}"/>
              </a:ext>
            </a:extLst>
          </p:cNvPr>
          <p:cNvCxnSpPr>
            <a:cxnSpLocks/>
            <a:endCxn id="31" idx="1"/>
          </p:cNvCxnSpPr>
          <p:nvPr/>
        </p:nvCxnSpPr>
        <p:spPr>
          <a:xfrm>
            <a:off x="1079612" y="3244467"/>
            <a:ext cx="559509" cy="0"/>
          </a:xfrm>
          <a:prstGeom prst="straightConnector1">
            <a:avLst/>
          </a:prstGeom>
          <a:ln w="28575">
            <a:solidFill>
              <a:schemeClr val="accent2">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8510AB81-AA05-4639-A3A7-715999DD2BC0}"/>
              </a:ext>
            </a:extLst>
          </p:cNvPr>
          <p:cNvSpPr txBox="1"/>
          <p:nvPr/>
        </p:nvSpPr>
        <p:spPr>
          <a:xfrm>
            <a:off x="1639121" y="2982857"/>
            <a:ext cx="881972" cy="523220"/>
          </a:xfrm>
          <a:prstGeom prst="rect">
            <a:avLst/>
          </a:prstGeom>
          <a:solidFill>
            <a:schemeClr val="accent2">
              <a:lumMod val="50000"/>
            </a:schemeClr>
          </a:solidFill>
          <a:ln>
            <a:solidFill>
              <a:schemeClr val="bg1">
                <a:lumMod val="50000"/>
              </a:schemeClr>
            </a:solidFill>
          </a:ln>
        </p:spPr>
        <p:txBody>
          <a:bodyPr wrap="none" rtlCol="0">
            <a:spAutoFit/>
          </a:bodyPr>
          <a:lstStyle/>
          <a:p>
            <a:pPr algn="ctr"/>
            <a:r>
              <a:rPr lang="ko-KR" altLang="en-US" sz="1400" dirty="0">
                <a:solidFill>
                  <a:schemeClr val="bg1"/>
                </a:solidFill>
              </a:rPr>
              <a:t>특허요건 </a:t>
            </a:r>
            <a:endParaRPr lang="en-US" altLang="ko-KR" sz="1400" dirty="0">
              <a:solidFill>
                <a:schemeClr val="bg1"/>
              </a:solidFill>
            </a:endParaRPr>
          </a:p>
          <a:p>
            <a:pPr algn="ctr"/>
            <a:r>
              <a:rPr lang="ko-KR" altLang="en-US" sz="1400" dirty="0">
                <a:solidFill>
                  <a:schemeClr val="bg1"/>
                </a:solidFill>
              </a:rPr>
              <a:t>판단</a:t>
            </a:r>
          </a:p>
        </p:txBody>
      </p:sp>
      <p:graphicFrame>
        <p:nvGraphicFramePr>
          <p:cNvPr id="32" name="표 31">
            <a:extLst>
              <a:ext uri="{FF2B5EF4-FFF2-40B4-BE49-F238E27FC236}">
                <a16:creationId xmlns:a16="http://schemas.microsoft.com/office/drawing/2014/main" id="{4B7155DA-1D5E-413E-8A85-AE98A29F9D7B}"/>
              </a:ext>
            </a:extLst>
          </p:cNvPr>
          <p:cNvGraphicFramePr>
            <a:graphicFrameLocks noGrp="1"/>
          </p:cNvGraphicFramePr>
          <p:nvPr/>
        </p:nvGraphicFramePr>
        <p:xfrm>
          <a:off x="5325310" y="2866723"/>
          <a:ext cx="6485598" cy="3592276"/>
        </p:xfrm>
        <a:graphic>
          <a:graphicData uri="http://schemas.openxmlformats.org/drawingml/2006/table">
            <a:tbl>
              <a:tblPr>
                <a:tableStyleId>{8799B23B-EC83-4686-B30A-512413B5E67A}</a:tableStyleId>
              </a:tblPr>
              <a:tblGrid>
                <a:gridCol w="1285555">
                  <a:extLst>
                    <a:ext uri="{9D8B030D-6E8A-4147-A177-3AD203B41FA5}">
                      <a16:colId xmlns:a16="http://schemas.microsoft.com/office/drawing/2014/main" val="20000"/>
                    </a:ext>
                  </a:extLst>
                </a:gridCol>
                <a:gridCol w="2589029">
                  <a:extLst>
                    <a:ext uri="{9D8B030D-6E8A-4147-A177-3AD203B41FA5}">
                      <a16:colId xmlns:a16="http://schemas.microsoft.com/office/drawing/2014/main" val="20001"/>
                    </a:ext>
                  </a:extLst>
                </a:gridCol>
                <a:gridCol w="2611014">
                  <a:extLst>
                    <a:ext uri="{9D8B030D-6E8A-4147-A177-3AD203B41FA5}">
                      <a16:colId xmlns:a16="http://schemas.microsoft.com/office/drawing/2014/main" val="20002"/>
                    </a:ext>
                  </a:extLst>
                </a:gridCol>
              </a:tblGrid>
              <a:tr h="284280">
                <a:tc>
                  <a:txBody>
                    <a:bodyPr/>
                    <a:lstStyle/>
                    <a:p>
                      <a:pPr algn="ctr" latinLnBrk="1"/>
                      <a:r>
                        <a:rPr lang="ko-KR" altLang="en-US" sz="1400" dirty="0"/>
                        <a:t>발명의 특정</a:t>
                      </a:r>
                    </a:p>
                  </a:txBody>
                  <a:tcPr anchor="ctr">
                    <a:solidFill>
                      <a:schemeClr val="accent1">
                        <a:lumMod val="20000"/>
                        <a:lumOff val="80000"/>
                      </a:schemeClr>
                    </a:solidFill>
                  </a:tcPr>
                </a:tc>
                <a:tc>
                  <a:txBody>
                    <a:bodyPr/>
                    <a:lstStyle/>
                    <a:p>
                      <a:pPr algn="ctr" latinLnBrk="1"/>
                      <a:r>
                        <a:rPr lang="ko-KR" altLang="en-US" sz="1400" dirty="0"/>
                        <a:t>특허요건 판단</a:t>
                      </a:r>
                    </a:p>
                  </a:txBody>
                  <a:tcPr anchor="ctr">
                    <a:solidFill>
                      <a:schemeClr val="accent1">
                        <a:lumMod val="20000"/>
                        <a:lumOff val="80000"/>
                      </a:schemeClr>
                    </a:solidFill>
                  </a:tcPr>
                </a:tc>
                <a:tc>
                  <a:txBody>
                    <a:bodyPr/>
                    <a:lstStyle/>
                    <a:p>
                      <a:pPr algn="ctr" latinLnBrk="1"/>
                      <a:r>
                        <a:rPr lang="ko-KR" altLang="en-US" sz="1400" dirty="0"/>
                        <a:t>보호범위 판단</a:t>
                      </a:r>
                    </a:p>
                  </a:txBody>
                  <a:tcPr anchor="ctr">
                    <a:solidFill>
                      <a:schemeClr val="accent1">
                        <a:lumMod val="20000"/>
                        <a:lumOff val="80000"/>
                      </a:schemeClr>
                    </a:solidFill>
                  </a:tcPr>
                </a:tc>
                <a:extLst>
                  <a:ext uri="{0D108BD9-81ED-4DB2-BD59-A6C34878D82A}">
                    <a16:rowId xmlns:a16="http://schemas.microsoft.com/office/drawing/2014/main" val="10000"/>
                  </a:ext>
                </a:extLst>
              </a:tr>
              <a:tr h="546458">
                <a:tc>
                  <a:txBody>
                    <a:bodyPr/>
                    <a:lstStyle/>
                    <a:p>
                      <a:pPr algn="ctr" latinLnBrk="1"/>
                      <a:r>
                        <a:rPr lang="ko-KR" altLang="en-US" sz="1400" dirty="0"/>
                        <a:t>청구범위 </a:t>
                      </a:r>
                      <a:endParaRPr lang="en-US" altLang="ko-KR" sz="1400" dirty="0"/>
                    </a:p>
                    <a:p>
                      <a:pPr algn="ctr" latinLnBrk="1"/>
                      <a:r>
                        <a:rPr lang="ko-KR" altLang="en-US" sz="1400" dirty="0"/>
                        <a:t>중심의 원칙</a:t>
                      </a:r>
                      <a:endParaRPr lang="en-US" altLang="ko-KR" sz="1400" dirty="0"/>
                    </a:p>
                  </a:txBody>
                  <a:tcPr anchor="ctr"/>
                </a:tc>
                <a:tc>
                  <a:txBody>
                    <a:bodyPr/>
                    <a:lstStyle/>
                    <a:p>
                      <a:pPr algn="ctr" latinLnBrk="1"/>
                      <a:r>
                        <a:rPr lang="ko-KR" altLang="en-US" sz="1400" dirty="0"/>
                        <a:t>적용</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적용</a:t>
                      </a:r>
                    </a:p>
                  </a:txBody>
                  <a:tcPr anchor="ctr"/>
                </a:tc>
                <a:extLst>
                  <a:ext uri="{0D108BD9-81ED-4DB2-BD59-A6C34878D82A}">
                    <a16:rowId xmlns:a16="http://schemas.microsoft.com/office/drawing/2014/main" val="10001"/>
                  </a:ext>
                </a:extLst>
              </a:tr>
              <a:tr h="546458">
                <a:tc>
                  <a:txBody>
                    <a:bodyPr/>
                    <a:lstStyle/>
                    <a:p>
                      <a:pPr algn="ctr" latinLnBrk="1"/>
                      <a:r>
                        <a:rPr lang="ko-KR" altLang="en-US" sz="1400" dirty="0"/>
                        <a:t>발명의 설명</a:t>
                      </a:r>
                      <a:r>
                        <a:rPr lang="en-US" altLang="ko-KR" sz="1400" dirty="0"/>
                        <a:t> </a:t>
                      </a:r>
                    </a:p>
                    <a:p>
                      <a:pPr algn="ctr" latinLnBrk="1"/>
                      <a:r>
                        <a:rPr lang="ko-KR" altLang="en-US" sz="1400" dirty="0"/>
                        <a:t>참작의 원칙</a:t>
                      </a:r>
                      <a:endParaRPr lang="en-US" altLang="ko-KR" sz="1400" dirty="0"/>
                    </a:p>
                  </a:txBody>
                  <a:tcPr anchor="ctr"/>
                </a:tc>
                <a:tc>
                  <a:txBody>
                    <a:bodyPr/>
                    <a:lstStyle/>
                    <a:p>
                      <a:pPr algn="ctr" latinLnBrk="1"/>
                      <a:r>
                        <a:rPr lang="ko-KR" altLang="en-US" sz="1400" dirty="0"/>
                        <a:t>적용</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적용 </a:t>
                      </a:r>
                      <a:r>
                        <a:rPr lang="en-US" altLang="ko-KR" sz="1400" dirty="0">
                          <a:solidFill>
                            <a:srgbClr val="FF0000"/>
                          </a:solidFill>
                        </a:rPr>
                        <a:t>(</a:t>
                      </a:r>
                      <a:r>
                        <a:rPr lang="ko-KR" altLang="en-US" sz="1400" dirty="0">
                          <a:solidFill>
                            <a:srgbClr val="FF0000"/>
                          </a:solidFill>
                        </a:rPr>
                        <a:t>제한해석 가능</a:t>
                      </a:r>
                      <a:r>
                        <a:rPr lang="en-US" altLang="ko-KR" sz="1400" dirty="0">
                          <a:solidFill>
                            <a:srgbClr val="FF0000"/>
                          </a:solidFill>
                        </a:rPr>
                        <a:t>)</a:t>
                      </a:r>
                      <a:endParaRPr lang="ko-KR" altLang="en-US" sz="1400" dirty="0">
                        <a:solidFill>
                          <a:srgbClr val="FF0000"/>
                        </a:solidFill>
                      </a:endParaRPr>
                    </a:p>
                  </a:txBody>
                  <a:tcPr anchor="ctr"/>
                </a:tc>
                <a:extLst>
                  <a:ext uri="{0D108BD9-81ED-4DB2-BD59-A6C34878D82A}">
                    <a16:rowId xmlns:a16="http://schemas.microsoft.com/office/drawing/2014/main" val="2673544724"/>
                  </a:ext>
                </a:extLst>
              </a:tr>
              <a:tr h="682271">
                <a:tc>
                  <a:txBody>
                    <a:bodyPr/>
                    <a:lstStyle/>
                    <a:p>
                      <a:pPr algn="ctr" latinLnBrk="1"/>
                      <a:r>
                        <a:rPr lang="ko-KR" altLang="en-US" sz="1400" dirty="0"/>
                        <a:t>공지기술</a:t>
                      </a:r>
                      <a:endParaRPr lang="en-US" altLang="ko-KR" sz="1400" dirty="0"/>
                    </a:p>
                    <a:p>
                      <a:pPr algn="ctr" latinLnBrk="1"/>
                      <a:r>
                        <a:rPr lang="ko-KR" altLang="en-US" sz="1400" dirty="0"/>
                        <a:t>참작의 원칙</a:t>
                      </a:r>
                      <a:endParaRPr lang="en-US" altLang="ko-KR" sz="1400" dirty="0"/>
                    </a:p>
                  </a:txBody>
                  <a:tcPr anchor="ctr"/>
                </a:tc>
                <a:tc>
                  <a:txBody>
                    <a:bodyPr/>
                    <a:lstStyle/>
                    <a:p>
                      <a:pPr algn="ctr" latinLnBrk="1"/>
                      <a:r>
                        <a:rPr lang="ko-KR" altLang="en-US" sz="1400" dirty="0"/>
                        <a:t>부적용</a:t>
                      </a:r>
                      <a:endParaRPr lang="en-US" altLang="ko-KR" sz="1400" dirty="0"/>
                    </a:p>
                    <a:p>
                      <a:pPr algn="ctr" latinLnBrk="1"/>
                      <a:r>
                        <a:rPr lang="en-US" altLang="ko-KR" sz="1400" dirty="0"/>
                        <a:t>(</a:t>
                      </a:r>
                      <a:r>
                        <a:rPr lang="ko-KR" altLang="en-US" sz="1400" dirty="0"/>
                        <a:t>발명의 특정 후 신규성</a:t>
                      </a:r>
                      <a:r>
                        <a:rPr lang="en-US" altLang="ko-KR" sz="1400" dirty="0"/>
                        <a:t>, </a:t>
                      </a:r>
                      <a:r>
                        <a:rPr lang="ko-KR" altLang="en-US" sz="1400" dirty="0"/>
                        <a:t>진보성 등 판단으로 갈음</a:t>
                      </a:r>
                      <a:r>
                        <a:rPr lang="en-US" altLang="ko-KR" sz="1400" dirty="0"/>
                        <a:t>)</a:t>
                      </a:r>
                      <a:endParaRPr lang="ko-KR" altLang="en-US" sz="14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적용 </a:t>
                      </a:r>
                      <a:r>
                        <a:rPr lang="en-US" altLang="ko-KR" sz="1400" dirty="0">
                          <a:solidFill>
                            <a:srgbClr val="FF0000"/>
                          </a:solidFill>
                        </a:rPr>
                        <a:t>(</a:t>
                      </a:r>
                      <a:r>
                        <a:rPr lang="ko-KR" altLang="en-US" sz="1400" dirty="0">
                          <a:solidFill>
                            <a:srgbClr val="FF0000"/>
                          </a:solidFill>
                        </a:rPr>
                        <a:t>제한해석</a:t>
                      </a:r>
                      <a:r>
                        <a:rPr lang="en-US" altLang="ko-KR" sz="1400" dirty="0">
                          <a:solidFill>
                            <a:srgbClr val="FF0000"/>
                          </a:solidFill>
                        </a:rPr>
                        <a:t>)</a:t>
                      </a:r>
                      <a:endParaRPr lang="ko-KR" altLang="en-US" sz="1400" dirty="0">
                        <a:solidFill>
                          <a:srgbClr val="FF0000"/>
                        </a:solidFill>
                      </a:endParaRPr>
                    </a:p>
                  </a:txBody>
                  <a:tcPr anchor="ctr"/>
                </a:tc>
                <a:extLst>
                  <a:ext uri="{0D108BD9-81ED-4DB2-BD59-A6C34878D82A}">
                    <a16:rowId xmlns:a16="http://schemas.microsoft.com/office/drawing/2014/main" val="36351010"/>
                  </a:ext>
                </a:extLst>
              </a:tr>
              <a:tr h="682271">
                <a:tc>
                  <a:txBody>
                    <a:bodyPr/>
                    <a:lstStyle/>
                    <a:p>
                      <a:pPr algn="ctr" latinLnBrk="1"/>
                      <a:r>
                        <a:rPr lang="ko-KR" altLang="en-US" sz="1400" dirty="0"/>
                        <a:t>출원경과</a:t>
                      </a:r>
                      <a:endParaRPr lang="en-US" altLang="ko-KR" sz="1400" dirty="0"/>
                    </a:p>
                    <a:p>
                      <a:pPr algn="ctr" latinLnBrk="1"/>
                      <a:r>
                        <a:rPr lang="ko-KR" altLang="en-US" sz="1400" dirty="0"/>
                        <a:t>참작의 원칙</a:t>
                      </a:r>
                      <a:endParaRPr lang="en-US" altLang="ko-KR" sz="1400" dirty="0"/>
                    </a:p>
                  </a:txBody>
                  <a:tcPr anchor="ctr"/>
                </a:tc>
                <a:tc>
                  <a:txBody>
                    <a:bodyPr/>
                    <a:lstStyle/>
                    <a:p>
                      <a:pPr algn="ctr" latinLnBrk="1"/>
                      <a:r>
                        <a:rPr lang="ko-KR" altLang="en-US" sz="1400" dirty="0"/>
                        <a:t>부적용</a:t>
                      </a:r>
                      <a:endParaRPr lang="en-US" altLang="ko-KR" sz="1400" dirty="0"/>
                    </a:p>
                    <a:p>
                      <a:pPr algn="ctr" latinLnBrk="1"/>
                      <a:r>
                        <a:rPr lang="en-US" altLang="ko-KR" sz="1400" dirty="0"/>
                        <a:t>(</a:t>
                      </a:r>
                      <a:r>
                        <a:rPr lang="ko-KR" altLang="en-US" sz="1400" dirty="0"/>
                        <a:t>다만</a:t>
                      </a:r>
                      <a:r>
                        <a:rPr lang="en-US" altLang="ko-KR" sz="1400" dirty="0"/>
                        <a:t>, </a:t>
                      </a:r>
                      <a:r>
                        <a:rPr lang="ko-KR" altLang="en-US" sz="1400" dirty="0"/>
                        <a:t>출원인이 공지되었음을 자인하는 경우 공지된 것으로 추정</a:t>
                      </a:r>
                      <a:r>
                        <a:rPr lang="en-US" altLang="ko-KR" sz="1400" dirty="0"/>
                        <a:t>)</a:t>
                      </a:r>
                      <a:endParaRPr lang="ko-KR" altLang="en-US" sz="14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적용 </a:t>
                      </a:r>
                      <a:r>
                        <a:rPr lang="en-US" altLang="ko-KR" sz="1400" dirty="0">
                          <a:solidFill>
                            <a:srgbClr val="FF0000"/>
                          </a:solidFill>
                        </a:rPr>
                        <a:t>(</a:t>
                      </a:r>
                      <a:r>
                        <a:rPr lang="ko-KR" altLang="en-US" sz="1400" dirty="0">
                          <a:solidFill>
                            <a:srgbClr val="FF0000"/>
                          </a:solidFill>
                        </a:rPr>
                        <a:t>제한해석</a:t>
                      </a:r>
                      <a:r>
                        <a:rPr lang="en-US" altLang="ko-KR" sz="1400" dirty="0">
                          <a:solidFill>
                            <a:srgbClr val="FF0000"/>
                          </a:solidFill>
                        </a:rPr>
                        <a:t>)</a:t>
                      </a:r>
                      <a:endParaRPr lang="ko-KR" altLang="en-US" sz="1400" dirty="0">
                        <a:solidFill>
                          <a:srgbClr val="FF0000"/>
                        </a:solidFill>
                      </a:endParaRPr>
                    </a:p>
                  </a:txBody>
                  <a:tcPr anchor="ctr"/>
                </a:tc>
                <a:extLst>
                  <a:ext uri="{0D108BD9-81ED-4DB2-BD59-A6C34878D82A}">
                    <a16:rowId xmlns:a16="http://schemas.microsoft.com/office/drawing/2014/main" val="624018035"/>
                  </a:ext>
                </a:extLst>
              </a:tr>
              <a:tr h="682271">
                <a:tc>
                  <a:txBody>
                    <a:bodyPr/>
                    <a:lstStyle/>
                    <a:p>
                      <a:pPr algn="ctr" latinLnBrk="1"/>
                      <a:r>
                        <a:rPr lang="ko-KR" altLang="en-US" sz="1400" dirty="0"/>
                        <a:t>특허권하자</a:t>
                      </a:r>
                      <a:endParaRPr lang="en-US" altLang="ko-KR" sz="1400" dirty="0"/>
                    </a:p>
                    <a:p>
                      <a:pPr algn="ctr" latinLnBrk="1"/>
                      <a:r>
                        <a:rPr lang="ko-KR" altLang="en-US" sz="1400" dirty="0"/>
                        <a:t>참작의 원칙</a:t>
                      </a:r>
                      <a:endParaRPr lang="en-US" altLang="ko-KR" sz="1400" dirty="0"/>
                    </a:p>
                  </a:txBody>
                  <a:tcPr anchor="ctr"/>
                </a:tc>
                <a:tc>
                  <a:txBody>
                    <a:bodyPr/>
                    <a:lstStyle/>
                    <a:p>
                      <a:pPr algn="ctr" latinLnBrk="1"/>
                      <a:r>
                        <a:rPr lang="ko-KR" altLang="en-US" sz="1400" dirty="0"/>
                        <a:t>부적용</a:t>
                      </a:r>
                      <a:endParaRPr lang="en-US" altLang="ko-KR" sz="1400" dirty="0"/>
                    </a:p>
                    <a:p>
                      <a:pPr algn="ctr" latinLnBrk="1"/>
                      <a:r>
                        <a:rPr lang="en-US" altLang="ko-KR" sz="1400" dirty="0"/>
                        <a:t>(</a:t>
                      </a:r>
                      <a:r>
                        <a:rPr lang="ko-KR" altLang="en-US" sz="1400" dirty="0"/>
                        <a:t>발명의 특정 후 특허요건 판단으로 갈음</a:t>
                      </a:r>
                      <a:r>
                        <a:rPr lang="en-US" altLang="ko-KR" sz="1400" dirty="0"/>
                        <a:t>)</a:t>
                      </a:r>
                      <a:endParaRPr lang="ko-KR" altLang="en-US" sz="14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적용 </a:t>
                      </a:r>
                      <a:r>
                        <a:rPr lang="en-US" altLang="ko-KR" sz="1400" dirty="0">
                          <a:solidFill>
                            <a:srgbClr val="FF0000"/>
                          </a:solidFill>
                        </a:rPr>
                        <a:t>(</a:t>
                      </a:r>
                      <a:r>
                        <a:rPr lang="ko-KR" altLang="en-US" sz="1400" dirty="0">
                          <a:solidFill>
                            <a:srgbClr val="FF0000"/>
                          </a:solidFill>
                        </a:rPr>
                        <a:t>제한해석</a:t>
                      </a:r>
                      <a:r>
                        <a:rPr lang="en-US" altLang="ko-KR" sz="1400" dirty="0">
                          <a:solidFill>
                            <a:srgbClr val="FF0000"/>
                          </a:solidFill>
                        </a:rPr>
                        <a:t>)</a:t>
                      </a:r>
                      <a:endParaRPr lang="ko-KR" altLang="en-US" sz="1400" dirty="0">
                        <a:solidFill>
                          <a:srgbClr val="FF0000"/>
                        </a:solidFill>
                      </a:endParaRPr>
                    </a:p>
                  </a:txBody>
                  <a:tcPr anchor="ctr"/>
                </a:tc>
                <a:extLst>
                  <a:ext uri="{0D108BD9-81ED-4DB2-BD59-A6C34878D82A}">
                    <a16:rowId xmlns:a16="http://schemas.microsoft.com/office/drawing/2014/main" val="280073106"/>
                  </a:ext>
                </a:extLst>
              </a:tr>
            </a:tbl>
          </a:graphicData>
        </a:graphic>
      </p:graphicFrame>
      <p:sp>
        <p:nvSpPr>
          <p:cNvPr id="33" name="TextBox 32">
            <a:extLst>
              <a:ext uri="{FF2B5EF4-FFF2-40B4-BE49-F238E27FC236}">
                <a16:creationId xmlns:a16="http://schemas.microsoft.com/office/drawing/2014/main" id="{7265E46E-FBCC-46D0-B1D0-D7E586C98F71}"/>
              </a:ext>
            </a:extLst>
          </p:cNvPr>
          <p:cNvSpPr txBox="1"/>
          <p:nvPr/>
        </p:nvSpPr>
        <p:spPr>
          <a:xfrm>
            <a:off x="1639121" y="4533557"/>
            <a:ext cx="881972" cy="523220"/>
          </a:xfrm>
          <a:prstGeom prst="rect">
            <a:avLst/>
          </a:prstGeom>
          <a:solidFill>
            <a:schemeClr val="accent3">
              <a:lumMod val="75000"/>
            </a:schemeClr>
          </a:solidFill>
          <a:ln>
            <a:solidFill>
              <a:schemeClr val="bg1">
                <a:lumMod val="50000"/>
              </a:schemeClr>
            </a:solidFill>
          </a:ln>
        </p:spPr>
        <p:txBody>
          <a:bodyPr wrap="none" rtlCol="0">
            <a:spAutoFit/>
          </a:bodyPr>
          <a:lstStyle/>
          <a:p>
            <a:pPr algn="ctr"/>
            <a:r>
              <a:rPr lang="ko-KR" altLang="en-US" sz="1400" dirty="0">
                <a:solidFill>
                  <a:schemeClr val="bg1"/>
                </a:solidFill>
              </a:rPr>
              <a:t>보호범위 </a:t>
            </a:r>
            <a:endParaRPr lang="en-US" altLang="ko-KR" sz="1400" dirty="0">
              <a:solidFill>
                <a:schemeClr val="bg1"/>
              </a:solidFill>
            </a:endParaRPr>
          </a:p>
          <a:p>
            <a:pPr algn="ctr"/>
            <a:r>
              <a:rPr lang="ko-KR" altLang="en-US" sz="1400" dirty="0">
                <a:solidFill>
                  <a:schemeClr val="bg1"/>
                </a:solidFill>
              </a:rPr>
              <a:t>판단</a:t>
            </a:r>
          </a:p>
        </p:txBody>
      </p:sp>
      <p:sp>
        <p:nvSpPr>
          <p:cNvPr id="44" name="직사각형 43">
            <a:extLst>
              <a:ext uri="{FF2B5EF4-FFF2-40B4-BE49-F238E27FC236}">
                <a16:creationId xmlns:a16="http://schemas.microsoft.com/office/drawing/2014/main" id="{C3DDB6B7-C4AB-471D-B53F-63689BA1BF37}"/>
              </a:ext>
            </a:extLst>
          </p:cNvPr>
          <p:cNvSpPr/>
          <p:nvPr/>
        </p:nvSpPr>
        <p:spPr>
          <a:xfrm>
            <a:off x="2721641" y="2708266"/>
            <a:ext cx="2134561" cy="30043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a:solidFill>
                  <a:schemeClr val="tx1"/>
                </a:solidFill>
              </a:rPr>
              <a:t>출원발명 특정</a:t>
            </a:r>
            <a:endParaRPr lang="ko-KR" altLang="en-US" sz="1600" dirty="0">
              <a:solidFill>
                <a:schemeClr val="tx1"/>
              </a:solidFill>
            </a:endParaRPr>
          </a:p>
        </p:txBody>
      </p:sp>
      <p:sp>
        <p:nvSpPr>
          <p:cNvPr id="45" name="직사각형 44">
            <a:extLst>
              <a:ext uri="{FF2B5EF4-FFF2-40B4-BE49-F238E27FC236}">
                <a16:creationId xmlns:a16="http://schemas.microsoft.com/office/drawing/2014/main" id="{8D69798D-90BA-4469-BFC1-5B36CEA94F2C}"/>
              </a:ext>
            </a:extLst>
          </p:cNvPr>
          <p:cNvSpPr/>
          <p:nvPr/>
        </p:nvSpPr>
        <p:spPr>
          <a:xfrm>
            <a:off x="2721641" y="3081713"/>
            <a:ext cx="2134561" cy="30043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인용대상 특정</a:t>
            </a:r>
          </a:p>
        </p:txBody>
      </p:sp>
      <p:sp>
        <p:nvSpPr>
          <p:cNvPr id="46" name="직사각형 45">
            <a:extLst>
              <a:ext uri="{FF2B5EF4-FFF2-40B4-BE49-F238E27FC236}">
                <a16:creationId xmlns:a16="http://schemas.microsoft.com/office/drawing/2014/main" id="{D3403F4E-DBF1-4CC5-ABD0-DA615DE715C9}"/>
              </a:ext>
            </a:extLst>
          </p:cNvPr>
          <p:cNvSpPr/>
          <p:nvPr/>
        </p:nvSpPr>
        <p:spPr>
          <a:xfrm>
            <a:off x="2721641" y="3477257"/>
            <a:ext cx="2134561" cy="30043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동일성</a:t>
            </a:r>
            <a:r>
              <a:rPr lang="en-US" altLang="ko-KR" sz="1600" dirty="0">
                <a:solidFill>
                  <a:schemeClr val="tx1"/>
                </a:solidFill>
              </a:rPr>
              <a:t>, </a:t>
            </a:r>
            <a:r>
              <a:rPr lang="ko-KR" altLang="en-US" sz="1600" dirty="0">
                <a:solidFill>
                  <a:schemeClr val="tx1"/>
                </a:solidFill>
              </a:rPr>
              <a:t>용이성 등 판단</a:t>
            </a:r>
          </a:p>
        </p:txBody>
      </p:sp>
      <p:sp>
        <p:nvSpPr>
          <p:cNvPr id="47" name="직사각형 46">
            <a:extLst>
              <a:ext uri="{FF2B5EF4-FFF2-40B4-BE49-F238E27FC236}">
                <a16:creationId xmlns:a16="http://schemas.microsoft.com/office/drawing/2014/main" id="{1FD788FE-A8F2-4026-A69D-49297D46D081}"/>
              </a:ext>
            </a:extLst>
          </p:cNvPr>
          <p:cNvSpPr/>
          <p:nvPr/>
        </p:nvSpPr>
        <p:spPr>
          <a:xfrm>
            <a:off x="2721641" y="4259768"/>
            <a:ext cx="2134561" cy="30043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특허발명 특정</a:t>
            </a:r>
          </a:p>
        </p:txBody>
      </p:sp>
      <p:sp>
        <p:nvSpPr>
          <p:cNvPr id="48" name="직사각형 47">
            <a:extLst>
              <a:ext uri="{FF2B5EF4-FFF2-40B4-BE49-F238E27FC236}">
                <a16:creationId xmlns:a16="http://schemas.microsoft.com/office/drawing/2014/main" id="{D2BB5E28-7C40-4485-AB2F-2EC1F467C192}"/>
              </a:ext>
            </a:extLst>
          </p:cNvPr>
          <p:cNvSpPr/>
          <p:nvPr/>
        </p:nvSpPr>
        <p:spPr>
          <a:xfrm>
            <a:off x="2721641" y="4633215"/>
            <a:ext cx="2134561" cy="30043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확인대상발명 특정</a:t>
            </a:r>
          </a:p>
        </p:txBody>
      </p:sp>
      <p:sp>
        <p:nvSpPr>
          <p:cNvPr id="49" name="직사각형 48">
            <a:extLst>
              <a:ext uri="{FF2B5EF4-FFF2-40B4-BE49-F238E27FC236}">
                <a16:creationId xmlns:a16="http://schemas.microsoft.com/office/drawing/2014/main" id="{170A1D52-4D31-46A3-B1D2-51A3DA592704}"/>
              </a:ext>
            </a:extLst>
          </p:cNvPr>
          <p:cNvSpPr/>
          <p:nvPr/>
        </p:nvSpPr>
        <p:spPr>
          <a:xfrm>
            <a:off x="2721641" y="5016402"/>
            <a:ext cx="2134561" cy="30043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600" dirty="0">
                <a:solidFill>
                  <a:schemeClr val="tx1"/>
                </a:solidFill>
              </a:rPr>
              <a:t>AER, </a:t>
            </a:r>
            <a:r>
              <a:rPr lang="ko-KR" altLang="en-US" sz="1600" dirty="0" err="1">
                <a:solidFill>
                  <a:schemeClr val="tx1"/>
                </a:solidFill>
              </a:rPr>
              <a:t>균등론</a:t>
            </a:r>
            <a:r>
              <a:rPr lang="ko-KR" altLang="en-US" sz="1600" dirty="0">
                <a:solidFill>
                  <a:schemeClr val="tx1"/>
                </a:solidFill>
              </a:rPr>
              <a:t> 적용 판단</a:t>
            </a:r>
          </a:p>
        </p:txBody>
      </p:sp>
      <p:cxnSp>
        <p:nvCxnSpPr>
          <p:cNvPr id="51" name="연결선: 꺾임 50">
            <a:extLst>
              <a:ext uri="{FF2B5EF4-FFF2-40B4-BE49-F238E27FC236}">
                <a16:creationId xmlns:a16="http://schemas.microsoft.com/office/drawing/2014/main" id="{FF4C1043-3678-4CF4-87AA-AE9840D0A5DC}"/>
              </a:ext>
            </a:extLst>
          </p:cNvPr>
          <p:cNvCxnSpPr>
            <a:stCxn id="31" idx="3"/>
            <a:endCxn id="44" idx="1"/>
          </p:cNvCxnSpPr>
          <p:nvPr/>
        </p:nvCxnSpPr>
        <p:spPr>
          <a:xfrm flipV="1">
            <a:off x="2521093" y="2858485"/>
            <a:ext cx="200548" cy="38598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연결선: 꺾임 52">
            <a:extLst>
              <a:ext uri="{FF2B5EF4-FFF2-40B4-BE49-F238E27FC236}">
                <a16:creationId xmlns:a16="http://schemas.microsoft.com/office/drawing/2014/main" id="{4D2F1865-DEDD-401D-8801-BF79C1ABA5B9}"/>
              </a:ext>
            </a:extLst>
          </p:cNvPr>
          <p:cNvCxnSpPr>
            <a:cxnSpLocks/>
            <a:stCxn id="31" idx="3"/>
            <a:endCxn id="45" idx="1"/>
          </p:cNvCxnSpPr>
          <p:nvPr/>
        </p:nvCxnSpPr>
        <p:spPr>
          <a:xfrm flipV="1">
            <a:off x="2521093" y="3231932"/>
            <a:ext cx="200548" cy="1253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연결선: 꺾임 55">
            <a:extLst>
              <a:ext uri="{FF2B5EF4-FFF2-40B4-BE49-F238E27FC236}">
                <a16:creationId xmlns:a16="http://schemas.microsoft.com/office/drawing/2014/main" id="{2BB4E593-2F0C-44DC-A729-FFDAB185E13A}"/>
              </a:ext>
            </a:extLst>
          </p:cNvPr>
          <p:cNvCxnSpPr>
            <a:stCxn id="31" idx="3"/>
            <a:endCxn id="46" idx="1"/>
          </p:cNvCxnSpPr>
          <p:nvPr/>
        </p:nvCxnSpPr>
        <p:spPr>
          <a:xfrm>
            <a:off x="2521093" y="3244467"/>
            <a:ext cx="200548" cy="38300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연결선: 꺾임 62">
            <a:extLst>
              <a:ext uri="{FF2B5EF4-FFF2-40B4-BE49-F238E27FC236}">
                <a16:creationId xmlns:a16="http://schemas.microsoft.com/office/drawing/2014/main" id="{89143579-79E7-4180-B25E-7B9E26C213D9}"/>
              </a:ext>
            </a:extLst>
          </p:cNvPr>
          <p:cNvCxnSpPr>
            <a:cxnSpLocks/>
            <a:stCxn id="33" idx="3"/>
            <a:endCxn id="47" idx="1"/>
          </p:cNvCxnSpPr>
          <p:nvPr/>
        </p:nvCxnSpPr>
        <p:spPr>
          <a:xfrm flipV="1">
            <a:off x="2521093" y="4409987"/>
            <a:ext cx="200548" cy="385180"/>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연결선: 꺾임 65">
            <a:extLst>
              <a:ext uri="{FF2B5EF4-FFF2-40B4-BE49-F238E27FC236}">
                <a16:creationId xmlns:a16="http://schemas.microsoft.com/office/drawing/2014/main" id="{ABFC791F-2099-4CBD-A7C0-AA0C9A44E109}"/>
              </a:ext>
            </a:extLst>
          </p:cNvPr>
          <p:cNvCxnSpPr>
            <a:stCxn id="33" idx="3"/>
            <a:endCxn id="49" idx="1"/>
          </p:cNvCxnSpPr>
          <p:nvPr/>
        </p:nvCxnSpPr>
        <p:spPr>
          <a:xfrm>
            <a:off x="2521093" y="4795167"/>
            <a:ext cx="200548" cy="37145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연결선: 꺾임 67">
            <a:extLst>
              <a:ext uri="{FF2B5EF4-FFF2-40B4-BE49-F238E27FC236}">
                <a16:creationId xmlns:a16="http://schemas.microsoft.com/office/drawing/2014/main" id="{1A5E03E6-86E0-4D9E-9007-A4C89101675C}"/>
              </a:ext>
            </a:extLst>
          </p:cNvPr>
          <p:cNvCxnSpPr>
            <a:stCxn id="33" idx="3"/>
            <a:endCxn id="48" idx="1"/>
          </p:cNvCxnSpPr>
          <p:nvPr/>
        </p:nvCxnSpPr>
        <p:spPr>
          <a:xfrm flipV="1">
            <a:off x="2521093" y="4783434"/>
            <a:ext cx="200548" cy="1173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9" name="말풍선: 모서리가 둥근 사각형 68">
            <a:extLst>
              <a:ext uri="{FF2B5EF4-FFF2-40B4-BE49-F238E27FC236}">
                <a16:creationId xmlns:a16="http://schemas.microsoft.com/office/drawing/2014/main" id="{37AD1172-3C80-4696-B859-C295C2B2AFD4}"/>
              </a:ext>
            </a:extLst>
          </p:cNvPr>
          <p:cNvSpPr/>
          <p:nvPr/>
        </p:nvSpPr>
        <p:spPr>
          <a:xfrm>
            <a:off x="5325309" y="1124325"/>
            <a:ext cx="2557840" cy="1290919"/>
          </a:xfrm>
          <a:prstGeom prst="wedgeRoundRectCallout">
            <a:avLst>
              <a:gd name="adj1" fmla="val 30857"/>
              <a:gd name="adj2" fmla="val 87188"/>
              <a:gd name="adj3" fmla="val 16667"/>
            </a:avLst>
          </a:prstGeom>
          <a:solidFill>
            <a:schemeClr val="bg1"/>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base"/>
            <a:r>
              <a:rPr lang="ko-KR" altLang="en-US" sz="1600" dirty="0">
                <a:solidFill>
                  <a:schemeClr val="bg2">
                    <a:lumMod val="50000"/>
                  </a:schemeClr>
                </a:solidFill>
              </a:rPr>
              <a:t>출원인의 입장만 고려</a:t>
            </a:r>
            <a:r>
              <a:rPr lang="en-US" altLang="ko-KR" sz="1600" dirty="0">
                <a:solidFill>
                  <a:schemeClr val="bg2">
                    <a:lumMod val="50000"/>
                  </a:schemeClr>
                </a:solidFill>
              </a:rPr>
              <a:t>: </a:t>
            </a:r>
            <a:r>
              <a:rPr lang="ko-KR" altLang="en-US" sz="1600" dirty="0">
                <a:solidFill>
                  <a:schemeClr val="bg2">
                    <a:lumMod val="50000"/>
                  </a:schemeClr>
                </a:solidFill>
              </a:rPr>
              <a:t>출원인의 표시한 의사를 심사관이 임의로 변경하는 것은 타당하지 아니함</a:t>
            </a:r>
          </a:p>
        </p:txBody>
      </p:sp>
      <p:sp>
        <p:nvSpPr>
          <p:cNvPr id="70" name="말풍선: 모서리가 둥근 사각형 69">
            <a:extLst>
              <a:ext uri="{FF2B5EF4-FFF2-40B4-BE49-F238E27FC236}">
                <a16:creationId xmlns:a16="http://schemas.microsoft.com/office/drawing/2014/main" id="{69D2A097-06AC-4FE8-8977-F71C44616886}"/>
              </a:ext>
            </a:extLst>
          </p:cNvPr>
          <p:cNvSpPr/>
          <p:nvPr/>
        </p:nvSpPr>
        <p:spPr>
          <a:xfrm>
            <a:off x="8117702" y="1124325"/>
            <a:ext cx="3892603" cy="1290919"/>
          </a:xfrm>
          <a:prstGeom prst="wedgeRoundRectCallout">
            <a:avLst>
              <a:gd name="adj1" fmla="val 3557"/>
              <a:gd name="adj2" fmla="val 83359"/>
              <a:gd name="adj3" fmla="val 16667"/>
            </a:avLst>
          </a:prstGeom>
          <a:solidFill>
            <a:schemeClr val="bg1"/>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base"/>
            <a:r>
              <a:rPr lang="ko-KR" altLang="en-US" sz="1600" dirty="0">
                <a:solidFill>
                  <a:schemeClr val="bg2">
                    <a:lumMod val="50000"/>
                  </a:schemeClr>
                </a:solidFill>
              </a:rPr>
              <a:t>출원인의 </a:t>
            </a:r>
            <a:r>
              <a:rPr lang="ko-KR" altLang="en-US" sz="1600" dirty="0" err="1">
                <a:solidFill>
                  <a:schemeClr val="bg2">
                    <a:lumMod val="50000"/>
                  </a:schemeClr>
                </a:solidFill>
              </a:rPr>
              <a:t>입장뿐만</a:t>
            </a:r>
            <a:r>
              <a:rPr lang="ko-KR" altLang="en-US" sz="1600" dirty="0">
                <a:solidFill>
                  <a:schemeClr val="bg2">
                    <a:lumMod val="50000"/>
                  </a:schemeClr>
                </a:solidFill>
              </a:rPr>
              <a:t> 아니라 </a:t>
            </a:r>
            <a:r>
              <a:rPr lang="ko-KR" altLang="en-US" sz="1600" dirty="0">
                <a:solidFill>
                  <a:schemeClr val="bg2">
                    <a:lumMod val="50000"/>
                  </a:schemeClr>
                </a:solidFill>
                <a:highlight>
                  <a:srgbClr val="FFFF00"/>
                </a:highlight>
              </a:rPr>
              <a:t>제</a:t>
            </a:r>
            <a:r>
              <a:rPr lang="en-US" altLang="ko-KR" sz="1600" dirty="0">
                <a:solidFill>
                  <a:schemeClr val="bg2">
                    <a:lumMod val="50000"/>
                  </a:schemeClr>
                </a:solidFill>
                <a:highlight>
                  <a:srgbClr val="FFFF00"/>
                </a:highlight>
              </a:rPr>
              <a:t>3</a:t>
            </a:r>
            <a:r>
              <a:rPr lang="ko-KR" altLang="en-US" sz="1600" dirty="0">
                <a:solidFill>
                  <a:schemeClr val="bg2">
                    <a:lumMod val="50000"/>
                  </a:schemeClr>
                </a:solidFill>
                <a:highlight>
                  <a:srgbClr val="FFFF00"/>
                </a:highlight>
              </a:rPr>
              <a:t>자의 입장</a:t>
            </a:r>
            <a:r>
              <a:rPr lang="ko-KR" altLang="en-US" sz="1600" dirty="0">
                <a:solidFill>
                  <a:schemeClr val="bg2">
                    <a:lumMod val="50000"/>
                  </a:schemeClr>
                </a:solidFill>
              </a:rPr>
              <a:t> 고려</a:t>
            </a:r>
            <a:r>
              <a:rPr lang="en-US" altLang="ko-KR" sz="1600" dirty="0">
                <a:solidFill>
                  <a:schemeClr val="bg2">
                    <a:lumMod val="50000"/>
                  </a:schemeClr>
                </a:solidFill>
              </a:rPr>
              <a:t>: </a:t>
            </a:r>
            <a:r>
              <a:rPr lang="ko-KR" altLang="en-US" sz="1600" dirty="0">
                <a:solidFill>
                  <a:schemeClr val="bg2">
                    <a:lumMod val="50000"/>
                  </a:schemeClr>
                </a:solidFill>
              </a:rPr>
              <a:t>보호할 가치가 없는 사항이나 진실로 발명하지 아니한 부분까지 그 권리를 인정하는 것은 곤란</a:t>
            </a:r>
          </a:p>
        </p:txBody>
      </p:sp>
      <p:sp>
        <p:nvSpPr>
          <p:cNvPr id="8" name="자유형: 도형 7">
            <a:extLst>
              <a:ext uri="{FF2B5EF4-FFF2-40B4-BE49-F238E27FC236}">
                <a16:creationId xmlns:a16="http://schemas.microsoft.com/office/drawing/2014/main" id="{0BF479D7-0A55-87D0-48F6-8F9967106A5F}"/>
              </a:ext>
            </a:extLst>
          </p:cNvPr>
          <p:cNvSpPr/>
          <p:nvPr/>
        </p:nvSpPr>
        <p:spPr>
          <a:xfrm>
            <a:off x="9699812" y="3702424"/>
            <a:ext cx="1712259" cy="2752164"/>
          </a:xfrm>
          <a:custGeom>
            <a:avLst/>
            <a:gdLst>
              <a:gd name="connsiteX0" fmla="*/ 385482 w 1712259"/>
              <a:gd name="connsiteY0" fmla="*/ 0 h 2752164"/>
              <a:gd name="connsiteX1" fmla="*/ 385482 w 1712259"/>
              <a:gd name="connsiteY1" fmla="*/ 555811 h 2752164"/>
              <a:gd name="connsiteX2" fmla="*/ 0 w 1712259"/>
              <a:gd name="connsiteY2" fmla="*/ 555811 h 2752164"/>
              <a:gd name="connsiteX3" fmla="*/ 0 w 1712259"/>
              <a:gd name="connsiteY3" fmla="*/ 2752164 h 2752164"/>
              <a:gd name="connsiteX4" fmla="*/ 1712259 w 1712259"/>
              <a:gd name="connsiteY4" fmla="*/ 2752164 h 2752164"/>
              <a:gd name="connsiteX5" fmla="*/ 1712259 w 1712259"/>
              <a:gd name="connsiteY5" fmla="*/ 8964 h 2752164"/>
              <a:gd name="connsiteX6" fmla="*/ 385482 w 1712259"/>
              <a:gd name="connsiteY6" fmla="*/ 0 h 2752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2259" h="2752164">
                <a:moveTo>
                  <a:pt x="385482" y="0"/>
                </a:moveTo>
                <a:lnTo>
                  <a:pt x="385482" y="555811"/>
                </a:lnTo>
                <a:lnTo>
                  <a:pt x="0" y="555811"/>
                </a:lnTo>
                <a:lnTo>
                  <a:pt x="0" y="2752164"/>
                </a:lnTo>
                <a:lnTo>
                  <a:pt x="1712259" y="2752164"/>
                </a:lnTo>
                <a:lnTo>
                  <a:pt x="1712259" y="8964"/>
                </a:lnTo>
                <a:lnTo>
                  <a:pt x="385482" y="0"/>
                </a:lnTo>
                <a:close/>
              </a:path>
            </a:pathLst>
          </a:custGeom>
          <a:noFill/>
          <a:ln w="38100">
            <a:solidFill>
              <a:srgbClr val="FF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TextBox 8">
            <a:extLst>
              <a:ext uri="{FF2B5EF4-FFF2-40B4-BE49-F238E27FC236}">
                <a16:creationId xmlns:a16="http://schemas.microsoft.com/office/drawing/2014/main" id="{F6A9704E-E80E-1945-AD99-9850368D414D}"/>
              </a:ext>
            </a:extLst>
          </p:cNvPr>
          <p:cNvSpPr txBox="1"/>
          <p:nvPr/>
        </p:nvSpPr>
        <p:spPr>
          <a:xfrm>
            <a:off x="10555941" y="883356"/>
            <a:ext cx="922047" cy="338554"/>
          </a:xfrm>
          <a:prstGeom prst="rect">
            <a:avLst/>
          </a:prstGeom>
          <a:noFill/>
          <a:ln w="38100">
            <a:solidFill>
              <a:srgbClr val="FF0000"/>
            </a:solidFill>
          </a:ln>
        </p:spPr>
        <p:txBody>
          <a:bodyPr wrap="none" rtlCol="0">
            <a:spAutoFit/>
          </a:bodyPr>
          <a:lstStyle/>
          <a:p>
            <a:r>
              <a:rPr lang="ko-KR" altLang="en-US" sz="1600" dirty="0">
                <a:solidFill>
                  <a:srgbClr val="FF0000"/>
                </a:solidFill>
              </a:rPr>
              <a:t>특별사정</a:t>
            </a:r>
          </a:p>
        </p:txBody>
      </p:sp>
      <p:sp>
        <p:nvSpPr>
          <p:cNvPr id="11" name="TextBox 10">
            <a:extLst>
              <a:ext uri="{FF2B5EF4-FFF2-40B4-BE49-F238E27FC236}">
                <a16:creationId xmlns:a16="http://schemas.microsoft.com/office/drawing/2014/main" id="{1E59EF65-AC27-FDEC-3D6C-8DA94692931B}"/>
              </a:ext>
            </a:extLst>
          </p:cNvPr>
          <p:cNvSpPr txBox="1"/>
          <p:nvPr/>
        </p:nvSpPr>
        <p:spPr>
          <a:xfrm>
            <a:off x="10094917" y="6287517"/>
            <a:ext cx="922047" cy="338554"/>
          </a:xfrm>
          <a:prstGeom prst="rect">
            <a:avLst/>
          </a:prstGeom>
          <a:solidFill>
            <a:schemeClr val="bg1"/>
          </a:solidFill>
          <a:ln w="38100">
            <a:solidFill>
              <a:srgbClr val="FF0000"/>
            </a:solidFill>
          </a:ln>
        </p:spPr>
        <p:txBody>
          <a:bodyPr wrap="none" rtlCol="0">
            <a:spAutoFit/>
          </a:bodyPr>
          <a:lstStyle/>
          <a:p>
            <a:r>
              <a:rPr lang="ko-KR" altLang="en-US" sz="1600" dirty="0">
                <a:solidFill>
                  <a:srgbClr val="FF0000"/>
                </a:solidFill>
              </a:rPr>
              <a:t>특별사정</a:t>
            </a:r>
          </a:p>
        </p:txBody>
      </p:sp>
    </p:spTree>
    <p:extLst>
      <p:ext uri="{BB962C8B-B14F-4D97-AF65-F5344CB8AC3E}">
        <p14:creationId xmlns:p14="http://schemas.microsoft.com/office/powerpoint/2010/main" val="498134700"/>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4" name="텍스트 개체 틀 3"/>
          <p:cNvSpPr>
            <a:spLocks noGrp="1"/>
          </p:cNvSpPr>
          <p:nvPr>
            <p:ph type="body" sz="quarter" idx="13"/>
          </p:nvPr>
        </p:nvSpPr>
        <p:spPr/>
        <p:txBody>
          <a:bodyPr/>
          <a:lstStyle/>
          <a:p>
            <a:r>
              <a:rPr lang="ko-KR" altLang="en-US" dirty="0"/>
              <a:t>기능적 표현 청구항의</a:t>
            </a:r>
            <a:r>
              <a:rPr lang="en-US" altLang="ko-KR" dirty="0"/>
              <a:t> CASE</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349</a:t>
            </a:r>
            <a:endParaRPr lang="ko-KR" altLang="en-US"/>
          </a:p>
        </p:txBody>
      </p:sp>
      <p:cxnSp>
        <p:nvCxnSpPr>
          <p:cNvPr id="10" name="직선 연결선 9"/>
          <p:cNvCxnSpPr>
            <a:cxnSpLocks/>
          </p:cNvCxnSpPr>
          <p:nvPr/>
        </p:nvCxnSpPr>
        <p:spPr>
          <a:xfrm>
            <a:off x="380873" y="1984016"/>
            <a:ext cx="643191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507933" y="1394319"/>
            <a:ext cx="1143572" cy="261610"/>
          </a:xfrm>
          <a:prstGeom prst="rect">
            <a:avLst/>
          </a:prstGeom>
          <a:noFill/>
          <a:ln>
            <a:solidFill>
              <a:schemeClr val="bg1">
                <a:lumMod val="50000"/>
              </a:schemeClr>
            </a:solidFill>
          </a:ln>
        </p:spPr>
        <p:txBody>
          <a:bodyPr wrap="square" rtlCol="0">
            <a:spAutoFit/>
          </a:bodyPr>
          <a:lstStyle/>
          <a:p>
            <a:r>
              <a:rPr lang="ko-KR" altLang="en-US" sz="1100" dirty="0"/>
              <a:t>지우개 결합 연필</a:t>
            </a:r>
          </a:p>
        </p:txBody>
      </p:sp>
      <p:sp>
        <p:nvSpPr>
          <p:cNvPr id="12" name="직사각형 11"/>
          <p:cNvSpPr/>
          <p:nvPr/>
        </p:nvSpPr>
        <p:spPr>
          <a:xfrm>
            <a:off x="580574" y="1845756"/>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공지기술</a:t>
            </a:r>
          </a:p>
        </p:txBody>
      </p:sp>
      <p:sp>
        <p:nvSpPr>
          <p:cNvPr id="24" name="직사각형 23"/>
          <p:cNvSpPr/>
          <p:nvPr/>
        </p:nvSpPr>
        <p:spPr>
          <a:xfrm>
            <a:off x="1962822" y="1871629"/>
            <a:ext cx="996278" cy="274565"/>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발명</a:t>
            </a:r>
            <a:endParaRPr lang="ko-KR" altLang="en-US" sz="1200" dirty="0">
              <a:solidFill>
                <a:schemeClr val="tx1"/>
              </a:solidFill>
            </a:endParaRPr>
          </a:p>
        </p:txBody>
      </p:sp>
      <p:sp>
        <p:nvSpPr>
          <p:cNvPr id="37" name="TextBox 36"/>
          <p:cNvSpPr txBox="1"/>
          <p:nvPr/>
        </p:nvSpPr>
        <p:spPr>
          <a:xfrm>
            <a:off x="6096000" y="4808781"/>
            <a:ext cx="1433576" cy="261610"/>
          </a:xfrm>
          <a:prstGeom prst="rect">
            <a:avLst/>
          </a:prstGeom>
          <a:solidFill>
            <a:schemeClr val="bg1">
              <a:lumMod val="95000"/>
            </a:schemeClr>
          </a:solidFill>
          <a:ln>
            <a:solidFill>
              <a:schemeClr val="bg1">
                <a:lumMod val="50000"/>
              </a:schemeClr>
            </a:solidFill>
          </a:ln>
        </p:spPr>
        <p:txBody>
          <a:bodyPr wrap="square" rtlCol="0">
            <a:spAutoFit/>
          </a:bodyPr>
          <a:lstStyle/>
          <a:p>
            <a:pPr algn="ctr"/>
            <a:r>
              <a:rPr lang="ko-KR" altLang="en-US" sz="1100" dirty="0"/>
              <a:t>지우개 결합 연필 실시</a:t>
            </a:r>
            <a:endParaRPr lang="en-US" altLang="ko-KR" sz="1100" dirty="0"/>
          </a:p>
        </p:txBody>
      </p:sp>
      <p:cxnSp>
        <p:nvCxnSpPr>
          <p:cNvPr id="14" name="연결선: 꺾임 13">
            <a:extLst>
              <a:ext uri="{FF2B5EF4-FFF2-40B4-BE49-F238E27FC236}">
                <a16:creationId xmlns:a16="http://schemas.microsoft.com/office/drawing/2014/main" id="{4F71079C-7B8A-4681-9D03-4B129C66846B}"/>
              </a:ext>
            </a:extLst>
          </p:cNvPr>
          <p:cNvCxnSpPr>
            <a:cxnSpLocks/>
            <a:stCxn id="11" idx="2"/>
            <a:endCxn id="12" idx="0"/>
          </p:cNvCxnSpPr>
          <p:nvPr/>
        </p:nvCxnSpPr>
        <p:spPr>
          <a:xfrm rot="5400000">
            <a:off x="984303" y="1750339"/>
            <a:ext cx="189827" cy="1006"/>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F5ACD4DF-0F21-4C2F-9F23-1616AD7A6269}"/>
              </a:ext>
            </a:extLst>
          </p:cNvPr>
          <p:cNvSpPr txBox="1"/>
          <p:nvPr/>
        </p:nvSpPr>
        <p:spPr>
          <a:xfrm>
            <a:off x="1886000" y="1394319"/>
            <a:ext cx="1143572" cy="261610"/>
          </a:xfrm>
          <a:prstGeom prst="rect">
            <a:avLst/>
          </a:prstGeom>
          <a:noFill/>
          <a:ln>
            <a:solidFill>
              <a:schemeClr val="bg1">
                <a:lumMod val="50000"/>
              </a:schemeClr>
            </a:solidFill>
          </a:ln>
        </p:spPr>
        <p:txBody>
          <a:bodyPr wrap="square" rtlCol="0">
            <a:spAutoFit/>
          </a:bodyPr>
          <a:lstStyle/>
          <a:p>
            <a:r>
              <a:rPr lang="ko-KR" altLang="en-US" sz="1100" dirty="0"/>
              <a:t>수정액 결합 볼펜</a:t>
            </a:r>
          </a:p>
        </p:txBody>
      </p:sp>
      <p:cxnSp>
        <p:nvCxnSpPr>
          <p:cNvPr id="47" name="연결선: 꺾임 46">
            <a:extLst>
              <a:ext uri="{FF2B5EF4-FFF2-40B4-BE49-F238E27FC236}">
                <a16:creationId xmlns:a16="http://schemas.microsoft.com/office/drawing/2014/main" id="{70DD68ED-20B7-4DD0-82C5-8C745CA3BF3E}"/>
              </a:ext>
            </a:extLst>
          </p:cNvPr>
          <p:cNvCxnSpPr>
            <a:cxnSpLocks/>
            <a:stCxn id="44" idx="2"/>
            <a:endCxn id="24" idx="0"/>
          </p:cNvCxnSpPr>
          <p:nvPr/>
        </p:nvCxnSpPr>
        <p:spPr>
          <a:xfrm rot="16200000" flipH="1">
            <a:off x="2351523" y="1762191"/>
            <a:ext cx="215700" cy="3175"/>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69ED3B97-7020-459C-AB38-E0A9CB32C2A1}"/>
              </a:ext>
            </a:extLst>
          </p:cNvPr>
          <p:cNvSpPr txBox="1"/>
          <p:nvPr/>
        </p:nvSpPr>
        <p:spPr>
          <a:xfrm>
            <a:off x="3338718" y="1045069"/>
            <a:ext cx="3226277" cy="600164"/>
          </a:xfrm>
          <a:prstGeom prst="rect">
            <a:avLst/>
          </a:prstGeom>
          <a:noFill/>
          <a:ln>
            <a:solidFill>
              <a:schemeClr val="bg1">
                <a:lumMod val="50000"/>
              </a:schemeClr>
            </a:solidFill>
          </a:ln>
        </p:spPr>
        <p:txBody>
          <a:bodyPr wrap="square" rtlCol="0">
            <a:spAutoFit/>
          </a:bodyPr>
          <a:lstStyle/>
          <a:p>
            <a:r>
              <a:rPr lang="ko-KR" altLang="en-US" sz="1100" dirty="0"/>
              <a:t>청구범위</a:t>
            </a:r>
            <a:r>
              <a:rPr lang="en-US" altLang="ko-KR" sz="1100" dirty="0"/>
              <a:t>: </a:t>
            </a:r>
            <a:r>
              <a:rPr lang="ko-KR" altLang="en-US" sz="1100" dirty="0"/>
              <a:t>소거수단을 결합한 필기수단</a:t>
            </a:r>
            <a:endParaRPr lang="en-US" altLang="ko-KR" sz="1100" dirty="0"/>
          </a:p>
          <a:p>
            <a:r>
              <a:rPr lang="ko-KR" altLang="en-US" sz="1100" dirty="0"/>
              <a:t>발명의 설명</a:t>
            </a:r>
            <a:r>
              <a:rPr lang="en-US" altLang="ko-KR" sz="1100" dirty="0"/>
              <a:t>: </a:t>
            </a:r>
            <a:r>
              <a:rPr lang="ko-KR" altLang="en-US" sz="1100" dirty="0"/>
              <a:t>소거수단 결합한 필기수단과 그 실시예로 수정액 결합 볼펜 기재</a:t>
            </a:r>
          </a:p>
        </p:txBody>
      </p:sp>
      <p:sp>
        <p:nvSpPr>
          <p:cNvPr id="49" name="직사각형 48">
            <a:extLst>
              <a:ext uri="{FF2B5EF4-FFF2-40B4-BE49-F238E27FC236}">
                <a16:creationId xmlns:a16="http://schemas.microsoft.com/office/drawing/2014/main" id="{E5F83471-91AF-4949-A16A-6D8A06B02CB0}"/>
              </a:ext>
            </a:extLst>
          </p:cNvPr>
          <p:cNvSpPr/>
          <p:nvPr/>
        </p:nvSpPr>
        <p:spPr>
          <a:xfrm>
            <a:off x="3411360" y="1845756"/>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특허출원</a:t>
            </a:r>
          </a:p>
        </p:txBody>
      </p:sp>
      <p:cxnSp>
        <p:nvCxnSpPr>
          <p:cNvPr id="53" name="연결선: 꺾임 52">
            <a:extLst>
              <a:ext uri="{FF2B5EF4-FFF2-40B4-BE49-F238E27FC236}">
                <a16:creationId xmlns:a16="http://schemas.microsoft.com/office/drawing/2014/main" id="{10172452-2F30-4A9C-9BD3-3A4B10AE9E81}"/>
              </a:ext>
            </a:extLst>
          </p:cNvPr>
          <p:cNvCxnSpPr>
            <a:cxnSpLocks/>
            <a:stCxn id="48" idx="2"/>
            <a:endCxn id="49" idx="0"/>
          </p:cNvCxnSpPr>
          <p:nvPr/>
        </p:nvCxnSpPr>
        <p:spPr>
          <a:xfrm rot="5400000">
            <a:off x="4330417" y="1224315"/>
            <a:ext cx="200523" cy="1042358"/>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55" name="직선 연결선 54">
            <a:extLst>
              <a:ext uri="{FF2B5EF4-FFF2-40B4-BE49-F238E27FC236}">
                <a16:creationId xmlns:a16="http://schemas.microsoft.com/office/drawing/2014/main" id="{D51D7E9B-F714-42B4-844F-F7E450B53C60}"/>
              </a:ext>
            </a:extLst>
          </p:cNvPr>
          <p:cNvCxnSpPr>
            <a:cxnSpLocks/>
          </p:cNvCxnSpPr>
          <p:nvPr/>
        </p:nvCxnSpPr>
        <p:spPr>
          <a:xfrm>
            <a:off x="380873" y="4359706"/>
            <a:ext cx="11630152"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직사각형 57">
            <a:extLst>
              <a:ext uri="{FF2B5EF4-FFF2-40B4-BE49-F238E27FC236}">
                <a16:creationId xmlns:a16="http://schemas.microsoft.com/office/drawing/2014/main" id="{9A2F5B07-0AC3-42AB-92EF-680474F3A582}"/>
              </a:ext>
            </a:extLst>
          </p:cNvPr>
          <p:cNvSpPr/>
          <p:nvPr/>
        </p:nvSpPr>
        <p:spPr>
          <a:xfrm>
            <a:off x="1962822" y="4247319"/>
            <a:ext cx="996278" cy="274565"/>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발명</a:t>
            </a:r>
            <a:endParaRPr lang="ko-KR" altLang="en-US" sz="1200" dirty="0">
              <a:solidFill>
                <a:schemeClr val="tx1"/>
              </a:solidFill>
            </a:endParaRPr>
          </a:p>
        </p:txBody>
      </p:sp>
      <p:sp>
        <p:nvSpPr>
          <p:cNvPr id="61" name="TextBox 60">
            <a:extLst>
              <a:ext uri="{FF2B5EF4-FFF2-40B4-BE49-F238E27FC236}">
                <a16:creationId xmlns:a16="http://schemas.microsoft.com/office/drawing/2014/main" id="{CD2235DC-5F1C-4C18-9200-5EADCC5DCC5A}"/>
              </a:ext>
            </a:extLst>
          </p:cNvPr>
          <p:cNvSpPr txBox="1"/>
          <p:nvPr/>
        </p:nvSpPr>
        <p:spPr>
          <a:xfrm>
            <a:off x="1886000" y="3770009"/>
            <a:ext cx="1143572" cy="261610"/>
          </a:xfrm>
          <a:prstGeom prst="rect">
            <a:avLst/>
          </a:prstGeom>
          <a:noFill/>
          <a:ln>
            <a:solidFill>
              <a:schemeClr val="bg1">
                <a:lumMod val="50000"/>
              </a:schemeClr>
            </a:solidFill>
          </a:ln>
        </p:spPr>
        <p:txBody>
          <a:bodyPr wrap="square" rtlCol="0">
            <a:spAutoFit/>
          </a:bodyPr>
          <a:lstStyle/>
          <a:p>
            <a:r>
              <a:rPr lang="ko-KR" altLang="en-US" sz="1100" dirty="0"/>
              <a:t>수정액 결합 볼펜</a:t>
            </a:r>
          </a:p>
        </p:txBody>
      </p:sp>
      <p:cxnSp>
        <p:nvCxnSpPr>
          <p:cNvPr id="62" name="연결선: 꺾임 61">
            <a:extLst>
              <a:ext uri="{FF2B5EF4-FFF2-40B4-BE49-F238E27FC236}">
                <a16:creationId xmlns:a16="http://schemas.microsoft.com/office/drawing/2014/main" id="{E52E7A17-737A-4876-BA05-7D46A0EAE8E8}"/>
              </a:ext>
            </a:extLst>
          </p:cNvPr>
          <p:cNvCxnSpPr>
            <a:cxnSpLocks/>
            <a:stCxn id="61" idx="2"/>
            <a:endCxn id="58" idx="0"/>
          </p:cNvCxnSpPr>
          <p:nvPr/>
        </p:nvCxnSpPr>
        <p:spPr>
          <a:xfrm rot="16200000" flipH="1">
            <a:off x="2351523" y="4137881"/>
            <a:ext cx="215700" cy="3175"/>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5E85C7D3-2507-463B-A37D-61A27DF553E5}"/>
              </a:ext>
            </a:extLst>
          </p:cNvPr>
          <p:cNvSpPr txBox="1"/>
          <p:nvPr/>
        </p:nvSpPr>
        <p:spPr>
          <a:xfrm>
            <a:off x="3338718" y="3420759"/>
            <a:ext cx="3226277" cy="600164"/>
          </a:xfrm>
          <a:prstGeom prst="rect">
            <a:avLst/>
          </a:prstGeom>
          <a:noFill/>
          <a:ln>
            <a:solidFill>
              <a:schemeClr val="bg1">
                <a:lumMod val="50000"/>
              </a:schemeClr>
            </a:solidFill>
          </a:ln>
        </p:spPr>
        <p:txBody>
          <a:bodyPr wrap="square" rtlCol="0">
            <a:spAutoFit/>
          </a:bodyPr>
          <a:lstStyle/>
          <a:p>
            <a:r>
              <a:rPr lang="ko-KR" altLang="en-US" sz="1100" dirty="0"/>
              <a:t>청구범위</a:t>
            </a:r>
            <a:r>
              <a:rPr lang="en-US" altLang="ko-KR" sz="1100" dirty="0"/>
              <a:t>: </a:t>
            </a:r>
            <a:r>
              <a:rPr lang="ko-KR" altLang="en-US" sz="1100" dirty="0"/>
              <a:t>소거수단을 결합한 필기수단</a:t>
            </a:r>
            <a:endParaRPr lang="en-US" altLang="ko-KR" sz="1100" dirty="0"/>
          </a:p>
          <a:p>
            <a:r>
              <a:rPr lang="ko-KR" altLang="en-US" sz="1100" dirty="0"/>
              <a:t>발명의 설명</a:t>
            </a:r>
            <a:r>
              <a:rPr lang="en-US" altLang="ko-KR" sz="1100" dirty="0"/>
              <a:t>: </a:t>
            </a:r>
            <a:r>
              <a:rPr lang="ko-KR" altLang="en-US" sz="1100" dirty="0"/>
              <a:t>소거수단 결합한 필기수단과 그 실시예로 수정액 결합 볼펜 기재</a:t>
            </a:r>
          </a:p>
        </p:txBody>
      </p:sp>
      <p:sp>
        <p:nvSpPr>
          <p:cNvPr id="64" name="직사각형 63">
            <a:extLst>
              <a:ext uri="{FF2B5EF4-FFF2-40B4-BE49-F238E27FC236}">
                <a16:creationId xmlns:a16="http://schemas.microsoft.com/office/drawing/2014/main" id="{EB8FBFF0-8D19-4CBA-BDC3-04E70F2D553E}"/>
              </a:ext>
            </a:extLst>
          </p:cNvPr>
          <p:cNvSpPr/>
          <p:nvPr/>
        </p:nvSpPr>
        <p:spPr>
          <a:xfrm>
            <a:off x="3411360" y="4221446"/>
            <a:ext cx="996278" cy="300438"/>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특허출원</a:t>
            </a:r>
          </a:p>
        </p:txBody>
      </p:sp>
      <p:cxnSp>
        <p:nvCxnSpPr>
          <p:cNvPr id="65" name="연결선: 꺾임 64">
            <a:extLst>
              <a:ext uri="{FF2B5EF4-FFF2-40B4-BE49-F238E27FC236}">
                <a16:creationId xmlns:a16="http://schemas.microsoft.com/office/drawing/2014/main" id="{F2563F37-D790-4ACA-9D75-6FD661559DFA}"/>
              </a:ext>
            </a:extLst>
          </p:cNvPr>
          <p:cNvCxnSpPr>
            <a:cxnSpLocks/>
            <a:stCxn id="63" idx="2"/>
            <a:endCxn id="64" idx="0"/>
          </p:cNvCxnSpPr>
          <p:nvPr/>
        </p:nvCxnSpPr>
        <p:spPr>
          <a:xfrm rot="5400000">
            <a:off x="4330417" y="3600005"/>
            <a:ext cx="200523" cy="1042358"/>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66" name="직사각형 65">
            <a:extLst>
              <a:ext uri="{FF2B5EF4-FFF2-40B4-BE49-F238E27FC236}">
                <a16:creationId xmlns:a16="http://schemas.microsoft.com/office/drawing/2014/main" id="{5D0DB450-0B95-4E37-92A9-2456D908361F}"/>
              </a:ext>
            </a:extLst>
          </p:cNvPr>
          <p:cNvSpPr/>
          <p:nvPr/>
        </p:nvSpPr>
        <p:spPr>
          <a:xfrm>
            <a:off x="5099722" y="4221446"/>
            <a:ext cx="996278" cy="300438"/>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등록</a:t>
            </a:r>
          </a:p>
        </p:txBody>
      </p:sp>
      <p:sp>
        <p:nvSpPr>
          <p:cNvPr id="30" name="직사각형 29"/>
          <p:cNvSpPr/>
          <p:nvPr/>
        </p:nvSpPr>
        <p:spPr>
          <a:xfrm>
            <a:off x="6663678" y="4208803"/>
            <a:ext cx="1152931" cy="300437"/>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자 실시</a:t>
            </a:r>
            <a:r>
              <a:rPr lang="en-US" altLang="ko-KR" sz="1200" dirty="0">
                <a:solidFill>
                  <a:schemeClr val="tx1"/>
                </a:solidFill>
              </a:rPr>
              <a:t>1</a:t>
            </a:r>
            <a:endParaRPr lang="ko-KR" altLang="en-US" sz="1200" dirty="0">
              <a:solidFill>
                <a:schemeClr val="tx1"/>
              </a:solidFill>
            </a:endParaRPr>
          </a:p>
        </p:txBody>
      </p:sp>
      <p:sp>
        <p:nvSpPr>
          <p:cNvPr id="92" name="직사각형 91">
            <a:extLst>
              <a:ext uri="{FF2B5EF4-FFF2-40B4-BE49-F238E27FC236}">
                <a16:creationId xmlns:a16="http://schemas.microsoft.com/office/drawing/2014/main" id="{F4765440-AF7B-4DCA-989F-D2D419A8F54E}"/>
              </a:ext>
            </a:extLst>
          </p:cNvPr>
          <p:cNvSpPr/>
          <p:nvPr/>
        </p:nvSpPr>
        <p:spPr>
          <a:xfrm>
            <a:off x="8190542" y="4208803"/>
            <a:ext cx="1152931" cy="300437"/>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자 실시</a:t>
            </a:r>
            <a:r>
              <a:rPr lang="en-US" altLang="ko-KR" sz="1200" dirty="0">
                <a:solidFill>
                  <a:schemeClr val="tx1"/>
                </a:solidFill>
              </a:rPr>
              <a:t>2</a:t>
            </a:r>
            <a:endParaRPr lang="ko-KR" altLang="en-US" sz="1200" dirty="0">
              <a:solidFill>
                <a:schemeClr val="tx1"/>
              </a:solidFill>
            </a:endParaRPr>
          </a:p>
        </p:txBody>
      </p:sp>
      <p:sp>
        <p:nvSpPr>
          <p:cNvPr id="94" name="직사각형 93">
            <a:extLst>
              <a:ext uri="{FF2B5EF4-FFF2-40B4-BE49-F238E27FC236}">
                <a16:creationId xmlns:a16="http://schemas.microsoft.com/office/drawing/2014/main" id="{F7D05164-44B6-4EEF-B173-2C732D8C904C}"/>
              </a:ext>
            </a:extLst>
          </p:cNvPr>
          <p:cNvSpPr/>
          <p:nvPr/>
        </p:nvSpPr>
        <p:spPr>
          <a:xfrm>
            <a:off x="9717406" y="4208803"/>
            <a:ext cx="1152931" cy="300437"/>
          </a:xfrm>
          <a:prstGeom prst="rect">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3</a:t>
            </a:r>
            <a:r>
              <a:rPr lang="ko-KR" altLang="en-US" sz="1200" dirty="0">
                <a:solidFill>
                  <a:schemeClr val="tx1"/>
                </a:solidFill>
              </a:rPr>
              <a:t>자 실시</a:t>
            </a:r>
            <a:r>
              <a:rPr lang="en-US" altLang="ko-KR" sz="1200" dirty="0">
                <a:solidFill>
                  <a:schemeClr val="tx1"/>
                </a:solidFill>
              </a:rPr>
              <a:t>3</a:t>
            </a:r>
            <a:endParaRPr lang="ko-KR" altLang="en-US" sz="1200" dirty="0">
              <a:solidFill>
                <a:schemeClr val="tx1"/>
              </a:solidFill>
            </a:endParaRPr>
          </a:p>
        </p:txBody>
      </p:sp>
      <p:cxnSp>
        <p:nvCxnSpPr>
          <p:cNvPr id="96" name="연결선: 꺾임 95">
            <a:extLst>
              <a:ext uri="{FF2B5EF4-FFF2-40B4-BE49-F238E27FC236}">
                <a16:creationId xmlns:a16="http://schemas.microsoft.com/office/drawing/2014/main" id="{6DF647E0-4DC3-4C85-B1A4-E8A5A880E48E}"/>
              </a:ext>
            </a:extLst>
          </p:cNvPr>
          <p:cNvCxnSpPr>
            <a:cxnSpLocks/>
            <a:stCxn id="37" idx="0"/>
            <a:endCxn id="30" idx="2"/>
          </p:cNvCxnSpPr>
          <p:nvPr/>
        </p:nvCxnSpPr>
        <p:spPr>
          <a:xfrm rot="5400000" flipH="1" flipV="1">
            <a:off x="6876696" y="4445333"/>
            <a:ext cx="299541" cy="427356"/>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99" name="TextBox 98">
            <a:extLst>
              <a:ext uri="{FF2B5EF4-FFF2-40B4-BE49-F238E27FC236}">
                <a16:creationId xmlns:a16="http://schemas.microsoft.com/office/drawing/2014/main" id="{61BF306A-C4CD-400A-AA9E-BD2E8E5CA24D}"/>
              </a:ext>
            </a:extLst>
          </p:cNvPr>
          <p:cNvSpPr txBox="1"/>
          <p:nvPr/>
        </p:nvSpPr>
        <p:spPr>
          <a:xfrm>
            <a:off x="8051418" y="4808781"/>
            <a:ext cx="1433576" cy="261610"/>
          </a:xfrm>
          <a:prstGeom prst="rect">
            <a:avLst/>
          </a:prstGeom>
          <a:solidFill>
            <a:schemeClr val="bg1">
              <a:lumMod val="95000"/>
            </a:schemeClr>
          </a:solidFill>
          <a:ln>
            <a:solidFill>
              <a:schemeClr val="bg1">
                <a:lumMod val="50000"/>
              </a:schemeClr>
            </a:solidFill>
          </a:ln>
        </p:spPr>
        <p:txBody>
          <a:bodyPr wrap="square" rtlCol="0">
            <a:spAutoFit/>
          </a:bodyPr>
          <a:lstStyle/>
          <a:p>
            <a:pPr algn="ctr"/>
            <a:r>
              <a:rPr lang="ko-KR" altLang="en-US" sz="1100" dirty="0"/>
              <a:t>수정액 결합 볼펜</a:t>
            </a:r>
            <a:endParaRPr lang="en-US" altLang="ko-KR" sz="1100" dirty="0"/>
          </a:p>
        </p:txBody>
      </p:sp>
      <p:cxnSp>
        <p:nvCxnSpPr>
          <p:cNvPr id="100" name="연결선: 꺾임 99">
            <a:extLst>
              <a:ext uri="{FF2B5EF4-FFF2-40B4-BE49-F238E27FC236}">
                <a16:creationId xmlns:a16="http://schemas.microsoft.com/office/drawing/2014/main" id="{60112D89-90A3-419A-93EA-F7BD3B812D83}"/>
              </a:ext>
            </a:extLst>
          </p:cNvPr>
          <p:cNvCxnSpPr>
            <a:cxnSpLocks/>
            <a:stCxn id="99" idx="0"/>
            <a:endCxn id="92" idx="2"/>
          </p:cNvCxnSpPr>
          <p:nvPr/>
        </p:nvCxnSpPr>
        <p:spPr>
          <a:xfrm rot="16200000" flipV="1">
            <a:off x="8617837" y="4658412"/>
            <a:ext cx="299541" cy="1198"/>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8CCD8D8C-C290-4346-A1C6-E3B2215240AA}"/>
              </a:ext>
            </a:extLst>
          </p:cNvPr>
          <p:cNvSpPr txBox="1"/>
          <p:nvPr/>
        </p:nvSpPr>
        <p:spPr>
          <a:xfrm>
            <a:off x="10060960" y="4808781"/>
            <a:ext cx="1433576" cy="261610"/>
          </a:xfrm>
          <a:prstGeom prst="rect">
            <a:avLst/>
          </a:prstGeom>
          <a:solidFill>
            <a:schemeClr val="bg1">
              <a:lumMod val="95000"/>
            </a:schemeClr>
          </a:solidFill>
          <a:ln>
            <a:solidFill>
              <a:schemeClr val="bg1">
                <a:lumMod val="50000"/>
              </a:schemeClr>
            </a:solidFill>
          </a:ln>
        </p:spPr>
        <p:txBody>
          <a:bodyPr wrap="square" rtlCol="0">
            <a:spAutoFit/>
          </a:bodyPr>
          <a:lstStyle/>
          <a:p>
            <a:pPr algn="ctr"/>
            <a:r>
              <a:rPr lang="ko-KR" altLang="en-US" sz="1100" dirty="0"/>
              <a:t>수정액</a:t>
            </a:r>
            <a:r>
              <a:rPr lang="en-US" altLang="ko-KR" sz="1100" dirty="0"/>
              <a:t>2</a:t>
            </a:r>
            <a:r>
              <a:rPr lang="ko-KR" altLang="en-US" sz="1100" dirty="0"/>
              <a:t> 결합 볼펜</a:t>
            </a:r>
            <a:endParaRPr lang="en-US" altLang="ko-KR" sz="1100" dirty="0"/>
          </a:p>
        </p:txBody>
      </p:sp>
      <p:cxnSp>
        <p:nvCxnSpPr>
          <p:cNvPr id="103" name="연결선: 꺾임 102">
            <a:extLst>
              <a:ext uri="{FF2B5EF4-FFF2-40B4-BE49-F238E27FC236}">
                <a16:creationId xmlns:a16="http://schemas.microsoft.com/office/drawing/2014/main" id="{E80B7CED-7CEE-4CA0-8E22-CCEA3EA47C17}"/>
              </a:ext>
            </a:extLst>
          </p:cNvPr>
          <p:cNvCxnSpPr>
            <a:cxnSpLocks/>
            <a:stCxn id="102" idx="0"/>
            <a:endCxn id="94" idx="2"/>
          </p:cNvCxnSpPr>
          <p:nvPr/>
        </p:nvCxnSpPr>
        <p:spPr>
          <a:xfrm rot="16200000" flipV="1">
            <a:off x="10386040" y="4417073"/>
            <a:ext cx="299541" cy="483876"/>
          </a:xfrm>
          <a:prstGeom prst="bentConnector3">
            <a:avLst>
              <a:gd name="adj1" fmla="val 50000"/>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graphicFrame>
        <p:nvGraphicFramePr>
          <p:cNvPr id="105" name="표 104">
            <a:extLst>
              <a:ext uri="{FF2B5EF4-FFF2-40B4-BE49-F238E27FC236}">
                <a16:creationId xmlns:a16="http://schemas.microsoft.com/office/drawing/2014/main" id="{638376A7-3480-4010-AF20-F3D42A9A9618}"/>
              </a:ext>
            </a:extLst>
          </p:cNvPr>
          <p:cNvGraphicFramePr>
            <a:graphicFrameLocks noGrp="1"/>
          </p:cNvGraphicFramePr>
          <p:nvPr/>
        </p:nvGraphicFramePr>
        <p:xfrm>
          <a:off x="2047260" y="5398638"/>
          <a:ext cx="7296213" cy="1036320"/>
        </p:xfrm>
        <a:graphic>
          <a:graphicData uri="http://schemas.openxmlformats.org/drawingml/2006/table">
            <a:tbl>
              <a:tblPr>
                <a:tableStyleId>{8799B23B-EC83-4686-B30A-512413B5E67A}</a:tableStyleId>
              </a:tblPr>
              <a:tblGrid>
                <a:gridCol w="1136767">
                  <a:extLst>
                    <a:ext uri="{9D8B030D-6E8A-4147-A177-3AD203B41FA5}">
                      <a16:colId xmlns:a16="http://schemas.microsoft.com/office/drawing/2014/main" val="20000"/>
                    </a:ext>
                  </a:extLst>
                </a:gridCol>
                <a:gridCol w="1646428">
                  <a:extLst>
                    <a:ext uri="{9D8B030D-6E8A-4147-A177-3AD203B41FA5}">
                      <a16:colId xmlns:a16="http://schemas.microsoft.com/office/drawing/2014/main" val="20001"/>
                    </a:ext>
                  </a:extLst>
                </a:gridCol>
                <a:gridCol w="1875545">
                  <a:extLst>
                    <a:ext uri="{9D8B030D-6E8A-4147-A177-3AD203B41FA5}">
                      <a16:colId xmlns:a16="http://schemas.microsoft.com/office/drawing/2014/main" val="20002"/>
                    </a:ext>
                  </a:extLst>
                </a:gridCol>
                <a:gridCol w="2637473">
                  <a:extLst>
                    <a:ext uri="{9D8B030D-6E8A-4147-A177-3AD203B41FA5}">
                      <a16:colId xmlns:a16="http://schemas.microsoft.com/office/drawing/2014/main" val="20003"/>
                    </a:ext>
                  </a:extLst>
                </a:gridCol>
              </a:tblGrid>
              <a:tr h="215419">
                <a:tc>
                  <a:txBody>
                    <a:bodyPr/>
                    <a:lstStyle/>
                    <a:p>
                      <a:pPr algn="ctr" latinLnBrk="1"/>
                      <a:r>
                        <a:rPr lang="ko-KR" altLang="en-US" sz="1100" dirty="0"/>
                        <a:t>구 분 </a:t>
                      </a:r>
                    </a:p>
                  </a:txBody>
                  <a:tcPr anchor="ctr">
                    <a:solidFill>
                      <a:schemeClr val="accent1">
                        <a:lumMod val="20000"/>
                        <a:lumOff val="80000"/>
                      </a:schemeClr>
                    </a:solidFill>
                  </a:tcPr>
                </a:tc>
                <a:tc>
                  <a:txBody>
                    <a:bodyPr/>
                    <a:lstStyle/>
                    <a:p>
                      <a:pPr algn="ctr" latinLnBrk="1"/>
                      <a:r>
                        <a:rPr lang="ko-KR" altLang="en-US" sz="1100" dirty="0"/>
                        <a:t>발명특정</a:t>
                      </a:r>
                    </a:p>
                  </a:txBody>
                  <a:tcPr anchor="ctr">
                    <a:solidFill>
                      <a:schemeClr val="accent1">
                        <a:lumMod val="20000"/>
                        <a:lumOff val="80000"/>
                      </a:schemeClr>
                    </a:solidFill>
                  </a:tcPr>
                </a:tc>
                <a:tc>
                  <a:txBody>
                    <a:bodyPr/>
                    <a:lstStyle/>
                    <a:p>
                      <a:pPr algn="ctr" latinLnBrk="1"/>
                      <a:r>
                        <a:rPr lang="ko-KR" altLang="en-US" sz="1100" dirty="0"/>
                        <a:t>비교대상특정</a:t>
                      </a:r>
                    </a:p>
                  </a:txBody>
                  <a:tcPr anchor="ctr">
                    <a:solidFill>
                      <a:schemeClr val="accent1">
                        <a:lumMod val="20000"/>
                        <a:lumOff val="80000"/>
                      </a:schemeClr>
                    </a:solidFill>
                  </a:tcPr>
                </a:tc>
                <a:tc>
                  <a:txBody>
                    <a:bodyPr/>
                    <a:lstStyle/>
                    <a:p>
                      <a:pPr algn="ctr" latinLnBrk="1"/>
                      <a:r>
                        <a:rPr lang="ko-KR" altLang="en-US" sz="1100" dirty="0"/>
                        <a:t>판단</a:t>
                      </a:r>
                    </a:p>
                  </a:txBody>
                  <a:tcPr anchor="ctr">
                    <a:solidFill>
                      <a:schemeClr val="accent1">
                        <a:lumMod val="20000"/>
                        <a:lumOff val="80000"/>
                      </a:schemeClr>
                    </a:solidFill>
                  </a:tcPr>
                </a:tc>
                <a:extLst>
                  <a:ext uri="{0D108BD9-81ED-4DB2-BD59-A6C34878D82A}">
                    <a16:rowId xmlns:a16="http://schemas.microsoft.com/office/drawing/2014/main" val="10000"/>
                  </a:ext>
                </a:extLst>
              </a:tr>
              <a:tr h="215419">
                <a:tc rowSpan="3">
                  <a:txBody>
                    <a:bodyPr/>
                    <a:lstStyle/>
                    <a:p>
                      <a:pPr algn="ctr" latinLnBrk="1"/>
                      <a:r>
                        <a:rPr lang="ko-KR" altLang="en-US" sz="1100" dirty="0"/>
                        <a:t>보호범위 </a:t>
                      </a:r>
                      <a:endParaRPr lang="en-US" altLang="ko-KR" sz="1100" dirty="0"/>
                    </a:p>
                    <a:p>
                      <a:pPr algn="ctr" latinLnBrk="1"/>
                      <a:r>
                        <a:rPr lang="ko-KR" altLang="en-US" sz="1100" dirty="0"/>
                        <a:t>판단</a:t>
                      </a:r>
                    </a:p>
                  </a:txBody>
                  <a:tcPr anchor="ctr"/>
                </a:tc>
                <a:tc rowSpan="3">
                  <a:txBody>
                    <a:bodyPr/>
                    <a:lstStyle/>
                    <a:p>
                      <a:pPr algn="ctr" latinLnBrk="1"/>
                      <a:r>
                        <a:rPr lang="ko-KR" altLang="en-US" sz="1100" dirty="0"/>
                        <a:t>수정액 결합한 볼펜</a:t>
                      </a:r>
                    </a:p>
                  </a:txBody>
                  <a:tcPr anchor="ctr"/>
                </a:tc>
                <a:tc>
                  <a:txBody>
                    <a:bodyPr/>
                    <a:lstStyle/>
                    <a:p>
                      <a:pPr algn="ctr" latinLnBrk="1"/>
                      <a:r>
                        <a:rPr lang="ko-KR" altLang="en-US" sz="1100" dirty="0"/>
                        <a:t>지우개 결합 연필</a:t>
                      </a:r>
                    </a:p>
                  </a:txBody>
                  <a:tcPr anchor="ctr"/>
                </a:tc>
                <a:tc>
                  <a:txBody>
                    <a:bodyPr/>
                    <a:lstStyle/>
                    <a:p>
                      <a:pPr algn="ctr" latinLnBrk="1"/>
                      <a:r>
                        <a:rPr lang="en-US" altLang="ko-KR" sz="1100" dirty="0"/>
                        <a:t>AER, </a:t>
                      </a:r>
                      <a:r>
                        <a:rPr lang="ko-KR" altLang="en-US" sz="1100" dirty="0" err="1"/>
                        <a:t>균등론</a:t>
                      </a:r>
                      <a:r>
                        <a:rPr lang="ko-KR" altLang="en-US" sz="1100" dirty="0"/>
                        <a:t> 의하여 </a:t>
                      </a:r>
                      <a:r>
                        <a:rPr lang="ko-KR" altLang="en-US" sz="1100" dirty="0" err="1"/>
                        <a:t>비침해</a:t>
                      </a:r>
                      <a:endParaRPr lang="ko-KR" altLang="en-US" sz="1100" dirty="0"/>
                    </a:p>
                  </a:txBody>
                  <a:tcPr anchor="ctr"/>
                </a:tc>
                <a:extLst>
                  <a:ext uri="{0D108BD9-81ED-4DB2-BD59-A6C34878D82A}">
                    <a16:rowId xmlns:a16="http://schemas.microsoft.com/office/drawing/2014/main" val="10002"/>
                  </a:ext>
                </a:extLst>
              </a:tr>
              <a:tr h="215419">
                <a:tc vMerge="1">
                  <a:txBody>
                    <a:bodyPr/>
                    <a:lstStyle/>
                    <a:p>
                      <a:pPr algn="ctr" latinLnBrk="1"/>
                      <a:endParaRPr lang="ko-KR" altLang="en-US" sz="1100" dirty="0"/>
                    </a:p>
                  </a:txBody>
                  <a:tcPr anchor="ctr"/>
                </a:tc>
                <a:tc vMerge="1">
                  <a:txBody>
                    <a:bodyPr/>
                    <a:lstStyle/>
                    <a:p>
                      <a:pPr algn="ctr" latinLnBrk="1"/>
                      <a:endParaRPr lang="ko-KR" altLang="en-US" sz="1100" dirty="0"/>
                    </a:p>
                  </a:txBody>
                  <a:tcPr anchor="ctr"/>
                </a:tc>
                <a:tc>
                  <a:txBody>
                    <a:bodyPr/>
                    <a:lstStyle/>
                    <a:p>
                      <a:pPr algn="ctr" latinLnBrk="1"/>
                      <a:r>
                        <a:rPr lang="ko-KR" altLang="en-US" sz="1100" dirty="0"/>
                        <a:t>수정액 결합 볼펜</a:t>
                      </a:r>
                    </a:p>
                  </a:txBody>
                  <a:tcPr anchor="ctr"/>
                </a:tc>
                <a:tc>
                  <a:txBody>
                    <a:bodyPr/>
                    <a:lstStyle/>
                    <a:p>
                      <a:pPr algn="ctr" latinLnBrk="1"/>
                      <a:r>
                        <a:rPr lang="en-US" altLang="ko-KR" sz="1100" dirty="0"/>
                        <a:t>AER</a:t>
                      </a:r>
                      <a:r>
                        <a:rPr lang="ko-KR" altLang="en-US" sz="1100" dirty="0"/>
                        <a:t>에 의한 침해</a:t>
                      </a:r>
                    </a:p>
                  </a:txBody>
                  <a:tcPr anchor="ctr"/>
                </a:tc>
                <a:extLst>
                  <a:ext uri="{0D108BD9-81ED-4DB2-BD59-A6C34878D82A}">
                    <a16:rowId xmlns:a16="http://schemas.microsoft.com/office/drawing/2014/main" val="10003"/>
                  </a:ext>
                </a:extLst>
              </a:tr>
              <a:tr h="215419">
                <a:tc vMerge="1">
                  <a:txBody>
                    <a:bodyPr/>
                    <a:lstStyle/>
                    <a:p>
                      <a:pPr algn="ctr" latinLnBrk="1"/>
                      <a:endParaRPr lang="ko-KR" altLang="en-US" sz="1100" dirty="0"/>
                    </a:p>
                  </a:txBody>
                  <a:tcPr anchor="ctr"/>
                </a:tc>
                <a:tc vMerge="1">
                  <a:txBody>
                    <a:bodyPr/>
                    <a:lstStyle/>
                    <a:p>
                      <a:pPr algn="ctr" latinLnBrk="1"/>
                      <a:endParaRPr lang="ko-KR" altLang="en-US" sz="1100" dirty="0"/>
                    </a:p>
                  </a:txBody>
                  <a:tcPr anchor="ctr"/>
                </a:tc>
                <a:tc>
                  <a:txBody>
                    <a:bodyPr/>
                    <a:lstStyle/>
                    <a:p>
                      <a:pPr algn="ctr" latinLnBrk="1"/>
                      <a:r>
                        <a:rPr lang="ko-KR" altLang="en-US" sz="1100" dirty="0"/>
                        <a:t>수정액</a:t>
                      </a:r>
                      <a:r>
                        <a:rPr lang="en-US" altLang="ko-KR" sz="1100" dirty="0"/>
                        <a:t>2 </a:t>
                      </a:r>
                      <a:r>
                        <a:rPr lang="ko-KR" altLang="en-US" sz="1100" dirty="0"/>
                        <a:t>결합 볼펜</a:t>
                      </a:r>
                    </a:p>
                  </a:txBody>
                  <a:tcPr anchor="ctr"/>
                </a:tc>
                <a:tc>
                  <a:txBody>
                    <a:bodyPr/>
                    <a:lstStyle/>
                    <a:p>
                      <a:pPr algn="ctr" latinLnBrk="1"/>
                      <a:r>
                        <a:rPr lang="ko-KR" altLang="en-US" sz="1100" dirty="0" err="1"/>
                        <a:t>균등론에</a:t>
                      </a:r>
                      <a:r>
                        <a:rPr lang="ko-KR" altLang="en-US" sz="1100" dirty="0"/>
                        <a:t> 의한 침해△</a:t>
                      </a:r>
                    </a:p>
                  </a:txBody>
                  <a:tcPr anchor="ctr"/>
                </a:tc>
                <a:extLst>
                  <a:ext uri="{0D108BD9-81ED-4DB2-BD59-A6C34878D82A}">
                    <a16:rowId xmlns:a16="http://schemas.microsoft.com/office/drawing/2014/main" val="10004"/>
                  </a:ext>
                </a:extLst>
              </a:tr>
            </a:tbl>
          </a:graphicData>
        </a:graphic>
      </p:graphicFrame>
      <p:graphicFrame>
        <p:nvGraphicFramePr>
          <p:cNvPr id="106" name="표 105">
            <a:extLst>
              <a:ext uri="{FF2B5EF4-FFF2-40B4-BE49-F238E27FC236}">
                <a16:creationId xmlns:a16="http://schemas.microsoft.com/office/drawing/2014/main" id="{5407F1DD-0719-45BB-9D19-C2C0F4CBF85C}"/>
              </a:ext>
            </a:extLst>
          </p:cNvPr>
          <p:cNvGraphicFramePr>
            <a:graphicFrameLocks noGrp="1"/>
          </p:cNvGraphicFramePr>
          <p:nvPr/>
        </p:nvGraphicFramePr>
        <p:xfrm>
          <a:off x="7135776" y="1624265"/>
          <a:ext cx="4823603" cy="777892"/>
        </p:xfrm>
        <a:graphic>
          <a:graphicData uri="http://schemas.openxmlformats.org/drawingml/2006/table">
            <a:tbl>
              <a:tblPr>
                <a:tableStyleId>{8799B23B-EC83-4686-B30A-512413B5E67A}</a:tableStyleId>
              </a:tblPr>
              <a:tblGrid>
                <a:gridCol w="751529">
                  <a:extLst>
                    <a:ext uri="{9D8B030D-6E8A-4147-A177-3AD203B41FA5}">
                      <a16:colId xmlns:a16="http://schemas.microsoft.com/office/drawing/2014/main" val="3020649315"/>
                    </a:ext>
                  </a:extLst>
                </a:gridCol>
                <a:gridCol w="1088471">
                  <a:extLst>
                    <a:ext uri="{9D8B030D-6E8A-4147-A177-3AD203B41FA5}">
                      <a16:colId xmlns:a16="http://schemas.microsoft.com/office/drawing/2014/main" val="3533084461"/>
                    </a:ext>
                  </a:extLst>
                </a:gridCol>
                <a:gridCol w="1239942">
                  <a:extLst>
                    <a:ext uri="{9D8B030D-6E8A-4147-A177-3AD203B41FA5}">
                      <a16:colId xmlns:a16="http://schemas.microsoft.com/office/drawing/2014/main" val="3299466833"/>
                    </a:ext>
                  </a:extLst>
                </a:gridCol>
                <a:gridCol w="1743661">
                  <a:extLst>
                    <a:ext uri="{9D8B030D-6E8A-4147-A177-3AD203B41FA5}">
                      <a16:colId xmlns:a16="http://schemas.microsoft.com/office/drawing/2014/main" val="1300455052"/>
                    </a:ext>
                  </a:extLst>
                </a:gridCol>
              </a:tblGrid>
              <a:tr h="0">
                <a:tc>
                  <a:txBody>
                    <a:bodyPr/>
                    <a:lstStyle/>
                    <a:p>
                      <a:pPr algn="ctr" latinLnBrk="1"/>
                      <a:r>
                        <a:rPr lang="ko-KR" altLang="en-US" sz="1100" dirty="0"/>
                        <a:t>구 분</a:t>
                      </a:r>
                    </a:p>
                  </a:txBody>
                  <a:tcPr anchor="ctr">
                    <a:solidFill>
                      <a:schemeClr val="accent1">
                        <a:lumMod val="20000"/>
                        <a:lumOff val="80000"/>
                      </a:schemeClr>
                    </a:solidFill>
                  </a:tcPr>
                </a:tc>
                <a:tc>
                  <a:txBody>
                    <a:bodyPr/>
                    <a:lstStyle/>
                    <a:p>
                      <a:pPr algn="ctr" latinLnBrk="1"/>
                      <a:r>
                        <a:rPr lang="ko-KR" altLang="en-US" sz="1100" dirty="0"/>
                        <a:t>발명특정</a:t>
                      </a:r>
                    </a:p>
                  </a:txBody>
                  <a:tcPr anchor="ctr">
                    <a:solidFill>
                      <a:schemeClr val="accent1">
                        <a:lumMod val="20000"/>
                        <a:lumOff val="80000"/>
                      </a:schemeClr>
                    </a:solidFill>
                  </a:tcPr>
                </a:tc>
                <a:tc>
                  <a:txBody>
                    <a:bodyPr/>
                    <a:lstStyle/>
                    <a:p>
                      <a:pPr algn="ctr" latinLnBrk="1"/>
                      <a:r>
                        <a:rPr lang="ko-KR" altLang="en-US" sz="1100" dirty="0"/>
                        <a:t>비교대상특정</a:t>
                      </a:r>
                    </a:p>
                  </a:txBody>
                  <a:tcPr anchor="ctr">
                    <a:solidFill>
                      <a:schemeClr val="accent1">
                        <a:lumMod val="20000"/>
                        <a:lumOff val="80000"/>
                      </a:schemeClr>
                    </a:solidFill>
                  </a:tcPr>
                </a:tc>
                <a:tc>
                  <a:txBody>
                    <a:bodyPr/>
                    <a:lstStyle/>
                    <a:p>
                      <a:pPr algn="ctr" latinLnBrk="1"/>
                      <a:r>
                        <a:rPr lang="ko-KR" altLang="en-US" sz="1100" dirty="0"/>
                        <a:t>판단</a:t>
                      </a:r>
                    </a:p>
                  </a:txBody>
                  <a:tcPr anchor="ctr">
                    <a:solidFill>
                      <a:schemeClr val="accent1">
                        <a:lumMod val="20000"/>
                        <a:lumOff val="80000"/>
                      </a:schemeClr>
                    </a:solidFill>
                  </a:tcPr>
                </a:tc>
                <a:extLst>
                  <a:ext uri="{0D108BD9-81ED-4DB2-BD59-A6C34878D82A}">
                    <a16:rowId xmlns:a16="http://schemas.microsoft.com/office/drawing/2014/main" val="3028050556"/>
                  </a:ext>
                </a:extLst>
              </a:tr>
              <a:tr h="518812">
                <a:tc>
                  <a:txBody>
                    <a:bodyPr/>
                    <a:lstStyle/>
                    <a:p>
                      <a:pPr algn="ctr" latinLnBrk="1"/>
                      <a:r>
                        <a:rPr lang="ko-KR" altLang="en-US" sz="1100" dirty="0"/>
                        <a:t>특허요건 </a:t>
                      </a:r>
                      <a:endParaRPr lang="en-US" altLang="ko-KR" sz="1100" dirty="0"/>
                    </a:p>
                    <a:p>
                      <a:pPr algn="ctr" latinLnBrk="1"/>
                      <a:r>
                        <a:rPr lang="ko-KR" altLang="en-US" sz="1100" dirty="0"/>
                        <a:t>판단</a:t>
                      </a:r>
                      <a:endParaRPr lang="en-US" altLang="ko-KR" sz="1100" dirty="0"/>
                    </a:p>
                  </a:txBody>
                  <a:tcPr anchor="ctr"/>
                </a:tc>
                <a:tc>
                  <a:txBody>
                    <a:bodyPr/>
                    <a:lstStyle/>
                    <a:p>
                      <a:pPr algn="ctr" latinLnBrk="1"/>
                      <a:r>
                        <a:rPr lang="ko-KR" altLang="en-US" sz="1100" dirty="0"/>
                        <a:t>소거수단</a:t>
                      </a:r>
                      <a:r>
                        <a:rPr lang="ko-KR" altLang="en-US" sz="1100" baseline="0" dirty="0"/>
                        <a:t> 결합한 필기수단</a:t>
                      </a:r>
                      <a:endParaRPr lang="ko-KR" altLang="en-US" sz="11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100" dirty="0"/>
                        <a:t>지우개 결합 연필</a:t>
                      </a:r>
                    </a:p>
                  </a:txBody>
                  <a:tcPr anchor="ctr"/>
                </a:tc>
                <a:tc>
                  <a:txBody>
                    <a:bodyPr/>
                    <a:lstStyle/>
                    <a:p>
                      <a:pPr algn="ctr" latinLnBrk="1"/>
                      <a:r>
                        <a:rPr lang="ko-KR" altLang="en-US" sz="1100" dirty="0"/>
                        <a:t>발명이 상위개념이기 때문에 </a:t>
                      </a:r>
                      <a:r>
                        <a:rPr lang="ko-KR" altLang="en-US" sz="1100" dirty="0" err="1"/>
                        <a:t>신규성</a:t>
                      </a:r>
                      <a:r>
                        <a:rPr lang="ko-KR" altLang="en-US" sz="1100" dirty="0"/>
                        <a:t> 위반</a:t>
                      </a:r>
                      <a:r>
                        <a:rPr lang="en-US" altLang="ko-KR" sz="1100" dirty="0"/>
                        <a:t>*</a:t>
                      </a:r>
                      <a:endParaRPr lang="ko-KR" altLang="en-US" sz="1100" dirty="0"/>
                    </a:p>
                  </a:txBody>
                  <a:tcPr anchor="ctr"/>
                </a:tc>
                <a:extLst>
                  <a:ext uri="{0D108BD9-81ED-4DB2-BD59-A6C34878D82A}">
                    <a16:rowId xmlns:a16="http://schemas.microsoft.com/office/drawing/2014/main" val="906456176"/>
                  </a:ext>
                </a:extLst>
              </a:tr>
            </a:tbl>
          </a:graphicData>
        </a:graphic>
      </p:graphicFrame>
      <p:sp>
        <p:nvSpPr>
          <p:cNvPr id="108" name="TextBox 107">
            <a:extLst>
              <a:ext uri="{FF2B5EF4-FFF2-40B4-BE49-F238E27FC236}">
                <a16:creationId xmlns:a16="http://schemas.microsoft.com/office/drawing/2014/main" id="{CB1106B9-5AF4-4B87-8A42-29FB5DF5F541}"/>
              </a:ext>
            </a:extLst>
          </p:cNvPr>
          <p:cNvSpPr txBox="1"/>
          <p:nvPr/>
        </p:nvSpPr>
        <p:spPr>
          <a:xfrm>
            <a:off x="7771010" y="1281748"/>
            <a:ext cx="370870" cy="523220"/>
          </a:xfrm>
          <a:prstGeom prst="rect">
            <a:avLst/>
          </a:prstGeom>
          <a:noFill/>
        </p:spPr>
        <p:txBody>
          <a:bodyPr wrap="square" rtlCol="0">
            <a:spAutoFit/>
          </a:bodyPr>
          <a:lstStyle/>
          <a:p>
            <a:pPr fontAlgn="base"/>
            <a:r>
              <a:rPr lang="ko-KR" altLang="en-US" sz="2800" dirty="0">
                <a:solidFill>
                  <a:srgbClr val="FF0000"/>
                </a:solidFill>
              </a:rPr>
              <a:t>❶</a:t>
            </a:r>
          </a:p>
        </p:txBody>
      </p:sp>
      <p:sp>
        <p:nvSpPr>
          <p:cNvPr id="109" name="TextBox 108">
            <a:extLst>
              <a:ext uri="{FF2B5EF4-FFF2-40B4-BE49-F238E27FC236}">
                <a16:creationId xmlns:a16="http://schemas.microsoft.com/office/drawing/2014/main" id="{15A2C8D1-B19D-41FF-AD27-2BAF030710AA}"/>
              </a:ext>
            </a:extLst>
          </p:cNvPr>
          <p:cNvSpPr txBox="1"/>
          <p:nvPr/>
        </p:nvSpPr>
        <p:spPr>
          <a:xfrm>
            <a:off x="8907896" y="1263514"/>
            <a:ext cx="370870" cy="523220"/>
          </a:xfrm>
          <a:prstGeom prst="rect">
            <a:avLst/>
          </a:prstGeom>
          <a:noFill/>
        </p:spPr>
        <p:txBody>
          <a:bodyPr wrap="square" rtlCol="0">
            <a:spAutoFit/>
          </a:bodyPr>
          <a:lstStyle/>
          <a:p>
            <a:pPr fontAlgn="base"/>
            <a:r>
              <a:rPr lang="ko-KR" altLang="en-US" sz="2800" dirty="0">
                <a:solidFill>
                  <a:srgbClr val="FF0000"/>
                </a:solidFill>
              </a:rPr>
              <a:t>❷</a:t>
            </a:r>
          </a:p>
        </p:txBody>
      </p:sp>
      <p:sp>
        <p:nvSpPr>
          <p:cNvPr id="110" name="TextBox 109">
            <a:extLst>
              <a:ext uri="{FF2B5EF4-FFF2-40B4-BE49-F238E27FC236}">
                <a16:creationId xmlns:a16="http://schemas.microsoft.com/office/drawing/2014/main" id="{511EA065-10A4-4B0D-9A5D-3B5CAEA8DC92}"/>
              </a:ext>
            </a:extLst>
          </p:cNvPr>
          <p:cNvSpPr txBox="1"/>
          <p:nvPr/>
        </p:nvSpPr>
        <p:spPr>
          <a:xfrm>
            <a:off x="10164940" y="1280449"/>
            <a:ext cx="370870" cy="523220"/>
          </a:xfrm>
          <a:prstGeom prst="rect">
            <a:avLst/>
          </a:prstGeom>
          <a:noFill/>
        </p:spPr>
        <p:txBody>
          <a:bodyPr wrap="square" rtlCol="0">
            <a:spAutoFit/>
          </a:bodyPr>
          <a:lstStyle/>
          <a:p>
            <a:pPr fontAlgn="base"/>
            <a:r>
              <a:rPr lang="ko-KR" altLang="en-US" sz="2800" dirty="0">
                <a:solidFill>
                  <a:srgbClr val="FF0000"/>
                </a:solidFill>
              </a:rPr>
              <a:t>❸</a:t>
            </a:r>
          </a:p>
        </p:txBody>
      </p:sp>
      <p:sp>
        <p:nvSpPr>
          <p:cNvPr id="111" name="TextBox 110">
            <a:extLst>
              <a:ext uri="{FF2B5EF4-FFF2-40B4-BE49-F238E27FC236}">
                <a16:creationId xmlns:a16="http://schemas.microsoft.com/office/drawing/2014/main" id="{D92F2284-109A-4DA1-8C27-9D831FFD4E78}"/>
              </a:ext>
            </a:extLst>
          </p:cNvPr>
          <p:cNvSpPr txBox="1"/>
          <p:nvPr/>
        </p:nvSpPr>
        <p:spPr>
          <a:xfrm>
            <a:off x="6764906" y="5124384"/>
            <a:ext cx="370870" cy="523220"/>
          </a:xfrm>
          <a:prstGeom prst="rect">
            <a:avLst/>
          </a:prstGeom>
          <a:noFill/>
        </p:spPr>
        <p:txBody>
          <a:bodyPr wrap="square" rtlCol="0">
            <a:spAutoFit/>
          </a:bodyPr>
          <a:lstStyle/>
          <a:p>
            <a:pPr fontAlgn="base"/>
            <a:r>
              <a:rPr lang="ko-KR" altLang="en-US" sz="2800" dirty="0">
                <a:solidFill>
                  <a:srgbClr val="FF0000"/>
                </a:solidFill>
              </a:rPr>
              <a:t>❸</a:t>
            </a:r>
          </a:p>
        </p:txBody>
      </p:sp>
      <p:sp>
        <p:nvSpPr>
          <p:cNvPr id="112" name="TextBox 111">
            <a:extLst>
              <a:ext uri="{FF2B5EF4-FFF2-40B4-BE49-F238E27FC236}">
                <a16:creationId xmlns:a16="http://schemas.microsoft.com/office/drawing/2014/main" id="{30A5AA45-9ECC-4D75-9CFD-6FDB9102CEBA}"/>
              </a:ext>
            </a:extLst>
          </p:cNvPr>
          <p:cNvSpPr txBox="1"/>
          <p:nvPr/>
        </p:nvSpPr>
        <p:spPr>
          <a:xfrm>
            <a:off x="4827602" y="5137028"/>
            <a:ext cx="370870" cy="523220"/>
          </a:xfrm>
          <a:prstGeom prst="rect">
            <a:avLst/>
          </a:prstGeom>
          <a:noFill/>
        </p:spPr>
        <p:txBody>
          <a:bodyPr wrap="square" rtlCol="0">
            <a:spAutoFit/>
          </a:bodyPr>
          <a:lstStyle/>
          <a:p>
            <a:pPr fontAlgn="base"/>
            <a:r>
              <a:rPr lang="ko-KR" altLang="en-US" sz="2800" dirty="0">
                <a:solidFill>
                  <a:srgbClr val="FF0000"/>
                </a:solidFill>
              </a:rPr>
              <a:t>❷</a:t>
            </a:r>
          </a:p>
        </p:txBody>
      </p:sp>
      <p:sp>
        <p:nvSpPr>
          <p:cNvPr id="113" name="TextBox 112">
            <a:extLst>
              <a:ext uri="{FF2B5EF4-FFF2-40B4-BE49-F238E27FC236}">
                <a16:creationId xmlns:a16="http://schemas.microsoft.com/office/drawing/2014/main" id="{9A873AB8-F03B-4559-9016-79B06BA1942A}"/>
              </a:ext>
            </a:extLst>
          </p:cNvPr>
          <p:cNvSpPr txBox="1"/>
          <p:nvPr/>
        </p:nvSpPr>
        <p:spPr>
          <a:xfrm>
            <a:off x="3153283" y="5149672"/>
            <a:ext cx="370870" cy="523220"/>
          </a:xfrm>
          <a:prstGeom prst="rect">
            <a:avLst/>
          </a:prstGeom>
          <a:noFill/>
        </p:spPr>
        <p:txBody>
          <a:bodyPr wrap="square" rtlCol="0">
            <a:spAutoFit/>
          </a:bodyPr>
          <a:lstStyle/>
          <a:p>
            <a:pPr fontAlgn="base"/>
            <a:r>
              <a:rPr lang="ko-KR" altLang="en-US" sz="2800" dirty="0">
                <a:solidFill>
                  <a:srgbClr val="FF0000"/>
                </a:solidFill>
              </a:rPr>
              <a:t>❶</a:t>
            </a:r>
          </a:p>
        </p:txBody>
      </p:sp>
      <p:cxnSp>
        <p:nvCxnSpPr>
          <p:cNvPr id="115" name="직선 연결선 114">
            <a:extLst>
              <a:ext uri="{FF2B5EF4-FFF2-40B4-BE49-F238E27FC236}">
                <a16:creationId xmlns:a16="http://schemas.microsoft.com/office/drawing/2014/main" id="{EA7FD405-838A-4508-8135-CE05394F3F22}"/>
              </a:ext>
            </a:extLst>
          </p:cNvPr>
          <p:cNvCxnSpPr/>
          <p:nvPr/>
        </p:nvCxnSpPr>
        <p:spPr>
          <a:xfrm>
            <a:off x="0" y="3027872"/>
            <a:ext cx="12191999" cy="0"/>
          </a:xfrm>
          <a:prstGeom prst="line">
            <a:avLst/>
          </a:prstGeom>
          <a:ln w="3810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68607448"/>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r>
              <a:rPr lang="en-US" altLang="ko-KR"/>
              <a:t>350</a:t>
            </a:r>
            <a:endParaRPr lang="ko-KR" altLang="en-US"/>
          </a:p>
        </p:txBody>
      </p:sp>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4" name="텍스트 개체 틀 3"/>
          <p:cNvSpPr>
            <a:spLocks noGrp="1"/>
          </p:cNvSpPr>
          <p:nvPr>
            <p:ph type="body" sz="quarter" idx="13"/>
          </p:nvPr>
        </p:nvSpPr>
        <p:spPr/>
        <p:txBody>
          <a:bodyPr/>
          <a:lstStyle/>
          <a:p>
            <a:r>
              <a:rPr lang="ko-KR" altLang="en-US" dirty="0"/>
              <a:t>특허요건 판단 </a:t>
            </a:r>
            <a:r>
              <a:rPr lang="en-US" altLang="ko-KR" dirty="0"/>
              <a:t>vs </a:t>
            </a:r>
            <a:r>
              <a:rPr lang="ko-KR" altLang="en-US" dirty="0"/>
              <a:t>침해의 성립요건 판단</a:t>
            </a:r>
          </a:p>
        </p:txBody>
      </p:sp>
      <p:cxnSp>
        <p:nvCxnSpPr>
          <p:cNvPr id="44" name="직선 화살표 연결선 43"/>
          <p:cNvCxnSpPr/>
          <p:nvPr/>
        </p:nvCxnSpPr>
        <p:spPr>
          <a:xfrm>
            <a:off x="314325" y="3561363"/>
            <a:ext cx="4419600" cy="0"/>
          </a:xfrm>
          <a:prstGeom prst="straightConnector1">
            <a:avLst/>
          </a:prstGeom>
          <a:ln w="38100">
            <a:solidFill>
              <a:schemeClr val="bg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387170" y="2536800"/>
            <a:ext cx="902811" cy="523220"/>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甲 </a:t>
            </a:r>
            <a:r>
              <a:rPr lang="en-US" altLang="ko-KR" sz="1400" dirty="0" err="1">
                <a:solidFill>
                  <a:schemeClr val="tx1"/>
                </a:solidFill>
                <a:latin typeface="+mn-ea"/>
              </a:rPr>
              <a:t>a+b+c</a:t>
            </a:r>
            <a:endParaRPr lang="en-US" altLang="ko-KR" sz="1400" dirty="0">
              <a:solidFill>
                <a:schemeClr val="tx1"/>
              </a:solidFill>
              <a:latin typeface="+mn-ea"/>
            </a:endParaRPr>
          </a:p>
          <a:p>
            <a:pPr algn="ctr"/>
            <a:r>
              <a:rPr lang="ko-KR" altLang="en-US" sz="1400" dirty="0">
                <a:solidFill>
                  <a:schemeClr val="tx1"/>
                </a:solidFill>
                <a:latin typeface="+mn-ea"/>
              </a:rPr>
              <a:t>출원</a:t>
            </a:r>
          </a:p>
        </p:txBody>
      </p:sp>
      <p:sp>
        <p:nvSpPr>
          <p:cNvPr id="56" name="타원 55"/>
          <p:cNvSpPr/>
          <p:nvPr/>
        </p:nvSpPr>
        <p:spPr>
          <a:xfrm>
            <a:off x="761205" y="348069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7" name="직선 연결선 56"/>
          <p:cNvCxnSpPr>
            <a:stCxn id="55" idx="2"/>
            <a:endCxn id="56" idx="0"/>
          </p:cNvCxnSpPr>
          <p:nvPr/>
        </p:nvCxnSpPr>
        <p:spPr>
          <a:xfrm flipH="1">
            <a:off x="838574" y="3060020"/>
            <a:ext cx="2" cy="42067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2277834" y="2536800"/>
            <a:ext cx="692818" cy="523220"/>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en-US" altLang="ko-KR" sz="1400" dirty="0" err="1">
                <a:solidFill>
                  <a:schemeClr val="tx1"/>
                </a:solidFill>
                <a:latin typeface="+mn-ea"/>
              </a:rPr>
              <a:t>a+b+c</a:t>
            </a:r>
            <a:endParaRPr lang="en-US" altLang="ko-KR" sz="1400" dirty="0">
              <a:solidFill>
                <a:schemeClr val="tx1"/>
              </a:solidFill>
              <a:latin typeface="+mn-ea"/>
            </a:endParaRPr>
          </a:p>
          <a:p>
            <a:pPr algn="ctr"/>
            <a:r>
              <a:rPr lang="ko-KR" altLang="en-US" sz="1400" dirty="0">
                <a:solidFill>
                  <a:schemeClr val="tx1"/>
                </a:solidFill>
                <a:latin typeface="+mn-ea"/>
              </a:rPr>
              <a:t>등록</a:t>
            </a:r>
          </a:p>
        </p:txBody>
      </p:sp>
      <p:sp>
        <p:nvSpPr>
          <p:cNvPr id="59" name="타원 58"/>
          <p:cNvSpPr/>
          <p:nvPr/>
        </p:nvSpPr>
        <p:spPr>
          <a:xfrm>
            <a:off x="2546873" y="348069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0" name="직선 연결선 59"/>
          <p:cNvCxnSpPr>
            <a:stCxn id="58" idx="2"/>
            <a:endCxn id="59" idx="0"/>
          </p:cNvCxnSpPr>
          <p:nvPr/>
        </p:nvCxnSpPr>
        <p:spPr>
          <a:xfrm flipH="1">
            <a:off x="2624242" y="3060020"/>
            <a:ext cx="1" cy="42067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1401534" y="2536800"/>
            <a:ext cx="692818" cy="523220"/>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en-US" altLang="ko-KR" sz="1400" dirty="0" err="1">
                <a:solidFill>
                  <a:schemeClr val="tx1"/>
                </a:solidFill>
                <a:latin typeface="+mn-ea"/>
              </a:rPr>
              <a:t>a+b+c</a:t>
            </a:r>
            <a:endParaRPr lang="en-US" altLang="ko-KR" sz="1400" dirty="0">
              <a:solidFill>
                <a:schemeClr val="tx1"/>
              </a:solidFill>
              <a:latin typeface="+mn-ea"/>
            </a:endParaRPr>
          </a:p>
          <a:p>
            <a:pPr algn="ctr"/>
            <a:r>
              <a:rPr lang="ko-KR" altLang="en-US" sz="1400" dirty="0">
                <a:solidFill>
                  <a:schemeClr val="tx1"/>
                </a:solidFill>
                <a:latin typeface="+mn-ea"/>
              </a:rPr>
              <a:t>공개</a:t>
            </a:r>
          </a:p>
        </p:txBody>
      </p:sp>
      <p:sp>
        <p:nvSpPr>
          <p:cNvPr id="73" name="타원 72"/>
          <p:cNvSpPr/>
          <p:nvPr/>
        </p:nvSpPr>
        <p:spPr>
          <a:xfrm>
            <a:off x="1670573" y="348069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4" name="직선 연결선 73"/>
          <p:cNvCxnSpPr>
            <a:stCxn id="72" idx="2"/>
            <a:endCxn id="73" idx="0"/>
          </p:cNvCxnSpPr>
          <p:nvPr/>
        </p:nvCxnSpPr>
        <p:spPr>
          <a:xfrm flipH="1">
            <a:off x="1747942" y="3060020"/>
            <a:ext cx="1" cy="42067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3512786" y="2536800"/>
            <a:ext cx="718466" cy="307777"/>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乙 출원</a:t>
            </a:r>
          </a:p>
        </p:txBody>
      </p:sp>
      <p:sp>
        <p:nvSpPr>
          <p:cNvPr id="76" name="타원 75"/>
          <p:cNvSpPr/>
          <p:nvPr/>
        </p:nvSpPr>
        <p:spPr>
          <a:xfrm>
            <a:off x="3794648" y="3480694"/>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7" name="직선 연결선 76"/>
          <p:cNvCxnSpPr>
            <a:stCxn id="75" idx="2"/>
            <a:endCxn id="76" idx="0"/>
          </p:cNvCxnSpPr>
          <p:nvPr/>
        </p:nvCxnSpPr>
        <p:spPr>
          <a:xfrm flipH="1">
            <a:off x="3872017" y="2844577"/>
            <a:ext cx="2" cy="63611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TextBox 77"/>
          <p:cNvSpPr txBox="1"/>
          <p:nvPr/>
        </p:nvSpPr>
        <p:spPr>
          <a:xfrm>
            <a:off x="2950811" y="4413225"/>
            <a:ext cx="718466" cy="307777"/>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乙 실시</a:t>
            </a:r>
          </a:p>
        </p:txBody>
      </p:sp>
      <p:sp>
        <p:nvSpPr>
          <p:cNvPr id="79" name="타원 78"/>
          <p:cNvSpPr/>
          <p:nvPr/>
        </p:nvSpPr>
        <p:spPr>
          <a:xfrm>
            <a:off x="3232673" y="3480694"/>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0" name="직선 연결선 79"/>
          <p:cNvCxnSpPr>
            <a:stCxn id="78" idx="0"/>
            <a:endCxn id="79" idx="4"/>
          </p:cNvCxnSpPr>
          <p:nvPr/>
        </p:nvCxnSpPr>
        <p:spPr>
          <a:xfrm flipH="1" flipV="1">
            <a:off x="3310042" y="3642032"/>
            <a:ext cx="2" cy="77119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aphicFrame>
        <p:nvGraphicFramePr>
          <p:cNvPr id="15" name="표 14"/>
          <p:cNvGraphicFramePr>
            <a:graphicFrameLocks noGrp="1"/>
          </p:cNvGraphicFramePr>
          <p:nvPr/>
        </p:nvGraphicFramePr>
        <p:xfrm>
          <a:off x="5140960" y="1038903"/>
          <a:ext cx="6574791" cy="5314271"/>
        </p:xfrm>
        <a:graphic>
          <a:graphicData uri="http://schemas.openxmlformats.org/drawingml/2006/table">
            <a:tbl>
              <a:tblPr>
                <a:tableStyleId>{8799B23B-EC83-4686-B30A-512413B5E67A}</a:tableStyleId>
              </a:tblPr>
              <a:tblGrid>
                <a:gridCol w="536839">
                  <a:extLst>
                    <a:ext uri="{9D8B030D-6E8A-4147-A177-3AD203B41FA5}">
                      <a16:colId xmlns:a16="http://schemas.microsoft.com/office/drawing/2014/main" val="20000"/>
                    </a:ext>
                  </a:extLst>
                </a:gridCol>
                <a:gridCol w="580636">
                  <a:extLst>
                    <a:ext uri="{9D8B030D-6E8A-4147-A177-3AD203B41FA5}">
                      <a16:colId xmlns:a16="http://schemas.microsoft.com/office/drawing/2014/main" val="20001"/>
                    </a:ext>
                  </a:extLst>
                </a:gridCol>
                <a:gridCol w="965515">
                  <a:extLst>
                    <a:ext uri="{9D8B030D-6E8A-4147-A177-3AD203B41FA5}">
                      <a16:colId xmlns:a16="http://schemas.microsoft.com/office/drawing/2014/main" val="20002"/>
                    </a:ext>
                  </a:extLst>
                </a:gridCol>
                <a:gridCol w="919925">
                  <a:extLst>
                    <a:ext uri="{9D8B030D-6E8A-4147-A177-3AD203B41FA5}">
                      <a16:colId xmlns:a16="http://schemas.microsoft.com/office/drawing/2014/main" val="20003"/>
                    </a:ext>
                  </a:extLst>
                </a:gridCol>
                <a:gridCol w="1478799">
                  <a:extLst>
                    <a:ext uri="{9D8B030D-6E8A-4147-A177-3AD203B41FA5}">
                      <a16:colId xmlns:a16="http://schemas.microsoft.com/office/drawing/2014/main" val="20004"/>
                    </a:ext>
                  </a:extLst>
                </a:gridCol>
                <a:gridCol w="2093077">
                  <a:extLst>
                    <a:ext uri="{9D8B030D-6E8A-4147-A177-3AD203B41FA5}">
                      <a16:colId xmlns:a16="http://schemas.microsoft.com/office/drawing/2014/main" val="20005"/>
                    </a:ext>
                  </a:extLst>
                </a:gridCol>
              </a:tblGrid>
              <a:tr h="507819">
                <a:tc gridSpan="2">
                  <a:txBody>
                    <a:bodyPr/>
                    <a:lstStyle/>
                    <a:p>
                      <a:pPr marL="0" marR="0" indent="0" algn="ctr" fontAlgn="base" latinLnBrk="0">
                        <a:lnSpc>
                          <a:spcPct val="100000"/>
                        </a:lnSpc>
                        <a:spcBef>
                          <a:spcPts val="0"/>
                        </a:spcBef>
                        <a:spcAft>
                          <a:spcPts val="0"/>
                        </a:spcAft>
                      </a:pPr>
                      <a:r>
                        <a:rPr lang="ko-KR" altLang="en-US" sz="1100" kern="1200" dirty="0">
                          <a:solidFill>
                            <a:schemeClr val="tx1"/>
                          </a:solidFill>
                          <a:latin typeface="+mn-ea"/>
                          <a:ea typeface="+mn-ea"/>
                          <a:cs typeface="+mn-cs"/>
                        </a:rPr>
                        <a:t>구 분</a:t>
                      </a:r>
                    </a:p>
                  </a:txBody>
                  <a:tcPr marL="72000" marR="72000" marT="17907" marB="17907"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100" kern="1200" dirty="0">
                          <a:solidFill>
                            <a:schemeClr val="tx1"/>
                          </a:solidFill>
                          <a:latin typeface="+mn-ea"/>
                          <a:ea typeface="+mn-ea"/>
                          <a:cs typeface="+mn-cs"/>
                        </a:rPr>
                        <a:t>특허발명</a:t>
                      </a:r>
                      <a:endParaRPr lang="en-US" altLang="ko-KR" sz="1100" kern="1200" dirty="0">
                        <a:solidFill>
                          <a:schemeClr val="tx1"/>
                        </a:solidFill>
                        <a:latin typeface="+mn-ea"/>
                        <a:ea typeface="+mn-ea"/>
                        <a:cs typeface="+mn-cs"/>
                      </a:endParaRPr>
                    </a:p>
                    <a:p>
                      <a:pPr marL="0" marR="0" indent="0" algn="ctr" fontAlgn="base" latinLnBrk="0">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甲 발명</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100" kern="1200" dirty="0">
                          <a:solidFill>
                            <a:schemeClr val="tx1"/>
                          </a:solidFill>
                          <a:latin typeface="+mn-ea"/>
                          <a:ea typeface="+mn-ea"/>
                          <a:cs typeface="+mn-cs"/>
                        </a:rPr>
                        <a:t>인용대상</a:t>
                      </a:r>
                      <a:endParaRPr lang="en-US" altLang="ko-KR" sz="1100" kern="1200" dirty="0">
                        <a:solidFill>
                          <a:schemeClr val="tx1"/>
                        </a:solidFill>
                        <a:latin typeface="+mn-ea"/>
                        <a:ea typeface="+mn-ea"/>
                        <a:cs typeface="+mn-cs"/>
                      </a:endParaRPr>
                    </a:p>
                    <a:p>
                      <a:pPr marL="0" marR="0" indent="0" algn="ctr" fontAlgn="base" latinLnBrk="0">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乙</a:t>
                      </a:r>
                      <a:r>
                        <a:rPr lang="en-US" altLang="ko-KR" sz="1100" kern="1200" dirty="0">
                          <a:solidFill>
                            <a:schemeClr val="tx1"/>
                          </a:solidFill>
                          <a:latin typeface="+mn-ea"/>
                          <a:ea typeface="+mn-ea"/>
                          <a:cs typeface="+mn-cs"/>
                        </a:rPr>
                        <a:t> </a:t>
                      </a:r>
                      <a:r>
                        <a:rPr lang="ko-KR" altLang="en-US" sz="1100" kern="1200" dirty="0">
                          <a:solidFill>
                            <a:schemeClr val="tx1"/>
                          </a:solidFill>
                          <a:latin typeface="+mn-ea"/>
                          <a:ea typeface="+mn-ea"/>
                          <a:cs typeface="+mn-cs"/>
                        </a:rPr>
                        <a:t>발명</a:t>
                      </a:r>
                      <a:r>
                        <a:rPr lang="en-US" altLang="ko-KR" sz="1100" kern="1200" dirty="0">
                          <a:solidFill>
                            <a:schemeClr val="tx1"/>
                          </a:solidFill>
                          <a:latin typeface="+mn-ea"/>
                          <a:ea typeface="+mn-ea"/>
                          <a:cs typeface="+mn-cs"/>
                        </a:rPr>
                        <a:t>)</a:t>
                      </a:r>
                    </a:p>
                  </a:txBody>
                  <a:tcPr marL="72000" marR="7200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100" kern="1200" dirty="0">
                          <a:solidFill>
                            <a:schemeClr val="tx1"/>
                          </a:solidFill>
                          <a:latin typeface="+mn-ea"/>
                          <a:ea typeface="+mn-ea"/>
                          <a:cs typeface="+mn-cs"/>
                        </a:rPr>
                        <a:t>乙 실시</a:t>
                      </a:r>
                    </a:p>
                  </a:txBody>
                  <a:tcPr marL="72000" marR="7200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100" kern="1200" dirty="0">
                          <a:solidFill>
                            <a:schemeClr val="tx1"/>
                          </a:solidFill>
                          <a:latin typeface="+mn-ea"/>
                          <a:ea typeface="+mn-ea"/>
                          <a:cs typeface="+mn-cs"/>
                        </a:rPr>
                        <a:t>乙 출원</a:t>
                      </a:r>
                    </a:p>
                  </a:txBody>
                  <a:tcPr marL="72000" marR="72000" marT="17907" marB="17907" anchor="ctr">
                    <a:solidFill>
                      <a:schemeClr val="accent1">
                        <a:lumMod val="20000"/>
                        <a:lumOff val="80000"/>
                      </a:schemeClr>
                    </a:solidFill>
                  </a:tcPr>
                </a:tc>
                <a:extLst>
                  <a:ext uri="{0D108BD9-81ED-4DB2-BD59-A6C34878D82A}">
                    <a16:rowId xmlns:a16="http://schemas.microsoft.com/office/drawing/2014/main" val="10000"/>
                  </a:ext>
                </a:extLst>
              </a:tr>
              <a:tr h="507819">
                <a:tc rowSpan="3">
                  <a:txBody>
                    <a:bodyPr/>
                    <a:lstStyle/>
                    <a:p>
                      <a:pPr marL="0" marR="0" indent="0" algn="ctr" fontAlgn="base" latinLnBrk="0">
                        <a:lnSpc>
                          <a:spcPct val="100000"/>
                        </a:lnSpc>
                        <a:spcBef>
                          <a:spcPts val="0"/>
                        </a:spcBef>
                        <a:spcAft>
                          <a:spcPts val="0"/>
                        </a:spcAft>
                      </a:pPr>
                      <a:r>
                        <a:rPr lang="en-US" sz="1100" kern="1200" dirty="0">
                          <a:solidFill>
                            <a:schemeClr val="tx1"/>
                          </a:solidFill>
                          <a:latin typeface="+mn-ea"/>
                          <a:ea typeface="+mn-ea"/>
                          <a:cs typeface="+mn-cs"/>
                        </a:rPr>
                        <a:t>AER</a:t>
                      </a:r>
                    </a:p>
                  </a:txBody>
                  <a:tcPr marL="72000" marR="72000" marT="17907" marB="17907" anchor="ctr"/>
                </a:tc>
                <a:tc rowSpan="2">
                  <a:txBody>
                    <a:bodyPr/>
                    <a:lstStyle/>
                    <a:p>
                      <a:pPr marL="0" marR="0" indent="0" algn="ctr" fontAlgn="base" latinLnBrk="0">
                        <a:lnSpc>
                          <a:spcPct val="100000"/>
                        </a:lnSpc>
                        <a:spcBef>
                          <a:spcPts val="0"/>
                        </a:spcBef>
                        <a:spcAft>
                          <a:spcPts val="0"/>
                        </a:spcAft>
                      </a:pPr>
                      <a:r>
                        <a:rPr lang="ko-KR" altLang="en-US" sz="1100" kern="1200" dirty="0">
                          <a:solidFill>
                            <a:schemeClr val="tx1"/>
                          </a:solidFill>
                          <a:latin typeface="+mn-ea"/>
                          <a:ea typeface="+mn-ea"/>
                          <a:cs typeface="+mn-cs"/>
                        </a:rPr>
                        <a:t>부가</a:t>
                      </a:r>
                      <a:endParaRPr lang="en-US" altLang="ko-KR" sz="1100" kern="1200" dirty="0">
                        <a:solidFill>
                          <a:schemeClr val="tx1"/>
                        </a:solidFill>
                        <a:latin typeface="+mn-ea"/>
                        <a:ea typeface="+mn-ea"/>
                        <a:cs typeface="+mn-cs"/>
                      </a:endParaRPr>
                    </a:p>
                    <a:p>
                      <a:pPr marL="0" marR="0" indent="0" algn="ctr" fontAlgn="base" latinLnBrk="0">
                        <a:lnSpc>
                          <a:spcPct val="100000"/>
                        </a:lnSpc>
                        <a:spcBef>
                          <a:spcPts val="0"/>
                        </a:spcBef>
                        <a:spcAft>
                          <a:spcPts val="0"/>
                        </a:spcAft>
                      </a:pPr>
                      <a:r>
                        <a:rPr lang="ko-KR" altLang="en-US" sz="1100" kern="1200" dirty="0">
                          <a:solidFill>
                            <a:schemeClr val="tx1"/>
                          </a:solidFill>
                          <a:latin typeface="+mn-ea"/>
                          <a:ea typeface="+mn-ea"/>
                          <a:cs typeface="+mn-cs"/>
                        </a:rPr>
                        <a:t>법칙</a:t>
                      </a:r>
                    </a:p>
                  </a:txBody>
                  <a:tcPr marL="72000" marR="72000" marT="17907" marB="17907" anchor="ctr"/>
                </a:tc>
                <a:tc rowSpan="2">
                  <a:txBody>
                    <a:bodyPr/>
                    <a:lstStyle/>
                    <a:p>
                      <a:pPr marL="17780" marR="17780" indent="0" algn="ctr" fontAlgn="base" latinLnBrk="0">
                        <a:lnSpc>
                          <a:spcPct val="100000"/>
                        </a:lnSpc>
                        <a:spcBef>
                          <a:spcPts val="0"/>
                        </a:spcBef>
                        <a:spcAft>
                          <a:spcPts val="0"/>
                        </a:spcAft>
                      </a:pPr>
                      <a:r>
                        <a:rPr lang="en-US" sz="1100" kern="1200" dirty="0" err="1">
                          <a:solidFill>
                            <a:schemeClr val="tx1"/>
                          </a:solidFill>
                          <a:latin typeface="+mn-ea"/>
                          <a:ea typeface="+mn-ea"/>
                          <a:cs typeface="+mn-cs"/>
                        </a:rPr>
                        <a:t>a+b+c</a:t>
                      </a:r>
                      <a:endParaRPr lang="en-US" sz="1100" kern="1200" dirty="0">
                        <a:solidFill>
                          <a:schemeClr val="tx1"/>
                        </a:solidFill>
                        <a:latin typeface="+mn-ea"/>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en-US" sz="1100" kern="1200">
                          <a:solidFill>
                            <a:schemeClr val="tx1"/>
                          </a:solidFill>
                          <a:latin typeface="+mn-ea"/>
                          <a:ea typeface="+mn-ea"/>
                          <a:cs typeface="+mn-cs"/>
                        </a:rPr>
                        <a:t>a+b+c</a:t>
                      </a:r>
                    </a:p>
                  </a:txBody>
                  <a:tcPr marL="72000" marR="72000" marT="17907" marB="17907" anchor="ctr"/>
                </a:tc>
                <a:tc>
                  <a:txBody>
                    <a:bodyPr/>
                    <a:lstStyle/>
                    <a:p>
                      <a:pPr marL="17780" marR="17780" indent="0" algn="ctr" fontAlgn="base" latinLnBrk="0">
                        <a:lnSpc>
                          <a:spcPct val="100000"/>
                        </a:lnSpc>
                        <a:spcBef>
                          <a:spcPts val="0"/>
                        </a:spcBef>
                        <a:spcAft>
                          <a:spcPts val="0"/>
                        </a:spcAft>
                      </a:pPr>
                      <a:r>
                        <a:rPr lang="ko-KR" altLang="en-US" sz="1100" kern="1200">
                          <a:solidFill>
                            <a:schemeClr val="tx1"/>
                          </a:solidFill>
                          <a:latin typeface="+mn-ea"/>
                          <a:ea typeface="+mn-ea"/>
                          <a:cs typeface="+mn-cs"/>
                        </a:rPr>
                        <a:t>침해</a:t>
                      </a:r>
                    </a:p>
                  </a:txBody>
                  <a:tcPr marL="72000" marR="72000" marT="17907" marB="17907" anchor="ctr"/>
                </a:tc>
                <a:tc>
                  <a:txBody>
                    <a:bodyPr/>
                    <a:lstStyle/>
                    <a:p>
                      <a:pPr marL="17780" marR="17780" indent="0" algn="just" fontAlgn="base" latinLnBrk="1">
                        <a:lnSpc>
                          <a:spcPct val="100000"/>
                        </a:lnSpc>
                        <a:spcBef>
                          <a:spcPts val="0"/>
                        </a:spcBef>
                        <a:spcAft>
                          <a:spcPts val="0"/>
                        </a:spcAft>
                      </a:pPr>
                      <a:r>
                        <a:rPr lang="ko-KR" altLang="en-US" sz="1100" kern="1200" dirty="0">
                          <a:solidFill>
                            <a:schemeClr val="tx1"/>
                          </a:solidFill>
                          <a:latin typeface="+mn-ea"/>
                          <a:ea typeface="+mn-ea"/>
                          <a:cs typeface="+mn-cs"/>
                        </a:rPr>
                        <a:t>동일성이 있어 등록불가</a:t>
                      </a:r>
                      <a:endParaRPr lang="en-US" altLang="ko-KR" sz="1100" kern="1200" dirty="0">
                        <a:solidFill>
                          <a:schemeClr val="tx1"/>
                        </a:solidFill>
                        <a:latin typeface="+mn-ea"/>
                        <a:ea typeface="+mn-ea"/>
                        <a:cs typeface="+mn-cs"/>
                      </a:endParaRPr>
                    </a:p>
                    <a:p>
                      <a:pPr marL="17780" marR="17780" indent="0" algn="just" fontAlgn="base" latinLnBrk="1">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法 </a:t>
                      </a:r>
                      <a:r>
                        <a:rPr lang="en-US" altLang="ko-KR" sz="1100" kern="1200" dirty="0">
                          <a:solidFill>
                            <a:schemeClr val="tx1"/>
                          </a:solidFill>
                          <a:latin typeface="+mn-ea"/>
                          <a:ea typeface="+mn-ea"/>
                          <a:cs typeface="+mn-cs"/>
                        </a:rPr>
                        <a:t>29</a:t>
                      </a:r>
                      <a:r>
                        <a:rPr lang="ko-KR" altLang="en-US" sz="1100" kern="1200" dirty="0">
                          <a:solidFill>
                            <a:schemeClr val="tx1"/>
                          </a:solidFill>
                          <a:latin typeface="+mn-ea"/>
                          <a:ea typeface="+mn-ea"/>
                          <a:cs typeface="+mn-cs"/>
                        </a:rPr>
                        <a:t>①</a:t>
                      </a:r>
                      <a:r>
                        <a:rPr lang="ko-KR" altLang="en-US" sz="1100" kern="1200" dirty="0" err="1">
                          <a:solidFill>
                            <a:schemeClr val="tx1"/>
                          </a:solidFill>
                          <a:latin typeface="+mn-ea"/>
                          <a:ea typeface="+mn-ea"/>
                          <a:cs typeface="+mn-cs"/>
                        </a:rPr>
                        <a:t>ㆍ</a:t>
                      </a:r>
                      <a:r>
                        <a:rPr lang="en-US" altLang="ko-KR" sz="1100" kern="1200" dirty="0">
                          <a:solidFill>
                            <a:schemeClr val="tx1"/>
                          </a:solidFill>
                          <a:latin typeface="+mn-ea"/>
                          <a:ea typeface="+mn-ea"/>
                          <a:cs typeface="+mn-cs"/>
                        </a:rPr>
                        <a:t>36 </a:t>
                      </a:r>
                      <a:r>
                        <a:rPr lang="ko-KR" altLang="en-US" sz="1100" kern="1200" dirty="0">
                          <a:solidFill>
                            <a:schemeClr val="tx1"/>
                          </a:solidFill>
                          <a:latin typeface="+mn-ea"/>
                          <a:ea typeface="+mn-ea"/>
                          <a:cs typeface="+mn-cs"/>
                        </a:rPr>
                        <a:t>위반</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txBody>
                  <a:tcPr marL="72000" marR="72000" marT="17907" marB="17907" anchor="ctr"/>
                </a:tc>
                <a:extLst>
                  <a:ext uri="{0D108BD9-81ED-4DB2-BD59-A6C34878D82A}">
                    <a16:rowId xmlns:a16="http://schemas.microsoft.com/office/drawing/2014/main" val="10001"/>
                  </a:ext>
                </a:extLst>
              </a:tr>
              <a:tr h="970348">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marL="17780" marR="17780" indent="0" algn="ctr" fontAlgn="base" latinLnBrk="0">
                        <a:lnSpc>
                          <a:spcPct val="100000"/>
                        </a:lnSpc>
                        <a:spcBef>
                          <a:spcPts val="0"/>
                        </a:spcBef>
                        <a:spcAft>
                          <a:spcPts val="0"/>
                        </a:spcAft>
                      </a:pPr>
                      <a:r>
                        <a:rPr lang="en-US" sz="1100" kern="1200" dirty="0" err="1">
                          <a:solidFill>
                            <a:schemeClr val="tx1"/>
                          </a:solidFill>
                          <a:latin typeface="+mn-ea"/>
                          <a:ea typeface="+mn-ea"/>
                          <a:cs typeface="+mn-cs"/>
                        </a:rPr>
                        <a:t>a+b+c+d</a:t>
                      </a:r>
                      <a:endParaRPr lang="en-US" sz="1100" kern="1200" dirty="0">
                        <a:solidFill>
                          <a:schemeClr val="tx1"/>
                        </a:solidFill>
                        <a:latin typeface="+mn-ea"/>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ko-KR" altLang="en-US" sz="1100" kern="1200" dirty="0">
                          <a:solidFill>
                            <a:schemeClr val="tx1"/>
                          </a:solidFill>
                          <a:latin typeface="+mn-ea"/>
                          <a:ea typeface="+mn-ea"/>
                          <a:cs typeface="+mn-cs"/>
                        </a:rPr>
                        <a:t>침해</a:t>
                      </a:r>
                    </a:p>
                  </a:txBody>
                  <a:tcPr marL="72000" marR="72000" marT="17907" marB="17907" anchor="ctr"/>
                </a:tc>
                <a:tc>
                  <a:txBody>
                    <a:bodyPr/>
                    <a:lstStyle/>
                    <a:p>
                      <a:pPr marL="17780" marR="17780" indent="0" algn="just" fontAlgn="base" latinLnBrk="1">
                        <a:lnSpc>
                          <a:spcPct val="100000"/>
                        </a:lnSpc>
                        <a:spcBef>
                          <a:spcPts val="0"/>
                        </a:spcBef>
                        <a:spcAft>
                          <a:spcPts val="0"/>
                        </a:spcAft>
                      </a:pPr>
                      <a:r>
                        <a:rPr lang="ko-KR" altLang="en-US" sz="1100" kern="1200" dirty="0">
                          <a:solidFill>
                            <a:schemeClr val="tx1"/>
                          </a:solidFill>
                          <a:latin typeface="+mn-ea"/>
                          <a:ea typeface="+mn-ea"/>
                          <a:cs typeface="+mn-cs"/>
                        </a:rPr>
                        <a:t>진보성이 있는 경우 등록가능</a:t>
                      </a:r>
                      <a:endParaRPr lang="en-US" altLang="ko-KR" sz="1100" kern="1200" dirty="0">
                        <a:solidFill>
                          <a:schemeClr val="tx1"/>
                        </a:solidFill>
                        <a:latin typeface="+mn-ea"/>
                        <a:ea typeface="+mn-ea"/>
                        <a:cs typeface="+mn-cs"/>
                      </a:endParaRPr>
                    </a:p>
                    <a:p>
                      <a:pPr marL="17780" marR="17780" indent="0" algn="just" fontAlgn="base" latinLnBrk="1">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등록된 경우 이를 이용관계라 함</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txBody>
                  <a:tcPr marL="72000" marR="72000" marT="17907" marB="17907" anchor="ctr"/>
                </a:tc>
                <a:extLst>
                  <a:ext uri="{0D108BD9-81ED-4DB2-BD59-A6C34878D82A}">
                    <a16:rowId xmlns:a16="http://schemas.microsoft.com/office/drawing/2014/main" val="10002"/>
                  </a:ext>
                </a:extLst>
              </a:tr>
              <a:tr h="507819">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100" kern="1200" dirty="0">
                          <a:solidFill>
                            <a:schemeClr val="tx1"/>
                          </a:solidFill>
                          <a:latin typeface="+mn-ea"/>
                          <a:ea typeface="+mn-ea"/>
                          <a:cs typeface="+mn-cs"/>
                        </a:rPr>
                        <a:t>생략 </a:t>
                      </a:r>
                      <a:endParaRPr lang="en-US" altLang="ko-KR" sz="1100" kern="1200" dirty="0">
                        <a:solidFill>
                          <a:schemeClr val="tx1"/>
                        </a:solidFill>
                        <a:latin typeface="+mn-ea"/>
                        <a:ea typeface="+mn-ea"/>
                        <a:cs typeface="+mn-cs"/>
                      </a:endParaRPr>
                    </a:p>
                    <a:p>
                      <a:pPr marL="0" marR="0" indent="0" algn="ctr" fontAlgn="base" latinLnBrk="0">
                        <a:lnSpc>
                          <a:spcPct val="100000"/>
                        </a:lnSpc>
                        <a:spcBef>
                          <a:spcPts val="0"/>
                        </a:spcBef>
                        <a:spcAft>
                          <a:spcPts val="0"/>
                        </a:spcAft>
                      </a:pPr>
                      <a:r>
                        <a:rPr lang="ko-KR" altLang="en-US" sz="1100" kern="1200" dirty="0">
                          <a:solidFill>
                            <a:schemeClr val="tx1"/>
                          </a:solidFill>
                          <a:latin typeface="+mn-ea"/>
                          <a:ea typeface="+mn-ea"/>
                          <a:cs typeface="+mn-cs"/>
                        </a:rPr>
                        <a:t>법칙</a:t>
                      </a:r>
                    </a:p>
                  </a:txBody>
                  <a:tcPr marL="72000" marR="72000" marT="17907" marB="17907" anchor="ctr"/>
                </a:tc>
                <a:tc>
                  <a:txBody>
                    <a:bodyPr/>
                    <a:lstStyle/>
                    <a:p>
                      <a:pPr marL="17780" marR="17780" indent="0" algn="ctr" fontAlgn="base" latinLnBrk="0">
                        <a:lnSpc>
                          <a:spcPct val="100000"/>
                        </a:lnSpc>
                        <a:spcBef>
                          <a:spcPts val="0"/>
                        </a:spcBef>
                        <a:spcAft>
                          <a:spcPts val="0"/>
                        </a:spcAft>
                      </a:pPr>
                      <a:r>
                        <a:rPr lang="en-US" sz="1100" kern="1200">
                          <a:solidFill>
                            <a:schemeClr val="tx1"/>
                          </a:solidFill>
                          <a:latin typeface="+mn-ea"/>
                          <a:ea typeface="+mn-ea"/>
                          <a:cs typeface="+mn-cs"/>
                        </a:rPr>
                        <a:t>a+b+c</a:t>
                      </a:r>
                    </a:p>
                  </a:txBody>
                  <a:tcPr marL="72000" marR="72000" marT="17907" marB="17907" anchor="ctr"/>
                </a:tc>
                <a:tc>
                  <a:txBody>
                    <a:bodyPr/>
                    <a:lstStyle/>
                    <a:p>
                      <a:pPr marL="17780" marR="17780" indent="0" algn="ctr" fontAlgn="base" latinLnBrk="0">
                        <a:lnSpc>
                          <a:spcPct val="100000"/>
                        </a:lnSpc>
                        <a:spcBef>
                          <a:spcPts val="0"/>
                        </a:spcBef>
                        <a:spcAft>
                          <a:spcPts val="0"/>
                        </a:spcAft>
                      </a:pPr>
                      <a:r>
                        <a:rPr lang="en-US" sz="1100" kern="1200">
                          <a:solidFill>
                            <a:schemeClr val="tx1"/>
                          </a:solidFill>
                          <a:latin typeface="+mn-ea"/>
                          <a:ea typeface="+mn-ea"/>
                          <a:cs typeface="+mn-cs"/>
                        </a:rPr>
                        <a:t>a+b</a:t>
                      </a:r>
                    </a:p>
                  </a:txBody>
                  <a:tcPr marL="72000" marR="72000" marT="17907" marB="17907" anchor="ctr"/>
                </a:tc>
                <a:tc>
                  <a:txBody>
                    <a:bodyPr/>
                    <a:lstStyle/>
                    <a:p>
                      <a:pPr marL="17780" marR="17780" indent="0" algn="just" fontAlgn="base" latinLnBrk="1">
                        <a:lnSpc>
                          <a:spcPct val="100000"/>
                        </a:lnSpc>
                        <a:spcBef>
                          <a:spcPts val="0"/>
                        </a:spcBef>
                        <a:spcAft>
                          <a:spcPts val="0"/>
                        </a:spcAft>
                      </a:pPr>
                      <a:r>
                        <a:rPr lang="en-US" altLang="ko-KR" sz="1100" kern="1200" dirty="0">
                          <a:solidFill>
                            <a:schemeClr val="tx1"/>
                          </a:solidFill>
                          <a:latin typeface="+mn-ea"/>
                          <a:ea typeface="+mn-ea"/>
                          <a:cs typeface="+mn-cs"/>
                        </a:rPr>
                        <a:t>1. </a:t>
                      </a:r>
                      <a:r>
                        <a:rPr lang="ko-KR" altLang="en-US" sz="1100" kern="1200" dirty="0">
                          <a:solidFill>
                            <a:schemeClr val="tx1"/>
                          </a:solidFill>
                          <a:latin typeface="+mn-ea"/>
                          <a:ea typeface="+mn-ea"/>
                          <a:cs typeface="+mn-cs"/>
                        </a:rPr>
                        <a:t>원칙 → </a:t>
                      </a:r>
                      <a:r>
                        <a:rPr lang="ko-KR" altLang="en-US" sz="1100" kern="1200" dirty="0" err="1">
                          <a:solidFill>
                            <a:schemeClr val="tx1"/>
                          </a:solidFill>
                          <a:latin typeface="+mn-ea"/>
                          <a:ea typeface="+mn-ea"/>
                          <a:cs typeface="+mn-cs"/>
                        </a:rPr>
                        <a:t>비침해</a:t>
                      </a:r>
                      <a:endParaRPr lang="ko-KR" altLang="en-US" sz="1100" kern="1200" dirty="0">
                        <a:solidFill>
                          <a:schemeClr val="tx1"/>
                        </a:solidFill>
                        <a:latin typeface="+mn-ea"/>
                        <a:ea typeface="+mn-ea"/>
                        <a:cs typeface="+mn-cs"/>
                      </a:endParaRPr>
                    </a:p>
                    <a:p>
                      <a:pPr marL="17780" marR="17780" indent="0" algn="just" fontAlgn="base" latinLnBrk="1">
                        <a:lnSpc>
                          <a:spcPct val="100000"/>
                        </a:lnSpc>
                        <a:spcBef>
                          <a:spcPts val="0"/>
                        </a:spcBef>
                        <a:spcAft>
                          <a:spcPts val="0"/>
                        </a:spcAft>
                      </a:pPr>
                      <a:r>
                        <a:rPr lang="en-US" altLang="ko-KR" sz="1100" kern="1200" dirty="0">
                          <a:solidFill>
                            <a:schemeClr val="tx1"/>
                          </a:solidFill>
                          <a:latin typeface="+mn-ea"/>
                          <a:ea typeface="+mn-ea"/>
                          <a:cs typeface="+mn-cs"/>
                        </a:rPr>
                        <a:t>2. </a:t>
                      </a:r>
                      <a:r>
                        <a:rPr lang="ko-KR" altLang="en-US" sz="1100" kern="1200" dirty="0">
                          <a:solidFill>
                            <a:schemeClr val="tx1"/>
                          </a:solidFill>
                          <a:latin typeface="+mn-ea"/>
                          <a:ea typeface="+mn-ea"/>
                          <a:cs typeface="+mn-cs"/>
                        </a:rPr>
                        <a:t>예외 → 간접침해</a:t>
                      </a:r>
                    </a:p>
                  </a:txBody>
                  <a:tcPr marL="72000" marR="72000" marT="17907" marB="17907" anchor="ctr"/>
                </a:tc>
                <a:tc>
                  <a:txBody>
                    <a:bodyPr/>
                    <a:lstStyle/>
                    <a:p>
                      <a:pPr marL="17780" marR="17780" indent="0" algn="just" fontAlgn="base" latinLnBrk="1">
                        <a:lnSpc>
                          <a:spcPct val="100000"/>
                        </a:lnSpc>
                        <a:spcBef>
                          <a:spcPts val="0"/>
                        </a:spcBef>
                        <a:spcAft>
                          <a:spcPts val="0"/>
                        </a:spcAft>
                      </a:pPr>
                      <a:r>
                        <a:rPr lang="ko-KR" altLang="en-US" sz="1100" kern="1200" dirty="0">
                          <a:solidFill>
                            <a:schemeClr val="tx1"/>
                          </a:solidFill>
                          <a:latin typeface="+mn-ea"/>
                          <a:ea typeface="+mn-ea"/>
                          <a:cs typeface="+mn-cs"/>
                        </a:rPr>
                        <a:t>동일성이 있어 등록불가</a:t>
                      </a:r>
                      <a:endParaRPr lang="en-US" altLang="ko-KR" sz="1100" kern="1200" dirty="0">
                        <a:solidFill>
                          <a:schemeClr val="tx1"/>
                        </a:solidFill>
                        <a:latin typeface="+mn-ea"/>
                        <a:ea typeface="+mn-ea"/>
                        <a:cs typeface="+mn-cs"/>
                      </a:endParaRPr>
                    </a:p>
                    <a:p>
                      <a:pPr marL="17780" marR="17780" indent="0" algn="just" fontAlgn="base" latinLnBrk="1">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法 </a:t>
                      </a:r>
                      <a:r>
                        <a:rPr lang="en-US" altLang="ko-KR" sz="1100" kern="1200" dirty="0">
                          <a:solidFill>
                            <a:schemeClr val="tx1"/>
                          </a:solidFill>
                          <a:latin typeface="+mn-ea"/>
                          <a:ea typeface="+mn-ea"/>
                          <a:cs typeface="+mn-cs"/>
                        </a:rPr>
                        <a:t>29</a:t>
                      </a:r>
                      <a:r>
                        <a:rPr lang="ko-KR" altLang="en-US" sz="1100" kern="1200" dirty="0">
                          <a:solidFill>
                            <a:schemeClr val="tx1"/>
                          </a:solidFill>
                          <a:latin typeface="+mn-ea"/>
                          <a:ea typeface="+mn-ea"/>
                          <a:cs typeface="+mn-cs"/>
                        </a:rPr>
                        <a:t>①</a:t>
                      </a:r>
                      <a:r>
                        <a:rPr lang="ko-KR" altLang="en-US" sz="1100" kern="1200" dirty="0" err="1">
                          <a:solidFill>
                            <a:schemeClr val="tx1"/>
                          </a:solidFill>
                          <a:latin typeface="+mn-ea"/>
                          <a:ea typeface="+mn-ea"/>
                          <a:cs typeface="+mn-cs"/>
                        </a:rPr>
                        <a:t>ㆍ</a:t>
                      </a:r>
                      <a:r>
                        <a:rPr lang="en-US" altLang="ko-KR" sz="1100" kern="1200" dirty="0">
                          <a:solidFill>
                            <a:schemeClr val="tx1"/>
                          </a:solidFill>
                          <a:latin typeface="+mn-ea"/>
                          <a:ea typeface="+mn-ea"/>
                          <a:cs typeface="+mn-cs"/>
                        </a:rPr>
                        <a:t>36 </a:t>
                      </a:r>
                      <a:r>
                        <a:rPr lang="ko-KR" altLang="en-US" sz="1100" kern="1200" dirty="0">
                          <a:solidFill>
                            <a:schemeClr val="tx1"/>
                          </a:solidFill>
                          <a:latin typeface="+mn-ea"/>
                          <a:ea typeface="+mn-ea"/>
                          <a:cs typeface="+mn-cs"/>
                        </a:rPr>
                        <a:t>위반</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txBody>
                  <a:tcPr marL="72000" marR="72000" marT="17907" marB="17907" anchor="ctr"/>
                </a:tc>
                <a:extLst>
                  <a:ext uri="{0D108BD9-81ED-4DB2-BD59-A6C34878D82A}">
                    <a16:rowId xmlns:a16="http://schemas.microsoft.com/office/drawing/2014/main" val="10003"/>
                  </a:ext>
                </a:extLst>
              </a:tr>
              <a:tr h="2820466">
                <a:tc gridSpan="2">
                  <a:txBody>
                    <a:bodyPr/>
                    <a:lstStyle/>
                    <a:p>
                      <a:pPr marL="0" marR="0" indent="0" algn="ctr" fontAlgn="base" latinLnBrk="0">
                        <a:lnSpc>
                          <a:spcPct val="100000"/>
                        </a:lnSpc>
                        <a:spcBef>
                          <a:spcPts val="0"/>
                        </a:spcBef>
                        <a:spcAft>
                          <a:spcPts val="0"/>
                        </a:spcAft>
                      </a:pPr>
                      <a:r>
                        <a:rPr lang="ko-KR" altLang="en-US" sz="1100" kern="1200" dirty="0" err="1">
                          <a:solidFill>
                            <a:schemeClr val="tx1"/>
                          </a:solidFill>
                          <a:latin typeface="+mn-ea"/>
                          <a:ea typeface="+mn-ea"/>
                          <a:cs typeface="+mn-cs"/>
                        </a:rPr>
                        <a:t>균등론</a:t>
                      </a:r>
                      <a:endParaRPr lang="ko-KR" altLang="en-US" sz="1100" kern="1200" dirty="0">
                        <a:solidFill>
                          <a:schemeClr val="tx1"/>
                        </a:solidFill>
                        <a:latin typeface="+mn-ea"/>
                        <a:ea typeface="+mn-ea"/>
                        <a:cs typeface="+mn-cs"/>
                      </a:endParaRPr>
                    </a:p>
                  </a:txBody>
                  <a:tcPr marL="72000" marR="72000" marT="17907" marB="17907" anchor="ctr"/>
                </a:tc>
                <a:tc hMerge="1">
                  <a:txBody>
                    <a:bodyPr/>
                    <a:lstStyle/>
                    <a:p>
                      <a:pPr latinLnBrk="1"/>
                      <a:endParaRPr lang="ko-KR" altLang="en-US"/>
                    </a:p>
                  </a:txBody>
                  <a:tcPr/>
                </a:tc>
                <a:tc>
                  <a:txBody>
                    <a:bodyPr/>
                    <a:lstStyle/>
                    <a:p>
                      <a:pPr marL="17780" marR="17780" indent="0" algn="ctr" fontAlgn="base" latinLnBrk="0">
                        <a:lnSpc>
                          <a:spcPct val="100000"/>
                        </a:lnSpc>
                        <a:spcBef>
                          <a:spcPts val="0"/>
                        </a:spcBef>
                        <a:spcAft>
                          <a:spcPts val="0"/>
                        </a:spcAft>
                      </a:pPr>
                      <a:r>
                        <a:rPr lang="en-US" sz="1100" kern="1200" dirty="0" err="1">
                          <a:solidFill>
                            <a:schemeClr val="tx1"/>
                          </a:solidFill>
                          <a:latin typeface="+mn-ea"/>
                          <a:ea typeface="+mn-ea"/>
                          <a:cs typeface="+mn-cs"/>
                        </a:rPr>
                        <a:t>a+b+c</a:t>
                      </a:r>
                      <a:endParaRPr lang="en-US" sz="1100" kern="1200" dirty="0">
                        <a:solidFill>
                          <a:schemeClr val="tx1"/>
                        </a:solidFill>
                        <a:latin typeface="+mn-ea"/>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en-US" sz="1100" kern="1200">
                          <a:solidFill>
                            <a:schemeClr val="tx1"/>
                          </a:solidFill>
                          <a:latin typeface="+mn-ea"/>
                          <a:ea typeface="+mn-ea"/>
                          <a:cs typeface="+mn-cs"/>
                        </a:rPr>
                        <a:t>a+b+c'</a:t>
                      </a:r>
                    </a:p>
                  </a:txBody>
                  <a:tcPr marL="72000" marR="72000" marT="17907" marB="17907" anchor="ctr"/>
                </a:tc>
                <a:tc>
                  <a:txBody>
                    <a:bodyPr/>
                    <a:lstStyle/>
                    <a:p>
                      <a:pPr marL="17780" marR="17780" indent="0" algn="just" fontAlgn="base" latinLnBrk="1">
                        <a:lnSpc>
                          <a:spcPct val="100000"/>
                        </a:lnSpc>
                        <a:spcBef>
                          <a:spcPts val="0"/>
                        </a:spcBef>
                        <a:spcAft>
                          <a:spcPts val="0"/>
                        </a:spcAft>
                      </a:pPr>
                      <a:r>
                        <a:rPr lang="en-US" altLang="ko-KR" sz="1100" kern="1200" dirty="0">
                          <a:solidFill>
                            <a:schemeClr val="tx1"/>
                          </a:solidFill>
                          <a:latin typeface="+mn-ea"/>
                          <a:ea typeface="+mn-ea"/>
                          <a:cs typeface="+mn-cs"/>
                        </a:rPr>
                        <a:t>1. </a:t>
                      </a:r>
                      <a:r>
                        <a:rPr lang="ko-KR" altLang="en-US" sz="1100" kern="1200" dirty="0">
                          <a:solidFill>
                            <a:schemeClr val="tx1"/>
                          </a:solidFill>
                          <a:latin typeface="+mn-ea"/>
                          <a:ea typeface="+mn-ea"/>
                          <a:cs typeface="+mn-cs"/>
                        </a:rPr>
                        <a:t>침해 </a:t>
                      </a:r>
                    </a:p>
                    <a:p>
                      <a:pPr marL="17780" marR="17780" indent="0" algn="just" fontAlgn="base" latinLnBrk="1">
                        <a:lnSpc>
                          <a:spcPct val="100000"/>
                        </a:lnSpc>
                        <a:spcBef>
                          <a:spcPts val="0"/>
                        </a:spcBef>
                        <a:spcAft>
                          <a:spcPts val="0"/>
                        </a:spcAft>
                      </a:pPr>
                      <a:r>
                        <a:rPr lang="ko-KR" altLang="en-US" sz="1100" kern="1200" dirty="0">
                          <a:solidFill>
                            <a:schemeClr val="tx1"/>
                          </a:solidFill>
                          <a:latin typeface="+mn-ea"/>
                          <a:ea typeface="+mn-ea"/>
                          <a:cs typeface="+mn-cs"/>
                        </a:rPr>
                        <a:t>⑴ </a:t>
                      </a:r>
                      <a:r>
                        <a:rPr lang="ko-KR" altLang="en-US" sz="1100" kern="1200" dirty="0" err="1">
                          <a:solidFill>
                            <a:schemeClr val="tx1"/>
                          </a:solidFill>
                          <a:latin typeface="+mn-ea"/>
                          <a:ea typeface="+mn-ea"/>
                          <a:cs typeface="+mn-cs"/>
                        </a:rPr>
                        <a:t>과제해결원리동일</a:t>
                      </a:r>
                      <a:r>
                        <a:rPr lang="ko-KR" altLang="en-US" sz="1100" kern="1200" dirty="0">
                          <a:solidFill>
                            <a:schemeClr val="tx1"/>
                          </a:solidFill>
                          <a:latin typeface="+mn-ea"/>
                          <a:ea typeface="+mn-ea"/>
                          <a:cs typeface="+mn-cs"/>
                        </a:rPr>
                        <a:t>○</a:t>
                      </a:r>
                    </a:p>
                    <a:p>
                      <a:pPr marL="17780" marR="17780" indent="0" algn="just" fontAlgn="base" latinLnBrk="1">
                        <a:lnSpc>
                          <a:spcPct val="100000"/>
                        </a:lnSpc>
                        <a:spcBef>
                          <a:spcPts val="0"/>
                        </a:spcBef>
                        <a:spcAft>
                          <a:spcPts val="0"/>
                        </a:spcAft>
                      </a:pPr>
                      <a:r>
                        <a:rPr lang="ko-KR" altLang="en-US" sz="1100" kern="1200" dirty="0">
                          <a:solidFill>
                            <a:schemeClr val="tx1"/>
                          </a:solidFill>
                          <a:latin typeface="+mn-ea"/>
                          <a:ea typeface="+mn-ea"/>
                          <a:cs typeface="+mn-cs"/>
                        </a:rPr>
                        <a:t>⑵ 변경가능성○</a:t>
                      </a:r>
                    </a:p>
                    <a:p>
                      <a:pPr marL="17780" marR="17780" indent="0" algn="just" fontAlgn="base" latinLnBrk="1">
                        <a:lnSpc>
                          <a:spcPct val="100000"/>
                        </a:lnSpc>
                        <a:spcBef>
                          <a:spcPts val="0"/>
                        </a:spcBef>
                        <a:spcAft>
                          <a:spcPts val="0"/>
                        </a:spcAft>
                      </a:pPr>
                      <a:r>
                        <a:rPr lang="ko-KR" altLang="en-US" sz="1100" kern="1200" dirty="0">
                          <a:solidFill>
                            <a:schemeClr val="tx1"/>
                          </a:solidFill>
                          <a:latin typeface="+mn-ea"/>
                          <a:ea typeface="+mn-ea"/>
                          <a:cs typeface="+mn-cs"/>
                        </a:rPr>
                        <a:t>⑶ 변경용이성○</a:t>
                      </a:r>
                    </a:p>
                    <a:p>
                      <a:pPr marL="17780" marR="17780" indent="0" algn="just" fontAlgn="base" latinLnBrk="1">
                        <a:lnSpc>
                          <a:spcPct val="100000"/>
                        </a:lnSpc>
                        <a:spcBef>
                          <a:spcPts val="0"/>
                        </a:spcBef>
                        <a:spcAft>
                          <a:spcPts val="0"/>
                        </a:spcAft>
                      </a:pPr>
                      <a:r>
                        <a:rPr lang="ko-KR" altLang="en-US" sz="1100" kern="1200" dirty="0">
                          <a:solidFill>
                            <a:schemeClr val="tx1"/>
                          </a:solidFill>
                          <a:latin typeface="+mn-ea"/>
                          <a:ea typeface="+mn-ea"/>
                          <a:cs typeface="+mn-cs"/>
                        </a:rPr>
                        <a:t>⑷ 특별사정 </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p>
                      <a:pPr marL="17780" marR="17780" indent="0" algn="just" fontAlgn="base" latinLnBrk="1">
                        <a:lnSpc>
                          <a:spcPct val="100000"/>
                        </a:lnSpc>
                        <a:spcBef>
                          <a:spcPts val="0"/>
                        </a:spcBef>
                        <a:spcAft>
                          <a:spcPts val="0"/>
                        </a:spcAft>
                      </a:pPr>
                      <a:r>
                        <a:rPr lang="en-US" altLang="ko-KR" sz="1100" kern="1200" dirty="0">
                          <a:solidFill>
                            <a:schemeClr val="tx1"/>
                          </a:solidFill>
                          <a:latin typeface="+mn-ea"/>
                          <a:ea typeface="+mn-ea"/>
                          <a:cs typeface="+mn-cs"/>
                        </a:rPr>
                        <a:t>2. </a:t>
                      </a:r>
                      <a:r>
                        <a:rPr lang="ko-KR" altLang="en-US" sz="1100" kern="1200" dirty="0">
                          <a:solidFill>
                            <a:schemeClr val="tx1"/>
                          </a:solidFill>
                          <a:latin typeface="+mn-ea"/>
                          <a:ea typeface="+mn-ea"/>
                          <a:cs typeface="+mn-cs"/>
                        </a:rPr>
                        <a:t>그렇지 아니하면 </a:t>
                      </a:r>
                    </a:p>
                    <a:p>
                      <a:pPr marL="17780" marR="17780" indent="0" algn="just" fontAlgn="base" latinLnBrk="1">
                        <a:lnSpc>
                          <a:spcPct val="100000"/>
                        </a:lnSpc>
                        <a:spcBef>
                          <a:spcPts val="0"/>
                        </a:spcBef>
                        <a:spcAft>
                          <a:spcPts val="0"/>
                        </a:spcAft>
                      </a:pPr>
                      <a:r>
                        <a:rPr lang="ko-KR" altLang="en-US" sz="1100" kern="1200" dirty="0">
                          <a:solidFill>
                            <a:schemeClr val="tx1"/>
                          </a:solidFill>
                          <a:latin typeface="+mn-ea"/>
                          <a:ea typeface="+mn-ea"/>
                          <a:cs typeface="+mn-cs"/>
                        </a:rPr>
                        <a:t>     </a:t>
                      </a:r>
                      <a:r>
                        <a:rPr lang="ko-KR" altLang="en-US" sz="1100" kern="1200" dirty="0" err="1">
                          <a:solidFill>
                            <a:schemeClr val="tx1"/>
                          </a:solidFill>
                          <a:latin typeface="+mn-ea"/>
                          <a:ea typeface="+mn-ea"/>
                          <a:cs typeface="+mn-cs"/>
                        </a:rPr>
                        <a:t>비침해</a:t>
                      </a:r>
                      <a:r>
                        <a:rPr lang="ko-KR" altLang="en-US" sz="1100" kern="1200" dirty="0">
                          <a:solidFill>
                            <a:schemeClr val="tx1"/>
                          </a:solidFill>
                          <a:latin typeface="+mn-ea"/>
                          <a:ea typeface="+mn-ea"/>
                          <a:cs typeface="+mn-cs"/>
                        </a:rPr>
                        <a:t> </a:t>
                      </a:r>
                    </a:p>
                  </a:txBody>
                  <a:tcPr marL="72000" marR="72000" marT="17907" marB="17907" anchor="ctr"/>
                </a:tc>
                <a:tc>
                  <a:txBody>
                    <a:bodyPr/>
                    <a:lstStyle/>
                    <a:p>
                      <a:pPr marL="109220" marR="17780" indent="-109220" algn="just" fontAlgn="base" latinLnBrk="1">
                        <a:lnSpc>
                          <a:spcPct val="100000"/>
                        </a:lnSpc>
                        <a:spcBef>
                          <a:spcPts val="0"/>
                        </a:spcBef>
                        <a:spcAft>
                          <a:spcPts val="0"/>
                        </a:spcAft>
                      </a:pPr>
                      <a:r>
                        <a:rPr lang="en-US" altLang="ko-KR" sz="1100" kern="1200" dirty="0">
                          <a:solidFill>
                            <a:schemeClr val="tx1"/>
                          </a:solidFill>
                          <a:latin typeface="+mn-ea"/>
                          <a:ea typeface="+mn-ea"/>
                          <a:cs typeface="+mn-cs"/>
                        </a:rPr>
                        <a:t>1.</a:t>
                      </a:r>
                      <a:r>
                        <a:rPr lang="ko-KR" altLang="en-US" sz="1100" kern="1200" dirty="0">
                          <a:solidFill>
                            <a:schemeClr val="tx1"/>
                          </a:solidFill>
                          <a:latin typeface="+mn-ea"/>
                          <a:ea typeface="+mn-ea"/>
                          <a:cs typeface="+mn-cs"/>
                        </a:rPr>
                        <a:t>구성의 차이가 </a:t>
                      </a:r>
                      <a:r>
                        <a:rPr lang="ko-KR" altLang="en-US" sz="1100" kern="1200" dirty="0" err="1">
                          <a:solidFill>
                            <a:schemeClr val="tx1"/>
                          </a:solidFill>
                          <a:latin typeface="+mn-ea"/>
                          <a:ea typeface="+mn-ea"/>
                          <a:cs typeface="+mn-cs"/>
                        </a:rPr>
                        <a:t>주지관용기술의</a:t>
                      </a:r>
                      <a:r>
                        <a:rPr lang="ko-KR" altLang="en-US" sz="1100" kern="1200" dirty="0">
                          <a:solidFill>
                            <a:schemeClr val="tx1"/>
                          </a:solidFill>
                          <a:latin typeface="+mn-ea"/>
                          <a:ea typeface="+mn-ea"/>
                          <a:cs typeface="+mn-cs"/>
                        </a:rPr>
                        <a:t> 부가</a:t>
                      </a:r>
                      <a:r>
                        <a:rPr lang="en-US" altLang="ko-KR" sz="1100" kern="1200" dirty="0">
                          <a:solidFill>
                            <a:schemeClr val="tx1"/>
                          </a:solidFill>
                          <a:latin typeface="+mn-ea"/>
                          <a:ea typeface="+mn-ea"/>
                          <a:cs typeface="+mn-cs"/>
                        </a:rPr>
                        <a:t>, </a:t>
                      </a:r>
                      <a:r>
                        <a:rPr lang="ko-KR" altLang="en-US" sz="1100" kern="1200" dirty="0">
                          <a:solidFill>
                            <a:schemeClr val="tx1"/>
                          </a:solidFill>
                          <a:latin typeface="+mn-ea"/>
                          <a:ea typeface="+mn-ea"/>
                          <a:cs typeface="+mn-cs"/>
                        </a:rPr>
                        <a:t>삭제</a:t>
                      </a:r>
                      <a:r>
                        <a:rPr lang="en-US" altLang="ko-KR" sz="1100" kern="1200" dirty="0">
                          <a:solidFill>
                            <a:schemeClr val="tx1"/>
                          </a:solidFill>
                          <a:latin typeface="+mn-ea"/>
                          <a:ea typeface="+mn-ea"/>
                          <a:cs typeface="+mn-cs"/>
                        </a:rPr>
                        <a:t>, </a:t>
                      </a:r>
                      <a:r>
                        <a:rPr lang="ko-KR" altLang="en-US" sz="1100" kern="1200" dirty="0">
                          <a:solidFill>
                            <a:schemeClr val="tx1"/>
                          </a:solidFill>
                          <a:latin typeface="+mn-ea"/>
                          <a:ea typeface="+mn-ea"/>
                          <a:cs typeface="+mn-cs"/>
                        </a:rPr>
                        <a:t>변경에 불과하고 새로운 효과도 발생하지 아니한 경우라면</a:t>
                      </a: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선출원주의에서는 그 차이가 통상의 기술자가 보통으로 채용하는 정도의 변경에 지나지 아니하고 발명의 목적과 작용 효과에 특별한 차이를 일으키지 아니하는 경우라면</a:t>
                      </a: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 실질적 동일성이 있어 등록불가</a:t>
                      </a: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法 </a:t>
                      </a:r>
                      <a:r>
                        <a:rPr lang="en-US" altLang="ko-KR" sz="1100" kern="1200" dirty="0">
                          <a:solidFill>
                            <a:schemeClr val="tx1"/>
                          </a:solidFill>
                          <a:latin typeface="+mn-ea"/>
                          <a:ea typeface="+mn-ea"/>
                          <a:cs typeface="+mn-cs"/>
                        </a:rPr>
                        <a:t>29</a:t>
                      </a:r>
                      <a:r>
                        <a:rPr lang="ko-KR" altLang="en-US" sz="1100" kern="1200" dirty="0">
                          <a:solidFill>
                            <a:schemeClr val="tx1"/>
                          </a:solidFill>
                          <a:latin typeface="+mn-ea"/>
                          <a:ea typeface="+mn-ea"/>
                          <a:cs typeface="+mn-cs"/>
                        </a:rPr>
                        <a:t>①</a:t>
                      </a:r>
                      <a:r>
                        <a:rPr lang="ko-KR" altLang="en-US" sz="1100" kern="1200" dirty="0" err="1">
                          <a:solidFill>
                            <a:schemeClr val="tx1"/>
                          </a:solidFill>
                          <a:latin typeface="+mn-ea"/>
                          <a:ea typeface="+mn-ea"/>
                          <a:cs typeface="+mn-cs"/>
                        </a:rPr>
                        <a:t>ㆍ</a:t>
                      </a:r>
                      <a:r>
                        <a:rPr lang="en-US" altLang="ko-KR" sz="1100" kern="1200" dirty="0">
                          <a:solidFill>
                            <a:schemeClr val="tx1"/>
                          </a:solidFill>
                          <a:latin typeface="+mn-ea"/>
                          <a:ea typeface="+mn-ea"/>
                          <a:cs typeface="+mn-cs"/>
                        </a:rPr>
                        <a:t>36 </a:t>
                      </a:r>
                      <a:r>
                        <a:rPr lang="ko-KR" altLang="en-US" sz="1100" kern="1200" dirty="0">
                          <a:solidFill>
                            <a:schemeClr val="tx1"/>
                          </a:solidFill>
                          <a:latin typeface="+mn-ea"/>
                          <a:ea typeface="+mn-ea"/>
                          <a:cs typeface="+mn-cs"/>
                        </a:rPr>
                        <a:t>위반</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p>
                      <a:pPr marL="116840" marR="17780" indent="-116840" algn="just" fontAlgn="base" latinLnBrk="1">
                        <a:lnSpc>
                          <a:spcPct val="100000"/>
                        </a:lnSpc>
                        <a:spcBef>
                          <a:spcPts val="0"/>
                        </a:spcBef>
                        <a:spcAft>
                          <a:spcPts val="0"/>
                        </a:spcAft>
                      </a:pPr>
                      <a:r>
                        <a:rPr lang="en-US" altLang="ko-KR" sz="1100" kern="1200" dirty="0">
                          <a:solidFill>
                            <a:schemeClr val="tx1"/>
                          </a:solidFill>
                          <a:latin typeface="+mn-ea"/>
                          <a:ea typeface="+mn-ea"/>
                          <a:cs typeface="+mn-cs"/>
                        </a:rPr>
                        <a:t>2.</a:t>
                      </a:r>
                      <a:r>
                        <a:rPr lang="ko-KR" altLang="en-US" sz="1100" kern="1200" dirty="0">
                          <a:solidFill>
                            <a:schemeClr val="tx1"/>
                          </a:solidFill>
                          <a:latin typeface="+mn-ea"/>
                          <a:ea typeface="+mn-ea"/>
                          <a:cs typeface="+mn-cs"/>
                        </a:rPr>
                        <a:t>구성의 곤란성이 없고 효과의 현저성이 없어서 용이하다면</a:t>
                      </a:r>
                      <a:r>
                        <a:rPr lang="en-US" altLang="ko-KR" sz="1100" kern="1200" dirty="0">
                          <a:solidFill>
                            <a:schemeClr val="tx1"/>
                          </a:solidFill>
                          <a:latin typeface="+mn-ea"/>
                          <a:ea typeface="+mn-ea"/>
                          <a:cs typeface="+mn-cs"/>
                        </a:rPr>
                        <a:t> </a:t>
                      </a:r>
                      <a:r>
                        <a:rPr lang="ko-KR" altLang="en-US" sz="1100" kern="1200" dirty="0">
                          <a:solidFill>
                            <a:schemeClr val="tx1"/>
                          </a:solidFill>
                          <a:latin typeface="+mn-ea"/>
                          <a:ea typeface="+mn-ea"/>
                          <a:cs typeface="+mn-cs"/>
                        </a:rPr>
                        <a:t>진보성 위반으로 등록불가</a:t>
                      </a:r>
                    </a:p>
                    <a:p>
                      <a:pPr marL="116840" marR="17780" indent="-116840" algn="just" fontAlgn="base" latinLnBrk="1">
                        <a:lnSpc>
                          <a:spcPct val="100000"/>
                        </a:lnSpc>
                        <a:spcBef>
                          <a:spcPts val="0"/>
                        </a:spcBef>
                        <a:spcAft>
                          <a:spcPts val="0"/>
                        </a:spcAft>
                      </a:pPr>
                      <a:r>
                        <a:rPr lang="en-US" altLang="ko-KR" sz="1100" kern="1200" dirty="0">
                          <a:solidFill>
                            <a:schemeClr val="tx1"/>
                          </a:solidFill>
                          <a:latin typeface="+mn-ea"/>
                          <a:ea typeface="+mn-ea"/>
                          <a:cs typeface="+mn-cs"/>
                        </a:rPr>
                        <a:t>3.</a:t>
                      </a:r>
                      <a:r>
                        <a:rPr lang="ko-KR" altLang="en-US" sz="1100" kern="1200" dirty="0">
                          <a:solidFill>
                            <a:schemeClr val="tx1"/>
                          </a:solidFill>
                          <a:latin typeface="+mn-ea"/>
                          <a:ea typeface="+mn-ea"/>
                          <a:cs typeface="+mn-cs"/>
                        </a:rPr>
                        <a:t>그렇지 아니하면 등록가능</a:t>
                      </a:r>
                    </a:p>
                  </a:txBody>
                  <a:tcPr marL="72000" marR="72000" marT="17907" marB="17907" anchor="ctr"/>
                </a:tc>
                <a:extLst>
                  <a:ext uri="{0D108BD9-81ED-4DB2-BD59-A6C34878D82A}">
                    <a16:rowId xmlns:a16="http://schemas.microsoft.com/office/drawing/2014/main" val="10004"/>
                  </a:ext>
                </a:extLst>
              </a:tr>
            </a:tbl>
          </a:graphicData>
        </a:graphic>
      </p:graphicFrame>
      <p:cxnSp>
        <p:nvCxnSpPr>
          <p:cNvPr id="6" name="연결선: 꺾임 5">
            <a:extLst>
              <a:ext uri="{FF2B5EF4-FFF2-40B4-BE49-F238E27FC236}">
                <a16:creationId xmlns:a16="http://schemas.microsoft.com/office/drawing/2014/main" id="{B5036DBA-4A70-A090-31D3-E4D82FD6861E}"/>
              </a:ext>
            </a:extLst>
          </p:cNvPr>
          <p:cNvCxnSpPr>
            <a:stCxn id="55" idx="0"/>
            <a:endCxn id="72" idx="0"/>
          </p:cNvCxnSpPr>
          <p:nvPr/>
        </p:nvCxnSpPr>
        <p:spPr>
          <a:xfrm rot="5400000" flipH="1" flipV="1">
            <a:off x="1293259" y="2082117"/>
            <a:ext cx="12700" cy="909367"/>
          </a:xfrm>
          <a:prstGeom prst="bentConnector3">
            <a:avLst>
              <a:gd name="adj1" fmla="val 1800000"/>
            </a:avLst>
          </a:prstGeom>
          <a:ln w="28575">
            <a:solidFill>
              <a:schemeClr val="accent2"/>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1" name="타원 10">
            <a:extLst>
              <a:ext uri="{FF2B5EF4-FFF2-40B4-BE49-F238E27FC236}">
                <a16:creationId xmlns:a16="http://schemas.microsoft.com/office/drawing/2014/main" id="{6035D839-C941-7E70-1FCC-2850EA9ACA28}"/>
              </a:ext>
            </a:extLst>
          </p:cNvPr>
          <p:cNvSpPr/>
          <p:nvPr/>
        </p:nvSpPr>
        <p:spPr>
          <a:xfrm>
            <a:off x="1289981" y="2269146"/>
            <a:ext cx="106173" cy="106173"/>
          </a:xfrm>
          <a:prstGeom prst="ellipse">
            <a:avLst/>
          </a:prstGeom>
          <a:solidFill>
            <a:schemeClr val="accent2"/>
          </a:solidFill>
          <a:ln>
            <a:solidFill>
              <a:schemeClr val="accent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8" name="연결선: 꺾임 17">
            <a:extLst>
              <a:ext uri="{FF2B5EF4-FFF2-40B4-BE49-F238E27FC236}">
                <a16:creationId xmlns:a16="http://schemas.microsoft.com/office/drawing/2014/main" id="{9F4A95E1-CAAD-112F-93D0-03566AEA2133}"/>
              </a:ext>
            </a:extLst>
          </p:cNvPr>
          <p:cNvCxnSpPr>
            <a:cxnSpLocks/>
            <a:stCxn id="11" idx="0"/>
            <a:endCxn id="75" idx="0"/>
          </p:cNvCxnSpPr>
          <p:nvPr/>
        </p:nvCxnSpPr>
        <p:spPr>
          <a:xfrm rot="16200000" flipH="1">
            <a:off x="2473716" y="1138498"/>
            <a:ext cx="267654" cy="2528951"/>
          </a:xfrm>
          <a:prstGeom prst="bentConnector3">
            <a:avLst>
              <a:gd name="adj1" fmla="val -85409"/>
            </a:avLst>
          </a:prstGeom>
          <a:ln w="28575">
            <a:solidFill>
              <a:schemeClr val="accent2"/>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 name="연결선: 꺾임 21">
            <a:extLst>
              <a:ext uri="{FF2B5EF4-FFF2-40B4-BE49-F238E27FC236}">
                <a16:creationId xmlns:a16="http://schemas.microsoft.com/office/drawing/2014/main" id="{E7274B8D-74D6-73D1-49AF-8C1682A9336F}"/>
              </a:ext>
            </a:extLst>
          </p:cNvPr>
          <p:cNvCxnSpPr>
            <a:stCxn id="58" idx="1"/>
            <a:endCxn id="78" idx="1"/>
          </p:cNvCxnSpPr>
          <p:nvPr/>
        </p:nvCxnSpPr>
        <p:spPr>
          <a:xfrm rot="10800000" flipH="1" flipV="1">
            <a:off x="2277833" y="2798410"/>
            <a:ext cx="672977" cy="1768704"/>
          </a:xfrm>
          <a:prstGeom prst="bentConnector3">
            <a:avLst>
              <a:gd name="adj1" fmla="val -13587"/>
            </a:avLst>
          </a:prstGeom>
          <a:ln w="28575">
            <a:solidFill>
              <a:schemeClr val="accent1"/>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364376"/>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양쪽 모서리가 둥근 사각형 52"/>
          <p:cNvSpPr/>
          <p:nvPr/>
        </p:nvSpPr>
        <p:spPr>
          <a:xfrm>
            <a:off x="3649003" y="2352675"/>
            <a:ext cx="1857375" cy="448258"/>
          </a:xfrm>
          <a:prstGeom prst="round2SameRect">
            <a:avLst>
              <a:gd name="adj1" fmla="val 50000"/>
              <a:gd name="adj2" fmla="val 0"/>
            </a:avLst>
          </a:prstGeom>
          <a:pattFill prst="lg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Rectangle 4"/>
          <p:cNvSpPr>
            <a:spLocks noChangeArrowheads="1"/>
          </p:cNvSpPr>
          <p:nvPr/>
        </p:nvSpPr>
        <p:spPr bwMode="auto">
          <a:xfrm>
            <a:off x="335361" y="1849017"/>
            <a:ext cx="11521017" cy="1903833"/>
          </a:xfrm>
          <a:prstGeom prst="rect">
            <a:avLst/>
          </a:prstGeom>
          <a:noFill/>
          <a:ln>
            <a:solidFill>
              <a:schemeClr val="bg1">
                <a:lumMod val="50000"/>
              </a:schemeClr>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marL="742950" indent="-285750">
              <a:lnSpc>
                <a:spcPct val="120000"/>
              </a:lnSpc>
              <a:spcBef>
                <a:spcPct val="20000"/>
              </a:spcBef>
              <a:buClr>
                <a:srgbClr val="003399"/>
              </a:buClr>
              <a:buFont typeface="Wingdings" pitchFamily="2" charset="2"/>
              <a:buChar char="n"/>
              <a:defRPr/>
            </a:pPr>
            <a:endParaRPr lang="ko-KR" altLang="en-US" sz="1200" b="0">
              <a:solidFill>
                <a:schemeClr val="tx1"/>
              </a:solidFill>
              <a:latin typeface="+mn-ea"/>
              <a:sym typeface="Wingdings" pitchFamily="2" charset="2"/>
            </a:endParaRPr>
          </a:p>
        </p:txBody>
      </p:sp>
      <p:sp>
        <p:nvSpPr>
          <p:cNvPr id="11" name="Line 5"/>
          <p:cNvSpPr>
            <a:spLocks noChangeShapeType="1"/>
          </p:cNvSpPr>
          <p:nvPr/>
        </p:nvSpPr>
        <p:spPr bwMode="auto">
          <a:xfrm>
            <a:off x="790576" y="2793578"/>
            <a:ext cx="10620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3" name="Rectangle 19"/>
          <p:cNvSpPr>
            <a:spLocks noChangeArrowheads="1"/>
          </p:cNvSpPr>
          <p:nvPr/>
        </p:nvSpPr>
        <p:spPr bwMode="auto">
          <a:xfrm>
            <a:off x="335360" y="3914923"/>
            <a:ext cx="7161852" cy="2266801"/>
          </a:xfrm>
          <a:prstGeom prst="rect">
            <a:avLst/>
          </a:prstGeom>
          <a:solidFill>
            <a:srgbClr val="FFFFFF"/>
          </a:solidFill>
          <a:ln w="9525">
            <a:noFill/>
            <a:miter lim="800000"/>
            <a:headEnd/>
            <a:tailEnd/>
          </a:ln>
        </p:spPr>
        <p:txBody>
          <a:bodyPr/>
          <a:lstStyle/>
          <a:p>
            <a:pPr marL="285750" indent="-285750">
              <a:lnSpc>
                <a:spcPct val="120000"/>
              </a:lnSpc>
              <a:spcBef>
                <a:spcPct val="20000"/>
              </a:spcBef>
              <a:buClr>
                <a:srgbClr val="003399"/>
              </a:buClr>
              <a:buFontTx/>
              <a:buChar char="-"/>
            </a:pPr>
            <a:r>
              <a:rPr lang="ko-KR" altLang="en-US" b="0" dirty="0">
                <a:latin typeface="+mn-ea"/>
              </a:rPr>
              <a:t>丙의 </a:t>
            </a:r>
            <a:r>
              <a:rPr lang="ko-KR" altLang="en-US" b="0" dirty="0" err="1">
                <a:latin typeface="+mn-ea"/>
              </a:rPr>
              <a:t>라이트</a:t>
            </a:r>
            <a:r>
              <a:rPr lang="ko-KR" altLang="en-US" b="0" dirty="0">
                <a:latin typeface="+mn-ea"/>
              </a:rPr>
              <a:t> 결합한 자전거의 출원은 특허등록을 받을 수 있는가</a:t>
            </a:r>
            <a:r>
              <a:rPr lang="en-US" altLang="ko-KR" b="0" dirty="0">
                <a:latin typeface="+mn-ea"/>
              </a:rPr>
              <a:t>?</a:t>
            </a:r>
          </a:p>
          <a:p>
            <a:pPr marL="285750" indent="-285750">
              <a:lnSpc>
                <a:spcPct val="120000"/>
              </a:lnSpc>
              <a:spcBef>
                <a:spcPct val="20000"/>
              </a:spcBef>
              <a:buClr>
                <a:srgbClr val="003399"/>
              </a:buClr>
              <a:buFontTx/>
              <a:buChar char="-"/>
            </a:pPr>
            <a:r>
              <a:rPr lang="ko-KR" altLang="en-US" b="0" dirty="0">
                <a:latin typeface="+mn-ea"/>
              </a:rPr>
              <a:t>丙이 </a:t>
            </a:r>
            <a:r>
              <a:rPr lang="ko-KR" altLang="en-US" b="0" dirty="0" err="1">
                <a:latin typeface="+mn-ea"/>
              </a:rPr>
              <a:t>라이트</a:t>
            </a:r>
            <a:r>
              <a:rPr lang="ko-KR" altLang="en-US" b="0" dirty="0">
                <a:latin typeface="+mn-ea"/>
              </a:rPr>
              <a:t> 결합한 자전거를 판매하는 것은 甲의 특허권의 침해인가</a:t>
            </a:r>
            <a:r>
              <a:rPr lang="en-US" altLang="ko-KR" b="0" dirty="0">
                <a:latin typeface="+mn-ea"/>
              </a:rPr>
              <a:t>?</a:t>
            </a:r>
          </a:p>
          <a:p>
            <a:pPr marL="285750" indent="-285750">
              <a:lnSpc>
                <a:spcPct val="120000"/>
              </a:lnSpc>
              <a:spcBef>
                <a:spcPct val="20000"/>
              </a:spcBef>
              <a:buClr>
                <a:srgbClr val="003399"/>
              </a:buClr>
              <a:buFontTx/>
              <a:buChar char="-"/>
            </a:pPr>
            <a:r>
              <a:rPr lang="ko-KR" altLang="en-US" dirty="0">
                <a:latin typeface="+mn-ea"/>
              </a:rPr>
              <a:t>丙이 자전거를 판매하는 것은 甲의 특허권의 침해인가</a:t>
            </a:r>
            <a:r>
              <a:rPr lang="en-US" altLang="ko-KR" dirty="0">
                <a:latin typeface="+mn-ea"/>
              </a:rPr>
              <a:t>?</a:t>
            </a:r>
          </a:p>
          <a:p>
            <a:pPr marL="285750" indent="-285750">
              <a:lnSpc>
                <a:spcPct val="120000"/>
              </a:lnSpc>
              <a:spcBef>
                <a:spcPct val="20000"/>
              </a:spcBef>
              <a:buClr>
                <a:srgbClr val="003399"/>
              </a:buClr>
              <a:buFontTx/>
              <a:buChar char="-"/>
            </a:pPr>
            <a:r>
              <a:rPr lang="ko-KR" altLang="en-US" b="0" dirty="0">
                <a:latin typeface="+mn-ea"/>
                <a:sym typeface="Wingdings" pitchFamily="2" charset="2"/>
              </a:rPr>
              <a:t>甲이 </a:t>
            </a:r>
            <a:r>
              <a:rPr lang="ko-KR" altLang="en-US" b="0" dirty="0" err="1">
                <a:latin typeface="+mn-ea"/>
                <a:sym typeface="Wingdings" pitchFamily="2" charset="2"/>
              </a:rPr>
              <a:t>라이트</a:t>
            </a:r>
            <a:r>
              <a:rPr lang="ko-KR" altLang="en-US" b="0" dirty="0">
                <a:latin typeface="+mn-ea"/>
                <a:sym typeface="Wingdings" pitchFamily="2" charset="2"/>
              </a:rPr>
              <a:t> 결합한 자전거를 판매하는 것은 丙의 특허권의 침해인가</a:t>
            </a:r>
            <a:r>
              <a:rPr lang="en-US" altLang="ko-KR" b="0" dirty="0">
                <a:latin typeface="+mn-ea"/>
                <a:sym typeface="Wingdings" pitchFamily="2" charset="2"/>
              </a:rPr>
              <a:t>?</a:t>
            </a:r>
          </a:p>
          <a:p>
            <a:pPr marL="285750" indent="-285750">
              <a:lnSpc>
                <a:spcPct val="120000"/>
              </a:lnSpc>
              <a:spcBef>
                <a:spcPct val="20000"/>
              </a:spcBef>
              <a:buClr>
                <a:srgbClr val="003399"/>
              </a:buClr>
              <a:buFontTx/>
              <a:buChar char="-"/>
            </a:pPr>
            <a:r>
              <a:rPr lang="ko-KR" altLang="en-US" dirty="0">
                <a:latin typeface="+mn-ea"/>
                <a:sym typeface="Wingdings" pitchFamily="2" charset="2"/>
              </a:rPr>
              <a:t>甲이 자전거를 판매하는 것은 丙의 특허권의 침해인가</a:t>
            </a:r>
            <a:r>
              <a:rPr lang="en-US" altLang="ko-KR" dirty="0">
                <a:latin typeface="+mn-ea"/>
                <a:sym typeface="Wingdings" pitchFamily="2" charset="2"/>
              </a:rPr>
              <a:t>?</a:t>
            </a:r>
          </a:p>
        </p:txBody>
      </p:sp>
      <p:sp>
        <p:nvSpPr>
          <p:cNvPr id="28" name="TextBox 27"/>
          <p:cNvSpPr txBox="1"/>
          <p:nvPr/>
        </p:nvSpPr>
        <p:spPr>
          <a:xfrm>
            <a:off x="77875" y="986046"/>
            <a:ext cx="11936323" cy="738664"/>
          </a:xfrm>
          <a:prstGeom prst="rect">
            <a:avLst/>
          </a:prstGeom>
          <a:noFill/>
        </p:spPr>
        <p:txBody>
          <a:bodyPr wrap="square" rtlCol="0">
            <a:spAutoFit/>
          </a:bodyPr>
          <a:lstStyle/>
          <a:p>
            <a:pPr marL="285750" indent="-285750">
              <a:buFont typeface="Arial" pitchFamily="34" charset="0"/>
              <a:buChar char="•"/>
            </a:pPr>
            <a:r>
              <a:rPr lang="ko-KR" altLang="en-US" sz="1400" dirty="0">
                <a:solidFill>
                  <a:schemeClr val="tx2"/>
                </a:solidFill>
                <a:latin typeface="+mn-ea"/>
              </a:rPr>
              <a:t>개량발명은 특허등록은 받을 수 있으나</a:t>
            </a:r>
            <a:r>
              <a:rPr lang="en-US" altLang="ko-KR" sz="1400" dirty="0">
                <a:solidFill>
                  <a:schemeClr val="tx2"/>
                </a:solidFill>
                <a:latin typeface="+mn-ea"/>
              </a:rPr>
              <a:t>, </a:t>
            </a:r>
            <a:r>
              <a:rPr lang="ko-KR" altLang="en-US" sz="1400" dirty="0">
                <a:solidFill>
                  <a:schemeClr val="tx2"/>
                </a:solidFill>
                <a:latin typeface="+mn-ea"/>
              </a:rPr>
              <a:t>실시하면 원천발명에 대한 특허의 침해가 된다</a:t>
            </a:r>
            <a:r>
              <a:rPr lang="en-US" altLang="ko-KR" sz="1400" dirty="0">
                <a:solidFill>
                  <a:schemeClr val="tx2"/>
                </a:solidFill>
                <a:latin typeface="+mn-ea"/>
              </a:rPr>
              <a:t>. </a:t>
            </a:r>
            <a:r>
              <a:rPr lang="ko-KR" altLang="en-US" sz="1400" dirty="0">
                <a:solidFill>
                  <a:schemeClr val="tx2"/>
                </a:solidFill>
                <a:latin typeface="+mn-ea"/>
              </a:rPr>
              <a:t>즉</a:t>
            </a:r>
            <a:r>
              <a:rPr lang="en-US" altLang="ko-KR" sz="1400" dirty="0">
                <a:solidFill>
                  <a:schemeClr val="tx2"/>
                </a:solidFill>
                <a:latin typeface="+mn-ea"/>
              </a:rPr>
              <a:t>, </a:t>
            </a:r>
            <a:r>
              <a:rPr lang="ko-KR" altLang="en-US" sz="1400" dirty="0">
                <a:solidFill>
                  <a:schemeClr val="tx2"/>
                </a:solidFill>
                <a:latin typeface="+mn-ea"/>
              </a:rPr>
              <a:t>나의 특허가 있다고 하더라도 나의 사업이나 제품을 보호할 수 있는 것은 아니다</a:t>
            </a:r>
            <a:r>
              <a:rPr lang="en-US" altLang="ko-KR" sz="1400" dirty="0">
                <a:solidFill>
                  <a:schemeClr val="tx2"/>
                </a:solidFill>
                <a:latin typeface="+mn-ea"/>
              </a:rPr>
              <a:t>. </a:t>
            </a:r>
          </a:p>
          <a:p>
            <a:pPr marL="285750" indent="-285750">
              <a:buFont typeface="Arial" pitchFamily="34" charset="0"/>
              <a:buChar char="•"/>
            </a:pPr>
            <a:r>
              <a:rPr lang="ko-KR" altLang="en-US" sz="1400" dirty="0">
                <a:solidFill>
                  <a:schemeClr val="tx2"/>
                </a:solidFill>
                <a:latin typeface="+mn-ea"/>
              </a:rPr>
              <a:t>과연 丙의 출원은 잘한 것일까</a:t>
            </a:r>
            <a:r>
              <a:rPr lang="en-US" altLang="ko-KR" sz="1400" dirty="0">
                <a:solidFill>
                  <a:schemeClr val="tx2"/>
                </a:solidFill>
                <a:latin typeface="+mn-ea"/>
              </a:rPr>
              <a:t>?</a:t>
            </a:r>
            <a:endParaRPr lang="ko-KR" altLang="en-US" sz="1400" dirty="0">
              <a:solidFill>
                <a:schemeClr val="tx2"/>
              </a:solidFill>
              <a:latin typeface="+mn-ea"/>
            </a:endParaRPr>
          </a:p>
        </p:txBody>
      </p:sp>
      <p:cxnSp>
        <p:nvCxnSpPr>
          <p:cNvPr id="29" name="직선 연결선 28"/>
          <p:cNvCxnSpPr/>
          <p:nvPr/>
        </p:nvCxnSpPr>
        <p:spPr>
          <a:xfrm>
            <a:off x="0" y="172107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슬라이드 번호 개체 틀 3"/>
          <p:cNvSpPr>
            <a:spLocks noGrp="1"/>
          </p:cNvSpPr>
          <p:nvPr>
            <p:ph type="sldNum" sz="quarter" idx="12"/>
          </p:nvPr>
        </p:nvSpPr>
        <p:spPr/>
        <p:txBody>
          <a:bodyPr/>
          <a:lstStyle/>
          <a:p>
            <a:r>
              <a:rPr lang="en-US" altLang="ko-KR"/>
              <a:t>351</a:t>
            </a:r>
            <a:endParaRPr lang="ko-KR" altLang="en-US"/>
          </a:p>
        </p:txBody>
      </p:sp>
      <p:sp>
        <p:nvSpPr>
          <p:cNvPr id="2" name="제목 1"/>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3" name="텍스트 개체 틀 2"/>
          <p:cNvSpPr>
            <a:spLocks noGrp="1"/>
          </p:cNvSpPr>
          <p:nvPr>
            <p:ph type="body" sz="quarter" idx="13"/>
          </p:nvPr>
        </p:nvSpPr>
        <p:spPr/>
        <p:txBody>
          <a:bodyPr/>
          <a:lstStyle/>
          <a:p>
            <a:r>
              <a:rPr lang="ko-KR" altLang="en-US" dirty="0"/>
              <a:t>특허요건 판단과 침해의 성립요건 판단의 </a:t>
            </a:r>
            <a:r>
              <a:rPr lang="en-US" altLang="ko-KR" dirty="0"/>
              <a:t>CASE</a:t>
            </a:r>
            <a:endParaRPr lang="ko-KR" altLang="en-US" dirty="0"/>
          </a:p>
        </p:txBody>
      </p:sp>
      <p:sp>
        <p:nvSpPr>
          <p:cNvPr id="30" name="TextBox 29"/>
          <p:cNvSpPr txBox="1"/>
          <p:nvPr/>
        </p:nvSpPr>
        <p:spPr>
          <a:xfrm>
            <a:off x="3208819" y="3049753"/>
            <a:ext cx="880369" cy="523220"/>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甲 자전거</a:t>
            </a:r>
            <a:endParaRPr lang="en-US" altLang="ko-KR" sz="1400" dirty="0">
              <a:solidFill>
                <a:schemeClr val="tx1"/>
              </a:solidFill>
              <a:latin typeface="+mn-ea"/>
            </a:endParaRPr>
          </a:p>
          <a:p>
            <a:pPr algn="ctr"/>
            <a:r>
              <a:rPr lang="ko-KR" altLang="en-US" sz="1400" dirty="0">
                <a:solidFill>
                  <a:schemeClr val="tx1"/>
                </a:solidFill>
                <a:latin typeface="+mn-ea"/>
              </a:rPr>
              <a:t>출원</a:t>
            </a:r>
            <a:r>
              <a:rPr lang="en-US" altLang="ko-KR" sz="1400" dirty="0">
                <a:solidFill>
                  <a:schemeClr val="tx1"/>
                </a:solidFill>
                <a:latin typeface="+mn-ea"/>
              </a:rPr>
              <a:t>(X)</a:t>
            </a:r>
            <a:endParaRPr lang="ko-KR" altLang="en-US" sz="1400" dirty="0">
              <a:solidFill>
                <a:schemeClr val="tx1"/>
              </a:solidFill>
              <a:latin typeface="+mn-ea"/>
            </a:endParaRPr>
          </a:p>
        </p:txBody>
      </p:sp>
      <p:sp>
        <p:nvSpPr>
          <p:cNvPr id="34" name="타원 33"/>
          <p:cNvSpPr/>
          <p:nvPr/>
        </p:nvSpPr>
        <p:spPr>
          <a:xfrm>
            <a:off x="3571634" y="269964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5" name="직선 연결선 34"/>
          <p:cNvCxnSpPr>
            <a:stCxn id="30" idx="0"/>
            <a:endCxn id="34" idx="4"/>
          </p:cNvCxnSpPr>
          <p:nvPr/>
        </p:nvCxnSpPr>
        <p:spPr>
          <a:xfrm flipH="1" flipV="1">
            <a:off x="3649003" y="286098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5066194" y="3049753"/>
            <a:ext cx="880369" cy="523220"/>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甲 자전거</a:t>
            </a:r>
            <a:endParaRPr lang="en-US" altLang="ko-KR" sz="1400" dirty="0">
              <a:solidFill>
                <a:schemeClr val="tx1"/>
              </a:solidFill>
              <a:latin typeface="+mn-ea"/>
            </a:endParaRPr>
          </a:p>
          <a:p>
            <a:pPr algn="ctr"/>
            <a:r>
              <a:rPr lang="ko-KR" altLang="en-US" sz="1400" dirty="0">
                <a:solidFill>
                  <a:schemeClr val="tx1"/>
                </a:solidFill>
                <a:latin typeface="+mn-ea"/>
              </a:rPr>
              <a:t>공개</a:t>
            </a:r>
            <a:r>
              <a:rPr lang="en-US" altLang="ko-KR" sz="1400" dirty="0">
                <a:solidFill>
                  <a:schemeClr val="tx1"/>
                </a:solidFill>
                <a:latin typeface="+mn-ea"/>
              </a:rPr>
              <a:t>(X)</a:t>
            </a:r>
            <a:endParaRPr lang="ko-KR" altLang="en-US" sz="1400" dirty="0">
              <a:solidFill>
                <a:schemeClr val="tx1"/>
              </a:solidFill>
              <a:latin typeface="+mn-ea"/>
            </a:endParaRPr>
          </a:p>
        </p:txBody>
      </p:sp>
      <p:sp>
        <p:nvSpPr>
          <p:cNvPr id="37" name="타원 36"/>
          <p:cNvSpPr/>
          <p:nvPr/>
        </p:nvSpPr>
        <p:spPr>
          <a:xfrm>
            <a:off x="5429009" y="269964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8" name="직선 연결선 37"/>
          <p:cNvCxnSpPr>
            <a:stCxn id="36" idx="0"/>
            <a:endCxn id="37" idx="4"/>
          </p:cNvCxnSpPr>
          <p:nvPr/>
        </p:nvCxnSpPr>
        <p:spPr>
          <a:xfrm flipH="1" flipV="1">
            <a:off x="5506378" y="286098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6979659" y="3049753"/>
            <a:ext cx="880369" cy="523220"/>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甲 자전거</a:t>
            </a:r>
            <a:endParaRPr lang="en-US" altLang="ko-KR" sz="1400" dirty="0">
              <a:solidFill>
                <a:schemeClr val="tx1"/>
              </a:solidFill>
              <a:latin typeface="+mn-ea"/>
            </a:endParaRPr>
          </a:p>
          <a:p>
            <a:pPr algn="ctr"/>
            <a:r>
              <a:rPr lang="ko-KR" altLang="en-US" sz="1400" dirty="0">
                <a:solidFill>
                  <a:schemeClr val="tx1"/>
                </a:solidFill>
                <a:latin typeface="+mn-ea"/>
              </a:rPr>
              <a:t>등록</a:t>
            </a:r>
            <a:r>
              <a:rPr lang="en-US" altLang="ko-KR" sz="1400" dirty="0">
                <a:solidFill>
                  <a:schemeClr val="tx1"/>
                </a:solidFill>
                <a:latin typeface="+mn-ea"/>
              </a:rPr>
              <a:t>(X)</a:t>
            </a:r>
            <a:endParaRPr lang="ko-KR" altLang="en-US" sz="1400" dirty="0">
              <a:solidFill>
                <a:schemeClr val="tx1"/>
              </a:solidFill>
              <a:latin typeface="+mn-ea"/>
            </a:endParaRPr>
          </a:p>
        </p:txBody>
      </p:sp>
      <p:sp>
        <p:nvSpPr>
          <p:cNvPr id="40" name="타원 39"/>
          <p:cNvSpPr/>
          <p:nvPr/>
        </p:nvSpPr>
        <p:spPr>
          <a:xfrm>
            <a:off x="7342474" y="269964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1" name="직선 연결선 40"/>
          <p:cNvCxnSpPr>
            <a:stCxn id="39" idx="0"/>
            <a:endCxn id="40" idx="4"/>
          </p:cNvCxnSpPr>
          <p:nvPr/>
        </p:nvCxnSpPr>
        <p:spPr>
          <a:xfrm flipH="1" flipV="1">
            <a:off x="7419843" y="286098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타원 43"/>
          <p:cNvSpPr/>
          <p:nvPr/>
        </p:nvSpPr>
        <p:spPr>
          <a:xfrm>
            <a:off x="1695209" y="2699644"/>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45" name="TextBox 44"/>
          <p:cNvSpPr txBox="1"/>
          <p:nvPr/>
        </p:nvSpPr>
        <p:spPr>
          <a:xfrm>
            <a:off x="1332394" y="1969667"/>
            <a:ext cx="880369" cy="523220"/>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乙 </a:t>
            </a:r>
            <a:r>
              <a:rPr lang="ko-KR" altLang="en-US" sz="1400" dirty="0" err="1">
                <a:solidFill>
                  <a:schemeClr val="tx1"/>
                </a:solidFill>
                <a:latin typeface="+mn-ea"/>
              </a:rPr>
              <a:t>라이트</a:t>
            </a:r>
            <a:endParaRPr lang="en-US" altLang="ko-KR" sz="1400" dirty="0">
              <a:solidFill>
                <a:schemeClr val="tx1"/>
              </a:solidFill>
              <a:latin typeface="+mn-ea"/>
            </a:endParaRPr>
          </a:p>
          <a:p>
            <a:pPr algn="ctr"/>
            <a:r>
              <a:rPr lang="ko-KR" altLang="en-US" sz="1400" dirty="0">
                <a:solidFill>
                  <a:schemeClr val="tx1"/>
                </a:solidFill>
                <a:latin typeface="+mn-ea"/>
              </a:rPr>
              <a:t>공지</a:t>
            </a:r>
          </a:p>
        </p:txBody>
      </p:sp>
      <p:cxnSp>
        <p:nvCxnSpPr>
          <p:cNvPr id="47" name="직선 연결선 46"/>
          <p:cNvCxnSpPr>
            <a:stCxn id="45" idx="2"/>
            <a:endCxn id="44" idx="0"/>
          </p:cNvCxnSpPr>
          <p:nvPr/>
        </p:nvCxnSpPr>
        <p:spPr>
          <a:xfrm flipH="1">
            <a:off x="1772578" y="2492887"/>
            <a:ext cx="1" cy="20675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타원 49"/>
          <p:cNvSpPr/>
          <p:nvPr/>
        </p:nvSpPr>
        <p:spPr>
          <a:xfrm>
            <a:off x="9258059" y="2699644"/>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51" name="TextBox 50"/>
          <p:cNvSpPr txBox="1"/>
          <p:nvPr/>
        </p:nvSpPr>
        <p:spPr>
          <a:xfrm>
            <a:off x="8442397" y="1969667"/>
            <a:ext cx="1786066" cy="52322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丙 </a:t>
            </a:r>
            <a:r>
              <a:rPr lang="ko-KR" altLang="en-US" sz="1400" dirty="0" err="1">
                <a:solidFill>
                  <a:schemeClr val="tx1"/>
                </a:solidFill>
                <a:latin typeface="+mn-ea"/>
              </a:rPr>
              <a:t>라이트</a:t>
            </a:r>
            <a:r>
              <a:rPr lang="ko-KR" altLang="en-US" sz="1400" dirty="0">
                <a:solidFill>
                  <a:schemeClr val="tx1"/>
                </a:solidFill>
                <a:latin typeface="+mn-ea"/>
              </a:rPr>
              <a:t> 결합 자전거</a:t>
            </a:r>
            <a:endParaRPr lang="en-US" altLang="ko-KR" sz="1400" dirty="0">
              <a:solidFill>
                <a:schemeClr val="tx1"/>
              </a:solidFill>
              <a:latin typeface="+mn-ea"/>
            </a:endParaRPr>
          </a:p>
          <a:p>
            <a:pPr algn="ctr"/>
            <a:r>
              <a:rPr lang="ko-KR" altLang="en-US" sz="1400" dirty="0">
                <a:solidFill>
                  <a:schemeClr val="tx1"/>
                </a:solidFill>
                <a:latin typeface="+mn-ea"/>
              </a:rPr>
              <a:t>발명</a:t>
            </a:r>
          </a:p>
        </p:txBody>
      </p:sp>
      <p:cxnSp>
        <p:nvCxnSpPr>
          <p:cNvPr id="52" name="직선 연결선 51"/>
          <p:cNvCxnSpPr>
            <a:stCxn id="51" idx="2"/>
            <a:endCxn id="50" idx="0"/>
          </p:cNvCxnSpPr>
          <p:nvPr/>
        </p:nvCxnSpPr>
        <p:spPr>
          <a:xfrm flipH="1">
            <a:off x="9335428" y="2492887"/>
            <a:ext cx="2" cy="20675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4166279" y="2075676"/>
            <a:ext cx="811441" cy="276999"/>
          </a:xfrm>
          <a:prstGeom prst="rect">
            <a:avLst/>
          </a:prstGeom>
          <a:noFill/>
        </p:spPr>
        <p:txBody>
          <a:bodyPr wrap="none" rtlCol="0">
            <a:spAutoFit/>
          </a:bodyPr>
          <a:lstStyle/>
          <a:p>
            <a:r>
              <a:rPr lang="en-US" altLang="ko-KR" sz="1200" dirty="0"/>
              <a:t>1</a:t>
            </a:r>
            <a:r>
              <a:rPr lang="ko-KR" altLang="en-US" sz="1200" dirty="0"/>
              <a:t>년 </a:t>
            </a:r>
            <a:r>
              <a:rPr lang="en-US" altLang="ko-KR" sz="1200" dirty="0"/>
              <a:t>6</a:t>
            </a:r>
            <a:r>
              <a:rPr lang="ko-KR" altLang="en-US" sz="1200" dirty="0"/>
              <a:t>개월</a:t>
            </a:r>
          </a:p>
        </p:txBody>
      </p:sp>
      <p:graphicFrame>
        <p:nvGraphicFramePr>
          <p:cNvPr id="55" name="Group 137"/>
          <p:cNvGraphicFramePr>
            <a:graphicFrameLocks/>
          </p:cNvGraphicFramePr>
          <p:nvPr/>
        </p:nvGraphicFramePr>
        <p:xfrm>
          <a:off x="8117160" y="4310420"/>
          <a:ext cx="2409825" cy="1371600"/>
        </p:xfrm>
        <a:graphic>
          <a:graphicData uri="http://schemas.openxmlformats.org/drawingml/2006/table">
            <a:tbl>
              <a:tblPr>
                <a:tableStyleId>{8799B23B-EC83-4686-B30A-512413B5E67A}</a:tableStyleId>
              </a:tblPr>
              <a:tblGrid>
                <a:gridCol w="742949">
                  <a:extLst>
                    <a:ext uri="{9D8B030D-6E8A-4147-A177-3AD203B41FA5}">
                      <a16:colId xmlns:a16="http://schemas.microsoft.com/office/drawing/2014/main" val="20000"/>
                    </a:ext>
                  </a:extLst>
                </a:gridCol>
                <a:gridCol w="552450">
                  <a:extLst>
                    <a:ext uri="{9D8B030D-6E8A-4147-A177-3AD203B41FA5}">
                      <a16:colId xmlns:a16="http://schemas.microsoft.com/office/drawing/2014/main" val="20001"/>
                    </a:ext>
                  </a:extLst>
                </a:gridCol>
                <a:gridCol w="571500">
                  <a:extLst>
                    <a:ext uri="{9D8B030D-6E8A-4147-A177-3AD203B41FA5}">
                      <a16:colId xmlns:a16="http://schemas.microsoft.com/office/drawing/2014/main" val="20002"/>
                    </a:ext>
                  </a:extLst>
                </a:gridCol>
                <a:gridCol w="542926">
                  <a:extLst>
                    <a:ext uri="{9D8B030D-6E8A-4147-A177-3AD203B41FA5}">
                      <a16:colId xmlns:a16="http://schemas.microsoft.com/office/drawing/2014/main" val="20004"/>
                    </a:ext>
                  </a:extLst>
                </a:gridCol>
              </a:tblGrid>
              <a:tr h="135679">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u="none" strike="noStrike" cap="none" normalizeH="0" baseline="0" dirty="0">
                          <a:ln>
                            <a:noFill/>
                          </a:ln>
                          <a:effectLst/>
                        </a:rPr>
                        <a:t>구성요소</a:t>
                      </a:r>
                      <a:endParaRPr kumimoji="1" lang="ko-KR" altLang="en-US"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u="none" strike="noStrike" cap="none" normalizeH="0" baseline="0" dirty="0">
                          <a:ln>
                            <a:noFill/>
                          </a:ln>
                          <a:effectLst/>
                        </a:rPr>
                        <a:t>선행기술</a:t>
                      </a:r>
                      <a:r>
                        <a:rPr kumimoji="1" lang="en-US" altLang="ko-KR" sz="1000" u="none" strike="noStrike" cap="none" normalizeH="0" baseline="0" dirty="0">
                          <a:ln>
                            <a:noFill/>
                          </a:ln>
                          <a:effectLst/>
                        </a:rPr>
                        <a:t>1</a:t>
                      </a: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u="none" strike="noStrike" cap="none" normalizeH="0" baseline="0" dirty="0">
                          <a:ln>
                            <a:noFill/>
                          </a:ln>
                          <a:effectLst/>
                        </a:rPr>
                        <a:t>선행기술</a:t>
                      </a:r>
                      <a:r>
                        <a:rPr kumimoji="1" lang="en-US" altLang="ko-KR" sz="1000" u="none" strike="noStrike" cap="none" normalizeH="0" baseline="0" dirty="0">
                          <a:ln>
                            <a:noFill/>
                          </a:ln>
                          <a:effectLst/>
                        </a:rPr>
                        <a:t>2</a:t>
                      </a: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u="none" strike="noStrike" cap="none" normalizeH="0" baseline="0" dirty="0">
                          <a:ln>
                            <a:noFill/>
                          </a:ln>
                          <a:effectLst/>
                        </a:rPr>
                        <a:t>분석</a:t>
                      </a:r>
                      <a:endParaRPr kumimoji="1" lang="ko-KR" altLang="en-US"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solidFill>
                      <a:schemeClr val="accent1">
                        <a:lumMod val="20000"/>
                        <a:lumOff val="80000"/>
                      </a:schemeClr>
                    </a:solidFill>
                  </a:tcPr>
                </a:tc>
                <a:extLst>
                  <a:ext uri="{0D108BD9-81ED-4DB2-BD59-A6C34878D82A}">
                    <a16:rowId xmlns:a16="http://schemas.microsoft.com/office/drawing/2014/main" val="10000"/>
                  </a:ext>
                </a:extLst>
              </a:tr>
              <a:tr h="143516">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u="none" strike="noStrike" cap="none" normalizeH="0" baseline="0" dirty="0" err="1">
                          <a:ln>
                            <a:noFill/>
                          </a:ln>
                          <a:effectLst/>
                        </a:rPr>
                        <a:t>라이트</a:t>
                      </a: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u="none" strike="noStrike" cap="none" normalizeH="0" baseline="0" dirty="0">
                          <a:ln>
                            <a:noFill/>
                          </a:ln>
                          <a:effectLst/>
                        </a:rPr>
                        <a:t>O</a:t>
                      </a: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defRPr/>
                      </a:pPr>
                      <a:r>
                        <a:rPr kumimoji="1" lang="en-US" altLang="ko-KR" sz="1000" u="none" strike="noStrike" cap="none" normalizeH="0" baseline="0" dirty="0">
                          <a:ln>
                            <a:noFill/>
                          </a:ln>
                          <a:effectLst/>
                        </a:rPr>
                        <a:t>X</a:t>
                      </a: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u="none" strike="noStrike" cap="none" normalizeH="0" baseline="0" dirty="0">
                          <a:ln>
                            <a:noFill/>
                          </a:ln>
                          <a:effectLst/>
                        </a:rPr>
                        <a:t>O</a:t>
                      </a: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tc>
                <a:extLst>
                  <a:ext uri="{0D108BD9-81ED-4DB2-BD59-A6C34878D82A}">
                    <a16:rowId xmlns:a16="http://schemas.microsoft.com/office/drawing/2014/main" val="10001"/>
                  </a:ext>
                </a:extLst>
              </a:tr>
              <a:tr h="143516">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0" i="0" u="none" strike="noStrike" cap="none" normalizeH="0" baseline="0" dirty="0">
                          <a:ln>
                            <a:noFill/>
                          </a:ln>
                          <a:solidFill>
                            <a:schemeClr val="tx1"/>
                          </a:solidFill>
                          <a:effectLst/>
                          <a:latin typeface="+mn-lt"/>
                          <a:ea typeface="+mn-ea"/>
                        </a:rPr>
                        <a:t>결합</a:t>
                      </a: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defRPr/>
                      </a:pPr>
                      <a:r>
                        <a:rPr kumimoji="1" lang="en-US" altLang="ko-KR" sz="1000" u="none" strike="noStrike" cap="none" normalizeH="0" baseline="0" dirty="0">
                          <a:ln>
                            <a:noFill/>
                          </a:ln>
                          <a:effectLst/>
                        </a:rPr>
                        <a:t>O</a:t>
                      </a:r>
                      <a:r>
                        <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rPr>
                        <a:t>/</a:t>
                      </a:r>
                      <a:r>
                        <a:rPr kumimoji="1" lang="en-US" altLang="ko-KR" sz="1000" u="none" strike="noStrike" cap="none" normalizeH="0" baseline="0" dirty="0">
                          <a:ln>
                            <a:noFill/>
                          </a:ln>
                          <a:effectLst/>
                        </a:rPr>
                        <a:t>X</a:t>
                      </a: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defRPr/>
                      </a:pP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tc>
                <a:extLst>
                  <a:ext uri="{0D108BD9-81ED-4DB2-BD59-A6C34878D82A}">
                    <a16:rowId xmlns:a16="http://schemas.microsoft.com/office/drawing/2014/main" val="10002"/>
                  </a:ext>
                </a:extLst>
              </a:tr>
              <a:tr h="143026">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b="0" i="0" u="none" strike="noStrike" cap="none" normalizeH="0" baseline="0" dirty="0">
                          <a:ln>
                            <a:noFill/>
                          </a:ln>
                          <a:solidFill>
                            <a:schemeClr val="tx1"/>
                          </a:solidFill>
                          <a:effectLst/>
                          <a:latin typeface="+mn-lt"/>
                          <a:ea typeface="+mn-ea"/>
                        </a:rPr>
                        <a:t>자전거</a:t>
                      </a: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u="none" strike="noStrike" cap="none" normalizeH="0" baseline="0" dirty="0">
                          <a:ln>
                            <a:noFill/>
                          </a:ln>
                          <a:effectLst/>
                        </a:rPr>
                        <a:t>X</a:t>
                      </a: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u="none" strike="noStrike" cap="none" normalizeH="0" baseline="0" dirty="0">
                          <a:ln>
                            <a:noFill/>
                          </a:ln>
                          <a:effectLst/>
                        </a:rPr>
                        <a:t>O</a:t>
                      </a: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en-US" altLang="ko-KR" sz="1000" u="none" strike="noStrike" cap="none" normalizeH="0" baseline="0" dirty="0">
                          <a:ln>
                            <a:noFill/>
                          </a:ln>
                          <a:effectLst/>
                        </a:rPr>
                        <a:t>O</a:t>
                      </a:r>
                      <a:endParaRPr kumimoji="1" lang="en-US" altLang="ko-KR" sz="1000" b="0" i="0" u="none" strike="noStrike" cap="none" normalizeH="0" baseline="0" dirty="0">
                        <a:ln>
                          <a:noFill/>
                        </a:ln>
                        <a:solidFill>
                          <a:schemeClr val="tx1"/>
                        </a:solidFill>
                        <a:effectLst/>
                        <a:latin typeface="Rix모던고딕 L" panose="02020603020101020101" pitchFamily="18" charset="-127"/>
                        <a:ea typeface="Rix모던고딕 L" panose="02020603020101020101" pitchFamily="18" charset="-127"/>
                      </a:endParaRPr>
                    </a:p>
                  </a:txBody>
                  <a:tcPr marL="126089" marR="126089" anchor="ctr" horzOverflow="overflow"/>
                </a:tc>
                <a:extLst>
                  <a:ext uri="{0D108BD9-81ED-4DB2-BD59-A6C34878D82A}">
                    <a16:rowId xmlns:a16="http://schemas.microsoft.com/office/drawing/2014/main" val="10003"/>
                  </a:ext>
                </a:extLst>
              </a:tr>
              <a:tr h="143516">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u="none" strike="noStrike" cap="none" normalizeH="0" baseline="0" dirty="0" err="1">
                          <a:ln>
                            <a:noFill/>
                          </a:ln>
                          <a:effectLst/>
                        </a:rPr>
                        <a:t>소결</a:t>
                      </a:r>
                      <a:endParaRPr kumimoji="1" lang="ko-KR" altLang="en-US" sz="1000" b="0"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126089" marR="126089" anchor="ctr" horzOverflow="overflow">
                    <a:solidFill>
                      <a:schemeClr val="accent1">
                        <a:lumMod val="20000"/>
                        <a:lumOff val="80000"/>
                      </a:schemeClr>
                    </a:solidFill>
                  </a:tcPr>
                </a:tc>
                <a:tc gridSpan="3">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000" u="none" strike="noStrike" cap="none" normalizeH="0" baseline="0" dirty="0" err="1">
                          <a:ln>
                            <a:noFill/>
                          </a:ln>
                          <a:effectLst/>
                        </a:rPr>
                        <a:t>신규성</a:t>
                      </a:r>
                      <a:r>
                        <a:rPr kumimoji="1" lang="ko-KR" altLang="en-US" sz="1000" u="none" strike="noStrike" cap="none" normalizeH="0" baseline="0" dirty="0">
                          <a:ln>
                            <a:noFill/>
                          </a:ln>
                          <a:effectLst/>
                        </a:rPr>
                        <a:t> 있음</a:t>
                      </a:r>
                      <a:r>
                        <a:rPr kumimoji="1" lang="en-US" altLang="ko-KR" sz="1000" u="none" strike="noStrike" cap="none" normalizeH="0" baseline="0" dirty="0">
                          <a:ln>
                            <a:noFill/>
                          </a:ln>
                          <a:effectLst/>
                        </a:rPr>
                        <a:t>, </a:t>
                      </a:r>
                      <a:r>
                        <a:rPr kumimoji="1" lang="ko-KR" altLang="en-US" sz="1000" u="none" strike="noStrike" cap="none" normalizeH="0" baseline="0" dirty="0">
                          <a:ln>
                            <a:noFill/>
                          </a:ln>
                          <a:effectLst/>
                        </a:rPr>
                        <a:t>진보성 논란</a:t>
                      </a:r>
                      <a:r>
                        <a:rPr kumimoji="1" lang="en-US" altLang="ko-KR" sz="1000" u="none" strike="noStrike" cap="none" normalizeH="0" baseline="0" dirty="0">
                          <a:ln>
                            <a:noFill/>
                          </a:ln>
                          <a:effectLst/>
                        </a:rPr>
                        <a:t>*</a:t>
                      </a:r>
                      <a:endParaRPr kumimoji="1" lang="ko-KR" altLang="en-US" sz="1000" b="0" i="0" u="none" strike="noStrike" cap="none" normalizeH="0" baseline="0" dirty="0">
                        <a:ln>
                          <a:noFill/>
                        </a:ln>
                        <a:solidFill>
                          <a:schemeClr val="bg1"/>
                        </a:solidFill>
                        <a:effectLst/>
                        <a:latin typeface="Rix모던고딕 L" panose="02020603020101020101" pitchFamily="18" charset="-127"/>
                        <a:ea typeface="Rix모던고딕 L" panose="02020603020101020101" pitchFamily="18" charset="-127"/>
                      </a:endParaRPr>
                    </a:p>
                  </a:txBody>
                  <a:tcPr marL="126089" marR="126089" anchor="ctr" horzOverflow="overflow"/>
                </a:tc>
                <a:tc hMerge="1">
                  <a:txBody>
                    <a:bodyPr/>
                    <a:lstStyle/>
                    <a:p>
                      <a:pPr latinLnBrk="1"/>
                      <a:endParaRPr lang="ko-KR" altLang="en-US"/>
                    </a:p>
                  </a:txBody>
                  <a:tcPr/>
                </a:tc>
                <a:tc hMerge="1">
                  <a:txBody>
                    <a:bodyPr/>
                    <a:lstStyle/>
                    <a:p>
                      <a:pPr latinLnBrk="1"/>
                      <a:endParaRPr lang="ko-KR" altLang="en-US" dirty="0"/>
                    </a:p>
                  </a:txBody>
                  <a:tcPr marL="94567" marR="94567" anchor="ctr" horzOverflow="overflow"/>
                </a:tc>
                <a:extLst>
                  <a:ext uri="{0D108BD9-81ED-4DB2-BD59-A6C34878D82A}">
                    <a16:rowId xmlns:a16="http://schemas.microsoft.com/office/drawing/2014/main" val="10004"/>
                  </a:ext>
                </a:extLst>
              </a:tr>
            </a:tbl>
          </a:graphicData>
        </a:graphic>
      </p:graphicFrame>
      <p:sp>
        <p:nvSpPr>
          <p:cNvPr id="56" name="모서리가 둥근 사각형 설명선 55"/>
          <p:cNvSpPr/>
          <p:nvPr/>
        </p:nvSpPr>
        <p:spPr>
          <a:xfrm>
            <a:off x="7687712" y="3943350"/>
            <a:ext cx="3304138" cy="2133600"/>
          </a:xfrm>
          <a:prstGeom prst="wedgeRoundRectCallout">
            <a:avLst>
              <a:gd name="adj1" fmla="val -75605"/>
              <a:gd name="adj2" fmla="val -41964"/>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1065563176"/>
      </p:ext>
    </p:extLst>
  </p:cSld>
  <p:clrMapOvr>
    <a:masterClrMapping/>
  </p:clrMapOvr>
  <p:transition/>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5" name="텍스트 개체 틀 4"/>
          <p:cNvSpPr>
            <a:spLocks noGrp="1"/>
          </p:cNvSpPr>
          <p:nvPr>
            <p:ph type="body" sz="quarter" idx="13"/>
          </p:nvPr>
        </p:nvSpPr>
        <p:spPr/>
        <p:txBody>
          <a:bodyPr/>
          <a:lstStyle/>
          <a:p>
            <a:r>
              <a:rPr lang="ko-KR" altLang="en-US" dirty="0"/>
              <a:t>이용관계의 유형</a:t>
            </a:r>
          </a:p>
        </p:txBody>
      </p:sp>
      <p:graphicFrame>
        <p:nvGraphicFramePr>
          <p:cNvPr id="6" name="표 5"/>
          <p:cNvGraphicFramePr>
            <a:graphicFrameLocks noGrp="1"/>
          </p:cNvGraphicFramePr>
          <p:nvPr/>
        </p:nvGraphicFramePr>
        <p:xfrm>
          <a:off x="344804" y="1631473"/>
          <a:ext cx="11466196" cy="3826351"/>
        </p:xfrm>
        <a:graphic>
          <a:graphicData uri="http://schemas.openxmlformats.org/drawingml/2006/table">
            <a:tbl>
              <a:tblPr>
                <a:tableStyleId>{8799B23B-EC83-4686-B30A-512413B5E67A}</a:tableStyleId>
              </a:tblPr>
              <a:tblGrid>
                <a:gridCol w="2017396">
                  <a:extLst>
                    <a:ext uri="{9D8B030D-6E8A-4147-A177-3AD203B41FA5}">
                      <a16:colId xmlns:a16="http://schemas.microsoft.com/office/drawing/2014/main" val="20000"/>
                    </a:ext>
                  </a:extLst>
                </a:gridCol>
                <a:gridCol w="3427530">
                  <a:extLst>
                    <a:ext uri="{9D8B030D-6E8A-4147-A177-3AD203B41FA5}">
                      <a16:colId xmlns:a16="http://schemas.microsoft.com/office/drawing/2014/main" val="20001"/>
                    </a:ext>
                  </a:extLst>
                </a:gridCol>
                <a:gridCol w="1385077">
                  <a:extLst>
                    <a:ext uri="{9D8B030D-6E8A-4147-A177-3AD203B41FA5}">
                      <a16:colId xmlns:a16="http://schemas.microsoft.com/office/drawing/2014/main" val="20003"/>
                    </a:ext>
                  </a:extLst>
                </a:gridCol>
                <a:gridCol w="1385077">
                  <a:extLst>
                    <a:ext uri="{9D8B030D-6E8A-4147-A177-3AD203B41FA5}">
                      <a16:colId xmlns:a16="http://schemas.microsoft.com/office/drawing/2014/main" val="997511294"/>
                    </a:ext>
                  </a:extLst>
                </a:gridCol>
                <a:gridCol w="1625558">
                  <a:extLst>
                    <a:ext uri="{9D8B030D-6E8A-4147-A177-3AD203B41FA5}">
                      <a16:colId xmlns:a16="http://schemas.microsoft.com/office/drawing/2014/main" val="20004"/>
                    </a:ext>
                  </a:extLst>
                </a:gridCol>
                <a:gridCol w="1625558">
                  <a:extLst>
                    <a:ext uri="{9D8B030D-6E8A-4147-A177-3AD203B41FA5}">
                      <a16:colId xmlns:a16="http://schemas.microsoft.com/office/drawing/2014/main" val="20005"/>
                    </a:ext>
                  </a:extLst>
                </a:gridCol>
              </a:tblGrid>
              <a:tr h="573453">
                <a:tc rowSpan="2">
                  <a:txBody>
                    <a:bodyPr/>
                    <a:lstStyle/>
                    <a:p>
                      <a:pPr marL="0" marR="0" indent="0" algn="ctr" fontAlgn="base" latinLnBrk="0">
                        <a:lnSpc>
                          <a:spcPct val="100000"/>
                        </a:lnSpc>
                        <a:spcBef>
                          <a:spcPts val="0"/>
                        </a:spcBef>
                        <a:spcAft>
                          <a:spcPts val="0"/>
                        </a:spcAft>
                      </a:pPr>
                      <a:r>
                        <a:rPr lang="ko-KR" altLang="en-US" sz="1600" kern="1200" dirty="0"/>
                        <a:t>카테고리</a:t>
                      </a:r>
                      <a:endParaRPr lang="ko-KR" altLang="en-US" sz="1600" kern="1200" dirty="0">
                        <a:solidFill>
                          <a:schemeClr val="tx2"/>
                        </a:solidFill>
                        <a:latin typeface="+mn-ea"/>
                        <a:ea typeface="+mn-ea"/>
                        <a:cs typeface="+mn-cs"/>
                      </a:endParaRPr>
                    </a:p>
                  </a:txBody>
                  <a:tcPr marL="64770" marR="64770" marT="17907" marB="17907" anchor="ctr">
                    <a:solidFill>
                      <a:schemeClr val="accent1">
                        <a:lumMod val="20000"/>
                        <a:lumOff val="80000"/>
                      </a:schemeClr>
                    </a:solidFill>
                  </a:tcPr>
                </a:tc>
                <a:tc rowSpan="2">
                  <a:txBody>
                    <a:bodyPr/>
                    <a:lstStyle/>
                    <a:p>
                      <a:pPr marL="0" marR="0" indent="0" algn="ctr" fontAlgn="base" latinLnBrk="0">
                        <a:lnSpc>
                          <a:spcPct val="100000"/>
                        </a:lnSpc>
                        <a:spcBef>
                          <a:spcPts val="0"/>
                        </a:spcBef>
                        <a:spcAft>
                          <a:spcPts val="0"/>
                        </a:spcAft>
                      </a:pPr>
                      <a:r>
                        <a:rPr lang="ko-KR" altLang="en-US" sz="1600" kern="1200" dirty="0"/>
                        <a:t>학 설</a:t>
                      </a:r>
                      <a:endParaRPr lang="ko-KR" altLang="en-US" sz="1600" kern="1200" dirty="0">
                        <a:solidFill>
                          <a:schemeClr val="tx2"/>
                        </a:solidFill>
                        <a:latin typeface="+mn-ea"/>
                        <a:ea typeface="+mn-ea"/>
                        <a:cs typeface="+mn-cs"/>
                      </a:endParaRPr>
                    </a:p>
                  </a:txBody>
                  <a:tcPr marL="64770" marR="64770" marT="17907" marB="17907" anchor="ctr">
                    <a:solidFill>
                      <a:schemeClr val="accent1">
                        <a:lumMod val="20000"/>
                        <a:lumOff val="80000"/>
                      </a:schemeClr>
                    </a:solidFill>
                  </a:tcPr>
                </a:tc>
                <a:tc rowSpan="2" gridSpan="2">
                  <a:txBody>
                    <a:bodyPr/>
                    <a:lstStyle/>
                    <a:p>
                      <a:pPr marL="0" marR="0" indent="0" algn="ctr" fontAlgn="base" latinLnBrk="0">
                        <a:lnSpc>
                          <a:spcPct val="100000"/>
                        </a:lnSpc>
                        <a:spcBef>
                          <a:spcPts val="0"/>
                        </a:spcBef>
                        <a:spcAft>
                          <a:spcPts val="0"/>
                        </a:spcAft>
                      </a:pPr>
                      <a:r>
                        <a:rPr lang="ko-KR" altLang="en-US" sz="1600" kern="1200" dirty="0"/>
                        <a:t>유</a:t>
                      </a:r>
                      <a:r>
                        <a:rPr lang="ko-KR" altLang="en-US" sz="1600" kern="1200" baseline="0" dirty="0"/>
                        <a:t> 형</a:t>
                      </a:r>
                      <a:endParaRPr lang="ko-KR" altLang="en-US" sz="1600" kern="1200" dirty="0">
                        <a:solidFill>
                          <a:schemeClr val="tx2"/>
                        </a:solidFill>
                        <a:latin typeface="+mn-ea"/>
                        <a:ea typeface="+mn-ea"/>
                        <a:cs typeface="+mn-cs"/>
                      </a:endParaRPr>
                    </a:p>
                  </a:txBody>
                  <a:tcPr marL="64770" marR="64770" marT="17907" marB="17907" anchor="ctr">
                    <a:solidFill>
                      <a:schemeClr val="accent1">
                        <a:lumMod val="20000"/>
                        <a:lumOff val="80000"/>
                      </a:schemeClr>
                    </a:solidFill>
                  </a:tcPr>
                </a:tc>
                <a:tc rowSpan="2"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1600" kern="1200"/>
                        <a:t>인정여부</a:t>
                      </a:r>
                      <a:endParaRPr lang="ko-KR" altLang="en-US" sz="1600" kern="1200">
                        <a:solidFill>
                          <a:schemeClr val="tx2"/>
                        </a:solidFill>
                        <a:latin typeface="+mn-ea"/>
                        <a:ea typeface="+mn-ea"/>
                        <a:cs typeface="+mn-cs"/>
                      </a:endParaRPr>
                    </a:p>
                  </a:txBody>
                  <a:tcPr marL="64770" marR="64770" marT="17907" marB="17907" anchor="c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val="10000"/>
                  </a:ext>
                </a:extLst>
              </a:tr>
              <a:tr h="573453">
                <a:tc vMerge="1">
                  <a:txBody>
                    <a:bodyPr/>
                    <a:lstStyle/>
                    <a:p>
                      <a:pPr latinLnBrk="1"/>
                      <a:endParaRPr lang="ko-KR" altLang="en-US"/>
                    </a:p>
                  </a:txBody>
                  <a:tcPr/>
                </a:tc>
                <a:tc vMerge="1">
                  <a:txBody>
                    <a:bodyPr/>
                    <a:lstStyle/>
                    <a:p>
                      <a:pPr latinLnBrk="1"/>
                      <a:endParaRPr lang="ko-KR" altLang="en-US"/>
                    </a:p>
                  </a:txBody>
                  <a:tcPr/>
                </a:tc>
                <a:tc gridSpan="2" vMerge="1">
                  <a:txBody>
                    <a:bodyPr/>
                    <a:lstStyle/>
                    <a:p>
                      <a:pPr latinLnBrk="1"/>
                      <a:endParaRPr lang="ko-KR" altLang="en-US"/>
                    </a:p>
                  </a:txBody>
                  <a:tcPr/>
                </a:tc>
                <a:tc hMerge="1"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600" kern="1200"/>
                        <a:t>통설</a:t>
                      </a:r>
                      <a:endParaRPr lang="ko-KR" altLang="en-US" sz="1600" kern="1200">
                        <a:solidFill>
                          <a:schemeClr val="tx2"/>
                        </a:solidFill>
                        <a:latin typeface="+mn-ea"/>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600" kern="1200" dirty="0"/>
                        <a:t>판례</a:t>
                      </a:r>
                      <a:endParaRPr lang="ko-KR" altLang="en-US" sz="1600" kern="1200" dirty="0">
                        <a:solidFill>
                          <a:schemeClr val="tx2"/>
                        </a:solidFill>
                        <a:latin typeface="+mn-ea"/>
                        <a:ea typeface="+mn-ea"/>
                        <a:cs typeface="+mn-cs"/>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10001"/>
                  </a:ext>
                </a:extLst>
              </a:tr>
              <a:tr h="1052996">
                <a:tc rowSpan="2">
                  <a:txBody>
                    <a:bodyPr/>
                    <a:lstStyle/>
                    <a:p>
                      <a:pPr marL="17780" marR="17780" indent="0" algn="ctr" fontAlgn="base" latinLnBrk="0">
                        <a:lnSpc>
                          <a:spcPct val="100000"/>
                        </a:lnSpc>
                        <a:spcBef>
                          <a:spcPts val="0"/>
                        </a:spcBef>
                        <a:spcAft>
                          <a:spcPts val="0"/>
                        </a:spcAft>
                      </a:pPr>
                      <a:r>
                        <a:rPr lang="ko-KR" altLang="en-US" sz="1600" kern="1200" dirty="0">
                          <a:solidFill>
                            <a:schemeClr val="tx1"/>
                          </a:solidFill>
                        </a:rPr>
                        <a:t>동일 카테고리</a:t>
                      </a:r>
                      <a:endParaRPr lang="ko-KR" altLang="en-US" sz="1600" kern="1200" dirty="0">
                        <a:solidFill>
                          <a:schemeClr val="tx1"/>
                        </a:solidFill>
                        <a:latin typeface="+mn-ea"/>
                        <a:ea typeface="+mn-ea"/>
                        <a:cs typeface="+mn-cs"/>
                      </a:endParaRPr>
                    </a:p>
                  </a:txBody>
                  <a:tcPr marL="64770" marR="64770" marT="17907" marB="17907" anchor="ctr"/>
                </a:tc>
                <a:tc rowSpan="2">
                  <a:txBody>
                    <a:bodyPr/>
                    <a:lstStyle/>
                    <a:p>
                      <a:pPr marL="17780" marR="17780" indent="0" algn="ctr" fontAlgn="base" latinLnBrk="0">
                        <a:lnSpc>
                          <a:spcPct val="100000"/>
                        </a:lnSpc>
                        <a:spcBef>
                          <a:spcPts val="0"/>
                        </a:spcBef>
                        <a:spcAft>
                          <a:spcPts val="0"/>
                        </a:spcAft>
                      </a:pPr>
                      <a:r>
                        <a:rPr lang="ko-KR" altLang="en-US" sz="1600" kern="1200" dirty="0" err="1">
                          <a:solidFill>
                            <a:schemeClr val="tx1"/>
                          </a:solidFill>
                        </a:rPr>
                        <a:t>그대로설</a:t>
                      </a:r>
                      <a:endParaRPr lang="ko-KR" altLang="en-US" sz="1600" kern="1200" dirty="0">
                        <a:solidFill>
                          <a:schemeClr val="tx1"/>
                        </a:solidFill>
                        <a:latin typeface="+mn-ea"/>
                        <a:ea typeface="+mn-ea"/>
                        <a:cs typeface="+mn-cs"/>
                      </a:endParaRPr>
                    </a:p>
                  </a:txBody>
                  <a:tcPr marL="64770" marR="64770" marT="17907" marB="17907" anchor="ctr"/>
                </a:tc>
                <a:tc rowSpan="2">
                  <a:txBody>
                    <a:bodyPr/>
                    <a:lstStyle/>
                    <a:p>
                      <a:pPr marL="17780" marR="17780" indent="0" algn="ctr" fontAlgn="base" latinLnBrk="0">
                        <a:lnSpc>
                          <a:spcPct val="100000"/>
                        </a:lnSpc>
                        <a:spcBef>
                          <a:spcPts val="0"/>
                        </a:spcBef>
                        <a:spcAft>
                          <a:spcPts val="0"/>
                        </a:spcAft>
                      </a:pPr>
                      <a:r>
                        <a:rPr lang="ko-KR" altLang="en-US" sz="1600" kern="1200" dirty="0">
                          <a:solidFill>
                            <a:schemeClr val="tx1"/>
                          </a:solidFill>
                        </a:rPr>
                        <a:t>사상상의 이용 </a:t>
                      </a:r>
                      <a:endParaRPr lang="ko-KR" altLang="en-US" sz="1600" kern="1200" dirty="0">
                        <a:solidFill>
                          <a:schemeClr val="tx1"/>
                        </a:solidFill>
                        <a:latin typeface="+mn-ea"/>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600" kern="1200" dirty="0">
                          <a:solidFill>
                            <a:schemeClr val="tx1"/>
                          </a:solidFill>
                          <a:latin typeface="+mn-ea"/>
                          <a:ea typeface="+mn-ea"/>
                          <a:cs typeface="+mn-cs"/>
                        </a:rPr>
                        <a:t>외적부가</a:t>
                      </a:r>
                      <a:endParaRPr lang="en-US" altLang="ko-KR" sz="1600" kern="1200" dirty="0">
                        <a:solidFill>
                          <a:schemeClr val="tx1"/>
                        </a:solidFill>
                        <a:latin typeface="+mn-ea"/>
                        <a:ea typeface="+mn-ea"/>
                        <a:cs typeface="+mn-cs"/>
                      </a:endParaRPr>
                    </a:p>
                    <a:p>
                      <a:pPr marL="17780" marR="17780" indent="0" algn="ctr" fontAlgn="base" latinLnBrk="0">
                        <a:lnSpc>
                          <a:spcPct val="100000"/>
                        </a:lnSpc>
                        <a:spcBef>
                          <a:spcPts val="0"/>
                        </a:spcBef>
                        <a:spcAft>
                          <a:spcPts val="0"/>
                        </a:spcAft>
                      </a:pPr>
                      <a:r>
                        <a:rPr lang="en-US" altLang="ko-KR" sz="1600" kern="1200" dirty="0">
                          <a:solidFill>
                            <a:schemeClr val="tx1"/>
                          </a:solidFill>
                          <a:latin typeface="+mn-ea"/>
                          <a:ea typeface="+mn-ea"/>
                          <a:cs typeface="+mn-cs"/>
                        </a:rPr>
                        <a:t>(</a:t>
                      </a:r>
                      <a:r>
                        <a:rPr lang="ko-KR" altLang="en-US" sz="1600" kern="1200" dirty="0">
                          <a:solidFill>
                            <a:schemeClr val="tx1"/>
                          </a:solidFill>
                          <a:latin typeface="+mn-ea"/>
                          <a:ea typeface="+mn-ea"/>
                          <a:cs typeface="+mn-cs"/>
                        </a:rPr>
                        <a:t>결합발명</a:t>
                      </a:r>
                      <a:r>
                        <a:rPr lang="en-US" altLang="ko-KR" sz="1600" kern="1200" dirty="0">
                          <a:solidFill>
                            <a:schemeClr val="tx1"/>
                          </a:solidFill>
                          <a:latin typeface="+mn-ea"/>
                          <a:ea typeface="+mn-ea"/>
                          <a:cs typeface="+mn-cs"/>
                        </a:rPr>
                        <a:t>)</a:t>
                      </a:r>
                      <a:endParaRPr lang="ko-KR" altLang="en-US" sz="1600" kern="1200" dirty="0">
                        <a:solidFill>
                          <a:schemeClr val="tx1"/>
                        </a:solidFill>
                        <a:latin typeface="+mn-ea"/>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600" kern="1200" dirty="0">
                          <a:solidFill>
                            <a:schemeClr val="tx1"/>
                          </a:solidFill>
                        </a:rPr>
                        <a:t>○</a:t>
                      </a:r>
                      <a:endParaRPr lang="ko-KR" altLang="en-US" sz="1600" kern="1200" dirty="0">
                        <a:solidFill>
                          <a:schemeClr val="tx1"/>
                        </a:solidFill>
                        <a:latin typeface="+mn-ea"/>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en-US" altLang="ko-KR" sz="1600" kern="1200" dirty="0">
                          <a:solidFill>
                            <a:schemeClr val="tx1"/>
                          </a:solidFill>
                        </a:rPr>
                        <a:t>90’</a:t>
                      </a:r>
                      <a:r>
                        <a:rPr lang="ko-KR" altLang="en-US" sz="1600" kern="1200" dirty="0">
                          <a:solidFill>
                            <a:schemeClr val="tx1"/>
                          </a:solidFill>
                        </a:rPr>
                        <a:t>초</a:t>
                      </a:r>
                      <a:r>
                        <a:rPr lang="en-US" altLang="ko-KR" sz="1600" kern="1200" dirty="0">
                          <a:solidFill>
                            <a:schemeClr val="tx1"/>
                          </a:solidFill>
                        </a:rPr>
                        <a:t>: </a:t>
                      </a:r>
                      <a:r>
                        <a:rPr lang="en-US" altLang="ko-KR" sz="1600" kern="1200" dirty="0">
                          <a:solidFill>
                            <a:schemeClr val="tx1"/>
                          </a:solidFill>
                          <a:latin typeface="+mn-ea"/>
                          <a:ea typeface="+mn-ea"/>
                          <a:cs typeface="+mn-cs"/>
                        </a:rPr>
                        <a:t>×</a:t>
                      </a:r>
                      <a:r>
                        <a:rPr lang="en-US" altLang="ko-KR" sz="1600" kern="1200" dirty="0">
                          <a:solidFill>
                            <a:schemeClr val="tx1"/>
                          </a:solidFill>
                        </a:rPr>
                        <a:t> </a:t>
                      </a:r>
                    </a:p>
                    <a:p>
                      <a:pPr marL="17780" marR="17780" indent="0" algn="ctr" fontAlgn="base" latinLnBrk="0">
                        <a:lnSpc>
                          <a:spcPct val="100000"/>
                        </a:lnSpc>
                        <a:spcBef>
                          <a:spcPts val="0"/>
                        </a:spcBef>
                        <a:spcAft>
                          <a:spcPts val="0"/>
                        </a:spcAft>
                      </a:pPr>
                      <a:r>
                        <a:rPr lang="en-US" altLang="ko-KR" sz="1600" kern="1200" dirty="0">
                          <a:solidFill>
                            <a:schemeClr val="tx1"/>
                          </a:solidFill>
                        </a:rPr>
                        <a:t>2000’</a:t>
                      </a:r>
                      <a:r>
                        <a:rPr lang="ko-KR" altLang="en-US" sz="1600" kern="1200" dirty="0">
                          <a:solidFill>
                            <a:schemeClr val="tx1"/>
                          </a:solidFill>
                        </a:rPr>
                        <a:t>초 </a:t>
                      </a:r>
                      <a:r>
                        <a:rPr lang="en-US" altLang="ko-KR" sz="1600" kern="1200" dirty="0">
                          <a:solidFill>
                            <a:schemeClr val="tx1"/>
                          </a:solidFill>
                        </a:rPr>
                        <a:t>:</a:t>
                      </a:r>
                      <a:r>
                        <a:rPr lang="ko-KR" altLang="en-US" sz="1600" kern="1200" dirty="0">
                          <a:solidFill>
                            <a:schemeClr val="tx1"/>
                          </a:solidFill>
                        </a:rPr>
                        <a:t>○</a:t>
                      </a:r>
                      <a:endParaRPr lang="ko-KR" altLang="en-US" sz="1600" kern="1200" dirty="0">
                        <a:solidFill>
                          <a:schemeClr val="tx1"/>
                        </a:solidFill>
                        <a:latin typeface="+mn-ea"/>
                        <a:ea typeface="+mn-ea"/>
                        <a:cs typeface="+mn-cs"/>
                      </a:endParaRPr>
                    </a:p>
                  </a:txBody>
                  <a:tcPr marL="64770" marR="64770" marT="17907" marB="17907" anchor="ctr"/>
                </a:tc>
                <a:extLst>
                  <a:ext uri="{0D108BD9-81ED-4DB2-BD59-A6C34878D82A}">
                    <a16:rowId xmlns:a16="http://schemas.microsoft.com/office/drawing/2014/main" val="10002"/>
                  </a:ext>
                </a:extLst>
              </a:tr>
              <a:tr h="1052996">
                <a:tc vMerge="1">
                  <a:txBody>
                    <a:bodyPr/>
                    <a:lstStyle/>
                    <a:p>
                      <a:pPr latinLnBrk="1"/>
                      <a:endParaRPr lang="ko-KR" altLang="en-US"/>
                    </a:p>
                  </a:txBody>
                  <a:tcPr/>
                </a:tc>
                <a:tc vMerge="1">
                  <a:txBody>
                    <a:bodyPr/>
                    <a:lstStyle/>
                    <a:p>
                      <a:pPr latinLnBrk="1"/>
                      <a:endParaRPr lang="ko-KR" altLang="en-US"/>
                    </a:p>
                  </a:txBody>
                  <a:tcPr/>
                </a:tc>
                <a:tc vMerge="1">
                  <a:txBody>
                    <a:bodyPr/>
                    <a:lstStyle/>
                    <a:p>
                      <a:pPr marL="17780" marR="17780" indent="0" algn="ctr" fontAlgn="base" latinLnBrk="0">
                        <a:lnSpc>
                          <a:spcPct val="100000"/>
                        </a:lnSpc>
                        <a:spcBef>
                          <a:spcPts val="0"/>
                        </a:spcBef>
                        <a:spcAft>
                          <a:spcPts val="0"/>
                        </a:spcAft>
                      </a:pPr>
                      <a:endParaRPr lang="ko-KR" altLang="en-US" sz="1600" kern="1200" dirty="0">
                        <a:solidFill>
                          <a:schemeClr val="tx1"/>
                        </a:solidFill>
                        <a:latin typeface="+mn-ea"/>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600" kern="1200" dirty="0">
                          <a:solidFill>
                            <a:schemeClr val="tx1"/>
                          </a:solidFill>
                          <a:latin typeface="+mn-ea"/>
                          <a:ea typeface="+mn-ea"/>
                          <a:cs typeface="+mn-cs"/>
                        </a:rPr>
                        <a:t>내적부가</a:t>
                      </a:r>
                      <a:endParaRPr lang="en-US" altLang="ko-KR" sz="1600" kern="1200" dirty="0">
                        <a:solidFill>
                          <a:schemeClr val="tx1"/>
                        </a:solidFill>
                        <a:latin typeface="+mn-ea"/>
                        <a:ea typeface="+mn-ea"/>
                        <a:cs typeface="+mn-cs"/>
                      </a:endParaRPr>
                    </a:p>
                    <a:p>
                      <a:pPr marL="17780" marR="17780" indent="0" algn="ctr" fontAlgn="base" latinLnBrk="0">
                        <a:lnSpc>
                          <a:spcPct val="100000"/>
                        </a:lnSpc>
                        <a:spcBef>
                          <a:spcPts val="0"/>
                        </a:spcBef>
                        <a:spcAft>
                          <a:spcPts val="0"/>
                        </a:spcAft>
                      </a:pPr>
                      <a:r>
                        <a:rPr lang="en-US" altLang="ko-KR" sz="1600" kern="1200" dirty="0">
                          <a:solidFill>
                            <a:schemeClr val="tx1"/>
                          </a:solidFill>
                          <a:latin typeface="+mn-ea"/>
                          <a:ea typeface="+mn-ea"/>
                          <a:cs typeface="+mn-cs"/>
                        </a:rPr>
                        <a:t>(</a:t>
                      </a:r>
                      <a:r>
                        <a:rPr lang="ko-KR" altLang="en-US" sz="1600" kern="1200" dirty="0">
                          <a:solidFill>
                            <a:schemeClr val="tx1"/>
                          </a:solidFill>
                          <a:latin typeface="+mn-ea"/>
                          <a:ea typeface="+mn-ea"/>
                          <a:cs typeface="+mn-cs"/>
                        </a:rPr>
                        <a:t>선택발명</a:t>
                      </a:r>
                      <a:r>
                        <a:rPr lang="en-US" altLang="ko-KR" sz="1600" kern="1200" dirty="0">
                          <a:solidFill>
                            <a:schemeClr val="tx1"/>
                          </a:solidFill>
                          <a:latin typeface="+mn-ea"/>
                          <a:ea typeface="+mn-ea"/>
                          <a:cs typeface="+mn-cs"/>
                        </a:rPr>
                        <a:t>)</a:t>
                      </a:r>
                      <a:endParaRPr lang="ko-KR" altLang="en-US" sz="1600" kern="1200" dirty="0">
                        <a:solidFill>
                          <a:schemeClr val="tx1"/>
                        </a:solidFill>
                        <a:latin typeface="+mn-ea"/>
                        <a:ea typeface="+mn-ea"/>
                        <a:cs typeface="+mn-cs"/>
                      </a:endParaRPr>
                    </a:p>
                  </a:txBody>
                  <a:tcPr marL="64770" marR="64770" marT="17907" marB="17907" anchor="ctr"/>
                </a:tc>
                <a:tc>
                  <a:txBody>
                    <a:bodyPr/>
                    <a:lstStyle/>
                    <a:p>
                      <a:pPr marL="17780" marR="17780" indent="0" algn="ctr" defTabSz="914400" rtl="0" eaLnBrk="1" fontAlgn="base" latinLnBrk="0" hangingPunct="1">
                        <a:lnSpc>
                          <a:spcPct val="100000"/>
                        </a:lnSpc>
                        <a:spcBef>
                          <a:spcPts val="0"/>
                        </a:spcBef>
                        <a:spcAft>
                          <a:spcPts val="0"/>
                        </a:spcAft>
                        <a:buClrTx/>
                        <a:buSzTx/>
                        <a:buFontTx/>
                        <a:buNone/>
                        <a:tabLst/>
                        <a:defRPr/>
                      </a:pPr>
                      <a:r>
                        <a:rPr lang="ko-KR" altLang="en-US" sz="1600" kern="1200" dirty="0">
                          <a:solidFill>
                            <a:schemeClr val="tx1"/>
                          </a:solidFill>
                        </a:rPr>
                        <a:t>○</a:t>
                      </a:r>
                      <a:endParaRPr lang="ko-KR" altLang="en-US" sz="1600" kern="1200" dirty="0">
                        <a:solidFill>
                          <a:schemeClr val="tx1"/>
                        </a:solidFill>
                        <a:latin typeface="+mn-ea"/>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en-US" altLang="ko-KR" sz="1600" kern="1200" dirty="0">
                          <a:solidFill>
                            <a:schemeClr val="tx1"/>
                          </a:solidFill>
                        </a:rPr>
                        <a:t>90’</a:t>
                      </a:r>
                      <a:r>
                        <a:rPr lang="ko-KR" altLang="en-US" sz="1600" kern="1200" dirty="0">
                          <a:solidFill>
                            <a:schemeClr val="tx1"/>
                          </a:solidFill>
                        </a:rPr>
                        <a:t>초</a:t>
                      </a:r>
                      <a:r>
                        <a:rPr lang="en-US" altLang="ko-KR" sz="1600" kern="1200" dirty="0">
                          <a:solidFill>
                            <a:schemeClr val="tx1"/>
                          </a:solidFill>
                        </a:rPr>
                        <a:t>: </a:t>
                      </a:r>
                      <a:r>
                        <a:rPr lang="en-US" altLang="ko-KR" sz="1600" kern="1200" dirty="0">
                          <a:solidFill>
                            <a:schemeClr val="tx1"/>
                          </a:solidFill>
                          <a:latin typeface="+mn-ea"/>
                          <a:ea typeface="+mn-ea"/>
                          <a:cs typeface="+mn-cs"/>
                        </a:rPr>
                        <a:t>×</a:t>
                      </a:r>
                      <a:r>
                        <a:rPr lang="en-US" altLang="ko-KR" sz="1600" kern="1200" dirty="0">
                          <a:solidFill>
                            <a:schemeClr val="tx1"/>
                          </a:solidFill>
                        </a:rPr>
                        <a:t> </a:t>
                      </a:r>
                    </a:p>
                    <a:p>
                      <a:pPr marL="17780" marR="17780" indent="0" algn="ctr" fontAlgn="base" latinLnBrk="0">
                        <a:lnSpc>
                          <a:spcPct val="100000"/>
                        </a:lnSpc>
                        <a:spcBef>
                          <a:spcPts val="0"/>
                        </a:spcBef>
                        <a:spcAft>
                          <a:spcPts val="0"/>
                        </a:spcAft>
                      </a:pPr>
                      <a:r>
                        <a:rPr lang="ko-KR" altLang="en-US" sz="1600" kern="1200" dirty="0">
                          <a:solidFill>
                            <a:schemeClr val="tx1"/>
                          </a:solidFill>
                        </a:rPr>
                        <a:t>최근 </a:t>
                      </a:r>
                      <a:r>
                        <a:rPr lang="en-US" altLang="ko-KR" sz="1600" kern="1200" dirty="0">
                          <a:solidFill>
                            <a:schemeClr val="tx1"/>
                          </a:solidFill>
                        </a:rPr>
                        <a:t>:</a:t>
                      </a:r>
                      <a:r>
                        <a:rPr lang="ko-KR" altLang="en-US" sz="1600" kern="1200" baseline="0" dirty="0">
                          <a:solidFill>
                            <a:schemeClr val="tx1"/>
                          </a:solidFill>
                        </a:rPr>
                        <a:t> </a:t>
                      </a:r>
                      <a:r>
                        <a:rPr lang="en-US" altLang="ko-KR" sz="1600" kern="1200" baseline="0" dirty="0">
                          <a:solidFill>
                            <a:schemeClr val="tx1"/>
                          </a:solidFill>
                        </a:rPr>
                        <a:t>?</a:t>
                      </a:r>
                      <a:endParaRPr lang="ko-KR" altLang="en-US" sz="1600" kern="1200" dirty="0">
                        <a:solidFill>
                          <a:schemeClr val="tx1"/>
                        </a:solidFill>
                        <a:latin typeface="+mn-ea"/>
                        <a:ea typeface="+mn-ea"/>
                        <a:cs typeface="+mn-cs"/>
                      </a:endParaRPr>
                    </a:p>
                  </a:txBody>
                  <a:tcPr marL="64770" marR="64770" marT="17907" marB="17907" anchor="ctr"/>
                </a:tc>
                <a:extLst>
                  <a:ext uri="{0D108BD9-81ED-4DB2-BD59-A6C34878D82A}">
                    <a16:rowId xmlns:a16="http://schemas.microsoft.com/office/drawing/2014/main" val="10003"/>
                  </a:ext>
                </a:extLst>
              </a:tr>
              <a:tr h="573453">
                <a:tc>
                  <a:txBody>
                    <a:bodyPr/>
                    <a:lstStyle/>
                    <a:p>
                      <a:pPr marL="17780" marR="17780" indent="0" algn="ctr" fontAlgn="base" latinLnBrk="0">
                        <a:lnSpc>
                          <a:spcPct val="100000"/>
                        </a:lnSpc>
                        <a:spcBef>
                          <a:spcPts val="0"/>
                        </a:spcBef>
                        <a:spcAft>
                          <a:spcPts val="0"/>
                        </a:spcAft>
                      </a:pPr>
                      <a:r>
                        <a:rPr lang="ko-KR" altLang="en-US" sz="1600" kern="1200">
                          <a:solidFill>
                            <a:schemeClr val="tx1"/>
                          </a:solidFill>
                        </a:rPr>
                        <a:t>다른 카테고리</a:t>
                      </a:r>
                      <a:endParaRPr lang="ko-KR" altLang="en-US" sz="1600" kern="1200">
                        <a:solidFill>
                          <a:schemeClr val="tx1"/>
                        </a:solidFill>
                        <a:latin typeface="+mn-ea"/>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ko-KR" altLang="en-US" sz="1600" kern="1200" dirty="0">
                          <a:solidFill>
                            <a:schemeClr val="tx1"/>
                          </a:solidFill>
                        </a:rPr>
                        <a:t>실시불가피설</a:t>
                      </a:r>
                      <a:endParaRPr lang="ko-KR" altLang="en-US" sz="1600" kern="1200" dirty="0">
                        <a:solidFill>
                          <a:schemeClr val="tx1"/>
                        </a:solidFill>
                        <a:latin typeface="+mn-ea"/>
                        <a:ea typeface="+mn-ea"/>
                        <a:cs typeface="+mn-cs"/>
                      </a:endParaRPr>
                    </a:p>
                  </a:txBody>
                  <a:tcPr marL="64770" marR="64770" marT="17907" marB="17907" anchor="ctr"/>
                </a:tc>
                <a:tc gridSpan="2">
                  <a:txBody>
                    <a:bodyPr/>
                    <a:lstStyle/>
                    <a:p>
                      <a:pPr marL="17780" marR="17780" indent="0" algn="ctr" fontAlgn="base" latinLnBrk="0">
                        <a:lnSpc>
                          <a:spcPct val="100000"/>
                        </a:lnSpc>
                        <a:spcBef>
                          <a:spcPts val="0"/>
                        </a:spcBef>
                        <a:spcAft>
                          <a:spcPts val="0"/>
                        </a:spcAft>
                      </a:pPr>
                      <a:r>
                        <a:rPr lang="ko-KR" altLang="en-US" sz="1600" kern="1200">
                          <a:solidFill>
                            <a:schemeClr val="tx1"/>
                          </a:solidFill>
                        </a:rPr>
                        <a:t>실시상의 이용</a:t>
                      </a:r>
                      <a:endParaRPr lang="ko-KR" altLang="en-US" sz="1600" kern="1200">
                        <a:solidFill>
                          <a:schemeClr val="tx1"/>
                        </a:solidFill>
                        <a:latin typeface="+mn-ea"/>
                        <a:ea typeface="+mn-ea"/>
                        <a:cs typeface="+mn-cs"/>
                      </a:endParaRPr>
                    </a:p>
                  </a:txBody>
                  <a:tcPr marL="64770" marR="64770" marT="17907" marB="17907" anchor="ctr"/>
                </a:tc>
                <a:tc hMerge="1">
                  <a:txBody>
                    <a:bodyPr/>
                    <a:lstStyle/>
                    <a:p>
                      <a:pPr latinLnBrk="1"/>
                      <a:endParaRPr lang="ko-KR" altLang="en-US"/>
                    </a:p>
                  </a:txBody>
                  <a:tcPr/>
                </a:tc>
                <a:tc>
                  <a:txBody>
                    <a:bodyPr/>
                    <a:lstStyle/>
                    <a:p>
                      <a:pPr marL="17780" marR="17780" indent="0" algn="ctr" fontAlgn="base" latinLnBrk="0">
                        <a:lnSpc>
                          <a:spcPct val="100000"/>
                        </a:lnSpc>
                        <a:spcBef>
                          <a:spcPts val="0"/>
                        </a:spcBef>
                        <a:spcAft>
                          <a:spcPts val="0"/>
                        </a:spcAft>
                      </a:pPr>
                      <a:r>
                        <a:rPr lang="ko-KR" altLang="en-US" sz="1600" kern="1200">
                          <a:solidFill>
                            <a:schemeClr val="tx1"/>
                          </a:solidFill>
                        </a:rPr>
                        <a:t>○</a:t>
                      </a:r>
                      <a:endParaRPr lang="ko-KR" altLang="en-US" sz="1600" kern="1200">
                        <a:solidFill>
                          <a:schemeClr val="tx1"/>
                        </a:solidFill>
                        <a:latin typeface="+mn-ea"/>
                        <a:ea typeface="+mn-ea"/>
                        <a:cs typeface="+mn-cs"/>
                      </a:endParaRPr>
                    </a:p>
                  </a:txBody>
                  <a:tcPr marL="64770" marR="64770" marT="17907" marB="17907" anchor="ctr"/>
                </a:tc>
                <a:tc>
                  <a:txBody>
                    <a:bodyPr/>
                    <a:lstStyle/>
                    <a:p>
                      <a:pPr marL="17780" marR="17780" indent="0" algn="ctr" fontAlgn="base" latinLnBrk="0">
                        <a:lnSpc>
                          <a:spcPct val="100000"/>
                        </a:lnSpc>
                        <a:spcBef>
                          <a:spcPts val="0"/>
                        </a:spcBef>
                        <a:spcAft>
                          <a:spcPts val="0"/>
                        </a:spcAft>
                      </a:pPr>
                      <a:r>
                        <a:rPr lang="en-US" sz="1600" kern="1200" dirty="0">
                          <a:solidFill>
                            <a:schemeClr val="tx1"/>
                          </a:solidFill>
                        </a:rPr>
                        <a:t>?</a:t>
                      </a:r>
                      <a:endParaRPr lang="en-US" sz="1600" kern="1200" dirty="0">
                        <a:solidFill>
                          <a:schemeClr val="tx1"/>
                        </a:solidFill>
                        <a:latin typeface="+mn-ea"/>
                        <a:ea typeface="+mn-ea"/>
                        <a:cs typeface="+mn-cs"/>
                      </a:endParaRPr>
                    </a:p>
                  </a:txBody>
                  <a:tcPr marL="64770" marR="64770" marT="17907" marB="17907" anchor="ctr"/>
                </a:tc>
                <a:extLst>
                  <a:ext uri="{0D108BD9-81ED-4DB2-BD59-A6C34878D82A}">
                    <a16:rowId xmlns:a16="http://schemas.microsoft.com/office/drawing/2014/main" val="10004"/>
                  </a:ext>
                </a:extLst>
              </a:tr>
            </a:tbl>
          </a:graphicData>
        </a:graphic>
      </p:graphicFrame>
      <p:sp>
        <p:nvSpPr>
          <p:cNvPr id="2" name="슬라이드 번호 개체 틀 1"/>
          <p:cNvSpPr>
            <a:spLocks noGrp="1"/>
          </p:cNvSpPr>
          <p:nvPr>
            <p:ph type="sldNum" sz="quarter" idx="12"/>
          </p:nvPr>
        </p:nvSpPr>
        <p:spPr/>
        <p:txBody>
          <a:bodyPr/>
          <a:lstStyle/>
          <a:p>
            <a:r>
              <a:rPr lang="en-US" altLang="ko-KR"/>
              <a:t>352</a:t>
            </a:r>
            <a:endParaRPr lang="ko-KR" altLang="en-US"/>
          </a:p>
        </p:txBody>
      </p:sp>
    </p:spTree>
    <p:extLst>
      <p:ext uri="{BB962C8B-B14F-4D97-AF65-F5344CB8AC3E}">
        <p14:creationId xmlns:p14="http://schemas.microsoft.com/office/powerpoint/2010/main" val="1663471833"/>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5" name="텍스트 개체 틀 4"/>
          <p:cNvSpPr>
            <a:spLocks noGrp="1"/>
          </p:cNvSpPr>
          <p:nvPr>
            <p:ph type="body" sz="quarter" idx="13"/>
          </p:nvPr>
        </p:nvSpPr>
        <p:spPr/>
        <p:txBody>
          <a:bodyPr/>
          <a:lstStyle/>
          <a:p>
            <a:r>
              <a:rPr lang="ko-KR" altLang="en-US" dirty="0"/>
              <a:t>이용관계의 유형</a:t>
            </a:r>
            <a:r>
              <a:rPr lang="en-US" altLang="ko-KR" dirty="0"/>
              <a:t>: </a:t>
            </a:r>
            <a:r>
              <a:rPr lang="ko-KR" altLang="en-US" dirty="0" err="1"/>
              <a:t>그대로설</a:t>
            </a:r>
            <a:r>
              <a:rPr lang="en-US" altLang="ko-KR" dirty="0"/>
              <a:t>(</a:t>
            </a:r>
            <a:r>
              <a:rPr lang="ko-KR" altLang="en-US" dirty="0" err="1"/>
              <a:t>외적부가</a:t>
            </a:r>
            <a:r>
              <a:rPr lang="en-US" altLang="ko-KR" dirty="0"/>
              <a:t>)</a:t>
            </a:r>
            <a:r>
              <a:rPr lang="ko-KR" altLang="en-US" dirty="0"/>
              <a:t> </a:t>
            </a:r>
          </a:p>
        </p:txBody>
      </p:sp>
      <p:sp>
        <p:nvSpPr>
          <p:cNvPr id="3" name="슬라이드 번호 개체 틀 2"/>
          <p:cNvSpPr>
            <a:spLocks noGrp="1"/>
          </p:cNvSpPr>
          <p:nvPr>
            <p:ph type="sldNum" sz="quarter" idx="4294967295"/>
          </p:nvPr>
        </p:nvSpPr>
        <p:spPr>
          <a:xfrm>
            <a:off x="11125200" y="0"/>
            <a:ext cx="1066800" cy="744538"/>
          </a:xfrm>
        </p:spPr>
        <p:txBody>
          <a:bodyPr/>
          <a:lstStyle/>
          <a:p>
            <a:r>
              <a:rPr lang="en-US" altLang="ko-KR"/>
              <a:t>353</a:t>
            </a:r>
            <a:endParaRPr lang="ko-KR" altLang="en-US"/>
          </a:p>
        </p:txBody>
      </p:sp>
      <p:graphicFrame>
        <p:nvGraphicFramePr>
          <p:cNvPr id="10" name="표 9"/>
          <p:cNvGraphicFramePr>
            <a:graphicFrameLocks noGrp="1"/>
          </p:cNvGraphicFramePr>
          <p:nvPr/>
        </p:nvGraphicFramePr>
        <p:xfrm>
          <a:off x="328638" y="1949609"/>
          <a:ext cx="11506804" cy="1909941"/>
        </p:xfrm>
        <a:graphic>
          <a:graphicData uri="http://schemas.openxmlformats.org/drawingml/2006/table">
            <a:tbl>
              <a:tblPr>
                <a:tableStyleId>{8799B23B-EC83-4686-B30A-512413B5E67A}</a:tableStyleId>
              </a:tblPr>
              <a:tblGrid>
                <a:gridCol w="1327411">
                  <a:extLst>
                    <a:ext uri="{9D8B030D-6E8A-4147-A177-3AD203B41FA5}">
                      <a16:colId xmlns:a16="http://schemas.microsoft.com/office/drawing/2014/main" val="20000"/>
                    </a:ext>
                  </a:extLst>
                </a:gridCol>
                <a:gridCol w="4061452">
                  <a:extLst>
                    <a:ext uri="{9D8B030D-6E8A-4147-A177-3AD203B41FA5}">
                      <a16:colId xmlns:a16="http://schemas.microsoft.com/office/drawing/2014/main" val="20001"/>
                    </a:ext>
                  </a:extLst>
                </a:gridCol>
                <a:gridCol w="6117941">
                  <a:extLst>
                    <a:ext uri="{9D8B030D-6E8A-4147-A177-3AD203B41FA5}">
                      <a16:colId xmlns:a16="http://schemas.microsoft.com/office/drawing/2014/main" val="20002"/>
                    </a:ext>
                  </a:extLst>
                </a:gridCol>
              </a:tblGrid>
              <a:tr h="209927">
                <a:tc>
                  <a:txBody>
                    <a:bodyPr/>
                    <a:lstStyle/>
                    <a:p>
                      <a:pPr marL="0" marR="0" indent="0" algn="ctr" fontAlgn="base" latinLnBrk="0">
                        <a:lnSpc>
                          <a:spcPct val="100000"/>
                        </a:lnSpc>
                        <a:spcBef>
                          <a:spcPts val="0"/>
                        </a:spcBef>
                        <a:spcAft>
                          <a:spcPts val="0"/>
                        </a:spcAft>
                      </a:pPr>
                      <a:r>
                        <a:rPr lang="ko-KR" altLang="en-US" sz="1200" kern="1200" dirty="0" err="1"/>
                        <a:t>선출원여부</a:t>
                      </a:r>
                      <a:endParaRPr lang="ko-KR" altLang="en-US" sz="1200" kern="1200" dirty="0">
                        <a:solidFill>
                          <a:schemeClr val="tx1"/>
                        </a:solidFill>
                        <a:latin typeface="+mn-lt"/>
                        <a:ea typeface="+mn-ea"/>
                        <a:cs typeface="+mn-cs"/>
                      </a:endParaRPr>
                    </a:p>
                  </a:txBody>
                  <a:tcPr marL="72000" marR="72000" marT="0" marB="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1200" dirty="0" err="1"/>
                        <a:t>후출원의</a:t>
                      </a:r>
                      <a:r>
                        <a:rPr lang="ko-KR" altLang="en-US" sz="1200" kern="1200" dirty="0"/>
                        <a:t> 등록가능성</a:t>
                      </a:r>
                      <a:endParaRPr lang="ko-KR" altLang="en-US" sz="1200" kern="1200" dirty="0">
                        <a:solidFill>
                          <a:schemeClr val="tx1"/>
                        </a:solidFill>
                        <a:latin typeface="+mn-lt"/>
                        <a:ea typeface="+mn-ea"/>
                        <a:cs typeface="+mn-cs"/>
                      </a:endParaRPr>
                    </a:p>
                  </a:txBody>
                  <a:tcPr marL="72000" marR="72000" marT="0" marB="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1200" dirty="0" err="1"/>
                        <a:t>후출원의</a:t>
                      </a:r>
                      <a:r>
                        <a:rPr lang="ko-KR" altLang="en-US" sz="1200" kern="1200" dirty="0"/>
                        <a:t> 실시가 </a:t>
                      </a:r>
                      <a:r>
                        <a:rPr lang="ko-KR" altLang="en-US" sz="1200" kern="1200" dirty="0" err="1"/>
                        <a:t>선출원의</a:t>
                      </a:r>
                      <a:r>
                        <a:rPr lang="ko-KR" altLang="en-US" sz="1200" kern="1200" dirty="0"/>
                        <a:t> 침해인지 여부</a:t>
                      </a:r>
                      <a:endParaRPr lang="ko-KR" altLang="en-US" sz="1200" kern="1200" dirty="0">
                        <a:solidFill>
                          <a:schemeClr val="tx1"/>
                        </a:solidFill>
                        <a:latin typeface="+mn-lt"/>
                        <a:ea typeface="+mn-ea"/>
                        <a:cs typeface="+mn-cs"/>
                      </a:endParaRPr>
                    </a:p>
                  </a:txBody>
                  <a:tcPr marL="72000" marR="72000" marT="0" marB="0" anchor="ctr">
                    <a:solidFill>
                      <a:schemeClr val="accent1">
                        <a:lumMod val="20000"/>
                        <a:lumOff val="80000"/>
                      </a:schemeClr>
                    </a:solidFill>
                  </a:tcPr>
                </a:tc>
                <a:extLst>
                  <a:ext uri="{0D108BD9-81ED-4DB2-BD59-A6C34878D82A}">
                    <a16:rowId xmlns:a16="http://schemas.microsoft.com/office/drawing/2014/main" val="10000"/>
                  </a:ext>
                </a:extLst>
              </a:tr>
              <a:tr h="839708">
                <a:tc>
                  <a:txBody>
                    <a:bodyPr/>
                    <a:lstStyle/>
                    <a:p>
                      <a:pPr marL="0" marR="0" indent="0" algn="ctr" fontAlgn="base" latinLnBrk="0">
                        <a:lnSpc>
                          <a:spcPct val="100000"/>
                        </a:lnSpc>
                        <a:spcBef>
                          <a:spcPts val="0"/>
                        </a:spcBef>
                        <a:spcAft>
                          <a:spcPts val="0"/>
                        </a:spcAft>
                      </a:pPr>
                      <a:r>
                        <a:rPr lang="ko-KR" altLang="en-US" sz="1200" kern="1200"/>
                        <a:t>甲 </a:t>
                      </a:r>
                      <a:r>
                        <a:rPr lang="en-US" altLang="ko-KR" sz="1200" kern="1200"/>
                        <a:t>&gt; </a:t>
                      </a:r>
                      <a:r>
                        <a:rPr lang="ko-KR" altLang="en-US" sz="1200" kern="1200"/>
                        <a:t>乙</a:t>
                      </a:r>
                      <a:endParaRPr lang="ko-KR" altLang="en-US" sz="1200" kern="1200">
                        <a:solidFill>
                          <a:schemeClr val="tx1"/>
                        </a:solidFill>
                        <a:latin typeface="+mn-lt"/>
                        <a:ea typeface="+mn-ea"/>
                        <a:cs typeface="+mn-cs"/>
                      </a:endParaRPr>
                    </a:p>
                  </a:txBody>
                  <a:tcPr marL="72000" marR="72000" marT="0" marB="0" anchor="ctr"/>
                </a:tc>
                <a:tc>
                  <a:txBody>
                    <a:bodyPr/>
                    <a:lstStyle/>
                    <a:p>
                      <a:pPr marL="246380" marR="17780" indent="-228600" algn="just" fontAlgn="base" latinLnBrk="1">
                        <a:lnSpc>
                          <a:spcPct val="100000"/>
                        </a:lnSpc>
                        <a:spcBef>
                          <a:spcPts val="0"/>
                        </a:spcBef>
                        <a:spcAft>
                          <a:spcPts val="0"/>
                        </a:spcAft>
                        <a:buAutoNum type="arabicPeriod"/>
                      </a:pPr>
                      <a:r>
                        <a:rPr lang="ko-KR" altLang="en-US" sz="1200" kern="1200" dirty="0"/>
                        <a:t>甲의 공개 전 → 등록가능</a:t>
                      </a:r>
                      <a:endParaRPr lang="en-US" altLang="ko-KR" sz="1200" kern="1200" dirty="0"/>
                    </a:p>
                    <a:p>
                      <a:pPr marL="246380" marR="17780" indent="-228600" algn="just" fontAlgn="base" latinLnBrk="1">
                        <a:lnSpc>
                          <a:spcPct val="100000"/>
                        </a:lnSpc>
                        <a:spcBef>
                          <a:spcPts val="0"/>
                        </a:spcBef>
                        <a:spcAft>
                          <a:spcPts val="0"/>
                        </a:spcAft>
                        <a:buAutoNum type="arabicPeriod"/>
                      </a:pPr>
                      <a:r>
                        <a:rPr lang="ko-KR" altLang="en-US" sz="1200" kern="1200" dirty="0"/>
                        <a:t>甲의 공개 후 → </a:t>
                      </a:r>
                      <a:r>
                        <a:rPr lang="en-US" altLang="ko-KR" sz="1200" kern="1200" dirty="0"/>
                        <a:t>A+B+C</a:t>
                      </a:r>
                      <a:r>
                        <a:rPr lang="ko-KR" altLang="en-US" sz="1200" kern="1200" dirty="0"/>
                        <a:t>로부터 쉽게 발명할 수 있는 경우 法 </a:t>
                      </a:r>
                      <a:r>
                        <a:rPr lang="en-US" altLang="ko-KR" sz="1200" kern="1200" dirty="0"/>
                        <a:t>29</a:t>
                      </a:r>
                      <a:r>
                        <a:rPr lang="ko-KR" altLang="en-US" sz="1200" kern="1200" dirty="0"/>
                        <a:t>② 위반</a:t>
                      </a:r>
                      <a:r>
                        <a:rPr lang="en-US" altLang="ko-KR" sz="1200" kern="1200" dirty="0"/>
                        <a:t>*</a:t>
                      </a:r>
                      <a:endParaRPr lang="ko-KR" altLang="en-US" sz="1200" kern="1200" dirty="0">
                        <a:solidFill>
                          <a:schemeClr val="tx1"/>
                        </a:solidFill>
                        <a:latin typeface="+mn-lt"/>
                        <a:ea typeface="+mn-ea"/>
                        <a:cs typeface="+mn-cs"/>
                      </a:endParaRPr>
                    </a:p>
                  </a:txBody>
                  <a:tcPr marL="72000" marR="72000" marT="0" marB="0" anchor="ctr"/>
                </a:tc>
                <a:tc>
                  <a:txBody>
                    <a:bodyPr/>
                    <a:lstStyle/>
                    <a:p>
                      <a:pPr marL="17780" marR="17780" indent="0" algn="just" fontAlgn="base" latinLnBrk="1">
                        <a:lnSpc>
                          <a:spcPct val="100000"/>
                        </a:lnSpc>
                        <a:spcBef>
                          <a:spcPts val="0"/>
                        </a:spcBef>
                        <a:spcAft>
                          <a:spcPts val="0"/>
                        </a:spcAft>
                      </a:pPr>
                      <a:r>
                        <a:rPr lang="en-US" altLang="ko-KR" sz="1200" kern="1200" dirty="0"/>
                        <a:t>1. </a:t>
                      </a:r>
                      <a:r>
                        <a:rPr lang="ko-KR" altLang="en-US" sz="1200" kern="1200" dirty="0"/>
                        <a:t>乙의 실시는 甲의 특허권의 침해</a:t>
                      </a:r>
                      <a:r>
                        <a:rPr lang="en-US" altLang="ko-KR" sz="1200" kern="1200" dirty="0"/>
                        <a:t>**</a:t>
                      </a:r>
                      <a:endParaRPr lang="ko-KR" altLang="en-US" sz="1200" kern="1200" dirty="0"/>
                    </a:p>
                    <a:p>
                      <a:pPr marL="17780" marR="17780" indent="0" algn="just" fontAlgn="base" latinLnBrk="1">
                        <a:lnSpc>
                          <a:spcPct val="100000"/>
                        </a:lnSpc>
                        <a:spcBef>
                          <a:spcPts val="0"/>
                        </a:spcBef>
                        <a:spcAft>
                          <a:spcPts val="0"/>
                        </a:spcAft>
                      </a:pPr>
                      <a:r>
                        <a:rPr lang="en-US" altLang="ko-KR" sz="1200" kern="1200" dirty="0"/>
                        <a:t>2. </a:t>
                      </a:r>
                      <a:r>
                        <a:rPr lang="ko-KR" altLang="en-US" sz="1200" kern="1200" dirty="0"/>
                        <a:t>정당한 </a:t>
                      </a:r>
                      <a:r>
                        <a:rPr lang="ko-KR" altLang="en-US" sz="1200" kern="1200" dirty="0" err="1"/>
                        <a:t>권원획득</a:t>
                      </a:r>
                      <a:r>
                        <a:rPr lang="ko-KR" altLang="en-US" sz="1200" kern="1200" dirty="0"/>
                        <a:t> 후 실시</a:t>
                      </a:r>
                    </a:p>
                    <a:p>
                      <a:pPr marL="17780" marR="17780" indent="0" algn="just" fontAlgn="base" latinLnBrk="1">
                        <a:lnSpc>
                          <a:spcPct val="100000"/>
                        </a:lnSpc>
                        <a:spcBef>
                          <a:spcPts val="0"/>
                        </a:spcBef>
                        <a:spcAft>
                          <a:spcPts val="0"/>
                        </a:spcAft>
                      </a:pPr>
                      <a:r>
                        <a:rPr lang="ko-KR" altLang="en-US" sz="1200" kern="1200" dirty="0"/>
                        <a:t>① 허락</a:t>
                      </a:r>
                    </a:p>
                    <a:p>
                      <a:pPr marL="17780" marR="17780" indent="0" algn="just" fontAlgn="base" latinLnBrk="1">
                        <a:lnSpc>
                          <a:spcPct val="100000"/>
                        </a:lnSpc>
                        <a:spcBef>
                          <a:spcPts val="0"/>
                        </a:spcBef>
                        <a:spcAft>
                          <a:spcPts val="0"/>
                        </a:spcAft>
                      </a:pPr>
                      <a:r>
                        <a:rPr lang="ko-KR" altLang="en-US" sz="1200" kern="1200" dirty="0"/>
                        <a:t>② </a:t>
                      </a:r>
                      <a:r>
                        <a:rPr lang="ko-KR" altLang="en-US" sz="1200" kern="1200" dirty="0" err="1"/>
                        <a:t>통상실시권허락심판</a:t>
                      </a:r>
                      <a:r>
                        <a:rPr lang="en-US" altLang="ko-KR" sz="1200" kern="1200" dirty="0"/>
                        <a:t>(</a:t>
                      </a:r>
                      <a:r>
                        <a:rPr lang="ko-KR" altLang="en-US" sz="1200" kern="1200" dirty="0"/>
                        <a:t>乙이 등록된 경우</a:t>
                      </a:r>
                      <a:r>
                        <a:rPr lang="en-US" altLang="ko-KR" sz="1200" kern="1200" dirty="0"/>
                        <a:t>)</a:t>
                      </a:r>
                    </a:p>
                    <a:p>
                      <a:pPr marL="17780" marR="17780" indent="0" algn="just" fontAlgn="base" latinLnBrk="1">
                        <a:lnSpc>
                          <a:spcPct val="100000"/>
                        </a:lnSpc>
                        <a:spcBef>
                          <a:spcPts val="0"/>
                        </a:spcBef>
                        <a:spcAft>
                          <a:spcPts val="0"/>
                        </a:spcAft>
                      </a:pPr>
                      <a:r>
                        <a:rPr lang="en-US" altLang="ko-KR" sz="1200" kern="1200" dirty="0">
                          <a:solidFill>
                            <a:schemeClr val="tx1"/>
                          </a:solidFill>
                          <a:latin typeface="+mn-lt"/>
                          <a:ea typeface="+mn-ea"/>
                          <a:cs typeface="+mn-cs"/>
                        </a:rPr>
                        <a:t>(</a:t>
                      </a:r>
                      <a:r>
                        <a:rPr lang="ko-KR" altLang="en-US" sz="1200" kern="1200" dirty="0">
                          <a:solidFill>
                            <a:schemeClr val="tx1"/>
                          </a:solidFill>
                          <a:latin typeface="+mn-lt"/>
                          <a:ea typeface="+mn-ea"/>
                          <a:cs typeface="+mn-cs"/>
                        </a:rPr>
                        <a:t>甲으로부터 </a:t>
                      </a:r>
                      <a:r>
                        <a:rPr lang="en-US" altLang="ko-KR" sz="1200" kern="1200" dirty="0">
                          <a:solidFill>
                            <a:schemeClr val="tx1"/>
                          </a:solidFill>
                          <a:latin typeface="+mn-lt"/>
                          <a:ea typeface="+mn-ea"/>
                          <a:cs typeface="+mn-cs"/>
                        </a:rPr>
                        <a:t>A+B+C</a:t>
                      </a:r>
                      <a:r>
                        <a:rPr lang="ko-KR" altLang="en-US" sz="1200" kern="1200" dirty="0">
                          <a:solidFill>
                            <a:schemeClr val="tx1"/>
                          </a:solidFill>
                          <a:latin typeface="+mn-lt"/>
                          <a:ea typeface="+mn-ea"/>
                          <a:cs typeface="+mn-cs"/>
                        </a:rPr>
                        <a:t>를 구매한 후 </a:t>
                      </a:r>
                      <a:r>
                        <a:rPr lang="en-US" altLang="ko-KR" sz="1200" kern="1200" dirty="0">
                          <a:solidFill>
                            <a:schemeClr val="tx1"/>
                          </a:solidFill>
                          <a:latin typeface="+mn-lt"/>
                          <a:ea typeface="+mn-ea"/>
                          <a:cs typeface="+mn-cs"/>
                        </a:rPr>
                        <a:t>D</a:t>
                      </a:r>
                      <a:r>
                        <a:rPr lang="ko-KR" altLang="en-US" sz="1200" kern="1200" dirty="0">
                          <a:solidFill>
                            <a:schemeClr val="tx1"/>
                          </a:solidFill>
                          <a:latin typeface="+mn-lt"/>
                          <a:ea typeface="+mn-ea"/>
                          <a:cs typeface="+mn-cs"/>
                        </a:rPr>
                        <a:t>를 부가하여 실시하는 것도 가능</a:t>
                      </a:r>
                      <a:r>
                        <a:rPr lang="en-US" altLang="ko-KR" sz="1200" kern="1200" dirty="0">
                          <a:solidFill>
                            <a:schemeClr val="tx1"/>
                          </a:solidFill>
                          <a:latin typeface="+mn-lt"/>
                          <a:ea typeface="+mn-ea"/>
                          <a:cs typeface="+mn-cs"/>
                        </a:rPr>
                        <a:t>)</a:t>
                      </a:r>
                      <a:endParaRPr lang="ko-KR" altLang="en-US" sz="1200" kern="1200" dirty="0">
                        <a:solidFill>
                          <a:schemeClr val="tx1"/>
                        </a:solidFill>
                        <a:latin typeface="+mn-lt"/>
                        <a:ea typeface="+mn-ea"/>
                        <a:cs typeface="+mn-cs"/>
                      </a:endParaRPr>
                    </a:p>
                  </a:txBody>
                  <a:tcPr marL="72000" marR="72000" marT="0" marB="0" anchor="ctr"/>
                </a:tc>
                <a:extLst>
                  <a:ext uri="{0D108BD9-81ED-4DB2-BD59-A6C34878D82A}">
                    <a16:rowId xmlns:a16="http://schemas.microsoft.com/office/drawing/2014/main" val="10001"/>
                  </a:ext>
                </a:extLst>
              </a:tr>
              <a:tr h="419854">
                <a:tc>
                  <a:txBody>
                    <a:bodyPr/>
                    <a:lstStyle/>
                    <a:p>
                      <a:pPr marL="0" marR="0" indent="0" algn="ctr" fontAlgn="base" latinLnBrk="0">
                        <a:lnSpc>
                          <a:spcPct val="100000"/>
                        </a:lnSpc>
                        <a:spcBef>
                          <a:spcPts val="0"/>
                        </a:spcBef>
                        <a:spcAft>
                          <a:spcPts val="0"/>
                        </a:spcAft>
                      </a:pPr>
                      <a:r>
                        <a:rPr lang="ko-KR" altLang="en-US" sz="1200" kern="1200"/>
                        <a:t>甲 </a:t>
                      </a:r>
                      <a:r>
                        <a:rPr lang="en-US" altLang="ko-KR" sz="1200" kern="1200"/>
                        <a:t>&lt; </a:t>
                      </a:r>
                      <a:r>
                        <a:rPr lang="ko-KR" altLang="en-US" sz="1200" kern="1200"/>
                        <a:t>乙</a:t>
                      </a:r>
                      <a:endParaRPr lang="ko-KR" altLang="en-US" sz="1200" kern="1200">
                        <a:solidFill>
                          <a:schemeClr val="tx1"/>
                        </a:solidFill>
                        <a:latin typeface="+mn-lt"/>
                        <a:ea typeface="+mn-ea"/>
                        <a:cs typeface="+mn-cs"/>
                      </a:endParaRPr>
                    </a:p>
                  </a:txBody>
                  <a:tcPr marL="72000" marR="72000" marT="0" marB="0" anchor="ctr"/>
                </a:tc>
                <a:tc>
                  <a:txBody>
                    <a:bodyPr/>
                    <a:lstStyle/>
                    <a:p>
                      <a:pPr marL="17780" marR="17780" indent="0" algn="just" fontAlgn="base" latinLnBrk="1">
                        <a:lnSpc>
                          <a:spcPct val="100000"/>
                        </a:lnSpc>
                        <a:spcBef>
                          <a:spcPts val="0"/>
                        </a:spcBef>
                        <a:spcAft>
                          <a:spcPts val="0"/>
                        </a:spcAft>
                      </a:pPr>
                      <a:r>
                        <a:rPr lang="en-US" altLang="ko-KR" sz="1200" kern="1200" dirty="0"/>
                        <a:t>1. </a:t>
                      </a:r>
                      <a:r>
                        <a:rPr lang="ko-KR" altLang="en-US" sz="1200" kern="1200" dirty="0"/>
                        <a:t>乙의 공개 전 → 法 </a:t>
                      </a:r>
                      <a:r>
                        <a:rPr lang="en-US" altLang="ko-KR" sz="1200" kern="1200" dirty="0"/>
                        <a:t>29</a:t>
                      </a:r>
                      <a:r>
                        <a:rPr lang="ko-KR" altLang="en-US" sz="1200" kern="1200" dirty="0"/>
                        <a:t>③④</a:t>
                      </a:r>
                      <a:r>
                        <a:rPr lang="en-US" altLang="ko-KR" sz="1200" kern="1200" dirty="0"/>
                        <a:t>, 36 </a:t>
                      </a:r>
                      <a:r>
                        <a:rPr lang="ko-KR" altLang="en-US" sz="1200" kern="1200" dirty="0"/>
                        <a:t>위반</a:t>
                      </a:r>
                    </a:p>
                    <a:p>
                      <a:pPr marL="17780" marR="17780" indent="0" algn="just" fontAlgn="base" latinLnBrk="1">
                        <a:lnSpc>
                          <a:spcPct val="100000"/>
                        </a:lnSpc>
                        <a:spcBef>
                          <a:spcPts val="0"/>
                        </a:spcBef>
                        <a:spcAft>
                          <a:spcPts val="0"/>
                        </a:spcAft>
                      </a:pPr>
                      <a:r>
                        <a:rPr lang="en-US" altLang="ko-KR" sz="1200" kern="1200" dirty="0"/>
                        <a:t>2. </a:t>
                      </a:r>
                      <a:r>
                        <a:rPr lang="ko-KR" altLang="en-US" sz="1200" kern="1200" dirty="0"/>
                        <a:t>乙의 공개 후 → 法 </a:t>
                      </a:r>
                      <a:r>
                        <a:rPr lang="en-US" altLang="ko-KR" sz="1200" kern="1200" dirty="0"/>
                        <a:t>29</a:t>
                      </a:r>
                      <a:r>
                        <a:rPr lang="ko-KR" altLang="en-US" sz="1200" kern="1200" dirty="0"/>
                        <a:t>①</a:t>
                      </a:r>
                      <a:r>
                        <a:rPr lang="en-US" altLang="ko-KR" sz="1200" kern="1200" dirty="0"/>
                        <a:t>, 36 </a:t>
                      </a:r>
                      <a:r>
                        <a:rPr lang="ko-KR" altLang="en-US" sz="1200" kern="1200" dirty="0"/>
                        <a:t>위반</a:t>
                      </a:r>
                      <a:endParaRPr lang="ko-KR" altLang="en-US" sz="1200" kern="1200" dirty="0">
                        <a:solidFill>
                          <a:schemeClr val="tx1"/>
                        </a:solidFill>
                        <a:latin typeface="+mn-lt"/>
                        <a:ea typeface="+mn-ea"/>
                        <a:cs typeface="+mn-cs"/>
                      </a:endParaRPr>
                    </a:p>
                  </a:txBody>
                  <a:tcPr marL="72000" marR="72000" marT="0" marB="0" anchor="ctr"/>
                </a:tc>
                <a:tc>
                  <a:txBody>
                    <a:bodyPr/>
                    <a:lstStyle/>
                    <a:p>
                      <a:pPr marL="128270" marR="17780" indent="-128270" algn="just" fontAlgn="base" latinLnBrk="1">
                        <a:lnSpc>
                          <a:spcPct val="100000"/>
                        </a:lnSpc>
                        <a:spcBef>
                          <a:spcPts val="0"/>
                        </a:spcBef>
                        <a:spcAft>
                          <a:spcPts val="0"/>
                        </a:spcAft>
                      </a:pPr>
                      <a:r>
                        <a:rPr lang="en-US" altLang="ko-KR" sz="1200" kern="1200" dirty="0"/>
                        <a:t>1. </a:t>
                      </a:r>
                      <a:r>
                        <a:rPr lang="ko-KR" altLang="en-US" sz="1200" kern="1200" dirty="0"/>
                        <a:t>甲의 실시는 </a:t>
                      </a:r>
                      <a:r>
                        <a:rPr lang="en-US" altLang="ko-KR" sz="1200" kern="1200" dirty="0"/>
                        <a:t>AER</a:t>
                      </a:r>
                      <a:r>
                        <a:rPr lang="ko-KR" altLang="en-US" sz="1200" kern="1200" dirty="0"/>
                        <a:t>에 의하여 乙의 특허권의 직접침해 </a:t>
                      </a:r>
                      <a:r>
                        <a:rPr lang="en-US" altLang="ko-KR" sz="1200" kern="1200" dirty="0"/>
                        <a:t>×</a:t>
                      </a:r>
                      <a:endParaRPr lang="ko-KR" altLang="en-US" sz="1200" kern="1200" dirty="0"/>
                    </a:p>
                    <a:p>
                      <a:pPr marL="162560" marR="17780" indent="-162560" algn="just" fontAlgn="base" latinLnBrk="1">
                        <a:lnSpc>
                          <a:spcPct val="100000"/>
                        </a:lnSpc>
                        <a:spcBef>
                          <a:spcPts val="0"/>
                        </a:spcBef>
                        <a:spcAft>
                          <a:spcPts val="0"/>
                        </a:spcAft>
                      </a:pPr>
                      <a:r>
                        <a:rPr lang="en-US" altLang="ko-KR" sz="1200" kern="1200" dirty="0"/>
                        <a:t>2. </a:t>
                      </a:r>
                      <a:r>
                        <a:rPr lang="ko-KR" altLang="en-US" sz="1200" kern="1200" dirty="0"/>
                        <a:t>단</a:t>
                      </a:r>
                      <a:r>
                        <a:rPr lang="en-US" altLang="ko-KR" sz="1200" kern="1200" dirty="0"/>
                        <a:t>, </a:t>
                      </a:r>
                      <a:r>
                        <a:rPr lang="ko-KR" altLang="en-US" sz="1200" kern="1200" dirty="0"/>
                        <a:t>乙의 특허권의 간접침해일 수는 있음 </a:t>
                      </a:r>
                      <a:endParaRPr lang="ko-KR" altLang="en-US" sz="1200" kern="1200" dirty="0">
                        <a:solidFill>
                          <a:schemeClr val="tx1"/>
                        </a:solidFill>
                        <a:latin typeface="+mn-lt"/>
                        <a:ea typeface="+mn-ea"/>
                        <a:cs typeface="+mn-cs"/>
                      </a:endParaRPr>
                    </a:p>
                  </a:txBody>
                  <a:tcPr marL="72000" marR="72000" marT="0" marB="0" anchor="ctr"/>
                </a:tc>
                <a:extLst>
                  <a:ext uri="{0D108BD9-81ED-4DB2-BD59-A6C34878D82A}">
                    <a16:rowId xmlns:a16="http://schemas.microsoft.com/office/drawing/2014/main" val="10002"/>
                  </a:ext>
                </a:extLst>
              </a:tr>
              <a:tr h="209927">
                <a:tc>
                  <a:txBody>
                    <a:bodyPr/>
                    <a:lstStyle/>
                    <a:p>
                      <a:pPr marL="0" marR="0" indent="0" algn="ctr" fontAlgn="base" latinLnBrk="0">
                        <a:lnSpc>
                          <a:spcPct val="100000"/>
                        </a:lnSpc>
                        <a:spcBef>
                          <a:spcPts val="0"/>
                        </a:spcBef>
                        <a:spcAft>
                          <a:spcPts val="0"/>
                        </a:spcAft>
                      </a:pPr>
                      <a:r>
                        <a:rPr lang="ko-KR" altLang="en-US" sz="1200" kern="1200"/>
                        <a:t>甲 </a:t>
                      </a:r>
                      <a:r>
                        <a:rPr lang="en-US" altLang="ko-KR" sz="1200" kern="1200"/>
                        <a:t>= </a:t>
                      </a:r>
                      <a:r>
                        <a:rPr lang="ko-KR" altLang="en-US" sz="1200" kern="1200"/>
                        <a:t>乙</a:t>
                      </a:r>
                      <a:endParaRPr lang="ko-KR" altLang="en-US" sz="1200" kern="1200">
                        <a:solidFill>
                          <a:schemeClr val="tx1"/>
                        </a:solidFill>
                        <a:latin typeface="+mn-lt"/>
                        <a:ea typeface="+mn-ea"/>
                        <a:cs typeface="+mn-cs"/>
                      </a:endParaRPr>
                    </a:p>
                  </a:txBody>
                  <a:tcPr marL="72000" marR="72000" marT="0" marB="0" anchor="ctr"/>
                </a:tc>
                <a:tc>
                  <a:txBody>
                    <a:bodyPr/>
                    <a:lstStyle/>
                    <a:p>
                      <a:pPr marL="17780" marR="17780" indent="0" algn="just" fontAlgn="base" latinLnBrk="1">
                        <a:lnSpc>
                          <a:spcPct val="100000"/>
                        </a:lnSpc>
                        <a:spcBef>
                          <a:spcPts val="0"/>
                        </a:spcBef>
                        <a:spcAft>
                          <a:spcPts val="0"/>
                        </a:spcAft>
                      </a:pPr>
                      <a:r>
                        <a:rPr lang="ko-KR" altLang="en-US" sz="1200" kern="1200" dirty="0"/>
                        <a:t>실질적</a:t>
                      </a:r>
                      <a:r>
                        <a:rPr lang="en-US" altLang="ko-KR" sz="1200" kern="1200" dirty="0"/>
                        <a:t> </a:t>
                      </a:r>
                      <a:r>
                        <a:rPr lang="ko-KR" altLang="en-US" sz="1200" kern="1200" dirty="0"/>
                        <a:t>동일성이 없는 경우 양자 모두 등록가능</a:t>
                      </a:r>
                      <a:endParaRPr lang="ko-KR" altLang="en-US" sz="1200" kern="1200" dirty="0">
                        <a:solidFill>
                          <a:schemeClr val="tx1"/>
                        </a:solidFill>
                        <a:latin typeface="+mn-lt"/>
                        <a:ea typeface="+mn-ea"/>
                        <a:cs typeface="+mn-cs"/>
                      </a:endParaRPr>
                    </a:p>
                  </a:txBody>
                  <a:tcPr marL="72000" marR="72000" marT="0" marB="0" anchor="ctr"/>
                </a:tc>
                <a:tc>
                  <a:txBody>
                    <a:bodyPr/>
                    <a:lstStyle/>
                    <a:p>
                      <a:pPr marL="17780" marR="17780" indent="0" algn="just" fontAlgn="base" latinLnBrk="1">
                        <a:lnSpc>
                          <a:spcPct val="100000"/>
                        </a:lnSpc>
                        <a:spcBef>
                          <a:spcPts val="0"/>
                        </a:spcBef>
                        <a:spcAft>
                          <a:spcPts val="0"/>
                        </a:spcAft>
                      </a:pPr>
                      <a:r>
                        <a:rPr lang="ko-KR" altLang="en-US" sz="1200" kern="1200" dirty="0"/>
                        <a:t>양자 모두 등록된 경우 자유롭게 실시</a:t>
                      </a:r>
                      <a:r>
                        <a:rPr lang="en-US" altLang="ko-KR" sz="1200" kern="1200" dirty="0"/>
                        <a:t>(</a:t>
                      </a:r>
                      <a:r>
                        <a:rPr lang="ko-KR" altLang="en-US" sz="1200" kern="1200" dirty="0"/>
                        <a:t>∵ 法 제</a:t>
                      </a:r>
                      <a:r>
                        <a:rPr lang="en-US" altLang="ko-KR" sz="1200" kern="1200" dirty="0"/>
                        <a:t>98</a:t>
                      </a:r>
                      <a:r>
                        <a:rPr lang="ko-KR" altLang="en-US" sz="1200" kern="1200" dirty="0"/>
                        <a:t>조의 “특허출원일 전”의 해석결과 </a:t>
                      </a:r>
                      <a:r>
                        <a:rPr lang="ko-KR" altLang="en-US" sz="1200" kern="1200" dirty="0" err="1"/>
                        <a:t>동일자</a:t>
                      </a:r>
                      <a:r>
                        <a:rPr lang="ko-KR" altLang="en-US" sz="1200" kern="1200" dirty="0"/>
                        <a:t> 출원의 부적용</a:t>
                      </a:r>
                      <a:r>
                        <a:rPr lang="en-US" altLang="ko-KR" sz="1200" kern="1200" dirty="0"/>
                        <a:t>)</a:t>
                      </a:r>
                      <a:endParaRPr lang="ko-KR" altLang="en-US" sz="1200" kern="1200" dirty="0">
                        <a:solidFill>
                          <a:schemeClr val="tx1"/>
                        </a:solidFill>
                        <a:latin typeface="+mn-lt"/>
                        <a:ea typeface="+mn-ea"/>
                        <a:cs typeface="+mn-cs"/>
                      </a:endParaRPr>
                    </a:p>
                  </a:txBody>
                  <a:tcPr marL="72000" marR="72000" marT="0" marB="0" anchor="ctr"/>
                </a:tc>
                <a:extLst>
                  <a:ext uri="{0D108BD9-81ED-4DB2-BD59-A6C34878D82A}">
                    <a16:rowId xmlns:a16="http://schemas.microsoft.com/office/drawing/2014/main" val="10003"/>
                  </a:ext>
                </a:extLst>
              </a:tr>
            </a:tbl>
          </a:graphicData>
        </a:graphic>
      </p:graphicFrame>
      <p:sp>
        <p:nvSpPr>
          <p:cNvPr id="2" name="직사각형 1"/>
          <p:cNvSpPr/>
          <p:nvPr/>
        </p:nvSpPr>
        <p:spPr>
          <a:xfrm>
            <a:off x="314324" y="1157585"/>
            <a:ext cx="11515725" cy="584775"/>
          </a:xfrm>
          <a:prstGeom prst="rect">
            <a:avLst/>
          </a:prstGeom>
          <a:solidFill>
            <a:schemeClr val="accent4">
              <a:lumMod val="20000"/>
              <a:lumOff val="80000"/>
            </a:schemeClr>
          </a:solidFill>
          <a:ln>
            <a:solidFill>
              <a:schemeClr val="bg1">
                <a:lumMod val="50000"/>
              </a:schemeClr>
            </a:solidFill>
          </a:ln>
        </p:spPr>
        <p:txBody>
          <a:bodyPr wrap="square">
            <a:spAutoFit/>
          </a:bodyPr>
          <a:lstStyle/>
          <a:p>
            <a:pPr fontAlgn="base"/>
            <a:r>
              <a:rPr lang="ko-KR" altLang="en-US" sz="1600" dirty="0"/>
              <a:t>甲이 </a:t>
            </a:r>
            <a:r>
              <a:rPr lang="en-US" altLang="ko-KR" sz="1600" dirty="0"/>
              <a:t>A+B+C</a:t>
            </a:r>
            <a:r>
              <a:rPr lang="ko-KR" altLang="en-US" sz="1600" dirty="0"/>
              <a:t>로 구성된 발명을 출원 후 </a:t>
            </a:r>
            <a:r>
              <a:rPr lang="ko-KR" altLang="en-US" sz="1600" dirty="0" err="1"/>
              <a:t>실시중이고</a:t>
            </a:r>
            <a:r>
              <a:rPr lang="en-US" altLang="ko-KR" sz="1600" dirty="0"/>
              <a:t>, </a:t>
            </a:r>
            <a:r>
              <a:rPr lang="ko-KR" altLang="en-US" sz="1600" dirty="0"/>
              <a:t>乙이 </a:t>
            </a:r>
            <a:r>
              <a:rPr lang="en-US" altLang="ko-KR" sz="1600" dirty="0"/>
              <a:t>A+B+C+D</a:t>
            </a:r>
            <a:r>
              <a:rPr lang="ko-KR" altLang="en-US" sz="1600" dirty="0"/>
              <a:t>로 구성된 발명을 출원 후 실시중인 경우 </a:t>
            </a:r>
            <a:r>
              <a:rPr lang="ko-KR" altLang="en-US" sz="1600" dirty="0" err="1"/>
              <a:t>후출원의</a:t>
            </a:r>
            <a:r>
              <a:rPr lang="ko-KR" altLang="en-US" sz="1600" dirty="0"/>
              <a:t> 등록가능성 및 실시가 침해인지 여부</a:t>
            </a:r>
            <a:r>
              <a:rPr lang="en-US" altLang="ko-KR" sz="1600" dirty="0"/>
              <a:t>(</a:t>
            </a:r>
            <a:r>
              <a:rPr lang="ko-KR" altLang="en-US" sz="1600" dirty="0"/>
              <a:t>촉매부가발명 判例</a:t>
            </a:r>
            <a:r>
              <a:rPr lang="en-US" altLang="ko-KR" sz="1600" dirty="0"/>
              <a:t>)</a:t>
            </a:r>
            <a:endParaRPr lang="ko-KR" altLang="en-US" sz="1600" dirty="0"/>
          </a:p>
        </p:txBody>
      </p:sp>
      <p:sp>
        <p:nvSpPr>
          <p:cNvPr id="16" name="TextBox 15"/>
          <p:cNvSpPr txBox="1"/>
          <p:nvPr/>
        </p:nvSpPr>
        <p:spPr>
          <a:xfrm>
            <a:off x="251520" y="3886200"/>
            <a:ext cx="11578529" cy="2895599"/>
          </a:xfrm>
          <a:prstGeom prst="rect">
            <a:avLst/>
          </a:prstGeom>
          <a:noFill/>
          <a:ln>
            <a:noFill/>
          </a:ln>
        </p:spPr>
        <p:txBody>
          <a:bodyPr wrap="square" rtlCol="0" anchor="t">
            <a:noAutofit/>
          </a:bodyPr>
          <a:lstStyle/>
          <a:p>
            <a:r>
              <a:rPr lang="en-US" altLang="ko-KR" sz="1400" dirty="0">
                <a:latin typeface="+mn-ea"/>
              </a:rPr>
              <a:t>* </a:t>
            </a:r>
            <a:r>
              <a:rPr lang="ko-KR" altLang="en-US" sz="1400" dirty="0">
                <a:latin typeface="+mn-ea"/>
              </a:rPr>
              <a:t>결합발명은 선행발명에 구성요소를 더 부가한 것으로 일반적으로 선행발명과 동일성이 없기 때문에 신규성은 인정되나</a:t>
            </a:r>
            <a:r>
              <a:rPr lang="en-US" altLang="ko-KR" sz="1400" dirty="0">
                <a:latin typeface="+mn-ea"/>
              </a:rPr>
              <a:t>, </a:t>
            </a:r>
            <a:r>
              <a:rPr lang="ko-KR" altLang="en-US" sz="1400" dirty="0">
                <a:latin typeface="+mn-ea"/>
              </a:rPr>
              <a:t>진보성에 위반되는지 여부가 문제이다</a:t>
            </a:r>
            <a:r>
              <a:rPr lang="en-US" altLang="ko-KR" sz="1400" dirty="0">
                <a:latin typeface="+mn-ea"/>
              </a:rPr>
              <a:t>. </a:t>
            </a:r>
            <a:r>
              <a:rPr lang="ko-KR" altLang="en-US" sz="1400" dirty="0">
                <a:latin typeface="+mn-ea"/>
              </a:rPr>
              <a:t>결합발명의 진보성을 판단과 관련하여</a:t>
            </a:r>
            <a:r>
              <a:rPr lang="en-US" altLang="ko-KR" sz="1400" dirty="0">
                <a:latin typeface="+mn-ea"/>
              </a:rPr>
              <a:t>, </a:t>
            </a:r>
            <a:r>
              <a:rPr lang="ko-KR" altLang="en-US" sz="1400" dirty="0" err="1">
                <a:latin typeface="+mn-ea"/>
              </a:rPr>
              <a:t>청구항에</a:t>
            </a:r>
            <a:r>
              <a:rPr lang="ko-KR" altLang="en-US" sz="1400" dirty="0">
                <a:latin typeface="+mn-ea"/>
              </a:rPr>
              <a:t> 기재된 발명은 전체로서 고려되어야 하며 구성요소 각각이 공지 또는 자명하다고 하여 </a:t>
            </a:r>
            <a:r>
              <a:rPr lang="ko-KR" altLang="en-US" sz="1400" dirty="0" err="1">
                <a:latin typeface="+mn-ea"/>
              </a:rPr>
              <a:t>청구항에</a:t>
            </a:r>
            <a:r>
              <a:rPr lang="ko-KR" altLang="en-US" sz="1400" dirty="0">
                <a:latin typeface="+mn-ea"/>
              </a:rPr>
              <a:t> 기재된 발명의 진보성을 부정할 수 없다</a:t>
            </a:r>
            <a:r>
              <a:rPr lang="en-US" altLang="ko-KR" sz="1400" dirty="0">
                <a:latin typeface="+mn-ea"/>
              </a:rPr>
              <a:t>. </a:t>
            </a:r>
            <a:r>
              <a:rPr lang="ko-KR" altLang="en-US" sz="1400" dirty="0">
                <a:latin typeface="+mn-ea"/>
              </a:rPr>
              <a:t>즉</a:t>
            </a:r>
            <a:r>
              <a:rPr lang="en-US" altLang="ko-KR" sz="1400" dirty="0">
                <a:latin typeface="+mn-ea"/>
              </a:rPr>
              <a:t>, </a:t>
            </a:r>
            <a:r>
              <a:rPr lang="ko-KR" altLang="en-US" sz="1400" dirty="0" err="1">
                <a:latin typeface="+mn-ea"/>
              </a:rPr>
              <a:t>청구항에</a:t>
            </a:r>
            <a:r>
              <a:rPr lang="ko-KR" altLang="en-US" sz="1400" dirty="0">
                <a:latin typeface="+mn-ea"/>
              </a:rPr>
              <a:t> 기재된 발명의 과제해결원리를 배제한 채 </a:t>
            </a:r>
            <a:r>
              <a:rPr lang="ko-KR" altLang="en-US" sz="1400" dirty="0" err="1">
                <a:latin typeface="+mn-ea"/>
              </a:rPr>
              <a:t>청구항에</a:t>
            </a:r>
            <a:r>
              <a:rPr lang="ko-KR" altLang="en-US" sz="1400" dirty="0">
                <a:latin typeface="+mn-ea"/>
              </a:rPr>
              <a:t> 기재된 구성을 하나하나 분해한 후 선행기술의 대응 구성요소로부터 도출이 곤란한지만을 따져서는 아니 되고</a:t>
            </a:r>
            <a:r>
              <a:rPr lang="en-US" altLang="ko-KR" sz="1400" dirty="0">
                <a:latin typeface="+mn-ea"/>
              </a:rPr>
              <a:t>, </a:t>
            </a:r>
            <a:r>
              <a:rPr lang="ko-KR" altLang="en-US" sz="1400" dirty="0">
                <a:latin typeface="+mn-ea"/>
              </a:rPr>
              <a:t>특유의 과제해결원리에 기초하여 그 발명에 채용된 특유한 구성요소들과 나머지 구성요소들 사이의 결합관계를 포함하여 유기적으로 결합된 전체로서의 진보성을 살펴보아야 한다</a:t>
            </a:r>
            <a:r>
              <a:rPr lang="en-US" altLang="ko-KR" sz="1400" dirty="0">
                <a:latin typeface="+mn-ea"/>
              </a:rPr>
              <a:t>(</a:t>
            </a:r>
            <a:r>
              <a:rPr lang="ko-KR" altLang="en-US" sz="1400" dirty="0">
                <a:latin typeface="+mn-ea"/>
              </a:rPr>
              <a:t>대법원 </a:t>
            </a:r>
            <a:r>
              <a:rPr lang="en-US" altLang="ko-KR" sz="1400" dirty="0">
                <a:latin typeface="+mn-ea"/>
              </a:rPr>
              <a:t>2010. 9. 9. </a:t>
            </a:r>
            <a:r>
              <a:rPr lang="ko-KR" altLang="en-US" sz="1400" dirty="0">
                <a:latin typeface="+mn-ea"/>
              </a:rPr>
              <a:t>선고 </a:t>
            </a:r>
            <a:r>
              <a:rPr lang="en-US" altLang="ko-KR" sz="1400" dirty="0">
                <a:latin typeface="+mn-ea"/>
              </a:rPr>
              <a:t>2009</a:t>
            </a:r>
            <a:r>
              <a:rPr lang="ko-KR" altLang="en-US" sz="1400" dirty="0">
                <a:latin typeface="+mn-ea"/>
              </a:rPr>
              <a:t>후</a:t>
            </a:r>
            <a:r>
              <a:rPr lang="en-US" altLang="ko-KR" sz="1400" dirty="0">
                <a:latin typeface="+mn-ea"/>
              </a:rPr>
              <a:t>1897)</a:t>
            </a:r>
          </a:p>
          <a:p>
            <a:pPr marL="285750" indent="-285750">
              <a:buFont typeface="Arial" pitchFamily="34" charset="0"/>
              <a:buChar char="•"/>
            </a:pPr>
            <a:endParaRPr lang="en-US" altLang="ko-KR" sz="1400" dirty="0">
              <a:latin typeface="+mn-ea"/>
            </a:endParaRPr>
          </a:p>
          <a:p>
            <a:r>
              <a:rPr lang="en-US" altLang="ko-KR" sz="1400" dirty="0">
                <a:latin typeface="+mn-ea"/>
              </a:rPr>
              <a:t>  </a:t>
            </a:r>
            <a:r>
              <a:rPr lang="ko-KR" altLang="en-US" sz="1400" dirty="0">
                <a:latin typeface="+mn-ea"/>
              </a:rPr>
              <a:t>결합발명은 진보성 여부에 따라 공지기술의 단순한 집합인 「</a:t>
            </a:r>
            <a:r>
              <a:rPr lang="ko-KR" altLang="en-US" sz="1400" dirty="0" err="1">
                <a:latin typeface="+mn-ea"/>
              </a:rPr>
              <a:t>주합발명</a:t>
            </a:r>
            <a:r>
              <a:rPr lang="en-US" altLang="ko-KR" sz="1400" dirty="0">
                <a:latin typeface="+mn-ea"/>
              </a:rPr>
              <a:t>(Aggregation)</a:t>
            </a:r>
            <a:r>
              <a:rPr lang="ko-KR" altLang="en-US" sz="1400" dirty="0">
                <a:latin typeface="+mn-ea"/>
              </a:rPr>
              <a:t>」과 공지기술의 새로운 결합인 「조합발명</a:t>
            </a:r>
            <a:r>
              <a:rPr lang="en-US" altLang="ko-KR" sz="1400" dirty="0">
                <a:latin typeface="+mn-ea"/>
              </a:rPr>
              <a:t>(Combination)</a:t>
            </a:r>
            <a:r>
              <a:rPr lang="ko-KR" altLang="en-US" sz="1400" dirty="0">
                <a:latin typeface="+mn-ea"/>
              </a:rPr>
              <a:t>」으로 구별될 수 있다</a:t>
            </a:r>
            <a:r>
              <a:rPr lang="en-US" altLang="ko-KR" sz="1400" dirty="0">
                <a:latin typeface="+mn-ea"/>
              </a:rPr>
              <a:t>. </a:t>
            </a:r>
            <a:r>
              <a:rPr lang="ko-KR" altLang="en-US" sz="1400" dirty="0" err="1">
                <a:latin typeface="+mn-ea"/>
              </a:rPr>
              <a:t>주합발명</a:t>
            </a:r>
            <a:r>
              <a:rPr lang="en-US" altLang="ko-KR" sz="1400" dirty="0">
                <a:latin typeface="+mn-ea"/>
              </a:rPr>
              <a:t>(Aggregation)</a:t>
            </a:r>
            <a:r>
              <a:rPr lang="ko-KR" altLang="en-US" sz="1400" dirty="0">
                <a:latin typeface="+mn-ea"/>
              </a:rPr>
              <a:t>은 조합발명</a:t>
            </a:r>
            <a:r>
              <a:rPr lang="en-US" altLang="ko-KR" sz="1400" dirty="0">
                <a:latin typeface="+mn-ea"/>
              </a:rPr>
              <a:t>(Combination)</a:t>
            </a:r>
            <a:r>
              <a:rPr lang="ko-KR" altLang="en-US" sz="1400" dirty="0">
                <a:latin typeface="+mn-ea"/>
              </a:rPr>
              <a:t>과 달리 진보성이 없어서 등록될 수 없다는 점에서 차이가 있다</a:t>
            </a:r>
            <a:r>
              <a:rPr lang="en-US" altLang="ko-KR" sz="1400" dirty="0">
                <a:latin typeface="+mn-ea"/>
              </a:rPr>
              <a:t>. </a:t>
            </a:r>
            <a:r>
              <a:rPr lang="ko-KR" altLang="en-US" sz="1400" dirty="0">
                <a:latin typeface="+mn-ea"/>
              </a:rPr>
              <a:t>구체적으로</a:t>
            </a:r>
            <a:r>
              <a:rPr lang="en-US" altLang="ko-KR" sz="1400" dirty="0">
                <a:latin typeface="+mn-ea"/>
              </a:rPr>
              <a:t>, </a:t>
            </a:r>
            <a:r>
              <a:rPr lang="ko-KR" altLang="en-US" sz="1400" dirty="0">
                <a:latin typeface="+mn-ea"/>
              </a:rPr>
              <a:t>여러 공지기술을 인용하여 특허의 진보성을 판단할 때 그 인용되는 공지기술을 조합 또는 결합하면 해당 특허발명에 이를 수 있다는 교시</a:t>
            </a:r>
            <a:r>
              <a:rPr lang="en-US" altLang="ko-KR" sz="1400" dirty="0">
                <a:latin typeface="+mn-ea"/>
              </a:rPr>
              <a:t>(teaching), </a:t>
            </a:r>
            <a:r>
              <a:rPr lang="ko-KR" altLang="en-US" sz="1400" dirty="0">
                <a:latin typeface="+mn-ea"/>
              </a:rPr>
              <a:t>암시</a:t>
            </a:r>
            <a:r>
              <a:rPr lang="en-US" altLang="ko-KR" sz="1400" dirty="0">
                <a:latin typeface="+mn-ea"/>
              </a:rPr>
              <a:t>(suggesting), </a:t>
            </a:r>
            <a:r>
              <a:rPr lang="ko-KR" altLang="en-US" sz="1400" dirty="0">
                <a:latin typeface="+mn-ea"/>
              </a:rPr>
              <a:t>동기</a:t>
            </a:r>
            <a:r>
              <a:rPr lang="en-US" altLang="ko-KR" sz="1400" dirty="0">
                <a:latin typeface="+mn-ea"/>
              </a:rPr>
              <a:t>(motivation) </a:t>
            </a:r>
            <a:r>
              <a:rPr lang="ko-KR" altLang="en-US" sz="1400" dirty="0">
                <a:latin typeface="+mn-ea"/>
              </a:rPr>
              <a:t>등이 공지기술에 제시되어 있거나 그렇지 않더라도 해당 특허 출원 당시의 기술수준</a:t>
            </a:r>
            <a:r>
              <a:rPr lang="en-US" altLang="ko-KR" sz="1400" dirty="0">
                <a:latin typeface="+mn-ea"/>
              </a:rPr>
              <a:t>, </a:t>
            </a:r>
            <a:r>
              <a:rPr lang="ko-KR" altLang="en-US" sz="1400" dirty="0">
                <a:latin typeface="+mn-ea"/>
              </a:rPr>
              <a:t>기술상식</a:t>
            </a:r>
            <a:r>
              <a:rPr lang="en-US" altLang="ko-KR" sz="1400" dirty="0">
                <a:latin typeface="+mn-ea"/>
              </a:rPr>
              <a:t>, </a:t>
            </a:r>
            <a:r>
              <a:rPr lang="ko-KR" altLang="en-US" sz="1400" dirty="0">
                <a:latin typeface="+mn-ea"/>
              </a:rPr>
              <a:t>해당 기술분야의 기본적인 과제</a:t>
            </a:r>
            <a:r>
              <a:rPr lang="en-US" altLang="ko-KR" sz="1400" dirty="0">
                <a:latin typeface="+mn-ea"/>
              </a:rPr>
              <a:t>, </a:t>
            </a:r>
            <a:r>
              <a:rPr lang="ko-KR" altLang="en-US" sz="1400" dirty="0">
                <a:latin typeface="+mn-ea"/>
              </a:rPr>
              <a:t>발전경향</a:t>
            </a:r>
            <a:r>
              <a:rPr lang="en-US" altLang="ko-KR" sz="1400" dirty="0">
                <a:latin typeface="+mn-ea"/>
              </a:rPr>
              <a:t>, </a:t>
            </a:r>
            <a:r>
              <a:rPr lang="ko-KR" altLang="en-US" sz="1400" dirty="0">
                <a:latin typeface="+mn-ea"/>
              </a:rPr>
              <a:t>해당 업계의 요구 등에 비추어 통상의 기술자가 쉽게 그와 같은 조합 또는 결합에 이를 수 있다고 인정할 수 있는 경우에는 </a:t>
            </a:r>
            <a:r>
              <a:rPr lang="ko-KR" altLang="en-US" sz="1400" dirty="0" err="1">
                <a:latin typeface="+mn-ea"/>
              </a:rPr>
              <a:t>주합발명으로서</a:t>
            </a:r>
            <a:r>
              <a:rPr lang="ko-KR" altLang="en-US" sz="1400" dirty="0">
                <a:latin typeface="+mn-ea"/>
              </a:rPr>
              <a:t> 진보성이 부정된다</a:t>
            </a:r>
            <a:r>
              <a:rPr lang="en-US" altLang="ko-KR" sz="1400" dirty="0">
                <a:latin typeface="+mn-ea"/>
              </a:rPr>
              <a:t>(</a:t>
            </a:r>
            <a:r>
              <a:rPr lang="ko-KR" altLang="en-US" sz="1400" dirty="0">
                <a:latin typeface="+mn-ea"/>
              </a:rPr>
              <a:t>대법원 </a:t>
            </a:r>
            <a:r>
              <a:rPr lang="en-US" altLang="ko-KR" sz="1400" dirty="0">
                <a:latin typeface="+mn-ea"/>
              </a:rPr>
              <a:t>2007. 9. 6. </a:t>
            </a:r>
            <a:r>
              <a:rPr lang="ko-KR" altLang="en-US" sz="1400" dirty="0">
                <a:latin typeface="+mn-ea"/>
              </a:rPr>
              <a:t>선고 </a:t>
            </a:r>
            <a:r>
              <a:rPr lang="en-US" altLang="ko-KR" sz="1400" dirty="0">
                <a:latin typeface="+mn-ea"/>
              </a:rPr>
              <a:t>2005</a:t>
            </a:r>
            <a:r>
              <a:rPr lang="ko-KR" altLang="en-US" sz="1400" dirty="0">
                <a:latin typeface="+mn-ea"/>
              </a:rPr>
              <a:t>후</a:t>
            </a:r>
            <a:r>
              <a:rPr lang="en-US" altLang="ko-KR" sz="1400" dirty="0">
                <a:latin typeface="+mn-ea"/>
              </a:rPr>
              <a:t>3277; 2009. 7. 9. </a:t>
            </a:r>
            <a:r>
              <a:rPr lang="ko-KR" altLang="en-US" sz="1400" dirty="0">
                <a:latin typeface="+mn-ea"/>
              </a:rPr>
              <a:t>선고 </a:t>
            </a:r>
            <a:r>
              <a:rPr lang="en-US" altLang="ko-KR" sz="1400" dirty="0">
                <a:latin typeface="+mn-ea"/>
              </a:rPr>
              <a:t>2008</a:t>
            </a:r>
            <a:r>
              <a:rPr lang="ko-KR" altLang="en-US" sz="1400" dirty="0">
                <a:latin typeface="+mn-ea"/>
              </a:rPr>
              <a:t>후</a:t>
            </a:r>
            <a:r>
              <a:rPr lang="en-US" altLang="ko-KR" sz="1400" dirty="0">
                <a:latin typeface="+mn-ea"/>
              </a:rPr>
              <a:t>3377 </a:t>
            </a:r>
            <a:r>
              <a:rPr lang="ko-KR" altLang="en-US" sz="1400" dirty="0">
                <a:latin typeface="+mn-ea"/>
              </a:rPr>
              <a:t>참조</a:t>
            </a:r>
            <a:r>
              <a:rPr lang="en-US" altLang="ko-KR" sz="1400" dirty="0">
                <a:latin typeface="+mn-ea"/>
              </a:rPr>
              <a:t>). </a:t>
            </a:r>
          </a:p>
        </p:txBody>
      </p:sp>
      <p:cxnSp>
        <p:nvCxnSpPr>
          <p:cNvPr id="17" name="직선 연결선 16"/>
          <p:cNvCxnSpPr/>
          <p:nvPr/>
        </p:nvCxnSpPr>
        <p:spPr>
          <a:xfrm>
            <a:off x="0" y="383050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61936716"/>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5" name="텍스트 개체 틀 4"/>
          <p:cNvSpPr>
            <a:spLocks noGrp="1"/>
          </p:cNvSpPr>
          <p:nvPr>
            <p:ph type="body" sz="quarter" idx="13"/>
          </p:nvPr>
        </p:nvSpPr>
        <p:spPr/>
        <p:txBody>
          <a:bodyPr/>
          <a:lstStyle/>
          <a:p>
            <a:r>
              <a:rPr lang="ko-KR" altLang="en-US" dirty="0"/>
              <a:t>이용관계의 유형</a:t>
            </a:r>
            <a:r>
              <a:rPr lang="en-US" altLang="ko-KR" dirty="0"/>
              <a:t>: </a:t>
            </a:r>
            <a:r>
              <a:rPr lang="ko-KR" altLang="en-US" dirty="0" err="1"/>
              <a:t>그대로설</a:t>
            </a:r>
            <a:r>
              <a:rPr lang="en-US" altLang="ko-KR" dirty="0"/>
              <a:t>(</a:t>
            </a:r>
            <a:r>
              <a:rPr lang="ko-KR" altLang="en-US" dirty="0" err="1"/>
              <a:t>외적부가</a:t>
            </a:r>
            <a:r>
              <a:rPr lang="en-US" altLang="ko-KR" dirty="0"/>
              <a:t>)</a:t>
            </a:r>
            <a:r>
              <a:rPr lang="ko-KR" altLang="en-US" dirty="0"/>
              <a:t> </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354</a:t>
            </a:r>
            <a:endParaRPr lang="ko-KR" altLang="en-US"/>
          </a:p>
        </p:txBody>
      </p:sp>
      <p:sp>
        <p:nvSpPr>
          <p:cNvPr id="16" name="TextBox 15"/>
          <p:cNvSpPr txBox="1"/>
          <p:nvPr/>
        </p:nvSpPr>
        <p:spPr>
          <a:xfrm>
            <a:off x="251520" y="1260554"/>
            <a:ext cx="11578529" cy="5425995"/>
          </a:xfrm>
          <a:prstGeom prst="rect">
            <a:avLst/>
          </a:prstGeom>
          <a:noFill/>
          <a:ln>
            <a:solidFill>
              <a:schemeClr val="bg1">
                <a:lumMod val="50000"/>
              </a:schemeClr>
            </a:solidFill>
          </a:ln>
        </p:spPr>
        <p:txBody>
          <a:bodyPr wrap="square" rtlCol="0" anchor="ctr">
            <a:noAutofit/>
          </a:bodyPr>
          <a:lstStyle/>
          <a:p>
            <a:pPr fontAlgn="base"/>
            <a:r>
              <a:rPr lang="en-US" altLang="ko-KR" sz="1400" b="1" dirty="0">
                <a:latin typeface="+mn-ea"/>
              </a:rPr>
              <a:t>[1] </a:t>
            </a:r>
            <a:r>
              <a:rPr lang="ko-KR" altLang="en-US" sz="1400" b="1" dirty="0">
                <a:latin typeface="+mn-ea"/>
              </a:rPr>
              <a:t>선 등록고안과 후 고안 사이의 이용관계의 성립요건 및 등록고안의 균등고안을 이용하는 경우에도 이용관계가 성립하는지 여부</a:t>
            </a:r>
            <a:r>
              <a:rPr lang="en-US" altLang="ko-KR" sz="1400" b="1" dirty="0">
                <a:latin typeface="+mn-ea"/>
              </a:rPr>
              <a:t>(</a:t>
            </a:r>
            <a:r>
              <a:rPr lang="ko-KR" altLang="en-US" sz="1400" b="1" dirty="0">
                <a:latin typeface="+mn-ea"/>
              </a:rPr>
              <a:t>적극</a:t>
            </a:r>
            <a:r>
              <a:rPr lang="en-US" altLang="ko-KR" sz="1400" b="1" dirty="0">
                <a:latin typeface="+mn-ea"/>
              </a:rPr>
              <a:t>):</a:t>
            </a:r>
            <a:r>
              <a:rPr lang="ko-KR" altLang="en-US" sz="1400" b="1" dirty="0">
                <a:latin typeface="+mn-ea"/>
              </a:rPr>
              <a:t> </a:t>
            </a:r>
            <a:r>
              <a:rPr lang="ko-KR" altLang="en-US" sz="1400" dirty="0">
                <a:latin typeface="+mn-ea"/>
              </a:rPr>
              <a:t>선 등록고안과 후 고안이 이용관계에 있는 경우에는 후 고안은 선 등록고안의 권리범위에 속하게 되고</a:t>
            </a:r>
            <a:r>
              <a:rPr lang="en-US" altLang="ko-KR" sz="1400" dirty="0">
                <a:latin typeface="+mn-ea"/>
              </a:rPr>
              <a:t>, </a:t>
            </a:r>
            <a:r>
              <a:rPr lang="ko-KR" altLang="en-US" sz="1400" dirty="0">
                <a:latin typeface="+mn-ea"/>
              </a:rPr>
              <a:t>이러한 이용관계는 후 고안이 선 등록고안의 기술적 구성에 새로운 기술적 요소를 부가하는 것으로서 후 고안이 선 등록고안의 요지를 전부 포함하고 이를 그대로 이용하되</a:t>
            </a:r>
            <a:r>
              <a:rPr lang="en-US" altLang="ko-KR" sz="1400" dirty="0">
                <a:latin typeface="+mn-ea"/>
              </a:rPr>
              <a:t>, </a:t>
            </a:r>
            <a:r>
              <a:rPr lang="ko-KR" altLang="en-US" sz="1400" dirty="0">
                <a:latin typeface="+mn-ea"/>
              </a:rPr>
              <a:t>후 고안 내에 선 등록고안이 고안으로서의 일체성을 유지하는 경우에 성립하며</a:t>
            </a:r>
            <a:r>
              <a:rPr lang="en-US" altLang="ko-KR" sz="1400" dirty="0">
                <a:latin typeface="+mn-ea"/>
              </a:rPr>
              <a:t>, </a:t>
            </a:r>
            <a:r>
              <a:rPr lang="ko-KR" altLang="en-US" sz="1400" dirty="0">
                <a:latin typeface="+mn-ea"/>
              </a:rPr>
              <a:t>이는 선 등록고안과 동일한 고안뿐만 아니라 균등한 고안을 이용하는 경우도 마찬가지이다</a:t>
            </a:r>
            <a:r>
              <a:rPr lang="en-US" altLang="ko-KR" sz="1400" dirty="0">
                <a:latin typeface="+mn-ea"/>
              </a:rPr>
              <a:t>.</a:t>
            </a:r>
          </a:p>
          <a:p>
            <a:pPr fontAlgn="base"/>
            <a:endParaRPr lang="en-US" altLang="ko-KR" sz="1400" u="sng" dirty="0">
              <a:latin typeface="+mn-ea"/>
            </a:endParaRPr>
          </a:p>
          <a:p>
            <a:pPr fontAlgn="base"/>
            <a:r>
              <a:rPr lang="en-US" altLang="ko-KR" sz="1400" dirty="0"/>
              <a:t> </a:t>
            </a:r>
            <a:r>
              <a:rPr lang="en-US" altLang="ko-KR" sz="1400" dirty="0">
                <a:solidFill>
                  <a:srgbClr val="FF0000"/>
                </a:solidFill>
              </a:rPr>
              <a:t>▶</a:t>
            </a:r>
            <a:r>
              <a:rPr lang="en-US" altLang="ko-KR" sz="1400" dirty="0">
                <a:solidFill>
                  <a:srgbClr val="FF0000"/>
                </a:solidFill>
                <a:sym typeface="Wingdings" pitchFamily="2" charset="2"/>
              </a:rPr>
              <a:t> 1) </a:t>
            </a:r>
            <a:r>
              <a:rPr lang="ko-KR" altLang="en-US" sz="1400" dirty="0">
                <a:solidFill>
                  <a:srgbClr val="FF0000"/>
                </a:solidFill>
                <a:sym typeface="Wingdings" pitchFamily="2" charset="2"/>
              </a:rPr>
              <a:t>이용발명은 권리범위에 속한다는 점</a:t>
            </a:r>
            <a:r>
              <a:rPr lang="en-US" altLang="ko-KR" sz="1400" dirty="0">
                <a:solidFill>
                  <a:srgbClr val="FF0000"/>
                </a:solidFill>
                <a:sym typeface="Wingdings" pitchFamily="2" charset="2"/>
              </a:rPr>
              <a:t>, 2) </a:t>
            </a:r>
            <a:r>
              <a:rPr lang="ko-KR" altLang="en-US" sz="1400" dirty="0" err="1">
                <a:solidFill>
                  <a:srgbClr val="FF0000"/>
                </a:solidFill>
                <a:sym typeface="Wingdings" pitchFamily="2" charset="2"/>
              </a:rPr>
              <a:t>그대로설을</a:t>
            </a:r>
            <a:r>
              <a:rPr lang="ko-KR" altLang="en-US" sz="1400" dirty="0">
                <a:solidFill>
                  <a:srgbClr val="FF0000"/>
                </a:solidFill>
                <a:sym typeface="Wingdings" pitchFamily="2" charset="2"/>
              </a:rPr>
              <a:t> 지지한다는 점</a:t>
            </a:r>
            <a:r>
              <a:rPr lang="en-US" altLang="ko-KR" sz="1400" dirty="0">
                <a:solidFill>
                  <a:srgbClr val="FF0000"/>
                </a:solidFill>
                <a:sym typeface="Wingdings" pitchFamily="2" charset="2"/>
              </a:rPr>
              <a:t>, 3) </a:t>
            </a:r>
            <a:r>
              <a:rPr lang="ko-KR" altLang="en-US" sz="1400" dirty="0">
                <a:solidFill>
                  <a:srgbClr val="FF0000"/>
                </a:solidFill>
                <a:sym typeface="Wingdings" pitchFamily="2" charset="2"/>
              </a:rPr>
              <a:t>일체성이 유지되어야 한다는 점</a:t>
            </a:r>
            <a:r>
              <a:rPr lang="en-US" altLang="ko-KR" sz="1400" dirty="0">
                <a:solidFill>
                  <a:srgbClr val="FF0000"/>
                </a:solidFill>
                <a:sym typeface="Wingdings" pitchFamily="2" charset="2"/>
              </a:rPr>
              <a:t>, 4) </a:t>
            </a:r>
            <a:r>
              <a:rPr lang="ko-KR" altLang="en-US" sz="1400" dirty="0" err="1">
                <a:solidFill>
                  <a:srgbClr val="FF0000"/>
                </a:solidFill>
                <a:sym typeface="Wingdings" pitchFamily="2" charset="2"/>
              </a:rPr>
              <a:t>균등물을</a:t>
            </a:r>
            <a:r>
              <a:rPr lang="ko-KR" altLang="en-US" sz="1400" dirty="0">
                <a:solidFill>
                  <a:srgbClr val="FF0000"/>
                </a:solidFill>
                <a:sym typeface="Wingdings" pitchFamily="2" charset="2"/>
              </a:rPr>
              <a:t> 이용하는 경우에도 이용관계를 긍정한다는 점을 판시하고 있다</a:t>
            </a:r>
            <a:r>
              <a:rPr lang="en-US" altLang="ko-KR" sz="1400" dirty="0">
                <a:solidFill>
                  <a:srgbClr val="FF0000"/>
                </a:solidFill>
                <a:sym typeface="Wingdings" pitchFamily="2" charset="2"/>
              </a:rPr>
              <a:t>.</a:t>
            </a:r>
            <a:endParaRPr lang="ko-KR" altLang="en-US" sz="1400" dirty="0">
              <a:solidFill>
                <a:srgbClr val="FF0000"/>
              </a:solidFill>
              <a:sym typeface="Wingdings" pitchFamily="2" charset="2"/>
            </a:endParaRPr>
          </a:p>
          <a:p>
            <a:pPr fontAlgn="base"/>
            <a:endParaRPr lang="en-US" altLang="ko-KR" sz="1400" u="sng" dirty="0">
              <a:latin typeface="+mn-ea"/>
            </a:endParaRPr>
          </a:p>
          <a:p>
            <a:pPr fontAlgn="base"/>
            <a:r>
              <a:rPr lang="en-US" altLang="ko-KR" sz="1400" b="1" dirty="0">
                <a:latin typeface="+mn-ea"/>
              </a:rPr>
              <a:t>[2] </a:t>
            </a:r>
            <a:r>
              <a:rPr lang="ko-KR" altLang="en-US" sz="1400" b="1" dirty="0">
                <a:latin typeface="+mn-ea"/>
              </a:rPr>
              <a:t>화학물질 제조방법의 발명에서 촉매의 부가로 인하여 그 </a:t>
            </a:r>
            <a:r>
              <a:rPr lang="ko-KR" altLang="en-US" sz="1400" b="1" dirty="0" err="1">
                <a:latin typeface="+mn-ea"/>
              </a:rPr>
              <a:t>수율에</a:t>
            </a:r>
            <a:r>
              <a:rPr lang="ko-KR" altLang="en-US" sz="1400" b="1" dirty="0">
                <a:latin typeface="+mn-ea"/>
              </a:rPr>
              <a:t> 현저한 상승이 있는 경우에도 이용발명에 해당하는지 여부</a:t>
            </a:r>
            <a:r>
              <a:rPr lang="en-US" altLang="ko-KR" sz="1400" b="1" dirty="0">
                <a:latin typeface="+mn-ea"/>
              </a:rPr>
              <a:t>(</a:t>
            </a:r>
            <a:r>
              <a:rPr lang="ko-KR" altLang="en-US" sz="1400" b="1" dirty="0">
                <a:latin typeface="+mn-ea"/>
              </a:rPr>
              <a:t>적극</a:t>
            </a:r>
            <a:r>
              <a:rPr lang="en-US" altLang="ko-KR" sz="1400" b="1" dirty="0">
                <a:latin typeface="+mn-ea"/>
              </a:rPr>
              <a:t>):</a:t>
            </a:r>
            <a:r>
              <a:rPr lang="ko-KR" altLang="en-US" sz="1400" dirty="0">
                <a:latin typeface="+mn-ea"/>
              </a:rPr>
              <a:t> 화학반응에서 촉매라 함은 반응에 관여하여 반응속도 내지 수율 등에 영향을 줄 뿐 반응 후에는 그대로 남아 있고 목적물질의 화학적 구조에는 기여를 하지 아니하는 것임을 고려하면</a:t>
            </a:r>
            <a:r>
              <a:rPr lang="en-US" altLang="ko-KR" sz="1400" dirty="0">
                <a:latin typeface="+mn-ea"/>
              </a:rPr>
              <a:t>, </a:t>
            </a:r>
            <a:r>
              <a:rPr lang="ko-KR" altLang="en-US" sz="1400" dirty="0">
                <a:latin typeface="+mn-ea"/>
              </a:rPr>
              <a:t>화학물질 제조방법의 발명에서 촉매를 부가함에 의하여 그 제조방법 발명의 기술적 구성의 일체성</a:t>
            </a:r>
            <a:r>
              <a:rPr lang="en-US" altLang="ko-KR" sz="1400" dirty="0">
                <a:latin typeface="+mn-ea"/>
              </a:rPr>
              <a:t>, </a:t>
            </a:r>
            <a:r>
              <a:rPr lang="ko-KR" altLang="en-US" sz="1400" dirty="0">
                <a:latin typeface="+mn-ea"/>
              </a:rPr>
              <a:t>즉 출발물질에 반응물질을 가하여 특정한 목적물질을 생성하는 일련의 유기적 결합관계의 일체성이 상실된다고 볼 수는 없으므로</a:t>
            </a:r>
            <a:r>
              <a:rPr lang="en-US" altLang="ko-KR" sz="1400" dirty="0">
                <a:latin typeface="+mn-ea"/>
              </a:rPr>
              <a:t>, </a:t>
            </a:r>
            <a:r>
              <a:rPr lang="ko-KR" altLang="en-US" sz="1400" dirty="0">
                <a:latin typeface="+mn-ea"/>
              </a:rPr>
              <a:t>촉매의 부가로 인하여 그 </a:t>
            </a:r>
            <a:r>
              <a:rPr lang="ko-KR" altLang="en-US" sz="1400" dirty="0" err="1">
                <a:latin typeface="+mn-ea"/>
              </a:rPr>
              <a:t>수율에</a:t>
            </a:r>
            <a:r>
              <a:rPr lang="ko-KR" altLang="en-US" sz="1400" dirty="0">
                <a:latin typeface="+mn-ea"/>
              </a:rPr>
              <a:t> 현저한 상승을 가져오는 경우라 하더라도</a:t>
            </a:r>
            <a:r>
              <a:rPr lang="en-US" altLang="ko-KR" sz="1400" dirty="0">
                <a:latin typeface="+mn-ea"/>
              </a:rPr>
              <a:t>, </a:t>
            </a:r>
            <a:r>
              <a:rPr lang="ko-KR" altLang="en-US" sz="1400" dirty="0">
                <a:latin typeface="+mn-ea"/>
              </a:rPr>
              <a:t>달리 특별한 사정이 없는 한 선행 특허발명의 기술적 요지를 그대로 포함하는 이용발명에 해당한다고 봄이 상당하다</a:t>
            </a:r>
            <a:r>
              <a:rPr lang="en-US" altLang="ko-KR" sz="1400" dirty="0">
                <a:latin typeface="+mn-ea"/>
              </a:rPr>
              <a:t>.</a:t>
            </a:r>
            <a:endParaRPr lang="ko-KR" altLang="en-US" sz="1400" dirty="0">
              <a:latin typeface="+mn-ea"/>
            </a:endParaRPr>
          </a:p>
          <a:p>
            <a:pPr fontAlgn="base"/>
            <a:endParaRPr lang="en-US" altLang="ko-KR" sz="1400" dirty="0">
              <a:latin typeface="+mn-ea"/>
            </a:endParaRPr>
          </a:p>
          <a:p>
            <a:pPr fontAlgn="base"/>
            <a:r>
              <a:rPr lang="en-US" altLang="ko-KR" sz="1400" dirty="0">
                <a:solidFill>
                  <a:schemeClr val="accent4">
                    <a:lumMod val="50000"/>
                  </a:schemeClr>
                </a:solidFill>
                <a:latin typeface="Rix모던고딕 L" panose="02020603020101020101" pitchFamily="18" charset="-127"/>
                <a:ea typeface="Rix모던고딕 L" panose="02020603020101020101" pitchFamily="18" charset="-127"/>
              </a:rPr>
              <a:t>▶ </a:t>
            </a:r>
            <a:r>
              <a:rPr lang="ko-KR" altLang="en-US" sz="1400" dirty="0">
                <a:solidFill>
                  <a:schemeClr val="accent4">
                    <a:lumMod val="50000"/>
                  </a:schemeClr>
                </a:solidFill>
                <a:latin typeface="+mn-ea"/>
              </a:rPr>
              <a:t>종래의 대법원 </a:t>
            </a:r>
            <a:r>
              <a:rPr lang="en-US" altLang="ko-KR" sz="1400" dirty="0">
                <a:solidFill>
                  <a:schemeClr val="accent4">
                    <a:lumMod val="50000"/>
                  </a:schemeClr>
                </a:solidFill>
                <a:latin typeface="+mn-ea"/>
              </a:rPr>
              <a:t>1995. 12. 5. </a:t>
            </a:r>
            <a:r>
              <a:rPr lang="ko-KR" altLang="en-US" sz="1400" dirty="0">
                <a:solidFill>
                  <a:schemeClr val="accent4">
                    <a:lumMod val="50000"/>
                  </a:schemeClr>
                </a:solidFill>
                <a:latin typeface="+mn-ea"/>
              </a:rPr>
              <a:t>선고 </a:t>
            </a:r>
            <a:r>
              <a:rPr lang="en-US" altLang="ko-KR" sz="1400" dirty="0">
                <a:solidFill>
                  <a:schemeClr val="accent4">
                    <a:lumMod val="50000"/>
                  </a:schemeClr>
                </a:solidFill>
                <a:latin typeface="+mn-ea"/>
              </a:rPr>
              <a:t>92</a:t>
            </a:r>
            <a:r>
              <a:rPr lang="ko-KR" altLang="en-US" sz="1400" dirty="0">
                <a:solidFill>
                  <a:schemeClr val="accent4">
                    <a:lumMod val="50000"/>
                  </a:schemeClr>
                </a:solidFill>
                <a:latin typeface="+mn-ea"/>
              </a:rPr>
              <a:t>후</a:t>
            </a:r>
            <a:r>
              <a:rPr lang="en-US" altLang="ko-KR" sz="1400" dirty="0">
                <a:solidFill>
                  <a:schemeClr val="accent4">
                    <a:lumMod val="50000"/>
                  </a:schemeClr>
                </a:solidFill>
                <a:latin typeface="+mn-ea"/>
              </a:rPr>
              <a:t>1660 </a:t>
            </a:r>
            <a:r>
              <a:rPr lang="ko-KR" altLang="en-US" sz="1400" dirty="0">
                <a:solidFill>
                  <a:schemeClr val="accent4">
                    <a:lumMod val="50000"/>
                  </a:schemeClr>
                </a:solidFill>
                <a:latin typeface="+mn-ea"/>
              </a:rPr>
              <a:t>판결에서는 “선행발명과 </a:t>
            </a:r>
            <a:r>
              <a:rPr lang="ko-KR" altLang="en-US" sz="1400" dirty="0" err="1">
                <a:solidFill>
                  <a:schemeClr val="accent4">
                    <a:lumMod val="50000"/>
                  </a:schemeClr>
                </a:solidFill>
                <a:latin typeface="+mn-ea"/>
              </a:rPr>
              <a:t>후발명이</a:t>
            </a:r>
            <a:r>
              <a:rPr lang="ko-KR" altLang="en-US" sz="1400" dirty="0">
                <a:solidFill>
                  <a:schemeClr val="accent4">
                    <a:lumMod val="50000"/>
                  </a:schemeClr>
                </a:solidFill>
                <a:latin typeface="+mn-ea"/>
              </a:rPr>
              <a:t> 이용관계에 있다고 인정되는 경우에는 </a:t>
            </a:r>
            <a:r>
              <a:rPr lang="ko-KR" altLang="en-US" sz="1400" dirty="0" err="1">
                <a:solidFill>
                  <a:schemeClr val="accent4">
                    <a:lumMod val="50000"/>
                  </a:schemeClr>
                </a:solidFill>
                <a:latin typeface="+mn-ea"/>
              </a:rPr>
              <a:t>후발명은</a:t>
            </a:r>
            <a:r>
              <a:rPr lang="ko-KR" altLang="en-US" sz="1400" dirty="0">
                <a:solidFill>
                  <a:schemeClr val="accent4">
                    <a:lumMod val="50000"/>
                  </a:schemeClr>
                </a:solidFill>
                <a:latin typeface="+mn-ea"/>
              </a:rPr>
              <a:t> 선행발명특허의 권리범위에 속하게 되는 것이라 할 것인데 이러한 이용관계는 기계</a:t>
            </a:r>
            <a:r>
              <a:rPr lang="en-US" altLang="ko-KR" sz="1400" dirty="0">
                <a:solidFill>
                  <a:schemeClr val="accent4">
                    <a:lumMod val="50000"/>
                  </a:schemeClr>
                </a:solidFill>
                <a:latin typeface="+mn-ea"/>
              </a:rPr>
              <a:t>, </a:t>
            </a:r>
            <a:r>
              <a:rPr lang="ko-KR" altLang="en-US" sz="1400" dirty="0">
                <a:solidFill>
                  <a:schemeClr val="accent4">
                    <a:lumMod val="50000"/>
                  </a:schemeClr>
                </a:solidFill>
                <a:latin typeface="+mn-ea"/>
              </a:rPr>
              <a:t>장치 등에 관한 발명의 경우에 있어서는 </a:t>
            </a:r>
            <a:r>
              <a:rPr lang="ko-KR" altLang="en-US" sz="1400" dirty="0" err="1">
                <a:solidFill>
                  <a:schemeClr val="accent4">
                    <a:lumMod val="50000"/>
                  </a:schemeClr>
                </a:solidFill>
                <a:latin typeface="+mn-ea"/>
              </a:rPr>
              <a:t>후발명이</a:t>
            </a:r>
            <a:r>
              <a:rPr lang="ko-KR" altLang="en-US" sz="1400" dirty="0">
                <a:solidFill>
                  <a:schemeClr val="accent4">
                    <a:lumMod val="50000"/>
                  </a:schemeClr>
                </a:solidFill>
                <a:latin typeface="+mn-ea"/>
              </a:rPr>
              <a:t> 선행발명의 특허요지에 새로운 기술적 요소를 가하는 것으로서 </a:t>
            </a:r>
            <a:r>
              <a:rPr lang="ko-KR" altLang="en-US" sz="1400" dirty="0" err="1">
                <a:solidFill>
                  <a:schemeClr val="accent4">
                    <a:lumMod val="50000"/>
                  </a:schemeClr>
                </a:solidFill>
                <a:latin typeface="+mn-ea"/>
              </a:rPr>
              <a:t>후발명이</a:t>
            </a:r>
            <a:r>
              <a:rPr lang="ko-KR" altLang="en-US" sz="1400" dirty="0">
                <a:solidFill>
                  <a:schemeClr val="accent4">
                    <a:lumMod val="50000"/>
                  </a:schemeClr>
                </a:solidFill>
                <a:latin typeface="+mn-ea"/>
              </a:rPr>
              <a:t> 선행발명의 요지를 전부 포함하고 이를 그대로 이용하게 되면 성립된다 할 것이나</a:t>
            </a:r>
            <a:r>
              <a:rPr lang="en-US" altLang="ko-KR" sz="1400" dirty="0">
                <a:solidFill>
                  <a:schemeClr val="accent4">
                    <a:lumMod val="50000"/>
                  </a:schemeClr>
                </a:solidFill>
                <a:latin typeface="+mn-ea"/>
              </a:rPr>
              <a:t>, </a:t>
            </a:r>
            <a:r>
              <a:rPr lang="ko-KR" altLang="en-US" sz="1400" dirty="0">
                <a:solidFill>
                  <a:schemeClr val="accent4">
                    <a:lumMod val="50000"/>
                  </a:schemeClr>
                </a:solidFill>
                <a:latin typeface="+mn-ea"/>
              </a:rPr>
              <a:t>방법의 발명</a:t>
            </a:r>
            <a:r>
              <a:rPr lang="en-US" altLang="ko-KR" sz="1400" dirty="0">
                <a:solidFill>
                  <a:schemeClr val="accent4">
                    <a:lumMod val="50000"/>
                  </a:schemeClr>
                </a:solidFill>
                <a:latin typeface="+mn-ea"/>
              </a:rPr>
              <a:t>, </a:t>
            </a:r>
            <a:r>
              <a:rPr lang="ko-KR" altLang="en-US" sz="1400" dirty="0">
                <a:solidFill>
                  <a:schemeClr val="accent4">
                    <a:lumMod val="50000"/>
                  </a:schemeClr>
                </a:solidFill>
                <a:latin typeface="+mn-ea"/>
              </a:rPr>
              <a:t>특히 화학물질의 제법에 관한 발명에 있어서는 기계</a:t>
            </a:r>
            <a:r>
              <a:rPr lang="en-US" altLang="ko-KR" sz="1400" dirty="0">
                <a:solidFill>
                  <a:schemeClr val="accent4">
                    <a:lumMod val="50000"/>
                  </a:schemeClr>
                </a:solidFill>
                <a:latin typeface="+mn-ea"/>
              </a:rPr>
              <a:t>, </a:t>
            </a:r>
            <a:r>
              <a:rPr lang="ko-KR" altLang="en-US" sz="1400" dirty="0">
                <a:solidFill>
                  <a:schemeClr val="accent4">
                    <a:lumMod val="50000"/>
                  </a:schemeClr>
                </a:solidFill>
                <a:latin typeface="+mn-ea"/>
              </a:rPr>
              <a:t>장치 등의 발명과 달라서 중간물질이나 촉매 등 어느 물질의 부가가 상호의 반응을 주목적으로 하는 경우가 많아 과정의 일시점을 잡아 선행방법에서 사용하는 물질이 상호반응 후에도 그대로의 형태로 존재하는 것을 증명하기가 극히 곤란하여 기계</a:t>
            </a:r>
            <a:r>
              <a:rPr lang="en-US" altLang="ko-KR" sz="1400" dirty="0">
                <a:solidFill>
                  <a:schemeClr val="accent4">
                    <a:lumMod val="50000"/>
                  </a:schemeClr>
                </a:solidFill>
                <a:latin typeface="+mn-ea"/>
              </a:rPr>
              <a:t>, </a:t>
            </a:r>
            <a:r>
              <a:rPr lang="ko-KR" altLang="en-US" sz="1400" dirty="0" err="1">
                <a:solidFill>
                  <a:schemeClr val="accent4">
                    <a:lumMod val="50000"/>
                  </a:schemeClr>
                </a:solidFill>
                <a:latin typeface="+mn-ea"/>
              </a:rPr>
              <a:t>장치등에</a:t>
            </a:r>
            <a:r>
              <a:rPr lang="ko-KR" altLang="en-US" sz="1400" dirty="0">
                <a:solidFill>
                  <a:schemeClr val="accent4">
                    <a:lumMod val="50000"/>
                  </a:schemeClr>
                </a:solidFill>
                <a:latin typeface="+mn-ea"/>
              </a:rPr>
              <a:t> 관한 발명에 적용될 위 법리를 </a:t>
            </a:r>
            <a:r>
              <a:rPr lang="ko-KR" altLang="en-US" sz="1400" dirty="0" err="1">
                <a:solidFill>
                  <a:schemeClr val="accent4">
                    <a:lumMod val="50000"/>
                  </a:schemeClr>
                </a:solidFill>
                <a:latin typeface="+mn-ea"/>
              </a:rPr>
              <a:t>제법발명에</a:t>
            </a:r>
            <a:r>
              <a:rPr lang="ko-KR" altLang="en-US" sz="1400" dirty="0">
                <a:solidFill>
                  <a:schemeClr val="accent4">
                    <a:lumMod val="50000"/>
                  </a:schemeClr>
                </a:solidFill>
                <a:latin typeface="+mn-ea"/>
              </a:rPr>
              <a:t> 적용할 수는 없다 할 것이고</a:t>
            </a:r>
            <a:r>
              <a:rPr lang="en-US" altLang="ko-KR" sz="1400" dirty="0">
                <a:solidFill>
                  <a:schemeClr val="accent4">
                    <a:lumMod val="50000"/>
                  </a:schemeClr>
                </a:solidFill>
                <a:latin typeface="+mn-ea"/>
              </a:rPr>
              <a:t>, </a:t>
            </a:r>
            <a:r>
              <a:rPr lang="ko-KR" altLang="en-US" sz="1400" dirty="0">
                <a:solidFill>
                  <a:schemeClr val="accent4">
                    <a:lumMod val="50000"/>
                  </a:schemeClr>
                </a:solidFill>
                <a:latin typeface="+mn-ea"/>
              </a:rPr>
              <a:t>특히 화학물질의 제조과정</a:t>
            </a:r>
            <a:r>
              <a:rPr lang="en-US" altLang="ko-KR" sz="1400" dirty="0">
                <a:solidFill>
                  <a:schemeClr val="accent4">
                    <a:lumMod val="50000"/>
                  </a:schemeClr>
                </a:solidFill>
                <a:latin typeface="+mn-ea"/>
              </a:rPr>
              <a:t>(</a:t>
            </a:r>
            <a:r>
              <a:rPr lang="ko-KR" altLang="en-US" sz="1400" dirty="0">
                <a:solidFill>
                  <a:schemeClr val="accent4">
                    <a:lumMod val="50000"/>
                  </a:schemeClr>
                </a:solidFill>
                <a:latin typeface="+mn-ea"/>
              </a:rPr>
              <a:t>수단</a:t>
            </a:r>
            <a:r>
              <a:rPr lang="en-US" altLang="ko-KR" sz="1400" dirty="0">
                <a:solidFill>
                  <a:schemeClr val="accent4">
                    <a:lumMod val="50000"/>
                  </a:schemeClr>
                </a:solidFill>
                <a:latin typeface="+mn-ea"/>
              </a:rPr>
              <a:t>)</a:t>
            </a:r>
            <a:r>
              <a:rPr lang="ko-KR" altLang="en-US" sz="1400" dirty="0">
                <a:solidFill>
                  <a:schemeClr val="accent4">
                    <a:lumMod val="50000"/>
                  </a:schemeClr>
                </a:solidFill>
                <a:latin typeface="+mn-ea"/>
              </a:rPr>
              <a:t>에 있어서 촉매를 사용하는 것과 사용하지 않는 것은 그 기술사상을 현저히 달리 하는 것이므로</a:t>
            </a:r>
            <a:r>
              <a:rPr lang="en-US" altLang="ko-KR" sz="1400" dirty="0">
                <a:solidFill>
                  <a:schemeClr val="accent4">
                    <a:lumMod val="50000"/>
                  </a:schemeClr>
                </a:solidFill>
                <a:latin typeface="+mn-ea"/>
              </a:rPr>
              <a:t>, </a:t>
            </a:r>
            <a:r>
              <a:rPr lang="ko-KR" altLang="en-US" sz="1400" dirty="0">
                <a:solidFill>
                  <a:schemeClr val="accent4">
                    <a:lumMod val="50000"/>
                  </a:schemeClr>
                </a:solidFill>
                <a:latin typeface="+mn-ea"/>
              </a:rPr>
              <a:t>촉매사용에 대한 언급이 없는 특허제조방법과 촉매를 사용하여 행하는 제조방법은 비록 출발물질과 반응물질</a:t>
            </a:r>
            <a:r>
              <a:rPr lang="en-US" altLang="ko-KR" sz="1400" dirty="0">
                <a:solidFill>
                  <a:schemeClr val="accent4">
                    <a:lumMod val="50000"/>
                  </a:schemeClr>
                </a:solidFill>
                <a:latin typeface="+mn-ea"/>
              </a:rPr>
              <a:t>, </a:t>
            </a:r>
            <a:r>
              <a:rPr lang="ko-KR" altLang="en-US" sz="1400" dirty="0">
                <a:solidFill>
                  <a:schemeClr val="accent4">
                    <a:lumMod val="50000"/>
                  </a:schemeClr>
                </a:solidFill>
                <a:latin typeface="+mn-ea"/>
              </a:rPr>
              <a:t>생성물질이 같다고 하더라도 후자의 촉매사용이 작용효과상의 우월성을 얻기 위한 것이 아니라 무가치한 공정을 부가한 것에 지나지 않는다고 인정되는 경우를 제외하고는 </a:t>
            </a:r>
            <a:r>
              <a:rPr lang="ko-KR" altLang="en-US" sz="1400" dirty="0" err="1">
                <a:solidFill>
                  <a:schemeClr val="accent4">
                    <a:lumMod val="50000"/>
                  </a:schemeClr>
                </a:solidFill>
                <a:latin typeface="+mn-ea"/>
              </a:rPr>
              <a:t>후발명이</a:t>
            </a:r>
            <a:r>
              <a:rPr lang="ko-KR" altLang="en-US" sz="1400" dirty="0">
                <a:solidFill>
                  <a:schemeClr val="accent4">
                    <a:lumMod val="50000"/>
                  </a:schemeClr>
                </a:solidFill>
                <a:latin typeface="+mn-ea"/>
              </a:rPr>
              <a:t> 선행발명을 이용하고 있다고 볼 수 없고</a:t>
            </a:r>
            <a:r>
              <a:rPr lang="en-US" altLang="ko-KR" sz="1400" dirty="0">
                <a:solidFill>
                  <a:schemeClr val="accent4">
                    <a:lumMod val="50000"/>
                  </a:schemeClr>
                </a:solidFill>
                <a:latin typeface="+mn-ea"/>
              </a:rPr>
              <a:t>, </a:t>
            </a:r>
            <a:r>
              <a:rPr lang="ko-KR" altLang="en-US" sz="1400" dirty="0">
                <a:solidFill>
                  <a:schemeClr val="accent4">
                    <a:lumMod val="50000"/>
                  </a:schemeClr>
                </a:solidFill>
                <a:latin typeface="+mn-ea"/>
              </a:rPr>
              <a:t>따라서 </a:t>
            </a:r>
            <a:r>
              <a:rPr lang="ko-KR" altLang="en-US" sz="1400" u="sng" dirty="0" err="1">
                <a:solidFill>
                  <a:schemeClr val="accent4">
                    <a:lumMod val="50000"/>
                  </a:schemeClr>
                </a:solidFill>
                <a:latin typeface="+mn-ea"/>
              </a:rPr>
              <a:t>후발명은</a:t>
            </a:r>
            <a:r>
              <a:rPr lang="ko-KR" altLang="en-US" sz="1400" u="sng" dirty="0">
                <a:solidFill>
                  <a:schemeClr val="accent4">
                    <a:lumMod val="50000"/>
                  </a:schemeClr>
                </a:solidFill>
                <a:latin typeface="+mn-ea"/>
              </a:rPr>
              <a:t> 선행발명의 권리범위의 영역 밖에 있는 것이다</a:t>
            </a:r>
            <a:r>
              <a:rPr lang="en-US" altLang="ko-KR" sz="1400" u="sng" dirty="0">
                <a:solidFill>
                  <a:schemeClr val="accent4">
                    <a:lumMod val="50000"/>
                  </a:schemeClr>
                </a:solidFill>
                <a:latin typeface="+mn-ea"/>
              </a:rPr>
              <a:t>.</a:t>
            </a:r>
            <a:r>
              <a:rPr lang="ko-KR" altLang="en-US" sz="1400" u="sng" dirty="0">
                <a:solidFill>
                  <a:schemeClr val="accent4">
                    <a:lumMod val="50000"/>
                  </a:schemeClr>
                </a:solidFill>
                <a:latin typeface="+mn-ea"/>
              </a:rPr>
              <a:t>”고 하여 촉매의 부가로 인해 작용효과상의 우월성이 있다면 </a:t>
            </a:r>
            <a:r>
              <a:rPr lang="ko-KR" altLang="en-US" sz="1400" u="sng" dirty="0" err="1">
                <a:solidFill>
                  <a:schemeClr val="accent4">
                    <a:lumMod val="50000"/>
                  </a:schemeClr>
                </a:solidFill>
                <a:latin typeface="+mn-ea"/>
              </a:rPr>
              <a:t>후출원</a:t>
            </a:r>
            <a:r>
              <a:rPr lang="ko-KR" altLang="en-US" sz="1400" u="sng" dirty="0">
                <a:solidFill>
                  <a:schemeClr val="accent4">
                    <a:lumMod val="50000"/>
                  </a:schemeClr>
                </a:solidFill>
                <a:latin typeface="+mn-ea"/>
              </a:rPr>
              <a:t> 특허발명이 선행발명을 이용하지 않는다고 판시하였다</a:t>
            </a:r>
            <a:r>
              <a:rPr lang="en-US" altLang="ko-KR" sz="1400" u="sng" dirty="0">
                <a:solidFill>
                  <a:schemeClr val="accent4">
                    <a:lumMod val="50000"/>
                  </a:schemeClr>
                </a:solidFill>
                <a:latin typeface="+mn-ea"/>
              </a:rPr>
              <a:t>. </a:t>
            </a:r>
            <a:r>
              <a:rPr lang="ko-KR" altLang="en-US" sz="1400" u="sng" dirty="0">
                <a:solidFill>
                  <a:schemeClr val="accent4">
                    <a:lumMod val="50000"/>
                  </a:schemeClr>
                </a:solidFill>
                <a:latin typeface="+mn-ea"/>
              </a:rPr>
              <a:t>그러나 이는 특허요건의 판단과 침해여부판단을 혼동하는 것으로서 현저한 효과로 인해 진보성</a:t>
            </a:r>
            <a:r>
              <a:rPr lang="en-US" altLang="ko-KR" sz="1400" u="sng" dirty="0">
                <a:solidFill>
                  <a:schemeClr val="accent4">
                    <a:lumMod val="50000"/>
                  </a:schemeClr>
                </a:solidFill>
                <a:latin typeface="+mn-ea"/>
              </a:rPr>
              <a:t>(</a:t>
            </a:r>
            <a:r>
              <a:rPr lang="ko-KR" altLang="en-US" sz="1400" u="sng" dirty="0">
                <a:solidFill>
                  <a:schemeClr val="accent4">
                    <a:lumMod val="50000"/>
                  </a:schemeClr>
                </a:solidFill>
                <a:latin typeface="+mn-ea"/>
              </a:rPr>
              <a:t>法 </a:t>
            </a:r>
            <a:r>
              <a:rPr lang="en-US" altLang="ko-KR" sz="1400" u="sng" dirty="0">
                <a:solidFill>
                  <a:schemeClr val="accent4">
                    <a:lumMod val="50000"/>
                  </a:schemeClr>
                </a:solidFill>
                <a:latin typeface="+mn-ea"/>
              </a:rPr>
              <a:t>29</a:t>
            </a:r>
            <a:r>
              <a:rPr lang="ko-KR" altLang="en-US" sz="1400" u="sng" dirty="0">
                <a:solidFill>
                  <a:schemeClr val="accent4">
                    <a:lumMod val="50000"/>
                  </a:schemeClr>
                </a:solidFill>
                <a:latin typeface="+mn-ea"/>
              </a:rPr>
              <a:t>②</a:t>
            </a:r>
            <a:r>
              <a:rPr lang="en-US" altLang="ko-KR" sz="1400" u="sng" dirty="0">
                <a:solidFill>
                  <a:schemeClr val="accent4">
                    <a:lumMod val="50000"/>
                  </a:schemeClr>
                </a:solidFill>
                <a:latin typeface="+mn-ea"/>
              </a:rPr>
              <a:t>)</a:t>
            </a:r>
            <a:r>
              <a:rPr lang="ko-KR" altLang="en-US" sz="1400" u="sng" dirty="0">
                <a:solidFill>
                  <a:schemeClr val="accent4">
                    <a:lumMod val="50000"/>
                  </a:schemeClr>
                </a:solidFill>
                <a:latin typeface="+mn-ea"/>
              </a:rPr>
              <a:t>에 위반되지 않아 등록되더라도 일체성을 상실하지 않았다면 침해</a:t>
            </a:r>
            <a:r>
              <a:rPr lang="en-US" altLang="ko-KR" sz="1400" u="sng" dirty="0">
                <a:solidFill>
                  <a:schemeClr val="accent4">
                    <a:lumMod val="50000"/>
                  </a:schemeClr>
                </a:solidFill>
                <a:latin typeface="+mn-ea"/>
              </a:rPr>
              <a:t>, </a:t>
            </a:r>
            <a:r>
              <a:rPr lang="ko-KR" altLang="en-US" sz="1400" u="sng" dirty="0">
                <a:solidFill>
                  <a:schemeClr val="accent4">
                    <a:lumMod val="50000"/>
                  </a:schemeClr>
                </a:solidFill>
                <a:latin typeface="+mn-ea"/>
              </a:rPr>
              <a:t>즉 이용발명으로 봄이 타당하고</a:t>
            </a:r>
            <a:r>
              <a:rPr lang="en-US" altLang="ko-KR" sz="1400" u="sng" dirty="0">
                <a:solidFill>
                  <a:schemeClr val="accent4">
                    <a:lumMod val="50000"/>
                  </a:schemeClr>
                </a:solidFill>
                <a:latin typeface="+mn-ea"/>
              </a:rPr>
              <a:t>, </a:t>
            </a:r>
            <a:r>
              <a:rPr lang="ko-KR" altLang="en-US" sz="1400" u="sng" dirty="0">
                <a:solidFill>
                  <a:schemeClr val="accent4">
                    <a:lumMod val="50000"/>
                  </a:schemeClr>
                </a:solidFill>
                <a:latin typeface="+mn-ea"/>
              </a:rPr>
              <a:t>본 판결에서는 이를 바로 잡고 있다</a:t>
            </a:r>
            <a:r>
              <a:rPr lang="en-US" altLang="ko-KR" sz="1400" u="sng" dirty="0">
                <a:solidFill>
                  <a:schemeClr val="accent4">
                    <a:lumMod val="50000"/>
                  </a:schemeClr>
                </a:solidFill>
                <a:latin typeface="+mn-ea"/>
              </a:rPr>
              <a:t>.</a:t>
            </a:r>
            <a:endParaRPr lang="ko-KR" altLang="en-US" sz="1400" u="sng" dirty="0">
              <a:solidFill>
                <a:schemeClr val="accent4">
                  <a:lumMod val="50000"/>
                </a:schemeClr>
              </a:solidFill>
              <a:latin typeface="+mn-ea"/>
            </a:endParaRPr>
          </a:p>
        </p:txBody>
      </p:sp>
      <p:sp>
        <p:nvSpPr>
          <p:cNvPr id="3" name="직사각형 2"/>
          <p:cNvSpPr/>
          <p:nvPr/>
        </p:nvSpPr>
        <p:spPr>
          <a:xfrm>
            <a:off x="251520" y="955754"/>
            <a:ext cx="3663255" cy="307777"/>
          </a:xfrm>
          <a:prstGeom prst="rect">
            <a:avLst/>
          </a:prstGeom>
          <a:solidFill>
            <a:schemeClr val="accent2"/>
          </a:solidFill>
          <a:ln>
            <a:solidFill>
              <a:schemeClr val="bg1">
                <a:lumMod val="50000"/>
              </a:schemeClr>
            </a:solidFill>
          </a:ln>
        </p:spPr>
        <p:txBody>
          <a:bodyPr wrap="square">
            <a:spAutoFit/>
          </a:bodyPr>
          <a:lstStyle/>
          <a:p>
            <a:pPr algn="ctr"/>
            <a:r>
              <a:rPr lang="en-US" altLang="ko-KR" sz="1400" dirty="0">
                <a:solidFill>
                  <a:schemeClr val="bg1"/>
                </a:solidFill>
                <a:latin typeface="+mn-ea"/>
              </a:rPr>
              <a:t>** </a:t>
            </a:r>
            <a:r>
              <a:rPr lang="ko-KR" altLang="en-US" sz="1400" dirty="0">
                <a:solidFill>
                  <a:schemeClr val="bg1"/>
                </a:solidFill>
              </a:rPr>
              <a:t>대법원 </a:t>
            </a:r>
            <a:r>
              <a:rPr lang="en-US" altLang="ko-KR" sz="1400" dirty="0">
                <a:solidFill>
                  <a:schemeClr val="bg1"/>
                </a:solidFill>
              </a:rPr>
              <a:t>2001. 8. 21. </a:t>
            </a:r>
            <a:r>
              <a:rPr lang="ko-KR" altLang="en-US" sz="1400" dirty="0">
                <a:solidFill>
                  <a:schemeClr val="bg1"/>
                </a:solidFill>
              </a:rPr>
              <a:t>선고 </a:t>
            </a:r>
            <a:r>
              <a:rPr lang="en-US" altLang="ko-KR" sz="1400" dirty="0">
                <a:solidFill>
                  <a:schemeClr val="bg1"/>
                </a:solidFill>
              </a:rPr>
              <a:t>98</a:t>
            </a:r>
            <a:r>
              <a:rPr lang="ko-KR" altLang="en-US" sz="1400" dirty="0">
                <a:solidFill>
                  <a:schemeClr val="bg1"/>
                </a:solidFill>
              </a:rPr>
              <a:t>후</a:t>
            </a:r>
            <a:r>
              <a:rPr lang="en-US" altLang="ko-KR" sz="1400" dirty="0">
                <a:solidFill>
                  <a:schemeClr val="bg1"/>
                </a:solidFill>
              </a:rPr>
              <a:t>522 </a:t>
            </a:r>
            <a:r>
              <a:rPr lang="ko-KR" altLang="en-US" sz="1400" dirty="0">
                <a:solidFill>
                  <a:schemeClr val="bg1"/>
                </a:solidFill>
              </a:rPr>
              <a:t>판결</a:t>
            </a:r>
          </a:p>
        </p:txBody>
      </p:sp>
    </p:spTree>
    <p:extLst>
      <p:ext uri="{BB962C8B-B14F-4D97-AF65-F5344CB8AC3E}">
        <p14:creationId xmlns:p14="http://schemas.microsoft.com/office/powerpoint/2010/main" val="3020566077"/>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3" name="텍스트 개체 틀 2"/>
          <p:cNvSpPr>
            <a:spLocks noGrp="1"/>
          </p:cNvSpPr>
          <p:nvPr>
            <p:ph type="body" sz="quarter" idx="13"/>
          </p:nvPr>
        </p:nvSpPr>
        <p:spPr/>
        <p:txBody>
          <a:bodyPr/>
          <a:lstStyle/>
          <a:p>
            <a:r>
              <a:rPr lang="ko-KR" altLang="en-US" dirty="0"/>
              <a:t>일체성의 유지</a:t>
            </a:r>
          </a:p>
        </p:txBody>
      </p:sp>
      <p:sp>
        <p:nvSpPr>
          <p:cNvPr id="4" name="슬라이드 번호 개체 틀 3"/>
          <p:cNvSpPr>
            <a:spLocks noGrp="1"/>
          </p:cNvSpPr>
          <p:nvPr>
            <p:ph type="sldNum" sz="quarter" idx="4294967295"/>
          </p:nvPr>
        </p:nvSpPr>
        <p:spPr>
          <a:xfrm>
            <a:off x="11125200" y="0"/>
            <a:ext cx="1066800" cy="744538"/>
          </a:xfrm>
        </p:spPr>
        <p:txBody>
          <a:bodyPr/>
          <a:lstStyle/>
          <a:p>
            <a:r>
              <a:rPr lang="en-US" altLang="ko-KR"/>
              <a:t>355</a:t>
            </a:r>
            <a:endParaRPr lang="ko-KR" altLang="en-US"/>
          </a:p>
        </p:txBody>
      </p:sp>
      <p:sp>
        <p:nvSpPr>
          <p:cNvPr id="6" name="TextBox 5"/>
          <p:cNvSpPr txBox="1"/>
          <p:nvPr/>
        </p:nvSpPr>
        <p:spPr>
          <a:xfrm>
            <a:off x="251520" y="4759206"/>
            <a:ext cx="11578529" cy="2032119"/>
          </a:xfrm>
          <a:prstGeom prst="rect">
            <a:avLst/>
          </a:prstGeom>
          <a:noFill/>
          <a:ln>
            <a:solidFill>
              <a:schemeClr val="bg1">
                <a:lumMod val="50000"/>
              </a:schemeClr>
            </a:solidFill>
          </a:ln>
        </p:spPr>
        <p:txBody>
          <a:bodyPr wrap="square" rtlCol="0" anchor="ctr">
            <a:noAutofit/>
          </a:bodyPr>
          <a:lstStyle/>
          <a:p>
            <a:pPr fontAlgn="base"/>
            <a:r>
              <a:rPr lang="ko-KR" altLang="en-US" sz="1400" b="1" dirty="0"/>
              <a:t>일체성을 상실한 경우 이용관계가 아니기 때문에 후 출원에 의하여 특허 등록된 발명을 확인대상발명으로 하여 선 출원에 의한 등록발명의 권리범위에 속한다는 확인을 구하는 적극적 권리범위확인심판으로서 </a:t>
            </a:r>
            <a:r>
              <a:rPr lang="ko-KR" altLang="en-US" sz="1400" b="1" dirty="0" err="1"/>
              <a:t>부적법하다는</a:t>
            </a:r>
            <a:r>
              <a:rPr lang="ko-KR" altLang="en-US" sz="1400" b="1" dirty="0"/>
              <a:t> 사례</a:t>
            </a:r>
            <a:r>
              <a:rPr lang="en-US" altLang="ko-KR" sz="1400" b="1" dirty="0"/>
              <a:t>: </a:t>
            </a:r>
            <a:r>
              <a:rPr lang="ko-KR" altLang="en-US" sz="1400" dirty="0"/>
              <a:t>제</a:t>
            </a:r>
            <a:r>
              <a:rPr lang="en-US" altLang="ko-KR" sz="1400" dirty="0"/>
              <a:t>30</a:t>
            </a:r>
            <a:r>
              <a:rPr lang="ko-KR" altLang="en-US" sz="1400" dirty="0"/>
              <a:t>항 발명은 구이의 눌어붙음 방지</a:t>
            </a:r>
            <a:r>
              <a:rPr lang="en-US" altLang="ko-KR" sz="1400" dirty="0"/>
              <a:t>, </a:t>
            </a:r>
            <a:r>
              <a:rPr lang="ko-KR" altLang="en-US" sz="1400" dirty="0"/>
              <a:t>열원 노출면적 확대 등의 효과를 위하여 선재를 한 방향으로만 형성한 것인 데 비하여</a:t>
            </a:r>
            <a:r>
              <a:rPr lang="en-US" altLang="ko-KR" sz="1400" dirty="0"/>
              <a:t>, </a:t>
            </a:r>
            <a:r>
              <a:rPr lang="ko-KR" altLang="en-US" sz="1400" dirty="0"/>
              <a:t>확인대상발명은 하나의 </a:t>
            </a:r>
            <a:r>
              <a:rPr lang="ko-KR" altLang="en-US" sz="1400" dirty="0" err="1"/>
              <a:t>석쇠틀에서</a:t>
            </a:r>
            <a:r>
              <a:rPr lang="ko-KR" altLang="en-US" sz="1400" dirty="0"/>
              <a:t> 가로</a:t>
            </a:r>
            <a:r>
              <a:rPr lang="en-US" altLang="ko-KR" sz="1400" dirty="0"/>
              <a:t>, </a:t>
            </a:r>
            <a:r>
              <a:rPr lang="ko-KR" altLang="en-US" sz="1400" dirty="0"/>
              <a:t>세로 방향으로 선재가 교차되는 양방향 구성을 채택하고 있었다</a:t>
            </a:r>
            <a:r>
              <a:rPr lang="en-US" altLang="ko-KR" sz="1400" dirty="0"/>
              <a:t>. </a:t>
            </a:r>
            <a:r>
              <a:rPr lang="ko-KR" altLang="en-US" sz="1400" dirty="0" err="1"/>
              <a:t>심결과</a:t>
            </a:r>
            <a:r>
              <a:rPr lang="ko-KR" altLang="en-US" sz="1400" dirty="0"/>
              <a:t> 원심은 이용관계에 있다고 판단하여 일단 </a:t>
            </a:r>
            <a:r>
              <a:rPr lang="ko-KR" altLang="en-US" sz="1400" dirty="0" err="1"/>
              <a:t>본안판단으로</a:t>
            </a:r>
            <a:r>
              <a:rPr lang="ko-KR" altLang="en-US" sz="1400" dirty="0"/>
              <a:t> 나아간 후 막상 권리범위 </a:t>
            </a:r>
            <a:r>
              <a:rPr lang="ko-KR" altLang="en-US" sz="1400" dirty="0" err="1"/>
              <a:t>속부</a:t>
            </a:r>
            <a:r>
              <a:rPr lang="ko-KR" altLang="en-US" sz="1400" dirty="0"/>
              <a:t> 실체 판단에서는 확인대상발명의 구성이 제</a:t>
            </a:r>
            <a:r>
              <a:rPr lang="en-US" altLang="ko-KR" sz="1400" dirty="0"/>
              <a:t>30</a:t>
            </a:r>
            <a:r>
              <a:rPr lang="ko-KR" altLang="en-US" sz="1400" dirty="0"/>
              <a:t>항 발명의 권리범위에서 의식적 제외된 구성이라고 보아 권리범위에 속하지 않는다고 판단하였다</a:t>
            </a:r>
            <a:r>
              <a:rPr lang="en-US" altLang="ko-KR" sz="1400" dirty="0"/>
              <a:t>. </a:t>
            </a:r>
            <a:r>
              <a:rPr lang="ko-KR" altLang="en-US" sz="1400" dirty="0"/>
              <a:t>그러나 대법원은</a:t>
            </a:r>
            <a:r>
              <a:rPr lang="en-US" altLang="ko-KR" sz="1400" dirty="0"/>
              <a:t>, </a:t>
            </a:r>
            <a:r>
              <a:rPr lang="ko-KR" altLang="en-US" sz="1400" dirty="0"/>
              <a:t>이용관계 해당 여부에 관한 대법원 </a:t>
            </a:r>
            <a:r>
              <a:rPr lang="en-US" altLang="ko-KR" sz="1400" dirty="0"/>
              <a:t>2001. 8. 21. </a:t>
            </a:r>
            <a:r>
              <a:rPr lang="ko-KR" altLang="en-US" sz="1400" dirty="0"/>
              <a:t>선고 </a:t>
            </a:r>
            <a:r>
              <a:rPr lang="en-US" altLang="ko-KR" sz="1400" dirty="0"/>
              <a:t>98</a:t>
            </a:r>
            <a:r>
              <a:rPr lang="ko-KR" altLang="en-US" sz="1400" dirty="0"/>
              <a:t>후</a:t>
            </a:r>
            <a:r>
              <a:rPr lang="en-US" altLang="ko-KR" sz="1400" dirty="0"/>
              <a:t>522 </a:t>
            </a:r>
            <a:r>
              <a:rPr lang="ko-KR" altLang="en-US" sz="1400" dirty="0"/>
              <a:t>판결의 판단기준을 인용한 다음</a:t>
            </a:r>
            <a:r>
              <a:rPr lang="en-US" altLang="ko-KR" sz="1400" dirty="0"/>
              <a:t>, </a:t>
            </a:r>
            <a:r>
              <a:rPr lang="ko-KR" altLang="en-US" sz="1400" dirty="0"/>
              <a:t>하나의 </a:t>
            </a:r>
            <a:r>
              <a:rPr lang="ko-KR" altLang="en-US" sz="1400" dirty="0" err="1"/>
              <a:t>석쇠틀에서</a:t>
            </a:r>
            <a:r>
              <a:rPr lang="ko-KR" altLang="en-US" sz="1400" dirty="0"/>
              <a:t> 가로</a:t>
            </a:r>
            <a:r>
              <a:rPr lang="en-US" altLang="ko-KR" sz="1400" dirty="0"/>
              <a:t>, </a:t>
            </a:r>
            <a:r>
              <a:rPr lang="ko-KR" altLang="en-US" sz="1400" dirty="0"/>
              <a:t>세로 방향으로 선재가 교차되는 </a:t>
            </a:r>
            <a:r>
              <a:rPr lang="ko-KR" altLang="en-US" sz="1400" dirty="0">
                <a:highlight>
                  <a:srgbClr val="FFFF00"/>
                </a:highlight>
              </a:rPr>
              <a:t>확인대상발명의 양방향 구성은 구이의 눌어붙음 방지</a:t>
            </a:r>
            <a:r>
              <a:rPr lang="en-US" altLang="ko-KR" sz="1400" dirty="0">
                <a:highlight>
                  <a:srgbClr val="FFFF00"/>
                </a:highlight>
              </a:rPr>
              <a:t>, </a:t>
            </a:r>
            <a:r>
              <a:rPr lang="ko-KR" altLang="en-US" sz="1400" dirty="0">
                <a:highlight>
                  <a:srgbClr val="FFFF00"/>
                </a:highlight>
              </a:rPr>
              <a:t>열원 노출면적 확대와 같은 한 방향 구성의 효과를 나타낼 수 없어 제</a:t>
            </a:r>
            <a:r>
              <a:rPr lang="en-US" altLang="ko-KR" sz="1400" dirty="0">
                <a:highlight>
                  <a:srgbClr val="FFFF00"/>
                </a:highlight>
              </a:rPr>
              <a:t>30</a:t>
            </a:r>
            <a:r>
              <a:rPr lang="ko-KR" altLang="en-US" sz="1400" dirty="0">
                <a:highlight>
                  <a:srgbClr val="FFFF00"/>
                </a:highlight>
              </a:rPr>
              <a:t>항 발명과 상이한 구성이라고 할 것이고</a:t>
            </a:r>
            <a:r>
              <a:rPr lang="en-US" altLang="ko-KR" sz="1400" dirty="0">
                <a:highlight>
                  <a:srgbClr val="FFFF00"/>
                </a:highlight>
              </a:rPr>
              <a:t>, </a:t>
            </a:r>
            <a:r>
              <a:rPr lang="ko-KR" altLang="en-US" sz="1400" dirty="0">
                <a:highlight>
                  <a:srgbClr val="FFFF00"/>
                </a:highlight>
              </a:rPr>
              <a:t>확인대상발명 내에서 제</a:t>
            </a:r>
            <a:r>
              <a:rPr lang="en-US" altLang="ko-KR" sz="1400" dirty="0">
                <a:highlight>
                  <a:srgbClr val="FFFF00"/>
                </a:highlight>
              </a:rPr>
              <a:t>30</a:t>
            </a:r>
            <a:r>
              <a:rPr lang="ko-KR" altLang="en-US" sz="1400" dirty="0">
                <a:highlight>
                  <a:srgbClr val="FFFF00"/>
                </a:highlight>
              </a:rPr>
              <a:t>항 발명이 발명으로서의 일체성을 유지하고 있다고 볼 수도 없어 두 발명이 이용관계에 있다고 볼 수 없으므로</a:t>
            </a:r>
            <a:r>
              <a:rPr lang="en-US" altLang="ko-KR" sz="1400" dirty="0">
                <a:highlight>
                  <a:srgbClr val="FFFF00"/>
                </a:highlight>
              </a:rPr>
              <a:t>, </a:t>
            </a:r>
            <a:r>
              <a:rPr lang="ko-KR" altLang="en-US" sz="1400" dirty="0">
                <a:highlight>
                  <a:srgbClr val="FFFF00"/>
                </a:highlight>
              </a:rPr>
              <a:t>이 사건 권리범위확인심판 청구는 후 출원에 의하여 등록된 발명을 확인대상발명으로 하여 선 출원에 의한 등록발명의 권리범위에 속한다는 확인을 구하는 적극적 권리범위확인심판으로서 </a:t>
            </a:r>
            <a:r>
              <a:rPr lang="ko-KR" altLang="en-US" sz="1400" dirty="0" err="1">
                <a:highlight>
                  <a:srgbClr val="FFFF00"/>
                </a:highlight>
              </a:rPr>
              <a:t>부적법하다</a:t>
            </a:r>
            <a:r>
              <a:rPr lang="ko-KR" altLang="en-US" sz="1400" u="sng" dirty="0" err="1"/>
              <a:t>고</a:t>
            </a:r>
            <a:r>
              <a:rPr lang="en-US" altLang="ko-KR" sz="1400" dirty="0"/>
              <a:t> </a:t>
            </a:r>
            <a:r>
              <a:rPr lang="ko-KR" altLang="en-US" sz="1400" dirty="0"/>
              <a:t>판시하였다</a:t>
            </a:r>
            <a:r>
              <a:rPr lang="en-US" altLang="ko-KR" sz="1400" dirty="0"/>
              <a:t>.</a:t>
            </a:r>
            <a:endParaRPr lang="ko-KR" altLang="en-US" sz="1400" dirty="0"/>
          </a:p>
        </p:txBody>
      </p:sp>
      <p:sp>
        <p:nvSpPr>
          <p:cNvPr id="7" name="직사각형 6"/>
          <p:cNvSpPr/>
          <p:nvPr/>
        </p:nvSpPr>
        <p:spPr>
          <a:xfrm>
            <a:off x="251520" y="4451429"/>
            <a:ext cx="3663255" cy="307777"/>
          </a:xfrm>
          <a:prstGeom prst="rect">
            <a:avLst/>
          </a:prstGeom>
          <a:solidFill>
            <a:schemeClr val="accent2"/>
          </a:solidFill>
          <a:ln>
            <a:solidFill>
              <a:schemeClr val="bg1">
                <a:lumMod val="50000"/>
              </a:schemeClr>
            </a:solidFill>
          </a:ln>
        </p:spPr>
        <p:txBody>
          <a:bodyPr wrap="square">
            <a:spAutoFit/>
          </a:bodyPr>
          <a:lstStyle/>
          <a:p>
            <a:pPr algn="ctr"/>
            <a:r>
              <a:rPr lang="ko-KR" altLang="en-US" sz="1400" dirty="0">
                <a:solidFill>
                  <a:schemeClr val="bg1"/>
                </a:solidFill>
                <a:latin typeface="+mn-ea"/>
              </a:rPr>
              <a:t>대법원 </a:t>
            </a:r>
            <a:r>
              <a:rPr lang="en-US" altLang="ko-KR" sz="1400" dirty="0">
                <a:solidFill>
                  <a:schemeClr val="bg1"/>
                </a:solidFill>
                <a:latin typeface="+mn-ea"/>
              </a:rPr>
              <a:t>2016. 4. 28. </a:t>
            </a:r>
            <a:r>
              <a:rPr lang="ko-KR" altLang="en-US" sz="1400" dirty="0">
                <a:solidFill>
                  <a:schemeClr val="bg1"/>
                </a:solidFill>
                <a:latin typeface="+mn-ea"/>
              </a:rPr>
              <a:t>선고 </a:t>
            </a:r>
            <a:r>
              <a:rPr lang="en-US" altLang="ko-KR" sz="1400" dirty="0">
                <a:solidFill>
                  <a:schemeClr val="bg1"/>
                </a:solidFill>
                <a:latin typeface="+mn-ea"/>
              </a:rPr>
              <a:t>2015</a:t>
            </a:r>
            <a:r>
              <a:rPr lang="ko-KR" altLang="en-US" sz="1400" dirty="0">
                <a:solidFill>
                  <a:schemeClr val="bg1"/>
                </a:solidFill>
                <a:latin typeface="+mn-ea"/>
              </a:rPr>
              <a:t>후</a:t>
            </a:r>
            <a:r>
              <a:rPr lang="en-US" altLang="ko-KR" sz="1400" dirty="0">
                <a:solidFill>
                  <a:schemeClr val="bg1"/>
                </a:solidFill>
                <a:latin typeface="+mn-ea"/>
              </a:rPr>
              <a:t>161 </a:t>
            </a:r>
            <a:r>
              <a:rPr lang="ko-KR" altLang="en-US" sz="1400" dirty="0">
                <a:solidFill>
                  <a:schemeClr val="bg1"/>
                </a:solidFill>
                <a:latin typeface="+mn-ea"/>
              </a:rPr>
              <a:t>판결</a:t>
            </a:r>
            <a:endParaRPr lang="ko-KR" altLang="en-US" sz="1400" dirty="0">
              <a:solidFill>
                <a:schemeClr val="bg1"/>
              </a:solidFill>
            </a:endParaRPr>
          </a:p>
        </p:txBody>
      </p:sp>
      <p:sp>
        <p:nvSpPr>
          <p:cNvPr id="8" name="타원 7"/>
          <p:cNvSpPr/>
          <p:nvPr/>
        </p:nvSpPr>
        <p:spPr>
          <a:xfrm>
            <a:off x="1104900" y="2152650"/>
            <a:ext cx="495300" cy="495300"/>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a</a:t>
            </a:r>
            <a:endParaRPr lang="ko-KR" altLang="en-US" dirty="0">
              <a:solidFill>
                <a:schemeClr val="tx1"/>
              </a:solidFill>
            </a:endParaRPr>
          </a:p>
        </p:txBody>
      </p:sp>
      <p:sp>
        <p:nvSpPr>
          <p:cNvPr id="9" name="타원 8"/>
          <p:cNvSpPr/>
          <p:nvPr/>
        </p:nvSpPr>
        <p:spPr>
          <a:xfrm>
            <a:off x="657225" y="2762250"/>
            <a:ext cx="495300" cy="495300"/>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b</a:t>
            </a:r>
            <a:endParaRPr lang="ko-KR" altLang="en-US" dirty="0">
              <a:solidFill>
                <a:schemeClr val="tx1"/>
              </a:solidFill>
            </a:endParaRPr>
          </a:p>
        </p:txBody>
      </p:sp>
      <p:sp>
        <p:nvSpPr>
          <p:cNvPr id="10" name="타원 9"/>
          <p:cNvSpPr/>
          <p:nvPr/>
        </p:nvSpPr>
        <p:spPr>
          <a:xfrm>
            <a:off x="1552575" y="2762250"/>
            <a:ext cx="495300" cy="495300"/>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c</a:t>
            </a:r>
            <a:endParaRPr lang="ko-KR" altLang="en-US" dirty="0">
              <a:solidFill>
                <a:schemeClr val="tx1"/>
              </a:solidFill>
            </a:endParaRPr>
          </a:p>
        </p:txBody>
      </p:sp>
      <p:cxnSp>
        <p:nvCxnSpPr>
          <p:cNvPr id="12" name="직선 연결선 11"/>
          <p:cNvCxnSpPr>
            <a:stCxn id="8" idx="3"/>
            <a:endCxn id="9" idx="7"/>
          </p:cNvCxnSpPr>
          <p:nvPr/>
        </p:nvCxnSpPr>
        <p:spPr>
          <a:xfrm flipH="1">
            <a:off x="1079990" y="2575415"/>
            <a:ext cx="97445" cy="25937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직선 연결선 13"/>
          <p:cNvCxnSpPr>
            <a:stCxn id="8" idx="5"/>
            <a:endCxn id="10" idx="1"/>
          </p:cNvCxnSpPr>
          <p:nvPr/>
        </p:nvCxnSpPr>
        <p:spPr>
          <a:xfrm>
            <a:off x="1527665" y="2575415"/>
            <a:ext cx="97445" cy="25937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직선 연결선 15"/>
          <p:cNvCxnSpPr>
            <a:stCxn id="9" idx="6"/>
            <a:endCxn id="10" idx="2"/>
          </p:cNvCxnSpPr>
          <p:nvPr/>
        </p:nvCxnSpPr>
        <p:spPr>
          <a:xfrm>
            <a:off x="1152525" y="3009900"/>
            <a:ext cx="40005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타원 16"/>
          <p:cNvSpPr/>
          <p:nvPr/>
        </p:nvSpPr>
        <p:spPr>
          <a:xfrm>
            <a:off x="3562350" y="1390650"/>
            <a:ext cx="495300" cy="495300"/>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a</a:t>
            </a:r>
            <a:endParaRPr lang="ko-KR" altLang="en-US" dirty="0">
              <a:solidFill>
                <a:schemeClr val="tx1"/>
              </a:solidFill>
            </a:endParaRPr>
          </a:p>
        </p:txBody>
      </p:sp>
      <p:sp>
        <p:nvSpPr>
          <p:cNvPr id="18" name="타원 17"/>
          <p:cNvSpPr/>
          <p:nvPr/>
        </p:nvSpPr>
        <p:spPr>
          <a:xfrm>
            <a:off x="3114675" y="2000250"/>
            <a:ext cx="495300" cy="495300"/>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b</a:t>
            </a:r>
            <a:endParaRPr lang="ko-KR" altLang="en-US" dirty="0">
              <a:solidFill>
                <a:schemeClr val="tx1"/>
              </a:solidFill>
            </a:endParaRPr>
          </a:p>
        </p:txBody>
      </p:sp>
      <p:sp>
        <p:nvSpPr>
          <p:cNvPr id="19" name="타원 18"/>
          <p:cNvSpPr/>
          <p:nvPr/>
        </p:nvSpPr>
        <p:spPr>
          <a:xfrm>
            <a:off x="4010025" y="2000250"/>
            <a:ext cx="495300" cy="495300"/>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c</a:t>
            </a:r>
            <a:endParaRPr lang="ko-KR" altLang="en-US" dirty="0">
              <a:solidFill>
                <a:schemeClr val="tx1"/>
              </a:solidFill>
            </a:endParaRPr>
          </a:p>
        </p:txBody>
      </p:sp>
      <p:cxnSp>
        <p:nvCxnSpPr>
          <p:cNvPr id="20" name="직선 연결선 19"/>
          <p:cNvCxnSpPr>
            <a:stCxn id="17" idx="3"/>
            <a:endCxn id="18" idx="7"/>
          </p:cNvCxnSpPr>
          <p:nvPr/>
        </p:nvCxnSpPr>
        <p:spPr>
          <a:xfrm flipH="1">
            <a:off x="3537440" y="1813415"/>
            <a:ext cx="97445" cy="25937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직선 연결선 20"/>
          <p:cNvCxnSpPr>
            <a:stCxn id="17" idx="5"/>
            <a:endCxn id="19" idx="1"/>
          </p:cNvCxnSpPr>
          <p:nvPr/>
        </p:nvCxnSpPr>
        <p:spPr>
          <a:xfrm>
            <a:off x="3985115" y="1813415"/>
            <a:ext cx="97445" cy="25937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직선 연결선 21"/>
          <p:cNvCxnSpPr>
            <a:stCxn id="18" idx="6"/>
            <a:endCxn id="19" idx="2"/>
          </p:cNvCxnSpPr>
          <p:nvPr/>
        </p:nvCxnSpPr>
        <p:spPr>
          <a:xfrm>
            <a:off x="3609975" y="2247900"/>
            <a:ext cx="40005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 name="타원 24"/>
          <p:cNvSpPr/>
          <p:nvPr/>
        </p:nvSpPr>
        <p:spPr>
          <a:xfrm>
            <a:off x="4876800" y="2000250"/>
            <a:ext cx="495300" cy="495300"/>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d</a:t>
            </a:r>
            <a:endParaRPr lang="ko-KR" altLang="en-US" dirty="0">
              <a:solidFill>
                <a:schemeClr val="tx1"/>
              </a:solidFill>
            </a:endParaRPr>
          </a:p>
        </p:txBody>
      </p:sp>
      <p:sp>
        <p:nvSpPr>
          <p:cNvPr id="28" name="타원 27"/>
          <p:cNvSpPr/>
          <p:nvPr/>
        </p:nvSpPr>
        <p:spPr>
          <a:xfrm>
            <a:off x="3800475" y="3495675"/>
            <a:ext cx="495300" cy="495300"/>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b</a:t>
            </a:r>
            <a:endParaRPr lang="ko-KR" altLang="en-US" dirty="0">
              <a:solidFill>
                <a:schemeClr val="tx1"/>
              </a:solidFill>
            </a:endParaRPr>
          </a:p>
        </p:txBody>
      </p:sp>
      <p:sp>
        <p:nvSpPr>
          <p:cNvPr id="29" name="타원 28"/>
          <p:cNvSpPr/>
          <p:nvPr/>
        </p:nvSpPr>
        <p:spPr>
          <a:xfrm>
            <a:off x="4505325" y="3495675"/>
            <a:ext cx="495300" cy="495300"/>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c</a:t>
            </a:r>
            <a:endParaRPr lang="ko-KR" altLang="en-US" dirty="0">
              <a:solidFill>
                <a:schemeClr val="tx1"/>
              </a:solidFill>
            </a:endParaRPr>
          </a:p>
        </p:txBody>
      </p:sp>
      <p:cxnSp>
        <p:nvCxnSpPr>
          <p:cNvPr id="30" name="직선 연결선 29"/>
          <p:cNvCxnSpPr>
            <a:stCxn id="28" idx="6"/>
            <a:endCxn id="29" idx="2"/>
          </p:cNvCxnSpPr>
          <p:nvPr/>
        </p:nvCxnSpPr>
        <p:spPr>
          <a:xfrm>
            <a:off x="4295775" y="3743325"/>
            <a:ext cx="20955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타원 30"/>
          <p:cNvSpPr/>
          <p:nvPr/>
        </p:nvSpPr>
        <p:spPr>
          <a:xfrm>
            <a:off x="5200650" y="3495675"/>
            <a:ext cx="495300" cy="495300"/>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d</a:t>
            </a:r>
            <a:endParaRPr lang="ko-KR" altLang="en-US" dirty="0">
              <a:solidFill>
                <a:schemeClr val="tx1"/>
              </a:solidFill>
            </a:endParaRPr>
          </a:p>
        </p:txBody>
      </p:sp>
      <p:sp>
        <p:nvSpPr>
          <p:cNvPr id="33" name="타원 32"/>
          <p:cNvSpPr/>
          <p:nvPr/>
        </p:nvSpPr>
        <p:spPr>
          <a:xfrm>
            <a:off x="3076575" y="3495675"/>
            <a:ext cx="495300" cy="495300"/>
          </a:xfrm>
          <a:prstGeom prst="ellipse">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solidFill>
              </a:rPr>
              <a:t>a</a:t>
            </a:r>
            <a:endParaRPr lang="ko-KR" altLang="en-US" dirty="0">
              <a:solidFill>
                <a:schemeClr val="tx1"/>
              </a:solidFill>
            </a:endParaRPr>
          </a:p>
        </p:txBody>
      </p:sp>
      <p:cxnSp>
        <p:nvCxnSpPr>
          <p:cNvPr id="35" name="직선 연결선 34"/>
          <p:cNvCxnSpPr>
            <a:stCxn id="19" idx="6"/>
            <a:endCxn id="25" idx="2"/>
          </p:cNvCxnSpPr>
          <p:nvPr/>
        </p:nvCxnSpPr>
        <p:spPr>
          <a:xfrm>
            <a:off x="4505325" y="2247900"/>
            <a:ext cx="371475"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직선 연결선 36"/>
          <p:cNvCxnSpPr>
            <a:stCxn id="33" idx="6"/>
            <a:endCxn id="28" idx="2"/>
          </p:cNvCxnSpPr>
          <p:nvPr/>
        </p:nvCxnSpPr>
        <p:spPr>
          <a:xfrm>
            <a:off x="3571875" y="3743325"/>
            <a:ext cx="22860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직선 연결선 38"/>
          <p:cNvCxnSpPr>
            <a:stCxn id="29" idx="6"/>
            <a:endCxn id="31" idx="2"/>
          </p:cNvCxnSpPr>
          <p:nvPr/>
        </p:nvCxnSpPr>
        <p:spPr>
          <a:xfrm>
            <a:off x="5000625" y="3743325"/>
            <a:ext cx="200025"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직사각형 39"/>
          <p:cNvSpPr/>
          <p:nvPr/>
        </p:nvSpPr>
        <p:spPr>
          <a:xfrm>
            <a:off x="457200" y="1714501"/>
            <a:ext cx="1809750" cy="1677482"/>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 name="TextBox 40"/>
          <p:cNvSpPr txBox="1"/>
          <p:nvPr/>
        </p:nvSpPr>
        <p:spPr>
          <a:xfrm>
            <a:off x="457200" y="1703453"/>
            <a:ext cx="809837" cy="369332"/>
          </a:xfrm>
          <a:prstGeom prst="rect">
            <a:avLst/>
          </a:prstGeom>
          <a:solidFill>
            <a:schemeClr val="tx2">
              <a:lumMod val="20000"/>
              <a:lumOff val="80000"/>
            </a:schemeClr>
          </a:solidFill>
          <a:ln>
            <a:solidFill>
              <a:schemeClr val="bg1">
                <a:lumMod val="50000"/>
              </a:schemeClr>
            </a:solidFill>
          </a:ln>
        </p:spPr>
        <p:txBody>
          <a:bodyPr wrap="none" rtlCol="0">
            <a:spAutoFit/>
          </a:bodyPr>
          <a:lstStyle/>
          <a:p>
            <a:r>
              <a:rPr lang="ko-KR" altLang="en-US"/>
              <a:t>선특허</a:t>
            </a:r>
            <a:endParaRPr lang="ko-KR" altLang="en-US" dirty="0"/>
          </a:p>
        </p:txBody>
      </p:sp>
      <p:sp>
        <p:nvSpPr>
          <p:cNvPr id="42" name="직사각형 41"/>
          <p:cNvSpPr/>
          <p:nvPr/>
        </p:nvSpPr>
        <p:spPr>
          <a:xfrm>
            <a:off x="2900361" y="971550"/>
            <a:ext cx="2976563" cy="15621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TextBox 42"/>
          <p:cNvSpPr txBox="1"/>
          <p:nvPr/>
        </p:nvSpPr>
        <p:spPr>
          <a:xfrm>
            <a:off x="2909886" y="977410"/>
            <a:ext cx="938077" cy="369332"/>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r>
              <a:rPr lang="ko-KR" altLang="en-US" dirty="0" err="1"/>
              <a:t>후특허</a:t>
            </a:r>
            <a:r>
              <a:rPr lang="en-US" altLang="ko-KR" dirty="0"/>
              <a:t>1</a:t>
            </a:r>
            <a:endParaRPr lang="ko-KR" altLang="en-US" dirty="0"/>
          </a:p>
        </p:txBody>
      </p:sp>
      <p:sp>
        <p:nvSpPr>
          <p:cNvPr id="44" name="직사각형 43"/>
          <p:cNvSpPr/>
          <p:nvPr/>
        </p:nvSpPr>
        <p:spPr>
          <a:xfrm>
            <a:off x="2900361" y="2705100"/>
            <a:ext cx="2976563" cy="15621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TextBox 44"/>
          <p:cNvSpPr txBox="1"/>
          <p:nvPr/>
        </p:nvSpPr>
        <p:spPr>
          <a:xfrm>
            <a:off x="2909886" y="2705100"/>
            <a:ext cx="938077" cy="369332"/>
          </a:xfrm>
          <a:prstGeom prst="rect">
            <a:avLst/>
          </a:prstGeom>
          <a:solidFill>
            <a:schemeClr val="accent2">
              <a:lumMod val="20000"/>
              <a:lumOff val="80000"/>
            </a:schemeClr>
          </a:solidFill>
          <a:ln>
            <a:solidFill>
              <a:schemeClr val="bg1">
                <a:lumMod val="50000"/>
              </a:schemeClr>
            </a:solidFill>
          </a:ln>
        </p:spPr>
        <p:txBody>
          <a:bodyPr wrap="none" rtlCol="0">
            <a:spAutoFit/>
          </a:bodyPr>
          <a:lstStyle/>
          <a:p>
            <a:r>
              <a:rPr lang="ko-KR" altLang="en-US" dirty="0" err="1"/>
              <a:t>후특허</a:t>
            </a:r>
            <a:r>
              <a:rPr lang="en-US" altLang="ko-KR" dirty="0"/>
              <a:t>2</a:t>
            </a:r>
            <a:endParaRPr lang="ko-KR" altLang="en-US" dirty="0"/>
          </a:p>
        </p:txBody>
      </p:sp>
      <p:cxnSp>
        <p:nvCxnSpPr>
          <p:cNvPr id="47" name="직선 연결선 46"/>
          <p:cNvCxnSpPr>
            <a:stCxn id="40" idx="3"/>
            <a:endCxn id="42" idx="1"/>
          </p:cNvCxnSpPr>
          <p:nvPr/>
        </p:nvCxnSpPr>
        <p:spPr>
          <a:xfrm flipV="1">
            <a:off x="2266950" y="1752600"/>
            <a:ext cx="633411" cy="80064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직선 연결선 48"/>
          <p:cNvCxnSpPr>
            <a:stCxn id="40" idx="3"/>
            <a:endCxn id="44" idx="1"/>
          </p:cNvCxnSpPr>
          <p:nvPr/>
        </p:nvCxnSpPr>
        <p:spPr>
          <a:xfrm>
            <a:off x="2266950" y="2553242"/>
            <a:ext cx="633411" cy="93290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직사각형 49"/>
          <p:cNvSpPr/>
          <p:nvPr/>
        </p:nvSpPr>
        <p:spPr>
          <a:xfrm>
            <a:off x="6391275" y="992795"/>
            <a:ext cx="5372100" cy="3388705"/>
          </a:xfrm>
          <a:prstGeom prst="rect">
            <a:avLst/>
          </a:prstGeom>
          <a:ln>
            <a:noFill/>
          </a:ln>
        </p:spPr>
        <p:txBody>
          <a:bodyPr wrap="square" anchor="ctr">
            <a:noAutofit/>
          </a:bodyPr>
          <a:lstStyle/>
          <a:p>
            <a:pPr marL="342900" indent="-342900" fontAlgn="base">
              <a:buAutoNum type="arabicPeriod"/>
            </a:pPr>
            <a:r>
              <a:rPr lang="ko-KR" altLang="en-US" dirty="0" err="1"/>
              <a:t>후특허</a:t>
            </a:r>
            <a:r>
              <a:rPr lang="ko-KR" altLang="en-US" dirty="0"/>
              <a:t> </a:t>
            </a:r>
            <a:r>
              <a:rPr lang="en-US" altLang="ko-KR" dirty="0"/>
              <a:t>1</a:t>
            </a:r>
            <a:r>
              <a:rPr lang="ko-KR" altLang="en-US" dirty="0"/>
              <a:t>은 </a:t>
            </a:r>
            <a:r>
              <a:rPr lang="en-US" altLang="ko-KR" dirty="0"/>
              <a:t>d</a:t>
            </a:r>
            <a:r>
              <a:rPr lang="ko-KR" altLang="en-US" dirty="0"/>
              <a:t>를 부가하면서 </a:t>
            </a:r>
            <a:r>
              <a:rPr lang="ko-KR" altLang="en-US" dirty="0" err="1"/>
              <a:t>선특허</a:t>
            </a:r>
            <a:r>
              <a:rPr lang="ko-KR" altLang="en-US" dirty="0"/>
              <a:t> </a:t>
            </a:r>
            <a:r>
              <a:rPr lang="en-US" altLang="ko-KR" dirty="0"/>
              <a:t>a, b, c</a:t>
            </a:r>
            <a:r>
              <a:rPr lang="ko-KR" altLang="en-US" dirty="0"/>
              <a:t>의 결합관계</a:t>
            </a:r>
            <a:r>
              <a:rPr lang="en-US" altLang="ko-KR" dirty="0"/>
              <a:t>(</a:t>
            </a:r>
            <a:r>
              <a:rPr lang="ko-KR" altLang="en-US" dirty="0"/>
              <a:t>즉</a:t>
            </a:r>
            <a:r>
              <a:rPr lang="en-US" altLang="ko-KR" dirty="0"/>
              <a:t>, </a:t>
            </a:r>
            <a:r>
              <a:rPr lang="ko-KR" altLang="en-US" dirty="0" err="1"/>
              <a:t>선특허와의</a:t>
            </a:r>
            <a:r>
              <a:rPr lang="ko-KR" altLang="en-US" dirty="0"/>
              <a:t> 구성요소의 일체성</a:t>
            </a:r>
            <a:r>
              <a:rPr lang="en-US" altLang="ko-KR" dirty="0"/>
              <a:t>)</a:t>
            </a:r>
            <a:r>
              <a:rPr lang="ko-KR" altLang="en-US" dirty="0"/>
              <a:t>를 유지하였다</a:t>
            </a:r>
            <a:r>
              <a:rPr lang="en-US" altLang="ko-KR" dirty="0"/>
              <a:t>. </a:t>
            </a:r>
            <a:r>
              <a:rPr lang="ko-KR" altLang="en-US" dirty="0"/>
              <a:t>따라서 구성요소완비의 원칙에 의하여 </a:t>
            </a:r>
            <a:r>
              <a:rPr lang="ko-KR" altLang="en-US" dirty="0" err="1"/>
              <a:t>후특허</a:t>
            </a:r>
            <a:r>
              <a:rPr lang="ko-KR" altLang="en-US" dirty="0"/>
              <a:t> </a:t>
            </a:r>
            <a:r>
              <a:rPr lang="en-US" altLang="ko-KR" dirty="0"/>
              <a:t>1</a:t>
            </a:r>
            <a:r>
              <a:rPr lang="ko-KR" altLang="en-US" dirty="0"/>
              <a:t>을 실시하는 것은 </a:t>
            </a:r>
            <a:r>
              <a:rPr lang="ko-KR" altLang="en-US" dirty="0" err="1"/>
              <a:t>선특허의</a:t>
            </a:r>
            <a:r>
              <a:rPr lang="ko-KR" altLang="en-US" dirty="0"/>
              <a:t> 침해가 되고</a:t>
            </a:r>
            <a:r>
              <a:rPr lang="en-US" altLang="ko-KR" dirty="0"/>
              <a:t>, </a:t>
            </a:r>
            <a:r>
              <a:rPr lang="ko-KR" altLang="en-US" dirty="0"/>
              <a:t>이를 이용발명이라 한다</a:t>
            </a:r>
            <a:r>
              <a:rPr lang="en-US" altLang="ko-KR" dirty="0"/>
              <a:t>.</a:t>
            </a:r>
          </a:p>
          <a:p>
            <a:pPr marL="342900" indent="-342900" fontAlgn="base">
              <a:buAutoNum type="arabicPeriod"/>
            </a:pPr>
            <a:endParaRPr lang="en-US" altLang="ko-KR" dirty="0"/>
          </a:p>
          <a:p>
            <a:pPr marL="342900" indent="-342900" fontAlgn="base">
              <a:buAutoNum type="arabicPeriod"/>
            </a:pPr>
            <a:r>
              <a:rPr lang="ko-KR" altLang="en-US" dirty="0" err="1"/>
              <a:t>후특허</a:t>
            </a:r>
            <a:r>
              <a:rPr lang="ko-KR" altLang="en-US" dirty="0"/>
              <a:t> </a:t>
            </a:r>
            <a:r>
              <a:rPr lang="en-US" altLang="ko-KR" dirty="0"/>
              <a:t>2</a:t>
            </a:r>
            <a:r>
              <a:rPr lang="ko-KR" altLang="en-US" dirty="0"/>
              <a:t>는 </a:t>
            </a:r>
            <a:r>
              <a:rPr lang="en-US" altLang="ko-KR" dirty="0"/>
              <a:t>d</a:t>
            </a:r>
            <a:r>
              <a:rPr lang="ko-KR" altLang="en-US" dirty="0"/>
              <a:t>를 부가하면서 </a:t>
            </a:r>
            <a:r>
              <a:rPr lang="ko-KR" altLang="en-US" dirty="0" err="1"/>
              <a:t>선특허</a:t>
            </a:r>
            <a:r>
              <a:rPr lang="ko-KR" altLang="en-US" dirty="0"/>
              <a:t> </a:t>
            </a:r>
            <a:r>
              <a:rPr lang="en-US" altLang="ko-KR" dirty="0"/>
              <a:t>a, b, c</a:t>
            </a:r>
            <a:r>
              <a:rPr lang="ko-KR" altLang="en-US" dirty="0"/>
              <a:t>의 결합관계</a:t>
            </a:r>
            <a:r>
              <a:rPr lang="en-US" altLang="ko-KR" dirty="0"/>
              <a:t>(</a:t>
            </a:r>
            <a:r>
              <a:rPr lang="ko-KR" altLang="en-US" dirty="0"/>
              <a:t>즉</a:t>
            </a:r>
            <a:r>
              <a:rPr lang="en-US" altLang="ko-KR" dirty="0"/>
              <a:t>, </a:t>
            </a:r>
            <a:r>
              <a:rPr lang="ko-KR" altLang="en-US" dirty="0" err="1"/>
              <a:t>선특허와의</a:t>
            </a:r>
            <a:r>
              <a:rPr lang="ko-KR" altLang="en-US" dirty="0"/>
              <a:t> 구성요소의 일체성</a:t>
            </a:r>
            <a:r>
              <a:rPr lang="en-US" altLang="ko-KR" dirty="0"/>
              <a:t>)</a:t>
            </a:r>
            <a:r>
              <a:rPr lang="ko-KR" altLang="en-US" dirty="0"/>
              <a:t>를 상실하였다</a:t>
            </a:r>
            <a:r>
              <a:rPr lang="en-US" altLang="ko-KR" dirty="0"/>
              <a:t>. </a:t>
            </a:r>
            <a:r>
              <a:rPr lang="ko-KR" altLang="en-US" dirty="0"/>
              <a:t>따라서 구성요소완비의 원칙이 적용되지 아니하여 </a:t>
            </a:r>
            <a:r>
              <a:rPr lang="ko-KR" altLang="en-US" dirty="0" err="1"/>
              <a:t>후특허</a:t>
            </a:r>
            <a:r>
              <a:rPr lang="ko-KR" altLang="en-US" dirty="0"/>
              <a:t> </a:t>
            </a:r>
            <a:r>
              <a:rPr lang="en-US" altLang="ko-KR" dirty="0"/>
              <a:t>2</a:t>
            </a:r>
            <a:r>
              <a:rPr lang="ko-KR" altLang="en-US" dirty="0"/>
              <a:t>를 실시하는 것은 </a:t>
            </a:r>
            <a:r>
              <a:rPr lang="ko-KR" altLang="en-US" dirty="0" err="1"/>
              <a:t>선특허의</a:t>
            </a:r>
            <a:r>
              <a:rPr lang="ko-KR" altLang="en-US" dirty="0"/>
              <a:t> 침해가 아니며</a:t>
            </a:r>
            <a:r>
              <a:rPr lang="en-US" altLang="ko-KR" dirty="0"/>
              <a:t>, </a:t>
            </a:r>
            <a:r>
              <a:rPr lang="ko-KR" altLang="en-US" dirty="0"/>
              <a:t>이를 이용발명이라 하지 아니한다</a:t>
            </a:r>
            <a:r>
              <a:rPr lang="en-US" altLang="ko-KR" dirty="0"/>
              <a:t>.</a:t>
            </a:r>
            <a:endParaRPr lang="ko-KR" altLang="en-US" dirty="0"/>
          </a:p>
        </p:txBody>
      </p:sp>
      <p:cxnSp>
        <p:nvCxnSpPr>
          <p:cNvPr id="51" name="직선 연결선 50"/>
          <p:cNvCxnSpPr/>
          <p:nvPr/>
        </p:nvCxnSpPr>
        <p:spPr>
          <a:xfrm flipV="1">
            <a:off x="6163733" y="1279528"/>
            <a:ext cx="0" cy="2559047"/>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45872812"/>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3" name="텍스트 개체 틀 2"/>
          <p:cNvSpPr>
            <a:spLocks noGrp="1"/>
          </p:cNvSpPr>
          <p:nvPr>
            <p:ph type="body" sz="quarter" idx="13"/>
          </p:nvPr>
        </p:nvSpPr>
        <p:spPr/>
        <p:txBody>
          <a:bodyPr/>
          <a:lstStyle/>
          <a:p>
            <a:r>
              <a:rPr lang="ko-KR" altLang="en-US" dirty="0"/>
              <a:t>균등범위의 이용</a:t>
            </a:r>
          </a:p>
        </p:txBody>
      </p:sp>
      <p:sp>
        <p:nvSpPr>
          <p:cNvPr id="4" name="슬라이드 번호 개체 틀 3"/>
          <p:cNvSpPr>
            <a:spLocks noGrp="1"/>
          </p:cNvSpPr>
          <p:nvPr>
            <p:ph type="sldNum" sz="quarter" idx="4294967295"/>
          </p:nvPr>
        </p:nvSpPr>
        <p:spPr>
          <a:xfrm>
            <a:off x="11125200" y="0"/>
            <a:ext cx="1066800" cy="744538"/>
          </a:xfrm>
        </p:spPr>
        <p:txBody>
          <a:bodyPr/>
          <a:lstStyle/>
          <a:p>
            <a:r>
              <a:rPr lang="en-US" altLang="ko-KR"/>
              <a:t>356</a:t>
            </a:r>
            <a:endParaRPr lang="ko-KR" altLang="en-US"/>
          </a:p>
        </p:txBody>
      </p:sp>
      <p:sp>
        <p:nvSpPr>
          <p:cNvPr id="38" name="양쪽 모서리가 둥근 사각형 37"/>
          <p:cNvSpPr/>
          <p:nvPr/>
        </p:nvSpPr>
        <p:spPr>
          <a:xfrm>
            <a:off x="3753972" y="2343150"/>
            <a:ext cx="1857375" cy="448258"/>
          </a:xfrm>
          <a:prstGeom prst="round2SameRect">
            <a:avLst>
              <a:gd name="adj1" fmla="val 50000"/>
              <a:gd name="adj2" fmla="val 0"/>
            </a:avLst>
          </a:prstGeom>
          <a:pattFill prst="lg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Line 5"/>
          <p:cNvSpPr>
            <a:spLocks noChangeShapeType="1"/>
          </p:cNvSpPr>
          <p:nvPr/>
        </p:nvSpPr>
        <p:spPr bwMode="auto">
          <a:xfrm>
            <a:off x="790576" y="2784053"/>
            <a:ext cx="10620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52" name="TextBox 51"/>
          <p:cNvSpPr txBox="1"/>
          <p:nvPr/>
        </p:nvSpPr>
        <p:spPr>
          <a:xfrm>
            <a:off x="3279323" y="3040228"/>
            <a:ext cx="949299" cy="523220"/>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甲 </a:t>
            </a:r>
            <a:r>
              <a:rPr lang="en-US" altLang="ko-KR" sz="1400" dirty="0">
                <a:solidFill>
                  <a:schemeClr val="tx1"/>
                </a:solidFill>
                <a:latin typeface="+mn-ea"/>
              </a:rPr>
              <a:t>A+B+C</a:t>
            </a:r>
          </a:p>
          <a:p>
            <a:pPr algn="ctr"/>
            <a:r>
              <a:rPr lang="ko-KR" altLang="en-US" sz="1400" dirty="0">
                <a:solidFill>
                  <a:schemeClr val="tx1"/>
                </a:solidFill>
                <a:latin typeface="+mn-ea"/>
              </a:rPr>
              <a:t>출원</a:t>
            </a:r>
            <a:r>
              <a:rPr lang="en-US" altLang="ko-KR" sz="1400" dirty="0">
                <a:solidFill>
                  <a:schemeClr val="tx1"/>
                </a:solidFill>
                <a:latin typeface="+mn-ea"/>
              </a:rPr>
              <a:t>(X)</a:t>
            </a:r>
            <a:endParaRPr lang="ko-KR" altLang="en-US" sz="1400" dirty="0">
              <a:solidFill>
                <a:schemeClr val="tx1"/>
              </a:solidFill>
              <a:latin typeface="+mn-ea"/>
            </a:endParaRPr>
          </a:p>
        </p:txBody>
      </p:sp>
      <p:sp>
        <p:nvSpPr>
          <p:cNvPr id="53" name="타원 52"/>
          <p:cNvSpPr/>
          <p:nvPr/>
        </p:nvSpPr>
        <p:spPr>
          <a:xfrm>
            <a:off x="3676603" y="269011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4" name="직선 연결선 53"/>
          <p:cNvCxnSpPr>
            <a:stCxn id="52" idx="0"/>
            <a:endCxn id="53" idx="4"/>
          </p:cNvCxnSpPr>
          <p:nvPr/>
        </p:nvCxnSpPr>
        <p:spPr>
          <a:xfrm flipH="1" flipV="1">
            <a:off x="3753972" y="2851457"/>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5243298" y="3040228"/>
            <a:ext cx="736099" cy="307777"/>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공개</a:t>
            </a:r>
            <a:r>
              <a:rPr lang="en-US" altLang="ko-KR" sz="1400" dirty="0">
                <a:solidFill>
                  <a:schemeClr val="tx1"/>
                </a:solidFill>
                <a:latin typeface="+mn-ea"/>
              </a:rPr>
              <a:t>(X)</a:t>
            </a:r>
            <a:endParaRPr lang="ko-KR" altLang="en-US" sz="1400" dirty="0">
              <a:solidFill>
                <a:schemeClr val="tx1"/>
              </a:solidFill>
              <a:latin typeface="+mn-ea"/>
            </a:endParaRPr>
          </a:p>
        </p:txBody>
      </p:sp>
      <p:sp>
        <p:nvSpPr>
          <p:cNvPr id="56" name="타원 55"/>
          <p:cNvSpPr/>
          <p:nvPr/>
        </p:nvSpPr>
        <p:spPr>
          <a:xfrm>
            <a:off x="5533978" y="269011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7" name="직선 연결선 56"/>
          <p:cNvCxnSpPr>
            <a:stCxn id="55" idx="0"/>
            <a:endCxn id="56" idx="4"/>
          </p:cNvCxnSpPr>
          <p:nvPr/>
        </p:nvCxnSpPr>
        <p:spPr>
          <a:xfrm flipH="1" flipV="1">
            <a:off x="5611347" y="2851457"/>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7156763" y="3040228"/>
            <a:ext cx="736099" cy="307777"/>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등록</a:t>
            </a:r>
            <a:r>
              <a:rPr lang="en-US" altLang="ko-KR" sz="1400" dirty="0">
                <a:solidFill>
                  <a:schemeClr val="tx1"/>
                </a:solidFill>
                <a:latin typeface="+mn-ea"/>
              </a:rPr>
              <a:t>(X)</a:t>
            </a:r>
            <a:endParaRPr lang="ko-KR" altLang="en-US" sz="1400" dirty="0">
              <a:solidFill>
                <a:schemeClr val="tx1"/>
              </a:solidFill>
              <a:latin typeface="+mn-ea"/>
            </a:endParaRPr>
          </a:p>
        </p:txBody>
      </p:sp>
      <p:sp>
        <p:nvSpPr>
          <p:cNvPr id="59" name="타원 58"/>
          <p:cNvSpPr/>
          <p:nvPr/>
        </p:nvSpPr>
        <p:spPr>
          <a:xfrm>
            <a:off x="7447443" y="269011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0" name="직선 연결선 59"/>
          <p:cNvCxnSpPr>
            <a:stCxn id="58" idx="0"/>
            <a:endCxn id="59" idx="4"/>
          </p:cNvCxnSpPr>
          <p:nvPr/>
        </p:nvCxnSpPr>
        <p:spPr>
          <a:xfrm flipH="1" flipV="1">
            <a:off x="7524812" y="2851457"/>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타원 63"/>
          <p:cNvSpPr/>
          <p:nvPr/>
        </p:nvSpPr>
        <p:spPr>
          <a:xfrm>
            <a:off x="9612000" y="2690119"/>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65" name="TextBox 64"/>
          <p:cNvSpPr txBox="1"/>
          <p:nvPr/>
        </p:nvSpPr>
        <p:spPr>
          <a:xfrm>
            <a:off x="8821988" y="1960142"/>
            <a:ext cx="1734770" cy="52322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丙</a:t>
            </a:r>
            <a:r>
              <a:rPr lang="en-US" altLang="ko-KR" sz="1400" dirty="0">
                <a:solidFill>
                  <a:schemeClr val="tx1"/>
                </a:solidFill>
                <a:latin typeface="+mn-ea"/>
              </a:rPr>
              <a:t> A+B1+C+D(</a:t>
            </a:r>
            <a:r>
              <a:rPr lang="ko-KR" altLang="en-US" sz="1400" dirty="0">
                <a:solidFill>
                  <a:schemeClr val="tx1"/>
                </a:solidFill>
                <a:latin typeface="+mn-ea"/>
              </a:rPr>
              <a:t>촉매</a:t>
            </a:r>
            <a:r>
              <a:rPr lang="en-US" altLang="ko-KR" sz="1400" dirty="0">
                <a:solidFill>
                  <a:schemeClr val="tx1"/>
                </a:solidFill>
                <a:latin typeface="+mn-ea"/>
              </a:rPr>
              <a:t>)</a:t>
            </a:r>
          </a:p>
          <a:p>
            <a:pPr algn="ctr"/>
            <a:r>
              <a:rPr lang="ko-KR" altLang="en-US" sz="1400" dirty="0">
                <a:solidFill>
                  <a:schemeClr val="tx1"/>
                </a:solidFill>
                <a:latin typeface="+mn-ea"/>
              </a:rPr>
              <a:t>발명</a:t>
            </a:r>
          </a:p>
        </p:txBody>
      </p:sp>
      <p:cxnSp>
        <p:nvCxnSpPr>
          <p:cNvPr id="66" name="직선 연결선 65"/>
          <p:cNvCxnSpPr>
            <a:stCxn id="65" idx="2"/>
            <a:endCxn id="64" idx="0"/>
          </p:cNvCxnSpPr>
          <p:nvPr/>
        </p:nvCxnSpPr>
        <p:spPr>
          <a:xfrm flipH="1">
            <a:off x="9689369" y="2483362"/>
            <a:ext cx="4" cy="20675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4271248" y="2066151"/>
            <a:ext cx="811441" cy="276999"/>
          </a:xfrm>
          <a:prstGeom prst="rect">
            <a:avLst/>
          </a:prstGeom>
          <a:noFill/>
        </p:spPr>
        <p:txBody>
          <a:bodyPr wrap="none" rtlCol="0">
            <a:spAutoFit/>
          </a:bodyPr>
          <a:lstStyle/>
          <a:p>
            <a:r>
              <a:rPr lang="en-US" altLang="ko-KR" sz="1200" dirty="0"/>
              <a:t>1</a:t>
            </a:r>
            <a:r>
              <a:rPr lang="ko-KR" altLang="en-US" sz="1200" dirty="0"/>
              <a:t>년 </a:t>
            </a:r>
            <a:r>
              <a:rPr lang="en-US" altLang="ko-KR" sz="1200" dirty="0"/>
              <a:t>6</a:t>
            </a:r>
            <a:r>
              <a:rPr lang="ko-KR" altLang="en-US" sz="1200" dirty="0"/>
              <a:t>개월</a:t>
            </a:r>
          </a:p>
        </p:txBody>
      </p:sp>
      <p:sp>
        <p:nvSpPr>
          <p:cNvPr id="72" name="Rectangle 19"/>
          <p:cNvSpPr>
            <a:spLocks noChangeArrowheads="1"/>
          </p:cNvSpPr>
          <p:nvPr/>
        </p:nvSpPr>
        <p:spPr bwMode="auto">
          <a:xfrm>
            <a:off x="1038226" y="4257824"/>
            <a:ext cx="10067924" cy="857101"/>
          </a:xfrm>
          <a:prstGeom prst="rect">
            <a:avLst/>
          </a:prstGeom>
          <a:solidFill>
            <a:srgbClr val="FFFFFF"/>
          </a:solidFill>
          <a:ln w="9525">
            <a:solidFill>
              <a:schemeClr val="bg1">
                <a:lumMod val="50000"/>
              </a:schemeClr>
            </a:solidFill>
            <a:miter lim="800000"/>
            <a:headEnd/>
            <a:tailEnd/>
          </a:ln>
        </p:spPr>
        <p:txBody>
          <a:bodyPr/>
          <a:lstStyle/>
          <a:p>
            <a:pPr marL="285750" indent="-285750">
              <a:lnSpc>
                <a:spcPct val="120000"/>
              </a:lnSpc>
              <a:spcBef>
                <a:spcPct val="20000"/>
              </a:spcBef>
              <a:buClr>
                <a:srgbClr val="003399"/>
              </a:buClr>
              <a:buFontTx/>
              <a:buChar char="-"/>
            </a:pPr>
            <a:r>
              <a:rPr lang="ko-KR" altLang="en-US" dirty="0">
                <a:latin typeface="+mn-ea"/>
              </a:rPr>
              <a:t>丙</a:t>
            </a:r>
            <a:r>
              <a:rPr lang="ko-KR" altLang="en-US" b="0" dirty="0">
                <a:latin typeface="+mn-ea"/>
              </a:rPr>
              <a:t>의 </a:t>
            </a:r>
            <a:r>
              <a:rPr lang="en-US" altLang="ko-KR" b="0" dirty="0">
                <a:latin typeface="+mn-ea"/>
              </a:rPr>
              <a:t>A+B1+C+D</a:t>
            </a:r>
            <a:r>
              <a:rPr lang="ko-KR" altLang="en-US" b="0" dirty="0">
                <a:latin typeface="+mn-ea"/>
              </a:rPr>
              <a:t>의 출원은 특허등록을 받을 수 있는가</a:t>
            </a:r>
            <a:r>
              <a:rPr lang="en-US" altLang="ko-KR" b="0" dirty="0">
                <a:latin typeface="+mn-ea"/>
              </a:rPr>
              <a:t>?</a:t>
            </a:r>
          </a:p>
          <a:p>
            <a:pPr marL="285750" indent="-285750">
              <a:lnSpc>
                <a:spcPct val="120000"/>
              </a:lnSpc>
              <a:spcBef>
                <a:spcPct val="20000"/>
              </a:spcBef>
              <a:buClr>
                <a:srgbClr val="003399"/>
              </a:buClr>
              <a:buFontTx/>
              <a:buChar char="-"/>
            </a:pPr>
            <a:r>
              <a:rPr lang="ko-KR" altLang="en-US" b="0" dirty="0">
                <a:latin typeface="+mn-ea"/>
              </a:rPr>
              <a:t>丙이 </a:t>
            </a:r>
            <a:r>
              <a:rPr lang="en-US" altLang="ko-KR" dirty="0">
                <a:latin typeface="+mn-ea"/>
              </a:rPr>
              <a:t>A+B1+C+D</a:t>
            </a:r>
            <a:r>
              <a:rPr lang="ko-KR" altLang="en-US" b="0" dirty="0">
                <a:latin typeface="+mn-ea"/>
              </a:rPr>
              <a:t>를 판매하는 것은 甲의 특허권의 침해인가</a:t>
            </a:r>
            <a:r>
              <a:rPr lang="en-US" altLang="ko-KR" b="0" dirty="0">
                <a:latin typeface="+mn-ea"/>
              </a:rPr>
              <a:t>?</a:t>
            </a:r>
          </a:p>
        </p:txBody>
      </p:sp>
      <p:sp>
        <p:nvSpPr>
          <p:cNvPr id="5" name="말풍선: 모서리가 둥근 사각형 4">
            <a:extLst>
              <a:ext uri="{FF2B5EF4-FFF2-40B4-BE49-F238E27FC236}">
                <a16:creationId xmlns:a16="http://schemas.microsoft.com/office/drawing/2014/main" id="{11EC50B9-7EB0-462B-9684-93545701BA92}"/>
              </a:ext>
            </a:extLst>
          </p:cNvPr>
          <p:cNvSpPr/>
          <p:nvPr/>
        </p:nvSpPr>
        <p:spPr>
          <a:xfrm>
            <a:off x="9144000" y="1367221"/>
            <a:ext cx="1504950" cy="386161"/>
          </a:xfrm>
          <a:prstGeom prst="wedgeRoundRectCallout">
            <a:avLst>
              <a:gd name="adj1" fmla="val -24295"/>
              <a:gd name="adj2" fmla="val 92427"/>
              <a:gd name="adj3" fmla="val 16667"/>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accent3">
                    <a:lumMod val="50000"/>
                  </a:schemeClr>
                </a:solidFill>
              </a:rPr>
              <a:t>B1</a:t>
            </a:r>
            <a:r>
              <a:rPr lang="ko-KR" altLang="en-US" sz="1400" dirty="0">
                <a:solidFill>
                  <a:schemeClr val="accent3">
                    <a:lumMod val="50000"/>
                  </a:schemeClr>
                </a:solidFill>
              </a:rPr>
              <a:t>이 </a:t>
            </a:r>
            <a:r>
              <a:rPr lang="en-US" altLang="ko-KR" sz="1400" dirty="0">
                <a:solidFill>
                  <a:schemeClr val="accent3">
                    <a:lumMod val="50000"/>
                  </a:schemeClr>
                </a:solidFill>
              </a:rPr>
              <a:t>B</a:t>
            </a:r>
            <a:r>
              <a:rPr lang="ko-KR" altLang="en-US" sz="1400" dirty="0">
                <a:solidFill>
                  <a:schemeClr val="accent3">
                    <a:lumMod val="50000"/>
                  </a:schemeClr>
                </a:solidFill>
              </a:rPr>
              <a:t>의 </a:t>
            </a:r>
            <a:r>
              <a:rPr lang="ko-KR" altLang="en-US" sz="1400" dirty="0" err="1">
                <a:solidFill>
                  <a:schemeClr val="accent3">
                    <a:lumMod val="50000"/>
                  </a:schemeClr>
                </a:solidFill>
              </a:rPr>
              <a:t>균등물</a:t>
            </a:r>
            <a:endParaRPr lang="ko-KR" altLang="en-US" sz="1400" dirty="0">
              <a:solidFill>
                <a:schemeClr val="accent3">
                  <a:lumMod val="50000"/>
                </a:schemeClr>
              </a:solidFill>
            </a:endParaRPr>
          </a:p>
        </p:txBody>
      </p:sp>
    </p:spTree>
    <p:extLst>
      <p:ext uri="{BB962C8B-B14F-4D97-AF65-F5344CB8AC3E}">
        <p14:creationId xmlns:p14="http://schemas.microsoft.com/office/powerpoint/2010/main" val="1838335741"/>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5" name="텍스트 개체 틀 4"/>
          <p:cNvSpPr>
            <a:spLocks noGrp="1"/>
          </p:cNvSpPr>
          <p:nvPr>
            <p:ph type="body" sz="quarter" idx="13"/>
          </p:nvPr>
        </p:nvSpPr>
        <p:spPr/>
        <p:txBody>
          <a:bodyPr/>
          <a:lstStyle/>
          <a:p>
            <a:r>
              <a:rPr lang="ko-KR" altLang="en-US" dirty="0"/>
              <a:t>이용관계의 유형</a:t>
            </a:r>
            <a:r>
              <a:rPr lang="en-US" altLang="ko-KR" dirty="0"/>
              <a:t>: </a:t>
            </a:r>
            <a:r>
              <a:rPr lang="ko-KR" altLang="en-US" dirty="0" err="1"/>
              <a:t>그대로설</a:t>
            </a:r>
            <a:r>
              <a:rPr lang="en-US" altLang="ko-KR" dirty="0"/>
              <a:t>(</a:t>
            </a:r>
            <a:r>
              <a:rPr lang="ko-KR" altLang="en-US" dirty="0" err="1"/>
              <a:t>내적부가</a:t>
            </a:r>
            <a:r>
              <a:rPr lang="en-US" altLang="ko-KR" dirty="0"/>
              <a:t>)</a:t>
            </a:r>
            <a:r>
              <a:rPr lang="ko-KR" altLang="en-US" dirty="0"/>
              <a:t> </a:t>
            </a:r>
          </a:p>
        </p:txBody>
      </p:sp>
      <p:sp>
        <p:nvSpPr>
          <p:cNvPr id="3" name="슬라이드 번호 개체 틀 2"/>
          <p:cNvSpPr>
            <a:spLocks noGrp="1"/>
          </p:cNvSpPr>
          <p:nvPr>
            <p:ph type="sldNum" sz="quarter" idx="4294967295"/>
          </p:nvPr>
        </p:nvSpPr>
        <p:spPr>
          <a:xfrm>
            <a:off x="11125200" y="0"/>
            <a:ext cx="1066800" cy="744538"/>
          </a:xfrm>
        </p:spPr>
        <p:txBody>
          <a:bodyPr/>
          <a:lstStyle/>
          <a:p>
            <a:r>
              <a:rPr lang="en-US" altLang="ko-KR"/>
              <a:t>357</a:t>
            </a:r>
            <a:endParaRPr lang="ko-KR" altLang="en-US"/>
          </a:p>
        </p:txBody>
      </p:sp>
      <p:sp>
        <p:nvSpPr>
          <p:cNvPr id="11" name="직사각형 10"/>
          <p:cNvSpPr/>
          <p:nvPr/>
        </p:nvSpPr>
        <p:spPr>
          <a:xfrm>
            <a:off x="328638" y="1138535"/>
            <a:ext cx="11506804" cy="584775"/>
          </a:xfrm>
          <a:prstGeom prst="rect">
            <a:avLst/>
          </a:prstGeom>
          <a:solidFill>
            <a:schemeClr val="accent4">
              <a:lumMod val="20000"/>
              <a:lumOff val="80000"/>
            </a:schemeClr>
          </a:solidFill>
          <a:ln>
            <a:solidFill>
              <a:schemeClr val="bg1">
                <a:lumMod val="50000"/>
              </a:schemeClr>
            </a:solidFill>
          </a:ln>
        </p:spPr>
        <p:txBody>
          <a:bodyPr wrap="square">
            <a:spAutoFit/>
          </a:bodyPr>
          <a:lstStyle/>
          <a:p>
            <a:pPr fontAlgn="base"/>
            <a:r>
              <a:rPr lang="ko-KR" altLang="en-US" sz="1600" dirty="0"/>
              <a:t>甲이 </a:t>
            </a:r>
            <a:r>
              <a:rPr lang="en-US" altLang="ko-KR" sz="1600" dirty="0"/>
              <a:t>A+B+C</a:t>
            </a:r>
            <a:r>
              <a:rPr lang="ko-KR" altLang="en-US" sz="1600" dirty="0"/>
              <a:t>로 구성된 발명을 출원 후 </a:t>
            </a:r>
            <a:r>
              <a:rPr lang="ko-KR" altLang="en-US" sz="1600" dirty="0" err="1"/>
              <a:t>실시중이고</a:t>
            </a:r>
            <a:r>
              <a:rPr lang="en-US" altLang="ko-KR" sz="1600" dirty="0"/>
              <a:t>, </a:t>
            </a:r>
            <a:r>
              <a:rPr lang="ko-KR" altLang="en-US" sz="1600" dirty="0"/>
              <a:t>乙이 </a:t>
            </a:r>
            <a:r>
              <a:rPr lang="en-US" altLang="ko-KR" sz="1600" dirty="0"/>
              <a:t>a1(A</a:t>
            </a:r>
            <a:r>
              <a:rPr lang="ko-KR" altLang="en-US" sz="1600" dirty="0"/>
              <a:t>의 하위구성요소</a:t>
            </a:r>
            <a:r>
              <a:rPr lang="en-US" altLang="ko-KR" sz="1600" dirty="0"/>
              <a:t>)+B+C</a:t>
            </a:r>
            <a:r>
              <a:rPr lang="ko-KR" altLang="en-US" sz="1600" dirty="0"/>
              <a:t>로 구성된 발명을 출원 후 실시중인 경우 </a:t>
            </a:r>
            <a:r>
              <a:rPr lang="ko-KR" altLang="en-US" sz="1600" dirty="0" err="1"/>
              <a:t>후출원의</a:t>
            </a:r>
            <a:r>
              <a:rPr lang="ko-KR" altLang="en-US" sz="1600" dirty="0"/>
              <a:t> 등록가능성 및 실시가 침해인지 여부</a:t>
            </a:r>
            <a:r>
              <a:rPr lang="en-US" altLang="ko-KR" sz="1600" dirty="0"/>
              <a:t>(</a:t>
            </a:r>
            <a:r>
              <a:rPr lang="ko-KR" altLang="en-US" sz="1600" dirty="0"/>
              <a:t>선택발명 判例</a:t>
            </a:r>
            <a:r>
              <a:rPr lang="en-US" altLang="ko-KR" sz="1600" dirty="0"/>
              <a:t>)</a:t>
            </a:r>
            <a:endParaRPr lang="ko-KR" altLang="en-US" sz="1600" dirty="0"/>
          </a:p>
        </p:txBody>
      </p:sp>
      <p:graphicFrame>
        <p:nvGraphicFramePr>
          <p:cNvPr id="2" name="표 1"/>
          <p:cNvGraphicFramePr>
            <a:graphicFrameLocks noGrp="1"/>
          </p:cNvGraphicFramePr>
          <p:nvPr/>
        </p:nvGraphicFramePr>
        <p:xfrm>
          <a:off x="328638" y="1842799"/>
          <a:ext cx="11506805" cy="1700500"/>
        </p:xfrm>
        <a:graphic>
          <a:graphicData uri="http://schemas.openxmlformats.org/drawingml/2006/table">
            <a:tbl>
              <a:tblPr>
                <a:tableStyleId>{8799B23B-EC83-4686-B30A-512413B5E67A}</a:tableStyleId>
              </a:tblPr>
              <a:tblGrid>
                <a:gridCol w="1407751">
                  <a:extLst>
                    <a:ext uri="{9D8B030D-6E8A-4147-A177-3AD203B41FA5}">
                      <a16:colId xmlns:a16="http://schemas.microsoft.com/office/drawing/2014/main" val="20000"/>
                    </a:ext>
                  </a:extLst>
                </a:gridCol>
                <a:gridCol w="4767928">
                  <a:extLst>
                    <a:ext uri="{9D8B030D-6E8A-4147-A177-3AD203B41FA5}">
                      <a16:colId xmlns:a16="http://schemas.microsoft.com/office/drawing/2014/main" val="20001"/>
                    </a:ext>
                  </a:extLst>
                </a:gridCol>
                <a:gridCol w="5331126">
                  <a:extLst>
                    <a:ext uri="{9D8B030D-6E8A-4147-A177-3AD203B41FA5}">
                      <a16:colId xmlns:a16="http://schemas.microsoft.com/office/drawing/2014/main" val="20002"/>
                    </a:ext>
                  </a:extLst>
                </a:gridCol>
              </a:tblGrid>
              <a:tr h="261265">
                <a:tc>
                  <a:txBody>
                    <a:bodyPr/>
                    <a:lstStyle/>
                    <a:p>
                      <a:pPr marL="0" marR="0" indent="0" algn="ctr" fontAlgn="base" latinLnBrk="0">
                        <a:lnSpc>
                          <a:spcPct val="100000"/>
                        </a:lnSpc>
                        <a:spcBef>
                          <a:spcPts val="0"/>
                        </a:spcBef>
                        <a:spcAft>
                          <a:spcPts val="0"/>
                        </a:spcAft>
                      </a:pPr>
                      <a:r>
                        <a:rPr lang="ko-KR" altLang="en-US" sz="1200" kern="1200" dirty="0" err="1"/>
                        <a:t>선출원여부</a:t>
                      </a:r>
                      <a:endParaRPr lang="ko-KR" altLang="en-US" sz="1200" kern="1200" dirty="0">
                        <a:solidFill>
                          <a:schemeClr val="tx1"/>
                        </a:solidFill>
                        <a:latin typeface="+mn-lt"/>
                        <a:ea typeface="+mn-ea"/>
                        <a:cs typeface="+mn-cs"/>
                      </a:endParaRPr>
                    </a:p>
                  </a:txBody>
                  <a:tcPr marL="36000" marR="3600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1200" dirty="0" err="1"/>
                        <a:t>후출원의</a:t>
                      </a:r>
                      <a:r>
                        <a:rPr lang="ko-KR" altLang="en-US" sz="1200" kern="1200" dirty="0"/>
                        <a:t> 등록가능성</a:t>
                      </a:r>
                      <a:endParaRPr lang="ko-KR" altLang="en-US" sz="1200" kern="1200" dirty="0">
                        <a:solidFill>
                          <a:schemeClr val="tx1"/>
                        </a:solidFill>
                        <a:latin typeface="+mn-lt"/>
                        <a:ea typeface="+mn-ea"/>
                        <a:cs typeface="+mn-cs"/>
                      </a:endParaRPr>
                    </a:p>
                  </a:txBody>
                  <a:tcPr marL="36000" marR="3600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1200" dirty="0" err="1"/>
                        <a:t>후출원의</a:t>
                      </a:r>
                      <a:r>
                        <a:rPr lang="ko-KR" altLang="en-US" sz="1200" kern="1200" dirty="0"/>
                        <a:t> 실시가 </a:t>
                      </a:r>
                      <a:r>
                        <a:rPr lang="ko-KR" altLang="en-US" sz="1200" kern="1200" dirty="0" err="1"/>
                        <a:t>선출원의</a:t>
                      </a:r>
                      <a:r>
                        <a:rPr lang="ko-KR" altLang="en-US" sz="1200" kern="1200" dirty="0"/>
                        <a:t> 침해인지 여부</a:t>
                      </a:r>
                      <a:endParaRPr lang="ko-KR" altLang="en-US" sz="1200" kern="1200" dirty="0">
                        <a:solidFill>
                          <a:schemeClr val="tx1"/>
                        </a:solidFill>
                        <a:latin typeface="+mn-lt"/>
                        <a:ea typeface="+mn-ea"/>
                        <a:cs typeface="+mn-cs"/>
                      </a:endParaRPr>
                    </a:p>
                  </a:txBody>
                  <a:tcPr marL="36000" marR="36000" marT="17907" marB="17907" anchor="ctr">
                    <a:solidFill>
                      <a:schemeClr val="accent1">
                        <a:lumMod val="20000"/>
                        <a:lumOff val="80000"/>
                      </a:schemeClr>
                    </a:solidFill>
                  </a:tcPr>
                </a:tc>
                <a:extLst>
                  <a:ext uri="{0D108BD9-81ED-4DB2-BD59-A6C34878D82A}">
                    <a16:rowId xmlns:a16="http://schemas.microsoft.com/office/drawing/2014/main" val="10000"/>
                  </a:ext>
                </a:extLst>
              </a:tr>
              <a:tr h="479745">
                <a:tc>
                  <a:txBody>
                    <a:bodyPr/>
                    <a:lstStyle/>
                    <a:p>
                      <a:pPr marL="0" marR="0" indent="0" algn="ctr" fontAlgn="base" latinLnBrk="0">
                        <a:lnSpc>
                          <a:spcPct val="100000"/>
                        </a:lnSpc>
                        <a:spcBef>
                          <a:spcPts val="0"/>
                        </a:spcBef>
                        <a:spcAft>
                          <a:spcPts val="0"/>
                        </a:spcAft>
                      </a:pPr>
                      <a:r>
                        <a:rPr lang="ko-KR" altLang="en-US" sz="1200" kern="1200" dirty="0"/>
                        <a:t>甲 </a:t>
                      </a:r>
                      <a:r>
                        <a:rPr lang="en-US" altLang="ko-KR" sz="1200" kern="1200" dirty="0"/>
                        <a:t>&gt; </a:t>
                      </a:r>
                      <a:r>
                        <a:rPr lang="ko-KR" altLang="en-US" sz="1200" kern="1200" dirty="0"/>
                        <a:t>乙</a:t>
                      </a:r>
                      <a:endParaRPr lang="ko-KR" altLang="en-US" sz="1200" kern="1200" dirty="0">
                        <a:solidFill>
                          <a:schemeClr val="tx1"/>
                        </a:solidFill>
                        <a:latin typeface="+mn-lt"/>
                        <a:ea typeface="+mn-ea"/>
                        <a:cs typeface="+mn-cs"/>
                      </a:endParaRPr>
                    </a:p>
                  </a:txBody>
                  <a:tcPr marL="36000" marR="36000" marT="17907" marB="17907" anchor="ctr"/>
                </a:tc>
                <a:tc>
                  <a:txBody>
                    <a:bodyPr/>
                    <a:lstStyle/>
                    <a:p>
                      <a:pPr marL="215900" marR="31750" indent="-184150" algn="l" fontAlgn="base" latinLnBrk="1">
                        <a:lnSpc>
                          <a:spcPct val="100000"/>
                        </a:lnSpc>
                        <a:spcBef>
                          <a:spcPts val="0"/>
                        </a:spcBef>
                        <a:spcAft>
                          <a:spcPts val="0"/>
                        </a:spcAft>
                        <a:buAutoNum type="arabicPeriod"/>
                      </a:pPr>
                      <a:r>
                        <a:rPr lang="ko-KR" altLang="en-US" sz="1200" kern="1200" dirty="0"/>
                        <a:t>甲의 공개 전 → 등록가능</a:t>
                      </a:r>
                      <a:endParaRPr lang="en-US" altLang="ko-KR" sz="1200" kern="1200" dirty="0"/>
                    </a:p>
                    <a:p>
                      <a:pPr marL="215900" marR="31750" indent="-184150" algn="l" fontAlgn="base" latinLnBrk="1">
                        <a:lnSpc>
                          <a:spcPct val="100000"/>
                        </a:lnSpc>
                        <a:spcBef>
                          <a:spcPts val="0"/>
                        </a:spcBef>
                        <a:spcAft>
                          <a:spcPts val="0"/>
                        </a:spcAft>
                        <a:buAutoNum type="arabicPeriod"/>
                      </a:pPr>
                      <a:r>
                        <a:rPr lang="ko-KR" altLang="en-US" sz="1200" kern="1200" dirty="0">
                          <a:solidFill>
                            <a:schemeClr val="tx1"/>
                          </a:solidFill>
                          <a:latin typeface="+mn-lt"/>
                          <a:ea typeface="+mn-ea"/>
                          <a:cs typeface="+mn-cs"/>
                        </a:rPr>
                        <a:t>甲의 공개 후 → </a:t>
                      </a:r>
                      <a:r>
                        <a:rPr lang="en-US" altLang="ko-KR" sz="1200" kern="1200" dirty="0">
                          <a:solidFill>
                            <a:schemeClr val="tx1"/>
                          </a:solidFill>
                          <a:latin typeface="+mn-lt"/>
                          <a:ea typeface="+mn-ea"/>
                          <a:cs typeface="+mn-cs"/>
                        </a:rPr>
                        <a:t>A+B+C</a:t>
                      </a:r>
                      <a:r>
                        <a:rPr lang="ko-KR" altLang="en-US" sz="1200" kern="1200" dirty="0">
                          <a:solidFill>
                            <a:schemeClr val="tx1"/>
                          </a:solidFill>
                          <a:latin typeface="+mn-lt"/>
                          <a:ea typeface="+mn-ea"/>
                          <a:cs typeface="+mn-cs"/>
                        </a:rPr>
                        <a:t>로부터 쉽게 발명할 수 있는 경우 法 </a:t>
                      </a:r>
                      <a:r>
                        <a:rPr lang="en-US" altLang="ko-KR" sz="1200" kern="1200" dirty="0">
                          <a:solidFill>
                            <a:schemeClr val="tx1"/>
                          </a:solidFill>
                          <a:latin typeface="+mn-lt"/>
                          <a:ea typeface="+mn-ea"/>
                          <a:cs typeface="+mn-cs"/>
                        </a:rPr>
                        <a:t>29</a:t>
                      </a:r>
                      <a:r>
                        <a:rPr lang="ko-KR" altLang="en-US" sz="1200" kern="1200" dirty="0">
                          <a:solidFill>
                            <a:schemeClr val="tx1"/>
                          </a:solidFill>
                          <a:latin typeface="+mn-lt"/>
                          <a:ea typeface="+mn-ea"/>
                          <a:cs typeface="+mn-cs"/>
                        </a:rPr>
                        <a:t>② 위반</a:t>
                      </a:r>
                      <a:r>
                        <a:rPr lang="en-US" altLang="ko-KR" sz="1200" kern="1200" dirty="0">
                          <a:solidFill>
                            <a:schemeClr val="tx1"/>
                          </a:solidFill>
                          <a:latin typeface="+mn-lt"/>
                          <a:ea typeface="+mn-ea"/>
                          <a:cs typeface="+mn-cs"/>
                        </a:rPr>
                        <a:t>*</a:t>
                      </a:r>
                      <a:endParaRPr lang="ko-KR" altLang="en-US" sz="1200" kern="1200" dirty="0">
                        <a:solidFill>
                          <a:schemeClr val="tx1"/>
                        </a:solidFill>
                        <a:latin typeface="+mn-lt"/>
                        <a:ea typeface="+mn-ea"/>
                        <a:cs typeface="+mn-cs"/>
                      </a:endParaRPr>
                    </a:p>
                  </a:txBody>
                  <a:tcPr marL="36000" marR="36000" marT="17907" marB="17907" anchor="ctr"/>
                </a:tc>
                <a:tc>
                  <a:txBody>
                    <a:bodyPr/>
                    <a:lstStyle/>
                    <a:p>
                      <a:pPr marL="120650" marR="31750" indent="-120650" algn="l" fontAlgn="base" latinLnBrk="1">
                        <a:lnSpc>
                          <a:spcPct val="100000"/>
                        </a:lnSpc>
                        <a:spcBef>
                          <a:spcPts val="0"/>
                        </a:spcBef>
                        <a:spcAft>
                          <a:spcPts val="0"/>
                        </a:spcAft>
                      </a:pPr>
                      <a:r>
                        <a:rPr lang="en-US" altLang="ko-KR" sz="1200" kern="1200" dirty="0"/>
                        <a:t>1. </a:t>
                      </a:r>
                      <a:r>
                        <a:rPr lang="ko-KR" altLang="en-US" sz="1200" kern="1200" dirty="0"/>
                        <a:t>乙의 실시는 甲의 특허권의 침해로 보는 것이 타당</a:t>
                      </a:r>
                    </a:p>
                    <a:p>
                      <a:pPr marL="124460" marR="31750" indent="-124460" algn="l" fontAlgn="base" latinLnBrk="1">
                        <a:lnSpc>
                          <a:spcPct val="100000"/>
                        </a:lnSpc>
                        <a:spcBef>
                          <a:spcPts val="0"/>
                        </a:spcBef>
                        <a:spcAft>
                          <a:spcPts val="0"/>
                        </a:spcAft>
                      </a:pPr>
                      <a:r>
                        <a:rPr lang="en-US" altLang="ko-KR" sz="1200" kern="1200" dirty="0"/>
                        <a:t>2. </a:t>
                      </a:r>
                      <a:r>
                        <a:rPr lang="ko-KR" altLang="en-US" sz="1200" kern="1200" dirty="0"/>
                        <a:t>단</a:t>
                      </a:r>
                      <a:r>
                        <a:rPr lang="en-US" altLang="ko-KR" sz="1200" kern="1200" dirty="0"/>
                        <a:t>, </a:t>
                      </a:r>
                      <a:r>
                        <a:rPr lang="ko-KR" altLang="en-US" sz="1200" kern="1200" dirty="0"/>
                        <a:t>판례는 현저한 효과가 있어 등록된 경우 침해가 아니라고 판시</a:t>
                      </a:r>
                      <a:r>
                        <a:rPr lang="en-US" altLang="ko-KR" sz="1200" kern="1200" dirty="0"/>
                        <a:t>**</a:t>
                      </a:r>
                      <a:endParaRPr lang="ko-KR" altLang="en-US" sz="1200" kern="1200" dirty="0">
                        <a:solidFill>
                          <a:schemeClr val="tx1"/>
                        </a:solidFill>
                        <a:latin typeface="+mn-lt"/>
                        <a:ea typeface="+mn-ea"/>
                        <a:cs typeface="+mn-cs"/>
                      </a:endParaRPr>
                    </a:p>
                  </a:txBody>
                  <a:tcPr marL="36000" marR="36000" marT="17907" marB="17907" anchor="ctr"/>
                </a:tc>
                <a:extLst>
                  <a:ext uri="{0D108BD9-81ED-4DB2-BD59-A6C34878D82A}">
                    <a16:rowId xmlns:a16="http://schemas.microsoft.com/office/drawing/2014/main" val="10001"/>
                  </a:ext>
                </a:extLst>
              </a:tr>
              <a:tr h="479745">
                <a:tc>
                  <a:txBody>
                    <a:bodyPr/>
                    <a:lstStyle/>
                    <a:p>
                      <a:pPr marL="0" marR="0" indent="0" algn="ctr" fontAlgn="base" latinLnBrk="0">
                        <a:lnSpc>
                          <a:spcPct val="100000"/>
                        </a:lnSpc>
                        <a:spcBef>
                          <a:spcPts val="0"/>
                        </a:spcBef>
                        <a:spcAft>
                          <a:spcPts val="0"/>
                        </a:spcAft>
                      </a:pPr>
                      <a:r>
                        <a:rPr lang="ko-KR" altLang="en-US" sz="1200" kern="1200"/>
                        <a:t>甲 </a:t>
                      </a:r>
                      <a:r>
                        <a:rPr lang="en-US" altLang="ko-KR" sz="1200" kern="1200"/>
                        <a:t>&lt; </a:t>
                      </a:r>
                      <a:r>
                        <a:rPr lang="ko-KR" altLang="en-US" sz="1200" kern="1200"/>
                        <a:t>乙</a:t>
                      </a:r>
                      <a:endParaRPr lang="ko-KR" altLang="en-US" sz="1200" kern="1200">
                        <a:solidFill>
                          <a:schemeClr val="tx1"/>
                        </a:solidFill>
                        <a:latin typeface="+mn-lt"/>
                        <a:ea typeface="+mn-ea"/>
                        <a:cs typeface="+mn-cs"/>
                      </a:endParaRPr>
                    </a:p>
                  </a:txBody>
                  <a:tcPr marL="36000" marR="36000" marT="17907" marB="17907" anchor="ctr"/>
                </a:tc>
                <a:tc>
                  <a:txBody>
                    <a:bodyPr/>
                    <a:lstStyle/>
                    <a:p>
                      <a:pPr marL="31750" marR="31750" indent="0" algn="l" fontAlgn="base" latinLnBrk="1">
                        <a:lnSpc>
                          <a:spcPct val="100000"/>
                        </a:lnSpc>
                        <a:spcBef>
                          <a:spcPts val="0"/>
                        </a:spcBef>
                        <a:spcAft>
                          <a:spcPts val="0"/>
                        </a:spcAft>
                      </a:pPr>
                      <a:r>
                        <a:rPr lang="en-US" altLang="ko-KR" sz="1200" kern="1200"/>
                        <a:t>1. </a:t>
                      </a:r>
                      <a:r>
                        <a:rPr lang="ko-KR" altLang="en-US" sz="1200" kern="1200"/>
                        <a:t>乙의 공개 전 → 法 </a:t>
                      </a:r>
                      <a:r>
                        <a:rPr lang="en-US" altLang="ko-KR" sz="1200" kern="1200"/>
                        <a:t>29</a:t>
                      </a:r>
                      <a:r>
                        <a:rPr lang="ko-KR" altLang="en-US" sz="1200" kern="1200"/>
                        <a:t>③④</a:t>
                      </a:r>
                      <a:r>
                        <a:rPr lang="en-US" altLang="ko-KR" sz="1200" kern="1200"/>
                        <a:t>, 36 </a:t>
                      </a:r>
                      <a:r>
                        <a:rPr lang="ko-KR" altLang="en-US" sz="1200" kern="1200"/>
                        <a:t>위반</a:t>
                      </a:r>
                    </a:p>
                    <a:p>
                      <a:pPr marL="31750" marR="31750" indent="0" algn="l" fontAlgn="base" latinLnBrk="1">
                        <a:lnSpc>
                          <a:spcPct val="100000"/>
                        </a:lnSpc>
                        <a:spcBef>
                          <a:spcPts val="0"/>
                        </a:spcBef>
                        <a:spcAft>
                          <a:spcPts val="0"/>
                        </a:spcAft>
                      </a:pPr>
                      <a:r>
                        <a:rPr lang="en-US" altLang="ko-KR" sz="1200" kern="1200"/>
                        <a:t>2. </a:t>
                      </a:r>
                      <a:r>
                        <a:rPr lang="ko-KR" altLang="en-US" sz="1200" kern="1200"/>
                        <a:t>乙의 공개 후 → 法 </a:t>
                      </a:r>
                      <a:r>
                        <a:rPr lang="en-US" altLang="ko-KR" sz="1200" kern="1200"/>
                        <a:t>29</a:t>
                      </a:r>
                      <a:r>
                        <a:rPr lang="ko-KR" altLang="en-US" sz="1200" kern="1200"/>
                        <a:t>①</a:t>
                      </a:r>
                      <a:r>
                        <a:rPr lang="en-US" altLang="ko-KR" sz="1200" kern="1200"/>
                        <a:t>, 36 </a:t>
                      </a:r>
                      <a:r>
                        <a:rPr lang="ko-KR" altLang="en-US" sz="1200" kern="1200"/>
                        <a:t>위반</a:t>
                      </a:r>
                      <a:endParaRPr lang="ko-KR" altLang="en-US" sz="1200" kern="1200">
                        <a:solidFill>
                          <a:schemeClr val="tx1"/>
                        </a:solidFill>
                        <a:latin typeface="+mn-lt"/>
                        <a:ea typeface="+mn-ea"/>
                        <a:cs typeface="+mn-cs"/>
                      </a:endParaRPr>
                    </a:p>
                  </a:txBody>
                  <a:tcPr marL="36000" marR="36000" marT="17907" marB="17907" anchor="ctr"/>
                </a:tc>
                <a:tc>
                  <a:txBody>
                    <a:bodyPr/>
                    <a:lstStyle/>
                    <a:p>
                      <a:pPr marL="162560" marR="31750" indent="-162560" algn="l" fontAlgn="base" latinLnBrk="1">
                        <a:lnSpc>
                          <a:spcPct val="100000"/>
                        </a:lnSpc>
                        <a:spcBef>
                          <a:spcPts val="0"/>
                        </a:spcBef>
                        <a:spcAft>
                          <a:spcPts val="0"/>
                        </a:spcAft>
                      </a:pPr>
                      <a:r>
                        <a:rPr lang="en-US" altLang="ko-KR" sz="1200" kern="1200" dirty="0"/>
                        <a:t>1. </a:t>
                      </a:r>
                      <a:r>
                        <a:rPr lang="ko-KR" altLang="en-US" sz="1200" kern="1200" dirty="0"/>
                        <a:t>甲이 </a:t>
                      </a:r>
                      <a:r>
                        <a:rPr lang="en-US" altLang="ko-KR" sz="1200" kern="1200" dirty="0"/>
                        <a:t>a1+b+c</a:t>
                      </a:r>
                      <a:r>
                        <a:rPr lang="ko-KR" altLang="en-US" sz="1200" kern="1200" dirty="0"/>
                        <a:t>를 실시하는 경우 침해</a:t>
                      </a:r>
                    </a:p>
                    <a:p>
                      <a:pPr marL="162560" marR="31750" indent="-162560" algn="l" fontAlgn="base" latinLnBrk="1">
                        <a:lnSpc>
                          <a:spcPct val="100000"/>
                        </a:lnSpc>
                        <a:spcBef>
                          <a:spcPts val="0"/>
                        </a:spcBef>
                        <a:spcAft>
                          <a:spcPts val="0"/>
                        </a:spcAft>
                      </a:pPr>
                      <a:r>
                        <a:rPr lang="en-US" altLang="ko-KR" sz="1200" kern="1200" dirty="0"/>
                        <a:t>2. </a:t>
                      </a:r>
                      <a:r>
                        <a:rPr lang="ko-KR" altLang="en-US" sz="1200" kern="1200" dirty="0"/>
                        <a:t>그렇지 않으면 </a:t>
                      </a:r>
                      <a:r>
                        <a:rPr lang="ko-KR" altLang="en-US" sz="1200" kern="1200" dirty="0" err="1"/>
                        <a:t>비침해</a:t>
                      </a:r>
                      <a:endParaRPr lang="ko-KR" altLang="en-US" sz="1200" kern="1200" dirty="0">
                        <a:solidFill>
                          <a:schemeClr val="tx1"/>
                        </a:solidFill>
                        <a:latin typeface="+mn-lt"/>
                        <a:ea typeface="+mn-ea"/>
                        <a:cs typeface="+mn-cs"/>
                      </a:endParaRPr>
                    </a:p>
                  </a:txBody>
                  <a:tcPr marL="36000" marR="36000" marT="17907" marB="17907" anchor="ctr"/>
                </a:tc>
                <a:extLst>
                  <a:ext uri="{0D108BD9-81ED-4DB2-BD59-A6C34878D82A}">
                    <a16:rowId xmlns:a16="http://schemas.microsoft.com/office/drawing/2014/main" val="10002"/>
                  </a:ext>
                </a:extLst>
              </a:tr>
              <a:tr h="479745">
                <a:tc>
                  <a:txBody>
                    <a:bodyPr/>
                    <a:lstStyle/>
                    <a:p>
                      <a:pPr marL="0" marR="0" indent="0" algn="ctr" fontAlgn="base" latinLnBrk="0">
                        <a:lnSpc>
                          <a:spcPct val="100000"/>
                        </a:lnSpc>
                        <a:spcBef>
                          <a:spcPts val="0"/>
                        </a:spcBef>
                        <a:spcAft>
                          <a:spcPts val="0"/>
                        </a:spcAft>
                      </a:pPr>
                      <a:r>
                        <a:rPr lang="ko-KR" altLang="en-US" sz="1200" kern="1200"/>
                        <a:t>甲 </a:t>
                      </a:r>
                      <a:r>
                        <a:rPr lang="en-US" altLang="ko-KR" sz="1200" kern="1200"/>
                        <a:t>= </a:t>
                      </a:r>
                      <a:r>
                        <a:rPr lang="ko-KR" altLang="en-US" sz="1200" kern="1200"/>
                        <a:t>乙</a:t>
                      </a:r>
                      <a:endParaRPr lang="ko-KR" altLang="en-US" sz="1200" kern="1200">
                        <a:solidFill>
                          <a:schemeClr val="tx1"/>
                        </a:solidFill>
                        <a:latin typeface="+mn-lt"/>
                        <a:ea typeface="+mn-ea"/>
                        <a:cs typeface="+mn-cs"/>
                      </a:endParaRPr>
                    </a:p>
                  </a:txBody>
                  <a:tcPr marL="36000" marR="36000" marT="17907" marB="17907" anchor="ctr"/>
                </a:tc>
                <a:tc>
                  <a:txBody>
                    <a:bodyPr/>
                    <a:lstStyle/>
                    <a:p>
                      <a:pPr marL="31750" marR="31750" indent="0" algn="l" fontAlgn="base" latinLnBrk="1">
                        <a:lnSpc>
                          <a:spcPct val="100000"/>
                        </a:lnSpc>
                        <a:spcBef>
                          <a:spcPts val="0"/>
                        </a:spcBef>
                        <a:spcAft>
                          <a:spcPts val="0"/>
                        </a:spcAft>
                      </a:pPr>
                      <a:r>
                        <a:rPr lang="ko-KR" altLang="en-US" sz="1200" kern="1200" dirty="0"/>
                        <a:t>실질적</a:t>
                      </a:r>
                      <a:r>
                        <a:rPr lang="en-US" altLang="ko-KR" sz="1200" kern="1200" dirty="0"/>
                        <a:t> </a:t>
                      </a:r>
                      <a:r>
                        <a:rPr lang="ko-KR" altLang="en-US" sz="1200" kern="1200" dirty="0"/>
                        <a:t>동일성이 없는 경우 양자 모두 등록가능</a:t>
                      </a:r>
                      <a:endParaRPr lang="ko-KR" altLang="en-US" sz="1200" kern="1200" dirty="0">
                        <a:solidFill>
                          <a:schemeClr val="tx1"/>
                        </a:solidFill>
                        <a:latin typeface="+mn-lt"/>
                        <a:ea typeface="+mn-ea"/>
                        <a:cs typeface="+mn-cs"/>
                      </a:endParaRPr>
                    </a:p>
                  </a:txBody>
                  <a:tcPr marL="36000" marR="36000" marT="17907" marB="17907" anchor="ctr"/>
                </a:tc>
                <a:tc>
                  <a:txBody>
                    <a:bodyPr/>
                    <a:lstStyle/>
                    <a:p>
                      <a:pPr marL="31750" marR="31750" indent="0" algn="l" fontAlgn="base" latinLnBrk="1">
                        <a:lnSpc>
                          <a:spcPct val="100000"/>
                        </a:lnSpc>
                        <a:spcBef>
                          <a:spcPts val="0"/>
                        </a:spcBef>
                        <a:spcAft>
                          <a:spcPts val="0"/>
                        </a:spcAft>
                      </a:pPr>
                      <a:r>
                        <a:rPr lang="ko-KR" altLang="en-US" sz="1200" kern="1200" dirty="0"/>
                        <a:t>양자 모두 등록된 경우 자유롭게 실시</a:t>
                      </a:r>
                      <a:r>
                        <a:rPr lang="en-US" altLang="ko-KR" sz="1200" kern="1200" dirty="0"/>
                        <a:t>(</a:t>
                      </a:r>
                      <a:r>
                        <a:rPr lang="ko-KR" altLang="en-US" sz="1200" kern="1200" dirty="0"/>
                        <a:t>∵ 法 제</a:t>
                      </a:r>
                      <a:r>
                        <a:rPr lang="en-US" altLang="ko-KR" sz="1200" kern="1200" dirty="0"/>
                        <a:t>98</a:t>
                      </a:r>
                      <a:r>
                        <a:rPr lang="ko-KR" altLang="en-US" sz="1200" kern="1200" dirty="0"/>
                        <a:t>조의 “특허출원일 전”의 해석결과 </a:t>
                      </a:r>
                      <a:r>
                        <a:rPr lang="ko-KR" altLang="en-US" sz="1200" kern="1200" dirty="0" err="1"/>
                        <a:t>동일자</a:t>
                      </a:r>
                      <a:r>
                        <a:rPr lang="ko-KR" altLang="en-US" sz="1200" kern="1200" dirty="0"/>
                        <a:t> 출원 부적용</a:t>
                      </a:r>
                      <a:r>
                        <a:rPr lang="en-US" altLang="ko-KR" sz="1200" kern="1200" dirty="0"/>
                        <a:t>)</a:t>
                      </a:r>
                      <a:endParaRPr lang="ko-KR" altLang="en-US" sz="1200" kern="1200" dirty="0">
                        <a:solidFill>
                          <a:schemeClr val="tx1"/>
                        </a:solidFill>
                        <a:latin typeface="+mn-lt"/>
                        <a:ea typeface="+mn-ea"/>
                        <a:cs typeface="+mn-cs"/>
                      </a:endParaRPr>
                    </a:p>
                  </a:txBody>
                  <a:tcPr marL="36000" marR="36000" marT="17907" marB="17907" anchor="ctr"/>
                </a:tc>
                <a:extLst>
                  <a:ext uri="{0D108BD9-81ED-4DB2-BD59-A6C34878D82A}">
                    <a16:rowId xmlns:a16="http://schemas.microsoft.com/office/drawing/2014/main" val="10003"/>
                  </a:ext>
                </a:extLst>
              </a:tr>
            </a:tbl>
          </a:graphicData>
        </a:graphic>
      </p:graphicFrame>
      <p:sp>
        <p:nvSpPr>
          <p:cNvPr id="12" name="TextBox 11"/>
          <p:cNvSpPr txBox="1"/>
          <p:nvPr/>
        </p:nvSpPr>
        <p:spPr>
          <a:xfrm>
            <a:off x="251520" y="3771900"/>
            <a:ext cx="11578529" cy="2895599"/>
          </a:xfrm>
          <a:prstGeom prst="rect">
            <a:avLst/>
          </a:prstGeom>
          <a:noFill/>
          <a:ln>
            <a:noFill/>
          </a:ln>
        </p:spPr>
        <p:txBody>
          <a:bodyPr wrap="square" rtlCol="0" anchor="t">
            <a:noAutofit/>
          </a:bodyPr>
          <a:lstStyle/>
          <a:p>
            <a:r>
              <a:rPr lang="en-US" altLang="ko-KR" sz="1200" dirty="0">
                <a:latin typeface="+mn-ea"/>
              </a:rPr>
              <a:t>* </a:t>
            </a:r>
            <a:r>
              <a:rPr lang="ko-KR" altLang="en-US" sz="1200" dirty="0">
                <a:latin typeface="+mn-ea"/>
              </a:rPr>
              <a:t>먼저 신규성에 위반되지 않기 위해서는</a:t>
            </a:r>
            <a:r>
              <a:rPr lang="en-US" altLang="ko-KR" sz="1200" dirty="0">
                <a:latin typeface="+mn-ea"/>
              </a:rPr>
              <a:t>, </a:t>
            </a:r>
            <a:r>
              <a:rPr lang="ko-KR" altLang="en-US" sz="1200" dirty="0">
                <a:latin typeface="+mn-ea"/>
              </a:rPr>
              <a:t>선행발명이 선택발명을 구성하는 그 하위개념을 구체적으로 개시하지 않고 있어야 하고</a:t>
            </a:r>
            <a:r>
              <a:rPr lang="en-US" altLang="ko-KR" sz="1200" dirty="0">
                <a:latin typeface="+mn-ea"/>
              </a:rPr>
              <a:t>, </a:t>
            </a:r>
            <a:r>
              <a:rPr lang="ko-KR" altLang="en-US" sz="1200" dirty="0">
                <a:latin typeface="+mn-ea"/>
              </a:rPr>
              <a:t>「개시」에는 선행발명을 적은 선행문헌에 선택발명에 대한 문언적인 기재가 존재하는 경우 외에도 통상의 기술자가 선행문헌의 기재 내용과 출원 시의 기술 상식에 기초하여 선행문헌으로부터 직접적으로 선택발명의 존재를 인식할 수 있는 경우도 포함된다</a:t>
            </a:r>
            <a:r>
              <a:rPr lang="en-US" altLang="ko-KR" sz="1200" dirty="0">
                <a:latin typeface="+mn-ea"/>
              </a:rPr>
              <a:t>(</a:t>
            </a:r>
            <a:r>
              <a:rPr lang="ko-KR" altLang="en-US" sz="1200" dirty="0">
                <a:latin typeface="+mn-ea"/>
              </a:rPr>
              <a:t>대법원 </a:t>
            </a:r>
            <a:r>
              <a:rPr lang="en-US" altLang="ko-KR" sz="1200" dirty="0">
                <a:latin typeface="+mn-ea"/>
              </a:rPr>
              <a:t>2009. 10. 15. </a:t>
            </a:r>
            <a:r>
              <a:rPr lang="ko-KR" altLang="en-US" sz="1200" dirty="0">
                <a:latin typeface="+mn-ea"/>
              </a:rPr>
              <a:t>선고 </a:t>
            </a:r>
            <a:r>
              <a:rPr lang="en-US" altLang="ko-KR" sz="1200" dirty="0">
                <a:latin typeface="+mn-ea"/>
              </a:rPr>
              <a:t>2008</a:t>
            </a:r>
            <a:r>
              <a:rPr lang="ko-KR" altLang="en-US" sz="1200" dirty="0">
                <a:latin typeface="+mn-ea"/>
              </a:rPr>
              <a:t>후</a:t>
            </a:r>
            <a:r>
              <a:rPr lang="en-US" altLang="ko-KR" sz="1200" dirty="0">
                <a:latin typeface="+mn-ea"/>
              </a:rPr>
              <a:t>736; 2010. 3. 25. </a:t>
            </a:r>
            <a:r>
              <a:rPr lang="ko-KR" altLang="en-US" sz="1200" dirty="0">
                <a:latin typeface="+mn-ea"/>
              </a:rPr>
              <a:t>선고 </a:t>
            </a:r>
            <a:r>
              <a:rPr lang="en-US" altLang="ko-KR" sz="1200" dirty="0">
                <a:latin typeface="+mn-ea"/>
              </a:rPr>
              <a:t>2008</a:t>
            </a:r>
            <a:r>
              <a:rPr lang="ko-KR" altLang="en-US" sz="1200" dirty="0">
                <a:latin typeface="+mn-ea"/>
              </a:rPr>
              <a:t>후</a:t>
            </a:r>
            <a:r>
              <a:rPr lang="en-US" altLang="ko-KR" sz="1200" dirty="0">
                <a:latin typeface="+mn-ea"/>
              </a:rPr>
              <a:t>3520 </a:t>
            </a:r>
            <a:r>
              <a:rPr lang="ko-KR" altLang="en-US" sz="1200" dirty="0">
                <a:latin typeface="+mn-ea"/>
              </a:rPr>
              <a:t>등</a:t>
            </a:r>
            <a:r>
              <a:rPr lang="en-US" altLang="ko-KR" sz="1200" dirty="0">
                <a:latin typeface="+mn-ea"/>
              </a:rPr>
              <a:t>).</a:t>
            </a:r>
          </a:p>
          <a:p>
            <a:r>
              <a:rPr lang="en-US" altLang="ko-KR" sz="1200" dirty="0">
                <a:latin typeface="+mn-ea"/>
              </a:rPr>
              <a:t> </a:t>
            </a:r>
          </a:p>
          <a:p>
            <a:r>
              <a:rPr lang="en-US" altLang="ko-KR" sz="1200" dirty="0">
                <a:latin typeface="+mn-ea"/>
              </a:rPr>
              <a:t>  </a:t>
            </a:r>
            <a:r>
              <a:rPr lang="ko-KR" altLang="en-US" sz="1200" dirty="0">
                <a:latin typeface="+mn-ea"/>
              </a:rPr>
              <a:t>다음으로 진보성에 위반되지 않기 위해서는</a:t>
            </a:r>
            <a:r>
              <a:rPr lang="en-US" altLang="ko-KR" sz="1200" dirty="0">
                <a:latin typeface="+mn-ea"/>
              </a:rPr>
              <a:t>, </a:t>
            </a:r>
            <a:r>
              <a:rPr lang="ko-KR" altLang="en-US" sz="1200" dirty="0">
                <a:solidFill>
                  <a:schemeClr val="tx2"/>
                </a:solidFill>
              </a:rPr>
              <a:t>선택발명에 포함되는 하위개념들 모두가 공지된 상위개념인 선행발명과 비교하여 구성의 곤란성이 인정되어야 한다</a:t>
            </a:r>
            <a:r>
              <a:rPr lang="en-US" altLang="ko-KR" sz="1200" dirty="0">
                <a:solidFill>
                  <a:schemeClr val="tx2"/>
                </a:solidFill>
              </a:rPr>
              <a:t>. </a:t>
            </a:r>
            <a:r>
              <a:rPr lang="ko-KR" altLang="en-US" sz="1200" dirty="0">
                <a:solidFill>
                  <a:schemeClr val="tx2"/>
                </a:solidFill>
              </a:rPr>
              <a:t>구성의 곤란성이 인정되는지 여부와 관련해서는 </a:t>
            </a:r>
            <a:r>
              <a:rPr lang="en-US" altLang="ko-KR" sz="1200" dirty="0">
                <a:solidFill>
                  <a:schemeClr val="tx2"/>
                </a:solidFill>
              </a:rPr>
              <a:t>ⅰ) </a:t>
            </a:r>
            <a:r>
              <a:rPr lang="ko-KR" altLang="en-US" sz="1200" dirty="0">
                <a:solidFill>
                  <a:schemeClr val="tx2"/>
                </a:solidFill>
              </a:rPr>
              <a:t>상위개념의 크기</a:t>
            </a:r>
            <a:r>
              <a:rPr lang="en-US" altLang="ko-KR" sz="1200" dirty="0">
                <a:solidFill>
                  <a:schemeClr val="tx2"/>
                </a:solidFill>
              </a:rPr>
              <a:t>, ⅱ) </a:t>
            </a:r>
            <a:r>
              <a:rPr lang="ko-KR" altLang="en-US" sz="1200" dirty="0">
                <a:solidFill>
                  <a:schemeClr val="tx2"/>
                </a:solidFill>
              </a:rPr>
              <a:t>선행발명이 선택발명을 선택할 동기를 제공하거나 선행발명에 암시가 있는지 여부</a:t>
            </a:r>
            <a:r>
              <a:rPr lang="en-US" altLang="ko-KR" sz="1200" dirty="0">
                <a:solidFill>
                  <a:schemeClr val="tx2"/>
                </a:solidFill>
              </a:rPr>
              <a:t>, ⅲ) </a:t>
            </a:r>
            <a:r>
              <a:rPr lang="ko-KR" altLang="en-US" sz="1200" dirty="0">
                <a:solidFill>
                  <a:schemeClr val="tx2"/>
                </a:solidFill>
              </a:rPr>
              <a:t>선행발명에 기재된 하위개념발명과 선택발명이 구조적으로 유사한지 여부 등이 고려되어야 한다</a:t>
            </a:r>
            <a:r>
              <a:rPr lang="en-US" altLang="ko-KR" sz="1200" dirty="0">
                <a:solidFill>
                  <a:schemeClr val="tx2"/>
                </a:solidFill>
              </a:rPr>
              <a:t>. </a:t>
            </a:r>
            <a:r>
              <a:rPr lang="ko-KR" altLang="en-US" sz="1200" dirty="0">
                <a:solidFill>
                  <a:schemeClr val="tx2"/>
                </a:solidFill>
              </a:rPr>
              <a:t>예를 들어</a:t>
            </a:r>
            <a:r>
              <a:rPr lang="en-US" altLang="ko-KR" sz="1200" dirty="0">
                <a:solidFill>
                  <a:schemeClr val="tx2"/>
                </a:solidFill>
              </a:rPr>
              <a:t>, </a:t>
            </a:r>
            <a:r>
              <a:rPr lang="ko-KR" altLang="en-US" sz="1200" dirty="0">
                <a:solidFill>
                  <a:schemeClr val="tx2"/>
                </a:solidFill>
              </a:rPr>
              <a:t>선행발명에 발명을 이루는 구성요소 중 일부를 두 개 이상의 치환기로 하나 이상 선택할 수 있도록 기재하는 이른바 </a:t>
            </a:r>
            <a:r>
              <a:rPr lang="ko-KR" altLang="en-US" sz="1200" dirty="0" err="1">
                <a:solidFill>
                  <a:schemeClr val="tx2"/>
                </a:solidFill>
              </a:rPr>
              <a:t>마쿠쉬</a:t>
            </a:r>
            <a:r>
              <a:rPr lang="en-US" altLang="ko-KR" sz="1200" dirty="0">
                <a:solidFill>
                  <a:schemeClr val="tx2"/>
                </a:solidFill>
              </a:rPr>
              <a:t>(Markush) </a:t>
            </a:r>
            <a:r>
              <a:rPr lang="ko-KR" altLang="en-US" sz="1200" dirty="0">
                <a:solidFill>
                  <a:schemeClr val="tx2"/>
                </a:solidFill>
              </a:rPr>
              <a:t>형식으로 기재된 화학식과 그 치환기의 범위 내에 이론상 포함되기만 할 뿐 구체적으로 개시되지 않은 화합물을 청구범위로 하는 특허발명의 경우에도 진보성 판단을 위하여 구성의 곤란성을 따져보아야 한다</a:t>
            </a:r>
            <a:r>
              <a:rPr lang="en-US" altLang="ko-KR" sz="1200" dirty="0">
                <a:solidFill>
                  <a:schemeClr val="tx2"/>
                </a:solidFill>
              </a:rPr>
              <a:t>. </a:t>
            </a:r>
            <a:r>
              <a:rPr lang="ko-KR" altLang="en-US" sz="1200" dirty="0">
                <a:solidFill>
                  <a:schemeClr val="tx2"/>
                </a:solidFill>
              </a:rPr>
              <a:t>위와 같은 특허발명의 구성의 곤란성을 판단할 때에는 </a:t>
            </a:r>
            <a:r>
              <a:rPr lang="ko-KR" altLang="en-US" sz="1200" dirty="0">
                <a:solidFill>
                  <a:srgbClr val="FF0000"/>
                </a:solidFill>
              </a:rPr>
              <a:t>선행발명에 </a:t>
            </a:r>
            <a:r>
              <a:rPr lang="ko-KR" altLang="en-US" sz="1200" dirty="0" err="1">
                <a:solidFill>
                  <a:srgbClr val="FF0000"/>
                </a:solidFill>
              </a:rPr>
              <a:t>마쿠쉬</a:t>
            </a:r>
            <a:r>
              <a:rPr lang="ko-KR" altLang="en-US" sz="1200" dirty="0">
                <a:solidFill>
                  <a:srgbClr val="FF0000"/>
                </a:solidFill>
              </a:rPr>
              <a:t> 형식 등으로 기재된 화학식과 그 치환기의 범위 내에 이론상 포함될 수 있는 화합물의 개수</a:t>
            </a:r>
            <a:r>
              <a:rPr lang="en-US" altLang="ko-KR" sz="1200" dirty="0">
                <a:solidFill>
                  <a:srgbClr val="FF0000"/>
                </a:solidFill>
              </a:rPr>
              <a:t>, </a:t>
            </a:r>
            <a:r>
              <a:rPr lang="ko-KR" altLang="en-US" sz="1200" dirty="0">
                <a:solidFill>
                  <a:srgbClr val="FF0000"/>
                </a:solidFill>
              </a:rPr>
              <a:t>통상의 기술자가 선행발명에 </a:t>
            </a:r>
            <a:r>
              <a:rPr lang="ko-KR" altLang="en-US" sz="1200" dirty="0" err="1">
                <a:solidFill>
                  <a:srgbClr val="FF0000"/>
                </a:solidFill>
              </a:rPr>
              <a:t>마쿠쉬</a:t>
            </a:r>
            <a:r>
              <a:rPr lang="ko-KR" altLang="en-US" sz="1200" dirty="0">
                <a:solidFill>
                  <a:srgbClr val="FF0000"/>
                </a:solidFill>
              </a:rPr>
              <a:t> 형식 등으로 기재된 화합물 중에서 특정한 화합물이나 특정 치환기를 우선적으로 또는 쉽게 선택할 사정이나 동기 또는 암시의 유무</a:t>
            </a:r>
            <a:r>
              <a:rPr lang="en-US" altLang="ko-KR" sz="1200" dirty="0">
                <a:solidFill>
                  <a:srgbClr val="FF0000"/>
                </a:solidFill>
              </a:rPr>
              <a:t>, </a:t>
            </a:r>
            <a:r>
              <a:rPr lang="ko-KR" altLang="en-US" sz="1200" dirty="0">
                <a:solidFill>
                  <a:srgbClr val="FF0000"/>
                </a:solidFill>
              </a:rPr>
              <a:t>선행발명에 구체적으로 기재된 화합물과 특허발명의 구조적 유사성 등을 종합적으로 고려</a:t>
            </a:r>
            <a:r>
              <a:rPr lang="ko-KR" altLang="en-US" sz="1200" dirty="0">
                <a:solidFill>
                  <a:schemeClr val="tx2"/>
                </a:solidFill>
              </a:rPr>
              <a:t>하여야 한다</a:t>
            </a:r>
            <a:r>
              <a:rPr lang="en-US" altLang="ko-KR" sz="1200" dirty="0">
                <a:solidFill>
                  <a:schemeClr val="tx2"/>
                </a:solidFill>
              </a:rPr>
              <a:t>.  </a:t>
            </a:r>
            <a:r>
              <a:rPr lang="ko-KR" altLang="en-US" sz="1200" dirty="0">
                <a:solidFill>
                  <a:srgbClr val="FF0000"/>
                </a:solidFill>
              </a:rPr>
              <a:t>다만</a:t>
            </a:r>
            <a:r>
              <a:rPr lang="en-US" altLang="ko-KR" sz="1200" dirty="0">
                <a:solidFill>
                  <a:srgbClr val="FF0000"/>
                </a:solidFill>
              </a:rPr>
              <a:t>, </a:t>
            </a:r>
            <a:r>
              <a:rPr lang="ko-KR" altLang="en-US" sz="1200" dirty="0">
                <a:solidFill>
                  <a:srgbClr val="FF0000"/>
                </a:solidFill>
              </a:rPr>
              <a:t>구성의 곤란성을 따져 보지 않고 효과의 </a:t>
            </a:r>
            <a:r>
              <a:rPr lang="ko-KR" altLang="en-US" sz="1200" dirty="0" err="1">
                <a:solidFill>
                  <a:srgbClr val="FF0000"/>
                </a:solidFill>
              </a:rPr>
              <a:t>현저성</a:t>
            </a:r>
            <a:r>
              <a:rPr lang="ko-KR" altLang="en-US" sz="1200" dirty="0">
                <a:solidFill>
                  <a:srgbClr val="FF0000"/>
                </a:solidFill>
              </a:rPr>
              <a:t> 유무만으로 진보성을 판단해서는 안 된다</a:t>
            </a:r>
            <a:r>
              <a:rPr lang="en-US" altLang="ko-KR" sz="1200" dirty="0">
                <a:solidFill>
                  <a:schemeClr val="tx2"/>
                </a:solidFill>
              </a:rPr>
              <a:t>(</a:t>
            </a:r>
            <a:r>
              <a:rPr lang="ko-KR" altLang="en-US" sz="1200" dirty="0">
                <a:solidFill>
                  <a:schemeClr val="tx2"/>
                </a:solidFill>
              </a:rPr>
              <a:t>대법원 </a:t>
            </a:r>
            <a:r>
              <a:rPr lang="en-US" altLang="ko-KR" sz="1200" dirty="0">
                <a:solidFill>
                  <a:schemeClr val="tx2"/>
                </a:solidFill>
              </a:rPr>
              <a:t>2021. 4. 8. </a:t>
            </a:r>
            <a:r>
              <a:rPr lang="ko-KR" altLang="en-US" sz="1200" dirty="0">
                <a:solidFill>
                  <a:schemeClr val="tx2"/>
                </a:solidFill>
              </a:rPr>
              <a:t>선고 </a:t>
            </a:r>
            <a:r>
              <a:rPr lang="en-US" altLang="ko-KR" sz="1200" dirty="0">
                <a:solidFill>
                  <a:schemeClr val="tx2"/>
                </a:solidFill>
              </a:rPr>
              <a:t>2019</a:t>
            </a:r>
            <a:r>
              <a:rPr lang="ko-KR" altLang="en-US" sz="1200" dirty="0">
                <a:solidFill>
                  <a:schemeClr val="tx2"/>
                </a:solidFill>
              </a:rPr>
              <a:t>후</a:t>
            </a:r>
            <a:r>
              <a:rPr lang="en-US" altLang="ko-KR" sz="1200" dirty="0">
                <a:solidFill>
                  <a:schemeClr val="tx2"/>
                </a:solidFill>
              </a:rPr>
              <a:t>10609).</a:t>
            </a:r>
          </a:p>
          <a:p>
            <a:endParaRPr lang="en-US" altLang="ko-KR" sz="1200" dirty="0">
              <a:latin typeface="+mn-ea"/>
            </a:endParaRPr>
          </a:p>
        </p:txBody>
      </p:sp>
      <p:cxnSp>
        <p:nvCxnSpPr>
          <p:cNvPr id="13" name="직선 연결선 12"/>
          <p:cNvCxnSpPr/>
          <p:nvPr/>
        </p:nvCxnSpPr>
        <p:spPr>
          <a:xfrm>
            <a:off x="0" y="369275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3125068"/>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5" name="텍스트 개체 틀 4"/>
          <p:cNvSpPr>
            <a:spLocks noGrp="1"/>
          </p:cNvSpPr>
          <p:nvPr>
            <p:ph type="body" sz="quarter" idx="13"/>
          </p:nvPr>
        </p:nvSpPr>
        <p:spPr/>
        <p:txBody>
          <a:bodyPr/>
          <a:lstStyle/>
          <a:p>
            <a:r>
              <a:rPr lang="ko-KR" altLang="en-US" dirty="0"/>
              <a:t>이용관계의 유형</a:t>
            </a:r>
            <a:r>
              <a:rPr lang="en-US" altLang="ko-KR" dirty="0"/>
              <a:t>: </a:t>
            </a:r>
            <a:r>
              <a:rPr lang="ko-KR" altLang="en-US" dirty="0" err="1"/>
              <a:t>그대로설</a:t>
            </a:r>
            <a:r>
              <a:rPr lang="en-US" altLang="ko-KR" dirty="0"/>
              <a:t>(</a:t>
            </a:r>
            <a:r>
              <a:rPr lang="ko-KR" altLang="en-US" dirty="0" err="1"/>
              <a:t>내적부가</a:t>
            </a:r>
            <a:r>
              <a:rPr lang="en-US" altLang="ko-KR" dirty="0"/>
              <a:t>)</a:t>
            </a:r>
            <a:r>
              <a:rPr lang="ko-KR" altLang="en-US" dirty="0"/>
              <a:t> </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358</a:t>
            </a:r>
            <a:endParaRPr lang="ko-KR" altLang="en-US"/>
          </a:p>
        </p:txBody>
      </p:sp>
      <p:sp>
        <p:nvSpPr>
          <p:cNvPr id="16" name="TextBox 15"/>
          <p:cNvSpPr txBox="1"/>
          <p:nvPr/>
        </p:nvSpPr>
        <p:spPr>
          <a:xfrm>
            <a:off x="251520" y="4871069"/>
            <a:ext cx="11578529" cy="1130220"/>
          </a:xfrm>
          <a:prstGeom prst="rect">
            <a:avLst/>
          </a:prstGeom>
          <a:noFill/>
          <a:ln>
            <a:solidFill>
              <a:schemeClr val="bg1">
                <a:lumMod val="50000"/>
              </a:schemeClr>
            </a:solidFill>
          </a:ln>
        </p:spPr>
        <p:txBody>
          <a:bodyPr wrap="square" rtlCol="0" anchor="ctr">
            <a:noAutofit/>
          </a:bodyPr>
          <a:lstStyle/>
          <a:p>
            <a:pPr fontAlgn="base"/>
            <a:r>
              <a:rPr lang="ko-KR" altLang="en-US" sz="1400" b="1" dirty="0"/>
              <a:t>선택침해 부정 사례</a:t>
            </a:r>
            <a:r>
              <a:rPr lang="en-US" altLang="ko-KR" sz="1400" dirty="0"/>
              <a:t>: </a:t>
            </a:r>
            <a:r>
              <a:rPr lang="ko-KR" altLang="en-US" sz="1400" dirty="0"/>
              <a:t>확인대상발명의 출발물질에 작용하는 </a:t>
            </a:r>
            <a:r>
              <a:rPr lang="ko-KR" altLang="en-US" sz="1400" dirty="0" err="1"/>
              <a:t>아실화제가</a:t>
            </a:r>
            <a:r>
              <a:rPr lang="ko-KR" altLang="en-US" sz="1400" dirty="0"/>
              <a:t> 특허발명의 청구범위에 기재된 </a:t>
            </a:r>
            <a:r>
              <a:rPr lang="ko-KR" altLang="en-US" sz="1400" dirty="0" err="1"/>
              <a:t>아실화제의</a:t>
            </a:r>
            <a:r>
              <a:rPr lang="ko-KR" altLang="en-US" sz="1400" dirty="0"/>
              <a:t> 반응성유도체의 하나라 하더라도 </a:t>
            </a:r>
            <a:r>
              <a:rPr lang="ko-KR" altLang="en-US" sz="1400" u="sng" dirty="0"/>
              <a:t>확인대상발명이 특허발명에 비하여 </a:t>
            </a:r>
            <a:r>
              <a:rPr lang="ko-KR" altLang="en-US" sz="1400" u="sng" dirty="0" err="1"/>
              <a:t>아실화수율</a:t>
            </a:r>
            <a:r>
              <a:rPr lang="ko-KR" altLang="en-US" sz="1400" u="sng" dirty="0"/>
              <a:t> 등에 있어서 현저히 향상된 작용효과가 있어 확인대상발명이 특허발명과는 다른 발명이다</a:t>
            </a:r>
            <a:r>
              <a:rPr lang="en-US" altLang="ko-KR" sz="1400" u="sng" dirty="0"/>
              <a:t>.</a:t>
            </a:r>
          </a:p>
          <a:p>
            <a:pPr fontAlgn="base"/>
            <a:endParaRPr lang="en-US" altLang="ko-KR" sz="1400" u="sng" dirty="0"/>
          </a:p>
          <a:p>
            <a:pPr fontAlgn="base"/>
            <a:r>
              <a:rPr lang="en-US" altLang="ko-KR" sz="1400" dirty="0"/>
              <a:t> </a:t>
            </a:r>
            <a:r>
              <a:rPr lang="en-US" altLang="ko-KR" sz="1400" dirty="0">
                <a:solidFill>
                  <a:srgbClr val="FF0000"/>
                </a:solidFill>
              </a:rPr>
              <a:t>▶</a:t>
            </a:r>
            <a:r>
              <a:rPr lang="en-US" altLang="ko-KR" sz="1400" dirty="0">
                <a:solidFill>
                  <a:srgbClr val="FF0000"/>
                </a:solidFill>
                <a:sym typeface="Wingdings" pitchFamily="2" charset="2"/>
              </a:rPr>
              <a:t> </a:t>
            </a:r>
            <a:r>
              <a:rPr lang="ko-KR" altLang="en-US" sz="1400" dirty="0">
                <a:solidFill>
                  <a:srgbClr val="FF0000"/>
                </a:solidFill>
                <a:sym typeface="Wingdings" pitchFamily="2" charset="2"/>
              </a:rPr>
              <a:t>다만</a:t>
            </a:r>
            <a:r>
              <a:rPr lang="en-US" altLang="ko-KR" sz="1400" dirty="0">
                <a:solidFill>
                  <a:srgbClr val="FF0000"/>
                </a:solidFill>
                <a:sym typeface="Wingdings" pitchFamily="2" charset="2"/>
              </a:rPr>
              <a:t>, </a:t>
            </a:r>
            <a:r>
              <a:rPr lang="ko-KR" altLang="en-US" sz="1400" dirty="0">
                <a:solidFill>
                  <a:srgbClr val="FF0000"/>
                </a:solidFill>
                <a:sym typeface="Wingdings" pitchFamily="2" charset="2"/>
              </a:rPr>
              <a:t>특허요건판단과 침해판단은 별개의 문제로서</a:t>
            </a:r>
            <a:r>
              <a:rPr lang="en-US" altLang="ko-KR" sz="1400" dirty="0">
                <a:solidFill>
                  <a:srgbClr val="FF0000"/>
                </a:solidFill>
                <a:sym typeface="Wingdings" pitchFamily="2" charset="2"/>
              </a:rPr>
              <a:t>, </a:t>
            </a:r>
            <a:r>
              <a:rPr lang="ko-KR" altLang="en-US" sz="1400" dirty="0">
                <a:solidFill>
                  <a:srgbClr val="FF0000"/>
                </a:solidFill>
                <a:sym typeface="Wingdings" pitchFamily="2" charset="2"/>
              </a:rPr>
              <a:t>기술적 구성의 일체성이 상실되지 않았다면 침해로 보는 것이 타당하다</a:t>
            </a:r>
            <a:r>
              <a:rPr lang="en-US" altLang="ko-KR" sz="1400" dirty="0">
                <a:solidFill>
                  <a:srgbClr val="FF0000"/>
                </a:solidFill>
                <a:sym typeface="Wingdings" pitchFamily="2" charset="2"/>
              </a:rPr>
              <a:t>.</a:t>
            </a:r>
            <a:endParaRPr lang="ko-KR" altLang="en-US" sz="1400" dirty="0"/>
          </a:p>
        </p:txBody>
      </p:sp>
      <p:sp>
        <p:nvSpPr>
          <p:cNvPr id="3" name="직사각형 2"/>
          <p:cNvSpPr/>
          <p:nvPr/>
        </p:nvSpPr>
        <p:spPr>
          <a:xfrm>
            <a:off x="251520" y="4566268"/>
            <a:ext cx="3663255" cy="307777"/>
          </a:xfrm>
          <a:prstGeom prst="rect">
            <a:avLst/>
          </a:prstGeom>
          <a:solidFill>
            <a:schemeClr val="accent2"/>
          </a:solidFill>
          <a:ln>
            <a:solidFill>
              <a:schemeClr val="bg1">
                <a:lumMod val="50000"/>
              </a:schemeClr>
            </a:solidFill>
          </a:ln>
        </p:spPr>
        <p:txBody>
          <a:bodyPr wrap="square">
            <a:spAutoFit/>
          </a:bodyPr>
          <a:lstStyle/>
          <a:p>
            <a:pPr algn="ctr"/>
            <a:r>
              <a:rPr lang="en-US" altLang="ko-KR" sz="1400" dirty="0">
                <a:solidFill>
                  <a:schemeClr val="bg1"/>
                </a:solidFill>
                <a:latin typeface="+mn-ea"/>
              </a:rPr>
              <a:t>** </a:t>
            </a:r>
            <a:r>
              <a:rPr lang="ko-KR" altLang="en-US" sz="1400" dirty="0">
                <a:solidFill>
                  <a:schemeClr val="bg1"/>
                </a:solidFill>
              </a:rPr>
              <a:t>대법원 </a:t>
            </a:r>
            <a:r>
              <a:rPr lang="en-US" altLang="ko-KR" sz="1400" dirty="0">
                <a:solidFill>
                  <a:schemeClr val="bg1"/>
                </a:solidFill>
              </a:rPr>
              <a:t>1991. 11. 12. </a:t>
            </a:r>
            <a:r>
              <a:rPr lang="ko-KR" altLang="en-US" sz="1400" dirty="0">
                <a:solidFill>
                  <a:schemeClr val="bg1"/>
                </a:solidFill>
              </a:rPr>
              <a:t>선고 </a:t>
            </a:r>
            <a:r>
              <a:rPr lang="en-US" altLang="ko-KR" sz="1400" dirty="0">
                <a:solidFill>
                  <a:schemeClr val="bg1"/>
                </a:solidFill>
              </a:rPr>
              <a:t>90</a:t>
            </a:r>
            <a:r>
              <a:rPr lang="ko-KR" altLang="en-US" sz="1400" dirty="0">
                <a:solidFill>
                  <a:schemeClr val="bg1"/>
                </a:solidFill>
              </a:rPr>
              <a:t>후</a:t>
            </a:r>
            <a:r>
              <a:rPr lang="en-US" altLang="ko-KR" sz="1400" dirty="0">
                <a:solidFill>
                  <a:schemeClr val="bg1"/>
                </a:solidFill>
              </a:rPr>
              <a:t>960 </a:t>
            </a:r>
            <a:r>
              <a:rPr lang="ko-KR" altLang="en-US" sz="1400" dirty="0">
                <a:solidFill>
                  <a:schemeClr val="bg1"/>
                </a:solidFill>
              </a:rPr>
              <a:t>판결</a:t>
            </a:r>
          </a:p>
        </p:txBody>
      </p:sp>
      <p:sp>
        <p:nvSpPr>
          <p:cNvPr id="11" name="TextBox 10">
            <a:extLst>
              <a:ext uri="{FF2B5EF4-FFF2-40B4-BE49-F238E27FC236}">
                <a16:creationId xmlns:a16="http://schemas.microsoft.com/office/drawing/2014/main" id="{E6EA9A15-93AE-4A4C-9A6D-B8192B6E627D}"/>
              </a:ext>
            </a:extLst>
          </p:cNvPr>
          <p:cNvSpPr txBox="1"/>
          <p:nvPr/>
        </p:nvSpPr>
        <p:spPr>
          <a:xfrm>
            <a:off x="251520" y="1049339"/>
            <a:ext cx="11578529" cy="2895599"/>
          </a:xfrm>
          <a:prstGeom prst="rect">
            <a:avLst/>
          </a:prstGeom>
          <a:noFill/>
          <a:ln>
            <a:noFill/>
          </a:ln>
        </p:spPr>
        <p:txBody>
          <a:bodyPr wrap="square" rtlCol="0" anchor="t">
            <a:noAutofit/>
          </a:bodyPr>
          <a:lstStyle/>
          <a:p>
            <a:pPr algn="just" fontAlgn="base"/>
            <a:r>
              <a:rPr lang="en-US" altLang="ko-KR" sz="1200" dirty="0">
                <a:latin typeface="+mn-ea"/>
              </a:rPr>
              <a:t>* </a:t>
            </a:r>
            <a:r>
              <a:rPr lang="ko-KR" altLang="en-US" sz="1200" dirty="0">
                <a:solidFill>
                  <a:schemeClr val="tx2"/>
                </a:solidFill>
              </a:rPr>
              <a:t>선택발명의 진보성을 판단할 때에는 그 발명이 갖는 특유한 효과도 함께 고려하여야 한다</a:t>
            </a:r>
            <a:r>
              <a:rPr lang="en-US" altLang="ko-KR" sz="1200" dirty="0">
                <a:solidFill>
                  <a:schemeClr val="tx2"/>
                </a:solidFill>
              </a:rPr>
              <a:t>. </a:t>
            </a:r>
            <a:r>
              <a:rPr lang="ko-KR" altLang="en-US" sz="1200" dirty="0">
                <a:solidFill>
                  <a:schemeClr val="tx2"/>
                </a:solidFill>
              </a:rPr>
              <a:t>선행발명에 이론적으로 포함되는 수많은 화합물 중 특정한 화합물을 선택할 동기나 암시 등이 선행발명에 개시되어 있지 않은 경우에도 그것이 아무런 기술적 의의가 없는 임의의 선택에 불과한 경우라면 그와 같은 선택에 어려움이 있다고 볼 수 없는데</a:t>
            </a:r>
            <a:r>
              <a:rPr lang="en-US" altLang="ko-KR" sz="1200" dirty="0">
                <a:solidFill>
                  <a:schemeClr val="tx2"/>
                </a:solidFill>
              </a:rPr>
              <a:t>, </a:t>
            </a:r>
            <a:r>
              <a:rPr lang="ko-KR" altLang="en-US" sz="1200" dirty="0">
                <a:solidFill>
                  <a:schemeClr val="tx2"/>
                </a:solidFill>
              </a:rPr>
              <a:t>발명의 효과는 선택의 동기가 없어 구성이 곤란한 경우인지 임의의 선택에 불과한 경우인지를 구별할 수 있는 중요한 표지가 될 수 있기 때문이다</a:t>
            </a:r>
            <a:r>
              <a:rPr lang="en-US" altLang="ko-KR" sz="1200" dirty="0">
                <a:solidFill>
                  <a:schemeClr val="tx2"/>
                </a:solidFill>
              </a:rPr>
              <a:t>. </a:t>
            </a:r>
            <a:r>
              <a:rPr lang="ko-KR" altLang="en-US" sz="1200" dirty="0">
                <a:solidFill>
                  <a:schemeClr val="tx2"/>
                </a:solidFill>
              </a:rPr>
              <a:t>또한 화학</a:t>
            </a:r>
            <a:r>
              <a:rPr lang="en-US" altLang="ko-KR" sz="1200" dirty="0">
                <a:solidFill>
                  <a:schemeClr val="tx2"/>
                </a:solidFill>
              </a:rPr>
              <a:t>, </a:t>
            </a:r>
            <a:r>
              <a:rPr lang="ko-KR" altLang="en-US" sz="1200" dirty="0">
                <a:solidFill>
                  <a:schemeClr val="tx2"/>
                </a:solidFill>
              </a:rPr>
              <a:t>의약 등의 기술분야에 속하는 발명은 구성만으로 효과의 예측이 쉽지 않으므로</a:t>
            </a:r>
            <a:r>
              <a:rPr lang="en-US" altLang="ko-KR" sz="1200" dirty="0">
                <a:solidFill>
                  <a:schemeClr val="tx2"/>
                </a:solidFill>
              </a:rPr>
              <a:t>, </a:t>
            </a:r>
            <a:r>
              <a:rPr lang="ko-KR" altLang="en-US" sz="1200" dirty="0" err="1">
                <a:solidFill>
                  <a:schemeClr val="tx2"/>
                </a:solidFill>
              </a:rPr>
              <a:t>선행발명으로부터</a:t>
            </a:r>
            <a:r>
              <a:rPr lang="ko-KR" altLang="en-US" sz="1200" dirty="0">
                <a:solidFill>
                  <a:schemeClr val="tx2"/>
                </a:solidFill>
              </a:rPr>
              <a:t> 특허발명의 구성요소들이 쉽게 도출되는지를 판단할 때 발명의 효과를 참작할 필요가 있고</a:t>
            </a:r>
            <a:r>
              <a:rPr lang="en-US" altLang="ko-KR" sz="1200" dirty="0">
                <a:solidFill>
                  <a:schemeClr val="tx2"/>
                </a:solidFill>
              </a:rPr>
              <a:t>, </a:t>
            </a:r>
            <a:r>
              <a:rPr lang="ko-KR" altLang="en-US" sz="1200" dirty="0">
                <a:solidFill>
                  <a:schemeClr val="tx2"/>
                </a:solidFill>
              </a:rPr>
              <a:t>발명의 효과가 선행발명에 비하여 현저하다면 구성의 곤란성을 추론하는 유력한 자료가 될 것이다</a:t>
            </a:r>
            <a:r>
              <a:rPr lang="en-US" altLang="ko-KR" sz="1200" dirty="0">
                <a:solidFill>
                  <a:schemeClr val="tx2"/>
                </a:solidFill>
              </a:rPr>
              <a:t>. </a:t>
            </a:r>
            <a:r>
              <a:rPr lang="ko-KR" altLang="en-US" sz="1200" dirty="0">
                <a:solidFill>
                  <a:srgbClr val="FF0000"/>
                </a:solidFill>
              </a:rPr>
              <a:t>나아가 구성의 곤란성 여부의 판단이 불분명한 경우라고 하더라도</a:t>
            </a:r>
            <a:r>
              <a:rPr lang="en-US" altLang="ko-KR" sz="1200" dirty="0">
                <a:solidFill>
                  <a:srgbClr val="FF0000"/>
                </a:solidFill>
              </a:rPr>
              <a:t>, </a:t>
            </a:r>
            <a:r>
              <a:rPr lang="ko-KR" altLang="en-US" sz="1200" dirty="0">
                <a:solidFill>
                  <a:srgbClr val="FF0000"/>
                </a:solidFill>
              </a:rPr>
              <a:t>특허발명이 선행발명에 비하여 이질적이거나 양적으로 현저한 효과를 가지고 있다면 진보성이 부정되지 않는다</a:t>
            </a:r>
            <a:r>
              <a:rPr lang="en-US" altLang="ko-KR" sz="1200" dirty="0">
                <a:solidFill>
                  <a:srgbClr val="FF0000"/>
                </a:solidFill>
              </a:rPr>
              <a:t>. </a:t>
            </a:r>
            <a:r>
              <a:rPr lang="ko-KR" altLang="en-US" sz="1200" dirty="0">
                <a:solidFill>
                  <a:srgbClr val="FF0000"/>
                </a:solidFill>
              </a:rPr>
              <a:t>효과의 현저성은 특허발명의 명세서에 기재되어 통상의 기술자가 인식하거나 추론할 수 있는 효과를 중심으로 판단하여야 하고</a:t>
            </a:r>
            <a:r>
              <a:rPr lang="en-US" altLang="ko-KR" sz="1200" dirty="0">
                <a:solidFill>
                  <a:srgbClr val="FF0000"/>
                </a:solidFill>
              </a:rPr>
              <a:t>, </a:t>
            </a:r>
            <a:r>
              <a:rPr lang="ko-KR" altLang="en-US" sz="1200" dirty="0">
                <a:solidFill>
                  <a:srgbClr val="FF0000"/>
                </a:solidFill>
              </a:rPr>
              <a:t>만일 그 효과가 의심스러울 때에는 그 기재내용의 범위를 넘지 않는 한도에서 출원일 이후에 추가적인 실험 자료를 제출하는 등의 방법으로 그 효과를 구체적으로 주장</a:t>
            </a:r>
            <a:r>
              <a:rPr lang="en-US" altLang="ko-KR" sz="1200" dirty="0">
                <a:solidFill>
                  <a:srgbClr val="FF0000"/>
                </a:solidFill>
              </a:rPr>
              <a:t>·</a:t>
            </a:r>
            <a:r>
              <a:rPr lang="ko-KR" altLang="en-US" sz="1200" dirty="0">
                <a:solidFill>
                  <a:srgbClr val="FF0000"/>
                </a:solidFill>
              </a:rPr>
              <a:t>증명하는 것이 허용된다</a:t>
            </a:r>
            <a:r>
              <a:rPr lang="en-US" altLang="ko-KR" sz="1200" dirty="0">
                <a:solidFill>
                  <a:srgbClr val="FF0000"/>
                </a:solidFill>
              </a:rPr>
              <a:t>(</a:t>
            </a:r>
            <a:r>
              <a:rPr lang="ko-KR" altLang="en-US" sz="1200" dirty="0">
                <a:solidFill>
                  <a:srgbClr val="FF0000"/>
                </a:solidFill>
              </a:rPr>
              <a:t>대법원 </a:t>
            </a:r>
            <a:r>
              <a:rPr lang="en-US" altLang="ko-KR" sz="1200" dirty="0">
                <a:solidFill>
                  <a:srgbClr val="FF0000"/>
                </a:solidFill>
              </a:rPr>
              <a:t>2021. 4. 8. </a:t>
            </a:r>
            <a:r>
              <a:rPr lang="ko-KR" altLang="en-US" sz="1200" dirty="0">
                <a:solidFill>
                  <a:srgbClr val="FF0000"/>
                </a:solidFill>
              </a:rPr>
              <a:t>선고 </a:t>
            </a:r>
            <a:r>
              <a:rPr lang="en-US" altLang="ko-KR" sz="1200" dirty="0">
                <a:solidFill>
                  <a:srgbClr val="FF0000"/>
                </a:solidFill>
              </a:rPr>
              <a:t>2019</a:t>
            </a:r>
            <a:r>
              <a:rPr lang="ko-KR" altLang="en-US" sz="1200" dirty="0">
                <a:solidFill>
                  <a:srgbClr val="FF0000"/>
                </a:solidFill>
              </a:rPr>
              <a:t>후</a:t>
            </a:r>
            <a:r>
              <a:rPr lang="en-US" altLang="ko-KR" sz="1200" dirty="0">
                <a:solidFill>
                  <a:srgbClr val="FF0000"/>
                </a:solidFill>
              </a:rPr>
              <a:t>10609).</a:t>
            </a:r>
          </a:p>
          <a:p>
            <a:endParaRPr lang="en-US" altLang="ko-KR" sz="1200" dirty="0">
              <a:latin typeface="+mn-ea"/>
            </a:endParaRPr>
          </a:p>
          <a:p>
            <a:r>
              <a:rPr lang="ko-KR" altLang="en-US" sz="1200" dirty="0">
                <a:solidFill>
                  <a:schemeClr val="tx2"/>
                </a:solidFill>
              </a:rPr>
              <a:t>  하나의 청구항에 여러 개의 하위개념을 포함하는 선택발명이 있는 경우 효과의 현저성이 인정되기 위해서는 선택발명에 포함되는 </a:t>
            </a:r>
            <a:r>
              <a:rPr lang="ko-KR" altLang="en-US" sz="1200" dirty="0">
                <a:solidFill>
                  <a:srgbClr val="FF0000"/>
                </a:solidFill>
              </a:rPr>
              <a:t>하위개념들 모두</a:t>
            </a:r>
            <a:r>
              <a:rPr lang="ko-KR" altLang="en-US" sz="1200" dirty="0">
                <a:solidFill>
                  <a:schemeClr val="tx2"/>
                </a:solidFill>
              </a:rPr>
              <a:t>가 선행발명이 갖는 효과와 질적으로 다른 효과를 갖고 있거나</a:t>
            </a:r>
            <a:r>
              <a:rPr lang="en-US" altLang="ko-KR" sz="1200" dirty="0">
                <a:solidFill>
                  <a:schemeClr val="tx2"/>
                </a:solidFill>
              </a:rPr>
              <a:t>, </a:t>
            </a:r>
            <a:r>
              <a:rPr lang="ko-KR" altLang="en-US" sz="1200" dirty="0">
                <a:solidFill>
                  <a:schemeClr val="tx2"/>
                </a:solidFill>
              </a:rPr>
              <a:t>질적인 차이가 없더라도 양적으로 현저한 차이가 있어야 한다</a:t>
            </a:r>
            <a:r>
              <a:rPr lang="en-US" altLang="ko-KR" sz="1200" dirty="0">
                <a:solidFill>
                  <a:schemeClr val="tx2"/>
                </a:solidFill>
              </a:rPr>
              <a:t>. </a:t>
            </a:r>
            <a:r>
              <a:rPr lang="ko-KR" altLang="en-US" sz="1200" dirty="0">
                <a:solidFill>
                  <a:schemeClr val="tx2"/>
                </a:solidFill>
              </a:rPr>
              <a:t>선택발명에 여러 효과가 있는 경우에 선행발명과 비교하여 이질적이거나 양적으로 현저한 효과를 갖는다고 하기 위해서는 선택발명의 모든 종류의 효과가 아니라 </a:t>
            </a:r>
            <a:r>
              <a:rPr lang="ko-KR" altLang="en-US" sz="1200" dirty="0">
                <a:solidFill>
                  <a:srgbClr val="FF0000"/>
                </a:solidFill>
              </a:rPr>
              <a:t>그 중 일부라도 선행발명과 비교하여 그러한 효과를 갖는다고 인정</a:t>
            </a:r>
            <a:r>
              <a:rPr lang="ko-KR" altLang="en-US" sz="1200" dirty="0">
                <a:solidFill>
                  <a:schemeClr val="tx2"/>
                </a:solidFill>
              </a:rPr>
              <a:t>되면 충분하다</a:t>
            </a:r>
            <a:r>
              <a:rPr lang="en-US" altLang="ko-KR" sz="1200" dirty="0">
                <a:solidFill>
                  <a:schemeClr val="tx2"/>
                </a:solidFill>
              </a:rPr>
              <a:t>(</a:t>
            </a:r>
            <a:r>
              <a:rPr lang="ko-KR" altLang="en-US" sz="1200" dirty="0">
                <a:solidFill>
                  <a:schemeClr val="tx2"/>
                </a:solidFill>
              </a:rPr>
              <a:t>대법원 </a:t>
            </a:r>
            <a:r>
              <a:rPr lang="en-US" altLang="ko-KR" sz="1200" dirty="0">
                <a:solidFill>
                  <a:schemeClr val="tx2"/>
                </a:solidFill>
              </a:rPr>
              <a:t>2012. 8. 23. </a:t>
            </a:r>
            <a:r>
              <a:rPr lang="ko-KR" altLang="en-US" sz="1200" dirty="0">
                <a:solidFill>
                  <a:schemeClr val="tx2"/>
                </a:solidFill>
              </a:rPr>
              <a:t>선고 </a:t>
            </a:r>
            <a:r>
              <a:rPr lang="en-US" altLang="ko-KR" sz="1200" dirty="0">
                <a:solidFill>
                  <a:schemeClr val="tx2"/>
                </a:solidFill>
              </a:rPr>
              <a:t>2010</a:t>
            </a:r>
            <a:r>
              <a:rPr lang="ko-KR" altLang="en-US" sz="1200" dirty="0">
                <a:solidFill>
                  <a:schemeClr val="tx2"/>
                </a:solidFill>
              </a:rPr>
              <a:t>후</a:t>
            </a:r>
            <a:r>
              <a:rPr lang="en-US" altLang="ko-KR" sz="1200" dirty="0">
                <a:solidFill>
                  <a:schemeClr val="tx2"/>
                </a:solidFill>
              </a:rPr>
              <a:t>3424).</a:t>
            </a:r>
          </a:p>
          <a:p>
            <a:endParaRPr lang="en-US" altLang="ko-KR" sz="1200" dirty="0">
              <a:solidFill>
                <a:schemeClr val="tx2"/>
              </a:solidFill>
            </a:endParaRPr>
          </a:p>
          <a:p>
            <a:r>
              <a:rPr lang="ko-KR" altLang="en-US" sz="1200" dirty="0">
                <a:solidFill>
                  <a:schemeClr val="tx2"/>
                </a:solidFill>
              </a:rPr>
              <a:t>  선택발명에 포함되는 </a:t>
            </a:r>
            <a:r>
              <a:rPr lang="ko-KR" altLang="en-US" sz="1200" dirty="0">
                <a:solidFill>
                  <a:srgbClr val="FF0000"/>
                </a:solidFill>
              </a:rPr>
              <a:t>하위개념의 실시형태 중 가장 열등한 것의 효과가 선행발명에 개시된 실시형태 중 가장 우수한 것의 효과와 비교</a:t>
            </a:r>
            <a:r>
              <a:rPr lang="ko-KR" altLang="en-US" sz="1200" dirty="0">
                <a:solidFill>
                  <a:schemeClr val="tx2"/>
                </a:solidFill>
              </a:rPr>
              <a:t>하여 현저하다는 관계가 인정되지 않는다면</a:t>
            </a:r>
            <a:r>
              <a:rPr lang="en-US" altLang="ko-KR" sz="1200" dirty="0">
                <a:solidFill>
                  <a:schemeClr val="tx2"/>
                </a:solidFill>
              </a:rPr>
              <a:t>, </a:t>
            </a:r>
            <a:r>
              <a:rPr lang="ko-KR" altLang="en-US" sz="1200" dirty="0">
                <a:solidFill>
                  <a:schemeClr val="tx2"/>
                </a:solidFill>
              </a:rPr>
              <a:t>선택발명에 포함되는 하위개념의 실시형태 중 일부의 효과가 선행발명에 개시된 실시형태 중 일부의 효과보다 뛰어나 보인다고 하여 선택발명의 진보성이 부정되지 아니한다고 볼 수는 없다</a:t>
            </a:r>
            <a:r>
              <a:rPr lang="en-US" altLang="ko-KR" sz="1200" dirty="0">
                <a:solidFill>
                  <a:schemeClr val="tx2"/>
                </a:solidFill>
              </a:rPr>
              <a:t>(</a:t>
            </a:r>
            <a:r>
              <a:rPr lang="ko-KR" altLang="en-US" sz="1200" dirty="0">
                <a:solidFill>
                  <a:schemeClr val="tx2"/>
                </a:solidFill>
              </a:rPr>
              <a:t>대법원 </a:t>
            </a:r>
            <a:r>
              <a:rPr lang="en-US" altLang="ko-KR" sz="1200" dirty="0">
                <a:solidFill>
                  <a:schemeClr val="tx2"/>
                </a:solidFill>
              </a:rPr>
              <a:t>2016. 1. 28. </a:t>
            </a:r>
            <a:r>
              <a:rPr lang="ko-KR" altLang="en-US" sz="1200" dirty="0">
                <a:solidFill>
                  <a:schemeClr val="tx2"/>
                </a:solidFill>
              </a:rPr>
              <a:t>선고 </a:t>
            </a:r>
            <a:r>
              <a:rPr lang="en-US" altLang="ko-KR" sz="1200" dirty="0">
                <a:solidFill>
                  <a:schemeClr val="tx2"/>
                </a:solidFill>
              </a:rPr>
              <a:t>2013</a:t>
            </a:r>
            <a:r>
              <a:rPr lang="ko-KR" altLang="en-US" sz="1200" dirty="0">
                <a:solidFill>
                  <a:schemeClr val="tx2"/>
                </a:solidFill>
              </a:rPr>
              <a:t>후</a:t>
            </a:r>
            <a:r>
              <a:rPr lang="en-US" altLang="ko-KR" sz="1200" dirty="0">
                <a:solidFill>
                  <a:schemeClr val="tx2"/>
                </a:solidFill>
              </a:rPr>
              <a:t>1887).</a:t>
            </a:r>
            <a:endParaRPr lang="ko-KR" altLang="en-US" sz="1200" dirty="0">
              <a:solidFill>
                <a:schemeClr val="tx2"/>
              </a:solidFill>
            </a:endParaRPr>
          </a:p>
          <a:p>
            <a:endParaRPr lang="ko-KR" altLang="en-US" sz="1200" dirty="0">
              <a:solidFill>
                <a:schemeClr val="tx2"/>
              </a:solidFill>
            </a:endParaRPr>
          </a:p>
          <a:p>
            <a:endParaRPr lang="en-US" altLang="ko-KR" sz="1200" dirty="0">
              <a:latin typeface="+mn-ea"/>
            </a:endParaRPr>
          </a:p>
        </p:txBody>
      </p:sp>
    </p:spTree>
    <p:extLst>
      <p:ext uri="{BB962C8B-B14F-4D97-AF65-F5344CB8AC3E}">
        <p14:creationId xmlns:p14="http://schemas.microsoft.com/office/powerpoint/2010/main" val="1677129215"/>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5" name="텍스트 개체 틀 4"/>
          <p:cNvSpPr>
            <a:spLocks noGrp="1"/>
          </p:cNvSpPr>
          <p:nvPr>
            <p:ph type="body" sz="quarter" idx="13"/>
          </p:nvPr>
        </p:nvSpPr>
        <p:spPr/>
        <p:txBody>
          <a:bodyPr/>
          <a:lstStyle/>
          <a:p>
            <a:r>
              <a:rPr lang="ko-KR" altLang="en-US" dirty="0">
                <a:solidFill>
                  <a:srgbClr val="525252"/>
                </a:solidFill>
              </a:rPr>
              <a:t>이용관계의 유형</a:t>
            </a:r>
            <a:r>
              <a:rPr lang="en-US" altLang="ko-KR" dirty="0">
                <a:solidFill>
                  <a:srgbClr val="525252"/>
                </a:solidFill>
              </a:rPr>
              <a:t>: </a:t>
            </a:r>
            <a:r>
              <a:rPr lang="ko-KR" altLang="en-US" dirty="0">
                <a:solidFill>
                  <a:srgbClr val="525252"/>
                </a:solidFill>
              </a:rPr>
              <a:t>실시불가피설 </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359</a:t>
            </a:r>
            <a:endParaRPr lang="ko-KR" altLang="en-US"/>
          </a:p>
        </p:txBody>
      </p:sp>
      <p:sp>
        <p:nvSpPr>
          <p:cNvPr id="11" name="직사각형 10"/>
          <p:cNvSpPr/>
          <p:nvPr/>
        </p:nvSpPr>
        <p:spPr>
          <a:xfrm>
            <a:off x="328638" y="1138535"/>
            <a:ext cx="11506804" cy="584775"/>
          </a:xfrm>
          <a:prstGeom prst="rect">
            <a:avLst/>
          </a:prstGeom>
          <a:solidFill>
            <a:schemeClr val="accent4">
              <a:lumMod val="20000"/>
              <a:lumOff val="80000"/>
            </a:schemeClr>
          </a:solidFill>
          <a:ln>
            <a:solidFill>
              <a:schemeClr val="bg1">
                <a:lumMod val="50000"/>
              </a:schemeClr>
            </a:solidFill>
          </a:ln>
        </p:spPr>
        <p:txBody>
          <a:bodyPr wrap="square">
            <a:spAutoFit/>
          </a:bodyPr>
          <a:lstStyle/>
          <a:p>
            <a:pPr fontAlgn="base"/>
            <a:r>
              <a:rPr lang="ko-KR" altLang="en-US" sz="1600" dirty="0"/>
              <a:t>甲이 물건발명</a:t>
            </a:r>
            <a:r>
              <a:rPr lang="en-US" altLang="ko-KR" sz="1600" dirty="0"/>
              <a:t>(</a:t>
            </a:r>
            <a:r>
              <a:rPr lang="ko-KR" altLang="en-US" sz="1600" dirty="0"/>
              <a:t>物</a:t>
            </a:r>
            <a:r>
              <a:rPr lang="en-US" altLang="ko-KR" sz="1600" dirty="0"/>
              <a:t>)</a:t>
            </a:r>
            <a:r>
              <a:rPr lang="ko-KR" altLang="en-US" sz="1600" dirty="0"/>
              <a:t>을 출원 후 </a:t>
            </a:r>
            <a:r>
              <a:rPr lang="ko-KR" altLang="en-US" sz="1600" dirty="0" err="1"/>
              <a:t>실시중이고</a:t>
            </a:r>
            <a:r>
              <a:rPr lang="en-US" altLang="ko-KR" sz="1600" dirty="0"/>
              <a:t>, </a:t>
            </a:r>
            <a:r>
              <a:rPr lang="ko-KR" altLang="en-US" sz="1600" dirty="0"/>
              <a:t>乙이 물건을 제조하는 방법</a:t>
            </a:r>
            <a:r>
              <a:rPr lang="en-US" altLang="ko-KR" sz="1600" dirty="0"/>
              <a:t>(</a:t>
            </a:r>
            <a:r>
              <a:rPr lang="ko-KR" altLang="en-US" sz="1600" dirty="0"/>
              <a:t>方</a:t>
            </a:r>
            <a:r>
              <a:rPr lang="en-US" altLang="ko-KR" sz="1600" dirty="0"/>
              <a:t>1)</a:t>
            </a:r>
            <a:r>
              <a:rPr lang="ko-KR" altLang="en-US" sz="1600" dirty="0"/>
              <a:t>을 출원 후 실시중인 경우 </a:t>
            </a:r>
            <a:r>
              <a:rPr lang="ko-KR" altLang="en-US" sz="1600" dirty="0" err="1"/>
              <a:t>후출원의</a:t>
            </a:r>
            <a:r>
              <a:rPr lang="ko-KR" altLang="en-US" sz="1600" dirty="0"/>
              <a:t> 등록가능성 및 실시가 침해인지 여부</a:t>
            </a:r>
          </a:p>
        </p:txBody>
      </p:sp>
      <p:graphicFrame>
        <p:nvGraphicFramePr>
          <p:cNvPr id="3" name="표 2"/>
          <p:cNvGraphicFramePr>
            <a:graphicFrameLocks noGrp="1"/>
          </p:cNvGraphicFramePr>
          <p:nvPr/>
        </p:nvGraphicFramePr>
        <p:xfrm>
          <a:off x="328639" y="1883694"/>
          <a:ext cx="11506804" cy="3745581"/>
        </p:xfrm>
        <a:graphic>
          <a:graphicData uri="http://schemas.openxmlformats.org/drawingml/2006/table">
            <a:tbl>
              <a:tblPr>
                <a:tableStyleId>{8799B23B-EC83-4686-B30A-512413B5E67A}</a:tableStyleId>
              </a:tblPr>
              <a:tblGrid>
                <a:gridCol w="1407399">
                  <a:extLst>
                    <a:ext uri="{9D8B030D-6E8A-4147-A177-3AD203B41FA5}">
                      <a16:colId xmlns:a16="http://schemas.microsoft.com/office/drawing/2014/main" val="20000"/>
                    </a:ext>
                  </a:extLst>
                </a:gridCol>
                <a:gridCol w="5114561">
                  <a:extLst>
                    <a:ext uri="{9D8B030D-6E8A-4147-A177-3AD203B41FA5}">
                      <a16:colId xmlns:a16="http://schemas.microsoft.com/office/drawing/2014/main" val="20001"/>
                    </a:ext>
                  </a:extLst>
                </a:gridCol>
                <a:gridCol w="4984844">
                  <a:extLst>
                    <a:ext uri="{9D8B030D-6E8A-4147-A177-3AD203B41FA5}">
                      <a16:colId xmlns:a16="http://schemas.microsoft.com/office/drawing/2014/main" val="20002"/>
                    </a:ext>
                  </a:extLst>
                </a:gridCol>
              </a:tblGrid>
              <a:tr h="283786">
                <a:tc>
                  <a:txBody>
                    <a:bodyPr/>
                    <a:lstStyle/>
                    <a:p>
                      <a:pPr marL="0" marR="0" indent="0" algn="ctr" fontAlgn="base" latinLnBrk="0">
                        <a:lnSpc>
                          <a:spcPct val="100000"/>
                        </a:lnSpc>
                        <a:spcBef>
                          <a:spcPts val="0"/>
                        </a:spcBef>
                        <a:spcAft>
                          <a:spcPts val="0"/>
                        </a:spcAft>
                      </a:pPr>
                      <a:r>
                        <a:rPr lang="ko-KR" altLang="en-US" sz="1200" kern="1200" dirty="0" err="1"/>
                        <a:t>선출원여부</a:t>
                      </a:r>
                      <a:endParaRPr lang="ko-KR" altLang="en-US" sz="12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1200" dirty="0" err="1"/>
                        <a:t>후출원의</a:t>
                      </a:r>
                      <a:r>
                        <a:rPr lang="ko-KR" altLang="en-US" sz="1200" kern="1200" dirty="0"/>
                        <a:t> 등록가능성</a:t>
                      </a:r>
                      <a:endParaRPr lang="ko-KR" altLang="en-US" sz="12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1200" dirty="0" err="1"/>
                        <a:t>후출원의</a:t>
                      </a:r>
                      <a:r>
                        <a:rPr lang="ko-KR" altLang="en-US" sz="1200" kern="1200" dirty="0"/>
                        <a:t> 실시가 </a:t>
                      </a:r>
                      <a:r>
                        <a:rPr lang="ko-KR" altLang="en-US" sz="1200" kern="1200" dirty="0" err="1"/>
                        <a:t>선출원의</a:t>
                      </a:r>
                      <a:r>
                        <a:rPr lang="ko-KR" altLang="en-US" sz="1200" kern="1200" dirty="0"/>
                        <a:t> 침해인지 여부</a:t>
                      </a:r>
                      <a:endParaRPr lang="ko-KR" altLang="en-US" sz="12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extLst>
                  <a:ext uri="{0D108BD9-81ED-4DB2-BD59-A6C34878D82A}">
                    <a16:rowId xmlns:a16="http://schemas.microsoft.com/office/drawing/2014/main" val="10000"/>
                  </a:ext>
                </a:extLst>
              </a:tr>
              <a:tr h="1707661">
                <a:tc>
                  <a:txBody>
                    <a:bodyPr/>
                    <a:lstStyle/>
                    <a:p>
                      <a:pPr marL="0" marR="0" indent="0" algn="ctr" fontAlgn="base" latinLnBrk="0">
                        <a:lnSpc>
                          <a:spcPct val="100000"/>
                        </a:lnSpc>
                        <a:spcBef>
                          <a:spcPts val="0"/>
                        </a:spcBef>
                        <a:spcAft>
                          <a:spcPts val="0"/>
                        </a:spcAft>
                      </a:pPr>
                      <a:r>
                        <a:rPr lang="ko-KR" altLang="en-US" sz="1200" kern="1200"/>
                        <a:t>甲 </a:t>
                      </a:r>
                      <a:r>
                        <a:rPr lang="en-US" altLang="ko-KR" sz="1200" kern="1200"/>
                        <a:t>&gt; </a:t>
                      </a:r>
                      <a:r>
                        <a:rPr lang="ko-KR" altLang="en-US" sz="1200" kern="1200"/>
                        <a:t>乙</a:t>
                      </a:r>
                      <a:endParaRPr lang="ko-KR" altLang="en-US" sz="1200" kern="1200">
                        <a:solidFill>
                          <a:schemeClr val="tx2"/>
                        </a:solidFill>
                        <a:latin typeface="+mn-lt"/>
                        <a:ea typeface="+mn-ea"/>
                        <a:cs typeface="+mn-cs"/>
                      </a:endParaRPr>
                    </a:p>
                  </a:txBody>
                  <a:tcPr marL="17907" marR="17907" marT="17907" marB="17907" anchor="ctr"/>
                </a:tc>
                <a:tc>
                  <a:txBody>
                    <a:bodyPr/>
                    <a:lstStyle/>
                    <a:p>
                      <a:pPr marL="125730" marR="31750" indent="-125730" algn="l" fontAlgn="base" latinLnBrk="1">
                        <a:lnSpc>
                          <a:spcPct val="100000"/>
                        </a:lnSpc>
                        <a:spcBef>
                          <a:spcPts val="0"/>
                        </a:spcBef>
                        <a:spcAft>
                          <a:spcPts val="0"/>
                        </a:spcAft>
                      </a:pPr>
                      <a:r>
                        <a:rPr lang="en-US" altLang="ko-KR" sz="1200" kern="1200" dirty="0"/>
                        <a:t>1. </a:t>
                      </a:r>
                      <a:r>
                        <a:rPr lang="ko-KR" altLang="en-US" sz="1200" kern="1200" dirty="0"/>
                        <a:t>物의 </a:t>
                      </a:r>
                      <a:r>
                        <a:rPr lang="ko-KR" altLang="en-US" sz="1200" kern="1200" dirty="0" err="1"/>
                        <a:t>최ㆍ명ㆍ도에</a:t>
                      </a:r>
                      <a:r>
                        <a:rPr lang="ko-KR" altLang="en-US" sz="1200" kern="1200" dirty="0"/>
                        <a:t> 기재된 方이 方</a:t>
                      </a:r>
                      <a:r>
                        <a:rPr lang="en-US" altLang="ko-KR" sz="1200" kern="1200" dirty="0"/>
                        <a:t>1</a:t>
                      </a:r>
                      <a:r>
                        <a:rPr lang="ko-KR" altLang="en-US" sz="1200" kern="1200" dirty="0"/>
                        <a:t>인 경우</a:t>
                      </a:r>
                    </a:p>
                    <a:p>
                      <a:pPr marL="182880" marR="31750" indent="-182880" algn="l" fontAlgn="base" latinLnBrk="1">
                        <a:lnSpc>
                          <a:spcPct val="100000"/>
                        </a:lnSpc>
                        <a:spcBef>
                          <a:spcPts val="0"/>
                        </a:spcBef>
                        <a:spcAft>
                          <a:spcPts val="0"/>
                        </a:spcAft>
                      </a:pPr>
                      <a:r>
                        <a:rPr lang="ko-KR" altLang="en-US" sz="1200" kern="1200" dirty="0"/>
                        <a:t>① 物의 공개 전 출원 → 法</a:t>
                      </a:r>
                      <a:r>
                        <a:rPr lang="en-US" altLang="ko-KR" sz="1200" kern="1200" dirty="0"/>
                        <a:t>29</a:t>
                      </a:r>
                      <a:r>
                        <a:rPr lang="ko-KR" altLang="en-US" sz="1200" kern="1200" dirty="0"/>
                        <a:t>③ 위반</a:t>
                      </a:r>
                    </a:p>
                    <a:p>
                      <a:pPr marL="182880" marR="31750" indent="-182880" algn="l" fontAlgn="base" latinLnBrk="1">
                        <a:lnSpc>
                          <a:spcPct val="100000"/>
                        </a:lnSpc>
                        <a:spcBef>
                          <a:spcPts val="0"/>
                        </a:spcBef>
                        <a:spcAft>
                          <a:spcPts val="0"/>
                        </a:spcAft>
                      </a:pPr>
                      <a:r>
                        <a:rPr lang="ko-KR" altLang="en-US" sz="1200" kern="1200" dirty="0"/>
                        <a:t>② 物의 공개 후 출원 → 法 </a:t>
                      </a:r>
                      <a:r>
                        <a:rPr lang="en-US" altLang="ko-KR" sz="1200" kern="1200" dirty="0"/>
                        <a:t>29</a:t>
                      </a:r>
                      <a:r>
                        <a:rPr lang="ko-KR" altLang="en-US" sz="1200" kern="1200" dirty="0"/>
                        <a:t>① 위반 </a:t>
                      </a:r>
                    </a:p>
                    <a:p>
                      <a:pPr marL="125730" marR="31750" indent="-125730" algn="l" fontAlgn="base" latinLnBrk="1">
                        <a:lnSpc>
                          <a:spcPct val="100000"/>
                        </a:lnSpc>
                        <a:spcBef>
                          <a:spcPts val="0"/>
                        </a:spcBef>
                        <a:spcAft>
                          <a:spcPts val="0"/>
                        </a:spcAft>
                      </a:pPr>
                      <a:r>
                        <a:rPr lang="en-US" altLang="ko-KR" sz="1200" kern="1200" dirty="0"/>
                        <a:t>2. </a:t>
                      </a:r>
                      <a:r>
                        <a:rPr lang="ko-KR" altLang="en-US" sz="1200" kern="1200" dirty="0"/>
                        <a:t>物의 </a:t>
                      </a:r>
                      <a:r>
                        <a:rPr lang="ko-KR" altLang="en-US" sz="1200" kern="1200" dirty="0" err="1"/>
                        <a:t>최ㆍ명ㆍ도에</a:t>
                      </a:r>
                      <a:r>
                        <a:rPr lang="ko-KR" altLang="en-US" sz="1200" kern="1200" dirty="0"/>
                        <a:t> 기재된 方이 方</a:t>
                      </a:r>
                      <a:r>
                        <a:rPr lang="en-US" altLang="ko-KR" sz="1200" kern="1200" dirty="0"/>
                        <a:t>1</a:t>
                      </a:r>
                      <a:r>
                        <a:rPr lang="ko-KR" altLang="en-US" sz="1200" kern="1200" dirty="0"/>
                        <a:t>이 아닌 경우</a:t>
                      </a:r>
                    </a:p>
                    <a:p>
                      <a:pPr marL="182880" marR="31750" indent="-182880" algn="l" fontAlgn="base" latinLnBrk="1">
                        <a:lnSpc>
                          <a:spcPct val="100000"/>
                        </a:lnSpc>
                        <a:spcBef>
                          <a:spcPts val="0"/>
                        </a:spcBef>
                        <a:spcAft>
                          <a:spcPts val="0"/>
                        </a:spcAft>
                      </a:pPr>
                      <a:r>
                        <a:rPr lang="ko-KR" altLang="en-US" sz="1200" kern="1200" dirty="0"/>
                        <a:t>① 物의 공개 전 출원 → 등록가능</a:t>
                      </a:r>
                    </a:p>
                    <a:p>
                      <a:pPr marL="187960" marR="31750" indent="-187960" algn="l" fontAlgn="base" latinLnBrk="1">
                        <a:lnSpc>
                          <a:spcPct val="100000"/>
                        </a:lnSpc>
                        <a:spcBef>
                          <a:spcPts val="0"/>
                        </a:spcBef>
                        <a:spcAft>
                          <a:spcPts val="0"/>
                        </a:spcAft>
                      </a:pPr>
                      <a:r>
                        <a:rPr lang="ko-KR" altLang="en-US" sz="1200" kern="1200" dirty="0"/>
                        <a:t>② 物의 공개 후 출원 → 物의 </a:t>
                      </a:r>
                      <a:r>
                        <a:rPr lang="ko-KR" altLang="en-US" sz="1200" kern="1200" dirty="0" err="1"/>
                        <a:t>최ㆍ명ㆍ도에</a:t>
                      </a:r>
                      <a:r>
                        <a:rPr lang="ko-KR" altLang="en-US" sz="1200" kern="1200" dirty="0"/>
                        <a:t> 기재된 方으로부터 쉽게 발명할 수 있는 경우 法 </a:t>
                      </a:r>
                      <a:r>
                        <a:rPr lang="en-US" altLang="ko-KR" sz="1200" kern="1200" dirty="0"/>
                        <a:t>29</a:t>
                      </a:r>
                      <a:r>
                        <a:rPr lang="ko-KR" altLang="en-US" sz="1200" kern="1200" dirty="0"/>
                        <a:t>② 위반</a:t>
                      </a:r>
                      <a:endParaRPr lang="ko-KR" altLang="en-US" sz="1200" kern="1200" dirty="0">
                        <a:solidFill>
                          <a:schemeClr val="tx2"/>
                        </a:solidFill>
                        <a:latin typeface="+mn-lt"/>
                        <a:ea typeface="+mn-ea"/>
                        <a:cs typeface="+mn-cs"/>
                      </a:endParaRPr>
                    </a:p>
                  </a:txBody>
                  <a:tcPr marL="17907" marR="17907" marT="17907" marB="17907" anchor="ctr"/>
                </a:tc>
                <a:tc>
                  <a:txBody>
                    <a:bodyPr/>
                    <a:lstStyle/>
                    <a:p>
                      <a:pPr marL="130810" marR="31750" indent="-130810" algn="l" fontAlgn="base" latinLnBrk="1">
                        <a:lnSpc>
                          <a:spcPct val="100000"/>
                        </a:lnSpc>
                        <a:spcBef>
                          <a:spcPts val="0"/>
                        </a:spcBef>
                        <a:spcAft>
                          <a:spcPts val="0"/>
                        </a:spcAft>
                      </a:pPr>
                      <a:r>
                        <a:rPr lang="en-US" altLang="ko-KR" sz="1200" kern="1200" dirty="0"/>
                        <a:t>1. </a:t>
                      </a:r>
                      <a:r>
                        <a:rPr lang="ko-KR" altLang="en-US" sz="1200" kern="1200" dirty="0"/>
                        <a:t>方</a:t>
                      </a:r>
                      <a:r>
                        <a:rPr lang="en-US" altLang="ko-KR" sz="1200" kern="1200" dirty="0"/>
                        <a:t>1</a:t>
                      </a:r>
                      <a:r>
                        <a:rPr lang="ko-KR" altLang="en-US" sz="1200" kern="1200" dirty="0"/>
                        <a:t>의 실시는 物의 침해 ○</a:t>
                      </a:r>
                      <a:r>
                        <a:rPr lang="en-US" altLang="ko-KR" sz="1200" kern="1200" dirty="0"/>
                        <a:t>(</a:t>
                      </a:r>
                      <a:r>
                        <a:rPr lang="ko-KR" altLang="en-US" sz="1200" kern="1200" dirty="0"/>
                        <a:t>∵ 法 제</a:t>
                      </a:r>
                      <a:r>
                        <a:rPr lang="en-US" altLang="ko-KR" sz="1200" kern="1200" dirty="0"/>
                        <a:t>2</a:t>
                      </a:r>
                      <a:r>
                        <a:rPr lang="ko-KR" altLang="en-US" sz="1200" kern="1200" dirty="0"/>
                        <a:t>조제</a:t>
                      </a:r>
                      <a:r>
                        <a:rPr lang="en-US" altLang="ko-KR" sz="1200" kern="1200" dirty="0"/>
                        <a:t>3</a:t>
                      </a:r>
                      <a:r>
                        <a:rPr lang="ko-KR" altLang="en-US" sz="1200" kern="1200" dirty="0"/>
                        <a:t>호가목의 실시의 유형 </a:t>
                      </a:r>
                      <a:r>
                        <a:rPr lang="en-US" altLang="ko-KR" sz="1200" kern="1200" dirty="0"/>
                        <a:t>- </a:t>
                      </a:r>
                      <a:r>
                        <a:rPr lang="ko-KR" altLang="en-US" sz="1200" kern="1200" dirty="0">
                          <a:solidFill>
                            <a:srgbClr val="FF0000"/>
                          </a:solidFill>
                        </a:rPr>
                        <a:t>물건생산을 청약하는 행위는 제외</a:t>
                      </a:r>
                      <a:r>
                        <a:rPr lang="en-US" altLang="ko-KR" sz="1200" kern="1200" dirty="0"/>
                        <a:t>)</a:t>
                      </a:r>
                      <a:endParaRPr lang="ko-KR" altLang="en-US" sz="1200" kern="1200" dirty="0"/>
                    </a:p>
                    <a:p>
                      <a:pPr marL="114300" marR="31750" indent="-114300" algn="l" fontAlgn="base" latinLnBrk="1">
                        <a:lnSpc>
                          <a:spcPct val="100000"/>
                        </a:lnSpc>
                        <a:spcBef>
                          <a:spcPts val="0"/>
                        </a:spcBef>
                        <a:spcAft>
                          <a:spcPts val="0"/>
                        </a:spcAft>
                      </a:pPr>
                      <a:r>
                        <a:rPr lang="en-US" altLang="ko-KR" sz="1200" kern="1200" dirty="0"/>
                        <a:t>2. </a:t>
                      </a:r>
                      <a:r>
                        <a:rPr lang="ko-KR" altLang="en-US" sz="1200" kern="1200" dirty="0"/>
                        <a:t>정당한 </a:t>
                      </a:r>
                      <a:r>
                        <a:rPr lang="ko-KR" altLang="en-US" sz="1200" kern="1200" dirty="0" err="1"/>
                        <a:t>권원획득</a:t>
                      </a:r>
                      <a:r>
                        <a:rPr lang="ko-KR" altLang="en-US" sz="1200" kern="1200" dirty="0"/>
                        <a:t> 후 실시</a:t>
                      </a:r>
                    </a:p>
                    <a:p>
                      <a:pPr marL="31750" marR="31750" indent="0" algn="l" fontAlgn="base" latinLnBrk="1">
                        <a:lnSpc>
                          <a:spcPct val="100000"/>
                        </a:lnSpc>
                        <a:spcBef>
                          <a:spcPts val="0"/>
                        </a:spcBef>
                        <a:spcAft>
                          <a:spcPts val="0"/>
                        </a:spcAft>
                      </a:pPr>
                      <a:r>
                        <a:rPr lang="ko-KR" altLang="en-US" sz="1200" kern="1200" dirty="0"/>
                        <a:t>① 허락</a:t>
                      </a:r>
                    </a:p>
                    <a:p>
                      <a:pPr marL="31750" marR="31750" indent="0" algn="l" fontAlgn="base" latinLnBrk="1">
                        <a:lnSpc>
                          <a:spcPct val="100000"/>
                        </a:lnSpc>
                        <a:spcBef>
                          <a:spcPts val="0"/>
                        </a:spcBef>
                        <a:spcAft>
                          <a:spcPts val="0"/>
                        </a:spcAft>
                      </a:pPr>
                      <a:r>
                        <a:rPr lang="ko-KR" altLang="en-US" sz="1200" kern="1200" dirty="0"/>
                        <a:t>② </a:t>
                      </a:r>
                      <a:r>
                        <a:rPr lang="ko-KR" altLang="en-US" sz="1200" kern="1200" dirty="0" err="1"/>
                        <a:t>통상실시권허락심판</a:t>
                      </a:r>
                      <a:r>
                        <a:rPr lang="en-US" altLang="ko-KR" sz="1200" kern="1200" dirty="0"/>
                        <a:t>(</a:t>
                      </a:r>
                      <a:r>
                        <a:rPr lang="ko-KR" altLang="en-US" sz="1200" kern="1200" dirty="0"/>
                        <a:t>乙이 등록된 경우</a:t>
                      </a:r>
                      <a:r>
                        <a:rPr lang="en-US" altLang="ko-KR" sz="1200" kern="1200" dirty="0"/>
                        <a:t>)</a:t>
                      </a:r>
                      <a:endParaRPr lang="ko-KR" altLang="en-US" sz="12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01"/>
                  </a:ext>
                </a:extLst>
              </a:tr>
              <a:tr h="1233036">
                <a:tc>
                  <a:txBody>
                    <a:bodyPr/>
                    <a:lstStyle/>
                    <a:p>
                      <a:pPr marL="0" marR="0" indent="0" algn="ctr" fontAlgn="base" latinLnBrk="0">
                        <a:lnSpc>
                          <a:spcPct val="100000"/>
                        </a:lnSpc>
                        <a:spcBef>
                          <a:spcPts val="0"/>
                        </a:spcBef>
                        <a:spcAft>
                          <a:spcPts val="0"/>
                        </a:spcAft>
                      </a:pPr>
                      <a:r>
                        <a:rPr lang="ko-KR" altLang="en-US" sz="1200" kern="1200"/>
                        <a:t>甲 </a:t>
                      </a:r>
                      <a:r>
                        <a:rPr lang="en-US" altLang="ko-KR" sz="1200" kern="1200"/>
                        <a:t>&lt; </a:t>
                      </a:r>
                      <a:r>
                        <a:rPr lang="ko-KR" altLang="en-US" sz="1200" kern="1200"/>
                        <a:t>乙</a:t>
                      </a:r>
                      <a:endParaRPr lang="ko-KR" altLang="en-US" sz="1200" kern="1200">
                        <a:solidFill>
                          <a:schemeClr val="tx2"/>
                        </a:solidFill>
                        <a:latin typeface="+mn-lt"/>
                        <a:ea typeface="+mn-ea"/>
                        <a:cs typeface="+mn-cs"/>
                      </a:endParaRPr>
                    </a:p>
                  </a:txBody>
                  <a:tcPr marL="17907" marR="17907" marT="17907" marB="17907" anchor="ctr"/>
                </a:tc>
                <a:tc>
                  <a:txBody>
                    <a:bodyPr/>
                    <a:lstStyle/>
                    <a:p>
                      <a:pPr marL="31750" marR="31750" indent="0" algn="l" fontAlgn="base" latinLnBrk="1">
                        <a:lnSpc>
                          <a:spcPct val="100000"/>
                        </a:lnSpc>
                        <a:spcBef>
                          <a:spcPts val="0"/>
                        </a:spcBef>
                        <a:spcAft>
                          <a:spcPts val="0"/>
                        </a:spcAft>
                      </a:pPr>
                      <a:r>
                        <a:rPr lang="en-US" altLang="ko-KR" sz="1200" kern="1200" dirty="0"/>
                        <a:t>1. </a:t>
                      </a:r>
                      <a:r>
                        <a:rPr lang="ko-KR" altLang="en-US" sz="1200" kern="1200" dirty="0"/>
                        <a:t>方</a:t>
                      </a:r>
                      <a:r>
                        <a:rPr lang="en-US" altLang="ko-KR" sz="1200" kern="1200" dirty="0"/>
                        <a:t>1</a:t>
                      </a:r>
                      <a:r>
                        <a:rPr lang="ko-KR" altLang="en-US" sz="1200" kern="1200" dirty="0"/>
                        <a:t>의 공개 전 출원 → 法 </a:t>
                      </a:r>
                      <a:r>
                        <a:rPr lang="en-US" altLang="ko-KR" sz="1200" kern="1200" dirty="0"/>
                        <a:t>29</a:t>
                      </a:r>
                      <a:r>
                        <a:rPr lang="ko-KR" altLang="en-US" sz="1200" kern="1200" dirty="0"/>
                        <a:t>③④</a:t>
                      </a:r>
                      <a:r>
                        <a:rPr lang="en-US" altLang="ko-KR" sz="1200" kern="1200" dirty="0"/>
                        <a:t>, 36</a:t>
                      </a:r>
                      <a:r>
                        <a:rPr lang="ko-KR" altLang="en-US" sz="1200" kern="1200" dirty="0"/>
                        <a:t> 위반</a:t>
                      </a:r>
                    </a:p>
                    <a:p>
                      <a:pPr marL="31750" marR="31750" indent="0" algn="l" fontAlgn="base" latinLnBrk="1">
                        <a:lnSpc>
                          <a:spcPct val="100000"/>
                        </a:lnSpc>
                        <a:spcBef>
                          <a:spcPts val="0"/>
                        </a:spcBef>
                        <a:spcAft>
                          <a:spcPts val="0"/>
                        </a:spcAft>
                      </a:pPr>
                      <a:r>
                        <a:rPr lang="en-US" altLang="ko-KR" sz="1200" kern="1200" dirty="0"/>
                        <a:t>2. </a:t>
                      </a:r>
                      <a:r>
                        <a:rPr lang="ko-KR" altLang="en-US" sz="1200" kern="1200" dirty="0"/>
                        <a:t>方</a:t>
                      </a:r>
                      <a:r>
                        <a:rPr lang="en-US" altLang="ko-KR" sz="1200" kern="1200" dirty="0"/>
                        <a:t>1</a:t>
                      </a:r>
                      <a:r>
                        <a:rPr lang="ko-KR" altLang="en-US" sz="1200" kern="1200" dirty="0"/>
                        <a:t>의 공개 후 출원→ 法 </a:t>
                      </a:r>
                      <a:r>
                        <a:rPr lang="en-US" altLang="ko-KR" sz="1200" kern="1200" dirty="0"/>
                        <a:t>29</a:t>
                      </a:r>
                      <a:r>
                        <a:rPr lang="ko-KR" altLang="en-US" sz="1200" kern="1200" dirty="0"/>
                        <a:t>①</a:t>
                      </a:r>
                      <a:r>
                        <a:rPr lang="en-US" altLang="ko-KR" sz="1200" kern="1200" dirty="0"/>
                        <a:t>, 36</a:t>
                      </a:r>
                      <a:r>
                        <a:rPr lang="ko-KR" altLang="en-US" sz="1200" kern="1200" dirty="0"/>
                        <a:t> 위반</a:t>
                      </a:r>
                      <a:endParaRPr lang="ko-KR" altLang="en-US" sz="1200" kern="1200" dirty="0">
                        <a:solidFill>
                          <a:schemeClr val="tx2"/>
                        </a:solidFill>
                        <a:latin typeface="+mn-lt"/>
                        <a:ea typeface="+mn-ea"/>
                        <a:cs typeface="+mn-cs"/>
                      </a:endParaRPr>
                    </a:p>
                  </a:txBody>
                  <a:tcPr marL="17907" marR="17907" marT="17907" marB="17907" anchor="ctr"/>
                </a:tc>
                <a:tc>
                  <a:txBody>
                    <a:bodyPr/>
                    <a:lstStyle/>
                    <a:p>
                      <a:pPr marL="118110" marR="31750" indent="-118110" algn="l" fontAlgn="base" latinLnBrk="1">
                        <a:lnSpc>
                          <a:spcPct val="100000"/>
                        </a:lnSpc>
                        <a:spcBef>
                          <a:spcPts val="0"/>
                        </a:spcBef>
                        <a:spcAft>
                          <a:spcPts val="0"/>
                        </a:spcAft>
                      </a:pPr>
                      <a:r>
                        <a:rPr lang="en-US" altLang="ko-KR" sz="1200" kern="1200" dirty="0"/>
                        <a:t>1. </a:t>
                      </a:r>
                      <a:r>
                        <a:rPr lang="ko-KR" altLang="en-US" sz="1200" kern="1200" dirty="0"/>
                        <a:t>物의 실시가 方</a:t>
                      </a:r>
                      <a:r>
                        <a:rPr lang="en-US" altLang="ko-KR" sz="1200" kern="1200" dirty="0"/>
                        <a:t>1</a:t>
                      </a:r>
                      <a:r>
                        <a:rPr lang="ko-KR" altLang="en-US" sz="1200" kern="1200" dirty="0"/>
                        <a:t>의 실시에 의한 경우 </a:t>
                      </a:r>
                      <a:r>
                        <a:rPr lang="en-US" altLang="ko-KR" sz="1200" kern="1200" dirty="0"/>
                        <a:t>- </a:t>
                      </a:r>
                      <a:r>
                        <a:rPr lang="ko-KR" altLang="en-US" sz="1200" kern="1200" dirty="0"/>
                        <a:t>方</a:t>
                      </a:r>
                      <a:r>
                        <a:rPr lang="en-US" altLang="ko-KR" sz="1200" kern="1200" dirty="0"/>
                        <a:t>1</a:t>
                      </a:r>
                      <a:r>
                        <a:rPr lang="ko-KR" altLang="en-US" sz="1200" kern="1200" dirty="0"/>
                        <a:t>의 침해 ○</a:t>
                      </a:r>
                    </a:p>
                    <a:p>
                      <a:pPr marL="114300" marR="31750" indent="-114300" algn="l" fontAlgn="base" latinLnBrk="1">
                        <a:lnSpc>
                          <a:spcPct val="100000"/>
                        </a:lnSpc>
                        <a:spcBef>
                          <a:spcPts val="0"/>
                        </a:spcBef>
                        <a:spcAft>
                          <a:spcPts val="0"/>
                        </a:spcAft>
                      </a:pPr>
                      <a:r>
                        <a:rPr lang="en-US" altLang="ko-KR" sz="1200" kern="1200" dirty="0"/>
                        <a:t>2. </a:t>
                      </a:r>
                      <a:r>
                        <a:rPr lang="ko-KR" altLang="en-US" sz="1200" kern="1200" dirty="0"/>
                        <a:t>物의 실시가 方</a:t>
                      </a:r>
                      <a:r>
                        <a:rPr lang="en-US" altLang="ko-KR" sz="1200" kern="1200" dirty="0"/>
                        <a:t>1</a:t>
                      </a:r>
                      <a:r>
                        <a:rPr lang="ko-KR" altLang="en-US" sz="1200" kern="1200" dirty="0"/>
                        <a:t>의 실시가 아닌 경우</a:t>
                      </a:r>
                    </a:p>
                    <a:p>
                      <a:pPr marL="31750" marR="31750" indent="0" algn="l" fontAlgn="base" latinLnBrk="1">
                        <a:lnSpc>
                          <a:spcPct val="100000"/>
                        </a:lnSpc>
                        <a:spcBef>
                          <a:spcPts val="0"/>
                        </a:spcBef>
                        <a:spcAft>
                          <a:spcPts val="0"/>
                        </a:spcAft>
                      </a:pPr>
                      <a:r>
                        <a:rPr lang="ko-KR" altLang="en-US" sz="1200" kern="1200" dirty="0"/>
                        <a:t>① 方</a:t>
                      </a:r>
                      <a:r>
                        <a:rPr lang="en-US" altLang="ko-KR" sz="1200" kern="1200" dirty="0"/>
                        <a:t>1</a:t>
                      </a:r>
                      <a:r>
                        <a:rPr lang="ko-KR" altLang="en-US" sz="1200" kern="1200" dirty="0"/>
                        <a:t>의 침해 </a:t>
                      </a:r>
                      <a:r>
                        <a:rPr lang="en-US" altLang="ko-KR" sz="1200" kern="1200" dirty="0"/>
                        <a:t>× </a:t>
                      </a:r>
                      <a:endParaRPr lang="ko-KR" altLang="en-US" sz="1200" kern="1200" dirty="0"/>
                    </a:p>
                    <a:p>
                      <a:pPr marL="185420" marR="31750" indent="-185420" algn="l" fontAlgn="base" latinLnBrk="1">
                        <a:lnSpc>
                          <a:spcPct val="100000"/>
                        </a:lnSpc>
                        <a:spcBef>
                          <a:spcPts val="0"/>
                        </a:spcBef>
                        <a:spcAft>
                          <a:spcPts val="0"/>
                        </a:spcAft>
                      </a:pPr>
                      <a:r>
                        <a:rPr lang="ko-KR" altLang="en-US" sz="1200" kern="1200" dirty="0"/>
                        <a:t> ② 단</a:t>
                      </a:r>
                      <a:r>
                        <a:rPr lang="en-US" altLang="ko-KR" sz="1200" kern="1200" dirty="0"/>
                        <a:t>, </a:t>
                      </a:r>
                      <a:r>
                        <a:rPr lang="ko-KR" altLang="en-US" sz="1200" kern="1200" dirty="0"/>
                        <a:t>方</a:t>
                      </a:r>
                      <a:r>
                        <a:rPr lang="en-US" altLang="ko-KR" sz="1200" kern="1200" dirty="0"/>
                        <a:t>1</a:t>
                      </a:r>
                      <a:r>
                        <a:rPr lang="ko-KR" altLang="en-US" sz="1200" kern="1200" dirty="0"/>
                        <a:t>의 </a:t>
                      </a:r>
                      <a:r>
                        <a:rPr lang="ko-KR" altLang="en-US" sz="1200" kern="1200" dirty="0" err="1"/>
                        <a:t>출원전</a:t>
                      </a:r>
                      <a:r>
                        <a:rPr lang="ko-KR" altLang="en-US" sz="1200" kern="1200" dirty="0"/>
                        <a:t> 物이 공지되지 않았다면 方</a:t>
                      </a:r>
                      <a:r>
                        <a:rPr lang="en-US" altLang="ko-KR" sz="1200" kern="1200" dirty="0"/>
                        <a:t>1</a:t>
                      </a:r>
                      <a:r>
                        <a:rPr lang="ko-KR" altLang="en-US" sz="1200" kern="1200" dirty="0"/>
                        <a:t>의 실시에 의하여 物을 생산한 것으로 추정</a:t>
                      </a:r>
                      <a:r>
                        <a:rPr lang="en-US" altLang="ko-KR" sz="1200" kern="1200" dirty="0"/>
                        <a:t>(</a:t>
                      </a:r>
                      <a:r>
                        <a:rPr lang="ko-KR" altLang="en-US" sz="1200" kern="1200" dirty="0"/>
                        <a:t>法 </a:t>
                      </a:r>
                      <a:r>
                        <a:rPr lang="en-US" altLang="ko-KR" sz="1200" kern="1200" dirty="0"/>
                        <a:t>129)</a:t>
                      </a:r>
                      <a:endParaRPr lang="ko-KR" altLang="en-US" sz="12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02"/>
                  </a:ext>
                </a:extLst>
              </a:tr>
              <a:tr h="521098">
                <a:tc>
                  <a:txBody>
                    <a:bodyPr/>
                    <a:lstStyle/>
                    <a:p>
                      <a:pPr marL="0" marR="0" indent="0" algn="ctr" fontAlgn="base" latinLnBrk="0">
                        <a:lnSpc>
                          <a:spcPct val="100000"/>
                        </a:lnSpc>
                        <a:spcBef>
                          <a:spcPts val="0"/>
                        </a:spcBef>
                        <a:spcAft>
                          <a:spcPts val="0"/>
                        </a:spcAft>
                      </a:pPr>
                      <a:r>
                        <a:rPr lang="ko-KR" altLang="en-US" sz="1200" kern="1200"/>
                        <a:t>甲 </a:t>
                      </a:r>
                      <a:r>
                        <a:rPr lang="en-US" altLang="ko-KR" sz="1200" kern="1200"/>
                        <a:t>= </a:t>
                      </a:r>
                      <a:r>
                        <a:rPr lang="ko-KR" altLang="en-US" sz="1200" kern="1200"/>
                        <a:t>乙</a:t>
                      </a:r>
                      <a:endParaRPr lang="ko-KR" altLang="en-US" sz="1200" kern="1200">
                        <a:solidFill>
                          <a:schemeClr val="tx2"/>
                        </a:solidFill>
                        <a:latin typeface="+mn-lt"/>
                        <a:ea typeface="+mn-ea"/>
                        <a:cs typeface="+mn-cs"/>
                      </a:endParaRPr>
                    </a:p>
                  </a:txBody>
                  <a:tcPr marL="17907" marR="17907" marT="17907" marB="17907" anchor="ctr"/>
                </a:tc>
                <a:tc>
                  <a:txBody>
                    <a:bodyPr/>
                    <a:lstStyle/>
                    <a:p>
                      <a:pPr marL="31750" marR="31750" indent="0" algn="l" fontAlgn="base" latinLnBrk="1">
                        <a:lnSpc>
                          <a:spcPct val="100000"/>
                        </a:lnSpc>
                        <a:spcBef>
                          <a:spcPts val="0"/>
                        </a:spcBef>
                        <a:spcAft>
                          <a:spcPts val="0"/>
                        </a:spcAft>
                      </a:pPr>
                      <a:r>
                        <a:rPr lang="ko-KR" altLang="en-US" sz="1200" kern="1200" dirty="0"/>
                        <a:t>실질적 동일성이 없는 경우 양자 모두 등록가능</a:t>
                      </a:r>
                      <a:endParaRPr lang="ko-KR" altLang="en-US" sz="1200" kern="1200" dirty="0">
                        <a:solidFill>
                          <a:schemeClr val="tx2"/>
                        </a:solidFill>
                        <a:latin typeface="+mn-lt"/>
                        <a:ea typeface="+mn-ea"/>
                        <a:cs typeface="+mn-cs"/>
                      </a:endParaRPr>
                    </a:p>
                  </a:txBody>
                  <a:tcPr marL="17907" marR="17907" marT="17907" marB="17907" anchor="ctr"/>
                </a:tc>
                <a:tc>
                  <a:txBody>
                    <a:bodyPr/>
                    <a:lstStyle/>
                    <a:p>
                      <a:pPr marL="31750" marR="31750" indent="0" algn="l" fontAlgn="base" latinLnBrk="1">
                        <a:lnSpc>
                          <a:spcPct val="100000"/>
                        </a:lnSpc>
                        <a:spcBef>
                          <a:spcPts val="0"/>
                        </a:spcBef>
                        <a:spcAft>
                          <a:spcPts val="0"/>
                        </a:spcAft>
                      </a:pPr>
                      <a:r>
                        <a:rPr lang="ko-KR" altLang="en-US" sz="1200" kern="1200" dirty="0"/>
                        <a:t>양자 모두 등록된 경우 자유롭게 실시</a:t>
                      </a:r>
                      <a:r>
                        <a:rPr lang="en-US" altLang="ko-KR" sz="1200" kern="1200" dirty="0"/>
                        <a:t>(</a:t>
                      </a:r>
                      <a:r>
                        <a:rPr lang="ko-KR" altLang="en-US" sz="1200" kern="1200" dirty="0"/>
                        <a:t>∵ 法 제</a:t>
                      </a:r>
                      <a:r>
                        <a:rPr lang="en-US" altLang="ko-KR" sz="1200" kern="1200" dirty="0"/>
                        <a:t>98</a:t>
                      </a:r>
                      <a:r>
                        <a:rPr lang="ko-KR" altLang="en-US" sz="1200" kern="1200" dirty="0"/>
                        <a:t>조의 “특허출원일 전”의 해석결과 </a:t>
                      </a:r>
                      <a:r>
                        <a:rPr lang="ko-KR" altLang="en-US" sz="1200" kern="1200" dirty="0" err="1"/>
                        <a:t>동일자</a:t>
                      </a:r>
                      <a:r>
                        <a:rPr lang="ko-KR" altLang="en-US" sz="1200" kern="1200" dirty="0"/>
                        <a:t> 출원의 부적용</a:t>
                      </a:r>
                      <a:r>
                        <a:rPr lang="en-US" altLang="ko-KR" sz="1200" kern="1200" dirty="0"/>
                        <a:t>)</a:t>
                      </a:r>
                      <a:endParaRPr lang="ko-KR" altLang="en-US" sz="12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3088387271"/>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 name="타원 143"/>
          <p:cNvSpPr/>
          <p:nvPr/>
        </p:nvSpPr>
        <p:spPr>
          <a:xfrm>
            <a:off x="6722624" y="4326142"/>
            <a:ext cx="1906035" cy="190603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ko-KR" altLang="en-US" sz="1400" dirty="0">
              <a:solidFill>
                <a:schemeClr val="tx1"/>
              </a:solidFill>
            </a:endParaRPr>
          </a:p>
        </p:txBody>
      </p:sp>
      <p:sp>
        <p:nvSpPr>
          <p:cNvPr id="3" name="제목 2"/>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rgbClr val="525252"/>
                </a:solidFill>
              </a:rPr>
              <a:t>물건발명 </a:t>
            </a:r>
            <a:r>
              <a:rPr lang="en-US" altLang="ko-KR" dirty="0">
                <a:solidFill>
                  <a:srgbClr val="525252"/>
                </a:solidFill>
              </a:rPr>
              <a:t>vs </a:t>
            </a:r>
            <a:r>
              <a:rPr lang="ko-KR" altLang="en-US" dirty="0">
                <a:solidFill>
                  <a:srgbClr val="525252"/>
                </a:solidFill>
              </a:rPr>
              <a:t>제법발명</a:t>
            </a:r>
          </a:p>
        </p:txBody>
      </p:sp>
      <p:sp>
        <p:nvSpPr>
          <p:cNvPr id="72" name="직사각형 71"/>
          <p:cNvSpPr/>
          <p:nvPr/>
        </p:nvSpPr>
        <p:spPr>
          <a:xfrm>
            <a:off x="289410" y="2057939"/>
            <a:ext cx="5689598" cy="646331"/>
          </a:xfrm>
          <a:prstGeom prst="rect">
            <a:avLst/>
          </a:prstGeom>
          <a:ln>
            <a:solidFill>
              <a:schemeClr val="bg1">
                <a:lumMod val="50000"/>
              </a:schemeClr>
            </a:solidFill>
          </a:ln>
        </p:spPr>
        <p:txBody>
          <a:bodyPr wrap="square">
            <a:spAutoFit/>
          </a:bodyPr>
          <a:lstStyle/>
          <a:p>
            <a:pPr fontAlgn="base"/>
            <a:r>
              <a:rPr lang="ko-KR" altLang="en-US" sz="1200" dirty="0"/>
              <a:t>물건발명이 </a:t>
            </a:r>
            <a:r>
              <a:rPr lang="ko-KR" altLang="en-US" sz="1200" dirty="0" err="1"/>
              <a:t>신규성</a:t>
            </a:r>
            <a:r>
              <a:rPr lang="ko-KR" altLang="en-US" sz="1200" dirty="0"/>
              <a:t> 또는 진보성이 있는 경우 </a:t>
            </a:r>
            <a:r>
              <a:rPr lang="ko-KR" altLang="en-US" sz="1200" dirty="0" err="1"/>
              <a:t>제법발명</a:t>
            </a:r>
            <a:r>
              <a:rPr lang="ko-KR" altLang="en-US" sz="1200" dirty="0"/>
              <a:t> 또는 용도발명은 당연히 </a:t>
            </a:r>
            <a:r>
              <a:rPr lang="ko-KR" altLang="en-US" sz="1200" dirty="0" err="1"/>
              <a:t>신규성</a:t>
            </a:r>
            <a:r>
              <a:rPr lang="ko-KR" altLang="en-US" sz="1200" dirty="0"/>
              <a:t> 또는 진보성이 있다</a:t>
            </a:r>
            <a:r>
              <a:rPr lang="en-US" altLang="ko-KR" sz="1200" dirty="0"/>
              <a:t>. </a:t>
            </a:r>
            <a:r>
              <a:rPr lang="ko-KR" altLang="en-US" sz="1200" dirty="0"/>
              <a:t>반면 물건발명이 </a:t>
            </a:r>
            <a:r>
              <a:rPr lang="ko-KR" altLang="en-US" sz="1200" dirty="0" err="1"/>
              <a:t>신규성</a:t>
            </a:r>
            <a:r>
              <a:rPr lang="ko-KR" altLang="en-US" sz="1200" dirty="0"/>
              <a:t> 또는 진보성이 없는 경우 </a:t>
            </a:r>
            <a:r>
              <a:rPr lang="ko-KR" altLang="en-US" sz="1200" dirty="0" err="1"/>
              <a:t>제법발명</a:t>
            </a:r>
            <a:r>
              <a:rPr lang="ko-KR" altLang="en-US" sz="1200" dirty="0"/>
              <a:t> 또는 용도발명은 개별적으로 </a:t>
            </a:r>
            <a:r>
              <a:rPr lang="ko-KR" altLang="en-US" sz="1200" dirty="0" err="1"/>
              <a:t>신규성</a:t>
            </a:r>
            <a:r>
              <a:rPr lang="ko-KR" altLang="en-US" sz="1200" dirty="0"/>
              <a:t> 또는 진보성 여부를 판단하여야 한다</a:t>
            </a:r>
            <a:r>
              <a:rPr lang="en-US" altLang="ko-KR" sz="1200" dirty="0"/>
              <a:t>. </a:t>
            </a:r>
            <a:endParaRPr lang="ko-KR" altLang="en-US" sz="1200" dirty="0"/>
          </a:p>
        </p:txBody>
      </p:sp>
      <p:grpSp>
        <p:nvGrpSpPr>
          <p:cNvPr id="7" name="그룹 6"/>
          <p:cNvGrpSpPr/>
          <p:nvPr/>
        </p:nvGrpSpPr>
        <p:grpSpPr>
          <a:xfrm>
            <a:off x="334472" y="2884609"/>
            <a:ext cx="5644536" cy="1736371"/>
            <a:chOff x="334472" y="2867025"/>
            <a:chExt cx="5753100" cy="1736371"/>
          </a:xfrm>
        </p:grpSpPr>
        <p:sp>
          <p:nvSpPr>
            <p:cNvPr id="96" name="직사각형 95"/>
            <p:cNvSpPr/>
            <p:nvPr/>
          </p:nvSpPr>
          <p:spPr>
            <a:xfrm>
              <a:off x="1113141" y="2867025"/>
              <a:ext cx="1266828" cy="1357752"/>
            </a:xfrm>
            <a:prstGeom prst="rect">
              <a:avLst/>
            </a:prstGeom>
            <a:no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5" name="타원 74"/>
            <p:cNvSpPr/>
            <p:nvPr/>
          </p:nvSpPr>
          <p:spPr>
            <a:xfrm>
              <a:off x="2722867" y="3095625"/>
              <a:ext cx="800100" cy="800100"/>
            </a:xfrm>
            <a:prstGeom prst="ellipse">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신규</a:t>
              </a:r>
              <a:endParaRPr lang="en-US" altLang="ko-KR" sz="1200" dirty="0">
                <a:solidFill>
                  <a:schemeClr val="tx1"/>
                </a:solidFill>
              </a:endParaRPr>
            </a:p>
            <a:p>
              <a:pPr algn="ctr"/>
              <a:r>
                <a:rPr lang="ko-KR" altLang="en-US" sz="1200" dirty="0">
                  <a:solidFill>
                    <a:schemeClr val="tx1"/>
                  </a:solidFill>
                </a:rPr>
                <a:t>화합물</a:t>
              </a:r>
            </a:p>
          </p:txBody>
        </p:sp>
        <p:sp>
          <p:nvSpPr>
            <p:cNvPr id="76" name="타원 75"/>
            <p:cNvSpPr/>
            <p:nvPr/>
          </p:nvSpPr>
          <p:spPr>
            <a:xfrm>
              <a:off x="334472" y="2943225"/>
              <a:ext cx="400050" cy="400050"/>
            </a:xfrm>
            <a:prstGeom prst="ellipse">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甲</a:t>
              </a:r>
            </a:p>
          </p:txBody>
        </p:sp>
        <p:sp>
          <p:nvSpPr>
            <p:cNvPr id="77" name="타원 76"/>
            <p:cNvSpPr/>
            <p:nvPr/>
          </p:nvSpPr>
          <p:spPr>
            <a:xfrm>
              <a:off x="334472" y="3657600"/>
              <a:ext cx="400050" cy="400050"/>
            </a:xfrm>
            <a:prstGeom prst="ellipse">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乙</a:t>
              </a:r>
            </a:p>
          </p:txBody>
        </p:sp>
        <p:sp>
          <p:nvSpPr>
            <p:cNvPr id="78" name="타원 77"/>
            <p:cNvSpPr/>
            <p:nvPr/>
          </p:nvSpPr>
          <p:spPr>
            <a:xfrm>
              <a:off x="5687522" y="2943225"/>
              <a:ext cx="400050" cy="400050"/>
            </a:xfrm>
            <a:prstGeom prst="ellipse">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丙</a:t>
              </a:r>
            </a:p>
          </p:txBody>
        </p:sp>
        <p:sp>
          <p:nvSpPr>
            <p:cNvPr id="79" name="타원 78"/>
            <p:cNvSpPr/>
            <p:nvPr/>
          </p:nvSpPr>
          <p:spPr>
            <a:xfrm>
              <a:off x="5687522" y="3657600"/>
              <a:ext cx="400050" cy="400050"/>
            </a:xfrm>
            <a:prstGeom prst="ellipse">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丁</a:t>
              </a:r>
            </a:p>
          </p:txBody>
        </p:sp>
        <p:cxnSp>
          <p:nvCxnSpPr>
            <p:cNvPr id="80" name="직선 화살표 연결선 79"/>
            <p:cNvCxnSpPr/>
            <p:nvPr/>
          </p:nvCxnSpPr>
          <p:spPr>
            <a:xfrm>
              <a:off x="827392" y="3143250"/>
              <a:ext cx="1828800" cy="200025"/>
            </a:xfrm>
            <a:prstGeom prst="straightConnector1">
              <a:avLst/>
            </a:prstGeom>
            <a:ln>
              <a:solidFill>
                <a:schemeClr val="bg1">
                  <a:lumMod val="50000"/>
                </a:schemeClr>
              </a:solidFill>
              <a:prstDash val="solid"/>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3" name="직선 화살표 연결선 82"/>
            <p:cNvCxnSpPr/>
            <p:nvPr/>
          </p:nvCxnSpPr>
          <p:spPr>
            <a:xfrm flipV="1">
              <a:off x="827392" y="3669726"/>
              <a:ext cx="1828800" cy="174051"/>
            </a:xfrm>
            <a:prstGeom prst="straightConnector1">
              <a:avLst/>
            </a:prstGeom>
            <a:ln>
              <a:solidFill>
                <a:schemeClr val="bg1">
                  <a:lumMod val="50000"/>
                </a:schemeClr>
              </a:solidFill>
              <a:prstDash val="solid"/>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7" name="직선 화살표 연결선 86"/>
            <p:cNvCxnSpPr/>
            <p:nvPr/>
          </p:nvCxnSpPr>
          <p:spPr>
            <a:xfrm flipV="1">
              <a:off x="3646792" y="3143250"/>
              <a:ext cx="1933575" cy="200025"/>
            </a:xfrm>
            <a:prstGeom prst="straightConnector1">
              <a:avLst/>
            </a:prstGeom>
            <a:ln>
              <a:solidFill>
                <a:schemeClr val="bg1">
                  <a:lumMod val="50000"/>
                </a:schemeClr>
              </a:solidFill>
              <a:prstDash val="solid"/>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90" name="직선 화살표 연결선 89"/>
            <p:cNvCxnSpPr/>
            <p:nvPr/>
          </p:nvCxnSpPr>
          <p:spPr>
            <a:xfrm>
              <a:off x="3646792" y="3595688"/>
              <a:ext cx="1933575" cy="248089"/>
            </a:xfrm>
            <a:prstGeom prst="straightConnector1">
              <a:avLst/>
            </a:prstGeom>
            <a:ln>
              <a:solidFill>
                <a:schemeClr val="bg1">
                  <a:lumMod val="50000"/>
                </a:schemeClr>
              </a:solidFill>
              <a:prstDash val="solid"/>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92" name="Rectangle 5"/>
            <p:cNvSpPr>
              <a:spLocks noChangeArrowheads="1"/>
            </p:cNvSpPr>
            <p:nvPr/>
          </p:nvSpPr>
          <p:spPr bwMode="auto">
            <a:xfrm>
              <a:off x="1470329" y="2969199"/>
              <a:ext cx="542925" cy="348102"/>
            </a:xfrm>
            <a:prstGeom prst="rect">
              <a:avLst/>
            </a:prstGeom>
            <a:noFill/>
            <a:ln w="9525" algn="ctr">
              <a:noFill/>
              <a:miter lim="800000"/>
              <a:headEnd/>
              <a:tailEnd/>
            </a:ln>
          </p:spPr>
          <p:txBody>
            <a:bodyPr wrap="none" anchor="ctr"/>
            <a:lstStyle/>
            <a:p>
              <a:pPr algn="ctr"/>
              <a:r>
                <a:rPr lang="en-US" altLang="ko-KR" sz="1000" b="0">
                  <a:solidFill>
                    <a:schemeClr val="tx1"/>
                  </a:solidFill>
                  <a:latin typeface="+mj-ea"/>
                  <a:ea typeface="+mj-ea"/>
                </a:rPr>
                <a:t>A </a:t>
              </a:r>
              <a:r>
                <a:rPr lang="ko-KR" altLang="en-US" sz="1000" b="0" dirty="0">
                  <a:solidFill>
                    <a:schemeClr val="tx1"/>
                  </a:solidFill>
                  <a:latin typeface="+mj-ea"/>
                  <a:ea typeface="+mj-ea"/>
                </a:rPr>
                <a:t>방법</a:t>
              </a:r>
            </a:p>
          </p:txBody>
        </p:sp>
        <p:sp>
          <p:nvSpPr>
            <p:cNvPr id="93" name="Rectangle 5"/>
            <p:cNvSpPr>
              <a:spLocks noChangeArrowheads="1"/>
            </p:cNvSpPr>
            <p:nvPr/>
          </p:nvSpPr>
          <p:spPr bwMode="auto">
            <a:xfrm>
              <a:off x="1470329" y="3503680"/>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B </a:t>
              </a:r>
              <a:r>
                <a:rPr lang="ko-KR" altLang="en-US" sz="1000" b="0" dirty="0">
                  <a:solidFill>
                    <a:schemeClr val="tx1"/>
                  </a:solidFill>
                  <a:latin typeface="+mj-ea"/>
                  <a:ea typeface="+mj-ea"/>
                </a:rPr>
                <a:t>방법</a:t>
              </a:r>
            </a:p>
          </p:txBody>
        </p:sp>
        <p:sp>
          <p:nvSpPr>
            <p:cNvPr id="94" name="Rectangle 5"/>
            <p:cNvSpPr>
              <a:spLocks noChangeArrowheads="1"/>
            </p:cNvSpPr>
            <p:nvPr/>
          </p:nvSpPr>
          <p:spPr bwMode="auto">
            <a:xfrm>
              <a:off x="4342116" y="2969199"/>
              <a:ext cx="542925" cy="348102"/>
            </a:xfrm>
            <a:prstGeom prst="rect">
              <a:avLst/>
            </a:prstGeom>
            <a:noFill/>
            <a:ln w="9525" algn="ctr">
              <a:noFill/>
              <a:miter lim="800000"/>
              <a:headEnd/>
              <a:tailEnd/>
            </a:ln>
          </p:spPr>
          <p:txBody>
            <a:bodyPr wrap="none" anchor="ctr"/>
            <a:lstStyle/>
            <a:p>
              <a:pPr algn="ctr"/>
              <a:r>
                <a:rPr lang="ko-KR" altLang="en-US" sz="1000" dirty="0">
                  <a:latin typeface="+mj-ea"/>
                  <a:ea typeface="+mj-ea"/>
                </a:rPr>
                <a:t>농약</a:t>
              </a:r>
              <a:endParaRPr lang="ko-KR" altLang="en-US" sz="1000" b="0" dirty="0">
                <a:solidFill>
                  <a:schemeClr val="tx1"/>
                </a:solidFill>
                <a:latin typeface="+mj-ea"/>
                <a:ea typeface="+mj-ea"/>
              </a:endParaRPr>
            </a:p>
          </p:txBody>
        </p:sp>
        <p:sp>
          <p:nvSpPr>
            <p:cNvPr id="95" name="Rectangle 5"/>
            <p:cNvSpPr>
              <a:spLocks noChangeArrowheads="1"/>
            </p:cNvSpPr>
            <p:nvPr/>
          </p:nvSpPr>
          <p:spPr bwMode="auto">
            <a:xfrm>
              <a:off x="4342116" y="3503680"/>
              <a:ext cx="542925" cy="348102"/>
            </a:xfrm>
            <a:prstGeom prst="rect">
              <a:avLst/>
            </a:prstGeom>
            <a:noFill/>
            <a:ln w="9525" algn="ctr">
              <a:noFill/>
              <a:miter lim="800000"/>
              <a:headEnd/>
              <a:tailEnd/>
            </a:ln>
          </p:spPr>
          <p:txBody>
            <a:bodyPr wrap="none" anchor="ctr"/>
            <a:lstStyle/>
            <a:p>
              <a:pPr algn="ctr"/>
              <a:r>
                <a:rPr lang="ko-KR" altLang="en-US" sz="1000" b="0" dirty="0">
                  <a:solidFill>
                    <a:schemeClr val="tx1"/>
                  </a:solidFill>
                  <a:latin typeface="+mj-ea"/>
                  <a:ea typeface="+mj-ea"/>
                </a:rPr>
                <a:t>의약</a:t>
              </a:r>
            </a:p>
          </p:txBody>
        </p:sp>
        <p:sp>
          <p:nvSpPr>
            <p:cNvPr id="98" name="직사각형 97"/>
            <p:cNvSpPr/>
            <p:nvPr/>
          </p:nvSpPr>
          <p:spPr>
            <a:xfrm>
              <a:off x="2489503" y="2867025"/>
              <a:ext cx="1266828" cy="1357752"/>
            </a:xfrm>
            <a:prstGeom prst="rect">
              <a:avLst/>
            </a:prstGeom>
            <a:no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9" name="직사각형 98"/>
            <p:cNvSpPr/>
            <p:nvPr/>
          </p:nvSpPr>
          <p:spPr>
            <a:xfrm>
              <a:off x="3980164" y="2867025"/>
              <a:ext cx="1266828" cy="1357752"/>
            </a:xfrm>
            <a:prstGeom prst="rect">
              <a:avLst/>
            </a:prstGeom>
            <a:no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0" name="Rectangle 5"/>
            <p:cNvSpPr>
              <a:spLocks noChangeArrowheads="1"/>
            </p:cNvSpPr>
            <p:nvPr/>
          </p:nvSpPr>
          <p:spPr bwMode="auto">
            <a:xfrm>
              <a:off x="1484617" y="4255294"/>
              <a:ext cx="542925" cy="348102"/>
            </a:xfrm>
            <a:prstGeom prst="rect">
              <a:avLst/>
            </a:prstGeom>
            <a:noFill/>
            <a:ln w="9525" algn="ctr">
              <a:noFill/>
              <a:miter lim="800000"/>
              <a:headEnd/>
              <a:tailEnd/>
            </a:ln>
          </p:spPr>
          <p:txBody>
            <a:bodyPr wrap="none" anchor="ctr"/>
            <a:lstStyle/>
            <a:p>
              <a:pPr algn="ctr"/>
              <a:r>
                <a:rPr lang="ko-KR" altLang="en-US" sz="1400" dirty="0" err="1">
                  <a:solidFill>
                    <a:schemeClr val="accent2">
                      <a:lumMod val="50000"/>
                    </a:schemeClr>
                  </a:solidFill>
                  <a:latin typeface="+mj-ea"/>
                  <a:ea typeface="+mj-ea"/>
                </a:rPr>
                <a:t>제법발명</a:t>
              </a:r>
              <a:r>
                <a:rPr lang="en-US" altLang="ko-KR" sz="1400" dirty="0">
                  <a:solidFill>
                    <a:schemeClr val="accent2">
                      <a:lumMod val="50000"/>
                    </a:schemeClr>
                  </a:solidFill>
                  <a:latin typeface="+mj-ea"/>
                  <a:ea typeface="+mj-ea"/>
                </a:rPr>
                <a:t>(</a:t>
              </a:r>
              <a:r>
                <a:rPr lang="ko-KR" altLang="en-US" sz="1400" dirty="0">
                  <a:solidFill>
                    <a:schemeClr val="accent2">
                      <a:lumMod val="50000"/>
                    </a:schemeClr>
                  </a:solidFill>
                  <a:latin typeface="+mj-ea"/>
                  <a:ea typeface="+mj-ea"/>
                </a:rPr>
                <a:t>多</a:t>
              </a:r>
              <a:r>
                <a:rPr lang="en-US" altLang="ko-KR" sz="1400" dirty="0">
                  <a:solidFill>
                    <a:schemeClr val="accent2">
                      <a:lumMod val="50000"/>
                    </a:schemeClr>
                  </a:solidFill>
                  <a:latin typeface="+mj-ea"/>
                  <a:ea typeface="+mj-ea"/>
                </a:rPr>
                <a:t>)</a:t>
              </a:r>
              <a:endParaRPr lang="ko-KR" altLang="en-US" sz="1400" b="0" dirty="0">
                <a:solidFill>
                  <a:schemeClr val="accent2">
                    <a:lumMod val="50000"/>
                  </a:schemeClr>
                </a:solidFill>
                <a:latin typeface="+mj-ea"/>
                <a:ea typeface="+mj-ea"/>
              </a:endParaRPr>
            </a:p>
          </p:txBody>
        </p:sp>
        <p:sp>
          <p:nvSpPr>
            <p:cNvPr id="101" name="Rectangle 5"/>
            <p:cNvSpPr>
              <a:spLocks noChangeArrowheads="1"/>
            </p:cNvSpPr>
            <p:nvPr/>
          </p:nvSpPr>
          <p:spPr bwMode="auto">
            <a:xfrm>
              <a:off x="2860979" y="4255294"/>
              <a:ext cx="542925" cy="348102"/>
            </a:xfrm>
            <a:prstGeom prst="rect">
              <a:avLst/>
            </a:prstGeom>
            <a:noFill/>
            <a:ln w="9525" algn="ctr">
              <a:noFill/>
              <a:miter lim="800000"/>
              <a:headEnd/>
              <a:tailEnd/>
            </a:ln>
          </p:spPr>
          <p:txBody>
            <a:bodyPr wrap="none" anchor="ctr"/>
            <a:lstStyle/>
            <a:p>
              <a:pPr algn="ctr"/>
              <a:r>
                <a:rPr lang="ko-KR" altLang="en-US" sz="1400" dirty="0">
                  <a:solidFill>
                    <a:schemeClr val="accent2">
                      <a:lumMod val="50000"/>
                    </a:schemeClr>
                  </a:solidFill>
                  <a:latin typeface="+mj-ea"/>
                  <a:ea typeface="+mj-ea"/>
                </a:rPr>
                <a:t>물건발명</a:t>
              </a:r>
              <a:r>
                <a:rPr lang="en-US" altLang="ko-KR" sz="1400" dirty="0">
                  <a:solidFill>
                    <a:schemeClr val="accent2">
                      <a:lumMod val="50000"/>
                    </a:schemeClr>
                  </a:solidFill>
                  <a:latin typeface="+mj-ea"/>
                  <a:ea typeface="+mj-ea"/>
                </a:rPr>
                <a:t>(1)</a:t>
              </a:r>
              <a:endParaRPr lang="ko-KR" altLang="en-US" sz="1400" b="0" dirty="0">
                <a:solidFill>
                  <a:schemeClr val="accent2">
                    <a:lumMod val="50000"/>
                  </a:schemeClr>
                </a:solidFill>
                <a:latin typeface="+mj-ea"/>
                <a:ea typeface="+mj-ea"/>
              </a:endParaRPr>
            </a:p>
          </p:txBody>
        </p:sp>
        <p:sp>
          <p:nvSpPr>
            <p:cNvPr id="102" name="Rectangle 5"/>
            <p:cNvSpPr>
              <a:spLocks noChangeArrowheads="1"/>
            </p:cNvSpPr>
            <p:nvPr/>
          </p:nvSpPr>
          <p:spPr bwMode="auto">
            <a:xfrm>
              <a:off x="4351641" y="4255294"/>
              <a:ext cx="542925" cy="348102"/>
            </a:xfrm>
            <a:prstGeom prst="rect">
              <a:avLst/>
            </a:prstGeom>
            <a:noFill/>
            <a:ln w="9525" algn="ctr">
              <a:noFill/>
              <a:miter lim="800000"/>
              <a:headEnd/>
              <a:tailEnd/>
            </a:ln>
          </p:spPr>
          <p:txBody>
            <a:bodyPr wrap="none" anchor="ctr"/>
            <a:lstStyle/>
            <a:p>
              <a:pPr algn="ctr"/>
              <a:r>
                <a:rPr lang="ko-KR" altLang="en-US" sz="1400" dirty="0">
                  <a:solidFill>
                    <a:schemeClr val="accent2">
                      <a:lumMod val="50000"/>
                    </a:schemeClr>
                  </a:solidFill>
                  <a:latin typeface="+mj-ea"/>
                  <a:ea typeface="+mj-ea"/>
                </a:rPr>
                <a:t>용도발명</a:t>
              </a:r>
              <a:r>
                <a:rPr lang="en-US" altLang="ko-KR" sz="1400" dirty="0">
                  <a:solidFill>
                    <a:schemeClr val="accent2">
                      <a:lumMod val="50000"/>
                    </a:schemeClr>
                  </a:solidFill>
                  <a:latin typeface="+mj-ea"/>
                  <a:ea typeface="+mj-ea"/>
                </a:rPr>
                <a:t>(</a:t>
              </a:r>
              <a:r>
                <a:rPr lang="ko-KR" altLang="en-US" sz="1400" dirty="0">
                  <a:solidFill>
                    <a:schemeClr val="accent2">
                      <a:lumMod val="50000"/>
                    </a:schemeClr>
                  </a:solidFill>
                  <a:latin typeface="+mj-ea"/>
                  <a:ea typeface="+mj-ea"/>
                </a:rPr>
                <a:t>多</a:t>
              </a:r>
              <a:r>
                <a:rPr lang="en-US" altLang="ko-KR" sz="1400" dirty="0">
                  <a:solidFill>
                    <a:schemeClr val="accent2">
                      <a:lumMod val="50000"/>
                    </a:schemeClr>
                  </a:solidFill>
                  <a:latin typeface="+mj-ea"/>
                  <a:ea typeface="+mj-ea"/>
                </a:rPr>
                <a:t>)</a:t>
              </a:r>
              <a:endParaRPr lang="ko-KR" altLang="en-US" sz="1400" b="0" dirty="0">
                <a:solidFill>
                  <a:schemeClr val="accent2">
                    <a:lumMod val="50000"/>
                  </a:schemeClr>
                </a:solidFill>
                <a:latin typeface="+mj-ea"/>
                <a:ea typeface="+mj-ea"/>
              </a:endParaRPr>
            </a:p>
          </p:txBody>
        </p:sp>
      </p:grpSp>
      <p:sp>
        <p:nvSpPr>
          <p:cNvPr id="62" name="TextBox 61"/>
          <p:cNvSpPr txBox="1"/>
          <p:nvPr/>
        </p:nvSpPr>
        <p:spPr>
          <a:xfrm>
            <a:off x="289410" y="1508354"/>
            <a:ext cx="3924472" cy="400110"/>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2000" dirty="0"/>
              <a:t>물건발명</a:t>
            </a:r>
            <a:r>
              <a:rPr lang="en-US" altLang="ko-KR" sz="2000" dirty="0"/>
              <a:t>(</a:t>
            </a:r>
            <a:r>
              <a:rPr lang="ko-KR" altLang="en-US" sz="2000" dirty="0"/>
              <a:t>物</a:t>
            </a:r>
            <a:r>
              <a:rPr lang="en-US" altLang="ko-KR" sz="2000" dirty="0"/>
              <a:t>)</a:t>
            </a:r>
            <a:r>
              <a:rPr lang="ko-KR" altLang="en-US" sz="2000" dirty="0"/>
              <a:t> </a:t>
            </a:r>
            <a:r>
              <a:rPr lang="en-US" altLang="ko-KR" sz="2000" dirty="0"/>
              <a:t>: </a:t>
            </a:r>
            <a:r>
              <a:rPr lang="ko-KR" altLang="en-US" sz="2000" dirty="0" err="1"/>
              <a:t>제법발명</a:t>
            </a:r>
            <a:r>
              <a:rPr lang="en-US" altLang="ko-KR" sz="2000" dirty="0"/>
              <a:t>(</a:t>
            </a:r>
            <a:r>
              <a:rPr lang="ko-KR" altLang="en-US" sz="2000" dirty="0"/>
              <a:t>方</a:t>
            </a:r>
            <a:r>
              <a:rPr lang="en-US" altLang="ko-KR" sz="2000" dirty="0"/>
              <a:t>)</a:t>
            </a:r>
            <a:r>
              <a:rPr lang="ko-KR" altLang="en-US" sz="2000" dirty="0"/>
              <a:t> </a:t>
            </a:r>
            <a:r>
              <a:rPr lang="en-US" altLang="ko-KR" sz="2000" dirty="0"/>
              <a:t>= 1 : </a:t>
            </a:r>
            <a:r>
              <a:rPr lang="ko-KR" altLang="en-US" sz="2000" dirty="0"/>
              <a:t>多</a:t>
            </a:r>
          </a:p>
        </p:txBody>
      </p:sp>
      <p:cxnSp>
        <p:nvCxnSpPr>
          <p:cNvPr id="64" name="직선 연결선 63"/>
          <p:cNvCxnSpPr/>
          <p:nvPr/>
        </p:nvCxnSpPr>
        <p:spPr>
          <a:xfrm flipH="1">
            <a:off x="289411" y="4714875"/>
            <a:ext cx="5689597"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직선 연결선 106"/>
          <p:cNvCxnSpPr/>
          <p:nvPr/>
        </p:nvCxnSpPr>
        <p:spPr>
          <a:xfrm flipH="1">
            <a:off x="6070840" y="958362"/>
            <a:ext cx="1" cy="576775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8" name="TextBox 107"/>
          <p:cNvSpPr txBox="1"/>
          <p:nvPr/>
        </p:nvSpPr>
        <p:spPr>
          <a:xfrm>
            <a:off x="6265980" y="954549"/>
            <a:ext cx="3974165" cy="400110"/>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2000" dirty="0"/>
              <a:t>실시 </a:t>
            </a:r>
            <a:r>
              <a:rPr lang="en-US" altLang="ko-KR" sz="2000" dirty="0"/>
              <a:t>: </a:t>
            </a:r>
            <a:r>
              <a:rPr lang="ko-KR" altLang="en-US" sz="2000" dirty="0"/>
              <a:t>물건발명</a:t>
            </a:r>
            <a:r>
              <a:rPr lang="en-US" altLang="ko-KR" sz="2000" dirty="0"/>
              <a:t>(</a:t>
            </a:r>
            <a:r>
              <a:rPr lang="ko-KR" altLang="en-US" sz="2000" dirty="0"/>
              <a:t>物</a:t>
            </a:r>
            <a:r>
              <a:rPr lang="en-US" altLang="ko-KR" sz="2000" dirty="0"/>
              <a:t>) </a:t>
            </a:r>
            <a:r>
              <a:rPr lang="ko-KR" altLang="en-US" sz="2000" dirty="0"/>
              <a:t>⊃</a:t>
            </a:r>
            <a:r>
              <a:rPr lang="en-US" altLang="ko-KR" sz="2000" dirty="0"/>
              <a:t> </a:t>
            </a:r>
            <a:r>
              <a:rPr lang="ko-KR" altLang="en-US" sz="2000" dirty="0" err="1"/>
              <a:t>제법발명</a:t>
            </a:r>
            <a:r>
              <a:rPr lang="en-US" altLang="ko-KR" sz="2000" dirty="0"/>
              <a:t>(</a:t>
            </a:r>
            <a:r>
              <a:rPr lang="ko-KR" altLang="en-US" sz="2000" dirty="0"/>
              <a:t>方</a:t>
            </a:r>
            <a:r>
              <a:rPr lang="en-US" altLang="ko-KR" sz="2000" dirty="0"/>
              <a:t>)</a:t>
            </a:r>
            <a:r>
              <a:rPr lang="ko-KR" altLang="en-US" sz="2000" dirty="0"/>
              <a:t> </a:t>
            </a:r>
          </a:p>
        </p:txBody>
      </p:sp>
      <p:grpSp>
        <p:nvGrpSpPr>
          <p:cNvPr id="23" name="그룹 22"/>
          <p:cNvGrpSpPr/>
          <p:nvPr/>
        </p:nvGrpSpPr>
        <p:grpSpPr>
          <a:xfrm>
            <a:off x="10369162" y="1692421"/>
            <a:ext cx="1638076" cy="1751550"/>
            <a:chOff x="9873753" y="2057939"/>
            <a:chExt cx="2083777" cy="2228127"/>
          </a:xfrm>
        </p:grpSpPr>
        <p:sp>
          <p:nvSpPr>
            <p:cNvPr id="109" name="타원 108"/>
            <p:cNvSpPr/>
            <p:nvPr/>
          </p:nvSpPr>
          <p:spPr>
            <a:xfrm>
              <a:off x="10162347" y="2545666"/>
              <a:ext cx="698511" cy="698511"/>
            </a:xfrm>
            <a:prstGeom prst="ellipse">
              <a:avLst/>
            </a:pr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3" name="타원 112"/>
            <p:cNvSpPr/>
            <p:nvPr/>
          </p:nvSpPr>
          <p:spPr>
            <a:xfrm>
              <a:off x="11032786" y="2535353"/>
              <a:ext cx="698511" cy="698511"/>
            </a:xfrm>
            <a:prstGeom prst="ellipse">
              <a:avLst/>
            </a:pr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4" name="타원 113"/>
            <p:cNvSpPr/>
            <p:nvPr/>
          </p:nvSpPr>
          <p:spPr>
            <a:xfrm>
              <a:off x="10217130" y="3388060"/>
              <a:ext cx="698511" cy="698511"/>
            </a:xfrm>
            <a:prstGeom prst="ellipse">
              <a:avLst/>
            </a:pr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5" name="타원 114"/>
            <p:cNvSpPr/>
            <p:nvPr/>
          </p:nvSpPr>
          <p:spPr>
            <a:xfrm>
              <a:off x="11032786" y="3300411"/>
              <a:ext cx="698511" cy="698511"/>
            </a:xfrm>
            <a:prstGeom prst="ellipse">
              <a:avLst/>
            </a:pr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p:cNvSpPr txBox="1"/>
            <p:nvPr/>
          </p:nvSpPr>
          <p:spPr>
            <a:xfrm>
              <a:off x="10137300" y="2471177"/>
              <a:ext cx="726481" cy="276999"/>
            </a:xfrm>
            <a:prstGeom prst="rect">
              <a:avLst/>
            </a:prstGeom>
            <a:solidFill>
              <a:schemeClr val="bg1"/>
            </a:solidFill>
          </p:spPr>
          <p:txBody>
            <a:bodyPr wrap="none" rtlCol="0">
              <a:spAutoFit/>
            </a:bodyPr>
            <a:lstStyle/>
            <a:p>
              <a:r>
                <a:rPr lang="ko-KR" altLang="en-US" sz="1200" dirty="0"/>
                <a:t>方</a:t>
              </a:r>
              <a:r>
                <a:rPr lang="en-US" altLang="ko-KR" sz="1200" dirty="0"/>
                <a:t>1</a:t>
              </a:r>
              <a:r>
                <a:rPr lang="ko-KR" altLang="en-US" sz="1200" dirty="0"/>
                <a:t> 실시</a:t>
              </a:r>
            </a:p>
          </p:txBody>
        </p:sp>
        <p:sp>
          <p:nvSpPr>
            <p:cNvPr id="117" name="TextBox 116"/>
            <p:cNvSpPr txBox="1"/>
            <p:nvPr/>
          </p:nvSpPr>
          <p:spPr>
            <a:xfrm>
              <a:off x="10974473" y="2513952"/>
              <a:ext cx="726481" cy="276999"/>
            </a:xfrm>
            <a:prstGeom prst="rect">
              <a:avLst/>
            </a:prstGeom>
            <a:solidFill>
              <a:schemeClr val="bg1"/>
            </a:solidFill>
          </p:spPr>
          <p:txBody>
            <a:bodyPr wrap="none" rtlCol="0">
              <a:spAutoFit/>
            </a:bodyPr>
            <a:lstStyle/>
            <a:p>
              <a:r>
                <a:rPr lang="ko-KR" altLang="en-US" sz="1200" dirty="0"/>
                <a:t>方</a:t>
              </a:r>
              <a:r>
                <a:rPr lang="en-US" altLang="ko-KR" sz="1200" dirty="0"/>
                <a:t>2</a:t>
              </a:r>
              <a:r>
                <a:rPr lang="ko-KR" altLang="en-US" sz="1200" dirty="0"/>
                <a:t> 실시</a:t>
              </a:r>
            </a:p>
          </p:txBody>
        </p:sp>
        <p:sp>
          <p:nvSpPr>
            <p:cNvPr id="118" name="TextBox 117"/>
            <p:cNvSpPr txBox="1"/>
            <p:nvPr/>
          </p:nvSpPr>
          <p:spPr>
            <a:xfrm>
              <a:off x="10162347" y="3334885"/>
              <a:ext cx="683200" cy="276999"/>
            </a:xfrm>
            <a:prstGeom prst="rect">
              <a:avLst/>
            </a:prstGeom>
            <a:solidFill>
              <a:schemeClr val="bg1"/>
            </a:solidFill>
          </p:spPr>
          <p:txBody>
            <a:bodyPr wrap="none" rtlCol="0">
              <a:spAutoFit/>
            </a:bodyPr>
            <a:lstStyle/>
            <a:p>
              <a:r>
                <a:rPr lang="ko-KR" altLang="en-US" sz="1200" dirty="0"/>
                <a:t>方</a:t>
              </a:r>
              <a:r>
                <a:rPr lang="en-US" altLang="ko-KR" sz="1200" dirty="0"/>
                <a:t>3</a:t>
              </a:r>
              <a:r>
                <a:rPr lang="ko-KR" altLang="en-US" sz="1200" dirty="0"/>
                <a:t>실시</a:t>
              </a:r>
            </a:p>
          </p:txBody>
        </p:sp>
        <p:sp>
          <p:nvSpPr>
            <p:cNvPr id="119" name="TextBox 118"/>
            <p:cNvSpPr txBox="1"/>
            <p:nvPr/>
          </p:nvSpPr>
          <p:spPr>
            <a:xfrm>
              <a:off x="10996113" y="3286486"/>
              <a:ext cx="692818" cy="276999"/>
            </a:xfrm>
            <a:prstGeom prst="rect">
              <a:avLst/>
            </a:prstGeom>
            <a:solidFill>
              <a:schemeClr val="bg1"/>
            </a:solidFill>
          </p:spPr>
          <p:txBody>
            <a:bodyPr wrap="none" rtlCol="0">
              <a:spAutoFit/>
            </a:bodyPr>
            <a:lstStyle/>
            <a:p>
              <a:r>
                <a:rPr lang="ko-KR" altLang="en-US" sz="1200" dirty="0"/>
                <a:t>方</a:t>
              </a:r>
              <a:r>
                <a:rPr lang="en-US" altLang="ko-KR" sz="1200" dirty="0"/>
                <a:t>n</a:t>
              </a:r>
              <a:r>
                <a:rPr lang="ko-KR" altLang="en-US" sz="1200" dirty="0"/>
                <a:t>실시</a:t>
              </a:r>
            </a:p>
          </p:txBody>
        </p:sp>
        <p:sp>
          <p:nvSpPr>
            <p:cNvPr id="20" name="타원 19"/>
            <p:cNvSpPr/>
            <p:nvPr/>
          </p:nvSpPr>
          <p:spPr>
            <a:xfrm>
              <a:off x="9873753" y="2202289"/>
              <a:ext cx="2083777" cy="2083777"/>
            </a:xfrm>
            <a:prstGeom prst="ellipse">
              <a:avLst/>
            </a:pr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1" name="TextBox 20"/>
            <p:cNvSpPr txBox="1"/>
            <p:nvPr/>
          </p:nvSpPr>
          <p:spPr>
            <a:xfrm>
              <a:off x="10555131" y="2057939"/>
              <a:ext cx="641522" cy="276999"/>
            </a:xfrm>
            <a:prstGeom prst="rect">
              <a:avLst/>
            </a:prstGeom>
            <a:solidFill>
              <a:schemeClr val="bg1"/>
            </a:solidFill>
          </p:spPr>
          <p:txBody>
            <a:bodyPr wrap="none" rtlCol="0">
              <a:spAutoFit/>
            </a:bodyPr>
            <a:lstStyle/>
            <a:p>
              <a:r>
                <a:rPr lang="ko-KR" altLang="en-US" sz="1200" dirty="0"/>
                <a:t>物 실시</a:t>
              </a:r>
            </a:p>
          </p:txBody>
        </p:sp>
      </p:grpSp>
      <p:sp>
        <p:nvSpPr>
          <p:cNvPr id="120" name="Rectangle 1"/>
          <p:cNvSpPr>
            <a:spLocks noChangeArrowheads="1"/>
          </p:cNvSpPr>
          <p:nvPr/>
        </p:nvSpPr>
        <p:spPr bwMode="auto">
          <a:xfrm>
            <a:off x="7359130" y="1407466"/>
            <a:ext cx="2834192" cy="64633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sz="1200" b="0" i="0" u="none" strike="noStrike" cap="none" normalizeH="0" baseline="0" dirty="0">
                <a:ln>
                  <a:noFill/>
                </a:ln>
                <a:solidFill>
                  <a:srgbClr val="444444"/>
                </a:solidFill>
                <a:effectLst/>
                <a:latin typeface="+mn-ea"/>
                <a:cs typeface="굴림" pitchFamily="50" charset="-127"/>
              </a:rPr>
              <a:t>그 물건을 </a:t>
            </a:r>
            <a:r>
              <a:rPr kumimoji="1" lang="ko-KR" sz="1200" b="0" i="0" u="none" strike="noStrike" cap="none" normalizeH="0" baseline="0" dirty="0" err="1">
                <a:ln>
                  <a:noFill/>
                </a:ln>
                <a:solidFill>
                  <a:srgbClr val="444444"/>
                </a:solidFill>
                <a:effectLst/>
                <a:latin typeface="+mn-ea"/>
                <a:cs typeface="굴림" pitchFamily="50" charset="-127"/>
              </a:rPr>
              <a:t>생산</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사용</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양도</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대여</a:t>
            </a:r>
            <a:r>
              <a:rPr lang="ko-KR" altLang="en-US" sz="1200" dirty="0" err="1"/>
              <a:t>ㆍ</a:t>
            </a:r>
            <a:r>
              <a:rPr kumimoji="1" lang="ko-KR" altLang="en-US" sz="1200" b="0" i="0" u="none" strike="noStrike" cap="none" normalizeH="0" baseline="0" dirty="0" err="1">
                <a:ln>
                  <a:noFill/>
                </a:ln>
                <a:solidFill>
                  <a:srgbClr val="444444"/>
                </a:solidFill>
                <a:effectLst/>
                <a:latin typeface="+mn-ea"/>
                <a:cs typeface="굴림" pitchFamily="50" charset="-127"/>
              </a:rPr>
              <a:t>수출</a:t>
            </a:r>
            <a:r>
              <a:rPr kumimoji="1" lang="ko-KR" sz="1200" b="0" i="0" u="none" strike="noStrike" cap="none" normalizeH="0" baseline="0" dirty="0">
                <a:ln>
                  <a:noFill/>
                </a:ln>
                <a:solidFill>
                  <a:srgbClr val="444444"/>
                </a:solidFill>
                <a:effectLst/>
                <a:latin typeface="+mn-ea"/>
                <a:cs typeface="굴림" pitchFamily="50" charset="-127"/>
              </a:rPr>
              <a:t> 또는 수입하거나 그 물건의 양도 또는 대여의 청약을 하는 행위</a:t>
            </a:r>
            <a:endParaRPr kumimoji="1" lang="ko-KR" sz="1200" b="0" i="0" u="none" strike="noStrike" cap="none" normalizeH="0" baseline="0" dirty="0">
              <a:ln>
                <a:noFill/>
              </a:ln>
              <a:solidFill>
                <a:schemeClr val="tx1"/>
              </a:solidFill>
              <a:effectLst/>
              <a:latin typeface="+mn-ea"/>
              <a:cs typeface="굴림" pitchFamily="50" charset="-127"/>
            </a:endParaRPr>
          </a:p>
        </p:txBody>
      </p:sp>
      <p:sp>
        <p:nvSpPr>
          <p:cNvPr id="122" name="TextBox 121"/>
          <p:cNvSpPr txBox="1"/>
          <p:nvPr/>
        </p:nvSpPr>
        <p:spPr>
          <a:xfrm>
            <a:off x="6286821" y="2455266"/>
            <a:ext cx="922048" cy="338554"/>
          </a:xfrm>
          <a:prstGeom prst="rect">
            <a:avLst/>
          </a:prstGeom>
          <a:solidFill>
            <a:schemeClr val="bg1">
              <a:lumMod val="95000"/>
            </a:schemeClr>
          </a:solidFill>
          <a:ln>
            <a:solidFill>
              <a:schemeClr val="bg1">
                <a:lumMod val="50000"/>
              </a:schemeClr>
            </a:solidFill>
          </a:ln>
        </p:spPr>
        <p:txBody>
          <a:bodyPr wrap="square" rtlCol="0">
            <a:noAutofit/>
          </a:bodyPr>
          <a:lstStyle/>
          <a:p>
            <a:pPr algn="ctr"/>
            <a:r>
              <a:rPr lang="ko-KR" altLang="en-US" sz="1600" dirty="0"/>
              <a:t>方</a:t>
            </a:r>
            <a:r>
              <a:rPr lang="en-US" altLang="ko-KR" sz="1600" dirty="0"/>
              <a:t> </a:t>
            </a:r>
            <a:r>
              <a:rPr lang="ko-KR" altLang="en-US" sz="1600" dirty="0"/>
              <a:t>실시</a:t>
            </a:r>
          </a:p>
        </p:txBody>
      </p:sp>
      <p:sp>
        <p:nvSpPr>
          <p:cNvPr id="123" name="TextBox 122"/>
          <p:cNvSpPr txBox="1"/>
          <p:nvPr/>
        </p:nvSpPr>
        <p:spPr>
          <a:xfrm>
            <a:off x="6286821" y="1561354"/>
            <a:ext cx="922048" cy="338554"/>
          </a:xfrm>
          <a:prstGeom prst="rect">
            <a:avLst/>
          </a:prstGeom>
          <a:solidFill>
            <a:schemeClr val="bg1">
              <a:lumMod val="95000"/>
            </a:schemeClr>
          </a:solidFill>
          <a:ln>
            <a:solidFill>
              <a:schemeClr val="bg1">
                <a:lumMod val="50000"/>
              </a:schemeClr>
            </a:solidFill>
          </a:ln>
        </p:spPr>
        <p:txBody>
          <a:bodyPr wrap="square" rtlCol="0">
            <a:noAutofit/>
          </a:bodyPr>
          <a:lstStyle/>
          <a:p>
            <a:pPr algn="ctr"/>
            <a:r>
              <a:rPr lang="ko-KR" altLang="en-US" sz="1600" dirty="0"/>
              <a:t>物 실시</a:t>
            </a:r>
          </a:p>
        </p:txBody>
      </p:sp>
      <p:sp>
        <p:nvSpPr>
          <p:cNvPr id="124" name="Rectangle 1"/>
          <p:cNvSpPr>
            <a:spLocks noChangeArrowheads="1"/>
          </p:cNvSpPr>
          <p:nvPr/>
        </p:nvSpPr>
        <p:spPr bwMode="auto">
          <a:xfrm>
            <a:off x="7357605" y="3000295"/>
            <a:ext cx="2835718" cy="64633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sz="1200" b="0" i="0" u="none" strike="noStrike" cap="none" normalizeH="0" baseline="0" dirty="0">
                <a:ln>
                  <a:noFill/>
                </a:ln>
                <a:solidFill>
                  <a:srgbClr val="444444"/>
                </a:solidFill>
                <a:effectLst/>
                <a:latin typeface="+mn-ea"/>
                <a:cs typeface="굴림" pitchFamily="50" charset="-127"/>
              </a:rPr>
              <a:t>그 방법에 의하여 생산한 물건을 </a:t>
            </a:r>
            <a:r>
              <a:rPr kumimoji="1" lang="ko-KR" sz="1200" b="0" i="0" u="none" strike="noStrike" cap="none" normalizeH="0" baseline="0" dirty="0" err="1">
                <a:ln>
                  <a:noFill/>
                </a:ln>
                <a:solidFill>
                  <a:srgbClr val="444444"/>
                </a:solidFill>
                <a:effectLst/>
                <a:latin typeface="+mn-ea"/>
                <a:cs typeface="굴림" pitchFamily="50" charset="-127"/>
              </a:rPr>
              <a:t>사용</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양도</a:t>
            </a:r>
            <a:r>
              <a:rPr kumimoji="1" lang="ko-KR" altLang="ko-KR" sz="1200" b="0" i="0" u="none" strike="noStrike" cap="none" normalizeH="0" baseline="0" dirty="0" err="1">
                <a:ln>
                  <a:noFill/>
                </a:ln>
                <a:solidFill>
                  <a:srgbClr val="444444"/>
                </a:solidFill>
                <a:effectLst/>
                <a:latin typeface="+mn-ea"/>
                <a:cs typeface="굴림" pitchFamily="50" charset="-127"/>
              </a:rPr>
              <a:t>·</a:t>
            </a:r>
            <a:r>
              <a:rPr kumimoji="1" lang="ko-KR" sz="1200" b="0" i="0" u="none" strike="noStrike" cap="none" normalizeH="0" baseline="0" dirty="0" err="1">
                <a:ln>
                  <a:noFill/>
                </a:ln>
                <a:solidFill>
                  <a:srgbClr val="444444"/>
                </a:solidFill>
                <a:effectLst/>
                <a:latin typeface="+mn-ea"/>
                <a:cs typeface="굴림" pitchFamily="50" charset="-127"/>
              </a:rPr>
              <a:t>대여</a:t>
            </a:r>
            <a:r>
              <a:rPr lang="ko-KR" altLang="en-US" sz="1200" dirty="0" err="1"/>
              <a:t>ㆍ</a:t>
            </a:r>
            <a:r>
              <a:rPr kumimoji="1" lang="ko-KR" altLang="en-US" sz="1200" b="0" i="0" u="none" strike="noStrike" cap="none" normalizeH="0" baseline="0" dirty="0" err="1">
                <a:ln>
                  <a:noFill/>
                </a:ln>
                <a:solidFill>
                  <a:srgbClr val="444444"/>
                </a:solidFill>
                <a:effectLst/>
                <a:latin typeface="+mn-ea"/>
                <a:cs typeface="굴림" pitchFamily="50" charset="-127"/>
              </a:rPr>
              <a:t>수출</a:t>
            </a:r>
            <a:r>
              <a:rPr kumimoji="1" lang="ko-KR" sz="1200" b="0" i="0" u="none" strike="noStrike" cap="none" normalizeH="0" baseline="0" dirty="0">
                <a:ln>
                  <a:noFill/>
                </a:ln>
                <a:solidFill>
                  <a:srgbClr val="444444"/>
                </a:solidFill>
                <a:effectLst/>
                <a:latin typeface="+mn-ea"/>
                <a:cs typeface="굴림" pitchFamily="50" charset="-127"/>
              </a:rPr>
              <a:t> 또는 수입하거나 그 물건의 양도 또는 대여의 청약을 하는 행위</a:t>
            </a:r>
            <a:endParaRPr kumimoji="1" lang="ko-KR" sz="1200" b="0" i="0" u="none" strike="noStrike" cap="none" normalizeH="0" baseline="0" dirty="0">
              <a:ln>
                <a:noFill/>
              </a:ln>
              <a:solidFill>
                <a:schemeClr val="tx1"/>
              </a:solidFill>
              <a:effectLst/>
              <a:latin typeface="+mn-ea"/>
              <a:cs typeface="굴림" pitchFamily="50" charset="-127"/>
            </a:endParaRPr>
          </a:p>
        </p:txBody>
      </p:sp>
      <p:sp>
        <p:nvSpPr>
          <p:cNvPr id="125" name="Rectangle 1"/>
          <p:cNvSpPr>
            <a:spLocks noChangeArrowheads="1"/>
          </p:cNvSpPr>
          <p:nvPr/>
        </p:nvSpPr>
        <p:spPr bwMode="auto">
          <a:xfrm>
            <a:off x="7357603" y="2118302"/>
            <a:ext cx="2835719"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altLang="en-US" sz="1200" b="0" i="0" u="none" strike="noStrike" cap="none" normalizeH="0" baseline="0" dirty="0">
                <a:ln>
                  <a:noFill/>
                </a:ln>
                <a:solidFill>
                  <a:srgbClr val="444444"/>
                </a:solidFill>
                <a:effectLst/>
                <a:latin typeface="+mn-ea"/>
                <a:cs typeface="굴림" pitchFamily="50" charset="-127"/>
              </a:rPr>
              <a:t>그 방법을 사용하는</a:t>
            </a:r>
            <a:r>
              <a:rPr kumimoji="1" lang="ko-KR" altLang="en-US" sz="1200" b="0" i="0" u="none" strike="noStrike" cap="none" normalizeH="0" dirty="0">
                <a:ln>
                  <a:noFill/>
                </a:ln>
                <a:solidFill>
                  <a:srgbClr val="444444"/>
                </a:solidFill>
                <a:effectLst/>
                <a:latin typeface="+mn-ea"/>
                <a:cs typeface="굴림" pitchFamily="50" charset="-127"/>
              </a:rPr>
              <a:t> 행위</a:t>
            </a:r>
            <a:r>
              <a:rPr kumimoji="1" lang="en-US" altLang="ko-KR" sz="1200" b="0" i="0" u="none" strike="noStrike" cap="none" normalizeH="0" dirty="0">
                <a:ln>
                  <a:noFill/>
                </a:ln>
                <a:solidFill>
                  <a:srgbClr val="FF0000"/>
                </a:solidFill>
                <a:effectLst/>
                <a:latin typeface="+mn-ea"/>
                <a:cs typeface="굴림" pitchFamily="50" charset="-127"/>
              </a:rPr>
              <a:t>(</a:t>
            </a:r>
            <a:r>
              <a:rPr kumimoji="1" lang="ko-KR" altLang="en-US" sz="1200" b="0" i="0" u="none" strike="noStrike" cap="none" normalizeH="0" dirty="0">
                <a:ln>
                  <a:noFill/>
                </a:ln>
                <a:solidFill>
                  <a:srgbClr val="FF0000"/>
                </a:solidFill>
                <a:effectLst/>
                <a:latin typeface="+mn-ea"/>
                <a:cs typeface="굴림" pitchFamily="50" charset="-127"/>
              </a:rPr>
              <a:t>물건의 생산</a:t>
            </a:r>
            <a:r>
              <a:rPr kumimoji="1" lang="en-US" altLang="ko-KR" sz="1200" b="0" i="0" u="none" strike="noStrike" cap="none" normalizeH="0" dirty="0">
                <a:ln>
                  <a:noFill/>
                </a:ln>
                <a:solidFill>
                  <a:srgbClr val="FF0000"/>
                </a:solidFill>
                <a:effectLst/>
                <a:latin typeface="+mn-ea"/>
                <a:cs typeface="굴림" pitchFamily="50" charset="-127"/>
              </a:rPr>
              <a:t>)</a:t>
            </a:r>
            <a:endParaRPr kumimoji="1" lang="ko-KR" sz="1200" b="0" i="0" u="none" strike="noStrike" cap="none" normalizeH="0" baseline="0" dirty="0">
              <a:ln>
                <a:noFill/>
              </a:ln>
              <a:solidFill>
                <a:srgbClr val="FF0000"/>
              </a:solidFill>
              <a:effectLst/>
              <a:latin typeface="+mn-ea"/>
              <a:cs typeface="굴림" pitchFamily="50" charset="-127"/>
            </a:endParaRPr>
          </a:p>
        </p:txBody>
      </p:sp>
      <p:cxnSp>
        <p:nvCxnSpPr>
          <p:cNvPr id="26" name="직선 연결선 25"/>
          <p:cNvCxnSpPr>
            <a:stCxn id="123" idx="3"/>
            <a:endCxn id="120" idx="1"/>
          </p:cNvCxnSpPr>
          <p:nvPr/>
        </p:nvCxnSpPr>
        <p:spPr>
          <a:xfrm>
            <a:off x="7208869" y="1730631"/>
            <a:ext cx="150261" cy="1"/>
          </a:xfrm>
          <a:prstGeom prst="line">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꺾인 연결선 29"/>
          <p:cNvCxnSpPr>
            <a:stCxn id="122" idx="3"/>
            <a:endCxn id="125" idx="1"/>
          </p:cNvCxnSpPr>
          <p:nvPr/>
        </p:nvCxnSpPr>
        <p:spPr>
          <a:xfrm flipV="1">
            <a:off x="7208869" y="2256802"/>
            <a:ext cx="148734" cy="36774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122" idx="3"/>
            <a:endCxn id="124" idx="1"/>
          </p:cNvCxnSpPr>
          <p:nvPr/>
        </p:nvCxnSpPr>
        <p:spPr>
          <a:xfrm>
            <a:off x="7208869" y="2624543"/>
            <a:ext cx="148736" cy="698918"/>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6" name="TextBox 125"/>
          <p:cNvSpPr txBox="1"/>
          <p:nvPr/>
        </p:nvSpPr>
        <p:spPr>
          <a:xfrm>
            <a:off x="6265980" y="3710371"/>
            <a:ext cx="4897495" cy="400110"/>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2000" dirty="0"/>
              <a:t>특허권의 효력 </a:t>
            </a:r>
            <a:r>
              <a:rPr lang="en-US" altLang="ko-KR" sz="2000" dirty="0"/>
              <a:t>: </a:t>
            </a:r>
            <a:r>
              <a:rPr lang="ko-KR" altLang="en-US" sz="2000" dirty="0"/>
              <a:t>물건발명</a:t>
            </a:r>
            <a:r>
              <a:rPr lang="en-US" altLang="ko-KR" sz="2000" dirty="0"/>
              <a:t>(</a:t>
            </a:r>
            <a:r>
              <a:rPr lang="ko-KR" altLang="en-US" sz="2000" dirty="0"/>
              <a:t>物</a:t>
            </a:r>
            <a:r>
              <a:rPr lang="en-US" altLang="ko-KR" sz="2000" dirty="0"/>
              <a:t>) </a:t>
            </a:r>
            <a:r>
              <a:rPr lang="ko-KR" altLang="en-US" sz="2000" dirty="0"/>
              <a:t>⊃</a:t>
            </a:r>
            <a:r>
              <a:rPr lang="en-US" altLang="ko-KR" sz="2000" dirty="0"/>
              <a:t> </a:t>
            </a:r>
            <a:r>
              <a:rPr lang="ko-KR" altLang="en-US" sz="2000" dirty="0" err="1"/>
              <a:t>제법발명</a:t>
            </a:r>
            <a:r>
              <a:rPr lang="en-US" altLang="ko-KR" sz="2000" dirty="0"/>
              <a:t>(</a:t>
            </a:r>
            <a:r>
              <a:rPr lang="ko-KR" altLang="en-US" sz="2000" dirty="0"/>
              <a:t>方</a:t>
            </a:r>
            <a:r>
              <a:rPr lang="en-US" altLang="ko-KR" sz="2000" dirty="0"/>
              <a:t>)</a:t>
            </a:r>
            <a:endParaRPr lang="ko-KR" altLang="en-US" sz="2000" dirty="0"/>
          </a:p>
        </p:txBody>
      </p:sp>
      <p:sp>
        <p:nvSpPr>
          <p:cNvPr id="138" name="타원 137"/>
          <p:cNvSpPr/>
          <p:nvPr/>
        </p:nvSpPr>
        <p:spPr>
          <a:xfrm>
            <a:off x="7418747" y="5020827"/>
            <a:ext cx="460354" cy="460354"/>
          </a:xfrm>
          <a:prstGeom prst="ellipse">
            <a:avLst/>
          </a:prstGeom>
          <a:solidFill>
            <a:srgbClr val="FF0000"/>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bg1"/>
                </a:solidFill>
              </a:rPr>
              <a:t>物</a:t>
            </a:r>
          </a:p>
        </p:txBody>
      </p:sp>
      <p:sp>
        <p:nvSpPr>
          <p:cNvPr id="139" name="타원 138"/>
          <p:cNvSpPr/>
          <p:nvPr/>
        </p:nvSpPr>
        <p:spPr>
          <a:xfrm>
            <a:off x="6613740" y="4463828"/>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1</a:t>
            </a:r>
            <a:endParaRPr lang="ko-KR" altLang="en-US" sz="1400" dirty="0">
              <a:solidFill>
                <a:schemeClr val="tx1"/>
              </a:solidFill>
            </a:endParaRPr>
          </a:p>
        </p:txBody>
      </p:sp>
      <p:sp>
        <p:nvSpPr>
          <p:cNvPr id="140" name="타원 139"/>
          <p:cNvSpPr/>
          <p:nvPr/>
        </p:nvSpPr>
        <p:spPr>
          <a:xfrm>
            <a:off x="6534609" y="5437221"/>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2</a:t>
            </a:r>
            <a:endParaRPr lang="ko-KR" altLang="en-US" sz="1400" dirty="0">
              <a:solidFill>
                <a:schemeClr val="tx1"/>
              </a:solidFill>
            </a:endParaRPr>
          </a:p>
        </p:txBody>
      </p:sp>
      <p:sp>
        <p:nvSpPr>
          <p:cNvPr id="141" name="타원 140"/>
          <p:cNvSpPr/>
          <p:nvPr/>
        </p:nvSpPr>
        <p:spPr>
          <a:xfrm>
            <a:off x="7613756" y="5859799"/>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3</a:t>
            </a:r>
            <a:endParaRPr lang="ko-KR" altLang="en-US" sz="1400" dirty="0">
              <a:solidFill>
                <a:schemeClr val="tx1"/>
              </a:solidFill>
            </a:endParaRPr>
          </a:p>
        </p:txBody>
      </p:sp>
      <p:sp>
        <p:nvSpPr>
          <p:cNvPr id="142" name="타원 141"/>
          <p:cNvSpPr/>
          <p:nvPr/>
        </p:nvSpPr>
        <p:spPr>
          <a:xfrm>
            <a:off x="8343518" y="5207044"/>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4</a:t>
            </a:r>
            <a:endParaRPr lang="ko-KR" altLang="en-US" sz="1400" dirty="0">
              <a:solidFill>
                <a:schemeClr val="tx1"/>
              </a:solidFill>
            </a:endParaRPr>
          </a:p>
        </p:txBody>
      </p:sp>
      <p:sp>
        <p:nvSpPr>
          <p:cNvPr id="143" name="타원 142"/>
          <p:cNvSpPr/>
          <p:nvPr/>
        </p:nvSpPr>
        <p:spPr>
          <a:xfrm>
            <a:off x="7739160" y="4233651"/>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5</a:t>
            </a:r>
            <a:endParaRPr lang="ko-KR" altLang="en-US" sz="1400" dirty="0">
              <a:solidFill>
                <a:schemeClr val="tx1"/>
              </a:solidFill>
            </a:endParaRPr>
          </a:p>
        </p:txBody>
      </p:sp>
      <p:sp>
        <p:nvSpPr>
          <p:cNvPr id="146" name="타원 145"/>
          <p:cNvSpPr/>
          <p:nvPr/>
        </p:nvSpPr>
        <p:spPr>
          <a:xfrm>
            <a:off x="10538674" y="5020827"/>
            <a:ext cx="460354" cy="460354"/>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物</a:t>
            </a:r>
          </a:p>
        </p:txBody>
      </p:sp>
      <p:sp>
        <p:nvSpPr>
          <p:cNvPr id="147" name="타원 146"/>
          <p:cNvSpPr/>
          <p:nvPr/>
        </p:nvSpPr>
        <p:spPr>
          <a:xfrm>
            <a:off x="9733667" y="4463828"/>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1</a:t>
            </a:r>
            <a:endParaRPr lang="ko-KR" altLang="en-US" sz="1400" dirty="0">
              <a:solidFill>
                <a:schemeClr val="tx1"/>
              </a:solidFill>
            </a:endParaRPr>
          </a:p>
        </p:txBody>
      </p:sp>
      <p:sp>
        <p:nvSpPr>
          <p:cNvPr id="148" name="타원 147"/>
          <p:cNvSpPr/>
          <p:nvPr/>
        </p:nvSpPr>
        <p:spPr>
          <a:xfrm>
            <a:off x="9654536" y="5437221"/>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2</a:t>
            </a:r>
            <a:endParaRPr lang="ko-KR" altLang="en-US" sz="1400" dirty="0">
              <a:solidFill>
                <a:schemeClr val="tx1"/>
              </a:solidFill>
            </a:endParaRPr>
          </a:p>
        </p:txBody>
      </p:sp>
      <p:sp>
        <p:nvSpPr>
          <p:cNvPr id="149" name="타원 148"/>
          <p:cNvSpPr/>
          <p:nvPr/>
        </p:nvSpPr>
        <p:spPr>
          <a:xfrm>
            <a:off x="10733683" y="5921343"/>
            <a:ext cx="460354" cy="460354"/>
          </a:xfrm>
          <a:prstGeom prst="ellipse">
            <a:avLst/>
          </a:prstGeom>
          <a:solidFill>
            <a:schemeClr val="accent2"/>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bg1"/>
                </a:solidFill>
              </a:rPr>
              <a:t>方</a:t>
            </a:r>
            <a:r>
              <a:rPr lang="en-US" altLang="ko-KR" sz="1400" dirty="0">
                <a:solidFill>
                  <a:schemeClr val="bg1"/>
                </a:solidFill>
              </a:rPr>
              <a:t>3</a:t>
            </a:r>
            <a:endParaRPr lang="ko-KR" altLang="en-US" sz="1400" dirty="0">
              <a:solidFill>
                <a:schemeClr val="bg1"/>
              </a:solidFill>
            </a:endParaRPr>
          </a:p>
        </p:txBody>
      </p:sp>
      <p:sp>
        <p:nvSpPr>
          <p:cNvPr id="150" name="타원 149"/>
          <p:cNvSpPr/>
          <p:nvPr/>
        </p:nvSpPr>
        <p:spPr>
          <a:xfrm>
            <a:off x="11463445" y="5207044"/>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4</a:t>
            </a:r>
            <a:endParaRPr lang="ko-KR" altLang="en-US" sz="1400" dirty="0">
              <a:solidFill>
                <a:schemeClr val="tx1"/>
              </a:solidFill>
            </a:endParaRPr>
          </a:p>
        </p:txBody>
      </p:sp>
      <p:sp>
        <p:nvSpPr>
          <p:cNvPr id="151" name="타원 150"/>
          <p:cNvSpPr/>
          <p:nvPr/>
        </p:nvSpPr>
        <p:spPr>
          <a:xfrm>
            <a:off x="10859087" y="4233651"/>
            <a:ext cx="460354" cy="460354"/>
          </a:xfrm>
          <a:prstGeom prst="ellipse">
            <a:avLst/>
          </a:prstGeom>
          <a:solidFill>
            <a:schemeClr val="bg1"/>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方</a:t>
            </a:r>
            <a:r>
              <a:rPr lang="en-US" altLang="ko-KR" sz="1400" dirty="0">
                <a:solidFill>
                  <a:schemeClr val="tx1"/>
                </a:solidFill>
              </a:rPr>
              <a:t>5</a:t>
            </a:r>
            <a:endParaRPr lang="ko-KR" altLang="en-US" sz="1400" dirty="0">
              <a:solidFill>
                <a:schemeClr val="tx1"/>
              </a:solidFill>
            </a:endParaRPr>
          </a:p>
        </p:txBody>
      </p:sp>
      <p:cxnSp>
        <p:nvCxnSpPr>
          <p:cNvPr id="39" name="직선 연결선 38"/>
          <p:cNvCxnSpPr>
            <a:stCxn id="149" idx="0"/>
            <a:endCxn id="146" idx="4"/>
          </p:cNvCxnSpPr>
          <p:nvPr/>
        </p:nvCxnSpPr>
        <p:spPr>
          <a:xfrm flipH="1" flipV="1">
            <a:off x="10768851" y="5481181"/>
            <a:ext cx="195009" cy="440162"/>
          </a:xfrm>
          <a:prstGeom prst="line">
            <a:avLst/>
          </a:prstGeom>
          <a:ln w="28575">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 name="직선 연결선 151"/>
          <p:cNvCxnSpPr/>
          <p:nvPr/>
        </p:nvCxnSpPr>
        <p:spPr>
          <a:xfrm>
            <a:off x="9244863" y="4609406"/>
            <a:ext cx="1" cy="146756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3" name="Line 5"/>
          <p:cNvSpPr>
            <a:spLocks noChangeShapeType="1"/>
          </p:cNvSpPr>
          <p:nvPr/>
        </p:nvSpPr>
        <p:spPr bwMode="auto">
          <a:xfrm>
            <a:off x="147237" y="5776054"/>
            <a:ext cx="2684935"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104" name="타원 103"/>
          <p:cNvSpPr/>
          <p:nvPr/>
        </p:nvSpPr>
        <p:spPr>
          <a:xfrm>
            <a:off x="461468" y="566681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0" name="직선 연결선 109"/>
          <p:cNvCxnSpPr>
            <a:stCxn id="121" idx="2"/>
            <a:endCxn id="104" idx="0"/>
          </p:cNvCxnSpPr>
          <p:nvPr/>
        </p:nvCxnSpPr>
        <p:spPr>
          <a:xfrm flipH="1">
            <a:off x="538837" y="5506145"/>
            <a:ext cx="6269" cy="1606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1" name="TextBox 110"/>
          <p:cNvSpPr txBox="1"/>
          <p:nvPr/>
        </p:nvSpPr>
        <p:spPr>
          <a:xfrm>
            <a:off x="147238" y="4829966"/>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物</a:t>
            </a:r>
          </a:p>
        </p:txBody>
      </p:sp>
      <p:sp>
        <p:nvSpPr>
          <p:cNvPr id="112" name="TextBox 111"/>
          <p:cNvSpPr txBox="1"/>
          <p:nvPr/>
        </p:nvSpPr>
        <p:spPr>
          <a:xfrm>
            <a:off x="147238" y="5043403"/>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物</a:t>
            </a:r>
            <a:r>
              <a:rPr lang="en-US" altLang="ko-KR" sz="1200" dirty="0"/>
              <a:t>, </a:t>
            </a:r>
            <a:r>
              <a:rPr lang="ko-KR" altLang="en-US" sz="1200" dirty="0"/>
              <a:t>方</a:t>
            </a:r>
          </a:p>
        </p:txBody>
      </p:sp>
      <p:sp>
        <p:nvSpPr>
          <p:cNvPr id="121" name="TextBox 120"/>
          <p:cNvSpPr txBox="1"/>
          <p:nvPr/>
        </p:nvSpPr>
        <p:spPr>
          <a:xfrm>
            <a:off x="147237" y="5293845"/>
            <a:ext cx="795738" cy="212300"/>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物 출원</a:t>
            </a:r>
            <a:endParaRPr lang="ko-KR" altLang="en-US" sz="1100" dirty="0"/>
          </a:p>
        </p:txBody>
      </p:sp>
      <p:sp>
        <p:nvSpPr>
          <p:cNvPr id="127" name="TextBox 126"/>
          <p:cNvSpPr txBox="1"/>
          <p:nvPr/>
        </p:nvSpPr>
        <p:spPr>
          <a:xfrm>
            <a:off x="1488141" y="5293845"/>
            <a:ext cx="811564" cy="192034"/>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物 공개</a:t>
            </a:r>
            <a:endParaRPr lang="ko-KR" altLang="en-US" sz="1100" dirty="0"/>
          </a:p>
        </p:txBody>
      </p:sp>
      <p:sp>
        <p:nvSpPr>
          <p:cNvPr id="128" name="타원 127"/>
          <p:cNvSpPr/>
          <p:nvPr/>
        </p:nvSpPr>
        <p:spPr>
          <a:xfrm>
            <a:off x="1816554" y="566681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29" name="직선 연결선 128"/>
          <p:cNvCxnSpPr>
            <a:stCxn id="127" idx="2"/>
            <a:endCxn id="128" idx="0"/>
          </p:cNvCxnSpPr>
          <p:nvPr/>
        </p:nvCxnSpPr>
        <p:spPr>
          <a:xfrm>
            <a:off x="1893923" y="5485879"/>
            <a:ext cx="0" cy="18093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0" name="타원 129"/>
          <p:cNvSpPr/>
          <p:nvPr/>
        </p:nvSpPr>
        <p:spPr>
          <a:xfrm>
            <a:off x="1069969" y="568465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31" name="직선 연결선 130"/>
          <p:cNvCxnSpPr>
            <a:endCxn id="130" idx="4"/>
          </p:cNvCxnSpPr>
          <p:nvPr/>
        </p:nvCxnSpPr>
        <p:spPr>
          <a:xfrm flipV="1">
            <a:off x="1147338" y="5845993"/>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2" name="TextBox 131"/>
          <p:cNvSpPr txBox="1"/>
          <p:nvPr/>
        </p:nvSpPr>
        <p:spPr>
          <a:xfrm>
            <a:off x="755739" y="6296787"/>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endParaRPr lang="ko-KR" altLang="en-US" sz="1200" dirty="0"/>
          </a:p>
        </p:txBody>
      </p:sp>
      <p:sp>
        <p:nvSpPr>
          <p:cNvPr id="133" name="TextBox 132"/>
          <p:cNvSpPr txBox="1"/>
          <p:nvPr/>
        </p:nvSpPr>
        <p:spPr>
          <a:xfrm>
            <a:off x="755739" y="6510224"/>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方</a:t>
            </a:r>
            <a:r>
              <a:rPr lang="en-US" altLang="ko-KR" sz="1200" dirty="0"/>
              <a:t>1, </a:t>
            </a:r>
            <a:r>
              <a:rPr lang="ko-KR" altLang="en-US" sz="1200" dirty="0"/>
              <a:t>物</a:t>
            </a:r>
          </a:p>
        </p:txBody>
      </p:sp>
      <p:sp>
        <p:nvSpPr>
          <p:cNvPr id="134" name="TextBox 133"/>
          <p:cNvSpPr txBox="1"/>
          <p:nvPr/>
        </p:nvSpPr>
        <p:spPr>
          <a:xfrm>
            <a:off x="749469" y="6026644"/>
            <a:ext cx="795738" cy="212300"/>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r>
              <a:rPr lang="ko-KR" altLang="en-US" sz="1200" dirty="0"/>
              <a:t> 출원</a:t>
            </a:r>
            <a:endParaRPr lang="ko-KR" altLang="en-US" sz="1100" dirty="0"/>
          </a:p>
        </p:txBody>
      </p:sp>
      <p:sp>
        <p:nvSpPr>
          <p:cNvPr id="135" name="타원 134"/>
          <p:cNvSpPr/>
          <p:nvPr/>
        </p:nvSpPr>
        <p:spPr>
          <a:xfrm>
            <a:off x="2222336" y="568465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36" name="직선 연결선 135"/>
          <p:cNvCxnSpPr>
            <a:endCxn id="135" idx="4"/>
          </p:cNvCxnSpPr>
          <p:nvPr/>
        </p:nvCxnSpPr>
        <p:spPr>
          <a:xfrm flipV="1">
            <a:off x="2299705" y="5845993"/>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7" name="TextBox 136"/>
          <p:cNvSpPr txBox="1"/>
          <p:nvPr/>
        </p:nvSpPr>
        <p:spPr>
          <a:xfrm>
            <a:off x="1908106" y="6296787"/>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endParaRPr lang="ko-KR" altLang="en-US" sz="1200" dirty="0"/>
          </a:p>
        </p:txBody>
      </p:sp>
      <p:sp>
        <p:nvSpPr>
          <p:cNvPr id="145" name="TextBox 144"/>
          <p:cNvSpPr txBox="1"/>
          <p:nvPr/>
        </p:nvSpPr>
        <p:spPr>
          <a:xfrm>
            <a:off x="1908106" y="6510224"/>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方</a:t>
            </a:r>
            <a:r>
              <a:rPr lang="en-US" altLang="ko-KR" sz="1200" dirty="0"/>
              <a:t>1, </a:t>
            </a:r>
            <a:r>
              <a:rPr lang="ko-KR" altLang="en-US" sz="1200" dirty="0"/>
              <a:t>物</a:t>
            </a:r>
          </a:p>
        </p:txBody>
      </p:sp>
      <p:sp>
        <p:nvSpPr>
          <p:cNvPr id="153" name="TextBox 152"/>
          <p:cNvSpPr txBox="1"/>
          <p:nvPr/>
        </p:nvSpPr>
        <p:spPr>
          <a:xfrm>
            <a:off x="1901836" y="6026644"/>
            <a:ext cx="795738" cy="212300"/>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r>
              <a:rPr lang="ko-KR" altLang="en-US" sz="1200" dirty="0"/>
              <a:t> 출원</a:t>
            </a:r>
            <a:endParaRPr lang="ko-KR" altLang="en-US" sz="1100" dirty="0"/>
          </a:p>
        </p:txBody>
      </p:sp>
      <p:sp>
        <p:nvSpPr>
          <p:cNvPr id="154" name="Line 5"/>
          <p:cNvSpPr>
            <a:spLocks noChangeShapeType="1"/>
          </p:cNvSpPr>
          <p:nvPr/>
        </p:nvSpPr>
        <p:spPr bwMode="auto">
          <a:xfrm>
            <a:off x="3293888" y="5776054"/>
            <a:ext cx="2684935"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155" name="타원 154"/>
          <p:cNvSpPr/>
          <p:nvPr/>
        </p:nvSpPr>
        <p:spPr>
          <a:xfrm>
            <a:off x="4255819" y="566681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56" name="직선 연결선 155"/>
          <p:cNvCxnSpPr>
            <a:stCxn id="159" idx="2"/>
            <a:endCxn id="155" idx="0"/>
          </p:cNvCxnSpPr>
          <p:nvPr/>
        </p:nvCxnSpPr>
        <p:spPr>
          <a:xfrm flipH="1">
            <a:off x="4333188" y="5506145"/>
            <a:ext cx="6269" cy="1606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7" name="TextBox 156"/>
          <p:cNvSpPr txBox="1"/>
          <p:nvPr/>
        </p:nvSpPr>
        <p:spPr>
          <a:xfrm>
            <a:off x="3941589" y="4829966"/>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物</a:t>
            </a:r>
          </a:p>
        </p:txBody>
      </p:sp>
      <p:sp>
        <p:nvSpPr>
          <p:cNvPr id="158" name="TextBox 157"/>
          <p:cNvSpPr txBox="1"/>
          <p:nvPr/>
        </p:nvSpPr>
        <p:spPr>
          <a:xfrm>
            <a:off x="3941589" y="5043403"/>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物</a:t>
            </a:r>
            <a:r>
              <a:rPr lang="en-US" altLang="ko-KR" sz="1200" dirty="0"/>
              <a:t>, </a:t>
            </a:r>
            <a:r>
              <a:rPr lang="ko-KR" altLang="en-US" sz="1200" dirty="0"/>
              <a:t>方</a:t>
            </a:r>
          </a:p>
        </p:txBody>
      </p:sp>
      <p:sp>
        <p:nvSpPr>
          <p:cNvPr id="159" name="TextBox 158"/>
          <p:cNvSpPr txBox="1"/>
          <p:nvPr/>
        </p:nvSpPr>
        <p:spPr>
          <a:xfrm>
            <a:off x="3941588" y="5293845"/>
            <a:ext cx="795738" cy="212300"/>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物 출원</a:t>
            </a:r>
            <a:endParaRPr lang="ko-KR" altLang="en-US" sz="1100" dirty="0"/>
          </a:p>
        </p:txBody>
      </p:sp>
      <p:sp>
        <p:nvSpPr>
          <p:cNvPr id="160" name="타원 159"/>
          <p:cNvSpPr/>
          <p:nvPr/>
        </p:nvSpPr>
        <p:spPr>
          <a:xfrm>
            <a:off x="3721320" y="568465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61" name="직선 연결선 160"/>
          <p:cNvCxnSpPr>
            <a:endCxn id="160" idx="4"/>
          </p:cNvCxnSpPr>
          <p:nvPr/>
        </p:nvCxnSpPr>
        <p:spPr>
          <a:xfrm flipV="1">
            <a:off x="3798689" y="5845993"/>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2" name="TextBox 161"/>
          <p:cNvSpPr txBox="1"/>
          <p:nvPr/>
        </p:nvSpPr>
        <p:spPr>
          <a:xfrm>
            <a:off x="3407090" y="6296787"/>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endParaRPr lang="ko-KR" altLang="en-US" sz="1200" dirty="0"/>
          </a:p>
        </p:txBody>
      </p:sp>
      <p:sp>
        <p:nvSpPr>
          <p:cNvPr id="163" name="TextBox 162"/>
          <p:cNvSpPr txBox="1"/>
          <p:nvPr/>
        </p:nvSpPr>
        <p:spPr>
          <a:xfrm>
            <a:off x="3407090" y="6510224"/>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方</a:t>
            </a:r>
            <a:r>
              <a:rPr lang="en-US" altLang="ko-KR" sz="1200" dirty="0"/>
              <a:t>1, </a:t>
            </a:r>
            <a:r>
              <a:rPr lang="ko-KR" altLang="en-US" sz="1200" dirty="0"/>
              <a:t>物</a:t>
            </a:r>
          </a:p>
        </p:txBody>
      </p:sp>
      <p:sp>
        <p:nvSpPr>
          <p:cNvPr id="164" name="TextBox 163"/>
          <p:cNvSpPr txBox="1"/>
          <p:nvPr/>
        </p:nvSpPr>
        <p:spPr>
          <a:xfrm>
            <a:off x="3400820" y="6026644"/>
            <a:ext cx="795738" cy="212300"/>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r>
              <a:rPr lang="ko-KR" altLang="en-US" sz="1200" dirty="0"/>
              <a:t> 출원</a:t>
            </a:r>
            <a:endParaRPr lang="ko-KR" altLang="en-US" sz="1100" dirty="0"/>
          </a:p>
        </p:txBody>
      </p:sp>
      <p:sp>
        <p:nvSpPr>
          <p:cNvPr id="165" name="타원 164"/>
          <p:cNvSpPr/>
          <p:nvPr/>
        </p:nvSpPr>
        <p:spPr>
          <a:xfrm>
            <a:off x="4873687" y="568465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66" name="직선 연결선 165"/>
          <p:cNvCxnSpPr>
            <a:endCxn id="165" idx="4"/>
          </p:cNvCxnSpPr>
          <p:nvPr/>
        </p:nvCxnSpPr>
        <p:spPr>
          <a:xfrm flipV="1">
            <a:off x="4951056" y="5845993"/>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7" name="TextBox 166"/>
          <p:cNvSpPr txBox="1"/>
          <p:nvPr/>
        </p:nvSpPr>
        <p:spPr>
          <a:xfrm>
            <a:off x="4553187" y="6026644"/>
            <a:ext cx="795738" cy="212300"/>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方</a:t>
            </a:r>
            <a:r>
              <a:rPr lang="en-US" altLang="ko-KR" sz="1200" dirty="0"/>
              <a:t>1</a:t>
            </a:r>
            <a:r>
              <a:rPr lang="ko-KR" altLang="en-US" sz="1200" dirty="0"/>
              <a:t> 공개</a:t>
            </a:r>
            <a:endParaRPr lang="ko-KR" altLang="en-US" sz="1100" dirty="0"/>
          </a:p>
        </p:txBody>
      </p:sp>
      <p:sp>
        <p:nvSpPr>
          <p:cNvPr id="168" name="타원 167"/>
          <p:cNvSpPr/>
          <p:nvPr/>
        </p:nvSpPr>
        <p:spPr>
          <a:xfrm>
            <a:off x="5342655" y="566681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69" name="직선 연결선 168"/>
          <p:cNvCxnSpPr>
            <a:stCxn id="172" idx="2"/>
            <a:endCxn id="168" idx="0"/>
          </p:cNvCxnSpPr>
          <p:nvPr/>
        </p:nvCxnSpPr>
        <p:spPr>
          <a:xfrm flipH="1">
            <a:off x="5420024" y="5506145"/>
            <a:ext cx="6269" cy="1606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0" name="TextBox 169"/>
          <p:cNvSpPr txBox="1"/>
          <p:nvPr/>
        </p:nvSpPr>
        <p:spPr>
          <a:xfrm>
            <a:off x="5028425" y="4829966"/>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物</a:t>
            </a:r>
          </a:p>
        </p:txBody>
      </p:sp>
      <p:sp>
        <p:nvSpPr>
          <p:cNvPr id="171" name="TextBox 170"/>
          <p:cNvSpPr txBox="1"/>
          <p:nvPr/>
        </p:nvSpPr>
        <p:spPr>
          <a:xfrm>
            <a:off x="5028425" y="5043403"/>
            <a:ext cx="795738" cy="213436"/>
          </a:xfrm>
          <a:prstGeom prst="rect">
            <a:avLst/>
          </a:prstGeom>
          <a:noFill/>
          <a:ln>
            <a:solidFill>
              <a:schemeClr val="bg1">
                <a:lumMod val="50000"/>
              </a:schemeClr>
            </a:solidFill>
          </a:ln>
        </p:spPr>
        <p:txBody>
          <a:bodyPr wrap="square" rtlCol="0" anchor="ctr">
            <a:noAutofit/>
          </a:bodyPr>
          <a:lstStyle/>
          <a:p>
            <a:pPr algn="ctr"/>
            <a:r>
              <a:rPr lang="ko-KR" altLang="en-US" sz="1200" dirty="0"/>
              <a:t>物</a:t>
            </a:r>
            <a:r>
              <a:rPr lang="en-US" altLang="ko-KR" sz="1200" dirty="0"/>
              <a:t>, </a:t>
            </a:r>
            <a:r>
              <a:rPr lang="ko-KR" altLang="en-US" sz="1200" dirty="0"/>
              <a:t>方</a:t>
            </a:r>
          </a:p>
        </p:txBody>
      </p:sp>
      <p:sp>
        <p:nvSpPr>
          <p:cNvPr id="172" name="TextBox 171"/>
          <p:cNvSpPr txBox="1"/>
          <p:nvPr/>
        </p:nvSpPr>
        <p:spPr>
          <a:xfrm>
            <a:off x="5028424" y="5293845"/>
            <a:ext cx="795738" cy="212300"/>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物 출원</a:t>
            </a:r>
            <a:endParaRPr lang="ko-KR" altLang="en-US" sz="1100" dirty="0"/>
          </a:p>
        </p:txBody>
      </p:sp>
      <p:cxnSp>
        <p:nvCxnSpPr>
          <p:cNvPr id="173" name="직선 연결선 172"/>
          <p:cNvCxnSpPr/>
          <p:nvPr/>
        </p:nvCxnSpPr>
        <p:spPr>
          <a:xfrm>
            <a:off x="3037810" y="5039064"/>
            <a:ext cx="1" cy="146756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4294967295"/>
          </p:nvPr>
        </p:nvSpPr>
        <p:spPr>
          <a:xfrm>
            <a:off x="11129210" y="0"/>
            <a:ext cx="1062789" cy="733926"/>
          </a:xfrm>
        </p:spPr>
        <p:txBody>
          <a:bodyPr/>
          <a:lstStyle/>
          <a:p>
            <a:r>
              <a:rPr lang="en-US" altLang="ko-KR"/>
              <a:t>360</a:t>
            </a:r>
            <a:endParaRPr lang="ko-KR" altLang="en-US"/>
          </a:p>
        </p:txBody>
      </p:sp>
      <p:sp>
        <p:nvSpPr>
          <p:cNvPr id="174" name="Rectangle 1">
            <a:extLst>
              <a:ext uri="{FF2B5EF4-FFF2-40B4-BE49-F238E27FC236}">
                <a16:creationId xmlns:a16="http://schemas.microsoft.com/office/drawing/2014/main" id="{C3F46F2E-2436-481D-BE7B-6B172B782107}"/>
              </a:ext>
            </a:extLst>
          </p:cNvPr>
          <p:cNvSpPr>
            <a:spLocks noChangeArrowheads="1"/>
          </p:cNvSpPr>
          <p:nvPr/>
        </p:nvSpPr>
        <p:spPr bwMode="auto">
          <a:xfrm>
            <a:off x="7357603" y="2479299"/>
            <a:ext cx="2835719" cy="461665"/>
          </a:xfrm>
          <a:prstGeom prst="rect">
            <a:avLst/>
          </a:prstGeom>
          <a:solidFill>
            <a:schemeClr val="bg1">
              <a:lumMod val="85000"/>
            </a:schemeClr>
          </a:solidFill>
          <a:ln w="9525">
            <a:solidFill>
              <a:schemeClr val="tx1"/>
            </a:solidFill>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altLang="en-US" sz="1200" b="0" i="0" u="none" strike="noStrike" cap="none" normalizeH="0" baseline="0" dirty="0">
                <a:ln>
                  <a:noFill/>
                </a:ln>
                <a:solidFill>
                  <a:srgbClr val="444444"/>
                </a:solidFill>
                <a:effectLst/>
                <a:latin typeface="+mn-ea"/>
                <a:cs typeface="굴림" pitchFamily="50" charset="-127"/>
              </a:rPr>
              <a:t>그 방법의 사용을 청약하는 행위 </a:t>
            </a:r>
            <a:r>
              <a:rPr kumimoji="1" lang="en-US" altLang="ko-KR" sz="1200" b="0" i="0" u="none" strike="noStrike" cap="none" normalizeH="0" dirty="0">
                <a:ln>
                  <a:noFill/>
                </a:ln>
                <a:solidFill>
                  <a:srgbClr val="FF0000"/>
                </a:solidFill>
                <a:effectLst/>
                <a:latin typeface="+mn-ea"/>
                <a:cs typeface="굴림" pitchFamily="50" charset="-127"/>
              </a:rPr>
              <a:t>(</a:t>
            </a:r>
            <a:r>
              <a:rPr kumimoji="1" lang="ko-KR" altLang="en-US" sz="1200" b="0" i="0" u="none" strike="noStrike" cap="none" normalizeH="0" dirty="0">
                <a:ln>
                  <a:noFill/>
                </a:ln>
                <a:solidFill>
                  <a:srgbClr val="FF0000"/>
                </a:solidFill>
                <a:effectLst/>
                <a:latin typeface="+mn-ea"/>
                <a:cs typeface="굴림" pitchFamily="50" charset="-127"/>
              </a:rPr>
              <a:t>물건생산의 청약</a:t>
            </a:r>
            <a:r>
              <a:rPr kumimoji="1" lang="en-US" altLang="ko-KR" sz="1200" b="0" i="0" u="none" strike="noStrike" cap="none" normalizeH="0" dirty="0">
                <a:ln>
                  <a:noFill/>
                </a:ln>
                <a:solidFill>
                  <a:srgbClr val="FF0000"/>
                </a:solidFill>
                <a:effectLst/>
                <a:latin typeface="+mn-ea"/>
                <a:cs typeface="굴림" pitchFamily="50" charset="-127"/>
              </a:rPr>
              <a:t>)*</a:t>
            </a:r>
            <a:endParaRPr kumimoji="1" lang="ko-KR" sz="1200" b="0" i="0" u="none" strike="noStrike" cap="none" normalizeH="0" baseline="0" dirty="0">
              <a:ln>
                <a:noFill/>
              </a:ln>
              <a:solidFill>
                <a:srgbClr val="FF0000"/>
              </a:solidFill>
              <a:effectLst/>
              <a:latin typeface="+mn-ea"/>
              <a:cs typeface="굴림" pitchFamily="50" charset="-127"/>
            </a:endParaRPr>
          </a:p>
        </p:txBody>
      </p:sp>
      <p:sp>
        <p:nvSpPr>
          <p:cNvPr id="8" name="TextBox 7">
            <a:extLst>
              <a:ext uri="{FF2B5EF4-FFF2-40B4-BE49-F238E27FC236}">
                <a16:creationId xmlns:a16="http://schemas.microsoft.com/office/drawing/2014/main" id="{94673451-6943-4924-9A45-EB5473B5EDAE}"/>
              </a:ext>
            </a:extLst>
          </p:cNvPr>
          <p:cNvSpPr txBox="1"/>
          <p:nvPr/>
        </p:nvSpPr>
        <p:spPr>
          <a:xfrm>
            <a:off x="6455121" y="6506627"/>
            <a:ext cx="5397631" cy="276999"/>
          </a:xfrm>
          <a:prstGeom prst="rect">
            <a:avLst/>
          </a:prstGeom>
          <a:noFill/>
        </p:spPr>
        <p:txBody>
          <a:bodyPr wrap="none" rtlCol="0">
            <a:spAutoFit/>
          </a:bodyPr>
          <a:lstStyle/>
          <a:p>
            <a:r>
              <a:rPr lang="en-US" altLang="ko-KR" sz="1200" dirty="0">
                <a:solidFill>
                  <a:srgbClr val="FF0000"/>
                </a:solidFill>
              </a:rPr>
              <a:t>* </a:t>
            </a:r>
            <a:r>
              <a:rPr lang="ko-KR" altLang="en-US" sz="1200" dirty="0">
                <a:solidFill>
                  <a:srgbClr val="FF0000"/>
                </a:solidFill>
              </a:rPr>
              <a:t>물건생산의 청약은 물건발명의 실시</a:t>
            </a:r>
            <a:r>
              <a:rPr lang="en-US" altLang="ko-KR" sz="1200" dirty="0">
                <a:solidFill>
                  <a:srgbClr val="FF0000"/>
                </a:solidFill>
              </a:rPr>
              <a:t>(</a:t>
            </a:r>
            <a:r>
              <a:rPr lang="ko-KR" altLang="en-US" sz="1200" dirty="0">
                <a:solidFill>
                  <a:srgbClr val="FF0000"/>
                </a:solidFill>
              </a:rPr>
              <a:t>물건발명에 대한 특허권 침해</a:t>
            </a:r>
            <a:r>
              <a:rPr lang="en-US" altLang="ko-KR" sz="1200" dirty="0">
                <a:solidFill>
                  <a:srgbClr val="FF0000"/>
                </a:solidFill>
              </a:rPr>
              <a:t>)</a:t>
            </a:r>
            <a:r>
              <a:rPr lang="ko-KR" altLang="en-US" sz="1200" dirty="0">
                <a:solidFill>
                  <a:srgbClr val="FF0000"/>
                </a:solidFill>
              </a:rPr>
              <a:t>에 해당하지 않음</a:t>
            </a:r>
          </a:p>
        </p:txBody>
      </p:sp>
    </p:spTree>
    <p:extLst>
      <p:ext uri="{BB962C8B-B14F-4D97-AF65-F5344CB8AC3E}">
        <p14:creationId xmlns:p14="http://schemas.microsoft.com/office/powerpoint/2010/main" val="742746082"/>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슬라이드 번호 개체 틀 24"/>
          <p:cNvSpPr>
            <a:spLocks noGrp="1"/>
          </p:cNvSpPr>
          <p:nvPr>
            <p:ph type="sldNum" sz="quarter" idx="12"/>
          </p:nvPr>
        </p:nvSpPr>
        <p:spPr/>
        <p:txBody>
          <a:bodyPr/>
          <a:lstStyle/>
          <a:p>
            <a:r>
              <a:rPr lang="en-US" altLang="ko-KR"/>
              <a:t>361</a:t>
            </a:r>
            <a:endParaRPr lang="ko-KR" altLang="en-US"/>
          </a:p>
        </p:txBody>
      </p:sp>
      <p:sp>
        <p:nvSpPr>
          <p:cNvPr id="2" name="제목 1"/>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독립발명 </a:t>
            </a:r>
            <a:r>
              <a:rPr lang="en-US" altLang="ko-KR" dirty="0">
                <a:solidFill>
                  <a:srgbClr val="525252"/>
                </a:solidFill>
              </a:rPr>
              <a:t>vs </a:t>
            </a:r>
            <a:r>
              <a:rPr lang="ko-KR" altLang="en-US" dirty="0">
                <a:solidFill>
                  <a:srgbClr val="525252"/>
                </a:solidFill>
              </a:rPr>
              <a:t>종속발명</a:t>
            </a:r>
          </a:p>
        </p:txBody>
      </p:sp>
      <p:sp>
        <p:nvSpPr>
          <p:cNvPr id="4" name="TextBox 3"/>
          <p:cNvSpPr txBox="1"/>
          <p:nvPr/>
        </p:nvSpPr>
        <p:spPr>
          <a:xfrm>
            <a:off x="77875" y="986046"/>
            <a:ext cx="11936323" cy="738664"/>
          </a:xfrm>
          <a:prstGeom prst="rect">
            <a:avLst/>
          </a:prstGeom>
          <a:noFill/>
        </p:spPr>
        <p:txBody>
          <a:bodyPr wrap="square" rtlCol="0">
            <a:spAutoFit/>
          </a:bodyPr>
          <a:lstStyle/>
          <a:p>
            <a:pPr fontAlgn="base"/>
            <a:r>
              <a:rPr lang="ko-KR" altLang="en-US" sz="1400" dirty="0">
                <a:solidFill>
                  <a:schemeClr val="tx2"/>
                </a:solidFill>
              </a:rPr>
              <a:t>종속발명에 대한 </a:t>
            </a:r>
            <a:r>
              <a:rPr lang="ko-KR" altLang="en-US" sz="1400" dirty="0" err="1">
                <a:solidFill>
                  <a:schemeClr val="tx2"/>
                </a:solidFill>
              </a:rPr>
              <a:t>특허권자는</a:t>
            </a:r>
            <a:r>
              <a:rPr lang="ko-KR" altLang="en-US" sz="1400" dirty="0">
                <a:solidFill>
                  <a:schemeClr val="tx2"/>
                </a:solidFill>
              </a:rPr>
              <a:t> 독립발명에 대한 </a:t>
            </a:r>
            <a:r>
              <a:rPr lang="ko-KR" altLang="en-US" sz="1400" dirty="0" err="1">
                <a:solidFill>
                  <a:schemeClr val="tx2"/>
                </a:solidFill>
              </a:rPr>
              <a:t>특허권자와는</a:t>
            </a:r>
            <a:r>
              <a:rPr lang="ko-KR" altLang="en-US" sz="1400" dirty="0">
                <a:solidFill>
                  <a:schemeClr val="tx2"/>
                </a:solidFill>
              </a:rPr>
              <a:t> 달리 선행발명에 대한 특허권의 침해가 되지 않으려면 원칙적으로 선행발명에 대한 특허권자의 허락을 받거나</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98), </a:t>
            </a:r>
            <a:r>
              <a:rPr lang="ko-KR" altLang="en-US" sz="1400" dirty="0" err="1">
                <a:solidFill>
                  <a:schemeClr val="tx2"/>
                </a:solidFill>
              </a:rPr>
              <a:t>통상실시권허락심판</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138)</a:t>
            </a:r>
            <a:r>
              <a:rPr lang="ko-KR" altLang="en-US" sz="1400" dirty="0">
                <a:solidFill>
                  <a:schemeClr val="tx2"/>
                </a:solidFill>
              </a:rPr>
              <a:t>을 청구하여 정당한 권원을 획득하여야 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err="1">
                <a:solidFill>
                  <a:schemeClr val="accent3">
                    <a:lumMod val="50000"/>
                  </a:schemeClr>
                </a:solidFill>
                <a:highlight>
                  <a:srgbClr val="FFFF00"/>
                </a:highlight>
              </a:rPr>
              <a:t>통상실시권허락심판</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法 </a:t>
            </a:r>
            <a:r>
              <a:rPr lang="en-US" altLang="ko-KR" sz="1400" dirty="0">
                <a:solidFill>
                  <a:schemeClr val="accent3">
                    <a:lumMod val="50000"/>
                  </a:schemeClr>
                </a:solidFill>
                <a:highlight>
                  <a:srgbClr val="FFFF00"/>
                </a:highlight>
              </a:rPr>
              <a:t>138)</a:t>
            </a:r>
            <a:r>
              <a:rPr lang="ko-KR" altLang="en-US" sz="1400" dirty="0">
                <a:solidFill>
                  <a:schemeClr val="accent3">
                    <a:lumMod val="50000"/>
                  </a:schemeClr>
                </a:solidFill>
                <a:highlight>
                  <a:srgbClr val="FFFF00"/>
                </a:highlight>
              </a:rPr>
              <a:t>의 청구는 종속발명이 </a:t>
            </a:r>
            <a:r>
              <a:rPr lang="ko-KR" altLang="en-US" sz="1400" dirty="0" err="1">
                <a:solidFill>
                  <a:schemeClr val="accent3">
                    <a:lumMod val="50000"/>
                  </a:schemeClr>
                </a:solidFill>
                <a:highlight>
                  <a:srgbClr val="FFFF00"/>
                </a:highlight>
              </a:rPr>
              <a:t>특허등록되어</a:t>
            </a:r>
            <a:r>
              <a:rPr lang="ko-KR" altLang="en-US" sz="1400" dirty="0">
                <a:solidFill>
                  <a:schemeClr val="accent3">
                    <a:lumMod val="50000"/>
                  </a:schemeClr>
                </a:solidFill>
                <a:highlight>
                  <a:srgbClr val="FFFF00"/>
                </a:highlight>
              </a:rPr>
              <a:t> 이용관계가 성립되는 경우에만 가능하다</a:t>
            </a:r>
            <a:r>
              <a:rPr lang="en-US" altLang="ko-KR" sz="1400" dirty="0">
                <a:solidFill>
                  <a:schemeClr val="accent3">
                    <a:lumMod val="50000"/>
                  </a:schemeClr>
                </a:solidFill>
                <a:highlight>
                  <a:srgbClr val="FFFF00"/>
                </a:highlight>
              </a:rPr>
              <a:t>. </a:t>
            </a:r>
          </a:p>
        </p:txBody>
      </p:sp>
      <p:cxnSp>
        <p:nvCxnSpPr>
          <p:cNvPr id="5" name="직선 연결선 4"/>
          <p:cNvCxnSpPr/>
          <p:nvPr/>
        </p:nvCxnSpPr>
        <p:spPr>
          <a:xfrm>
            <a:off x="0" y="172471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직사각형 5"/>
          <p:cNvSpPr/>
          <p:nvPr/>
        </p:nvSpPr>
        <p:spPr>
          <a:xfrm>
            <a:off x="190499" y="3800475"/>
            <a:ext cx="659605" cy="514350"/>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발명</a:t>
            </a:r>
          </a:p>
        </p:txBody>
      </p:sp>
      <p:sp>
        <p:nvSpPr>
          <p:cNvPr id="7" name="직사각형 6"/>
          <p:cNvSpPr/>
          <p:nvPr/>
        </p:nvSpPr>
        <p:spPr>
          <a:xfrm>
            <a:off x="1190624" y="2619376"/>
            <a:ext cx="2176463" cy="48101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독립발명</a:t>
            </a:r>
            <a:endParaRPr lang="en-US" altLang="ko-KR" sz="1400" dirty="0">
              <a:solidFill>
                <a:schemeClr val="tx1"/>
              </a:solidFill>
            </a:endParaRPr>
          </a:p>
          <a:p>
            <a:pPr algn="ctr"/>
            <a:r>
              <a:rPr lang="en-US" altLang="ko-KR" sz="1200" dirty="0">
                <a:solidFill>
                  <a:schemeClr val="tx1"/>
                </a:solidFill>
              </a:rPr>
              <a:t>(</a:t>
            </a:r>
            <a:r>
              <a:rPr lang="ko-KR" altLang="en-US" sz="1200" dirty="0">
                <a:solidFill>
                  <a:schemeClr val="tx1"/>
                </a:solidFill>
              </a:rPr>
              <a:t>다른 발명을 실시할 필요 </a:t>
            </a:r>
            <a:r>
              <a:rPr lang="en-US" altLang="ko-KR" sz="1200" dirty="0">
                <a:solidFill>
                  <a:schemeClr val="tx1"/>
                </a:solidFill>
              </a:rPr>
              <a:t>×)</a:t>
            </a:r>
            <a:endParaRPr lang="ko-KR" altLang="en-US" sz="1200" dirty="0">
              <a:solidFill>
                <a:schemeClr val="tx1"/>
              </a:solidFill>
            </a:endParaRPr>
          </a:p>
        </p:txBody>
      </p:sp>
      <p:cxnSp>
        <p:nvCxnSpPr>
          <p:cNvPr id="8" name="꺾인 연결선 7"/>
          <p:cNvCxnSpPr>
            <a:stCxn id="6" idx="3"/>
            <a:endCxn id="7" idx="1"/>
          </p:cNvCxnSpPr>
          <p:nvPr/>
        </p:nvCxnSpPr>
        <p:spPr>
          <a:xfrm flipV="1">
            <a:off x="850104" y="2859882"/>
            <a:ext cx="340520" cy="1197768"/>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꺾인 연결선 8"/>
          <p:cNvCxnSpPr>
            <a:stCxn id="6" idx="3"/>
            <a:endCxn id="18" idx="1"/>
          </p:cNvCxnSpPr>
          <p:nvPr/>
        </p:nvCxnSpPr>
        <p:spPr>
          <a:xfrm>
            <a:off x="850104" y="4057650"/>
            <a:ext cx="340520" cy="895350"/>
          </a:xfrm>
          <a:prstGeom prst="bentConnector3">
            <a:avLst>
              <a:gd name="adj1" fmla="val 50000"/>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Rectangle 5"/>
          <p:cNvSpPr>
            <a:spLocks noChangeArrowheads="1"/>
          </p:cNvSpPr>
          <p:nvPr/>
        </p:nvSpPr>
        <p:spPr bwMode="auto">
          <a:xfrm>
            <a:off x="1159248" y="3445449"/>
            <a:ext cx="2245939" cy="348102"/>
          </a:xfrm>
          <a:prstGeom prst="roundRect">
            <a:avLst>
              <a:gd name="adj" fmla="val 50000"/>
            </a:avLst>
          </a:prstGeom>
          <a:solidFill>
            <a:schemeClr val="accent4"/>
          </a:solidFill>
          <a:ln w="9525" algn="ctr">
            <a:noFill/>
            <a:miter lim="800000"/>
            <a:headEnd/>
            <a:tailEnd/>
          </a:ln>
        </p:spPr>
        <p:txBody>
          <a:bodyPr wrap="none" anchor="ctr"/>
          <a:lstStyle/>
          <a:p>
            <a:pPr algn="ctr"/>
            <a:r>
              <a:rPr lang="ko-KR" altLang="en-US" sz="1200" dirty="0">
                <a:latin typeface="+mj-ea"/>
                <a:ea typeface="+mj-ea"/>
              </a:rPr>
              <a:t>다른 발명에 대한 특허권 침해 여부</a:t>
            </a:r>
            <a:endParaRPr lang="ko-KR" altLang="en-US" sz="1200" b="0" dirty="0">
              <a:solidFill>
                <a:schemeClr val="tx1"/>
              </a:solidFill>
              <a:latin typeface="+mj-ea"/>
              <a:ea typeface="+mj-ea"/>
            </a:endParaRPr>
          </a:p>
        </p:txBody>
      </p:sp>
      <p:cxnSp>
        <p:nvCxnSpPr>
          <p:cNvPr id="11" name="직선 화살표 연결선 10"/>
          <p:cNvCxnSpPr>
            <a:stCxn id="10" idx="0"/>
            <a:endCxn id="7" idx="2"/>
          </p:cNvCxnSpPr>
          <p:nvPr/>
        </p:nvCxnSpPr>
        <p:spPr>
          <a:xfrm flipH="1" flipV="1">
            <a:off x="2278856" y="3100388"/>
            <a:ext cx="3362" cy="345061"/>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2" name="직선 화살표 연결선 11"/>
          <p:cNvCxnSpPr>
            <a:stCxn id="10" idx="2"/>
            <a:endCxn id="18" idx="0"/>
          </p:cNvCxnSpPr>
          <p:nvPr/>
        </p:nvCxnSpPr>
        <p:spPr>
          <a:xfrm flipH="1">
            <a:off x="2278856" y="3793551"/>
            <a:ext cx="3362" cy="918943"/>
          </a:xfrm>
          <a:prstGeom prst="straightConnector1">
            <a:avLst/>
          </a:prstGeom>
          <a:ln>
            <a:solidFill>
              <a:schemeClr val="bg1">
                <a:lumMod val="50000"/>
              </a:schemeClr>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3" name="Rectangle 5"/>
          <p:cNvSpPr>
            <a:spLocks noChangeArrowheads="1"/>
          </p:cNvSpPr>
          <p:nvPr/>
        </p:nvSpPr>
        <p:spPr bwMode="auto">
          <a:xfrm>
            <a:off x="1897854" y="3095625"/>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No</a:t>
            </a:r>
            <a:endParaRPr lang="ko-KR" altLang="en-US" sz="1000" b="0" dirty="0">
              <a:solidFill>
                <a:schemeClr val="tx1"/>
              </a:solidFill>
              <a:latin typeface="+mj-ea"/>
              <a:ea typeface="+mj-ea"/>
            </a:endParaRPr>
          </a:p>
        </p:txBody>
      </p:sp>
      <p:sp>
        <p:nvSpPr>
          <p:cNvPr id="14" name="Rectangle 5"/>
          <p:cNvSpPr>
            <a:spLocks noChangeArrowheads="1"/>
          </p:cNvSpPr>
          <p:nvPr/>
        </p:nvSpPr>
        <p:spPr bwMode="auto">
          <a:xfrm>
            <a:off x="1838320" y="4236134"/>
            <a:ext cx="542925" cy="348102"/>
          </a:xfrm>
          <a:prstGeom prst="rect">
            <a:avLst/>
          </a:prstGeom>
          <a:noFill/>
          <a:ln w="9525" algn="ctr">
            <a:noFill/>
            <a:miter lim="800000"/>
            <a:headEnd/>
            <a:tailEnd/>
          </a:ln>
        </p:spPr>
        <p:txBody>
          <a:bodyPr wrap="none" anchor="ctr"/>
          <a:lstStyle/>
          <a:p>
            <a:pPr algn="ctr"/>
            <a:r>
              <a:rPr lang="en-US" altLang="ko-KR" sz="1000" b="0" dirty="0">
                <a:solidFill>
                  <a:schemeClr val="tx1"/>
                </a:solidFill>
                <a:latin typeface="+mj-ea"/>
                <a:ea typeface="+mj-ea"/>
              </a:rPr>
              <a:t>Yes</a:t>
            </a:r>
            <a:endParaRPr lang="ko-KR" altLang="en-US" sz="1000" b="0" dirty="0">
              <a:solidFill>
                <a:schemeClr val="tx1"/>
              </a:solidFill>
              <a:latin typeface="+mj-ea"/>
              <a:ea typeface="+mj-ea"/>
            </a:endParaRPr>
          </a:p>
        </p:txBody>
      </p:sp>
      <p:cxnSp>
        <p:nvCxnSpPr>
          <p:cNvPr id="15" name="직선 연결선 14"/>
          <p:cNvCxnSpPr/>
          <p:nvPr/>
        </p:nvCxnSpPr>
        <p:spPr>
          <a:xfrm>
            <a:off x="4791075" y="2085975"/>
            <a:ext cx="0" cy="467677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Rectangle 5"/>
          <p:cNvSpPr>
            <a:spLocks noChangeArrowheads="1"/>
          </p:cNvSpPr>
          <p:nvPr/>
        </p:nvSpPr>
        <p:spPr bwMode="auto">
          <a:xfrm>
            <a:off x="195260" y="2071687"/>
            <a:ext cx="14811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구별기준</a:t>
            </a:r>
          </a:p>
        </p:txBody>
      </p:sp>
      <p:sp>
        <p:nvSpPr>
          <p:cNvPr id="17" name="Rectangle 5"/>
          <p:cNvSpPr>
            <a:spLocks noChangeArrowheads="1"/>
          </p:cNvSpPr>
          <p:nvPr/>
        </p:nvSpPr>
        <p:spPr bwMode="auto">
          <a:xfrm>
            <a:off x="5091110" y="2071687"/>
            <a:ext cx="11763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종속발명</a:t>
            </a:r>
          </a:p>
        </p:txBody>
      </p:sp>
      <p:sp>
        <p:nvSpPr>
          <p:cNvPr id="18" name="직사각형 17"/>
          <p:cNvSpPr/>
          <p:nvPr/>
        </p:nvSpPr>
        <p:spPr>
          <a:xfrm>
            <a:off x="1190624" y="4712494"/>
            <a:ext cx="2176463" cy="48101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종속발명</a:t>
            </a:r>
            <a:endParaRPr lang="en-US" altLang="ko-KR" sz="1400" dirty="0">
              <a:solidFill>
                <a:schemeClr val="tx1"/>
              </a:solidFill>
            </a:endParaRPr>
          </a:p>
          <a:p>
            <a:pPr algn="ctr"/>
            <a:r>
              <a:rPr lang="en-US" altLang="ko-KR" sz="1200" dirty="0">
                <a:solidFill>
                  <a:schemeClr val="tx1"/>
                </a:solidFill>
              </a:rPr>
              <a:t>(</a:t>
            </a:r>
            <a:r>
              <a:rPr lang="ko-KR" altLang="en-US" sz="1200" dirty="0">
                <a:solidFill>
                  <a:schemeClr val="tx1"/>
                </a:solidFill>
              </a:rPr>
              <a:t>다른 발명을 실시할 필요 </a:t>
            </a:r>
            <a:r>
              <a:rPr lang="en-US" altLang="ko-KR" sz="1200" dirty="0">
                <a:solidFill>
                  <a:schemeClr val="tx1"/>
                </a:solidFill>
              </a:rPr>
              <a:t>○)</a:t>
            </a:r>
            <a:endParaRPr lang="ko-KR" altLang="en-US" sz="1200" dirty="0">
              <a:solidFill>
                <a:schemeClr val="tx1"/>
              </a:solidFill>
            </a:endParaRPr>
          </a:p>
        </p:txBody>
      </p:sp>
      <p:sp>
        <p:nvSpPr>
          <p:cNvPr id="19" name="모서리가 둥근 사각형 설명선 18"/>
          <p:cNvSpPr/>
          <p:nvPr/>
        </p:nvSpPr>
        <p:spPr>
          <a:xfrm>
            <a:off x="2447924" y="3841683"/>
            <a:ext cx="2171701" cy="801332"/>
          </a:xfrm>
          <a:prstGeom prst="wedgeRoundRectCallout">
            <a:avLst>
              <a:gd name="adj1" fmla="val -63088"/>
              <a:gd name="adj2" fmla="val -5718"/>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rPr>
              <a:t>*</a:t>
            </a:r>
            <a:r>
              <a:rPr lang="ko-KR" altLang="en-US" sz="1400" dirty="0">
                <a:solidFill>
                  <a:schemeClr val="tx1"/>
                </a:solidFill>
              </a:rPr>
              <a:t>정당한 권원 획득 후 실시</a:t>
            </a:r>
            <a:endParaRPr lang="en-US" altLang="ko-KR" sz="1400" dirty="0">
              <a:solidFill>
                <a:schemeClr val="tx1"/>
              </a:solidFill>
            </a:endParaRPr>
          </a:p>
          <a:p>
            <a:r>
              <a:rPr lang="en-US" altLang="ko-KR" sz="1200" dirty="0">
                <a:solidFill>
                  <a:schemeClr val="tx1"/>
                </a:solidFill>
              </a:rPr>
              <a:t> - </a:t>
            </a:r>
            <a:r>
              <a:rPr lang="ko-KR" altLang="en-US" sz="1200" dirty="0">
                <a:solidFill>
                  <a:schemeClr val="tx1"/>
                </a:solidFill>
              </a:rPr>
              <a:t>허락</a:t>
            </a:r>
            <a:endParaRPr lang="en-US" altLang="ko-KR" sz="1200" dirty="0">
              <a:solidFill>
                <a:schemeClr val="tx1"/>
              </a:solidFill>
            </a:endParaRPr>
          </a:p>
          <a:p>
            <a:r>
              <a:rPr lang="en-US" altLang="ko-KR" sz="1200" dirty="0">
                <a:solidFill>
                  <a:schemeClr val="tx1"/>
                </a:solidFill>
              </a:rPr>
              <a:t> - </a:t>
            </a:r>
            <a:r>
              <a:rPr lang="ko-KR" altLang="en-US" sz="1200" dirty="0" err="1">
                <a:solidFill>
                  <a:schemeClr val="tx1"/>
                </a:solidFill>
              </a:rPr>
              <a:t>통상실시권허락심판청구</a:t>
            </a:r>
            <a:endParaRPr lang="en-US" altLang="ko-KR" sz="1200" dirty="0">
              <a:solidFill>
                <a:schemeClr val="tx1"/>
              </a:solidFill>
            </a:endParaRPr>
          </a:p>
          <a:p>
            <a:r>
              <a:rPr lang="en-US" altLang="ko-KR" sz="1200" dirty="0">
                <a:solidFill>
                  <a:schemeClr val="tx1"/>
                </a:solidFill>
              </a:rPr>
              <a:t>  (</a:t>
            </a:r>
            <a:r>
              <a:rPr lang="ko-KR" altLang="en-US" sz="1200" dirty="0">
                <a:solidFill>
                  <a:schemeClr val="tx1"/>
                </a:solidFill>
              </a:rPr>
              <a:t>등록된 경우 이용발명이라 함</a:t>
            </a:r>
            <a:r>
              <a:rPr lang="en-US" altLang="ko-KR" sz="1200" dirty="0">
                <a:solidFill>
                  <a:schemeClr val="tx1"/>
                </a:solidFill>
              </a:rPr>
              <a:t>)</a:t>
            </a:r>
          </a:p>
        </p:txBody>
      </p:sp>
      <p:sp>
        <p:nvSpPr>
          <p:cNvPr id="20" name="직사각형 19"/>
          <p:cNvSpPr/>
          <p:nvPr/>
        </p:nvSpPr>
        <p:spPr>
          <a:xfrm>
            <a:off x="3247810" y="5323103"/>
            <a:ext cx="1365681" cy="39290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결합발명</a:t>
            </a:r>
            <a:r>
              <a:rPr lang="en-US" altLang="ko-KR" sz="1200" dirty="0">
                <a:solidFill>
                  <a:schemeClr val="tx1"/>
                </a:solidFill>
              </a:rPr>
              <a:t>(</a:t>
            </a:r>
            <a:r>
              <a:rPr lang="ko-KR" altLang="en-US" sz="1200" dirty="0" err="1">
                <a:solidFill>
                  <a:schemeClr val="tx1"/>
                </a:solidFill>
              </a:rPr>
              <a:t>외적부가</a:t>
            </a:r>
            <a:r>
              <a:rPr lang="en-US" altLang="ko-KR" sz="1200" dirty="0">
                <a:solidFill>
                  <a:schemeClr val="tx1"/>
                </a:solidFill>
              </a:rPr>
              <a:t>)</a:t>
            </a:r>
            <a:endParaRPr lang="ko-KR" altLang="en-US" sz="1200" dirty="0">
              <a:solidFill>
                <a:schemeClr val="tx1"/>
              </a:solidFill>
            </a:endParaRPr>
          </a:p>
        </p:txBody>
      </p:sp>
      <p:sp>
        <p:nvSpPr>
          <p:cNvPr id="21" name="직사각형 20"/>
          <p:cNvSpPr/>
          <p:nvPr/>
        </p:nvSpPr>
        <p:spPr>
          <a:xfrm>
            <a:off x="3247810" y="5885078"/>
            <a:ext cx="1365681" cy="39290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선택발명</a:t>
            </a:r>
            <a:r>
              <a:rPr lang="en-US" altLang="ko-KR" sz="1200" dirty="0">
                <a:solidFill>
                  <a:schemeClr val="tx1"/>
                </a:solidFill>
              </a:rPr>
              <a:t>(</a:t>
            </a:r>
            <a:r>
              <a:rPr lang="ko-KR" altLang="en-US" sz="1200" dirty="0" err="1">
                <a:solidFill>
                  <a:schemeClr val="tx1"/>
                </a:solidFill>
              </a:rPr>
              <a:t>내적부가</a:t>
            </a:r>
            <a:r>
              <a:rPr lang="en-US" altLang="ko-KR" sz="1200" dirty="0">
                <a:solidFill>
                  <a:schemeClr val="tx1"/>
                </a:solidFill>
              </a:rPr>
              <a:t>)</a:t>
            </a:r>
            <a:endParaRPr lang="ko-KR" altLang="en-US" sz="1200" dirty="0">
              <a:solidFill>
                <a:schemeClr val="tx1"/>
              </a:solidFill>
            </a:endParaRPr>
          </a:p>
        </p:txBody>
      </p:sp>
      <p:graphicFrame>
        <p:nvGraphicFramePr>
          <p:cNvPr id="24" name="표 23"/>
          <p:cNvGraphicFramePr>
            <a:graphicFrameLocks noGrp="1"/>
          </p:cNvGraphicFramePr>
          <p:nvPr/>
        </p:nvGraphicFramePr>
        <p:xfrm>
          <a:off x="5222875" y="3100389"/>
          <a:ext cx="6588125" cy="3290886"/>
        </p:xfrm>
        <a:graphic>
          <a:graphicData uri="http://schemas.openxmlformats.org/drawingml/2006/table">
            <a:tbl>
              <a:tblPr>
                <a:tableStyleId>{8799B23B-EC83-4686-B30A-512413B5E67A}</a:tableStyleId>
              </a:tblPr>
              <a:tblGrid>
                <a:gridCol w="578629">
                  <a:extLst>
                    <a:ext uri="{9D8B030D-6E8A-4147-A177-3AD203B41FA5}">
                      <a16:colId xmlns:a16="http://schemas.microsoft.com/office/drawing/2014/main" val="20000"/>
                    </a:ext>
                  </a:extLst>
                </a:gridCol>
                <a:gridCol w="2146248">
                  <a:extLst>
                    <a:ext uri="{9D8B030D-6E8A-4147-A177-3AD203B41FA5}">
                      <a16:colId xmlns:a16="http://schemas.microsoft.com/office/drawing/2014/main" val="20001"/>
                    </a:ext>
                  </a:extLst>
                </a:gridCol>
                <a:gridCol w="3863248">
                  <a:extLst>
                    <a:ext uri="{9D8B030D-6E8A-4147-A177-3AD203B41FA5}">
                      <a16:colId xmlns:a16="http://schemas.microsoft.com/office/drawing/2014/main" val="20002"/>
                    </a:ext>
                  </a:extLst>
                </a:gridCol>
              </a:tblGrid>
              <a:tr h="633864">
                <a:tc>
                  <a:txBody>
                    <a:bodyPr/>
                    <a:lstStyle/>
                    <a:p>
                      <a:pPr algn="ctr" latinLnBrk="1"/>
                      <a:r>
                        <a:rPr lang="ko-KR" altLang="en-US" sz="1200" dirty="0"/>
                        <a:t>구분</a:t>
                      </a:r>
                    </a:p>
                  </a:txBody>
                  <a:tcPr anchor="ctr">
                    <a:solidFill>
                      <a:schemeClr val="accent1">
                        <a:lumMod val="20000"/>
                        <a:lumOff val="80000"/>
                      </a:schemeClr>
                    </a:solidFill>
                  </a:tcPr>
                </a:tc>
                <a:tc>
                  <a:txBody>
                    <a:bodyPr/>
                    <a:lstStyle/>
                    <a:p>
                      <a:pPr algn="ctr" latinLnBrk="1"/>
                      <a:r>
                        <a:rPr lang="ko-KR" altLang="en-US" sz="1200" dirty="0"/>
                        <a:t>등록가능성 판단</a:t>
                      </a:r>
                    </a:p>
                  </a:txBody>
                  <a:tcPr anchor="ctr">
                    <a:solidFill>
                      <a:schemeClr val="accent1">
                        <a:lumMod val="20000"/>
                        <a:lumOff val="80000"/>
                      </a:schemeClr>
                    </a:solidFill>
                  </a:tcPr>
                </a:tc>
                <a:tc>
                  <a:txBody>
                    <a:bodyPr/>
                    <a:lstStyle/>
                    <a:p>
                      <a:pPr algn="ctr" latinLnBrk="1"/>
                      <a:r>
                        <a:rPr lang="ko-KR" altLang="en-US" sz="1200" dirty="0"/>
                        <a:t>침해 판단</a:t>
                      </a:r>
                    </a:p>
                  </a:txBody>
                  <a:tcPr anchor="ctr">
                    <a:solidFill>
                      <a:schemeClr val="accent1">
                        <a:lumMod val="20000"/>
                        <a:lumOff val="80000"/>
                      </a:schemeClr>
                    </a:solidFill>
                  </a:tcPr>
                </a:tc>
                <a:extLst>
                  <a:ext uri="{0D108BD9-81ED-4DB2-BD59-A6C34878D82A}">
                    <a16:rowId xmlns:a16="http://schemas.microsoft.com/office/drawing/2014/main" val="10000"/>
                  </a:ext>
                </a:extLst>
              </a:tr>
              <a:tr h="1094068">
                <a:tc>
                  <a:txBody>
                    <a:bodyPr/>
                    <a:lstStyle/>
                    <a:p>
                      <a:pPr algn="ctr" latinLnBrk="1"/>
                      <a:r>
                        <a:rPr lang="ko-KR" altLang="en-US" sz="1200" dirty="0"/>
                        <a:t>결합발명</a:t>
                      </a:r>
                    </a:p>
                  </a:txBody>
                  <a:tcPr anchor="ctr"/>
                </a:tc>
                <a:tc>
                  <a:txBody>
                    <a:bodyPr/>
                    <a:lstStyle/>
                    <a:p>
                      <a:pPr algn="ctr" latinLnBrk="1"/>
                      <a:r>
                        <a:rPr lang="ko-KR" altLang="en-US" sz="1200" dirty="0"/>
                        <a:t>제</a:t>
                      </a:r>
                      <a:r>
                        <a:rPr lang="en-US" altLang="ko-KR" sz="1200" dirty="0"/>
                        <a:t>29</a:t>
                      </a:r>
                      <a:r>
                        <a:rPr lang="ko-KR" altLang="en-US" sz="1200" dirty="0"/>
                        <a:t>조제</a:t>
                      </a:r>
                      <a:r>
                        <a:rPr lang="en-US" altLang="ko-KR" sz="1200" dirty="0"/>
                        <a:t>1</a:t>
                      </a:r>
                      <a:r>
                        <a:rPr lang="ko-KR" altLang="en-US" sz="1200" dirty="0" err="1"/>
                        <a:t>항위반</a:t>
                      </a:r>
                      <a:r>
                        <a:rPr lang="ko-KR" altLang="en-US" sz="1200" dirty="0"/>
                        <a:t> </a:t>
                      </a:r>
                      <a:r>
                        <a:rPr lang="en-US" altLang="ko-KR" sz="1200" dirty="0"/>
                        <a:t>×</a:t>
                      </a:r>
                    </a:p>
                    <a:p>
                      <a:pPr algn="ctr" latinLnBrk="1"/>
                      <a:r>
                        <a:rPr lang="ko-KR" altLang="en-US" sz="1200" dirty="0"/>
                        <a:t>제</a:t>
                      </a:r>
                      <a:r>
                        <a:rPr lang="en-US" altLang="ko-KR" sz="1200" dirty="0"/>
                        <a:t>29</a:t>
                      </a:r>
                      <a:r>
                        <a:rPr lang="ko-KR" altLang="en-US" sz="1200" dirty="0"/>
                        <a:t>조제</a:t>
                      </a:r>
                      <a:r>
                        <a:rPr lang="en-US" altLang="ko-KR" sz="1200" dirty="0"/>
                        <a:t>2</a:t>
                      </a:r>
                      <a:r>
                        <a:rPr lang="ko-KR" altLang="en-US" sz="1200" dirty="0" err="1"/>
                        <a:t>항위반</a:t>
                      </a:r>
                      <a:r>
                        <a:rPr lang="ko-KR" altLang="en-US" sz="1200" dirty="0"/>
                        <a:t> △</a:t>
                      </a:r>
                    </a:p>
                  </a:txBody>
                  <a:tcPr anchor="ctr"/>
                </a:tc>
                <a:tc>
                  <a:txBody>
                    <a:bodyPr/>
                    <a:lstStyle/>
                    <a:p>
                      <a:pPr algn="ctr" latinLnBrk="1"/>
                      <a:r>
                        <a:rPr lang="ko-KR" altLang="en-US" sz="1200" dirty="0"/>
                        <a:t>침해 ○</a:t>
                      </a:r>
                      <a:endParaRPr lang="en-US" altLang="ko-KR" sz="1200" dirty="0"/>
                    </a:p>
                    <a:p>
                      <a:pPr algn="ctr" latinLnBrk="1"/>
                      <a:r>
                        <a:rPr lang="en-US" altLang="ko-KR" sz="1200" dirty="0"/>
                        <a:t> - </a:t>
                      </a:r>
                      <a:r>
                        <a:rPr lang="ko-KR" altLang="en-US" sz="1200" dirty="0">
                          <a:solidFill>
                            <a:srgbClr val="FF0000"/>
                          </a:solidFill>
                          <a:latin typeface="+mn-ea"/>
                        </a:rPr>
                        <a:t>대법원 </a:t>
                      </a:r>
                      <a:r>
                        <a:rPr lang="en-US" altLang="ko-KR" sz="1200" dirty="0">
                          <a:solidFill>
                            <a:srgbClr val="FF0000"/>
                          </a:solidFill>
                          <a:latin typeface="+mn-ea"/>
                        </a:rPr>
                        <a:t>1995. 12. 5. </a:t>
                      </a:r>
                      <a:r>
                        <a:rPr lang="ko-KR" altLang="en-US" sz="1200" dirty="0">
                          <a:solidFill>
                            <a:srgbClr val="FF0000"/>
                          </a:solidFill>
                          <a:latin typeface="+mn-ea"/>
                        </a:rPr>
                        <a:t>선고 </a:t>
                      </a:r>
                      <a:r>
                        <a:rPr lang="en-US" altLang="ko-KR" sz="1200" dirty="0">
                          <a:solidFill>
                            <a:srgbClr val="FF0000"/>
                          </a:solidFill>
                          <a:latin typeface="+mn-ea"/>
                        </a:rPr>
                        <a:t>92</a:t>
                      </a:r>
                      <a:r>
                        <a:rPr lang="ko-KR" altLang="en-US" sz="1200" dirty="0">
                          <a:solidFill>
                            <a:srgbClr val="FF0000"/>
                          </a:solidFill>
                          <a:latin typeface="+mn-ea"/>
                        </a:rPr>
                        <a:t>후</a:t>
                      </a:r>
                      <a:r>
                        <a:rPr lang="en-US" altLang="ko-KR" sz="1200" dirty="0">
                          <a:solidFill>
                            <a:srgbClr val="FF0000"/>
                          </a:solidFill>
                          <a:latin typeface="+mn-ea"/>
                        </a:rPr>
                        <a:t>1660 : </a:t>
                      </a:r>
                      <a:r>
                        <a:rPr lang="ko-KR" altLang="en-US" sz="1200" dirty="0"/>
                        <a:t> </a:t>
                      </a:r>
                      <a:r>
                        <a:rPr lang="en-US" altLang="ko-KR" sz="1200" dirty="0"/>
                        <a:t>×</a:t>
                      </a:r>
                    </a:p>
                    <a:p>
                      <a:pPr algn="ctr" latinLnBrk="1"/>
                      <a:r>
                        <a:rPr lang="ko-KR" altLang="en-US" sz="1200" dirty="0"/>
                        <a:t> </a:t>
                      </a:r>
                      <a:r>
                        <a:rPr lang="en-US" altLang="ko-KR" sz="1200" dirty="0"/>
                        <a:t>- </a:t>
                      </a:r>
                      <a:r>
                        <a:rPr lang="ko-KR" altLang="en-US" sz="1200" dirty="0"/>
                        <a:t>대법원 </a:t>
                      </a:r>
                      <a:r>
                        <a:rPr lang="en-US" altLang="ko-KR" sz="1200" dirty="0"/>
                        <a:t>2001. 8. 21. </a:t>
                      </a:r>
                      <a:r>
                        <a:rPr lang="ko-KR" altLang="en-US" sz="1200" dirty="0"/>
                        <a:t>선고 </a:t>
                      </a:r>
                      <a:r>
                        <a:rPr lang="en-US" altLang="ko-KR" sz="1200" dirty="0"/>
                        <a:t>98</a:t>
                      </a:r>
                      <a:r>
                        <a:rPr lang="ko-KR" altLang="en-US" sz="1200" dirty="0"/>
                        <a:t>후</a:t>
                      </a:r>
                      <a:r>
                        <a:rPr lang="en-US" altLang="ko-KR" sz="1200" dirty="0"/>
                        <a:t>522 : ○</a:t>
                      </a:r>
                      <a:endParaRPr lang="ko-KR" altLang="en-US" sz="1200" dirty="0"/>
                    </a:p>
                  </a:txBody>
                  <a:tcPr anchor="ctr"/>
                </a:tc>
                <a:extLst>
                  <a:ext uri="{0D108BD9-81ED-4DB2-BD59-A6C34878D82A}">
                    <a16:rowId xmlns:a16="http://schemas.microsoft.com/office/drawing/2014/main" val="10001"/>
                  </a:ext>
                </a:extLst>
              </a:tr>
              <a:tr h="781477">
                <a:tc>
                  <a:txBody>
                    <a:bodyPr/>
                    <a:lstStyle/>
                    <a:p>
                      <a:pPr algn="ctr" latinLnBrk="1"/>
                      <a:r>
                        <a:rPr lang="ko-KR" altLang="en-US" sz="1200" dirty="0"/>
                        <a:t>선택발명</a:t>
                      </a:r>
                    </a:p>
                  </a:txBody>
                  <a:tcPr anchor="ctr"/>
                </a:tc>
                <a:tc>
                  <a:txBody>
                    <a:bodyPr/>
                    <a:lstStyle/>
                    <a:p>
                      <a:pPr algn="ctr" latinLnBrk="1"/>
                      <a:r>
                        <a:rPr lang="ko-KR" altLang="en-US" sz="1200" dirty="0"/>
                        <a:t>제</a:t>
                      </a:r>
                      <a:r>
                        <a:rPr lang="en-US" altLang="ko-KR" sz="1200" dirty="0"/>
                        <a:t>29</a:t>
                      </a:r>
                      <a:r>
                        <a:rPr lang="ko-KR" altLang="en-US" sz="1200" dirty="0"/>
                        <a:t>조제</a:t>
                      </a:r>
                      <a:r>
                        <a:rPr lang="en-US" altLang="ko-KR" sz="1200" dirty="0"/>
                        <a:t>1</a:t>
                      </a:r>
                      <a:r>
                        <a:rPr lang="ko-KR" altLang="en-US" sz="1200" dirty="0" err="1"/>
                        <a:t>항위반</a:t>
                      </a:r>
                      <a:r>
                        <a:rPr lang="ko-KR" altLang="en-US" sz="1200" dirty="0"/>
                        <a:t> </a:t>
                      </a:r>
                      <a:r>
                        <a:rPr lang="en-US" altLang="ko-KR" sz="1200" dirty="0"/>
                        <a:t>×</a:t>
                      </a:r>
                    </a:p>
                    <a:p>
                      <a:pPr algn="ctr" latinLnBrk="1"/>
                      <a:r>
                        <a:rPr lang="ko-KR" altLang="en-US" sz="1200" dirty="0"/>
                        <a:t>제</a:t>
                      </a:r>
                      <a:r>
                        <a:rPr lang="en-US" altLang="ko-KR" sz="1200" dirty="0"/>
                        <a:t>29</a:t>
                      </a:r>
                      <a:r>
                        <a:rPr lang="ko-KR" altLang="en-US" sz="1200" dirty="0"/>
                        <a:t>조제</a:t>
                      </a:r>
                      <a:r>
                        <a:rPr lang="en-US" altLang="ko-KR" sz="1200" dirty="0"/>
                        <a:t>2</a:t>
                      </a:r>
                      <a:r>
                        <a:rPr lang="ko-KR" altLang="en-US" sz="1200" dirty="0" err="1"/>
                        <a:t>항위반</a:t>
                      </a:r>
                      <a:r>
                        <a:rPr lang="ko-KR" altLang="en-US" sz="1200" dirty="0"/>
                        <a:t> △</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a:t>침해 ○</a:t>
                      </a:r>
                      <a:endParaRPr lang="en-US" altLang="ko-KR" sz="1200" dirty="0"/>
                    </a:p>
                    <a:p>
                      <a:pPr algn="ctr" latinLnBrk="1"/>
                      <a:r>
                        <a:rPr lang="en-US" altLang="ko-KR" sz="1200" dirty="0"/>
                        <a:t> - </a:t>
                      </a:r>
                      <a:r>
                        <a:rPr lang="ko-KR" altLang="en-US" sz="1200" dirty="0"/>
                        <a:t>대법원 </a:t>
                      </a:r>
                      <a:r>
                        <a:rPr lang="en-US" altLang="ko-KR" sz="1200" dirty="0"/>
                        <a:t>1991. 11. 12. </a:t>
                      </a:r>
                      <a:r>
                        <a:rPr lang="ko-KR" altLang="en-US" sz="1200" dirty="0"/>
                        <a:t>선고 </a:t>
                      </a:r>
                      <a:r>
                        <a:rPr lang="en-US" altLang="ko-KR" sz="1200" dirty="0"/>
                        <a:t>90</a:t>
                      </a:r>
                      <a:r>
                        <a:rPr lang="ko-KR" altLang="en-US" sz="1200" dirty="0"/>
                        <a:t>후</a:t>
                      </a:r>
                      <a:r>
                        <a:rPr lang="en-US" altLang="ko-KR" sz="1200" dirty="0"/>
                        <a:t>960 : ×</a:t>
                      </a:r>
                      <a:endParaRPr lang="ko-KR" altLang="en-US" sz="1200" dirty="0"/>
                    </a:p>
                  </a:txBody>
                  <a:tcPr anchor="ctr"/>
                </a:tc>
                <a:extLst>
                  <a:ext uri="{0D108BD9-81ED-4DB2-BD59-A6C34878D82A}">
                    <a16:rowId xmlns:a16="http://schemas.microsoft.com/office/drawing/2014/main" val="10002"/>
                  </a:ext>
                </a:extLst>
              </a:tr>
              <a:tr h="781477">
                <a:tc>
                  <a:txBody>
                    <a:bodyPr/>
                    <a:lstStyle/>
                    <a:p>
                      <a:pPr algn="ctr" latinLnBrk="1"/>
                      <a:r>
                        <a:rPr lang="ko-KR" altLang="en-US" sz="1200" dirty="0"/>
                        <a:t>신규</a:t>
                      </a:r>
                      <a:endParaRPr lang="en-US" altLang="ko-KR" sz="1200" dirty="0"/>
                    </a:p>
                    <a:p>
                      <a:pPr algn="ctr" latinLnBrk="1"/>
                      <a:r>
                        <a:rPr lang="ko-KR" altLang="en-US" sz="1200" dirty="0"/>
                        <a:t>제법발명</a:t>
                      </a:r>
                      <a:endParaRPr lang="en-US" altLang="ko-KR" sz="1200" dirty="0"/>
                    </a:p>
                  </a:txBody>
                  <a:tcPr anchor="ctr"/>
                </a:tc>
                <a:tc>
                  <a:txBody>
                    <a:bodyPr/>
                    <a:lstStyle/>
                    <a:p>
                      <a:pPr algn="ctr" latinLnBrk="1"/>
                      <a:r>
                        <a:rPr lang="ko-KR" altLang="en-US" sz="1200" dirty="0"/>
                        <a:t>제</a:t>
                      </a:r>
                      <a:r>
                        <a:rPr lang="en-US" altLang="ko-KR" sz="1200" dirty="0"/>
                        <a:t>29</a:t>
                      </a:r>
                      <a:r>
                        <a:rPr lang="ko-KR" altLang="en-US" sz="1200" dirty="0"/>
                        <a:t>조제</a:t>
                      </a:r>
                      <a:r>
                        <a:rPr lang="en-US" altLang="ko-KR" sz="1200" dirty="0"/>
                        <a:t>1</a:t>
                      </a:r>
                      <a:r>
                        <a:rPr lang="ko-KR" altLang="en-US" sz="1200" dirty="0" err="1"/>
                        <a:t>항위반</a:t>
                      </a:r>
                      <a:r>
                        <a:rPr lang="ko-KR" altLang="en-US" sz="1200" dirty="0"/>
                        <a:t> </a:t>
                      </a:r>
                      <a:r>
                        <a:rPr lang="en-US" altLang="ko-KR" sz="1200" dirty="0"/>
                        <a:t>×</a:t>
                      </a:r>
                    </a:p>
                    <a:p>
                      <a:pPr algn="ctr" latinLnBrk="1"/>
                      <a:r>
                        <a:rPr lang="ko-KR" altLang="en-US" sz="1200" dirty="0"/>
                        <a:t>제</a:t>
                      </a:r>
                      <a:r>
                        <a:rPr lang="en-US" altLang="ko-KR" sz="1200" dirty="0"/>
                        <a:t>29</a:t>
                      </a:r>
                      <a:r>
                        <a:rPr lang="ko-KR" altLang="en-US" sz="1200" dirty="0"/>
                        <a:t>조제</a:t>
                      </a:r>
                      <a:r>
                        <a:rPr lang="en-US" altLang="ko-KR" sz="1200" dirty="0"/>
                        <a:t>2</a:t>
                      </a:r>
                      <a:r>
                        <a:rPr lang="ko-KR" altLang="en-US" sz="1200" dirty="0" err="1"/>
                        <a:t>항위반</a:t>
                      </a:r>
                      <a:r>
                        <a:rPr lang="ko-KR" altLang="en-US" sz="1200" dirty="0"/>
                        <a:t> △</a:t>
                      </a:r>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200" dirty="0"/>
                        <a:t>침해 ○</a:t>
                      </a:r>
                      <a:r>
                        <a:rPr lang="en-US" altLang="ko-KR" sz="1200" dirty="0">
                          <a:solidFill>
                            <a:srgbClr val="FF0000"/>
                          </a:solidFill>
                        </a:rPr>
                        <a:t>(</a:t>
                      </a:r>
                      <a:r>
                        <a:rPr lang="ko-KR" altLang="en-US" sz="1200" dirty="0">
                          <a:solidFill>
                            <a:srgbClr val="FF0000"/>
                          </a:solidFill>
                        </a:rPr>
                        <a:t>물건생산의 청약은 제외</a:t>
                      </a:r>
                      <a:r>
                        <a:rPr lang="en-US" altLang="ko-KR" sz="1200" dirty="0">
                          <a:solidFill>
                            <a:srgbClr val="FF0000"/>
                          </a:solidFill>
                        </a:rPr>
                        <a:t>)</a:t>
                      </a:r>
                    </a:p>
                  </a:txBody>
                  <a:tcPr anchor="ctr"/>
                </a:tc>
                <a:extLst>
                  <a:ext uri="{0D108BD9-81ED-4DB2-BD59-A6C34878D82A}">
                    <a16:rowId xmlns:a16="http://schemas.microsoft.com/office/drawing/2014/main" val="1368117900"/>
                  </a:ext>
                </a:extLst>
              </a:tr>
            </a:tbl>
          </a:graphicData>
        </a:graphic>
      </p:graphicFrame>
      <p:sp>
        <p:nvSpPr>
          <p:cNvPr id="26" name="직사각형 25">
            <a:extLst>
              <a:ext uri="{FF2B5EF4-FFF2-40B4-BE49-F238E27FC236}">
                <a16:creationId xmlns:a16="http://schemas.microsoft.com/office/drawing/2014/main" id="{9895F743-5C82-48C0-8FC1-7EACC7A42A12}"/>
              </a:ext>
            </a:extLst>
          </p:cNvPr>
          <p:cNvSpPr/>
          <p:nvPr/>
        </p:nvSpPr>
        <p:spPr>
          <a:xfrm>
            <a:off x="1428749" y="5317836"/>
            <a:ext cx="1657351" cy="39290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동일범주</a:t>
            </a:r>
            <a:endParaRPr lang="ko-KR" altLang="en-US" sz="1200" dirty="0">
              <a:solidFill>
                <a:schemeClr val="tx1"/>
              </a:solidFill>
            </a:endParaRPr>
          </a:p>
        </p:txBody>
      </p:sp>
      <p:sp>
        <p:nvSpPr>
          <p:cNvPr id="27" name="직사각형 26">
            <a:extLst>
              <a:ext uri="{FF2B5EF4-FFF2-40B4-BE49-F238E27FC236}">
                <a16:creationId xmlns:a16="http://schemas.microsoft.com/office/drawing/2014/main" id="{22734AA5-340B-419C-BD4B-A7D7AB33437E}"/>
              </a:ext>
            </a:extLst>
          </p:cNvPr>
          <p:cNvSpPr/>
          <p:nvPr/>
        </p:nvSpPr>
        <p:spPr>
          <a:xfrm>
            <a:off x="1428749" y="5879811"/>
            <a:ext cx="1657351" cy="39290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다른범주</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물건발명 </a:t>
            </a:r>
            <a:r>
              <a:rPr lang="en-US" altLang="ko-KR" sz="1200" dirty="0">
                <a:solidFill>
                  <a:schemeClr val="tx1"/>
                </a:solidFill>
              </a:rPr>
              <a:t>vs </a:t>
            </a:r>
            <a:r>
              <a:rPr lang="ko-KR" altLang="en-US" sz="1200" dirty="0">
                <a:solidFill>
                  <a:schemeClr val="tx1"/>
                </a:solidFill>
              </a:rPr>
              <a:t>제법발명</a:t>
            </a:r>
            <a:r>
              <a:rPr lang="en-US" altLang="ko-KR" sz="1200" dirty="0">
                <a:solidFill>
                  <a:schemeClr val="tx1"/>
                </a:solidFill>
              </a:rPr>
              <a:t>)</a:t>
            </a:r>
            <a:endParaRPr lang="ko-KR" altLang="en-US" sz="1200" dirty="0">
              <a:solidFill>
                <a:schemeClr val="tx1"/>
              </a:solidFill>
            </a:endParaRPr>
          </a:p>
        </p:txBody>
      </p:sp>
      <p:cxnSp>
        <p:nvCxnSpPr>
          <p:cNvPr id="29" name="연결선: 꺾임 28">
            <a:extLst>
              <a:ext uri="{FF2B5EF4-FFF2-40B4-BE49-F238E27FC236}">
                <a16:creationId xmlns:a16="http://schemas.microsoft.com/office/drawing/2014/main" id="{DBC6E3B6-CB5F-4937-A4A1-992BEC917B8C}"/>
              </a:ext>
            </a:extLst>
          </p:cNvPr>
          <p:cNvCxnSpPr>
            <a:stCxn id="18" idx="2"/>
            <a:endCxn id="26" idx="1"/>
          </p:cNvCxnSpPr>
          <p:nvPr/>
        </p:nvCxnSpPr>
        <p:spPr>
          <a:xfrm rot="5400000">
            <a:off x="1693412" y="4928844"/>
            <a:ext cx="320783" cy="850107"/>
          </a:xfrm>
          <a:prstGeom prst="bentConnector4">
            <a:avLst>
              <a:gd name="adj1" fmla="val 19379"/>
              <a:gd name="adj2" fmla="val 12689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연결선: 꺾임 30">
            <a:extLst>
              <a:ext uri="{FF2B5EF4-FFF2-40B4-BE49-F238E27FC236}">
                <a16:creationId xmlns:a16="http://schemas.microsoft.com/office/drawing/2014/main" id="{51E4203E-4AE8-4552-B873-B058FF887619}"/>
              </a:ext>
            </a:extLst>
          </p:cNvPr>
          <p:cNvCxnSpPr>
            <a:stCxn id="18" idx="2"/>
            <a:endCxn id="27" idx="1"/>
          </p:cNvCxnSpPr>
          <p:nvPr/>
        </p:nvCxnSpPr>
        <p:spPr>
          <a:xfrm rot="5400000">
            <a:off x="1412424" y="5209832"/>
            <a:ext cx="882758" cy="850107"/>
          </a:xfrm>
          <a:prstGeom prst="bentConnector4">
            <a:avLst>
              <a:gd name="adj1" fmla="val 6863"/>
              <a:gd name="adj2" fmla="val 12689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연결선: 꺾임 34">
            <a:extLst>
              <a:ext uri="{FF2B5EF4-FFF2-40B4-BE49-F238E27FC236}">
                <a16:creationId xmlns:a16="http://schemas.microsoft.com/office/drawing/2014/main" id="{219DC682-399B-4A01-B52F-291927A58C35}"/>
              </a:ext>
            </a:extLst>
          </p:cNvPr>
          <p:cNvCxnSpPr>
            <a:stCxn id="26" idx="3"/>
            <a:endCxn id="20" idx="1"/>
          </p:cNvCxnSpPr>
          <p:nvPr/>
        </p:nvCxnSpPr>
        <p:spPr>
          <a:xfrm>
            <a:off x="3086100" y="5514289"/>
            <a:ext cx="161710" cy="526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연결선: 꺾임 36">
            <a:extLst>
              <a:ext uri="{FF2B5EF4-FFF2-40B4-BE49-F238E27FC236}">
                <a16:creationId xmlns:a16="http://schemas.microsoft.com/office/drawing/2014/main" id="{904B3489-E670-4BAD-B5E3-90B2D114C155}"/>
              </a:ext>
            </a:extLst>
          </p:cNvPr>
          <p:cNvCxnSpPr>
            <a:stCxn id="26" idx="3"/>
            <a:endCxn id="21" idx="1"/>
          </p:cNvCxnSpPr>
          <p:nvPr/>
        </p:nvCxnSpPr>
        <p:spPr>
          <a:xfrm>
            <a:off x="3086100" y="5514289"/>
            <a:ext cx="161710" cy="56724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01969067"/>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직사각형 36"/>
          <p:cNvSpPr/>
          <p:nvPr/>
        </p:nvSpPr>
        <p:spPr>
          <a:xfrm>
            <a:off x="190499" y="4793818"/>
            <a:ext cx="5724526" cy="128313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5" name="직사각형 34"/>
          <p:cNvSpPr/>
          <p:nvPr/>
        </p:nvSpPr>
        <p:spPr>
          <a:xfrm>
            <a:off x="190499" y="3190875"/>
            <a:ext cx="5724526" cy="1476375"/>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연결선 23"/>
          <p:cNvCxnSpPr>
            <a:stCxn id="12" idx="2"/>
          </p:cNvCxnSpPr>
          <p:nvPr/>
        </p:nvCxnSpPr>
        <p:spPr>
          <a:xfrm>
            <a:off x="838200" y="3036792"/>
            <a:ext cx="0" cy="260200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양쪽 모서리가 둥근 사각형 15"/>
          <p:cNvSpPr/>
          <p:nvPr/>
        </p:nvSpPr>
        <p:spPr>
          <a:xfrm>
            <a:off x="1" y="2369131"/>
            <a:ext cx="2697956" cy="448258"/>
          </a:xfrm>
          <a:prstGeom prst="round2SameRect">
            <a:avLst>
              <a:gd name="adj1" fmla="val 50000"/>
              <a:gd name="adj2" fmla="val 0"/>
            </a:avLst>
          </a:prstGeom>
          <a:pattFill prst="lg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제목 3"/>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5" name="텍스트 개체 틀 4"/>
          <p:cNvSpPr>
            <a:spLocks noGrp="1"/>
          </p:cNvSpPr>
          <p:nvPr>
            <p:ph type="body" sz="quarter" idx="13"/>
          </p:nvPr>
        </p:nvSpPr>
        <p:spPr/>
        <p:txBody>
          <a:bodyPr/>
          <a:lstStyle/>
          <a:p>
            <a:r>
              <a:rPr lang="ko-KR" altLang="en-US" dirty="0"/>
              <a:t>이용저촉관계의 법조문 정리</a:t>
            </a:r>
          </a:p>
        </p:txBody>
      </p:sp>
      <p:cxnSp>
        <p:nvCxnSpPr>
          <p:cNvPr id="6" name="직선 연결선 5"/>
          <p:cNvCxnSpPr/>
          <p:nvPr/>
        </p:nvCxnSpPr>
        <p:spPr>
          <a:xfrm>
            <a:off x="6070841" y="2095500"/>
            <a:ext cx="0" cy="463061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 name="Line 5"/>
          <p:cNvSpPr>
            <a:spLocks noChangeShapeType="1"/>
          </p:cNvSpPr>
          <p:nvPr/>
        </p:nvSpPr>
        <p:spPr bwMode="auto">
          <a:xfrm>
            <a:off x="190499" y="2822153"/>
            <a:ext cx="5724526"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9" name="TextBox 8"/>
          <p:cNvSpPr txBox="1"/>
          <p:nvPr/>
        </p:nvSpPr>
        <p:spPr>
          <a:xfrm>
            <a:off x="2697956" y="2607514"/>
            <a:ext cx="642938" cy="429278"/>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200" dirty="0"/>
              <a:t>출원</a:t>
            </a:r>
            <a:r>
              <a:rPr lang="en-US" altLang="ko-KR" sz="1200" dirty="0"/>
              <a:t>(Z)</a:t>
            </a:r>
          </a:p>
          <a:p>
            <a:pPr algn="ctr"/>
            <a:r>
              <a:rPr lang="en-US" altLang="ko-KR" sz="1200" dirty="0"/>
              <a:t> (A+B)</a:t>
            </a:r>
            <a:endParaRPr lang="ko-KR" altLang="en-US" sz="1200" dirty="0"/>
          </a:p>
        </p:txBody>
      </p:sp>
      <p:sp>
        <p:nvSpPr>
          <p:cNvPr id="10" name="TextBox 9"/>
          <p:cNvSpPr txBox="1"/>
          <p:nvPr/>
        </p:nvSpPr>
        <p:spPr>
          <a:xfrm>
            <a:off x="1516856" y="2607514"/>
            <a:ext cx="642938" cy="429278"/>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출원</a:t>
            </a:r>
            <a:r>
              <a:rPr lang="en-US" altLang="ko-KR" sz="1200" dirty="0"/>
              <a:t>(Y)</a:t>
            </a:r>
          </a:p>
          <a:p>
            <a:pPr algn="ctr"/>
            <a:r>
              <a:rPr lang="en-US" altLang="ko-KR" sz="1200" dirty="0"/>
              <a:t> (A+B)</a:t>
            </a:r>
            <a:endParaRPr lang="ko-KR" altLang="en-US" sz="1200" dirty="0"/>
          </a:p>
        </p:txBody>
      </p:sp>
      <p:sp>
        <p:nvSpPr>
          <p:cNvPr id="12" name="TextBox 11"/>
          <p:cNvSpPr txBox="1"/>
          <p:nvPr/>
        </p:nvSpPr>
        <p:spPr>
          <a:xfrm>
            <a:off x="516731" y="2607514"/>
            <a:ext cx="642938" cy="429278"/>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출원</a:t>
            </a:r>
            <a:r>
              <a:rPr lang="en-US" altLang="ko-KR" sz="1200" dirty="0"/>
              <a:t>(X)</a:t>
            </a:r>
          </a:p>
          <a:p>
            <a:pPr algn="ctr"/>
            <a:r>
              <a:rPr lang="en-US" altLang="ko-KR" sz="1200" dirty="0"/>
              <a:t> (A)</a:t>
            </a:r>
            <a:endParaRPr lang="ko-KR" altLang="en-US" sz="1200" dirty="0"/>
          </a:p>
        </p:txBody>
      </p:sp>
      <p:sp>
        <p:nvSpPr>
          <p:cNvPr id="13" name="TextBox 12"/>
          <p:cNvSpPr txBox="1"/>
          <p:nvPr/>
        </p:nvSpPr>
        <p:spPr>
          <a:xfrm>
            <a:off x="5043487" y="2607514"/>
            <a:ext cx="642938" cy="429278"/>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200" dirty="0"/>
              <a:t>등록</a:t>
            </a:r>
            <a:r>
              <a:rPr lang="en-US" altLang="ko-KR" sz="1200" dirty="0"/>
              <a:t>(Z)</a:t>
            </a:r>
          </a:p>
          <a:p>
            <a:pPr algn="ctr"/>
            <a:r>
              <a:rPr lang="en-US" altLang="ko-KR" sz="1200" dirty="0"/>
              <a:t> (A+B)</a:t>
            </a:r>
            <a:endParaRPr lang="ko-KR" altLang="en-US" sz="1200" dirty="0"/>
          </a:p>
        </p:txBody>
      </p:sp>
      <p:sp>
        <p:nvSpPr>
          <p:cNvPr id="14" name="TextBox 13"/>
          <p:cNvSpPr txBox="1"/>
          <p:nvPr/>
        </p:nvSpPr>
        <p:spPr>
          <a:xfrm>
            <a:off x="4291012" y="2607514"/>
            <a:ext cx="642938" cy="429278"/>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등록</a:t>
            </a:r>
            <a:r>
              <a:rPr lang="en-US" altLang="ko-KR" sz="1200" dirty="0"/>
              <a:t>(Y)</a:t>
            </a:r>
          </a:p>
          <a:p>
            <a:pPr algn="ctr"/>
            <a:r>
              <a:rPr lang="en-US" altLang="ko-KR" sz="1200" dirty="0"/>
              <a:t> (A+B)</a:t>
            </a:r>
            <a:endParaRPr lang="ko-KR" altLang="en-US" sz="1200" dirty="0"/>
          </a:p>
        </p:txBody>
      </p:sp>
      <p:sp>
        <p:nvSpPr>
          <p:cNvPr id="15" name="TextBox 14"/>
          <p:cNvSpPr txBox="1"/>
          <p:nvPr/>
        </p:nvSpPr>
        <p:spPr>
          <a:xfrm>
            <a:off x="3490912" y="2607514"/>
            <a:ext cx="642938" cy="429278"/>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등록</a:t>
            </a:r>
            <a:r>
              <a:rPr lang="en-US" altLang="ko-KR" sz="1200" dirty="0"/>
              <a:t>(X)</a:t>
            </a:r>
          </a:p>
          <a:p>
            <a:pPr algn="ctr"/>
            <a:r>
              <a:rPr lang="en-US" altLang="ko-KR" sz="1200" dirty="0"/>
              <a:t> (A)</a:t>
            </a:r>
            <a:endParaRPr lang="ko-KR" altLang="en-US" sz="1200" dirty="0"/>
          </a:p>
        </p:txBody>
      </p:sp>
      <p:sp>
        <p:nvSpPr>
          <p:cNvPr id="7" name="직사각형 6"/>
          <p:cNvSpPr/>
          <p:nvPr/>
        </p:nvSpPr>
        <p:spPr>
          <a:xfrm>
            <a:off x="0" y="2190750"/>
            <a:ext cx="190499" cy="8460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TextBox 17"/>
          <p:cNvSpPr txBox="1"/>
          <p:nvPr/>
        </p:nvSpPr>
        <p:spPr>
          <a:xfrm>
            <a:off x="327421" y="3302839"/>
            <a:ext cx="1021558" cy="233381"/>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200" dirty="0"/>
              <a:t>특허발명</a:t>
            </a:r>
          </a:p>
        </p:txBody>
      </p:sp>
      <p:sp>
        <p:nvSpPr>
          <p:cNvPr id="19" name="TextBox 18"/>
          <p:cNvSpPr txBox="1"/>
          <p:nvPr/>
        </p:nvSpPr>
        <p:spPr>
          <a:xfrm>
            <a:off x="327421" y="3566097"/>
            <a:ext cx="1021558" cy="233381"/>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200" dirty="0"/>
              <a:t>등록실용신안</a:t>
            </a:r>
          </a:p>
        </p:txBody>
      </p:sp>
      <p:sp>
        <p:nvSpPr>
          <p:cNvPr id="20" name="TextBox 19"/>
          <p:cNvSpPr txBox="1"/>
          <p:nvPr/>
        </p:nvSpPr>
        <p:spPr>
          <a:xfrm>
            <a:off x="327421" y="3825692"/>
            <a:ext cx="1021558" cy="233381"/>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200" dirty="0"/>
              <a:t>등록디자인</a:t>
            </a:r>
          </a:p>
        </p:txBody>
      </p:sp>
      <p:sp>
        <p:nvSpPr>
          <p:cNvPr id="21" name="TextBox 20"/>
          <p:cNvSpPr txBox="1"/>
          <p:nvPr/>
        </p:nvSpPr>
        <p:spPr>
          <a:xfrm>
            <a:off x="327421" y="4088950"/>
            <a:ext cx="1021558" cy="233381"/>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200" dirty="0"/>
              <a:t>유사디자인</a:t>
            </a:r>
          </a:p>
        </p:txBody>
      </p:sp>
      <p:cxnSp>
        <p:nvCxnSpPr>
          <p:cNvPr id="25" name="직선 연결선 24"/>
          <p:cNvCxnSpPr/>
          <p:nvPr/>
        </p:nvCxnSpPr>
        <p:spPr>
          <a:xfrm>
            <a:off x="3019425" y="3036792"/>
            <a:ext cx="0" cy="260200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2628900" y="3302839"/>
            <a:ext cx="781050" cy="233381"/>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200" dirty="0"/>
              <a:t>특허발명</a:t>
            </a:r>
          </a:p>
        </p:txBody>
      </p:sp>
      <p:cxnSp>
        <p:nvCxnSpPr>
          <p:cNvPr id="30" name="직선 연결선 29"/>
          <p:cNvCxnSpPr/>
          <p:nvPr/>
        </p:nvCxnSpPr>
        <p:spPr>
          <a:xfrm>
            <a:off x="1828800" y="3036792"/>
            <a:ext cx="0" cy="260200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1327546" y="4911542"/>
            <a:ext cx="1021558" cy="233381"/>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200" dirty="0" err="1"/>
              <a:t>디자인권</a:t>
            </a:r>
            <a:endParaRPr lang="ko-KR" altLang="en-US" sz="1200" dirty="0"/>
          </a:p>
        </p:txBody>
      </p:sp>
      <p:sp>
        <p:nvSpPr>
          <p:cNvPr id="32" name="TextBox 31"/>
          <p:cNvSpPr txBox="1"/>
          <p:nvPr/>
        </p:nvSpPr>
        <p:spPr>
          <a:xfrm>
            <a:off x="1327546" y="5174800"/>
            <a:ext cx="1021558" cy="233381"/>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200" dirty="0"/>
              <a:t>상표권</a:t>
            </a:r>
          </a:p>
        </p:txBody>
      </p:sp>
      <p:sp>
        <p:nvSpPr>
          <p:cNvPr id="33" name="TextBox 32"/>
          <p:cNvSpPr txBox="1"/>
          <p:nvPr/>
        </p:nvSpPr>
        <p:spPr>
          <a:xfrm>
            <a:off x="2628900" y="4913987"/>
            <a:ext cx="781050" cy="233381"/>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200" dirty="0"/>
              <a:t>특허권</a:t>
            </a:r>
          </a:p>
        </p:txBody>
      </p:sp>
      <p:sp>
        <p:nvSpPr>
          <p:cNvPr id="34" name="TextBox 33"/>
          <p:cNvSpPr txBox="1"/>
          <p:nvPr/>
        </p:nvSpPr>
        <p:spPr>
          <a:xfrm>
            <a:off x="664367" y="2135750"/>
            <a:ext cx="1326358" cy="233381"/>
          </a:xfrm>
          <a:prstGeom prst="rect">
            <a:avLst/>
          </a:prstGeom>
          <a:solidFill>
            <a:schemeClr val="bg1"/>
          </a:solidFill>
          <a:ln>
            <a:noFill/>
          </a:ln>
        </p:spPr>
        <p:txBody>
          <a:bodyPr wrap="square" rtlCol="0" anchor="ctr">
            <a:noAutofit/>
          </a:bodyPr>
          <a:lstStyle/>
          <a:p>
            <a:pPr algn="ctr"/>
            <a:r>
              <a:rPr lang="ko-KR" altLang="en-US" sz="1200" dirty="0"/>
              <a:t>특허출원일 전</a:t>
            </a:r>
          </a:p>
        </p:txBody>
      </p:sp>
      <p:sp>
        <p:nvSpPr>
          <p:cNvPr id="36" name="TextBox 35"/>
          <p:cNvSpPr txBox="1"/>
          <p:nvPr/>
        </p:nvSpPr>
        <p:spPr>
          <a:xfrm>
            <a:off x="4899179" y="3190875"/>
            <a:ext cx="1018227" cy="369332"/>
          </a:xfrm>
          <a:prstGeom prst="rect">
            <a:avLst/>
          </a:prstGeom>
          <a:noFill/>
        </p:spPr>
        <p:txBody>
          <a:bodyPr wrap="none" rtlCol="0">
            <a:spAutoFit/>
          </a:bodyPr>
          <a:lstStyle/>
          <a:p>
            <a:r>
              <a:rPr lang="ko-KR" altLang="en-US">
                <a:solidFill>
                  <a:srgbClr val="FF0000"/>
                </a:solidFill>
              </a:rPr>
              <a:t>이용관계</a:t>
            </a:r>
          </a:p>
        </p:txBody>
      </p:sp>
      <p:sp>
        <p:nvSpPr>
          <p:cNvPr id="38" name="TextBox 37"/>
          <p:cNvSpPr txBox="1"/>
          <p:nvPr/>
        </p:nvSpPr>
        <p:spPr>
          <a:xfrm>
            <a:off x="4899179" y="4793818"/>
            <a:ext cx="1018227" cy="369332"/>
          </a:xfrm>
          <a:prstGeom prst="rect">
            <a:avLst/>
          </a:prstGeom>
          <a:noFill/>
        </p:spPr>
        <p:txBody>
          <a:bodyPr wrap="none" rtlCol="0">
            <a:spAutoFit/>
          </a:bodyPr>
          <a:lstStyle/>
          <a:p>
            <a:r>
              <a:rPr lang="ko-KR" altLang="en-US" dirty="0">
                <a:solidFill>
                  <a:srgbClr val="FF0000"/>
                </a:solidFill>
              </a:rPr>
              <a:t>저촉관계</a:t>
            </a:r>
          </a:p>
        </p:txBody>
      </p:sp>
      <p:sp>
        <p:nvSpPr>
          <p:cNvPr id="39" name="TextBox 38"/>
          <p:cNvSpPr txBox="1"/>
          <p:nvPr/>
        </p:nvSpPr>
        <p:spPr>
          <a:xfrm>
            <a:off x="327421" y="4372309"/>
            <a:ext cx="1021558" cy="233381"/>
          </a:xfrm>
          <a:prstGeom prst="rect">
            <a:avLst/>
          </a:prstGeom>
          <a:solidFill>
            <a:schemeClr val="accent6">
              <a:lumMod val="20000"/>
              <a:lumOff val="80000"/>
            </a:schemeClr>
          </a:solidFill>
          <a:ln>
            <a:solidFill>
              <a:schemeClr val="accent3"/>
            </a:solidFill>
          </a:ln>
        </p:spPr>
        <p:txBody>
          <a:bodyPr wrap="square" rtlCol="0" anchor="ctr">
            <a:noAutofit/>
          </a:bodyPr>
          <a:lstStyle/>
          <a:p>
            <a:pPr algn="ctr"/>
            <a:r>
              <a:rPr lang="ko-KR" altLang="en-US" sz="1200" dirty="0">
                <a:solidFill>
                  <a:schemeClr val="bg1">
                    <a:lumMod val="75000"/>
                  </a:schemeClr>
                </a:solidFill>
              </a:rPr>
              <a:t>등록상표</a:t>
            </a:r>
          </a:p>
        </p:txBody>
      </p:sp>
      <p:sp>
        <p:nvSpPr>
          <p:cNvPr id="40" name="TextBox 39"/>
          <p:cNvSpPr txBox="1"/>
          <p:nvPr/>
        </p:nvSpPr>
        <p:spPr>
          <a:xfrm>
            <a:off x="1327546" y="5455434"/>
            <a:ext cx="1021558" cy="233381"/>
          </a:xfrm>
          <a:prstGeom prst="rect">
            <a:avLst/>
          </a:prstGeom>
          <a:solidFill>
            <a:schemeClr val="accent6">
              <a:lumMod val="20000"/>
              <a:lumOff val="80000"/>
            </a:schemeClr>
          </a:solidFill>
          <a:ln>
            <a:solidFill>
              <a:schemeClr val="bg1">
                <a:lumMod val="50000"/>
              </a:schemeClr>
            </a:solidFill>
          </a:ln>
        </p:spPr>
        <p:txBody>
          <a:bodyPr wrap="square" rtlCol="0" anchor="ctr">
            <a:noAutofit/>
          </a:bodyPr>
          <a:lstStyle/>
          <a:p>
            <a:pPr algn="ctr"/>
            <a:r>
              <a:rPr lang="ko-KR" altLang="en-US" sz="1200" dirty="0">
                <a:solidFill>
                  <a:schemeClr val="bg1">
                    <a:lumMod val="75000"/>
                  </a:schemeClr>
                </a:solidFill>
              </a:rPr>
              <a:t>특허권</a:t>
            </a:r>
          </a:p>
        </p:txBody>
      </p:sp>
      <p:sp>
        <p:nvSpPr>
          <p:cNvPr id="41" name="TextBox 40"/>
          <p:cNvSpPr txBox="1"/>
          <p:nvPr/>
        </p:nvSpPr>
        <p:spPr>
          <a:xfrm>
            <a:off x="1327546" y="5748319"/>
            <a:ext cx="1021558" cy="233381"/>
          </a:xfrm>
          <a:prstGeom prst="rect">
            <a:avLst/>
          </a:prstGeom>
          <a:solidFill>
            <a:schemeClr val="accent6">
              <a:lumMod val="20000"/>
              <a:lumOff val="80000"/>
            </a:schemeClr>
          </a:solidFill>
          <a:ln>
            <a:solidFill>
              <a:schemeClr val="bg1">
                <a:lumMod val="50000"/>
              </a:schemeClr>
            </a:solidFill>
          </a:ln>
        </p:spPr>
        <p:txBody>
          <a:bodyPr wrap="square" rtlCol="0" anchor="ctr">
            <a:noAutofit/>
          </a:bodyPr>
          <a:lstStyle/>
          <a:p>
            <a:pPr algn="ctr"/>
            <a:r>
              <a:rPr lang="ko-KR" altLang="en-US" sz="1200" dirty="0" err="1">
                <a:solidFill>
                  <a:schemeClr val="bg1">
                    <a:lumMod val="75000"/>
                  </a:schemeClr>
                </a:solidFill>
              </a:rPr>
              <a:t>실용신안권</a:t>
            </a:r>
            <a:endParaRPr lang="ko-KR" altLang="en-US" sz="1200" dirty="0">
              <a:solidFill>
                <a:schemeClr val="bg1">
                  <a:lumMod val="75000"/>
                </a:schemeClr>
              </a:solidFill>
            </a:endParaRPr>
          </a:p>
        </p:txBody>
      </p:sp>
      <p:cxnSp>
        <p:nvCxnSpPr>
          <p:cNvPr id="43" name="직선 연결선 42"/>
          <p:cNvCxnSpPr/>
          <p:nvPr/>
        </p:nvCxnSpPr>
        <p:spPr>
          <a:xfrm>
            <a:off x="0" y="172471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77875" y="986046"/>
            <a:ext cx="11936323" cy="738664"/>
          </a:xfrm>
          <a:prstGeom prst="rect">
            <a:avLst/>
          </a:prstGeom>
          <a:noFill/>
        </p:spPr>
        <p:txBody>
          <a:bodyPr wrap="square" rtlCol="0">
            <a:spAutoFit/>
          </a:bodyPr>
          <a:lstStyle/>
          <a:p>
            <a:pPr lvl="0" fontAlgn="base">
              <a:spcBef>
                <a:spcPct val="0"/>
              </a:spcBef>
              <a:spcAft>
                <a:spcPct val="0"/>
              </a:spcAft>
            </a:pPr>
            <a:r>
              <a:rPr kumimoji="1" lang="ko-KR" altLang="ko-KR" sz="1400" b="1" dirty="0">
                <a:solidFill>
                  <a:schemeClr val="accent1"/>
                </a:solidFill>
                <a:latin typeface="+mn-ea"/>
                <a:cs typeface="굴림" pitchFamily="50" charset="-127"/>
              </a:rPr>
              <a:t>제98조(타인의 특허발명 등과의 관계)</a:t>
            </a:r>
            <a:r>
              <a:rPr kumimoji="1" lang="ko-KR" altLang="ko-KR" sz="1400" dirty="0">
                <a:solidFill>
                  <a:schemeClr val="accent1"/>
                </a:solidFill>
                <a:latin typeface="+mn-ea"/>
                <a:cs typeface="굴림" pitchFamily="50" charset="-127"/>
              </a:rPr>
              <a:t> </a:t>
            </a:r>
            <a:r>
              <a:rPr kumimoji="1" lang="ko-KR" altLang="ko-KR" sz="1400" dirty="0" err="1">
                <a:solidFill>
                  <a:schemeClr val="tx2"/>
                </a:solidFill>
                <a:latin typeface="+mn-ea"/>
                <a:cs typeface="굴림" pitchFamily="50" charset="-127"/>
              </a:rPr>
              <a:t>특허권자ㆍ전용실시권자</a:t>
            </a:r>
            <a:r>
              <a:rPr kumimoji="1" lang="ko-KR" altLang="ko-KR" sz="1400" dirty="0">
                <a:solidFill>
                  <a:schemeClr val="tx2"/>
                </a:solidFill>
                <a:latin typeface="+mn-ea"/>
                <a:cs typeface="굴림" pitchFamily="50" charset="-127"/>
              </a:rPr>
              <a:t> 또는 </a:t>
            </a:r>
            <a:r>
              <a:rPr kumimoji="1" lang="ko-KR" altLang="ko-KR" sz="1400" dirty="0" err="1">
                <a:solidFill>
                  <a:schemeClr val="tx2"/>
                </a:solidFill>
                <a:latin typeface="+mn-ea"/>
                <a:cs typeface="굴림" pitchFamily="50" charset="-127"/>
              </a:rPr>
              <a:t>통상실시권자는</a:t>
            </a:r>
            <a:r>
              <a:rPr kumimoji="1" lang="ko-KR" altLang="ko-KR" sz="1400" dirty="0">
                <a:solidFill>
                  <a:schemeClr val="tx2"/>
                </a:solidFill>
                <a:latin typeface="+mn-ea"/>
                <a:cs typeface="굴림" pitchFamily="50" charset="-127"/>
              </a:rPr>
              <a:t> 특허발명이 그 특허발명의 </a:t>
            </a:r>
            <a:r>
              <a:rPr kumimoji="1" lang="ko-KR" altLang="ko-KR" sz="1400" dirty="0">
                <a:solidFill>
                  <a:srgbClr val="FF0000"/>
                </a:solidFill>
                <a:latin typeface="+mn-ea"/>
                <a:cs typeface="굴림" pitchFamily="50" charset="-127"/>
              </a:rPr>
              <a:t>특허출원일 전에 출원된</a:t>
            </a:r>
            <a:r>
              <a:rPr kumimoji="1" lang="ko-KR" altLang="ko-KR" sz="1400" dirty="0">
                <a:solidFill>
                  <a:schemeClr val="tx2"/>
                </a:solidFill>
                <a:latin typeface="+mn-ea"/>
                <a:cs typeface="굴림" pitchFamily="50" charset="-127"/>
              </a:rPr>
              <a:t> </a:t>
            </a:r>
            <a:r>
              <a:rPr kumimoji="1" lang="ko-KR" altLang="ko-KR" sz="1400" u="sng" dirty="0">
                <a:solidFill>
                  <a:schemeClr val="tx2"/>
                </a:solidFill>
                <a:latin typeface="+mn-ea"/>
                <a:cs typeface="굴림" pitchFamily="50" charset="-127"/>
              </a:rPr>
              <a:t>타인</a:t>
            </a:r>
            <a:r>
              <a:rPr kumimoji="1" lang="ko-KR" altLang="ko-KR" sz="1400" dirty="0">
                <a:solidFill>
                  <a:schemeClr val="tx2"/>
                </a:solidFill>
                <a:latin typeface="+mn-ea"/>
                <a:cs typeface="굴림" pitchFamily="50" charset="-127"/>
              </a:rPr>
              <a:t>의 </a:t>
            </a:r>
            <a:r>
              <a:rPr kumimoji="1" lang="ko-KR" altLang="ko-KR" sz="1400" dirty="0" err="1">
                <a:solidFill>
                  <a:schemeClr val="tx2"/>
                </a:solidFill>
                <a:latin typeface="+mn-ea"/>
                <a:cs typeface="굴림" pitchFamily="50" charset="-127"/>
              </a:rPr>
              <a:t>특허발명ㆍ등록실용신안</a:t>
            </a:r>
            <a:r>
              <a:rPr kumimoji="1" lang="ko-KR" altLang="ko-KR" sz="1400" dirty="0">
                <a:solidFill>
                  <a:schemeClr val="tx2"/>
                </a:solidFill>
                <a:latin typeface="+mn-ea"/>
                <a:cs typeface="굴림" pitchFamily="50" charset="-127"/>
              </a:rPr>
              <a:t> 또는 등록디자인이나 그 디자인과 유사한 디자인을 이용하거나 특허권이 그 특허발명의 </a:t>
            </a:r>
            <a:r>
              <a:rPr kumimoji="1" lang="ko-KR" altLang="ko-KR" sz="1400" dirty="0">
                <a:solidFill>
                  <a:srgbClr val="FF0000"/>
                </a:solidFill>
                <a:latin typeface="+mn-ea"/>
                <a:cs typeface="굴림" pitchFamily="50" charset="-127"/>
              </a:rPr>
              <a:t>특허출원일 전에 출원된</a:t>
            </a:r>
            <a:r>
              <a:rPr kumimoji="1" lang="ko-KR" altLang="ko-KR" sz="1400" dirty="0">
                <a:solidFill>
                  <a:schemeClr val="tx2"/>
                </a:solidFill>
                <a:latin typeface="+mn-ea"/>
                <a:cs typeface="굴림" pitchFamily="50" charset="-127"/>
              </a:rPr>
              <a:t> 타인의 </a:t>
            </a:r>
            <a:r>
              <a:rPr kumimoji="1" lang="ko-KR" altLang="ko-KR" sz="1400" dirty="0" err="1">
                <a:solidFill>
                  <a:schemeClr val="tx2"/>
                </a:solidFill>
                <a:latin typeface="+mn-ea"/>
                <a:cs typeface="굴림" pitchFamily="50" charset="-127"/>
              </a:rPr>
              <a:t>디자인권</a:t>
            </a:r>
            <a:r>
              <a:rPr kumimoji="1" lang="ko-KR" altLang="ko-KR" sz="1400" dirty="0">
                <a:solidFill>
                  <a:schemeClr val="tx2"/>
                </a:solidFill>
                <a:latin typeface="+mn-ea"/>
                <a:cs typeface="굴림" pitchFamily="50" charset="-127"/>
              </a:rPr>
              <a:t> 또는 상표권과 저촉되는 경우에는 그 </a:t>
            </a:r>
            <a:r>
              <a:rPr kumimoji="1" lang="ko-KR" altLang="ko-KR" sz="1400" dirty="0" err="1">
                <a:solidFill>
                  <a:schemeClr val="tx2"/>
                </a:solidFill>
                <a:latin typeface="+mn-ea"/>
                <a:cs typeface="굴림" pitchFamily="50" charset="-127"/>
              </a:rPr>
              <a:t>특허권자ㆍ실용신안권자ㆍ디자인권자</a:t>
            </a:r>
            <a:r>
              <a:rPr kumimoji="1" lang="ko-KR" altLang="ko-KR" sz="1400" dirty="0">
                <a:solidFill>
                  <a:schemeClr val="tx2"/>
                </a:solidFill>
                <a:latin typeface="+mn-ea"/>
                <a:cs typeface="굴림" pitchFamily="50" charset="-127"/>
              </a:rPr>
              <a:t> 또는 상표권자의 허락을 받지 아니하고는 자기의 특허발명을 업으로서 실시할 수 없다. </a:t>
            </a:r>
          </a:p>
        </p:txBody>
      </p:sp>
      <p:sp>
        <p:nvSpPr>
          <p:cNvPr id="46" name="Line 5"/>
          <p:cNvSpPr>
            <a:spLocks noChangeShapeType="1"/>
          </p:cNvSpPr>
          <p:nvPr/>
        </p:nvSpPr>
        <p:spPr bwMode="auto">
          <a:xfrm>
            <a:off x="6289672" y="2869778"/>
            <a:ext cx="5724526"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9" name="TextBox 48"/>
          <p:cNvSpPr txBox="1"/>
          <p:nvPr/>
        </p:nvSpPr>
        <p:spPr>
          <a:xfrm>
            <a:off x="6210671" y="2023840"/>
            <a:ext cx="1133104" cy="429278"/>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甲</a:t>
            </a:r>
            <a:r>
              <a:rPr lang="en-US" altLang="ko-KR" sz="1200" dirty="0"/>
              <a:t>, </a:t>
            </a:r>
            <a:r>
              <a:rPr lang="ko-KR" altLang="en-US" sz="1200" dirty="0"/>
              <a:t>乙 공동발명</a:t>
            </a:r>
            <a:endParaRPr lang="en-US" altLang="ko-KR" sz="1200" dirty="0"/>
          </a:p>
          <a:p>
            <a:pPr algn="ctr"/>
            <a:r>
              <a:rPr lang="en-US" altLang="ko-KR" sz="1100" dirty="0"/>
              <a:t>(</a:t>
            </a:r>
            <a:r>
              <a:rPr lang="ko-KR" altLang="en-US" sz="1100" dirty="0"/>
              <a:t>자전거</a:t>
            </a:r>
            <a:r>
              <a:rPr lang="en-US" altLang="ko-KR" sz="1100" dirty="0"/>
              <a:t>)</a:t>
            </a:r>
            <a:endParaRPr lang="ko-KR" altLang="en-US" sz="1100" dirty="0"/>
          </a:p>
        </p:txBody>
      </p:sp>
      <p:sp>
        <p:nvSpPr>
          <p:cNvPr id="53" name="타원 52"/>
          <p:cNvSpPr/>
          <p:nvPr/>
        </p:nvSpPr>
        <p:spPr>
          <a:xfrm>
            <a:off x="6699854" y="278910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5" name="직선 연결선 54"/>
          <p:cNvCxnSpPr>
            <a:stCxn id="49" idx="2"/>
            <a:endCxn id="53" idx="0"/>
          </p:cNvCxnSpPr>
          <p:nvPr/>
        </p:nvCxnSpPr>
        <p:spPr>
          <a:xfrm>
            <a:off x="6777223" y="2453118"/>
            <a:ext cx="0" cy="3359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7429871" y="2023840"/>
            <a:ext cx="1133104" cy="429278"/>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甲</a:t>
            </a:r>
            <a:r>
              <a:rPr lang="en-US" altLang="ko-KR" sz="1200" dirty="0"/>
              <a:t>, </a:t>
            </a:r>
            <a:r>
              <a:rPr lang="ko-KR" altLang="en-US" sz="1200" dirty="0"/>
              <a:t>乙 공동출원</a:t>
            </a:r>
            <a:endParaRPr lang="en-US" altLang="ko-KR" sz="1200" dirty="0"/>
          </a:p>
          <a:p>
            <a:pPr algn="ctr"/>
            <a:r>
              <a:rPr lang="en-US" altLang="ko-KR" sz="1100" dirty="0"/>
              <a:t>(</a:t>
            </a:r>
            <a:r>
              <a:rPr lang="ko-KR" altLang="en-US" sz="1100" dirty="0"/>
              <a:t>자전거</a:t>
            </a:r>
            <a:r>
              <a:rPr lang="en-US" altLang="ko-KR" sz="1100" dirty="0"/>
              <a:t>)</a:t>
            </a:r>
            <a:endParaRPr lang="ko-KR" altLang="en-US" sz="1100" dirty="0"/>
          </a:p>
        </p:txBody>
      </p:sp>
      <p:sp>
        <p:nvSpPr>
          <p:cNvPr id="58" name="타원 57"/>
          <p:cNvSpPr/>
          <p:nvPr/>
        </p:nvSpPr>
        <p:spPr>
          <a:xfrm>
            <a:off x="7919054" y="278910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9" name="직선 연결선 58"/>
          <p:cNvCxnSpPr>
            <a:stCxn id="57" idx="2"/>
            <a:endCxn id="58" idx="0"/>
          </p:cNvCxnSpPr>
          <p:nvPr/>
        </p:nvCxnSpPr>
        <p:spPr>
          <a:xfrm>
            <a:off x="7996423" y="2453118"/>
            <a:ext cx="0" cy="3359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TextBox 59"/>
          <p:cNvSpPr txBox="1"/>
          <p:nvPr/>
        </p:nvSpPr>
        <p:spPr>
          <a:xfrm>
            <a:off x="9176354" y="2023840"/>
            <a:ext cx="1133104" cy="429278"/>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甲</a:t>
            </a:r>
            <a:r>
              <a:rPr lang="en-US" altLang="ko-KR" sz="1200" dirty="0"/>
              <a:t>, </a:t>
            </a:r>
            <a:r>
              <a:rPr lang="ko-KR" altLang="en-US" sz="1200" dirty="0"/>
              <a:t>乙 등록</a:t>
            </a:r>
            <a:endParaRPr lang="en-US" altLang="ko-KR" sz="1200" dirty="0"/>
          </a:p>
          <a:p>
            <a:pPr algn="ctr"/>
            <a:r>
              <a:rPr lang="en-US" altLang="ko-KR" sz="1100" dirty="0"/>
              <a:t>(</a:t>
            </a:r>
            <a:r>
              <a:rPr lang="ko-KR" altLang="en-US" sz="1100" dirty="0"/>
              <a:t>자전거</a:t>
            </a:r>
            <a:r>
              <a:rPr lang="en-US" altLang="ko-KR" sz="1100" dirty="0"/>
              <a:t>)</a:t>
            </a:r>
            <a:endParaRPr lang="ko-KR" altLang="en-US" sz="1100" dirty="0"/>
          </a:p>
        </p:txBody>
      </p:sp>
      <p:sp>
        <p:nvSpPr>
          <p:cNvPr id="61" name="타원 60"/>
          <p:cNvSpPr/>
          <p:nvPr/>
        </p:nvSpPr>
        <p:spPr>
          <a:xfrm>
            <a:off x="9665537" y="278910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2" name="직선 연결선 61"/>
          <p:cNvCxnSpPr>
            <a:stCxn id="60" idx="2"/>
            <a:endCxn id="61" idx="0"/>
          </p:cNvCxnSpPr>
          <p:nvPr/>
        </p:nvCxnSpPr>
        <p:spPr>
          <a:xfrm>
            <a:off x="9742906" y="2453118"/>
            <a:ext cx="0" cy="3359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7715621" y="3321581"/>
            <a:ext cx="1133104" cy="429278"/>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乙 개량발명</a:t>
            </a:r>
            <a:endParaRPr lang="en-US" altLang="ko-KR" sz="1200" dirty="0"/>
          </a:p>
          <a:p>
            <a:pPr algn="ctr"/>
            <a:r>
              <a:rPr lang="en-US" altLang="ko-KR" sz="1100" dirty="0"/>
              <a:t>(</a:t>
            </a:r>
            <a:r>
              <a:rPr lang="ko-KR" altLang="en-US" sz="1100" dirty="0" err="1"/>
              <a:t>라이트</a:t>
            </a:r>
            <a:r>
              <a:rPr lang="en-US" altLang="ko-KR" sz="1100" dirty="0"/>
              <a:t>+</a:t>
            </a:r>
            <a:r>
              <a:rPr lang="ko-KR" altLang="en-US" sz="1100" dirty="0"/>
              <a:t>자전거</a:t>
            </a:r>
            <a:r>
              <a:rPr lang="en-US" altLang="ko-KR" sz="1100" dirty="0"/>
              <a:t>)</a:t>
            </a:r>
            <a:endParaRPr lang="ko-KR" altLang="en-US" sz="1100" dirty="0"/>
          </a:p>
        </p:txBody>
      </p:sp>
      <p:sp>
        <p:nvSpPr>
          <p:cNvPr id="64" name="타원 63"/>
          <p:cNvSpPr/>
          <p:nvPr/>
        </p:nvSpPr>
        <p:spPr>
          <a:xfrm>
            <a:off x="8204804" y="2789109"/>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5" name="직선 연결선 64"/>
          <p:cNvCxnSpPr>
            <a:stCxn id="63" idx="0"/>
            <a:endCxn id="64" idx="4"/>
          </p:cNvCxnSpPr>
          <p:nvPr/>
        </p:nvCxnSpPr>
        <p:spPr>
          <a:xfrm flipV="1">
            <a:off x="8282173" y="2950447"/>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8928333" y="3321581"/>
            <a:ext cx="1133104" cy="429278"/>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乙 단독출원</a:t>
            </a:r>
            <a:endParaRPr lang="en-US" altLang="ko-KR" sz="1200" dirty="0"/>
          </a:p>
          <a:p>
            <a:pPr algn="ctr"/>
            <a:r>
              <a:rPr lang="en-US" altLang="ko-KR" sz="1100" dirty="0"/>
              <a:t>(</a:t>
            </a:r>
            <a:r>
              <a:rPr lang="ko-KR" altLang="en-US" sz="1100" dirty="0" err="1"/>
              <a:t>라이트</a:t>
            </a:r>
            <a:r>
              <a:rPr lang="en-US" altLang="ko-KR" sz="1100" dirty="0"/>
              <a:t>+</a:t>
            </a:r>
            <a:r>
              <a:rPr lang="ko-KR" altLang="en-US" sz="1100" dirty="0"/>
              <a:t>자전거</a:t>
            </a:r>
            <a:r>
              <a:rPr lang="en-US" altLang="ko-KR" sz="1100" dirty="0"/>
              <a:t>)</a:t>
            </a:r>
            <a:endParaRPr lang="ko-KR" altLang="en-US" sz="1100" dirty="0"/>
          </a:p>
        </p:txBody>
      </p:sp>
      <p:sp>
        <p:nvSpPr>
          <p:cNvPr id="73" name="타원 72"/>
          <p:cNvSpPr/>
          <p:nvPr/>
        </p:nvSpPr>
        <p:spPr>
          <a:xfrm>
            <a:off x="9417516" y="2789109"/>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4" name="직선 연결선 73"/>
          <p:cNvCxnSpPr>
            <a:stCxn id="72" idx="0"/>
            <a:endCxn id="73" idx="4"/>
          </p:cNvCxnSpPr>
          <p:nvPr/>
        </p:nvCxnSpPr>
        <p:spPr>
          <a:xfrm flipV="1">
            <a:off x="9494885" y="2950447"/>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10118958" y="3321581"/>
            <a:ext cx="1133104" cy="429278"/>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乙 등록</a:t>
            </a:r>
            <a:endParaRPr lang="en-US" altLang="ko-KR" sz="1200" dirty="0"/>
          </a:p>
          <a:p>
            <a:pPr algn="ctr"/>
            <a:r>
              <a:rPr lang="en-US" altLang="ko-KR" sz="1100" dirty="0"/>
              <a:t>(</a:t>
            </a:r>
            <a:r>
              <a:rPr lang="ko-KR" altLang="en-US" sz="1100" dirty="0" err="1"/>
              <a:t>라이트</a:t>
            </a:r>
            <a:r>
              <a:rPr lang="en-US" altLang="ko-KR" sz="1100" dirty="0"/>
              <a:t>+</a:t>
            </a:r>
            <a:r>
              <a:rPr lang="ko-KR" altLang="en-US" sz="1100" dirty="0"/>
              <a:t>자전거</a:t>
            </a:r>
            <a:r>
              <a:rPr lang="en-US" altLang="ko-KR" sz="1100" dirty="0"/>
              <a:t>)</a:t>
            </a:r>
            <a:endParaRPr lang="ko-KR" altLang="en-US" sz="1100" dirty="0"/>
          </a:p>
        </p:txBody>
      </p:sp>
      <p:sp>
        <p:nvSpPr>
          <p:cNvPr id="76" name="타원 75"/>
          <p:cNvSpPr/>
          <p:nvPr/>
        </p:nvSpPr>
        <p:spPr>
          <a:xfrm>
            <a:off x="10608141" y="2789109"/>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7" name="직선 연결선 76"/>
          <p:cNvCxnSpPr>
            <a:stCxn id="75" idx="0"/>
            <a:endCxn id="76" idx="4"/>
          </p:cNvCxnSpPr>
          <p:nvPr/>
        </p:nvCxnSpPr>
        <p:spPr>
          <a:xfrm flipV="1">
            <a:off x="10685510" y="2950447"/>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TextBox 77"/>
          <p:cNvSpPr txBox="1"/>
          <p:nvPr/>
        </p:nvSpPr>
        <p:spPr>
          <a:xfrm>
            <a:off x="9176354" y="3844434"/>
            <a:ext cx="2837844" cy="244516"/>
          </a:xfrm>
          <a:prstGeom prst="rect">
            <a:avLst/>
          </a:prstGeom>
          <a:solidFill>
            <a:schemeClr val="accent4"/>
          </a:solidFill>
          <a:ln>
            <a:solidFill>
              <a:schemeClr val="bg1">
                <a:lumMod val="50000"/>
              </a:schemeClr>
            </a:solidFill>
          </a:ln>
        </p:spPr>
        <p:txBody>
          <a:bodyPr wrap="square" rtlCol="0" anchor="ctr">
            <a:noAutofit/>
          </a:bodyPr>
          <a:lstStyle/>
          <a:p>
            <a:pPr algn="ctr"/>
            <a:r>
              <a:rPr lang="ko-KR" altLang="en-US" sz="1100" dirty="0"/>
              <a:t>乙은 甲의 </a:t>
            </a:r>
            <a:r>
              <a:rPr lang="ko-KR" altLang="en-US" sz="1100" dirty="0" err="1"/>
              <a:t>동의없이</a:t>
            </a:r>
            <a:r>
              <a:rPr lang="ko-KR" altLang="en-US" sz="1100" dirty="0"/>
              <a:t> </a:t>
            </a:r>
            <a:r>
              <a:rPr lang="ko-KR" altLang="en-US" sz="1100" dirty="0" err="1"/>
              <a:t>라이트</a:t>
            </a:r>
            <a:r>
              <a:rPr lang="en-US" altLang="ko-KR" sz="1100" dirty="0"/>
              <a:t>+</a:t>
            </a:r>
            <a:r>
              <a:rPr lang="ko-KR" altLang="en-US" sz="1100" dirty="0"/>
              <a:t>자전거 실시가능</a:t>
            </a:r>
          </a:p>
        </p:txBody>
      </p:sp>
      <p:sp>
        <p:nvSpPr>
          <p:cNvPr id="79" name="타원 78"/>
          <p:cNvSpPr/>
          <p:nvPr/>
        </p:nvSpPr>
        <p:spPr>
          <a:xfrm>
            <a:off x="11527489" y="2789109"/>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0" name="직선 연결선 79"/>
          <p:cNvCxnSpPr>
            <a:endCxn id="79" idx="4"/>
          </p:cNvCxnSpPr>
          <p:nvPr/>
        </p:nvCxnSpPr>
        <p:spPr>
          <a:xfrm flipV="1">
            <a:off x="11604858" y="2950447"/>
            <a:ext cx="0" cy="87524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4" name="Line 5"/>
          <p:cNvSpPr>
            <a:spLocks noChangeShapeType="1"/>
          </p:cNvSpPr>
          <p:nvPr/>
        </p:nvSpPr>
        <p:spPr bwMode="auto">
          <a:xfrm>
            <a:off x="6289672" y="5334937"/>
            <a:ext cx="5724526"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85" name="TextBox 84"/>
          <p:cNvSpPr txBox="1"/>
          <p:nvPr/>
        </p:nvSpPr>
        <p:spPr>
          <a:xfrm>
            <a:off x="6210671" y="4488999"/>
            <a:ext cx="1133104" cy="429278"/>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甲</a:t>
            </a:r>
            <a:r>
              <a:rPr lang="en-US" altLang="ko-KR" sz="1200" dirty="0"/>
              <a:t> </a:t>
            </a:r>
            <a:r>
              <a:rPr lang="ko-KR" altLang="en-US" sz="1200" dirty="0"/>
              <a:t>단독발명</a:t>
            </a:r>
            <a:endParaRPr lang="en-US" altLang="ko-KR" sz="1200" dirty="0"/>
          </a:p>
          <a:p>
            <a:pPr algn="ctr"/>
            <a:r>
              <a:rPr lang="en-US" altLang="ko-KR" sz="1100" dirty="0"/>
              <a:t>(</a:t>
            </a:r>
            <a:r>
              <a:rPr lang="ko-KR" altLang="en-US" sz="1100" dirty="0"/>
              <a:t>자전거</a:t>
            </a:r>
            <a:r>
              <a:rPr lang="en-US" altLang="ko-KR" sz="1100" dirty="0"/>
              <a:t>)</a:t>
            </a:r>
            <a:endParaRPr lang="ko-KR" altLang="en-US" sz="1100" dirty="0"/>
          </a:p>
        </p:txBody>
      </p:sp>
      <p:sp>
        <p:nvSpPr>
          <p:cNvPr id="86" name="타원 85"/>
          <p:cNvSpPr/>
          <p:nvPr/>
        </p:nvSpPr>
        <p:spPr>
          <a:xfrm>
            <a:off x="6699854" y="525426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7" name="직선 연결선 86"/>
          <p:cNvCxnSpPr>
            <a:stCxn id="85" idx="2"/>
            <a:endCxn id="86" idx="0"/>
          </p:cNvCxnSpPr>
          <p:nvPr/>
        </p:nvCxnSpPr>
        <p:spPr>
          <a:xfrm>
            <a:off x="6777223" y="4918277"/>
            <a:ext cx="0" cy="3359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8" name="TextBox 87"/>
          <p:cNvSpPr txBox="1"/>
          <p:nvPr/>
        </p:nvSpPr>
        <p:spPr>
          <a:xfrm>
            <a:off x="7429871" y="4488999"/>
            <a:ext cx="1133104" cy="429278"/>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甲 단독출원</a:t>
            </a:r>
            <a:endParaRPr lang="en-US" altLang="ko-KR" sz="1200" dirty="0"/>
          </a:p>
          <a:p>
            <a:pPr algn="ctr"/>
            <a:r>
              <a:rPr lang="en-US" altLang="ko-KR" sz="1100" dirty="0"/>
              <a:t>(</a:t>
            </a:r>
            <a:r>
              <a:rPr lang="ko-KR" altLang="en-US" sz="1100" dirty="0"/>
              <a:t>자전거</a:t>
            </a:r>
            <a:r>
              <a:rPr lang="en-US" altLang="ko-KR" sz="1100" dirty="0"/>
              <a:t>)</a:t>
            </a:r>
            <a:endParaRPr lang="ko-KR" altLang="en-US" sz="1100" dirty="0"/>
          </a:p>
        </p:txBody>
      </p:sp>
      <p:sp>
        <p:nvSpPr>
          <p:cNvPr id="89" name="타원 88"/>
          <p:cNvSpPr/>
          <p:nvPr/>
        </p:nvSpPr>
        <p:spPr>
          <a:xfrm>
            <a:off x="7919054" y="525426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0" name="직선 연결선 89"/>
          <p:cNvCxnSpPr>
            <a:stCxn id="88" idx="2"/>
            <a:endCxn id="89" idx="0"/>
          </p:cNvCxnSpPr>
          <p:nvPr/>
        </p:nvCxnSpPr>
        <p:spPr>
          <a:xfrm>
            <a:off x="7996423" y="4918277"/>
            <a:ext cx="0" cy="3359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1" name="TextBox 90"/>
          <p:cNvSpPr txBox="1"/>
          <p:nvPr/>
        </p:nvSpPr>
        <p:spPr>
          <a:xfrm>
            <a:off x="9176354" y="4488999"/>
            <a:ext cx="1133104" cy="429278"/>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甲 등록</a:t>
            </a:r>
            <a:endParaRPr lang="en-US" altLang="ko-KR" sz="1200" dirty="0"/>
          </a:p>
          <a:p>
            <a:pPr algn="ctr"/>
            <a:r>
              <a:rPr lang="en-US" altLang="ko-KR" sz="1100" dirty="0"/>
              <a:t>(</a:t>
            </a:r>
            <a:r>
              <a:rPr lang="ko-KR" altLang="en-US" sz="1100" dirty="0"/>
              <a:t>자전거</a:t>
            </a:r>
            <a:r>
              <a:rPr lang="en-US" altLang="ko-KR" sz="1100" dirty="0"/>
              <a:t>)</a:t>
            </a:r>
            <a:endParaRPr lang="ko-KR" altLang="en-US" sz="1100" dirty="0"/>
          </a:p>
        </p:txBody>
      </p:sp>
      <p:sp>
        <p:nvSpPr>
          <p:cNvPr id="92" name="타원 91"/>
          <p:cNvSpPr/>
          <p:nvPr/>
        </p:nvSpPr>
        <p:spPr>
          <a:xfrm>
            <a:off x="9665537" y="525426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3" name="직선 연결선 92"/>
          <p:cNvCxnSpPr>
            <a:stCxn id="91" idx="2"/>
            <a:endCxn id="92" idx="0"/>
          </p:cNvCxnSpPr>
          <p:nvPr/>
        </p:nvCxnSpPr>
        <p:spPr>
          <a:xfrm>
            <a:off x="9742906" y="4918277"/>
            <a:ext cx="0" cy="33599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4" name="TextBox 93"/>
          <p:cNvSpPr txBox="1"/>
          <p:nvPr/>
        </p:nvSpPr>
        <p:spPr>
          <a:xfrm>
            <a:off x="7715621" y="5786740"/>
            <a:ext cx="1133104" cy="429278"/>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200" dirty="0"/>
              <a:t>甲</a:t>
            </a:r>
            <a:r>
              <a:rPr lang="en-US" altLang="ko-KR" sz="1200" dirty="0"/>
              <a:t>, </a:t>
            </a:r>
            <a:r>
              <a:rPr lang="ko-KR" altLang="en-US" sz="1200" dirty="0"/>
              <a:t>乙 개량발명</a:t>
            </a:r>
            <a:endParaRPr lang="en-US" altLang="ko-KR" sz="1200" dirty="0"/>
          </a:p>
          <a:p>
            <a:pPr algn="ctr"/>
            <a:r>
              <a:rPr lang="en-US" altLang="ko-KR" sz="1100" dirty="0"/>
              <a:t>(</a:t>
            </a:r>
            <a:r>
              <a:rPr lang="ko-KR" altLang="en-US" sz="1100" dirty="0" err="1"/>
              <a:t>라이트</a:t>
            </a:r>
            <a:r>
              <a:rPr lang="en-US" altLang="ko-KR" sz="1100" dirty="0"/>
              <a:t>+</a:t>
            </a:r>
            <a:r>
              <a:rPr lang="ko-KR" altLang="en-US" sz="1100" dirty="0"/>
              <a:t>자전거</a:t>
            </a:r>
            <a:r>
              <a:rPr lang="en-US" altLang="ko-KR" sz="1100" dirty="0"/>
              <a:t>)</a:t>
            </a:r>
            <a:endParaRPr lang="ko-KR" altLang="en-US" sz="1100" dirty="0"/>
          </a:p>
        </p:txBody>
      </p:sp>
      <p:sp>
        <p:nvSpPr>
          <p:cNvPr id="95" name="타원 94"/>
          <p:cNvSpPr/>
          <p:nvPr/>
        </p:nvSpPr>
        <p:spPr>
          <a:xfrm>
            <a:off x="8204804" y="525426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6" name="직선 연결선 95"/>
          <p:cNvCxnSpPr>
            <a:stCxn id="94" idx="0"/>
            <a:endCxn id="95" idx="4"/>
          </p:cNvCxnSpPr>
          <p:nvPr/>
        </p:nvCxnSpPr>
        <p:spPr>
          <a:xfrm flipV="1">
            <a:off x="8282173" y="5415606"/>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TextBox 96"/>
          <p:cNvSpPr txBox="1"/>
          <p:nvPr/>
        </p:nvSpPr>
        <p:spPr>
          <a:xfrm>
            <a:off x="8928333" y="5786740"/>
            <a:ext cx="1133104" cy="429278"/>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200" dirty="0"/>
              <a:t>甲</a:t>
            </a:r>
            <a:r>
              <a:rPr lang="en-US" altLang="ko-KR" sz="1200" dirty="0"/>
              <a:t>, </a:t>
            </a:r>
            <a:r>
              <a:rPr lang="ko-KR" altLang="en-US" sz="1200" dirty="0"/>
              <a:t>乙 공동출원</a:t>
            </a:r>
            <a:endParaRPr lang="en-US" altLang="ko-KR" sz="1200" dirty="0"/>
          </a:p>
          <a:p>
            <a:pPr algn="ctr"/>
            <a:r>
              <a:rPr lang="en-US" altLang="ko-KR" sz="1100" dirty="0"/>
              <a:t>(</a:t>
            </a:r>
            <a:r>
              <a:rPr lang="ko-KR" altLang="en-US" sz="1100" dirty="0" err="1"/>
              <a:t>라이트</a:t>
            </a:r>
            <a:r>
              <a:rPr lang="en-US" altLang="ko-KR" sz="1100" dirty="0"/>
              <a:t>+</a:t>
            </a:r>
            <a:r>
              <a:rPr lang="ko-KR" altLang="en-US" sz="1100" dirty="0"/>
              <a:t>자전거</a:t>
            </a:r>
            <a:r>
              <a:rPr lang="en-US" altLang="ko-KR" sz="1100" dirty="0"/>
              <a:t>)</a:t>
            </a:r>
            <a:endParaRPr lang="ko-KR" altLang="en-US" sz="1100" dirty="0"/>
          </a:p>
        </p:txBody>
      </p:sp>
      <p:sp>
        <p:nvSpPr>
          <p:cNvPr id="98" name="타원 97"/>
          <p:cNvSpPr/>
          <p:nvPr/>
        </p:nvSpPr>
        <p:spPr>
          <a:xfrm>
            <a:off x="9417516" y="525426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9" name="직선 연결선 98"/>
          <p:cNvCxnSpPr>
            <a:stCxn id="97" idx="0"/>
            <a:endCxn id="98" idx="4"/>
          </p:cNvCxnSpPr>
          <p:nvPr/>
        </p:nvCxnSpPr>
        <p:spPr>
          <a:xfrm flipV="1">
            <a:off x="9494885" y="5415606"/>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0" name="TextBox 99"/>
          <p:cNvSpPr txBox="1"/>
          <p:nvPr/>
        </p:nvSpPr>
        <p:spPr>
          <a:xfrm>
            <a:off x="10118958" y="5786740"/>
            <a:ext cx="1133104" cy="429278"/>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200" dirty="0"/>
              <a:t>甲</a:t>
            </a:r>
            <a:r>
              <a:rPr lang="en-US" altLang="ko-KR" sz="1200" dirty="0"/>
              <a:t>, </a:t>
            </a:r>
            <a:r>
              <a:rPr lang="ko-KR" altLang="en-US" sz="1200" dirty="0"/>
              <a:t>乙 등록</a:t>
            </a:r>
            <a:endParaRPr lang="en-US" altLang="ko-KR" sz="1200" dirty="0"/>
          </a:p>
          <a:p>
            <a:pPr algn="ctr"/>
            <a:r>
              <a:rPr lang="en-US" altLang="ko-KR" sz="1100" dirty="0"/>
              <a:t>(</a:t>
            </a:r>
            <a:r>
              <a:rPr lang="ko-KR" altLang="en-US" sz="1100" dirty="0" err="1"/>
              <a:t>라이트</a:t>
            </a:r>
            <a:r>
              <a:rPr lang="en-US" altLang="ko-KR" sz="1100" dirty="0"/>
              <a:t>+</a:t>
            </a:r>
            <a:r>
              <a:rPr lang="ko-KR" altLang="en-US" sz="1100" dirty="0"/>
              <a:t>자전거</a:t>
            </a:r>
            <a:r>
              <a:rPr lang="en-US" altLang="ko-KR" sz="1100" dirty="0"/>
              <a:t>)</a:t>
            </a:r>
            <a:endParaRPr lang="ko-KR" altLang="en-US" sz="1100" dirty="0"/>
          </a:p>
        </p:txBody>
      </p:sp>
      <p:sp>
        <p:nvSpPr>
          <p:cNvPr id="101" name="타원 100"/>
          <p:cNvSpPr/>
          <p:nvPr/>
        </p:nvSpPr>
        <p:spPr>
          <a:xfrm>
            <a:off x="10608141" y="525426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2" name="직선 연결선 101"/>
          <p:cNvCxnSpPr>
            <a:stCxn id="100" idx="0"/>
            <a:endCxn id="101" idx="4"/>
          </p:cNvCxnSpPr>
          <p:nvPr/>
        </p:nvCxnSpPr>
        <p:spPr>
          <a:xfrm flipV="1">
            <a:off x="10685510" y="5415606"/>
            <a:ext cx="0" cy="3711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TextBox 102"/>
          <p:cNvSpPr txBox="1"/>
          <p:nvPr/>
        </p:nvSpPr>
        <p:spPr>
          <a:xfrm>
            <a:off x="9176354" y="6309593"/>
            <a:ext cx="2837844" cy="244516"/>
          </a:xfrm>
          <a:prstGeom prst="rect">
            <a:avLst/>
          </a:prstGeom>
          <a:solidFill>
            <a:schemeClr val="accent2"/>
          </a:solidFill>
          <a:ln>
            <a:solidFill>
              <a:schemeClr val="bg1">
                <a:lumMod val="50000"/>
              </a:schemeClr>
            </a:solidFill>
          </a:ln>
        </p:spPr>
        <p:txBody>
          <a:bodyPr wrap="square" rtlCol="0" anchor="ctr">
            <a:noAutofit/>
          </a:bodyPr>
          <a:lstStyle/>
          <a:p>
            <a:pPr algn="ctr"/>
            <a:r>
              <a:rPr lang="ko-KR" altLang="en-US" sz="1100" dirty="0"/>
              <a:t>乙은 甲의 </a:t>
            </a:r>
            <a:r>
              <a:rPr lang="ko-KR" altLang="en-US" sz="1100" dirty="0" err="1"/>
              <a:t>동의받아야</a:t>
            </a:r>
            <a:r>
              <a:rPr lang="ko-KR" altLang="en-US" sz="1100" dirty="0"/>
              <a:t> </a:t>
            </a:r>
            <a:r>
              <a:rPr lang="ko-KR" altLang="en-US" sz="1100" dirty="0" err="1"/>
              <a:t>라이트</a:t>
            </a:r>
            <a:r>
              <a:rPr lang="en-US" altLang="ko-KR" sz="1100" dirty="0"/>
              <a:t>+</a:t>
            </a:r>
            <a:r>
              <a:rPr lang="ko-KR" altLang="en-US" sz="1100" dirty="0"/>
              <a:t>자전거 실시가능</a:t>
            </a:r>
          </a:p>
        </p:txBody>
      </p:sp>
      <p:sp>
        <p:nvSpPr>
          <p:cNvPr id="104" name="타원 103"/>
          <p:cNvSpPr/>
          <p:nvPr/>
        </p:nvSpPr>
        <p:spPr>
          <a:xfrm>
            <a:off x="11527489" y="525426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5" name="직선 연결선 104"/>
          <p:cNvCxnSpPr>
            <a:endCxn id="104" idx="4"/>
          </p:cNvCxnSpPr>
          <p:nvPr/>
        </p:nvCxnSpPr>
        <p:spPr>
          <a:xfrm flipV="1">
            <a:off x="11604858" y="5415606"/>
            <a:ext cx="0" cy="87524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6" name="직선 연결선 105"/>
          <p:cNvCxnSpPr/>
          <p:nvPr/>
        </p:nvCxnSpPr>
        <p:spPr>
          <a:xfrm flipH="1">
            <a:off x="6854592" y="4293756"/>
            <a:ext cx="4251558"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362</a:t>
            </a:r>
            <a:endParaRPr lang="ko-KR" altLang="en-US"/>
          </a:p>
        </p:txBody>
      </p:sp>
    </p:spTree>
    <p:extLst>
      <p:ext uri="{BB962C8B-B14F-4D97-AF65-F5344CB8AC3E}">
        <p14:creationId xmlns:p14="http://schemas.microsoft.com/office/powerpoint/2010/main" val="556455000"/>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98</a:t>
            </a:r>
            <a:r>
              <a:rPr lang="ko-KR" altLang="en-US" dirty="0"/>
              <a:t>조</a:t>
            </a:r>
            <a:r>
              <a:rPr lang="en-US" altLang="ko-KR" dirty="0"/>
              <a:t>, </a:t>
            </a:r>
            <a:r>
              <a:rPr lang="ko-KR" altLang="en-US" dirty="0"/>
              <a:t>제</a:t>
            </a:r>
            <a:r>
              <a:rPr lang="en-US" altLang="ko-KR" dirty="0"/>
              <a:t>138</a:t>
            </a:r>
            <a:r>
              <a:rPr lang="ko-KR" altLang="en-US" dirty="0"/>
              <a:t>조</a:t>
            </a:r>
          </a:p>
        </p:txBody>
      </p:sp>
      <p:sp>
        <p:nvSpPr>
          <p:cNvPr id="5" name="텍스트 개체 틀 4"/>
          <p:cNvSpPr>
            <a:spLocks noGrp="1"/>
          </p:cNvSpPr>
          <p:nvPr>
            <p:ph type="body" sz="quarter" idx="13"/>
          </p:nvPr>
        </p:nvSpPr>
        <p:spPr/>
        <p:txBody>
          <a:bodyPr/>
          <a:lstStyle/>
          <a:p>
            <a:r>
              <a:rPr lang="ko-KR" altLang="en-US" dirty="0"/>
              <a:t>이용저촉관계의 법조문 정리</a:t>
            </a:r>
          </a:p>
        </p:txBody>
      </p:sp>
      <p:cxnSp>
        <p:nvCxnSpPr>
          <p:cNvPr id="43" name="직선 연결선 42"/>
          <p:cNvCxnSpPr/>
          <p:nvPr/>
        </p:nvCxnSpPr>
        <p:spPr>
          <a:xfrm>
            <a:off x="0" y="323918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77875" y="986046"/>
            <a:ext cx="11936323" cy="2246769"/>
          </a:xfrm>
          <a:prstGeom prst="rect">
            <a:avLst/>
          </a:prstGeom>
          <a:noFill/>
        </p:spPr>
        <p:txBody>
          <a:bodyPr wrap="square" rtlCol="0">
            <a:spAutoFit/>
          </a:bodyPr>
          <a:lstStyle/>
          <a:p>
            <a:pPr lvl="0" fontAlgn="base">
              <a:spcBef>
                <a:spcPct val="0"/>
              </a:spcBef>
              <a:spcAft>
                <a:spcPct val="0"/>
              </a:spcAft>
            </a:pPr>
            <a:r>
              <a:rPr kumimoji="1" lang="ko-KR" altLang="en-US" sz="1400" b="1" dirty="0">
                <a:solidFill>
                  <a:schemeClr val="accent1"/>
                </a:solidFill>
                <a:latin typeface="+mn-ea"/>
                <a:cs typeface="굴림" pitchFamily="50" charset="-127"/>
              </a:rPr>
              <a:t>제</a:t>
            </a:r>
            <a:r>
              <a:rPr kumimoji="1" lang="en-US" altLang="ko-KR" sz="1400" b="1" dirty="0">
                <a:solidFill>
                  <a:schemeClr val="accent1"/>
                </a:solidFill>
                <a:latin typeface="+mn-ea"/>
                <a:cs typeface="굴림" pitchFamily="50" charset="-127"/>
              </a:rPr>
              <a:t>138</a:t>
            </a:r>
            <a:r>
              <a:rPr kumimoji="1" lang="ko-KR" altLang="en-US" sz="1400" b="1" dirty="0">
                <a:solidFill>
                  <a:schemeClr val="accent1"/>
                </a:solidFill>
                <a:latin typeface="+mn-ea"/>
                <a:cs typeface="굴림" pitchFamily="50" charset="-127"/>
              </a:rPr>
              <a:t>조</a:t>
            </a:r>
            <a:r>
              <a:rPr kumimoji="1" lang="en-US" altLang="ko-KR" sz="1400" b="1" dirty="0">
                <a:solidFill>
                  <a:schemeClr val="accent1"/>
                </a:solidFill>
                <a:latin typeface="+mn-ea"/>
                <a:cs typeface="굴림" pitchFamily="50" charset="-127"/>
              </a:rPr>
              <a:t>(</a:t>
            </a:r>
            <a:r>
              <a:rPr kumimoji="1" lang="ko-KR" altLang="en-US" sz="1400" b="1" dirty="0" err="1">
                <a:solidFill>
                  <a:schemeClr val="accent1"/>
                </a:solidFill>
                <a:latin typeface="+mn-ea"/>
                <a:cs typeface="굴림" pitchFamily="50" charset="-127"/>
              </a:rPr>
              <a:t>통상실시권</a:t>
            </a:r>
            <a:r>
              <a:rPr kumimoji="1" lang="ko-KR" altLang="en-US" sz="1400" b="1" dirty="0">
                <a:solidFill>
                  <a:schemeClr val="accent1"/>
                </a:solidFill>
                <a:latin typeface="+mn-ea"/>
                <a:cs typeface="굴림" pitchFamily="50" charset="-127"/>
              </a:rPr>
              <a:t> 허락의 심판</a:t>
            </a:r>
            <a:r>
              <a:rPr kumimoji="1" lang="en-US" altLang="ko-KR" sz="1400" b="1" dirty="0">
                <a:solidFill>
                  <a:schemeClr val="accent1"/>
                </a:solidFill>
                <a:latin typeface="+mn-ea"/>
                <a:cs typeface="굴림" pitchFamily="50" charset="-127"/>
              </a:rPr>
              <a:t>) </a:t>
            </a:r>
            <a:r>
              <a:rPr kumimoji="1" lang="en-US" altLang="ko-KR" sz="1400" dirty="0">
                <a:solidFill>
                  <a:schemeClr val="tx2"/>
                </a:solidFill>
                <a:latin typeface="+mn-ea"/>
                <a:cs typeface="굴림" pitchFamily="50" charset="-127"/>
              </a:rPr>
              <a:t>① </a:t>
            </a:r>
            <a:r>
              <a:rPr kumimoji="1" lang="ko-KR" altLang="en-US" sz="1400" dirty="0" err="1">
                <a:solidFill>
                  <a:schemeClr val="tx2"/>
                </a:solidFill>
                <a:latin typeface="+mn-ea"/>
                <a:cs typeface="굴림" pitchFamily="50" charset="-127"/>
              </a:rPr>
              <a:t>특허권자</a:t>
            </a:r>
            <a:r>
              <a:rPr kumimoji="1" lang="en-US" altLang="ko-KR" sz="1400" dirty="0">
                <a:solidFill>
                  <a:schemeClr val="tx2"/>
                </a:solidFill>
                <a:latin typeface="+mn-ea"/>
                <a:cs typeface="굴림" pitchFamily="50" charset="-127"/>
              </a:rPr>
              <a:t>, </a:t>
            </a:r>
            <a:r>
              <a:rPr kumimoji="1" lang="ko-KR" altLang="en-US" sz="1400" dirty="0" err="1">
                <a:solidFill>
                  <a:schemeClr val="tx2"/>
                </a:solidFill>
                <a:latin typeface="+mn-ea"/>
                <a:cs typeface="굴림" pitchFamily="50" charset="-127"/>
              </a:rPr>
              <a:t>전용실시권자</a:t>
            </a:r>
            <a:r>
              <a:rPr kumimoji="1" lang="ko-KR" altLang="en-US" sz="1400" dirty="0">
                <a:solidFill>
                  <a:schemeClr val="tx2"/>
                </a:solidFill>
                <a:latin typeface="+mn-ea"/>
                <a:cs typeface="굴림" pitchFamily="50" charset="-127"/>
              </a:rPr>
              <a:t> 또는 </a:t>
            </a:r>
            <a:r>
              <a:rPr kumimoji="1" lang="ko-KR" altLang="en-US" sz="1400" dirty="0" err="1">
                <a:solidFill>
                  <a:schemeClr val="tx2"/>
                </a:solidFill>
                <a:latin typeface="+mn-ea"/>
                <a:cs typeface="굴림" pitchFamily="50" charset="-127"/>
              </a:rPr>
              <a:t>통상실시권자는</a:t>
            </a:r>
            <a:r>
              <a:rPr kumimoji="1" lang="ko-KR" altLang="en-US" sz="1400" dirty="0">
                <a:solidFill>
                  <a:schemeClr val="tx2"/>
                </a:solidFill>
                <a:latin typeface="+mn-ea"/>
                <a:cs typeface="굴림" pitchFamily="50" charset="-127"/>
              </a:rPr>
              <a:t> 해당 특허발명이 </a:t>
            </a:r>
            <a:r>
              <a:rPr kumimoji="1" lang="ko-KR" altLang="en-US" sz="1400" dirty="0">
                <a:solidFill>
                  <a:srgbClr val="FF0000"/>
                </a:solidFill>
                <a:latin typeface="+mn-ea"/>
                <a:cs typeface="굴림" pitchFamily="50" charset="-127"/>
              </a:rPr>
              <a:t>제</a:t>
            </a:r>
            <a:r>
              <a:rPr kumimoji="1" lang="en-US" altLang="ko-KR" sz="1400" dirty="0">
                <a:solidFill>
                  <a:srgbClr val="FF0000"/>
                </a:solidFill>
                <a:latin typeface="+mn-ea"/>
                <a:cs typeface="굴림" pitchFamily="50" charset="-127"/>
              </a:rPr>
              <a:t>98</a:t>
            </a:r>
            <a:r>
              <a:rPr kumimoji="1" lang="ko-KR" altLang="en-US" sz="1400" dirty="0">
                <a:solidFill>
                  <a:srgbClr val="FF0000"/>
                </a:solidFill>
                <a:latin typeface="+mn-ea"/>
                <a:cs typeface="굴림" pitchFamily="50" charset="-127"/>
              </a:rPr>
              <a:t>조에 해당</a:t>
            </a:r>
            <a:r>
              <a:rPr kumimoji="1" lang="ko-KR" altLang="en-US" sz="1400" dirty="0">
                <a:solidFill>
                  <a:schemeClr val="tx2"/>
                </a:solidFill>
                <a:latin typeface="+mn-ea"/>
                <a:cs typeface="굴림" pitchFamily="50" charset="-127"/>
              </a:rPr>
              <a:t>하여 실시의 허락을 받으려는 경우에 </a:t>
            </a:r>
            <a:r>
              <a:rPr kumimoji="1" lang="ko-KR" altLang="en-US" sz="1400" dirty="0">
                <a:solidFill>
                  <a:srgbClr val="FF0000"/>
                </a:solidFill>
                <a:latin typeface="+mn-ea"/>
                <a:cs typeface="굴림" pitchFamily="50" charset="-127"/>
              </a:rPr>
              <a:t>그 타인이 정당한 이유 없이 허락하지 아니하거나 그 타인의 허락을 받을 수 없을 때</a:t>
            </a:r>
            <a:r>
              <a:rPr kumimoji="1" lang="ko-KR" altLang="en-US" sz="1400" dirty="0">
                <a:solidFill>
                  <a:schemeClr val="tx2"/>
                </a:solidFill>
                <a:latin typeface="+mn-ea"/>
                <a:cs typeface="굴림" pitchFamily="50" charset="-127"/>
              </a:rPr>
              <a:t>에는 </a:t>
            </a:r>
            <a:r>
              <a:rPr kumimoji="1" lang="ko-KR" altLang="en-US" sz="1400" dirty="0">
                <a:solidFill>
                  <a:srgbClr val="FF0000"/>
                </a:solidFill>
                <a:latin typeface="+mn-ea"/>
                <a:cs typeface="굴림" pitchFamily="50" charset="-127"/>
              </a:rPr>
              <a:t>자기의 특허발명의 실시에 필요한 범위</a:t>
            </a:r>
            <a:r>
              <a:rPr kumimoji="1" lang="ko-KR" altLang="en-US" sz="1400" dirty="0">
                <a:solidFill>
                  <a:schemeClr val="tx2"/>
                </a:solidFill>
                <a:latin typeface="+mn-ea"/>
                <a:cs typeface="굴림" pitchFamily="50" charset="-127"/>
              </a:rPr>
              <a:t>에서 </a:t>
            </a:r>
            <a:r>
              <a:rPr kumimoji="1" lang="ko-KR" altLang="en-US" sz="1400" dirty="0" err="1">
                <a:solidFill>
                  <a:schemeClr val="tx2"/>
                </a:solidFill>
                <a:latin typeface="+mn-ea"/>
                <a:cs typeface="굴림" pitchFamily="50" charset="-127"/>
              </a:rPr>
              <a:t>통상실시권</a:t>
            </a:r>
            <a:r>
              <a:rPr kumimoji="1" lang="ko-KR" altLang="en-US" sz="1400" dirty="0">
                <a:solidFill>
                  <a:schemeClr val="tx2"/>
                </a:solidFill>
                <a:latin typeface="+mn-ea"/>
                <a:cs typeface="굴림" pitchFamily="50" charset="-127"/>
              </a:rPr>
              <a:t> 허락의 심판을 청구할 수 있다</a:t>
            </a:r>
            <a:r>
              <a:rPr kumimoji="1" lang="en-US" altLang="ko-KR" sz="1400" dirty="0">
                <a:solidFill>
                  <a:schemeClr val="tx2"/>
                </a:solidFill>
                <a:latin typeface="+mn-ea"/>
                <a:cs typeface="굴림" pitchFamily="50" charset="-127"/>
              </a:rPr>
              <a:t>.</a:t>
            </a:r>
          </a:p>
          <a:p>
            <a:pPr lvl="0" fontAlgn="base">
              <a:spcBef>
                <a:spcPct val="0"/>
              </a:spcBef>
              <a:spcAft>
                <a:spcPct val="0"/>
              </a:spcAft>
            </a:pPr>
            <a:r>
              <a:rPr kumimoji="1" lang="en-US" altLang="ko-KR" sz="1400" dirty="0">
                <a:solidFill>
                  <a:schemeClr val="tx2"/>
                </a:solidFill>
                <a:latin typeface="+mn-ea"/>
                <a:cs typeface="굴림" pitchFamily="50" charset="-127"/>
              </a:rPr>
              <a:t>② </a:t>
            </a:r>
            <a:r>
              <a:rPr kumimoji="1" lang="ko-KR" altLang="en-US" sz="1400" dirty="0">
                <a:solidFill>
                  <a:schemeClr val="tx2"/>
                </a:solidFill>
                <a:latin typeface="+mn-ea"/>
                <a:cs typeface="굴림" pitchFamily="50" charset="-127"/>
              </a:rPr>
              <a:t>제</a:t>
            </a:r>
            <a:r>
              <a:rPr kumimoji="1" lang="en-US" altLang="ko-KR" sz="1400" dirty="0">
                <a:solidFill>
                  <a:schemeClr val="tx2"/>
                </a:solidFill>
                <a:latin typeface="+mn-ea"/>
                <a:cs typeface="굴림" pitchFamily="50" charset="-127"/>
              </a:rPr>
              <a:t>1</a:t>
            </a:r>
            <a:r>
              <a:rPr kumimoji="1" lang="ko-KR" altLang="en-US" sz="1400" dirty="0">
                <a:solidFill>
                  <a:schemeClr val="tx2"/>
                </a:solidFill>
                <a:latin typeface="+mn-ea"/>
                <a:cs typeface="굴림" pitchFamily="50" charset="-127"/>
              </a:rPr>
              <a:t>항에 따른 청구가 있는 경우에 그 특허발명이 그 특허출원일 전에 출원된 타인의 특허발명 또는 등록실용신안과 비교하여 </a:t>
            </a:r>
            <a:r>
              <a:rPr kumimoji="1" lang="ko-KR" altLang="en-US" sz="1400" dirty="0">
                <a:solidFill>
                  <a:srgbClr val="FF0000"/>
                </a:solidFill>
                <a:latin typeface="+mn-ea"/>
                <a:cs typeface="굴림" pitchFamily="50" charset="-127"/>
              </a:rPr>
              <a:t>상당한 경제적 가치가 있는 중요한 기술적 진</a:t>
            </a:r>
            <a:r>
              <a:rPr kumimoji="1" lang="ko-KR" altLang="en-US" sz="1400" dirty="0">
                <a:solidFill>
                  <a:schemeClr val="tx2"/>
                </a:solidFill>
                <a:latin typeface="+mn-ea"/>
                <a:cs typeface="굴림" pitchFamily="50" charset="-127"/>
              </a:rPr>
              <a:t>보를 가져오는 것이 아니면 </a:t>
            </a:r>
            <a:r>
              <a:rPr kumimoji="1" lang="ko-KR" altLang="en-US" sz="1400" dirty="0" err="1">
                <a:solidFill>
                  <a:schemeClr val="tx2"/>
                </a:solidFill>
                <a:latin typeface="+mn-ea"/>
                <a:cs typeface="굴림" pitchFamily="50" charset="-127"/>
              </a:rPr>
              <a:t>통상실시권을</a:t>
            </a:r>
            <a:r>
              <a:rPr kumimoji="1" lang="ko-KR" altLang="en-US" sz="1400" dirty="0">
                <a:solidFill>
                  <a:schemeClr val="tx2"/>
                </a:solidFill>
                <a:latin typeface="+mn-ea"/>
                <a:cs typeface="굴림" pitchFamily="50" charset="-127"/>
              </a:rPr>
              <a:t> 허락하여서는 아니 된다</a:t>
            </a:r>
            <a:r>
              <a:rPr kumimoji="1" lang="en-US" altLang="ko-KR" sz="1400" dirty="0">
                <a:solidFill>
                  <a:schemeClr val="tx2"/>
                </a:solidFill>
                <a:latin typeface="+mn-ea"/>
                <a:cs typeface="굴림" pitchFamily="50" charset="-127"/>
              </a:rPr>
              <a:t>.</a:t>
            </a:r>
          </a:p>
          <a:p>
            <a:pPr lvl="0" fontAlgn="base">
              <a:spcBef>
                <a:spcPct val="0"/>
              </a:spcBef>
              <a:spcAft>
                <a:spcPct val="0"/>
              </a:spcAft>
            </a:pPr>
            <a:r>
              <a:rPr kumimoji="1" lang="en-US" altLang="ko-KR" sz="1400" dirty="0">
                <a:solidFill>
                  <a:schemeClr val="tx2"/>
                </a:solidFill>
                <a:latin typeface="+mn-ea"/>
                <a:cs typeface="굴림" pitchFamily="50" charset="-127"/>
              </a:rPr>
              <a:t>③ </a:t>
            </a:r>
            <a:r>
              <a:rPr kumimoji="1" lang="ko-KR" altLang="en-US" sz="1400" dirty="0">
                <a:solidFill>
                  <a:srgbClr val="FF0000"/>
                </a:solidFill>
                <a:latin typeface="+mn-ea"/>
                <a:cs typeface="굴림" pitchFamily="50" charset="-127"/>
              </a:rPr>
              <a:t>제</a:t>
            </a:r>
            <a:r>
              <a:rPr kumimoji="1" lang="en-US" altLang="ko-KR" sz="1400" dirty="0">
                <a:solidFill>
                  <a:srgbClr val="FF0000"/>
                </a:solidFill>
                <a:latin typeface="+mn-ea"/>
                <a:cs typeface="굴림" pitchFamily="50" charset="-127"/>
              </a:rPr>
              <a:t>1</a:t>
            </a:r>
            <a:r>
              <a:rPr kumimoji="1" lang="ko-KR" altLang="en-US" sz="1400" dirty="0">
                <a:solidFill>
                  <a:srgbClr val="FF0000"/>
                </a:solidFill>
                <a:latin typeface="+mn-ea"/>
                <a:cs typeface="굴림" pitchFamily="50" charset="-127"/>
              </a:rPr>
              <a:t>항에 따른 심판에 따라 </a:t>
            </a:r>
            <a:r>
              <a:rPr kumimoji="1" lang="ko-KR" altLang="en-US" sz="1400" dirty="0" err="1">
                <a:solidFill>
                  <a:srgbClr val="FF0000"/>
                </a:solidFill>
                <a:latin typeface="+mn-ea"/>
                <a:cs typeface="굴림" pitchFamily="50" charset="-127"/>
              </a:rPr>
              <a:t>통상실시권을</a:t>
            </a:r>
            <a:r>
              <a:rPr kumimoji="1" lang="ko-KR" altLang="en-US" sz="1400" dirty="0">
                <a:solidFill>
                  <a:srgbClr val="FF0000"/>
                </a:solidFill>
                <a:latin typeface="+mn-ea"/>
                <a:cs typeface="굴림" pitchFamily="50" charset="-127"/>
              </a:rPr>
              <a:t> 허락한 자</a:t>
            </a:r>
            <a:r>
              <a:rPr kumimoji="1" lang="ko-KR" altLang="en-US" sz="1400" dirty="0">
                <a:solidFill>
                  <a:schemeClr val="tx2"/>
                </a:solidFill>
                <a:latin typeface="+mn-ea"/>
                <a:cs typeface="굴림" pitchFamily="50" charset="-127"/>
              </a:rPr>
              <a:t>가 그 </a:t>
            </a:r>
            <a:r>
              <a:rPr kumimoji="1" lang="ko-KR" altLang="en-US" sz="1400" dirty="0" err="1">
                <a:solidFill>
                  <a:schemeClr val="tx2"/>
                </a:solidFill>
                <a:latin typeface="+mn-ea"/>
                <a:cs typeface="굴림" pitchFamily="50" charset="-127"/>
              </a:rPr>
              <a:t>통상실시권을</a:t>
            </a:r>
            <a:r>
              <a:rPr kumimoji="1" lang="ko-KR" altLang="en-US" sz="1400" dirty="0">
                <a:solidFill>
                  <a:schemeClr val="tx2"/>
                </a:solidFill>
                <a:latin typeface="+mn-ea"/>
                <a:cs typeface="굴림" pitchFamily="50" charset="-127"/>
              </a:rPr>
              <a:t> </a:t>
            </a:r>
            <a:r>
              <a:rPr kumimoji="1" lang="ko-KR" altLang="en-US" sz="1400" dirty="0" err="1">
                <a:solidFill>
                  <a:schemeClr val="tx2"/>
                </a:solidFill>
                <a:latin typeface="+mn-ea"/>
                <a:cs typeface="굴림" pitchFamily="50" charset="-127"/>
              </a:rPr>
              <a:t>허락받은</a:t>
            </a:r>
            <a:r>
              <a:rPr kumimoji="1" lang="ko-KR" altLang="en-US" sz="1400" dirty="0">
                <a:solidFill>
                  <a:schemeClr val="tx2"/>
                </a:solidFill>
                <a:latin typeface="+mn-ea"/>
                <a:cs typeface="굴림" pitchFamily="50" charset="-127"/>
              </a:rPr>
              <a:t> 자의 특허발명을 실시할 필요가 있는 경우 </a:t>
            </a:r>
            <a:r>
              <a:rPr kumimoji="1" lang="ko-KR" altLang="en-US" sz="1400" dirty="0">
                <a:solidFill>
                  <a:srgbClr val="FF0000"/>
                </a:solidFill>
                <a:latin typeface="+mn-ea"/>
                <a:cs typeface="굴림" pitchFamily="50" charset="-127"/>
              </a:rPr>
              <a:t>그 </a:t>
            </a:r>
            <a:r>
              <a:rPr kumimoji="1" lang="ko-KR" altLang="en-US" sz="1400" dirty="0" err="1">
                <a:solidFill>
                  <a:srgbClr val="FF0000"/>
                </a:solidFill>
                <a:latin typeface="+mn-ea"/>
                <a:cs typeface="굴림" pitchFamily="50" charset="-127"/>
              </a:rPr>
              <a:t>통상실시권을</a:t>
            </a:r>
            <a:r>
              <a:rPr kumimoji="1" lang="ko-KR" altLang="en-US" sz="1400" dirty="0">
                <a:solidFill>
                  <a:srgbClr val="FF0000"/>
                </a:solidFill>
                <a:latin typeface="+mn-ea"/>
                <a:cs typeface="굴림" pitchFamily="50" charset="-127"/>
              </a:rPr>
              <a:t> </a:t>
            </a:r>
            <a:r>
              <a:rPr kumimoji="1" lang="ko-KR" altLang="en-US" sz="1400" dirty="0" err="1">
                <a:solidFill>
                  <a:srgbClr val="FF0000"/>
                </a:solidFill>
                <a:latin typeface="+mn-ea"/>
                <a:cs typeface="굴림" pitchFamily="50" charset="-127"/>
              </a:rPr>
              <a:t>허락받은</a:t>
            </a:r>
            <a:r>
              <a:rPr kumimoji="1" lang="ko-KR" altLang="en-US" sz="1400" dirty="0">
                <a:solidFill>
                  <a:srgbClr val="FF0000"/>
                </a:solidFill>
                <a:latin typeface="+mn-ea"/>
                <a:cs typeface="굴림" pitchFamily="50" charset="-127"/>
              </a:rPr>
              <a:t> 자가 실시를 허락하지 아니하거나 실시의 허락을 받을 수 없을 때</a:t>
            </a:r>
            <a:r>
              <a:rPr kumimoji="1" lang="ko-KR" altLang="en-US" sz="1400" dirty="0">
                <a:solidFill>
                  <a:schemeClr val="tx2"/>
                </a:solidFill>
                <a:latin typeface="+mn-ea"/>
                <a:cs typeface="굴림" pitchFamily="50" charset="-127"/>
              </a:rPr>
              <a:t>에는 </a:t>
            </a:r>
            <a:r>
              <a:rPr kumimoji="1" lang="ko-KR" altLang="en-US" sz="1400" dirty="0" err="1">
                <a:solidFill>
                  <a:srgbClr val="FF0000"/>
                </a:solidFill>
                <a:latin typeface="+mn-ea"/>
                <a:cs typeface="굴림" pitchFamily="50" charset="-127"/>
              </a:rPr>
              <a:t>통상실시권을</a:t>
            </a:r>
            <a:r>
              <a:rPr kumimoji="1" lang="ko-KR" altLang="en-US" sz="1400" dirty="0">
                <a:solidFill>
                  <a:srgbClr val="FF0000"/>
                </a:solidFill>
                <a:latin typeface="+mn-ea"/>
                <a:cs typeface="굴림" pitchFamily="50" charset="-127"/>
              </a:rPr>
              <a:t> </a:t>
            </a:r>
            <a:r>
              <a:rPr kumimoji="1" lang="ko-KR" altLang="en-US" sz="1400" dirty="0" err="1">
                <a:solidFill>
                  <a:srgbClr val="FF0000"/>
                </a:solidFill>
                <a:latin typeface="+mn-ea"/>
                <a:cs typeface="굴림" pitchFamily="50" charset="-127"/>
              </a:rPr>
              <a:t>허락받아</a:t>
            </a:r>
            <a:r>
              <a:rPr kumimoji="1" lang="ko-KR" altLang="en-US" sz="1400" dirty="0">
                <a:solidFill>
                  <a:srgbClr val="FF0000"/>
                </a:solidFill>
                <a:latin typeface="+mn-ea"/>
                <a:cs typeface="굴림" pitchFamily="50" charset="-127"/>
              </a:rPr>
              <a:t> 실시하려는 특허발명의 범위</a:t>
            </a:r>
            <a:r>
              <a:rPr kumimoji="1" lang="ko-KR" altLang="en-US" sz="1400" dirty="0">
                <a:solidFill>
                  <a:schemeClr val="tx2"/>
                </a:solidFill>
                <a:latin typeface="+mn-ea"/>
                <a:cs typeface="굴림" pitchFamily="50" charset="-127"/>
              </a:rPr>
              <a:t>에서 </a:t>
            </a:r>
            <a:r>
              <a:rPr kumimoji="1" lang="ko-KR" altLang="en-US" sz="1400" dirty="0" err="1">
                <a:solidFill>
                  <a:schemeClr val="tx2"/>
                </a:solidFill>
                <a:latin typeface="+mn-ea"/>
                <a:cs typeface="굴림" pitchFamily="50" charset="-127"/>
              </a:rPr>
              <a:t>통상실시권</a:t>
            </a:r>
            <a:r>
              <a:rPr kumimoji="1" lang="ko-KR" altLang="en-US" sz="1400" dirty="0">
                <a:solidFill>
                  <a:schemeClr val="tx2"/>
                </a:solidFill>
                <a:latin typeface="+mn-ea"/>
                <a:cs typeface="굴림" pitchFamily="50" charset="-127"/>
              </a:rPr>
              <a:t> 허락의 심판을 청구할 수 있다</a:t>
            </a:r>
            <a:r>
              <a:rPr kumimoji="1" lang="en-US" altLang="ko-KR" sz="1400" dirty="0">
                <a:solidFill>
                  <a:schemeClr val="tx2"/>
                </a:solidFill>
                <a:latin typeface="+mn-ea"/>
                <a:cs typeface="굴림" pitchFamily="50" charset="-127"/>
              </a:rPr>
              <a:t>.</a:t>
            </a:r>
          </a:p>
          <a:p>
            <a:pPr lvl="0" fontAlgn="base">
              <a:spcBef>
                <a:spcPct val="0"/>
              </a:spcBef>
              <a:spcAft>
                <a:spcPct val="0"/>
              </a:spcAft>
            </a:pPr>
            <a:r>
              <a:rPr kumimoji="1" lang="en-US" altLang="ko-KR" sz="1400" dirty="0">
                <a:solidFill>
                  <a:schemeClr val="tx2"/>
                </a:solidFill>
                <a:latin typeface="+mn-ea"/>
                <a:cs typeface="굴림" pitchFamily="50" charset="-127"/>
              </a:rPr>
              <a:t>④ </a:t>
            </a:r>
            <a:r>
              <a:rPr kumimoji="1" lang="ko-KR" altLang="en-US" sz="1400" dirty="0">
                <a:solidFill>
                  <a:schemeClr val="tx2"/>
                </a:solidFill>
                <a:latin typeface="+mn-ea"/>
                <a:cs typeface="굴림" pitchFamily="50" charset="-127"/>
              </a:rPr>
              <a:t>제</a:t>
            </a:r>
            <a:r>
              <a:rPr kumimoji="1" lang="en-US" altLang="ko-KR" sz="1400" dirty="0">
                <a:solidFill>
                  <a:schemeClr val="tx2"/>
                </a:solidFill>
                <a:latin typeface="+mn-ea"/>
                <a:cs typeface="굴림" pitchFamily="50" charset="-127"/>
              </a:rPr>
              <a:t>1</a:t>
            </a:r>
            <a:r>
              <a:rPr kumimoji="1" lang="ko-KR" altLang="en-US" sz="1400" dirty="0">
                <a:solidFill>
                  <a:schemeClr val="tx2"/>
                </a:solidFill>
                <a:latin typeface="+mn-ea"/>
                <a:cs typeface="굴림" pitchFamily="50" charset="-127"/>
              </a:rPr>
              <a:t>항 및 제</a:t>
            </a:r>
            <a:r>
              <a:rPr kumimoji="1" lang="en-US" altLang="ko-KR" sz="1400" dirty="0">
                <a:solidFill>
                  <a:schemeClr val="tx2"/>
                </a:solidFill>
                <a:latin typeface="+mn-ea"/>
                <a:cs typeface="굴림" pitchFamily="50" charset="-127"/>
              </a:rPr>
              <a:t>3</a:t>
            </a:r>
            <a:r>
              <a:rPr kumimoji="1" lang="ko-KR" altLang="en-US" sz="1400" dirty="0">
                <a:solidFill>
                  <a:schemeClr val="tx2"/>
                </a:solidFill>
                <a:latin typeface="+mn-ea"/>
                <a:cs typeface="굴림" pitchFamily="50" charset="-127"/>
              </a:rPr>
              <a:t>항에 따라 </a:t>
            </a:r>
            <a:r>
              <a:rPr kumimoji="1" lang="ko-KR" altLang="en-US" sz="1400" dirty="0" err="1">
                <a:solidFill>
                  <a:schemeClr val="tx2"/>
                </a:solidFill>
                <a:latin typeface="+mn-ea"/>
                <a:cs typeface="굴림" pitchFamily="50" charset="-127"/>
              </a:rPr>
              <a:t>통상실시권을</a:t>
            </a:r>
            <a:r>
              <a:rPr kumimoji="1" lang="ko-KR" altLang="en-US" sz="1400" dirty="0">
                <a:solidFill>
                  <a:schemeClr val="tx2"/>
                </a:solidFill>
                <a:latin typeface="+mn-ea"/>
                <a:cs typeface="굴림" pitchFamily="50" charset="-127"/>
              </a:rPr>
              <a:t> </a:t>
            </a:r>
            <a:r>
              <a:rPr kumimoji="1" lang="ko-KR" altLang="en-US" sz="1400" dirty="0" err="1">
                <a:solidFill>
                  <a:schemeClr val="tx2"/>
                </a:solidFill>
                <a:latin typeface="+mn-ea"/>
                <a:cs typeface="굴림" pitchFamily="50" charset="-127"/>
              </a:rPr>
              <a:t>허락받은</a:t>
            </a:r>
            <a:r>
              <a:rPr kumimoji="1" lang="ko-KR" altLang="en-US" sz="1400" dirty="0">
                <a:solidFill>
                  <a:schemeClr val="tx2"/>
                </a:solidFill>
                <a:latin typeface="+mn-ea"/>
                <a:cs typeface="굴림" pitchFamily="50" charset="-127"/>
              </a:rPr>
              <a:t> 자는 </a:t>
            </a:r>
            <a:r>
              <a:rPr kumimoji="1" lang="ko-KR" altLang="en-US" sz="1400" dirty="0" err="1">
                <a:solidFill>
                  <a:schemeClr val="tx2"/>
                </a:solidFill>
                <a:latin typeface="+mn-ea"/>
                <a:cs typeface="굴림" pitchFamily="50" charset="-127"/>
              </a:rPr>
              <a:t>특허권자</a:t>
            </a:r>
            <a:r>
              <a:rPr kumimoji="1" lang="en-US" altLang="ko-KR" sz="1400" dirty="0">
                <a:solidFill>
                  <a:schemeClr val="tx2"/>
                </a:solidFill>
                <a:latin typeface="+mn-ea"/>
                <a:cs typeface="굴림" pitchFamily="50" charset="-127"/>
              </a:rPr>
              <a:t>, </a:t>
            </a:r>
            <a:r>
              <a:rPr kumimoji="1" lang="ko-KR" altLang="en-US" sz="1400" dirty="0" err="1">
                <a:solidFill>
                  <a:schemeClr val="tx2"/>
                </a:solidFill>
                <a:latin typeface="+mn-ea"/>
                <a:cs typeface="굴림" pitchFamily="50" charset="-127"/>
              </a:rPr>
              <a:t>실용신안권자</a:t>
            </a:r>
            <a:r>
              <a:rPr kumimoji="1" lang="en-US" altLang="ko-KR" sz="1400" dirty="0">
                <a:solidFill>
                  <a:schemeClr val="tx2"/>
                </a:solidFill>
                <a:latin typeface="+mn-ea"/>
                <a:cs typeface="굴림" pitchFamily="50" charset="-127"/>
              </a:rPr>
              <a:t>, </a:t>
            </a:r>
            <a:r>
              <a:rPr kumimoji="1" lang="ko-KR" altLang="en-US" sz="1400" dirty="0" err="1">
                <a:solidFill>
                  <a:schemeClr val="tx2"/>
                </a:solidFill>
                <a:latin typeface="+mn-ea"/>
                <a:cs typeface="굴림" pitchFamily="50" charset="-127"/>
              </a:rPr>
              <a:t>디자인권자</a:t>
            </a:r>
            <a:r>
              <a:rPr kumimoji="1" lang="ko-KR" altLang="en-US" sz="1400" dirty="0">
                <a:solidFill>
                  <a:schemeClr val="tx2"/>
                </a:solidFill>
                <a:latin typeface="+mn-ea"/>
                <a:cs typeface="굴림" pitchFamily="50" charset="-127"/>
              </a:rPr>
              <a:t> 또는 그 </a:t>
            </a:r>
            <a:r>
              <a:rPr kumimoji="1" lang="ko-KR" altLang="en-US" sz="1400" dirty="0" err="1">
                <a:solidFill>
                  <a:schemeClr val="tx2"/>
                </a:solidFill>
                <a:latin typeface="+mn-ea"/>
                <a:cs typeface="굴림" pitchFamily="50" charset="-127"/>
              </a:rPr>
              <a:t>전용실시권자에게</a:t>
            </a:r>
            <a:r>
              <a:rPr kumimoji="1" lang="ko-KR" altLang="en-US" sz="1400" dirty="0">
                <a:solidFill>
                  <a:schemeClr val="tx2"/>
                </a:solidFill>
                <a:latin typeface="+mn-ea"/>
                <a:cs typeface="굴림" pitchFamily="50" charset="-127"/>
              </a:rPr>
              <a:t> 대가를 지급하여야 한다</a:t>
            </a:r>
            <a:r>
              <a:rPr kumimoji="1" lang="en-US" altLang="ko-KR" sz="1400" dirty="0">
                <a:solidFill>
                  <a:schemeClr val="tx2"/>
                </a:solidFill>
                <a:latin typeface="+mn-ea"/>
                <a:cs typeface="굴림" pitchFamily="50" charset="-127"/>
              </a:rPr>
              <a:t>. </a:t>
            </a:r>
            <a:r>
              <a:rPr kumimoji="1" lang="ko-KR" altLang="en-US" sz="1400" dirty="0">
                <a:solidFill>
                  <a:schemeClr val="tx2"/>
                </a:solidFill>
                <a:latin typeface="+mn-ea"/>
                <a:cs typeface="굴림" pitchFamily="50" charset="-127"/>
              </a:rPr>
              <a:t>다만</a:t>
            </a:r>
            <a:r>
              <a:rPr kumimoji="1" lang="en-US" altLang="ko-KR" sz="1400" dirty="0">
                <a:solidFill>
                  <a:schemeClr val="tx2"/>
                </a:solidFill>
                <a:latin typeface="+mn-ea"/>
                <a:cs typeface="굴림" pitchFamily="50" charset="-127"/>
              </a:rPr>
              <a:t>, </a:t>
            </a:r>
            <a:r>
              <a:rPr kumimoji="1" lang="ko-KR" altLang="en-US" sz="1400" dirty="0">
                <a:solidFill>
                  <a:schemeClr val="tx2"/>
                </a:solidFill>
                <a:latin typeface="+mn-ea"/>
                <a:cs typeface="굴림" pitchFamily="50" charset="-127"/>
              </a:rPr>
              <a:t>자기가 책임질 수 없는 사유로 지급할 수 없는 경우에는 그 대가를 공탁하여야 한다</a:t>
            </a:r>
            <a:r>
              <a:rPr kumimoji="1" lang="en-US" altLang="ko-KR" sz="1400" dirty="0">
                <a:solidFill>
                  <a:schemeClr val="tx2"/>
                </a:solidFill>
                <a:latin typeface="+mn-ea"/>
                <a:cs typeface="굴림" pitchFamily="50" charset="-127"/>
              </a:rPr>
              <a:t>.</a:t>
            </a:r>
          </a:p>
          <a:p>
            <a:pPr lvl="0" fontAlgn="base">
              <a:spcBef>
                <a:spcPct val="0"/>
              </a:spcBef>
              <a:spcAft>
                <a:spcPct val="0"/>
              </a:spcAft>
            </a:pPr>
            <a:r>
              <a:rPr kumimoji="1" lang="en-US" altLang="ko-KR" sz="1400" dirty="0">
                <a:solidFill>
                  <a:schemeClr val="tx2"/>
                </a:solidFill>
                <a:latin typeface="+mn-ea"/>
                <a:cs typeface="굴림" pitchFamily="50" charset="-127"/>
              </a:rPr>
              <a:t>⑤ </a:t>
            </a:r>
            <a:r>
              <a:rPr kumimoji="1" lang="ko-KR" altLang="en-US" sz="1400" dirty="0">
                <a:solidFill>
                  <a:schemeClr val="tx2"/>
                </a:solidFill>
                <a:latin typeface="+mn-ea"/>
                <a:cs typeface="굴림" pitchFamily="50" charset="-127"/>
              </a:rPr>
              <a:t>제</a:t>
            </a:r>
            <a:r>
              <a:rPr kumimoji="1" lang="en-US" altLang="ko-KR" sz="1400" dirty="0">
                <a:solidFill>
                  <a:schemeClr val="tx2"/>
                </a:solidFill>
                <a:latin typeface="+mn-ea"/>
                <a:cs typeface="굴림" pitchFamily="50" charset="-127"/>
              </a:rPr>
              <a:t>4</a:t>
            </a:r>
            <a:r>
              <a:rPr kumimoji="1" lang="ko-KR" altLang="en-US" sz="1400" dirty="0">
                <a:solidFill>
                  <a:schemeClr val="tx2"/>
                </a:solidFill>
                <a:latin typeface="+mn-ea"/>
                <a:cs typeface="굴림" pitchFamily="50" charset="-127"/>
              </a:rPr>
              <a:t>항에 따른 </a:t>
            </a:r>
            <a:r>
              <a:rPr kumimoji="1" lang="ko-KR" altLang="en-US" sz="1400" dirty="0" err="1">
                <a:solidFill>
                  <a:schemeClr val="tx2"/>
                </a:solidFill>
                <a:latin typeface="+mn-ea"/>
                <a:cs typeface="굴림" pitchFamily="50" charset="-127"/>
              </a:rPr>
              <a:t>통상실시권자는</a:t>
            </a:r>
            <a:r>
              <a:rPr kumimoji="1" lang="ko-KR" altLang="en-US" sz="1400" dirty="0">
                <a:solidFill>
                  <a:schemeClr val="tx2"/>
                </a:solidFill>
                <a:latin typeface="+mn-ea"/>
                <a:cs typeface="굴림" pitchFamily="50" charset="-127"/>
              </a:rPr>
              <a:t> 그 대가를 지급하지 아니하거나 공탁을 하지 아니하면 그 특허발명</a:t>
            </a:r>
            <a:r>
              <a:rPr kumimoji="1" lang="en-US" altLang="ko-KR" sz="1400" dirty="0">
                <a:solidFill>
                  <a:schemeClr val="tx2"/>
                </a:solidFill>
                <a:latin typeface="+mn-ea"/>
                <a:cs typeface="굴림" pitchFamily="50" charset="-127"/>
              </a:rPr>
              <a:t>, </a:t>
            </a:r>
            <a:r>
              <a:rPr kumimoji="1" lang="ko-KR" altLang="en-US" sz="1400" dirty="0">
                <a:solidFill>
                  <a:schemeClr val="tx2"/>
                </a:solidFill>
                <a:latin typeface="+mn-ea"/>
                <a:cs typeface="굴림" pitchFamily="50" charset="-127"/>
              </a:rPr>
              <a:t>등록실용신안 또는 등록디자인이나 이와 유사한 디자인을 실시할 수 없다</a:t>
            </a:r>
            <a:r>
              <a:rPr kumimoji="1" lang="en-US" altLang="ko-KR" sz="1400" dirty="0">
                <a:solidFill>
                  <a:schemeClr val="tx2"/>
                </a:solidFill>
                <a:latin typeface="+mn-ea"/>
                <a:cs typeface="굴림" pitchFamily="50" charset="-127"/>
              </a:rPr>
              <a:t>.</a:t>
            </a:r>
            <a:endParaRPr kumimoji="1" lang="ko-KR" altLang="ko-KR" sz="1400" dirty="0">
              <a:solidFill>
                <a:schemeClr val="tx2"/>
              </a:solidFill>
              <a:latin typeface="+mn-ea"/>
              <a:cs typeface="굴림" pitchFamily="50" charset="-127"/>
            </a:endParaRPr>
          </a:p>
        </p:txBody>
      </p:sp>
      <p:sp>
        <p:nvSpPr>
          <p:cNvPr id="84" name="Line 5"/>
          <p:cNvSpPr>
            <a:spLocks noChangeShapeType="1"/>
          </p:cNvSpPr>
          <p:nvPr/>
        </p:nvSpPr>
        <p:spPr bwMode="auto">
          <a:xfrm>
            <a:off x="5079997" y="4106212"/>
            <a:ext cx="6321428"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85" name="TextBox 84"/>
          <p:cNvSpPr txBox="1"/>
          <p:nvPr/>
        </p:nvSpPr>
        <p:spPr>
          <a:xfrm>
            <a:off x="5000996" y="3384099"/>
            <a:ext cx="1133104" cy="429278"/>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甲</a:t>
            </a:r>
            <a:r>
              <a:rPr lang="en-US" altLang="ko-KR" sz="1200" dirty="0"/>
              <a:t> </a:t>
            </a:r>
            <a:r>
              <a:rPr lang="ko-KR" altLang="en-US" sz="1200" dirty="0"/>
              <a:t>상표출원</a:t>
            </a:r>
            <a:endParaRPr lang="en-US" altLang="ko-KR" sz="1200" dirty="0"/>
          </a:p>
          <a:p>
            <a:pPr algn="ctr"/>
            <a:r>
              <a:rPr lang="en-US" altLang="ko-KR" sz="1100" dirty="0"/>
              <a:t>(A)</a:t>
            </a:r>
            <a:endParaRPr lang="ko-KR" altLang="en-US" sz="1100" dirty="0"/>
          </a:p>
        </p:txBody>
      </p:sp>
      <p:sp>
        <p:nvSpPr>
          <p:cNvPr id="86" name="타원 85"/>
          <p:cNvSpPr/>
          <p:nvPr/>
        </p:nvSpPr>
        <p:spPr>
          <a:xfrm>
            <a:off x="5490179" y="4025543"/>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7" name="직선 연결선 86"/>
          <p:cNvCxnSpPr>
            <a:stCxn id="85" idx="2"/>
            <a:endCxn id="86" idx="0"/>
          </p:cNvCxnSpPr>
          <p:nvPr/>
        </p:nvCxnSpPr>
        <p:spPr>
          <a:xfrm>
            <a:off x="5567548" y="3813377"/>
            <a:ext cx="0" cy="21216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1" name="TextBox 90"/>
          <p:cNvSpPr txBox="1"/>
          <p:nvPr/>
        </p:nvSpPr>
        <p:spPr>
          <a:xfrm>
            <a:off x="7966679" y="3384099"/>
            <a:ext cx="1133104" cy="429278"/>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200" dirty="0"/>
              <a:t>甲 등록</a:t>
            </a:r>
            <a:endParaRPr lang="en-US" altLang="ko-KR" sz="1200" dirty="0"/>
          </a:p>
          <a:p>
            <a:pPr algn="ctr"/>
            <a:r>
              <a:rPr lang="en-US" altLang="ko-KR" sz="1100" dirty="0"/>
              <a:t>(A)</a:t>
            </a:r>
            <a:endParaRPr lang="ko-KR" altLang="en-US" sz="1100" dirty="0"/>
          </a:p>
        </p:txBody>
      </p:sp>
      <p:sp>
        <p:nvSpPr>
          <p:cNvPr id="92" name="타원 91"/>
          <p:cNvSpPr/>
          <p:nvPr/>
        </p:nvSpPr>
        <p:spPr>
          <a:xfrm>
            <a:off x="8455862" y="4025543"/>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3" name="직선 연결선 92"/>
          <p:cNvCxnSpPr>
            <a:stCxn id="91" idx="2"/>
            <a:endCxn id="92" idx="0"/>
          </p:cNvCxnSpPr>
          <p:nvPr/>
        </p:nvCxnSpPr>
        <p:spPr>
          <a:xfrm>
            <a:off x="8533231" y="3813377"/>
            <a:ext cx="0" cy="21216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4" name="TextBox 93"/>
          <p:cNvSpPr txBox="1"/>
          <p:nvPr/>
        </p:nvSpPr>
        <p:spPr>
          <a:xfrm>
            <a:off x="6505946" y="4386565"/>
            <a:ext cx="1133104" cy="429278"/>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200" dirty="0"/>
              <a:t>乙 특허출원</a:t>
            </a:r>
            <a:endParaRPr lang="en-US" altLang="ko-KR" sz="1200" dirty="0"/>
          </a:p>
          <a:p>
            <a:pPr algn="ctr"/>
            <a:r>
              <a:rPr lang="en-US" altLang="ko-KR" sz="1100" dirty="0"/>
              <a:t>(A)</a:t>
            </a:r>
            <a:endParaRPr lang="ko-KR" altLang="en-US" sz="1100" dirty="0"/>
          </a:p>
        </p:txBody>
      </p:sp>
      <p:sp>
        <p:nvSpPr>
          <p:cNvPr id="95" name="타원 94"/>
          <p:cNvSpPr/>
          <p:nvPr/>
        </p:nvSpPr>
        <p:spPr>
          <a:xfrm>
            <a:off x="6995129" y="4025543"/>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6" name="직선 연결선 95"/>
          <p:cNvCxnSpPr>
            <a:stCxn id="94" idx="0"/>
            <a:endCxn id="95" idx="4"/>
          </p:cNvCxnSpPr>
          <p:nvPr/>
        </p:nvCxnSpPr>
        <p:spPr>
          <a:xfrm flipV="1">
            <a:off x="7072498" y="4186881"/>
            <a:ext cx="0" cy="19968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0" name="TextBox 99"/>
          <p:cNvSpPr txBox="1"/>
          <p:nvPr/>
        </p:nvSpPr>
        <p:spPr>
          <a:xfrm>
            <a:off x="8909283" y="4386565"/>
            <a:ext cx="1133104" cy="429278"/>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200" dirty="0"/>
              <a:t>乙 등록</a:t>
            </a:r>
            <a:endParaRPr lang="en-US" altLang="ko-KR" sz="1200" dirty="0"/>
          </a:p>
          <a:p>
            <a:pPr algn="ctr"/>
            <a:r>
              <a:rPr lang="en-US" altLang="ko-KR" sz="1100" dirty="0"/>
              <a:t>(A)</a:t>
            </a:r>
            <a:endParaRPr lang="ko-KR" altLang="en-US" sz="1100" dirty="0"/>
          </a:p>
        </p:txBody>
      </p:sp>
      <p:sp>
        <p:nvSpPr>
          <p:cNvPr id="101" name="타원 100"/>
          <p:cNvSpPr/>
          <p:nvPr/>
        </p:nvSpPr>
        <p:spPr>
          <a:xfrm>
            <a:off x="9398466" y="4025543"/>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2" name="직선 연결선 101"/>
          <p:cNvCxnSpPr>
            <a:stCxn id="100" idx="0"/>
            <a:endCxn id="101" idx="4"/>
          </p:cNvCxnSpPr>
          <p:nvPr/>
        </p:nvCxnSpPr>
        <p:spPr>
          <a:xfrm flipV="1">
            <a:off x="9475835" y="4186881"/>
            <a:ext cx="0" cy="19968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TextBox 102"/>
          <p:cNvSpPr txBox="1"/>
          <p:nvPr/>
        </p:nvSpPr>
        <p:spPr>
          <a:xfrm>
            <a:off x="6995129" y="5252317"/>
            <a:ext cx="4577746" cy="1358033"/>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fontAlgn="base"/>
            <a:r>
              <a:rPr lang="en-US" altLang="ko-KR" sz="1200" dirty="0"/>
              <a:t>* </a:t>
            </a:r>
            <a:r>
              <a:rPr lang="ko-KR" altLang="en-US" sz="1200" dirty="0"/>
              <a:t>乙의 </a:t>
            </a:r>
            <a:r>
              <a:rPr lang="en-US" altLang="ko-KR" sz="1200" dirty="0"/>
              <a:t>A</a:t>
            </a:r>
            <a:r>
              <a:rPr lang="ko-KR" altLang="en-US" sz="1200" dirty="0"/>
              <a:t>실시가 상표권의 침해인가</a:t>
            </a:r>
            <a:r>
              <a:rPr lang="en-US" altLang="ko-KR" sz="1200" dirty="0"/>
              <a:t>?</a:t>
            </a:r>
            <a:endParaRPr lang="ko-KR" altLang="en-US" sz="1200" dirty="0"/>
          </a:p>
          <a:p>
            <a:pPr fontAlgn="base"/>
            <a:r>
              <a:rPr lang="en-US" altLang="ko-KR" sz="1200" dirty="0"/>
              <a:t>1. </a:t>
            </a:r>
            <a:r>
              <a:rPr lang="ko-KR" altLang="en-US" sz="1200" dirty="0"/>
              <a:t>상표적 사용 </a:t>
            </a:r>
            <a:r>
              <a:rPr lang="en-US" altLang="ko-KR" sz="1200" dirty="0"/>
              <a:t>× - </a:t>
            </a:r>
            <a:r>
              <a:rPr lang="ko-KR" altLang="en-US" sz="1200" dirty="0" err="1"/>
              <a:t>비침해</a:t>
            </a:r>
            <a:endParaRPr lang="ko-KR" altLang="en-US" sz="1200" dirty="0"/>
          </a:p>
          <a:p>
            <a:pPr fontAlgn="base"/>
            <a:r>
              <a:rPr lang="en-US" altLang="ko-KR" sz="1200" dirty="0"/>
              <a:t>2. </a:t>
            </a:r>
            <a:r>
              <a:rPr lang="ko-KR" altLang="en-US" sz="1200" dirty="0"/>
              <a:t>상표적 사용 ○</a:t>
            </a:r>
          </a:p>
          <a:p>
            <a:pPr fontAlgn="base"/>
            <a:r>
              <a:rPr lang="en-US" altLang="ko-KR" sz="1200" dirty="0"/>
              <a:t>- </a:t>
            </a:r>
            <a:r>
              <a:rPr lang="ko-KR" altLang="en-US" sz="1200" dirty="0"/>
              <a:t>침해 </a:t>
            </a:r>
          </a:p>
          <a:p>
            <a:pPr fontAlgn="base"/>
            <a:r>
              <a:rPr lang="en-US" altLang="ko-KR" sz="1200" dirty="0"/>
              <a:t>- </a:t>
            </a:r>
            <a:r>
              <a:rPr lang="ko-KR" altLang="en-US" sz="1200" dirty="0"/>
              <a:t>실시방안</a:t>
            </a:r>
          </a:p>
          <a:p>
            <a:pPr fontAlgn="base"/>
            <a:r>
              <a:rPr lang="en-US" altLang="ko-KR" sz="1200" dirty="0"/>
              <a:t>  - </a:t>
            </a:r>
            <a:r>
              <a:rPr lang="ko-KR" altLang="en-US" sz="1200" dirty="0"/>
              <a:t>허락 ○</a:t>
            </a:r>
          </a:p>
          <a:p>
            <a:pPr fontAlgn="base"/>
            <a:r>
              <a:rPr lang="en-US" altLang="ko-KR" sz="1200" dirty="0"/>
              <a:t>  - </a:t>
            </a:r>
            <a:r>
              <a:rPr lang="ko-KR" altLang="en-US" sz="1200" dirty="0"/>
              <a:t>통상사용권허락심판 </a:t>
            </a:r>
            <a:r>
              <a:rPr lang="en-US" altLang="ko-KR" sz="1200" dirty="0"/>
              <a:t>×</a:t>
            </a:r>
            <a:endParaRPr lang="ko-KR" altLang="en-US" sz="1200" dirty="0"/>
          </a:p>
        </p:txBody>
      </p:sp>
      <p:sp>
        <p:nvSpPr>
          <p:cNvPr id="104" name="타원 103"/>
          <p:cNvSpPr/>
          <p:nvPr/>
        </p:nvSpPr>
        <p:spPr>
          <a:xfrm>
            <a:off x="10317814" y="4025543"/>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29" name="TextBox 28"/>
          <p:cNvSpPr txBox="1"/>
          <p:nvPr/>
        </p:nvSpPr>
        <p:spPr>
          <a:xfrm>
            <a:off x="238496" y="4631874"/>
            <a:ext cx="933079" cy="587826"/>
          </a:xfrm>
          <a:prstGeom prst="rect">
            <a:avLst/>
          </a:prstGeom>
          <a:solidFill>
            <a:schemeClr val="bg1">
              <a:lumMod val="50000"/>
            </a:schemeClr>
          </a:solidFill>
          <a:ln>
            <a:solidFill>
              <a:schemeClr val="bg1">
                <a:lumMod val="50000"/>
              </a:schemeClr>
            </a:solidFill>
          </a:ln>
        </p:spPr>
        <p:txBody>
          <a:bodyPr wrap="square" rtlCol="0" anchor="ctr">
            <a:noAutofit/>
          </a:bodyPr>
          <a:lstStyle/>
          <a:p>
            <a:pPr algn="ctr"/>
            <a:r>
              <a:rPr lang="ko-KR" altLang="en-US" sz="1600">
                <a:solidFill>
                  <a:schemeClr val="accent4"/>
                </a:solidFill>
              </a:rPr>
              <a:t>제</a:t>
            </a:r>
            <a:r>
              <a:rPr lang="en-US" altLang="ko-KR" sz="1600" dirty="0">
                <a:solidFill>
                  <a:schemeClr val="accent4"/>
                </a:solidFill>
              </a:rPr>
              <a:t>138</a:t>
            </a:r>
            <a:r>
              <a:rPr lang="ko-KR" altLang="en-US" sz="1600" dirty="0">
                <a:solidFill>
                  <a:schemeClr val="accent4"/>
                </a:solidFill>
              </a:rPr>
              <a:t>조</a:t>
            </a:r>
          </a:p>
        </p:txBody>
      </p:sp>
      <p:sp>
        <p:nvSpPr>
          <p:cNvPr id="30" name="TextBox 29"/>
          <p:cNvSpPr txBox="1"/>
          <p:nvPr/>
        </p:nvSpPr>
        <p:spPr>
          <a:xfrm>
            <a:off x="1524371" y="3584124"/>
            <a:ext cx="1761754" cy="587826"/>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400" dirty="0"/>
              <a:t>일반적 요건</a:t>
            </a:r>
            <a:endParaRPr lang="en-US" altLang="ko-KR" sz="1400" dirty="0"/>
          </a:p>
          <a:p>
            <a:pPr algn="ctr"/>
            <a:r>
              <a:rPr lang="en-US" altLang="ko-KR" sz="1400" dirty="0"/>
              <a:t>(</a:t>
            </a:r>
            <a:r>
              <a:rPr lang="ko-KR" altLang="en-US" sz="1400" dirty="0"/>
              <a:t>제</a:t>
            </a:r>
            <a:r>
              <a:rPr lang="en-US" altLang="ko-KR" sz="1400" dirty="0"/>
              <a:t>1</a:t>
            </a:r>
            <a:r>
              <a:rPr lang="ko-KR" altLang="en-US" sz="1400" dirty="0"/>
              <a:t>항</a:t>
            </a:r>
            <a:r>
              <a:rPr lang="en-US" altLang="ko-KR" sz="1400" dirty="0"/>
              <a:t>, </a:t>
            </a:r>
            <a:r>
              <a:rPr lang="ko-KR" altLang="en-US" sz="1400" dirty="0"/>
              <a:t>제</a:t>
            </a:r>
            <a:r>
              <a:rPr lang="en-US" altLang="ko-KR" sz="1400" dirty="0"/>
              <a:t>2</a:t>
            </a:r>
            <a:r>
              <a:rPr lang="ko-KR" altLang="en-US" sz="1400" dirty="0"/>
              <a:t>항</a:t>
            </a:r>
            <a:r>
              <a:rPr lang="en-US" altLang="ko-KR" sz="1400" dirty="0"/>
              <a:t>)</a:t>
            </a:r>
            <a:endParaRPr lang="ko-KR" altLang="en-US" sz="1400" dirty="0"/>
          </a:p>
        </p:txBody>
      </p:sp>
      <p:sp>
        <p:nvSpPr>
          <p:cNvPr id="31" name="TextBox 30"/>
          <p:cNvSpPr txBox="1"/>
          <p:nvPr/>
        </p:nvSpPr>
        <p:spPr>
          <a:xfrm>
            <a:off x="1524371" y="4271939"/>
            <a:ext cx="1761754" cy="587826"/>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400" dirty="0"/>
              <a:t>크로스 라이선스 요건</a:t>
            </a:r>
            <a:r>
              <a:rPr lang="en-US" altLang="ko-KR" sz="1400" dirty="0"/>
              <a:t>(</a:t>
            </a:r>
            <a:r>
              <a:rPr lang="ko-KR" altLang="en-US" sz="1400" dirty="0"/>
              <a:t>제</a:t>
            </a:r>
            <a:r>
              <a:rPr lang="en-US" altLang="ko-KR" sz="1400" dirty="0"/>
              <a:t>3</a:t>
            </a:r>
            <a:r>
              <a:rPr lang="ko-KR" altLang="en-US" sz="1400" dirty="0"/>
              <a:t>항</a:t>
            </a:r>
            <a:r>
              <a:rPr lang="en-US" altLang="ko-KR" sz="1400" dirty="0"/>
              <a:t>)</a:t>
            </a:r>
            <a:endParaRPr lang="ko-KR" altLang="en-US" sz="1400" dirty="0"/>
          </a:p>
        </p:txBody>
      </p:sp>
      <p:sp>
        <p:nvSpPr>
          <p:cNvPr id="32" name="TextBox 31"/>
          <p:cNvSpPr txBox="1"/>
          <p:nvPr/>
        </p:nvSpPr>
        <p:spPr>
          <a:xfrm>
            <a:off x="1524371" y="4982512"/>
            <a:ext cx="1761754" cy="587826"/>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400" dirty="0"/>
              <a:t>대가지급</a:t>
            </a:r>
            <a:r>
              <a:rPr lang="en-US" altLang="ko-KR" sz="1400" dirty="0"/>
              <a:t>/</a:t>
            </a:r>
            <a:r>
              <a:rPr lang="ko-KR" altLang="en-US" sz="1400" dirty="0"/>
              <a:t>공탁</a:t>
            </a:r>
            <a:endParaRPr lang="en-US" altLang="ko-KR" sz="1400" dirty="0"/>
          </a:p>
          <a:p>
            <a:pPr algn="ctr"/>
            <a:r>
              <a:rPr lang="en-US" altLang="ko-KR" sz="1400" dirty="0"/>
              <a:t>(</a:t>
            </a:r>
            <a:r>
              <a:rPr lang="ko-KR" altLang="en-US" sz="1400" dirty="0"/>
              <a:t>제</a:t>
            </a:r>
            <a:r>
              <a:rPr lang="en-US" altLang="ko-KR" sz="1400" dirty="0"/>
              <a:t>4</a:t>
            </a:r>
            <a:r>
              <a:rPr lang="ko-KR" altLang="en-US" sz="1400" dirty="0"/>
              <a:t>항</a:t>
            </a:r>
            <a:r>
              <a:rPr lang="en-US" altLang="ko-KR" sz="1400" dirty="0"/>
              <a:t>)</a:t>
            </a:r>
            <a:endParaRPr lang="ko-KR" altLang="en-US" sz="1400" dirty="0"/>
          </a:p>
        </p:txBody>
      </p:sp>
      <p:sp>
        <p:nvSpPr>
          <p:cNvPr id="33" name="TextBox 32"/>
          <p:cNvSpPr txBox="1"/>
          <p:nvPr/>
        </p:nvSpPr>
        <p:spPr>
          <a:xfrm>
            <a:off x="1524371" y="5673410"/>
            <a:ext cx="1761754" cy="587826"/>
          </a:xfrm>
          <a:prstGeom prst="rect">
            <a:avLst/>
          </a:prstGeom>
          <a:solidFill>
            <a:schemeClr val="bg1">
              <a:lumMod val="95000"/>
            </a:schemeClr>
          </a:solidFill>
          <a:ln>
            <a:solidFill>
              <a:schemeClr val="bg1">
                <a:lumMod val="50000"/>
              </a:schemeClr>
            </a:solidFill>
          </a:ln>
        </p:spPr>
        <p:txBody>
          <a:bodyPr wrap="square" rtlCol="0" anchor="ctr">
            <a:noAutofit/>
          </a:bodyPr>
          <a:lstStyle/>
          <a:p>
            <a:pPr algn="ctr"/>
            <a:r>
              <a:rPr lang="ko-KR" altLang="en-US" sz="1400" dirty="0"/>
              <a:t>대가지급</a:t>
            </a:r>
            <a:r>
              <a:rPr lang="en-US" altLang="ko-KR" sz="1400" dirty="0"/>
              <a:t>×&amp;</a:t>
            </a:r>
            <a:r>
              <a:rPr lang="ko-KR" altLang="en-US" sz="1400" dirty="0"/>
              <a:t>공탁</a:t>
            </a:r>
            <a:r>
              <a:rPr lang="en-US" altLang="ko-KR" sz="1400" dirty="0"/>
              <a:t>×</a:t>
            </a:r>
          </a:p>
          <a:p>
            <a:pPr algn="ctr"/>
            <a:r>
              <a:rPr lang="en-US" altLang="ko-KR" sz="1400" dirty="0"/>
              <a:t>(</a:t>
            </a:r>
            <a:r>
              <a:rPr lang="ko-KR" altLang="en-US" sz="1400" dirty="0"/>
              <a:t>제</a:t>
            </a:r>
            <a:r>
              <a:rPr lang="en-US" altLang="ko-KR" sz="1400" dirty="0"/>
              <a:t>5</a:t>
            </a:r>
            <a:r>
              <a:rPr lang="ko-KR" altLang="en-US" sz="1400" dirty="0"/>
              <a:t>항</a:t>
            </a:r>
            <a:r>
              <a:rPr lang="en-US" altLang="ko-KR" sz="1400" dirty="0"/>
              <a:t>)</a:t>
            </a:r>
            <a:endParaRPr lang="ko-KR" altLang="en-US" sz="1400" dirty="0"/>
          </a:p>
        </p:txBody>
      </p:sp>
      <p:cxnSp>
        <p:nvCxnSpPr>
          <p:cNvPr id="6" name="꺾인 연결선 5"/>
          <p:cNvCxnSpPr>
            <a:stCxn id="29" idx="3"/>
            <a:endCxn id="30" idx="1"/>
          </p:cNvCxnSpPr>
          <p:nvPr/>
        </p:nvCxnSpPr>
        <p:spPr>
          <a:xfrm flipV="1">
            <a:off x="1171575" y="3878037"/>
            <a:ext cx="352796" cy="10477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꺾인 연결선 7"/>
          <p:cNvCxnSpPr>
            <a:stCxn id="29" idx="3"/>
            <a:endCxn id="33" idx="1"/>
          </p:cNvCxnSpPr>
          <p:nvPr/>
        </p:nvCxnSpPr>
        <p:spPr>
          <a:xfrm>
            <a:off x="1171575" y="4925787"/>
            <a:ext cx="352796" cy="104153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꺾인 연결선 9"/>
          <p:cNvCxnSpPr>
            <a:stCxn id="29" idx="3"/>
            <a:endCxn id="31" idx="1"/>
          </p:cNvCxnSpPr>
          <p:nvPr/>
        </p:nvCxnSpPr>
        <p:spPr>
          <a:xfrm flipV="1">
            <a:off x="1171575" y="4565852"/>
            <a:ext cx="352796" cy="35993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꺾인 연결선 13"/>
          <p:cNvCxnSpPr>
            <a:stCxn id="29" idx="3"/>
            <a:endCxn id="32" idx="1"/>
          </p:cNvCxnSpPr>
          <p:nvPr/>
        </p:nvCxnSpPr>
        <p:spPr>
          <a:xfrm>
            <a:off x="1171575" y="4925787"/>
            <a:ext cx="352796" cy="350638"/>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직선 연결선 45"/>
          <p:cNvCxnSpPr/>
          <p:nvPr/>
        </p:nvCxnSpPr>
        <p:spPr>
          <a:xfrm>
            <a:off x="4670666" y="3753479"/>
            <a:ext cx="0" cy="2213844"/>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 name="자유형 17"/>
          <p:cNvSpPr/>
          <p:nvPr/>
        </p:nvSpPr>
        <p:spPr>
          <a:xfrm>
            <a:off x="10382250" y="4181475"/>
            <a:ext cx="1019175" cy="342900"/>
          </a:xfrm>
          <a:custGeom>
            <a:avLst/>
            <a:gdLst>
              <a:gd name="connsiteX0" fmla="*/ 0 w 2600325"/>
              <a:gd name="connsiteY0" fmla="*/ 0 h 342900"/>
              <a:gd name="connsiteX1" fmla="*/ 0 w 2600325"/>
              <a:gd name="connsiteY1" fmla="*/ 342900 h 342900"/>
              <a:gd name="connsiteX2" fmla="*/ 2600325 w 2600325"/>
              <a:gd name="connsiteY2" fmla="*/ 342900 h 342900"/>
            </a:gdLst>
            <a:ahLst/>
            <a:cxnLst>
              <a:cxn ang="0">
                <a:pos x="connsiteX0" y="connsiteY0"/>
              </a:cxn>
              <a:cxn ang="0">
                <a:pos x="connsiteX1" y="connsiteY1"/>
              </a:cxn>
              <a:cxn ang="0">
                <a:pos x="connsiteX2" y="connsiteY2"/>
              </a:cxn>
            </a:cxnLst>
            <a:rect l="l" t="t" r="r" b="b"/>
            <a:pathLst>
              <a:path w="2600325" h="342900">
                <a:moveTo>
                  <a:pt x="0" y="0"/>
                </a:moveTo>
                <a:lnTo>
                  <a:pt x="0" y="342900"/>
                </a:lnTo>
                <a:lnTo>
                  <a:pt x="2600325" y="342900"/>
                </a:lnTo>
              </a:path>
            </a:pathLst>
          </a:cu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49" name="TextBox 48"/>
          <p:cNvSpPr txBox="1"/>
          <p:nvPr/>
        </p:nvSpPr>
        <p:spPr>
          <a:xfrm>
            <a:off x="10317814" y="4565852"/>
            <a:ext cx="1083611" cy="244516"/>
          </a:xfrm>
          <a:prstGeom prst="rect">
            <a:avLst/>
          </a:prstGeom>
          <a:noFill/>
          <a:ln>
            <a:noFill/>
          </a:ln>
        </p:spPr>
        <p:txBody>
          <a:bodyPr wrap="square" rtlCol="0" anchor="ctr">
            <a:noAutofit/>
          </a:bodyPr>
          <a:lstStyle/>
          <a:p>
            <a:pPr algn="ctr"/>
            <a:r>
              <a:rPr lang="ko-KR" altLang="en-US" sz="1100" dirty="0"/>
              <a:t>乙의 </a:t>
            </a:r>
            <a:r>
              <a:rPr lang="en-US" altLang="ko-KR" sz="1100" dirty="0"/>
              <a:t>A </a:t>
            </a:r>
            <a:r>
              <a:rPr lang="ko-KR" altLang="en-US" sz="1100" dirty="0"/>
              <a:t>실시</a:t>
            </a:r>
          </a:p>
        </p:txBody>
      </p:sp>
      <p:cxnSp>
        <p:nvCxnSpPr>
          <p:cNvPr id="20" name="꺾인 연결선 19"/>
          <p:cNvCxnSpPr>
            <a:stCxn id="32" idx="3"/>
            <a:endCxn id="30" idx="3"/>
          </p:cNvCxnSpPr>
          <p:nvPr/>
        </p:nvCxnSpPr>
        <p:spPr>
          <a:xfrm flipV="1">
            <a:off x="3286125" y="3878037"/>
            <a:ext cx="12700" cy="1398388"/>
          </a:xfrm>
          <a:prstGeom prst="bentConnector3">
            <a:avLst>
              <a:gd name="adj1" fmla="val 5475000"/>
            </a:avLst>
          </a:prstGeom>
          <a:ln w="12700">
            <a:solidFill>
              <a:schemeClr val="bg1">
                <a:lumMod val="50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3440764" y="4308676"/>
            <a:ext cx="1083611" cy="379433"/>
          </a:xfrm>
          <a:prstGeom prst="rect">
            <a:avLst/>
          </a:prstGeom>
          <a:solidFill>
            <a:schemeClr val="bg1"/>
          </a:solidFill>
          <a:ln>
            <a:noFill/>
          </a:ln>
        </p:spPr>
        <p:txBody>
          <a:bodyPr wrap="square" rtlCol="0" anchor="ctr">
            <a:noAutofit/>
          </a:bodyPr>
          <a:lstStyle/>
          <a:p>
            <a:pPr algn="ctr"/>
            <a:r>
              <a:rPr lang="ko-KR" altLang="en-US" sz="1100" dirty="0"/>
              <a:t>상표권과</a:t>
            </a:r>
            <a:endParaRPr lang="en-US" altLang="ko-KR" sz="1100" dirty="0"/>
          </a:p>
          <a:p>
            <a:pPr algn="ctr"/>
            <a:r>
              <a:rPr lang="ko-KR" altLang="en-US" sz="1100" dirty="0"/>
              <a:t>저촉은 제외</a:t>
            </a:r>
          </a:p>
        </p:txBody>
      </p:sp>
      <p:sp>
        <p:nvSpPr>
          <p:cNvPr id="2" name="슬라이드 번호 개체 틀 1"/>
          <p:cNvSpPr>
            <a:spLocks noGrp="1"/>
          </p:cNvSpPr>
          <p:nvPr>
            <p:ph type="sldNum" sz="quarter" idx="12"/>
          </p:nvPr>
        </p:nvSpPr>
        <p:spPr/>
        <p:txBody>
          <a:bodyPr/>
          <a:lstStyle/>
          <a:p>
            <a:r>
              <a:rPr lang="en-US" altLang="ko-KR"/>
              <a:t>363</a:t>
            </a:r>
            <a:endParaRPr lang="ko-KR" altLang="en-US"/>
          </a:p>
        </p:txBody>
      </p:sp>
    </p:spTree>
    <p:extLst>
      <p:ext uri="{BB962C8B-B14F-4D97-AF65-F5344CB8AC3E}">
        <p14:creationId xmlns:p14="http://schemas.microsoft.com/office/powerpoint/2010/main" val="1553792775"/>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4"/>
          <p:cNvSpPr>
            <a:spLocks noChangeArrowheads="1"/>
          </p:cNvSpPr>
          <p:nvPr/>
        </p:nvSpPr>
        <p:spPr bwMode="auto">
          <a:xfrm>
            <a:off x="335361" y="1123759"/>
            <a:ext cx="11521017" cy="1903833"/>
          </a:xfrm>
          <a:prstGeom prst="rect">
            <a:avLst/>
          </a:prstGeom>
          <a:noFill/>
          <a:ln>
            <a:solidFill>
              <a:schemeClr val="bg1">
                <a:lumMod val="50000"/>
              </a:schemeClr>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marL="742950" indent="-285750">
              <a:lnSpc>
                <a:spcPct val="120000"/>
              </a:lnSpc>
              <a:spcBef>
                <a:spcPct val="20000"/>
              </a:spcBef>
              <a:buClr>
                <a:srgbClr val="003399"/>
              </a:buClr>
              <a:buFont typeface="Wingdings" pitchFamily="2" charset="2"/>
              <a:buChar char="n"/>
              <a:defRPr/>
            </a:pPr>
            <a:endParaRPr lang="ko-KR" altLang="en-US" sz="1200" b="0">
              <a:solidFill>
                <a:schemeClr val="tx1"/>
              </a:solidFill>
              <a:latin typeface="+mn-ea"/>
              <a:sym typeface="Wingdings" pitchFamily="2" charset="2"/>
            </a:endParaRPr>
          </a:p>
        </p:txBody>
      </p:sp>
      <p:sp>
        <p:nvSpPr>
          <p:cNvPr id="11" name="Line 5"/>
          <p:cNvSpPr>
            <a:spLocks noChangeShapeType="1"/>
          </p:cNvSpPr>
          <p:nvPr/>
        </p:nvSpPr>
        <p:spPr bwMode="auto">
          <a:xfrm>
            <a:off x="790576" y="2068320"/>
            <a:ext cx="10620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 name="슬라이드 번호 개체 틀 3"/>
          <p:cNvSpPr>
            <a:spLocks noGrp="1"/>
          </p:cNvSpPr>
          <p:nvPr>
            <p:ph type="sldNum" sz="quarter" idx="12"/>
          </p:nvPr>
        </p:nvSpPr>
        <p:spPr/>
        <p:txBody>
          <a:bodyPr/>
          <a:lstStyle/>
          <a:p>
            <a:r>
              <a:rPr lang="en-US" altLang="ko-KR"/>
              <a:t>364</a:t>
            </a:r>
            <a:endParaRPr lang="ko-KR" altLang="en-US"/>
          </a:p>
        </p:txBody>
      </p:sp>
      <p:sp>
        <p:nvSpPr>
          <p:cNvPr id="2" name="제목 1"/>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3" name="텍스트 개체 틀 2"/>
          <p:cNvSpPr>
            <a:spLocks noGrp="1"/>
          </p:cNvSpPr>
          <p:nvPr>
            <p:ph type="body" sz="quarter" idx="13"/>
          </p:nvPr>
        </p:nvSpPr>
        <p:spPr/>
        <p:txBody>
          <a:bodyPr/>
          <a:lstStyle/>
          <a:p>
            <a:r>
              <a:rPr lang="ko-KR" altLang="en-US" dirty="0"/>
              <a:t>이용저촉발명의 </a:t>
            </a:r>
            <a:r>
              <a:rPr lang="en-US" altLang="ko-KR" dirty="0"/>
              <a:t>CASE</a:t>
            </a:r>
            <a:endParaRPr lang="ko-KR" altLang="en-US" dirty="0"/>
          </a:p>
        </p:txBody>
      </p:sp>
      <p:sp>
        <p:nvSpPr>
          <p:cNvPr id="30" name="TextBox 29"/>
          <p:cNvSpPr txBox="1"/>
          <p:nvPr/>
        </p:nvSpPr>
        <p:spPr>
          <a:xfrm>
            <a:off x="588553" y="2324495"/>
            <a:ext cx="1034552" cy="523220"/>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甲 출원</a:t>
            </a:r>
            <a:r>
              <a:rPr lang="en-US" altLang="ko-KR" sz="1400" dirty="0">
                <a:solidFill>
                  <a:schemeClr val="tx1"/>
                </a:solidFill>
                <a:latin typeface="+mn-ea"/>
              </a:rPr>
              <a:t>(X)</a:t>
            </a:r>
          </a:p>
          <a:p>
            <a:pPr algn="ctr"/>
            <a:r>
              <a:rPr lang="ko-KR" altLang="en-US" sz="1400" dirty="0">
                <a:solidFill>
                  <a:schemeClr val="tx1"/>
                </a:solidFill>
                <a:latin typeface="+mn-ea"/>
              </a:rPr>
              <a:t>자전거</a:t>
            </a:r>
          </a:p>
        </p:txBody>
      </p:sp>
      <p:sp>
        <p:nvSpPr>
          <p:cNvPr id="34" name="타원 33"/>
          <p:cNvSpPr/>
          <p:nvPr/>
        </p:nvSpPr>
        <p:spPr>
          <a:xfrm>
            <a:off x="1028459" y="197438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5" name="직선 연결선 34"/>
          <p:cNvCxnSpPr>
            <a:stCxn id="30" idx="0"/>
            <a:endCxn id="34" idx="4"/>
          </p:cNvCxnSpPr>
          <p:nvPr/>
        </p:nvCxnSpPr>
        <p:spPr>
          <a:xfrm flipH="1" flipV="1">
            <a:off x="1105828" y="213572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2490157" y="2324495"/>
            <a:ext cx="946093" cy="523220"/>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甲 공개</a:t>
            </a:r>
            <a:r>
              <a:rPr lang="en-US" altLang="ko-KR" sz="1400" dirty="0">
                <a:solidFill>
                  <a:schemeClr val="tx1"/>
                </a:solidFill>
                <a:latin typeface="+mn-ea"/>
              </a:rPr>
              <a:t>(X)</a:t>
            </a:r>
          </a:p>
          <a:p>
            <a:pPr algn="ctr"/>
            <a:r>
              <a:rPr lang="ko-KR" altLang="en-US" sz="1400" dirty="0">
                <a:solidFill>
                  <a:schemeClr val="tx1"/>
                </a:solidFill>
                <a:latin typeface="+mn-ea"/>
              </a:rPr>
              <a:t>자전거</a:t>
            </a:r>
          </a:p>
        </p:txBody>
      </p:sp>
      <p:sp>
        <p:nvSpPr>
          <p:cNvPr id="37" name="타원 36"/>
          <p:cNvSpPr/>
          <p:nvPr/>
        </p:nvSpPr>
        <p:spPr>
          <a:xfrm>
            <a:off x="2885834" y="197438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8" name="직선 연결선 37"/>
          <p:cNvCxnSpPr>
            <a:stCxn id="36" idx="0"/>
            <a:endCxn id="37" idx="4"/>
          </p:cNvCxnSpPr>
          <p:nvPr/>
        </p:nvCxnSpPr>
        <p:spPr>
          <a:xfrm flipH="1" flipV="1">
            <a:off x="2963203" y="213572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4403622" y="2324495"/>
            <a:ext cx="946093" cy="523220"/>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甲 등록</a:t>
            </a:r>
            <a:r>
              <a:rPr lang="en-US" altLang="ko-KR" sz="1400" dirty="0">
                <a:solidFill>
                  <a:schemeClr val="tx1"/>
                </a:solidFill>
                <a:latin typeface="+mn-ea"/>
              </a:rPr>
              <a:t>(X)</a:t>
            </a:r>
          </a:p>
          <a:p>
            <a:pPr algn="ctr"/>
            <a:r>
              <a:rPr lang="ko-KR" altLang="en-US" sz="1400" dirty="0">
                <a:solidFill>
                  <a:schemeClr val="tx1"/>
                </a:solidFill>
                <a:latin typeface="+mn-ea"/>
              </a:rPr>
              <a:t>자전거</a:t>
            </a:r>
          </a:p>
        </p:txBody>
      </p:sp>
      <p:sp>
        <p:nvSpPr>
          <p:cNvPr id="40" name="타원 39"/>
          <p:cNvSpPr/>
          <p:nvPr/>
        </p:nvSpPr>
        <p:spPr>
          <a:xfrm>
            <a:off x="4799299" y="197438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1" name="직선 연결선 40"/>
          <p:cNvCxnSpPr>
            <a:stCxn id="39" idx="0"/>
            <a:endCxn id="40" idx="4"/>
          </p:cNvCxnSpPr>
          <p:nvPr/>
        </p:nvCxnSpPr>
        <p:spPr>
          <a:xfrm flipH="1" flipV="1">
            <a:off x="4876668" y="213572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타원 49"/>
          <p:cNvSpPr/>
          <p:nvPr/>
        </p:nvSpPr>
        <p:spPr>
          <a:xfrm>
            <a:off x="3838914" y="1974386"/>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51" name="TextBox 50"/>
          <p:cNvSpPr txBox="1"/>
          <p:nvPr/>
        </p:nvSpPr>
        <p:spPr>
          <a:xfrm>
            <a:off x="3282939" y="1244409"/>
            <a:ext cx="1266693" cy="52322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乙 출원</a:t>
            </a:r>
            <a:r>
              <a:rPr lang="en-US" altLang="ko-KR" sz="1400" dirty="0">
                <a:solidFill>
                  <a:schemeClr val="tx1"/>
                </a:solidFill>
                <a:latin typeface="+mn-ea"/>
              </a:rPr>
              <a:t>(Y) </a:t>
            </a:r>
          </a:p>
          <a:p>
            <a:pPr algn="ctr"/>
            <a:r>
              <a:rPr lang="ko-KR" altLang="en-US" sz="1400" dirty="0" err="1">
                <a:solidFill>
                  <a:schemeClr val="tx1"/>
                </a:solidFill>
                <a:latin typeface="+mn-ea"/>
              </a:rPr>
              <a:t>라이트</a:t>
            </a:r>
            <a:r>
              <a:rPr lang="en-US" altLang="ko-KR" sz="1400" dirty="0">
                <a:solidFill>
                  <a:schemeClr val="tx1"/>
                </a:solidFill>
                <a:latin typeface="+mn-ea"/>
              </a:rPr>
              <a:t>+</a:t>
            </a:r>
            <a:r>
              <a:rPr lang="ko-KR" altLang="en-US" sz="1400" dirty="0">
                <a:solidFill>
                  <a:schemeClr val="tx1"/>
                </a:solidFill>
                <a:latin typeface="+mn-ea"/>
              </a:rPr>
              <a:t>자전거</a:t>
            </a:r>
          </a:p>
        </p:txBody>
      </p:sp>
      <p:cxnSp>
        <p:nvCxnSpPr>
          <p:cNvPr id="52" name="직선 연결선 51"/>
          <p:cNvCxnSpPr>
            <a:stCxn id="51" idx="2"/>
            <a:endCxn id="50" idx="0"/>
          </p:cNvCxnSpPr>
          <p:nvPr/>
        </p:nvCxnSpPr>
        <p:spPr>
          <a:xfrm flipH="1">
            <a:off x="3916283" y="1767629"/>
            <a:ext cx="3" cy="20675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타원 30"/>
          <p:cNvSpPr/>
          <p:nvPr/>
        </p:nvSpPr>
        <p:spPr>
          <a:xfrm>
            <a:off x="5897676" y="1974386"/>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2" name="TextBox 31"/>
          <p:cNvSpPr txBox="1"/>
          <p:nvPr/>
        </p:nvSpPr>
        <p:spPr>
          <a:xfrm>
            <a:off x="5341701" y="1244409"/>
            <a:ext cx="1266693" cy="52322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乙 공개</a:t>
            </a:r>
            <a:r>
              <a:rPr lang="en-US" altLang="ko-KR" sz="1400" dirty="0">
                <a:solidFill>
                  <a:schemeClr val="tx1"/>
                </a:solidFill>
                <a:latin typeface="+mn-ea"/>
              </a:rPr>
              <a:t>(Y) </a:t>
            </a:r>
          </a:p>
          <a:p>
            <a:pPr algn="ctr"/>
            <a:r>
              <a:rPr lang="ko-KR" altLang="en-US" sz="1400" dirty="0" err="1">
                <a:solidFill>
                  <a:schemeClr val="tx1"/>
                </a:solidFill>
                <a:latin typeface="+mn-ea"/>
              </a:rPr>
              <a:t>라이트</a:t>
            </a:r>
            <a:r>
              <a:rPr lang="en-US" altLang="ko-KR" sz="1400" dirty="0">
                <a:solidFill>
                  <a:schemeClr val="tx1"/>
                </a:solidFill>
                <a:latin typeface="+mn-ea"/>
              </a:rPr>
              <a:t>+</a:t>
            </a:r>
            <a:r>
              <a:rPr lang="ko-KR" altLang="en-US" sz="1400" dirty="0">
                <a:solidFill>
                  <a:schemeClr val="tx1"/>
                </a:solidFill>
                <a:latin typeface="+mn-ea"/>
              </a:rPr>
              <a:t>자전거</a:t>
            </a:r>
          </a:p>
        </p:txBody>
      </p:sp>
      <p:cxnSp>
        <p:nvCxnSpPr>
          <p:cNvPr id="33" name="직선 연결선 32"/>
          <p:cNvCxnSpPr>
            <a:stCxn id="32" idx="2"/>
            <a:endCxn id="31" idx="0"/>
          </p:cNvCxnSpPr>
          <p:nvPr/>
        </p:nvCxnSpPr>
        <p:spPr>
          <a:xfrm flipH="1">
            <a:off x="5975045" y="1767629"/>
            <a:ext cx="3" cy="20675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 name="타원 41"/>
          <p:cNvSpPr/>
          <p:nvPr/>
        </p:nvSpPr>
        <p:spPr>
          <a:xfrm>
            <a:off x="7419843" y="1974386"/>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43" name="TextBox 42"/>
          <p:cNvSpPr txBox="1"/>
          <p:nvPr/>
        </p:nvSpPr>
        <p:spPr>
          <a:xfrm>
            <a:off x="6863868" y="1244409"/>
            <a:ext cx="1266693" cy="52322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乙 등록</a:t>
            </a:r>
            <a:r>
              <a:rPr lang="en-US" altLang="ko-KR" sz="1400" dirty="0">
                <a:solidFill>
                  <a:schemeClr val="tx1"/>
                </a:solidFill>
                <a:latin typeface="+mn-ea"/>
              </a:rPr>
              <a:t>(Y) </a:t>
            </a:r>
          </a:p>
          <a:p>
            <a:pPr algn="ctr"/>
            <a:r>
              <a:rPr lang="ko-KR" altLang="en-US" sz="1400" dirty="0" err="1">
                <a:solidFill>
                  <a:schemeClr val="tx1"/>
                </a:solidFill>
                <a:latin typeface="+mn-ea"/>
              </a:rPr>
              <a:t>라이트</a:t>
            </a:r>
            <a:r>
              <a:rPr lang="en-US" altLang="ko-KR" sz="1400" dirty="0">
                <a:solidFill>
                  <a:schemeClr val="tx1"/>
                </a:solidFill>
                <a:latin typeface="+mn-ea"/>
              </a:rPr>
              <a:t>+</a:t>
            </a:r>
            <a:r>
              <a:rPr lang="ko-KR" altLang="en-US" sz="1400" dirty="0">
                <a:solidFill>
                  <a:schemeClr val="tx1"/>
                </a:solidFill>
                <a:latin typeface="+mn-ea"/>
              </a:rPr>
              <a:t>자전거</a:t>
            </a:r>
          </a:p>
        </p:txBody>
      </p:sp>
      <p:cxnSp>
        <p:nvCxnSpPr>
          <p:cNvPr id="46" name="직선 연결선 45"/>
          <p:cNvCxnSpPr>
            <a:stCxn id="43" idx="2"/>
            <a:endCxn id="42" idx="0"/>
          </p:cNvCxnSpPr>
          <p:nvPr/>
        </p:nvCxnSpPr>
        <p:spPr>
          <a:xfrm flipH="1">
            <a:off x="7497212" y="1767629"/>
            <a:ext cx="3" cy="20675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aphicFrame>
        <p:nvGraphicFramePr>
          <p:cNvPr id="6" name="표 5"/>
          <p:cNvGraphicFramePr>
            <a:graphicFrameLocks noGrp="1"/>
          </p:cNvGraphicFramePr>
          <p:nvPr/>
        </p:nvGraphicFramePr>
        <p:xfrm>
          <a:off x="364628" y="3500966"/>
          <a:ext cx="11491749" cy="2722880"/>
        </p:xfrm>
        <a:graphic>
          <a:graphicData uri="http://schemas.openxmlformats.org/drawingml/2006/table">
            <a:tbl>
              <a:tblPr>
                <a:tableStyleId>{8799B23B-EC83-4686-B30A-512413B5E67A}</a:tableStyleId>
              </a:tblPr>
              <a:tblGrid>
                <a:gridCol w="1176318">
                  <a:extLst>
                    <a:ext uri="{9D8B030D-6E8A-4147-A177-3AD203B41FA5}">
                      <a16:colId xmlns:a16="http://schemas.microsoft.com/office/drawing/2014/main" val="20000"/>
                    </a:ext>
                  </a:extLst>
                </a:gridCol>
                <a:gridCol w="2186751">
                  <a:extLst>
                    <a:ext uri="{9D8B030D-6E8A-4147-A177-3AD203B41FA5}">
                      <a16:colId xmlns:a16="http://schemas.microsoft.com/office/drawing/2014/main" val="20001"/>
                    </a:ext>
                  </a:extLst>
                </a:gridCol>
                <a:gridCol w="1251726">
                  <a:extLst>
                    <a:ext uri="{9D8B030D-6E8A-4147-A177-3AD203B41FA5}">
                      <a16:colId xmlns:a16="http://schemas.microsoft.com/office/drawing/2014/main" val="20002"/>
                    </a:ext>
                  </a:extLst>
                </a:gridCol>
                <a:gridCol w="1191402">
                  <a:extLst>
                    <a:ext uri="{9D8B030D-6E8A-4147-A177-3AD203B41FA5}">
                      <a16:colId xmlns:a16="http://schemas.microsoft.com/office/drawing/2014/main" val="20003"/>
                    </a:ext>
                  </a:extLst>
                </a:gridCol>
                <a:gridCol w="1643833">
                  <a:extLst>
                    <a:ext uri="{9D8B030D-6E8A-4147-A177-3AD203B41FA5}">
                      <a16:colId xmlns:a16="http://schemas.microsoft.com/office/drawing/2014/main" val="20004"/>
                    </a:ext>
                  </a:extLst>
                </a:gridCol>
                <a:gridCol w="1206483">
                  <a:extLst>
                    <a:ext uri="{9D8B030D-6E8A-4147-A177-3AD203B41FA5}">
                      <a16:colId xmlns:a16="http://schemas.microsoft.com/office/drawing/2014/main" val="20005"/>
                    </a:ext>
                  </a:extLst>
                </a:gridCol>
                <a:gridCol w="1115997">
                  <a:extLst>
                    <a:ext uri="{9D8B030D-6E8A-4147-A177-3AD203B41FA5}">
                      <a16:colId xmlns:a16="http://schemas.microsoft.com/office/drawing/2014/main" val="20006"/>
                    </a:ext>
                  </a:extLst>
                </a:gridCol>
                <a:gridCol w="1719239">
                  <a:extLst>
                    <a:ext uri="{9D8B030D-6E8A-4147-A177-3AD203B41FA5}">
                      <a16:colId xmlns:a16="http://schemas.microsoft.com/office/drawing/2014/main" val="20007"/>
                    </a:ext>
                  </a:extLst>
                </a:gridCol>
              </a:tblGrid>
              <a:tr h="149373">
                <a:tc rowSpan="4">
                  <a:txBody>
                    <a:bodyPr/>
                    <a:lstStyle/>
                    <a:p>
                      <a:pPr algn="ctr" latinLnBrk="1"/>
                      <a:r>
                        <a:rPr lang="ko-KR" altLang="en-US" sz="1200" dirty="0">
                          <a:latin typeface="+mn-ea"/>
                          <a:ea typeface="+mn-ea"/>
                        </a:rPr>
                        <a:t>주체</a:t>
                      </a:r>
                    </a:p>
                  </a:txBody>
                  <a:tcPr anchor="ctr">
                    <a:solidFill>
                      <a:schemeClr val="accent1">
                        <a:lumMod val="20000"/>
                        <a:lumOff val="80000"/>
                      </a:schemeClr>
                    </a:solidFill>
                  </a:tcPr>
                </a:tc>
                <a:tc rowSpan="4">
                  <a:txBody>
                    <a:bodyPr/>
                    <a:lstStyle/>
                    <a:p>
                      <a:pPr algn="ctr" latinLnBrk="1"/>
                      <a:r>
                        <a:rPr lang="ko-KR" altLang="en-US" sz="1200" dirty="0">
                          <a:latin typeface="+mn-ea"/>
                          <a:ea typeface="+mn-ea"/>
                        </a:rPr>
                        <a:t>판매</a:t>
                      </a:r>
                    </a:p>
                  </a:txBody>
                  <a:tcPr anchor="ctr">
                    <a:solidFill>
                      <a:schemeClr val="accent1">
                        <a:lumMod val="20000"/>
                        <a:lumOff val="80000"/>
                      </a:schemeClr>
                    </a:solidFill>
                  </a:tcPr>
                </a:tc>
                <a:tc gridSpan="3">
                  <a:txBody>
                    <a:bodyPr/>
                    <a:lstStyle/>
                    <a:p>
                      <a:pPr algn="ctr" latinLnBrk="1"/>
                      <a:r>
                        <a:rPr lang="ko-KR" altLang="en-US" sz="1200" dirty="0">
                          <a:latin typeface="+mn-ea"/>
                          <a:ea typeface="+mn-ea"/>
                        </a:rPr>
                        <a:t>甲 특허 침해여부 및 실시방안</a:t>
                      </a:r>
                    </a:p>
                  </a:txBody>
                  <a:tcPr anchor="ctr">
                    <a:solidFill>
                      <a:schemeClr val="accent1">
                        <a:lumMod val="20000"/>
                        <a:lumOff val="80000"/>
                      </a:schemeClr>
                    </a:solidFill>
                  </a:tcPr>
                </a:tc>
                <a:tc hMerge="1">
                  <a:txBody>
                    <a:bodyPr/>
                    <a:lstStyle/>
                    <a:p>
                      <a:pPr latinLnBrk="1"/>
                      <a:endParaRPr lang="ko-KR" altLang="en-US"/>
                    </a:p>
                  </a:txBody>
                  <a:tcPr/>
                </a:tc>
                <a:tc hMerge="1">
                  <a:txBody>
                    <a:bodyPr/>
                    <a:lstStyle/>
                    <a:p>
                      <a:pPr latinLnBrk="1"/>
                      <a:endParaRPr lang="ko-KR" altLang="en-US"/>
                    </a:p>
                  </a:txBody>
                  <a:tcPr/>
                </a:tc>
                <a:tc gridSpan="3">
                  <a:txBody>
                    <a:bodyPr/>
                    <a:lstStyle/>
                    <a:p>
                      <a:pPr algn="ctr" latinLnBrk="1"/>
                      <a:r>
                        <a:rPr lang="ko-KR" altLang="en-US" sz="1200" dirty="0">
                          <a:latin typeface="+mn-ea"/>
                          <a:ea typeface="+mn-ea"/>
                        </a:rPr>
                        <a:t>乙 특허 침해여부 및 실시방안</a:t>
                      </a:r>
                    </a:p>
                  </a:txBody>
                  <a:tcPr anchor="ctr">
                    <a:solidFill>
                      <a:schemeClr val="accent1">
                        <a:lumMod val="20000"/>
                        <a:lumOff val="80000"/>
                      </a:schemeClr>
                    </a:solidFill>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0"/>
                  </a:ext>
                </a:extLst>
              </a:tr>
              <a:tr h="117364">
                <a:tc vMerge="1">
                  <a:txBody>
                    <a:bodyPr/>
                    <a:lstStyle/>
                    <a:p>
                      <a:pPr latinLnBrk="1"/>
                      <a:endParaRPr lang="ko-KR" altLang="en-US"/>
                    </a:p>
                  </a:txBody>
                  <a:tcPr/>
                </a:tc>
                <a:tc vMerge="1">
                  <a:txBody>
                    <a:bodyPr/>
                    <a:lstStyle/>
                    <a:p>
                      <a:pPr latinLnBrk="1"/>
                      <a:endParaRPr lang="ko-KR" altLang="en-US"/>
                    </a:p>
                  </a:txBody>
                  <a:tcPr/>
                </a:tc>
                <a:tc rowSpan="3">
                  <a:txBody>
                    <a:bodyPr/>
                    <a:lstStyle/>
                    <a:p>
                      <a:pPr algn="ctr" latinLnBrk="1"/>
                      <a:r>
                        <a:rPr lang="ko-KR" altLang="en-US" sz="1200" dirty="0">
                          <a:latin typeface="+mn-ea"/>
                          <a:ea typeface="+mn-ea"/>
                        </a:rPr>
                        <a:t>침해여부</a:t>
                      </a:r>
                    </a:p>
                  </a:txBody>
                  <a:tcPr anchor="ctr">
                    <a:solidFill>
                      <a:schemeClr val="accent1">
                        <a:lumMod val="20000"/>
                        <a:lumOff val="80000"/>
                      </a:schemeClr>
                    </a:solidFill>
                  </a:tcPr>
                </a:tc>
                <a:tc rowSpan="2" gridSpan="2">
                  <a:txBody>
                    <a:bodyPr/>
                    <a:lstStyle/>
                    <a:p>
                      <a:pPr algn="ctr" latinLnBrk="1"/>
                      <a:r>
                        <a:rPr lang="ko-KR" altLang="en-US" sz="1200" dirty="0">
                          <a:latin typeface="+mn-ea"/>
                          <a:ea typeface="+mn-ea"/>
                        </a:rPr>
                        <a:t>실시방안</a:t>
                      </a:r>
                    </a:p>
                  </a:txBody>
                  <a:tcPr anchor="ctr">
                    <a:solidFill>
                      <a:schemeClr val="accent1">
                        <a:lumMod val="20000"/>
                        <a:lumOff val="80000"/>
                      </a:schemeClr>
                    </a:solidFill>
                  </a:tcPr>
                </a:tc>
                <a:tc rowSpan="2" hMerge="1">
                  <a:txBody>
                    <a:bodyPr/>
                    <a:lstStyle/>
                    <a:p>
                      <a:pPr latinLnBrk="1"/>
                      <a:endParaRPr lang="ko-KR" altLang="en-US"/>
                    </a:p>
                  </a:txBody>
                  <a:tcPr/>
                </a:tc>
                <a:tc rowSpan="3">
                  <a:txBody>
                    <a:bodyPr/>
                    <a:lstStyle/>
                    <a:p>
                      <a:pPr algn="ctr" latinLnBrk="1"/>
                      <a:r>
                        <a:rPr lang="ko-KR" altLang="en-US" sz="1200" dirty="0">
                          <a:latin typeface="+mn-ea"/>
                          <a:ea typeface="+mn-ea"/>
                        </a:rPr>
                        <a:t>침해여부</a:t>
                      </a:r>
                    </a:p>
                  </a:txBody>
                  <a:tcPr anchor="ctr">
                    <a:solidFill>
                      <a:schemeClr val="accent1">
                        <a:lumMod val="20000"/>
                        <a:lumOff val="80000"/>
                      </a:schemeClr>
                    </a:solidFill>
                  </a:tcPr>
                </a:tc>
                <a:tc gridSpan="2">
                  <a:txBody>
                    <a:bodyPr/>
                    <a:lstStyle/>
                    <a:p>
                      <a:pPr algn="ctr" latinLnBrk="1"/>
                      <a:r>
                        <a:rPr lang="ko-KR" altLang="en-US" sz="1200" dirty="0">
                          <a:latin typeface="+mn-ea"/>
                          <a:ea typeface="+mn-ea"/>
                        </a:rPr>
                        <a:t>실시방안</a:t>
                      </a:r>
                    </a:p>
                  </a:txBody>
                  <a:tcPr anchor="c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val="10001"/>
                  </a:ext>
                </a:extLst>
              </a:tr>
              <a:tr h="0">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gridSpan="2" vMerge="1">
                  <a:txBody>
                    <a:bodyPr/>
                    <a:lstStyle/>
                    <a:p>
                      <a:pPr latinLnBrk="1"/>
                      <a:endParaRPr lang="ko-KR" altLang="en-US"/>
                    </a:p>
                  </a:txBody>
                  <a:tcPr/>
                </a:tc>
                <a:tc hMerge="1" vMerge="1">
                  <a:txBody>
                    <a:bodyPr/>
                    <a:lstStyle/>
                    <a:p>
                      <a:pPr latinLnBrk="1"/>
                      <a:endParaRPr lang="ko-KR" altLang="en-US"/>
                    </a:p>
                  </a:txBody>
                  <a:tcPr/>
                </a:tc>
                <a:tc vMerge="1">
                  <a:txBody>
                    <a:bodyPr/>
                    <a:lstStyle/>
                    <a:p>
                      <a:pPr latinLnBrk="1"/>
                      <a:endParaRPr lang="ko-KR" altLang="en-US"/>
                    </a:p>
                  </a:txBody>
                  <a:tcPr/>
                </a:tc>
                <a:tc rowSpan="2">
                  <a:txBody>
                    <a:bodyPr/>
                    <a:lstStyle/>
                    <a:p>
                      <a:pPr algn="ctr" latinLnBrk="1"/>
                      <a:r>
                        <a:rPr lang="ko-KR" altLang="en-US" sz="1200" dirty="0">
                          <a:latin typeface="+mn-ea"/>
                          <a:ea typeface="+mn-ea"/>
                        </a:rPr>
                        <a:t>허락</a:t>
                      </a:r>
                    </a:p>
                  </a:txBody>
                  <a:tcPr anchor="ctr">
                    <a:solidFill>
                      <a:schemeClr val="accent1">
                        <a:lumMod val="20000"/>
                        <a:lumOff val="80000"/>
                      </a:schemeClr>
                    </a:solidFill>
                  </a:tcPr>
                </a:tc>
                <a:tc rowSpan="2">
                  <a:txBody>
                    <a:bodyPr/>
                    <a:lstStyle/>
                    <a:p>
                      <a:pPr algn="ctr" latinLnBrk="1"/>
                      <a:r>
                        <a:rPr lang="ko-KR" altLang="en-US" sz="1200" dirty="0" err="1">
                          <a:latin typeface="+mn-ea"/>
                          <a:ea typeface="+mn-ea"/>
                        </a:rPr>
                        <a:t>통상실시권</a:t>
                      </a:r>
                      <a:endParaRPr lang="en-US" altLang="ko-KR" sz="1200" dirty="0">
                        <a:latin typeface="+mn-ea"/>
                        <a:ea typeface="+mn-ea"/>
                      </a:endParaRPr>
                    </a:p>
                    <a:p>
                      <a:pPr algn="ctr" latinLnBrk="1"/>
                      <a:r>
                        <a:rPr lang="ko-KR" altLang="en-US" sz="1200" dirty="0">
                          <a:latin typeface="+mn-ea"/>
                          <a:ea typeface="+mn-ea"/>
                        </a:rPr>
                        <a:t>허락심판청구</a:t>
                      </a:r>
                    </a:p>
                  </a:txBody>
                  <a:tcPr anchor="ctr">
                    <a:solidFill>
                      <a:schemeClr val="accent1">
                        <a:lumMod val="20000"/>
                        <a:lumOff val="80000"/>
                      </a:schemeClr>
                    </a:solidFill>
                  </a:tcPr>
                </a:tc>
                <a:extLst>
                  <a:ext uri="{0D108BD9-81ED-4DB2-BD59-A6C34878D82A}">
                    <a16:rowId xmlns:a16="http://schemas.microsoft.com/office/drawing/2014/main" val="10002"/>
                  </a:ext>
                </a:extLst>
              </a:tr>
              <a:tr h="405440">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algn="ctr" latinLnBrk="1"/>
                      <a:r>
                        <a:rPr lang="ko-KR" altLang="en-US" sz="1200" dirty="0">
                          <a:latin typeface="+mn-ea"/>
                          <a:ea typeface="+mn-ea"/>
                        </a:rPr>
                        <a:t>허락</a:t>
                      </a:r>
                    </a:p>
                  </a:txBody>
                  <a:tcPr anchor="ctr">
                    <a:solidFill>
                      <a:schemeClr val="accent1">
                        <a:lumMod val="20000"/>
                        <a:lumOff val="80000"/>
                      </a:schemeClr>
                    </a:solidFill>
                  </a:tcPr>
                </a:tc>
                <a:tc>
                  <a:txBody>
                    <a:bodyPr/>
                    <a:lstStyle/>
                    <a:p>
                      <a:pPr algn="ctr" latinLnBrk="1"/>
                      <a:r>
                        <a:rPr lang="ko-KR" altLang="en-US" sz="1200" dirty="0" err="1">
                          <a:latin typeface="+mn-ea"/>
                          <a:ea typeface="+mn-ea"/>
                        </a:rPr>
                        <a:t>통상실시권</a:t>
                      </a:r>
                      <a:endParaRPr lang="en-US" altLang="ko-KR" sz="1200" dirty="0">
                        <a:latin typeface="+mn-ea"/>
                        <a:ea typeface="+mn-ea"/>
                      </a:endParaRPr>
                    </a:p>
                    <a:p>
                      <a:pPr algn="ctr" latinLnBrk="1"/>
                      <a:r>
                        <a:rPr lang="ko-KR" altLang="en-US" sz="1200" dirty="0">
                          <a:latin typeface="+mn-ea"/>
                          <a:ea typeface="+mn-ea"/>
                        </a:rPr>
                        <a:t>허락심판청구</a:t>
                      </a:r>
                    </a:p>
                  </a:txBody>
                  <a:tcPr anchor="ctr">
                    <a:solidFill>
                      <a:schemeClr val="accent1">
                        <a:lumMod val="20000"/>
                        <a:lumOff val="80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3"/>
                  </a:ext>
                </a:extLst>
              </a:tr>
              <a:tr h="0">
                <a:tc rowSpan="2">
                  <a:txBody>
                    <a:bodyPr/>
                    <a:lstStyle/>
                    <a:p>
                      <a:pPr algn="ctr" latinLnBrk="1"/>
                      <a:r>
                        <a:rPr lang="ko-KR" altLang="en-US" sz="1200" dirty="0">
                          <a:latin typeface="+mn-ea"/>
                          <a:ea typeface="+mn-ea"/>
                        </a:rPr>
                        <a:t>甲</a:t>
                      </a:r>
                    </a:p>
                  </a:txBody>
                  <a:tcPr anchor="ctr"/>
                </a:tc>
                <a:tc>
                  <a:txBody>
                    <a:bodyPr/>
                    <a:lstStyle/>
                    <a:p>
                      <a:pPr algn="ctr" latinLnBrk="1"/>
                      <a:r>
                        <a:rPr lang="ko-KR" altLang="en-US" sz="1200" dirty="0">
                          <a:latin typeface="+mn-ea"/>
                          <a:ea typeface="+mn-ea"/>
                        </a:rPr>
                        <a:t>자전거</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1200" kern="1200" dirty="0">
                        <a:solidFill>
                          <a:schemeClr val="dk1"/>
                        </a:solidFill>
                        <a:effectLst/>
                        <a:latin typeface="+mn-ea"/>
                        <a:ea typeface="+mn-ea"/>
                        <a:cs typeface="+mn-cs"/>
                      </a:endParaRPr>
                    </a:p>
                  </a:txBody>
                  <a:tcPr anchor="ctr">
                    <a:solidFill>
                      <a:schemeClr val="bg1">
                        <a:lumMod val="50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1200" kern="1200" dirty="0">
                        <a:solidFill>
                          <a:schemeClr val="dk1"/>
                        </a:solidFill>
                        <a:effectLst/>
                        <a:latin typeface="+mn-ea"/>
                        <a:ea typeface="+mn-ea"/>
                        <a:cs typeface="+mn-cs"/>
                      </a:endParaRPr>
                    </a:p>
                  </a:txBody>
                  <a:tcPr anchor="ctr">
                    <a:solidFill>
                      <a:schemeClr val="bg1">
                        <a:lumMod val="50000"/>
                      </a:schemeClr>
                    </a:solidFill>
                  </a:tcPr>
                </a:tc>
                <a:tc>
                  <a:txBody>
                    <a:bodyPr/>
                    <a:lstStyle/>
                    <a:p>
                      <a:pPr algn="ctr"/>
                      <a:endParaRPr lang="ko-KR" altLang="en-US" sz="1200" dirty="0">
                        <a:latin typeface="+mn-ea"/>
                        <a:ea typeface="+mn-ea"/>
                      </a:endParaRPr>
                    </a:p>
                  </a:txBody>
                  <a:tcPr anchor="ctr">
                    <a:solidFill>
                      <a:schemeClr val="bg1">
                        <a:lumMod val="50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kern="1200" dirty="0">
                          <a:effectLst/>
                          <a:latin typeface="+mn-ea"/>
                          <a:ea typeface="+mn-ea"/>
                        </a:rPr>
                        <a:t>×</a:t>
                      </a:r>
                      <a:endParaRPr lang="en-US" altLang="ko-KR" sz="1200" kern="1200" dirty="0">
                        <a:solidFill>
                          <a:schemeClr val="dk1"/>
                        </a:solidFill>
                        <a:effectLst/>
                        <a:latin typeface="+mn-ea"/>
                        <a:ea typeface="+mn-ea"/>
                        <a:cs typeface="+mn-cs"/>
                      </a:endParaRPr>
                    </a:p>
                  </a:txBody>
                  <a:tcPr anchor="ctr"/>
                </a:tc>
                <a:tc>
                  <a:txBody>
                    <a:bodyPr/>
                    <a:lstStyle/>
                    <a:p>
                      <a:pPr algn="ctr" latinLnBrk="1"/>
                      <a:r>
                        <a:rPr lang="en-US" altLang="ko-KR" sz="1200" kern="1200" dirty="0">
                          <a:effectLst/>
                          <a:latin typeface="+mn-ea"/>
                          <a:ea typeface="+mn-ea"/>
                        </a:rPr>
                        <a:t>-</a:t>
                      </a:r>
                      <a:endParaRPr lang="ko-KR" altLang="en-US" sz="1200" dirty="0">
                        <a:latin typeface="+mn-ea"/>
                        <a:ea typeface="+mn-ea"/>
                      </a:endParaRPr>
                    </a:p>
                  </a:txBody>
                  <a:tcPr anchor="ctr"/>
                </a:tc>
                <a:tc>
                  <a:txBody>
                    <a:bodyPr/>
                    <a:lstStyle/>
                    <a:p>
                      <a:pPr algn="ctr" latinLnBrk="1"/>
                      <a:r>
                        <a:rPr lang="en-US" altLang="ko-KR" sz="1200" kern="1200" dirty="0">
                          <a:effectLst/>
                          <a:latin typeface="+mn-ea"/>
                          <a:ea typeface="+mn-ea"/>
                        </a:rPr>
                        <a:t>-</a:t>
                      </a:r>
                      <a:endParaRPr lang="ko-KR" altLang="en-US" sz="1200" dirty="0">
                        <a:latin typeface="+mn-ea"/>
                        <a:ea typeface="+mn-ea"/>
                      </a:endParaRPr>
                    </a:p>
                  </a:txBody>
                  <a:tcPr anchor="ctr"/>
                </a:tc>
                <a:extLst>
                  <a:ext uri="{0D108BD9-81ED-4DB2-BD59-A6C34878D82A}">
                    <a16:rowId xmlns:a16="http://schemas.microsoft.com/office/drawing/2014/main" val="10004"/>
                  </a:ext>
                </a:extLst>
              </a:tr>
              <a:tr h="0">
                <a:tc vMerge="1">
                  <a:txBody>
                    <a:bodyPr/>
                    <a:lstStyle/>
                    <a:p>
                      <a:pPr algn="ctr" latinLnBrk="1"/>
                      <a:endParaRPr lang="ko-KR" altLang="en-US" sz="1200" dirty="0">
                        <a:latin typeface="+mn-ea"/>
                        <a:ea typeface="+mn-ea"/>
                      </a:endParaRPr>
                    </a:p>
                  </a:txBody>
                  <a:tcPr anchor="ctr"/>
                </a:tc>
                <a:tc>
                  <a:txBody>
                    <a:bodyPr/>
                    <a:lstStyle/>
                    <a:p>
                      <a:pPr algn="ctr" latinLnBrk="1"/>
                      <a:r>
                        <a:rPr lang="ko-KR" altLang="en-US" sz="1200" dirty="0" err="1">
                          <a:latin typeface="+mn-ea"/>
                          <a:ea typeface="+mn-ea"/>
                        </a:rPr>
                        <a:t>라이트</a:t>
                      </a:r>
                      <a:r>
                        <a:rPr lang="en-US" altLang="ko-KR" sz="1200" dirty="0">
                          <a:latin typeface="+mn-ea"/>
                          <a:ea typeface="+mn-ea"/>
                        </a:rPr>
                        <a:t>+</a:t>
                      </a:r>
                      <a:r>
                        <a:rPr lang="ko-KR" altLang="en-US" sz="1200" dirty="0">
                          <a:latin typeface="+mn-ea"/>
                          <a:ea typeface="+mn-ea"/>
                        </a:rPr>
                        <a:t>자전거</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endParaRPr lang="en-US" altLang="ko-KR" sz="1200" kern="1200" dirty="0">
                        <a:solidFill>
                          <a:schemeClr val="dk1"/>
                        </a:solidFill>
                        <a:effectLst/>
                        <a:latin typeface="+mn-ea"/>
                        <a:ea typeface="+mn-ea"/>
                        <a:cs typeface="+mn-cs"/>
                      </a:endParaRPr>
                    </a:p>
                  </a:txBody>
                  <a:tcPr anchor="ctr">
                    <a:solidFill>
                      <a:schemeClr val="bg1">
                        <a:lumMod val="50000"/>
                      </a:schemeClr>
                    </a:solidFill>
                  </a:tcPr>
                </a:tc>
                <a:tc>
                  <a:txBody>
                    <a:bodyPr/>
                    <a:lstStyle/>
                    <a:p>
                      <a:pPr algn="ctr"/>
                      <a:endParaRPr lang="ko-KR" altLang="en-US" sz="1200" dirty="0">
                        <a:latin typeface="+mn-ea"/>
                        <a:ea typeface="+mn-ea"/>
                      </a:endParaRPr>
                    </a:p>
                  </a:txBody>
                  <a:tcPr anchor="ctr">
                    <a:solidFill>
                      <a:schemeClr val="bg1">
                        <a:lumMod val="50000"/>
                      </a:schemeClr>
                    </a:solidFill>
                  </a:tcPr>
                </a:tc>
                <a:tc>
                  <a:txBody>
                    <a:bodyPr/>
                    <a:lstStyle/>
                    <a:p>
                      <a:pPr algn="ctr"/>
                      <a:endParaRPr lang="ko-KR" altLang="en-US" sz="1200" dirty="0">
                        <a:latin typeface="+mn-ea"/>
                        <a:ea typeface="+mn-ea"/>
                      </a:endParaRPr>
                    </a:p>
                  </a:txBody>
                  <a:tcPr anchor="ctr">
                    <a:solidFill>
                      <a:schemeClr val="bg1">
                        <a:lumMod val="50000"/>
                      </a:schemeClr>
                    </a:solidFill>
                  </a:tcPr>
                </a:tc>
                <a:tc>
                  <a:txBody>
                    <a:bodyPr/>
                    <a:lstStyle/>
                    <a:p>
                      <a:pPr algn="ctr" fontAlgn="base" latinLnBrk="1"/>
                      <a:r>
                        <a:rPr lang="ko-KR" altLang="en-US" sz="1200" kern="1200" dirty="0">
                          <a:effectLst/>
                          <a:latin typeface="+mn-ea"/>
                          <a:ea typeface="+mn-ea"/>
                        </a:rPr>
                        <a:t>○</a:t>
                      </a:r>
                      <a:endParaRPr lang="ko-KR" altLang="en-US" sz="1200" kern="1200" dirty="0">
                        <a:solidFill>
                          <a:schemeClr val="dk1"/>
                        </a:solidFill>
                        <a:effectLst/>
                        <a:latin typeface="+mn-ea"/>
                        <a:ea typeface="+mn-ea"/>
                        <a:cs typeface="+mn-cs"/>
                      </a:endParaRPr>
                    </a:p>
                  </a:txBody>
                  <a:tcPr anchor="ctr"/>
                </a:tc>
                <a:tc>
                  <a:txBody>
                    <a:bodyPr/>
                    <a:lstStyle/>
                    <a:p>
                      <a:pPr algn="ctr" latinLnBrk="1"/>
                      <a:r>
                        <a:rPr lang="ko-KR" altLang="en-US" sz="1200" kern="1200" dirty="0">
                          <a:effectLst/>
                          <a:latin typeface="+mn-ea"/>
                          <a:ea typeface="+mn-ea"/>
                        </a:rPr>
                        <a:t>○</a:t>
                      </a:r>
                      <a:endParaRPr lang="ko-KR" altLang="en-US" sz="1200" dirty="0">
                        <a:latin typeface="+mn-ea"/>
                        <a:ea typeface="+mn-ea"/>
                      </a:endParaRPr>
                    </a:p>
                  </a:txBody>
                  <a:tcPr anchor="ctr"/>
                </a:tc>
                <a:tc>
                  <a:txBody>
                    <a:bodyPr/>
                    <a:lstStyle/>
                    <a:p>
                      <a:pPr algn="ctr" latinLnBrk="1"/>
                      <a:r>
                        <a:rPr lang="ko-KR" altLang="en-US" sz="1200" kern="1200" dirty="0">
                          <a:effectLst/>
                          <a:latin typeface="+mn-ea"/>
                          <a:ea typeface="+mn-ea"/>
                        </a:rPr>
                        <a:t>○</a:t>
                      </a:r>
                      <a:endParaRPr lang="ko-KR" altLang="en-US" sz="1200" dirty="0">
                        <a:latin typeface="+mn-ea"/>
                        <a:ea typeface="+mn-ea"/>
                      </a:endParaRPr>
                    </a:p>
                  </a:txBody>
                  <a:tcPr anchor="ctr"/>
                </a:tc>
                <a:extLst>
                  <a:ext uri="{0D108BD9-81ED-4DB2-BD59-A6C34878D82A}">
                    <a16:rowId xmlns:a16="http://schemas.microsoft.com/office/drawing/2014/main" val="10005"/>
                  </a:ext>
                </a:extLst>
              </a:tr>
              <a:tr h="0">
                <a:tc rowSpan="2">
                  <a:txBody>
                    <a:bodyPr/>
                    <a:lstStyle/>
                    <a:p>
                      <a:pPr algn="ctr" latinLnBrk="1"/>
                      <a:r>
                        <a:rPr lang="ko-KR" altLang="en-US" sz="1200" dirty="0">
                          <a:latin typeface="+mn-ea"/>
                          <a:ea typeface="+mn-ea"/>
                        </a:rPr>
                        <a:t>乙</a:t>
                      </a:r>
                    </a:p>
                  </a:txBody>
                  <a:tcPr anchor="ctr"/>
                </a:tc>
                <a:tc>
                  <a:txBody>
                    <a:bodyPr/>
                    <a:lstStyle/>
                    <a:p>
                      <a:pPr algn="ctr" latinLnBrk="1"/>
                      <a:r>
                        <a:rPr lang="ko-KR" altLang="en-US" sz="1200" dirty="0">
                          <a:latin typeface="+mn-ea"/>
                          <a:ea typeface="+mn-ea"/>
                        </a:rPr>
                        <a:t>자전거</a:t>
                      </a:r>
                    </a:p>
                  </a:txBody>
                  <a:tcPr anchor="ctr"/>
                </a:tc>
                <a:tc>
                  <a:txBody>
                    <a:bodyPr/>
                    <a:lstStyle/>
                    <a:p>
                      <a:pPr algn="ctr" latinLnBrk="1"/>
                      <a:r>
                        <a:rPr lang="ko-KR" altLang="en-US" sz="1200" kern="1200" dirty="0">
                          <a:effectLst/>
                          <a:latin typeface="+mn-ea"/>
                          <a:ea typeface="+mn-ea"/>
                        </a:rPr>
                        <a:t>○</a:t>
                      </a:r>
                      <a:endParaRPr lang="ko-KR" altLang="en-US" sz="1200" dirty="0">
                        <a:latin typeface="+mn-ea"/>
                        <a:ea typeface="+mn-ea"/>
                      </a:endParaRPr>
                    </a:p>
                  </a:txBody>
                  <a:tcPr anchor="ctr"/>
                </a:tc>
                <a:tc>
                  <a:txBody>
                    <a:bodyPr/>
                    <a:lstStyle/>
                    <a:p>
                      <a:pPr algn="ctr"/>
                      <a:r>
                        <a:rPr lang="ko-KR" altLang="en-US" sz="1200" kern="1200" dirty="0">
                          <a:effectLst/>
                          <a:latin typeface="+mn-ea"/>
                          <a:ea typeface="+mn-ea"/>
                        </a:rPr>
                        <a:t>○</a:t>
                      </a:r>
                      <a:endParaRPr lang="ko-KR" altLang="en-US" sz="1200" dirty="0">
                        <a:latin typeface="+mn-ea"/>
                        <a:ea typeface="+mn-ea"/>
                      </a:endParaRPr>
                    </a:p>
                  </a:txBody>
                  <a:tcPr anchor="ctr"/>
                </a:tc>
                <a:tc>
                  <a:txBody>
                    <a:bodyPr/>
                    <a:lstStyle/>
                    <a:p>
                      <a:pPr algn="ctr"/>
                      <a:r>
                        <a:rPr lang="en-US" altLang="ko-KR" sz="1200" kern="1200" dirty="0">
                          <a:effectLst/>
                          <a:latin typeface="+mn-ea"/>
                          <a:ea typeface="+mn-ea"/>
                        </a:rPr>
                        <a:t>×</a:t>
                      </a:r>
                      <a:endParaRPr lang="ko-KR" altLang="en-US" sz="1200" dirty="0">
                        <a:latin typeface="+mn-ea"/>
                        <a:ea typeface="+mn-ea"/>
                      </a:endParaRPr>
                    </a:p>
                  </a:txBody>
                  <a:tcPr anchor="ctr"/>
                </a:tc>
                <a:tc>
                  <a:txBody>
                    <a:bodyPr/>
                    <a:lstStyle/>
                    <a:p>
                      <a:pPr algn="ctr" latinLnBrk="1"/>
                      <a:endParaRPr lang="ko-KR" altLang="en-US" sz="1200" dirty="0">
                        <a:latin typeface="+mn-ea"/>
                        <a:ea typeface="+mn-ea"/>
                      </a:endParaRPr>
                    </a:p>
                  </a:txBody>
                  <a:tcPr anchor="ctr">
                    <a:solidFill>
                      <a:schemeClr val="bg1">
                        <a:lumMod val="50000"/>
                      </a:schemeClr>
                    </a:solidFill>
                  </a:tcPr>
                </a:tc>
                <a:tc>
                  <a:txBody>
                    <a:bodyPr/>
                    <a:lstStyle/>
                    <a:p>
                      <a:pPr algn="ctr" latinLnBrk="1"/>
                      <a:endParaRPr lang="ko-KR" altLang="en-US" sz="1200" dirty="0">
                        <a:latin typeface="+mn-ea"/>
                        <a:ea typeface="+mn-ea"/>
                      </a:endParaRPr>
                    </a:p>
                  </a:txBody>
                  <a:tcPr anchor="ctr">
                    <a:solidFill>
                      <a:schemeClr val="bg1">
                        <a:lumMod val="50000"/>
                      </a:schemeClr>
                    </a:solidFill>
                  </a:tcPr>
                </a:tc>
                <a:tc>
                  <a:txBody>
                    <a:bodyPr/>
                    <a:lstStyle/>
                    <a:p>
                      <a:pPr algn="ctr" latinLnBrk="1"/>
                      <a:endParaRPr lang="ko-KR" altLang="en-US" sz="1200" dirty="0">
                        <a:latin typeface="+mn-ea"/>
                        <a:ea typeface="+mn-ea"/>
                      </a:endParaRPr>
                    </a:p>
                  </a:txBody>
                  <a:tcPr anchor="ctr">
                    <a:solidFill>
                      <a:schemeClr val="bg1">
                        <a:lumMod val="50000"/>
                      </a:schemeClr>
                    </a:solidFill>
                  </a:tcPr>
                </a:tc>
                <a:extLst>
                  <a:ext uri="{0D108BD9-81ED-4DB2-BD59-A6C34878D82A}">
                    <a16:rowId xmlns:a16="http://schemas.microsoft.com/office/drawing/2014/main" val="10006"/>
                  </a:ext>
                </a:extLst>
              </a:tr>
              <a:tr h="0">
                <a:tc vMerge="1">
                  <a:txBody>
                    <a:bodyPr/>
                    <a:lstStyle/>
                    <a:p>
                      <a:pPr algn="ctr" latinLnBrk="1"/>
                      <a:endParaRPr lang="ko-KR" altLang="en-US" sz="1200" dirty="0">
                        <a:latin typeface="+mn-ea"/>
                        <a:ea typeface="+mn-ea"/>
                      </a:endParaRPr>
                    </a:p>
                  </a:txBody>
                  <a:tcPr anchor="ctr"/>
                </a:tc>
                <a:tc>
                  <a:txBody>
                    <a:bodyPr/>
                    <a:lstStyle/>
                    <a:p>
                      <a:pPr algn="ctr" latinLnBrk="1"/>
                      <a:r>
                        <a:rPr lang="ko-KR" altLang="en-US" sz="1200" dirty="0" err="1">
                          <a:latin typeface="+mn-ea"/>
                          <a:ea typeface="+mn-ea"/>
                        </a:rPr>
                        <a:t>라이트</a:t>
                      </a:r>
                      <a:r>
                        <a:rPr lang="en-US" altLang="ko-KR" sz="1200" dirty="0">
                          <a:latin typeface="+mn-ea"/>
                          <a:ea typeface="+mn-ea"/>
                        </a:rPr>
                        <a:t>+</a:t>
                      </a:r>
                      <a:r>
                        <a:rPr lang="ko-KR" altLang="en-US" sz="1200" dirty="0">
                          <a:latin typeface="+mn-ea"/>
                          <a:ea typeface="+mn-ea"/>
                        </a:rPr>
                        <a:t>자전거</a:t>
                      </a:r>
                    </a:p>
                  </a:txBody>
                  <a:tcPr anchor="ctr"/>
                </a:tc>
                <a:tc>
                  <a:txBody>
                    <a:bodyPr/>
                    <a:lstStyle/>
                    <a:p>
                      <a:pPr algn="ctr" latinLnBrk="1"/>
                      <a:r>
                        <a:rPr lang="ko-KR" altLang="en-US" sz="1200" kern="1200" dirty="0">
                          <a:effectLst/>
                          <a:latin typeface="+mn-ea"/>
                          <a:ea typeface="+mn-ea"/>
                        </a:rPr>
                        <a:t>○</a:t>
                      </a:r>
                      <a:endParaRPr lang="ko-KR" altLang="en-US" sz="1200" dirty="0">
                        <a:latin typeface="+mn-ea"/>
                        <a:ea typeface="+mn-ea"/>
                      </a:endParaRPr>
                    </a:p>
                  </a:txBody>
                  <a:tcPr anchor="ctr"/>
                </a:tc>
                <a:tc>
                  <a:txBody>
                    <a:bodyPr/>
                    <a:lstStyle/>
                    <a:p>
                      <a:pPr algn="ctr"/>
                      <a:r>
                        <a:rPr lang="ko-KR" altLang="en-US" sz="1200" kern="1200" dirty="0">
                          <a:effectLst/>
                          <a:latin typeface="+mn-ea"/>
                          <a:ea typeface="+mn-ea"/>
                        </a:rPr>
                        <a:t>○</a:t>
                      </a:r>
                      <a:endParaRPr lang="ko-KR" altLang="en-US" sz="1200" dirty="0">
                        <a:latin typeface="+mn-ea"/>
                        <a:ea typeface="+mn-ea"/>
                      </a:endParaRPr>
                    </a:p>
                  </a:txBody>
                  <a:tcPr anchor="ctr"/>
                </a:tc>
                <a:tc>
                  <a:txBody>
                    <a:bodyPr/>
                    <a:lstStyle/>
                    <a:p>
                      <a:pPr algn="ctr"/>
                      <a:r>
                        <a:rPr lang="ko-KR" altLang="en-US" sz="1200" kern="1200" dirty="0">
                          <a:effectLst/>
                          <a:latin typeface="+mn-ea"/>
                          <a:ea typeface="+mn-ea"/>
                        </a:rPr>
                        <a:t>○</a:t>
                      </a:r>
                      <a:endParaRPr lang="ko-KR" altLang="en-US" sz="1200" dirty="0">
                        <a:latin typeface="+mn-ea"/>
                        <a:ea typeface="+mn-ea"/>
                      </a:endParaRPr>
                    </a:p>
                  </a:txBody>
                  <a:tcPr anchor="ctr"/>
                </a:tc>
                <a:tc>
                  <a:txBody>
                    <a:bodyPr/>
                    <a:lstStyle/>
                    <a:p>
                      <a:pPr algn="ctr" latinLnBrk="1"/>
                      <a:endParaRPr lang="ko-KR" altLang="en-US" sz="1200" dirty="0">
                        <a:latin typeface="+mn-ea"/>
                        <a:ea typeface="+mn-ea"/>
                      </a:endParaRPr>
                    </a:p>
                  </a:txBody>
                  <a:tcPr anchor="ctr">
                    <a:solidFill>
                      <a:schemeClr val="bg1">
                        <a:lumMod val="50000"/>
                      </a:schemeClr>
                    </a:solidFill>
                  </a:tcPr>
                </a:tc>
                <a:tc>
                  <a:txBody>
                    <a:bodyPr/>
                    <a:lstStyle/>
                    <a:p>
                      <a:pPr algn="ctr" latinLnBrk="1"/>
                      <a:endParaRPr lang="ko-KR" altLang="en-US" sz="1200" dirty="0">
                        <a:latin typeface="+mn-ea"/>
                        <a:ea typeface="+mn-ea"/>
                      </a:endParaRPr>
                    </a:p>
                  </a:txBody>
                  <a:tcPr anchor="ctr">
                    <a:solidFill>
                      <a:schemeClr val="bg1">
                        <a:lumMod val="50000"/>
                      </a:schemeClr>
                    </a:solidFill>
                  </a:tcPr>
                </a:tc>
                <a:tc>
                  <a:txBody>
                    <a:bodyPr/>
                    <a:lstStyle/>
                    <a:p>
                      <a:pPr algn="ctr" latinLnBrk="1"/>
                      <a:endParaRPr lang="ko-KR" altLang="en-US" sz="1200" dirty="0">
                        <a:latin typeface="+mn-ea"/>
                        <a:ea typeface="+mn-ea"/>
                      </a:endParaRPr>
                    </a:p>
                  </a:txBody>
                  <a:tcPr anchor="ctr">
                    <a:solidFill>
                      <a:schemeClr val="bg1">
                        <a:lumMod val="50000"/>
                      </a:schemeClr>
                    </a:solidFill>
                  </a:tcPr>
                </a:tc>
                <a:extLst>
                  <a:ext uri="{0D108BD9-81ED-4DB2-BD59-A6C34878D82A}">
                    <a16:rowId xmlns:a16="http://schemas.microsoft.com/office/drawing/2014/main" val="10007"/>
                  </a:ext>
                </a:extLst>
              </a:tr>
              <a:tr h="0">
                <a:tc rowSpan="2">
                  <a:txBody>
                    <a:bodyPr/>
                    <a:lstStyle/>
                    <a:p>
                      <a:pPr algn="ctr" latinLnBrk="1"/>
                      <a:r>
                        <a:rPr lang="ko-KR" altLang="en-US" sz="1200" dirty="0">
                          <a:latin typeface="+mn-ea"/>
                          <a:ea typeface="+mn-ea"/>
                        </a:rPr>
                        <a:t>丙</a:t>
                      </a:r>
                    </a:p>
                  </a:txBody>
                  <a:tcPr anchor="ctr"/>
                </a:tc>
                <a:tc>
                  <a:txBody>
                    <a:bodyPr/>
                    <a:lstStyle/>
                    <a:p>
                      <a:pPr algn="ctr" latinLnBrk="1"/>
                      <a:r>
                        <a:rPr lang="ko-KR" altLang="en-US" sz="1200" dirty="0">
                          <a:latin typeface="+mn-ea"/>
                          <a:ea typeface="+mn-ea"/>
                        </a:rPr>
                        <a:t>자전거</a:t>
                      </a:r>
                    </a:p>
                  </a:txBody>
                  <a:tcPr anchor="ctr"/>
                </a:tc>
                <a:tc>
                  <a:txBody>
                    <a:bodyPr/>
                    <a:lstStyle/>
                    <a:p>
                      <a:pPr algn="ctr" latinLnBrk="1"/>
                      <a:r>
                        <a:rPr lang="ko-KR" altLang="en-US" sz="1200" kern="1200" dirty="0">
                          <a:effectLst/>
                          <a:latin typeface="+mn-ea"/>
                          <a:ea typeface="+mn-ea"/>
                        </a:rPr>
                        <a:t>○</a:t>
                      </a:r>
                      <a:endParaRPr lang="ko-KR" altLang="en-US" sz="1200" dirty="0">
                        <a:latin typeface="+mn-ea"/>
                        <a:ea typeface="+mn-ea"/>
                      </a:endParaRPr>
                    </a:p>
                  </a:txBody>
                  <a:tcPr anchor="ctr"/>
                </a:tc>
                <a:tc>
                  <a:txBody>
                    <a:bodyPr/>
                    <a:lstStyle/>
                    <a:p>
                      <a:pPr algn="ctr"/>
                      <a:r>
                        <a:rPr lang="ko-KR" altLang="en-US" sz="1200" kern="1200" dirty="0">
                          <a:effectLst/>
                          <a:latin typeface="+mn-ea"/>
                          <a:ea typeface="+mn-ea"/>
                        </a:rPr>
                        <a:t>○</a:t>
                      </a:r>
                      <a:endParaRPr lang="ko-KR" altLang="en-US" sz="1200" dirty="0">
                        <a:latin typeface="+mn-ea"/>
                        <a:ea typeface="+mn-ea"/>
                      </a:endParaRPr>
                    </a:p>
                  </a:txBody>
                  <a:tcPr anchor="ctr"/>
                </a:tc>
                <a:tc>
                  <a:txBody>
                    <a:bodyPr/>
                    <a:lstStyle/>
                    <a:p>
                      <a:pPr algn="ctr"/>
                      <a:r>
                        <a:rPr lang="en-US" altLang="ko-KR" sz="1200" kern="1200" dirty="0">
                          <a:effectLst/>
                          <a:latin typeface="+mn-ea"/>
                          <a:ea typeface="+mn-ea"/>
                        </a:rPr>
                        <a:t>×</a:t>
                      </a:r>
                      <a:endParaRPr lang="ko-KR" altLang="en-US" sz="1200" dirty="0">
                        <a:latin typeface="+mn-ea"/>
                        <a:ea typeface="+mn-ea"/>
                      </a:endParaRP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kern="1200" dirty="0">
                          <a:effectLst/>
                          <a:latin typeface="+mn-ea"/>
                          <a:ea typeface="+mn-ea"/>
                        </a:rPr>
                        <a:t>×</a:t>
                      </a:r>
                      <a:endParaRPr lang="en-US" altLang="ko-KR" sz="1200" kern="1200" dirty="0">
                        <a:solidFill>
                          <a:schemeClr val="dk1"/>
                        </a:solidFill>
                        <a:effectLst/>
                        <a:latin typeface="+mn-ea"/>
                        <a:ea typeface="+mn-ea"/>
                        <a:cs typeface="+mn-cs"/>
                      </a:endParaRPr>
                    </a:p>
                  </a:txBody>
                  <a:tcPr anchor="ctr"/>
                </a:tc>
                <a:tc>
                  <a:txBody>
                    <a:bodyPr/>
                    <a:lstStyle/>
                    <a:p>
                      <a:pPr algn="ctr" latinLnBrk="1"/>
                      <a:r>
                        <a:rPr lang="en-US" altLang="ko-KR" sz="1200" dirty="0">
                          <a:latin typeface="+mn-ea"/>
                          <a:ea typeface="+mn-ea"/>
                        </a:rPr>
                        <a:t>-</a:t>
                      </a:r>
                      <a:endParaRPr lang="ko-KR" altLang="en-US" sz="1200" dirty="0">
                        <a:latin typeface="+mn-ea"/>
                        <a:ea typeface="+mn-ea"/>
                      </a:endParaRPr>
                    </a:p>
                  </a:txBody>
                  <a:tcPr anchor="ctr"/>
                </a:tc>
                <a:tc>
                  <a:txBody>
                    <a:bodyPr/>
                    <a:lstStyle/>
                    <a:p>
                      <a:pPr algn="ctr" latinLnBrk="1"/>
                      <a:r>
                        <a:rPr lang="en-US" altLang="ko-KR" sz="1200" dirty="0">
                          <a:latin typeface="+mn-ea"/>
                          <a:ea typeface="+mn-ea"/>
                        </a:rPr>
                        <a:t>-</a:t>
                      </a:r>
                      <a:endParaRPr lang="ko-KR" altLang="en-US" sz="1200" dirty="0">
                        <a:latin typeface="+mn-ea"/>
                        <a:ea typeface="+mn-ea"/>
                      </a:endParaRPr>
                    </a:p>
                  </a:txBody>
                  <a:tcPr anchor="ctr"/>
                </a:tc>
                <a:extLst>
                  <a:ext uri="{0D108BD9-81ED-4DB2-BD59-A6C34878D82A}">
                    <a16:rowId xmlns:a16="http://schemas.microsoft.com/office/drawing/2014/main" val="10008"/>
                  </a:ext>
                </a:extLst>
              </a:tr>
              <a:tr h="0">
                <a:tc vMerge="1">
                  <a:txBody>
                    <a:bodyPr/>
                    <a:lstStyle/>
                    <a:p>
                      <a:pPr algn="ctr" latinLnBrk="1"/>
                      <a:endParaRPr lang="ko-KR" altLang="en-US" sz="1200" dirty="0">
                        <a:latin typeface="+mn-ea"/>
                        <a:ea typeface="+mn-ea"/>
                      </a:endParaRPr>
                    </a:p>
                  </a:txBody>
                  <a:tcPr anchor="ctr"/>
                </a:tc>
                <a:tc>
                  <a:txBody>
                    <a:bodyPr/>
                    <a:lstStyle/>
                    <a:p>
                      <a:pPr algn="ctr" latinLnBrk="1"/>
                      <a:r>
                        <a:rPr lang="ko-KR" altLang="en-US" sz="1200" dirty="0" err="1">
                          <a:latin typeface="+mn-ea"/>
                          <a:ea typeface="+mn-ea"/>
                        </a:rPr>
                        <a:t>라이트</a:t>
                      </a:r>
                      <a:r>
                        <a:rPr lang="en-US" altLang="ko-KR" sz="1200" dirty="0">
                          <a:latin typeface="+mn-ea"/>
                          <a:ea typeface="+mn-ea"/>
                        </a:rPr>
                        <a:t>+</a:t>
                      </a:r>
                      <a:r>
                        <a:rPr lang="ko-KR" altLang="en-US" sz="1200" dirty="0">
                          <a:latin typeface="+mn-ea"/>
                          <a:ea typeface="+mn-ea"/>
                        </a:rPr>
                        <a:t>자전거</a:t>
                      </a:r>
                    </a:p>
                  </a:txBody>
                  <a:tcPr anchor="ctr"/>
                </a:tc>
                <a:tc>
                  <a:txBody>
                    <a:bodyPr/>
                    <a:lstStyle/>
                    <a:p>
                      <a:pPr algn="ctr" latinLnBrk="1"/>
                      <a:r>
                        <a:rPr lang="ko-KR" altLang="en-US" sz="1200" kern="1200" dirty="0">
                          <a:effectLst/>
                          <a:latin typeface="+mn-ea"/>
                          <a:ea typeface="+mn-ea"/>
                        </a:rPr>
                        <a:t>○</a:t>
                      </a:r>
                      <a:endParaRPr lang="ko-KR" altLang="en-US" sz="1200" dirty="0">
                        <a:latin typeface="+mn-ea"/>
                        <a:ea typeface="+mn-ea"/>
                      </a:endParaRPr>
                    </a:p>
                  </a:txBody>
                  <a:tcPr anchor="ctr"/>
                </a:tc>
                <a:tc>
                  <a:txBody>
                    <a:bodyPr/>
                    <a:lstStyle/>
                    <a:p>
                      <a:pPr algn="ctr"/>
                      <a:r>
                        <a:rPr lang="ko-KR" altLang="en-US" sz="1200" kern="1200" dirty="0">
                          <a:effectLst/>
                          <a:latin typeface="+mn-ea"/>
                          <a:ea typeface="+mn-ea"/>
                        </a:rPr>
                        <a:t>○</a:t>
                      </a:r>
                      <a:endParaRPr lang="ko-KR" altLang="en-US" sz="1200" dirty="0">
                        <a:latin typeface="+mn-ea"/>
                        <a:ea typeface="+mn-ea"/>
                      </a:endParaRPr>
                    </a:p>
                  </a:txBody>
                  <a:tcPr anchor="ctr"/>
                </a:tc>
                <a:tc>
                  <a:txBody>
                    <a:bodyPr/>
                    <a:lstStyle/>
                    <a:p>
                      <a:pPr algn="ctr"/>
                      <a:r>
                        <a:rPr lang="en-US" altLang="ko-KR" sz="1200" kern="1200" dirty="0">
                          <a:effectLst/>
                          <a:latin typeface="+mn-ea"/>
                          <a:ea typeface="+mn-ea"/>
                        </a:rPr>
                        <a:t>×</a:t>
                      </a:r>
                      <a:endParaRPr lang="ko-KR" altLang="en-US" sz="1200" dirty="0">
                        <a:latin typeface="+mn-ea"/>
                        <a:ea typeface="+mn-ea"/>
                      </a:endParaRPr>
                    </a:p>
                  </a:txBody>
                  <a:tcPr anchor="ctr"/>
                </a:tc>
                <a:tc>
                  <a:txBody>
                    <a:bodyPr/>
                    <a:lstStyle/>
                    <a:p>
                      <a:pPr algn="ctr" latinLnBrk="1"/>
                      <a:r>
                        <a:rPr lang="ko-KR" altLang="en-US" sz="1200" kern="1200" dirty="0">
                          <a:effectLst/>
                          <a:latin typeface="+mn-ea"/>
                          <a:ea typeface="+mn-ea"/>
                        </a:rPr>
                        <a:t>○</a:t>
                      </a:r>
                      <a:endParaRPr lang="ko-KR" altLang="en-US" sz="1200" dirty="0">
                        <a:latin typeface="+mn-ea"/>
                        <a:ea typeface="+mn-ea"/>
                      </a:endParaRP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kern="1200" dirty="0">
                          <a:effectLst/>
                          <a:latin typeface="+mn-ea"/>
                          <a:ea typeface="+mn-ea"/>
                        </a:rPr>
                        <a:t>○</a:t>
                      </a:r>
                      <a:endParaRPr lang="en-US" altLang="ko-KR" sz="1200" kern="1200" dirty="0">
                        <a:solidFill>
                          <a:schemeClr val="dk1"/>
                        </a:solidFill>
                        <a:effectLst/>
                        <a:latin typeface="+mn-ea"/>
                        <a:ea typeface="+mn-ea"/>
                        <a:cs typeface="+mn-cs"/>
                      </a:endParaRP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en-US" altLang="ko-KR" sz="1200" kern="1200" dirty="0">
                          <a:effectLst/>
                          <a:latin typeface="+mn-ea"/>
                          <a:ea typeface="+mn-ea"/>
                        </a:rPr>
                        <a:t>×</a:t>
                      </a:r>
                      <a:endParaRPr lang="en-US" altLang="ko-KR" sz="1200" kern="1200" dirty="0">
                        <a:solidFill>
                          <a:schemeClr val="dk1"/>
                        </a:solidFill>
                        <a:effectLst/>
                        <a:latin typeface="+mn-ea"/>
                        <a:ea typeface="+mn-ea"/>
                        <a:cs typeface="+mn-cs"/>
                      </a:endParaRPr>
                    </a:p>
                  </a:txBody>
                  <a:tcPr anchor="ct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1706442217"/>
      </p:ext>
    </p:extLst>
  </p:cSld>
  <p:clrMapOvr>
    <a:masterClrMapping/>
  </p:clrMapOvr>
  <p:transition/>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3"/>
          <p:cNvSpPr>
            <a:spLocks noGrp="1"/>
          </p:cNvSpPr>
          <p:nvPr>
            <p:ph type="sldNum" sz="quarter" idx="12"/>
          </p:nvPr>
        </p:nvSpPr>
        <p:spPr/>
        <p:txBody>
          <a:bodyPr/>
          <a:lstStyle/>
          <a:p>
            <a:r>
              <a:rPr lang="en-US" altLang="ko-KR"/>
              <a:t>365</a:t>
            </a:r>
            <a:endParaRPr lang="ko-KR" altLang="en-US"/>
          </a:p>
        </p:txBody>
      </p:sp>
      <p:sp>
        <p:nvSpPr>
          <p:cNvPr id="2" name="제목 1"/>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3" name="텍스트 개체 틀 2"/>
          <p:cNvSpPr>
            <a:spLocks noGrp="1"/>
          </p:cNvSpPr>
          <p:nvPr>
            <p:ph type="body" sz="quarter" idx="13"/>
          </p:nvPr>
        </p:nvSpPr>
        <p:spPr/>
        <p:txBody>
          <a:bodyPr/>
          <a:lstStyle/>
          <a:p>
            <a:r>
              <a:rPr lang="ko-KR" altLang="en-US" dirty="0"/>
              <a:t>甲과</a:t>
            </a:r>
            <a:r>
              <a:rPr lang="en-US" altLang="ko-KR" dirty="0"/>
              <a:t> </a:t>
            </a:r>
            <a:r>
              <a:rPr lang="ko-KR" altLang="en-US" dirty="0"/>
              <a:t>乙의 특허활용전략은</a:t>
            </a:r>
            <a:r>
              <a:rPr lang="en-US" altLang="ko-KR" dirty="0"/>
              <a:t>?</a:t>
            </a:r>
            <a:endParaRPr lang="ko-KR" altLang="en-US" dirty="0"/>
          </a:p>
        </p:txBody>
      </p:sp>
      <p:cxnSp>
        <p:nvCxnSpPr>
          <p:cNvPr id="48" name="직선 연결선 47"/>
          <p:cNvCxnSpPr/>
          <p:nvPr/>
        </p:nvCxnSpPr>
        <p:spPr>
          <a:xfrm>
            <a:off x="0" y="172471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77875" y="986046"/>
            <a:ext cx="11936323" cy="738664"/>
          </a:xfrm>
          <a:prstGeom prst="rect">
            <a:avLst/>
          </a:prstGeom>
          <a:noFill/>
        </p:spPr>
        <p:txBody>
          <a:bodyPr wrap="square" rtlCol="0">
            <a:spAutoFit/>
          </a:bodyPr>
          <a:lstStyle/>
          <a:p>
            <a:pPr fontAlgn="base"/>
            <a:r>
              <a:rPr lang="ko-KR" altLang="en-US" sz="1400" dirty="0">
                <a:solidFill>
                  <a:schemeClr val="tx2"/>
                </a:solidFill>
              </a:rPr>
              <a:t>丙이 라이트</a:t>
            </a:r>
            <a:r>
              <a:rPr lang="en-US" altLang="ko-KR" sz="1400" dirty="0">
                <a:solidFill>
                  <a:schemeClr val="tx2"/>
                </a:solidFill>
              </a:rPr>
              <a:t>+</a:t>
            </a:r>
            <a:r>
              <a:rPr lang="ko-KR" altLang="en-US" sz="1400" dirty="0">
                <a:solidFill>
                  <a:schemeClr val="tx2"/>
                </a:solidFill>
              </a:rPr>
              <a:t>자전거</a:t>
            </a:r>
            <a:r>
              <a:rPr lang="en-US" altLang="ko-KR" sz="1400" dirty="0">
                <a:solidFill>
                  <a:schemeClr val="tx2"/>
                </a:solidFill>
              </a:rPr>
              <a:t> </a:t>
            </a:r>
            <a:r>
              <a:rPr lang="ko-KR" altLang="en-US" sz="1400" dirty="0">
                <a:solidFill>
                  <a:schemeClr val="tx2"/>
                </a:solidFill>
              </a:rPr>
              <a:t>발명을 실시하기 위해서는 甲과 乙의 허락을 모두 얻어야만 한다</a:t>
            </a:r>
            <a:r>
              <a:rPr lang="en-US" altLang="ko-KR" sz="1400" dirty="0">
                <a:solidFill>
                  <a:schemeClr val="tx2"/>
                </a:solidFill>
              </a:rPr>
              <a:t>. </a:t>
            </a:r>
            <a:r>
              <a:rPr lang="ko-KR" altLang="en-US" sz="1400" dirty="0">
                <a:solidFill>
                  <a:schemeClr val="tx2"/>
                </a:solidFill>
              </a:rPr>
              <a:t>이 경우</a:t>
            </a:r>
            <a:r>
              <a:rPr lang="en-US" altLang="ko-KR" sz="1400" dirty="0">
                <a:solidFill>
                  <a:schemeClr val="tx2"/>
                </a:solidFill>
              </a:rPr>
              <a:t>, </a:t>
            </a:r>
            <a:r>
              <a:rPr lang="ko-KR" altLang="en-US" sz="1400" dirty="0">
                <a:solidFill>
                  <a:schemeClr val="tx2"/>
                </a:solidFill>
              </a:rPr>
              <a:t>甲과 乙은 자전거</a:t>
            </a:r>
            <a:r>
              <a:rPr lang="en-US" altLang="ko-KR" sz="1400" dirty="0">
                <a:solidFill>
                  <a:schemeClr val="tx2"/>
                </a:solidFill>
              </a:rPr>
              <a:t> </a:t>
            </a:r>
            <a:r>
              <a:rPr lang="ko-KR" altLang="en-US" sz="1400" dirty="0">
                <a:solidFill>
                  <a:schemeClr val="tx2"/>
                </a:solidFill>
              </a:rPr>
              <a:t>및 라이트</a:t>
            </a:r>
            <a:r>
              <a:rPr lang="en-US" altLang="ko-KR" sz="1400" dirty="0">
                <a:solidFill>
                  <a:schemeClr val="tx2"/>
                </a:solidFill>
              </a:rPr>
              <a:t>+</a:t>
            </a:r>
            <a:r>
              <a:rPr lang="ko-KR" altLang="en-US" sz="1400" dirty="0">
                <a:solidFill>
                  <a:schemeClr val="tx2"/>
                </a:solidFill>
              </a:rPr>
              <a:t>자전거</a:t>
            </a:r>
            <a:r>
              <a:rPr lang="en-US" altLang="ko-KR" sz="1400" dirty="0">
                <a:solidFill>
                  <a:schemeClr val="tx2"/>
                </a:solidFill>
              </a:rPr>
              <a:t> </a:t>
            </a:r>
            <a:r>
              <a:rPr lang="ko-KR" altLang="en-US" sz="1400" dirty="0">
                <a:solidFill>
                  <a:schemeClr val="tx2"/>
                </a:solidFill>
              </a:rPr>
              <a:t>특허에 대한 </a:t>
            </a:r>
            <a:r>
              <a:rPr lang="ko-KR" altLang="en-US" sz="1400" dirty="0" err="1">
                <a:solidFill>
                  <a:schemeClr val="tx2"/>
                </a:solidFill>
              </a:rPr>
              <a:t>특허풀을</a:t>
            </a:r>
            <a:r>
              <a:rPr lang="ko-KR" altLang="en-US" sz="1400" dirty="0">
                <a:solidFill>
                  <a:schemeClr val="tx2"/>
                </a:solidFill>
              </a:rPr>
              <a:t> 결성하고</a:t>
            </a:r>
            <a:r>
              <a:rPr lang="en-US" altLang="ko-KR" sz="1400" dirty="0">
                <a:solidFill>
                  <a:schemeClr val="tx2"/>
                </a:solidFill>
              </a:rPr>
              <a:t>, </a:t>
            </a:r>
            <a:r>
              <a:rPr lang="ko-KR" altLang="en-US" sz="1400" dirty="0" err="1">
                <a:solidFill>
                  <a:schemeClr val="accent3">
                    <a:lumMod val="50000"/>
                  </a:schemeClr>
                </a:solidFill>
                <a:highlight>
                  <a:srgbClr val="FFFF00"/>
                </a:highlight>
              </a:rPr>
              <a:t>실시권허락</a:t>
            </a:r>
            <a:r>
              <a:rPr lang="ko-KR" altLang="en-US" sz="1400" dirty="0">
                <a:solidFill>
                  <a:schemeClr val="accent3">
                    <a:lumMod val="50000"/>
                  </a:schemeClr>
                </a:solidFill>
                <a:highlight>
                  <a:srgbClr val="FFFF00"/>
                </a:highlight>
              </a:rPr>
              <a:t> 대행기관을 통해 丙에게 한 번에 </a:t>
            </a:r>
            <a:r>
              <a:rPr lang="ko-KR" altLang="en-US" sz="1400" dirty="0" err="1">
                <a:solidFill>
                  <a:schemeClr val="accent3">
                    <a:lumMod val="50000"/>
                  </a:schemeClr>
                </a:solidFill>
                <a:highlight>
                  <a:srgbClr val="FFFF00"/>
                </a:highlight>
              </a:rPr>
              <a:t>실시권을</a:t>
            </a:r>
            <a:r>
              <a:rPr lang="ko-KR" altLang="en-US" sz="1400" dirty="0">
                <a:solidFill>
                  <a:schemeClr val="accent3">
                    <a:lumMod val="50000"/>
                  </a:schemeClr>
                </a:solidFill>
                <a:highlight>
                  <a:srgbClr val="FFFF00"/>
                </a:highlight>
              </a:rPr>
              <a:t> 허락</a:t>
            </a:r>
            <a:r>
              <a:rPr lang="en-US" altLang="ko-KR" sz="1400" dirty="0">
                <a:solidFill>
                  <a:schemeClr val="accent3">
                    <a:lumMod val="50000"/>
                  </a:schemeClr>
                </a:solidFill>
                <a:highlight>
                  <a:srgbClr val="FFFF00"/>
                </a:highlight>
              </a:rPr>
              <a:t>(one-stop license)</a:t>
            </a:r>
            <a:r>
              <a:rPr lang="ko-KR" altLang="en-US" sz="1400" dirty="0">
                <a:solidFill>
                  <a:schemeClr val="tx2"/>
                </a:solidFill>
              </a:rPr>
              <a:t>할 수 있다</a:t>
            </a:r>
            <a:r>
              <a:rPr lang="en-US" altLang="ko-KR" sz="1400" dirty="0">
                <a:solidFill>
                  <a:schemeClr val="tx2"/>
                </a:solidFill>
              </a:rPr>
              <a:t>. </a:t>
            </a:r>
            <a:r>
              <a:rPr lang="ko-KR" altLang="en-US" sz="1400" dirty="0">
                <a:solidFill>
                  <a:schemeClr val="tx2"/>
                </a:solidFill>
              </a:rPr>
              <a:t>또한</a:t>
            </a:r>
            <a:r>
              <a:rPr lang="en-US" altLang="ko-KR" sz="1400" dirty="0">
                <a:solidFill>
                  <a:schemeClr val="tx2"/>
                </a:solidFill>
              </a:rPr>
              <a:t>, </a:t>
            </a:r>
            <a:r>
              <a:rPr lang="ko-KR" altLang="en-US" sz="1400" dirty="0">
                <a:solidFill>
                  <a:schemeClr val="tx2"/>
                </a:solidFill>
              </a:rPr>
              <a:t>甲과 乙은 제</a:t>
            </a:r>
            <a:r>
              <a:rPr lang="en-US" altLang="ko-KR" sz="1400" dirty="0">
                <a:solidFill>
                  <a:schemeClr val="tx2"/>
                </a:solidFill>
              </a:rPr>
              <a:t>3</a:t>
            </a:r>
            <a:r>
              <a:rPr lang="ko-KR" altLang="en-US" sz="1400" dirty="0">
                <a:solidFill>
                  <a:schemeClr val="tx2"/>
                </a:solidFill>
              </a:rPr>
              <a:t>자인 丙에게 </a:t>
            </a:r>
            <a:r>
              <a:rPr lang="ko-KR" altLang="en-US" sz="1400" dirty="0" err="1">
                <a:solidFill>
                  <a:schemeClr val="tx2"/>
                </a:solidFill>
              </a:rPr>
              <a:t>실시권을</a:t>
            </a:r>
            <a:r>
              <a:rPr lang="ko-KR" altLang="en-US" sz="1400" dirty="0">
                <a:solidFill>
                  <a:schemeClr val="tx2"/>
                </a:solidFill>
              </a:rPr>
              <a:t> 허락하지 </a:t>
            </a:r>
            <a:r>
              <a:rPr lang="ko-KR" altLang="en-US" sz="1400" dirty="0">
                <a:solidFill>
                  <a:schemeClr val="accent3">
                    <a:lumMod val="50000"/>
                  </a:schemeClr>
                </a:solidFill>
                <a:highlight>
                  <a:srgbClr val="FFFF00"/>
                </a:highlight>
              </a:rPr>
              <a:t>아니하여 丙의 특허제품</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자전거나 라이트</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자전거</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판매의 진입장벽으로 특허를 활용</a:t>
            </a:r>
            <a:r>
              <a:rPr lang="ko-KR" altLang="en-US" sz="1400" dirty="0">
                <a:solidFill>
                  <a:schemeClr val="tx2"/>
                </a:solidFill>
              </a:rPr>
              <a:t>하는 한편</a:t>
            </a:r>
            <a:r>
              <a:rPr lang="en-US" altLang="ko-KR" sz="1400" dirty="0">
                <a:solidFill>
                  <a:schemeClr val="tx2"/>
                </a:solidFill>
              </a:rPr>
              <a:t>, </a:t>
            </a:r>
            <a:r>
              <a:rPr lang="ko-KR" altLang="en-US" sz="1400" dirty="0">
                <a:solidFill>
                  <a:schemeClr val="tx2"/>
                </a:solidFill>
              </a:rPr>
              <a:t>甲과 乙 상호간에만 </a:t>
            </a:r>
            <a:r>
              <a:rPr lang="ko-KR" altLang="en-US" sz="1400" dirty="0" err="1">
                <a:solidFill>
                  <a:schemeClr val="tx2"/>
                </a:solidFill>
              </a:rPr>
              <a:t>실시권을</a:t>
            </a:r>
            <a:r>
              <a:rPr lang="ko-KR" altLang="en-US" sz="1400" dirty="0">
                <a:solidFill>
                  <a:schemeClr val="tx2"/>
                </a:solidFill>
              </a:rPr>
              <a:t> 허락하여 甲과 乙만 특허발명을 실시할 수도 있다</a:t>
            </a:r>
            <a:r>
              <a:rPr lang="en-US" altLang="ko-KR" sz="1400" dirty="0">
                <a:solidFill>
                  <a:schemeClr val="tx2"/>
                </a:solidFill>
              </a:rPr>
              <a:t>. </a:t>
            </a:r>
            <a:endParaRPr lang="ko-KR" altLang="en-US" sz="1400" dirty="0">
              <a:solidFill>
                <a:schemeClr val="tx2"/>
              </a:solidFill>
            </a:endParaRPr>
          </a:p>
        </p:txBody>
      </p:sp>
      <p:sp>
        <p:nvSpPr>
          <p:cNvPr id="57" name="직사각형 56"/>
          <p:cNvSpPr/>
          <p:nvPr/>
        </p:nvSpPr>
        <p:spPr>
          <a:xfrm>
            <a:off x="1068685" y="2011340"/>
            <a:ext cx="4032448" cy="4464496"/>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Rectangle 4"/>
          <p:cNvSpPr>
            <a:spLocks noChangeArrowheads="1"/>
          </p:cNvSpPr>
          <p:nvPr/>
        </p:nvSpPr>
        <p:spPr bwMode="auto">
          <a:xfrm>
            <a:off x="1431821" y="2318423"/>
            <a:ext cx="539854" cy="360363"/>
          </a:xfrm>
          <a:prstGeom prst="rect">
            <a:avLst/>
          </a:prstGeom>
          <a:solidFill>
            <a:schemeClr val="accent1">
              <a:lumMod val="20000"/>
              <a:lumOff val="80000"/>
            </a:schemeClr>
          </a:solidFill>
          <a:ln>
            <a:solidFill>
              <a:schemeClr val="bg1">
                <a:lumMod val="50000"/>
              </a:schemeClr>
            </a:solidFill>
            <a:headEnd/>
            <a:tailEnd/>
          </a:ln>
        </p:spPr>
        <p:style>
          <a:lnRef idx="1">
            <a:schemeClr val="accent5"/>
          </a:lnRef>
          <a:fillRef idx="3">
            <a:schemeClr val="accent5"/>
          </a:fillRef>
          <a:effectRef idx="2">
            <a:schemeClr val="accent5"/>
          </a:effectRef>
          <a:fontRef idx="minor">
            <a:schemeClr val="lt1"/>
          </a:fontRef>
        </p:style>
        <p:txBody>
          <a:bodyPr wrap="none" anchor="ctr"/>
          <a:lstStyle/>
          <a:p>
            <a:pPr algn="ctr" latinLnBrk="1"/>
            <a:r>
              <a:rPr kumimoji="1" lang="ko-KR" altLang="en-US" dirty="0">
                <a:solidFill>
                  <a:schemeClr val="tx1"/>
                </a:solidFill>
              </a:rPr>
              <a:t>甲</a:t>
            </a:r>
          </a:p>
        </p:txBody>
      </p:sp>
      <p:sp>
        <p:nvSpPr>
          <p:cNvPr id="60" name="Rectangle 8"/>
          <p:cNvSpPr>
            <a:spLocks noChangeArrowheads="1"/>
          </p:cNvSpPr>
          <p:nvPr/>
        </p:nvSpPr>
        <p:spPr bwMode="auto">
          <a:xfrm>
            <a:off x="2792597" y="5719591"/>
            <a:ext cx="638130" cy="360363"/>
          </a:xfrm>
          <a:prstGeom prst="rect">
            <a:avLst/>
          </a:prstGeom>
          <a:solidFill>
            <a:schemeClr val="accent4"/>
          </a:solidFill>
          <a:ln>
            <a:solidFill>
              <a:schemeClr val="bg1">
                <a:lumMod val="50000"/>
              </a:schemeClr>
            </a:solidFill>
            <a:headEnd/>
            <a:tailEnd/>
          </a:ln>
        </p:spPr>
        <p:style>
          <a:lnRef idx="1">
            <a:schemeClr val="accent3"/>
          </a:lnRef>
          <a:fillRef idx="3">
            <a:schemeClr val="accent3"/>
          </a:fillRef>
          <a:effectRef idx="2">
            <a:schemeClr val="accent3"/>
          </a:effectRef>
          <a:fontRef idx="minor">
            <a:schemeClr val="lt1"/>
          </a:fontRef>
        </p:style>
        <p:txBody>
          <a:bodyPr wrap="none" anchor="ctr"/>
          <a:lstStyle/>
          <a:p>
            <a:pPr algn="ctr" latinLnBrk="1"/>
            <a:r>
              <a:rPr kumimoji="1" lang="ko-KR" altLang="en-US" sz="2000" dirty="0">
                <a:solidFill>
                  <a:schemeClr val="tx1"/>
                </a:solidFill>
              </a:rPr>
              <a:t>丙</a:t>
            </a:r>
          </a:p>
        </p:txBody>
      </p:sp>
      <p:sp>
        <p:nvSpPr>
          <p:cNvPr id="61" name="Rectangle 17"/>
          <p:cNvSpPr>
            <a:spLocks noChangeArrowheads="1"/>
          </p:cNvSpPr>
          <p:nvPr/>
        </p:nvSpPr>
        <p:spPr bwMode="auto">
          <a:xfrm>
            <a:off x="1971675" y="2617594"/>
            <a:ext cx="787718" cy="566116"/>
          </a:xfrm>
          <a:prstGeom prst="rect">
            <a:avLst/>
          </a:prstGeom>
          <a:noFill/>
          <a:ln w="9525">
            <a:noFill/>
            <a:miter lim="800000"/>
            <a:headEnd/>
            <a:tailEnd/>
          </a:ln>
          <a:effectLst/>
        </p:spPr>
        <p:txBody>
          <a:bodyPr wrap="none" anchor="ctr"/>
          <a:lstStyle/>
          <a:p>
            <a:pPr algn="ctr" latinLnBrk="1"/>
            <a:r>
              <a:rPr kumimoji="1" lang="ko-KR" altLang="en-US" sz="1200" b="0" dirty="0">
                <a:solidFill>
                  <a:srgbClr val="000000"/>
                </a:solidFill>
              </a:rPr>
              <a:t>자전거</a:t>
            </a:r>
            <a:endParaRPr kumimoji="1" lang="en-US" altLang="ko-KR" sz="1200" b="0" dirty="0">
              <a:solidFill>
                <a:srgbClr val="000000"/>
              </a:solidFill>
            </a:endParaRPr>
          </a:p>
          <a:p>
            <a:pPr algn="ctr" latinLnBrk="1"/>
            <a:r>
              <a:rPr kumimoji="1" lang="ko-KR" altLang="en-US" sz="1200" b="0" dirty="0" err="1">
                <a:solidFill>
                  <a:srgbClr val="000000"/>
                </a:solidFill>
              </a:rPr>
              <a:t>실시권</a:t>
            </a:r>
            <a:r>
              <a:rPr kumimoji="1" lang="ko-KR" altLang="en-US" sz="1200" b="0" dirty="0">
                <a:solidFill>
                  <a:srgbClr val="000000"/>
                </a:solidFill>
              </a:rPr>
              <a:t> 허락</a:t>
            </a:r>
            <a:endParaRPr kumimoji="1" lang="en-US" altLang="ko-KR" sz="1200" b="0" dirty="0">
              <a:solidFill>
                <a:srgbClr val="000000"/>
              </a:solidFill>
            </a:endParaRPr>
          </a:p>
          <a:p>
            <a:pPr algn="ctr" latinLnBrk="1"/>
            <a:r>
              <a:rPr kumimoji="1" lang="ko-KR" altLang="en-US" sz="1200" b="0" dirty="0">
                <a:solidFill>
                  <a:srgbClr val="000000"/>
                </a:solidFill>
              </a:rPr>
              <a:t>권한위탁</a:t>
            </a:r>
          </a:p>
        </p:txBody>
      </p:sp>
      <p:sp>
        <p:nvSpPr>
          <p:cNvPr id="66" name="Rectangle 17"/>
          <p:cNvSpPr>
            <a:spLocks noChangeArrowheads="1"/>
          </p:cNvSpPr>
          <p:nvPr/>
        </p:nvSpPr>
        <p:spPr bwMode="auto">
          <a:xfrm>
            <a:off x="3038714" y="5053509"/>
            <a:ext cx="1206926" cy="528139"/>
          </a:xfrm>
          <a:prstGeom prst="rect">
            <a:avLst/>
          </a:prstGeom>
          <a:noFill/>
          <a:ln w="9525">
            <a:noFill/>
            <a:miter lim="800000"/>
            <a:headEnd/>
            <a:tailEnd/>
          </a:ln>
          <a:effectLst/>
        </p:spPr>
        <p:txBody>
          <a:bodyPr wrap="none" anchor="ctr"/>
          <a:lstStyle/>
          <a:p>
            <a:pPr algn="ctr" latinLnBrk="1"/>
            <a:r>
              <a:rPr kumimoji="1" lang="en-US" altLang="ko-KR" sz="1200" b="0" dirty="0">
                <a:solidFill>
                  <a:srgbClr val="000000"/>
                </a:solidFill>
              </a:rPr>
              <a:t>One-Stop</a:t>
            </a:r>
          </a:p>
          <a:p>
            <a:pPr algn="ctr" latinLnBrk="1"/>
            <a:r>
              <a:rPr kumimoji="1" lang="ko-KR" altLang="en-US" sz="1200" b="0" dirty="0" err="1">
                <a:solidFill>
                  <a:srgbClr val="000000"/>
                </a:solidFill>
              </a:rPr>
              <a:t>실시권</a:t>
            </a:r>
            <a:r>
              <a:rPr kumimoji="1" lang="ko-KR" altLang="en-US" sz="1200" b="0" dirty="0">
                <a:solidFill>
                  <a:srgbClr val="000000"/>
                </a:solidFill>
              </a:rPr>
              <a:t> 허락</a:t>
            </a:r>
            <a:endParaRPr kumimoji="1" lang="en-US" altLang="ko-KR" sz="1200" b="0" dirty="0">
              <a:solidFill>
                <a:srgbClr val="000000"/>
              </a:solidFill>
            </a:endParaRPr>
          </a:p>
          <a:p>
            <a:pPr algn="ctr" latinLnBrk="1"/>
            <a:endParaRPr kumimoji="1" lang="ko-KR" altLang="en-US" sz="1200" b="0" dirty="0">
              <a:solidFill>
                <a:srgbClr val="000000"/>
              </a:solidFill>
            </a:endParaRPr>
          </a:p>
        </p:txBody>
      </p:sp>
      <p:sp>
        <p:nvSpPr>
          <p:cNvPr id="68" name="Rectangle 17"/>
          <p:cNvSpPr>
            <a:spLocks noChangeArrowheads="1"/>
          </p:cNvSpPr>
          <p:nvPr/>
        </p:nvSpPr>
        <p:spPr bwMode="auto">
          <a:xfrm>
            <a:off x="1592950" y="5164834"/>
            <a:ext cx="2068087" cy="215900"/>
          </a:xfrm>
          <a:prstGeom prst="rect">
            <a:avLst/>
          </a:prstGeom>
          <a:noFill/>
          <a:ln w="9525">
            <a:noFill/>
            <a:miter lim="800000"/>
            <a:headEnd/>
            <a:tailEnd/>
          </a:ln>
          <a:effectLst/>
        </p:spPr>
        <p:txBody>
          <a:bodyPr wrap="none" anchor="ctr"/>
          <a:lstStyle/>
          <a:p>
            <a:pPr algn="ctr" latinLnBrk="1"/>
            <a:r>
              <a:rPr kumimoji="1" lang="ko-KR" altLang="en-US" sz="1200" b="0" dirty="0" err="1">
                <a:solidFill>
                  <a:srgbClr val="000000"/>
                </a:solidFill>
              </a:rPr>
              <a:t>실시료</a:t>
            </a:r>
            <a:r>
              <a:rPr kumimoji="1" lang="en-US" altLang="ko-KR" sz="1200" b="0" dirty="0">
                <a:solidFill>
                  <a:srgbClr val="000000"/>
                </a:solidFill>
              </a:rPr>
              <a:t>(R)</a:t>
            </a:r>
          </a:p>
          <a:p>
            <a:pPr algn="ctr" latinLnBrk="1"/>
            <a:r>
              <a:rPr kumimoji="1" lang="ko-KR" altLang="en-US" sz="1200" dirty="0">
                <a:solidFill>
                  <a:srgbClr val="000000"/>
                </a:solidFill>
              </a:rPr>
              <a:t>지급</a:t>
            </a:r>
            <a:endParaRPr kumimoji="1" lang="ko-KR" altLang="en-US" sz="1200" b="0" dirty="0">
              <a:solidFill>
                <a:srgbClr val="000000"/>
              </a:solidFill>
            </a:endParaRPr>
          </a:p>
        </p:txBody>
      </p:sp>
      <p:sp>
        <p:nvSpPr>
          <p:cNvPr id="71" name="Rectangle 17"/>
          <p:cNvSpPr>
            <a:spLocks noChangeArrowheads="1"/>
          </p:cNvSpPr>
          <p:nvPr/>
        </p:nvSpPr>
        <p:spPr bwMode="auto">
          <a:xfrm>
            <a:off x="1401441" y="3364685"/>
            <a:ext cx="675009" cy="545949"/>
          </a:xfrm>
          <a:prstGeom prst="rect">
            <a:avLst/>
          </a:prstGeom>
          <a:noFill/>
          <a:ln w="9525">
            <a:noFill/>
            <a:miter lim="800000"/>
            <a:headEnd/>
            <a:tailEnd/>
          </a:ln>
          <a:effectLst/>
        </p:spPr>
        <p:txBody>
          <a:bodyPr wrap="none" anchor="ctr"/>
          <a:lstStyle/>
          <a:p>
            <a:pPr algn="ctr" latinLnBrk="1"/>
            <a:r>
              <a:rPr kumimoji="1" lang="ko-KR" altLang="en-US" sz="1200" dirty="0">
                <a:solidFill>
                  <a:srgbClr val="000000"/>
                </a:solidFill>
              </a:rPr>
              <a:t>수익배분</a:t>
            </a:r>
            <a:endParaRPr kumimoji="1" lang="en-US" altLang="ko-KR" sz="1200" dirty="0">
              <a:solidFill>
                <a:srgbClr val="000000"/>
              </a:solidFill>
            </a:endParaRPr>
          </a:p>
          <a:p>
            <a:pPr algn="ctr" latinLnBrk="1"/>
            <a:r>
              <a:rPr kumimoji="1" lang="en-US" altLang="ko-KR" sz="1200" dirty="0">
                <a:solidFill>
                  <a:srgbClr val="000000"/>
                </a:solidFill>
              </a:rPr>
              <a:t>(R/2)</a:t>
            </a:r>
          </a:p>
          <a:p>
            <a:pPr algn="ctr" latinLnBrk="1"/>
            <a:endParaRPr kumimoji="1" lang="ko-KR" altLang="en-US" sz="1200" b="0" dirty="0">
              <a:solidFill>
                <a:srgbClr val="000000"/>
              </a:solidFill>
            </a:endParaRPr>
          </a:p>
        </p:txBody>
      </p:sp>
      <p:sp>
        <p:nvSpPr>
          <p:cNvPr id="12" name="자유형 11"/>
          <p:cNvSpPr/>
          <p:nvPr/>
        </p:nvSpPr>
        <p:spPr>
          <a:xfrm>
            <a:off x="1781175" y="2667000"/>
            <a:ext cx="1019175" cy="1133475"/>
          </a:xfrm>
          <a:custGeom>
            <a:avLst/>
            <a:gdLst>
              <a:gd name="connsiteX0" fmla="*/ 0 w 552450"/>
              <a:gd name="connsiteY0" fmla="*/ 0 h 1133475"/>
              <a:gd name="connsiteX1" fmla="*/ 0 w 552450"/>
              <a:gd name="connsiteY1" fmla="*/ 514350 h 1133475"/>
              <a:gd name="connsiteX2" fmla="*/ 133350 w 552450"/>
              <a:gd name="connsiteY2" fmla="*/ 514350 h 1133475"/>
              <a:gd name="connsiteX3" fmla="*/ 552450 w 552450"/>
              <a:gd name="connsiteY3" fmla="*/ 514350 h 1133475"/>
              <a:gd name="connsiteX4" fmla="*/ 552450 w 552450"/>
              <a:gd name="connsiteY4" fmla="*/ 1133475 h 1133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450" h="1133475">
                <a:moveTo>
                  <a:pt x="0" y="0"/>
                </a:moveTo>
                <a:lnTo>
                  <a:pt x="0" y="514350"/>
                </a:lnTo>
                <a:lnTo>
                  <a:pt x="133350" y="514350"/>
                </a:lnTo>
                <a:lnTo>
                  <a:pt x="552450" y="514350"/>
                </a:lnTo>
                <a:lnTo>
                  <a:pt x="552450" y="1133475"/>
                </a:lnTo>
              </a:path>
            </a:pathLst>
          </a:cu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p>
        </p:txBody>
      </p:sp>
      <p:sp>
        <p:nvSpPr>
          <p:cNvPr id="13" name="자유형 12"/>
          <p:cNvSpPr/>
          <p:nvPr/>
        </p:nvSpPr>
        <p:spPr>
          <a:xfrm>
            <a:off x="1590675" y="2676525"/>
            <a:ext cx="1028700" cy="1104900"/>
          </a:xfrm>
          <a:custGeom>
            <a:avLst/>
            <a:gdLst>
              <a:gd name="connsiteX0" fmla="*/ 571500 w 571500"/>
              <a:gd name="connsiteY0" fmla="*/ 1104900 h 1104900"/>
              <a:gd name="connsiteX1" fmla="*/ 571500 w 571500"/>
              <a:gd name="connsiteY1" fmla="*/ 676275 h 1104900"/>
              <a:gd name="connsiteX2" fmla="*/ 466725 w 571500"/>
              <a:gd name="connsiteY2" fmla="*/ 676275 h 1104900"/>
              <a:gd name="connsiteX3" fmla="*/ 0 w 571500"/>
              <a:gd name="connsiteY3" fmla="*/ 676275 h 1104900"/>
              <a:gd name="connsiteX4" fmla="*/ 0 w 571500"/>
              <a:gd name="connsiteY4" fmla="*/ 0 h 110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0" h="1104900">
                <a:moveTo>
                  <a:pt x="571500" y="1104900"/>
                </a:moveTo>
                <a:lnTo>
                  <a:pt x="571500" y="676275"/>
                </a:lnTo>
                <a:lnTo>
                  <a:pt x="466725" y="676275"/>
                </a:lnTo>
                <a:lnTo>
                  <a:pt x="0" y="676275"/>
                </a:lnTo>
                <a:lnTo>
                  <a:pt x="0" y="0"/>
                </a:lnTo>
              </a:path>
            </a:pathLst>
          </a:cu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p>
        </p:txBody>
      </p:sp>
      <p:sp>
        <p:nvSpPr>
          <p:cNvPr id="16" name="자유형 15"/>
          <p:cNvSpPr/>
          <p:nvPr/>
        </p:nvSpPr>
        <p:spPr>
          <a:xfrm>
            <a:off x="3409949" y="2647950"/>
            <a:ext cx="942975" cy="1143000"/>
          </a:xfrm>
          <a:custGeom>
            <a:avLst/>
            <a:gdLst>
              <a:gd name="connsiteX0" fmla="*/ 514350 w 514350"/>
              <a:gd name="connsiteY0" fmla="*/ 0 h 1143000"/>
              <a:gd name="connsiteX1" fmla="*/ 514350 w 514350"/>
              <a:gd name="connsiteY1" fmla="*/ 533400 h 1143000"/>
              <a:gd name="connsiteX2" fmla="*/ 0 w 514350"/>
              <a:gd name="connsiteY2" fmla="*/ 533400 h 1143000"/>
              <a:gd name="connsiteX3" fmla="*/ 0 w 514350"/>
              <a:gd name="connsiteY3" fmla="*/ 1143000 h 1143000"/>
            </a:gdLst>
            <a:ahLst/>
            <a:cxnLst>
              <a:cxn ang="0">
                <a:pos x="connsiteX0" y="connsiteY0"/>
              </a:cxn>
              <a:cxn ang="0">
                <a:pos x="connsiteX1" y="connsiteY1"/>
              </a:cxn>
              <a:cxn ang="0">
                <a:pos x="connsiteX2" y="connsiteY2"/>
              </a:cxn>
              <a:cxn ang="0">
                <a:pos x="connsiteX3" y="connsiteY3"/>
              </a:cxn>
            </a:cxnLst>
            <a:rect l="l" t="t" r="r" b="b"/>
            <a:pathLst>
              <a:path w="514350" h="1143000">
                <a:moveTo>
                  <a:pt x="514350" y="0"/>
                </a:moveTo>
                <a:lnTo>
                  <a:pt x="514350" y="533400"/>
                </a:lnTo>
                <a:lnTo>
                  <a:pt x="0" y="533400"/>
                </a:lnTo>
                <a:lnTo>
                  <a:pt x="0" y="1143000"/>
                </a:lnTo>
              </a:path>
            </a:pathLst>
          </a:cu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p>
        </p:txBody>
      </p:sp>
      <p:sp>
        <p:nvSpPr>
          <p:cNvPr id="72" name="Rectangle 17"/>
          <p:cNvSpPr>
            <a:spLocks noChangeArrowheads="1"/>
          </p:cNvSpPr>
          <p:nvPr/>
        </p:nvSpPr>
        <p:spPr bwMode="auto">
          <a:xfrm>
            <a:off x="3419822" y="2616477"/>
            <a:ext cx="787718" cy="566116"/>
          </a:xfrm>
          <a:prstGeom prst="rect">
            <a:avLst/>
          </a:prstGeom>
          <a:noFill/>
          <a:ln w="9525">
            <a:noFill/>
            <a:miter lim="800000"/>
            <a:headEnd/>
            <a:tailEnd/>
          </a:ln>
          <a:effectLst/>
        </p:spPr>
        <p:txBody>
          <a:bodyPr wrap="none" anchor="ctr"/>
          <a:lstStyle/>
          <a:p>
            <a:pPr algn="ctr" latinLnBrk="1"/>
            <a:r>
              <a:rPr kumimoji="1" lang="ko-KR" altLang="en-US" sz="1200" b="0" dirty="0" err="1">
                <a:solidFill>
                  <a:srgbClr val="000000"/>
                </a:solidFill>
              </a:rPr>
              <a:t>라이트</a:t>
            </a:r>
            <a:r>
              <a:rPr kumimoji="1" lang="en-US" altLang="ko-KR" sz="1200" b="0" dirty="0">
                <a:solidFill>
                  <a:srgbClr val="000000"/>
                </a:solidFill>
              </a:rPr>
              <a:t>+</a:t>
            </a:r>
            <a:r>
              <a:rPr kumimoji="1" lang="ko-KR" altLang="en-US" sz="1200" b="0" dirty="0">
                <a:solidFill>
                  <a:srgbClr val="000000"/>
                </a:solidFill>
              </a:rPr>
              <a:t>자전거</a:t>
            </a:r>
            <a:endParaRPr kumimoji="1" lang="en-US" altLang="ko-KR" sz="1200" b="0" dirty="0">
              <a:solidFill>
                <a:srgbClr val="000000"/>
              </a:solidFill>
            </a:endParaRPr>
          </a:p>
          <a:p>
            <a:pPr algn="ctr" latinLnBrk="1"/>
            <a:r>
              <a:rPr kumimoji="1" lang="ko-KR" altLang="en-US" sz="1200" b="0" dirty="0" err="1">
                <a:solidFill>
                  <a:srgbClr val="000000"/>
                </a:solidFill>
              </a:rPr>
              <a:t>실시권</a:t>
            </a:r>
            <a:r>
              <a:rPr kumimoji="1" lang="ko-KR" altLang="en-US" sz="1200" b="0" dirty="0">
                <a:solidFill>
                  <a:srgbClr val="000000"/>
                </a:solidFill>
              </a:rPr>
              <a:t> 허락</a:t>
            </a:r>
            <a:endParaRPr kumimoji="1" lang="en-US" altLang="ko-KR" sz="1200" b="0" dirty="0">
              <a:solidFill>
                <a:srgbClr val="000000"/>
              </a:solidFill>
            </a:endParaRPr>
          </a:p>
          <a:p>
            <a:pPr algn="ctr" latinLnBrk="1"/>
            <a:r>
              <a:rPr kumimoji="1" lang="ko-KR" altLang="en-US" sz="1200" b="0" dirty="0">
                <a:solidFill>
                  <a:srgbClr val="000000"/>
                </a:solidFill>
              </a:rPr>
              <a:t>권한위탁</a:t>
            </a:r>
          </a:p>
        </p:txBody>
      </p:sp>
      <p:sp>
        <p:nvSpPr>
          <p:cNvPr id="74" name="Rectangle 4"/>
          <p:cNvSpPr>
            <a:spLocks noChangeArrowheads="1"/>
          </p:cNvSpPr>
          <p:nvPr/>
        </p:nvSpPr>
        <p:spPr bwMode="auto">
          <a:xfrm>
            <a:off x="4252795" y="2316162"/>
            <a:ext cx="504124" cy="360363"/>
          </a:xfrm>
          <a:prstGeom prst="rect">
            <a:avLst/>
          </a:prstGeom>
          <a:solidFill>
            <a:schemeClr val="accent1">
              <a:lumMod val="20000"/>
              <a:lumOff val="80000"/>
            </a:schemeClr>
          </a:solidFill>
          <a:ln>
            <a:solidFill>
              <a:schemeClr val="bg1">
                <a:lumMod val="50000"/>
              </a:schemeClr>
            </a:solidFill>
            <a:headEnd/>
            <a:tailEnd/>
          </a:ln>
        </p:spPr>
        <p:style>
          <a:lnRef idx="1">
            <a:schemeClr val="accent5"/>
          </a:lnRef>
          <a:fillRef idx="3">
            <a:schemeClr val="accent5"/>
          </a:fillRef>
          <a:effectRef idx="2">
            <a:schemeClr val="accent5"/>
          </a:effectRef>
          <a:fontRef idx="minor">
            <a:schemeClr val="lt1"/>
          </a:fontRef>
        </p:style>
        <p:txBody>
          <a:bodyPr wrap="none" anchor="ctr"/>
          <a:lstStyle/>
          <a:p>
            <a:pPr algn="ctr" latinLnBrk="1"/>
            <a:r>
              <a:rPr kumimoji="1" lang="ko-KR" altLang="en-US" dirty="0">
                <a:solidFill>
                  <a:schemeClr val="tx1"/>
                </a:solidFill>
              </a:rPr>
              <a:t>乙</a:t>
            </a:r>
          </a:p>
        </p:txBody>
      </p:sp>
      <p:sp>
        <p:nvSpPr>
          <p:cNvPr id="17" name="자유형 16"/>
          <p:cNvSpPr/>
          <p:nvPr/>
        </p:nvSpPr>
        <p:spPr>
          <a:xfrm>
            <a:off x="3562350" y="2664103"/>
            <a:ext cx="981075" cy="1183998"/>
          </a:xfrm>
          <a:custGeom>
            <a:avLst/>
            <a:gdLst>
              <a:gd name="connsiteX0" fmla="*/ 0 w 981075"/>
              <a:gd name="connsiteY0" fmla="*/ 1076325 h 1076325"/>
              <a:gd name="connsiteX1" fmla="*/ 0 w 981075"/>
              <a:gd name="connsiteY1" fmla="*/ 1076325 h 1076325"/>
              <a:gd name="connsiteX2" fmla="*/ 0 w 981075"/>
              <a:gd name="connsiteY2" fmla="*/ 685800 h 1076325"/>
              <a:gd name="connsiteX3" fmla="*/ 981075 w 981075"/>
              <a:gd name="connsiteY3" fmla="*/ 685800 h 1076325"/>
              <a:gd name="connsiteX4" fmla="*/ 981075 w 981075"/>
              <a:gd name="connsiteY4" fmla="*/ 0 h 1076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075" h="1076325">
                <a:moveTo>
                  <a:pt x="0" y="1076325"/>
                </a:moveTo>
                <a:lnTo>
                  <a:pt x="0" y="1076325"/>
                </a:lnTo>
                <a:lnTo>
                  <a:pt x="0" y="685800"/>
                </a:lnTo>
                <a:lnTo>
                  <a:pt x="981075" y="685800"/>
                </a:lnTo>
                <a:lnTo>
                  <a:pt x="981075" y="0"/>
                </a:lnTo>
              </a:path>
            </a:pathLst>
          </a:cu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p>
        </p:txBody>
      </p:sp>
      <p:sp>
        <p:nvSpPr>
          <p:cNvPr id="59" name="Oval 7"/>
          <p:cNvSpPr>
            <a:spLocks noChangeArrowheads="1"/>
          </p:cNvSpPr>
          <p:nvPr/>
        </p:nvSpPr>
        <p:spPr bwMode="auto">
          <a:xfrm>
            <a:off x="2154405" y="3811170"/>
            <a:ext cx="1841684" cy="1008063"/>
          </a:xfrm>
          <a:prstGeom prst="roundRect">
            <a:avLst>
              <a:gd name="adj" fmla="val 50000"/>
            </a:avLst>
          </a:prstGeom>
          <a:solidFill>
            <a:schemeClr val="accent2"/>
          </a:solidFill>
          <a:ln>
            <a:solidFill>
              <a:schemeClr val="bg1">
                <a:lumMod val="50000"/>
              </a:schemeClr>
            </a:solidFill>
            <a:headEnd/>
            <a:tailEnd/>
          </a:ln>
        </p:spPr>
        <p:style>
          <a:lnRef idx="1">
            <a:schemeClr val="accent2"/>
          </a:lnRef>
          <a:fillRef idx="3">
            <a:schemeClr val="accent2"/>
          </a:fillRef>
          <a:effectRef idx="2">
            <a:schemeClr val="accent2"/>
          </a:effectRef>
          <a:fontRef idx="minor">
            <a:schemeClr val="lt1"/>
          </a:fontRef>
        </p:style>
        <p:txBody>
          <a:bodyPr wrap="none" anchor="ctr"/>
          <a:lstStyle/>
          <a:p>
            <a:pPr algn="ctr" latinLnBrk="1"/>
            <a:r>
              <a:rPr kumimoji="1" lang="en-US" altLang="ko-KR" sz="2000" dirty="0"/>
              <a:t>Licensing</a:t>
            </a:r>
          </a:p>
          <a:p>
            <a:pPr algn="ctr" latinLnBrk="1"/>
            <a:r>
              <a:rPr kumimoji="1" lang="en-US" altLang="ko-KR" sz="2000" dirty="0"/>
              <a:t>Agency</a:t>
            </a:r>
          </a:p>
        </p:txBody>
      </p:sp>
      <p:sp>
        <p:nvSpPr>
          <p:cNvPr id="75" name="Rectangle 17"/>
          <p:cNvSpPr>
            <a:spLocks noChangeArrowheads="1"/>
          </p:cNvSpPr>
          <p:nvPr/>
        </p:nvSpPr>
        <p:spPr bwMode="auto">
          <a:xfrm>
            <a:off x="3820291" y="3421835"/>
            <a:ext cx="675009" cy="545949"/>
          </a:xfrm>
          <a:prstGeom prst="rect">
            <a:avLst/>
          </a:prstGeom>
          <a:noFill/>
          <a:ln w="9525">
            <a:noFill/>
            <a:miter lim="800000"/>
            <a:headEnd/>
            <a:tailEnd/>
          </a:ln>
          <a:effectLst/>
        </p:spPr>
        <p:txBody>
          <a:bodyPr wrap="none" anchor="ctr"/>
          <a:lstStyle/>
          <a:p>
            <a:pPr algn="ctr" latinLnBrk="1"/>
            <a:r>
              <a:rPr kumimoji="1" lang="ko-KR" altLang="en-US" sz="1200" dirty="0">
                <a:solidFill>
                  <a:srgbClr val="000000"/>
                </a:solidFill>
              </a:rPr>
              <a:t>수익배분</a:t>
            </a:r>
            <a:endParaRPr kumimoji="1" lang="en-US" altLang="ko-KR" sz="1200" dirty="0">
              <a:solidFill>
                <a:srgbClr val="000000"/>
              </a:solidFill>
            </a:endParaRPr>
          </a:p>
          <a:p>
            <a:pPr algn="ctr" latinLnBrk="1"/>
            <a:r>
              <a:rPr kumimoji="1" lang="en-US" altLang="ko-KR" sz="1200" dirty="0">
                <a:solidFill>
                  <a:srgbClr val="000000"/>
                </a:solidFill>
              </a:rPr>
              <a:t>(R/2)</a:t>
            </a:r>
          </a:p>
          <a:p>
            <a:pPr algn="ctr" latinLnBrk="1"/>
            <a:endParaRPr kumimoji="1" lang="ko-KR" altLang="en-US" sz="1200" b="0" dirty="0">
              <a:solidFill>
                <a:srgbClr val="000000"/>
              </a:solidFill>
            </a:endParaRPr>
          </a:p>
        </p:txBody>
      </p:sp>
      <p:cxnSp>
        <p:nvCxnSpPr>
          <p:cNvPr id="19" name="직선 화살표 연결선 18"/>
          <p:cNvCxnSpPr/>
          <p:nvPr/>
        </p:nvCxnSpPr>
        <p:spPr>
          <a:xfrm>
            <a:off x="3228975" y="4819233"/>
            <a:ext cx="0" cy="900358"/>
          </a:xfrm>
          <a:prstGeom prst="straightConnector1">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6" name="직선 화살표 연결선 75"/>
          <p:cNvCxnSpPr/>
          <p:nvPr/>
        </p:nvCxnSpPr>
        <p:spPr>
          <a:xfrm flipH="1" flipV="1">
            <a:off x="3000614" y="4819233"/>
            <a:ext cx="1" cy="900358"/>
          </a:xfrm>
          <a:prstGeom prst="straightConnector1">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7" name="직사각형 76"/>
          <p:cNvSpPr/>
          <p:nvPr/>
        </p:nvSpPr>
        <p:spPr>
          <a:xfrm>
            <a:off x="7127776" y="2011340"/>
            <a:ext cx="4032448" cy="4464496"/>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Rectangle 4"/>
          <p:cNvSpPr>
            <a:spLocks noChangeArrowheads="1"/>
          </p:cNvSpPr>
          <p:nvPr/>
        </p:nvSpPr>
        <p:spPr bwMode="auto">
          <a:xfrm>
            <a:off x="7760839" y="3013847"/>
            <a:ext cx="539854" cy="360363"/>
          </a:xfrm>
          <a:prstGeom prst="rect">
            <a:avLst/>
          </a:prstGeom>
          <a:solidFill>
            <a:schemeClr val="accent1">
              <a:lumMod val="20000"/>
              <a:lumOff val="80000"/>
            </a:schemeClr>
          </a:solidFill>
          <a:ln>
            <a:solidFill>
              <a:schemeClr val="bg1">
                <a:lumMod val="50000"/>
              </a:schemeClr>
            </a:solidFill>
            <a:headEnd/>
            <a:tailEnd/>
          </a:ln>
        </p:spPr>
        <p:style>
          <a:lnRef idx="1">
            <a:schemeClr val="accent5"/>
          </a:lnRef>
          <a:fillRef idx="3">
            <a:schemeClr val="accent5"/>
          </a:fillRef>
          <a:effectRef idx="2">
            <a:schemeClr val="accent5"/>
          </a:effectRef>
          <a:fontRef idx="minor">
            <a:schemeClr val="lt1"/>
          </a:fontRef>
        </p:style>
        <p:txBody>
          <a:bodyPr wrap="none" anchor="ctr"/>
          <a:lstStyle/>
          <a:p>
            <a:pPr algn="ctr" latinLnBrk="1"/>
            <a:r>
              <a:rPr kumimoji="1" lang="ko-KR" altLang="en-US" dirty="0">
                <a:solidFill>
                  <a:schemeClr val="tx1"/>
                </a:solidFill>
              </a:rPr>
              <a:t>甲</a:t>
            </a:r>
          </a:p>
        </p:txBody>
      </p:sp>
      <p:sp>
        <p:nvSpPr>
          <p:cNvPr id="79" name="Rectangle 8"/>
          <p:cNvSpPr>
            <a:spLocks noChangeArrowheads="1"/>
          </p:cNvSpPr>
          <p:nvPr/>
        </p:nvSpPr>
        <p:spPr bwMode="auto">
          <a:xfrm>
            <a:off x="8851688" y="4681366"/>
            <a:ext cx="638130" cy="360363"/>
          </a:xfrm>
          <a:prstGeom prst="rect">
            <a:avLst/>
          </a:prstGeom>
          <a:solidFill>
            <a:schemeClr val="accent4"/>
          </a:solidFill>
          <a:ln>
            <a:solidFill>
              <a:schemeClr val="bg1">
                <a:lumMod val="50000"/>
              </a:schemeClr>
            </a:solidFill>
            <a:headEnd/>
            <a:tailEnd/>
          </a:ln>
        </p:spPr>
        <p:style>
          <a:lnRef idx="1">
            <a:schemeClr val="accent3"/>
          </a:lnRef>
          <a:fillRef idx="3">
            <a:schemeClr val="accent3"/>
          </a:fillRef>
          <a:effectRef idx="2">
            <a:schemeClr val="accent3"/>
          </a:effectRef>
          <a:fontRef idx="minor">
            <a:schemeClr val="lt1"/>
          </a:fontRef>
        </p:style>
        <p:txBody>
          <a:bodyPr wrap="none" anchor="ctr"/>
          <a:lstStyle/>
          <a:p>
            <a:pPr algn="ctr" latinLnBrk="1"/>
            <a:r>
              <a:rPr kumimoji="1" lang="ko-KR" altLang="en-US" sz="2000" dirty="0">
                <a:solidFill>
                  <a:schemeClr val="tx1"/>
                </a:solidFill>
              </a:rPr>
              <a:t>丙</a:t>
            </a:r>
          </a:p>
        </p:txBody>
      </p:sp>
      <p:sp>
        <p:nvSpPr>
          <p:cNvPr id="88" name="Rectangle 4"/>
          <p:cNvSpPr>
            <a:spLocks noChangeArrowheads="1"/>
          </p:cNvSpPr>
          <p:nvPr/>
        </p:nvSpPr>
        <p:spPr bwMode="auto">
          <a:xfrm>
            <a:off x="10014569" y="3010949"/>
            <a:ext cx="504124" cy="360363"/>
          </a:xfrm>
          <a:prstGeom prst="rect">
            <a:avLst/>
          </a:prstGeom>
          <a:solidFill>
            <a:schemeClr val="accent1">
              <a:lumMod val="20000"/>
              <a:lumOff val="80000"/>
            </a:schemeClr>
          </a:solidFill>
          <a:ln>
            <a:solidFill>
              <a:schemeClr val="bg1">
                <a:lumMod val="50000"/>
              </a:schemeClr>
            </a:solidFill>
            <a:headEnd/>
            <a:tailEnd/>
          </a:ln>
        </p:spPr>
        <p:style>
          <a:lnRef idx="1">
            <a:schemeClr val="accent5"/>
          </a:lnRef>
          <a:fillRef idx="3">
            <a:schemeClr val="accent5"/>
          </a:fillRef>
          <a:effectRef idx="2">
            <a:schemeClr val="accent5"/>
          </a:effectRef>
          <a:fontRef idx="minor">
            <a:schemeClr val="lt1"/>
          </a:fontRef>
        </p:style>
        <p:txBody>
          <a:bodyPr wrap="none" anchor="ctr"/>
          <a:lstStyle/>
          <a:p>
            <a:pPr algn="ctr" latinLnBrk="1"/>
            <a:r>
              <a:rPr kumimoji="1" lang="ko-KR" altLang="en-US" dirty="0">
                <a:solidFill>
                  <a:schemeClr val="tx1"/>
                </a:solidFill>
              </a:rPr>
              <a:t>乙</a:t>
            </a:r>
          </a:p>
        </p:txBody>
      </p:sp>
      <p:cxnSp>
        <p:nvCxnSpPr>
          <p:cNvPr id="94" name="직선 화살표 연결선 93"/>
          <p:cNvCxnSpPr>
            <a:stCxn id="88" idx="1"/>
            <a:endCxn id="78" idx="3"/>
          </p:cNvCxnSpPr>
          <p:nvPr/>
        </p:nvCxnSpPr>
        <p:spPr>
          <a:xfrm flipH="1">
            <a:off x="8300693" y="3191131"/>
            <a:ext cx="1713876" cy="2898"/>
          </a:xfrm>
          <a:prstGeom prst="straightConnector1">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5" name="Rectangle 17"/>
          <p:cNvSpPr>
            <a:spLocks noChangeArrowheads="1"/>
          </p:cNvSpPr>
          <p:nvPr/>
        </p:nvSpPr>
        <p:spPr bwMode="auto">
          <a:xfrm>
            <a:off x="8567290" y="2912746"/>
            <a:ext cx="1206926" cy="264069"/>
          </a:xfrm>
          <a:prstGeom prst="rect">
            <a:avLst/>
          </a:prstGeom>
          <a:noFill/>
          <a:ln w="9525">
            <a:noFill/>
            <a:miter lim="800000"/>
            <a:headEnd/>
            <a:tailEnd/>
          </a:ln>
          <a:effectLst/>
        </p:spPr>
        <p:txBody>
          <a:bodyPr wrap="none" anchor="ctr"/>
          <a:lstStyle/>
          <a:p>
            <a:pPr algn="ctr" latinLnBrk="1"/>
            <a:r>
              <a:rPr kumimoji="1" lang="ko-KR" altLang="en-US" sz="1200" dirty="0" err="1">
                <a:solidFill>
                  <a:srgbClr val="000000"/>
                </a:solidFill>
              </a:rPr>
              <a:t>교차실시권</a:t>
            </a:r>
            <a:r>
              <a:rPr kumimoji="1" lang="ko-KR" altLang="en-US" sz="1200" dirty="0">
                <a:solidFill>
                  <a:srgbClr val="000000"/>
                </a:solidFill>
              </a:rPr>
              <a:t> 허락</a:t>
            </a:r>
            <a:endParaRPr kumimoji="1" lang="ko-KR" altLang="en-US" sz="1200" b="0" dirty="0">
              <a:solidFill>
                <a:srgbClr val="000000"/>
              </a:solidFill>
            </a:endParaRPr>
          </a:p>
        </p:txBody>
      </p:sp>
      <p:sp>
        <p:nvSpPr>
          <p:cNvPr id="25" name="자유형 24"/>
          <p:cNvSpPr/>
          <p:nvPr/>
        </p:nvSpPr>
        <p:spPr>
          <a:xfrm>
            <a:off x="8029574" y="3371850"/>
            <a:ext cx="1114425" cy="1295400"/>
          </a:xfrm>
          <a:custGeom>
            <a:avLst/>
            <a:gdLst>
              <a:gd name="connsiteX0" fmla="*/ 0 w 1009650"/>
              <a:gd name="connsiteY0" fmla="*/ 0 h 1295400"/>
              <a:gd name="connsiteX1" fmla="*/ 0 w 1009650"/>
              <a:gd name="connsiteY1" fmla="*/ 790575 h 1295400"/>
              <a:gd name="connsiteX2" fmla="*/ 1009650 w 1009650"/>
              <a:gd name="connsiteY2" fmla="*/ 790575 h 1295400"/>
              <a:gd name="connsiteX3" fmla="*/ 1009650 w 1009650"/>
              <a:gd name="connsiteY3" fmla="*/ 1295400 h 1295400"/>
            </a:gdLst>
            <a:ahLst/>
            <a:cxnLst>
              <a:cxn ang="0">
                <a:pos x="connsiteX0" y="connsiteY0"/>
              </a:cxn>
              <a:cxn ang="0">
                <a:pos x="connsiteX1" y="connsiteY1"/>
              </a:cxn>
              <a:cxn ang="0">
                <a:pos x="connsiteX2" y="connsiteY2"/>
              </a:cxn>
              <a:cxn ang="0">
                <a:pos x="connsiteX3" y="connsiteY3"/>
              </a:cxn>
            </a:cxnLst>
            <a:rect l="l" t="t" r="r" b="b"/>
            <a:pathLst>
              <a:path w="1009650" h="1295400">
                <a:moveTo>
                  <a:pt x="0" y="0"/>
                </a:moveTo>
                <a:lnTo>
                  <a:pt x="0" y="790575"/>
                </a:lnTo>
                <a:lnTo>
                  <a:pt x="1009650" y="790575"/>
                </a:lnTo>
                <a:lnTo>
                  <a:pt x="1009650" y="1295400"/>
                </a:lnTo>
              </a:path>
            </a:pathLst>
          </a:cu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p>
        </p:txBody>
      </p:sp>
      <p:sp>
        <p:nvSpPr>
          <p:cNvPr id="26" name="자유형 25"/>
          <p:cNvSpPr/>
          <p:nvPr/>
        </p:nvSpPr>
        <p:spPr>
          <a:xfrm>
            <a:off x="9258300" y="3371850"/>
            <a:ext cx="1000125" cy="1295400"/>
          </a:xfrm>
          <a:custGeom>
            <a:avLst/>
            <a:gdLst>
              <a:gd name="connsiteX0" fmla="*/ 923925 w 923925"/>
              <a:gd name="connsiteY0" fmla="*/ 0 h 1295400"/>
              <a:gd name="connsiteX1" fmla="*/ 923925 w 923925"/>
              <a:gd name="connsiteY1" fmla="*/ 771525 h 1295400"/>
              <a:gd name="connsiteX2" fmla="*/ 0 w 923925"/>
              <a:gd name="connsiteY2" fmla="*/ 771525 h 1295400"/>
              <a:gd name="connsiteX3" fmla="*/ 0 w 923925"/>
              <a:gd name="connsiteY3" fmla="*/ 1295400 h 1295400"/>
            </a:gdLst>
            <a:ahLst/>
            <a:cxnLst>
              <a:cxn ang="0">
                <a:pos x="connsiteX0" y="connsiteY0"/>
              </a:cxn>
              <a:cxn ang="0">
                <a:pos x="connsiteX1" y="connsiteY1"/>
              </a:cxn>
              <a:cxn ang="0">
                <a:pos x="connsiteX2" y="connsiteY2"/>
              </a:cxn>
              <a:cxn ang="0">
                <a:pos x="connsiteX3" y="connsiteY3"/>
              </a:cxn>
            </a:cxnLst>
            <a:rect l="l" t="t" r="r" b="b"/>
            <a:pathLst>
              <a:path w="923925" h="1295400">
                <a:moveTo>
                  <a:pt x="923925" y="0"/>
                </a:moveTo>
                <a:lnTo>
                  <a:pt x="923925" y="771525"/>
                </a:lnTo>
                <a:lnTo>
                  <a:pt x="0" y="771525"/>
                </a:lnTo>
                <a:lnTo>
                  <a:pt x="0" y="1295400"/>
                </a:lnTo>
              </a:path>
            </a:pathLst>
          </a:cu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p>
        </p:txBody>
      </p:sp>
      <p:sp>
        <p:nvSpPr>
          <p:cNvPr id="96" name="Rectangle 17"/>
          <p:cNvSpPr>
            <a:spLocks noChangeArrowheads="1"/>
          </p:cNvSpPr>
          <p:nvPr/>
        </p:nvSpPr>
        <p:spPr bwMode="auto">
          <a:xfrm>
            <a:off x="8029574" y="3887515"/>
            <a:ext cx="1206926" cy="264069"/>
          </a:xfrm>
          <a:prstGeom prst="rect">
            <a:avLst/>
          </a:prstGeom>
          <a:noFill/>
          <a:ln w="9525">
            <a:noFill/>
            <a:miter lim="800000"/>
            <a:headEnd/>
            <a:tailEnd/>
          </a:ln>
          <a:effectLst/>
        </p:spPr>
        <p:txBody>
          <a:bodyPr wrap="none" anchor="ctr"/>
          <a:lstStyle/>
          <a:p>
            <a:pPr algn="ctr"/>
            <a:r>
              <a:rPr kumimoji="1" lang="ko-KR" altLang="en-US" sz="1200" b="0" dirty="0" err="1">
                <a:solidFill>
                  <a:srgbClr val="000000"/>
                </a:solidFill>
              </a:rPr>
              <a:t>실시권</a:t>
            </a:r>
            <a:r>
              <a:rPr kumimoji="1" lang="ko-KR" altLang="en-US" sz="1200" b="0" dirty="0">
                <a:solidFill>
                  <a:srgbClr val="000000"/>
                </a:solidFill>
              </a:rPr>
              <a:t> 허락 </a:t>
            </a:r>
            <a:r>
              <a:rPr kumimoji="1" lang="en-US" altLang="ko-KR" sz="1200" dirty="0">
                <a:solidFill>
                  <a:srgbClr val="000000"/>
                </a:solidFill>
              </a:rPr>
              <a:t>×</a:t>
            </a:r>
            <a:endParaRPr kumimoji="1" lang="ko-KR" altLang="en-US" sz="1200" b="0" dirty="0">
              <a:solidFill>
                <a:srgbClr val="000000"/>
              </a:solidFill>
            </a:endParaRPr>
          </a:p>
        </p:txBody>
      </p:sp>
      <p:sp>
        <p:nvSpPr>
          <p:cNvPr id="97" name="Rectangle 17"/>
          <p:cNvSpPr>
            <a:spLocks noChangeArrowheads="1"/>
          </p:cNvSpPr>
          <p:nvPr/>
        </p:nvSpPr>
        <p:spPr bwMode="auto">
          <a:xfrm>
            <a:off x="9153524" y="3887515"/>
            <a:ext cx="1206926" cy="264069"/>
          </a:xfrm>
          <a:prstGeom prst="rect">
            <a:avLst/>
          </a:prstGeom>
          <a:noFill/>
          <a:ln w="9525">
            <a:noFill/>
            <a:miter lim="800000"/>
            <a:headEnd/>
            <a:tailEnd/>
          </a:ln>
          <a:effectLst/>
        </p:spPr>
        <p:txBody>
          <a:bodyPr wrap="none" anchor="ctr"/>
          <a:lstStyle/>
          <a:p>
            <a:pPr algn="ctr"/>
            <a:r>
              <a:rPr kumimoji="1" lang="ko-KR" altLang="en-US" sz="1200" b="0" dirty="0" err="1">
                <a:solidFill>
                  <a:srgbClr val="000000"/>
                </a:solidFill>
              </a:rPr>
              <a:t>실시권</a:t>
            </a:r>
            <a:r>
              <a:rPr kumimoji="1" lang="ko-KR" altLang="en-US" sz="1200" b="0" dirty="0">
                <a:solidFill>
                  <a:srgbClr val="000000"/>
                </a:solidFill>
              </a:rPr>
              <a:t> 허락 </a:t>
            </a:r>
            <a:r>
              <a:rPr kumimoji="1" lang="en-US" altLang="ko-KR" sz="1200" dirty="0">
                <a:solidFill>
                  <a:srgbClr val="000000"/>
                </a:solidFill>
              </a:rPr>
              <a:t>×</a:t>
            </a:r>
            <a:endParaRPr kumimoji="1" lang="ko-KR" altLang="en-US" sz="1200" b="0" dirty="0">
              <a:solidFill>
                <a:srgbClr val="000000"/>
              </a:solidFill>
            </a:endParaRPr>
          </a:p>
        </p:txBody>
      </p:sp>
      <p:cxnSp>
        <p:nvCxnSpPr>
          <p:cNvPr id="98" name="직선 연결선 97"/>
          <p:cNvCxnSpPr/>
          <p:nvPr/>
        </p:nvCxnSpPr>
        <p:spPr>
          <a:xfrm>
            <a:off x="6118466" y="2126815"/>
            <a:ext cx="0" cy="420731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1405260"/>
      </p:ext>
    </p:extLst>
  </p:cSld>
  <p:clrMapOvr>
    <a:masterClrMapping/>
  </p:clrMapOvr>
  <p:transition/>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슬라이드 번호 개체 틀 7"/>
          <p:cNvSpPr>
            <a:spLocks noGrp="1"/>
          </p:cNvSpPr>
          <p:nvPr>
            <p:ph type="sldNum" sz="quarter" idx="12"/>
          </p:nvPr>
        </p:nvSpPr>
        <p:spPr/>
        <p:txBody>
          <a:bodyPr/>
          <a:lstStyle/>
          <a:p>
            <a:r>
              <a:rPr lang="en-US" altLang="ko-KR"/>
              <a:t>366</a:t>
            </a:r>
            <a:endParaRPr lang="ko-KR" altLang="en-US"/>
          </a:p>
        </p:txBody>
      </p:sp>
      <p:sp>
        <p:nvSpPr>
          <p:cNvPr id="2" name="제목 1"/>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3" name="텍스트 개체 틀 2"/>
          <p:cNvSpPr>
            <a:spLocks noGrp="1"/>
          </p:cNvSpPr>
          <p:nvPr>
            <p:ph type="body" sz="quarter" idx="13"/>
          </p:nvPr>
        </p:nvSpPr>
        <p:spPr/>
        <p:txBody>
          <a:bodyPr/>
          <a:lstStyle/>
          <a:p>
            <a:r>
              <a:rPr lang="ko-KR" altLang="en-US" dirty="0"/>
              <a:t>특허권 효력의 본질</a:t>
            </a:r>
          </a:p>
        </p:txBody>
      </p:sp>
      <p:sp>
        <p:nvSpPr>
          <p:cNvPr id="4" name="직사각형 3"/>
          <p:cNvSpPr/>
          <p:nvPr/>
        </p:nvSpPr>
        <p:spPr>
          <a:xfrm>
            <a:off x="623392" y="1880828"/>
            <a:ext cx="2747251" cy="432048"/>
          </a:xfrm>
          <a:prstGeom prst="rect">
            <a:avLst/>
          </a:prstGeom>
          <a:solidFill>
            <a:schemeClr val="accent2"/>
          </a:solidFill>
          <a:ln>
            <a:solidFill>
              <a:schemeClr val="bg1">
                <a:lumMod val="5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ko-KR" altLang="en-US" sz="1600" dirty="0">
                <a:solidFill>
                  <a:schemeClr val="tx1"/>
                </a:solidFill>
              </a:rPr>
              <a:t>특허권의 효력</a:t>
            </a:r>
          </a:p>
        </p:txBody>
      </p:sp>
      <p:sp>
        <p:nvSpPr>
          <p:cNvPr id="5" name="TextBox 4"/>
          <p:cNvSpPr txBox="1"/>
          <p:nvPr/>
        </p:nvSpPr>
        <p:spPr>
          <a:xfrm>
            <a:off x="623394" y="2384885"/>
            <a:ext cx="2747249" cy="1754070"/>
          </a:xfrm>
          <a:prstGeom prst="rect">
            <a:avLst/>
          </a:prstGeom>
          <a:noFill/>
          <a:ln>
            <a:solidFill>
              <a:schemeClr val="bg1">
                <a:lumMod val="50000"/>
              </a:schemeClr>
            </a:solidFill>
          </a:ln>
        </p:spPr>
        <p:txBody>
          <a:bodyPr wrap="square" rtlCol="0">
            <a:spAutoFit/>
          </a:bodyPr>
          <a:lstStyle/>
          <a:p>
            <a:pPr>
              <a:lnSpc>
                <a:spcPct val="130000"/>
              </a:lnSpc>
            </a:pPr>
            <a:r>
              <a:rPr lang="ko-KR" altLang="en-US" sz="1200" b="1" dirty="0">
                <a:solidFill>
                  <a:schemeClr val="accent4">
                    <a:lumMod val="75000"/>
                  </a:schemeClr>
                </a:solidFill>
              </a:rPr>
              <a:t>특허법 제</a:t>
            </a:r>
            <a:r>
              <a:rPr lang="en-US" altLang="ko-KR" sz="1200" b="1" dirty="0">
                <a:solidFill>
                  <a:schemeClr val="accent4">
                    <a:lumMod val="75000"/>
                  </a:schemeClr>
                </a:solidFill>
              </a:rPr>
              <a:t>94</a:t>
            </a:r>
            <a:r>
              <a:rPr lang="ko-KR" altLang="en-US" sz="1200" b="1" dirty="0">
                <a:solidFill>
                  <a:schemeClr val="accent4">
                    <a:lumMod val="75000"/>
                  </a:schemeClr>
                </a:solidFill>
              </a:rPr>
              <a:t>조 </a:t>
            </a:r>
            <a:r>
              <a:rPr lang="en-US" altLang="ko-KR" sz="1200" b="1" dirty="0">
                <a:solidFill>
                  <a:schemeClr val="accent4">
                    <a:lumMod val="75000"/>
                  </a:schemeClr>
                </a:solidFill>
              </a:rPr>
              <a:t>(</a:t>
            </a:r>
            <a:r>
              <a:rPr lang="ko-KR" altLang="en-US" sz="1200" b="1" dirty="0">
                <a:solidFill>
                  <a:schemeClr val="accent4">
                    <a:lumMod val="75000"/>
                  </a:schemeClr>
                </a:solidFill>
              </a:rPr>
              <a:t>특허권의 효력</a:t>
            </a:r>
            <a:r>
              <a:rPr lang="en-US" altLang="ko-KR" sz="1200" b="1" dirty="0">
                <a:solidFill>
                  <a:schemeClr val="accent4">
                    <a:lumMod val="75000"/>
                  </a:schemeClr>
                </a:solidFill>
              </a:rPr>
              <a:t>) </a:t>
            </a:r>
          </a:p>
          <a:p>
            <a:pPr marL="6350" lvl="1">
              <a:lnSpc>
                <a:spcPct val="130000"/>
              </a:lnSpc>
            </a:pPr>
            <a:r>
              <a:rPr lang="ko-KR" altLang="en-US" sz="1200" dirty="0">
                <a:latin typeface="+mn-ea"/>
              </a:rPr>
              <a:t>① </a:t>
            </a:r>
            <a:r>
              <a:rPr lang="ko-KR" altLang="en-US" sz="1200" dirty="0"/>
              <a:t>특허권자는 업으로서 그 특허발명을 실시할 권리를 독점한다</a:t>
            </a:r>
            <a:r>
              <a:rPr lang="en-US" altLang="ko-KR" sz="1200" dirty="0"/>
              <a:t>. </a:t>
            </a:r>
            <a:r>
              <a:rPr lang="ko-KR" altLang="en-US" sz="1200" dirty="0"/>
              <a:t>다만</a:t>
            </a:r>
            <a:r>
              <a:rPr lang="en-US" altLang="ko-KR" sz="1200" dirty="0"/>
              <a:t>, </a:t>
            </a:r>
            <a:r>
              <a:rPr lang="ko-KR" altLang="en-US" sz="1200" dirty="0"/>
              <a:t>그 특허권에 관하여 </a:t>
            </a:r>
            <a:r>
              <a:rPr lang="ko-KR" altLang="en-US" sz="1200" dirty="0" err="1"/>
              <a:t>전용실시권을</a:t>
            </a:r>
            <a:r>
              <a:rPr lang="ko-KR" altLang="en-US" sz="1200" dirty="0"/>
              <a:t> 설정한 때에는 제</a:t>
            </a:r>
            <a:r>
              <a:rPr lang="en-US" altLang="ko-KR" sz="1200" dirty="0"/>
              <a:t>100</a:t>
            </a:r>
            <a:r>
              <a:rPr lang="ko-KR" altLang="en-US" sz="1200" dirty="0"/>
              <a:t>조 제</a:t>
            </a:r>
            <a:r>
              <a:rPr lang="en-US" altLang="ko-KR" sz="1200" dirty="0"/>
              <a:t>2</a:t>
            </a:r>
            <a:r>
              <a:rPr lang="ko-KR" altLang="en-US" sz="1200" dirty="0"/>
              <a:t>항의 규정에 의하여 </a:t>
            </a:r>
            <a:r>
              <a:rPr lang="ko-KR" altLang="en-US" sz="1200" dirty="0" err="1"/>
              <a:t>전실시권자가</a:t>
            </a:r>
            <a:r>
              <a:rPr lang="ko-KR" altLang="en-US" sz="1200" dirty="0"/>
              <a:t> 그 특허발명을 실시할 권리를 독점하는 </a:t>
            </a:r>
            <a:r>
              <a:rPr lang="ko-KR" altLang="en-US" sz="1200" dirty="0" err="1"/>
              <a:t>범위안에서는</a:t>
            </a:r>
            <a:r>
              <a:rPr lang="ko-KR" altLang="en-US" sz="1200" dirty="0"/>
              <a:t> 그러하지 아니하다</a:t>
            </a:r>
            <a:r>
              <a:rPr lang="en-US" altLang="ko-KR" sz="1200" dirty="0"/>
              <a:t>.</a:t>
            </a:r>
          </a:p>
        </p:txBody>
      </p:sp>
      <p:sp>
        <p:nvSpPr>
          <p:cNvPr id="6" name="모서리가 둥근 직사각형 5"/>
          <p:cNvSpPr/>
          <p:nvPr/>
        </p:nvSpPr>
        <p:spPr>
          <a:xfrm>
            <a:off x="3983765" y="1160748"/>
            <a:ext cx="2747251" cy="432048"/>
          </a:xfrm>
          <a:prstGeom prst="roundRect">
            <a:avLst>
              <a:gd name="adj" fmla="val 50000"/>
            </a:avLst>
          </a:prstGeom>
          <a:solidFill>
            <a:schemeClr val="accent2">
              <a:lumMod val="20000"/>
              <a:lumOff val="80000"/>
            </a:schemeClr>
          </a:solidFill>
          <a:ln>
            <a:solidFill>
              <a:schemeClr val="bg1">
                <a:lumMod val="5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ko-KR" altLang="en-US" sz="1600" dirty="0">
                <a:solidFill>
                  <a:schemeClr val="tx1"/>
                </a:solidFill>
              </a:rPr>
              <a:t>독점</a:t>
            </a:r>
            <a:r>
              <a:rPr lang="en-US" altLang="ko-KR" sz="1600" dirty="0">
                <a:solidFill>
                  <a:schemeClr val="tx1"/>
                </a:solidFill>
              </a:rPr>
              <a:t>: </a:t>
            </a:r>
            <a:r>
              <a:rPr lang="ko-KR" altLang="en-US" sz="1600" dirty="0">
                <a:solidFill>
                  <a:schemeClr val="tx1"/>
                </a:solidFill>
              </a:rPr>
              <a:t>적극적 효력</a:t>
            </a:r>
          </a:p>
        </p:txBody>
      </p:sp>
      <p:sp>
        <p:nvSpPr>
          <p:cNvPr id="7" name="모서리가 둥근 직사각형 6"/>
          <p:cNvSpPr/>
          <p:nvPr/>
        </p:nvSpPr>
        <p:spPr>
          <a:xfrm>
            <a:off x="3983765" y="2384884"/>
            <a:ext cx="2747251" cy="432048"/>
          </a:xfrm>
          <a:prstGeom prst="roundRect">
            <a:avLst>
              <a:gd name="adj" fmla="val 50000"/>
            </a:avLst>
          </a:prstGeom>
          <a:solidFill>
            <a:schemeClr val="accent2">
              <a:lumMod val="20000"/>
              <a:lumOff val="80000"/>
            </a:schemeClr>
          </a:solidFill>
          <a:ln>
            <a:solidFill>
              <a:schemeClr val="bg1">
                <a:lumMod val="5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ko-KR" altLang="en-US" sz="1600" dirty="0">
                <a:solidFill>
                  <a:schemeClr val="tx1"/>
                </a:solidFill>
              </a:rPr>
              <a:t>배타</a:t>
            </a:r>
            <a:r>
              <a:rPr lang="en-US" altLang="ko-KR" sz="1600" dirty="0">
                <a:solidFill>
                  <a:schemeClr val="tx1"/>
                </a:solidFill>
              </a:rPr>
              <a:t>: </a:t>
            </a:r>
            <a:r>
              <a:rPr lang="ko-KR" altLang="en-US" sz="1600" dirty="0">
                <a:solidFill>
                  <a:schemeClr val="tx1"/>
                </a:solidFill>
              </a:rPr>
              <a:t>소극적 효력</a:t>
            </a:r>
          </a:p>
        </p:txBody>
      </p:sp>
      <p:sp>
        <p:nvSpPr>
          <p:cNvPr id="10" name="모서리가 둥근 직사각형 9"/>
          <p:cNvSpPr/>
          <p:nvPr/>
        </p:nvSpPr>
        <p:spPr>
          <a:xfrm>
            <a:off x="7440150" y="1124744"/>
            <a:ext cx="3936437" cy="504056"/>
          </a:xfrm>
          <a:prstGeom prst="roundRect">
            <a:avLst/>
          </a:prstGeom>
          <a:solidFill>
            <a:schemeClr val="accent4"/>
          </a:solidFill>
          <a:ln>
            <a:solidFill>
              <a:schemeClr val="bg1">
                <a:lumMod val="50000"/>
              </a:schemeClr>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ko-KR" altLang="en-US" sz="1600" dirty="0">
                <a:solidFill>
                  <a:schemeClr val="bg1">
                    <a:lumMod val="65000"/>
                    <a:lumOff val="35000"/>
                  </a:schemeClr>
                </a:solidFill>
                <a:latin typeface="+mn-ea"/>
              </a:rPr>
              <a:t>예외</a:t>
            </a:r>
            <a:r>
              <a:rPr lang="en-US" altLang="ko-KR" sz="1600" dirty="0">
                <a:solidFill>
                  <a:schemeClr val="bg1">
                    <a:lumMod val="65000"/>
                    <a:lumOff val="35000"/>
                  </a:schemeClr>
                </a:solidFill>
                <a:latin typeface="+mn-ea"/>
              </a:rPr>
              <a:t>: </a:t>
            </a:r>
            <a:r>
              <a:rPr lang="ko-KR" altLang="en-US" sz="1600" dirty="0">
                <a:solidFill>
                  <a:schemeClr val="bg1">
                    <a:lumMod val="65000"/>
                    <a:lumOff val="35000"/>
                  </a:schemeClr>
                </a:solidFill>
                <a:latin typeface="+mn-ea"/>
              </a:rPr>
              <a:t>이용저촉발명</a:t>
            </a:r>
          </a:p>
        </p:txBody>
      </p:sp>
      <p:cxnSp>
        <p:nvCxnSpPr>
          <p:cNvPr id="11" name="직선 연결선 10"/>
          <p:cNvCxnSpPr>
            <a:stCxn id="6" idx="3"/>
            <a:endCxn id="10" idx="1"/>
          </p:cNvCxnSpPr>
          <p:nvPr/>
        </p:nvCxnSpPr>
        <p:spPr>
          <a:xfrm>
            <a:off x="6731016" y="1376772"/>
            <a:ext cx="709134" cy="0"/>
          </a:xfrm>
          <a:prstGeom prst="lin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7440150" y="1736813"/>
            <a:ext cx="3936437" cy="1994136"/>
          </a:xfrm>
          <a:prstGeom prst="rect">
            <a:avLst/>
          </a:prstGeom>
          <a:noFill/>
          <a:ln>
            <a:solidFill>
              <a:schemeClr val="bg1">
                <a:lumMod val="50000"/>
              </a:schemeClr>
            </a:solidFill>
          </a:ln>
        </p:spPr>
        <p:txBody>
          <a:bodyPr wrap="square" rtlCol="0">
            <a:spAutoFit/>
          </a:bodyPr>
          <a:lstStyle/>
          <a:p>
            <a:pPr>
              <a:lnSpc>
                <a:spcPct val="130000"/>
              </a:lnSpc>
            </a:pPr>
            <a:r>
              <a:rPr lang="ko-KR" altLang="en-US" sz="1200" b="1" dirty="0">
                <a:solidFill>
                  <a:schemeClr val="accent4">
                    <a:lumMod val="75000"/>
                  </a:schemeClr>
                </a:solidFill>
              </a:rPr>
              <a:t>특허법 제</a:t>
            </a:r>
            <a:r>
              <a:rPr lang="en-US" altLang="ko-KR" sz="1200" b="1" dirty="0">
                <a:solidFill>
                  <a:schemeClr val="accent4">
                    <a:lumMod val="75000"/>
                  </a:schemeClr>
                </a:solidFill>
              </a:rPr>
              <a:t>98</a:t>
            </a:r>
            <a:r>
              <a:rPr lang="ko-KR" altLang="en-US" sz="1200" b="1" dirty="0">
                <a:solidFill>
                  <a:schemeClr val="accent4">
                    <a:lumMod val="75000"/>
                  </a:schemeClr>
                </a:solidFill>
              </a:rPr>
              <a:t>조 </a:t>
            </a:r>
            <a:r>
              <a:rPr lang="en-US" altLang="ko-KR" sz="1200" b="1" dirty="0">
                <a:solidFill>
                  <a:schemeClr val="accent4">
                    <a:lumMod val="75000"/>
                  </a:schemeClr>
                </a:solidFill>
              </a:rPr>
              <a:t>(</a:t>
            </a:r>
            <a:r>
              <a:rPr lang="ko-KR" altLang="en-US" sz="1200" b="1" dirty="0">
                <a:solidFill>
                  <a:schemeClr val="accent4">
                    <a:lumMod val="75000"/>
                  </a:schemeClr>
                </a:solidFill>
              </a:rPr>
              <a:t>타인의 특허발명등과의 관계</a:t>
            </a:r>
            <a:r>
              <a:rPr lang="en-US" altLang="ko-KR" sz="1200" b="1" dirty="0">
                <a:solidFill>
                  <a:schemeClr val="accent4">
                    <a:lumMod val="75000"/>
                  </a:schemeClr>
                </a:solidFill>
              </a:rPr>
              <a:t>) </a:t>
            </a:r>
          </a:p>
          <a:p>
            <a:pPr marL="0" lvl="1">
              <a:lnSpc>
                <a:spcPct val="130000"/>
              </a:lnSpc>
            </a:pPr>
            <a:r>
              <a:rPr lang="ko-KR" altLang="en-US" sz="1200" dirty="0" err="1"/>
              <a:t>특허권자</a:t>
            </a:r>
            <a:r>
              <a:rPr lang="en-US" altLang="ko-KR" sz="1200" dirty="0"/>
              <a:t>·</a:t>
            </a:r>
            <a:r>
              <a:rPr lang="ko-KR" altLang="en-US" sz="1200" dirty="0" err="1"/>
              <a:t>전용실시권자</a:t>
            </a:r>
            <a:r>
              <a:rPr lang="ko-KR" altLang="en-US" sz="1200" dirty="0"/>
              <a:t> 또는 </a:t>
            </a:r>
            <a:r>
              <a:rPr lang="ko-KR" altLang="en-US" sz="1200" dirty="0" err="1"/>
              <a:t>통상실시권자는</a:t>
            </a:r>
            <a:r>
              <a:rPr lang="ko-KR" altLang="en-US" sz="1200" dirty="0"/>
              <a:t> 특허발명이 그 특허발명의 </a:t>
            </a:r>
            <a:r>
              <a:rPr lang="ko-KR" altLang="en-US" sz="1200" b="1" u="sng" dirty="0"/>
              <a:t>특허출원일전</a:t>
            </a:r>
            <a:r>
              <a:rPr lang="ko-KR" altLang="en-US" sz="1200" dirty="0"/>
              <a:t>에 출원된 </a:t>
            </a:r>
            <a:r>
              <a:rPr lang="ko-KR" altLang="en-US" sz="1200" b="1" u="sng" dirty="0"/>
              <a:t>타인의 </a:t>
            </a:r>
            <a:r>
              <a:rPr lang="ko-KR" altLang="en-US" sz="1200" dirty="0"/>
              <a:t>특허발명</a:t>
            </a:r>
            <a:r>
              <a:rPr lang="en-US" altLang="ko-KR" sz="1200" dirty="0"/>
              <a:t>·</a:t>
            </a:r>
            <a:r>
              <a:rPr lang="ko-KR" altLang="en-US" sz="1200" dirty="0"/>
              <a:t>등록실용신안 또는 등록디자인이나 이와 유사한 디자인을 </a:t>
            </a:r>
            <a:r>
              <a:rPr lang="ko-KR" altLang="en-US" sz="1200" b="1" u="sng" dirty="0"/>
              <a:t>이용하거나</a:t>
            </a:r>
            <a:r>
              <a:rPr lang="ko-KR" altLang="en-US" sz="1200" dirty="0"/>
              <a:t> 특허권이 그 특허발명의 특허출원일전에 출원된 타인의 </a:t>
            </a:r>
            <a:r>
              <a:rPr lang="ko-KR" altLang="en-US" sz="1200" dirty="0" err="1"/>
              <a:t>디자인권</a:t>
            </a:r>
            <a:r>
              <a:rPr lang="ko-KR" altLang="en-US" sz="1200" dirty="0"/>
              <a:t> 또는 상표권과 </a:t>
            </a:r>
            <a:r>
              <a:rPr lang="ko-KR" altLang="en-US" sz="1200" b="1" u="sng" dirty="0"/>
              <a:t>저촉되는 경우에는 </a:t>
            </a:r>
            <a:r>
              <a:rPr lang="ko-KR" altLang="en-US" sz="1200" dirty="0"/>
              <a:t>그 </a:t>
            </a:r>
            <a:r>
              <a:rPr lang="ko-KR" altLang="en-US" sz="1200" dirty="0" err="1"/>
              <a:t>특허권자</a:t>
            </a:r>
            <a:r>
              <a:rPr lang="en-US" altLang="ko-KR" sz="1200" dirty="0"/>
              <a:t>·</a:t>
            </a:r>
            <a:r>
              <a:rPr lang="ko-KR" altLang="en-US" sz="1200" dirty="0" err="1"/>
              <a:t>실용신안권자</a:t>
            </a:r>
            <a:r>
              <a:rPr lang="en-US" altLang="ko-KR" sz="1200" dirty="0"/>
              <a:t>·</a:t>
            </a:r>
            <a:r>
              <a:rPr lang="ko-KR" altLang="en-US" sz="1200" dirty="0" err="1"/>
              <a:t>디자인권자</a:t>
            </a:r>
            <a:r>
              <a:rPr lang="ko-KR" altLang="en-US" sz="1200" dirty="0"/>
              <a:t> 또는 상표권자의 </a:t>
            </a:r>
            <a:r>
              <a:rPr lang="ko-KR" altLang="en-US" sz="1200" b="1" u="sng" dirty="0"/>
              <a:t>허락을 얻지 아니하고는 자기의 특허발명을 업으로서 실시할 수 없다</a:t>
            </a:r>
            <a:r>
              <a:rPr lang="en-US" altLang="ko-KR" sz="1200" b="1" u="sng" dirty="0"/>
              <a:t>. </a:t>
            </a:r>
            <a:endParaRPr lang="ko-KR" altLang="en-US" sz="1200" b="1" u="sng" dirty="0"/>
          </a:p>
        </p:txBody>
      </p:sp>
      <p:sp>
        <p:nvSpPr>
          <p:cNvPr id="13" name="모서리가 둥근 직사각형 12"/>
          <p:cNvSpPr/>
          <p:nvPr/>
        </p:nvSpPr>
        <p:spPr>
          <a:xfrm>
            <a:off x="4241893" y="3813723"/>
            <a:ext cx="1152128" cy="432048"/>
          </a:xfrm>
          <a:prstGeom prst="roundRect">
            <a:avLst>
              <a:gd name="adj" fmla="val 50000"/>
            </a:avLst>
          </a:prstGeom>
          <a:solidFill>
            <a:schemeClr val="tx2"/>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600"/>
              <a:t>침해</a:t>
            </a:r>
            <a:endParaRPr lang="ko-KR" altLang="en-US" sz="1600" dirty="0"/>
          </a:p>
        </p:txBody>
      </p:sp>
      <p:sp>
        <p:nvSpPr>
          <p:cNvPr id="14" name="모서리가 둥근 직사각형 13"/>
          <p:cNvSpPr/>
          <p:nvPr/>
        </p:nvSpPr>
        <p:spPr>
          <a:xfrm>
            <a:off x="5347053" y="4543215"/>
            <a:ext cx="1517032" cy="369043"/>
          </a:xfrm>
          <a:prstGeom prst="roundRect">
            <a:avLst/>
          </a:prstGeom>
          <a:solidFill>
            <a:schemeClr val="tx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600" dirty="0">
                <a:solidFill>
                  <a:schemeClr val="tx1"/>
                </a:solidFill>
              </a:rPr>
              <a:t>성립요건</a:t>
            </a:r>
          </a:p>
        </p:txBody>
      </p:sp>
      <p:sp>
        <p:nvSpPr>
          <p:cNvPr id="15" name="모서리가 둥근 직사각형 14"/>
          <p:cNvSpPr/>
          <p:nvPr/>
        </p:nvSpPr>
        <p:spPr>
          <a:xfrm>
            <a:off x="5347053" y="5092722"/>
            <a:ext cx="1517032" cy="369043"/>
          </a:xfrm>
          <a:prstGeom prst="roundRect">
            <a:avLst/>
          </a:prstGeom>
          <a:solidFill>
            <a:schemeClr val="tx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600" dirty="0">
                <a:solidFill>
                  <a:schemeClr val="tx1"/>
                </a:solidFill>
              </a:rPr>
              <a:t>종류</a:t>
            </a:r>
          </a:p>
        </p:txBody>
      </p:sp>
      <p:sp>
        <p:nvSpPr>
          <p:cNvPr id="16" name="모서리가 둥근 직사각형 15"/>
          <p:cNvSpPr/>
          <p:nvPr/>
        </p:nvSpPr>
        <p:spPr>
          <a:xfrm>
            <a:off x="5347053" y="5639871"/>
            <a:ext cx="1517032" cy="369043"/>
          </a:xfrm>
          <a:prstGeom prst="roundRect">
            <a:avLst/>
          </a:prstGeom>
          <a:solidFill>
            <a:schemeClr val="tx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600" dirty="0">
                <a:solidFill>
                  <a:schemeClr val="tx1"/>
                </a:solidFill>
              </a:rPr>
              <a:t>조치</a:t>
            </a:r>
          </a:p>
        </p:txBody>
      </p:sp>
      <p:cxnSp>
        <p:nvCxnSpPr>
          <p:cNvPr id="17" name="꺾인 연결선 16"/>
          <p:cNvCxnSpPr>
            <a:stCxn id="7" idx="2"/>
            <a:endCxn id="13" idx="0"/>
          </p:cNvCxnSpPr>
          <p:nvPr/>
        </p:nvCxnSpPr>
        <p:spPr>
          <a:xfrm rot="5400000">
            <a:off x="4589279" y="3045610"/>
            <a:ext cx="996791" cy="539434"/>
          </a:xfrm>
          <a:prstGeom prst="bentConnector3">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 name="모서리가 둥근 직사각형 17"/>
          <p:cNvSpPr/>
          <p:nvPr/>
        </p:nvSpPr>
        <p:spPr>
          <a:xfrm>
            <a:off x="7442583" y="4293097"/>
            <a:ext cx="1517032" cy="369043"/>
          </a:xfrm>
          <a:prstGeom prst="roundRect">
            <a:avLst/>
          </a:prstGeom>
          <a:solidFill>
            <a:schemeClr val="tx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600" dirty="0">
                <a:solidFill>
                  <a:schemeClr val="tx1"/>
                </a:solidFill>
              </a:rPr>
              <a:t>직접침해</a:t>
            </a:r>
          </a:p>
        </p:txBody>
      </p:sp>
      <p:sp>
        <p:nvSpPr>
          <p:cNvPr id="19" name="모서리가 둥근 직사각형 18"/>
          <p:cNvSpPr/>
          <p:nvPr/>
        </p:nvSpPr>
        <p:spPr>
          <a:xfrm>
            <a:off x="7440149" y="4788150"/>
            <a:ext cx="1517032" cy="369043"/>
          </a:xfrm>
          <a:prstGeom prst="roundRect">
            <a:avLst/>
          </a:prstGeom>
          <a:solidFill>
            <a:schemeClr val="tx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600" dirty="0">
                <a:solidFill>
                  <a:schemeClr val="tx1"/>
                </a:solidFill>
              </a:rPr>
              <a:t>간접침해</a:t>
            </a:r>
          </a:p>
        </p:txBody>
      </p:sp>
      <p:sp>
        <p:nvSpPr>
          <p:cNvPr id="20" name="모서리가 둥근 직사각형 19"/>
          <p:cNvSpPr/>
          <p:nvPr/>
        </p:nvSpPr>
        <p:spPr>
          <a:xfrm>
            <a:off x="9410801" y="5364214"/>
            <a:ext cx="1517032" cy="369043"/>
          </a:xfrm>
          <a:prstGeom prst="roundRect">
            <a:avLst/>
          </a:prstGeom>
          <a:solidFill>
            <a:schemeClr val="tx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600" dirty="0">
                <a:solidFill>
                  <a:schemeClr val="tx1"/>
                </a:solidFill>
              </a:rPr>
              <a:t>민사</a:t>
            </a:r>
          </a:p>
        </p:txBody>
      </p:sp>
      <p:sp>
        <p:nvSpPr>
          <p:cNvPr id="21" name="모서리가 둥근 직사각형 20"/>
          <p:cNvSpPr/>
          <p:nvPr/>
        </p:nvSpPr>
        <p:spPr>
          <a:xfrm>
            <a:off x="9408368" y="5834282"/>
            <a:ext cx="1517032" cy="369043"/>
          </a:xfrm>
          <a:prstGeom prst="roundRect">
            <a:avLst/>
          </a:prstGeom>
          <a:solidFill>
            <a:schemeClr val="tx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600" dirty="0">
                <a:solidFill>
                  <a:schemeClr val="tx1"/>
                </a:solidFill>
              </a:rPr>
              <a:t>형사</a:t>
            </a:r>
          </a:p>
        </p:txBody>
      </p:sp>
      <p:cxnSp>
        <p:nvCxnSpPr>
          <p:cNvPr id="22" name="꺾인 연결선 21"/>
          <p:cNvCxnSpPr>
            <a:stCxn id="13" idx="2"/>
            <a:endCxn id="16" idx="1"/>
          </p:cNvCxnSpPr>
          <p:nvPr/>
        </p:nvCxnSpPr>
        <p:spPr>
          <a:xfrm rot="16200000" flipH="1">
            <a:off x="4293194" y="4770534"/>
            <a:ext cx="1578622" cy="529096"/>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3" name="꺾인 연결선 22"/>
          <p:cNvCxnSpPr>
            <a:stCxn id="13" idx="2"/>
            <a:endCxn id="14" idx="1"/>
          </p:cNvCxnSpPr>
          <p:nvPr/>
        </p:nvCxnSpPr>
        <p:spPr>
          <a:xfrm rot="16200000" flipH="1">
            <a:off x="4841522" y="4222206"/>
            <a:ext cx="481966" cy="529096"/>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4" name="꺾인 연결선 23"/>
          <p:cNvCxnSpPr>
            <a:stCxn id="13" idx="2"/>
            <a:endCxn id="15" idx="1"/>
          </p:cNvCxnSpPr>
          <p:nvPr/>
        </p:nvCxnSpPr>
        <p:spPr>
          <a:xfrm rot="16200000" flipH="1">
            <a:off x="4566769" y="4496959"/>
            <a:ext cx="1031473" cy="529096"/>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5" name="꺾인 연결선 24"/>
          <p:cNvCxnSpPr>
            <a:stCxn id="15" idx="3"/>
            <a:endCxn id="18" idx="1"/>
          </p:cNvCxnSpPr>
          <p:nvPr/>
        </p:nvCxnSpPr>
        <p:spPr>
          <a:xfrm flipV="1">
            <a:off x="6864086" y="4477619"/>
            <a:ext cx="578497" cy="799625"/>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꺾인 연결선 25"/>
          <p:cNvCxnSpPr>
            <a:stCxn id="15" idx="3"/>
            <a:endCxn id="19" idx="1"/>
          </p:cNvCxnSpPr>
          <p:nvPr/>
        </p:nvCxnSpPr>
        <p:spPr>
          <a:xfrm flipV="1">
            <a:off x="6864085" y="4972671"/>
            <a:ext cx="576064" cy="304572"/>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 name="꺾인 연결선 26"/>
          <p:cNvCxnSpPr>
            <a:stCxn id="16" idx="3"/>
            <a:endCxn id="20" idx="1"/>
          </p:cNvCxnSpPr>
          <p:nvPr/>
        </p:nvCxnSpPr>
        <p:spPr>
          <a:xfrm flipV="1">
            <a:off x="6864086" y="5548736"/>
            <a:ext cx="2546716" cy="275657"/>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8" name="꺾인 연결선 27"/>
          <p:cNvCxnSpPr>
            <a:stCxn id="16" idx="3"/>
            <a:endCxn id="21" idx="1"/>
          </p:cNvCxnSpPr>
          <p:nvPr/>
        </p:nvCxnSpPr>
        <p:spPr>
          <a:xfrm>
            <a:off x="6864085" y="5824393"/>
            <a:ext cx="2544283" cy="19441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꺾인 연결선 29"/>
          <p:cNvCxnSpPr>
            <a:stCxn id="4" idx="3"/>
            <a:endCxn id="6" idx="1"/>
          </p:cNvCxnSpPr>
          <p:nvPr/>
        </p:nvCxnSpPr>
        <p:spPr>
          <a:xfrm flipV="1">
            <a:off x="3370643" y="1376772"/>
            <a:ext cx="613122" cy="72008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직선 연결선 34"/>
          <p:cNvCxnSpPr>
            <a:stCxn id="6" idx="2"/>
            <a:endCxn id="7" idx="0"/>
          </p:cNvCxnSpPr>
          <p:nvPr/>
        </p:nvCxnSpPr>
        <p:spPr>
          <a:xfrm>
            <a:off x="5357391" y="1592796"/>
            <a:ext cx="0" cy="792088"/>
          </a:xfrm>
          <a:prstGeom prst="line">
            <a:avLst/>
          </a:prstGeom>
          <a:ln w="127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Rectangle 17"/>
          <p:cNvSpPr>
            <a:spLocks noChangeArrowheads="1"/>
          </p:cNvSpPr>
          <p:nvPr/>
        </p:nvSpPr>
        <p:spPr bwMode="auto">
          <a:xfrm>
            <a:off x="4748654" y="1736813"/>
            <a:ext cx="2068087" cy="492037"/>
          </a:xfrm>
          <a:prstGeom prst="rect">
            <a:avLst/>
          </a:prstGeom>
          <a:noFill/>
          <a:ln w="9525">
            <a:noFill/>
            <a:miter lim="800000"/>
            <a:headEnd/>
            <a:tailEnd/>
          </a:ln>
          <a:effectLst/>
        </p:spPr>
        <p:txBody>
          <a:bodyPr wrap="none" anchor="ctr"/>
          <a:lstStyle/>
          <a:p>
            <a:pPr algn="ctr" latinLnBrk="1"/>
            <a:r>
              <a:rPr kumimoji="1" lang="ko-KR" altLang="en-US" sz="1200" b="0" dirty="0">
                <a:solidFill>
                  <a:srgbClr val="000000"/>
                </a:solidFill>
              </a:rPr>
              <a:t>반대급부</a:t>
            </a:r>
            <a:endParaRPr kumimoji="1" lang="en-US" altLang="ko-KR" sz="1200" b="0" dirty="0">
              <a:solidFill>
                <a:srgbClr val="000000"/>
              </a:solidFill>
            </a:endParaRPr>
          </a:p>
          <a:p>
            <a:pPr algn="ctr" latinLnBrk="1"/>
            <a:r>
              <a:rPr kumimoji="1" lang="en-US" altLang="ko-KR" sz="1200" dirty="0">
                <a:solidFill>
                  <a:srgbClr val="000000"/>
                </a:solidFill>
              </a:rPr>
              <a:t>(</a:t>
            </a:r>
            <a:r>
              <a:rPr kumimoji="1" lang="ko-KR" altLang="en-US" sz="1200" dirty="0">
                <a:solidFill>
                  <a:srgbClr val="000000"/>
                </a:solidFill>
              </a:rPr>
              <a:t>동전의 양면</a:t>
            </a:r>
            <a:r>
              <a:rPr kumimoji="1" lang="en-US" altLang="ko-KR" sz="1200" dirty="0">
                <a:solidFill>
                  <a:srgbClr val="000000"/>
                </a:solidFill>
              </a:rPr>
              <a:t>)</a:t>
            </a:r>
            <a:endParaRPr kumimoji="1" lang="ko-KR" altLang="en-US" sz="1200" b="0" dirty="0">
              <a:solidFill>
                <a:srgbClr val="000000"/>
              </a:solidFill>
            </a:endParaRPr>
          </a:p>
        </p:txBody>
      </p:sp>
      <p:sp>
        <p:nvSpPr>
          <p:cNvPr id="9" name="TextBox 8">
            <a:extLst>
              <a:ext uri="{FF2B5EF4-FFF2-40B4-BE49-F238E27FC236}">
                <a16:creationId xmlns:a16="http://schemas.microsoft.com/office/drawing/2014/main" id="{92050DB8-3F1E-F1B3-B567-522907D4B74B}"/>
              </a:ext>
            </a:extLst>
          </p:cNvPr>
          <p:cNvSpPr txBox="1"/>
          <p:nvPr/>
        </p:nvSpPr>
        <p:spPr>
          <a:xfrm>
            <a:off x="839151" y="5251346"/>
            <a:ext cx="2669320" cy="646331"/>
          </a:xfrm>
          <a:prstGeom prst="rect">
            <a:avLst/>
          </a:prstGeom>
          <a:noFill/>
          <a:ln w="38100">
            <a:solidFill>
              <a:srgbClr val="FF0000"/>
            </a:solidFill>
          </a:ln>
        </p:spPr>
        <p:txBody>
          <a:bodyPr wrap="none" rtlCol="0">
            <a:spAutoFit/>
          </a:bodyPr>
          <a:lstStyle/>
          <a:p>
            <a:pPr algn="ctr"/>
            <a:r>
              <a:rPr lang="ko-KR" altLang="en-US" dirty="0">
                <a:solidFill>
                  <a:srgbClr val="FF0000"/>
                </a:solidFill>
              </a:rPr>
              <a:t>특허법에서 소극적 효력 </a:t>
            </a:r>
            <a:endParaRPr lang="en-US" altLang="ko-KR" dirty="0">
              <a:solidFill>
                <a:srgbClr val="FF0000"/>
              </a:solidFill>
            </a:endParaRPr>
          </a:p>
          <a:p>
            <a:pPr algn="ctr"/>
            <a:r>
              <a:rPr lang="ko-KR" altLang="en-US" dirty="0">
                <a:solidFill>
                  <a:srgbClr val="FF0000"/>
                </a:solidFill>
              </a:rPr>
              <a:t>근거규정을 두는 것이 필요</a:t>
            </a:r>
          </a:p>
        </p:txBody>
      </p:sp>
    </p:spTree>
    <p:extLst>
      <p:ext uri="{BB962C8B-B14F-4D97-AF65-F5344CB8AC3E}">
        <p14:creationId xmlns:p14="http://schemas.microsoft.com/office/powerpoint/2010/main" val="1360435074"/>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3"/>
          <p:cNvSpPr>
            <a:spLocks noGrp="1"/>
          </p:cNvSpPr>
          <p:nvPr>
            <p:ph type="sldNum" sz="quarter" idx="12"/>
          </p:nvPr>
        </p:nvSpPr>
        <p:spPr/>
        <p:txBody>
          <a:bodyPr/>
          <a:lstStyle/>
          <a:p>
            <a:r>
              <a:rPr lang="en-US" altLang="ko-KR"/>
              <a:t>367</a:t>
            </a:r>
            <a:endParaRPr lang="ko-KR" altLang="en-US"/>
          </a:p>
        </p:txBody>
      </p:sp>
      <p:sp>
        <p:nvSpPr>
          <p:cNvPr id="2" name="제목 1"/>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3" name="텍스트 개체 틀 2"/>
          <p:cNvSpPr>
            <a:spLocks noGrp="1"/>
          </p:cNvSpPr>
          <p:nvPr>
            <p:ph type="body" sz="quarter" idx="13"/>
          </p:nvPr>
        </p:nvSpPr>
        <p:spPr/>
        <p:txBody>
          <a:bodyPr/>
          <a:lstStyle/>
          <a:p>
            <a:r>
              <a:rPr lang="ko-KR" altLang="en-US" dirty="0"/>
              <a:t>특허는 방패가 아니라 창이다</a:t>
            </a:r>
            <a:r>
              <a:rPr lang="en-US" altLang="ko-KR" dirty="0"/>
              <a:t>.</a:t>
            </a:r>
            <a:endParaRPr lang="ko-KR" altLang="en-US" dirty="0"/>
          </a:p>
        </p:txBody>
      </p:sp>
      <p:cxnSp>
        <p:nvCxnSpPr>
          <p:cNvPr id="31" name="직선 연결선 30"/>
          <p:cNvCxnSpPr/>
          <p:nvPr/>
        </p:nvCxnSpPr>
        <p:spPr>
          <a:xfrm>
            <a:off x="0" y="152831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77875" y="986046"/>
            <a:ext cx="11936323" cy="523220"/>
          </a:xfrm>
          <a:prstGeom prst="rect">
            <a:avLst/>
          </a:prstGeom>
          <a:noFill/>
        </p:spPr>
        <p:txBody>
          <a:bodyPr wrap="square" rtlCol="0">
            <a:spAutoFit/>
          </a:bodyPr>
          <a:lstStyle/>
          <a:p>
            <a:r>
              <a:rPr lang="ko-KR" altLang="en-US" sz="1400" dirty="0">
                <a:latin typeface="+mn-ea"/>
              </a:rPr>
              <a:t>나의 특허는 나의 제품</a:t>
            </a:r>
            <a:r>
              <a:rPr lang="en-US" altLang="ko-KR" sz="1400" dirty="0">
                <a:latin typeface="+mn-ea"/>
              </a:rPr>
              <a:t>(</a:t>
            </a:r>
            <a:r>
              <a:rPr lang="ko-KR" altLang="en-US" sz="1400" dirty="0">
                <a:latin typeface="+mn-ea"/>
              </a:rPr>
              <a:t>기술</a:t>
            </a:r>
            <a:r>
              <a:rPr lang="en-US" altLang="ko-KR" sz="1400" dirty="0">
                <a:latin typeface="+mn-ea"/>
              </a:rPr>
              <a:t>, </a:t>
            </a:r>
            <a:r>
              <a:rPr lang="ko-KR" altLang="en-US" sz="1400" dirty="0">
                <a:latin typeface="+mn-ea"/>
              </a:rPr>
              <a:t>아이디어</a:t>
            </a:r>
            <a:r>
              <a:rPr lang="en-US" altLang="ko-KR" sz="1400" dirty="0">
                <a:latin typeface="+mn-ea"/>
              </a:rPr>
              <a:t>)</a:t>
            </a:r>
            <a:r>
              <a:rPr lang="ko-KR" altLang="en-US" sz="1400" dirty="0">
                <a:latin typeface="+mn-ea"/>
              </a:rPr>
              <a:t>로부터 창출되지만</a:t>
            </a:r>
            <a:r>
              <a:rPr lang="en-US" altLang="ko-KR" sz="1400" dirty="0">
                <a:latin typeface="+mn-ea"/>
              </a:rPr>
              <a:t>, </a:t>
            </a:r>
            <a:r>
              <a:rPr lang="ko-KR" altLang="en-US" sz="1400" dirty="0">
                <a:solidFill>
                  <a:schemeClr val="accent3">
                    <a:lumMod val="50000"/>
                  </a:schemeClr>
                </a:solidFill>
                <a:highlight>
                  <a:srgbClr val="FFFF00"/>
                </a:highlight>
                <a:latin typeface="+mn-ea"/>
              </a:rPr>
              <a:t>나의 제품을 보호하기 위한 방패는 아니며 아직 확정되지 않은 상대방의 제품을 공격하기 위한 창</a:t>
            </a:r>
            <a:r>
              <a:rPr lang="ko-KR" altLang="en-US" sz="1400" dirty="0">
                <a:latin typeface="+mn-ea"/>
              </a:rPr>
              <a:t>이다</a:t>
            </a:r>
            <a:r>
              <a:rPr lang="en-US" altLang="ko-KR" sz="1400" dirty="0">
                <a:latin typeface="+mn-ea"/>
              </a:rPr>
              <a:t>.</a:t>
            </a:r>
          </a:p>
          <a:p>
            <a:r>
              <a:rPr lang="en-US" altLang="ko-KR" sz="1400" dirty="0">
                <a:latin typeface="+mn-ea"/>
              </a:rPr>
              <a:t>(</a:t>
            </a:r>
            <a:r>
              <a:rPr lang="ko-KR" altLang="en-US" sz="1400" dirty="0">
                <a:latin typeface="+mn-ea"/>
              </a:rPr>
              <a:t>다만</a:t>
            </a:r>
            <a:r>
              <a:rPr lang="en-US" altLang="ko-KR" sz="1400" dirty="0">
                <a:latin typeface="+mn-ea"/>
              </a:rPr>
              <a:t>, </a:t>
            </a:r>
            <a:r>
              <a:rPr lang="ko-KR" altLang="en-US" sz="1400" dirty="0">
                <a:latin typeface="+mn-ea"/>
              </a:rPr>
              <a:t>이용</a:t>
            </a:r>
            <a:r>
              <a:rPr lang="en-US" altLang="ko-KR" sz="1400" dirty="0">
                <a:latin typeface="+mn-ea"/>
              </a:rPr>
              <a:t>, </a:t>
            </a:r>
            <a:r>
              <a:rPr lang="ko-KR" altLang="en-US" sz="1400" dirty="0">
                <a:latin typeface="+mn-ea"/>
              </a:rPr>
              <a:t>저촉에 해당하는 경우 나의 특허로 인해 통상실시권을 확보할 수 있는 기회를 얻게 된다</a:t>
            </a:r>
            <a:r>
              <a:rPr lang="en-US" altLang="ko-KR" sz="1400" dirty="0">
                <a:latin typeface="+mn-ea"/>
              </a:rPr>
              <a:t>.)</a:t>
            </a:r>
            <a:r>
              <a:rPr lang="ko-KR" altLang="en-US" sz="1400" dirty="0">
                <a:latin typeface="+mn-ea"/>
              </a:rPr>
              <a:t> </a:t>
            </a:r>
          </a:p>
        </p:txBody>
      </p:sp>
      <p:sp>
        <p:nvSpPr>
          <p:cNvPr id="33" name="자유형 32"/>
          <p:cNvSpPr/>
          <p:nvPr/>
        </p:nvSpPr>
        <p:spPr>
          <a:xfrm>
            <a:off x="4651740" y="1696884"/>
            <a:ext cx="2112433" cy="1735037"/>
          </a:xfrm>
          <a:custGeom>
            <a:avLst/>
            <a:gdLst>
              <a:gd name="connsiteX0" fmla="*/ 0 w 1007417"/>
              <a:gd name="connsiteY0" fmla="*/ 503709 h 1007417"/>
              <a:gd name="connsiteX1" fmla="*/ 503709 w 1007417"/>
              <a:gd name="connsiteY1" fmla="*/ 0 h 1007417"/>
              <a:gd name="connsiteX2" fmla="*/ 1007418 w 1007417"/>
              <a:gd name="connsiteY2" fmla="*/ 503709 h 1007417"/>
              <a:gd name="connsiteX3" fmla="*/ 503709 w 1007417"/>
              <a:gd name="connsiteY3" fmla="*/ 1007418 h 1007417"/>
              <a:gd name="connsiteX4" fmla="*/ 0 w 1007417"/>
              <a:gd name="connsiteY4" fmla="*/ 503709 h 1007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7417" h="1007417">
                <a:moveTo>
                  <a:pt x="0" y="503709"/>
                </a:moveTo>
                <a:cubicBezTo>
                  <a:pt x="0" y="225518"/>
                  <a:pt x="225518" y="0"/>
                  <a:pt x="503709" y="0"/>
                </a:cubicBezTo>
                <a:cubicBezTo>
                  <a:pt x="781900" y="0"/>
                  <a:pt x="1007418" y="225518"/>
                  <a:pt x="1007418" y="503709"/>
                </a:cubicBezTo>
                <a:cubicBezTo>
                  <a:pt x="1007418" y="781900"/>
                  <a:pt x="781900" y="1007418"/>
                  <a:pt x="503709" y="1007418"/>
                </a:cubicBezTo>
                <a:cubicBezTo>
                  <a:pt x="225518" y="1007418"/>
                  <a:pt x="0" y="781900"/>
                  <a:pt x="0" y="503709"/>
                </a:cubicBezTo>
                <a:close/>
              </a:path>
            </a:pathLst>
          </a:custGeom>
          <a:ln>
            <a:solidFill>
              <a:schemeClr val="bg1">
                <a:lumMod val="50000"/>
              </a:schemeClr>
            </a:solidFill>
          </a:ln>
        </p:spPr>
        <p:style>
          <a:lnRef idx="3">
            <a:schemeClr val="lt1">
              <a:hueOff val="0"/>
              <a:satOff val="0"/>
              <a:lumOff val="0"/>
              <a:alphaOff val="0"/>
            </a:schemeClr>
          </a:lnRef>
          <a:fillRef idx="1">
            <a:schemeClr val="accent2">
              <a:hueOff val="0"/>
              <a:satOff val="0"/>
              <a:lumOff val="0"/>
              <a:alphaOff val="0"/>
            </a:schemeClr>
          </a:fillRef>
          <a:effectRef idx="1">
            <a:schemeClr val="accent2">
              <a:hueOff val="0"/>
              <a:satOff val="0"/>
              <a:lumOff val="0"/>
              <a:alphaOff val="0"/>
            </a:schemeClr>
          </a:effectRef>
          <a:fontRef idx="minor">
            <a:schemeClr val="lt1"/>
          </a:fontRef>
        </p:style>
        <p:txBody>
          <a:bodyPr lIns="167853" tIns="167853" rIns="167853" bIns="167853" spcCol="1270" anchor="ctr"/>
          <a:lstStyle/>
          <a:p>
            <a:pPr algn="ctr" defTabSz="711200">
              <a:lnSpc>
                <a:spcPct val="90000"/>
              </a:lnSpc>
              <a:spcAft>
                <a:spcPct val="35000"/>
              </a:spcAft>
              <a:defRPr/>
            </a:pPr>
            <a:r>
              <a:rPr lang="en-US" altLang="ko-KR" sz="1600" dirty="0">
                <a:latin typeface="+mn-ea"/>
              </a:rPr>
              <a:t>My patent</a:t>
            </a:r>
            <a:endParaRPr lang="ko-KR" altLang="en-US" sz="1600" dirty="0">
              <a:latin typeface="+mn-ea"/>
            </a:endParaRPr>
          </a:p>
        </p:txBody>
      </p:sp>
      <p:sp>
        <p:nvSpPr>
          <p:cNvPr id="34" name="자유형 33"/>
          <p:cNvSpPr/>
          <p:nvPr/>
        </p:nvSpPr>
        <p:spPr>
          <a:xfrm>
            <a:off x="7977188" y="4210910"/>
            <a:ext cx="2176462" cy="1731422"/>
          </a:xfrm>
          <a:custGeom>
            <a:avLst/>
            <a:gdLst>
              <a:gd name="connsiteX0" fmla="*/ 0 w 1007417"/>
              <a:gd name="connsiteY0" fmla="*/ 503709 h 1007417"/>
              <a:gd name="connsiteX1" fmla="*/ 503709 w 1007417"/>
              <a:gd name="connsiteY1" fmla="*/ 0 h 1007417"/>
              <a:gd name="connsiteX2" fmla="*/ 1007418 w 1007417"/>
              <a:gd name="connsiteY2" fmla="*/ 503709 h 1007417"/>
              <a:gd name="connsiteX3" fmla="*/ 503709 w 1007417"/>
              <a:gd name="connsiteY3" fmla="*/ 1007418 h 1007417"/>
              <a:gd name="connsiteX4" fmla="*/ 0 w 1007417"/>
              <a:gd name="connsiteY4" fmla="*/ 503709 h 1007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7417" h="1007417">
                <a:moveTo>
                  <a:pt x="0" y="503709"/>
                </a:moveTo>
                <a:cubicBezTo>
                  <a:pt x="0" y="225518"/>
                  <a:pt x="225518" y="0"/>
                  <a:pt x="503709" y="0"/>
                </a:cubicBezTo>
                <a:cubicBezTo>
                  <a:pt x="781900" y="0"/>
                  <a:pt x="1007418" y="225518"/>
                  <a:pt x="1007418" y="503709"/>
                </a:cubicBezTo>
                <a:cubicBezTo>
                  <a:pt x="1007418" y="781900"/>
                  <a:pt x="781900" y="1007418"/>
                  <a:pt x="503709" y="1007418"/>
                </a:cubicBezTo>
                <a:cubicBezTo>
                  <a:pt x="225518" y="1007418"/>
                  <a:pt x="0" y="781900"/>
                  <a:pt x="0" y="503709"/>
                </a:cubicBezTo>
                <a:close/>
              </a:path>
            </a:pathLst>
          </a:custGeom>
          <a:solidFill>
            <a:schemeClr val="accent4"/>
          </a:solidFill>
          <a:ln>
            <a:solidFill>
              <a:schemeClr val="bg1">
                <a:lumMod val="50000"/>
              </a:schemeClr>
            </a:solidFill>
          </a:ln>
        </p:spPr>
        <p:style>
          <a:lnRef idx="3">
            <a:schemeClr val="lt1">
              <a:hueOff val="0"/>
              <a:satOff val="0"/>
              <a:lumOff val="0"/>
              <a:alphaOff val="0"/>
            </a:schemeClr>
          </a:lnRef>
          <a:fillRef idx="1">
            <a:schemeClr val="accent3">
              <a:hueOff val="0"/>
              <a:satOff val="0"/>
              <a:lumOff val="0"/>
              <a:alphaOff val="0"/>
            </a:schemeClr>
          </a:fillRef>
          <a:effectRef idx="1">
            <a:schemeClr val="accent3">
              <a:hueOff val="0"/>
              <a:satOff val="0"/>
              <a:lumOff val="0"/>
              <a:alphaOff val="0"/>
            </a:schemeClr>
          </a:effectRef>
          <a:fontRef idx="minor">
            <a:schemeClr val="lt1"/>
          </a:fontRef>
        </p:style>
        <p:txBody>
          <a:bodyPr lIns="167853" tIns="167853" rIns="167853" bIns="167853" spcCol="1270" anchor="ctr"/>
          <a:lstStyle/>
          <a:p>
            <a:pPr algn="ctr" defTabSz="711200">
              <a:lnSpc>
                <a:spcPct val="90000"/>
              </a:lnSpc>
              <a:spcAft>
                <a:spcPct val="35000"/>
              </a:spcAft>
              <a:defRPr/>
            </a:pPr>
            <a:r>
              <a:rPr lang="en-US" altLang="ko-KR" sz="1600" dirty="0">
                <a:latin typeface="+mn-ea"/>
              </a:rPr>
              <a:t>Other Product</a:t>
            </a:r>
          </a:p>
          <a:p>
            <a:pPr algn="ctr" defTabSz="711200">
              <a:lnSpc>
                <a:spcPct val="90000"/>
              </a:lnSpc>
              <a:spcAft>
                <a:spcPct val="35000"/>
              </a:spcAft>
              <a:defRPr/>
            </a:pPr>
            <a:r>
              <a:rPr lang="en-US" altLang="ko-KR" sz="1600" dirty="0">
                <a:latin typeface="+mn-ea"/>
              </a:rPr>
              <a:t>(TO BE)</a:t>
            </a:r>
            <a:endParaRPr lang="ko-KR" altLang="en-US" sz="1600" dirty="0">
              <a:latin typeface="+mn-ea"/>
            </a:endParaRPr>
          </a:p>
        </p:txBody>
      </p:sp>
      <p:sp>
        <p:nvSpPr>
          <p:cNvPr id="37" name="자유형 36"/>
          <p:cNvSpPr/>
          <p:nvPr/>
        </p:nvSpPr>
        <p:spPr>
          <a:xfrm>
            <a:off x="1662872" y="4299338"/>
            <a:ext cx="2174946" cy="1731422"/>
          </a:xfrm>
          <a:custGeom>
            <a:avLst/>
            <a:gdLst>
              <a:gd name="connsiteX0" fmla="*/ 0 w 1007417"/>
              <a:gd name="connsiteY0" fmla="*/ 503709 h 1007417"/>
              <a:gd name="connsiteX1" fmla="*/ 503709 w 1007417"/>
              <a:gd name="connsiteY1" fmla="*/ 0 h 1007417"/>
              <a:gd name="connsiteX2" fmla="*/ 1007418 w 1007417"/>
              <a:gd name="connsiteY2" fmla="*/ 503709 h 1007417"/>
              <a:gd name="connsiteX3" fmla="*/ 503709 w 1007417"/>
              <a:gd name="connsiteY3" fmla="*/ 1007418 h 1007417"/>
              <a:gd name="connsiteX4" fmla="*/ 0 w 1007417"/>
              <a:gd name="connsiteY4" fmla="*/ 503709 h 1007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7417" h="1007417">
                <a:moveTo>
                  <a:pt x="0" y="503709"/>
                </a:moveTo>
                <a:cubicBezTo>
                  <a:pt x="0" y="225518"/>
                  <a:pt x="225518" y="0"/>
                  <a:pt x="503709" y="0"/>
                </a:cubicBezTo>
                <a:cubicBezTo>
                  <a:pt x="781900" y="0"/>
                  <a:pt x="1007418" y="225518"/>
                  <a:pt x="1007418" y="503709"/>
                </a:cubicBezTo>
                <a:cubicBezTo>
                  <a:pt x="1007418" y="781900"/>
                  <a:pt x="781900" y="1007418"/>
                  <a:pt x="503709" y="1007418"/>
                </a:cubicBezTo>
                <a:cubicBezTo>
                  <a:pt x="225518" y="1007418"/>
                  <a:pt x="0" y="781900"/>
                  <a:pt x="0" y="503709"/>
                </a:cubicBezTo>
                <a:close/>
              </a:path>
            </a:pathLst>
          </a:custGeom>
          <a:solidFill>
            <a:schemeClr val="tx2"/>
          </a:solidFill>
          <a:ln>
            <a:solidFill>
              <a:schemeClr val="bg1">
                <a:lumMod val="50000"/>
              </a:schemeClr>
            </a:solidFill>
          </a:ln>
        </p:spPr>
        <p:style>
          <a:lnRef idx="3">
            <a:schemeClr val="lt1">
              <a:hueOff val="0"/>
              <a:satOff val="0"/>
              <a:lumOff val="0"/>
              <a:alphaOff val="0"/>
            </a:schemeClr>
          </a:lnRef>
          <a:fillRef idx="1">
            <a:schemeClr val="accent5">
              <a:hueOff val="0"/>
              <a:satOff val="0"/>
              <a:lumOff val="0"/>
              <a:alphaOff val="0"/>
            </a:schemeClr>
          </a:fillRef>
          <a:effectRef idx="1">
            <a:schemeClr val="accent5">
              <a:hueOff val="0"/>
              <a:satOff val="0"/>
              <a:lumOff val="0"/>
              <a:alphaOff val="0"/>
            </a:schemeClr>
          </a:effectRef>
          <a:fontRef idx="minor">
            <a:schemeClr val="lt1"/>
          </a:fontRef>
        </p:style>
        <p:txBody>
          <a:bodyPr lIns="167853" tIns="167853" rIns="167853" bIns="167853" spcCol="1270" anchor="ctr"/>
          <a:lstStyle/>
          <a:p>
            <a:pPr algn="ctr" defTabSz="711200">
              <a:lnSpc>
                <a:spcPct val="90000"/>
              </a:lnSpc>
              <a:spcAft>
                <a:spcPct val="35000"/>
              </a:spcAft>
              <a:defRPr/>
            </a:pPr>
            <a:r>
              <a:rPr lang="en-US" altLang="ko-KR" sz="1600" dirty="0">
                <a:latin typeface="+mn-ea"/>
              </a:rPr>
              <a:t>My Product, Idea, Technology</a:t>
            </a:r>
          </a:p>
          <a:p>
            <a:pPr algn="ctr" defTabSz="711200">
              <a:lnSpc>
                <a:spcPct val="90000"/>
              </a:lnSpc>
              <a:spcAft>
                <a:spcPct val="35000"/>
              </a:spcAft>
              <a:defRPr/>
            </a:pPr>
            <a:r>
              <a:rPr lang="en-US" altLang="ko-KR" sz="1600" dirty="0">
                <a:latin typeface="+mn-ea"/>
              </a:rPr>
              <a:t>(AS IS)</a:t>
            </a:r>
            <a:endParaRPr lang="ko-KR" altLang="en-US" sz="1600" dirty="0">
              <a:latin typeface="+mn-ea"/>
            </a:endParaRPr>
          </a:p>
        </p:txBody>
      </p:sp>
      <p:sp>
        <p:nvSpPr>
          <p:cNvPr id="38" name="오른쪽 화살표 37"/>
          <p:cNvSpPr/>
          <p:nvPr/>
        </p:nvSpPr>
        <p:spPr bwMode="auto">
          <a:xfrm rot="2795701">
            <a:off x="6811367" y="2984246"/>
            <a:ext cx="1798241" cy="895349"/>
          </a:xfrm>
          <a:prstGeom prst="rightArrow">
            <a:avLst>
              <a:gd name="adj1" fmla="val 74086"/>
              <a:gd name="adj2" fmla="val 50000"/>
            </a:avLst>
          </a:prstGeom>
          <a:ln>
            <a:headEnd type="none" w="med" len="med"/>
            <a:tailEnd type="none" w="med" len="med"/>
          </a:ln>
        </p:spPr>
        <p:style>
          <a:lnRef idx="1">
            <a:schemeClr val="accent2"/>
          </a:lnRef>
          <a:fillRef idx="2">
            <a:schemeClr val="accent2"/>
          </a:fillRef>
          <a:effectRef idx="1">
            <a:schemeClr val="accent2"/>
          </a:effectRef>
          <a:fontRef idx="minor">
            <a:schemeClr val="dk1"/>
          </a:fontRef>
        </p:style>
        <p:txBody>
          <a:bodyPr lIns="90000" tIns="46800" rIns="90000" bIns="46800" anchor="ctr"/>
          <a:lstStyle/>
          <a:p>
            <a:pPr algn="ctr">
              <a:buFont typeface="Wingdings" pitchFamily="2" charset="2"/>
              <a:buNone/>
              <a:defRPr/>
            </a:pPr>
            <a:r>
              <a:rPr lang="en-US" altLang="ko-KR" sz="1600" b="1" dirty="0">
                <a:solidFill>
                  <a:srgbClr val="FF0000"/>
                </a:solidFill>
                <a:latin typeface="+mn-ea"/>
              </a:rPr>
              <a:t>Attack</a:t>
            </a:r>
            <a:endParaRPr lang="ko-KR" altLang="en-US" sz="1600" b="1" dirty="0">
              <a:solidFill>
                <a:srgbClr val="FF0000"/>
              </a:solidFill>
              <a:latin typeface="+mn-ea"/>
            </a:endParaRPr>
          </a:p>
        </p:txBody>
      </p:sp>
      <p:sp>
        <p:nvSpPr>
          <p:cNvPr id="39" name="위로 굽은 화살표 38"/>
          <p:cNvSpPr/>
          <p:nvPr/>
        </p:nvSpPr>
        <p:spPr bwMode="auto">
          <a:xfrm>
            <a:off x="4459718" y="3745627"/>
            <a:ext cx="1824203" cy="1568616"/>
          </a:xfrm>
          <a:prstGeom prst="bentUpArrow">
            <a:avLst>
              <a:gd name="adj1" fmla="val 34559"/>
              <a:gd name="adj2" fmla="val 21693"/>
              <a:gd name="adj3" fmla="val 29470"/>
            </a:avLst>
          </a:prstGeom>
          <a:solidFill>
            <a:schemeClr val="tx2">
              <a:lumMod val="20000"/>
              <a:lumOff val="80000"/>
            </a:schemeClr>
          </a:solidFill>
          <a:ln>
            <a:headEnd type="none" w="med" len="med"/>
            <a:tailEnd type="none" w="med" len="med"/>
          </a:ln>
        </p:spPr>
        <p:style>
          <a:lnRef idx="1">
            <a:schemeClr val="accent5"/>
          </a:lnRef>
          <a:fillRef idx="2">
            <a:schemeClr val="accent5"/>
          </a:fillRef>
          <a:effectRef idx="1">
            <a:schemeClr val="accent5"/>
          </a:effectRef>
          <a:fontRef idx="minor">
            <a:schemeClr val="dk1"/>
          </a:fontRef>
        </p:style>
        <p:txBody>
          <a:bodyPr lIns="90000" tIns="46800" rIns="90000" bIns="46800" anchor="ctr"/>
          <a:lstStyle/>
          <a:p>
            <a:pPr algn="ctr">
              <a:buFont typeface="Wingdings" pitchFamily="2" charset="2"/>
              <a:buNone/>
              <a:defRPr/>
            </a:pPr>
            <a:r>
              <a:rPr lang="en-US" altLang="ko-KR" sz="1400" b="0" dirty="0">
                <a:solidFill>
                  <a:srgbClr val="1C1C1C"/>
                </a:solidFill>
                <a:latin typeface="+mn-ea"/>
              </a:rPr>
              <a:t>Create</a:t>
            </a:r>
            <a:endParaRPr lang="ko-KR" altLang="en-US" sz="1400" b="0" dirty="0">
              <a:solidFill>
                <a:srgbClr val="1C1C1C"/>
              </a:solidFill>
              <a:latin typeface="+mn-ea"/>
            </a:endParaRPr>
          </a:p>
        </p:txBody>
      </p:sp>
      <p:sp>
        <p:nvSpPr>
          <p:cNvPr id="40" name="왼쪽 화살표 39"/>
          <p:cNvSpPr/>
          <p:nvPr/>
        </p:nvSpPr>
        <p:spPr bwMode="auto">
          <a:xfrm rot="18872142">
            <a:off x="2924322" y="3107062"/>
            <a:ext cx="1826991" cy="958851"/>
          </a:xfrm>
          <a:prstGeom prst="leftArrow">
            <a:avLst>
              <a:gd name="adj1" fmla="val 67429"/>
              <a:gd name="adj2" fmla="val 50000"/>
            </a:avLst>
          </a:prstGeom>
          <a:ln>
            <a:headEnd type="none" w="med" len="med"/>
            <a:tailEnd type="none" w="med" len="med"/>
          </a:ln>
        </p:spPr>
        <p:style>
          <a:lnRef idx="2">
            <a:schemeClr val="accent2"/>
          </a:lnRef>
          <a:fillRef idx="1">
            <a:schemeClr val="lt1"/>
          </a:fillRef>
          <a:effectRef idx="0">
            <a:schemeClr val="accent2"/>
          </a:effectRef>
          <a:fontRef idx="minor">
            <a:schemeClr val="dk1"/>
          </a:fontRef>
        </p:style>
        <p:txBody>
          <a:bodyPr lIns="90000" tIns="46800" rIns="90000" bIns="46800" anchor="ctr"/>
          <a:lstStyle/>
          <a:p>
            <a:pPr algn="ctr">
              <a:buFont typeface="Wingdings" pitchFamily="2" charset="2"/>
              <a:buNone/>
              <a:defRPr/>
            </a:pPr>
            <a:r>
              <a:rPr lang="en-US" altLang="ko-KR" sz="1400" b="0" dirty="0">
                <a:solidFill>
                  <a:srgbClr val="1C1C1C"/>
                </a:solidFill>
                <a:latin typeface="+mn-ea"/>
              </a:rPr>
              <a:t>No-Attack</a:t>
            </a:r>
          </a:p>
          <a:p>
            <a:pPr algn="ctr">
              <a:buFont typeface="Wingdings" pitchFamily="2" charset="2"/>
              <a:buNone/>
              <a:defRPr/>
            </a:pPr>
            <a:r>
              <a:rPr lang="en-US" altLang="ko-KR" sz="1400" b="1" dirty="0">
                <a:solidFill>
                  <a:srgbClr val="FF0000"/>
                </a:solidFill>
                <a:latin typeface="+mn-ea"/>
              </a:rPr>
              <a:t>No-Defense</a:t>
            </a:r>
            <a:endParaRPr lang="ko-KR" altLang="en-US" sz="1400" b="1" dirty="0">
              <a:solidFill>
                <a:srgbClr val="FF0000"/>
              </a:solidFill>
              <a:latin typeface="+mn-ea"/>
            </a:endParaRPr>
          </a:p>
        </p:txBody>
      </p:sp>
      <p:sp>
        <p:nvSpPr>
          <p:cNvPr id="41" name="타원 40"/>
          <p:cNvSpPr/>
          <p:nvPr/>
        </p:nvSpPr>
        <p:spPr>
          <a:xfrm>
            <a:off x="7865507" y="2908739"/>
            <a:ext cx="665057" cy="604006"/>
          </a:xfrm>
          <a:prstGeom prst="ellipse">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42" name="TextBox 41"/>
          <p:cNvSpPr txBox="1"/>
          <p:nvPr/>
        </p:nvSpPr>
        <p:spPr>
          <a:xfrm>
            <a:off x="8681923" y="2984683"/>
            <a:ext cx="1614545" cy="447237"/>
          </a:xfrm>
          <a:prstGeom prst="rect">
            <a:avLst/>
          </a:prstGeom>
          <a:noFill/>
        </p:spPr>
        <p:txBody>
          <a:bodyPr wrap="none" rtlCol="0">
            <a:spAutoFit/>
          </a:bodyPr>
          <a:lstStyle/>
          <a:p>
            <a:r>
              <a:rPr lang="ko-KR" altLang="en-US" dirty="0"/>
              <a:t>공격의 조건은</a:t>
            </a:r>
            <a:r>
              <a:rPr lang="en-US" altLang="ko-KR" dirty="0"/>
              <a:t>?</a:t>
            </a:r>
            <a:endParaRPr lang="ko-KR" altLang="en-US" dirty="0"/>
          </a:p>
        </p:txBody>
      </p:sp>
      <p:sp>
        <p:nvSpPr>
          <p:cNvPr id="43" name="타원 42"/>
          <p:cNvSpPr/>
          <p:nvPr/>
        </p:nvSpPr>
        <p:spPr>
          <a:xfrm>
            <a:off x="7198653" y="5978215"/>
            <a:ext cx="597032" cy="604006"/>
          </a:xfrm>
          <a:prstGeom prst="ellipse">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44" name="TextBox 43"/>
          <p:cNvSpPr txBox="1"/>
          <p:nvPr/>
        </p:nvSpPr>
        <p:spPr>
          <a:xfrm>
            <a:off x="7795685" y="5978215"/>
            <a:ext cx="2929007" cy="782666"/>
          </a:xfrm>
          <a:prstGeom prst="rect">
            <a:avLst/>
          </a:prstGeom>
          <a:noFill/>
        </p:spPr>
        <p:txBody>
          <a:bodyPr wrap="none" rtlCol="0">
            <a:spAutoFit/>
          </a:bodyPr>
          <a:lstStyle/>
          <a:p>
            <a:r>
              <a:rPr lang="ko-KR" altLang="en-US" dirty="0"/>
              <a:t>후발업체는 어떻게 모방할까</a:t>
            </a:r>
            <a:r>
              <a:rPr lang="en-US" altLang="ko-KR" dirty="0"/>
              <a:t>?</a:t>
            </a:r>
          </a:p>
          <a:p>
            <a:r>
              <a:rPr lang="en-US" altLang="ko-KR" dirty="0"/>
              <a:t>Dead copy?</a:t>
            </a:r>
            <a:endParaRPr lang="ko-KR" altLang="en-US" dirty="0"/>
          </a:p>
        </p:txBody>
      </p:sp>
    </p:spTree>
    <p:extLst>
      <p:ext uri="{BB962C8B-B14F-4D97-AF65-F5344CB8AC3E}">
        <p14:creationId xmlns:p14="http://schemas.microsoft.com/office/powerpoint/2010/main" val="1486179094"/>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3"/>
          <p:cNvSpPr>
            <a:spLocks noGrp="1"/>
          </p:cNvSpPr>
          <p:nvPr>
            <p:ph type="sldNum" sz="quarter" idx="12"/>
          </p:nvPr>
        </p:nvSpPr>
        <p:spPr/>
        <p:txBody>
          <a:bodyPr/>
          <a:lstStyle/>
          <a:p>
            <a:r>
              <a:rPr lang="en-US" altLang="ko-KR"/>
              <a:t>368</a:t>
            </a:r>
            <a:endParaRPr lang="ko-KR" altLang="en-US"/>
          </a:p>
        </p:txBody>
      </p:sp>
      <p:sp>
        <p:nvSpPr>
          <p:cNvPr id="2" name="제목 1"/>
          <p:cNvSpPr>
            <a:spLocks noGrp="1"/>
          </p:cNvSpPr>
          <p:nvPr>
            <p:ph type="title"/>
          </p:nvPr>
        </p:nvSpPr>
        <p:spPr/>
        <p:txBody>
          <a:bodyPr/>
          <a:lstStyle/>
          <a:p>
            <a:r>
              <a:rPr lang="ko-KR" altLang="en-US" dirty="0"/>
              <a:t>제</a:t>
            </a:r>
            <a:r>
              <a:rPr lang="en-US" altLang="ko-KR" dirty="0"/>
              <a:t>98</a:t>
            </a:r>
            <a:r>
              <a:rPr lang="ko-KR" altLang="en-US" dirty="0"/>
              <a:t>조</a:t>
            </a:r>
          </a:p>
        </p:txBody>
      </p:sp>
      <p:sp>
        <p:nvSpPr>
          <p:cNvPr id="3" name="텍스트 개체 틀 2"/>
          <p:cNvSpPr>
            <a:spLocks noGrp="1"/>
          </p:cNvSpPr>
          <p:nvPr>
            <p:ph type="body" sz="quarter" idx="13"/>
          </p:nvPr>
        </p:nvSpPr>
        <p:spPr/>
        <p:txBody>
          <a:bodyPr/>
          <a:lstStyle/>
          <a:p>
            <a:r>
              <a:rPr lang="en-US" altLang="ko-KR" dirty="0"/>
              <a:t>OA</a:t>
            </a:r>
            <a:r>
              <a:rPr lang="ko-KR" altLang="en-US" dirty="0"/>
              <a:t>는 창을 만들기 위한 </a:t>
            </a:r>
            <a:r>
              <a:rPr lang="en-US" altLang="ko-KR" dirty="0"/>
              <a:t>Golden Time</a:t>
            </a:r>
            <a:r>
              <a:rPr lang="ko-KR" altLang="en-US" dirty="0"/>
              <a:t>이다</a:t>
            </a:r>
            <a:r>
              <a:rPr lang="en-US" altLang="ko-KR" dirty="0"/>
              <a:t>.</a:t>
            </a:r>
            <a:endParaRPr lang="ko-KR" altLang="en-US" dirty="0"/>
          </a:p>
        </p:txBody>
      </p:sp>
      <p:grpSp>
        <p:nvGrpSpPr>
          <p:cNvPr id="5" name="그룹 4">
            <a:extLst>
              <a:ext uri="{FF2B5EF4-FFF2-40B4-BE49-F238E27FC236}">
                <a16:creationId xmlns:a16="http://schemas.microsoft.com/office/drawing/2014/main" id="{8AAA0957-C325-4D99-A205-B96D4B59707C}"/>
              </a:ext>
            </a:extLst>
          </p:cNvPr>
          <p:cNvGrpSpPr/>
          <p:nvPr/>
        </p:nvGrpSpPr>
        <p:grpSpPr>
          <a:xfrm>
            <a:off x="138233" y="773229"/>
            <a:ext cx="11915612" cy="5993227"/>
            <a:chOff x="138233" y="583457"/>
            <a:chExt cx="11915612" cy="5993227"/>
          </a:xfrm>
        </p:grpSpPr>
        <p:cxnSp>
          <p:nvCxnSpPr>
            <p:cNvPr id="102" name="직선 연결선 101">
              <a:extLst>
                <a:ext uri="{FF2B5EF4-FFF2-40B4-BE49-F238E27FC236}">
                  <a16:creationId xmlns:a16="http://schemas.microsoft.com/office/drawing/2014/main" id="{936A3258-2A67-48CD-A811-1EEBBF2D3FC6}"/>
                </a:ext>
              </a:extLst>
            </p:cNvPr>
            <p:cNvCxnSpPr>
              <a:cxnSpLocks/>
              <a:stCxn id="108" idx="0"/>
            </p:cNvCxnSpPr>
            <p:nvPr/>
          </p:nvCxnSpPr>
          <p:spPr>
            <a:xfrm flipV="1">
              <a:off x="9603922" y="669172"/>
              <a:ext cx="24958" cy="3294576"/>
            </a:xfrm>
            <a:prstGeom prst="line">
              <a:avLst/>
            </a:prstGeom>
            <a:ln w="571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3" name="직선 연결선 102">
              <a:extLst>
                <a:ext uri="{FF2B5EF4-FFF2-40B4-BE49-F238E27FC236}">
                  <a16:creationId xmlns:a16="http://schemas.microsoft.com/office/drawing/2014/main" id="{AF2F7F1C-2F1B-4108-95C8-EF71353395EB}"/>
                </a:ext>
              </a:extLst>
            </p:cNvPr>
            <p:cNvCxnSpPr>
              <a:cxnSpLocks/>
              <a:stCxn id="109" idx="0"/>
            </p:cNvCxnSpPr>
            <p:nvPr/>
          </p:nvCxnSpPr>
          <p:spPr>
            <a:xfrm flipV="1">
              <a:off x="4463819" y="688016"/>
              <a:ext cx="0" cy="3275732"/>
            </a:xfrm>
            <a:prstGeom prst="line">
              <a:avLst/>
            </a:prstGeom>
            <a:ln w="571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4" name="직사각형 103">
              <a:extLst>
                <a:ext uri="{FF2B5EF4-FFF2-40B4-BE49-F238E27FC236}">
                  <a16:creationId xmlns:a16="http://schemas.microsoft.com/office/drawing/2014/main" id="{5FA214FD-9AC3-4907-BD1E-3F7113339B1B}"/>
                </a:ext>
              </a:extLst>
            </p:cNvPr>
            <p:cNvSpPr/>
            <p:nvPr/>
          </p:nvSpPr>
          <p:spPr>
            <a:xfrm>
              <a:off x="239349" y="2480404"/>
              <a:ext cx="11809312" cy="1145536"/>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05" name="직사각형 104">
              <a:extLst>
                <a:ext uri="{FF2B5EF4-FFF2-40B4-BE49-F238E27FC236}">
                  <a16:creationId xmlns:a16="http://schemas.microsoft.com/office/drawing/2014/main" id="{AF21CA6D-2236-48F2-8288-9966E38D675E}"/>
                </a:ext>
              </a:extLst>
            </p:cNvPr>
            <p:cNvSpPr/>
            <p:nvPr/>
          </p:nvSpPr>
          <p:spPr>
            <a:xfrm>
              <a:off x="239349" y="1246287"/>
              <a:ext cx="11809312" cy="1145536"/>
            </a:xfrm>
            <a:prstGeom prst="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06" name="직사각형 105">
              <a:extLst>
                <a:ext uri="{FF2B5EF4-FFF2-40B4-BE49-F238E27FC236}">
                  <a16:creationId xmlns:a16="http://schemas.microsoft.com/office/drawing/2014/main" id="{7F63A558-8FD7-469B-9D66-AE161EBA75C0}"/>
                </a:ext>
              </a:extLst>
            </p:cNvPr>
            <p:cNvSpPr/>
            <p:nvPr/>
          </p:nvSpPr>
          <p:spPr>
            <a:xfrm>
              <a:off x="4943872" y="3819732"/>
              <a:ext cx="4135521" cy="1224136"/>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en-US" altLang="ko-KR" dirty="0">
                  <a:latin typeface="Rix모던고딕 B" panose="02020603020101020101" pitchFamily="18" charset="-127"/>
                  <a:ea typeface="Rix모던고딕 B" panose="02020603020101020101" pitchFamily="18" charset="-127"/>
                </a:rPr>
                <a:t>CLAIM-REPOSITIONING</a:t>
              </a:r>
            </a:p>
            <a:p>
              <a:pPr algn="ctr"/>
              <a:r>
                <a:rPr lang="en-US" altLang="ko-KR" dirty="0">
                  <a:latin typeface="Rix모던고딕 B" panose="02020603020101020101" pitchFamily="18" charset="-127"/>
                  <a:ea typeface="Rix모던고딕 B" panose="02020603020101020101" pitchFamily="18" charset="-127"/>
                </a:rPr>
                <a:t>STRATEGY</a:t>
              </a:r>
              <a:endParaRPr lang="ko-KR" altLang="en-US" dirty="0">
                <a:latin typeface="Rix모던고딕 B" panose="02020603020101020101" pitchFamily="18" charset="-127"/>
                <a:ea typeface="Rix모던고딕 B" panose="02020603020101020101" pitchFamily="18" charset="-127"/>
              </a:endParaRPr>
            </a:p>
          </p:txBody>
        </p:sp>
        <p:sp>
          <p:nvSpPr>
            <p:cNvPr id="107" name="오른쪽 화살표 19">
              <a:extLst>
                <a:ext uri="{FF2B5EF4-FFF2-40B4-BE49-F238E27FC236}">
                  <a16:creationId xmlns:a16="http://schemas.microsoft.com/office/drawing/2014/main" id="{C6480E62-798C-4B68-B711-9BEC3D6E33FB}"/>
                </a:ext>
              </a:extLst>
            </p:cNvPr>
            <p:cNvSpPr/>
            <p:nvPr/>
          </p:nvSpPr>
          <p:spPr>
            <a:xfrm>
              <a:off x="1199456" y="3982592"/>
              <a:ext cx="10849205" cy="432047"/>
            </a:xfrm>
            <a:prstGeom prst="rightArrow">
              <a:avLst>
                <a:gd name="adj1" fmla="val 75654"/>
                <a:gd name="adj2" fmla="val 50000"/>
              </a:avLst>
            </a:prstGeom>
            <a:solidFill>
              <a:schemeClr val="accent1">
                <a:lumMod val="20000"/>
                <a:lumOff val="80000"/>
              </a:schemeClr>
            </a:solidFill>
            <a:ln>
              <a:solidFill>
                <a:schemeClr val="bg1">
                  <a:lumMod val="50000"/>
                </a:schemeClr>
              </a:solidFill>
            </a:ln>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a:lstStyle/>
            <a:p>
              <a:endParaRPr lang="ko-KR" altLang="en-US"/>
            </a:p>
          </p:txBody>
        </p:sp>
        <p:sp>
          <p:nvSpPr>
            <p:cNvPr id="108" name="모서리가 둥근 직사각형 20">
              <a:extLst>
                <a:ext uri="{FF2B5EF4-FFF2-40B4-BE49-F238E27FC236}">
                  <a16:creationId xmlns:a16="http://schemas.microsoft.com/office/drawing/2014/main" id="{BA71381D-2257-4B82-82A4-84D40365E204}"/>
                </a:ext>
              </a:extLst>
            </p:cNvPr>
            <p:cNvSpPr/>
            <p:nvPr/>
          </p:nvSpPr>
          <p:spPr>
            <a:xfrm>
              <a:off x="9079394" y="3963748"/>
              <a:ext cx="1049055" cy="432048"/>
            </a:xfrm>
            <a:prstGeom prst="roundRect">
              <a:avLst/>
            </a:prstGeom>
            <a:solidFill>
              <a:schemeClr val="accent3">
                <a:lumMod val="50000"/>
              </a:schemeClr>
            </a:solidFill>
            <a:ln>
              <a:solidFill>
                <a:schemeClr val="bg1">
                  <a:lumMod val="50000"/>
                </a:schemeClr>
              </a:solidFill>
            </a:ln>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ctr" defTabSz="800100" latinLnBrk="1">
                <a:lnSpc>
                  <a:spcPct val="90000"/>
                </a:lnSpc>
                <a:spcBef>
                  <a:spcPct val="0"/>
                </a:spcBef>
                <a:spcAft>
                  <a:spcPct val="35000"/>
                </a:spcAft>
              </a:pPr>
              <a:r>
                <a:rPr lang="ko-KR" altLang="en-US" sz="1400" dirty="0">
                  <a:latin typeface="Rix모던고딕 B" panose="02020603020101020101" pitchFamily="18" charset="-127"/>
                  <a:ea typeface="Rix모던고딕 B" panose="02020603020101020101" pitchFamily="18" charset="-127"/>
                </a:rPr>
                <a:t>특허</a:t>
              </a:r>
              <a:r>
                <a:rPr lang="ko-KR" altLang="en-US" sz="1400" kern="1200" dirty="0">
                  <a:latin typeface="Rix모던고딕 B" panose="02020603020101020101" pitchFamily="18" charset="-127"/>
                  <a:ea typeface="Rix모던고딕 B" panose="02020603020101020101" pitchFamily="18" charset="-127"/>
                </a:rPr>
                <a:t>등록</a:t>
              </a:r>
            </a:p>
          </p:txBody>
        </p:sp>
        <p:sp>
          <p:nvSpPr>
            <p:cNvPr id="109" name="모서리가 둥근 직사각형 21">
              <a:extLst>
                <a:ext uri="{FF2B5EF4-FFF2-40B4-BE49-F238E27FC236}">
                  <a16:creationId xmlns:a16="http://schemas.microsoft.com/office/drawing/2014/main" id="{A73E9CA2-7DE7-47EC-AFF3-909F93B2AC80}"/>
                </a:ext>
              </a:extLst>
            </p:cNvPr>
            <p:cNvSpPr/>
            <p:nvPr/>
          </p:nvSpPr>
          <p:spPr>
            <a:xfrm>
              <a:off x="3983765" y="3963748"/>
              <a:ext cx="960107" cy="432048"/>
            </a:xfrm>
            <a:prstGeom prst="roundRect">
              <a:avLst/>
            </a:prstGeom>
            <a:solidFill>
              <a:schemeClr val="accent3">
                <a:lumMod val="75000"/>
              </a:schemeClr>
            </a:solidFill>
            <a:ln>
              <a:solidFill>
                <a:schemeClr val="bg1">
                  <a:lumMod val="50000"/>
                </a:schemeClr>
              </a:solidFill>
            </a:ln>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ctr" defTabSz="800100" latinLnBrk="1">
                <a:lnSpc>
                  <a:spcPct val="90000"/>
                </a:lnSpc>
                <a:spcBef>
                  <a:spcPct val="0"/>
                </a:spcBef>
                <a:spcAft>
                  <a:spcPct val="35000"/>
                </a:spcAft>
              </a:pPr>
              <a:r>
                <a:rPr lang="ko-KR" altLang="en-US" sz="1400" dirty="0">
                  <a:latin typeface="Rix모던고딕 B" panose="02020603020101020101" pitchFamily="18" charset="-127"/>
                  <a:ea typeface="Rix모던고딕 B" panose="02020603020101020101" pitchFamily="18" charset="-127"/>
                </a:rPr>
                <a:t>특허</a:t>
              </a:r>
              <a:r>
                <a:rPr lang="ko-KR" altLang="en-US" sz="1400" kern="1200" dirty="0">
                  <a:latin typeface="Rix모던고딕 B" panose="02020603020101020101" pitchFamily="18" charset="-127"/>
                  <a:ea typeface="Rix모던고딕 B" panose="02020603020101020101" pitchFamily="18" charset="-127"/>
                </a:rPr>
                <a:t>출원</a:t>
              </a:r>
            </a:p>
          </p:txBody>
        </p:sp>
        <p:sp>
          <p:nvSpPr>
            <p:cNvPr id="110" name="모서리가 둥근 직사각형 22">
              <a:extLst>
                <a:ext uri="{FF2B5EF4-FFF2-40B4-BE49-F238E27FC236}">
                  <a16:creationId xmlns:a16="http://schemas.microsoft.com/office/drawing/2014/main" id="{BDB122ED-C479-4024-A744-B66BC4D27A6A}"/>
                </a:ext>
              </a:extLst>
            </p:cNvPr>
            <p:cNvSpPr/>
            <p:nvPr/>
          </p:nvSpPr>
          <p:spPr>
            <a:xfrm>
              <a:off x="1391478" y="3963748"/>
              <a:ext cx="1028685" cy="432048"/>
            </a:xfrm>
            <a:prstGeom prst="roundRect">
              <a:avLst/>
            </a:prstGeom>
            <a:solidFill>
              <a:schemeClr val="accent3">
                <a:lumMod val="40000"/>
                <a:lumOff val="60000"/>
              </a:schemeClr>
            </a:solidFill>
            <a:ln>
              <a:solidFill>
                <a:schemeClr val="bg1">
                  <a:lumMod val="50000"/>
                </a:schemeClr>
              </a:solidFill>
            </a:ln>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ctr" defTabSz="800100" latinLnBrk="1">
                <a:lnSpc>
                  <a:spcPct val="90000"/>
                </a:lnSpc>
                <a:spcBef>
                  <a:spcPct val="0"/>
                </a:spcBef>
                <a:spcAft>
                  <a:spcPct val="35000"/>
                </a:spcAft>
              </a:pPr>
              <a:r>
                <a:rPr lang="ko-KR" altLang="en-US" sz="1400" kern="1200" dirty="0">
                  <a:solidFill>
                    <a:schemeClr val="tx1">
                      <a:lumMod val="75000"/>
                      <a:lumOff val="25000"/>
                    </a:schemeClr>
                  </a:solidFill>
                  <a:latin typeface="Rix모던고딕 B" panose="02020603020101020101" pitchFamily="18" charset="-127"/>
                  <a:ea typeface="Rix모던고딕 B" panose="02020603020101020101" pitchFamily="18" charset="-127"/>
                </a:rPr>
                <a:t>발명완성</a:t>
              </a:r>
            </a:p>
          </p:txBody>
        </p:sp>
        <p:sp>
          <p:nvSpPr>
            <p:cNvPr id="111" name="타원 110">
              <a:extLst>
                <a:ext uri="{FF2B5EF4-FFF2-40B4-BE49-F238E27FC236}">
                  <a16:creationId xmlns:a16="http://schemas.microsoft.com/office/drawing/2014/main" id="{28434EB4-ED07-4CB1-93BC-C69431189DBB}"/>
                </a:ext>
              </a:extLst>
            </p:cNvPr>
            <p:cNvSpPr/>
            <p:nvPr/>
          </p:nvSpPr>
          <p:spPr>
            <a:xfrm>
              <a:off x="2607594" y="1318295"/>
              <a:ext cx="1216174" cy="1008112"/>
            </a:xfrm>
            <a:prstGeom prst="ellipse">
              <a:avLst/>
            </a:prstGeom>
            <a:no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12" name="타원 111">
              <a:extLst>
                <a:ext uri="{FF2B5EF4-FFF2-40B4-BE49-F238E27FC236}">
                  <a16:creationId xmlns:a16="http://schemas.microsoft.com/office/drawing/2014/main" id="{2D088381-1080-4574-AE9D-99A72FA811E7}"/>
                </a:ext>
              </a:extLst>
            </p:cNvPr>
            <p:cNvSpPr/>
            <p:nvPr/>
          </p:nvSpPr>
          <p:spPr>
            <a:xfrm>
              <a:off x="2867605" y="1493810"/>
              <a:ext cx="275656" cy="288032"/>
            </a:xfrm>
            <a:prstGeom prst="ellipse">
              <a:avLst/>
            </a:prstGeom>
            <a:no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a</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13" name="타원 112">
              <a:extLst>
                <a:ext uri="{FF2B5EF4-FFF2-40B4-BE49-F238E27FC236}">
                  <a16:creationId xmlns:a16="http://schemas.microsoft.com/office/drawing/2014/main" id="{D587C59B-D132-4E9A-B46C-6D5AE9DDB749}"/>
                </a:ext>
              </a:extLst>
            </p:cNvPr>
            <p:cNvSpPr/>
            <p:nvPr/>
          </p:nvSpPr>
          <p:spPr>
            <a:xfrm>
              <a:off x="3249970" y="1493810"/>
              <a:ext cx="275656" cy="288032"/>
            </a:xfrm>
            <a:prstGeom prst="ellipse">
              <a:avLst/>
            </a:prstGeom>
            <a:solidFill>
              <a:schemeClr val="accent5">
                <a:lumMod val="75000"/>
              </a:schemeClr>
            </a:solid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b</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14" name="타원 113">
              <a:extLst>
                <a:ext uri="{FF2B5EF4-FFF2-40B4-BE49-F238E27FC236}">
                  <a16:creationId xmlns:a16="http://schemas.microsoft.com/office/drawing/2014/main" id="{37E340A2-B110-461F-A978-78555FAA0E69}"/>
                </a:ext>
              </a:extLst>
            </p:cNvPr>
            <p:cNvSpPr/>
            <p:nvPr/>
          </p:nvSpPr>
          <p:spPr>
            <a:xfrm>
              <a:off x="2867605" y="1827064"/>
              <a:ext cx="275656" cy="288032"/>
            </a:xfrm>
            <a:prstGeom prst="ellipse">
              <a:avLst/>
            </a:prstGeom>
            <a:no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c</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15" name="타원 114">
              <a:extLst>
                <a:ext uri="{FF2B5EF4-FFF2-40B4-BE49-F238E27FC236}">
                  <a16:creationId xmlns:a16="http://schemas.microsoft.com/office/drawing/2014/main" id="{FD643341-74EC-4AF0-948F-31A58460B8D7}"/>
                </a:ext>
              </a:extLst>
            </p:cNvPr>
            <p:cNvSpPr/>
            <p:nvPr/>
          </p:nvSpPr>
          <p:spPr>
            <a:xfrm>
              <a:off x="3253518" y="1827064"/>
              <a:ext cx="275656" cy="288032"/>
            </a:xfrm>
            <a:prstGeom prst="ellipse">
              <a:avLst/>
            </a:prstGeom>
            <a:no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d</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16" name="타원 115">
              <a:extLst>
                <a:ext uri="{FF2B5EF4-FFF2-40B4-BE49-F238E27FC236}">
                  <a16:creationId xmlns:a16="http://schemas.microsoft.com/office/drawing/2014/main" id="{64637068-999E-46CE-A8A0-4EE40E03BF07}"/>
                </a:ext>
              </a:extLst>
            </p:cNvPr>
            <p:cNvSpPr/>
            <p:nvPr/>
          </p:nvSpPr>
          <p:spPr>
            <a:xfrm>
              <a:off x="6352010" y="1318295"/>
              <a:ext cx="1216174" cy="1008112"/>
            </a:xfrm>
            <a:prstGeom prst="ellipse">
              <a:avLst/>
            </a:prstGeom>
            <a:noFill/>
            <a:ln w="12700">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17" name="타원 116">
              <a:extLst>
                <a:ext uri="{FF2B5EF4-FFF2-40B4-BE49-F238E27FC236}">
                  <a16:creationId xmlns:a16="http://schemas.microsoft.com/office/drawing/2014/main" id="{BE5A882D-447A-4463-9098-21031CFB833E}"/>
                </a:ext>
              </a:extLst>
            </p:cNvPr>
            <p:cNvSpPr/>
            <p:nvPr/>
          </p:nvSpPr>
          <p:spPr>
            <a:xfrm>
              <a:off x="6640297" y="1493810"/>
              <a:ext cx="275656" cy="288032"/>
            </a:xfrm>
            <a:prstGeom prst="ellipse">
              <a:avLst/>
            </a:prstGeom>
            <a:noFill/>
            <a:ln>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a</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18" name="타원 117">
              <a:extLst>
                <a:ext uri="{FF2B5EF4-FFF2-40B4-BE49-F238E27FC236}">
                  <a16:creationId xmlns:a16="http://schemas.microsoft.com/office/drawing/2014/main" id="{EB0155AF-9A24-461C-BB3F-A67A65435870}"/>
                </a:ext>
              </a:extLst>
            </p:cNvPr>
            <p:cNvSpPr/>
            <p:nvPr/>
          </p:nvSpPr>
          <p:spPr>
            <a:xfrm>
              <a:off x="6994386" y="1493810"/>
              <a:ext cx="275656" cy="288032"/>
            </a:xfrm>
            <a:prstGeom prst="ellipse">
              <a:avLst/>
            </a:prstGeom>
            <a:noFill/>
            <a:ln>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b</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19" name="타원 118">
              <a:extLst>
                <a:ext uri="{FF2B5EF4-FFF2-40B4-BE49-F238E27FC236}">
                  <a16:creationId xmlns:a16="http://schemas.microsoft.com/office/drawing/2014/main" id="{235BA3D4-B435-4AD5-BB92-FA6E679A889E}"/>
                </a:ext>
              </a:extLst>
            </p:cNvPr>
            <p:cNvSpPr/>
            <p:nvPr/>
          </p:nvSpPr>
          <p:spPr>
            <a:xfrm>
              <a:off x="6640297" y="1827064"/>
              <a:ext cx="275656" cy="288032"/>
            </a:xfrm>
            <a:prstGeom prst="ellipse">
              <a:avLst/>
            </a:prstGeom>
            <a:solidFill>
              <a:schemeClr val="accent5">
                <a:lumMod val="75000"/>
              </a:schemeClr>
            </a:solidFill>
            <a:ln>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c</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20" name="타원 119">
              <a:extLst>
                <a:ext uri="{FF2B5EF4-FFF2-40B4-BE49-F238E27FC236}">
                  <a16:creationId xmlns:a16="http://schemas.microsoft.com/office/drawing/2014/main" id="{F1E4BE15-BE63-4218-A196-3F728C33CE44}"/>
                </a:ext>
              </a:extLst>
            </p:cNvPr>
            <p:cNvSpPr/>
            <p:nvPr/>
          </p:nvSpPr>
          <p:spPr>
            <a:xfrm>
              <a:off x="6997934" y="1827064"/>
              <a:ext cx="275656" cy="288032"/>
            </a:xfrm>
            <a:prstGeom prst="ellipse">
              <a:avLst/>
            </a:prstGeom>
            <a:noFill/>
            <a:ln>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d</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21" name="타원 120">
              <a:extLst>
                <a:ext uri="{FF2B5EF4-FFF2-40B4-BE49-F238E27FC236}">
                  <a16:creationId xmlns:a16="http://schemas.microsoft.com/office/drawing/2014/main" id="{A3325929-DEF3-411E-A5B8-53697B8FF203}"/>
                </a:ext>
              </a:extLst>
            </p:cNvPr>
            <p:cNvSpPr/>
            <p:nvPr/>
          </p:nvSpPr>
          <p:spPr>
            <a:xfrm>
              <a:off x="10384458" y="1318295"/>
              <a:ext cx="1216174" cy="1008112"/>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22" name="타원 121">
              <a:extLst>
                <a:ext uri="{FF2B5EF4-FFF2-40B4-BE49-F238E27FC236}">
                  <a16:creationId xmlns:a16="http://schemas.microsoft.com/office/drawing/2014/main" id="{A0D70555-FB10-47E0-A0DA-EF009312E398}"/>
                </a:ext>
              </a:extLst>
            </p:cNvPr>
            <p:cNvSpPr/>
            <p:nvPr/>
          </p:nvSpPr>
          <p:spPr>
            <a:xfrm>
              <a:off x="10653897" y="1493810"/>
              <a:ext cx="275656" cy="288032"/>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a</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23" name="타원 122">
              <a:extLst>
                <a:ext uri="{FF2B5EF4-FFF2-40B4-BE49-F238E27FC236}">
                  <a16:creationId xmlns:a16="http://schemas.microsoft.com/office/drawing/2014/main" id="{567961D4-C51F-4CC2-8131-761715B3C425}"/>
                </a:ext>
              </a:extLst>
            </p:cNvPr>
            <p:cNvSpPr/>
            <p:nvPr/>
          </p:nvSpPr>
          <p:spPr>
            <a:xfrm>
              <a:off x="11026834" y="1493810"/>
              <a:ext cx="275656" cy="288032"/>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b</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24" name="타원 123">
              <a:extLst>
                <a:ext uri="{FF2B5EF4-FFF2-40B4-BE49-F238E27FC236}">
                  <a16:creationId xmlns:a16="http://schemas.microsoft.com/office/drawing/2014/main" id="{EBB88267-83CC-4028-8E92-D3369444FE5C}"/>
                </a:ext>
              </a:extLst>
            </p:cNvPr>
            <p:cNvSpPr/>
            <p:nvPr/>
          </p:nvSpPr>
          <p:spPr>
            <a:xfrm>
              <a:off x="10653897" y="1827064"/>
              <a:ext cx="275656" cy="288032"/>
            </a:xfrm>
            <a:prstGeom prst="ellipse">
              <a:avLst/>
            </a:prstGeom>
            <a:solidFill>
              <a:schemeClr val="accent5">
                <a:lumMod val="75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c</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25" name="타원 124">
              <a:extLst>
                <a:ext uri="{FF2B5EF4-FFF2-40B4-BE49-F238E27FC236}">
                  <a16:creationId xmlns:a16="http://schemas.microsoft.com/office/drawing/2014/main" id="{C95EE605-9179-4432-B9FE-6684B3FAE3D4}"/>
                </a:ext>
              </a:extLst>
            </p:cNvPr>
            <p:cNvSpPr/>
            <p:nvPr/>
          </p:nvSpPr>
          <p:spPr>
            <a:xfrm>
              <a:off x="11030382" y="1827064"/>
              <a:ext cx="275656" cy="288032"/>
            </a:xfrm>
            <a:prstGeom prst="ellipse">
              <a:avLst/>
            </a:prstGeom>
            <a:solidFill>
              <a:schemeClr val="accent5">
                <a:lumMod val="75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d</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26" name="타원 125">
              <a:extLst>
                <a:ext uri="{FF2B5EF4-FFF2-40B4-BE49-F238E27FC236}">
                  <a16:creationId xmlns:a16="http://schemas.microsoft.com/office/drawing/2014/main" id="{CBF964F1-2451-4923-AFD6-E5B60A8FA3EA}"/>
                </a:ext>
              </a:extLst>
            </p:cNvPr>
            <p:cNvSpPr/>
            <p:nvPr/>
          </p:nvSpPr>
          <p:spPr>
            <a:xfrm>
              <a:off x="2607594" y="2549116"/>
              <a:ext cx="1216174" cy="1008112"/>
            </a:xfrm>
            <a:prstGeom prst="ellipse">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27" name="타원 126">
              <a:extLst>
                <a:ext uri="{FF2B5EF4-FFF2-40B4-BE49-F238E27FC236}">
                  <a16:creationId xmlns:a16="http://schemas.microsoft.com/office/drawing/2014/main" id="{645060BC-4F58-46E0-B307-D37798799017}"/>
                </a:ext>
              </a:extLst>
            </p:cNvPr>
            <p:cNvSpPr/>
            <p:nvPr/>
          </p:nvSpPr>
          <p:spPr>
            <a:xfrm>
              <a:off x="2867605" y="2724631"/>
              <a:ext cx="275656" cy="288032"/>
            </a:xfrm>
            <a:prstGeom prst="ellipse">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a</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28" name="타원 127">
              <a:extLst>
                <a:ext uri="{FF2B5EF4-FFF2-40B4-BE49-F238E27FC236}">
                  <a16:creationId xmlns:a16="http://schemas.microsoft.com/office/drawing/2014/main" id="{56FC9E85-3EE1-4C03-BF03-BDA26C4446D5}"/>
                </a:ext>
              </a:extLst>
            </p:cNvPr>
            <p:cNvSpPr/>
            <p:nvPr/>
          </p:nvSpPr>
          <p:spPr>
            <a:xfrm>
              <a:off x="3249970" y="2724631"/>
              <a:ext cx="275656" cy="288032"/>
            </a:xfrm>
            <a:prstGeom prst="ellipse">
              <a:avLst/>
            </a:prstGeom>
            <a:solidFill>
              <a:schemeClr val="accent2">
                <a:lumMod val="75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b</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29" name="타원 128">
              <a:extLst>
                <a:ext uri="{FF2B5EF4-FFF2-40B4-BE49-F238E27FC236}">
                  <a16:creationId xmlns:a16="http://schemas.microsoft.com/office/drawing/2014/main" id="{BA77CA6C-546A-4F81-A474-59C87045A3C6}"/>
                </a:ext>
              </a:extLst>
            </p:cNvPr>
            <p:cNvSpPr/>
            <p:nvPr/>
          </p:nvSpPr>
          <p:spPr>
            <a:xfrm>
              <a:off x="2867605" y="3057885"/>
              <a:ext cx="275656" cy="288032"/>
            </a:xfrm>
            <a:prstGeom prst="ellipse">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c</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30" name="타원 129">
              <a:extLst>
                <a:ext uri="{FF2B5EF4-FFF2-40B4-BE49-F238E27FC236}">
                  <a16:creationId xmlns:a16="http://schemas.microsoft.com/office/drawing/2014/main" id="{561CCFA4-A86B-4D63-9DF8-A41AD90C08F9}"/>
                </a:ext>
              </a:extLst>
            </p:cNvPr>
            <p:cNvSpPr/>
            <p:nvPr/>
          </p:nvSpPr>
          <p:spPr>
            <a:xfrm>
              <a:off x="3253518" y="3057885"/>
              <a:ext cx="275656" cy="288032"/>
            </a:xfrm>
            <a:prstGeom prst="ellipse">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d</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31" name="타원 130">
              <a:extLst>
                <a:ext uri="{FF2B5EF4-FFF2-40B4-BE49-F238E27FC236}">
                  <a16:creationId xmlns:a16="http://schemas.microsoft.com/office/drawing/2014/main" id="{611135A3-DFAF-4FA5-93D7-DFDF6E8B299B}"/>
                </a:ext>
              </a:extLst>
            </p:cNvPr>
            <p:cNvSpPr/>
            <p:nvPr/>
          </p:nvSpPr>
          <p:spPr>
            <a:xfrm>
              <a:off x="7459136" y="2549116"/>
              <a:ext cx="1216174" cy="1008112"/>
            </a:xfrm>
            <a:prstGeom prst="ellipse">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32" name="타원 131">
              <a:extLst>
                <a:ext uri="{FF2B5EF4-FFF2-40B4-BE49-F238E27FC236}">
                  <a16:creationId xmlns:a16="http://schemas.microsoft.com/office/drawing/2014/main" id="{320131C9-3AA4-4875-87B0-246000CAE726}"/>
                </a:ext>
              </a:extLst>
            </p:cNvPr>
            <p:cNvSpPr/>
            <p:nvPr/>
          </p:nvSpPr>
          <p:spPr>
            <a:xfrm>
              <a:off x="7738000" y="2724631"/>
              <a:ext cx="275656" cy="288032"/>
            </a:xfrm>
            <a:prstGeom prst="ellipse">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a</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33" name="타원 132">
              <a:extLst>
                <a:ext uri="{FF2B5EF4-FFF2-40B4-BE49-F238E27FC236}">
                  <a16:creationId xmlns:a16="http://schemas.microsoft.com/office/drawing/2014/main" id="{75959EEB-50C6-4FE3-96ED-9FFD6CB8B23F}"/>
                </a:ext>
              </a:extLst>
            </p:cNvPr>
            <p:cNvSpPr/>
            <p:nvPr/>
          </p:nvSpPr>
          <p:spPr>
            <a:xfrm>
              <a:off x="8101513" y="2724631"/>
              <a:ext cx="275656" cy="288032"/>
            </a:xfrm>
            <a:prstGeom prst="ellipse">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b</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34" name="타원 133">
              <a:extLst>
                <a:ext uri="{FF2B5EF4-FFF2-40B4-BE49-F238E27FC236}">
                  <a16:creationId xmlns:a16="http://schemas.microsoft.com/office/drawing/2014/main" id="{1D0FB8A3-0DF0-48DE-9E6E-29A27FE81BED}"/>
                </a:ext>
              </a:extLst>
            </p:cNvPr>
            <p:cNvSpPr/>
            <p:nvPr/>
          </p:nvSpPr>
          <p:spPr>
            <a:xfrm>
              <a:off x="7738000" y="3057885"/>
              <a:ext cx="275656" cy="288032"/>
            </a:xfrm>
            <a:prstGeom prst="ellipse">
              <a:avLst/>
            </a:prstGeom>
            <a:solidFill>
              <a:schemeClr val="accent2">
                <a:lumMod val="75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c</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35" name="타원 134">
              <a:extLst>
                <a:ext uri="{FF2B5EF4-FFF2-40B4-BE49-F238E27FC236}">
                  <a16:creationId xmlns:a16="http://schemas.microsoft.com/office/drawing/2014/main" id="{D9B840A5-6D87-470F-8BC3-7F612EEAEB77}"/>
                </a:ext>
              </a:extLst>
            </p:cNvPr>
            <p:cNvSpPr/>
            <p:nvPr/>
          </p:nvSpPr>
          <p:spPr>
            <a:xfrm>
              <a:off x="8105061" y="3057885"/>
              <a:ext cx="275656" cy="288032"/>
            </a:xfrm>
            <a:prstGeom prst="ellipse">
              <a:avLst/>
            </a:prstGeom>
            <a:solidFill>
              <a:schemeClr val="accent2">
                <a:lumMod val="75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d</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36" name="타원 135">
              <a:extLst>
                <a:ext uri="{FF2B5EF4-FFF2-40B4-BE49-F238E27FC236}">
                  <a16:creationId xmlns:a16="http://schemas.microsoft.com/office/drawing/2014/main" id="{6271A196-CC30-457C-9925-77C13B14B441}"/>
                </a:ext>
              </a:extLst>
            </p:cNvPr>
            <p:cNvSpPr/>
            <p:nvPr/>
          </p:nvSpPr>
          <p:spPr>
            <a:xfrm>
              <a:off x="10384458" y="2549116"/>
              <a:ext cx="1216174" cy="1008112"/>
            </a:xfrm>
            <a:prstGeom prst="ellipse">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37" name="타원 136">
              <a:extLst>
                <a:ext uri="{FF2B5EF4-FFF2-40B4-BE49-F238E27FC236}">
                  <a16:creationId xmlns:a16="http://schemas.microsoft.com/office/drawing/2014/main" id="{2E3AA944-4937-4490-9DA4-23FC20167BB7}"/>
                </a:ext>
              </a:extLst>
            </p:cNvPr>
            <p:cNvSpPr/>
            <p:nvPr/>
          </p:nvSpPr>
          <p:spPr>
            <a:xfrm>
              <a:off x="10653897" y="2724631"/>
              <a:ext cx="275656" cy="288032"/>
            </a:xfrm>
            <a:prstGeom prst="ellipse">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a</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38" name="타원 137">
              <a:extLst>
                <a:ext uri="{FF2B5EF4-FFF2-40B4-BE49-F238E27FC236}">
                  <a16:creationId xmlns:a16="http://schemas.microsoft.com/office/drawing/2014/main" id="{9070E795-C5B7-4F18-9888-1CEDFDB0082C}"/>
                </a:ext>
              </a:extLst>
            </p:cNvPr>
            <p:cNvSpPr/>
            <p:nvPr/>
          </p:nvSpPr>
          <p:spPr>
            <a:xfrm>
              <a:off x="11026834" y="2724631"/>
              <a:ext cx="275656" cy="288032"/>
            </a:xfrm>
            <a:prstGeom prst="ellipse">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b</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39" name="타원 138">
              <a:extLst>
                <a:ext uri="{FF2B5EF4-FFF2-40B4-BE49-F238E27FC236}">
                  <a16:creationId xmlns:a16="http://schemas.microsoft.com/office/drawing/2014/main" id="{4CEAA991-0FBF-461D-ACD7-186D8AD25D5E}"/>
                </a:ext>
              </a:extLst>
            </p:cNvPr>
            <p:cNvSpPr/>
            <p:nvPr/>
          </p:nvSpPr>
          <p:spPr>
            <a:xfrm>
              <a:off x="10653897" y="3057885"/>
              <a:ext cx="275656" cy="288032"/>
            </a:xfrm>
            <a:prstGeom prst="ellipse">
              <a:avLst/>
            </a:prstGeom>
            <a:solidFill>
              <a:schemeClr val="accent2">
                <a:lumMod val="75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c</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40" name="타원 139">
              <a:extLst>
                <a:ext uri="{FF2B5EF4-FFF2-40B4-BE49-F238E27FC236}">
                  <a16:creationId xmlns:a16="http://schemas.microsoft.com/office/drawing/2014/main" id="{6AAC2C42-6571-4636-A75C-FF9638E0132C}"/>
                </a:ext>
              </a:extLst>
            </p:cNvPr>
            <p:cNvSpPr/>
            <p:nvPr/>
          </p:nvSpPr>
          <p:spPr>
            <a:xfrm>
              <a:off x="11030382" y="3057885"/>
              <a:ext cx="275656" cy="288032"/>
            </a:xfrm>
            <a:prstGeom prst="ellipse">
              <a:avLst/>
            </a:prstGeom>
            <a:solidFill>
              <a:schemeClr val="accent2">
                <a:lumMod val="75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rPr>
                <a:t>d</a:t>
              </a:r>
              <a:endPar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endParaRPr>
            </a:p>
          </p:txBody>
        </p:sp>
        <p:sp>
          <p:nvSpPr>
            <p:cNvPr id="141" name="모서리가 둥근 직사각형 65">
              <a:extLst>
                <a:ext uri="{FF2B5EF4-FFF2-40B4-BE49-F238E27FC236}">
                  <a16:creationId xmlns:a16="http://schemas.microsoft.com/office/drawing/2014/main" id="{7021FD78-3F09-47E0-B31A-400F924603BA}"/>
                </a:ext>
              </a:extLst>
            </p:cNvPr>
            <p:cNvSpPr/>
            <p:nvPr/>
          </p:nvSpPr>
          <p:spPr>
            <a:xfrm>
              <a:off x="5231904" y="4013424"/>
              <a:ext cx="3456384" cy="432048"/>
            </a:xfrm>
            <a:prstGeom prst="roundRect">
              <a:avLst/>
            </a:prstGeom>
            <a:noFill/>
            <a:ln>
              <a:no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ctr" defTabSz="800100" latinLnBrk="1">
                <a:lnSpc>
                  <a:spcPct val="90000"/>
                </a:lnSpc>
                <a:spcBef>
                  <a:spcPct val="0"/>
                </a:spcBef>
                <a:spcAft>
                  <a:spcPct val="35000"/>
                </a:spcAft>
              </a:pPr>
              <a:r>
                <a:rPr lang="en-US" altLang="ko-KR" sz="2800" b="1" dirty="0">
                  <a:solidFill>
                    <a:srgbClr val="FF0000"/>
                  </a:solidFill>
                  <a:latin typeface="Rix모던고딕 B" panose="02020603020101020101" pitchFamily="18" charset="-127"/>
                  <a:ea typeface="Rix모던고딕 B" panose="02020603020101020101" pitchFamily="18" charset="-127"/>
                </a:rPr>
                <a:t>GOLDEN TIME</a:t>
              </a:r>
              <a:endParaRPr lang="ko-KR" altLang="en-US" sz="2800" b="1" kern="1200" dirty="0">
                <a:solidFill>
                  <a:srgbClr val="FF0000"/>
                </a:solidFill>
                <a:latin typeface="Rix모던고딕 B" panose="02020603020101020101" pitchFamily="18" charset="-127"/>
                <a:ea typeface="Rix모던고딕 B" panose="02020603020101020101" pitchFamily="18" charset="-127"/>
              </a:endParaRPr>
            </a:p>
          </p:txBody>
        </p:sp>
        <p:sp>
          <p:nvSpPr>
            <p:cNvPr id="142" name="직사각형 141">
              <a:extLst>
                <a:ext uri="{FF2B5EF4-FFF2-40B4-BE49-F238E27FC236}">
                  <a16:creationId xmlns:a16="http://schemas.microsoft.com/office/drawing/2014/main" id="{EDFDA7AC-9AD6-4DAC-804E-C478C9E056C4}"/>
                </a:ext>
              </a:extLst>
            </p:cNvPr>
            <p:cNvSpPr/>
            <p:nvPr/>
          </p:nvSpPr>
          <p:spPr>
            <a:xfrm>
              <a:off x="203201" y="5342566"/>
              <a:ext cx="2338292" cy="360040"/>
            </a:xfrm>
            <a:prstGeom prst="rect">
              <a:avLst/>
            </a:prstGeom>
            <a:solidFill>
              <a:schemeClr val="accent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latin typeface="Rix모던고딕 B" panose="02020603020101020101" pitchFamily="18" charset="-127"/>
                  <a:ea typeface="Rix모던고딕 B" panose="02020603020101020101" pitchFamily="18" charset="-127"/>
                </a:rPr>
                <a:t>심사청구시기 조절</a:t>
              </a:r>
            </a:p>
          </p:txBody>
        </p:sp>
        <p:sp>
          <p:nvSpPr>
            <p:cNvPr id="143" name="직사각형 142">
              <a:extLst>
                <a:ext uri="{FF2B5EF4-FFF2-40B4-BE49-F238E27FC236}">
                  <a16:creationId xmlns:a16="http://schemas.microsoft.com/office/drawing/2014/main" id="{B5A7A4A9-9C38-4365-9D90-A2A8FB8E928B}"/>
                </a:ext>
              </a:extLst>
            </p:cNvPr>
            <p:cNvSpPr/>
            <p:nvPr/>
          </p:nvSpPr>
          <p:spPr>
            <a:xfrm>
              <a:off x="203201" y="5774614"/>
              <a:ext cx="2338292" cy="80207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lumMod val="75000"/>
                      <a:lumOff val="25000"/>
                    </a:schemeClr>
                  </a:solidFill>
                  <a:latin typeface="Rix모던고딕 B" panose="02020603020101020101" pitchFamily="18" charset="-127"/>
                  <a:ea typeface="Rix모던고딕 B" panose="02020603020101020101" pitchFamily="18" charset="-127"/>
                </a:rPr>
                <a:t>출원일로부터 </a:t>
              </a:r>
              <a:r>
                <a:rPr lang="en-US" altLang="ko-KR" sz="1200" dirty="0">
                  <a:solidFill>
                    <a:schemeClr val="tx1">
                      <a:lumMod val="75000"/>
                      <a:lumOff val="25000"/>
                    </a:schemeClr>
                  </a:solidFill>
                  <a:latin typeface="Rix모던고딕 B" panose="02020603020101020101" pitchFamily="18" charset="-127"/>
                  <a:ea typeface="Rix모던고딕 B" panose="02020603020101020101" pitchFamily="18" charset="-127"/>
                </a:rPr>
                <a:t>3</a:t>
              </a:r>
              <a:r>
                <a:rPr lang="ko-KR" altLang="en-US" sz="1200" dirty="0">
                  <a:solidFill>
                    <a:schemeClr val="tx1">
                      <a:lumMod val="75000"/>
                      <a:lumOff val="25000"/>
                    </a:schemeClr>
                  </a:solidFill>
                  <a:latin typeface="Rix모던고딕 B" panose="02020603020101020101" pitchFamily="18" charset="-127"/>
                  <a:ea typeface="Rix모던고딕 B" panose="02020603020101020101" pitchFamily="18" charset="-127"/>
                </a:rPr>
                <a:t>년의 심사청구시기를 최대한 활용하여 시장의 변화 상황에 대응함</a:t>
              </a:r>
            </a:p>
          </p:txBody>
        </p:sp>
        <p:sp>
          <p:nvSpPr>
            <p:cNvPr id="144" name="직사각형 143">
              <a:extLst>
                <a:ext uri="{FF2B5EF4-FFF2-40B4-BE49-F238E27FC236}">
                  <a16:creationId xmlns:a16="http://schemas.microsoft.com/office/drawing/2014/main" id="{361F017C-4C97-4373-8B54-DC4570BB0703}"/>
                </a:ext>
              </a:extLst>
            </p:cNvPr>
            <p:cNvSpPr/>
            <p:nvPr/>
          </p:nvSpPr>
          <p:spPr>
            <a:xfrm>
              <a:off x="2609763" y="5342566"/>
              <a:ext cx="2338292" cy="360040"/>
            </a:xfrm>
            <a:prstGeom prst="rect">
              <a:avLst/>
            </a:prstGeom>
            <a:solidFill>
              <a:schemeClr val="accent1"/>
            </a:solidFill>
            <a:ln>
              <a:solidFill>
                <a:schemeClr val="bg1">
                  <a:lumMod val="5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ko-KR" altLang="en-US" sz="1400" dirty="0">
                  <a:solidFill>
                    <a:schemeClr val="bg1"/>
                  </a:solidFill>
                  <a:latin typeface="Rix모던고딕 B" panose="02020603020101020101" pitchFamily="18" charset="-127"/>
                  <a:ea typeface="Rix모던고딕 B" panose="02020603020101020101" pitchFamily="18" charset="-127"/>
                </a:rPr>
                <a:t>보정</a:t>
              </a:r>
            </a:p>
          </p:txBody>
        </p:sp>
        <p:sp>
          <p:nvSpPr>
            <p:cNvPr id="145" name="직사각형 144">
              <a:extLst>
                <a:ext uri="{FF2B5EF4-FFF2-40B4-BE49-F238E27FC236}">
                  <a16:creationId xmlns:a16="http://schemas.microsoft.com/office/drawing/2014/main" id="{4F4A8E0D-9FF9-4E25-A930-6F0472BA7B95}"/>
                </a:ext>
              </a:extLst>
            </p:cNvPr>
            <p:cNvSpPr/>
            <p:nvPr/>
          </p:nvSpPr>
          <p:spPr>
            <a:xfrm>
              <a:off x="2609763" y="5774614"/>
              <a:ext cx="2338292" cy="802070"/>
            </a:xfrm>
            <a:prstGeom prst="rect">
              <a:avLst/>
            </a:prstGeom>
            <a:ln>
              <a:solidFill>
                <a:schemeClr val="bg1">
                  <a:lumMod val="50000"/>
                </a:schemeClr>
              </a:solidFill>
            </a:ln>
          </p:spPr>
          <p:style>
            <a:lnRef idx="2">
              <a:schemeClr val="accent4"/>
            </a:lnRef>
            <a:fillRef idx="1">
              <a:schemeClr val="lt1"/>
            </a:fillRef>
            <a:effectRef idx="0">
              <a:schemeClr val="accent4"/>
            </a:effectRef>
            <a:fontRef idx="minor">
              <a:schemeClr val="dk1"/>
            </a:fontRef>
          </p:style>
          <p:txBody>
            <a:bodyPr rtlCol="0" anchor="ctr"/>
            <a:lstStyle/>
            <a:p>
              <a:r>
                <a:rPr lang="ko-KR" altLang="en-US" sz="1200" dirty="0">
                  <a:solidFill>
                    <a:schemeClr val="tx1">
                      <a:lumMod val="75000"/>
                      <a:lumOff val="25000"/>
                    </a:schemeClr>
                  </a:solidFill>
                  <a:latin typeface="Rix모던고딕 B" panose="02020603020101020101" pitchFamily="18" charset="-127"/>
                  <a:ea typeface="Rix모던고딕 B" panose="02020603020101020101" pitchFamily="18" charset="-127"/>
                </a:rPr>
                <a:t>심사관의 </a:t>
              </a:r>
              <a:r>
                <a:rPr lang="en-US" altLang="ko-KR" sz="1200" dirty="0">
                  <a:solidFill>
                    <a:schemeClr val="tx1">
                      <a:lumMod val="75000"/>
                      <a:lumOff val="25000"/>
                    </a:schemeClr>
                  </a:solidFill>
                  <a:latin typeface="Rix모던고딕 B" panose="02020603020101020101" pitchFamily="18" charset="-127"/>
                  <a:ea typeface="Rix모던고딕 B" panose="02020603020101020101" pitchFamily="18" charset="-127"/>
                </a:rPr>
                <a:t>OA </a:t>
              </a:r>
              <a:r>
                <a:rPr lang="ko-KR" altLang="en-US" sz="1200" dirty="0" err="1">
                  <a:solidFill>
                    <a:schemeClr val="tx1">
                      <a:lumMod val="75000"/>
                      <a:lumOff val="25000"/>
                    </a:schemeClr>
                  </a:solidFill>
                  <a:latin typeface="Rix모던고딕 B" panose="02020603020101020101" pitchFamily="18" charset="-127"/>
                  <a:ea typeface="Rix모던고딕 B" panose="02020603020101020101" pitchFamily="18" charset="-127"/>
                </a:rPr>
                <a:t>대응시</a:t>
              </a:r>
              <a:r>
                <a:rPr lang="ko-KR" altLang="en-US" sz="1200" dirty="0">
                  <a:solidFill>
                    <a:schemeClr val="tx1">
                      <a:lumMod val="75000"/>
                      <a:lumOff val="25000"/>
                    </a:schemeClr>
                  </a:solidFill>
                  <a:latin typeface="Rix모던고딕 B" panose="02020603020101020101" pitchFamily="18" charset="-127"/>
                  <a:ea typeface="Rix모던고딕 B" panose="02020603020101020101" pitchFamily="18" charset="-127"/>
                </a:rPr>
                <a:t> 등록가능성 뿐만 아니라 시장의 변화 상황에 따른 전략적인 보정 수행</a:t>
              </a:r>
            </a:p>
          </p:txBody>
        </p:sp>
        <p:sp>
          <p:nvSpPr>
            <p:cNvPr id="146" name="직사각형 145">
              <a:extLst>
                <a:ext uri="{FF2B5EF4-FFF2-40B4-BE49-F238E27FC236}">
                  <a16:creationId xmlns:a16="http://schemas.microsoft.com/office/drawing/2014/main" id="{65843742-1D94-47F7-8336-C5F91CE446BD}"/>
                </a:ext>
              </a:extLst>
            </p:cNvPr>
            <p:cNvSpPr/>
            <p:nvPr/>
          </p:nvSpPr>
          <p:spPr>
            <a:xfrm>
              <a:off x="5029022" y="5342566"/>
              <a:ext cx="2209706" cy="360040"/>
            </a:xfrm>
            <a:prstGeom prst="rect">
              <a:avLst/>
            </a:prstGeom>
            <a:solidFill>
              <a:schemeClr val="accent1"/>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solidFill>
                    <a:schemeClr val="bg1"/>
                  </a:solidFill>
                  <a:latin typeface="Rix모던고딕 B" panose="02020603020101020101" pitchFamily="18" charset="-127"/>
                  <a:ea typeface="Rix모던고딕 B" panose="02020603020101020101" pitchFamily="18" charset="-127"/>
                </a:rPr>
                <a:t>분할출원</a:t>
              </a:r>
            </a:p>
          </p:txBody>
        </p:sp>
        <p:sp>
          <p:nvSpPr>
            <p:cNvPr id="147" name="직사각형 146">
              <a:extLst>
                <a:ext uri="{FF2B5EF4-FFF2-40B4-BE49-F238E27FC236}">
                  <a16:creationId xmlns:a16="http://schemas.microsoft.com/office/drawing/2014/main" id="{F00E233E-D31F-4EC9-9321-BB294AB3C67A}"/>
                </a:ext>
              </a:extLst>
            </p:cNvPr>
            <p:cNvSpPr/>
            <p:nvPr/>
          </p:nvSpPr>
          <p:spPr>
            <a:xfrm>
              <a:off x="5029022" y="5774614"/>
              <a:ext cx="2209706" cy="802070"/>
            </a:xfrm>
            <a:prstGeom prst="rect">
              <a:avLst/>
            </a:prstGeom>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nchorCtr="0"/>
            <a:lstStyle/>
            <a:p>
              <a:r>
                <a:rPr lang="ko-KR" altLang="en-US" sz="1200" dirty="0">
                  <a:solidFill>
                    <a:schemeClr val="tx1">
                      <a:lumMod val="75000"/>
                      <a:lumOff val="25000"/>
                    </a:schemeClr>
                  </a:solidFill>
                  <a:latin typeface="Rix모던고딕 B" panose="02020603020101020101" pitchFamily="18" charset="-127"/>
                  <a:ea typeface="Rix모던고딕 B" panose="02020603020101020101" pitchFamily="18" charset="-127"/>
                </a:rPr>
                <a:t>시장이 확정되지 않았는데 원출원이  등록되는 경우 분할출원을 활용하여 보정 가능성 염두</a:t>
              </a:r>
            </a:p>
          </p:txBody>
        </p:sp>
        <p:sp>
          <p:nvSpPr>
            <p:cNvPr id="148" name="직사각형 147">
              <a:extLst>
                <a:ext uri="{FF2B5EF4-FFF2-40B4-BE49-F238E27FC236}">
                  <a16:creationId xmlns:a16="http://schemas.microsoft.com/office/drawing/2014/main" id="{84E435C0-458B-40FF-BB65-2D63FE532A83}"/>
                </a:ext>
              </a:extLst>
            </p:cNvPr>
            <p:cNvSpPr/>
            <p:nvPr/>
          </p:nvSpPr>
          <p:spPr>
            <a:xfrm>
              <a:off x="7295884" y="5342566"/>
              <a:ext cx="2338292" cy="360040"/>
            </a:xfrm>
            <a:prstGeom prst="rect">
              <a:avLst/>
            </a:prstGeom>
            <a:solidFill>
              <a:schemeClr val="accent1"/>
            </a:solidFill>
            <a:ln>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400" dirty="0">
                  <a:solidFill>
                    <a:schemeClr val="bg1"/>
                  </a:solidFill>
                  <a:latin typeface="Rix모던고딕 B" panose="02020603020101020101" pitchFamily="18" charset="-127"/>
                  <a:ea typeface="Rix모던고딕 B" panose="02020603020101020101" pitchFamily="18" charset="-127"/>
                </a:rPr>
                <a:t>우선권주장출원</a:t>
              </a:r>
            </a:p>
          </p:txBody>
        </p:sp>
        <p:sp>
          <p:nvSpPr>
            <p:cNvPr id="149" name="직사각형 148">
              <a:extLst>
                <a:ext uri="{FF2B5EF4-FFF2-40B4-BE49-F238E27FC236}">
                  <a16:creationId xmlns:a16="http://schemas.microsoft.com/office/drawing/2014/main" id="{5651A1E7-822B-4043-B4F9-088FD8625DF4}"/>
                </a:ext>
              </a:extLst>
            </p:cNvPr>
            <p:cNvSpPr/>
            <p:nvPr/>
          </p:nvSpPr>
          <p:spPr>
            <a:xfrm>
              <a:off x="7295884" y="5774614"/>
              <a:ext cx="2338292" cy="802070"/>
            </a:xfrm>
            <a:prstGeom prst="rect">
              <a:avLst/>
            </a:prstGeom>
            <a:ln>
              <a:solidFill>
                <a:schemeClr val="bg1">
                  <a:lumMod val="50000"/>
                </a:schemeClr>
              </a:solidFill>
            </a:ln>
          </p:spPr>
          <p:style>
            <a:lnRef idx="2">
              <a:schemeClr val="accent5"/>
            </a:lnRef>
            <a:fillRef idx="1">
              <a:schemeClr val="lt1"/>
            </a:fillRef>
            <a:effectRef idx="0">
              <a:schemeClr val="accent5"/>
            </a:effectRef>
            <a:fontRef idx="minor">
              <a:schemeClr val="dk1"/>
            </a:fontRef>
          </p:style>
          <p:txBody>
            <a:bodyPr rtlCol="0" anchor="ctr"/>
            <a:lstStyle/>
            <a:p>
              <a:r>
                <a:rPr lang="ko-KR" altLang="en-US" sz="1200" dirty="0" err="1">
                  <a:solidFill>
                    <a:schemeClr val="tx1">
                      <a:lumMod val="75000"/>
                      <a:lumOff val="25000"/>
                    </a:schemeClr>
                  </a:solidFill>
                  <a:latin typeface="Rix모던고딕 B" panose="02020603020101020101" pitchFamily="18" charset="-127"/>
                  <a:ea typeface="Rix모던고딕 B" panose="02020603020101020101" pitchFamily="18" charset="-127"/>
                </a:rPr>
                <a:t>선출원에</a:t>
              </a:r>
              <a:r>
                <a:rPr lang="ko-KR" altLang="en-US" sz="1200" dirty="0">
                  <a:solidFill>
                    <a:schemeClr val="tx1">
                      <a:lumMod val="75000"/>
                      <a:lumOff val="25000"/>
                    </a:schemeClr>
                  </a:solidFill>
                  <a:latin typeface="Rix모던고딕 B" panose="02020603020101020101" pitchFamily="18" charset="-127"/>
                  <a:ea typeface="Rix모던고딕 B" panose="02020603020101020101" pitchFamily="18" charset="-127"/>
                </a:rPr>
                <a:t> 포함되지 아니한 </a:t>
              </a:r>
              <a:r>
                <a:rPr lang="ko-KR" altLang="en-US" sz="1200" dirty="0" err="1">
                  <a:solidFill>
                    <a:schemeClr val="tx1">
                      <a:lumMod val="75000"/>
                      <a:lumOff val="25000"/>
                    </a:schemeClr>
                  </a:solidFill>
                  <a:latin typeface="Rix모던고딕 B" panose="02020603020101020101" pitchFamily="18" charset="-127"/>
                  <a:ea typeface="Rix모던고딕 B" panose="02020603020101020101" pitchFamily="18" charset="-127"/>
                </a:rPr>
                <a:t>실시예</a:t>
              </a:r>
              <a:r>
                <a:rPr lang="en-US" altLang="ko-KR" sz="1200" dirty="0">
                  <a:solidFill>
                    <a:schemeClr val="tx1">
                      <a:lumMod val="75000"/>
                      <a:lumOff val="25000"/>
                    </a:schemeClr>
                  </a:solidFill>
                  <a:latin typeface="Rix모던고딕 B" panose="02020603020101020101" pitchFamily="18" charset="-127"/>
                  <a:ea typeface="Rix모던고딕 B" panose="02020603020101020101" pitchFamily="18" charset="-127"/>
                </a:rPr>
                <a:t> </a:t>
              </a:r>
              <a:r>
                <a:rPr lang="ko-KR" altLang="en-US" sz="1200" dirty="0">
                  <a:solidFill>
                    <a:schemeClr val="tx1">
                      <a:lumMod val="75000"/>
                      <a:lumOff val="25000"/>
                    </a:schemeClr>
                  </a:solidFill>
                  <a:latin typeface="Rix모던고딕 B" panose="02020603020101020101" pitchFamily="18" charset="-127"/>
                  <a:ea typeface="Rix모던고딕 B" panose="02020603020101020101" pitchFamily="18" charset="-127"/>
                </a:rPr>
                <a:t>또는 상위개념의 출원이 필요한 경우 우선권주장을 적극 활용</a:t>
              </a:r>
            </a:p>
          </p:txBody>
        </p:sp>
        <p:cxnSp>
          <p:nvCxnSpPr>
            <p:cNvPr id="150" name="꺾인 연결선 74">
              <a:extLst>
                <a:ext uri="{FF2B5EF4-FFF2-40B4-BE49-F238E27FC236}">
                  <a16:creationId xmlns:a16="http://schemas.microsoft.com/office/drawing/2014/main" id="{3F29AACD-8F98-4749-A826-1F0D59F065E5}"/>
                </a:ext>
              </a:extLst>
            </p:cNvPr>
            <p:cNvCxnSpPr>
              <a:cxnSpLocks/>
              <a:stCxn id="106" idx="2"/>
              <a:endCxn id="142" idx="0"/>
            </p:cNvCxnSpPr>
            <p:nvPr/>
          </p:nvCxnSpPr>
          <p:spPr>
            <a:xfrm rot="5400000">
              <a:off x="4042641" y="2373574"/>
              <a:ext cx="298698" cy="5639286"/>
            </a:xfrm>
            <a:prstGeom prst="bentConnector3">
              <a:avLst>
                <a:gd name="adj1" fmla="val 5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1" name="꺾인 연결선 75">
              <a:extLst>
                <a:ext uri="{FF2B5EF4-FFF2-40B4-BE49-F238E27FC236}">
                  <a16:creationId xmlns:a16="http://schemas.microsoft.com/office/drawing/2014/main" id="{89FEE2C7-2E2B-4727-B7E3-003612F6993D}"/>
                </a:ext>
              </a:extLst>
            </p:cNvPr>
            <p:cNvCxnSpPr>
              <a:cxnSpLocks/>
              <a:stCxn id="106" idx="2"/>
              <a:endCxn id="144" idx="0"/>
            </p:cNvCxnSpPr>
            <p:nvPr/>
          </p:nvCxnSpPr>
          <p:spPr>
            <a:xfrm rot="5400000">
              <a:off x="5245922" y="3576855"/>
              <a:ext cx="298698" cy="3232724"/>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2" name="꺾인 연결선 76">
              <a:extLst>
                <a:ext uri="{FF2B5EF4-FFF2-40B4-BE49-F238E27FC236}">
                  <a16:creationId xmlns:a16="http://schemas.microsoft.com/office/drawing/2014/main" id="{EEFD0736-4B8B-42DB-B363-F84E41504D0D}"/>
                </a:ext>
              </a:extLst>
            </p:cNvPr>
            <p:cNvCxnSpPr>
              <a:cxnSpLocks/>
              <a:stCxn id="106" idx="2"/>
              <a:endCxn id="146" idx="0"/>
            </p:cNvCxnSpPr>
            <p:nvPr/>
          </p:nvCxnSpPr>
          <p:spPr>
            <a:xfrm rot="5400000">
              <a:off x="6423405" y="4754338"/>
              <a:ext cx="298698" cy="87775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3" name="꺾인 연결선 77">
              <a:extLst>
                <a:ext uri="{FF2B5EF4-FFF2-40B4-BE49-F238E27FC236}">
                  <a16:creationId xmlns:a16="http://schemas.microsoft.com/office/drawing/2014/main" id="{58DA18E9-F972-4520-AD16-0E641D570025}"/>
                </a:ext>
              </a:extLst>
            </p:cNvPr>
            <p:cNvCxnSpPr>
              <a:cxnSpLocks/>
              <a:stCxn id="106" idx="2"/>
              <a:endCxn id="148" idx="0"/>
            </p:cNvCxnSpPr>
            <p:nvPr/>
          </p:nvCxnSpPr>
          <p:spPr>
            <a:xfrm rot="16200000" flipH="1">
              <a:off x="7588982" y="4466518"/>
              <a:ext cx="298698" cy="1453397"/>
            </a:xfrm>
            <a:prstGeom prst="bentConnector3">
              <a:avLst>
                <a:gd name="adj1" fmla="val 5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4" name="모서리가 둥근 직사각형 78">
              <a:extLst>
                <a:ext uri="{FF2B5EF4-FFF2-40B4-BE49-F238E27FC236}">
                  <a16:creationId xmlns:a16="http://schemas.microsoft.com/office/drawing/2014/main" id="{A1466BAF-9431-4648-BAB4-E465B6F9F757}"/>
                </a:ext>
              </a:extLst>
            </p:cNvPr>
            <p:cNvSpPr/>
            <p:nvPr/>
          </p:nvSpPr>
          <p:spPr>
            <a:xfrm>
              <a:off x="3301219" y="2523689"/>
              <a:ext cx="1920213" cy="432048"/>
            </a:xfrm>
            <a:prstGeom prst="roundRect">
              <a:avLst/>
            </a:prstGeom>
            <a:noFill/>
            <a:ln>
              <a:no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ctr" defTabSz="800100" latinLnBrk="1">
                <a:lnSpc>
                  <a:spcPct val="90000"/>
                </a:lnSpc>
                <a:spcBef>
                  <a:spcPct val="0"/>
                </a:spcBef>
                <a:spcAft>
                  <a:spcPct val="35000"/>
                </a:spcAft>
              </a:pPr>
              <a:r>
                <a:rPr lang="en-US" altLang="ko-KR" sz="1200" b="1" dirty="0">
                  <a:solidFill>
                    <a:schemeClr val="accent4">
                      <a:lumMod val="75000"/>
                    </a:schemeClr>
                  </a:solidFill>
                  <a:latin typeface="Rix모던고딕 B" panose="02020603020101020101" pitchFamily="18" charset="-127"/>
                  <a:ea typeface="Rix모던고딕 B" panose="02020603020101020101" pitchFamily="18" charset="-127"/>
                </a:rPr>
                <a:t>Assumption</a:t>
              </a:r>
              <a:endParaRPr lang="ko-KR" altLang="en-US" sz="1200" b="1" kern="1200" dirty="0">
                <a:solidFill>
                  <a:schemeClr val="accent4">
                    <a:lumMod val="75000"/>
                  </a:schemeClr>
                </a:solidFill>
                <a:latin typeface="Rix모던고딕 B" panose="02020603020101020101" pitchFamily="18" charset="-127"/>
                <a:ea typeface="Rix모던고딕 B" panose="02020603020101020101" pitchFamily="18" charset="-127"/>
              </a:endParaRPr>
            </a:p>
          </p:txBody>
        </p:sp>
        <p:sp>
          <p:nvSpPr>
            <p:cNvPr id="155" name="직사각형 154">
              <a:extLst>
                <a:ext uri="{FF2B5EF4-FFF2-40B4-BE49-F238E27FC236}">
                  <a16:creationId xmlns:a16="http://schemas.microsoft.com/office/drawing/2014/main" id="{6D5F557F-0256-439C-9671-52B0CAAA281A}"/>
                </a:ext>
              </a:extLst>
            </p:cNvPr>
            <p:cNvSpPr/>
            <p:nvPr/>
          </p:nvSpPr>
          <p:spPr>
            <a:xfrm>
              <a:off x="9715553" y="5342566"/>
              <a:ext cx="2338292" cy="360040"/>
            </a:xfrm>
            <a:prstGeom prst="rect">
              <a:avLst/>
            </a:prstGeom>
            <a:solidFill>
              <a:schemeClr val="accent1"/>
            </a:solidFill>
            <a:ln>
              <a:solidFill>
                <a:schemeClr val="bg1">
                  <a:lumMod val="50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ko-KR" altLang="en-US" sz="1400" dirty="0">
                  <a:solidFill>
                    <a:schemeClr val="bg1"/>
                  </a:solidFill>
                  <a:latin typeface="Rix모던고딕 B" panose="02020603020101020101" pitchFamily="18" charset="-127"/>
                  <a:ea typeface="Rix모던고딕 B" panose="02020603020101020101" pitchFamily="18" charset="-127"/>
                </a:rPr>
                <a:t>재심사청구</a:t>
              </a:r>
            </a:p>
          </p:txBody>
        </p:sp>
        <p:sp>
          <p:nvSpPr>
            <p:cNvPr id="156" name="직사각형 155">
              <a:extLst>
                <a:ext uri="{FF2B5EF4-FFF2-40B4-BE49-F238E27FC236}">
                  <a16:creationId xmlns:a16="http://schemas.microsoft.com/office/drawing/2014/main" id="{1B6C88F6-7E3C-4095-9A20-351EA953AFB3}"/>
                </a:ext>
              </a:extLst>
            </p:cNvPr>
            <p:cNvSpPr/>
            <p:nvPr/>
          </p:nvSpPr>
          <p:spPr>
            <a:xfrm>
              <a:off x="9715553" y="5774614"/>
              <a:ext cx="2338292" cy="802070"/>
            </a:xfrm>
            <a:prstGeom prst="rect">
              <a:avLst/>
            </a:prstGeom>
            <a:ln>
              <a:solidFill>
                <a:schemeClr val="bg1">
                  <a:lumMod val="50000"/>
                </a:schemeClr>
              </a:solidFill>
            </a:ln>
          </p:spPr>
          <p:style>
            <a:lnRef idx="2">
              <a:schemeClr val="accent6"/>
            </a:lnRef>
            <a:fillRef idx="1">
              <a:schemeClr val="lt1"/>
            </a:fillRef>
            <a:effectRef idx="0">
              <a:schemeClr val="accent6"/>
            </a:effectRef>
            <a:fontRef idx="minor">
              <a:schemeClr val="dk1"/>
            </a:fontRef>
          </p:style>
          <p:txBody>
            <a:bodyPr rtlCol="0" anchor="ctr"/>
            <a:lstStyle/>
            <a:p>
              <a:r>
                <a:rPr lang="ko-KR" altLang="en-US" sz="1200" dirty="0">
                  <a:solidFill>
                    <a:schemeClr val="tx1">
                      <a:lumMod val="75000"/>
                      <a:lumOff val="25000"/>
                    </a:schemeClr>
                  </a:solidFill>
                  <a:latin typeface="Rix모던고딕 B" panose="02020603020101020101" pitchFamily="18" charset="-127"/>
                  <a:ea typeface="Rix모던고딕 B" panose="02020603020101020101" pitchFamily="18" charset="-127"/>
                </a:rPr>
                <a:t>특허결정후에도 재심사를 청구하여 보호범위 재설정할 수 있는 기회의 확보 </a:t>
              </a:r>
            </a:p>
          </p:txBody>
        </p:sp>
        <p:cxnSp>
          <p:nvCxnSpPr>
            <p:cNvPr id="157" name="꺾인 연결선 81">
              <a:extLst>
                <a:ext uri="{FF2B5EF4-FFF2-40B4-BE49-F238E27FC236}">
                  <a16:creationId xmlns:a16="http://schemas.microsoft.com/office/drawing/2014/main" id="{3D3713A3-4F87-49C1-B2B8-3BC5A9AB5B77}"/>
                </a:ext>
              </a:extLst>
            </p:cNvPr>
            <p:cNvCxnSpPr>
              <a:cxnSpLocks/>
              <a:stCxn id="106" idx="2"/>
              <a:endCxn id="155" idx="0"/>
            </p:cNvCxnSpPr>
            <p:nvPr/>
          </p:nvCxnSpPr>
          <p:spPr>
            <a:xfrm rot="16200000" flipH="1">
              <a:off x="8798817" y="3256684"/>
              <a:ext cx="298698" cy="3873066"/>
            </a:xfrm>
            <a:prstGeom prst="bentConnector3">
              <a:avLst>
                <a:gd name="adj1" fmla="val 5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8" name="오른쪽 화살표 83">
              <a:extLst>
                <a:ext uri="{FF2B5EF4-FFF2-40B4-BE49-F238E27FC236}">
                  <a16:creationId xmlns:a16="http://schemas.microsoft.com/office/drawing/2014/main" id="{0A42BBEE-1C45-41EC-A516-4694343E256F}"/>
                </a:ext>
              </a:extLst>
            </p:cNvPr>
            <p:cNvSpPr/>
            <p:nvPr/>
          </p:nvSpPr>
          <p:spPr>
            <a:xfrm>
              <a:off x="4367808" y="1489097"/>
              <a:ext cx="1536171" cy="621286"/>
            </a:xfrm>
            <a:prstGeom prst="rightArrow">
              <a:avLst>
                <a:gd name="adj1" fmla="val 70201"/>
                <a:gd name="adj2" fmla="val 50000"/>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400" dirty="0">
                  <a:solidFill>
                    <a:schemeClr val="tx1">
                      <a:lumMod val="75000"/>
                      <a:lumOff val="25000"/>
                    </a:schemeClr>
                  </a:solidFill>
                  <a:latin typeface="Rix모던고딕 B" panose="02020603020101020101" pitchFamily="18" charset="-127"/>
                  <a:ea typeface="Rix모던고딕 B" panose="02020603020101020101" pitchFamily="18" charset="-127"/>
                </a:rPr>
                <a:t>시장환경변화</a:t>
              </a:r>
            </a:p>
          </p:txBody>
        </p:sp>
        <p:sp>
          <p:nvSpPr>
            <p:cNvPr id="159" name="오른쪽 화살표 84">
              <a:extLst>
                <a:ext uri="{FF2B5EF4-FFF2-40B4-BE49-F238E27FC236}">
                  <a16:creationId xmlns:a16="http://schemas.microsoft.com/office/drawing/2014/main" id="{8A2C379C-938F-43C0-8627-54D436D321CE}"/>
                </a:ext>
              </a:extLst>
            </p:cNvPr>
            <p:cNvSpPr/>
            <p:nvPr/>
          </p:nvSpPr>
          <p:spPr>
            <a:xfrm>
              <a:off x="8261041" y="1489097"/>
              <a:ext cx="1536171" cy="621286"/>
            </a:xfrm>
            <a:prstGeom prst="rightArrow">
              <a:avLst>
                <a:gd name="adj1" fmla="val 70201"/>
                <a:gd name="adj2" fmla="val 50000"/>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400" dirty="0">
                  <a:solidFill>
                    <a:schemeClr val="tx1">
                      <a:lumMod val="75000"/>
                      <a:lumOff val="25000"/>
                    </a:schemeClr>
                  </a:solidFill>
                  <a:latin typeface="Rix모던고딕 B" panose="02020603020101020101" pitchFamily="18" charset="-127"/>
                  <a:ea typeface="Rix모던고딕 B" panose="02020603020101020101" pitchFamily="18" charset="-127"/>
                </a:rPr>
                <a:t>시장환경변화</a:t>
              </a:r>
            </a:p>
          </p:txBody>
        </p:sp>
        <p:sp>
          <p:nvSpPr>
            <p:cNvPr id="160" name="모서리가 둥근 직사각형 85">
              <a:extLst>
                <a:ext uri="{FF2B5EF4-FFF2-40B4-BE49-F238E27FC236}">
                  <a16:creationId xmlns:a16="http://schemas.microsoft.com/office/drawing/2014/main" id="{DAFD5329-9AAD-4776-96F3-3FC7DD33EEC9}"/>
                </a:ext>
              </a:extLst>
            </p:cNvPr>
            <p:cNvSpPr/>
            <p:nvPr/>
          </p:nvSpPr>
          <p:spPr>
            <a:xfrm>
              <a:off x="7110927" y="3065310"/>
              <a:ext cx="493225" cy="432048"/>
            </a:xfrm>
            <a:prstGeom prst="roundRect">
              <a:avLst/>
            </a:prstGeom>
            <a:noFill/>
            <a:ln>
              <a:no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r" defTabSz="800100" latinLnBrk="1">
                <a:lnSpc>
                  <a:spcPct val="90000"/>
                </a:lnSpc>
                <a:spcBef>
                  <a:spcPct val="0"/>
                </a:spcBef>
                <a:spcAft>
                  <a:spcPct val="35000"/>
                </a:spcAft>
              </a:pPr>
              <a:r>
                <a:rPr lang="en-US" altLang="ko-KR" sz="1200" b="1" kern="1200" dirty="0">
                  <a:solidFill>
                    <a:schemeClr val="accent4">
                      <a:lumMod val="75000"/>
                    </a:schemeClr>
                  </a:solidFill>
                  <a:latin typeface="Rix모던고딕 B" panose="02020603020101020101" pitchFamily="18" charset="-127"/>
                  <a:ea typeface="Rix모던고딕 B" panose="02020603020101020101" pitchFamily="18" charset="-127"/>
                </a:rPr>
                <a:t>Hit</a:t>
              </a:r>
              <a:endParaRPr lang="ko-KR" altLang="en-US" sz="1200" b="1" kern="1200" dirty="0">
                <a:solidFill>
                  <a:schemeClr val="accent4">
                    <a:lumMod val="75000"/>
                  </a:schemeClr>
                </a:solidFill>
                <a:latin typeface="Rix모던고딕 B" panose="02020603020101020101" pitchFamily="18" charset="-127"/>
                <a:ea typeface="Rix모던고딕 B" panose="02020603020101020101" pitchFamily="18" charset="-127"/>
              </a:endParaRPr>
            </a:p>
          </p:txBody>
        </p:sp>
        <p:sp>
          <p:nvSpPr>
            <p:cNvPr id="161" name="모서리가 둥근 직사각형 86">
              <a:extLst>
                <a:ext uri="{FF2B5EF4-FFF2-40B4-BE49-F238E27FC236}">
                  <a16:creationId xmlns:a16="http://schemas.microsoft.com/office/drawing/2014/main" id="{31ED3FF4-5405-43CF-A174-EDCDD285FF4C}"/>
                </a:ext>
              </a:extLst>
            </p:cNvPr>
            <p:cNvSpPr/>
            <p:nvPr/>
          </p:nvSpPr>
          <p:spPr>
            <a:xfrm>
              <a:off x="8538361" y="2999021"/>
              <a:ext cx="1258851" cy="239893"/>
            </a:xfrm>
            <a:prstGeom prst="roundRect">
              <a:avLst/>
            </a:prstGeom>
            <a:noFill/>
            <a:ln>
              <a:no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defTabSz="800100" latinLnBrk="1">
                <a:lnSpc>
                  <a:spcPct val="90000"/>
                </a:lnSpc>
                <a:spcBef>
                  <a:spcPct val="0"/>
                </a:spcBef>
                <a:spcAft>
                  <a:spcPct val="35000"/>
                </a:spcAft>
              </a:pPr>
              <a:r>
                <a:rPr lang="en-US" altLang="ko-KR" sz="1200" b="1" kern="1200" dirty="0">
                  <a:solidFill>
                    <a:schemeClr val="accent4">
                      <a:lumMod val="75000"/>
                    </a:schemeClr>
                  </a:solidFill>
                  <a:latin typeface="Rix모던고딕 B" panose="02020603020101020101" pitchFamily="18" charset="-127"/>
                  <a:ea typeface="Rix모던고딕 B" panose="02020603020101020101" pitchFamily="18" charset="-127"/>
                </a:rPr>
                <a:t>Assumption</a:t>
              </a:r>
              <a:endParaRPr lang="ko-KR" altLang="en-US" sz="1200" b="1" kern="1200" dirty="0">
                <a:solidFill>
                  <a:schemeClr val="accent4">
                    <a:lumMod val="75000"/>
                  </a:schemeClr>
                </a:solidFill>
                <a:latin typeface="Rix모던고딕 B" panose="02020603020101020101" pitchFamily="18" charset="-127"/>
                <a:ea typeface="Rix모던고딕 B" panose="02020603020101020101" pitchFamily="18" charset="-127"/>
              </a:endParaRPr>
            </a:p>
          </p:txBody>
        </p:sp>
        <p:sp>
          <p:nvSpPr>
            <p:cNvPr id="162" name="모서리가 둥근 직사각형 87">
              <a:extLst>
                <a:ext uri="{FF2B5EF4-FFF2-40B4-BE49-F238E27FC236}">
                  <a16:creationId xmlns:a16="http://schemas.microsoft.com/office/drawing/2014/main" id="{C4A3C789-3B72-4825-AC1A-16059B9603ED}"/>
                </a:ext>
              </a:extLst>
            </p:cNvPr>
            <p:cNvSpPr/>
            <p:nvPr/>
          </p:nvSpPr>
          <p:spPr>
            <a:xfrm>
              <a:off x="8373613" y="2441799"/>
              <a:ext cx="493225" cy="432048"/>
            </a:xfrm>
            <a:prstGeom prst="roundRect">
              <a:avLst/>
            </a:prstGeom>
            <a:noFill/>
            <a:ln>
              <a:no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r" defTabSz="800100" latinLnBrk="1">
                <a:lnSpc>
                  <a:spcPct val="90000"/>
                </a:lnSpc>
                <a:spcBef>
                  <a:spcPct val="0"/>
                </a:spcBef>
                <a:spcAft>
                  <a:spcPct val="35000"/>
                </a:spcAft>
              </a:pPr>
              <a:r>
                <a:rPr lang="en-US" altLang="ko-KR" sz="1200" b="1" kern="1200" dirty="0">
                  <a:solidFill>
                    <a:schemeClr val="accent4">
                      <a:lumMod val="75000"/>
                    </a:schemeClr>
                  </a:solidFill>
                  <a:latin typeface="Rix모던고딕 B" panose="02020603020101020101" pitchFamily="18" charset="-127"/>
                  <a:ea typeface="Rix모던고딕 B" panose="02020603020101020101" pitchFamily="18" charset="-127"/>
                </a:rPr>
                <a:t>Fail</a:t>
              </a:r>
              <a:endParaRPr lang="ko-KR" altLang="en-US" sz="1200" b="1" kern="1200" dirty="0">
                <a:solidFill>
                  <a:schemeClr val="accent4">
                    <a:lumMod val="75000"/>
                  </a:schemeClr>
                </a:solidFill>
                <a:latin typeface="Rix모던고딕 B" panose="02020603020101020101" pitchFamily="18" charset="-127"/>
                <a:ea typeface="Rix모던고딕 B" panose="02020603020101020101" pitchFamily="18" charset="-127"/>
              </a:endParaRPr>
            </a:p>
          </p:txBody>
        </p:sp>
        <p:sp>
          <p:nvSpPr>
            <p:cNvPr id="163" name="모서리가 둥근 직사각형 88">
              <a:extLst>
                <a:ext uri="{FF2B5EF4-FFF2-40B4-BE49-F238E27FC236}">
                  <a16:creationId xmlns:a16="http://schemas.microsoft.com/office/drawing/2014/main" id="{060D60EA-7FC2-412F-B0EE-6E3E1A489845}"/>
                </a:ext>
              </a:extLst>
            </p:cNvPr>
            <p:cNvSpPr/>
            <p:nvPr/>
          </p:nvSpPr>
          <p:spPr>
            <a:xfrm>
              <a:off x="10086672" y="2953115"/>
              <a:ext cx="493225" cy="432048"/>
            </a:xfrm>
            <a:prstGeom prst="roundRect">
              <a:avLst/>
            </a:prstGeom>
            <a:noFill/>
            <a:ln>
              <a:no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r" defTabSz="800100" latinLnBrk="1">
                <a:lnSpc>
                  <a:spcPct val="90000"/>
                </a:lnSpc>
                <a:spcBef>
                  <a:spcPct val="0"/>
                </a:spcBef>
                <a:spcAft>
                  <a:spcPct val="35000"/>
                </a:spcAft>
              </a:pPr>
              <a:r>
                <a:rPr lang="en-US" altLang="ko-KR" sz="1200" b="1" kern="1200" dirty="0">
                  <a:solidFill>
                    <a:schemeClr val="accent4">
                      <a:lumMod val="75000"/>
                    </a:schemeClr>
                  </a:solidFill>
                  <a:latin typeface="Rix모던고딕 B" panose="02020603020101020101" pitchFamily="18" charset="-127"/>
                  <a:ea typeface="Rix모던고딕 B" panose="02020603020101020101" pitchFamily="18" charset="-127"/>
                </a:rPr>
                <a:t>Hit</a:t>
              </a:r>
              <a:endParaRPr lang="ko-KR" altLang="en-US" sz="1200" b="1" kern="1200" dirty="0">
                <a:solidFill>
                  <a:schemeClr val="accent4">
                    <a:lumMod val="75000"/>
                  </a:schemeClr>
                </a:solidFill>
                <a:latin typeface="Rix모던고딕 B" panose="02020603020101020101" pitchFamily="18" charset="-127"/>
                <a:ea typeface="Rix모던고딕 B" panose="02020603020101020101" pitchFamily="18" charset="-127"/>
              </a:endParaRPr>
            </a:p>
          </p:txBody>
        </p:sp>
        <p:sp>
          <p:nvSpPr>
            <p:cNvPr id="164" name="모서리가 둥근 직사각형 89">
              <a:extLst>
                <a:ext uri="{FF2B5EF4-FFF2-40B4-BE49-F238E27FC236}">
                  <a16:creationId xmlns:a16="http://schemas.microsoft.com/office/drawing/2014/main" id="{A2F16331-4EC5-48CE-94F1-19A73FC2DE3B}"/>
                </a:ext>
              </a:extLst>
            </p:cNvPr>
            <p:cNvSpPr/>
            <p:nvPr/>
          </p:nvSpPr>
          <p:spPr>
            <a:xfrm>
              <a:off x="11334222" y="3112969"/>
              <a:ext cx="493225" cy="432048"/>
            </a:xfrm>
            <a:prstGeom prst="roundRect">
              <a:avLst/>
            </a:prstGeom>
            <a:noFill/>
            <a:ln>
              <a:no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r" defTabSz="800100" latinLnBrk="1">
                <a:lnSpc>
                  <a:spcPct val="90000"/>
                </a:lnSpc>
                <a:spcBef>
                  <a:spcPct val="0"/>
                </a:spcBef>
                <a:spcAft>
                  <a:spcPct val="35000"/>
                </a:spcAft>
              </a:pPr>
              <a:r>
                <a:rPr lang="en-US" altLang="ko-KR" sz="1200" b="1" kern="1200" dirty="0">
                  <a:solidFill>
                    <a:schemeClr val="accent4">
                      <a:lumMod val="75000"/>
                    </a:schemeClr>
                  </a:solidFill>
                  <a:latin typeface="Rix모던고딕 B" panose="02020603020101020101" pitchFamily="18" charset="-127"/>
                  <a:ea typeface="Rix모던고딕 B" panose="02020603020101020101" pitchFamily="18" charset="-127"/>
                </a:rPr>
                <a:t>Hit</a:t>
              </a:r>
              <a:endParaRPr lang="ko-KR" altLang="en-US" sz="1200" b="1" kern="1200" dirty="0">
                <a:solidFill>
                  <a:schemeClr val="accent4">
                    <a:lumMod val="75000"/>
                  </a:schemeClr>
                </a:solidFill>
                <a:latin typeface="Rix모던고딕 B" panose="02020603020101020101" pitchFamily="18" charset="-127"/>
                <a:ea typeface="Rix모던고딕 B" panose="02020603020101020101" pitchFamily="18" charset="-127"/>
              </a:endParaRPr>
            </a:p>
          </p:txBody>
        </p:sp>
        <p:sp>
          <p:nvSpPr>
            <p:cNvPr id="165" name="모서리가 둥근 직사각형 90">
              <a:extLst>
                <a:ext uri="{FF2B5EF4-FFF2-40B4-BE49-F238E27FC236}">
                  <a16:creationId xmlns:a16="http://schemas.microsoft.com/office/drawing/2014/main" id="{D3FC1987-C7AF-4860-AF7D-EB18A1088575}"/>
                </a:ext>
              </a:extLst>
            </p:cNvPr>
            <p:cNvSpPr/>
            <p:nvPr/>
          </p:nvSpPr>
          <p:spPr>
            <a:xfrm>
              <a:off x="239349" y="1246288"/>
              <a:ext cx="1632183" cy="535555"/>
            </a:xfrm>
            <a:prstGeom prst="roundRect">
              <a:avLst/>
            </a:prstGeom>
            <a:solidFill>
              <a:schemeClr val="bg1">
                <a:lumMod val="85000"/>
              </a:schemeClr>
            </a:solidFill>
            <a:ln>
              <a:solidFill>
                <a:schemeClr val="bg1">
                  <a:lumMod val="50000"/>
                </a:schemeClr>
              </a:solid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ctr" defTabSz="800100" latinLnBrk="1">
                <a:spcBef>
                  <a:spcPct val="0"/>
                </a:spcBef>
              </a:pPr>
              <a:r>
                <a:rPr lang="en-US" altLang="ko-KR" sz="1600" b="1" dirty="0">
                  <a:solidFill>
                    <a:schemeClr val="tx2">
                      <a:lumMod val="50000"/>
                    </a:schemeClr>
                  </a:solidFill>
                  <a:latin typeface="Rix모던고딕 B" panose="02020603020101020101" pitchFamily="18" charset="-127"/>
                  <a:ea typeface="Rix모던고딕 B" panose="02020603020101020101" pitchFamily="18" charset="-127"/>
                </a:rPr>
                <a:t>Other product</a:t>
              </a:r>
            </a:p>
            <a:p>
              <a:pPr lvl="0" algn="ctr" defTabSz="800100" latinLnBrk="1">
                <a:spcBef>
                  <a:spcPct val="0"/>
                </a:spcBef>
              </a:pPr>
              <a:r>
                <a:rPr lang="en-US" altLang="ko-KR" sz="1600" b="1" kern="1200" dirty="0">
                  <a:solidFill>
                    <a:schemeClr val="tx2">
                      <a:lumMod val="50000"/>
                    </a:schemeClr>
                  </a:solidFill>
                  <a:latin typeface="Rix모던고딕 B" panose="02020603020101020101" pitchFamily="18" charset="-127"/>
                  <a:ea typeface="Rix모던고딕 B" panose="02020603020101020101" pitchFamily="18" charset="-127"/>
                </a:rPr>
                <a:t>(market)</a:t>
              </a:r>
              <a:endParaRPr lang="ko-KR" altLang="en-US" sz="1600" b="1" kern="1200" dirty="0">
                <a:solidFill>
                  <a:schemeClr val="tx2">
                    <a:lumMod val="50000"/>
                  </a:schemeClr>
                </a:solidFill>
                <a:latin typeface="Rix모던고딕 B" panose="02020603020101020101" pitchFamily="18" charset="-127"/>
                <a:ea typeface="Rix모던고딕 B" panose="02020603020101020101" pitchFamily="18" charset="-127"/>
              </a:endParaRPr>
            </a:p>
          </p:txBody>
        </p:sp>
        <p:sp>
          <p:nvSpPr>
            <p:cNvPr id="166" name="모서리가 둥근 직사각형 91">
              <a:extLst>
                <a:ext uri="{FF2B5EF4-FFF2-40B4-BE49-F238E27FC236}">
                  <a16:creationId xmlns:a16="http://schemas.microsoft.com/office/drawing/2014/main" id="{BAA66887-4613-40A8-83D8-65644210D587}"/>
                </a:ext>
              </a:extLst>
            </p:cNvPr>
            <p:cNvSpPr/>
            <p:nvPr/>
          </p:nvSpPr>
          <p:spPr>
            <a:xfrm>
              <a:off x="239350" y="2470362"/>
              <a:ext cx="1632182" cy="328101"/>
            </a:xfrm>
            <a:prstGeom prst="roundRect">
              <a:avLst/>
            </a:prstGeom>
            <a:solidFill>
              <a:schemeClr val="bg1">
                <a:lumMod val="85000"/>
              </a:schemeClr>
            </a:solidFill>
            <a:ln>
              <a:solidFill>
                <a:schemeClr val="bg1">
                  <a:lumMod val="50000"/>
                </a:schemeClr>
              </a:solid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ctr" defTabSz="800100" latinLnBrk="1">
                <a:spcBef>
                  <a:spcPct val="0"/>
                </a:spcBef>
              </a:pPr>
              <a:r>
                <a:rPr lang="en-US" altLang="ko-KR" sz="1600" b="1" dirty="0">
                  <a:solidFill>
                    <a:schemeClr val="accent2">
                      <a:lumMod val="50000"/>
                    </a:schemeClr>
                  </a:solidFill>
                  <a:latin typeface="Rix모던고딕 B" panose="02020603020101020101" pitchFamily="18" charset="-127"/>
                  <a:ea typeface="Rix모던고딕 B" panose="02020603020101020101" pitchFamily="18" charset="-127"/>
                </a:rPr>
                <a:t>  My Patent</a:t>
              </a:r>
              <a:endParaRPr lang="ko-KR" altLang="en-US" sz="1600" b="1" kern="1200" dirty="0">
                <a:solidFill>
                  <a:schemeClr val="accent2">
                    <a:lumMod val="50000"/>
                  </a:schemeClr>
                </a:solidFill>
                <a:latin typeface="Rix모던고딕 B" panose="02020603020101020101" pitchFamily="18" charset="-127"/>
                <a:ea typeface="Rix모던고딕 B" panose="02020603020101020101" pitchFamily="18" charset="-127"/>
              </a:endParaRPr>
            </a:p>
          </p:txBody>
        </p:sp>
        <p:sp>
          <p:nvSpPr>
            <p:cNvPr id="167" name="위쪽 화살표 92">
              <a:extLst>
                <a:ext uri="{FF2B5EF4-FFF2-40B4-BE49-F238E27FC236}">
                  <a16:creationId xmlns:a16="http://schemas.microsoft.com/office/drawing/2014/main" id="{C991F7AF-0C4D-4915-84BC-CB7CDA8B0745}"/>
                </a:ext>
              </a:extLst>
            </p:cNvPr>
            <p:cNvSpPr/>
            <p:nvPr/>
          </p:nvSpPr>
          <p:spPr>
            <a:xfrm>
              <a:off x="6790312" y="2318648"/>
              <a:ext cx="339568" cy="1493325"/>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68" name="아래쪽 화살표 93">
              <a:extLst>
                <a:ext uri="{FF2B5EF4-FFF2-40B4-BE49-F238E27FC236}">
                  <a16:creationId xmlns:a16="http://schemas.microsoft.com/office/drawing/2014/main" id="{B8DAABFE-DDD5-4AF7-B8B7-8BB9B14251D5}"/>
                </a:ext>
              </a:extLst>
            </p:cNvPr>
            <p:cNvSpPr/>
            <p:nvPr/>
          </p:nvSpPr>
          <p:spPr>
            <a:xfrm>
              <a:off x="7918406" y="3545018"/>
              <a:ext cx="289829" cy="274715"/>
            </a:xfrm>
            <a:prstGeom prst="downArrow">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69" name="아래쪽 화살표 94">
              <a:extLst>
                <a:ext uri="{FF2B5EF4-FFF2-40B4-BE49-F238E27FC236}">
                  <a16:creationId xmlns:a16="http://schemas.microsoft.com/office/drawing/2014/main" id="{4556A1EB-3F1C-4CD5-A901-C61A9774C286}"/>
                </a:ext>
              </a:extLst>
            </p:cNvPr>
            <p:cNvSpPr/>
            <p:nvPr/>
          </p:nvSpPr>
          <p:spPr>
            <a:xfrm>
              <a:off x="3023659" y="3554796"/>
              <a:ext cx="340259" cy="503193"/>
            </a:xfrm>
            <a:prstGeom prst="downArrow">
              <a:avLst/>
            </a:prstGeom>
            <a:solidFill>
              <a:schemeClr val="bg1">
                <a:lumMod val="95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70" name="아래쪽 화살표 95">
              <a:extLst>
                <a:ext uri="{FF2B5EF4-FFF2-40B4-BE49-F238E27FC236}">
                  <a16:creationId xmlns:a16="http://schemas.microsoft.com/office/drawing/2014/main" id="{0706377A-77ED-4480-815F-8EE49F9BFC43}"/>
                </a:ext>
              </a:extLst>
            </p:cNvPr>
            <p:cNvSpPr/>
            <p:nvPr/>
          </p:nvSpPr>
          <p:spPr>
            <a:xfrm>
              <a:off x="10834220" y="3554796"/>
              <a:ext cx="340259" cy="503193"/>
            </a:xfrm>
            <a:prstGeom prst="downArrow">
              <a:avLst/>
            </a:prstGeom>
            <a:solidFill>
              <a:schemeClr val="bg1">
                <a:lumMod val="95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71" name="모서리가 둥근 직사각형 96">
              <a:extLst>
                <a:ext uri="{FF2B5EF4-FFF2-40B4-BE49-F238E27FC236}">
                  <a16:creationId xmlns:a16="http://schemas.microsoft.com/office/drawing/2014/main" id="{C99957FB-5D21-40A1-8DFE-3F481AADC90E}"/>
                </a:ext>
              </a:extLst>
            </p:cNvPr>
            <p:cNvSpPr/>
            <p:nvPr/>
          </p:nvSpPr>
          <p:spPr>
            <a:xfrm>
              <a:off x="5578110" y="2518155"/>
              <a:ext cx="1776503" cy="432048"/>
            </a:xfrm>
            <a:prstGeom prst="roundRect">
              <a:avLst/>
            </a:prstGeom>
            <a:noFill/>
            <a:ln>
              <a:no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r" defTabSz="800100" latinLnBrk="1">
                <a:lnSpc>
                  <a:spcPct val="90000"/>
                </a:lnSpc>
                <a:spcBef>
                  <a:spcPct val="0"/>
                </a:spcBef>
                <a:spcAft>
                  <a:spcPct val="35000"/>
                </a:spcAft>
              </a:pPr>
              <a:r>
                <a:rPr lang="en-US" altLang="ko-KR" b="1" kern="1200" dirty="0">
                  <a:solidFill>
                    <a:srgbClr val="FF0000"/>
                  </a:solidFill>
                  <a:latin typeface="Rix모던고딕 B" panose="02020603020101020101" pitchFamily="18" charset="-127"/>
                  <a:ea typeface="Rix모던고딕 B" panose="02020603020101020101" pitchFamily="18" charset="-127"/>
                </a:rPr>
                <a:t>Monitoring</a:t>
              </a:r>
              <a:endParaRPr lang="ko-KR" altLang="en-US" b="1" kern="1200" dirty="0">
                <a:solidFill>
                  <a:srgbClr val="FF0000"/>
                </a:solidFill>
                <a:latin typeface="Rix모던고딕 B" panose="02020603020101020101" pitchFamily="18" charset="-127"/>
                <a:ea typeface="Rix모던고딕 B" panose="02020603020101020101" pitchFamily="18" charset="-127"/>
              </a:endParaRPr>
            </a:p>
          </p:txBody>
        </p:sp>
        <p:sp>
          <p:nvSpPr>
            <p:cNvPr id="172" name="모서리가 둥근 직사각형 97">
              <a:extLst>
                <a:ext uri="{FF2B5EF4-FFF2-40B4-BE49-F238E27FC236}">
                  <a16:creationId xmlns:a16="http://schemas.microsoft.com/office/drawing/2014/main" id="{30103099-9D43-4E03-A0CA-C3989B1A2B0C}"/>
                </a:ext>
              </a:extLst>
            </p:cNvPr>
            <p:cNvSpPr/>
            <p:nvPr/>
          </p:nvSpPr>
          <p:spPr>
            <a:xfrm>
              <a:off x="8112225" y="3406527"/>
              <a:ext cx="2080705" cy="432048"/>
            </a:xfrm>
            <a:prstGeom prst="roundRect">
              <a:avLst/>
            </a:prstGeom>
            <a:noFill/>
            <a:ln>
              <a:no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r" defTabSz="800100" latinLnBrk="1">
                <a:lnSpc>
                  <a:spcPct val="90000"/>
                </a:lnSpc>
                <a:spcBef>
                  <a:spcPct val="0"/>
                </a:spcBef>
                <a:spcAft>
                  <a:spcPct val="35000"/>
                </a:spcAft>
              </a:pPr>
              <a:r>
                <a:rPr lang="en-US" altLang="ko-KR" b="1" kern="1200" dirty="0">
                  <a:solidFill>
                    <a:srgbClr val="FF0000"/>
                  </a:solidFill>
                  <a:latin typeface="Rix모던고딕 B" panose="02020603020101020101" pitchFamily="18" charset="-127"/>
                  <a:ea typeface="Rix모던고딕 B" panose="02020603020101020101" pitchFamily="18" charset="-127"/>
                </a:rPr>
                <a:t>Repositioning</a:t>
              </a:r>
              <a:endParaRPr lang="ko-KR" altLang="en-US" b="1" kern="1200" dirty="0">
                <a:solidFill>
                  <a:srgbClr val="FF0000"/>
                </a:solidFill>
                <a:latin typeface="Rix모던고딕 B" panose="02020603020101020101" pitchFamily="18" charset="-127"/>
                <a:ea typeface="Rix모던고딕 B" panose="02020603020101020101" pitchFamily="18" charset="-127"/>
              </a:endParaRPr>
            </a:p>
          </p:txBody>
        </p:sp>
        <p:sp>
          <p:nvSpPr>
            <p:cNvPr id="173" name="위쪽/아래쪽 화살표 98">
              <a:extLst>
                <a:ext uri="{FF2B5EF4-FFF2-40B4-BE49-F238E27FC236}">
                  <a16:creationId xmlns:a16="http://schemas.microsoft.com/office/drawing/2014/main" id="{41962982-3630-4BDD-BA63-F216A3205873}"/>
                </a:ext>
              </a:extLst>
            </p:cNvPr>
            <p:cNvSpPr/>
            <p:nvPr/>
          </p:nvSpPr>
          <p:spPr>
            <a:xfrm>
              <a:off x="623392" y="1788964"/>
              <a:ext cx="480053" cy="722052"/>
            </a:xfrm>
            <a:prstGeom prst="upDownArrow">
              <a:avLst/>
            </a:prstGeom>
            <a:solidFill>
              <a:schemeClr val="accent1"/>
            </a:solidFill>
            <a:effectLst/>
          </p:spPr>
          <p:style>
            <a:lnRef idx="0">
              <a:schemeClr val="dk1"/>
            </a:lnRef>
            <a:fillRef idx="3">
              <a:schemeClr val="dk1"/>
            </a:fillRef>
            <a:effectRef idx="3">
              <a:schemeClr val="dk1"/>
            </a:effectRef>
            <a:fontRef idx="minor">
              <a:schemeClr val="lt1"/>
            </a:fontRef>
          </p:style>
          <p:txBody>
            <a:bodyPr rtlCol="0" anchor="ctr"/>
            <a:lstStyle/>
            <a:p>
              <a:pPr algn="ctr"/>
              <a:endParaRPr lang="ko-KR" altLang="en-US" dirty="0">
                <a:latin typeface="Rix모던고딕 B" panose="02020603020101020101" pitchFamily="18" charset="-127"/>
                <a:ea typeface="Rix모던고딕 B" panose="02020603020101020101" pitchFamily="18" charset="-127"/>
              </a:endParaRPr>
            </a:p>
          </p:txBody>
        </p:sp>
        <p:sp>
          <p:nvSpPr>
            <p:cNvPr id="174" name="모서리가 둥근 직사각형 99">
              <a:extLst>
                <a:ext uri="{FF2B5EF4-FFF2-40B4-BE49-F238E27FC236}">
                  <a16:creationId xmlns:a16="http://schemas.microsoft.com/office/drawing/2014/main" id="{F2826725-EE35-49E4-B291-BAAD554EBB09}"/>
                </a:ext>
              </a:extLst>
            </p:cNvPr>
            <p:cNvSpPr/>
            <p:nvPr/>
          </p:nvSpPr>
          <p:spPr>
            <a:xfrm>
              <a:off x="138233" y="1913972"/>
              <a:ext cx="1776503" cy="432048"/>
            </a:xfrm>
            <a:prstGeom prst="roundRect">
              <a:avLst/>
            </a:prstGeom>
            <a:noFill/>
            <a:ln>
              <a:no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r" defTabSz="800100" latinLnBrk="1">
                <a:lnSpc>
                  <a:spcPct val="90000"/>
                </a:lnSpc>
                <a:spcBef>
                  <a:spcPct val="0"/>
                </a:spcBef>
                <a:spcAft>
                  <a:spcPct val="35000"/>
                </a:spcAft>
              </a:pPr>
              <a:r>
                <a:rPr lang="en-US" altLang="ko-KR" b="1" kern="1200" dirty="0">
                  <a:solidFill>
                    <a:srgbClr val="FF0000"/>
                  </a:solidFill>
                  <a:latin typeface="Rix모던고딕 B" panose="02020603020101020101" pitchFamily="18" charset="-127"/>
                  <a:ea typeface="Rix모던고딕 B" panose="02020603020101020101" pitchFamily="18" charset="-127"/>
                </a:rPr>
                <a:t>Matching?</a:t>
              </a:r>
              <a:endParaRPr lang="ko-KR" altLang="en-US" b="1" kern="1200" dirty="0">
                <a:solidFill>
                  <a:srgbClr val="FF0000"/>
                </a:solidFill>
                <a:latin typeface="Rix모던고딕 B" panose="02020603020101020101" pitchFamily="18" charset="-127"/>
                <a:ea typeface="Rix모던고딕 B" panose="02020603020101020101" pitchFamily="18" charset="-127"/>
              </a:endParaRPr>
            </a:p>
          </p:txBody>
        </p:sp>
        <p:sp>
          <p:nvSpPr>
            <p:cNvPr id="175" name="모서리가 둥근 직사각형 100">
              <a:extLst>
                <a:ext uri="{FF2B5EF4-FFF2-40B4-BE49-F238E27FC236}">
                  <a16:creationId xmlns:a16="http://schemas.microsoft.com/office/drawing/2014/main" id="{857867CB-9D47-40F9-923F-B1974DE7274B}"/>
                </a:ext>
              </a:extLst>
            </p:cNvPr>
            <p:cNvSpPr/>
            <p:nvPr/>
          </p:nvSpPr>
          <p:spPr>
            <a:xfrm>
              <a:off x="2639616" y="1173347"/>
              <a:ext cx="1920213" cy="432048"/>
            </a:xfrm>
            <a:prstGeom prst="roundRect">
              <a:avLst/>
            </a:prstGeom>
            <a:noFill/>
            <a:ln>
              <a:noFill/>
            </a:ln>
            <a:effectLst/>
          </p:spPr>
          <p:style>
            <a:lnRef idx="1">
              <a:schemeClr val="accent4"/>
            </a:lnRef>
            <a:fillRef idx="3">
              <a:schemeClr val="accent4"/>
            </a:fillRef>
            <a:effectRef idx="2">
              <a:schemeClr val="accent4"/>
            </a:effectRef>
            <a:fontRef idx="minor">
              <a:schemeClr val="lt1"/>
            </a:fontRef>
          </p:style>
          <p:txBody>
            <a:bodyPr spcFirstLastPara="0" vert="horz" wrap="square" lIns="0" tIns="182880" rIns="0" bIns="182880" numCol="1" spcCol="1270" anchor="ctr" anchorCtr="0">
              <a:noAutofit/>
            </a:bodyPr>
            <a:lstStyle/>
            <a:p>
              <a:pPr lvl="0" algn="ctr" defTabSz="800100" latinLnBrk="1">
                <a:lnSpc>
                  <a:spcPct val="90000"/>
                </a:lnSpc>
                <a:spcBef>
                  <a:spcPct val="0"/>
                </a:spcBef>
                <a:spcAft>
                  <a:spcPct val="35000"/>
                </a:spcAft>
              </a:pPr>
              <a:r>
                <a:rPr lang="en-US" altLang="ko-KR" sz="1200" b="1" dirty="0">
                  <a:solidFill>
                    <a:schemeClr val="accent4">
                      <a:lumMod val="75000"/>
                    </a:schemeClr>
                  </a:solidFill>
                  <a:latin typeface="Rix모던고딕 B" panose="02020603020101020101" pitchFamily="18" charset="-127"/>
                  <a:ea typeface="Rix모던고딕 B" panose="02020603020101020101" pitchFamily="18" charset="-127"/>
                </a:rPr>
                <a:t>Uncertainty</a:t>
              </a:r>
              <a:endParaRPr lang="ko-KR" altLang="en-US" sz="1200" b="1" kern="1200" dirty="0">
                <a:solidFill>
                  <a:schemeClr val="accent4">
                    <a:lumMod val="75000"/>
                  </a:schemeClr>
                </a:solidFill>
                <a:latin typeface="Rix모던고딕 B" panose="02020603020101020101" pitchFamily="18" charset="-127"/>
                <a:ea typeface="Rix모던고딕 B" panose="02020603020101020101" pitchFamily="18" charset="-127"/>
              </a:endParaRPr>
            </a:p>
          </p:txBody>
        </p:sp>
        <p:cxnSp>
          <p:nvCxnSpPr>
            <p:cNvPr id="176" name="직선 화살표 연결선 175">
              <a:extLst>
                <a:ext uri="{FF2B5EF4-FFF2-40B4-BE49-F238E27FC236}">
                  <a16:creationId xmlns:a16="http://schemas.microsoft.com/office/drawing/2014/main" id="{C90003BD-92C8-424F-9484-AA98612ED525}"/>
                </a:ext>
              </a:extLst>
            </p:cNvPr>
            <p:cNvCxnSpPr/>
            <p:nvPr/>
          </p:nvCxnSpPr>
          <p:spPr>
            <a:xfrm>
              <a:off x="4463818" y="965200"/>
              <a:ext cx="75761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77" name="직선 화살표 연결선 176">
              <a:extLst>
                <a:ext uri="{FF2B5EF4-FFF2-40B4-BE49-F238E27FC236}">
                  <a16:creationId xmlns:a16="http://schemas.microsoft.com/office/drawing/2014/main" id="{E23308DB-6722-41B2-B008-0DE97AD0861D}"/>
                </a:ext>
              </a:extLst>
            </p:cNvPr>
            <p:cNvCxnSpPr/>
            <p:nvPr/>
          </p:nvCxnSpPr>
          <p:spPr>
            <a:xfrm>
              <a:off x="9632449" y="965200"/>
              <a:ext cx="757614"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78" name="직선 화살표 연결선 177">
              <a:extLst>
                <a:ext uri="{FF2B5EF4-FFF2-40B4-BE49-F238E27FC236}">
                  <a16:creationId xmlns:a16="http://schemas.microsoft.com/office/drawing/2014/main" id="{C5C769E3-B01A-4024-9EC2-9247B14261CC}"/>
                </a:ext>
              </a:extLst>
            </p:cNvPr>
            <p:cNvCxnSpPr/>
            <p:nvPr/>
          </p:nvCxnSpPr>
          <p:spPr>
            <a:xfrm flipH="1">
              <a:off x="3778909" y="965200"/>
              <a:ext cx="684909"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79" name="직선 화살표 연결선 178">
              <a:extLst>
                <a:ext uri="{FF2B5EF4-FFF2-40B4-BE49-F238E27FC236}">
                  <a16:creationId xmlns:a16="http://schemas.microsoft.com/office/drawing/2014/main" id="{3DD03325-2A2A-4629-A0B1-096887BB86C7}"/>
                </a:ext>
              </a:extLst>
            </p:cNvPr>
            <p:cNvCxnSpPr/>
            <p:nvPr/>
          </p:nvCxnSpPr>
          <p:spPr>
            <a:xfrm flipH="1">
              <a:off x="8948166" y="965200"/>
              <a:ext cx="684909" cy="0"/>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80" name="TextBox 179">
              <a:extLst>
                <a:ext uri="{FF2B5EF4-FFF2-40B4-BE49-F238E27FC236}">
                  <a16:creationId xmlns:a16="http://schemas.microsoft.com/office/drawing/2014/main" id="{46C571A9-6005-4B47-83BE-5EC5B7046356}"/>
                </a:ext>
              </a:extLst>
            </p:cNvPr>
            <p:cNvSpPr txBox="1"/>
            <p:nvPr/>
          </p:nvSpPr>
          <p:spPr>
            <a:xfrm>
              <a:off x="5200902" y="799120"/>
              <a:ext cx="1287532" cy="369332"/>
            </a:xfrm>
            <a:prstGeom prst="rect">
              <a:avLst/>
            </a:prstGeom>
            <a:solidFill>
              <a:schemeClr val="accent1">
                <a:lumMod val="50000"/>
              </a:schemeClr>
            </a:solidFill>
            <a:ln>
              <a:solidFill>
                <a:schemeClr val="bg1">
                  <a:lumMod val="50000"/>
                </a:schemeClr>
              </a:solidFill>
            </a:ln>
          </p:spPr>
          <p:txBody>
            <a:bodyPr wrap="none" rtlCol="0">
              <a:spAutoFit/>
            </a:bodyPr>
            <a:lstStyle/>
            <a:p>
              <a:r>
                <a:rPr lang="ko-KR" altLang="en-US" dirty="0">
                  <a:solidFill>
                    <a:schemeClr val="accent2"/>
                  </a:solidFill>
                  <a:latin typeface="Rix모던고딕 B" panose="02020603020101020101" pitchFamily="18" charset="-127"/>
                  <a:ea typeface="Rix모던고딕 B" panose="02020603020101020101" pitchFamily="18" charset="-127"/>
                </a:rPr>
                <a:t>확실한 시장</a:t>
              </a:r>
            </a:p>
          </p:txBody>
        </p:sp>
        <p:sp>
          <p:nvSpPr>
            <p:cNvPr id="181" name="TextBox 180">
              <a:extLst>
                <a:ext uri="{FF2B5EF4-FFF2-40B4-BE49-F238E27FC236}">
                  <a16:creationId xmlns:a16="http://schemas.microsoft.com/office/drawing/2014/main" id="{D2177FD7-A97E-49E1-904A-055345A972F7}"/>
                </a:ext>
              </a:extLst>
            </p:cNvPr>
            <p:cNvSpPr txBox="1"/>
            <p:nvPr/>
          </p:nvSpPr>
          <p:spPr>
            <a:xfrm>
              <a:off x="2279559" y="799120"/>
              <a:ext cx="1495922" cy="369332"/>
            </a:xfrm>
            <a:prstGeom prst="rect">
              <a:avLst/>
            </a:prstGeom>
            <a:noFill/>
          </p:spPr>
          <p:txBody>
            <a:bodyPr wrap="none" rtlCol="0">
              <a:spAutoFit/>
            </a:bodyPr>
            <a:lstStyle/>
            <a:p>
              <a:r>
                <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rPr>
                <a:t>불확실한 시장</a:t>
              </a:r>
            </a:p>
          </p:txBody>
        </p:sp>
        <p:sp>
          <p:nvSpPr>
            <p:cNvPr id="182" name="TextBox 181">
              <a:extLst>
                <a:ext uri="{FF2B5EF4-FFF2-40B4-BE49-F238E27FC236}">
                  <a16:creationId xmlns:a16="http://schemas.microsoft.com/office/drawing/2014/main" id="{23263CDB-1F1D-43D0-9B87-BD888219209A}"/>
                </a:ext>
              </a:extLst>
            </p:cNvPr>
            <p:cNvSpPr txBox="1"/>
            <p:nvPr/>
          </p:nvSpPr>
          <p:spPr>
            <a:xfrm>
              <a:off x="7564469" y="583457"/>
              <a:ext cx="1287532" cy="646331"/>
            </a:xfrm>
            <a:prstGeom prst="rect">
              <a:avLst/>
            </a:prstGeom>
            <a:noFill/>
          </p:spPr>
          <p:txBody>
            <a:bodyPr wrap="none" rtlCol="0" anchor="ctr">
              <a:spAutoFit/>
            </a:bodyPr>
            <a:lstStyle/>
            <a:p>
              <a:pPr algn="ctr"/>
              <a:r>
                <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rPr>
                <a:t>권리범위 </a:t>
              </a:r>
              <a:endPar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endParaRPr>
            </a:p>
            <a:p>
              <a:pPr algn="ctr"/>
              <a:r>
                <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rPr>
                <a:t>재설계 가능</a:t>
              </a:r>
            </a:p>
          </p:txBody>
        </p:sp>
        <p:sp>
          <p:nvSpPr>
            <p:cNvPr id="183" name="TextBox 182">
              <a:extLst>
                <a:ext uri="{FF2B5EF4-FFF2-40B4-BE49-F238E27FC236}">
                  <a16:creationId xmlns:a16="http://schemas.microsoft.com/office/drawing/2014/main" id="{1A200CCD-85AA-4688-BF31-E867405B9217}"/>
                </a:ext>
              </a:extLst>
            </p:cNvPr>
            <p:cNvSpPr txBox="1"/>
            <p:nvPr/>
          </p:nvSpPr>
          <p:spPr>
            <a:xfrm>
              <a:off x="10420330" y="583457"/>
              <a:ext cx="1495922" cy="646331"/>
            </a:xfrm>
            <a:prstGeom prst="rect">
              <a:avLst/>
            </a:prstGeom>
            <a:noFill/>
          </p:spPr>
          <p:txBody>
            <a:bodyPr wrap="none" rtlCol="0" anchor="ctr">
              <a:spAutoFit/>
            </a:bodyPr>
            <a:lstStyle/>
            <a:p>
              <a:pPr algn="ctr"/>
              <a:r>
                <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rPr>
                <a:t>권리범위 </a:t>
              </a:r>
              <a:endParaRPr lang="en-US" altLang="ko-KR" dirty="0">
                <a:solidFill>
                  <a:schemeClr val="tx1">
                    <a:lumMod val="75000"/>
                    <a:lumOff val="25000"/>
                  </a:schemeClr>
                </a:solidFill>
                <a:latin typeface="Rix모던고딕 B" panose="02020603020101020101" pitchFamily="18" charset="-127"/>
                <a:ea typeface="Rix모던고딕 B" panose="02020603020101020101" pitchFamily="18" charset="-127"/>
              </a:endParaRPr>
            </a:p>
            <a:p>
              <a:pPr algn="ctr"/>
              <a:r>
                <a:rPr lang="ko-KR" altLang="en-US" dirty="0">
                  <a:solidFill>
                    <a:schemeClr val="tx1">
                      <a:lumMod val="75000"/>
                      <a:lumOff val="25000"/>
                    </a:schemeClr>
                  </a:solidFill>
                  <a:latin typeface="Rix모던고딕 B" panose="02020603020101020101" pitchFamily="18" charset="-127"/>
                  <a:ea typeface="Rix모던고딕 B" panose="02020603020101020101" pitchFamily="18" charset="-127"/>
                </a:rPr>
                <a:t>재설계 불가능</a:t>
              </a:r>
            </a:p>
          </p:txBody>
        </p:sp>
      </p:grpSp>
    </p:spTree>
    <p:extLst>
      <p:ext uri="{BB962C8B-B14F-4D97-AF65-F5344CB8AC3E}">
        <p14:creationId xmlns:p14="http://schemas.microsoft.com/office/powerpoint/2010/main" val="1574520415"/>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r>
              <a:rPr lang="en-US" altLang="ko-KR" dirty="0"/>
              <a:t>, </a:t>
            </a:r>
            <a:r>
              <a:rPr lang="ko-KR" altLang="en-US" dirty="0"/>
              <a:t>제</a:t>
            </a:r>
            <a:r>
              <a:rPr lang="en-US" altLang="ko-KR" dirty="0"/>
              <a:t>98</a:t>
            </a:r>
            <a:r>
              <a:rPr lang="ko-KR" altLang="en-US" dirty="0"/>
              <a:t>조</a:t>
            </a:r>
          </a:p>
        </p:txBody>
      </p:sp>
      <p:sp>
        <p:nvSpPr>
          <p:cNvPr id="4" name="텍스트 개체 틀 3"/>
          <p:cNvSpPr>
            <a:spLocks noGrp="1"/>
          </p:cNvSpPr>
          <p:nvPr>
            <p:ph type="body" sz="quarter" idx="13"/>
          </p:nvPr>
        </p:nvSpPr>
        <p:spPr/>
        <p:txBody>
          <a:bodyPr/>
          <a:lstStyle/>
          <a:p>
            <a:r>
              <a:rPr lang="ko-KR" altLang="en-US" dirty="0"/>
              <a:t>특허권의 소극적 효력</a:t>
            </a:r>
            <a:r>
              <a:rPr lang="en-US" altLang="ko-KR" dirty="0"/>
              <a:t>: </a:t>
            </a:r>
            <a:r>
              <a:rPr lang="ko-KR" altLang="en-US" dirty="0"/>
              <a:t>침해 일반</a:t>
            </a:r>
          </a:p>
        </p:txBody>
      </p:sp>
      <p:sp>
        <p:nvSpPr>
          <p:cNvPr id="74" name="모서리가 둥근 직사각형 73"/>
          <p:cNvSpPr/>
          <p:nvPr/>
        </p:nvSpPr>
        <p:spPr>
          <a:xfrm>
            <a:off x="562188" y="1052973"/>
            <a:ext cx="1152128" cy="505937"/>
          </a:xfrm>
          <a:prstGeom prst="roundRect">
            <a:avLst/>
          </a:prstGeom>
          <a:solidFill>
            <a:schemeClr val="accent4"/>
          </a:solidFill>
          <a:ln>
            <a:solidFill>
              <a:schemeClr val="bg1">
                <a:lumMod val="50000"/>
              </a:schemeClr>
            </a:solidFill>
          </a:ln>
        </p:spPr>
        <p:style>
          <a:lnRef idx="1">
            <a:schemeClr val="accent4"/>
          </a:lnRef>
          <a:fillRef idx="3">
            <a:schemeClr val="accent4"/>
          </a:fillRef>
          <a:effectRef idx="2">
            <a:schemeClr val="accent4"/>
          </a:effectRef>
          <a:fontRef idx="minor">
            <a:schemeClr val="lt1"/>
          </a:fontRef>
        </p:style>
        <p:txBody>
          <a:bodyPr rtlCol="0" anchor="ctr"/>
          <a:lstStyle/>
          <a:p>
            <a:pPr algn="ctr"/>
            <a:r>
              <a:rPr lang="ko-KR" altLang="en-US" sz="2400" b="1" dirty="0"/>
              <a:t>침해</a:t>
            </a:r>
          </a:p>
        </p:txBody>
      </p:sp>
      <p:sp>
        <p:nvSpPr>
          <p:cNvPr id="76" name="모서리가 둥근 직사각형 75"/>
          <p:cNvSpPr/>
          <p:nvPr/>
        </p:nvSpPr>
        <p:spPr>
          <a:xfrm>
            <a:off x="1667348" y="1709395"/>
            <a:ext cx="1517032" cy="272111"/>
          </a:xfrm>
          <a:prstGeom prst="roundRect">
            <a:avLst/>
          </a:prstGeom>
          <a:solidFill>
            <a:schemeClr val="accent1"/>
          </a:solid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ko-KR" altLang="en-US" sz="1200" dirty="0">
                <a:solidFill>
                  <a:schemeClr val="bg1"/>
                </a:solidFill>
              </a:rPr>
              <a:t>성립요건</a:t>
            </a:r>
          </a:p>
        </p:txBody>
      </p:sp>
      <p:sp>
        <p:nvSpPr>
          <p:cNvPr id="78" name="모서리가 둥근 직사각형 77"/>
          <p:cNvSpPr/>
          <p:nvPr/>
        </p:nvSpPr>
        <p:spPr>
          <a:xfrm>
            <a:off x="1667348" y="3023179"/>
            <a:ext cx="1517032" cy="272111"/>
          </a:xfrm>
          <a:prstGeom prst="roundRect">
            <a:avLst/>
          </a:prstGeom>
          <a:solidFill>
            <a:schemeClr val="accent2"/>
          </a:solidFill>
          <a:ln>
            <a:solidFill>
              <a:schemeClr val="bg1">
                <a:lumMod val="50000"/>
              </a:schemeClr>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ko-KR" altLang="en-US" sz="1200" dirty="0">
                <a:solidFill>
                  <a:schemeClr val="bg1"/>
                </a:solidFill>
              </a:rPr>
              <a:t>종류</a:t>
            </a:r>
          </a:p>
        </p:txBody>
      </p:sp>
      <p:sp>
        <p:nvSpPr>
          <p:cNvPr id="80" name="모서리가 둥근 직사각형 79"/>
          <p:cNvSpPr/>
          <p:nvPr/>
        </p:nvSpPr>
        <p:spPr>
          <a:xfrm>
            <a:off x="1667348" y="4233674"/>
            <a:ext cx="1517032" cy="272111"/>
          </a:xfrm>
          <a:prstGeom prst="roundRect">
            <a:avLst/>
          </a:prstGeom>
          <a:ln>
            <a:solidFill>
              <a:schemeClr val="bg1">
                <a:lumMod val="50000"/>
              </a:schemeClr>
            </a:solidFill>
          </a:ln>
        </p:spPr>
        <p:style>
          <a:lnRef idx="1">
            <a:schemeClr val="accent3"/>
          </a:lnRef>
          <a:fillRef idx="3">
            <a:schemeClr val="accent3"/>
          </a:fillRef>
          <a:effectRef idx="2">
            <a:schemeClr val="accent3"/>
          </a:effectRef>
          <a:fontRef idx="minor">
            <a:schemeClr val="lt1"/>
          </a:fontRef>
        </p:style>
        <p:txBody>
          <a:bodyPr rtlCol="0" anchor="ctr"/>
          <a:lstStyle/>
          <a:p>
            <a:pPr algn="ctr"/>
            <a:r>
              <a:rPr lang="ko-KR" altLang="en-US" sz="1200" dirty="0">
                <a:solidFill>
                  <a:schemeClr val="bg1"/>
                </a:solidFill>
              </a:rPr>
              <a:t>조치</a:t>
            </a:r>
          </a:p>
        </p:txBody>
      </p:sp>
      <p:sp>
        <p:nvSpPr>
          <p:cNvPr id="81" name="모서리가 둥근 직사각형 80"/>
          <p:cNvSpPr/>
          <p:nvPr/>
        </p:nvSpPr>
        <p:spPr>
          <a:xfrm>
            <a:off x="6067134" y="2324984"/>
            <a:ext cx="1277005"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직접침해</a:t>
            </a:r>
          </a:p>
        </p:txBody>
      </p:sp>
      <p:sp>
        <p:nvSpPr>
          <p:cNvPr id="83" name="모서리가 둥근 직사각형 82"/>
          <p:cNvSpPr/>
          <p:nvPr/>
        </p:nvSpPr>
        <p:spPr>
          <a:xfrm>
            <a:off x="6064700" y="3080298"/>
            <a:ext cx="1277005"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간접침해</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127)</a:t>
            </a:r>
            <a:endParaRPr lang="ko-KR" altLang="en-US" sz="1200" dirty="0">
              <a:solidFill>
                <a:schemeClr val="tx1">
                  <a:lumMod val="50000"/>
                  <a:lumOff val="50000"/>
                </a:schemeClr>
              </a:solidFill>
            </a:endParaRPr>
          </a:p>
        </p:txBody>
      </p:sp>
      <p:sp>
        <p:nvSpPr>
          <p:cNvPr id="84" name="모서리가 둥근 직사각형 83"/>
          <p:cNvSpPr/>
          <p:nvPr/>
        </p:nvSpPr>
        <p:spPr>
          <a:xfrm>
            <a:off x="3627137" y="4331160"/>
            <a:ext cx="907081"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민사</a:t>
            </a:r>
          </a:p>
        </p:txBody>
      </p:sp>
      <p:sp>
        <p:nvSpPr>
          <p:cNvPr id="86" name="모서리가 둥근 직사각형 85"/>
          <p:cNvSpPr/>
          <p:nvPr/>
        </p:nvSpPr>
        <p:spPr>
          <a:xfrm>
            <a:off x="3627137" y="5859249"/>
            <a:ext cx="907081"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형사</a:t>
            </a:r>
          </a:p>
        </p:txBody>
      </p:sp>
      <p:cxnSp>
        <p:nvCxnSpPr>
          <p:cNvPr id="88" name="꺾인 연결선 87"/>
          <p:cNvCxnSpPr>
            <a:stCxn id="74" idx="2"/>
            <a:endCxn id="80" idx="1"/>
          </p:cNvCxnSpPr>
          <p:nvPr/>
        </p:nvCxnSpPr>
        <p:spPr>
          <a:xfrm rot="16200000" flipH="1">
            <a:off x="-2610" y="2699772"/>
            <a:ext cx="2810820" cy="529096"/>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9" name="꺾인 연결선 88"/>
          <p:cNvCxnSpPr>
            <a:stCxn id="74" idx="2"/>
            <a:endCxn id="76" idx="1"/>
          </p:cNvCxnSpPr>
          <p:nvPr/>
        </p:nvCxnSpPr>
        <p:spPr>
          <a:xfrm rot="16200000" flipH="1">
            <a:off x="1259530" y="1437632"/>
            <a:ext cx="286541" cy="529096"/>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0" name="꺾인 연결선 89"/>
          <p:cNvCxnSpPr>
            <a:stCxn id="74" idx="2"/>
            <a:endCxn id="78" idx="1"/>
          </p:cNvCxnSpPr>
          <p:nvPr/>
        </p:nvCxnSpPr>
        <p:spPr>
          <a:xfrm rot="16200000" flipH="1">
            <a:off x="602638" y="2094524"/>
            <a:ext cx="1600325" cy="529096"/>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1" name="꺾인 연결선 90"/>
          <p:cNvCxnSpPr>
            <a:stCxn id="78" idx="3"/>
            <a:endCxn id="81" idx="1"/>
          </p:cNvCxnSpPr>
          <p:nvPr/>
        </p:nvCxnSpPr>
        <p:spPr>
          <a:xfrm flipV="1">
            <a:off x="3184380" y="2461040"/>
            <a:ext cx="2882754" cy="698195"/>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3" name="꺾인 연결선 92"/>
          <p:cNvCxnSpPr>
            <a:cxnSpLocks/>
            <a:stCxn id="78" idx="3"/>
            <a:endCxn id="83" idx="1"/>
          </p:cNvCxnSpPr>
          <p:nvPr/>
        </p:nvCxnSpPr>
        <p:spPr>
          <a:xfrm>
            <a:off x="3184380" y="3159235"/>
            <a:ext cx="2880320" cy="57119"/>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5" name="꺾인 연결선 94"/>
          <p:cNvCxnSpPr>
            <a:cxnSpLocks/>
            <a:endCxn id="84" idx="1"/>
          </p:cNvCxnSpPr>
          <p:nvPr/>
        </p:nvCxnSpPr>
        <p:spPr>
          <a:xfrm>
            <a:off x="3184380" y="4369730"/>
            <a:ext cx="442757" cy="97486"/>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7" name="꺾인 연결선 96"/>
          <p:cNvCxnSpPr>
            <a:cxnSpLocks/>
            <a:stCxn id="80" idx="3"/>
            <a:endCxn id="86" idx="1"/>
          </p:cNvCxnSpPr>
          <p:nvPr/>
        </p:nvCxnSpPr>
        <p:spPr>
          <a:xfrm>
            <a:off x="3184380" y="4369730"/>
            <a:ext cx="442757" cy="1625575"/>
          </a:xfrm>
          <a:prstGeom prst="bentConnector3">
            <a:avLst>
              <a:gd name="adj1" fmla="val 5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99" name="모서리가 둥근 직사각형 98"/>
          <p:cNvSpPr/>
          <p:nvPr/>
        </p:nvSpPr>
        <p:spPr>
          <a:xfrm>
            <a:off x="3654277" y="946784"/>
            <a:ext cx="4169915" cy="272111"/>
          </a:xfrm>
          <a:prstGeom prst="roundRect">
            <a:avLst/>
          </a:prstGeom>
          <a:solidFill>
            <a:schemeClr val="accent5">
              <a:lumMod val="20000"/>
              <a:lumOff val="80000"/>
            </a:schemeClr>
          </a:solidFill>
        </p:spPr>
        <p:style>
          <a:lnRef idx="1">
            <a:schemeClr val="accent5"/>
          </a:lnRef>
          <a:fillRef idx="3">
            <a:schemeClr val="accent5"/>
          </a:fillRef>
          <a:effectRef idx="2">
            <a:schemeClr val="accent5"/>
          </a:effectRef>
          <a:fontRef idx="minor">
            <a:schemeClr val="lt1"/>
          </a:fontRef>
        </p:style>
        <p:txBody>
          <a:bodyPr rtlCol="0" anchor="ctr"/>
          <a:lstStyle/>
          <a:p>
            <a:r>
              <a:rPr lang="en-US" altLang="ko-KR" sz="1200" dirty="0">
                <a:solidFill>
                  <a:schemeClr val="tx1">
                    <a:lumMod val="50000"/>
                    <a:lumOff val="50000"/>
                  </a:schemeClr>
                </a:solidFill>
              </a:rPr>
              <a:t>1. </a:t>
            </a:r>
            <a:r>
              <a:rPr lang="ko-KR" altLang="en-US" sz="1200" dirty="0">
                <a:solidFill>
                  <a:schemeClr val="tx1">
                    <a:lumMod val="50000"/>
                    <a:lumOff val="50000"/>
                  </a:schemeClr>
                </a:solidFill>
              </a:rPr>
              <a:t>특허권의 존속 중</a:t>
            </a:r>
          </a:p>
        </p:txBody>
      </p:sp>
      <p:sp>
        <p:nvSpPr>
          <p:cNvPr id="101" name="모서리가 둥근 직사각형 100"/>
          <p:cNvSpPr/>
          <p:nvPr/>
        </p:nvSpPr>
        <p:spPr>
          <a:xfrm>
            <a:off x="3654277" y="1254853"/>
            <a:ext cx="4169915" cy="272111"/>
          </a:xfrm>
          <a:prstGeom prst="roundRect">
            <a:avLst/>
          </a:prstGeom>
          <a:solidFill>
            <a:schemeClr val="accent5">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r>
              <a:rPr lang="en-US" altLang="ko-KR" sz="1200" dirty="0">
                <a:solidFill>
                  <a:schemeClr val="tx1">
                    <a:lumMod val="50000"/>
                    <a:lumOff val="50000"/>
                  </a:schemeClr>
                </a:solidFill>
              </a:rPr>
              <a:t>2. </a:t>
            </a:r>
            <a:r>
              <a:rPr lang="ko-KR" altLang="en-US" sz="1200" dirty="0">
                <a:solidFill>
                  <a:schemeClr val="tx1">
                    <a:lumMod val="50000"/>
                    <a:lumOff val="50000"/>
                  </a:schemeClr>
                </a:solidFill>
              </a:rPr>
              <a:t>정당한 권원이 없는 자</a:t>
            </a:r>
          </a:p>
        </p:txBody>
      </p:sp>
      <p:sp>
        <p:nvSpPr>
          <p:cNvPr id="103" name="모서리가 둥근 직사각형 102"/>
          <p:cNvSpPr/>
          <p:nvPr/>
        </p:nvSpPr>
        <p:spPr>
          <a:xfrm>
            <a:off x="3654277" y="1575716"/>
            <a:ext cx="4169915" cy="272111"/>
          </a:xfrm>
          <a:prstGeom prst="roundRect">
            <a:avLst/>
          </a:prstGeom>
          <a:solidFill>
            <a:schemeClr val="accent5">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r>
              <a:rPr lang="en-US" altLang="ko-KR" sz="1200" dirty="0">
                <a:solidFill>
                  <a:schemeClr val="tx1">
                    <a:lumMod val="50000"/>
                    <a:lumOff val="50000"/>
                  </a:schemeClr>
                </a:solidFill>
              </a:rPr>
              <a:t>3. </a:t>
            </a:r>
            <a:r>
              <a:rPr lang="ko-KR" altLang="en-US" sz="1200" dirty="0">
                <a:solidFill>
                  <a:schemeClr val="tx1">
                    <a:lumMod val="50000"/>
                    <a:lumOff val="50000"/>
                  </a:schemeClr>
                </a:solidFill>
              </a:rPr>
              <a:t>업으로서</a:t>
            </a:r>
          </a:p>
        </p:txBody>
      </p:sp>
      <p:sp>
        <p:nvSpPr>
          <p:cNvPr id="105" name="모서리가 둥근 직사각형 104"/>
          <p:cNvSpPr/>
          <p:nvPr/>
        </p:nvSpPr>
        <p:spPr>
          <a:xfrm>
            <a:off x="3654277" y="1884321"/>
            <a:ext cx="4169915" cy="272111"/>
          </a:xfrm>
          <a:prstGeom prst="roundRect">
            <a:avLst/>
          </a:prstGeom>
          <a:solidFill>
            <a:schemeClr val="accent5">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r>
              <a:rPr lang="en-US" altLang="ko-KR" sz="1200" dirty="0">
                <a:solidFill>
                  <a:schemeClr val="tx1">
                    <a:lumMod val="50000"/>
                    <a:lumOff val="50000"/>
                  </a:schemeClr>
                </a:solidFill>
              </a:rPr>
              <a:t>4. </a:t>
            </a:r>
            <a:r>
              <a:rPr lang="ko-KR" altLang="en-US" sz="1200" dirty="0">
                <a:solidFill>
                  <a:schemeClr val="tx1">
                    <a:lumMod val="50000"/>
                    <a:lumOff val="50000"/>
                  </a:schemeClr>
                </a:solidFill>
              </a:rPr>
              <a:t>특허발명의 </a:t>
            </a:r>
            <a:r>
              <a:rPr lang="ko-KR" altLang="en-US" sz="1200" dirty="0" err="1">
                <a:solidFill>
                  <a:schemeClr val="tx1">
                    <a:lumMod val="50000"/>
                    <a:lumOff val="50000"/>
                  </a:schemeClr>
                </a:solidFill>
              </a:rPr>
              <a:t>보호범위</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97)</a:t>
            </a:r>
            <a:r>
              <a:rPr lang="ko-KR" altLang="en-US" sz="1200" dirty="0">
                <a:solidFill>
                  <a:schemeClr val="tx1">
                    <a:lumMod val="50000"/>
                    <a:lumOff val="50000"/>
                  </a:schemeClr>
                </a:solidFill>
              </a:rPr>
              <a:t>에 속하는 발명을 실시</a:t>
            </a:r>
          </a:p>
        </p:txBody>
      </p:sp>
      <p:cxnSp>
        <p:nvCxnSpPr>
          <p:cNvPr id="107" name="꺾인 연결선 106"/>
          <p:cNvCxnSpPr>
            <a:stCxn id="76" idx="3"/>
            <a:endCxn id="99" idx="1"/>
          </p:cNvCxnSpPr>
          <p:nvPr/>
        </p:nvCxnSpPr>
        <p:spPr>
          <a:xfrm flipV="1">
            <a:off x="3184380" y="1082840"/>
            <a:ext cx="469897" cy="76261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꺾인 연결선 107"/>
          <p:cNvCxnSpPr>
            <a:stCxn id="76" idx="3"/>
            <a:endCxn id="105" idx="1"/>
          </p:cNvCxnSpPr>
          <p:nvPr/>
        </p:nvCxnSpPr>
        <p:spPr>
          <a:xfrm>
            <a:off x="3184380" y="1845451"/>
            <a:ext cx="469897" cy="1749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꺾인 연결선 110"/>
          <p:cNvCxnSpPr>
            <a:stCxn id="76" idx="3"/>
            <a:endCxn id="101" idx="1"/>
          </p:cNvCxnSpPr>
          <p:nvPr/>
        </p:nvCxnSpPr>
        <p:spPr>
          <a:xfrm flipV="1">
            <a:off x="3184380" y="1390909"/>
            <a:ext cx="469897" cy="45454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꺾인 연결선 112"/>
          <p:cNvCxnSpPr>
            <a:stCxn id="76" idx="3"/>
            <a:endCxn id="103" idx="1"/>
          </p:cNvCxnSpPr>
          <p:nvPr/>
        </p:nvCxnSpPr>
        <p:spPr>
          <a:xfrm flipV="1">
            <a:off x="3184380" y="1711772"/>
            <a:ext cx="469897" cy="13367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4" name="모서리가 둥근 직사각형 113"/>
          <p:cNvSpPr/>
          <p:nvPr/>
        </p:nvSpPr>
        <p:spPr>
          <a:xfrm>
            <a:off x="8619555" y="1070704"/>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문언침해</a:t>
            </a:r>
          </a:p>
        </p:txBody>
      </p:sp>
      <p:sp>
        <p:nvSpPr>
          <p:cNvPr id="116" name="모서리가 둥근 직사각형 115"/>
          <p:cNvSpPr/>
          <p:nvPr/>
        </p:nvSpPr>
        <p:spPr>
          <a:xfrm>
            <a:off x="8619555" y="1396113"/>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균등침해</a:t>
            </a:r>
          </a:p>
        </p:txBody>
      </p:sp>
      <p:sp>
        <p:nvSpPr>
          <p:cNvPr id="117" name="모서리가 둥근 직사각형 116"/>
          <p:cNvSpPr/>
          <p:nvPr/>
        </p:nvSpPr>
        <p:spPr>
          <a:xfrm>
            <a:off x="8619555" y="1721295"/>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b="1" dirty="0">
                <a:solidFill>
                  <a:schemeClr val="tx1">
                    <a:lumMod val="50000"/>
                    <a:lumOff val="50000"/>
                  </a:schemeClr>
                </a:solidFill>
              </a:rPr>
              <a:t>이용</a:t>
            </a:r>
            <a:r>
              <a:rPr lang="en-US" altLang="ko-KR" sz="1200" b="1" dirty="0">
                <a:solidFill>
                  <a:schemeClr val="tx1">
                    <a:lumMod val="50000"/>
                    <a:lumOff val="50000"/>
                  </a:schemeClr>
                </a:solidFill>
              </a:rPr>
              <a:t>/</a:t>
            </a:r>
            <a:r>
              <a:rPr lang="ko-KR" altLang="en-US" sz="1200" b="1" dirty="0">
                <a:solidFill>
                  <a:schemeClr val="tx1">
                    <a:lumMod val="50000"/>
                    <a:lumOff val="50000"/>
                  </a:schemeClr>
                </a:solidFill>
              </a:rPr>
              <a:t>저촉 침해</a:t>
            </a:r>
            <a:r>
              <a:rPr lang="en-US" altLang="ko-KR" sz="1200" b="1" dirty="0">
                <a:solidFill>
                  <a:schemeClr val="tx1">
                    <a:lumMod val="50000"/>
                    <a:lumOff val="50000"/>
                  </a:schemeClr>
                </a:solidFill>
              </a:rPr>
              <a:t>(</a:t>
            </a:r>
            <a:r>
              <a:rPr lang="ko-KR" altLang="en-US" sz="1200" b="1" dirty="0">
                <a:solidFill>
                  <a:schemeClr val="tx1">
                    <a:lumMod val="50000"/>
                    <a:lumOff val="50000"/>
                  </a:schemeClr>
                </a:solidFill>
              </a:rPr>
              <a:t>法 </a:t>
            </a:r>
            <a:r>
              <a:rPr lang="en-US" altLang="ko-KR" sz="1200" b="1" dirty="0">
                <a:solidFill>
                  <a:schemeClr val="tx1">
                    <a:lumMod val="50000"/>
                    <a:lumOff val="50000"/>
                  </a:schemeClr>
                </a:solidFill>
              </a:rPr>
              <a:t>98)</a:t>
            </a:r>
            <a:endParaRPr lang="ko-KR" altLang="en-US" sz="1200" b="1" dirty="0">
              <a:solidFill>
                <a:schemeClr val="tx1">
                  <a:lumMod val="50000"/>
                  <a:lumOff val="50000"/>
                </a:schemeClr>
              </a:solidFill>
            </a:endParaRPr>
          </a:p>
        </p:txBody>
      </p:sp>
      <p:sp>
        <p:nvSpPr>
          <p:cNvPr id="118" name="모서리가 둥근 직사각형 117"/>
          <p:cNvSpPr/>
          <p:nvPr/>
        </p:nvSpPr>
        <p:spPr>
          <a:xfrm>
            <a:off x="8619555" y="2047870"/>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생략</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불완전이용침해</a:t>
            </a:r>
          </a:p>
        </p:txBody>
      </p:sp>
      <p:sp>
        <p:nvSpPr>
          <p:cNvPr id="120" name="모서리가 둥근 직사각형 119"/>
          <p:cNvSpPr/>
          <p:nvPr/>
        </p:nvSpPr>
        <p:spPr>
          <a:xfrm>
            <a:off x="8619555" y="2373709"/>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선택침해</a:t>
            </a:r>
          </a:p>
        </p:txBody>
      </p:sp>
      <p:sp>
        <p:nvSpPr>
          <p:cNvPr id="122" name="모서리가 둥근 직사각형 121"/>
          <p:cNvSpPr/>
          <p:nvPr/>
        </p:nvSpPr>
        <p:spPr>
          <a:xfrm>
            <a:off x="8619555" y="2698891"/>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우회침해</a:t>
            </a:r>
          </a:p>
        </p:txBody>
      </p:sp>
      <p:sp>
        <p:nvSpPr>
          <p:cNvPr id="125" name="모서리가 둥근 직사각형 124"/>
          <p:cNvSpPr/>
          <p:nvPr/>
        </p:nvSpPr>
        <p:spPr>
          <a:xfrm>
            <a:off x="8619555" y="3070249"/>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물건의 특허발명침해</a:t>
            </a:r>
          </a:p>
        </p:txBody>
      </p:sp>
      <p:sp>
        <p:nvSpPr>
          <p:cNvPr id="126" name="모서리가 둥근 직사각형 125"/>
          <p:cNvSpPr/>
          <p:nvPr/>
        </p:nvSpPr>
        <p:spPr>
          <a:xfrm>
            <a:off x="8619555" y="3396825"/>
            <a:ext cx="2084957" cy="272111"/>
          </a:xfrm>
          <a:prstGeom prst="roundRect">
            <a:avLst/>
          </a:prstGeom>
          <a:solidFill>
            <a:schemeClr val="accent2">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방법의 특허발명침해</a:t>
            </a:r>
          </a:p>
        </p:txBody>
      </p:sp>
      <p:cxnSp>
        <p:nvCxnSpPr>
          <p:cNvPr id="128" name="꺾인 연결선 127"/>
          <p:cNvCxnSpPr>
            <a:stCxn id="81" idx="3"/>
            <a:endCxn id="118" idx="1"/>
          </p:cNvCxnSpPr>
          <p:nvPr/>
        </p:nvCxnSpPr>
        <p:spPr>
          <a:xfrm flipV="1">
            <a:off x="7344139" y="2183925"/>
            <a:ext cx="1275416" cy="27711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꺾인 연결선 128"/>
          <p:cNvCxnSpPr>
            <a:stCxn id="81" idx="3"/>
            <a:endCxn id="114" idx="1"/>
          </p:cNvCxnSpPr>
          <p:nvPr/>
        </p:nvCxnSpPr>
        <p:spPr>
          <a:xfrm flipV="1">
            <a:off x="7344139" y="1206759"/>
            <a:ext cx="1275416" cy="125428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꺾인 연결선 129"/>
          <p:cNvCxnSpPr>
            <a:stCxn id="81" idx="3"/>
            <a:endCxn id="116" idx="1"/>
          </p:cNvCxnSpPr>
          <p:nvPr/>
        </p:nvCxnSpPr>
        <p:spPr>
          <a:xfrm flipV="1">
            <a:off x="7344139" y="1532169"/>
            <a:ext cx="1275416" cy="92887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꺾인 연결선 130"/>
          <p:cNvCxnSpPr>
            <a:stCxn id="81" idx="3"/>
            <a:endCxn id="117" idx="1"/>
          </p:cNvCxnSpPr>
          <p:nvPr/>
        </p:nvCxnSpPr>
        <p:spPr>
          <a:xfrm flipV="1">
            <a:off x="7344139" y="1857351"/>
            <a:ext cx="1275416" cy="60368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81" idx="3"/>
            <a:endCxn id="120" idx="1"/>
          </p:cNvCxnSpPr>
          <p:nvPr/>
        </p:nvCxnSpPr>
        <p:spPr>
          <a:xfrm>
            <a:off x="7344139" y="2461040"/>
            <a:ext cx="1275416" cy="48725"/>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꺾인 연결선 132"/>
          <p:cNvCxnSpPr>
            <a:stCxn id="81" idx="3"/>
            <a:endCxn id="122" idx="1"/>
          </p:cNvCxnSpPr>
          <p:nvPr/>
        </p:nvCxnSpPr>
        <p:spPr>
          <a:xfrm>
            <a:off x="7344139" y="2461040"/>
            <a:ext cx="1275416" cy="37390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stCxn id="83" idx="3"/>
            <a:endCxn id="126" idx="1"/>
          </p:cNvCxnSpPr>
          <p:nvPr/>
        </p:nvCxnSpPr>
        <p:spPr>
          <a:xfrm>
            <a:off x="7341706" y="3216354"/>
            <a:ext cx="1277849" cy="31652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5" name="꺾인 연결선 134"/>
          <p:cNvCxnSpPr>
            <a:stCxn id="83" idx="3"/>
            <a:endCxn id="125" idx="1"/>
          </p:cNvCxnSpPr>
          <p:nvPr/>
        </p:nvCxnSpPr>
        <p:spPr>
          <a:xfrm flipV="1">
            <a:off x="7341706" y="3206305"/>
            <a:ext cx="1277849" cy="1004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6" name="모서리가 둥근 직사각형 135"/>
          <p:cNvSpPr/>
          <p:nvPr/>
        </p:nvSpPr>
        <p:spPr>
          <a:xfrm>
            <a:off x="5172699" y="3934346"/>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침해금지예방청구</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126)</a:t>
            </a:r>
            <a:endParaRPr lang="ko-KR" altLang="en-US" sz="1200" dirty="0">
              <a:solidFill>
                <a:schemeClr val="tx1">
                  <a:lumMod val="50000"/>
                  <a:lumOff val="50000"/>
                </a:schemeClr>
              </a:solidFill>
            </a:endParaRPr>
          </a:p>
        </p:txBody>
      </p:sp>
      <p:sp>
        <p:nvSpPr>
          <p:cNvPr id="137" name="모서리가 둥근 직사각형 136"/>
          <p:cNvSpPr/>
          <p:nvPr/>
        </p:nvSpPr>
        <p:spPr>
          <a:xfrm>
            <a:off x="5172699" y="4269803"/>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손해배상청구</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128)</a:t>
            </a:r>
            <a:endParaRPr lang="ko-KR" altLang="en-US" sz="1200" dirty="0">
              <a:solidFill>
                <a:schemeClr val="tx1">
                  <a:lumMod val="50000"/>
                  <a:lumOff val="50000"/>
                </a:schemeClr>
              </a:solidFill>
            </a:endParaRPr>
          </a:p>
        </p:txBody>
      </p:sp>
      <p:sp>
        <p:nvSpPr>
          <p:cNvPr id="138" name="모서리가 둥근 직사각형 137"/>
          <p:cNvSpPr/>
          <p:nvPr/>
        </p:nvSpPr>
        <p:spPr>
          <a:xfrm>
            <a:off x="5172699" y="4594985"/>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신용회복청구</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131)</a:t>
            </a:r>
            <a:endParaRPr lang="ko-KR" altLang="en-US" sz="1200" dirty="0">
              <a:solidFill>
                <a:schemeClr val="tx1">
                  <a:lumMod val="50000"/>
                  <a:lumOff val="50000"/>
                </a:schemeClr>
              </a:solidFill>
            </a:endParaRPr>
          </a:p>
        </p:txBody>
      </p:sp>
      <p:sp>
        <p:nvSpPr>
          <p:cNvPr id="139" name="모서리가 둥근 직사각형 138"/>
          <p:cNvSpPr/>
          <p:nvPr/>
        </p:nvSpPr>
        <p:spPr>
          <a:xfrm>
            <a:off x="5172699" y="4921560"/>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부당이득반환청구</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民法 </a:t>
            </a:r>
            <a:r>
              <a:rPr lang="en-US" altLang="ko-KR" sz="1200" dirty="0">
                <a:solidFill>
                  <a:schemeClr val="tx1">
                    <a:lumMod val="50000"/>
                    <a:lumOff val="50000"/>
                  </a:schemeClr>
                </a:solidFill>
              </a:rPr>
              <a:t>741)</a:t>
            </a:r>
            <a:endParaRPr lang="ko-KR" altLang="en-US" sz="1200" dirty="0">
              <a:solidFill>
                <a:schemeClr val="tx1">
                  <a:lumMod val="50000"/>
                  <a:lumOff val="50000"/>
                </a:schemeClr>
              </a:solidFill>
            </a:endParaRPr>
          </a:p>
        </p:txBody>
      </p:sp>
      <p:sp>
        <p:nvSpPr>
          <p:cNvPr id="140" name="모서리가 둥근 직사각형 139"/>
          <p:cNvSpPr/>
          <p:nvPr/>
        </p:nvSpPr>
        <p:spPr>
          <a:xfrm>
            <a:off x="5172699" y="5372023"/>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err="1">
                <a:solidFill>
                  <a:schemeClr val="tx1">
                    <a:lumMod val="50000"/>
                    <a:lumOff val="50000"/>
                  </a:schemeClr>
                </a:solidFill>
              </a:rPr>
              <a:t>침해죄</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225)</a:t>
            </a:r>
            <a:endParaRPr lang="ko-KR" altLang="en-US" sz="1200" dirty="0">
              <a:solidFill>
                <a:schemeClr val="tx1">
                  <a:lumMod val="50000"/>
                  <a:lumOff val="50000"/>
                </a:schemeClr>
              </a:solidFill>
            </a:endParaRPr>
          </a:p>
        </p:txBody>
      </p:sp>
      <p:sp>
        <p:nvSpPr>
          <p:cNvPr id="141" name="모서리가 둥근 직사각형 140"/>
          <p:cNvSpPr/>
          <p:nvPr/>
        </p:nvSpPr>
        <p:spPr>
          <a:xfrm>
            <a:off x="5172699" y="5697205"/>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몰수</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231)</a:t>
            </a:r>
            <a:endParaRPr lang="ko-KR" altLang="en-US" sz="1200" dirty="0">
              <a:solidFill>
                <a:schemeClr val="tx1">
                  <a:lumMod val="50000"/>
                  <a:lumOff val="50000"/>
                </a:schemeClr>
              </a:solidFill>
            </a:endParaRPr>
          </a:p>
        </p:txBody>
      </p:sp>
      <p:sp>
        <p:nvSpPr>
          <p:cNvPr id="142" name="모서리가 둥근 직사각형 141"/>
          <p:cNvSpPr/>
          <p:nvPr/>
        </p:nvSpPr>
        <p:spPr>
          <a:xfrm>
            <a:off x="5172699" y="6023780"/>
            <a:ext cx="2056239" cy="272111"/>
          </a:xfrm>
          <a:prstGeom prst="roundRect">
            <a:avLst/>
          </a:prstGeom>
          <a:solidFill>
            <a:schemeClr val="accent3">
              <a:lumMod val="60000"/>
              <a:lumOff val="4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err="1">
                <a:solidFill>
                  <a:schemeClr val="tx1">
                    <a:lumMod val="50000"/>
                    <a:lumOff val="50000"/>
                  </a:schemeClr>
                </a:solidFill>
              </a:rPr>
              <a:t>양벌규정</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230)</a:t>
            </a:r>
            <a:endParaRPr lang="ko-KR" altLang="en-US" sz="1200" dirty="0">
              <a:solidFill>
                <a:schemeClr val="tx1">
                  <a:lumMod val="50000"/>
                  <a:lumOff val="50000"/>
                </a:schemeClr>
              </a:solidFill>
            </a:endParaRPr>
          </a:p>
        </p:txBody>
      </p:sp>
      <p:cxnSp>
        <p:nvCxnSpPr>
          <p:cNvPr id="143" name="꺾인 연결선 142"/>
          <p:cNvCxnSpPr>
            <a:cxnSpLocks/>
            <a:stCxn id="84" idx="3"/>
            <a:endCxn id="136" idx="1"/>
          </p:cNvCxnSpPr>
          <p:nvPr/>
        </p:nvCxnSpPr>
        <p:spPr>
          <a:xfrm flipV="1">
            <a:off x="4534218" y="4070402"/>
            <a:ext cx="638481" cy="39681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꺾인 연결선 143"/>
          <p:cNvCxnSpPr>
            <a:cxnSpLocks/>
            <a:stCxn id="84" idx="3"/>
            <a:endCxn id="137" idx="1"/>
          </p:cNvCxnSpPr>
          <p:nvPr/>
        </p:nvCxnSpPr>
        <p:spPr>
          <a:xfrm flipV="1">
            <a:off x="4534218" y="4405859"/>
            <a:ext cx="638481" cy="6135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꺾인 연결선 144"/>
          <p:cNvCxnSpPr>
            <a:cxnSpLocks/>
            <a:stCxn id="84" idx="3"/>
            <a:endCxn id="138" idx="1"/>
          </p:cNvCxnSpPr>
          <p:nvPr/>
        </p:nvCxnSpPr>
        <p:spPr>
          <a:xfrm>
            <a:off x="4534218" y="4467216"/>
            <a:ext cx="638481" cy="2638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꺾인 연결선 145"/>
          <p:cNvCxnSpPr>
            <a:cxnSpLocks/>
            <a:stCxn id="84" idx="3"/>
            <a:endCxn id="139" idx="1"/>
          </p:cNvCxnSpPr>
          <p:nvPr/>
        </p:nvCxnSpPr>
        <p:spPr>
          <a:xfrm>
            <a:off x="4534218" y="4467216"/>
            <a:ext cx="638481" cy="5904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꺾인 연결선 146"/>
          <p:cNvCxnSpPr>
            <a:cxnSpLocks/>
            <a:stCxn id="86" idx="3"/>
            <a:endCxn id="140" idx="1"/>
          </p:cNvCxnSpPr>
          <p:nvPr/>
        </p:nvCxnSpPr>
        <p:spPr>
          <a:xfrm flipV="1">
            <a:off x="4534218" y="5508079"/>
            <a:ext cx="638481" cy="4872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꺾인 연결선 147"/>
          <p:cNvCxnSpPr>
            <a:cxnSpLocks/>
            <a:stCxn id="86" idx="3"/>
            <a:endCxn id="142" idx="1"/>
          </p:cNvCxnSpPr>
          <p:nvPr/>
        </p:nvCxnSpPr>
        <p:spPr>
          <a:xfrm>
            <a:off x="4534218" y="5995305"/>
            <a:ext cx="638481" cy="16453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꺾인 연결선 148"/>
          <p:cNvCxnSpPr>
            <a:cxnSpLocks/>
            <a:stCxn id="86" idx="3"/>
            <a:endCxn id="141" idx="1"/>
          </p:cNvCxnSpPr>
          <p:nvPr/>
        </p:nvCxnSpPr>
        <p:spPr>
          <a:xfrm flipV="1">
            <a:off x="4534218" y="5833261"/>
            <a:ext cx="638481" cy="16204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369</a:t>
            </a:r>
            <a:endParaRPr lang="ko-KR" altLang="en-US"/>
          </a:p>
        </p:txBody>
      </p:sp>
      <p:sp>
        <p:nvSpPr>
          <p:cNvPr id="59" name="모서리가 둥근 직사각형 117">
            <a:extLst>
              <a:ext uri="{FF2B5EF4-FFF2-40B4-BE49-F238E27FC236}">
                <a16:creationId xmlns:a16="http://schemas.microsoft.com/office/drawing/2014/main" id="{A7C0D2F8-2D16-40FF-9207-FAEA01805E94}"/>
              </a:ext>
            </a:extLst>
          </p:cNvPr>
          <p:cNvSpPr/>
          <p:nvPr/>
        </p:nvSpPr>
        <p:spPr>
          <a:xfrm>
            <a:off x="8205601" y="4320469"/>
            <a:ext cx="2826099"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손해액의 산정 등</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128②~⑨)</a:t>
            </a:r>
            <a:endParaRPr lang="ko-KR" altLang="en-US" sz="1200" dirty="0">
              <a:solidFill>
                <a:schemeClr val="tx1">
                  <a:lumMod val="50000"/>
                  <a:lumOff val="50000"/>
                </a:schemeClr>
              </a:solidFill>
            </a:endParaRPr>
          </a:p>
        </p:txBody>
      </p:sp>
      <p:sp>
        <p:nvSpPr>
          <p:cNvPr id="60" name="모서리가 둥근 직사각형 118">
            <a:extLst>
              <a:ext uri="{FF2B5EF4-FFF2-40B4-BE49-F238E27FC236}">
                <a16:creationId xmlns:a16="http://schemas.microsoft.com/office/drawing/2014/main" id="{70FDA9E5-B786-4B6C-98E1-AED074A5DCDF}"/>
              </a:ext>
            </a:extLst>
          </p:cNvPr>
          <p:cNvSpPr/>
          <p:nvPr/>
        </p:nvSpPr>
        <p:spPr>
          <a:xfrm>
            <a:off x="8205601" y="4768815"/>
            <a:ext cx="2826099"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감정사항 설명의무</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128</a:t>
            </a:r>
            <a:r>
              <a:rPr lang="ko-KR" altLang="en-US" sz="1200" dirty="0">
                <a:solidFill>
                  <a:schemeClr val="tx1">
                    <a:lumMod val="50000"/>
                    <a:lumOff val="50000"/>
                  </a:schemeClr>
                </a:solidFill>
              </a:rPr>
              <a:t>의</a:t>
            </a:r>
            <a:r>
              <a:rPr lang="en-US" altLang="ko-KR" sz="1200" dirty="0">
                <a:solidFill>
                  <a:schemeClr val="tx1">
                    <a:lumMod val="50000"/>
                    <a:lumOff val="50000"/>
                  </a:schemeClr>
                </a:solidFill>
              </a:rPr>
              <a:t>2)</a:t>
            </a:r>
            <a:endParaRPr lang="ko-KR" altLang="en-US" sz="1200" dirty="0">
              <a:solidFill>
                <a:schemeClr val="tx1">
                  <a:lumMod val="50000"/>
                  <a:lumOff val="50000"/>
                </a:schemeClr>
              </a:solidFill>
            </a:endParaRPr>
          </a:p>
        </p:txBody>
      </p:sp>
      <p:sp>
        <p:nvSpPr>
          <p:cNvPr id="61" name="모서리가 둥근 직사각형 119">
            <a:extLst>
              <a:ext uri="{FF2B5EF4-FFF2-40B4-BE49-F238E27FC236}">
                <a16:creationId xmlns:a16="http://schemas.microsoft.com/office/drawing/2014/main" id="{43B194C3-A0B0-4BAD-82C0-8339DBDFE361}"/>
              </a:ext>
            </a:extLst>
          </p:cNvPr>
          <p:cNvSpPr/>
          <p:nvPr/>
        </p:nvSpPr>
        <p:spPr>
          <a:xfrm>
            <a:off x="8205601" y="5173502"/>
            <a:ext cx="2826099"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생산방법의 추정</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129)</a:t>
            </a:r>
            <a:endParaRPr lang="ko-KR" altLang="en-US" sz="1200" dirty="0">
              <a:solidFill>
                <a:schemeClr val="tx1">
                  <a:lumMod val="50000"/>
                  <a:lumOff val="50000"/>
                </a:schemeClr>
              </a:solidFill>
            </a:endParaRPr>
          </a:p>
        </p:txBody>
      </p:sp>
      <p:sp>
        <p:nvSpPr>
          <p:cNvPr id="62" name="모서리가 둥근 직사각형 120">
            <a:extLst>
              <a:ext uri="{FF2B5EF4-FFF2-40B4-BE49-F238E27FC236}">
                <a16:creationId xmlns:a16="http://schemas.microsoft.com/office/drawing/2014/main" id="{4E95445D-DB21-4CA9-9620-6AD0973E6428}"/>
              </a:ext>
            </a:extLst>
          </p:cNvPr>
          <p:cNvSpPr/>
          <p:nvPr/>
        </p:nvSpPr>
        <p:spPr>
          <a:xfrm>
            <a:off x="8205601" y="5585188"/>
            <a:ext cx="2826099"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과실의 추정</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130)</a:t>
            </a:r>
            <a:endParaRPr lang="ko-KR" altLang="en-US" sz="1200" dirty="0">
              <a:solidFill>
                <a:schemeClr val="tx1">
                  <a:lumMod val="50000"/>
                  <a:lumOff val="50000"/>
                </a:schemeClr>
              </a:solidFill>
            </a:endParaRPr>
          </a:p>
        </p:txBody>
      </p:sp>
      <p:sp>
        <p:nvSpPr>
          <p:cNvPr id="63" name="모서리가 둥근 직사각형 121">
            <a:extLst>
              <a:ext uri="{FF2B5EF4-FFF2-40B4-BE49-F238E27FC236}">
                <a16:creationId xmlns:a16="http://schemas.microsoft.com/office/drawing/2014/main" id="{5CDFFE81-C39A-464A-AF0C-C9EB36056C3D}"/>
              </a:ext>
            </a:extLst>
          </p:cNvPr>
          <p:cNvSpPr/>
          <p:nvPr/>
        </p:nvSpPr>
        <p:spPr>
          <a:xfrm>
            <a:off x="8205601" y="5989875"/>
            <a:ext cx="2826099"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자료의 제출</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132)</a:t>
            </a:r>
            <a:endParaRPr lang="ko-KR" altLang="en-US" sz="1200" dirty="0">
              <a:solidFill>
                <a:schemeClr val="tx1">
                  <a:lumMod val="50000"/>
                  <a:lumOff val="50000"/>
                </a:schemeClr>
              </a:solidFill>
            </a:endParaRPr>
          </a:p>
        </p:txBody>
      </p:sp>
      <p:sp>
        <p:nvSpPr>
          <p:cNvPr id="64" name="왼쪽 화살표 86">
            <a:extLst>
              <a:ext uri="{FF2B5EF4-FFF2-40B4-BE49-F238E27FC236}">
                <a16:creationId xmlns:a16="http://schemas.microsoft.com/office/drawing/2014/main" id="{28837F56-61DF-4252-8079-4674A060977D}"/>
              </a:ext>
            </a:extLst>
          </p:cNvPr>
          <p:cNvSpPr/>
          <p:nvPr/>
        </p:nvSpPr>
        <p:spPr>
          <a:xfrm>
            <a:off x="7278223" y="4502539"/>
            <a:ext cx="765279" cy="1187679"/>
          </a:xfrm>
          <a:prstGeom prst="leftArrow">
            <a:avLst>
              <a:gd name="adj1" fmla="val 75663"/>
              <a:gd name="adj2" fmla="val 50000"/>
            </a:avLst>
          </a:prstGeom>
          <a:solidFill>
            <a:schemeClr val="accent2">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65" name="TextBox 64">
            <a:extLst>
              <a:ext uri="{FF2B5EF4-FFF2-40B4-BE49-F238E27FC236}">
                <a16:creationId xmlns:a16="http://schemas.microsoft.com/office/drawing/2014/main" id="{C2019628-027C-4B52-9DC4-5A7CC517296C}"/>
              </a:ext>
            </a:extLst>
          </p:cNvPr>
          <p:cNvSpPr txBox="1"/>
          <p:nvPr/>
        </p:nvSpPr>
        <p:spPr>
          <a:xfrm>
            <a:off x="7442562" y="4979732"/>
            <a:ext cx="498710" cy="276999"/>
          </a:xfrm>
          <a:prstGeom prst="rect">
            <a:avLst/>
          </a:prstGeom>
          <a:noFill/>
        </p:spPr>
        <p:txBody>
          <a:bodyPr wrap="none" rtlCol="0">
            <a:spAutoFit/>
          </a:bodyPr>
          <a:lstStyle/>
          <a:p>
            <a:r>
              <a:rPr lang="ko-KR" altLang="en-US" sz="1200" dirty="0"/>
              <a:t>실효성</a:t>
            </a:r>
          </a:p>
        </p:txBody>
      </p:sp>
      <p:sp>
        <p:nvSpPr>
          <p:cNvPr id="66" name="모서리가 둥근 직사각형 117">
            <a:extLst>
              <a:ext uri="{FF2B5EF4-FFF2-40B4-BE49-F238E27FC236}">
                <a16:creationId xmlns:a16="http://schemas.microsoft.com/office/drawing/2014/main" id="{C5A36FEC-CF2E-48BB-AAEF-07B3A1D7961B}"/>
              </a:ext>
            </a:extLst>
          </p:cNvPr>
          <p:cNvSpPr/>
          <p:nvPr/>
        </p:nvSpPr>
        <p:spPr>
          <a:xfrm>
            <a:off x="8205601" y="3774606"/>
            <a:ext cx="2826099" cy="41366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구체적인 행위의 </a:t>
            </a:r>
            <a:r>
              <a:rPr lang="ko-KR" altLang="en-US" sz="1200" dirty="0" err="1">
                <a:solidFill>
                  <a:schemeClr val="tx1">
                    <a:lumMod val="50000"/>
                    <a:lumOff val="50000"/>
                  </a:schemeClr>
                </a:solidFill>
              </a:rPr>
              <a:t>내용ㆍ방식ㆍ형태</a:t>
            </a:r>
            <a:r>
              <a:rPr lang="ko-KR" altLang="en-US" sz="1200" dirty="0">
                <a:solidFill>
                  <a:schemeClr val="tx1">
                    <a:lumMod val="50000"/>
                    <a:lumOff val="50000"/>
                  </a:schemeClr>
                </a:solidFill>
              </a:rPr>
              <a:t> </a:t>
            </a:r>
            <a:endParaRPr lang="en-US" altLang="ko-KR" sz="1200" dirty="0">
              <a:solidFill>
                <a:schemeClr val="tx1">
                  <a:lumMod val="50000"/>
                  <a:lumOff val="50000"/>
                </a:schemeClr>
              </a:solidFill>
            </a:endParaRPr>
          </a:p>
          <a:p>
            <a:pPr algn="ctr"/>
            <a:r>
              <a:rPr lang="ko-KR" altLang="en-US" sz="1200" dirty="0">
                <a:solidFill>
                  <a:schemeClr val="tx1">
                    <a:lumMod val="50000"/>
                    <a:lumOff val="50000"/>
                  </a:schemeClr>
                </a:solidFill>
              </a:rPr>
              <a:t>제시 의무</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126</a:t>
            </a:r>
            <a:r>
              <a:rPr lang="ko-KR" altLang="en-US" sz="1200" dirty="0">
                <a:solidFill>
                  <a:schemeClr val="tx1">
                    <a:lumMod val="50000"/>
                    <a:lumOff val="50000"/>
                  </a:schemeClr>
                </a:solidFill>
              </a:rPr>
              <a:t>의</a:t>
            </a:r>
            <a:r>
              <a:rPr lang="en-US" altLang="ko-KR" sz="1200" dirty="0">
                <a:solidFill>
                  <a:schemeClr val="tx1">
                    <a:lumMod val="50000"/>
                    <a:lumOff val="50000"/>
                  </a:schemeClr>
                </a:solidFill>
              </a:rPr>
              <a:t>2)</a:t>
            </a:r>
            <a:endParaRPr lang="ko-KR" altLang="en-US" sz="1200" dirty="0">
              <a:solidFill>
                <a:schemeClr val="tx1">
                  <a:lumMod val="50000"/>
                  <a:lumOff val="50000"/>
                </a:schemeClr>
              </a:solidFill>
            </a:endParaRPr>
          </a:p>
        </p:txBody>
      </p:sp>
    </p:spTree>
    <p:extLst>
      <p:ext uri="{BB962C8B-B14F-4D97-AF65-F5344CB8AC3E}">
        <p14:creationId xmlns:p14="http://schemas.microsoft.com/office/powerpoint/2010/main" val="2187915249"/>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r>
              <a:rPr lang="en-US" altLang="ko-KR" dirty="0"/>
              <a:t>, </a:t>
            </a:r>
            <a:r>
              <a:rPr lang="ko-KR" altLang="en-US" dirty="0"/>
              <a:t>제</a:t>
            </a:r>
            <a:r>
              <a:rPr lang="en-US" altLang="ko-KR" dirty="0"/>
              <a:t>98</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침해의 성립요건</a:t>
            </a:r>
          </a:p>
        </p:txBody>
      </p:sp>
      <p:sp>
        <p:nvSpPr>
          <p:cNvPr id="59" name="직사각형 58"/>
          <p:cNvSpPr/>
          <p:nvPr/>
        </p:nvSpPr>
        <p:spPr>
          <a:xfrm>
            <a:off x="3243693" y="1320577"/>
            <a:ext cx="5901928" cy="1051148"/>
          </a:xfrm>
          <a:prstGeom prst="rect">
            <a:avLst/>
          </a:prstGeom>
          <a:solidFill>
            <a:schemeClr val="bg1"/>
          </a:solidFill>
          <a:ln>
            <a:solidFill>
              <a:schemeClr val="bg1">
                <a:lumMod val="50000"/>
              </a:schemeClr>
            </a:solidFill>
          </a:ln>
        </p:spPr>
        <p:style>
          <a:lnRef idx="0">
            <a:schemeClr val="lt1">
              <a:hueOff val="0"/>
              <a:satOff val="0"/>
              <a:lumOff val="0"/>
              <a:alphaOff val="0"/>
            </a:schemeClr>
          </a:lnRef>
          <a:fillRef idx="3">
            <a:schemeClr val="accent6">
              <a:hueOff val="0"/>
              <a:satOff val="0"/>
              <a:lumOff val="0"/>
              <a:alphaOff val="0"/>
            </a:schemeClr>
          </a:fillRef>
          <a:effectRef idx="2">
            <a:schemeClr val="accent6">
              <a:hueOff val="0"/>
              <a:satOff val="0"/>
              <a:lumOff val="0"/>
              <a:alphaOff val="0"/>
            </a:schemeClr>
          </a:effectRef>
          <a:fontRef idx="minor">
            <a:schemeClr val="lt1"/>
          </a:fontRef>
        </p:style>
        <p:txBody>
          <a:bodyPr lIns="72000" tIns="17618" rIns="72000" bIns="17618" spcCol="1270" anchor="ctr"/>
          <a:lstStyle/>
          <a:p>
            <a:pPr marL="180975" indent="-180975" defTabSz="222250">
              <a:spcAft>
                <a:spcPct val="35000"/>
              </a:spcAft>
              <a:buFont typeface="Wingdings" pitchFamily="2" charset="2"/>
              <a:buChar char="§"/>
              <a:defRPr/>
            </a:pPr>
            <a:r>
              <a:rPr lang="ko-KR" altLang="en-US" sz="1200" b="0" dirty="0">
                <a:solidFill>
                  <a:schemeClr val="tx1"/>
                </a:solidFill>
                <a:latin typeface="+mn-ea"/>
              </a:rPr>
              <a:t>특허출원중의 실시 또는 </a:t>
            </a:r>
            <a:r>
              <a:rPr lang="ko-KR" altLang="en-US" sz="1200" dirty="0">
                <a:solidFill>
                  <a:schemeClr val="tx1"/>
                </a:solidFill>
                <a:latin typeface="+mn-ea"/>
              </a:rPr>
              <a:t>특허료의 불납</a:t>
            </a:r>
            <a:r>
              <a:rPr lang="en-US" altLang="ko-KR" sz="1200" dirty="0">
                <a:solidFill>
                  <a:schemeClr val="tx1"/>
                </a:solidFill>
                <a:latin typeface="+mn-ea"/>
              </a:rPr>
              <a:t>, </a:t>
            </a:r>
            <a:r>
              <a:rPr lang="ko-KR" altLang="en-US" sz="1200" b="0" dirty="0">
                <a:solidFill>
                  <a:schemeClr val="tx1"/>
                </a:solidFill>
                <a:latin typeface="+mn-ea"/>
              </a:rPr>
              <a:t>존속기간의 만료</a:t>
            </a:r>
            <a:r>
              <a:rPr lang="en-US" altLang="ko-KR" sz="1200" b="0" dirty="0">
                <a:solidFill>
                  <a:schemeClr val="tx1"/>
                </a:solidFill>
                <a:latin typeface="+mn-ea"/>
              </a:rPr>
              <a:t>, </a:t>
            </a:r>
            <a:r>
              <a:rPr lang="ko-KR" altLang="en-US" sz="1200" b="0" dirty="0">
                <a:solidFill>
                  <a:schemeClr val="tx1"/>
                </a:solidFill>
                <a:latin typeface="+mn-ea"/>
              </a:rPr>
              <a:t>특허권의 포기</a:t>
            </a:r>
            <a:r>
              <a:rPr lang="en-US" altLang="ko-KR" sz="1200" b="0" dirty="0">
                <a:solidFill>
                  <a:schemeClr val="tx1"/>
                </a:solidFill>
                <a:latin typeface="+mn-ea"/>
              </a:rPr>
              <a:t>, </a:t>
            </a:r>
            <a:r>
              <a:rPr lang="ko-KR" altLang="en-US" sz="1200" b="0" dirty="0">
                <a:solidFill>
                  <a:schemeClr val="tx1"/>
                </a:solidFill>
                <a:latin typeface="+mn-ea"/>
              </a:rPr>
              <a:t>상속인</a:t>
            </a:r>
            <a:r>
              <a:rPr lang="en-US" altLang="ko-KR" sz="1200" b="0" dirty="0">
                <a:solidFill>
                  <a:schemeClr val="tx1"/>
                </a:solidFill>
                <a:latin typeface="+mn-ea"/>
              </a:rPr>
              <a:t> </a:t>
            </a:r>
            <a:r>
              <a:rPr lang="ko-KR" altLang="en-US" sz="1200" b="0" dirty="0" err="1">
                <a:solidFill>
                  <a:schemeClr val="tx1"/>
                </a:solidFill>
                <a:latin typeface="+mn-ea"/>
              </a:rPr>
              <a:t>부존재</a:t>
            </a:r>
            <a:r>
              <a:rPr lang="ko-KR" altLang="en-US" sz="1200" b="0" dirty="0">
                <a:solidFill>
                  <a:schemeClr val="tx1"/>
                </a:solidFill>
                <a:latin typeface="+mn-ea"/>
              </a:rPr>
              <a:t> 등으로 인해 특허권의 소멸된 후의 실시는 특허권의 </a:t>
            </a:r>
            <a:r>
              <a:rPr lang="ko-KR" altLang="en-US" sz="1200" b="0" dirty="0" err="1">
                <a:solidFill>
                  <a:schemeClr val="tx1"/>
                </a:solidFill>
                <a:latin typeface="+mn-ea"/>
              </a:rPr>
              <a:t>비침해</a:t>
            </a:r>
            <a:endParaRPr lang="en-US" altLang="ko-KR" sz="1200" b="0" dirty="0">
              <a:solidFill>
                <a:schemeClr val="tx1"/>
              </a:solidFill>
              <a:latin typeface="+mn-ea"/>
            </a:endParaRPr>
          </a:p>
          <a:p>
            <a:pPr marL="180975" indent="-180975" defTabSz="222250">
              <a:spcAft>
                <a:spcPct val="35000"/>
              </a:spcAft>
              <a:buFont typeface="Wingdings" pitchFamily="2" charset="2"/>
              <a:buChar char="§"/>
              <a:defRPr/>
            </a:pPr>
            <a:r>
              <a:rPr lang="ko-KR" altLang="en-US" sz="1200" dirty="0">
                <a:solidFill>
                  <a:schemeClr val="tx1"/>
                </a:solidFill>
              </a:rPr>
              <a:t>일단 설정등록에 의하여 특허권이 발생한 이상 특허요건의 흠결이 있다고 할지라도 특허취소신청에 의한 취소결정이나 특허무효심판에 의한 </a:t>
            </a:r>
            <a:r>
              <a:rPr lang="ko-KR" altLang="en-US" sz="1200" dirty="0" err="1">
                <a:solidFill>
                  <a:schemeClr val="tx1"/>
                </a:solidFill>
              </a:rPr>
              <a:t>무효심결이</a:t>
            </a:r>
            <a:r>
              <a:rPr lang="ko-KR" altLang="en-US" sz="1200" dirty="0">
                <a:solidFill>
                  <a:schemeClr val="tx1"/>
                </a:solidFill>
              </a:rPr>
              <a:t> 확정되기 전까지는 특허권이 존속중인 것으로 간주 </a:t>
            </a:r>
          </a:p>
        </p:txBody>
      </p:sp>
      <p:sp>
        <p:nvSpPr>
          <p:cNvPr id="60" name="직사각형 59"/>
          <p:cNvSpPr/>
          <p:nvPr/>
        </p:nvSpPr>
        <p:spPr>
          <a:xfrm>
            <a:off x="3247250" y="2447042"/>
            <a:ext cx="5901928" cy="479750"/>
          </a:xfrm>
          <a:prstGeom prst="rect">
            <a:avLst/>
          </a:prstGeom>
          <a:solidFill>
            <a:schemeClr val="bg1"/>
          </a:solidFill>
          <a:ln>
            <a:solidFill>
              <a:schemeClr val="bg1">
                <a:lumMod val="50000"/>
              </a:schemeClr>
            </a:solidFill>
          </a:ln>
        </p:spPr>
        <p:style>
          <a:lnRef idx="0">
            <a:schemeClr val="lt1">
              <a:hueOff val="0"/>
              <a:satOff val="0"/>
              <a:lumOff val="0"/>
              <a:alphaOff val="0"/>
            </a:schemeClr>
          </a:lnRef>
          <a:fillRef idx="3">
            <a:schemeClr val="accent6">
              <a:hueOff val="0"/>
              <a:satOff val="0"/>
              <a:lumOff val="0"/>
              <a:alphaOff val="0"/>
            </a:schemeClr>
          </a:fillRef>
          <a:effectRef idx="2">
            <a:schemeClr val="accent6">
              <a:hueOff val="0"/>
              <a:satOff val="0"/>
              <a:lumOff val="0"/>
              <a:alphaOff val="0"/>
            </a:schemeClr>
          </a:effectRef>
          <a:fontRef idx="minor">
            <a:schemeClr val="lt1"/>
          </a:fontRef>
        </p:style>
        <p:txBody>
          <a:bodyPr lIns="72000" tIns="17618" rIns="72000" bIns="17618" spcCol="1270" anchor="ctr"/>
          <a:lstStyle/>
          <a:p>
            <a:pPr marL="180975" indent="-180975" defTabSz="222250">
              <a:spcAft>
                <a:spcPct val="35000"/>
              </a:spcAft>
              <a:buFont typeface="Wingdings" pitchFamily="2" charset="2"/>
              <a:buChar char="§"/>
              <a:defRPr/>
            </a:pPr>
            <a:r>
              <a:rPr lang="ko-KR" altLang="en-US" sz="1200" b="0" dirty="0" err="1">
                <a:solidFill>
                  <a:schemeClr val="tx1"/>
                </a:solidFill>
                <a:latin typeface="+mn-ea"/>
              </a:rPr>
              <a:t>실시권의</a:t>
            </a:r>
            <a:r>
              <a:rPr lang="ko-KR" altLang="en-US" sz="1200" b="0" dirty="0">
                <a:solidFill>
                  <a:schemeClr val="tx1"/>
                </a:solidFill>
                <a:latin typeface="+mn-ea"/>
              </a:rPr>
              <a:t> 존재</a:t>
            </a:r>
            <a:r>
              <a:rPr lang="en-US" altLang="ko-KR" sz="1200" b="0" dirty="0">
                <a:solidFill>
                  <a:schemeClr val="tx1"/>
                </a:solidFill>
                <a:latin typeface="+mn-ea"/>
              </a:rPr>
              <a:t>, </a:t>
            </a:r>
            <a:r>
              <a:rPr lang="ko-KR" altLang="en-US" sz="1200" b="0" dirty="0">
                <a:solidFill>
                  <a:schemeClr val="tx1"/>
                </a:solidFill>
                <a:latin typeface="+mn-ea"/>
              </a:rPr>
              <a:t>권리소진이 적용되는 경우 등 정당한 </a:t>
            </a:r>
            <a:r>
              <a:rPr lang="ko-KR" altLang="en-US" sz="1200" b="0" dirty="0" err="1">
                <a:solidFill>
                  <a:schemeClr val="tx1"/>
                </a:solidFill>
                <a:latin typeface="+mn-ea"/>
              </a:rPr>
              <a:t>권원이</a:t>
            </a:r>
            <a:r>
              <a:rPr lang="ko-KR" altLang="en-US" sz="1200" b="0" dirty="0">
                <a:solidFill>
                  <a:schemeClr val="tx1"/>
                </a:solidFill>
                <a:latin typeface="+mn-ea"/>
              </a:rPr>
              <a:t> 있기 때문에 </a:t>
            </a:r>
            <a:r>
              <a:rPr lang="ko-KR" altLang="en-US" sz="1200" b="0" dirty="0" err="1">
                <a:solidFill>
                  <a:schemeClr val="tx1"/>
                </a:solidFill>
                <a:latin typeface="+mn-ea"/>
              </a:rPr>
              <a:t>비침해</a:t>
            </a:r>
            <a:endParaRPr lang="ko-KR" altLang="en-US" sz="1200" b="0" dirty="0">
              <a:solidFill>
                <a:schemeClr val="tx1"/>
              </a:solidFill>
              <a:latin typeface="+mn-ea"/>
            </a:endParaRPr>
          </a:p>
        </p:txBody>
      </p:sp>
      <p:sp>
        <p:nvSpPr>
          <p:cNvPr id="61" name="직사각형 60"/>
          <p:cNvSpPr/>
          <p:nvPr/>
        </p:nvSpPr>
        <p:spPr>
          <a:xfrm>
            <a:off x="3247250" y="4629150"/>
            <a:ext cx="5901928" cy="544870"/>
          </a:xfrm>
          <a:prstGeom prst="rect">
            <a:avLst/>
          </a:prstGeom>
          <a:solidFill>
            <a:schemeClr val="bg1"/>
          </a:solidFill>
          <a:ln>
            <a:solidFill>
              <a:schemeClr val="bg1">
                <a:lumMod val="50000"/>
              </a:schemeClr>
            </a:solidFill>
          </a:ln>
        </p:spPr>
        <p:style>
          <a:lnRef idx="0">
            <a:schemeClr val="lt1">
              <a:hueOff val="0"/>
              <a:satOff val="0"/>
              <a:lumOff val="0"/>
              <a:alphaOff val="0"/>
            </a:schemeClr>
          </a:lnRef>
          <a:fillRef idx="3">
            <a:schemeClr val="accent6">
              <a:hueOff val="0"/>
              <a:satOff val="0"/>
              <a:lumOff val="0"/>
              <a:alphaOff val="0"/>
            </a:schemeClr>
          </a:fillRef>
          <a:effectRef idx="2">
            <a:schemeClr val="accent6">
              <a:hueOff val="0"/>
              <a:satOff val="0"/>
              <a:lumOff val="0"/>
              <a:alphaOff val="0"/>
            </a:schemeClr>
          </a:effectRef>
          <a:fontRef idx="minor">
            <a:schemeClr val="lt1"/>
          </a:fontRef>
        </p:style>
        <p:txBody>
          <a:bodyPr lIns="72000" tIns="17618" rIns="72000" bIns="17618" spcCol="1270" anchor="ctr"/>
          <a:lstStyle/>
          <a:p>
            <a:pPr marL="180975" indent="-180975" defTabSz="222250">
              <a:lnSpc>
                <a:spcPct val="90000"/>
              </a:lnSpc>
              <a:spcAft>
                <a:spcPct val="35000"/>
              </a:spcAft>
              <a:buFont typeface="Wingdings" pitchFamily="2" charset="2"/>
              <a:buChar char="§"/>
              <a:defRPr/>
            </a:pPr>
            <a:r>
              <a:rPr lang="ko-KR" altLang="en-US" sz="1200" b="0" dirty="0">
                <a:solidFill>
                  <a:schemeClr val="tx1"/>
                </a:solidFill>
                <a:latin typeface="+mn-ea"/>
              </a:rPr>
              <a:t>개인적</a:t>
            </a:r>
            <a:r>
              <a:rPr lang="en-US" altLang="ko-KR" sz="1200" b="0" dirty="0">
                <a:solidFill>
                  <a:schemeClr val="tx1"/>
                </a:solidFill>
                <a:latin typeface="+mn-ea"/>
              </a:rPr>
              <a:t>, </a:t>
            </a:r>
            <a:r>
              <a:rPr lang="ko-KR" altLang="en-US" sz="1200" b="0" dirty="0">
                <a:solidFill>
                  <a:schemeClr val="tx1"/>
                </a:solidFill>
                <a:latin typeface="+mn-ea"/>
              </a:rPr>
              <a:t>가정적 실시를 제외하고는 업으로서의 실시로 해석</a:t>
            </a:r>
            <a:endParaRPr lang="en-US" altLang="ko-KR" sz="1200" b="0" dirty="0">
              <a:solidFill>
                <a:schemeClr val="tx1"/>
              </a:solidFill>
              <a:latin typeface="+mn-ea"/>
            </a:endParaRPr>
          </a:p>
          <a:p>
            <a:pPr marL="180975" indent="-180975" defTabSz="222250">
              <a:lnSpc>
                <a:spcPct val="90000"/>
              </a:lnSpc>
              <a:spcAft>
                <a:spcPct val="35000"/>
              </a:spcAft>
              <a:buFont typeface="Wingdings" pitchFamily="2" charset="2"/>
              <a:buChar char="§"/>
              <a:defRPr/>
            </a:pPr>
            <a:r>
              <a:rPr lang="ko-KR" altLang="en-US" sz="1200" dirty="0">
                <a:solidFill>
                  <a:schemeClr val="tx1"/>
                </a:solidFill>
                <a:latin typeface="+mn-ea"/>
              </a:rPr>
              <a:t>실시행위의 독립성</a:t>
            </a:r>
            <a:endParaRPr lang="ko-KR" altLang="en-US" sz="1200" b="0" dirty="0">
              <a:solidFill>
                <a:schemeClr val="tx1"/>
              </a:solidFill>
              <a:latin typeface="+mn-ea"/>
            </a:endParaRPr>
          </a:p>
        </p:txBody>
      </p:sp>
      <p:sp>
        <p:nvSpPr>
          <p:cNvPr id="62" name="직사각형 61"/>
          <p:cNvSpPr/>
          <p:nvPr/>
        </p:nvSpPr>
        <p:spPr>
          <a:xfrm>
            <a:off x="3247250" y="2977786"/>
            <a:ext cx="5901928" cy="1565640"/>
          </a:xfrm>
          <a:prstGeom prst="rect">
            <a:avLst/>
          </a:prstGeom>
          <a:solidFill>
            <a:schemeClr val="bg1"/>
          </a:solidFill>
          <a:ln>
            <a:solidFill>
              <a:schemeClr val="bg1">
                <a:lumMod val="50000"/>
              </a:schemeClr>
            </a:solidFill>
          </a:ln>
        </p:spPr>
        <p:style>
          <a:lnRef idx="0">
            <a:schemeClr val="lt1">
              <a:hueOff val="0"/>
              <a:satOff val="0"/>
              <a:lumOff val="0"/>
              <a:alphaOff val="0"/>
            </a:schemeClr>
          </a:lnRef>
          <a:fillRef idx="3">
            <a:schemeClr val="accent6">
              <a:hueOff val="0"/>
              <a:satOff val="0"/>
              <a:lumOff val="0"/>
              <a:alphaOff val="0"/>
            </a:schemeClr>
          </a:fillRef>
          <a:effectRef idx="2">
            <a:schemeClr val="accent6">
              <a:hueOff val="0"/>
              <a:satOff val="0"/>
              <a:lumOff val="0"/>
              <a:alphaOff val="0"/>
            </a:schemeClr>
          </a:effectRef>
          <a:fontRef idx="minor">
            <a:schemeClr val="lt1"/>
          </a:fontRef>
        </p:style>
        <p:txBody>
          <a:bodyPr lIns="72000" tIns="17618" rIns="72000" bIns="17618" spcCol="1270" anchor="ctr"/>
          <a:lstStyle/>
          <a:p>
            <a:pPr marL="180975" indent="-180975" defTabSz="222250">
              <a:spcAft>
                <a:spcPct val="35000"/>
              </a:spcAft>
              <a:buFont typeface="Wingdings" pitchFamily="2" charset="2"/>
              <a:buChar char="§"/>
              <a:defRPr/>
            </a:pPr>
            <a:r>
              <a:rPr lang="ko-KR" altLang="en-US" sz="1200" b="0" dirty="0">
                <a:solidFill>
                  <a:schemeClr val="tx1"/>
                </a:solidFill>
                <a:latin typeface="+mn-ea"/>
              </a:rPr>
              <a:t>제</a:t>
            </a:r>
            <a:r>
              <a:rPr lang="en-US" altLang="ko-KR" sz="1200" b="0" dirty="0">
                <a:solidFill>
                  <a:schemeClr val="tx1"/>
                </a:solidFill>
                <a:latin typeface="+mn-ea"/>
              </a:rPr>
              <a:t>1</a:t>
            </a:r>
            <a:r>
              <a:rPr lang="ko-KR" altLang="en-US" sz="1200" b="0" dirty="0">
                <a:solidFill>
                  <a:schemeClr val="tx1"/>
                </a:solidFill>
                <a:latin typeface="+mn-ea"/>
              </a:rPr>
              <a:t>단계</a:t>
            </a:r>
            <a:r>
              <a:rPr lang="en-US" altLang="ko-KR" sz="1200" b="0" dirty="0">
                <a:solidFill>
                  <a:schemeClr val="tx1"/>
                </a:solidFill>
                <a:latin typeface="+mn-ea"/>
              </a:rPr>
              <a:t>: </a:t>
            </a:r>
            <a:r>
              <a:rPr lang="ko-KR" altLang="en-US" sz="1200" b="0" dirty="0">
                <a:solidFill>
                  <a:schemeClr val="tx1"/>
                </a:solidFill>
                <a:latin typeface="+mn-ea"/>
              </a:rPr>
              <a:t>특허발명의 특정 </a:t>
            </a:r>
            <a:r>
              <a:rPr lang="en-US" altLang="ko-KR" sz="1200" b="0" dirty="0">
                <a:solidFill>
                  <a:schemeClr val="tx1"/>
                </a:solidFill>
                <a:latin typeface="+mn-ea"/>
              </a:rPr>
              <a:t>- </a:t>
            </a:r>
            <a:r>
              <a:rPr lang="ko-KR" altLang="en-US" sz="1200" b="0" dirty="0">
                <a:solidFill>
                  <a:schemeClr val="tx1"/>
                </a:solidFill>
                <a:latin typeface="+mn-ea"/>
              </a:rPr>
              <a:t>청구범위 기준의 원칙</a:t>
            </a:r>
            <a:r>
              <a:rPr lang="en-US" altLang="ko-KR" sz="1200" b="0" dirty="0">
                <a:solidFill>
                  <a:schemeClr val="tx1"/>
                </a:solidFill>
                <a:latin typeface="+mn-ea"/>
              </a:rPr>
              <a:t>, </a:t>
            </a:r>
            <a:r>
              <a:rPr lang="ko-KR" altLang="en-US" sz="1200" b="0" dirty="0">
                <a:solidFill>
                  <a:schemeClr val="tx1"/>
                </a:solidFill>
                <a:latin typeface="+mn-ea"/>
              </a:rPr>
              <a:t>발명의 설명 참작의 원칙</a:t>
            </a:r>
            <a:r>
              <a:rPr lang="en-US" altLang="ko-KR" sz="1200" b="0" dirty="0">
                <a:solidFill>
                  <a:schemeClr val="tx1"/>
                </a:solidFill>
                <a:latin typeface="+mn-ea"/>
              </a:rPr>
              <a:t>, </a:t>
            </a:r>
            <a:r>
              <a:rPr lang="ko-KR" altLang="en-US" sz="1200" b="0" dirty="0">
                <a:solidFill>
                  <a:schemeClr val="tx1"/>
                </a:solidFill>
                <a:latin typeface="+mn-ea"/>
              </a:rPr>
              <a:t>공지기술참작의 원칙</a:t>
            </a:r>
            <a:r>
              <a:rPr lang="en-US" altLang="ko-KR" sz="1200" b="0" dirty="0">
                <a:solidFill>
                  <a:schemeClr val="tx1"/>
                </a:solidFill>
                <a:latin typeface="+mn-ea"/>
              </a:rPr>
              <a:t>, </a:t>
            </a:r>
            <a:r>
              <a:rPr lang="ko-KR" altLang="en-US" sz="1200" b="0" dirty="0">
                <a:solidFill>
                  <a:schemeClr val="tx1"/>
                </a:solidFill>
                <a:latin typeface="+mn-ea"/>
              </a:rPr>
              <a:t>출원경과참작의 원칙</a:t>
            </a:r>
            <a:r>
              <a:rPr lang="en-US" altLang="ko-KR" sz="1200" b="0" dirty="0">
                <a:solidFill>
                  <a:schemeClr val="tx1"/>
                </a:solidFill>
                <a:latin typeface="+mn-ea"/>
              </a:rPr>
              <a:t>, </a:t>
            </a:r>
            <a:r>
              <a:rPr lang="ko-KR" altLang="en-US" sz="1200" b="0" dirty="0">
                <a:solidFill>
                  <a:schemeClr val="tx1"/>
                </a:solidFill>
                <a:latin typeface="+mn-ea"/>
              </a:rPr>
              <a:t>특허권 하자 참작의 원칙</a:t>
            </a:r>
            <a:endParaRPr lang="en-US" altLang="ko-KR" sz="1200" b="0" dirty="0">
              <a:solidFill>
                <a:schemeClr val="tx1"/>
              </a:solidFill>
              <a:latin typeface="+mn-ea"/>
            </a:endParaRPr>
          </a:p>
          <a:p>
            <a:pPr marL="180975" indent="-180975" defTabSz="222250">
              <a:spcAft>
                <a:spcPct val="35000"/>
              </a:spcAft>
              <a:buFont typeface="Wingdings" pitchFamily="2" charset="2"/>
              <a:buChar char="§"/>
              <a:defRPr/>
            </a:pPr>
            <a:r>
              <a:rPr lang="ko-KR" altLang="en-US" sz="1200" b="0" dirty="0">
                <a:solidFill>
                  <a:srgbClr val="FF0000"/>
                </a:solidFill>
                <a:latin typeface="+mn-ea"/>
              </a:rPr>
              <a:t>제</a:t>
            </a:r>
            <a:r>
              <a:rPr lang="en-US" altLang="ko-KR" sz="1200" b="0" dirty="0">
                <a:solidFill>
                  <a:srgbClr val="FF0000"/>
                </a:solidFill>
                <a:latin typeface="+mn-ea"/>
              </a:rPr>
              <a:t>2</a:t>
            </a:r>
            <a:r>
              <a:rPr lang="ko-KR" altLang="en-US" sz="1200" b="0" dirty="0">
                <a:solidFill>
                  <a:srgbClr val="FF0000"/>
                </a:solidFill>
                <a:latin typeface="+mn-ea"/>
              </a:rPr>
              <a:t>단계</a:t>
            </a:r>
            <a:r>
              <a:rPr lang="en-US" altLang="ko-KR" sz="1200" b="0" dirty="0">
                <a:solidFill>
                  <a:srgbClr val="FF0000"/>
                </a:solidFill>
                <a:latin typeface="+mn-ea"/>
              </a:rPr>
              <a:t>: </a:t>
            </a:r>
            <a:r>
              <a:rPr lang="ko-KR" altLang="en-US" sz="1200" b="0" dirty="0">
                <a:solidFill>
                  <a:srgbClr val="FF0000"/>
                </a:solidFill>
                <a:latin typeface="+mn-ea"/>
              </a:rPr>
              <a:t>확인대상발명의 특정 </a:t>
            </a:r>
            <a:r>
              <a:rPr lang="en-US" altLang="ko-KR" sz="1200" b="0" dirty="0">
                <a:solidFill>
                  <a:srgbClr val="FF0000"/>
                </a:solidFill>
                <a:latin typeface="+mn-ea"/>
              </a:rPr>
              <a:t>– </a:t>
            </a:r>
            <a:r>
              <a:rPr lang="ko-KR" altLang="en-US" sz="1200" b="0" dirty="0">
                <a:solidFill>
                  <a:srgbClr val="FF0000"/>
                </a:solidFill>
                <a:latin typeface="+mn-ea"/>
              </a:rPr>
              <a:t>사회통념상 다른 것과 구별될 수 있을 정도로 특정</a:t>
            </a:r>
            <a:r>
              <a:rPr lang="en-US" altLang="ko-KR" sz="1200" b="0" dirty="0">
                <a:solidFill>
                  <a:srgbClr val="FF0000"/>
                </a:solidFill>
                <a:latin typeface="+mn-ea"/>
              </a:rPr>
              <a:t>(</a:t>
            </a:r>
            <a:r>
              <a:rPr lang="ko-KR" altLang="en-US" sz="1200" b="0" dirty="0">
                <a:solidFill>
                  <a:srgbClr val="FF0000"/>
                </a:solidFill>
                <a:latin typeface="+mn-ea"/>
              </a:rPr>
              <a:t>청구취지로서 특정</a:t>
            </a:r>
            <a:r>
              <a:rPr lang="en-US" altLang="ko-KR" sz="1200" b="0" dirty="0">
                <a:solidFill>
                  <a:srgbClr val="FF0000"/>
                </a:solidFill>
                <a:latin typeface="+mn-ea"/>
              </a:rPr>
              <a:t>) &amp; </a:t>
            </a:r>
            <a:r>
              <a:rPr lang="ko-KR" altLang="en-US" sz="1200" b="0" dirty="0">
                <a:solidFill>
                  <a:srgbClr val="FF0000"/>
                </a:solidFill>
                <a:latin typeface="+mn-ea"/>
              </a:rPr>
              <a:t>서로 대비할 수 있을 정도로 특정</a:t>
            </a:r>
            <a:r>
              <a:rPr lang="en-US" altLang="ko-KR" sz="1200" b="0" dirty="0">
                <a:solidFill>
                  <a:srgbClr val="FF0000"/>
                </a:solidFill>
                <a:latin typeface="+mn-ea"/>
              </a:rPr>
              <a:t>(</a:t>
            </a:r>
            <a:r>
              <a:rPr lang="ko-KR" altLang="en-US" sz="1200" b="0" dirty="0">
                <a:solidFill>
                  <a:srgbClr val="FF0000"/>
                </a:solidFill>
                <a:latin typeface="+mn-ea"/>
              </a:rPr>
              <a:t>청구원인으로서 특정</a:t>
            </a:r>
            <a:r>
              <a:rPr lang="en-US" altLang="ko-KR" sz="1200" b="0" dirty="0">
                <a:solidFill>
                  <a:srgbClr val="FF0000"/>
                </a:solidFill>
                <a:latin typeface="+mn-ea"/>
              </a:rPr>
              <a:t>)</a:t>
            </a:r>
          </a:p>
          <a:p>
            <a:pPr marL="180975" indent="-180975" defTabSz="222250">
              <a:spcAft>
                <a:spcPct val="35000"/>
              </a:spcAft>
              <a:buFont typeface="Wingdings" pitchFamily="2" charset="2"/>
              <a:buChar char="§"/>
              <a:defRPr/>
            </a:pPr>
            <a:r>
              <a:rPr lang="ko-KR" altLang="en-US" sz="1200" b="0" dirty="0">
                <a:solidFill>
                  <a:schemeClr val="tx1"/>
                </a:solidFill>
                <a:latin typeface="+mn-ea"/>
              </a:rPr>
              <a:t>제</a:t>
            </a:r>
            <a:r>
              <a:rPr lang="en-US" altLang="ko-KR" sz="1200" b="0" dirty="0">
                <a:solidFill>
                  <a:schemeClr val="tx1"/>
                </a:solidFill>
                <a:latin typeface="+mn-ea"/>
              </a:rPr>
              <a:t>3</a:t>
            </a:r>
            <a:r>
              <a:rPr lang="ko-KR" altLang="en-US" sz="1200" b="0" dirty="0">
                <a:solidFill>
                  <a:schemeClr val="tx1"/>
                </a:solidFill>
                <a:latin typeface="+mn-ea"/>
              </a:rPr>
              <a:t>단계</a:t>
            </a:r>
            <a:r>
              <a:rPr lang="en-US" altLang="ko-KR" sz="1200" b="0" dirty="0">
                <a:solidFill>
                  <a:schemeClr val="tx1"/>
                </a:solidFill>
                <a:latin typeface="+mn-ea"/>
              </a:rPr>
              <a:t>: </a:t>
            </a:r>
            <a:r>
              <a:rPr lang="ko-KR" altLang="en-US" sz="1200" b="0" dirty="0">
                <a:solidFill>
                  <a:schemeClr val="tx1"/>
                </a:solidFill>
                <a:latin typeface="+mn-ea"/>
              </a:rPr>
              <a:t>특허발명의 실시인지 판단 </a:t>
            </a:r>
            <a:r>
              <a:rPr lang="en-US" altLang="ko-KR" sz="1200" b="0" dirty="0">
                <a:solidFill>
                  <a:schemeClr val="tx1"/>
                </a:solidFill>
                <a:latin typeface="+mn-ea"/>
              </a:rPr>
              <a:t>- </a:t>
            </a:r>
            <a:r>
              <a:rPr lang="ko-KR" altLang="en-US" sz="1200" b="0" dirty="0">
                <a:solidFill>
                  <a:schemeClr val="tx1"/>
                </a:solidFill>
                <a:latin typeface="+mn-ea"/>
              </a:rPr>
              <a:t>구성요소완비의 원칙</a:t>
            </a:r>
            <a:r>
              <a:rPr lang="en-US" altLang="ko-KR" sz="1200" b="0" dirty="0">
                <a:solidFill>
                  <a:schemeClr val="tx1"/>
                </a:solidFill>
                <a:latin typeface="+mn-ea"/>
              </a:rPr>
              <a:t>(All Elements Rule)</a:t>
            </a:r>
            <a:r>
              <a:rPr lang="ko-KR" altLang="en-US" sz="1200" b="0" dirty="0">
                <a:solidFill>
                  <a:schemeClr val="tx1"/>
                </a:solidFill>
                <a:latin typeface="+mn-ea"/>
              </a:rPr>
              <a:t>과 균등론</a:t>
            </a:r>
            <a:r>
              <a:rPr lang="en-US" altLang="ko-KR" sz="1200" b="0" dirty="0">
                <a:solidFill>
                  <a:schemeClr val="tx1"/>
                </a:solidFill>
                <a:latin typeface="+mn-ea"/>
              </a:rPr>
              <a:t>(Doctrine of Equivalent)</a:t>
            </a:r>
            <a:r>
              <a:rPr lang="ko-KR" altLang="en-US" sz="1200" b="0" dirty="0">
                <a:solidFill>
                  <a:schemeClr val="tx1"/>
                </a:solidFill>
                <a:latin typeface="+mn-ea"/>
              </a:rPr>
              <a:t>을 적용</a:t>
            </a:r>
            <a:endParaRPr lang="en-US" altLang="ko-KR" sz="1200" b="0" dirty="0">
              <a:solidFill>
                <a:schemeClr val="tx1"/>
              </a:solidFill>
              <a:latin typeface="+mn-ea"/>
            </a:endParaRPr>
          </a:p>
          <a:p>
            <a:pPr marL="180975" indent="-180975" defTabSz="222250">
              <a:spcAft>
                <a:spcPct val="35000"/>
              </a:spcAft>
              <a:buFont typeface="Wingdings" pitchFamily="2" charset="2"/>
              <a:buChar char="§"/>
              <a:defRPr/>
            </a:pPr>
            <a:r>
              <a:rPr lang="ko-KR" altLang="en-US" sz="1200" b="0" dirty="0">
                <a:solidFill>
                  <a:schemeClr val="tx1"/>
                </a:solidFill>
                <a:latin typeface="+mn-ea"/>
              </a:rPr>
              <a:t>제</a:t>
            </a:r>
            <a:r>
              <a:rPr lang="en-US" altLang="ko-KR" sz="1200" b="0" dirty="0">
                <a:solidFill>
                  <a:schemeClr val="tx1"/>
                </a:solidFill>
                <a:latin typeface="+mn-ea"/>
              </a:rPr>
              <a:t>4</a:t>
            </a:r>
            <a:r>
              <a:rPr lang="ko-KR" altLang="en-US" sz="1200" b="0" dirty="0">
                <a:solidFill>
                  <a:schemeClr val="tx1"/>
                </a:solidFill>
                <a:latin typeface="+mn-ea"/>
              </a:rPr>
              <a:t>단계</a:t>
            </a:r>
            <a:r>
              <a:rPr lang="en-US" altLang="ko-KR" sz="1200" b="0" dirty="0">
                <a:solidFill>
                  <a:schemeClr val="tx1"/>
                </a:solidFill>
                <a:latin typeface="+mn-ea"/>
              </a:rPr>
              <a:t>: </a:t>
            </a:r>
            <a:r>
              <a:rPr lang="ko-KR" altLang="en-US" sz="1200" b="0" dirty="0">
                <a:solidFill>
                  <a:schemeClr val="tx1"/>
                </a:solidFill>
                <a:latin typeface="+mn-ea"/>
              </a:rPr>
              <a:t>법률의 제한</a:t>
            </a:r>
            <a:r>
              <a:rPr lang="en-US" altLang="ko-KR" sz="1200" b="0" dirty="0">
                <a:solidFill>
                  <a:schemeClr val="tx1"/>
                </a:solidFill>
                <a:latin typeface="+mn-ea"/>
              </a:rPr>
              <a:t>(</a:t>
            </a:r>
            <a:r>
              <a:rPr lang="ko-KR" altLang="en-US" sz="1200" b="0" dirty="0">
                <a:solidFill>
                  <a:schemeClr val="tx1"/>
                </a:solidFill>
                <a:latin typeface="+mn-ea"/>
              </a:rPr>
              <a:t>法 </a:t>
            </a:r>
            <a:r>
              <a:rPr lang="en-US" altLang="ko-KR" sz="1200" b="0" dirty="0">
                <a:solidFill>
                  <a:schemeClr val="tx1"/>
                </a:solidFill>
                <a:latin typeface="+mn-ea"/>
              </a:rPr>
              <a:t>81</a:t>
            </a:r>
            <a:r>
              <a:rPr lang="ko-KR" altLang="en-US" sz="1200" b="0" dirty="0">
                <a:solidFill>
                  <a:schemeClr val="tx1"/>
                </a:solidFill>
                <a:latin typeface="+mn-ea"/>
              </a:rPr>
              <a:t>의</a:t>
            </a:r>
            <a:r>
              <a:rPr lang="en-US" altLang="ko-KR" sz="1200" dirty="0">
                <a:solidFill>
                  <a:schemeClr val="tx1"/>
                </a:solidFill>
                <a:latin typeface="+mn-ea"/>
              </a:rPr>
              <a:t>3④, 96, 181), </a:t>
            </a:r>
            <a:r>
              <a:rPr lang="ko-KR" altLang="en-US" sz="1200" b="0" dirty="0">
                <a:solidFill>
                  <a:schemeClr val="tx1"/>
                </a:solidFill>
                <a:latin typeface="+mn-ea"/>
              </a:rPr>
              <a:t>확장</a:t>
            </a:r>
            <a:r>
              <a:rPr lang="en-US" altLang="ko-KR" sz="1200" b="0" dirty="0">
                <a:solidFill>
                  <a:schemeClr val="tx1"/>
                </a:solidFill>
                <a:latin typeface="+mn-ea"/>
              </a:rPr>
              <a:t>(</a:t>
            </a:r>
            <a:r>
              <a:rPr lang="ko-KR" altLang="en-US" sz="1200" b="0" dirty="0">
                <a:solidFill>
                  <a:schemeClr val="tx1"/>
                </a:solidFill>
                <a:latin typeface="+mn-ea"/>
              </a:rPr>
              <a:t>法 </a:t>
            </a:r>
            <a:r>
              <a:rPr lang="en-US" altLang="ko-KR" sz="1200" b="0" dirty="0">
                <a:solidFill>
                  <a:schemeClr val="tx1"/>
                </a:solidFill>
                <a:latin typeface="+mn-ea"/>
              </a:rPr>
              <a:t>127)</a:t>
            </a:r>
            <a:r>
              <a:rPr lang="ko-KR" altLang="en-US" sz="1200" b="0" dirty="0">
                <a:solidFill>
                  <a:schemeClr val="tx1"/>
                </a:solidFill>
                <a:latin typeface="+mn-ea"/>
              </a:rPr>
              <a:t>을 고려</a:t>
            </a:r>
            <a:endParaRPr lang="en-US" altLang="ko-KR" sz="1200" b="0" dirty="0">
              <a:solidFill>
                <a:schemeClr val="tx1"/>
              </a:solidFill>
              <a:latin typeface="+mn-ea"/>
            </a:endParaRPr>
          </a:p>
        </p:txBody>
      </p:sp>
      <p:sp>
        <p:nvSpPr>
          <p:cNvPr id="63" name="직사각형 62"/>
          <p:cNvSpPr/>
          <p:nvPr/>
        </p:nvSpPr>
        <p:spPr>
          <a:xfrm>
            <a:off x="1948233" y="1320577"/>
            <a:ext cx="1299015" cy="1051148"/>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400" dirty="0">
                <a:solidFill>
                  <a:schemeClr val="bg2">
                    <a:lumMod val="50000"/>
                  </a:schemeClr>
                </a:solidFill>
                <a:latin typeface="+mn-ea"/>
              </a:rPr>
              <a:t>특허권 존속 中</a:t>
            </a:r>
          </a:p>
        </p:txBody>
      </p:sp>
      <p:sp>
        <p:nvSpPr>
          <p:cNvPr id="64" name="직사각형 63"/>
          <p:cNvSpPr/>
          <p:nvPr/>
        </p:nvSpPr>
        <p:spPr>
          <a:xfrm>
            <a:off x="1961412" y="4630640"/>
            <a:ext cx="1285837" cy="543380"/>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400" dirty="0">
                <a:solidFill>
                  <a:schemeClr val="bg2">
                    <a:lumMod val="50000"/>
                  </a:schemeClr>
                </a:solidFill>
                <a:latin typeface="+mn-ea"/>
              </a:rPr>
              <a:t>업으로서 실시</a:t>
            </a:r>
          </a:p>
        </p:txBody>
      </p:sp>
      <p:sp>
        <p:nvSpPr>
          <p:cNvPr id="65" name="직사각형 64"/>
          <p:cNvSpPr/>
          <p:nvPr/>
        </p:nvSpPr>
        <p:spPr>
          <a:xfrm>
            <a:off x="1952625" y="2977786"/>
            <a:ext cx="1294624" cy="1565640"/>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400" dirty="0">
                <a:solidFill>
                  <a:schemeClr val="bg2">
                    <a:lumMod val="50000"/>
                  </a:schemeClr>
                </a:solidFill>
                <a:latin typeface="+mn-ea"/>
              </a:rPr>
              <a:t>특허발명의 </a:t>
            </a:r>
            <a:endParaRPr lang="en-US" altLang="ko-KR" sz="1400" dirty="0">
              <a:solidFill>
                <a:schemeClr val="bg2">
                  <a:lumMod val="50000"/>
                </a:schemeClr>
              </a:solidFill>
              <a:latin typeface="+mn-ea"/>
            </a:endParaRPr>
          </a:p>
          <a:p>
            <a:pPr algn="ctr" defTabSz="222250">
              <a:defRPr/>
            </a:pPr>
            <a:r>
              <a:rPr lang="ko-KR" altLang="en-US" sz="1400" dirty="0">
                <a:solidFill>
                  <a:schemeClr val="bg2">
                    <a:lumMod val="50000"/>
                  </a:schemeClr>
                </a:solidFill>
                <a:latin typeface="+mn-ea"/>
              </a:rPr>
              <a:t>보호범위에 </a:t>
            </a:r>
            <a:endParaRPr lang="en-US" altLang="ko-KR" sz="1400" dirty="0">
              <a:solidFill>
                <a:schemeClr val="bg2">
                  <a:lumMod val="50000"/>
                </a:schemeClr>
              </a:solidFill>
              <a:latin typeface="+mn-ea"/>
            </a:endParaRPr>
          </a:p>
          <a:p>
            <a:pPr algn="ctr" defTabSz="222250">
              <a:defRPr/>
            </a:pPr>
            <a:r>
              <a:rPr lang="ko-KR" altLang="en-US" sz="1400" dirty="0">
                <a:solidFill>
                  <a:schemeClr val="bg2">
                    <a:lumMod val="50000"/>
                  </a:schemeClr>
                </a:solidFill>
                <a:latin typeface="+mn-ea"/>
              </a:rPr>
              <a:t>속하는 발명 </a:t>
            </a:r>
            <a:endParaRPr lang="en-US" altLang="ko-KR" sz="1400" dirty="0">
              <a:solidFill>
                <a:schemeClr val="bg2">
                  <a:lumMod val="50000"/>
                </a:schemeClr>
              </a:solidFill>
              <a:latin typeface="+mn-ea"/>
            </a:endParaRPr>
          </a:p>
          <a:p>
            <a:pPr algn="ctr" defTabSz="222250">
              <a:defRPr/>
            </a:pPr>
            <a:endParaRPr lang="ko-KR" altLang="en-US" sz="1400" dirty="0">
              <a:solidFill>
                <a:schemeClr val="bg2">
                  <a:lumMod val="50000"/>
                </a:schemeClr>
              </a:solidFill>
              <a:latin typeface="+mn-ea"/>
            </a:endParaRPr>
          </a:p>
        </p:txBody>
      </p:sp>
      <p:sp>
        <p:nvSpPr>
          <p:cNvPr id="66" name="직사각형 65"/>
          <p:cNvSpPr/>
          <p:nvPr/>
        </p:nvSpPr>
        <p:spPr>
          <a:xfrm>
            <a:off x="1948233" y="2447042"/>
            <a:ext cx="1299015" cy="479749"/>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400" dirty="0">
                <a:solidFill>
                  <a:schemeClr val="bg2">
                    <a:lumMod val="50000"/>
                  </a:schemeClr>
                </a:solidFill>
                <a:latin typeface="+mn-ea"/>
              </a:rPr>
              <a:t>정당한 권원 </a:t>
            </a:r>
            <a:endParaRPr lang="en-US" altLang="ko-KR" sz="1400" dirty="0">
              <a:solidFill>
                <a:schemeClr val="bg2">
                  <a:lumMod val="50000"/>
                </a:schemeClr>
              </a:solidFill>
              <a:latin typeface="+mn-ea"/>
            </a:endParaRPr>
          </a:p>
          <a:p>
            <a:pPr algn="ctr" defTabSz="222250">
              <a:defRPr/>
            </a:pPr>
            <a:r>
              <a:rPr lang="ko-KR" altLang="en-US" sz="1400" dirty="0">
                <a:solidFill>
                  <a:schemeClr val="bg2">
                    <a:lumMod val="50000"/>
                  </a:schemeClr>
                </a:solidFill>
                <a:latin typeface="+mn-ea"/>
              </a:rPr>
              <a:t>없는 자</a:t>
            </a:r>
          </a:p>
        </p:txBody>
      </p:sp>
      <p:sp>
        <p:nvSpPr>
          <p:cNvPr id="67" name="직사각형 66"/>
          <p:cNvSpPr/>
          <p:nvPr/>
        </p:nvSpPr>
        <p:spPr>
          <a:xfrm>
            <a:off x="3247250" y="5242954"/>
            <a:ext cx="5901928" cy="619459"/>
          </a:xfrm>
          <a:prstGeom prst="rect">
            <a:avLst/>
          </a:prstGeom>
          <a:solidFill>
            <a:schemeClr val="bg1"/>
          </a:solidFill>
          <a:ln>
            <a:solidFill>
              <a:schemeClr val="bg1">
                <a:lumMod val="50000"/>
              </a:schemeClr>
            </a:solidFill>
          </a:ln>
        </p:spPr>
        <p:style>
          <a:lnRef idx="0">
            <a:schemeClr val="lt1">
              <a:hueOff val="0"/>
              <a:satOff val="0"/>
              <a:lumOff val="0"/>
              <a:alphaOff val="0"/>
            </a:schemeClr>
          </a:lnRef>
          <a:fillRef idx="3">
            <a:schemeClr val="accent6">
              <a:hueOff val="0"/>
              <a:satOff val="0"/>
              <a:lumOff val="0"/>
              <a:alphaOff val="0"/>
            </a:schemeClr>
          </a:fillRef>
          <a:effectRef idx="2">
            <a:schemeClr val="accent6">
              <a:hueOff val="0"/>
              <a:satOff val="0"/>
              <a:lumOff val="0"/>
              <a:alphaOff val="0"/>
            </a:schemeClr>
          </a:effectRef>
          <a:fontRef idx="minor">
            <a:schemeClr val="lt1"/>
          </a:fontRef>
        </p:style>
        <p:txBody>
          <a:bodyPr lIns="72000" tIns="17618" rIns="72000" bIns="17618" spcCol="1270" anchor="ctr"/>
          <a:lstStyle/>
          <a:p>
            <a:pPr marL="180975" indent="-180975" defTabSz="222250">
              <a:lnSpc>
                <a:spcPct val="90000"/>
              </a:lnSpc>
              <a:spcAft>
                <a:spcPct val="35000"/>
              </a:spcAft>
              <a:buFont typeface="Wingdings" pitchFamily="2" charset="2"/>
              <a:buChar char="§"/>
              <a:defRPr/>
            </a:pPr>
            <a:r>
              <a:rPr lang="ko-KR" altLang="en-US" sz="1200" b="0" dirty="0">
                <a:solidFill>
                  <a:schemeClr val="tx1"/>
                </a:solidFill>
                <a:latin typeface="+mn-ea"/>
              </a:rPr>
              <a:t>침해의 성립 자체에는 고의나 과실이 불요</a:t>
            </a:r>
            <a:r>
              <a:rPr lang="en-US" altLang="ko-KR" sz="1200" b="0" dirty="0">
                <a:solidFill>
                  <a:srgbClr val="FF0000"/>
                </a:solidFill>
                <a:latin typeface="+mn-ea"/>
              </a:rPr>
              <a:t>(</a:t>
            </a:r>
            <a:r>
              <a:rPr lang="ko-KR" altLang="en-US" sz="1200" b="0" dirty="0">
                <a:solidFill>
                  <a:srgbClr val="FF0000"/>
                </a:solidFill>
                <a:latin typeface="+mn-ea"/>
              </a:rPr>
              <a:t>단</a:t>
            </a:r>
            <a:r>
              <a:rPr lang="en-US" altLang="ko-KR" sz="1200" b="0" dirty="0">
                <a:solidFill>
                  <a:srgbClr val="FF0000"/>
                </a:solidFill>
                <a:latin typeface="+mn-ea"/>
              </a:rPr>
              <a:t>, </a:t>
            </a:r>
            <a:r>
              <a:rPr lang="ko-KR" altLang="en-US" sz="1200" dirty="0">
                <a:solidFill>
                  <a:srgbClr val="FF0000"/>
                </a:solidFill>
                <a:latin typeface="+mn-ea"/>
              </a:rPr>
              <a:t>방법의 사용을 청약하는 행위는 고의 필요</a:t>
            </a:r>
            <a:r>
              <a:rPr lang="en-US" altLang="ko-KR" sz="1200" dirty="0">
                <a:solidFill>
                  <a:srgbClr val="FF0000"/>
                </a:solidFill>
                <a:latin typeface="+mn-ea"/>
              </a:rPr>
              <a:t>)</a:t>
            </a:r>
            <a:endParaRPr lang="en-US" altLang="ko-KR" sz="1200" b="0" dirty="0">
              <a:solidFill>
                <a:srgbClr val="FF0000"/>
              </a:solidFill>
              <a:latin typeface="+mn-ea"/>
            </a:endParaRPr>
          </a:p>
          <a:p>
            <a:pPr marL="180975" indent="-180975" defTabSz="222250">
              <a:lnSpc>
                <a:spcPct val="90000"/>
              </a:lnSpc>
              <a:spcAft>
                <a:spcPct val="35000"/>
              </a:spcAft>
              <a:buFont typeface="Wingdings" pitchFamily="2" charset="2"/>
              <a:buChar char="§"/>
              <a:defRPr/>
            </a:pPr>
            <a:r>
              <a:rPr lang="ko-KR" altLang="en-US" sz="1200" dirty="0">
                <a:solidFill>
                  <a:schemeClr val="tx1"/>
                </a:solidFill>
                <a:latin typeface="+mn-ea"/>
              </a:rPr>
              <a:t>다만</a:t>
            </a:r>
            <a:r>
              <a:rPr lang="en-US" altLang="ko-KR" sz="1200" dirty="0">
                <a:solidFill>
                  <a:schemeClr val="tx1"/>
                </a:solidFill>
                <a:latin typeface="+mn-ea"/>
              </a:rPr>
              <a:t>, </a:t>
            </a:r>
            <a:r>
              <a:rPr lang="ko-KR" altLang="en-US" sz="1200" dirty="0">
                <a:solidFill>
                  <a:schemeClr val="tx1"/>
                </a:solidFill>
                <a:latin typeface="+mn-ea"/>
              </a:rPr>
              <a:t>고의나 과실이 있는 경우 민사상 손해배상</a:t>
            </a:r>
            <a:r>
              <a:rPr lang="en-US" altLang="ko-KR" sz="1200" dirty="0">
                <a:solidFill>
                  <a:schemeClr val="tx1"/>
                </a:solidFill>
                <a:latin typeface="+mn-ea"/>
              </a:rPr>
              <a:t>, </a:t>
            </a:r>
            <a:r>
              <a:rPr lang="ko-KR" altLang="en-US" sz="1200" dirty="0">
                <a:solidFill>
                  <a:schemeClr val="tx1"/>
                </a:solidFill>
                <a:latin typeface="+mn-ea"/>
              </a:rPr>
              <a:t>신용회복을</a:t>
            </a:r>
            <a:r>
              <a:rPr lang="en-US" altLang="ko-KR" sz="1200" dirty="0">
                <a:solidFill>
                  <a:schemeClr val="tx1"/>
                </a:solidFill>
                <a:latin typeface="+mn-ea"/>
              </a:rPr>
              <a:t>, </a:t>
            </a:r>
            <a:r>
              <a:rPr lang="ko-KR" altLang="en-US" sz="1200" dirty="0">
                <a:solidFill>
                  <a:schemeClr val="tx1"/>
                </a:solidFill>
                <a:latin typeface="+mn-ea"/>
              </a:rPr>
              <a:t>고의가 있는 경우 형사상 </a:t>
            </a:r>
            <a:r>
              <a:rPr lang="ko-KR" altLang="en-US" sz="1200" dirty="0" err="1">
                <a:solidFill>
                  <a:srgbClr val="FF0000"/>
                </a:solidFill>
                <a:latin typeface="+mn-ea"/>
              </a:rPr>
              <a:t>침해죄</a:t>
            </a:r>
            <a:r>
              <a:rPr lang="ko-KR" altLang="en-US" sz="1200" dirty="0">
                <a:solidFill>
                  <a:srgbClr val="FF0000"/>
                </a:solidFill>
                <a:latin typeface="+mn-ea"/>
              </a:rPr>
              <a:t> 적용가능</a:t>
            </a:r>
            <a:r>
              <a:rPr lang="en-US" altLang="ko-KR" sz="1200" dirty="0">
                <a:solidFill>
                  <a:srgbClr val="FF0000"/>
                </a:solidFill>
                <a:latin typeface="+mn-ea"/>
              </a:rPr>
              <a:t>(</a:t>
            </a:r>
            <a:r>
              <a:rPr lang="ko-KR" altLang="en-US" sz="1200" dirty="0" err="1">
                <a:solidFill>
                  <a:srgbClr val="FF0000"/>
                </a:solidFill>
                <a:latin typeface="+mn-ea"/>
              </a:rPr>
              <a:t>반의사불벌죄</a:t>
            </a:r>
            <a:r>
              <a:rPr lang="en-US" altLang="ko-KR" sz="1200" dirty="0">
                <a:solidFill>
                  <a:srgbClr val="FF0000"/>
                </a:solidFill>
                <a:latin typeface="+mn-ea"/>
              </a:rPr>
              <a:t>)</a:t>
            </a:r>
            <a:endParaRPr lang="ko-KR" altLang="en-US" sz="1200" b="0" dirty="0">
              <a:solidFill>
                <a:srgbClr val="FF0000"/>
              </a:solidFill>
              <a:latin typeface="+mn-ea"/>
            </a:endParaRPr>
          </a:p>
        </p:txBody>
      </p:sp>
      <p:sp>
        <p:nvSpPr>
          <p:cNvPr id="68" name="직사각형 67"/>
          <p:cNvSpPr/>
          <p:nvPr/>
        </p:nvSpPr>
        <p:spPr>
          <a:xfrm>
            <a:off x="1961412" y="5242954"/>
            <a:ext cx="1285837" cy="611594"/>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400" dirty="0">
                <a:solidFill>
                  <a:schemeClr val="bg2">
                    <a:lumMod val="50000"/>
                  </a:schemeClr>
                </a:solidFill>
                <a:latin typeface="+mn-ea"/>
              </a:rPr>
              <a:t>고의 또는 과실 </a:t>
            </a:r>
            <a:endParaRPr lang="en-US" altLang="ko-KR" sz="1400" dirty="0">
              <a:solidFill>
                <a:schemeClr val="bg2">
                  <a:lumMod val="50000"/>
                </a:schemeClr>
              </a:solidFill>
              <a:latin typeface="+mn-ea"/>
            </a:endParaRPr>
          </a:p>
          <a:p>
            <a:pPr algn="ctr" defTabSz="222250">
              <a:defRPr/>
            </a:pPr>
            <a:r>
              <a:rPr lang="ko-KR" altLang="en-US" sz="1400" dirty="0">
                <a:solidFill>
                  <a:schemeClr val="bg2">
                    <a:lumMod val="50000"/>
                  </a:schemeClr>
                </a:solidFill>
                <a:latin typeface="+mn-ea"/>
              </a:rPr>
              <a:t>不要</a:t>
            </a:r>
          </a:p>
        </p:txBody>
      </p:sp>
      <p:sp>
        <p:nvSpPr>
          <p:cNvPr id="2" name="TextBox 1"/>
          <p:cNvSpPr txBox="1"/>
          <p:nvPr/>
        </p:nvSpPr>
        <p:spPr>
          <a:xfrm>
            <a:off x="428625" y="3175672"/>
            <a:ext cx="1018227" cy="891503"/>
          </a:xfrm>
          <a:prstGeom prst="rect">
            <a:avLst/>
          </a:prstGeom>
          <a:solidFill>
            <a:schemeClr val="tx2"/>
          </a:solidFill>
          <a:ln>
            <a:solidFill>
              <a:schemeClr val="bg1">
                <a:lumMod val="50000"/>
              </a:schemeClr>
            </a:solidFill>
          </a:ln>
        </p:spPr>
        <p:txBody>
          <a:bodyPr wrap="square" rtlCol="0" anchor="ctr">
            <a:noAutofit/>
          </a:bodyPr>
          <a:lstStyle/>
          <a:p>
            <a:pPr algn="ctr"/>
            <a:r>
              <a:rPr lang="ko-KR" altLang="en-US" dirty="0">
                <a:solidFill>
                  <a:schemeClr val="accent4"/>
                </a:solidFill>
              </a:rPr>
              <a:t>침해</a:t>
            </a:r>
            <a:endParaRPr lang="en-US" altLang="ko-KR" dirty="0">
              <a:solidFill>
                <a:schemeClr val="accent4"/>
              </a:solidFill>
            </a:endParaRPr>
          </a:p>
          <a:p>
            <a:pPr algn="ctr"/>
            <a:r>
              <a:rPr lang="ko-KR" altLang="en-US" dirty="0">
                <a:solidFill>
                  <a:schemeClr val="accent4"/>
                </a:solidFill>
              </a:rPr>
              <a:t>성립요건</a:t>
            </a:r>
          </a:p>
        </p:txBody>
      </p:sp>
      <p:sp>
        <p:nvSpPr>
          <p:cNvPr id="5" name="직사각형 4"/>
          <p:cNvSpPr/>
          <p:nvPr/>
        </p:nvSpPr>
        <p:spPr>
          <a:xfrm>
            <a:off x="9458326" y="2979839"/>
            <a:ext cx="2409826" cy="738664"/>
          </a:xfrm>
          <a:prstGeom prst="rect">
            <a:avLst/>
          </a:prstGeom>
          <a:solidFill>
            <a:schemeClr val="accent4">
              <a:lumMod val="20000"/>
              <a:lumOff val="80000"/>
            </a:schemeClr>
          </a:solidFill>
          <a:ln>
            <a:solidFill>
              <a:schemeClr val="bg1">
                <a:lumMod val="50000"/>
              </a:schemeClr>
            </a:solidFill>
          </a:ln>
        </p:spPr>
        <p:txBody>
          <a:bodyPr wrap="square">
            <a:spAutoFit/>
          </a:bodyPr>
          <a:lstStyle/>
          <a:p>
            <a:pPr algn="ctr"/>
            <a:r>
              <a:rPr lang="ko-KR" altLang="en-US" sz="1400" dirty="0">
                <a:latin typeface="+mn-ea"/>
              </a:rPr>
              <a:t>특허발명의 실시이면서 법률의 제한에 해당하지 않은 경우</a:t>
            </a:r>
            <a:endParaRPr lang="en-US" altLang="ko-KR" sz="1400" dirty="0">
              <a:latin typeface="+mn-ea"/>
            </a:endParaRPr>
          </a:p>
          <a:p>
            <a:pPr algn="ctr"/>
            <a:r>
              <a:rPr lang="en-US" altLang="ko-KR" sz="1400" dirty="0">
                <a:solidFill>
                  <a:srgbClr val="FF0000"/>
                </a:solidFill>
                <a:latin typeface="+mn-ea"/>
              </a:rPr>
              <a:t>(</a:t>
            </a:r>
            <a:r>
              <a:rPr lang="ko-KR" altLang="en-US" sz="1400" dirty="0">
                <a:solidFill>
                  <a:srgbClr val="FF0000"/>
                </a:solidFill>
                <a:latin typeface="+mn-ea"/>
              </a:rPr>
              <a:t>직접침해</a:t>
            </a:r>
            <a:r>
              <a:rPr lang="en-US" altLang="ko-KR" sz="1400" dirty="0">
                <a:solidFill>
                  <a:srgbClr val="FF0000"/>
                </a:solidFill>
                <a:latin typeface="+mn-ea"/>
              </a:rPr>
              <a:t>)</a:t>
            </a:r>
            <a:endParaRPr lang="ko-KR" altLang="en-US" sz="1400" dirty="0">
              <a:solidFill>
                <a:srgbClr val="FF0000"/>
              </a:solidFill>
            </a:endParaRPr>
          </a:p>
        </p:txBody>
      </p:sp>
      <p:sp>
        <p:nvSpPr>
          <p:cNvPr id="6" name="직사각형 5"/>
          <p:cNvSpPr/>
          <p:nvPr/>
        </p:nvSpPr>
        <p:spPr>
          <a:xfrm>
            <a:off x="9458325" y="3813847"/>
            <a:ext cx="2409826" cy="738664"/>
          </a:xfrm>
          <a:prstGeom prst="rect">
            <a:avLst/>
          </a:prstGeom>
          <a:solidFill>
            <a:schemeClr val="accent4">
              <a:lumMod val="20000"/>
              <a:lumOff val="80000"/>
            </a:schemeClr>
          </a:solidFill>
          <a:ln>
            <a:solidFill>
              <a:schemeClr val="bg1">
                <a:lumMod val="50000"/>
              </a:schemeClr>
            </a:solidFill>
          </a:ln>
        </p:spPr>
        <p:txBody>
          <a:bodyPr wrap="square">
            <a:spAutoFit/>
          </a:bodyPr>
          <a:lstStyle/>
          <a:p>
            <a:pPr algn="ctr"/>
            <a:r>
              <a:rPr lang="ko-KR" altLang="en-US" sz="1400" dirty="0">
                <a:latin typeface="+mn-ea"/>
              </a:rPr>
              <a:t> 특허발명의 실시가 아니지만 법률의 확장에 해당하는 경우 </a:t>
            </a:r>
            <a:endParaRPr lang="en-US" altLang="ko-KR" sz="1400" dirty="0">
              <a:latin typeface="+mn-ea"/>
            </a:endParaRPr>
          </a:p>
          <a:p>
            <a:pPr algn="ctr"/>
            <a:r>
              <a:rPr lang="en-US" altLang="ko-KR" sz="1400" dirty="0">
                <a:solidFill>
                  <a:srgbClr val="FF0000"/>
                </a:solidFill>
                <a:latin typeface="+mn-ea"/>
              </a:rPr>
              <a:t>(</a:t>
            </a:r>
            <a:r>
              <a:rPr lang="ko-KR" altLang="en-US" sz="1400" dirty="0">
                <a:solidFill>
                  <a:srgbClr val="FF0000"/>
                </a:solidFill>
                <a:latin typeface="+mn-ea"/>
              </a:rPr>
              <a:t>간접침해</a:t>
            </a:r>
            <a:r>
              <a:rPr lang="en-US" altLang="ko-KR" sz="1400" dirty="0">
                <a:solidFill>
                  <a:srgbClr val="FF0000"/>
                </a:solidFill>
                <a:latin typeface="+mn-ea"/>
              </a:rPr>
              <a:t>)</a:t>
            </a:r>
            <a:endParaRPr lang="ko-KR" altLang="en-US" sz="1400" dirty="0">
              <a:solidFill>
                <a:srgbClr val="FF0000"/>
              </a:solidFill>
            </a:endParaRPr>
          </a:p>
        </p:txBody>
      </p:sp>
      <p:cxnSp>
        <p:nvCxnSpPr>
          <p:cNvPr id="8" name="꺾인 연결선 7"/>
          <p:cNvCxnSpPr>
            <a:stCxn id="2" idx="3"/>
            <a:endCxn id="63" idx="1"/>
          </p:cNvCxnSpPr>
          <p:nvPr/>
        </p:nvCxnSpPr>
        <p:spPr>
          <a:xfrm flipV="1">
            <a:off x="1446852" y="1846151"/>
            <a:ext cx="501381" cy="177527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꺾인 연결선 9"/>
          <p:cNvCxnSpPr>
            <a:stCxn id="2" idx="3"/>
            <a:endCxn id="68" idx="1"/>
          </p:cNvCxnSpPr>
          <p:nvPr/>
        </p:nvCxnSpPr>
        <p:spPr>
          <a:xfrm>
            <a:off x="1446852" y="3621424"/>
            <a:ext cx="514560" cy="192732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꺾인 연결선 11"/>
          <p:cNvCxnSpPr>
            <a:stCxn id="2" idx="3"/>
            <a:endCxn id="66" idx="1"/>
          </p:cNvCxnSpPr>
          <p:nvPr/>
        </p:nvCxnSpPr>
        <p:spPr>
          <a:xfrm flipV="1">
            <a:off x="1446852" y="2686917"/>
            <a:ext cx="501381" cy="93450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꺾인 연결선 13"/>
          <p:cNvCxnSpPr>
            <a:stCxn id="2" idx="3"/>
            <a:endCxn id="65" idx="1"/>
          </p:cNvCxnSpPr>
          <p:nvPr/>
        </p:nvCxnSpPr>
        <p:spPr>
          <a:xfrm>
            <a:off x="1446852" y="3621424"/>
            <a:ext cx="505773" cy="13918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꺾인 연결선 15"/>
          <p:cNvCxnSpPr>
            <a:stCxn id="2" idx="3"/>
            <a:endCxn id="64" idx="1"/>
          </p:cNvCxnSpPr>
          <p:nvPr/>
        </p:nvCxnSpPr>
        <p:spPr>
          <a:xfrm>
            <a:off x="1446852" y="3621424"/>
            <a:ext cx="514560" cy="128090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꺾인 연결선 17"/>
          <p:cNvCxnSpPr>
            <a:stCxn id="62" idx="3"/>
            <a:endCxn id="5" idx="1"/>
          </p:cNvCxnSpPr>
          <p:nvPr/>
        </p:nvCxnSpPr>
        <p:spPr>
          <a:xfrm flipV="1">
            <a:off x="9149178" y="3349171"/>
            <a:ext cx="309148" cy="41143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stCxn id="62" idx="3"/>
            <a:endCxn id="6" idx="1"/>
          </p:cNvCxnSpPr>
          <p:nvPr/>
        </p:nvCxnSpPr>
        <p:spPr>
          <a:xfrm>
            <a:off x="9149178" y="3760606"/>
            <a:ext cx="309147" cy="42257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슬라이드 번호 개체 틀 6"/>
          <p:cNvSpPr>
            <a:spLocks noGrp="1"/>
          </p:cNvSpPr>
          <p:nvPr>
            <p:ph type="sldNum" sz="quarter" idx="12"/>
          </p:nvPr>
        </p:nvSpPr>
        <p:spPr/>
        <p:txBody>
          <a:bodyPr/>
          <a:lstStyle/>
          <a:p>
            <a:r>
              <a:rPr lang="en-US" altLang="ko-KR"/>
              <a:t>370</a:t>
            </a:r>
            <a:endParaRPr lang="ko-KR" altLang="en-US"/>
          </a:p>
        </p:txBody>
      </p:sp>
    </p:spTree>
    <p:extLst>
      <p:ext uri="{BB962C8B-B14F-4D97-AF65-F5344CB8AC3E}">
        <p14:creationId xmlns:p14="http://schemas.microsoft.com/office/powerpoint/2010/main" val="1660921565"/>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직사각형 72"/>
          <p:cNvSpPr/>
          <p:nvPr/>
        </p:nvSpPr>
        <p:spPr bwMode="auto">
          <a:xfrm>
            <a:off x="5597089" y="1004342"/>
            <a:ext cx="6355562" cy="1595983"/>
          </a:xfrm>
          <a:prstGeom prst="rect">
            <a:avLst/>
          </a:prstGeom>
          <a:solidFill>
            <a:schemeClr val="accent5">
              <a:lumMod val="20000"/>
              <a:lumOff val="80000"/>
            </a:schemeClr>
          </a:solidFill>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180000" rtlCol="0" anchor="ctr"/>
          <a:lstStyle/>
          <a:p>
            <a:endParaRPr lang="ko-KR" altLang="en-US" sz="1400" dirty="0">
              <a:latin typeface="+mn-ea"/>
            </a:endParaRPr>
          </a:p>
        </p:txBody>
      </p:sp>
      <p:sp>
        <p:nvSpPr>
          <p:cNvPr id="2" name="제목 1"/>
          <p:cNvSpPr>
            <a:spLocks noGrp="1"/>
          </p:cNvSpPr>
          <p:nvPr>
            <p:ph type="title"/>
          </p:nvPr>
        </p:nvSpPr>
        <p:spPr/>
        <p:txBody>
          <a:bodyPr/>
          <a:lstStyle/>
          <a:p>
            <a:r>
              <a:rPr lang="ko-KR" altLang="en-US" dirty="0"/>
              <a:t>제</a:t>
            </a:r>
            <a:r>
              <a:rPr lang="en-US" altLang="ko-KR" dirty="0"/>
              <a:t>97</a:t>
            </a:r>
            <a:r>
              <a:rPr lang="ko-KR" altLang="en-US" dirty="0"/>
              <a:t>조</a:t>
            </a:r>
            <a:r>
              <a:rPr lang="en-US" altLang="ko-KR" dirty="0"/>
              <a:t>, </a:t>
            </a:r>
            <a:r>
              <a:rPr lang="ko-KR" altLang="en-US" dirty="0"/>
              <a:t>제</a:t>
            </a:r>
            <a:r>
              <a:rPr lang="en-US" altLang="ko-KR" dirty="0"/>
              <a:t>98</a:t>
            </a:r>
            <a:r>
              <a:rPr lang="ko-KR" altLang="en-US" dirty="0"/>
              <a:t>조</a:t>
            </a:r>
          </a:p>
        </p:txBody>
      </p:sp>
      <p:sp>
        <p:nvSpPr>
          <p:cNvPr id="3" name="텍스트 개체 틀 2"/>
          <p:cNvSpPr>
            <a:spLocks noGrp="1"/>
          </p:cNvSpPr>
          <p:nvPr>
            <p:ph type="body" sz="quarter" idx="13"/>
          </p:nvPr>
        </p:nvSpPr>
        <p:spPr/>
        <p:txBody>
          <a:bodyPr/>
          <a:lstStyle/>
          <a:p>
            <a:r>
              <a:rPr lang="ko-KR" altLang="en-US" dirty="0"/>
              <a:t>특허권 존속 中</a:t>
            </a:r>
          </a:p>
        </p:txBody>
      </p:sp>
      <p:sp>
        <p:nvSpPr>
          <p:cNvPr id="4" name="슬라이드 번호 개체 틀 3"/>
          <p:cNvSpPr>
            <a:spLocks noGrp="1"/>
          </p:cNvSpPr>
          <p:nvPr>
            <p:ph type="sldNum" sz="quarter" idx="4294967295"/>
          </p:nvPr>
        </p:nvSpPr>
        <p:spPr>
          <a:xfrm>
            <a:off x="11125200" y="0"/>
            <a:ext cx="1066800" cy="744538"/>
          </a:xfrm>
        </p:spPr>
        <p:txBody>
          <a:bodyPr/>
          <a:lstStyle/>
          <a:p>
            <a:r>
              <a:rPr lang="en-US" altLang="ko-KR"/>
              <a:t>371</a:t>
            </a:r>
            <a:endParaRPr lang="ko-KR" altLang="en-US"/>
          </a:p>
        </p:txBody>
      </p:sp>
      <p:sp>
        <p:nvSpPr>
          <p:cNvPr id="14" name="직사각형 13"/>
          <p:cNvSpPr/>
          <p:nvPr/>
        </p:nvSpPr>
        <p:spPr bwMode="auto">
          <a:xfrm>
            <a:off x="2360229" y="1004342"/>
            <a:ext cx="3124683" cy="1595983"/>
          </a:xfrm>
          <a:prstGeom prst="rect">
            <a:avLst/>
          </a:prstGeom>
          <a:solidFill>
            <a:schemeClr val="accent5">
              <a:lumMod val="20000"/>
              <a:lumOff val="80000"/>
            </a:schemeClr>
          </a:solidFill>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180000" rtlCol="0" anchor="ctr"/>
          <a:lstStyle/>
          <a:p>
            <a:endParaRPr lang="ko-KR" altLang="en-US" sz="1400" dirty="0">
              <a:latin typeface="+mn-ea"/>
            </a:endParaRPr>
          </a:p>
        </p:txBody>
      </p:sp>
      <p:sp>
        <p:nvSpPr>
          <p:cNvPr id="15" name="TextBox 14"/>
          <p:cNvSpPr txBox="1"/>
          <p:nvPr/>
        </p:nvSpPr>
        <p:spPr>
          <a:xfrm>
            <a:off x="2451002" y="1047037"/>
            <a:ext cx="1771639" cy="369332"/>
          </a:xfrm>
          <a:prstGeom prst="rect">
            <a:avLst/>
          </a:prstGeom>
          <a:noFill/>
        </p:spPr>
        <p:txBody>
          <a:bodyPr wrap="none" rtlCol="0">
            <a:spAutoFit/>
          </a:bodyPr>
          <a:lstStyle/>
          <a:p>
            <a:r>
              <a:rPr lang="ko-KR" altLang="en-US"/>
              <a:t>장래를 향해 소멸</a:t>
            </a:r>
          </a:p>
        </p:txBody>
      </p:sp>
      <p:sp>
        <p:nvSpPr>
          <p:cNvPr id="16" name="TextBox 15"/>
          <p:cNvSpPr txBox="1"/>
          <p:nvPr/>
        </p:nvSpPr>
        <p:spPr>
          <a:xfrm>
            <a:off x="2601757" y="1393510"/>
            <a:ext cx="1728358" cy="1077218"/>
          </a:xfrm>
          <a:prstGeom prst="rect">
            <a:avLst/>
          </a:prstGeom>
          <a:noFill/>
        </p:spPr>
        <p:txBody>
          <a:bodyPr wrap="none" rtlCol="0">
            <a:spAutoFit/>
          </a:bodyPr>
          <a:lstStyle/>
          <a:p>
            <a:pPr marL="285750" indent="-285750">
              <a:buFontTx/>
              <a:buChar char="-"/>
            </a:pPr>
            <a:r>
              <a:rPr lang="ko-KR" altLang="en-US" sz="1600" dirty="0">
                <a:solidFill>
                  <a:srgbClr val="FF0000"/>
                </a:solidFill>
              </a:rPr>
              <a:t>특</a:t>
            </a:r>
            <a:r>
              <a:rPr lang="ko-KR" altLang="en-US" sz="1400" dirty="0"/>
              <a:t>허료 불납</a:t>
            </a:r>
            <a:endParaRPr lang="en-US" altLang="ko-KR" sz="1400" dirty="0"/>
          </a:p>
          <a:p>
            <a:pPr marL="285750" indent="-285750">
              <a:buFontTx/>
              <a:buChar char="-"/>
            </a:pPr>
            <a:r>
              <a:rPr lang="ko-KR" altLang="en-US" sz="1400" dirty="0"/>
              <a:t>존속</a:t>
            </a:r>
            <a:r>
              <a:rPr lang="ko-KR" altLang="en-US" sz="1600" dirty="0">
                <a:solidFill>
                  <a:srgbClr val="FF0000"/>
                </a:solidFill>
              </a:rPr>
              <a:t>기</a:t>
            </a:r>
            <a:r>
              <a:rPr lang="ko-KR" altLang="en-US" sz="1400" dirty="0"/>
              <a:t>간 만료</a:t>
            </a:r>
            <a:endParaRPr lang="en-US" altLang="ko-KR" sz="1400" dirty="0"/>
          </a:p>
          <a:p>
            <a:pPr marL="285750" indent="-285750">
              <a:buFontTx/>
              <a:buChar char="-"/>
            </a:pPr>
            <a:r>
              <a:rPr lang="ko-KR" altLang="en-US" sz="1400" dirty="0"/>
              <a:t>특허권의 </a:t>
            </a:r>
            <a:r>
              <a:rPr lang="ko-KR" altLang="en-US" sz="1600" dirty="0">
                <a:solidFill>
                  <a:srgbClr val="FF0000"/>
                </a:solidFill>
              </a:rPr>
              <a:t>포</a:t>
            </a:r>
            <a:r>
              <a:rPr lang="ko-KR" altLang="en-US" sz="1400" dirty="0"/>
              <a:t>기</a:t>
            </a:r>
            <a:endParaRPr lang="en-US" altLang="ko-KR" sz="1400" dirty="0"/>
          </a:p>
          <a:p>
            <a:pPr marL="285750" indent="-285750">
              <a:buFontTx/>
              <a:buChar char="-"/>
            </a:pPr>
            <a:r>
              <a:rPr lang="ko-KR" altLang="en-US" sz="1600" dirty="0">
                <a:solidFill>
                  <a:srgbClr val="FF0000"/>
                </a:solidFill>
              </a:rPr>
              <a:t>상</a:t>
            </a:r>
            <a:r>
              <a:rPr lang="ko-KR" altLang="en-US" sz="1400" dirty="0"/>
              <a:t>속인 없는 경우</a:t>
            </a:r>
            <a:endParaRPr lang="en-US" altLang="ko-KR" sz="1400" dirty="0"/>
          </a:p>
        </p:txBody>
      </p:sp>
      <p:sp>
        <p:nvSpPr>
          <p:cNvPr id="27" name="직사각형 26"/>
          <p:cNvSpPr/>
          <p:nvPr/>
        </p:nvSpPr>
        <p:spPr bwMode="auto">
          <a:xfrm>
            <a:off x="2360229" y="2660898"/>
            <a:ext cx="3124683" cy="2304256"/>
          </a:xfrm>
          <a:prstGeom prst="rect">
            <a:avLst/>
          </a:prstGeom>
          <a:solidFill>
            <a:schemeClr val="accent3">
              <a:lumMod val="20000"/>
              <a:lumOff val="80000"/>
            </a:schemeClr>
          </a:solidFill>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180000" rtlCol="0" anchor="ctr"/>
          <a:lstStyle/>
          <a:p>
            <a:endParaRPr lang="ko-KR" altLang="en-US" sz="1400" dirty="0">
              <a:latin typeface="+mn-ea"/>
            </a:endParaRPr>
          </a:p>
        </p:txBody>
      </p:sp>
      <p:sp>
        <p:nvSpPr>
          <p:cNvPr id="28" name="TextBox 27"/>
          <p:cNvSpPr txBox="1"/>
          <p:nvPr/>
        </p:nvSpPr>
        <p:spPr>
          <a:xfrm>
            <a:off x="2451001" y="2703593"/>
            <a:ext cx="1499128" cy="369332"/>
          </a:xfrm>
          <a:prstGeom prst="rect">
            <a:avLst/>
          </a:prstGeom>
          <a:noFill/>
        </p:spPr>
        <p:txBody>
          <a:bodyPr wrap="none" rtlCol="0">
            <a:spAutoFit/>
          </a:bodyPr>
          <a:lstStyle/>
          <a:p>
            <a:r>
              <a:rPr lang="ko-KR" altLang="en-US" dirty="0"/>
              <a:t>소급하여 소멸</a:t>
            </a:r>
          </a:p>
        </p:txBody>
      </p:sp>
      <p:sp>
        <p:nvSpPr>
          <p:cNvPr id="29" name="TextBox 28"/>
          <p:cNvSpPr txBox="1"/>
          <p:nvPr/>
        </p:nvSpPr>
        <p:spPr>
          <a:xfrm>
            <a:off x="2601757" y="3050066"/>
            <a:ext cx="2750087" cy="307777"/>
          </a:xfrm>
          <a:prstGeom prst="rect">
            <a:avLst/>
          </a:prstGeom>
          <a:noFill/>
        </p:spPr>
        <p:txBody>
          <a:bodyPr wrap="square" rtlCol="0">
            <a:noAutofit/>
          </a:bodyPr>
          <a:lstStyle/>
          <a:p>
            <a:pPr marL="285750" indent="-285750">
              <a:buFontTx/>
              <a:buChar char="-"/>
            </a:pPr>
            <a:r>
              <a:rPr lang="ko-KR" altLang="en-US" sz="1400" dirty="0"/>
              <a:t>특허</a:t>
            </a:r>
            <a:r>
              <a:rPr lang="ko-KR" altLang="en-US" sz="1600" dirty="0">
                <a:solidFill>
                  <a:srgbClr val="FF0000"/>
                </a:solidFill>
              </a:rPr>
              <a:t>취</a:t>
            </a:r>
            <a:r>
              <a:rPr lang="ko-KR" altLang="en-US" sz="1400" dirty="0"/>
              <a:t>소신청에 의한 취소결정의 확정</a:t>
            </a:r>
            <a:endParaRPr lang="en-US" altLang="ko-KR" sz="1400" dirty="0"/>
          </a:p>
          <a:p>
            <a:pPr marL="285750" indent="-285750">
              <a:buFontTx/>
              <a:buChar char="-"/>
            </a:pPr>
            <a:r>
              <a:rPr lang="ko-KR" altLang="en-US" sz="1400" dirty="0"/>
              <a:t>특허</a:t>
            </a:r>
            <a:r>
              <a:rPr lang="ko-KR" altLang="en-US" sz="1600" dirty="0">
                <a:solidFill>
                  <a:srgbClr val="FF0000"/>
                </a:solidFill>
              </a:rPr>
              <a:t>무</a:t>
            </a:r>
            <a:r>
              <a:rPr lang="ko-KR" altLang="en-US" sz="1400" dirty="0"/>
              <a:t>효심판에 의한 </a:t>
            </a:r>
            <a:r>
              <a:rPr lang="ko-KR" altLang="en-US" sz="1400" dirty="0" err="1"/>
              <a:t>인용심결의</a:t>
            </a:r>
            <a:r>
              <a:rPr lang="ko-KR" altLang="en-US" sz="1400" dirty="0"/>
              <a:t> 확정</a:t>
            </a:r>
            <a:r>
              <a:rPr lang="en-US" altLang="ko-KR" sz="1400" dirty="0"/>
              <a:t>(</a:t>
            </a:r>
            <a:r>
              <a:rPr lang="ko-KR" altLang="en-US" sz="1400" dirty="0"/>
              <a:t>단</a:t>
            </a:r>
            <a:r>
              <a:rPr lang="en-US" altLang="ko-KR" sz="1400" dirty="0"/>
              <a:t>, </a:t>
            </a:r>
            <a:r>
              <a:rPr lang="ko-KR" altLang="en-US" sz="1400" dirty="0"/>
              <a:t>후발적 사유는 제외</a:t>
            </a:r>
            <a:r>
              <a:rPr lang="en-US" altLang="ko-KR" sz="1400" dirty="0"/>
              <a:t>)</a:t>
            </a:r>
            <a:endParaRPr lang="ko-KR" altLang="en-US" sz="1400" dirty="0"/>
          </a:p>
        </p:txBody>
      </p:sp>
      <p:sp>
        <p:nvSpPr>
          <p:cNvPr id="5" name="직사각형 4"/>
          <p:cNvSpPr/>
          <p:nvPr/>
        </p:nvSpPr>
        <p:spPr>
          <a:xfrm>
            <a:off x="9727253" y="1390578"/>
            <a:ext cx="2007332" cy="492719"/>
          </a:xfrm>
          <a:custGeom>
            <a:avLst/>
            <a:gdLst>
              <a:gd name="connsiteX0" fmla="*/ 0 w 1988542"/>
              <a:gd name="connsiteY0" fmla="*/ 0 h 492719"/>
              <a:gd name="connsiteX1" fmla="*/ 1988542 w 1988542"/>
              <a:gd name="connsiteY1" fmla="*/ 0 h 492719"/>
              <a:gd name="connsiteX2" fmla="*/ 1988542 w 1988542"/>
              <a:gd name="connsiteY2" fmla="*/ 492719 h 492719"/>
              <a:gd name="connsiteX3" fmla="*/ 0 w 1988542"/>
              <a:gd name="connsiteY3" fmla="*/ 492719 h 492719"/>
              <a:gd name="connsiteX4" fmla="*/ 0 w 1988542"/>
              <a:gd name="connsiteY4" fmla="*/ 0 h 492719"/>
              <a:gd name="connsiteX0" fmla="*/ 200025 w 1988542"/>
              <a:gd name="connsiteY0" fmla="*/ 0 h 492719"/>
              <a:gd name="connsiteX1" fmla="*/ 1988542 w 1988542"/>
              <a:gd name="connsiteY1" fmla="*/ 0 h 492719"/>
              <a:gd name="connsiteX2" fmla="*/ 1988542 w 1988542"/>
              <a:gd name="connsiteY2" fmla="*/ 492719 h 492719"/>
              <a:gd name="connsiteX3" fmla="*/ 0 w 1988542"/>
              <a:gd name="connsiteY3" fmla="*/ 492719 h 492719"/>
              <a:gd name="connsiteX4" fmla="*/ 200025 w 1988542"/>
              <a:gd name="connsiteY4" fmla="*/ 0 h 492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2" h="492719">
                <a:moveTo>
                  <a:pt x="200025" y="0"/>
                </a:moveTo>
                <a:lnTo>
                  <a:pt x="1988542" y="0"/>
                </a:lnTo>
                <a:lnTo>
                  <a:pt x="1988542" y="492719"/>
                </a:lnTo>
                <a:lnTo>
                  <a:pt x="0" y="492719"/>
                </a:lnTo>
                <a:lnTo>
                  <a:pt x="200025" y="0"/>
                </a:lnTo>
                <a:close/>
              </a:path>
            </a:pathLst>
          </a:custGeom>
          <a:pattFill prst="openDmnd">
            <a:fgClr>
              <a:schemeClr val="accent2"/>
            </a:fgClr>
            <a:bgClr>
              <a:schemeClr val="bg1"/>
            </a:bgClr>
          </a:patt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비유효</a:t>
            </a:r>
            <a:endParaRPr lang="ko-KR" altLang="en-US" sz="1200" dirty="0">
              <a:solidFill>
                <a:schemeClr val="tx1"/>
              </a:solidFill>
            </a:endParaRPr>
          </a:p>
        </p:txBody>
      </p:sp>
      <p:sp>
        <p:nvSpPr>
          <p:cNvPr id="6" name="직사각형 21"/>
          <p:cNvSpPr/>
          <p:nvPr/>
        </p:nvSpPr>
        <p:spPr>
          <a:xfrm>
            <a:off x="7691977" y="1390578"/>
            <a:ext cx="2059591" cy="492719"/>
          </a:xfrm>
          <a:custGeom>
            <a:avLst/>
            <a:gdLst>
              <a:gd name="connsiteX0" fmla="*/ 0 w 2182196"/>
              <a:gd name="connsiteY0" fmla="*/ 0 h 492719"/>
              <a:gd name="connsiteX1" fmla="*/ 2182196 w 2182196"/>
              <a:gd name="connsiteY1" fmla="*/ 0 h 492719"/>
              <a:gd name="connsiteX2" fmla="*/ 2182196 w 2182196"/>
              <a:gd name="connsiteY2" fmla="*/ 492719 h 492719"/>
              <a:gd name="connsiteX3" fmla="*/ 0 w 2182196"/>
              <a:gd name="connsiteY3" fmla="*/ 492719 h 492719"/>
              <a:gd name="connsiteX4" fmla="*/ 0 w 2182196"/>
              <a:gd name="connsiteY4" fmla="*/ 0 h 492719"/>
              <a:gd name="connsiteX0" fmla="*/ 279400 w 2182196"/>
              <a:gd name="connsiteY0" fmla="*/ 0 h 492719"/>
              <a:gd name="connsiteX1" fmla="*/ 2182196 w 2182196"/>
              <a:gd name="connsiteY1" fmla="*/ 0 h 492719"/>
              <a:gd name="connsiteX2" fmla="*/ 2182196 w 2182196"/>
              <a:gd name="connsiteY2" fmla="*/ 492719 h 492719"/>
              <a:gd name="connsiteX3" fmla="*/ 0 w 2182196"/>
              <a:gd name="connsiteY3" fmla="*/ 492719 h 492719"/>
              <a:gd name="connsiteX4" fmla="*/ 279400 w 2182196"/>
              <a:gd name="connsiteY4" fmla="*/ 0 h 492719"/>
              <a:gd name="connsiteX0" fmla="*/ 279400 w 2182196"/>
              <a:gd name="connsiteY0" fmla="*/ 0 h 492719"/>
              <a:gd name="connsiteX1" fmla="*/ 1928196 w 2182196"/>
              <a:gd name="connsiteY1" fmla="*/ 0 h 492719"/>
              <a:gd name="connsiteX2" fmla="*/ 2182196 w 2182196"/>
              <a:gd name="connsiteY2" fmla="*/ 492719 h 492719"/>
              <a:gd name="connsiteX3" fmla="*/ 0 w 2182196"/>
              <a:gd name="connsiteY3" fmla="*/ 492719 h 492719"/>
              <a:gd name="connsiteX4" fmla="*/ 279400 w 2182196"/>
              <a:gd name="connsiteY4" fmla="*/ 0 h 492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2196" h="492719">
                <a:moveTo>
                  <a:pt x="279400" y="0"/>
                </a:moveTo>
                <a:lnTo>
                  <a:pt x="1928196" y="0"/>
                </a:lnTo>
                <a:lnTo>
                  <a:pt x="2182196" y="492719"/>
                </a:lnTo>
                <a:lnTo>
                  <a:pt x="0" y="492719"/>
                </a:lnTo>
                <a:lnTo>
                  <a:pt x="279400" y="0"/>
                </a:lnTo>
                <a:close/>
              </a:path>
            </a:pathLst>
          </a:custGeom>
          <a:pattFill prst="lgGrid">
            <a:fgClr>
              <a:schemeClr val="accent4"/>
            </a:fgClr>
            <a:bgClr>
              <a:schemeClr val="bg1"/>
            </a:bgClr>
          </a:pattFill>
          <a:ln>
            <a:solidFill>
              <a:schemeClr val="bg1">
                <a:lumMod val="50000"/>
              </a:schemeClr>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ko-KR" altLang="en-US" sz="1200" dirty="0">
                <a:solidFill>
                  <a:schemeClr val="tx1"/>
                </a:solidFill>
              </a:rPr>
              <a:t>권리의 존속 中</a:t>
            </a:r>
            <a:r>
              <a:rPr lang="en-US" altLang="ko-KR" sz="1200" dirty="0">
                <a:solidFill>
                  <a:schemeClr val="tx1"/>
                </a:solidFill>
              </a:rPr>
              <a:t>(</a:t>
            </a:r>
            <a:r>
              <a:rPr lang="ko-KR" altLang="en-US" sz="1200" dirty="0">
                <a:solidFill>
                  <a:schemeClr val="tx1"/>
                </a:solidFill>
              </a:rPr>
              <a:t>유효</a:t>
            </a:r>
            <a:r>
              <a:rPr lang="en-US" altLang="ko-KR" sz="1200" dirty="0">
                <a:solidFill>
                  <a:schemeClr val="tx1"/>
                </a:solidFill>
              </a:rPr>
              <a:t>)</a:t>
            </a:r>
            <a:endParaRPr lang="ko-KR" altLang="en-US" sz="1200" dirty="0">
              <a:solidFill>
                <a:schemeClr val="tx1"/>
              </a:solidFill>
            </a:endParaRPr>
          </a:p>
        </p:txBody>
      </p:sp>
      <p:sp>
        <p:nvSpPr>
          <p:cNvPr id="17" name="직사각형 16"/>
          <p:cNvSpPr/>
          <p:nvPr/>
        </p:nvSpPr>
        <p:spPr bwMode="auto">
          <a:xfrm>
            <a:off x="5600700" y="2660898"/>
            <a:ext cx="6351951" cy="2304256"/>
          </a:xfrm>
          <a:prstGeom prst="rect">
            <a:avLst/>
          </a:prstGeom>
          <a:solidFill>
            <a:schemeClr val="accent3">
              <a:lumMod val="20000"/>
              <a:lumOff val="80000"/>
            </a:schemeClr>
          </a:solidFill>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180000" rtlCol="0" anchor="ctr"/>
          <a:lstStyle/>
          <a:p>
            <a:endParaRPr lang="ko-KR" altLang="en-US" sz="1400" dirty="0">
              <a:latin typeface="+mn-ea"/>
            </a:endParaRPr>
          </a:p>
        </p:txBody>
      </p:sp>
      <p:sp>
        <p:nvSpPr>
          <p:cNvPr id="30" name="직사각형 29"/>
          <p:cNvSpPr/>
          <p:nvPr/>
        </p:nvSpPr>
        <p:spPr>
          <a:xfrm>
            <a:off x="7954787" y="4346798"/>
            <a:ext cx="926521" cy="432048"/>
          </a:xfrm>
          <a:prstGeom prst="rect">
            <a:avLst/>
          </a:prstGeom>
          <a:solidFill>
            <a:schemeClr val="accent1">
              <a:lumMod val="20000"/>
              <a:lumOff val="80000"/>
            </a:schemeClr>
          </a:solidFill>
          <a:ln w="9525">
            <a:solidFill>
              <a:schemeClr val="bg1">
                <a:lumMod val="50000"/>
              </a:schemeClr>
            </a:solidFill>
          </a:ln>
        </p:spPr>
        <p:style>
          <a:lnRef idx="2">
            <a:schemeClr val="accent5"/>
          </a:lnRef>
          <a:fillRef idx="1">
            <a:schemeClr val="lt1"/>
          </a:fillRef>
          <a:effectRef idx="0">
            <a:schemeClr val="accent5"/>
          </a:effectRef>
          <a:fontRef idx="minor">
            <a:schemeClr val="dk1"/>
          </a:fontRef>
        </p:style>
        <p:txBody>
          <a:bodyPr rtlCol="0" anchor="ctr"/>
          <a:lstStyle/>
          <a:p>
            <a:pPr algn="ctr"/>
            <a:r>
              <a:rPr lang="ko-KR" altLang="en-US" sz="1200" dirty="0"/>
              <a:t>특허무효</a:t>
            </a:r>
            <a:endParaRPr lang="en-US" altLang="ko-KR" sz="1200" dirty="0"/>
          </a:p>
          <a:p>
            <a:pPr algn="ctr"/>
            <a:r>
              <a:rPr lang="ko-KR" altLang="en-US" sz="1200" dirty="0"/>
              <a:t>심판청구</a:t>
            </a:r>
            <a:endParaRPr lang="en-US" altLang="ko-KR" sz="1200" dirty="0"/>
          </a:p>
        </p:txBody>
      </p:sp>
      <p:sp>
        <p:nvSpPr>
          <p:cNvPr id="31" name="직사각형 30"/>
          <p:cNvSpPr/>
          <p:nvPr/>
        </p:nvSpPr>
        <p:spPr>
          <a:xfrm>
            <a:off x="9262907" y="4346798"/>
            <a:ext cx="926521" cy="432048"/>
          </a:xfrm>
          <a:prstGeom prst="rect">
            <a:avLst/>
          </a:prstGeom>
          <a:solidFill>
            <a:schemeClr val="accent1">
              <a:lumMod val="20000"/>
              <a:lumOff val="80000"/>
            </a:schemeClr>
          </a:solidFill>
          <a:ln w="9525">
            <a:solidFill>
              <a:schemeClr val="bg1">
                <a:lumMod val="50000"/>
              </a:schemeClr>
            </a:solidFill>
          </a:ln>
        </p:spPr>
        <p:style>
          <a:lnRef idx="2">
            <a:schemeClr val="accent5"/>
          </a:lnRef>
          <a:fillRef idx="1">
            <a:schemeClr val="lt1"/>
          </a:fillRef>
          <a:effectRef idx="0">
            <a:schemeClr val="accent5"/>
          </a:effectRef>
          <a:fontRef idx="minor">
            <a:schemeClr val="dk1"/>
          </a:fontRef>
        </p:style>
        <p:txBody>
          <a:bodyPr rtlCol="0" anchor="ctr"/>
          <a:lstStyle/>
          <a:p>
            <a:pPr algn="ctr"/>
            <a:r>
              <a:rPr lang="ko-KR" altLang="en-US" sz="1200" dirty="0" err="1"/>
              <a:t>인용심결</a:t>
            </a:r>
            <a:endParaRPr lang="en-US" altLang="ko-KR" sz="1200" dirty="0"/>
          </a:p>
          <a:p>
            <a:pPr algn="ctr"/>
            <a:r>
              <a:rPr lang="ko-KR" altLang="en-US" sz="1200" dirty="0"/>
              <a:t>확정</a:t>
            </a:r>
            <a:endParaRPr lang="en-US" altLang="ko-KR" sz="1200" dirty="0"/>
          </a:p>
        </p:txBody>
      </p:sp>
      <p:sp>
        <p:nvSpPr>
          <p:cNvPr id="34" name="타원 33"/>
          <p:cNvSpPr/>
          <p:nvPr/>
        </p:nvSpPr>
        <p:spPr>
          <a:xfrm>
            <a:off x="10139069" y="1139385"/>
            <a:ext cx="395271" cy="393948"/>
          </a:xfrm>
          <a:prstGeom prst="ellipse">
            <a:avLst/>
          </a:prstGeom>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400" dirty="0"/>
              <a:t>2</a:t>
            </a:r>
            <a:endParaRPr lang="ko-KR" altLang="en-US" sz="1400" dirty="0"/>
          </a:p>
        </p:txBody>
      </p:sp>
      <p:sp>
        <p:nvSpPr>
          <p:cNvPr id="35" name="타원 34"/>
          <p:cNvSpPr/>
          <p:nvPr/>
        </p:nvSpPr>
        <p:spPr>
          <a:xfrm>
            <a:off x="8103792" y="1139385"/>
            <a:ext cx="395271" cy="393948"/>
          </a:xfrm>
          <a:prstGeom prst="ellipse">
            <a:avLst/>
          </a:prstGeom>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400" dirty="0"/>
              <a:t>1</a:t>
            </a:r>
            <a:endParaRPr lang="ko-KR" altLang="en-US" sz="1400" dirty="0"/>
          </a:p>
        </p:txBody>
      </p:sp>
      <p:sp>
        <p:nvSpPr>
          <p:cNvPr id="39" name="Line 5"/>
          <p:cNvSpPr>
            <a:spLocks noChangeShapeType="1"/>
          </p:cNvSpPr>
          <p:nvPr/>
        </p:nvSpPr>
        <p:spPr bwMode="auto">
          <a:xfrm>
            <a:off x="5846823" y="1883297"/>
            <a:ext cx="6003779"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0" name="타원 39"/>
          <p:cNvSpPr/>
          <p:nvPr/>
        </p:nvSpPr>
        <p:spPr>
          <a:xfrm>
            <a:off x="6458589" y="179530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41" name="TextBox 40"/>
          <p:cNvSpPr txBox="1"/>
          <p:nvPr/>
        </p:nvSpPr>
        <p:spPr>
          <a:xfrm>
            <a:off x="6119818" y="2204742"/>
            <a:ext cx="832279" cy="307777"/>
          </a:xfrm>
          <a:prstGeom prst="rect">
            <a:avLst/>
          </a:prstGeom>
          <a:noFill/>
          <a:ln>
            <a:solidFill>
              <a:schemeClr val="bg1">
                <a:lumMod val="50000"/>
              </a:schemeClr>
            </a:solidFill>
          </a:ln>
        </p:spPr>
        <p:txBody>
          <a:bodyPr wrap="none" rtlCol="0">
            <a:spAutoFit/>
          </a:bodyPr>
          <a:lstStyle/>
          <a:p>
            <a:r>
              <a:rPr lang="ko-KR" altLang="en-US" sz="1400" dirty="0"/>
              <a:t>특허출원</a:t>
            </a:r>
          </a:p>
        </p:txBody>
      </p:sp>
      <p:cxnSp>
        <p:nvCxnSpPr>
          <p:cNvPr id="43" name="직선 연결선 42"/>
          <p:cNvCxnSpPr>
            <a:stCxn id="41" idx="0"/>
            <a:endCxn id="40" idx="4"/>
          </p:cNvCxnSpPr>
          <p:nvPr/>
        </p:nvCxnSpPr>
        <p:spPr>
          <a:xfrm flipV="1">
            <a:off x="6535958" y="1956638"/>
            <a:ext cx="0"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타원 43"/>
          <p:cNvSpPr/>
          <p:nvPr/>
        </p:nvSpPr>
        <p:spPr>
          <a:xfrm>
            <a:off x="7614608" y="179530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45" name="TextBox 44"/>
          <p:cNvSpPr txBox="1"/>
          <p:nvPr/>
        </p:nvSpPr>
        <p:spPr>
          <a:xfrm>
            <a:off x="7275837" y="2204742"/>
            <a:ext cx="832279" cy="307777"/>
          </a:xfrm>
          <a:prstGeom prst="rect">
            <a:avLst/>
          </a:prstGeom>
          <a:noFill/>
          <a:ln>
            <a:solidFill>
              <a:schemeClr val="bg1">
                <a:lumMod val="50000"/>
              </a:schemeClr>
            </a:solidFill>
          </a:ln>
        </p:spPr>
        <p:txBody>
          <a:bodyPr wrap="none" rtlCol="0">
            <a:spAutoFit/>
          </a:bodyPr>
          <a:lstStyle/>
          <a:p>
            <a:r>
              <a:rPr lang="ko-KR" altLang="en-US" sz="1400" dirty="0"/>
              <a:t>설정등록</a:t>
            </a:r>
          </a:p>
        </p:txBody>
      </p:sp>
      <p:cxnSp>
        <p:nvCxnSpPr>
          <p:cNvPr id="46" name="직선 연결선 45"/>
          <p:cNvCxnSpPr>
            <a:stCxn id="45" idx="0"/>
            <a:endCxn id="44" idx="4"/>
          </p:cNvCxnSpPr>
          <p:nvPr/>
        </p:nvCxnSpPr>
        <p:spPr>
          <a:xfrm flipV="1">
            <a:off x="7691977" y="1956638"/>
            <a:ext cx="0"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타원 46"/>
          <p:cNvSpPr/>
          <p:nvPr/>
        </p:nvSpPr>
        <p:spPr>
          <a:xfrm>
            <a:off x="9649884" y="179530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48" name="TextBox 47"/>
          <p:cNvSpPr txBox="1"/>
          <p:nvPr/>
        </p:nvSpPr>
        <p:spPr>
          <a:xfrm>
            <a:off x="9473015" y="2204742"/>
            <a:ext cx="508474" cy="307777"/>
          </a:xfrm>
          <a:prstGeom prst="rect">
            <a:avLst/>
          </a:prstGeom>
          <a:noFill/>
          <a:ln>
            <a:solidFill>
              <a:schemeClr val="bg1">
                <a:lumMod val="50000"/>
              </a:schemeClr>
            </a:solidFill>
          </a:ln>
        </p:spPr>
        <p:txBody>
          <a:bodyPr wrap="none" rtlCol="0">
            <a:spAutoFit/>
          </a:bodyPr>
          <a:lstStyle/>
          <a:p>
            <a:pPr algn="ctr"/>
            <a:r>
              <a:rPr lang="ko-KR" altLang="en-US" sz="1400" dirty="0"/>
              <a:t>소멸</a:t>
            </a:r>
          </a:p>
        </p:txBody>
      </p:sp>
      <p:cxnSp>
        <p:nvCxnSpPr>
          <p:cNvPr id="49" name="직선 연결선 48"/>
          <p:cNvCxnSpPr>
            <a:stCxn id="48" idx="0"/>
            <a:endCxn id="47" idx="4"/>
          </p:cNvCxnSpPr>
          <p:nvPr/>
        </p:nvCxnSpPr>
        <p:spPr>
          <a:xfrm flipV="1">
            <a:off x="9727252" y="1956638"/>
            <a:ext cx="1"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직사각형 4"/>
          <p:cNvSpPr/>
          <p:nvPr/>
        </p:nvSpPr>
        <p:spPr>
          <a:xfrm>
            <a:off x="7691977" y="2868752"/>
            <a:ext cx="4042608" cy="743913"/>
          </a:xfrm>
          <a:custGeom>
            <a:avLst/>
            <a:gdLst>
              <a:gd name="connsiteX0" fmla="*/ 0 w 1988542"/>
              <a:gd name="connsiteY0" fmla="*/ 0 h 492719"/>
              <a:gd name="connsiteX1" fmla="*/ 1988542 w 1988542"/>
              <a:gd name="connsiteY1" fmla="*/ 0 h 492719"/>
              <a:gd name="connsiteX2" fmla="*/ 1988542 w 1988542"/>
              <a:gd name="connsiteY2" fmla="*/ 492719 h 492719"/>
              <a:gd name="connsiteX3" fmla="*/ 0 w 1988542"/>
              <a:gd name="connsiteY3" fmla="*/ 492719 h 492719"/>
              <a:gd name="connsiteX4" fmla="*/ 0 w 1988542"/>
              <a:gd name="connsiteY4" fmla="*/ 0 h 492719"/>
              <a:gd name="connsiteX0" fmla="*/ 200025 w 1988542"/>
              <a:gd name="connsiteY0" fmla="*/ 0 h 492719"/>
              <a:gd name="connsiteX1" fmla="*/ 1988542 w 1988542"/>
              <a:gd name="connsiteY1" fmla="*/ 0 h 492719"/>
              <a:gd name="connsiteX2" fmla="*/ 1988542 w 1988542"/>
              <a:gd name="connsiteY2" fmla="*/ 492719 h 492719"/>
              <a:gd name="connsiteX3" fmla="*/ 0 w 1988542"/>
              <a:gd name="connsiteY3" fmla="*/ 492719 h 492719"/>
              <a:gd name="connsiteX4" fmla="*/ 200025 w 1988542"/>
              <a:gd name="connsiteY4" fmla="*/ 0 h 492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2" h="492719">
                <a:moveTo>
                  <a:pt x="200025" y="0"/>
                </a:moveTo>
                <a:lnTo>
                  <a:pt x="1988542" y="0"/>
                </a:lnTo>
                <a:lnTo>
                  <a:pt x="1988542" y="492719"/>
                </a:lnTo>
                <a:lnTo>
                  <a:pt x="0" y="492719"/>
                </a:lnTo>
                <a:lnTo>
                  <a:pt x="200025" y="0"/>
                </a:lnTo>
                <a:close/>
              </a:path>
            </a:pathLst>
          </a:custGeom>
          <a:pattFill prst="openDmnd">
            <a:fgClr>
              <a:schemeClr val="accent2"/>
            </a:fgClr>
            <a:bgClr>
              <a:schemeClr val="bg1"/>
            </a:bgClr>
          </a:patt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                                       </a:t>
            </a:r>
            <a:r>
              <a:rPr lang="ko-KR" altLang="en-US" sz="1200" dirty="0" err="1">
                <a:solidFill>
                  <a:schemeClr val="tx1"/>
                </a:solidFill>
              </a:rPr>
              <a:t>비유효</a:t>
            </a:r>
            <a:endParaRPr lang="ko-KR" altLang="en-US" sz="1200" dirty="0">
              <a:solidFill>
                <a:schemeClr val="tx1"/>
              </a:solidFill>
            </a:endParaRPr>
          </a:p>
        </p:txBody>
      </p:sp>
      <p:sp>
        <p:nvSpPr>
          <p:cNvPr id="51" name="직사각형 21"/>
          <p:cNvSpPr/>
          <p:nvPr/>
        </p:nvSpPr>
        <p:spPr>
          <a:xfrm>
            <a:off x="7691977" y="3119946"/>
            <a:ext cx="2059591" cy="492719"/>
          </a:xfrm>
          <a:custGeom>
            <a:avLst/>
            <a:gdLst>
              <a:gd name="connsiteX0" fmla="*/ 0 w 2182196"/>
              <a:gd name="connsiteY0" fmla="*/ 0 h 492719"/>
              <a:gd name="connsiteX1" fmla="*/ 2182196 w 2182196"/>
              <a:gd name="connsiteY1" fmla="*/ 0 h 492719"/>
              <a:gd name="connsiteX2" fmla="*/ 2182196 w 2182196"/>
              <a:gd name="connsiteY2" fmla="*/ 492719 h 492719"/>
              <a:gd name="connsiteX3" fmla="*/ 0 w 2182196"/>
              <a:gd name="connsiteY3" fmla="*/ 492719 h 492719"/>
              <a:gd name="connsiteX4" fmla="*/ 0 w 2182196"/>
              <a:gd name="connsiteY4" fmla="*/ 0 h 492719"/>
              <a:gd name="connsiteX0" fmla="*/ 279400 w 2182196"/>
              <a:gd name="connsiteY0" fmla="*/ 0 h 492719"/>
              <a:gd name="connsiteX1" fmla="*/ 2182196 w 2182196"/>
              <a:gd name="connsiteY1" fmla="*/ 0 h 492719"/>
              <a:gd name="connsiteX2" fmla="*/ 2182196 w 2182196"/>
              <a:gd name="connsiteY2" fmla="*/ 492719 h 492719"/>
              <a:gd name="connsiteX3" fmla="*/ 0 w 2182196"/>
              <a:gd name="connsiteY3" fmla="*/ 492719 h 492719"/>
              <a:gd name="connsiteX4" fmla="*/ 279400 w 2182196"/>
              <a:gd name="connsiteY4" fmla="*/ 0 h 492719"/>
              <a:gd name="connsiteX0" fmla="*/ 279400 w 2182196"/>
              <a:gd name="connsiteY0" fmla="*/ 0 h 492719"/>
              <a:gd name="connsiteX1" fmla="*/ 1928196 w 2182196"/>
              <a:gd name="connsiteY1" fmla="*/ 0 h 492719"/>
              <a:gd name="connsiteX2" fmla="*/ 2182196 w 2182196"/>
              <a:gd name="connsiteY2" fmla="*/ 492719 h 492719"/>
              <a:gd name="connsiteX3" fmla="*/ 0 w 2182196"/>
              <a:gd name="connsiteY3" fmla="*/ 492719 h 492719"/>
              <a:gd name="connsiteX4" fmla="*/ 279400 w 2182196"/>
              <a:gd name="connsiteY4" fmla="*/ 0 h 492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2196" h="492719">
                <a:moveTo>
                  <a:pt x="279400" y="0"/>
                </a:moveTo>
                <a:lnTo>
                  <a:pt x="1928196" y="0"/>
                </a:lnTo>
                <a:lnTo>
                  <a:pt x="2182196" y="492719"/>
                </a:lnTo>
                <a:lnTo>
                  <a:pt x="0" y="492719"/>
                </a:lnTo>
                <a:lnTo>
                  <a:pt x="279400" y="0"/>
                </a:lnTo>
                <a:close/>
              </a:path>
            </a:pathLst>
          </a:custGeom>
          <a:pattFill prst="lgGrid">
            <a:fgClr>
              <a:schemeClr val="accent4"/>
            </a:fgClr>
            <a:bgClr>
              <a:schemeClr val="bg1"/>
            </a:bgClr>
          </a:pattFill>
          <a:ln>
            <a:solidFill>
              <a:schemeClr val="bg1">
                <a:lumMod val="50000"/>
              </a:schemeClr>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ko-KR" altLang="en-US" sz="1200" dirty="0">
                <a:solidFill>
                  <a:schemeClr val="tx1"/>
                </a:solidFill>
              </a:rPr>
              <a:t>권리의 존속 中</a:t>
            </a:r>
            <a:r>
              <a:rPr lang="en-US" altLang="ko-KR" sz="1200" dirty="0">
                <a:solidFill>
                  <a:schemeClr val="tx1"/>
                </a:solidFill>
              </a:rPr>
              <a:t>(</a:t>
            </a:r>
            <a:r>
              <a:rPr lang="ko-KR" altLang="en-US" sz="1200" dirty="0">
                <a:solidFill>
                  <a:schemeClr val="tx1"/>
                </a:solidFill>
              </a:rPr>
              <a:t>유효</a:t>
            </a:r>
            <a:r>
              <a:rPr lang="en-US" altLang="ko-KR" sz="1200" dirty="0">
                <a:solidFill>
                  <a:schemeClr val="tx1"/>
                </a:solidFill>
              </a:rPr>
              <a:t>)</a:t>
            </a:r>
            <a:endParaRPr lang="ko-KR" altLang="en-US" sz="1200" dirty="0">
              <a:solidFill>
                <a:schemeClr val="tx1"/>
              </a:solidFill>
            </a:endParaRPr>
          </a:p>
        </p:txBody>
      </p:sp>
      <p:sp>
        <p:nvSpPr>
          <p:cNvPr id="52" name="타원 51"/>
          <p:cNvSpPr/>
          <p:nvPr/>
        </p:nvSpPr>
        <p:spPr>
          <a:xfrm>
            <a:off x="10336704" y="2675168"/>
            <a:ext cx="395271" cy="393948"/>
          </a:xfrm>
          <a:prstGeom prst="ellipse">
            <a:avLst/>
          </a:prstGeom>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400" dirty="0"/>
              <a:t>2</a:t>
            </a:r>
            <a:endParaRPr lang="ko-KR" altLang="en-US" sz="1400" dirty="0"/>
          </a:p>
        </p:txBody>
      </p:sp>
      <p:sp>
        <p:nvSpPr>
          <p:cNvPr id="53" name="타원 52"/>
          <p:cNvSpPr/>
          <p:nvPr/>
        </p:nvSpPr>
        <p:spPr>
          <a:xfrm>
            <a:off x="8103792" y="2878278"/>
            <a:ext cx="395271" cy="393948"/>
          </a:xfrm>
          <a:prstGeom prst="ellipse">
            <a:avLst/>
          </a:prstGeom>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400" dirty="0"/>
              <a:t>1</a:t>
            </a:r>
            <a:endParaRPr lang="ko-KR" altLang="en-US" sz="1400" dirty="0"/>
          </a:p>
        </p:txBody>
      </p:sp>
      <p:sp>
        <p:nvSpPr>
          <p:cNvPr id="54" name="Line 5"/>
          <p:cNvSpPr>
            <a:spLocks noChangeShapeType="1"/>
          </p:cNvSpPr>
          <p:nvPr/>
        </p:nvSpPr>
        <p:spPr bwMode="auto">
          <a:xfrm>
            <a:off x="5846823" y="3612665"/>
            <a:ext cx="6003779"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55" name="타원 54"/>
          <p:cNvSpPr/>
          <p:nvPr/>
        </p:nvSpPr>
        <p:spPr>
          <a:xfrm>
            <a:off x="6458589" y="352466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56" name="TextBox 55"/>
          <p:cNvSpPr txBox="1"/>
          <p:nvPr/>
        </p:nvSpPr>
        <p:spPr>
          <a:xfrm>
            <a:off x="6119818" y="3934110"/>
            <a:ext cx="832279" cy="307777"/>
          </a:xfrm>
          <a:prstGeom prst="rect">
            <a:avLst/>
          </a:prstGeom>
          <a:noFill/>
          <a:ln>
            <a:solidFill>
              <a:schemeClr val="bg1">
                <a:lumMod val="50000"/>
              </a:schemeClr>
            </a:solidFill>
          </a:ln>
        </p:spPr>
        <p:txBody>
          <a:bodyPr wrap="none" rtlCol="0">
            <a:spAutoFit/>
          </a:bodyPr>
          <a:lstStyle/>
          <a:p>
            <a:r>
              <a:rPr lang="ko-KR" altLang="en-US" sz="1400" dirty="0"/>
              <a:t>특허출원</a:t>
            </a:r>
          </a:p>
        </p:txBody>
      </p:sp>
      <p:cxnSp>
        <p:nvCxnSpPr>
          <p:cNvPr id="57" name="직선 연결선 56"/>
          <p:cNvCxnSpPr>
            <a:stCxn id="56" idx="0"/>
            <a:endCxn id="55" idx="4"/>
          </p:cNvCxnSpPr>
          <p:nvPr/>
        </p:nvCxnSpPr>
        <p:spPr>
          <a:xfrm flipV="1">
            <a:off x="6535958" y="3686006"/>
            <a:ext cx="0"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타원 57"/>
          <p:cNvSpPr/>
          <p:nvPr/>
        </p:nvSpPr>
        <p:spPr>
          <a:xfrm>
            <a:off x="7614608" y="352466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59" name="TextBox 58"/>
          <p:cNvSpPr txBox="1"/>
          <p:nvPr/>
        </p:nvSpPr>
        <p:spPr>
          <a:xfrm>
            <a:off x="7275837" y="3934110"/>
            <a:ext cx="832279" cy="307777"/>
          </a:xfrm>
          <a:prstGeom prst="rect">
            <a:avLst/>
          </a:prstGeom>
          <a:noFill/>
          <a:ln>
            <a:solidFill>
              <a:schemeClr val="bg1">
                <a:lumMod val="50000"/>
              </a:schemeClr>
            </a:solidFill>
          </a:ln>
        </p:spPr>
        <p:txBody>
          <a:bodyPr wrap="none" rtlCol="0">
            <a:spAutoFit/>
          </a:bodyPr>
          <a:lstStyle/>
          <a:p>
            <a:r>
              <a:rPr lang="ko-KR" altLang="en-US" sz="1400" dirty="0"/>
              <a:t>설정등록</a:t>
            </a:r>
          </a:p>
        </p:txBody>
      </p:sp>
      <p:cxnSp>
        <p:nvCxnSpPr>
          <p:cNvPr id="60" name="직선 연결선 59"/>
          <p:cNvCxnSpPr>
            <a:stCxn id="59" idx="0"/>
            <a:endCxn id="58" idx="4"/>
          </p:cNvCxnSpPr>
          <p:nvPr/>
        </p:nvCxnSpPr>
        <p:spPr>
          <a:xfrm flipV="1">
            <a:off x="7691977" y="3686006"/>
            <a:ext cx="0"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타원 60"/>
          <p:cNvSpPr/>
          <p:nvPr/>
        </p:nvSpPr>
        <p:spPr>
          <a:xfrm>
            <a:off x="9649884" y="352466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62" name="TextBox 61"/>
          <p:cNvSpPr txBox="1"/>
          <p:nvPr/>
        </p:nvSpPr>
        <p:spPr>
          <a:xfrm>
            <a:off x="9473015" y="3934110"/>
            <a:ext cx="508474" cy="307777"/>
          </a:xfrm>
          <a:prstGeom prst="rect">
            <a:avLst/>
          </a:prstGeom>
          <a:noFill/>
          <a:ln>
            <a:solidFill>
              <a:schemeClr val="bg1">
                <a:lumMod val="50000"/>
              </a:schemeClr>
            </a:solidFill>
          </a:ln>
        </p:spPr>
        <p:txBody>
          <a:bodyPr wrap="none" rtlCol="0">
            <a:spAutoFit/>
          </a:bodyPr>
          <a:lstStyle/>
          <a:p>
            <a:pPr algn="ctr"/>
            <a:r>
              <a:rPr lang="ko-KR" altLang="en-US" sz="1400" dirty="0"/>
              <a:t>소멸</a:t>
            </a:r>
          </a:p>
        </p:txBody>
      </p:sp>
      <p:cxnSp>
        <p:nvCxnSpPr>
          <p:cNvPr id="63" name="직선 연결선 62"/>
          <p:cNvCxnSpPr>
            <a:stCxn id="62" idx="0"/>
            <a:endCxn id="61" idx="4"/>
          </p:cNvCxnSpPr>
          <p:nvPr/>
        </p:nvCxnSpPr>
        <p:spPr>
          <a:xfrm flipV="1">
            <a:off x="9727252" y="3686006"/>
            <a:ext cx="1"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4" name="직선 연결선 63"/>
          <p:cNvCxnSpPr>
            <a:stCxn id="30" idx="0"/>
            <a:endCxn id="67" idx="4"/>
          </p:cNvCxnSpPr>
          <p:nvPr/>
        </p:nvCxnSpPr>
        <p:spPr>
          <a:xfrm flipV="1">
            <a:off x="8418048" y="3686006"/>
            <a:ext cx="4815" cy="66079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타원 66"/>
          <p:cNvSpPr/>
          <p:nvPr/>
        </p:nvSpPr>
        <p:spPr>
          <a:xfrm>
            <a:off x="8345494" y="352466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2" name="직선 연결선 71"/>
          <p:cNvCxnSpPr>
            <a:stCxn id="31" idx="0"/>
            <a:endCxn id="62" idx="2"/>
          </p:cNvCxnSpPr>
          <p:nvPr/>
        </p:nvCxnSpPr>
        <p:spPr>
          <a:xfrm flipV="1">
            <a:off x="9726168" y="4241887"/>
            <a:ext cx="1084" cy="10491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직사각형 73"/>
          <p:cNvSpPr/>
          <p:nvPr/>
        </p:nvSpPr>
        <p:spPr bwMode="auto">
          <a:xfrm>
            <a:off x="323850" y="5377370"/>
            <a:ext cx="11628801" cy="1366329"/>
          </a:xfrm>
          <a:prstGeom prst="rect">
            <a:avLst/>
          </a:prstGeom>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0" bIns="0" rtlCol="0" anchor="ctr"/>
          <a:lstStyle/>
          <a:p>
            <a:r>
              <a:rPr lang="ko-KR" altLang="en-US" sz="1200" dirty="0">
                <a:solidFill>
                  <a:schemeClr val="accent3">
                    <a:lumMod val="50000"/>
                  </a:schemeClr>
                </a:solidFill>
                <a:highlight>
                  <a:srgbClr val="FFFF00"/>
                </a:highlight>
              </a:rPr>
              <a:t>일반적으로 </a:t>
            </a:r>
            <a:r>
              <a:rPr lang="ko-KR" altLang="en-US" sz="1200" dirty="0" err="1">
                <a:solidFill>
                  <a:schemeClr val="accent3">
                    <a:lumMod val="50000"/>
                  </a:schemeClr>
                </a:solidFill>
                <a:highlight>
                  <a:srgbClr val="FFFF00"/>
                </a:highlight>
              </a:rPr>
              <a:t>하자있는</a:t>
            </a:r>
            <a:r>
              <a:rPr lang="ko-KR" altLang="en-US" sz="1200" dirty="0">
                <a:solidFill>
                  <a:schemeClr val="accent3">
                    <a:lumMod val="50000"/>
                  </a:schemeClr>
                </a:solidFill>
                <a:highlight>
                  <a:srgbClr val="FFFF00"/>
                </a:highlight>
              </a:rPr>
              <a:t> 행정처분이 당연무효가 되기 위해서는 그 하자가 법규의 중요한 부분을 위반한 중대한 것으로서 객관적으로 명백한 것이어야 하며</a:t>
            </a:r>
            <a:r>
              <a:rPr lang="en-US" altLang="ko-KR" sz="1200" dirty="0">
                <a:solidFill>
                  <a:schemeClr val="accent3">
                    <a:lumMod val="50000"/>
                  </a:schemeClr>
                </a:solidFill>
                <a:highlight>
                  <a:srgbClr val="FFFF00"/>
                </a:highlight>
              </a:rPr>
              <a:t>, </a:t>
            </a:r>
            <a:r>
              <a:rPr lang="ko-KR" altLang="en-US" sz="1200" dirty="0"/>
              <a:t>하자가 중대하고 명백한지 여부를 판별함에 있어서는 그 법규의 목적</a:t>
            </a:r>
            <a:r>
              <a:rPr lang="en-US" altLang="ko-KR" sz="1200" dirty="0"/>
              <a:t>, </a:t>
            </a:r>
            <a:r>
              <a:rPr lang="ko-KR" altLang="en-US" sz="1200" dirty="0"/>
              <a:t>의미</a:t>
            </a:r>
            <a:r>
              <a:rPr lang="en-US" altLang="ko-KR" sz="1200" dirty="0"/>
              <a:t>, </a:t>
            </a:r>
            <a:r>
              <a:rPr lang="ko-KR" altLang="en-US" sz="1200" dirty="0"/>
              <a:t>기능 등을 목적론적으로 고찰함과 동시에 구체적 사안 자체의 특수성에 관하여도 합리적으로 고찰함을 요하는바</a:t>
            </a:r>
            <a:r>
              <a:rPr lang="en-US" altLang="ko-KR" sz="1200" dirty="0"/>
              <a:t>, </a:t>
            </a:r>
            <a:r>
              <a:rPr lang="ko-KR" altLang="en-US" sz="1200" dirty="0"/>
              <a:t>행정처분의 대상이 되지 아니하는 어떤 법률관계나 사실관계에 대하여 이를 처분의 대상이 되는 것으로 오인할 만한 객관적인 사정이 있는 경우로서 그것이 처분대상이 되는지의 여부가 그 사실관계를 정확히 조사하여야 비로소 밝혀질 수 있는 때에는 비록 이를 오인한 하자가 중대하다고 할지라도 외관상 명백하다고 할 수 없다</a:t>
            </a:r>
            <a:r>
              <a:rPr lang="en-US" altLang="ko-KR" sz="1200" dirty="0"/>
              <a:t>(</a:t>
            </a:r>
            <a:r>
              <a:rPr lang="ko-KR" altLang="en-US" sz="1200" dirty="0"/>
              <a:t>대법원 </a:t>
            </a:r>
            <a:r>
              <a:rPr lang="en-US" altLang="ko-KR" sz="1200" dirty="0"/>
              <a:t>2007. 3. 16. </a:t>
            </a:r>
            <a:r>
              <a:rPr lang="ko-KR" altLang="en-US" sz="1200" dirty="0"/>
              <a:t>선고 </a:t>
            </a:r>
            <a:r>
              <a:rPr lang="en-US" altLang="ko-KR" sz="1200" dirty="0"/>
              <a:t>2006</a:t>
            </a:r>
            <a:r>
              <a:rPr lang="ko-KR" altLang="en-US" sz="1200" dirty="0"/>
              <a:t>다</a:t>
            </a:r>
            <a:r>
              <a:rPr lang="en-US" altLang="ko-KR" sz="1200" dirty="0"/>
              <a:t>83802 </a:t>
            </a:r>
            <a:r>
              <a:rPr lang="ko-KR" altLang="en-US" sz="1200" dirty="0"/>
              <a:t>판결 등 참조</a:t>
            </a:r>
            <a:r>
              <a:rPr lang="en-US" altLang="ko-KR" sz="1200" dirty="0"/>
              <a:t>). </a:t>
            </a:r>
            <a:r>
              <a:rPr lang="ko-KR" altLang="en-US" sz="1200" dirty="0"/>
              <a:t>그런데 </a:t>
            </a:r>
            <a:r>
              <a:rPr lang="ko-KR" altLang="en-US" sz="1200" dirty="0">
                <a:solidFill>
                  <a:schemeClr val="accent3">
                    <a:lumMod val="50000"/>
                  </a:schemeClr>
                </a:solidFill>
                <a:highlight>
                  <a:srgbClr val="FFFF00"/>
                </a:highlight>
              </a:rPr>
              <a:t>지식재산처 심사관이 특허결정을 함에 있어서는 엄격한 선행기술의 조사</a:t>
            </a:r>
            <a:r>
              <a:rPr lang="en-US" altLang="ko-KR" sz="1200" dirty="0">
                <a:solidFill>
                  <a:schemeClr val="accent3">
                    <a:lumMod val="50000"/>
                  </a:schemeClr>
                </a:solidFill>
                <a:highlight>
                  <a:srgbClr val="FFFF00"/>
                </a:highlight>
              </a:rPr>
              <a:t>, </a:t>
            </a:r>
            <a:r>
              <a:rPr lang="ko-KR" altLang="en-US" sz="1200" dirty="0">
                <a:solidFill>
                  <a:schemeClr val="accent3">
                    <a:lumMod val="50000"/>
                  </a:schemeClr>
                </a:solidFill>
                <a:highlight>
                  <a:srgbClr val="FFFF00"/>
                </a:highlight>
              </a:rPr>
              <a:t>거절이유의 통지 등의 절차를 거쳐 특허출원에 대하여 거절이유를 발견할 수 없는 때에 한하여 이루어지는 점</a:t>
            </a:r>
            <a:r>
              <a:rPr lang="en-US" altLang="ko-KR" sz="1200" dirty="0">
                <a:solidFill>
                  <a:schemeClr val="accent3">
                    <a:lumMod val="50000"/>
                  </a:schemeClr>
                </a:solidFill>
                <a:highlight>
                  <a:srgbClr val="FFFF00"/>
                </a:highlight>
              </a:rPr>
              <a:t>, </a:t>
            </a:r>
            <a:r>
              <a:rPr lang="ko-KR" altLang="en-US" sz="1200" dirty="0">
                <a:solidFill>
                  <a:schemeClr val="accent3">
                    <a:lumMod val="50000"/>
                  </a:schemeClr>
                </a:solidFill>
                <a:highlight>
                  <a:srgbClr val="FFFF00"/>
                </a:highlight>
              </a:rPr>
              <a:t>특허무효사유 가운데는 </a:t>
            </a:r>
            <a:r>
              <a:rPr lang="ko-KR" altLang="en-US" sz="1200" dirty="0" err="1">
                <a:solidFill>
                  <a:schemeClr val="accent3">
                    <a:lumMod val="50000"/>
                  </a:schemeClr>
                </a:solidFill>
                <a:highlight>
                  <a:srgbClr val="FFFF00"/>
                </a:highlight>
              </a:rPr>
              <a:t>신규성</a:t>
            </a:r>
            <a:r>
              <a:rPr lang="ko-KR" altLang="en-US" sz="1200" dirty="0">
                <a:solidFill>
                  <a:schemeClr val="accent3">
                    <a:lumMod val="50000"/>
                  </a:schemeClr>
                </a:solidFill>
                <a:highlight>
                  <a:srgbClr val="FFFF00"/>
                </a:highlight>
              </a:rPr>
              <a:t> 또는 진보성 결여와 같이 단순한 사실확정의 문제에서 나아가 법적 평가의 성격을 지니는 것들이 적지 않은데다가 대체로 그 판단이 반드시 자명하지는 않은 점 등에 비추어 보면</a:t>
            </a:r>
            <a:r>
              <a:rPr lang="en-US" altLang="ko-KR" sz="1200" dirty="0">
                <a:solidFill>
                  <a:schemeClr val="accent3">
                    <a:lumMod val="50000"/>
                  </a:schemeClr>
                </a:solidFill>
                <a:highlight>
                  <a:srgbClr val="FFFF00"/>
                </a:highlight>
              </a:rPr>
              <a:t>, </a:t>
            </a:r>
            <a:r>
              <a:rPr lang="ko-KR" altLang="en-US" sz="1200" dirty="0">
                <a:solidFill>
                  <a:schemeClr val="accent3">
                    <a:lumMod val="50000"/>
                  </a:schemeClr>
                </a:solidFill>
                <a:highlight>
                  <a:srgbClr val="FFFF00"/>
                </a:highlight>
              </a:rPr>
              <a:t>특허법 소정의 특허무효사유는 원칙적으로 행정법상의 당연무효사유에 해당한다고 보기는 어렵고 단순한 취소사유에 불과하다고 봄이 타당하다</a:t>
            </a:r>
            <a:r>
              <a:rPr lang="en-US" altLang="ko-KR" sz="1200" dirty="0">
                <a:solidFill>
                  <a:schemeClr val="accent3">
                    <a:lumMod val="50000"/>
                  </a:schemeClr>
                </a:solidFill>
                <a:highlight>
                  <a:srgbClr val="FFFF00"/>
                </a:highlight>
              </a:rPr>
              <a:t>.</a:t>
            </a:r>
            <a:endParaRPr lang="ko-KR" altLang="en-US" sz="1200" dirty="0">
              <a:solidFill>
                <a:schemeClr val="accent3">
                  <a:lumMod val="50000"/>
                </a:schemeClr>
              </a:solidFill>
              <a:highlight>
                <a:srgbClr val="FFFF00"/>
              </a:highlight>
            </a:endParaRPr>
          </a:p>
        </p:txBody>
      </p:sp>
      <p:sp>
        <p:nvSpPr>
          <p:cNvPr id="75" name="직사각형 74"/>
          <p:cNvSpPr/>
          <p:nvPr/>
        </p:nvSpPr>
        <p:spPr bwMode="auto">
          <a:xfrm>
            <a:off x="326589" y="5109256"/>
            <a:ext cx="3443581" cy="268115"/>
          </a:xfrm>
          <a:prstGeom prst="rect">
            <a:avLst/>
          </a:prstGeom>
          <a:solidFill>
            <a:schemeClr val="accent2"/>
          </a:solidFill>
          <a:ln>
            <a:solidFill>
              <a:schemeClr val="bg1">
                <a:lumMod val="50000"/>
              </a:schemeClr>
            </a:solidFill>
            <a:headEnd type="none" w="med" len="med"/>
            <a:tailEnd type="none"/>
          </a:ln>
        </p:spPr>
        <p:style>
          <a:lnRef idx="1">
            <a:schemeClr val="accent2"/>
          </a:lnRef>
          <a:fillRef idx="3">
            <a:schemeClr val="accent2"/>
          </a:fillRef>
          <a:effectRef idx="2">
            <a:schemeClr val="accent2"/>
          </a:effectRef>
          <a:fontRef idx="minor">
            <a:schemeClr val="lt1"/>
          </a:fontRef>
        </p:style>
        <p:txBody>
          <a:bodyPr rtlCol="0" anchor="ctr"/>
          <a:lstStyle/>
          <a:p>
            <a:pPr algn="ctr"/>
            <a:r>
              <a:rPr lang="ko-KR" altLang="en-US" sz="1400" dirty="0"/>
              <a:t>특허법원 </a:t>
            </a:r>
            <a:r>
              <a:rPr lang="en-US" altLang="ko-KR" sz="1400" dirty="0"/>
              <a:t>2009. 2. 18. </a:t>
            </a:r>
            <a:r>
              <a:rPr lang="ko-KR" altLang="en-US" sz="1400" dirty="0"/>
              <a:t>선고 </a:t>
            </a:r>
            <a:r>
              <a:rPr lang="en-US" altLang="ko-KR" sz="1400" dirty="0"/>
              <a:t>2007</a:t>
            </a:r>
            <a:r>
              <a:rPr lang="ko-KR" altLang="en-US" sz="1400" dirty="0"/>
              <a:t>허</a:t>
            </a:r>
            <a:r>
              <a:rPr lang="en-US" altLang="ko-KR" sz="1400" dirty="0"/>
              <a:t>12961</a:t>
            </a:r>
          </a:p>
        </p:txBody>
      </p:sp>
      <p:sp>
        <p:nvSpPr>
          <p:cNvPr id="76" name="TextBox 75"/>
          <p:cNvSpPr txBox="1"/>
          <p:nvPr/>
        </p:nvSpPr>
        <p:spPr>
          <a:xfrm>
            <a:off x="323850" y="2358630"/>
            <a:ext cx="1018227" cy="999213"/>
          </a:xfrm>
          <a:prstGeom prst="rect">
            <a:avLst/>
          </a:prstGeom>
          <a:solidFill>
            <a:schemeClr val="tx2"/>
          </a:solidFill>
          <a:ln>
            <a:solidFill>
              <a:schemeClr val="bg1">
                <a:lumMod val="50000"/>
              </a:schemeClr>
            </a:solidFill>
          </a:ln>
        </p:spPr>
        <p:txBody>
          <a:bodyPr wrap="square" rtlCol="0" anchor="ctr">
            <a:noAutofit/>
          </a:bodyPr>
          <a:lstStyle/>
          <a:p>
            <a:pPr algn="ctr"/>
            <a:r>
              <a:rPr lang="ko-KR" altLang="en-US" sz="2800" dirty="0">
                <a:solidFill>
                  <a:schemeClr val="accent4"/>
                </a:solidFill>
              </a:rPr>
              <a:t>소멸</a:t>
            </a:r>
            <a:endParaRPr lang="en-US" altLang="ko-KR" sz="2800" dirty="0">
              <a:solidFill>
                <a:schemeClr val="accent4"/>
              </a:solidFill>
            </a:endParaRPr>
          </a:p>
          <a:p>
            <a:pPr algn="ctr"/>
            <a:r>
              <a:rPr lang="ko-KR" altLang="en-US" sz="2800" dirty="0">
                <a:solidFill>
                  <a:schemeClr val="accent4"/>
                </a:solidFill>
              </a:rPr>
              <a:t>원인</a:t>
            </a:r>
          </a:p>
        </p:txBody>
      </p:sp>
      <p:cxnSp>
        <p:nvCxnSpPr>
          <p:cNvPr id="78" name="꺾인 연결선 77"/>
          <p:cNvCxnSpPr>
            <a:stCxn id="76" idx="3"/>
            <a:endCxn id="14" idx="1"/>
          </p:cNvCxnSpPr>
          <p:nvPr/>
        </p:nvCxnSpPr>
        <p:spPr>
          <a:xfrm flipV="1">
            <a:off x="1342077" y="1802334"/>
            <a:ext cx="1018152" cy="105590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꺾인 연결선 79"/>
          <p:cNvCxnSpPr>
            <a:stCxn id="76" idx="3"/>
            <a:endCxn id="27" idx="1"/>
          </p:cNvCxnSpPr>
          <p:nvPr/>
        </p:nvCxnSpPr>
        <p:spPr>
          <a:xfrm>
            <a:off x="1342077" y="2858237"/>
            <a:ext cx="1018152" cy="95478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28933764"/>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직사각형 11">
            <a:extLst>
              <a:ext uri="{FF2B5EF4-FFF2-40B4-BE49-F238E27FC236}">
                <a16:creationId xmlns:a16="http://schemas.microsoft.com/office/drawing/2014/main" id="{6001A69A-1A34-48F2-8160-A6F15213886F}"/>
              </a:ext>
            </a:extLst>
          </p:cNvPr>
          <p:cNvSpPr/>
          <p:nvPr/>
        </p:nvSpPr>
        <p:spPr>
          <a:xfrm>
            <a:off x="184731" y="5231595"/>
            <a:ext cx="3446990" cy="712005"/>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직사각형 6">
            <a:extLst>
              <a:ext uri="{FF2B5EF4-FFF2-40B4-BE49-F238E27FC236}">
                <a16:creationId xmlns:a16="http://schemas.microsoft.com/office/drawing/2014/main" id="{907D266E-8BC2-41C7-B6FB-241DD1AB6F46}"/>
              </a:ext>
            </a:extLst>
          </p:cNvPr>
          <p:cNvSpPr/>
          <p:nvPr/>
        </p:nvSpPr>
        <p:spPr>
          <a:xfrm>
            <a:off x="184731" y="3938934"/>
            <a:ext cx="3446990" cy="1236915"/>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solidFill>
                  <a:srgbClr val="525252"/>
                </a:solidFill>
              </a:rPr>
              <a:t>복수 주체의 분산 실시 </a:t>
            </a:r>
            <a:r>
              <a:rPr lang="en-US" altLang="ko-KR" dirty="0">
                <a:solidFill>
                  <a:srgbClr val="525252"/>
                </a:solidFill>
              </a:rPr>
              <a:t>CASE</a:t>
            </a:r>
            <a:endParaRPr lang="ko-KR" altLang="en-US" dirty="0">
              <a:solidFill>
                <a:srgbClr val="525252"/>
              </a:solidFill>
            </a:endParaRPr>
          </a:p>
        </p:txBody>
      </p:sp>
      <p:sp>
        <p:nvSpPr>
          <p:cNvPr id="5" name="슬라이드 번호 개체 틀 4"/>
          <p:cNvSpPr>
            <a:spLocks noGrp="1"/>
          </p:cNvSpPr>
          <p:nvPr>
            <p:ph type="sldNum" sz="quarter" idx="4294967295"/>
          </p:nvPr>
        </p:nvSpPr>
        <p:spPr>
          <a:xfrm>
            <a:off x="11125200" y="0"/>
            <a:ext cx="1066800" cy="744538"/>
          </a:xfrm>
        </p:spPr>
        <p:txBody>
          <a:bodyPr/>
          <a:lstStyle/>
          <a:p>
            <a:r>
              <a:rPr lang="en-US" altLang="ko-KR"/>
              <a:t>372</a:t>
            </a:r>
            <a:endParaRPr lang="ko-KR" altLang="en-US"/>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44" name="직선 연결선 43">
            <a:extLst>
              <a:ext uri="{FF2B5EF4-FFF2-40B4-BE49-F238E27FC236}">
                <a16:creationId xmlns:a16="http://schemas.microsoft.com/office/drawing/2014/main" id="{D3BB6AF1-7F60-452C-A6FA-C26D553DE96B}"/>
              </a:ext>
            </a:extLst>
          </p:cNvPr>
          <p:cNvCxnSpPr/>
          <p:nvPr/>
        </p:nvCxnSpPr>
        <p:spPr>
          <a:xfrm>
            <a:off x="0" y="2646272"/>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직사각형 44">
            <a:extLst>
              <a:ext uri="{FF2B5EF4-FFF2-40B4-BE49-F238E27FC236}">
                <a16:creationId xmlns:a16="http://schemas.microsoft.com/office/drawing/2014/main" id="{7C8A4446-9A84-44CF-BF8E-778825646662}"/>
              </a:ext>
            </a:extLst>
          </p:cNvPr>
          <p:cNvSpPr/>
          <p:nvPr/>
        </p:nvSpPr>
        <p:spPr>
          <a:xfrm>
            <a:off x="232372" y="1353610"/>
            <a:ext cx="11681987" cy="1292662"/>
          </a:xfrm>
          <a:prstGeom prst="rect">
            <a:avLst/>
          </a:prstGeom>
        </p:spPr>
        <p:txBody>
          <a:bodyPr wrap="square">
            <a:spAutoFit/>
          </a:bodyPr>
          <a:lstStyle/>
          <a:p>
            <a:pPr algn="just" fontAlgn="base"/>
            <a:r>
              <a:rPr lang="ko-KR" altLang="en-US" sz="1300" dirty="0"/>
              <a:t>특허 청구항을 복수의 구성요소로 구성한 경우에는 그 각 구성요소가 유기적으로 결합한 </a:t>
            </a:r>
            <a:r>
              <a:rPr lang="ko-KR" altLang="en-US" sz="1300" dirty="0" err="1"/>
              <a:t>전체로서의</a:t>
            </a:r>
            <a:r>
              <a:rPr lang="ko-KR" altLang="en-US" sz="1300" dirty="0"/>
              <a:t> 기술사상을 보호하는 것이지 각 구성요소를 독립하여 보호하는 것은 아니므로</a:t>
            </a:r>
            <a:r>
              <a:rPr lang="en-US" altLang="ko-KR" sz="1300" dirty="0"/>
              <a:t>, </a:t>
            </a:r>
            <a:r>
              <a:rPr lang="ko-KR" altLang="en-US" sz="1300" dirty="0"/>
              <a:t>원칙적으로 단일 주체가 모든 구성요소가 유기적으로 결합한 </a:t>
            </a:r>
            <a:r>
              <a:rPr lang="ko-KR" altLang="en-US" sz="1300" dirty="0" err="1"/>
              <a:t>전체로서의</a:t>
            </a:r>
            <a:r>
              <a:rPr lang="ko-KR" altLang="en-US" sz="1300" dirty="0"/>
              <a:t> 특허발명을 실시하여야 그 특허발명에 관한 특허권을 침해한 것으로 된다</a:t>
            </a:r>
            <a:r>
              <a:rPr lang="en-US" altLang="ko-KR" sz="1300" dirty="0"/>
              <a:t>(</a:t>
            </a:r>
            <a:r>
              <a:rPr lang="ko-KR" altLang="en-US" sz="1300" dirty="0"/>
              <a:t>이른바 ‘구성요소 완비의 원칙’</a:t>
            </a:r>
            <a:r>
              <a:rPr lang="en-US" altLang="ko-KR" sz="1300" dirty="0"/>
              <a:t>). </a:t>
            </a:r>
            <a:r>
              <a:rPr lang="ko-KR" altLang="en-US" sz="1300" dirty="0"/>
              <a:t>다만</a:t>
            </a:r>
            <a:r>
              <a:rPr lang="en-US" altLang="ko-KR" sz="1300" dirty="0"/>
              <a:t>, </a:t>
            </a:r>
            <a:r>
              <a:rPr lang="ko-KR" altLang="en-US" sz="1300" dirty="0"/>
              <a:t>복수 주체가 단일한 특허발명의 일부 구성요소를 분담하여 실시하는 경우라고 하더라도</a:t>
            </a:r>
            <a:r>
              <a:rPr lang="en-US" altLang="ko-KR" sz="1300" dirty="0"/>
              <a:t>, </a:t>
            </a:r>
            <a:r>
              <a:rPr lang="en-US" altLang="ko-KR" sz="1300" dirty="0">
                <a:solidFill>
                  <a:schemeClr val="accent3">
                    <a:lumMod val="50000"/>
                  </a:schemeClr>
                </a:solidFill>
                <a:highlight>
                  <a:srgbClr val="FFFF00"/>
                </a:highlight>
              </a:rPr>
              <a:t>ⅰ) </a:t>
            </a:r>
            <a:r>
              <a:rPr lang="ko-KR" altLang="en-US" sz="1300" dirty="0">
                <a:solidFill>
                  <a:schemeClr val="accent3">
                    <a:lumMod val="50000"/>
                  </a:schemeClr>
                </a:solidFill>
                <a:highlight>
                  <a:srgbClr val="FFFF00"/>
                </a:highlight>
              </a:rPr>
              <a:t>복수 주체 중 어느 한 단일 주체가 다른 주체의 실시를 지배</a:t>
            </a:r>
            <a:r>
              <a:rPr lang="en-US" altLang="ko-KR" sz="1300" dirty="0">
                <a:solidFill>
                  <a:schemeClr val="accent3">
                    <a:lumMod val="50000"/>
                  </a:schemeClr>
                </a:solidFill>
                <a:highlight>
                  <a:srgbClr val="FFFF00"/>
                </a:highlight>
              </a:rPr>
              <a:t>, </a:t>
            </a:r>
            <a:r>
              <a:rPr lang="ko-KR" altLang="en-US" sz="1300" dirty="0">
                <a:solidFill>
                  <a:schemeClr val="accent3">
                    <a:lumMod val="50000"/>
                  </a:schemeClr>
                </a:solidFill>
                <a:highlight>
                  <a:srgbClr val="FFFF00"/>
                </a:highlight>
              </a:rPr>
              <a:t>관리하고</a:t>
            </a:r>
            <a:r>
              <a:rPr lang="en-US" altLang="ko-KR" sz="1300" dirty="0">
                <a:solidFill>
                  <a:schemeClr val="accent3">
                    <a:lumMod val="50000"/>
                  </a:schemeClr>
                </a:solidFill>
                <a:highlight>
                  <a:srgbClr val="FFFF00"/>
                </a:highlight>
              </a:rPr>
              <a:t>, </a:t>
            </a:r>
            <a:r>
              <a:rPr lang="ko-KR" altLang="en-US" sz="1300" dirty="0">
                <a:solidFill>
                  <a:schemeClr val="accent3">
                    <a:lumMod val="50000"/>
                  </a:schemeClr>
                </a:solidFill>
                <a:highlight>
                  <a:srgbClr val="FFFF00"/>
                </a:highlight>
              </a:rPr>
              <a:t>그 다른 주체의 실시로 인하여 영업상의 이익을 얻는 경우에는 다른 주체의 실시를 지배</a:t>
            </a:r>
            <a:r>
              <a:rPr lang="en-US" altLang="ko-KR" sz="1300" dirty="0">
                <a:solidFill>
                  <a:schemeClr val="accent3">
                    <a:lumMod val="50000"/>
                  </a:schemeClr>
                </a:solidFill>
                <a:highlight>
                  <a:srgbClr val="FFFF00"/>
                </a:highlight>
              </a:rPr>
              <a:t>, </a:t>
            </a:r>
            <a:r>
              <a:rPr lang="ko-KR" altLang="en-US" sz="1300" dirty="0">
                <a:solidFill>
                  <a:schemeClr val="accent3">
                    <a:lumMod val="50000"/>
                  </a:schemeClr>
                </a:solidFill>
                <a:highlight>
                  <a:srgbClr val="FFFF00"/>
                </a:highlight>
              </a:rPr>
              <a:t>관리하면서 영업상의 이익을 얻는 어느 한 단일 주체가 단독으로</a:t>
            </a:r>
            <a:r>
              <a:rPr lang="en-US" altLang="ko-KR" sz="1300" dirty="0">
                <a:solidFill>
                  <a:schemeClr val="accent3">
                    <a:lumMod val="50000"/>
                  </a:schemeClr>
                </a:solidFill>
                <a:highlight>
                  <a:srgbClr val="FFFF00"/>
                </a:highlight>
              </a:rPr>
              <a:t>, ⅱ) </a:t>
            </a:r>
            <a:r>
              <a:rPr lang="ko-KR" altLang="en-US" sz="1300" dirty="0">
                <a:solidFill>
                  <a:schemeClr val="accent3">
                    <a:lumMod val="50000"/>
                  </a:schemeClr>
                </a:solidFill>
                <a:highlight>
                  <a:srgbClr val="FFFF00"/>
                </a:highlight>
              </a:rPr>
              <a:t>복수 주체가 각각 다른 주체의 실시행위를 인식하고 이를 이용할 의사</a:t>
            </a:r>
            <a:r>
              <a:rPr lang="en-US" altLang="ko-KR" sz="1300" dirty="0">
                <a:solidFill>
                  <a:schemeClr val="accent3">
                    <a:lumMod val="50000"/>
                  </a:schemeClr>
                </a:solidFill>
                <a:highlight>
                  <a:srgbClr val="FFFF00"/>
                </a:highlight>
              </a:rPr>
              <a:t>, </a:t>
            </a:r>
            <a:r>
              <a:rPr lang="ko-KR" altLang="en-US" sz="1300" dirty="0">
                <a:solidFill>
                  <a:schemeClr val="accent3">
                    <a:lumMod val="50000"/>
                  </a:schemeClr>
                </a:solidFill>
                <a:highlight>
                  <a:srgbClr val="FFFF00"/>
                </a:highlight>
              </a:rPr>
              <a:t>즉 서로 다른 주체의 실시행위를 이용하여 공동으로 특허발명을 실시할 의사를 가지고</a:t>
            </a:r>
            <a:r>
              <a:rPr lang="en-US" altLang="ko-KR" sz="1300" dirty="0">
                <a:solidFill>
                  <a:schemeClr val="accent3">
                    <a:lumMod val="50000"/>
                  </a:schemeClr>
                </a:solidFill>
                <a:highlight>
                  <a:srgbClr val="FFFF00"/>
                </a:highlight>
              </a:rPr>
              <a:t>, </a:t>
            </a:r>
            <a:r>
              <a:rPr lang="ko-KR" altLang="en-US" sz="1300" dirty="0">
                <a:solidFill>
                  <a:schemeClr val="accent3">
                    <a:lumMod val="50000"/>
                  </a:schemeClr>
                </a:solidFill>
                <a:highlight>
                  <a:srgbClr val="FFFF00"/>
                </a:highlight>
              </a:rPr>
              <a:t>특허발명의 전체 구성요소를 나누어 실시하는 경우에는 이들 복수 주체가 공동으로 특허침해를 한 것으로 봄이 타당하다</a:t>
            </a:r>
            <a:r>
              <a:rPr lang="en-US" altLang="ko-KR" sz="1300" dirty="0">
                <a:solidFill>
                  <a:schemeClr val="accent3">
                    <a:lumMod val="50000"/>
                  </a:schemeClr>
                </a:solidFill>
                <a:highlight>
                  <a:srgbClr val="FFFF00"/>
                </a:highlight>
              </a:rPr>
              <a:t>.</a:t>
            </a:r>
            <a:endParaRPr lang="ko-KR" altLang="en-US" sz="1300" dirty="0">
              <a:solidFill>
                <a:schemeClr val="accent3">
                  <a:lumMod val="50000"/>
                </a:schemeClr>
              </a:solidFill>
              <a:highlight>
                <a:srgbClr val="FFFF00"/>
              </a:highlight>
            </a:endParaRPr>
          </a:p>
        </p:txBody>
      </p:sp>
      <p:sp>
        <p:nvSpPr>
          <p:cNvPr id="46" name="모서리가 둥근 직사각형 10">
            <a:extLst>
              <a:ext uri="{FF2B5EF4-FFF2-40B4-BE49-F238E27FC236}">
                <a16:creationId xmlns:a16="http://schemas.microsoft.com/office/drawing/2014/main" id="{1EB2F813-B207-4574-BC6A-9E0259FF1206}"/>
              </a:ext>
            </a:extLst>
          </p:cNvPr>
          <p:cNvSpPr/>
          <p:nvPr/>
        </p:nvSpPr>
        <p:spPr bwMode="auto">
          <a:xfrm>
            <a:off x="378418" y="998802"/>
            <a:ext cx="4090065"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서울고등법원 </a:t>
            </a:r>
            <a:r>
              <a:rPr lang="en-US" altLang="ko-KR" sz="1400" dirty="0"/>
              <a:t>2017. 8. 21. </a:t>
            </a:r>
            <a:r>
              <a:rPr lang="ko-KR" altLang="en-US" sz="1400" dirty="0"/>
              <a:t>선고 </a:t>
            </a:r>
            <a:r>
              <a:rPr lang="en-US" altLang="ko-KR" sz="1400" dirty="0"/>
              <a:t>2015</a:t>
            </a:r>
            <a:r>
              <a:rPr lang="ko-KR" altLang="en-US" sz="1400" dirty="0"/>
              <a:t>라</a:t>
            </a:r>
            <a:r>
              <a:rPr lang="en-US" altLang="ko-KR" sz="1400" dirty="0"/>
              <a:t>20296 </a:t>
            </a:r>
            <a:r>
              <a:rPr lang="ko-KR" altLang="en-US" sz="1400" dirty="0"/>
              <a:t>결정</a:t>
            </a:r>
            <a:endParaRPr lang="en-US" altLang="ko-KR" sz="1400" dirty="0"/>
          </a:p>
        </p:txBody>
      </p:sp>
      <p:sp>
        <p:nvSpPr>
          <p:cNvPr id="6" name="TextBox 5">
            <a:extLst>
              <a:ext uri="{FF2B5EF4-FFF2-40B4-BE49-F238E27FC236}">
                <a16:creationId xmlns:a16="http://schemas.microsoft.com/office/drawing/2014/main" id="{8CDC2C21-5BFC-487F-A726-6AF8A55A7963}"/>
              </a:ext>
            </a:extLst>
          </p:cNvPr>
          <p:cNvSpPr txBox="1"/>
          <p:nvPr/>
        </p:nvSpPr>
        <p:spPr>
          <a:xfrm>
            <a:off x="347488" y="3032171"/>
            <a:ext cx="2611612" cy="3374385"/>
          </a:xfrm>
          <a:prstGeom prst="rect">
            <a:avLst/>
          </a:prstGeom>
          <a:noFill/>
          <a:ln>
            <a:noFill/>
          </a:ln>
        </p:spPr>
        <p:txBody>
          <a:bodyPr wrap="none" rtlCol="0">
            <a:spAutoFit/>
          </a:bodyPr>
          <a:lstStyle/>
          <a:p>
            <a:pPr>
              <a:lnSpc>
                <a:spcPct val="150000"/>
              </a:lnSpc>
            </a:pPr>
            <a:r>
              <a:rPr lang="ko-KR" altLang="en-US" dirty="0"/>
              <a:t>청구항</a:t>
            </a:r>
            <a:endParaRPr lang="en-US" altLang="ko-KR" dirty="0"/>
          </a:p>
          <a:p>
            <a:pPr>
              <a:lnSpc>
                <a:spcPct val="150000"/>
              </a:lnSpc>
            </a:pPr>
            <a:endParaRPr lang="en-US" altLang="ko-KR" dirty="0"/>
          </a:p>
          <a:p>
            <a:pPr>
              <a:lnSpc>
                <a:spcPct val="150000"/>
              </a:lnSpc>
            </a:pPr>
            <a:r>
              <a:rPr lang="en-US" altLang="ko-KR" dirty="0"/>
              <a:t>--- A</a:t>
            </a:r>
            <a:r>
              <a:rPr lang="ko-KR" altLang="en-US" dirty="0"/>
              <a:t> 단계</a:t>
            </a:r>
            <a:r>
              <a:rPr lang="en-US" altLang="ko-KR" dirty="0"/>
              <a:t>;</a:t>
            </a:r>
          </a:p>
          <a:p>
            <a:pPr>
              <a:lnSpc>
                <a:spcPct val="150000"/>
              </a:lnSpc>
            </a:pPr>
            <a:r>
              <a:rPr lang="en-US" altLang="ko-KR" dirty="0"/>
              <a:t>--- B </a:t>
            </a:r>
            <a:r>
              <a:rPr lang="ko-KR" altLang="en-US" dirty="0"/>
              <a:t>단계</a:t>
            </a:r>
            <a:r>
              <a:rPr lang="en-US" altLang="ko-KR" dirty="0"/>
              <a:t>;</a:t>
            </a:r>
          </a:p>
          <a:p>
            <a:pPr>
              <a:lnSpc>
                <a:spcPct val="150000"/>
              </a:lnSpc>
            </a:pPr>
            <a:r>
              <a:rPr lang="en-US" altLang="ko-KR" dirty="0"/>
              <a:t>--- C </a:t>
            </a:r>
            <a:r>
              <a:rPr lang="ko-KR" altLang="en-US" dirty="0"/>
              <a:t>단계</a:t>
            </a:r>
            <a:r>
              <a:rPr lang="en-US" altLang="ko-KR" dirty="0"/>
              <a:t>;</a:t>
            </a:r>
          </a:p>
          <a:p>
            <a:pPr>
              <a:lnSpc>
                <a:spcPct val="150000"/>
              </a:lnSpc>
            </a:pPr>
            <a:r>
              <a:rPr lang="en-US" altLang="ko-KR" dirty="0"/>
              <a:t>--- D</a:t>
            </a:r>
            <a:r>
              <a:rPr lang="ko-KR" altLang="en-US" dirty="0"/>
              <a:t> 단계</a:t>
            </a:r>
            <a:r>
              <a:rPr lang="en-US" altLang="ko-KR" dirty="0"/>
              <a:t>; </a:t>
            </a:r>
            <a:r>
              <a:rPr lang="ko-KR" altLang="en-US" dirty="0"/>
              <a:t>및</a:t>
            </a:r>
            <a:endParaRPr lang="en-US" altLang="ko-KR" dirty="0"/>
          </a:p>
          <a:p>
            <a:pPr>
              <a:lnSpc>
                <a:spcPct val="150000"/>
              </a:lnSpc>
            </a:pPr>
            <a:r>
              <a:rPr lang="en-US" altLang="ko-KR" dirty="0"/>
              <a:t>--- E </a:t>
            </a:r>
            <a:r>
              <a:rPr lang="ko-KR" altLang="en-US" dirty="0"/>
              <a:t>단계를 포함하는 것</a:t>
            </a:r>
            <a:endParaRPr lang="en-US" altLang="ko-KR" dirty="0"/>
          </a:p>
          <a:p>
            <a:pPr>
              <a:lnSpc>
                <a:spcPct val="150000"/>
              </a:lnSpc>
            </a:pPr>
            <a:r>
              <a:rPr lang="ko-KR" altLang="en-US" dirty="0"/>
              <a:t>을 특징으로 하는 </a:t>
            </a:r>
            <a:r>
              <a:rPr lang="en-US" altLang="ko-KR" dirty="0"/>
              <a:t>OO</a:t>
            </a:r>
            <a:r>
              <a:rPr lang="ko-KR" altLang="en-US" dirty="0"/>
              <a:t>방법</a:t>
            </a:r>
          </a:p>
        </p:txBody>
      </p:sp>
      <p:sp>
        <p:nvSpPr>
          <p:cNvPr id="8" name="TextBox 7">
            <a:extLst>
              <a:ext uri="{FF2B5EF4-FFF2-40B4-BE49-F238E27FC236}">
                <a16:creationId xmlns:a16="http://schemas.microsoft.com/office/drawing/2014/main" id="{8A116F14-B4EE-4416-B3FA-7E3FFF84D05E}"/>
              </a:ext>
            </a:extLst>
          </p:cNvPr>
          <p:cNvSpPr txBox="1"/>
          <p:nvPr/>
        </p:nvSpPr>
        <p:spPr>
          <a:xfrm>
            <a:off x="2648009" y="4357336"/>
            <a:ext cx="947695" cy="400110"/>
          </a:xfrm>
          <a:prstGeom prst="rect">
            <a:avLst/>
          </a:prstGeom>
          <a:noFill/>
        </p:spPr>
        <p:txBody>
          <a:bodyPr wrap="none" rtlCol="0">
            <a:spAutoFit/>
          </a:bodyPr>
          <a:lstStyle/>
          <a:p>
            <a:r>
              <a:rPr lang="ko-KR" altLang="en-US" sz="2000" dirty="0">
                <a:solidFill>
                  <a:srgbClr val="FF0000"/>
                </a:solidFill>
              </a:rPr>
              <a:t>甲</a:t>
            </a:r>
            <a:r>
              <a:rPr lang="en-US" altLang="ko-KR" sz="2000" dirty="0">
                <a:solidFill>
                  <a:srgbClr val="FF0000"/>
                </a:solidFill>
              </a:rPr>
              <a:t> </a:t>
            </a:r>
            <a:r>
              <a:rPr lang="ko-KR" altLang="en-US" sz="2000" dirty="0">
                <a:solidFill>
                  <a:srgbClr val="FF0000"/>
                </a:solidFill>
              </a:rPr>
              <a:t>실시</a:t>
            </a:r>
          </a:p>
        </p:txBody>
      </p:sp>
      <p:sp>
        <p:nvSpPr>
          <p:cNvPr id="13" name="TextBox 12">
            <a:extLst>
              <a:ext uri="{FF2B5EF4-FFF2-40B4-BE49-F238E27FC236}">
                <a16:creationId xmlns:a16="http://schemas.microsoft.com/office/drawing/2014/main" id="{B115A5DB-3DCD-45C3-830E-4AA179A8A44D}"/>
              </a:ext>
            </a:extLst>
          </p:cNvPr>
          <p:cNvSpPr txBox="1"/>
          <p:nvPr/>
        </p:nvSpPr>
        <p:spPr>
          <a:xfrm>
            <a:off x="2648009" y="5272959"/>
            <a:ext cx="947695" cy="400110"/>
          </a:xfrm>
          <a:prstGeom prst="rect">
            <a:avLst/>
          </a:prstGeom>
          <a:noFill/>
        </p:spPr>
        <p:txBody>
          <a:bodyPr wrap="none" rtlCol="0">
            <a:spAutoFit/>
          </a:bodyPr>
          <a:lstStyle/>
          <a:p>
            <a:r>
              <a:rPr lang="ko-KR" altLang="en-US" sz="2000" dirty="0">
                <a:solidFill>
                  <a:srgbClr val="FF0000"/>
                </a:solidFill>
              </a:rPr>
              <a:t>乙</a:t>
            </a:r>
            <a:r>
              <a:rPr lang="en-US" altLang="ko-KR" sz="2000" dirty="0">
                <a:solidFill>
                  <a:srgbClr val="FF0000"/>
                </a:solidFill>
              </a:rPr>
              <a:t> </a:t>
            </a:r>
            <a:r>
              <a:rPr lang="ko-KR" altLang="en-US" sz="2000" dirty="0">
                <a:solidFill>
                  <a:srgbClr val="FF0000"/>
                </a:solidFill>
              </a:rPr>
              <a:t>실시</a:t>
            </a:r>
          </a:p>
        </p:txBody>
      </p:sp>
      <p:sp>
        <p:nvSpPr>
          <p:cNvPr id="9" name="TextBox 8">
            <a:extLst>
              <a:ext uri="{FF2B5EF4-FFF2-40B4-BE49-F238E27FC236}">
                <a16:creationId xmlns:a16="http://schemas.microsoft.com/office/drawing/2014/main" id="{83487876-77D4-4EDC-ABE1-A8A1E800E8CC}"/>
              </a:ext>
            </a:extLst>
          </p:cNvPr>
          <p:cNvSpPr txBox="1"/>
          <p:nvPr/>
        </p:nvSpPr>
        <p:spPr>
          <a:xfrm>
            <a:off x="4094489" y="2738604"/>
            <a:ext cx="4003019" cy="369332"/>
          </a:xfrm>
          <a:prstGeom prst="rect">
            <a:avLst/>
          </a:prstGeom>
          <a:solidFill>
            <a:schemeClr val="accent4">
              <a:lumMod val="20000"/>
              <a:lumOff val="80000"/>
            </a:schemeClr>
          </a:solidFill>
          <a:ln>
            <a:solidFill>
              <a:schemeClr val="tx1"/>
            </a:solidFill>
            <a:prstDash val="sysDot"/>
          </a:ln>
        </p:spPr>
        <p:txBody>
          <a:bodyPr wrap="none" rtlCol="0">
            <a:spAutoFit/>
          </a:bodyPr>
          <a:lstStyle/>
          <a:p>
            <a:r>
              <a:rPr lang="en-US" altLang="ko-KR" dirty="0"/>
              <a:t>* </a:t>
            </a:r>
            <a:r>
              <a:rPr lang="ko-KR" altLang="en-US" dirty="0"/>
              <a:t>甲 또는 乙에게 책임을 물을 수 있는가</a:t>
            </a:r>
            <a:r>
              <a:rPr lang="en-US" altLang="ko-KR" dirty="0"/>
              <a:t>?</a:t>
            </a:r>
            <a:endParaRPr lang="ko-KR" altLang="en-US" dirty="0"/>
          </a:p>
        </p:txBody>
      </p:sp>
      <p:cxnSp>
        <p:nvCxnSpPr>
          <p:cNvPr id="11" name="직선 연결선 10">
            <a:extLst>
              <a:ext uri="{FF2B5EF4-FFF2-40B4-BE49-F238E27FC236}">
                <a16:creationId xmlns:a16="http://schemas.microsoft.com/office/drawing/2014/main" id="{7FFF1454-893C-4B8D-9D1A-07FEFB6B13AF}"/>
              </a:ext>
            </a:extLst>
          </p:cNvPr>
          <p:cNvCxnSpPr/>
          <p:nvPr/>
        </p:nvCxnSpPr>
        <p:spPr>
          <a:xfrm>
            <a:off x="3942272" y="2923270"/>
            <a:ext cx="0" cy="3650058"/>
          </a:xfrm>
          <a:prstGeom prst="line">
            <a:avLst/>
          </a:prstGeom>
          <a:ln w="381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직사각형 13">
            <a:extLst>
              <a:ext uri="{FF2B5EF4-FFF2-40B4-BE49-F238E27FC236}">
                <a16:creationId xmlns:a16="http://schemas.microsoft.com/office/drawing/2014/main" id="{9379AA19-D6D7-400F-8737-C5E0D29A9F50}"/>
              </a:ext>
            </a:extLst>
          </p:cNvPr>
          <p:cNvSpPr/>
          <p:nvPr/>
        </p:nvSpPr>
        <p:spPr>
          <a:xfrm>
            <a:off x="4252824" y="3418692"/>
            <a:ext cx="1061039" cy="354827"/>
          </a:xfrm>
          <a:prstGeom prst="rect">
            <a:avLst/>
          </a:prstGeom>
          <a:solidFill>
            <a:schemeClr val="bg1">
              <a:lumMod val="9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50000"/>
                  </a:schemeClr>
                </a:solidFill>
              </a:rPr>
              <a:t>간접침해</a:t>
            </a:r>
          </a:p>
        </p:txBody>
      </p:sp>
      <p:sp>
        <p:nvSpPr>
          <p:cNvPr id="18" name="직사각형 17">
            <a:extLst>
              <a:ext uri="{FF2B5EF4-FFF2-40B4-BE49-F238E27FC236}">
                <a16:creationId xmlns:a16="http://schemas.microsoft.com/office/drawing/2014/main" id="{1207F858-0DA8-4C1F-A4BD-F5F1D83D80E8}"/>
              </a:ext>
            </a:extLst>
          </p:cNvPr>
          <p:cNvSpPr/>
          <p:nvPr/>
        </p:nvSpPr>
        <p:spPr>
          <a:xfrm>
            <a:off x="5417390" y="3418692"/>
            <a:ext cx="6427122" cy="3548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400" dirty="0">
                <a:solidFill>
                  <a:schemeClr val="tx1"/>
                </a:solidFill>
              </a:rPr>
              <a:t>OO</a:t>
            </a:r>
            <a:r>
              <a:rPr lang="ko-KR" altLang="en-US" sz="1400" dirty="0">
                <a:solidFill>
                  <a:schemeClr val="tx1"/>
                </a:solidFill>
              </a:rPr>
              <a:t> 방법의 실시에만 사용되는 물건이라면 甲 또는 乙의 간접침해</a:t>
            </a:r>
            <a:endParaRPr lang="ko-KR" altLang="en-US" dirty="0">
              <a:solidFill>
                <a:schemeClr val="tx1"/>
              </a:solidFill>
            </a:endParaRPr>
          </a:p>
        </p:txBody>
      </p:sp>
      <p:sp>
        <p:nvSpPr>
          <p:cNvPr id="19" name="직사각형 18">
            <a:extLst>
              <a:ext uri="{FF2B5EF4-FFF2-40B4-BE49-F238E27FC236}">
                <a16:creationId xmlns:a16="http://schemas.microsoft.com/office/drawing/2014/main" id="{DF3C5AAB-7B80-41DC-84A3-BF76B17A2EA9}"/>
              </a:ext>
            </a:extLst>
          </p:cNvPr>
          <p:cNvSpPr/>
          <p:nvPr/>
        </p:nvSpPr>
        <p:spPr>
          <a:xfrm>
            <a:off x="4252824" y="4357336"/>
            <a:ext cx="1061039" cy="354827"/>
          </a:xfrm>
          <a:prstGeom prst="rect">
            <a:avLst/>
          </a:prstGeom>
          <a:solidFill>
            <a:schemeClr val="accent2">
              <a:lumMod val="50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accent1">
                    <a:lumMod val="20000"/>
                    <a:lumOff val="80000"/>
                  </a:schemeClr>
                </a:solidFill>
              </a:rPr>
              <a:t>직접침해</a:t>
            </a:r>
          </a:p>
        </p:txBody>
      </p:sp>
      <p:sp>
        <p:nvSpPr>
          <p:cNvPr id="20" name="직사각형 19">
            <a:extLst>
              <a:ext uri="{FF2B5EF4-FFF2-40B4-BE49-F238E27FC236}">
                <a16:creationId xmlns:a16="http://schemas.microsoft.com/office/drawing/2014/main" id="{FFE53ED5-A369-43E0-B27B-571A51874A09}"/>
              </a:ext>
            </a:extLst>
          </p:cNvPr>
          <p:cNvSpPr/>
          <p:nvPr/>
        </p:nvSpPr>
        <p:spPr>
          <a:xfrm>
            <a:off x="6685453" y="4002509"/>
            <a:ext cx="5159056" cy="3548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400" dirty="0">
                <a:solidFill>
                  <a:schemeClr val="tx1"/>
                </a:solidFill>
              </a:rPr>
              <a:t>甲이 乙의 실시를 지배</a:t>
            </a:r>
            <a:r>
              <a:rPr lang="en-US" altLang="ko-KR" sz="1400" dirty="0">
                <a:solidFill>
                  <a:schemeClr val="tx1"/>
                </a:solidFill>
              </a:rPr>
              <a:t>, </a:t>
            </a:r>
            <a:r>
              <a:rPr lang="ko-KR" altLang="en-US" sz="1400" dirty="0">
                <a:solidFill>
                  <a:schemeClr val="tx1"/>
                </a:solidFill>
              </a:rPr>
              <a:t>관리하면서 영업상의 이익을 얻고 있다면 甲의 단독 직접침해</a:t>
            </a:r>
            <a:endParaRPr lang="ko-KR" altLang="en-US" dirty="0">
              <a:solidFill>
                <a:schemeClr val="tx1"/>
              </a:solidFill>
            </a:endParaRPr>
          </a:p>
        </p:txBody>
      </p:sp>
      <p:sp>
        <p:nvSpPr>
          <p:cNvPr id="21" name="직사각형 20">
            <a:extLst>
              <a:ext uri="{FF2B5EF4-FFF2-40B4-BE49-F238E27FC236}">
                <a16:creationId xmlns:a16="http://schemas.microsoft.com/office/drawing/2014/main" id="{FE1A929B-9878-4DF3-A42E-68EA97E0B026}"/>
              </a:ext>
            </a:extLst>
          </p:cNvPr>
          <p:cNvSpPr/>
          <p:nvPr/>
        </p:nvSpPr>
        <p:spPr>
          <a:xfrm>
            <a:off x="5624414" y="4002509"/>
            <a:ext cx="1061039" cy="354827"/>
          </a:xfrm>
          <a:prstGeom prst="rect">
            <a:avLst/>
          </a:prstGeom>
          <a:solidFill>
            <a:schemeClr val="bg1">
              <a:lumMod val="9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solidFill>
                  <a:schemeClr val="bg1">
                    <a:lumMod val="50000"/>
                  </a:schemeClr>
                </a:solidFill>
              </a:rPr>
              <a:t>단독침해</a:t>
            </a:r>
            <a:endParaRPr lang="ko-KR" altLang="en-US" dirty="0">
              <a:solidFill>
                <a:schemeClr val="bg1">
                  <a:lumMod val="50000"/>
                </a:schemeClr>
              </a:solidFill>
            </a:endParaRPr>
          </a:p>
        </p:txBody>
      </p:sp>
      <p:sp>
        <p:nvSpPr>
          <p:cNvPr id="22" name="직사각형 21">
            <a:extLst>
              <a:ext uri="{FF2B5EF4-FFF2-40B4-BE49-F238E27FC236}">
                <a16:creationId xmlns:a16="http://schemas.microsoft.com/office/drawing/2014/main" id="{7B4D0B4F-E585-4858-A8C4-C47D67FFCBF4}"/>
              </a:ext>
            </a:extLst>
          </p:cNvPr>
          <p:cNvSpPr/>
          <p:nvPr/>
        </p:nvSpPr>
        <p:spPr>
          <a:xfrm>
            <a:off x="5624414" y="4705529"/>
            <a:ext cx="1061039" cy="354827"/>
          </a:xfrm>
          <a:prstGeom prst="rect">
            <a:avLst/>
          </a:prstGeom>
          <a:solidFill>
            <a:schemeClr val="bg1">
              <a:lumMod val="9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bg1">
                    <a:lumMod val="50000"/>
                  </a:schemeClr>
                </a:solidFill>
              </a:rPr>
              <a:t>공동침해</a:t>
            </a:r>
          </a:p>
        </p:txBody>
      </p:sp>
      <p:sp>
        <p:nvSpPr>
          <p:cNvPr id="23" name="직사각형 22">
            <a:extLst>
              <a:ext uri="{FF2B5EF4-FFF2-40B4-BE49-F238E27FC236}">
                <a16:creationId xmlns:a16="http://schemas.microsoft.com/office/drawing/2014/main" id="{1B996568-157B-44AB-9D90-E41ECCF7E17B}"/>
              </a:ext>
            </a:extLst>
          </p:cNvPr>
          <p:cNvSpPr/>
          <p:nvPr/>
        </p:nvSpPr>
        <p:spPr>
          <a:xfrm>
            <a:off x="6685452" y="4720359"/>
            <a:ext cx="5159057" cy="3548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400" dirty="0">
                <a:solidFill>
                  <a:schemeClr val="tx1"/>
                </a:solidFill>
              </a:rPr>
              <a:t>甲과 乙이 </a:t>
            </a:r>
            <a:r>
              <a:rPr lang="en-US" altLang="ko-KR" sz="1400" dirty="0">
                <a:solidFill>
                  <a:schemeClr val="tx1"/>
                </a:solidFill>
              </a:rPr>
              <a:t>OO</a:t>
            </a:r>
            <a:r>
              <a:rPr lang="ko-KR" altLang="en-US" sz="1400" dirty="0">
                <a:solidFill>
                  <a:schemeClr val="tx1"/>
                </a:solidFill>
              </a:rPr>
              <a:t> 방법발명의 구성요소를 나누어 실시하고</a:t>
            </a:r>
            <a:r>
              <a:rPr lang="en-US" altLang="ko-KR" sz="1400" dirty="0">
                <a:solidFill>
                  <a:schemeClr val="tx1"/>
                </a:solidFill>
              </a:rPr>
              <a:t>, </a:t>
            </a:r>
            <a:r>
              <a:rPr lang="ko-KR" altLang="en-US" sz="1400" dirty="0">
                <a:solidFill>
                  <a:schemeClr val="tx1"/>
                </a:solidFill>
              </a:rPr>
              <a:t>甲과 乙이 다른 주체의 실시행위를 인식하고 이를 이용할 의사</a:t>
            </a:r>
            <a:r>
              <a:rPr lang="en-US" altLang="ko-KR" sz="1400" dirty="0">
                <a:solidFill>
                  <a:schemeClr val="tx1"/>
                </a:solidFill>
              </a:rPr>
              <a:t>*</a:t>
            </a:r>
            <a:r>
              <a:rPr lang="ko-KR" altLang="en-US" sz="1400" dirty="0">
                <a:solidFill>
                  <a:schemeClr val="tx1"/>
                </a:solidFill>
              </a:rPr>
              <a:t>가 있다면 甲과 乙의 공동 직접침해</a:t>
            </a:r>
            <a:endParaRPr lang="ko-KR" altLang="en-US" dirty="0">
              <a:solidFill>
                <a:schemeClr val="tx1"/>
              </a:solidFill>
            </a:endParaRPr>
          </a:p>
        </p:txBody>
      </p:sp>
      <p:sp>
        <p:nvSpPr>
          <p:cNvPr id="16" name="직사각형 15">
            <a:extLst>
              <a:ext uri="{FF2B5EF4-FFF2-40B4-BE49-F238E27FC236}">
                <a16:creationId xmlns:a16="http://schemas.microsoft.com/office/drawing/2014/main" id="{2D402EA7-68A5-46D2-B451-933CD05D49CB}"/>
              </a:ext>
            </a:extLst>
          </p:cNvPr>
          <p:cNvSpPr/>
          <p:nvPr/>
        </p:nvSpPr>
        <p:spPr>
          <a:xfrm>
            <a:off x="4094488" y="6223655"/>
            <a:ext cx="7887601" cy="577081"/>
          </a:xfrm>
          <a:prstGeom prst="rect">
            <a:avLst/>
          </a:prstGeom>
        </p:spPr>
        <p:txBody>
          <a:bodyPr wrap="square">
            <a:spAutoFit/>
          </a:bodyPr>
          <a:lstStyle/>
          <a:p>
            <a:r>
              <a:rPr lang="en-US" altLang="ko-KR" sz="1050" dirty="0"/>
              <a:t>* ⅰ) </a:t>
            </a:r>
            <a:r>
              <a:rPr lang="ko-KR" altLang="en-US" sz="1050" dirty="0"/>
              <a:t>甲과 乙이 계속적인 거래관계가 있는 경우</a:t>
            </a:r>
            <a:r>
              <a:rPr lang="en-US" altLang="ko-KR" sz="1050" dirty="0"/>
              <a:t>, </a:t>
            </a:r>
            <a:r>
              <a:rPr lang="ko-KR" altLang="en-US" sz="1050" dirty="0"/>
              <a:t>조인트 벤처 등을 형성하여 실시하는 경우와 같이 일체가 되어 결과를 발생시키려는 의사로 각자 구성요소의 일부를 실시하고 이를 행위를 합하면 구성요소 전부를 충족하는 경우</a:t>
            </a:r>
            <a:r>
              <a:rPr lang="en-US" altLang="ko-KR" sz="1050" dirty="0"/>
              <a:t>, </a:t>
            </a:r>
            <a:r>
              <a:rPr lang="ko-KR" altLang="en-US" sz="1050" dirty="0"/>
              <a:t>또는 </a:t>
            </a:r>
            <a:r>
              <a:rPr lang="en-US" altLang="ko-KR" sz="1050" dirty="0"/>
              <a:t>ⅱ) </a:t>
            </a:r>
            <a:r>
              <a:rPr lang="ko-KR" altLang="en-US" sz="1050" dirty="0"/>
              <a:t>甲이 자신의 행위와 乙의 행위가 결합하여 특허권 침해하는 결과가 발생할 것을 예상하고 乙도 역시 그러한 경우</a:t>
            </a:r>
          </a:p>
        </p:txBody>
      </p:sp>
      <p:sp>
        <p:nvSpPr>
          <p:cNvPr id="27" name="직사각형 26">
            <a:extLst>
              <a:ext uri="{FF2B5EF4-FFF2-40B4-BE49-F238E27FC236}">
                <a16:creationId xmlns:a16="http://schemas.microsoft.com/office/drawing/2014/main" id="{4F9C3CF2-C0FB-4C63-80F2-4516E1355074}"/>
              </a:ext>
            </a:extLst>
          </p:cNvPr>
          <p:cNvSpPr/>
          <p:nvPr/>
        </p:nvSpPr>
        <p:spPr>
          <a:xfrm>
            <a:off x="4252824" y="5514001"/>
            <a:ext cx="1061039" cy="577081"/>
          </a:xfrm>
          <a:prstGeom prst="rect">
            <a:avLst/>
          </a:prstGeom>
          <a:solidFill>
            <a:schemeClr val="bg1">
              <a:lumMod val="9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solidFill>
                  <a:schemeClr val="bg1">
                    <a:lumMod val="50000"/>
                  </a:schemeClr>
                </a:solidFill>
              </a:rPr>
              <a:t>민법상</a:t>
            </a:r>
            <a:endParaRPr lang="en-US" altLang="ko-KR" dirty="0">
              <a:solidFill>
                <a:schemeClr val="bg1">
                  <a:lumMod val="50000"/>
                </a:schemeClr>
              </a:solidFill>
            </a:endParaRPr>
          </a:p>
          <a:p>
            <a:pPr algn="ctr"/>
            <a:r>
              <a:rPr lang="ko-KR" altLang="en-US" dirty="0">
                <a:solidFill>
                  <a:schemeClr val="bg1">
                    <a:lumMod val="50000"/>
                  </a:schemeClr>
                </a:solidFill>
              </a:rPr>
              <a:t>불법행위</a:t>
            </a:r>
          </a:p>
        </p:txBody>
      </p:sp>
      <p:sp>
        <p:nvSpPr>
          <p:cNvPr id="28" name="직사각형 27">
            <a:extLst>
              <a:ext uri="{FF2B5EF4-FFF2-40B4-BE49-F238E27FC236}">
                <a16:creationId xmlns:a16="http://schemas.microsoft.com/office/drawing/2014/main" id="{440D017A-C922-4FD4-A1B8-735FDDA19F56}"/>
              </a:ext>
            </a:extLst>
          </p:cNvPr>
          <p:cNvSpPr/>
          <p:nvPr/>
        </p:nvSpPr>
        <p:spPr>
          <a:xfrm>
            <a:off x="5417390" y="5514001"/>
            <a:ext cx="6427122" cy="5770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400" dirty="0">
                <a:solidFill>
                  <a:schemeClr val="tx1"/>
                </a:solidFill>
              </a:rPr>
              <a:t>각 행위가 독립하여 불법행위의 요건을 갖추고 있으면서 객관적으로 관련되고 </a:t>
            </a:r>
            <a:r>
              <a:rPr lang="ko-KR" altLang="en-US" sz="1400" dirty="0" err="1">
                <a:solidFill>
                  <a:schemeClr val="tx1"/>
                </a:solidFill>
              </a:rPr>
              <a:t>공동하여</a:t>
            </a:r>
            <a:r>
              <a:rPr lang="ko-KR" altLang="en-US" sz="1400" dirty="0">
                <a:solidFill>
                  <a:schemeClr val="tx1"/>
                </a:solidFill>
              </a:rPr>
              <a:t> 위법하게 피해자에게 손해를 가한 것으로 인정되어야 하나</a:t>
            </a:r>
            <a:r>
              <a:rPr lang="en-US" altLang="ko-KR" sz="1400" dirty="0">
                <a:solidFill>
                  <a:schemeClr val="tx1"/>
                </a:solidFill>
              </a:rPr>
              <a:t>, </a:t>
            </a:r>
            <a:r>
              <a:rPr lang="ko-KR" altLang="en-US" sz="1400" dirty="0">
                <a:solidFill>
                  <a:schemeClr val="tx1"/>
                </a:solidFill>
              </a:rPr>
              <a:t>甲과 乙 각자의 행위 자체가 불법행위</a:t>
            </a:r>
            <a:r>
              <a:rPr lang="en-US" altLang="ko-KR" sz="1400" dirty="0">
                <a:solidFill>
                  <a:schemeClr val="tx1"/>
                </a:solidFill>
              </a:rPr>
              <a:t>(</a:t>
            </a:r>
            <a:r>
              <a:rPr lang="ko-KR" altLang="en-US" sz="1400" dirty="0">
                <a:solidFill>
                  <a:schemeClr val="tx1"/>
                </a:solidFill>
              </a:rPr>
              <a:t>침해</a:t>
            </a:r>
            <a:r>
              <a:rPr lang="en-US" altLang="ko-KR" sz="1400" dirty="0">
                <a:solidFill>
                  <a:schemeClr val="tx1"/>
                </a:solidFill>
              </a:rPr>
              <a:t>)</a:t>
            </a:r>
            <a:r>
              <a:rPr lang="ko-KR" altLang="en-US" sz="1400" dirty="0">
                <a:solidFill>
                  <a:schemeClr val="tx1"/>
                </a:solidFill>
              </a:rPr>
              <a:t>에 해당한다고 보기 어려움</a:t>
            </a:r>
            <a:endParaRPr lang="ko-KR" altLang="en-US" dirty="0">
              <a:solidFill>
                <a:schemeClr val="tx1"/>
              </a:solidFill>
            </a:endParaRPr>
          </a:p>
        </p:txBody>
      </p:sp>
      <p:cxnSp>
        <p:nvCxnSpPr>
          <p:cNvPr id="24" name="연결선: 꺾임 23">
            <a:extLst>
              <a:ext uri="{FF2B5EF4-FFF2-40B4-BE49-F238E27FC236}">
                <a16:creationId xmlns:a16="http://schemas.microsoft.com/office/drawing/2014/main" id="{135E45E2-37EC-452D-977F-EA1A4192D77B}"/>
              </a:ext>
            </a:extLst>
          </p:cNvPr>
          <p:cNvCxnSpPr>
            <a:stCxn id="9" idx="2"/>
            <a:endCxn id="14" idx="1"/>
          </p:cNvCxnSpPr>
          <p:nvPr/>
        </p:nvCxnSpPr>
        <p:spPr>
          <a:xfrm rot="5400000">
            <a:off x="4930327" y="2430434"/>
            <a:ext cx="488170" cy="1843175"/>
          </a:xfrm>
          <a:prstGeom prst="bentConnector4">
            <a:avLst>
              <a:gd name="adj1" fmla="val 31829"/>
              <a:gd name="adj2" fmla="val 11240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연결선: 꺾임 28">
            <a:extLst>
              <a:ext uri="{FF2B5EF4-FFF2-40B4-BE49-F238E27FC236}">
                <a16:creationId xmlns:a16="http://schemas.microsoft.com/office/drawing/2014/main" id="{1C246AA9-570C-40F2-BD13-8775D47056B6}"/>
              </a:ext>
            </a:extLst>
          </p:cNvPr>
          <p:cNvCxnSpPr>
            <a:stCxn id="14" idx="1"/>
            <a:endCxn id="27" idx="1"/>
          </p:cNvCxnSpPr>
          <p:nvPr/>
        </p:nvCxnSpPr>
        <p:spPr>
          <a:xfrm rot="10800000" flipV="1">
            <a:off x="4252824" y="3596106"/>
            <a:ext cx="12700" cy="2206436"/>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연결선: 꺾임 30">
            <a:extLst>
              <a:ext uri="{FF2B5EF4-FFF2-40B4-BE49-F238E27FC236}">
                <a16:creationId xmlns:a16="http://schemas.microsoft.com/office/drawing/2014/main" id="{F5F330C5-75F4-41CF-B8BC-12D5F1C787DB}"/>
              </a:ext>
            </a:extLst>
          </p:cNvPr>
          <p:cNvCxnSpPr>
            <a:stCxn id="14" idx="1"/>
            <a:endCxn id="19" idx="1"/>
          </p:cNvCxnSpPr>
          <p:nvPr/>
        </p:nvCxnSpPr>
        <p:spPr>
          <a:xfrm rot="10800000" flipV="1">
            <a:off x="4252824" y="3596106"/>
            <a:ext cx="12700" cy="938644"/>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연결선: 꺾임 32">
            <a:extLst>
              <a:ext uri="{FF2B5EF4-FFF2-40B4-BE49-F238E27FC236}">
                <a16:creationId xmlns:a16="http://schemas.microsoft.com/office/drawing/2014/main" id="{71653371-552F-4B57-9D84-1D8978386F0B}"/>
              </a:ext>
            </a:extLst>
          </p:cNvPr>
          <p:cNvCxnSpPr>
            <a:stCxn id="19" idx="3"/>
            <a:endCxn id="21" idx="1"/>
          </p:cNvCxnSpPr>
          <p:nvPr/>
        </p:nvCxnSpPr>
        <p:spPr>
          <a:xfrm flipV="1">
            <a:off x="5313863" y="4179923"/>
            <a:ext cx="310551" cy="35482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연결선: 꺾임 34">
            <a:extLst>
              <a:ext uri="{FF2B5EF4-FFF2-40B4-BE49-F238E27FC236}">
                <a16:creationId xmlns:a16="http://schemas.microsoft.com/office/drawing/2014/main" id="{3934A67A-7EF3-4942-BBAA-A276BA2FA67B}"/>
              </a:ext>
            </a:extLst>
          </p:cNvPr>
          <p:cNvCxnSpPr>
            <a:stCxn id="19" idx="3"/>
            <a:endCxn id="22" idx="1"/>
          </p:cNvCxnSpPr>
          <p:nvPr/>
        </p:nvCxnSpPr>
        <p:spPr>
          <a:xfrm>
            <a:off x="5313863" y="4534750"/>
            <a:ext cx="310551" cy="34819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17134125"/>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r>
              <a:rPr lang="en-US" altLang="ko-KR" dirty="0"/>
              <a:t>, </a:t>
            </a:r>
            <a:r>
              <a:rPr lang="ko-KR" altLang="en-US" dirty="0"/>
              <a:t>제</a:t>
            </a:r>
            <a:r>
              <a:rPr lang="en-US" altLang="ko-KR" dirty="0"/>
              <a:t>98</a:t>
            </a:r>
            <a:r>
              <a:rPr lang="ko-KR" altLang="en-US" dirty="0"/>
              <a:t>조</a:t>
            </a:r>
          </a:p>
        </p:txBody>
      </p:sp>
      <p:sp>
        <p:nvSpPr>
          <p:cNvPr id="4" name="텍스트 개체 틀 3"/>
          <p:cNvSpPr>
            <a:spLocks noGrp="1"/>
          </p:cNvSpPr>
          <p:nvPr>
            <p:ph type="body" sz="quarter" idx="13"/>
          </p:nvPr>
        </p:nvSpPr>
        <p:spPr/>
        <p:txBody>
          <a:bodyPr/>
          <a:lstStyle/>
          <a:p>
            <a:r>
              <a:rPr lang="ko-KR" altLang="en-US" dirty="0"/>
              <a:t>침해의 종류</a:t>
            </a:r>
          </a:p>
        </p:txBody>
      </p:sp>
      <p:sp>
        <p:nvSpPr>
          <p:cNvPr id="5" name="슬라이드 번호 개체 틀 4"/>
          <p:cNvSpPr>
            <a:spLocks noGrp="1"/>
          </p:cNvSpPr>
          <p:nvPr>
            <p:ph type="sldNum" sz="quarter" idx="4294967295"/>
          </p:nvPr>
        </p:nvSpPr>
        <p:spPr>
          <a:xfrm>
            <a:off x="11125200" y="0"/>
            <a:ext cx="1066800" cy="744538"/>
          </a:xfrm>
        </p:spPr>
        <p:txBody>
          <a:bodyPr/>
          <a:lstStyle/>
          <a:p>
            <a:r>
              <a:rPr lang="en-US" altLang="ko-KR"/>
              <a:t>373</a:t>
            </a:r>
            <a:endParaRPr lang="ko-KR" altLang="en-US"/>
          </a:p>
        </p:txBody>
      </p:sp>
      <p:sp>
        <p:nvSpPr>
          <p:cNvPr id="63" name="직사각형 62"/>
          <p:cNvSpPr/>
          <p:nvPr/>
        </p:nvSpPr>
        <p:spPr>
          <a:xfrm>
            <a:off x="1948233" y="1243869"/>
            <a:ext cx="1299015" cy="337668"/>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200" dirty="0">
                <a:solidFill>
                  <a:schemeClr val="bg2">
                    <a:lumMod val="50000"/>
                  </a:schemeClr>
                </a:solidFill>
                <a:latin typeface="+mn-ea"/>
              </a:rPr>
              <a:t>직접침해</a:t>
            </a:r>
          </a:p>
        </p:txBody>
      </p:sp>
      <p:sp>
        <p:nvSpPr>
          <p:cNvPr id="66" name="직사각형 65"/>
          <p:cNvSpPr/>
          <p:nvPr/>
        </p:nvSpPr>
        <p:spPr>
          <a:xfrm>
            <a:off x="1948233" y="5980572"/>
            <a:ext cx="1299015" cy="386328"/>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200" dirty="0">
                <a:solidFill>
                  <a:schemeClr val="bg2">
                    <a:lumMod val="50000"/>
                  </a:schemeClr>
                </a:solidFill>
                <a:latin typeface="+mn-ea"/>
              </a:rPr>
              <a:t>간접침해</a:t>
            </a:r>
          </a:p>
        </p:txBody>
      </p:sp>
      <p:sp>
        <p:nvSpPr>
          <p:cNvPr id="2" name="TextBox 1"/>
          <p:cNvSpPr txBox="1"/>
          <p:nvPr/>
        </p:nvSpPr>
        <p:spPr>
          <a:xfrm>
            <a:off x="428625" y="2737722"/>
            <a:ext cx="1018227" cy="717901"/>
          </a:xfrm>
          <a:prstGeom prst="rect">
            <a:avLst/>
          </a:prstGeom>
          <a:solidFill>
            <a:schemeClr val="tx2"/>
          </a:solidFill>
          <a:ln>
            <a:solidFill>
              <a:schemeClr val="bg1">
                <a:lumMod val="50000"/>
              </a:schemeClr>
            </a:solidFill>
          </a:ln>
        </p:spPr>
        <p:txBody>
          <a:bodyPr wrap="square" rtlCol="0" anchor="ctr">
            <a:noAutofit/>
          </a:bodyPr>
          <a:lstStyle/>
          <a:p>
            <a:pPr algn="ctr"/>
            <a:r>
              <a:rPr lang="ko-KR" altLang="en-US" sz="1600" dirty="0">
                <a:solidFill>
                  <a:schemeClr val="accent4"/>
                </a:solidFill>
              </a:rPr>
              <a:t>침해의</a:t>
            </a:r>
            <a:endParaRPr lang="en-US" altLang="ko-KR" sz="1600" dirty="0">
              <a:solidFill>
                <a:schemeClr val="accent4"/>
              </a:solidFill>
            </a:endParaRPr>
          </a:p>
          <a:p>
            <a:pPr algn="ctr"/>
            <a:r>
              <a:rPr lang="ko-KR" altLang="en-US" sz="1600" dirty="0">
                <a:solidFill>
                  <a:schemeClr val="accent4"/>
                </a:solidFill>
              </a:rPr>
              <a:t>종류</a:t>
            </a:r>
          </a:p>
        </p:txBody>
      </p:sp>
      <p:cxnSp>
        <p:nvCxnSpPr>
          <p:cNvPr id="8" name="꺾인 연결선 7"/>
          <p:cNvCxnSpPr>
            <a:stCxn id="2" idx="3"/>
            <a:endCxn id="63" idx="1"/>
          </p:cNvCxnSpPr>
          <p:nvPr/>
        </p:nvCxnSpPr>
        <p:spPr>
          <a:xfrm flipV="1">
            <a:off x="1446852" y="1412703"/>
            <a:ext cx="501381" cy="16839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꺾인 연결선 11"/>
          <p:cNvCxnSpPr>
            <a:stCxn id="2" idx="3"/>
            <a:endCxn id="66" idx="1"/>
          </p:cNvCxnSpPr>
          <p:nvPr/>
        </p:nvCxnSpPr>
        <p:spPr>
          <a:xfrm>
            <a:off x="1446852" y="3096673"/>
            <a:ext cx="501381" cy="307706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직사각형 26"/>
          <p:cNvSpPr/>
          <p:nvPr/>
        </p:nvSpPr>
        <p:spPr>
          <a:xfrm>
            <a:off x="3606800" y="926654"/>
            <a:ext cx="1714499" cy="337668"/>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200" dirty="0">
                <a:solidFill>
                  <a:schemeClr val="bg2">
                    <a:lumMod val="50000"/>
                  </a:schemeClr>
                </a:solidFill>
                <a:latin typeface="+mn-ea"/>
              </a:rPr>
              <a:t>문언침해</a:t>
            </a:r>
          </a:p>
        </p:txBody>
      </p:sp>
      <p:sp>
        <p:nvSpPr>
          <p:cNvPr id="28" name="직사각형 27"/>
          <p:cNvSpPr/>
          <p:nvPr/>
        </p:nvSpPr>
        <p:spPr>
          <a:xfrm>
            <a:off x="3606800" y="1340935"/>
            <a:ext cx="1714499" cy="337668"/>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200" dirty="0">
                <a:solidFill>
                  <a:schemeClr val="bg2">
                    <a:lumMod val="50000"/>
                  </a:schemeClr>
                </a:solidFill>
                <a:latin typeface="+mn-ea"/>
              </a:rPr>
              <a:t>균등침해</a:t>
            </a:r>
          </a:p>
        </p:txBody>
      </p:sp>
      <p:sp>
        <p:nvSpPr>
          <p:cNvPr id="29" name="직사각형 28"/>
          <p:cNvSpPr/>
          <p:nvPr/>
        </p:nvSpPr>
        <p:spPr>
          <a:xfrm>
            <a:off x="3606800" y="1744989"/>
            <a:ext cx="1714499" cy="337668"/>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200" dirty="0">
                <a:solidFill>
                  <a:schemeClr val="bg2">
                    <a:lumMod val="50000"/>
                  </a:schemeClr>
                </a:solidFill>
                <a:latin typeface="+mn-ea"/>
              </a:rPr>
              <a:t>이용</a:t>
            </a:r>
            <a:r>
              <a:rPr lang="en-US" altLang="ko-KR" sz="1200" dirty="0">
                <a:solidFill>
                  <a:schemeClr val="bg2">
                    <a:lumMod val="50000"/>
                  </a:schemeClr>
                </a:solidFill>
                <a:latin typeface="+mn-ea"/>
              </a:rPr>
              <a:t>/</a:t>
            </a:r>
            <a:r>
              <a:rPr lang="ko-KR" altLang="en-US" sz="1200" dirty="0">
                <a:solidFill>
                  <a:schemeClr val="bg2">
                    <a:lumMod val="50000"/>
                  </a:schemeClr>
                </a:solidFill>
                <a:latin typeface="+mn-ea"/>
              </a:rPr>
              <a:t>저촉침해</a:t>
            </a:r>
          </a:p>
        </p:txBody>
      </p:sp>
      <p:sp>
        <p:nvSpPr>
          <p:cNvPr id="30" name="직사각형 29"/>
          <p:cNvSpPr/>
          <p:nvPr/>
        </p:nvSpPr>
        <p:spPr>
          <a:xfrm>
            <a:off x="3606800" y="2133611"/>
            <a:ext cx="1714499" cy="1642837"/>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200" dirty="0">
                <a:solidFill>
                  <a:schemeClr val="bg2">
                    <a:lumMod val="50000"/>
                  </a:schemeClr>
                </a:solidFill>
                <a:latin typeface="+mn-ea"/>
              </a:rPr>
              <a:t>생략</a:t>
            </a:r>
            <a:r>
              <a:rPr lang="en-US" altLang="ko-KR" sz="1200" dirty="0">
                <a:solidFill>
                  <a:schemeClr val="bg2">
                    <a:lumMod val="50000"/>
                  </a:schemeClr>
                </a:solidFill>
                <a:latin typeface="+mn-ea"/>
              </a:rPr>
              <a:t>/</a:t>
            </a:r>
            <a:r>
              <a:rPr lang="ko-KR" altLang="en-US" sz="1200" dirty="0">
                <a:solidFill>
                  <a:schemeClr val="bg2">
                    <a:lumMod val="50000"/>
                  </a:schemeClr>
                </a:solidFill>
                <a:latin typeface="+mn-ea"/>
              </a:rPr>
              <a:t>불완전이용침해</a:t>
            </a:r>
          </a:p>
        </p:txBody>
      </p:sp>
      <p:sp>
        <p:nvSpPr>
          <p:cNvPr id="31" name="직사각형 30"/>
          <p:cNvSpPr/>
          <p:nvPr/>
        </p:nvSpPr>
        <p:spPr>
          <a:xfrm>
            <a:off x="3606800" y="3868117"/>
            <a:ext cx="1714499" cy="639882"/>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200" dirty="0">
                <a:solidFill>
                  <a:schemeClr val="bg2">
                    <a:lumMod val="50000"/>
                  </a:schemeClr>
                </a:solidFill>
                <a:latin typeface="+mn-ea"/>
              </a:rPr>
              <a:t>선택침해</a:t>
            </a:r>
          </a:p>
        </p:txBody>
      </p:sp>
      <p:sp>
        <p:nvSpPr>
          <p:cNvPr id="32" name="직사각형 31"/>
          <p:cNvSpPr/>
          <p:nvPr/>
        </p:nvSpPr>
        <p:spPr>
          <a:xfrm>
            <a:off x="3606800" y="4627430"/>
            <a:ext cx="1714499" cy="1084709"/>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200" dirty="0">
                <a:solidFill>
                  <a:schemeClr val="bg2">
                    <a:lumMod val="50000"/>
                  </a:schemeClr>
                </a:solidFill>
                <a:latin typeface="+mn-ea"/>
              </a:rPr>
              <a:t>우회침해</a:t>
            </a:r>
          </a:p>
        </p:txBody>
      </p:sp>
      <p:sp>
        <p:nvSpPr>
          <p:cNvPr id="33" name="직사각형 32"/>
          <p:cNvSpPr/>
          <p:nvPr/>
        </p:nvSpPr>
        <p:spPr>
          <a:xfrm>
            <a:off x="3606800" y="5954914"/>
            <a:ext cx="1714499" cy="337668"/>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200" dirty="0">
                <a:solidFill>
                  <a:schemeClr val="bg2">
                    <a:lumMod val="50000"/>
                  </a:schemeClr>
                </a:solidFill>
                <a:latin typeface="+mn-ea"/>
              </a:rPr>
              <a:t>특허가 물건발명</a:t>
            </a:r>
          </a:p>
        </p:txBody>
      </p:sp>
      <p:sp>
        <p:nvSpPr>
          <p:cNvPr id="34" name="직사각형 33"/>
          <p:cNvSpPr/>
          <p:nvPr/>
        </p:nvSpPr>
        <p:spPr>
          <a:xfrm>
            <a:off x="3606800" y="6358969"/>
            <a:ext cx="1714499" cy="337668"/>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200" dirty="0">
                <a:solidFill>
                  <a:schemeClr val="bg2">
                    <a:lumMod val="50000"/>
                  </a:schemeClr>
                </a:solidFill>
                <a:latin typeface="+mn-ea"/>
              </a:rPr>
              <a:t>특허가 방법발명</a:t>
            </a:r>
          </a:p>
        </p:txBody>
      </p:sp>
      <p:sp>
        <p:nvSpPr>
          <p:cNvPr id="35" name="직사각형 34"/>
          <p:cNvSpPr/>
          <p:nvPr/>
        </p:nvSpPr>
        <p:spPr>
          <a:xfrm>
            <a:off x="5321299" y="926654"/>
            <a:ext cx="6502401" cy="337668"/>
          </a:xfrm>
          <a:prstGeom prst="rect">
            <a:avLst/>
          </a:prstGeom>
          <a:noFill/>
          <a:ln w="12700">
            <a:no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fontAlgn="base"/>
            <a:r>
              <a:rPr lang="ko-KR" altLang="en-US" sz="1200" dirty="0"/>
              <a:t>특허발명의 청구항에 기재된 구성요소 전부를 실시하는 경우 구성요소완비의 원칙에 의한 침해</a:t>
            </a:r>
          </a:p>
        </p:txBody>
      </p:sp>
      <p:sp>
        <p:nvSpPr>
          <p:cNvPr id="36" name="직사각형 35"/>
          <p:cNvSpPr/>
          <p:nvPr/>
        </p:nvSpPr>
        <p:spPr>
          <a:xfrm>
            <a:off x="5321299" y="1340935"/>
            <a:ext cx="6502401" cy="337668"/>
          </a:xfrm>
          <a:prstGeom prst="rect">
            <a:avLst/>
          </a:prstGeom>
          <a:noFill/>
          <a:ln w="12700">
            <a:no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fontAlgn="base"/>
            <a:r>
              <a:rPr lang="ko-KR" altLang="en-US" sz="1200" dirty="0" err="1"/>
              <a:t>균등론의</a:t>
            </a:r>
            <a:r>
              <a:rPr lang="ko-KR" altLang="en-US" sz="1200" dirty="0"/>
              <a:t> 적용에 의한 침해</a:t>
            </a:r>
          </a:p>
        </p:txBody>
      </p:sp>
      <p:sp>
        <p:nvSpPr>
          <p:cNvPr id="37" name="직사각형 36"/>
          <p:cNvSpPr/>
          <p:nvPr/>
        </p:nvSpPr>
        <p:spPr>
          <a:xfrm>
            <a:off x="5321299" y="1744989"/>
            <a:ext cx="6502401" cy="337668"/>
          </a:xfrm>
          <a:prstGeom prst="rect">
            <a:avLst/>
          </a:prstGeom>
          <a:noFill/>
          <a:ln w="12700">
            <a:no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fontAlgn="base"/>
            <a:r>
              <a:rPr lang="ko-KR" altLang="en-US" sz="1200" dirty="0"/>
              <a:t>문언침해</a:t>
            </a:r>
            <a:r>
              <a:rPr lang="en-US" altLang="ko-KR" sz="1200" dirty="0"/>
              <a:t>, </a:t>
            </a:r>
            <a:r>
              <a:rPr lang="ko-KR" altLang="en-US" sz="1200" dirty="0"/>
              <a:t>균등침해에 해당하는 확인대상발명이 등록된 것 </a:t>
            </a:r>
            <a:r>
              <a:rPr lang="en-US" altLang="ko-KR" sz="1200" dirty="0">
                <a:sym typeface="Wingdings" panose="05000000000000000000" pitchFamily="2" charset="2"/>
              </a:rPr>
              <a:t> </a:t>
            </a:r>
            <a:r>
              <a:rPr lang="ko-KR" altLang="en-US" sz="1200" dirty="0">
                <a:sym typeface="Wingdings" panose="05000000000000000000" pitchFamily="2" charset="2"/>
              </a:rPr>
              <a:t>실시방안 마련</a:t>
            </a:r>
            <a:endParaRPr lang="ko-KR" altLang="en-US" sz="1200" dirty="0"/>
          </a:p>
        </p:txBody>
      </p:sp>
      <p:sp>
        <p:nvSpPr>
          <p:cNvPr id="38" name="직사각형 37"/>
          <p:cNvSpPr/>
          <p:nvPr/>
        </p:nvSpPr>
        <p:spPr>
          <a:xfrm>
            <a:off x="5321299" y="1967572"/>
            <a:ext cx="6502401" cy="1994827"/>
          </a:xfrm>
          <a:prstGeom prst="rect">
            <a:avLst/>
          </a:prstGeom>
          <a:noFill/>
          <a:ln w="12700">
            <a:no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fontAlgn="base"/>
            <a:r>
              <a:rPr lang="ko-KR" altLang="en-US" sz="1200" dirty="0">
                <a:latin typeface="+mn-ea"/>
              </a:rPr>
              <a:t>특허권자의 보호를 강화하기 위해 생략발명</a:t>
            </a:r>
            <a:r>
              <a:rPr lang="en-US" altLang="ko-KR" sz="1200" dirty="0">
                <a:latin typeface="+mn-ea"/>
              </a:rPr>
              <a:t>, </a:t>
            </a:r>
            <a:r>
              <a:rPr lang="ko-KR" altLang="en-US" sz="1200" dirty="0">
                <a:latin typeface="+mn-ea"/>
              </a:rPr>
              <a:t>불완전이용발명을 침해로 봐야 한다는 견해이나 주변한정주의의 해석방법인 구성요소완비의 원칙에 반하므로 침해를 부정하는 것이 타당</a:t>
            </a:r>
            <a:r>
              <a:rPr lang="en-US" altLang="ko-KR" sz="1200" dirty="0">
                <a:latin typeface="+mn-ea"/>
              </a:rPr>
              <a:t>(</a:t>
            </a:r>
            <a:r>
              <a:rPr lang="ko-KR" altLang="en-US" sz="1200" dirty="0">
                <a:latin typeface="+mn-ea"/>
              </a:rPr>
              <a:t>법적 안정성보다 구체적 타당성을 우선시할 수 없음</a:t>
            </a:r>
            <a:r>
              <a:rPr lang="en-US" altLang="ko-KR" sz="1200" dirty="0">
                <a:latin typeface="+mn-ea"/>
              </a:rPr>
              <a:t>)</a:t>
            </a:r>
          </a:p>
          <a:p>
            <a:pPr fontAlgn="base"/>
            <a:r>
              <a:rPr lang="ko-KR" altLang="en-US" sz="1200" dirty="0">
                <a:solidFill>
                  <a:srgbClr val="FF0000"/>
                </a:solidFill>
                <a:latin typeface="+mn-ea"/>
              </a:rPr>
              <a:t>다만 판례</a:t>
            </a:r>
            <a:r>
              <a:rPr lang="en-US" altLang="ko-KR" sz="1200" dirty="0">
                <a:solidFill>
                  <a:srgbClr val="FF0000"/>
                </a:solidFill>
                <a:latin typeface="+mn-ea"/>
              </a:rPr>
              <a:t>(2</a:t>
            </a:r>
            <a:r>
              <a:rPr lang="en-US" altLang="ko-KR" sz="1200" kern="0" spc="-30" dirty="0">
                <a:solidFill>
                  <a:srgbClr val="FF0000"/>
                </a:solidFill>
                <a:effectLst/>
                <a:latin typeface="+mn-ea"/>
              </a:rPr>
              <a:t>019</a:t>
            </a:r>
            <a:r>
              <a:rPr lang="ko-KR" altLang="en-US" sz="1200" kern="0" spc="-30" dirty="0">
                <a:solidFill>
                  <a:srgbClr val="FF0000"/>
                </a:solidFill>
                <a:effectLst/>
                <a:latin typeface="+mn-ea"/>
              </a:rPr>
              <a:t>다</a:t>
            </a:r>
            <a:r>
              <a:rPr lang="en-US" altLang="ko-KR" sz="1200" kern="0" spc="-30" dirty="0">
                <a:solidFill>
                  <a:srgbClr val="FF0000"/>
                </a:solidFill>
                <a:effectLst/>
                <a:latin typeface="+mn-ea"/>
              </a:rPr>
              <a:t>222782, 2019</a:t>
            </a:r>
            <a:r>
              <a:rPr lang="ko-KR" altLang="en-US" sz="1200" kern="0" spc="-30" dirty="0">
                <a:solidFill>
                  <a:srgbClr val="FF0000"/>
                </a:solidFill>
                <a:effectLst/>
                <a:latin typeface="+mn-ea"/>
              </a:rPr>
              <a:t>다</a:t>
            </a:r>
            <a:r>
              <a:rPr lang="en-US" altLang="ko-KR" sz="1200" kern="0" spc="-30" dirty="0">
                <a:solidFill>
                  <a:srgbClr val="FF0000"/>
                </a:solidFill>
                <a:effectLst/>
                <a:latin typeface="+mn-ea"/>
              </a:rPr>
              <a:t>222799(</a:t>
            </a:r>
            <a:r>
              <a:rPr lang="ko-KR" altLang="en-US" sz="1200" kern="0" spc="-30" dirty="0">
                <a:solidFill>
                  <a:srgbClr val="FF0000"/>
                </a:solidFill>
                <a:effectLst/>
                <a:latin typeface="+mn-ea"/>
              </a:rPr>
              <a:t>병합</a:t>
            </a:r>
            <a:r>
              <a:rPr lang="en-US" altLang="ko-KR" sz="1200" kern="0" spc="-30" dirty="0">
                <a:solidFill>
                  <a:srgbClr val="FF0000"/>
                </a:solidFill>
                <a:effectLst/>
                <a:latin typeface="+mn-ea"/>
              </a:rPr>
              <a:t>))</a:t>
            </a:r>
            <a:r>
              <a:rPr lang="ko-KR" altLang="en-US" sz="1200" kern="0" spc="-30" dirty="0">
                <a:solidFill>
                  <a:srgbClr val="FF0000"/>
                </a:solidFill>
                <a:effectLst/>
                <a:latin typeface="+mn-ea"/>
              </a:rPr>
              <a:t>는</a:t>
            </a:r>
            <a:r>
              <a:rPr lang="en-US" altLang="ko-KR" sz="1200" dirty="0">
                <a:solidFill>
                  <a:srgbClr val="FF0000"/>
                </a:solidFill>
                <a:latin typeface="+mn-ea"/>
              </a:rPr>
              <a:t>ⅰ) </a:t>
            </a:r>
            <a:r>
              <a:rPr lang="ko-KR" altLang="en-US" sz="1200" dirty="0">
                <a:solidFill>
                  <a:srgbClr val="FF0000"/>
                </a:solidFill>
                <a:latin typeface="+mn-ea"/>
              </a:rPr>
              <a:t>국내에서 특허발명의 실시를 위한 부품 또는 구성 전부가 생산되거나 대부분의 생산단계를 마쳐 주요 구성을 모두 갖춘 반제품이 생산되고</a:t>
            </a:r>
            <a:r>
              <a:rPr lang="en-US" altLang="ko-KR" sz="1200" dirty="0">
                <a:solidFill>
                  <a:srgbClr val="FF0000"/>
                </a:solidFill>
                <a:latin typeface="+mn-ea"/>
              </a:rPr>
              <a:t>, ⅱ) </a:t>
            </a:r>
            <a:r>
              <a:rPr lang="ko-KR" altLang="en-US" sz="1200" dirty="0">
                <a:solidFill>
                  <a:srgbClr val="FF0000"/>
                </a:solidFill>
                <a:latin typeface="+mn-ea"/>
              </a:rPr>
              <a:t>이것이 하나의 주체에게 수출되어 마지막 단계의 가공 조립이 이루어질 것이 예정되어 있으며</a:t>
            </a:r>
            <a:r>
              <a:rPr lang="en-US" altLang="ko-KR" sz="1200" dirty="0">
                <a:solidFill>
                  <a:srgbClr val="FF0000"/>
                </a:solidFill>
                <a:latin typeface="+mn-ea"/>
              </a:rPr>
              <a:t>, ⅲ) </a:t>
            </a:r>
            <a:r>
              <a:rPr lang="ko-KR" altLang="en-US" sz="1200" dirty="0">
                <a:solidFill>
                  <a:srgbClr val="FF0000"/>
                </a:solidFill>
                <a:latin typeface="+mn-ea"/>
              </a:rPr>
              <a:t>그와 같은 가공 조립이 극히 사소하거나 간단하여 </a:t>
            </a:r>
            <a:r>
              <a:rPr lang="en-US" altLang="ko-KR" sz="1200" dirty="0">
                <a:solidFill>
                  <a:srgbClr val="FF0000"/>
                </a:solidFill>
                <a:latin typeface="+mn-ea"/>
              </a:rPr>
              <a:t>ⅳ) </a:t>
            </a:r>
            <a:r>
              <a:rPr lang="ko-KR" altLang="en-US" sz="1200" dirty="0">
                <a:solidFill>
                  <a:srgbClr val="FF0000"/>
                </a:solidFill>
                <a:latin typeface="+mn-ea"/>
              </a:rPr>
              <a:t>위와 같은 부품 전체의 생산 또는 반제품의 생산만으로도 특허발명의 각 구성요소가 유기적으로 결합한 일체로서 가지는 작용효과를 구현할 수 있는 상태에 이르렀다면</a:t>
            </a:r>
            <a:r>
              <a:rPr lang="en-US" altLang="ko-KR" sz="1200" dirty="0">
                <a:solidFill>
                  <a:srgbClr val="FF0000"/>
                </a:solidFill>
                <a:latin typeface="+mn-ea"/>
              </a:rPr>
              <a:t>, </a:t>
            </a:r>
            <a:r>
              <a:rPr lang="ko-KR" altLang="en-US" sz="1200" dirty="0">
                <a:solidFill>
                  <a:srgbClr val="FF0000"/>
                </a:solidFill>
                <a:latin typeface="+mn-ea"/>
              </a:rPr>
              <a:t>예외적으로 국내에서 특허발명의 실시 제품이 생산된 것과 같이 보아 직접침해를 인정</a:t>
            </a:r>
          </a:p>
        </p:txBody>
      </p:sp>
      <p:sp>
        <p:nvSpPr>
          <p:cNvPr id="39" name="직사각형 38"/>
          <p:cNvSpPr/>
          <p:nvPr/>
        </p:nvSpPr>
        <p:spPr>
          <a:xfrm>
            <a:off x="5321299" y="3869486"/>
            <a:ext cx="6502401" cy="588137"/>
          </a:xfrm>
          <a:prstGeom prst="rect">
            <a:avLst/>
          </a:prstGeom>
          <a:noFill/>
          <a:ln w="12700">
            <a:no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fontAlgn="base"/>
            <a:r>
              <a:rPr lang="ko-KR" altLang="en-US" sz="1200" dirty="0"/>
              <a:t>판례</a:t>
            </a:r>
            <a:r>
              <a:rPr lang="en-US" altLang="ko-KR" sz="1200" dirty="0"/>
              <a:t>(90</a:t>
            </a:r>
            <a:r>
              <a:rPr lang="ko-KR" altLang="en-US" sz="1200" dirty="0"/>
              <a:t>후</a:t>
            </a:r>
            <a:r>
              <a:rPr lang="en-US" altLang="ko-KR" sz="1200" dirty="0"/>
              <a:t>960)</a:t>
            </a:r>
            <a:r>
              <a:rPr lang="ko-KR" altLang="en-US" sz="1200" dirty="0"/>
              <a:t>는 선택발명이 현저히 향상된 작용효과가 있어 등록된 경우 침해가 아니라고 판시하였으나 특허요건 판단과 침해 판단은 별개의 것으로서 선택발명이 그 기본이 되는 특허발명의 기술사상을 그대로 이용하고 있다면 특허발명의 침해로 봄이 타당</a:t>
            </a:r>
            <a:r>
              <a:rPr lang="en-US" altLang="ko-KR" sz="1200" dirty="0"/>
              <a:t>.</a:t>
            </a:r>
            <a:endParaRPr lang="ko-KR" altLang="en-US" sz="1200" dirty="0"/>
          </a:p>
        </p:txBody>
      </p:sp>
      <p:sp>
        <p:nvSpPr>
          <p:cNvPr id="40" name="직사각형 39"/>
          <p:cNvSpPr/>
          <p:nvPr/>
        </p:nvSpPr>
        <p:spPr>
          <a:xfrm>
            <a:off x="5321299" y="4656779"/>
            <a:ext cx="6502401" cy="931820"/>
          </a:xfrm>
          <a:prstGeom prst="rect">
            <a:avLst/>
          </a:prstGeom>
          <a:noFill/>
          <a:ln w="12700">
            <a:no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fontAlgn="base"/>
            <a:r>
              <a:rPr lang="ko-KR" altLang="en-US" sz="1200" dirty="0"/>
              <a:t>선행발명의 공정의 중간단계에 새로운 공정을 삽입할 때에는 선행발명의 공정이 도중에서 분단되어 발명의 일체성이 상실되므로 원칙적으로 침해라고 단정하기 어려우며</a:t>
            </a:r>
            <a:r>
              <a:rPr lang="en-US" altLang="ko-KR" sz="1200" dirty="0"/>
              <a:t>, </a:t>
            </a:r>
            <a:r>
              <a:rPr lang="ko-KR" altLang="en-US" sz="1200" dirty="0"/>
              <a:t>일체성이 상실되지 아니한 범위 내에서만 침해라고 할 수 있는데 이를 우회침해라고 함</a:t>
            </a:r>
            <a:r>
              <a:rPr lang="en-US" altLang="ko-KR" sz="1200" dirty="0"/>
              <a:t>. </a:t>
            </a:r>
            <a:r>
              <a:rPr lang="ko-KR" altLang="en-US" sz="1200" dirty="0"/>
              <a:t>판례</a:t>
            </a:r>
            <a:r>
              <a:rPr lang="en-US" altLang="ko-KR" sz="1200" dirty="0"/>
              <a:t>(97</a:t>
            </a:r>
            <a:r>
              <a:rPr lang="ko-KR" altLang="en-US" sz="1200" dirty="0"/>
              <a:t>후</a:t>
            </a:r>
            <a:r>
              <a:rPr lang="en-US" altLang="ko-KR" sz="1200" dirty="0"/>
              <a:t>2194)</a:t>
            </a:r>
            <a:r>
              <a:rPr lang="ko-KR" altLang="en-US" sz="1200" dirty="0"/>
              <a:t>는 우회침해의 요건으로서 </a:t>
            </a:r>
            <a:r>
              <a:rPr lang="ko-KR" altLang="en-US" sz="1200" dirty="0">
                <a:solidFill>
                  <a:srgbClr val="FF0000"/>
                </a:solidFill>
              </a:rPr>
              <a:t>① 부가공정은 통상의 기술자라면 주지된 관용기술에 의하여 쉽게 부가시킬 수 있는 공정에 불과하다고 보여지고</a:t>
            </a:r>
            <a:r>
              <a:rPr lang="en-US" altLang="ko-KR" sz="1200" dirty="0">
                <a:solidFill>
                  <a:srgbClr val="FF0000"/>
                </a:solidFill>
              </a:rPr>
              <a:t>, </a:t>
            </a:r>
            <a:r>
              <a:rPr lang="ko-KR" altLang="en-US" sz="1200" dirty="0">
                <a:solidFill>
                  <a:srgbClr val="FF0000"/>
                </a:solidFill>
              </a:rPr>
              <a:t>② 그 작용효과 역시 주지된 관용기술을 부가함으로 인한 효과 이상으로 우월하거나 현저하게 향상되었다고 보기 어려울 것을 요구</a:t>
            </a:r>
            <a:r>
              <a:rPr lang="en-US" altLang="ko-KR" sz="1200" dirty="0"/>
              <a:t>. </a:t>
            </a:r>
            <a:endParaRPr lang="ko-KR" altLang="en-US" sz="1200" dirty="0"/>
          </a:p>
        </p:txBody>
      </p:sp>
      <p:sp>
        <p:nvSpPr>
          <p:cNvPr id="41" name="직사각형 40"/>
          <p:cNvSpPr/>
          <p:nvPr/>
        </p:nvSpPr>
        <p:spPr>
          <a:xfrm>
            <a:off x="5321299" y="5954914"/>
            <a:ext cx="6502401" cy="337668"/>
          </a:xfrm>
          <a:prstGeom prst="rect">
            <a:avLst/>
          </a:prstGeom>
          <a:noFill/>
          <a:ln w="12700">
            <a:no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fontAlgn="base"/>
            <a:r>
              <a:rPr lang="ko-KR" altLang="en-US" sz="1200" dirty="0"/>
              <a:t>그 물건의 생산에만 사용하는 물건을 </a:t>
            </a:r>
            <a:r>
              <a:rPr lang="ko-KR" altLang="en-US" sz="1200" dirty="0" err="1"/>
              <a:t>생산ㆍ양도ㆍ대여ㆍ</a:t>
            </a:r>
            <a:r>
              <a:rPr kumimoji="1" lang="ko-KR" altLang="en-US" sz="1200" b="0" i="0" u="none" strike="noStrike" cap="none" normalizeH="0" baseline="0" dirty="0" err="1">
                <a:ln>
                  <a:noFill/>
                </a:ln>
                <a:solidFill>
                  <a:srgbClr val="444444"/>
                </a:solidFill>
                <a:effectLst/>
                <a:latin typeface="+mn-ea"/>
                <a:cs typeface="굴림" pitchFamily="50" charset="-127"/>
              </a:rPr>
              <a:t>수출</a:t>
            </a:r>
            <a:r>
              <a:rPr kumimoji="1" lang="ko-KR" altLang="en-US" sz="1200" b="0" i="0" u="none" strike="noStrike" cap="none" normalizeH="0" baseline="0" dirty="0">
                <a:ln>
                  <a:noFill/>
                </a:ln>
                <a:solidFill>
                  <a:srgbClr val="444444"/>
                </a:solidFill>
                <a:effectLst/>
                <a:latin typeface="+mn-ea"/>
                <a:cs typeface="굴림" pitchFamily="50" charset="-127"/>
              </a:rPr>
              <a:t> </a:t>
            </a:r>
            <a:r>
              <a:rPr lang="ko-KR" altLang="en-US" sz="1200" dirty="0"/>
              <a:t>또는 수입하거나 그 물건의 양도 또는 대여의 청약을 하는 행위</a:t>
            </a:r>
          </a:p>
        </p:txBody>
      </p:sp>
      <p:sp>
        <p:nvSpPr>
          <p:cNvPr id="42" name="직사각형 41"/>
          <p:cNvSpPr/>
          <p:nvPr/>
        </p:nvSpPr>
        <p:spPr>
          <a:xfrm>
            <a:off x="5321299" y="6358969"/>
            <a:ext cx="6502401" cy="337668"/>
          </a:xfrm>
          <a:prstGeom prst="rect">
            <a:avLst/>
          </a:prstGeom>
          <a:noFill/>
          <a:ln w="12700">
            <a:no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fontAlgn="base"/>
            <a:r>
              <a:rPr lang="ko-KR" altLang="en-US" sz="1200" dirty="0"/>
              <a:t>그 방법의 실시에만 사용하는 물건을 </a:t>
            </a:r>
            <a:r>
              <a:rPr lang="ko-KR" altLang="en-US" sz="1200" dirty="0" err="1"/>
              <a:t>생산ㆍ양도ㆍ대여ㆍ</a:t>
            </a:r>
            <a:r>
              <a:rPr kumimoji="1" lang="ko-KR" altLang="en-US" sz="1200" b="0" i="0" u="none" strike="noStrike" cap="none" normalizeH="0" baseline="0" dirty="0" err="1">
                <a:ln>
                  <a:noFill/>
                </a:ln>
                <a:solidFill>
                  <a:srgbClr val="444444"/>
                </a:solidFill>
                <a:effectLst/>
                <a:latin typeface="+mn-ea"/>
                <a:cs typeface="굴림" pitchFamily="50" charset="-127"/>
              </a:rPr>
              <a:t>수출</a:t>
            </a:r>
            <a:r>
              <a:rPr lang="ko-KR" altLang="en-US" sz="1200" dirty="0"/>
              <a:t> 또는 수입하거나 그 물건의 양도 또는 대여의 청약을 하는 행위</a:t>
            </a:r>
          </a:p>
        </p:txBody>
      </p:sp>
      <p:cxnSp>
        <p:nvCxnSpPr>
          <p:cNvPr id="15" name="꺾인 연결선 14"/>
          <p:cNvCxnSpPr>
            <a:stCxn id="63" idx="3"/>
            <a:endCxn id="27" idx="1"/>
          </p:cNvCxnSpPr>
          <p:nvPr/>
        </p:nvCxnSpPr>
        <p:spPr>
          <a:xfrm flipV="1">
            <a:off x="3247248" y="1095489"/>
            <a:ext cx="359552" cy="31721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63" idx="3"/>
            <a:endCxn id="28" idx="1"/>
          </p:cNvCxnSpPr>
          <p:nvPr/>
        </p:nvCxnSpPr>
        <p:spPr>
          <a:xfrm>
            <a:off x="3247248" y="1412703"/>
            <a:ext cx="359552" cy="9706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꺾인 연결선 21"/>
          <p:cNvCxnSpPr>
            <a:cxnSpLocks/>
            <a:stCxn id="63" idx="3"/>
            <a:endCxn id="32" idx="1"/>
          </p:cNvCxnSpPr>
          <p:nvPr/>
        </p:nvCxnSpPr>
        <p:spPr>
          <a:xfrm>
            <a:off x="3247248" y="1412703"/>
            <a:ext cx="359552" cy="375708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stCxn id="63" idx="3"/>
            <a:endCxn id="29" idx="1"/>
          </p:cNvCxnSpPr>
          <p:nvPr/>
        </p:nvCxnSpPr>
        <p:spPr>
          <a:xfrm>
            <a:off x="3247248" y="1412703"/>
            <a:ext cx="359552" cy="50112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cxnSpLocks/>
            <a:stCxn id="63" idx="3"/>
            <a:endCxn id="30" idx="1"/>
          </p:cNvCxnSpPr>
          <p:nvPr/>
        </p:nvCxnSpPr>
        <p:spPr>
          <a:xfrm>
            <a:off x="3247248" y="1412703"/>
            <a:ext cx="359552" cy="154232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cxnSpLocks/>
            <a:stCxn id="63" idx="3"/>
            <a:endCxn id="31" idx="1"/>
          </p:cNvCxnSpPr>
          <p:nvPr/>
        </p:nvCxnSpPr>
        <p:spPr>
          <a:xfrm>
            <a:off x="3247248" y="1412703"/>
            <a:ext cx="359552" cy="277535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66" idx="3"/>
            <a:endCxn id="33" idx="1"/>
          </p:cNvCxnSpPr>
          <p:nvPr/>
        </p:nvCxnSpPr>
        <p:spPr>
          <a:xfrm flipV="1">
            <a:off x="3247248" y="6123749"/>
            <a:ext cx="359552" cy="4998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66" idx="3"/>
            <a:endCxn id="34" idx="1"/>
          </p:cNvCxnSpPr>
          <p:nvPr/>
        </p:nvCxnSpPr>
        <p:spPr>
          <a:xfrm>
            <a:off x="3247248" y="6173736"/>
            <a:ext cx="359552" cy="35406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0377312"/>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표 1"/>
          <p:cNvGraphicFramePr>
            <a:graphicFrameLocks noGrp="1"/>
          </p:cNvGraphicFramePr>
          <p:nvPr/>
        </p:nvGraphicFramePr>
        <p:xfrm>
          <a:off x="623392" y="1167036"/>
          <a:ext cx="11041227" cy="5300143"/>
        </p:xfrm>
        <a:graphic>
          <a:graphicData uri="http://schemas.openxmlformats.org/drawingml/2006/table">
            <a:tbl>
              <a:tblPr>
                <a:tableStyleId>{8799B23B-EC83-4686-B30A-512413B5E67A}</a:tableStyleId>
              </a:tblPr>
              <a:tblGrid>
                <a:gridCol w="1248139">
                  <a:extLst>
                    <a:ext uri="{9D8B030D-6E8A-4147-A177-3AD203B41FA5}">
                      <a16:colId xmlns:a16="http://schemas.microsoft.com/office/drawing/2014/main" val="20000"/>
                    </a:ext>
                  </a:extLst>
                </a:gridCol>
                <a:gridCol w="2016224">
                  <a:extLst>
                    <a:ext uri="{9D8B030D-6E8A-4147-A177-3AD203B41FA5}">
                      <a16:colId xmlns:a16="http://schemas.microsoft.com/office/drawing/2014/main" val="20001"/>
                    </a:ext>
                  </a:extLst>
                </a:gridCol>
                <a:gridCol w="2228947">
                  <a:extLst>
                    <a:ext uri="{9D8B030D-6E8A-4147-A177-3AD203B41FA5}">
                      <a16:colId xmlns:a16="http://schemas.microsoft.com/office/drawing/2014/main" val="20002"/>
                    </a:ext>
                  </a:extLst>
                </a:gridCol>
                <a:gridCol w="1656612">
                  <a:extLst>
                    <a:ext uri="{9D8B030D-6E8A-4147-A177-3AD203B41FA5}">
                      <a16:colId xmlns:a16="http://schemas.microsoft.com/office/drawing/2014/main" val="20003"/>
                    </a:ext>
                  </a:extLst>
                </a:gridCol>
                <a:gridCol w="3891305">
                  <a:extLst>
                    <a:ext uri="{9D8B030D-6E8A-4147-A177-3AD203B41FA5}">
                      <a16:colId xmlns:a16="http://schemas.microsoft.com/office/drawing/2014/main" val="20004"/>
                    </a:ext>
                  </a:extLst>
                </a:gridCol>
              </a:tblGrid>
              <a:tr h="299294">
                <a:tc>
                  <a:txBody>
                    <a:bodyPr/>
                    <a:lstStyle/>
                    <a:p>
                      <a:pPr marL="0" marR="0" algn="ctr">
                        <a:lnSpc>
                          <a:spcPct val="130000"/>
                        </a:lnSpc>
                        <a:spcBef>
                          <a:spcPts val="0"/>
                        </a:spcBef>
                        <a:spcAft>
                          <a:spcPts val="0"/>
                        </a:spcAft>
                      </a:pPr>
                      <a:r>
                        <a:rPr lang="ko-KR" altLang="en-US" sz="1200" b="1" dirty="0">
                          <a:effectLst/>
                        </a:rPr>
                        <a:t>구 분</a:t>
                      </a:r>
                      <a:endParaRPr lang="ko-KR" altLang="en-US" sz="1200" b="1" dirty="0">
                        <a:solidFill>
                          <a:srgbClr val="000000"/>
                        </a:solidFill>
                        <a:effectLst/>
                        <a:latin typeface="+mn-ea"/>
                        <a:ea typeface="+mn-ea"/>
                      </a:endParaRPr>
                    </a:p>
                  </a:txBody>
                  <a:tcPr marL="72000" marR="72000" marT="13957" marB="13957" anchor="ctr">
                    <a:solidFill>
                      <a:schemeClr val="accent1">
                        <a:lumMod val="20000"/>
                        <a:lumOff val="80000"/>
                      </a:schemeClr>
                    </a:solidFill>
                  </a:tcPr>
                </a:tc>
                <a:tc>
                  <a:txBody>
                    <a:bodyPr/>
                    <a:lstStyle/>
                    <a:p>
                      <a:pPr marL="0" marR="0" algn="ctr">
                        <a:lnSpc>
                          <a:spcPct val="130000"/>
                        </a:lnSpc>
                        <a:spcBef>
                          <a:spcPts val="0"/>
                        </a:spcBef>
                        <a:spcAft>
                          <a:spcPts val="0"/>
                        </a:spcAft>
                      </a:pPr>
                      <a:r>
                        <a:rPr lang="ko-KR" altLang="en-US" sz="1200" b="1" dirty="0">
                          <a:effectLst/>
                        </a:rPr>
                        <a:t>특허발명</a:t>
                      </a:r>
                      <a:endParaRPr lang="ko-KR" altLang="en-US" sz="1200" b="1" dirty="0">
                        <a:solidFill>
                          <a:srgbClr val="000000"/>
                        </a:solidFill>
                        <a:effectLst/>
                        <a:latin typeface="+mn-ea"/>
                        <a:ea typeface="+mn-ea"/>
                      </a:endParaRPr>
                    </a:p>
                  </a:txBody>
                  <a:tcPr marL="72000" marR="72000" marT="13957" marB="13957" anchor="ctr">
                    <a:solidFill>
                      <a:schemeClr val="accent1">
                        <a:lumMod val="20000"/>
                        <a:lumOff val="80000"/>
                      </a:schemeClr>
                    </a:solidFill>
                  </a:tcPr>
                </a:tc>
                <a:tc>
                  <a:txBody>
                    <a:bodyPr/>
                    <a:lstStyle/>
                    <a:p>
                      <a:pPr marL="0" marR="0" algn="ctr">
                        <a:lnSpc>
                          <a:spcPct val="130000"/>
                        </a:lnSpc>
                        <a:spcBef>
                          <a:spcPts val="0"/>
                        </a:spcBef>
                        <a:spcAft>
                          <a:spcPts val="0"/>
                        </a:spcAft>
                      </a:pPr>
                      <a:r>
                        <a:rPr lang="ko-KR" altLang="en-US" sz="1200" b="1" dirty="0">
                          <a:effectLst/>
                        </a:rPr>
                        <a:t>확인대상발명</a:t>
                      </a:r>
                      <a:endParaRPr lang="ko-KR" altLang="en-US" sz="1200" b="1" dirty="0">
                        <a:solidFill>
                          <a:srgbClr val="000000"/>
                        </a:solidFill>
                        <a:effectLst/>
                        <a:latin typeface="+mn-ea"/>
                        <a:ea typeface="+mn-ea"/>
                      </a:endParaRPr>
                    </a:p>
                  </a:txBody>
                  <a:tcPr marL="72000" marR="72000" marT="13957" marB="13957" anchor="ctr">
                    <a:solidFill>
                      <a:schemeClr val="accent1">
                        <a:lumMod val="20000"/>
                        <a:lumOff val="80000"/>
                      </a:schemeClr>
                    </a:solidFill>
                  </a:tcPr>
                </a:tc>
                <a:tc>
                  <a:txBody>
                    <a:bodyPr/>
                    <a:lstStyle/>
                    <a:p>
                      <a:pPr marL="0" marR="0" algn="ctr">
                        <a:lnSpc>
                          <a:spcPct val="130000"/>
                        </a:lnSpc>
                        <a:spcBef>
                          <a:spcPts val="0"/>
                        </a:spcBef>
                        <a:spcAft>
                          <a:spcPts val="0"/>
                        </a:spcAft>
                      </a:pPr>
                      <a:r>
                        <a:rPr lang="ko-KR" altLang="en-US" sz="1200" b="1" dirty="0">
                          <a:effectLst/>
                        </a:rPr>
                        <a:t>대법원 판례</a:t>
                      </a:r>
                      <a:endParaRPr lang="ko-KR" altLang="en-US" sz="1200" b="1" dirty="0">
                        <a:solidFill>
                          <a:srgbClr val="000000"/>
                        </a:solidFill>
                        <a:effectLst/>
                        <a:latin typeface="+mn-ea"/>
                        <a:ea typeface="+mn-ea"/>
                      </a:endParaRPr>
                    </a:p>
                  </a:txBody>
                  <a:tcPr marL="72000" marR="72000" marT="13957" marB="13957" anchor="ctr">
                    <a:solidFill>
                      <a:schemeClr val="accent1">
                        <a:lumMod val="20000"/>
                        <a:lumOff val="80000"/>
                      </a:schemeClr>
                    </a:solidFill>
                  </a:tcPr>
                </a:tc>
                <a:tc>
                  <a:txBody>
                    <a:bodyPr/>
                    <a:lstStyle/>
                    <a:p>
                      <a:pPr marL="0" marR="0" algn="ctr">
                        <a:lnSpc>
                          <a:spcPct val="130000"/>
                        </a:lnSpc>
                        <a:spcBef>
                          <a:spcPts val="0"/>
                        </a:spcBef>
                        <a:spcAft>
                          <a:spcPts val="0"/>
                        </a:spcAft>
                      </a:pPr>
                      <a:r>
                        <a:rPr lang="ko-KR" altLang="en-US" sz="1200" b="1" dirty="0">
                          <a:effectLst/>
                        </a:rPr>
                        <a:t>비 고</a:t>
                      </a:r>
                      <a:endParaRPr lang="ko-KR" altLang="en-US" sz="1200" b="1" dirty="0">
                        <a:solidFill>
                          <a:srgbClr val="000000"/>
                        </a:solidFill>
                        <a:effectLst/>
                        <a:latin typeface="+mn-ea"/>
                        <a:ea typeface="+mn-ea"/>
                      </a:endParaRPr>
                    </a:p>
                  </a:txBody>
                  <a:tcPr marL="72000" marR="72000" marT="13957" marB="13957" anchor="ctr">
                    <a:solidFill>
                      <a:schemeClr val="accent1">
                        <a:lumMod val="20000"/>
                        <a:lumOff val="80000"/>
                      </a:schemeClr>
                    </a:solidFill>
                  </a:tcPr>
                </a:tc>
                <a:extLst>
                  <a:ext uri="{0D108BD9-81ED-4DB2-BD59-A6C34878D82A}">
                    <a16:rowId xmlns:a16="http://schemas.microsoft.com/office/drawing/2014/main" val="10000"/>
                  </a:ext>
                </a:extLst>
              </a:tr>
              <a:tr h="636811">
                <a:tc rowSpan="2">
                  <a:txBody>
                    <a:bodyPr/>
                    <a:lstStyle/>
                    <a:p>
                      <a:pPr marL="0" marR="0" algn="ctr">
                        <a:lnSpc>
                          <a:spcPct val="130000"/>
                        </a:lnSpc>
                        <a:spcBef>
                          <a:spcPts val="0"/>
                        </a:spcBef>
                        <a:spcAft>
                          <a:spcPts val="0"/>
                        </a:spcAft>
                      </a:pPr>
                      <a:r>
                        <a:rPr lang="ko-KR" altLang="en-US" sz="1200" dirty="0">
                          <a:effectLst/>
                        </a:rPr>
                        <a:t>문언침해</a:t>
                      </a:r>
                      <a:endParaRPr lang="ko-KR" altLang="en-US" sz="1200" dirty="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dirty="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dirty="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a:effectLst/>
                        </a:rPr>
                        <a:t>침해</a:t>
                      </a: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dirty="0">
                          <a:effectLst/>
                        </a:rPr>
                        <a:t>최근 판례는 개별 구성요소의 중요성을 강화하는 방향으로 </a:t>
                      </a:r>
                      <a:r>
                        <a:rPr lang="ko-KR" altLang="en-US" sz="1200" dirty="0" err="1">
                          <a:effectLst/>
                        </a:rPr>
                        <a:t>나아감</a:t>
                      </a:r>
                      <a:r>
                        <a:rPr lang="en-US" altLang="ko-KR" sz="1200" dirty="0">
                          <a:effectLst/>
                        </a:rPr>
                        <a:t>(</a:t>
                      </a:r>
                      <a:r>
                        <a:rPr lang="ko-KR" altLang="en-US" sz="1200" dirty="0">
                          <a:effectLst/>
                        </a:rPr>
                        <a:t>생략침해나 불완전이용침해의 인정여부와 상관관계 있음</a:t>
                      </a:r>
                      <a:r>
                        <a:rPr lang="en-US" altLang="ko-KR" sz="1200" dirty="0">
                          <a:effectLst/>
                        </a:rPr>
                        <a:t>)</a:t>
                      </a:r>
                      <a:endParaRPr lang="en-US" altLang="ko-KR" sz="1200" dirty="0">
                        <a:solidFill>
                          <a:srgbClr val="000000"/>
                        </a:solidFill>
                        <a:effectLst/>
                        <a:latin typeface="+mn-ea"/>
                        <a:ea typeface="+mn-ea"/>
                      </a:endParaRPr>
                    </a:p>
                  </a:txBody>
                  <a:tcPr marL="72000" marR="72000" marT="13957" marB="13957" anchor="ctr"/>
                </a:tc>
                <a:extLst>
                  <a:ext uri="{0D108BD9-81ED-4DB2-BD59-A6C34878D82A}">
                    <a16:rowId xmlns:a16="http://schemas.microsoft.com/office/drawing/2014/main" val="10001"/>
                  </a:ext>
                </a:extLst>
              </a:tr>
              <a:tr h="585772">
                <a:tc vMerge="1">
                  <a:txBody>
                    <a:bodyPr/>
                    <a:lstStyle/>
                    <a:p>
                      <a:pPr latinLnBrk="1"/>
                      <a:endParaRPr lang="ko-KR" altLang="en-US"/>
                    </a:p>
                  </a:txBody>
                  <a:tcPr/>
                </a:tc>
                <a:tc>
                  <a:txBody>
                    <a:bodyPr/>
                    <a:lstStyle/>
                    <a:p>
                      <a:pPr marL="35560" marR="35560" algn="just">
                        <a:lnSpc>
                          <a:spcPct val="130000"/>
                        </a:lnSpc>
                        <a:spcBef>
                          <a:spcPts val="0"/>
                        </a:spcBef>
                        <a:spcAft>
                          <a:spcPts val="0"/>
                        </a:spcAft>
                      </a:pP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dirty="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a:effectLst/>
                        </a:rPr>
                        <a:t>침해</a:t>
                      </a: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dirty="0">
                          <a:effectLst/>
                        </a:rPr>
                        <a:t>촉매를 이용한 화학발명의 이용침해의 해당 여부에 대한 중요한 판례의 변화가 있음</a:t>
                      </a:r>
                      <a:endParaRPr lang="ko-KR" altLang="en-US" sz="1200" dirty="0">
                        <a:solidFill>
                          <a:srgbClr val="000000"/>
                        </a:solidFill>
                        <a:effectLst/>
                        <a:latin typeface="+mn-ea"/>
                        <a:ea typeface="+mn-ea"/>
                      </a:endParaRPr>
                    </a:p>
                  </a:txBody>
                  <a:tcPr marL="72000" marR="72000" marT="13957" marB="13957" anchor="ctr"/>
                </a:tc>
                <a:extLst>
                  <a:ext uri="{0D108BD9-81ED-4DB2-BD59-A6C34878D82A}">
                    <a16:rowId xmlns:a16="http://schemas.microsoft.com/office/drawing/2014/main" val="10002"/>
                  </a:ext>
                </a:extLst>
              </a:tr>
              <a:tr h="618950">
                <a:tc rowSpan="2">
                  <a:txBody>
                    <a:bodyPr/>
                    <a:lstStyle/>
                    <a:p>
                      <a:pPr marL="0" marR="0" algn="ctr">
                        <a:lnSpc>
                          <a:spcPct val="130000"/>
                        </a:lnSpc>
                        <a:spcBef>
                          <a:spcPts val="0"/>
                        </a:spcBef>
                        <a:spcAft>
                          <a:spcPts val="0"/>
                        </a:spcAft>
                      </a:pPr>
                      <a:r>
                        <a:rPr lang="ko-KR" altLang="en-US" sz="1200" dirty="0">
                          <a:effectLst/>
                        </a:rPr>
                        <a:t>균등침해</a:t>
                      </a:r>
                      <a:endParaRPr lang="ko-KR" altLang="en-US" sz="1200" dirty="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dirty="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a:effectLst/>
                        </a:rPr>
                        <a:t>침해</a:t>
                      </a: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dirty="0">
                          <a:effectLst/>
                        </a:rPr>
                        <a:t>과제의 해결원리의 동일성</a:t>
                      </a:r>
                      <a:r>
                        <a:rPr lang="en-US" altLang="ko-KR" sz="1200" dirty="0">
                          <a:effectLst/>
                        </a:rPr>
                        <a:t>, </a:t>
                      </a:r>
                      <a:r>
                        <a:rPr lang="ko-KR" altLang="en-US" sz="1200" dirty="0" err="1">
                          <a:effectLst/>
                        </a:rPr>
                        <a:t>출원금반언의</a:t>
                      </a:r>
                      <a:r>
                        <a:rPr lang="ko-KR" altLang="en-US" sz="1200" dirty="0">
                          <a:effectLst/>
                        </a:rPr>
                        <a:t> 원칙 등</a:t>
                      </a:r>
                      <a:r>
                        <a:rPr lang="en-US" altLang="ko-KR" sz="1200" dirty="0">
                          <a:effectLst/>
                        </a:rPr>
                        <a:t> </a:t>
                      </a:r>
                      <a:r>
                        <a:rPr lang="ko-KR" altLang="en-US" sz="1200" dirty="0">
                          <a:effectLst/>
                        </a:rPr>
                        <a:t>적용범위의 해석 확립 필요</a:t>
                      </a:r>
                      <a:endParaRPr lang="ko-KR" altLang="en-US" sz="1200" dirty="0">
                        <a:solidFill>
                          <a:srgbClr val="000000"/>
                        </a:solidFill>
                        <a:effectLst/>
                        <a:latin typeface="+mn-ea"/>
                        <a:ea typeface="+mn-ea"/>
                      </a:endParaRPr>
                    </a:p>
                  </a:txBody>
                  <a:tcPr marL="72000" marR="72000" marT="13957" marB="13957" anchor="ctr"/>
                </a:tc>
                <a:extLst>
                  <a:ext uri="{0D108BD9-81ED-4DB2-BD59-A6C34878D82A}">
                    <a16:rowId xmlns:a16="http://schemas.microsoft.com/office/drawing/2014/main" val="10003"/>
                  </a:ext>
                </a:extLst>
              </a:tr>
              <a:tr h="576064">
                <a:tc vMerge="1">
                  <a:txBody>
                    <a:bodyPr/>
                    <a:lstStyle/>
                    <a:p>
                      <a:pPr latinLnBrk="1"/>
                      <a:endParaRPr lang="ko-KR" altLang="en-US"/>
                    </a:p>
                  </a:txBody>
                  <a:tcPr/>
                </a:tc>
                <a:tc>
                  <a:txBody>
                    <a:bodyPr/>
                    <a:lstStyle/>
                    <a:p>
                      <a:pPr marL="35560" marR="35560" algn="just">
                        <a:lnSpc>
                          <a:spcPct val="130000"/>
                        </a:lnSpc>
                        <a:spcBef>
                          <a:spcPts val="0"/>
                        </a:spcBef>
                        <a:spcAft>
                          <a:spcPts val="0"/>
                        </a:spcAft>
                      </a:pPr>
                      <a:endParaRPr lang="ko-KR" altLang="en-US" sz="1200" dirty="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dirty="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a:effectLst/>
                        </a:rPr>
                        <a:t>침해</a:t>
                      </a: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a:effectLst/>
                        </a:rPr>
                        <a:t>균등물을 기초로 한 이용발명을 침해로 인정함</a:t>
                      </a:r>
                      <a:endParaRPr lang="ko-KR" altLang="en-US" sz="1200">
                        <a:solidFill>
                          <a:srgbClr val="000000"/>
                        </a:solidFill>
                        <a:effectLst/>
                        <a:latin typeface="+mn-ea"/>
                        <a:ea typeface="+mn-ea"/>
                      </a:endParaRPr>
                    </a:p>
                  </a:txBody>
                  <a:tcPr marL="72000" marR="72000" marT="13957" marB="13957" anchor="ctr"/>
                </a:tc>
                <a:extLst>
                  <a:ext uri="{0D108BD9-81ED-4DB2-BD59-A6C34878D82A}">
                    <a16:rowId xmlns:a16="http://schemas.microsoft.com/office/drawing/2014/main" val="10004"/>
                  </a:ext>
                </a:extLst>
              </a:tr>
              <a:tr h="585772">
                <a:tc>
                  <a:txBody>
                    <a:bodyPr/>
                    <a:lstStyle/>
                    <a:p>
                      <a:pPr marL="0" marR="0" algn="ctr">
                        <a:lnSpc>
                          <a:spcPct val="130000"/>
                        </a:lnSpc>
                        <a:spcBef>
                          <a:spcPts val="0"/>
                        </a:spcBef>
                        <a:spcAft>
                          <a:spcPts val="0"/>
                        </a:spcAft>
                      </a:pPr>
                      <a:r>
                        <a:rPr lang="ko-KR" altLang="en-US" sz="1200">
                          <a:effectLst/>
                        </a:rPr>
                        <a:t>생략침해</a:t>
                      </a: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a:effectLst/>
                        </a:rPr>
                        <a:t>최근 대법원 판례는 침해 부정</a:t>
                      </a:r>
                      <a:endParaRPr lang="ko-KR" altLang="en-US" sz="1200">
                        <a:solidFill>
                          <a:srgbClr val="000000"/>
                        </a:solidFill>
                        <a:effectLst/>
                        <a:latin typeface="+mn-ea"/>
                        <a:ea typeface="+mn-ea"/>
                      </a:endParaRPr>
                    </a:p>
                  </a:txBody>
                  <a:tcPr marL="72000" marR="72000" marT="13957" marB="13957" anchor="ctr"/>
                </a:tc>
                <a:tc rowSpan="2">
                  <a:txBody>
                    <a:bodyPr/>
                    <a:lstStyle/>
                    <a:p>
                      <a:pPr marL="35560" marR="35560" algn="just">
                        <a:lnSpc>
                          <a:spcPct val="130000"/>
                        </a:lnSpc>
                        <a:spcBef>
                          <a:spcPts val="0"/>
                        </a:spcBef>
                        <a:spcAft>
                          <a:spcPts val="0"/>
                        </a:spcAft>
                      </a:pPr>
                      <a:r>
                        <a:rPr lang="ko-KR" altLang="en-US" sz="1200" dirty="0">
                          <a:effectLst/>
                        </a:rPr>
                        <a:t>침해를 문언침해와 </a:t>
                      </a:r>
                      <a:r>
                        <a:rPr lang="ko-KR" altLang="en-US" sz="1200" dirty="0" err="1">
                          <a:effectLst/>
                        </a:rPr>
                        <a:t>균등론적</a:t>
                      </a:r>
                      <a:r>
                        <a:rPr lang="ko-KR" altLang="en-US" sz="1200" dirty="0">
                          <a:effectLst/>
                        </a:rPr>
                        <a:t> 침해로 나누고 개별적 구성요소의 존재를 중요시하는 최근 판례의 동향과 관련하여 그 존재의 의의 및 별도의 </a:t>
                      </a:r>
                      <a:r>
                        <a:rPr lang="ko-KR" altLang="en-US" sz="1200" dirty="0" err="1">
                          <a:effectLst/>
                        </a:rPr>
                        <a:t>침해이론으로서의</a:t>
                      </a:r>
                      <a:r>
                        <a:rPr lang="ko-KR" altLang="en-US" sz="1200" dirty="0">
                          <a:effectLst/>
                        </a:rPr>
                        <a:t> 인정여부를 </a:t>
                      </a:r>
                      <a:r>
                        <a:rPr lang="ko-KR" altLang="en-US" sz="1200" dirty="0" err="1">
                          <a:effectLst/>
                        </a:rPr>
                        <a:t>심도있게</a:t>
                      </a:r>
                      <a:r>
                        <a:rPr lang="ko-KR" altLang="en-US" sz="1200" dirty="0">
                          <a:effectLst/>
                        </a:rPr>
                        <a:t> 논의하여 나가야 함</a:t>
                      </a:r>
                      <a:r>
                        <a:rPr lang="en-US" altLang="ko-KR" sz="1200" dirty="0">
                          <a:effectLst/>
                        </a:rPr>
                        <a:t>. </a:t>
                      </a:r>
                      <a:r>
                        <a:rPr lang="ko-KR" altLang="en-US" sz="1200" dirty="0">
                          <a:solidFill>
                            <a:srgbClr val="FF0000"/>
                          </a:solidFill>
                          <a:effectLst/>
                        </a:rPr>
                        <a:t>최근에는 균등침해의 하나의 유형으로 인정하려는 경향이 있음</a:t>
                      </a:r>
                      <a:endParaRPr lang="ko-KR" altLang="en-US" sz="1200" dirty="0">
                        <a:solidFill>
                          <a:srgbClr val="FF0000"/>
                        </a:solidFill>
                        <a:effectLst/>
                        <a:latin typeface="+mn-ea"/>
                        <a:ea typeface="+mn-ea"/>
                      </a:endParaRPr>
                    </a:p>
                  </a:txBody>
                  <a:tcPr marL="72000" marR="72000" marT="13957" marB="13957" anchor="ctr"/>
                </a:tc>
                <a:extLst>
                  <a:ext uri="{0D108BD9-81ED-4DB2-BD59-A6C34878D82A}">
                    <a16:rowId xmlns:a16="http://schemas.microsoft.com/office/drawing/2014/main" val="10005"/>
                  </a:ext>
                </a:extLst>
              </a:tr>
              <a:tr h="585772">
                <a:tc>
                  <a:txBody>
                    <a:bodyPr/>
                    <a:lstStyle/>
                    <a:p>
                      <a:pPr marL="0" marR="0" algn="ctr">
                        <a:lnSpc>
                          <a:spcPct val="130000"/>
                        </a:lnSpc>
                        <a:spcBef>
                          <a:spcPts val="0"/>
                        </a:spcBef>
                        <a:spcAft>
                          <a:spcPts val="0"/>
                        </a:spcAft>
                      </a:pPr>
                      <a:r>
                        <a:rPr lang="ko-KR" altLang="en-US" sz="1200">
                          <a:effectLst/>
                        </a:rPr>
                        <a:t>불완전</a:t>
                      </a:r>
                    </a:p>
                    <a:p>
                      <a:pPr marL="0" marR="0" algn="ctr">
                        <a:lnSpc>
                          <a:spcPct val="130000"/>
                        </a:lnSpc>
                        <a:spcBef>
                          <a:spcPts val="0"/>
                        </a:spcBef>
                        <a:spcAft>
                          <a:spcPts val="0"/>
                        </a:spcAft>
                      </a:pPr>
                      <a:r>
                        <a:rPr lang="ko-KR" altLang="en-US" sz="1200">
                          <a:effectLst/>
                        </a:rPr>
                        <a:t>이용침해</a:t>
                      </a: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dirty="0">
                          <a:effectLst/>
                        </a:rPr>
                        <a:t>대법원 판례 없음</a:t>
                      </a:r>
                      <a:endParaRPr lang="ko-KR" altLang="en-US" sz="1200" dirty="0">
                        <a:solidFill>
                          <a:srgbClr val="000000"/>
                        </a:solidFill>
                        <a:effectLst/>
                        <a:latin typeface="+mn-ea"/>
                        <a:ea typeface="+mn-ea"/>
                      </a:endParaRPr>
                    </a:p>
                  </a:txBody>
                  <a:tcPr marL="72000" marR="72000" marT="13957" marB="13957" anchor="ctr"/>
                </a:tc>
                <a:tc vMerge="1">
                  <a:txBody>
                    <a:bodyPr/>
                    <a:lstStyle/>
                    <a:p>
                      <a:pPr latinLnBrk="1"/>
                      <a:endParaRPr lang="ko-KR" altLang="en-US"/>
                    </a:p>
                  </a:txBody>
                  <a:tcPr/>
                </a:tc>
                <a:extLst>
                  <a:ext uri="{0D108BD9-81ED-4DB2-BD59-A6C34878D82A}">
                    <a16:rowId xmlns:a16="http://schemas.microsoft.com/office/drawing/2014/main" val="10006"/>
                  </a:ext>
                </a:extLst>
              </a:tr>
              <a:tr h="628656">
                <a:tc>
                  <a:txBody>
                    <a:bodyPr/>
                    <a:lstStyle/>
                    <a:p>
                      <a:pPr marL="0" marR="0" algn="ctr">
                        <a:lnSpc>
                          <a:spcPct val="130000"/>
                        </a:lnSpc>
                        <a:spcBef>
                          <a:spcPts val="0"/>
                        </a:spcBef>
                        <a:spcAft>
                          <a:spcPts val="0"/>
                        </a:spcAft>
                      </a:pPr>
                      <a:r>
                        <a:rPr lang="ko-KR" altLang="en-US" sz="1200">
                          <a:effectLst/>
                        </a:rPr>
                        <a:t>선택침해</a:t>
                      </a: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dirty="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a:effectLst/>
                        </a:rPr>
                        <a:t>침해를 부정한 과거의 판례는 존재하나 논란있음</a:t>
                      </a: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a:effectLst/>
                        </a:rPr>
                        <a:t>최근 판례의 경향에 따라 이용침해의 한 유형으로서 파악해야 한다는 주장이 강하게 제기되고 있음</a:t>
                      </a:r>
                      <a:endParaRPr lang="ko-KR" altLang="en-US" sz="1200">
                        <a:solidFill>
                          <a:srgbClr val="000000"/>
                        </a:solidFill>
                        <a:effectLst/>
                        <a:latin typeface="+mn-ea"/>
                        <a:ea typeface="+mn-ea"/>
                      </a:endParaRPr>
                    </a:p>
                  </a:txBody>
                  <a:tcPr marL="72000" marR="72000" marT="13957" marB="13957" anchor="ctr"/>
                </a:tc>
                <a:extLst>
                  <a:ext uri="{0D108BD9-81ED-4DB2-BD59-A6C34878D82A}">
                    <a16:rowId xmlns:a16="http://schemas.microsoft.com/office/drawing/2014/main" val="10007"/>
                  </a:ext>
                </a:extLst>
              </a:tr>
              <a:tr h="576064">
                <a:tc>
                  <a:txBody>
                    <a:bodyPr/>
                    <a:lstStyle/>
                    <a:p>
                      <a:pPr marL="0" marR="0" algn="ctr">
                        <a:lnSpc>
                          <a:spcPct val="130000"/>
                        </a:lnSpc>
                        <a:spcBef>
                          <a:spcPts val="0"/>
                        </a:spcBef>
                        <a:spcAft>
                          <a:spcPts val="0"/>
                        </a:spcAft>
                      </a:pPr>
                      <a:r>
                        <a:rPr lang="ko-KR" altLang="en-US" sz="1200">
                          <a:effectLst/>
                        </a:rPr>
                        <a:t>우회침해</a:t>
                      </a: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endParaRPr lang="ko-KR" altLang="en-US" sz="1200" dirty="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a:effectLst/>
                        </a:rPr>
                        <a:t>침해</a:t>
                      </a:r>
                      <a:endParaRPr lang="ko-KR" altLang="en-US" sz="1200">
                        <a:solidFill>
                          <a:srgbClr val="000000"/>
                        </a:solidFill>
                        <a:effectLst/>
                        <a:latin typeface="+mn-ea"/>
                        <a:ea typeface="+mn-ea"/>
                      </a:endParaRPr>
                    </a:p>
                  </a:txBody>
                  <a:tcPr marL="72000" marR="72000" marT="13957" marB="13957" anchor="ctr"/>
                </a:tc>
                <a:tc>
                  <a:txBody>
                    <a:bodyPr/>
                    <a:lstStyle/>
                    <a:p>
                      <a:pPr marL="35560" marR="35560" algn="just">
                        <a:lnSpc>
                          <a:spcPct val="130000"/>
                        </a:lnSpc>
                        <a:spcBef>
                          <a:spcPts val="0"/>
                        </a:spcBef>
                        <a:spcAft>
                          <a:spcPts val="0"/>
                        </a:spcAft>
                      </a:pPr>
                      <a:r>
                        <a:rPr lang="ko-KR" altLang="en-US" sz="1200" dirty="0">
                          <a:effectLst/>
                        </a:rPr>
                        <a:t>균등침해와의 관계 정립 필요</a:t>
                      </a:r>
                      <a:endParaRPr lang="ko-KR" altLang="en-US" sz="1200" dirty="0">
                        <a:solidFill>
                          <a:srgbClr val="000000"/>
                        </a:solidFill>
                        <a:effectLst/>
                        <a:latin typeface="+mn-ea"/>
                        <a:ea typeface="+mn-ea"/>
                      </a:endParaRPr>
                    </a:p>
                  </a:txBody>
                  <a:tcPr marL="72000" marR="72000" marT="13957" marB="13957" anchor="ctr"/>
                </a:tc>
                <a:extLst>
                  <a:ext uri="{0D108BD9-81ED-4DB2-BD59-A6C34878D82A}">
                    <a16:rowId xmlns:a16="http://schemas.microsoft.com/office/drawing/2014/main" val="10008"/>
                  </a:ext>
                </a:extLst>
              </a:tr>
            </a:tbl>
          </a:graphicData>
        </a:graphic>
      </p:graphicFrame>
      <p:grpSp>
        <p:nvGrpSpPr>
          <p:cNvPr id="13" name="그룹 12"/>
          <p:cNvGrpSpPr/>
          <p:nvPr/>
        </p:nvGrpSpPr>
        <p:grpSpPr>
          <a:xfrm>
            <a:off x="4573272" y="4162251"/>
            <a:ext cx="807907" cy="276999"/>
            <a:chOff x="3057428" y="6381328"/>
            <a:chExt cx="605930" cy="276999"/>
          </a:xfrm>
        </p:grpSpPr>
        <p:sp>
          <p:nvSpPr>
            <p:cNvPr id="4" name="직사각형 3"/>
            <p:cNvSpPr/>
            <p:nvPr/>
          </p:nvSpPr>
          <p:spPr>
            <a:xfrm>
              <a:off x="3057428"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79" name="직사각형 78"/>
            <p:cNvSpPr/>
            <p:nvPr/>
          </p:nvSpPr>
          <p:spPr>
            <a:xfrm>
              <a:off x="3447334"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8" name="TextBox 7"/>
            <p:cNvSpPr txBox="1"/>
            <p:nvPr/>
          </p:nvSpPr>
          <p:spPr>
            <a:xfrm>
              <a:off x="3230019"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1" name="그룹 10"/>
          <p:cNvGrpSpPr/>
          <p:nvPr/>
        </p:nvGrpSpPr>
        <p:grpSpPr>
          <a:xfrm>
            <a:off x="2255574" y="1671093"/>
            <a:ext cx="1306729" cy="276999"/>
            <a:chOff x="1331640" y="6381328"/>
            <a:chExt cx="980047" cy="276999"/>
          </a:xfrm>
        </p:grpSpPr>
        <p:sp>
          <p:nvSpPr>
            <p:cNvPr id="102" name="직사각형 101"/>
            <p:cNvSpPr/>
            <p:nvPr/>
          </p:nvSpPr>
          <p:spPr>
            <a:xfrm>
              <a:off x="1331640"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04" name="직사각형 103"/>
            <p:cNvSpPr/>
            <p:nvPr/>
          </p:nvSpPr>
          <p:spPr>
            <a:xfrm>
              <a:off x="1721546"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06" name="직사각형 105"/>
            <p:cNvSpPr/>
            <p:nvPr/>
          </p:nvSpPr>
          <p:spPr>
            <a:xfrm>
              <a:off x="2095663"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08" name="TextBox 107"/>
            <p:cNvSpPr txBox="1"/>
            <p:nvPr/>
          </p:nvSpPr>
          <p:spPr>
            <a:xfrm>
              <a:off x="1504231"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10" name="TextBox 109"/>
            <p:cNvSpPr txBox="1"/>
            <p:nvPr/>
          </p:nvSpPr>
          <p:spPr>
            <a:xfrm>
              <a:off x="1883458"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13" name="그룹 112"/>
          <p:cNvGrpSpPr/>
          <p:nvPr/>
        </p:nvGrpSpPr>
        <p:grpSpPr>
          <a:xfrm>
            <a:off x="4303146" y="1671093"/>
            <a:ext cx="1306729" cy="276999"/>
            <a:chOff x="1331640" y="6381328"/>
            <a:chExt cx="980047" cy="276999"/>
          </a:xfrm>
        </p:grpSpPr>
        <p:sp>
          <p:nvSpPr>
            <p:cNvPr id="114" name="직사각형 113"/>
            <p:cNvSpPr/>
            <p:nvPr/>
          </p:nvSpPr>
          <p:spPr>
            <a:xfrm>
              <a:off x="1331640"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15" name="직사각형 114"/>
            <p:cNvSpPr/>
            <p:nvPr/>
          </p:nvSpPr>
          <p:spPr>
            <a:xfrm>
              <a:off x="1721546"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16" name="직사각형 115"/>
            <p:cNvSpPr/>
            <p:nvPr/>
          </p:nvSpPr>
          <p:spPr>
            <a:xfrm>
              <a:off x="2095663"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17" name="TextBox 116"/>
            <p:cNvSpPr txBox="1"/>
            <p:nvPr/>
          </p:nvSpPr>
          <p:spPr>
            <a:xfrm>
              <a:off x="1504231"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18" name="TextBox 117"/>
            <p:cNvSpPr txBox="1"/>
            <p:nvPr/>
          </p:nvSpPr>
          <p:spPr>
            <a:xfrm>
              <a:off x="1883458"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19" name="그룹 118"/>
          <p:cNvGrpSpPr/>
          <p:nvPr/>
        </p:nvGrpSpPr>
        <p:grpSpPr>
          <a:xfrm>
            <a:off x="2255574" y="2348757"/>
            <a:ext cx="1306729" cy="276999"/>
            <a:chOff x="1331640" y="6381328"/>
            <a:chExt cx="980047" cy="276999"/>
          </a:xfrm>
        </p:grpSpPr>
        <p:sp>
          <p:nvSpPr>
            <p:cNvPr id="120" name="직사각형 119"/>
            <p:cNvSpPr/>
            <p:nvPr/>
          </p:nvSpPr>
          <p:spPr>
            <a:xfrm>
              <a:off x="1331640"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21" name="직사각형 120"/>
            <p:cNvSpPr/>
            <p:nvPr/>
          </p:nvSpPr>
          <p:spPr>
            <a:xfrm>
              <a:off x="1721546"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22" name="직사각형 121"/>
            <p:cNvSpPr/>
            <p:nvPr/>
          </p:nvSpPr>
          <p:spPr>
            <a:xfrm>
              <a:off x="2095663"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23" name="TextBox 122"/>
            <p:cNvSpPr txBox="1"/>
            <p:nvPr/>
          </p:nvSpPr>
          <p:spPr>
            <a:xfrm>
              <a:off x="1504231"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24" name="TextBox 123"/>
            <p:cNvSpPr txBox="1"/>
            <p:nvPr/>
          </p:nvSpPr>
          <p:spPr>
            <a:xfrm>
              <a:off x="1883458"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25" name="그룹 124"/>
          <p:cNvGrpSpPr/>
          <p:nvPr/>
        </p:nvGrpSpPr>
        <p:grpSpPr>
          <a:xfrm>
            <a:off x="2255574" y="2924821"/>
            <a:ext cx="1306729" cy="276999"/>
            <a:chOff x="1331640" y="6381328"/>
            <a:chExt cx="980047" cy="276999"/>
          </a:xfrm>
        </p:grpSpPr>
        <p:sp>
          <p:nvSpPr>
            <p:cNvPr id="126" name="직사각형 125"/>
            <p:cNvSpPr/>
            <p:nvPr/>
          </p:nvSpPr>
          <p:spPr>
            <a:xfrm>
              <a:off x="1331640"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27" name="직사각형 126"/>
            <p:cNvSpPr/>
            <p:nvPr/>
          </p:nvSpPr>
          <p:spPr>
            <a:xfrm>
              <a:off x="1721546"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28" name="직사각형 127"/>
            <p:cNvSpPr/>
            <p:nvPr/>
          </p:nvSpPr>
          <p:spPr>
            <a:xfrm>
              <a:off x="2095663"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29" name="TextBox 128"/>
            <p:cNvSpPr txBox="1"/>
            <p:nvPr/>
          </p:nvSpPr>
          <p:spPr>
            <a:xfrm>
              <a:off x="1504231"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30" name="TextBox 129"/>
            <p:cNvSpPr txBox="1"/>
            <p:nvPr/>
          </p:nvSpPr>
          <p:spPr>
            <a:xfrm>
              <a:off x="1883458"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31" name="그룹 130"/>
          <p:cNvGrpSpPr/>
          <p:nvPr/>
        </p:nvGrpSpPr>
        <p:grpSpPr>
          <a:xfrm>
            <a:off x="2255574" y="3572893"/>
            <a:ext cx="1306729" cy="276999"/>
            <a:chOff x="1331640" y="6381328"/>
            <a:chExt cx="980047" cy="276999"/>
          </a:xfrm>
        </p:grpSpPr>
        <p:sp>
          <p:nvSpPr>
            <p:cNvPr id="132" name="직사각형 131"/>
            <p:cNvSpPr/>
            <p:nvPr/>
          </p:nvSpPr>
          <p:spPr>
            <a:xfrm>
              <a:off x="1331640"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33" name="직사각형 132"/>
            <p:cNvSpPr/>
            <p:nvPr/>
          </p:nvSpPr>
          <p:spPr>
            <a:xfrm>
              <a:off x="1721546"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34" name="직사각형 133"/>
            <p:cNvSpPr/>
            <p:nvPr/>
          </p:nvSpPr>
          <p:spPr>
            <a:xfrm>
              <a:off x="2095663"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35" name="TextBox 134"/>
            <p:cNvSpPr txBox="1"/>
            <p:nvPr/>
          </p:nvSpPr>
          <p:spPr>
            <a:xfrm>
              <a:off x="1504231"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36" name="TextBox 135"/>
            <p:cNvSpPr txBox="1"/>
            <p:nvPr/>
          </p:nvSpPr>
          <p:spPr>
            <a:xfrm>
              <a:off x="1883458"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37" name="그룹 136"/>
          <p:cNvGrpSpPr/>
          <p:nvPr/>
        </p:nvGrpSpPr>
        <p:grpSpPr>
          <a:xfrm>
            <a:off x="2255574" y="4148957"/>
            <a:ext cx="1306729" cy="276999"/>
            <a:chOff x="1331640" y="6381328"/>
            <a:chExt cx="980047" cy="276999"/>
          </a:xfrm>
        </p:grpSpPr>
        <p:sp>
          <p:nvSpPr>
            <p:cNvPr id="138" name="직사각형 137"/>
            <p:cNvSpPr/>
            <p:nvPr/>
          </p:nvSpPr>
          <p:spPr>
            <a:xfrm>
              <a:off x="1331640"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39" name="직사각형 138"/>
            <p:cNvSpPr/>
            <p:nvPr/>
          </p:nvSpPr>
          <p:spPr>
            <a:xfrm>
              <a:off x="1721546"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40" name="직사각형 139"/>
            <p:cNvSpPr/>
            <p:nvPr/>
          </p:nvSpPr>
          <p:spPr>
            <a:xfrm>
              <a:off x="2095663"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41" name="TextBox 140"/>
            <p:cNvSpPr txBox="1"/>
            <p:nvPr/>
          </p:nvSpPr>
          <p:spPr>
            <a:xfrm>
              <a:off x="1504231"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42" name="TextBox 141"/>
            <p:cNvSpPr txBox="1"/>
            <p:nvPr/>
          </p:nvSpPr>
          <p:spPr>
            <a:xfrm>
              <a:off x="1883458"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43" name="그룹 142"/>
          <p:cNvGrpSpPr/>
          <p:nvPr/>
        </p:nvGrpSpPr>
        <p:grpSpPr>
          <a:xfrm>
            <a:off x="2255574" y="4725021"/>
            <a:ext cx="1306729" cy="276999"/>
            <a:chOff x="1331640" y="6381328"/>
            <a:chExt cx="980047" cy="276999"/>
          </a:xfrm>
        </p:grpSpPr>
        <p:sp>
          <p:nvSpPr>
            <p:cNvPr id="144" name="직사각형 143"/>
            <p:cNvSpPr/>
            <p:nvPr/>
          </p:nvSpPr>
          <p:spPr>
            <a:xfrm>
              <a:off x="1331640"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45" name="직사각형 144"/>
            <p:cNvSpPr/>
            <p:nvPr/>
          </p:nvSpPr>
          <p:spPr>
            <a:xfrm>
              <a:off x="1721546"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46" name="직사각형 145"/>
            <p:cNvSpPr/>
            <p:nvPr/>
          </p:nvSpPr>
          <p:spPr>
            <a:xfrm>
              <a:off x="2095663"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47" name="TextBox 146"/>
            <p:cNvSpPr txBox="1"/>
            <p:nvPr/>
          </p:nvSpPr>
          <p:spPr>
            <a:xfrm>
              <a:off x="1504231"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48" name="TextBox 147"/>
            <p:cNvSpPr txBox="1"/>
            <p:nvPr/>
          </p:nvSpPr>
          <p:spPr>
            <a:xfrm>
              <a:off x="1883458"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49" name="그룹 148"/>
          <p:cNvGrpSpPr/>
          <p:nvPr/>
        </p:nvGrpSpPr>
        <p:grpSpPr>
          <a:xfrm>
            <a:off x="2255574" y="5389985"/>
            <a:ext cx="1306729" cy="276999"/>
            <a:chOff x="1331640" y="6381328"/>
            <a:chExt cx="980047" cy="276999"/>
          </a:xfrm>
        </p:grpSpPr>
        <p:sp>
          <p:nvSpPr>
            <p:cNvPr id="150" name="직사각형 149"/>
            <p:cNvSpPr/>
            <p:nvPr/>
          </p:nvSpPr>
          <p:spPr>
            <a:xfrm>
              <a:off x="1331640"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51" name="직사각형 150"/>
            <p:cNvSpPr/>
            <p:nvPr/>
          </p:nvSpPr>
          <p:spPr>
            <a:xfrm>
              <a:off x="1721546"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52" name="직사각형 151"/>
            <p:cNvSpPr/>
            <p:nvPr/>
          </p:nvSpPr>
          <p:spPr>
            <a:xfrm>
              <a:off x="2095663"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53" name="TextBox 152"/>
            <p:cNvSpPr txBox="1"/>
            <p:nvPr/>
          </p:nvSpPr>
          <p:spPr>
            <a:xfrm>
              <a:off x="1504231"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54" name="TextBox 153"/>
            <p:cNvSpPr txBox="1"/>
            <p:nvPr/>
          </p:nvSpPr>
          <p:spPr>
            <a:xfrm>
              <a:off x="1883458"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55" name="그룹 154"/>
          <p:cNvGrpSpPr/>
          <p:nvPr/>
        </p:nvGrpSpPr>
        <p:grpSpPr>
          <a:xfrm>
            <a:off x="2255574" y="6025357"/>
            <a:ext cx="1306729" cy="276999"/>
            <a:chOff x="1331640" y="6381328"/>
            <a:chExt cx="980047" cy="276999"/>
          </a:xfrm>
        </p:grpSpPr>
        <p:sp>
          <p:nvSpPr>
            <p:cNvPr id="156" name="직사각형 155"/>
            <p:cNvSpPr/>
            <p:nvPr/>
          </p:nvSpPr>
          <p:spPr>
            <a:xfrm>
              <a:off x="1331640"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57" name="직사각형 156"/>
            <p:cNvSpPr/>
            <p:nvPr/>
          </p:nvSpPr>
          <p:spPr>
            <a:xfrm>
              <a:off x="1721546"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58" name="직사각형 157"/>
            <p:cNvSpPr/>
            <p:nvPr/>
          </p:nvSpPr>
          <p:spPr>
            <a:xfrm>
              <a:off x="2095663"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59" name="TextBox 158"/>
            <p:cNvSpPr txBox="1"/>
            <p:nvPr/>
          </p:nvSpPr>
          <p:spPr>
            <a:xfrm>
              <a:off x="1504231"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60" name="TextBox 159"/>
            <p:cNvSpPr txBox="1"/>
            <p:nvPr/>
          </p:nvSpPr>
          <p:spPr>
            <a:xfrm>
              <a:off x="1883458"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61" name="그룹 160"/>
          <p:cNvGrpSpPr/>
          <p:nvPr/>
        </p:nvGrpSpPr>
        <p:grpSpPr>
          <a:xfrm>
            <a:off x="4079777" y="2348757"/>
            <a:ext cx="1831313" cy="276999"/>
            <a:chOff x="3057428" y="6381328"/>
            <a:chExt cx="1373485" cy="276999"/>
          </a:xfrm>
        </p:grpSpPr>
        <p:sp>
          <p:nvSpPr>
            <p:cNvPr id="162" name="직사각형 161"/>
            <p:cNvSpPr/>
            <p:nvPr/>
          </p:nvSpPr>
          <p:spPr>
            <a:xfrm>
              <a:off x="3057428"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63" name="직사각형 162"/>
            <p:cNvSpPr/>
            <p:nvPr/>
          </p:nvSpPr>
          <p:spPr>
            <a:xfrm>
              <a:off x="3447334"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64" name="직사각형 163"/>
            <p:cNvSpPr/>
            <p:nvPr/>
          </p:nvSpPr>
          <p:spPr>
            <a:xfrm>
              <a:off x="3821451"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65" name="TextBox 164"/>
            <p:cNvSpPr txBox="1"/>
            <p:nvPr/>
          </p:nvSpPr>
          <p:spPr>
            <a:xfrm>
              <a:off x="3230019"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66" name="TextBox 165"/>
            <p:cNvSpPr txBox="1"/>
            <p:nvPr/>
          </p:nvSpPr>
          <p:spPr>
            <a:xfrm>
              <a:off x="3609246"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67" name="직사각형 166"/>
            <p:cNvSpPr/>
            <p:nvPr/>
          </p:nvSpPr>
          <p:spPr>
            <a:xfrm>
              <a:off x="4214889"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D</a:t>
              </a:r>
              <a:endParaRPr lang="ko-KR" altLang="en-US" sz="1050" dirty="0">
                <a:solidFill>
                  <a:schemeClr val="tx1"/>
                </a:solidFill>
              </a:endParaRPr>
            </a:p>
          </p:txBody>
        </p:sp>
        <p:sp>
          <p:nvSpPr>
            <p:cNvPr id="168" name="TextBox 167"/>
            <p:cNvSpPr txBox="1"/>
            <p:nvPr/>
          </p:nvSpPr>
          <p:spPr>
            <a:xfrm>
              <a:off x="4002684"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70" name="그룹 169"/>
          <p:cNvGrpSpPr/>
          <p:nvPr/>
        </p:nvGrpSpPr>
        <p:grpSpPr>
          <a:xfrm>
            <a:off x="4303146" y="2958729"/>
            <a:ext cx="1306729" cy="276999"/>
            <a:chOff x="1331640" y="6381328"/>
            <a:chExt cx="980047" cy="276999"/>
          </a:xfrm>
        </p:grpSpPr>
        <p:sp>
          <p:nvSpPr>
            <p:cNvPr id="171" name="직사각형 170"/>
            <p:cNvSpPr/>
            <p:nvPr/>
          </p:nvSpPr>
          <p:spPr>
            <a:xfrm>
              <a:off x="1331640"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72" name="직사각형 171"/>
            <p:cNvSpPr/>
            <p:nvPr/>
          </p:nvSpPr>
          <p:spPr>
            <a:xfrm>
              <a:off x="1721546"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73" name="직사각형 172"/>
            <p:cNvSpPr/>
            <p:nvPr/>
          </p:nvSpPr>
          <p:spPr>
            <a:xfrm>
              <a:off x="2095663"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74" name="TextBox 173"/>
            <p:cNvSpPr txBox="1"/>
            <p:nvPr/>
          </p:nvSpPr>
          <p:spPr>
            <a:xfrm>
              <a:off x="1504231"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75" name="TextBox 174"/>
            <p:cNvSpPr txBox="1"/>
            <p:nvPr/>
          </p:nvSpPr>
          <p:spPr>
            <a:xfrm>
              <a:off x="1883458"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76" name="그룹 175"/>
          <p:cNvGrpSpPr/>
          <p:nvPr/>
        </p:nvGrpSpPr>
        <p:grpSpPr>
          <a:xfrm>
            <a:off x="4079777" y="3583926"/>
            <a:ext cx="1831313" cy="276999"/>
            <a:chOff x="3057428" y="6381328"/>
            <a:chExt cx="1373485" cy="276999"/>
          </a:xfrm>
        </p:grpSpPr>
        <p:sp>
          <p:nvSpPr>
            <p:cNvPr id="177" name="직사각형 176"/>
            <p:cNvSpPr/>
            <p:nvPr/>
          </p:nvSpPr>
          <p:spPr>
            <a:xfrm>
              <a:off x="3057428"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78" name="직사각형 177"/>
            <p:cNvSpPr/>
            <p:nvPr/>
          </p:nvSpPr>
          <p:spPr>
            <a:xfrm>
              <a:off x="3447334"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79" name="직사각형 178"/>
            <p:cNvSpPr/>
            <p:nvPr/>
          </p:nvSpPr>
          <p:spPr>
            <a:xfrm>
              <a:off x="3821451"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80" name="TextBox 179"/>
            <p:cNvSpPr txBox="1"/>
            <p:nvPr/>
          </p:nvSpPr>
          <p:spPr>
            <a:xfrm>
              <a:off x="3230019"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81" name="TextBox 180"/>
            <p:cNvSpPr txBox="1"/>
            <p:nvPr/>
          </p:nvSpPr>
          <p:spPr>
            <a:xfrm>
              <a:off x="3609246"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82" name="직사각형 181"/>
            <p:cNvSpPr/>
            <p:nvPr/>
          </p:nvSpPr>
          <p:spPr>
            <a:xfrm>
              <a:off x="4214889"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D</a:t>
              </a:r>
              <a:endParaRPr lang="ko-KR" altLang="en-US" sz="1050" dirty="0">
                <a:solidFill>
                  <a:schemeClr val="tx1"/>
                </a:solidFill>
              </a:endParaRPr>
            </a:p>
          </p:txBody>
        </p:sp>
        <p:sp>
          <p:nvSpPr>
            <p:cNvPr id="183" name="TextBox 182"/>
            <p:cNvSpPr txBox="1"/>
            <p:nvPr/>
          </p:nvSpPr>
          <p:spPr>
            <a:xfrm>
              <a:off x="4002684"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84" name="그룹 183"/>
          <p:cNvGrpSpPr/>
          <p:nvPr/>
        </p:nvGrpSpPr>
        <p:grpSpPr>
          <a:xfrm>
            <a:off x="4079777" y="6028777"/>
            <a:ext cx="1831313" cy="276999"/>
            <a:chOff x="3057428" y="6381328"/>
            <a:chExt cx="1373485" cy="276999"/>
          </a:xfrm>
        </p:grpSpPr>
        <p:sp>
          <p:nvSpPr>
            <p:cNvPr id="185" name="직사각형 184"/>
            <p:cNvSpPr/>
            <p:nvPr/>
          </p:nvSpPr>
          <p:spPr>
            <a:xfrm>
              <a:off x="3057428"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86" name="직사각형 185"/>
            <p:cNvSpPr/>
            <p:nvPr/>
          </p:nvSpPr>
          <p:spPr>
            <a:xfrm>
              <a:off x="3447334"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B1</a:t>
              </a:r>
              <a:endParaRPr lang="ko-KR" altLang="en-US" sz="1050" dirty="0">
                <a:solidFill>
                  <a:schemeClr val="tx1"/>
                </a:solidFill>
              </a:endParaRPr>
            </a:p>
          </p:txBody>
        </p:sp>
        <p:sp>
          <p:nvSpPr>
            <p:cNvPr id="187" name="직사각형 186"/>
            <p:cNvSpPr/>
            <p:nvPr/>
          </p:nvSpPr>
          <p:spPr>
            <a:xfrm>
              <a:off x="3821451"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88" name="TextBox 187"/>
            <p:cNvSpPr txBox="1"/>
            <p:nvPr/>
          </p:nvSpPr>
          <p:spPr>
            <a:xfrm>
              <a:off x="3230019"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89" name="TextBox 188"/>
            <p:cNvSpPr txBox="1"/>
            <p:nvPr/>
          </p:nvSpPr>
          <p:spPr>
            <a:xfrm>
              <a:off x="3609246"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90" name="직사각형 189"/>
            <p:cNvSpPr/>
            <p:nvPr/>
          </p:nvSpPr>
          <p:spPr>
            <a:xfrm>
              <a:off x="4214889"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191" name="TextBox 190"/>
            <p:cNvSpPr txBox="1"/>
            <p:nvPr/>
          </p:nvSpPr>
          <p:spPr>
            <a:xfrm>
              <a:off x="4002684"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92" name="그룹 191"/>
          <p:cNvGrpSpPr/>
          <p:nvPr/>
        </p:nvGrpSpPr>
        <p:grpSpPr>
          <a:xfrm>
            <a:off x="4079777" y="4720829"/>
            <a:ext cx="1831313" cy="276999"/>
            <a:chOff x="3057428" y="6381328"/>
            <a:chExt cx="1373485" cy="276999"/>
          </a:xfrm>
        </p:grpSpPr>
        <p:sp>
          <p:nvSpPr>
            <p:cNvPr id="193" name="직사각형 192"/>
            <p:cNvSpPr/>
            <p:nvPr/>
          </p:nvSpPr>
          <p:spPr>
            <a:xfrm>
              <a:off x="3057428"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sp>
          <p:nvSpPr>
            <p:cNvPr id="194" name="직사각형 193"/>
            <p:cNvSpPr/>
            <p:nvPr/>
          </p:nvSpPr>
          <p:spPr>
            <a:xfrm>
              <a:off x="3447334"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195" name="직사각형 194"/>
            <p:cNvSpPr/>
            <p:nvPr/>
          </p:nvSpPr>
          <p:spPr>
            <a:xfrm>
              <a:off x="3821451" y="6415236"/>
              <a:ext cx="216024" cy="216024"/>
            </a:xfrm>
            <a:prstGeom prst="rect">
              <a:avLst/>
            </a:prstGeom>
            <a:noFill/>
            <a:ln w="12700">
              <a:prstDash val="sys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ko-KR" altLang="en-US" sz="1050" dirty="0">
                <a:solidFill>
                  <a:schemeClr val="tx1"/>
                </a:solidFill>
              </a:endParaRPr>
            </a:p>
          </p:txBody>
        </p:sp>
        <p:sp>
          <p:nvSpPr>
            <p:cNvPr id="196" name="TextBox 195"/>
            <p:cNvSpPr txBox="1"/>
            <p:nvPr/>
          </p:nvSpPr>
          <p:spPr>
            <a:xfrm>
              <a:off x="3230019"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97" name="TextBox 196"/>
            <p:cNvSpPr txBox="1"/>
            <p:nvPr/>
          </p:nvSpPr>
          <p:spPr>
            <a:xfrm>
              <a:off x="3609246"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198" name="직사각형 197"/>
            <p:cNvSpPr/>
            <p:nvPr/>
          </p:nvSpPr>
          <p:spPr>
            <a:xfrm>
              <a:off x="4214889"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D</a:t>
              </a:r>
              <a:endParaRPr lang="ko-KR" altLang="en-US" sz="1050" dirty="0">
                <a:solidFill>
                  <a:schemeClr val="tx1"/>
                </a:solidFill>
              </a:endParaRPr>
            </a:p>
          </p:txBody>
        </p:sp>
        <p:sp>
          <p:nvSpPr>
            <p:cNvPr id="199" name="TextBox 198"/>
            <p:cNvSpPr txBox="1"/>
            <p:nvPr/>
          </p:nvSpPr>
          <p:spPr>
            <a:xfrm>
              <a:off x="4002684" y="6381328"/>
              <a:ext cx="208230" cy="276999"/>
            </a:xfrm>
            <a:prstGeom prst="rect">
              <a:avLst/>
            </a:prstGeom>
            <a:noFill/>
          </p:spPr>
          <p:txBody>
            <a:bodyPr wrap="none" rtlCol="0">
              <a:spAutoFit/>
            </a:bodyPr>
            <a:lstStyle/>
            <a:p>
              <a:r>
                <a:rPr lang="en-US" altLang="ko-KR" sz="1200" dirty="0"/>
                <a:t>+</a:t>
              </a:r>
              <a:endParaRPr lang="ko-KR" altLang="en-US" sz="1200" dirty="0"/>
            </a:p>
          </p:txBody>
        </p:sp>
      </p:grpSp>
      <p:grpSp>
        <p:nvGrpSpPr>
          <p:cNvPr id="15" name="그룹 14"/>
          <p:cNvGrpSpPr/>
          <p:nvPr/>
        </p:nvGrpSpPr>
        <p:grpSpPr>
          <a:xfrm>
            <a:off x="4302454" y="5385793"/>
            <a:ext cx="1307421" cy="276999"/>
            <a:chOff x="3330908" y="6381328"/>
            <a:chExt cx="980566" cy="276999"/>
          </a:xfrm>
        </p:grpSpPr>
        <p:sp>
          <p:nvSpPr>
            <p:cNvPr id="209" name="직사각형 208"/>
            <p:cNvSpPr/>
            <p:nvPr/>
          </p:nvSpPr>
          <p:spPr>
            <a:xfrm>
              <a:off x="3331427" y="6415236"/>
              <a:ext cx="216024" cy="216024"/>
            </a:xfrm>
            <a:prstGeom prst="rect">
              <a:avLst/>
            </a:prstGeom>
            <a:noFill/>
            <a:ln w="12700">
              <a:prstDash val="sysDot"/>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ko-KR" altLang="en-US" sz="1050" dirty="0">
                <a:solidFill>
                  <a:schemeClr val="tx1"/>
                </a:solidFill>
              </a:endParaRPr>
            </a:p>
          </p:txBody>
        </p:sp>
        <p:sp>
          <p:nvSpPr>
            <p:cNvPr id="210" name="직사각형 209"/>
            <p:cNvSpPr/>
            <p:nvPr/>
          </p:nvSpPr>
          <p:spPr>
            <a:xfrm>
              <a:off x="3721333"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B</a:t>
              </a:r>
              <a:endParaRPr lang="ko-KR" altLang="en-US" sz="1050" dirty="0">
                <a:solidFill>
                  <a:schemeClr val="tx1"/>
                </a:solidFill>
              </a:endParaRPr>
            </a:p>
          </p:txBody>
        </p:sp>
        <p:sp>
          <p:nvSpPr>
            <p:cNvPr id="211" name="직사각형 210"/>
            <p:cNvSpPr/>
            <p:nvPr/>
          </p:nvSpPr>
          <p:spPr>
            <a:xfrm>
              <a:off x="4095450" y="6415236"/>
              <a:ext cx="216024"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C</a:t>
              </a:r>
              <a:endParaRPr lang="ko-KR" altLang="en-US" sz="1050" dirty="0">
                <a:solidFill>
                  <a:schemeClr val="tx1"/>
                </a:solidFill>
              </a:endParaRPr>
            </a:p>
          </p:txBody>
        </p:sp>
        <p:sp>
          <p:nvSpPr>
            <p:cNvPr id="212" name="TextBox 211"/>
            <p:cNvSpPr txBox="1"/>
            <p:nvPr/>
          </p:nvSpPr>
          <p:spPr>
            <a:xfrm>
              <a:off x="3504018"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213" name="TextBox 212"/>
            <p:cNvSpPr txBox="1"/>
            <p:nvPr/>
          </p:nvSpPr>
          <p:spPr>
            <a:xfrm>
              <a:off x="3883245" y="6381328"/>
              <a:ext cx="208230" cy="276999"/>
            </a:xfrm>
            <a:prstGeom prst="rect">
              <a:avLst/>
            </a:prstGeom>
            <a:noFill/>
          </p:spPr>
          <p:txBody>
            <a:bodyPr wrap="none" rtlCol="0">
              <a:spAutoFit/>
            </a:bodyPr>
            <a:lstStyle/>
            <a:p>
              <a:r>
                <a:rPr lang="en-US" altLang="ko-KR" sz="1200" dirty="0"/>
                <a:t>+</a:t>
              </a:r>
              <a:endParaRPr lang="ko-KR" altLang="en-US" sz="1200" dirty="0"/>
            </a:p>
          </p:txBody>
        </p:sp>
        <p:sp>
          <p:nvSpPr>
            <p:cNvPr id="214" name="직사각형 213"/>
            <p:cNvSpPr/>
            <p:nvPr/>
          </p:nvSpPr>
          <p:spPr>
            <a:xfrm>
              <a:off x="3330908" y="6415236"/>
              <a:ext cx="108012" cy="216024"/>
            </a:xfrm>
            <a:prstGeom prst="rect">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050" dirty="0">
                  <a:solidFill>
                    <a:schemeClr val="tx1"/>
                  </a:solidFill>
                </a:rPr>
                <a:t>a</a:t>
              </a:r>
              <a:endParaRPr lang="ko-KR" altLang="en-US" sz="1050" dirty="0">
                <a:solidFill>
                  <a:schemeClr val="tx1"/>
                </a:solidFill>
              </a:endParaRPr>
            </a:p>
          </p:txBody>
        </p:sp>
      </p:grpSp>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r>
              <a:rPr lang="en-US" altLang="ko-KR" dirty="0"/>
              <a:t>, </a:t>
            </a:r>
            <a:r>
              <a:rPr lang="ko-KR" altLang="en-US" dirty="0"/>
              <a:t>제</a:t>
            </a:r>
            <a:r>
              <a:rPr lang="en-US" altLang="ko-KR" dirty="0"/>
              <a:t>98</a:t>
            </a:r>
            <a:r>
              <a:rPr lang="ko-KR" altLang="en-US" dirty="0"/>
              <a:t>조</a:t>
            </a:r>
          </a:p>
        </p:txBody>
      </p:sp>
      <p:sp>
        <p:nvSpPr>
          <p:cNvPr id="5" name="텍스트 개체 틀 4"/>
          <p:cNvSpPr>
            <a:spLocks noGrp="1"/>
          </p:cNvSpPr>
          <p:nvPr>
            <p:ph type="body" sz="quarter" idx="13"/>
          </p:nvPr>
        </p:nvSpPr>
        <p:spPr/>
        <p:txBody>
          <a:bodyPr/>
          <a:lstStyle/>
          <a:p>
            <a:r>
              <a:rPr lang="ko-KR" altLang="en-US" dirty="0"/>
              <a:t>직접침해의 적용 </a:t>
            </a:r>
            <a:r>
              <a:rPr lang="en-US" altLang="ko-KR" dirty="0"/>
              <a:t>CASE</a:t>
            </a:r>
            <a:endParaRPr lang="ko-KR" altLang="en-US" dirty="0"/>
          </a:p>
        </p:txBody>
      </p:sp>
      <p:sp>
        <p:nvSpPr>
          <p:cNvPr id="6" name="슬라이드 번호 개체 틀 5"/>
          <p:cNvSpPr>
            <a:spLocks noGrp="1"/>
          </p:cNvSpPr>
          <p:nvPr>
            <p:ph type="sldNum" sz="quarter" idx="12"/>
          </p:nvPr>
        </p:nvSpPr>
        <p:spPr/>
        <p:txBody>
          <a:bodyPr/>
          <a:lstStyle/>
          <a:p>
            <a:r>
              <a:rPr lang="en-US" altLang="ko-KR"/>
              <a:t>374</a:t>
            </a:r>
            <a:endParaRPr lang="ko-KR" altLang="en-US"/>
          </a:p>
        </p:txBody>
      </p:sp>
    </p:spTree>
    <p:extLst>
      <p:ext uri="{BB962C8B-B14F-4D97-AF65-F5344CB8AC3E}">
        <p14:creationId xmlns:p14="http://schemas.microsoft.com/office/powerpoint/2010/main" val="1153822716"/>
      </p:ext>
    </p:extLst>
  </p:cSld>
  <p:clrMapOvr>
    <a:masterClrMapping/>
  </p:clrMapOvr>
  <p:transition/>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97</a:t>
            </a:r>
            <a:r>
              <a:rPr lang="ko-KR" altLang="en-US" dirty="0"/>
              <a:t>조</a:t>
            </a:r>
            <a:r>
              <a:rPr lang="en-US" altLang="ko-KR" dirty="0"/>
              <a:t>, </a:t>
            </a:r>
            <a:r>
              <a:rPr lang="ko-KR" altLang="en-US" dirty="0"/>
              <a:t>제</a:t>
            </a:r>
            <a:r>
              <a:rPr lang="en-US" altLang="ko-KR" dirty="0"/>
              <a:t>98</a:t>
            </a:r>
            <a:r>
              <a:rPr lang="ko-KR" altLang="en-US" dirty="0"/>
              <a:t>조</a:t>
            </a:r>
          </a:p>
        </p:txBody>
      </p:sp>
      <p:sp>
        <p:nvSpPr>
          <p:cNvPr id="5" name="텍스트 개체 틀 4"/>
          <p:cNvSpPr>
            <a:spLocks noGrp="1"/>
          </p:cNvSpPr>
          <p:nvPr>
            <p:ph type="body" sz="quarter" idx="13"/>
          </p:nvPr>
        </p:nvSpPr>
        <p:spPr/>
        <p:txBody>
          <a:bodyPr/>
          <a:lstStyle/>
          <a:p>
            <a:r>
              <a:rPr lang="ko-KR" altLang="en-US" dirty="0"/>
              <a:t>우회침해</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375</a:t>
            </a:r>
            <a:endParaRPr lang="ko-KR" altLang="en-US"/>
          </a:p>
        </p:txBody>
      </p:sp>
      <p:cxnSp>
        <p:nvCxnSpPr>
          <p:cNvPr id="109" name="직선 연결선 108"/>
          <p:cNvCxnSpPr/>
          <p:nvPr/>
        </p:nvCxnSpPr>
        <p:spPr>
          <a:xfrm>
            <a:off x="0" y="193903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1" name="TextBox 110"/>
          <p:cNvSpPr txBox="1"/>
          <p:nvPr/>
        </p:nvSpPr>
        <p:spPr>
          <a:xfrm>
            <a:off x="77875" y="986046"/>
            <a:ext cx="11936323" cy="954107"/>
          </a:xfrm>
          <a:prstGeom prst="rect">
            <a:avLst/>
          </a:prstGeom>
          <a:noFill/>
        </p:spPr>
        <p:txBody>
          <a:bodyPr wrap="square" rtlCol="0">
            <a:spAutoFit/>
          </a:bodyPr>
          <a:lstStyle/>
          <a:p>
            <a:r>
              <a:rPr lang="ko-KR" altLang="en-US" sz="1400" dirty="0">
                <a:latin typeface="+mn-ea"/>
              </a:rPr>
              <a:t>우회발명이란 선행의 특허발명과 기술사상을 같이 하는 것이면서 그 보호범위를 벗어나기 위하여 무용의 물질이나 공정을 부가하여 일부러 우회의 길을 가는 것으로서</a:t>
            </a:r>
            <a:r>
              <a:rPr lang="en-US" altLang="ko-KR" sz="1400" dirty="0">
                <a:latin typeface="+mn-ea"/>
              </a:rPr>
              <a:t>, </a:t>
            </a:r>
            <a:r>
              <a:rPr lang="ko-KR" altLang="en-US" sz="1400" dirty="0">
                <a:latin typeface="+mn-ea"/>
              </a:rPr>
              <a:t>결국 발명으로서는 동일한 것으로 귀착되는 관계에 있는 발명을 말한다</a:t>
            </a:r>
            <a:r>
              <a:rPr lang="en-US" altLang="ko-KR" sz="1400" dirty="0">
                <a:latin typeface="+mn-ea"/>
              </a:rPr>
              <a:t>. </a:t>
            </a:r>
            <a:r>
              <a:rPr lang="ko-KR" altLang="en-US" sz="1400" dirty="0">
                <a:highlight>
                  <a:srgbClr val="FFFF00"/>
                </a:highlight>
              </a:rPr>
              <a:t>선행발명의 공정에 부가가 있는 경우로서 공정의 부가가 선행발명의 공정 전 또는 완료 후에 있을 때에는 침해라고 볼 여지가 있으나</a:t>
            </a:r>
            <a:r>
              <a:rPr lang="en-US" altLang="ko-KR" sz="1400" dirty="0">
                <a:highlight>
                  <a:srgbClr val="FFFF00"/>
                </a:highlight>
              </a:rPr>
              <a:t>, </a:t>
            </a:r>
            <a:r>
              <a:rPr lang="ko-KR" altLang="en-US" sz="1400" dirty="0">
                <a:highlight>
                  <a:srgbClr val="FFFF00"/>
                </a:highlight>
              </a:rPr>
              <a:t>선행발명의 공정의 중간단계에 새로운 공정을 삽입할 때에는 선행발명의 공정이 도중에서 분단되어 발명의 일체성이 상실되므로 원칙적으로 침해라고 단정하기 어려우며</a:t>
            </a:r>
            <a:r>
              <a:rPr lang="en-US" altLang="ko-KR" sz="1400" dirty="0">
                <a:highlight>
                  <a:srgbClr val="FFFF00"/>
                </a:highlight>
              </a:rPr>
              <a:t>, </a:t>
            </a:r>
            <a:r>
              <a:rPr lang="ko-KR" altLang="en-US" sz="1400" dirty="0">
                <a:highlight>
                  <a:srgbClr val="FFFF00"/>
                </a:highlight>
              </a:rPr>
              <a:t>일체성이 상실되지 아니하는 범위에서만 침해라고 할 수 있을 것이다</a:t>
            </a:r>
            <a:r>
              <a:rPr lang="en-US" altLang="ko-KR" sz="1400" dirty="0">
                <a:highlight>
                  <a:srgbClr val="FFFF00"/>
                </a:highlight>
              </a:rPr>
              <a:t>. </a:t>
            </a:r>
            <a:endParaRPr lang="ko-KR" altLang="en-US" sz="1400" dirty="0">
              <a:highlight>
                <a:srgbClr val="FFFF00"/>
              </a:highlight>
            </a:endParaRPr>
          </a:p>
        </p:txBody>
      </p:sp>
      <p:sp>
        <p:nvSpPr>
          <p:cNvPr id="112" name="직사각형 111"/>
          <p:cNvSpPr/>
          <p:nvPr/>
        </p:nvSpPr>
        <p:spPr bwMode="auto">
          <a:xfrm>
            <a:off x="336880" y="5194300"/>
            <a:ext cx="11524919" cy="1447800"/>
          </a:xfrm>
          <a:prstGeom prst="rect">
            <a:avLst/>
          </a:prstGeom>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0" bIns="0" rtlCol="0" anchor="ctr"/>
          <a:lstStyle/>
          <a:p>
            <a:r>
              <a:rPr lang="ko-KR" altLang="en-US" sz="1400" dirty="0"/>
              <a:t>확인대상발명은 그 출발물질</a:t>
            </a:r>
            <a:r>
              <a:rPr lang="en-US" altLang="ko-KR" sz="1400" dirty="0"/>
              <a:t>, </a:t>
            </a:r>
            <a:r>
              <a:rPr lang="ko-KR" altLang="en-US" sz="1400" dirty="0"/>
              <a:t>반응물질</a:t>
            </a:r>
            <a:r>
              <a:rPr lang="en-US" altLang="ko-KR" sz="1400" dirty="0"/>
              <a:t>(</a:t>
            </a:r>
            <a:r>
              <a:rPr lang="ko-KR" altLang="en-US" sz="1400" dirty="0" err="1"/>
              <a:t>피페라진</a:t>
            </a:r>
            <a:r>
              <a:rPr lang="en-US" altLang="ko-KR" sz="1400" dirty="0"/>
              <a:t>) </a:t>
            </a:r>
            <a:r>
              <a:rPr lang="ko-KR" altLang="en-US" sz="1400" dirty="0"/>
              <a:t>및 목적물질이 이 사건 특허발명과 동일하고 그 제조방법도 반응물질인 </a:t>
            </a:r>
            <a:r>
              <a:rPr lang="ko-KR" altLang="en-US" sz="1400" dirty="0" err="1"/>
              <a:t>피페라진을</a:t>
            </a:r>
            <a:r>
              <a:rPr lang="ko-KR" altLang="en-US" sz="1400" dirty="0"/>
              <a:t> 출발물질의 </a:t>
            </a:r>
            <a:r>
              <a:rPr lang="en-US" altLang="ko-KR" sz="1400" dirty="0"/>
              <a:t>C-7 </a:t>
            </a:r>
            <a:r>
              <a:rPr lang="ko-KR" altLang="en-US" sz="1400" dirty="0"/>
              <a:t>위치에 결합시켜 목적물질을 만드는 이 사건 특허발명의 </a:t>
            </a:r>
            <a:r>
              <a:rPr lang="ko-KR" altLang="en-US" sz="1400" dirty="0" err="1"/>
              <a:t>주반응의</a:t>
            </a:r>
            <a:r>
              <a:rPr lang="ko-KR" altLang="en-US" sz="1400" dirty="0"/>
              <a:t> 반응기전</a:t>
            </a:r>
            <a:r>
              <a:rPr lang="en-US" altLang="ko-KR" sz="1400" dirty="0"/>
              <a:t>(reaction mechanism)</a:t>
            </a:r>
            <a:r>
              <a:rPr lang="ko-KR" altLang="en-US" sz="1400" dirty="0"/>
              <a:t>을 그대로 이용한다는 점에서 그 기술적 사상과 핵심적인 구성이 동일하며</a:t>
            </a:r>
            <a:r>
              <a:rPr lang="en-US" altLang="ko-KR" sz="1400" dirty="0"/>
              <a:t>, </a:t>
            </a:r>
            <a:r>
              <a:rPr lang="ko-KR" altLang="en-US" sz="1400" dirty="0"/>
              <a:t>다만 확인대상발명이 출발물질에 </a:t>
            </a:r>
            <a:r>
              <a:rPr lang="ko-KR" altLang="en-US" sz="1400" dirty="0" err="1"/>
              <a:t>알루미늄클로라이드를</a:t>
            </a:r>
            <a:r>
              <a:rPr lang="ko-KR" altLang="en-US" sz="1400" dirty="0"/>
              <a:t> 반응시켜 </a:t>
            </a:r>
            <a:r>
              <a:rPr lang="ko-KR" altLang="en-US" sz="1400" dirty="0" err="1"/>
              <a:t>중간체를</a:t>
            </a:r>
            <a:r>
              <a:rPr lang="ko-KR" altLang="en-US" sz="1400" dirty="0"/>
              <a:t> 거치는 구성을 부가한 차이가 있기는 하지만</a:t>
            </a:r>
            <a:r>
              <a:rPr lang="en-US" altLang="ko-KR" sz="1400" dirty="0"/>
              <a:t>, </a:t>
            </a:r>
            <a:r>
              <a:rPr lang="ko-KR" altLang="en-US" sz="1400" dirty="0">
                <a:solidFill>
                  <a:schemeClr val="accent3">
                    <a:lumMod val="50000"/>
                  </a:schemeClr>
                </a:solidFill>
                <a:highlight>
                  <a:srgbClr val="FFFF00"/>
                </a:highlight>
              </a:rPr>
              <a:t>이 부가공정은 이 사건 양 발명이 속하는 기술분야에서 통상의 지식을 가진 자라면 주지된 관용기술</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보호기의 사용</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에 의하여 용이하게 부가시킬 수 있는 공정에 불과하다고 보여지고</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그 작용효과 역시 주지된 관용기술을 부가함으로 인한 효과 이상으로 우월하거나 현저하게 향상되었다고 보기 어려우므로</a:t>
            </a:r>
            <a:r>
              <a:rPr lang="en-US" altLang="ko-KR" sz="1400" dirty="0">
                <a:solidFill>
                  <a:schemeClr val="accent3">
                    <a:lumMod val="50000"/>
                  </a:schemeClr>
                </a:solidFill>
                <a:highlight>
                  <a:srgbClr val="FFFF00"/>
                </a:highlight>
              </a:rPr>
              <a:t>,</a:t>
            </a:r>
            <a:r>
              <a:rPr lang="en-US" altLang="ko-KR" sz="1400" dirty="0">
                <a:solidFill>
                  <a:srgbClr val="FF0000"/>
                </a:solidFill>
              </a:rPr>
              <a:t> </a:t>
            </a:r>
            <a:r>
              <a:rPr lang="ko-KR" altLang="en-US" sz="1400" dirty="0"/>
              <a:t>확인대상발명은 이 사건 특허발명과 상이한 발명이라고 볼 수 없어 이 사건 특허발명의 권리범위에 속한다고 보아야 한다</a:t>
            </a:r>
            <a:r>
              <a:rPr lang="en-US" altLang="ko-KR" sz="1400" dirty="0"/>
              <a:t>.</a:t>
            </a:r>
          </a:p>
        </p:txBody>
      </p:sp>
      <p:sp>
        <p:nvSpPr>
          <p:cNvPr id="169" name="직사각형 168"/>
          <p:cNvSpPr/>
          <p:nvPr/>
        </p:nvSpPr>
        <p:spPr bwMode="auto">
          <a:xfrm>
            <a:off x="336881" y="4834260"/>
            <a:ext cx="3079419" cy="360040"/>
          </a:xfrm>
          <a:prstGeom prst="rect">
            <a:avLst/>
          </a:prstGeom>
          <a:solidFill>
            <a:schemeClr val="accent2"/>
          </a:solidFill>
          <a:ln>
            <a:solidFill>
              <a:schemeClr val="bg1">
                <a:lumMod val="50000"/>
              </a:schemeClr>
            </a:solidFill>
            <a:headEnd type="none" w="med" len="med"/>
            <a:tailEnd type="none"/>
          </a:ln>
        </p:spPr>
        <p:style>
          <a:lnRef idx="1">
            <a:schemeClr val="accent2"/>
          </a:lnRef>
          <a:fillRef idx="3">
            <a:schemeClr val="accent2"/>
          </a:fillRef>
          <a:effectRef idx="2">
            <a:schemeClr val="accent2"/>
          </a:effectRef>
          <a:fontRef idx="minor">
            <a:schemeClr val="lt1"/>
          </a:fontRef>
        </p:style>
        <p:txBody>
          <a:bodyPr rtlCol="0" anchor="ctr"/>
          <a:lstStyle/>
          <a:p>
            <a:pPr algn="ctr"/>
            <a:r>
              <a:rPr lang="ko-KR" altLang="en-US" sz="1400" dirty="0"/>
              <a:t>대법원 </a:t>
            </a:r>
            <a:r>
              <a:rPr lang="en-US" altLang="ko-KR" sz="1400" dirty="0"/>
              <a:t>2000. 7. 4. </a:t>
            </a:r>
            <a:r>
              <a:rPr lang="ko-KR" altLang="en-US" sz="1400" dirty="0"/>
              <a:t>선고 </a:t>
            </a:r>
            <a:r>
              <a:rPr lang="en-US" altLang="ko-KR" sz="1400" dirty="0"/>
              <a:t>97</a:t>
            </a:r>
            <a:r>
              <a:rPr lang="ko-KR" altLang="en-US" sz="1400" dirty="0"/>
              <a:t>후</a:t>
            </a:r>
            <a:r>
              <a:rPr lang="en-US" altLang="ko-KR" sz="1400" dirty="0"/>
              <a:t>2194</a:t>
            </a:r>
          </a:p>
        </p:txBody>
      </p:sp>
      <p:sp>
        <p:nvSpPr>
          <p:cNvPr id="200" name="Rectangle 4"/>
          <p:cNvSpPr>
            <a:spLocks noChangeArrowheads="1"/>
          </p:cNvSpPr>
          <p:nvPr/>
        </p:nvSpPr>
        <p:spPr bwMode="auto">
          <a:xfrm>
            <a:off x="335361" y="2165159"/>
            <a:ext cx="11521017" cy="2567501"/>
          </a:xfrm>
          <a:prstGeom prst="rect">
            <a:avLst/>
          </a:prstGeom>
          <a:noFill/>
          <a:ln>
            <a:solidFill>
              <a:schemeClr val="bg1">
                <a:lumMod val="50000"/>
              </a:schemeClr>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marL="742950" indent="-285750">
              <a:lnSpc>
                <a:spcPct val="120000"/>
              </a:lnSpc>
              <a:spcBef>
                <a:spcPct val="20000"/>
              </a:spcBef>
              <a:buClr>
                <a:srgbClr val="003399"/>
              </a:buClr>
              <a:buFont typeface="Wingdings" pitchFamily="2" charset="2"/>
              <a:buChar char="n"/>
              <a:defRPr/>
            </a:pPr>
            <a:endParaRPr lang="ko-KR" altLang="en-US" sz="1200" b="0">
              <a:solidFill>
                <a:schemeClr val="tx1"/>
              </a:solidFill>
              <a:latin typeface="+mn-ea"/>
              <a:sym typeface="Wingdings" pitchFamily="2" charset="2"/>
            </a:endParaRPr>
          </a:p>
        </p:txBody>
      </p:sp>
      <p:sp>
        <p:nvSpPr>
          <p:cNvPr id="201" name="Line 5"/>
          <p:cNvSpPr>
            <a:spLocks noChangeShapeType="1"/>
          </p:cNvSpPr>
          <p:nvPr/>
        </p:nvSpPr>
        <p:spPr bwMode="auto">
          <a:xfrm>
            <a:off x="790576" y="2470420"/>
            <a:ext cx="10620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02" name="TextBox 201"/>
          <p:cNvSpPr txBox="1"/>
          <p:nvPr/>
        </p:nvSpPr>
        <p:spPr>
          <a:xfrm>
            <a:off x="1068658" y="2816526"/>
            <a:ext cx="2157142" cy="523220"/>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400" dirty="0">
                <a:solidFill>
                  <a:schemeClr val="tx1"/>
                </a:solidFill>
                <a:latin typeface="+mn-ea"/>
              </a:rPr>
              <a:t>A </a:t>
            </a:r>
            <a:r>
              <a:rPr lang="ko-KR" altLang="en-US" sz="1400" dirty="0" err="1">
                <a:solidFill>
                  <a:schemeClr val="tx1"/>
                </a:solidFill>
                <a:latin typeface="+mn-ea"/>
              </a:rPr>
              <a:t>단계후</a:t>
            </a:r>
            <a:r>
              <a:rPr lang="ko-KR" altLang="en-US" sz="1400" dirty="0">
                <a:solidFill>
                  <a:schemeClr val="tx1"/>
                </a:solidFill>
                <a:latin typeface="+mn-ea"/>
              </a:rPr>
              <a:t> </a:t>
            </a:r>
            <a:r>
              <a:rPr lang="en-US" altLang="ko-KR" sz="1400" dirty="0">
                <a:solidFill>
                  <a:schemeClr val="tx1"/>
                </a:solidFill>
                <a:latin typeface="+mn-ea"/>
              </a:rPr>
              <a:t>B</a:t>
            </a:r>
            <a:r>
              <a:rPr lang="ko-KR" altLang="en-US" sz="1400" dirty="0" err="1">
                <a:solidFill>
                  <a:schemeClr val="tx1"/>
                </a:solidFill>
                <a:latin typeface="+mn-ea"/>
              </a:rPr>
              <a:t>단계후</a:t>
            </a:r>
            <a:r>
              <a:rPr lang="ko-KR" altLang="en-US" sz="1400" dirty="0">
                <a:solidFill>
                  <a:schemeClr val="tx1"/>
                </a:solidFill>
                <a:latin typeface="+mn-ea"/>
              </a:rPr>
              <a:t> </a:t>
            </a:r>
            <a:r>
              <a:rPr lang="en-US" altLang="ko-KR" sz="1400" dirty="0">
                <a:solidFill>
                  <a:schemeClr val="tx1"/>
                </a:solidFill>
                <a:latin typeface="+mn-ea"/>
              </a:rPr>
              <a:t>C </a:t>
            </a:r>
            <a:r>
              <a:rPr lang="ko-KR" altLang="en-US" sz="1400" dirty="0">
                <a:solidFill>
                  <a:schemeClr val="tx1"/>
                </a:solidFill>
                <a:latin typeface="+mn-ea"/>
              </a:rPr>
              <a:t>단계를 거치는 제조방법</a:t>
            </a:r>
            <a:endParaRPr lang="en-US" altLang="ko-KR" sz="1400" dirty="0">
              <a:solidFill>
                <a:schemeClr val="tx1"/>
              </a:solidFill>
              <a:latin typeface="+mn-ea"/>
            </a:endParaRPr>
          </a:p>
        </p:txBody>
      </p:sp>
      <p:cxnSp>
        <p:nvCxnSpPr>
          <p:cNvPr id="204" name="직선 연결선 203"/>
          <p:cNvCxnSpPr>
            <a:stCxn id="202" idx="0"/>
            <a:endCxn id="226" idx="2"/>
          </p:cNvCxnSpPr>
          <p:nvPr/>
        </p:nvCxnSpPr>
        <p:spPr>
          <a:xfrm flipV="1">
            <a:off x="2147229" y="2632209"/>
            <a:ext cx="0" cy="18431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26" name="TextBox 225"/>
          <p:cNvSpPr txBox="1"/>
          <p:nvPr/>
        </p:nvSpPr>
        <p:spPr>
          <a:xfrm>
            <a:off x="1629953" y="2324432"/>
            <a:ext cx="1034552" cy="307777"/>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甲 등록</a:t>
            </a:r>
            <a:endParaRPr lang="en-US" altLang="ko-KR" sz="1400" dirty="0">
              <a:solidFill>
                <a:schemeClr val="tx1"/>
              </a:solidFill>
              <a:latin typeface="+mn-ea"/>
            </a:endParaRPr>
          </a:p>
        </p:txBody>
      </p:sp>
      <p:sp>
        <p:nvSpPr>
          <p:cNvPr id="228" name="TextBox 227"/>
          <p:cNvSpPr txBox="1"/>
          <p:nvPr/>
        </p:nvSpPr>
        <p:spPr>
          <a:xfrm>
            <a:off x="4167458" y="2816526"/>
            <a:ext cx="2157142" cy="52322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400" dirty="0">
                <a:solidFill>
                  <a:schemeClr val="tx1"/>
                </a:solidFill>
                <a:latin typeface="+mn-ea"/>
              </a:rPr>
              <a:t>A </a:t>
            </a:r>
            <a:r>
              <a:rPr lang="ko-KR" altLang="en-US" sz="1400" dirty="0" err="1">
                <a:solidFill>
                  <a:schemeClr val="tx1"/>
                </a:solidFill>
                <a:latin typeface="+mn-ea"/>
              </a:rPr>
              <a:t>단계후</a:t>
            </a:r>
            <a:r>
              <a:rPr lang="ko-KR" altLang="en-US" sz="1400" dirty="0">
                <a:solidFill>
                  <a:schemeClr val="tx1"/>
                </a:solidFill>
                <a:latin typeface="+mn-ea"/>
              </a:rPr>
              <a:t> </a:t>
            </a:r>
            <a:r>
              <a:rPr lang="en-US" altLang="ko-KR" sz="1400" dirty="0">
                <a:solidFill>
                  <a:schemeClr val="tx1"/>
                </a:solidFill>
                <a:latin typeface="+mn-ea"/>
              </a:rPr>
              <a:t>B</a:t>
            </a:r>
            <a:r>
              <a:rPr lang="ko-KR" altLang="en-US" sz="1400" dirty="0" err="1">
                <a:solidFill>
                  <a:schemeClr val="tx1"/>
                </a:solidFill>
                <a:latin typeface="+mn-ea"/>
              </a:rPr>
              <a:t>단계후</a:t>
            </a:r>
            <a:r>
              <a:rPr lang="ko-KR" altLang="en-US" sz="1400" dirty="0">
                <a:solidFill>
                  <a:schemeClr val="tx1"/>
                </a:solidFill>
                <a:latin typeface="+mn-ea"/>
              </a:rPr>
              <a:t> </a:t>
            </a:r>
            <a:r>
              <a:rPr lang="en-US" altLang="ko-KR" sz="1400" dirty="0">
                <a:solidFill>
                  <a:schemeClr val="tx1"/>
                </a:solidFill>
                <a:latin typeface="+mn-ea"/>
              </a:rPr>
              <a:t>C </a:t>
            </a:r>
            <a:r>
              <a:rPr lang="ko-KR" altLang="en-US" sz="1400" dirty="0" err="1">
                <a:solidFill>
                  <a:schemeClr val="tx1"/>
                </a:solidFill>
                <a:latin typeface="+mn-ea"/>
              </a:rPr>
              <a:t>단계후</a:t>
            </a:r>
            <a:r>
              <a:rPr lang="ko-KR" altLang="en-US" sz="1400" dirty="0">
                <a:solidFill>
                  <a:schemeClr val="tx1"/>
                </a:solidFill>
                <a:latin typeface="+mn-ea"/>
              </a:rPr>
              <a:t> </a:t>
            </a:r>
            <a:r>
              <a:rPr lang="en-US" altLang="ko-KR" sz="1400" dirty="0">
                <a:solidFill>
                  <a:schemeClr val="tx1"/>
                </a:solidFill>
                <a:latin typeface="+mn-ea"/>
              </a:rPr>
              <a:t>D </a:t>
            </a:r>
            <a:r>
              <a:rPr lang="ko-KR" altLang="en-US" sz="1400" dirty="0">
                <a:solidFill>
                  <a:schemeClr val="tx1"/>
                </a:solidFill>
                <a:latin typeface="+mn-ea"/>
              </a:rPr>
              <a:t>단계를 거치는 제조방법</a:t>
            </a:r>
            <a:endParaRPr lang="en-US" altLang="ko-KR" sz="1400" dirty="0">
              <a:solidFill>
                <a:schemeClr val="tx1"/>
              </a:solidFill>
              <a:latin typeface="+mn-ea"/>
            </a:endParaRPr>
          </a:p>
        </p:txBody>
      </p:sp>
      <p:cxnSp>
        <p:nvCxnSpPr>
          <p:cNvPr id="229" name="직선 연결선 228"/>
          <p:cNvCxnSpPr>
            <a:stCxn id="228" idx="0"/>
            <a:endCxn id="230" idx="2"/>
          </p:cNvCxnSpPr>
          <p:nvPr/>
        </p:nvCxnSpPr>
        <p:spPr>
          <a:xfrm flipV="1">
            <a:off x="5246029" y="2632209"/>
            <a:ext cx="0" cy="18431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0" name="TextBox 229"/>
          <p:cNvSpPr txBox="1"/>
          <p:nvPr/>
        </p:nvSpPr>
        <p:spPr>
          <a:xfrm>
            <a:off x="4728753" y="2324432"/>
            <a:ext cx="1034552" cy="307777"/>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乙 실시</a:t>
            </a:r>
            <a:endParaRPr lang="en-US" altLang="ko-KR" sz="1400" dirty="0">
              <a:solidFill>
                <a:schemeClr val="tx1"/>
              </a:solidFill>
              <a:latin typeface="+mn-ea"/>
            </a:endParaRPr>
          </a:p>
        </p:txBody>
      </p:sp>
      <p:sp>
        <p:nvSpPr>
          <p:cNvPr id="231" name="TextBox 230"/>
          <p:cNvSpPr txBox="1"/>
          <p:nvPr/>
        </p:nvSpPr>
        <p:spPr>
          <a:xfrm>
            <a:off x="6605858" y="2816526"/>
            <a:ext cx="2157142" cy="52322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400" dirty="0">
                <a:solidFill>
                  <a:schemeClr val="tx1"/>
                </a:solidFill>
                <a:latin typeface="+mn-ea"/>
              </a:rPr>
              <a:t>D</a:t>
            </a:r>
            <a:r>
              <a:rPr lang="ko-KR" altLang="en-US" sz="1400" dirty="0" err="1">
                <a:solidFill>
                  <a:schemeClr val="tx1"/>
                </a:solidFill>
                <a:latin typeface="+mn-ea"/>
              </a:rPr>
              <a:t>단계후</a:t>
            </a:r>
            <a:r>
              <a:rPr lang="ko-KR" altLang="en-US" sz="1400" dirty="0">
                <a:solidFill>
                  <a:schemeClr val="tx1"/>
                </a:solidFill>
                <a:latin typeface="+mn-ea"/>
              </a:rPr>
              <a:t> </a:t>
            </a:r>
            <a:r>
              <a:rPr lang="en-US" altLang="ko-KR" sz="1400" dirty="0">
                <a:solidFill>
                  <a:schemeClr val="tx1"/>
                </a:solidFill>
                <a:latin typeface="+mn-ea"/>
              </a:rPr>
              <a:t>A </a:t>
            </a:r>
            <a:r>
              <a:rPr lang="ko-KR" altLang="en-US" sz="1400" dirty="0" err="1">
                <a:solidFill>
                  <a:schemeClr val="tx1"/>
                </a:solidFill>
                <a:latin typeface="+mn-ea"/>
              </a:rPr>
              <a:t>단계후</a:t>
            </a:r>
            <a:r>
              <a:rPr lang="ko-KR" altLang="en-US" sz="1400" dirty="0">
                <a:solidFill>
                  <a:schemeClr val="tx1"/>
                </a:solidFill>
                <a:latin typeface="+mn-ea"/>
              </a:rPr>
              <a:t> </a:t>
            </a:r>
            <a:r>
              <a:rPr lang="en-US" altLang="ko-KR" sz="1400" dirty="0">
                <a:solidFill>
                  <a:schemeClr val="tx1"/>
                </a:solidFill>
                <a:latin typeface="+mn-ea"/>
              </a:rPr>
              <a:t>B</a:t>
            </a:r>
            <a:r>
              <a:rPr lang="ko-KR" altLang="en-US" sz="1400" dirty="0" err="1">
                <a:solidFill>
                  <a:schemeClr val="tx1"/>
                </a:solidFill>
                <a:latin typeface="+mn-ea"/>
              </a:rPr>
              <a:t>단계후</a:t>
            </a:r>
            <a:r>
              <a:rPr lang="ko-KR" altLang="en-US" sz="1400" dirty="0">
                <a:solidFill>
                  <a:schemeClr val="tx1"/>
                </a:solidFill>
                <a:latin typeface="+mn-ea"/>
              </a:rPr>
              <a:t> </a:t>
            </a:r>
            <a:r>
              <a:rPr lang="en-US" altLang="ko-KR" sz="1400" dirty="0">
                <a:solidFill>
                  <a:schemeClr val="tx1"/>
                </a:solidFill>
                <a:latin typeface="+mn-ea"/>
              </a:rPr>
              <a:t>C </a:t>
            </a:r>
            <a:r>
              <a:rPr lang="ko-KR" altLang="en-US" sz="1400" dirty="0">
                <a:solidFill>
                  <a:schemeClr val="tx1"/>
                </a:solidFill>
                <a:latin typeface="+mn-ea"/>
              </a:rPr>
              <a:t>단계를 거치는 제조방법</a:t>
            </a:r>
            <a:endParaRPr lang="en-US" altLang="ko-KR" sz="1400" dirty="0">
              <a:solidFill>
                <a:schemeClr val="tx1"/>
              </a:solidFill>
              <a:latin typeface="+mn-ea"/>
            </a:endParaRPr>
          </a:p>
        </p:txBody>
      </p:sp>
      <p:cxnSp>
        <p:nvCxnSpPr>
          <p:cNvPr id="232" name="직선 연결선 231"/>
          <p:cNvCxnSpPr>
            <a:stCxn id="231" idx="0"/>
            <a:endCxn id="233" idx="2"/>
          </p:cNvCxnSpPr>
          <p:nvPr/>
        </p:nvCxnSpPr>
        <p:spPr>
          <a:xfrm flipV="1">
            <a:off x="7684429" y="2632209"/>
            <a:ext cx="0" cy="18431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3" name="TextBox 232"/>
          <p:cNvSpPr txBox="1"/>
          <p:nvPr/>
        </p:nvSpPr>
        <p:spPr>
          <a:xfrm>
            <a:off x="7167153" y="2324432"/>
            <a:ext cx="1034552" cy="307777"/>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丙 실시</a:t>
            </a:r>
            <a:endParaRPr lang="en-US" altLang="ko-KR" sz="1400" dirty="0">
              <a:solidFill>
                <a:schemeClr val="tx1"/>
              </a:solidFill>
              <a:latin typeface="+mn-ea"/>
            </a:endParaRPr>
          </a:p>
        </p:txBody>
      </p:sp>
      <p:sp>
        <p:nvSpPr>
          <p:cNvPr id="234" name="TextBox 233"/>
          <p:cNvSpPr txBox="1"/>
          <p:nvPr/>
        </p:nvSpPr>
        <p:spPr>
          <a:xfrm>
            <a:off x="8891858" y="2816526"/>
            <a:ext cx="2411142" cy="52322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400" dirty="0">
                <a:solidFill>
                  <a:schemeClr val="tx1"/>
                </a:solidFill>
                <a:latin typeface="+mn-ea"/>
              </a:rPr>
              <a:t>A </a:t>
            </a:r>
            <a:r>
              <a:rPr lang="ko-KR" altLang="en-US" sz="1400" dirty="0" err="1">
                <a:solidFill>
                  <a:schemeClr val="tx1"/>
                </a:solidFill>
                <a:latin typeface="+mn-ea"/>
              </a:rPr>
              <a:t>단계후</a:t>
            </a:r>
            <a:r>
              <a:rPr lang="ko-KR" altLang="en-US" sz="1400" dirty="0">
                <a:solidFill>
                  <a:schemeClr val="tx1"/>
                </a:solidFill>
                <a:latin typeface="+mn-ea"/>
              </a:rPr>
              <a:t> </a:t>
            </a:r>
            <a:r>
              <a:rPr lang="en-US" altLang="ko-KR" sz="1400" dirty="0">
                <a:solidFill>
                  <a:schemeClr val="tx1"/>
                </a:solidFill>
                <a:latin typeface="+mn-ea"/>
              </a:rPr>
              <a:t>B </a:t>
            </a:r>
            <a:r>
              <a:rPr lang="ko-KR" altLang="en-US" sz="1400" dirty="0" err="1">
                <a:solidFill>
                  <a:schemeClr val="tx1"/>
                </a:solidFill>
                <a:latin typeface="+mn-ea"/>
              </a:rPr>
              <a:t>단계후</a:t>
            </a:r>
            <a:r>
              <a:rPr lang="ko-KR" altLang="en-US" sz="1400" dirty="0">
                <a:solidFill>
                  <a:schemeClr val="tx1"/>
                </a:solidFill>
                <a:latin typeface="+mn-ea"/>
              </a:rPr>
              <a:t> </a:t>
            </a:r>
            <a:r>
              <a:rPr lang="en-US" altLang="ko-KR" sz="1400" dirty="0">
                <a:solidFill>
                  <a:schemeClr val="tx1"/>
                </a:solidFill>
                <a:latin typeface="+mn-ea"/>
              </a:rPr>
              <a:t>B1 </a:t>
            </a:r>
            <a:r>
              <a:rPr lang="ko-KR" altLang="en-US" sz="1400" dirty="0" err="1">
                <a:solidFill>
                  <a:schemeClr val="tx1"/>
                </a:solidFill>
                <a:latin typeface="+mn-ea"/>
              </a:rPr>
              <a:t>단계후</a:t>
            </a:r>
            <a:r>
              <a:rPr lang="ko-KR" altLang="en-US" sz="1400" dirty="0">
                <a:solidFill>
                  <a:schemeClr val="tx1"/>
                </a:solidFill>
                <a:latin typeface="+mn-ea"/>
              </a:rPr>
              <a:t> </a:t>
            </a:r>
            <a:r>
              <a:rPr lang="en-US" altLang="ko-KR" sz="1400" dirty="0">
                <a:solidFill>
                  <a:schemeClr val="tx1"/>
                </a:solidFill>
                <a:latin typeface="+mn-ea"/>
              </a:rPr>
              <a:t>C </a:t>
            </a:r>
            <a:r>
              <a:rPr lang="ko-KR" altLang="en-US" sz="1400" dirty="0">
                <a:solidFill>
                  <a:schemeClr val="tx1"/>
                </a:solidFill>
                <a:latin typeface="+mn-ea"/>
              </a:rPr>
              <a:t>단계를 거치는 제조방법</a:t>
            </a:r>
            <a:endParaRPr lang="en-US" altLang="ko-KR" sz="1400" dirty="0">
              <a:solidFill>
                <a:schemeClr val="tx1"/>
              </a:solidFill>
              <a:latin typeface="+mn-ea"/>
            </a:endParaRPr>
          </a:p>
        </p:txBody>
      </p:sp>
      <p:cxnSp>
        <p:nvCxnSpPr>
          <p:cNvPr id="235" name="직선 연결선 234"/>
          <p:cNvCxnSpPr>
            <a:stCxn id="234" idx="0"/>
            <a:endCxn id="236" idx="2"/>
          </p:cNvCxnSpPr>
          <p:nvPr/>
        </p:nvCxnSpPr>
        <p:spPr>
          <a:xfrm flipV="1">
            <a:off x="10097429" y="2632209"/>
            <a:ext cx="0" cy="18431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6" name="TextBox 235"/>
          <p:cNvSpPr txBox="1"/>
          <p:nvPr/>
        </p:nvSpPr>
        <p:spPr>
          <a:xfrm>
            <a:off x="9580153" y="2324432"/>
            <a:ext cx="1034552" cy="307777"/>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丁 실시</a:t>
            </a:r>
            <a:endParaRPr lang="en-US" altLang="ko-KR" sz="1400" dirty="0">
              <a:solidFill>
                <a:schemeClr val="tx1"/>
              </a:solidFill>
              <a:latin typeface="+mn-ea"/>
            </a:endParaRPr>
          </a:p>
        </p:txBody>
      </p:sp>
      <p:sp>
        <p:nvSpPr>
          <p:cNvPr id="237" name="TextBox 236"/>
          <p:cNvSpPr txBox="1"/>
          <p:nvPr/>
        </p:nvSpPr>
        <p:spPr>
          <a:xfrm>
            <a:off x="4391295" y="3593275"/>
            <a:ext cx="1709468" cy="307778"/>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일체성 유지</a:t>
            </a:r>
            <a:endParaRPr lang="en-US" altLang="ko-KR" sz="1400" dirty="0">
              <a:solidFill>
                <a:schemeClr val="tx1"/>
              </a:solidFill>
              <a:latin typeface="+mn-ea"/>
            </a:endParaRPr>
          </a:p>
        </p:txBody>
      </p:sp>
      <p:cxnSp>
        <p:nvCxnSpPr>
          <p:cNvPr id="14" name="직선 연결선 13"/>
          <p:cNvCxnSpPr>
            <a:stCxn id="228" idx="2"/>
            <a:endCxn id="237" idx="0"/>
          </p:cNvCxnSpPr>
          <p:nvPr/>
        </p:nvCxnSpPr>
        <p:spPr>
          <a:xfrm>
            <a:off x="5246029" y="3339746"/>
            <a:ext cx="0" cy="25352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8" name="TextBox 237"/>
          <p:cNvSpPr txBox="1"/>
          <p:nvPr/>
        </p:nvSpPr>
        <p:spPr>
          <a:xfrm>
            <a:off x="4391295" y="4126675"/>
            <a:ext cx="1709468" cy="307778"/>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400" dirty="0">
                <a:solidFill>
                  <a:schemeClr val="tx1"/>
                </a:solidFill>
                <a:latin typeface="+mn-ea"/>
              </a:rPr>
              <a:t>AER </a:t>
            </a:r>
            <a:r>
              <a:rPr lang="ko-KR" altLang="en-US" sz="1400" dirty="0">
                <a:solidFill>
                  <a:schemeClr val="tx1"/>
                </a:solidFill>
                <a:latin typeface="+mn-ea"/>
              </a:rPr>
              <a:t>의한 침해</a:t>
            </a:r>
            <a:endParaRPr lang="en-US" altLang="ko-KR" sz="1400" dirty="0">
              <a:solidFill>
                <a:schemeClr val="tx1"/>
              </a:solidFill>
              <a:latin typeface="+mn-ea"/>
            </a:endParaRPr>
          </a:p>
        </p:txBody>
      </p:sp>
      <p:cxnSp>
        <p:nvCxnSpPr>
          <p:cNvPr id="239" name="직선 연결선 238"/>
          <p:cNvCxnSpPr>
            <a:endCxn id="238" idx="0"/>
          </p:cNvCxnSpPr>
          <p:nvPr/>
        </p:nvCxnSpPr>
        <p:spPr>
          <a:xfrm>
            <a:off x="5246029" y="3873146"/>
            <a:ext cx="0" cy="25352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0" name="TextBox 239"/>
          <p:cNvSpPr txBox="1"/>
          <p:nvPr/>
        </p:nvSpPr>
        <p:spPr>
          <a:xfrm>
            <a:off x="6829695" y="3593275"/>
            <a:ext cx="1709468" cy="307778"/>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일체성 유지</a:t>
            </a:r>
            <a:endParaRPr lang="en-US" altLang="ko-KR" sz="1400" dirty="0">
              <a:solidFill>
                <a:schemeClr val="tx1"/>
              </a:solidFill>
              <a:latin typeface="+mn-ea"/>
            </a:endParaRPr>
          </a:p>
        </p:txBody>
      </p:sp>
      <p:cxnSp>
        <p:nvCxnSpPr>
          <p:cNvPr id="241" name="직선 연결선 240"/>
          <p:cNvCxnSpPr>
            <a:endCxn id="240" idx="0"/>
          </p:cNvCxnSpPr>
          <p:nvPr/>
        </p:nvCxnSpPr>
        <p:spPr>
          <a:xfrm>
            <a:off x="7684429" y="3339746"/>
            <a:ext cx="0" cy="25352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2" name="TextBox 241"/>
          <p:cNvSpPr txBox="1"/>
          <p:nvPr/>
        </p:nvSpPr>
        <p:spPr>
          <a:xfrm>
            <a:off x="6829695" y="4126675"/>
            <a:ext cx="1709468" cy="307778"/>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400" dirty="0">
                <a:solidFill>
                  <a:schemeClr val="tx1"/>
                </a:solidFill>
                <a:latin typeface="+mn-ea"/>
              </a:rPr>
              <a:t>AER </a:t>
            </a:r>
            <a:r>
              <a:rPr lang="ko-KR" altLang="en-US" sz="1400" dirty="0">
                <a:solidFill>
                  <a:schemeClr val="tx1"/>
                </a:solidFill>
                <a:latin typeface="+mn-ea"/>
              </a:rPr>
              <a:t>의한 침해</a:t>
            </a:r>
            <a:endParaRPr lang="en-US" altLang="ko-KR" sz="1400" dirty="0">
              <a:solidFill>
                <a:schemeClr val="tx1"/>
              </a:solidFill>
              <a:latin typeface="+mn-ea"/>
            </a:endParaRPr>
          </a:p>
        </p:txBody>
      </p:sp>
      <p:cxnSp>
        <p:nvCxnSpPr>
          <p:cNvPr id="243" name="직선 연결선 242"/>
          <p:cNvCxnSpPr>
            <a:endCxn id="242" idx="0"/>
          </p:cNvCxnSpPr>
          <p:nvPr/>
        </p:nvCxnSpPr>
        <p:spPr>
          <a:xfrm>
            <a:off x="7684429" y="3873146"/>
            <a:ext cx="0" cy="25352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4" name="TextBox 243"/>
          <p:cNvSpPr txBox="1"/>
          <p:nvPr/>
        </p:nvSpPr>
        <p:spPr>
          <a:xfrm>
            <a:off x="9242695" y="3593275"/>
            <a:ext cx="1709468" cy="307778"/>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일체성 유지 △</a:t>
            </a:r>
            <a:endParaRPr lang="en-US" altLang="ko-KR" sz="1400" dirty="0">
              <a:solidFill>
                <a:schemeClr val="tx1"/>
              </a:solidFill>
              <a:latin typeface="+mn-ea"/>
            </a:endParaRPr>
          </a:p>
        </p:txBody>
      </p:sp>
      <p:cxnSp>
        <p:nvCxnSpPr>
          <p:cNvPr id="245" name="직선 연결선 244"/>
          <p:cNvCxnSpPr>
            <a:endCxn id="244" idx="0"/>
          </p:cNvCxnSpPr>
          <p:nvPr/>
        </p:nvCxnSpPr>
        <p:spPr>
          <a:xfrm>
            <a:off x="10097429" y="3339746"/>
            <a:ext cx="0" cy="25352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6" name="TextBox 245"/>
          <p:cNvSpPr txBox="1"/>
          <p:nvPr/>
        </p:nvSpPr>
        <p:spPr>
          <a:xfrm>
            <a:off x="9242695" y="4126675"/>
            <a:ext cx="1709468" cy="52322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일체성 유지하는 경우만 </a:t>
            </a:r>
            <a:r>
              <a:rPr lang="en-US" altLang="ko-KR" sz="1400" dirty="0">
                <a:solidFill>
                  <a:schemeClr val="tx1"/>
                </a:solidFill>
                <a:latin typeface="+mn-ea"/>
              </a:rPr>
              <a:t>AER </a:t>
            </a:r>
            <a:r>
              <a:rPr lang="ko-KR" altLang="en-US" sz="1400" dirty="0">
                <a:solidFill>
                  <a:schemeClr val="tx1"/>
                </a:solidFill>
                <a:latin typeface="+mn-ea"/>
              </a:rPr>
              <a:t>의한 침해</a:t>
            </a:r>
            <a:endParaRPr lang="en-US" altLang="ko-KR" sz="1400" dirty="0">
              <a:solidFill>
                <a:schemeClr val="tx1"/>
              </a:solidFill>
              <a:latin typeface="+mn-ea"/>
            </a:endParaRPr>
          </a:p>
        </p:txBody>
      </p:sp>
      <p:cxnSp>
        <p:nvCxnSpPr>
          <p:cNvPr id="247" name="직선 연결선 246"/>
          <p:cNvCxnSpPr>
            <a:endCxn id="246" idx="0"/>
          </p:cNvCxnSpPr>
          <p:nvPr/>
        </p:nvCxnSpPr>
        <p:spPr>
          <a:xfrm>
            <a:off x="10097429" y="3873146"/>
            <a:ext cx="0" cy="25352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32837605"/>
      </p:ext>
    </p:extLst>
  </p:cSld>
  <p:clrMapOvr>
    <a:masterClrMapping/>
  </p:clrMapOvr>
  <p:transition/>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126</a:t>
            </a:r>
            <a:r>
              <a:rPr lang="ko-KR" altLang="en-US" dirty="0"/>
              <a:t>조</a:t>
            </a:r>
            <a:r>
              <a:rPr lang="en-US" altLang="ko-KR" dirty="0"/>
              <a:t>~</a:t>
            </a:r>
            <a:r>
              <a:rPr lang="ko-KR" altLang="en-US" dirty="0"/>
              <a:t>제</a:t>
            </a:r>
            <a:r>
              <a:rPr lang="en-US" altLang="ko-KR" dirty="0"/>
              <a:t>132</a:t>
            </a:r>
            <a:r>
              <a:rPr lang="ko-KR" altLang="en-US" dirty="0"/>
              <a:t>조</a:t>
            </a:r>
            <a:br>
              <a:rPr lang="en-US" altLang="ko-KR" dirty="0"/>
            </a:br>
            <a:r>
              <a:rPr lang="ko-KR" altLang="en-US" dirty="0"/>
              <a:t>제</a:t>
            </a:r>
            <a:r>
              <a:rPr lang="en-US" altLang="ko-KR" dirty="0"/>
              <a:t>225</a:t>
            </a:r>
            <a:r>
              <a:rPr lang="ko-KR" altLang="en-US" dirty="0"/>
              <a:t>조</a:t>
            </a:r>
            <a:r>
              <a:rPr lang="en-US" altLang="ko-KR" dirty="0"/>
              <a:t>~</a:t>
            </a:r>
            <a:r>
              <a:rPr lang="ko-KR" altLang="en-US" dirty="0"/>
              <a:t>제</a:t>
            </a:r>
            <a:r>
              <a:rPr lang="en-US" altLang="ko-KR" dirty="0"/>
              <a:t>232</a:t>
            </a:r>
            <a:r>
              <a:rPr lang="ko-KR" altLang="en-US" dirty="0"/>
              <a:t>조</a:t>
            </a:r>
          </a:p>
        </p:txBody>
      </p:sp>
      <p:sp>
        <p:nvSpPr>
          <p:cNvPr id="5" name="텍스트 개체 틀 4"/>
          <p:cNvSpPr>
            <a:spLocks noGrp="1"/>
          </p:cNvSpPr>
          <p:nvPr>
            <p:ph type="body" sz="quarter" idx="13"/>
          </p:nvPr>
        </p:nvSpPr>
        <p:spPr/>
        <p:txBody>
          <a:bodyPr/>
          <a:lstStyle/>
          <a:p>
            <a:r>
              <a:rPr lang="ko-KR" altLang="en-US" dirty="0"/>
              <a:t>침해에 대한 조치 일반</a:t>
            </a:r>
          </a:p>
        </p:txBody>
      </p:sp>
      <p:sp>
        <p:nvSpPr>
          <p:cNvPr id="34" name="모서리가 둥근 직사각형 33"/>
          <p:cNvSpPr/>
          <p:nvPr/>
        </p:nvSpPr>
        <p:spPr>
          <a:xfrm>
            <a:off x="481722" y="3363609"/>
            <a:ext cx="923452" cy="894180"/>
          </a:xfrm>
          <a:prstGeom prst="roundRect">
            <a:avLst>
              <a:gd name="adj" fmla="val 0"/>
            </a:avLst>
          </a:prstGeom>
          <a:solidFill>
            <a:schemeClr val="accent1">
              <a:lumMod val="50000"/>
            </a:schemeClr>
          </a:solidFill>
          <a:ln w="19050">
            <a:solidFill>
              <a:schemeClr val="bg1">
                <a:lumMod val="50000"/>
              </a:schemeClr>
            </a:solidFill>
          </a:ln>
        </p:spPr>
        <p:style>
          <a:lnRef idx="1">
            <a:schemeClr val="accent3"/>
          </a:lnRef>
          <a:fillRef idx="3">
            <a:schemeClr val="accent3"/>
          </a:fillRef>
          <a:effectRef idx="2">
            <a:schemeClr val="accent3"/>
          </a:effectRef>
          <a:fontRef idx="minor">
            <a:schemeClr val="lt1"/>
          </a:fontRef>
        </p:style>
        <p:txBody>
          <a:bodyPr rtlCol="0" anchor="ctr"/>
          <a:lstStyle/>
          <a:p>
            <a:pPr algn="ctr"/>
            <a:r>
              <a:rPr lang="ko-KR" altLang="en-US" dirty="0">
                <a:solidFill>
                  <a:schemeClr val="bg1"/>
                </a:solidFill>
              </a:rPr>
              <a:t>침해</a:t>
            </a:r>
            <a:endParaRPr lang="en-US" altLang="ko-KR" dirty="0">
              <a:solidFill>
                <a:schemeClr val="bg1"/>
              </a:solidFill>
            </a:endParaRPr>
          </a:p>
          <a:p>
            <a:pPr algn="ctr"/>
            <a:r>
              <a:rPr lang="ko-KR" altLang="en-US" dirty="0">
                <a:solidFill>
                  <a:schemeClr val="bg1"/>
                </a:solidFill>
              </a:rPr>
              <a:t>조치</a:t>
            </a:r>
          </a:p>
        </p:txBody>
      </p:sp>
      <p:sp>
        <p:nvSpPr>
          <p:cNvPr id="35" name="모서리가 둥근 직사각형 34"/>
          <p:cNvSpPr/>
          <p:nvPr/>
        </p:nvSpPr>
        <p:spPr>
          <a:xfrm>
            <a:off x="1910040" y="2530465"/>
            <a:ext cx="972859" cy="571502"/>
          </a:xfrm>
          <a:prstGeom prst="roundRect">
            <a:avLst>
              <a:gd name="adj" fmla="val 0"/>
            </a:avLst>
          </a:prstGeom>
          <a:solidFill>
            <a:schemeClr val="accent1">
              <a:lumMod val="40000"/>
              <a:lumOff val="6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민사적 </a:t>
            </a:r>
            <a:endParaRPr lang="en-US" altLang="ko-KR" sz="1400" dirty="0">
              <a:solidFill>
                <a:schemeClr val="tx1">
                  <a:lumMod val="50000"/>
                  <a:lumOff val="50000"/>
                </a:schemeClr>
              </a:solidFill>
            </a:endParaRPr>
          </a:p>
          <a:p>
            <a:pPr algn="ctr"/>
            <a:r>
              <a:rPr lang="ko-KR" altLang="en-US" sz="1400" dirty="0">
                <a:solidFill>
                  <a:schemeClr val="tx1">
                    <a:lumMod val="50000"/>
                    <a:lumOff val="50000"/>
                  </a:schemeClr>
                </a:solidFill>
              </a:rPr>
              <a:t>조치</a:t>
            </a:r>
          </a:p>
        </p:txBody>
      </p:sp>
      <p:sp>
        <p:nvSpPr>
          <p:cNvPr id="36" name="모서리가 둥근 직사각형 35"/>
          <p:cNvSpPr/>
          <p:nvPr/>
        </p:nvSpPr>
        <p:spPr>
          <a:xfrm>
            <a:off x="1910040" y="4690474"/>
            <a:ext cx="972859" cy="571502"/>
          </a:xfrm>
          <a:prstGeom prst="roundRect">
            <a:avLst>
              <a:gd name="adj" fmla="val 0"/>
            </a:avLst>
          </a:prstGeom>
          <a:solidFill>
            <a:schemeClr val="accent1">
              <a:lumMod val="40000"/>
              <a:lumOff val="6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형사적</a:t>
            </a:r>
            <a:endParaRPr lang="en-US" altLang="ko-KR" sz="1400" dirty="0">
              <a:solidFill>
                <a:schemeClr val="tx1">
                  <a:lumMod val="50000"/>
                  <a:lumOff val="50000"/>
                </a:schemeClr>
              </a:solidFill>
            </a:endParaRPr>
          </a:p>
          <a:p>
            <a:pPr algn="ctr"/>
            <a:r>
              <a:rPr lang="ko-KR" altLang="en-US" sz="1400" dirty="0">
                <a:solidFill>
                  <a:schemeClr val="tx1">
                    <a:lumMod val="50000"/>
                    <a:lumOff val="50000"/>
                  </a:schemeClr>
                </a:solidFill>
              </a:rPr>
              <a:t>조치</a:t>
            </a:r>
          </a:p>
        </p:txBody>
      </p:sp>
      <p:cxnSp>
        <p:nvCxnSpPr>
          <p:cNvPr id="37" name="꺾인 연결선 36"/>
          <p:cNvCxnSpPr>
            <a:stCxn id="34" idx="3"/>
            <a:endCxn id="35" idx="1"/>
          </p:cNvCxnSpPr>
          <p:nvPr/>
        </p:nvCxnSpPr>
        <p:spPr>
          <a:xfrm flipV="1">
            <a:off x="1405174" y="2816216"/>
            <a:ext cx="504866" cy="994483"/>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34" idx="3"/>
            <a:endCxn id="36" idx="1"/>
          </p:cNvCxnSpPr>
          <p:nvPr/>
        </p:nvCxnSpPr>
        <p:spPr>
          <a:xfrm>
            <a:off x="1405174" y="3810699"/>
            <a:ext cx="504866" cy="1165526"/>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9" name="모서리가 둥근 직사각형 38"/>
          <p:cNvSpPr/>
          <p:nvPr/>
        </p:nvSpPr>
        <p:spPr>
          <a:xfrm>
            <a:off x="3788551" y="1790700"/>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침해금지예방청구</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126)</a:t>
            </a:r>
            <a:endParaRPr lang="ko-KR" altLang="en-US" sz="1400" dirty="0">
              <a:solidFill>
                <a:schemeClr val="tx1">
                  <a:lumMod val="50000"/>
                  <a:lumOff val="50000"/>
                </a:schemeClr>
              </a:solidFill>
            </a:endParaRPr>
          </a:p>
        </p:txBody>
      </p:sp>
      <p:sp>
        <p:nvSpPr>
          <p:cNvPr id="40" name="모서리가 둥근 직사각형 39"/>
          <p:cNvSpPr/>
          <p:nvPr/>
        </p:nvSpPr>
        <p:spPr>
          <a:xfrm>
            <a:off x="3788551" y="2482167"/>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손해배상청구</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128)</a:t>
            </a:r>
            <a:endParaRPr lang="ko-KR" altLang="en-US" sz="1400" dirty="0">
              <a:solidFill>
                <a:schemeClr val="tx1">
                  <a:lumMod val="50000"/>
                  <a:lumOff val="50000"/>
                </a:schemeClr>
              </a:solidFill>
            </a:endParaRPr>
          </a:p>
        </p:txBody>
      </p:sp>
      <p:sp>
        <p:nvSpPr>
          <p:cNvPr id="41" name="모서리가 둥근 직사각형 40"/>
          <p:cNvSpPr/>
          <p:nvPr/>
        </p:nvSpPr>
        <p:spPr>
          <a:xfrm>
            <a:off x="3788551" y="2919278"/>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신용회복청구</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131)</a:t>
            </a:r>
            <a:endParaRPr lang="ko-KR" altLang="en-US" sz="1400" dirty="0">
              <a:solidFill>
                <a:schemeClr val="tx1">
                  <a:lumMod val="50000"/>
                  <a:lumOff val="50000"/>
                </a:schemeClr>
              </a:solidFill>
            </a:endParaRPr>
          </a:p>
        </p:txBody>
      </p:sp>
      <p:sp>
        <p:nvSpPr>
          <p:cNvPr id="42" name="모서리가 둥근 직사각형 41"/>
          <p:cNvSpPr/>
          <p:nvPr/>
        </p:nvSpPr>
        <p:spPr>
          <a:xfrm>
            <a:off x="3788551" y="3372238"/>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부당이득반환청구</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民法 </a:t>
            </a:r>
            <a:r>
              <a:rPr lang="en-US" altLang="ko-KR" sz="1400" dirty="0">
                <a:solidFill>
                  <a:schemeClr val="tx1">
                    <a:lumMod val="50000"/>
                    <a:lumOff val="50000"/>
                  </a:schemeClr>
                </a:solidFill>
              </a:rPr>
              <a:t>741)</a:t>
            </a:r>
            <a:endParaRPr lang="ko-KR" altLang="en-US" sz="1400" dirty="0">
              <a:solidFill>
                <a:schemeClr val="tx1">
                  <a:lumMod val="50000"/>
                  <a:lumOff val="50000"/>
                </a:schemeClr>
              </a:solidFill>
            </a:endParaRPr>
          </a:p>
        </p:txBody>
      </p:sp>
      <p:sp>
        <p:nvSpPr>
          <p:cNvPr id="43" name="모서리가 둥근 직사각형 42"/>
          <p:cNvSpPr/>
          <p:nvPr/>
        </p:nvSpPr>
        <p:spPr>
          <a:xfrm>
            <a:off x="3788551" y="4600967"/>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err="1">
                <a:solidFill>
                  <a:schemeClr val="tx1">
                    <a:lumMod val="50000"/>
                    <a:lumOff val="50000"/>
                  </a:schemeClr>
                </a:solidFill>
              </a:rPr>
              <a:t>침해죄</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225)</a:t>
            </a:r>
            <a:endParaRPr lang="ko-KR" altLang="en-US" sz="1400" dirty="0">
              <a:solidFill>
                <a:schemeClr val="tx1">
                  <a:lumMod val="50000"/>
                  <a:lumOff val="50000"/>
                </a:schemeClr>
              </a:solidFill>
            </a:endParaRPr>
          </a:p>
        </p:txBody>
      </p:sp>
      <p:sp>
        <p:nvSpPr>
          <p:cNvPr id="44" name="모서리가 둥근 직사각형 43"/>
          <p:cNvSpPr/>
          <p:nvPr/>
        </p:nvSpPr>
        <p:spPr>
          <a:xfrm>
            <a:off x="3788551" y="5095207"/>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몰수</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231)</a:t>
            </a:r>
            <a:endParaRPr lang="ko-KR" altLang="en-US" sz="1400" dirty="0">
              <a:solidFill>
                <a:schemeClr val="tx1">
                  <a:lumMod val="50000"/>
                  <a:lumOff val="50000"/>
                </a:schemeClr>
              </a:solidFill>
            </a:endParaRPr>
          </a:p>
        </p:txBody>
      </p:sp>
      <p:sp>
        <p:nvSpPr>
          <p:cNvPr id="45" name="모서리가 둥근 직사각형 44"/>
          <p:cNvSpPr/>
          <p:nvPr/>
        </p:nvSpPr>
        <p:spPr>
          <a:xfrm>
            <a:off x="3788551" y="5591014"/>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err="1">
                <a:solidFill>
                  <a:schemeClr val="tx1">
                    <a:lumMod val="50000"/>
                    <a:lumOff val="50000"/>
                  </a:schemeClr>
                </a:solidFill>
              </a:rPr>
              <a:t>양벌규정</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230)</a:t>
            </a:r>
            <a:endParaRPr lang="ko-KR" altLang="en-US" sz="1400" dirty="0">
              <a:solidFill>
                <a:schemeClr val="tx1">
                  <a:lumMod val="50000"/>
                  <a:lumOff val="50000"/>
                </a:schemeClr>
              </a:solidFill>
            </a:endParaRPr>
          </a:p>
        </p:txBody>
      </p:sp>
      <p:cxnSp>
        <p:nvCxnSpPr>
          <p:cNvPr id="46" name="꺾인 연결선 45"/>
          <p:cNvCxnSpPr>
            <a:stCxn id="35" idx="3"/>
            <a:endCxn id="39" idx="1"/>
          </p:cNvCxnSpPr>
          <p:nvPr/>
        </p:nvCxnSpPr>
        <p:spPr>
          <a:xfrm flipV="1">
            <a:off x="2882899" y="1943708"/>
            <a:ext cx="905652" cy="87250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35" idx="3"/>
            <a:endCxn id="40" idx="1"/>
          </p:cNvCxnSpPr>
          <p:nvPr/>
        </p:nvCxnSpPr>
        <p:spPr>
          <a:xfrm flipV="1">
            <a:off x="2882899" y="2635175"/>
            <a:ext cx="905652" cy="18104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35" idx="3"/>
            <a:endCxn id="41" idx="1"/>
          </p:cNvCxnSpPr>
          <p:nvPr/>
        </p:nvCxnSpPr>
        <p:spPr>
          <a:xfrm>
            <a:off x="2882899" y="2816216"/>
            <a:ext cx="905652" cy="2560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꺾인 연결선 48"/>
          <p:cNvCxnSpPr>
            <a:stCxn id="35" idx="3"/>
            <a:endCxn id="42" idx="1"/>
          </p:cNvCxnSpPr>
          <p:nvPr/>
        </p:nvCxnSpPr>
        <p:spPr>
          <a:xfrm>
            <a:off x="2882899" y="2816216"/>
            <a:ext cx="905652" cy="70903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꺾인 연결선 49"/>
          <p:cNvCxnSpPr>
            <a:stCxn id="36" idx="3"/>
            <a:endCxn id="43" idx="1"/>
          </p:cNvCxnSpPr>
          <p:nvPr/>
        </p:nvCxnSpPr>
        <p:spPr>
          <a:xfrm flipV="1">
            <a:off x="2882899" y="4753975"/>
            <a:ext cx="905652" cy="2222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꺾인 연결선 50"/>
          <p:cNvCxnSpPr>
            <a:stCxn id="36" idx="3"/>
            <a:endCxn id="45" idx="1"/>
          </p:cNvCxnSpPr>
          <p:nvPr/>
        </p:nvCxnSpPr>
        <p:spPr>
          <a:xfrm>
            <a:off x="2882899" y="4976225"/>
            <a:ext cx="905652" cy="76779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꺾인 연결선 51"/>
          <p:cNvCxnSpPr>
            <a:stCxn id="36" idx="3"/>
            <a:endCxn id="44" idx="1"/>
          </p:cNvCxnSpPr>
          <p:nvPr/>
        </p:nvCxnSpPr>
        <p:spPr>
          <a:xfrm>
            <a:off x="2882899" y="4976225"/>
            <a:ext cx="905652" cy="27199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4" name="직사각형 83"/>
          <p:cNvSpPr/>
          <p:nvPr/>
        </p:nvSpPr>
        <p:spPr>
          <a:xfrm>
            <a:off x="3619500" y="1308100"/>
            <a:ext cx="3175000" cy="889000"/>
          </a:xfrm>
          <a:prstGeom prst="rect">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5" name="TextBox 84"/>
          <p:cNvSpPr txBox="1"/>
          <p:nvPr/>
        </p:nvSpPr>
        <p:spPr>
          <a:xfrm>
            <a:off x="3619500" y="1308100"/>
            <a:ext cx="1588897" cy="369332"/>
          </a:xfrm>
          <a:prstGeom prst="rect">
            <a:avLst/>
          </a:prstGeom>
          <a:noFill/>
        </p:spPr>
        <p:txBody>
          <a:bodyPr wrap="none" rtlCol="0">
            <a:spAutoFit/>
          </a:bodyPr>
          <a:lstStyle/>
          <a:p>
            <a:r>
              <a:rPr lang="ko-KR" altLang="en-US" dirty="0"/>
              <a:t>현재</a:t>
            </a:r>
            <a:r>
              <a:rPr lang="en-US" altLang="ko-KR" dirty="0"/>
              <a:t>/</a:t>
            </a:r>
            <a:r>
              <a:rPr lang="ko-KR" altLang="en-US" dirty="0"/>
              <a:t>장래 침해</a:t>
            </a:r>
          </a:p>
        </p:txBody>
      </p:sp>
      <p:sp>
        <p:nvSpPr>
          <p:cNvPr id="115" name="직사각형 114"/>
          <p:cNvSpPr/>
          <p:nvPr/>
        </p:nvSpPr>
        <p:spPr>
          <a:xfrm>
            <a:off x="3619500" y="2336294"/>
            <a:ext cx="3175000" cy="1740406"/>
          </a:xfrm>
          <a:prstGeom prst="rect">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6" name="TextBox 115"/>
          <p:cNvSpPr txBox="1"/>
          <p:nvPr/>
        </p:nvSpPr>
        <p:spPr>
          <a:xfrm>
            <a:off x="3619500" y="3721100"/>
            <a:ext cx="1082348" cy="369332"/>
          </a:xfrm>
          <a:prstGeom prst="rect">
            <a:avLst/>
          </a:prstGeom>
          <a:noFill/>
        </p:spPr>
        <p:txBody>
          <a:bodyPr wrap="none" rtlCol="0">
            <a:spAutoFit/>
          </a:bodyPr>
          <a:lstStyle/>
          <a:p>
            <a:r>
              <a:rPr lang="ko-KR" altLang="en-US" dirty="0"/>
              <a:t>과거 침해</a:t>
            </a:r>
          </a:p>
        </p:txBody>
      </p:sp>
      <p:sp>
        <p:nvSpPr>
          <p:cNvPr id="2" name="슬라이드 번호 개체 틀 1"/>
          <p:cNvSpPr>
            <a:spLocks noGrp="1"/>
          </p:cNvSpPr>
          <p:nvPr>
            <p:ph type="sldNum" sz="quarter" idx="12"/>
          </p:nvPr>
        </p:nvSpPr>
        <p:spPr/>
        <p:txBody>
          <a:bodyPr/>
          <a:lstStyle/>
          <a:p>
            <a:r>
              <a:rPr lang="en-US" altLang="ko-KR"/>
              <a:t>376</a:t>
            </a:r>
            <a:endParaRPr lang="ko-KR" altLang="en-US"/>
          </a:p>
        </p:txBody>
      </p:sp>
      <p:grpSp>
        <p:nvGrpSpPr>
          <p:cNvPr id="4" name="그룹 3">
            <a:extLst>
              <a:ext uri="{FF2B5EF4-FFF2-40B4-BE49-F238E27FC236}">
                <a16:creationId xmlns:a16="http://schemas.microsoft.com/office/drawing/2014/main" id="{58D072A0-8B33-4D59-8AC9-17F137DB7133}"/>
              </a:ext>
            </a:extLst>
          </p:cNvPr>
          <p:cNvGrpSpPr/>
          <p:nvPr/>
        </p:nvGrpSpPr>
        <p:grpSpPr>
          <a:xfrm>
            <a:off x="6959600" y="1308100"/>
            <a:ext cx="4918075" cy="2611030"/>
            <a:chOff x="6959600" y="1308100"/>
            <a:chExt cx="4918075" cy="2611030"/>
          </a:xfrm>
        </p:grpSpPr>
        <p:sp>
          <p:nvSpPr>
            <p:cNvPr id="118" name="모서리가 둥근 직사각형 117"/>
            <p:cNvSpPr/>
            <p:nvPr/>
          </p:nvSpPr>
          <p:spPr>
            <a:xfrm>
              <a:off x="8487550" y="1943708"/>
              <a:ext cx="3390125"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손해액의 산정 등</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128②~⑨)</a:t>
              </a:r>
              <a:endParaRPr lang="ko-KR" altLang="en-US" sz="1400" dirty="0">
                <a:solidFill>
                  <a:schemeClr val="tx1">
                    <a:lumMod val="50000"/>
                    <a:lumOff val="50000"/>
                  </a:schemeClr>
                </a:solidFill>
              </a:endParaRPr>
            </a:p>
          </p:txBody>
        </p:sp>
        <p:sp>
          <p:nvSpPr>
            <p:cNvPr id="119" name="모서리가 둥근 직사각형 118"/>
            <p:cNvSpPr/>
            <p:nvPr/>
          </p:nvSpPr>
          <p:spPr>
            <a:xfrm>
              <a:off x="8487550" y="2392054"/>
              <a:ext cx="3390125"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감정사항 설명의무</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128</a:t>
              </a:r>
              <a:r>
                <a:rPr lang="ko-KR" altLang="en-US" sz="1400" dirty="0">
                  <a:solidFill>
                    <a:schemeClr val="tx1">
                      <a:lumMod val="50000"/>
                      <a:lumOff val="50000"/>
                    </a:schemeClr>
                  </a:solidFill>
                </a:rPr>
                <a:t>의</a:t>
              </a:r>
              <a:r>
                <a:rPr lang="en-US" altLang="ko-KR" sz="1400" dirty="0">
                  <a:solidFill>
                    <a:schemeClr val="tx1">
                      <a:lumMod val="50000"/>
                      <a:lumOff val="50000"/>
                    </a:schemeClr>
                  </a:solidFill>
                </a:rPr>
                <a:t>2)</a:t>
              </a:r>
              <a:endParaRPr lang="ko-KR" altLang="en-US" sz="1400" dirty="0">
                <a:solidFill>
                  <a:schemeClr val="tx1">
                    <a:lumMod val="50000"/>
                    <a:lumOff val="50000"/>
                  </a:schemeClr>
                </a:solidFill>
              </a:endParaRPr>
            </a:p>
          </p:txBody>
        </p:sp>
        <p:sp>
          <p:nvSpPr>
            <p:cNvPr id="120" name="모서리가 둥근 직사각형 119"/>
            <p:cNvSpPr/>
            <p:nvPr/>
          </p:nvSpPr>
          <p:spPr>
            <a:xfrm>
              <a:off x="8487550" y="2796741"/>
              <a:ext cx="3390125"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생산방법의 추정</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129)</a:t>
              </a:r>
              <a:endParaRPr lang="ko-KR" altLang="en-US" sz="1400" dirty="0">
                <a:solidFill>
                  <a:schemeClr val="tx1">
                    <a:lumMod val="50000"/>
                    <a:lumOff val="50000"/>
                  </a:schemeClr>
                </a:solidFill>
              </a:endParaRPr>
            </a:p>
          </p:txBody>
        </p:sp>
        <p:sp>
          <p:nvSpPr>
            <p:cNvPr id="121" name="모서리가 둥근 직사각형 120"/>
            <p:cNvSpPr/>
            <p:nvPr/>
          </p:nvSpPr>
          <p:spPr>
            <a:xfrm>
              <a:off x="8487550" y="3208427"/>
              <a:ext cx="3390125"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과실의 추정</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130)</a:t>
              </a:r>
              <a:endParaRPr lang="ko-KR" altLang="en-US" sz="1400" dirty="0">
                <a:solidFill>
                  <a:schemeClr val="tx1">
                    <a:lumMod val="50000"/>
                    <a:lumOff val="50000"/>
                  </a:schemeClr>
                </a:solidFill>
              </a:endParaRPr>
            </a:p>
          </p:txBody>
        </p:sp>
        <p:sp>
          <p:nvSpPr>
            <p:cNvPr id="122" name="모서리가 둥근 직사각형 121"/>
            <p:cNvSpPr/>
            <p:nvPr/>
          </p:nvSpPr>
          <p:spPr>
            <a:xfrm>
              <a:off x="8487550" y="3613114"/>
              <a:ext cx="3390125" cy="306016"/>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자료의 제출</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132)</a:t>
              </a:r>
              <a:endParaRPr lang="ko-KR" altLang="en-US" sz="1400" dirty="0">
                <a:solidFill>
                  <a:schemeClr val="tx1">
                    <a:lumMod val="50000"/>
                    <a:lumOff val="50000"/>
                  </a:schemeClr>
                </a:solidFill>
              </a:endParaRPr>
            </a:p>
          </p:txBody>
        </p:sp>
        <p:sp>
          <p:nvSpPr>
            <p:cNvPr id="87" name="왼쪽 화살표 86"/>
            <p:cNvSpPr/>
            <p:nvPr/>
          </p:nvSpPr>
          <p:spPr>
            <a:xfrm>
              <a:off x="6959600" y="2125778"/>
              <a:ext cx="1333500" cy="1187679"/>
            </a:xfrm>
            <a:prstGeom prst="leftArrow">
              <a:avLst>
                <a:gd name="adj1" fmla="val 75663"/>
                <a:gd name="adj2" fmla="val 50000"/>
              </a:avLst>
            </a:prstGeom>
            <a:solidFill>
              <a:schemeClr val="accent2">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4" name="TextBox 123"/>
            <p:cNvSpPr txBox="1"/>
            <p:nvPr/>
          </p:nvSpPr>
          <p:spPr>
            <a:xfrm>
              <a:off x="7325052" y="2521299"/>
              <a:ext cx="809837" cy="369332"/>
            </a:xfrm>
            <a:prstGeom prst="rect">
              <a:avLst/>
            </a:prstGeom>
            <a:noFill/>
          </p:spPr>
          <p:txBody>
            <a:bodyPr wrap="none" rtlCol="0">
              <a:spAutoFit/>
            </a:bodyPr>
            <a:lstStyle/>
            <a:p>
              <a:r>
                <a:rPr lang="ko-KR" altLang="en-US"/>
                <a:t>실효성</a:t>
              </a:r>
              <a:endParaRPr lang="ko-KR" altLang="en-US" dirty="0"/>
            </a:p>
          </p:txBody>
        </p:sp>
        <p:sp>
          <p:nvSpPr>
            <p:cNvPr id="53" name="모서리가 둥근 직사각형 117">
              <a:extLst>
                <a:ext uri="{FF2B5EF4-FFF2-40B4-BE49-F238E27FC236}">
                  <a16:creationId xmlns:a16="http://schemas.microsoft.com/office/drawing/2014/main" id="{5E2942C6-2DC4-4307-9A7D-A77F8B564D24}"/>
                </a:ext>
              </a:extLst>
            </p:cNvPr>
            <p:cNvSpPr/>
            <p:nvPr/>
          </p:nvSpPr>
          <p:spPr>
            <a:xfrm>
              <a:off x="8487550" y="1308100"/>
              <a:ext cx="3390125" cy="503411"/>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구체적인 행위의 </a:t>
              </a:r>
              <a:r>
                <a:rPr lang="ko-KR" altLang="en-US" sz="1400" dirty="0" err="1">
                  <a:solidFill>
                    <a:schemeClr val="tx1">
                      <a:lumMod val="50000"/>
                      <a:lumOff val="50000"/>
                    </a:schemeClr>
                  </a:solidFill>
                </a:rPr>
                <a:t>내용ㆍ방식ㆍ형태</a:t>
              </a:r>
              <a:r>
                <a:rPr lang="ko-KR" altLang="en-US" sz="1400" dirty="0">
                  <a:solidFill>
                    <a:schemeClr val="tx1">
                      <a:lumMod val="50000"/>
                      <a:lumOff val="50000"/>
                    </a:schemeClr>
                  </a:solidFill>
                </a:rPr>
                <a:t> </a:t>
              </a:r>
              <a:endParaRPr lang="en-US" altLang="ko-KR" sz="1400" dirty="0">
                <a:solidFill>
                  <a:schemeClr val="tx1">
                    <a:lumMod val="50000"/>
                    <a:lumOff val="50000"/>
                  </a:schemeClr>
                </a:solidFill>
              </a:endParaRPr>
            </a:p>
            <a:p>
              <a:pPr algn="ctr"/>
              <a:r>
                <a:rPr lang="ko-KR" altLang="en-US" sz="1400" dirty="0">
                  <a:solidFill>
                    <a:schemeClr val="tx1">
                      <a:lumMod val="50000"/>
                      <a:lumOff val="50000"/>
                    </a:schemeClr>
                  </a:solidFill>
                </a:rPr>
                <a:t>제시 의무</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126</a:t>
              </a:r>
              <a:r>
                <a:rPr lang="ko-KR" altLang="en-US" sz="1400" dirty="0">
                  <a:solidFill>
                    <a:schemeClr val="tx1">
                      <a:lumMod val="50000"/>
                      <a:lumOff val="50000"/>
                    </a:schemeClr>
                  </a:solidFill>
                </a:rPr>
                <a:t>의</a:t>
              </a:r>
              <a:r>
                <a:rPr lang="en-US" altLang="ko-KR" sz="1400" dirty="0">
                  <a:solidFill>
                    <a:schemeClr val="tx1">
                      <a:lumMod val="50000"/>
                      <a:lumOff val="50000"/>
                    </a:schemeClr>
                  </a:solidFill>
                </a:rPr>
                <a:t>2)</a:t>
              </a:r>
              <a:endParaRPr lang="ko-KR" altLang="en-US" sz="1400" dirty="0">
                <a:solidFill>
                  <a:schemeClr val="tx1">
                    <a:lumMod val="50000"/>
                    <a:lumOff val="50000"/>
                  </a:schemeClr>
                </a:solidFill>
              </a:endParaRPr>
            </a:p>
          </p:txBody>
        </p:sp>
      </p:grpSp>
      <p:sp>
        <p:nvSpPr>
          <p:cNvPr id="6" name="TextBox 5">
            <a:extLst>
              <a:ext uri="{FF2B5EF4-FFF2-40B4-BE49-F238E27FC236}">
                <a16:creationId xmlns:a16="http://schemas.microsoft.com/office/drawing/2014/main" id="{A03F754A-36DF-4B43-A563-028B6E666DF2}"/>
              </a:ext>
            </a:extLst>
          </p:cNvPr>
          <p:cNvSpPr txBox="1"/>
          <p:nvPr/>
        </p:nvSpPr>
        <p:spPr>
          <a:xfrm>
            <a:off x="1765389" y="1721494"/>
            <a:ext cx="1367682" cy="738664"/>
          </a:xfrm>
          <a:prstGeom prst="rect">
            <a:avLst/>
          </a:prstGeom>
          <a:noFill/>
        </p:spPr>
        <p:txBody>
          <a:bodyPr wrap="none" rtlCol="0">
            <a:spAutoFit/>
          </a:bodyPr>
          <a:lstStyle/>
          <a:p>
            <a:pPr algn="ctr"/>
            <a:r>
              <a:rPr lang="ko-KR" altLang="en-US" sz="1400" dirty="0"/>
              <a:t>제</a:t>
            </a:r>
            <a:r>
              <a:rPr lang="en-US" altLang="ko-KR" sz="1400" dirty="0"/>
              <a:t>6</a:t>
            </a:r>
            <a:r>
              <a:rPr lang="ko-KR" altLang="en-US" sz="1400" dirty="0"/>
              <a:t>장</a:t>
            </a:r>
            <a:endParaRPr lang="en-US" altLang="ko-KR" sz="1400" dirty="0"/>
          </a:p>
          <a:p>
            <a:pPr algn="ctr"/>
            <a:r>
              <a:rPr lang="ko-KR" altLang="en-US" sz="1400" dirty="0"/>
              <a:t>특허권자의 보호</a:t>
            </a:r>
            <a:endParaRPr lang="en-US" altLang="ko-KR" sz="1400" dirty="0"/>
          </a:p>
          <a:p>
            <a:pPr algn="ctr"/>
            <a:r>
              <a:rPr lang="en-US" altLang="ko-KR" sz="1400" dirty="0"/>
              <a:t>(</a:t>
            </a:r>
            <a:r>
              <a:rPr lang="ko-KR" altLang="en-US" sz="1400" dirty="0"/>
              <a:t>法 </a:t>
            </a:r>
            <a:r>
              <a:rPr lang="en-US" altLang="ko-KR" sz="1400" dirty="0"/>
              <a:t>126-132)</a:t>
            </a:r>
            <a:endParaRPr lang="ko-KR" altLang="en-US" sz="1400" dirty="0"/>
          </a:p>
        </p:txBody>
      </p:sp>
      <p:sp>
        <p:nvSpPr>
          <p:cNvPr id="55" name="TextBox 54">
            <a:extLst>
              <a:ext uri="{FF2B5EF4-FFF2-40B4-BE49-F238E27FC236}">
                <a16:creationId xmlns:a16="http://schemas.microsoft.com/office/drawing/2014/main" id="{A1C75758-7620-4D36-AA7B-D9E46376D0BC}"/>
              </a:ext>
            </a:extLst>
          </p:cNvPr>
          <p:cNvSpPr txBox="1"/>
          <p:nvPr/>
        </p:nvSpPr>
        <p:spPr>
          <a:xfrm>
            <a:off x="8134889" y="4976225"/>
            <a:ext cx="1082348" cy="369332"/>
          </a:xfrm>
          <a:prstGeom prst="rect">
            <a:avLst/>
          </a:prstGeom>
          <a:noFill/>
          <a:ln>
            <a:solidFill>
              <a:schemeClr val="bg1">
                <a:lumMod val="65000"/>
              </a:schemeClr>
            </a:solidFill>
          </a:ln>
        </p:spPr>
        <p:txBody>
          <a:bodyPr wrap="none" rtlCol="0">
            <a:spAutoFit/>
          </a:bodyPr>
          <a:lstStyle/>
          <a:p>
            <a:r>
              <a:rPr lang="ko-KR" altLang="en-US" dirty="0">
                <a:solidFill>
                  <a:schemeClr val="bg1">
                    <a:lumMod val="50000"/>
                  </a:schemeClr>
                </a:solidFill>
              </a:rPr>
              <a:t>기타 벌칙</a:t>
            </a:r>
          </a:p>
        </p:txBody>
      </p:sp>
      <p:sp>
        <p:nvSpPr>
          <p:cNvPr id="56" name="TextBox 55">
            <a:extLst>
              <a:ext uri="{FF2B5EF4-FFF2-40B4-BE49-F238E27FC236}">
                <a16:creationId xmlns:a16="http://schemas.microsoft.com/office/drawing/2014/main" id="{004AB94D-BC0D-4AB0-8A6B-2185B2459DC1}"/>
              </a:ext>
            </a:extLst>
          </p:cNvPr>
          <p:cNvSpPr txBox="1"/>
          <p:nvPr/>
        </p:nvSpPr>
        <p:spPr>
          <a:xfrm>
            <a:off x="1863974" y="5315625"/>
            <a:ext cx="1170513" cy="738664"/>
          </a:xfrm>
          <a:prstGeom prst="rect">
            <a:avLst/>
          </a:prstGeom>
          <a:noFill/>
        </p:spPr>
        <p:txBody>
          <a:bodyPr wrap="none" rtlCol="0">
            <a:spAutoFit/>
          </a:bodyPr>
          <a:lstStyle/>
          <a:p>
            <a:pPr algn="ctr"/>
            <a:r>
              <a:rPr lang="ko-KR" altLang="en-US" sz="1400" dirty="0"/>
              <a:t>제</a:t>
            </a:r>
            <a:r>
              <a:rPr lang="en-US" altLang="ko-KR" sz="1400" dirty="0"/>
              <a:t>12</a:t>
            </a:r>
            <a:r>
              <a:rPr lang="ko-KR" altLang="en-US" sz="1400" dirty="0"/>
              <a:t>장</a:t>
            </a:r>
            <a:endParaRPr lang="en-US" altLang="ko-KR" sz="1400" dirty="0"/>
          </a:p>
          <a:p>
            <a:pPr algn="ctr"/>
            <a:r>
              <a:rPr lang="ko-KR" altLang="en-US" sz="1400" dirty="0"/>
              <a:t>벌칙</a:t>
            </a:r>
            <a:endParaRPr lang="en-US" altLang="ko-KR" sz="1400" dirty="0"/>
          </a:p>
          <a:p>
            <a:pPr algn="ctr"/>
            <a:r>
              <a:rPr lang="en-US" altLang="ko-KR" sz="1400" dirty="0"/>
              <a:t>(</a:t>
            </a:r>
            <a:r>
              <a:rPr lang="ko-KR" altLang="en-US" sz="1400" dirty="0"/>
              <a:t>法 </a:t>
            </a:r>
            <a:r>
              <a:rPr lang="en-US" altLang="ko-KR" sz="1400" dirty="0"/>
              <a:t>225-232)</a:t>
            </a:r>
            <a:endParaRPr lang="ko-KR" altLang="en-US" sz="1400" dirty="0"/>
          </a:p>
        </p:txBody>
      </p:sp>
    </p:spTree>
    <p:extLst>
      <p:ext uri="{BB962C8B-B14F-4D97-AF65-F5344CB8AC3E}">
        <p14:creationId xmlns:p14="http://schemas.microsoft.com/office/powerpoint/2010/main" val="4226061326"/>
      </p:ext>
    </p:extLst>
  </p:cSld>
  <p:clrMapOvr>
    <a:masterClrMapping/>
  </p:clrMapOvr>
  <p:transition/>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ko-KR" altLang="en-US" dirty="0"/>
              <a:t>특허분쟁진행의 관할</a:t>
            </a:r>
          </a:p>
        </p:txBody>
      </p:sp>
      <p:sp>
        <p:nvSpPr>
          <p:cNvPr id="4" name="직사각형 3"/>
          <p:cNvSpPr/>
          <p:nvPr/>
        </p:nvSpPr>
        <p:spPr>
          <a:xfrm>
            <a:off x="1257300" y="2298700"/>
            <a:ext cx="800100" cy="800100"/>
          </a:xfrm>
          <a:prstGeom prst="rect">
            <a:avLst/>
          </a:prstGeom>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a:t>
            </a:r>
            <a:endParaRPr lang="en-US" altLang="ko-KR" dirty="0"/>
          </a:p>
          <a:p>
            <a:pPr algn="ctr"/>
            <a:r>
              <a:rPr lang="ko-KR" altLang="en-US" dirty="0"/>
              <a:t>심판</a:t>
            </a:r>
          </a:p>
        </p:txBody>
      </p:sp>
      <p:cxnSp>
        <p:nvCxnSpPr>
          <p:cNvPr id="5" name="직선 연결선 4"/>
          <p:cNvCxnSpPr/>
          <p:nvPr/>
        </p:nvCxnSpPr>
        <p:spPr>
          <a:xfrm>
            <a:off x="-36242" y="217439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7875" y="986046"/>
            <a:ext cx="11936323" cy="1169551"/>
          </a:xfrm>
          <a:prstGeom prst="rect">
            <a:avLst/>
          </a:prstGeom>
          <a:noFill/>
        </p:spPr>
        <p:txBody>
          <a:bodyPr wrap="square" rtlCol="0">
            <a:spAutoFit/>
          </a:bodyPr>
          <a:lstStyle/>
          <a:p>
            <a:pPr fontAlgn="base"/>
            <a:r>
              <a:rPr lang="en-US" altLang="ko-KR" sz="1400" dirty="0">
                <a:solidFill>
                  <a:schemeClr val="tx2"/>
                </a:solidFill>
                <a:latin typeface="+mn-ea"/>
              </a:rPr>
              <a:t>2016</a:t>
            </a:r>
            <a:r>
              <a:rPr lang="ko-KR" altLang="en-US" sz="1400" dirty="0">
                <a:solidFill>
                  <a:schemeClr val="tx2"/>
                </a:solidFill>
                <a:latin typeface="+mn-ea"/>
              </a:rPr>
              <a:t>년 </a:t>
            </a:r>
            <a:r>
              <a:rPr lang="en-US" altLang="ko-KR" sz="1400" dirty="0">
                <a:solidFill>
                  <a:schemeClr val="tx2"/>
                </a:solidFill>
                <a:latin typeface="+mn-ea"/>
              </a:rPr>
              <a:t>1</a:t>
            </a:r>
            <a:r>
              <a:rPr lang="ko-KR" altLang="en-US" sz="1400" dirty="0">
                <a:solidFill>
                  <a:schemeClr val="tx2"/>
                </a:solidFill>
                <a:latin typeface="+mn-ea"/>
              </a:rPr>
              <a:t>월 </a:t>
            </a:r>
            <a:r>
              <a:rPr lang="en-US" altLang="ko-KR" sz="1400" dirty="0">
                <a:solidFill>
                  <a:schemeClr val="tx2"/>
                </a:solidFill>
                <a:latin typeface="+mn-ea"/>
              </a:rPr>
              <a:t>1</a:t>
            </a:r>
            <a:r>
              <a:rPr lang="ko-KR" altLang="en-US" sz="1400" dirty="0">
                <a:solidFill>
                  <a:schemeClr val="tx2"/>
                </a:solidFill>
                <a:latin typeface="+mn-ea"/>
              </a:rPr>
              <a:t>일부터는 지식재산권</a:t>
            </a:r>
            <a:r>
              <a:rPr lang="en-US" altLang="ko-KR" sz="1400" dirty="0">
                <a:solidFill>
                  <a:schemeClr val="tx2"/>
                </a:solidFill>
                <a:latin typeface="+mn-ea"/>
              </a:rPr>
              <a:t>(</a:t>
            </a:r>
            <a:r>
              <a:rPr lang="ko-KR" altLang="en-US" sz="1400" dirty="0">
                <a:solidFill>
                  <a:schemeClr val="tx2"/>
                </a:solidFill>
                <a:latin typeface="+mn-ea"/>
              </a:rPr>
              <a:t>특허권</a:t>
            </a:r>
            <a:r>
              <a:rPr lang="en-US" altLang="ko-KR" sz="1400" dirty="0">
                <a:solidFill>
                  <a:schemeClr val="tx2"/>
                </a:solidFill>
                <a:latin typeface="+mn-ea"/>
              </a:rPr>
              <a:t>, </a:t>
            </a:r>
            <a:r>
              <a:rPr lang="ko-KR" altLang="en-US" sz="1400" dirty="0" err="1">
                <a:solidFill>
                  <a:schemeClr val="tx2"/>
                </a:solidFill>
                <a:latin typeface="+mn-ea"/>
              </a:rPr>
              <a:t>실용신안권</a:t>
            </a:r>
            <a:r>
              <a:rPr lang="en-US" altLang="ko-KR" sz="1400" dirty="0">
                <a:solidFill>
                  <a:schemeClr val="tx2"/>
                </a:solidFill>
                <a:latin typeface="+mn-ea"/>
              </a:rPr>
              <a:t>, </a:t>
            </a:r>
            <a:r>
              <a:rPr lang="ko-KR" altLang="en-US" sz="1400" dirty="0" err="1">
                <a:solidFill>
                  <a:schemeClr val="tx2"/>
                </a:solidFill>
                <a:latin typeface="+mn-ea"/>
              </a:rPr>
              <a:t>디자인권</a:t>
            </a:r>
            <a:r>
              <a:rPr lang="en-US" altLang="ko-KR" sz="1400" dirty="0">
                <a:solidFill>
                  <a:schemeClr val="tx2"/>
                </a:solidFill>
                <a:latin typeface="+mn-ea"/>
              </a:rPr>
              <a:t>, </a:t>
            </a:r>
            <a:r>
              <a:rPr lang="ko-KR" altLang="en-US" sz="1400" dirty="0">
                <a:solidFill>
                  <a:schemeClr val="tx2"/>
                </a:solidFill>
                <a:latin typeface="+mn-ea"/>
              </a:rPr>
              <a:t>상표권</a:t>
            </a:r>
            <a:r>
              <a:rPr lang="en-US" altLang="ko-KR" sz="1400" dirty="0">
                <a:solidFill>
                  <a:schemeClr val="tx2"/>
                </a:solidFill>
                <a:latin typeface="+mn-ea"/>
              </a:rPr>
              <a:t>, </a:t>
            </a:r>
            <a:r>
              <a:rPr lang="ko-KR" altLang="en-US" sz="1400" dirty="0" err="1">
                <a:solidFill>
                  <a:schemeClr val="tx2"/>
                </a:solidFill>
                <a:latin typeface="+mn-ea"/>
              </a:rPr>
              <a:t>품종보호권</a:t>
            </a:r>
            <a:r>
              <a:rPr lang="en-US" altLang="ko-KR" sz="1400" dirty="0">
                <a:solidFill>
                  <a:schemeClr val="tx2"/>
                </a:solidFill>
                <a:latin typeface="+mn-ea"/>
              </a:rPr>
              <a:t>) </a:t>
            </a:r>
            <a:r>
              <a:rPr lang="ko-KR" altLang="en-US" sz="1400" dirty="0">
                <a:solidFill>
                  <a:schemeClr val="accent3">
                    <a:lumMod val="50000"/>
                  </a:schemeClr>
                </a:solidFill>
                <a:highlight>
                  <a:srgbClr val="FFFF00"/>
                </a:highlight>
                <a:latin typeface="+mn-ea"/>
              </a:rPr>
              <a:t>침해 </a:t>
            </a:r>
            <a:r>
              <a:rPr lang="ko-KR" altLang="en-US" sz="1400" dirty="0" err="1">
                <a:solidFill>
                  <a:schemeClr val="accent3">
                    <a:lumMod val="50000"/>
                  </a:schemeClr>
                </a:solidFill>
                <a:highlight>
                  <a:srgbClr val="FFFF00"/>
                </a:highlight>
                <a:latin typeface="+mn-ea"/>
              </a:rPr>
              <a:t>민사본안소송의</a:t>
            </a:r>
            <a:r>
              <a:rPr lang="ko-KR" altLang="en-US" sz="1400" dirty="0">
                <a:solidFill>
                  <a:schemeClr val="accent3">
                    <a:lumMod val="50000"/>
                  </a:schemeClr>
                </a:solidFill>
                <a:highlight>
                  <a:srgbClr val="FFFF00"/>
                </a:highlight>
                <a:latin typeface="+mn-ea"/>
              </a:rPr>
              <a:t> 관할을 </a:t>
            </a:r>
            <a:r>
              <a:rPr lang="en-US" altLang="ko-KR" sz="1400" dirty="0">
                <a:solidFill>
                  <a:schemeClr val="accent3">
                    <a:lumMod val="50000"/>
                  </a:schemeClr>
                </a:solidFill>
                <a:highlight>
                  <a:srgbClr val="FFFF00"/>
                </a:highlight>
                <a:latin typeface="+mn-ea"/>
              </a:rPr>
              <a:t>1</a:t>
            </a:r>
            <a:r>
              <a:rPr lang="ko-KR" altLang="en-US" sz="1400" dirty="0">
                <a:solidFill>
                  <a:schemeClr val="accent3">
                    <a:lumMod val="50000"/>
                  </a:schemeClr>
                </a:solidFill>
                <a:highlight>
                  <a:srgbClr val="FFFF00"/>
                </a:highlight>
                <a:latin typeface="+mn-ea"/>
              </a:rPr>
              <a:t>심은 고등법원 소재지가 있는 </a:t>
            </a:r>
            <a:r>
              <a:rPr lang="en-US" altLang="ko-KR" sz="1400" dirty="0">
                <a:solidFill>
                  <a:schemeClr val="accent3">
                    <a:lumMod val="50000"/>
                  </a:schemeClr>
                </a:solidFill>
                <a:highlight>
                  <a:srgbClr val="FFFF00"/>
                </a:highlight>
                <a:latin typeface="+mn-ea"/>
              </a:rPr>
              <a:t>6</a:t>
            </a:r>
            <a:r>
              <a:rPr lang="ko-KR" altLang="en-US" sz="1400" dirty="0">
                <a:solidFill>
                  <a:schemeClr val="accent3">
                    <a:lumMod val="50000"/>
                  </a:schemeClr>
                </a:solidFill>
                <a:highlight>
                  <a:srgbClr val="FFFF00"/>
                </a:highlight>
                <a:latin typeface="+mn-ea"/>
              </a:rPr>
              <a:t>개 지방법원</a:t>
            </a:r>
            <a:r>
              <a:rPr lang="en-US" altLang="ko-KR" sz="1400" dirty="0">
                <a:solidFill>
                  <a:schemeClr val="accent3">
                    <a:lumMod val="50000"/>
                  </a:schemeClr>
                </a:solidFill>
                <a:highlight>
                  <a:srgbClr val="FFFF00"/>
                </a:highlight>
                <a:latin typeface="+mn-ea"/>
              </a:rPr>
              <a:t>(</a:t>
            </a:r>
            <a:r>
              <a:rPr lang="ko-KR" altLang="en-US" sz="1400" dirty="0">
                <a:solidFill>
                  <a:schemeClr val="accent3">
                    <a:lumMod val="50000"/>
                  </a:schemeClr>
                </a:solidFill>
                <a:highlight>
                  <a:srgbClr val="FFFF00"/>
                </a:highlight>
                <a:latin typeface="+mn-ea"/>
              </a:rPr>
              <a:t>서울중앙지방법원</a:t>
            </a:r>
            <a:r>
              <a:rPr lang="en-US" altLang="ko-KR" sz="1400" dirty="0">
                <a:solidFill>
                  <a:schemeClr val="accent3">
                    <a:lumMod val="50000"/>
                  </a:schemeClr>
                </a:solidFill>
                <a:highlight>
                  <a:srgbClr val="FFFF00"/>
                </a:highlight>
                <a:latin typeface="+mn-ea"/>
              </a:rPr>
              <a:t>, </a:t>
            </a:r>
            <a:r>
              <a:rPr lang="ko-KR" altLang="en-US" sz="1400" dirty="0">
                <a:solidFill>
                  <a:schemeClr val="accent3">
                    <a:lumMod val="50000"/>
                  </a:schemeClr>
                </a:solidFill>
                <a:highlight>
                  <a:srgbClr val="FFFF00"/>
                </a:highlight>
                <a:latin typeface="+mn-ea"/>
              </a:rPr>
              <a:t>대구지방법원</a:t>
            </a:r>
            <a:r>
              <a:rPr lang="en-US" altLang="ko-KR" sz="1400" dirty="0">
                <a:solidFill>
                  <a:schemeClr val="accent3">
                    <a:lumMod val="50000"/>
                  </a:schemeClr>
                </a:solidFill>
                <a:highlight>
                  <a:srgbClr val="FFFF00"/>
                </a:highlight>
                <a:latin typeface="+mn-ea"/>
              </a:rPr>
              <a:t>, </a:t>
            </a:r>
            <a:r>
              <a:rPr lang="ko-KR" altLang="en-US" sz="1400" dirty="0">
                <a:solidFill>
                  <a:schemeClr val="accent3">
                    <a:lumMod val="50000"/>
                  </a:schemeClr>
                </a:solidFill>
                <a:highlight>
                  <a:srgbClr val="FFFF00"/>
                </a:highlight>
                <a:latin typeface="+mn-ea"/>
              </a:rPr>
              <a:t>대전지방법원</a:t>
            </a:r>
            <a:r>
              <a:rPr lang="en-US" altLang="ko-KR" sz="1400" dirty="0">
                <a:solidFill>
                  <a:schemeClr val="accent3">
                    <a:lumMod val="50000"/>
                  </a:schemeClr>
                </a:solidFill>
                <a:highlight>
                  <a:srgbClr val="FFFF00"/>
                </a:highlight>
                <a:latin typeface="+mn-ea"/>
              </a:rPr>
              <a:t>, </a:t>
            </a:r>
            <a:r>
              <a:rPr lang="ko-KR" altLang="en-US" sz="1400" dirty="0">
                <a:solidFill>
                  <a:schemeClr val="accent3">
                    <a:lumMod val="50000"/>
                  </a:schemeClr>
                </a:solidFill>
                <a:highlight>
                  <a:srgbClr val="FFFF00"/>
                </a:highlight>
                <a:latin typeface="+mn-ea"/>
              </a:rPr>
              <a:t>광주지방법원</a:t>
            </a:r>
            <a:r>
              <a:rPr lang="en-US" altLang="ko-KR" sz="1400" dirty="0">
                <a:solidFill>
                  <a:schemeClr val="accent3">
                    <a:lumMod val="50000"/>
                  </a:schemeClr>
                </a:solidFill>
                <a:highlight>
                  <a:srgbClr val="FFFF00"/>
                </a:highlight>
                <a:latin typeface="+mn-ea"/>
              </a:rPr>
              <a:t>, </a:t>
            </a:r>
            <a:r>
              <a:rPr lang="ko-KR" altLang="en-US" sz="1400" dirty="0">
                <a:solidFill>
                  <a:schemeClr val="accent3">
                    <a:lumMod val="50000"/>
                  </a:schemeClr>
                </a:solidFill>
                <a:highlight>
                  <a:srgbClr val="FFFF00"/>
                </a:highlight>
                <a:latin typeface="+mn-ea"/>
              </a:rPr>
              <a:t>부산지방법원</a:t>
            </a:r>
            <a:r>
              <a:rPr lang="en-US" altLang="ko-KR" sz="1400" dirty="0">
                <a:solidFill>
                  <a:schemeClr val="accent3">
                    <a:lumMod val="50000"/>
                  </a:schemeClr>
                </a:solidFill>
                <a:highlight>
                  <a:srgbClr val="FFFF00"/>
                </a:highlight>
                <a:latin typeface="+mn-ea"/>
              </a:rPr>
              <a:t>, </a:t>
            </a:r>
            <a:r>
              <a:rPr lang="ko-KR" altLang="en-US" sz="1400" dirty="0">
                <a:solidFill>
                  <a:schemeClr val="accent3">
                    <a:lumMod val="50000"/>
                  </a:schemeClr>
                </a:solidFill>
                <a:highlight>
                  <a:srgbClr val="FFFF00"/>
                </a:highlight>
                <a:latin typeface="+mn-ea"/>
              </a:rPr>
              <a:t>수원지방법원</a:t>
            </a:r>
            <a:r>
              <a:rPr lang="en-US" altLang="ko-KR" sz="1400" dirty="0">
                <a:solidFill>
                  <a:schemeClr val="accent3">
                    <a:lumMod val="50000"/>
                  </a:schemeClr>
                </a:solidFill>
                <a:highlight>
                  <a:srgbClr val="FFFF00"/>
                </a:highlight>
                <a:latin typeface="+mn-ea"/>
              </a:rPr>
              <a:t>(2019</a:t>
            </a:r>
            <a:r>
              <a:rPr lang="ko-KR" altLang="en-US" sz="1400" dirty="0">
                <a:solidFill>
                  <a:schemeClr val="accent3">
                    <a:lumMod val="50000"/>
                  </a:schemeClr>
                </a:solidFill>
                <a:highlight>
                  <a:srgbClr val="FFFF00"/>
                </a:highlight>
                <a:latin typeface="+mn-ea"/>
              </a:rPr>
              <a:t>년 </a:t>
            </a:r>
            <a:r>
              <a:rPr lang="en-US" altLang="ko-KR" sz="1400" dirty="0">
                <a:solidFill>
                  <a:schemeClr val="accent3">
                    <a:lumMod val="50000"/>
                  </a:schemeClr>
                </a:solidFill>
                <a:highlight>
                  <a:srgbClr val="FFFF00"/>
                </a:highlight>
                <a:latin typeface="+mn-ea"/>
              </a:rPr>
              <a:t>3</a:t>
            </a:r>
            <a:r>
              <a:rPr lang="ko-KR" altLang="en-US" sz="1400" dirty="0">
                <a:solidFill>
                  <a:schemeClr val="accent3">
                    <a:lumMod val="50000"/>
                  </a:schemeClr>
                </a:solidFill>
                <a:highlight>
                  <a:srgbClr val="FFFF00"/>
                </a:highlight>
                <a:latin typeface="+mn-ea"/>
              </a:rPr>
              <a:t>월 </a:t>
            </a:r>
            <a:r>
              <a:rPr lang="en-US" altLang="ko-KR" sz="1400" dirty="0">
                <a:solidFill>
                  <a:schemeClr val="accent3">
                    <a:lumMod val="50000"/>
                  </a:schemeClr>
                </a:solidFill>
                <a:highlight>
                  <a:srgbClr val="FFFF00"/>
                </a:highlight>
                <a:latin typeface="+mn-ea"/>
              </a:rPr>
              <a:t>1</a:t>
            </a:r>
            <a:r>
              <a:rPr lang="ko-KR" altLang="en-US" sz="1400" dirty="0">
                <a:solidFill>
                  <a:schemeClr val="accent3">
                    <a:lumMod val="50000"/>
                  </a:schemeClr>
                </a:solidFill>
                <a:highlight>
                  <a:srgbClr val="FFFF00"/>
                </a:highlight>
                <a:latin typeface="+mn-ea"/>
              </a:rPr>
              <a:t>일 추가</a:t>
            </a:r>
            <a:r>
              <a:rPr lang="en-US" altLang="ko-KR" sz="1400" dirty="0">
                <a:solidFill>
                  <a:schemeClr val="accent3">
                    <a:lumMod val="50000"/>
                  </a:schemeClr>
                </a:solidFill>
                <a:highlight>
                  <a:srgbClr val="FFFF00"/>
                </a:highlight>
                <a:latin typeface="+mn-ea"/>
              </a:rPr>
              <a:t>))</a:t>
            </a:r>
            <a:r>
              <a:rPr lang="ko-KR" altLang="en-US" sz="1400" dirty="0">
                <a:solidFill>
                  <a:schemeClr val="accent3">
                    <a:lumMod val="50000"/>
                  </a:schemeClr>
                </a:solidFill>
                <a:highlight>
                  <a:srgbClr val="FFFF00"/>
                </a:highlight>
                <a:latin typeface="+mn-ea"/>
              </a:rPr>
              <a:t>이 전속적으로 맡고</a:t>
            </a:r>
            <a:r>
              <a:rPr lang="en-US" altLang="ko-KR" sz="1400" dirty="0">
                <a:solidFill>
                  <a:schemeClr val="accent3">
                    <a:lumMod val="50000"/>
                  </a:schemeClr>
                </a:solidFill>
                <a:highlight>
                  <a:srgbClr val="FFFF00"/>
                </a:highlight>
                <a:latin typeface="+mn-ea"/>
              </a:rPr>
              <a:t>, 2</a:t>
            </a:r>
            <a:r>
              <a:rPr lang="ko-KR" altLang="en-US" sz="1400" dirty="0">
                <a:solidFill>
                  <a:schemeClr val="accent3">
                    <a:lumMod val="50000"/>
                  </a:schemeClr>
                </a:solidFill>
                <a:highlight>
                  <a:srgbClr val="FFFF00"/>
                </a:highlight>
                <a:latin typeface="+mn-ea"/>
              </a:rPr>
              <a:t>심은 특허법원으로 </a:t>
            </a:r>
            <a:r>
              <a:rPr lang="ko-KR" altLang="en-US" sz="1400" dirty="0">
                <a:solidFill>
                  <a:schemeClr val="tx2">
                    <a:lumMod val="50000"/>
                  </a:schemeClr>
                </a:solidFill>
                <a:highlight>
                  <a:srgbClr val="FFFF00"/>
                </a:highlight>
                <a:latin typeface="+mn-ea"/>
              </a:rPr>
              <a:t>집</a:t>
            </a:r>
            <a:r>
              <a:rPr lang="ko-KR" altLang="en-US" sz="1400" dirty="0">
                <a:solidFill>
                  <a:schemeClr val="tx2">
                    <a:lumMod val="50000"/>
                  </a:schemeClr>
                </a:solidFill>
                <a:latin typeface="+mn-ea"/>
              </a:rPr>
              <a:t>중</a:t>
            </a:r>
            <a:r>
              <a:rPr lang="ko-KR" altLang="en-US" sz="1400" dirty="0">
                <a:solidFill>
                  <a:schemeClr val="tx2"/>
                </a:solidFill>
                <a:latin typeface="+mn-ea"/>
              </a:rPr>
              <a:t>하게 되도록 민사소송법 및 법원조직법이 개정되었다</a:t>
            </a:r>
            <a:r>
              <a:rPr lang="en-US" altLang="ko-KR" sz="1400" dirty="0">
                <a:solidFill>
                  <a:schemeClr val="tx2"/>
                </a:solidFill>
                <a:latin typeface="+mn-ea"/>
              </a:rPr>
              <a:t>. </a:t>
            </a:r>
            <a:r>
              <a:rPr lang="ko-KR" altLang="en-US" sz="1400" dirty="0">
                <a:solidFill>
                  <a:schemeClr val="tx2"/>
                </a:solidFill>
                <a:latin typeface="+mn-ea"/>
              </a:rPr>
              <a:t>기존에는 침해소송의 </a:t>
            </a:r>
            <a:r>
              <a:rPr lang="en-US" altLang="ko-KR" sz="1400" dirty="0">
                <a:solidFill>
                  <a:schemeClr val="tx2"/>
                </a:solidFill>
                <a:latin typeface="+mn-ea"/>
              </a:rPr>
              <a:t>1</a:t>
            </a:r>
            <a:r>
              <a:rPr lang="ko-KR" altLang="en-US" sz="1400" dirty="0">
                <a:solidFill>
                  <a:schemeClr val="tx2"/>
                </a:solidFill>
                <a:latin typeface="+mn-ea"/>
              </a:rPr>
              <a:t>심을 </a:t>
            </a:r>
            <a:r>
              <a:rPr lang="en-US" altLang="ko-KR" sz="1400" dirty="0">
                <a:solidFill>
                  <a:schemeClr val="tx2"/>
                </a:solidFill>
                <a:latin typeface="+mn-ea"/>
              </a:rPr>
              <a:t>58</a:t>
            </a:r>
            <a:r>
              <a:rPr lang="ko-KR" altLang="en-US" sz="1400" dirty="0">
                <a:solidFill>
                  <a:schemeClr val="tx2"/>
                </a:solidFill>
                <a:latin typeface="+mn-ea"/>
              </a:rPr>
              <a:t>개 지방법원과 지원에서</a:t>
            </a:r>
            <a:r>
              <a:rPr lang="en-US" altLang="ko-KR" sz="1400" dirty="0">
                <a:solidFill>
                  <a:schemeClr val="tx2"/>
                </a:solidFill>
                <a:latin typeface="+mn-ea"/>
              </a:rPr>
              <a:t>, 2</a:t>
            </a:r>
            <a:r>
              <a:rPr lang="ko-KR" altLang="en-US" sz="1400" dirty="0">
                <a:solidFill>
                  <a:schemeClr val="tx2"/>
                </a:solidFill>
                <a:latin typeface="+mn-ea"/>
              </a:rPr>
              <a:t>심을 고등법원과 지방법원 </a:t>
            </a:r>
            <a:r>
              <a:rPr lang="ko-KR" altLang="en-US" sz="1400" dirty="0" err="1">
                <a:solidFill>
                  <a:schemeClr val="tx2"/>
                </a:solidFill>
                <a:latin typeface="+mn-ea"/>
              </a:rPr>
              <a:t>항소부에서</a:t>
            </a:r>
            <a:r>
              <a:rPr lang="ko-KR" altLang="en-US" sz="1400" dirty="0">
                <a:solidFill>
                  <a:schemeClr val="tx2"/>
                </a:solidFill>
                <a:latin typeface="+mn-ea"/>
              </a:rPr>
              <a:t> 맡는 한편</a:t>
            </a:r>
            <a:r>
              <a:rPr lang="en-US" altLang="ko-KR" sz="1400" dirty="0">
                <a:solidFill>
                  <a:schemeClr val="tx2"/>
                </a:solidFill>
                <a:latin typeface="+mn-ea"/>
              </a:rPr>
              <a:t>, </a:t>
            </a:r>
            <a:r>
              <a:rPr lang="ko-KR" altLang="en-US" sz="1400" dirty="0" err="1">
                <a:solidFill>
                  <a:schemeClr val="tx2"/>
                </a:solidFill>
                <a:latin typeface="+mn-ea"/>
              </a:rPr>
              <a:t>심결취소소송을</a:t>
            </a:r>
            <a:r>
              <a:rPr lang="ko-KR" altLang="en-US" sz="1400" dirty="0">
                <a:solidFill>
                  <a:schemeClr val="tx2"/>
                </a:solidFill>
                <a:latin typeface="+mn-ea"/>
              </a:rPr>
              <a:t> 특허법원에서 맡고 있어서 관할이 분산되어 있었다</a:t>
            </a:r>
            <a:r>
              <a:rPr lang="en-US" altLang="ko-KR" sz="1400" dirty="0">
                <a:solidFill>
                  <a:schemeClr val="tx2"/>
                </a:solidFill>
                <a:latin typeface="+mn-ea"/>
              </a:rPr>
              <a:t>. </a:t>
            </a:r>
            <a:r>
              <a:rPr lang="ko-KR" altLang="en-US" sz="1400" dirty="0">
                <a:solidFill>
                  <a:schemeClr val="tx2"/>
                </a:solidFill>
                <a:latin typeface="+mn-ea"/>
              </a:rPr>
              <a:t>이번 개정은 특허소송의 관할을 특허법원으로 집중해 특허권 등의 분쟁 해결에 있어 법원의 전문성</a:t>
            </a:r>
            <a:r>
              <a:rPr lang="en-US" altLang="ko-KR" sz="1400" dirty="0">
                <a:solidFill>
                  <a:schemeClr val="tx2"/>
                </a:solidFill>
                <a:latin typeface="+mn-ea"/>
              </a:rPr>
              <a:t>, </a:t>
            </a:r>
            <a:r>
              <a:rPr lang="ko-KR" altLang="en-US" sz="1400" dirty="0">
                <a:solidFill>
                  <a:schemeClr val="tx2"/>
                </a:solidFill>
                <a:latin typeface="+mn-ea"/>
              </a:rPr>
              <a:t>효율성 및 신속성을 제고하는 한편</a:t>
            </a:r>
            <a:r>
              <a:rPr lang="en-US" altLang="ko-KR" sz="1400" dirty="0">
                <a:solidFill>
                  <a:schemeClr val="tx2"/>
                </a:solidFill>
                <a:latin typeface="+mn-ea"/>
              </a:rPr>
              <a:t>, </a:t>
            </a:r>
            <a:r>
              <a:rPr lang="ko-KR" altLang="en-US" sz="1400" dirty="0">
                <a:solidFill>
                  <a:schemeClr val="tx2"/>
                </a:solidFill>
                <a:latin typeface="+mn-ea"/>
              </a:rPr>
              <a:t>소송당사자에게 보다 신속하고 전문적인 재판을 보장함으로써 지식재산권 보호의 실효성을 높이고자 하는 취지를 담고 있다</a:t>
            </a:r>
            <a:r>
              <a:rPr lang="en-US" altLang="ko-KR" sz="1400" dirty="0">
                <a:solidFill>
                  <a:schemeClr val="tx2"/>
                </a:solidFill>
                <a:latin typeface="+mn-ea"/>
              </a:rPr>
              <a:t>.</a:t>
            </a:r>
            <a:endParaRPr lang="ko-KR" altLang="en-US" sz="1400" dirty="0">
              <a:solidFill>
                <a:schemeClr val="tx2"/>
              </a:solidFill>
              <a:latin typeface="+mn-ea"/>
            </a:endParaRPr>
          </a:p>
        </p:txBody>
      </p:sp>
      <p:sp>
        <p:nvSpPr>
          <p:cNvPr id="7" name="직사각형 6"/>
          <p:cNvSpPr/>
          <p:nvPr/>
        </p:nvSpPr>
        <p:spPr>
          <a:xfrm>
            <a:off x="1257300" y="3390900"/>
            <a:ext cx="800100" cy="1460500"/>
          </a:xfrm>
          <a:prstGeom prst="rect">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민사소송</a:t>
            </a:r>
          </a:p>
        </p:txBody>
      </p:sp>
      <p:sp>
        <p:nvSpPr>
          <p:cNvPr id="9" name="직사각형 8"/>
          <p:cNvSpPr/>
          <p:nvPr/>
        </p:nvSpPr>
        <p:spPr>
          <a:xfrm>
            <a:off x="1257300" y="5168900"/>
            <a:ext cx="800100" cy="800100"/>
          </a:xfrm>
          <a:prstGeom prst="rect">
            <a:avLst/>
          </a:prstGeom>
          <a:solidFill>
            <a:schemeClr val="accent3">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형사소송</a:t>
            </a:r>
          </a:p>
        </p:txBody>
      </p:sp>
      <p:sp>
        <p:nvSpPr>
          <p:cNvPr id="10" name="TextBox 9"/>
          <p:cNvSpPr txBox="1"/>
          <p:nvPr/>
        </p:nvSpPr>
        <p:spPr>
          <a:xfrm>
            <a:off x="4012454" y="2507734"/>
            <a:ext cx="1226618" cy="369332"/>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dirty="0"/>
              <a:t>특허심판원</a:t>
            </a:r>
          </a:p>
        </p:txBody>
      </p:sp>
      <p:sp>
        <p:nvSpPr>
          <p:cNvPr id="11" name="TextBox 10"/>
          <p:cNvSpPr txBox="1"/>
          <p:nvPr/>
        </p:nvSpPr>
        <p:spPr>
          <a:xfrm>
            <a:off x="6946154" y="2507734"/>
            <a:ext cx="1226618" cy="369332"/>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dirty="0"/>
              <a:t>특허법원</a:t>
            </a:r>
          </a:p>
        </p:txBody>
      </p:sp>
      <p:sp>
        <p:nvSpPr>
          <p:cNvPr id="12" name="TextBox 11"/>
          <p:cNvSpPr txBox="1"/>
          <p:nvPr/>
        </p:nvSpPr>
        <p:spPr>
          <a:xfrm>
            <a:off x="9841754" y="2507734"/>
            <a:ext cx="1226618" cy="369332"/>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dirty="0"/>
              <a:t>대법원</a:t>
            </a:r>
          </a:p>
        </p:txBody>
      </p:sp>
      <p:cxnSp>
        <p:nvCxnSpPr>
          <p:cNvPr id="14" name="직선 화살표 연결선 13"/>
          <p:cNvCxnSpPr>
            <a:stCxn id="10" idx="3"/>
            <a:endCxn id="11" idx="1"/>
          </p:cNvCxnSpPr>
          <p:nvPr/>
        </p:nvCxnSpPr>
        <p:spPr>
          <a:xfrm>
            <a:off x="5239072" y="2692400"/>
            <a:ext cx="1707082"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직선 화살표 연결선 14"/>
          <p:cNvCxnSpPr>
            <a:stCxn id="11" idx="3"/>
            <a:endCxn id="12" idx="1"/>
          </p:cNvCxnSpPr>
          <p:nvPr/>
        </p:nvCxnSpPr>
        <p:spPr>
          <a:xfrm>
            <a:off x="8172772" y="2692400"/>
            <a:ext cx="1668982"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직선 화살표 연결선 17"/>
          <p:cNvCxnSpPr>
            <a:cxnSpLocks/>
          </p:cNvCxnSpPr>
          <p:nvPr/>
        </p:nvCxnSpPr>
        <p:spPr>
          <a:xfrm>
            <a:off x="2625912" y="2692400"/>
            <a:ext cx="1386542"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2790267" y="2336800"/>
            <a:ext cx="1130300" cy="307777"/>
          </a:xfrm>
          <a:prstGeom prst="rect">
            <a:avLst/>
          </a:prstGeom>
          <a:noFill/>
        </p:spPr>
        <p:txBody>
          <a:bodyPr wrap="square" rtlCol="0">
            <a:spAutoFit/>
          </a:bodyPr>
          <a:lstStyle/>
          <a:p>
            <a:pPr algn="ctr"/>
            <a:r>
              <a:rPr lang="ko-KR" altLang="en-US" sz="1400" dirty="0"/>
              <a:t>심판청구</a:t>
            </a:r>
          </a:p>
        </p:txBody>
      </p:sp>
      <p:sp>
        <p:nvSpPr>
          <p:cNvPr id="21" name="TextBox 20"/>
          <p:cNvSpPr txBox="1"/>
          <p:nvPr/>
        </p:nvSpPr>
        <p:spPr>
          <a:xfrm>
            <a:off x="5340672" y="2336800"/>
            <a:ext cx="1503882" cy="307777"/>
          </a:xfrm>
          <a:prstGeom prst="rect">
            <a:avLst/>
          </a:prstGeom>
          <a:noFill/>
        </p:spPr>
        <p:txBody>
          <a:bodyPr wrap="square" rtlCol="0">
            <a:spAutoFit/>
          </a:bodyPr>
          <a:lstStyle/>
          <a:p>
            <a:pPr algn="ctr"/>
            <a:r>
              <a:rPr lang="ko-KR" altLang="en-US" sz="1400"/>
              <a:t>심결취소소송</a:t>
            </a:r>
            <a:endParaRPr lang="ko-KR" altLang="en-US" sz="1400" dirty="0"/>
          </a:p>
        </p:txBody>
      </p:sp>
      <p:sp>
        <p:nvSpPr>
          <p:cNvPr id="22" name="TextBox 21"/>
          <p:cNvSpPr txBox="1"/>
          <p:nvPr/>
        </p:nvSpPr>
        <p:spPr>
          <a:xfrm>
            <a:off x="8337872" y="2336800"/>
            <a:ext cx="1503882" cy="307777"/>
          </a:xfrm>
          <a:prstGeom prst="rect">
            <a:avLst/>
          </a:prstGeom>
          <a:noFill/>
        </p:spPr>
        <p:txBody>
          <a:bodyPr wrap="square" rtlCol="0">
            <a:spAutoFit/>
          </a:bodyPr>
          <a:lstStyle/>
          <a:p>
            <a:pPr algn="ctr"/>
            <a:r>
              <a:rPr lang="ko-KR" altLang="en-US" sz="1400" dirty="0"/>
              <a:t>상고</a:t>
            </a:r>
          </a:p>
        </p:txBody>
      </p:sp>
      <p:sp>
        <p:nvSpPr>
          <p:cNvPr id="23" name="TextBox 22"/>
          <p:cNvSpPr txBox="1"/>
          <p:nvPr/>
        </p:nvSpPr>
        <p:spPr>
          <a:xfrm>
            <a:off x="4012454" y="3594100"/>
            <a:ext cx="1226618" cy="369332"/>
          </a:xfrm>
          <a:prstGeom prst="rect">
            <a:avLst/>
          </a:prstGeom>
          <a:solidFill>
            <a:schemeClr val="accent2">
              <a:lumMod val="20000"/>
              <a:lumOff val="80000"/>
            </a:schemeClr>
          </a:solidFill>
          <a:ln>
            <a:solidFill>
              <a:schemeClr val="bg1">
                <a:lumMod val="50000"/>
              </a:schemeClr>
            </a:solidFill>
          </a:ln>
        </p:spPr>
        <p:txBody>
          <a:bodyPr wrap="square" rtlCol="0">
            <a:noAutofit/>
          </a:bodyPr>
          <a:lstStyle/>
          <a:p>
            <a:pPr algn="ctr"/>
            <a:r>
              <a:rPr lang="ko-KR" altLang="en-US" dirty="0"/>
              <a:t>가처분법원</a:t>
            </a:r>
          </a:p>
        </p:txBody>
      </p:sp>
      <p:sp>
        <p:nvSpPr>
          <p:cNvPr id="24" name="TextBox 23"/>
          <p:cNvSpPr txBox="1"/>
          <p:nvPr/>
        </p:nvSpPr>
        <p:spPr>
          <a:xfrm>
            <a:off x="6946154" y="3594100"/>
            <a:ext cx="1226618" cy="369332"/>
          </a:xfrm>
          <a:prstGeom prst="rect">
            <a:avLst/>
          </a:prstGeom>
          <a:solidFill>
            <a:schemeClr val="accent2">
              <a:lumMod val="20000"/>
              <a:lumOff val="80000"/>
            </a:schemeClr>
          </a:solidFill>
          <a:ln>
            <a:solidFill>
              <a:schemeClr val="bg1">
                <a:lumMod val="50000"/>
              </a:schemeClr>
            </a:solidFill>
          </a:ln>
        </p:spPr>
        <p:txBody>
          <a:bodyPr wrap="square" rtlCol="0">
            <a:noAutofit/>
          </a:bodyPr>
          <a:lstStyle/>
          <a:p>
            <a:pPr algn="ctr"/>
            <a:r>
              <a:rPr lang="ko-KR" altLang="en-US" dirty="0"/>
              <a:t>고등법원</a:t>
            </a:r>
          </a:p>
        </p:txBody>
      </p:sp>
      <p:sp>
        <p:nvSpPr>
          <p:cNvPr id="25" name="TextBox 24"/>
          <p:cNvSpPr txBox="1"/>
          <p:nvPr/>
        </p:nvSpPr>
        <p:spPr>
          <a:xfrm>
            <a:off x="9841754" y="3594100"/>
            <a:ext cx="1226618" cy="369332"/>
          </a:xfrm>
          <a:prstGeom prst="rect">
            <a:avLst/>
          </a:prstGeom>
          <a:solidFill>
            <a:schemeClr val="accent2">
              <a:lumMod val="20000"/>
              <a:lumOff val="80000"/>
            </a:schemeClr>
          </a:solidFill>
          <a:ln>
            <a:solidFill>
              <a:schemeClr val="bg1">
                <a:lumMod val="50000"/>
              </a:schemeClr>
            </a:solidFill>
          </a:ln>
        </p:spPr>
        <p:txBody>
          <a:bodyPr wrap="square" rtlCol="0">
            <a:noAutofit/>
          </a:bodyPr>
          <a:lstStyle/>
          <a:p>
            <a:pPr algn="ctr"/>
            <a:r>
              <a:rPr lang="ko-KR" altLang="en-US" dirty="0"/>
              <a:t>대법원</a:t>
            </a:r>
          </a:p>
        </p:txBody>
      </p:sp>
      <p:cxnSp>
        <p:nvCxnSpPr>
          <p:cNvPr id="26" name="직선 화살표 연결선 25"/>
          <p:cNvCxnSpPr>
            <a:stCxn id="23" idx="3"/>
            <a:endCxn id="24" idx="1"/>
          </p:cNvCxnSpPr>
          <p:nvPr/>
        </p:nvCxnSpPr>
        <p:spPr>
          <a:xfrm>
            <a:off x="5239072" y="3778766"/>
            <a:ext cx="1707082"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직선 화살표 연결선 26"/>
          <p:cNvCxnSpPr>
            <a:stCxn id="24" idx="3"/>
            <a:endCxn id="25" idx="1"/>
          </p:cNvCxnSpPr>
          <p:nvPr/>
        </p:nvCxnSpPr>
        <p:spPr>
          <a:xfrm>
            <a:off x="8172772" y="3778766"/>
            <a:ext cx="1668982"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직선 화살표 연결선 27"/>
          <p:cNvCxnSpPr>
            <a:cxnSpLocks/>
          </p:cNvCxnSpPr>
          <p:nvPr/>
        </p:nvCxnSpPr>
        <p:spPr>
          <a:xfrm>
            <a:off x="2625912" y="3778766"/>
            <a:ext cx="1386542"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2790267" y="3423166"/>
            <a:ext cx="1130300" cy="307777"/>
          </a:xfrm>
          <a:prstGeom prst="rect">
            <a:avLst/>
          </a:prstGeom>
          <a:noFill/>
        </p:spPr>
        <p:txBody>
          <a:bodyPr wrap="square" rtlCol="0">
            <a:spAutoFit/>
          </a:bodyPr>
          <a:lstStyle/>
          <a:p>
            <a:pPr algn="ctr"/>
            <a:r>
              <a:rPr lang="ko-KR" altLang="en-US" sz="1400" dirty="0"/>
              <a:t>신청</a:t>
            </a:r>
          </a:p>
        </p:txBody>
      </p:sp>
      <p:sp>
        <p:nvSpPr>
          <p:cNvPr id="30" name="TextBox 29"/>
          <p:cNvSpPr txBox="1"/>
          <p:nvPr/>
        </p:nvSpPr>
        <p:spPr>
          <a:xfrm>
            <a:off x="5340672" y="3423166"/>
            <a:ext cx="1503882" cy="307777"/>
          </a:xfrm>
          <a:prstGeom prst="rect">
            <a:avLst/>
          </a:prstGeom>
          <a:noFill/>
        </p:spPr>
        <p:txBody>
          <a:bodyPr wrap="square" rtlCol="0">
            <a:spAutoFit/>
          </a:bodyPr>
          <a:lstStyle/>
          <a:p>
            <a:pPr algn="ctr"/>
            <a:r>
              <a:rPr lang="ko-KR" altLang="en-US" sz="1400" dirty="0"/>
              <a:t>항고</a:t>
            </a:r>
            <a:r>
              <a:rPr lang="en-US" altLang="ko-KR" sz="1400" dirty="0"/>
              <a:t>(</a:t>
            </a:r>
            <a:r>
              <a:rPr lang="ko-KR" altLang="en-US" sz="1400" dirty="0"/>
              <a:t>기각</a:t>
            </a:r>
            <a:r>
              <a:rPr lang="en-US" altLang="ko-KR" sz="1400" dirty="0"/>
              <a:t>)</a:t>
            </a:r>
            <a:endParaRPr lang="ko-KR" altLang="en-US" sz="1400" dirty="0"/>
          </a:p>
        </p:txBody>
      </p:sp>
      <p:sp>
        <p:nvSpPr>
          <p:cNvPr id="31" name="TextBox 30"/>
          <p:cNvSpPr txBox="1"/>
          <p:nvPr/>
        </p:nvSpPr>
        <p:spPr>
          <a:xfrm>
            <a:off x="8337872" y="3423166"/>
            <a:ext cx="1503882" cy="307777"/>
          </a:xfrm>
          <a:prstGeom prst="rect">
            <a:avLst/>
          </a:prstGeom>
          <a:noFill/>
        </p:spPr>
        <p:txBody>
          <a:bodyPr wrap="square" rtlCol="0">
            <a:spAutoFit/>
          </a:bodyPr>
          <a:lstStyle/>
          <a:p>
            <a:pPr algn="ctr"/>
            <a:r>
              <a:rPr lang="ko-KR" altLang="en-US" sz="1400" dirty="0"/>
              <a:t>재항고</a:t>
            </a:r>
          </a:p>
        </p:txBody>
      </p:sp>
      <p:sp>
        <p:nvSpPr>
          <p:cNvPr id="32" name="TextBox 31"/>
          <p:cNvSpPr txBox="1"/>
          <p:nvPr/>
        </p:nvSpPr>
        <p:spPr>
          <a:xfrm>
            <a:off x="4012454" y="4482068"/>
            <a:ext cx="1226618" cy="369332"/>
          </a:xfrm>
          <a:prstGeom prst="rect">
            <a:avLst/>
          </a:prstGeom>
          <a:solidFill>
            <a:schemeClr val="accent2">
              <a:lumMod val="20000"/>
              <a:lumOff val="80000"/>
            </a:schemeClr>
          </a:solidFill>
          <a:ln>
            <a:solidFill>
              <a:schemeClr val="bg1">
                <a:lumMod val="50000"/>
              </a:schemeClr>
            </a:solidFill>
          </a:ln>
        </p:spPr>
        <p:txBody>
          <a:bodyPr wrap="square" rtlCol="0">
            <a:noAutofit/>
          </a:bodyPr>
          <a:lstStyle/>
          <a:p>
            <a:pPr algn="ctr"/>
            <a:r>
              <a:rPr lang="ko-KR" altLang="en-US" dirty="0"/>
              <a:t>지방법원</a:t>
            </a:r>
          </a:p>
        </p:txBody>
      </p:sp>
      <p:sp>
        <p:nvSpPr>
          <p:cNvPr id="33" name="TextBox 32"/>
          <p:cNvSpPr txBox="1"/>
          <p:nvPr/>
        </p:nvSpPr>
        <p:spPr>
          <a:xfrm>
            <a:off x="6946154" y="4482068"/>
            <a:ext cx="1226618" cy="369332"/>
          </a:xfrm>
          <a:prstGeom prst="rect">
            <a:avLst/>
          </a:prstGeom>
          <a:solidFill>
            <a:schemeClr val="accent2">
              <a:lumMod val="20000"/>
              <a:lumOff val="80000"/>
            </a:schemeClr>
          </a:solidFill>
          <a:ln>
            <a:solidFill>
              <a:schemeClr val="bg1">
                <a:lumMod val="50000"/>
              </a:schemeClr>
            </a:solidFill>
          </a:ln>
        </p:spPr>
        <p:txBody>
          <a:bodyPr wrap="square" rtlCol="0">
            <a:noAutofit/>
          </a:bodyPr>
          <a:lstStyle/>
          <a:p>
            <a:pPr algn="ctr"/>
            <a:r>
              <a:rPr lang="ko-KR" altLang="en-US" dirty="0"/>
              <a:t>특허법원</a:t>
            </a:r>
          </a:p>
        </p:txBody>
      </p:sp>
      <p:sp>
        <p:nvSpPr>
          <p:cNvPr id="34" name="TextBox 33"/>
          <p:cNvSpPr txBox="1"/>
          <p:nvPr/>
        </p:nvSpPr>
        <p:spPr>
          <a:xfrm>
            <a:off x="9841754" y="4482068"/>
            <a:ext cx="1226618" cy="369332"/>
          </a:xfrm>
          <a:prstGeom prst="rect">
            <a:avLst/>
          </a:prstGeom>
          <a:solidFill>
            <a:schemeClr val="accent2">
              <a:lumMod val="20000"/>
              <a:lumOff val="80000"/>
            </a:schemeClr>
          </a:solidFill>
          <a:ln>
            <a:solidFill>
              <a:schemeClr val="bg1">
                <a:lumMod val="50000"/>
              </a:schemeClr>
            </a:solidFill>
          </a:ln>
        </p:spPr>
        <p:txBody>
          <a:bodyPr wrap="square" rtlCol="0">
            <a:noAutofit/>
          </a:bodyPr>
          <a:lstStyle/>
          <a:p>
            <a:pPr algn="ctr"/>
            <a:r>
              <a:rPr lang="ko-KR" altLang="en-US" dirty="0"/>
              <a:t>대법원</a:t>
            </a:r>
          </a:p>
        </p:txBody>
      </p:sp>
      <p:cxnSp>
        <p:nvCxnSpPr>
          <p:cNvPr id="35" name="직선 화살표 연결선 34"/>
          <p:cNvCxnSpPr>
            <a:stCxn id="32" idx="3"/>
            <a:endCxn id="33" idx="1"/>
          </p:cNvCxnSpPr>
          <p:nvPr/>
        </p:nvCxnSpPr>
        <p:spPr>
          <a:xfrm>
            <a:off x="5239072" y="4666734"/>
            <a:ext cx="1707082"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6" name="직선 화살표 연결선 35"/>
          <p:cNvCxnSpPr>
            <a:stCxn id="33" idx="3"/>
            <a:endCxn id="34" idx="1"/>
          </p:cNvCxnSpPr>
          <p:nvPr/>
        </p:nvCxnSpPr>
        <p:spPr>
          <a:xfrm>
            <a:off x="8172772" y="4666734"/>
            <a:ext cx="1668982"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직선 화살표 연결선 36"/>
          <p:cNvCxnSpPr>
            <a:cxnSpLocks/>
          </p:cNvCxnSpPr>
          <p:nvPr/>
        </p:nvCxnSpPr>
        <p:spPr>
          <a:xfrm>
            <a:off x="2625912" y="4666734"/>
            <a:ext cx="1386542"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2790267" y="4311134"/>
            <a:ext cx="1130300" cy="307777"/>
          </a:xfrm>
          <a:prstGeom prst="rect">
            <a:avLst/>
          </a:prstGeom>
          <a:noFill/>
        </p:spPr>
        <p:txBody>
          <a:bodyPr wrap="square" rtlCol="0">
            <a:spAutoFit/>
          </a:bodyPr>
          <a:lstStyle/>
          <a:p>
            <a:pPr algn="ctr"/>
            <a:r>
              <a:rPr lang="ko-KR" altLang="en-US" sz="1400" dirty="0"/>
              <a:t>제소</a:t>
            </a:r>
          </a:p>
        </p:txBody>
      </p:sp>
      <p:sp>
        <p:nvSpPr>
          <p:cNvPr id="39" name="TextBox 38"/>
          <p:cNvSpPr txBox="1"/>
          <p:nvPr/>
        </p:nvSpPr>
        <p:spPr>
          <a:xfrm>
            <a:off x="5340672" y="4311134"/>
            <a:ext cx="1503882" cy="307777"/>
          </a:xfrm>
          <a:prstGeom prst="rect">
            <a:avLst/>
          </a:prstGeom>
          <a:noFill/>
        </p:spPr>
        <p:txBody>
          <a:bodyPr wrap="square" rtlCol="0">
            <a:spAutoFit/>
          </a:bodyPr>
          <a:lstStyle/>
          <a:p>
            <a:pPr algn="ctr"/>
            <a:r>
              <a:rPr lang="ko-KR" altLang="en-US" sz="1400" dirty="0"/>
              <a:t>항소</a:t>
            </a:r>
          </a:p>
        </p:txBody>
      </p:sp>
      <p:sp>
        <p:nvSpPr>
          <p:cNvPr id="40" name="TextBox 39"/>
          <p:cNvSpPr txBox="1"/>
          <p:nvPr/>
        </p:nvSpPr>
        <p:spPr>
          <a:xfrm>
            <a:off x="8337872" y="4311134"/>
            <a:ext cx="1503882" cy="307777"/>
          </a:xfrm>
          <a:prstGeom prst="rect">
            <a:avLst/>
          </a:prstGeom>
          <a:noFill/>
        </p:spPr>
        <p:txBody>
          <a:bodyPr wrap="square" rtlCol="0">
            <a:spAutoFit/>
          </a:bodyPr>
          <a:lstStyle/>
          <a:p>
            <a:pPr algn="ctr"/>
            <a:r>
              <a:rPr lang="ko-KR" altLang="en-US" sz="1400" dirty="0"/>
              <a:t>상고</a:t>
            </a:r>
          </a:p>
        </p:txBody>
      </p:sp>
      <p:cxnSp>
        <p:nvCxnSpPr>
          <p:cNvPr id="42" name="구부러진 연결선 41"/>
          <p:cNvCxnSpPr>
            <a:stCxn id="23" idx="3"/>
            <a:endCxn id="23" idx="1"/>
          </p:cNvCxnSpPr>
          <p:nvPr/>
        </p:nvCxnSpPr>
        <p:spPr>
          <a:xfrm flipH="1">
            <a:off x="4012454" y="3778766"/>
            <a:ext cx="1226618" cy="12700"/>
          </a:xfrm>
          <a:prstGeom prst="curvedConnector5">
            <a:avLst>
              <a:gd name="adj1" fmla="val -8283"/>
              <a:gd name="adj2" fmla="val -3545937"/>
              <a:gd name="adj3" fmla="val 107248"/>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3836790" y="3095823"/>
            <a:ext cx="1503882" cy="307777"/>
          </a:xfrm>
          <a:prstGeom prst="rect">
            <a:avLst/>
          </a:prstGeom>
          <a:noFill/>
        </p:spPr>
        <p:txBody>
          <a:bodyPr wrap="square" rtlCol="0">
            <a:spAutoFit/>
          </a:bodyPr>
          <a:lstStyle/>
          <a:p>
            <a:pPr algn="ctr"/>
            <a:r>
              <a:rPr lang="ko-KR" altLang="en-US" sz="1400" dirty="0"/>
              <a:t>이의신청</a:t>
            </a:r>
            <a:r>
              <a:rPr lang="en-US" altLang="ko-KR" sz="1400" dirty="0"/>
              <a:t>(</a:t>
            </a:r>
            <a:r>
              <a:rPr lang="ko-KR" altLang="en-US" sz="1400" dirty="0"/>
              <a:t>인용</a:t>
            </a:r>
            <a:r>
              <a:rPr lang="en-US" altLang="ko-KR" sz="1400" dirty="0"/>
              <a:t>)</a:t>
            </a:r>
            <a:endParaRPr lang="ko-KR" altLang="en-US" sz="1400" dirty="0"/>
          </a:p>
        </p:txBody>
      </p:sp>
      <p:sp>
        <p:nvSpPr>
          <p:cNvPr id="48" name="TextBox 47"/>
          <p:cNvSpPr txBox="1"/>
          <p:nvPr/>
        </p:nvSpPr>
        <p:spPr>
          <a:xfrm>
            <a:off x="4585127" y="5403850"/>
            <a:ext cx="770486" cy="369332"/>
          </a:xfrm>
          <a:prstGeom prst="rect">
            <a:avLst/>
          </a:prstGeom>
          <a:solidFill>
            <a:schemeClr val="bg2">
              <a:lumMod val="90000"/>
            </a:schemeClr>
          </a:solidFill>
          <a:ln>
            <a:solidFill>
              <a:schemeClr val="bg1">
                <a:lumMod val="50000"/>
              </a:schemeClr>
            </a:solidFill>
          </a:ln>
        </p:spPr>
        <p:txBody>
          <a:bodyPr wrap="square" rtlCol="0">
            <a:noAutofit/>
          </a:bodyPr>
          <a:lstStyle/>
          <a:p>
            <a:pPr algn="ctr"/>
            <a:r>
              <a:rPr lang="ko-KR" altLang="en-US" dirty="0"/>
              <a:t>검찰</a:t>
            </a:r>
          </a:p>
        </p:txBody>
      </p:sp>
      <p:sp>
        <p:nvSpPr>
          <p:cNvPr id="49" name="TextBox 48"/>
          <p:cNvSpPr txBox="1"/>
          <p:nvPr/>
        </p:nvSpPr>
        <p:spPr>
          <a:xfrm>
            <a:off x="5955554" y="5403850"/>
            <a:ext cx="1226618" cy="369332"/>
          </a:xfrm>
          <a:prstGeom prst="rect">
            <a:avLst/>
          </a:prstGeom>
          <a:solidFill>
            <a:schemeClr val="bg2">
              <a:lumMod val="90000"/>
            </a:schemeClr>
          </a:solidFill>
          <a:ln>
            <a:solidFill>
              <a:schemeClr val="bg1">
                <a:lumMod val="50000"/>
              </a:schemeClr>
            </a:solidFill>
          </a:ln>
        </p:spPr>
        <p:txBody>
          <a:bodyPr wrap="square" rtlCol="0">
            <a:noAutofit/>
          </a:bodyPr>
          <a:lstStyle/>
          <a:p>
            <a:pPr algn="ctr"/>
            <a:r>
              <a:rPr lang="ko-KR" altLang="en-US" dirty="0"/>
              <a:t>지방법원</a:t>
            </a:r>
          </a:p>
        </p:txBody>
      </p:sp>
      <p:sp>
        <p:nvSpPr>
          <p:cNvPr id="50" name="TextBox 49"/>
          <p:cNvSpPr txBox="1"/>
          <p:nvPr/>
        </p:nvSpPr>
        <p:spPr>
          <a:xfrm>
            <a:off x="7835154" y="5403850"/>
            <a:ext cx="1226618" cy="369332"/>
          </a:xfrm>
          <a:prstGeom prst="rect">
            <a:avLst/>
          </a:prstGeom>
          <a:solidFill>
            <a:schemeClr val="bg2">
              <a:lumMod val="90000"/>
            </a:schemeClr>
          </a:solidFill>
          <a:ln>
            <a:solidFill>
              <a:schemeClr val="bg1">
                <a:lumMod val="50000"/>
              </a:schemeClr>
            </a:solidFill>
          </a:ln>
        </p:spPr>
        <p:txBody>
          <a:bodyPr wrap="square" rtlCol="0">
            <a:noAutofit/>
          </a:bodyPr>
          <a:lstStyle/>
          <a:p>
            <a:pPr algn="ctr"/>
            <a:r>
              <a:rPr lang="ko-KR" altLang="en-US" dirty="0"/>
              <a:t>고등법원</a:t>
            </a:r>
          </a:p>
        </p:txBody>
      </p:sp>
      <p:cxnSp>
        <p:nvCxnSpPr>
          <p:cNvPr id="51" name="직선 화살표 연결선 50"/>
          <p:cNvCxnSpPr>
            <a:cxnSpLocks/>
            <a:stCxn id="48" idx="3"/>
            <a:endCxn id="49" idx="1"/>
          </p:cNvCxnSpPr>
          <p:nvPr/>
        </p:nvCxnSpPr>
        <p:spPr>
          <a:xfrm>
            <a:off x="5355613" y="5588516"/>
            <a:ext cx="599941"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2" name="직선 화살표 연결선 51"/>
          <p:cNvCxnSpPr>
            <a:stCxn id="49" idx="3"/>
            <a:endCxn id="50" idx="1"/>
          </p:cNvCxnSpPr>
          <p:nvPr/>
        </p:nvCxnSpPr>
        <p:spPr>
          <a:xfrm>
            <a:off x="7182172" y="5588516"/>
            <a:ext cx="652982"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3" name="직선 화살표 연결선 52"/>
          <p:cNvCxnSpPr>
            <a:cxnSpLocks/>
            <a:endCxn id="16" idx="1"/>
          </p:cNvCxnSpPr>
          <p:nvPr/>
        </p:nvCxnSpPr>
        <p:spPr>
          <a:xfrm>
            <a:off x="2424954" y="5588516"/>
            <a:ext cx="809091"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5283899" y="5232916"/>
            <a:ext cx="724696" cy="307777"/>
          </a:xfrm>
          <a:prstGeom prst="rect">
            <a:avLst/>
          </a:prstGeom>
          <a:noFill/>
        </p:spPr>
        <p:txBody>
          <a:bodyPr wrap="square" rtlCol="0">
            <a:spAutoFit/>
          </a:bodyPr>
          <a:lstStyle/>
          <a:p>
            <a:pPr algn="ctr"/>
            <a:r>
              <a:rPr lang="ko-KR" altLang="en-US" sz="1400" dirty="0"/>
              <a:t>기소</a:t>
            </a:r>
          </a:p>
        </p:txBody>
      </p:sp>
      <p:sp>
        <p:nvSpPr>
          <p:cNvPr id="56" name="TextBox 55"/>
          <p:cNvSpPr txBox="1"/>
          <p:nvPr/>
        </p:nvSpPr>
        <p:spPr>
          <a:xfrm>
            <a:off x="8660654" y="5232916"/>
            <a:ext cx="1503882" cy="307777"/>
          </a:xfrm>
          <a:prstGeom prst="rect">
            <a:avLst/>
          </a:prstGeom>
          <a:noFill/>
        </p:spPr>
        <p:txBody>
          <a:bodyPr wrap="square" rtlCol="0">
            <a:spAutoFit/>
          </a:bodyPr>
          <a:lstStyle/>
          <a:p>
            <a:pPr algn="ctr"/>
            <a:r>
              <a:rPr lang="ko-KR" altLang="en-US" sz="1400" dirty="0"/>
              <a:t>상고</a:t>
            </a:r>
          </a:p>
        </p:txBody>
      </p:sp>
      <p:sp>
        <p:nvSpPr>
          <p:cNvPr id="58" name="TextBox 57"/>
          <p:cNvSpPr txBox="1"/>
          <p:nvPr/>
        </p:nvSpPr>
        <p:spPr>
          <a:xfrm>
            <a:off x="9841754" y="5403850"/>
            <a:ext cx="1226618" cy="369332"/>
          </a:xfrm>
          <a:prstGeom prst="rect">
            <a:avLst/>
          </a:prstGeom>
          <a:solidFill>
            <a:schemeClr val="bg2">
              <a:lumMod val="90000"/>
            </a:schemeClr>
          </a:solidFill>
          <a:ln>
            <a:solidFill>
              <a:schemeClr val="bg1">
                <a:lumMod val="50000"/>
              </a:schemeClr>
            </a:solidFill>
          </a:ln>
        </p:spPr>
        <p:txBody>
          <a:bodyPr wrap="square" rtlCol="0">
            <a:noAutofit/>
          </a:bodyPr>
          <a:lstStyle/>
          <a:p>
            <a:pPr algn="ctr"/>
            <a:r>
              <a:rPr lang="ko-KR" altLang="en-US" dirty="0"/>
              <a:t>대법원</a:t>
            </a:r>
          </a:p>
        </p:txBody>
      </p:sp>
      <p:cxnSp>
        <p:nvCxnSpPr>
          <p:cNvPr id="59" name="직선 화살표 연결선 58"/>
          <p:cNvCxnSpPr>
            <a:stCxn id="50" idx="3"/>
            <a:endCxn id="58" idx="1"/>
          </p:cNvCxnSpPr>
          <p:nvPr/>
        </p:nvCxnSpPr>
        <p:spPr>
          <a:xfrm>
            <a:off x="9061772" y="5588516"/>
            <a:ext cx="779982"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TextBox 61"/>
          <p:cNvSpPr txBox="1"/>
          <p:nvPr/>
        </p:nvSpPr>
        <p:spPr>
          <a:xfrm>
            <a:off x="6756722" y="5232916"/>
            <a:ext cx="1503882" cy="307777"/>
          </a:xfrm>
          <a:prstGeom prst="rect">
            <a:avLst/>
          </a:prstGeom>
          <a:noFill/>
        </p:spPr>
        <p:txBody>
          <a:bodyPr wrap="square" rtlCol="0">
            <a:spAutoFit/>
          </a:bodyPr>
          <a:lstStyle/>
          <a:p>
            <a:pPr algn="ctr"/>
            <a:r>
              <a:rPr lang="ko-KR" altLang="en-US" sz="1400" dirty="0"/>
              <a:t>항소</a:t>
            </a:r>
          </a:p>
        </p:txBody>
      </p:sp>
      <p:sp>
        <p:nvSpPr>
          <p:cNvPr id="8" name="슬라이드 번호 개체 틀 7"/>
          <p:cNvSpPr>
            <a:spLocks noGrp="1"/>
          </p:cNvSpPr>
          <p:nvPr>
            <p:ph type="sldNum" sz="quarter" idx="12"/>
          </p:nvPr>
        </p:nvSpPr>
        <p:spPr/>
        <p:txBody>
          <a:bodyPr/>
          <a:lstStyle/>
          <a:p>
            <a:r>
              <a:rPr lang="en-US" altLang="ko-KR"/>
              <a:t>377</a:t>
            </a:r>
            <a:endParaRPr lang="ko-KR" altLang="en-US"/>
          </a:p>
        </p:txBody>
      </p:sp>
      <p:sp>
        <p:nvSpPr>
          <p:cNvPr id="16" name="TextBox 15">
            <a:extLst>
              <a:ext uri="{FF2B5EF4-FFF2-40B4-BE49-F238E27FC236}">
                <a16:creationId xmlns:a16="http://schemas.microsoft.com/office/drawing/2014/main" id="{6C6C064B-0937-FDE7-7A00-F97DFCCF8E12}"/>
              </a:ext>
            </a:extLst>
          </p:cNvPr>
          <p:cNvSpPr txBox="1"/>
          <p:nvPr/>
        </p:nvSpPr>
        <p:spPr>
          <a:xfrm>
            <a:off x="3234045" y="5403850"/>
            <a:ext cx="834491" cy="369332"/>
          </a:xfrm>
          <a:prstGeom prst="rect">
            <a:avLst/>
          </a:prstGeom>
          <a:solidFill>
            <a:schemeClr val="bg2">
              <a:lumMod val="90000"/>
            </a:schemeClr>
          </a:solidFill>
          <a:ln>
            <a:solidFill>
              <a:schemeClr val="bg1">
                <a:lumMod val="50000"/>
              </a:schemeClr>
            </a:solidFill>
          </a:ln>
        </p:spPr>
        <p:txBody>
          <a:bodyPr wrap="square" rtlCol="0">
            <a:noAutofit/>
          </a:bodyPr>
          <a:lstStyle/>
          <a:p>
            <a:pPr algn="ctr"/>
            <a:r>
              <a:rPr lang="ko-KR" altLang="en-US" dirty="0"/>
              <a:t>경찰</a:t>
            </a:r>
          </a:p>
        </p:txBody>
      </p:sp>
      <p:cxnSp>
        <p:nvCxnSpPr>
          <p:cNvPr id="19" name="직선 화살표 연결선 18">
            <a:extLst>
              <a:ext uri="{FF2B5EF4-FFF2-40B4-BE49-F238E27FC236}">
                <a16:creationId xmlns:a16="http://schemas.microsoft.com/office/drawing/2014/main" id="{5093197D-C0E7-E569-407D-621DD86D3FED}"/>
              </a:ext>
            </a:extLst>
          </p:cNvPr>
          <p:cNvCxnSpPr>
            <a:cxnSpLocks/>
            <a:stCxn id="16" idx="3"/>
            <a:endCxn id="48" idx="1"/>
          </p:cNvCxnSpPr>
          <p:nvPr/>
        </p:nvCxnSpPr>
        <p:spPr>
          <a:xfrm>
            <a:off x="4068536" y="5588516"/>
            <a:ext cx="516591"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825A72E6-57FD-B6BE-1B88-C1177573A112}"/>
              </a:ext>
            </a:extLst>
          </p:cNvPr>
          <p:cNvSpPr txBox="1"/>
          <p:nvPr/>
        </p:nvSpPr>
        <p:spPr>
          <a:xfrm>
            <a:off x="3985186" y="5232916"/>
            <a:ext cx="724696" cy="307777"/>
          </a:xfrm>
          <a:prstGeom prst="rect">
            <a:avLst/>
          </a:prstGeom>
          <a:noFill/>
        </p:spPr>
        <p:txBody>
          <a:bodyPr wrap="square" rtlCol="0">
            <a:spAutoFit/>
          </a:bodyPr>
          <a:lstStyle/>
          <a:p>
            <a:pPr algn="ctr"/>
            <a:r>
              <a:rPr lang="ko-KR" altLang="en-US" sz="1400" dirty="0"/>
              <a:t>송치</a:t>
            </a:r>
          </a:p>
        </p:txBody>
      </p:sp>
      <p:sp>
        <p:nvSpPr>
          <p:cNvPr id="45" name="TextBox 44">
            <a:extLst>
              <a:ext uri="{FF2B5EF4-FFF2-40B4-BE49-F238E27FC236}">
                <a16:creationId xmlns:a16="http://schemas.microsoft.com/office/drawing/2014/main" id="{CCAFAD5C-65B5-7C26-026D-4F4C0B639D0A}"/>
              </a:ext>
            </a:extLst>
          </p:cNvPr>
          <p:cNvSpPr txBox="1"/>
          <p:nvPr/>
        </p:nvSpPr>
        <p:spPr>
          <a:xfrm>
            <a:off x="3107936" y="5790227"/>
            <a:ext cx="1070364" cy="307777"/>
          </a:xfrm>
          <a:prstGeom prst="rect">
            <a:avLst/>
          </a:prstGeom>
          <a:noFill/>
        </p:spPr>
        <p:txBody>
          <a:bodyPr wrap="square" rtlCol="0">
            <a:spAutoFit/>
          </a:bodyPr>
          <a:lstStyle/>
          <a:p>
            <a:pPr algn="ctr"/>
            <a:r>
              <a:rPr lang="en-US" altLang="ko-KR" sz="1400"/>
              <a:t>(</a:t>
            </a:r>
            <a:r>
              <a:rPr lang="ko-KR" altLang="en-US" sz="1400" dirty="0" err="1"/>
              <a:t>특사경</a:t>
            </a:r>
            <a:r>
              <a:rPr lang="ko-KR" altLang="en-US" sz="1400" dirty="0"/>
              <a:t>*</a:t>
            </a:r>
            <a:r>
              <a:rPr lang="en-US" altLang="ko-KR" sz="1400" dirty="0"/>
              <a:t>)</a:t>
            </a:r>
            <a:endParaRPr lang="ko-KR" altLang="en-US" sz="1400" dirty="0"/>
          </a:p>
        </p:txBody>
      </p:sp>
      <p:sp>
        <p:nvSpPr>
          <p:cNvPr id="61" name="TextBox 60">
            <a:extLst>
              <a:ext uri="{FF2B5EF4-FFF2-40B4-BE49-F238E27FC236}">
                <a16:creationId xmlns:a16="http://schemas.microsoft.com/office/drawing/2014/main" id="{22C4533C-47E8-28EC-BB46-7E35A2B78BC7}"/>
              </a:ext>
            </a:extLst>
          </p:cNvPr>
          <p:cNvSpPr txBox="1"/>
          <p:nvPr/>
        </p:nvSpPr>
        <p:spPr>
          <a:xfrm>
            <a:off x="2358292" y="5232916"/>
            <a:ext cx="913144" cy="307777"/>
          </a:xfrm>
          <a:prstGeom prst="rect">
            <a:avLst/>
          </a:prstGeom>
          <a:noFill/>
        </p:spPr>
        <p:txBody>
          <a:bodyPr wrap="square" rtlCol="0">
            <a:spAutoFit/>
          </a:bodyPr>
          <a:lstStyle/>
          <a:p>
            <a:pPr algn="ctr"/>
            <a:r>
              <a:rPr lang="ko-KR" altLang="en-US" sz="1400"/>
              <a:t>고소</a:t>
            </a:r>
            <a:r>
              <a:rPr lang="en-US" altLang="ko-KR" sz="1400" dirty="0"/>
              <a:t>/</a:t>
            </a:r>
            <a:r>
              <a:rPr lang="ko-KR" altLang="en-US" sz="1400" dirty="0"/>
              <a:t>고발</a:t>
            </a:r>
          </a:p>
        </p:txBody>
      </p:sp>
      <p:sp>
        <p:nvSpPr>
          <p:cNvPr id="69" name="말풍선: 모서리가 둥근 사각형 68">
            <a:extLst>
              <a:ext uri="{FF2B5EF4-FFF2-40B4-BE49-F238E27FC236}">
                <a16:creationId xmlns:a16="http://schemas.microsoft.com/office/drawing/2014/main" id="{B9613770-7274-9648-56FF-6AA6CB07FE50}"/>
              </a:ext>
            </a:extLst>
          </p:cNvPr>
          <p:cNvSpPr/>
          <p:nvPr/>
        </p:nvSpPr>
        <p:spPr>
          <a:xfrm>
            <a:off x="5479304" y="5970034"/>
            <a:ext cx="1226618" cy="307774"/>
          </a:xfrm>
          <a:prstGeom prst="wedgeRoundRectCallout">
            <a:avLst>
              <a:gd name="adj1" fmla="val -37870"/>
              <a:gd name="adj2" fmla="val -193822"/>
              <a:gd name="adj3" fmla="val 16667"/>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반의사불벌죄</a:t>
            </a:r>
            <a:endParaRPr lang="ko-KR" altLang="en-US" sz="1400" dirty="0">
              <a:solidFill>
                <a:schemeClr val="tx1"/>
              </a:solidFill>
            </a:endParaRPr>
          </a:p>
        </p:txBody>
      </p:sp>
      <p:sp>
        <p:nvSpPr>
          <p:cNvPr id="17" name="TextBox 16">
            <a:extLst>
              <a:ext uri="{FF2B5EF4-FFF2-40B4-BE49-F238E27FC236}">
                <a16:creationId xmlns:a16="http://schemas.microsoft.com/office/drawing/2014/main" id="{882A6643-AFAE-1BA9-4FEC-F550977DFB44}"/>
              </a:ext>
            </a:extLst>
          </p:cNvPr>
          <p:cNvSpPr txBox="1"/>
          <p:nvPr/>
        </p:nvSpPr>
        <p:spPr>
          <a:xfrm>
            <a:off x="250547" y="6262924"/>
            <a:ext cx="11690906" cy="554447"/>
          </a:xfrm>
          <a:prstGeom prst="rect">
            <a:avLst/>
          </a:prstGeom>
          <a:noFill/>
        </p:spPr>
        <p:txBody>
          <a:bodyPr wrap="square">
            <a:spAutoFit/>
          </a:bodyPr>
          <a:lstStyle/>
          <a:p>
            <a:pPr marL="74930" marR="0" indent="-74930" algn="just" fontAlgn="base" latinLnBrk="1">
              <a:lnSpc>
                <a:spcPct val="130000"/>
              </a:lnSpc>
              <a:spcBef>
                <a:spcPts val="0"/>
              </a:spcBef>
              <a:spcAft>
                <a:spcPts val="0"/>
              </a:spcAft>
            </a:pPr>
            <a:r>
              <a:rPr lang="ko-KR" altLang="en-US" sz="1200" kern="0" spc="-130" dirty="0">
                <a:effectLst/>
                <a:latin typeface="+mn-ea"/>
              </a:rPr>
              <a:t>* </a:t>
            </a:r>
            <a:r>
              <a:rPr lang="ko-KR" altLang="en-US" sz="1200" kern="0" spc="-130" dirty="0" err="1">
                <a:effectLst/>
                <a:latin typeface="+mn-ea"/>
              </a:rPr>
              <a:t>특사경</a:t>
            </a:r>
            <a:r>
              <a:rPr lang="en-US" altLang="ko-KR" sz="1200" kern="0" spc="-130" dirty="0">
                <a:effectLst/>
                <a:latin typeface="+mn-ea"/>
              </a:rPr>
              <a:t>(</a:t>
            </a:r>
            <a:r>
              <a:rPr lang="ko-KR" altLang="en-US" sz="1200" kern="0" spc="-130" dirty="0">
                <a:effectLst/>
                <a:latin typeface="+mn-ea"/>
              </a:rPr>
              <a:t>특별사법경찰</a:t>
            </a:r>
            <a:r>
              <a:rPr lang="en-US" altLang="ko-KR" sz="1200" kern="0" spc="-130" dirty="0">
                <a:effectLst/>
                <a:latin typeface="+mn-ea"/>
              </a:rPr>
              <a:t>)</a:t>
            </a:r>
            <a:r>
              <a:rPr lang="ko-KR" altLang="en-US" sz="1200" kern="0" spc="-130" dirty="0">
                <a:effectLst/>
                <a:latin typeface="+mn-ea"/>
              </a:rPr>
              <a:t>이란 전문성이 필요한 분야나 접근이 제한된 공간에서 발생하는 범죄 등 일반 경찰의 접근이 어려운 범죄</a:t>
            </a:r>
            <a:r>
              <a:rPr lang="en-US" altLang="ko-KR" sz="1200" kern="0" spc="-130" dirty="0">
                <a:effectLst/>
                <a:latin typeface="+mn-ea"/>
              </a:rPr>
              <a:t>, </a:t>
            </a:r>
            <a:r>
              <a:rPr lang="ko-KR" altLang="en-US" sz="1200" kern="0" spc="-130" dirty="0">
                <a:effectLst/>
                <a:latin typeface="+mn-ea"/>
              </a:rPr>
              <a:t>행정기관이 더 효율적으로 처리할 수 있는 범죄에 대해 행정공무원이 경찰의 권한을 </a:t>
            </a:r>
            <a:r>
              <a:rPr lang="ko-KR" altLang="en-US" sz="1200" kern="0" spc="-130" dirty="0" err="1">
                <a:effectLst/>
                <a:latin typeface="+mn-ea"/>
              </a:rPr>
              <a:t>부여받아</a:t>
            </a:r>
            <a:r>
              <a:rPr lang="ko-KR" altLang="en-US" sz="1200" kern="0" spc="-130" dirty="0">
                <a:effectLst/>
                <a:latin typeface="+mn-ea"/>
              </a:rPr>
              <a:t> 행사하는 제도를 말한다</a:t>
            </a:r>
            <a:r>
              <a:rPr lang="en-US" altLang="ko-KR" sz="1200" kern="0" spc="-130" dirty="0">
                <a:effectLst/>
                <a:latin typeface="+mn-ea"/>
              </a:rPr>
              <a:t>. </a:t>
            </a:r>
            <a:endParaRPr lang="ko-KR" altLang="en-US" sz="1200" kern="0" spc="-130" dirty="0">
              <a:effectLst/>
              <a:latin typeface="+mn-ea"/>
            </a:endParaRPr>
          </a:p>
        </p:txBody>
      </p:sp>
    </p:spTree>
    <p:extLst>
      <p:ext uri="{BB962C8B-B14F-4D97-AF65-F5344CB8AC3E}">
        <p14:creationId xmlns:p14="http://schemas.microsoft.com/office/powerpoint/2010/main" val="1934605719"/>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양쪽 모서리가 둥근 사각형 5"/>
          <p:cNvSpPr/>
          <p:nvPr/>
        </p:nvSpPr>
        <p:spPr>
          <a:xfrm>
            <a:off x="3479800" y="4997103"/>
            <a:ext cx="7023100" cy="337456"/>
          </a:xfrm>
          <a:prstGeom prst="round2SameRect">
            <a:avLst>
              <a:gd name="adj1" fmla="val 0"/>
              <a:gd name="adj2" fmla="val 50000"/>
            </a:avLst>
          </a:prstGeom>
          <a:pattFill prst="smConfetti">
            <a:fgClr>
              <a:schemeClr val="accent2"/>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양쪽 모서리가 둥근 사각형 3"/>
          <p:cNvSpPr/>
          <p:nvPr/>
        </p:nvSpPr>
        <p:spPr>
          <a:xfrm>
            <a:off x="1893229" y="4566387"/>
            <a:ext cx="4207534" cy="422814"/>
          </a:xfrm>
          <a:prstGeom prst="round2SameRect">
            <a:avLst>
              <a:gd name="adj1" fmla="val 50000"/>
              <a:gd name="adj2" fmla="val 0"/>
            </a:avLst>
          </a:prstGeom>
          <a:pattFill prst="lg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126</a:t>
            </a:r>
            <a:r>
              <a:rPr lang="ko-KR" altLang="en-US" dirty="0"/>
              <a:t>조</a:t>
            </a:r>
          </a:p>
        </p:txBody>
      </p:sp>
      <p:sp>
        <p:nvSpPr>
          <p:cNvPr id="5" name="텍스트 개체 틀 4"/>
          <p:cNvSpPr>
            <a:spLocks noGrp="1"/>
          </p:cNvSpPr>
          <p:nvPr>
            <p:ph type="body" sz="quarter" idx="13"/>
          </p:nvPr>
        </p:nvSpPr>
        <p:spPr/>
        <p:txBody>
          <a:bodyPr/>
          <a:lstStyle/>
          <a:p>
            <a:r>
              <a:rPr lang="ko-KR" altLang="en-US" dirty="0"/>
              <a:t>침해금지청구권의 행사</a:t>
            </a:r>
          </a:p>
        </p:txBody>
      </p:sp>
      <p:sp>
        <p:nvSpPr>
          <p:cNvPr id="53" name="Line 5"/>
          <p:cNvSpPr>
            <a:spLocks noChangeShapeType="1"/>
          </p:cNvSpPr>
          <p:nvPr/>
        </p:nvSpPr>
        <p:spPr bwMode="auto">
          <a:xfrm>
            <a:off x="790576" y="4989201"/>
            <a:ext cx="10620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56" name="TextBox 55"/>
          <p:cNvSpPr txBox="1"/>
          <p:nvPr/>
        </p:nvSpPr>
        <p:spPr>
          <a:xfrm>
            <a:off x="1182958" y="4833823"/>
            <a:ext cx="1420542" cy="326558"/>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甲  </a:t>
            </a:r>
            <a:r>
              <a:rPr lang="ko-KR" altLang="en-US" sz="1400" dirty="0" err="1">
                <a:solidFill>
                  <a:schemeClr val="tx1"/>
                </a:solidFill>
                <a:latin typeface="+mn-ea"/>
              </a:rPr>
              <a:t>설정등록</a:t>
            </a:r>
            <a:endParaRPr lang="en-US" altLang="ko-KR" sz="1400" dirty="0">
              <a:solidFill>
                <a:schemeClr val="tx1"/>
              </a:solidFill>
              <a:latin typeface="+mn-ea"/>
            </a:endParaRPr>
          </a:p>
        </p:txBody>
      </p:sp>
      <p:sp>
        <p:nvSpPr>
          <p:cNvPr id="59" name="TextBox 58"/>
          <p:cNvSpPr txBox="1"/>
          <p:nvPr/>
        </p:nvSpPr>
        <p:spPr>
          <a:xfrm>
            <a:off x="5390492" y="4833823"/>
            <a:ext cx="1420542" cy="326558"/>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존속기간 만료</a:t>
            </a:r>
            <a:endParaRPr lang="en-US" altLang="ko-KR" sz="1400" dirty="0">
              <a:solidFill>
                <a:schemeClr val="tx1"/>
              </a:solidFill>
              <a:latin typeface="+mn-ea"/>
            </a:endParaRPr>
          </a:p>
        </p:txBody>
      </p:sp>
      <p:sp>
        <p:nvSpPr>
          <p:cNvPr id="78" name="TextBox 77"/>
          <p:cNvSpPr txBox="1"/>
          <p:nvPr/>
        </p:nvSpPr>
        <p:spPr>
          <a:xfrm>
            <a:off x="3100658" y="4199915"/>
            <a:ext cx="1420542" cy="32655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존속</a:t>
            </a:r>
            <a:r>
              <a:rPr lang="en-US" altLang="ko-KR" sz="1400" dirty="0">
                <a:solidFill>
                  <a:schemeClr val="tx1"/>
                </a:solidFill>
                <a:latin typeface="+mn-ea"/>
              </a:rPr>
              <a:t> </a:t>
            </a:r>
            <a:r>
              <a:rPr lang="ko-KR" altLang="en-US" sz="1400" dirty="0">
                <a:solidFill>
                  <a:schemeClr val="tx1"/>
                </a:solidFill>
                <a:latin typeface="+mn-ea"/>
              </a:rPr>
              <a:t>中</a:t>
            </a:r>
            <a:endParaRPr lang="en-US" altLang="ko-KR" sz="1400" dirty="0">
              <a:solidFill>
                <a:schemeClr val="tx1"/>
              </a:solidFill>
              <a:latin typeface="+mn-ea"/>
            </a:endParaRPr>
          </a:p>
        </p:txBody>
      </p:sp>
      <p:sp>
        <p:nvSpPr>
          <p:cNvPr id="79" name="TextBox 78"/>
          <p:cNvSpPr txBox="1"/>
          <p:nvPr/>
        </p:nvSpPr>
        <p:spPr>
          <a:xfrm>
            <a:off x="6451600" y="5354871"/>
            <a:ext cx="1420542" cy="32655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乙 </a:t>
            </a:r>
            <a:r>
              <a:rPr lang="en-US" altLang="ko-KR" sz="1400" dirty="0">
                <a:solidFill>
                  <a:schemeClr val="tx1"/>
                </a:solidFill>
                <a:latin typeface="+mn-ea"/>
              </a:rPr>
              <a:t>A </a:t>
            </a:r>
            <a:r>
              <a:rPr lang="ko-KR" altLang="en-US" sz="1400" dirty="0">
                <a:solidFill>
                  <a:schemeClr val="tx1"/>
                </a:solidFill>
                <a:latin typeface="+mn-ea"/>
              </a:rPr>
              <a:t>실시</a:t>
            </a:r>
            <a:endParaRPr lang="en-US" altLang="ko-KR" sz="1400" dirty="0">
              <a:solidFill>
                <a:schemeClr val="tx1"/>
              </a:solidFill>
              <a:latin typeface="+mn-ea"/>
            </a:endParaRPr>
          </a:p>
        </p:txBody>
      </p:sp>
      <p:grpSp>
        <p:nvGrpSpPr>
          <p:cNvPr id="10" name="그룹 9"/>
          <p:cNvGrpSpPr/>
          <p:nvPr/>
        </p:nvGrpSpPr>
        <p:grpSpPr>
          <a:xfrm>
            <a:off x="3479800" y="4997103"/>
            <a:ext cx="7027863" cy="1554054"/>
            <a:chOff x="3479800" y="3608621"/>
            <a:chExt cx="7027863" cy="2919179"/>
          </a:xfrm>
        </p:grpSpPr>
        <p:cxnSp>
          <p:nvCxnSpPr>
            <p:cNvPr id="80" name="직선 연결선 79"/>
            <p:cNvCxnSpPr/>
            <p:nvPr/>
          </p:nvCxnSpPr>
          <p:spPr>
            <a:xfrm>
              <a:off x="6075363" y="3608621"/>
              <a:ext cx="0" cy="2919179"/>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 name="그룹 8"/>
            <p:cNvGrpSpPr/>
            <p:nvPr/>
          </p:nvGrpSpPr>
          <p:grpSpPr>
            <a:xfrm>
              <a:off x="3479800" y="3608621"/>
              <a:ext cx="7027863" cy="2919179"/>
              <a:chOff x="3479800" y="3608621"/>
              <a:chExt cx="7027863" cy="2919179"/>
            </a:xfrm>
          </p:grpSpPr>
          <p:cxnSp>
            <p:nvCxnSpPr>
              <p:cNvPr id="8" name="직선 연결선 7"/>
              <p:cNvCxnSpPr/>
              <p:nvPr/>
            </p:nvCxnSpPr>
            <p:spPr>
              <a:xfrm>
                <a:off x="3479800" y="3608621"/>
                <a:ext cx="0" cy="2919179"/>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직선 연결선 80"/>
              <p:cNvCxnSpPr/>
              <p:nvPr/>
            </p:nvCxnSpPr>
            <p:spPr>
              <a:xfrm>
                <a:off x="10507663" y="3608621"/>
                <a:ext cx="0" cy="2919179"/>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cxnSp>
        <p:nvCxnSpPr>
          <p:cNvPr id="12" name="직선 화살표 연결선 11"/>
          <p:cNvCxnSpPr/>
          <p:nvPr/>
        </p:nvCxnSpPr>
        <p:spPr>
          <a:xfrm>
            <a:off x="3479800" y="6030148"/>
            <a:ext cx="2595563" cy="0"/>
          </a:xfrm>
          <a:prstGeom prst="straightConnector1">
            <a:avLst/>
          </a:prstGeom>
          <a:ln w="381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2" name="직선 화살표 연결선 81"/>
          <p:cNvCxnSpPr/>
          <p:nvPr/>
        </p:nvCxnSpPr>
        <p:spPr>
          <a:xfrm>
            <a:off x="6075363" y="6030148"/>
            <a:ext cx="4427537" cy="0"/>
          </a:xfrm>
          <a:prstGeom prst="straightConnector1">
            <a:avLst/>
          </a:prstGeom>
          <a:ln w="381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3" name="TextBox 82"/>
          <p:cNvSpPr txBox="1"/>
          <p:nvPr/>
        </p:nvSpPr>
        <p:spPr>
          <a:xfrm>
            <a:off x="4067310" y="6119048"/>
            <a:ext cx="1420542" cy="32655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침해</a:t>
            </a:r>
            <a:endParaRPr lang="en-US" altLang="ko-KR" sz="1400" dirty="0">
              <a:solidFill>
                <a:schemeClr val="tx1"/>
              </a:solidFill>
              <a:latin typeface="+mn-ea"/>
            </a:endParaRPr>
          </a:p>
        </p:txBody>
      </p:sp>
      <p:sp>
        <p:nvSpPr>
          <p:cNvPr id="86" name="TextBox 85"/>
          <p:cNvSpPr txBox="1"/>
          <p:nvPr/>
        </p:nvSpPr>
        <p:spPr>
          <a:xfrm>
            <a:off x="7578860" y="6119048"/>
            <a:ext cx="1420542" cy="32655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비침해</a:t>
            </a:r>
            <a:endParaRPr lang="en-US" altLang="ko-KR" sz="1400" dirty="0">
              <a:solidFill>
                <a:schemeClr val="tx1"/>
              </a:solidFill>
              <a:latin typeface="+mn-ea"/>
            </a:endParaRPr>
          </a:p>
        </p:txBody>
      </p:sp>
      <p:sp>
        <p:nvSpPr>
          <p:cNvPr id="88" name="TextBox 87"/>
          <p:cNvSpPr txBox="1"/>
          <p:nvPr/>
        </p:nvSpPr>
        <p:spPr>
          <a:xfrm>
            <a:off x="8197192" y="3884582"/>
            <a:ext cx="1759608" cy="326558"/>
          </a:xfrm>
          <a:prstGeom prst="rect">
            <a:avLst/>
          </a:prstGeom>
          <a:solidFill>
            <a:schemeClr val="accent2"/>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a:solidFill>
                  <a:schemeClr val="tx1"/>
                </a:solidFill>
                <a:latin typeface="+mn-ea"/>
              </a:rPr>
              <a:t>민사법원 </a:t>
            </a:r>
            <a:r>
              <a:rPr lang="ko-KR" altLang="en-US" sz="1400" dirty="0">
                <a:solidFill>
                  <a:schemeClr val="tx1"/>
                </a:solidFill>
                <a:latin typeface="+mn-ea"/>
              </a:rPr>
              <a:t>소송제기</a:t>
            </a:r>
            <a:endParaRPr lang="en-US" altLang="ko-KR" sz="1400" dirty="0">
              <a:solidFill>
                <a:schemeClr val="tx1"/>
              </a:solidFill>
              <a:latin typeface="+mn-ea"/>
            </a:endParaRPr>
          </a:p>
        </p:txBody>
      </p:sp>
      <p:cxnSp>
        <p:nvCxnSpPr>
          <p:cNvPr id="16" name="직선 화살표 연결선 15"/>
          <p:cNvCxnSpPr>
            <a:cxnSpLocks/>
            <a:endCxn id="93" idx="2"/>
          </p:cNvCxnSpPr>
          <p:nvPr/>
        </p:nvCxnSpPr>
        <p:spPr>
          <a:xfrm flipV="1">
            <a:off x="5831502" y="3013837"/>
            <a:ext cx="1747358" cy="2748879"/>
          </a:xfrm>
          <a:prstGeom prst="straightConnector1">
            <a:avLst/>
          </a:prstGeom>
          <a:ln w="28575">
            <a:solidFill>
              <a:srgbClr val="FF0000"/>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9" name="모서리가 둥근 직사각형 88"/>
          <p:cNvSpPr/>
          <p:nvPr/>
        </p:nvSpPr>
        <p:spPr>
          <a:xfrm>
            <a:off x="7769360" y="1822466"/>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침해금지예방청구</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126)</a:t>
            </a:r>
            <a:endParaRPr lang="ko-KR" altLang="en-US" sz="1400" dirty="0">
              <a:solidFill>
                <a:schemeClr val="tx1">
                  <a:lumMod val="50000"/>
                  <a:lumOff val="50000"/>
                </a:schemeClr>
              </a:solidFill>
            </a:endParaRPr>
          </a:p>
        </p:txBody>
      </p:sp>
      <p:sp>
        <p:nvSpPr>
          <p:cNvPr id="90" name="모서리가 둥근 직사각형 89"/>
          <p:cNvSpPr/>
          <p:nvPr/>
        </p:nvSpPr>
        <p:spPr>
          <a:xfrm>
            <a:off x="7769360" y="2428293"/>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손해배상청구</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128)</a:t>
            </a:r>
            <a:endParaRPr lang="ko-KR" altLang="en-US" sz="1400" dirty="0">
              <a:solidFill>
                <a:schemeClr val="tx1">
                  <a:lumMod val="50000"/>
                  <a:lumOff val="50000"/>
                </a:schemeClr>
              </a:solidFill>
            </a:endParaRPr>
          </a:p>
        </p:txBody>
      </p:sp>
      <p:sp>
        <p:nvSpPr>
          <p:cNvPr id="91" name="모서리가 둥근 직사각형 90"/>
          <p:cNvSpPr/>
          <p:nvPr/>
        </p:nvSpPr>
        <p:spPr>
          <a:xfrm>
            <a:off x="7769360" y="2890804"/>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신용회복청구</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131)</a:t>
            </a:r>
            <a:endParaRPr lang="ko-KR" altLang="en-US" sz="1400" dirty="0">
              <a:solidFill>
                <a:schemeClr val="tx1">
                  <a:lumMod val="50000"/>
                  <a:lumOff val="50000"/>
                </a:schemeClr>
              </a:solidFill>
            </a:endParaRPr>
          </a:p>
        </p:txBody>
      </p:sp>
      <p:sp>
        <p:nvSpPr>
          <p:cNvPr id="92" name="모서리가 둥근 직사각형 91"/>
          <p:cNvSpPr/>
          <p:nvPr/>
        </p:nvSpPr>
        <p:spPr>
          <a:xfrm>
            <a:off x="7769360" y="3394564"/>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부당이득반환청구</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民法 </a:t>
            </a:r>
            <a:r>
              <a:rPr lang="en-US" altLang="ko-KR" sz="1400" dirty="0">
                <a:solidFill>
                  <a:schemeClr val="tx1">
                    <a:lumMod val="50000"/>
                    <a:lumOff val="50000"/>
                  </a:schemeClr>
                </a:solidFill>
              </a:rPr>
              <a:t>741)</a:t>
            </a:r>
            <a:endParaRPr lang="ko-KR" altLang="en-US" sz="1400" dirty="0">
              <a:solidFill>
                <a:schemeClr val="tx1">
                  <a:lumMod val="50000"/>
                  <a:lumOff val="50000"/>
                </a:schemeClr>
              </a:solidFill>
            </a:endParaRPr>
          </a:p>
        </p:txBody>
      </p:sp>
      <p:cxnSp>
        <p:nvCxnSpPr>
          <p:cNvPr id="18" name="직선 화살표 연결선 17"/>
          <p:cNvCxnSpPr>
            <a:cxnSpLocks/>
            <a:stCxn id="88" idx="2"/>
          </p:cNvCxnSpPr>
          <p:nvPr/>
        </p:nvCxnSpPr>
        <p:spPr>
          <a:xfrm>
            <a:off x="9076996" y="4211140"/>
            <a:ext cx="0" cy="729538"/>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 name="도넛 18"/>
          <p:cNvSpPr/>
          <p:nvPr/>
        </p:nvSpPr>
        <p:spPr>
          <a:xfrm>
            <a:off x="7578860" y="2271297"/>
            <a:ext cx="460240" cy="463012"/>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93" name="도넛 92"/>
          <p:cNvSpPr/>
          <p:nvPr/>
        </p:nvSpPr>
        <p:spPr>
          <a:xfrm>
            <a:off x="7578860" y="2782331"/>
            <a:ext cx="460240" cy="463012"/>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94" name="도넛 93"/>
          <p:cNvSpPr/>
          <p:nvPr/>
        </p:nvSpPr>
        <p:spPr>
          <a:xfrm>
            <a:off x="7578860" y="3279908"/>
            <a:ext cx="460240" cy="463012"/>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20" name="곱셈 기호 19"/>
          <p:cNvSpPr/>
          <p:nvPr/>
        </p:nvSpPr>
        <p:spPr>
          <a:xfrm>
            <a:off x="7410585" y="1543210"/>
            <a:ext cx="717550" cy="793675"/>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5" name="직선 연결선 94"/>
          <p:cNvCxnSpPr/>
          <p:nvPr/>
        </p:nvCxnSpPr>
        <p:spPr>
          <a:xfrm>
            <a:off x="-36242" y="150519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TextBox 95"/>
          <p:cNvSpPr txBox="1"/>
          <p:nvPr/>
        </p:nvSpPr>
        <p:spPr>
          <a:xfrm>
            <a:off x="77875" y="986046"/>
            <a:ext cx="11936323" cy="523220"/>
          </a:xfrm>
          <a:prstGeom prst="rect">
            <a:avLst/>
          </a:prstGeom>
          <a:noFill/>
        </p:spPr>
        <p:txBody>
          <a:bodyPr wrap="square" rtlCol="0">
            <a:spAutoFit/>
          </a:bodyPr>
          <a:lstStyle/>
          <a:p>
            <a:pPr fontAlgn="base"/>
            <a:r>
              <a:rPr lang="ko-KR" altLang="en-US" sz="1400" dirty="0">
                <a:solidFill>
                  <a:schemeClr val="tx2"/>
                </a:solidFill>
              </a:rPr>
              <a:t>침해금지 및 예방청구권은 현재 또는 장래의 침해에 대하여 행사하는 점에서</a:t>
            </a:r>
            <a:r>
              <a:rPr lang="en-US" altLang="ko-KR" sz="1400" dirty="0">
                <a:solidFill>
                  <a:schemeClr val="tx2"/>
                </a:solidFill>
              </a:rPr>
              <a:t>, </a:t>
            </a:r>
            <a:r>
              <a:rPr lang="ko-KR" altLang="en-US" sz="1400" dirty="0">
                <a:solidFill>
                  <a:schemeClr val="tx2"/>
                </a:solidFill>
              </a:rPr>
              <a:t>과거의 침해에 대하여 행사하는 손해배상</a:t>
            </a:r>
            <a:r>
              <a:rPr lang="en-US" altLang="ko-KR" sz="1400" dirty="0">
                <a:solidFill>
                  <a:schemeClr val="tx2"/>
                </a:solidFill>
              </a:rPr>
              <a:t>, </a:t>
            </a:r>
            <a:r>
              <a:rPr lang="ko-KR" altLang="en-US" sz="1400" dirty="0">
                <a:solidFill>
                  <a:schemeClr val="tx2"/>
                </a:solidFill>
              </a:rPr>
              <a:t>부당이득반환 등의 청구권과 다르고 특허권 침해에 대한 구제수단으로서 가장 유효하고 직접적인 것이다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accent3">
                    <a:lumMod val="50000"/>
                  </a:schemeClr>
                </a:solidFill>
                <a:highlight>
                  <a:srgbClr val="FFFF00"/>
                </a:highlight>
              </a:rPr>
              <a:t>특허권의 존속기간이 만료된 후에는 침해금지청구권을 행사할 수 없다</a:t>
            </a:r>
            <a:r>
              <a:rPr lang="en-US" altLang="ko-KR" sz="1400" dirty="0">
                <a:solidFill>
                  <a:schemeClr val="accent3">
                    <a:lumMod val="50000"/>
                  </a:schemeClr>
                </a:solidFill>
                <a:highlight>
                  <a:srgbClr val="FFFF00"/>
                </a:highlight>
              </a:rPr>
              <a:t>.</a:t>
            </a:r>
            <a:endParaRPr lang="ko-KR" altLang="en-US" sz="1400" dirty="0">
              <a:solidFill>
                <a:schemeClr val="accent3">
                  <a:lumMod val="50000"/>
                </a:schemeClr>
              </a:solidFill>
              <a:highlight>
                <a:srgbClr val="FFFF00"/>
              </a:highlight>
            </a:endParaRPr>
          </a:p>
        </p:txBody>
      </p:sp>
      <p:sp>
        <p:nvSpPr>
          <p:cNvPr id="2" name="슬라이드 번호 개체 틀 1"/>
          <p:cNvSpPr>
            <a:spLocks noGrp="1"/>
          </p:cNvSpPr>
          <p:nvPr>
            <p:ph type="sldNum" sz="quarter" idx="12"/>
          </p:nvPr>
        </p:nvSpPr>
        <p:spPr/>
        <p:txBody>
          <a:bodyPr/>
          <a:lstStyle/>
          <a:p>
            <a:r>
              <a:rPr lang="en-US" altLang="ko-KR"/>
              <a:t>378</a:t>
            </a:r>
            <a:endParaRPr lang="ko-KR" altLang="en-US"/>
          </a:p>
        </p:txBody>
      </p:sp>
      <p:sp>
        <p:nvSpPr>
          <p:cNvPr id="41" name="TextBox 40">
            <a:extLst>
              <a:ext uri="{FF2B5EF4-FFF2-40B4-BE49-F238E27FC236}">
                <a16:creationId xmlns:a16="http://schemas.microsoft.com/office/drawing/2014/main" id="{F0B4A6D3-9DA6-4220-8C36-7F907CB0F0BC}"/>
              </a:ext>
            </a:extLst>
          </p:cNvPr>
          <p:cNvSpPr txBox="1"/>
          <p:nvPr/>
        </p:nvSpPr>
        <p:spPr>
          <a:xfrm>
            <a:off x="3885257" y="3884582"/>
            <a:ext cx="1759608" cy="326558"/>
          </a:xfrm>
          <a:prstGeom prst="rect">
            <a:avLst/>
          </a:prstGeom>
          <a:solidFill>
            <a:schemeClr val="tx2">
              <a:lumMod val="60000"/>
              <a:lumOff val="4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bg1"/>
                </a:solidFill>
                <a:latin typeface="+mn-ea"/>
              </a:rPr>
              <a:t>민사법원 소송제기</a:t>
            </a:r>
            <a:endParaRPr lang="en-US" altLang="ko-KR" sz="1400" dirty="0">
              <a:solidFill>
                <a:schemeClr val="bg1"/>
              </a:solidFill>
              <a:latin typeface="+mn-ea"/>
            </a:endParaRPr>
          </a:p>
        </p:txBody>
      </p:sp>
      <p:sp>
        <p:nvSpPr>
          <p:cNvPr id="42" name="모서리가 둥근 직사각형 88">
            <a:extLst>
              <a:ext uri="{FF2B5EF4-FFF2-40B4-BE49-F238E27FC236}">
                <a16:creationId xmlns:a16="http://schemas.microsoft.com/office/drawing/2014/main" id="{7D615C02-67F4-4C61-B896-25980B672AF7}"/>
              </a:ext>
            </a:extLst>
          </p:cNvPr>
          <p:cNvSpPr/>
          <p:nvPr/>
        </p:nvSpPr>
        <p:spPr>
          <a:xfrm>
            <a:off x="3457425" y="1822466"/>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침해금지예방청구</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126)</a:t>
            </a:r>
            <a:endParaRPr lang="ko-KR" altLang="en-US" sz="1400" dirty="0">
              <a:solidFill>
                <a:schemeClr val="tx1">
                  <a:lumMod val="50000"/>
                  <a:lumOff val="50000"/>
                </a:schemeClr>
              </a:solidFill>
            </a:endParaRPr>
          </a:p>
        </p:txBody>
      </p:sp>
      <p:sp>
        <p:nvSpPr>
          <p:cNvPr id="43" name="모서리가 둥근 직사각형 89">
            <a:extLst>
              <a:ext uri="{FF2B5EF4-FFF2-40B4-BE49-F238E27FC236}">
                <a16:creationId xmlns:a16="http://schemas.microsoft.com/office/drawing/2014/main" id="{6C209795-3B56-4FA4-A6AC-6057445E3FFB}"/>
              </a:ext>
            </a:extLst>
          </p:cNvPr>
          <p:cNvSpPr/>
          <p:nvPr/>
        </p:nvSpPr>
        <p:spPr>
          <a:xfrm>
            <a:off x="3457425" y="2428293"/>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손해배상청구</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128)</a:t>
            </a:r>
            <a:endParaRPr lang="ko-KR" altLang="en-US" sz="1400" dirty="0">
              <a:solidFill>
                <a:schemeClr val="tx1">
                  <a:lumMod val="50000"/>
                  <a:lumOff val="50000"/>
                </a:schemeClr>
              </a:solidFill>
            </a:endParaRPr>
          </a:p>
        </p:txBody>
      </p:sp>
      <p:sp>
        <p:nvSpPr>
          <p:cNvPr id="44" name="모서리가 둥근 직사각형 90">
            <a:extLst>
              <a:ext uri="{FF2B5EF4-FFF2-40B4-BE49-F238E27FC236}">
                <a16:creationId xmlns:a16="http://schemas.microsoft.com/office/drawing/2014/main" id="{DC834732-D727-443E-9C0D-235F33CB4975}"/>
              </a:ext>
            </a:extLst>
          </p:cNvPr>
          <p:cNvSpPr/>
          <p:nvPr/>
        </p:nvSpPr>
        <p:spPr>
          <a:xfrm>
            <a:off x="3457425" y="2890804"/>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신용회복청구</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法 </a:t>
            </a:r>
            <a:r>
              <a:rPr lang="en-US" altLang="ko-KR" sz="1400" dirty="0">
                <a:solidFill>
                  <a:schemeClr val="tx1">
                    <a:lumMod val="50000"/>
                    <a:lumOff val="50000"/>
                  </a:schemeClr>
                </a:solidFill>
              </a:rPr>
              <a:t>131)</a:t>
            </a:r>
            <a:endParaRPr lang="ko-KR" altLang="en-US" sz="1400" dirty="0">
              <a:solidFill>
                <a:schemeClr val="tx1">
                  <a:lumMod val="50000"/>
                  <a:lumOff val="50000"/>
                </a:schemeClr>
              </a:solidFill>
            </a:endParaRPr>
          </a:p>
        </p:txBody>
      </p:sp>
      <p:sp>
        <p:nvSpPr>
          <p:cNvPr id="45" name="모서리가 둥근 직사각형 91">
            <a:extLst>
              <a:ext uri="{FF2B5EF4-FFF2-40B4-BE49-F238E27FC236}">
                <a16:creationId xmlns:a16="http://schemas.microsoft.com/office/drawing/2014/main" id="{C4B4580B-8FED-4757-AFE9-87393BFDC2A3}"/>
              </a:ext>
            </a:extLst>
          </p:cNvPr>
          <p:cNvSpPr/>
          <p:nvPr/>
        </p:nvSpPr>
        <p:spPr>
          <a:xfrm>
            <a:off x="3457425" y="3394564"/>
            <a:ext cx="2603782" cy="306016"/>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lumMod val="50000"/>
                    <a:lumOff val="50000"/>
                  </a:schemeClr>
                </a:solidFill>
              </a:rPr>
              <a:t>부당이득반환청구</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民法 </a:t>
            </a:r>
            <a:r>
              <a:rPr lang="en-US" altLang="ko-KR" sz="1400" dirty="0">
                <a:solidFill>
                  <a:schemeClr val="tx1">
                    <a:lumMod val="50000"/>
                    <a:lumOff val="50000"/>
                  </a:schemeClr>
                </a:solidFill>
              </a:rPr>
              <a:t>741)</a:t>
            </a:r>
            <a:endParaRPr lang="ko-KR" altLang="en-US" sz="1400" dirty="0">
              <a:solidFill>
                <a:schemeClr val="tx1">
                  <a:lumMod val="50000"/>
                  <a:lumOff val="50000"/>
                </a:schemeClr>
              </a:solidFill>
            </a:endParaRPr>
          </a:p>
        </p:txBody>
      </p:sp>
      <p:sp>
        <p:nvSpPr>
          <p:cNvPr id="46" name="도넛 18">
            <a:extLst>
              <a:ext uri="{FF2B5EF4-FFF2-40B4-BE49-F238E27FC236}">
                <a16:creationId xmlns:a16="http://schemas.microsoft.com/office/drawing/2014/main" id="{65C6C52D-CE98-4F98-8FD8-28E14B6FD39B}"/>
              </a:ext>
            </a:extLst>
          </p:cNvPr>
          <p:cNvSpPr/>
          <p:nvPr/>
        </p:nvSpPr>
        <p:spPr>
          <a:xfrm>
            <a:off x="3266925" y="2271297"/>
            <a:ext cx="460240" cy="463012"/>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47" name="도넛 92">
            <a:extLst>
              <a:ext uri="{FF2B5EF4-FFF2-40B4-BE49-F238E27FC236}">
                <a16:creationId xmlns:a16="http://schemas.microsoft.com/office/drawing/2014/main" id="{76507275-4D27-43E1-8748-9D6EE60DA623}"/>
              </a:ext>
            </a:extLst>
          </p:cNvPr>
          <p:cNvSpPr/>
          <p:nvPr/>
        </p:nvSpPr>
        <p:spPr>
          <a:xfrm>
            <a:off x="3266925" y="2782331"/>
            <a:ext cx="460240" cy="463012"/>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48" name="도넛 93">
            <a:extLst>
              <a:ext uri="{FF2B5EF4-FFF2-40B4-BE49-F238E27FC236}">
                <a16:creationId xmlns:a16="http://schemas.microsoft.com/office/drawing/2014/main" id="{030046C1-FB97-46E7-B70B-15C4D2BE9AF1}"/>
              </a:ext>
            </a:extLst>
          </p:cNvPr>
          <p:cNvSpPr/>
          <p:nvPr/>
        </p:nvSpPr>
        <p:spPr>
          <a:xfrm>
            <a:off x="3266925" y="3279908"/>
            <a:ext cx="460240" cy="463012"/>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50" name="도넛 18">
            <a:extLst>
              <a:ext uri="{FF2B5EF4-FFF2-40B4-BE49-F238E27FC236}">
                <a16:creationId xmlns:a16="http://schemas.microsoft.com/office/drawing/2014/main" id="{F9F398BA-63EF-4C8E-A847-DE737BA938BF}"/>
              </a:ext>
            </a:extLst>
          </p:cNvPr>
          <p:cNvSpPr/>
          <p:nvPr/>
        </p:nvSpPr>
        <p:spPr>
          <a:xfrm>
            <a:off x="3266925" y="1697452"/>
            <a:ext cx="460240" cy="463012"/>
          </a:xfrm>
          <a:prstGeom prst="donut">
            <a:avLst/>
          </a:prstGeom>
          <a:solidFill>
            <a:schemeClr val="accent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cxnSp>
        <p:nvCxnSpPr>
          <p:cNvPr id="51" name="직선 화살표 연결선 50">
            <a:extLst>
              <a:ext uri="{FF2B5EF4-FFF2-40B4-BE49-F238E27FC236}">
                <a16:creationId xmlns:a16="http://schemas.microsoft.com/office/drawing/2014/main" id="{AB1DEEFE-1BE1-4150-9CF4-9D495536C968}"/>
              </a:ext>
            </a:extLst>
          </p:cNvPr>
          <p:cNvCxnSpPr>
            <a:cxnSpLocks/>
          </p:cNvCxnSpPr>
          <p:nvPr/>
        </p:nvCxnSpPr>
        <p:spPr>
          <a:xfrm>
            <a:off x="4753282" y="4211140"/>
            <a:ext cx="0" cy="729538"/>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 name="직선 연결선 25">
            <a:extLst>
              <a:ext uri="{FF2B5EF4-FFF2-40B4-BE49-F238E27FC236}">
                <a16:creationId xmlns:a16="http://schemas.microsoft.com/office/drawing/2014/main" id="{34E11C49-BD00-42D4-90C1-5BE7E8403C6F}"/>
              </a:ext>
            </a:extLst>
          </p:cNvPr>
          <p:cNvCxnSpPr/>
          <p:nvPr/>
        </p:nvCxnSpPr>
        <p:spPr>
          <a:xfrm>
            <a:off x="3479800" y="5774130"/>
            <a:ext cx="2616200" cy="0"/>
          </a:xfrm>
          <a:prstGeom prst="line">
            <a:avLst/>
          </a:prstGeom>
          <a:ln w="28575">
            <a:solidFill>
              <a:srgbClr val="FF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ACC82500-04F5-4283-A8B7-046AA05D482D}"/>
              </a:ext>
            </a:extLst>
          </p:cNvPr>
          <p:cNvCxnSpPr>
            <a:cxnSpLocks/>
          </p:cNvCxnSpPr>
          <p:nvPr/>
        </p:nvCxnSpPr>
        <p:spPr>
          <a:xfrm>
            <a:off x="3479800" y="5529564"/>
            <a:ext cx="1285261" cy="0"/>
          </a:xfrm>
          <a:prstGeom prst="line">
            <a:avLst/>
          </a:prstGeom>
          <a:ln w="28575">
            <a:solidFill>
              <a:srgbClr val="FF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8AB11F69-E399-4B7F-A148-C35FDF3D7782}"/>
              </a:ext>
            </a:extLst>
          </p:cNvPr>
          <p:cNvCxnSpPr>
            <a:cxnSpLocks/>
          </p:cNvCxnSpPr>
          <p:nvPr/>
        </p:nvCxnSpPr>
        <p:spPr>
          <a:xfrm>
            <a:off x="4777581" y="5529564"/>
            <a:ext cx="1285261" cy="0"/>
          </a:xfrm>
          <a:prstGeom prst="line">
            <a:avLst/>
          </a:prstGeom>
          <a:ln w="28575">
            <a:solidFill>
              <a:schemeClr val="accent1">
                <a:lumMod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직선 화살표 연결선 60">
            <a:extLst>
              <a:ext uri="{FF2B5EF4-FFF2-40B4-BE49-F238E27FC236}">
                <a16:creationId xmlns:a16="http://schemas.microsoft.com/office/drawing/2014/main" id="{46A51866-9645-4728-B206-4AA3E4F758E6}"/>
              </a:ext>
            </a:extLst>
          </p:cNvPr>
          <p:cNvCxnSpPr>
            <a:cxnSpLocks/>
            <a:endCxn id="50" idx="5"/>
          </p:cNvCxnSpPr>
          <p:nvPr/>
        </p:nvCxnSpPr>
        <p:spPr>
          <a:xfrm flipH="1" flipV="1">
            <a:off x="3659764" y="2092657"/>
            <a:ext cx="1760448" cy="3410844"/>
          </a:xfrm>
          <a:prstGeom prst="straightConnector1">
            <a:avLst/>
          </a:prstGeom>
          <a:ln w="28575">
            <a:solidFill>
              <a:schemeClr val="accent1"/>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63" name="직선 화살표 연결선 62">
            <a:extLst>
              <a:ext uri="{FF2B5EF4-FFF2-40B4-BE49-F238E27FC236}">
                <a16:creationId xmlns:a16="http://schemas.microsoft.com/office/drawing/2014/main" id="{01A1361C-183E-4141-A458-E82B1B7E07AB}"/>
              </a:ext>
            </a:extLst>
          </p:cNvPr>
          <p:cNvCxnSpPr>
            <a:cxnSpLocks/>
          </p:cNvCxnSpPr>
          <p:nvPr/>
        </p:nvCxnSpPr>
        <p:spPr>
          <a:xfrm flipH="1" flipV="1">
            <a:off x="3568566" y="3798079"/>
            <a:ext cx="460240" cy="1711173"/>
          </a:xfrm>
          <a:prstGeom prst="straightConnector1">
            <a:avLst/>
          </a:prstGeom>
          <a:ln w="28575">
            <a:solidFill>
              <a:srgbClr val="FF0000"/>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30021162"/>
      </p:ext>
    </p:extLst>
  </p:cSld>
  <p:clrMapOvr>
    <a:masterClrMapping/>
  </p:clrMapOvr>
  <p:transition/>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126</a:t>
            </a:r>
            <a:r>
              <a:rPr lang="ko-KR" altLang="en-US" dirty="0"/>
              <a:t>조</a:t>
            </a:r>
          </a:p>
        </p:txBody>
      </p:sp>
      <p:sp>
        <p:nvSpPr>
          <p:cNvPr id="5" name="텍스트 개체 틀 4"/>
          <p:cNvSpPr>
            <a:spLocks noGrp="1"/>
          </p:cNvSpPr>
          <p:nvPr>
            <p:ph type="body" sz="quarter" idx="13"/>
          </p:nvPr>
        </p:nvSpPr>
        <p:spPr/>
        <p:txBody>
          <a:bodyPr/>
          <a:lstStyle/>
          <a:p>
            <a:r>
              <a:rPr lang="ko-KR" altLang="en-US" dirty="0"/>
              <a:t>침해금지가처분</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379</a:t>
            </a:r>
            <a:endParaRPr lang="ko-KR" altLang="en-US"/>
          </a:p>
        </p:txBody>
      </p:sp>
      <p:cxnSp>
        <p:nvCxnSpPr>
          <p:cNvPr id="95" name="직선 연결선 94"/>
          <p:cNvCxnSpPr/>
          <p:nvPr/>
        </p:nvCxnSpPr>
        <p:spPr>
          <a:xfrm>
            <a:off x="-36242" y="194675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TextBox 95"/>
          <p:cNvSpPr txBox="1"/>
          <p:nvPr/>
        </p:nvSpPr>
        <p:spPr>
          <a:xfrm>
            <a:off x="77875" y="986046"/>
            <a:ext cx="11936323" cy="954107"/>
          </a:xfrm>
          <a:prstGeom prst="rect">
            <a:avLst/>
          </a:prstGeom>
          <a:noFill/>
        </p:spPr>
        <p:txBody>
          <a:bodyPr wrap="square" rtlCol="0">
            <a:spAutoFit/>
          </a:bodyPr>
          <a:lstStyle/>
          <a:p>
            <a:pPr fontAlgn="base"/>
            <a:r>
              <a:rPr lang="ko-KR" altLang="en-US" sz="1400" dirty="0"/>
              <a:t>침해금지청구의 </a:t>
            </a:r>
            <a:r>
              <a:rPr lang="ko-KR" altLang="en-US" sz="1400" dirty="0" err="1"/>
              <a:t>본안소송</a:t>
            </a:r>
            <a:r>
              <a:rPr lang="ko-KR" altLang="en-US" sz="1400" dirty="0"/>
              <a:t> 확정 전 현저한 손해를 받거나 급박한 방해를 방지할 수 없는 등 긴급한 행위가 필요한 경우에 침해금지를 위한 임시적 지위설정을 위해 침해금지청구권을 </a:t>
            </a:r>
            <a:r>
              <a:rPr lang="ko-KR" altLang="en-US" sz="1400" dirty="0" err="1"/>
              <a:t>피보전권리로</a:t>
            </a:r>
            <a:r>
              <a:rPr lang="ko-KR" altLang="en-US" sz="1400" dirty="0"/>
              <a:t> 하여 침해금지가처분 신청을 할 수 있다</a:t>
            </a:r>
            <a:r>
              <a:rPr lang="en-US" altLang="ko-KR" sz="1400" dirty="0"/>
              <a:t>. </a:t>
            </a:r>
            <a:r>
              <a:rPr lang="ko-KR" altLang="en-US" sz="1400" dirty="0">
                <a:highlight>
                  <a:srgbClr val="FFFF00"/>
                </a:highlight>
              </a:rPr>
              <a:t>가처분이 인정되기 위해서는 침해 사실 외에 처분의 </a:t>
            </a:r>
            <a:r>
              <a:rPr lang="ko-KR" altLang="en-US" sz="1400" dirty="0" err="1">
                <a:highlight>
                  <a:srgbClr val="FFFF00"/>
                </a:highlight>
              </a:rPr>
              <a:t>긴급성이</a:t>
            </a:r>
            <a:r>
              <a:rPr lang="ko-KR" altLang="en-US" sz="1400" dirty="0">
                <a:highlight>
                  <a:srgbClr val="FFFF00"/>
                </a:highlight>
              </a:rPr>
              <a:t> 필요하다</a:t>
            </a:r>
            <a:r>
              <a:rPr lang="en-US" altLang="ko-KR" sz="1400" dirty="0">
                <a:highlight>
                  <a:srgbClr val="FFFF00"/>
                </a:highlight>
              </a:rPr>
              <a:t>. </a:t>
            </a:r>
            <a:r>
              <a:rPr lang="ko-KR" altLang="en-US" sz="1400" dirty="0">
                <a:highlight>
                  <a:srgbClr val="FFFF00"/>
                </a:highlight>
              </a:rPr>
              <a:t>한편</a:t>
            </a:r>
            <a:r>
              <a:rPr lang="en-US" altLang="ko-KR" sz="1400" dirty="0">
                <a:highlight>
                  <a:srgbClr val="FFFF00"/>
                </a:highlight>
              </a:rPr>
              <a:t>, </a:t>
            </a:r>
            <a:r>
              <a:rPr lang="ko-KR" altLang="en-US" sz="1400" dirty="0">
                <a:highlight>
                  <a:srgbClr val="FFFF00"/>
                </a:highlight>
              </a:rPr>
              <a:t>가처분결정이 있은 후 가처분 집행권자가 </a:t>
            </a:r>
            <a:r>
              <a:rPr lang="ko-KR" altLang="en-US" sz="1400" dirty="0" err="1">
                <a:highlight>
                  <a:srgbClr val="FFFF00"/>
                </a:highlight>
              </a:rPr>
              <a:t>본안소송에서</a:t>
            </a:r>
            <a:r>
              <a:rPr lang="ko-KR" altLang="en-US" sz="1400" dirty="0">
                <a:highlight>
                  <a:srgbClr val="FFFF00"/>
                </a:highlight>
              </a:rPr>
              <a:t> </a:t>
            </a:r>
            <a:r>
              <a:rPr lang="ko-KR" altLang="en-US" sz="1400" dirty="0" err="1">
                <a:highlight>
                  <a:srgbClr val="FFFF00"/>
                </a:highlight>
              </a:rPr>
              <a:t>패소확정되었다면</a:t>
            </a:r>
            <a:r>
              <a:rPr lang="ko-KR" altLang="en-US" sz="1400" dirty="0">
                <a:highlight>
                  <a:srgbClr val="FFFF00"/>
                </a:highlight>
              </a:rPr>
              <a:t> 그 가처분으로 인하여 채무자가 입은 손해에 대해서는 채권자에게 고의 또는 과실이 없다는 반증이 없는 한 배상할 책임이 있다</a:t>
            </a:r>
            <a:r>
              <a:rPr lang="en-US" altLang="ko-KR" sz="1400" dirty="0">
                <a:highlight>
                  <a:srgbClr val="FFFF00"/>
                </a:highlight>
              </a:rPr>
              <a:t>.</a:t>
            </a:r>
            <a:endParaRPr lang="ko-KR" altLang="en-US" sz="1400" dirty="0">
              <a:highlight>
                <a:srgbClr val="FFFF00"/>
              </a:highlight>
            </a:endParaRPr>
          </a:p>
        </p:txBody>
      </p:sp>
      <p:graphicFrame>
        <p:nvGraphicFramePr>
          <p:cNvPr id="34" name="Group 49"/>
          <p:cNvGraphicFramePr>
            <a:graphicFrameLocks noGrp="1"/>
          </p:cNvGraphicFramePr>
          <p:nvPr/>
        </p:nvGraphicFramePr>
        <p:xfrm>
          <a:off x="343992" y="2390140"/>
          <a:ext cx="11530507" cy="1546860"/>
        </p:xfrm>
        <a:graphic>
          <a:graphicData uri="http://schemas.openxmlformats.org/drawingml/2006/table">
            <a:tbl>
              <a:tblPr firstCol="1">
                <a:tableStyleId>{8799B23B-EC83-4686-B30A-512413B5E67A}</a:tableStyleId>
              </a:tblPr>
              <a:tblGrid>
                <a:gridCol w="1239839">
                  <a:extLst>
                    <a:ext uri="{9D8B030D-6E8A-4147-A177-3AD203B41FA5}">
                      <a16:colId xmlns:a16="http://schemas.microsoft.com/office/drawing/2014/main" val="20000"/>
                    </a:ext>
                  </a:extLst>
                </a:gridCol>
                <a:gridCol w="4804421">
                  <a:extLst>
                    <a:ext uri="{9D8B030D-6E8A-4147-A177-3AD203B41FA5}">
                      <a16:colId xmlns:a16="http://schemas.microsoft.com/office/drawing/2014/main" val="20001"/>
                    </a:ext>
                  </a:extLst>
                </a:gridCol>
                <a:gridCol w="5486247">
                  <a:extLst>
                    <a:ext uri="{9D8B030D-6E8A-4147-A177-3AD203B41FA5}">
                      <a16:colId xmlns:a16="http://schemas.microsoft.com/office/drawing/2014/main" val="20002"/>
                    </a:ext>
                  </a:extLst>
                </a:gridCol>
              </a:tblGrid>
              <a:tr h="38671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endParaRPr kumimoji="1" lang="ko-KR" altLang="ko-KR" sz="1400" b="1" i="0" u="none" strike="noStrike" cap="none" normalizeH="0" baseline="0" dirty="0">
                        <a:ln>
                          <a:noFill/>
                        </a:ln>
                        <a:solidFill>
                          <a:schemeClr val="tx1"/>
                        </a:solidFill>
                        <a:effectLst/>
                        <a:latin typeface="+mn-ea"/>
                        <a:ea typeface="+mn-ea"/>
                      </a:endParaRPr>
                    </a:p>
                  </a:txBody>
                  <a:tcPr marL="121920" marR="121920" marT="45702" marB="45702"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400" b="1" u="none" strike="noStrike" cap="none" normalizeH="0" baseline="0" dirty="0">
                          <a:ln>
                            <a:noFill/>
                          </a:ln>
                          <a:effectLst/>
                        </a:rPr>
                        <a:t>가처분</a:t>
                      </a:r>
                      <a:endParaRPr kumimoji="1" lang="ko-KR" altLang="en-US" sz="1400" b="1" i="0" u="none" strike="noStrike" cap="none" normalizeH="0" baseline="0" dirty="0">
                        <a:ln>
                          <a:noFill/>
                        </a:ln>
                        <a:solidFill>
                          <a:schemeClr val="tx1"/>
                        </a:solidFill>
                        <a:effectLst/>
                        <a:latin typeface="+mn-ea"/>
                        <a:ea typeface="+mn-ea"/>
                      </a:endParaRPr>
                    </a:p>
                  </a:txBody>
                  <a:tcPr marL="121920" marR="121920" marT="45702" marB="45702"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400" b="1" u="none" strike="noStrike" cap="none" normalizeH="0" baseline="0" dirty="0" err="1">
                          <a:ln>
                            <a:noFill/>
                          </a:ln>
                          <a:effectLst/>
                        </a:rPr>
                        <a:t>본안소송</a:t>
                      </a:r>
                      <a:endParaRPr kumimoji="1" lang="ko-KR" altLang="en-US" sz="1400" b="1" i="0" u="none" strike="noStrike" cap="none" normalizeH="0" baseline="0" dirty="0">
                        <a:ln>
                          <a:noFill/>
                        </a:ln>
                        <a:solidFill>
                          <a:schemeClr val="tx1"/>
                        </a:solidFill>
                        <a:effectLst/>
                        <a:latin typeface="+mn-ea"/>
                        <a:ea typeface="+mn-ea"/>
                      </a:endParaRPr>
                    </a:p>
                  </a:txBody>
                  <a:tcPr marL="121920" marR="121920" marT="45702" marB="45702" anchor="ctr" horzOverflow="overflow">
                    <a:solidFill>
                      <a:schemeClr val="accent1">
                        <a:lumMod val="20000"/>
                        <a:lumOff val="80000"/>
                      </a:schemeClr>
                    </a:solidFill>
                  </a:tcPr>
                </a:tc>
                <a:extLst>
                  <a:ext uri="{0D108BD9-81ED-4DB2-BD59-A6C34878D82A}">
                    <a16:rowId xmlns:a16="http://schemas.microsoft.com/office/drawing/2014/main" val="10000"/>
                  </a:ext>
                </a:extLst>
              </a:tr>
              <a:tr h="38671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400" u="none" strike="noStrike" cap="none" normalizeH="0" baseline="0">
                          <a:ln>
                            <a:noFill/>
                          </a:ln>
                          <a:effectLst/>
                        </a:rPr>
                        <a:t>집행력</a:t>
                      </a:r>
                      <a:endParaRPr kumimoji="1" lang="ko-KR" altLang="en-US" sz="1400" b="0" i="0" u="none" strike="noStrike" cap="none" normalizeH="0" baseline="0">
                        <a:ln>
                          <a:noFill/>
                        </a:ln>
                        <a:solidFill>
                          <a:schemeClr val="tx1"/>
                        </a:solidFill>
                        <a:effectLst/>
                        <a:latin typeface="+mn-ea"/>
                        <a:ea typeface="+mn-ea"/>
                      </a:endParaRPr>
                    </a:p>
                  </a:txBody>
                  <a:tcPr marL="121920" marR="121920" marT="45702" marB="45702"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400" u="none" strike="noStrike" cap="none" normalizeH="0" baseline="0" dirty="0">
                          <a:ln>
                            <a:noFill/>
                          </a:ln>
                          <a:effectLst/>
                        </a:rPr>
                        <a:t>결정에 따라 </a:t>
                      </a:r>
                      <a:r>
                        <a:rPr kumimoji="1" lang="ko-KR" altLang="en-US" sz="1400" u="none" strike="noStrike" cap="none" normalizeH="0" baseline="0" dirty="0" err="1">
                          <a:ln>
                            <a:noFill/>
                          </a:ln>
                          <a:effectLst/>
                        </a:rPr>
                        <a:t>심급별로</a:t>
                      </a:r>
                      <a:r>
                        <a:rPr kumimoji="1" lang="ko-KR" altLang="en-US" sz="1400" u="none" strike="noStrike" cap="none" normalizeH="0" baseline="0" dirty="0">
                          <a:ln>
                            <a:noFill/>
                          </a:ln>
                          <a:effectLst/>
                        </a:rPr>
                        <a:t> </a:t>
                      </a:r>
                      <a:r>
                        <a:rPr kumimoji="1" lang="en-US" altLang="ko-KR" sz="1400" u="none" strike="noStrike" cap="none" normalizeH="0" baseline="0" dirty="0">
                          <a:ln>
                            <a:noFill/>
                          </a:ln>
                          <a:effectLst/>
                        </a:rPr>
                        <a:t>4</a:t>
                      </a:r>
                      <a:r>
                        <a:rPr kumimoji="1" lang="ko-KR" altLang="en-US" sz="1400" u="none" strike="noStrike" cap="none" normalizeH="0" baseline="0" dirty="0">
                          <a:ln>
                            <a:noFill/>
                          </a:ln>
                          <a:effectLst/>
                        </a:rPr>
                        <a:t>개월 소요되며 통상 </a:t>
                      </a:r>
                      <a:r>
                        <a:rPr kumimoji="1" lang="en-US" altLang="ko-KR" sz="1400" u="none" strike="noStrike" cap="none" normalizeH="0" baseline="0" dirty="0">
                          <a:ln>
                            <a:noFill/>
                          </a:ln>
                          <a:effectLst/>
                        </a:rPr>
                        <a:t>10</a:t>
                      </a:r>
                      <a:r>
                        <a:rPr kumimoji="1" lang="ko-KR" altLang="en-US" sz="1400" u="none" strike="noStrike" cap="none" normalizeH="0" baseline="0" dirty="0">
                          <a:ln>
                            <a:noFill/>
                          </a:ln>
                          <a:effectLst/>
                        </a:rPr>
                        <a:t>개월</a:t>
                      </a:r>
                      <a:r>
                        <a:rPr kumimoji="1" lang="en-US" altLang="ko-KR" sz="1400" u="none" strike="noStrike" cap="none" normalizeH="0" baseline="0" dirty="0">
                          <a:ln>
                            <a:noFill/>
                          </a:ln>
                          <a:effectLst/>
                        </a:rPr>
                        <a:t>~1</a:t>
                      </a:r>
                      <a:r>
                        <a:rPr kumimoji="1" lang="ko-KR" altLang="en-US" sz="1400" u="none" strike="noStrike" cap="none" normalizeH="0" baseline="0" dirty="0">
                          <a:ln>
                            <a:noFill/>
                          </a:ln>
                          <a:effectLst/>
                        </a:rPr>
                        <a:t>년 소요</a:t>
                      </a:r>
                      <a:endParaRPr kumimoji="1" lang="ko-KR" altLang="en-US" sz="1400" b="0" i="0" u="none" strike="noStrike" cap="none" normalizeH="0" baseline="0" dirty="0">
                        <a:ln>
                          <a:noFill/>
                        </a:ln>
                        <a:solidFill>
                          <a:schemeClr val="tx1"/>
                        </a:solidFill>
                        <a:effectLst/>
                        <a:latin typeface="+mn-ea"/>
                        <a:ea typeface="+mn-ea"/>
                      </a:endParaRPr>
                    </a:p>
                  </a:txBody>
                  <a:tcPr marL="121920" marR="121920" marT="45702" marB="45702"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400" u="none" strike="noStrike" cap="none" normalizeH="0" baseline="0" dirty="0">
                          <a:ln>
                            <a:noFill/>
                          </a:ln>
                          <a:effectLst/>
                        </a:rPr>
                        <a:t>확정이 필요하므로 </a:t>
                      </a:r>
                      <a:r>
                        <a:rPr kumimoji="1" lang="ko-KR" altLang="en-US" sz="1400" u="none" strike="noStrike" cap="none" normalizeH="0" baseline="0" dirty="0" err="1">
                          <a:ln>
                            <a:noFill/>
                          </a:ln>
                          <a:effectLst/>
                        </a:rPr>
                        <a:t>심급별로</a:t>
                      </a:r>
                      <a:r>
                        <a:rPr kumimoji="1" lang="ko-KR" altLang="en-US" sz="1400" u="none" strike="noStrike" cap="none" normalizeH="0" baseline="0" dirty="0">
                          <a:ln>
                            <a:noFill/>
                          </a:ln>
                          <a:effectLst/>
                        </a:rPr>
                        <a:t> </a:t>
                      </a:r>
                      <a:r>
                        <a:rPr kumimoji="1" lang="en-US" altLang="ko-KR" sz="1400" u="none" strike="noStrike" cap="none" normalizeH="0" baseline="0" dirty="0">
                          <a:ln>
                            <a:noFill/>
                          </a:ln>
                          <a:effectLst/>
                        </a:rPr>
                        <a:t>1</a:t>
                      </a:r>
                      <a:r>
                        <a:rPr kumimoji="1" lang="ko-KR" altLang="en-US" sz="1400" u="none" strike="noStrike" cap="none" normalizeH="0" baseline="0" dirty="0">
                          <a:ln>
                            <a:noFill/>
                          </a:ln>
                          <a:effectLst/>
                        </a:rPr>
                        <a:t>년 정도 소요되며 통상 </a:t>
                      </a:r>
                      <a:r>
                        <a:rPr kumimoji="1" lang="en-US" altLang="ko-KR" sz="1400" u="none" strike="noStrike" cap="none" normalizeH="0" baseline="0" dirty="0">
                          <a:ln>
                            <a:noFill/>
                          </a:ln>
                          <a:effectLst/>
                        </a:rPr>
                        <a:t>2-3</a:t>
                      </a:r>
                      <a:r>
                        <a:rPr kumimoji="1" lang="ko-KR" altLang="en-US" sz="1400" u="none" strike="noStrike" cap="none" normalizeH="0" baseline="0" dirty="0">
                          <a:ln>
                            <a:noFill/>
                          </a:ln>
                          <a:effectLst/>
                        </a:rPr>
                        <a:t>년 소요</a:t>
                      </a:r>
                      <a:endParaRPr kumimoji="1" lang="ko-KR" altLang="en-US" sz="1400" b="0" i="0" u="none" strike="noStrike" cap="none" normalizeH="0" baseline="0" dirty="0">
                        <a:ln>
                          <a:noFill/>
                        </a:ln>
                        <a:solidFill>
                          <a:schemeClr val="tx1"/>
                        </a:solidFill>
                        <a:effectLst/>
                        <a:latin typeface="+mn-ea"/>
                        <a:ea typeface="+mn-ea"/>
                      </a:endParaRPr>
                    </a:p>
                  </a:txBody>
                  <a:tcPr marL="121920" marR="121920" marT="45702" marB="45702" anchor="ctr" horzOverflow="overflow"/>
                </a:tc>
                <a:extLst>
                  <a:ext uri="{0D108BD9-81ED-4DB2-BD59-A6C34878D82A}">
                    <a16:rowId xmlns:a16="http://schemas.microsoft.com/office/drawing/2014/main" val="10001"/>
                  </a:ext>
                </a:extLst>
              </a:tr>
              <a:tr h="38671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400" u="none" strike="noStrike" cap="none" normalizeH="0" baseline="0">
                          <a:ln>
                            <a:noFill/>
                          </a:ln>
                          <a:effectLst/>
                        </a:rPr>
                        <a:t>절차</a:t>
                      </a:r>
                      <a:endParaRPr kumimoji="1" lang="ko-KR" altLang="en-US" sz="1400" b="0" i="0" u="none" strike="noStrike" cap="none" normalizeH="0" baseline="0">
                        <a:ln>
                          <a:noFill/>
                        </a:ln>
                        <a:solidFill>
                          <a:schemeClr val="tx1"/>
                        </a:solidFill>
                        <a:effectLst/>
                        <a:latin typeface="+mn-ea"/>
                        <a:ea typeface="+mn-ea"/>
                      </a:endParaRPr>
                    </a:p>
                  </a:txBody>
                  <a:tcPr marL="121920" marR="121920" marT="45702" marB="45702"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400" u="none" strike="noStrike" cap="none" normalizeH="0" baseline="0" dirty="0">
                          <a:ln>
                            <a:noFill/>
                          </a:ln>
                          <a:effectLst/>
                        </a:rPr>
                        <a:t>심문절차</a:t>
                      </a:r>
                      <a:r>
                        <a:rPr kumimoji="1" lang="en-US" altLang="ko-KR" sz="1400" u="none" strike="noStrike" cap="none" normalizeH="0" baseline="0" dirty="0">
                          <a:ln>
                            <a:noFill/>
                          </a:ln>
                          <a:effectLst/>
                        </a:rPr>
                        <a:t>/</a:t>
                      </a:r>
                      <a:r>
                        <a:rPr kumimoji="1" lang="ko-KR" altLang="en-US" sz="1400" u="none" strike="noStrike" cap="none" normalizeH="0" baseline="0" dirty="0">
                          <a:ln>
                            <a:noFill/>
                          </a:ln>
                          <a:effectLst/>
                        </a:rPr>
                        <a:t>소명</a:t>
                      </a:r>
                      <a:r>
                        <a:rPr kumimoji="1" lang="en-US" altLang="ko-KR" sz="1400" u="none" strike="noStrike" cap="none" normalizeH="0" baseline="0" dirty="0">
                          <a:ln>
                            <a:noFill/>
                          </a:ln>
                          <a:effectLst/>
                        </a:rPr>
                        <a:t>/</a:t>
                      </a:r>
                      <a:r>
                        <a:rPr kumimoji="1" lang="ko-KR" altLang="en-US" sz="1400" u="none" strike="noStrike" cap="none" normalizeH="0" baseline="0" dirty="0">
                          <a:ln>
                            <a:noFill/>
                          </a:ln>
                          <a:effectLst/>
                        </a:rPr>
                        <a:t>결정</a:t>
                      </a:r>
                      <a:endParaRPr kumimoji="1" lang="ko-KR" altLang="en-US" sz="1400" b="0" i="0" u="none" strike="noStrike" cap="none" normalizeH="0" baseline="0" dirty="0">
                        <a:ln>
                          <a:noFill/>
                        </a:ln>
                        <a:solidFill>
                          <a:schemeClr val="tx1"/>
                        </a:solidFill>
                        <a:effectLst/>
                        <a:latin typeface="+mn-ea"/>
                        <a:ea typeface="+mn-ea"/>
                      </a:endParaRPr>
                    </a:p>
                  </a:txBody>
                  <a:tcPr marL="121920" marR="121920" marT="45702" marB="45702"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400" u="none" strike="noStrike" cap="none" normalizeH="0" baseline="0" dirty="0">
                          <a:ln>
                            <a:noFill/>
                          </a:ln>
                          <a:effectLst/>
                        </a:rPr>
                        <a:t>변론</a:t>
                      </a:r>
                      <a:r>
                        <a:rPr kumimoji="1" lang="en-US" altLang="ko-KR" sz="1400" u="none" strike="noStrike" cap="none" normalizeH="0" baseline="0" dirty="0">
                          <a:ln>
                            <a:noFill/>
                          </a:ln>
                          <a:effectLst/>
                        </a:rPr>
                        <a:t>/</a:t>
                      </a:r>
                      <a:r>
                        <a:rPr kumimoji="1" lang="ko-KR" altLang="en-US" sz="1400" u="none" strike="noStrike" cap="none" normalizeH="0" baseline="0" dirty="0">
                          <a:ln>
                            <a:noFill/>
                          </a:ln>
                          <a:effectLst/>
                        </a:rPr>
                        <a:t>증명</a:t>
                      </a:r>
                      <a:r>
                        <a:rPr kumimoji="1" lang="en-US" altLang="ko-KR" sz="1400" u="none" strike="noStrike" cap="none" normalizeH="0" baseline="0" dirty="0">
                          <a:ln>
                            <a:noFill/>
                          </a:ln>
                          <a:effectLst/>
                        </a:rPr>
                        <a:t>/</a:t>
                      </a:r>
                      <a:r>
                        <a:rPr kumimoji="1" lang="ko-KR" altLang="en-US" sz="1400" u="none" strike="noStrike" cap="none" normalizeH="0" baseline="0" dirty="0">
                          <a:ln>
                            <a:noFill/>
                          </a:ln>
                          <a:effectLst/>
                        </a:rPr>
                        <a:t>판결</a:t>
                      </a:r>
                      <a:endParaRPr kumimoji="1" lang="ko-KR" altLang="en-US" sz="1400" b="0" i="0" u="none" strike="noStrike" cap="none" normalizeH="0" baseline="0" dirty="0">
                        <a:ln>
                          <a:noFill/>
                        </a:ln>
                        <a:solidFill>
                          <a:schemeClr val="tx1"/>
                        </a:solidFill>
                        <a:effectLst/>
                        <a:latin typeface="+mn-ea"/>
                        <a:ea typeface="+mn-ea"/>
                      </a:endParaRPr>
                    </a:p>
                  </a:txBody>
                  <a:tcPr marL="121920" marR="121920" marT="45702" marB="45702" anchor="ctr" horzOverflow="overflow"/>
                </a:tc>
                <a:extLst>
                  <a:ext uri="{0D108BD9-81ED-4DB2-BD59-A6C34878D82A}">
                    <a16:rowId xmlns:a16="http://schemas.microsoft.com/office/drawing/2014/main" val="10002"/>
                  </a:ext>
                </a:extLst>
              </a:tr>
              <a:tr h="386715">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400" u="none" strike="noStrike" cap="none" normalizeH="0" baseline="0">
                          <a:ln>
                            <a:noFill/>
                          </a:ln>
                          <a:effectLst/>
                        </a:rPr>
                        <a:t>요건</a:t>
                      </a:r>
                      <a:endParaRPr kumimoji="1" lang="ko-KR" altLang="en-US" sz="1400" b="0" i="0" u="none" strike="noStrike" cap="none" normalizeH="0" baseline="0">
                        <a:ln>
                          <a:noFill/>
                        </a:ln>
                        <a:solidFill>
                          <a:schemeClr val="tx1"/>
                        </a:solidFill>
                        <a:effectLst/>
                        <a:latin typeface="+mn-ea"/>
                        <a:ea typeface="+mn-ea"/>
                      </a:endParaRPr>
                    </a:p>
                  </a:txBody>
                  <a:tcPr marL="121920" marR="121920" marT="45702" marB="45702"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400" u="none" strike="noStrike" cap="none" normalizeH="0" baseline="0" dirty="0">
                          <a:ln>
                            <a:noFill/>
                          </a:ln>
                          <a:effectLst/>
                        </a:rPr>
                        <a:t>침해 </a:t>
                      </a:r>
                      <a:r>
                        <a:rPr kumimoji="1" lang="ko-KR" altLang="en-US" sz="1400" u="none" strike="noStrike" cap="none" normalizeH="0" baseline="0" dirty="0" err="1">
                          <a:ln>
                            <a:noFill/>
                          </a:ln>
                          <a:effectLst/>
                        </a:rPr>
                        <a:t>사실외에</a:t>
                      </a:r>
                      <a:r>
                        <a:rPr kumimoji="1" lang="ko-KR" altLang="en-US" sz="1400" u="none" strike="noStrike" cap="none" normalizeH="0" baseline="0" dirty="0">
                          <a:ln>
                            <a:noFill/>
                          </a:ln>
                          <a:effectLst/>
                        </a:rPr>
                        <a:t> 처분의 </a:t>
                      </a:r>
                      <a:r>
                        <a:rPr kumimoji="1" lang="ko-KR" altLang="en-US" sz="1400" u="none" strike="noStrike" cap="none" normalizeH="0" baseline="0" dirty="0" err="1">
                          <a:ln>
                            <a:noFill/>
                          </a:ln>
                          <a:effectLst/>
                        </a:rPr>
                        <a:t>긴급성</a:t>
                      </a:r>
                      <a:r>
                        <a:rPr kumimoji="1" lang="ko-KR" altLang="en-US" sz="1400" u="none" strike="noStrike" cap="none" normalizeH="0" baseline="0" dirty="0">
                          <a:ln>
                            <a:noFill/>
                          </a:ln>
                          <a:effectLst/>
                        </a:rPr>
                        <a:t> 추가 필요</a:t>
                      </a:r>
                      <a:endParaRPr kumimoji="1" lang="ko-KR" altLang="en-US" sz="1400" b="0" i="0" u="none" strike="noStrike" cap="none" normalizeH="0" baseline="0" dirty="0">
                        <a:ln>
                          <a:noFill/>
                        </a:ln>
                        <a:solidFill>
                          <a:schemeClr val="tx1"/>
                        </a:solidFill>
                        <a:effectLst/>
                        <a:latin typeface="+mn-ea"/>
                        <a:ea typeface="+mn-ea"/>
                      </a:endParaRPr>
                    </a:p>
                  </a:txBody>
                  <a:tcPr marL="121920" marR="121920" marT="45702" marB="45702" anchor="ctr" horzOverflow="overflow"/>
                </a:tc>
                <a:tc>
                  <a:txBody>
                    <a:bodyPr/>
                    <a:lstStyle/>
                    <a:p>
                      <a:pPr marL="0" marR="0" lvl="0" indent="0" algn="ctr" defTabSz="914400" rtl="0" eaLnBrk="1" fontAlgn="base" latinLnBrk="1" hangingPunct="1">
                        <a:lnSpc>
                          <a:spcPct val="100000"/>
                        </a:lnSpc>
                        <a:spcBef>
                          <a:spcPct val="20000"/>
                        </a:spcBef>
                        <a:spcAft>
                          <a:spcPct val="0"/>
                        </a:spcAft>
                        <a:buClrTx/>
                        <a:buSzTx/>
                        <a:buFontTx/>
                        <a:buNone/>
                        <a:tabLst/>
                      </a:pPr>
                      <a:r>
                        <a:rPr kumimoji="1" lang="ko-KR" altLang="en-US" sz="1400" u="none" strike="noStrike" cap="none" normalizeH="0" baseline="0" dirty="0">
                          <a:ln>
                            <a:noFill/>
                          </a:ln>
                          <a:effectLst/>
                        </a:rPr>
                        <a:t>침해사실</a:t>
                      </a:r>
                      <a:endParaRPr kumimoji="1" lang="ko-KR" altLang="en-US" sz="1400" b="0" i="0" u="none" strike="noStrike" cap="none" normalizeH="0" baseline="0" dirty="0">
                        <a:ln>
                          <a:noFill/>
                        </a:ln>
                        <a:solidFill>
                          <a:schemeClr val="tx1"/>
                        </a:solidFill>
                        <a:effectLst/>
                        <a:latin typeface="+mn-ea"/>
                        <a:ea typeface="+mn-ea"/>
                      </a:endParaRPr>
                    </a:p>
                  </a:txBody>
                  <a:tcPr marL="121920" marR="121920" marT="45702" marB="45702" anchor="ctr" horzOverflow="overflow"/>
                </a:tc>
                <a:extLst>
                  <a:ext uri="{0D108BD9-81ED-4DB2-BD59-A6C34878D82A}">
                    <a16:rowId xmlns:a16="http://schemas.microsoft.com/office/drawing/2014/main" val="10003"/>
                  </a:ext>
                </a:extLst>
              </a:tr>
            </a:tbl>
          </a:graphicData>
        </a:graphic>
      </p:graphicFrame>
      <p:sp>
        <p:nvSpPr>
          <p:cNvPr id="35" name="직사각형 34"/>
          <p:cNvSpPr/>
          <p:nvPr/>
        </p:nvSpPr>
        <p:spPr bwMode="auto">
          <a:xfrm>
            <a:off x="527381" y="4749800"/>
            <a:ext cx="11233248" cy="1847552"/>
          </a:xfrm>
          <a:prstGeom prst="rect">
            <a:avLst/>
          </a:prstGeom>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0" bIns="0" rtlCol="0" anchor="ctr"/>
          <a:lstStyle/>
          <a:p>
            <a:r>
              <a:rPr lang="ko-KR" altLang="en-US" sz="1400" dirty="0"/>
              <a:t>임시의 지위를 정하기 위한 가처분을 필요로 하는지 여부는 </a:t>
            </a:r>
            <a:r>
              <a:rPr lang="ko-KR" altLang="en-US" sz="1400" dirty="0">
                <a:solidFill>
                  <a:schemeClr val="accent3">
                    <a:lumMod val="50000"/>
                  </a:schemeClr>
                </a:solidFill>
                <a:highlight>
                  <a:srgbClr val="FFFF00"/>
                </a:highlight>
              </a:rPr>
              <a:t>가처분신청의 인용 여부에 따른 당사자 쌍방의 이해득실관계</a:t>
            </a:r>
            <a:r>
              <a:rPr lang="en-US" altLang="ko-KR" sz="1400" dirty="0">
                <a:solidFill>
                  <a:schemeClr val="accent3">
                    <a:lumMod val="50000"/>
                  </a:schemeClr>
                </a:solidFill>
                <a:highlight>
                  <a:srgbClr val="FFFF00"/>
                </a:highlight>
              </a:rPr>
              <a:t>, </a:t>
            </a:r>
            <a:r>
              <a:rPr lang="ko-KR" altLang="en-US" sz="1400" dirty="0" err="1">
                <a:solidFill>
                  <a:schemeClr val="accent3">
                    <a:lumMod val="50000"/>
                  </a:schemeClr>
                </a:solidFill>
                <a:highlight>
                  <a:srgbClr val="FFFF00"/>
                </a:highlight>
              </a:rPr>
              <a:t>본안소송에</a:t>
            </a:r>
            <a:r>
              <a:rPr lang="ko-KR" altLang="en-US" sz="1400" dirty="0">
                <a:solidFill>
                  <a:schemeClr val="accent3">
                    <a:lumMod val="50000"/>
                  </a:schemeClr>
                </a:solidFill>
                <a:highlight>
                  <a:srgbClr val="FFFF00"/>
                </a:highlight>
              </a:rPr>
              <a:t> 있어서의 장래의 승패의 예상</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기타의 제반 사정을 고려하여 법원의 재량에 따라 합목적적으로 결정하여야 할 것이므로 가처분채권자가 신청 당시에 실체법상의 권리를 가지고 있다 하더라도 그 권리가 가까운 장래에 소멸하여 </a:t>
            </a:r>
            <a:r>
              <a:rPr lang="ko-KR" altLang="en-US" sz="1400" dirty="0" err="1">
                <a:solidFill>
                  <a:schemeClr val="accent3">
                    <a:lumMod val="50000"/>
                  </a:schemeClr>
                </a:solidFill>
                <a:highlight>
                  <a:srgbClr val="FFFF00"/>
                </a:highlight>
              </a:rPr>
              <a:t>본안소송에서</a:t>
            </a:r>
            <a:r>
              <a:rPr lang="ko-KR" altLang="en-US" sz="1400" dirty="0">
                <a:solidFill>
                  <a:schemeClr val="accent3">
                    <a:lumMod val="50000"/>
                  </a:schemeClr>
                </a:solidFill>
                <a:highlight>
                  <a:srgbClr val="FFFF00"/>
                </a:highlight>
              </a:rPr>
              <a:t> 패소판결을 받으리라는 점이 현재에 있어 충분히 예상되는 경우에는 필요성이 없다고 풀이하는 것이 상당</a:t>
            </a:r>
            <a:r>
              <a:rPr lang="ko-KR" altLang="en-US" sz="1400" dirty="0">
                <a:solidFill>
                  <a:schemeClr val="accent3">
                    <a:lumMod val="50000"/>
                  </a:schemeClr>
                </a:solidFill>
              </a:rPr>
              <a:t>하고</a:t>
            </a:r>
            <a:r>
              <a:rPr lang="en-US" altLang="ko-KR" sz="1400" dirty="0"/>
              <a:t>, </a:t>
            </a:r>
            <a:r>
              <a:rPr lang="ko-KR" altLang="en-US" sz="1400" dirty="0"/>
              <a:t>더구나 특허권침해의 금지라는 부작위의무를 부담시키는 이른바 만족적 가처분일 경우에 있어서는 보전의 필요성 유무를 더욱 신중하게 결정하여야 할 것으로서 만일 가처분신청 당시 채무자가 지식재산처에 별도로 제기한 심판절차에 의하여 그 특허권이 무효라고 하는 취지의 </a:t>
            </a:r>
            <a:r>
              <a:rPr lang="ko-KR" altLang="en-US" sz="1400" dirty="0" err="1"/>
              <a:t>심결이</a:t>
            </a:r>
            <a:r>
              <a:rPr lang="ko-KR" altLang="en-US" sz="1400" dirty="0"/>
              <a:t> 있은 경우나</a:t>
            </a:r>
            <a:r>
              <a:rPr lang="en-US" altLang="ko-KR" sz="1400" dirty="0"/>
              <a:t>, </a:t>
            </a:r>
            <a:r>
              <a:rPr lang="ko-KR" altLang="en-US" sz="1400" dirty="0">
                <a:solidFill>
                  <a:schemeClr val="accent3">
                    <a:lumMod val="50000"/>
                  </a:schemeClr>
                </a:solidFill>
                <a:highlight>
                  <a:srgbClr val="FFFF00"/>
                </a:highlight>
              </a:rPr>
              <a:t>무효심판이 청구되고 그 청구의 이유나 증거관계로부터 장래 그 특허가 무효로 될 개연성이 높다고 인정되는 등의 특별한 사정이 있는 경우</a:t>
            </a:r>
            <a:r>
              <a:rPr lang="ko-KR" altLang="en-US" sz="1400" dirty="0"/>
              <a:t>에는 당사자 간의 형평을 고려하여 보전의 필요성을 결한 것으로 보는 것이 합리적이라 할 것이다</a:t>
            </a:r>
            <a:r>
              <a:rPr lang="en-US" altLang="ko-KR" sz="1400" dirty="0"/>
              <a:t>.</a:t>
            </a:r>
            <a:endParaRPr lang="ko-KR" altLang="en-US" sz="1400" dirty="0"/>
          </a:p>
        </p:txBody>
      </p:sp>
      <p:sp>
        <p:nvSpPr>
          <p:cNvPr id="36" name="직사각형 35"/>
          <p:cNvSpPr/>
          <p:nvPr/>
        </p:nvSpPr>
        <p:spPr bwMode="auto">
          <a:xfrm>
            <a:off x="527381" y="4461768"/>
            <a:ext cx="2965119" cy="288032"/>
          </a:xfrm>
          <a:prstGeom prst="rect">
            <a:avLst/>
          </a:prstGeom>
          <a:ln>
            <a:solidFill>
              <a:schemeClr val="bg1">
                <a:lumMod val="50000"/>
              </a:schemeClr>
            </a:solidFill>
            <a:headEnd type="none" w="med" len="med"/>
            <a:tailEnd type="none"/>
          </a:ln>
        </p:spPr>
        <p:style>
          <a:lnRef idx="1">
            <a:schemeClr val="accent2"/>
          </a:lnRef>
          <a:fillRef idx="3">
            <a:schemeClr val="accent2"/>
          </a:fillRef>
          <a:effectRef idx="2">
            <a:schemeClr val="accent2"/>
          </a:effectRef>
          <a:fontRef idx="minor">
            <a:schemeClr val="lt1"/>
          </a:fontRef>
        </p:style>
        <p:txBody>
          <a:bodyPr rtlCol="0" anchor="ctr"/>
          <a:lstStyle/>
          <a:p>
            <a:pPr algn="ctr"/>
            <a:r>
              <a:rPr lang="ko-KR" altLang="en-US" sz="1400" dirty="0"/>
              <a:t>대법원 </a:t>
            </a:r>
            <a:r>
              <a:rPr lang="en-US" altLang="ko-KR" sz="1400" dirty="0"/>
              <a:t>2007. 6. 4 </a:t>
            </a:r>
            <a:r>
              <a:rPr lang="ko-KR" altLang="en-US" sz="1400" dirty="0"/>
              <a:t>선고 </a:t>
            </a:r>
            <a:r>
              <a:rPr lang="en-US" altLang="ko-KR" sz="1400" dirty="0"/>
              <a:t>2006</a:t>
            </a:r>
            <a:r>
              <a:rPr lang="ko-KR" altLang="en-US" sz="1400" dirty="0"/>
              <a:t>마</a:t>
            </a:r>
            <a:r>
              <a:rPr lang="en-US" altLang="ko-KR" sz="1400" dirty="0"/>
              <a:t>907</a:t>
            </a:r>
            <a:endParaRPr lang="ko-KR" altLang="en-US" sz="1400" dirty="0"/>
          </a:p>
        </p:txBody>
      </p:sp>
    </p:spTree>
    <p:extLst>
      <p:ext uri="{BB962C8B-B14F-4D97-AF65-F5344CB8AC3E}">
        <p14:creationId xmlns:p14="http://schemas.microsoft.com/office/powerpoint/2010/main" val="270901463"/>
      </p:ext>
    </p:extLst>
  </p:cSld>
  <p:clrMapOvr>
    <a:masterClrMapping/>
  </p:clrMapOvr>
  <p:transition/>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128</a:t>
            </a:r>
            <a:r>
              <a:rPr lang="ko-KR" altLang="en-US" dirty="0"/>
              <a:t>조</a:t>
            </a:r>
          </a:p>
        </p:txBody>
      </p:sp>
      <p:sp>
        <p:nvSpPr>
          <p:cNvPr id="5" name="텍스트 개체 틀 4"/>
          <p:cNvSpPr>
            <a:spLocks noGrp="1"/>
          </p:cNvSpPr>
          <p:nvPr>
            <p:ph type="body" sz="quarter" idx="13"/>
          </p:nvPr>
        </p:nvSpPr>
        <p:spPr/>
        <p:txBody>
          <a:bodyPr/>
          <a:lstStyle/>
          <a:p>
            <a:r>
              <a:rPr lang="ko-KR" altLang="en-US" dirty="0"/>
              <a:t>손해배상청구권의 법조문 정리</a:t>
            </a:r>
          </a:p>
        </p:txBody>
      </p:sp>
      <p:sp>
        <p:nvSpPr>
          <p:cNvPr id="10" name="TextBox 9"/>
          <p:cNvSpPr txBox="1"/>
          <p:nvPr/>
        </p:nvSpPr>
        <p:spPr>
          <a:xfrm>
            <a:off x="77875" y="986046"/>
            <a:ext cx="11936323" cy="4870564"/>
          </a:xfrm>
          <a:prstGeom prst="rect">
            <a:avLst/>
          </a:prstGeom>
          <a:noFill/>
        </p:spPr>
        <p:txBody>
          <a:bodyPr wrap="square" rtlCol="0">
            <a:spAutoFit/>
          </a:bodyPr>
          <a:lstStyle/>
          <a:p>
            <a:pPr fontAlgn="base"/>
            <a:r>
              <a:rPr lang="ko-KR" altLang="en-US" sz="1150" b="1" dirty="0">
                <a:solidFill>
                  <a:schemeClr val="accent1"/>
                </a:solidFill>
              </a:rPr>
              <a:t>제</a:t>
            </a:r>
            <a:r>
              <a:rPr lang="en-US" altLang="ko-KR" sz="1150" b="1" dirty="0">
                <a:solidFill>
                  <a:schemeClr val="accent1"/>
                </a:solidFill>
              </a:rPr>
              <a:t>128</a:t>
            </a:r>
            <a:r>
              <a:rPr lang="ko-KR" altLang="en-US" sz="1150" b="1" dirty="0">
                <a:solidFill>
                  <a:schemeClr val="accent1"/>
                </a:solidFill>
              </a:rPr>
              <a:t>조</a:t>
            </a:r>
            <a:r>
              <a:rPr lang="en-US" altLang="ko-KR" sz="1150" b="1" dirty="0">
                <a:solidFill>
                  <a:schemeClr val="accent1"/>
                </a:solidFill>
              </a:rPr>
              <a:t>(</a:t>
            </a:r>
            <a:r>
              <a:rPr lang="ko-KR" altLang="en-US" sz="1150" b="1" dirty="0">
                <a:solidFill>
                  <a:schemeClr val="accent1"/>
                </a:solidFill>
              </a:rPr>
              <a:t>손해배상청구권 등</a:t>
            </a:r>
            <a:r>
              <a:rPr lang="en-US" altLang="ko-KR" sz="1150" b="1" dirty="0">
                <a:solidFill>
                  <a:schemeClr val="accent1"/>
                </a:solidFill>
              </a:rPr>
              <a:t>)</a:t>
            </a:r>
            <a:r>
              <a:rPr lang="en-US" altLang="ko-KR" sz="1150" dirty="0"/>
              <a:t> ① </a:t>
            </a:r>
            <a:r>
              <a:rPr lang="ko-KR" altLang="en-US" sz="1150" dirty="0" err="1"/>
              <a:t>특허권자</a:t>
            </a:r>
            <a:r>
              <a:rPr lang="ko-KR" altLang="en-US" sz="1150" dirty="0"/>
              <a:t> 또는 </a:t>
            </a:r>
            <a:r>
              <a:rPr lang="ko-KR" altLang="en-US" sz="1150" dirty="0" err="1"/>
              <a:t>전용실시권자는</a:t>
            </a:r>
            <a:r>
              <a:rPr lang="ko-KR" altLang="en-US" sz="1150" dirty="0"/>
              <a:t> 고의 또는 과실로 자기의 특허권 또는 </a:t>
            </a:r>
            <a:r>
              <a:rPr lang="ko-KR" altLang="en-US" sz="1150" dirty="0" err="1"/>
              <a:t>전용실시권을</a:t>
            </a:r>
            <a:r>
              <a:rPr lang="ko-KR" altLang="en-US" sz="1150" dirty="0"/>
              <a:t> 침해한 자에 대하여 침해로 인하여 입은 손해의 배상을 청구할 수 있다</a:t>
            </a:r>
            <a:r>
              <a:rPr lang="en-US" altLang="ko-KR" sz="1150" dirty="0"/>
              <a:t>.  </a:t>
            </a:r>
          </a:p>
          <a:p>
            <a:pPr fontAlgn="base"/>
            <a:r>
              <a:rPr lang="ko-KR" altLang="en-US" sz="1150" dirty="0">
                <a:solidFill>
                  <a:srgbClr val="FF0000"/>
                </a:solidFill>
              </a:rPr>
              <a:t>② 제</a:t>
            </a:r>
            <a:r>
              <a:rPr lang="en-US" altLang="ko-KR" sz="1150" dirty="0">
                <a:solidFill>
                  <a:srgbClr val="FF0000"/>
                </a:solidFill>
              </a:rPr>
              <a:t>1</a:t>
            </a:r>
            <a:r>
              <a:rPr lang="ko-KR" altLang="en-US" sz="1150" dirty="0">
                <a:solidFill>
                  <a:srgbClr val="FF0000"/>
                </a:solidFill>
              </a:rPr>
              <a:t>항에 따라 손해배상을 청구하는 경우 그 권리를 침해한 자가 그 침해행위를 하게 한 물건을 양도하였을 때에는 다음 각 호에 해당하는 금액의 합계액을 특허권자 또는 </a:t>
            </a:r>
            <a:r>
              <a:rPr lang="ko-KR" altLang="en-US" sz="1150" dirty="0" err="1">
                <a:solidFill>
                  <a:srgbClr val="FF0000"/>
                </a:solidFill>
              </a:rPr>
              <a:t>전용실시권자가</a:t>
            </a:r>
            <a:r>
              <a:rPr lang="ko-KR" altLang="en-US" sz="1150" dirty="0">
                <a:solidFill>
                  <a:srgbClr val="FF0000"/>
                </a:solidFill>
              </a:rPr>
              <a:t> 입은 손해액으로 할 수 있다</a:t>
            </a:r>
            <a:r>
              <a:rPr lang="en-US" altLang="ko-KR" sz="1150" dirty="0">
                <a:solidFill>
                  <a:srgbClr val="FF0000"/>
                </a:solidFill>
              </a:rPr>
              <a:t>.  </a:t>
            </a:r>
          </a:p>
          <a:p>
            <a:pPr marL="223838" indent="-223838" fontAlgn="base"/>
            <a:r>
              <a:rPr lang="en-US" altLang="ko-KR" sz="1150" dirty="0">
                <a:solidFill>
                  <a:srgbClr val="FF0000"/>
                </a:solidFill>
              </a:rPr>
              <a:t>  1. </a:t>
            </a:r>
            <a:r>
              <a:rPr lang="ko-KR" altLang="en-US" sz="1150" dirty="0">
                <a:solidFill>
                  <a:srgbClr val="FF0000"/>
                </a:solidFill>
              </a:rPr>
              <a:t>그 물건의 양도수량</a:t>
            </a:r>
            <a:r>
              <a:rPr lang="en-US" altLang="ko-KR" sz="1150" dirty="0">
                <a:solidFill>
                  <a:srgbClr val="FF0000"/>
                </a:solidFill>
              </a:rPr>
              <a:t>(</a:t>
            </a:r>
            <a:r>
              <a:rPr lang="ko-KR" altLang="en-US" sz="1150" dirty="0">
                <a:solidFill>
                  <a:srgbClr val="FF0000"/>
                </a:solidFill>
              </a:rPr>
              <a:t>특허권자 또는 </a:t>
            </a:r>
            <a:r>
              <a:rPr lang="ko-KR" altLang="en-US" sz="1150" dirty="0" err="1">
                <a:solidFill>
                  <a:srgbClr val="FF0000"/>
                </a:solidFill>
              </a:rPr>
              <a:t>전용실시권자가</a:t>
            </a:r>
            <a:r>
              <a:rPr lang="ko-KR" altLang="en-US" sz="1150" dirty="0">
                <a:solidFill>
                  <a:srgbClr val="FF0000"/>
                </a:solidFill>
              </a:rPr>
              <a:t> 그 침해행위 외의 사유로 판매할 수 없었던 사정이 있는 경우에는 그 침해행위 외의 사유로 판매할 수 없었던 수량을 뺀 수량</a:t>
            </a:r>
            <a:r>
              <a:rPr lang="en-US" altLang="ko-KR" sz="1150" dirty="0">
                <a:solidFill>
                  <a:srgbClr val="FF0000"/>
                </a:solidFill>
              </a:rPr>
              <a:t>) </a:t>
            </a:r>
            <a:r>
              <a:rPr lang="ko-KR" altLang="en-US" sz="1150" dirty="0">
                <a:solidFill>
                  <a:srgbClr val="FF0000"/>
                </a:solidFill>
              </a:rPr>
              <a:t>중 특허권자 또는 </a:t>
            </a:r>
            <a:r>
              <a:rPr lang="ko-KR" altLang="en-US" sz="1150" dirty="0" err="1">
                <a:solidFill>
                  <a:srgbClr val="FF0000"/>
                </a:solidFill>
              </a:rPr>
              <a:t>전용실시권자가</a:t>
            </a:r>
            <a:r>
              <a:rPr lang="ko-KR" altLang="en-US" sz="1150" dirty="0">
                <a:solidFill>
                  <a:srgbClr val="FF0000"/>
                </a:solidFill>
              </a:rPr>
              <a:t> 생산할 수 있었던 물건의 수량에서 실제 판매한 물건의 수량을 뺀 수량을 넘지 않는 수량에 특허권자 또는 </a:t>
            </a:r>
            <a:r>
              <a:rPr lang="ko-KR" altLang="en-US" sz="1150" dirty="0" err="1">
                <a:solidFill>
                  <a:srgbClr val="FF0000"/>
                </a:solidFill>
              </a:rPr>
              <a:t>전용실시권자가</a:t>
            </a:r>
            <a:r>
              <a:rPr lang="ko-KR" altLang="en-US" sz="1150" dirty="0">
                <a:solidFill>
                  <a:srgbClr val="FF0000"/>
                </a:solidFill>
              </a:rPr>
              <a:t> 그 침해행위가 없었다면 판매할 수 있었던 물건의 단위수량당 이익액을 곱한 금액</a:t>
            </a:r>
          </a:p>
          <a:p>
            <a:pPr marL="233363" indent="-233363" fontAlgn="base"/>
            <a:r>
              <a:rPr lang="ko-KR" altLang="en-US" sz="1150" dirty="0">
                <a:solidFill>
                  <a:srgbClr val="FF0000"/>
                </a:solidFill>
              </a:rPr>
              <a:t>  </a:t>
            </a:r>
            <a:r>
              <a:rPr lang="en-US" altLang="ko-KR" sz="1150" dirty="0">
                <a:solidFill>
                  <a:srgbClr val="FF0000"/>
                </a:solidFill>
              </a:rPr>
              <a:t>2. </a:t>
            </a:r>
            <a:r>
              <a:rPr lang="ko-KR" altLang="en-US" sz="1150" dirty="0">
                <a:solidFill>
                  <a:srgbClr val="FF0000"/>
                </a:solidFill>
              </a:rPr>
              <a:t>그 물건의 양도수량 중 특허권자 또는 </a:t>
            </a:r>
            <a:r>
              <a:rPr lang="ko-KR" altLang="en-US" sz="1150" dirty="0" err="1">
                <a:solidFill>
                  <a:srgbClr val="FF0000"/>
                </a:solidFill>
              </a:rPr>
              <a:t>전용실시권자가</a:t>
            </a:r>
            <a:r>
              <a:rPr lang="ko-KR" altLang="en-US" sz="1150" dirty="0">
                <a:solidFill>
                  <a:srgbClr val="FF0000"/>
                </a:solidFill>
              </a:rPr>
              <a:t> 생산할 수 있었던 물건의 수량에서 실제 판매한 물건의 수량을 뺀 수량을 넘는 수량 또는 그 침해행위 외의 사유로 판매할 수 없었던 수량이 있는 경우 이들 수량</a:t>
            </a:r>
            <a:r>
              <a:rPr lang="en-US" altLang="ko-KR" sz="1150" dirty="0">
                <a:solidFill>
                  <a:srgbClr val="FF0000"/>
                </a:solidFill>
              </a:rPr>
              <a:t>(</a:t>
            </a:r>
            <a:r>
              <a:rPr lang="ko-KR" altLang="en-US" sz="1150" dirty="0">
                <a:solidFill>
                  <a:srgbClr val="FF0000"/>
                </a:solidFill>
              </a:rPr>
              <a:t>특허권자 또는 </a:t>
            </a:r>
            <a:r>
              <a:rPr lang="ko-KR" altLang="en-US" sz="1150" dirty="0" err="1">
                <a:solidFill>
                  <a:srgbClr val="FF0000"/>
                </a:solidFill>
              </a:rPr>
              <a:t>전용실시권자가</a:t>
            </a:r>
            <a:r>
              <a:rPr lang="ko-KR" altLang="en-US" sz="1150" dirty="0">
                <a:solidFill>
                  <a:srgbClr val="FF0000"/>
                </a:solidFill>
              </a:rPr>
              <a:t> 그 특허권자의 특허권에 대한 전용실시권의 설정</a:t>
            </a:r>
            <a:r>
              <a:rPr lang="en-US" altLang="ko-KR" sz="1150" dirty="0">
                <a:solidFill>
                  <a:srgbClr val="FF0000"/>
                </a:solidFill>
              </a:rPr>
              <a:t>, </a:t>
            </a:r>
            <a:r>
              <a:rPr lang="ko-KR" altLang="en-US" sz="1150" dirty="0">
                <a:solidFill>
                  <a:srgbClr val="FF0000"/>
                </a:solidFill>
              </a:rPr>
              <a:t>통상실시권의 허락 또는 그 </a:t>
            </a:r>
            <a:r>
              <a:rPr lang="ko-KR" altLang="en-US" sz="1150" dirty="0" err="1">
                <a:solidFill>
                  <a:srgbClr val="FF0000"/>
                </a:solidFill>
              </a:rPr>
              <a:t>전용실시권자의</a:t>
            </a:r>
            <a:r>
              <a:rPr lang="ko-KR" altLang="en-US" sz="1150" dirty="0">
                <a:solidFill>
                  <a:srgbClr val="FF0000"/>
                </a:solidFill>
              </a:rPr>
              <a:t> 전용실시권에 대한 통상실시권의 허락을 할 수 있었다고 인정되지 않는 경우에는 해당 수량을 뺀 수량</a:t>
            </a:r>
            <a:r>
              <a:rPr lang="en-US" altLang="ko-KR" sz="1150" dirty="0">
                <a:solidFill>
                  <a:srgbClr val="FF0000"/>
                </a:solidFill>
              </a:rPr>
              <a:t>)</a:t>
            </a:r>
            <a:r>
              <a:rPr lang="ko-KR" altLang="en-US" sz="1150" dirty="0">
                <a:solidFill>
                  <a:srgbClr val="FF0000"/>
                </a:solidFill>
              </a:rPr>
              <a:t>에 대해서는 특허발명의 실시에 대하여 합리적으로 받을 수 있는 금액</a:t>
            </a:r>
          </a:p>
          <a:p>
            <a:pPr fontAlgn="base"/>
            <a:r>
              <a:rPr lang="ko-KR" altLang="en-US" sz="1150" dirty="0">
                <a:solidFill>
                  <a:srgbClr val="FF0000"/>
                </a:solidFill>
              </a:rPr>
              <a:t>③ 삭제</a:t>
            </a:r>
            <a:endParaRPr lang="en-US" altLang="ko-KR" sz="1150" dirty="0">
              <a:solidFill>
                <a:srgbClr val="FF0000"/>
              </a:solidFill>
            </a:endParaRPr>
          </a:p>
          <a:p>
            <a:pPr fontAlgn="base"/>
            <a:r>
              <a:rPr lang="en-US" altLang="ko-KR" sz="1150" dirty="0"/>
              <a:t>④ </a:t>
            </a:r>
            <a:r>
              <a:rPr lang="ko-KR" altLang="en-US" sz="1150" dirty="0"/>
              <a:t>제</a:t>
            </a:r>
            <a:r>
              <a:rPr lang="en-US" altLang="ko-KR" sz="1150" dirty="0"/>
              <a:t>1</a:t>
            </a:r>
            <a:r>
              <a:rPr lang="ko-KR" altLang="en-US" sz="1150" dirty="0"/>
              <a:t>항에 따라 손해배상을 청구하는 경우 특허권 또는 전용실시권을 침해한 자가 그 침해행위로 인하여 얻은 이익액을 특허권자 또는 </a:t>
            </a:r>
            <a:r>
              <a:rPr lang="ko-KR" altLang="en-US" sz="1150" dirty="0" err="1"/>
              <a:t>전용실시권자가</a:t>
            </a:r>
            <a:r>
              <a:rPr lang="ko-KR" altLang="en-US" sz="1150" dirty="0"/>
              <a:t> 입은 손해액으로 추정한다</a:t>
            </a:r>
            <a:r>
              <a:rPr lang="en-US" altLang="ko-KR" sz="1150" dirty="0"/>
              <a:t>.  </a:t>
            </a:r>
          </a:p>
          <a:p>
            <a:pPr fontAlgn="base"/>
            <a:r>
              <a:rPr lang="en-US" altLang="ko-KR" sz="1150" dirty="0"/>
              <a:t>⑤ </a:t>
            </a:r>
            <a:r>
              <a:rPr lang="ko-KR" altLang="en-US" sz="1150" dirty="0"/>
              <a:t>제</a:t>
            </a:r>
            <a:r>
              <a:rPr lang="en-US" altLang="ko-KR" sz="1150" dirty="0"/>
              <a:t>1</a:t>
            </a:r>
            <a:r>
              <a:rPr lang="ko-KR" altLang="en-US" sz="1150" dirty="0"/>
              <a:t>항에 따라 손해배상을 청구하는 경우 그 특허발명의 실시에 대하여 </a:t>
            </a:r>
            <a:r>
              <a:rPr lang="ko-KR" altLang="en-US" sz="1150" dirty="0">
                <a:solidFill>
                  <a:srgbClr val="FF0000"/>
                </a:solidFill>
              </a:rPr>
              <a:t>합리적</a:t>
            </a:r>
            <a:r>
              <a:rPr lang="ko-KR" altLang="en-US" sz="1150" dirty="0"/>
              <a:t>으로 받을 수 있는 금액을 특허권자 또는 </a:t>
            </a:r>
            <a:r>
              <a:rPr lang="ko-KR" altLang="en-US" sz="1150" dirty="0" err="1"/>
              <a:t>전용실시권자가</a:t>
            </a:r>
            <a:r>
              <a:rPr lang="ko-KR" altLang="en-US" sz="1150" dirty="0"/>
              <a:t> 입은 손해액으로 하여 손해배상을 청구할 수 있다</a:t>
            </a:r>
            <a:r>
              <a:rPr lang="en-US" altLang="ko-KR" sz="1150" dirty="0"/>
              <a:t>.  </a:t>
            </a:r>
          </a:p>
          <a:p>
            <a:pPr fontAlgn="base"/>
            <a:r>
              <a:rPr lang="en-US" altLang="ko-KR" sz="1150" dirty="0"/>
              <a:t>⑥ </a:t>
            </a:r>
            <a:r>
              <a:rPr lang="ko-KR" altLang="en-US" sz="1150" dirty="0"/>
              <a:t>제</a:t>
            </a:r>
            <a:r>
              <a:rPr lang="en-US" altLang="ko-KR" sz="1150" dirty="0"/>
              <a:t>5</a:t>
            </a:r>
            <a:r>
              <a:rPr lang="ko-KR" altLang="en-US" sz="1150" dirty="0"/>
              <a:t>항에도 불구하고 손해액이 같은 항에 따른 금액을 초과하는 경우에는 그 초과액에 대해서도 손해배상을 청구할 수 있다</a:t>
            </a:r>
            <a:r>
              <a:rPr lang="en-US" altLang="ko-KR" sz="1150" dirty="0"/>
              <a:t>. </a:t>
            </a:r>
            <a:r>
              <a:rPr lang="ko-KR" altLang="en-US" sz="1150" dirty="0"/>
              <a:t>이 경우 특허권 또는 </a:t>
            </a:r>
            <a:r>
              <a:rPr lang="ko-KR" altLang="en-US" sz="1150" dirty="0" err="1"/>
              <a:t>전용실시권을</a:t>
            </a:r>
            <a:r>
              <a:rPr lang="ko-KR" altLang="en-US" sz="1150" dirty="0"/>
              <a:t> 침해한 자에게 고의 또는 중대한 과실이 없을 때에는 법원은 손해배상액을 산정할 때 그 사실을 고려할 수 있다</a:t>
            </a:r>
            <a:r>
              <a:rPr lang="en-US" altLang="ko-KR" sz="1150" dirty="0"/>
              <a:t>.  </a:t>
            </a:r>
          </a:p>
          <a:p>
            <a:pPr fontAlgn="base"/>
            <a:r>
              <a:rPr lang="en-US" altLang="ko-KR" sz="1150" dirty="0"/>
              <a:t>⑦ </a:t>
            </a:r>
            <a:r>
              <a:rPr lang="ko-KR" altLang="en-US" sz="1150" dirty="0"/>
              <a:t>법원은 특허권 또는 </a:t>
            </a:r>
            <a:r>
              <a:rPr lang="ko-KR" altLang="en-US" sz="1150" dirty="0" err="1"/>
              <a:t>전용실시권의</a:t>
            </a:r>
            <a:r>
              <a:rPr lang="ko-KR" altLang="en-US" sz="1150" dirty="0"/>
              <a:t> 침해에 관한 소송에서 손해가 발생된 것은 인정되나 그 손해액을 증명하기 위하여 필요한 사실을 증명하는 것이 해당 사실의 성질상 극히 곤란한 경우에는 제</a:t>
            </a:r>
            <a:r>
              <a:rPr lang="en-US" altLang="ko-KR" sz="1150" dirty="0"/>
              <a:t>2</a:t>
            </a:r>
            <a:r>
              <a:rPr lang="ko-KR" altLang="en-US" sz="1150" dirty="0"/>
              <a:t>항부터 제</a:t>
            </a:r>
            <a:r>
              <a:rPr lang="en-US" altLang="ko-KR" sz="1150" dirty="0"/>
              <a:t>6</a:t>
            </a:r>
            <a:r>
              <a:rPr lang="ko-KR" altLang="en-US" sz="1150" dirty="0"/>
              <a:t>항까지의 규정에도 불구하고 변론 전체의 취지와 증거조사의 결과에 기초하여 상당한 손해액을 인정할 수 있다</a:t>
            </a:r>
            <a:r>
              <a:rPr lang="en-US" altLang="ko-KR" sz="1150" dirty="0"/>
              <a:t>. </a:t>
            </a:r>
          </a:p>
          <a:p>
            <a:pPr fontAlgn="base"/>
            <a:r>
              <a:rPr lang="ko-KR" altLang="en-US" sz="1150" dirty="0"/>
              <a:t>⑧ 법원은 타인의 특허권 또는 전용실시권을 침해한 행위가 고의적인 것으로 인정되는 경우에는 제</a:t>
            </a:r>
            <a:r>
              <a:rPr lang="en-US" altLang="ko-KR" sz="1150" dirty="0"/>
              <a:t>1</a:t>
            </a:r>
            <a:r>
              <a:rPr lang="ko-KR" altLang="en-US" sz="1150" dirty="0"/>
              <a:t>항에도 불구하고 제</a:t>
            </a:r>
            <a:r>
              <a:rPr lang="en-US" altLang="ko-KR" sz="1150" dirty="0"/>
              <a:t>2</a:t>
            </a:r>
            <a:r>
              <a:rPr lang="ko-KR" altLang="en-US" sz="1150" dirty="0"/>
              <a:t>항부터 제</a:t>
            </a:r>
            <a:r>
              <a:rPr lang="en-US" altLang="ko-KR" sz="1150" dirty="0"/>
              <a:t>7</a:t>
            </a:r>
            <a:r>
              <a:rPr lang="ko-KR" altLang="en-US" sz="1150" dirty="0"/>
              <a:t>항까지의 규정에 따라 손해로 인정된 금액의 </a:t>
            </a:r>
            <a:r>
              <a:rPr lang="en-US" altLang="ko-KR" sz="1150" dirty="0">
                <a:solidFill>
                  <a:srgbClr val="FF0000"/>
                </a:solidFill>
              </a:rPr>
              <a:t>5</a:t>
            </a:r>
            <a:r>
              <a:rPr lang="ko-KR" altLang="en-US" sz="1150" dirty="0">
                <a:solidFill>
                  <a:srgbClr val="FF0000"/>
                </a:solidFill>
              </a:rPr>
              <a:t>배</a:t>
            </a:r>
            <a:r>
              <a:rPr lang="ko-KR" altLang="en-US" sz="1150" dirty="0"/>
              <a:t>를 넘지 아니하는 범위에서 배상액을 정할 수 있다</a:t>
            </a:r>
            <a:r>
              <a:rPr lang="en-US" altLang="ko-KR" sz="1150" dirty="0"/>
              <a:t>. </a:t>
            </a:r>
          </a:p>
          <a:p>
            <a:pPr fontAlgn="base"/>
            <a:r>
              <a:rPr lang="en-US" altLang="ko-KR" sz="1150" dirty="0"/>
              <a:t>⑨ </a:t>
            </a:r>
            <a:r>
              <a:rPr lang="ko-KR" altLang="en-US" sz="1150" dirty="0"/>
              <a:t>제</a:t>
            </a:r>
            <a:r>
              <a:rPr lang="en-US" altLang="ko-KR" sz="1150" dirty="0"/>
              <a:t>8</a:t>
            </a:r>
            <a:r>
              <a:rPr lang="ko-KR" altLang="en-US" sz="1150" dirty="0"/>
              <a:t>항에 따른 배상액을 판단할 때에는 다음 각 호의 사항을 고려하여야 한다</a:t>
            </a:r>
            <a:r>
              <a:rPr lang="en-US" altLang="ko-KR" sz="1150" dirty="0"/>
              <a:t>. </a:t>
            </a:r>
          </a:p>
          <a:p>
            <a:pPr fontAlgn="base"/>
            <a:r>
              <a:rPr lang="en-US" altLang="ko-KR" sz="1150" dirty="0"/>
              <a:t>  1. </a:t>
            </a:r>
            <a:r>
              <a:rPr lang="ko-KR" altLang="en-US" sz="1150" dirty="0"/>
              <a:t>침해행위를 한 자의 우월적 지위 여부</a:t>
            </a:r>
          </a:p>
          <a:p>
            <a:pPr fontAlgn="base"/>
            <a:r>
              <a:rPr lang="ko-KR" altLang="en-US" sz="1150" dirty="0"/>
              <a:t>  </a:t>
            </a:r>
            <a:r>
              <a:rPr lang="en-US" altLang="ko-KR" sz="1150" dirty="0"/>
              <a:t>2. </a:t>
            </a:r>
            <a:r>
              <a:rPr lang="ko-KR" altLang="en-US" sz="1150" dirty="0"/>
              <a:t>고의 또는 손해 발생의 우려를 인식한 정도</a:t>
            </a:r>
          </a:p>
          <a:p>
            <a:pPr fontAlgn="base"/>
            <a:r>
              <a:rPr lang="ko-KR" altLang="en-US" sz="1150" dirty="0"/>
              <a:t>  </a:t>
            </a:r>
            <a:r>
              <a:rPr lang="en-US" altLang="ko-KR" sz="1150" dirty="0"/>
              <a:t>3. </a:t>
            </a:r>
            <a:r>
              <a:rPr lang="ko-KR" altLang="en-US" sz="1150" dirty="0"/>
              <a:t>침해행위로 인하여 특허권자 및 </a:t>
            </a:r>
            <a:r>
              <a:rPr lang="ko-KR" altLang="en-US" sz="1150" dirty="0" err="1"/>
              <a:t>전용실시권자가</a:t>
            </a:r>
            <a:r>
              <a:rPr lang="ko-KR" altLang="en-US" sz="1150" dirty="0"/>
              <a:t> 입은 피해규모</a:t>
            </a:r>
          </a:p>
          <a:p>
            <a:pPr fontAlgn="base"/>
            <a:r>
              <a:rPr lang="ko-KR" altLang="en-US" sz="1150" dirty="0"/>
              <a:t>  </a:t>
            </a:r>
            <a:r>
              <a:rPr lang="en-US" altLang="ko-KR" sz="1150" dirty="0"/>
              <a:t>4. </a:t>
            </a:r>
            <a:r>
              <a:rPr lang="ko-KR" altLang="en-US" sz="1150" dirty="0"/>
              <a:t>침해행위로 인하여 침해한 자가 얻은 경제적 이익</a:t>
            </a:r>
          </a:p>
          <a:p>
            <a:pPr fontAlgn="base"/>
            <a:r>
              <a:rPr lang="ko-KR" altLang="en-US" sz="1150" dirty="0"/>
              <a:t>  </a:t>
            </a:r>
            <a:r>
              <a:rPr lang="en-US" altLang="ko-KR" sz="1150" dirty="0"/>
              <a:t>5. </a:t>
            </a:r>
            <a:r>
              <a:rPr lang="ko-KR" altLang="en-US" sz="1150" dirty="0"/>
              <a:t>침해행위의 </a:t>
            </a:r>
            <a:r>
              <a:rPr lang="ko-KR" altLang="en-US" sz="1150" dirty="0" err="1"/>
              <a:t>기간ㆍ횟수</a:t>
            </a:r>
            <a:r>
              <a:rPr lang="ko-KR" altLang="en-US" sz="1150" dirty="0"/>
              <a:t> 등</a:t>
            </a:r>
          </a:p>
          <a:p>
            <a:pPr fontAlgn="base"/>
            <a:r>
              <a:rPr lang="ko-KR" altLang="en-US" sz="1150" dirty="0"/>
              <a:t>  </a:t>
            </a:r>
            <a:r>
              <a:rPr lang="en-US" altLang="ko-KR" sz="1150" dirty="0"/>
              <a:t>6. </a:t>
            </a:r>
            <a:r>
              <a:rPr lang="ko-KR" altLang="en-US" sz="1150" dirty="0"/>
              <a:t>침해행위에 따른 벌금</a:t>
            </a:r>
          </a:p>
          <a:p>
            <a:pPr fontAlgn="base"/>
            <a:r>
              <a:rPr lang="ko-KR" altLang="en-US" sz="1150" dirty="0"/>
              <a:t>  </a:t>
            </a:r>
            <a:r>
              <a:rPr lang="en-US" altLang="ko-KR" sz="1150" dirty="0"/>
              <a:t>7. </a:t>
            </a:r>
            <a:r>
              <a:rPr lang="ko-KR" altLang="en-US" sz="1150" dirty="0"/>
              <a:t>침해행위를 한 자의 재산상태</a:t>
            </a:r>
          </a:p>
          <a:p>
            <a:pPr fontAlgn="base"/>
            <a:r>
              <a:rPr lang="ko-KR" altLang="en-US" sz="1150" dirty="0"/>
              <a:t>  </a:t>
            </a:r>
            <a:r>
              <a:rPr lang="en-US" altLang="ko-KR" sz="1150" dirty="0"/>
              <a:t>8. </a:t>
            </a:r>
            <a:r>
              <a:rPr lang="ko-KR" altLang="en-US" sz="1150" dirty="0"/>
              <a:t>침해행위를 한 자의 피해구제 노력의 정도</a:t>
            </a:r>
            <a:endParaRPr lang="en-US" altLang="ko-KR" sz="1150" dirty="0"/>
          </a:p>
        </p:txBody>
      </p:sp>
      <p:sp>
        <p:nvSpPr>
          <p:cNvPr id="4" name="TextBox 3"/>
          <p:cNvSpPr txBox="1"/>
          <p:nvPr/>
        </p:nvSpPr>
        <p:spPr>
          <a:xfrm>
            <a:off x="4823185" y="4840695"/>
            <a:ext cx="1585834" cy="692666"/>
          </a:xfrm>
          <a:prstGeom prst="rect">
            <a:avLst/>
          </a:prstGeom>
          <a:solidFill>
            <a:schemeClr val="accent1">
              <a:lumMod val="50000"/>
            </a:schemeClr>
          </a:solidFill>
          <a:ln>
            <a:solidFill>
              <a:schemeClr val="bg1">
                <a:lumMod val="50000"/>
              </a:schemeClr>
            </a:solidFill>
          </a:ln>
        </p:spPr>
        <p:txBody>
          <a:bodyPr wrap="square" rtlCol="0" anchor="ctr">
            <a:noAutofit/>
          </a:bodyPr>
          <a:lstStyle/>
          <a:p>
            <a:pPr algn="ctr"/>
            <a:r>
              <a:rPr lang="ko-KR" altLang="en-US" sz="1600" dirty="0">
                <a:solidFill>
                  <a:schemeClr val="accent4"/>
                </a:solidFill>
              </a:rPr>
              <a:t>손해배상청구권</a:t>
            </a:r>
            <a:endParaRPr lang="en-US" altLang="ko-KR" sz="1600" dirty="0">
              <a:solidFill>
                <a:schemeClr val="accent4"/>
              </a:solidFill>
            </a:endParaRPr>
          </a:p>
          <a:p>
            <a:pPr algn="ctr"/>
            <a:r>
              <a:rPr lang="en-US" altLang="ko-KR" sz="1600" dirty="0">
                <a:solidFill>
                  <a:schemeClr val="accent4"/>
                </a:solidFill>
              </a:rPr>
              <a:t>(</a:t>
            </a:r>
            <a:r>
              <a:rPr lang="ko-KR" altLang="en-US" sz="1600" dirty="0">
                <a:solidFill>
                  <a:schemeClr val="accent4"/>
                </a:solidFill>
              </a:rPr>
              <a:t>제</a:t>
            </a:r>
            <a:r>
              <a:rPr lang="en-US" altLang="ko-KR" sz="1600" dirty="0">
                <a:solidFill>
                  <a:schemeClr val="accent4"/>
                </a:solidFill>
              </a:rPr>
              <a:t>128</a:t>
            </a:r>
            <a:r>
              <a:rPr lang="ko-KR" altLang="en-US" sz="1600" dirty="0">
                <a:solidFill>
                  <a:schemeClr val="accent4"/>
                </a:solidFill>
              </a:rPr>
              <a:t>조</a:t>
            </a:r>
            <a:r>
              <a:rPr lang="en-US" altLang="ko-KR" sz="1600" dirty="0">
                <a:solidFill>
                  <a:schemeClr val="accent4"/>
                </a:solidFill>
              </a:rPr>
              <a:t>)</a:t>
            </a:r>
            <a:endParaRPr lang="ko-KR" altLang="en-US" sz="1600" dirty="0">
              <a:solidFill>
                <a:schemeClr val="accent4"/>
              </a:solidFill>
            </a:endParaRPr>
          </a:p>
        </p:txBody>
      </p:sp>
      <p:sp>
        <p:nvSpPr>
          <p:cNvPr id="12" name="TextBox 11"/>
          <p:cNvSpPr txBox="1"/>
          <p:nvPr/>
        </p:nvSpPr>
        <p:spPr>
          <a:xfrm>
            <a:off x="575812" y="6072595"/>
            <a:ext cx="1468408" cy="629166"/>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600" dirty="0"/>
              <a:t>의의</a:t>
            </a:r>
            <a:endParaRPr lang="en-US" altLang="ko-KR" sz="1600" dirty="0"/>
          </a:p>
          <a:p>
            <a:pPr algn="ctr"/>
            <a:r>
              <a:rPr lang="en-US" altLang="ko-KR" sz="1600" dirty="0"/>
              <a:t>(</a:t>
            </a:r>
            <a:r>
              <a:rPr lang="ko-KR" altLang="en-US" sz="1600" dirty="0"/>
              <a:t>제</a:t>
            </a:r>
            <a:r>
              <a:rPr lang="en-US" altLang="ko-KR" sz="1600" dirty="0"/>
              <a:t>1</a:t>
            </a:r>
            <a:r>
              <a:rPr lang="ko-KR" altLang="en-US" sz="1600" dirty="0"/>
              <a:t>항</a:t>
            </a:r>
            <a:r>
              <a:rPr lang="en-US" altLang="ko-KR" sz="1600" dirty="0"/>
              <a:t>)</a:t>
            </a:r>
            <a:endParaRPr lang="ko-KR" altLang="en-US" sz="1600" dirty="0"/>
          </a:p>
        </p:txBody>
      </p:sp>
      <p:sp>
        <p:nvSpPr>
          <p:cNvPr id="13" name="TextBox 12"/>
          <p:cNvSpPr txBox="1"/>
          <p:nvPr/>
        </p:nvSpPr>
        <p:spPr>
          <a:xfrm>
            <a:off x="2229055" y="6072595"/>
            <a:ext cx="1468408" cy="629166"/>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600" dirty="0"/>
              <a:t>산정</a:t>
            </a:r>
            <a:endParaRPr lang="en-US" altLang="ko-KR" sz="1600" dirty="0"/>
          </a:p>
          <a:p>
            <a:pPr algn="ctr"/>
            <a:r>
              <a:rPr lang="en-US" altLang="ko-KR" sz="1600" dirty="0"/>
              <a:t>(</a:t>
            </a:r>
            <a:r>
              <a:rPr lang="ko-KR" altLang="en-US" sz="1600" dirty="0"/>
              <a:t>제</a:t>
            </a:r>
            <a:r>
              <a:rPr lang="en-US" altLang="ko-KR" sz="1600" dirty="0"/>
              <a:t>2</a:t>
            </a:r>
            <a:r>
              <a:rPr lang="ko-KR" altLang="en-US" sz="1600" dirty="0"/>
              <a:t>항</a:t>
            </a:r>
            <a:r>
              <a:rPr lang="en-US" altLang="ko-KR" sz="1600" dirty="0"/>
              <a:t>)</a:t>
            </a:r>
            <a:endParaRPr lang="ko-KR" altLang="en-US" sz="1600" dirty="0"/>
          </a:p>
        </p:txBody>
      </p:sp>
      <p:sp>
        <p:nvSpPr>
          <p:cNvPr id="14" name="TextBox 13"/>
          <p:cNvSpPr txBox="1"/>
          <p:nvPr/>
        </p:nvSpPr>
        <p:spPr>
          <a:xfrm>
            <a:off x="3882973" y="6072595"/>
            <a:ext cx="1468408" cy="629166"/>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600" dirty="0"/>
              <a:t>추정</a:t>
            </a:r>
            <a:endParaRPr lang="en-US" altLang="ko-KR" sz="1600" dirty="0"/>
          </a:p>
          <a:p>
            <a:pPr algn="ctr"/>
            <a:r>
              <a:rPr lang="en-US" altLang="ko-KR" sz="1600" dirty="0"/>
              <a:t>(</a:t>
            </a:r>
            <a:r>
              <a:rPr lang="ko-KR" altLang="en-US" sz="1600" dirty="0"/>
              <a:t>제</a:t>
            </a:r>
            <a:r>
              <a:rPr lang="en-US" altLang="ko-KR" sz="1600" dirty="0"/>
              <a:t>4</a:t>
            </a:r>
            <a:r>
              <a:rPr lang="ko-KR" altLang="en-US" sz="1600" dirty="0"/>
              <a:t>항</a:t>
            </a:r>
            <a:r>
              <a:rPr lang="en-US" altLang="ko-KR" sz="1600" dirty="0"/>
              <a:t>)</a:t>
            </a:r>
            <a:endParaRPr lang="ko-KR" altLang="en-US" sz="1600" dirty="0"/>
          </a:p>
        </p:txBody>
      </p:sp>
      <p:sp>
        <p:nvSpPr>
          <p:cNvPr id="15" name="TextBox 14"/>
          <p:cNvSpPr txBox="1"/>
          <p:nvPr/>
        </p:nvSpPr>
        <p:spPr>
          <a:xfrm>
            <a:off x="5515678" y="6072595"/>
            <a:ext cx="1468408" cy="629166"/>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600" dirty="0"/>
              <a:t>의제</a:t>
            </a:r>
            <a:endParaRPr lang="en-US" altLang="ko-KR" sz="1600" dirty="0"/>
          </a:p>
          <a:p>
            <a:pPr algn="ctr"/>
            <a:r>
              <a:rPr lang="en-US" altLang="ko-KR" sz="1600" dirty="0"/>
              <a:t>(</a:t>
            </a:r>
            <a:r>
              <a:rPr lang="ko-KR" altLang="en-US" sz="1600" dirty="0"/>
              <a:t>제</a:t>
            </a:r>
            <a:r>
              <a:rPr lang="en-US" altLang="ko-KR" sz="1600" dirty="0"/>
              <a:t>5</a:t>
            </a:r>
            <a:r>
              <a:rPr lang="ko-KR" altLang="en-US" sz="1600" dirty="0"/>
              <a:t>항</a:t>
            </a:r>
            <a:r>
              <a:rPr lang="en-US" altLang="ko-KR" sz="1600" dirty="0"/>
              <a:t>)</a:t>
            </a:r>
            <a:endParaRPr lang="ko-KR" altLang="en-US" sz="1600" dirty="0"/>
          </a:p>
        </p:txBody>
      </p:sp>
      <p:sp>
        <p:nvSpPr>
          <p:cNvPr id="16" name="TextBox 15"/>
          <p:cNvSpPr txBox="1"/>
          <p:nvPr/>
        </p:nvSpPr>
        <p:spPr>
          <a:xfrm>
            <a:off x="7152842" y="6072595"/>
            <a:ext cx="1468408" cy="629166"/>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600" dirty="0"/>
              <a:t>참작</a:t>
            </a:r>
            <a:endParaRPr lang="en-US" altLang="ko-KR" sz="1600" dirty="0"/>
          </a:p>
          <a:p>
            <a:pPr algn="ctr"/>
            <a:r>
              <a:rPr lang="en-US" altLang="ko-KR" sz="1600" dirty="0"/>
              <a:t>(</a:t>
            </a:r>
            <a:r>
              <a:rPr lang="ko-KR" altLang="en-US" sz="1600" dirty="0"/>
              <a:t>제</a:t>
            </a:r>
            <a:r>
              <a:rPr lang="en-US" altLang="ko-KR" sz="1600" dirty="0"/>
              <a:t>6</a:t>
            </a:r>
            <a:r>
              <a:rPr lang="ko-KR" altLang="en-US" sz="1600" dirty="0"/>
              <a:t>항</a:t>
            </a:r>
            <a:r>
              <a:rPr lang="en-US" altLang="ko-KR" sz="1600" dirty="0"/>
              <a:t>)</a:t>
            </a:r>
            <a:endParaRPr lang="ko-KR" altLang="en-US" sz="1600" dirty="0"/>
          </a:p>
        </p:txBody>
      </p:sp>
      <p:sp>
        <p:nvSpPr>
          <p:cNvPr id="17" name="TextBox 16"/>
          <p:cNvSpPr txBox="1"/>
          <p:nvPr/>
        </p:nvSpPr>
        <p:spPr>
          <a:xfrm>
            <a:off x="8775279" y="6072595"/>
            <a:ext cx="1468408" cy="629166"/>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600" dirty="0"/>
              <a:t>인정</a:t>
            </a:r>
            <a:endParaRPr lang="en-US" altLang="ko-KR" sz="1600" dirty="0"/>
          </a:p>
          <a:p>
            <a:pPr algn="ctr"/>
            <a:r>
              <a:rPr lang="en-US" altLang="ko-KR" sz="1600" dirty="0"/>
              <a:t>(</a:t>
            </a:r>
            <a:r>
              <a:rPr lang="ko-KR" altLang="en-US" sz="1600" dirty="0"/>
              <a:t>제</a:t>
            </a:r>
            <a:r>
              <a:rPr lang="en-US" altLang="ko-KR" sz="1600" dirty="0"/>
              <a:t>7</a:t>
            </a:r>
            <a:r>
              <a:rPr lang="ko-KR" altLang="en-US" sz="1600" dirty="0"/>
              <a:t>항</a:t>
            </a:r>
            <a:r>
              <a:rPr lang="en-US" altLang="ko-KR" sz="1600" dirty="0"/>
              <a:t>)</a:t>
            </a:r>
            <a:endParaRPr lang="ko-KR" altLang="en-US" sz="1600" dirty="0"/>
          </a:p>
        </p:txBody>
      </p:sp>
      <p:cxnSp>
        <p:nvCxnSpPr>
          <p:cNvPr id="8" name="꺾인 연결선 7"/>
          <p:cNvCxnSpPr>
            <a:stCxn id="4" idx="2"/>
            <a:endCxn id="12" idx="0"/>
          </p:cNvCxnSpPr>
          <p:nvPr/>
        </p:nvCxnSpPr>
        <p:spPr>
          <a:xfrm rot="5400000">
            <a:off x="3193442" y="3649935"/>
            <a:ext cx="539234" cy="430608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꺾인 연결선 10"/>
          <p:cNvCxnSpPr>
            <a:stCxn id="4" idx="2"/>
            <a:endCxn id="17" idx="0"/>
          </p:cNvCxnSpPr>
          <p:nvPr/>
        </p:nvCxnSpPr>
        <p:spPr>
          <a:xfrm rot="16200000" flipH="1">
            <a:off x="7293175" y="3856287"/>
            <a:ext cx="539234" cy="389338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4" idx="2"/>
            <a:endCxn id="13" idx="0"/>
          </p:cNvCxnSpPr>
          <p:nvPr/>
        </p:nvCxnSpPr>
        <p:spPr>
          <a:xfrm rot="5400000">
            <a:off x="4020064" y="4476557"/>
            <a:ext cx="539234" cy="265284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stCxn id="4" idx="2"/>
            <a:endCxn id="16" idx="0"/>
          </p:cNvCxnSpPr>
          <p:nvPr/>
        </p:nvCxnSpPr>
        <p:spPr>
          <a:xfrm rot="16200000" flipH="1">
            <a:off x="6481957" y="4667506"/>
            <a:ext cx="539234" cy="227094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stCxn id="4" idx="2"/>
            <a:endCxn id="14" idx="0"/>
          </p:cNvCxnSpPr>
          <p:nvPr/>
        </p:nvCxnSpPr>
        <p:spPr>
          <a:xfrm rot="5400000">
            <a:off x="4847023" y="5303516"/>
            <a:ext cx="539234" cy="9989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stCxn id="4" idx="2"/>
            <a:endCxn id="15" idx="0"/>
          </p:cNvCxnSpPr>
          <p:nvPr/>
        </p:nvCxnSpPr>
        <p:spPr>
          <a:xfrm rot="16200000" flipH="1">
            <a:off x="5663375" y="5486088"/>
            <a:ext cx="539234" cy="63378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380</a:t>
            </a:r>
            <a:endParaRPr lang="ko-KR" altLang="en-US"/>
          </a:p>
        </p:txBody>
      </p:sp>
      <p:sp>
        <p:nvSpPr>
          <p:cNvPr id="24" name="TextBox 23">
            <a:extLst>
              <a:ext uri="{FF2B5EF4-FFF2-40B4-BE49-F238E27FC236}">
                <a16:creationId xmlns:a16="http://schemas.microsoft.com/office/drawing/2014/main" id="{228B229A-8C5F-4831-86A0-2B7272D510B1}"/>
              </a:ext>
            </a:extLst>
          </p:cNvPr>
          <p:cNvSpPr txBox="1"/>
          <p:nvPr/>
        </p:nvSpPr>
        <p:spPr>
          <a:xfrm>
            <a:off x="10428769" y="6072595"/>
            <a:ext cx="1468408" cy="629166"/>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600" dirty="0"/>
              <a:t>징벌적 손해</a:t>
            </a:r>
            <a:endParaRPr lang="en-US" altLang="ko-KR" sz="1600" dirty="0"/>
          </a:p>
          <a:p>
            <a:pPr algn="ctr"/>
            <a:r>
              <a:rPr lang="en-US" altLang="ko-KR" sz="1600" dirty="0"/>
              <a:t>(</a:t>
            </a:r>
            <a:r>
              <a:rPr lang="ko-KR" altLang="en-US" sz="1600" dirty="0"/>
              <a:t>제</a:t>
            </a:r>
            <a:r>
              <a:rPr lang="en-US" altLang="ko-KR" sz="1600" dirty="0"/>
              <a:t>8</a:t>
            </a:r>
            <a:r>
              <a:rPr lang="ko-KR" altLang="en-US" sz="1600" dirty="0"/>
              <a:t>항</a:t>
            </a:r>
            <a:r>
              <a:rPr lang="en-US" altLang="ko-KR" sz="1600" dirty="0"/>
              <a:t>, </a:t>
            </a:r>
            <a:r>
              <a:rPr lang="ko-KR" altLang="en-US" sz="1600" dirty="0"/>
              <a:t>제</a:t>
            </a:r>
            <a:r>
              <a:rPr lang="en-US" altLang="ko-KR" sz="1600" dirty="0"/>
              <a:t>9</a:t>
            </a:r>
            <a:r>
              <a:rPr lang="ko-KR" altLang="en-US" sz="1600" dirty="0"/>
              <a:t>항</a:t>
            </a:r>
            <a:r>
              <a:rPr lang="en-US" altLang="ko-KR" sz="1600" dirty="0"/>
              <a:t>)</a:t>
            </a:r>
            <a:endParaRPr lang="ko-KR" altLang="en-US" sz="1600" dirty="0"/>
          </a:p>
        </p:txBody>
      </p:sp>
      <p:cxnSp>
        <p:nvCxnSpPr>
          <p:cNvPr id="20" name="연결선: 꺾임 19">
            <a:extLst>
              <a:ext uri="{FF2B5EF4-FFF2-40B4-BE49-F238E27FC236}">
                <a16:creationId xmlns:a16="http://schemas.microsoft.com/office/drawing/2014/main" id="{2889ECD0-B0B1-4E2D-B6D6-60156A4A0FD7}"/>
              </a:ext>
            </a:extLst>
          </p:cNvPr>
          <p:cNvCxnSpPr>
            <a:stCxn id="4" idx="2"/>
            <a:endCxn id="24" idx="0"/>
          </p:cNvCxnSpPr>
          <p:nvPr/>
        </p:nvCxnSpPr>
        <p:spPr>
          <a:xfrm rot="16200000" flipH="1">
            <a:off x="8119920" y="3029542"/>
            <a:ext cx="539234" cy="554687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5231520"/>
      </p:ext>
    </p:extLst>
  </p:cSld>
  <p:clrMapOvr>
    <a:masterClrMapping/>
  </p:clrMapOvr>
  <p:transition/>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128</a:t>
            </a:r>
            <a:r>
              <a:rPr lang="ko-KR" altLang="en-US" dirty="0"/>
              <a:t>조</a:t>
            </a:r>
          </a:p>
        </p:txBody>
      </p:sp>
      <p:sp>
        <p:nvSpPr>
          <p:cNvPr id="5" name="텍스트 개체 틀 4"/>
          <p:cNvSpPr>
            <a:spLocks noGrp="1"/>
          </p:cNvSpPr>
          <p:nvPr>
            <p:ph type="body" sz="quarter" idx="13"/>
          </p:nvPr>
        </p:nvSpPr>
        <p:spPr/>
        <p:txBody>
          <a:bodyPr/>
          <a:lstStyle/>
          <a:p>
            <a:r>
              <a:rPr lang="ko-KR" altLang="en-US" dirty="0"/>
              <a:t>손해배상청구권 中 소극적 손해</a:t>
            </a:r>
          </a:p>
        </p:txBody>
      </p:sp>
      <p:cxnSp>
        <p:nvCxnSpPr>
          <p:cNvPr id="95" name="직선 연결선 94"/>
          <p:cNvCxnSpPr/>
          <p:nvPr/>
        </p:nvCxnSpPr>
        <p:spPr>
          <a:xfrm>
            <a:off x="-36242" y="197817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TextBox 95"/>
          <p:cNvSpPr txBox="1"/>
          <p:nvPr/>
        </p:nvSpPr>
        <p:spPr>
          <a:xfrm>
            <a:off x="77875" y="986046"/>
            <a:ext cx="11936323" cy="954107"/>
          </a:xfrm>
          <a:prstGeom prst="rect">
            <a:avLst/>
          </a:prstGeom>
          <a:noFill/>
        </p:spPr>
        <p:txBody>
          <a:bodyPr wrap="square" rtlCol="0">
            <a:spAutoFit/>
          </a:bodyPr>
          <a:lstStyle/>
          <a:p>
            <a:pPr fontAlgn="base"/>
            <a:r>
              <a:rPr lang="ko-KR" altLang="en-US" sz="1400" dirty="0"/>
              <a:t>소극적 손해로는 </a:t>
            </a:r>
            <a:r>
              <a:rPr lang="en-US" altLang="ko-KR" sz="1400" dirty="0"/>
              <a:t>ⅰ) </a:t>
            </a:r>
            <a:r>
              <a:rPr lang="ko-KR" altLang="en-US" sz="1400" dirty="0"/>
              <a:t>특허권자의 매상감소</a:t>
            </a:r>
            <a:r>
              <a:rPr lang="en-US" altLang="ko-KR" sz="1400" dirty="0"/>
              <a:t>, ⅱ) </a:t>
            </a:r>
            <a:r>
              <a:rPr lang="ko-KR" altLang="en-US" sz="1400" dirty="0"/>
              <a:t>특허제품의 가격하락 또는 </a:t>
            </a:r>
            <a:r>
              <a:rPr lang="en-US" altLang="ko-KR" sz="1400" dirty="0"/>
              <a:t>ⅲ) </a:t>
            </a:r>
            <a:r>
              <a:rPr lang="ko-KR" altLang="en-US" sz="1400" dirty="0" err="1"/>
              <a:t>실시료</a:t>
            </a:r>
            <a:r>
              <a:rPr lang="ko-KR" altLang="en-US" sz="1400" dirty="0"/>
              <a:t> 수입의 감소가 있을 수 있는데</a:t>
            </a:r>
            <a:r>
              <a:rPr lang="en-US" altLang="ko-KR" sz="1400" dirty="0"/>
              <a:t>, </a:t>
            </a:r>
            <a:r>
              <a:rPr lang="ko-KR" altLang="en-US" sz="1400" dirty="0"/>
              <a:t>침해행위에 의해서만 발생한 것이라는 인과관계의 증명은 통상적으로 다음과 같이 상당히 어렵다</a:t>
            </a:r>
            <a:r>
              <a:rPr lang="en-US" altLang="ko-KR" sz="1400" dirty="0"/>
              <a:t>. </a:t>
            </a:r>
            <a:r>
              <a:rPr lang="ko-KR" altLang="en-US" sz="1400" dirty="0"/>
              <a:t>따라서 손해배상청구의 실효성 확보를 위해 인과관계를 증명하지 않더라도</a:t>
            </a:r>
            <a:r>
              <a:rPr lang="en-US" altLang="ko-KR" sz="1400" dirty="0"/>
              <a:t>, </a:t>
            </a:r>
            <a:r>
              <a:rPr lang="ko-KR" altLang="en-US" sz="1400" dirty="0">
                <a:solidFill>
                  <a:schemeClr val="accent3">
                    <a:lumMod val="50000"/>
                  </a:schemeClr>
                </a:solidFill>
                <a:highlight>
                  <a:srgbClr val="FFFF00"/>
                </a:highlight>
              </a:rPr>
              <a:t>매상감소에 의한 일실이익에 관해서는 제</a:t>
            </a:r>
            <a:r>
              <a:rPr lang="en-US" altLang="ko-KR" sz="1400" dirty="0">
                <a:solidFill>
                  <a:schemeClr val="accent3">
                    <a:lumMod val="50000"/>
                  </a:schemeClr>
                </a:solidFill>
                <a:highlight>
                  <a:srgbClr val="FFFF00"/>
                </a:highlight>
              </a:rPr>
              <a:t>128</a:t>
            </a:r>
            <a:r>
              <a:rPr lang="ko-KR" altLang="en-US" sz="1400" dirty="0">
                <a:solidFill>
                  <a:schemeClr val="accent3">
                    <a:lumMod val="50000"/>
                  </a:schemeClr>
                </a:solidFill>
                <a:highlight>
                  <a:srgbClr val="FFFF00"/>
                </a:highlight>
              </a:rPr>
              <a:t>조제</a:t>
            </a:r>
            <a:r>
              <a:rPr lang="en-US" altLang="ko-KR" sz="1400" dirty="0">
                <a:solidFill>
                  <a:schemeClr val="accent3">
                    <a:lumMod val="50000"/>
                  </a:schemeClr>
                </a:solidFill>
                <a:highlight>
                  <a:srgbClr val="FFFF00"/>
                </a:highlight>
              </a:rPr>
              <a:t>2</a:t>
            </a:r>
            <a:r>
              <a:rPr lang="ko-KR" altLang="en-US" sz="1400" dirty="0" err="1">
                <a:solidFill>
                  <a:schemeClr val="accent3">
                    <a:lumMod val="50000"/>
                  </a:schemeClr>
                </a:solidFill>
                <a:highlight>
                  <a:srgbClr val="FFFF00"/>
                </a:highlight>
              </a:rPr>
              <a:t>항제</a:t>
            </a:r>
            <a:r>
              <a:rPr lang="en-US" altLang="ko-KR" sz="1400" dirty="0">
                <a:solidFill>
                  <a:schemeClr val="accent3">
                    <a:lumMod val="50000"/>
                  </a:schemeClr>
                </a:solidFill>
                <a:highlight>
                  <a:srgbClr val="FFFF00"/>
                </a:highlight>
              </a:rPr>
              <a:t>1</a:t>
            </a:r>
            <a:r>
              <a:rPr lang="ko-KR" altLang="en-US" sz="1400" dirty="0">
                <a:solidFill>
                  <a:schemeClr val="accent3">
                    <a:lumMod val="50000"/>
                  </a:schemeClr>
                </a:solidFill>
                <a:highlight>
                  <a:srgbClr val="FFFF00"/>
                </a:highlight>
              </a:rPr>
              <a:t>호 및 제</a:t>
            </a:r>
            <a:r>
              <a:rPr lang="en-US" altLang="ko-KR" sz="1400" dirty="0">
                <a:solidFill>
                  <a:schemeClr val="accent3">
                    <a:lumMod val="50000"/>
                  </a:schemeClr>
                </a:solidFill>
                <a:highlight>
                  <a:srgbClr val="FFFF00"/>
                </a:highlight>
              </a:rPr>
              <a:t>4</a:t>
            </a:r>
            <a:r>
              <a:rPr lang="ko-KR" altLang="en-US" sz="1400" dirty="0">
                <a:solidFill>
                  <a:schemeClr val="accent3">
                    <a:lumMod val="50000"/>
                  </a:schemeClr>
                </a:solidFill>
                <a:highlight>
                  <a:srgbClr val="FFFF00"/>
                </a:highlight>
              </a:rPr>
              <a:t>항에서</a:t>
            </a:r>
            <a:r>
              <a:rPr lang="en-US" altLang="ko-KR" sz="1400" dirty="0">
                <a:solidFill>
                  <a:schemeClr val="accent3">
                    <a:lumMod val="50000"/>
                  </a:schemeClr>
                </a:solidFill>
                <a:highlight>
                  <a:srgbClr val="FFFF00"/>
                </a:highlight>
              </a:rPr>
              <a:t>, </a:t>
            </a:r>
            <a:r>
              <a:rPr lang="ko-KR" altLang="en-US" sz="1400" dirty="0" err="1">
                <a:solidFill>
                  <a:schemeClr val="accent3">
                    <a:lumMod val="50000"/>
                  </a:schemeClr>
                </a:solidFill>
                <a:highlight>
                  <a:srgbClr val="FFFF00"/>
                </a:highlight>
              </a:rPr>
              <a:t>실시료</a:t>
            </a:r>
            <a:r>
              <a:rPr lang="ko-KR" altLang="en-US" sz="1400" dirty="0">
                <a:solidFill>
                  <a:schemeClr val="accent3">
                    <a:lumMod val="50000"/>
                  </a:schemeClr>
                </a:solidFill>
                <a:highlight>
                  <a:srgbClr val="FFFF00"/>
                </a:highlight>
              </a:rPr>
              <a:t> 수입의 감소에 대해서는 제</a:t>
            </a:r>
            <a:r>
              <a:rPr lang="en-US" altLang="ko-KR" sz="1400" dirty="0">
                <a:solidFill>
                  <a:schemeClr val="accent3">
                    <a:lumMod val="50000"/>
                  </a:schemeClr>
                </a:solidFill>
                <a:highlight>
                  <a:srgbClr val="FFFF00"/>
                </a:highlight>
              </a:rPr>
              <a:t>128</a:t>
            </a:r>
            <a:r>
              <a:rPr lang="ko-KR" altLang="en-US" sz="1400" dirty="0">
                <a:solidFill>
                  <a:schemeClr val="accent3">
                    <a:lumMod val="50000"/>
                  </a:schemeClr>
                </a:solidFill>
                <a:highlight>
                  <a:srgbClr val="FFFF00"/>
                </a:highlight>
              </a:rPr>
              <a:t>조제</a:t>
            </a:r>
            <a:r>
              <a:rPr lang="en-US" altLang="ko-KR" sz="1400" dirty="0">
                <a:solidFill>
                  <a:schemeClr val="accent3">
                    <a:lumMod val="50000"/>
                  </a:schemeClr>
                </a:solidFill>
                <a:highlight>
                  <a:srgbClr val="FFFF00"/>
                </a:highlight>
              </a:rPr>
              <a:t>2</a:t>
            </a:r>
            <a:r>
              <a:rPr lang="ko-KR" altLang="en-US" sz="1400" dirty="0" err="1">
                <a:solidFill>
                  <a:schemeClr val="accent3">
                    <a:lumMod val="50000"/>
                  </a:schemeClr>
                </a:solidFill>
                <a:highlight>
                  <a:srgbClr val="FFFF00"/>
                </a:highlight>
              </a:rPr>
              <a:t>항제</a:t>
            </a:r>
            <a:r>
              <a:rPr lang="en-US" altLang="ko-KR" sz="1400" dirty="0">
                <a:solidFill>
                  <a:schemeClr val="accent3">
                    <a:lumMod val="50000"/>
                  </a:schemeClr>
                </a:solidFill>
                <a:highlight>
                  <a:srgbClr val="FFFF00"/>
                </a:highlight>
              </a:rPr>
              <a:t>2</a:t>
            </a:r>
            <a:r>
              <a:rPr lang="ko-KR" altLang="en-US" sz="1400" dirty="0">
                <a:solidFill>
                  <a:schemeClr val="accent3">
                    <a:lumMod val="50000"/>
                  </a:schemeClr>
                </a:solidFill>
                <a:highlight>
                  <a:srgbClr val="FFFF00"/>
                </a:highlight>
              </a:rPr>
              <a:t>호 및 제</a:t>
            </a:r>
            <a:r>
              <a:rPr lang="en-US" altLang="ko-KR" sz="1400" dirty="0">
                <a:solidFill>
                  <a:schemeClr val="accent3">
                    <a:lumMod val="50000"/>
                  </a:schemeClr>
                </a:solidFill>
                <a:highlight>
                  <a:srgbClr val="FFFF00"/>
                </a:highlight>
              </a:rPr>
              <a:t>5</a:t>
            </a:r>
            <a:r>
              <a:rPr lang="ko-KR" altLang="en-US" sz="1400" dirty="0">
                <a:solidFill>
                  <a:schemeClr val="accent3">
                    <a:lumMod val="50000"/>
                  </a:schemeClr>
                </a:solidFill>
                <a:highlight>
                  <a:srgbClr val="FFFF00"/>
                </a:highlight>
              </a:rPr>
              <a:t>항에서 별도의 규정에 의하고 있</a:t>
            </a:r>
            <a:r>
              <a:rPr lang="ko-KR" altLang="en-US" sz="1400" dirty="0"/>
              <a:t>다</a:t>
            </a:r>
            <a:r>
              <a:rPr lang="en-US" altLang="ko-KR" sz="1400" dirty="0"/>
              <a:t>. </a:t>
            </a:r>
            <a:r>
              <a:rPr lang="ko-KR" altLang="en-US" sz="1400" dirty="0"/>
              <a:t>한편</a:t>
            </a:r>
            <a:r>
              <a:rPr lang="en-US" altLang="ko-KR" sz="1400" dirty="0"/>
              <a:t>, </a:t>
            </a:r>
            <a:r>
              <a:rPr lang="ko-KR" altLang="en-US" sz="1400" dirty="0"/>
              <a:t>그 외의 적극적 손해</a:t>
            </a:r>
            <a:r>
              <a:rPr lang="en-US" altLang="ko-KR" sz="1400" dirty="0"/>
              <a:t>, </a:t>
            </a:r>
            <a:r>
              <a:rPr lang="ko-KR" altLang="en-US" sz="1400" dirty="0"/>
              <a:t>정신적 손해</a:t>
            </a:r>
            <a:r>
              <a:rPr lang="en-US" altLang="ko-KR" sz="1400" dirty="0"/>
              <a:t>, </a:t>
            </a:r>
            <a:r>
              <a:rPr lang="ko-KR" altLang="en-US" sz="1400" dirty="0"/>
              <a:t>제품가격 인하로 인한 일실이익 등의 손해에 대한 손해배상청구는 제</a:t>
            </a:r>
            <a:r>
              <a:rPr lang="en-US" altLang="ko-KR" sz="1400" dirty="0"/>
              <a:t>128</a:t>
            </a:r>
            <a:r>
              <a:rPr lang="ko-KR" altLang="en-US" sz="1400" dirty="0"/>
              <a:t>조제</a:t>
            </a:r>
            <a:r>
              <a:rPr lang="en-US" altLang="ko-KR" sz="1400" dirty="0"/>
              <a:t>1</a:t>
            </a:r>
            <a:r>
              <a:rPr lang="ko-KR" altLang="en-US" sz="1400" dirty="0"/>
              <a:t>항의 일반적인 손해배상의 법리에 의한다</a:t>
            </a:r>
            <a:r>
              <a:rPr lang="en-US" altLang="ko-KR" sz="1400" dirty="0"/>
              <a:t>. </a:t>
            </a:r>
            <a:endParaRPr lang="ko-KR" altLang="en-US" sz="1400" dirty="0"/>
          </a:p>
        </p:txBody>
      </p:sp>
      <p:graphicFrame>
        <p:nvGraphicFramePr>
          <p:cNvPr id="2" name="표 1"/>
          <p:cNvGraphicFramePr>
            <a:graphicFrameLocks noGrp="1"/>
          </p:cNvGraphicFramePr>
          <p:nvPr/>
        </p:nvGraphicFramePr>
        <p:xfrm>
          <a:off x="470780" y="2961926"/>
          <a:ext cx="11190084" cy="2854669"/>
        </p:xfrm>
        <a:graphic>
          <a:graphicData uri="http://schemas.openxmlformats.org/drawingml/2006/table">
            <a:tbl>
              <a:tblPr>
                <a:tableStyleId>{8799B23B-EC83-4686-B30A-512413B5E67A}</a:tableStyleId>
              </a:tblPr>
              <a:tblGrid>
                <a:gridCol w="1882953">
                  <a:extLst>
                    <a:ext uri="{9D8B030D-6E8A-4147-A177-3AD203B41FA5}">
                      <a16:colId xmlns:a16="http://schemas.microsoft.com/office/drawing/2014/main" val="20000"/>
                    </a:ext>
                  </a:extLst>
                </a:gridCol>
                <a:gridCol w="4199467">
                  <a:extLst>
                    <a:ext uri="{9D8B030D-6E8A-4147-A177-3AD203B41FA5}">
                      <a16:colId xmlns:a16="http://schemas.microsoft.com/office/drawing/2014/main" val="20001"/>
                    </a:ext>
                  </a:extLst>
                </a:gridCol>
                <a:gridCol w="5107664">
                  <a:extLst>
                    <a:ext uri="{9D8B030D-6E8A-4147-A177-3AD203B41FA5}">
                      <a16:colId xmlns:a16="http://schemas.microsoft.com/office/drawing/2014/main" val="20002"/>
                    </a:ext>
                  </a:extLst>
                </a:gridCol>
              </a:tblGrid>
              <a:tr h="379183">
                <a:tc>
                  <a:txBody>
                    <a:bodyPr/>
                    <a:lstStyle/>
                    <a:p>
                      <a:pPr marL="0" marR="0" indent="0" algn="ctr" fontAlgn="base" latinLnBrk="0">
                        <a:lnSpc>
                          <a:spcPct val="120000"/>
                        </a:lnSpc>
                        <a:spcBef>
                          <a:spcPts val="0"/>
                        </a:spcBef>
                        <a:spcAft>
                          <a:spcPts val="0"/>
                        </a:spcAft>
                      </a:pPr>
                      <a:r>
                        <a:rPr lang="ko-KR" altLang="en-US" sz="1400" kern="1200" dirty="0"/>
                        <a:t>소극적 손해</a:t>
                      </a:r>
                      <a:endParaRPr lang="ko-KR" altLang="en-US" sz="1400" kern="1200" dirty="0">
                        <a:solidFill>
                          <a:schemeClr val="tx1"/>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400" kern="1200"/>
                        <a:t>계산식</a:t>
                      </a:r>
                      <a:endParaRPr lang="ko-KR" altLang="en-US" sz="1400" kern="1200">
                        <a:solidFill>
                          <a:schemeClr val="tx1"/>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400" kern="1200" dirty="0"/>
                        <a:t>비고</a:t>
                      </a:r>
                      <a:endParaRPr lang="ko-KR" altLang="en-US" sz="1400" kern="1200" dirty="0">
                        <a:solidFill>
                          <a:schemeClr val="tx1"/>
                        </a:solidFill>
                        <a:latin typeface="+mn-lt"/>
                        <a:ea typeface="+mn-ea"/>
                        <a:cs typeface="+mn-cs"/>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10000"/>
                  </a:ext>
                </a:extLst>
              </a:tr>
              <a:tr h="782830">
                <a:tc>
                  <a:txBody>
                    <a:bodyPr/>
                    <a:lstStyle/>
                    <a:p>
                      <a:pPr marL="0" marR="0" indent="0" algn="ctr" fontAlgn="base" latinLnBrk="0">
                        <a:lnSpc>
                          <a:spcPct val="120000"/>
                        </a:lnSpc>
                        <a:spcBef>
                          <a:spcPts val="0"/>
                        </a:spcBef>
                        <a:spcAft>
                          <a:spcPts val="0"/>
                        </a:spcAft>
                      </a:pPr>
                      <a:r>
                        <a:rPr lang="ko-KR" altLang="en-US" sz="1400" kern="1200" dirty="0"/>
                        <a:t>매상감소</a:t>
                      </a:r>
                      <a:endParaRPr lang="ko-KR" altLang="en-US" sz="1400" kern="1200" dirty="0">
                        <a:solidFill>
                          <a:schemeClr val="tx1"/>
                        </a:solidFill>
                        <a:latin typeface="+mn-lt"/>
                        <a:ea typeface="+mn-ea"/>
                        <a:cs typeface="+mn-cs"/>
                      </a:endParaRPr>
                    </a:p>
                  </a:txBody>
                  <a:tcPr marL="64770" marR="64770" marT="17907" marB="17907" anchor="ctr"/>
                </a:tc>
                <a:tc>
                  <a:txBody>
                    <a:bodyPr/>
                    <a:lstStyle/>
                    <a:p>
                      <a:pPr marL="31750" marR="31750" indent="0" algn="l" fontAlgn="base" latinLnBrk="1">
                        <a:lnSpc>
                          <a:spcPct val="130000"/>
                        </a:lnSpc>
                        <a:spcBef>
                          <a:spcPts val="0"/>
                        </a:spcBef>
                        <a:spcAft>
                          <a:spcPts val="0"/>
                        </a:spcAft>
                      </a:pPr>
                      <a:r>
                        <a:rPr lang="ko-KR" altLang="en-US" sz="1400" kern="1200" dirty="0"/>
                        <a:t>감소된 판매수량</a:t>
                      </a:r>
                      <a:r>
                        <a:rPr lang="en-US" altLang="ko-KR" sz="1400" kern="1200" dirty="0"/>
                        <a:t>×</a:t>
                      </a:r>
                      <a:r>
                        <a:rPr lang="ko-KR" altLang="en-US" sz="1400" kern="1200" dirty="0" err="1"/>
                        <a:t>특허권자</a:t>
                      </a:r>
                      <a:r>
                        <a:rPr lang="ko-KR" altLang="en-US" sz="1400" kern="1200" dirty="0"/>
                        <a:t> 제품의 단위수량당 </a:t>
                      </a:r>
                      <a:r>
                        <a:rPr lang="ko-KR" altLang="en-US" sz="1400" kern="1200" dirty="0" err="1"/>
                        <a:t>이익액</a:t>
                      </a:r>
                      <a:endParaRPr lang="ko-KR" altLang="en-US" sz="1400" kern="1200" dirty="0">
                        <a:solidFill>
                          <a:schemeClr val="tx1"/>
                        </a:solidFill>
                        <a:latin typeface="+mn-lt"/>
                        <a:ea typeface="+mn-ea"/>
                        <a:cs typeface="+mn-cs"/>
                      </a:endParaRPr>
                    </a:p>
                  </a:txBody>
                  <a:tcPr marL="64770" marR="64770" marT="17907" marB="17907" anchor="ctr"/>
                </a:tc>
                <a:tc>
                  <a:txBody>
                    <a:bodyPr/>
                    <a:lstStyle/>
                    <a:p>
                      <a:pPr marL="31750" marR="31750" indent="0" algn="l" fontAlgn="base" latinLnBrk="1">
                        <a:lnSpc>
                          <a:spcPct val="130000"/>
                        </a:lnSpc>
                        <a:spcBef>
                          <a:spcPts val="0"/>
                        </a:spcBef>
                        <a:spcAft>
                          <a:spcPts val="0"/>
                        </a:spcAft>
                      </a:pPr>
                      <a:r>
                        <a:rPr lang="ko-KR" altLang="en-US" sz="1400" kern="1200" dirty="0"/>
                        <a:t>감소된 판매수량이 침해자 때문이라는 것을 증명해야 함</a:t>
                      </a:r>
                      <a:endParaRPr lang="en-US" altLang="ko-KR" sz="1400" kern="1200" dirty="0"/>
                    </a:p>
                    <a:p>
                      <a:pPr marL="31750" marR="31750" indent="0" algn="l" fontAlgn="base" latinLnBrk="1">
                        <a:lnSpc>
                          <a:spcPct val="130000"/>
                        </a:lnSpc>
                        <a:spcBef>
                          <a:spcPts val="0"/>
                        </a:spcBef>
                        <a:spcAft>
                          <a:spcPts val="0"/>
                        </a:spcAft>
                      </a:pPr>
                      <a:r>
                        <a:rPr lang="en-US" altLang="ko-KR" sz="1400" kern="1200" dirty="0">
                          <a:solidFill>
                            <a:srgbClr val="FF0000"/>
                          </a:solidFill>
                          <a:latin typeface="+mn-lt"/>
                          <a:ea typeface="+mn-ea"/>
                          <a:cs typeface="+mn-cs"/>
                        </a:rPr>
                        <a:t>(</a:t>
                      </a:r>
                      <a:r>
                        <a:rPr lang="ko-KR" altLang="en-US" sz="1400" kern="1200" dirty="0">
                          <a:solidFill>
                            <a:srgbClr val="FF0000"/>
                          </a:solidFill>
                          <a:latin typeface="+mn-lt"/>
                          <a:ea typeface="+mn-ea"/>
                          <a:cs typeface="+mn-cs"/>
                        </a:rPr>
                        <a:t>침해외의 사유로 감소된 수량의 경우 손해액에서 제외</a:t>
                      </a:r>
                      <a:r>
                        <a:rPr lang="en-US" altLang="ko-KR" sz="1400" kern="1200" dirty="0">
                          <a:solidFill>
                            <a:srgbClr val="FF0000"/>
                          </a:solidFill>
                          <a:latin typeface="+mn-lt"/>
                          <a:ea typeface="+mn-ea"/>
                          <a:cs typeface="+mn-cs"/>
                        </a:rPr>
                        <a:t>)</a:t>
                      </a:r>
                      <a:endParaRPr lang="ko-KR" altLang="en-US" sz="1400" kern="1200" dirty="0">
                        <a:solidFill>
                          <a:srgbClr val="FF0000"/>
                        </a:solidFill>
                        <a:latin typeface="+mn-lt"/>
                        <a:ea typeface="+mn-ea"/>
                        <a:cs typeface="+mn-cs"/>
                      </a:endParaRPr>
                    </a:p>
                  </a:txBody>
                  <a:tcPr marL="64770" marR="64770" marT="17907" marB="17907" anchor="ctr"/>
                </a:tc>
                <a:extLst>
                  <a:ext uri="{0D108BD9-81ED-4DB2-BD59-A6C34878D82A}">
                    <a16:rowId xmlns:a16="http://schemas.microsoft.com/office/drawing/2014/main" val="10001"/>
                  </a:ext>
                </a:extLst>
              </a:tr>
              <a:tr h="782830">
                <a:tc>
                  <a:txBody>
                    <a:bodyPr/>
                    <a:lstStyle/>
                    <a:p>
                      <a:pPr marL="0" marR="0" indent="0" algn="ctr" fontAlgn="base" latinLnBrk="0">
                        <a:lnSpc>
                          <a:spcPct val="120000"/>
                        </a:lnSpc>
                        <a:spcBef>
                          <a:spcPts val="0"/>
                        </a:spcBef>
                        <a:spcAft>
                          <a:spcPts val="0"/>
                        </a:spcAft>
                      </a:pPr>
                      <a:r>
                        <a:rPr lang="ko-KR" altLang="en-US" sz="1400" kern="1200" dirty="0"/>
                        <a:t>제품가격 인하</a:t>
                      </a:r>
                      <a:endParaRPr lang="ko-KR" altLang="en-US" sz="1400" kern="1200" dirty="0">
                        <a:solidFill>
                          <a:schemeClr val="tx1"/>
                        </a:solidFill>
                        <a:latin typeface="+mn-lt"/>
                        <a:ea typeface="+mn-ea"/>
                        <a:cs typeface="+mn-cs"/>
                      </a:endParaRPr>
                    </a:p>
                  </a:txBody>
                  <a:tcPr marL="64770" marR="64770" marT="17907" marB="17907" anchor="ctr"/>
                </a:tc>
                <a:tc>
                  <a:txBody>
                    <a:bodyPr/>
                    <a:lstStyle/>
                    <a:p>
                      <a:pPr marL="31750" marR="31750" indent="0" algn="l" fontAlgn="base" latinLnBrk="1">
                        <a:lnSpc>
                          <a:spcPct val="130000"/>
                        </a:lnSpc>
                        <a:spcBef>
                          <a:spcPts val="0"/>
                        </a:spcBef>
                        <a:spcAft>
                          <a:spcPts val="0"/>
                        </a:spcAft>
                      </a:pPr>
                      <a:r>
                        <a:rPr lang="en-US" altLang="ko-KR" sz="1400" kern="1200" dirty="0"/>
                        <a:t>(</a:t>
                      </a:r>
                      <a:r>
                        <a:rPr lang="ko-KR" altLang="en-US" sz="1400" kern="1200" dirty="0" err="1"/>
                        <a:t>원가격</a:t>
                      </a:r>
                      <a:r>
                        <a:rPr lang="en-US" altLang="ko-KR" sz="1400" kern="1200" dirty="0"/>
                        <a:t>-</a:t>
                      </a:r>
                      <a:r>
                        <a:rPr lang="ko-KR" altLang="en-US" sz="1400" kern="1200" dirty="0"/>
                        <a:t>인하된 가격</a:t>
                      </a:r>
                      <a:r>
                        <a:rPr lang="en-US" altLang="ko-KR" sz="1400" kern="1200" dirty="0"/>
                        <a:t>)×</a:t>
                      </a:r>
                      <a:r>
                        <a:rPr lang="ko-KR" altLang="en-US" sz="1400" kern="1200" dirty="0"/>
                        <a:t>판매수량</a:t>
                      </a:r>
                      <a:endParaRPr lang="ko-KR" altLang="en-US" sz="1400" kern="1200" dirty="0">
                        <a:solidFill>
                          <a:schemeClr val="tx1"/>
                        </a:solidFill>
                        <a:latin typeface="+mn-lt"/>
                        <a:ea typeface="+mn-ea"/>
                        <a:cs typeface="+mn-cs"/>
                      </a:endParaRPr>
                    </a:p>
                  </a:txBody>
                  <a:tcPr marL="64770" marR="64770" marT="17907" marB="17907" anchor="ctr"/>
                </a:tc>
                <a:tc>
                  <a:txBody>
                    <a:bodyPr/>
                    <a:lstStyle/>
                    <a:p>
                      <a:pPr marL="31750" marR="31750" indent="0" algn="l" fontAlgn="base" latinLnBrk="1">
                        <a:lnSpc>
                          <a:spcPct val="130000"/>
                        </a:lnSpc>
                        <a:spcBef>
                          <a:spcPts val="0"/>
                        </a:spcBef>
                        <a:spcAft>
                          <a:spcPts val="0"/>
                        </a:spcAft>
                      </a:pPr>
                      <a:r>
                        <a:rPr lang="ko-KR" altLang="en-US" sz="1400" kern="1200" dirty="0"/>
                        <a:t>가격 인하가 영업상의 문제가 아니라 침해자 때문이라는 것을 증명해야 함</a:t>
                      </a:r>
                      <a:endParaRPr lang="en-US" altLang="ko-KR" sz="1400" kern="1200" dirty="0"/>
                    </a:p>
                    <a:p>
                      <a:pPr marL="31750" marR="31750" lvl="0" indent="0" algn="l" defTabSz="914400" rtl="0" eaLnBrk="1" fontAlgn="base" latinLnBrk="1" hangingPunct="1">
                        <a:lnSpc>
                          <a:spcPct val="130000"/>
                        </a:lnSpc>
                        <a:spcBef>
                          <a:spcPts val="0"/>
                        </a:spcBef>
                        <a:spcAft>
                          <a:spcPts val="0"/>
                        </a:spcAft>
                        <a:buClrTx/>
                        <a:buSzTx/>
                        <a:buFontTx/>
                        <a:buNone/>
                        <a:tabLst/>
                        <a:defRPr/>
                      </a:pPr>
                      <a:r>
                        <a:rPr lang="en-US" altLang="ko-KR" sz="1400" kern="1200" dirty="0">
                          <a:solidFill>
                            <a:srgbClr val="FF0000"/>
                          </a:solidFill>
                          <a:latin typeface="+mn-lt"/>
                          <a:ea typeface="+mn-ea"/>
                          <a:cs typeface="+mn-cs"/>
                        </a:rPr>
                        <a:t>(</a:t>
                      </a:r>
                      <a:r>
                        <a:rPr lang="ko-KR" altLang="en-US" sz="1400" kern="1200" dirty="0">
                          <a:solidFill>
                            <a:srgbClr val="FF0000"/>
                          </a:solidFill>
                          <a:latin typeface="+mn-lt"/>
                          <a:ea typeface="+mn-ea"/>
                          <a:cs typeface="+mn-cs"/>
                        </a:rPr>
                        <a:t>침해외의 사유로 가격 인하된 경우 손해액에서 제외</a:t>
                      </a:r>
                      <a:r>
                        <a:rPr lang="en-US" altLang="ko-KR" sz="1400" kern="1200" dirty="0">
                          <a:solidFill>
                            <a:srgbClr val="FF0000"/>
                          </a:solidFill>
                          <a:latin typeface="+mn-lt"/>
                          <a:ea typeface="+mn-ea"/>
                          <a:cs typeface="+mn-cs"/>
                        </a:rPr>
                        <a:t>)</a:t>
                      </a:r>
                      <a:endParaRPr lang="ko-KR" altLang="en-US" sz="1400" kern="1200" dirty="0">
                        <a:solidFill>
                          <a:srgbClr val="FF0000"/>
                        </a:solidFill>
                        <a:latin typeface="+mn-lt"/>
                        <a:ea typeface="+mn-ea"/>
                        <a:cs typeface="+mn-cs"/>
                      </a:endParaRPr>
                    </a:p>
                  </a:txBody>
                  <a:tcPr marL="64770" marR="64770" marT="17907" marB="17907" anchor="ctr"/>
                </a:tc>
                <a:extLst>
                  <a:ext uri="{0D108BD9-81ED-4DB2-BD59-A6C34878D82A}">
                    <a16:rowId xmlns:a16="http://schemas.microsoft.com/office/drawing/2014/main" val="10002"/>
                  </a:ext>
                </a:extLst>
              </a:tr>
              <a:tr h="732035">
                <a:tc>
                  <a:txBody>
                    <a:bodyPr/>
                    <a:lstStyle/>
                    <a:p>
                      <a:pPr marL="0" marR="0" indent="0" algn="ctr" fontAlgn="base" latinLnBrk="0">
                        <a:lnSpc>
                          <a:spcPct val="120000"/>
                        </a:lnSpc>
                        <a:spcBef>
                          <a:spcPts val="0"/>
                        </a:spcBef>
                        <a:spcAft>
                          <a:spcPts val="0"/>
                        </a:spcAft>
                      </a:pPr>
                      <a:r>
                        <a:rPr lang="ko-KR" altLang="en-US" sz="1400" kern="1200" dirty="0" err="1"/>
                        <a:t>실시료</a:t>
                      </a:r>
                      <a:r>
                        <a:rPr lang="ko-KR" altLang="en-US" sz="1400" kern="1200" dirty="0"/>
                        <a:t> 수입의 감소</a:t>
                      </a:r>
                      <a:endParaRPr lang="ko-KR" altLang="en-US" sz="1400" kern="1200" dirty="0">
                        <a:solidFill>
                          <a:schemeClr val="tx1"/>
                        </a:solidFill>
                        <a:latin typeface="+mn-lt"/>
                        <a:ea typeface="+mn-ea"/>
                        <a:cs typeface="+mn-cs"/>
                      </a:endParaRPr>
                    </a:p>
                  </a:txBody>
                  <a:tcPr marL="64770" marR="64770" marT="17907" marB="17907" anchor="ctr"/>
                </a:tc>
                <a:tc>
                  <a:txBody>
                    <a:bodyPr/>
                    <a:lstStyle/>
                    <a:p>
                      <a:pPr marL="31750" marR="31750" indent="0" algn="l" fontAlgn="base" latinLnBrk="1">
                        <a:lnSpc>
                          <a:spcPct val="130000"/>
                        </a:lnSpc>
                        <a:spcBef>
                          <a:spcPts val="0"/>
                        </a:spcBef>
                        <a:spcAft>
                          <a:spcPts val="0"/>
                        </a:spcAft>
                      </a:pPr>
                      <a:r>
                        <a:rPr lang="ko-KR" altLang="en-US" sz="1400" kern="1200" dirty="0" err="1"/>
                        <a:t>침해품</a:t>
                      </a:r>
                      <a:r>
                        <a:rPr lang="ko-KR" altLang="en-US" sz="1400" kern="1200" dirty="0"/>
                        <a:t> 판매수량</a:t>
                      </a:r>
                      <a:r>
                        <a:rPr lang="en-US" altLang="ko-KR" sz="1400" kern="1200" dirty="0"/>
                        <a:t>×</a:t>
                      </a:r>
                      <a:r>
                        <a:rPr lang="ko-KR" altLang="en-US" sz="1400" kern="1200" dirty="0" err="1"/>
                        <a:t>실시권자</a:t>
                      </a:r>
                      <a:r>
                        <a:rPr lang="ko-KR" altLang="en-US" sz="1400" kern="1200" dirty="0"/>
                        <a:t> 판매가격</a:t>
                      </a:r>
                      <a:r>
                        <a:rPr lang="en-US" altLang="ko-KR" sz="1400" kern="1200" dirty="0"/>
                        <a:t>×</a:t>
                      </a:r>
                      <a:r>
                        <a:rPr lang="ko-KR" altLang="en-US" sz="1400" kern="1200" dirty="0" err="1"/>
                        <a:t>약정실시료율</a:t>
                      </a:r>
                      <a:endParaRPr lang="ko-KR" altLang="en-US" sz="1400" kern="1200" dirty="0">
                        <a:solidFill>
                          <a:schemeClr val="tx1"/>
                        </a:solidFill>
                        <a:latin typeface="+mn-lt"/>
                        <a:ea typeface="+mn-ea"/>
                        <a:cs typeface="+mn-cs"/>
                      </a:endParaRPr>
                    </a:p>
                  </a:txBody>
                  <a:tcPr marL="64770" marR="64770" marT="17907" marB="17907" anchor="ctr"/>
                </a:tc>
                <a:tc>
                  <a:txBody>
                    <a:bodyPr/>
                    <a:lstStyle/>
                    <a:p>
                      <a:pPr marL="31750" marR="31750" indent="0" algn="l" fontAlgn="base" latinLnBrk="1">
                        <a:lnSpc>
                          <a:spcPct val="130000"/>
                        </a:lnSpc>
                        <a:spcBef>
                          <a:spcPts val="0"/>
                        </a:spcBef>
                        <a:spcAft>
                          <a:spcPts val="0"/>
                        </a:spcAft>
                      </a:pPr>
                      <a:r>
                        <a:rPr lang="ko-KR" altLang="en-US" sz="1400" kern="1200" dirty="0"/>
                        <a:t>침해자 때문에 </a:t>
                      </a:r>
                      <a:r>
                        <a:rPr lang="ko-KR" altLang="en-US" sz="1400" kern="1200" dirty="0" err="1"/>
                        <a:t>침해품</a:t>
                      </a:r>
                      <a:r>
                        <a:rPr lang="ko-KR" altLang="en-US" sz="1400" kern="1200" dirty="0"/>
                        <a:t> 판매수량만큼 </a:t>
                      </a:r>
                      <a:r>
                        <a:rPr lang="ko-KR" altLang="en-US" sz="1400" kern="1200" dirty="0" err="1"/>
                        <a:t>실시권자가</a:t>
                      </a:r>
                      <a:r>
                        <a:rPr lang="ko-KR" altLang="en-US" sz="1400" kern="1200" dirty="0"/>
                        <a:t> 판매하지 못하였음을 증명해야 함</a:t>
                      </a:r>
                      <a:endParaRPr lang="en-US" altLang="ko-KR" sz="1400" kern="1200" dirty="0"/>
                    </a:p>
                    <a:p>
                      <a:pPr marL="31750" marR="31750" lvl="0" indent="0" algn="l" defTabSz="914400" rtl="0" eaLnBrk="1" fontAlgn="base" latinLnBrk="1" hangingPunct="1">
                        <a:lnSpc>
                          <a:spcPct val="130000"/>
                        </a:lnSpc>
                        <a:spcBef>
                          <a:spcPts val="0"/>
                        </a:spcBef>
                        <a:spcAft>
                          <a:spcPts val="0"/>
                        </a:spcAft>
                        <a:buClrTx/>
                        <a:buSzTx/>
                        <a:buFontTx/>
                        <a:buNone/>
                        <a:tabLst/>
                        <a:defRPr/>
                      </a:pPr>
                      <a:r>
                        <a:rPr lang="en-US" altLang="ko-KR" sz="1400" kern="1200" dirty="0">
                          <a:solidFill>
                            <a:srgbClr val="FF0000"/>
                          </a:solidFill>
                          <a:latin typeface="+mn-lt"/>
                          <a:ea typeface="+mn-ea"/>
                          <a:cs typeface="+mn-cs"/>
                        </a:rPr>
                        <a:t>(</a:t>
                      </a:r>
                      <a:r>
                        <a:rPr lang="ko-KR" altLang="en-US" sz="1400" kern="1200" dirty="0">
                          <a:solidFill>
                            <a:srgbClr val="FF0000"/>
                          </a:solidFill>
                          <a:latin typeface="+mn-lt"/>
                          <a:ea typeface="+mn-ea"/>
                          <a:cs typeface="+mn-cs"/>
                        </a:rPr>
                        <a:t>침해외의 사유로 </a:t>
                      </a:r>
                      <a:r>
                        <a:rPr lang="ko-KR" altLang="en-US" sz="1400" kern="1200" dirty="0" err="1">
                          <a:solidFill>
                            <a:srgbClr val="FF0000"/>
                          </a:solidFill>
                          <a:latin typeface="+mn-lt"/>
                          <a:ea typeface="+mn-ea"/>
                          <a:cs typeface="+mn-cs"/>
                        </a:rPr>
                        <a:t>실시권자가</a:t>
                      </a:r>
                      <a:r>
                        <a:rPr lang="ko-KR" altLang="en-US" sz="1400" kern="1200" dirty="0">
                          <a:solidFill>
                            <a:srgbClr val="FF0000"/>
                          </a:solidFill>
                          <a:latin typeface="+mn-lt"/>
                          <a:ea typeface="+mn-ea"/>
                          <a:cs typeface="+mn-cs"/>
                        </a:rPr>
                        <a:t> 판매하지 못한 경우 손해액에서 제외</a:t>
                      </a:r>
                      <a:r>
                        <a:rPr lang="en-US" altLang="ko-KR" sz="1400" kern="1200" dirty="0">
                          <a:solidFill>
                            <a:srgbClr val="FF0000"/>
                          </a:solidFill>
                          <a:latin typeface="+mn-lt"/>
                          <a:ea typeface="+mn-ea"/>
                          <a:cs typeface="+mn-cs"/>
                        </a:rPr>
                        <a:t>)</a:t>
                      </a:r>
                      <a:endParaRPr lang="ko-KR" altLang="en-US" sz="1400" kern="1200" dirty="0">
                        <a:solidFill>
                          <a:srgbClr val="FF0000"/>
                        </a:solidFill>
                        <a:latin typeface="+mn-lt"/>
                        <a:ea typeface="+mn-ea"/>
                        <a:cs typeface="+mn-cs"/>
                      </a:endParaRPr>
                    </a:p>
                  </a:txBody>
                  <a:tcPr marL="64770" marR="64770" marT="17907" marB="17907" anchor="ctr"/>
                </a:tc>
                <a:extLst>
                  <a:ext uri="{0D108BD9-81ED-4DB2-BD59-A6C34878D82A}">
                    <a16:rowId xmlns:a16="http://schemas.microsoft.com/office/drawing/2014/main" val="10003"/>
                  </a:ext>
                </a:extLst>
              </a:tr>
            </a:tbl>
          </a:graphicData>
        </a:graphic>
      </p:graphicFrame>
      <p:sp>
        <p:nvSpPr>
          <p:cNvPr id="4" name="슬라이드 번호 개체 틀 3"/>
          <p:cNvSpPr>
            <a:spLocks noGrp="1"/>
          </p:cNvSpPr>
          <p:nvPr>
            <p:ph type="sldNum" sz="quarter" idx="12"/>
          </p:nvPr>
        </p:nvSpPr>
        <p:spPr/>
        <p:txBody>
          <a:bodyPr/>
          <a:lstStyle/>
          <a:p>
            <a:r>
              <a:rPr lang="en-US" altLang="ko-KR"/>
              <a:t>381</a:t>
            </a:r>
            <a:endParaRPr lang="ko-KR" altLang="en-US"/>
          </a:p>
        </p:txBody>
      </p:sp>
    </p:spTree>
    <p:extLst>
      <p:ext uri="{BB962C8B-B14F-4D97-AF65-F5344CB8AC3E}">
        <p14:creationId xmlns:p14="http://schemas.microsoft.com/office/powerpoint/2010/main" val="2760454105"/>
      </p:ext>
    </p:extLst>
  </p:cSld>
  <p:clrMapOvr>
    <a:masterClrMapping/>
  </p:clrMapOvr>
  <p:transition/>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128</a:t>
            </a:r>
            <a:r>
              <a:rPr lang="ko-KR" altLang="en-US" dirty="0"/>
              <a:t>조</a:t>
            </a:r>
          </a:p>
        </p:txBody>
      </p:sp>
      <p:sp>
        <p:nvSpPr>
          <p:cNvPr id="5" name="텍스트 개체 틀 4"/>
          <p:cNvSpPr>
            <a:spLocks noGrp="1"/>
          </p:cNvSpPr>
          <p:nvPr>
            <p:ph type="body" sz="quarter" idx="13"/>
          </p:nvPr>
        </p:nvSpPr>
        <p:spPr/>
        <p:txBody>
          <a:bodyPr/>
          <a:lstStyle/>
          <a:p>
            <a:r>
              <a:rPr lang="ko-KR" altLang="en-US" dirty="0"/>
              <a:t>제</a:t>
            </a:r>
            <a:r>
              <a:rPr lang="en-US" altLang="ko-KR" dirty="0"/>
              <a:t>128</a:t>
            </a:r>
            <a:r>
              <a:rPr lang="ko-KR" altLang="en-US" dirty="0"/>
              <a:t>조제</a:t>
            </a:r>
            <a:r>
              <a:rPr lang="en-US" altLang="ko-KR" dirty="0"/>
              <a:t>2</a:t>
            </a:r>
            <a:r>
              <a:rPr lang="ko-KR" altLang="en-US" dirty="0"/>
              <a:t>항 내지 제</a:t>
            </a:r>
            <a:r>
              <a:rPr lang="en-US" altLang="ko-KR" dirty="0"/>
              <a:t>9</a:t>
            </a:r>
            <a:r>
              <a:rPr lang="ko-KR" altLang="en-US" dirty="0"/>
              <a:t>항</a:t>
            </a:r>
          </a:p>
        </p:txBody>
      </p:sp>
      <p:sp>
        <p:nvSpPr>
          <p:cNvPr id="2" name="슬라이드 번호 개체 틀 1"/>
          <p:cNvSpPr>
            <a:spLocks noGrp="1"/>
          </p:cNvSpPr>
          <p:nvPr>
            <p:ph type="sldNum" sz="quarter" idx="12"/>
          </p:nvPr>
        </p:nvSpPr>
        <p:spPr/>
        <p:txBody>
          <a:bodyPr/>
          <a:lstStyle/>
          <a:p>
            <a:r>
              <a:rPr lang="en-US" altLang="ko-KR"/>
              <a:t>382</a:t>
            </a:r>
            <a:endParaRPr lang="ko-KR" altLang="en-US"/>
          </a:p>
        </p:txBody>
      </p:sp>
      <p:sp>
        <p:nvSpPr>
          <p:cNvPr id="8" name="타원 7">
            <a:extLst>
              <a:ext uri="{FF2B5EF4-FFF2-40B4-BE49-F238E27FC236}">
                <a16:creationId xmlns:a16="http://schemas.microsoft.com/office/drawing/2014/main" id="{BC91326A-0C91-4EE7-A42D-EB6B5AAC5C31}"/>
              </a:ext>
            </a:extLst>
          </p:cNvPr>
          <p:cNvSpPr/>
          <p:nvPr/>
        </p:nvSpPr>
        <p:spPr>
          <a:xfrm>
            <a:off x="378217" y="1211327"/>
            <a:ext cx="1117208" cy="1050630"/>
          </a:xfrm>
          <a:prstGeom prst="ellipse">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400" dirty="0">
                <a:solidFill>
                  <a:schemeClr val="tx2">
                    <a:lumMod val="50000"/>
                  </a:schemeClr>
                </a:solidFill>
              </a:rPr>
              <a:t>손해액의</a:t>
            </a:r>
            <a:endParaRPr lang="en-US" altLang="ko-KR" sz="1400" dirty="0">
              <a:solidFill>
                <a:schemeClr val="tx2">
                  <a:lumMod val="50000"/>
                </a:schemeClr>
              </a:solidFill>
            </a:endParaRPr>
          </a:p>
          <a:p>
            <a:pPr algn="ctr"/>
            <a:r>
              <a:rPr lang="ko-KR" altLang="en-US" sz="1400" dirty="0">
                <a:solidFill>
                  <a:schemeClr val="tx2">
                    <a:lumMod val="50000"/>
                  </a:schemeClr>
                </a:solidFill>
              </a:rPr>
              <a:t>산정</a:t>
            </a:r>
          </a:p>
        </p:txBody>
      </p:sp>
      <p:sp>
        <p:nvSpPr>
          <p:cNvPr id="9" name="직사각형 8">
            <a:extLst>
              <a:ext uri="{FF2B5EF4-FFF2-40B4-BE49-F238E27FC236}">
                <a16:creationId xmlns:a16="http://schemas.microsoft.com/office/drawing/2014/main" id="{A342C89F-1BF6-4127-B6BA-8F6AAE8305D8}"/>
              </a:ext>
            </a:extLst>
          </p:cNvPr>
          <p:cNvSpPr/>
          <p:nvPr/>
        </p:nvSpPr>
        <p:spPr>
          <a:xfrm>
            <a:off x="1819275" y="1250702"/>
            <a:ext cx="10020301" cy="600164"/>
          </a:xfrm>
          <a:prstGeom prst="rect">
            <a:avLst/>
          </a:prstGeom>
          <a:solidFill>
            <a:schemeClr val="tx2">
              <a:lumMod val="20000"/>
              <a:lumOff val="80000"/>
            </a:schemeClr>
          </a:solidFill>
          <a:ln>
            <a:solidFill>
              <a:schemeClr val="bg1">
                <a:lumMod val="50000"/>
              </a:schemeClr>
            </a:solidFill>
          </a:ln>
        </p:spPr>
        <p:txBody>
          <a:bodyPr wrap="square">
            <a:spAutoFit/>
          </a:bodyPr>
          <a:lstStyle/>
          <a:p>
            <a:pPr marR="31750" fontAlgn="base"/>
            <a:r>
              <a:rPr lang="ko-KR" altLang="en-US" sz="1100" dirty="0">
                <a:solidFill>
                  <a:srgbClr val="FF0000"/>
                </a:solidFill>
              </a:rPr>
              <a:t>손해액 </a:t>
            </a:r>
            <a:r>
              <a:rPr lang="en-US" altLang="ko-KR" sz="1100" dirty="0">
                <a:solidFill>
                  <a:srgbClr val="FF0000"/>
                </a:solidFill>
              </a:rPr>
              <a:t>1: </a:t>
            </a:r>
            <a:r>
              <a:rPr lang="ko-KR" altLang="en-US" sz="1100" dirty="0">
                <a:solidFill>
                  <a:srgbClr val="FF0000"/>
                </a:solidFill>
              </a:rPr>
              <a:t>그 물건의 양도수량</a:t>
            </a:r>
            <a:r>
              <a:rPr lang="en-US" altLang="ko-KR" sz="1100" dirty="0">
                <a:solidFill>
                  <a:srgbClr val="FF0000"/>
                </a:solidFill>
              </a:rPr>
              <a:t>(</a:t>
            </a:r>
            <a:r>
              <a:rPr lang="ko-KR" altLang="en-US" sz="1100" dirty="0">
                <a:solidFill>
                  <a:srgbClr val="FF0000"/>
                </a:solidFill>
              </a:rPr>
              <a:t>특허권자 또는 </a:t>
            </a:r>
            <a:r>
              <a:rPr lang="ko-KR" altLang="en-US" sz="1100" dirty="0" err="1">
                <a:solidFill>
                  <a:srgbClr val="FF0000"/>
                </a:solidFill>
              </a:rPr>
              <a:t>전용실시권자가</a:t>
            </a:r>
            <a:r>
              <a:rPr lang="ko-KR" altLang="en-US" sz="1100" dirty="0">
                <a:solidFill>
                  <a:srgbClr val="FF0000"/>
                </a:solidFill>
              </a:rPr>
              <a:t> 그 침해행위 외의 사유로 판매할 수 없었던 사정이 있는 경우에는 그 침해행위 외의 사유로 판매할 수 없었던 수량을 뺀 수량</a:t>
            </a:r>
            <a:r>
              <a:rPr lang="en-US" altLang="ko-KR" sz="1100" dirty="0">
                <a:solidFill>
                  <a:srgbClr val="FF0000"/>
                </a:solidFill>
              </a:rPr>
              <a:t>) </a:t>
            </a:r>
            <a:r>
              <a:rPr lang="ko-KR" altLang="en-US" sz="1100" dirty="0">
                <a:solidFill>
                  <a:srgbClr val="FF0000"/>
                </a:solidFill>
              </a:rPr>
              <a:t>중 특허권자 또는 </a:t>
            </a:r>
            <a:r>
              <a:rPr lang="ko-KR" altLang="en-US" sz="1100" dirty="0" err="1">
                <a:solidFill>
                  <a:srgbClr val="FF0000"/>
                </a:solidFill>
              </a:rPr>
              <a:t>전용실시권자가</a:t>
            </a:r>
            <a:r>
              <a:rPr lang="ko-KR" altLang="en-US" sz="1100" dirty="0">
                <a:solidFill>
                  <a:srgbClr val="FF0000"/>
                </a:solidFill>
              </a:rPr>
              <a:t> 생산할 수 있었던 물건의 수량에서 실제 판매한 물건의 수량을 뺀 수량을 넘지 않는 수량에 특허권자 또는 </a:t>
            </a:r>
            <a:r>
              <a:rPr lang="ko-KR" altLang="en-US" sz="1100" dirty="0" err="1">
                <a:solidFill>
                  <a:srgbClr val="FF0000"/>
                </a:solidFill>
              </a:rPr>
              <a:t>전용실시권자가</a:t>
            </a:r>
            <a:r>
              <a:rPr lang="ko-KR" altLang="en-US" sz="1100" dirty="0">
                <a:solidFill>
                  <a:srgbClr val="FF0000"/>
                </a:solidFill>
              </a:rPr>
              <a:t> 그 침해행위가 없었다면 판매할 수 있었던 물건의 단위수량당 이익액을 곱한 금액</a:t>
            </a:r>
            <a:r>
              <a:rPr lang="en-US" altLang="ko-KR" sz="1100" dirty="0">
                <a:solidFill>
                  <a:srgbClr val="FF0000"/>
                </a:solidFill>
              </a:rPr>
              <a:t>(</a:t>
            </a:r>
            <a:r>
              <a:rPr lang="ko-KR" altLang="en-US" sz="1100" dirty="0">
                <a:solidFill>
                  <a:srgbClr val="FF0000"/>
                </a:solidFill>
              </a:rPr>
              <a:t>法 </a:t>
            </a:r>
            <a:r>
              <a:rPr lang="en-US" altLang="ko-KR" sz="1100" dirty="0">
                <a:solidFill>
                  <a:srgbClr val="FF0000"/>
                </a:solidFill>
              </a:rPr>
              <a:t>128②Ⅰ)</a:t>
            </a:r>
            <a:endParaRPr lang="ko-KR" altLang="en-US" sz="1100" dirty="0">
              <a:solidFill>
                <a:srgbClr val="FF0000"/>
              </a:solidFill>
            </a:endParaRPr>
          </a:p>
        </p:txBody>
      </p:sp>
      <p:sp>
        <p:nvSpPr>
          <p:cNvPr id="11" name="직사각형 10">
            <a:extLst>
              <a:ext uri="{FF2B5EF4-FFF2-40B4-BE49-F238E27FC236}">
                <a16:creationId xmlns:a16="http://schemas.microsoft.com/office/drawing/2014/main" id="{4B3D51DA-952E-4347-AE10-B044FF23E4D8}"/>
              </a:ext>
            </a:extLst>
          </p:cNvPr>
          <p:cNvSpPr/>
          <p:nvPr/>
        </p:nvSpPr>
        <p:spPr>
          <a:xfrm>
            <a:off x="1819275" y="1909483"/>
            <a:ext cx="10020300" cy="1615827"/>
          </a:xfrm>
          <a:prstGeom prst="rect">
            <a:avLst/>
          </a:prstGeom>
        </p:spPr>
        <p:txBody>
          <a:bodyPr wrap="square">
            <a:spAutoFit/>
          </a:bodyPr>
          <a:lstStyle/>
          <a:p>
            <a:pPr marL="171450" indent="-171450" algn="just">
              <a:buFontTx/>
              <a:buChar char="-"/>
            </a:pPr>
            <a:r>
              <a:rPr lang="en-US" altLang="ko-KR" sz="1100" dirty="0"/>
              <a:t>ⅰ) </a:t>
            </a:r>
            <a:r>
              <a:rPr lang="ko-KR" altLang="en-US" sz="1100" dirty="0"/>
              <a:t>특허권자 생산능력 범위내에서 침해자의 양도수량을 특허권자의 판매 감소량으로 간주할 수 있게 되었다는 점</a:t>
            </a:r>
            <a:r>
              <a:rPr lang="en-US" altLang="ko-KR" sz="1100" dirty="0"/>
              <a:t>, ⅱ) </a:t>
            </a:r>
            <a:r>
              <a:rPr lang="ko-KR" altLang="en-US" sz="1100" dirty="0"/>
              <a:t>특허권자 등이 침해자의 양도수량만 확인하면 침해자의 단위수량당 이익액을 알 수 없다고 하더라도 특허권자 등의 단위수량당 이익액을 이용할 수 있으므로 계산이 용이하다는 점에서 의미가 있음</a:t>
            </a:r>
            <a:endParaRPr lang="en-US" altLang="ko-KR" sz="1100" dirty="0"/>
          </a:p>
          <a:p>
            <a:pPr marL="171450" indent="-171450" algn="just">
              <a:buFontTx/>
              <a:buChar char="-"/>
            </a:pPr>
            <a:r>
              <a:rPr lang="ko-KR" altLang="en-US" sz="1100" dirty="0"/>
              <a:t>단위수량당 이익액은 한계 이익</a:t>
            </a:r>
            <a:r>
              <a:rPr lang="en-US" altLang="ko-KR" sz="1100" dirty="0"/>
              <a:t>(</a:t>
            </a:r>
            <a:r>
              <a:rPr lang="ko-KR" altLang="en-US" sz="1100" dirty="0"/>
              <a:t>매출액</a:t>
            </a:r>
            <a:r>
              <a:rPr lang="en-US" altLang="ko-KR" sz="1100" dirty="0"/>
              <a:t>-</a:t>
            </a:r>
            <a:r>
              <a:rPr lang="ko-KR" altLang="en-US" sz="1100" dirty="0"/>
              <a:t>변동경비</a:t>
            </a:r>
            <a:r>
              <a:rPr lang="en-US" altLang="ko-KR" sz="1100" dirty="0"/>
              <a:t>)(2005</a:t>
            </a:r>
            <a:r>
              <a:rPr lang="ko-KR" altLang="en-US" sz="1100" dirty="0"/>
              <a:t>다</a:t>
            </a:r>
            <a:r>
              <a:rPr lang="en-US" altLang="ko-KR" sz="1100" dirty="0"/>
              <a:t>36830) </a:t>
            </a:r>
          </a:p>
          <a:p>
            <a:pPr marL="171450" indent="-171450" algn="just">
              <a:buFontTx/>
              <a:buChar char="-"/>
            </a:pPr>
            <a:r>
              <a:rPr lang="ko-KR" altLang="en-US" sz="1100" dirty="0"/>
              <a:t>다만</a:t>
            </a:r>
            <a:r>
              <a:rPr lang="en-US" altLang="ko-KR" sz="1100" dirty="0"/>
              <a:t>, </a:t>
            </a:r>
            <a:r>
              <a:rPr lang="ko-KR" altLang="en-US" sz="1100" dirty="0"/>
              <a:t>특허권자 또는 </a:t>
            </a:r>
            <a:r>
              <a:rPr lang="ko-KR" altLang="en-US" sz="1100" dirty="0" err="1"/>
              <a:t>전용실시권자가</a:t>
            </a:r>
            <a:r>
              <a:rPr lang="ko-KR" altLang="en-US" sz="1100" dirty="0"/>
              <a:t> 침해행위 외의 사유로 판매할 수 없었던 사정이 있다는 것을 침해자가 증명하면 양도수량 중 그 침해행위 외의 사유로 판매할 수 없었던 수량은 빼야 함</a:t>
            </a:r>
            <a:endParaRPr lang="en-US" altLang="ko-KR" sz="1100" dirty="0"/>
          </a:p>
          <a:p>
            <a:pPr marL="171450" indent="-171450" algn="just">
              <a:buFontTx/>
              <a:buChar char="-"/>
            </a:pPr>
            <a:r>
              <a:rPr lang="ko-KR" altLang="en-US" sz="1100" dirty="0"/>
              <a:t>침해행위 외의 사유로 판매할 수 없었던 사정이란 침해자의 시장개발 노력</a:t>
            </a:r>
            <a:r>
              <a:rPr lang="en-US" altLang="ko-KR" sz="1100" dirty="0"/>
              <a:t>, </a:t>
            </a:r>
            <a:r>
              <a:rPr lang="ko-KR" altLang="en-US" sz="1100" dirty="0"/>
              <a:t>판매망</a:t>
            </a:r>
            <a:r>
              <a:rPr lang="en-US" altLang="ko-KR" sz="1100" dirty="0"/>
              <a:t>, </a:t>
            </a:r>
            <a:r>
              <a:rPr lang="ko-KR" altLang="en-US" sz="1100" dirty="0"/>
              <a:t>침해자의 상표</a:t>
            </a:r>
            <a:r>
              <a:rPr lang="en-US" altLang="ko-KR" sz="1100" dirty="0"/>
              <a:t>, </a:t>
            </a:r>
            <a:r>
              <a:rPr lang="ko-KR" altLang="en-US" sz="1100" dirty="0"/>
              <a:t>광고</a:t>
            </a:r>
            <a:r>
              <a:rPr lang="en-US" altLang="ko-KR" sz="1100" dirty="0"/>
              <a:t>․</a:t>
            </a:r>
            <a:r>
              <a:rPr lang="ko-KR" altLang="en-US" sz="1100" dirty="0"/>
              <a:t>선전</a:t>
            </a:r>
            <a:r>
              <a:rPr lang="en-US" altLang="ko-KR" sz="1100" dirty="0"/>
              <a:t>, </a:t>
            </a:r>
            <a:r>
              <a:rPr lang="ko-KR" altLang="en-US" sz="1100" dirty="0"/>
              <a:t>침해제품의 품질의 우수성 등으로 인하여 디자인권의 침해와 무관한 판매수량이 있는 경우를 말하는 것으로서</a:t>
            </a:r>
            <a:r>
              <a:rPr lang="en-US" altLang="ko-KR" sz="1100" dirty="0"/>
              <a:t>, </a:t>
            </a:r>
            <a:r>
              <a:rPr lang="ko-KR" altLang="en-US" sz="1100" dirty="0"/>
              <a:t>디자인권을 침해하지 않으면서 </a:t>
            </a:r>
            <a:r>
              <a:rPr lang="ko-KR" altLang="en-US" sz="1100" dirty="0" err="1"/>
              <a:t>디자인권자의</a:t>
            </a:r>
            <a:r>
              <a:rPr lang="ko-KR" altLang="en-US" sz="1100" dirty="0"/>
              <a:t> 제품과 시장에서 경쟁하는 경합제품이 있다는 사정이나 침해제품에 실용신안권이 실시되고 있다는 사정 등을 말함</a:t>
            </a:r>
            <a:r>
              <a:rPr lang="en-US" altLang="ko-KR" sz="1100" dirty="0"/>
              <a:t>(2005</a:t>
            </a:r>
            <a:r>
              <a:rPr lang="ko-KR" altLang="en-US" sz="1100" dirty="0"/>
              <a:t>다</a:t>
            </a:r>
            <a:r>
              <a:rPr lang="en-US" altLang="ko-KR" sz="1100" dirty="0"/>
              <a:t>36830). </a:t>
            </a:r>
          </a:p>
          <a:p>
            <a:pPr marL="171450" indent="-171450" algn="just">
              <a:buFontTx/>
              <a:buChar char="-"/>
            </a:pPr>
            <a:endParaRPr lang="en-US" altLang="ko-KR" sz="1100" dirty="0"/>
          </a:p>
        </p:txBody>
      </p:sp>
      <p:sp>
        <p:nvSpPr>
          <p:cNvPr id="14" name="직사각형 13">
            <a:extLst>
              <a:ext uri="{FF2B5EF4-FFF2-40B4-BE49-F238E27FC236}">
                <a16:creationId xmlns:a16="http://schemas.microsoft.com/office/drawing/2014/main" id="{A6FF1CC4-F2E4-43B2-8A2F-8C840A423975}"/>
              </a:ext>
            </a:extLst>
          </p:cNvPr>
          <p:cNvSpPr/>
          <p:nvPr/>
        </p:nvSpPr>
        <p:spPr>
          <a:xfrm>
            <a:off x="1819275" y="3330798"/>
            <a:ext cx="10020301" cy="769441"/>
          </a:xfrm>
          <a:prstGeom prst="rect">
            <a:avLst/>
          </a:prstGeom>
          <a:solidFill>
            <a:schemeClr val="tx2">
              <a:lumMod val="20000"/>
              <a:lumOff val="80000"/>
            </a:schemeClr>
          </a:solidFill>
          <a:ln>
            <a:solidFill>
              <a:schemeClr val="bg1">
                <a:lumMod val="50000"/>
              </a:schemeClr>
            </a:solidFill>
          </a:ln>
        </p:spPr>
        <p:txBody>
          <a:bodyPr wrap="square">
            <a:spAutoFit/>
          </a:bodyPr>
          <a:lstStyle/>
          <a:p>
            <a:pPr marR="31750" fontAlgn="base"/>
            <a:r>
              <a:rPr lang="ko-KR" altLang="en-US" sz="1100" dirty="0">
                <a:solidFill>
                  <a:srgbClr val="FF0000"/>
                </a:solidFill>
              </a:rPr>
              <a:t>손해액 </a:t>
            </a:r>
            <a:r>
              <a:rPr lang="en-US" altLang="ko-KR" sz="1100" dirty="0">
                <a:solidFill>
                  <a:srgbClr val="FF0000"/>
                </a:solidFill>
              </a:rPr>
              <a:t>2: </a:t>
            </a:r>
            <a:r>
              <a:rPr lang="ko-KR" altLang="en-US" sz="1100" dirty="0">
                <a:solidFill>
                  <a:srgbClr val="FF0000"/>
                </a:solidFill>
              </a:rPr>
              <a:t>그 물건의 양도수량 중 특허권자 또는 </a:t>
            </a:r>
            <a:r>
              <a:rPr lang="ko-KR" altLang="en-US" sz="1100" dirty="0" err="1">
                <a:solidFill>
                  <a:srgbClr val="FF0000"/>
                </a:solidFill>
              </a:rPr>
              <a:t>전용실시권자가</a:t>
            </a:r>
            <a:r>
              <a:rPr lang="ko-KR" altLang="en-US" sz="1100" dirty="0">
                <a:solidFill>
                  <a:srgbClr val="FF0000"/>
                </a:solidFill>
              </a:rPr>
              <a:t> 생산할 수 있었던 물건의 수량에서 실제 판매한 물건의 수량을 뺀 수량을 넘는 수량 또는 그 침해행위 외의 사유로 판매할 수 없었던 수량이 있는 경우 이들 수량</a:t>
            </a:r>
            <a:r>
              <a:rPr lang="en-US" altLang="ko-KR" sz="1100" dirty="0">
                <a:solidFill>
                  <a:srgbClr val="FF0000"/>
                </a:solidFill>
              </a:rPr>
              <a:t>(</a:t>
            </a:r>
            <a:r>
              <a:rPr lang="ko-KR" altLang="en-US" sz="1100" dirty="0">
                <a:solidFill>
                  <a:srgbClr val="FF0000"/>
                </a:solidFill>
              </a:rPr>
              <a:t>특허권자 또는 </a:t>
            </a:r>
            <a:r>
              <a:rPr lang="ko-KR" altLang="en-US" sz="1100" dirty="0" err="1">
                <a:solidFill>
                  <a:srgbClr val="FF0000"/>
                </a:solidFill>
              </a:rPr>
              <a:t>전용실시권자가</a:t>
            </a:r>
            <a:r>
              <a:rPr lang="ko-KR" altLang="en-US" sz="1100" dirty="0">
                <a:solidFill>
                  <a:srgbClr val="FF0000"/>
                </a:solidFill>
              </a:rPr>
              <a:t> 그 특허권자의 특허권에 대한 전용실시권의 설정</a:t>
            </a:r>
            <a:r>
              <a:rPr lang="en-US" altLang="ko-KR" sz="1100" dirty="0">
                <a:solidFill>
                  <a:srgbClr val="FF0000"/>
                </a:solidFill>
              </a:rPr>
              <a:t>, </a:t>
            </a:r>
            <a:r>
              <a:rPr lang="ko-KR" altLang="en-US" sz="1100" dirty="0">
                <a:solidFill>
                  <a:srgbClr val="FF0000"/>
                </a:solidFill>
              </a:rPr>
              <a:t>통상실시권의 허락 또는 그 </a:t>
            </a:r>
            <a:r>
              <a:rPr lang="ko-KR" altLang="en-US" sz="1100" dirty="0" err="1">
                <a:solidFill>
                  <a:srgbClr val="FF0000"/>
                </a:solidFill>
              </a:rPr>
              <a:t>전용실시권자의</a:t>
            </a:r>
            <a:r>
              <a:rPr lang="ko-KR" altLang="en-US" sz="1100" dirty="0">
                <a:solidFill>
                  <a:srgbClr val="FF0000"/>
                </a:solidFill>
              </a:rPr>
              <a:t> 전용실시권에 대한 통상실시권의 허락을 할 수 있었다고 인정되지 않는 경우에는 해당 수량을 뺀 수량</a:t>
            </a:r>
            <a:r>
              <a:rPr lang="en-US" altLang="ko-KR" sz="1100" dirty="0">
                <a:solidFill>
                  <a:srgbClr val="FF0000"/>
                </a:solidFill>
              </a:rPr>
              <a:t>)</a:t>
            </a:r>
            <a:r>
              <a:rPr lang="ko-KR" altLang="en-US" sz="1100" dirty="0">
                <a:solidFill>
                  <a:srgbClr val="FF0000"/>
                </a:solidFill>
              </a:rPr>
              <a:t>에 대해서는 특허발명의 실시에 대하여 합리적으로 받을 수 있는 금액</a:t>
            </a:r>
            <a:r>
              <a:rPr lang="en-US" altLang="ko-KR" sz="1100" dirty="0">
                <a:solidFill>
                  <a:srgbClr val="FF0000"/>
                </a:solidFill>
              </a:rPr>
              <a:t>(</a:t>
            </a:r>
            <a:r>
              <a:rPr lang="ko-KR" altLang="en-US" sz="1100" dirty="0">
                <a:solidFill>
                  <a:srgbClr val="FF0000"/>
                </a:solidFill>
              </a:rPr>
              <a:t>法 </a:t>
            </a:r>
            <a:r>
              <a:rPr lang="en-US" altLang="ko-KR" sz="1100" dirty="0">
                <a:solidFill>
                  <a:srgbClr val="FF0000"/>
                </a:solidFill>
              </a:rPr>
              <a:t>128②Ⅱ)</a:t>
            </a:r>
            <a:endParaRPr lang="ko-KR" altLang="en-US" sz="1100" dirty="0">
              <a:solidFill>
                <a:srgbClr val="FF0000"/>
              </a:solidFill>
            </a:endParaRPr>
          </a:p>
        </p:txBody>
      </p:sp>
      <p:sp>
        <p:nvSpPr>
          <p:cNvPr id="18" name="타원 17">
            <a:extLst>
              <a:ext uri="{FF2B5EF4-FFF2-40B4-BE49-F238E27FC236}">
                <a16:creationId xmlns:a16="http://schemas.microsoft.com/office/drawing/2014/main" id="{FB1CE902-1182-438C-9EE7-F0A4CC87C53A}"/>
              </a:ext>
            </a:extLst>
          </p:cNvPr>
          <p:cNvSpPr/>
          <p:nvPr/>
        </p:nvSpPr>
        <p:spPr>
          <a:xfrm>
            <a:off x="378217" y="5437866"/>
            <a:ext cx="1117208" cy="1050630"/>
          </a:xfrm>
          <a:prstGeom prst="ellipse">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400" dirty="0">
                <a:solidFill>
                  <a:schemeClr val="tx2">
                    <a:lumMod val="75000"/>
                  </a:schemeClr>
                </a:solidFill>
              </a:rPr>
              <a:t>손해액의</a:t>
            </a:r>
            <a:endParaRPr lang="en-US" altLang="ko-KR" sz="1400" dirty="0">
              <a:solidFill>
                <a:schemeClr val="tx2">
                  <a:lumMod val="75000"/>
                </a:schemeClr>
              </a:solidFill>
            </a:endParaRPr>
          </a:p>
          <a:p>
            <a:pPr algn="ctr"/>
            <a:r>
              <a:rPr lang="ko-KR" altLang="en-US" sz="1400" dirty="0">
                <a:solidFill>
                  <a:schemeClr val="tx2">
                    <a:lumMod val="75000"/>
                  </a:schemeClr>
                </a:solidFill>
              </a:rPr>
              <a:t>추정</a:t>
            </a:r>
          </a:p>
        </p:txBody>
      </p:sp>
      <p:sp>
        <p:nvSpPr>
          <p:cNvPr id="19" name="직사각형 18">
            <a:extLst>
              <a:ext uri="{FF2B5EF4-FFF2-40B4-BE49-F238E27FC236}">
                <a16:creationId xmlns:a16="http://schemas.microsoft.com/office/drawing/2014/main" id="{365785C2-68B9-4E9B-ADCF-15CF91A5B9F1}"/>
              </a:ext>
            </a:extLst>
          </p:cNvPr>
          <p:cNvSpPr/>
          <p:nvPr/>
        </p:nvSpPr>
        <p:spPr>
          <a:xfrm>
            <a:off x="1819275" y="5103624"/>
            <a:ext cx="10020301" cy="261610"/>
          </a:xfrm>
          <a:prstGeom prst="rect">
            <a:avLst/>
          </a:prstGeom>
          <a:solidFill>
            <a:schemeClr val="tx2">
              <a:lumMod val="20000"/>
              <a:lumOff val="80000"/>
            </a:schemeClr>
          </a:solidFill>
          <a:ln>
            <a:solidFill>
              <a:schemeClr val="bg1">
                <a:lumMod val="50000"/>
              </a:schemeClr>
            </a:solidFill>
          </a:ln>
        </p:spPr>
        <p:txBody>
          <a:bodyPr wrap="square">
            <a:spAutoFit/>
          </a:bodyPr>
          <a:lstStyle/>
          <a:p>
            <a:pPr marL="115570" marR="31750" indent="-115570" fontAlgn="base"/>
            <a:r>
              <a:rPr lang="ko-KR" altLang="en-US" sz="1100" dirty="0">
                <a:solidFill>
                  <a:srgbClr val="FF0000"/>
                </a:solidFill>
              </a:rPr>
              <a:t>손해액의 추정</a:t>
            </a:r>
            <a:r>
              <a:rPr lang="en-US" altLang="ko-KR" sz="1100" dirty="0">
                <a:solidFill>
                  <a:srgbClr val="FF0000"/>
                </a:solidFill>
              </a:rPr>
              <a:t>(</a:t>
            </a:r>
            <a:r>
              <a:rPr lang="ko-KR" altLang="en-US" sz="1100" dirty="0">
                <a:solidFill>
                  <a:srgbClr val="FF0000"/>
                </a:solidFill>
              </a:rPr>
              <a:t>法 </a:t>
            </a:r>
            <a:r>
              <a:rPr lang="en-US" altLang="ko-KR" sz="1100" dirty="0">
                <a:solidFill>
                  <a:srgbClr val="FF0000"/>
                </a:solidFill>
              </a:rPr>
              <a:t>128④): </a:t>
            </a:r>
            <a:r>
              <a:rPr lang="ko-KR" altLang="en-US" sz="1100" dirty="0">
                <a:solidFill>
                  <a:srgbClr val="FF0000"/>
                </a:solidFill>
              </a:rPr>
              <a:t>침해행위로 인한 </a:t>
            </a:r>
            <a:r>
              <a:rPr lang="ko-KR" altLang="en-US" sz="1100" dirty="0" err="1">
                <a:solidFill>
                  <a:srgbClr val="FF0000"/>
                </a:solidFill>
              </a:rPr>
              <a:t>이익액</a:t>
            </a:r>
            <a:endParaRPr lang="ko-KR" altLang="en-US" sz="1100" dirty="0">
              <a:solidFill>
                <a:srgbClr val="FF0000"/>
              </a:solidFill>
            </a:endParaRPr>
          </a:p>
        </p:txBody>
      </p:sp>
      <p:sp>
        <p:nvSpPr>
          <p:cNvPr id="20" name="직사각형 19">
            <a:extLst>
              <a:ext uri="{FF2B5EF4-FFF2-40B4-BE49-F238E27FC236}">
                <a16:creationId xmlns:a16="http://schemas.microsoft.com/office/drawing/2014/main" id="{9788D18C-E0B3-4012-A2D2-42919E23791D}"/>
              </a:ext>
            </a:extLst>
          </p:cNvPr>
          <p:cNvSpPr/>
          <p:nvPr/>
        </p:nvSpPr>
        <p:spPr>
          <a:xfrm>
            <a:off x="1819275" y="5379258"/>
            <a:ext cx="10020300" cy="1384995"/>
          </a:xfrm>
          <a:prstGeom prst="rect">
            <a:avLst/>
          </a:prstGeom>
        </p:spPr>
        <p:txBody>
          <a:bodyPr wrap="square">
            <a:spAutoFit/>
          </a:bodyPr>
          <a:lstStyle/>
          <a:p>
            <a:pPr marL="171450" indent="-171450" algn="just">
              <a:buFontTx/>
              <a:buChar char="-"/>
            </a:pPr>
            <a:r>
              <a:rPr lang="ko-KR" altLang="en-US" sz="1200" dirty="0"/>
              <a:t>침해자의 단위수량당 이익액이 특허권자 등의 단위수량당 이익액보다 더 높을 때 원용됨</a:t>
            </a:r>
          </a:p>
          <a:p>
            <a:pPr marL="171450" indent="-171450" algn="just">
              <a:buFontTx/>
              <a:buChar char="-"/>
            </a:pPr>
            <a:r>
              <a:rPr lang="ko-KR" altLang="en-US" sz="1200" dirty="0"/>
              <a:t>침해행위로 인한 이익액은 한계 이익</a:t>
            </a:r>
            <a:r>
              <a:rPr lang="en-US" altLang="ko-KR" sz="1200" dirty="0"/>
              <a:t>(</a:t>
            </a:r>
            <a:r>
              <a:rPr lang="ko-KR" altLang="en-US" sz="1200" dirty="0"/>
              <a:t>매출액</a:t>
            </a:r>
            <a:r>
              <a:rPr lang="en-US" altLang="ko-KR" sz="1200" dirty="0"/>
              <a:t>-</a:t>
            </a:r>
            <a:r>
              <a:rPr lang="ko-KR" altLang="en-US" sz="1200" dirty="0"/>
              <a:t>변동경비</a:t>
            </a:r>
            <a:r>
              <a:rPr lang="en-US" altLang="ko-KR" sz="1200" dirty="0"/>
              <a:t>)(2002</a:t>
            </a:r>
            <a:r>
              <a:rPr lang="ko-KR" altLang="en-US" sz="1200" dirty="0"/>
              <a:t>가합</a:t>
            </a:r>
            <a:r>
              <a:rPr lang="en-US" altLang="ko-KR" sz="1200" dirty="0"/>
              <a:t>30683</a:t>
            </a:r>
            <a:r>
              <a:rPr lang="ko-KR" altLang="en-US" sz="1200" dirty="0"/>
              <a:t>호</a:t>
            </a:r>
            <a:r>
              <a:rPr lang="en-US" altLang="ko-KR" sz="1200" dirty="0"/>
              <a:t>) </a:t>
            </a:r>
          </a:p>
          <a:p>
            <a:pPr marL="171450" indent="-171450" algn="just">
              <a:buFontTx/>
              <a:buChar char="-"/>
            </a:pPr>
            <a:r>
              <a:rPr lang="ko-KR" altLang="en-US" sz="1200" dirty="0"/>
              <a:t>손해는 “매상감소에 의한 일실이익</a:t>
            </a:r>
            <a:r>
              <a:rPr lang="en-US" altLang="ko-KR" sz="1200" dirty="0"/>
              <a:t>(</a:t>
            </a:r>
            <a:r>
              <a:rPr lang="ko-KR" altLang="en-US" sz="1200" dirty="0"/>
              <a:t>逸失利益</a:t>
            </a:r>
            <a:r>
              <a:rPr lang="en-US" altLang="ko-KR" sz="1200" dirty="0"/>
              <a:t>)”</a:t>
            </a:r>
            <a:r>
              <a:rPr lang="ko-KR" altLang="en-US" sz="1200" dirty="0"/>
              <a:t>이고 </a:t>
            </a:r>
            <a:r>
              <a:rPr lang="ko-KR" altLang="en-US" sz="1200" dirty="0">
                <a:solidFill>
                  <a:srgbClr val="FF0000"/>
                </a:solidFill>
              </a:rPr>
              <a:t>특허권자의 생산능력 범위 내에서 손해의 한도를 제한하는 것으로 해석되기 때문에 특허권자 또는 </a:t>
            </a:r>
            <a:r>
              <a:rPr lang="ko-KR" altLang="en-US" sz="1200" dirty="0" err="1">
                <a:solidFill>
                  <a:srgbClr val="FF0000"/>
                </a:solidFill>
              </a:rPr>
              <a:t>전용실시권자가</a:t>
            </a:r>
            <a:r>
              <a:rPr lang="ko-KR" altLang="en-US" sz="1200" dirty="0">
                <a:solidFill>
                  <a:srgbClr val="FF0000"/>
                </a:solidFill>
              </a:rPr>
              <a:t> 스스로 실시하고 있지 아니한 경우와 같이 특허권자의 생산능력이 없는 경우에는 </a:t>
            </a:r>
            <a:r>
              <a:rPr lang="ko-KR" altLang="en-US" sz="1200" dirty="0"/>
              <a:t>손해의 발생 자체를 </a:t>
            </a:r>
            <a:r>
              <a:rPr lang="ko-KR" altLang="en-US" sz="1200" dirty="0" err="1"/>
              <a:t>관념할</a:t>
            </a:r>
            <a:r>
              <a:rPr lang="ko-KR" altLang="en-US" sz="1200" dirty="0"/>
              <a:t> 수 없으므로 이 추정규정은 不적용</a:t>
            </a:r>
            <a:r>
              <a:rPr lang="en-US" altLang="ko-KR" sz="1200" dirty="0"/>
              <a:t>.</a:t>
            </a:r>
          </a:p>
          <a:p>
            <a:pPr algn="just"/>
            <a:r>
              <a:rPr lang="en-US" altLang="ko-KR" sz="1200" dirty="0">
                <a:solidFill>
                  <a:srgbClr val="FF0000"/>
                </a:solidFill>
              </a:rPr>
              <a:t>    [(</a:t>
            </a:r>
            <a:r>
              <a:rPr lang="ko-KR" altLang="en-US" sz="1200" dirty="0">
                <a:solidFill>
                  <a:srgbClr val="FF0000"/>
                </a:solidFill>
              </a:rPr>
              <a:t>침해자의 양도수량과 생산능력범위수량 중 작은 값</a:t>
            </a:r>
            <a:r>
              <a:rPr lang="en-US" altLang="ko-KR" sz="1200" dirty="0">
                <a:solidFill>
                  <a:srgbClr val="FF0000"/>
                </a:solidFill>
              </a:rPr>
              <a:t>) * </a:t>
            </a:r>
            <a:r>
              <a:rPr lang="ko-KR" altLang="en-US" sz="1200" dirty="0">
                <a:solidFill>
                  <a:srgbClr val="FF0000"/>
                </a:solidFill>
              </a:rPr>
              <a:t>침해자의 단위수량당 </a:t>
            </a:r>
            <a:r>
              <a:rPr lang="ko-KR" altLang="en-US" sz="1200" dirty="0" err="1">
                <a:solidFill>
                  <a:srgbClr val="FF0000"/>
                </a:solidFill>
              </a:rPr>
              <a:t>이익액</a:t>
            </a:r>
            <a:r>
              <a:rPr lang="en-US" altLang="ko-KR" sz="1200" dirty="0">
                <a:solidFill>
                  <a:srgbClr val="FF0000"/>
                </a:solidFill>
              </a:rPr>
              <a:t>]</a:t>
            </a:r>
          </a:p>
          <a:p>
            <a:pPr marL="171450" indent="-171450" algn="just">
              <a:buFontTx/>
              <a:buChar char="-"/>
            </a:pPr>
            <a:r>
              <a:rPr lang="ko-KR" altLang="en-US" sz="1200" dirty="0"/>
              <a:t>침해품의 일부가 특허의 침해인 경우 그 물건에서 침해된 특허가 차지하는 비중</a:t>
            </a:r>
            <a:r>
              <a:rPr lang="en-US" altLang="ko-KR" sz="1200" dirty="0"/>
              <a:t>, </a:t>
            </a:r>
            <a:r>
              <a:rPr lang="ko-KR" altLang="en-US" sz="1200" dirty="0"/>
              <a:t>즉 그 특허가 유발하는 구매동기의 정도를 기여율로 평가하여 물건 전체가 특허의 대상이 되는 경우에 산정되는 손해액에 위 기여율을 곱하여 계산되는 금액을 손해액으로 해야 한다는 견해가 </a:t>
            </a:r>
            <a:r>
              <a:rPr lang="ko-KR" altLang="en-US" sz="1200" dirty="0" err="1"/>
              <a:t>다수설</a:t>
            </a:r>
            <a:endParaRPr lang="ko-KR" altLang="en-US" sz="1200" dirty="0"/>
          </a:p>
        </p:txBody>
      </p:sp>
      <p:cxnSp>
        <p:nvCxnSpPr>
          <p:cNvPr id="24" name="연결선: 꺾임 23">
            <a:extLst>
              <a:ext uri="{FF2B5EF4-FFF2-40B4-BE49-F238E27FC236}">
                <a16:creationId xmlns:a16="http://schemas.microsoft.com/office/drawing/2014/main" id="{E69CD35F-0481-41DC-A105-EB2E46BAD0DC}"/>
              </a:ext>
            </a:extLst>
          </p:cNvPr>
          <p:cNvCxnSpPr>
            <a:cxnSpLocks/>
            <a:stCxn id="8" idx="6"/>
            <a:endCxn id="14" idx="1"/>
          </p:cNvCxnSpPr>
          <p:nvPr/>
        </p:nvCxnSpPr>
        <p:spPr>
          <a:xfrm>
            <a:off x="1495425" y="1736642"/>
            <a:ext cx="323850" cy="197887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연결선: 꺾임 27">
            <a:extLst>
              <a:ext uri="{FF2B5EF4-FFF2-40B4-BE49-F238E27FC236}">
                <a16:creationId xmlns:a16="http://schemas.microsoft.com/office/drawing/2014/main" id="{F6A4004F-EA60-465B-9737-EDD47EA4A998}"/>
              </a:ext>
            </a:extLst>
          </p:cNvPr>
          <p:cNvCxnSpPr>
            <a:cxnSpLocks/>
            <a:stCxn id="18" idx="6"/>
            <a:endCxn id="19" idx="1"/>
          </p:cNvCxnSpPr>
          <p:nvPr/>
        </p:nvCxnSpPr>
        <p:spPr>
          <a:xfrm flipV="1">
            <a:off x="1495425" y="5234429"/>
            <a:ext cx="323850" cy="72875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직사각형 20">
            <a:extLst>
              <a:ext uri="{FF2B5EF4-FFF2-40B4-BE49-F238E27FC236}">
                <a16:creationId xmlns:a16="http://schemas.microsoft.com/office/drawing/2014/main" id="{B02A5921-CD6D-44A1-B184-50FCF9AE1D56}"/>
              </a:ext>
            </a:extLst>
          </p:cNvPr>
          <p:cNvSpPr/>
          <p:nvPr/>
        </p:nvSpPr>
        <p:spPr>
          <a:xfrm>
            <a:off x="1819275" y="945519"/>
            <a:ext cx="10020301" cy="261610"/>
          </a:xfrm>
          <a:prstGeom prst="rect">
            <a:avLst/>
          </a:prstGeom>
          <a:solidFill>
            <a:schemeClr val="tx2">
              <a:lumMod val="20000"/>
              <a:lumOff val="80000"/>
            </a:schemeClr>
          </a:solidFill>
          <a:ln>
            <a:solidFill>
              <a:schemeClr val="bg1">
                <a:lumMod val="50000"/>
              </a:schemeClr>
            </a:solidFill>
          </a:ln>
        </p:spPr>
        <p:txBody>
          <a:bodyPr wrap="square">
            <a:spAutoFit/>
          </a:bodyPr>
          <a:lstStyle/>
          <a:p>
            <a:pPr marR="31750" fontAlgn="base"/>
            <a:r>
              <a:rPr lang="ko-KR" altLang="en-US" sz="1100" dirty="0">
                <a:solidFill>
                  <a:srgbClr val="FF0000"/>
                </a:solidFill>
              </a:rPr>
              <a:t>손해액 </a:t>
            </a:r>
            <a:r>
              <a:rPr lang="en-US" altLang="ko-KR" sz="1100" dirty="0">
                <a:solidFill>
                  <a:srgbClr val="FF0000"/>
                </a:solidFill>
              </a:rPr>
              <a:t>1</a:t>
            </a:r>
            <a:r>
              <a:rPr lang="ko-KR" altLang="en-US" sz="1100" dirty="0">
                <a:solidFill>
                  <a:srgbClr val="FF0000"/>
                </a:solidFill>
              </a:rPr>
              <a:t>과 손해액 </a:t>
            </a:r>
            <a:r>
              <a:rPr lang="en-US" altLang="ko-KR" sz="1100" dirty="0">
                <a:solidFill>
                  <a:srgbClr val="FF0000"/>
                </a:solidFill>
              </a:rPr>
              <a:t>2</a:t>
            </a:r>
            <a:r>
              <a:rPr lang="ko-KR" altLang="en-US" sz="1100" dirty="0">
                <a:solidFill>
                  <a:srgbClr val="FF0000"/>
                </a:solidFill>
              </a:rPr>
              <a:t>의 합계액을 손해액으로 산정가능</a:t>
            </a:r>
          </a:p>
        </p:txBody>
      </p:sp>
      <p:sp>
        <p:nvSpPr>
          <p:cNvPr id="23" name="직사각형 22">
            <a:extLst>
              <a:ext uri="{FF2B5EF4-FFF2-40B4-BE49-F238E27FC236}">
                <a16:creationId xmlns:a16="http://schemas.microsoft.com/office/drawing/2014/main" id="{C0DD9CDD-44D4-4FD0-8E3A-BFF7347666B0}"/>
              </a:ext>
            </a:extLst>
          </p:cNvPr>
          <p:cNvSpPr/>
          <p:nvPr/>
        </p:nvSpPr>
        <p:spPr>
          <a:xfrm>
            <a:off x="1819275" y="4161795"/>
            <a:ext cx="10020300" cy="938719"/>
          </a:xfrm>
          <a:prstGeom prst="rect">
            <a:avLst/>
          </a:prstGeom>
        </p:spPr>
        <p:txBody>
          <a:bodyPr wrap="square">
            <a:spAutoFit/>
          </a:bodyPr>
          <a:lstStyle/>
          <a:p>
            <a:pPr marL="171450" indent="-171450" algn="just">
              <a:buFontTx/>
              <a:buChar char="-"/>
            </a:pPr>
            <a:r>
              <a:rPr lang="en-US" altLang="ko-KR" sz="1100" dirty="0"/>
              <a:t>ⅰ) </a:t>
            </a:r>
            <a:r>
              <a:rPr lang="ko-KR" altLang="en-US" sz="1100" dirty="0"/>
              <a:t>오늘날 특허권을 활용한 제품의 제조방식이 </a:t>
            </a:r>
            <a:r>
              <a:rPr lang="en-US" altLang="ko-KR" sz="1100" dirty="0"/>
              <a:t>OEM </a:t>
            </a:r>
            <a:r>
              <a:rPr lang="ko-KR" altLang="en-US" sz="1100" dirty="0"/>
              <a:t>등 다양한 방식으로 이루어지는 점</a:t>
            </a:r>
            <a:r>
              <a:rPr lang="en-US" altLang="ko-KR" sz="1100" dirty="0"/>
              <a:t>, ⅱ) </a:t>
            </a:r>
            <a:r>
              <a:rPr lang="ko-KR" altLang="en-US" sz="1100" dirty="0"/>
              <a:t>설령 생산을 하지 않더라도 특허권자는 수많은 제조업자에게 실시계약을 체결하여 실시할 가능성이 열려 있는 점 등 특허권의 특성을 고려하였을 때</a:t>
            </a:r>
            <a:r>
              <a:rPr lang="en-US" altLang="ko-KR" sz="1100" dirty="0"/>
              <a:t>, </a:t>
            </a:r>
            <a:r>
              <a:rPr lang="ko-KR" altLang="en-US" sz="1100" dirty="0"/>
              <a:t>침해자가 특허권자의 생산능력을 초과하여 취득한 이익을 응당 특허권자가 얻을 수 있었던 이익으로 볼 필요가 있음</a:t>
            </a:r>
            <a:endParaRPr lang="en-US" altLang="ko-KR" sz="1100" dirty="0"/>
          </a:p>
          <a:p>
            <a:pPr marL="171450" indent="-171450" algn="just">
              <a:buFontTx/>
              <a:buChar char="-"/>
            </a:pPr>
            <a:r>
              <a:rPr lang="ko-KR" altLang="en-US" sz="1100" dirty="0"/>
              <a:t>다만</a:t>
            </a:r>
            <a:r>
              <a:rPr lang="en-US" altLang="ko-KR" sz="1100" dirty="0"/>
              <a:t>, </a:t>
            </a:r>
            <a:r>
              <a:rPr lang="ko-KR" altLang="en-US" sz="1100" dirty="0"/>
              <a:t>특허권자 또는 </a:t>
            </a:r>
            <a:r>
              <a:rPr lang="ko-KR" altLang="en-US" sz="1100" dirty="0" err="1"/>
              <a:t>전용실시권자가</a:t>
            </a:r>
            <a:r>
              <a:rPr lang="ko-KR" altLang="en-US" sz="1100" dirty="0"/>
              <a:t> 그 특허권자의 특허권에 대한 전용실시권의 설정</a:t>
            </a:r>
            <a:r>
              <a:rPr lang="en-US" altLang="ko-KR" sz="1100" dirty="0"/>
              <a:t>, </a:t>
            </a:r>
            <a:r>
              <a:rPr lang="ko-KR" altLang="en-US" sz="1100" dirty="0"/>
              <a:t>통상실시권의 허락 또는 그 </a:t>
            </a:r>
            <a:r>
              <a:rPr lang="ko-KR" altLang="en-US" sz="1100" dirty="0" err="1"/>
              <a:t>전용실시권자의</a:t>
            </a:r>
            <a:r>
              <a:rPr lang="ko-KR" altLang="en-US" sz="1100" dirty="0"/>
              <a:t> 전용실시권에 대한 통상실시권의 허락을 할 수 있었다고 인정되지 않는 것을 침해자가 증명하면 해당 수량은 초과수량에서 빼야 함</a:t>
            </a:r>
            <a:endParaRPr lang="en-US" altLang="ko-KR" sz="1100" dirty="0"/>
          </a:p>
        </p:txBody>
      </p:sp>
      <p:cxnSp>
        <p:nvCxnSpPr>
          <p:cNvPr id="25" name="연결선: 꺾임 24">
            <a:extLst>
              <a:ext uri="{FF2B5EF4-FFF2-40B4-BE49-F238E27FC236}">
                <a16:creationId xmlns:a16="http://schemas.microsoft.com/office/drawing/2014/main" id="{2DC31BA4-C1E4-4EE3-8938-47829CBC8BEA}"/>
              </a:ext>
            </a:extLst>
          </p:cNvPr>
          <p:cNvCxnSpPr>
            <a:cxnSpLocks/>
            <a:stCxn id="8" idx="6"/>
            <a:endCxn id="21" idx="1"/>
          </p:cNvCxnSpPr>
          <p:nvPr/>
        </p:nvCxnSpPr>
        <p:spPr>
          <a:xfrm flipV="1">
            <a:off x="1495425" y="1076324"/>
            <a:ext cx="323850" cy="660318"/>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연결선: 꺾임 26">
            <a:extLst>
              <a:ext uri="{FF2B5EF4-FFF2-40B4-BE49-F238E27FC236}">
                <a16:creationId xmlns:a16="http://schemas.microsoft.com/office/drawing/2014/main" id="{F01E9604-35FE-43D7-BF5D-62500E393414}"/>
              </a:ext>
            </a:extLst>
          </p:cNvPr>
          <p:cNvCxnSpPr>
            <a:cxnSpLocks/>
            <a:stCxn id="8" idx="6"/>
            <a:endCxn id="9" idx="1"/>
          </p:cNvCxnSpPr>
          <p:nvPr/>
        </p:nvCxnSpPr>
        <p:spPr>
          <a:xfrm flipV="1">
            <a:off x="1495425" y="1550784"/>
            <a:ext cx="323850" cy="18585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9662536"/>
      </p:ext>
    </p:extLst>
  </p:cSld>
  <p:clrMapOvr>
    <a:masterClrMapping/>
  </p:clrMapOvr>
  <p:transition/>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128</a:t>
            </a:r>
            <a:r>
              <a:rPr lang="ko-KR" altLang="en-US" dirty="0"/>
              <a:t>조</a:t>
            </a:r>
          </a:p>
        </p:txBody>
      </p:sp>
      <p:sp>
        <p:nvSpPr>
          <p:cNvPr id="5" name="텍스트 개체 틀 4"/>
          <p:cNvSpPr>
            <a:spLocks noGrp="1"/>
          </p:cNvSpPr>
          <p:nvPr>
            <p:ph type="body" sz="quarter" idx="13"/>
          </p:nvPr>
        </p:nvSpPr>
        <p:spPr/>
        <p:txBody>
          <a:bodyPr/>
          <a:lstStyle/>
          <a:p>
            <a:r>
              <a:rPr lang="ko-KR" altLang="en-US" dirty="0">
                <a:solidFill>
                  <a:srgbClr val="525252"/>
                </a:solidFill>
              </a:rPr>
              <a:t>제</a:t>
            </a:r>
            <a:r>
              <a:rPr lang="en-US" altLang="ko-KR" dirty="0">
                <a:solidFill>
                  <a:srgbClr val="525252"/>
                </a:solidFill>
              </a:rPr>
              <a:t>128</a:t>
            </a:r>
            <a:r>
              <a:rPr lang="ko-KR" altLang="en-US" dirty="0">
                <a:solidFill>
                  <a:srgbClr val="525252"/>
                </a:solidFill>
              </a:rPr>
              <a:t>조제</a:t>
            </a:r>
            <a:r>
              <a:rPr lang="en-US" altLang="ko-KR" dirty="0">
                <a:solidFill>
                  <a:srgbClr val="525252"/>
                </a:solidFill>
              </a:rPr>
              <a:t>2</a:t>
            </a:r>
            <a:r>
              <a:rPr lang="ko-KR" altLang="en-US" dirty="0">
                <a:solidFill>
                  <a:srgbClr val="525252"/>
                </a:solidFill>
              </a:rPr>
              <a:t>항 내지 제</a:t>
            </a:r>
            <a:r>
              <a:rPr lang="en-US" altLang="ko-KR" dirty="0">
                <a:solidFill>
                  <a:srgbClr val="525252"/>
                </a:solidFill>
              </a:rPr>
              <a:t>9</a:t>
            </a:r>
            <a:r>
              <a:rPr lang="ko-KR" altLang="en-US" dirty="0">
                <a:solidFill>
                  <a:srgbClr val="525252"/>
                </a:solidFill>
              </a:rPr>
              <a:t>항</a:t>
            </a:r>
          </a:p>
        </p:txBody>
      </p:sp>
      <p:sp>
        <p:nvSpPr>
          <p:cNvPr id="2" name="슬라이드 번호 개체 틀 1"/>
          <p:cNvSpPr>
            <a:spLocks noGrp="1"/>
          </p:cNvSpPr>
          <p:nvPr>
            <p:ph type="sldNum" sz="quarter" idx="12"/>
          </p:nvPr>
        </p:nvSpPr>
        <p:spPr/>
        <p:txBody>
          <a:bodyPr/>
          <a:lstStyle/>
          <a:p>
            <a:r>
              <a:rPr lang="en-US" altLang="ko-KR"/>
              <a:t>383</a:t>
            </a:r>
            <a:endParaRPr lang="ko-KR" altLang="en-US"/>
          </a:p>
        </p:txBody>
      </p:sp>
      <p:sp>
        <p:nvSpPr>
          <p:cNvPr id="8" name="타원 7">
            <a:extLst>
              <a:ext uri="{FF2B5EF4-FFF2-40B4-BE49-F238E27FC236}">
                <a16:creationId xmlns:a16="http://schemas.microsoft.com/office/drawing/2014/main" id="{BC91326A-0C91-4EE7-A42D-EB6B5AAC5C31}"/>
              </a:ext>
            </a:extLst>
          </p:cNvPr>
          <p:cNvSpPr/>
          <p:nvPr/>
        </p:nvSpPr>
        <p:spPr>
          <a:xfrm>
            <a:off x="424480" y="1305531"/>
            <a:ext cx="1024682" cy="1024682"/>
          </a:xfrm>
          <a:prstGeom prst="ellipse">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400" dirty="0">
                <a:solidFill>
                  <a:schemeClr val="tx2">
                    <a:lumMod val="60000"/>
                    <a:lumOff val="40000"/>
                  </a:schemeClr>
                </a:solidFill>
              </a:rPr>
              <a:t>손해액의</a:t>
            </a:r>
            <a:endParaRPr lang="en-US" altLang="ko-KR" sz="1400" dirty="0">
              <a:solidFill>
                <a:schemeClr val="tx2">
                  <a:lumMod val="60000"/>
                  <a:lumOff val="40000"/>
                </a:schemeClr>
              </a:solidFill>
            </a:endParaRPr>
          </a:p>
          <a:p>
            <a:pPr algn="ctr"/>
            <a:r>
              <a:rPr lang="ko-KR" altLang="en-US" sz="1400" dirty="0">
                <a:solidFill>
                  <a:schemeClr val="tx2">
                    <a:lumMod val="60000"/>
                    <a:lumOff val="40000"/>
                  </a:schemeClr>
                </a:solidFill>
              </a:rPr>
              <a:t>의제</a:t>
            </a:r>
          </a:p>
        </p:txBody>
      </p:sp>
      <p:sp>
        <p:nvSpPr>
          <p:cNvPr id="9" name="직사각형 8">
            <a:extLst>
              <a:ext uri="{FF2B5EF4-FFF2-40B4-BE49-F238E27FC236}">
                <a16:creationId xmlns:a16="http://schemas.microsoft.com/office/drawing/2014/main" id="{A342C89F-1BF6-4127-B6BA-8F6AAE8305D8}"/>
              </a:ext>
            </a:extLst>
          </p:cNvPr>
          <p:cNvSpPr/>
          <p:nvPr/>
        </p:nvSpPr>
        <p:spPr>
          <a:xfrm>
            <a:off x="1819275" y="1129616"/>
            <a:ext cx="10020301" cy="261610"/>
          </a:xfrm>
          <a:prstGeom prst="rect">
            <a:avLst/>
          </a:prstGeom>
          <a:solidFill>
            <a:schemeClr val="tx2">
              <a:lumMod val="20000"/>
              <a:lumOff val="80000"/>
            </a:schemeClr>
          </a:solidFill>
          <a:ln>
            <a:solidFill>
              <a:schemeClr val="bg1">
                <a:lumMod val="50000"/>
              </a:schemeClr>
            </a:solidFill>
          </a:ln>
        </p:spPr>
        <p:txBody>
          <a:bodyPr wrap="square">
            <a:spAutoFit/>
          </a:bodyPr>
          <a:lstStyle/>
          <a:p>
            <a:pPr marL="115570" marR="31750" indent="-115570" fontAlgn="base"/>
            <a:r>
              <a:rPr lang="ko-KR" altLang="en-US" sz="1100" dirty="0">
                <a:solidFill>
                  <a:srgbClr val="FF0000"/>
                </a:solidFill>
              </a:rPr>
              <a:t>손해액의 의제</a:t>
            </a:r>
            <a:r>
              <a:rPr lang="en-US" altLang="ko-KR" sz="1100" dirty="0">
                <a:solidFill>
                  <a:srgbClr val="FF0000"/>
                </a:solidFill>
              </a:rPr>
              <a:t>(</a:t>
            </a:r>
            <a:r>
              <a:rPr lang="ko-KR" altLang="en-US" sz="1100" dirty="0">
                <a:solidFill>
                  <a:srgbClr val="FF0000"/>
                </a:solidFill>
              </a:rPr>
              <a:t>法 </a:t>
            </a:r>
            <a:r>
              <a:rPr lang="en-US" altLang="ko-KR" sz="1100" dirty="0">
                <a:solidFill>
                  <a:srgbClr val="FF0000"/>
                </a:solidFill>
              </a:rPr>
              <a:t>128⑤): </a:t>
            </a:r>
            <a:r>
              <a:rPr lang="ko-KR" altLang="en-US" sz="1100" dirty="0">
                <a:solidFill>
                  <a:srgbClr val="FF0000"/>
                </a:solidFill>
              </a:rPr>
              <a:t>실시에 대하여 합리적으로 받을 수 있는 금액에 상당하는 액</a:t>
            </a:r>
          </a:p>
        </p:txBody>
      </p:sp>
      <p:sp>
        <p:nvSpPr>
          <p:cNvPr id="11" name="직사각형 10">
            <a:extLst>
              <a:ext uri="{FF2B5EF4-FFF2-40B4-BE49-F238E27FC236}">
                <a16:creationId xmlns:a16="http://schemas.microsoft.com/office/drawing/2014/main" id="{4B3D51DA-952E-4347-AE10-B044FF23E4D8}"/>
              </a:ext>
            </a:extLst>
          </p:cNvPr>
          <p:cNvSpPr/>
          <p:nvPr/>
        </p:nvSpPr>
        <p:spPr>
          <a:xfrm>
            <a:off x="1819275" y="1474258"/>
            <a:ext cx="10020300" cy="938719"/>
          </a:xfrm>
          <a:prstGeom prst="rect">
            <a:avLst/>
          </a:prstGeom>
        </p:spPr>
        <p:txBody>
          <a:bodyPr wrap="square">
            <a:spAutoFit/>
          </a:bodyPr>
          <a:lstStyle/>
          <a:p>
            <a:pPr marL="171450" indent="-171450" algn="just">
              <a:buFontTx/>
              <a:buChar char="-"/>
            </a:pPr>
            <a:r>
              <a:rPr lang="ko-KR" altLang="en-US" sz="1100" dirty="0"/>
              <a:t>특허권의 침해가 있는 경우 그로 인해 특허권자가 별도로 실시 계약을 체결할 수 있는 기회를 상실하게 되어 실시에 대하여 합리적으로 받을 수 있는 금액에 상당하는 액의 손해를 입게 되기 때문에 그러한 금액을 손해액으로 인정한 것으로서</a:t>
            </a:r>
            <a:r>
              <a:rPr lang="en-US" altLang="ko-KR" sz="1100" dirty="0"/>
              <a:t>, </a:t>
            </a:r>
            <a:r>
              <a:rPr lang="ko-KR" altLang="en-US" sz="1100" dirty="0"/>
              <a:t>「손해의 </a:t>
            </a:r>
            <a:r>
              <a:rPr lang="ko-KR" altLang="en-US" sz="1100" dirty="0" err="1"/>
              <a:t>하한액」을</a:t>
            </a:r>
            <a:r>
              <a:rPr lang="ko-KR" altLang="en-US" sz="1100" dirty="0"/>
              <a:t> 정함</a:t>
            </a:r>
          </a:p>
          <a:p>
            <a:pPr marL="171450" indent="-171450" algn="just">
              <a:buFontTx/>
              <a:buChar char="-"/>
            </a:pPr>
            <a:r>
              <a:rPr lang="ko-KR" altLang="en-US" sz="1100" dirty="0"/>
              <a:t>이 규정은 특허권의 침해가 손해액의 추정 규정</a:t>
            </a:r>
            <a:r>
              <a:rPr lang="en-US" altLang="ko-KR" sz="1100" dirty="0"/>
              <a:t>(</a:t>
            </a:r>
            <a:r>
              <a:rPr lang="ko-KR" altLang="en-US" sz="1100" dirty="0"/>
              <a:t>法 </a:t>
            </a:r>
            <a:r>
              <a:rPr lang="en-US" altLang="ko-KR" sz="1100" dirty="0"/>
              <a:t>128④)</a:t>
            </a:r>
            <a:r>
              <a:rPr lang="ko-KR" altLang="en-US" sz="1100" dirty="0"/>
              <a:t>과는 달리 특허권자가 특허발명을 실시하고 있지 않아 매상감소의 일실이익</a:t>
            </a:r>
            <a:r>
              <a:rPr lang="en-US" altLang="ko-KR" sz="1100" dirty="0"/>
              <a:t>(</a:t>
            </a:r>
            <a:r>
              <a:rPr lang="ko-KR" altLang="en-US" sz="1100" dirty="0"/>
              <a:t>逸失利益</a:t>
            </a:r>
            <a:r>
              <a:rPr lang="en-US" altLang="ko-KR" sz="1100" dirty="0"/>
              <a:t>)</a:t>
            </a:r>
            <a:r>
              <a:rPr lang="ko-KR" altLang="en-US" sz="1100" dirty="0"/>
              <a:t>이 없는 경우에도 적용된다는 점에 그 의의가 있다</a:t>
            </a:r>
            <a:r>
              <a:rPr lang="en-US" altLang="ko-KR" sz="1100" dirty="0"/>
              <a:t>. </a:t>
            </a:r>
            <a:r>
              <a:rPr lang="ko-KR" altLang="en-US" sz="1100" dirty="0"/>
              <a:t>특허권자는 손해발생에 대하여 </a:t>
            </a:r>
            <a:r>
              <a:rPr lang="ko-KR" altLang="en-US" sz="1100" dirty="0" err="1"/>
              <a:t>주장ㆍ증명을</a:t>
            </a:r>
            <a:r>
              <a:rPr lang="ko-KR" altLang="en-US" sz="1100" dirty="0"/>
              <a:t> 할 필요가 없고</a:t>
            </a:r>
            <a:r>
              <a:rPr lang="en-US" altLang="ko-KR" sz="1100" dirty="0"/>
              <a:t>, </a:t>
            </a:r>
            <a:r>
              <a:rPr lang="ko-KR" altLang="en-US" sz="1100" dirty="0"/>
              <a:t>권리침해사실과 실시에 대하여 합리적으로 받을 수 있는 금액에 상당하는 액을 </a:t>
            </a:r>
            <a:r>
              <a:rPr lang="ko-KR" altLang="en-US" sz="1100" dirty="0" err="1"/>
              <a:t>주장ㆍ증명하면</a:t>
            </a:r>
            <a:r>
              <a:rPr lang="ko-KR" altLang="en-US" sz="1100" dirty="0"/>
              <a:t> 된다</a:t>
            </a:r>
            <a:r>
              <a:rPr lang="en-US" altLang="ko-KR" sz="1100" dirty="0"/>
              <a:t>.</a:t>
            </a:r>
          </a:p>
        </p:txBody>
      </p:sp>
      <p:sp>
        <p:nvSpPr>
          <p:cNvPr id="18" name="타원 17">
            <a:extLst>
              <a:ext uri="{FF2B5EF4-FFF2-40B4-BE49-F238E27FC236}">
                <a16:creationId xmlns:a16="http://schemas.microsoft.com/office/drawing/2014/main" id="{FB1CE902-1182-438C-9EE7-F0A4CC87C53A}"/>
              </a:ext>
            </a:extLst>
          </p:cNvPr>
          <p:cNvSpPr/>
          <p:nvPr/>
        </p:nvSpPr>
        <p:spPr>
          <a:xfrm>
            <a:off x="424480" y="2683888"/>
            <a:ext cx="1024682" cy="1024682"/>
          </a:xfrm>
          <a:prstGeom prst="ellipse">
            <a:avLst/>
          </a:prstGeom>
          <a:solidFill>
            <a:schemeClr val="accent3">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400" dirty="0">
                <a:solidFill>
                  <a:schemeClr val="tx2">
                    <a:lumMod val="40000"/>
                    <a:lumOff val="60000"/>
                  </a:schemeClr>
                </a:solidFill>
              </a:rPr>
              <a:t>손해액의</a:t>
            </a:r>
            <a:endParaRPr lang="en-US" altLang="ko-KR" sz="1400" dirty="0">
              <a:solidFill>
                <a:schemeClr val="tx2">
                  <a:lumMod val="40000"/>
                  <a:lumOff val="60000"/>
                </a:schemeClr>
              </a:solidFill>
            </a:endParaRPr>
          </a:p>
          <a:p>
            <a:pPr algn="ctr"/>
            <a:r>
              <a:rPr lang="ko-KR" altLang="en-US" sz="1400" dirty="0">
                <a:solidFill>
                  <a:schemeClr val="tx2">
                    <a:lumMod val="40000"/>
                    <a:lumOff val="60000"/>
                  </a:schemeClr>
                </a:solidFill>
              </a:rPr>
              <a:t>참작</a:t>
            </a:r>
          </a:p>
        </p:txBody>
      </p:sp>
      <p:sp>
        <p:nvSpPr>
          <p:cNvPr id="19" name="직사각형 18">
            <a:extLst>
              <a:ext uri="{FF2B5EF4-FFF2-40B4-BE49-F238E27FC236}">
                <a16:creationId xmlns:a16="http://schemas.microsoft.com/office/drawing/2014/main" id="{365785C2-68B9-4E9B-ADCF-15CF91A5B9F1}"/>
              </a:ext>
            </a:extLst>
          </p:cNvPr>
          <p:cNvSpPr/>
          <p:nvPr/>
        </p:nvSpPr>
        <p:spPr>
          <a:xfrm>
            <a:off x="1819275" y="2509712"/>
            <a:ext cx="10020301" cy="261610"/>
          </a:xfrm>
          <a:prstGeom prst="rect">
            <a:avLst/>
          </a:prstGeom>
          <a:solidFill>
            <a:schemeClr val="tx2">
              <a:lumMod val="20000"/>
              <a:lumOff val="80000"/>
            </a:schemeClr>
          </a:solidFill>
          <a:ln>
            <a:solidFill>
              <a:schemeClr val="bg1">
                <a:lumMod val="50000"/>
              </a:schemeClr>
            </a:solidFill>
          </a:ln>
        </p:spPr>
        <p:txBody>
          <a:bodyPr wrap="square">
            <a:spAutoFit/>
          </a:bodyPr>
          <a:lstStyle/>
          <a:p>
            <a:pPr marL="115570" marR="31750" indent="-115570" fontAlgn="base"/>
            <a:r>
              <a:rPr lang="ko-KR" altLang="en-US" sz="1100" dirty="0">
                <a:solidFill>
                  <a:srgbClr val="FF0000"/>
                </a:solidFill>
              </a:rPr>
              <a:t>손해액의 참작</a:t>
            </a:r>
            <a:r>
              <a:rPr lang="en-US" altLang="ko-KR" sz="1100" dirty="0">
                <a:solidFill>
                  <a:srgbClr val="FF0000"/>
                </a:solidFill>
              </a:rPr>
              <a:t>(</a:t>
            </a:r>
            <a:r>
              <a:rPr lang="ko-KR" altLang="en-US" sz="1100" dirty="0">
                <a:solidFill>
                  <a:srgbClr val="FF0000"/>
                </a:solidFill>
              </a:rPr>
              <a:t>法 </a:t>
            </a:r>
            <a:r>
              <a:rPr lang="en-US" altLang="ko-KR" sz="1100" dirty="0">
                <a:solidFill>
                  <a:srgbClr val="FF0000"/>
                </a:solidFill>
              </a:rPr>
              <a:t>128⑥): </a:t>
            </a:r>
            <a:r>
              <a:rPr lang="ko-KR" altLang="en-US" sz="1100" dirty="0">
                <a:solidFill>
                  <a:srgbClr val="FF0000"/>
                </a:solidFill>
              </a:rPr>
              <a:t>손해액 의제 초과액에 대해서도 청구가능</a:t>
            </a:r>
            <a:r>
              <a:rPr lang="en-US" altLang="ko-KR" sz="1100" dirty="0">
                <a:solidFill>
                  <a:srgbClr val="FF0000"/>
                </a:solidFill>
              </a:rPr>
              <a:t>/</a:t>
            </a:r>
            <a:r>
              <a:rPr lang="ko-KR" altLang="en-US" sz="1100" dirty="0" err="1">
                <a:solidFill>
                  <a:srgbClr val="FF0000"/>
                </a:solidFill>
              </a:rPr>
              <a:t>고의ㆍ중과실이</a:t>
            </a:r>
            <a:r>
              <a:rPr lang="ko-KR" altLang="en-US" sz="1100" dirty="0">
                <a:solidFill>
                  <a:srgbClr val="FF0000"/>
                </a:solidFill>
              </a:rPr>
              <a:t> 없으면 참작가능</a:t>
            </a:r>
          </a:p>
        </p:txBody>
      </p:sp>
      <p:sp>
        <p:nvSpPr>
          <p:cNvPr id="20" name="직사각형 19">
            <a:extLst>
              <a:ext uri="{FF2B5EF4-FFF2-40B4-BE49-F238E27FC236}">
                <a16:creationId xmlns:a16="http://schemas.microsoft.com/office/drawing/2014/main" id="{9788D18C-E0B3-4012-A2D2-42919E23791D}"/>
              </a:ext>
            </a:extLst>
          </p:cNvPr>
          <p:cNvSpPr/>
          <p:nvPr/>
        </p:nvSpPr>
        <p:spPr>
          <a:xfrm>
            <a:off x="1819275" y="2854354"/>
            <a:ext cx="10020300" cy="261610"/>
          </a:xfrm>
          <a:prstGeom prst="rect">
            <a:avLst/>
          </a:prstGeom>
        </p:spPr>
        <p:txBody>
          <a:bodyPr wrap="square">
            <a:spAutoFit/>
          </a:bodyPr>
          <a:lstStyle/>
          <a:p>
            <a:pPr marL="171450" indent="-171450" algn="just">
              <a:buFontTx/>
              <a:buChar char="-"/>
            </a:pPr>
            <a:r>
              <a:rPr lang="ko-KR" altLang="en-US" sz="1100" dirty="0"/>
              <a:t>다만</a:t>
            </a:r>
            <a:r>
              <a:rPr lang="en-US" altLang="ko-KR" sz="1100" dirty="0"/>
              <a:t>, </a:t>
            </a:r>
            <a:r>
              <a:rPr lang="ko-KR" altLang="en-US" sz="1100" dirty="0"/>
              <a:t>이 경우에도 실시에 대하여 합리적으로 받을 수 있는 금액에 상당하는 액보다 적은 금액까지 경감 不可</a:t>
            </a:r>
          </a:p>
        </p:txBody>
      </p:sp>
      <p:cxnSp>
        <p:nvCxnSpPr>
          <p:cNvPr id="22" name="연결선: 꺾임 21">
            <a:extLst>
              <a:ext uri="{FF2B5EF4-FFF2-40B4-BE49-F238E27FC236}">
                <a16:creationId xmlns:a16="http://schemas.microsoft.com/office/drawing/2014/main" id="{517551C8-7047-4E74-A4B3-3B5D84D32C43}"/>
              </a:ext>
            </a:extLst>
          </p:cNvPr>
          <p:cNvCxnSpPr>
            <a:stCxn id="8" idx="6"/>
            <a:endCxn id="9" idx="1"/>
          </p:cNvCxnSpPr>
          <p:nvPr/>
        </p:nvCxnSpPr>
        <p:spPr>
          <a:xfrm flipV="1">
            <a:off x="1449162" y="1260421"/>
            <a:ext cx="370113" cy="55745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연결선: 꺾임 27">
            <a:extLst>
              <a:ext uri="{FF2B5EF4-FFF2-40B4-BE49-F238E27FC236}">
                <a16:creationId xmlns:a16="http://schemas.microsoft.com/office/drawing/2014/main" id="{F6A4004F-EA60-465B-9737-EDD47EA4A998}"/>
              </a:ext>
            </a:extLst>
          </p:cNvPr>
          <p:cNvCxnSpPr>
            <a:stCxn id="18" idx="6"/>
            <a:endCxn id="19" idx="1"/>
          </p:cNvCxnSpPr>
          <p:nvPr/>
        </p:nvCxnSpPr>
        <p:spPr>
          <a:xfrm flipV="1">
            <a:off x="1449162" y="2640517"/>
            <a:ext cx="370113" cy="55571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타원 20">
            <a:extLst>
              <a:ext uri="{FF2B5EF4-FFF2-40B4-BE49-F238E27FC236}">
                <a16:creationId xmlns:a16="http://schemas.microsoft.com/office/drawing/2014/main" id="{EB158D24-6397-4E82-A5F9-3CBCE50671D3}"/>
              </a:ext>
            </a:extLst>
          </p:cNvPr>
          <p:cNvSpPr/>
          <p:nvPr/>
        </p:nvSpPr>
        <p:spPr>
          <a:xfrm>
            <a:off x="424480" y="3916259"/>
            <a:ext cx="1024682" cy="1024682"/>
          </a:xfrm>
          <a:prstGeom prst="ellipse">
            <a:avLst/>
          </a:prstGeom>
          <a:solidFill>
            <a:schemeClr val="accent3">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400" dirty="0">
                <a:solidFill>
                  <a:schemeClr val="tx2">
                    <a:lumMod val="20000"/>
                    <a:lumOff val="80000"/>
                  </a:schemeClr>
                </a:solidFill>
              </a:rPr>
              <a:t>손해액의</a:t>
            </a:r>
            <a:endParaRPr lang="en-US" altLang="ko-KR" sz="1400" dirty="0">
              <a:solidFill>
                <a:schemeClr val="tx2">
                  <a:lumMod val="20000"/>
                  <a:lumOff val="80000"/>
                </a:schemeClr>
              </a:solidFill>
            </a:endParaRPr>
          </a:p>
          <a:p>
            <a:pPr algn="ctr"/>
            <a:r>
              <a:rPr lang="ko-KR" altLang="en-US" sz="1400" dirty="0">
                <a:solidFill>
                  <a:schemeClr val="tx2">
                    <a:lumMod val="20000"/>
                    <a:lumOff val="80000"/>
                  </a:schemeClr>
                </a:solidFill>
              </a:rPr>
              <a:t>인정</a:t>
            </a:r>
          </a:p>
        </p:txBody>
      </p:sp>
      <p:sp>
        <p:nvSpPr>
          <p:cNvPr id="23" name="직사각형 22">
            <a:extLst>
              <a:ext uri="{FF2B5EF4-FFF2-40B4-BE49-F238E27FC236}">
                <a16:creationId xmlns:a16="http://schemas.microsoft.com/office/drawing/2014/main" id="{F09093DA-7B09-41F0-AD1B-88B62A150C8E}"/>
              </a:ext>
            </a:extLst>
          </p:cNvPr>
          <p:cNvSpPr/>
          <p:nvPr/>
        </p:nvSpPr>
        <p:spPr>
          <a:xfrm>
            <a:off x="1819275" y="3351558"/>
            <a:ext cx="10020301" cy="261610"/>
          </a:xfrm>
          <a:prstGeom prst="rect">
            <a:avLst/>
          </a:prstGeom>
          <a:solidFill>
            <a:schemeClr val="tx2">
              <a:lumMod val="20000"/>
              <a:lumOff val="80000"/>
            </a:schemeClr>
          </a:solidFill>
          <a:ln>
            <a:solidFill>
              <a:schemeClr val="bg1">
                <a:lumMod val="50000"/>
              </a:schemeClr>
            </a:solidFill>
          </a:ln>
        </p:spPr>
        <p:txBody>
          <a:bodyPr wrap="square">
            <a:spAutoFit/>
          </a:bodyPr>
          <a:lstStyle/>
          <a:p>
            <a:pPr marL="115570" marR="31750" indent="-115570" fontAlgn="base"/>
            <a:r>
              <a:rPr lang="ko-KR" altLang="en-US" sz="1100" dirty="0">
                <a:solidFill>
                  <a:srgbClr val="FF0000"/>
                </a:solidFill>
              </a:rPr>
              <a:t>손해액의 인정</a:t>
            </a:r>
            <a:r>
              <a:rPr lang="en-US" altLang="ko-KR" sz="1100" dirty="0">
                <a:solidFill>
                  <a:srgbClr val="FF0000"/>
                </a:solidFill>
              </a:rPr>
              <a:t>(</a:t>
            </a:r>
            <a:r>
              <a:rPr lang="ko-KR" altLang="en-US" sz="1100" dirty="0">
                <a:solidFill>
                  <a:srgbClr val="FF0000"/>
                </a:solidFill>
              </a:rPr>
              <a:t>法 </a:t>
            </a:r>
            <a:r>
              <a:rPr lang="en-US" altLang="ko-KR" sz="1100" dirty="0">
                <a:solidFill>
                  <a:srgbClr val="FF0000"/>
                </a:solidFill>
              </a:rPr>
              <a:t>128⑦): </a:t>
            </a:r>
            <a:r>
              <a:rPr lang="ko-KR" altLang="en-US" sz="1100" dirty="0">
                <a:solidFill>
                  <a:srgbClr val="FF0000"/>
                </a:solidFill>
              </a:rPr>
              <a:t>변론 전체의 취지 및 증거조사의 결과에 기초하여 상당 손해액 인정</a:t>
            </a:r>
          </a:p>
        </p:txBody>
      </p:sp>
      <p:sp>
        <p:nvSpPr>
          <p:cNvPr id="25" name="직사각형 24">
            <a:extLst>
              <a:ext uri="{FF2B5EF4-FFF2-40B4-BE49-F238E27FC236}">
                <a16:creationId xmlns:a16="http://schemas.microsoft.com/office/drawing/2014/main" id="{8B943EF4-306B-4F8B-8A8D-BA97E9954C09}"/>
              </a:ext>
            </a:extLst>
          </p:cNvPr>
          <p:cNvSpPr/>
          <p:nvPr/>
        </p:nvSpPr>
        <p:spPr>
          <a:xfrm>
            <a:off x="1819275" y="3696200"/>
            <a:ext cx="10020300" cy="938719"/>
          </a:xfrm>
          <a:prstGeom prst="rect">
            <a:avLst/>
          </a:prstGeom>
        </p:spPr>
        <p:txBody>
          <a:bodyPr wrap="square">
            <a:spAutoFit/>
          </a:bodyPr>
          <a:lstStyle/>
          <a:p>
            <a:pPr marL="171450" indent="-171450" algn="just">
              <a:buFontTx/>
              <a:buChar char="-"/>
            </a:pPr>
            <a:r>
              <a:rPr lang="ko-KR" altLang="en-US" sz="1100" dirty="0"/>
              <a:t>다만</a:t>
            </a:r>
            <a:r>
              <a:rPr lang="en-US" altLang="ko-KR" sz="1100" dirty="0"/>
              <a:t>, </a:t>
            </a:r>
            <a:r>
              <a:rPr lang="ko-KR" altLang="en-US" sz="1100" dirty="0"/>
              <a:t>이는 </a:t>
            </a:r>
            <a:r>
              <a:rPr lang="ko-KR" altLang="en-US" sz="1100" dirty="0" err="1"/>
              <a:t>자유심증주의하에서</a:t>
            </a:r>
            <a:r>
              <a:rPr lang="ko-KR" altLang="en-US" sz="1100" dirty="0"/>
              <a:t> 손해가 발생된 것은 인정되나 손해액을 증명하기 위하여 필요한 사실을 증명하는 것이 해당 사실의 성질상 극히 곤란한 경우에는 </a:t>
            </a:r>
            <a:r>
              <a:rPr lang="ko-KR" altLang="en-US" sz="1100" dirty="0" err="1"/>
              <a:t>증명도ㆍ심증도를</a:t>
            </a:r>
            <a:r>
              <a:rPr lang="ko-KR" altLang="en-US" sz="1100" dirty="0"/>
              <a:t> 경감함으로써 손해의 </a:t>
            </a:r>
            <a:r>
              <a:rPr lang="ko-KR" altLang="en-US" sz="1100" dirty="0" err="1"/>
              <a:t>공평ㆍ타당한</a:t>
            </a:r>
            <a:r>
              <a:rPr lang="ko-KR" altLang="en-US" sz="1100" dirty="0"/>
              <a:t> 분담을 지도 원리로 하는 손해배상제도의 이상과 기능을 실현하려는 데 취지가 있는 것이지</a:t>
            </a:r>
            <a:r>
              <a:rPr lang="en-US" altLang="ko-KR" sz="1100" dirty="0"/>
              <a:t>, </a:t>
            </a:r>
            <a:r>
              <a:rPr lang="ko-KR" altLang="en-US" sz="1100" dirty="0"/>
              <a:t>법관에게 손해액 산정에 관한 자유재량을 부여한 것은 아니므로</a:t>
            </a:r>
            <a:r>
              <a:rPr lang="en-US" altLang="ko-KR" sz="1100" dirty="0"/>
              <a:t>, </a:t>
            </a:r>
            <a:r>
              <a:rPr lang="ko-KR" altLang="en-US" sz="1100" dirty="0"/>
              <a:t>법원이 위와 같은 방법으로 구체적 손해액을 판단할 때에는 손해액 산정 근거가 되는 간접사실들의 탐색에 최선의 노력을 다해야 하고</a:t>
            </a:r>
            <a:r>
              <a:rPr lang="en-US" altLang="ko-KR" sz="1100" dirty="0"/>
              <a:t>, </a:t>
            </a:r>
            <a:r>
              <a:rPr lang="ko-KR" altLang="en-US" sz="1100" dirty="0"/>
              <a:t>그와 같이 탐색해 낸 간접사실들을 합리적으로 평가하여 객관적으로 수긍할 수 있는 손해액을 산정해야 한다</a:t>
            </a:r>
            <a:r>
              <a:rPr lang="en-US" altLang="ko-KR" sz="1100" dirty="0"/>
              <a:t>(2010</a:t>
            </a:r>
            <a:r>
              <a:rPr lang="ko-KR" altLang="en-US" sz="1100" dirty="0"/>
              <a:t>다</a:t>
            </a:r>
            <a:r>
              <a:rPr lang="en-US" altLang="ko-KR" sz="1100" dirty="0"/>
              <a:t>58728).</a:t>
            </a:r>
          </a:p>
          <a:p>
            <a:pPr marL="171450" indent="-171450" algn="just">
              <a:buFontTx/>
              <a:buChar char="-"/>
            </a:pPr>
            <a:r>
              <a:rPr lang="ko-KR" altLang="en-US" sz="1100" dirty="0"/>
              <a:t>제</a:t>
            </a:r>
            <a:r>
              <a:rPr lang="en-US" altLang="ko-KR" sz="1100" dirty="0"/>
              <a:t>132</a:t>
            </a:r>
            <a:r>
              <a:rPr lang="ko-KR" altLang="en-US" sz="1100" dirty="0"/>
              <a:t>조</a:t>
            </a:r>
            <a:r>
              <a:rPr lang="en-US" altLang="ko-KR" sz="1100" dirty="0"/>
              <a:t>(</a:t>
            </a:r>
            <a:r>
              <a:rPr lang="ko-KR" altLang="en-US" sz="1100" dirty="0"/>
              <a:t>자료의 제출</a:t>
            </a:r>
            <a:r>
              <a:rPr lang="en-US" altLang="ko-KR" sz="1100" dirty="0"/>
              <a:t>)</a:t>
            </a:r>
            <a:r>
              <a:rPr lang="ko-KR" altLang="en-US" sz="1100" dirty="0"/>
              <a:t>의 실효성 확보 가능하고</a:t>
            </a:r>
            <a:r>
              <a:rPr lang="en-US" altLang="ko-KR" sz="1100" dirty="0"/>
              <a:t>, </a:t>
            </a:r>
            <a:r>
              <a:rPr lang="ko-KR" altLang="en-US" sz="1100" dirty="0"/>
              <a:t>영업비밀 누설 우려에 대해서는 비밀유지명령제도</a:t>
            </a:r>
            <a:r>
              <a:rPr lang="en-US" altLang="ko-KR" sz="1100" dirty="0"/>
              <a:t>(</a:t>
            </a:r>
            <a:r>
              <a:rPr lang="ko-KR" altLang="en-US" sz="1100" dirty="0"/>
              <a:t>法 </a:t>
            </a:r>
            <a:r>
              <a:rPr lang="en-US" altLang="ko-KR" sz="1100" dirty="0"/>
              <a:t>224</a:t>
            </a:r>
            <a:r>
              <a:rPr lang="ko-KR" altLang="en-US" sz="1100" dirty="0"/>
              <a:t>의</a:t>
            </a:r>
            <a:r>
              <a:rPr lang="en-US" altLang="ko-KR" sz="1100" dirty="0"/>
              <a:t>3)</a:t>
            </a:r>
            <a:r>
              <a:rPr lang="ko-KR" altLang="en-US" sz="1100" dirty="0"/>
              <a:t>를 통해 보완</a:t>
            </a:r>
          </a:p>
        </p:txBody>
      </p:sp>
      <p:cxnSp>
        <p:nvCxnSpPr>
          <p:cNvPr id="27" name="연결선: 꺾임 26">
            <a:extLst>
              <a:ext uri="{FF2B5EF4-FFF2-40B4-BE49-F238E27FC236}">
                <a16:creationId xmlns:a16="http://schemas.microsoft.com/office/drawing/2014/main" id="{8A40D226-A2FC-4714-8EF7-9826A11A63FD}"/>
              </a:ext>
            </a:extLst>
          </p:cNvPr>
          <p:cNvCxnSpPr>
            <a:cxnSpLocks/>
            <a:stCxn id="21" idx="6"/>
            <a:endCxn id="23" idx="1"/>
          </p:cNvCxnSpPr>
          <p:nvPr/>
        </p:nvCxnSpPr>
        <p:spPr>
          <a:xfrm flipV="1">
            <a:off x="1449162" y="3482363"/>
            <a:ext cx="370113" cy="94623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타원 16">
            <a:extLst>
              <a:ext uri="{FF2B5EF4-FFF2-40B4-BE49-F238E27FC236}">
                <a16:creationId xmlns:a16="http://schemas.microsoft.com/office/drawing/2014/main" id="{8D1390BD-5386-47E6-AC05-C5FAF8537255}"/>
              </a:ext>
            </a:extLst>
          </p:cNvPr>
          <p:cNvSpPr/>
          <p:nvPr/>
        </p:nvSpPr>
        <p:spPr>
          <a:xfrm>
            <a:off x="424480" y="5176433"/>
            <a:ext cx="1024682" cy="1024682"/>
          </a:xfrm>
          <a:prstGeom prst="ellipse">
            <a:avLst/>
          </a:prstGeom>
          <a:solidFill>
            <a:schemeClr val="bg2">
              <a:lumMod val="2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400" dirty="0">
                <a:solidFill>
                  <a:schemeClr val="tx2">
                    <a:lumMod val="20000"/>
                    <a:lumOff val="80000"/>
                  </a:schemeClr>
                </a:solidFill>
              </a:rPr>
              <a:t>징벌적</a:t>
            </a:r>
            <a:endParaRPr lang="en-US" altLang="ko-KR" sz="1400" dirty="0">
              <a:solidFill>
                <a:schemeClr val="tx2">
                  <a:lumMod val="20000"/>
                  <a:lumOff val="80000"/>
                </a:schemeClr>
              </a:solidFill>
            </a:endParaRPr>
          </a:p>
          <a:p>
            <a:pPr algn="ctr"/>
            <a:r>
              <a:rPr lang="ko-KR" altLang="en-US" sz="1400" dirty="0">
                <a:solidFill>
                  <a:schemeClr val="tx2">
                    <a:lumMod val="20000"/>
                    <a:lumOff val="80000"/>
                  </a:schemeClr>
                </a:solidFill>
              </a:rPr>
              <a:t>손해배상</a:t>
            </a:r>
          </a:p>
        </p:txBody>
      </p:sp>
      <p:sp>
        <p:nvSpPr>
          <p:cNvPr id="24" name="직사각형 23">
            <a:extLst>
              <a:ext uri="{FF2B5EF4-FFF2-40B4-BE49-F238E27FC236}">
                <a16:creationId xmlns:a16="http://schemas.microsoft.com/office/drawing/2014/main" id="{910FF97B-C8D3-4676-856E-B7F9B00C3813}"/>
              </a:ext>
            </a:extLst>
          </p:cNvPr>
          <p:cNvSpPr/>
          <p:nvPr/>
        </p:nvSpPr>
        <p:spPr>
          <a:xfrm>
            <a:off x="1819275" y="4849857"/>
            <a:ext cx="10020301" cy="430887"/>
          </a:xfrm>
          <a:prstGeom prst="rect">
            <a:avLst/>
          </a:prstGeom>
          <a:solidFill>
            <a:schemeClr val="tx2">
              <a:lumMod val="20000"/>
              <a:lumOff val="80000"/>
            </a:schemeClr>
          </a:solidFill>
          <a:ln>
            <a:solidFill>
              <a:schemeClr val="bg1">
                <a:lumMod val="50000"/>
              </a:schemeClr>
            </a:solidFill>
          </a:ln>
        </p:spPr>
        <p:txBody>
          <a:bodyPr wrap="square">
            <a:spAutoFit/>
          </a:bodyPr>
          <a:lstStyle/>
          <a:p>
            <a:pPr marR="31750" fontAlgn="base"/>
            <a:r>
              <a:rPr lang="ko-KR" altLang="en-US" sz="1100" dirty="0">
                <a:solidFill>
                  <a:srgbClr val="FF0000"/>
                </a:solidFill>
              </a:rPr>
              <a:t>징벌적 손해배상</a:t>
            </a:r>
            <a:r>
              <a:rPr lang="en-US" altLang="ko-KR" sz="1100" dirty="0">
                <a:solidFill>
                  <a:srgbClr val="FF0000"/>
                </a:solidFill>
              </a:rPr>
              <a:t>(</a:t>
            </a:r>
            <a:r>
              <a:rPr lang="ko-KR" altLang="en-US" sz="1100" dirty="0">
                <a:solidFill>
                  <a:srgbClr val="FF0000"/>
                </a:solidFill>
              </a:rPr>
              <a:t>法 </a:t>
            </a:r>
            <a:r>
              <a:rPr lang="en-US" altLang="ko-KR" sz="1100" dirty="0">
                <a:solidFill>
                  <a:srgbClr val="FF0000"/>
                </a:solidFill>
              </a:rPr>
              <a:t>128</a:t>
            </a:r>
            <a:r>
              <a:rPr lang="ko-KR" altLang="en-US" sz="1100" dirty="0">
                <a:solidFill>
                  <a:srgbClr val="FF0000"/>
                </a:solidFill>
              </a:rPr>
              <a:t>⑧</a:t>
            </a:r>
            <a:r>
              <a:rPr lang="en-US" altLang="ko-KR" sz="1100" dirty="0">
                <a:solidFill>
                  <a:srgbClr val="FF0000"/>
                </a:solidFill>
              </a:rPr>
              <a:t>): </a:t>
            </a:r>
            <a:r>
              <a:rPr lang="ko-KR" altLang="en-US" sz="1100" dirty="0">
                <a:solidFill>
                  <a:srgbClr val="FF0000"/>
                </a:solidFill>
              </a:rPr>
              <a:t>침해한 행위가 고의적인 것으로 인정되는 경우에는 제</a:t>
            </a:r>
            <a:r>
              <a:rPr lang="en-US" altLang="ko-KR" sz="1100" dirty="0">
                <a:solidFill>
                  <a:srgbClr val="FF0000"/>
                </a:solidFill>
              </a:rPr>
              <a:t>1</a:t>
            </a:r>
            <a:r>
              <a:rPr lang="ko-KR" altLang="en-US" sz="1100" dirty="0">
                <a:solidFill>
                  <a:srgbClr val="FF0000"/>
                </a:solidFill>
              </a:rPr>
              <a:t>항에도 불구하고 제</a:t>
            </a:r>
            <a:r>
              <a:rPr lang="en-US" altLang="ko-KR" sz="1100" dirty="0">
                <a:solidFill>
                  <a:srgbClr val="FF0000"/>
                </a:solidFill>
              </a:rPr>
              <a:t>2</a:t>
            </a:r>
            <a:r>
              <a:rPr lang="ko-KR" altLang="en-US" sz="1100" dirty="0">
                <a:solidFill>
                  <a:srgbClr val="FF0000"/>
                </a:solidFill>
              </a:rPr>
              <a:t>항부터 제</a:t>
            </a:r>
            <a:r>
              <a:rPr lang="en-US" altLang="ko-KR" sz="1100" dirty="0">
                <a:solidFill>
                  <a:srgbClr val="FF0000"/>
                </a:solidFill>
              </a:rPr>
              <a:t>7</a:t>
            </a:r>
            <a:r>
              <a:rPr lang="ko-KR" altLang="en-US" sz="1100" dirty="0">
                <a:solidFill>
                  <a:srgbClr val="FF0000"/>
                </a:solidFill>
              </a:rPr>
              <a:t>항까지의 규정에 따라 손해로 인정된 금액의 </a:t>
            </a:r>
            <a:r>
              <a:rPr lang="en-US" altLang="ko-KR" sz="1100" dirty="0">
                <a:solidFill>
                  <a:srgbClr val="FF0000"/>
                </a:solidFill>
              </a:rPr>
              <a:t>5</a:t>
            </a:r>
            <a:r>
              <a:rPr lang="ko-KR" altLang="en-US" sz="1100" dirty="0">
                <a:solidFill>
                  <a:srgbClr val="FF0000"/>
                </a:solidFill>
              </a:rPr>
              <a:t>배를 넘지 아니하는 범위에서 배상액 인정 가능</a:t>
            </a:r>
          </a:p>
        </p:txBody>
      </p:sp>
      <p:sp>
        <p:nvSpPr>
          <p:cNvPr id="26" name="직사각형 25">
            <a:extLst>
              <a:ext uri="{FF2B5EF4-FFF2-40B4-BE49-F238E27FC236}">
                <a16:creationId xmlns:a16="http://schemas.microsoft.com/office/drawing/2014/main" id="{B8699C2F-8863-4A48-BF22-364973918DEE}"/>
              </a:ext>
            </a:extLst>
          </p:cNvPr>
          <p:cNvSpPr/>
          <p:nvPr/>
        </p:nvSpPr>
        <p:spPr>
          <a:xfrm>
            <a:off x="1819275" y="5423099"/>
            <a:ext cx="10020300" cy="938719"/>
          </a:xfrm>
          <a:prstGeom prst="rect">
            <a:avLst/>
          </a:prstGeom>
        </p:spPr>
        <p:txBody>
          <a:bodyPr wrap="square">
            <a:spAutoFit/>
          </a:bodyPr>
          <a:lstStyle/>
          <a:p>
            <a:pPr marL="171450" indent="-171450" algn="just">
              <a:buFontTx/>
              <a:buChar char="-"/>
            </a:pPr>
            <a:r>
              <a:rPr lang="ko-KR" altLang="en-US" sz="1100" dirty="0"/>
              <a:t>법원은 배상액을 판단할 때 다음의 사항을 고려</a:t>
            </a:r>
            <a:r>
              <a:rPr lang="en-US" altLang="ko-KR" sz="1100" dirty="0"/>
              <a:t>(</a:t>
            </a:r>
            <a:r>
              <a:rPr lang="ko-KR" altLang="en-US" sz="1100" dirty="0"/>
              <a:t>法 </a:t>
            </a:r>
            <a:r>
              <a:rPr lang="en-US" altLang="ko-KR" sz="1100" dirty="0"/>
              <a:t>128⑨)</a:t>
            </a:r>
          </a:p>
          <a:p>
            <a:pPr algn="just"/>
            <a:r>
              <a:rPr lang="en-US" altLang="ko-KR" sz="1100" dirty="0"/>
              <a:t>  ⅰ) </a:t>
            </a:r>
            <a:r>
              <a:rPr lang="ko-KR" altLang="en-US" sz="1100" dirty="0"/>
              <a:t>침해행위를 한 자의 우월적 지위 여부</a:t>
            </a:r>
            <a:r>
              <a:rPr lang="en-US" altLang="ko-KR" sz="1100" dirty="0"/>
              <a:t>,	</a:t>
            </a:r>
            <a:r>
              <a:rPr lang="ko-KR" altLang="en-US" sz="1100" dirty="0"/>
              <a:t>  </a:t>
            </a:r>
            <a:r>
              <a:rPr lang="en-US" altLang="ko-KR" sz="1100" dirty="0"/>
              <a:t>		ⅱ) </a:t>
            </a:r>
            <a:r>
              <a:rPr lang="ko-KR" altLang="en-US" sz="1100" dirty="0"/>
              <a:t>고의 또는 손해 발생의 우려를 인식한 정도</a:t>
            </a:r>
          </a:p>
          <a:p>
            <a:pPr algn="just"/>
            <a:r>
              <a:rPr lang="ko-KR" altLang="en-US" sz="1100" dirty="0"/>
              <a:t>  </a:t>
            </a:r>
            <a:r>
              <a:rPr lang="en-US" altLang="ko-KR" sz="1100" dirty="0"/>
              <a:t>ⅲ) </a:t>
            </a:r>
            <a:r>
              <a:rPr lang="ko-KR" altLang="en-US" sz="1100" dirty="0"/>
              <a:t>침해행위로 인하여 특허권자 및 </a:t>
            </a:r>
            <a:r>
              <a:rPr lang="ko-KR" altLang="en-US" sz="1100" dirty="0" err="1"/>
              <a:t>전용실시권자가</a:t>
            </a:r>
            <a:r>
              <a:rPr lang="ko-KR" altLang="en-US" sz="1100" dirty="0"/>
              <a:t> 입은 피해규모</a:t>
            </a:r>
            <a:r>
              <a:rPr lang="en-US" altLang="ko-KR" sz="1100" dirty="0"/>
              <a:t>,	ⅳ) </a:t>
            </a:r>
            <a:r>
              <a:rPr lang="ko-KR" altLang="en-US" sz="1100" dirty="0"/>
              <a:t>침해행위로 인하여 침해한 자가 얻은 경제적 이익</a:t>
            </a:r>
          </a:p>
          <a:p>
            <a:pPr algn="just"/>
            <a:r>
              <a:rPr lang="ko-KR" altLang="en-US" sz="1100" dirty="0"/>
              <a:t>  </a:t>
            </a:r>
            <a:r>
              <a:rPr lang="en-US" altLang="ko-KR" sz="1100" dirty="0"/>
              <a:t>ⅴ) </a:t>
            </a:r>
            <a:r>
              <a:rPr lang="ko-KR" altLang="en-US" sz="1100" dirty="0"/>
              <a:t>침해행위의 </a:t>
            </a:r>
            <a:r>
              <a:rPr lang="ko-KR" altLang="en-US" sz="1100" dirty="0" err="1"/>
              <a:t>기간ㆍ횟수</a:t>
            </a:r>
            <a:r>
              <a:rPr lang="ko-KR" altLang="en-US" sz="1100" dirty="0"/>
              <a:t> 등</a:t>
            </a:r>
            <a:r>
              <a:rPr lang="en-US" altLang="ko-KR" sz="1100" dirty="0"/>
              <a:t>, 				ⅵ) </a:t>
            </a:r>
            <a:r>
              <a:rPr lang="ko-KR" altLang="en-US" sz="1100" dirty="0"/>
              <a:t>침해행위에 따른 벌금</a:t>
            </a:r>
          </a:p>
          <a:p>
            <a:pPr algn="just"/>
            <a:r>
              <a:rPr lang="ko-KR" altLang="en-US" sz="1100" dirty="0"/>
              <a:t>  </a:t>
            </a:r>
            <a:r>
              <a:rPr lang="en-US" altLang="ko-KR" sz="1100" dirty="0"/>
              <a:t>ⅶ) </a:t>
            </a:r>
            <a:r>
              <a:rPr lang="ko-KR" altLang="en-US" sz="1100" dirty="0"/>
              <a:t>침해행위를 한 자의 재산상태</a:t>
            </a:r>
            <a:r>
              <a:rPr lang="en-US" altLang="ko-KR" sz="1100" dirty="0"/>
              <a:t>, 			ⅷ) </a:t>
            </a:r>
            <a:r>
              <a:rPr lang="ko-KR" altLang="en-US" sz="1100" dirty="0"/>
              <a:t>침해행위를 한 자의 피해구제 노력의 정도</a:t>
            </a:r>
          </a:p>
        </p:txBody>
      </p:sp>
      <p:cxnSp>
        <p:nvCxnSpPr>
          <p:cNvPr id="29" name="연결선: 꺾임 28">
            <a:extLst>
              <a:ext uri="{FF2B5EF4-FFF2-40B4-BE49-F238E27FC236}">
                <a16:creationId xmlns:a16="http://schemas.microsoft.com/office/drawing/2014/main" id="{6C1FB716-493E-4333-9A2F-135F1B6D5B1A}"/>
              </a:ext>
            </a:extLst>
          </p:cNvPr>
          <p:cNvCxnSpPr>
            <a:stCxn id="17" idx="6"/>
            <a:endCxn id="24" idx="1"/>
          </p:cNvCxnSpPr>
          <p:nvPr/>
        </p:nvCxnSpPr>
        <p:spPr>
          <a:xfrm flipV="1">
            <a:off x="1449162" y="5065301"/>
            <a:ext cx="370113" cy="62347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08642324"/>
      </p:ext>
    </p:extLst>
  </p:cSld>
  <p:clrMapOvr>
    <a:masterClrMapping/>
  </p:clrMapOvr>
  <p:transition/>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사각형: 둥근 위쪽 모서리 31">
            <a:extLst>
              <a:ext uri="{FF2B5EF4-FFF2-40B4-BE49-F238E27FC236}">
                <a16:creationId xmlns:a16="http://schemas.microsoft.com/office/drawing/2014/main" id="{E7CF4D17-4197-7977-5B56-B21600CEB8F4}"/>
              </a:ext>
            </a:extLst>
          </p:cNvPr>
          <p:cNvSpPr/>
          <p:nvPr/>
        </p:nvSpPr>
        <p:spPr>
          <a:xfrm>
            <a:off x="2922493" y="1679562"/>
            <a:ext cx="2384612" cy="507831"/>
          </a:xfrm>
          <a:prstGeom prst="round2SameRect">
            <a:avLst>
              <a:gd name="adj1" fmla="val 50000"/>
              <a:gd name="adj2" fmla="val 0"/>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128</a:t>
            </a:r>
            <a:r>
              <a:rPr lang="ko-KR" altLang="en-US" dirty="0"/>
              <a:t>조</a:t>
            </a:r>
          </a:p>
        </p:txBody>
      </p:sp>
      <p:sp>
        <p:nvSpPr>
          <p:cNvPr id="5" name="텍스트 개체 틀 4"/>
          <p:cNvSpPr>
            <a:spLocks noGrp="1"/>
          </p:cNvSpPr>
          <p:nvPr>
            <p:ph type="body" sz="quarter" idx="13"/>
          </p:nvPr>
        </p:nvSpPr>
        <p:spPr/>
        <p:txBody>
          <a:bodyPr/>
          <a:lstStyle/>
          <a:p>
            <a:r>
              <a:rPr lang="ko-KR" altLang="en-US" dirty="0"/>
              <a:t>제</a:t>
            </a:r>
            <a:r>
              <a:rPr lang="en-US" altLang="ko-KR" dirty="0"/>
              <a:t>128</a:t>
            </a:r>
            <a:r>
              <a:rPr lang="ko-KR" altLang="en-US" dirty="0"/>
              <a:t>조제</a:t>
            </a:r>
            <a:r>
              <a:rPr lang="en-US" altLang="ko-KR" dirty="0"/>
              <a:t>2</a:t>
            </a:r>
            <a:r>
              <a:rPr lang="ko-KR" altLang="en-US" dirty="0"/>
              <a:t>항의 구조</a:t>
            </a:r>
          </a:p>
        </p:txBody>
      </p:sp>
      <p:sp>
        <p:nvSpPr>
          <p:cNvPr id="2" name="슬라이드 번호 개체 틀 1"/>
          <p:cNvSpPr>
            <a:spLocks noGrp="1"/>
          </p:cNvSpPr>
          <p:nvPr>
            <p:ph type="sldNum" sz="quarter" idx="12"/>
          </p:nvPr>
        </p:nvSpPr>
        <p:spPr/>
        <p:txBody>
          <a:bodyPr/>
          <a:lstStyle/>
          <a:p>
            <a:r>
              <a:rPr lang="en-US" altLang="ko-KR"/>
              <a:t>384</a:t>
            </a:r>
            <a:endParaRPr lang="ko-KR" altLang="en-US"/>
          </a:p>
        </p:txBody>
      </p:sp>
      <p:sp>
        <p:nvSpPr>
          <p:cNvPr id="7" name="TextBox 6">
            <a:extLst>
              <a:ext uri="{FF2B5EF4-FFF2-40B4-BE49-F238E27FC236}">
                <a16:creationId xmlns:a16="http://schemas.microsoft.com/office/drawing/2014/main" id="{27F65AF0-82EC-42E7-971D-C16511FE43CA}"/>
              </a:ext>
            </a:extLst>
          </p:cNvPr>
          <p:cNvSpPr txBox="1"/>
          <p:nvPr/>
        </p:nvSpPr>
        <p:spPr>
          <a:xfrm>
            <a:off x="1247452" y="5619786"/>
            <a:ext cx="10621819" cy="523220"/>
          </a:xfrm>
          <a:prstGeom prst="rect">
            <a:avLst/>
          </a:prstGeom>
          <a:noFill/>
          <a:ln>
            <a:solidFill>
              <a:schemeClr val="bg1">
                <a:lumMod val="65000"/>
              </a:schemeClr>
            </a:solidFill>
          </a:ln>
        </p:spPr>
        <p:txBody>
          <a:bodyPr wrap="square" anchor="ctr">
            <a:spAutoFit/>
          </a:bodyPr>
          <a:lstStyle/>
          <a:p>
            <a:r>
              <a:rPr lang="ko-KR" altLang="en-US" sz="1400" dirty="0"/>
              <a:t>침해자의 양도수량 </a:t>
            </a:r>
            <a:r>
              <a:rPr lang="en-US" altLang="ko-KR" sz="1400" dirty="0"/>
              <a:t>- </a:t>
            </a:r>
            <a:r>
              <a:rPr lang="ko-KR" altLang="en-US" sz="1400" dirty="0"/>
              <a:t>특허권자 또는 </a:t>
            </a:r>
            <a:r>
              <a:rPr lang="ko-KR" altLang="en-US" sz="1400" dirty="0" err="1"/>
              <a:t>전용실시권자가</a:t>
            </a:r>
            <a:r>
              <a:rPr lang="ko-KR" altLang="en-US" sz="1400" dirty="0"/>
              <a:t> 그 침해행위 외의 사유로 판매할 수 없었던 사정이 있는 경우에는 그 침해행위 외의 사유로 판매할 수 없었던 수량</a:t>
            </a:r>
          </a:p>
        </p:txBody>
      </p:sp>
      <p:sp>
        <p:nvSpPr>
          <p:cNvPr id="8" name="사각형: 둥근 모서리 7">
            <a:extLst>
              <a:ext uri="{FF2B5EF4-FFF2-40B4-BE49-F238E27FC236}">
                <a16:creationId xmlns:a16="http://schemas.microsoft.com/office/drawing/2014/main" id="{29C567C9-EB41-427E-B676-5B783E4F1548}"/>
              </a:ext>
            </a:extLst>
          </p:cNvPr>
          <p:cNvSpPr/>
          <p:nvPr/>
        </p:nvSpPr>
        <p:spPr>
          <a:xfrm>
            <a:off x="258687" y="5619786"/>
            <a:ext cx="887165" cy="523220"/>
          </a:xfrm>
          <a:prstGeom prst="round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400" dirty="0">
                <a:solidFill>
                  <a:schemeClr val="tx2">
                    <a:lumMod val="50000"/>
                  </a:schemeClr>
                </a:solidFill>
              </a:rPr>
              <a:t>인정수량</a:t>
            </a:r>
          </a:p>
        </p:txBody>
      </p:sp>
      <p:sp>
        <p:nvSpPr>
          <p:cNvPr id="9" name="TextBox 8">
            <a:extLst>
              <a:ext uri="{FF2B5EF4-FFF2-40B4-BE49-F238E27FC236}">
                <a16:creationId xmlns:a16="http://schemas.microsoft.com/office/drawing/2014/main" id="{A5AF73F1-2750-46BA-8822-AA8AEB7ECF11}"/>
              </a:ext>
            </a:extLst>
          </p:cNvPr>
          <p:cNvSpPr txBox="1"/>
          <p:nvPr/>
        </p:nvSpPr>
        <p:spPr>
          <a:xfrm>
            <a:off x="1247452" y="6210914"/>
            <a:ext cx="10621819" cy="523220"/>
          </a:xfrm>
          <a:prstGeom prst="rect">
            <a:avLst/>
          </a:prstGeom>
          <a:noFill/>
          <a:ln>
            <a:solidFill>
              <a:schemeClr val="bg1">
                <a:lumMod val="65000"/>
              </a:schemeClr>
            </a:solidFill>
          </a:ln>
        </p:spPr>
        <p:txBody>
          <a:bodyPr wrap="square" anchor="ctr">
            <a:noAutofit/>
          </a:bodyPr>
          <a:lstStyle/>
          <a:p>
            <a:r>
              <a:rPr lang="ko-KR" altLang="en-US" sz="1400" dirty="0"/>
              <a:t>특허권자 또는 </a:t>
            </a:r>
            <a:r>
              <a:rPr lang="ko-KR" altLang="en-US" sz="1400" dirty="0" err="1"/>
              <a:t>전용실시권자가</a:t>
            </a:r>
            <a:r>
              <a:rPr lang="ko-KR" altLang="en-US" sz="1400" dirty="0"/>
              <a:t> 생산할 수 있었던 물건의 수량 </a:t>
            </a:r>
            <a:r>
              <a:rPr lang="en-US" altLang="ko-KR" sz="1400" dirty="0"/>
              <a:t>-</a:t>
            </a:r>
            <a:r>
              <a:rPr lang="ko-KR" altLang="en-US" sz="1400" dirty="0"/>
              <a:t> 실제 판매한 물건의 수량</a:t>
            </a:r>
          </a:p>
        </p:txBody>
      </p:sp>
      <p:sp>
        <p:nvSpPr>
          <p:cNvPr id="10" name="사각형: 둥근 모서리 9">
            <a:extLst>
              <a:ext uri="{FF2B5EF4-FFF2-40B4-BE49-F238E27FC236}">
                <a16:creationId xmlns:a16="http://schemas.microsoft.com/office/drawing/2014/main" id="{D1A34DCE-0F2C-4941-A423-E19BE5A9D2A6}"/>
              </a:ext>
            </a:extLst>
          </p:cNvPr>
          <p:cNvSpPr/>
          <p:nvPr/>
        </p:nvSpPr>
        <p:spPr>
          <a:xfrm>
            <a:off x="258687" y="6210914"/>
            <a:ext cx="887165" cy="523220"/>
          </a:xfrm>
          <a:prstGeom prst="round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400" dirty="0">
                <a:solidFill>
                  <a:schemeClr val="tx2">
                    <a:lumMod val="50000"/>
                  </a:schemeClr>
                </a:solidFill>
              </a:rPr>
              <a:t>생산능력</a:t>
            </a:r>
            <a:endParaRPr lang="en-US" altLang="ko-KR" sz="1400" dirty="0">
              <a:solidFill>
                <a:schemeClr val="tx2">
                  <a:lumMod val="50000"/>
                </a:schemeClr>
              </a:solidFill>
            </a:endParaRPr>
          </a:p>
          <a:p>
            <a:pPr algn="ctr"/>
            <a:r>
              <a:rPr lang="ko-KR" altLang="en-US" sz="1400" dirty="0">
                <a:solidFill>
                  <a:schemeClr val="tx2">
                    <a:lumMod val="50000"/>
                  </a:schemeClr>
                </a:solidFill>
              </a:rPr>
              <a:t>범위수량</a:t>
            </a:r>
          </a:p>
        </p:txBody>
      </p:sp>
      <p:cxnSp>
        <p:nvCxnSpPr>
          <p:cNvPr id="6" name="직선 연결선 5">
            <a:extLst>
              <a:ext uri="{FF2B5EF4-FFF2-40B4-BE49-F238E27FC236}">
                <a16:creationId xmlns:a16="http://schemas.microsoft.com/office/drawing/2014/main" id="{6E574BC6-3F2C-2386-DC22-26E67B56D351}"/>
              </a:ext>
            </a:extLst>
          </p:cNvPr>
          <p:cNvCxnSpPr>
            <a:cxnSpLocks/>
            <a:endCxn id="18" idx="1"/>
          </p:cNvCxnSpPr>
          <p:nvPr/>
        </p:nvCxnSpPr>
        <p:spPr>
          <a:xfrm flipV="1">
            <a:off x="2922493" y="2187393"/>
            <a:ext cx="7527968" cy="17931"/>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CDA8CD07-8D04-8B9D-C3AE-3705B7B2F363}"/>
              </a:ext>
            </a:extLst>
          </p:cNvPr>
          <p:cNvSpPr txBox="1"/>
          <p:nvPr/>
        </p:nvSpPr>
        <p:spPr>
          <a:xfrm>
            <a:off x="10450461" y="1864227"/>
            <a:ext cx="1018227" cy="646331"/>
          </a:xfrm>
          <a:prstGeom prst="rect">
            <a:avLst/>
          </a:prstGeom>
          <a:noFill/>
        </p:spPr>
        <p:txBody>
          <a:bodyPr wrap="none" rtlCol="0">
            <a:spAutoFit/>
          </a:bodyPr>
          <a:lstStyle/>
          <a:p>
            <a:pPr algn="ctr"/>
            <a:r>
              <a:rPr lang="ko-KR" altLang="en-US" dirty="0" err="1"/>
              <a:t>침해자</a:t>
            </a:r>
            <a:r>
              <a:rPr lang="ko-KR" altLang="en-US" dirty="0"/>
              <a:t> </a:t>
            </a:r>
            <a:endParaRPr lang="en-US" altLang="ko-KR" dirty="0"/>
          </a:p>
          <a:p>
            <a:pPr algn="ctr"/>
            <a:r>
              <a:rPr lang="ko-KR" altLang="en-US" dirty="0"/>
              <a:t>양도수량</a:t>
            </a:r>
          </a:p>
        </p:txBody>
      </p:sp>
      <p:sp>
        <p:nvSpPr>
          <p:cNvPr id="25" name="TextBox 24">
            <a:extLst>
              <a:ext uri="{FF2B5EF4-FFF2-40B4-BE49-F238E27FC236}">
                <a16:creationId xmlns:a16="http://schemas.microsoft.com/office/drawing/2014/main" id="{18F7C526-854C-11FC-D7AB-9C2F226AD3EA}"/>
              </a:ext>
            </a:extLst>
          </p:cNvPr>
          <p:cNvSpPr txBox="1"/>
          <p:nvPr/>
        </p:nvSpPr>
        <p:spPr>
          <a:xfrm flipH="1">
            <a:off x="668844" y="2276597"/>
            <a:ext cx="1944445" cy="646331"/>
          </a:xfrm>
          <a:prstGeom prst="rect">
            <a:avLst/>
          </a:prstGeom>
          <a:noFill/>
        </p:spPr>
        <p:txBody>
          <a:bodyPr wrap="square" rtlCol="0">
            <a:spAutoFit/>
          </a:bodyPr>
          <a:lstStyle/>
          <a:p>
            <a:r>
              <a:rPr lang="ko-KR" altLang="en-US" dirty="0"/>
              <a:t>인정수량 </a:t>
            </a:r>
            <a:r>
              <a:rPr lang="en-US" altLang="ko-KR" dirty="0"/>
              <a:t>&gt; </a:t>
            </a:r>
          </a:p>
          <a:p>
            <a:r>
              <a:rPr lang="ko-KR" altLang="en-US" dirty="0"/>
              <a:t>생산능력범위수량</a:t>
            </a:r>
          </a:p>
        </p:txBody>
      </p:sp>
      <p:sp>
        <p:nvSpPr>
          <p:cNvPr id="27" name="TextBox 26">
            <a:extLst>
              <a:ext uri="{FF2B5EF4-FFF2-40B4-BE49-F238E27FC236}">
                <a16:creationId xmlns:a16="http://schemas.microsoft.com/office/drawing/2014/main" id="{B1B9F05F-9539-4377-D122-5C2BCC55BF95}"/>
              </a:ext>
            </a:extLst>
          </p:cNvPr>
          <p:cNvSpPr txBox="1"/>
          <p:nvPr/>
        </p:nvSpPr>
        <p:spPr>
          <a:xfrm flipH="1">
            <a:off x="668844" y="3152667"/>
            <a:ext cx="1944438" cy="646331"/>
          </a:xfrm>
          <a:prstGeom prst="rect">
            <a:avLst/>
          </a:prstGeom>
          <a:noFill/>
        </p:spPr>
        <p:txBody>
          <a:bodyPr wrap="square" rtlCol="0">
            <a:spAutoFit/>
          </a:bodyPr>
          <a:lstStyle/>
          <a:p>
            <a:r>
              <a:rPr lang="ko-KR" altLang="en-US" dirty="0"/>
              <a:t>인정수량 </a:t>
            </a:r>
            <a:r>
              <a:rPr lang="en-US" altLang="ko-KR" dirty="0"/>
              <a:t>&lt; </a:t>
            </a:r>
          </a:p>
          <a:p>
            <a:r>
              <a:rPr lang="ko-KR" altLang="en-US" dirty="0"/>
              <a:t>생산능력범위수량</a:t>
            </a:r>
          </a:p>
        </p:txBody>
      </p:sp>
      <p:cxnSp>
        <p:nvCxnSpPr>
          <p:cNvPr id="29" name="직선 연결선 28">
            <a:extLst>
              <a:ext uri="{FF2B5EF4-FFF2-40B4-BE49-F238E27FC236}">
                <a16:creationId xmlns:a16="http://schemas.microsoft.com/office/drawing/2014/main" id="{45B770D0-2DF4-EA23-8597-9ACAF1CAB286}"/>
              </a:ext>
            </a:extLst>
          </p:cNvPr>
          <p:cNvCxnSpPr>
            <a:cxnSpLocks/>
          </p:cNvCxnSpPr>
          <p:nvPr/>
        </p:nvCxnSpPr>
        <p:spPr>
          <a:xfrm>
            <a:off x="5307103" y="2187394"/>
            <a:ext cx="0" cy="1470211"/>
          </a:xfrm>
          <a:prstGeom prst="line">
            <a:avLst/>
          </a:prstGeom>
          <a:ln w="28575">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C77B0AEA-4062-3EBC-C6B4-9D9BBDB68F63}"/>
              </a:ext>
            </a:extLst>
          </p:cNvPr>
          <p:cNvSpPr txBox="1"/>
          <p:nvPr/>
        </p:nvSpPr>
        <p:spPr>
          <a:xfrm>
            <a:off x="3077005" y="1096236"/>
            <a:ext cx="2230098" cy="646331"/>
          </a:xfrm>
          <a:prstGeom prst="rect">
            <a:avLst/>
          </a:prstGeom>
          <a:noFill/>
        </p:spPr>
        <p:txBody>
          <a:bodyPr wrap="none" rtlCol="0">
            <a:spAutoFit/>
          </a:bodyPr>
          <a:lstStyle/>
          <a:p>
            <a:pPr algn="ctr"/>
            <a:r>
              <a:rPr lang="ko-KR" altLang="en-US" dirty="0"/>
              <a:t>매상감소</a:t>
            </a:r>
            <a:endParaRPr lang="en-US" altLang="ko-KR" dirty="0"/>
          </a:p>
          <a:p>
            <a:pPr algn="ctr"/>
            <a:r>
              <a:rPr lang="en-US" altLang="ko-KR" dirty="0"/>
              <a:t>(</a:t>
            </a:r>
            <a:r>
              <a:rPr lang="ko-KR" altLang="en-US" dirty="0"/>
              <a:t>제</a:t>
            </a:r>
            <a:r>
              <a:rPr lang="en-US" altLang="ko-KR" dirty="0"/>
              <a:t>128</a:t>
            </a:r>
            <a:r>
              <a:rPr lang="ko-KR" altLang="en-US" dirty="0"/>
              <a:t>조제</a:t>
            </a:r>
            <a:r>
              <a:rPr lang="en-US" altLang="ko-KR" dirty="0"/>
              <a:t>2</a:t>
            </a:r>
            <a:r>
              <a:rPr lang="ko-KR" altLang="en-US" dirty="0" err="1"/>
              <a:t>항제</a:t>
            </a:r>
            <a:r>
              <a:rPr lang="en-US" altLang="ko-KR" dirty="0"/>
              <a:t>1</a:t>
            </a:r>
            <a:r>
              <a:rPr lang="ko-KR" altLang="en-US" dirty="0"/>
              <a:t>호</a:t>
            </a:r>
            <a:r>
              <a:rPr lang="en-US" altLang="ko-KR" dirty="0"/>
              <a:t>)</a:t>
            </a:r>
            <a:endParaRPr lang="ko-KR" altLang="en-US" dirty="0"/>
          </a:p>
        </p:txBody>
      </p:sp>
      <p:sp>
        <p:nvSpPr>
          <p:cNvPr id="33" name="사각형: 둥근 위쪽 모서리 32">
            <a:extLst>
              <a:ext uri="{FF2B5EF4-FFF2-40B4-BE49-F238E27FC236}">
                <a16:creationId xmlns:a16="http://schemas.microsoft.com/office/drawing/2014/main" id="{E6D759E0-EC6D-8430-4FF0-B8D2FAD28D22}"/>
              </a:ext>
            </a:extLst>
          </p:cNvPr>
          <p:cNvSpPr/>
          <p:nvPr/>
        </p:nvSpPr>
        <p:spPr>
          <a:xfrm>
            <a:off x="5307105" y="1679562"/>
            <a:ext cx="5143351" cy="507831"/>
          </a:xfrm>
          <a:prstGeom prst="round2SameRect">
            <a:avLst>
              <a:gd name="adj1" fmla="val 50000"/>
              <a:gd name="adj2" fmla="val 0"/>
            </a:avLst>
          </a:prstGeom>
          <a:solidFill>
            <a:schemeClr val="accent4">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TextBox 33">
            <a:extLst>
              <a:ext uri="{FF2B5EF4-FFF2-40B4-BE49-F238E27FC236}">
                <a16:creationId xmlns:a16="http://schemas.microsoft.com/office/drawing/2014/main" id="{5D5391F2-9BDC-DCA4-7913-22468C4E1B8E}"/>
              </a:ext>
            </a:extLst>
          </p:cNvPr>
          <p:cNvSpPr txBox="1"/>
          <p:nvPr/>
        </p:nvSpPr>
        <p:spPr>
          <a:xfrm>
            <a:off x="7030020" y="1096236"/>
            <a:ext cx="2230098" cy="646331"/>
          </a:xfrm>
          <a:prstGeom prst="rect">
            <a:avLst/>
          </a:prstGeom>
          <a:noFill/>
        </p:spPr>
        <p:txBody>
          <a:bodyPr wrap="none" rtlCol="0">
            <a:spAutoFit/>
          </a:bodyPr>
          <a:lstStyle/>
          <a:p>
            <a:pPr algn="ctr"/>
            <a:r>
              <a:rPr lang="ko-KR" altLang="en-US" dirty="0" err="1"/>
              <a:t>실시료수입감소</a:t>
            </a:r>
            <a:endParaRPr lang="en-US" altLang="ko-KR" dirty="0"/>
          </a:p>
          <a:p>
            <a:pPr algn="ctr"/>
            <a:r>
              <a:rPr lang="en-US" altLang="ko-KR" dirty="0"/>
              <a:t>(</a:t>
            </a:r>
            <a:r>
              <a:rPr lang="ko-KR" altLang="en-US" dirty="0"/>
              <a:t>제</a:t>
            </a:r>
            <a:r>
              <a:rPr lang="en-US" altLang="ko-KR" dirty="0"/>
              <a:t>128</a:t>
            </a:r>
            <a:r>
              <a:rPr lang="ko-KR" altLang="en-US" dirty="0"/>
              <a:t>조제</a:t>
            </a:r>
            <a:r>
              <a:rPr lang="en-US" altLang="ko-KR" dirty="0"/>
              <a:t>2</a:t>
            </a:r>
            <a:r>
              <a:rPr lang="ko-KR" altLang="en-US" dirty="0" err="1"/>
              <a:t>항제</a:t>
            </a:r>
            <a:r>
              <a:rPr lang="en-US" altLang="ko-KR" dirty="0"/>
              <a:t>2</a:t>
            </a:r>
            <a:r>
              <a:rPr lang="ko-KR" altLang="en-US" dirty="0"/>
              <a:t>호</a:t>
            </a:r>
            <a:r>
              <a:rPr lang="en-US" altLang="ko-KR" dirty="0"/>
              <a:t>)</a:t>
            </a:r>
            <a:endParaRPr lang="ko-KR" altLang="en-US" dirty="0"/>
          </a:p>
        </p:txBody>
      </p:sp>
      <p:cxnSp>
        <p:nvCxnSpPr>
          <p:cNvPr id="36" name="직선 연결선 35">
            <a:extLst>
              <a:ext uri="{FF2B5EF4-FFF2-40B4-BE49-F238E27FC236}">
                <a16:creationId xmlns:a16="http://schemas.microsoft.com/office/drawing/2014/main" id="{C25082A2-3B19-04B7-6CFD-4EF3F11A4DA1}"/>
              </a:ext>
            </a:extLst>
          </p:cNvPr>
          <p:cNvCxnSpPr>
            <a:cxnSpLocks/>
          </p:cNvCxnSpPr>
          <p:nvPr/>
        </p:nvCxnSpPr>
        <p:spPr>
          <a:xfrm>
            <a:off x="2779058" y="3030076"/>
            <a:ext cx="7020629" cy="17932"/>
          </a:xfrm>
          <a:prstGeom prst="line">
            <a:avLst/>
          </a:prstGeom>
          <a:ln w="28575">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39" name="사각형: 둥근 모서리 38">
            <a:extLst>
              <a:ext uri="{FF2B5EF4-FFF2-40B4-BE49-F238E27FC236}">
                <a16:creationId xmlns:a16="http://schemas.microsoft.com/office/drawing/2014/main" id="{4270CDEC-B048-308F-875B-F78A367A6D58}"/>
              </a:ext>
            </a:extLst>
          </p:cNvPr>
          <p:cNvSpPr/>
          <p:nvPr/>
        </p:nvSpPr>
        <p:spPr>
          <a:xfrm>
            <a:off x="3411072" y="2326139"/>
            <a:ext cx="1295398" cy="577302"/>
          </a:xfrm>
          <a:prstGeom prst="round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생산능력</a:t>
            </a:r>
            <a:endParaRPr lang="en-US" altLang="ko-KR" dirty="0">
              <a:solidFill>
                <a:schemeClr val="tx1"/>
              </a:solidFill>
            </a:endParaRPr>
          </a:p>
          <a:p>
            <a:pPr algn="ctr"/>
            <a:r>
              <a:rPr lang="ko-KR" altLang="en-US" dirty="0">
                <a:solidFill>
                  <a:schemeClr val="tx1"/>
                </a:solidFill>
              </a:rPr>
              <a:t>범위수량</a:t>
            </a:r>
          </a:p>
        </p:txBody>
      </p:sp>
      <p:sp>
        <p:nvSpPr>
          <p:cNvPr id="40" name="사각형: 둥근 모서리 39">
            <a:extLst>
              <a:ext uri="{FF2B5EF4-FFF2-40B4-BE49-F238E27FC236}">
                <a16:creationId xmlns:a16="http://schemas.microsoft.com/office/drawing/2014/main" id="{F626D3E1-DC28-FE0F-6D5C-3BB04901D676}"/>
              </a:ext>
            </a:extLst>
          </p:cNvPr>
          <p:cNvSpPr/>
          <p:nvPr/>
        </p:nvSpPr>
        <p:spPr>
          <a:xfrm>
            <a:off x="5538314" y="2326139"/>
            <a:ext cx="1295398" cy="577302"/>
          </a:xfrm>
          <a:prstGeom prst="round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dirty="0" err="1">
                <a:solidFill>
                  <a:schemeClr val="tx1"/>
                </a:solidFill>
              </a:rPr>
              <a:t>침해자</a:t>
            </a:r>
            <a:endParaRPr lang="en-US" altLang="ko-KR" dirty="0">
              <a:solidFill>
                <a:schemeClr val="tx1"/>
              </a:solidFill>
            </a:endParaRPr>
          </a:p>
          <a:p>
            <a:pPr algn="ctr"/>
            <a:r>
              <a:rPr lang="ko-KR" altLang="en-US" dirty="0">
                <a:solidFill>
                  <a:schemeClr val="tx1"/>
                </a:solidFill>
              </a:rPr>
              <a:t>양도수량</a:t>
            </a:r>
          </a:p>
        </p:txBody>
      </p:sp>
      <p:sp>
        <p:nvSpPr>
          <p:cNvPr id="41" name="사각형: 둥근 모서리 40">
            <a:extLst>
              <a:ext uri="{FF2B5EF4-FFF2-40B4-BE49-F238E27FC236}">
                <a16:creationId xmlns:a16="http://schemas.microsoft.com/office/drawing/2014/main" id="{2E2D4FEA-9B72-1369-8525-D23AC6E64895}"/>
              </a:ext>
            </a:extLst>
          </p:cNvPr>
          <p:cNvSpPr/>
          <p:nvPr/>
        </p:nvSpPr>
        <p:spPr>
          <a:xfrm>
            <a:off x="7226180" y="2326139"/>
            <a:ext cx="1295398" cy="577302"/>
          </a:xfrm>
          <a:prstGeom prst="round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생산능력</a:t>
            </a:r>
            <a:endParaRPr lang="en-US" altLang="ko-KR" dirty="0">
              <a:solidFill>
                <a:schemeClr val="tx1"/>
              </a:solidFill>
            </a:endParaRPr>
          </a:p>
          <a:p>
            <a:pPr algn="ctr"/>
            <a:r>
              <a:rPr lang="ko-KR" altLang="en-US" dirty="0">
                <a:solidFill>
                  <a:schemeClr val="tx1"/>
                </a:solidFill>
              </a:rPr>
              <a:t>범위수량</a:t>
            </a:r>
          </a:p>
        </p:txBody>
      </p:sp>
      <p:sp>
        <p:nvSpPr>
          <p:cNvPr id="42" name="사각형: 둥근 모서리 41">
            <a:extLst>
              <a:ext uri="{FF2B5EF4-FFF2-40B4-BE49-F238E27FC236}">
                <a16:creationId xmlns:a16="http://schemas.microsoft.com/office/drawing/2014/main" id="{56E185EB-11A7-72BA-6C60-83C6914A342C}"/>
              </a:ext>
            </a:extLst>
          </p:cNvPr>
          <p:cNvSpPr/>
          <p:nvPr/>
        </p:nvSpPr>
        <p:spPr>
          <a:xfrm>
            <a:off x="8923008" y="2326139"/>
            <a:ext cx="1295398" cy="577302"/>
          </a:xfrm>
          <a:prstGeom prst="round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a:solidFill>
                  <a:schemeClr val="tx1"/>
                </a:solidFill>
              </a:rPr>
              <a:t>실시권설정</a:t>
            </a:r>
            <a:endParaRPr lang="en-US" altLang="ko-KR" dirty="0">
              <a:solidFill>
                <a:schemeClr val="tx1"/>
              </a:solidFill>
            </a:endParaRPr>
          </a:p>
          <a:p>
            <a:pPr algn="ctr"/>
            <a:r>
              <a:rPr lang="ko-KR" altLang="en-US" dirty="0">
                <a:solidFill>
                  <a:schemeClr val="tx1"/>
                </a:solidFill>
              </a:rPr>
              <a:t>불가수량</a:t>
            </a:r>
          </a:p>
        </p:txBody>
      </p:sp>
      <p:sp>
        <p:nvSpPr>
          <p:cNvPr id="44" name="빼기 기호 43">
            <a:extLst>
              <a:ext uri="{FF2B5EF4-FFF2-40B4-BE49-F238E27FC236}">
                <a16:creationId xmlns:a16="http://schemas.microsoft.com/office/drawing/2014/main" id="{24B70203-388F-DFA4-033B-993EC624B273}"/>
              </a:ext>
            </a:extLst>
          </p:cNvPr>
          <p:cNvSpPr/>
          <p:nvPr/>
        </p:nvSpPr>
        <p:spPr>
          <a:xfrm>
            <a:off x="6841687" y="2539910"/>
            <a:ext cx="376517" cy="209104"/>
          </a:xfrm>
          <a:prstGeom prst="mathMinus">
            <a:avLst/>
          </a:prstGeom>
          <a:solidFill>
            <a:schemeClr val="accent4">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빼기 기호 44">
            <a:extLst>
              <a:ext uri="{FF2B5EF4-FFF2-40B4-BE49-F238E27FC236}">
                <a16:creationId xmlns:a16="http://schemas.microsoft.com/office/drawing/2014/main" id="{5D9F6597-967B-2F9E-FBE7-777A02C9246B}"/>
              </a:ext>
            </a:extLst>
          </p:cNvPr>
          <p:cNvSpPr/>
          <p:nvPr/>
        </p:nvSpPr>
        <p:spPr>
          <a:xfrm>
            <a:off x="8536335" y="2539910"/>
            <a:ext cx="376517" cy="209104"/>
          </a:xfrm>
          <a:prstGeom prst="mathMinus">
            <a:avLst/>
          </a:prstGeom>
          <a:solidFill>
            <a:schemeClr val="accent4">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사각형: 둥근 모서리 45">
            <a:extLst>
              <a:ext uri="{FF2B5EF4-FFF2-40B4-BE49-F238E27FC236}">
                <a16:creationId xmlns:a16="http://schemas.microsoft.com/office/drawing/2014/main" id="{069B4EAB-A4DB-2358-2884-D4DECE80B233}"/>
              </a:ext>
            </a:extLst>
          </p:cNvPr>
          <p:cNvSpPr/>
          <p:nvPr/>
        </p:nvSpPr>
        <p:spPr>
          <a:xfrm>
            <a:off x="3411072" y="3148211"/>
            <a:ext cx="1295398" cy="577302"/>
          </a:xfrm>
          <a:prstGeom prst="round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인정수량</a:t>
            </a:r>
          </a:p>
        </p:txBody>
      </p:sp>
      <p:sp>
        <p:nvSpPr>
          <p:cNvPr id="47" name="사각형: 둥근 모서리 46">
            <a:extLst>
              <a:ext uri="{FF2B5EF4-FFF2-40B4-BE49-F238E27FC236}">
                <a16:creationId xmlns:a16="http://schemas.microsoft.com/office/drawing/2014/main" id="{B96D5C85-914E-4231-B33C-DE46657CBFC8}"/>
              </a:ext>
            </a:extLst>
          </p:cNvPr>
          <p:cNvSpPr/>
          <p:nvPr/>
        </p:nvSpPr>
        <p:spPr>
          <a:xfrm>
            <a:off x="5538314" y="3148211"/>
            <a:ext cx="1295398" cy="577302"/>
          </a:xfrm>
          <a:prstGeom prst="round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dirty="0" err="1">
                <a:solidFill>
                  <a:schemeClr val="tx1"/>
                </a:solidFill>
              </a:rPr>
              <a:t>침해자</a:t>
            </a:r>
            <a:endParaRPr lang="en-US" altLang="ko-KR" dirty="0">
              <a:solidFill>
                <a:schemeClr val="tx1"/>
              </a:solidFill>
            </a:endParaRPr>
          </a:p>
          <a:p>
            <a:pPr algn="ctr"/>
            <a:r>
              <a:rPr lang="ko-KR" altLang="en-US" dirty="0">
                <a:solidFill>
                  <a:schemeClr val="tx1"/>
                </a:solidFill>
              </a:rPr>
              <a:t>양도수량</a:t>
            </a:r>
          </a:p>
        </p:txBody>
      </p:sp>
      <p:sp>
        <p:nvSpPr>
          <p:cNvPr id="48" name="사각형: 둥근 모서리 47">
            <a:extLst>
              <a:ext uri="{FF2B5EF4-FFF2-40B4-BE49-F238E27FC236}">
                <a16:creationId xmlns:a16="http://schemas.microsoft.com/office/drawing/2014/main" id="{B0151D9B-E310-2BEF-0359-FF3B87DE90C5}"/>
              </a:ext>
            </a:extLst>
          </p:cNvPr>
          <p:cNvSpPr/>
          <p:nvPr/>
        </p:nvSpPr>
        <p:spPr>
          <a:xfrm>
            <a:off x="7226180" y="3148211"/>
            <a:ext cx="1295398" cy="577302"/>
          </a:xfrm>
          <a:prstGeom prst="round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인정수량</a:t>
            </a:r>
          </a:p>
        </p:txBody>
      </p:sp>
      <p:sp>
        <p:nvSpPr>
          <p:cNvPr id="49" name="사각형: 둥근 모서리 48">
            <a:extLst>
              <a:ext uri="{FF2B5EF4-FFF2-40B4-BE49-F238E27FC236}">
                <a16:creationId xmlns:a16="http://schemas.microsoft.com/office/drawing/2014/main" id="{B4480A1C-5984-2068-513D-4028D8D1F779}"/>
              </a:ext>
            </a:extLst>
          </p:cNvPr>
          <p:cNvSpPr/>
          <p:nvPr/>
        </p:nvSpPr>
        <p:spPr>
          <a:xfrm>
            <a:off x="8923008" y="3148211"/>
            <a:ext cx="1295398" cy="577302"/>
          </a:xfrm>
          <a:prstGeom prst="round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a:solidFill>
                  <a:schemeClr val="tx1"/>
                </a:solidFill>
              </a:rPr>
              <a:t>실시권설정</a:t>
            </a:r>
            <a:endParaRPr lang="en-US" altLang="ko-KR" dirty="0">
              <a:solidFill>
                <a:schemeClr val="tx1"/>
              </a:solidFill>
            </a:endParaRPr>
          </a:p>
          <a:p>
            <a:pPr algn="ctr"/>
            <a:r>
              <a:rPr lang="ko-KR" altLang="en-US" dirty="0">
                <a:solidFill>
                  <a:schemeClr val="tx1"/>
                </a:solidFill>
              </a:rPr>
              <a:t>불가수량</a:t>
            </a:r>
          </a:p>
        </p:txBody>
      </p:sp>
      <p:sp>
        <p:nvSpPr>
          <p:cNvPr id="50" name="빼기 기호 49">
            <a:extLst>
              <a:ext uri="{FF2B5EF4-FFF2-40B4-BE49-F238E27FC236}">
                <a16:creationId xmlns:a16="http://schemas.microsoft.com/office/drawing/2014/main" id="{372645F2-4425-F2AA-1B07-8B6A30E0CD29}"/>
              </a:ext>
            </a:extLst>
          </p:cNvPr>
          <p:cNvSpPr/>
          <p:nvPr/>
        </p:nvSpPr>
        <p:spPr>
          <a:xfrm>
            <a:off x="6841687" y="3361982"/>
            <a:ext cx="376517" cy="209104"/>
          </a:xfrm>
          <a:prstGeom prst="mathMinus">
            <a:avLst/>
          </a:prstGeom>
          <a:solidFill>
            <a:schemeClr val="accent4">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빼기 기호 50">
            <a:extLst>
              <a:ext uri="{FF2B5EF4-FFF2-40B4-BE49-F238E27FC236}">
                <a16:creationId xmlns:a16="http://schemas.microsoft.com/office/drawing/2014/main" id="{9FDE59DA-6CEE-68D7-CEED-06EA4DB8DBE2}"/>
              </a:ext>
            </a:extLst>
          </p:cNvPr>
          <p:cNvSpPr/>
          <p:nvPr/>
        </p:nvSpPr>
        <p:spPr>
          <a:xfrm>
            <a:off x="8536335" y="3361982"/>
            <a:ext cx="376517" cy="209104"/>
          </a:xfrm>
          <a:prstGeom prst="mathMinus">
            <a:avLst/>
          </a:prstGeom>
          <a:solidFill>
            <a:schemeClr val="accent4">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 name="사각형: 둥근 위쪽 모서리 51">
            <a:extLst>
              <a:ext uri="{FF2B5EF4-FFF2-40B4-BE49-F238E27FC236}">
                <a16:creationId xmlns:a16="http://schemas.microsoft.com/office/drawing/2014/main" id="{5356AF46-22CE-84F0-E444-C37A2326C798}"/>
              </a:ext>
            </a:extLst>
          </p:cNvPr>
          <p:cNvSpPr/>
          <p:nvPr/>
        </p:nvSpPr>
        <p:spPr>
          <a:xfrm>
            <a:off x="5504259" y="3083871"/>
            <a:ext cx="3050003" cy="715128"/>
          </a:xfrm>
          <a:prstGeom prst="round2SameRect">
            <a:avLst>
              <a:gd name="adj1" fmla="val 0"/>
              <a:gd name="adj2" fmla="val 0"/>
            </a:avLst>
          </a:prstGeom>
          <a:noFill/>
          <a:ln w="571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a:extLst>
              <a:ext uri="{FF2B5EF4-FFF2-40B4-BE49-F238E27FC236}">
                <a16:creationId xmlns:a16="http://schemas.microsoft.com/office/drawing/2014/main" id="{D3CC1EBF-ABB6-544A-1DF0-CAA4F95CE58B}"/>
              </a:ext>
            </a:extLst>
          </p:cNvPr>
          <p:cNvSpPr txBox="1"/>
          <p:nvPr/>
        </p:nvSpPr>
        <p:spPr>
          <a:xfrm>
            <a:off x="5345850" y="3856734"/>
            <a:ext cx="3567002" cy="369332"/>
          </a:xfrm>
          <a:prstGeom prst="rect">
            <a:avLst/>
          </a:prstGeom>
          <a:noFill/>
        </p:spPr>
        <p:txBody>
          <a:bodyPr wrap="none" rtlCol="0">
            <a:spAutoFit/>
          </a:bodyPr>
          <a:lstStyle/>
          <a:p>
            <a:r>
              <a:rPr lang="ko-KR" altLang="en-US" dirty="0">
                <a:solidFill>
                  <a:srgbClr val="FF0000"/>
                </a:solidFill>
              </a:rPr>
              <a:t>침해행위 외의 사유로 판매불가 수량</a:t>
            </a:r>
          </a:p>
        </p:txBody>
      </p:sp>
      <p:sp>
        <p:nvSpPr>
          <p:cNvPr id="54" name="직사각형 53">
            <a:extLst>
              <a:ext uri="{FF2B5EF4-FFF2-40B4-BE49-F238E27FC236}">
                <a16:creationId xmlns:a16="http://schemas.microsoft.com/office/drawing/2014/main" id="{11478165-9CF7-3E60-74DF-D4972CC9138C}"/>
              </a:ext>
            </a:extLst>
          </p:cNvPr>
          <p:cNvSpPr/>
          <p:nvPr/>
        </p:nvSpPr>
        <p:spPr>
          <a:xfrm>
            <a:off x="259976" y="1021976"/>
            <a:ext cx="11609295" cy="3204090"/>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5" name="사각형: 둥근 모서리 54">
            <a:extLst>
              <a:ext uri="{FF2B5EF4-FFF2-40B4-BE49-F238E27FC236}">
                <a16:creationId xmlns:a16="http://schemas.microsoft.com/office/drawing/2014/main" id="{FCCFCE0F-3F1E-25A3-D0B2-C8760847EFA5}"/>
              </a:ext>
            </a:extLst>
          </p:cNvPr>
          <p:cNvSpPr/>
          <p:nvPr/>
        </p:nvSpPr>
        <p:spPr>
          <a:xfrm>
            <a:off x="3068040" y="4720415"/>
            <a:ext cx="2062532" cy="642363"/>
          </a:xfrm>
          <a:prstGeom prst="round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특허권자의 </a:t>
            </a:r>
            <a:endParaRPr lang="en-US" altLang="ko-KR" dirty="0">
              <a:solidFill>
                <a:schemeClr val="tx1"/>
              </a:solidFill>
            </a:endParaRPr>
          </a:p>
          <a:p>
            <a:pPr algn="ctr"/>
            <a:r>
              <a:rPr lang="ko-KR" altLang="en-US" dirty="0">
                <a:solidFill>
                  <a:schemeClr val="tx1"/>
                </a:solidFill>
              </a:rPr>
              <a:t>단위수량당 </a:t>
            </a:r>
            <a:r>
              <a:rPr lang="ko-KR" altLang="en-US" dirty="0" err="1">
                <a:solidFill>
                  <a:schemeClr val="tx1"/>
                </a:solidFill>
              </a:rPr>
              <a:t>이익액</a:t>
            </a:r>
            <a:endParaRPr lang="ko-KR" altLang="en-US" dirty="0">
              <a:solidFill>
                <a:schemeClr val="tx1"/>
              </a:solidFill>
            </a:endParaRPr>
          </a:p>
        </p:txBody>
      </p:sp>
      <p:sp>
        <p:nvSpPr>
          <p:cNvPr id="56" name="사각형: 둥근 모서리 55">
            <a:extLst>
              <a:ext uri="{FF2B5EF4-FFF2-40B4-BE49-F238E27FC236}">
                <a16:creationId xmlns:a16="http://schemas.microsoft.com/office/drawing/2014/main" id="{36C8EF72-13B4-04AB-E7EE-8603DEF370AA}"/>
              </a:ext>
            </a:extLst>
          </p:cNvPr>
          <p:cNvSpPr/>
          <p:nvPr/>
        </p:nvSpPr>
        <p:spPr>
          <a:xfrm>
            <a:off x="6850320" y="4732660"/>
            <a:ext cx="2062532" cy="642363"/>
          </a:xfrm>
          <a:prstGeom prst="round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단위수량당 </a:t>
            </a:r>
            <a:endParaRPr lang="en-US" altLang="ko-KR" dirty="0">
              <a:solidFill>
                <a:schemeClr val="tx1"/>
              </a:solidFill>
            </a:endParaRPr>
          </a:p>
          <a:p>
            <a:pPr algn="ctr"/>
            <a:r>
              <a:rPr lang="ko-KR" altLang="en-US" dirty="0">
                <a:solidFill>
                  <a:schemeClr val="tx1"/>
                </a:solidFill>
              </a:rPr>
              <a:t>합리적 실시금액</a:t>
            </a:r>
          </a:p>
        </p:txBody>
      </p:sp>
      <p:sp>
        <p:nvSpPr>
          <p:cNvPr id="57" name="곱하기 기호 56">
            <a:extLst>
              <a:ext uri="{FF2B5EF4-FFF2-40B4-BE49-F238E27FC236}">
                <a16:creationId xmlns:a16="http://schemas.microsoft.com/office/drawing/2014/main" id="{16889A35-D54D-479F-0F8B-0FDE36A1D77C}"/>
              </a:ext>
            </a:extLst>
          </p:cNvPr>
          <p:cNvSpPr/>
          <p:nvPr/>
        </p:nvSpPr>
        <p:spPr>
          <a:xfrm>
            <a:off x="3736235" y="4030823"/>
            <a:ext cx="726141" cy="719902"/>
          </a:xfrm>
          <a:prstGeom prst="mathMultiply">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8" name="곱하기 기호 57">
            <a:extLst>
              <a:ext uri="{FF2B5EF4-FFF2-40B4-BE49-F238E27FC236}">
                <a16:creationId xmlns:a16="http://schemas.microsoft.com/office/drawing/2014/main" id="{F110DE49-7093-B62D-9787-BD43E4E4792D}"/>
              </a:ext>
            </a:extLst>
          </p:cNvPr>
          <p:cNvSpPr/>
          <p:nvPr/>
        </p:nvSpPr>
        <p:spPr>
          <a:xfrm>
            <a:off x="7518515" y="4043068"/>
            <a:ext cx="726141" cy="719902"/>
          </a:xfrm>
          <a:prstGeom prst="mathMultiply">
            <a:avLst/>
          </a:prstGeom>
          <a:solidFill>
            <a:schemeClr val="accent4">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623296661"/>
      </p:ext>
    </p:extLst>
  </p:cSld>
  <p:clrMapOvr>
    <a:masterClrMapping/>
  </p:clrMapOvr>
  <p:transition/>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9" name="직선 연결선 38">
            <a:extLst>
              <a:ext uri="{FF2B5EF4-FFF2-40B4-BE49-F238E27FC236}">
                <a16:creationId xmlns:a16="http://schemas.microsoft.com/office/drawing/2014/main" id="{681F833A-7161-4D9E-81A3-0B851F845C30}"/>
              </a:ext>
            </a:extLst>
          </p:cNvPr>
          <p:cNvCxnSpPr/>
          <p:nvPr/>
        </p:nvCxnSpPr>
        <p:spPr>
          <a:xfrm>
            <a:off x="3980776" y="1116136"/>
            <a:ext cx="0" cy="1636678"/>
          </a:xfrm>
          <a:prstGeom prst="line">
            <a:avLst/>
          </a:prstGeom>
          <a:ln w="57150">
            <a:solidFill>
              <a:schemeClr val="tx1"/>
            </a:solidFill>
            <a:prstDash val="solid"/>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128</a:t>
            </a:r>
            <a:r>
              <a:rPr lang="ko-KR" altLang="en-US" dirty="0"/>
              <a:t>조</a:t>
            </a:r>
          </a:p>
        </p:txBody>
      </p:sp>
      <p:sp>
        <p:nvSpPr>
          <p:cNvPr id="5" name="텍스트 개체 틀 4"/>
          <p:cNvSpPr>
            <a:spLocks noGrp="1"/>
          </p:cNvSpPr>
          <p:nvPr>
            <p:ph type="body" sz="quarter" idx="13"/>
          </p:nvPr>
        </p:nvSpPr>
        <p:spPr/>
        <p:txBody>
          <a:bodyPr/>
          <a:lstStyle/>
          <a:p>
            <a:r>
              <a:rPr lang="ko-KR" altLang="en-US" dirty="0"/>
              <a:t>제</a:t>
            </a:r>
            <a:r>
              <a:rPr lang="en-US" altLang="ko-KR" dirty="0"/>
              <a:t>128</a:t>
            </a:r>
            <a:r>
              <a:rPr lang="ko-KR" altLang="en-US" dirty="0"/>
              <a:t>조제</a:t>
            </a:r>
            <a:r>
              <a:rPr lang="en-US" altLang="ko-KR" dirty="0"/>
              <a:t>2</a:t>
            </a:r>
            <a:r>
              <a:rPr lang="ko-KR" altLang="en-US" dirty="0"/>
              <a:t>항의 적용</a:t>
            </a:r>
          </a:p>
        </p:txBody>
      </p:sp>
      <p:sp>
        <p:nvSpPr>
          <p:cNvPr id="2" name="슬라이드 번호 개체 틀 1"/>
          <p:cNvSpPr>
            <a:spLocks noGrp="1"/>
          </p:cNvSpPr>
          <p:nvPr>
            <p:ph type="sldNum" sz="quarter" idx="12"/>
          </p:nvPr>
        </p:nvSpPr>
        <p:spPr/>
        <p:txBody>
          <a:bodyPr/>
          <a:lstStyle/>
          <a:p>
            <a:r>
              <a:rPr lang="en-US" altLang="ko-KR"/>
              <a:t>385</a:t>
            </a:r>
            <a:endParaRPr lang="ko-KR" altLang="en-US"/>
          </a:p>
        </p:txBody>
      </p:sp>
      <p:sp>
        <p:nvSpPr>
          <p:cNvPr id="77" name="타원 76">
            <a:extLst>
              <a:ext uri="{FF2B5EF4-FFF2-40B4-BE49-F238E27FC236}">
                <a16:creationId xmlns:a16="http://schemas.microsoft.com/office/drawing/2014/main" id="{A1410216-1E3E-484A-827E-30A7A8CA089A}"/>
              </a:ext>
            </a:extLst>
          </p:cNvPr>
          <p:cNvSpPr/>
          <p:nvPr/>
        </p:nvSpPr>
        <p:spPr>
          <a:xfrm>
            <a:off x="347645" y="1059855"/>
            <a:ext cx="1006964" cy="1006964"/>
          </a:xfrm>
          <a:prstGeom prst="ellipse">
            <a:avLst/>
          </a:prstGeom>
          <a:solidFill>
            <a:schemeClr val="bg2">
              <a:lumMod val="2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600" dirty="0">
                <a:solidFill>
                  <a:srgbClr val="FFFF00"/>
                </a:solidFill>
              </a:rPr>
              <a:t>CASE1</a:t>
            </a:r>
            <a:endParaRPr lang="ko-KR" altLang="en-US" sz="1600" dirty="0">
              <a:solidFill>
                <a:srgbClr val="FFFF00"/>
              </a:solidFill>
            </a:endParaRPr>
          </a:p>
        </p:txBody>
      </p:sp>
      <p:sp>
        <p:nvSpPr>
          <p:cNvPr id="78" name="타원 77">
            <a:extLst>
              <a:ext uri="{FF2B5EF4-FFF2-40B4-BE49-F238E27FC236}">
                <a16:creationId xmlns:a16="http://schemas.microsoft.com/office/drawing/2014/main" id="{8CFAB93A-5A92-48E7-BE94-B6CDBFFF54B1}"/>
              </a:ext>
            </a:extLst>
          </p:cNvPr>
          <p:cNvSpPr/>
          <p:nvPr/>
        </p:nvSpPr>
        <p:spPr>
          <a:xfrm>
            <a:off x="347645" y="3237770"/>
            <a:ext cx="1006964" cy="1006964"/>
          </a:xfrm>
          <a:prstGeom prst="ellipse">
            <a:avLst/>
          </a:prstGeom>
          <a:solidFill>
            <a:schemeClr val="bg2">
              <a:lumMod val="2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600" dirty="0">
                <a:solidFill>
                  <a:srgbClr val="FFFF00"/>
                </a:solidFill>
              </a:rPr>
              <a:t>CASE2</a:t>
            </a:r>
            <a:endParaRPr lang="ko-KR" altLang="en-US" sz="1600" dirty="0">
              <a:solidFill>
                <a:srgbClr val="FFFF00"/>
              </a:solidFill>
            </a:endParaRPr>
          </a:p>
        </p:txBody>
      </p:sp>
      <p:sp>
        <p:nvSpPr>
          <p:cNvPr id="90" name="타원 89">
            <a:extLst>
              <a:ext uri="{FF2B5EF4-FFF2-40B4-BE49-F238E27FC236}">
                <a16:creationId xmlns:a16="http://schemas.microsoft.com/office/drawing/2014/main" id="{DB8354E1-383C-4656-BDA8-7CED6A3952CC}"/>
              </a:ext>
            </a:extLst>
          </p:cNvPr>
          <p:cNvSpPr/>
          <p:nvPr/>
        </p:nvSpPr>
        <p:spPr>
          <a:xfrm>
            <a:off x="347645" y="5373011"/>
            <a:ext cx="1006964" cy="1006964"/>
          </a:xfrm>
          <a:prstGeom prst="ellipse">
            <a:avLst/>
          </a:prstGeom>
          <a:solidFill>
            <a:schemeClr val="bg2">
              <a:lumMod val="2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600" dirty="0">
                <a:solidFill>
                  <a:srgbClr val="FFFF00"/>
                </a:solidFill>
              </a:rPr>
              <a:t>CASE3</a:t>
            </a:r>
            <a:endParaRPr lang="ko-KR" altLang="en-US" sz="1600" dirty="0">
              <a:solidFill>
                <a:srgbClr val="FFFF00"/>
              </a:solidFill>
            </a:endParaRPr>
          </a:p>
        </p:txBody>
      </p:sp>
      <p:cxnSp>
        <p:nvCxnSpPr>
          <p:cNvPr id="14" name="직선 연결선 13">
            <a:extLst>
              <a:ext uri="{FF2B5EF4-FFF2-40B4-BE49-F238E27FC236}">
                <a16:creationId xmlns:a16="http://schemas.microsoft.com/office/drawing/2014/main" id="{1B1FB448-FD7F-4D14-B979-965B03E0F5EF}"/>
              </a:ext>
            </a:extLst>
          </p:cNvPr>
          <p:cNvCxnSpPr/>
          <p:nvPr/>
        </p:nvCxnSpPr>
        <p:spPr>
          <a:xfrm>
            <a:off x="0" y="2871583"/>
            <a:ext cx="12191999" cy="0"/>
          </a:xfrm>
          <a:prstGeom prst="line">
            <a:avLst/>
          </a:prstGeom>
          <a:ln w="38100">
            <a:solidFill>
              <a:schemeClr val="accent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E039B09C-1BC2-4A2D-9AA8-26A37550307F}"/>
              </a:ext>
            </a:extLst>
          </p:cNvPr>
          <p:cNvCxnSpPr/>
          <p:nvPr/>
        </p:nvCxnSpPr>
        <p:spPr>
          <a:xfrm>
            <a:off x="0" y="5312859"/>
            <a:ext cx="12191999" cy="0"/>
          </a:xfrm>
          <a:prstGeom prst="line">
            <a:avLst/>
          </a:prstGeom>
          <a:ln w="38100">
            <a:solidFill>
              <a:schemeClr val="accent1"/>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3" name="사각형: 둥근 모서리 92">
            <a:extLst>
              <a:ext uri="{FF2B5EF4-FFF2-40B4-BE49-F238E27FC236}">
                <a16:creationId xmlns:a16="http://schemas.microsoft.com/office/drawing/2014/main" id="{5542615A-0099-4415-8382-DB9DB8EAD747}"/>
              </a:ext>
            </a:extLst>
          </p:cNvPr>
          <p:cNvSpPr/>
          <p:nvPr/>
        </p:nvSpPr>
        <p:spPr>
          <a:xfrm>
            <a:off x="52685" y="2271493"/>
            <a:ext cx="1623534" cy="434994"/>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accent1">
                    <a:lumMod val="75000"/>
                  </a:schemeClr>
                </a:solidFill>
              </a:rPr>
              <a:t>인정수량이 생산능력범위수량 초과인 경우</a:t>
            </a:r>
          </a:p>
        </p:txBody>
      </p:sp>
      <p:sp>
        <p:nvSpPr>
          <p:cNvPr id="94" name="사각형: 둥근 모서리 93">
            <a:extLst>
              <a:ext uri="{FF2B5EF4-FFF2-40B4-BE49-F238E27FC236}">
                <a16:creationId xmlns:a16="http://schemas.microsoft.com/office/drawing/2014/main" id="{F9115E76-F594-49A5-92A4-4FBE9474B499}"/>
              </a:ext>
            </a:extLst>
          </p:cNvPr>
          <p:cNvSpPr/>
          <p:nvPr/>
        </p:nvSpPr>
        <p:spPr>
          <a:xfrm>
            <a:off x="52685" y="4472780"/>
            <a:ext cx="1623534" cy="434994"/>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accent1">
                    <a:lumMod val="75000"/>
                  </a:schemeClr>
                </a:solidFill>
              </a:rPr>
              <a:t>인정수량이 생산능력범위수량 이내인 경우</a:t>
            </a:r>
          </a:p>
        </p:txBody>
      </p:sp>
      <p:sp>
        <p:nvSpPr>
          <p:cNvPr id="95" name="사각형: 둥근 모서리 94">
            <a:extLst>
              <a:ext uri="{FF2B5EF4-FFF2-40B4-BE49-F238E27FC236}">
                <a16:creationId xmlns:a16="http://schemas.microsoft.com/office/drawing/2014/main" id="{00EA9BCE-5CF7-4E24-A1E5-22D1132D4F5A}"/>
              </a:ext>
            </a:extLst>
          </p:cNvPr>
          <p:cNvSpPr/>
          <p:nvPr/>
        </p:nvSpPr>
        <p:spPr>
          <a:xfrm>
            <a:off x="110871" y="6409523"/>
            <a:ext cx="1507162" cy="434994"/>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accent1">
                    <a:lumMod val="75000"/>
                  </a:schemeClr>
                </a:solidFill>
              </a:rPr>
              <a:t>생산능력범위수량이</a:t>
            </a:r>
            <a:endParaRPr lang="en-US" altLang="ko-KR" sz="1200" dirty="0">
              <a:solidFill>
                <a:schemeClr val="accent1">
                  <a:lumMod val="75000"/>
                </a:schemeClr>
              </a:solidFill>
            </a:endParaRPr>
          </a:p>
          <a:p>
            <a:pPr algn="ctr"/>
            <a:r>
              <a:rPr lang="ko-KR" altLang="en-US" sz="1200" dirty="0">
                <a:solidFill>
                  <a:schemeClr val="accent1">
                    <a:lumMod val="75000"/>
                  </a:schemeClr>
                </a:solidFill>
              </a:rPr>
              <a:t>없는 경우</a:t>
            </a:r>
          </a:p>
        </p:txBody>
      </p:sp>
      <p:cxnSp>
        <p:nvCxnSpPr>
          <p:cNvPr id="7" name="직선 연결선 6">
            <a:extLst>
              <a:ext uri="{FF2B5EF4-FFF2-40B4-BE49-F238E27FC236}">
                <a16:creationId xmlns:a16="http://schemas.microsoft.com/office/drawing/2014/main" id="{8504C3E7-1FCF-4C6C-B45F-1DF44504C8F1}"/>
              </a:ext>
            </a:extLst>
          </p:cNvPr>
          <p:cNvCxnSpPr>
            <a:cxnSpLocks/>
          </p:cNvCxnSpPr>
          <p:nvPr/>
        </p:nvCxnSpPr>
        <p:spPr>
          <a:xfrm>
            <a:off x="1762484" y="1074891"/>
            <a:ext cx="9362716" cy="0"/>
          </a:xfrm>
          <a:prstGeom prst="line">
            <a:avLst/>
          </a:prstGeom>
          <a:ln w="57150">
            <a:solidFill>
              <a:schemeClr val="accent2"/>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29" name="직선 연결선 28">
            <a:extLst>
              <a:ext uri="{FF2B5EF4-FFF2-40B4-BE49-F238E27FC236}">
                <a16:creationId xmlns:a16="http://schemas.microsoft.com/office/drawing/2014/main" id="{7E41BDBD-8426-46A9-962C-BA5EB687E4F0}"/>
              </a:ext>
            </a:extLst>
          </p:cNvPr>
          <p:cNvCxnSpPr>
            <a:cxnSpLocks/>
          </p:cNvCxnSpPr>
          <p:nvPr/>
        </p:nvCxnSpPr>
        <p:spPr>
          <a:xfrm>
            <a:off x="1762484" y="1344318"/>
            <a:ext cx="4333516" cy="0"/>
          </a:xfrm>
          <a:prstGeom prst="line">
            <a:avLst/>
          </a:prstGeom>
          <a:ln w="5715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30" name="직선 연결선 29">
            <a:extLst>
              <a:ext uri="{FF2B5EF4-FFF2-40B4-BE49-F238E27FC236}">
                <a16:creationId xmlns:a16="http://schemas.microsoft.com/office/drawing/2014/main" id="{172B0C0D-062C-4C11-8C42-3453D90AECA5}"/>
              </a:ext>
            </a:extLst>
          </p:cNvPr>
          <p:cNvCxnSpPr>
            <a:cxnSpLocks/>
          </p:cNvCxnSpPr>
          <p:nvPr/>
        </p:nvCxnSpPr>
        <p:spPr>
          <a:xfrm>
            <a:off x="3980776" y="1685792"/>
            <a:ext cx="2115224" cy="0"/>
          </a:xfrm>
          <a:prstGeom prst="line">
            <a:avLst/>
          </a:prstGeom>
          <a:ln w="5715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31" name="직선 연결선 30">
            <a:extLst>
              <a:ext uri="{FF2B5EF4-FFF2-40B4-BE49-F238E27FC236}">
                <a16:creationId xmlns:a16="http://schemas.microsoft.com/office/drawing/2014/main" id="{F07AB165-A67D-4F20-83A3-182CDCAF3BC9}"/>
              </a:ext>
            </a:extLst>
          </p:cNvPr>
          <p:cNvCxnSpPr>
            <a:cxnSpLocks/>
          </p:cNvCxnSpPr>
          <p:nvPr/>
        </p:nvCxnSpPr>
        <p:spPr>
          <a:xfrm>
            <a:off x="7065034" y="1401160"/>
            <a:ext cx="4060166" cy="0"/>
          </a:xfrm>
          <a:prstGeom prst="line">
            <a:avLst/>
          </a:prstGeom>
          <a:ln w="57150">
            <a:solidFill>
              <a:schemeClr val="accent2"/>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4" name="사각형: 둥근 모서리 3">
            <a:extLst>
              <a:ext uri="{FF2B5EF4-FFF2-40B4-BE49-F238E27FC236}">
                <a16:creationId xmlns:a16="http://schemas.microsoft.com/office/drawing/2014/main" id="{5AB7C3B0-D608-4E15-9E55-6BD37E7FD9E4}"/>
              </a:ext>
            </a:extLst>
          </p:cNvPr>
          <p:cNvSpPr/>
          <p:nvPr/>
        </p:nvSpPr>
        <p:spPr>
          <a:xfrm>
            <a:off x="2373975" y="1253611"/>
            <a:ext cx="3267700" cy="198001"/>
          </a:xfrm>
          <a:prstGeom prst="roundRect">
            <a:avLst>
              <a:gd name="adj" fmla="val 27611"/>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100" dirty="0">
                <a:solidFill>
                  <a:sysClr val="windowText" lastClr="000000"/>
                </a:solidFill>
              </a:rPr>
              <a:t>특허권자가 생산할 수 있었던 물건의 수량</a:t>
            </a:r>
          </a:p>
        </p:txBody>
      </p:sp>
      <p:sp>
        <p:nvSpPr>
          <p:cNvPr id="32" name="사각형: 둥근 모서리 31">
            <a:extLst>
              <a:ext uri="{FF2B5EF4-FFF2-40B4-BE49-F238E27FC236}">
                <a16:creationId xmlns:a16="http://schemas.microsoft.com/office/drawing/2014/main" id="{87F4D3E0-6508-483F-A03E-BC2253DBB38B}"/>
              </a:ext>
            </a:extLst>
          </p:cNvPr>
          <p:cNvSpPr/>
          <p:nvPr/>
        </p:nvSpPr>
        <p:spPr>
          <a:xfrm>
            <a:off x="4435101" y="1524795"/>
            <a:ext cx="1560253" cy="393793"/>
          </a:xfrm>
          <a:prstGeom prst="roundRect">
            <a:avLst>
              <a:gd name="adj" fmla="val 27611"/>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100" dirty="0">
                <a:solidFill>
                  <a:sysClr val="windowText" lastClr="000000"/>
                </a:solidFill>
              </a:rPr>
              <a:t>특허권자가 실제 판매한 </a:t>
            </a:r>
            <a:endParaRPr lang="en-US" altLang="ko-KR" sz="1100" dirty="0">
              <a:solidFill>
                <a:sysClr val="windowText" lastClr="000000"/>
              </a:solidFill>
            </a:endParaRPr>
          </a:p>
          <a:p>
            <a:pPr algn="ctr"/>
            <a:r>
              <a:rPr lang="ko-KR" altLang="en-US" sz="1100" dirty="0">
                <a:solidFill>
                  <a:sysClr val="windowText" lastClr="000000"/>
                </a:solidFill>
              </a:rPr>
              <a:t>물건의 수량</a:t>
            </a:r>
          </a:p>
        </p:txBody>
      </p:sp>
      <p:sp>
        <p:nvSpPr>
          <p:cNvPr id="33" name="사각형: 둥근 모서리 32">
            <a:extLst>
              <a:ext uri="{FF2B5EF4-FFF2-40B4-BE49-F238E27FC236}">
                <a16:creationId xmlns:a16="http://schemas.microsoft.com/office/drawing/2014/main" id="{F8330C7F-881E-49D3-BC79-AA467544B445}"/>
              </a:ext>
            </a:extLst>
          </p:cNvPr>
          <p:cNvSpPr/>
          <p:nvPr/>
        </p:nvSpPr>
        <p:spPr>
          <a:xfrm>
            <a:off x="7923110" y="1230780"/>
            <a:ext cx="2344014" cy="360580"/>
          </a:xfrm>
          <a:prstGeom prst="roundRect">
            <a:avLst>
              <a:gd name="adj" fmla="val 27611"/>
            </a:avLst>
          </a:prstGeom>
          <a:solidFill>
            <a:schemeClr val="accent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100" dirty="0">
                <a:solidFill>
                  <a:sysClr val="windowText" lastClr="000000"/>
                </a:solidFill>
              </a:rPr>
              <a:t>침해행위 외의 사유로 </a:t>
            </a:r>
            <a:endParaRPr lang="en-US" altLang="ko-KR" sz="1100" dirty="0">
              <a:solidFill>
                <a:sysClr val="windowText" lastClr="000000"/>
              </a:solidFill>
            </a:endParaRPr>
          </a:p>
          <a:p>
            <a:pPr algn="ctr"/>
            <a:r>
              <a:rPr lang="ko-KR" altLang="en-US" sz="1100" dirty="0">
                <a:solidFill>
                  <a:sysClr val="windowText" lastClr="000000"/>
                </a:solidFill>
              </a:rPr>
              <a:t>판매할 수 없었던 수량</a:t>
            </a:r>
          </a:p>
        </p:txBody>
      </p:sp>
      <p:cxnSp>
        <p:nvCxnSpPr>
          <p:cNvPr id="34" name="직선 연결선 33">
            <a:extLst>
              <a:ext uri="{FF2B5EF4-FFF2-40B4-BE49-F238E27FC236}">
                <a16:creationId xmlns:a16="http://schemas.microsoft.com/office/drawing/2014/main" id="{722F08A2-18F8-44DB-8691-6B27EA0DCB58}"/>
              </a:ext>
            </a:extLst>
          </p:cNvPr>
          <p:cNvCxnSpPr>
            <a:cxnSpLocks/>
          </p:cNvCxnSpPr>
          <p:nvPr/>
        </p:nvCxnSpPr>
        <p:spPr>
          <a:xfrm>
            <a:off x="8264106" y="1805851"/>
            <a:ext cx="2861094" cy="0"/>
          </a:xfrm>
          <a:prstGeom prst="line">
            <a:avLst/>
          </a:prstGeom>
          <a:ln w="57150">
            <a:solidFill>
              <a:schemeClr val="accent5"/>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38" name="직선 연결선 37">
            <a:extLst>
              <a:ext uri="{FF2B5EF4-FFF2-40B4-BE49-F238E27FC236}">
                <a16:creationId xmlns:a16="http://schemas.microsoft.com/office/drawing/2014/main" id="{A4F2A199-5F0B-410C-BFCF-817E135DC760}"/>
              </a:ext>
            </a:extLst>
          </p:cNvPr>
          <p:cNvCxnSpPr/>
          <p:nvPr/>
        </p:nvCxnSpPr>
        <p:spPr>
          <a:xfrm>
            <a:off x="1762484" y="1116136"/>
            <a:ext cx="0" cy="1636678"/>
          </a:xfrm>
          <a:prstGeom prst="line">
            <a:avLst/>
          </a:prstGeom>
          <a:ln w="1905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40" name="직선 연결선 39">
            <a:extLst>
              <a:ext uri="{FF2B5EF4-FFF2-40B4-BE49-F238E27FC236}">
                <a16:creationId xmlns:a16="http://schemas.microsoft.com/office/drawing/2014/main" id="{686F2A23-C57C-4346-91D6-637772AFE5D4}"/>
              </a:ext>
            </a:extLst>
          </p:cNvPr>
          <p:cNvCxnSpPr/>
          <p:nvPr/>
        </p:nvCxnSpPr>
        <p:spPr>
          <a:xfrm>
            <a:off x="8264106" y="1116136"/>
            <a:ext cx="0" cy="1636678"/>
          </a:xfrm>
          <a:prstGeom prst="line">
            <a:avLst/>
          </a:prstGeom>
          <a:ln w="57150">
            <a:solidFill>
              <a:schemeClr val="tx1"/>
            </a:solidFill>
            <a:prstDash val="solid"/>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41" name="직선 연결선 40">
            <a:extLst>
              <a:ext uri="{FF2B5EF4-FFF2-40B4-BE49-F238E27FC236}">
                <a16:creationId xmlns:a16="http://schemas.microsoft.com/office/drawing/2014/main" id="{B26C28AC-4714-4A8A-BDDE-FE2358480110}"/>
              </a:ext>
            </a:extLst>
          </p:cNvPr>
          <p:cNvCxnSpPr/>
          <p:nvPr/>
        </p:nvCxnSpPr>
        <p:spPr>
          <a:xfrm>
            <a:off x="7065034" y="1116136"/>
            <a:ext cx="0" cy="1636678"/>
          </a:xfrm>
          <a:prstGeom prst="line">
            <a:avLst/>
          </a:prstGeom>
          <a:ln w="1905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45" name="직선 연결선 44">
            <a:extLst>
              <a:ext uri="{FF2B5EF4-FFF2-40B4-BE49-F238E27FC236}">
                <a16:creationId xmlns:a16="http://schemas.microsoft.com/office/drawing/2014/main" id="{D436BA54-93A0-4B3E-A6C7-D1308844946E}"/>
              </a:ext>
            </a:extLst>
          </p:cNvPr>
          <p:cNvCxnSpPr/>
          <p:nvPr/>
        </p:nvCxnSpPr>
        <p:spPr>
          <a:xfrm>
            <a:off x="11125192" y="1116136"/>
            <a:ext cx="0" cy="1636678"/>
          </a:xfrm>
          <a:prstGeom prst="line">
            <a:avLst/>
          </a:prstGeom>
          <a:ln w="1905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46" name="직선 연결선 45">
            <a:extLst>
              <a:ext uri="{FF2B5EF4-FFF2-40B4-BE49-F238E27FC236}">
                <a16:creationId xmlns:a16="http://schemas.microsoft.com/office/drawing/2014/main" id="{599CCC4B-B58A-4D32-99A5-F30C4043D041}"/>
              </a:ext>
            </a:extLst>
          </p:cNvPr>
          <p:cNvCxnSpPr/>
          <p:nvPr/>
        </p:nvCxnSpPr>
        <p:spPr>
          <a:xfrm>
            <a:off x="6096000" y="1116136"/>
            <a:ext cx="0" cy="1636678"/>
          </a:xfrm>
          <a:prstGeom prst="line">
            <a:avLst/>
          </a:prstGeom>
          <a:ln w="1905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47" name="사각형: 둥근 모서리 46">
            <a:extLst>
              <a:ext uri="{FF2B5EF4-FFF2-40B4-BE49-F238E27FC236}">
                <a16:creationId xmlns:a16="http://schemas.microsoft.com/office/drawing/2014/main" id="{AAF649AB-8154-4FAB-A9AB-39EBC8F9CD90}"/>
              </a:ext>
            </a:extLst>
          </p:cNvPr>
          <p:cNvSpPr/>
          <p:nvPr/>
        </p:nvSpPr>
        <p:spPr>
          <a:xfrm>
            <a:off x="1822781" y="2308492"/>
            <a:ext cx="2114863" cy="444491"/>
          </a:xfrm>
          <a:prstGeom prst="roundRect">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rgbClr val="FF0000"/>
                </a:solidFill>
              </a:rPr>
              <a:t>생산능력범위수량 </a:t>
            </a:r>
            <a:r>
              <a:rPr lang="en-US" altLang="ko-KR" sz="1000" dirty="0">
                <a:solidFill>
                  <a:srgbClr val="FF0000"/>
                </a:solidFill>
              </a:rPr>
              <a:t>*</a:t>
            </a:r>
          </a:p>
          <a:p>
            <a:pPr algn="ctr"/>
            <a:r>
              <a:rPr lang="ko-KR" altLang="en-US" sz="1000" dirty="0">
                <a:solidFill>
                  <a:srgbClr val="FF0000"/>
                </a:solidFill>
              </a:rPr>
              <a:t>특허권자의 단위수량당 </a:t>
            </a:r>
            <a:r>
              <a:rPr lang="ko-KR" altLang="en-US" sz="1000" dirty="0" err="1">
                <a:solidFill>
                  <a:srgbClr val="FF0000"/>
                </a:solidFill>
              </a:rPr>
              <a:t>이익액</a:t>
            </a:r>
            <a:endParaRPr lang="ko-KR" altLang="en-US" sz="1000" dirty="0">
              <a:solidFill>
                <a:srgbClr val="FF0000"/>
              </a:solidFill>
            </a:endParaRPr>
          </a:p>
        </p:txBody>
      </p:sp>
      <p:sp>
        <p:nvSpPr>
          <p:cNvPr id="49" name="사각형: 둥근 모서리 48">
            <a:extLst>
              <a:ext uri="{FF2B5EF4-FFF2-40B4-BE49-F238E27FC236}">
                <a16:creationId xmlns:a16="http://schemas.microsoft.com/office/drawing/2014/main" id="{372167DB-A72B-452A-9E48-7CCF9E46757D}"/>
              </a:ext>
            </a:extLst>
          </p:cNvPr>
          <p:cNvSpPr/>
          <p:nvPr/>
        </p:nvSpPr>
        <p:spPr>
          <a:xfrm>
            <a:off x="4023909" y="2308492"/>
            <a:ext cx="4187308" cy="444491"/>
          </a:xfrm>
          <a:prstGeom prst="roundRect">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rgbClr val="FF0000"/>
                </a:solidFill>
              </a:rPr>
              <a:t>특허발명의 실시에 대하여 합리적으로 받을 수 있는 금액</a:t>
            </a:r>
            <a:endParaRPr lang="en-US" altLang="ko-KR" sz="1000" dirty="0">
              <a:solidFill>
                <a:srgbClr val="FF0000"/>
              </a:solidFill>
            </a:endParaRPr>
          </a:p>
          <a:p>
            <a:pPr algn="ctr"/>
            <a:r>
              <a:rPr lang="en-US" altLang="ko-KR" sz="800" b="0" i="0" dirty="0">
                <a:solidFill>
                  <a:srgbClr val="333333"/>
                </a:solidFill>
                <a:effectLst/>
                <a:latin typeface="Rix모던고딕 L" panose="02020603020101020101" pitchFamily="18" charset="-127"/>
              </a:rPr>
              <a:t>(</a:t>
            </a:r>
            <a:r>
              <a:rPr lang="ko-KR" altLang="en-US" sz="800" b="0" i="0" dirty="0">
                <a:solidFill>
                  <a:srgbClr val="333333"/>
                </a:solidFill>
                <a:effectLst/>
                <a:latin typeface="Rix모던고딕 L" panose="02020603020101020101" pitchFamily="18" charset="-127"/>
              </a:rPr>
              <a:t>그 물건의 양도수량 중 특허권자 또는 </a:t>
            </a:r>
            <a:r>
              <a:rPr lang="ko-KR" altLang="en-US" sz="800" b="0" i="0" dirty="0" err="1">
                <a:solidFill>
                  <a:srgbClr val="333333"/>
                </a:solidFill>
                <a:effectLst/>
                <a:latin typeface="Rix모던고딕 L" panose="02020603020101020101" pitchFamily="18" charset="-127"/>
              </a:rPr>
              <a:t>전용실시권자가</a:t>
            </a:r>
            <a:r>
              <a:rPr lang="ko-KR" altLang="en-US" sz="800" b="0" i="0" dirty="0">
                <a:solidFill>
                  <a:srgbClr val="333333"/>
                </a:solidFill>
                <a:effectLst/>
                <a:latin typeface="Rix모던고딕 L" panose="02020603020101020101" pitchFamily="18" charset="-127"/>
              </a:rPr>
              <a:t> 생산할 수 있었던 물건의 수량에서 실제 판매한 물건의 수량을 뺀 수량을 넘는 수량</a:t>
            </a:r>
            <a:r>
              <a:rPr lang="en-US" altLang="ko-KR" sz="800" b="0" i="0" dirty="0">
                <a:solidFill>
                  <a:srgbClr val="333333"/>
                </a:solidFill>
                <a:effectLst/>
                <a:latin typeface="Rix모던고딕 L" panose="02020603020101020101" pitchFamily="18" charset="-127"/>
              </a:rPr>
              <a:t>(</a:t>
            </a:r>
            <a:r>
              <a:rPr lang="ko-KR" altLang="en-US" sz="800" b="0" i="0" dirty="0" err="1">
                <a:solidFill>
                  <a:srgbClr val="333333"/>
                </a:solidFill>
                <a:effectLst/>
                <a:latin typeface="Rix모던고딕 L" panose="02020603020101020101" pitchFamily="18" charset="-127"/>
              </a:rPr>
              <a:t>실시권</a:t>
            </a:r>
            <a:r>
              <a:rPr lang="ko-KR" altLang="en-US" sz="800" b="0" i="0" dirty="0">
                <a:solidFill>
                  <a:srgbClr val="333333"/>
                </a:solidFill>
                <a:effectLst/>
                <a:latin typeface="Rix모던고딕 L" panose="02020603020101020101" pitchFamily="18" charset="-127"/>
              </a:rPr>
              <a:t> 설정</a:t>
            </a:r>
            <a:r>
              <a:rPr lang="en-US" altLang="ko-KR" sz="800" b="0" i="0" dirty="0">
                <a:solidFill>
                  <a:srgbClr val="333333"/>
                </a:solidFill>
                <a:effectLst/>
                <a:latin typeface="Rix모던고딕 L" panose="02020603020101020101" pitchFamily="18" charset="-127"/>
              </a:rPr>
              <a:t>/</a:t>
            </a:r>
            <a:r>
              <a:rPr lang="ko-KR" altLang="en-US" sz="800" b="0" i="0" dirty="0">
                <a:solidFill>
                  <a:srgbClr val="333333"/>
                </a:solidFill>
                <a:effectLst/>
                <a:latin typeface="Rix모던고딕 L" panose="02020603020101020101" pitchFamily="18" charset="-127"/>
              </a:rPr>
              <a:t>허락 불가 </a:t>
            </a:r>
            <a:r>
              <a:rPr lang="ko-KR" altLang="en-US" sz="800" dirty="0">
                <a:solidFill>
                  <a:srgbClr val="333333"/>
                </a:solidFill>
                <a:latin typeface="Rix모던고딕 L" panose="02020603020101020101" pitchFamily="18" charset="-127"/>
              </a:rPr>
              <a:t>수량 </a:t>
            </a:r>
            <a:r>
              <a:rPr lang="ko-KR" altLang="en-US" sz="800" b="0" i="0" dirty="0">
                <a:solidFill>
                  <a:srgbClr val="333333"/>
                </a:solidFill>
                <a:effectLst/>
                <a:latin typeface="Rix모던고딕 L" panose="02020603020101020101" pitchFamily="18" charset="-127"/>
              </a:rPr>
              <a:t>제외</a:t>
            </a:r>
            <a:r>
              <a:rPr lang="en-US" altLang="ko-KR" sz="800" b="0" i="0" dirty="0">
                <a:solidFill>
                  <a:srgbClr val="333333"/>
                </a:solidFill>
                <a:effectLst/>
                <a:latin typeface="Rix모던고딕 L" panose="02020603020101020101" pitchFamily="18" charset="-127"/>
              </a:rPr>
              <a:t>))</a:t>
            </a:r>
            <a:endParaRPr lang="ko-KR" altLang="en-US" sz="1000" dirty="0">
              <a:solidFill>
                <a:srgbClr val="FF0000"/>
              </a:solidFill>
            </a:endParaRPr>
          </a:p>
        </p:txBody>
      </p:sp>
      <p:sp>
        <p:nvSpPr>
          <p:cNvPr id="42" name="사각형: 둥근 모서리 41">
            <a:extLst>
              <a:ext uri="{FF2B5EF4-FFF2-40B4-BE49-F238E27FC236}">
                <a16:creationId xmlns:a16="http://schemas.microsoft.com/office/drawing/2014/main" id="{64D235A8-C4E7-4D5E-99C8-4D35C5AE0065}"/>
              </a:ext>
            </a:extLst>
          </p:cNvPr>
          <p:cNvSpPr/>
          <p:nvPr/>
        </p:nvSpPr>
        <p:spPr>
          <a:xfrm>
            <a:off x="1822781" y="2045671"/>
            <a:ext cx="2093611" cy="232687"/>
          </a:xfrm>
          <a:prstGeom prst="round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2">
                    <a:lumMod val="10000"/>
                  </a:schemeClr>
                </a:solidFill>
              </a:rPr>
              <a:t>특허권자 생산능력 범위 이내</a:t>
            </a:r>
          </a:p>
        </p:txBody>
      </p:sp>
      <p:sp>
        <p:nvSpPr>
          <p:cNvPr id="43" name="사각형: 둥근 모서리 42">
            <a:extLst>
              <a:ext uri="{FF2B5EF4-FFF2-40B4-BE49-F238E27FC236}">
                <a16:creationId xmlns:a16="http://schemas.microsoft.com/office/drawing/2014/main" id="{3C1D8219-B6A9-4556-982C-E33321702DA6}"/>
              </a:ext>
            </a:extLst>
          </p:cNvPr>
          <p:cNvSpPr/>
          <p:nvPr/>
        </p:nvSpPr>
        <p:spPr>
          <a:xfrm>
            <a:off x="4028535" y="2045671"/>
            <a:ext cx="7030527" cy="232687"/>
          </a:xfrm>
          <a:prstGeom prst="round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2">
                    <a:lumMod val="10000"/>
                  </a:schemeClr>
                </a:solidFill>
              </a:rPr>
              <a:t>특허권자 생산능력 범위 초과</a:t>
            </a:r>
          </a:p>
        </p:txBody>
      </p:sp>
      <p:sp>
        <p:nvSpPr>
          <p:cNvPr id="26" name="사각형: 둥근 모서리 25">
            <a:extLst>
              <a:ext uri="{FF2B5EF4-FFF2-40B4-BE49-F238E27FC236}">
                <a16:creationId xmlns:a16="http://schemas.microsoft.com/office/drawing/2014/main" id="{C895830F-0A0D-4B90-812B-F33BAD98CCDD}"/>
              </a:ext>
            </a:extLst>
          </p:cNvPr>
          <p:cNvSpPr/>
          <p:nvPr/>
        </p:nvSpPr>
        <p:spPr>
          <a:xfrm>
            <a:off x="5145271" y="917708"/>
            <a:ext cx="2344014" cy="240944"/>
          </a:xfrm>
          <a:prstGeom prst="roundRect">
            <a:avLst>
              <a:gd name="adj" fmla="val 27611"/>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100" dirty="0">
                <a:solidFill>
                  <a:sysClr val="windowText" lastClr="000000"/>
                </a:solidFill>
              </a:rPr>
              <a:t>침해자의 양도수량</a:t>
            </a:r>
          </a:p>
        </p:txBody>
      </p:sp>
      <p:cxnSp>
        <p:nvCxnSpPr>
          <p:cNvPr id="53" name="직선 연결선 52">
            <a:extLst>
              <a:ext uri="{FF2B5EF4-FFF2-40B4-BE49-F238E27FC236}">
                <a16:creationId xmlns:a16="http://schemas.microsoft.com/office/drawing/2014/main" id="{BA2BBAB7-D72F-4053-8A6C-A9502F7FCC34}"/>
              </a:ext>
            </a:extLst>
          </p:cNvPr>
          <p:cNvCxnSpPr>
            <a:cxnSpLocks/>
          </p:cNvCxnSpPr>
          <p:nvPr/>
        </p:nvCxnSpPr>
        <p:spPr>
          <a:xfrm>
            <a:off x="1762484" y="3144337"/>
            <a:ext cx="9362716" cy="0"/>
          </a:xfrm>
          <a:prstGeom prst="line">
            <a:avLst/>
          </a:prstGeom>
          <a:ln w="57150">
            <a:solidFill>
              <a:schemeClr val="accent2"/>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54" name="직선 연결선 53">
            <a:extLst>
              <a:ext uri="{FF2B5EF4-FFF2-40B4-BE49-F238E27FC236}">
                <a16:creationId xmlns:a16="http://schemas.microsoft.com/office/drawing/2014/main" id="{EA47B30E-A326-43A1-B4B2-D1B09AA59926}"/>
              </a:ext>
            </a:extLst>
          </p:cNvPr>
          <p:cNvCxnSpPr>
            <a:cxnSpLocks/>
          </p:cNvCxnSpPr>
          <p:nvPr/>
        </p:nvCxnSpPr>
        <p:spPr>
          <a:xfrm>
            <a:off x="1762484" y="3422432"/>
            <a:ext cx="4333516" cy="0"/>
          </a:xfrm>
          <a:prstGeom prst="line">
            <a:avLst/>
          </a:prstGeom>
          <a:ln w="5715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CE0AF154-8F83-4DE9-B794-ACD023795F69}"/>
              </a:ext>
            </a:extLst>
          </p:cNvPr>
          <p:cNvCxnSpPr>
            <a:cxnSpLocks/>
          </p:cNvCxnSpPr>
          <p:nvPr/>
        </p:nvCxnSpPr>
        <p:spPr>
          <a:xfrm>
            <a:off x="3631721" y="3716570"/>
            <a:ext cx="7493479" cy="0"/>
          </a:xfrm>
          <a:prstGeom prst="line">
            <a:avLst/>
          </a:prstGeom>
          <a:ln w="57150">
            <a:solidFill>
              <a:schemeClr val="accent2"/>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083D3DB2-75C8-4F9B-B413-84CB21F41C8B}"/>
              </a:ext>
            </a:extLst>
          </p:cNvPr>
          <p:cNvCxnSpPr>
            <a:cxnSpLocks/>
          </p:cNvCxnSpPr>
          <p:nvPr/>
        </p:nvCxnSpPr>
        <p:spPr>
          <a:xfrm>
            <a:off x="8264106" y="3961406"/>
            <a:ext cx="2861094" cy="0"/>
          </a:xfrm>
          <a:prstGeom prst="line">
            <a:avLst/>
          </a:prstGeom>
          <a:ln w="57150">
            <a:solidFill>
              <a:schemeClr val="accent1">
                <a:lumMod val="75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70" name="직선 연결선 69">
            <a:extLst>
              <a:ext uri="{FF2B5EF4-FFF2-40B4-BE49-F238E27FC236}">
                <a16:creationId xmlns:a16="http://schemas.microsoft.com/office/drawing/2014/main" id="{8792FA55-D15A-49EF-9DA8-7A51A5C3E3F4}"/>
              </a:ext>
            </a:extLst>
          </p:cNvPr>
          <p:cNvCxnSpPr>
            <a:cxnSpLocks/>
          </p:cNvCxnSpPr>
          <p:nvPr/>
        </p:nvCxnSpPr>
        <p:spPr>
          <a:xfrm>
            <a:off x="1762484" y="3046952"/>
            <a:ext cx="0" cy="2101867"/>
          </a:xfrm>
          <a:prstGeom prst="line">
            <a:avLst/>
          </a:prstGeom>
          <a:ln w="1905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73" name="직선 연결선 72">
            <a:extLst>
              <a:ext uri="{FF2B5EF4-FFF2-40B4-BE49-F238E27FC236}">
                <a16:creationId xmlns:a16="http://schemas.microsoft.com/office/drawing/2014/main" id="{92FA0A45-4BB5-4DF1-950A-72AA367C4EF4}"/>
              </a:ext>
            </a:extLst>
          </p:cNvPr>
          <p:cNvCxnSpPr>
            <a:cxnSpLocks/>
          </p:cNvCxnSpPr>
          <p:nvPr/>
        </p:nvCxnSpPr>
        <p:spPr>
          <a:xfrm>
            <a:off x="11125192" y="3046952"/>
            <a:ext cx="0" cy="2101867"/>
          </a:xfrm>
          <a:prstGeom prst="line">
            <a:avLst/>
          </a:prstGeom>
          <a:ln w="1905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69" name="직선 연결선 68">
            <a:extLst>
              <a:ext uri="{FF2B5EF4-FFF2-40B4-BE49-F238E27FC236}">
                <a16:creationId xmlns:a16="http://schemas.microsoft.com/office/drawing/2014/main" id="{4E224B31-349A-42A5-B3AB-A5D38596A137}"/>
              </a:ext>
            </a:extLst>
          </p:cNvPr>
          <p:cNvCxnSpPr/>
          <p:nvPr/>
        </p:nvCxnSpPr>
        <p:spPr>
          <a:xfrm>
            <a:off x="3980776" y="3046951"/>
            <a:ext cx="0" cy="2101868"/>
          </a:xfrm>
          <a:prstGeom prst="line">
            <a:avLst/>
          </a:prstGeom>
          <a:ln w="1905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802A5EFA-3FCB-436E-980A-430B26879145}"/>
              </a:ext>
            </a:extLst>
          </p:cNvPr>
          <p:cNvCxnSpPr/>
          <p:nvPr/>
        </p:nvCxnSpPr>
        <p:spPr>
          <a:xfrm>
            <a:off x="8264106" y="3046951"/>
            <a:ext cx="0" cy="2101868"/>
          </a:xfrm>
          <a:prstGeom prst="line">
            <a:avLst/>
          </a:prstGeom>
          <a:ln w="57150">
            <a:solidFill>
              <a:schemeClr val="tx1"/>
            </a:solidFill>
            <a:prstDash val="solid"/>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72" name="직선 연결선 71">
            <a:extLst>
              <a:ext uri="{FF2B5EF4-FFF2-40B4-BE49-F238E27FC236}">
                <a16:creationId xmlns:a16="http://schemas.microsoft.com/office/drawing/2014/main" id="{A37BB6C1-0C92-4ECB-B72B-FB08FEDC7B07}"/>
              </a:ext>
            </a:extLst>
          </p:cNvPr>
          <p:cNvCxnSpPr/>
          <p:nvPr/>
        </p:nvCxnSpPr>
        <p:spPr>
          <a:xfrm>
            <a:off x="3640347" y="3046951"/>
            <a:ext cx="0" cy="2101868"/>
          </a:xfrm>
          <a:prstGeom prst="line">
            <a:avLst/>
          </a:prstGeom>
          <a:ln w="57150">
            <a:solidFill>
              <a:schemeClr val="tx1"/>
            </a:solidFill>
            <a:prstDash val="solid"/>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74" name="직선 연결선 73">
            <a:extLst>
              <a:ext uri="{FF2B5EF4-FFF2-40B4-BE49-F238E27FC236}">
                <a16:creationId xmlns:a16="http://schemas.microsoft.com/office/drawing/2014/main" id="{AAC0A02A-6DFA-4D1D-AABD-EB9461E7F35D}"/>
              </a:ext>
            </a:extLst>
          </p:cNvPr>
          <p:cNvCxnSpPr/>
          <p:nvPr/>
        </p:nvCxnSpPr>
        <p:spPr>
          <a:xfrm>
            <a:off x="6096000" y="3046951"/>
            <a:ext cx="0" cy="2101868"/>
          </a:xfrm>
          <a:prstGeom prst="line">
            <a:avLst/>
          </a:prstGeom>
          <a:ln w="1905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63" name="사각형: 둥근 모서리 62">
            <a:extLst>
              <a:ext uri="{FF2B5EF4-FFF2-40B4-BE49-F238E27FC236}">
                <a16:creationId xmlns:a16="http://schemas.microsoft.com/office/drawing/2014/main" id="{64BE3DA6-2BBD-4A26-80CB-33C8651BA2D7}"/>
              </a:ext>
            </a:extLst>
          </p:cNvPr>
          <p:cNvSpPr/>
          <p:nvPr/>
        </p:nvSpPr>
        <p:spPr>
          <a:xfrm>
            <a:off x="1822781" y="4473249"/>
            <a:ext cx="1764675" cy="614911"/>
          </a:xfrm>
          <a:prstGeom prst="roundRect">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rgbClr val="FF0000"/>
                </a:solidFill>
              </a:rPr>
              <a:t>침해자의 인정수량 </a:t>
            </a:r>
            <a:r>
              <a:rPr lang="en-US" altLang="ko-KR" sz="1000" dirty="0">
                <a:solidFill>
                  <a:srgbClr val="FF0000"/>
                </a:solidFill>
              </a:rPr>
              <a:t>*</a:t>
            </a:r>
          </a:p>
          <a:p>
            <a:pPr algn="ctr"/>
            <a:r>
              <a:rPr lang="ko-KR" altLang="en-US" sz="1000" dirty="0">
                <a:solidFill>
                  <a:srgbClr val="FF0000"/>
                </a:solidFill>
              </a:rPr>
              <a:t>특허권자의 단위수량당 </a:t>
            </a:r>
            <a:endParaRPr lang="en-US" altLang="ko-KR" sz="1000" dirty="0">
              <a:solidFill>
                <a:srgbClr val="FF0000"/>
              </a:solidFill>
            </a:endParaRPr>
          </a:p>
          <a:p>
            <a:pPr algn="ctr"/>
            <a:r>
              <a:rPr lang="ko-KR" altLang="en-US" sz="1000" dirty="0" err="1">
                <a:solidFill>
                  <a:srgbClr val="FF0000"/>
                </a:solidFill>
              </a:rPr>
              <a:t>이익액</a:t>
            </a:r>
            <a:endParaRPr lang="ko-KR" altLang="en-US" sz="1000" dirty="0">
              <a:solidFill>
                <a:srgbClr val="FF0000"/>
              </a:solidFill>
            </a:endParaRPr>
          </a:p>
        </p:txBody>
      </p:sp>
      <p:sp>
        <p:nvSpPr>
          <p:cNvPr id="64" name="사각형: 둥근 모서리 63">
            <a:extLst>
              <a:ext uri="{FF2B5EF4-FFF2-40B4-BE49-F238E27FC236}">
                <a16:creationId xmlns:a16="http://schemas.microsoft.com/office/drawing/2014/main" id="{D7656E34-98B6-4F1E-A245-769283DDC5AC}"/>
              </a:ext>
            </a:extLst>
          </p:cNvPr>
          <p:cNvSpPr/>
          <p:nvPr/>
        </p:nvSpPr>
        <p:spPr>
          <a:xfrm>
            <a:off x="3706475" y="4473250"/>
            <a:ext cx="4504742" cy="614917"/>
          </a:xfrm>
          <a:prstGeom prst="roundRect">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rgbClr val="FF0000"/>
                </a:solidFill>
              </a:rPr>
              <a:t>특허발명의 실시에 대하여 합리적으로 받을 수 있는 금액</a:t>
            </a:r>
            <a:endParaRPr lang="en-US" altLang="ko-KR" sz="1100" dirty="0">
              <a:solidFill>
                <a:srgbClr val="FF0000"/>
              </a:solidFill>
            </a:endParaRPr>
          </a:p>
          <a:p>
            <a:pPr algn="ctr"/>
            <a:r>
              <a:rPr lang="en-US" altLang="ko-KR" sz="800" dirty="0">
                <a:solidFill>
                  <a:schemeClr val="tx1"/>
                </a:solidFill>
              </a:rPr>
              <a:t>(</a:t>
            </a:r>
            <a:r>
              <a:rPr lang="ko-KR" altLang="en-US" sz="800" dirty="0">
                <a:solidFill>
                  <a:schemeClr val="tx1"/>
                </a:solidFill>
              </a:rPr>
              <a:t>그 물건의 양도수량 중 </a:t>
            </a:r>
            <a:r>
              <a:rPr lang="ko-KR" altLang="en-US" sz="800" b="0" i="0" dirty="0">
                <a:solidFill>
                  <a:schemeClr val="tx1"/>
                </a:solidFill>
                <a:effectLst/>
                <a:latin typeface="Rix모던고딕 L" panose="02020603020101020101" pitchFamily="18" charset="-127"/>
              </a:rPr>
              <a:t>그 침해행위 외의 사유로 판매할 수 없었던 수량</a:t>
            </a:r>
            <a:r>
              <a:rPr lang="en-US" altLang="ko-KR" sz="800" b="0" i="0" dirty="0">
                <a:solidFill>
                  <a:srgbClr val="333333"/>
                </a:solidFill>
                <a:effectLst/>
                <a:latin typeface="Rix모던고딕 L" panose="02020603020101020101" pitchFamily="18" charset="-127"/>
              </a:rPr>
              <a:t>(</a:t>
            </a:r>
            <a:r>
              <a:rPr lang="ko-KR" altLang="en-US" sz="800" b="0" i="0" dirty="0" err="1">
                <a:solidFill>
                  <a:srgbClr val="333333"/>
                </a:solidFill>
                <a:effectLst/>
                <a:latin typeface="Rix모던고딕 L" panose="02020603020101020101" pitchFamily="18" charset="-127"/>
              </a:rPr>
              <a:t>실시권</a:t>
            </a:r>
            <a:r>
              <a:rPr lang="ko-KR" altLang="en-US" sz="800" b="0" i="0" dirty="0">
                <a:solidFill>
                  <a:srgbClr val="333333"/>
                </a:solidFill>
                <a:effectLst/>
                <a:latin typeface="Rix모던고딕 L" panose="02020603020101020101" pitchFamily="18" charset="-127"/>
              </a:rPr>
              <a:t> 설정</a:t>
            </a:r>
            <a:r>
              <a:rPr lang="en-US" altLang="ko-KR" sz="800" b="0" i="0" dirty="0">
                <a:solidFill>
                  <a:srgbClr val="333333"/>
                </a:solidFill>
                <a:effectLst/>
                <a:latin typeface="Rix모던고딕 L" panose="02020603020101020101" pitchFamily="18" charset="-127"/>
              </a:rPr>
              <a:t>/</a:t>
            </a:r>
            <a:r>
              <a:rPr lang="ko-KR" altLang="en-US" sz="800" b="0" i="0" dirty="0">
                <a:solidFill>
                  <a:srgbClr val="333333"/>
                </a:solidFill>
                <a:effectLst/>
                <a:latin typeface="Rix모던고딕 L" panose="02020603020101020101" pitchFamily="18" charset="-127"/>
              </a:rPr>
              <a:t>허락 불가 </a:t>
            </a:r>
            <a:r>
              <a:rPr lang="ko-KR" altLang="en-US" sz="800" dirty="0">
                <a:solidFill>
                  <a:srgbClr val="333333"/>
                </a:solidFill>
                <a:latin typeface="Rix모던고딕 L" panose="02020603020101020101" pitchFamily="18" charset="-127"/>
              </a:rPr>
              <a:t>수량 </a:t>
            </a:r>
            <a:r>
              <a:rPr lang="ko-KR" altLang="en-US" sz="800" b="0" i="0" dirty="0">
                <a:solidFill>
                  <a:srgbClr val="333333"/>
                </a:solidFill>
                <a:effectLst/>
                <a:latin typeface="Rix모던고딕 L" panose="02020603020101020101" pitchFamily="18" charset="-127"/>
              </a:rPr>
              <a:t>제외</a:t>
            </a:r>
            <a:r>
              <a:rPr lang="en-US" altLang="ko-KR" sz="800" b="0" i="0" dirty="0">
                <a:solidFill>
                  <a:srgbClr val="333333"/>
                </a:solidFill>
                <a:effectLst/>
                <a:latin typeface="Rix모던고딕 L" panose="02020603020101020101" pitchFamily="18" charset="-127"/>
              </a:rPr>
              <a:t>)</a:t>
            </a:r>
            <a:r>
              <a:rPr lang="en-US" altLang="ko-KR" sz="800" b="0" i="0" dirty="0">
                <a:solidFill>
                  <a:schemeClr val="tx1"/>
                </a:solidFill>
                <a:effectLst/>
                <a:latin typeface="Rix모던고딕 L" panose="02020603020101020101" pitchFamily="18" charset="-127"/>
              </a:rPr>
              <a:t>)</a:t>
            </a:r>
            <a:endParaRPr lang="ko-KR" altLang="en-US" sz="800" dirty="0">
              <a:solidFill>
                <a:schemeClr val="tx1"/>
              </a:solidFill>
            </a:endParaRPr>
          </a:p>
        </p:txBody>
      </p:sp>
      <p:sp>
        <p:nvSpPr>
          <p:cNvPr id="65" name="사각형: 둥근 모서리 64">
            <a:extLst>
              <a:ext uri="{FF2B5EF4-FFF2-40B4-BE49-F238E27FC236}">
                <a16:creationId xmlns:a16="http://schemas.microsoft.com/office/drawing/2014/main" id="{1FC85511-F73C-4345-AC61-E18C901F5FED}"/>
              </a:ext>
            </a:extLst>
          </p:cNvPr>
          <p:cNvSpPr/>
          <p:nvPr/>
        </p:nvSpPr>
        <p:spPr>
          <a:xfrm>
            <a:off x="1822782" y="4212073"/>
            <a:ext cx="4207084" cy="232101"/>
          </a:xfrm>
          <a:prstGeom prst="round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2">
                    <a:lumMod val="10000"/>
                  </a:schemeClr>
                </a:solidFill>
              </a:rPr>
              <a:t>특허권자 생산능력 범위 이내</a:t>
            </a:r>
          </a:p>
        </p:txBody>
      </p:sp>
      <p:sp>
        <p:nvSpPr>
          <p:cNvPr id="68" name="사각형: 둥근 모서리 67">
            <a:extLst>
              <a:ext uri="{FF2B5EF4-FFF2-40B4-BE49-F238E27FC236}">
                <a16:creationId xmlns:a16="http://schemas.microsoft.com/office/drawing/2014/main" id="{6E8D97E8-B2A7-4244-A17E-C906B30998C8}"/>
              </a:ext>
            </a:extLst>
          </p:cNvPr>
          <p:cNvSpPr/>
          <p:nvPr/>
        </p:nvSpPr>
        <p:spPr>
          <a:xfrm>
            <a:off x="5145271" y="2976423"/>
            <a:ext cx="2344014" cy="275661"/>
          </a:xfrm>
          <a:prstGeom prst="roundRect">
            <a:avLst>
              <a:gd name="adj" fmla="val 27611"/>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100" dirty="0">
                <a:solidFill>
                  <a:sysClr val="windowText" lastClr="000000"/>
                </a:solidFill>
              </a:rPr>
              <a:t>침해자의 양도수량</a:t>
            </a:r>
          </a:p>
        </p:txBody>
      </p:sp>
      <p:sp>
        <p:nvSpPr>
          <p:cNvPr id="59" name="사각형: 둥근 모서리 58">
            <a:extLst>
              <a:ext uri="{FF2B5EF4-FFF2-40B4-BE49-F238E27FC236}">
                <a16:creationId xmlns:a16="http://schemas.microsoft.com/office/drawing/2014/main" id="{498F8C57-2AEA-4636-A688-99454A18DDCE}"/>
              </a:ext>
            </a:extLst>
          </p:cNvPr>
          <p:cNvSpPr/>
          <p:nvPr/>
        </p:nvSpPr>
        <p:spPr>
          <a:xfrm>
            <a:off x="6180576" y="3502011"/>
            <a:ext cx="2344014" cy="399831"/>
          </a:xfrm>
          <a:prstGeom prst="roundRect">
            <a:avLst>
              <a:gd name="adj" fmla="val 27611"/>
            </a:avLst>
          </a:prstGeom>
          <a:solidFill>
            <a:schemeClr val="accent2">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100" dirty="0">
                <a:solidFill>
                  <a:sysClr val="windowText" lastClr="000000"/>
                </a:solidFill>
              </a:rPr>
              <a:t>침해행위 외의 사유로 </a:t>
            </a:r>
            <a:endParaRPr lang="en-US" altLang="ko-KR" sz="1100" dirty="0">
              <a:solidFill>
                <a:sysClr val="windowText" lastClr="000000"/>
              </a:solidFill>
            </a:endParaRPr>
          </a:p>
          <a:p>
            <a:pPr algn="ctr"/>
            <a:r>
              <a:rPr lang="ko-KR" altLang="en-US" sz="1100" dirty="0">
                <a:solidFill>
                  <a:sysClr val="windowText" lastClr="000000"/>
                </a:solidFill>
              </a:rPr>
              <a:t>판매할 수 없었던 수량</a:t>
            </a:r>
          </a:p>
        </p:txBody>
      </p:sp>
      <p:sp>
        <p:nvSpPr>
          <p:cNvPr id="76" name="사각형: 둥근 모서리 75">
            <a:extLst>
              <a:ext uri="{FF2B5EF4-FFF2-40B4-BE49-F238E27FC236}">
                <a16:creationId xmlns:a16="http://schemas.microsoft.com/office/drawing/2014/main" id="{B26D178C-DE1C-44D9-B159-C6A6AB377008}"/>
              </a:ext>
            </a:extLst>
          </p:cNvPr>
          <p:cNvSpPr/>
          <p:nvPr/>
        </p:nvSpPr>
        <p:spPr>
          <a:xfrm>
            <a:off x="6162135" y="4217317"/>
            <a:ext cx="4896927" cy="232101"/>
          </a:xfrm>
          <a:prstGeom prst="round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2">
                    <a:lumMod val="10000"/>
                  </a:schemeClr>
                </a:solidFill>
              </a:rPr>
              <a:t>특허권자 생산능력 범위 초과</a:t>
            </a:r>
          </a:p>
        </p:txBody>
      </p:sp>
      <p:cxnSp>
        <p:nvCxnSpPr>
          <p:cNvPr id="66" name="직선 연결선 65">
            <a:extLst>
              <a:ext uri="{FF2B5EF4-FFF2-40B4-BE49-F238E27FC236}">
                <a16:creationId xmlns:a16="http://schemas.microsoft.com/office/drawing/2014/main" id="{BA3FC5CF-C3D1-4E16-9FB9-F05BCD533206}"/>
              </a:ext>
            </a:extLst>
          </p:cNvPr>
          <p:cNvCxnSpPr>
            <a:cxnSpLocks/>
          </p:cNvCxnSpPr>
          <p:nvPr/>
        </p:nvCxnSpPr>
        <p:spPr>
          <a:xfrm>
            <a:off x="1762484" y="5597531"/>
            <a:ext cx="9362716" cy="0"/>
          </a:xfrm>
          <a:prstGeom prst="line">
            <a:avLst/>
          </a:prstGeom>
          <a:ln w="57150">
            <a:solidFill>
              <a:schemeClr val="accent2"/>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B2D0F88A-67DA-48F2-97D0-3B531D3D4146}"/>
              </a:ext>
            </a:extLst>
          </p:cNvPr>
          <p:cNvCxnSpPr>
            <a:cxnSpLocks/>
          </p:cNvCxnSpPr>
          <p:nvPr/>
        </p:nvCxnSpPr>
        <p:spPr>
          <a:xfrm>
            <a:off x="8264106" y="5829603"/>
            <a:ext cx="2861094" cy="0"/>
          </a:xfrm>
          <a:prstGeom prst="line">
            <a:avLst/>
          </a:prstGeom>
          <a:ln w="57150">
            <a:solidFill>
              <a:schemeClr val="accent1">
                <a:lumMod val="75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84" name="직선 연결선 83">
            <a:extLst>
              <a:ext uri="{FF2B5EF4-FFF2-40B4-BE49-F238E27FC236}">
                <a16:creationId xmlns:a16="http://schemas.microsoft.com/office/drawing/2014/main" id="{34862060-1594-4CB7-984E-C8D0B3EFC073}"/>
              </a:ext>
            </a:extLst>
          </p:cNvPr>
          <p:cNvCxnSpPr/>
          <p:nvPr/>
        </p:nvCxnSpPr>
        <p:spPr>
          <a:xfrm>
            <a:off x="3980776" y="5595187"/>
            <a:ext cx="0" cy="1060986"/>
          </a:xfrm>
          <a:prstGeom prst="line">
            <a:avLst/>
          </a:prstGeom>
          <a:ln w="1905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85" name="직선 연결선 84">
            <a:extLst>
              <a:ext uri="{FF2B5EF4-FFF2-40B4-BE49-F238E27FC236}">
                <a16:creationId xmlns:a16="http://schemas.microsoft.com/office/drawing/2014/main" id="{7391C2A6-41EA-495E-8471-1CE2DBA39E2C}"/>
              </a:ext>
            </a:extLst>
          </p:cNvPr>
          <p:cNvCxnSpPr/>
          <p:nvPr/>
        </p:nvCxnSpPr>
        <p:spPr>
          <a:xfrm>
            <a:off x="1762484" y="5595187"/>
            <a:ext cx="0" cy="1060986"/>
          </a:xfrm>
          <a:prstGeom prst="line">
            <a:avLst/>
          </a:prstGeom>
          <a:ln w="57150">
            <a:solidFill>
              <a:schemeClr val="tx1"/>
            </a:solidFill>
            <a:prstDash val="solid"/>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86" name="직선 연결선 85">
            <a:extLst>
              <a:ext uri="{FF2B5EF4-FFF2-40B4-BE49-F238E27FC236}">
                <a16:creationId xmlns:a16="http://schemas.microsoft.com/office/drawing/2014/main" id="{7EF0FD3B-B52C-46AA-A3D1-8AE633D67C20}"/>
              </a:ext>
            </a:extLst>
          </p:cNvPr>
          <p:cNvCxnSpPr/>
          <p:nvPr/>
        </p:nvCxnSpPr>
        <p:spPr>
          <a:xfrm>
            <a:off x="8264106" y="5595187"/>
            <a:ext cx="0" cy="1060986"/>
          </a:xfrm>
          <a:prstGeom prst="line">
            <a:avLst/>
          </a:prstGeom>
          <a:ln w="57150">
            <a:solidFill>
              <a:schemeClr val="tx1"/>
            </a:solidFill>
            <a:prstDash val="solid"/>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87" name="직선 연결선 86">
            <a:extLst>
              <a:ext uri="{FF2B5EF4-FFF2-40B4-BE49-F238E27FC236}">
                <a16:creationId xmlns:a16="http://schemas.microsoft.com/office/drawing/2014/main" id="{247DDEA4-F117-4DE9-9B16-8FD57EFDA4E6}"/>
              </a:ext>
            </a:extLst>
          </p:cNvPr>
          <p:cNvCxnSpPr/>
          <p:nvPr/>
        </p:nvCxnSpPr>
        <p:spPr>
          <a:xfrm>
            <a:off x="7065034" y="5595187"/>
            <a:ext cx="0" cy="1060986"/>
          </a:xfrm>
          <a:prstGeom prst="line">
            <a:avLst/>
          </a:prstGeom>
          <a:ln w="1905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88" name="직선 연결선 87">
            <a:extLst>
              <a:ext uri="{FF2B5EF4-FFF2-40B4-BE49-F238E27FC236}">
                <a16:creationId xmlns:a16="http://schemas.microsoft.com/office/drawing/2014/main" id="{ECD422C8-308A-4969-A875-20A1BB5FFB5F}"/>
              </a:ext>
            </a:extLst>
          </p:cNvPr>
          <p:cNvCxnSpPr/>
          <p:nvPr/>
        </p:nvCxnSpPr>
        <p:spPr>
          <a:xfrm>
            <a:off x="11125192" y="5595187"/>
            <a:ext cx="0" cy="1060986"/>
          </a:xfrm>
          <a:prstGeom prst="line">
            <a:avLst/>
          </a:prstGeom>
          <a:ln w="1905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89" name="직선 연결선 88">
            <a:extLst>
              <a:ext uri="{FF2B5EF4-FFF2-40B4-BE49-F238E27FC236}">
                <a16:creationId xmlns:a16="http://schemas.microsoft.com/office/drawing/2014/main" id="{3CEB35AD-8ABC-4DE1-BD87-5B69D00DA9AB}"/>
              </a:ext>
            </a:extLst>
          </p:cNvPr>
          <p:cNvCxnSpPr/>
          <p:nvPr/>
        </p:nvCxnSpPr>
        <p:spPr>
          <a:xfrm>
            <a:off x="6096000" y="5595187"/>
            <a:ext cx="0" cy="1060986"/>
          </a:xfrm>
          <a:prstGeom prst="line">
            <a:avLst/>
          </a:prstGeom>
          <a:ln w="19050">
            <a:solidFill>
              <a:schemeClr val="bg1">
                <a:lumMod val="50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81" name="사각형: 둥근 모서리 80">
            <a:extLst>
              <a:ext uri="{FF2B5EF4-FFF2-40B4-BE49-F238E27FC236}">
                <a16:creationId xmlns:a16="http://schemas.microsoft.com/office/drawing/2014/main" id="{182E634F-21EA-43C4-A8C5-0E6548BBB424}"/>
              </a:ext>
            </a:extLst>
          </p:cNvPr>
          <p:cNvSpPr/>
          <p:nvPr/>
        </p:nvSpPr>
        <p:spPr>
          <a:xfrm>
            <a:off x="1822781" y="6280029"/>
            <a:ext cx="6388436" cy="440485"/>
          </a:xfrm>
          <a:prstGeom prst="roundRect">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rgbClr val="FF0000"/>
                </a:solidFill>
              </a:rPr>
              <a:t>특허발명의 실시에 대하여 합리적으로 받을 수 있는 금액</a:t>
            </a:r>
            <a:endParaRPr lang="en-US" altLang="ko-KR" sz="1100" dirty="0">
              <a:solidFill>
                <a:srgbClr val="FF0000"/>
              </a:solidFill>
            </a:endParaRPr>
          </a:p>
          <a:p>
            <a:pPr algn="ctr"/>
            <a:r>
              <a:rPr lang="en-US" altLang="ko-KR" sz="800" b="0" i="0" dirty="0">
                <a:solidFill>
                  <a:srgbClr val="333333"/>
                </a:solidFill>
                <a:effectLst/>
                <a:latin typeface="Rix모던고딕 L" panose="02020603020101020101" pitchFamily="18" charset="-127"/>
              </a:rPr>
              <a:t>(</a:t>
            </a:r>
            <a:r>
              <a:rPr lang="ko-KR" altLang="en-US" sz="800" b="0" i="0" dirty="0">
                <a:solidFill>
                  <a:srgbClr val="333333"/>
                </a:solidFill>
                <a:effectLst/>
                <a:latin typeface="Rix모던고딕 L" panose="02020603020101020101" pitchFamily="18" charset="-127"/>
              </a:rPr>
              <a:t>그 물건의 양도수량 중 특허권자 또는 </a:t>
            </a:r>
            <a:r>
              <a:rPr lang="ko-KR" altLang="en-US" sz="800" b="0" i="0" dirty="0" err="1">
                <a:solidFill>
                  <a:srgbClr val="333333"/>
                </a:solidFill>
                <a:effectLst/>
                <a:latin typeface="Rix모던고딕 L" panose="02020603020101020101" pitchFamily="18" charset="-127"/>
              </a:rPr>
              <a:t>전용실시권자가</a:t>
            </a:r>
            <a:r>
              <a:rPr lang="ko-KR" altLang="en-US" sz="800" b="0" i="0" dirty="0">
                <a:solidFill>
                  <a:srgbClr val="333333"/>
                </a:solidFill>
                <a:effectLst/>
                <a:latin typeface="Rix모던고딕 L" panose="02020603020101020101" pitchFamily="18" charset="-127"/>
              </a:rPr>
              <a:t> 생산할 수 있었던 물건의 수량에서 실제 판매한 물건의 수량을 뺀 수량을 넘는 수량</a:t>
            </a:r>
            <a:r>
              <a:rPr lang="en-US" altLang="ko-KR" sz="800" b="0" i="0" dirty="0">
                <a:solidFill>
                  <a:srgbClr val="333333"/>
                </a:solidFill>
                <a:effectLst/>
                <a:latin typeface="Rix모던고딕 L" panose="02020603020101020101" pitchFamily="18" charset="-127"/>
              </a:rPr>
              <a:t>(</a:t>
            </a:r>
            <a:r>
              <a:rPr lang="ko-KR" altLang="en-US" sz="800" b="0" i="0" dirty="0" err="1">
                <a:solidFill>
                  <a:srgbClr val="333333"/>
                </a:solidFill>
                <a:effectLst/>
                <a:latin typeface="Rix모던고딕 L" panose="02020603020101020101" pitchFamily="18" charset="-127"/>
              </a:rPr>
              <a:t>실시권</a:t>
            </a:r>
            <a:r>
              <a:rPr lang="ko-KR" altLang="en-US" sz="800" b="0" i="0" dirty="0">
                <a:solidFill>
                  <a:srgbClr val="333333"/>
                </a:solidFill>
                <a:effectLst/>
                <a:latin typeface="Rix모던고딕 L" panose="02020603020101020101" pitchFamily="18" charset="-127"/>
              </a:rPr>
              <a:t> 설정</a:t>
            </a:r>
            <a:r>
              <a:rPr lang="en-US" altLang="ko-KR" sz="800" b="0" i="0" dirty="0">
                <a:solidFill>
                  <a:srgbClr val="333333"/>
                </a:solidFill>
                <a:effectLst/>
                <a:latin typeface="Rix모던고딕 L" panose="02020603020101020101" pitchFamily="18" charset="-127"/>
              </a:rPr>
              <a:t>/</a:t>
            </a:r>
            <a:r>
              <a:rPr lang="ko-KR" altLang="en-US" sz="800" b="0" i="0" dirty="0">
                <a:solidFill>
                  <a:srgbClr val="333333"/>
                </a:solidFill>
                <a:effectLst/>
                <a:latin typeface="Rix모던고딕 L" panose="02020603020101020101" pitchFamily="18" charset="-127"/>
              </a:rPr>
              <a:t>허락 불가 </a:t>
            </a:r>
            <a:r>
              <a:rPr lang="ko-KR" altLang="en-US" sz="800" dirty="0">
                <a:solidFill>
                  <a:srgbClr val="333333"/>
                </a:solidFill>
                <a:latin typeface="Rix모던고딕 L" panose="02020603020101020101" pitchFamily="18" charset="-127"/>
              </a:rPr>
              <a:t>수량 </a:t>
            </a:r>
            <a:r>
              <a:rPr lang="ko-KR" altLang="en-US" sz="800" b="0" i="0" dirty="0">
                <a:solidFill>
                  <a:srgbClr val="333333"/>
                </a:solidFill>
                <a:effectLst/>
                <a:latin typeface="Rix모던고딕 L" panose="02020603020101020101" pitchFamily="18" charset="-127"/>
              </a:rPr>
              <a:t>제외</a:t>
            </a:r>
            <a:r>
              <a:rPr lang="en-US" altLang="ko-KR" sz="800" b="0" i="0" dirty="0">
                <a:solidFill>
                  <a:srgbClr val="333333"/>
                </a:solidFill>
                <a:effectLst/>
                <a:latin typeface="Rix모던고딕 L" panose="02020603020101020101" pitchFamily="18" charset="-127"/>
              </a:rPr>
              <a:t>))</a:t>
            </a:r>
            <a:endParaRPr lang="en-US" altLang="ko-KR" sz="1100" dirty="0">
              <a:solidFill>
                <a:srgbClr val="FF0000"/>
              </a:solidFill>
            </a:endParaRPr>
          </a:p>
        </p:txBody>
      </p:sp>
      <p:sp>
        <p:nvSpPr>
          <p:cNvPr id="82" name="사각형: 둥근 모서리 81">
            <a:extLst>
              <a:ext uri="{FF2B5EF4-FFF2-40B4-BE49-F238E27FC236}">
                <a16:creationId xmlns:a16="http://schemas.microsoft.com/office/drawing/2014/main" id="{7685C4A4-5BA0-445B-8E99-6F5BC399826B}"/>
              </a:ext>
            </a:extLst>
          </p:cNvPr>
          <p:cNvSpPr/>
          <p:nvPr/>
        </p:nvSpPr>
        <p:spPr>
          <a:xfrm>
            <a:off x="1822781" y="5982132"/>
            <a:ext cx="9236281" cy="247511"/>
          </a:xfrm>
          <a:prstGeom prst="roundRect">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bg2">
                    <a:lumMod val="10000"/>
                  </a:schemeClr>
                </a:solidFill>
              </a:rPr>
              <a:t>특허권자 생산능력 범위 초과</a:t>
            </a:r>
          </a:p>
        </p:txBody>
      </p:sp>
      <p:sp>
        <p:nvSpPr>
          <p:cNvPr id="83" name="사각형: 둥근 모서리 82">
            <a:extLst>
              <a:ext uri="{FF2B5EF4-FFF2-40B4-BE49-F238E27FC236}">
                <a16:creationId xmlns:a16="http://schemas.microsoft.com/office/drawing/2014/main" id="{42D8773E-AFF8-45EE-8C4A-7B5FB6B030BD}"/>
              </a:ext>
            </a:extLst>
          </p:cNvPr>
          <p:cNvSpPr/>
          <p:nvPr/>
        </p:nvSpPr>
        <p:spPr>
          <a:xfrm>
            <a:off x="5145271" y="5446832"/>
            <a:ext cx="2344014" cy="274890"/>
          </a:xfrm>
          <a:prstGeom prst="roundRect">
            <a:avLst>
              <a:gd name="adj" fmla="val 27611"/>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100" dirty="0">
                <a:solidFill>
                  <a:sysClr val="windowText" lastClr="000000"/>
                </a:solidFill>
              </a:rPr>
              <a:t>침해자의 양도수량</a:t>
            </a:r>
          </a:p>
        </p:txBody>
      </p:sp>
      <p:sp>
        <p:nvSpPr>
          <p:cNvPr id="57" name="사각형: 둥근 모서리 56">
            <a:extLst>
              <a:ext uri="{FF2B5EF4-FFF2-40B4-BE49-F238E27FC236}">
                <a16:creationId xmlns:a16="http://schemas.microsoft.com/office/drawing/2014/main" id="{64A88147-FF30-4C3E-B70E-EBB85BBADFF9}"/>
              </a:ext>
            </a:extLst>
          </p:cNvPr>
          <p:cNvSpPr/>
          <p:nvPr/>
        </p:nvSpPr>
        <p:spPr>
          <a:xfrm>
            <a:off x="2373975" y="3331726"/>
            <a:ext cx="3267700" cy="204603"/>
          </a:xfrm>
          <a:prstGeom prst="roundRect">
            <a:avLst>
              <a:gd name="adj" fmla="val 27611"/>
            </a:avLst>
          </a:prstGeom>
          <a:solidFill>
            <a:schemeClr val="accent3">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100" dirty="0">
                <a:solidFill>
                  <a:sysClr val="windowText" lastClr="000000"/>
                </a:solidFill>
              </a:rPr>
              <a:t>특허권자가 생산할 수 있었던 물건의 수량</a:t>
            </a:r>
          </a:p>
        </p:txBody>
      </p:sp>
      <p:sp>
        <p:nvSpPr>
          <p:cNvPr id="35" name="사각형: 둥근 모서리 34">
            <a:extLst>
              <a:ext uri="{FF2B5EF4-FFF2-40B4-BE49-F238E27FC236}">
                <a16:creationId xmlns:a16="http://schemas.microsoft.com/office/drawing/2014/main" id="{82074E1A-6E72-4F99-9602-D89FCDD8FE6C}"/>
              </a:ext>
            </a:extLst>
          </p:cNvPr>
          <p:cNvSpPr/>
          <p:nvPr/>
        </p:nvSpPr>
        <p:spPr>
          <a:xfrm>
            <a:off x="8591908" y="3842218"/>
            <a:ext cx="2123788" cy="204290"/>
          </a:xfrm>
          <a:prstGeom prst="roundRect">
            <a:avLst>
              <a:gd name="adj" fmla="val 27611"/>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100" dirty="0" err="1">
                <a:solidFill>
                  <a:sysClr val="windowText" lastClr="000000"/>
                </a:solidFill>
              </a:rPr>
              <a:t>실시권</a:t>
            </a:r>
            <a:r>
              <a:rPr lang="ko-KR" altLang="en-US" sz="1100" dirty="0">
                <a:solidFill>
                  <a:sysClr val="windowText" lastClr="000000"/>
                </a:solidFill>
              </a:rPr>
              <a:t> 설정</a:t>
            </a:r>
            <a:r>
              <a:rPr lang="en-US" altLang="ko-KR" sz="1100" dirty="0">
                <a:solidFill>
                  <a:sysClr val="windowText" lastClr="000000"/>
                </a:solidFill>
              </a:rPr>
              <a:t>/</a:t>
            </a:r>
            <a:r>
              <a:rPr lang="ko-KR" altLang="en-US" sz="1100" dirty="0">
                <a:solidFill>
                  <a:sysClr val="windowText" lastClr="000000"/>
                </a:solidFill>
              </a:rPr>
              <a:t>허락 불가 수량</a:t>
            </a:r>
          </a:p>
        </p:txBody>
      </p:sp>
      <p:sp>
        <p:nvSpPr>
          <p:cNvPr id="80" name="사각형: 둥근 모서리 79">
            <a:extLst>
              <a:ext uri="{FF2B5EF4-FFF2-40B4-BE49-F238E27FC236}">
                <a16:creationId xmlns:a16="http://schemas.microsoft.com/office/drawing/2014/main" id="{7DD4091B-CF43-48A5-8DE0-0FB2251EC127}"/>
              </a:ext>
            </a:extLst>
          </p:cNvPr>
          <p:cNvSpPr/>
          <p:nvPr/>
        </p:nvSpPr>
        <p:spPr>
          <a:xfrm>
            <a:off x="8591908" y="1680291"/>
            <a:ext cx="2123788" cy="204290"/>
          </a:xfrm>
          <a:prstGeom prst="roundRect">
            <a:avLst>
              <a:gd name="adj" fmla="val 27611"/>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100" dirty="0" err="1">
                <a:solidFill>
                  <a:sysClr val="windowText" lastClr="000000"/>
                </a:solidFill>
              </a:rPr>
              <a:t>실시권</a:t>
            </a:r>
            <a:r>
              <a:rPr lang="ko-KR" altLang="en-US" sz="1100" dirty="0">
                <a:solidFill>
                  <a:sysClr val="windowText" lastClr="000000"/>
                </a:solidFill>
              </a:rPr>
              <a:t> 설정</a:t>
            </a:r>
            <a:r>
              <a:rPr lang="en-US" altLang="ko-KR" sz="1100" dirty="0">
                <a:solidFill>
                  <a:sysClr val="windowText" lastClr="000000"/>
                </a:solidFill>
              </a:rPr>
              <a:t>/</a:t>
            </a:r>
            <a:r>
              <a:rPr lang="ko-KR" altLang="en-US" sz="1100" dirty="0">
                <a:solidFill>
                  <a:sysClr val="windowText" lastClr="000000"/>
                </a:solidFill>
              </a:rPr>
              <a:t>허락 불가 수량</a:t>
            </a:r>
          </a:p>
        </p:txBody>
      </p:sp>
      <p:sp>
        <p:nvSpPr>
          <p:cNvPr id="92" name="사각형: 둥근 모서리 91">
            <a:extLst>
              <a:ext uri="{FF2B5EF4-FFF2-40B4-BE49-F238E27FC236}">
                <a16:creationId xmlns:a16="http://schemas.microsoft.com/office/drawing/2014/main" id="{83F32297-BEA6-453C-A781-00E3AB90C5E3}"/>
              </a:ext>
            </a:extLst>
          </p:cNvPr>
          <p:cNvSpPr/>
          <p:nvPr/>
        </p:nvSpPr>
        <p:spPr>
          <a:xfrm>
            <a:off x="8591908" y="5727458"/>
            <a:ext cx="2123788" cy="204290"/>
          </a:xfrm>
          <a:prstGeom prst="roundRect">
            <a:avLst>
              <a:gd name="adj" fmla="val 27611"/>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100" dirty="0" err="1">
                <a:solidFill>
                  <a:sysClr val="windowText" lastClr="000000"/>
                </a:solidFill>
              </a:rPr>
              <a:t>실시권</a:t>
            </a:r>
            <a:r>
              <a:rPr lang="ko-KR" altLang="en-US" sz="1100" dirty="0">
                <a:solidFill>
                  <a:sysClr val="windowText" lastClr="000000"/>
                </a:solidFill>
              </a:rPr>
              <a:t> 설정</a:t>
            </a:r>
            <a:r>
              <a:rPr lang="en-US" altLang="ko-KR" sz="1100" dirty="0">
                <a:solidFill>
                  <a:sysClr val="windowText" lastClr="000000"/>
                </a:solidFill>
              </a:rPr>
              <a:t>/</a:t>
            </a:r>
            <a:r>
              <a:rPr lang="ko-KR" altLang="en-US" sz="1100" dirty="0">
                <a:solidFill>
                  <a:sysClr val="windowText" lastClr="000000"/>
                </a:solidFill>
              </a:rPr>
              <a:t>허락 불가 수량</a:t>
            </a:r>
          </a:p>
        </p:txBody>
      </p:sp>
      <p:sp>
        <p:nvSpPr>
          <p:cNvPr id="6" name="직사각형 5">
            <a:extLst>
              <a:ext uri="{FF2B5EF4-FFF2-40B4-BE49-F238E27FC236}">
                <a16:creationId xmlns:a16="http://schemas.microsoft.com/office/drawing/2014/main" id="{676699B0-8A3E-461E-9433-F68DF91DAD0F}"/>
              </a:ext>
            </a:extLst>
          </p:cNvPr>
          <p:cNvSpPr/>
          <p:nvPr/>
        </p:nvSpPr>
        <p:spPr>
          <a:xfrm>
            <a:off x="6845963" y="1528560"/>
            <a:ext cx="438142" cy="421808"/>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t>인정</a:t>
            </a:r>
            <a:endParaRPr lang="en-US" altLang="ko-KR" sz="1100" dirty="0"/>
          </a:p>
          <a:p>
            <a:pPr algn="ctr"/>
            <a:r>
              <a:rPr lang="ko-KR" altLang="en-US" sz="1100" dirty="0"/>
              <a:t>수량</a:t>
            </a:r>
          </a:p>
        </p:txBody>
      </p:sp>
      <p:sp>
        <p:nvSpPr>
          <p:cNvPr id="96" name="직사각형 95">
            <a:extLst>
              <a:ext uri="{FF2B5EF4-FFF2-40B4-BE49-F238E27FC236}">
                <a16:creationId xmlns:a16="http://schemas.microsoft.com/office/drawing/2014/main" id="{06F45ADE-2743-40CC-B709-780084A8D4F8}"/>
              </a:ext>
            </a:extLst>
          </p:cNvPr>
          <p:cNvSpPr/>
          <p:nvPr/>
        </p:nvSpPr>
        <p:spPr>
          <a:xfrm>
            <a:off x="3407873" y="3766351"/>
            <a:ext cx="438142" cy="421808"/>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t>인정</a:t>
            </a:r>
            <a:endParaRPr lang="en-US" altLang="ko-KR" sz="1100" dirty="0"/>
          </a:p>
          <a:p>
            <a:pPr algn="ctr"/>
            <a:r>
              <a:rPr lang="ko-KR" altLang="en-US" sz="1100" dirty="0"/>
              <a:t>수량</a:t>
            </a:r>
          </a:p>
        </p:txBody>
      </p:sp>
      <p:sp>
        <p:nvSpPr>
          <p:cNvPr id="97" name="직사각형 96">
            <a:extLst>
              <a:ext uri="{FF2B5EF4-FFF2-40B4-BE49-F238E27FC236}">
                <a16:creationId xmlns:a16="http://schemas.microsoft.com/office/drawing/2014/main" id="{7FBA0510-248C-4590-B8CD-BE55AB8BE301}"/>
              </a:ext>
            </a:extLst>
          </p:cNvPr>
          <p:cNvSpPr/>
          <p:nvPr/>
        </p:nvSpPr>
        <p:spPr>
          <a:xfrm>
            <a:off x="5787147" y="3775798"/>
            <a:ext cx="595898" cy="421808"/>
          </a:xfrm>
          <a:prstGeom prst="rect">
            <a:avLst/>
          </a:prstGeom>
          <a:solidFill>
            <a:schemeClr val="tx1">
              <a:lumMod val="75000"/>
              <a:lumOff val="2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chemeClr val="bg1"/>
                </a:solidFill>
              </a:rPr>
              <a:t>생산능력</a:t>
            </a:r>
            <a:endParaRPr lang="en-US" altLang="ko-KR" sz="1100" dirty="0">
              <a:solidFill>
                <a:schemeClr val="bg1"/>
              </a:solidFill>
            </a:endParaRPr>
          </a:p>
          <a:p>
            <a:pPr algn="ctr"/>
            <a:r>
              <a:rPr lang="ko-KR" altLang="en-US" sz="1100" dirty="0">
                <a:solidFill>
                  <a:schemeClr val="bg1"/>
                </a:solidFill>
              </a:rPr>
              <a:t>범위수량</a:t>
            </a:r>
          </a:p>
        </p:txBody>
      </p:sp>
      <p:sp>
        <p:nvSpPr>
          <p:cNvPr id="98" name="직사각형 97">
            <a:extLst>
              <a:ext uri="{FF2B5EF4-FFF2-40B4-BE49-F238E27FC236}">
                <a16:creationId xmlns:a16="http://schemas.microsoft.com/office/drawing/2014/main" id="{93B20883-8B22-4CC0-89F1-3CE6612F37E2}"/>
              </a:ext>
            </a:extLst>
          </p:cNvPr>
          <p:cNvSpPr/>
          <p:nvPr/>
        </p:nvSpPr>
        <p:spPr>
          <a:xfrm>
            <a:off x="3663248" y="1765830"/>
            <a:ext cx="606830" cy="421808"/>
          </a:xfrm>
          <a:prstGeom prst="rect">
            <a:avLst/>
          </a:prstGeom>
          <a:solidFill>
            <a:schemeClr val="tx1">
              <a:lumMod val="75000"/>
              <a:lumOff val="2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chemeClr val="bg1"/>
                </a:solidFill>
              </a:rPr>
              <a:t>생산능력</a:t>
            </a:r>
            <a:endParaRPr lang="en-US" altLang="ko-KR" sz="1100" dirty="0">
              <a:solidFill>
                <a:schemeClr val="bg1"/>
              </a:solidFill>
            </a:endParaRPr>
          </a:p>
          <a:p>
            <a:pPr algn="ctr"/>
            <a:r>
              <a:rPr lang="ko-KR" altLang="en-US" sz="1100" dirty="0">
                <a:solidFill>
                  <a:schemeClr val="bg1"/>
                </a:solidFill>
              </a:rPr>
              <a:t>범위수량</a:t>
            </a:r>
          </a:p>
        </p:txBody>
      </p:sp>
      <p:sp>
        <p:nvSpPr>
          <p:cNvPr id="99" name="직사각형 98">
            <a:extLst>
              <a:ext uri="{FF2B5EF4-FFF2-40B4-BE49-F238E27FC236}">
                <a16:creationId xmlns:a16="http://schemas.microsoft.com/office/drawing/2014/main" id="{79D32990-5DBE-4FEC-A82C-9EA5C8221A7C}"/>
              </a:ext>
            </a:extLst>
          </p:cNvPr>
          <p:cNvSpPr/>
          <p:nvPr/>
        </p:nvSpPr>
        <p:spPr>
          <a:xfrm>
            <a:off x="10906121" y="6279150"/>
            <a:ext cx="438142" cy="421808"/>
          </a:xfrm>
          <a:prstGeom prst="rect">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t>인정</a:t>
            </a:r>
            <a:endParaRPr lang="en-US" altLang="ko-KR" sz="1100" dirty="0"/>
          </a:p>
          <a:p>
            <a:pPr algn="ctr"/>
            <a:r>
              <a:rPr lang="ko-KR" altLang="en-US" sz="1100" dirty="0"/>
              <a:t>수량</a:t>
            </a:r>
          </a:p>
        </p:txBody>
      </p:sp>
      <p:sp>
        <p:nvSpPr>
          <p:cNvPr id="100" name="직사각형 99">
            <a:extLst>
              <a:ext uri="{FF2B5EF4-FFF2-40B4-BE49-F238E27FC236}">
                <a16:creationId xmlns:a16="http://schemas.microsoft.com/office/drawing/2014/main" id="{24A8B721-E9AC-4987-9626-C957C1EA78DD}"/>
              </a:ext>
            </a:extLst>
          </p:cNvPr>
          <p:cNvSpPr/>
          <p:nvPr/>
        </p:nvSpPr>
        <p:spPr>
          <a:xfrm>
            <a:off x="7837962" y="2595124"/>
            <a:ext cx="1170761" cy="2534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rgbClr val="FF0000"/>
                </a:solidFill>
              </a:rPr>
              <a:t>제</a:t>
            </a:r>
            <a:r>
              <a:rPr lang="en-US" altLang="ko-KR" sz="1100" dirty="0">
                <a:solidFill>
                  <a:srgbClr val="FF0000"/>
                </a:solidFill>
              </a:rPr>
              <a:t>128</a:t>
            </a:r>
            <a:r>
              <a:rPr lang="ko-KR" altLang="en-US" sz="1100" dirty="0">
                <a:solidFill>
                  <a:srgbClr val="FF0000"/>
                </a:solidFill>
              </a:rPr>
              <a:t>조제</a:t>
            </a:r>
            <a:r>
              <a:rPr lang="en-US" altLang="ko-KR" sz="1100" dirty="0">
                <a:solidFill>
                  <a:srgbClr val="FF0000"/>
                </a:solidFill>
              </a:rPr>
              <a:t>2</a:t>
            </a:r>
            <a:r>
              <a:rPr lang="ko-KR" altLang="en-US" sz="1100" dirty="0" err="1">
                <a:solidFill>
                  <a:srgbClr val="FF0000"/>
                </a:solidFill>
              </a:rPr>
              <a:t>항제</a:t>
            </a:r>
            <a:r>
              <a:rPr lang="en-US" altLang="ko-KR" sz="1100" dirty="0">
                <a:solidFill>
                  <a:srgbClr val="FF0000"/>
                </a:solidFill>
              </a:rPr>
              <a:t>2</a:t>
            </a:r>
            <a:r>
              <a:rPr lang="ko-KR" altLang="en-US" sz="1100" dirty="0">
                <a:solidFill>
                  <a:srgbClr val="FF0000"/>
                </a:solidFill>
              </a:rPr>
              <a:t>호</a:t>
            </a:r>
          </a:p>
        </p:txBody>
      </p:sp>
      <p:sp>
        <p:nvSpPr>
          <p:cNvPr id="101" name="직사각형 100">
            <a:extLst>
              <a:ext uri="{FF2B5EF4-FFF2-40B4-BE49-F238E27FC236}">
                <a16:creationId xmlns:a16="http://schemas.microsoft.com/office/drawing/2014/main" id="{50F00E3C-97A8-4988-9FA0-F470569BDB74}"/>
              </a:ext>
            </a:extLst>
          </p:cNvPr>
          <p:cNvSpPr/>
          <p:nvPr/>
        </p:nvSpPr>
        <p:spPr>
          <a:xfrm>
            <a:off x="2234703" y="2700654"/>
            <a:ext cx="1170761" cy="2534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rgbClr val="FF0000"/>
                </a:solidFill>
              </a:rPr>
              <a:t>제</a:t>
            </a:r>
            <a:r>
              <a:rPr lang="en-US" altLang="ko-KR" sz="1100" dirty="0">
                <a:solidFill>
                  <a:srgbClr val="FF0000"/>
                </a:solidFill>
              </a:rPr>
              <a:t>128</a:t>
            </a:r>
            <a:r>
              <a:rPr lang="ko-KR" altLang="en-US" sz="1100" dirty="0">
                <a:solidFill>
                  <a:srgbClr val="FF0000"/>
                </a:solidFill>
              </a:rPr>
              <a:t>조제</a:t>
            </a:r>
            <a:r>
              <a:rPr lang="en-US" altLang="ko-KR" sz="1100" dirty="0">
                <a:solidFill>
                  <a:srgbClr val="FF0000"/>
                </a:solidFill>
              </a:rPr>
              <a:t>2</a:t>
            </a:r>
            <a:r>
              <a:rPr lang="ko-KR" altLang="en-US" sz="1100" dirty="0" err="1">
                <a:solidFill>
                  <a:srgbClr val="FF0000"/>
                </a:solidFill>
              </a:rPr>
              <a:t>항제</a:t>
            </a:r>
            <a:r>
              <a:rPr lang="en-US" altLang="ko-KR" sz="1100" dirty="0">
                <a:solidFill>
                  <a:srgbClr val="FF0000"/>
                </a:solidFill>
              </a:rPr>
              <a:t>1</a:t>
            </a:r>
            <a:r>
              <a:rPr lang="ko-KR" altLang="en-US" sz="1100" dirty="0">
                <a:solidFill>
                  <a:srgbClr val="FF0000"/>
                </a:solidFill>
              </a:rPr>
              <a:t>호</a:t>
            </a:r>
          </a:p>
        </p:txBody>
      </p:sp>
      <p:sp>
        <p:nvSpPr>
          <p:cNvPr id="102" name="직사각형 101">
            <a:extLst>
              <a:ext uri="{FF2B5EF4-FFF2-40B4-BE49-F238E27FC236}">
                <a16:creationId xmlns:a16="http://schemas.microsoft.com/office/drawing/2014/main" id="{35744495-11B9-43DB-878E-74A15745E171}"/>
              </a:ext>
            </a:extLst>
          </p:cNvPr>
          <p:cNvSpPr/>
          <p:nvPr/>
        </p:nvSpPr>
        <p:spPr>
          <a:xfrm>
            <a:off x="7337729" y="5004169"/>
            <a:ext cx="1170761" cy="2534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rgbClr val="FF0000"/>
                </a:solidFill>
              </a:rPr>
              <a:t>제</a:t>
            </a:r>
            <a:r>
              <a:rPr lang="en-US" altLang="ko-KR" sz="1100" dirty="0">
                <a:solidFill>
                  <a:srgbClr val="FF0000"/>
                </a:solidFill>
              </a:rPr>
              <a:t>128</a:t>
            </a:r>
            <a:r>
              <a:rPr lang="ko-KR" altLang="en-US" sz="1100" dirty="0">
                <a:solidFill>
                  <a:srgbClr val="FF0000"/>
                </a:solidFill>
              </a:rPr>
              <a:t>조제</a:t>
            </a:r>
            <a:r>
              <a:rPr lang="en-US" altLang="ko-KR" sz="1100" dirty="0">
                <a:solidFill>
                  <a:srgbClr val="FF0000"/>
                </a:solidFill>
              </a:rPr>
              <a:t>2</a:t>
            </a:r>
            <a:r>
              <a:rPr lang="ko-KR" altLang="en-US" sz="1100" dirty="0" err="1">
                <a:solidFill>
                  <a:srgbClr val="FF0000"/>
                </a:solidFill>
              </a:rPr>
              <a:t>항제</a:t>
            </a:r>
            <a:r>
              <a:rPr lang="en-US" altLang="ko-KR" sz="1100" dirty="0">
                <a:solidFill>
                  <a:srgbClr val="FF0000"/>
                </a:solidFill>
              </a:rPr>
              <a:t>2</a:t>
            </a:r>
            <a:r>
              <a:rPr lang="ko-KR" altLang="en-US" sz="1100" dirty="0">
                <a:solidFill>
                  <a:srgbClr val="FF0000"/>
                </a:solidFill>
              </a:rPr>
              <a:t>호</a:t>
            </a:r>
          </a:p>
        </p:txBody>
      </p:sp>
      <p:sp>
        <p:nvSpPr>
          <p:cNvPr id="103" name="직사각형 102">
            <a:extLst>
              <a:ext uri="{FF2B5EF4-FFF2-40B4-BE49-F238E27FC236}">
                <a16:creationId xmlns:a16="http://schemas.microsoft.com/office/drawing/2014/main" id="{102969D7-8612-43FB-A784-1378050570F0}"/>
              </a:ext>
            </a:extLst>
          </p:cNvPr>
          <p:cNvSpPr/>
          <p:nvPr/>
        </p:nvSpPr>
        <p:spPr>
          <a:xfrm>
            <a:off x="2034214" y="5044278"/>
            <a:ext cx="1170761" cy="2534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rgbClr val="FF0000"/>
                </a:solidFill>
              </a:rPr>
              <a:t>제</a:t>
            </a:r>
            <a:r>
              <a:rPr lang="en-US" altLang="ko-KR" sz="1100" dirty="0">
                <a:solidFill>
                  <a:srgbClr val="FF0000"/>
                </a:solidFill>
              </a:rPr>
              <a:t>128</a:t>
            </a:r>
            <a:r>
              <a:rPr lang="ko-KR" altLang="en-US" sz="1100" dirty="0">
                <a:solidFill>
                  <a:srgbClr val="FF0000"/>
                </a:solidFill>
              </a:rPr>
              <a:t>조제</a:t>
            </a:r>
            <a:r>
              <a:rPr lang="en-US" altLang="ko-KR" sz="1100" dirty="0">
                <a:solidFill>
                  <a:srgbClr val="FF0000"/>
                </a:solidFill>
              </a:rPr>
              <a:t>2</a:t>
            </a:r>
            <a:r>
              <a:rPr lang="ko-KR" altLang="en-US" sz="1100" dirty="0" err="1">
                <a:solidFill>
                  <a:srgbClr val="FF0000"/>
                </a:solidFill>
              </a:rPr>
              <a:t>항제</a:t>
            </a:r>
            <a:r>
              <a:rPr lang="en-US" altLang="ko-KR" sz="1100" dirty="0">
                <a:solidFill>
                  <a:srgbClr val="FF0000"/>
                </a:solidFill>
              </a:rPr>
              <a:t>1</a:t>
            </a:r>
            <a:r>
              <a:rPr lang="ko-KR" altLang="en-US" sz="1100" dirty="0">
                <a:solidFill>
                  <a:srgbClr val="FF0000"/>
                </a:solidFill>
              </a:rPr>
              <a:t>호</a:t>
            </a:r>
          </a:p>
        </p:txBody>
      </p:sp>
      <p:sp>
        <p:nvSpPr>
          <p:cNvPr id="104" name="직사각형 103">
            <a:extLst>
              <a:ext uri="{FF2B5EF4-FFF2-40B4-BE49-F238E27FC236}">
                <a16:creationId xmlns:a16="http://schemas.microsoft.com/office/drawing/2014/main" id="{D5235482-E432-4889-A4F6-1EC4FA133D30}"/>
              </a:ext>
            </a:extLst>
          </p:cNvPr>
          <p:cNvSpPr/>
          <p:nvPr/>
        </p:nvSpPr>
        <p:spPr>
          <a:xfrm>
            <a:off x="7734352" y="6535495"/>
            <a:ext cx="1170761" cy="2534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rgbClr val="FF0000"/>
                </a:solidFill>
              </a:rPr>
              <a:t>제</a:t>
            </a:r>
            <a:r>
              <a:rPr lang="en-US" altLang="ko-KR" sz="1100" dirty="0">
                <a:solidFill>
                  <a:srgbClr val="FF0000"/>
                </a:solidFill>
              </a:rPr>
              <a:t>128</a:t>
            </a:r>
            <a:r>
              <a:rPr lang="ko-KR" altLang="en-US" sz="1100" dirty="0">
                <a:solidFill>
                  <a:srgbClr val="FF0000"/>
                </a:solidFill>
              </a:rPr>
              <a:t>조제</a:t>
            </a:r>
            <a:r>
              <a:rPr lang="en-US" altLang="ko-KR" sz="1100" dirty="0">
                <a:solidFill>
                  <a:srgbClr val="FF0000"/>
                </a:solidFill>
              </a:rPr>
              <a:t>2</a:t>
            </a:r>
            <a:r>
              <a:rPr lang="ko-KR" altLang="en-US" sz="1100" dirty="0" err="1">
                <a:solidFill>
                  <a:srgbClr val="FF0000"/>
                </a:solidFill>
              </a:rPr>
              <a:t>항제</a:t>
            </a:r>
            <a:r>
              <a:rPr lang="en-US" altLang="ko-KR" sz="1100" dirty="0">
                <a:solidFill>
                  <a:srgbClr val="FF0000"/>
                </a:solidFill>
              </a:rPr>
              <a:t>2</a:t>
            </a:r>
            <a:r>
              <a:rPr lang="ko-KR" altLang="en-US" sz="1100" dirty="0">
                <a:solidFill>
                  <a:srgbClr val="FF0000"/>
                </a:solidFill>
              </a:rPr>
              <a:t>호</a:t>
            </a:r>
            <a:endParaRPr lang="en-US" altLang="ko-KR" sz="1100" dirty="0">
              <a:solidFill>
                <a:srgbClr val="FF0000"/>
              </a:solidFill>
            </a:endParaRPr>
          </a:p>
          <a:p>
            <a:pPr algn="ctr"/>
            <a:r>
              <a:rPr lang="en-US" altLang="ko-KR" sz="1100" dirty="0">
                <a:solidFill>
                  <a:srgbClr val="FF0000"/>
                </a:solidFill>
              </a:rPr>
              <a:t>(</a:t>
            </a:r>
            <a:r>
              <a:rPr lang="ko-KR" altLang="en-US" sz="1100" dirty="0">
                <a:solidFill>
                  <a:srgbClr val="FF0000"/>
                </a:solidFill>
              </a:rPr>
              <a:t>제</a:t>
            </a:r>
            <a:r>
              <a:rPr lang="en-US" altLang="ko-KR" sz="1100" dirty="0">
                <a:solidFill>
                  <a:srgbClr val="FF0000"/>
                </a:solidFill>
              </a:rPr>
              <a:t>128</a:t>
            </a:r>
            <a:r>
              <a:rPr lang="ko-KR" altLang="en-US" sz="1100" dirty="0">
                <a:solidFill>
                  <a:srgbClr val="FF0000"/>
                </a:solidFill>
              </a:rPr>
              <a:t>조제</a:t>
            </a:r>
            <a:r>
              <a:rPr lang="en-US" altLang="ko-KR" sz="1100" dirty="0">
                <a:solidFill>
                  <a:srgbClr val="FF0000"/>
                </a:solidFill>
              </a:rPr>
              <a:t>5</a:t>
            </a:r>
            <a:r>
              <a:rPr lang="ko-KR" altLang="en-US" sz="1100" dirty="0">
                <a:solidFill>
                  <a:srgbClr val="FF0000"/>
                </a:solidFill>
              </a:rPr>
              <a:t>항</a:t>
            </a:r>
            <a:r>
              <a:rPr lang="en-US" altLang="ko-KR" sz="1100" dirty="0">
                <a:solidFill>
                  <a:srgbClr val="FF0000"/>
                </a:solidFill>
              </a:rPr>
              <a:t>)</a:t>
            </a:r>
            <a:endParaRPr lang="ko-KR" altLang="en-US" sz="1100" dirty="0">
              <a:solidFill>
                <a:srgbClr val="FF0000"/>
              </a:solidFill>
            </a:endParaRPr>
          </a:p>
        </p:txBody>
      </p:sp>
      <p:sp>
        <p:nvSpPr>
          <p:cNvPr id="8" name="말풍선: 모서리가 둥근 사각형 7">
            <a:extLst>
              <a:ext uri="{FF2B5EF4-FFF2-40B4-BE49-F238E27FC236}">
                <a16:creationId xmlns:a16="http://schemas.microsoft.com/office/drawing/2014/main" id="{F017C184-306A-4520-9093-AD7F36FB239D}"/>
              </a:ext>
            </a:extLst>
          </p:cNvPr>
          <p:cNvSpPr/>
          <p:nvPr/>
        </p:nvSpPr>
        <p:spPr>
          <a:xfrm>
            <a:off x="7690843" y="730014"/>
            <a:ext cx="3633164" cy="241468"/>
          </a:xfrm>
          <a:prstGeom prst="wedgeRoundRectCallout">
            <a:avLst>
              <a:gd name="adj1" fmla="val -63005"/>
              <a:gd name="adj2" fmla="val 291645"/>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양도수량</a:t>
            </a:r>
            <a:r>
              <a:rPr lang="en-US" altLang="ko-KR" sz="1050" dirty="0">
                <a:solidFill>
                  <a:schemeClr val="tx1"/>
                </a:solidFill>
              </a:rPr>
              <a:t>-</a:t>
            </a:r>
            <a:r>
              <a:rPr lang="ko-KR" altLang="en-US" sz="1050" dirty="0">
                <a:solidFill>
                  <a:schemeClr val="tx1"/>
                </a:solidFill>
              </a:rPr>
              <a:t>침해외의 사유로 판매불가수량</a:t>
            </a:r>
          </a:p>
        </p:txBody>
      </p:sp>
      <p:sp>
        <p:nvSpPr>
          <p:cNvPr id="105" name="말풍선: 모서리가 둥근 사각형 104">
            <a:extLst>
              <a:ext uri="{FF2B5EF4-FFF2-40B4-BE49-F238E27FC236}">
                <a16:creationId xmlns:a16="http://schemas.microsoft.com/office/drawing/2014/main" id="{22884E30-6172-4C9D-BCBF-250531A9F7FF}"/>
              </a:ext>
            </a:extLst>
          </p:cNvPr>
          <p:cNvSpPr/>
          <p:nvPr/>
        </p:nvSpPr>
        <p:spPr>
          <a:xfrm>
            <a:off x="3017428" y="739911"/>
            <a:ext cx="1898469" cy="277786"/>
          </a:xfrm>
          <a:prstGeom prst="wedgeRoundRectCallout">
            <a:avLst>
              <a:gd name="adj1" fmla="val -7531"/>
              <a:gd name="adj2" fmla="val 304130"/>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a:solidFill>
                  <a:schemeClr val="tx1"/>
                </a:solidFill>
              </a:rPr>
              <a:t>생산가능수량</a:t>
            </a:r>
            <a:r>
              <a:rPr lang="en-US" altLang="ko-KR" sz="1050" dirty="0">
                <a:solidFill>
                  <a:schemeClr val="tx1"/>
                </a:solidFill>
              </a:rPr>
              <a:t>-</a:t>
            </a:r>
            <a:r>
              <a:rPr lang="ko-KR" altLang="en-US" sz="1050" dirty="0">
                <a:solidFill>
                  <a:schemeClr val="tx1"/>
                </a:solidFill>
              </a:rPr>
              <a:t>실제판매수량</a:t>
            </a:r>
          </a:p>
        </p:txBody>
      </p:sp>
    </p:spTree>
    <p:extLst>
      <p:ext uri="{BB962C8B-B14F-4D97-AF65-F5344CB8AC3E}">
        <p14:creationId xmlns:p14="http://schemas.microsoft.com/office/powerpoint/2010/main" val="239857886"/>
      </p:ext>
    </p:extLst>
  </p:cSld>
  <p:clrMapOvr>
    <a:masterClrMapping/>
  </p:clrMapOvr>
  <p:transition/>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2" name="사각형: 둥근 모서리 1071">
            <a:extLst>
              <a:ext uri="{FF2B5EF4-FFF2-40B4-BE49-F238E27FC236}">
                <a16:creationId xmlns:a16="http://schemas.microsoft.com/office/drawing/2014/main" id="{F9171262-FDCC-4E06-9E42-D20DD172C132}"/>
              </a:ext>
            </a:extLst>
          </p:cNvPr>
          <p:cNvSpPr/>
          <p:nvPr/>
        </p:nvSpPr>
        <p:spPr>
          <a:xfrm>
            <a:off x="439947" y="995437"/>
            <a:ext cx="5911963" cy="2726825"/>
          </a:xfrm>
          <a:prstGeom prst="roundRect">
            <a:avLst>
              <a:gd name="adj" fmla="val 7809"/>
            </a:avLst>
          </a:prstGeom>
          <a:noFill/>
          <a:ln w="285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슬라이드 번호 개체 틀 1"/>
          <p:cNvSpPr>
            <a:spLocks noGrp="1"/>
          </p:cNvSpPr>
          <p:nvPr>
            <p:ph type="sldNum" sz="quarter" idx="12"/>
          </p:nvPr>
        </p:nvSpPr>
        <p:spPr/>
        <p:txBody>
          <a:bodyPr/>
          <a:lstStyle/>
          <a:p>
            <a:r>
              <a:rPr lang="en-US" altLang="ko-KR"/>
              <a:t>386</a:t>
            </a:r>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solidFill>
                  <a:srgbClr val="525252"/>
                </a:solidFill>
              </a:rPr>
              <a:t>비밀유지명령제도</a:t>
            </a:r>
          </a:p>
        </p:txBody>
      </p:sp>
      <p:sp>
        <p:nvSpPr>
          <p:cNvPr id="5" name="Rectangle 2">
            <a:extLst>
              <a:ext uri="{FF2B5EF4-FFF2-40B4-BE49-F238E27FC236}">
                <a16:creationId xmlns:a16="http://schemas.microsoft.com/office/drawing/2014/main" id="{DE84B2DC-111D-477A-8506-7F61B68A3BF6}"/>
              </a:ext>
            </a:extLst>
          </p:cNvPr>
          <p:cNvSpPr>
            <a:spLocks noChangeArrowheads="1"/>
          </p:cNvSpPr>
          <p:nvPr/>
        </p:nvSpPr>
        <p:spPr bwMode="auto">
          <a:xfrm>
            <a:off x="0" y="0"/>
            <a:ext cx="12192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ko-KR" altLang="en-US"/>
          </a:p>
        </p:txBody>
      </p:sp>
      <p:sp>
        <p:nvSpPr>
          <p:cNvPr id="6" name="사각형: 둥근 모서리 5">
            <a:extLst>
              <a:ext uri="{FF2B5EF4-FFF2-40B4-BE49-F238E27FC236}">
                <a16:creationId xmlns:a16="http://schemas.microsoft.com/office/drawing/2014/main" id="{5F8E976B-A1E7-4814-82ED-64D6CB37302C}"/>
              </a:ext>
            </a:extLst>
          </p:cNvPr>
          <p:cNvSpPr/>
          <p:nvPr/>
        </p:nvSpPr>
        <p:spPr>
          <a:xfrm>
            <a:off x="2786328" y="1112798"/>
            <a:ext cx="1302589" cy="353683"/>
          </a:xfrm>
          <a:prstGeom prst="roundRect">
            <a:avLst>
              <a:gd name="adj" fmla="val 50000"/>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비밀유지명령 </a:t>
            </a:r>
            <a:endParaRPr lang="en-US" altLang="ko-KR" sz="1100" dirty="0">
              <a:solidFill>
                <a:schemeClr val="tx1"/>
              </a:solidFill>
            </a:endParaRPr>
          </a:p>
          <a:p>
            <a:pPr algn="ctr"/>
            <a:r>
              <a:rPr lang="ko-KR" altLang="en-US" sz="1100" dirty="0">
                <a:solidFill>
                  <a:schemeClr val="tx1"/>
                </a:solidFill>
              </a:rPr>
              <a:t>신청 및 소명</a:t>
            </a:r>
          </a:p>
        </p:txBody>
      </p:sp>
      <p:sp>
        <p:nvSpPr>
          <p:cNvPr id="294" name="사각형: 둥근 모서리 293">
            <a:extLst>
              <a:ext uri="{FF2B5EF4-FFF2-40B4-BE49-F238E27FC236}">
                <a16:creationId xmlns:a16="http://schemas.microsoft.com/office/drawing/2014/main" id="{6CD0EB25-1DFF-4C3E-92F3-DD8F1081AFF2}"/>
              </a:ext>
            </a:extLst>
          </p:cNvPr>
          <p:cNvSpPr/>
          <p:nvPr/>
        </p:nvSpPr>
        <p:spPr>
          <a:xfrm>
            <a:off x="879890" y="1647636"/>
            <a:ext cx="1181820" cy="353683"/>
          </a:xfrm>
          <a:prstGeom prst="roundRect">
            <a:avLst>
              <a:gd name="adj" fmla="val 0"/>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비밀유지명령</a:t>
            </a:r>
            <a:endParaRPr lang="en-US" altLang="ko-KR" sz="1100" dirty="0">
              <a:solidFill>
                <a:schemeClr val="tx1"/>
              </a:solidFill>
            </a:endParaRPr>
          </a:p>
          <a:p>
            <a:pPr algn="ctr"/>
            <a:r>
              <a:rPr lang="ko-KR" altLang="en-US" sz="1100" dirty="0">
                <a:solidFill>
                  <a:schemeClr val="tx1"/>
                </a:solidFill>
              </a:rPr>
              <a:t>결정</a:t>
            </a:r>
            <a:r>
              <a:rPr lang="en-US" altLang="ko-KR" sz="1100" dirty="0">
                <a:solidFill>
                  <a:schemeClr val="tx1"/>
                </a:solidFill>
              </a:rPr>
              <a:t>(</a:t>
            </a:r>
            <a:r>
              <a:rPr lang="ko-KR" altLang="en-US" sz="1100" dirty="0">
                <a:solidFill>
                  <a:schemeClr val="tx1"/>
                </a:solidFill>
              </a:rPr>
              <a:t>인용</a:t>
            </a:r>
            <a:r>
              <a:rPr lang="en-US" altLang="ko-KR" sz="1100" dirty="0">
                <a:solidFill>
                  <a:schemeClr val="tx1"/>
                </a:solidFill>
              </a:rPr>
              <a:t>)</a:t>
            </a:r>
            <a:endParaRPr lang="ko-KR" altLang="en-US" sz="1100" dirty="0">
              <a:solidFill>
                <a:schemeClr val="tx1"/>
              </a:solidFill>
            </a:endParaRPr>
          </a:p>
        </p:txBody>
      </p:sp>
      <p:sp>
        <p:nvSpPr>
          <p:cNvPr id="333" name="사각형: 둥근 모서리 332">
            <a:extLst>
              <a:ext uri="{FF2B5EF4-FFF2-40B4-BE49-F238E27FC236}">
                <a16:creationId xmlns:a16="http://schemas.microsoft.com/office/drawing/2014/main" id="{FD5F70BB-853E-4810-8220-7EB5A16A947C}"/>
              </a:ext>
            </a:extLst>
          </p:cNvPr>
          <p:cNvSpPr/>
          <p:nvPr/>
        </p:nvSpPr>
        <p:spPr>
          <a:xfrm>
            <a:off x="6823488" y="5848698"/>
            <a:ext cx="1181821" cy="353683"/>
          </a:xfrm>
          <a:prstGeom prst="roundRect">
            <a:avLst>
              <a:gd name="adj" fmla="val 50000"/>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비밀유지명령 </a:t>
            </a:r>
            <a:endParaRPr lang="en-US" altLang="ko-KR" sz="1100" dirty="0">
              <a:solidFill>
                <a:schemeClr val="tx1"/>
              </a:solidFill>
            </a:endParaRPr>
          </a:p>
          <a:p>
            <a:pPr algn="ctr"/>
            <a:r>
              <a:rPr lang="ko-KR" altLang="en-US" sz="1100" dirty="0">
                <a:solidFill>
                  <a:schemeClr val="tx1"/>
                </a:solidFill>
              </a:rPr>
              <a:t>신청 및 소명</a:t>
            </a:r>
          </a:p>
        </p:txBody>
      </p:sp>
      <p:sp>
        <p:nvSpPr>
          <p:cNvPr id="338" name="다이아몬드 337">
            <a:extLst>
              <a:ext uri="{FF2B5EF4-FFF2-40B4-BE49-F238E27FC236}">
                <a16:creationId xmlns:a16="http://schemas.microsoft.com/office/drawing/2014/main" id="{E702BD65-D02B-4602-8C2A-9ED810D82193}"/>
              </a:ext>
            </a:extLst>
          </p:cNvPr>
          <p:cNvSpPr/>
          <p:nvPr/>
        </p:nvSpPr>
        <p:spPr>
          <a:xfrm>
            <a:off x="2639678" y="1651955"/>
            <a:ext cx="1595890" cy="353683"/>
          </a:xfrm>
          <a:prstGeom prst="diamond">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chemeClr val="tx1"/>
                </a:solidFill>
              </a:rPr>
              <a:t>비밀유지명령 </a:t>
            </a:r>
            <a:endParaRPr lang="en-US" altLang="ko-KR" sz="1100" dirty="0">
              <a:solidFill>
                <a:schemeClr val="tx1"/>
              </a:solidFill>
            </a:endParaRPr>
          </a:p>
          <a:p>
            <a:pPr algn="ctr"/>
            <a:r>
              <a:rPr lang="ko-KR" altLang="en-US" sz="1100" dirty="0">
                <a:solidFill>
                  <a:schemeClr val="tx1"/>
                </a:solidFill>
              </a:rPr>
              <a:t>여부</a:t>
            </a:r>
          </a:p>
        </p:txBody>
      </p:sp>
      <p:sp>
        <p:nvSpPr>
          <p:cNvPr id="340" name="사각형: 둥근 모서리 339">
            <a:extLst>
              <a:ext uri="{FF2B5EF4-FFF2-40B4-BE49-F238E27FC236}">
                <a16:creationId xmlns:a16="http://schemas.microsoft.com/office/drawing/2014/main" id="{63996AEE-93D5-40A5-8E9E-25E41D3EAB71}"/>
              </a:ext>
            </a:extLst>
          </p:cNvPr>
          <p:cNvSpPr/>
          <p:nvPr/>
        </p:nvSpPr>
        <p:spPr>
          <a:xfrm>
            <a:off x="879890" y="2191144"/>
            <a:ext cx="1181820" cy="353683"/>
          </a:xfrm>
          <a:prstGeom prst="roundRect">
            <a:avLst>
              <a:gd name="adj" fmla="val 0"/>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송달</a:t>
            </a:r>
            <a:r>
              <a:rPr lang="en-US" altLang="ko-KR" sz="1100" dirty="0">
                <a:solidFill>
                  <a:schemeClr val="tx1"/>
                </a:solidFill>
              </a:rPr>
              <a:t>(</a:t>
            </a:r>
            <a:r>
              <a:rPr lang="ko-KR" altLang="en-US" sz="1100" dirty="0">
                <a:solidFill>
                  <a:schemeClr val="tx1"/>
                </a:solidFill>
              </a:rPr>
              <a:t>효력발생</a:t>
            </a:r>
            <a:r>
              <a:rPr lang="en-US" altLang="ko-KR" sz="1100" dirty="0">
                <a:solidFill>
                  <a:schemeClr val="tx1"/>
                </a:solidFill>
              </a:rPr>
              <a:t>)</a:t>
            </a:r>
            <a:endParaRPr lang="ko-KR" altLang="en-US" sz="1100" dirty="0">
              <a:solidFill>
                <a:schemeClr val="tx1"/>
              </a:solidFill>
            </a:endParaRPr>
          </a:p>
        </p:txBody>
      </p:sp>
      <p:sp>
        <p:nvSpPr>
          <p:cNvPr id="341" name="사각형: 둥근 모서리 340">
            <a:extLst>
              <a:ext uri="{FF2B5EF4-FFF2-40B4-BE49-F238E27FC236}">
                <a16:creationId xmlns:a16="http://schemas.microsoft.com/office/drawing/2014/main" id="{C47F4A91-80B0-42CB-92AF-1790BD2ED909}"/>
              </a:ext>
            </a:extLst>
          </p:cNvPr>
          <p:cNvSpPr/>
          <p:nvPr/>
        </p:nvSpPr>
        <p:spPr>
          <a:xfrm>
            <a:off x="2846712" y="2191144"/>
            <a:ext cx="1181820" cy="353683"/>
          </a:xfrm>
          <a:prstGeom prst="roundRect">
            <a:avLst>
              <a:gd name="adj" fmla="val 0"/>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기각</a:t>
            </a:r>
            <a:r>
              <a:rPr lang="en-US" altLang="ko-KR" sz="1100" dirty="0">
                <a:solidFill>
                  <a:schemeClr val="tx1"/>
                </a:solidFill>
              </a:rPr>
              <a:t>/</a:t>
            </a:r>
            <a:r>
              <a:rPr lang="ko-KR" altLang="en-US" sz="1100" dirty="0">
                <a:solidFill>
                  <a:schemeClr val="tx1"/>
                </a:solidFill>
              </a:rPr>
              <a:t>각하</a:t>
            </a:r>
          </a:p>
        </p:txBody>
      </p:sp>
      <p:sp>
        <p:nvSpPr>
          <p:cNvPr id="342" name="사각형: 둥근 모서리 341">
            <a:extLst>
              <a:ext uri="{FF2B5EF4-FFF2-40B4-BE49-F238E27FC236}">
                <a16:creationId xmlns:a16="http://schemas.microsoft.com/office/drawing/2014/main" id="{C403573D-8DFF-4875-B0E6-AD8B517BEE43}"/>
              </a:ext>
            </a:extLst>
          </p:cNvPr>
          <p:cNvSpPr/>
          <p:nvPr/>
        </p:nvSpPr>
        <p:spPr>
          <a:xfrm>
            <a:off x="4813534" y="2191144"/>
            <a:ext cx="1181820" cy="353683"/>
          </a:xfrm>
          <a:prstGeom prst="roundRect">
            <a:avLst>
              <a:gd name="adj" fmla="val 0"/>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즉시 항고</a:t>
            </a:r>
          </a:p>
        </p:txBody>
      </p:sp>
      <p:sp>
        <p:nvSpPr>
          <p:cNvPr id="343" name="다이아몬드 342">
            <a:extLst>
              <a:ext uri="{FF2B5EF4-FFF2-40B4-BE49-F238E27FC236}">
                <a16:creationId xmlns:a16="http://schemas.microsoft.com/office/drawing/2014/main" id="{8FB2AD25-6CF4-46B7-BBB9-5094936DCFA8}"/>
              </a:ext>
            </a:extLst>
          </p:cNvPr>
          <p:cNvSpPr/>
          <p:nvPr/>
        </p:nvSpPr>
        <p:spPr>
          <a:xfrm>
            <a:off x="2639678" y="2730333"/>
            <a:ext cx="1595890" cy="353683"/>
          </a:xfrm>
          <a:prstGeom prst="diamond">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a:solidFill>
                  <a:schemeClr val="tx1"/>
                </a:solidFill>
              </a:rPr>
              <a:t>신청인</a:t>
            </a:r>
            <a:endParaRPr lang="en-US" altLang="ko-KR" sz="1100" dirty="0">
              <a:solidFill>
                <a:schemeClr val="tx1"/>
              </a:solidFill>
            </a:endParaRPr>
          </a:p>
          <a:p>
            <a:pPr algn="ctr"/>
            <a:r>
              <a:rPr lang="ko-KR" altLang="en-US" sz="1100" dirty="0">
                <a:solidFill>
                  <a:schemeClr val="tx1"/>
                </a:solidFill>
              </a:rPr>
              <a:t>불복여부</a:t>
            </a:r>
          </a:p>
        </p:txBody>
      </p:sp>
      <p:sp>
        <p:nvSpPr>
          <p:cNvPr id="344" name="다이아몬드 343">
            <a:extLst>
              <a:ext uri="{FF2B5EF4-FFF2-40B4-BE49-F238E27FC236}">
                <a16:creationId xmlns:a16="http://schemas.microsoft.com/office/drawing/2014/main" id="{16EE10F8-E757-4065-AAE1-EDAB986D0CA8}"/>
              </a:ext>
            </a:extLst>
          </p:cNvPr>
          <p:cNvSpPr/>
          <p:nvPr/>
        </p:nvSpPr>
        <p:spPr>
          <a:xfrm>
            <a:off x="672855" y="2730333"/>
            <a:ext cx="1595890" cy="353683"/>
          </a:xfrm>
          <a:prstGeom prst="diamond">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err="1">
                <a:solidFill>
                  <a:schemeClr val="tx1"/>
                </a:solidFill>
              </a:rPr>
              <a:t>명령받은</a:t>
            </a:r>
            <a:r>
              <a:rPr lang="ko-KR" altLang="en-US" sz="1100" dirty="0">
                <a:solidFill>
                  <a:schemeClr val="tx1"/>
                </a:solidFill>
              </a:rPr>
              <a:t> 자</a:t>
            </a:r>
            <a:endParaRPr lang="en-US" altLang="ko-KR" sz="1100" dirty="0">
              <a:solidFill>
                <a:schemeClr val="tx1"/>
              </a:solidFill>
            </a:endParaRPr>
          </a:p>
          <a:p>
            <a:pPr algn="ctr"/>
            <a:r>
              <a:rPr lang="ko-KR" altLang="en-US" sz="1100" dirty="0">
                <a:solidFill>
                  <a:schemeClr val="tx1"/>
                </a:solidFill>
              </a:rPr>
              <a:t>불복여부</a:t>
            </a:r>
          </a:p>
        </p:txBody>
      </p:sp>
      <p:sp>
        <p:nvSpPr>
          <p:cNvPr id="345" name="다이아몬드 344">
            <a:extLst>
              <a:ext uri="{FF2B5EF4-FFF2-40B4-BE49-F238E27FC236}">
                <a16:creationId xmlns:a16="http://schemas.microsoft.com/office/drawing/2014/main" id="{C29E41DA-9A50-4FD6-9B9C-3C2BCEEF734B}"/>
              </a:ext>
            </a:extLst>
          </p:cNvPr>
          <p:cNvSpPr/>
          <p:nvPr/>
        </p:nvSpPr>
        <p:spPr>
          <a:xfrm>
            <a:off x="4606501" y="2730333"/>
            <a:ext cx="1595890" cy="353683"/>
          </a:xfrm>
          <a:prstGeom prst="diamond">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chemeClr val="tx1"/>
                </a:solidFill>
              </a:rPr>
              <a:t>대법원</a:t>
            </a:r>
            <a:endParaRPr lang="en-US" altLang="ko-KR" sz="1100" dirty="0">
              <a:solidFill>
                <a:schemeClr val="tx1"/>
              </a:solidFill>
            </a:endParaRPr>
          </a:p>
          <a:p>
            <a:pPr algn="ctr"/>
            <a:r>
              <a:rPr lang="ko-KR" altLang="en-US" sz="1100" dirty="0">
                <a:solidFill>
                  <a:schemeClr val="tx1"/>
                </a:solidFill>
              </a:rPr>
              <a:t>결정여부</a:t>
            </a:r>
          </a:p>
        </p:txBody>
      </p:sp>
      <p:sp>
        <p:nvSpPr>
          <p:cNvPr id="346" name="사각형: 둥근 모서리 345">
            <a:extLst>
              <a:ext uri="{FF2B5EF4-FFF2-40B4-BE49-F238E27FC236}">
                <a16:creationId xmlns:a16="http://schemas.microsoft.com/office/drawing/2014/main" id="{77D9D9C5-A9DD-4618-B190-3D176E7C0492}"/>
              </a:ext>
            </a:extLst>
          </p:cNvPr>
          <p:cNvSpPr/>
          <p:nvPr/>
        </p:nvSpPr>
        <p:spPr>
          <a:xfrm>
            <a:off x="2786328" y="3271652"/>
            <a:ext cx="1302589" cy="353683"/>
          </a:xfrm>
          <a:prstGeom prst="roundRect">
            <a:avLst>
              <a:gd name="adj" fmla="val 50000"/>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확정</a:t>
            </a:r>
          </a:p>
        </p:txBody>
      </p:sp>
      <p:cxnSp>
        <p:nvCxnSpPr>
          <p:cNvPr id="8" name="직선 화살표 연결선 7">
            <a:extLst>
              <a:ext uri="{FF2B5EF4-FFF2-40B4-BE49-F238E27FC236}">
                <a16:creationId xmlns:a16="http://schemas.microsoft.com/office/drawing/2014/main" id="{C6025308-FF93-49EA-8B34-5D1E12EEB90C}"/>
              </a:ext>
            </a:extLst>
          </p:cNvPr>
          <p:cNvCxnSpPr>
            <a:stCxn id="6" idx="2"/>
            <a:endCxn id="338" idx="0"/>
          </p:cNvCxnSpPr>
          <p:nvPr/>
        </p:nvCxnSpPr>
        <p:spPr>
          <a:xfrm>
            <a:off x="3437623" y="1466481"/>
            <a:ext cx="0" cy="18547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 name="직선 화살표 연결선 9">
            <a:extLst>
              <a:ext uri="{FF2B5EF4-FFF2-40B4-BE49-F238E27FC236}">
                <a16:creationId xmlns:a16="http://schemas.microsoft.com/office/drawing/2014/main" id="{B1035B70-63A0-450F-8C1C-96AAC80648F0}"/>
              </a:ext>
            </a:extLst>
          </p:cNvPr>
          <p:cNvCxnSpPr>
            <a:stCxn id="338" idx="2"/>
            <a:endCxn id="341" idx="0"/>
          </p:cNvCxnSpPr>
          <p:nvPr/>
        </p:nvCxnSpPr>
        <p:spPr>
          <a:xfrm flipH="1">
            <a:off x="3437622" y="2005638"/>
            <a:ext cx="1" cy="18550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01467BA5-F809-4BE3-BC80-68DF5C31D91F}"/>
              </a:ext>
            </a:extLst>
          </p:cNvPr>
          <p:cNvCxnSpPr>
            <a:stCxn id="338" idx="1"/>
            <a:endCxn id="294" idx="3"/>
          </p:cNvCxnSpPr>
          <p:nvPr/>
        </p:nvCxnSpPr>
        <p:spPr>
          <a:xfrm flipH="1" flipV="1">
            <a:off x="2061710" y="1824478"/>
            <a:ext cx="577968" cy="431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4" name="직선 화살표 연결선 13">
            <a:extLst>
              <a:ext uri="{FF2B5EF4-FFF2-40B4-BE49-F238E27FC236}">
                <a16:creationId xmlns:a16="http://schemas.microsoft.com/office/drawing/2014/main" id="{4B83AEB2-F39D-4BB9-AE92-C5F5E6BFEC8E}"/>
              </a:ext>
            </a:extLst>
          </p:cNvPr>
          <p:cNvCxnSpPr>
            <a:stCxn id="294" idx="2"/>
            <a:endCxn id="340" idx="0"/>
          </p:cNvCxnSpPr>
          <p:nvPr/>
        </p:nvCxnSpPr>
        <p:spPr>
          <a:xfrm>
            <a:off x="1470800" y="2001319"/>
            <a:ext cx="0" cy="18982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6" name="직선 화살표 연결선 15">
            <a:extLst>
              <a:ext uri="{FF2B5EF4-FFF2-40B4-BE49-F238E27FC236}">
                <a16:creationId xmlns:a16="http://schemas.microsoft.com/office/drawing/2014/main" id="{B61D576E-84DE-413B-81A7-5BD3DD51669E}"/>
              </a:ext>
            </a:extLst>
          </p:cNvPr>
          <p:cNvCxnSpPr>
            <a:stCxn id="340" idx="2"/>
            <a:endCxn id="344" idx="0"/>
          </p:cNvCxnSpPr>
          <p:nvPr/>
        </p:nvCxnSpPr>
        <p:spPr>
          <a:xfrm>
            <a:off x="1470800" y="2544827"/>
            <a:ext cx="0" cy="18550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직선 화살표 연결선 17">
            <a:extLst>
              <a:ext uri="{FF2B5EF4-FFF2-40B4-BE49-F238E27FC236}">
                <a16:creationId xmlns:a16="http://schemas.microsoft.com/office/drawing/2014/main" id="{D38B26E5-C05F-4BF7-A88E-46483291D351}"/>
              </a:ext>
            </a:extLst>
          </p:cNvPr>
          <p:cNvCxnSpPr>
            <a:stCxn id="341" idx="2"/>
            <a:endCxn id="343" idx="0"/>
          </p:cNvCxnSpPr>
          <p:nvPr/>
        </p:nvCxnSpPr>
        <p:spPr>
          <a:xfrm>
            <a:off x="3437622" y="2544827"/>
            <a:ext cx="1" cy="18550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 name="직선 화살표 연결선 19">
            <a:extLst>
              <a:ext uri="{FF2B5EF4-FFF2-40B4-BE49-F238E27FC236}">
                <a16:creationId xmlns:a16="http://schemas.microsoft.com/office/drawing/2014/main" id="{6D059C3D-1602-4753-92B6-2B622521EFBC}"/>
              </a:ext>
            </a:extLst>
          </p:cNvPr>
          <p:cNvCxnSpPr>
            <a:stCxn id="343" idx="2"/>
            <a:endCxn id="346" idx="0"/>
          </p:cNvCxnSpPr>
          <p:nvPr/>
        </p:nvCxnSpPr>
        <p:spPr>
          <a:xfrm>
            <a:off x="3437623" y="3084016"/>
            <a:ext cx="0" cy="18763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 name="연결선: 꺾임 21">
            <a:extLst>
              <a:ext uri="{FF2B5EF4-FFF2-40B4-BE49-F238E27FC236}">
                <a16:creationId xmlns:a16="http://schemas.microsoft.com/office/drawing/2014/main" id="{6188B417-1B02-4698-B52D-3626F678A40C}"/>
              </a:ext>
            </a:extLst>
          </p:cNvPr>
          <p:cNvCxnSpPr>
            <a:cxnSpLocks/>
            <a:stCxn id="344" idx="3"/>
            <a:endCxn id="346" idx="1"/>
          </p:cNvCxnSpPr>
          <p:nvPr/>
        </p:nvCxnSpPr>
        <p:spPr>
          <a:xfrm>
            <a:off x="2268745" y="2907175"/>
            <a:ext cx="517583" cy="541319"/>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4" name="연결선: 꺾임 23">
            <a:extLst>
              <a:ext uri="{FF2B5EF4-FFF2-40B4-BE49-F238E27FC236}">
                <a16:creationId xmlns:a16="http://schemas.microsoft.com/office/drawing/2014/main" id="{7D845BC9-967D-4FBA-B595-F117F288FF95}"/>
              </a:ext>
            </a:extLst>
          </p:cNvPr>
          <p:cNvCxnSpPr>
            <a:cxnSpLocks/>
            <a:stCxn id="345" idx="2"/>
            <a:endCxn id="346" idx="3"/>
          </p:cNvCxnSpPr>
          <p:nvPr/>
        </p:nvCxnSpPr>
        <p:spPr>
          <a:xfrm rot="5400000">
            <a:off x="4564443" y="2608491"/>
            <a:ext cx="364478" cy="1315529"/>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 name="직선 화살표 연결선 25">
            <a:extLst>
              <a:ext uri="{FF2B5EF4-FFF2-40B4-BE49-F238E27FC236}">
                <a16:creationId xmlns:a16="http://schemas.microsoft.com/office/drawing/2014/main" id="{19C1D916-F4F2-4B03-9A81-A9E585991AB6}"/>
              </a:ext>
            </a:extLst>
          </p:cNvPr>
          <p:cNvCxnSpPr>
            <a:stCxn id="345" idx="0"/>
            <a:endCxn id="342" idx="2"/>
          </p:cNvCxnSpPr>
          <p:nvPr/>
        </p:nvCxnSpPr>
        <p:spPr>
          <a:xfrm flipH="1" flipV="1">
            <a:off x="5404444" y="2544827"/>
            <a:ext cx="2" cy="18550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0" name="연결선: 꺾임 29">
            <a:extLst>
              <a:ext uri="{FF2B5EF4-FFF2-40B4-BE49-F238E27FC236}">
                <a16:creationId xmlns:a16="http://schemas.microsoft.com/office/drawing/2014/main" id="{D82A2D6E-33AD-4B84-A773-5ED8BAC615CD}"/>
              </a:ext>
            </a:extLst>
          </p:cNvPr>
          <p:cNvCxnSpPr>
            <a:stCxn id="342" idx="0"/>
            <a:endCxn id="338" idx="3"/>
          </p:cNvCxnSpPr>
          <p:nvPr/>
        </p:nvCxnSpPr>
        <p:spPr>
          <a:xfrm rot="16200000" flipV="1">
            <a:off x="4638833" y="1425533"/>
            <a:ext cx="362347" cy="1168876"/>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178A6D3F-33F3-4422-BAA5-2466768A9F46}"/>
              </a:ext>
            </a:extLst>
          </p:cNvPr>
          <p:cNvSpPr txBox="1"/>
          <p:nvPr/>
        </p:nvSpPr>
        <p:spPr>
          <a:xfrm>
            <a:off x="2195637" y="1580416"/>
            <a:ext cx="383438" cy="246221"/>
          </a:xfrm>
          <a:prstGeom prst="rect">
            <a:avLst/>
          </a:prstGeom>
          <a:noFill/>
        </p:spPr>
        <p:txBody>
          <a:bodyPr wrap="none" rtlCol="0">
            <a:spAutoFit/>
          </a:bodyPr>
          <a:lstStyle/>
          <a:p>
            <a:r>
              <a:rPr lang="en-US" altLang="ko-KR" sz="1000" dirty="0"/>
              <a:t>yes</a:t>
            </a:r>
            <a:endParaRPr lang="ko-KR" altLang="en-US" sz="1000" dirty="0"/>
          </a:p>
        </p:txBody>
      </p:sp>
      <p:sp>
        <p:nvSpPr>
          <p:cNvPr id="347" name="TextBox 346">
            <a:extLst>
              <a:ext uri="{FF2B5EF4-FFF2-40B4-BE49-F238E27FC236}">
                <a16:creationId xmlns:a16="http://schemas.microsoft.com/office/drawing/2014/main" id="{1D399A3F-7BC0-4F2F-A5D4-908715B8C77D}"/>
              </a:ext>
            </a:extLst>
          </p:cNvPr>
          <p:cNvSpPr txBox="1"/>
          <p:nvPr/>
        </p:nvSpPr>
        <p:spPr>
          <a:xfrm>
            <a:off x="3465881" y="1950281"/>
            <a:ext cx="341760" cy="246221"/>
          </a:xfrm>
          <a:prstGeom prst="rect">
            <a:avLst/>
          </a:prstGeom>
          <a:noFill/>
        </p:spPr>
        <p:txBody>
          <a:bodyPr wrap="none" rtlCol="0">
            <a:spAutoFit/>
          </a:bodyPr>
          <a:lstStyle/>
          <a:p>
            <a:r>
              <a:rPr lang="en-US" altLang="ko-KR" sz="1000" dirty="0"/>
              <a:t>no</a:t>
            </a:r>
            <a:endParaRPr lang="ko-KR" altLang="en-US" sz="1000" dirty="0"/>
          </a:p>
        </p:txBody>
      </p:sp>
      <p:sp>
        <p:nvSpPr>
          <p:cNvPr id="348" name="TextBox 347">
            <a:extLst>
              <a:ext uri="{FF2B5EF4-FFF2-40B4-BE49-F238E27FC236}">
                <a16:creationId xmlns:a16="http://schemas.microsoft.com/office/drawing/2014/main" id="{FA0413B4-7EF1-493B-9F97-9BD8A42E69D9}"/>
              </a:ext>
            </a:extLst>
          </p:cNvPr>
          <p:cNvSpPr txBox="1"/>
          <p:nvPr/>
        </p:nvSpPr>
        <p:spPr>
          <a:xfrm>
            <a:off x="2216476" y="2672082"/>
            <a:ext cx="341760" cy="246221"/>
          </a:xfrm>
          <a:prstGeom prst="rect">
            <a:avLst/>
          </a:prstGeom>
          <a:noFill/>
        </p:spPr>
        <p:txBody>
          <a:bodyPr wrap="none" rtlCol="0">
            <a:spAutoFit/>
          </a:bodyPr>
          <a:lstStyle/>
          <a:p>
            <a:r>
              <a:rPr lang="en-US" altLang="ko-KR" sz="1000" dirty="0"/>
              <a:t>no</a:t>
            </a:r>
            <a:endParaRPr lang="ko-KR" altLang="en-US" sz="1000" dirty="0"/>
          </a:p>
        </p:txBody>
      </p:sp>
      <p:sp>
        <p:nvSpPr>
          <p:cNvPr id="349" name="TextBox 348">
            <a:extLst>
              <a:ext uri="{FF2B5EF4-FFF2-40B4-BE49-F238E27FC236}">
                <a16:creationId xmlns:a16="http://schemas.microsoft.com/office/drawing/2014/main" id="{5E36AE25-2563-4583-A331-EC0DCA7F862D}"/>
              </a:ext>
            </a:extLst>
          </p:cNvPr>
          <p:cNvSpPr txBox="1"/>
          <p:nvPr/>
        </p:nvSpPr>
        <p:spPr>
          <a:xfrm>
            <a:off x="1467406" y="3177834"/>
            <a:ext cx="383438" cy="246221"/>
          </a:xfrm>
          <a:prstGeom prst="rect">
            <a:avLst/>
          </a:prstGeom>
          <a:noFill/>
        </p:spPr>
        <p:txBody>
          <a:bodyPr wrap="none" rtlCol="0">
            <a:spAutoFit/>
          </a:bodyPr>
          <a:lstStyle/>
          <a:p>
            <a:r>
              <a:rPr lang="en-US" altLang="ko-KR" sz="1000" dirty="0"/>
              <a:t>yes</a:t>
            </a:r>
            <a:endParaRPr lang="ko-KR" altLang="en-US" sz="1000" dirty="0"/>
          </a:p>
        </p:txBody>
      </p:sp>
      <p:sp>
        <p:nvSpPr>
          <p:cNvPr id="350" name="TextBox 349">
            <a:extLst>
              <a:ext uri="{FF2B5EF4-FFF2-40B4-BE49-F238E27FC236}">
                <a16:creationId xmlns:a16="http://schemas.microsoft.com/office/drawing/2014/main" id="{C0C6BFD6-4619-40FD-BCB2-BAC9EEA42939}"/>
              </a:ext>
            </a:extLst>
          </p:cNvPr>
          <p:cNvSpPr txBox="1"/>
          <p:nvPr/>
        </p:nvSpPr>
        <p:spPr>
          <a:xfrm>
            <a:off x="3437621" y="3042786"/>
            <a:ext cx="341760" cy="246221"/>
          </a:xfrm>
          <a:prstGeom prst="rect">
            <a:avLst/>
          </a:prstGeom>
          <a:noFill/>
        </p:spPr>
        <p:txBody>
          <a:bodyPr wrap="none" rtlCol="0">
            <a:spAutoFit/>
          </a:bodyPr>
          <a:lstStyle/>
          <a:p>
            <a:r>
              <a:rPr lang="en-US" altLang="ko-KR" sz="1000" dirty="0"/>
              <a:t>no</a:t>
            </a:r>
            <a:endParaRPr lang="ko-KR" altLang="en-US" sz="1000" dirty="0"/>
          </a:p>
        </p:txBody>
      </p:sp>
      <p:sp>
        <p:nvSpPr>
          <p:cNvPr id="351" name="TextBox 350">
            <a:extLst>
              <a:ext uri="{FF2B5EF4-FFF2-40B4-BE49-F238E27FC236}">
                <a16:creationId xmlns:a16="http://schemas.microsoft.com/office/drawing/2014/main" id="{4963A958-DEE3-4FEB-963D-CE39702A553D}"/>
              </a:ext>
            </a:extLst>
          </p:cNvPr>
          <p:cNvSpPr txBox="1"/>
          <p:nvPr/>
        </p:nvSpPr>
        <p:spPr>
          <a:xfrm>
            <a:off x="5404444" y="2505891"/>
            <a:ext cx="341760" cy="246221"/>
          </a:xfrm>
          <a:prstGeom prst="rect">
            <a:avLst/>
          </a:prstGeom>
          <a:noFill/>
        </p:spPr>
        <p:txBody>
          <a:bodyPr wrap="none" rtlCol="0">
            <a:spAutoFit/>
          </a:bodyPr>
          <a:lstStyle/>
          <a:p>
            <a:r>
              <a:rPr lang="en-US" altLang="ko-KR" sz="1000" dirty="0"/>
              <a:t>no</a:t>
            </a:r>
            <a:endParaRPr lang="ko-KR" altLang="en-US" sz="1000" dirty="0"/>
          </a:p>
        </p:txBody>
      </p:sp>
      <p:sp>
        <p:nvSpPr>
          <p:cNvPr id="352" name="TextBox 351">
            <a:extLst>
              <a:ext uri="{FF2B5EF4-FFF2-40B4-BE49-F238E27FC236}">
                <a16:creationId xmlns:a16="http://schemas.microsoft.com/office/drawing/2014/main" id="{54DC60DE-089F-49D9-A5CD-FDC68EBA384C}"/>
              </a:ext>
            </a:extLst>
          </p:cNvPr>
          <p:cNvSpPr txBox="1"/>
          <p:nvPr/>
        </p:nvSpPr>
        <p:spPr>
          <a:xfrm>
            <a:off x="5419980" y="3177834"/>
            <a:ext cx="383438" cy="246221"/>
          </a:xfrm>
          <a:prstGeom prst="rect">
            <a:avLst/>
          </a:prstGeom>
          <a:noFill/>
        </p:spPr>
        <p:txBody>
          <a:bodyPr wrap="none" rtlCol="0">
            <a:spAutoFit/>
          </a:bodyPr>
          <a:lstStyle/>
          <a:p>
            <a:r>
              <a:rPr lang="en-US" altLang="ko-KR" sz="1000" dirty="0"/>
              <a:t>yes</a:t>
            </a:r>
            <a:endParaRPr lang="ko-KR" altLang="en-US" sz="1000" dirty="0"/>
          </a:p>
        </p:txBody>
      </p:sp>
      <p:sp>
        <p:nvSpPr>
          <p:cNvPr id="353" name="TextBox 352">
            <a:extLst>
              <a:ext uri="{FF2B5EF4-FFF2-40B4-BE49-F238E27FC236}">
                <a16:creationId xmlns:a16="http://schemas.microsoft.com/office/drawing/2014/main" id="{F3738E34-2381-4354-A5B8-9DB682DED4F4}"/>
              </a:ext>
            </a:extLst>
          </p:cNvPr>
          <p:cNvSpPr txBox="1"/>
          <p:nvPr/>
        </p:nvSpPr>
        <p:spPr>
          <a:xfrm>
            <a:off x="4214728" y="2675391"/>
            <a:ext cx="383438" cy="246221"/>
          </a:xfrm>
          <a:prstGeom prst="rect">
            <a:avLst/>
          </a:prstGeom>
          <a:noFill/>
        </p:spPr>
        <p:txBody>
          <a:bodyPr wrap="none" rtlCol="0">
            <a:spAutoFit/>
          </a:bodyPr>
          <a:lstStyle/>
          <a:p>
            <a:r>
              <a:rPr lang="en-US" altLang="ko-KR" sz="1000" dirty="0"/>
              <a:t>yes</a:t>
            </a:r>
            <a:endParaRPr lang="ko-KR" altLang="en-US" sz="1000" dirty="0"/>
          </a:p>
        </p:txBody>
      </p:sp>
      <p:cxnSp>
        <p:nvCxnSpPr>
          <p:cNvPr id="101" name="직선 화살표 연결선 100">
            <a:extLst>
              <a:ext uri="{FF2B5EF4-FFF2-40B4-BE49-F238E27FC236}">
                <a16:creationId xmlns:a16="http://schemas.microsoft.com/office/drawing/2014/main" id="{086095EA-472F-4CD6-A2C7-28BB3F5D423A}"/>
              </a:ext>
            </a:extLst>
          </p:cNvPr>
          <p:cNvCxnSpPr>
            <a:stCxn id="343" idx="3"/>
            <a:endCxn id="345" idx="1"/>
          </p:cNvCxnSpPr>
          <p:nvPr/>
        </p:nvCxnSpPr>
        <p:spPr>
          <a:xfrm>
            <a:off x="4235568" y="2907175"/>
            <a:ext cx="370933"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54" name="사각형: 둥근 모서리 353">
            <a:extLst>
              <a:ext uri="{FF2B5EF4-FFF2-40B4-BE49-F238E27FC236}">
                <a16:creationId xmlns:a16="http://schemas.microsoft.com/office/drawing/2014/main" id="{C2BFE29B-BBEB-4A76-8E96-BCD0D17C12DA}"/>
              </a:ext>
            </a:extLst>
          </p:cNvPr>
          <p:cNvSpPr/>
          <p:nvPr/>
        </p:nvSpPr>
        <p:spPr>
          <a:xfrm>
            <a:off x="879890" y="4317468"/>
            <a:ext cx="1181820" cy="353683"/>
          </a:xfrm>
          <a:prstGeom prst="roundRect">
            <a:avLst>
              <a:gd name="adj" fmla="val 0"/>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비밀유지명령</a:t>
            </a:r>
            <a:endParaRPr lang="en-US" altLang="ko-KR" sz="1100" dirty="0">
              <a:solidFill>
                <a:schemeClr val="tx1"/>
              </a:solidFill>
            </a:endParaRPr>
          </a:p>
          <a:p>
            <a:pPr algn="ctr"/>
            <a:r>
              <a:rPr lang="ko-KR" altLang="en-US" sz="1100" dirty="0">
                <a:solidFill>
                  <a:schemeClr val="tx1"/>
                </a:solidFill>
              </a:rPr>
              <a:t>취소신청</a:t>
            </a:r>
          </a:p>
        </p:txBody>
      </p:sp>
      <p:sp>
        <p:nvSpPr>
          <p:cNvPr id="355" name="사각형: 둥근 모서리 354">
            <a:extLst>
              <a:ext uri="{FF2B5EF4-FFF2-40B4-BE49-F238E27FC236}">
                <a16:creationId xmlns:a16="http://schemas.microsoft.com/office/drawing/2014/main" id="{AF29EAAE-C330-4AC3-8CB0-06CCA2A9D6B7}"/>
              </a:ext>
            </a:extLst>
          </p:cNvPr>
          <p:cNvSpPr/>
          <p:nvPr/>
        </p:nvSpPr>
        <p:spPr>
          <a:xfrm>
            <a:off x="2846712" y="4671151"/>
            <a:ext cx="1181820" cy="353683"/>
          </a:xfrm>
          <a:prstGeom prst="roundRect">
            <a:avLst>
              <a:gd name="adj" fmla="val 0"/>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비밀유지명령</a:t>
            </a:r>
            <a:endParaRPr lang="en-US" altLang="ko-KR" sz="1100" dirty="0">
              <a:solidFill>
                <a:schemeClr val="tx1"/>
              </a:solidFill>
            </a:endParaRPr>
          </a:p>
          <a:p>
            <a:pPr algn="ctr"/>
            <a:r>
              <a:rPr lang="ko-KR" altLang="en-US" sz="1100" dirty="0">
                <a:solidFill>
                  <a:schemeClr val="tx1"/>
                </a:solidFill>
              </a:rPr>
              <a:t>취소</a:t>
            </a:r>
            <a:r>
              <a:rPr lang="en-US" altLang="ko-KR" sz="1100" dirty="0">
                <a:solidFill>
                  <a:schemeClr val="tx1"/>
                </a:solidFill>
              </a:rPr>
              <a:t>/</a:t>
            </a:r>
            <a:r>
              <a:rPr lang="ko-KR" altLang="en-US" sz="1100" dirty="0">
                <a:solidFill>
                  <a:schemeClr val="tx1"/>
                </a:solidFill>
              </a:rPr>
              <a:t>유지결정</a:t>
            </a:r>
          </a:p>
        </p:txBody>
      </p:sp>
      <p:sp>
        <p:nvSpPr>
          <p:cNvPr id="356" name="사각형: 둥근 모서리 355">
            <a:extLst>
              <a:ext uri="{FF2B5EF4-FFF2-40B4-BE49-F238E27FC236}">
                <a16:creationId xmlns:a16="http://schemas.microsoft.com/office/drawing/2014/main" id="{5D4D98E7-D789-4BA5-AB51-43B6FC2DEBA0}"/>
              </a:ext>
            </a:extLst>
          </p:cNvPr>
          <p:cNvSpPr/>
          <p:nvPr/>
        </p:nvSpPr>
        <p:spPr>
          <a:xfrm>
            <a:off x="2846712" y="5171469"/>
            <a:ext cx="1181820" cy="353683"/>
          </a:xfrm>
          <a:prstGeom prst="roundRect">
            <a:avLst>
              <a:gd name="adj" fmla="val 0"/>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신청인</a:t>
            </a:r>
            <a:r>
              <a:rPr lang="en-US" altLang="ko-KR" sz="1100" dirty="0">
                <a:solidFill>
                  <a:schemeClr val="tx1"/>
                </a:solidFill>
              </a:rPr>
              <a:t>/</a:t>
            </a:r>
            <a:r>
              <a:rPr lang="ko-KR" altLang="en-US" sz="1100" dirty="0">
                <a:solidFill>
                  <a:schemeClr val="tx1"/>
                </a:solidFill>
              </a:rPr>
              <a:t>상대방</a:t>
            </a:r>
            <a:endParaRPr lang="en-US" altLang="ko-KR" sz="1100" dirty="0">
              <a:solidFill>
                <a:schemeClr val="tx1"/>
              </a:solidFill>
            </a:endParaRPr>
          </a:p>
          <a:p>
            <a:pPr algn="ctr"/>
            <a:r>
              <a:rPr lang="ko-KR" altLang="en-US" sz="1100" dirty="0">
                <a:solidFill>
                  <a:schemeClr val="tx1"/>
                </a:solidFill>
              </a:rPr>
              <a:t>통지</a:t>
            </a:r>
            <a:endParaRPr lang="en-US" altLang="ko-KR" sz="1100" dirty="0">
              <a:solidFill>
                <a:schemeClr val="tx1"/>
              </a:solidFill>
            </a:endParaRPr>
          </a:p>
        </p:txBody>
      </p:sp>
      <p:sp>
        <p:nvSpPr>
          <p:cNvPr id="357" name="사각형: 둥근 모서리 356">
            <a:extLst>
              <a:ext uri="{FF2B5EF4-FFF2-40B4-BE49-F238E27FC236}">
                <a16:creationId xmlns:a16="http://schemas.microsoft.com/office/drawing/2014/main" id="{87EB5888-1EAA-446F-BE83-5CE9AE815698}"/>
              </a:ext>
            </a:extLst>
          </p:cNvPr>
          <p:cNvSpPr/>
          <p:nvPr/>
        </p:nvSpPr>
        <p:spPr>
          <a:xfrm>
            <a:off x="1068215" y="5171469"/>
            <a:ext cx="1181820" cy="353683"/>
          </a:xfrm>
          <a:prstGeom prst="roundRect">
            <a:avLst>
              <a:gd name="adj" fmla="val 0"/>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그 밖의 비밀유지</a:t>
            </a:r>
            <a:endParaRPr lang="en-US" altLang="ko-KR" sz="1100" dirty="0">
              <a:solidFill>
                <a:schemeClr val="tx1"/>
              </a:solidFill>
            </a:endParaRPr>
          </a:p>
          <a:p>
            <a:pPr algn="ctr"/>
            <a:r>
              <a:rPr lang="ko-KR" altLang="en-US" sz="1100" dirty="0" err="1">
                <a:solidFill>
                  <a:schemeClr val="tx1"/>
                </a:solidFill>
              </a:rPr>
              <a:t>명령받은</a:t>
            </a:r>
            <a:r>
              <a:rPr lang="ko-KR" altLang="en-US" sz="1100" dirty="0">
                <a:solidFill>
                  <a:schemeClr val="tx1"/>
                </a:solidFill>
              </a:rPr>
              <a:t> 자 통지</a:t>
            </a:r>
            <a:endParaRPr lang="en-US" altLang="ko-KR" sz="1100" dirty="0">
              <a:solidFill>
                <a:schemeClr val="tx1"/>
              </a:solidFill>
            </a:endParaRPr>
          </a:p>
        </p:txBody>
      </p:sp>
      <p:sp>
        <p:nvSpPr>
          <p:cNvPr id="358" name="다이아몬드 357">
            <a:extLst>
              <a:ext uri="{FF2B5EF4-FFF2-40B4-BE49-F238E27FC236}">
                <a16:creationId xmlns:a16="http://schemas.microsoft.com/office/drawing/2014/main" id="{89264A04-7318-4A3E-985E-F1AC91EED854}"/>
              </a:ext>
            </a:extLst>
          </p:cNvPr>
          <p:cNvSpPr/>
          <p:nvPr/>
        </p:nvSpPr>
        <p:spPr>
          <a:xfrm>
            <a:off x="2570669" y="5665499"/>
            <a:ext cx="1733908" cy="353683"/>
          </a:xfrm>
          <a:prstGeom prst="diamond">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chemeClr val="tx1"/>
                </a:solidFill>
              </a:rPr>
              <a:t>신청인</a:t>
            </a:r>
            <a:r>
              <a:rPr lang="en-US" altLang="ko-KR" sz="1100" dirty="0">
                <a:solidFill>
                  <a:schemeClr val="tx1"/>
                </a:solidFill>
              </a:rPr>
              <a:t>/</a:t>
            </a:r>
            <a:r>
              <a:rPr lang="ko-KR" altLang="en-US" sz="1100" dirty="0">
                <a:solidFill>
                  <a:schemeClr val="tx1"/>
                </a:solidFill>
              </a:rPr>
              <a:t>상대방</a:t>
            </a:r>
            <a:endParaRPr lang="en-US" altLang="ko-KR" sz="1100" dirty="0">
              <a:solidFill>
                <a:schemeClr val="tx1"/>
              </a:solidFill>
            </a:endParaRPr>
          </a:p>
          <a:p>
            <a:pPr algn="ctr"/>
            <a:r>
              <a:rPr lang="ko-KR" altLang="en-US" sz="1100" dirty="0">
                <a:solidFill>
                  <a:schemeClr val="tx1"/>
                </a:solidFill>
              </a:rPr>
              <a:t>불복여부</a:t>
            </a:r>
          </a:p>
        </p:txBody>
      </p:sp>
      <p:sp>
        <p:nvSpPr>
          <p:cNvPr id="359" name="사각형: 둥근 모서리 358">
            <a:extLst>
              <a:ext uri="{FF2B5EF4-FFF2-40B4-BE49-F238E27FC236}">
                <a16:creationId xmlns:a16="http://schemas.microsoft.com/office/drawing/2014/main" id="{9D5B430A-5BD6-41D2-A884-5BA945A0C1FE}"/>
              </a:ext>
            </a:extLst>
          </p:cNvPr>
          <p:cNvSpPr/>
          <p:nvPr/>
        </p:nvSpPr>
        <p:spPr>
          <a:xfrm>
            <a:off x="2786328" y="6179018"/>
            <a:ext cx="1302589" cy="353683"/>
          </a:xfrm>
          <a:prstGeom prst="roundRect">
            <a:avLst>
              <a:gd name="adj" fmla="val 50000"/>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확정</a:t>
            </a:r>
            <a:r>
              <a:rPr lang="en-US" altLang="ko-KR" sz="1100" dirty="0">
                <a:solidFill>
                  <a:schemeClr val="tx1"/>
                </a:solidFill>
              </a:rPr>
              <a:t>(</a:t>
            </a:r>
            <a:r>
              <a:rPr lang="ko-KR" altLang="en-US" sz="1100" dirty="0">
                <a:solidFill>
                  <a:schemeClr val="tx1"/>
                </a:solidFill>
              </a:rPr>
              <a:t>효력발생</a:t>
            </a:r>
            <a:r>
              <a:rPr lang="en-US" altLang="ko-KR" sz="1100" dirty="0">
                <a:solidFill>
                  <a:schemeClr val="tx1"/>
                </a:solidFill>
              </a:rPr>
              <a:t>)</a:t>
            </a:r>
            <a:endParaRPr lang="ko-KR" altLang="en-US" sz="1100" dirty="0">
              <a:solidFill>
                <a:schemeClr val="tx1"/>
              </a:solidFill>
            </a:endParaRPr>
          </a:p>
        </p:txBody>
      </p:sp>
      <p:sp>
        <p:nvSpPr>
          <p:cNvPr id="364" name="사각형: 둥근 모서리 363">
            <a:extLst>
              <a:ext uri="{FF2B5EF4-FFF2-40B4-BE49-F238E27FC236}">
                <a16:creationId xmlns:a16="http://schemas.microsoft.com/office/drawing/2014/main" id="{1A86B61A-0F0B-47E4-A144-131086AEF7C1}"/>
              </a:ext>
            </a:extLst>
          </p:cNvPr>
          <p:cNvSpPr/>
          <p:nvPr/>
        </p:nvSpPr>
        <p:spPr>
          <a:xfrm>
            <a:off x="4813534" y="5112409"/>
            <a:ext cx="1181820" cy="353683"/>
          </a:xfrm>
          <a:prstGeom prst="roundRect">
            <a:avLst>
              <a:gd name="adj" fmla="val 0"/>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즉시 항고</a:t>
            </a:r>
          </a:p>
        </p:txBody>
      </p:sp>
      <p:sp>
        <p:nvSpPr>
          <p:cNvPr id="365" name="다이아몬드 364">
            <a:extLst>
              <a:ext uri="{FF2B5EF4-FFF2-40B4-BE49-F238E27FC236}">
                <a16:creationId xmlns:a16="http://schemas.microsoft.com/office/drawing/2014/main" id="{BAF86E95-09F5-4A15-8B2D-1FFB8C6B9F33}"/>
              </a:ext>
            </a:extLst>
          </p:cNvPr>
          <p:cNvSpPr/>
          <p:nvPr/>
        </p:nvSpPr>
        <p:spPr>
          <a:xfrm>
            <a:off x="4606501" y="5668850"/>
            <a:ext cx="1595890" cy="353683"/>
          </a:xfrm>
          <a:prstGeom prst="diamond">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chemeClr val="tx1"/>
                </a:solidFill>
              </a:rPr>
              <a:t>대법원</a:t>
            </a:r>
            <a:endParaRPr lang="en-US" altLang="ko-KR" sz="1100" dirty="0">
              <a:solidFill>
                <a:schemeClr val="tx1"/>
              </a:solidFill>
            </a:endParaRPr>
          </a:p>
          <a:p>
            <a:pPr algn="ctr"/>
            <a:r>
              <a:rPr lang="ko-KR" altLang="en-US" sz="1100" dirty="0">
                <a:solidFill>
                  <a:schemeClr val="tx1"/>
                </a:solidFill>
              </a:rPr>
              <a:t>결정여부</a:t>
            </a:r>
          </a:p>
        </p:txBody>
      </p:sp>
      <p:cxnSp>
        <p:nvCxnSpPr>
          <p:cNvPr id="366" name="연결선: 꺾임 365">
            <a:extLst>
              <a:ext uri="{FF2B5EF4-FFF2-40B4-BE49-F238E27FC236}">
                <a16:creationId xmlns:a16="http://schemas.microsoft.com/office/drawing/2014/main" id="{6AEA8DCB-3F6B-4B55-BA79-6E149F1A4302}"/>
              </a:ext>
            </a:extLst>
          </p:cNvPr>
          <p:cNvCxnSpPr>
            <a:cxnSpLocks/>
            <a:stCxn id="365" idx="2"/>
            <a:endCxn id="359" idx="3"/>
          </p:cNvCxnSpPr>
          <p:nvPr/>
        </p:nvCxnSpPr>
        <p:spPr>
          <a:xfrm rot="5400000">
            <a:off x="4580019" y="5531432"/>
            <a:ext cx="333327" cy="1315529"/>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67" name="직선 화살표 연결선 366">
            <a:extLst>
              <a:ext uri="{FF2B5EF4-FFF2-40B4-BE49-F238E27FC236}">
                <a16:creationId xmlns:a16="http://schemas.microsoft.com/office/drawing/2014/main" id="{C7578AC5-9486-49F8-9688-92C2B39B376A}"/>
              </a:ext>
            </a:extLst>
          </p:cNvPr>
          <p:cNvCxnSpPr>
            <a:cxnSpLocks/>
            <a:stCxn id="365" idx="0"/>
            <a:endCxn id="364" idx="2"/>
          </p:cNvCxnSpPr>
          <p:nvPr/>
        </p:nvCxnSpPr>
        <p:spPr>
          <a:xfrm flipH="1" flipV="1">
            <a:off x="5404444" y="5466092"/>
            <a:ext cx="2" cy="20275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68" name="연결선: 꺾임 367">
            <a:extLst>
              <a:ext uri="{FF2B5EF4-FFF2-40B4-BE49-F238E27FC236}">
                <a16:creationId xmlns:a16="http://schemas.microsoft.com/office/drawing/2014/main" id="{D4D6D058-966C-412F-9B6F-8E8D29266079}"/>
              </a:ext>
            </a:extLst>
          </p:cNvPr>
          <p:cNvCxnSpPr>
            <a:cxnSpLocks/>
            <a:stCxn id="364" idx="0"/>
            <a:endCxn id="355" idx="3"/>
          </p:cNvCxnSpPr>
          <p:nvPr/>
        </p:nvCxnSpPr>
        <p:spPr>
          <a:xfrm rot="16200000" flipV="1">
            <a:off x="4584280" y="4292245"/>
            <a:ext cx="264416" cy="1375912"/>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69" name="TextBox 368">
            <a:extLst>
              <a:ext uri="{FF2B5EF4-FFF2-40B4-BE49-F238E27FC236}">
                <a16:creationId xmlns:a16="http://schemas.microsoft.com/office/drawing/2014/main" id="{1599FD8E-1E2F-45EB-A97D-590071E14742}"/>
              </a:ext>
            </a:extLst>
          </p:cNvPr>
          <p:cNvSpPr txBox="1"/>
          <p:nvPr/>
        </p:nvSpPr>
        <p:spPr>
          <a:xfrm>
            <a:off x="5404444" y="5453034"/>
            <a:ext cx="341760" cy="246221"/>
          </a:xfrm>
          <a:prstGeom prst="rect">
            <a:avLst/>
          </a:prstGeom>
          <a:noFill/>
        </p:spPr>
        <p:txBody>
          <a:bodyPr wrap="none" rtlCol="0">
            <a:spAutoFit/>
          </a:bodyPr>
          <a:lstStyle/>
          <a:p>
            <a:r>
              <a:rPr lang="en-US" altLang="ko-KR" sz="1000" dirty="0"/>
              <a:t>no</a:t>
            </a:r>
            <a:endParaRPr lang="ko-KR" altLang="en-US" sz="1000" dirty="0"/>
          </a:p>
        </p:txBody>
      </p:sp>
      <p:sp>
        <p:nvSpPr>
          <p:cNvPr id="370" name="TextBox 369">
            <a:extLst>
              <a:ext uri="{FF2B5EF4-FFF2-40B4-BE49-F238E27FC236}">
                <a16:creationId xmlns:a16="http://schemas.microsoft.com/office/drawing/2014/main" id="{15436224-DC85-47D9-A58F-3E503F0C1EAD}"/>
              </a:ext>
            </a:extLst>
          </p:cNvPr>
          <p:cNvSpPr txBox="1"/>
          <p:nvPr/>
        </p:nvSpPr>
        <p:spPr>
          <a:xfrm>
            <a:off x="5419980" y="6012839"/>
            <a:ext cx="383438" cy="246221"/>
          </a:xfrm>
          <a:prstGeom prst="rect">
            <a:avLst/>
          </a:prstGeom>
          <a:noFill/>
        </p:spPr>
        <p:txBody>
          <a:bodyPr wrap="none" rtlCol="0">
            <a:spAutoFit/>
          </a:bodyPr>
          <a:lstStyle/>
          <a:p>
            <a:r>
              <a:rPr lang="en-US" altLang="ko-KR" sz="1000" dirty="0"/>
              <a:t>yes</a:t>
            </a:r>
            <a:endParaRPr lang="ko-KR" altLang="en-US" sz="1000" dirty="0"/>
          </a:p>
        </p:txBody>
      </p:sp>
      <p:sp>
        <p:nvSpPr>
          <p:cNvPr id="371" name="TextBox 370">
            <a:extLst>
              <a:ext uri="{FF2B5EF4-FFF2-40B4-BE49-F238E27FC236}">
                <a16:creationId xmlns:a16="http://schemas.microsoft.com/office/drawing/2014/main" id="{6AF6B752-F7B6-4059-B9BF-D5D95B07D33F}"/>
              </a:ext>
            </a:extLst>
          </p:cNvPr>
          <p:cNvSpPr txBox="1"/>
          <p:nvPr/>
        </p:nvSpPr>
        <p:spPr>
          <a:xfrm>
            <a:off x="4214728" y="5596656"/>
            <a:ext cx="383438" cy="246221"/>
          </a:xfrm>
          <a:prstGeom prst="rect">
            <a:avLst/>
          </a:prstGeom>
          <a:noFill/>
        </p:spPr>
        <p:txBody>
          <a:bodyPr wrap="none" rtlCol="0">
            <a:spAutoFit/>
          </a:bodyPr>
          <a:lstStyle/>
          <a:p>
            <a:r>
              <a:rPr lang="en-US" altLang="ko-KR" sz="1000" dirty="0"/>
              <a:t>yes</a:t>
            </a:r>
            <a:endParaRPr lang="ko-KR" altLang="en-US" sz="1000" dirty="0"/>
          </a:p>
        </p:txBody>
      </p:sp>
      <p:cxnSp>
        <p:nvCxnSpPr>
          <p:cNvPr id="372" name="직선 화살표 연결선 371">
            <a:extLst>
              <a:ext uri="{FF2B5EF4-FFF2-40B4-BE49-F238E27FC236}">
                <a16:creationId xmlns:a16="http://schemas.microsoft.com/office/drawing/2014/main" id="{9CBC0256-B38E-4EC7-8B39-04DA0D9F132E}"/>
              </a:ext>
            </a:extLst>
          </p:cNvPr>
          <p:cNvCxnSpPr>
            <a:cxnSpLocks/>
            <a:stCxn id="358" idx="3"/>
            <a:endCxn id="365" idx="1"/>
          </p:cNvCxnSpPr>
          <p:nvPr/>
        </p:nvCxnSpPr>
        <p:spPr>
          <a:xfrm>
            <a:off x="4304577" y="5842341"/>
            <a:ext cx="301924" cy="335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8" name="연결선: 꺾임 117">
            <a:extLst>
              <a:ext uri="{FF2B5EF4-FFF2-40B4-BE49-F238E27FC236}">
                <a16:creationId xmlns:a16="http://schemas.microsoft.com/office/drawing/2014/main" id="{A18E36C9-282E-4294-A1AE-FAB9AA1C414F}"/>
              </a:ext>
            </a:extLst>
          </p:cNvPr>
          <p:cNvCxnSpPr>
            <a:stCxn id="354" idx="3"/>
            <a:endCxn id="355" idx="0"/>
          </p:cNvCxnSpPr>
          <p:nvPr/>
        </p:nvCxnSpPr>
        <p:spPr>
          <a:xfrm>
            <a:off x="2061710" y="4494310"/>
            <a:ext cx="1375912" cy="176841"/>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0" name="직선 화살표 연결선 119">
            <a:extLst>
              <a:ext uri="{FF2B5EF4-FFF2-40B4-BE49-F238E27FC236}">
                <a16:creationId xmlns:a16="http://schemas.microsoft.com/office/drawing/2014/main" id="{D3F82E41-0740-4687-BFEC-D5579EFE0032}"/>
              </a:ext>
            </a:extLst>
          </p:cNvPr>
          <p:cNvCxnSpPr>
            <a:stCxn id="355" idx="2"/>
            <a:endCxn id="356" idx="0"/>
          </p:cNvCxnSpPr>
          <p:nvPr/>
        </p:nvCxnSpPr>
        <p:spPr>
          <a:xfrm>
            <a:off x="3437622" y="5024834"/>
            <a:ext cx="0" cy="14663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2" name="직선 화살표 연결선 121">
            <a:extLst>
              <a:ext uri="{FF2B5EF4-FFF2-40B4-BE49-F238E27FC236}">
                <a16:creationId xmlns:a16="http://schemas.microsoft.com/office/drawing/2014/main" id="{85959F29-7BC2-49DD-B5FD-0D677DE473D7}"/>
              </a:ext>
            </a:extLst>
          </p:cNvPr>
          <p:cNvCxnSpPr>
            <a:stCxn id="356" idx="2"/>
            <a:endCxn id="358" idx="0"/>
          </p:cNvCxnSpPr>
          <p:nvPr/>
        </p:nvCxnSpPr>
        <p:spPr>
          <a:xfrm>
            <a:off x="3437622" y="5525152"/>
            <a:ext cx="1" cy="14034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73" name="직선 화살표 연결선 372">
            <a:extLst>
              <a:ext uri="{FF2B5EF4-FFF2-40B4-BE49-F238E27FC236}">
                <a16:creationId xmlns:a16="http://schemas.microsoft.com/office/drawing/2014/main" id="{F77FE61D-3B30-44D7-929A-68FF35C06BD3}"/>
              </a:ext>
            </a:extLst>
          </p:cNvPr>
          <p:cNvCxnSpPr>
            <a:stCxn id="358" idx="2"/>
            <a:endCxn id="359" idx="0"/>
          </p:cNvCxnSpPr>
          <p:nvPr/>
        </p:nvCxnSpPr>
        <p:spPr>
          <a:xfrm>
            <a:off x="3437623" y="6019182"/>
            <a:ext cx="0" cy="15983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75" name="연결선: 꺾임 374">
            <a:extLst>
              <a:ext uri="{FF2B5EF4-FFF2-40B4-BE49-F238E27FC236}">
                <a16:creationId xmlns:a16="http://schemas.microsoft.com/office/drawing/2014/main" id="{4FF9014B-AC43-405B-BB36-6DE135879CA1}"/>
              </a:ext>
            </a:extLst>
          </p:cNvPr>
          <p:cNvCxnSpPr>
            <a:stCxn id="355" idx="1"/>
            <a:endCxn id="357" idx="0"/>
          </p:cNvCxnSpPr>
          <p:nvPr/>
        </p:nvCxnSpPr>
        <p:spPr>
          <a:xfrm rot="10800000" flipV="1">
            <a:off x="1659126" y="4847993"/>
            <a:ext cx="1187587" cy="323476"/>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76" name="TextBox 375">
            <a:extLst>
              <a:ext uri="{FF2B5EF4-FFF2-40B4-BE49-F238E27FC236}">
                <a16:creationId xmlns:a16="http://schemas.microsoft.com/office/drawing/2014/main" id="{8431EE13-EA2B-4CDC-AAFE-86B10963DBA2}"/>
              </a:ext>
            </a:extLst>
          </p:cNvPr>
          <p:cNvSpPr txBox="1"/>
          <p:nvPr/>
        </p:nvSpPr>
        <p:spPr>
          <a:xfrm>
            <a:off x="3437621" y="5975990"/>
            <a:ext cx="341760" cy="246221"/>
          </a:xfrm>
          <a:prstGeom prst="rect">
            <a:avLst/>
          </a:prstGeom>
          <a:noFill/>
        </p:spPr>
        <p:txBody>
          <a:bodyPr wrap="none" rtlCol="0">
            <a:spAutoFit/>
          </a:bodyPr>
          <a:lstStyle/>
          <a:p>
            <a:r>
              <a:rPr lang="en-US" altLang="ko-KR" sz="1000" dirty="0"/>
              <a:t>no</a:t>
            </a:r>
            <a:endParaRPr lang="ko-KR" altLang="en-US" sz="1000" dirty="0"/>
          </a:p>
        </p:txBody>
      </p:sp>
      <p:sp>
        <p:nvSpPr>
          <p:cNvPr id="379" name="사각형: 둥근 모서리 378">
            <a:extLst>
              <a:ext uri="{FF2B5EF4-FFF2-40B4-BE49-F238E27FC236}">
                <a16:creationId xmlns:a16="http://schemas.microsoft.com/office/drawing/2014/main" id="{68DD8ACF-67D4-46D2-B826-E9571BBECC74}"/>
              </a:ext>
            </a:extLst>
          </p:cNvPr>
          <p:cNvSpPr/>
          <p:nvPr/>
        </p:nvSpPr>
        <p:spPr>
          <a:xfrm>
            <a:off x="6823489" y="1466478"/>
            <a:ext cx="1181820" cy="353683"/>
          </a:xfrm>
          <a:prstGeom prst="roundRect">
            <a:avLst>
              <a:gd name="adj" fmla="val 0"/>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소송서류열람등</a:t>
            </a:r>
            <a:endParaRPr lang="en-US" altLang="ko-KR" sz="1100" dirty="0">
              <a:solidFill>
                <a:schemeClr val="tx1"/>
              </a:solidFill>
            </a:endParaRPr>
          </a:p>
          <a:p>
            <a:pPr algn="ctr"/>
            <a:r>
              <a:rPr lang="ko-KR" altLang="en-US" sz="1100" dirty="0">
                <a:solidFill>
                  <a:schemeClr val="tx1"/>
                </a:solidFill>
              </a:rPr>
              <a:t>제한신청</a:t>
            </a:r>
          </a:p>
        </p:txBody>
      </p:sp>
      <p:sp>
        <p:nvSpPr>
          <p:cNvPr id="380" name="사각형: 둥근 모서리 379">
            <a:extLst>
              <a:ext uri="{FF2B5EF4-FFF2-40B4-BE49-F238E27FC236}">
                <a16:creationId xmlns:a16="http://schemas.microsoft.com/office/drawing/2014/main" id="{CC9E1967-1209-4967-B1D3-970E23D832DF}"/>
              </a:ext>
            </a:extLst>
          </p:cNvPr>
          <p:cNvSpPr/>
          <p:nvPr/>
        </p:nvSpPr>
        <p:spPr>
          <a:xfrm>
            <a:off x="6823489" y="1999151"/>
            <a:ext cx="1181820" cy="353683"/>
          </a:xfrm>
          <a:prstGeom prst="roundRect">
            <a:avLst>
              <a:gd name="adj" fmla="val 0"/>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소송서류열람등</a:t>
            </a:r>
            <a:endParaRPr lang="en-US" altLang="ko-KR" sz="1100" dirty="0">
              <a:solidFill>
                <a:schemeClr val="tx1"/>
              </a:solidFill>
            </a:endParaRPr>
          </a:p>
          <a:p>
            <a:pPr algn="ctr"/>
            <a:r>
              <a:rPr lang="ko-KR" altLang="en-US" sz="1100" dirty="0">
                <a:solidFill>
                  <a:schemeClr val="tx1"/>
                </a:solidFill>
              </a:rPr>
              <a:t>제한결정</a:t>
            </a:r>
          </a:p>
        </p:txBody>
      </p:sp>
      <p:sp>
        <p:nvSpPr>
          <p:cNvPr id="381" name="사각형: 둥근 모서리 380">
            <a:extLst>
              <a:ext uri="{FF2B5EF4-FFF2-40B4-BE49-F238E27FC236}">
                <a16:creationId xmlns:a16="http://schemas.microsoft.com/office/drawing/2014/main" id="{EE138FCD-5652-437B-8E7A-C802941C8860}"/>
              </a:ext>
            </a:extLst>
          </p:cNvPr>
          <p:cNvSpPr/>
          <p:nvPr/>
        </p:nvSpPr>
        <p:spPr>
          <a:xfrm>
            <a:off x="6823489" y="2618101"/>
            <a:ext cx="1181820" cy="353683"/>
          </a:xfrm>
          <a:prstGeom prst="roundRect">
            <a:avLst>
              <a:gd name="adj" fmla="val 0"/>
            </a:avLst>
          </a:prstGeom>
          <a:solidFill>
            <a:schemeClr val="accent3">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당사자 </a:t>
            </a:r>
            <a:r>
              <a:rPr lang="ko-KR" altLang="en-US" sz="1100" dirty="0" err="1">
                <a:solidFill>
                  <a:schemeClr val="tx1"/>
                </a:solidFill>
              </a:rPr>
              <a:t>열람등</a:t>
            </a:r>
            <a:endParaRPr lang="en-US" altLang="ko-KR" sz="1100" dirty="0">
              <a:solidFill>
                <a:schemeClr val="tx1"/>
              </a:solidFill>
            </a:endParaRPr>
          </a:p>
          <a:p>
            <a:pPr algn="ctr"/>
            <a:r>
              <a:rPr lang="ko-KR" altLang="en-US" sz="1100" dirty="0">
                <a:solidFill>
                  <a:schemeClr val="tx1"/>
                </a:solidFill>
              </a:rPr>
              <a:t>신청</a:t>
            </a:r>
            <a:endParaRPr lang="en-US" altLang="ko-KR" sz="1100" dirty="0">
              <a:solidFill>
                <a:schemeClr val="tx1"/>
              </a:solidFill>
            </a:endParaRPr>
          </a:p>
        </p:txBody>
      </p:sp>
      <p:sp>
        <p:nvSpPr>
          <p:cNvPr id="384" name="다이아몬드 383">
            <a:extLst>
              <a:ext uri="{FF2B5EF4-FFF2-40B4-BE49-F238E27FC236}">
                <a16:creationId xmlns:a16="http://schemas.microsoft.com/office/drawing/2014/main" id="{8505872E-FD60-46F1-9C77-DE752B61D09C}"/>
              </a:ext>
            </a:extLst>
          </p:cNvPr>
          <p:cNvSpPr/>
          <p:nvPr/>
        </p:nvSpPr>
        <p:spPr>
          <a:xfrm>
            <a:off x="6616454" y="3177834"/>
            <a:ext cx="1595890" cy="603791"/>
          </a:xfrm>
          <a:prstGeom prst="diamond">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chemeClr val="tx1"/>
                </a:solidFill>
              </a:rPr>
              <a:t>신청자</a:t>
            </a:r>
            <a:endParaRPr lang="en-US" altLang="ko-KR" sz="1100" dirty="0">
              <a:solidFill>
                <a:schemeClr val="tx1"/>
              </a:solidFill>
            </a:endParaRPr>
          </a:p>
          <a:p>
            <a:pPr algn="ctr"/>
            <a:r>
              <a:rPr lang="ko-KR" altLang="en-US" sz="1100" dirty="0">
                <a:solidFill>
                  <a:schemeClr val="tx1"/>
                </a:solidFill>
              </a:rPr>
              <a:t>비밀유지명령</a:t>
            </a:r>
            <a:endParaRPr lang="en-US" altLang="ko-KR" sz="1100" dirty="0">
              <a:solidFill>
                <a:schemeClr val="tx1"/>
              </a:solidFill>
            </a:endParaRPr>
          </a:p>
          <a:p>
            <a:pPr algn="ctr"/>
            <a:r>
              <a:rPr lang="ko-KR" altLang="en-US" sz="1100" dirty="0">
                <a:solidFill>
                  <a:schemeClr val="tx1"/>
                </a:solidFill>
              </a:rPr>
              <a:t>받은 자</a:t>
            </a:r>
          </a:p>
        </p:txBody>
      </p:sp>
      <p:sp>
        <p:nvSpPr>
          <p:cNvPr id="385" name="사각형: 둥근 모서리 384">
            <a:extLst>
              <a:ext uri="{FF2B5EF4-FFF2-40B4-BE49-F238E27FC236}">
                <a16:creationId xmlns:a16="http://schemas.microsoft.com/office/drawing/2014/main" id="{89CFC221-BAFA-406B-B626-09BB4043E43A}"/>
              </a:ext>
            </a:extLst>
          </p:cNvPr>
          <p:cNvSpPr/>
          <p:nvPr/>
        </p:nvSpPr>
        <p:spPr>
          <a:xfrm>
            <a:off x="6823489" y="3955171"/>
            <a:ext cx="1181820" cy="353683"/>
          </a:xfrm>
          <a:prstGeom prst="roundRect">
            <a:avLst>
              <a:gd name="adj" fmla="val 46341"/>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소송서류열람등</a:t>
            </a:r>
            <a:endParaRPr lang="en-US" altLang="ko-KR" sz="1100" dirty="0">
              <a:solidFill>
                <a:schemeClr val="tx1"/>
              </a:solidFill>
            </a:endParaRPr>
          </a:p>
          <a:p>
            <a:pPr algn="ctr"/>
            <a:r>
              <a:rPr lang="ko-KR" altLang="en-US" sz="1100" dirty="0">
                <a:solidFill>
                  <a:schemeClr val="tx1"/>
                </a:solidFill>
              </a:rPr>
              <a:t>실시</a:t>
            </a:r>
            <a:endParaRPr lang="en-US" altLang="ko-KR" sz="1100" dirty="0">
              <a:solidFill>
                <a:schemeClr val="tx1"/>
              </a:solidFill>
            </a:endParaRPr>
          </a:p>
        </p:txBody>
      </p:sp>
      <p:sp>
        <p:nvSpPr>
          <p:cNvPr id="386" name="다이아몬드 385">
            <a:extLst>
              <a:ext uri="{FF2B5EF4-FFF2-40B4-BE49-F238E27FC236}">
                <a16:creationId xmlns:a16="http://schemas.microsoft.com/office/drawing/2014/main" id="{8DB7808B-0E27-4100-BED0-40E748F88596}"/>
              </a:ext>
            </a:extLst>
          </p:cNvPr>
          <p:cNvSpPr/>
          <p:nvPr/>
        </p:nvSpPr>
        <p:spPr>
          <a:xfrm>
            <a:off x="8350365" y="3955171"/>
            <a:ext cx="1595890" cy="353683"/>
          </a:xfrm>
          <a:prstGeom prst="diamond">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100" dirty="0">
                <a:solidFill>
                  <a:schemeClr val="tx1"/>
                </a:solidFill>
              </a:rPr>
              <a:t>당사자 </a:t>
            </a:r>
            <a:endParaRPr lang="en-US" altLang="ko-KR" sz="1100" dirty="0">
              <a:solidFill>
                <a:schemeClr val="tx1"/>
              </a:solidFill>
            </a:endParaRPr>
          </a:p>
          <a:p>
            <a:pPr algn="ctr"/>
            <a:r>
              <a:rPr lang="ko-KR" altLang="en-US" sz="1100" dirty="0">
                <a:solidFill>
                  <a:schemeClr val="tx1"/>
                </a:solidFill>
              </a:rPr>
              <a:t>동의여부</a:t>
            </a:r>
          </a:p>
        </p:txBody>
      </p:sp>
      <p:sp>
        <p:nvSpPr>
          <p:cNvPr id="387" name="사각형: 둥근 모서리 386">
            <a:extLst>
              <a:ext uri="{FF2B5EF4-FFF2-40B4-BE49-F238E27FC236}">
                <a16:creationId xmlns:a16="http://schemas.microsoft.com/office/drawing/2014/main" id="{9E1F6198-A16D-4D53-8C67-A971D31D80B5}"/>
              </a:ext>
            </a:extLst>
          </p:cNvPr>
          <p:cNvSpPr/>
          <p:nvPr/>
        </p:nvSpPr>
        <p:spPr>
          <a:xfrm>
            <a:off x="8476888" y="3306259"/>
            <a:ext cx="1342844" cy="353683"/>
          </a:xfrm>
          <a:prstGeom prst="roundRect">
            <a:avLst>
              <a:gd name="adj" fmla="val 0"/>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서류열람제한신청</a:t>
            </a:r>
            <a:endParaRPr lang="en-US" altLang="ko-KR" sz="1100" dirty="0">
              <a:solidFill>
                <a:schemeClr val="tx1"/>
              </a:solidFill>
            </a:endParaRPr>
          </a:p>
          <a:p>
            <a:pPr algn="ctr"/>
            <a:r>
              <a:rPr lang="ko-KR" altLang="en-US" sz="1100" dirty="0">
                <a:solidFill>
                  <a:schemeClr val="tx1"/>
                </a:solidFill>
              </a:rPr>
              <a:t>당사자에게 통지</a:t>
            </a:r>
            <a:endParaRPr lang="en-US" altLang="ko-KR" sz="1100" dirty="0">
              <a:solidFill>
                <a:schemeClr val="tx1"/>
              </a:solidFill>
            </a:endParaRPr>
          </a:p>
        </p:txBody>
      </p:sp>
      <p:sp>
        <p:nvSpPr>
          <p:cNvPr id="388" name="다이아몬드 387">
            <a:extLst>
              <a:ext uri="{FF2B5EF4-FFF2-40B4-BE49-F238E27FC236}">
                <a16:creationId xmlns:a16="http://schemas.microsoft.com/office/drawing/2014/main" id="{FF0C2747-F3CB-4F25-BB64-98BC48692B68}"/>
              </a:ext>
            </a:extLst>
          </p:cNvPr>
          <p:cNvSpPr/>
          <p:nvPr/>
        </p:nvSpPr>
        <p:spPr>
          <a:xfrm>
            <a:off x="8350365" y="4485695"/>
            <a:ext cx="1595890" cy="353683"/>
          </a:xfrm>
          <a:prstGeom prst="diamond">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100" dirty="0">
                <a:solidFill>
                  <a:schemeClr val="tx1"/>
                </a:solidFill>
              </a:rPr>
              <a:t>2</a:t>
            </a:r>
            <a:r>
              <a:rPr lang="ko-KR" altLang="en-US" sz="1100" dirty="0">
                <a:solidFill>
                  <a:schemeClr val="tx1"/>
                </a:solidFill>
              </a:rPr>
              <a:t>주일경과</a:t>
            </a:r>
            <a:endParaRPr lang="en-US" altLang="ko-KR" sz="1100" dirty="0">
              <a:solidFill>
                <a:schemeClr val="tx1"/>
              </a:solidFill>
            </a:endParaRPr>
          </a:p>
          <a:p>
            <a:pPr algn="ctr"/>
            <a:r>
              <a:rPr lang="ko-KR" altLang="en-US" sz="1100" dirty="0">
                <a:solidFill>
                  <a:schemeClr val="tx1"/>
                </a:solidFill>
              </a:rPr>
              <a:t>또는 재판확정 </a:t>
            </a:r>
          </a:p>
        </p:txBody>
      </p:sp>
      <p:sp>
        <p:nvSpPr>
          <p:cNvPr id="389" name="사각형: 둥근 모서리 388">
            <a:extLst>
              <a:ext uri="{FF2B5EF4-FFF2-40B4-BE49-F238E27FC236}">
                <a16:creationId xmlns:a16="http://schemas.microsoft.com/office/drawing/2014/main" id="{790EEE6B-C78D-4B42-9B71-F614DCF76172}"/>
              </a:ext>
            </a:extLst>
          </p:cNvPr>
          <p:cNvSpPr/>
          <p:nvPr/>
        </p:nvSpPr>
        <p:spPr>
          <a:xfrm>
            <a:off x="10356024" y="4485695"/>
            <a:ext cx="1181820" cy="353683"/>
          </a:xfrm>
          <a:prstGeom prst="roundRect">
            <a:avLst>
              <a:gd name="adj" fmla="val 0"/>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소송서류열람등</a:t>
            </a:r>
            <a:endParaRPr lang="en-US" altLang="ko-KR" sz="1100" dirty="0">
              <a:solidFill>
                <a:schemeClr val="tx1"/>
              </a:solidFill>
            </a:endParaRPr>
          </a:p>
          <a:p>
            <a:pPr algn="ctr"/>
            <a:r>
              <a:rPr lang="ko-KR" altLang="en-US" sz="1100" dirty="0">
                <a:solidFill>
                  <a:schemeClr val="tx1"/>
                </a:solidFill>
              </a:rPr>
              <a:t>금지</a:t>
            </a:r>
            <a:endParaRPr lang="en-US" altLang="ko-KR" sz="1100" dirty="0">
              <a:solidFill>
                <a:schemeClr val="tx1"/>
              </a:solidFill>
            </a:endParaRPr>
          </a:p>
        </p:txBody>
      </p:sp>
      <p:sp>
        <p:nvSpPr>
          <p:cNvPr id="390" name="사각형: 둥근 모서리 389">
            <a:extLst>
              <a:ext uri="{FF2B5EF4-FFF2-40B4-BE49-F238E27FC236}">
                <a16:creationId xmlns:a16="http://schemas.microsoft.com/office/drawing/2014/main" id="{F354B9AA-1696-4180-8369-EEC553070C99}"/>
              </a:ext>
            </a:extLst>
          </p:cNvPr>
          <p:cNvSpPr/>
          <p:nvPr/>
        </p:nvSpPr>
        <p:spPr>
          <a:xfrm>
            <a:off x="8476888" y="5848697"/>
            <a:ext cx="1342844" cy="353683"/>
          </a:xfrm>
          <a:prstGeom prst="roundRect">
            <a:avLst>
              <a:gd name="adj" fmla="val 0"/>
            </a:avLst>
          </a:prstGeom>
          <a:solidFill>
            <a:schemeClr val="accent4">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a:solidFill>
                  <a:schemeClr val="tx1"/>
                </a:solidFill>
              </a:rPr>
              <a:t>고소</a:t>
            </a:r>
            <a:endParaRPr lang="en-US" altLang="ko-KR" sz="1100" dirty="0">
              <a:solidFill>
                <a:schemeClr val="tx1"/>
              </a:solidFill>
            </a:endParaRPr>
          </a:p>
        </p:txBody>
      </p:sp>
      <p:sp>
        <p:nvSpPr>
          <p:cNvPr id="391" name="사각형: 둥근 모서리 390">
            <a:extLst>
              <a:ext uri="{FF2B5EF4-FFF2-40B4-BE49-F238E27FC236}">
                <a16:creationId xmlns:a16="http://schemas.microsoft.com/office/drawing/2014/main" id="{B99AC86E-78A6-4618-8988-76A96A6F401B}"/>
              </a:ext>
            </a:extLst>
          </p:cNvPr>
          <p:cNvSpPr/>
          <p:nvPr/>
        </p:nvSpPr>
        <p:spPr>
          <a:xfrm>
            <a:off x="10356022" y="5848697"/>
            <a:ext cx="1181821" cy="353683"/>
          </a:xfrm>
          <a:prstGeom prst="roundRect">
            <a:avLst>
              <a:gd name="adj" fmla="val 50000"/>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형사처벌</a:t>
            </a:r>
            <a:endParaRPr lang="en-US" altLang="ko-KR" sz="1100" dirty="0">
              <a:solidFill>
                <a:schemeClr val="tx1"/>
              </a:solidFill>
            </a:endParaRPr>
          </a:p>
        </p:txBody>
      </p:sp>
      <p:cxnSp>
        <p:nvCxnSpPr>
          <p:cNvPr id="1030" name="직선 화살표 연결선 1029">
            <a:extLst>
              <a:ext uri="{FF2B5EF4-FFF2-40B4-BE49-F238E27FC236}">
                <a16:creationId xmlns:a16="http://schemas.microsoft.com/office/drawing/2014/main" id="{31B65F2A-8C3C-4037-BE6C-7D423A6E5194}"/>
              </a:ext>
            </a:extLst>
          </p:cNvPr>
          <p:cNvCxnSpPr>
            <a:stCxn id="379" idx="2"/>
            <a:endCxn id="380" idx="0"/>
          </p:cNvCxnSpPr>
          <p:nvPr/>
        </p:nvCxnSpPr>
        <p:spPr>
          <a:xfrm>
            <a:off x="7414399" y="1820161"/>
            <a:ext cx="0" cy="17899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32" name="직선 화살표 연결선 1031">
            <a:extLst>
              <a:ext uri="{FF2B5EF4-FFF2-40B4-BE49-F238E27FC236}">
                <a16:creationId xmlns:a16="http://schemas.microsoft.com/office/drawing/2014/main" id="{B24E83D7-474C-4CC0-90F0-C0D7B6B31C10}"/>
              </a:ext>
            </a:extLst>
          </p:cNvPr>
          <p:cNvCxnSpPr>
            <a:stCxn id="380" idx="2"/>
            <a:endCxn id="381" idx="0"/>
          </p:cNvCxnSpPr>
          <p:nvPr/>
        </p:nvCxnSpPr>
        <p:spPr>
          <a:xfrm>
            <a:off x="7414399" y="2352834"/>
            <a:ext cx="0" cy="26526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34" name="직선 화살표 연결선 1033">
            <a:extLst>
              <a:ext uri="{FF2B5EF4-FFF2-40B4-BE49-F238E27FC236}">
                <a16:creationId xmlns:a16="http://schemas.microsoft.com/office/drawing/2014/main" id="{8D0CBC2F-935C-4934-B76C-C71277BDC8AA}"/>
              </a:ext>
            </a:extLst>
          </p:cNvPr>
          <p:cNvCxnSpPr>
            <a:stCxn id="381" idx="2"/>
            <a:endCxn id="384" idx="0"/>
          </p:cNvCxnSpPr>
          <p:nvPr/>
        </p:nvCxnSpPr>
        <p:spPr>
          <a:xfrm>
            <a:off x="7414399" y="2971784"/>
            <a:ext cx="0" cy="20605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36" name="직선 화살표 연결선 1035">
            <a:extLst>
              <a:ext uri="{FF2B5EF4-FFF2-40B4-BE49-F238E27FC236}">
                <a16:creationId xmlns:a16="http://schemas.microsoft.com/office/drawing/2014/main" id="{4B77180A-A2CC-4E14-8E99-A6A024741F75}"/>
              </a:ext>
            </a:extLst>
          </p:cNvPr>
          <p:cNvCxnSpPr>
            <a:stCxn id="384" idx="3"/>
            <a:endCxn id="387" idx="1"/>
          </p:cNvCxnSpPr>
          <p:nvPr/>
        </p:nvCxnSpPr>
        <p:spPr>
          <a:xfrm>
            <a:off x="8212344" y="3479730"/>
            <a:ext cx="264544" cy="337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38" name="직선 화살표 연결선 1037">
            <a:extLst>
              <a:ext uri="{FF2B5EF4-FFF2-40B4-BE49-F238E27FC236}">
                <a16:creationId xmlns:a16="http://schemas.microsoft.com/office/drawing/2014/main" id="{138A375B-371E-4384-BA54-21C2C4B760C1}"/>
              </a:ext>
            </a:extLst>
          </p:cNvPr>
          <p:cNvCxnSpPr>
            <a:stCxn id="384" idx="2"/>
            <a:endCxn id="385" idx="0"/>
          </p:cNvCxnSpPr>
          <p:nvPr/>
        </p:nvCxnSpPr>
        <p:spPr>
          <a:xfrm>
            <a:off x="7414399" y="3781625"/>
            <a:ext cx="0" cy="17354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40" name="직선 화살표 연결선 1039">
            <a:extLst>
              <a:ext uri="{FF2B5EF4-FFF2-40B4-BE49-F238E27FC236}">
                <a16:creationId xmlns:a16="http://schemas.microsoft.com/office/drawing/2014/main" id="{154EF832-1ADA-4319-87BC-743EFCDACBAA}"/>
              </a:ext>
            </a:extLst>
          </p:cNvPr>
          <p:cNvCxnSpPr>
            <a:stCxn id="387" idx="2"/>
            <a:endCxn id="386" idx="0"/>
          </p:cNvCxnSpPr>
          <p:nvPr/>
        </p:nvCxnSpPr>
        <p:spPr>
          <a:xfrm>
            <a:off x="9148310" y="3659942"/>
            <a:ext cx="0" cy="29522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42" name="직선 화살표 연결선 1041">
            <a:extLst>
              <a:ext uri="{FF2B5EF4-FFF2-40B4-BE49-F238E27FC236}">
                <a16:creationId xmlns:a16="http://schemas.microsoft.com/office/drawing/2014/main" id="{29609439-0E7F-48E3-A20D-5AC80DC4EBF3}"/>
              </a:ext>
            </a:extLst>
          </p:cNvPr>
          <p:cNvCxnSpPr>
            <a:stCxn id="386" idx="1"/>
            <a:endCxn id="385" idx="3"/>
          </p:cNvCxnSpPr>
          <p:nvPr/>
        </p:nvCxnSpPr>
        <p:spPr>
          <a:xfrm flipH="1">
            <a:off x="8005309" y="4132013"/>
            <a:ext cx="345056"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44" name="직선 화살표 연결선 1043">
            <a:extLst>
              <a:ext uri="{FF2B5EF4-FFF2-40B4-BE49-F238E27FC236}">
                <a16:creationId xmlns:a16="http://schemas.microsoft.com/office/drawing/2014/main" id="{CE49F6D4-AF0A-4F6F-9CFD-909E2AABCAF8}"/>
              </a:ext>
            </a:extLst>
          </p:cNvPr>
          <p:cNvCxnSpPr>
            <a:stCxn id="386" idx="2"/>
            <a:endCxn id="388" idx="0"/>
          </p:cNvCxnSpPr>
          <p:nvPr/>
        </p:nvCxnSpPr>
        <p:spPr>
          <a:xfrm>
            <a:off x="9148310" y="4308854"/>
            <a:ext cx="0" cy="17684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46" name="직선 화살표 연결선 1045">
            <a:extLst>
              <a:ext uri="{FF2B5EF4-FFF2-40B4-BE49-F238E27FC236}">
                <a16:creationId xmlns:a16="http://schemas.microsoft.com/office/drawing/2014/main" id="{B3A5A1EF-0720-4E3D-83D0-B35FA8DF1DAB}"/>
              </a:ext>
            </a:extLst>
          </p:cNvPr>
          <p:cNvCxnSpPr>
            <a:stCxn id="388" idx="3"/>
            <a:endCxn id="389" idx="1"/>
          </p:cNvCxnSpPr>
          <p:nvPr/>
        </p:nvCxnSpPr>
        <p:spPr>
          <a:xfrm>
            <a:off x="9946255" y="4662537"/>
            <a:ext cx="409769"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50" name="연결선: 꺾임 1049">
            <a:extLst>
              <a:ext uri="{FF2B5EF4-FFF2-40B4-BE49-F238E27FC236}">
                <a16:creationId xmlns:a16="http://schemas.microsoft.com/office/drawing/2014/main" id="{B778D65B-99C6-4C58-942C-9731B44B5D0E}"/>
              </a:ext>
            </a:extLst>
          </p:cNvPr>
          <p:cNvCxnSpPr>
            <a:stCxn id="387" idx="0"/>
            <a:endCxn id="6" idx="3"/>
          </p:cNvCxnSpPr>
          <p:nvPr/>
        </p:nvCxnSpPr>
        <p:spPr>
          <a:xfrm rot="16200000" flipV="1">
            <a:off x="5610305" y="-231747"/>
            <a:ext cx="2016619" cy="5059393"/>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52" name="연결선: 꺾임 1051">
            <a:extLst>
              <a:ext uri="{FF2B5EF4-FFF2-40B4-BE49-F238E27FC236}">
                <a16:creationId xmlns:a16="http://schemas.microsoft.com/office/drawing/2014/main" id="{BACCC47C-2B6D-454B-925F-446B38A627BB}"/>
              </a:ext>
            </a:extLst>
          </p:cNvPr>
          <p:cNvCxnSpPr>
            <a:cxnSpLocks/>
            <a:stCxn id="389" idx="2"/>
          </p:cNvCxnSpPr>
          <p:nvPr/>
        </p:nvCxnSpPr>
        <p:spPr>
          <a:xfrm rot="5400000" flipH="1">
            <a:off x="10072472" y="3964917"/>
            <a:ext cx="3095" cy="1745828"/>
          </a:xfrm>
          <a:prstGeom prst="bentConnector3">
            <a:avLst>
              <a:gd name="adj1" fmla="val -7386107"/>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93" name="직선 화살표 연결선 392">
            <a:extLst>
              <a:ext uri="{FF2B5EF4-FFF2-40B4-BE49-F238E27FC236}">
                <a16:creationId xmlns:a16="http://schemas.microsoft.com/office/drawing/2014/main" id="{438AEFA0-F804-4F5D-B121-7B62A9937FCB}"/>
              </a:ext>
            </a:extLst>
          </p:cNvPr>
          <p:cNvCxnSpPr>
            <a:stCxn id="344" idx="2"/>
            <a:endCxn id="354" idx="0"/>
          </p:cNvCxnSpPr>
          <p:nvPr/>
        </p:nvCxnSpPr>
        <p:spPr>
          <a:xfrm>
            <a:off x="1470800" y="3084016"/>
            <a:ext cx="0" cy="123345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94" name="TextBox 393">
            <a:extLst>
              <a:ext uri="{FF2B5EF4-FFF2-40B4-BE49-F238E27FC236}">
                <a16:creationId xmlns:a16="http://schemas.microsoft.com/office/drawing/2014/main" id="{9DA38F82-2942-461B-BC08-7A1A539C4BAE}"/>
              </a:ext>
            </a:extLst>
          </p:cNvPr>
          <p:cNvSpPr txBox="1"/>
          <p:nvPr/>
        </p:nvSpPr>
        <p:spPr>
          <a:xfrm>
            <a:off x="8020625" y="3861092"/>
            <a:ext cx="383438" cy="246221"/>
          </a:xfrm>
          <a:prstGeom prst="rect">
            <a:avLst/>
          </a:prstGeom>
          <a:noFill/>
        </p:spPr>
        <p:txBody>
          <a:bodyPr wrap="none" rtlCol="0">
            <a:spAutoFit/>
          </a:bodyPr>
          <a:lstStyle/>
          <a:p>
            <a:r>
              <a:rPr lang="en-US" altLang="ko-KR" sz="1000" dirty="0"/>
              <a:t>yes</a:t>
            </a:r>
            <a:endParaRPr lang="ko-KR" altLang="en-US" sz="1000" dirty="0"/>
          </a:p>
        </p:txBody>
      </p:sp>
      <p:sp>
        <p:nvSpPr>
          <p:cNvPr id="395" name="TextBox 394">
            <a:extLst>
              <a:ext uri="{FF2B5EF4-FFF2-40B4-BE49-F238E27FC236}">
                <a16:creationId xmlns:a16="http://schemas.microsoft.com/office/drawing/2014/main" id="{87FD8A56-25A7-42C3-8BD4-85AB37BFBEF2}"/>
              </a:ext>
            </a:extLst>
          </p:cNvPr>
          <p:cNvSpPr txBox="1"/>
          <p:nvPr/>
        </p:nvSpPr>
        <p:spPr>
          <a:xfrm>
            <a:off x="7737793" y="4419570"/>
            <a:ext cx="383438" cy="246221"/>
          </a:xfrm>
          <a:prstGeom prst="rect">
            <a:avLst/>
          </a:prstGeom>
          <a:noFill/>
        </p:spPr>
        <p:txBody>
          <a:bodyPr wrap="none" rtlCol="0">
            <a:spAutoFit/>
          </a:bodyPr>
          <a:lstStyle/>
          <a:p>
            <a:r>
              <a:rPr lang="en-US" altLang="ko-KR" sz="1000" dirty="0"/>
              <a:t>yes</a:t>
            </a:r>
            <a:endParaRPr lang="ko-KR" altLang="en-US" sz="1000" dirty="0"/>
          </a:p>
        </p:txBody>
      </p:sp>
      <p:sp>
        <p:nvSpPr>
          <p:cNvPr id="396" name="TextBox 395">
            <a:extLst>
              <a:ext uri="{FF2B5EF4-FFF2-40B4-BE49-F238E27FC236}">
                <a16:creationId xmlns:a16="http://schemas.microsoft.com/office/drawing/2014/main" id="{BEAF20CB-9C59-4CA4-B030-69B30B0C9669}"/>
              </a:ext>
            </a:extLst>
          </p:cNvPr>
          <p:cNvSpPr txBox="1"/>
          <p:nvPr/>
        </p:nvSpPr>
        <p:spPr>
          <a:xfrm>
            <a:off x="7399141" y="3726923"/>
            <a:ext cx="383438" cy="246221"/>
          </a:xfrm>
          <a:prstGeom prst="rect">
            <a:avLst/>
          </a:prstGeom>
          <a:noFill/>
        </p:spPr>
        <p:txBody>
          <a:bodyPr wrap="none" rtlCol="0">
            <a:spAutoFit/>
          </a:bodyPr>
          <a:lstStyle/>
          <a:p>
            <a:r>
              <a:rPr lang="en-US" altLang="ko-KR" sz="1000" dirty="0"/>
              <a:t>yes</a:t>
            </a:r>
            <a:endParaRPr lang="ko-KR" altLang="en-US" sz="1000" dirty="0"/>
          </a:p>
        </p:txBody>
      </p:sp>
      <p:sp>
        <p:nvSpPr>
          <p:cNvPr id="397" name="TextBox 396">
            <a:extLst>
              <a:ext uri="{FF2B5EF4-FFF2-40B4-BE49-F238E27FC236}">
                <a16:creationId xmlns:a16="http://schemas.microsoft.com/office/drawing/2014/main" id="{7C7FE035-4979-49DC-8A82-FC0C883F8C0E}"/>
              </a:ext>
            </a:extLst>
          </p:cNvPr>
          <p:cNvSpPr txBox="1"/>
          <p:nvPr/>
        </p:nvSpPr>
        <p:spPr>
          <a:xfrm>
            <a:off x="8135128" y="3249814"/>
            <a:ext cx="341760" cy="246221"/>
          </a:xfrm>
          <a:prstGeom prst="rect">
            <a:avLst/>
          </a:prstGeom>
          <a:noFill/>
        </p:spPr>
        <p:txBody>
          <a:bodyPr wrap="none" rtlCol="0">
            <a:spAutoFit/>
          </a:bodyPr>
          <a:lstStyle/>
          <a:p>
            <a:r>
              <a:rPr lang="en-US" altLang="ko-KR" sz="1000" dirty="0"/>
              <a:t>no</a:t>
            </a:r>
            <a:endParaRPr lang="ko-KR" altLang="en-US" sz="1000" dirty="0"/>
          </a:p>
        </p:txBody>
      </p:sp>
      <p:sp>
        <p:nvSpPr>
          <p:cNvPr id="398" name="TextBox 397">
            <a:extLst>
              <a:ext uri="{FF2B5EF4-FFF2-40B4-BE49-F238E27FC236}">
                <a16:creationId xmlns:a16="http://schemas.microsoft.com/office/drawing/2014/main" id="{2A1D90D7-C7B0-4A76-B7EB-390A3E893AB0}"/>
              </a:ext>
            </a:extLst>
          </p:cNvPr>
          <p:cNvSpPr txBox="1"/>
          <p:nvPr/>
        </p:nvSpPr>
        <p:spPr>
          <a:xfrm>
            <a:off x="9151607" y="4252409"/>
            <a:ext cx="341760" cy="246221"/>
          </a:xfrm>
          <a:prstGeom prst="rect">
            <a:avLst/>
          </a:prstGeom>
          <a:noFill/>
        </p:spPr>
        <p:txBody>
          <a:bodyPr wrap="none" rtlCol="0">
            <a:spAutoFit/>
          </a:bodyPr>
          <a:lstStyle/>
          <a:p>
            <a:r>
              <a:rPr lang="en-US" altLang="ko-KR" sz="1000" dirty="0"/>
              <a:t>no</a:t>
            </a:r>
            <a:endParaRPr lang="ko-KR" altLang="en-US" sz="1000" dirty="0"/>
          </a:p>
        </p:txBody>
      </p:sp>
      <p:sp>
        <p:nvSpPr>
          <p:cNvPr id="399" name="TextBox 398">
            <a:extLst>
              <a:ext uri="{FF2B5EF4-FFF2-40B4-BE49-F238E27FC236}">
                <a16:creationId xmlns:a16="http://schemas.microsoft.com/office/drawing/2014/main" id="{0B04C39F-642A-4DFA-9009-DDD9EFF0E0F1}"/>
              </a:ext>
            </a:extLst>
          </p:cNvPr>
          <p:cNvSpPr txBox="1"/>
          <p:nvPr/>
        </p:nvSpPr>
        <p:spPr>
          <a:xfrm>
            <a:off x="9946255" y="4416869"/>
            <a:ext cx="341760" cy="246221"/>
          </a:xfrm>
          <a:prstGeom prst="rect">
            <a:avLst/>
          </a:prstGeom>
          <a:noFill/>
        </p:spPr>
        <p:txBody>
          <a:bodyPr wrap="none" rtlCol="0">
            <a:spAutoFit/>
          </a:bodyPr>
          <a:lstStyle/>
          <a:p>
            <a:r>
              <a:rPr lang="en-US" altLang="ko-KR" sz="1000" dirty="0"/>
              <a:t>no</a:t>
            </a:r>
            <a:endParaRPr lang="ko-KR" altLang="en-US" sz="1000" dirty="0"/>
          </a:p>
        </p:txBody>
      </p:sp>
      <p:cxnSp>
        <p:nvCxnSpPr>
          <p:cNvPr id="401" name="연결선: 꺾임 400">
            <a:extLst>
              <a:ext uri="{FF2B5EF4-FFF2-40B4-BE49-F238E27FC236}">
                <a16:creationId xmlns:a16="http://schemas.microsoft.com/office/drawing/2014/main" id="{8B8D041F-DD83-4332-BE01-F2E23AF1306A}"/>
              </a:ext>
            </a:extLst>
          </p:cNvPr>
          <p:cNvCxnSpPr>
            <a:stCxn id="388" idx="1"/>
            <a:endCxn id="385" idx="2"/>
          </p:cNvCxnSpPr>
          <p:nvPr/>
        </p:nvCxnSpPr>
        <p:spPr>
          <a:xfrm rot="10800000">
            <a:off x="7414399" y="4308855"/>
            <a:ext cx="935966" cy="353683"/>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03" name="직선 화살표 연결선 402">
            <a:extLst>
              <a:ext uri="{FF2B5EF4-FFF2-40B4-BE49-F238E27FC236}">
                <a16:creationId xmlns:a16="http://schemas.microsoft.com/office/drawing/2014/main" id="{A54039F1-C6AA-4DCC-ACFC-2E4C80E5D6FE}"/>
              </a:ext>
            </a:extLst>
          </p:cNvPr>
          <p:cNvCxnSpPr>
            <a:stCxn id="333" idx="3"/>
            <a:endCxn id="390" idx="1"/>
          </p:cNvCxnSpPr>
          <p:nvPr/>
        </p:nvCxnSpPr>
        <p:spPr>
          <a:xfrm flipV="1">
            <a:off x="8005309" y="6025539"/>
            <a:ext cx="471579" cy="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05" name="직선 화살표 연결선 404">
            <a:extLst>
              <a:ext uri="{FF2B5EF4-FFF2-40B4-BE49-F238E27FC236}">
                <a16:creationId xmlns:a16="http://schemas.microsoft.com/office/drawing/2014/main" id="{E3827C35-2246-4E28-BB22-EBA318AD1029}"/>
              </a:ext>
            </a:extLst>
          </p:cNvPr>
          <p:cNvCxnSpPr>
            <a:stCxn id="390" idx="3"/>
            <a:endCxn id="391" idx="1"/>
          </p:cNvCxnSpPr>
          <p:nvPr/>
        </p:nvCxnSpPr>
        <p:spPr>
          <a:xfrm>
            <a:off x="9819732" y="6025539"/>
            <a:ext cx="536290"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14" name="연결선: 꺾임 413">
            <a:extLst>
              <a:ext uri="{FF2B5EF4-FFF2-40B4-BE49-F238E27FC236}">
                <a16:creationId xmlns:a16="http://schemas.microsoft.com/office/drawing/2014/main" id="{7F425C0C-5A36-447D-BAC3-1449E3743D4A}"/>
              </a:ext>
            </a:extLst>
          </p:cNvPr>
          <p:cNvCxnSpPr>
            <a:cxnSpLocks/>
          </p:cNvCxnSpPr>
          <p:nvPr/>
        </p:nvCxnSpPr>
        <p:spPr>
          <a:xfrm rot="5400000">
            <a:off x="2052523" y="3172372"/>
            <a:ext cx="688864" cy="1592574"/>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56" name="연결선: 꺾임 1055">
            <a:extLst>
              <a:ext uri="{FF2B5EF4-FFF2-40B4-BE49-F238E27FC236}">
                <a16:creationId xmlns:a16="http://schemas.microsoft.com/office/drawing/2014/main" id="{A917839F-A040-4E63-B2A0-1373B4DD3B18}"/>
              </a:ext>
            </a:extLst>
          </p:cNvPr>
          <p:cNvCxnSpPr>
            <a:cxnSpLocks/>
            <a:endCxn id="379" idx="1"/>
          </p:cNvCxnSpPr>
          <p:nvPr/>
        </p:nvCxnSpPr>
        <p:spPr>
          <a:xfrm rot="5400000" flipH="1" flipV="1">
            <a:off x="4233922" y="1034661"/>
            <a:ext cx="1980907" cy="3198225"/>
          </a:xfrm>
          <a:prstGeom prst="bentConnector4">
            <a:avLst>
              <a:gd name="adj1" fmla="val -11540"/>
              <a:gd name="adj2" fmla="val 87155"/>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68" name="자유형: 도형 1067">
            <a:extLst>
              <a:ext uri="{FF2B5EF4-FFF2-40B4-BE49-F238E27FC236}">
                <a16:creationId xmlns:a16="http://schemas.microsoft.com/office/drawing/2014/main" id="{6F377078-F3D2-4FDC-B689-0A48D42920F5}"/>
              </a:ext>
            </a:extLst>
          </p:cNvPr>
          <p:cNvSpPr/>
          <p:nvPr/>
        </p:nvSpPr>
        <p:spPr>
          <a:xfrm>
            <a:off x="3489980" y="3628850"/>
            <a:ext cx="5645150" cy="1447800"/>
          </a:xfrm>
          <a:custGeom>
            <a:avLst/>
            <a:gdLst>
              <a:gd name="connsiteX0" fmla="*/ 0 w 5645150"/>
              <a:gd name="connsiteY0" fmla="*/ 0 h 1447800"/>
              <a:gd name="connsiteX1" fmla="*/ 0 w 5645150"/>
              <a:gd name="connsiteY1" fmla="*/ 298450 h 1447800"/>
              <a:gd name="connsiteX2" fmla="*/ 2959100 w 5645150"/>
              <a:gd name="connsiteY2" fmla="*/ 298450 h 1447800"/>
              <a:gd name="connsiteX3" fmla="*/ 2959100 w 5645150"/>
              <a:gd name="connsiteY3" fmla="*/ 1447800 h 1447800"/>
              <a:gd name="connsiteX4" fmla="*/ 5645150 w 5645150"/>
              <a:gd name="connsiteY4" fmla="*/ 1447800 h 1447800"/>
              <a:gd name="connsiteX5" fmla="*/ 5645150 w 5645150"/>
              <a:gd name="connsiteY5" fmla="*/ 1219200 h 144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45150" h="1447800">
                <a:moveTo>
                  <a:pt x="0" y="0"/>
                </a:moveTo>
                <a:lnTo>
                  <a:pt x="0" y="298450"/>
                </a:lnTo>
                <a:lnTo>
                  <a:pt x="2959100" y="298450"/>
                </a:lnTo>
                <a:lnTo>
                  <a:pt x="2959100" y="1447800"/>
                </a:lnTo>
                <a:lnTo>
                  <a:pt x="5645150" y="1447800"/>
                </a:lnTo>
                <a:lnTo>
                  <a:pt x="5645150" y="1219200"/>
                </a:lnTo>
              </a:path>
            </a:pathLst>
          </a:custGeom>
          <a:noFill/>
          <a:ln>
            <a:solidFill>
              <a:schemeClr val="bg1">
                <a:lumMod val="50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69" name="자유형: 도형 1068">
            <a:extLst>
              <a:ext uri="{FF2B5EF4-FFF2-40B4-BE49-F238E27FC236}">
                <a16:creationId xmlns:a16="http://schemas.microsoft.com/office/drawing/2014/main" id="{1C3ECA18-A027-4EB1-B897-848D21B66A42}"/>
              </a:ext>
            </a:extLst>
          </p:cNvPr>
          <p:cNvSpPr/>
          <p:nvPr/>
        </p:nvSpPr>
        <p:spPr>
          <a:xfrm>
            <a:off x="3318530" y="3628850"/>
            <a:ext cx="3498850" cy="2406650"/>
          </a:xfrm>
          <a:custGeom>
            <a:avLst/>
            <a:gdLst>
              <a:gd name="connsiteX0" fmla="*/ 0 w 3498850"/>
              <a:gd name="connsiteY0" fmla="*/ 0 h 2406650"/>
              <a:gd name="connsiteX1" fmla="*/ 0 w 3498850"/>
              <a:gd name="connsiteY1" fmla="*/ 361950 h 2406650"/>
              <a:gd name="connsiteX2" fmla="*/ 3079750 w 3498850"/>
              <a:gd name="connsiteY2" fmla="*/ 361950 h 2406650"/>
              <a:gd name="connsiteX3" fmla="*/ 3079750 w 3498850"/>
              <a:gd name="connsiteY3" fmla="*/ 2406650 h 2406650"/>
              <a:gd name="connsiteX4" fmla="*/ 3498850 w 3498850"/>
              <a:gd name="connsiteY4" fmla="*/ 2406650 h 2406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850" h="2406650">
                <a:moveTo>
                  <a:pt x="0" y="0"/>
                </a:moveTo>
                <a:lnTo>
                  <a:pt x="0" y="361950"/>
                </a:lnTo>
                <a:lnTo>
                  <a:pt x="3079750" y="361950"/>
                </a:lnTo>
                <a:lnTo>
                  <a:pt x="3079750" y="2406650"/>
                </a:lnTo>
                <a:lnTo>
                  <a:pt x="3498850" y="2406650"/>
                </a:lnTo>
              </a:path>
            </a:pathLst>
          </a:custGeom>
          <a:noFill/>
          <a:ln>
            <a:solidFill>
              <a:schemeClr val="bg1">
                <a:lumMod val="50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6" name="사각형: 둥근 모서리 415">
            <a:extLst>
              <a:ext uri="{FF2B5EF4-FFF2-40B4-BE49-F238E27FC236}">
                <a16:creationId xmlns:a16="http://schemas.microsoft.com/office/drawing/2014/main" id="{A584CE88-5A4F-46DE-8CE3-E2ACA62EC6D0}"/>
              </a:ext>
            </a:extLst>
          </p:cNvPr>
          <p:cNvSpPr/>
          <p:nvPr/>
        </p:nvSpPr>
        <p:spPr>
          <a:xfrm>
            <a:off x="439947" y="4099262"/>
            <a:ext cx="5911963" cy="2534452"/>
          </a:xfrm>
          <a:prstGeom prst="roundRect">
            <a:avLst>
              <a:gd name="adj" fmla="val 7809"/>
            </a:avLst>
          </a:prstGeom>
          <a:noFill/>
          <a:ln w="285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7" name="사각형: 둥근 모서리 416">
            <a:extLst>
              <a:ext uri="{FF2B5EF4-FFF2-40B4-BE49-F238E27FC236}">
                <a16:creationId xmlns:a16="http://schemas.microsoft.com/office/drawing/2014/main" id="{12938775-AC42-4B06-8BF3-EEA01C717514}"/>
              </a:ext>
            </a:extLst>
          </p:cNvPr>
          <p:cNvSpPr/>
          <p:nvPr/>
        </p:nvSpPr>
        <p:spPr>
          <a:xfrm>
            <a:off x="6528041" y="2497679"/>
            <a:ext cx="5224012" cy="2726825"/>
          </a:xfrm>
          <a:prstGeom prst="roundRect">
            <a:avLst>
              <a:gd name="adj" fmla="val 7809"/>
            </a:avLst>
          </a:prstGeom>
          <a:noFill/>
          <a:ln w="285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18" name="사각형: 둥근 모서리 417">
            <a:extLst>
              <a:ext uri="{FF2B5EF4-FFF2-40B4-BE49-F238E27FC236}">
                <a16:creationId xmlns:a16="http://schemas.microsoft.com/office/drawing/2014/main" id="{02EE567E-25B1-4398-BD4C-0D5852A40AA0}"/>
              </a:ext>
            </a:extLst>
          </p:cNvPr>
          <p:cNvSpPr/>
          <p:nvPr/>
        </p:nvSpPr>
        <p:spPr>
          <a:xfrm>
            <a:off x="6528041" y="5376839"/>
            <a:ext cx="5224012" cy="1256876"/>
          </a:xfrm>
          <a:prstGeom prst="roundRect">
            <a:avLst>
              <a:gd name="adj" fmla="val 7809"/>
            </a:avLst>
          </a:prstGeom>
          <a:noFill/>
          <a:ln w="285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1073" name="TextBox 1072">
            <a:extLst>
              <a:ext uri="{FF2B5EF4-FFF2-40B4-BE49-F238E27FC236}">
                <a16:creationId xmlns:a16="http://schemas.microsoft.com/office/drawing/2014/main" id="{A96EED17-8244-4569-8E7A-E63E8B403337}"/>
              </a:ext>
            </a:extLst>
          </p:cNvPr>
          <p:cNvSpPr txBox="1"/>
          <p:nvPr/>
        </p:nvSpPr>
        <p:spPr>
          <a:xfrm>
            <a:off x="642969" y="1026254"/>
            <a:ext cx="1290738" cy="584775"/>
          </a:xfrm>
          <a:prstGeom prst="rect">
            <a:avLst/>
          </a:prstGeom>
          <a:noFill/>
        </p:spPr>
        <p:txBody>
          <a:bodyPr wrap="none" rtlCol="0">
            <a:spAutoFit/>
          </a:bodyPr>
          <a:lstStyle/>
          <a:p>
            <a:pPr fontAlgn="base" latinLnBrk="0"/>
            <a:r>
              <a:rPr lang="ko-KR" altLang="en-US" sz="1600" dirty="0">
                <a:solidFill>
                  <a:schemeClr val="accent2"/>
                </a:solidFill>
              </a:rPr>
              <a:t>비밀유지명령</a:t>
            </a:r>
          </a:p>
          <a:p>
            <a:pPr fontAlgn="base" latinLnBrk="0"/>
            <a:r>
              <a:rPr lang="en-US" altLang="ko-KR" sz="1600" dirty="0">
                <a:solidFill>
                  <a:schemeClr val="accent2"/>
                </a:solidFill>
              </a:rPr>
              <a:t>(</a:t>
            </a:r>
            <a:r>
              <a:rPr lang="ko-KR" altLang="en-US" sz="1600" dirty="0">
                <a:solidFill>
                  <a:schemeClr val="accent2"/>
                </a:solidFill>
              </a:rPr>
              <a:t>法 </a:t>
            </a:r>
            <a:r>
              <a:rPr lang="en-US" altLang="ko-KR" sz="1600" dirty="0">
                <a:solidFill>
                  <a:schemeClr val="accent2"/>
                </a:solidFill>
              </a:rPr>
              <a:t>224</a:t>
            </a:r>
            <a:r>
              <a:rPr lang="ko-KR" altLang="en-US" sz="1600" dirty="0">
                <a:solidFill>
                  <a:schemeClr val="accent2"/>
                </a:solidFill>
              </a:rPr>
              <a:t>의</a:t>
            </a:r>
            <a:r>
              <a:rPr lang="en-US" altLang="ko-KR" sz="1600" dirty="0">
                <a:solidFill>
                  <a:schemeClr val="accent2"/>
                </a:solidFill>
              </a:rPr>
              <a:t>3)</a:t>
            </a:r>
            <a:endParaRPr lang="ko-KR" altLang="en-US" sz="1600" dirty="0">
              <a:solidFill>
                <a:schemeClr val="accent2"/>
              </a:solidFill>
            </a:endParaRPr>
          </a:p>
        </p:txBody>
      </p:sp>
      <p:sp>
        <p:nvSpPr>
          <p:cNvPr id="419" name="TextBox 418">
            <a:extLst>
              <a:ext uri="{FF2B5EF4-FFF2-40B4-BE49-F238E27FC236}">
                <a16:creationId xmlns:a16="http://schemas.microsoft.com/office/drawing/2014/main" id="{A2A0884F-6842-4C30-8EAB-7C7009A345C7}"/>
              </a:ext>
            </a:extLst>
          </p:cNvPr>
          <p:cNvSpPr txBox="1"/>
          <p:nvPr/>
        </p:nvSpPr>
        <p:spPr>
          <a:xfrm>
            <a:off x="9817564" y="2572269"/>
            <a:ext cx="1832553" cy="830997"/>
          </a:xfrm>
          <a:prstGeom prst="rect">
            <a:avLst/>
          </a:prstGeom>
          <a:noFill/>
        </p:spPr>
        <p:txBody>
          <a:bodyPr wrap="none" rtlCol="0">
            <a:spAutoFit/>
          </a:bodyPr>
          <a:lstStyle/>
          <a:p>
            <a:pPr fontAlgn="base" latinLnBrk="0"/>
            <a:r>
              <a:rPr lang="ko-KR" altLang="en-US" sz="1600" dirty="0">
                <a:solidFill>
                  <a:schemeClr val="accent2"/>
                </a:solidFill>
              </a:rPr>
              <a:t>소송기록 열람 등의 </a:t>
            </a:r>
          </a:p>
          <a:p>
            <a:pPr fontAlgn="base" latinLnBrk="0"/>
            <a:r>
              <a:rPr lang="ko-KR" altLang="en-US" sz="1600" dirty="0">
                <a:solidFill>
                  <a:schemeClr val="accent2"/>
                </a:solidFill>
              </a:rPr>
              <a:t>청구통지 등</a:t>
            </a:r>
          </a:p>
          <a:p>
            <a:pPr fontAlgn="base" latinLnBrk="0"/>
            <a:r>
              <a:rPr lang="en-US" altLang="ko-KR" sz="1600" dirty="0">
                <a:solidFill>
                  <a:schemeClr val="accent2"/>
                </a:solidFill>
              </a:rPr>
              <a:t>(</a:t>
            </a:r>
            <a:r>
              <a:rPr lang="ko-KR" altLang="en-US" sz="1600" dirty="0">
                <a:solidFill>
                  <a:schemeClr val="accent2"/>
                </a:solidFill>
              </a:rPr>
              <a:t>法 제</a:t>
            </a:r>
            <a:r>
              <a:rPr lang="en-US" altLang="ko-KR" sz="1600" dirty="0">
                <a:solidFill>
                  <a:schemeClr val="accent2"/>
                </a:solidFill>
              </a:rPr>
              <a:t>224</a:t>
            </a:r>
            <a:r>
              <a:rPr lang="ko-KR" altLang="en-US" sz="1600" dirty="0">
                <a:solidFill>
                  <a:schemeClr val="accent2"/>
                </a:solidFill>
              </a:rPr>
              <a:t>의</a:t>
            </a:r>
            <a:r>
              <a:rPr lang="en-US" altLang="ko-KR" sz="1600" dirty="0">
                <a:solidFill>
                  <a:schemeClr val="accent2"/>
                </a:solidFill>
              </a:rPr>
              <a:t>5)</a:t>
            </a:r>
            <a:endParaRPr lang="ko-KR" altLang="en-US" sz="1600" dirty="0">
              <a:solidFill>
                <a:schemeClr val="accent2"/>
              </a:solidFill>
            </a:endParaRPr>
          </a:p>
        </p:txBody>
      </p:sp>
      <p:sp>
        <p:nvSpPr>
          <p:cNvPr id="420" name="TextBox 419">
            <a:extLst>
              <a:ext uri="{FF2B5EF4-FFF2-40B4-BE49-F238E27FC236}">
                <a16:creationId xmlns:a16="http://schemas.microsoft.com/office/drawing/2014/main" id="{45B5EE75-CF42-492B-BB1B-CC4F1552CF69}"/>
              </a:ext>
            </a:extLst>
          </p:cNvPr>
          <p:cNvSpPr txBox="1"/>
          <p:nvPr/>
        </p:nvSpPr>
        <p:spPr>
          <a:xfrm>
            <a:off x="512510" y="5887501"/>
            <a:ext cx="1901483" cy="584775"/>
          </a:xfrm>
          <a:prstGeom prst="rect">
            <a:avLst/>
          </a:prstGeom>
          <a:noFill/>
        </p:spPr>
        <p:txBody>
          <a:bodyPr wrap="none" rtlCol="0">
            <a:spAutoFit/>
          </a:bodyPr>
          <a:lstStyle/>
          <a:p>
            <a:pPr fontAlgn="base" latinLnBrk="0"/>
            <a:r>
              <a:rPr lang="ko-KR" altLang="en-US" sz="1600" dirty="0">
                <a:solidFill>
                  <a:schemeClr val="accent2"/>
                </a:solidFill>
              </a:rPr>
              <a:t>비밀유지명령의 취소</a:t>
            </a:r>
          </a:p>
          <a:p>
            <a:pPr fontAlgn="base" latinLnBrk="0"/>
            <a:r>
              <a:rPr lang="en-US" altLang="ko-KR" sz="1600" dirty="0">
                <a:solidFill>
                  <a:schemeClr val="accent2"/>
                </a:solidFill>
              </a:rPr>
              <a:t>(</a:t>
            </a:r>
            <a:r>
              <a:rPr lang="ko-KR" altLang="en-US" sz="1600" dirty="0">
                <a:solidFill>
                  <a:schemeClr val="accent2"/>
                </a:solidFill>
              </a:rPr>
              <a:t>法 </a:t>
            </a:r>
            <a:r>
              <a:rPr lang="en-US" altLang="ko-KR" sz="1600" dirty="0">
                <a:solidFill>
                  <a:schemeClr val="accent2"/>
                </a:solidFill>
              </a:rPr>
              <a:t>224</a:t>
            </a:r>
            <a:r>
              <a:rPr lang="ko-KR" altLang="en-US" sz="1600" dirty="0">
                <a:solidFill>
                  <a:schemeClr val="accent2"/>
                </a:solidFill>
              </a:rPr>
              <a:t>의</a:t>
            </a:r>
            <a:r>
              <a:rPr lang="en-US" altLang="ko-KR" sz="1600" dirty="0">
                <a:solidFill>
                  <a:schemeClr val="accent2"/>
                </a:solidFill>
              </a:rPr>
              <a:t>4)</a:t>
            </a:r>
            <a:endParaRPr lang="ko-KR" altLang="en-US" sz="1600" dirty="0">
              <a:solidFill>
                <a:schemeClr val="accent2"/>
              </a:solidFill>
            </a:endParaRPr>
          </a:p>
        </p:txBody>
      </p:sp>
      <p:sp>
        <p:nvSpPr>
          <p:cNvPr id="421" name="TextBox 420">
            <a:extLst>
              <a:ext uri="{FF2B5EF4-FFF2-40B4-BE49-F238E27FC236}">
                <a16:creationId xmlns:a16="http://schemas.microsoft.com/office/drawing/2014/main" id="{84BA9CE6-E97F-4229-AAB2-7DEC48163432}"/>
              </a:ext>
            </a:extLst>
          </p:cNvPr>
          <p:cNvSpPr txBox="1"/>
          <p:nvPr/>
        </p:nvSpPr>
        <p:spPr>
          <a:xfrm>
            <a:off x="6650646" y="5409369"/>
            <a:ext cx="2978701" cy="338554"/>
          </a:xfrm>
          <a:prstGeom prst="rect">
            <a:avLst/>
          </a:prstGeom>
          <a:noFill/>
        </p:spPr>
        <p:txBody>
          <a:bodyPr wrap="none" rtlCol="0">
            <a:spAutoFit/>
          </a:bodyPr>
          <a:lstStyle/>
          <a:p>
            <a:pPr fontAlgn="base" latinLnBrk="0"/>
            <a:r>
              <a:rPr lang="ko-KR" altLang="en-US" sz="1600" dirty="0">
                <a:solidFill>
                  <a:schemeClr val="accent2"/>
                </a:solidFill>
              </a:rPr>
              <a:t>비밀유지명령 </a:t>
            </a:r>
            <a:r>
              <a:rPr lang="ko-KR" altLang="en-US" sz="1600" dirty="0" err="1">
                <a:solidFill>
                  <a:schemeClr val="accent2"/>
                </a:solidFill>
              </a:rPr>
              <a:t>위반죄</a:t>
            </a:r>
            <a:r>
              <a:rPr lang="en-US" altLang="ko-KR" sz="1600" dirty="0">
                <a:solidFill>
                  <a:schemeClr val="accent2"/>
                </a:solidFill>
              </a:rPr>
              <a:t>(</a:t>
            </a:r>
            <a:r>
              <a:rPr lang="ko-KR" altLang="en-US" sz="1600" dirty="0">
                <a:solidFill>
                  <a:schemeClr val="accent2"/>
                </a:solidFill>
              </a:rPr>
              <a:t>法 </a:t>
            </a:r>
            <a:r>
              <a:rPr lang="en-US" altLang="ko-KR" sz="1600" dirty="0">
                <a:solidFill>
                  <a:schemeClr val="accent2"/>
                </a:solidFill>
              </a:rPr>
              <a:t>229</a:t>
            </a:r>
            <a:r>
              <a:rPr lang="ko-KR" altLang="en-US" sz="1600" dirty="0">
                <a:solidFill>
                  <a:schemeClr val="accent2"/>
                </a:solidFill>
              </a:rPr>
              <a:t>의</a:t>
            </a:r>
            <a:r>
              <a:rPr lang="en-US" altLang="ko-KR" sz="1600" dirty="0">
                <a:solidFill>
                  <a:schemeClr val="accent2"/>
                </a:solidFill>
              </a:rPr>
              <a:t>2)</a:t>
            </a:r>
            <a:endParaRPr lang="ko-KR" altLang="en-US" sz="1600" dirty="0">
              <a:solidFill>
                <a:schemeClr val="accent2"/>
              </a:solidFill>
            </a:endParaRPr>
          </a:p>
        </p:txBody>
      </p:sp>
      <p:sp>
        <p:nvSpPr>
          <p:cNvPr id="1074" name="직사각형 1073">
            <a:extLst>
              <a:ext uri="{FF2B5EF4-FFF2-40B4-BE49-F238E27FC236}">
                <a16:creationId xmlns:a16="http://schemas.microsoft.com/office/drawing/2014/main" id="{0A91C662-3621-4DE9-A85B-5EFCF2C1A1FC}"/>
              </a:ext>
            </a:extLst>
          </p:cNvPr>
          <p:cNvSpPr/>
          <p:nvPr/>
        </p:nvSpPr>
        <p:spPr>
          <a:xfrm>
            <a:off x="9696091" y="1026254"/>
            <a:ext cx="388188" cy="198497"/>
          </a:xfrm>
          <a:prstGeom prst="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2" name="직사각형 421">
            <a:extLst>
              <a:ext uri="{FF2B5EF4-FFF2-40B4-BE49-F238E27FC236}">
                <a16:creationId xmlns:a16="http://schemas.microsoft.com/office/drawing/2014/main" id="{E1663C61-05F0-4DF8-98D9-D368760FEDAD}"/>
              </a:ext>
            </a:extLst>
          </p:cNvPr>
          <p:cNvSpPr/>
          <p:nvPr/>
        </p:nvSpPr>
        <p:spPr>
          <a:xfrm>
            <a:off x="9696091" y="1352575"/>
            <a:ext cx="388188" cy="198497"/>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3" name="직사각형 422">
            <a:extLst>
              <a:ext uri="{FF2B5EF4-FFF2-40B4-BE49-F238E27FC236}">
                <a16:creationId xmlns:a16="http://schemas.microsoft.com/office/drawing/2014/main" id="{5AD6052F-3EB1-40E8-848F-92C97D7BA7F8}"/>
              </a:ext>
            </a:extLst>
          </p:cNvPr>
          <p:cNvSpPr/>
          <p:nvPr/>
        </p:nvSpPr>
        <p:spPr>
          <a:xfrm>
            <a:off x="9696091" y="1653535"/>
            <a:ext cx="388188" cy="198497"/>
          </a:xfrm>
          <a:prstGeom prst="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4" name="TextBox 423">
            <a:extLst>
              <a:ext uri="{FF2B5EF4-FFF2-40B4-BE49-F238E27FC236}">
                <a16:creationId xmlns:a16="http://schemas.microsoft.com/office/drawing/2014/main" id="{1F76EA22-FBD1-4520-9765-D627F9E08B06}"/>
              </a:ext>
            </a:extLst>
          </p:cNvPr>
          <p:cNvSpPr txBox="1"/>
          <p:nvPr/>
        </p:nvSpPr>
        <p:spPr>
          <a:xfrm>
            <a:off x="10164303" y="988852"/>
            <a:ext cx="761747" cy="246221"/>
          </a:xfrm>
          <a:prstGeom prst="rect">
            <a:avLst/>
          </a:prstGeom>
          <a:noFill/>
        </p:spPr>
        <p:txBody>
          <a:bodyPr wrap="none" rtlCol="0">
            <a:spAutoFit/>
          </a:bodyPr>
          <a:lstStyle/>
          <a:p>
            <a:r>
              <a:rPr lang="ko-KR" altLang="en-US" sz="1000" dirty="0"/>
              <a:t>신청당사자</a:t>
            </a:r>
          </a:p>
        </p:txBody>
      </p:sp>
      <p:sp>
        <p:nvSpPr>
          <p:cNvPr id="425" name="TextBox 424">
            <a:extLst>
              <a:ext uri="{FF2B5EF4-FFF2-40B4-BE49-F238E27FC236}">
                <a16:creationId xmlns:a16="http://schemas.microsoft.com/office/drawing/2014/main" id="{095E882A-E25D-47CD-AB7D-683D6B228563}"/>
              </a:ext>
            </a:extLst>
          </p:cNvPr>
          <p:cNvSpPr txBox="1"/>
          <p:nvPr/>
        </p:nvSpPr>
        <p:spPr>
          <a:xfrm>
            <a:off x="10164303" y="1326505"/>
            <a:ext cx="1249060" cy="246221"/>
          </a:xfrm>
          <a:prstGeom prst="rect">
            <a:avLst/>
          </a:prstGeom>
          <a:noFill/>
        </p:spPr>
        <p:txBody>
          <a:bodyPr wrap="none" rtlCol="0">
            <a:spAutoFit/>
          </a:bodyPr>
          <a:lstStyle/>
          <a:p>
            <a:r>
              <a:rPr lang="ko-KR" altLang="en-US" sz="1000" dirty="0"/>
              <a:t>각 당사자</a:t>
            </a:r>
            <a:r>
              <a:rPr lang="en-US" altLang="ko-KR" sz="1000" dirty="0"/>
              <a:t>, </a:t>
            </a:r>
            <a:r>
              <a:rPr lang="ko-KR" altLang="en-US" sz="1000" dirty="0"/>
              <a:t>대리인 등</a:t>
            </a:r>
          </a:p>
        </p:txBody>
      </p:sp>
      <p:sp>
        <p:nvSpPr>
          <p:cNvPr id="426" name="TextBox 425">
            <a:extLst>
              <a:ext uri="{FF2B5EF4-FFF2-40B4-BE49-F238E27FC236}">
                <a16:creationId xmlns:a16="http://schemas.microsoft.com/office/drawing/2014/main" id="{31CEF9F4-E092-4F50-8B8C-79EAA942579D}"/>
              </a:ext>
            </a:extLst>
          </p:cNvPr>
          <p:cNvSpPr txBox="1"/>
          <p:nvPr/>
        </p:nvSpPr>
        <p:spPr>
          <a:xfrm>
            <a:off x="10164303" y="1628269"/>
            <a:ext cx="415498" cy="246221"/>
          </a:xfrm>
          <a:prstGeom prst="rect">
            <a:avLst/>
          </a:prstGeom>
          <a:noFill/>
        </p:spPr>
        <p:txBody>
          <a:bodyPr wrap="none" rtlCol="0">
            <a:spAutoFit/>
          </a:bodyPr>
          <a:lstStyle/>
          <a:p>
            <a:r>
              <a:rPr lang="ko-KR" altLang="en-US" sz="1000" dirty="0"/>
              <a:t>법원</a:t>
            </a:r>
          </a:p>
        </p:txBody>
      </p:sp>
    </p:spTree>
    <p:extLst>
      <p:ext uri="{BB962C8B-B14F-4D97-AF65-F5344CB8AC3E}">
        <p14:creationId xmlns:p14="http://schemas.microsoft.com/office/powerpoint/2010/main" val="2069781343"/>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127</a:t>
            </a:r>
            <a:r>
              <a:rPr lang="ko-KR" altLang="en-US" dirty="0"/>
              <a:t>조</a:t>
            </a:r>
          </a:p>
        </p:txBody>
      </p:sp>
      <p:sp>
        <p:nvSpPr>
          <p:cNvPr id="5" name="텍스트 개체 틀 4"/>
          <p:cNvSpPr>
            <a:spLocks noGrp="1"/>
          </p:cNvSpPr>
          <p:nvPr>
            <p:ph type="body" sz="quarter" idx="13"/>
          </p:nvPr>
        </p:nvSpPr>
        <p:spPr/>
        <p:txBody>
          <a:bodyPr/>
          <a:lstStyle/>
          <a:p>
            <a:r>
              <a:rPr lang="ko-KR" altLang="en-US" dirty="0"/>
              <a:t>간접침해의 개념</a:t>
            </a:r>
          </a:p>
        </p:txBody>
      </p:sp>
      <p:cxnSp>
        <p:nvCxnSpPr>
          <p:cNvPr id="6" name="직선 연결선 5"/>
          <p:cNvCxnSpPr/>
          <p:nvPr/>
        </p:nvCxnSpPr>
        <p:spPr>
          <a:xfrm>
            <a:off x="-36242" y="173081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77875" y="986046"/>
            <a:ext cx="11936323" cy="738664"/>
          </a:xfrm>
          <a:prstGeom prst="rect">
            <a:avLst/>
          </a:prstGeom>
          <a:noFill/>
        </p:spPr>
        <p:txBody>
          <a:bodyPr wrap="square" rtlCol="0">
            <a:spAutoFit/>
          </a:bodyPr>
          <a:lstStyle/>
          <a:p>
            <a:r>
              <a:rPr lang="ko-KR" altLang="en-US" sz="1400" b="1" dirty="0">
                <a:solidFill>
                  <a:schemeClr val="accent1"/>
                </a:solidFill>
                <a:latin typeface="+mn-ea"/>
              </a:rPr>
              <a:t>제</a:t>
            </a:r>
            <a:r>
              <a:rPr lang="en-US" altLang="ko-KR" sz="1400" b="1" dirty="0">
                <a:solidFill>
                  <a:schemeClr val="accent1"/>
                </a:solidFill>
                <a:latin typeface="+mn-ea"/>
              </a:rPr>
              <a:t>127</a:t>
            </a:r>
            <a:r>
              <a:rPr lang="ko-KR" altLang="en-US" sz="1400" b="1" dirty="0">
                <a:solidFill>
                  <a:schemeClr val="accent1"/>
                </a:solidFill>
                <a:latin typeface="+mn-ea"/>
              </a:rPr>
              <a:t>조</a:t>
            </a:r>
            <a:r>
              <a:rPr lang="en-US" altLang="ko-KR" sz="1400" b="1" dirty="0">
                <a:solidFill>
                  <a:schemeClr val="accent1"/>
                </a:solidFill>
                <a:latin typeface="+mn-ea"/>
              </a:rPr>
              <a:t>(</a:t>
            </a:r>
            <a:r>
              <a:rPr lang="ko-KR" altLang="en-US" sz="1400" b="1" dirty="0">
                <a:solidFill>
                  <a:schemeClr val="accent1"/>
                </a:solidFill>
                <a:latin typeface="+mn-ea"/>
              </a:rPr>
              <a:t>침해로 보는 행위</a:t>
            </a:r>
            <a:r>
              <a:rPr lang="en-US" altLang="ko-KR" sz="1400" b="1" dirty="0">
                <a:solidFill>
                  <a:schemeClr val="accent1"/>
                </a:solidFill>
                <a:latin typeface="+mn-ea"/>
              </a:rPr>
              <a:t>) </a:t>
            </a:r>
            <a:r>
              <a:rPr lang="ko-KR" altLang="en-US" sz="1400" dirty="0">
                <a:solidFill>
                  <a:schemeClr val="tx2"/>
                </a:solidFill>
                <a:latin typeface="+mn-ea"/>
              </a:rPr>
              <a:t>다음 각 호의 구분에 따른 행위를 업으로서 하는 경우에는 특허권 또는 </a:t>
            </a:r>
            <a:r>
              <a:rPr lang="ko-KR" altLang="en-US" sz="1400" dirty="0" err="1">
                <a:solidFill>
                  <a:schemeClr val="tx2"/>
                </a:solidFill>
                <a:latin typeface="+mn-ea"/>
              </a:rPr>
              <a:t>전용실시권을</a:t>
            </a:r>
            <a:r>
              <a:rPr lang="ko-KR" altLang="en-US" sz="1400" dirty="0">
                <a:solidFill>
                  <a:schemeClr val="tx2"/>
                </a:solidFill>
                <a:latin typeface="+mn-ea"/>
              </a:rPr>
              <a:t> 침해한 것으로 본다</a:t>
            </a:r>
            <a:r>
              <a:rPr lang="en-US" altLang="ko-KR" sz="1400" dirty="0">
                <a:solidFill>
                  <a:schemeClr val="tx2"/>
                </a:solidFill>
                <a:latin typeface="+mn-ea"/>
              </a:rPr>
              <a:t>.</a:t>
            </a:r>
          </a:p>
          <a:p>
            <a:r>
              <a:rPr lang="en-US" altLang="ko-KR" sz="1400" dirty="0">
                <a:solidFill>
                  <a:schemeClr val="tx2"/>
                </a:solidFill>
                <a:latin typeface="+mn-ea"/>
              </a:rPr>
              <a:t>1. </a:t>
            </a:r>
            <a:r>
              <a:rPr lang="ko-KR" altLang="en-US" sz="1400" dirty="0">
                <a:solidFill>
                  <a:schemeClr val="tx2"/>
                </a:solidFill>
                <a:latin typeface="+mn-ea"/>
              </a:rPr>
              <a:t>특허가 물건의 발명인 경우</a:t>
            </a:r>
            <a:r>
              <a:rPr lang="en-US" altLang="ko-KR" sz="1400" dirty="0">
                <a:solidFill>
                  <a:schemeClr val="tx2"/>
                </a:solidFill>
                <a:latin typeface="+mn-ea"/>
              </a:rPr>
              <a:t>: </a:t>
            </a:r>
            <a:r>
              <a:rPr lang="ko-KR" altLang="en-US" sz="1400" dirty="0">
                <a:solidFill>
                  <a:schemeClr val="tx2"/>
                </a:solidFill>
                <a:latin typeface="+mn-ea"/>
              </a:rPr>
              <a:t>그 물건의 생산에만 사용하는 물건을 </a:t>
            </a:r>
            <a:r>
              <a:rPr lang="ko-KR" altLang="en-US" sz="1400" dirty="0" err="1">
                <a:solidFill>
                  <a:schemeClr val="tx2"/>
                </a:solidFill>
                <a:latin typeface="+mn-ea"/>
              </a:rPr>
              <a:t>생산ㆍ양도ㆍ대여</a:t>
            </a:r>
            <a:r>
              <a:rPr lang="ko-KR" altLang="en-US" sz="1400" dirty="0" err="1"/>
              <a:t>ㆍ</a:t>
            </a:r>
            <a:r>
              <a:rPr kumimoji="1" lang="ko-KR" altLang="en-US" sz="1400" b="0" i="0" u="none" strike="noStrike" cap="none" normalizeH="0" baseline="0" dirty="0" err="1">
                <a:ln>
                  <a:noFill/>
                </a:ln>
                <a:solidFill>
                  <a:srgbClr val="444444"/>
                </a:solidFill>
                <a:effectLst/>
                <a:latin typeface="+mn-ea"/>
                <a:cs typeface="굴림" pitchFamily="50" charset="-127"/>
              </a:rPr>
              <a:t>수출</a:t>
            </a:r>
            <a:r>
              <a:rPr lang="ko-KR" altLang="en-US" sz="1400" dirty="0">
                <a:solidFill>
                  <a:schemeClr val="tx2"/>
                </a:solidFill>
                <a:latin typeface="+mn-ea"/>
              </a:rPr>
              <a:t> 또는 수입하거나 그 물건의 양도 또는 대여의 청약을 하는 행위</a:t>
            </a:r>
          </a:p>
          <a:p>
            <a:r>
              <a:rPr lang="en-US" altLang="ko-KR" sz="1400" dirty="0">
                <a:solidFill>
                  <a:schemeClr val="tx2"/>
                </a:solidFill>
                <a:latin typeface="+mn-ea"/>
              </a:rPr>
              <a:t>2. </a:t>
            </a:r>
            <a:r>
              <a:rPr lang="ko-KR" altLang="en-US" sz="1400" dirty="0">
                <a:solidFill>
                  <a:schemeClr val="tx2"/>
                </a:solidFill>
                <a:latin typeface="+mn-ea"/>
              </a:rPr>
              <a:t>특허가 방법의 발명인 경우</a:t>
            </a:r>
            <a:r>
              <a:rPr lang="en-US" altLang="ko-KR" sz="1400" dirty="0">
                <a:solidFill>
                  <a:schemeClr val="tx2"/>
                </a:solidFill>
                <a:latin typeface="+mn-ea"/>
              </a:rPr>
              <a:t>: </a:t>
            </a:r>
            <a:r>
              <a:rPr lang="ko-KR" altLang="en-US" sz="1400" dirty="0">
                <a:solidFill>
                  <a:schemeClr val="tx2"/>
                </a:solidFill>
                <a:latin typeface="+mn-ea"/>
              </a:rPr>
              <a:t>그 방법의 실시에만 사용하는 물건을 </a:t>
            </a:r>
            <a:r>
              <a:rPr lang="ko-KR" altLang="en-US" sz="1400" dirty="0" err="1">
                <a:solidFill>
                  <a:schemeClr val="tx2"/>
                </a:solidFill>
                <a:latin typeface="+mn-ea"/>
              </a:rPr>
              <a:t>생산ㆍ양도ㆍ대여</a:t>
            </a:r>
            <a:r>
              <a:rPr lang="ko-KR" altLang="en-US" sz="1400" dirty="0" err="1"/>
              <a:t>ㆍ</a:t>
            </a:r>
            <a:r>
              <a:rPr kumimoji="1" lang="ko-KR" altLang="en-US" sz="1400" b="0" i="0" u="none" strike="noStrike" cap="none" normalizeH="0" baseline="0" dirty="0" err="1">
                <a:ln>
                  <a:noFill/>
                </a:ln>
                <a:solidFill>
                  <a:srgbClr val="444444"/>
                </a:solidFill>
                <a:effectLst/>
                <a:latin typeface="+mn-ea"/>
                <a:cs typeface="굴림" pitchFamily="50" charset="-127"/>
              </a:rPr>
              <a:t>수출</a:t>
            </a:r>
            <a:r>
              <a:rPr lang="ko-KR" altLang="en-US" sz="1400" dirty="0">
                <a:solidFill>
                  <a:schemeClr val="tx2"/>
                </a:solidFill>
                <a:latin typeface="+mn-ea"/>
              </a:rPr>
              <a:t> 또는 수입하거나 그 물건의 양도 또는 대여의 청약을 하는 행위</a:t>
            </a:r>
          </a:p>
        </p:txBody>
      </p:sp>
      <p:sp>
        <p:nvSpPr>
          <p:cNvPr id="17" name="직사각형 16"/>
          <p:cNvSpPr/>
          <p:nvPr/>
        </p:nvSpPr>
        <p:spPr>
          <a:xfrm>
            <a:off x="235712" y="2427481"/>
            <a:ext cx="4983988" cy="1728192"/>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9" name="TextBox 18"/>
          <p:cNvSpPr txBox="1"/>
          <p:nvPr/>
        </p:nvSpPr>
        <p:spPr>
          <a:xfrm>
            <a:off x="240895" y="2120368"/>
            <a:ext cx="1750800" cy="307777"/>
          </a:xfrm>
          <a:prstGeom prst="rect">
            <a:avLst/>
          </a:prstGeom>
          <a:solidFill>
            <a:schemeClr val="accent1">
              <a:lumMod val="50000"/>
            </a:schemeClr>
          </a:solid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wrap="none" rtlCol="0">
            <a:spAutoFit/>
          </a:bodyPr>
          <a:lstStyle/>
          <a:p>
            <a:r>
              <a:rPr lang="ko-KR" altLang="en-US" sz="1400" dirty="0"/>
              <a:t>甲</a:t>
            </a:r>
            <a:r>
              <a:rPr lang="en-US" altLang="ko-KR" sz="1400" dirty="0"/>
              <a:t>-</a:t>
            </a:r>
            <a:r>
              <a:rPr lang="ko-KR" altLang="en-US" sz="1400" dirty="0" err="1"/>
              <a:t>벤틀리의</a:t>
            </a:r>
            <a:r>
              <a:rPr lang="ko-KR" altLang="en-US" sz="1400" dirty="0"/>
              <a:t> </a:t>
            </a:r>
            <a:r>
              <a:rPr lang="ko-KR" altLang="en-US" sz="1400" dirty="0" err="1"/>
              <a:t>특허권자</a:t>
            </a:r>
            <a:endParaRPr lang="ko-KR" altLang="en-US" sz="1400" dirty="0"/>
          </a:p>
        </p:txBody>
      </p:sp>
      <p:sp>
        <p:nvSpPr>
          <p:cNvPr id="22" name="직사각형 21"/>
          <p:cNvSpPr/>
          <p:nvPr/>
        </p:nvSpPr>
        <p:spPr>
          <a:xfrm>
            <a:off x="715764" y="2643505"/>
            <a:ext cx="1440160" cy="576064"/>
          </a:xfrm>
          <a:prstGeom prst="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4" name="타원 23"/>
          <p:cNvSpPr/>
          <p:nvPr/>
        </p:nvSpPr>
        <p:spPr>
          <a:xfrm>
            <a:off x="907785" y="3111557"/>
            <a:ext cx="312035" cy="324036"/>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6" name="타원 25"/>
          <p:cNvSpPr/>
          <p:nvPr/>
        </p:nvSpPr>
        <p:spPr>
          <a:xfrm>
            <a:off x="1579861" y="3111557"/>
            <a:ext cx="314768" cy="324036"/>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7" name="포인트가 5개인 별 26"/>
          <p:cNvSpPr/>
          <p:nvPr/>
        </p:nvSpPr>
        <p:spPr>
          <a:xfrm>
            <a:off x="1219820" y="2769519"/>
            <a:ext cx="432048" cy="324036"/>
          </a:xfrm>
          <a:prstGeom prst="star5">
            <a:avLst/>
          </a:prstGeom>
        </p:spPr>
        <p:style>
          <a:lnRef idx="1">
            <a:schemeClr val="accent2"/>
          </a:lnRef>
          <a:fillRef idx="3">
            <a:schemeClr val="accent2"/>
          </a:fillRef>
          <a:effectRef idx="2">
            <a:schemeClr val="accent2"/>
          </a:effectRef>
          <a:fontRef idx="minor">
            <a:schemeClr val="lt1"/>
          </a:fontRef>
        </p:style>
        <p:txBody>
          <a:bodyPr rtlCol="0" anchor="ctr"/>
          <a:lstStyle/>
          <a:p>
            <a:pPr algn="ctr"/>
            <a:endParaRPr lang="ko-KR" altLang="en-US" sz="1400"/>
          </a:p>
        </p:txBody>
      </p:sp>
      <p:sp>
        <p:nvSpPr>
          <p:cNvPr id="28" name="TextBox 27"/>
          <p:cNvSpPr txBox="1"/>
          <p:nvPr/>
        </p:nvSpPr>
        <p:spPr>
          <a:xfrm>
            <a:off x="2543363" y="2572039"/>
            <a:ext cx="829073" cy="307777"/>
          </a:xfrm>
          <a:prstGeom prst="rect">
            <a:avLst/>
          </a:prstGeom>
          <a:noFill/>
        </p:spPr>
        <p:txBody>
          <a:bodyPr wrap="none" rtlCol="0">
            <a:spAutoFit/>
          </a:bodyPr>
          <a:lstStyle/>
          <a:p>
            <a:r>
              <a:rPr lang="en-US" altLang="ko-KR" sz="1400" dirty="0"/>
              <a:t>Body(a)</a:t>
            </a:r>
            <a:endParaRPr lang="ko-KR" altLang="en-US" sz="1400" dirty="0"/>
          </a:p>
        </p:txBody>
      </p:sp>
      <p:sp>
        <p:nvSpPr>
          <p:cNvPr id="29" name="TextBox 28"/>
          <p:cNvSpPr txBox="1"/>
          <p:nvPr/>
        </p:nvSpPr>
        <p:spPr>
          <a:xfrm>
            <a:off x="2476687" y="3173457"/>
            <a:ext cx="736099" cy="307777"/>
          </a:xfrm>
          <a:prstGeom prst="rect">
            <a:avLst/>
          </a:prstGeom>
          <a:noFill/>
        </p:spPr>
        <p:txBody>
          <a:bodyPr wrap="none" rtlCol="0">
            <a:spAutoFit/>
          </a:bodyPr>
          <a:lstStyle/>
          <a:p>
            <a:r>
              <a:rPr lang="ko-KR" altLang="en-US" sz="1400" dirty="0"/>
              <a:t>바퀴</a:t>
            </a:r>
            <a:r>
              <a:rPr lang="en-US" altLang="ko-KR" sz="1400" dirty="0"/>
              <a:t>(b)</a:t>
            </a:r>
            <a:endParaRPr lang="ko-KR" altLang="en-US" sz="1400" dirty="0"/>
          </a:p>
        </p:txBody>
      </p:sp>
      <p:sp>
        <p:nvSpPr>
          <p:cNvPr id="30" name="TextBox 29"/>
          <p:cNvSpPr txBox="1"/>
          <p:nvPr/>
        </p:nvSpPr>
        <p:spPr>
          <a:xfrm>
            <a:off x="447861" y="3744957"/>
            <a:ext cx="3172663" cy="307777"/>
          </a:xfrm>
          <a:prstGeom prst="rect">
            <a:avLst/>
          </a:prstGeom>
          <a:noFill/>
        </p:spPr>
        <p:txBody>
          <a:bodyPr wrap="none" rtlCol="0">
            <a:spAutoFit/>
          </a:bodyPr>
          <a:lstStyle/>
          <a:p>
            <a:r>
              <a:rPr lang="ko-KR" altLang="en-US" sz="1400" dirty="0"/>
              <a:t>오직</a:t>
            </a:r>
            <a:r>
              <a:rPr lang="en-US" altLang="ko-KR" sz="1400" dirty="0"/>
              <a:t> </a:t>
            </a:r>
            <a:r>
              <a:rPr lang="ko-KR" altLang="en-US" sz="1400" dirty="0" err="1"/>
              <a:t>벤틀리의</a:t>
            </a:r>
            <a:r>
              <a:rPr lang="ko-KR" altLang="en-US" sz="1400" dirty="0"/>
              <a:t> 생산에만 사용되는 엔진</a:t>
            </a:r>
            <a:r>
              <a:rPr lang="en-US" altLang="ko-KR" sz="1400" dirty="0"/>
              <a:t>(c)</a:t>
            </a:r>
            <a:endParaRPr lang="ko-KR" altLang="en-US" sz="1400" dirty="0"/>
          </a:p>
        </p:txBody>
      </p:sp>
      <p:cxnSp>
        <p:nvCxnSpPr>
          <p:cNvPr id="31" name="구부러진 연결선 30"/>
          <p:cNvCxnSpPr>
            <a:stCxn id="22" idx="3"/>
            <a:endCxn id="28" idx="1"/>
          </p:cNvCxnSpPr>
          <p:nvPr/>
        </p:nvCxnSpPr>
        <p:spPr>
          <a:xfrm flipV="1">
            <a:off x="2155924" y="2725928"/>
            <a:ext cx="387439" cy="205609"/>
          </a:xfrm>
          <a:prstGeom prst="curvedConnector3">
            <a:avLst/>
          </a:prstGeom>
          <a:ln w="12700">
            <a:solidFill>
              <a:schemeClr val="accent2">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구부러진 연결선 31"/>
          <p:cNvCxnSpPr>
            <a:stCxn id="26" idx="5"/>
            <a:endCxn id="29" idx="1"/>
          </p:cNvCxnSpPr>
          <p:nvPr/>
        </p:nvCxnSpPr>
        <p:spPr>
          <a:xfrm rot="5400000" flipH="1" flipV="1">
            <a:off x="2132212" y="3043665"/>
            <a:ext cx="60793" cy="628155"/>
          </a:xfrm>
          <a:prstGeom prst="curvedConnector4">
            <a:avLst>
              <a:gd name="adj1" fmla="val -376030"/>
              <a:gd name="adj2" fmla="val 53669"/>
            </a:avLst>
          </a:prstGeom>
          <a:ln w="12700">
            <a:solidFill>
              <a:schemeClr val="accent2">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구부러진 연결선 32"/>
          <p:cNvCxnSpPr/>
          <p:nvPr/>
        </p:nvCxnSpPr>
        <p:spPr>
          <a:xfrm rot="16200000" flipH="1">
            <a:off x="1097130" y="3432269"/>
            <a:ext cx="677433" cy="1"/>
          </a:xfrm>
          <a:prstGeom prst="curvedConnector3">
            <a:avLst>
              <a:gd name="adj1" fmla="val 86557"/>
            </a:avLst>
          </a:prstGeom>
          <a:ln w="12700">
            <a:solidFill>
              <a:schemeClr val="accent2">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2112649" y="2118205"/>
            <a:ext cx="2132315" cy="307777"/>
          </a:xfrm>
          <a:prstGeom prst="rect">
            <a:avLst/>
          </a:prstGeom>
          <a:noFill/>
        </p:spPr>
        <p:txBody>
          <a:bodyPr wrap="none" rtlCol="0">
            <a:spAutoFit/>
          </a:bodyPr>
          <a:lstStyle/>
          <a:p>
            <a:r>
              <a:rPr lang="ko-KR" altLang="en-US" sz="1400" dirty="0" err="1">
                <a:solidFill>
                  <a:srgbClr val="FF0000"/>
                </a:solidFill>
              </a:rPr>
              <a:t>벤틀리의</a:t>
            </a:r>
            <a:r>
              <a:rPr lang="ko-KR" altLang="en-US" sz="1400" dirty="0">
                <a:solidFill>
                  <a:srgbClr val="FF0000"/>
                </a:solidFill>
              </a:rPr>
              <a:t> 구성요소</a:t>
            </a:r>
            <a:r>
              <a:rPr lang="en-US" altLang="ko-KR" sz="1400" dirty="0">
                <a:solidFill>
                  <a:srgbClr val="FF0000"/>
                </a:solidFill>
              </a:rPr>
              <a:t>: </a:t>
            </a:r>
            <a:r>
              <a:rPr lang="en-US" altLang="ko-KR" sz="1400" dirty="0" err="1">
                <a:solidFill>
                  <a:srgbClr val="FF0000"/>
                </a:solidFill>
              </a:rPr>
              <a:t>a+b+c</a:t>
            </a:r>
            <a:endParaRPr lang="ko-KR" altLang="en-US" sz="1400" dirty="0">
              <a:solidFill>
                <a:srgbClr val="FF0000"/>
              </a:solidFill>
            </a:endParaRPr>
          </a:p>
        </p:txBody>
      </p:sp>
      <p:sp>
        <p:nvSpPr>
          <p:cNvPr id="35" name="TextBox 34"/>
          <p:cNvSpPr txBox="1"/>
          <p:nvPr/>
        </p:nvSpPr>
        <p:spPr>
          <a:xfrm>
            <a:off x="235711" y="4538123"/>
            <a:ext cx="5450531" cy="830997"/>
          </a:xfrm>
          <a:prstGeom prst="rect">
            <a:avLst/>
          </a:prstGeom>
          <a:noFill/>
        </p:spPr>
        <p:txBody>
          <a:bodyPr wrap="none" rtlCol="0">
            <a:spAutoFit/>
          </a:bodyPr>
          <a:lstStyle/>
          <a:p>
            <a:pPr marL="85725" indent="-85725">
              <a:buFont typeface="Wingdings" pitchFamily="2" charset="2"/>
              <a:buChar char="§"/>
            </a:pPr>
            <a:r>
              <a:rPr lang="ko-KR" altLang="en-US" sz="1600" dirty="0"/>
              <a:t> 乙이 </a:t>
            </a:r>
            <a:r>
              <a:rPr lang="en-US" altLang="ko-KR" sz="1600" dirty="0"/>
              <a:t>c</a:t>
            </a:r>
            <a:r>
              <a:rPr lang="ko-KR" altLang="en-US" sz="1600" dirty="0"/>
              <a:t>를 생산하는 행위는 침해인가</a:t>
            </a:r>
            <a:r>
              <a:rPr lang="en-US" altLang="ko-KR" sz="1600" dirty="0"/>
              <a:t>?</a:t>
            </a:r>
          </a:p>
          <a:p>
            <a:pPr marL="85725" indent="-85725">
              <a:buFont typeface="Wingdings" pitchFamily="2" charset="2"/>
              <a:buChar char="§"/>
            </a:pPr>
            <a:r>
              <a:rPr lang="ko-KR" altLang="en-US" sz="1600" dirty="0"/>
              <a:t> 乙이 </a:t>
            </a:r>
            <a:r>
              <a:rPr lang="en-US" altLang="ko-KR" sz="1600" dirty="0"/>
              <a:t>c</a:t>
            </a:r>
            <a:r>
              <a:rPr lang="ko-KR" altLang="en-US" sz="1600" dirty="0"/>
              <a:t>를 사용하는 행위는 침해인가</a:t>
            </a:r>
            <a:r>
              <a:rPr lang="en-US" altLang="ko-KR" sz="1600" dirty="0"/>
              <a:t>?</a:t>
            </a:r>
          </a:p>
          <a:p>
            <a:pPr marL="85725" indent="-85725">
              <a:buFont typeface="Wingdings" pitchFamily="2" charset="2"/>
              <a:buChar char="§"/>
            </a:pPr>
            <a:r>
              <a:rPr lang="en-US" altLang="ko-KR" sz="1600" dirty="0"/>
              <a:t> </a:t>
            </a:r>
            <a:r>
              <a:rPr lang="ko-KR" altLang="en-US" sz="1600" dirty="0"/>
              <a:t>甲으로부터 乙이 </a:t>
            </a:r>
            <a:r>
              <a:rPr lang="en-US" altLang="ko-KR" sz="1600" dirty="0"/>
              <a:t>c</a:t>
            </a:r>
            <a:r>
              <a:rPr lang="ko-KR" altLang="en-US" sz="1600" dirty="0"/>
              <a:t>를 구입하여 </a:t>
            </a:r>
            <a:r>
              <a:rPr lang="en-US" altLang="ko-KR" sz="1600" dirty="0"/>
              <a:t>c</a:t>
            </a:r>
            <a:r>
              <a:rPr lang="ko-KR" altLang="en-US" sz="1600" dirty="0"/>
              <a:t>를 사용하는 행위는 침해인가</a:t>
            </a:r>
            <a:r>
              <a:rPr lang="en-US" altLang="ko-KR" sz="1600" dirty="0"/>
              <a:t>?</a:t>
            </a:r>
            <a:endParaRPr lang="ko-KR" altLang="en-US" sz="1600" dirty="0"/>
          </a:p>
        </p:txBody>
      </p:sp>
      <p:cxnSp>
        <p:nvCxnSpPr>
          <p:cNvPr id="36" name="직선 연결선 35"/>
          <p:cNvCxnSpPr/>
          <p:nvPr/>
        </p:nvCxnSpPr>
        <p:spPr>
          <a:xfrm>
            <a:off x="6099416" y="2126815"/>
            <a:ext cx="0" cy="420731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6594070" y="2120368"/>
            <a:ext cx="1484702" cy="307777"/>
          </a:xfrm>
          <a:prstGeom prst="rect">
            <a:avLst/>
          </a:prstGeom>
          <a:solidFill>
            <a:schemeClr val="accent1">
              <a:lumMod val="50000"/>
            </a:schemeClr>
          </a:solid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wrap="none" rtlCol="0">
            <a:spAutoFit/>
          </a:bodyPr>
          <a:lstStyle/>
          <a:p>
            <a:r>
              <a:rPr lang="ko-KR" altLang="en-US" sz="1400" dirty="0"/>
              <a:t>甲</a:t>
            </a:r>
            <a:r>
              <a:rPr lang="en-US" altLang="ko-KR" sz="1400" dirty="0"/>
              <a:t>-TV</a:t>
            </a:r>
            <a:r>
              <a:rPr lang="ko-KR" altLang="en-US" sz="1400" dirty="0"/>
              <a:t>의 </a:t>
            </a:r>
            <a:r>
              <a:rPr lang="ko-KR" altLang="en-US" sz="1400" dirty="0" err="1"/>
              <a:t>특허권자</a:t>
            </a:r>
            <a:endParaRPr lang="ko-KR" altLang="en-US" sz="1400" dirty="0"/>
          </a:p>
        </p:txBody>
      </p:sp>
      <p:sp>
        <p:nvSpPr>
          <p:cNvPr id="38" name="직사각형 37"/>
          <p:cNvSpPr/>
          <p:nvPr/>
        </p:nvSpPr>
        <p:spPr>
          <a:xfrm>
            <a:off x="6594070" y="2427481"/>
            <a:ext cx="4983988" cy="1728192"/>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39" name="TextBox 38"/>
          <p:cNvSpPr txBox="1"/>
          <p:nvPr/>
        </p:nvSpPr>
        <p:spPr>
          <a:xfrm>
            <a:off x="8180074" y="2118205"/>
            <a:ext cx="1866217" cy="307777"/>
          </a:xfrm>
          <a:prstGeom prst="rect">
            <a:avLst/>
          </a:prstGeom>
          <a:noFill/>
        </p:spPr>
        <p:txBody>
          <a:bodyPr wrap="none" rtlCol="0">
            <a:spAutoFit/>
          </a:bodyPr>
          <a:lstStyle/>
          <a:p>
            <a:r>
              <a:rPr lang="en-US" altLang="ko-KR" sz="1400" dirty="0">
                <a:solidFill>
                  <a:srgbClr val="FF0000"/>
                </a:solidFill>
              </a:rPr>
              <a:t>TV</a:t>
            </a:r>
            <a:r>
              <a:rPr lang="ko-KR" altLang="en-US" sz="1400" dirty="0">
                <a:solidFill>
                  <a:srgbClr val="FF0000"/>
                </a:solidFill>
              </a:rPr>
              <a:t>의 구성요소</a:t>
            </a:r>
            <a:r>
              <a:rPr lang="en-US" altLang="ko-KR" sz="1400" dirty="0">
                <a:solidFill>
                  <a:srgbClr val="FF0000"/>
                </a:solidFill>
              </a:rPr>
              <a:t>: </a:t>
            </a:r>
            <a:r>
              <a:rPr lang="en-US" altLang="ko-KR" sz="1400" dirty="0" err="1">
                <a:solidFill>
                  <a:srgbClr val="FF0000"/>
                </a:solidFill>
              </a:rPr>
              <a:t>a+b+c</a:t>
            </a:r>
            <a:endParaRPr lang="ko-KR" altLang="en-US" sz="1400" dirty="0">
              <a:solidFill>
                <a:srgbClr val="FF0000"/>
              </a:solidFill>
            </a:endParaRPr>
          </a:p>
        </p:txBody>
      </p:sp>
      <p:sp>
        <p:nvSpPr>
          <p:cNvPr id="41" name="직사각형 40"/>
          <p:cNvSpPr/>
          <p:nvPr/>
        </p:nvSpPr>
        <p:spPr>
          <a:xfrm>
            <a:off x="7126089" y="3000317"/>
            <a:ext cx="1313061" cy="654055"/>
          </a:xfrm>
          <a:prstGeom prst="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cxnSp>
        <p:nvCxnSpPr>
          <p:cNvPr id="43" name="직선 연결선 42"/>
          <p:cNvCxnSpPr>
            <a:stCxn id="41" idx="0"/>
          </p:cNvCxnSpPr>
          <p:nvPr/>
        </p:nvCxnSpPr>
        <p:spPr>
          <a:xfrm flipV="1">
            <a:off x="7782620" y="2643505"/>
            <a:ext cx="296152" cy="35681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직선 연결선 44"/>
          <p:cNvCxnSpPr>
            <a:stCxn id="41" idx="0"/>
          </p:cNvCxnSpPr>
          <p:nvPr/>
        </p:nvCxnSpPr>
        <p:spPr>
          <a:xfrm flipH="1" flipV="1">
            <a:off x="7486650" y="2643505"/>
            <a:ext cx="295970" cy="35681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모서리가 둥근 직사각형 45"/>
          <p:cNvSpPr/>
          <p:nvPr/>
        </p:nvSpPr>
        <p:spPr>
          <a:xfrm>
            <a:off x="7326896" y="3093555"/>
            <a:ext cx="940804" cy="468795"/>
          </a:xfrm>
          <a:prstGeom prst="round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TextBox 47"/>
          <p:cNvSpPr txBox="1"/>
          <p:nvPr/>
        </p:nvSpPr>
        <p:spPr>
          <a:xfrm>
            <a:off x="8671527" y="2686339"/>
            <a:ext cx="898003" cy="307777"/>
          </a:xfrm>
          <a:prstGeom prst="rect">
            <a:avLst/>
          </a:prstGeom>
          <a:noFill/>
        </p:spPr>
        <p:txBody>
          <a:bodyPr wrap="none" rtlCol="0">
            <a:spAutoFit/>
          </a:bodyPr>
          <a:lstStyle/>
          <a:p>
            <a:r>
              <a:rPr lang="ko-KR" altLang="en-US" sz="1400" dirty="0"/>
              <a:t>안테나</a:t>
            </a:r>
            <a:r>
              <a:rPr lang="en-US" altLang="ko-KR" sz="1400" dirty="0"/>
              <a:t>(b)</a:t>
            </a:r>
            <a:endParaRPr lang="ko-KR" altLang="en-US" sz="1400" dirty="0"/>
          </a:p>
        </p:txBody>
      </p:sp>
      <p:sp>
        <p:nvSpPr>
          <p:cNvPr id="49" name="TextBox 48"/>
          <p:cNvSpPr txBox="1"/>
          <p:nvPr/>
        </p:nvSpPr>
        <p:spPr>
          <a:xfrm>
            <a:off x="9217218" y="3157673"/>
            <a:ext cx="829073" cy="307777"/>
          </a:xfrm>
          <a:prstGeom prst="rect">
            <a:avLst/>
          </a:prstGeom>
          <a:noFill/>
        </p:spPr>
        <p:txBody>
          <a:bodyPr wrap="none" rtlCol="0">
            <a:spAutoFit/>
          </a:bodyPr>
          <a:lstStyle/>
          <a:p>
            <a:r>
              <a:rPr lang="en-US" altLang="ko-KR" sz="1400" dirty="0"/>
              <a:t>Body(a)</a:t>
            </a:r>
            <a:endParaRPr lang="ko-KR" altLang="en-US" sz="1400" dirty="0"/>
          </a:p>
        </p:txBody>
      </p:sp>
      <p:sp>
        <p:nvSpPr>
          <p:cNvPr id="50" name="TextBox 49"/>
          <p:cNvSpPr txBox="1"/>
          <p:nvPr/>
        </p:nvSpPr>
        <p:spPr>
          <a:xfrm>
            <a:off x="8931468" y="3744957"/>
            <a:ext cx="1031051" cy="307777"/>
          </a:xfrm>
          <a:prstGeom prst="rect">
            <a:avLst/>
          </a:prstGeom>
          <a:noFill/>
        </p:spPr>
        <p:txBody>
          <a:bodyPr wrap="none" rtlCol="0">
            <a:spAutoFit/>
          </a:bodyPr>
          <a:lstStyle/>
          <a:p>
            <a:r>
              <a:rPr lang="ko-KR" altLang="en-US" sz="1400" dirty="0"/>
              <a:t>브라운관</a:t>
            </a:r>
            <a:r>
              <a:rPr lang="en-US" altLang="ko-KR" sz="1400" dirty="0"/>
              <a:t>(c)</a:t>
            </a:r>
            <a:endParaRPr lang="ko-KR" altLang="en-US" sz="1400" dirty="0"/>
          </a:p>
        </p:txBody>
      </p:sp>
      <p:cxnSp>
        <p:nvCxnSpPr>
          <p:cNvPr id="53" name="구부러진 연결선 52"/>
          <p:cNvCxnSpPr>
            <a:endCxn id="48" idx="1"/>
          </p:cNvCxnSpPr>
          <p:nvPr/>
        </p:nvCxnSpPr>
        <p:spPr>
          <a:xfrm>
            <a:off x="8078772" y="2643505"/>
            <a:ext cx="592755" cy="196723"/>
          </a:xfrm>
          <a:prstGeom prst="curvedConnector3">
            <a:avLst/>
          </a:prstGeom>
          <a:ln w="127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구부러진 연결선 56"/>
          <p:cNvCxnSpPr>
            <a:stCxn id="41" idx="3"/>
            <a:endCxn id="49" idx="1"/>
          </p:cNvCxnSpPr>
          <p:nvPr/>
        </p:nvCxnSpPr>
        <p:spPr>
          <a:xfrm flipV="1">
            <a:off x="8439150" y="3311562"/>
            <a:ext cx="778068" cy="15783"/>
          </a:xfrm>
          <a:prstGeom prst="curvedConnector3">
            <a:avLst/>
          </a:prstGeom>
          <a:ln w="127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구부러진 연결선 58"/>
          <p:cNvCxnSpPr>
            <a:stCxn id="46" idx="2"/>
            <a:endCxn id="50" idx="1"/>
          </p:cNvCxnSpPr>
          <p:nvPr/>
        </p:nvCxnSpPr>
        <p:spPr>
          <a:xfrm rot="16200000" flipH="1">
            <a:off x="8196135" y="3163513"/>
            <a:ext cx="336496" cy="1134170"/>
          </a:xfrm>
          <a:prstGeom prst="curvedConnector2">
            <a:avLst/>
          </a:prstGeom>
          <a:ln w="12700">
            <a:solidFill>
              <a:schemeClr val="accent2"/>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TextBox 59"/>
          <p:cNvSpPr txBox="1"/>
          <p:nvPr/>
        </p:nvSpPr>
        <p:spPr>
          <a:xfrm>
            <a:off x="6743947" y="5069380"/>
            <a:ext cx="393056" cy="369332"/>
          </a:xfrm>
          <a:prstGeom prst="rect">
            <a:avLst/>
          </a:prstGeom>
          <a:solidFill>
            <a:schemeClr val="accent4"/>
          </a:solidFill>
          <a:ln>
            <a:solidFill>
              <a:schemeClr val="bg1">
                <a:lumMod val="50000"/>
              </a:schemeClr>
            </a:solidFill>
          </a:ln>
        </p:spPr>
        <p:txBody>
          <a:bodyPr wrap="none" rtlCol="0">
            <a:spAutoFit/>
          </a:bodyPr>
          <a:lstStyle/>
          <a:p>
            <a:r>
              <a:rPr lang="ko-KR" altLang="en-US" dirty="0"/>
              <a:t>乙</a:t>
            </a:r>
          </a:p>
        </p:txBody>
      </p:sp>
      <p:sp>
        <p:nvSpPr>
          <p:cNvPr id="61" name="TextBox 60"/>
          <p:cNvSpPr txBox="1"/>
          <p:nvPr/>
        </p:nvSpPr>
        <p:spPr>
          <a:xfrm>
            <a:off x="6743947" y="6126655"/>
            <a:ext cx="393056" cy="369332"/>
          </a:xfrm>
          <a:prstGeom prst="rect">
            <a:avLst/>
          </a:prstGeom>
          <a:solidFill>
            <a:schemeClr val="accent4"/>
          </a:solidFill>
          <a:ln>
            <a:solidFill>
              <a:schemeClr val="bg1">
                <a:lumMod val="50000"/>
              </a:schemeClr>
            </a:solidFill>
          </a:ln>
        </p:spPr>
        <p:txBody>
          <a:bodyPr wrap="none" rtlCol="0">
            <a:spAutoFit/>
          </a:bodyPr>
          <a:lstStyle/>
          <a:p>
            <a:r>
              <a:rPr lang="ko-KR" altLang="en-US" dirty="0"/>
              <a:t>丙</a:t>
            </a:r>
          </a:p>
        </p:txBody>
      </p:sp>
      <p:cxnSp>
        <p:nvCxnSpPr>
          <p:cNvPr id="63" name="직선 화살표 연결선 62"/>
          <p:cNvCxnSpPr>
            <a:stCxn id="60" idx="2"/>
            <a:endCxn id="61" idx="0"/>
          </p:cNvCxnSpPr>
          <p:nvPr/>
        </p:nvCxnSpPr>
        <p:spPr>
          <a:xfrm>
            <a:off x="6940475" y="5438712"/>
            <a:ext cx="0" cy="687943"/>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7064548" y="5502410"/>
            <a:ext cx="1636987" cy="307777"/>
          </a:xfrm>
          <a:prstGeom prst="rect">
            <a:avLst/>
          </a:prstGeom>
          <a:noFill/>
        </p:spPr>
        <p:txBody>
          <a:bodyPr wrap="none" rtlCol="0">
            <a:spAutoFit/>
          </a:bodyPr>
          <a:lstStyle/>
          <a:p>
            <a:r>
              <a:rPr lang="en-US" altLang="ko-KR" sz="1400" dirty="0"/>
              <a:t>TV</a:t>
            </a:r>
            <a:r>
              <a:rPr lang="ko-KR" altLang="en-US" sz="1400" dirty="0"/>
              <a:t>의 조립세트 판매</a:t>
            </a:r>
          </a:p>
        </p:txBody>
      </p:sp>
      <p:sp>
        <p:nvSpPr>
          <p:cNvPr id="65" name="TextBox 64"/>
          <p:cNvSpPr txBox="1"/>
          <p:nvPr/>
        </p:nvSpPr>
        <p:spPr>
          <a:xfrm>
            <a:off x="7200722" y="6123615"/>
            <a:ext cx="2182008" cy="307777"/>
          </a:xfrm>
          <a:prstGeom prst="rect">
            <a:avLst/>
          </a:prstGeom>
          <a:noFill/>
        </p:spPr>
        <p:txBody>
          <a:bodyPr wrap="none" rtlCol="0">
            <a:spAutoFit/>
          </a:bodyPr>
          <a:lstStyle/>
          <a:p>
            <a:r>
              <a:rPr lang="ko-KR" altLang="en-US" sz="1400" dirty="0"/>
              <a:t>구입 후 집에서 조립 </a:t>
            </a:r>
            <a:r>
              <a:rPr lang="en-US" altLang="ko-KR" sz="1400" dirty="0"/>
              <a:t>&amp; </a:t>
            </a:r>
            <a:r>
              <a:rPr lang="ko-KR" altLang="en-US" sz="1400" dirty="0"/>
              <a:t>시청</a:t>
            </a:r>
          </a:p>
        </p:txBody>
      </p:sp>
      <p:sp>
        <p:nvSpPr>
          <p:cNvPr id="66" name="TextBox 65"/>
          <p:cNvSpPr txBox="1"/>
          <p:nvPr/>
        </p:nvSpPr>
        <p:spPr>
          <a:xfrm>
            <a:off x="6491952" y="4263268"/>
            <a:ext cx="2882520" cy="584775"/>
          </a:xfrm>
          <a:prstGeom prst="rect">
            <a:avLst/>
          </a:prstGeom>
          <a:noFill/>
          <a:ln>
            <a:solidFill>
              <a:schemeClr val="bg1">
                <a:lumMod val="50000"/>
              </a:schemeClr>
            </a:solidFill>
          </a:ln>
        </p:spPr>
        <p:txBody>
          <a:bodyPr wrap="none" rtlCol="0">
            <a:spAutoFit/>
          </a:bodyPr>
          <a:lstStyle/>
          <a:p>
            <a:pPr marL="85725" indent="-85725">
              <a:buFont typeface="Wingdings" pitchFamily="2" charset="2"/>
              <a:buChar char="§"/>
            </a:pPr>
            <a:r>
              <a:rPr lang="ko-KR" altLang="en-US" sz="1600" dirty="0"/>
              <a:t> 乙</a:t>
            </a:r>
            <a:r>
              <a:rPr lang="en-US" altLang="ko-KR" sz="1600" dirty="0"/>
              <a:t>, </a:t>
            </a:r>
            <a:r>
              <a:rPr lang="ko-KR" altLang="en-US" sz="1600" dirty="0"/>
              <a:t>丙의 행위는 직접침해인가</a:t>
            </a:r>
            <a:r>
              <a:rPr lang="en-US" altLang="ko-KR" sz="1600" dirty="0"/>
              <a:t>?</a:t>
            </a:r>
          </a:p>
          <a:p>
            <a:pPr marL="85725" indent="-85725">
              <a:buFont typeface="Wingdings" pitchFamily="2" charset="2"/>
              <a:buChar char="§"/>
            </a:pPr>
            <a:r>
              <a:rPr lang="ko-KR" altLang="en-US" sz="1600" dirty="0"/>
              <a:t> 어떻게 이를 막을 수 있는가</a:t>
            </a:r>
            <a:r>
              <a:rPr lang="en-US" altLang="ko-KR" sz="1600" dirty="0"/>
              <a:t>?</a:t>
            </a:r>
            <a:endParaRPr lang="ko-KR" altLang="en-US" sz="1600" dirty="0"/>
          </a:p>
        </p:txBody>
      </p:sp>
      <p:sp>
        <p:nvSpPr>
          <p:cNvPr id="2" name="슬라이드 번호 개체 틀 1"/>
          <p:cNvSpPr>
            <a:spLocks noGrp="1"/>
          </p:cNvSpPr>
          <p:nvPr>
            <p:ph type="sldNum" sz="quarter" idx="12"/>
          </p:nvPr>
        </p:nvSpPr>
        <p:spPr/>
        <p:txBody>
          <a:bodyPr/>
          <a:lstStyle/>
          <a:p>
            <a:r>
              <a:rPr lang="en-US" altLang="ko-KR"/>
              <a:t>387</a:t>
            </a:r>
            <a:endParaRPr lang="ko-KR" altLang="en-US"/>
          </a:p>
        </p:txBody>
      </p:sp>
    </p:spTree>
    <p:extLst>
      <p:ext uri="{BB962C8B-B14F-4D97-AF65-F5344CB8AC3E}">
        <p14:creationId xmlns:p14="http://schemas.microsoft.com/office/powerpoint/2010/main" val="3657732069"/>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127</a:t>
            </a:r>
            <a:r>
              <a:rPr lang="ko-KR" altLang="en-US" dirty="0"/>
              <a:t>조</a:t>
            </a:r>
          </a:p>
        </p:txBody>
      </p:sp>
      <p:sp>
        <p:nvSpPr>
          <p:cNvPr id="5" name="텍스트 개체 틀 4"/>
          <p:cNvSpPr>
            <a:spLocks noGrp="1"/>
          </p:cNvSpPr>
          <p:nvPr>
            <p:ph type="body" sz="quarter" idx="13"/>
          </p:nvPr>
        </p:nvSpPr>
        <p:spPr/>
        <p:txBody>
          <a:bodyPr/>
          <a:lstStyle/>
          <a:p>
            <a:r>
              <a:rPr lang="ko-KR" altLang="en-US" dirty="0">
                <a:solidFill>
                  <a:srgbClr val="525252"/>
                </a:solidFill>
              </a:rPr>
              <a:t>간접침해의 논점</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388</a:t>
            </a:r>
            <a:endParaRPr lang="ko-KR" altLang="en-US"/>
          </a:p>
        </p:txBody>
      </p:sp>
      <p:sp>
        <p:nvSpPr>
          <p:cNvPr id="42" name="직사각형 41"/>
          <p:cNvSpPr/>
          <p:nvPr/>
        </p:nvSpPr>
        <p:spPr>
          <a:xfrm>
            <a:off x="1570038" y="2269130"/>
            <a:ext cx="1041400" cy="419323"/>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400" dirty="0">
                <a:solidFill>
                  <a:schemeClr val="bg2">
                    <a:lumMod val="50000"/>
                  </a:schemeClr>
                </a:solidFill>
                <a:latin typeface="+mn-ea"/>
              </a:rPr>
              <a:t>특허가 </a:t>
            </a:r>
            <a:endParaRPr lang="en-US" altLang="ko-KR" sz="1400" dirty="0">
              <a:solidFill>
                <a:schemeClr val="bg2">
                  <a:lumMod val="50000"/>
                </a:schemeClr>
              </a:solidFill>
              <a:latin typeface="+mn-ea"/>
            </a:endParaRPr>
          </a:p>
          <a:p>
            <a:pPr algn="ctr" defTabSz="222250">
              <a:defRPr/>
            </a:pPr>
            <a:r>
              <a:rPr lang="ko-KR" altLang="en-US" sz="1400" dirty="0">
                <a:solidFill>
                  <a:schemeClr val="bg2">
                    <a:lumMod val="50000"/>
                  </a:schemeClr>
                </a:solidFill>
                <a:latin typeface="+mn-ea"/>
              </a:rPr>
              <a:t>물건발명</a:t>
            </a:r>
          </a:p>
        </p:txBody>
      </p:sp>
      <p:sp>
        <p:nvSpPr>
          <p:cNvPr id="44" name="직사각형 43"/>
          <p:cNvSpPr/>
          <p:nvPr/>
        </p:nvSpPr>
        <p:spPr>
          <a:xfrm>
            <a:off x="1570038" y="3504317"/>
            <a:ext cx="1041400" cy="419323"/>
          </a:xfrm>
          <a:prstGeom prst="rect">
            <a:avLst/>
          </a:prstGeom>
          <a:solidFill>
            <a:schemeClr val="accent1">
              <a:lumMod val="20000"/>
              <a:lumOff val="8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400" dirty="0">
                <a:solidFill>
                  <a:schemeClr val="bg2">
                    <a:lumMod val="50000"/>
                  </a:schemeClr>
                </a:solidFill>
                <a:latin typeface="+mn-ea"/>
              </a:rPr>
              <a:t>특허가 </a:t>
            </a:r>
            <a:endParaRPr lang="en-US" altLang="ko-KR" sz="1400" dirty="0">
              <a:solidFill>
                <a:schemeClr val="bg2">
                  <a:lumMod val="50000"/>
                </a:schemeClr>
              </a:solidFill>
              <a:latin typeface="+mn-ea"/>
            </a:endParaRPr>
          </a:p>
          <a:p>
            <a:pPr algn="ctr" defTabSz="222250">
              <a:defRPr/>
            </a:pPr>
            <a:r>
              <a:rPr lang="ko-KR" altLang="en-US" sz="1400" dirty="0">
                <a:solidFill>
                  <a:schemeClr val="bg2">
                    <a:lumMod val="50000"/>
                  </a:schemeClr>
                </a:solidFill>
                <a:latin typeface="+mn-ea"/>
              </a:rPr>
              <a:t>방법발명</a:t>
            </a:r>
          </a:p>
        </p:txBody>
      </p:sp>
      <p:sp>
        <p:nvSpPr>
          <p:cNvPr id="47" name="직사각형 46"/>
          <p:cNvSpPr/>
          <p:nvPr/>
        </p:nvSpPr>
        <p:spPr>
          <a:xfrm>
            <a:off x="2611438" y="2269130"/>
            <a:ext cx="9204044" cy="419323"/>
          </a:xfrm>
          <a:prstGeom prst="rect">
            <a:avLst/>
          </a:prstGeom>
          <a:noFill/>
          <a:ln w="12700">
            <a:no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fontAlgn="base"/>
            <a:r>
              <a:rPr lang="ko-KR" altLang="en-US" sz="1400" dirty="0"/>
              <a:t>그 물건의 생산에만 사용하는 물건을 </a:t>
            </a:r>
            <a:r>
              <a:rPr lang="ko-KR" altLang="en-US" sz="1400" dirty="0" err="1"/>
              <a:t>생산ㆍ양도ㆍ대여ㆍ</a:t>
            </a:r>
            <a:r>
              <a:rPr kumimoji="1" lang="ko-KR" altLang="en-US" sz="1400" b="0" i="0" u="none" strike="noStrike" cap="none" normalizeH="0" baseline="0" dirty="0" err="1">
                <a:ln>
                  <a:noFill/>
                </a:ln>
                <a:solidFill>
                  <a:srgbClr val="444444"/>
                </a:solidFill>
                <a:effectLst/>
                <a:latin typeface="+mn-ea"/>
                <a:cs typeface="굴림" pitchFamily="50" charset="-127"/>
              </a:rPr>
              <a:t>수출</a:t>
            </a:r>
            <a:r>
              <a:rPr lang="ko-KR" altLang="en-US" sz="1400" dirty="0"/>
              <a:t> 또는 수입하거나 그 물건의 양도 또는 대여의 청약을 하는 행위</a:t>
            </a:r>
          </a:p>
        </p:txBody>
      </p:sp>
      <p:sp>
        <p:nvSpPr>
          <p:cNvPr id="51" name="직사각형 50"/>
          <p:cNvSpPr/>
          <p:nvPr/>
        </p:nvSpPr>
        <p:spPr>
          <a:xfrm>
            <a:off x="2611438" y="3504317"/>
            <a:ext cx="9204044" cy="419323"/>
          </a:xfrm>
          <a:prstGeom prst="rect">
            <a:avLst/>
          </a:prstGeom>
          <a:noFill/>
          <a:ln w="12700">
            <a:no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fontAlgn="base"/>
            <a:r>
              <a:rPr lang="ko-KR" altLang="en-US" sz="1400" dirty="0"/>
              <a:t>그 방법의 실시에만 사용하는 물건을 </a:t>
            </a:r>
            <a:r>
              <a:rPr lang="ko-KR" altLang="en-US" sz="1400" dirty="0" err="1"/>
              <a:t>생산ㆍ양도ㆍ대여ㆍ</a:t>
            </a:r>
            <a:r>
              <a:rPr kumimoji="1" lang="ko-KR" altLang="en-US" sz="1400" b="0" i="0" u="none" strike="noStrike" cap="none" normalizeH="0" baseline="0" dirty="0" err="1">
                <a:ln>
                  <a:noFill/>
                </a:ln>
                <a:solidFill>
                  <a:srgbClr val="444444"/>
                </a:solidFill>
                <a:effectLst/>
                <a:latin typeface="+mn-ea"/>
                <a:cs typeface="굴림" pitchFamily="50" charset="-127"/>
              </a:rPr>
              <a:t>수출</a:t>
            </a:r>
            <a:r>
              <a:rPr lang="ko-KR" altLang="en-US" sz="1400" dirty="0"/>
              <a:t> 또는 수입하거나 그 물건의 양도 또는 대여의 청약을 하는 행위</a:t>
            </a:r>
          </a:p>
        </p:txBody>
      </p:sp>
      <p:cxnSp>
        <p:nvCxnSpPr>
          <p:cNvPr id="52" name="꺾인 연결선 51"/>
          <p:cNvCxnSpPr>
            <a:stCxn id="40" idx="3"/>
            <a:endCxn id="42" idx="1"/>
          </p:cNvCxnSpPr>
          <p:nvPr/>
        </p:nvCxnSpPr>
        <p:spPr>
          <a:xfrm flipV="1">
            <a:off x="1238251" y="2478792"/>
            <a:ext cx="331787" cy="62432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꺾인 연결선 53"/>
          <p:cNvCxnSpPr>
            <a:stCxn id="40" idx="3"/>
            <a:endCxn id="44" idx="1"/>
          </p:cNvCxnSpPr>
          <p:nvPr/>
        </p:nvCxnSpPr>
        <p:spPr>
          <a:xfrm>
            <a:off x="1238251" y="3103121"/>
            <a:ext cx="331787" cy="61085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직사각형 57"/>
          <p:cNvSpPr/>
          <p:nvPr/>
        </p:nvSpPr>
        <p:spPr>
          <a:xfrm>
            <a:off x="3747653" y="2338866"/>
            <a:ext cx="340253" cy="3185634"/>
          </a:xfrm>
          <a:prstGeom prst="rect">
            <a:avLst/>
          </a:prstGeom>
          <a:solidFill>
            <a:schemeClr val="accent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2" name="TextBox 61"/>
          <p:cNvSpPr txBox="1"/>
          <p:nvPr/>
        </p:nvSpPr>
        <p:spPr>
          <a:xfrm>
            <a:off x="3765583" y="5715416"/>
            <a:ext cx="6851556" cy="954107"/>
          </a:xfrm>
          <a:prstGeom prst="rect">
            <a:avLst/>
          </a:prstGeom>
          <a:noFill/>
        </p:spPr>
        <p:txBody>
          <a:bodyPr wrap="none" rtlCol="0">
            <a:spAutoFit/>
          </a:bodyPr>
          <a:lstStyle/>
          <a:p>
            <a:pPr marL="85725" indent="-85725">
              <a:buFont typeface="Arial" pitchFamily="34" charset="0"/>
              <a:buChar char="•"/>
            </a:pPr>
            <a:r>
              <a:rPr lang="ko-KR" altLang="en-US" sz="1400" dirty="0">
                <a:solidFill>
                  <a:schemeClr val="accent2">
                    <a:lumMod val="50000"/>
                  </a:schemeClr>
                </a:solidFill>
              </a:rPr>
              <a:t> 다른 용도가 없을 것</a:t>
            </a:r>
            <a:r>
              <a:rPr lang="en-US" altLang="ko-KR" sz="1400" dirty="0">
                <a:solidFill>
                  <a:schemeClr val="accent2">
                    <a:lumMod val="50000"/>
                  </a:schemeClr>
                </a:solidFill>
              </a:rPr>
              <a:t>(</a:t>
            </a:r>
            <a:r>
              <a:rPr lang="ko-KR" altLang="en-US" sz="1400" dirty="0">
                <a:solidFill>
                  <a:schemeClr val="accent2">
                    <a:lumMod val="50000"/>
                  </a:schemeClr>
                </a:solidFill>
              </a:rPr>
              <a:t>전용성</a:t>
            </a:r>
            <a:r>
              <a:rPr lang="en-US" altLang="ko-KR" sz="1400" dirty="0">
                <a:solidFill>
                  <a:schemeClr val="accent2">
                    <a:lumMod val="50000"/>
                  </a:schemeClr>
                </a:solidFill>
              </a:rPr>
              <a:t>(</a:t>
            </a:r>
            <a:r>
              <a:rPr lang="ko-KR" altLang="en-US" sz="1400" dirty="0">
                <a:solidFill>
                  <a:schemeClr val="accent2">
                    <a:lumMod val="50000"/>
                  </a:schemeClr>
                </a:solidFill>
              </a:rPr>
              <a:t>專用性</a:t>
            </a:r>
            <a:r>
              <a:rPr lang="en-US" altLang="ko-KR" sz="1400" dirty="0">
                <a:solidFill>
                  <a:schemeClr val="accent2">
                    <a:lumMod val="50000"/>
                  </a:schemeClr>
                </a:solidFill>
              </a:rPr>
              <a:t>))</a:t>
            </a:r>
          </a:p>
          <a:p>
            <a:pPr marL="85725" indent="-85725">
              <a:buFont typeface="Arial" pitchFamily="34" charset="0"/>
              <a:buChar char="•"/>
            </a:pPr>
            <a:r>
              <a:rPr lang="en-US" altLang="ko-KR" sz="1400" dirty="0">
                <a:solidFill>
                  <a:schemeClr val="accent2">
                    <a:lumMod val="50000"/>
                  </a:schemeClr>
                </a:solidFill>
              </a:rPr>
              <a:t> </a:t>
            </a:r>
            <a:r>
              <a:rPr lang="ko-KR" altLang="en-US" sz="1400" dirty="0">
                <a:solidFill>
                  <a:schemeClr val="accent2">
                    <a:lumMod val="50000"/>
                  </a:schemeClr>
                </a:solidFill>
              </a:rPr>
              <a:t>실용적</a:t>
            </a:r>
            <a:r>
              <a:rPr lang="en-US" altLang="ko-KR" sz="1400" dirty="0">
                <a:solidFill>
                  <a:schemeClr val="accent2">
                    <a:lumMod val="50000"/>
                  </a:schemeClr>
                </a:solidFill>
              </a:rPr>
              <a:t>/</a:t>
            </a:r>
            <a:r>
              <a:rPr lang="ko-KR" altLang="en-US" sz="1400" dirty="0">
                <a:solidFill>
                  <a:schemeClr val="accent2">
                    <a:lumMod val="50000"/>
                  </a:schemeClr>
                </a:solidFill>
              </a:rPr>
              <a:t>경제적</a:t>
            </a:r>
            <a:r>
              <a:rPr lang="en-US" altLang="ko-KR" sz="1400" dirty="0">
                <a:solidFill>
                  <a:schemeClr val="accent2">
                    <a:lumMod val="50000"/>
                  </a:schemeClr>
                </a:solidFill>
              </a:rPr>
              <a:t>/</a:t>
            </a:r>
            <a:r>
              <a:rPr lang="ko-KR" altLang="en-US" sz="1400" dirty="0">
                <a:solidFill>
                  <a:schemeClr val="accent2">
                    <a:lumMod val="50000"/>
                  </a:schemeClr>
                </a:solidFill>
              </a:rPr>
              <a:t>상업적 </a:t>
            </a:r>
            <a:r>
              <a:rPr lang="ko-KR" altLang="en-US" sz="1400" dirty="0" err="1">
                <a:solidFill>
                  <a:schemeClr val="accent2">
                    <a:lumMod val="50000"/>
                  </a:schemeClr>
                </a:solidFill>
              </a:rPr>
              <a:t>사용사실설</a:t>
            </a:r>
            <a:r>
              <a:rPr lang="ko-KR" altLang="en-US" sz="1400" dirty="0">
                <a:solidFill>
                  <a:schemeClr val="accent2">
                    <a:lumMod val="50000"/>
                  </a:schemeClr>
                </a:solidFill>
              </a:rPr>
              <a:t> 지지</a:t>
            </a:r>
            <a:endParaRPr lang="en-US" altLang="ko-KR" sz="1400" dirty="0">
              <a:solidFill>
                <a:schemeClr val="accent2">
                  <a:lumMod val="50000"/>
                </a:schemeClr>
              </a:solidFill>
            </a:endParaRPr>
          </a:p>
          <a:p>
            <a:pPr marL="85725" indent="-85725">
              <a:buFont typeface="Arial" pitchFamily="34" charset="0"/>
              <a:buChar char="•"/>
            </a:pPr>
            <a:r>
              <a:rPr lang="en-US" altLang="ko-KR" sz="1400" dirty="0">
                <a:solidFill>
                  <a:schemeClr val="accent2">
                    <a:lumMod val="50000"/>
                  </a:schemeClr>
                </a:solidFill>
              </a:rPr>
              <a:t> </a:t>
            </a:r>
            <a:r>
              <a:rPr lang="ko-KR" altLang="en-US" sz="1400" dirty="0">
                <a:solidFill>
                  <a:schemeClr val="accent2">
                    <a:lumMod val="50000"/>
                  </a:schemeClr>
                </a:solidFill>
              </a:rPr>
              <a:t>특허권자가 주장증명</a:t>
            </a:r>
            <a:r>
              <a:rPr lang="en-US" altLang="ko-KR" sz="1400" dirty="0">
                <a:solidFill>
                  <a:schemeClr val="accent2">
                    <a:lumMod val="50000"/>
                  </a:schemeClr>
                </a:solidFill>
              </a:rPr>
              <a:t>(</a:t>
            </a:r>
            <a:r>
              <a:rPr lang="ko-KR" altLang="en-US" sz="1400" dirty="0">
                <a:solidFill>
                  <a:schemeClr val="accent2">
                    <a:lumMod val="50000"/>
                  </a:schemeClr>
                </a:solidFill>
              </a:rPr>
              <a:t>다만</a:t>
            </a:r>
            <a:r>
              <a:rPr lang="en-US" altLang="ko-KR" sz="1400" dirty="0">
                <a:solidFill>
                  <a:schemeClr val="accent2">
                    <a:lumMod val="50000"/>
                  </a:schemeClr>
                </a:solidFill>
              </a:rPr>
              <a:t>, </a:t>
            </a:r>
            <a:r>
              <a:rPr lang="ko-KR" altLang="en-US" sz="1400" dirty="0">
                <a:solidFill>
                  <a:schemeClr val="accent2">
                    <a:lumMod val="50000"/>
                  </a:schemeClr>
                </a:solidFill>
              </a:rPr>
              <a:t>전용성의 증명은 </a:t>
            </a:r>
            <a:r>
              <a:rPr lang="en-US" altLang="ko-KR" sz="1400" dirty="0">
                <a:solidFill>
                  <a:schemeClr val="accent2">
                    <a:lumMod val="50000"/>
                  </a:schemeClr>
                </a:solidFill>
              </a:rPr>
              <a:t>1) 1</a:t>
            </a:r>
            <a:r>
              <a:rPr lang="ko-KR" altLang="en-US" sz="1400" dirty="0">
                <a:solidFill>
                  <a:schemeClr val="accent2">
                    <a:lumMod val="50000"/>
                  </a:schemeClr>
                </a:solidFill>
              </a:rPr>
              <a:t>차적으로 특허권자가 공용성을 증명한 후 </a:t>
            </a:r>
            <a:endParaRPr lang="en-US" altLang="ko-KR" sz="1400" dirty="0">
              <a:solidFill>
                <a:schemeClr val="accent2">
                  <a:lumMod val="50000"/>
                </a:schemeClr>
              </a:solidFill>
            </a:endParaRPr>
          </a:p>
          <a:p>
            <a:r>
              <a:rPr lang="en-US" altLang="ko-KR" sz="1400" dirty="0">
                <a:solidFill>
                  <a:schemeClr val="accent2">
                    <a:lumMod val="50000"/>
                  </a:schemeClr>
                </a:solidFill>
              </a:rPr>
              <a:t>   </a:t>
            </a:r>
            <a:r>
              <a:rPr lang="ko-KR" altLang="en-US" sz="1400" dirty="0">
                <a:solidFill>
                  <a:schemeClr val="accent2">
                    <a:lumMod val="50000"/>
                  </a:schemeClr>
                </a:solidFill>
              </a:rPr>
              <a:t>실시자가 타용도가 있음에 대하여 구체적으로 합리적인 주장을 하는 경우에 </a:t>
            </a:r>
            <a:r>
              <a:rPr lang="en-US" altLang="ko-KR" sz="1400" dirty="0">
                <a:solidFill>
                  <a:schemeClr val="accent2">
                    <a:lumMod val="50000"/>
                  </a:schemeClr>
                </a:solidFill>
              </a:rPr>
              <a:t>2) </a:t>
            </a:r>
            <a:r>
              <a:rPr lang="ko-KR" altLang="en-US" sz="1400" dirty="0">
                <a:solidFill>
                  <a:schemeClr val="accent2">
                    <a:lumMod val="50000"/>
                  </a:schemeClr>
                </a:solidFill>
              </a:rPr>
              <a:t>발현</a:t>
            </a:r>
            <a:r>
              <a:rPr lang="en-US" altLang="ko-KR" sz="1400" dirty="0">
                <a:solidFill>
                  <a:schemeClr val="accent2">
                    <a:lumMod val="50000"/>
                  </a:schemeClr>
                </a:solidFill>
              </a:rPr>
              <a:t>)</a:t>
            </a:r>
            <a:endParaRPr lang="ko-KR" altLang="en-US" sz="1400" dirty="0">
              <a:solidFill>
                <a:schemeClr val="accent2">
                  <a:lumMod val="50000"/>
                </a:schemeClr>
              </a:solidFill>
            </a:endParaRPr>
          </a:p>
        </p:txBody>
      </p:sp>
      <p:sp>
        <p:nvSpPr>
          <p:cNvPr id="67" name="직사각형 66"/>
          <p:cNvSpPr/>
          <p:nvPr/>
        </p:nvSpPr>
        <p:spPr>
          <a:xfrm>
            <a:off x="4774339" y="2338865"/>
            <a:ext cx="358643" cy="1956909"/>
          </a:xfrm>
          <a:prstGeom prst="rect">
            <a:avLst/>
          </a:prstGeom>
          <a:solidFill>
            <a:schemeClr val="accent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TextBox 67"/>
          <p:cNvSpPr txBox="1"/>
          <p:nvPr/>
        </p:nvSpPr>
        <p:spPr>
          <a:xfrm>
            <a:off x="4698228" y="4366154"/>
            <a:ext cx="4230645" cy="1169551"/>
          </a:xfrm>
          <a:prstGeom prst="rect">
            <a:avLst/>
          </a:prstGeom>
          <a:noFill/>
        </p:spPr>
        <p:txBody>
          <a:bodyPr wrap="none" rtlCol="0">
            <a:spAutoFit/>
          </a:bodyPr>
          <a:lstStyle/>
          <a:p>
            <a:pPr marL="85725" indent="-85725">
              <a:buFont typeface="Arial" pitchFamily="34" charset="0"/>
              <a:buChar char="•"/>
            </a:pPr>
            <a:r>
              <a:rPr lang="ko-KR" altLang="en-US" sz="1400" dirty="0">
                <a:solidFill>
                  <a:schemeClr val="accent2">
                    <a:lumMod val="50000"/>
                  </a:schemeClr>
                </a:solidFill>
              </a:rPr>
              <a:t> </a:t>
            </a:r>
            <a:r>
              <a:rPr lang="ko-KR" altLang="en-US" sz="1400" dirty="0" err="1">
                <a:solidFill>
                  <a:schemeClr val="accent2">
                    <a:lumMod val="50000"/>
                  </a:schemeClr>
                </a:solidFill>
              </a:rPr>
              <a:t>출원전</a:t>
            </a:r>
            <a:r>
              <a:rPr lang="ko-KR" altLang="en-US" sz="1400" dirty="0">
                <a:solidFill>
                  <a:schemeClr val="accent2">
                    <a:lumMod val="50000"/>
                  </a:schemeClr>
                </a:solidFill>
              </a:rPr>
              <a:t> 공지된 경우</a:t>
            </a:r>
            <a:r>
              <a:rPr lang="en-US" altLang="ko-KR" sz="1400" dirty="0">
                <a:solidFill>
                  <a:schemeClr val="accent2">
                    <a:lumMod val="50000"/>
                  </a:schemeClr>
                </a:solidFill>
              </a:rPr>
              <a:t>? </a:t>
            </a:r>
            <a:r>
              <a:rPr lang="ko-KR" altLang="en-US" sz="1400" dirty="0">
                <a:solidFill>
                  <a:schemeClr val="accent2">
                    <a:lumMod val="50000"/>
                  </a:schemeClr>
                </a:solidFill>
              </a:rPr>
              <a:t>간접침해 </a:t>
            </a:r>
            <a:r>
              <a:rPr lang="en-US" altLang="ko-KR" sz="1400" dirty="0">
                <a:solidFill>
                  <a:schemeClr val="accent2">
                    <a:lumMod val="50000"/>
                  </a:schemeClr>
                </a:solidFill>
              </a:rPr>
              <a:t>×</a:t>
            </a:r>
          </a:p>
          <a:p>
            <a:pPr marL="85725" indent="-85725">
              <a:buFont typeface="Arial" pitchFamily="34" charset="0"/>
              <a:buChar char="•"/>
            </a:pPr>
            <a:r>
              <a:rPr lang="en-US" altLang="ko-KR" sz="1400" dirty="0">
                <a:solidFill>
                  <a:schemeClr val="accent2">
                    <a:lumMod val="50000"/>
                  </a:schemeClr>
                </a:solidFill>
              </a:rPr>
              <a:t> </a:t>
            </a:r>
            <a:r>
              <a:rPr lang="ko-KR" altLang="en-US" sz="1400" dirty="0">
                <a:solidFill>
                  <a:schemeClr val="accent2">
                    <a:lumMod val="50000"/>
                  </a:schemeClr>
                </a:solidFill>
              </a:rPr>
              <a:t>물건에 </a:t>
            </a:r>
            <a:r>
              <a:rPr lang="ko-KR" altLang="en-US" sz="1400" dirty="0" err="1">
                <a:solidFill>
                  <a:schemeClr val="accent2">
                    <a:lumMod val="50000"/>
                  </a:schemeClr>
                </a:solidFill>
              </a:rPr>
              <a:t>특허성이</a:t>
            </a:r>
            <a:r>
              <a:rPr lang="ko-KR" altLang="en-US" sz="1400" dirty="0">
                <a:solidFill>
                  <a:schemeClr val="accent2">
                    <a:lumMod val="50000"/>
                  </a:schemeClr>
                </a:solidFill>
              </a:rPr>
              <a:t> 있는 경우</a:t>
            </a:r>
            <a:r>
              <a:rPr lang="en-US" altLang="ko-KR" sz="1400" dirty="0">
                <a:solidFill>
                  <a:schemeClr val="accent2">
                    <a:lumMod val="50000"/>
                  </a:schemeClr>
                </a:solidFill>
              </a:rPr>
              <a:t>? </a:t>
            </a:r>
            <a:r>
              <a:rPr lang="ko-KR" altLang="en-US" sz="1400" dirty="0">
                <a:solidFill>
                  <a:schemeClr val="accent2">
                    <a:lumMod val="50000"/>
                  </a:schemeClr>
                </a:solidFill>
              </a:rPr>
              <a:t>간접침해 영향 </a:t>
            </a:r>
            <a:r>
              <a:rPr lang="en-US" altLang="ko-KR" sz="1400" dirty="0">
                <a:solidFill>
                  <a:schemeClr val="accent2">
                    <a:lumMod val="50000"/>
                  </a:schemeClr>
                </a:solidFill>
              </a:rPr>
              <a:t>×</a:t>
            </a:r>
          </a:p>
          <a:p>
            <a:pPr marL="85725" indent="-85725">
              <a:buFont typeface="Arial" pitchFamily="34" charset="0"/>
              <a:buChar char="•"/>
            </a:pPr>
            <a:r>
              <a:rPr lang="en-US" altLang="ko-KR" sz="1400" dirty="0">
                <a:solidFill>
                  <a:schemeClr val="accent2">
                    <a:lumMod val="50000"/>
                  </a:schemeClr>
                </a:solidFill>
              </a:rPr>
              <a:t> </a:t>
            </a:r>
            <a:r>
              <a:rPr lang="ko-KR" altLang="en-US" sz="1400" dirty="0">
                <a:solidFill>
                  <a:schemeClr val="accent2">
                    <a:lumMod val="50000"/>
                  </a:schemeClr>
                </a:solidFill>
              </a:rPr>
              <a:t>물건과 균등한 물건 </a:t>
            </a:r>
            <a:r>
              <a:rPr lang="en-US" altLang="ko-KR" sz="1400" dirty="0">
                <a:solidFill>
                  <a:schemeClr val="accent2">
                    <a:lumMod val="50000"/>
                  </a:schemeClr>
                </a:solidFill>
              </a:rPr>
              <a:t>? </a:t>
            </a:r>
            <a:r>
              <a:rPr lang="ko-KR" altLang="en-US" sz="1400" dirty="0">
                <a:solidFill>
                  <a:schemeClr val="accent2">
                    <a:lumMod val="50000"/>
                  </a:schemeClr>
                </a:solidFill>
              </a:rPr>
              <a:t>간접침해 </a:t>
            </a:r>
            <a:r>
              <a:rPr lang="en-US" altLang="ko-KR" sz="1400" dirty="0">
                <a:solidFill>
                  <a:schemeClr val="accent2">
                    <a:lumMod val="50000"/>
                  </a:schemeClr>
                </a:solidFill>
              </a:rPr>
              <a:t>O</a:t>
            </a:r>
          </a:p>
          <a:p>
            <a:pPr marL="85725" indent="-85725">
              <a:buFont typeface="Arial" pitchFamily="34" charset="0"/>
              <a:buChar char="•"/>
            </a:pPr>
            <a:r>
              <a:rPr lang="ko-KR" altLang="en-US" sz="1400" dirty="0">
                <a:solidFill>
                  <a:schemeClr val="accent2">
                    <a:lumMod val="50000"/>
                  </a:schemeClr>
                </a:solidFill>
              </a:rPr>
              <a:t> 물건에 대한 구성요소를 부가하여 그 다른 구성요소로 </a:t>
            </a:r>
            <a:endParaRPr lang="en-US" altLang="ko-KR" sz="1400" dirty="0">
              <a:solidFill>
                <a:schemeClr val="accent2">
                  <a:lumMod val="50000"/>
                </a:schemeClr>
              </a:solidFill>
            </a:endParaRPr>
          </a:p>
          <a:p>
            <a:r>
              <a:rPr lang="en-US" altLang="ko-KR" sz="1400" dirty="0">
                <a:solidFill>
                  <a:schemeClr val="accent2">
                    <a:lumMod val="50000"/>
                  </a:schemeClr>
                </a:solidFill>
              </a:rPr>
              <a:t>   </a:t>
            </a:r>
            <a:r>
              <a:rPr lang="ko-KR" altLang="en-US" sz="1400" dirty="0">
                <a:solidFill>
                  <a:schemeClr val="accent2">
                    <a:lumMod val="50000"/>
                  </a:schemeClr>
                </a:solidFill>
              </a:rPr>
              <a:t>인해 </a:t>
            </a:r>
            <a:r>
              <a:rPr lang="ko-KR" altLang="en-US" sz="1400" dirty="0" err="1">
                <a:solidFill>
                  <a:schemeClr val="accent2">
                    <a:lumMod val="50000"/>
                  </a:schemeClr>
                </a:solidFill>
              </a:rPr>
              <a:t>타용도를</a:t>
            </a:r>
            <a:r>
              <a:rPr lang="ko-KR" altLang="en-US" sz="1400" dirty="0">
                <a:solidFill>
                  <a:schemeClr val="accent2">
                    <a:lumMod val="50000"/>
                  </a:schemeClr>
                </a:solidFill>
              </a:rPr>
              <a:t> 창출해 낸 경우</a:t>
            </a:r>
            <a:r>
              <a:rPr lang="en-US" altLang="ko-KR" sz="1400" dirty="0">
                <a:solidFill>
                  <a:schemeClr val="accent2">
                    <a:lumMod val="50000"/>
                  </a:schemeClr>
                </a:solidFill>
              </a:rPr>
              <a:t>? </a:t>
            </a:r>
            <a:r>
              <a:rPr lang="ko-KR" altLang="en-US" sz="1400" dirty="0">
                <a:solidFill>
                  <a:schemeClr val="accent2">
                    <a:lumMod val="50000"/>
                  </a:schemeClr>
                </a:solidFill>
              </a:rPr>
              <a:t>간접침해 영향 </a:t>
            </a:r>
            <a:r>
              <a:rPr lang="en-US" altLang="ko-KR" sz="1400" dirty="0">
                <a:solidFill>
                  <a:schemeClr val="accent2">
                    <a:lumMod val="50000"/>
                  </a:schemeClr>
                </a:solidFill>
              </a:rPr>
              <a:t>×</a:t>
            </a:r>
          </a:p>
        </p:txBody>
      </p:sp>
      <p:sp>
        <p:nvSpPr>
          <p:cNvPr id="69" name="직사각형 68"/>
          <p:cNvSpPr/>
          <p:nvPr/>
        </p:nvSpPr>
        <p:spPr>
          <a:xfrm>
            <a:off x="5641215" y="2145305"/>
            <a:ext cx="179321" cy="1695229"/>
          </a:xfrm>
          <a:prstGeom prst="rect">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TextBox 69"/>
          <p:cNvSpPr txBox="1"/>
          <p:nvPr/>
        </p:nvSpPr>
        <p:spPr>
          <a:xfrm>
            <a:off x="5612640" y="1806763"/>
            <a:ext cx="5503430" cy="307777"/>
          </a:xfrm>
          <a:prstGeom prst="rect">
            <a:avLst/>
          </a:prstGeom>
          <a:noFill/>
        </p:spPr>
        <p:txBody>
          <a:bodyPr wrap="none" rtlCol="0">
            <a:spAutoFit/>
          </a:bodyPr>
          <a:lstStyle/>
          <a:p>
            <a:pPr marL="180975" indent="-180975">
              <a:buFont typeface="Arial" pitchFamily="34" charset="0"/>
              <a:buChar char="•"/>
            </a:pPr>
            <a:r>
              <a:rPr lang="ko-KR" altLang="en-US" sz="1400" dirty="0">
                <a:solidFill>
                  <a:schemeClr val="accent1">
                    <a:lumMod val="50000"/>
                  </a:schemeClr>
                </a:solidFill>
              </a:rPr>
              <a:t>물건의 사용은 특허발명인 물건의 생산</a:t>
            </a:r>
            <a:r>
              <a:rPr lang="en-US" altLang="ko-KR" sz="1400" dirty="0">
                <a:solidFill>
                  <a:schemeClr val="accent1">
                    <a:lumMod val="50000"/>
                  </a:schemeClr>
                </a:solidFill>
              </a:rPr>
              <a:t>, </a:t>
            </a:r>
            <a:r>
              <a:rPr lang="ko-KR" altLang="en-US" sz="1400" dirty="0">
                <a:solidFill>
                  <a:schemeClr val="accent1">
                    <a:lumMod val="50000"/>
                  </a:schemeClr>
                </a:solidFill>
              </a:rPr>
              <a:t>방법의 실시에 해당</a:t>
            </a:r>
            <a:r>
              <a:rPr lang="en-US" altLang="ko-KR" sz="1400" dirty="0">
                <a:solidFill>
                  <a:schemeClr val="accent1">
                    <a:lumMod val="50000"/>
                  </a:schemeClr>
                </a:solidFill>
              </a:rPr>
              <a:t>: </a:t>
            </a:r>
            <a:r>
              <a:rPr lang="ko-KR" altLang="en-US" sz="1400" dirty="0">
                <a:solidFill>
                  <a:schemeClr val="accent1">
                    <a:lumMod val="50000"/>
                  </a:schemeClr>
                </a:solidFill>
                <a:sym typeface="Wingdings" pitchFamily="2" charset="2"/>
              </a:rPr>
              <a:t>직접침해</a:t>
            </a:r>
            <a:endParaRPr lang="ko-KR" altLang="en-US" sz="1400" dirty="0">
              <a:solidFill>
                <a:schemeClr val="accent1">
                  <a:lumMod val="50000"/>
                </a:schemeClr>
              </a:solidFill>
            </a:endParaRPr>
          </a:p>
        </p:txBody>
      </p:sp>
      <p:sp>
        <p:nvSpPr>
          <p:cNvPr id="71" name="직사각형 70"/>
          <p:cNvSpPr/>
          <p:nvPr/>
        </p:nvSpPr>
        <p:spPr>
          <a:xfrm>
            <a:off x="3409951" y="1685925"/>
            <a:ext cx="323718" cy="933450"/>
          </a:xfrm>
          <a:prstGeom prst="rect">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2" name="TextBox 71"/>
          <p:cNvSpPr txBox="1"/>
          <p:nvPr/>
        </p:nvSpPr>
        <p:spPr>
          <a:xfrm>
            <a:off x="3409951" y="1035238"/>
            <a:ext cx="8730275" cy="523220"/>
          </a:xfrm>
          <a:prstGeom prst="rect">
            <a:avLst/>
          </a:prstGeom>
          <a:noFill/>
        </p:spPr>
        <p:txBody>
          <a:bodyPr wrap="none" rtlCol="0">
            <a:spAutoFit/>
          </a:bodyPr>
          <a:lstStyle/>
          <a:p>
            <a:pPr marL="180975" indent="-180975">
              <a:buFont typeface="Arial" pitchFamily="34" charset="0"/>
              <a:buChar char="•"/>
            </a:pPr>
            <a:r>
              <a:rPr lang="ko-KR" altLang="en-US" sz="1400" dirty="0">
                <a:solidFill>
                  <a:schemeClr val="accent1">
                    <a:lumMod val="50000"/>
                  </a:schemeClr>
                </a:solidFill>
              </a:rPr>
              <a:t>부품의 교체가 생산에 해당하는지 여부</a:t>
            </a:r>
            <a:r>
              <a:rPr lang="en-US" altLang="ko-KR" sz="1400" dirty="0">
                <a:solidFill>
                  <a:schemeClr val="accent1">
                    <a:lumMod val="50000"/>
                  </a:schemeClr>
                </a:solidFill>
              </a:rPr>
              <a:t>: </a:t>
            </a:r>
            <a:r>
              <a:rPr lang="ko-KR" altLang="en-US" sz="1400" dirty="0">
                <a:solidFill>
                  <a:schemeClr val="accent1">
                    <a:lumMod val="50000"/>
                  </a:schemeClr>
                </a:solidFill>
              </a:rPr>
              <a:t>소모품</a:t>
            </a:r>
            <a:r>
              <a:rPr lang="en-US" altLang="ko-KR" sz="1400" dirty="0">
                <a:solidFill>
                  <a:schemeClr val="accent1">
                    <a:lumMod val="50000"/>
                  </a:schemeClr>
                </a:solidFill>
              </a:rPr>
              <a:t>, </a:t>
            </a:r>
            <a:r>
              <a:rPr lang="ko-KR" altLang="en-US" sz="1400" dirty="0" err="1">
                <a:solidFill>
                  <a:schemeClr val="accent1">
                    <a:lumMod val="50000"/>
                  </a:schemeClr>
                </a:solidFill>
              </a:rPr>
              <a:t>비소모품을</a:t>
            </a:r>
            <a:r>
              <a:rPr lang="ko-KR" altLang="en-US" sz="1400" dirty="0">
                <a:solidFill>
                  <a:schemeClr val="accent1">
                    <a:lumMod val="50000"/>
                  </a:schemeClr>
                </a:solidFill>
              </a:rPr>
              <a:t> 달리함</a:t>
            </a:r>
            <a:r>
              <a:rPr lang="en-US" altLang="ko-KR" sz="1400" dirty="0">
                <a:solidFill>
                  <a:schemeClr val="accent1">
                    <a:lumMod val="50000"/>
                  </a:schemeClr>
                </a:solidFill>
              </a:rPr>
              <a:t>/</a:t>
            </a:r>
            <a:r>
              <a:rPr lang="ko-KR" altLang="en-US" sz="1400" dirty="0">
                <a:solidFill>
                  <a:schemeClr val="accent1">
                    <a:lumMod val="50000"/>
                  </a:schemeClr>
                </a:solidFill>
              </a:rPr>
              <a:t>다만 최근 판례는 제품의 동일성 유지 관점 적용 </a:t>
            </a:r>
            <a:endParaRPr lang="en-US" altLang="ko-KR" sz="1400" dirty="0">
              <a:solidFill>
                <a:schemeClr val="accent1">
                  <a:lumMod val="50000"/>
                </a:schemeClr>
              </a:solidFill>
            </a:endParaRPr>
          </a:p>
          <a:p>
            <a:pPr marL="180975" indent="-180975">
              <a:buFont typeface="Arial" pitchFamily="34" charset="0"/>
              <a:buChar char="•"/>
            </a:pPr>
            <a:r>
              <a:rPr lang="ko-KR" altLang="en-US" sz="1400" dirty="0">
                <a:solidFill>
                  <a:schemeClr val="accent1">
                    <a:lumMod val="50000"/>
                  </a:schemeClr>
                </a:solidFill>
              </a:rPr>
              <a:t>국내에서의 생산만 해당</a:t>
            </a:r>
            <a:r>
              <a:rPr lang="en-US" altLang="ko-KR" sz="1400" dirty="0">
                <a:solidFill>
                  <a:schemeClr val="accent1">
                    <a:lumMod val="50000"/>
                  </a:schemeClr>
                </a:solidFill>
              </a:rPr>
              <a:t>(</a:t>
            </a:r>
            <a:r>
              <a:rPr lang="ko-KR" altLang="en-US" sz="1400" dirty="0">
                <a:solidFill>
                  <a:schemeClr val="accent1">
                    <a:lumMod val="50000"/>
                  </a:schemeClr>
                </a:solidFill>
              </a:rPr>
              <a:t>반제품 사건</a:t>
            </a:r>
            <a:r>
              <a:rPr lang="en-US" altLang="ko-KR" sz="1400" dirty="0">
                <a:solidFill>
                  <a:schemeClr val="accent1">
                    <a:lumMod val="50000"/>
                  </a:schemeClr>
                </a:solidFill>
              </a:rPr>
              <a:t>)</a:t>
            </a:r>
            <a:endParaRPr lang="ko-KR" altLang="en-US" sz="1400" dirty="0">
              <a:solidFill>
                <a:schemeClr val="accent1">
                  <a:lumMod val="50000"/>
                </a:schemeClr>
              </a:solidFill>
            </a:endParaRPr>
          </a:p>
        </p:txBody>
      </p:sp>
      <p:sp>
        <p:nvSpPr>
          <p:cNvPr id="73" name="직사각형 72"/>
          <p:cNvSpPr/>
          <p:nvPr/>
        </p:nvSpPr>
        <p:spPr>
          <a:xfrm>
            <a:off x="578896" y="3373809"/>
            <a:ext cx="323718" cy="933450"/>
          </a:xfrm>
          <a:prstGeom prst="rect">
            <a:avLst/>
          </a:prstGeom>
          <a:solidFill>
            <a:schemeClr val="tx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4" name="TextBox 73"/>
          <p:cNvSpPr txBox="1"/>
          <p:nvPr/>
        </p:nvSpPr>
        <p:spPr>
          <a:xfrm>
            <a:off x="35518" y="4320940"/>
            <a:ext cx="2938625" cy="307777"/>
          </a:xfrm>
          <a:prstGeom prst="rect">
            <a:avLst/>
          </a:prstGeom>
          <a:noFill/>
        </p:spPr>
        <p:txBody>
          <a:bodyPr wrap="none" rtlCol="0">
            <a:spAutoFit/>
          </a:bodyPr>
          <a:lstStyle/>
          <a:p>
            <a:r>
              <a:rPr lang="ko-KR" altLang="en-US" sz="1400" dirty="0">
                <a:solidFill>
                  <a:schemeClr val="tx2">
                    <a:lumMod val="50000"/>
                  </a:schemeClr>
                </a:solidFill>
              </a:rPr>
              <a:t>민사적 구제방안</a:t>
            </a:r>
            <a:r>
              <a:rPr lang="en-US" altLang="ko-KR" sz="1400" dirty="0">
                <a:solidFill>
                  <a:schemeClr val="tx2">
                    <a:lumMod val="50000"/>
                  </a:schemeClr>
                </a:solidFill>
              </a:rPr>
              <a:t>(</a:t>
            </a:r>
            <a:r>
              <a:rPr lang="ko-KR" altLang="en-US" sz="1400" dirty="0">
                <a:solidFill>
                  <a:schemeClr val="tx2">
                    <a:lumMod val="50000"/>
                  </a:schemeClr>
                </a:solidFill>
              </a:rPr>
              <a:t>法 </a:t>
            </a:r>
            <a:r>
              <a:rPr lang="en-US" altLang="ko-KR" sz="1400" dirty="0">
                <a:solidFill>
                  <a:schemeClr val="tx2">
                    <a:lumMod val="50000"/>
                  </a:schemeClr>
                </a:solidFill>
              </a:rPr>
              <a:t>126-132)</a:t>
            </a:r>
            <a:r>
              <a:rPr lang="ko-KR" altLang="en-US" sz="1400" dirty="0">
                <a:solidFill>
                  <a:schemeClr val="tx2">
                    <a:lumMod val="50000"/>
                  </a:schemeClr>
                </a:solidFill>
              </a:rPr>
              <a:t> 中 하나</a:t>
            </a:r>
          </a:p>
        </p:txBody>
      </p:sp>
      <p:sp>
        <p:nvSpPr>
          <p:cNvPr id="40" name="직사각형 39"/>
          <p:cNvSpPr/>
          <p:nvPr/>
        </p:nvSpPr>
        <p:spPr>
          <a:xfrm>
            <a:off x="243259" y="2710567"/>
            <a:ext cx="994992" cy="785108"/>
          </a:xfrm>
          <a:prstGeom prst="rect">
            <a:avLst/>
          </a:prstGeom>
          <a:solidFill>
            <a:schemeClr val="tx2">
              <a:lumMod val="50000"/>
            </a:schemeClr>
          </a:solid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72000" tIns="17618" rIns="72000" bIns="17618" spcCol="1270" anchor="ctr"/>
          <a:lstStyle/>
          <a:p>
            <a:pPr algn="ctr" defTabSz="222250">
              <a:defRPr/>
            </a:pPr>
            <a:r>
              <a:rPr lang="ko-KR" altLang="en-US" sz="1400" dirty="0">
                <a:solidFill>
                  <a:schemeClr val="accent4"/>
                </a:solidFill>
                <a:latin typeface="+mn-ea"/>
              </a:rPr>
              <a:t>제</a:t>
            </a:r>
            <a:r>
              <a:rPr lang="en-US" altLang="ko-KR" sz="1400" dirty="0">
                <a:solidFill>
                  <a:schemeClr val="accent4"/>
                </a:solidFill>
                <a:latin typeface="+mn-ea"/>
              </a:rPr>
              <a:t>127</a:t>
            </a:r>
            <a:r>
              <a:rPr lang="ko-KR" altLang="en-US" sz="1400" dirty="0">
                <a:solidFill>
                  <a:schemeClr val="accent4"/>
                </a:solidFill>
                <a:latin typeface="+mn-ea"/>
              </a:rPr>
              <a:t>조</a:t>
            </a:r>
          </a:p>
        </p:txBody>
      </p:sp>
      <p:sp>
        <p:nvSpPr>
          <p:cNvPr id="3" name="직사각형 2">
            <a:extLst>
              <a:ext uri="{FF2B5EF4-FFF2-40B4-BE49-F238E27FC236}">
                <a16:creationId xmlns:a16="http://schemas.microsoft.com/office/drawing/2014/main" id="{607FED1A-2509-4B61-9733-F70B9E167954}"/>
              </a:ext>
            </a:extLst>
          </p:cNvPr>
          <p:cNvSpPr/>
          <p:nvPr/>
        </p:nvSpPr>
        <p:spPr>
          <a:xfrm>
            <a:off x="2643352" y="2114539"/>
            <a:ext cx="2489630" cy="1956909"/>
          </a:xfrm>
          <a:prstGeom prst="rect">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a:extLst>
              <a:ext uri="{FF2B5EF4-FFF2-40B4-BE49-F238E27FC236}">
                <a16:creationId xmlns:a16="http://schemas.microsoft.com/office/drawing/2014/main" id="{8D12B447-F407-46B2-8D90-157C4C0A50C8}"/>
              </a:ext>
            </a:extLst>
          </p:cNvPr>
          <p:cNvSpPr txBox="1"/>
          <p:nvPr/>
        </p:nvSpPr>
        <p:spPr>
          <a:xfrm>
            <a:off x="725072" y="5268759"/>
            <a:ext cx="2932213" cy="523220"/>
          </a:xfrm>
          <a:prstGeom prst="rect">
            <a:avLst/>
          </a:prstGeom>
          <a:noFill/>
        </p:spPr>
        <p:txBody>
          <a:bodyPr wrap="none" rtlCol="0">
            <a:spAutoFit/>
          </a:bodyPr>
          <a:lstStyle/>
          <a:p>
            <a:pPr algn="ctr"/>
            <a:r>
              <a:rPr lang="ko-KR" altLang="en-US" sz="1400" dirty="0">
                <a:solidFill>
                  <a:srgbClr val="FF0000"/>
                </a:solidFill>
              </a:rPr>
              <a:t>공용성</a:t>
            </a:r>
            <a:r>
              <a:rPr lang="en-US" altLang="ko-KR" sz="1400" dirty="0">
                <a:solidFill>
                  <a:srgbClr val="FF0000"/>
                </a:solidFill>
              </a:rPr>
              <a:t>(</a:t>
            </a:r>
            <a:r>
              <a:rPr lang="ko-KR" altLang="en-US" sz="1400" dirty="0">
                <a:solidFill>
                  <a:srgbClr val="FF0000"/>
                </a:solidFill>
              </a:rPr>
              <a:t>供用性</a:t>
            </a:r>
            <a:r>
              <a:rPr lang="en-US" altLang="ko-KR" sz="1400" dirty="0">
                <a:solidFill>
                  <a:srgbClr val="FF0000"/>
                </a:solidFill>
              </a:rPr>
              <a:t>)</a:t>
            </a:r>
          </a:p>
          <a:p>
            <a:pPr algn="ctr"/>
            <a:r>
              <a:rPr lang="en-US" altLang="ko-KR" sz="1400" dirty="0">
                <a:solidFill>
                  <a:srgbClr val="FF0000"/>
                </a:solidFill>
              </a:rPr>
              <a:t>(AER, </a:t>
            </a:r>
            <a:r>
              <a:rPr lang="ko-KR" altLang="en-US" sz="1400" dirty="0" err="1">
                <a:solidFill>
                  <a:srgbClr val="FF0000"/>
                </a:solidFill>
              </a:rPr>
              <a:t>균등론</a:t>
            </a:r>
            <a:r>
              <a:rPr lang="ko-KR" altLang="en-US" sz="1400" dirty="0">
                <a:solidFill>
                  <a:srgbClr val="FF0000"/>
                </a:solidFill>
              </a:rPr>
              <a:t> 적용에 의한 생산</a:t>
            </a:r>
            <a:r>
              <a:rPr lang="en-US" altLang="ko-KR" sz="1400" dirty="0">
                <a:solidFill>
                  <a:srgbClr val="FF0000"/>
                </a:solidFill>
              </a:rPr>
              <a:t>, </a:t>
            </a:r>
            <a:r>
              <a:rPr lang="ko-KR" altLang="en-US" sz="1400" dirty="0">
                <a:solidFill>
                  <a:srgbClr val="FF0000"/>
                </a:solidFill>
              </a:rPr>
              <a:t>실시</a:t>
            </a:r>
            <a:r>
              <a:rPr lang="en-US" altLang="ko-KR" sz="1400" dirty="0">
                <a:solidFill>
                  <a:srgbClr val="FF0000"/>
                </a:solidFill>
              </a:rPr>
              <a:t>)</a:t>
            </a:r>
            <a:endParaRPr lang="ko-KR" altLang="en-US" sz="1400" dirty="0">
              <a:solidFill>
                <a:srgbClr val="FF0000"/>
              </a:solidFill>
            </a:endParaRPr>
          </a:p>
        </p:txBody>
      </p:sp>
      <p:cxnSp>
        <p:nvCxnSpPr>
          <p:cNvPr id="8" name="연결선: 꺾임 7">
            <a:extLst>
              <a:ext uri="{FF2B5EF4-FFF2-40B4-BE49-F238E27FC236}">
                <a16:creationId xmlns:a16="http://schemas.microsoft.com/office/drawing/2014/main" id="{50B2D764-9173-4DB4-B3FB-E2381609ADA6}"/>
              </a:ext>
            </a:extLst>
          </p:cNvPr>
          <p:cNvCxnSpPr>
            <a:cxnSpLocks/>
            <a:stCxn id="6" idx="0"/>
            <a:endCxn id="3" idx="2"/>
          </p:cNvCxnSpPr>
          <p:nvPr/>
        </p:nvCxnSpPr>
        <p:spPr>
          <a:xfrm rot="5400000" flipH="1" flipV="1">
            <a:off x="2441018" y="3821610"/>
            <a:ext cx="1197311" cy="1696988"/>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0310128"/>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127</a:t>
            </a:r>
            <a:r>
              <a:rPr lang="ko-KR" altLang="en-US" dirty="0"/>
              <a:t>조</a:t>
            </a:r>
          </a:p>
        </p:txBody>
      </p:sp>
      <p:sp>
        <p:nvSpPr>
          <p:cNvPr id="5" name="텍스트 개체 틀 4"/>
          <p:cNvSpPr>
            <a:spLocks noGrp="1"/>
          </p:cNvSpPr>
          <p:nvPr>
            <p:ph type="body" sz="quarter" idx="13"/>
          </p:nvPr>
        </p:nvSpPr>
        <p:spPr/>
        <p:txBody>
          <a:bodyPr/>
          <a:lstStyle/>
          <a:p>
            <a:r>
              <a:rPr lang="ko-KR" altLang="en-US" dirty="0" err="1"/>
              <a:t>감광드럼</a:t>
            </a:r>
            <a:r>
              <a:rPr lang="ko-KR" altLang="en-US" dirty="0"/>
              <a:t> 카트리지의 </a:t>
            </a:r>
            <a:r>
              <a:rPr lang="en-US" altLang="ko-KR" dirty="0"/>
              <a:t>CASE</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389</a:t>
            </a:r>
            <a:endParaRPr lang="ko-KR" altLang="en-US"/>
          </a:p>
        </p:txBody>
      </p:sp>
      <p:sp>
        <p:nvSpPr>
          <p:cNvPr id="6" name="직사각형 5"/>
          <p:cNvSpPr/>
          <p:nvPr/>
        </p:nvSpPr>
        <p:spPr>
          <a:xfrm>
            <a:off x="527381" y="1133475"/>
            <a:ext cx="11233248" cy="2733675"/>
          </a:xfrm>
          <a:prstGeom prst="rect">
            <a:avLst/>
          </a:prstGeom>
          <a:no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 name="직선 화살표 연결선 6"/>
          <p:cNvCxnSpPr/>
          <p:nvPr/>
        </p:nvCxnSpPr>
        <p:spPr>
          <a:xfrm>
            <a:off x="911424" y="2600245"/>
            <a:ext cx="10561173" cy="0"/>
          </a:xfrm>
          <a:prstGeom prst="straightConnector1">
            <a:avLst/>
          </a:prstGeom>
          <a:ln w="38100">
            <a:solidFill>
              <a:schemeClr val="bg1">
                <a:lumMod val="50000"/>
              </a:schemeClr>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1121875" y="2179231"/>
            <a:ext cx="460382" cy="276999"/>
          </a:xfrm>
          <a:prstGeom prst="rect">
            <a:avLst/>
          </a:prstGeom>
          <a:noFill/>
        </p:spPr>
        <p:txBody>
          <a:bodyPr wrap="none" rtlCol="0">
            <a:spAutoFit/>
          </a:bodyPr>
          <a:lstStyle/>
          <a:p>
            <a:r>
              <a:rPr lang="ko-KR" altLang="en-US" sz="1200" dirty="0"/>
              <a:t>등록</a:t>
            </a:r>
          </a:p>
        </p:txBody>
      </p:sp>
      <p:sp>
        <p:nvSpPr>
          <p:cNvPr id="10" name="직사각형 9"/>
          <p:cNvSpPr/>
          <p:nvPr/>
        </p:nvSpPr>
        <p:spPr>
          <a:xfrm>
            <a:off x="745365" y="2936447"/>
            <a:ext cx="1235836" cy="252028"/>
          </a:xfrm>
          <a:prstGeom prst="rect">
            <a:avLst/>
          </a:prstGeom>
          <a:ln>
            <a:solidFill>
              <a:schemeClr val="bg1">
                <a:lumMod val="50000"/>
              </a:schemeClr>
            </a:solidFill>
          </a:ln>
        </p:spPr>
        <p:style>
          <a:lnRef idx="2">
            <a:schemeClr val="accent2"/>
          </a:lnRef>
          <a:fillRef idx="1">
            <a:schemeClr val="lt1"/>
          </a:fillRef>
          <a:effectRef idx="0">
            <a:schemeClr val="accent2"/>
          </a:effectRef>
          <a:fontRef idx="minor">
            <a:schemeClr val="dk1"/>
          </a:fontRef>
        </p:style>
        <p:txBody>
          <a:bodyPr rtlCol="0" anchor="ctr">
            <a:noAutofit/>
          </a:bodyPr>
          <a:lstStyle/>
          <a:p>
            <a:pPr algn="ctr"/>
            <a:r>
              <a:rPr lang="ko-KR" altLang="en-US" sz="1200" dirty="0">
                <a:solidFill>
                  <a:schemeClr val="tx1"/>
                </a:solidFill>
              </a:rPr>
              <a:t>레이저 프린터</a:t>
            </a:r>
            <a:r>
              <a:rPr lang="en-US" altLang="ko-KR" sz="1200" dirty="0">
                <a:solidFill>
                  <a:schemeClr val="tx1"/>
                </a:solidFill>
              </a:rPr>
              <a:t>(A)</a:t>
            </a:r>
            <a:endParaRPr lang="ko-KR" altLang="en-US" sz="1200" dirty="0">
              <a:solidFill>
                <a:schemeClr val="tx1"/>
              </a:solidFill>
            </a:endParaRPr>
          </a:p>
        </p:txBody>
      </p:sp>
      <p:sp>
        <p:nvSpPr>
          <p:cNvPr id="11" name="모서리가 둥근 직사각형 10"/>
          <p:cNvSpPr/>
          <p:nvPr/>
        </p:nvSpPr>
        <p:spPr bwMode="auto">
          <a:xfrm>
            <a:off x="727407" y="981888"/>
            <a:ext cx="2231693"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err="1"/>
              <a:t>감광드럼</a:t>
            </a:r>
            <a:r>
              <a:rPr lang="ko-KR" altLang="en-US" sz="1400" dirty="0"/>
              <a:t> 카트리지 </a:t>
            </a:r>
            <a:r>
              <a:rPr lang="en-US" altLang="ko-KR" sz="1400" dirty="0"/>
              <a:t>CASE</a:t>
            </a:r>
          </a:p>
        </p:txBody>
      </p:sp>
      <p:sp>
        <p:nvSpPr>
          <p:cNvPr id="13" name="TextBox 12"/>
          <p:cNvSpPr txBox="1"/>
          <p:nvPr/>
        </p:nvSpPr>
        <p:spPr>
          <a:xfrm>
            <a:off x="3042088" y="2179231"/>
            <a:ext cx="460382" cy="276999"/>
          </a:xfrm>
          <a:prstGeom prst="rect">
            <a:avLst/>
          </a:prstGeom>
          <a:noFill/>
        </p:spPr>
        <p:txBody>
          <a:bodyPr wrap="none" rtlCol="0">
            <a:spAutoFit/>
          </a:bodyPr>
          <a:lstStyle/>
          <a:p>
            <a:r>
              <a:rPr lang="ko-KR" altLang="en-US" sz="1200" dirty="0"/>
              <a:t>판매</a:t>
            </a:r>
          </a:p>
        </p:txBody>
      </p:sp>
      <p:sp>
        <p:nvSpPr>
          <p:cNvPr id="14" name="직사각형 13"/>
          <p:cNvSpPr/>
          <p:nvPr/>
        </p:nvSpPr>
        <p:spPr>
          <a:xfrm>
            <a:off x="1890938" y="3250865"/>
            <a:ext cx="2725704" cy="450050"/>
          </a:xfrm>
          <a:prstGeom prst="rect">
            <a:avLst/>
          </a:prstGeom>
          <a:ln>
            <a:solidFill>
              <a:schemeClr val="bg1">
                <a:lumMod val="50000"/>
              </a:schemeClr>
            </a:solidFill>
          </a:ln>
        </p:spPr>
        <p:style>
          <a:lnRef idx="2">
            <a:schemeClr val="accent2"/>
          </a:lnRef>
          <a:fillRef idx="1">
            <a:schemeClr val="lt1"/>
          </a:fillRef>
          <a:effectRef idx="0">
            <a:schemeClr val="accent2"/>
          </a:effectRef>
          <a:fontRef idx="minor">
            <a:schemeClr val="dk1"/>
          </a:fontRef>
        </p:style>
        <p:txBody>
          <a:bodyPr rtlCol="0" anchor="ctr">
            <a:noAutofit/>
          </a:bodyPr>
          <a:lstStyle/>
          <a:p>
            <a:pPr algn="ctr"/>
            <a:r>
              <a:rPr lang="ko-KR" altLang="en-US" sz="1200" dirty="0">
                <a:solidFill>
                  <a:schemeClr val="tx1"/>
                </a:solidFill>
              </a:rPr>
              <a:t>레이저 프린터</a:t>
            </a:r>
            <a:r>
              <a:rPr lang="en-US" altLang="ko-KR" sz="1200" dirty="0">
                <a:solidFill>
                  <a:schemeClr val="tx1"/>
                </a:solidFill>
              </a:rPr>
              <a:t>(A)</a:t>
            </a:r>
            <a:r>
              <a:rPr lang="ko-KR" altLang="en-US" sz="1200" dirty="0">
                <a:solidFill>
                  <a:schemeClr val="tx1"/>
                </a:solidFill>
              </a:rPr>
              <a:t>와 </a:t>
            </a:r>
            <a:endParaRPr lang="en-US" altLang="ko-KR" sz="1200" dirty="0">
              <a:solidFill>
                <a:schemeClr val="tx1"/>
              </a:solidFill>
            </a:endParaRPr>
          </a:p>
          <a:p>
            <a:pPr algn="ctr"/>
            <a:r>
              <a:rPr lang="ko-KR" altLang="en-US" sz="1200" dirty="0">
                <a:solidFill>
                  <a:schemeClr val="tx1"/>
                </a:solidFill>
              </a:rPr>
              <a:t>이에 사용되는 카트리지</a:t>
            </a:r>
            <a:r>
              <a:rPr lang="en-US" altLang="ko-KR" sz="1200" dirty="0">
                <a:solidFill>
                  <a:schemeClr val="tx1"/>
                </a:solidFill>
              </a:rPr>
              <a:t>(B)</a:t>
            </a:r>
            <a:r>
              <a:rPr lang="ko-KR" altLang="en-US" sz="1200" dirty="0">
                <a:solidFill>
                  <a:schemeClr val="tx1"/>
                </a:solidFill>
              </a:rPr>
              <a:t> 판매</a:t>
            </a:r>
          </a:p>
        </p:txBody>
      </p:sp>
      <p:sp>
        <p:nvSpPr>
          <p:cNvPr id="16" name="TextBox 15"/>
          <p:cNvSpPr txBox="1"/>
          <p:nvPr/>
        </p:nvSpPr>
        <p:spPr>
          <a:xfrm>
            <a:off x="4463819" y="2703563"/>
            <a:ext cx="460382" cy="276999"/>
          </a:xfrm>
          <a:prstGeom prst="rect">
            <a:avLst/>
          </a:prstGeom>
          <a:noFill/>
        </p:spPr>
        <p:txBody>
          <a:bodyPr wrap="none" rtlCol="0">
            <a:spAutoFit/>
          </a:bodyPr>
          <a:lstStyle/>
          <a:p>
            <a:r>
              <a:rPr lang="ko-KR" altLang="en-US" sz="1200" dirty="0"/>
              <a:t>판매</a:t>
            </a:r>
          </a:p>
        </p:txBody>
      </p:sp>
      <p:sp>
        <p:nvSpPr>
          <p:cNvPr id="17" name="직사각형 16"/>
          <p:cNvSpPr/>
          <p:nvPr/>
        </p:nvSpPr>
        <p:spPr>
          <a:xfrm>
            <a:off x="3244014" y="1522033"/>
            <a:ext cx="2899992" cy="478217"/>
          </a:xfrm>
          <a:prstGeom prst="rect">
            <a:avLst/>
          </a:prstGeom>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noAutofit/>
          </a:bodyPr>
          <a:lstStyle/>
          <a:p>
            <a:pPr algn="ctr"/>
            <a:r>
              <a:rPr lang="ko-KR" altLang="en-US" sz="1200" dirty="0">
                <a:solidFill>
                  <a:schemeClr val="tx1"/>
                </a:solidFill>
              </a:rPr>
              <a:t>특허권자가 판매하는 카트리지</a:t>
            </a:r>
            <a:r>
              <a:rPr lang="en-US" altLang="ko-KR" sz="1200" dirty="0">
                <a:solidFill>
                  <a:schemeClr val="tx1"/>
                </a:solidFill>
              </a:rPr>
              <a:t>(B)</a:t>
            </a:r>
            <a:r>
              <a:rPr lang="ko-KR" altLang="en-US" sz="1200" dirty="0">
                <a:solidFill>
                  <a:schemeClr val="tx1"/>
                </a:solidFill>
              </a:rPr>
              <a:t>의 성능을 개선한 카트리지</a:t>
            </a:r>
            <a:r>
              <a:rPr lang="en-US" altLang="ko-KR" sz="1200" dirty="0">
                <a:solidFill>
                  <a:schemeClr val="tx1"/>
                </a:solidFill>
              </a:rPr>
              <a:t>(B+C) </a:t>
            </a:r>
            <a:r>
              <a:rPr lang="ko-KR" altLang="en-US" sz="1200" dirty="0">
                <a:solidFill>
                  <a:schemeClr val="tx1"/>
                </a:solidFill>
              </a:rPr>
              <a:t>판매</a:t>
            </a:r>
          </a:p>
        </p:txBody>
      </p:sp>
      <p:sp>
        <p:nvSpPr>
          <p:cNvPr id="19" name="TextBox 18"/>
          <p:cNvSpPr txBox="1"/>
          <p:nvPr/>
        </p:nvSpPr>
        <p:spPr>
          <a:xfrm>
            <a:off x="6025933" y="2024733"/>
            <a:ext cx="1563248" cy="461665"/>
          </a:xfrm>
          <a:prstGeom prst="rect">
            <a:avLst/>
          </a:prstGeom>
          <a:noFill/>
        </p:spPr>
        <p:txBody>
          <a:bodyPr wrap="none" rtlCol="0">
            <a:spAutoFit/>
          </a:bodyPr>
          <a:lstStyle/>
          <a:p>
            <a:pPr algn="ctr"/>
            <a:r>
              <a:rPr lang="ko-KR" altLang="en-US" sz="1200" dirty="0"/>
              <a:t>적극적 </a:t>
            </a:r>
            <a:endParaRPr lang="en-US" altLang="ko-KR" sz="1200" dirty="0"/>
          </a:p>
          <a:p>
            <a:pPr algn="ctr"/>
            <a:r>
              <a:rPr lang="ko-KR" altLang="en-US" sz="1200" dirty="0"/>
              <a:t>권리범위확인심판청구</a:t>
            </a:r>
          </a:p>
        </p:txBody>
      </p:sp>
      <p:sp>
        <p:nvSpPr>
          <p:cNvPr id="20" name="직사각형 19"/>
          <p:cNvSpPr/>
          <p:nvPr/>
        </p:nvSpPr>
        <p:spPr>
          <a:xfrm>
            <a:off x="5739720" y="3250865"/>
            <a:ext cx="2144386" cy="459668"/>
          </a:xfrm>
          <a:prstGeom prst="rect">
            <a:avLst/>
          </a:prstGeom>
          <a:ln>
            <a:solidFill>
              <a:schemeClr val="bg1">
                <a:lumMod val="50000"/>
              </a:schemeClr>
            </a:solidFill>
          </a:ln>
        </p:spPr>
        <p:style>
          <a:lnRef idx="2">
            <a:schemeClr val="accent2"/>
          </a:lnRef>
          <a:fillRef idx="1">
            <a:schemeClr val="lt1"/>
          </a:fillRef>
          <a:effectRef idx="0">
            <a:schemeClr val="accent2"/>
          </a:effectRef>
          <a:fontRef idx="minor">
            <a:schemeClr val="dk1"/>
          </a:fontRef>
        </p:style>
        <p:txBody>
          <a:bodyPr rtlCol="0" anchor="ctr">
            <a:noAutofit/>
          </a:bodyPr>
          <a:lstStyle/>
          <a:p>
            <a:pPr algn="ctr"/>
            <a:r>
              <a:rPr lang="ko-KR" altLang="en-US" sz="1200" dirty="0">
                <a:solidFill>
                  <a:schemeClr val="tx1"/>
                </a:solidFill>
              </a:rPr>
              <a:t>개선된 카트리지</a:t>
            </a:r>
            <a:r>
              <a:rPr lang="en-US" altLang="ko-KR" sz="1200" dirty="0">
                <a:solidFill>
                  <a:schemeClr val="tx1"/>
                </a:solidFill>
              </a:rPr>
              <a:t>(B+C) </a:t>
            </a:r>
            <a:r>
              <a:rPr lang="ko-KR" altLang="en-US" sz="1200" dirty="0">
                <a:solidFill>
                  <a:schemeClr val="tx1"/>
                </a:solidFill>
              </a:rPr>
              <a:t>판매는 </a:t>
            </a:r>
            <a:endParaRPr lang="en-US" altLang="ko-KR" sz="1200" dirty="0">
              <a:solidFill>
                <a:schemeClr val="tx1"/>
              </a:solidFill>
            </a:endParaRPr>
          </a:p>
          <a:p>
            <a:pPr algn="ctr"/>
            <a:r>
              <a:rPr lang="ko-KR" altLang="en-US" sz="1200" dirty="0">
                <a:solidFill>
                  <a:schemeClr val="tx1"/>
                </a:solidFill>
              </a:rPr>
              <a:t>간접침해 주장</a:t>
            </a:r>
          </a:p>
        </p:txBody>
      </p:sp>
      <p:sp>
        <p:nvSpPr>
          <p:cNvPr id="22" name="TextBox 21"/>
          <p:cNvSpPr txBox="1"/>
          <p:nvPr/>
        </p:nvSpPr>
        <p:spPr>
          <a:xfrm>
            <a:off x="8479220" y="2722613"/>
            <a:ext cx="460382" cy="276999"/>
          </a:xfrm>
          <a:prstGeom prst="rect">
            <a:avLst/>
          </a:prstGeom>
          <a:noFill/>
        </p:spPr>
        <p:txBody>
          <a:bodyPr wrap="none" rtlCol="0">
            <a:spAutoFit/>
          </a:bodyPr>
          <a:lstStyle/>
          <a:p>
            <a:r>
              <a:rPr lang="ko-KR" altLang="en-US" sz="1200" dirty="0"/>
              <a:t>항변</a:t>
            </a:r>
          </a:p>
        </p:txBody>
      </p:sp>
      <p:sp>
        <p:nvSpPr>
          <p:cNvPr id="23" name="직사각형 22"/>
          <p:cNvSpPr/>
          <p:nvPr/>
        </p:nvSpPr>
        <p:spPr>
          <a:xfrm>
            <a:off x="6823957" y="1326281"/>
            <a:ext cx="3773052" cy="626343"/>
          </a:xfrm>
          <a:prstGeom prst="rect">
            <a:avLst/>
          </a:prstGeom>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noAutofit/>
          </a:bodyPr>
          <a:lstStyle/>
          <a:p>
            <a:pPr marL="228600" indent="-228600">
              <a:buAutoNum type="arabicPeriod"/>
            </a:pPr>
            <a:r>
              <a:rPr lang="ko-KR" altLang="en-US" sz="1200" dirty="0" err="1">
                <a:solidFill>
                  <a:schemeClr val="tx1"/>
                </a:solidFill>
              </a:rPr>
              <a:t>특허성이</a:t>
            </a:r>
            <a:r>
              <a:rPr lang="ko-KR" altLang="en-US" sz="1200" dirty="0">
                <a:solidFill>
                  <a:schemeClr val="tx1"/>
                </a:solidFill>
              </a:rPr>
              <a:t> 있어 간접침해가 아니다</a:t>
            </a:r>
            <a:r>
              <a:rPr lang="en-US" altLang="ko-KR" sz="1200" dirty="0">
                <a:solidFill>
                  <a:schemeClr val="tx1"/>
                </a:solidFill>
              </a:rPr>
              <a:t>.</a:t>
            </a:r>
          </a:p>
          <a:p>
            <a:pPr marL="228600" indent="-228600">
              <a:buAutoNum type="arabicPeriod"/>
            </a:pPr>
            <a:r>
              <a:rPr lang="en-US" altLang="ko-KR" sz="1200" dirty="0">
                <a:solidFill>
                  <a:schemeClr val="tx1"/>
                </a:solidFill>
              </a:rPr>
              <a:t>B+C</a:t>
            </a:r>
            <a:r>
              <a:rPr lang="ko-KR" altLang="en-US" sz="1200" dirty="0">
                <a:solidFill>
                  <a:schemeClr val="tx1"/>
                </a:solidFill>
              </a:rPr>
              <a:t>는 </a:t>
            </a:r>
            <a:r>
              <a:rPr lang="en-US" altLang="ko-KR" sz="1200" dirty="0">
                <a:solidFill>
                  <a:schemeClr val="tx1"/>
                </a:solidFill>
              </a:rPr>
              <a:t>A</a:t>
            </a:r>
            <a:r>
              <a:rPr lang="ko-KR" altLang="en-US" sz="1200" dirty="0">
                <a:solidFill>
                  <a:schemeClr val="tx1"/>
                </a:solidFill>
              </a:rPr>
              <a:t>의 생산에만 사용되는 물건이 아니라 </a:t>
            </a:r>
            <a:r>
              <a:rPr lang="en-US" altLang="ko-KR" sz="1200" dirty="0">
                <a:solidFill>
                  <a:schemeClr val="tx1"/>
                </a:solidFill>
              </a:rPr>
              <a:t>A</a:t>
            </a:r>
            <a:r>
              <a:rPr lang="ko-KR" altLang="en-US" sz="1200" dirty="0">
                <a:solidFill>
                  <a:schemeClr val="tx1"/>
                </a:solidFill>
              </a:rPr>
              <a:t>의 사용에 사용되는 물건이다</a:t>
            </a:r>
            <a:r>
              <a:rPr lang="en-US" altLang="ko-KR" sz="1200" dirty="0">
                <a:solidFill>
                  <a:schemeClr val="tx1"/>
                </a:solidFill>
              </a:rPr>
              <a:t>.</a:t>
            </a:r>
            <a:endParaRPr lang="ko-KR" altLang="en-US" sz="1200" dirty="0">
              <a:solidFill>
                <a:schemeClr val="tx1"/>
              </a:solidFill>
            </a:endParaRPr>
          </a:p>
        </p:txBody>
      </p:sp>
      <p:sp>
        <p:nvSpPr>
          <p:cNvPr id="25" name="TextBox 24"/>
          <p:cNvSpPr txBox="1"/>
          <p:nvPr/>
        </p:nvSpPr>
        <p:spPr>
          <a:xfrm>
            <a:off x="10256365" y="2179231"/>
            <a:ext cx="736099" cy="276999"/>
          </a:xfrm>
          <a:prstGeom prst="rect">
            <a:avLst/>
          </a:prstGeom>
          <a:noFill/>
        </p:spPr>
        <p:txBody>
          <a:bodyPr wrap="none" rtlCol="0">
            <a:spAutoFit/>
          </a:bodyPr>
          <a:lstStyle/>
          <a:p>
            <a:r>
              <a:rPr lang="ko-KR" altLang="en-US" sz="1200" dirty="0" err="1"/>
              <a:t>인용심결</a:t>
            </a:r>
            <a:endParaRPr lang="ko-KR" altLang="en-US" sz="1200" dirty="0"/>
          </a:p>
        </p:txBody>
      </p:sp>
      <p:sp>
        <p:nvSpPr>
          <p:cNvPr id="26" name="타원 25"/>
          <p:cNvSpPr/>
          <p:nvPr/>
        </p:nvSpPr>
        <p:spPr>
          <a:xfrm>
            <a:off x="1284744" y="250273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27" name="타원 26"/>
          <p:cNvSpPr/>
          <p:nvPr/>
        </p:nvSpPr>
        <p:spPr>
          <a:xfrm>
            <a:off x="3176421" y="250273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28" name="타원 27"/>
          <p:cNvSpPr/>
          <p:nvPr/>
        </p:nvSpPr>
        <p:spPr>
          <a:xfrm>
            <a:off x="6730188" y="250273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29" name="타원 28"/>
          <p:cNvSpPr/>
          <p:nvPr/>
        </p:nvSpPr>
        <p:spPr>
          <a:xfrm>
            <a:off x="10547045" y="250273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0" name="타원 29"/>
          <p:cNvSpPr/>
          <p:nvPr/>
        </p:nvSpPr>
        <p:spPr>
          <a:xfrm>
            <a:off x="4616641" y="2502730"/>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1" name="타원 30"/>
          <p:cNvSpPr/>
          <p:nvPr/>
        </p:nvSpPr>
        <p:spPr>
          <a:xfrm>
            <a:off x="8632042" y="2502730"/>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3" name="직선 연결선 32"/>
          <p:cNvCxnSpPr>
            <a:stCxn id="10" idx="0"/>
            <a:endCxn id="26" idx="4"/>
          </p:cNvCxnSpPr>
          <p:nvPr/>
        </p:nvCxnSpPr>
        <p:spPr>
          <a:xfrm flipH="1" flipV="1">
            <a:off x="1362113" y="2664068"/>
            <a:ext cx="1170" cy="27237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 name="직선 연결선 33"/>
          <p:cNvCxnSpPr>
            <a:stCxn id="14" idx="0"/>
            <a:endCxn id="27" idx="4"/>
          </p:cNvCxnSpPr>
          <p:nvPr/>
        </p:nvCxnSpPr>
        <p:spPr>
          <a:xfrm flipV="1">
            <a:off x="3253790" y="2664068"/>
            <a:ext cx="0" cy="58679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직선 연결선 36"/>
          <p:cNvCxnSpPr>
            <a:stCxn id="17" idx="2"/>
            <a:endCxn id="30" idx="0"/>
          </p:cNvCxnSpPr>
          <p:nvPr/>
        </p:nvCxnSpPr>
        <p:spPr>
          <a:xfrm>
            <a:off x="4694010" y="2000250"/>
            <a:ext cx="0" cy="50248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직선 연결선 39"/>
          <p:cNvCxnSpPr>
            <a:stCxn id="20" idx="0"/>
            <a:endCxn id="28" idx="4"/>
          </p:cNvCxnSpPr>
          <p:nvPr/>
        </p:nvCxnSpPr>
        <p:spPr>
          <a:xfrm flipH="1" flipV="1">
            <a:off x="6807557" y="2664068"/>
            <a:ext cx="4356" cy="58679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직선 연결선 42"/>
          <p:cNvCxnSpPr>
            <a:stCxn id="23" idx="2"/>
            <a:endCxn id="31" idx="0"/>
          </p:cNvCxnSpPr>
          <p:nvPr/>
        </p:nvCxnSpPr>
        <p:spPr>
          <a:xfrm flipH="1">
            <a:off x="8709411" y="1952624"/>
            <a:ext cx="1072" cy="55010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Text Box 4"/>
          <p:cNvSpPr txBox="1">
            <a:spLocks noChangeArrowheads="1"/>
          </p:cNvSpPr>
          <p:nvPr/>
        </p:nvSpPr>
        <p:spPr bwMode="auto">
          <a:xfrm>
            <a:off x="1676399" y="4375112"/>
            <a:ext cx="6532033" cy="2137792"/>
          </a:xfrm>
          <a:prstGeom prst="rect">
            <a:avLst/>
          </a:prstGeom>
          <a:solidFill>
            <a:schemeClr val="tx2">
              <a:lumMod val="20000"/>
              <a:lumOff val="80000"/>
            </a:schemeClr>
          </a:solidFill>
          <a:ln>
            <a:noFill/>
          </a:ln>
        </p:spPr>
        <p:txBody>
          <a:bodyPr wrap="square" anchor="ctr">
            <a:noAutofit/>
          </a:bodyPr>
          <a:lstStyle>
            <a:lvl1pPr eaLnBrk="0" hangingPunct="0">
              <a:defRPr>
                <a:solidFill>
                  <a:schemeClr val="tx1"/>
                </a:solidFill>
                <a:latin typeface="Arial" charset="0"/>
                <a:ea typeface="굴림" charset="-127"/>
              </a:defRPr>
            </a:lvl1pPr>
            <a:lvl2pPr marL="742950" indent="-285750" eaLnBrk="0" hangingPunct="0">
              <a:defRPr>
                <a:solidFill>
                  <a:schemeClr val="tx1"/>
                </a:solidFill>
                <a:latin typeface="Arial" charset="0"/>
                <a:ea typeface="굴림" charset="-127"/>
              </a:defRPr>
            </a:lvl2pPr>
            <a:lvl3pPr marL="1143000" indent="-228600" eaLnBrk="0" hangingPunct="0">
              <a:defRPr>
                <a:solidFill>
                  <a:schemeClr val="tx1"/>
                </a:solidFill>
                <a:latin typeface="Arial" charset="0"/>
                <a:ea typeface="굴림" charset="-127"/>
              </a:defRPr>
            </a:lvl3pPr>
            <a:lvl4pPr marL="1600200" indent="-228600" eaLnBrk="0" hangingPunct="0">
              <a:defRPr>
                <a:solidFill>
                  <a:schemeClr val="tx1"/>
                </a:solidFill>
                <a:latin typeface="Arial" charset="0"/>
                <a:ea typeface="굴림" charset="-127"/>
              </a:defRPr>
            </a:lvl4pPr>
            <a:lvl5pPr marL="2057400" indent="-228600" eaLnBrk="0" hangingPunct="0">
              <a:defRPr>
                <a:solidFill>
                  <a:schemeClr val="tx1"/>
                </a:solidFill>
                <a:latin typeface="Arial" charset="0"/>
                <a:ea typeface="굴림" charset="-127"/>
              </a:defRPr>
            </a:lvl5pPr>
            <a:lvl6pPr marL="2514600" indent="-228600" eaLnBrk="0" fontAlgn="base" hangingPunct="0">
              <a:spcBef>
                <a:spcPct val="0"/>
              </a:spcBef>
              <a:spcAft>
                <a:spcPct val="0"/>
              </a:spcAft>
              <a:defRPr>
                <a:solidFill>
                  <a:schemeClr val="tx1"/>
                </a:solidFill>
                <a:latin typeface="Arial" charset="0"/>
                <a:ea typeface="굴림" charset="-127"/>
              </a:defRPr>
            </a:lvl6pPr>
            <a:lvl7pPr marL="2971800" indent="-228600" eaLnBrk="0" fontAlgn="base" hangingPunct="0">
              <a:spcBef>
                <a:spcPct val="0"/>
              </a:spcBef>
              <a:spcAft>
                <a:spcPct val="0"/>
              </a:spcAft>
              <a:defRPr>
                <a:solidFill>
                  <a:schemeClr val="tx1"/>
                </a:solidFill>
                <a:latin typeface="Arial" charset="0"/>
                <a:ea typeface="굴림" charset="-127"/>
              </a:defRPr>
            </a:lvl7pPr>
            <a:lvl8pPr marL="3429000" indent="-228600" eaLnBrk="0" fontAlgn="base" hangingPunct="0">
              <a:spcBef>
                <a:spcPct val="0"/>
              </a:spcBef>
              <a:spcAft>
                <a:spcPct val="0"/>
              </a:spcAft>
              <a:defRPr>
                <a:solidFill>
                  <a:schemeClr val="tx1"/>
                </a:solidFill>
                <a:latin typeface="Arial" charset="0"/>
                <a:ea typeface="굴림" charset="-127"/>
              </a:defRPr>
            </a:lvl8pPr>
            <a:lvl9pPr marL="3886200" indent="-228600" eaLnBrk="0" fontAlgn="base" hangingPunct="0">
              <a:spcBef>
                <a:spcPct val="0"/>
              </a:spcBef>
              <a:spcAft>
                <a:spcPct val="0"/>
              </a:spcAft>
              <a:defRPr>
                <a:solidFill>
                  <a:schemeClr val="tx1"/>
                </a:solidFill>
                <a:latin typeface="Arial" charset="0"/>
                <a:ea typeface="굴림" charset="-127"/>
              </a:defRPr>
            </a:lvl9pPr>
          </a:lstStyle>
          <a:p>
            <a:pPr algn="just" eaLnBrk="1" latinLnBrk="0" hangingPunct="1">
              <a:spcBef>
                <a:spcPct val="50000"/>
              </a:spcBef>
            </a:pPr>
            <a:r>
              <a:rPr kumimoji="0" lang="ko-KR" altLang="en-US" sz="1200" dirty="0">
                <a:solidFill>
                  <a:srgbClr val="000000"/>
                </a:solidFill>
                <a:latin typeface="+mn-ea"/>
                <a:ea typeface="+mn-ea"/>
              </a:rPr>
              <a:t>전자사진 방식의 화상기록 장치에 있어서, </a:t>
            </a:r>
            <a:endParaRPr kumimoji="0" lang="en-US" altLang="ko-KR" sz="1200" dirty="0">
              <a:solidFill>
                <a:srgbClr val="000000"/>
              </a:solidFill>
              <a:latin typeface="+mn-ea"/>
              <a:ea typeface="+mn-ea"/>
            </a:endParaRPr>
          </a:p>
          <a:p>
            <a:pPr algn="just" eaLnBrk="1" latinLnBrk="0" hangingPunct="1">
              <a:spcBef>
                <a:spcPct val="50000"/>
              </a:spcBef>
            </a:pPr>
            <a:r>
              <a:rPr kumimoji="0" lang="ko-KR" altLang="en-US" sz="1200" dirty="0">
                <a:solidFill>
                  <a:srgbClr val="000000"/>
                </a:solidFill>
                <a:latin typeface="+mn-ea"/>
                <a:ea typeface="+mn-ea"/>
              </a:rPr>
              <a:t>감광드럼(4), </a:t>
            </a:r>
            <a:r>
              <a:rPr kumimoji="0" lang="ko-KR" altLang="en-US" sz="1200" dirty="0" err="1">
                <a:solidFill>
                  <a:srgbClr val="000000"/>
                </a:solidFill>
                <a:latin typeface="+mn-ea"/>
                <a:ea typeface="+mn-ea"/>
              </a:rPr>
              <a:t>트리닝부</a:t>
            </a:r>
            <a:r>
              <a:rPr kumimoji="0" lang="ko-KR" altLang="en-US" sz="1200" dirty="0">
                <a:solidFill>
                  <a:srgbClr val="000000"/>
                </a:solidFill>
                <a:latin typeface="+mn-ea"/>
                <a:ea typeface="+mn-ea"/>
              </a:rPr>
              <a:t>(16) 및 </a:t>
            </a:r>
            <a:r>
              <a:rPr kumimoji="0" lang="ko-KR" altLang="en-US" sz="1200" dirty="0" err="1">
                <a:solidFill>
                  <a:srgbClr val="000000"/>
                </a:solidFill>
                <a:latin typeface="+mn-ea"/>
                <a:ea typeface="+mn-ea"/>
              </a:rPr>
              <a:t>대전기</a:t>
            </a:r>
            <a:r>
              <a:rPr kumimoji="0" lang="ko-KR" altLang="en-US" sz="1200" dirty="0">
                <a:solidFill>
                  <a:srgbClr val="000000"/>
                </a:solidFill>
                <a:latin typeface="+mn-ea"/>
                <a:ea typeface="+mn-ea"/>
              </a:rPr>
              <a:t>(5)를 일체로 </a:t>
            </a:r>
            <a:r>
              <a:rPr kumimoji="0" lang="ko-KR" altLang="en-US" sz="1200" dirty="0" err="1">
                <a:solidFill>
                  <a:srgbClr val="000000"/>
                </a:solidFill>
                <a:latin typeface="+mn-ea"/>
                <a:ea typeface="+mn-ea"/>
              </a:rPr>
              <a:t>유니트화한</a:t>
            </a:r>
            <a:r>
              <a:rPr kumimoji="0" lang="ko-KR" altLang="en-US" sz="1200" dirty="0">
                <a:solidFill>
                  <a:srgbClr val="000000"/>
                </a:solidFill>
                <a:latin typeface="+mn-ea"/>
                <a:ea typeface="+mn-ea"/>
              </a:rPr>
              <a:t> </a:t>
            </a:r>
            <a:r>
              <a:rPr kumimoji="0" lang="ko-KR" altLang="en-US" sz="1200" b="1" dirty="0" err="1">
                <a:solidFill>
                  <a:srgbClr val="FF0000"/>
                </a:solidFill>
                <a:latin typeface="+mn-ea"/>
                <a:ea typeface="+mn-ea"/>
              </a:rPr>
              <a:t>감광드럼유니트</a:t>
            </a:r>
            <a:r>
              <a:rPr kumimoji="0" lang="ko-KR" altLang="en-US" sz="1200" b="1" dirty="0">
                <a:solidFill>
                  <a:srgbClr val="FF0000"/>
                </a:solidFill>
                <a:latin typeface="+mn-ea"/>
                <a:ea typeface="+mn-ea"/>
              </a:rPr>
              <a:t>(40)</a:t>
            </a:r>
            <a:r>
              <a:rPr kumimoji="0" lang="ko-KR" altLang="en-US" sz="1200" dirty="0">
                <a:solidFill>
                  <a:srgbClr val="000000"/>
                </a:solidFill>
                <a:latin typeface="+mn-ea"/>
                <a:ea typeface="+mn-ea"/>
              </a:rPr>
              <a:t>와</a:t>
            </a:r>
            <a:r>
              <a:rPr kumimoji="0" lang="en-US" altLang="ko-KR" sz="1200" dirty="0">
                <a:solidFill>
                  <a:srgbClr val="000000"/>
                </a:solidFill>
                <a:latin typeface="+mn-ea"/>
                <a:ea typeface="+mn-ea"/>
              </a:rPr>
              <a:t>,</a:t>
            </a:r>
          </a:p>
          <a:p>
            <a:pPr algn="just" eaLnBrk="1" latinLnBrk="0" hangingPunct="1">
              <a:spcBef>
                <a:spcPct val="50000"/>
              </a:spcBef>
            </a:pPr>
            <a:r>
              <a:rPr kumimoji="0" lang="ko-KR" altLang="en-US" sz="1200" dirty="0">
                <a:solidFill>
                  <a:srgbClr val="000000"/>
                </a:solidFill>
                <a:latin typeface="+mn-ea"/>
                <a:ea typeface="+mn-ea"/>
              </a:rPr>
              <a:t>상기 </a:t>
            </a:r>
            <a:r>
              <a:rPr kumimoji="0" lang="ko-KR" altLang="en-US" sz="1200" dirty="0" err="1">
                <a:solidFill>
                  <a:srgbClr val="000000"/>
                </a:solidFill>
                <a:latin typeface="+mn-ea"/>
                <a:ea typeface="+mn-ea"/>
              </a:rPr>
              <a:t>감광드럼유니트</a:t>
            </a:r>
            <a:r>
              <a:rPr kumimoji="0" lang="ko-KR" altLang="en-US" sz="1200" dirty="0">
                <a:solidFill>
                  <a:srgbClr val="000000"/>
                </a:solidFill>
                <a:latin typeface="+mn-ea"/>
                <a:ea typeface="+mn-ea"/>
              </a:rPr>
              <a:t>(40)를 수납하는 드럼섹션(23)과 토너박스(21)를 </a:t>
            </a:r>
            <a:r>
              <a:rPr kumimoji="0" lang="ko-KR" altLang="en-US" sz="1200" dirty="0" err="1">
                <a:solidFill>
                  <a:srgbClr val="000000"/>
                </a:solidFill>
                <a:latin typeface="+mn-ea"/>
                <a:ea typeface="+mn-ea"/>
              </a:rPr>
              <a:t>착탈</a:t>
            </a:r>
            <a:r>
              <a:rPr kumimoji="0" lang="ko-KR" altLang="en-US" sz="1200" dirty="0">
                <a:solidFill>
                  <a:srgbClr val="000000"/>
                </a:solidFill>
                <a:latin typeface="+mn-ea"/>
                <a:ea typeface="+mn-ea"/>
              </a:rPr>
              <a:t> 가능하도록 하는 토너섹션(28)을 가진 </a:t>
            </a:r>
            <a:r>
              <a:rPr kumimoji="0" lang="ko-KR" altLang="en-US" sz="1200" b="1" dirty="0" err="1">
                <a:solidFill>
                  <a:srgbClr val="FF0000"/>
                </a:solidFill>
                <a:latin typeface="+mn-ea"/>
                <a:ea typeface="+mn-ea"/>
              </a:rPr>
              <a:t>현상유니트</a:t>
            </a:r>
            <a:r>
              <a:rPr kumimoji="0" lang="ko-KR" altLang="en-US" sz="1200" b="1" dirty="0">
                <a:solidFill>
                  <a:srgbClr val="FF0000"/>
                </a:solidFill>
                <a:latin typeface="+mn-ea"/>
                <a:ea typeface="+mn-ea"/>
              </a:rPr>
              <a:t>(20)</a:t>
            </a:r>
            <a:r>
              <a:rPr lang="ko-KR" altLang="en-US" sz="1200" dirty="0">
                <a:solidFill>
                  <a:srgbClr val="000000"/>
                </a:solidFill>
                <a:latin typeface="+mn-ea"/>
                <a:ea typeface="+mn-ea"/>
              </a:rPr>
              <a:t>와</a:t>
            </a:r>
            <a:r>
              <a:rPr kumimoji="0" lang="ko-KR" altLang="en-US" sz="1200" dirty="0">
                <a:solidFill>
                  <a:srgbClr val="000000"/>
                </a:solidFill>
                <a:latin typeface="+mn-ea"/>
                <a:ea typeface="+mn-ea"/>
              </a:rPr>
              <a:t>, </a:t>
            </a:r>
            <a:endParaRPr kumimoji="0" lang="en-US" altLang="ko-KR" sz="1200" dirty="0">
              <a:solidFill>
                <a:srgbClr val="000000"/>
              </a:solidFill>
              <a:latin typeface="+mn-ea"/>
              <a:ea typeface="+mn-ea"/>
            </a:endParaRPr>
          </a:p>
          <a:p>
            <a:pPr algn="just" eaLnBrk="1" latinLnBrk="0" hangingPunct="1">
              <a:spcBef>
                <a:spcPct val="50000"/>
              </a:spcBef>
            </a:pPr>
            <a:r>
              <a:rPr kumimoji="0" lang="ko-KR" altLang="en-US" sz="1200" dirty="0">
                <a:solidFill>
                  <a:srgbClr val="000000"/>
                </a:solidFill>
                <a:latin typeface="+mn-ea"/>
                <a:ea typeface="+mn-ea"/>
              </a:rPr>
              <a:t>상기 </a:t>
            </a:r>
            <a:r>
              <a:rPr kumimoji="0" lang="ko-KR" altLang="en-US" sz="1200" dirty="0" err="1">
                <a:solidFill>
                  <a:srgbClr val="000000"/>
                </a:solidFill>
                <a:latin typeface="+mn-ea"/>
                <a:ea typeface="+mn-ea"/>
              </a:rPr>
              <a:t>감광드럼유니트</a:t>
            </a:r>
            <a:r>
              <a:rPr kumimoji="0" lang="ko-KR" altLang="en-US" sz="1200" dirty="0">
                <a:solidFill>
                  <a:srgbClr val="000000"/>
                </a:solidFill>
                <a:latin typeface="+mn-ea"/>
                <a:ea typeface="+mn-ea"/>
              </a:rPr>
              <a:t>(40)의 위치결정 부재(41)와 상기 현상 </a:t>
            </a:r>
            <a:r>
              <a:rPr kumimoji="0" lang="ko-KR" altLang="en-US" sz="1200" dirty="0" err="1">
                <a:solidFill>
                  <a:srgbClr val="000000"/>
                </a:solidFill>
                <a:latin typeface="+mn-ea"/>
                <a:ea typeface="+mn-ea"/>
              </a:rPr>
              <a:t>유니트</a:t>
            </a:r>
            <a:r>
              <a:rPr kumimoji="0" lang="ko-KR" altLang="en-US" sz="1200" dirty="0">
                <a:solidFill>
                  <a:srgbClr val="000000"/>
                </a:solidFill>
                <a:latin typeface="+mn-ea"/>
                <a:ea typeface="+mn-ea"/>
              </a:rPr>
              <a:t>(20)의 위치결정부재(28)를 </a:t>
            </a:r>
            <a:r>
              <a:rPr kumimoji="0" lang="ko-KR" altLang="en-US" sz="1200" dirty="0" err="1">
                <a:solidFill>
                  <a:srgbClr val="000000"/>
                </a:solidFill>
                <a:latin typeface="+mn-ea"/>
                <a:ea typeface="+mn-ea"/>
              </a:rPr>
              <a:t>가이드하는</a:t>
            </a:r>
            <a:r>
              <a:rPr kumimoji="0" lang="ko-KR" altLang="en-US" sz="1200" dirty="0">
                <a:solidFill>
                  <a:srgbClr val="000000"/>
                </a:solidFill>
                <a:latin typeface="+mn-ea"/>
                <a:ea typeface="+mn-ea"/>
              </a:rPr>
              <a:t> </a:t>
            </a:r>
            <a:r>
              <a:rPr kumimoji="0" lang="ko-KR" altLang="en-US" sz="1200" dirty="0" err="1">
                <a:solidFill>
                  <a:srgbClr val="000000"/>
                </a:solidFill>
                <a:latin typeface="+mn-ea"/>
                <a:ea typeface="+mn-ea"/>
              </a:rPr>
              <a:t>가이드홈</a:t>
            </a:r>
            <a:r>
              <a:rPr kumimoji="0" lang="ko-KR" altLang="en-US" sz="1200" dirty="0">
                <a:solidFill>
                  <a:srgbClr val="000000"/>
                </a:solidFill>
                <a:latin typeface="+mn-ea"/>
                <a:ea typeface="+mn-ea"/>
              </a:rPr>
              <a:t>(51,52)을 가진 기기 </a:t>
            </a:r>
            <a:r>
              <a:rPr kumimoji="0" lang="ko-KR" altLang="en-US" sz="1200" b="1" dirty="0">
                <a:solidFill>
                  <a:srgbClr val="FF0000"/>
                </a:solidFill>
                <a:latin typeface="+mn-ea"/>
                <a:ea typeface="+mn-ea"/>
              </a:rPr>
              <a:t>본체 프레임(50)</a:t>
            </a:r>
            <a:r>
              <a:rPr kumimoji="0" lang="ko-KR" altLang="en-US" sz="1200" dirty="0">
                <a:solidFill>
                  <a:srgbClr val="000000"/>
                </a:solidFill>
                <a:latin typeface="+mn-ea"/>
                <a:ea typeface="+mn-ea"/>
              </a:rPr>
              <a:t>을 가지도록 구성하여, </a:t>
            </a:r>
            <a:endParaRPr kumimoji="0" lang="en-US" altLang="ko-KR" sz="1200" dirty="0">
              <a:solidFill>
                <a:srgbClr val="000000"/>
              </a:solidFill>
              <a:latin typeface="+mn-ea"/>
              <a:ea typeface="+mn-ea"/>
            </a:endParaRPr>
          </a:p>
          <a:p>
            <a:pPr algn="just" eaLnBrk="1" latinLnBrk="0" hangingPunct="1">
              <a:spcBef>
                <a:spcPct val="50000"/>
              </a:spcBef>
            </a:pPr>
            <a:r>
              <a:rPr kumimoji="0" lang="ko-KR" altLang="en-US" sz="1200" dirty="0">
                <a:solidFill>
                  <a:srgbClr val="000000"/>
                </a:solidFill>
                <a:latin typeface="+mn-ea"/>
                <a:ea typeface="+mn-ea"/>
              </a:rPr>
              <a:t>소모품인 </a:t>
            </a:r>
            <a:r>
              <a:rPr kumimoji="0" lang="ko-KR" altLang="en-US" sz="1200" dirty="0" err="1">
                <a:solidFill>
                  <a:srgbClr val="000000"/>
                </a:solidFill>
                <a:latin typeface="+mn-ea"/>
                <a:ea typeface="+mn-ea"/>
              </a:rPr>
              <a:t>감광드럼유니트</a:t>
            </a:r>
            <a:r>
              <a:rPr kumimoji="0" lang="ko-KR" altLang="en-US" sz="1200" dirty="0">
                <a:solidFill>
                  <a:srgbClr val="000000"/>
                </a:solidFill>
                <a:latin typeface="+mn-ea"/>
                <a:ea typeface="+mn-ea"/>
              </a:rPr>
              <a:t>, 토너박스, </a:t>
            </a:r>
            <a:r>
              <a:rPr kumimoji="0" lang="ko-KR" altLang="en-US" sz="1200" dirty="0" err="1">
                <a:solidFill>
                  <a:srgbClr val="000000"/>
                </a:solidFill>
                <a:latin typeface="+mn-ea"/>
                <a:ea typeface="+mn-ea"/>
              </a:rPr>
              <a:t>현상유니트를</a:t>
            </a:r>
            <a:r>
              <a:rPr kumimoji="0" lang="ko-KR" altLang="en-US" sz="1200" dirty="0">
                <a:solidFill>
                  <a:srgbClr val="000000"/>
                </a:solidFill>
                <a:latin typeface="+mn-ea"/>
                <a:ea typeface="+mn-ea"/>
              </a:rPr>
              <a:t> 별도로 가져 경제적으로 함과 동시에 </a:t>
            </a:r>
            <a:r>
              <a:rPr kumimoji="0" lang="ko-KR" altLang="en-US" sz="1200" dirty="0" err="1">
                <a:solidFill>
                  <a:srgbClr val="000000"/>
                </a:solidFill>
                <a:latin typeface="+mn-ea"/>
                <a:ea typeface="+mn-ea"/>
              </a:rPr>
              <a:t>현상유니트의</a:t>
            </a:r>
            <a:r>
              <a:rPr kumimoji="0" lang="ko-KR" altLang="en-US" sz="1200" dirty="0">
                <a:solidFill>
                  <a:srgbClr val="000000"/>
                </a:solidFill>
                <a:latin typeface="+mn-ea"/>
                <a:ea typeface="+mn-ea"/>
              </a:rPr>
              <a:t> 위에 </a:t>
            </a:r>
            <a:r>
              <a:rPr kumimoji="0" lang="ko-KR" altLang="en-US" sz="1200" dirty="0" err="1">
                <a:solidFill>
                  <a:srgbClr val="000000"/>
                </a:solidFill>
                <a:latin typeface="+mn-ea"/>
                <a:ea typeface="+mn-ea"/>
              </a:rPr>
              <a:t>감광드럼유니트</a:t>
            </a:r>
            <a:r>
              <a:rPr kumimoji="0" lang="ko-KR" altLang="en-US" sz="1200" dirty="0">
                <a:solidFill>
                  <a:srgbClr val="000000"/>
                </a:solidFill>
                <a:latin typeface="+mn-ea"/>
                <a:ea typeface="+mn-ea"/>
              </a:rPr>
              <a:t>, 토너박스가 수납가능 하도록 하여 사용자의 취급을 편리하게 한 것을 특징으로 하는 화상기록 장치</a:t>
            </a:r>
          </a:p>
        </p:txBody>
      </p:sp>
      <p:sp>
        <p:nvSpPr>
          <p:cNvPr id="48" name="모서리가 둥근 직사각형 47"/>
          <p:cNvSpPr/>
          <p:nvPr/>
        </p:nvSpPr>
        <p:spPr bwMode="auto">
          <a:xfrm>
            <a:off x="512086" y="4998559"/>
            <a:ext cx="1163184" cy="706916"/>
          </a:xfrm>
          <a:prstGeom prst="roundRect">
            <a:avLst>
              <a:gd name="adj" fmla="val 0"/>
            </a:avLst>
          </a:prstGeom>
          <a:solidFill>
            <a:schemeClr val="tx2"/>
          </a:solidFill>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특허발명</a:t>
            </a:r>
            <a:endParaRPr lang="en-US" altLang="ko-KR" sz="1400" dirty="0"/>
          </a:p>
          <a:p>
            <a:pPr algn="ctr"/>
            <a:r>
              <a:rPr lang="ko-KR" altLang="en-US" sz="1400" dirty="0"/>
              <a:t>구성</a:t>
            </a:r>
            <a:endParaRPr lang="en-US" altLang="ko-KR" sz="1400" dirty="0"/>
          </a:p>
        </p:txBody>
      </p:sp>
      <p:pic>
        <p:nvPicPr>
          <p:cNvPr id="49"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208433" y="3167694"/>
            <a:ext cx="3264163" cy="3661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34309083"/>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127</a:t>
            </a:r>
            <a:r>
              <a:rPr lang="ko-KR" altLang="en-US" dirty="0"/>
              <a:t>조</a:t>
            </a:r>
          </a:p>
        </p:txBody>
      </p:sp>
      <p:sp>
        <p:nvSpPr>
          <p:cNvPr id="5" name="텍스트 개체 틀 4"/>
          <p:cNvSpPr>
            <a:spLocks noGrp="1"/>
          </p:cNvSpPr>
          <p:nvPr>
            <p:ph type="body" sz="quarter" idx="13"/>
          </p:nvPr>
        </p:nvSpPr>
        <p:spPr/>
        <p:txBody>
          <a:bodyPr/>
          <a:lstStyle/>
          <a:p>
            <a:r>
              <a:rPr lang="ko-KR" altLang="en-US" dirty="0" err="1"/>
              <a:t>감광드럼</a:t>
            </a:r>
            <a:r>
              <a:rPr lang="ko-KR" altLang="en-US" dirty="0"/>
              <a:t> 카트리지의</a:t>
            </a:r>
            <a:r>
              <a:rPr lang="en-US" altLang="ko-KR" dirty="0"/>
              <a:t> CASE</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390</a:t>
            </a:r>
            <a:endParaRPr lang="ko-KR" altLang="en-US"/>
          </a:p>
        </p:txBody>
      </p:sp>
      <p:sp>
        <p:nvSpPr>
          <p:cNvPr id="32" name="Text Box 4"/>
          <p:cNvSpPr txBox="1">
            <a:spLocks noChangeArrowheads="1"/>
          </p:cNvSpPr>
          <p:nvPr/>
        </p:nvSpPr>
        <p:spPr bwMode="auto">
          <a:xfrm>
            <a:off x="5715000" y="1416145"/>
            <a:ext cx="6100663" cy="1909393"/>
          </a:xfrm>
          <a:prstGeom prst="rect">
            <a:avLst/>
          </a:prstGeom>
          <a:solidFill>
            <a:schemeClr val="accent4">
              <a:lumMod val="20000"/>
              <a:lumOff val="80000"/>
            </a:schemeClr>
          </a:solidFill>
          <a:ln>
            <a:noFill/>
          </a:ln>
        </p:spPr>
        <p:txBody>
          <a:bodyPr wrap="square" anchor="ctr">
            <a:noAutofit/>
          </a:bodyPr>
          <a:lstStyle>
            <a:lvl1pPr eaLnBrk="0" hangingPunct="0">
              <a:defRPr>
                <a:solidFill>
                  <a:schemeClr val="tx1"/>
                </a:solidFill>
                <a:latin typeface="Arial" charset="0"/>
                <a:ea typeface="굴림" charset="-127"/>
              </a:defRPr>
            </a:lvl1pPr>
            <a:lvl2pPr marL="742950" indent="-285750" eaLnBrk="0" hangingPunct="0">
              <a:defRPr>
                <a:solidFill>
                  <a:schemeClr val="tx1"/>
                </a:solidFill>
                <a:latin typeface="Arial" charset="0"/>
                <a:ea typeface="굴림" charset="-127"/>
              </a:defRPr>
            </a:lvl2pPr>
            <a:lvl3pPr marL="1143000" indent="-228600" eaLnBrk="0" hangingPunct="0">
              <a:defRPr>
                <a:solidFill>
                  <a:schemeClr val="tx1"/>
                </a:solidFill>
                <a:latin typeface="Arial" charset="0"/>
                <a:ea typeface="굴림" charset="-127"/>
              </a:defRPr>
            </a:lvl3pPr>
            <a:lvl4pPr marL="1600200" indent="-228600" eaLnBrk="0" hangingPunct="0">
              <a:defRPr>
                <a:solidFill>
                  <a:schemeClr val="tx1"/>
                </a:solidFill>
                <a:latin typeface="Arial" charset="0"/>
                <a:ea typeface="굴림" charset="-127"/>
              </a:defRPr>
            </a:lvl4pPr>
            <a:lvl5pPr marL="2057400" indent="-228600" eaLnBrk="0" hangingPunct="0">
              <a:defRPr>
                <a:solidFill>
                  <a:schemeClr val="tx1"/>
                </a:solidFill>
                <a:latin typeface="Arial" charset="0"/>
                <a:ea typeface="굴림" charset="-127"/>
              </a:defRPr>
            </a:lvl5pPr>
            <a:lvl6pPr marL="2514600" indent="-228600" eaLnBrk="0" fontAlgn="base" hangingPunct="0">
              <a:spcBef>
                <a:spcPct val="0"/>
              </a:spcBef>
              <a:spcAft>
                <a:spcPct val="0"/>
              </a:spcAft>
              <a:defRPr>
                <a:solidFill>
                  <a:schemeClr val="tx1"/>
                </a:solidFill>
                <a:latin typeface="Arial" charset="0"/>
                <a:ea typeface="굴림" charset="-127"/>
              </a:defRPr>
            </a:lvl6pPr>
            <a:lvl7pPr marL="2971800" indent="-228600" eaLnBrk="0" fontAlgn="base" hangingPunct="0">
              <a:spcBef>
                <a:spcPct val="0"/>
              </a:spcBef>
              <a:spcAft>
                <a:spcPct val="0"/>
              </a:spcAft>
              <a:defRPr>
                <a:solidFill>
                  <a:schemeClr val="tx1"/>
                </a:solidFill>
                <a:latin typeface="Arial" charset="0"/>
                <a:ea typeface="굴림" charset="-127"/>
              </a:defRPr>
            </a:lvl7pPr>
            <a:lvl8pPr marL="3429000" indent="-228600" eaLnBrk="0" fontAlgn="base" hangingPunct="0">
              <a:spcBef>
                <a:spcPct val="0"/>
              </a:spcBef>
              <a:spcAft>
                <a:spcPct val="0"/>
              </a:spcAft>
              <a:defRPr>
                <a:solidFill>
                  <a:schemeClr val="tx1"/>
                </a:solidFill>
                <a:latin typeface="Arial" charset="0"/>
                <a:ea typeface="굴림" charset="-127"/>
              </a:defRPr>
            </a:lvl8pPr>
            <a:lvl9pPr marL="3886200" indent="-228600" eaLnBrk="0" fontAlgn="base" hangingPunct="0">
              <a:spcBef>
                <a:spcPct val="0"/>
              </a:spcBef>
              <a:spcAft>
                <a:spcPct val="0"/>
              </a:spcAft>
              <a:defRPr>
                <a:solidFill>
                  <a:schemeClr val="tx1"/>
                </a:solidFill>
                <a:latin typeface="Arial" charset="0"/>
                <a:ea typeface="굴림" charset="-127"/>
              </a:defRPr>
            </a:lvl9pPr>
          </a:lstStyle>
          <a:p>
            <a:pPr algn="just" eaLnBrk="1" latinLnBrk="0" hangingPunct="1">
              <a:spcBef>
                <a:spcPct val="50000"/>
              </a:spcBef>
            </a:pPr>
            <a:r>
              <a:rPr lang="en-US" altLang="ko-KR" sz="1200" dirty="0">
                <a:solidFill>
                  <a:srgbClr val="000000"/>
                </a:solidFill>
                <a:latin typeface="+mn-ea"/>
                <a:ea typeface="+mn-ea"/>
              </a:rPr>
              <a:t>(</a:t>
            </a:r>
            <a:r>
              <a:rPr lang="ko-KR" altLang="en-US" sz="1200" dirty="0">
                <a:solidFill>
                  <a:srgbClr val="000000"/>
                </a:solidFill>
                <a:latin typeface="+mn-ea"/>
                <a:ea typeface="+mn-ea"/>
              </a:rPr>
              <a:t>가</a:t>
            </a:r>
            <a:r>
              <a:rPr lang="en-US" altLang="ko-KR" sz="1200" dirty="0">
                <a:solidFill>
                  <a:srgbClr val="000000"/>
                </a:solidFill>
                <a:latin typeface="+mn-ea"/>
                <a:ea typeface="+mn-ea"/>
              </a:rPr>
              <a:t>)</a:t>
            </a:r>
            <a:r>
              <a:rPr lang="ko-KR" altLang="en-US" sz="1200" dirty="0" err="1">
                <a:solidFill>
                  <a:srgbClr val="000000"/>
                </a:solidFill>
                <a:latin typeface="+mn-ea"/>
                <a:ea typeface="+mn-ea"/>
              </a:rPr>
              <a:t>호도면에</a:t>
            </a:r>
            <a:r>
              <a:rPr lang="ko-KR" altLang="en-US" sz="1200" dirty="0">
                <a:solidFill>
                  <a:srgbClr val="000000"/>
                </a:solidFill>
                <a:latin typeface="+mn-ea"/>
                <a:ea typeface="+mn-ea"/>
              </a:rPr>
              <a:t> 도시된 드럼 카트리지는</a:t>
            </a:r>
            <a:r>
              <a:rPr lang="en-US" altLang="ko-KR" sz="1200" dirty="0">
                <a:solidFill>
                  <a:srgbClr val="000000"/>
                </a:solidFill>
                <a:latin typeface="+mn-ea"/>
                <a:ea typeface="+mn-ea"/>
              </a:rPr>
              <a:t>, </a:t>
            </a:r>
            <a:r>
              <a:rPr lang="ko-KR" altLang="en-US" sz="1200" dirty="0" err="1">
                <a:solidFill>
                  <a:srgbClr val="000000"/>
                </a:solidFill>
                <a:latin typeface="+mn-ea"/>
                <a:ea typeface="+mn-ea"/>
              </a:rPr>
              <a:t>폐토너통을</a:t>
            </a:r>
            <a:r>
              <a:rPr lang="ko-KR" altLang="en-US" sz="1200" dirty="0">
                <a:solidFill>
                  <a:srgbClr val="000000"/>
                </a:solidFill>
                <a:latin typeface="+mn-ea"/>
                <a:ea typeface="+mn-ea"/>
              </a:rPr>
              <a:t> 별도로 구비하고 있는 여타의 드럼 카트리지들이 갖는 문제점을 개선하기 위해서</a:t>
            </a:r>
            <a:r>
              <a:rPr lang="en-US" altLang="ko-KR" sz="1200" dirty="0">
                <a:solidFill>
                  <a:srgbClr val="000000"/>
                </a:solidFill>
                <a:latin typeface="+mn-ea"/>
                <a:ea typeface="+mn-ea"/>
              </a:rPr>
              <a:t>, </a:t>
            </a:r>
            <a:r>
              <a:rPr lang="ko-KR" altLang="en-US" sz="1200" dirty="0" err="1">
                <a:solidFill>
                  <a:srgbClr val="000000"/>
                </a:solidFill>
                <a:latin typeface="+mn-ea"/>
                <a:ea typeface="+mn-ea"/>
              </a:rPr>
              <a:t>폐토너</a:t>
            </a:r>
            <a:r>
              <a:rPr lang="ko-KR" altLang="en-US" sz="1200" dirty="0">
                <a:solidFill>
                  <a:srgbClr val="000000"/>
                </a:solidFill>
                <a:latin typeface="+mn-ea"/>
                <a:ea typeface="+mn-ea"/>
              </a:rPr>
              <a:t> 적재공간을 드럼유니크와 일체로 형성시켜 놓았는데</a:t>
            </a:r>
            <a:r>
              <a:rPr lang="en-US" altLang="ko-KR" sz="1200" dirty="0">
                <a:solidFill>
                  <a:srgbClr val="000000"/>
                </a:solidFill>
                <a:latin typeface="+mn-ea"/>
                <a:ea typeface="+mn-ea"/>
              </a:rPr>
              <a:t>, </a:t>
            </a:r>
            <a:r>
              <a:rPr lang="ko-KR" altLang="en-US" sz="1200" dirty="0">
                <a:solidFill>
                  <a:srgbClr val="000000"/>
                </a:solidFill>
                <a:latin typeface="+mn-ea"/>
                <a:ea typeface="+mn-ea"/>
              </a:rPr>
              <a:t>특히 상기 드럼의 사용수명과 상기 드럼주변의 여유공간을 감안하여 상기 </a:t>
            </a:r>
            <a:r>
              <a:rPr lang="ko-KR" altLang="en-US" sz="1200" dirty="0" err="1">
                <a:solidFill>
                  <a:srgbClr val="000000"/>
                </a:solidFill>
                <a:latin typeface="+mn-ea"/>
                <a:ea typeface="+mn-ea"/>
              </a:rPr>
              <a:t>폐토너</a:t>
            </a:r>
            <a:r>
              <a:rPr lang="ko-KR" altLang="en-US" sz="1200" dirty="0">
                <a:solidFill>
                  <a:srgbClr val="000000"/>
                </a:solidFill>
                <a:latin typeface="+mn-ea"/>
                <a:ea typeface="+mn-ea"/>
              </a:rPr>
              <a:t> 적재공간을 적정크기로 형성시킴으로써 </a:t>
            </a:r>
            <a:r>
              <a:rPr lang="ko-KR" altLang="en-US" sz="1200" dirty="0" err="1">
                <a:solidFill>
                  <a:srgbClr val="000000"/>
                </a:solidFill>
                <a:latin typeface="+mn-ea"/>
                <a:ea typeface="+mn-ea"/>
              </a:rPr>
              <a:t>사용중에</a:t>
            </a:r>
            <a:r>
              <a:rPr lang="ko-KR" altLang="en-US" sz="1200" dirty="0">
                <a:solidFill>
                  <a:srgbClr val="000000"/>
                </a:solidFill>
                <a:latin typeface="+mn-ea"/>
                <a:ea typeface="+mn-ea"/>
              </a:rPr>
              <a:t> </a:t>
            </a:r>
            <a:r>
              <a:rPr lang="ko-KR" altLang="en-US" sz="1200" dirty="0" err="1">
                <a:solidFill>
                  <a:srgbClr val="000000"/>
                </a:solidFill>
                <a:latin typeface="+mn-ea"/>
                <a:ea typeface="+mn-ea"/>
              </a:rPr>
              <a:t>폐토너</a:t>
            </a:r>
            <a:r>
              <a:rPr lang="ko-KR" altLang="en-US" sz="1200" dirty="0">
                <a:solidFill>
                  <a:srgbClr val="000000"/>
                </a:solidFill>
                <a:latin typeface="+mn-ea"/>
                <a:ea typeface="+mn-ea"/>
              </a:rPr>
              <a:t> </a:t>
            </a:r>
            <a:r>
              <a:rPr lang="ko-KR" altLang="en-US" sz="1200" dirty="0" err="1">
                <a:solidFill>
                  <a:srgbClr val="000000"/>
                </a:solidFill>
                <a:latin typeface="+mn-ea"/>
                <a:ea typeface="+mn-ea"/>
              </a:rPr>
              <a:t>회수통을</a:t>
            </a:r>
            <a:r>
              <a:rPr lang="ko-KR" altLang="en-US" sz="1200" dirty="0">
                <a:solidFill>
                  <a:srgbClr val="000000"/>
                </a:solidFill>
                <a:latin typeface="+mn-ea"/>
                <a:ea typeface="+mn-ea"/>
              </a:rPr>
              <a:t> 교환해야 하는 불편함을 배제한다</a:t>
            </a:r>
            <a:r>
              <a:rPr lang="en-US" altLang="ko-KR" sz="1200" dirty="0">
                <a:solidFill>
                  <a:srgbClr val="000000"/>
                </a:solidFill>
                <a:latin typeface="+mn-ea"/>
                <a:ea typeface="+mn-ea"/>
              </a:rPr>
              <a:t>. </a:t>
            </a:r>
            <a:r>
              <a:rPr lang="ko-KR" altLang="en-US" sz="1200" dirty="0">
                <a:solidFill>
                  <a:srgbClr val="000000"/>
                </a:solidFill>
                <a:latin typeface="+mn-ea"/>
                <a:ea typeface="+mn-ea"/>
              </a:rPr>
              <a:t>즉</a:t>
            </a:r>
            <a:r>
              <a:rPr lang="en-US" altLang="ko-KR" sz="1200" dirty="0">
                <a:solidFill>
                  <a:srgbClr val="000000"/>
                </a:solidFill>
                <a:latin typeface="+mn-ea"/>
                <a:ea typeface="+mn-ea"/>
              </a:rPr>
              <a:t>, (</a:t>
            </a:r>
            <a:r>
              <a:rPr lang="ko-KR" altLang="en-US" sz="1200" dirty="0">
                <a:solidFill>
                  <a:srgbClr val="000000"/>
                </a:solidFill>
                <a:latin typeface="+mn-ea"/>
                <a:ea typeface="+mn-ea"/>
              </a:rPr>
              <a:t>가</a:t>
            </a:r>
            <a:r>
              <a:rPr lang="en-US" altLang="ko-KR" sz="1200" dirty="0">
                <a:solidFill>
                  <a:srgbClr val="000000"/>
                </a:solidFill>
                <a:latin typeface="+mn-ea"/>
                <a:ea typeface="+mn-ea"/>
              </a:rPr>
              <a:t>)</a:t>
            </a:r>
            <a:r>
              <a:rPr lang="ko-KR" altLang="en-US" sz="1200" dirty="0" err="1">
                <a:solidFill>
                  <a:srgbClr val="000000"/>
                </a:solidFill>
                <a:latin typeface="+mn-ea"/>
                <a:ea typeface="+mn-ea"/>
              </a:rPr>
              <a:t>호도면에</a:t>
            </a:r>
            <a:r>
              <a:rPr lang="ko-KR" altLang="en-US" sz="1200" dirty="0">
                <a:solidFill>
                  <a:srgbClr val="000000"/>
                </a:solidFill>
                <a:latin typeface="+mn-ea"/>
                <a:ea typeface="+mn-ea"/>
              </a:rPr>
              <a:t> 도시된 드럼 카트리지를 사용하는 경우는 드럼을 교체할 때까지 별도로 </a:t>
            </a:r>
            <a:r>
              <a:rPr lang="ko-KR" altLang="en-US" sz="1200" dirty="0" err="1">
                <a:solidFill>
                  <a:srgbClr val="000000"/>
                </a:solidFill>
                <a:latin typeface="+mn-ea"/>
                <a:ea typeface="+mn-ea"/>
              </a:rPr>
              <a:t>폐토너를</a:t>
            </a:r>
            <a:r>
              <a:rPr lang="ko-KR" altLang="en-US" sz="1200" dirty="0">
                <a:solidFill>
                  <a:srgbClr val="000000"/>
                </a:solidFill>
                <a:latin typeface="+mn-ea"/>
                <a:ea typeface="+mn-ea"/>
              </a:rPr>
              <a:t> 회수할 필요가 없고</a:t>
            </a:r>
            <a:r>
              <a:rPr lang="en-US" altLang="ko-KR" sz="1200" dirty="0">
                <a:solidFill>
                  <a:srgbClr val="000000"/>
                </a:solidFill>
                <a:latin typeface="+mn-ea"/>
                <a:ea typeface="+mn-ea"/>
              </a:rPr>
              <a:t>, </a:t>
            </a:r>
            <a:r>
              <a:rPr lang="ko-KR" altLang="en-US" sz="1200" dirty="0">
                <a:solidFill>
                  <a:srgbClr val="000000"/>
                </a:solidFill>
                <a:latin typeface="+mn-ea"/>
                <a:ea typeface="+mn-ea"/>
              </a:rPr>
              <a:t>상기한 바와 같은 </a:t>
            </a:r>
            <a:r>
              <a:rPr lang="en-US" altLang="ko-KR" sz="1200" dirty="0">
                <a:solidFill>
                  <a:srgbClr val="000000"/>
                </a:solidFill>
                <a:latin typeface="+mn-ea"/>
                <a:ea typeface="+mn-ea"/>
              </a:rPr>
              <a:t>(</a:t>
            </a:r>
            <a:r>
              <a:rPr lang="ko-KR" altLang="en-US" sz="1200" dirty="0">
                <a:solidFill>
                  <a:srgbClr val="000000"/>
                </a:solidFill>
                <a:latin typeface="+mn-ea"/>
                <a:ea typeface="+mn-ea"/>
              </a:rPr>
              <a:t>가</a:t>
            </a:r>
            <a:r>
              <a:rPr lang="en-US" altLang="ko-KR" sz="1200" dirty="0">
                <a:solidFill>
                  <a:srgbClr val="000000"/>
                </a:solidFill>
                <a:latin typeface="+mn-ea"/>
                <a:ea typeface="+mn-ea"/>
              </a:rPr>
              <a:t>)</a:t>
            </a:r>
            <a:r>
              <a:rPr lang="ko-KR" altLang="en-US" sz="1200" dirty="0" err="1">
                <a:solidFill>
                  <a:srgbClr val="000000"/>
                </a:solidFill>
                <a:latin typeface="+mn-ea"/>
                <a:ea typeface="+mn-ea"/>
              </a:rPr>
              <a:t>호도면의</a:t>
            </a:r>
            <a:r>
              <a:rPr lang="ko-KR" altLang="en-US" sz="1200" dirty="0">
                <a:solidFill>
                  <a:srgbClr val="000000"/>
                </a:solidFill>
                <a:latin typeface="+mn-ea"/>
                <a:ea typeface="+mn-ea"/>
              </a:rPr>
              <a:t> 드럼 카트리지로 교체하는 것에 의해 일괄적으로 교체가 이루어지도록 한다</a:t>
            </a:r>
            <a:r>
              <a:rPr lang="en-US" altLang="ko-KR" sz="1200" dirty="0">
                <a:solidFill>
                  <a:srgbClr val="000000"/>
                </a:solidFill>
                <a:latin typeface="+mn-ea"/>
                <a:ea typeface="+mn-ea"/>
              </a:rPr>
              <a:t>.</a:t>
            </a:r>
          </a:p>
        </p:txBody>
      </p:sp>
      <p:sp>
        <p:nvSpPr>
          <p:cNvPr id="35" name="모서리가 둥근 직사각형 34"/>
          <p:cNvSpPr/>
          <p:nvPr/>
        </p:nvSpPr>
        <p:spPr bwMode="auto">
          <a:xfrm>
            <a:off x="4525500" y="1991589"/>
            <a:ext cx="1189500" cy="703986"/>
          </a:xfrm>
          <a:prstGeom prst="roundRect">
            <a:avLst>
              <a:gd name="adj" fmla="val 0"/>
            </a:avLst>
          </a:prstGeom>
          <a:solidFill>
            <a:schemeClr val="accent4"/>
          </a:solidFill>
          <a:ln>
            <a:headEnd type="none" w="med" len="med"/>
            <a:tailEnd type="none"/>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ko-KR" altLang="en-US" sz="1400" dirty="0"/>
              <a:t>확인대상발명</a:t>
            </a:r>
            <a:endParaRPr lang="en-US" altLang="ko-KR" sz="1400" dirty="0"/>
          </a:p>
          <a:p>
            <a:pPr algn="ctr"/>
            <a:r>
              <a:rPr lang="ko-KR" altLang="en-US" sz="1400" dirty="0"/>
              <a:t>구성</a:t>
            </a:r>
            <a:endParaRPr lang="en-US" altLang="ko-KR" sz="1400" dirty="0"/>
          </a:p>
        </p:txBody>
      </p:sp>
      <p:pic>
        <p:nvPicPr>
          <p:cNvPr id="36" name="Picture 17"/>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61060" y="942975"/>
            <a:ext cx="4144011" cy="294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직사각형 37"/>
          <p:cNvSpPr/>
          <p:nvPr/>
        </p:nvSpPr>
        <p:spPr bwMode="auto">
          <a:xfrm>
            <a:off x="527381" y="4352925"/>
            <a:ext cx="11233248" cy="2210172"/>
          </a:xfrm>
          <a:prstGeom prst="rect">
            <a:avLst/>
          </a:prstGeom>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180000" rtlCol="0" anchor="b"/>
          <a:lstStyle/>
          <a:p>
            <a:r>
              <a:rPr lang="en-US" altLang="ko-KR" sz="1200" dirty="0"/>
              <a:t>[1] </a:t>
            </a:r>
            <a:r>
              <a:rPr lang="ko-KR" altLang="en-US" sz="1200" dirty="0"/>
              <a:t>특허법 규정에서 말하는 「생산」이란 특허발명을 유형화하여 발명의 결과인 물건</a:t>
            </a:r>
            <a:r>
              <a:rPr lang="en-US" altLang="ko-KR" sz="1200" dirty="0"/>
              <a:t>(</a:t>
            </a:r>
            <a:r>
              <a:rPr lang="ko-KR" altLang="en-US" sz="1200" dirty="0"/>
              <a:t>物件</a:t>
            </a:r>
            <a:r>
              <a:rPr lang="en-US" altLang="ko-KR" sz="1200" dirty="0"/>
              <a:t>)</a:t>
            </a:r>
            <a:r>
              <a:rPr lang="ko-KR" altLang="en-US" sz="1200" dirty="0"/>
              <a:t>을 만들어 내는 모든 행위를 의미하고 공업적 생산물의 생산 이외에도 주요한 조립</a:t>
            </a:r>
            <a:r>
              <a:rPr lang="en-US" altLang="ko-KR" sz="1200" dirty="0"/>
              <a:t>, </a:t>
            </a:r>
            <a:r>
              <a:rPr lang="ko-KR" altLang="en-US" sz="1200" dirty="0"/>
              <a:t>핵심적인 부품을 기계 본체에 장착하는 것도 포함한다 할 것이며</a:t>
            </a:r>
            <a:r>
              <a:rPr lang="en-US" altLang="ko-KR" sz="1200" dirty="0"/>
              <a:t>, </a:t>
            </a:r>
            <a:r>
              <a:rPr lang="ko-KR" altLang="en-US" sz="1200" dirty="0"/>
              <a:t>특허발명의 대상 또는 그와 관련된 물건을 사용함에 따라 마모되거나 소진되어 자주 교체해 주어야 하는 소모부품일지라도</a:t>
            </a:r>
            <a:r>
              <a:rPr lang="en-US" altLang="ko-KR" sz="1200" dirty="0"/>
              <a:t>, </a:t>
            </a:r>
            <a:r>
              <a:rPr lang="ko-KR" altLang="en-US" sz="1200" dirty="0"/>
              <a:t>특허발명의 본질적인 구성요소에 해당하고 다른 용도로는 사용되지 아니하며 일반적으로 널리 쉽게 구할 수 없는 물품으로서 당해 발명에 관한 물건의 구입시에 이미 그러한 교체가 예정되어 있었고</a:t>
            </a:r>
            <a:r>
              <a:rPr lang="en-US" altLang="ko-KR" sz="1200" dirty="0"/>
              <a:t>, </a:t>
            </a:r>
            <a:r>
              <a:rPr lang="ko-KR" altLang="en-US" sz="1200" dirty="0" err="1"/>
              <a:t>특허권자</a:t>
            </a:r>
            <a:r>
              <a:rPr lang="ko-KR" altLang="en-US" sz="1200" dirty="0"/>
              <a:t> 측에 의하여 그러한 부품을 따로 </a:t>
            </a:r>
            <a:r>
              <a:rPr lang="ko-KR" altLang="en-US" sz="1200" dirty="0" err="1"/>
              <a:t>제조ㆍ판매하고</a:t>
            </a:r>
            <a:r>
              <a:rPr lang="ko-KR" altLang="en-US" sz="1200" dirty="0"/>
              <a:t> 있다면</a:t>
            </a:r>
            <a:r>
              <a:rPr lang="en-US" altLang="ko-KR" sz="1200" dirty="0"/>
              <a:t>, </a:t>
            </a:r>
            <a:r>
              <a:rPr lang="ko-KR" altLang="en-US" sz="1200" dirty="0"/>
              <a:t>그러한 물건은 특허권의 간접침해에서 말하는 특허 물건의 「생산」「에만」 사용하는 물건에 해당한다고 보아야 할 것이다</a:t>
            </a:r>
            <a:r>
              <a:rPr lang="en-US" altLang="ko-KR" sz="1200" dirty="0"/>
              <a:t>.</a:t>
            </a:r>
          </a:p>
          <a:p>
            <a:pPr marL="266700" indent="-266700"/>
            <a:r>
              <a:rPr lang="en-US" altLang="ko-KR" sz="1200" dirty="0"/>
              <a:t> </a:t>
            </a:r>
            <a:r>
              <a:rPr lang="en-US" altLang="ko-KR" sz="1200" dirty="0">
                <a:solidFill>
                  <a:srgbClr val="FF0000"/>
                </a:solidFill>
              </a:rPr>
              <a:t>▶</a:t>
            </a:r>
            <a:r>
              <a:rPr lang="en-US" altLang="ko-KR" sz="1200" dirty="0">
                <a:solidFill>
                  <a:srgbClr val="FF0000"/>
                </a:solidFill>
                <a:sym typeface="Wingdings" pitchFamily="2" charset="2"/>
              </a:rPr>
              <a:t> </a:t>
            </a:r>
            <a:r>
              <a:rPr lang="ko-KR" altLang="en-US" sz="1200" dirty="0" err="1">
                <a:solidFill>
                  <a:srgbClr val="FF0000"/>
                </a:solidFill>
                <a:sym typeface="Wingdings" pitchFamily="2" charset="2"/>
              </a:rPr>
              <a:t>생산에만에</a:t>
            </a:r>
            <a:r>
              <a:rPr lang="ko-KR" altLang="en-US" sz="1200" dirty="0">
                <a:solidFill>
                  <a:srgbClr val="FF0000"/>
                </a:solidFill>
                <a:sym typeface="Wingdings" pitchFamily="2" charset="2"/>
              </a:rPr>
              <a:t> 해당하기 위한 요건으로 </a:t>
            </a:r>
            <a:r>
              <a:rPr lang="en-US" altLang="ko-KR" sz="1200" dirty="0">
                <a:solidFill>
                  <a:srgbClr val="FF0000"/>
                </a:solidFill>
                <a:sym typeface="Wingdings" pitchFamily="2" charset="2"/>
              </a:rPr>
              <a:t>1) </a:t>
            </a:r>
            <a:r>
              <a:rPr lang="ko-KR" altLang="en-US" sz="1200" dirty="0">
                <a:solidFill>
                  <a:srgbClr val="FF0000"/>
                </a:solidFill>
                <a:sym typeface="Wingdings" pitchFamily="2" charset="2"/>
              </a:rPr>
              <a:t>본질적인 구성요소에 해당할 것</a:t>
            </a:r>
            <a:r>
              <a:rPr lang="en-US" altLang="ko-KR" sz="1200" dirty="0">
                <a:solidFill>
                  <a:srgbClr val="FF0000"/>
                </a:solidFill>
                <a:sym typeface="Wingdings" pitchFamily="2" charset="2"/>
              </a:rPr>
              <a:t>, 2) </a:t>
            </a:r>
            <a:r>
              <a:rPr lang="ko-KR" altLang="en-US" sz="1200" dirty="0">
                <a:solidFill>
                  <a:srgbClr val="FF0000"/>
                </a:solidFill>
                <a:sym typeface="Wingdings" pitchFamily="2" charset="2"/>
              </a:rPr>
              <a:t>다른 용도로 사용되지 않을 것</a:t>
            </a:r>
            <a:r>
              <a:rPr lang="en-US" altLang="ko-KR" sz="1200" dirty="0">
                <a:solidFill>
                  <a:srgbClr val="FF0000"/>
                </a:solidFill>
                <a:sym typeface="Wingdings" pitchFamily="2" charset="2"/>
              </a:rPr>
              <a:t>, 3) </a:t>
            </a:r>
            <a:r>
              <a:rPr lang="ko-KR" altLang="en-US" sz="1200" dirty="0">
                <a:solidFill>
                  <a:srgbClr val="FF0000"/>
                </a:solidFill>
                <a:sym typeface="Wingdings" pitchFamily="2" charset="2"/>
              </a:rPr>
              <a:t>널리 쉽게 구할 수 없는 물품일 것</a:t>
            </a:r>
            <a:r>
              <a:rPr lang="en-US" altLang="ko-KR" sz="1200" dirty="0">
                <a:solidFill>
                  <a:srgbClr val="FF0000"/>
                </a:solidFill>
                <a:sym typeface="Wingdings" pitchFamily="2" charset="2"/>
              </a:rPr>
              <a:t>, 4) </a:t>
            </a:r>
            <a:r>
              <a:rPr lang="ko-KR" altLang="en-US" sz="1200" dirty="0">
                <a:solidFill>
                  <a:srgbClr val="FF0000"/>
                </a:solidFill>
                <a:sym typeface="Wingdings" pitchFamily="2" charset="2"/>
              </a:rPr>
              <a:t>교체가 예정되어 있을 것</a:t>
            </a:r>
            <a:r>
              <a:rPr lang="en-US" altLang="ko-KR" sz="1200" dirty="0">
                <a:solidFill>
                  <a:srgbClr val="FF0000"/>
                </a:solidFill>
                <a:sym typeface="Wingdings" pitchFamily="2" charset="2"/>
              </a:rPr>
              <a:t>, 5) </a:t>
            </a:r>
            <a:r>
              <a:rPr lang="ko-KR" altLang="en-US" sz="1200" dirty="0">
                <a:solidFill>
                  <a:srgbClr val="FF0000"/>
                </a:solidFill>
                <a:sym typeface="Wingdings" pitchFamily="2" charset="2"/>
              </a:rPr>
              <a:t>특허권자가 제조 판매하고 있을 것의 </a:t>
            </a:r>
            <a:r>
              <a:rPr lang="en-US" altLang="ko-KR" sz="1200" dirty="0">
                <a:solidFill>
                  <a:srgbClr val="FF0000"/>
                </a:solidFill>
                <a:sym typeface="Wingdings" pitchFamily="2" charset="2"/>
              </a:rPr>
              <a:t>5</a:t>
            </a:r>
            <a:r>
              <a:rPr lang="ko-KR" altLang="en-US" sz="1200" dirty="0">
                <a:solidFill>
                  <a:srgbClr val="FF0000"/>
                </a:solidFill>
                <a:sym typeface="Wingdings" pitchFamily="2" charset="2"/>
              </a:rPr>
              <a:t>가지 요건을 설시</a:t>
            </a:r>
            <a:endParaRPr lang="en-US" altLang="ko-KR" sz="1200" dirty="0">
              <a:solidFill>
                <a:srgbClr val="FF0000"/>
              </a:solidFill>
              <a:sym typeface="Wingdings" pitchFamily="2" charset="2"/>
            </a:endParaRPr>
          </a:p>
          <a:p>
            <a:endParaRPr lang="en-US" altLang="ko-KR" sz="1200" dirty="0">
              <a:solidFill>
                <a:srgbClr val="FF0000"/>
              </a:solidFill>
              <a:sym typeface="Wingdings" pitchFamily="2" charset="2"/>
            </a:endParaRPr>
          </a:p>
          <a:p>
            <a:r>
              <a:rPr lang="en-US" altLang="ko-KR" sz="1200" dirty="0"/>
              <a:t>[2] </a:t>
            </a:r>
            <a:r>
              <a:rPr lang="ko-KR" altLang="en-US" sz="1200" dirty="0"/>
              <a:t>확인대상발명의 감광드럼카트리지가 이 사건 특허발명의 물건의 생산에만 사용되는 이상</a:t>
            </a:r>
            <a:r>
              <a:rPr lang="en-US" altLang="ko-KR" sz="1200" dirty="0"/>
              <a:t>, </a:t>
            </a:r>
            <a:r>
              <a:rPr lang="ko-KR" altLang="en-US" sz="1200" dirty="0"/>
              <a:t>확인대상발명이 공지의 감광드럼카트리지에 개선된 </a:t>
            </a:r>
            <a:r>
              <a:rPr lang="ko-KR" altLang="en-US" sz="1200" dirty="0" err="1"/>
              <a:t>폐토너</a:t>
            </a:r>
            <a:r>
              <a:rPr lang="ko-KR" altLang="en-US" sz="1200" dirty="0"/>
              <a:t> </a:t>
            </a:r>
            <a:r>
              <a:rPr lang="ko-KR" altLang="en-US" sz="1200" dirty="0" err="1"/>
              <a:t>회수통을</a:t>
            </a:r>
            <a:r>
              <a:rPr lang="ko-KR" altLang="en-US" sz="1200" dirty="0"/>
              <a:t> 결합한 것이라고 하더라도</a:t>
            </a:r>
            <a:r>
              <a:rPr lang="en-US" altLang="ko-KR" sz="1200" dirty="0"/>
              <a:t>, </a:t>
            </a:r>
            <a:r>
              <a:rPr lang="ko-KR" altLang="en-US" sz="1200" dirty="0"/>
              <a:t>간접침해의 성립에는 아무런 지장이 없다</a:t>
            </a:r>
            <a:r>
              <a:rPr lang="en-US" altLang="ko-KR" sz="1200" dirty="0"/>
              <a:t>.</a:t>
            </a:r>
          </a:p>
          <a:p>
            <a:pPr marL="266700" indent="-266700"/>
            <a:r>
              <a:rPr lang="en-US" altLang="ko-KR" sz="1200" dirty="0"/>
              <a:t> </a:t>
            </a:r>
            <a:r>
              <a:rPr lang="en-US" altLang="ko-KR" sz="1200" dirty="0">
                <a:solidFill>
                  <a:srgbClr val="FF0000"/>
                </a:solidFill>
              </a:rPr>
              <a:t>▶</a:t>
            </a:r>
            <a:r>
              <a:rPr lang="en-US" altLang="ko-KR" sz="1200" dirty="0">
                <a:solidFill>
                  <a:srgbClr val="FF0000"/>
                </a:solidFill>
                <a:sym typeface="Wingdings" pitchFamily="2" charset="2"/>
              </a:rPr>
              <a:t> </a:t>
            </a:r>
            <a:r>
              <a:rPr lang="ko-KR" altLang="en-US" sz="1200" dirty="0">
                <a:solidFill>
                  <a:srgbClr val="FF0000"/>
                </a:solidFill>
                <a:sym typeface="Wingdings" pitchFamily="2" charset="2"/>
              </a:rPr>
              <a:t>특허요건 판단과 침해 판단은 무관함을 설시</a:t>
            </a:r>
            <a:endParaRPr lang="ko-KR" altLang="en-US" sz="1200" dirty="0"/>
          </a:p>
        </p:txBody>
      </p:sp>
      <p:sp>
        <p:nvSpPr>
          <p:cNvPr id="39" name="모서리가 둥근 직사각형 38"/>
          <p:cNvSpPr/>
          <p:nvPr/>
        </p:nvSpPr>
        <p:spPr bwMode="auto">
          <a:xfrm>
            <a:off x="527381" y="3992885"/>
            <a:ext cx="5472609" cy="360040"/>
          </a:xfrm>
          <a:prstGeom prst="roundRect">
            <a:avLst>
              <a:gd name="adj" fmla="val 0"/>
            </a:avLst>
          </a:prstGeom>
          <a:solidFill>
            <a:schemeClr val="accent2"/>
          </a:solidFill>
          <a:ln>
            <a:solidFill>
              <a:schemeClr val="bg1">
                <a:lumMod val="50000"/>
              </a:schemeClr>
            </a:solidFill>
            <a:headEnd type="none" w="med" len="med"/>
            <a:tailEnd type="none"/>
          </a:ln>
        </p:spPr>
        <p:style>
          <a:lnRef idx="1">
            <a:schemeClr val="accent2"/>
          </a:lnRef>
          <a:fillRef idx="3">
            <a:schemeClr val="accent2"/>
          </a:fillRef>
          <a:effectRef idx="2">
            <a:schemeClr val="accent2"/>
          </a:effectRef>
          <a:fontRef idx="minor">
            <a:schemeClr val="lt1"/>
          </a:fontRef>
        </p:style>
        <p:txBody>
          <a:bodyPr rtlCol="0" anchor="ctr"/>
          <a:lstStyle/>
          <a:p>
            <a:pPr algn="ctr"/>
            <a:r>
              <a:rPr lang="ko-KR" altLang="en-US" sz="1400" dirty="0"/>
              <a:t>대법원 </a:t>
            </a:r>
            <a:r>
              <a:rPr lang="en-US" altLang="ko-KR" sz="1400" dirty="0"/>
              <a:t>2001. 1. 30. </a:t>
            </a:r>
            <a:r>
              <a:rPr lang="ko-KR" altLang="en-US" sz="1400" dirty="0"/>
              <a:t>선고 </a:t>
            </a:r>
            <a:r>
              <a:rPr lang="en-US" altLang="ko-KR" sz="1400" dirty="0"/>
              <a:t>98</a:t>
            </a:r>
            <a:r>
              <a:rPr lang="ko-KR" altLang="en-US" sz="1400" dirty="0"/>
              <a:t>후</a:t>
            </a:r>
            <a:r>
              <a:rPr lang="en-US" altLang="ko-KR" sz="1400" dirty="0"/>
              <a:t>2580</a:t>
            </a:r>
          </a:p>
        </p:txBody>
      </p:sp>
    </p:spTree>
    <p:extLst>
      <p:ext uri="{BB962C8B-B14F-4D97-AF65-F5344CB8AC3E}">
        <p14:creationId xmlns:p14="http://schemas.microsoft.com/office/powerpoint/2010/main" val="2019487740"/>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그림 23">
            <a:extLst>
              <a:ext uri="{FF2B5EF4-FFF2-40B4-BE49-F238E27FC236}">
                <a16:creationId xmlns:a16="http://schemas.microsoft.com/office/drawing/2014/main" id="{7BE2CCEA-BEB6-46C6-A2AF-3E952ED5996D}"/>
              </a:ext>
            </a:extLst>
          </p:cNvPr>
          <p:cNvPicPr>
            <a:picLocks noChangeAspect="1"/>
          </p:cNvPicPr>
          <p:nvPr/>
        </p:nvPicPr>
        <p:blipFill>
          <a:blip r:embed="rId2"/>
          <a:stretch>
            <a:fillRect/>
          </a:stretch>
        </p:blipFill>
        <p:spPr>
          <a:xfrm>
            <a:off x="2983186" y="4960278"/>
            <a:ext cx="1921464" cy="1621591"/>
          </a:xfrm>
          <a:prstGeom prst="rect">
            <a:avLst/>
          </a:prstGeom>
        </p:spPr>
      </p:pic>
      <p:sp>
        <p:nvSpPr>
          <p:cNvPr id="2" name="제목 1"/>
          <p:cNvSpPr>
            <a:spLocks noGrp="1"/>
          </p:cNvSpPr>
          <p:nvPr>
            <p:ph type="title"/>
          </p:nvPr>
        </p:nvSpPr>
        <p:spPr/>
        <p:txBody>
          <a:bodyPr/>
          <a:lstStyle/>
          <a:p>
            <a:r>
              <a:rPr lang="ko-KR" altLang="en-US" dirty="0"/>
              <a:t>제</a:t>
            </a:r>
            <a:r>
              <a:rPr lang="en-US" altLang="ko-KR" dirty="0"/>
              <a:t>127</a:t>
            </a:r>
            <a:r>
              <a:rPr lang="ko-KR" altLang="en-US" dirty="0"/>
              <a:t>조</a:t>
            </a:r>
          </a:p>
        </p:txBody>
      </p:sp>
      <p:sp>
        <p:nvSpPr>
          <p:cNvPr id="3" name="텍스트 개체 틀 2"/>
          <p:cNvSpPr>
            <a:spLocks noGrp="1"/>
          </p:cNvSpPr>
          <p:nvPr>
            <p:ph type="body" sz="quarter" idx="13"/>
          </p:nvPr>
        </p:nvSpPr>
        <p:spPr/>
        <p:txBody>
          <a:bodyPr/>
          <a:lstStyle/>
          <a:p>
            <a:r>
              <a:rPr lang="ko-KR" altLang="en-US" dirty="0"/>
              <a:t>연마패드 </a:t>
            </a:r>
            <a:r>
              <a:rPr lang="en-US" altLang="ko-KR" dirty="0"/>
              <a:t>CASE</a:t>
            </a:r>
            <a:endParaRPr lang="ko-KR" altLang="en-US" dirty="0"/>
          </a:p>
        </p:txBody>
      </p:sp>
      <p:sp>
        <p:nvSpPr>
          <p:cNvPr id="4" name="슬라이드 번호 개체 틀 3"/>
          <p:cNvSpPr>
            <a:spLocks noGrp="1"/>
          </p:cNvSpPr>
          <p:nvPr>
            <p:ph type="sldNum" sz="quarter" idx="4294967295"/>
          </p:nvPr>
        </p:nvSpPr>
        <p:spPr>
          <a:xfrm>
            <a:off x="11125200" y="0"/>
            <a:ext cx="1066800" cy="744538"/>
          </a:xfrm>
        </p:spPr>
        <p:txBody>
          <a:bodyPr/>
          <a:lstStyle/>
          <a:p>
            <a:r>
              <a:rPr lang="en-US" altLang="ko-KR"/>
              <a:t>391</a:t>
            </a:r>
            <a:endParaRPr lang="ko-KR" altLang="en-US"/>
          </a:p>
        </p:txBody>
      </p:sp>
      <p:sp>
        <p:nvSpPr>
          <p:cNvPr id="46" name="모서리가 둥근 직사각형 10">
            <a:extLst>
              <a:ext uri="{FF2B5EF4-FFF2-40B4-BE49-F238E27FC236}">
                <a16:creationId xmlns:a16="http://schemas.microsoft.com/office/drawing/2014/main" id="{EA6D0AA3-A795-463F-A932-E97DEE7EE09B}"/>
              </a:ext>
            </a:extLst>
          </p:cNvPr>
          <p:cNvSpPr/>
          <p:nvPr/>
        </p:nvSpPr>
        <p:spPr bwMode="auto">
          <a:xfrm>
            <a:off x="378418" y="1002199"/>
            <a:ext cx="4981233"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2009. 9. 10. </a:t>
            </a:r>
            <a:r>
              <a:rPr lang="ko-KR" altLang="en-US" sz="1400" dirty="0"/>
              <a:t>선고 </a:t>
            </a:r>
            <a:r>
              <a:rPr lang="en-US" altLang="ko-KR" sz="1400" dirty="0"/>
              <a:t>2007</a:t>
            </a:r>
            <a:r>
              <a:rPr lang="ko-KR" altLang="en-US" sz="1400" dirty="0"/>
              <a:t>후</a:t>
            </a:r>
            <a:r>
              <a:rPr lang="en-US" altLang="ko-KR" sz="1400" dirty="0"/>
              <a:t>3356 </a:t>
            </a:r>
            <a:r>
              <a:rPr lang="ko-KR" altLang="en-US" sz="1400" dirty="0"/>
              <a:t>판결 </a:t>
            </a:r>
            <a:r>
              <a:rPr lang="en-US" altLang="ko-KR" sz="1400" dirty="0"/>
              <a:t>【</a:t>
            </a:r>
            <a:r>
              <a:rPr lang="ko-KR" altLang="en-US" sz="1400" dirty="0"/>
              <a:t>권리범위확인</a:t>
            </a:r>
            <a:r>
              <a:rPr lang="en-US" altLang="ko-KR" sz="1400" dirty="0"/>
              <a:t>(</a:t>
            </a:r>
            <a:r>
              <a:rPr lang="ko-KR" altLang="en-US" sz="1400" dirty="0" err="1"/>
              <a:t>특</a:t>
            </a:r>
            <a:r>
              <a:rPr lang="en-US" altLang="ko-KR" sz="1400" dirty="0"/>
              <a:t>)】</a:t>
            </a:r>
          </a:p>
        </p:txBody>
      </p:sp>
      <p:sp>
        <p:nvSpPr>
          <p:cNvPr id="6" name="직사각형 5">
            <a:extLst>
              <a:ext uri="{FF2B5EF4-FFF2-40B4-BE49-F238E27FC236}">
                <a16:creationId xmlns:a16="http://schemas.microsoft.com/office/drawing/2014/main" id="{D8297537-B24B-4300-B18D-EAD87B250EF1}"/>
              </a:ext>
            </a:extLst>
          </p:cNvPr>
          <p:cNvSpPr/>
          <p:nvPr/>
        </p:nvSpPr>
        <p:spPr>
          <a:xfrm>
            <a:off x="232372" y="1469453"/>
            <a:ext cx="11681987" cy="1938992"/>
          </a:xfrm>
          <a:prstGeom prst="rect">
            <a:avLst/>
          </a:prstGeom>
        </p:spPr>
        <p:txBody>
          <a:bodyPr wrap="square">
            <a:spAutoFit/>
          </a:bodyPr>
          <a:lstStyle/>
          <a:p>
            <a:r>
              <a:rPr lang="ko-KR" altLang="en-US" sz="1200" dirty="0"/>
              <a:t>확인대상발명은 </a:t>
            </a:r>
            <a:r>
              <a:rPr lang="ko-KR" altLang="en-US" sz="1200" dirty="0" err="1"/>
              <a:t>소형유동채널이</a:t>
            </a:r>
            <a:r>
              <a:rPr lang="ko-KR" altLang="en-US" sz="1200" dirty="0"/>
              <a:t> 결여되어 있고 마이크로 홀이 부가되어 있는 점에서 차이가 있다</a:t>
            </a:r>
            <a:r>
              <a:rPr lang="en-US" altLang="ko-KR" sz="1200" dirty="0"/>
              <a:t>. </a:t>
            </a:r>
          </a:p>
          <a:p>
            <a:endParaRPr lang="en-US" altLang="ko-KR" sz="1200" dirty="0"/>
          </a:p>
          <a:p>
            <a:r>
              <a:rPr lang="ko-KR" altLang="en-US" sz="1200" dirty="0"/>
              <a:t>그러나 확인대상발명의 물건을 공급받은 사람이 연마패드를 사용하여 화학적 기계적 평탄화</a:t>
            </a:r>
            <a:r>
              <a:rPr lang="en-US" altLang="ko-KR" sz="1200" dirty="0"/>
              <a:t>(chemical mechanical planarization. </a:t>
            </a:r>
            <a:r>
              <a:rPr lang="ko-KR" altLang="en-US" sz="1200" dirty="0"/>
              <a:t>통상 </a:t>
            </a:r>
            <a:r>
              <a:rPr lang="en-US" altLang="ko-KR" sz="1200" dirty="0"/>
              <a:t>'CMP'</a:t>
            </a:r>
            <a:r>
              <a:rPr lang="ko-KR" altLang="en-US" sz="1200" dirty="0"/>
              <a:t>로 약칭된다</a:t>
            </a:r>
            <a:r>
              <a:rPr lang="en-US" altLang="ko-KR" sz="1200" dirty="0"/>
              <a:t>) </a:t>
            </a:r>
            <a:r>
              <a:rPr lang="ko-KR" altLang="en-US" sz="1200" dirty="0"/>
              <a:t>공정을 수행하는 때에는 다수의 다이아몬드입자가 부착된 </a:t>
            </a:r>
            <a:r>
              <a:rPr lang="ko-KR" altLang="en-US" sz="1200" dirty="0" err="1"/>
              <a:t>컨디셔너로</a:t>
            </a:r>
            <a:r>
              <a:rPr lang="ko-KR" altLang="en-US" sz="1200" dirty="0"/>
              <a:t> 연마패드의 표면을 압착하여 문지르는 브레이크 인</a:t>
            </a:r>
            <a:r>
              <a:rPr lang="en-US" altLang="ko-KR" sz="1200" dirty="0"/>
              <a:t>(break-in) </a:t>
            </a:r>
            <a:r>
              <a:rPr lang="ko-KR" altLang="en-US" sz="1200" dirty="0"/>
              <a:t>및 </a:t>
            </a:r>
            <a:r>
              <a:rPr lang="ko-KR" altLang="en-US" sz="1200" dirty="0" err="1"/>
              <a:t>컨디셔닝</a:t>
            </a:r>
            <a:r>
              <a:rPr lang="en-US" altLang="ko-KR" sz="1200" dirty="0"/>
              <a:t>(conditioning) </a:t>
            </a:r>
            <a:r>
              <a:rPr lang="ko-KR" altLang="en-US" sz="1200" dirty="0"/>
              <a:t>공정</a:t>
            </a:r>
            <a:r>
              <a:rPr lang="en-US" altLang="ko-KR" sz="1200" dirty="0"/>
              <a:t>(</a:t>
            </a:r>
            <a:r>
              <a:rPr lang="ko-KR" altLang="en-US" sz="1200" dirty="0"/>
              <a:t>이하 </a:t>
            </a:r>
            <a:r>
              <a:rPr lang="en-US" altLang="ko-KR" sz="1200" dirty="0"/>
              <a:t>'</a:t>
            </a:r>
            <a:r>
              <a:rPr lang="ko-KR" altLang="en-US" sz="1200" dirty="0" err="1"/>
              <a:t>컨디셔닝</a:t>
            </a:r>
            <a:r>
              <a:rPr lang="ko-KR" altLang="en-US" sz="1200" dirty="0"/>
              <a:t> 공정</a:t>
            </a:r>
            <a:r>
              <a:rPr lang="en-US" altLang="ko-KR" sz="1200" dirty="0"/>
              <a:t>'</a:t>
            </a:r>
            <a:r>
              <a:rPr lang="ko-KR" altLang="en-US" sz="1200" dirty="0"/>
              <a:t>이라 약칭한다</a:t>
            </a:r>
            <a:r>
              <a:rPr lang="en-US" altLang="ko-KR" sz="1200" dirty="0"/>
              <a:t>)</a:t>
            </a:r>
            <a:r>
              <a:rPr lang="ko-KR" altLang="en-US" sz="1200" dirty="0"/>
              <a:t>이 필수적으로 부가되고</a:t>
            </a:r>
            <a:r>
              <a:rPr lang="en-US" altLang="ko-KR" sz="1200" dirty="0"/>
              <a:t>, </a:t>
            </a:r>
            <a:r>
              <a:rPr lang="ko-KR" altLang="en-US" sz="1200" dirty="0"/>
              <a:t>이러한 </a:t>
            </a:r>
            <a:r>
              <a:rPr lang="ko-KR" altLang="en-US" sz="1200" dirty="0" err="1"/>
              <a:t>컨디셔닝</a:t>
            </a:r>
            <a:r>
              <a:rPr lang="ko-KR" altLang="en-US" sz="1200" dirty="0"/>
              <a:t> 공정을 수행하는 경우에 </a:t>
            </a:r>
            <a:r>
              <a:rPr lang="ko-KR" altLang="en-US" sz="1200" dirty="0">
                <a:solidFill>
                  <a:schemeClr val="accent3">
                    <a:lumMod val="50000"/>
                  </a:schemeClr>
                </a:solidFill>
                <a:highlight>
                  <a:srgbClr val="FFFF00"/>
                </a:highlight>
              </a:rPr>
              <a:t>확인대상발명의 연마패드에는 이 사건 특허의 </a:t>
            </a:r>
            <a:r>
              <a:rPr lang="ko-KR" altLang="en-US" sz="1200" dirty="0" err="1">
                <a:solidFill>
                  <a:schemeClr val="accent3">
                    <a:lumMod val="50000"/>
                  </a:schemeClr>
                </a:solidFill>
                <a:highlight>
                  <a:srgbClr val="FFFF00"/>
                </a:highlight>
              </a:rPr>
              <a:t>소형유동채널의</a:t>
            </a:r>
            <a:r>
              <a:rPr lang="ko-KR" altLang="en-US" sz="1200" dirty="0">
                <a:solidFill>
                  <a:schemeClr val="accent3">
                    <a:lumMod val="50000"/>
                  </a:schemeClr>
                </a:solidFill>
                <a:highlight>
                  <a:srgbClr val="FFFF00"/>
                </a:highlight>
              </a:rPr>
              <a:t> 수치범위 내에 있는 폭과 길이 및 밀도를 가지고서 </a:t>
            </a:r>
            <a:r>
              <a:rPr lang="ko-KR" altLang="en-US" sz="1200" dirty="0" err="1">
                <a:solidFill>
                  <a:schemeClr val="accent3">
                    <a:lumMod val="50000"/>
                  </a:schemeClr>
                </a:solidFill>
                <a:highlight>
                  <a:srgbClr val="FFFF00"/>
                </a:highlight>
              </a:rPr>
              <a:t>연마슬러리를</a:t>
            </a:r>
            <a:r>
              <a:rPr lang="ko-KR" altLang="en-US" sz="1200" dirty="0">
                <a:solidFill>
                  <a:schemeClr val="accent3">
                    <a:lumMod val="50000"/>
                  </a:schemeClr>
                </a:solidFill>
                <a:highlight>
                  <a:srgbClr val="FFFF00"/>
                </a:highlight>
              </a:rPr>
              <a:t> 이동시키는 통로로 작용함으로써 이 사건 특허의 </a:t>
            </a:r>
            <a:r>
              <a:rPr lang="ko-KR" altLang="en-US" sz="1200" dirty="0" err="1">
                <a:solidFill>
                  <a:schemeClr val="accent3">
                    <a:lumMod val="50000"/>
                  </a:schemeClr>
                </a:solidFill>
                <a:highlight>
                  <a:srgbClr val="FFFF00"/>
                </a:highlight>
              </a:rPr>
              <a:t>소형유동채널과</a:t>
            </a:r>
            <a:r>
              <a:rPr lang="ko-KR" altLang="en-US" sz="1200" dirty="0">
                <a:solidFill>
                  <a:schemeClr val="accent3">
                    <a:lumMod val="50000"/>
                  </a:schemeClr>
                </a:solidFill>
                <a:highlight>
                  <a:srgbClr val="FFFF00"/>
                </a:highlight>
              </a:rPr>
              <a:t> 동일한 구조와 기능을 하는 원심 판시 줄무늬 홈이 반드시 형성된다</a:t>
            </a:r>
            <a:r>
              <a:rPr lang="en-US" altLang="ko-KR" sz="1200" dirty="0">
                <a:solidFill>
                  <a:schemeClr val="accent3">
                    <a:lumMod val="50000"/>
                  </a:schemeClr>
                </a:solidFill>
                <a:highlight>
                  <a:srgbClr val="FFFF00"/>
                </a:highlight>
              </a:rPr>
              <a:t>.</a:t>
            </a:r>
            <a:r>
              <a:rPr lang="en-US" altLang="ko-KR" sz="1200" dirty="0">
                <a:solidFill>
                  <a:srgbClr val="FF0000"/>
                </a:solidFill>
              </a:rPr>
              <a:t> </a:t>
            </a:r>
            <a:r>
              <a:rPr lang="ko-KR" altLang="en-US" sz="1200" dirty="0"/>
              <a:t>그러므로 확인대상발명의 물건은 이 사건 특허 물건의 생산에만 사용되는 것이어서 원고가 업으로서 확인대상발명의 물건을 생산</a:t>
            </a:r>
            <a:r>
              <a:rPr lang="en-US" altLang="ko-KR" sz="1200" dirty="0"/>
              <a:t>·</a:t>
            </a:r>
            <a:r>
              <a:rPr lang="ko-KR" altLang="en-US" sz="1200" dirty="0"/>
              <a:t>판매한 행위는 이 사건 권리범위확인심판의 </a:t>
            </a:r>
            <a:r>
              <a:rPr lang="ko-KR" altLang="en-US" sz="1200" dirty="0" err="1"/>
              <a:t>심결시를</a:t>
            </a:r>
            <a:r>
              <a:rPr lang="ko-KR" altLang="en-US" sz="1200" dirty="0"/>
              <a:t> 기준으로 하여 이 사건 특허권에 대한 간접침해에 해당된다고 할 것이다</a:t>
            </a:r>
            <a:r>
              <a:rPr lang="en-US" altLang="ko-KR" sz="1200" dirty="0"/>
              <a:t>. </a:t>
            </a:r>
            <a:r>
              <a:rPr lang="ko-KR" altLang="en-US" sz="1200" dirty="0"/>
              <a:t>그 외에 </a:t>
            </a:r>
            <a:r>
              <a:rPr lang="ko-KR" altLang="en-US" sz="1200" dirty="0" err="1"/>
              <a:t>컨디셔닝이</a:t>
            </a:r>
            <a:r>
              <a:rPr lang="ko-KR" altLang="en-US" sz="1200" dirty="0"/>
              <a:t> 연마패드의 표면에 미치는 영향 내지 변화의 유무와 정도는 </a:t>
            </a:r>
            <a:r>
              <a:rPr lang="ko-KR" altLang="en-US" sz="1200" dirty="0" err="1"/>
              <a:t>컨디셔너의</a:t>
            </a:r>
            <a:r>
              <a:rPr lang="ko-KR" altLang="en-US" sz="1200" dirty="0"/>
              <a:t> 종류</a:t>
            </a:r>
            <a:r>
              <a:rPr lang="en-US" altLang="ko-KR" sz="1200" dirty="0"/>
              <a:t>, </a:t>
            </a:r>
            <a:r>
              <a:rPr lang="ko-KR" altLang="en-US" sz="1200" dirty="0"/>
              <a:t>연마패드의 경도</a:t>
            </a:r>
            <a:r>
              <a:rPr lang="en-US" altLang="ko-KR" sz="1200" dirty="0"/>
              <a:t>, </a:t>
            </a:r>
            <a:r>
              <a:rPr lang="ko-KR" altLang="en-US" sz="1200" dirty="0"/>
              <a:t>사용하는 </a:t>
            </a:r>
            <a:r>
              <a:rPr lang="ko-KR" altLang="en-US" sz="1200" dirty="0" err="1"/>
              <a:t>슬러리의</a:t>
            </a:r>
            <a:r>
              <a:rPr lang="ko-KR" altLang="en-US" sz="1200" dirty="0"/>
              <a:t> 종류 및 </a:t>
            </a:r>
            <a:r>
              <a:rPr lang="ko-KR" altLang="en-US" sz="1200" dirty="0" err="1"/>
              <a:t>슬러리에</a:t>
            </a:r>
            <a:r>
              <a:rPr lang="ko-KR" altLang="en-US" sz="1200" dirty="0"/>
              <a:t> 포함된 연마입자의 종류</a:t>
            </a:r>
            <a:r>
              <a:rPr lang="en-US" altLang="ko-KR" sz="1200" dirty="0"/>
              <a:t>, </a:t>
            </a:r>
            <a:r>
              <a:rPr lang="ko-KR" altLang="en-US" sz="1200" dirty="0" err="1"/>
              <a:t>컨디셔너에</a:t>
            </a:r>
            <a:r>
              <a:rPr lang="ko-KR" altLang="en-US" sz="1200" dirty="0"/>
              <a:t> 의하여 연마패드에 </a:t>
            </a:r>
            <a:r>
              <a:rPr lang="ko-KR" altLang="en-US" sz="1200" dirty="0" err="1"/>
              <a:t>가하여지는</a:t>
            </a:r>
            <a:r>
              <a:rPr lang="ko-KR" altLang="en-US" sz="1200" dirty="0"/>
              <a:t> 압력의 정도 등 여러 가지 요소에 따라 달라질 수 있다는 점</a:t>
            </a:r>
            <a:r>
              <a:rPr lang="en-US" altLang="ko-KR" sz="1200" dirty="0">
                <a:solidFill>
                  <a:schemeClr val="accent3">
                    <a:lumMod val="50000"/>
                  </a:schemeClr>
                </a:solidFill>
                <a:highlight>
                  <a:srgbClr val="FFFF00"/>
                </a:highlight>
              </a:rPr>
              <a:t>(</a:t>
            </a:r>
            <a:r>
              <a:rPr lang="ko-KR" altLang="en-US" sz="1200" dirty="0">
                <a:solidFill>
                  <a:schemeClr val="accent3">
                    <a:lumMod val="50000"/>
                  </a:schemeClr>
                </a:solidFill>
                <a:highlight>
                  <a:srgbClr val="FFFF00"/>
                </a:highlight>
              </a:rPr>
              <a:t>단순한 가능성에 불과</a:t>
            </a:r>
            <a:r>
              <a:rPr lang="en-US" altLang="ko-KR" sz="1200" dirty="0">
                <a:solidFill>
                  <a:schemeClr val="accent3">
                    <a:lumMod val="50000"/>
                  </a:schemeClr>
                </a:solidFill>
                <a:highlight>
                  <a:srgbClr val="FFFF00"/>
                </a:highlight>
              </a:rPr>
              <a:t>), </a:t>
            </a:r>
            <a:r>
              <a:rPr lang="ko-KR" altLang="en-US" sz="1200" dirty="0">
                <a:solidFill>
                  <a:schemeClr val="accent3">
                    <a:lumMod val="50000"/>
                  </a:schemeClr>
                </a:solidFill>
                <a:highlight>
                  <a:srgbClr val="FFFF00"/>
                </a:highlight>
              </a:rPr>
              <a:t>확인대상발명이 마이크로 홀이라는 기술수단에 의하여 이 사건 특허발명보다 더 우수한 작용효과를 기대할 수 있어 진보된 발명일 수 있다는 점</a:t>
            </a:r>
            <a:r>
              <a:rPr lang="ko-KR" altLang="en-US" sz="1200" dirty="0">
                <a:solidFill>
                  <a:schemeClr val="accent3">
                    <a:lumMod val="50000"/>
                  </a:schemeClr>
                </a:solidFill>
              </a:rPr>
              <a:t> </a:t>
            </a:r>
            <a:r>
              <a:rPr lang="ko-KR" altLang="en-US" sz="1200" dirty="0"/>
              <a:t>등의 사정은 그러한 결론에 영향이 없다는 것이다</a:t>
            </a:r>
            <a:r>
              <a:rPr lang="en-US" altLang="ko-KR" sz="1200" dirty="0"/>
              <a:t>.</a:t>
            </a:r>
          </a:p>
        </p:txBody>
      </p:sp>
      <p:cxnSp>
        <p:nvCxnSpPr>
          <p:cNvPr id="9" name="직선 연결선 8">
            <a:extLst>
              <a:ext uri="{FF2B5EF4-FFF2-40B4-BE49-F238E27FC236}">
                <a16:creationId xmlns:a16="http://schemas.microsoft.com/office/drawing/2014/main" id="{27560635-7B31-42FF-9B26-81D9C5FE6CE1}"/>
              </a:ext>
            </a:extLst>
          </p:cNvPr>
          <p:cNvCxnSpPr/>
          <p:nvPr/>
        </p:nvCxnSpPr>
        <p:spPr>
          <a:xfrm>
            <a:off x="0" y="3467481"/>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직사각형 11">
            <a:extLst>
              <a:ext uri="{FF2B5EF4-FFF2-40B4-BE49-F238E27FC236}">
                <a16:creationId xmlns:a16="http://schemas.microsoft.com/office/drawing/2014/main" id="{CDE176CB-5A6B-4C3B-93FA-93B92D272747}"/>
              </a:ext>
            </a:extLst>
          </p:cNvPr>
          <p:cNvSpPr/>
          <p:nvPr/>
        </p:nvSpPr>
        <p:spPr>
          <a:xfrm>
            <a:off x="721250" y="3809738"/>
            <a:ext cx="2257331" cy="2862322"/>
          </a:xfrm>
          <a:prstGeom prst="rect">
            <a:avLst/>
          </a:prstGeom>
          <a:ln>
            <a:solidFill>
              <a:schemeClr val="bg1">
                <a:lumMod val="50000"/>
              </a:schemeClr>
            </a:solidFill>
          </a:ln>
        </p:spPr>
        <p:txBody>
          <a:bodyPr wrap="square">
            <a:spAutoFit/>
          </a:bodyPr>
          <a:lstStyle/>
          <a:p>
            <a:r>
              <a:rPr lang="ko-KR" altLang="en-US" sz="1200" dirty="0"/>
              <a:t>특허발명의 청구항 </a:t>
            </a:r>
            <a:r>
              <a:rPr lang="en-US" altLang="ko-KR" sz="1200" dirty="0"/>
              <a:t>1</a:t>
            </a:r>
            <a:r>
              <a:rPr lang="ko-KR" altLang="en-US" sz="1200" dirty="0"/>
              <a:t>항</a:t>
            </a:r>
          </a:p>
          <a:p>
            <a:endParaRPr lang="ko-KR" altLang="en-US" sz="1200" dirty="0"/>
          </a:p>
          <a:p>
            <a:r>
              <a:rPr lang="ko-KR" altLang="en-US" sz="1200" dirty="0"/>
              <a:t>입자를 함유하는 연마 </a:t>
            </a:r>
            <a:r>
              <a:rPr lang="ko-KR" altLang="en-US" sz="1200" dirty="0" err="1"/>
              <a:t>슬러리를</a:t>
            </a:r>
            <a:r>
              <a:rPr lang="ko-KR" altLang="en-US" sz="1200" dirty="0"/>
              <a:t> 연마 패드의 전체 표면에 걸쳐 함께 이동시키는 </a:t>
            </a:r>
            <a:r>
              <a:rPr lang="ko-KR" altLang="en-US" sz="1200" dirty="0">
                <a:solidFill>
                  <a:srgbClr val="FF0000"/>
                </a:solidFill>
              </a:rPr>
              <a:t>대형 유동 채널</a:t>
            </a:r>
            <a:r>
              <a:rPr lang="ko-KR" altLang="en-US" sz="1200" dirty="0"/>
              <a:t>과 </a:t>
            </a:r>
            <a:r>
              <a:rPr lang="ko-KR" altLang="en-US" sz="1200" dirty="0">
                <a:solidFill>
                  <a:srgbClr val="FF0000"/>
                </a:solidFill>
              </a:rPr>
              <a:t>소형 유동 채널</a:t>
            </a:r>
            <a:r>
              <a:rPr lang="ko-KR" altLang="en-US" sz="1200" dirty="0"/>
              <a:t>을 둘 다 포함하는 </a:t>
            </a:r>
            <a:r>
              <a:rPr lang="ko-KR" altLang="en-US" sz="1200" dirty="0">
                <a:solidFill>
                  <a:srgbClr val="FF0000"/>
                </a:solidFill>
              </a:rPr>
              <a:t>표면 </a:t>
            </a:r>
            <a:r>
              <a:rPr lang="ko-KR" altLang="en-US" sz="1200" dirty="0" err="1">
                <a:solidFill>
                  <a:srgbClr val="FF0000"/>
                </a:solidFill>
              </a:rPr>
              <a:t>텍스쳐</a:t>
            </a:r>
            <a:r>
              <a:rPr lang="en-US" altLang="ko-KR" sz="1200" dirty="0">
                <a:solidFill>
                  <a:srgbClr val="FF0000"/>
                </a:solidFill>
              </a:rPr>
              <a:t>(texture)</a:t>
            </a:r>
            <a:r>
              <a:rPr lang="en-US" altLang="ko-KR" sz="1200" dirty="0"/>
              <a:t> </a:t>
            </a:r>
            <a:r>
              <a:rPr lang="ko-KR" altLang="en-US" sz="1200" dirty="0"/>
              <a:t>또는 패턴</a:t>
            </a:r>
            <a:r>
              <a:rPr lang="en-US" altLang="ko-KR" sz="1200" dirty="0"/>
              <a:t>(</a:t>
            </a:r>
            <a:r>
              <a:rPr lang="ko-KR" altLang="en-US" sz="1200" dirty="0"/>
              <a:t>여기서</a:t>
            </a:r>
            <a:r>
              <a:rPr lang="en-US" altLang="ko-KR" sz="1200" dirty="0"/>
              <a:t>, </a:t>
            </a:r>
            <a:r>
              <a:rPr lang="ko-KR" altLang="en-US" sz="1200" dirty="0"/>
              <a:t>표면 </a:t>
            </a:r>
            <a:r>
              <a:rPr lang="ko-KR" altLang="en-US" sz="1200" dirty="0" err="1"/>
              <a:t>텍스쳐는</a:t>
            </a:r>
            <a:r>
              <a:rPr lang="ko-KR" altLang="en-US" sz="1200" dirty="0"/>
              <a:t> 외부 수단에 의해서만 균일한 고체 </a:t>
            </a:r>
            <a:r>
              <a:rPr lang="ko-KR" altLang="en-US" sz="1200" dirty="0" err="1"/>
              <a:t>중합체</a:t>
            </a:r>
            <a:r>
              <a:rPr lang="ko-KR" altLang="en-US" sz="1200" dirty="0"/>
              <a:t> 시트의 표면에 형성된다</a:t>
            </a:r>
            <a:r>
              <a:rPr lang="en-US" altLang="ko-KR" sz="1200" dirty="0"/>
              <a:t>)</a:t>
            </a:r>
            <a:r>
              <a:rPr lang="ko-KR" altLang="en-US" sz="1200" dirty="0"/>
              <a:t>을 사용하는 동안 보유하는</a:t>
            </a:r>
            <a:r>
              <a:rPr lang="en-US" altLang="ko-KR" sz="1200" dirty="0"/>
              <a:t>, </a:t>
            </a:r>
            <a:r>
              <a:rPr lang="ko-KR" altLang="en-US" sz="1200" dirty="0" err="1"/>
              <a:t>슬러리</a:t>
            </a:r>
            <a:r>
              <a:rPr lang="ko-KR" altLang="en-US" sz="1200" dirty="0"/>
              <a:t> 입자를 흡착하거나 이동시키는 고유한 성능을 지니지 않는 균일한 고체 </a:t>
            </a:r>
            <a:r>
              <a:rPr lang="ko-KR" altLang="en-US" sz="1200" dirty="0" err="1"/>
              <a:t>중합체</a:t>
            </a:r>
            <a:r>
              <a:rPr lang="ko-KR" altLang="en-US" sz="1200" dirty="0"/>
              <a:t> 시트를 포함하는 개선된 연마 패드</a:t>
            </a:r>
            <a:r>
              <a:rPr lang="en-US" altLang="ko-KR" sz="1200" dirty="0"/>
              <a:t>.</a:t>
            </a:r>
          </a:p>
        </p:txBody>
      </p:sp>
      <p:pic>
        <p:nvPicPr>
          <p:cNvPr id="36" name="Picture 2" descr="http://203.236.86.23/kr_draw/kr1999/kf99020/0195831b1/kpo00004-6.jpg">
            <a:extLst>
              <a:ext uri="{FF2B5EF4-FFF2-40B4-BE49-F238E27FC236}">
                <a16:creationId xmlns:a16="http://schemas.microsoft.com/office/drawing/2014/main" id="{65265537-E52F-4A1A-99A3-CF4BB88AA75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4498" y="3481763"/>
            <a:ext cx="1619672" cy="1515792"/>
          </a:xfrm>
          <a:prstGeom prst="rect">
            <a:avLst/>
          </a:prstGeom>
          <a:noFill/>
          <a:extLst>
            <a:ext uri="{909E8E84-426E-40DD-AFC4-6F175D3DCCD1}">
              <a14:hiddenFill xmlns:a14="http://schemas.microsoft.com/office/drawing/2010/main">
                <a:solidFill>
                  <a:srgbClr val="FFFFFF"/>
                </a:solidFill>
              </a14:hiddenFill>
            </a:ext>
          </a:extLst>
        </p:spPr>
      </p:pic>
      <p:cxnSp>
        <p:nvCxnSpPr>
          <p:cNvPr id="15" name="직선 연결선 14">
            <a:extLst>
              <a:ext uri="{FF2B5EF4-FFF2-40B4-BE49-F238E27FC236}">
                <a16:creationId xmlns:a16="http://schemas.microsoft.com/office/drawing/2014/main" id="{A38EC66C-EE56-4D02-A51E-7131B076FBD0}"/>
              </a:ext>
            </a:extLst>
          </p:cNvPr>
          <p:cNvCxnSpPr>
            <a:cxnSpLocks/>
          </p:cNvCxnSpPr>
          <p:nvPr/>
        </p:nvCxnSpPr>
        <p:spPr>
          <a:xfrm flipV="1">
            <a:off x="2661710" y="4157328"/>
            <a:ext cx="904024" cy="532367"/>
          </a:xfrm>
          <a:prstGeom prst="line">
            <a:avLst/>
          </a:prstGeom>
          <a:ln w="28575">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직선 연결선 36">
            <a:extLst>
              <a:ext uri="{FF2B5EF4-FFF2-40B4-BE49-F238E27FC236}">
                <a16:creationId xmlns:a16="http://schemas.microsoft.com/office/drawing/2014/main" id="{3F1E29FE-0E89-453A-937F-ABE8270DA252}"/>
              </a:ext>
            </a:extLst>
          </p:cNvPr>
          <p:cNvCxnSpPr>
            <a:cxnSpLocks/>
          </p:cNvCxnSpPr>
          <p:nvPr/>
        </p:nvCxnSpPr>
        <p:spPr>
          <a:xfrm flipV="1">
            <a:off x="1774780" y="3696258"/>
            <a:ext cx="1538829" cy="1174164"/>
          </a:xfrm>
          <a:prstGeom prst="line">
            <a:avLst/>
          </a:prstGeom>
          <a:ln w="28575">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직선 연결선 41">
            <a:extLst>
              <a:ext uri="{FF2B5EF4-FFF2-40B4-BE49-F238E27FC236}">
                <a16:creationId xmlns:a16="http://schemas.microsoft.com/office/drawing/2014/main" id="{1231CA67-7468-4CEC-BEFC-A4D67333F27B}"/>
              </a:ext>
            </a:extLst>
          </p:cNvPr>
          <p:cNvCxnSpPr>
            <a:cxnSpLocks/>
          </p:cNvCxnSpPr>
          <p:nvPr/>
        </p:nvCxnSpPr>
        <p:spPr>
          <a:xfrm flipV="1">
            <a:off x="2190929" y="4602990"/>
            <a:ext cx="1659363" cy="488383"/>
          </a:xfrm>
          <a:prstGeom prst="line">
            <a:avLst/>
          </a:prstGeom>
          <a:ln w="28575">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E81B4698-B375-4AA0-8EBF-9C0A9D3078A5}"/>
              </a:ext>
            </a:extLst>
          </p:cNvPr>
          <p:cNvSpPr txBox="1"/>
          <p:nvPr/>
        </p:nvSpPr>
        <p:spPr>
          <a:xfrm>
            <a:off x="3527779" y="4892927"/>
            <a:ext cx="832279" cy="307777"/>
          </a:xfrm>
          <a:prstGeom prst="rect">
            <a:avLst/>
          </a:prstGeom>
          <a:noFill/>
        </p:spPr>
        <p:txBody>
          <a:bodyPr wrap="none" rtlCol="0">
            <a:spAutoFit/>
          </a:bodyPr>
          <a:lstStyle/>
          <a:p>
            <a:r>
              <a:rPr lang="ko-KR" altLang="en-US" sz="1400" dirty="0"/>
              <a:t>본원발명</a:t>
            </a:r>
          </a:p>
        </p:txBody>
      </p:sp>
      <p:pic>
        <p:nvPicPr>
          <p:cNvPr id="22" name="그림 21">
            <a:extLst>
              <a:ext uri="{FF2B5EF4-FFF2-40B4-BE49-F238E27FC236}">
                <a16:creationId xmlns:a16="http://schemas.microsoft.com/office/drawing/2014/main" id="{3822A040-CCDA-4124-A157-F514A444FA19}"/>
              </a:ext>
            </a:extLst>
          </p:cNvPr>
          <p:cNvPicPr>
            <a:picLocks noChangeAspect="1"/>
          </p:cNvPicPr>
          <p:nvPr/>
        </p:nvPicPr>
        <p:blipFill>
          <a:blip r:embed="rId4"/>
          <a:stretch>
            <a:fillRect/>
          </a:stretch>
        </p:blipFill>
        <p:spPr>
          <a:xfrm>
            <a:off x="5495452" y="4649613"/>
            <a:ext cx="5874559" cy="2176000"/>
          </a:xfrm>
          <a:prstGeom prst="rect">
            <a:avLst/>
          </a:prstGeom>
        </p:spPr>
      </p:pic>
      <p:sp>
        <p:nvSpPr>
          <p:cNvPr id="47" name="직사각형 46">
            <a:extLst>
              <a:ext uri="{FF2B5EF4-FFF2-40B4-BE49-F238E27FC236}">
                <a16:creationId xmlns:a16="http://schemas.microsoft.com/office/drawing/2014/main" id="{C672D013-600C-4185-AC81-E804373300D4}"/>
              </a:ext>
            </a:extLst>
          </p:cNvPr>
          <p:cNvSpPr/>
          <p:nvPr/>
        </p:nvSpPr>
        <p:spPr>
          <a:xfrm>
            <a:off x="5565010" y="3649496"/>
            <a:ext cx="5691612" cy="1015663"/>
          </a:xfrm>
          <a:prstGeom prst="rect">
            <a:avLst/>
          </a:prstGeom>
          <a:ln>
            <a:solidFill>
              <a:schemeClr val="bg1">
                <a:lumMod val="50000"/>
              </a:schemeClr>
            </a:solidFill>
          </a:ln>
        </p:spPr>
        <p:txBody>
          <a:bodyPr wrap="square">
            <a:spAutoFit/>
          </a:bodyPr>
          <a:lstStyle/>
          <a:p>
            <a:r>
              <a:rPr lang="en-US" altLang="ko-KR" sz="1200" dirty="0"/>
              <a:t>CMP </a:t>
            </a:r>
            <a:r>
              <a:rPr lang="ko-KR" altLang="en-US" sz="1200" dirty="0"/>
              <a:t>공정이란 연마패드 대상물</a:t>
            </a:r>
            <a:r>
              <a:rPr lang="en-US" altLang="ko-KR" sz="1200" dirty="0"/>
              <a:t>(</a:t>
            </a:r>
            <a:r>
              <a:rPr lang="ko-KR" altLang="en-US" sz="1200" dirty="0"/>
              <a:t>웨이퍼</a:t>
            </a:r>
            <a:r>
              <a:rPr lang="en-US" altLang="ko-KR" sz="1200" dirty="0"/>
              <a:t>)</a:t>
            </a:r>
            <a:r>
              <a:rPr lang="ko-KR" altLang="en-US" sz="1200" dirty="0"/>
              <a:t>를 연마패드의 표면 위에 접촉시킨 상태에서 연마대상물과 연마패드를 각각 독립적으로 </a:t>
            </a:r>
            <a:r>
              <a:rPr lang="ko-KR" altLang="en-US" sz="1200" dirty="0" err="1"/>
              <a:t>고속회전시키면서</a:t>
            </a:r>
            <a:r>
              <a:rPr lang="ko-KR" altLang="en-US" sz="1200" dirty="0"/>
              <a:t> 미세한 연마입자를 포함하는 </a:t>
            </a:r>
            <a:r>
              <a:rPr lang="ko-KR" altLang="en-US" sz="1200" dirty="0" err="1"/>
              <a:t>슬러리</a:t>
            </a:r>
            <a:r>
              <a:rPr lang="ko-KR" altLang="en-US" sz="1200" dirty="0"/>
              <a:t> 용액을 연마패드에 떨어뜨려 연마패드와 대상물의 표면 사이로 흘러 들어가게 함으로써 </a:t>
            </a:r>
            <a:r>
              <a:rPr lang="ko-KR" altLang="en-US" sz="1200" dirty="0" err="1"/>
              <a:t>슬러리</a:t>
            </a:r>
            <a:r>
              <a:rPr lang="ko-KR" altLang="en-US" sz="1200" dirty="0"/>
              <a:t> 용액의 화학성분으로 대상물 표면을 </a:t>
            </a:r>
            <a:r>
              <a:rPr lang="ko-KR" altLang="en-US" sz="1200" dirty="0" err="1"/>
              <a:t>연화시키면서</a:t>
            </a:r>
            <a:r>
              <a:rPr lang="ko-KR" altLang="en-US" sz="1200" dirty="0"/>
              <a:t> </a:t>
            </a:r>
            <a:r>
              <a:rPr lang="ko-KR" altLang="en-US" sz="1200" dirty="0" err="1"/>
              <a:t>슬러리</a:t>
            </a:r>
            <a:r>
              <a:rPr lang="ko-KR" altLang="en-US" sz="1200" dirty="0"/>
              <a:t> 내 연마입자의 유동을 통해 대상물의 표면을 연마하는 공정을 말한다</a:t>
            </a:r>
            <a:r>
              <a:rPr lang="en-US" altLang="ko-KR" sz="1200" dirty="0"/>
              <a:t>.</a:t>
            </a:r>
          </a:p>
        </p:txBody>
      </p:sp>
      <p:sp>
        <p:nvSpPr>
          <p:cNvPr id="49" name="TextBox 48">
            <a:extLst>
              <a:ext uri="{FF2B5EF4-FFF2-40B4-BE49-F238E27FC236}">
                <a16:creationId xmlns:a16="http://schemas.microsoft.com/office/drawing/2014/main" id="{A132E042-4524-4937-A357-85E8AA4E417F}"/>
              </a:ext>
            </a:extLst>
          </p:cNvPr>
          <p:cNvSpPr txBox="1"/>
          <p:nvPr/>
        </p:nvSpPr>
        <p:spPr>
          <a:xfrm>
            <a:off x="3447978" y="6517836"/>
            <a:ext cx="1156086" cy="307777"/>
          </a:xfrm>
          <a:prstGeom prst="rect">
            <a:avLst/>
          </a:prstGeom>
          <a:noFill/>
        </p:spPr>
        <p:txBody>
          <a:bodyPr wrap="none" rtlCol="0">
            <a:spAutoFit/>
          </a:bodyPr>
          <a:lstStyle/>
          <a:p>
            <a:r>
              <a:rPr lang="ko-KR" altLang="en-US" sz="1400" dirty="0"/>
              <a:t>확인대상발명</a:t>
            </a:r>
          </a:p>
        </p:txBody>
      </p:sp>
      <p:graphicFrame>
        <p:nvGraphicFramePr>
          <p:cNvPr id="45" name="표 44">
            <a:extLst>
              <a:ext uri="{FF2B5EF4-FFF2-40B4-BE49-F238E27FC236}">
                <a16:creationId xmlns:a16="http://schemas.microsoft.com/office/drawing/2014/main" id="{EF2A2650-CD25-4E6B-99E6-6FB58AAF7226}"/>
              </a:ext>
            </a:extLst>
          </p:cNvPr>
          <p:cNvGraphicFramePr>
            <a:graphicFrameLocks noGrp="1"/>
          </p:cNvGraphicFramePr>
          <p:nvPr/>
        </p:nvGraphicFramePr>
        <p:xfrm>
          <a:off x="6482278" y="731356"/>
          <a:ext cx="5311042" cy="1005840"/>
        </p:xfrm>
        <a:graphic>
          <a:graphicData uri="http://schemas.openxmlformats.org/drawingml/2006/table">
            <a:tbl>
              <a:tblPr>
                <a:tableStyleId>{8799B23B-EC83-4686-B30A-512413B5E67A}</a:tableStyleId>
              </a:tblPr>
              <a:tblGrid>
                <a:gridCol w="1566250">
                  <a:extLst>
                    <a:ext uri="{9D8B030D-6E8A-4147-A177-3AD203B41FA5}">
                      <a16:colId xmlns:a16="http://schemas.microsoft.com/office/drawing/2014/main" val="3017133655"/>
                    </a:ext>
                  </a:extLst>
                </a:gridCol>
                <a:gridCol w="3744792">
                  <a:extLst>
                    <a:ext uri="{9D8B030D-6E8A-4147-A177-3AD203B41FA5}">
                      <a16:colId xmlns:a16="http://schemas.microsoft.com/office/drawing/2014/main" val="2244750595"/>
                    </a:ext>
                  </a:extLst>
                </a:gridCol>
              </a:tblGrid>
              <a:tr h="158136">
                <a:tc>
                  <a:txBody>
                    <a:bodyPr/>
                    <a:lstStyle/>
                    <a:p>
                      <a:pPr algn="ctr" latinLnBrk="1"/>
                      <a:r>
                        <a:rPr lang="ko-KR" altLang="en-US" sz="1200" dirty="0"/>
                        <a:t>이 사건 특허발명</a:t>
                      </a:r>
                    </a:p>
                  </a:txBody>
                  <a:tcPr>
                    <a:solidFill>
                      <a:schemeClr val="accent1">
                        <a:lumMod val="20000"/>
                        <a:lumOff val="80000"/>
                      </a:schemeClr>
                    </a:solidFill>
                  </a:tcPr>
                </a:tc>
                <a:tc>
                  <a:txBody>
                    <a:bodyPr/>
                    <a:lstStyle/>
                    <a:p>
                      <a:pPr algn="ctr" latinLnBrk="1"/>
                      <a:r>
                        <a:rPr lang="ko-KR" altLang="en-US" sz="1200" dirty="0"/>
                        <a:t>확인대상발명</a:t>
                      </a:r>
                    </a:p>
                  </a:txBody>
                  <a:tcPr>
                    <a:solidFill>
                      <a:schemeClr val="accent1">
                        <a:lumMod val="20000"/>
                        <a:lumOff val="80000"/>
                      </a:schemeClr>
                    </a:solidFill>
                  </a:tcPr>
                </a:tc>
                <a:extLst>
                  <a:ext uri="{0D108BD9-81ED-4DB2-BD59-A6C34878D82A}">
                    <a16:rowId xmlns:a16="http://schemas.microsoft.com/office/drawing/2014/main" val="3635694743"/>
                  </a:ext>
                </a:extLst>
              </a:tr>
              <a:tr h="158136">
                <a:tc rowSpan="2">
                  <a:txBody>
                    <a:bodyPr/>
                    <a:lstStyle/>
                    <a:p>
                      <a:pPr latinLnBrk="1"/>
                      <a:r>
                        <a:rPr lang="en-US" altLang="ko-KR" sz="1200" dirty="0"/>
                        <a:t>A(</a:t>
                      </a:r>
                      <a:r>
                        <a:rPr lang="ko-KR" altLang="en-US" sz="1200" dirty="0" err="1"/>
                        <a:t>대형유동채널</a:t>
                      </a:r>
                      <a:r>
                        <a:rPr lang="en-US" altLang="ko-KR" sz="1200" dirty="0"/>
                        <a:t>)+</a:t>
                      </a:r>
                    </a:p>
                    <a:p>
                      <a:pPr latinLnBrk="1"/>
                      <a:r>
                        <a:rPr lang="en-US" altLang="ko-KR" sz="1200" dirty="0"/>
                        <a:t>B(</a:t>
                      </a:r>
                      <a:r>
                        <a:rPr lang="ko-KR" altLang="en-US" sz="1200" dirty="0" err="1"/>
                        <a:t>소형유동채널</a:t>
                      </a:r>
                      <a:r>
                        <a:rPr lang="en-US" altLang="ko-KR" sz="1200" dirty="0"/>
                        <a:t>)+</a:t>
                      </a:r>
                    </a:p>
                    <a:p>
                      <a:pPr latinLnBrk="1"/>
                      <a:r>
                        <a:rPr lang="en-US" altLang="ko-KR" sz="1200" dirty="0"/>
                        <a:t>P(</a:t>
                      </a:r>
                      <a:r>
                        <a:rPr lang="ko-KR" altLang="en-US" sz="1200" dirty="0" err="1"/>
                        <a:t>균일중합체</a:t>
                      </a:r>
                      <a:r>
                        <a:rPr lang="en-US" altLang="ko-KR" sz="1200" dirty="0"/>
                        <a:t>)</a:t>
                      </a:r>
                      <a:endParaRPr lang="ko-KR" altLang="en-US" sz="1200" dirty="0"/>
                    </a:p>
                  </a:txBody>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dirty="0"/>
                        <a:t>A(</a:t>
                      </a:r>
                      <a:r>
                        <a:rPr lang="ko-KR" altLang="en-US" sz="1200" dirty="0"/>
                        <a:t>그루브</a:t>
                      </a:r>
                      <a:r>
                        <a:rPr lang="en-US" altLang="ko-KR" sz="1200" dirty="0"/>
                        <a:t>)+M(</a:t>
                      </a:r>
                      <a:r>
                        <a:rPr lang="ko-KR" altLang="en-US" sz="1200" dirty="0" err="1"/>
                        <a:t>마이크로홀</a:t>
                      </a:r>
                      <a:r>
                        <a:rPr lang="en-US" altLang="ko-KR" sz="1200" dirty="0"/>
                        <a:t>)+P(</a:t>
                      </a:r>
                      <a:r>
                        <a:rPr lang="ko-KR" altLang="en-US" sz="1200" dirty="0" err="1"/>
                        <a:t>균일중합체</a:t>
                      </a:r>
                      <a:r>
                        <a:rPr lang="en-US" altLang="ko-KR" sz="1200" dirty="0"/>
                        <a:t>)</a:t>
                      </a:r>
                      <a:endParaRPr lang="ko-KR" altLang="en-US" sz="1200" dirty="0"/>
                    </a:p>
                  </a:txBody>
                  <a:tcPr/>
                </a:tc>
                <a:extLst>
                  <a:ext uri="{0D108BD9-81ED-4DB2-BD59-A6C34878D82A}">
                    <a16:rowId xmlns:a16="http://schemas.microsoft.com/office/drawing/2014/main" val="3353668417"/>
                  </a:ext>
                </a:extLst>
              </a:tr>
              <a:tr h="368985">
                <a:tc vMerge="1">
                  <a:txBody>
                    <a:bodyPr/>
                    <a:lstStyle/>
                    <a:p>
                      <a:pPr latinLnBrk="1"/>
                      <a:endParaRPr lang="ko-KR" altLang="en-US" sz="1200" dirty="0"/>
                    </a:p>
                  </a:txBody>
                  <a:tcPr/>
                </a:tc>
                <a:tc>
                  <a:txBody>
                    <a:bodyPr/>
                    <a:lstStyle/>
                    <a:p>
                      <a:pPr latinLnBrk="1"/>
                      <a:r>
                        <a:rPr lang="ko-KR" altLang="en-US" sz="1200" dirty="0"/>
                        <a:t>브레이크인 및 </a:t>
                      </a:r>
                      <a:r>
                        <a:rPr lang="ko-KR" altLang="en-US" sz="1200" dirty="0" err="1"/>
                        <a:t>컨디셔닝후</a:t>
                      </a:r>
                      <a:endParaRPr lang="en-US" altLang="ko-KR" sz="1200" dirty="0"/>
                    </a:p>
                    <a:p>
                      <a:pPr marL="0" marR="0" lvl="0" indent="0" algn="l" defTabSz="914400" rtl="0" eaLnBrk="1" fontAlgn="auto" latinLnBrk="1" hangingPunct="1">
                        <a:lnSpc>
                          <a:spcPct val="100000"/>
                        </a:lnSpc>
                        <a:spcBef>
                          <a:spcPts val="0"/>
                        </a:spcBef>
                        <a:spcAft>
                          <a:spcPts val="0"/>
                        </a:spcAft>
                        <a:buClrTx/>
                        <a:buSzTx/>
                        <a:buFontTx/>
                        <a:buNone/>
                        <a:tabLst/>
                        <a:defRPr/>
                      </a:pPr>
                      <a:r>
                        <a:rPr lang="en-US" altLang="ko-KR" sz="1200" dirty="0"/>
                        <a:t>A(</a:t>
                      </a:r>
                      <a:r>
                        <a:rPr lang="ko-KR" altLang="en-US" sz="1200" dirty="0"/>
                        <a:t>그루브</a:t>
                      </a:r>
                      <a:r>
                        <a:rPr lang="en-US" altLang="ko-KR" sz="1200" dirty="0"/>
                        <a:t>)+M(</a:t>
                      </a:r>
                      <a:r>
                        <a:rPr lang="ko-KR" altLang="en-US" sz="1200" dirty="0" err="1"/>
                        <a:t>마이크로홀</a:t>
                      </a:r>
                      <a:r>
                        <a:rPr lang="en-US" altLang="ko-KR" sz="1200" dirty="0"/>
                        <a:t>)+ b(</a:t>
                      </a:r>
                      <a:r>
                        <a:rPr lang="ko-KR" altLang="en-US" sz="1200" dirty="0"/>
                        <a:t>줄무늬홀</a:t>
                      </a:r>
                      <a:r>
                        <a:rPr lang="en-US" altLang="ko-KR" sz="1200" dirty="0"/>
                        <a:t>)+P(</a:t>
                      </a:r>
                      <a:r>
                        <a:rPr lang="ko-KR" altLang="en-US" sz="1200" dirty="0" err="1"/>
                        <a:t>균일중합체</a:t>
                      </a:r>
                      <a:r>
                        <a:rPr lang="en-US" altLang="ko-KR" sz="1200" dirty="0"/>
                        <a:t>)</a:t>
                      </a:r>
                      <a:endParaRPr lang="ko-KR" altLang="en-US" sz="1200" dirty="0"/>
                    </a:p>
                  </a:txBody>
                  <a:tcPr/>
                </a:tc>
                <a:extLst>
                  <a:ext uri="{0D108BD9-81ED-4DB2-BD59-A6C34878D82A}">
                    <a16:rowId xmlns:a16="http://schemas.microsoft.com/office/drawing/2014/main" val="801778617"/>
                  </a:ext>
                </a:extLst>
              </a:tr>
            </a:tbl>
          </a:graphicData>
        </a:graphic>
      </p:graphicFrame>
    </p:spTree>
    <p:extLst>
      <p:ext uri="{BB962C8B-B14F-4D97-AF65-F5344CB8AC3E}">
        <p14:creationId xmlns:p14="http://schemas.microsoft.com/office/powerpoint/2010/main" val="3752186576"/>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TextBox 73">
            <a:extLst>
              <a:ext uri="{FF2B5EF4-FFF2-40B4-BE49-F238E27FC236}">
                <a16:creationId xmlns:a16="http://schemas.microsoft.com/office/drawing/2014/main" id="{609E95C8-5D0A-4E03-8D1C-1BE13A12040C}"/>
              </a:ext>
            </a:extLst>
          </p:cNvPr>
          <p:cNvSpPr txBox="1"/>
          <p:nvPr/>
        </p:nvSpPr>
        <p:spPr>
          <a:xfrm>
            <a:off x="5910397" y="3291160"/>
            <a:ext cx="6003962" cy="2981264"/>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oAutofit/>
          </a:bodyPr>
          <a:lstStyle/>
          <a:p>
            <a:pPr algn="just"/>
            <a:r>
              <a:rPr lang="en-US" altLang="ko-KR" sz="1100" dirty="0">
                <a:solidFill>
                  <a:srgbClr val="FF0000"/>
                </a:solidFill>
                <a:latin typeface="+mn-ea"/>
              </a:rPr>
              <a:t>1</a:t>
            </a:r>
            <a:r>
              <a:rPr lang="ko-KR" altLang="en-US" sz="1100" dirty="0">
                <a:solidFill>
                  <a:srgbClr val="FF0000"/>
                </a:solidFill>
                <a:latin typeface="+mn-ea"/>
              </a:rPr>
              <a:t>번 행위와 관련하여</a:t>
            </a:r>
            <a:endParaRPr lang="en-US" altLang="ko-KR" sz="1100" dirty="0">
              <a:solidFill>
                <a:srgbClr val="FF0000"/>
              </a:solidFill>
              <a:latin typeface="+mn-ea"/>
            </a:endParaRPr>
          </a:p>
          <a:p>
            <a:pPr marL="171450" indent="-171450" algn="just">
              <a:buFontTx/>
              <a:buChar char="-"/>
            </a:pPr>
            <a:r>
              <a:rPr lang="ko-KR" altLang="en-US" sz="1100" dirty="0">
                <a:solidFill>
                  <a:schemeClr val="tx1"/>
                </a:solidFill>
                <a:latin typeface="+mn-ea"/>
              </a:rPr>
              <a:t>특별한 사정이 없는 한 </a:t>
            </a:r>
            <a:r>
              <a:rPr lang="ko-KR" altLang="en-US" sz="1100" dirty="0" err="1">
                <a:solidFill>
                  <a:schemeClr val="tx1"/>
                </a:solidFill>
                <a:latin typeface="+mn-ea"/>
              </a:rPr>
              <a:t>통상실시권자가</a:t>
            </a:r>
            <a:r>
              <a:rPr lang="ko-KR" altLang="en-US" sz="1100" dirty="0">
                <a:solidFill>
                  <a:schemeClr val="tx1"/>
                </a:solidFill>
                <a:latin typeface="+mn-ea"/>
              </a:rPr>
              <a:t> 스스로 전용품을 제작하여 방법을 실시하는 행위를 간접침해로 보기는 어렵다</a:t>
            </a:r>
            <a:r>
              <a:rPr lang="en-US" altLang="ko-KR" sz="1100" dirty="0">
                <a:solidFill>
                  <a:schemeClr val="tx1"/>
                </a:solidFill>
                <a:latin typeface="+mn-ea"/>
              </a:rPr>
              <a:t>.</a:t>
            </a:r>
          </a:p>
          <a:p>
            <a:pPr marL="171450" indent="-171450" algn="just">
              <a:buFontTx/>
              <a:buChar char="-"/>
            </a:pPr>
            <a:r>
              <a:rPr lang="ko-KR" altLang="en-US" sz="1100" dirty="0">
                <a:solidFill>
                  <a:schemeClr val="tx1"/>
                </a:solidFill>
                <a:latin typeface="+mn-ea"/>
              </a:rPr>
              <a:t>마찬가지로 </a:t>
            </a:r>
            <a:r>
              <a:rPr lang="ko-KR" altLang="en-US" sz="1100" dirty="0" err="1">
                <a:solidFill>
                  <a:schemeClr val="tx1"/>
                </a:solidFill>
                <a:latin typeface="+mn-ea"/>
              </a:rPr>
              <a:t>통상실시권자가</a:t>
            </a:r>
            <a:r>
              <a:rPr lang="ko-KR" altLang="en-US" sz="1100" dirty="0">
                <a:solidFill>
                  <a:schemeClr val="tx1"/>
                </a:solidFill>
                <a:latin typeface="+mn-ea"/>
              </a:rPr>
              <a:t> 제</a:t>
            </a:r>
            <a:r>
              <a:rPr lang="en-US" altLang="ko-KR" sz="1100" dirty="0">
                <a:solidFill>
                  <a:schemeClr val="tx1"/>
                </a:solidFill>
                <a:latin typeface="+mn-ea"/>
              </a:rPr>
              <a:t>3</a:t>
            </a:r>
            <a:r>
              <a:rPr lang="ko-KR" altLang="en-US" sz="1100" dirty="0">
                <a:solidFill>
                  <a:schemeClr val="tx1"/>
                </a:solidFill>
                <a:latin typeface="+mn-ea"/>
              </a:rPr>
              <a:t>자를 통하여 전용품을 공급받아 방법발명을 실시하는 경우에</a:t>
            </a:r>
            <a:r>
              <a:rPr lang="en-US" altLang="ko-KR" sz="1100" dirty="0">
                <a:solidFill>
                  <a:schemeClr val="tx1"/>
                </a:solidFill>
                <a:latin typeface="+mn-ea"/>
              </a:rPr>
              <a:t>, </a:t>
            </a:r>
            <a:r>
              <a:rPr lang="ko-KR" altLang="en-US" sz="1100" dirty="0" err="1">
                <a:solidFill>
                  <a:schemeClr val="tx1"/>
                </a:solidFill>
                <a:latin typeface="+mn-ea"/>
              </a:rPr>
              <a:t>통상실시권자가</a:t>
            </a:r>
            <a:r>
              <a:rPr lang="ko-KR" altLang="en-US" sz="1100" dirty="0">
                <a:solidFill>
                  <a:schemeClr val="tx1"/>
                </a:solidFill>
                <a:latin typeface="+mn-ea"/>
              </a:rPr>
              <a:t> 직접 전용품을 생산하여 방법발명을 실시하는 경우와 달리 제</a:t>
            </a:r>
            <a:r>
              <a:rPr lang="en-US" altLang="ko-KR" sz="1100" dirty="0">
                <a:solidFill>
                  <a:schemeClr val="tx1"/>
                </a:solidFill>
                <a:latin typeface="+mn-ea"/>
              </a:rPr>
              <a:t>3</a:t>
            </a:r>
            <a:r>
              <a:rPr lang="ko-KR" altLang="en-US" sz="1100" dirty="0">
                <a:solidFill>
                  <a:schemeClr val="tx1"/>
                </a:solidFill>
                <a:latin typeface="+mn-ea"/>
              </a:rPr>
              <a:t>자의 제작</a:t>
            </a:r>
            <a:r>
              <a:rPr lang="en-US" altLang="ko-KR" sz="1100" dirty="0">
                <a:solidFill>
                  <a:schemeClr val="tx1"/>
                </a:solidFill>
                <a:latin typeface="+mn-ea"/>
              </a:rPr>
              <a:t>·</a:t>
            </a:r>
            <a:r>
              <a:rPr lang="ko-KR" altLang="en-US" sz="1100" dirty="0">
                <a:solidFill>
                  <a:schemeClr val="tx1"/>
                </a:solidFill>
                <a:latin typeface="+mn-ea"/>
              </a:rPr>
              <a:t>납품행위가 곧바로 간접침해에 해당한다고 볼 수 없다</a:t>
            </a:r>
            <a:r>
              <a:rPr lang="en-US" altLang="ko-KR" sz="1100" dirty="0">
                <a:solidFill>
                  <a:schemeClr val="tx1"/>
                </a:solidFill>
                <a:latin typeface="+mn-ea"/>
              </a:rPr>
              <a:t>.(</a:t>
            </a:r>
            <a:r>
              <a:rPr lang="ko-KR" altLang="en-US" sz="1100" dirty="0">
                <a:solidFill>
                  <a:schemeClr val="tx1"/>
                </a:solidFill>
                <a:latin typeface="+mn-ea"/>
              </a:rPr>
              <a:t>제</a:t>
            </a:r>
            <a:r>
              <a:rPr lang="en-US" altLang="ko-KR" sz="1100" dirty="0">
                <a:solidFill>
                  <a:schemeClr val="tx1"/>
                </a:solidFill>
                <a:latin typeface="+mn-ea"/>
              </a:rPr>
              <a:t>3</a:t>
            </a:r>
            <a:r>
              <a:rPr lang="ko-KR" altLang="en-US" sz="1100" dirty="0">
                <a:solidFill>
                  <a:schemeClr val="tx1"/>
                </a:solidFill>
                <a:latin typeface="+mn-ea"/>
              </a:rPr>
              <a:t>자에게 </a:t>
            </a:r>
            <a:r>
              <a:rPr lang="ko-KR" altLang="en-US" sz="1100" dirty="0" err="1">
                <a:solidFill>
                  <a:schemeClr val="tx1"/>
                </a:solidFill>
                <a:latin typeface="+mn-ea"/>
              </a:rPr>
              <a:t>실시권</a:t>
            </a:r>
            <a:r>
              <a:rPr lang="ko-KR" altLang="en-US" sz="1100" dirty="0">
                <a:solidFill>
                  <a:schemeClr val="tx1"/>
                </a:solidFill>
                <a:latin typeface="+mn-ea"/>
              </a:rPr>
              <a:t> 허락을 금하는 계약조건이 </a:t>
            </a:r>
            <a:r>
              <a:rPr lang="ko-KR" altLang="en-US" sz="1100" dirty="0" err="1">
                <a:solidFill>
                  <a:schemeClr val="tx1"/>
                </a:solidFill>
                <a:latin typeface="+mn-ea"/>
              </a:rPr>
              <a:t>전용품</a:t>
            </a:r>
            <a:r>
              <a:rPr lang="ko-KR" altLang="en-US" sz="1100" dirty="0">
                <a:solidFill>
                  <a:schemeClr val="tx1"/>
                </a:solidFill>
                <a:latin typeface="+mn-ea"/>
              </a:rPr>
              <a:t> 제작</a:t>
            </a:r>
            <a:r>
              <a:rPr lang="en-US" altLang="ko-KR" sz="1100" dirty="0">
                <a:solidFill>
                  <a:schemeClr val="tx1"/>
                </a:solidFill>
                <a:latin typeface="+mn-ea"/>
              </a:rPr>
              <a:t>, </a:t>
            </a:r>
            <a:r>
              <a:rPr lang="ko-KR" altLang="en-US" sz="1100" dirty="0">
                <a:solidFill>
                  <a:schemeClr val="tx1"/>
                </a:solidFill>
                <a:latin typeface="+mn-ea"/>
              </a:rPr>
              <a:t>납품까지 금지하는 것은 아니다</a:t>
            </a:r>
            <a:r>
              <a:rPr lang="en-US" altLang="ko-KR" sz="1100" dirty="0">
                <a:solidFill>
                  <a:schemeClr val="tx1"/>
                </a:solidFill>
                <a:latin typeface="+mn-ea"/>
              </a:rPr>
              <a:t>.) </a:t>
            </a:r>
          </a:p>
          <a:p>
            <a:pPr marL="171450" indent="-171450" algn="just">
              <a:buFontTx/>
              <a:buChar char="-"/>
            </a:pPr>
            <a:r>
              <a:rPr lang="ko-KR" altLang="en-US" sz="1100" dirty="0">
                <a:solidFill>
                  <a:schemeClr val="tx1"/>
                </a:solidFill>
                <a:latin typeface="+mn-ea"/>
              </a:rPr>
              <a:t>다만</a:t>
            </a:r>
            <a:r>
              <a:rPr lang="en-US" altLang="ko-KR" sz="1100" dirty="0">
                <a:solidFill>
                  <a:schemeClr val="tx1"/>
                </a:solidFill>
                <a:latin typeface="+mn-ea"/>
              </a:rPr>
              <a:t>, </a:t>
            </a:r>
            <a:r>
              <a:rPr lang="ko-KR" altLang="en-US" sz="1100" dirty="0">
                <a:solidFill>
                  <a:schemeClr val="tx1"/>
                </a:solidFill>
                <a:latin typeface="+mn-ea"/>
              </a:rPr>
              <a:t>실시계약에서 전용품을 스스로 생산하여 방법발명을 실시하는 행위를 금지하는 것으로 특별히 약정한 경우 이러한 약정에 위반하였다면 </a:t>
            </a:r>
            <a:r>
              <a:rPr lang="ko-KR" altLang="en-US" sz="1100" dirty="0" err="1">
                <a:solidFill>
                  <a:schemeClr val="tx1"/>
                </a:solidFill>
                <a:latin typeface="+mn-ea"/>
              </a:rPr>
              <a:t>통상실시권자에</a:t>
            </a:r>
            <a:r>
              <a:rPr lang="ko-KR" altLang="en-US" sz="1100" dirty="0">
                <a:solidFill>
                  <a:schemeClr val="tx1"/>
                </a:solidFill>
                <a:latin typeface="+mn-ea"/>
              </a:rPr>
              <a:t> 대하여는 채무불이행책임을</a:t>
            </a:r>
            <a:r>
              <a:rPr lang="en-US" altLang="ko-KR" sz="1100" dirty="0">
                <a:solidFill>
                  <a:schemeClr val="tx1"/>
                </a:solidFill>
                <a:latin typeface="+mn-ea"/>
              </a:rPr>
              <a:t>, </a:t>
            </a:r>
            <a:r>
              <a:rPr lang="ko-KR" altLang="en-US" sz="1100" dirty="0">
                <a:solidFill>
                  <a:schemeClr val="tx1"/>
                </a:solidFill>
                <a:latin typeface="+mn-ea"/>
              </a:rPr>
              <a:t>이러한 약정의 존재를 알면서 위반에 가담한 제</a:t>
            </a:r>
            <a:r>
              <a:rPr lang="en-US" altLang="ko-KR" sz="1100" dirty="0">
                <a:solidFill>
                  <a:schemeClr val="tx1"/>
                </a:solidFill>
                <a:latin typeface="+mn-ea"/>
              </a:rPr>
              <a:t>3</a:t>
            </a:r>
            <a:r>
              <a:rPr lang="ko-KR" altLang="en-US" sz="1100" dirty="0">
                <a:solidFill>
                  <a:schemeClr val="tx1"/>
                </a:solidFill>
                <a:latin typeface="+mn-ea"/>
              </a:rPr>
              <a:t>자에 대하여는 별도의 불법행위에 기한 손해배상책임을 묻는 것을 별론으로 한다</a:t>
            </a:r>
            <a:r>
              <a:rPr lang="en-US" altLang="ko-KR" sz="1100" dirty="0">
                <a:solidFill>
                  <a:schemeClr val="tx1"/>
                </a:solidFill>
                <a:latin typeface="+mn-ea"/>
              </a:rPr>
              <a:t>. </a:t>
            </a:r>
          </a:p>
          <a:p>
            <a:pPr marL="171450" indent="-171450" algn="just">
              <a:buFontTx/>
              <a:buChar char="-"/>
            </a:pPr>
            <a:r>
              <a:rPr lang="ko-KR" altLang="en-US" sz="1100" dirty="0">
                <a:solidFill>
                  <a:schemeClr val="tx1"/>
                </a:solidFill>
                <a:latin typeface="+mn-ea"/>
              </a:rPr>
              <a:t>한편</a:t>
            </a:r>
            <a:r>
              <a:rPr lang="en-US" altLang="ko-KR" sz="1100" dirty="0">
                <a:solidFill>
                  <a:schemeClr val="tx1"/>
                </a:solidFill>
                <a:latin typeface="+mn-ea"/>
              </a:rPr>
              <a:t>, </a:t>
            </a:r>
            <a:r>
              <a:rPr lang="ko-KR" altLang="en-US" sz="1100" dirty="0">
                <a:solidFill>
                  <a:schemeClr val="tx1"/>
                </a:solidFill>
                <a:latin typeface="+mn-ea"/>
              </a:rPr>
              <a:t>乙에게 납품하는 행위는 甲의 특허권을 </a:t>
            </a:r>
            <a:r>
              <a:rPr lang="ko-KR" altLang="en-US" sz="1100" dirty="0" err="1">
                <a:solidFill>
                  <a:schemeClr val="tx1"/>
                </a:solidFill>
                <a:latin typeface="+mn-ea"/>
              </a:rPr>
              <a:t>간접침해하였다고</a:t>
            </a:r>
            <a:r>
              <a:rPr lang="ko-KR" altLang="en-US" sz="1100" dirty="0">
                <a:solidFill>
                  <a:schemeClr val="tx1"/>
                </a:solidFill>
                <a:latin typeface="+mn-ea"/>
              </a:rPr>
              <a:t> 볼 수 없으므로</a:t>
            </a:r>
            <a:r>
              <a:rPr lang="en-US" altLang="ko-KR" sz="1100" dirty="0">
                <a:solidFill>
                  <a:schemeClr val="tx1"/>
                </a:solidFill>
                <a:latin typeface="+mn-ea"/>
              </a:rPr>
              <a:t>, </a:t>
            </a:r>
            <a:r>
              <a:rPr lang="ko-KR" altLang="en-US" sz="1100" dirty="0">
                <a:solidFill>
                  <a:schemeClr val="tx1"/>
                </a:solidFill>
                <a:latin typeface="+mn-ea"/>
              </a:rPr>
              <a:t>제작</a:t>
            </a:r>
            <a:r>
              <a:rPr lang="en-US" altLang="ko-KR" sz="1100" dirty="0">
                <a:solidFill>
                  <a:schemeClr val="tx1"/>
                </a:solidFill>
                <a:latin typeface="+mn-ea"/>
              </a:rPr>
              <a:t>·</a:t>
            </a:r>
            <a:r>
              <a:rPr lang="ko-KR" altLang="en-US" sz="1100" dirty="0">
                <a:solidFill>
                  <a:schemeClr val="tx1"/>
                </a:solidFill>
                <a:latin typeface="+mn-ea"/>
              </a:rPr>
              <a:t>납품행위에 불가분적으로 수반되는 검수</a:t>
            </a:r>
            <a:r>
              <a:rPr lang="en-US" altLang="ko-KR" sz="1100" dirty="0">
                <a:solidFill>
                  <a:schemeClr val="tx1"/>
                </a:solidFill>
                <a:latin typeface="+mn-ea"/>
              </a:rPr>
              <a:t>·</a:t>
            </a:r>
            <a:r>
              <a:rPr lang="ko-KR" altLang="en-US" sz="1100" dirty="0">
                <a:solidFill>
                  <a:schemeClr val="tx1"/>
                </a:solidFill>
                <a:latin typeface="+mn-ea"/>
              </a:rPr>
              <a:t>시연행위에 대하여 별도로 간접침해 및 직접침해가 성립된다고 할 수 없다</a:t>
            </a:r>
            <a:r>
              <a:rPr lang="en-US" altLang="ko-KR" sz="1100" dirty="0">
                <a:solidFill>
                  <a:schemeClr val="tx1"/>
                </a:solidFill>
                <a:latin typeface="+mn-ea"/>
              </a:rPr>
              <a:t>.</a:t>
            </a:r>
          </a:p>
          <a:p>
            <a:pPr algn="just"/>
            <a:r>
              <a:rPr lang="en-US" altLang="ko-KR" sz="1100" dirty="0">
                <a:solidFill>
                  <a:srgbClr val="FF0000"/>
                </a:solidFill>
                <a:latin typeface="+mn-ea"/>
              </a:rPr>
              <a:t>2</a:t>
            </a:r>
            <a:r>
              <a:rPr lang="ko-KR" altLang="en-US" sz="1100" dirty="0">
                <a:solidFill>
                  <a:srgbClr val="FF0000"/>
                </a:solidFill>
                <a:latin typeface="+mn-ea"/>
              </a:rPr>
              <a:t>번 행위와 관련하여 </a:t>
            </a:r>
            <a:endParaRPr lang="en-US" altLang="ko-KR" sz="1100" dirty="0">
              <a:solidFill>
                <a:srgbClr val="FF0000"/>
              </a:solidFill>
              <a:latin typeface="+mn-ea"/>
            </a:endParaRPr>
          </a:p>
          <a:p>
            <a:pPr marL="171450" indent="-171450" algn="just">
              <a:buFontTx/>
              <a:buChar char="-"/>
            </a:pPr>
            <a:r>
              <a:rPr lang="ko-KR" altLang="en-US" sz="1100" dirty="0">
                <a:solidFill>
                  <a:schemeClr val="tx1"/>
                </a:solidFill>
                <a:latin typeface="+mn-ea"/>
              </a:rPr>
              <a:t>특허발명의 효과나 유용성을 확인하거나</a:t>
            </a:r>
            <a:r>
              <a:rPr lang="en-US" altLang="ko-KR" sz="1100" dirty="0">
                <a:solidFill>
                  <a:schemeClr val="tx1"/>
                </a:solidFill>
                <a:latin typeface="+mn-ea"/>
              </a:rPr>
              <a:t>, </a:t>
            </a:r>
            <a:r>
              <a:rPr lang="ko-KR" altLang="en-US" sz="1100" dirty="0">
                <a:solidFill>
                  <a:schemeClr val="tx1"/>
                </a:solidFill>
                <a:latin typeface="+mn-ea"/>
              </a:rPr>
              <a:t>특정 분야에 적용될 수 있는지를 시험하고 특허발명을 개량하기 위한 것으로 보일 뿐</a:t>
            </a:r>
            <a:r>
              <a:rPr lang="en-US" altLang="ko-KR" sz="1100" dirty="0">
                <a:solidFill>
                  <a:schemeClr val="tx1"/>
                </a:solidFill>
                <a:latin typeface="+mn-ea"/>
              </a:rPr>
              <a:t>, </a:t>
            </a:r>
            <a:r>
              <a:rPr lang="ko-KR" altLang="en-US" sz="1100" dirty="0">
                <a:solidFill>
                  <a:schemeClr val="tx1"/>
                </a:solidFill>
                <a:latin typeface="+mn-ea"/>
              </a:rPr>
              <a:t>이 사건 특허발명을 다른 발명을 위한 도구</a:t>
            </a:r>
            <a:r>
              <a:rPr lang="en-US" altLang="ko-KR" sz="1100" dirty="0">
                <a:solidFill>
                  <a:schemeClr val="tx1"/>
                </a:solidFill>
                <a:latin typeface="+mn-ea"/>
              </a:rPr>
              <a:t>·</a:t>
            </a:r>
            <a:r>
              <a:rPr lang="ko-KR" altLang="en-US" sz="1100" dirty="0">
                <a:solidFill>
                  <a:schemeClr val="tx1"/>
                </a:solidFill>
                <a:latin typeface="+mn-ea"/>
              </a:rPr>
              <a:t>수단으로만 이용했다고 보기 어렵다</a:t>
            </a:r>
            <a:r>
              <a:rPr lang="en-US" altLang="ko-KR" sz="1100" dirty="0">
                <a:solidFill>
                  <a:schemeClr val="tx1"/>
                </a:solidFill>
                <a:latin typeface="+mn-ea"/>
              </a:rPr>
              <a:t>. </a:t>
            </a:r>
            <a:r>
              <a:rPr lang="ko-KR" altLang="en-US" sz="1100" dirty="0">
                <a:solidFill>
                  <a:schemeClr val="tx1"/>
                </a:solidFill>
                <a:latin typeface="+mn-ea"/>
              </a:rPr>
              <a:t>따라서</a:t>
            </a:r>
            <a:r>
              <a:rPr lang="en-US" altLang="ko-KR" sz="1100" dirty="0">
                <a:solidFill>
                  <a:schemeClr val="tx1"/>
                </a:solidFill>
                <a:latin typeface="+mn-ea"/>
              </a:rPr>
              <a:t>, </a:t>
            </a:r>
            <a:r>
              <a:rPr lang="ko-KR" altLang="en-US" sz="1100" dirty="0">
                <a:solidFill>
                  <a:schemeClr val="tx1"/>
                </a:solidFill>
                <a:latin typeface="+mn-ea"/>
              </a:rPr>
              <a:t>특허법 제</a:t>
            </a:r>
            <a:r>
              <a:rPr lang="en-US" altLang="ko-KR" sz="1100" dirty="0">
                <a:solidFill>
                  <a:schemeClr val="tx1"/>
                </a:solidFill>
                <a:latin typeface="+mn-ea"/>
              </a:rPr>
              <a:t>96</a:t>
            </a:r>
            <a:r>
              <a:rPr lang="ko-KR" altLang="en-US" sz="1100" dirty="0">
                <a:solidFill>
                  <a:schemeClr val="tx1"/>
                </a:solidFill>
                <a:latin typeface="+mn-ea"/>
              </a:rPr>
              <a:t>조제</a:t>
            </a:r>
            <a:r>
              <a:rPr lang="en-US" altLang="ko-KR" sz="1100" dirty="0">
                <a:solidFill>
                  <a:schemeClr val="tx1"/>
                </a:solidFill>
                <a:latin typeface="+mn-ea"/>
              </a:rPr>
              <a:t>1</a:t>
            </a:r>
            <a:r>
              <a:rPr lang="ko-KR" altLang="en-US" sz="1100" dirty="0" err="1">
                <a:solidFill>
                  <a:schemeClr val="tx1"/>
                </a:solidFill>
                <a:latin typeface="+mn-ea"/>
              </a:rPr>
              <a:t>항제</a:t>
            </a:r>
            <a:r>
              <a:rPr lang="en-US" altLang="ko-KR" sz="1100" dirty="0">
                <a:solidFill>
                  <a:schemeClr val="tx1"/>
                </a:solidFill>
                <a:latin typeface="+mn-ea"/>
              </a:rPr>
              <a:t>1</a:t>
            </a:r>
            <a:r>
              <a:rPr lang="ko-KR" altLang="en-US" sz="1100" dirty="0">
                <a:solidFill>
                  <a:schemeClr val="tx1"/>
                </a:solidFill>
                <a:latin typeface="+mn-ea"/>
              </a:rPr>
              <a:t>호에 해당하여 침해가 아니다</a:t>
            </a:r>
            <a:r>
              <a:rPr lang="en-US" altLang="ko-KR" sz="1100" dirty="0">
                <a:solidFill>
                  <a:schemeClr val="tx1"/>
                </a:solidFill>
                <a:latin typeface="+mn-ea"/>
              </a:rPr>
              <a:t>.</a:t>
            </a:r>
            <a:endParaRPr lang="ko-KR" altLang="en-US" sz="1100" dirty="0">
              <a:solidFill>
                <a:schemeClr val="tx1"/>
              </a:solidFill>
              <a:latin typeface="+mn-ea"/>
            </a:endParaRPr>
          </a:p>
        </p:txBody>
      </p:sp>
      <p:sp>
        <p:nvSpPr>
          <p:cNvPr id="2" name="제목 1"/>
          <p:cNvSpPr>
            <a:spLocks noGrp="1"/>
          </p:cNvSpPr>
          <p:nvPr>
            <p:ph type="title"/>
          </p:nvPr>
        </p:nvSpPr>
        <p:spPr/>
        <p:txBody>
          <a:bodyPr/>
          <a:lstStyle/>
          <a:p>
            <a:r>
              <a:rPr lang="ko-KR" altLang="en-US" dirty="0"/>
              <a:t>제</a:t>
            </a:r>
            <a:r>
              <a:rPr lang="en-US" altLang="ko-KR" dirty="0"/>
              <a:t>127</a:t>
            </a:r>
            <a:r>
              <a:rPr lang="ko-KR" altLang="en-US" dirty="0"/>
              <a:t>조</a:t>
            </a:r>
          </a:p>
        </p:txBody>
      </p:sp>
      <p:sp>
        <p:nvSpPr>
          <p:cNvPr id="3" name="텍스트 개체 틀 2"/>
          <p:cNvSpPr>
            <a:spLocks noGrp="1"/>
          </p:cNvSpPr>
          <p:nvPr>
            <p:ph type="body" sz="quarter" idx="13"/>
          </p:nvPr>
        </p:nvSpPr>
        <p:spPr/>
        <p:txBody>
          <a:bodyPr/>
          <a:lstStyle/>
          <a:p>
            <a:r>
              <a:rPr lang="ko-KR" altLang="en-US" dirty="0" err="1">
                <a:solidFill>
                  <a:srgbClr val="525252"/>
                </a:solidFill>
              </a:rPr>
              <a:t>마찰교반용접방법</a:t>
            </a:r>
            <a:r>
              <a:rPr lang="ko-KR" altLang="en-US" dirty="0">
                <a:solidFill>
                  <a:srgbClr val="525252"/>
                </a:solidFill>
              </a:rPr>
              <a:t> </a:t>
            </a:r>
            <a:r>
              <a:rPr lang="en-US" altLang="ko-KR" dirty="0">
                <a:solidFill>
                  <a:srgbClr val="525252"/>
                </a:solidFill>
              </a:rPr>
              <a:t>CASE</a:t>
            </a:r>
            <a:endParaRPr lang="ko-KR" altLang="en-US" dirty="0">
              <a:solidFill>
                <a:srgbClr val="525252"/>
              </a:solidFill>
            </a:endParaRPr>
          </a:p>
        </p:txBody>
      </p:sp>
      <p:sp>
        <p:nvSpPr>
          <p:cNvPr id="4" name="슬라이드 번호 개체 틀 3"/>
          <p:cNvSpPr>
            <a:spLocks noGrp="1"/>
          </p:cNvSpPr>
          <p:nvPr>
            <p:ph type="sldNum" sz="quarter" idx="4294967295"/>
          </p:nvPr>
        </p:nvSpPr>
        <p:spPr>
          <a:xfrm>
            <a:off x="11125200" y="0"/>
            <a:ext cx="1066800" cy="744538"/>
          </a:xfrm>
        </p:spPr>
        <p:txBody>
          <a:bodyPr/>
          <a:lstStyle/>
          <a:p>
            <a:r>
              <a:rPr lang="en-US" altLang="ko-KR"/>
              <a:t>392</a:t>
            </a:r>
            <a:endParaRPr lang="ko-KR" altLang="en-US"/>
          </a:p>
        </p:txBody>
      </p:sp>
      <p:sp>
        <p:nvSpPr>
          <p:cNvPr id="46" name="모서리가 둥근 직사각형 10">
            <a:extLst>
              <a:ext uri="{FF2B5EF4-FFF2-40B4-BE49-F238E27FC236}">
                <a16:creationId xmlns:a16="http://schemas.microsoft.com/office/drawing/2014/main" id="{EA6D0AA3-A795-463F-A932-E97DEE7EE09B}"/>
              </a:ext>
            </a:extLst>
          </p:cNvPr>
          <p:cNvSpPr/>
          <p:nvPr/>
        </p:nvSpPr>
        <p:spPr bwMode="auto">
          <a:xfrm>
            <a:off x="335289" y="1008637"/>
            <a:ext cx="4314352"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200" dirty="0"/>
              <a:t>대법원 </a:t>
            </a:r>
            <a:r>
              <a:rPr lang="en-US" altLang="ko-KR" sz="1200" dirty="0"/>
              <a:t>2019. 2. 28. </a:t>
            </a:r>
            <a:r>
              <a:rPr lang="ko-KR" altLang="en-US" sz="1200" dirty="0"/>
              <a:t>선고 </a:t>
            </a:r>
            <a:r>
              <a:rPr lang="en-US" altLang="ko-KR" sz="1200" dirty="0"/>
              <a:t>2017</a:t>
            </a:r>
            <a:r>
              <a:rPr lang="ko-KR" altLang="en-US" sz="1200" dirty="0"/>
              <a:t>다</a:t>
            </a:r>
            <a:r>
              <a:rPr lang="en-US" altLang="ko-KR" sz="1200" dirty="0"/>
              <a:t>290095 </a:t>
            </a:r>
            <a:r>
              <a:rPr lang="ko-KR" altLang="en-US" sz="1200" dirty="0"/>
              <a:t>판결 </a:t>
            </a:r>
            <a:r>
              <a:rPr lang="en-US" altLang="ko-KR" sz="1200" dirty="0"/>
              <a:t>【</a:t>
            </a:r>
            <a:r>
              <a:rPr lang="ko-KR" altLang="en-US" sz="1200" dirty="0"/>
              <a:t>손해배상</a:t>
            </a:r>
            <a:r>
              <a:rPr lang="en-US" altLang="ko-KR" sz="1200" dirty="0"/>
              <a:t>(</a:t>
            </a:r>
            <a:r>
              <a:rPr lang="ko-KR" altLang="en-US" sz="1200" dirty="0"/>
              <a:t>지</a:t>
            </a:r>
            <a:r>
              <a:rPr lang="en-US" altLang="ko-KR" sz="1200" dirty="0"/>
              <a:t>)】</a:t>
            </a:r>
          </a:p>
        </p:txBody>
      </p:sp>
      <p:sp>
        <p:nvSpPr>
          <p:cNvPr id="6" name="직사각형 5">
            <a:extLst>
              <a:ext uri="{FF2B5EF4-FFF2-40B4-BE49-F238E27FC236}">
                <a16:creationId xmlns:a16="http://schemas.microsoft.com/office/drawing/2014/main" id="{D8297537-B24B-4300-B18D-EAD87B250EF1}"/>
              </a:ext>
            </a:extLst>
          </p:cNvPr>
          <p:cNvSpPr/>
          <p:nvPr/>
        </p:nvSpPr>
        <p:spPr>
          <a:xfrm>
            <a:off x="232372" y="1363747"/>
            <a:ext cx="11887741" cy="938719"/>
          </a:xfrm>
          <a:prstGeom prst="rect">
            <a:avLst/>
          </a:prstGeom>
        </p:spPr>
        <p:txBody>
          <a:bodyPr wrap="square">
            <a:spAutoFit/>
          </a:bodyPr>
          <a:lstStyle/>
          <a:p>
            <a:r>
              <a:rPr lang="ko-KR" altLang="en-US" sz="1100" dirty="0"/>
              <a:t>방법의 발명</a:t>
            </a:r>
            <a:r>
              <a:rPr lang="en-US" altLang="ko-KR" sz="1100" dirty="0"/>
              <a:t>(</a:t>
            </a:r>
            <a:r>
              <a:rPr lang="ko-KR" altLang="en-US" sz="1100" dirty="0"/>
              <a:t>이하 ‘</a:t>
            </a:r>
            <a:r>
              <a:rPr lang="ko-KR" altLang="en-US" sz="1100" dirty="0" err="1"/>
              <a:t>방법발명’이라고</a:t>
            </a:r>
            <a:r>
              <a:rPr lang="ko-KR" altLang="en-US" sz="1100" dirty="0"/>
              <a:t> 한다</a:t>
            </a:r>
            <a:r>
              <a:rPr lang="en-US" altLang="ko-KR" sz="1100" dirty="0"/>
              <a:t>)</a:t>
            </a:r>
            <a:r>
              <a:rPr lang="ko-KR" altLang="en-US" sz="1100" dirty="0"/>
              <a:t>에 관한 특허권자로부터 허락을 받은 </a:t>
            </a:r>
            <a:r>
              <a:rPr lang="ko-KR" altLang="en-US" sz="1100" dirty="0" err="1"/>
              <a:t>실시권자가</a:t>
            </a:r>
            <a:r>
              <a:rPr lang="ko-KR" altLang="en-US" sz="1100" dirty="0"/>
              <a:t> 제</a:t>
            </a:r>
            <a:r>
              <a:rPr lang="en-US" altLang="ko-KR" sz="1100" dirty="0"/>
              <a:t>3</a:t>
            </a:r>
            <a:r>
              <a:rPr lang="ko-KR" altLang="en-US" sz="1100" dirty="0"/>
              <a:t>자에게 그 방법의 실시에만 사용하는 물건</a:t>
            </a:r>
            <a:r>
              <a:rPr lang="en-US" altLang="ko-KR" sz="1100" dirty="0"/>
              <a:t>(</a:t>
            </a:r>
            <a:r>
              <a:rPr lang="ko-KR" altLang="en-US" sz="1100" dirty="0"/>
              <a:t>이하 ‘</a:t>
            </a:r>
            <a:r>
              <a:rPr lang="ko-KR" altLang="en-US" sz="1100" dirty="0" err="1"/>
              <a:t>전용품’이라고</a:t>
            </a:r>
            <a:r>
              <a:rPr lang="ko-KR" altLang="en-US" sz="1100" dirty="0"/>
              <a:t> 한다</a:t>
            </a:r>
            <a:r>
              <a:rPr lang="en-US" altLang="ko-KR" sz="1100" dirty="0"/>
              <a:t>)</a:t>
            </a:r>
            <a:r>
              <a:rPr lang="ko-KR" altLang="en-US" sz="1100" dirty="0"/>
              <a:t>의 제작을 의뢰하여 그로부터 전용품을 공급받아 방법발명을 실시하는 경우에 있어서 그러한 제</a:t>
            </a:r>
            <a:r>
              <a:rPr lang="en-US" altLang="ko-KR" sz="1100" dirty="0"/>
              <a:t>3</a:t>
            </a:r>
            <a:r>
              <a:rPr lang="ko-KR" altLang="en-US" sz="1100" dirty="0"/>
              <a:t>자의 </a:t>
            </a:r>
            <a:r>
              <a:rPr lang="ko-KR" altLang="en-US" sz="1100" dirty="0" err="1"/>
              <a:t>전용품</a:t>
            </a:r>
            <a:r>
              <a:rPr lang="ko-KR" altLang="en-US" sz="1100" dirty="0"/>
              <a:t> 생산</a:t>
            </a:r>
            <a:r>
              <a:rPr lang="en-US" altLang="ko-KR" sz="1100" dirty="0"/>
              <a:t>․</a:t>
            </a:r>
            <a:r>
              <a:rPr lang="ko-KR" altLang="en-US" sz="1100" dirty="0"/>
              <a:t>양도 등의 행위를 특허권의 간접침해로 인정하면</a:t>
            </a:r>
            <a:r>
              <a:rPr lang="en-US" altLang="ko-KR" sz="1100" dirty="0"/>
              <a:t>, </a:t>
            </a:r>
            <a:r>
              <a:rPr lang="ko-KR" altLang="en-US" sz="1100" dirty="0" err="1">
                <a:solidFill>
                  <a:schemeClr val="accent3">
                    <a:lumMod val="50000"/>
                  </a:schemeClr>
                </a:solidFill>
                <a:highlight>
                  <a:srgbClr val="FFFF00"/>
                </a:highlight>
              </a:rPr>
              <a:t>실시권자의</a:t>
            </a:r>
            <a:r>
              <a:rPr lang="ko-KR" altLang="en-US" sz="1100" dirty="0">
                <a:solidFill>
                  <a:schemeClr val="accent3">
                    <a:lumMod val="50000"/>
                  </a:schemeClr>
                </a:solidFill>
                <a:highlight>
                  <a:srgbClr val="FFFF00"/>
                </a:highlight>
              </a:rPr>
              <a:t> 실시권에 부당한 제약을 가하게 되고</a:t>
            </a:r>
            <a:r>
              <a:rPr lang="en-US" altLang="ko-KR" sz="1100" dirty="0">
                <a:solidFill>
                  <a:schemeClr val="accent3">
                    <a:lumMod val="50000"/>
                  </a:schemeClr>
                </a:solidFill>
                <a:highlight>
                  <a:srgbClr val="FFFF00"/>
                </a:highlight>
              </a:rPr>
              <a:t>, </a:t>
            </a:r>
            <a:r>
              <a:rPr lang="ko-KR" altLang="en-US" sz="1100" dirty="0">
                <a:solidFill>
                  <a:schemeClr val="accent3">
                    <a:lumMod val="50000"/>
                  </a:schemeClr>
                </a:solidFill>
                <a:highlight>
                  <a:srgbClr val="FFFF00"/>
                </a:highlight>
              </a:rPr>
              <a:t>특허권이 부당하게 확장되는 결과</a:t>
            </a:r>
            <a:r>
              <a:rPr lang="ko-KR" altLang="en-US" sz="1100" dirty="0"/>
              <a:t>를 초래한다</a:t>
            </a:r>
            <a:r>
              <a:rPr lang="en-US" altLang="ko-KR" sz="1100" dirty="0"/>
              <a:t>. </a:t>
            </a:r>
            <a:r>
              <a:rPr lang="ko-KR" altLang="en-US" sz="1100" dirty="0"/>
              <a:t>또한</a:t>
            </a:r>
            <a:r>
              <a:rPr lang="en-US" altLang="ko-KR" sz="1100" dirty="0"/>
              <a:t>, </a:t>
            </a:r>
            <a:r>
              <a:rPr lang="ko-KR" altLang="en-US" sz="1100" dirty="0"/>
              <a:t>특허권자는 실시권을 설정할 때 제</a:t>
            </a:r>
            <a:r>
              <a:rPr lang="en-US" altLang="ko-KR" sz="1100" dirty="0"/>
              <a:t>3</a:t>
            </a:r>
            <a:r>
              <a:rPr lang="ko-KR" altLang="en-US" sz="1100" dirty="0"/>
              <a:t>자로부터 전용품을 공급받아 방법발명을 실시할 것까지 예상하여 실시료를 책정하는 등의 방법으로 </a:t>
            </a:r>
            <a:r>
              <a:rPr lang="ko-KR" altLang="en-US" sz="1100" dirty="0">
                <a:solidFill>
                  <a:schemeClr val="accent3">
                    <a:lumMod val="50000"/>
                  </a:schemeClr>
                </a:solidFill>
                <a:highlight>
                  <a:srgbClr val="FFFF00"/>
                </a:highlight>
              </a:rPr>
              <a:t>당해 특허권의 가치에 상응하는 이윤을 회수할 </a:t>
            </a:r>
            <a:r>
              <a:rPr lang="ko-KR" altLang="en-US" sz="1100" dirty="0"/>
              <a:t>수 있으므로</a:t>
            </a:r>
            <a:r>
              <a:rPr lang="en-US" altLang="ko-KR" sz="1100" dirty="0"/>
              <a:t>, </a:t>
            </a:r>
            <a:r>
              <a:rPr lang="ko-KR" altLang="en-US" sz="1100" dirty="0" err="1"/>
              <a:t>실시권자가</a:t>
            </a:r>
            <a:r>
              <a:rPr lang="ko-KR" altLang="en-US" sz="1100" dirty="0"/>
              <a:t> 제</a:t>
            </a:r>
            <a:r>
              <a:rPr lang="en-US" altLang="ko-KR" sz="1100" dirty="0"/>
              <a:t>3</a:t>
            </a:r>
            <a:r>
              <a:rPr lang="ko-KR" altLang="en-US" sz="1100" dirty="0"/>
              <a:t>자로부터 전용품을 공급받는다고 하여 특허권자의 독점적 이익이 새롭게 침해된다고 보기도 어렵다</a:t>
            </a:r>
            <a:r>
              <a:rPr lang="en-US" altLang="ko-KR" sz="1100" dirty="0"/>
              <a:t>. </a:t>
            </a:r>
            <a:r>
              <a:rPr lang="ko-KR" altLang="en-US" sz="1100" dirty="0"/>
              <a:t>따라서 방법발명에 관한 특허권자로부터 허락을 받은 </a:t>
            </a:r>
            <a:r>
              <a:rPr lang="ko-KR" altLang="en-US" sz="1100" dirty="0" err="1"/>
              <a:t>실시권자가</a:t>
            </a:r>
            <a:r>
              <a:rPr lang="ko-KR" altLang="en-US" sz="1100" dirty="0"/>
              <a:t> 제</a:t>
            </a:r>
            <a:r>
              <a:rPr lang="en-US" altLang="ko-KR" sz="1100" dirty="0"/>
              <a:t>3</a:t>
            </a:r>
            <a:r>
              <a:rPr lang="ko-KR" altLang="en-US" sz="1100" dirty="0"/>
              <a:t>자에게 전용품의 제작을 의뢰하여 그로부터 전용품을 공급받아 방법발명을 실시하는 경우에 있어서 그러한 제</a:t>
            </a:r>
            <a:r>
              <a:rPr lang="en-US" altLang="ko-KR" sz="1100" dirty="0"/>
              <a:t>3</a:t>
            </a:r>
            <a:r>
              <a:rPr lang="ko-KR" altLang="en-US" sz="1100" dirty="0"/>
              <a:t>자의 </a:t>
            </a:r>
            <a:r>
              <a:rPr lang="ko-KR" altLang="en-US" sz="1100" dirty="0" err="1"/>
              <a:t>전용품</a:t>
            </a:r>
            <a:r>
              <a:rPr lang="ko-KR" altLang="en-US" sz="1100" dirty="0"/>
              <a:t> 생산</a:t>
            </a:r>
            <a:r>
              <a:rPr lang="en-US" altLang="ko-KR" sz="1100" dirty="0"/>
              <a:t>․</a:t>
            </a:r>
            <a:r>
              <a:rPr lang="ko-KR" altLang="en-US" sz="1100" dirty="0"/>
              <a:t>양도 등의 행위는 특허권의 간접침해에 해당한다고 볼 수 없다</a:t>
            </a:r>
            <a:r>
              <a:rPr lang="en-US" altLang="ko-KR" sz="1100" dirty="0"/>
              <a:t>.</a:t>
            </a:r>
          </a:p>
        </p:txBody>
      </p:sp>
      <p:cxnSp>
        <p:nvCxnSpPr>
          <p:cNvPr id="9" name="직선 연결선 8">
            <a:extLst>
              <a:ext uri="{FF2B5EF4-FFF2-40B4-BE49-F238E27FC236}">
                <a16:creationId xmlns:a16="http://schemas.microsoft.com/office/drawing/2014/main" id="{27560635-7B31-42FF-9B26-81D9C5FE6CE1}"/>
              </a:ext>
            </a:extLst>
          </p:cNvPr>
          <p:cNvCxnSpPr/>
          <p:nvPr/>
        </p:nvCxnSpPr>
        <p:spPr>
          <a:xfrm>
            <a:off x="0" y="2360585"/>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Line 5">
            <a:extLst>
              <a:ext uri="{FF2B5EF4-FFF2-40B4-BE49-F238E27FC236}">
                <a16:creationId xmlns:a16="http://schemas.microsoft.com/office/drawing/2014/main" id="{0BEAE8CA-D13F-4977-A54A-833036EDBC7A}"/>
              </a:ext>
            </a:extLst>
          </p:cNvPr>
          <p:cNvSpPr>
            <a:spLocks noChangeShapeType="1"/>
          </p:cNvSpPr>
          <p:nvPr/>
        </p:nvSpPr>
        <p:spPr bwMode="auto">
          <a:xfrm>
            <a:off x="359257" y="3012884"/>
            <a:ext cx="11555101" cy="0"/>
          </a:xfrm>
          <a:prstGeom prst="line">
            <a:avLst/>
          </a:prstGeom>
          <a:noFill/>
          <a:ln w="57150">
            <a:solidFill>
              <a:schemeClr val="bg1">
                <a:lumMod val="50000"/>
              </a:schemeClr>
            </a:solidFill>
            <a:round/>
            <a:headEnd/>
            <a:tailEnd type="stealth" w="med" len="med"/>
          </a:ln>
        </p:spPr>
        <p:txBody>
          <a:bodyPr/>
          <a:lstStyle/>
          <a:p>
            <a:endParaRPr lang="ko-KR" altLang="en-US" sz="1100">
              <a:latin typeface="+mn-ea"/>
            </a:endParaRPr>
          </a:p>
        </p:txBody>
      </p:sp>
      <p:sp>
        <p:nvSpPr>
          <p:cNvPr id="20" name="TextBox 19">
            <a:extLst>
              <a:ext uri="{FF2B5EF4-FFF2-40B4-BE49-F238E27FC236}">
                <a16:creationId xmlns:a16="http://schemas.microsoft.com/office/drawing/2014/main" id="{3EA6D475-FAFA-4A69-BABE-E114DE552074}"/>
              </a:ext>
            </a:extLst>
          </p:cNvPr>
          <p:cNvSpPr txBox="1"/>
          <p:nvPr/>
        </p:nvSpPr>
        <p:spPr>
          <a:xfrm>
            <a:off x="626189" y="3269059"/>
            <a:ext cx="638315" cy="276999"/>
          </a:xfrm>
          <a:prstGeom prst="rect">
            <a:avLst/>
          </a:prstGeom>
          <a:solidFill>
            <a:schemeClr val="accent2"/>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甲 등록</a:t>
            </a:r>
          </a:p>
        </p:txBody>
      </p:sp>
      <p:sp>
        <p:nvSpPr>
          <p:cNvPr id="23" name="타원 22">
            <a:extLst>
              <a:ext uri="{FF2B5EF4-FFF2-40B4-BE49-F238E27FC236}">
                <a16:creationId xmlns:a16="http://schemas.microsoft.com/office/drawing/2014/main" id="{7D8F240F-02EC-41B5-BA72-840A15F086A4}"/>
              </a:ext>
            </a:extLst>
          </p:cNvPr>
          <p:cNvSpPr/>
          <p:nvPr/>
        </p:nvSpPr>
        <p:spPr>
          <a:xfrm>
            <a:off x="867977" y="29189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25" name="직선 연결선 24">
            <a:extLst>
              <a:ext uri="{FF2B5EF4-FFF2-40B4-BE49-F238E27FC236}">
                <a16:creationId xmlns:a16="http://schemas.microsoft.com/office/drawing/2014/main" id="{F1B8DF3E-919A-4473-8D03-48A2196079D8}"/>
              </a:ext>
            </a:extLst>
          </p:cNvPr>
          <p:cNvCxnSpPr>
            <a:stCxn id="20" idx="0"/>
            <a:endCxn id="23" idx="4"/>
          </p:cNvCxnSpPr>
          <p:nvPr/>
        </p:nvCxnSpPr>
        <p:spPr>
          <a:xfrm flipH="1" flipV="1">
            <a:off x="945346" y="308028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1A1F400C-EA48-4876-9FDE-A22E6F3F4695}"/>
              </a:ext>
            </a:extLst>
          </p:cNvPr>
          <p:cNvSpPr txBox="1"/>
          <p:nvPr/>
        </p:nvSpPr>
        <p:spPr>
          <a:xfrm>
            <a:off x="243056" y="3654866"/>
            <a:ext cx="1404582" cy="26161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a:solidFill>
                  <a:schemeClr val="tx1"/>
                </a:solidFill>
                <a:latin typeface="+mn-ea"/>
              </a:rPr>
              <a:t>마찰교반용접방법</a:t>
            </a:r>
            <a:endParaRPr lang="ko-KR" altLang="en-US" sz="1100" dirty="0">
              <a:solidFill>
                <a:schemeClr val="tx1"/>
              </a:solidFill>
              <a:latin typeface="+mn-ea"/>
            </a:endParaRPr>
          </a:p>
        </p:txBody>
      </p:sp>
      <p:cxnSp>
        <p:nvCxnSpPr>
          <p:cNvPr id="27" name="직선 연결선 26">
            <a:extLst>
              <a:ext uri="{FF2B5EF4-FFF2-40B4-BE49-F238E27FC236}">
                <a16:creationId xmlns:a16="http://schemas.microsoft.com/office/drawing/2014/main" id="{46B11F7C-C520-4C40-AE96-8A5FDCFC7CB7}"/>
              </a:ext>
            </a:extLst>
          </p:cNvPr>
          <p:cNvCxnSpPr>
            <a:cxnSpLocks/>
            <a:stCxn id="20" idx="2"/>
            <a:endCxn id="26" idx="0"/>
          </p:cNvCxnSpPr>
          <p:nvPr/>
        </p:nvCxnSpPr>
        <p:spPr>
          <a:xfrm>
            <a:off x="945347" y="3546058"/>
            <a:ext cx="0" cy="10880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7D880596-5377-47E7-B1A1-12758BAEE06A}"/>
              </a:ext>
            </a:extLst>
          </p:cNvPr>
          <p:cNvSpPr txBox="1"/>
          <p:nvPr/>
        </p:nvSpPr>
        <p:spPr>
          <a:xfrm>
            <a:off x="1528289" y="3269059"/>
            <a:ext cx="1229824" cy="276999"/>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乙과 </a:t>
            </a:r>
            <a:r>
              <a:rPr lang="ko-KR" altLang="en-US" sz="1200" dirty="0" err="1">
                <a:solidFill>
                  <a:schemeClr val="tx1"/>
                </a:solidFill>
                <a:latin typeface="+mn-ea"/>
              </a:rPr>
              <a:t>실시권</a:t>
            </a:r>
            <a:r>
              <a:rPr lang="ko-KR" altLang="en-US" sz="1200" dirty="0">
                <a:solidFill>
                  <a:schemeClr val="tx1"/>
                </a:solidFill>
                <a:latin typeface="+mn-ea"/>
              </a:rPr>
              <a:t> 계약</a:t>
            </a:r>
          </a:p>
        </p:txBody>
      </p:sp>
      <p:sp>
        <p:nvSpPr>
          <p:cNvPr id="29" name="타원 28">
            <a:extLst>
              <a:ext uri="{FF2B5EF4-FFF2-40B4-BE49-F238E27FC236}">
                <a16:creationId xmlns:a16="http://schemas.microsoft.com/office/drawing/2014/main" id="{325FBB2C-39BD-4FBE-A446-239C71A010F9}"/>
              </a:ext>
            </a:extLst>
          </p:cNvPr>
          <p:cNvSpPr/>
          <p:nvPr/>
        </p:nvSpPr>
        <p:spPr>
          <a:xfrm>
            <a:off x="2065830" y="29189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30" name="직선 연결선 29">
            <a:extLst>
              <a:ext uri="{FF2B5EF4-FFF2-40B4-BE49-F238E27FC236}">
                <a16:creationId xmlns:a16="http://schemas.microsoft.com/office/drawing/2014/main" id="{D8DC5584-BA3E-4B6E-B3AA-AEEB97BB7F1A}"/>
              </a:ext>
            </a:extLst>
          </p:cNvPr>
          <p:cNvCxnSpPr>
            <a:stCxn id="28" idx="0"/>
            <a:endCxn id="29" idx="4"/>
          </p:cNvCxnSpPr>
          <p:nvPr/>
        </p:nvCxnSpPr>
        <p:spPr>
          <a:xfrm flipH="1" flipV="1">
            <a:off x="2143199" y="3080288"/>
            <a:ext cx="2"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594BAF2C-82E4-432A-A1E9-2D41735E4AE9}"/>
              </a:ext>
            </a:extLst>
          </p:cNvPr>
          <p:cNvSpPr txBox="1"/>
          <p:nvPr/>
        </p:nvSpPr>
        <p:spPr>
          <a:xfrm>
            <a:off x="214509" y="4267920"/>
            <a:ext cx="1640169" cy="144655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228600" indent="-228600" algn="just">
              <a:buAutoNum type="arabicPeriod"/>
            </a:pPr>
            <a:r>
              <a:rPr lang="ko-KR" altLang="en-US" sz="1100" dirty="0">
                <a:solidFill>
                  <a:schemeClr val="tx1"/>
                </a:solidFill>
                <a:latin typeface="+mn-ea"/>
              </a:rPr>
              <a:t>甲은 乙에게 구분 가능한 乙의 장소에서 이 사건 특허발명을 비독점적으로 사용할 것을 허락한다</a:t>
            </a:r>
            <a:r>
              <a:rPr lang="en-US" altLang="ko-KR" sz="1100" dirty="0">
                <a:solidFill>
                  <a:schemeClr val="tx1"/>
                </a:solidFill>
                <a:latin typeface="+mn-ea"/>
              </a:rPr>
              <a:t>.</a:t>
            </a:r>
          </a:p>
          <a:p>
            <a:pPr marL="228600" indent="-228600" algn="just">
              <a:buAutoNum type="arabicPeriod"/>
            </a:pPr>
            <a:r>
              <a:rPr lang="ko-KR" altLang="en-US" sz="1100" dirty="0">
                <a:solidFill>
                  <a:schemeClr val="tx1"/>
                </a:solidFill>
                <a:latin typeface="+mn-ea"/>
              </a:rPr>
              <a:t>乙은 다른 자에게 실시권을 허락할 수 없다</a:t>
            </a:r>
            <a:r>
              <a:rPr lang="en-US" altLang="ko-KR" sz="1100" dirty="0">
                <a:solidFill>
                  <a:schemeClr val="tx1"/>
                </a:solidFill>
                <a:latin typeface="+mn-ea"/>
              </a:rPr>
              <a:t>.</a:t>
            </a:r>
            <a:endParaRPr lang="ko-KR" altLang="en-US" sz="1100" dirty="0">
              <a:solidFill>
                <a:schemeClr val="tx1"/>
              </a:solidFill>
              <a:latin typeface="+mn-ea"/>
            </a:endParaRPr>
          </a:p>
        </p:txBody>
      </p:sp>
      <p:sp>
        <p:nvSpPr>
          <p:cNvPr id="34" name="TextBox 33">
            <a:extLst>
              <a:ext uri="{FF2B5EF4-FFF2-40B4-BE49-F238E27FC236}">
                <a16:creationId xmlns:a16="http://schemas.microsoft.com/office/drawing/2014/main" id="{5BC67740-5B79-4DDC-84A1-3A8DD2041654}"/>
              </a:ext>
            </a:extLst>
          </p:cNvPr>
          <p:cNvSpPr txBox="1"/>
          <p:nvPr/>
        </p:nvSpPr>
        <p:spPr>
          <a:xfrm>
            <a:off x="2952027" y="3269059"/>
            <a:ext cx="638315" cy="276999"/>
          </a:xfrm>
          <a:prstGeom prst="rect">
            <a:avLst/>
          </a:prstGeom>
          <a:solidFill>
            <a:schemeClr val="accent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丙 행위</a:t>
            </a:r>
          </a:p>
        </p:txBody>
      </p:sp>
      <p:sp>
        <p:nvSpPr>
          <p:cNvPr id="35" name="타원 34">
            <a:extLst>
              <a:ext uri="{FF2B5EF4-FFF2-40B4-BE49-F238E27FC236}">
                <a16:creationId xmlns:a16="http://schemas.microsoft.com/office/drawing/2014/main" id="{12BF61E5-8B98-4840-91E2-546C37F9451A}"/>
              </a:ext>
            </a:extLst>
          </p:cNvPr>
          <p:cNvSpPr/>
          <p:nvPr/>
        </p:nvSpPr>
        <p:spPr>
          <a:xfrm>
            <a:off x="3193816" y="29189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38" name="직선 연결선 37">
            <a:extLst>
              <a:ext uri="{FF2B5EF4-FFF2-40B4-BE49-F238E27FC236}">
                <a16:creationId xmlns:a16="http://schemas.microsoft.com/office/drawing/2014/main" id="{96E1D573-F133-411F-8759-CCB2D3680CA9}"/>
              </a:ext>
            </a:extLst>
          </p:cNvPr>
          <p:cNvCxnSpPr>
            <a:stCxn id="34" idx="0"/>
            <a:endCxn id="35" idx="4"/>
          </p:cNvCxnSpPr>
          <p:nvPr/>
        </p:nvCxnSpPr>
        <p:spPr>
          <a:xfrm flipV="1">
            <a:off x="3271185" y="3080288"/>
            <a:ext cx="0"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D9CB9059-D662-42C5-8B61-D5AB8BD8CA4F}"/>
              </a:ext>
            </a:extLst>
          </p:cNvPr>
          <p:cNvSpPr txBox="1"/>
          <p:nvPr/>
        </p:nvSpPr>
        <p:spPr>
          <a:xfrm>
            <a:off x="9895979" y="3200049"/>
            <a:ext cx="460382" cy="276999"/>
          </a:xfrm>
          <a:prstGeom prst="rect">
            <a:avLst/>
          </a:prstGeom>
          <a:solidFill>
            <a:schemeClr val="tx2"/>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bg1">
                    <a:lumMod val="95000"/>
                  </a:schemeClr>
                </a:solidFill>
                <a:latin typeface="+mn-ea"/>
              </a:rPr>
              <a:t>판단</a:t>
            </a:r>
          </a:p>
        </p:txBody>
      </p:sp>
      <p:sp>
        <p:nvSpPr>
          <p:cNvPr id="40" name="타원 39">
            <a:extLst>
              <a:ext uri="{FF2B5EF4-FFF2-40B4-BE49-F238E27FC236}">
                <a16:creationId xmlns:a16="http://schemas.microsoft.com/office/drawing/2014/main" id="{82251259-CCB1-45F1-8B5F-A3238466F5DE}"/>
              </a:ext>
            </a:extLst>
          </p:cNvPr>
          <p:cNvSpPr/>
          <p:nvPr/>
        </p:nvSpPr>
        <p:spPr>
          <a:xfrm>
            <a:off x="10048801" y="29189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41" name="직선 연결선 40">
            <a:extLst>
              <a:ext uri="{FF2B5EF4-FFF2-40B4-BE49-F238E27FC236}">
                <a16:creationId xmlns:a16="http://schemas.microsoft.com/office/drawing/2014/main" id="{886A1B5D-764D-4029-962B-2DCB60A496DF}"/>
              </a:ext>
            </a:extLst>
          </p:cNvPr>
          <p:cNvCxnSpPr>
            <a:cxnSpLocks/>
            <a:stCxn id="39" idx="0"/>
            <a:endCxn id="40" idx="4"/>
          </p:cNvCxnSpPr>
          <p:nvPr/>
        </p:nvCxnSpPr>
        <p:spPr>
          <a:xfrm flipV="1">
            <a:off x="10126170" y="3080288"/>
            <a:ext cx="0" cy="11976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43142002-6944-4E0A-B7CD-37AEDF1F8AB8}"/>
              </a:ext>
            </a:extLst>
          </p:cNvPr>
          <p:cNvSpPr txBox="1"/>
          <p:nvPr/>
        </p:nvSpPr>
        <p:spPr>
          <a:xfrm>
            <a:off x="2130229" y="4141694"/>
            <a:ext cx="1848302" cy="2130724"/>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oAutofit/>
          </a:bodyPr>
          <a:lstStyle/>
          <a:p>
            <a:pPr marL="228600" indent="-228600" algn="just">
              <a:buAutoNum type="arabicPeriod"/>
            </a:pPr>
            <a:r>
              <a:rPr lang="ko-KR" altLang="en-US" sz="1100" dirty="0" err="1">
                <a:solidFill>
                  <a:schemeClr val="tx1"/>
                </a:solidFill>
                <a:latin typeface="+mn-ea"/>
              </a:rPr>
              <a:t>마찰교반용접방법의</a:t>
            </a:r>
            <a:r>
              <a:rPr lang="ko-KR" altLang="en-US" sz="1100" dirty="0">
                <a:solidFill>
                  <a:schemeClr val="tx1"/>
                </a:solidFill>
                <a:latin typeface="+mn-ea"/>
              </a:rPr>
              <a:t> 사용에만 사용되는 </a:t>
            </a:r>
            <a:r>
              <a:rPr lang="ko-KR" altLang="en-US" sz="1100" dirty="0" err="1">
                <a:solidFill>
                  <a:schemeClr val="tx1"/>
                </a:solidFill>
                <a:latin typeface="+mn-ea"/>
              </a:rPr>
              <a:t>마찰교반용접기를</a:t>
            </a:r>
            <a:r>
              <a:rPr lang="ko-KR" altLang="en-US" sz="1100" dirty="0">
                <a:solidFill>
                  <a:schemeClr val="tx1"/>
                </a:solidFill>
                <a:latin typeface="+mn-ea"/>
              </a:rPr>
              <a:t> 제작하여 乙에게 납품하고 그 과정에서 </a:t>
            </a:r>
            <a:r>
              <a:rPr lang="ko-KR" altLang="en-US" sz="1100" dirty="0" err="1">
                <a:solidFill>
                  <a:schemeClr val="tx1"/>
                </a:solidFill>
                <a:latin typeface="+mn-ea"/>
              </a:rPr>
              <a:t>마찰교반용접방법을</a:t>
            </a:r>
            <a:r>
              <a:rPr lang="ko-KR" altLang="en-US" sz="1100" dirty="0">
                <a:solidFill>
                  <a:schemeClr val="tx1"/>
                </a:solidFill>
                <a:latin typeface="+mn-ea"/>
              </a:rPr>
              <a:t> 사용하여 </a:t>
            </a:r>
            <a:r>
              <a:rPr lang="ko-KR" altLang="en-US" sz="1100" dirty="0" err="1">
                <a:solidFill>
                  <a:schemeClr val="tx1"/>
                </a:solidFill>
                <a:latin typeface="+mn-ea"/>
              </a:rPr>
              <a:t>마찰교반용접기의</a:t>
            </a:r>
            <a:r>
              <a:rPr lang="ko-KR" altLang="en-US" sz="1100" dirty="0">
                <a:solidFill>
                  <a:schemeClr val="tx1"/>
                </a:solidFill>
                <a:latin typeface="+mn-ea"/>
              </a:rPr>
              <a:t> 검수 및 시연</a:t>
            </a:r>
            <a:endParaRPr lang="en-US" altLang="ko-KR" sz="1100" dirty="0">
              <a:solidFill>
                <a:schemeClr val="tx1"/>
              </a:solidFill>
              <a:latin typeface="+mn-ea"/>
            </a:endParaRPr>
          </a:p>
          <a:p>
            <a:pPr marL="228600" indent="-228600" algn="just">
              <a:buAutoNum type="arabicPeriod"/>
            </a:pPr>
            <a:r>
              <a:rPr lang="ko-KR" altLang="en-US" sz="1100" dirty="0">
                <a:solidFill>
                  <a:schemeClr val="tx1"/>
                </a:solidFill>
                <a:latin typeface="+mn-ea"/>
              </a:rPr>
              <a:t>연구개발사업에 참여하면서 </a:t>
            </a:r>
            <a:r>
              <a:rPr lang="ko-KR" altLang="en-US" sz="1100" dirty="0" err="1">
                <a:solidFill>
                  <a:schemeClr val="tx1"/>
                </a:solidFill>
                <a:latin typeface="+mn-ea"/>
              </a:rPr>
              <a:t>마찰교반용접방법을</a:t>
            </a:r>
            <a:r>
              <a:rPr lang="ko-KR" altLang="en-US" sz="1100" dirty="0">
                <a:solidFill>
                  <a:schemeClr val="tx1"/>
                </a:solidFill>
                <a:latin typeface="+mn-ea"/>
              </a:rPr>
              <a:t> 사용</a:t>
            </a:r>
          </a:p>
        </p:txBody>
      </p:sp>
      <p:cxnSp>
        <p:nvCxnSpPr>
          <p:cNvPr id="16" name="연결선: 꺾임 15">
            <a:extLst>
              <a:ext uri="{FF2B5EF4-FFF2-40B4-BE49-F238E27FC236}">
                <a16:creationId xmlns:a16="http://schemas.microsoft.com/office/drawing/2014/main" id="{95384000-5938-4EA2-9A1E-F889A712D1DD}"/>
              </a:ext>
            </a:extLst>
          </p:cNvPr>
          <p:cNvCxnSpPr>
            <a:cxnSpLocks/>
            <a:stCxn id="31" idx="0"/>
            <a:endCxn id="28" idx="2"/>
          </p:cNvCxnSpPr>
          <p:nvPr/>
        </p:nvCxnSpPr>
        <p:spPr>
          <a:xfrm rot="5400000" flipH="1" flipV="1">
            <a:off x="1227966" y="3352686"/>
            <a:ext cx="721862" cy="1108607"/>
          </a:xfrm>
          <a:prstGeom prst="bentConnector3">
            <a:avLst>
              <a:gd name="adj1" fmla="val 3566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78B638C9-E05E-49F0-9B39-0B86A06F6F7F}"/>
              </a:ext>
            </a:extLst>
          </p:cNvPr>
          <p:cNvSpPr txBox="1"/>
          <p:nvPr/>
        </p:nvSpPr>
        <p:spPr>
          <a:xfrm>
            <a:off x="3674233" y="3269059"/>
            <a:ext cx="1366080" cy="436101"/>
          </a:xfrm>
          <a:prstGeom prst="rect">
            <a:avLst/>
          </a:prstGeom>
          <a:solidFill>
            <a:schemeClr val="accent2"/>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noAutofit/>
          </a:bodyPr>
          <a:lstStyle/>
          <a:p>
            <a:pPr algn="ctr"/>
            <a:r>
              <a:rPr lang="ko-KR" altLang="en-US" sz="1200" dirty="0">
                <a:solidFill>
                  <a:schemeClr val="tx1"/>
                </a:solidFill>
                <a:latin typeface="+mn-ea"/>
              </a:rPr>
              <a:t>甲 침해소송제기</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피고</a:t>
            </a:r>
            <a:r>
              <a:rPr lang="en-US" altLang="ko-KR" sz="1200" dirty="0">
                <a:solidFill>
                  <a:schemeClr val="tx1"/>
                </a:solidFill>
                <a:latin typeface="+mn-ea"/>
              </a:rPr>
              <a:t>: </a:t>
            </a:r>
            <a:r>
              <a:rPr lang="ko-KR" altLang="en-US" sz="1200" dirty="0">
                <a:solidFill>
                  <a:schemeClr val="tx1"/>
                </a:solidFill>
                <a:latin typeface="+mn-ea"/>
              </a:rPr>
              <a:t>丙</a:t>
            </a:r>
            <a:r>
              <a:rPr lang="en-US" altLang="ko-KR" sz="1200" dirty="0">
                <a:solidFill>
                  <a:schemeClr val="tx1"/>
                </a:solidFill>
                <a:latin typeface="+mn-ea"/>
              </a:rPr>
              <a:t>)</a:t>
            </a:r>
          </a:p>
        </p:txBody>
      </p:sp>
      <p:sp>
        <p:nvSpPr>
          <p:cNvPr id="51" name="타원 50">
            <a:extLst>
              <a:ext uri="{FF2B5EF4-FFF2-40B4-BE49-F238E27FC236}">
                <a16:creationId xmlns:a16="http://schemas.microsoft.com/office/drawing/2014/main" id="{DB2547B6-75AA-4AD7-87EF-9D6FC9713D06}"/>
              </a:ext>
            </a:extLst>
          </p:cNvPr>
          <p:cNvSpPr/>
          <p:nvPr/>
        </p:nvSpPr>
        <p:spPr>
          <a:xfrm>
            <a:off x="4279903" y="29189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52" name="직선 연결선 51">
            <a:extLst>
              <a:ext uri="{FF2B5EF4-FFF2-40B4-BE49-F238E27FC236}">
                <a16:creationId xmlns:a16="http://schemas.microsoft.com/office/drawing/2014/main" id="{D86EC74E-9A8D-4B70-9B36-3F3ED17C4142}"/>
              </a:ext>
            </a:extLst>
          </p:cNvPr>
          <p:cNvCxnSpPr>
            <a:cxnSpLocks/>
            <a:stCxn id="50" idx="0"/>
            <a:endCxn id="51" idx="4"/>
          </p:cNvCxnSpPr>
          <p:nvPr/>
        </p:nvCxnSpPr>
        <p:spPr>
          <a:xfrm flipH="1" flipV="1">
            <a:off x="4357272" y="308028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3" name="연결선: 꺾임 52">
            <a:extLst>
              <a:ext uri="{FF2B5EF4-FFF2-40B4-BE49-F238E27FC236}">
                <a16:creationId xmlns:a16="http://schemas.microsoft.com/office/drawing/2014/main" id="{7B6460C3-DCEF-43EF-934E-2A9E9DBCB594}"/>
              </a:ext>
            </a:extLst>
          </p:cNvPr>
          <p:cNvCxnSpPr>
            <a:cxnSpLocks/>
            <a:stCxn id="43" idx="0"/>
            <a:endCxn id="34" idx="2"/>
          </p:cNvCxnSpPr>
          <p:nvPr/>
        </p:nvCxnSpPr>
        <p:spPr>
          <a:xfrm rot="5400000" flipH="1" flipV="1">
            <a:off x="2864964" y="3735474"/>
            <a:ext cx="595636" cy="21680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7F0DBD96-7BFF-44D3-BE31-2D3003C54B2C}"/>
              </a:ext>
            </a:extLst>
          </p:cNvPr>
          <p:cNvSpPr txBox="1"/>
          <p:nvPr/>
        </p:nvSpPr>
        <p:spPr>
          <a:xfrm>
            <a:off x="5177680" y="3269059"/>
            <a:ext cx="638315" cy="276999"/>
          </a:xfrm>
          <a:prstGeom prst="rect">
            <a:avLst/>
          </a:prstGeom>
          <a:solidFill>
            <a:schemeClr val="accent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200" dirty="0">
                <a:solidFill>
                  <a:schemeClr val="tx1"/>
                </a:solidFill>
                <a:latin typeface="+mn-ea"/>
              </a:rPr>
              <a:t>丙 주장</a:t>
            </a:r>
          </a:p>
        </p:txBody>
      </p:sp>
      <p:sp>
        <p:nvSpPr>
          <p:cNvPr id="60" name="타원 59">
            <a:extLst>
              <a:ext uri="{FF2B5EF4-FFF2-40B4-BE49-F238E27FC236}">
                <a16:creationId xmlns:a16="http://schemas.microsoft.com/office/drawing/2014/main" id="{6F448A18-541A-490F-886F-0246F8A2B52E}"/>
              </a:ext>
            </a:extLst>
          </p:cNvPr>
          <p:cNvSpPr/>
          <p:nvPr/>
        </p:nvSpPr>
        <p:spPr>
          <a:xfrm>
            <a:off x="5419470" y="29189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61" name="직선 연결선 60">
            <a:extLst>
              <a:ext uri="{FF2B5EF4-FFF2-40B4-BE49-F238E27FC236}">
                <a16:creationId xmlns:a16="http://schemas.microsoft.com/office/drawing/2014/main" id="{5899BE04-E117-4502-800C-FA46F071BEED}"/>
              </a:ext>
            </a:extLst>
          </p:cNvPr>
          <p:cNvCxnSpPr>
            <a:stCxn id="59" idx="0"/>
            <a:endCxn id="60" idx="4"/>
          </p:cNvCxnSpPr>
          <p:nvPr/>
        </p:nvCxnSpPr>
        <p:spPr>
          <a:xfrm flipV="1">
            <a:off x="5496838" y="308028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2EC6CAA2-0933-4B4B-AF01-CD20A0340689}"/>
              </a:ext>
            </a:extLst>
          </p:cNvPr>
          <p:cNvSpPr txBox="1"/>
          <p:nvPr/>
        </p:nvSpPr>
        <p:spPr>
          <a:xfrm>
            <a:off x="4095079" y="4141693"/>
            <a:ext cx="1736371" cy="213072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oAutofit/>
          </a:bodyPr>
          <a:lstStyle/>
          <a:p>
            <a:pPr algn="just"/>
            <a:r>
              <a:rPr lang="en-US" altLang="ko-KR" sz="1100" dirty="0">
                <a:solidFill>
                  <a:srgbClr val="FF0000"/>
                </a:solidFill>
                <a:latin typeface="+mn-ea"/>
              </a:rPr>
              <a:t>1</a:t>
            </a:r>
            <a:r>
              <a:rPr lang="ko-KR" altLang="en-US" sz="1100" dirty="0">
                <a:solidFill>
                  <a:srgbClr val="FF0000"/>
                </a:solidFill>
                <a:latin typeface="+mn-ea"/>
              </a:rPr>
              <a:t>번 행위와 관련하여</a:t>
            </a:r>
            <a:endParaRPr lang="en-US" altLang="ko-KR" sz="1100" dirty="0">
              <a:solidFill>
                <a:srgbClr val="FF0000"/>
              </a:solidFill>
              <a:latin typeface="+mn-ea"/>
            </a:endParaRPr>
          </a:p>
          <a:p>
            <a:pPr marL="171450" indent="-171450" algn="just">
              <a:buFontTx/>
              <a:buChar char="-"/>
            </a:pPr>
            <a:r>
              <a:rPr lang="ko-KR" altLang="en-US" sz="1100" dirty="0">
                <a:solidFill>
                  <a:schemeClr val="tx1"/>
                </a:solidFill>
                <a:latin typeface="+mn-ea"/>
              </a:rPr>
              <a:t>乙의 기관으로서 행위에 불과하여 침해가 아니다</a:t>
            </a:r>
            <a:r>
              <a:rPr lang="en-US" altLang="ko-KR" sz="1100" dirty="0">
                <a:solidFill>
                  <a:schemeClr val="tx1"/>
                </a:solidFill>
                <a:latin typeface="+mn-ea"/>
              </a:rPr>
              <a:t>.</a:t>
            </a:r>
          </a:p>
          <a:p>
            <a:pPr marL="171450" indent="-171450" algn="just">
              <a:buFontTx/>
              <a:buChar char="-"/>
            </a:pPr>
            <a:r>
              <a:rPr lang="ko-KR" altLang="en-US" sz="1100" dirty="0">
                <a:solidFill>
                  <a:schemeClr val="tx1"/>
                </a:solidFill>
                <a:latin typeface="+mn-ea"/>
              </a:rPr>
              <a:t>乙이 특허발명을 실시하더라도 직접침해가 아니기 때문에 丙의 제작</a:t>
            </a:r>
            <a:r>
              <a:rPr lang="en-US" altLang="ko-KR" sz="1100" dirty="0">
                <a:solidFill>
                  <a:schemeClr val="tx1"/>
                </a:solidFill>
                <a:latin typeface="+mn-ea"/>
              </a:rPr>
              <a:t>, </a:t>
            </a:r>
            <a:r>
              <a:rPr lang="ko-KR" altLang="en-US" sz="1100" dirty="0">
                <a:solidFill>
                  <a:schemeClr val="tx1"/>
                </a:solidFill>
                <a:latin typeface="+mn-ea"/>
              </a:rPr>
              <a:t>납품행위는 간접침해가 아니다</a:t>
            </a:r>
            <a:r>
              <a:rPr lang="en-US" altLang="ko-KR" sz="1100" dirty="0">
                <a:solidFill>
                  <a:schemeClr val="tx1"/>
                </a:solidFill>
                <a:latin typeface="+mn-ea"/>
              </a:rPr>
              <a:t>.</a:t>
            </a:r>
          </a:p>
          <a:p>
            <a:pPr algn="just"/>
            <a:r>
              <a:rPr lang="en-US" altLang="ko-KR" sz="1100" dirty="0">
                <a:solidFill>
                  <a:srgbClr val="FF0000"/>
                </a:solidFill>
                <a:latin typeface="+mn-ea"/>
              </a:rPr>
              <a:t>2</a:t>
            </a:r>
            <a:r>
              <a:rPr lang="ko-KR" altLang="en-US" sz="1100" dirty="0">
                <a:solidFill>
                  <a:srgbClr val="FF0000"/>
                </a:solidFill>
                <a:latin typeface="+mn-ea"/>
              </a:rPr>
              <a:t>번 행위와 관련하여 </a:t>
            </a:r>
            <a:endParaRPr lang="en-US" altLang="ko-KR" sz="1100" dirty="0">
              <a:solidFill>
                <a:srgbClr val="FF0000"/>
              </a:solidFill>
              <a:latin typeface="+mn-ea"/>
            </a:endParaRPr>
          </a:p>
          <a:p>
            <a:pPr marL="171450" indent="-171450" algn="just">
              <a:buFontTx/>
              <a:buChar char="-"/>
            </a:pPr>
            <a:r>
              <a:rPr lang="ko-KR" altLang="en-US" sz="1100" dirty="0">
                <a:solidFill>
                  <a:schemeClr val="tx1"/>
                </a:solidFill>
                <a:latin typeface="+mn-ea"/>
              </a:rPr>
              <a:t>특허법 제</a:t>
            </a:r>
            <a:r>
              <a:rPr lang="en-US" altLang="ko-KR" sz="1100" dirty="0">
                <a:solidFill>
                  <a:schemeClr val="tx1"/>
                </a:solidFill>
                <a:latin typeface="+mn-ea"/>
              </a:rPr>
              <a:t>96</a:t>
            </a:r>
            <a:r>
              <a:rPr lang="ko-KR" altLang="en-US" sz="1100" dirty="0">
                <a:solidFill>
                  <a:schemeClr val="tx1"/>
                </a:solidFill>
                <a:latin typeface="+mn-ea"/>
              </a:rPr>
              <a:t>조제</a:t>
            </a:r>
            <a:r>
              <a:rPr lang="en-US" altLang="ko-KR" sz="1100" dirty="0">
                <a:solidFill>
                  <a:schemeClr val="tx1"/>
                </a:solidFill>
                <a:latin typeface="+mn-ea"/>
              </a:rPr>
              <a:t>1</a:t>
            </a:r>
            <a:r>
              <a:rPr lang="ko-KR" altLang="en-US" sz="1100" dirty="0" err="1">
                <a:solidFill>
                  <a:schemeClr val="tx1"/>
                </a:solidFill>
                <a:latin typeface="+mn-ea"/>
              </a:rPr>
              <a:t>항제</a:t>
            </a:r>
            <a:r>
              <a:rPr lang="en-US" altLang="ko-KR" sz="1100" dirty="0">
                <a:solidFill>
                  <a:schemeClr val="tx1"/>
                </a:solidFill>
                <a:latin typeface="+mn-ea"/>
              </a:rPr>
              <a:t>1</a:t>
            </a:r>
            <a:r>
              <a:rPr lang="ko-KR" altLang="en-US" sz="1100" dirty="0">
                <a:solidFill>
                  <a:schemeClr val="tx1"/>
                </a:solidFill>
                <a:latin typeface="+mn-ea"/>
              </a:rPr>
              <a:t>호에 해당하여 침해가 아니다</a:t>
            </a:r>
            <a:r>
              <a:rPr lang="en-US" altLang="ko-KR" sz="1100" dirty="0">
                <a:solidFill>
                  <a:schemeClr val="tx1"/>
                </a:solidFill>
                <a:latin typeface="+mn-ea"/>
              </a:rPr>
              <a:t>.</a:t>
            </a:r>
            <a:endParaRPr lang="ko-KR" altLang="en-US" sz="1100" dirty="0">
              <a:solidFill>
                <a:schemeClr val="tx1"/>
              </a:solidFill>
              <a:latin typeface="+mn-ea"/>
            </a:endParaRPr>
          </a:p>
        </p:txBody>
      </p:sp>
      <p:cxnSp>
        <p:nvCxnSpPr>
          <p:cNvPr id="63" name="연결선: 꺾임 62">
            <a:extLst>
              <a:ext uri="{FF2B5EF4-FFF2-40B4-BE49-F238E27FC236}">
                <a16:creationId xmlns:a16="http://schemas.microsoft.com/office/drawing/2014/main" id="{5D32DC4B-F985-45C0-B75D-1A9F0E49FA94}"/>
              </a:ext>
            </a:extLst>
          </p:cNvPr>
          <p:cNvCxnSpPr>
            <a:cxnSpLocks/>
            <a:stCxn id="62" idx="0"/>
            <a:endCxn id="59" idx="2"/>
          </p:cNvCxnSpPr>
          <p:nvPr/>
        </p:nvCxnSpPr>
        <p:spPr>
          <a:xfrm rot="5400000" flipH="1" flipV="1">
            <a:off x="4932234" y="3577090"/>
            <a:ext cx="595635" cy="53357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0107590"/>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127</a:t>
            </a:r>
            <a:r>
              <a:rPr lang="ko-KR" altLang="en-US" dirty="0"/>
              <a:t>조</a:t>
            </a:r>
          </a:p>
        </p:txBody>
      </p:sp>
      <p:sp>
        <p:nvSpPr>
          <p:cNvPr id="3" name="텍스트 개체 틀 2"/>
          <p:cNvSpPr>
            <a:spLocks noGrp="1"/>
          </p:cNvSpPr>
          <p:nvPr>
            <p:ph type="body" sz="quarter" idx="13"/>
          </p:nvPr>
        </p:nvSpPr>
        <p:spPr/>
        <p:txBody>
          <a:bodyPr/>
          <a:lstStyle/>
          <a:p>
            <a:r>
              <a:rPr lang="ko-KR" altLang="en-US" dirty="0"/>
              <a:t>직접침해와의 관계</a:t>
            </a:r>
            <a:r>
              <a:rPr lang="en-US" altLang="ko-KR" dirty="0"/>
              <a:t>: </a:t>
            </a:r>
            <a:r>
              <a:rPr lang="ko-KR" altLang="en-US" dirty="0" err="1"/>
              <a:t>독립설</a:t>
            </a:r>
            <a:r>
              <a:rPr lang="ko-KR" altLang="en-US" dirty="0"/>
              <a:t> </a:t>
            </a:r>
            <a:r>
              <a:rPr lang="en-US" altLang="ko-KR" dirty="0"/>
              <a:t>vs </a:t>
            </a:r>
            <a:r>
              <a:rPr lang="ko-KR" altLang="en-US" dirty="0" err="1"/>
              <a:t>종속설</a:t>
            </a:r>
            <a:endParaRPr lang="ko-KR" altLang="en-US" dirty="0"/>
          </a:p>
        </p:txBody>
      </p:sp>
      <p:sp>
        <p:nvSpPr>
          <p:cNvPr id="4" name="슬라이드 번호 개체 틀 3"/>
          <p:cNvSpPr>
            <a:spLocks noGrp="1"/>
          </p:cNvSpPr>
          <p:nvPr>
            <p:ph type="sldNum" sz="quarter" idx="4294967295"/>
          </p:nvPr>
        </p:nvSpPr>
        <p:spPr>
          <a:xfrm>
            <a:off x="11125200" y="0"/>
            <a:ext cx="1066800" cy="744538"/>
          </a:xfrm>
        </p:spPr>
        <p:txBody>
          <a:bodyPr/>
          <a:lstStyle/>
          <a:p>
            <a:r>
              <a:rPr lang="en-US" altLang="ko-KR"/>
              <a:t>393</a:t>
            </a:r>
            <a:endParaRPr lang="ko-KR" altLang="en-US"/>
          </a:p>
        </p:txBody>
      </p:sp>
      <p:sp>
        <p:nvSpPr>
          <p:cNvPr id="6" name="직사각형 5">
            <a:extLst>
              <a:ext uri="{FF2B5EF4-FFF2-40B4-BE49-F238E27FC236}">
                <a16:creationId xmlns:a16="http://schemas.microsoft.com/office/drawing/2014/main" id="{E4E34D99-CE36-40BE-A571-8BCB119D9B11}"/>
              </a:ext>
            </a:extLst>
          </p:cNvPr>
          <p:cNvSpPr/>
          <p:nvPr/>
        </p:nvSpPr>
        <p:spPr>
          <a:xfrm>
            <a:off x="77549" y="997080"/>
            <a:ext cx="4546209" cy="830997"/>
          </a:xfrm>
          <a:prstGeom prst="rect">
            <a:avLst/>
          </a:prstGeom>
          <a:solidFill>
            <a:schemeClr val="accent4">
              <a:lumMod val="20000"/>
              <a:lumOff val="80000"/>
            </a:schemeClr>
          </a:solidFill>
          <a:ln>
            <a:solidFill>
              <a:schemeClr val="bg1">
                <a:lumMod val="65000"/>
              </a:schemeClr>
            </a:solidFill>
          </a:ln>
        </p:spPr>
        <p:txBody>
          <a:bodyPr wrap="square">
            <a:spAutoFit/>
          </a:bodyPr>
          <a:lstStyle/>
          <a:p>
            <a:pPr algn="just"/>
            <a:r>
              <a:rPr lang="ko-KR" altLang="en-US" sz="1200" dirty="0" err="1"/>
              <a:t>실시권</a:t>
            </a:r>
            <a:r>
              <a:rPr lang="en-US" altLang="ko-KR" sz="1200" dirty="0"/>
              <a:t>, </a:t>
            </a:r>
            <a:r>
              <a:rPr lang="ko-KR" altLang="en-US" sz="1200" dirty="0"/>
              <a:t>권리소진이 적용되는 물건 등과 같이 정당한 </a:t>
            </a:r>
            <a:r>
              <a:rPr lang="ko-KR" altLang="en-US" sz="1200" dirty="0" err="1"/>
              <a:t>권원을</a:t>
            </a:r>
            <a:r>
              <a:rPr lang="ko-KR" altLang="en-US" sz="1200" dirty="0"/>
              <a:t> 가진 자가 특허발명을 실시하거나 특허권의 효력이 미치지 아니하는 범위</a:t>
            </a:r>
            <a:r>
              <a:rPr lang="en-US" altLang="ko-KR" sz="1200" dirty="0"/>
              <a:t>(</a:t>
            </a:r>
            <a:r>
              <a:rPr lang="ko-KR" altLang="en-US" sz="1200" dirty="0"/>
              <a:t>法 </a:t>
            </a:r>
            <a:r>
              <a:rPr lang="en-US" altLang="ko-KR" sz="1200" dirty="0"/>
              <a:t>96) </a:t>
            </a:r>
            <a:r>
              <a:rPr lang="ko-KR" altLang="en-US" sz="1200" dirty="0"/>
              <a:t>등에서 특허발명을 실시하여 직접침해가 아닌데</a:t>
            </a:r>
            <a:r>
              <a:rPr lang="en-US" altLang="ko-KR" sz="1200" dirty="0"/>
              <a:t>, </a:t>
            </a:r>
            <a:r>
              <a:rPr lang="ko-KR" altLang="en-US" sz="1200" dirty="0"/>
              <a:t>그 자에게 간접침해행위에 해당하는 물건을 생산하여 양도 등을 하는 행위</a:t>
            </a:r>
          </a:p>
        </p:txBody>
      </p:sp>
      <p:sp>
        <p:nvSpPr>
          <p:cNvPr id="9" name="직사각형 8">
            <a:extLst>
              <a:ext uri="{FF2B5EF4-FFF2-40B4-BE49-F238E27FC236}">
                <a16:creationId xmlns:a16="http://schemas.microsoft.com/office/drawing/2014/main" id="{810A5FF6-94FC-492D-B356-2892A3B94227}"/>
              </a:ext>
            </a:extLst>
          </p:cNvPr>
          <p:cNvSpPr/>
          <p:nvPr/>
        </p:nvSpPr>
        <p:spPr>
          <a:xfrm>
            <a:off x="4776070" y="997080"/>
            <a:ext cx="3557048" cy="646331"/>
          </a:xfrm>
          <a:prstGeom prst="rect">
            <a:avLst/>
          </a:prstGeom>
          <a:solidFill>
            <a:schemeClr val="accent6">
              <a:lumMod val="20000"/>
              <a:lumOff val="80000"/>
            </a:schemeClr>
          </a:solidFill>
          <a:ln>
            <a:solidFill>
              <a:schemeClr val="bg1">
                <a:lumMod val="65000"/>
              </a:schemeClr>
            </a:solidFill>
          </a:ln>
        </p:spPr>
        <p:txBody>
          <a:bodyPr wrap="square">
            <a:spAutoFit/>
          </a:bodyPr>
          <a:lstStyle/>
          <a:p>
            <a:pPr algn="just"/>
            <a:r>
              <a:rPr lang="ko-KR" altLang="en-US" sz="1200" dirty="0"/>
              <a:t>특허발명의 실시를 국외에서 하여 직접침해가 아닌데</a:t>
            </a:r>
            <a:r>
              <a:rPr lang="en-US" altLang="ko-KR" sz="1200" dirty="0"/>
              <a:t>, </a:t>
            </a:r>
            <a:r>
              <a:rPr lang="ko-KR" altLang="en-US" sz="1200" dirty="0"/>
              <a:t>그 자에게 국내에서 간접침해행위에 해당하는 물건을 생산하여 양도 등을 하는 행위</a:t>
            </a:r>
          </a:p>
        </p:txBody>
      </p:sp>
      <p:sp>
        <p:nvSpPr>
          <p:cNvPr id="31" name="직사각형 30">
            <a:extLst>
              <a:ext uri="{FF2B5EF4-FFF2-40B4-BE49-F238E27FC236}">
                <a16:creationId xmlns:a16="http://schemas.microsoft.com/office/drawing/2014/main" id="{58D1C0CB-E895-4C25-8022-1BF02547A64A}"/>
              </a:ext>
            </a:extLst>
          </p:cNvPr>
          <p:cNvSpPr/>
          <p:nvPr/>
        </p:nvSpPr>
        <p:spPr>
          <a:xfrm>
            <a:off x="8494055" y="997080"/>
            <a:ext cx="3557048" cy="646331"/>
          </a:xfrm>
          <a:prstGeom prst="rect">
            <a:avLst/>
          </a:prstGeom>
          <a:solidFill>
            <a:schemeClr val="accent1">
              <a:lumMod val="20000"/>
              <a:lumOff val="80000"/>
            </a:schemeClr>
          </a:solidFill>
          <a:ln>
            <a:solidFill>
              <a:schemeClr val="bg1">
                <a:lumMod val="65000"/>
              </a:schemeClr>
            </a:solidFill>
          </a:ln>
        </p:spPr>
        <p:txBody>
          <a:bodyPr wrap="square">
            <a:spAutoFit/>
          </a:bodyPr>
          <a:lstStyle/>
          <a:p>
            <a:pPr algn="just"/>
            <a:r>
              <a:rPr lang="ko-KR" altLang="en-US" sz="1200" dirty="0"/>
              <a:t>최종 특허발명의 실시를 업이 아닌 개인적</a:t>
            </a:r>
            <a:r>
              <a:rPr lang="en-US" altLang="ko-KR" sz="1200" dirty="0"/>
              <a:t>, </a:t>
            </a:r>
            <a:r>
              <a:rPr lang="ko-KR" altLang="en-US" sz="1200" dirty="0"/>
              <a:t>가정적으로 유도하여 직접침해가 아닌데</a:t>
            </a:r>
            <a:r>
              <a:rPr lang="en-US" altLang="ko-KR" sz="1200" dirty="0"/>
              <a:t>, </a:t>
            </a:r>
            <a:r>
              <a:rPr lang="ko-KR" altLang="en-US" sz="1200" dirty="0"/>
              <a:t>그 자에게 간접침해행위에 해당하는 물건을 생산하여 양도 등을 하는 행위</a:t>
            </a:r>
          </a:p>
        </p:txBody>
      </p:sp>
      <p:sp>
        <p:nvSpPr>
          <p:cNvPr id="12" name="직사각형 11">
            <a:extLst>
              <a:ext uri="{FF2B5EF4-FFF2-40B4-BE49-F238E27FC236}">
                <a16:creationId xmlns:a16="http://schemas.microsoft.com/office/drawing/2014/main" id="{FDA5ABA2-E336-4DC1-B5B1-DD9F60A0C996}"/>
              </a:ext>
            </a:extLst>
          </p:cNvPr>
          <p:cNvSpPr/>
          <p:nvPr/>
        </p:nvSpPr>
        <p:spPr>
          <a:xfrm>
            <a:off x="67441" y="2408293"/>
            <a:ext cx="4546209" cy="2827940"/>
          </a:xfrm>
          <a:prstGeom prst="rect">
            <a:avLst/>
          </a:prstGeom>
          <a:ln>
            <a:solidFill>
              <a:schemeClr val="bg1">
                <a:lumMod val="65000"/>
              </a:schemeClr>
            </a:solidFill>
          </a:ln>
        </p:spPr>
        <p:txBody>
          <a:bodyPr wrap="square" anchor="ctr">
            <a:noAutofit/>
          </a:bodyPr>
          <a:lstStyle/>
          <a:p>
            <a:pPr algn="just"/>
            <a:r>
              <a:rPr lang="ko-KR" altLang="en-US" sz="1200" dirty="0"/>
              <a:t>방법의 발명</a:t>
            </a:r>
            <a:r>
              <a:rPr lang="en-US" altLang="ko-KR" sz="1200" dirty="0"/>
              <a:t>(</a:t>
            </a:r>
            <a:r>
              <a:rPr lang="ko-KR" altLang="en-US" sz="1200" dirty="0"/>
              <a:t>이하 ‘</a:t>
            </a:r>
            <a:r>
              <a:rPr lang="ko-KR" altLang="en-US" sz="1200" dirty="0" err="1"/>
              <a:t>방법발명’이라고</a:t>
            </a:r>
            <a:r>
              <a:rPr lang="ko-KR" altLang="en-US" sz="1200" dirty="0"/>
              <a:t> 한다</a:t>
            </a:r>
            <a:r>
              <a:rPr lang="en-US" altLang="ko-KR" sz="1200" dirty="0"/>
              <a:t>)</a:t>
            </a:r>
            <a:r>
              <a:rPr lang="ko-KR" altLang="en-US" sz="1200" dirty="0"/>
              <a:t>에 관한 특허권자로부터 허락을 받은 </a:t>
            </a:r>
            <a:r>
              <a:rPr lang="ko-KR" altLang="en-US" sz="1200" dirty="0" err="1"/>
              <a:t>실시권자가</a:t>
            </a:r>
            <a:r>
              <a:rPr lang="ko-KR" altLang="en-US" sz="1200" dirty="0"/>
              <a:t> 제</a:t>
            </a:r>
            <a:r>
              <a:rPr lang="en-US" altLang="ko-KR" sz="1200" dirty="0"/>
              <a:t>3</a:t>
            </a:r>
            <a:r>
              <a:rPr lang="ko-KR" altLang="en-US" sz="1200" dirty="0"/>
              <a:t>자에게 그 방법의 실시에만 사용하는 물건</a:t>
            </a:r>
            <a:r>
              <a:rPr lang="en-US" altLang="ko-KR" sz="1200" dirty="0"/>
              <a:t>(</a:t>
            </a:r>
            <a:r>
              <a:rPr lang="ko-KR" altLang="en-US" sz="1200" dirty="0"/>
              <a:t>이하 ‘</a:t>
            </a:r>
            <a:r>
              <a:rPr lang="ko-KR" altLang="en-US" sz="1200" dirty="0" err="1"/>
              <a:t>전용품’이라고</a:t>
            </a:r>
            <a:r>
              <a:rPr lang="ko-KR" altLang="en-US" sz="1200" dirty="0"/>
              <a:t> 한다</a:t>
            </a:r>
            <a:r>
              <a:rPr lang="en-US" altLang="ko-KR" sz="1200" dirty="0"/>
              <a:t>)</a:t>
            </a:r>
            <a:r>
              <a:rPr lang="ko-KR" altLang="en-US" sz="1200" dirty="0"/>
              <a:t>의 제작을 의뢰하여 그로부터 전용품을 공급받아 방법발명을 실시하는 경우에 있어서 그러한 제</a:t>
            </a:r>
            <a:r>
              <a:rPr lang="en-US" altLang="ko-KR" sz="1200" dirty="0"/>
              <a:t>3</a:t>
            </a:r>
            <a:r>
              <a:rPr lang="ko-KR" altLang="en-US" sz="1200" dirty="0"/>
              <a:t>자의 </a:t>
            </a:r>
            <a:r>
              <a:rPr lang="ko-KR" altLang="en-US" sz="1200" dirty="0" err="1"/>
              <a:t>전용품</a:t>
            </a:r>
            <a:r>
              <a:rPr lang="ko-KR" altLang="en-US" sz="1200" dirty="0"/>
              <a:t> 생산</a:t>
            </a:r>
            <a:r>
              <a:rPr lang="en-US" altLang="ko-KR" sz="1200" dirty="0"/>
              <a:t>․</a:t>
            </a:r>
            <a:r>
              <a:rPr lang="ko-KR" altLang="en-US" sz="1200" dirty="0"/>
              <a:t>양도 등의 행위를 특허권의 간접침해로 인정하면</a:t>
            </a:r>
            <a:r>
              <a:rPr lang="en-US" altLang="ko-KR" sz="1200" dirty="0"/>
              <a:t>, </a:t>
            </a:r>
            <a:r>
              <a:rPr lang="ko-KR" altLang="en-US" sz="1200" dirty="0" err="1"/>
              <a:t>실시권자의</a:t>
            </a:r>
            <a:r>
              <a:rPr lang="ko-KR" altLang="en-US" sz="1200" dirty="0"/>
              <a:t> 실시권에 부당한 제약을 가하게 되고</a:t>
            </a:r>
            <a:r>
              <a:rPr lang="en-US" altLang="ko-KR" sz="1200" dirty="0"/>
              <a:t>, </a:t>
            </a:r>
            <a:r>
              <a:rPr lang="ko-KR" altLang="en-US" sz="1200" dirty="0"/>
              <a:t>특허권이 부당하게 확장되는 결과를 초래한다</a:t>
            </a:r>
            <a:r>
              <a:rPr lang="en-US" altLang="ko-KR" sz="1200" dirty="0"/>
              <a:t>. </a:t>
            </a:r>
            <a:r>
              <a:rPr lang="ko-KR" altLang="en-US" sz="1200" dirty="0"/>
              <a:t>또한</a:t>
            </a:r>
            <a:r>
              <a:rPr lang="en-US" altLang="ko-KR" sz="1200" dirty="0"/>
              <a:t>, </a:t>
            </a:r>
            <a:r>
              <a:rPr lang="ko-KR" altLang="en-US" sz="1200" dirty="0"/>
              <a:t>특허권자는 실시권을 설정할 때 제</a:t>
            </a:r>
            <a:r>
              <a:rPr lang="en-US" altLang="ko-KR" sz="1200" dirty="0"/>
              <a:t>3</a:t>
            </a:r>
            <a:r>
              <a:rPr lang="ko-KR" altLang="en-US" sz="1200" dirty="0"/>
              <a:t>자로부터 전용품을 공급받아 방법발명을 실시할 것까지 예상하여 실시료를 책정하는 등의 방법으로 당해 특허권의 가치에 상응하는 이윤을 회수할 수 있으므로</a:t>
            </a:r>
            <a:r>
              <a:rPr lang="en-US" altLang="ko-KR" sz="1200" dirty="0"/>
              <a:t>, </a:t>
            </a:r>
            <a:r>
              <a:rPr lang="ko-KR" altLang="en-US" sz="1200" dirty="0" err="1"/>
              <a:t>실시권자가</a:t>
            </a:r>
            <a:r>
              <a:rPr lang="ko-KR" altLang="en-US" sz="1200" dirty="0"/>
              <a:t> 제</a:t>
            </a:r>
            <a:r>
              <a:rPr lang="en-US" altLang="ko-KR" sz="1200" dirty="0"/>
              <a:t>3</a:t>
            </a:r>
            <a:r>
              <a:rPr lang="ko-KR" altLang="en-US" sz="1200" dirty="0"/>
              <a:t>자로부터 전용품을 공급받는다고 하여 특허권자의 독점적 이익이 새롭게 침해된다고 보기도 어렵다</a:t>
            </a:r>
            <a:r>
              <a:rPr lang="en-US" altLang="ko-KR" sz="1200" dirty="0"/>
              <a:t>. </a:t>
            </a:r>
            <a:r>
              <a:rPr lang="ko-KR" altLang="en-US" sz="1200" dirty="0"/>
              <a:t>따라서 방법발명에 관한 특허권자로부터 허락을 받은 </a:t>
            </a:r>
            <a:r>
              <a:rPr lang="ko-KR" altLang="en-US" sz="1200" dirty="0" err="1"/>
              <a:t>실시권자가</a:t>
            </a:r>
            <a:r>
              <a:rPr lang="ko-KR" altLang="en-US" sz="1200" dirty="0"/>
              <a:t> 제</a:t>
            </a:r>
            <a:r>
              <a:rPr lang="en-US" altLang="ko-KR" sz="1200" dirty="0"/>
              <a:t>3</a:t>
            </a:r>
            <a:r>
              <a:rPr lang="ko-KR" altLang="en-US" sz="1200" dirty="0"/>
              <a:t>자에게 전용품의 제작을 의뢰하여 그 로부터 전용품을 공급받아 방법발명을 실시하는 경우에 있어서 그러한 제</a:t>
            </a:r>
            <a:r>
              <a:rPr lang="en-US" altLang="ko-KR" sz="1200" dirty="0"/>
              <a:t>3</a:t>
            </a:r>
            <a:r>
              <a:rPr lang="ko-KR" altLang="en-US" sz="1200" dirty="0"/>
              <a:t>자의 </a:t>
            </a:r>
            <a:r>
              <a:rPr lang="ko-KR" altLang="en-US" sz="1200" dirty="0" err="1"/>
              <a:t>전용품</a:t>
            </a:r>
            <a:r>
              <a:rPr lang="ko-KR" altLang="en-US" sz="1200" dirty="0"/>
              <a:t> 생산</a:t>
            </a:r>
            <a:r>
              <a:rPr lang="en-US" altLang="ko-KR" sz="1200" dirty="0"/>
              <a:t>․</a:t>
            </a:r>
            <a:r>
              <a:rPr lang="ko-KR" altLang="en-US" sz="1200" dirty="0"/>
              <a:t>양도 등의 행위는 특허권의 간접침해에 해당한다고 볼 수 없다</a:t>
            </a:r>
            <a:r>
              <a:rPr lang="en-US" altLang="ko-KR" sz="1200" dirty="0"/>
              <a:t>(</a:t>
            </a:r>
            <a:r>
              <a:rPr lang="ko-KR" altLang="en-US" sz="1200" dirty="0"/>
              <a:t>대법원 </a:t>
            </a:r>
            <a:r>
              <a:rPr lang="en-US" altLang="ko-KR" sz="1200" dirty="0"/>
              <a:t>2019. 2. 28. </a:t>
            </a:r>
            <a:r>
              <a:rPr lang="ko-KR" altLang="en-US" sz="1200" dirty="0"/>
              <a:t>선고 </a:t>
            </a:r>
            <a:r>
              <a:rPr lang="en-US" altLang="ko-KR" sz="1200" dirty="0"/>
              <a:t>2017</a:t>
            </a:r>
            <a:r>
              <a:rPr lang="ko-KR" altLang="en-US" sz="1200" dirty="0"/>
              <a:t>다</a:t>
            </a:r>
            <a:r>
              <a:rPr lang="en-US" altLang="ko-KR" sz="1200" dirty="0"/>
              <a:t>290025).</a:t>
            </a:r>
            <a:endParaRPr lang="ko-KR" altLang="en-US" sz="1200" dirty="0"/>
          </a:p>
        </p:txBody>
      </p:sp>
      <p:sp>
        <p:nvSpPr>
          <p:cNvPr id="36" name="직사각형 35">
            <a:extLst>
              <a:ext uri="{FF2B5EF4-FFF2-40B4-BE49-F238E27FC236}">
                <a16:creationId xmlns:a16="http://schemas.microsoft.com/office/drawing/2014/main" id="{5D20E6AC-FBEB-4EB7-95D0-1E6EE0E28B89}"/>
              </a:ext>
            </a:extLst>
          </p:cNvPr>
          <p:cNvSpPr/>
          <p:nvPr/>
        </p:nvSpPr>
        <p:spPr>
          <a:xfrm>
            <a:off x="4784697" y="2161944"/>
            <a:ext cx="3557048" cy="2314806"/>
          </a:xfrm>
          <a:prstGeom prst="rect">
            <a:avLst/>
          </a:prstGeom>
          <a:ln>
            <a:solidFill>
              <a:schemeClr val="bg1">
                <a:lumMod val="65000"/>
              </a:schemeClr>
            </a:solidFill>
          </a:ln>
        </p:spPr>
        <p:txBody>
          <a:bodyPr wrap="square" anchor="ctr">
            <a:noAutofit/>
          </a:bodyPr>
          <a:lstStyle/>
          <a:p>
            <a:pPr algn="just"/>
            <a:r>
              <a:rPr lang="ko-KR" altLang="en-US" sz="1200" dirty="0"/>
              <a:t>간접침해 제도는 어디까지나 특허권이 부당하게 확장되지 아니하는 범위에서 그 실효성을 확보하고자 하는 것이다</a:t>
            </a:r>
            <a:r>
              <a:rPr lang="en-US" altLang="ko-KR" sz="1200" dirty="0"/>
              <a:t>. </a:t>
            </a:r>
            <a:r>
              <a:rPr lang="ko-KR" altLang="en-US" sz="1200" dirty="0"/>
              <a:t>그런데 특허권의 속지주의 원칙상 물건의 발명에 관한 특허권자가 그 물건에 대하여 가지는 독점적인 </a:t>
            </a:r>
            <a:r>
              <a:rPr lang="ko-KR" altLang="en-US" sz="1200" dirty="0" err="1"/>
              <a:t>생산ㆍ사용ㆍ양도ㆍ대여</a:t>
            </a:r>
            <a:r>
              <a:rPr lang="ko-KR" altLang="en-US" sz="1200" dirty="0"/>
              <a:t> 또는 수입 등의 특허실시에 관한 권리는 특허권이 등록된 국가의 영역 내에서만 그 효력이 미치는 점을 고려하면</a:t>
            </a:r>
            <a:r>
              <a:rPr lang="en-US" altLang="ko-KR" sz="1200" dirty="0"/>
              <a:t>, </a:t>
            </a:r>
            <a:r>
              <a:rPr lang="ko-KR" altLang="en-US" sz="1200" dirty="0"/>
              <a:t>특허법 제</a:t>
            </a:r>
            <a:r>
              <a:rPr lang="en-US" altLang="ko-KR" sz="1200" dirty="0"/>
              <a:t>127</a:t>
            </a:r>
            <a:r>
              <a:rPr lang="ko-KR" altLang="en-US" sz="1200" dirty="0"/>
              <a:t>조 제</a:t>
            </a:r>
            <a:r>
              <a:rPr lang="en-US" altLang="ko-KR" sz="1200" dirty="0"/>
              <a:t>1</a:t>
            </a:r>
            <a:r>
              <a:rPr lang="ko-KR" altLang="en-US" sz="1200" dirty="0"/>
              <a:t>호의 ‘그 물건의 생산에만 사용하는 </a:t>
            </a:r>
            <a:r>
              <a:rPr lang="ko-KR" altLang="en-US" sz="1200" dirty="0" err="1"/>
              <a:t>물건’에서</a:t>
            </a:r>
            <a:r>
              <a:rPr lang="ko-KR" altLang="en-US" sz="1200" dirty="0"/>
              <a:t> 말하는 ‘</a:t>
            </a:r>
            <a:r>
              <a:rPr lang="ko-KR" altLang="en-US" sz="1200" dirty="0" err="1"/>
              <a:t>생산’이란</a:t>
            </a:r>
            <a:r>
              <a:rPr lang="ko-KR" altLang="en-US" sz="1200" dirty="0"/>
              <a:t> 국내에서의 생산을 의미한다고 봄이 타당하다</a:t>
            </a:r>
            <a:r>
              <a:rPr lang="en-US" altLang="ko-KR" sz="1200" dirty="0"/>
              <a:t>. </a:t>
            </a:r>
            <a:r>
              <a:rPr lang="ko-KR" altLang="en-US" sz="1200" dirty="0"/>
              <a:t>따라서 이러한 생산이 국외에서 일어나는 경우에는 그 전단계의 행위가 국내에서 이루어지더라도 간접침해가 성립할 수 없다</a:t>
            </a:r>
            <a:r>
              <a:rPr lang="en-US" altLang="ko-KR" sz="1200" dirty="0"/>
              <a:t>(</a:t>
            </a:r>
            <a:r>
              <a:rPr lang="ko-KR" altLang="en-US" sz="1200" dirty="0"/>
              <a:t>대법원 </a:t>
            </a:r>
            <a:r>
              <a:rPr lang="en-US" altLang="ko-KR" sz="1200" dirty="0"/>
              <a:t>2015. 7. 23. </a:t>
            </a:r>
            <a:r>
              <a:rPr lang="ko-KR" altLang="en-US" sz="1200" dirty="0"/>
              <a:t>선고 </a:t>
            </a:r>
            <a:r>
              <a:rPr lang="en-US" altLang="ko-KR" sz="1200" dirty="0"/>
              <a:t>2014</a:t>
            </a:r>
            <a:r>
              <a:rPr lang="ko-KR" altLang="en-US" sz="1200" dirty="0"/>
              <a:t>다</a:t>
            </a:r>
            <a:r>
              <a:rPr lang="en-US" altLang="ko-KR" sz="1200" dirty="0"/>
              <a:t>42110).</a:t>
            </a:r>
            <a:endParaRPr lang="ko-KR" altLang="en-US" sz="1200" dirty="0"/>
          </a:p>
        </p:txBody>
      </p:sp>
      <p:sp>
        <p:nvSpPr>
          <p:cNvPr id="37" name="직사각형 36">
            <a:extLst>
              <a:ext uri="{FF2B5EF4-FFF2-40B4-BE49-F238E27FC236}">
                <a16:creationId xmlns:a16="http://schemas.microsoft.com/office/drawing/2014/main" id="{45D91B0C-FECE-46BC-BAB8-50204A1524C5}"/>
              </a:ext>
            </a:extLst>
          </p:cNvPr>
          <p:cNvSpPr/>
          <p:nvPr/>
        </p:nvSpPr>
        <p:spPr>
          <a:xfrm>
            <a:off x="8494055" y="2170569"/>
            <a:ext cx="3557048" cy="1934323"/>
          </a:xfrm>
          <a:prstGeom prst="rect">
            <a:avLst/>
          </a:prstGeom>
          <a:ln>
            <a:solidFill>
              <a:schemeClr val="bg1">
                <a:lumMod val="65000"/>
              </a:schemeClr>
            </a:solidFill>
          </a:ln>
        </p:spPr>
        <p:txBody>
          <a:bodyPr wrap="square" anchor="ctr">
            <a:noAutofit/>
          </a:bodyPr>
          <a:lstStyle/>
          <a:p>
            <a:pPr algn="just"/>
            <a:r>
              <a:rPr lang="ko-KR" altLang="en-US" sz="1200" dirty="0"/>
              <a:t>특허발명을 채택한 레이저 프린터에 사용되는 소모부품인 확인대상발명의 </a:t>
            </a:r>
            <a:r>
              <a:rPr lang="ko-KR" altLang="en-US" sz="1200" dirty="0" err="1"/>
              <a:t>감광드럼카트리지가</a:t>
            </a:r>
            <a:r>
              <a:rPr lang="ko-KR" altLang="en-US" sz="1200" dirty="0"/>
              <a:t> 특허발명의 본질적 구성요소이고 타용도로는 사용되지도 아니하며 일반적으로 널리 쉽게 구입할 수도 없는 물품일 뿐만 아니라 레이저 프린터 구입시에 그 교체가 예정되어 있었고 특허권자가 그러한 </a:t>
            </a:r>
            <a:r>
              <a:rPr lang="ko-KR" altLang="en-US" sz="1200" dirty="0" err="1"/>
              <a:t>감광드럼카트리지를</a:t>
            </a:r>
            <a:r>
              <a:rPr lang="ko-KR" altLang="en-US" sz="1200" dirty="0"/>
              <a:t> 따로 </a:t>
            </a:r>
            <a:r>
              <a:rPr lang="ko-KR" altLang="en-US" sz="1200" dirty="0" err="1"/>
              <a:t>제조ㆍ판매하고</a:t>
            </a:r>
            <a:r>
              <a:rPr lang="ko-KR" altLang="en-US" sz="1200" dirty="0"/>
              <a:t> 있으므로 특허발명의 물건의 생산에만 사용하는 물건에 해당하여 확인대상발명이 특허발명의 권리범위를 벗어날 수 없다</a:t>
            </a:r>
            <a:r>
              <a:rPr lang="en-US" altLang="ko-KR" sz="1200" dirty="0"/>
              <a:t>(</a:t>
            </a:r>
            <a:r>
              <a:rPr lang="ko-KR" altLang="en-US" sz="1200" dirty="0"/>
              <a:t>대법원 </a:t>
            </a:r>
            <a:r>
              <a:rPr lang="en-US" altLang="ko-KR" sz="1200" dirty="0"/>
              <a:t>2001. 1. 30. </a:t>
            </a:r>
            <a:r>
              <a:rPr lang="ko-KR" altLang="en-US" sz="1200" dirty="0"/>
              <a:t>선고 </a:t>
            </a:r>
            <a:r>
              <a:rPr lang="en-US" altLang="ko-KR" sz="1200" dirty="0"/>
              <a:t>98</a:t>
            </a:r>
            <a:r>
              <a:rPr lang="ko-KR" altLang="en-US" sz="1200" dirty="0"/>
              <a:t>후</a:t>
            </a:r>
            <a:r>
              <a:rPr lang="en-US" altLang="ko-KR" sz="1200" dirty="0"/>
              <a:t>2580).</a:t>
            </a:r>
            <a:endParaRPr lang="ko-KR" altLang="en-US" sz="1200" dirty="0"/>
          </a:p>
        </p:txBody>
      </p:sp>
      <p:cxnSp>
        <p:nvCxnSpPr>
          <p:cNvPr id="15" name="직선 연결선 14">
            <a:extLst>
              <a:ext uri="{FF2B5EF4-FFF2-40B4-BE49-F238E27FC236}">
                <a16:creationId xmlns:a16="http://schemas.microsoft.com/office/drawing/2014/main" id="{8FBAFC40-6F00-4CCA-A96C-0E7BEA4AA412}"/>
              </a:ext>
            </a:extLst>
          </p:cNvPr>
          <p:cNvCxnSpPr/>
          <p:nvPr/>
        </p:nvCxnSpPr>
        <p:spPr>
          <a:xfrm>
            <a:off x="4701396" y="828146"/>
            <a:ext cx="0" cy="5960799"/>
          </a:xfrm>
          <a:prstGeom prst="line">
            <a:avLst/>
          </a:prstGeom>
          <a:ln w="381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직선 연결선 37">
            <a:extLst>
              <a:ext uri="{FF2B5EF4-FFF2-40B4-BE49-F238E27FC236}">
                <a16:creationId xmlns:a16="http://schemas.microsoft.com/office/drawing/2014/main" id="{1B708EF7-11A0-489B-80AF-2744CCB3D115}"/>
              </a:ext>
            </a:extLst>
          </p:cNvPr>
          <p:cNvCxnSpPr/>
          <p:nvPr/>
        </p:nvCxnSpPr>
        <p:spPr>
          <a:xfrm>
            <a:off x="8419381" y="828146"/>
            <a:ext cx="0" cy="5960799"/>
          </a:xfrm>
          <a:prstGeom prst="line">
            <a:avLst/>
          </a:prstGeom>
          <a:ln w="381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F4C6F622-AA47-4F49-B266-A9F13BAB084D}"/>
              </a:ext>
            </a:extLst>
          </p:cNvPr>
          <p:cNvCxnSpPr>
            <a:cxnSpLocks/>
            <a:stCxn id="6" idx="2"/>
            <a:endCxn id="12" idx="0"/>
          </p:cNvCxnSpPr>
          <p:nvPr/>
        </p:nvCxnSpPr>
        <p:spPr>
          <a:xfrm flipH="1">
            <a:off x="2340546" y="1828077"/>
            <a:ext cx="10108" cy="58021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750564C2-BB82-427C-8E38-12687EE67ACF}"/>
              </a:ext>
            </a:extLst>
          </p:cNvPr>
          <p:cNvCxnSpPr>
            <a:cxnSpLocks/>
            <a:stCxn id="9" idx="2"/>
            <a:endCxn id="36" idx="0"/>
          </p:cNvCxnSpPr>
          <p:nvPr/>
        </p:nvCxnSpPr>
        <p:spPr>
          <a:xfrm>
            <a:off x="6554594" y="1643411"/>
            <a:ext cx="8627" cy="51853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직선 연결선 20">
            <a:extLst>
              <a:ext uri="{FF2B5EF4-FFF2-40B4-BE49-F238E27FC236}">
                <a16:creationId xmlns:a16="http://schemas.microsoft.com/office/drawing/2014/main" id="{6EB3F587-249C-4077-B17A-AABCF3400727}"/>
              </a:ext>
            </a:extLst>
          </p:cNvPr>
          <p:cNvCxnSpPr>
            <a:cxnSpLocks/>
            <a:stCxn id="31" idx="2"/>
            <a:endCxn id="37" idx="0"/>
          </p:cNvCxnSpPr>
          <p:nvPr/>
        </p:nvCxnSpPr>
        <p:spPr>
          <a:xfrm>
            <a:off x="10272579" y="1643411"/>
            <a:ext cx="0" cy="52715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타원 21">
            <a:extLst>
              <a:ext uri="{FF2B5EF4-FFF2-40B4-BE49-F238E27FC236}">
                <a16:creationId xmlns:a16="http://schemas.microsoft.com/office/drawing/2014/main" id="{9DFBF5B6-BADC-414A-873C-D2C58282F052}"/>
              </a:ext>
            </a:extLst>
          </p:cNvPr>
          <p:cNvSpPr/>
          <p:nvPr/>
        </p:nvSpPr>
        <p:spPr>
          <a:xfrm>
            <a:off x="77549" y="1920458"/>
            <a:ext cx="517338" cy="517338"/>
          </a:xfrm>
          <a:prstGeom prst="ellipse">
            <a:avLst/>
          </a:prstGeom>
          <a:solidFill>
            <a:schemeClr val="accent2">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종</a:t>
            </a:r>
          </a:p>
        </p:txBody>
      </p:sp>
      <p:sp>
        <p:nvSpPr>
          <p:cNvPr id="47" name="타원 46">
            <a:extLst>
              <a:ext uri="{FF2B5EF4-FFF2-40B4-BE49-F238E27FC236}">
                <a16:creationId xmlns:a16="http://schemas.microsoft.com/office/drawing/2014/main" id="{75CE5EC3-8071-4CD6-B219-BBA9CAEA69E2}"/>
              </a:ext>
            </a:extLst>
          </p:cNvPr>
          <p:cNvSpPr/>
          <p:nvPr/>
        </p:nvSpPr>
        <p:spPr>
          <a:xfrm>
            <a:off x="4794628" y="1709556"/>
            <a:ext cx="517338" cy="517338"/>
          </a:xfrm>
          <a:prstGeom prst="ellipse">
            <a:avLst/>
          </a:prstGeom>
          <a:solidFill>
            <a:schemeClr val="accent2">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종</a:t>
            </a:r>
          </a:p>
        </p:txBody>
      </p:sp>
      <p:sp>
        <p:nvSpPr>
          <p:cNvPr id="50" name="타원 49">
            <a:extLst>
              <a:ext uri="{FF2B5EF4-FFF2-40B4-BE49-F238E27FC236}">
                <a16:creationId xmlns:a16="http://schemas.microsoft.com/office/drawing/2014/main" id="{76F79AF6-F20A-4E22-AF11-DFE623B59AAF}"/>
              </a:ext>
            </a:extLst>
          </p:cNvPr>
          <p:cNvSpPr/>
          <p:nvPr/>
        </p:nvSpPr>
        <p:spPr>
          <a:xfrm>
            <a:off x="8607310" y="1696170"/>
            <a:ext cx="517338" cy="517338"/>
          </a:xfrm>
          <a:prstGeom prst="ellipse">
            <a:avLst/>
          </a:prstGeom>
          <a:solidFill>
            <a:schemeClr val="accent1">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t>독</a:t>
            </a:r>
          </a:p>
        </p:txBody>
      </p:sp>
      <p:sp>
        <p:nvSpPr>
          <p:cNvPr id="23" name="직사각형 22">
            <a:extLst>
              <a:ext uri="{FF2B5EF4-FFF2-40B4-BE49-F238E27FC236}">
                <a16:creationId xmlns:a16="http://schemas.microsoft.com/office/drawing/2014/main" id="{66D565C6-DD5E-4965-86BD-1C937A75D653}"/>
              </a:ext>
            </a:extLst>
          </p:cNvPr>
          <p:cNvSpPr/>
          <p:nvPr/>
        </p:nvSpPr>
        <p:spPr>
          <a:xfrm>
            <a:off x="4784697" y="4530515"/>
            <a:ext cx="3557048" cy="2258430"/>
          </a:xfrm>
          <a:prstGeom prst="rect">
            <a:avLst/>
          </a:prstGeom>
          <a:ln>
            <a:solidFill>
              <a:schemeClr val="bg1">
                <a:lumMod val="65000"/>
              </a:schemeClr>
            </a:solidFill>
          </a:ln>
        </p:spPr>
        <p:txBody>
          <a:bodyPr wrap="square" anchor="ctr">
            <a:noAutofit/>
          </a:bodyPr>
          <a:lstStyle/>
          <a:p>
            <a:pPr algn="just"/>
            <a:r>
              <a:rPr lang="en-US" altLang="ko-KR" sz="1200" dirty="0"/>
              <a:t>1) </a:t>
            </a:r>
            <a:r>
              <a:rPr lang="ko-KR" altLang="en-US" sz="1200" dirty="0"/>
              <a:t>국내에서 특허발명의 실시를 위한 부품 또는 구성 전부가 생산되거나 대부분의 생산단계를 마쳐 주요 구성을 모두 갖춘 반제품이 생산되고</a:t>
            </a:r>
            <a:r>
              <a:rPr lang="en-US" altLang="ko-KR" sz="1200" dirty="0"/>
              <a:t>, 2) </a:t>
            </a:r>
            <a:r>
              <a:rPr lang="ko-KR" altLang="en-US" sz="1200" dirty="0"/>
              <a:t>이것이 하나의 주체에게 수출되어 마지막 단계의 가공</a:t>
            </a:r>
            <a:r>
              <a:rPr lang="en-US" altLang="ko-KR" sz="1200" dirty="0"/>
              <a:t>·</a:t>
            </a:r>
            <a:r>
              <a:rPr lang="ko-KR" altLang="en-US" sz="1200" dirty="0"/>
              <a:t>조립이 이루어질 것이 예정되어 있으며</a:t>
            </a:r>
            <a:r>
              <a:rPr lang="en-US" altLang="ko-KR" sz="1200" dirty="0"/>
              <a:t>, 3) </a:t>
            </a:r>
            <a:r>
              <a:rPr lang="ko-KR" altLang="en-US" sz="1200" dirty="0"/>
              <a:t>그와 같은 가공</a:t>
            </a:r>
            <a:r>
              <a:rPr lang="en-US" altLang="ko-KR" sz="1200" dirty="0"/>
              <a:t>·</a:t>
            </a:r>
            <a:r>
              <a:rPr lang="ko-KR" altLang="en-US" sz="1200" dirty="0"/>
              <a:t>조립이 극히 사소하거나 간단하여 </a:t>
            </a:r>
            <a:r>
              <a:rPr lang="en-US" altLang="ko-KR" sz="1200" dirty="0">
                <a:solidFill>
                  <a:srgbClr val="FF0000"/>
                </a:solidFill>
              </a:rPr>
              <a:t>4) </a:t>
            </a:r>
            <a:r>
              <a:rPr lang="ko-KR" altLang="en-US" sz="1200" dirty="0">
                <a:solidFill>
                  <a:srgbClr val="FF0000"/>
                </a:solidFill>
              </a:rPr>
              <a:t>위와 같은 부품 전체의 생산 또는 반제품의 생산만으로도 특허발명의 각 구성요소가 유기적으로 결합한 일체로서 가지는 작용효과를 구현할 수 있는 상태에 이르렀다면</a:t>
            </a:r>
            <a:r>
              <a:rPr lang="en-US" altLang="ko-KR" sz="1200" dirty="0"/>
              <a:t>, </a:t>
            </a:r>
            <a:r>
              <a:rPr lang="ko-KR" altLang="en-US" sz="1200" dirty="0"/>
              <a:t>예외적으로 국내에서 특허발명의 실시 제품이 생산된 것과 같이 보는 것이 특허권의 실질적 보호에 부합한다</a:t>
            </a:r>
            <a:r>
              <a:rPr lang="en-US" altLang="ko-KR" sz="1200" dirty="0"/>
              <a:t>(</a:t>
            </a:r>
            <a:r>
              <a:rPr lang="ko-KR" altLang="en-US" sz="1200" dirty="0"/>
              <a:t>대법원 </a:t>
            </a:r>
            <a:r>
              <a:rPr lang="en-US" altLang="ko-KR" sz="1200" dirty="0"/>
              <a:t>2019. 10. 17. </a:t>
            </a:r>
            <a:r>
              <a:rPr lang="ko-KR" altLang="en-US" sz="1200" dirty="0"/>
              <a:t>선고 </a:t>
            </a:r>
            <a:r>
              <a:rPr lang="en-US" altLang="ko-KR" sz="1200" dirty="0"/>
              <a:t>2019</a:t>
            </a:r>
            <a:r>
              <a:rPr lang="ko-KR" altLang="en-US" sz="1200" dirty="0"/>
              <a:t>다</a:t>
            </a:r>
            <a:r>
              <a:rPr lang="en-US" altLang="ko-KR" sz="1200" dirty="0"/>
              <a:t>222782, 2019</a:t>
            </a:r>
            <a:r>
              <a:rPr lang="ko-KR" altLang="en-US" sz="1200" dirty="0"/>
              <a:t>다</a:t>
            </a:r>
            <a:r>
              <a:rPr lang="en-US" altLang="ko-KR" sz="1200" dirty="0"/>
              <a:t>222799(</a:t>
            </a:r>
            <a:r>
              <a:rPr lang="ko-KR" altLang="en-US" sz="1200" dirty="0"/>
              <a:t>병합</a:t>
            </a:r>
            <a:r>
              <a:rPr lang="en-US" altLang="ko-KR" sz="1200" dirty="0"/>
              <a:t>) .</a:t>
            </a:r>
            <a:endParaRPr lang="ko-KR" altLang="en-US" sz="1200" dirty="0"/>
          </a:p>
        </p:txBody>
      </p:sp>
      <p:cxnSp>
        <p:nvCxnSpPr>
          <p:cNvPr id="24" name="직선 연결선 23">
            <a:extLst>
              <a:ext uri="{FF2B5EF4-FFF2-40B4-BE49-F238E27FC236}">
                <a16:creationId xmlns:a16="http://schemas.microsoft.com/office/drawing/2014/main" id="{D1B0A489-4F71-4204-B0CA-961B5850B6F1}"/>
              </a:ext>
            </a:extLst>
          </p:cNvPr>
          <p:cNvCxnSpPr>
            <a:cxnSpLocks/>
            <a:stCxn id="36" idx="2"/>
            <a:endCxn id="23" idx="0"/>
          </p:cNvCxnSpPr>
          <p:nvPr/>
        </p:nvCxnSpPr>
        <p:spPr>
          <a:xfrm>
            <a:off x="6563221" y="4476750"/>
            <a:ext cx="0" cy="5376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215DB750-EC03-4295-AF7D-6845FE1D01CA}"/>
              </a:ext>
            </a:extLst>
          </p:cNvPr>
          <p:cNvSpPr txBox="1"/>
          <p:nvPr/>
        </p:nvSpPr>
        <p:spPr>
          <a:xfrm>
            <a:off x="8712680" y="4318966"/>
            <a:ext cx="1707519" cy="369332"/>
          </a:xfrm>
          <a:prstGeom prst="rect">
            <a:avLst/>
          </a:prstGeom>
          <a:noFill/>
        </p:spPr>
        <p:txBody>
          <a:bodyPr wrap="none" rtlCol="0">
            <a:spAutoFit/>
          </a:bodyPr>
          <a:lstStyle/>
          <a:p>
            <a:r>
              <a:rPr lang="ko-KR" altLang="en-US" dirty="0">
                <a:solidFill>
                  <a:srgbClr val="FF0000"/>
                </a:solidFill>
              </a:rPr>
              <a:t>속지주의의 원칙</a:t>
            </a:r>
          </a:p>
        </p:txBody>
      </p:sp>
      <p:cxnSp>
        <p:nvCxnSpPr>
          <p:cNvPr id="8" name="직선 화살표 연결선 7">
            <a:extLst>
              <a:ext uri="{FF2B5EF4-FFF2-40B4-BE49-F238E27FC236}">
                <a16:creationId xmlns:a16="http://schemas.microsoft.com/office/drawing/2014/main" id="{92859FD2-6B15-45FC-81E3-03439153C582}"/>
              </a:ext>
            </a:extLst>
          </p:cNvPr>
          <p:cNvCxnSpPr>
            <a:stCxn id="5" idx="1"/>
          </p:cNvCxnSpPr>
          <p:nvPr/>
        </p:nvCxnSpPr>
        <p:spPr>
          <a:xfrm flipH="1" flipV="1">
            <a:off x="8341745" y="4104892"/>
            <a:ext cx="370935" cy="398740"/>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5" name="직선 화살표 연결선 24">
            <a:extLst>
              <a:ext uri="{FF2B5EF4-FFF2-40B4-BE49-F238E27FC236}">
                <a16:creationId xmlns:a16="http://schemas.microsoft.com/office/drawing/2014/main" id="{146B2485-7F28-44B8-B0AC-F28EC7DA028E}"/>
              </a:ext>
            </a:extLst>
          </p:cNvPr>
          <p:cNvCxnSpPr>
            <a:cxnSpLocks/>
            <a:stCxn id="26" idx="1"/>
          </p:cNvCxnSpPr>
          <p:nvPr/>
        </p:nvCxnSpPr>
        <p:spPr>
          <a:xfrm flipH="1">
            <a:off x="8341748" y="5105491"/>
            <a:ext cx="370932" cy="340693"/>
          </a:xfrm>
          <a:prstGeom prst="straightConnector1">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49C37D18-5AE7-48D3-BEA6-CB04D87A8960}"/>
              </a:ext>
            </a:extLst>
          </p:cNvPr>
          <p:cNvSpPr txBox="1"/>
          <p:nvPr/>
        </p:nvSpPr>
        <p:spPr>
          <a:xfrm>
            <a:off x="8712680" y="4920825"/>
            <a:ext cx="2877711" cy="369332"/>
          </a:xfrm>
          <a:prstGeom prst="rect">
            <a:avLst/>
          </a:prstGeom>
          <a:noFill/>
        </p:spPr>
        <p:txBody>
          <a:bodyPr wrap="none" rtlCol="0">
            <a:spAutoFit/>
          </a:bodyPr>
          <a:lstStyle/>
          <a:p>
            <a:r>
              <a:rPr lang="ko-KR" altLang="en-US" dirty="0">
                <a:solidFill>
                  <a:srgbClr val="FF0000"/>
                </a:solidFill>
              </a:rPr>
              <a:t>속지주의의 원칙의 예외 인정</a:t>
            </a:r>
          </a:p>
        </p:txBody>
      </p:sp>
    </p:spTree>
    <p:extLst>
      <p:ext uri="{BB962C8B-B14F-4D97-AF65-F5344CB8AC3E}">
        <p14:creationId xmlns:p14="http://schemas.microsoft.com/office/powerpoint/2010/main" val="354759259"/>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127</a:t>
            </a:r>
            <a:r>
              <a:rPr lang="ko-KR" altLang="en-US" dirty="0"/>
              <a:t>조</a:t>
            </a:r>
          </a:p>
        </p:txBody>
      </p:sp>
      <p:sp>
        <p:nvSpPr>
          <p:cNvPr id="3" name="텍스트 개체 틀 2"/>
          <p:cNvSpPr>
            <a:spLocks noGrp="1"/>
          </p:cNvSpPr>
          <p:nvPr>
            <p:ph type="body" sz="quarter" idx="13"/>
          </p:nvPr>
        </p:nvSpPr>
        <p:spPr/>
        <p:txBody>
          <a:bodyPr/>
          <a:lstStyle/>
          <a:p>
            <a:r>
              <a:rPr lang="ko-KR" altLang="en-US" dirty="0"/>
              <a:t>반제품 사건</a:t>
            </a:r>
          </a:p>
        </p:txBody>
      </p:sp>
      <p:sp>
        <p:nvSpPr>
          <p:cNvPr id="4" name="슬라이드 번호 개체 틀 3"/>
          <p:cNvSpPr>
            <a:spLocks noGrp="1"/>
          </p:cNvSpPr>
          <p:nvPr>
            <p:ph type="sldNum" sz="quarter" idx="4294967295"/>
          </p:nvPr>
        </p:nvSpPr>
        <p:spPr>
          <a:xfrm>
            <a:off x="11125200" y="0"/>
            <a:ext cx="1066800" cy="744538"/>
          </a:xfrm>
        </p:spPr>
        <p:txBody>
          <a:bodyPr/>
          <a:lstStyle/>
          <a:p>
            <a:r>
              <a:rPr lang="en-US" altLang="ko-KR"/>
              <a:t>394</a:t>
            </a:r>
            <a:endParaRPr lang="ko-KR" altLang="en-US"/>
          </a:p>
        </p:txBody>
      </p:sp>
      <p:sp>
        <p:nvSpPr>
          <p:cNvPr id="29" name="타원 28">
            <a:extLst>
              <a:ext uri="{FF2B5EF4-FFF2-40B4-BE49-F238E27FC236}">
                <a16:creationId xmlns:a16="http://schemas.microsoft.com/office/drawing/2014/main" id="{FBDE3511-89E3-4A83-B9AF-60A521BCDBBF}"/>
              </a:ext>
            </a:extLst>
          </p:cNvPr>
          <p:cNvSpPr/>
          <p:nvPr/>
        </p:nvSpPr>
        <p:spPr>
          <a:xfrm>
            <a:off x="775712" y="1292708"/>
            <a:ext cx="1162024" cy="1162024"/>
          </a:xfrm>
          <a:prstGeom prst="ellipse">
            <a:avLst/>
          </a:prstGeom>
          <a:solidFill>
            <a:schemeClr val="accent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tx1"/>
                </a:solidFill>
              </a:rPr>
              <a:t> 甲 </a:t>
            </a:r>
            <a:endParaRPr lang="en-US" altLang="ko-KR" sz="1400" dirty="0">
              <a:solidFill>
                <a:schemeClr val="tx1"/>
              </a:solidFill>
            </a:endParaRPr>
          </a:p>
          <a:p>
            <a:pPr algn="ctr"/>
            <a:r>
              <a:rPr lang="ko-KR" altLang="en-US" sz="1400" dirty="0" err="1">
                <a:solidFill>
                  <a:schemeClr val="tx1"/>
                </a:solidFill>
              </a:rPr>
              <a:t>전용품</a:t>
            </a:r>
            <a:endParaRPr lang="en-US" altLang="ko-KR" sz="1400" dirty="0">
              <a:solidFill>
                <a:schemeClr val="tx1"/>
              </a:solidFill>
            </a:endParaRPr>
          </a:p>
          <a:p>
            <a:pPr algn="ctr"/>
            <a:r>
              <a:rPr lang="ko-KR" altLang="en-US" sz="1400" dirty="0">
                <a:solidFill>
                  <a:schemeClr val="tx1"/>
                </a:solidFill>
              </a:rPr>
              <a:t>제작</a:t>
            </a:r>
            <a:r>
              <a:rPr lang="en-US" altLang="ko-KR" sz="1400" dirty="0">
                <a:solidFill>
                  <a:schemeClr val="tx1"/>
                </a:solidFill>
              </a:rPr>
              <a:t>/</a:t>
            </a:r>
            <a:r>
              <a:rPr lang="ko-KR" altLang="en-US" sz="1400" dirty="0">
                <a:solidFill>
                  <a:schemeClr val="tx1"/>
                </a:solidFill>
              </a:rPr>
              <a:t>납품 </a:t>
            </a:r>
          </a:p>
        </p:txBody>
      </p:sp>
      <p:sp>
        <p:nvSpPr>
          <p:cNvPr id="30" name="타원 29">
            <a:extLst>
              <a:ext uri="{FF2B5EF4-FFF2-40B4-BE49-F238E27FC236}">
                <a16:creationId xmlns:a16="http://schemas.microsoft.com/office/drawing/2014/main" id="{018D7675-F226-47A3-BB65-9CDEAFD4419B}"/>
              </a:ext>
            </a:extLst>
          </p:cNvPr>
          <p:cNvSpPr/>
          <p:nvPr/>
        </p:nvSpPr>
        <p:spPr>
          <a:xfrm>
            <a:off x="775712" y="3074594"/>
            <a:ext cx="1162024" cy="1162024"/>
          </a:xfrm>
          <a:prstGeom prst="ellipse">
            <a:avLst/>
          </a:prstGeom>
          <a:solidFill>
            <a:schemeClr val="accent2">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t>乙 </a:t>
            </a:r>
            <a:endParaRPr lang="en-US" altLang="ko-KR" sz="1400" dirty="0"/>
          </a:p>
          <a:p>
            <a:pPr algn="ctr"/>
            <a:r>
              <a:rPr lang="ko-KR" altLang="en-US" sz="1400" dirty="0"/>
              <a:t>반제품</a:t>
            </a:r>
            <a:endParaRPr lang="en-US" altLang="ko-KR" sz="1400" dirty="0"/>
          </a:p>
          <a:p>
            <a:pPr algn="ctr"/>
            <a:r>
              <a:rPr lang="ko-KR" altLang="en-US" sz="1400" dirty="0"/>
              <a:t>생산</a:t>
            </a:r>
            <a:r>
              <a:rPr lang="en-US" altLang="ko-KR" sz="1400" dirty="0"/>
              <a:t>/</a:t>
            </a:r>
            <a:r>
              <a:rPr lang="ko-KR" altLang="en-US" sz="1400" dirty="0"/>
              <a:t>수출</a:t>
            </a:r>
          </a:p>
        </p:txBody>
      </p:sp>
      <p:sp>
        <p:nvSpPr>
          <p:cNvPr id="32" name="타원 31">
            <a:extLst>
              <a:ext uri="{FF2B5EF4-FFF2-40B4-BE49-F238E27FC236}">
                <a16:creationId xmlns:a16="http://schemas.microsoft.com/office/drawing/2014/main" id="{E0D47953-5EE5-4478-B3A1-48A6D87A41B7}"/>
              </a:ext>
            </a:extLst>
          </p:cNvPr>
          <p:cNvSpPr/>
          <p:nvPr/>
        </p:nvSpPr>
        <p:spPr>
          <a:xfrm>
            <a:off x="775712" y="4922600"/>
            <a:ext cx="1162024" cy="116202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t>丙</a:t>
            </a:r>
            <a:endParaRPr lang="en-US" altLang="ko-KR" sz="1400" dirty="0"/>
          </a:p>
          <a:p>
            <a:pPr algn="ctr"/>
            <a:r>
              <a:rPr lang="ko-KR" altLang="en-US" sz="1400" dirty="0"/>
              <a:t>외국 </a:t>
            </a:r>
            <a:endParaRPr lang="en-US" altLang="ko-KR" sz="1400" dirty="0"/>
          </a:p>
          <a:p>
            <a:pPr algn="ctr"/>
            <a:r>
              <a:rPr lang="ko-KR" altLang="en-US" sz="1400" dirty="0"/>
              <a:t>완제품생산</a:t>
            </a:r>
          </a:p>
        </p:txBody>
      </p:sp>
      <p:cxnSp>
        <p:nvCxnSpPr>
          <p:cNvPr id="16" name="직선 화살표 연결선 15">
            <a:extLst>
              <a:ext uri="{FF2B5EF4-FFF2-40B4-BE49-F238E27FC236}">
                <a16:creationId xmlns:a16="http://schemas.microsoft.com/office/drawing/2014/main" id="{B7F55335-4454-4294-BFC4-703F294C606C}"/>
              </a:ext>
            </a:extLst>
          </p:cNvPr>
          <p:cNvCxnSpPr>
            <a:cxnSpLocks/>
            <a:stCxn id="29" idx="4"/>
            <a:endCxn id="30" idx="0"/>
          </p:cNvCxnSpPr>
          <p:nvPr/>
        </p:nvCxnSpPr>
        <p:spPr>
          <a:xfrm>
            <a:off x="1356724" y="2454732"/>
            <a:ext cx="0" cy="619862"/>
          </a:xfrm>
          <a:prstGeom prst="straightConnector1">
            <a:avLst/>
          </a:prstGeom>
          <a:ln w="285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 name="직선 화살표 연결선 19">
            <a:extLst>
              <a:ext uri="{FF2B5EF4-FFF2-40B4-BE49-F238E27FC236}">
                <a16:creationId xmlns:a16="http://schemas.microsoft.com/office/drawing/2014/main" id="{020CEA58-A65B-4EB7-A41A-FE431D8EA53E}"/>
              </a:ext>
            </a:extLst>
          </p:cNvPr>
          <p:cNvCxnSpPr>
            <a:cxnSpLocks/>
            <a:stCxn id="30" idx="4"/>
            <a:endCxn id="32" idx="0"/>
          </p:cNvCxnSpPr>
          <p:nvPr/>
        </p:nvCxnSpPr>
        <p:spPr>
          <a:xfrm>
            <a:off x="1356724" y="4236618"/>
            <a:ext cx="0" cy="685982"/>
          </a:xfrm>
          <a:prstGeom prst="straightConnector1">
            <a:avLst/>
          </a:prstGeom>
          <a:ln w="285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8" name="순서도: 판단 27">
            <a:extLst>
              <a:ext uri="{FF2B5EF4-FFF2-40B4-BE49-F238E27FC236}">
                <a16:creationId xmlns:a16="http://schemas.microsoft.com/office/drawing/2014/main" id="{9AFDB2DF-E991-4262-A0DF-AF032833C840}"/>
              </a:ext>
            </a:extLst>
          </p:cNvPr>
          <p:cNvSpPr/>
          <p:nvPr/>
        </p:nvSpPr>
        <p:spPr>
          <a:xfrm>
            <a:off x="2840455" y="2943512"/>
            <a:ext cx="2434070" cy="1448077"/>
          </a:xfrm>
          <a:prstGeom prst="flowChartDecision">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lumMod val="50000"/>
                  </a:schemeClr>
                </a:solidFill>
              </a:rPr>
              <a:t>반제품 생산이</a:t>
            </a:r>
            <a:endParaRPr lang="en-US" altLang="ko-KR" sz="1400" dirty="0">
              <a:solidFill>
                <a:schemeClr val="bg1">
                  <a:lumMod val="50000"/>
                </a:schemeClr>
              </a:solidFill>
            </a:endParaRPr>
          </a:p>
          <a:p>
            <a:pPr algn="ctr"/>
            <a:r>
              <a:rPr lang="ko-KR" altLang="en-US" sz="1400">
                <a:solidFill>
                  <a:schemeClr val="bg1">
                    <a:lumMod val="50000"/>
                  </a:schemeClr>
                </a:solidFill>
              </a:rPr>
              <a:t>특허발명 생산</a:t>
            </a:r>
            <a:r>
              <a:rPr lang="en-US" altLang="ko-KR" sz="1400">
                <a:solidFill>
                  <a:schemeClr val="bg1">
                    <a:lumMod val="50000"/>
                  </a:schemeClr>
                </a:solidFill>
              </a:rPr>
              <a:t>?</a:t>
            </a:r>
            <a:endParaRPr lang="ko-KR" altLang="en-US" sz="1400" dirty="0">
              <a:solidFill>
                <a:schemeClr val="bg1">
                  <a:lumMod val="50000"/>
                </a:schemeClr>
              </a:solidFill>
            </a:endParaRPr>
          </a:p>
        </p:txBody>
      </p:sp>
      <p:cxnSp>
        <p:nvCxnSpPr>
          <p:cNvPr id="34" name="직선 연결선 33">
            <a:extLst>
              <a:ext uri="{FF2B5EF4-FFF2-40B4-BE49-F238E27FC236}">
                <a16:creationId xmlns:a16="http://schemas.microsoft.com/office/drawing/2014/main" id="{89A8298F-4A23-4D7F-98AE-46D45C34ECD0}"/>
              </a:ext>
            </a:extLst>
          </p:cNvPr>
          <p:cNvCxnSpPr>
            <a:cxnSpLocks/>
            <a:stCxn id="30" idx="6"/>
            <a:endCxn id="28" idx="1"/>
          </p:cNvCxnSpPr>
          <p:nvPr/>
        </p:nvCxnSpPr>
        <p:spPr>
          <a:xfrm>
            <a:off x="1937736" y="3655606"/>
            <a:ext cx="902719" cy="11945"/>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49" name="직사각형 48">
            <a:extLst>
              <a:ext uri="{FF2B5EF4-FFF2-40B4-BE49-F238E27FC236}">
                <a16:creationId xmlns:a16="http://schemas.microsoft.com/office/drawing/2014/main" id="{E8D5BDA5-EE6C-4675-ABC8-B35E0ECA58BF}"/>
              </a:ext>
            </a:extLst>
          </p:cNvPr>
          <p:cNvSpPr/>
          <p:nvPr/>
        </p:nvSpPr>
        <p:spPr>
          <a:xfrm>
            <a:off x="6413060" y="3260037"/>
            <a:ext cx="1708727" cy="354406"/>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lumMod val="50000"/>
                  </a:schemeClr>
                </a:solidFill>
              </a:rPr>
              <a:t>甲 간접침해</a:t>
            </a:r>
          </a:p>
        </p:txBody>
      </p:sp>
      <p:sp>
        <p:nvSpPr>
          <p:cNvPr id="51" name="직사각형 50">
            <a:extLst>
              <a:ext uri="{FF2B5EF4-FFF2-40B4-BE49-F238E27FC236}">
                <a16:creationId xmlns:a16="http://schemas.microsoft.com/office/drawing/2014/main" id="{66267ADC-5DF9-4EBC-8A67-5EAD1416AAF4}"/>
              </a:ext>
            </a:extLst>
          </p:cNvPr>
          <p:cNvSpPr/>
          <p:nvPr/>
        </p:nvSpPr>
        <p:spPr>
          <a:xfrm>
            <a:off x="6413060" y="3711740"/>
            <a:ext cx="1708727" cy="354406"/>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lumMod val="50000"/>
                  </a:schemeClr>
                </a:solidFill>
              </a:rPr>
              <a:t>乙 직접침해</a:t>
            </a:r>
          </a:p>
        </p:txBody>
      </p:sp>
      <p:sp>
        <p:nvSpPr>
          <p:cNvPr id="53" name="TextBox 52">
            <a:extLst>
              <a:ext uri="{FF2B5EF4-FFF2-40B4-BE49-F238E27FC236}">
                <a16:creationId xmlns:a16="http://schemas.microsoft.com/office/drawing/2014/main" id="{7B6759D5-EE01-4CB6-8D9F-233D7B49EFDD}"/>
              </a:ext>
            </a:extLst>
          </p:cNvPr>
          <p:cNvSpPr txBox="1"/>
          <p:nvPr/>
        </p:nvSpPr>
        <p:spPr>
          <a:xfrm>
            <a:off x="3209332" y="1295795"/>
            <a:ext cx="6693612" cy="1384995"/>
          </a:xfrm>
          <a:prstGeom prst="rect">
            <a:avLst/>
          </a:prstGeom>
          <a:noFill/>
        </p:spPr>
        <p:txBody>
          <a:bodyPr wrap="square">
            <a:spAutoFit/>
          </a:bodyPr>
          <a:lstStyle/>
          <a:p>
            <a:pPr marL="228600" indent="-228600">
              <a:buAutoNum type="arabicParenR"/>
            </a:pPr>
            <a:r>
              <a:rPr lang="ko-KR" altLang="en-US" sz="1200" dirty="0"/>
              <a:t>국내에서 특허발명의 실시를 위한 부품 또는 구성 전부가 생산되거나 대부분의 생산단계를 마쳐 주요 구성을 모두 갖춘 반제품이 생산되고</a:t>
            </a:r>
            <a:r>
              <a:rPr lang="en-US" altLang="ko-KR" sz="1200" dirty="0"/>
              <a:t> </a:t>
            </a:r>
          </a:p>
          <a:p>
            <a:pPr marL="228600" indent="-228600">
              <a:buAutoNum type="arabicParenR"/>
            </a:pPr>
            <a:r>
              <a:rPr lang="ko-KR" altLang="en-US" sz="1200" dirty="0"/>
              <a:t>이것이 하나의 주체에게 수출되어 마지막 단계의 가공</a:t>
            </a:r>
            <a:r>
              <a:rPr lang="en-US" altLang="ko-KR" sz="1200" dirty="0"/>
              <a:t>·</a:t>
            </a:r>
            <a:r>
              <a:rPr lang="ko-KR" altLang="en-US" sz="1200" dirty="0"/>
              <a:t>조립이 이루어질 것이 예정되어 있으며</a:t>
            </a:r>
            <a:r>
              <a:rPr lang="en-US" altLang="ko-KR" sz="1200" dirty="0"/>
              <a:t> </a:t>
            </a:r>
          </a:p>
          <a:p>
            <a:pPr marL="228600" indent="-228600">
              <a:buAutoNum type="arabicParenR"/>
            </a:pPr>
            <a:r>
              <a:rPr lang="ko-KR" altLang="en-US" sz="1200" dirty="0"/>
              <a:t>그와 같은 가공</a:t>
            </a:r>
            <a:r>
              <a:rPr lang="en-US" altLang="ko-KR" sz="1200" dirty="0"/>
              <a:t>·</a:t>
            </a:r>
            <a:r>
              <a:rPr lang="ko-KR" altLang="en-US" sz="1200" dirty="0"/>
              <a:t>조립이 극히 사소하거나 간단하여 </a:t>
            </a:r>
            <a:endParaRPr lang="en-US" altLang="ko-KR" sz="1200" dirty="0"/>
          </a:p>
          <a:p>
            <a:endParaRPr lang="en-US" altLang="ko-KR" sz="1200" dirty="0"/>
          </a:p>
          <a:p>
            <a:pPr marL="215900" indent="-215900"/>
            <a:r>
              <a:rPr lang="en-US" altLang="ko-KR" sz="1200" dirty="0">
                <a:solidFill>
                  <a:srgbClr val="FF0000"/>
                </a:solidFill>
              </a:rPr>
              <a:t>4)  </a:t>
            </a:r>
            <a:r>
              <a:rPr lang="ko-KR" altLang="en-US" sz="1200" dirty="0">
                <a:solidFill>
                  <a:srgbClr val="FF0000"/>
                </a:solidFill>
              </a:rPr>
              <a:t>위와 같은 부품 전체의 생산 또는 반제품의 생산만으로도 특허발명의 각 구성요소가 유기적으로 결합한 일체로서 가지는 작용효과를 구현할 수 있는 상태에 이를 것</a:t>
            </a:r>
            <a:endParaRPr lang="ko-KR" altLang="en-US" sz="1200" dirty="0"/>
          </a:p>
        </p:txBody>
      </p:sp>
      <p:sp>
        <p:nvSpPr>
          <p:cNvPr id="54" name="직사각형 53">
            <a:extLst>
              <a:ext uri="{FF2B5EF4-FFF2-40B4-BE49-F238E27FC236}">
                <a16:creationId xmlns:a16="http://schemas.microsoft.com/office/drawing/2014/main" id="{8B931862-5009-44E9-94BF-E093D90BFE57}"/>
              </a:ext>
            </a:extLst>
          </p:cNvPr>
          <p:cNvSpPr/>
          <p:nvPr/>
        </p:nvSpPr>
        <p:spPr>
          <a:xfrm>
            <a:off x="6413060" y="5191283"/>
            <a:ext cx="1708727" cy="354406"/>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lumMod val="50000"/>
                  </a:schemeClr>
                </a:solidFill>
              </a:rPr>
              <a:t>甲</a:t>
            </a:r>
            <a:r>
              <a:rPr lang="en-US" altLang="ko-KR" sz="1400" dirty="0">
                <a:solidFill>
                  <a:schemeClr val="bg1">
                    <a:lumMod val="50000"/>
                  </a:schemeClr>
                </a:solidFill>
              </a:rPr>
              <a:t>, </a:t>
            </a:r>
            <a:r>
              <a:rPr lang="ko-KR" altLang="en-US" sz="1400" dirty="0">
                <a:solidFill>
                  <a:schemeClr val="bg1">
                    <a:lumMod val="50000"/>
                  </a:schemeClr>
                </a:solidFill>
              </a:rPr>
              <a:t>乙 </a:t>
            </a:r>
            <a:r>
              <a:rPr lang="ko-KR" altLang="en-US" sz="1400" dirty="0" err="1">
                <a:solidFill>
                  <a:schemeClr val="bg1">
                    <a:lumMod val="50000"/>
                  </a:schemeClr>
                </a:solidFill>
              </a:rPr>
              <a:t>비침해</a:t>
            </a:r>
            <a:endParaRPr lang="ko-KR" altLang="en-US" sz="1400" dirty="0">
              <a:solidFill>
                <a:schemeClr val="bg1">
                  <a:lumMod val="50000"/>
                </a:schemeClr>
              </a:solidFill>
            </a:endParaRPr>
          </a:p>
        </p:txBody>
      </p:sp>
      <p:cxnSp>
        <p:nvCxnSpPr>
          <p:cNvPr id="56" name="연결선: 꺾임 55">
            <a:extLst>
              <a:ext uri="{FF2B5EF4-FFF2-40B4-BE49-F238E27FC236}">
                <a16:creationId xmlns:a16="http://schemas.microsoft.com/office/drawing/2014/main" id="{4C8C89E2-B2E5-4AC3-87F3-613CA730826C}"/>
              </a:ext>
            </a:extLst>
          </p:cNvPr>
          <p:cNvCxnSpPr>
            <a:cxnSpLocks/>
            <a:stCxn id="28" idx="3"/>
            <a:endCxn id="49" idx="1"/>
          </p:cNvCxnSpPr>
          <p:nvPr/>
        </p:nvCxnSpPr>
        <p:spPr>
          <a:xfrm flipV="1">
            <a:off x="5274525" y="3437240"/>
            <a:ext cx="1138535" cy="230311"/>
          </a:xfrm>
          <a:prstGeom prst="bentConnector3">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58" name="연결선: 꺾임 57">
            <a:extLst>
              <a:ext uri="{FF2B5EF4-FFF2-40B4-BE49-F238E27FC236}">
                <a16:creationId xmlns:a16="http://schemas.microsoft.com/office/drawing/2014/main" id="{CBE03A90-A22F-420D-B6AA-256C3C28B1CE}"/>
              </a:ext>
            </a:extLst>
          </p:cNvPr>
          <p:cNvCxnSpPr>
            <a:cxnSpLocks/>
            <a:stCxn id="28" idx="3"/>
            <a:endCxn id="51" idx="1"/>
          </p:cNvCxnSpPr>
          <p:nvPr/>
        </p:nvCxnSpPr>
        <p:spPr>
          <a:xfrm>
            <a:off x="5274525" y="3667551"/>
            <a:ext cx="1138535" cy="221392"/>
          </a:xfrm>
          <a:prstGeom prst="bentConnector3">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60" name="연결선: 꺾임 59">
            <a:extLst>
              <a:ext uri="{FF2B5EF4-FFF2-40B4-BE49-F238E27FC236}">
                <a16:creationId xmlns:a16="http://schemas.microsoft.com/office/drawing/2014/main" id="{4FEDC30A-50F1-490B-9D0D-E009852F62F5}"/>
              </a:ext>
            </a:extLst>
          </p:cNvPr>
          <p:cNvCxnSpPr>
            <a:cxnSpLocks/>
            <a:stCxn id="28" idx="2"/>
            <a:endCxn id="54" idx="1"/>
          </p:cNvCxnSpPr>
          <p:nvPr/>
        </p:nvCxnSpPr>
        <p:spPr>
          <a:xfrm rot="16200000" flipH="1">
            <a:off x="4746827" y="3702252"/>
            <a:ext cx="976897" cy="2355570"/>
          </a:xfrm>
          <a:prstGeom prst="bentConnector2">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62" name="직사각형 61">
            <a:extLst>
              <a:ext uri="{FF2B5EF4-FFF2-40B4-BE49-F238E27FC236}">
                <a16:creationId xmlns:a16="http://schemas.microsoft.com/office/drawing/2014/main" id="{8122D463-1D4B-4129-9A8D-FEB56B6B56F5}"/>
              </a:ext>
            </a:extLst>
          </p:cNvPr>
          <p:cNvSpPr/>
          <p:nvPr/>
        </p:nvSpPr>
        <p:spPr>
          <a:xfrm>
            <a:off x="4537790" y="3286591"/>
            <a:ext cx="1708727" cy="3544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bg1">
                    <a:lumMod val="50000"/>
                  </a:schemeClr>
                </a:solidFill>
              </a:rPr>
              <a:t>Y</a:t>
            </a:r>
            <a:endParaRPr lang="ko-KR" altLang="en-US" sz="1400" dirty="0">
              <a:solidFill>
                <a:schemeClr val="bg1">
                  <a:lumMod val="50000"/>
                </a:schemeClr>
              </a:solidFill>
            </a:endParaRPr>
          </a:p>
        </p:txBody>
      </p:sp>
      <p:sp>
        <p:nvSpPr>
          <p:cNvPr id="63" name="직사각형 62">
            <a:extLst>
              <a:ext uri="{FF2B5EF4-FFF2-40B4-BE49-F238E27FC236}">
                <a16:creationId xmlns:a16="http://schemas.microsoft.com/office/drawing/2014/main" id="{9D2D68DB-D392-4AB1-96AF-87F7929B9FB1}"/>
              </a:ext>
            </a:extLst>
          </p:cNvPr>
          <p:cNvSpPr/>
          <p:nvPr/>
        </p:nvSpPr>
        <p:spPr>
          <a:xfrm>
            <a:off x="3565797" y="4379454"/>
            <a:ext cx="1708727" cy="3544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bg1">
                    <a:lumMod val="50000"/>
                  </a:schemeClr>
                </a:solidFill>
              </a:rPr>
              <a:t>N</a:t>
            </a:r>
            <a:endParaRPr lang="ko-KR" altLang="en-US" sz="1400" dirty="0">
              <a:solidFill>
                <a:schemeClr val="bg1">
                  <a:lumMod val="50000"/>
                </a:schemeClr>
              </a:solidFill>
            </a:endParaRPr>
          </a:p>
        </p:txBody>
      </p:sp>
      <p:sp>
        <p:nvSpPr>
          <p:cNvPr id="5" name="직사각형 4">
            <a:extLst>
              <a:ext uri="{FF2B5EF4-FFF2-40B4-BE49-F238E27FC236}">
                <a16:creationId xmlns:a16="http://schemas.microsoft.com/office/drawing/2014/main" id="{F9CE690B-B0F1-193A-5F86-CAC0B490FE37}"/>
              </a:ext>
            </a:extLst>
          </p:cNvPr>
          <p:cNvSpPr/>
          <p:nvPr/>
        </p:nvSpPr>
        <p:spPr>
          <a:xfrm>
            <a:off x="3209332" y="2170065"/>
            <a:ext cx="6628435" cy="522859"/>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TextBox 5">
            <a:extLst>
              <a:ext uri="{FF2B5EF4-FFF2-40B4-BE49-F238E27FC236}">
                <a16:creationId xmlns:a16="http://schemas.microsoft.com/office/drawing/2014/main" id="{B7FC2E49-5F87-E6D7-2B22-B14A4BE81365}"/>
              </a:ext>
            </a:extLst>
          </p:cNvPr>
          <p:cNvSpPr txBox="1"/>
          <p:nvPr/>
        </p:nvSpPr>
        <p:spPr>
          <a:xfrm>
            <a:off x="8785235" y="2754333"/>
            <a:ext cx="2105063" cy="830997"/>
          </a:xfrm>
          <a:prstGeom prst="rect">
            <a:avLst/>
          </a:prstGeom>
          <a:noFill/>
        </p:spPr>
        <p:txBody>
          <a:bodyPr wrap="none" rtlCol="0">
            <a:spAutoFit/>
          </a:bodyPr>
          <a:lstStyle/>
          <a:p>
            <a:r>
              <a:rPr lang="ko-KR" altLang="en-US" sz="1600" dirty="0">
                <a:solidFill>
                  <a:srgbClr val="FF0000"/>
                </a:solidFill>
              </a:rPr>
              <a:t>일체성을 유지하여</a:t>
            </a:r>
            <a:r>
              <a:rPr lang="en-US" altLang="ko-KR" sz="1600" dirty="0">
                <a:solidFill>
                  <a:srgbClr val="FF0000"/>
                </a:solidFill>
              </a:rPr>
              <a:t>, </a:t>
            </a:r>
          </a:p>
          <a:p>
            <a:r>
              <a:rPr lang="en-US" altLang="ko-KR" sz="1600" dirty="0">
                <a:solidFill>
                  <a:srgbClr val="FF0000"/>
                </a:solidFill>
              </a:rPr>
              <a:t>All Elements Rule</a:t>
            </a:r>
            <a:r>
              <a:rPr lang="ko-KR" altLang="en-US" sz="1600" dirty="0">
                <a:solidFill>
                  <a:srgbClr val="FF0000"/>
                </a:solidFill>
              </a:rPr>
              <a:t>을 </a:t>
            </a:r>
            <a:endParaRPr lang="en-US" altLang="ko-KR" sz="1600" dirty="0">
              <a:solidFill>
                <a:srgbClr val="FF0000"/>
              </a:solidFill>
            </a:endParaRPr>
          </a:p>
          <a:p>
            <a:r>
              <a:rPr lang="ko-KR" altLang="en-US" sz="1600" dirty="0">
                <a:solidFill>
                  <a:srgbClr val="FF0000"/>
                </a:solidFill>
              </a:rPr>
              <a:t>적용할 수 있는 상태</a:t>
            </a:r>
          </a:p>
        </p:txBody>
      </p:sp>
      <p:sp>
        <p:nvSpPr>
          <p:cNvPr id="7" name="말풍선: 모서리가 둥근 사각형 6">
            <a:extLst>
              <a:ext uri="{FF2B5EF4-FFF2-40B4-BE49-F238E27FC236}">
                <a16:creationId xmlns:a16="http://schemas.microsoft.com/office/drawing/2014/main" id="{9F02A64E-CE99-7FDC-5148-7A4542EB1386}"/>
              </a:ext>
            </a:extLst>
          </p:cNvPr>
          <p:cNvSpPr/>
          <p:nvPr/>
        </p:nvSpPr>
        <p:spPr>
          <a:xfrm>
            <a:off x="8274422" y="3767601"/>
            <a:ext cx="3227296" cy="552060"/>
          </a:xfrm>
          <a:prstGeom prst="wedgeRoundRectCallout">
            <a:avLst>
              <a:gd name="adj1" fmla="val -18704"/>
              <a:gd name="adj2" fmla="val -80400"/>
              <a:gd name="adj3" fmla="val 16667"/>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fontAlgn="base"/>
            <a:r>
              <a:rPr lang="ko-KR" altLang="en-US" sz="1200" dirty="0">
                <a:solidFill>
                  <a:schemeClr val="tx1"/>
                </a:solidFill>
              </a:rPr>
              <a:t>특허권의 속지주의 원칙과 구성요소 완비의 원칙을 고려하여 엄격하게 판단</a:t>
            </a:r>
          </a:p>
        </p:txBody>
      </p:sp>
    </p:spTree>
    <p:extLst>
      <p:ext uri="{BB962C8B-B14F-4D97-AF65-F5344CB8AC3E}">
        <p14:creationId xmlns:p14="http://schemas.microsoft.com/office/powerpoint/2010/main" val="2257665418"/>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322F4D-1AA5-BD8D-7A46-A0576FC33F26}"/>
            </a:ext>
          </a:extLst>
        </p:cNvPr>
        <p:cNvGrpSpPr/>
        <p:nvPr/>
      </p:nvGrpSpPr>
      <p:grpSpPr>
        <a:xfrm>
          <a:off x="0" y="0"/>
          <a:ext cx="0" cy="0"/>
          <a:chOff x="0" y="0"/>
          <a:chExt cx="0" cy="0"/>
        </a:xfrm>
      </p:grpSpPr>
      <p:sp>
        <p:nvSpPr>
          <p:cNvPr id="4" name="제목 3">
            <a:extLst>
              <a:ext uri="{FF2B5EF4-FFF2-40B4-BE49-F238E27FC236}">
                <a16:creationId xmlns:a16="http://schemas.microsoft.com/office/drawing/2014/main" id="{DA6DF8AA-3888-E09A-ED74-78BA29CC9402}"/>
              </a:ext>
            </a:extLst>
          </p:cNvPr>
          <p:cNvSpPr>
            <a:spLocks noGrp="1"/>
          </p:cNvSpPr>
          <p:nvPr>
            <p:ph type="title"/>
          </p:nvPr>
        </p:nvSpPr>
        <p:spPr/>
        <p:txBody>
          <a:bodyPr/>
          <a:lstStyle/>
          <a:p>
            <a:r>
              <a:rPr lang="ko-KR" altLang="en-US" sz="1600" dirty="0"/>
              <a:t>제</a:t>
            </a:r>
            <a:r>
              <a:rPr lang="en-US" altLang="ko-KR" sz="1600" dirty="0"/>
              <a:t>96</a:t>
            </a:r>
            <a:r>
              <a:rPr lang="ko-KR" altLang="en-US" sz="1600" dirty="0"/>
              <a:t>조제</a:t>
            </a:r>
            <a:r>
              <a:rPr lang="en-US" altLang="ko-KR" sz="1600" dirty="0"/>
              <a:t>1</a:t>
            </a:r>
            <a:r>
              <a:rPr lang="ko-KR" altLang="en-US" sz="1600" dirty="0" err="1"/>
              <a:t>항제</a:t>
            </a:r>
            <a:r>
              <a:rPr lang="en-US" altLang="ko-KR" sz="1600" dirty="0"/>
              <a:t>1</a:t>
            </a:r>
            <a:r>
              <a:rPr lang="ko-KR" altLang="en-US" sz="1600" dirty="0"/>
              <a:t>호</a:t>
            </a:r>
            <a:r>
              <a:rPr lang="en-US" altLang="ko-KR" sz="1600" dirty="0"/>
              <a:t>, </a:t>
            </a:r>
            <a:r>
              <a:rPr lang="ko-KR" altLang="en-US" sz="1600" dirty="0"/>
              <a:t>제</a:t>
            </a:r>
            <a:r>
              <a:rPr lang="en-US" altLang="ko-KR" sz="1600" dirty="0"/>
              <a:t>127</a:t>
            </a:r>
            <a:r>
              <a:rPr lang="ko-KR" altLang="en-US" sz="1600" dirty="0"/>
              <a:t>조</a:t>
            </a:r>
          </a:p>
        </p:txBody>
      </p:sp>
      <p:sp>
        <p:nvSpPr>
          <p:cNvPr id="5" name="텍스트 개체 틀 4">
            <a:extLst>
              <a:ext uri="{FF2B5EF4-FFF2-40B4-BE49-F238E27FC236}">
                <a16:creationId xmlns:a16="http://schemas.microsoft.com/office/drawing/2014/main" id="{FCE97349-61C7-6431-C8C2-B53EEFC33019}"/>
              </a:ext>
            </a:extLst>
          </p:cNvPr>
          <p:cNvSpPr>
            <a:spLocks noGrp="1"/>
          </p:cNvSpPr>
          <p:nvPr>
            <p:ph type="body" sz="quarter" idx="13"/>
          </p:nvPr>
        </p:nvSpPr>
        <p:spPr/>
        <p:txBody>
          <a:bodyPr>
            <a:normAutofit/>
          </a:bodyPr>
          <a:lstStyle/>
          <a:p>
            <a:r>
              <a:rPr lang="ko-KR" altLang="en-US" dirty="0"/>
              <a:t>간접침해 </a:t>
            </a:r>
            <a:r>
              <a:rPr lang="en-US" altLang="ko-KR" dirty="0"/>
              <a:t>CASE: </a:t>
            </a:r>
            <a:r>
              <a:rPr lang="en-US" altLang="ko-KR" sz="2000" dirty="0"/>
              <a:t>13</a:t>
            </a:r>
            <a:r>
              <a:rPr lang="ko-KR" altLang="en-US" sz="2000" dirty="0"/>
              <a:t>가 백신 사건</a:t>
            </a:r>
            <a:r>
              <a:rPr lang="en-US" altLang="ko-KR" sz="1700" dirty="0"/>
              <a:t>(</a:t>
            </a:r>
            <a:r>
              <a:rPr lang="ko-KR" altLang="en-US" sz="1700" dirty="0"/>
              <a:t>대법원 </a:t>
            </a:r>
            <a:r>
              <a:rPr lang="en-US" altLang="ko-KR" sz="1700" dirty="0"/>
              <a:t>2025. 5. 15. </a:t>
            </a:r>
            <a:r>
              <a:rPr lang="ko-KR" altLang="en-US" sz="1700" dirty="0"/>
              <a:t>선고 </a:t>
            </a:r>
            <a:r>
              <a:rPr lang="en-US" altLang="ko-KR" sz="1700" dirty="0"/>
              <a:t>2025</a:t>
            </a:r>
            <a:r>
              <a:rPr lang="ko-KR" altLang="en-US" sz="1700" dirty="0"/>
              <a:t>다</a:t>
            </a:r>
            <a:r>
              <a:rPr lang="en-US" altLang="ko-KR" sz="1700" dirty="0"/>
              <a:t>202970)</a:t>
            </a:r>
            <a:endParaRPr lang="ko-KR" altLang="en-US" sz="1700" dirty="0"/>
          </a:p>
        </p:txBody>
      </p:sp>
      <p:sp>
        <p:nvSpPr>
          <p:cNvPr id="2" name="슬라이드 번호 개체 틀 1">
            <a:extLst>
              <a:ext uri="{FF2B5EF4-FFF2-40B4-BE49-F238E27FC236}">
                <a16:creationId xmlns:a16="http://schemas.microsoft.com/office/drawing/2014/main" id="{9852A82A-3E85-FC79-3337-77EDAE038657}"/>
              </a:ext>
            </a:extLst>
          </p:cNvPr>
          <p:cNvSpPr>
            <a:spLocks noGrp="1"/>
          </p:cNvSpPr>
          <p:nvPr>
            <p:ph type="sldNum" sz="quarter" idx="4294967295"/>
          </p:nvPr>
        </p:nvSpPr>
        <p:spPr>
          <a:xfrm>
            <a:off x="11125200" y="0"/>
            <a:ext cx="1066800" cy="744538"/>
          </a:xfrm>
        </p:spPr>
        <p:txBody>
          <a:bodyPr/>
          <a:lstStyle/>
          <a:p>
            <a:r>
              <a:rPr lang="en-US" altLang="ko-KR"/>
              <a:t>395</a:t>
            </a:r>
            <a:endParaRPr lang="ko-KR" altLang="en-US"/>
          </a:p>
        </p:txBody>
      </p:sp>
      <p:sp>
        <p:nvSpPr>
          <p:cNvPr id="7" name="Line 5">
            <a:extLst>
              <a:ext uri="{FF2B5EF4-FFF2-40B4-BE49-F238E27FC236}">
                <a16:creationId xmlns:a16="http://schemas.microsoft.com/office/drawing/2014/main" id="{C6EB0B08-C7E0-E9A6-3A9D-1F9558B186A6}"/>
              </a:ext>
            </a:extLst>
          </p:cNvPr>
          <p:cNvSpPr>
            <a:spLocks noChangeShapeType="1"/>
          </p:cNvSpPr>
          <p:nvPr/>
        </p:nvSpPr>
        <p:spPr bwMode="auto">
          <a:xfrm>
            <a:off x="277906" y="2860486"/>
            <a:ext cx="11483788"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8" name="TextBox 7">
            <a:extLst>
              <a:ext uri="{FF2B5EF4-FFF2-40B4-BE49-F238E27FC236}">
                <a16:creationId xmlns:a16="http://schemas.microsoft.com/office/drawing/2014/main" id="{03F45773-D9ED-46A6-6DD0-A0B8F97C52EC}"/>
              </a:ext>
            </a:extLst>
          </p:cNvPr>
          <p:cNvSpPr txBox="1"/>
          <p:nvPr/>
        </p:nvSpPr>
        <p:spPr>
          <a:xfrm>
            <a:off x="1684023" y="3098729"/>
            <a:ext cx="638316" cy="276999"/>
          </a:xfrm>
          <a:prstGeom prst="rect">
            <a:avLst/>
          </a:prstGeom>
          <a:solidFill>
            <a:schemeClr val="accent3">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rgbClr val="FFFF00"/>
                </a:solidFill>
                <a:latin typeface="+mn-ea"/>
              </a:rPr>
              <a:t>甲 등록</a:t>
            </a:r>
          </a:p>
        </p:txBody>
      </p:sp>
      <p:sp>
        <p:nvSpPr>
          <p:cNvPr id="9" name="타원 8">
            <a:extLst>
              <a:ext uri="{FF2B5EF4-FFF2-40B4-BE49-F238E27FC236}">
                <a16:creationId xmlns:a16="http://schemas.microsoft.com/office/drawing/2014/main" id="{B6FA632F-0202-73F8-2629-3C8AB721B884}"/>
              </a:ext>
            </a:extLst>
          </p:cNvPr>
          <p:cNvSpPr/>
          <p:nvPr/>
        </p:nvSpPr>
        <p:spPr>
          <a:xfrm>
            <a:off x="1925816" y="276655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13" name="TextBox 12">
            <a:extLst>
              <a:ext uri="{FF2B5EF4-FFF2-40B4-BE49-F238E27FC236}">
                <a16:creationId xmlns:a16="http://schemas.microsoft.com/office/drawing/2014/main" id="{A992D717-2FAC-2E08-D85F-56D51281EE13}"/>
              </a:ext>
            </a:extLst>
          </p:cNvPr>
          <p:cNvSpPr txBox="1"/>
          <p:nvPr/>
        </p:nvSpPr>
        <p:spPr>
          <a:xfrm>
            <a:off x="5732868" y="2054458"/>
            <a:ext cx="1371282" cy="461665"/>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乙과 丙이 라이선스 계약 체결</a:t>
            </a:r>
          </a:p>
        </p:txBody>
      </p:sp>
      <p:sp>
        <p:nvSpPr>
          <p:cNvPr id="14" name="타원 13">
            <a:extLst>
              <a:ext uri="{FF2B5EF4-FFF2-40B4-BE49-F238E27FC236}">
                <a16:creationId xmlns:a16="http://schemas.microsoft.com/office/drawing/2014/main" id="{97CD3C0A-A28C-F0F2-5583-00741D3D6E7D}"/>
              </a:ext>
            </a:extLst>
          </p:cNvPr>
          <p:cNvSpPr/>
          <p:nvPr/>
        </p:nvSpPr>
        <p:spPr>
          <a:xfrm>
            <a:off x="6265099" y="276655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9" name="직사각형 38">
            <a:extLst>
              <a:ext uri="{FF2B5EF4-FFF2-40B4-BE49-F238E27FC236}">
                <a16:creationId xmlns:a16="http://schemas.microsoft.com/office/drawing/2014/main" id="{EC923713-C486-9936-3575-4EAB7FCB9C13}"/>
              </a:ext>
            </a:extLst>
          </p:cNvPr>
          <p:cNvSpPr/>
          <p:nvPr/>
        </p:nvSpPr>
        <p:spPr>
          <a:xfrm>
            <a:off x="761999" y="3562816"/>
            <a:ext cx="2877669" cy="487736"/>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 폐렴구균 백신으로 사용하기 위한 </a:t>
            </a:r>
            <a:r>
              <a:rPr lang="en-US" altLang="ko-KR" sz="1200" dirty="0">
                <a:solidFill>
                  <a:schemeClr val="tx1"/>
                </a:solidFill>
              </a:rPr>
              <a:t>13</a:t>
            </a:r>
            <a:r>
              <a:rPr lang="ko-KR" altLang="en-US" sz="1200" dirty="0">
                <a:solidFill>
                  <a:schemeClr val="tx1"/>
                </a:solidFill>
              </a:rPr>
              <a:t>가 면역원성 </a:t>
            </a:r>
            <a:r>
              <a:rPr lang="ko-KR" altLang="en-US" sz="1200" dirty="0" err="1">
                <a:solidFill>
                  <a:schemeClr val="tx1"/>
                </a:solidFill>
              </a:rPr>
              <a:t>조성물</a:t>
            </a:r>
            <a:r>
              <a:rPr lang="ko-KR" altLang="en-US" sz="1200" dirty="0">
                <a:solidFill>
                  <a:schemeClr val="tx1"/>
                </a:solidFill>
              </a:rPr>
              <a:t> </a:t>
            </a:r>
            <a:endParaRPr lang="en-US" altLang="ko-KR" sz="1200" dirty="0">
              <a:solidFill>
                <a:schemeClr val="tx1"/>
              </a:solidFill>
            </a:endParaRPr>
          </a:p>
        </p:txBody>
      </p:sp>
      <p:sp>
        <p:nvSpPr>
          <p:cNvPr id="43" name="TextBox 42">
            <a:extLst>
              <a:ext uri="{FF2B5EF4-FFF2-40B4-BE49-F238E27FC236}">
                <a16:creationId xmlns:a16="http://schemas.microsoft.com/office/drawing/2014/main" id="{D4024DB1-F87A-B7B9-5B9D-386EB58D3D49}"/>
              </a:ext>
            </a:extLst>
          </p:cNvPr>
          <p:cNvSpPr txBox="1"/>
          <p:nvPr/>
        </p:nvSpPr>
        <p:spPr>
          <a:xfrm>
            <a:off x="764614" y="4210739"/>
            <a:ext cx="2877669" cy="1015663"/>
          </a:xfrm>
          <a:prstGeom prst="rect">
            <a:avLst/>
          </a:prstGeom>
          <a:noFill/>
          <a:ln>
            <a:solidFill>
              <a:schemeClr val="bg1">
                <a:lumMod val="50000"/>
              </a:schemeClr>
            </a:solidFill>
          </a:ln>
        </p:spPr>
        <p:txBody>
          <a:bodyPr wrap="square">
            <a:spAutoFit/>
          </a:bodyPr>
          <a:lstStyle/>
          <a:p>
            <a:pPr algn="ctr"/>
            <a:r>
              <a:rPr lang="ko-KR" altLang="en-US" sz="1200" dirty="0"/>
              <a:t>직접 인체에 투약할 수 있는 형태인 최종 원액 등에 이르지 않더라도 제형화 등을 거칠 경우 폐렴구균 백신으로 사용할 수 있을 정도로 </a:t>
            </a:r>
            <a:r>
              <a:rPr lang="en-US" altLang="ko-KR" sz="1200" dirty="0">
                <a:solidFill>
                  <a:srgbClr val="FF0000"/>
                </a:solidFill>
              </a:rPr>
              <a:t>13</a:t>
            </a:r>
            <a:r>
              <a:rPr lang="ko-KR" altLang="en-US" sz="1200" dirty="0">
                <a:solidFill>
                  <a:srgbClr val="FF0000"/>
                </a:solidFill>
              </a:rPr>
              <a:t>개 혈청형 모두에 대하여 면역원성* </a:t>
            </a:r>
            <a:r>
              <a:rPr lang="ko-KR" altLang="en-US" sz="1200" dirty="0"/>
              <a:t>을 가지는 다당류</a:t>
            </a:r>
            <a:r>
              <a:rPr lang="en-US" altLang="ko-KR" sz="1200" dirty="0"/>
              <a:t>-</a:t>
            </a:r>
            <a:r>
              <a:rPr lang="ko-KR" altLang="en-US" sz="1200" dirty="0"/>
              <a:t>단백질 조성물을 의미</a:t>
            </a:r>
          </a:p>
        </p:txBody>
      </p:sp>
      <p:sp>
        <p:nvSpPr>
          <p:cNvPr id="45" name="TextBox 44">
            <a:extLst>
              <a:ext uri="{FF2B5EF4-FFF2-40B4-BE49-F238E27FC236}">
                <a16:creationId xmlns:a16="http://schemas.microsoft.com/office/drawing/2014/main" id="{9D425CCC-41AA-6744-ECEF-A145BBB43BB7}"/>
              </a:ext>
            </a:extLst>
          </p:cNvPr>
          <p:cNvSpPr txBox="1"/>
          <p:nvPr/>
        </p:nvSpPr>
        <p:spPr>
          <a:xfrm>
            <a:off x="1392435" y="2054458"/>
            <a:ext cx="2237154" cy="461665"/>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a:t>
            </a:r>
            <a:r>
              <a:rPr lang="en-US" altLang="ko-KR" sz="1200" dirty="0">
                <a:solidFill>
                  <a:schemeClr val="tx1"/>
                </a:solidFill>
                <a:latin typeface="+mn-ea"/>
              </a:rPr>
              <a:t>13</a:t>
            </a:r>
            <a:r>
              <a:rPr lang="ko-KR" altLang="en-US" sz="1200" dirty="0">
                <a:solidFill>
                  <a:schemeClr val="tx1"/>
                </a:solidFill>
                <a:latin typeface="+mn-ea"/>
              </a:rPr>
              <a:t>종 폐렴구균 접합백신 개발 </a:t>
            </a:r>
            <a:r>
              <a:rPr lang="en-US" altLang="ko-KR" sz="1200" dirty="0">
                <a:solidFill>
                  <a:schemeClr val="tx1"/>
                </a:solidFill>
                <a:latin typeface="+mn-ea"/>
              </a:rPr>
              <a:t>&amp; </a:t>
            </a:r>
            <a:r>
              <a:rPr lang="ko-KR" altLang="en-US" sz="1200" dirty="0" err="1">
                <a:solidFill>
                  <a:schemeClr val="tx1"/>
                </a:solidFill>
                <a:latin typeface="+mn-ea"/>
              </a:rPr>
              <a:t>식약처로부터</a:t>
            </a:r>
            <a:r>
              <a:rPr lang="ko-KR" altLang="en-US" sz="1200" dirty="0">
                <a:solidFill>
                  <a:schemeClr val="tx1"/>
                </a:solidFill>
                <a:latin typeface="+mn-ea"/>
              </a:rPr>
              <a:t> 품목허가</a:t>
            </a:r>
          </a:p>
        </p:txBody>
      </p:sp>
      <p:sp>
        <p:nvSpPr>
          <p:cNvPr id="46" name="타원 45">
            <a:extLst>
              <a:ext uri="{FF2B5EF4-FFF2-40B4-BE49-F238E27FC236}">
                <a16:creationId xmlns:a16="http://schemas.microsoft.com/office/drawing/2014/main" id="{E09194FE-F635-B5E9-E9A7-550CAB130F71}"/>
              </a:ext>
            </a:extLst>
          </p:cNvPr>
          <p:cNvSpPr/>
          <p:nvPr/>
        </p:nvSpPr>
        <p:spPr>
          <a:xfrm>
            <a:off x="2539468" y="276655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47" name="TextBox 46">
            <a:extLst>
              <a:ext uri="{FF2B5EF4-FFF2-40B4-BE49-F238E27FC236}">
                <a16:creationId xmlns:a16="http://schemas.microsoft.com/office/drawing/2014/main" id="{A9AC115A-C8AA-8075-7D0A-073BCB0E16FF}"/>
              </a:ext>
            </a:extLst>
          </p:cNvPr>
          <p:cNvSpPr txBox="1"/>
          <p:nvPr/>
        </p:nvSpPr>
        <p:spPr>
          <a:xfrm>
            <a:off x="4677450" y="995209"/>
            <a:ext cx="3482118" cy="830997"/>
          </a:xfrm>
          <a:prstGeom prst="rect">
            <a:avLst/>
          </a:prstGeom>
          <a:noFill/>
          <a:ln>
            <a:solidFill>
              <a:schemeClr val="bg1">
                <a:lumMod val="50000"/>
              </a:schemeClr>
            </a:solidFill>
          </a:ln>
        </p:spPr>
        <p:txBody>
          <a:bodyPr wrap="square">
            <a:spAutoFit/>
          </a:bodyPr>
          <a:lstStyle/>
          <a:p>
            <a:pPr marL="228600" indent="-228600">
              <a:buAutoNum type="arabicPeriod"/>
            </a:pPr>
            <a:r>
              <a:rPr lang="ko-KR" altLang="en-US" sz="1200" dirty="0"/>
              <a:t>乙이 </a:t>
            </a:r>
            <a:r>
              <a:rPr lang="en-US" altLang="ko-KR" sz="1200" dirty="0"/>
              <a:t>13</a:t>
            </a:r>
            <a:r>
              <a:rPr lang="ko-KR" altLang="en-US" sz="1200" dirty="0"/>
              <a:t>종 개별 접합체 원액 및 완성 백신을 기술이전</a:t>
            </a:r>
            <a:r>
              <a:rPr lang="en-US" altLang="ko-KR" sz="1200" dirty="0"/>
              <a:t>, </a:t>
            </a:r>
            <a:r>
              <a:rPr lang="ko-KR" altLang="en-US" sz="1200" dirty="0"/>
              <a:t>비임상 및 임상 공급</a:t>
            </a:r>
            <a:r>
              <a:rPr lang="en-US" altLang="ko-KR" sz="1200" dirty="0"/>
              <a:t>, </a:t>
            </a:r>
            <a:r>
              <a:rPr lang="ko-KR" altLang="en-US" sz="1200" dirty="0"/>
              <a:t>상업용 공급</a:t>
            </a:r>
            <a:endParaRPr lang="en-US" altLang="ko-KR" sz="1200" dirty="0"/>
          </a:p>
          <a:p>
            <a:pPr marL="228600" indent="-228600">
              <a:buAutoNum type="arabicPeriod"/>
            </a:pPr>
            <a:r>
              <a:rPr lang="ko-KR" altLang="en-US" sz="1200" dirty="0"/>
              <a:t>丙은 </a:t>
            </a:r>
            <a:r>
              <a:rPr lang="ko-KR" altLang="en-US" sz="1200" dirty="0" err="1"/>
              <a:t>이전받은</a:t>
            </a:r>
            <a:r>
              <a:rPr lang="ko-KR" altLang="en-US" sz="1200" dirty="0"/>
              <a:t> 기술 및 </a:t>
            </a:r>
            <a:r>
              <a:rPr lang="en-US" altLang="ko-KR" sz="1200" dirty="0"/>
              <a:t>13</a:t>
            </a:r>
            <a:r>
              <a:rPr lang="ko-KR" altLang="en-US" sz="1200" dirty="0"/>
              <a:t>종 개발 접합체 원액을 이용하여 러시아에서 완제품 제조</a:t>
            </a:r>
          </a:p>
        </p:txBody>
      </p:sp>
      <p:sp>
        <p:nvSpPr>
          <p:cNvPr id="48" name="TextBox 47">
            <a:extLst>
              <a:ext uri="{FF2B5EF4-FFF2-40B4-BE49-F238E27FC236}">
                <a16:creationId xmlns:a16="http://schemas.microsoft.com/office/drawing/2014/main" id="{7C33C1E9-5E31-EEF2-7680-23B496FEB4B4}"/>
              </a:ext>
            </a:extLst>
          </p:cNvPr>
          <p:cNvSpPr txBox="1"/>
          <p:nvPr/>
        </p:nvSpPr>
        <p:spPr>
          <a:xfrm>
            <a:off x="7328562" y="2054457"/>
            <a:ext cx="4154961" cy="461665"/>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乙이 丙에게 계약 이행</a:t>
            </a:r>
            <a:r>
              <a:rPr lang="en-US" altLang="ko-KR" sz="1200" dirty="0">
                <a:solidFill>
                  <a:schemeClr val="tx1"/>
                </a:solidFill>
                <a:latin typeface="+mn-ea"/>
              </a:rPr>
              <a:t>(13</a:t>
            </a:r>
            <a:r>
              <a:rPr lang="ko-KR" altLang="en-US" sz="1200" dirty="0">
                <a:solidFill>
                  <a:schemeClr val="tx1"/>
                </a:solidFill>
                <a:latin typeface="+mn-ea"/>
              </a:rPr>
              <a:t>종 개별 접합체 원액 및 완성 백신 공급</a:t>
            </a:r>
            <a:r>
              <a:rPr lang="en-US" altLang="ko-KR" sz="1200" dirty="0">
                <a:solidFill>
                  <a:schemeClr val="tx1"/>
                </a:solidFill>
                <a:latin typeface="+mn-ea"/>
              </a:rPr>
              <a:t>)</a:t>
            </a:r>
          </a:p>
          <a:p>
            <a:pPr algn="ctr"/>
            <a:r>
              <a:rPr lang="en-US" altLang="ko-KR" sz="1200" dirty="0">
                <a:solidFill>
                  <a:schemeClr val="tx1"/>
                </a:solidFill>
                <a:latin typeface="+mn-ea"/>
              </a:rPr>
              <a:t>&amp; </a:t>
            </a:r>
            <a:r>
              <a:rPr lang="ko-KR" altLang="en-US" sz="1200" dirty="0">
                <a:solidFill>
                  <a:schemeClr val="tx1"/>
                </a:solidFill>
                <a:latin typeface="+mn-ea"/>
              </a:rPr>
              <a:t>丙이 러시아에서 품목허가</a:t>
            </a:r>
            <a:r>
              <a:rPr lang="en-US" altLang="ko-KR" sz="1200" dirty="0">
                <a:solidFill>
                  <a:schemeClr val="tx1"/>
                </a:solidFill>
                <a:latin typeface="+mn-ea"/>
              </a:rPr>
              <a:t>, </a:t>
            </a:r>
            <a:r>
              <a:rPr lang="ko-KR" altLang="en-US" sz="1200" dirty="0">
                <a:solidFill>
                  <a:schemeClr val="tx1"/>
                </a:solidFill>
                <a:latin typeface="+mn-ea"/>
              </a:rPr>
              <a:t>생산</a:t>
            </a:r>
          </a:p>
        </p:txBody>
      </p:sp>
      <p:sp>
        <p:nvSpPr>
          <p:cNvPr id="49" name="타원 48">
            <a:extLst>
              <a:ext uri="{FF2B5EF4-FFF2-40B4-BE49-F238E27FC236}">
                <a16:creationId xmlns:a16="http://schemas.microsoft.com/office/drawing/2014/main" id="{4BE78602-DD11-464F-E8CF-CA8A901F6297}"/>
              </a:ext>
            </a:extLst>
          </p:cNvPr>
          <p:cNvSpPr/>
          <p:nvPr/>
        </p:nvSpPr>
        <p:spPr>
          <a:xfrm>
            <a:off x="9128432" y="276655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50" name="TextBox 49">
            <a:extLst>
              <a:ext uri="{FF2B5EF4-FFF2-40B4-BE49-F238E27FC236}">
                <a16:creationId xmlns:a16="http://schemas.microsoft.com/office/drawing/2014/main" id="{8D6716FA-4138-F406-353F-90E88D61060C}"/>
              </a:ext>
            </a:extLst>
          </p:cNvPr>
          <p:cNvSpPr txBox="1"/>
          <p:nvPr/>
        </p:nvSpPr>
        <p:spPr>
          <a:xfrm>
            <a:off x="8502780" y="3143554"/>
            <a:ext cx="3398368"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특허권 침해금지 및 부정경쟁행위 금지 소송제기</a:t>
            </a:r>
          </a:p>
        </p:txBody>
      </p:sp>
      <p:sp>
        <p:nvSpPr>
          <p:cNvPr id="51" name="타원 50">
            <a:extLst>
              <a:ext uri="{FF2B5EF4-FFF2-40B4-BE49-F238E27FC236}">
                <a16:creationId xmlns:a16="http://schemas.microsoft.com/office/drawing/2014/main" id="{0C10395D-40AA-2E75-FD91-C84531B86F2A}"/>
              </a:ext>
            </a:extLst>
          </p:cNvPr>
          <p:cNvSpPr/>
          <p:nvPr/>
        </p:nvSpPr>
        <p:spPr>
          <a:xfrm>
            <a:off x="9931529" y="276655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53" name="직사각형 52">
            <a:extLst>
              <a:ext uri="{FF2B5EF4-FFF2-40B4-BE49-F238E27FC236}">
                <a16:creationId xmlns:a16="http://schemas.microsoft.com/office/drawing/2014/main" id="{47BD1962-F8DC-D919-1577-BEF6D952AAAB}"/>
              </a:ext>
            </a:extLst>
          </p:cNvPr>
          <p:cNvSpPr/>
          <p:nvPr/>
        </p:nvSpPr>
        <p:spPr>
          <a:xfrm>
            <a:off x="8497216" y="3691809"/>
            <a:ext cx="3398368" cy="1143649"/>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28600" indent="-228600">
              <a:buAutoNum type="arabicPeriod"/>
            </a:pPr>
            <a:r>
              <a:rPr lang="en-US" altLang="ko-KR" sz="1200" dirty="0">
                <a:solidFill>
                  <a:schemeClr val="tx1"/>
                </a:solidFill>
              </a:rPr>
              <a:t>13</a:t>
            </a:r>
            <a:r>
              <a:rPr lang="ko-KR" altLang="en-US" sz="1200" dirty="0">
                <a:solidFill>
                  <a:schemeClr val="tx1"/>
                </a:solidFill>
              </a:rPr>
              <a:t>종 개별 접합체 원액 생산 </a:t>
            </a:r>
            <a:r>
              <a:rPr lang="en-US" altLang="ko-KR" sz="1200" dirty="0">
                <a:solidFill>
                  <a:schemeClr val="tx1"/>
                </a:solidFill>
              </a:rPr>
              <a:t>&amp; </a:t>
            </a:r>
            <a:r>
              <a:rPr lang="ko-KR" altLang="en-US" sz="1200" dirty="0">
                <a:solidFill>
                  <a:schemeClr val="tx1"/>
                </a:solidFill>
              </a:rPr>
              <a:t>수출 </a:t>
            </a:r>
            <a:endParaRPr lang="en-US" altLang="ko-KR" sz="1200" dirty="0">
              <a:solidFill>
                <a:schemeClr val="tx1"/>
              </a:solidFill>
            </a:endParaRPr>
          </a:p>
          <a:p>
            <a:r>
              <a:rPr lang="en-US" altLang="ko-KR" sz="1200" dirty="0">
                <a:solidFill>
                  <a:schemeClr val="tx1"/>
                </a:solidFill>
              </a:rPr>
              <a:t>  (1) </a:t>
            </a:r>
            <a:r>
              <a:rPr lang="ko-KR" altLang="en-US" sz="1200" dirty="0">
                <a:solidFill>
                  <a:schemeClr val="tx1"/>
                </a:solidFill>
              </a:rPr>
              <a:t>특허권 직접침해 </a:t>
            </a:r>
            <a:endParaRPr lang="en-US" altLang="ko-KR" sz="1200" dirty="0">
              <a:solidFill>
                <a:schemeClr val="tx1"/>
              </a:solidFill>
            </a:endParaRPr>
          </a:p>
          <a:p>
            <a:r>
              <a:rPr lang="en-US" altLang="ko-KR" sz="1200" dirty="0">
                <a:solidFill>
                  <a:schemeClr val="tx1"/>
                </a:solidFill>
              </a:rPr>
              <a:t>  (2) </a:t>
            </a:r>
            <a:r>
              <a:rPr lang="ko-KR" altLang="en-US" sz="1200" dirty="0">
                <a:solidFill>
                  <a:schemeClr val="tx1"/>
                </a:solidFill>
              </a:rPr>
              <a:t>특허권 간접침해</a:t>
            </a:r>
            <a:endParaRPr lang="en-US" altLang="ko-KR" sz="1200" dirty="0">
              <a:solidFill>
                <a:schemeClr val="tx1"/>
              </a:solidFill>
            </a:endParaRPr>
          </a:p>
          <a:p>
            <a:r>
              <a:rPr lang="ko-KR" altLang="en-US" sz="1200" dirty="0">
                <a:solidFill>
                  <a:schemeClr val="tx1"/>
                </a:solidFill>
              </a:rPr>
              <a:t>  </a:t>
            </a:r>
            <a:r>
              <a:rPr lang="en-US" altLang="ko-KR" sz="1200" dirty="0">
                <a:solidFill>
                  <a:schemeClr val="tx1"/>
                </a:solidFill>
              </a:rPr>
              <a:t>(3) </a:t>
            </a:r>
            <a:r>
              <a:rPr lang="ko-KR" altLang="en-US" sz="1200" dirty="0">
                <a:solidFill>
                  <a:srgbClr val="FF0000"/>
                </a:solidFill>
              </a:rPr>
              <a:t>성과 등 무단사용 부정경쟁행위</a:t>
            </a:r>
            <a:r>
              <a:rPr lang="ko-KR" altLang="en-US" sz="1200" dirty="0">
                <a:solidFill>
                  <a:schemeClr val="tx1"/>
                </a:solidFill>
              </a:rPr>
              <a:t>**</a:t>
            </a:r>
            <a:endParaRPr lang="en-US" altLang="ko-KR" sz="1200" dirty="0">
              <a:solidFill>
                <a:schemeClr val="tx1"/>
              </a:solidFill>
            </a:endParaRPr>
          </a:p>
          <a:p>
            <a:r>
              <a:rPr lang="en-US" altLang="ko-KR" sz="1200" dirty="0">
                <a:solidFill>
                  <a:schemeClr val="tx1"/>
                </a:solidFill>
              </a:rPr>
              <a:t>2. </a:t>
            </a:r>
            <a:r>
              <a:rPr lang="ko-KR" altLang="en-US" sz="1200" dirty="0">
                <a:solidFill>
                  <a:schemeClr val="tx1"/>
                </a:solidFill>
              </a:rPr>
              <a:t>완성 백신 생산 </a:t>
            </a:r>
            <a:r>
              <a:rPr lang="en-US" altLang="ko-KR" sz="1200" dirty="0">
                <a:solidFill>
                  <a:schemeClr val="tx1"/>
                </a:solidFill>
              </a:rPr>
              <a:t>&amp; </a:t>
            </a:r>
            <a:r>
              <a:rPr lang="ko-KR" altLang="en-US" sz="1200" dirty="0">
                <a:solidFill>
                  <a:schemeClr val="tx1"/>
                </a:solidFill>
              </a:rPr>
              <a:t>수출</a:t>
            </a:r>
            <a:r>
              <a:rPr lang="en-US" altLang="ko-KR" sz="1200" dirty="0">
                <a:solidFill>
                  <a:schemeClr val="tx1"/>
                </a:solidFill>
              </a:rPr>
              <a:t> </a:t>
            </a:r>
          </a:p>
          <a:p>
            <a:r>
              <a:rPr lang="en-US" altLang="ko-KR" sz="1200" dirty="0">
                <a:solidFill>
                  <a:schemeClr val="tx1"/>
                </a:solidFill>
              </a:rPr>
              <a:t>  – </a:t>
            </a:r>
            <a:r>
              <a:rPr lang="ko-KR" altLang="en-US" sz="1200" dirty="0">
                <a:solidFill>
                  <a:srgbClr val="FF0000"/>
                </a:solidFill>
              </a:rPr>
              <a:t>특허권 직접침해</a:t>
            </a:r>
            <a:r>
              <a:rPr lang="ko-KR" altLang="en-US" sz="1200" dirty="0">
                <a:solidFill>
                  <a:schemeClr val="tx1"/>
                </a:solidFill>
              </a:rPr>
              <a:t>***</a:t>
            </a:r>
            <a:endParaRPr lang="en-US" altLang="ko-KR" sz="1200" dirty="0">
              <a:solidFill>
                <a:schemeClr val="tx1"/>
              </a:solidFill>
            </a:endParaRPr>
          </a:p>
        </p:txBody>
      </p:sp>
      <p:cxnSp>
        <p:nvCxnSpPr>
          <p:cNvPr id="82" name="연결선: 꺾임 81">
            <a:extLst>
              <a:ext uri="{FF2B5EF4-FFF2-40B4-BE49-F238E27FC236}">
                <a16:creationId xmlns:a16="http://schemas.microsoft.com/office/drawing/2014/main" id="{E6B8E169-E18D-DB9D-2843-345F1A4B22FA}"/>
              </a:ext>
            </a:extLst>
          </p:cNvPr>
          <p:cNvCxnSpPr>
            <a:stCxn id="8" idx="0"/>
            <a:endCxn id="9" idx="4"/>
          </p:cNvCxnSpPr>
          <p:nvPr/>
        </p:nvCxnSpPr>
        <p:spPr>
          <a:xfrm rot="5400000" flipH="1" flipV="1">
            <a:off x="1917764" y="3013308"/>
            <a:ext cx="170839" cy="4"/>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90" name="연결선: 꺾임 89">
            <a:extLst>
              <a:ext uri="{FF2B5EF4-FFF2-40B4-BE49-F238E27FC236}">
                <a16:creationId xmlns:a16="http://schemas.microsoft.com/office/drawing/2014/main" id="{AEA8397B-B598-7430-C94D-61E3951FD7BC}"/>
              </a:ext>
            </a:extLst>
          </p:cNvPr>
          <p:cNvCxnSpPr>
            <a:stCxn id="39" idx="0"/>
            <a:endCxn id="8" idx="2"/>
          </p:cNvCxnSpPr>
          <p:nvPr/>
        </p:nvCxnSpPr>
        <p:spPr>
          <a:xfrm rot="16200000" flipV="1">
            <a:off x="2008464" y="3370445"/>
            <a:ext cx="187088" cy="197653"/>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92" name="연결선: 꺾임 91">
            <a:extLst>
              <a:ext uri="{FF2B5EF4-FFF2-40B4-BE49-F238E27FC236}">
                <a16:creationId xmlns:a16="http://schemas.microsoft.com/office/drawing/2014/main" id="{34B36870-9755-756C-7B92-1908E4C26112}"/>
              </a:ext>
            </a:extLst>
          </p:cNvPr>
          <p:cNvCxnSpPr>
            <a:cxnSpLocks/>
            <a:stCxn id="43" idx="0"/>
            <a:endCxn id="39" idx="2"/>
          </p:cNvCxnSpPr>
          <p:nvPr/>
        </p:nvCxnSpPr>
        <p:spPr>
          <a:xfrm rot="16200000" flipV="1">
            <a:off x="2122049" y="4129338"/>
            <a:ext cx="160187" cy="2615"/>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96" name="연결선: 꺾임 95">
            <a:extLst>
              <a:ext uri="{FF2B5EF4-FFF2-40B4-BE49-F238E27FC236}">
                <a16:creationId xmlns:a16="http://schemas.microsoft.com/office/drawing/2014/main" id="{13DF9574-1BA8-8463-DB18-4F60B938C733}"/>
              </a:ext>
            </a:extLst>
          </p:cNvPr>
          <p:cNvCxnSpPr>
            <a:cxnSpLocks/>
            <a:stCxn id="45" idx="2"/>
            <a:endCxn id="46" idx="0"/>
          </p:cNvCxnSpPr>
          <p:nvPr/>
        </p:nvCxnSpPr>
        <p:spPr>
          <a:xfrm rot="16200000" flipH="1">
            <a:off x="2438710" y="2588424"/>
            <a:ext cx="250429" cy="105825"/>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98" name="연결선: 꺾임 97">
            <a:extLst>
              <a:ext uri="{FF2B5EF4-FFF2-40B4-BE49-F238E27FC236}">
                <a16:creationId xmlns:a16="http://schemas.microsoft.com/office/drawing/2014/main" id="{98294214-24E5-E30D-F346-944247C0608A}"/>
              </a:ext>
            </a:extLst>
          </p:cNvPr>
          <p:cNvCxnSpPr>
            <a:stCxn id="13" idx="2"/>
            <a:endCxn id="14" idx="0"/>
          </p:cNvCxnSpPr>
          <p:nvPr/>
        </p:nvCxnSpPr>
        <p:spPr>
          <a:xfrm rot="5400000">
            <a:off x="6255275" y="2603317"/>
            <a:ext cx="250429" cy="76041"/>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00" name="직선 연결선 99">
            <a:extLst>
              <a:ext uri="{FF2B5EF4-FFF2-40B4-BE49-F238E27FC236}">
                <a16:creationId xmlns:a16="http://schemas.microsoft.com/office/drawing/2014/main" id="{03EB2C35-EFBD-4E79-690C-5ACC9B0F4BD4}"/>
              </a:ext>
            </a:extLst>
          </p:cNvPr>
          <p:cNvCxnSpPr>
            <a:cxnSpLocks/>
            <a:stCxn id="47" idx="2"/>
            <a:endCxn id="13" idx="0"/>
          </p:cNvCxnSpPr>
          <p:nvPr/>
        </p:nvCxnSpPr>
        <p:spPr>
          <a:xfrm>
            <a:off x="6418509" y="1826206"/>
            <a:ext cx="0" cy="228252"/>
          </a:xfrm>
          <a:prstGeom prst="line">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02" name="연결선: 꺾임 101">
            <a:extLst>
              <a:ext uri="{FF2B5EF4-FFF2-40B4-BE49-F238E27FC236}">
                <a16:creationId xmlns:a16="http://schemas.microsoft.com/office/drawing/2014/main" id="{6F168BFF-A453-50A8-5050-4F861F402571}"/>
              </a:ext>
            </a:extLst>
          </p:cNvPr>
          <p:cNvCxnSpPr>
            <a:stCxn id="48" idx="2"/>
            <a:endCxn id="49" idx="0"/>
          </p:cNvCxnSpPr>
          <p:nvPr/>
        </p:nvCxnSpPr>
        <p:spPr>
          <a:xfrm rot="5400000">
            <a:off x="9180707" y="2541216"/>
            <a:ext cx="250430" cy="200242"/>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06" name="연결선: 꺾임 105">
            <a:extLst>
              <a:ext uri="{FF2B5EF4-FFF2-40B4-BE49-F238E27FC236}">
                <a16:creationId xmlns:a16="http://schemas.microsoft.com/office/drawing/2014/main" id="{9EDDE055-8C9E-E1F9-A49F-FCE20FB9C5D7}"/>
              </a:ext>
            </a:extLst>
          </p:cNvPr>
          <p:cNvCxnSpPr>
            <a:stCxn id="51" idx="4"/>
            <a:endCxn id="50" idx="0"/>
          </p:cNvCxnSpPr>
          <p:nvPr/>
        </p:nvCxnSpPr>
        <p:spPr>
          <a:xfrm rot="16200000" flipH="1">
            <a:off x="9997599" y="2939189"/>
            <a:ext cx="215664" cy="193066"/>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08" name="연결선: 꺾임 107">
            <a:extLst>
              <a:ext uri="{FF2B5EF4-FFF2-40B4-BE49-F238E27FC236}">
                <a16:creationId xmlns:a16="http://schemas.microsoft.com/office/drawing/2014/main" id="{5E958922-6704-9C52-35DD-00EE8189176C}"/>
              </a:ext>
            </a:extLst>
          </p:cNvPr>
          <p:cNvCxnSpPr>
            <a:cxnSpLocks/>
            <a:stCxn id="50" idx="2"/>
            <a:endCxn id="53" idx="0"/>
          </p:cNvCxnSpPr>
          <p:nvPr/>
        </p:nvCxnSpPr>
        <p:spPr>
          <a:xfrm rot="5400000">
            <a:off x="10063554" y="3553399"/>
            <a:ext cx="271256" cy="5564"/>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10" name="사각형: 둥근 모서리 109">
            <a:extLst>
              <a:ext uri="{FF2B5EF4-FFF2-40B4-BE49-F238E27FC236}">
                <a16:creationId xmlns:a16="http://schemas.microsoft.com/office/drawing/2014/main" id="{EE53C9AE-1674-9A58-5758-ECE2B8D15FD2}"/>
              </a:ext>
            </a:extLst>
          </p:cNvPr>
          <p:cNvSpPr/>
          <p:nvPr/>
        </p:nvSpPr>
        <p:spPr>
          <a:xfrm>
            <a:off x="9931530" y="3906179"/>
            <a:ext cx="162678" cy="162678"/>
          </a:xfrm>
          <a:prstGeom prst="roundRect">
            <a:avLst/>
          </a:prstGeom>
          <a:solidFill>
            <a:schemeClr val="accent5">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111" name="사각형: 둥근 모서리 110">
            <a:extLst>
              <a:ext uri="{FF2B5EF4-FFF2-40B4-BE49-F238E27FC236}">
                <a16:creationId xmlns:a16="http://schemas.microsoft.com/office/drawing/2014/main" id="{116F1B24-0666-CB0E-5F91-9AEEA37CC0CB}"/>
              </a:ext>
            </a:extLst>
          </p:cNvPr>
          <p:cNvSpPr/>
          <p:nvPr/>
        </p:nvSpPr>
        <p:spPr>
          <a:xfrm>
            <a:off x="9931530" y="4091085"/>
            <a:ext cx="162678" cy="162678"/>
          </a:xfrm>
          <a:prstGeom prst="roundRect">
            <a:avLst/>
          </a:prstGeom>
          <a:solidFill>
            <a:schemeClr val="accent5">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a:t>2</a:t>
            </a:r>
            <a:endParaRPr lang="ko-KR" altLang="en-US" sz="1200" dirty="0"/>
          </a:p>
        </p:txBody>
      </p:sp>
      <p:sp>
        <p:nvSpPr>
          <p:cNvPr id="112" name="사각형: 둥근 모서리 111">
            <a:extLst>
              <a:ext uri="{FF2B5EF4-FFF2-40B4-BE49-F238E27FC236}">
                <a16:creationId xmlns:a16="http://schemas.microsoft.com/office/drawing/2014/main" id="{D4431D77-B794-20CE-E3F4-D26268334264}"/>
              </a:ext>
            </a:extLst>
          </p:cNvPr>
          <p:cNvSpPr/>
          <p:nvPr/>
        </p:nvSpPr>
        <p:spPr>
          <a:xfrm>
            <a:off x="10980122" y="4286745"/>
            <a:ext cx="162678" cy="162678"/>
          </a:xfrm>
          <a:prstGeom prst="roundRect">
            <a:avLst/>
          </a:prstGeom>
          <a:solidFill>
            <a:schemeClr val="accent5">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13" name="사각형: 둥근 모서리 112">
            <a:extLst>
              <a:ext uri="{FF2B5EF4-FFF2-40B4-BE49-F238E27FC236}">
                <a16:creationId xmlns:a16="http://schemas.microsoft.com/office/drawing/2014/main" id="{C86DF82A-7F49-CA85-5933-6BEE5BDDE15E}"/>
              </a:ext>
            </a:extLst>
          </p:cNvPr>
          <p:cNvSpPr/>
          <p:nvPr/>
        </p:nvSpPr>
        <p:spPr>
          <a:xfrm>
            <a:off x="10066000" y="4641560"/>
            <a:ext cx="162678" cy="162678"/>
          </a:xfrm>
          <a:prstGeom prst="roundRect">
            <a:avLst/>
          </a:prstGeom>
          <a:solidFill>
            <a:schemeClr val="accent5">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a:t>4</a:t>
            </a:r>
            <a:endParaRPr lang="ko-KR" altLang="en-US" sz="1200" dirty="0"/>
          </a:p>
        </p:txBody>
      </p:sp>
      <p:sp>
        <p:nvSpPr>
          <p:cNvPr id="114" name="말풍선: 모서리가 둥근 사각형 113">
            <a:extLst>
              <a:ext uri="{FF2B5EF4-FFF2-40B4-BE49-F238E27FC236}">
                <a16:creationId xmlns:a16="http://schemas.microsoft.com/office/drawing/2014/main" id="{699F7A32-91E8-6A67-8966-281830963CB4}"/>
              </a:ext>
            </a:extLst>
          </p:cNvPr>
          <p:cNvSpPr/>
          <p:nvPr/>
        </p:nvSpPr>
        <p:spPr>
          <a:xfrm>
            <a:off x="941294" y="1683971"/>
            <a:ext cx="1472724" cy="228252"/>
          </a:xfrm>
          <a:prstGeom prst="wedgeRoundRectCallout">
            <a:avLst>
              <a:gd name="adj1" fmla="val -6593"/>
              <a:gd name="adj2" fmla="val 126564"/>
              <a:gd name="adj3" fmla="val 16667"/>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rgbClr val="FF0000"/>
                </a:solidFill>
              </a:rPr>
              <a:t>OK</a:t>
            </a:r>
            <a:r>
              <a:rPr lang="ko-KR" altLang="en-US" sz="1200" dirty="0" err="1">
                <a:solidFill>
                  <a:srgbClr val="FF0000"/>
                </a:solidFill>
              </a:rPr>
              <a:t>바이오사이언스</a:t>
            </a:r>
            <a:endParaRPr lang="ko-KR" altLang="en-US" sz="1200" dirty="0">
              <a:solidFill>
                <a:srgbClr val="FF0000"/>
              </a:solidFill>
            </a:endParaRPr>
          </a:p>
        </p:txBody>
      </p:sp>
      <p:sp>
        <p:nvSpPr>
          <p:cNvPr id="116" name="TextBox 115">
            <a:extLst>
              <a:ext uri="{FF2B5EF4-FFF2-40B4-BE49-F238E27FC236}">
                <a16:creationId xmlns:a16="http://schemas.microsoft.com/office/drawing/2014/main" id="{34F332F6-E42C-15FE-8E82-3E0AEE093915}"/>
              </a:ext>
            </a:extLst>
          </p:cNvPr>
          <p:cNvSpPr txBox="1"/>
          <p:nvPr/>
        </p:nvSpPr>
        <p:spPr>
          <a:xfrm>
            <a:off x="143102" y="5368113"/>
            <a:ext cx="11851674" cy="1477328"/>
          </a:xfrm>
          <a:prstGeom prst="rect">
            <a:avLst/>
          </a:prstGeom>
          <a:noFill/>
        </p:spPr>
        <p:txBody>
          <a:bodyPr wrap="square">
            <a:spAutoFit/>
          </a:bodyPr>
          <a:lstStyle/>
          <a:p>
            <a:r>
              <a:rPr lang="ko-KR" altLang="en-US" sz="1000" dirty="0"/>
              <a:t>* 폐렴구균 다가 접합체 백신을 </a:t>
            </a:r>
            <a:r>
              <a:rPr lang="ko-KR" altLang="en-US" sz="1000" dirty="0" err="1"/>
              <a:t>연구·개발하는</a:t>
            </a:r>
            <a:r>
              <a:rPr lang="ko-KR" altLang="en-US" sz="1000" dirty="0"/>
              <a:t> 기술 분야에서 기술적 어려움으로 인식되어 오던 </a:t>
            </a:r>
            <a:r>
              <a:rPr lang="ko-KR" altLang="en-US" sz="1000" dirty="0">
                <a:solidFill>
                  <a:srgbClr val="FF0000"/>
                </a:solidFill>
              </a:rPr>
              <a:t>가수의 증가에 따른 면역반응 저하 내지 억제</a:t>
            </a:r>
            <a:r>
              <a:rPr lang="ko-KR" altLang="en-US" sz="1000" dirty="0"/>
              <a:t> 등을 극복하고, 13종의 폐렴구균 항원에 대해 면역원성을 가지는 조성물을 발명함으로써, 폐렴구균 백신의 적용범위(</a:t>
            </a:r>
            <a:r>
              <a:rPr lang="ko-KR" altLang="en-US" sz="1000" dirty="0" err="1"/>
              <a:t>coverage</a:t>
            </a:r>
            <a:r>
              <a:rPr lang="ko-KR" altLang="en-US" sz="1000" dirty="0"/>
              <a:t>)</a:t>
            </a:r>
            <a:r>
              <a:rPr lang="ko-KR" altLang="en-US" sz="1000" dirty="0" err="1"/>
              <a:t>를</a:t>
            </a:r>
            <a:r>
              <a:rPr lang="ko-KR" altLang="en-US" sz="1000" dirty="0"/>
              <a:t> 넓힘</a:t>
            </a:r>
            <a:endParaRPr lang="en-US" altLang="ko-KR" sz="1000" dirty="0"/>
          </a:p>
          <a:p>
            <a:r>
              <a:rPr lang="ko-KR" altLang="en-US" sz="1000" dirty="0"/>
              <a:t>** 부정경쟁방지법 제</a:t>
            </a:r>
            <a:r>
              <a:rPr lang="en-US" altLang="ko-KR" sz="1000" dirty="0"/>
              <a:t>2</a:t>
            </a:r>
            <a:r>
              <a:rPr lang="ko-KR" altLang="en-US" sz="1000" dirty="0"/>
              <a:t>조제</a:t>
            </a:r>
            <a:r>
              <a:rPr lang="en-US" altLang="ko-KR" sz="1000" dirty="0"/>
              <a:t>1</a:t>
            </a:r>
            <a:r>
              <a:rPr lang="ko-KR" altLang="en-US" sz="1000" dirty="0"/>
              <a:t>호</a:t>
            </a:r>
            <a:r>
              <a:rPr lang="en-US" altLang="ko-KR" sz="1000" dirty="0"/>
              <a:t>(</a:t>
            </a:r>
            <a:r>
              <a:rPr lang="ko-KR" altLang="en-US" sz="1000" dirty="0"/>
              <a:t>파</a:t>
            </a:r>
            <a:r>
              <a:rPr lang="en-US" altLang="ko-KR" sz="1000" dirty="0"/>
              <a:t>)</a:t>
            </a:r>
            <a:r>
              <a:rPr lang="ko-KR" altLang="en-US" sz="1000" dirty="0"/>
              <a:t>목</a:t>
            </a:r>
            <a:r>
              <a:rPr lang="en-US" altLang="ko-KR" sz="1000" dirty="0"/>
              <a:t>:</a:t>
            </a:r>
            <a:r>
              <a:rPr lang="ko-KR" altLang="en-US" sz="1000" dirty="0"/>
              <a:t> 그 밖에 타인의 상당한 투자나 노력으로 만들어진 성과 등을 공정한 상거래 관행이나 경쟁질서에 반하는 방법으로 자신의 영업을 위하여 무단으로 사용함으로써 타인의 경제적 이익을 침해하는 행위</a:t>
            </a:r>
            <a:endParaRPr lang="en-US" altLang="ko-KR" sz="1000" dirty="0"/>
          </a:p>
          <a:p>
            <a:r>
              <a:rPr lang="ko-KR" altLang="en-US" sz="1000" dirty="0"/>
              <a:t>*** </a:t>
            </a:r>
            <a:r>
              <a:rPr lang="ko-KR" altLang="en-US" sz="1000" dirty="0">
                <a:solidFill>
                  <a:srgbClr val="FF0000"/>
                </a:solidFill>
              </a:rPr>
              <a:t>제</a:t>
            </a:r>
            <a:r>
              <a:rPr lang="en-US" altLang="ko-KR" sz="1000" dirty="0">
                <a:solidFill>
                  <a:srgbClr val="FF0000"/>
                </a:solidFill>
              </a:rPr>
              <a:t>96</a:t>
            </a:r>
            <a:r>
              <a:rPr lang="ko-KR" altLang="en-US" sz="1000" dirty="0">
                <a:solidFill>
                  <a:srgbClr val="FF0000"/>
                </a:solidFill>
              </a:rPr>
              <a:t>조제</a:t>
            </a:r>
            <a:r>
              <a:rPr lang="en-US" altLang="ko-KR" sz="1000" dirty="0">
                <a:solidFill>
                  <a:srgbClr val="FF0000"/>
                </a:solidFill>
              </a:rPr>
              <a:t>1</a:t>
            </a:r>
            <a:r>
              <a:rPr lang="ko-KR" altLang="en-US" sz="1000" dirty="0" err="1">
                <a:solidFill>
                  <a:srgbClr val="FF0000"/>
                </a:solidFill>
              </a:rPr>
              <a:t>항제</a:t>
            </a:r>
            <a:r>
              <a:rPr lang="en-US" altLang="ko-KR" sz="1000" dirty="0">
                <a:solidFill>
                  <a:srgbClr val="FF0000"/>
                </a:solidFill>
              </a:rPr>
              <a:t>1</a:t>
            </a:r>
            <a:r>
              <a:rPr lang="ko-KR" altLang="en-US" sz="1000" dirty="0">
                <a:solidFill>
                  <a:srgbClr val="FF0000"/>
                </a:solidFill>
              </a:rPr>
              <a:t>호가 쟁점이 된 사건</a:t>
            </a:r>
            <a:r>
              <a:rPr lang="ko-KR" altLang="en-US" sz="1000" dirty="0"/>
              <a:t>으로</a:t>
            </a:r>
            <a:r>
              <a:rPr lang="en-US" altLang="ko-KR" sz="1000" dirty="0"/>
              <a:t>, </a:t>
            </a:r>
            <a:r>
              <a:rPr lang="ko-KR" altLang="en-US" sz="1000" dirty="0"/>
              <a:t>원고 甲은 </a:t>
            </a:r>
            <a:r>
              <a:rPr lang="en-US" altLang="ko-KR" sz="1000" dirty="0"/>
              <a:t>1) </a:t>
            </a:r>
            <a:r>
              <a:rPr lang="ko-KR" altLang="en-US" sz="1000" dirty="0"/>
              <a:t>乙이 연구</a:t>
            </a:r>
            <a:r>
              <a:rPr lang="en-US" altLang="ko-KR" sz="1000" dirty="0"/>
              <a:t>·</a:t>
            </a:r>
            <a:r>
              <a:rPr lang="ko-KR" altLang="en-US" sz="1000" dirty="0"/>
              <a:t>시험의 주체인 </a:t>
            </a:r>
            <a:r>
              <a:rPr lang="ko-KR" altLang="en-US" sz="1000" dirty="0">
                <a:solidFill>
                  <a:srgbClr val="FF0000"/>
                </a:solidFill>
              </a:rPr>
              <a:t>丙과 별개의 법적 지위</a:t>
            </a:r>
            <a:r>
              <a:rPr lang="ko-KR" altLang="en-US" sz="1000" dirty="0"/>
              <a:t>에서 자신의 경제적 이익을 위하여 제</a:t>
            </a:r>
            <a:r>
              <a:rPr lang="en-US" altLang="ko-KR" sz="1000" dirty="0"/>
              <a:t>1</a:t>
            </a:r>
            <a:r>
              <a:rPr lang="ko-KR" altLang="en-US" sz="1000" dirty="0"/>
              <a:t>차 내지 제</a:t>
            </a:r>
            <a:r>
              <a:rPr lang="en-US" altLang="ko-KR" sz="1000" dirty="0"/>
              <a:t>4</a:t>
            </a:r>
            <a:r>
              <a:rPr lang="ko-KR" altLang="en-US" sz="1000" dirty="0"/>
              <a:t>차 백신을 생산하였고 연구</a:t>
            </a:r>
            <a:r>
              <a:rPr lang="en-US" altLang="ko-KR" sz="1000" dirty="0"/>
              <a:t>·</a:t>
            </a:r>
            <a:r>
              <a:rPr lang="ko-KR" altLang="en-US" sz="1000" dirty="0"/>
              <a:t>시험 결과에 대한 직접적 이익은 오로지 丙에게만 귀속되었으므로 특허법 제</a:t>
            </a:r>
            <a:r>
              <a:rPr lang="en-US" altLang="ko-KR" sz="1000" dirty="0"/>
              <a:t>96</a:t>
            </a:r>
            <a:r>
              <a:rPr lang="ko-KR" altLang="en-US" sz="1000" dirty="0"/>
              <a:t>조제</a:t>
            </a:r>
            <a:r>
              <a:rPr lang="en-US" altLang="ko-KR" sz="1000" dirty="0"/>
              <a:t>1</a:t>
            </a:r>
            <a:r>
              <a:rPr lang="ko-KR" altLang="en-US" sz="1000" dirty="0" err="1"/>
              <a:t>항제</a:t>
            </a:r>
            <a:r>
              <a:rPr lang="en-US" altLang="ko-KR" sz="1000" dirty="0"/>
              <a:t>1</a:t>
            </a:r>
            <a:r>
              <a:rPr lang="ko-KR" altLang="en-US" sz="1000" dirty="0"/>
              <a:t>호가 적용될 수 없다는 취지의 주장과  </a:t>
            </a:r>
            <a:r>
              <a:rPr lang="en-US" altLang="ko-KR" sz="1000" dirty="0"/>
              <a:t>2) </a:t>
            </a:r>
            <a:r>
              <a:rPr lang="ko-KR" altLang="en-US" sz="1000" dirty="0"/>
              <a:t>특허법 제</a:t>
            </a:r>
            <a:r>
              <a:rPr lang="en-US" altLang="ko-KR" sz="1000" dirty="0"/>
              <a:t>96</a:t>
            </a:r>
            <a:r>
              <a:rPr lang="ko-KR" altLang="en-US" sz="1000" dirty="0"/>
              <a:t>조 제</a:t>
            </a:r>
            <a:r>
              <a:rPr lang="en-US" altLang="ko-KR" sz="1000" dirty="0"/>
              <a:t>1</a:t>
            </a:r>
            <a:r>
              <a:rPr lang="ko-KR" altLang="en-US" sz="1000" dirty="0"/>
              <a:t>항 제</a:t>
            </a:r>
            <a:r>
              <a:rPr lang="en-US" altLang="ko-KR" sz="1000" dirty="0"/>
              <a:t>1</a:t>
            </a:r>
            <a:r>
              <a:rPr lang="ko-KR" altLang="en-US" sz="1000" dirty="0"/>
              <a:t>호에서 말하는 연구</a:t>
            </a:r>
            <a:r>
              <a:rPr lang="en-US" altLang="ko-KR" sz="1000" dirty="0"/>
              <a:t>·</a:t>
            </a:r>
            <a:r>
              <a:rPr lang="ko-KR" altLang="en-US" sz="1000" dirty="0"/>
              <a:t>시험은 특허법의 속지주의 원칙에 따라 </a:t>
            </a:r>
            <a:r>
              <a:rPr lang="ko-KR" altLang="en-US" sz="1000" dirty="0">
                <a:solidFill>
                  <a:srgbClr val="FF0000"/>
                </a:solidFill>
              </a:rPr>
              <a:t>국내</a:t>
            </a:r>
            <a:r>
              <a:rPr lang="ko-KR" altLang="en-US" sz="1000" dirty="0"/>
              <a:t>에서의 연구</a:t>
            </a:r>
            <a:r>
              <a:rPr lang="en-US" altLang="ko-KR" sz="1000" dirty="0"/>
              <a:t>·</a:t>
            </a:r>
            <a:r>
              <a:rPr lang="ko-KR" altLang="en-US" sz="1000" dirty="0"/>
              <a:t>시험을 의미하므로</a:t>
            </a:r>
            <a:r>
              <a:rPr lang="en-US" altLang="ko-KR" sz="1000" dirty="0"/>
              <a:t>, </a:t>
            </a:r>
            <a:r>
              <a:rPr lang="ko-KR" altLang="en-US" sz="1000" dirty="0"/>
              <a:t>러시아에서의 품목허가를 위하여 생산된 제</a:t>
            </a:r>
            <a:r>
              <a:rPr lang="en-US" altLang="ko-KR" sz="1000" dirty="0"/>
              <a:t>1</a:t>
            </a:r>
            <a:r>
              <a:rPr lang="ko-KR" altLang="en-US" sz="1000" dirty="0"/>
              <a:t>차 내지 제</a:t>
            </a:r>
            <a:r>
              <a:rPr lang="en-US" altLang="ko-KR" sz="1000" dirty="0"/>
              <a:t>4</a:t>
            </a:r>
            <a:r>
              <a:rPr lang="ko-KR" altLang="en-US" sz="1000" dirty="0"/>
              <a:t>차 백신에는 특허법 제</a:t>
            </a:r>
            <a:r>
              <a:rPr lang="en-US" altLang="ko-KR" sz="1000" dirty="0"/>
              <a:t>96</a:t>
            </a:r>
            <a:r>
              <a:rPr lang="ko-KR" altLang="en-US" sz="1000" dirty="0"/>
              <a:t>조제</a:t>
            </a:r>
            <a:r>
              <a:rPr lang="en-US" altLang="ko-KR" sz="1000" dirty="0"/>
              <a:t>1</a:t>
            </a:r>
            <a:r>
              <a:rPr lang="ko-KR" altLang="en-US" sz="1000" dirty="0" err="1"/>
              <a:t>항제</a:t>
            </a:r>
            <a:r>
              <a:rPr lang="en-US" altLang="ko-KR" sz="1000" dirty="0"/>
              <a:t>1</a:t>
            </a:r>
            <a:r>
              <a:rPr lang="ko-KR" altLang="en-US" sz="1000" dirty="0"/>
              <a:t>호가 적용될 수 없다고 주장 및 </a:t>
            </a:r>
            <a:r>
              <a:rPr lang="en-US" altLang="ko-KR" sz="1000" dirty="0"/>
              <a:t>3) </a:t>
            </a:r>
            <a:r>
              <a:rPr lang="ko-KR" altLang="en-US" sz="1000" dirty="0"/>
              <a:t>특허법 제</a:t>
            </a:r>
            <a:r>
              <a:rPr lang="en-US" altLang="ko-KR" sz="1000" dirty="0"/>
              <a:t>96</a:t>
            </a:r>
            <a:r>
              <a:rPr lang="ko-KR" altLang="en-US" sz="1000" dirty="0"/>
              <a:t>조 제</a:t>
            </a:r>
            <a:r>
              <a:rPr lang="en-US" altLang="ko-KR" sz="1000" dirty="0"/>
              <a:t>1</a:t>
            </a:r>
            <a:r>
              <a:rPr lang="ko-KR" altLang="en-US" sz="1000" dirty="0"/>
              <a:t>항 제</a:t>
            </a:r>
            <a:r>
              <a:rPr lang="en-US" altLang="ko-KR" sz="1000" dirty="0"/>
              <a:t>1</a:t>
            </a:r>
            <a:r>
              <a:rPr lang="ko-KR" altLang="en-US" sz="1000" dirty="0"/>
              <a:t>호의 연구 또는 시험에 해당한다고 하기 위해서는 특허발명의 실시 행위 자체가 연구</a:t>
            </a:r>
            <a:r>
              <a:rPr lang="en-US" altLang="ko-KR" sz="1000" dirty="0"/>
              <a:t>·</a:t>
            </a:r>
            <a:r>
              <a:rPr lang="ko-KR" altLang="en-US" sz="1000" dirty="0"/>
              <a:t>시험을 하기 위한 경우</a:t>
            </a:r>
            <a:r>
              <a:rPr lang="en-US" altLang="ko-KR" sz="1000" dirty="0"/>
              <a:t>, </a:t>
            </a:r>
            <a:r>
              <a:rPr lang="ko-KR" altLang="en-US" sz="1000" dirty="0"/>
              <a:t>예컨대 특허성의 확인이나 개량발명 등을 목적으로 한 것이어야 하는데</a:t>
            </a:r>
            <a:r>
              <a:rPr lang="en-US" altLang="ko-KR" sz="1000" dirty="0"/>
              <a:t>, </a:t>
            </a:r>
            <a:r>
              <a:rPr lang="ko-KR" altLang="en-US" sz="1000" dirty="0"/>
              <a:t>丙이 러시아에서 수행한 </a:t>
            </a:r>
            <a:r>
              <a:rPr lang="ko-KR" altLang="en-US" sz="1000" dirty="0" err="1"/>
              <a:t>비임상시험</a:t>
            </a:r>
            <a:r>
              <a:rPr lang="ko-KR" altLang="en-US" sz="1000" dirty="0"/>
              <a:t> 또는 임상시험 등의 목적은 러시아에서 의약품 품목허가를 취득하여 궁극적으로 </a:t>
            </a:r>
            <a:r>
              <a:rPr lang="ko-KR" altLang="en-US" sz="1000" dirty="0">
                <a:solidFill>
                  <a:srgbClr val="FF0000"/>
                </a:solidFill>
              </a:rPr>
              <a:t>상업적 이익</a:t>
            </a:r>
            <a:r>
              <a:rPr lang="ko-KR" altLang="en-US" sz="1000" dirty="0"/>
              <a:t>을 얻기 위한 것이므로</a:t>
            </a:r>
            <a:r>
              <a:rPr lang="en-US" altLang="ko-KR" sz="1000" dirty="0"/>
              <a:t>, </a:t>
            </a:r>
            <a:r>
              <a:rPr lang="ko-KR" altLang="en-US" sz="1000" dirty="0"/>
              <a:t>위 규정의 연구 또는 시험으로 볼 수 없다고 주장하였다</a:t>
            </a:r>
            <a:r>
              <a:rPr lang="en-US" altLang="ko-KR" sz="1000" dirty="0"/>
              <a:t>.</a:t>
            </a:r>
            <a:endParaRPr lang="ko-KR" altLang="en-US" sz="1000" dirty="0"/>
          </a:p>
        </p:txBody>
      </p:sp>
      <p:cxnSp>
        <p:nvCxnSpPr>
          <p:cNvPr id="118" name="직선 연결선 117">
            <a:extLst>
              <a:ext uri="{FF2B5EF4-FFF2-40B4-BE49-F238E27FC236}">
                <a16:creationId xmlns:a16="http://schemas.microsoft.com/office/drawing/2014/main" id="{0C813A7F-4BA5-5CB5-48BA-42079B0BA005}"/>
              </a:ext>
            </a:extLst>
          </p:cNvPr>
          <p:cNvCxnSpPr/>
          <p:nvPr/>
        </p:nvCxnSpPr>
        <p:spPr>
          <a:xfrm>
            <a:off x="0" y="5359148"/>
            <a:ext cx="5168090" cy="0"/>
          </a:xfrm>
          <a:prstGeom prst="line">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3" name="말풍선: 모서리가 둥근 사각형 2">
            <a:extLst>
              <a:ext uri="{FF2B5EF4-FFF2-40B4-BE49-F238E27FC236}">
                <a16:creationId xmlns:a16="http://schemas.microsoft.com/office/drawing/2014/main" id="{675A0D8C-56B7-C384-BAA1-3DA27EE197EB}"/>
              </a:ext>
            </a:extLst>
          </p:cNvPr>
          <p:cNvSpPr/>
          <p:nvPr/>
        </p:nvSpPr>
        <p:spPr>
          <a:xfrm>
            <a:off x="957862" y="3082835"/>
            <a:ext cx="638306" cy="228252"/>
          </a:xfrm>
          <a:prstGeom prst="wedgeRoundRectCallout">
            <a:avLst>
              <a:gd name="adj1" fmla="val 69247"/>
              <a:gd name="adj2" fmla="val 28375"/>
              <a:gd name="adj3" fmla="val 16667"/>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rPr>
              <a:t>화</a:t>
            </a:r>
            <a:r>
              <a:rPr lang="en-US" altLang="ko-KR" sz="1200" dirty="0">
                <a:solidFill>
                  <a:srgbClr val="FF0000"/>
                </a:solidFill>
              </a:rPr>
              <a:t>O</a:t>
            </a:r>
            <a:r>
              <a:rPr lang="ko-KR" altLang="en-US" sz="1200" dirty="0">
                <a:solidFill>
                  <a:srgbClr val="FF0000"/>
                </a:solidFill>
              </a:rPr>
              <a:t>자</a:t>
            </a:r>
          </a:p>
        </p:txBody>
      </p:sp>
      <p:sp>
        <p:nvSpPr>
          <p:cNvPr id="6" name="TextBox 5">
            <a:extLst>
              <a:ext uri="{FF2B5EF4-FFF2-40B4-BE49-F238E27FC236}">
                <a16:creationId xmlns:a16="http://schemas.microsoft.com/office/drawing/2014/main" id="{C430C2AB-D6FC-1E80-4055-25FEA9FAA7C0}"/>
              </a:ext>
            </a:extLst>
          </p:cNvPr>
          <p:cNvSpPr txBox="1"/>
          <p:nvPr/>
        </p:nvSpPr>
        <p:spPr>
          <a:xfrm>
            <a:off x="3744075" y="2054458"/>
            <a:ext cx="65722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a:solidFill>
                  <a:schemeClr val="tx1"/>
                </a:solidFill>
                <a:latin typeface="+mn-ea"/>
              </a:rPr>
              <a:t>乙 판매</a:t>
            </a:r>
            <a:endParaRPr lang="ko-KR" altLang="en-US" sz="1200" dirty="0">
              <a:solidFill>
                <a:schemeClr val="tx1"/>
              </a:solidFill>
              <a:latin typeface="+mn-ea"/>
            </a:endParaRPr>
          </a:p>
        </p:txBody>
      </p:sp>
      <p:sp>
        <p:nvSpPr>
          <p:cNvPr id="10" name="타원 9">
            <a:extLst>
              <a:ext uri="{FF2B5EF4-FFF2-40B4-BE49-F238E27FC236}">
                <a16:creationId xmlns:a16="http://schemas.microsoft.com/office/drawing/2014/main" id="{DB4AD9A5-A047-1555-45D6-540AB1FE8DD9}"/>
              </a:ext>
            </a:extLst>
          </p:cNvPr>
          <p:cNvSpPr/>
          <p:nvPr/>
        </p:nvSpPr>
        <p:spPr>
          <a:xfrm>
            <a:off x="4101141" y="276655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 name="연결선: 꺾임 10">
            <a:extLst>
              <a:ext uri="{FF2B5EF4-FFF2-40B4-BE49-F238E27FC236}">
                <a16:creationId xmlns:a16="http://schemas.microsoft.com/office/drawing/2014/main" id="{A43FCBD6-0D8E-4229-862A-E7C1C59BE5F2}"/>
              </a:ext>
            </a:extLst>
          </p:cNvPr>
          <p:cNvCxnSpPr>
            <a:cxnSpLocks/>
            <a:stCxn id="6" idx="2"/>
            <a:endCxn id="10" idx="0"/>
          </p:cNvCxnSpPr>
          <p:nvPr/>
        </p:nvCxnSpPr>
        <p:spPr>
          <a:xfrm rot="16200000" flipH="1">
            <a:off x="3908050" y="2496091"/>
            <a:ext cx="435095" cy="105825"/>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A222E598-AF3C-C6FF-BCAB-7FAA41BAC6A0}"/>
              </a:ext>
            </a:extLst>
          </p:cNvPr>
          <p:cNvSpPr txBox="1"/>
          <p:nvPr/>
        </p:nvSpPr>
        <p:spPr>
          <a:xfrm>
            <a:off x="3726265" y="3098729"/>
            <a:ext cx="2139790" cy="461665"/>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특허권 침해소송 승소</a:t>
            </a:r>
            <a:endParaRPr lang="en-US" altLang="ko-KR" sz="1200" dirty="0">
              <a:solidFill>
                <a:schemeClr val="tx1"/>
              </a:solidFill>
              <a:latin typeface="+mn-ea"/>
            </a:endParaRPr>
          </a:p>
          <a:p>
            <a:pPr algn="ctr"/>
            <a:r>
              <a:rPr lang="en-US" altLang="ko-KR" sz="1200" dirty="0">
                <a:solidFill>
                  <a:schemeClr val="tx1"/>
                </a:solidFill>
                <a:latin typeface="+mn-ea"/>
              </a:rPr>
              <a:t>(2027</a:t>
            </a:r>
            <a:r>
              <a:rPr lang="ko-KR" altLang="en-US" sz="1200" dirty="0">
                <a:solidFill>
                  <a:schemeClr val="tx1"/>
                </a:solidFill>
                <a:latin typeface="+mn-ea"/>
              </a:rPr>
              <a:t>년까지 乙 국내판매 중지</a:t>
            </a:r>
            <a:r>
              <a:rPr lang="en-US" altLang="ko-KR" sz="1200" dirty="0">
                <a:solidFill>
                  <a:schemeClr val="tx1"/>
                </a:solidFill>
                <a:latin typeface="+mn-ea"/>
              </a:rPr>
              <a:t>)</a:t>
            </a:r>
            <a:endParaRPr lang="ko-KR" altLang="en-US" sz="1200" dirty="0">
              <a:solidFill>
                <a:schemeClr val="tx1"/>
              </a:solidFill>
              <a:latin typeface="+mn-ea"/>
            </a:endParaRPr>
          </a:p>
        </p:txBody>
      </p:sp>
      <p:sp>
        <p:nvSpPr>
          <p:cNvPr id="17" name="타원 16">
            <a:extLst>
              <a:ext uri="{FF2B5EF4-FFF2-40B4-BE49-F238E27FC236}">
                <a16:creationId xmlns:a16="http://schemas.microsoft.com/office/drawing/2014/main" id="{52F8D9B7-EF7A-7FF3-A788-8C5256A111EA}"/>
              </a:ext>
            </a:extLst>
          </p:cNvPr>
          <p:cNvSpPr/>
          <p:nvPr/>
        </p:nvSpPr>
        <p:spPr>
          <a:xfrm>
            <a:off x="4589672" y="276655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8" name="연결선: 꺾임 17">
            <a:extLst>
              <a:ext uri="{FF2B5EF4-FFF2-40B4-BE49-F238E27FC236}">
                <a16:creationId xmlns:a16="http://schemas.microsoft.com/office/drawing/2014/main" id="{6BA9479B-EF24-BE99-ECAB-EAEEA221945B}"/>
              </a:ext>
            </a:extLst>
          </p:cNvPr>
          <p:cNvCxnSpPr>
            <a:cxnSpLocks/>
            <a:stCxn id="16" idx="0"/>
            <a:endCxn id="17" idx="4"/>
          </p:cNvCxnSpPr>
          <p:nvPr/>
        </p:nvCxnSpPr>
        <p:spPr>
          <a:xfrm rot="16200000" flipV="1">
            <a:off x="4646182" y="2948750"/>
            <a:ext cx="170839" cy="129119"/>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22" name="사각형: 둥근 모서리 21">
            <a:extLst>
              <a:ext uri="{FF2B5EF4-FFF2-40B4-BE49-F238E27FC236}">
                <a16:creationId xmlns:a16="http://schemas.microsoft.com/office/drawing/2014/main" id="{C674934B-023A-2D86-57CA-190C4BCE5ECF}"/>
              </a:ext>
            </a:extLst>
          </p:cNvPr>
          <p:cNvSpPr/>
          <p:nvPr/>
        </p:nvSpPr>
        <p:spPr>
          <a:xfrm>
            <a:off x="3826664" y="3933825"/>
            <a:ext cx="775412" cy="276997"/>
          </a:xfrm>
          <a:prstGeom prst="roundRect">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원액</a:t>
            </a:r>
          </a:p>
        </p:txBody>
      </p:sp>
      <p:sp>
        <p:nvSpPr>
          <p:cNvPr id="23" name="말풍선: 모서리가 둥근 사각형 22">
            <a:extLst>
              <a:ext uri="{FF2B5EF4-FFF2-40B4-BE49-F238E27FC236}">
                <a16:creationId xmlns:a16="http://schemas.microsoft.com/office/drawing/2014/main" id="{1FF6E1E0-E7B7-77A3-5948-3E80867520C2}"/>
              </a:ext>
            </a:extLst>
          </p:cNvPr>
          <p:cNvSpPr/>
          <p:nvPr/>
        </p:nvSpPr>
        <p:spPr>
          <a:xfrm>
            <a:off x="3744075" y="3846895"/>
            <a:ext cx="3499407" cy="419534"/>
          </a:xfrm>
          <a:prstGeom prst="wedgeRoundRectCallout">
            <a:avLst>
              <a:gd name="adj1" fmla="val -80270"/>
              <a:gd name="adj2" fmla="val -34465"/>
              <a:gd name="adj3" fmla="val 16667"/>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rgbClr val="FF0000"/>
              </a:solidFill>
            </a:endParaRPr>
          </a:p>
        </p:txBody>
      </p:sp>
      <p:sp>
        <p:nvSpPr>
          <p:cNvPr id="24" name="사각형: 둥근 모서리 23">
            <a:extLst>
              <a:ext uri="{FF2B5EF4-FFF2-40B4-BE49-F238E27FC236}">
                <a16:creationId xmlns:a16="http://schemas.microsoft.com/office/drawing/2014/main" id="{4B151419-7F7A-E283-2E3B-60E1642F453A}"/>
              </a:ext>
            </a:extLst>
          </p:cNvPr>
          <p:cNvSpPr/>
          <p:nvPr/>
        </p:nvSpPr>
        <p:spPr>
          <a:xfrm>
            <a:off x="5090643" y="3933825"/>
            <a:ext cx="775412" cy="276997"/>
          </a:xfrm>
          <a:prstGeom prst="roundRect">
            <a:avLst/>
          </a:prstGeom>
          <a:solidFill>
            <a:schemeClr val="tx1">
              <a:lumMod val="65000"/>
              <a:lumOff val="3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err="1"/>
              <a:t>조성물</a:t>
            </a:r>
            <a:endParaRPr lang="ko-KR" altLang="en-US" sz="1200" dirty="0"/>
          </a:p>
        </p:txBody>
      </p:sp>
      <p:sp>
        <p:nvSpPr>
          <p:cNvPr id="25" name="사각형: 둥근 모서리 24">
            <a:extLst>
              <a:ext uri="{FF2B5EF4-FFF2-40B4-BE49-F238E27FC236}">
                <a16:creationId xmlns:a16="http://schemas.microsoft.com/office/drawing/2014/main" id="{2D316605-C329-8636-E3F1-2CFB8452B45A}"/>
              </a:ext>
            </a:extLst>
          </p:cNvPr>
          <p:cNvSpPr/>
          <p:nvPr/>
        </p:nvSpPr>
        <p:spPr>
          <a:xfrm>
            <a:off x="6299052" y="3933825"/>
            <a:ext cx="845502" cy="276997"/>
          </a:xfrm>
          <a:prstGeom prst="roundRect">
            <a:avLst/>
          </a:prstGeom>
          <a:solidFill>
            <a:schemeClr val="tx1">
              <a:lumMod val="95000"/>
              <a:lumOff val="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a:t>완성 백신</a:t>
            </a:r>
            <a:endParaRPr lang="ko-KR" altLang="en-US" sz="1200" dirty="0"/>
          </a:p>
        </p:txBody>
      </p:sp>
      <p:cxnSp>
        <p:nvCxnSpPr>
          <p:cNvPr id="27" name="직선 화살표 연결선 26">
            <a:extLst>
              <a:ext uri="{FF2B5EF4-FFF2-40B4-BE49-F238E27FC236}">
                <a16:creationId xmlns:a16="http://schemas.microsoft.com/office/drawing/2014/main" id="{59CD70EB-B653-61C5-729D-1A917B137E77}"/>
              </a:ext>
            </a:extLst>
          </p:cNvPr>
          <p:cNvCxnSpPr>
            <a:stCxn id="22" idx="3"/>
            <a:endCxn id="24" idx="1"/>
          </p:cNvCxnSpPr>
          <p:nvPr/>
        </p:nvCxnSpPr>
        <p:spPr>
          <a:xfrm>
            <a:off x="4602076" y="4072324"/>
            <a:ext cx="488567"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FD87C7FB-FCD9-1939-35A2-EE225EA42663}"/>
              </a:ext>
            </a:extLst>
          </p:cNvPr>
          <p:cNvCxnSpPr>
            <a:stCxn id="24" idx="3"/>
            <a:endCxn id="25" idx="1"/>
          </p:cNvCxnSpPr>
          <p:nvPr/>
        </p:nvCxnSpPr>
        <p:spPr>
          <a:xfrm>
            <a:off x="5866055" y="4072324"/>
            <a:ext cx="432997"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92595998"/>
      </p:ext>
    </p:extLst>
  </p:cSld>
  <p:clrMapOvr>
    <a:masterClrMapping/>
  </p:clrMapOvr>
  <p:transition/>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D69851-C5EF-1D93-2E32-E46B85737E8D}"/>
            </a:ext>
          </a:extLst>
        </p:cNvPr>
        <p:cNvGrpSpPr/>
        <p:nvPr/>
      </p:nvGrpSpPr>
      <p:grpSpPr>
        <a:xfrm>
          <a:off x="0" y="0"/>
          <a:ext cx="0" cy="0"/>
          <a:chOff x="0" y="0"/>
          <a:chExt cx="0" cy="0"/>
        </a:xfrm>
      </p:grpSpPr>
      <p:sp>
        <p:nvSpPr>
          <p:cNvPr id="4" name="제목 3">
            <a:extLst>
              <a:ext uri="{FF2B5EF4-FFF2-40B4-BE49-F238E27FC236}">
                <a16:creationId xmlns:a16="http://schemas.microsoft.com/office/drawing/2014/main" id="{D492C994-07C9-62FB-3E61-A3DBF37A42E9}"/>
              </a:ext>
            </a:extLst>
          </p:cNvPr>
          <p:cNvSpPr>
            <a:spLocks noGrp="1"/>
          </p:cNvSpPr>
          <p:nvPr>
            <p:ph type="title"/>
          </p:nvPr>
        </p:nvSpPr>
        <p:spPr/>
        <p:txBody>
          <a:bodyPr/>
          <a:lstStyle/>
          <a:p>
            <a:r>
              <a:rPr lang="ko-KR" altLang="en-US" sz="1600" dirty="0"/>
              <a:t>제</a:t>
            </a:r>
            <a:r>
              <a:rPr lang="en-US" altLang="ko-KR" sz="1600" dirty="0"/>
              <a:t>96</a:t>
            </a:r>
            <a:r>
              <a:rPr lang="ko-KR" altLang="en-US" sz="1600" dirty="0"/>
              <a:t>조제</a:t>
            </a:r>
            <a:r>
              <a:rPr lang="en-US" altLang="ko-KR" sz="1600" dirty="0"/>
              <a:t>1</a:t>
            </a:r>
            <a:r>
              <a:rPr lang="ko-KR" altLang="en-US" sz="1600" dirty="0" err="1"/>
              <a:t>항제</a:t>
            </a:r>
            <a:r>
              <a:rPr lang="en-US" altLang="ko-KR" sz="1600" dirty="0"/>
              <a:t>1</a:t>
            </a:r>
            <a:r>
              <a:rPr lang="ko-KR" altLang="en-US" sz="1600" dirty="0"/>
              <a:t>호</a:t>
            </a:r>
            <a:r>
              <a:rPr lang="en-US" altLang="ko-KR" sz="1600" dirty="0"/>
              <a:t>, </a:t>
            </a:r>
            <a:r>
              <a:rPr lang="ko-KR" altLang="en-US" sz="1600" dirty="0"/>
              <a:t>제</a:t>
            </a:r>
            <a:r>
              <a:rPr lang="en-US" altLang="ko-KR" sz="1600" dirty="0"/>
              <a:t>127</a:t>
            </a:r>
            <a:r>
              <a:rPr lang="ko-KR" altLang="en-US" sz="1600" dirty="0"/>
              <a:t>조</a:t>
            </a:r>
          </a:p>
        </p:txBody>
      </p:sp>
      <p:sp>
        <p:nvSpPr>
          <p:cNvPr id="5" name="텍스트 개체 틀 4">
            <a:extLst>
              <a:ext uri="{FF2B5EF4-FFF2-40B4-BE49-F238E27FC236}">
                <a16:creationId xmlns:a16="http://schemas.microsoft.com/office/drawing/2014/main" id="{DA1C3B6F-8573-F07D-1A71-9652FA86D119}"/>
              </a:ext>
            </a:extLst>
          </p:cNvPr>
          <p:cNvSpPr>
            <a:spLocks noGrp="1"/>
          </p:cNvSpPr>
          <p:nvPr>
            <p:ph type="body" sz="quarter" idx="13"/>
          </p:nvPr>
        </p:nvSpPr>
        <p:spPr/>
        <p:txBody>
          <a:bodyPr>
            <a:normAutofit/>
          </a:bodyPr>
          <a:lstStyle/>
          <a:p>
            <a:r>
              <a:rPr lang="ko-KR" altLang="en-US" dirty="0"/>
              <a:t>간접침해 </a:t>
            </a:r>
            <a:r>
              <a:rPr lang="en-US" altLang="ko-KR" dirty="0"/>
              <a:t>CASE: </a:t>
            </a:r>
            <a:r>
              <a:rPr lang="en-US" altLang="ko-KR" sz="2000" dirty="0"/>
              <a:t>13</a:t>
            </a:r>
            <a:r>
              <a:rPr lang="ko-KR" altLang="en-US" sz="2000" dirty="0"/>
              <a:t>가 백신 사건</a:t>
            </a:r>
            <a:r>
              <a:rPr lang="en-US" altLang="ko-KR" sz="1700" dirty="0"/>
              <a:t>(</a:t>
            </a:r>
            <a:r>
              <a:rPr lang="ko-KR" altLang="en-US" sz="1700" dirty="0"/>
              <a:t>대법원 </a:t>
            </a:r>
            <a:r>
              <a:rPr lang="en-US" altLang="ko-KR" sz="1700" dirty="0"/>
              <a:t>2025. 5. 15. </a:t>
            </a:r>
            <a:r>
              <a:rPr lang="ko-KR" altLang="en-US" sz="1700" dirty="0"/>
              <a:t>선고 </a:t>
            </a:r>
            <a:r>
              <a:rPr lang="en-US" altLang="ko-KR" sz="1700" dirty="0"/>
              <a:t>2025</a:t>
            </a:r>
            <a:r>
              <a:rPr lang="ko-KR" altLang="en-US" sz="1700" dirty="0"/>
              <a:t>다</a:t>
            </a:r>
            <a:r>
              <a:rPr lang="en-US" altLang="ko-KR" sz="1700" dirty="0"/>
              <a:t>202970)</a:t>
            </a:r>
            <a:endParaRPr lang="ko-KR" altLang="en-US" sz="1700" dirty="0"/>
          </a:p>
        </p:txBody>
      </p:sp>
      <p:sp>
        <p:nvSpPr>
          <p:cNvPr id="2" name="슬라이드 번호 개체 틀 1">
            <a:extLst>
              <a:ext uri="{FF2B5EF4-FFF2-40B4-BE49-F238E27FC236}">
                <a16:creationId xmlns:a16="http://schemas.microsoft.com/office/drawing/2014/main" id="{00EB12CF-CEC2-867F-2E65-66F0C7C0B5E6}"/>
              </a:ext>
            </a:extLst>
          </p:cNvPr>
          <p:cNvSpPr>
            <a:spLocks noGrp="1"/>
          </p:cNvSpPr>
          <p:nvPr>
            <p:ph type="sldNum" sz="quarter" idx="4294967295"/>
          </p:nvPr>
        </p:nvSpPr>
        <p:spPr>
          <a:xfrm>
            <a:off x="11125200" y="0"/>
            <a:ext cx="1066800" cy="744538"/>
          </a:xfrm>
        </p:spPr>
        <p:txBody>
          <a:bodyPr/>
          <a:lstStyle/>
          <a:p>
            <a:r>
              <a:rPr lang="en-US" altLang="ko-KR"/>
              <a:t>396</a:t>
            </a:r>
            <a:endParaRPr lang="ko-KR" altLang="en-US"/>
          </a:p>
        </p:txBody>
      </p:sp>
      <p:sp>
        <p:nvSpPr>
          <p:cNvPr id="62" name="TextBox 61">
            <a:extLst>
              <a:ext uri="{FF2B5EF4-FFF2-40B4-BE49-F238E27FC236}">
                <a16:creationId xmlns:a16="http://schemas.microsoft.com/office/drawing/2014/main" id="{D575EE3E-C790-5FCA-1A95-10A47CBF8ECD}"/>
              </a:ext>
            </a:extLst>
          </p:cNvPr>
          <p:cNvSpPr txBox="1"/>
          <p:nvPr/>
        </p:nvSpPr>
        <p:spPr>
          <a:xfrm>
            <a:off x="0" y="923269"/>
            <a:ext cx="12192000" cy="823302"/>
          </a:xfrm>
          <a:prstGeom prst="rect">
            <a:avLst/>
          </a:prstGeom>
          <a:noFill/>
        </p:spPr>
        <p:txBody>
          <a:bodyPr wrap="square">
            <a:spAutoFit/>
          </a:bodyPr>
          <a:lstStyle/>
          <a:p>
            <a:r>
              <a:rPr lang="ko-KR" altLang="en-US" sz="950" dirty="0"/>
              <a:t>      물건의 발명에 관한 특허권자가 물건에 대하여 가지는 독점적인 생산 </a:t>
            </a:r>
            <a:r>
              <a:rPr lang="en-US" altLang="ko-KR" sz="950" dirty="0"/>
              <a:t>· </a:t>
            </a:r>
            <a:r>
              <a:rPr lang="ko-KR" altLang="en-US" sz="950" dirty="0"/>
              <a:t>사용 </a:t>
            </a:r>
            <a:r>
              <a:rPr lang="en-US" altLang="ko-KR" sz="950" dirty="0"/>
              <a:t>·</a:t>
            </a:r>
            <a:r>
              <a:rPr lang="ko-KR" altLang="en-US" sz="950" dirty="0"/>
              <a:t>양도 </a:t>
            </a:r>
            <a:r>
              <a:rPr lang="en-US" altLang="ko-KR" sz="950" dirty="0"/>
              <a:t>· </a:t>
            </a:r>
            <a:r>
              <a:rPr lang="ko-KR" altLang="en-US" sz="950" dirty="0"/>
              <a:t>대여 또는 수입 등의 특허실시에 관한 권리는 특허권이 등록된 국가의 영역 내에서만 효력이 미치고</a:t>
            </a:r>
            <a:r>
              <a:rPr lang="en-US" altLang="ko-KR" sz="950" dirty="0"/>
              <a:t>(</a:t>
            </a:r>
            <a:r>
              <a:rPr lang="ko-KR" altLang="en-US" sz="950" dirty="0"/>
              <a:t>이른바 </a:t>
            </a:r>
            <a:r>
              <a:rPr lang="en-US" altLang="ko-KR" sz="950" dirty="0"/>
              <a:t>'</a:t>
            </a:r>
            <a:r>
              <a:rPr lang="ko-KR" altLang="en-US" sz="950" dirty="0"/>
              <a:t>특허권의 속지주의 원칙</a:t>
            </a:r>
            <a:r>
              <a:rPr lang="en-US" altLang="ko-KR" sz="950" dirty="0"/>
              <a:t>'), </a:t>
            </a:r>
            <a:r>
              <a:rPr lang="ko-KR" altLang="en-US" sz="950" dirty="0"/>
              <a:t>특허권침해소송의 상대방이 제조하는 물건이 특허권을 침해하는 물건에 해당하려면 특허발명의 청구범위에 기재된 각 구성요소와 그 구성요소 간의 유기적 결합관계가 그 물건에 그대로 포함되어 있어야 한다</a:t>
            </a:r>
            <a:r>
              <a:rPr lang="en-US" altLang="ko-KR" sz="950" dirty="0"/>
              <a:t>(</a:t>
            </a:r>
            <a:r>
              <a:rPr lang="ko-KR" altLang="en-US" sz="950" dirty="0"/>
              <a:t>이른바 </a:t>
            </a:r>
            <a:r>
              <a:rPr lang="en-US" altLang="ko-KR" sz="950" dirty="0"/>
              <a:t>'</a:t>
            </a:r>
            <a:r>
              <a:rPr lang="ko-KR" altLang="en-US" sz="950" dirty="0"/>
              <a:t>구성요소 완비의 원칙</a:t>
            </a:r>
            <a:r>
              <a:rPr lang="en-US" altLang="ko-KR" sz="950" dirty="0"/>
              <a:t>’). </a:t>
            </a:r>
            <a:r>
              <a:rPr lang="ko-KR" altLang="en-US" sz="950" dirty="0"/>
              <a:t>한편 국내에서 특허발명의 실시를 위한 부품 또는 구성 전부가 생산되거나 대부분의 생산단계를 마쳐 주요 구성을 모두 갖춘 반제품이 생산되고</a:t>
            </a:r>
            <a:r>
              <a:rPr lang="en-US" altLang="ko-KR" sz="950" dirty="0"/>
              <a:t>, </a:t>
            </a:r>
            <a:r>
              <a:rPr lang="ko-KR" altLang="en-US" sz="950" dirty="0"/>
              <a:t>이것이 하나의 주체에게 수출되어 마지막 단계의 가공 </a:t>
            </a:r>
            <a:r>
              <a:rPr lang="en-US" altLang="ko-KR" sz="950" dirty="0"/>
              <a:t>· </a:t>
            </a:r>
            <a:r>
              <a:rPr lang="ko-KR" altLang="en-US" sz="950" dirty="0"/>
              <a:t>조립이 이루어질 것이 예정되어 있으며</a:t>
            </a:r>
            <a:r>
              <a:rPr lang="en-US" altLang="ko-KR" sz="950" dirty="0"/>
              <a:t>, </a:t>
            </a:r>
            <a:r>
              <a:rPr lang="ko-KR" altLang="en-US" sz="950" dirty="0"/>
              <a:t>그와 같은 가공 </a:t>
            </a:r>
            <a:r>
              <a:rPr lang="en-US" altLang="ko-KR" sz="950" dirty="0"/>
              <a:t>· </a:t>
            </a:r>
            <a:r>
              <a:rPr lang="ko-KR" altLang="en-US" sz="950" dirty="0"/>
              <a:t>조립이 극히 사소하거나 간단하여 위와 같은 부품 전체의 생산 또는 반제품의 생산만으로도 특허발명의 각 구성요소가 유기적으로 결합한 일체로서 가지는 작용효과를 구현할 수 있는 상태에 이른 경우에는 특허권의 실질적 보호를 위해 국내에서 특허발명의 실시제품이 생산된 것과 같이 볼 수 있다</a:t>
            </a:r>
            <a:r>
              <a:rPr lang="en-US" altLang="ko-KR" sz="950" dirty="0">
                <a:highlight>
                  <a:srgbClr val="FFFF00"/>
                </a:highlight>
              </a:rPr>
              <a:t>. </a:t>
            </a:r>
            <a:r>
              <a:rPr lang="ko-KR" altLang="en-US" sz="950" dirty="0">
                <a:highlight>
                  <a:srgbClr val="FFFF00"/>
                </a:highlight>
              </a:rPr>
              <a:t>이러한 경우에 해당하는지는 특허권의 속지주의 원칙과 구성요소 완비의 원칙을 고려하여 엄격하게 판단하여야 한다</a:t>
            </a:r>
            <a:r>
              <a:rPr lang="en-US" altLang="ko-KR" sz="950" dirty="0">
                <a:highlight>
                  <a:srgbClr val="FFFF00"/>
                </a:highlight>
              </a:rPr>
              <a:t>.</a:t>
            </a:r>
            <a:endParaRPr lang="ko-KR" altLang="en-US" sz="950" dirty="0">
              <a:highlight>
                <a:srgbClr val="FFFF00"/>
              </a:highlight>
            </a:endParaRPr>
          </a:p>
        </p:txBody>
      </p:sp>
      <p:sp>
        <p:nvSpPr>
          <p:cNvPr id="66" name="TextBox 65">
            <a:extLst>
              <a:ext uri="{FF2B5EF4-FFF2-40B4-BE49-F238E27FC236}">
                <a16:creationId xmlns:a16="http://schemas.microsoft.com/office/drawing/2014/main" id="{08E943FE-639B-0919-02DE-205977F4822F}"/>
              </a:ext>
            </a:extLst>
          </p:cNvPr>
          <p:cNvSpPr txBox="1"/>
          <p:nvPr/>
        </p:nvSpPr>
        <p:spPr>
          <a:xfrm>
            <a:off x="71595" y="1688098"/>
            <a:ext cx="12039049" cy="823302"/>
          </a:xfrm>
          <a:prstGeom prst="rect">
            <a:avLst/>
          </a:prstGeom>
          <a:solidFill>
            <a:schemeClr val="accent1">
              <a:lumMod val="20000"/>
              <a:lumOff val="80000"/>
            </a:schemeClr>
          </a:solidFill>
          <a:ln>
            <a:solidFill>
              <a:schemeClr val="bg1">
                <a:lumMod val="50000"/>
              </a:schemeClr>
            </a:solidFill>
          </a:ln>
        </p:spPr>
        <p:txBody>
          <a:bodyPr wrap="square">
            <a:spAutoFit/>
          </a:bodyPr>
          <a:lstStyle/>
          <a:p>
            <a:r>
              <a:rPr lang="en-US" altLang="ko-KR" sz="950" dirty="0"/>
              <a:t>1) 13</a:t>
            </a:r>
            <a:r>
              <a:rPr lang="ko-KR" altLang="en-US" sz="950" dirty="0"/>
              <a:t>종의 각 개별 접합체 원액을 혼합하는 공정 과정에서 </a:t>
            </a:r>
            <a:r>
              <a:rPr lang="en-US" altLang="ko-KR" sz="950" dirty="0">
                <a:solidFill>
                  <a:srgbClr val="FF0000"/>
                </a:solidFill>
              </a:rPr>
              <a:t>13</a:t>
            </a:r>
            <a:r>
              <a:rPr lang="ko-KR" altLang="en-US" sz="950" dirty="0">
                <a:solidFill>
                  <a:srgbClr val="FF0000"/>
                </a:solidFill>
              </a:rPr>
              <a:t>종 개별 접합체 원액의 투입량</a:t>
            </a:r>
            <a:r>
              <a:rPr lang="en-US" altLang="ko-KR" sz="950" dirty="0">
                <a:solidFill>
                  <a:srgbClr val="FF0000"/>
                </a:solidFill>
              </a:rPr>
              <a:t>, </a:t>
            </a:r>
            <a:r>
              <a:rPr lang="ko-KR" altLang="en-US" sz="950" dirty="0">
                <a:solidFill>
                  <a:srgbClr val="FF0000"/>
                </a:solidFill>
              </a:rPr>
              <a:t>혼합비율 및 혼합순서</a:t>
            </a:r>
            <a:r>
              <a:rPr lang="en-US" altLang="ko-KR" sz="950" dirty="0">
                <a:solidFill>
                  <a:srgbClr val="FF0000"/>
                </a:solidFill>
              </a:rPr>
              <a:t>, </a:t>
            </a:r>
            <a:r>
              <a:rPr lang="ko-KR" altLang="en-US" sz="950" dirty="0">
                <a:solidFill>
                  <a:srgbClr val="FF0000"/>
                </a:solidFill>
              </a:rPr>
              <a:t>혼합할 때의 </a:t>
            </a:r>
            <a:r>
              <a:rPr lang="en-US" altLang="ko-KR" sz="950" dirty="0">
                <a:solidFill>
                  <a:srgbClr val="FF0000"/>
                </a:solidFill>
              </a:rPr>
              <a:t>pH, </a:t>
            </a:r>
            <a:r>
              <a:rPr lang="ko-KR" altLang="en-US" sz="950" dirty="0">
                <a:solidFill>
                  <a:srgbClr val="FF0000"/>
                </a:solidFill>
              </a:rPr>
              <a:t>온도</a:t>
            </a:r>
            <a:r>
              <a:rPr lang="en-US" altLang="ko-KR" sz="950" dirty="0">
                <a:solidFill>
                  <a:srgbClr val="FF0000"/>
                </a:solidFill>
              </a:rPr>
              <a:t>, </a:t>
            </a:r>
            <a:r>
              <a:rPr lang="ko-KR" altLang="en-US" sz="950" dirty="0" err="1">
                <a:solidFill>
                  <a:srgbClr val="FF0000"/>
                </a:solidFill>
              </a:rPr>
              <a:t>교반속도</a:t>
            </a:r>
            <a:r>
              <a:rPr lang="en-US" altLang="ko-KR" sz="950" dirty="0">
                <a:solidFill>
                  <a:srgbClr val="FF0000"/>
                </a:solidFill>
              </a:rPr>
              <a:t>, </a:t>
            </a:r>
            <a:r>
              <a:rPr lang="ko-KR" altLang="en-US" sz="950" dirty="0" err="1">
                <a:solidFill>
                  <a:srgbClr val="FF0000"/>
                </a:solidFill>
              </a:rPr>
              <a:t>교반시간</a:t>
            </a:r>
            <a:r>
              <a:rPr lang="ko-KR" altLang="en-US" sz="950" dirty="0">
                <a:solidFill>
                  <a:srgbClr val="FF0000"/>
                </a:solidFill>
              </a:rPr>
              <a:t> 등 혼합조건은 폐렴구균 백신으로 사용하기 위한 </a:t>
            </a:r>
            <a:r>
              <a:rPr lang="en-US" altLang="ko-KR" sz="950" dirty="0">
                <a:solidFill>
                  <a:srgbClr val="FF0000"/>
                </a:solidFill>
              </a:rPr>
              <a:t>13</a:t>
            </a:r>
            <a:r>
              <a:rPr lang="ko-KR" altLang="en-US" sz="950" dirty="0">
                <a:solidFill>
                  <a:srgbClr val="FF0000"/>
                </a:solidFill>
              </a:rPr>
              <a:t>가 면역원성 조성물을 구현하는 데에 적지 않은 영향</a:t>
            </a:r>
            <a:r>
              <a:rPr lang="ko-KR" altLang="en-US" sz="950" dirty="0"/>
              <a:t>을 미칠 수 있으므로</a:t>
            </a:r>
            <a:r>
              <a:rPr lang="en-US" altLang="ko-KR" sz="950" dirty="0"/>
              <a:t>, 13</a:t>
            </a:r>
            <a:r>
              <a:rPr lang="ko-KR" altLang="en-US" sz="950" dirty="0"/>
              <a:t>종의 각 개별 접합체 원액을 혼합하여 </a:t>
            </a:r>
            <a:r>
              <a:rPr lang="en-US" altLang="ko-KR" sz="950" dirty="0"/>
              <a:t>13</a:t>
            </a:r>
            <a:r>
              <a:rPr lang="ko-KR" altLang="en-US" sz="950" dirty="0"/>
              <a:t>가 면역원성 조성물을 제조하는 마지막 단계의 공정이 극히 사소하거나 간단하다고 볼 수 없다</a:t>
            </a:r>
            <a:r>
              <a:rPr lang="en-US" altLang="ko-KR" sz="950" dirty="0"/>
              <a:t>.</a:t>
            </a:r>
          </a:p>
          <a:p>
            <a:r>
              <a:rPr lang="en-US" altLang="ko-KR" sz="950" dirty="0"/>
              <a:t>2) </a:t>
            </a:r>
            <a:r>
              <a:rPr lang="ko-KR" altLang="en-US" sz="950" dirty="0"/>
              <a:t>위 혼합 공정에서 </a:t>
            </a:r>
            <a:r>
              <a:rPr lang="en-US" altLang="ko-KR" sz="950" dirty="0"/>
              <a:t>13</a:t>
            </a:r>
            <a:r>
              <a:rPr lang="ko-KR" altLang="en-US" sz="950" dirty="0"/>
              <a:t>종 개별 접합체 원액의 투입량</a:t>
            </a:r>
            <a:r>
              <a:rPr lang="en-US" altLang="ko-KR" sz="950" dirty="0"/>
              <a:t>, </a:t>
            </a:r>
            <a:r>
              <a:rPr lang="ko-KR" altLang="en-US" sz="950" dirty="0"/>
              <a:t>혼합비율</a:t>
            </a:r>
            <a:r>
              <a:rPr lang="en-US" altLang="ko-KR" sz="950" dirty="0"/>
              <a:t>, </a:t>
            </a:r>
            <a:r>
              <a:rPr lang="ko-KR" altLang="en-US" sz="950" dirty="0"/>
              <a:t>혼합순서</a:t>
            </a:r>
            <a:r>
              <a:rPr lang="en-US" altLang="ko-KR" sz="950" dirty="0"/>
              <a:t>, </a:t>
            </a:r>
            <a:r>
              <a:rPr lang="ko-KR" altLang="en-US" sz="950" dirty="0"/>
              <a:t>혼합조건이 제대로 갖춰지지 않으면 </a:t>
            </a:r>
            <a:r>
              <a:rPr lang="en-US" altLang="ko-KR" sz="950" dirty="0">
                <a:solidFill>
                  <a:srgbClr val="FF0000"/>
                </a:solidFill>
              </a:rPr>
              <a:t>13</a:t>
            </a:r>
            <a:r>
              <a:rPr lang="ko-KR" altLang="en-US" sz="950" dirty="0">
                <a:solidFill>
                  <a:srgbClr val="FF0000"/>
                </a:solidFill>
              </a:rPr>
              <a:t>가 면역원성이 구현되지 않을 수 있으므로</a:t>
            </a:r>
            <a:r>
              <a:rPr lang="en-US" altLang="ko-KR" sz="950" dirty="0">
                <a:solidFill>
                  <a:srgbClr val="FF0000"/>
                </a:solidFill>
              </a:rPr>
              <a:t>,</a:t>
            </a:r>
            <a:r>
              <a:rPr lang="en-US" altLang="ko-KR" sz="950" dirty="0"/>
              <a:t> 13</a:t>
            </a:r>
            <a:r>
              <a:rPr lang="ko-KR" altLang="en-US" sz="950" dirty="0"/>
              <a:t>종 개별 접합체 원액의 생산만으로도 이 사건 제</a:t>
            </a:r>
            <a:r>
              <a:rPr lang="en-US" altLang="ko-KR" sz="950" dirty="0"/>
              <a:t>1</a:t>
            </a:r>
            <a:r>
              <a:rPr lang="ko-KR" altLang="en-US" sz="950" dirty="0"/>
              <a:t>항 발명의 작용효과인 </a:t>
            </a:r>
            <a:r>
              <a:rPr lang="en-US" altLang="ko-KR" sz="950" dirty="0"/>
              <a:t>13</a:t>
            </a:r>
            <a:r>
              <a:rPr lang="ko-KR" altLang="en-US" sz="950" dirty="0"/>
              <a:t>가 면역원성을 구현할 수 있는 상태에 이르렀다고 할 수 없다</a:t>
            </a:r>
            <a:r>
              <a:rPr lang="en-US" altLang="ko-KR" sz="950" dirty="0"/>
              <a:t>.</a:t>
            </a:r>
          </a:p>
          <a:p>
            <a:r>
              <a:rPr lang="en-US" altLang="ko-KR" sz="950" dirty="0"/>
              <a:t>3) </a:t>
            </a:r>
            <a:r>
              <a:rPr lang="ko-KR" altLang="en-US" sz="950" dirty="0"/>
              <a:t>피고가 </a:t>
            </a:r>
            <a:r>
              <a:rPr lang="en-US" altLang="ko-KR" sz="950" dirty="0"/>
              <a:t>13</a:t>
            </a:r>
            <a:r>
              <a:rPr lang="ko-KR" altLang="en-US" sz="950" dirty="0"/>
              <a:t>종 개별 접합체 원액을 생산한 행위는 이 사건 특허권에 대한 직접침해에 해당하지 않는다</a:t>
            </a:r>
            <a:r>
              <a:rPr lang="en-US" altLang="ko-KR" sz="950" dirty="0"/>
              <a:t>.</a:t>
            </a:r>
            <a:endParaRPr lang="ko-KR" altLang="en-US" sz="950" dirty="0"/>
          </a:p>
        </p:txBody>
      </p:sp>
      <p:sp>
        <p:nvSpPr>
          <p:cNvPr id="67" name="TextBox 66">
            <a:extLst>
              <a:ext uri="{FF2B5EF4-FFF2-40B4-BE49-F238E27FC236}">
                <a16:creationId xmlns:a16="http://schemas.microsoft.com/office/drawing/2014/main" id="{F6CCEAA7-2002-1B27-6399-FAFE48BAEBDF}"/>
              </a:ext>
            </a:extLst>
          </p:cNvPr>
          <p:cNvSpPr txBox="1"/>
          <p:nvPr/>
        </p:nvSpPr>
        <p:spPr>
          <a:xfrm>
            <a:off x="-1" y="2504829"/>
            <a:ext cx="12191999" cy="384721"/>
          </a:xfrm>
          <a:prstGeom prst="rect">
            <a:avLst/>
          </a:prstGeom>
          <a:noFill/>
        </p:spPr>
        <p:txBody>
          <a:bodyPr wrap="square">
            <a:spAutoFit/>
          </a:bodyPr>
          <a:lstStyle/>
          <a:p>
            <a:r>
              <a:rPr lang="ko-KR" altLang="en-US" sz="950" dirty="0"/>
              <a:t>      간접침해 제도는 어디까지나 특허권이 부당하게 확장되지 아니하는 범위에서 그 실효성을 확보하고자 하는 것이다</a:t>
            </a:r>
            <a:r>
              <a:rPr lang="en-US" altLang="ko-KR" sz="950" dirty="0"/>
              <a:t>. </a:t>
            </a:r>
            <a:r>
              <a:rPr lang="ko-KR" altLang="en-US" sz="950" dirty="0"/>
              <a:t>그런데 특허권의 속지주의 원칙상 특허법 제</a:t>
            </a:r>
            <a:r>
              <a:rPr lang="en-US" altLang="ko-KR" sz="950" dirty="0"/>
              <a:t>127</a:t>
            </a:r>
            <a:r>
              <a:rPr lang="ko-KR" altLang="en-US" sz="950" dirty="0"/>
              <a:t>조 제</a:t>
            </a:r>
            <a:r>
              <a:rPr lang="en-US" altLang="ko-KR" sz="950" dirty="0"/>
              <a:t>1</a:t>
            </a:r>
            <a:r>
              <a:rPr lang="ko-KR" altLang="en-US" sz="950" dirty="0"/>
              <a:t>호의 </a:t>
            </a:r>
            <a:r>
              <a:rPr lang="en-US" altLang="ko-KR" sz="950" dirty="0"/>
              <a:t>'</a:t>
            </a:r>
            <a:r>
              <a:rPr lang="ko-KR" altLang="en-US" sz="950" dirty="0"/>
              <a:t>그 물건의 생산에만 사용하는 물건</a:t>
            </a:r>
            <a:r>
              <a:rPr lang="en-US" altLang="ko-KR" sz="950" dirty="0"/>
              <a:t>'</a:t>
            </a:r>
            <a:r>
              <a:rPr lang="ko-KR" altLang="en-US" sz="950" dirty="0"/>
              <a:t>에서 말하는 </a:t>
            </a:r>
            <a:r>
              <a:rPr lang="en-US" altLang="ko-KR" sz="950" dirty="0"/>
              <a:t>'</a:t>
            </a:r>
            <a:r>
              <a:rPr lang="ko-KR" altLang="en-US" sz="950" dirty="0"/>
              <a:t>생산</a:t>
            </a:r>
            <a:r>
              <a:rPr lang="en-US" altLang="ko-KR" sz="950" dirty="0"/>
              <a:t>'</a:t>
            </a:r>
            <a:r>
              <a:rPr lang="ko-KR" altLang="en-US" sz="950" dirty="0"/>
              <a:t>이란 국내에서의 생산을 의미하므로 이러한 생산이 국외에서 일어나는 경우에는 그 전 단계의 행위가 국내에서 이루어지더라도 간접침해가 성립할 수 없다</a:t>
            </a:r>
            <a:r>
              <a:rPr lang="en-US" altLang="ko-KR" sz="950" dirty="0"/>
              <a:t>(</a:t>
            </a:r>
            <a:r>
              <a:rPr lang="ko-KR" altLang="en-US" sz="950" dirty="0"/>
              <a:t>대법원 </a:t>
            </a:r>
            <a:r>
              <a:rPr lang="en-US" altLang="ko-KR" sz="950" dirty="0"/>
              <a:t>2015. 7. 23. </a:t>
            </a:r>
            <a:r>
              <a:rPr lang="ko-KR" altLang="en-US" sz="950" dirty="0"/>
              <a:t>선고 </a:t>
            </a:r>
            <a:r>
              <a:rPr lang="en-US" altLang="ko-KR" sz="950" dirty="0"/>
              <a:t>2014</a:t>
            </a:r>
            <a:r>
              <a:rPr lang="ko-KR" altLang="en-US" sz="950" dirty="0"/>
              <a:t>다</a:t>
            </a:r>
            <a:r>
              <a:rPr lang="en-US" altLang="ko-KR" sz="950" dirty="0"/>
              <a:t>42110 </a:t>
            </a:r>
            <a:r>
              <a:rPr lang="ko-KR" altLang="en-US" sz="950" dirty="0"/>
              <a:t>판결 등 참조</a:t>
            </a:r>
            <a:r>
              <a:rPr lang="en-US" altLang="ko-KR" sz="950" dirty="0"/>
              <a:t>).</a:t>
            </a:r>
            <a:endParaRPr lang="ko-KR" altLang="en-US" sz="950" dirty="0"/>
          </a:p>
        </p:txBody>
      </p:sp>
      <p:sp>
        <p:nvSpPr>
          <p:cNvPr id="68" name="TextBox 67">
            <a:extLst>
              <a:ext uri="{FF2B5EF4-FFF2-40B4-BE49-F238E27FC236}">
                <a16:creationId xmlns:a16="http://schemas.microsoft.com/office/drawing/2014/main" id="{46B6C93B-38E1-A072-CB79-1AD48FAE46C3}"/>
              </a:ext>
            </a:extLst>
          </p:cNvPr>
          <p:cNvSpPr txBox="1"/>
          <p:nvPr/>
        </p:nvSpPr>
        <p:spPr>
          <a:xfrm>
            <a:off x="71595" y="2862605"/>
            <a:ext cx="12030758" cy="246221"/>
          </a:xfrm>
          <a:prstGeom prst="rect">
            <a:avLst/>
          </a:prstGeom>
          <a:solidFill>
            <a:schemeClr val="accent4">
              <a:lumMod val="20000"/>
              <a:lumOff val="80000"/>
            </a:schemeClr>
          </a:solidFill>
          <a:ln>
            <a:solidFill>
              <a:schemeClr val="bg1">
                <a:lumMod val="50000"/>
              </a:schemeClr>
            </a:solidFill>
          </a:ln>
        </p:spPr>
        <p:txBody>
          <a:bodyPr wrap="square">
            <a:spAutoFit/>
          </a:bodyPr>
          <a:lstStyle/>
          <a:p>
            <a:r>
              <a:rPr lang="ko-KR" altLang="en-US" sz="950" dirty="0"/>
              <a:t>피고가 생산한 </a:t>
            </a:r>
            <a:r>
              <a:rPr lang="en-US" altLang="ko-KR" sz="950" dirty="0"/>
              <a:t>13</a:t>
            </a:r>
            <a:r>
              <a:rPr lang="ko-KR" altLang="en-US" sz="950" dirty="0"/>
              <a:t>종 개별 접합체 원액은 </a:t>
            </a:r>
            <a:r>
              <a:rPr lang="ko-KR" altLang="en-US" sz="950" dirty="0">
                <a:solidFill>
                  <a:srgbClr val="FF0000"/>
                </a:solidFill>
              </a:rPr>
              <a:t>모두 수출되어 국외에서 완성품으로 생산</a:t>
            </a:r>
            <a:r>
              <a:rPr lang="ko-KR" altLang="en-US" sz="950" dirty="0"/>
              <a:t>되었으므로 이 사건 특허권에 대한 간접침해가 성립하지 않는다</a:t>
            </a:r>
          </a:p>
        </p:txBody>
      </p:sp>
      <p:sp>
        <p:nvSpPr>
          <p:cNvPr id="72" name="TextBox 71">
            <a:extLst>
              <a:ext uri="{FF2B5EF4-FFF2-40B4-BE49-F238E27FC236}">
                <a16:creationId xmlns:a16="http://schemas.microsoft.com/office/drawing/2014/main" id="{95EFC6FD-2B68-82B0-DB3B-C1033326E94A}"/>
              </a:ext>
            </a:extLst>
          </p:cNvPr>
          <p:cNvSpPr txBox="1"/>
          <p:nvPr/>
        </p:nvSpPr>
        <p:spPr>
          <a:xfrm>
            <a:off x="71595" y="3115661"/>
            <a:ext cx="12102353" cy="969496"/>
          </a:xfrm>
          <a:prstGeom prst="rect">
            <a:avLst/>
          </a:prstGeom>
          <a:noFill/>
        </p:spPr>
        <p:txBody>
          <a:bodyPr wrap="square">
            <a:spAutoFit/>
          </a:bodyPr>
          <a:lstStyle/>
          <a:p>
            <a:r>
              <a:rPr lang="ko-KR" altLang="en-US" sz="950" dirty="0"/>
              <a:t>    부정경쟁방지법</a:t>
            </a:r>
            <a:r>
              <a:rPr lang="en-US" altLang="ko-KR" sz="950" dirty="0"/>
              <a:t> </a:t>
            </a:r>
            <a:r>
              <a:rPr lang="ko-KR" altLang="en-US" sz="950" dirty="0"/>
              <a:t>제</a:t>
            </a:r>
            <a:r>
              <a:rPr lang="en-US" altLang="ko-KR" sz="950" dirty="0"/>
              <a:t>2</a:t>
            </a:r>
            <a:r>
              <a:rPr lang="ko-KR" altLang="en-US" sz="950" dirty="0"/>
              <a:t>조 제</a:t>
            </a:r>
            <a:r>
              <a:rPr lang="en-US" altLang="ko-KR" sz="950" dirty="0"/>
              <a:t>1</a:t>
            </a:r>
            <a:r>
              <a:rPr lang="ko-KR" altLang="en-US" sz="950" dirty="0"/>
              <a:t>호 </a:t>
            </a:r>
            <a:r>
              <a:rPr lang="en-US" altLang="ko-KR" sz="950" dirty="0"/>
              <a:t>(</a:t>
            </a:r>
            <a:r>
              <a:rPr lang="ko-KR" altLang="en-US" sz="950" dirty="0"/>
              <a:t>파</a:t>
            </a:r>
            <a:r>
              <a:rPr lang="en-US" altLang="ko-KR" sz="950" dirty="0"/>
              <a:t>)</a:t>
            </a:r>
            <a:r>
              <a:rPr lang="ko-KR" altLang="en-US" sz="950" dirty="0"/>
              <a:t>목은 보호대상인 </a:t>
            </a:r>
            <a:r>
              <a:rPr lang="en-US" altLang="ko-KR" sz="950" dirty="0"/>
              <a:t>'</a:t>
            </a:r>
            <a:r>
              <a:rPr lang="ko-KR" altLang="en-US" sz="950" dirty="0"/>
              <a:t>성과 등</a:t>
            </a:r>
            <a:r>
              <a:rPr lang="en-US" altLang="ko-KR" sz="950" dirty="0"/>
              <a:t>'</a:t>
            </a:r>
            <a:r>
              <a:rPr lang="ko-KR" altLang="en-US" sz="950" dirty="0"/>
              <a:t>의 유형에 제한을 두고 있지 않으므로</a:t>
            </a:r>
            <a:r>
              <a:rPr lang="en-US" altLang="ko-KR" sz="950" dirty="0"/>
              <a:t>, </a:t>
            </a:r>
            <a:r>
              <a:rPr lang="ko-KR" altLang="en-US" sz="950" dirty="0" err="1"/>
              <a:t>유형물뿐만</a:t>
            </a:r>
            <a:r>
              <a:rPr lang="ko-KR" altLang="en-US" sz="950" dirty="0"/>
              <a:t> 아니라 무형물도 이에 포함되고 종래 지식재산권법에 따라 보호받기 어려웠던 새로운 형태의 결과물도 포함될 수 있다</a:t>
            </a:r>
            <a:r>
              <a:rPr lang="en-US" altLang="ko-KR" sz="950" dirty="0"/>
              <a:t>. '</a:t>
            </a:r>
            <a:r>
              <a:rPr lang="ko-KR" altLang="en-US" sz="950" dirty="0"/>
              <a:t>성과 등</a:t>
            </a:r>
            <a:r>
              <a:rPr lang="en-US" altLang="ko-KR" sz="950" dirty="0"/>
              <a:t>'</a:t>
            </a:r>
            <a:r>
              <a:rPr lang="ko-KR" altLang="en-US" sz="950" dirty="0"/>
              <a:t>을 판단할 때에는 </a:t>
            </a:r>
            <a:r>
              <a:rPr lang="ko-KR" altLang="en-US" sz="950" dirty="0">
                <a:highlight>
                  <a:srgbClr val="FFFF00"/>
                </a:highlight>
              </a:rPr>
              <a:t>위와 같은 결과물이 갖게 된 명성이나 경제적 가치</a:t>
            </a:r>
            <a:r>
              <a:rPr lang="en-US" altLang="ko-KR" sz="950" dirty="0">
                <a:highlight>
                  <a:srgbClr val="FFFF00"/>
                </a:highlight>
              </a:rPr>
              <a:t>, </a:t>
            </a:r>
            <a:r>
              <a:rPr lang="ko-KR" altLang="en-US" sz="950" dirty="0">
                <a:highlight>
                  <a:srgbClr val="FFFF00"/>
                </a:highlight>
              </a:rPr>
              <a:t>결과물에 </a:t>
            </a:r>
            <a:r>
              <a:rPr lang="ko-KR" altLang="en-US" sz="950" dirty="0" err="1">
                <a:highlight>
                  <a:srgbClr val="FFFF00"/>
                </a:highlight>
              </a:rPr>
              <a:t>화체된</a:t>
            </a:r>
            <a:r>
              <a:rPr lang="ko-KR" altLang="en-US" sz="950" dirty="0">
                <a:highlight>
                  <a:srgbClr val="FFFF00"/>
                </a:highlight>
              </a:rPr>
              <a:t> </a:t>
            </a:r>
            <a:r>
              <a:rPr lang="ko-KR" altLang="en-US" sz="950" dirty="0" err="1">
                <a:highlight>
                  <a:srgbClr val="FFFF00"/>
                </a:highlight>
              </a:rPr>
              <a:t>고객흡인력</a:t>
            </a:r>
            <a:r>
              <a:rPr lang="en-US" altLang="ko-KR" sz="950" dirty="0">
                <a:highlight>
                  <a:srgbClr val="FFFF00"/>
                </a:highlight>
              </a:rPr>
              <a:t>, </a:t>
            </a:r>
            <a:r>
              <a:rPr lang="ko-KR" altLang="en-US" sz="950" dirty="0">
                <a:highlight>
                  <a:srgbClr val="FFFF00"/>
                </a:highlight>
              </a:rPr>
              <a:t>해당 사업 분야에서 결과물이 차지하는 비중과 경쟁력 등을 종합적으로 고려</a:t>
            </a:r>
            <a:r>
              <a:rPr lang="ko-KR" altLang="en-US" sz="950" dirty="0"/>
              <a:t>해야 한다</a:t>
            </a:r>
            <a:r>
              <a:rPr lang="en-US" altLang="ko-KR" sz="950" dirty="0"/>
              <a:t>. </a:t>
            </a:r>
            <a:r>
              <a:rPr lang="ko-KR" altLang="en-US" sz="950" dirty="0"/>
              <a:t>이러한 성과 등이 </a:t>
            </a:r>
            <a:r>
              <a:rPr lang="en-US" altLang="ko-KR" sz="950" dirty="0"/>
              <a:t>'</a:t>
            </a:r>
            <a:r>
              <a:rPr lang="ko-KR" altLang="en-US" sz="950" dirty="0"/>
              <a:t>상당한 투자나 노력으로 만들어진</a:t>
            </a:r>
            <a:r>
              <a:rPr lang="en-US" altLang="ko-KR" sz="950" dirty="0"/>
              <a:t>' </a:t>
            </a:r>
            <a:r>
              <a:rPr lang="ko-KR" altLang="en-US" sz="950" dirty="0"/>
              <a:t>것인지는 </a:t>
            </a:r>
            <a:r>
              <a:rPr lang="ko-KR" altLang="en-US" sz="950" dirty="0">
                <a:highlight>
                  <a:srgbClr val="FFFF00"/>
                </a:highlight>
              </a:rPr>
              <a:t>권리자가 투입한 투자나 노력의 내용과 정도를 그 성과 등이 속한 산업분야의 관행이나 실태에 비추어 구체적 </a:t>
            </a:r>
            <a:r>
              <a:rPr lang="en-US" altLang="ko-KR" sz="950" dirty="0">
                <a:highlight>
                  <a:srgbClr val="FFFF00"/>
                </a:highlight>
              </a:rPr>
              <a:t>· </a:t>
            </a:r>
            <a:r>
              <a:rPr lang="ko-KR" altLang="en-US" sz="950" dirty="0">
                <a:highlight>
                  <a:srgbClr val="FFFF00"/>
                </a:highlight>
              </a:rPr>
              <a:t>개별적으로 판단하되</a:t>
            </a:r>
            <a:r>
              <a:rPr lang="en-US" altLang="ko-KR" sz="950" dirty="0">
                <a:highlight>
                  <a:srgbClr val="FFFF00"/>
                </a:highlight>
              </a:rPr>
              <a:t>, </a:t>
            </a:r>
            <a:r>
              <a:rPr lang="ko-KR" altLang="en-US" sz="950" dirty="0">
                <a:highlight>
                  <a:srgbClr val="FFFF00"/>
                </a:highlight>
              </a:rPr>
              <a:t>성과 등을 무단으로 사용함으로써 침해된 경제적 이익이 누구나 자유롭게 이용할 수 있는 이른바 공공영역</a:t>
            </a:r>
            <a:r>
              <a:rPr lang="en-US" altLang="ko-KR" sz="950" dirty="0">
                <a:highlight>
                  <a:srgbClr val="FFFF00"/>
                </a:highlight>
              </a:rPr>
              <a:t>(</a:t>
            </a:r>
            <a:r>
              <a:rPr lang="ko-KR" altLang="en-US" sz="950" dirty="0">
                <a:highlight>
                  <a:srgbClr val="FFFF00"/>
                </a:highlight>
              </a:rPr>
              <a:t>公共領域</a:t>
            </a:r>
            <a:r>
              <a:rPr lang="en-US" altLang="ko-KR" sz="950" dirty="0">
                <a:highlight>
                  <a:srgbClr val="FFFF00"/>
                </a:highlight>
              </a:rPr>
              <a:t>, public domain)</a:t>
            </a:r>
            <a:r>
              <a:rPr lang="ko-KR" altLang="en-US" sz="950" dirty="0">
                <a:highlight>
                  <a:srgbClr val="FFFF00"/>
                </a:highlight>
              </a:rPr>
              <a:t>에 속하지 않는다고 평가</a:t>
            </a:r>
            <a:r>
              <a:rPr lang="ko-KR" altLang="en-US" sz="950" dirty="0"/>
              <a:t>할 수 있어야 한다</a:t>
            </a:r>
            <a:r>
              <a:rPr lang="en-US" altLang="ko-KR" sz="950" dirty="0"/>
              <a:t>. </a:t>
            </a:r>
            <a:r>
              <a:rPr lang="ko-KR" altLang="en-US" sz="950" dirty="0"/>
              <a:t>또한 위 </a:t>
            </a:r>
            <a:r>
              <a:rPr lang="en-US" altLang="ko-KR" sz="950" dirty="0"/>
              <a:t>(</a:t>
            </a:r>
            <a:r>
              <a:rPr lang="ko-KR" altLang="en-US" sz="950" dirty="0"/>
              <a:t>파</a:t>
            </a:r>
            <a:r>
              <a:rPr lang="en-US" altLang="ko-KR" sz="950" dirty="0"/>
              <a:t>)</a:t>
            </a:r>
            <a:r>
              <a:rPr lang="ko-KR" altLang="en-US" sz="950" dirty="0"/>
              <a:t>목이 정하는 </a:t>
            </a:r>
            <a:r>
              <a:rPr lang="en-US" altLang="ko-KR" sz="950" dirty="0"/>
              <a:t>'</a:t>
            </a:r>
            <a:r>
              <a:rPr lang="ko-KR" altLang="en-US" sz="950" dirty="0"/>
              <a:t>공정한 상거래 관행이나 경쟁질서에 반하는 방법으로 자신의 영업을 위하여 무단으로 사용</a:t>
            </a:r>
            <a:r>
              <a:rPr lang="en-US" altLang="ko-KR" sz="950" dirty="0"/>
              <a:t>'</a:t>
            </a:r>
            <a:r>
              <a:rPr lang="ko-KR" altLang="en-US" sz="950" dirty="0"/>
              <a:t>한 경우에 해당하기 위해서는</a:t>
            </a:r>
            <a:r>
              <a:rPr lang="ko-KR" altLang="en-US" sz="950" dirty="0">
                <a:highlight>
                  <a:srgbClr val="FFFF00"/>
                </a:highlight>
              </a:rPr>
              <a:t> 권리자와 침해자가 경쟁관계에 있거나 가까운 장래에 경쟁관계에 놓일 가능성이 있는지</a:t>
            </a:r>
            <a:r>
              <a:rPr lang="en-US" altLang="ko-KR" sz="950" dirty="0">
                <a:highlight>
                  <a:srgbClr val="FFFF00"/>
                </a:highlight>
              </a:rPr>
              <a:t>, </a:t>
            </a:r>
            <a:r>
              <a:rPr lang="ko-KR" altLang="en-US" sz="950" dirty="0">
                <a:highlight>
                  <a:srgbClr val="FFFF00"/>
                </a:highlight>
              </a:rPr>
              <a:t>권리자가 주장하는 성과 등이 포함된 산업분야의 상거래 관행이나 경쟁질서의 내용과 그 내용이 공정한지</a:t>
            </a:r>
            <a:r>
              <a:rPr lang="en-US" altLang="ko-KR" sz="950" dirty="0">
                <a:highlight>
                  <a:srgbClr val="FFFF00"/>
                </a:highlight>
              </a:rPr>
              <a:t>, </a:t>
            </a:r>
            <a:r>
              <a:rPr lang="ko-KR" altLang="en-US" sz="950" dirty="0">
                <a:highlight>
                  <a:srgbClr val="FFFF00"/>
                </a:highlight>
              </a:rPr>
              <a:t>위와 같은 성과 등이 침해자의 상품이나 서비스에 의해 시장에서 대체될 수 있는지</a:t>
            </a:r>
            <a:r>
              <a:rPr lang="en-US" altLang="ko-KR" sz="950" dirty="0">
                <a:highlight>
                  <a:srgbClr val="FFFF00"/>
                </a:highlight>
              </a:rPr>
              <a:t>, </a:t>
            </a:r>
            <a:r>
              <a:rPr lang="ko-KR" altLang="en-US" sz="950" dirty="0">
                <a:highlight>
                  <a:srgbClr val="FFFF00"/>
                </a:highlight>
              </a:rPr>
              <a:t>수요자나 거래자들에게 성과 등이 어느 정도 알려졌는지</a:t>
            </a:r>
            <a:r>
              <a:rPr lang="en-US" altLang="ko-KR" sz="950" dirty="0">
                <a:highlight>
                  <a:srgbClr val="FFFF00"/>
                </a:highlight>
              </a:rPr>
              <a:t>, </a:t>
            </a:r>
            <a:r>
              <a:rPr lang="ko-KR" altLang="en-US" sz="950" dirty="0">
                <a:highlight>
                  <a:srgbClr val="FFFF00"/>
                </a:highlight>
              </a:rPr>
              <a:t>수요자나 거래자들의 혼동가능성이 있는지 등을 종합적으로 고려</a:t>
            </a:r>
            <a:r>
              <a:rPr lang="ko-KR" altLang="en-US" sz="950" dirty="0"/>
              <a:t>해야 한다</a:t>
            </a:r>
            <a:r>
              <a:rPr lang="en-US" altLang="ko-KR" sz="950" dirty="0"/>
              <a:t>(</a:t>
            </a:r>
            <a:r>
              <a:rPr lang="ko-KR" altLang="en-US" sz="950" dirty="0"/>
              <a:t>대법원 </a:t>
            </a:r>
            <a:r>
              <a:rPr lang="en-US" altLang="ko-KR" sz="950" dirty="0"/>
              <a:t>2020. 6. 25. </a:t>
            </a:r>
            <a:r>
              <a:rPr lang="ko-KR" altLang="en-US" sz="950" dirty="0"/>
              <a:t>선고 </a:t>
            </a:r>
            <a:r>
              <a:rPr lang="en-US" altLang="ko-KR" sz="950" dirty="0"/>
              <a:t>2019</a:t>
            </a:r>
            <a:r>
              <a:rPr lang="ko-KR" altLang="en-US" sz="950" dirty="0"/>
              <a:t>다</a:t>
            </a:r>
            <a:r>
              <a:rPr lang="en-US" altLang="ko-KR" sz="950" dirty="0"/>
              <a:t>282449 </a:t>
            </a:r>
            <a:r>
              <a:rPr lang="ko-KR" altLang="en-US" sz="950" dirty="0"/>
              <a:t>판결</a:t>
            </a:r>
            <a:r>
              <a:rPr lang="en-US" altLang="ko-KR" sz="950" dirty="0"/>
              <a:t>, </a:t>
            </a:r>
            <a:r>
              <a:rPr lang="ko-KR" altLang="en-US" sz="950" dirty="0"/>
              <a:t>대법원 </a:t>
            </a:r>
            <a:r>
              <a:rPr lang="en-US" altLang="ko-KR" sz="950" dirty="0"/>
              <a:t>2022. 10. 14. </a:t>
            </a:r>
            <a:r>
              <a:rPr lang="ko-KR" altLang="en-US" sz="950" dirty="0"/>
              <a:t>선고 </a:t>
            </a:r>
            <a:r>
              <a:rPr lang="en-US" altLang="ko-KR" sz="950" dirty="0"/>
              <a:t>2020</a:t>
            </a:r>
            <a:r>
              <a:rPr lang="ko-KR" altLang="en-US" sz="950" dirty="0"/>
              <a:t>다</a:t>
            </a:r>
            <a:r>
              <a:rPr lang="en-US" altLang="ko-KR" sz="950" dirty="0"/>
              <a:t>268807 </a:t>
            </a:r>
            <a:r>
              <a:rPr lang="ko-KR" altLang="en-US" sz="950" dirty="0"/>
              <a:t>판결 등 참조</a:t>
            </a:r>
            <a:r>
              <a:rPr lang="en-US" altLang="ko-KR" sz="950" dirty="0"/>
              <a:t>).</a:t>
            </a:r>
            <a:endParaRPr lang="ko-KR" altLang="en-US" sz="950" dirty="0"/>
          </a:p>
        </p:txBody>
      </p:sp>
      <p:sp>
        <p:nvSpPr>
          <p:cNvPr id="73" name="TextBox 72">
            <a:extLst>
              <a:ext uri="{FF2B5EF4-FFF2-40B4-BE49-F238E27FC236}">
                <a16:creationId xmlns:a16="http://schemas.microsoft.com/office/drawing/2014/main" id="{174CFBA4-6AEF-2DDD-C39A-8AB7B22B890B}"/>
              </a:ext>
            </a:extLst>
          </p:cNvPr>
          <p:cNvSpPr txBox="1"/>
          <p:nvPr/>
        </p:nvSpPr>
        <p:spPr>
          <a:xfrm>
            <a:off x="71595" y="4065238"/>
            <a:ext cx="12039049" cy="677108"/>
          </a:xfrm>
          <a:prstGeom prst="rect">
            <a:avLst/>
          </a:prstGeom>
          <a:solidFill>
            <a:schemeClr val="accent1">
              <a:lumMod val="20000"/>
              <a:lumOff val="80000"/>
            </a:schemeClr>
          </a:solidFill>
          <a:ln>
            <a:solidFill>
              <a:schemeClr val="bg1">
                <a:lumMod val="50000"/>
              </a:schemeClr>
            </a:solidFill>
          </a:ln>
        </p:spPr>
        <p:txBody>
          <a:bodyPr wrap="square">
            <a:spAutoFit/>
          </a:bodyPr>
          <a:lstStyle/>
          <a:p>
            <a:r>
              <a:rPr lang="en-US" altLang="ko-KR" sz="950" dirty="0"/>
              <a:t>1) 13</a:t>
            </a:r>
            <a:r>
              <a:rPr lang="ko-KR" altLang="en-US" sz="950" dirty="0"/>
              <a:t>종 개별 접합체를 생산하는 것은 </a:t>
            </a:r>
            <a:r>
              <a:rPr lang="ko-KR" altLang="en-US" sz="950" dirty="0">
                <a:solidFill>
                  <a:srgbClr val="FF0000"/>
                </a:solidFill>
              </a:rPr>
              <a:t>누구나 자유롭게 이용할 수 있는 공공영역</a:t>
            </a:r>
            <a:r>
              <a:rPr lang="ko-KR" altLang="en-US" sz="950" dirty="0"/>
              <a:t>에 속한다고 보아야 하므로</a:t>
            </a:r>
            <a:r>
              <a:rPr lang="en-US" altLang="ko-KR" sz="950" dirty="0"/>
              <a:t>, 13</a:t>
            </a:r>
            <a:r>
              <a:rPr lang="ko-KR" altLang="en-US" sz="950" dirty="0"/>
              <a:t>종의 각 개별 접합체 그 자체는 원고의 상당한 투자나 노력으로 만들어진 성과 등이라고 할 수 없다</a:t>
            </a:r>
            <a:r>
              <a:rPr lang="en-US" altLang="ko-KR" sz="950" dirty="0"/>
              <a:t>.</a:t>
            </a:r>
          </a:p>
          <a:p>
            <a:r>
              <a:rPr lang="en-US" altLang="ko-KR" sz="950" dirty="0"/>
              <a:t>2) </a:t>
            </a:r>
            <a:r>
              <a:rPr lang="ko-KR" altLang="en-US" sz="950" dirty="0"/>
              <a:t>설령 </a:t>
            </a:r>
            <a:r>
              <a:rPr lang="en-US" altLang="ko-KR" sz="950" dirty="0"/>
              <a:t>13</a:t>
            </a:r>
            <a:r>
              <a:rPr lang="ko-KR" altLang="en-US" sz="950" dirty="0"/>
              <a:t>종 개별 접합체가 원고의 </a:t>
            </a:r>
            <a:r>
              <a:rPr lang="en-US" altLang="ko-KR" sz="950" dirty="0"/>
              <a:t>'</a:t>
            </a:r>
            <a:r>
              <a:rPr lang="ko-KR" altLang="en-US" sz="950" dirty="0"/>
              <a:t>성과 등</a:t>
            </a:r>
            <a:r>
              <a:rPr lang="en-US" altLang="ko-KR" sz="950" dirty="0"/>
              <a:t>'</a:t>
            </a:r>
            <a:r>
              <a:rPr lang="ko-KR" altLang="en-US" sz="950" dirty="0"/>
              <a:t>에 해당한다고 하더라도</a:t>
            </a:r>
            <a:r>
              <a:rPr lang="en-US" altLang="ko-KR" sz="950" dirty="0"/>
              <a:t>, </a:t>
            </a:r>
            <a:r>
              <a:rPr lang="ko-KR" altLang="en-US" sz="950" dirty="0"/>
              <a:t>원고들이 제출한 증거만으로는 피고가 원고의 성과 등을 공정한 상거래 관행이나 경쟁질서에 반하는 방법으로 자신의 영업을 위하여 무단으로 사용하였다고 인정하기에도 부족하다</a:t>
            </a:r>
            <a:r>
              <a:rPr lang="en-US" altLang="ko-KR" sz="950" dirty="0"/>
              <a:t>.</a:t>
            </a:r>
          </a:p>
          <a:p>
            <a:r>
              <a:rPr lang="en-US" altLang="ko-KR" sz="950" dirty="0"/>
              <a:t>3) </a:t>
            </a:r>
            <a:r>
              <a:rPr lang="ko-KR" altLang="en-US" sz="950" dirty="0"/>
              <a:t>피고가 </a:t>
            </a:r>
            <a:r>
              <a:rPr lang="en-US" altLang="ko-KR" sz="950" dirty="0"/>
              <a:t>13</a:t>
            </a:r>
            <a:r>
              <a:rPr lang="ko-KR" altLang="en-US" sz="950" dirty="0"/>
              <a:t>종 개별 접합체 원액을 생산한 행위는 부정경쟁방지법 제</a:t>
            </a:r>
            <a:r>
              <a:rPr lang="en-US" altLang="ko-KR" sz="950" dirty="0"/>
              <a:t>2</a:t>
            </a:r>
            <a:r>
              <a:rPr lang="ko-KR" altLang="en-US" sz="950" dirty="0"/>
              <a:t>조 제</a:t>
            </a:r>
            <a:r>
              <a:rPr lang="en-US" altLang="ko-KR" sz="950" dirty="0"/>
              <a:t>1</a:t>
            </a:r>
            <a:r>
              <a:rPr lang="ko-KR" altLang="en-US" sz="950" dirty="0"/>
              <a:t>호</a:t>
            </a:r>
            <a:r>
              <a:rPr lang="en-US" altLang="ko-KR" sz="950" dirty="0"/>
              <a:t>(</a:t>
            </a:r>
            <a:r>
              <a:rPr lang="ko-KR" altLang="en-US" sz="950" dirty="0"/>
              <a:t>파</a:t>
            </a:r>
            <a:r>
              <a:rPr lang="en-US" altLang="ko-KR" sz="950" dirty="0"/>
              <a:t>)</a:t>
            </a:r>
            <a:r>
              <a:rPr lang="ko-KR" altLang="en-US" sz="950" dirty="0"/>
              <a:t>목에서 정한 부정경쟁행위에 해당하지 않는다</a:t>
            </a:r>
            <a:r>
              <a:rPr lang="en-US" altLang="ko-KR" sz="950" dirty="0"/>
              <a:t>.</a:t>
            </a:r>
            <a:endParaRPr lang="ko-KR" altLang="en-US" sz="950" dirty="0"/>
          </a:p>
        </p:txBody>
      </p:sp>
      <p:sp>
        <p:nvSpPr>
          <p:cNvPr id="74" name="TextBox 73">
            <a:extLst>
              <a:ext uri="{FF2B5EF4-FFF2-40B4-BE49-F238E27FC236}">
                <a16:creationId xmlns:a16="http://schemas.microsoft.com/office/drawing/2014/main" id="{72B3379F-5F56-AEB7-6563-2A9AE059FFFD}"/>
              </a:ext>
            </a:extLst>
          </p:cNvPr>
          <p:cNvSpPr txBox="1"/>
          <p:nvPr/>
        </p:nvSpPr>
        <p:spPr>
          <a:xfrm>
            <a:off x="0" y="4746523"/>
            <a:ext cx="12191999" cy="969496"/>
          </a:xfrm>
          <a:prstGeom prst="rect">
            <a:avLst/>
          </a:prstGeom>
          <a:noFill/>
        </p:spPr>
        <p:txBody>
          <a:bodyPr wrap="square">
            <a:spAutoFit/>
          </a:bodyPr>
          <a:lstStyle/>
          <a:p>
            <a:r>
              <a:rPr lang="ko-KR" altLang="en-US" sz="950" dirty="0"/>
              <a:t>      특허법은 발명을 보호 </a:t>
            </a:r>
            <a:r>
              <a:rPr lang="en-US" altLang="ko-KR" sz="950" dirty="0"/>
              <a:t>· </a:t>
            </a:r>
            <a:r>
              <a:rPr lang="ko-KR" altLang="en-US" sz="950" dirty="0"/>
              <a:t>장려하는 한편 그 이용을 도모함으로써 기술의 발전을 촉진하여 산업발전에 이바지함을 목적으로 한다</a:t>
            </a:r>
            <a:r>
              <a:rPr lang="en-US" altLang="ko-KR" sz="950" dirty="0"/>
              <a:t>(</a:t>
            </a:r>
            <a:r>
              <a:rPr lang="ko-KR" altLang="en-US" sz="950" dirty="0"/>
              <a:t>특허법 제</a:t>
            </a:r>
            <a:r>
              <a:rPr lang="en-US" altLang="ko-KR" sz="950" dirty="0"/>
              <a:t>1</a:t>
            </a:r>
            <a:r>
              <a:rPr lang="ko-KR" altLang="en-US" sz="950" dirty="0"/>
              <a:t>조</a:t>
            </a:r>
            <a:r>
              <a:rPr lang="en-US" altLang="ko-KR" sz="950" dirty="0"/>
              <a:t>). </a:t>
            </a:r>
            <a:r>
              <a:rPr lang="ko-KR" altLang="en-US" sz="950" dirty="0"/>
              <a:t>이에 특허법은 특허권자가 업으로서 특허발명을 실시할 권리를 독점한다고 하면서도</a:t>
            </a:r>
            <a:r>
              <a:rPr lang="en-US" altLang="ko-KR" sz="950" dirty="0"/>
              <a:t>(</a:t>
            </a:r>
            <a:r>
              <a:rPr lang="ko-KR" altLang="en-US" sz="950" dirty="0"/>
              <a:t>특허법 제</a:t>
            </a:r>
            <a:r>
              <a:rPr lang="en-US" altLang="ko-KR" sz="950" dirty="0"/>
              <a:t>94</a:t>
            </a:r>
            <a:r>
              <a:rPr lang="ko-KR" altLang="en-US" sz="950" dirty="0"/>
              <a:t>조 제</a:t>
            </a:r>
            <a:r>
              <a:rPr lang="en-US" altLang="ko-KR" sz="950" dirty="0"/>
              <a:t>1</a:t>
            </a:r>
            <a:r>
              <a:rPr lang="ko-KR" altLang="en-US" sz="950" dirty="0"/>
              <a:t>항 본문</a:t>
            </a:r>
            <a:r>
              <a:rPr lang="en-US" altLang="ko-KR" sz="950" dirty="0"/>
              <a:t>) </a:t>
            </a:r>
            <a:r>
              <a:rPr lang="ko-KR" altLang="en-US" sz="950" dirty="0"/>
              <a:t>제</a:t>
            </a:r>
            <a:r>
              <a:rPr lang="en-US" altLang="ko-KR" sz="950" dirty="0"/>
              <a:t>96</a:t>
            </a:r>
            <a:r>
              <a:rPr lang="ko-KR" altLang="en-US" sz="950" dirty="0"/>
              <a:t>조 제</a:t>
            </a:r>
            <a:r>
              <a:rPr lang="en-US" altLang="ko-KR" sz="950" dirty="0"/>
              <a:t>1</a:t>
            </a:r>
            <a:r>
              <a:rPr lang="ko-KR" altLang="en-US" sz="950" dirty="0"/>
              <a:t>항 제</a:t>
            </a:r>
            <a:r>
              <a:rPr lang="en-US" altLang="ko-KR" sz="950" dirty="0"/>
              <a:t>1</a:t>
            </a:r>
            <a:r>
              <a:rPr lang="ko-KR" altLang="en-US" sz="950" dirty="0"/>
              <a:t>호에서 연구 또는 시험</a:t>
            </a:r>
            <a:r>
              <a:rPr lang="en-US" altLang="ko-KR" sz="950" dirty="0"/>
              <a:t>(</a:t>
            </a:r>
            <a:r>
              <a:rPr lang="ko-KR" altLang="en-US" sz="950" dirty="0"/>
              <a:t>약사법에 따른 의약품의 품목허가 </a:t>
            </a:r>
            <a:r>
              <a:rPr lang="en-US" altLang="ko-KR" sz="950" dirty="0"/>
              <a:t>· </a:t>
            </a:r>
            <a:r>
              <a:rPr lang="ko-KR" altLang="en-US" sz="950" dirty="0"/>
              <a:t>품목신고 및 농약관리법에 따른 농약의 등록을 위한 연구 또는 시험을 포함한다</a:t>
            </a:r>
            <a:r>
              <a:rPr lang="en-US" altLang="ko-KR" sz="950" dirty="0"/>
              <a:t>. </a:t>
            </a:r>
            <a:r>
              <a:rPr lang="ko-KR" altLang="en-US" sz="950" dirty="0"/>
              <a:t>이하 같다</a:t>
            </a:r>
            <a:r>
              <a:rPr lang="en-US" altLang="ko-KR" sz="950" dirty="0"/>
              <a:t>)</a:t>
            </a:r>
            <a:r>
              <a:rPr lang="ko-KR" altLang="en-US" sz="950" dirty="0"/>
              <a:t>을 하기 위한 특허발명의 실시에는 특허권의 효력이 미치지 않는다고 규정하고 있다</a:t>
            </a:r>
            <a:r>
              <a:rPr lang="en-US" altLang="ko-KR" sz="950" dirty="0"/>
              <a:t>. </a:t>
            </a:r>
            <a:r>
              <a:rPr lang="ko-KR" altLang="en-US" sz="950" dirty="0"/>
              <a:t>특허법 제</a:t>
            </a:r>
            <a:r>
              <a:rPr lang="en-US" altLang="ko-KR" sz="950" dirty="0"/>
              <a:t>96</a:t>
            </a:r>
            <a:r>
              <a:rPr lang="ko-KR" altLang="en-US" sz="950" dirty="0"/>
              <a:t>조 제</a:t>
            </a:r>
            <a:r>
              <a:rPr lang="en-US" altLang="ko-KR" sz="950" dirty="0"/>
              <a:t>1</a:t>
            </a:r>
            <a:r>
              <a:rPr lang="ko-KR" altLang="en-US" sz="950" dirty="0"/>
              <a:t>항 제</a:t>
            </a:r>
            <a:r>
              <a:rPr lang="en-US" altLang="ko-KR" sz="950" dirty="0"/>
              <a:t>1</a:t>
            </a:r>
            <a:r>
              <a:rPr lang="ko-KR" altLang="en-US" sz="950" dirty="0"/>
              <a:t>호는 특허권의 효력이 미치지 않는 특허발명 실시의 요건으로 </a:t>
            </a:r>
            <a:r>
              <a:rPr lang="ko-KR" altLang="en-US" sz="950" dirty="0">
                <a:highlight>
                  <a:srgbClr val="FFFF00"/>
                </a:highlight>
              </a:rPr>
              <a:t>그 실시의 목적이 연구 또는 시험일 것을 정하고 있을 뿐</a:t>
            </a:r>
            <a:r>
              <a:rPr lang="ko-KR" altLang="en-US" sz="950" dirty="0"/>
              <a:t>이다</a:t>
            </a:r>
            <a:r>
              <a:rPr lang="en-US" altLang="ko-KR" sz="950" dirty="0"/>
              <a:t>. </a:t>
            </a:r>
            <a:r>
              <a:rPr lang="ko-KR" altLang="en-US" sz="950" dirty="0"/>
              <a:t>다만 </a:t>
            </a:r>
            <a:r>
              <a:rPr lang="ko-KR" altLang="en-US" sz="950" dirty="0">
                <a:highlight>
                  <a:srgbClr val="FFFF00"/>
                </a:highlight>
              </a:rPr>
              <a:t>이는 누구든지 특허발명을 연구 또는 시험하여 그 내용을 확인 </a:t>
            </a:r>
            <a:r>
              <a:rPr lang="en-US" altLang="ko-KR" sz="950" dirty="0">
                <a:highlight>
                  <a:srgbClr val="FFFF00"/>
                </a:highlight>
              </a:rPr>
              <a:t>· </a:t>
            </a:r>
            <a:r>
              <a:rPr lang="ko-KR" altLang="en-US" sz="950" dirty="0">
                <a:highlight>
                  <a:srgbClr val="FFFF00"/>
                </a:highlight>
              </a:rPr>
              <a:t>검증하고 더욱 개량된 발명을 </a:t>
            </a:r>
            <a:r>
              <a:rPr lang="ko-KR" altLang="en-US" sz="950" dirty="0" err="1">
                <a:highlight>
                  <a:srgbClr val="FFFF00"/>
                </a:highlight>
              </a:rPr>
              <a:t>이어나갈</a:t>
            </a:r>
            <a:r>
              <a:rPr lang="ko-KR" altLang="en-US" sz="950" dirty="0">
                <a:highlight>
                  <a:srgbClr val="FFFF00"/>
                </a:highlight>
              </a:rPr>
              <a:t> 수 있도록 특허권의 효력을 제한함으로써 특허법이 추구하는 </a:t>
            </a:r>
            <a:r>
              <a:rPr lang="en-US" altLang="ko-KR" sz="950" dirty="0">
                <a:highlight>
                  <a:srgbClr val="FFFF00"/>
                </a:highlight>
              </a:rPr>
              <a:t>'</a:t>
            </a:r>
            <a:r>
              <a:rPr lang="ko-KR" altLang="en-US" sz="950" dirty="0">
                <a:highlight>
                  <a:srgbClr val="FFFF00"/>
                </a:highlight>
              </a:rPr>
              <a:t>발명의 보호</a:t>
            </a:r>
            <a:r>
              <a:rPr lang="en-US" altLang="ko-KR" sz="950" dirty="0">
                <a:highlight>
                  <a:srgbClr val="FFFF00"/>
                </a:highlight>
              </a:rPr>
              <a:t>'</a:t>
            </a:r>
            <a:r>
              <a:rPr lang="ko-KR" altLang="en-US" sz="950" dirty="0">
                <a:highlight>
                  <a:srgbClr val="FFFF00"/>
                </a:highlight>
              </a:rPr>
              <a:t>와</a:t>
            </a:r>
            <a:r>
              <a:rPr lang="en-US" altLang="ko-KR" sz="950" dirty="0">
                <a:highlight>
                  <a:srgbClr val="FFFF00"/>
                </a:highlight>
              </a:rPr>
              <a:t>'</a:t>
            </a:r>
            <a:r>
              <a:rPr lang="ko-KR" altLang="en-US" sz="950" dirty="0">
                <a:highlight>
                  <a:srgbClr val="FFFF00"/>
                </a:highlight>
              </a:rPr>
              <a:t>발명의 이용 도모</a:t>
            </a:r>
            <a:r>
              <a:rPr lang="en-US" altLang="ko-KR" sz="950" dirty="0">
                <a:highlight>
                  <a:srgbClr val="FFFF00"/>
                </a:highlight>
              </a:rPr>
              <a:t>' </a:t>
            </a:r>
            <a:r>
              <a:rPr lang="ko-KR" altLang="en-US" sz="950" dirty="0">
                <a:highlight>
                  <a:srgbClr val="FFFF00"/>
                </a:highlight>
              </a:rPr>
              <a:t>사이에 조화와 균형을 이루기 위한 규정이므로</a:t>
            </a:r>
            <a:r>
              <a:rPr lang="en-US" altLang="ko-KR" sz="950" dirty="0">
                <a:highlight>
                  <a:srgbClr val="FFFF00"/>
                </a:highlight>
              </a:rPr>
              <a:t>, </a:t>
            </a:r>
            <a:r>
              <a:rPr lang="ko-KR" altLang="en-US" sz="950" dirty="0">
                <a:highlight>
                  <a:srgbClr val="FFFF00"/>
                </a:highlight>
              </a:rPr>
              <a:t>위 규정의 적용 여부를 판단할 때에는 업으로서 특허발명을 실시할 권리를 독점하는 특허권자 등의 정당한 이익도 함께 고려</a:t>
            </a:r>
            <a:r>
              <a:rPr lang="ko-KR" altLang="en-US" sz="950" dirty="0"/>
              <a:t>할 필요가 있다</a:t>
            </a:r>
            <a:r>
              <a:rPr lang="en-US" altLang="ko-KR" sz="950" dirty="0"/>
              <a:t>. </a:t>
            </a:r>
            <a:r>
              <a:rPr lang="ko-KR" altLang="en-US" sz="950" dirty="0"/>
              <a:t>이와 같은 규정의 문언과 취지 등을 종합하면</a:t>
            </a:r>
            <a:r>
              <a:rPr lang="en-US" altLang="ko-KR" sz="950" dirty="0"/>
              <a:t>, </a:t>
            </a:r>
            <a:r>
              <a:rPr lang="ko-KR" altLang="en-US" sz="950" dirty="0"/>
              <a:t>특허권자 등의 독점적 </a:t>
            </a:r>
            <a:r>
              <a:rPr lang="en-US" altLang="ko-KR" sz="950" dirty="0"/>
              <a:t>· </a:t>
            </a:r>
            <a:r>
              <a:rPr lang="ko-KR" altLang="en-US" sz="950" dirty="0"/>
              <a:t>배타적 이익을 불합리하게 훼손하지 않으면서 특허발명을 연구 또는 시험하기 위해 그 특허발명을 실시하는 행위에는 특허법 제</a:t>
            </a:r>
            <a:r>
              <a:rPr lang="en-US" altLang="ko-KR" sz="950" dirty="0"/>
              <a:t>96</a:t>
            </a:r>
            <a:r>
              <a:rPr lang="ko-KR" altLang="en-US" sz="950" dirty="0"/>
              <a:t>조 제</a:t>
            </a:r>
            <a:r>
              <a:rPr lang="en-US" altLang="ko-KR" sz="950" dirty="0"/>
              <a:t>1</a:t>
            </a:r>
            <a:r>
              <a:rPr lang="ko-KR" altLang="en-US" sz="950" dirty="0"/>
              <a:t>항 제</a:t>
            </a:r>
            <a:r>
              <a:rPr lang="en-US" altLang="ko-KR" sz="950" dirty="0"/>
              <a:t>1</a:t>
            </a:r>
            <a:r>
              <a:rPr lang="ko-KR" altLang="en-US" sz="950" dirty="0"/>
              <a:t>호가 적용되어 특허권의 효력이 미치지 않는다</a:t>
            </a:r>
            <a:r>
              <a:rPr lang="en-US" altLang="ko-KR" sz="950" dirty="0"/>
              <a:t>.</a:t>
            </a:r>
          </a:p>
        </p:txBody>
      </p:sp>
      <p:sp>
        <p:nvSpPr>
          <p:cNvPr id="75" name="TextBox 74">
            <a:extLst>
              <a:ext uri="{FF2B5EF4-FFF2-40B4-BE49-F238E27FC236}">
                <a16:creationId xmlns:a16="http://schemas.microsoft.com/office/drawing/2014/main" id="{0EE320AD-3933-0254-B617-E6C91E18C498}"/>
              </a:ext>
            </a:extLst>
          </p:cNvPr>
          <p:cNvSpPr txBox="1"/>
          <p:nvPr/>
        </p:nvSpPr>
        <p:spPr>
          <a:xfrm>
            <a:off x="71595" y="5712850"/>
            <a:ext cx="12039049" cy="1115690"/>
          </a:xfrm>
          <a:prstGeom prst="rect">
            <a:avLst/>
          </a:prstGeom>
          <a:solidFill>
            <a:schemeClr val="accent4">
              <a:lumMod val="20000"/>
              <a:lumOff val="80000"/>
            </a:schemeClr>
          </a:solidFill>
          <a:ln>
            <a:solidFill>
              <a:schemeClr val="bg1">
                <a:lumMod val="50000"/>
              </a:schemeClr>
            </a:solidFill>
          </a:ln>
        </p:spPr>
        <p:txBody>
          <a:bodyPr wrap="square">
            <a:spAutoFit/>
          </a:bodyPr>
          <a:lstStyle/>
          <a:p>
            <a:r>
              <a:rPr lang="en-US" altLang="ko-KR" sz="950" dirty="0"/>
              <a:t>1) </a:t>
            </a:r>
            <a:r>
              <a:rPr lang="ko-KR" altLang="en-US" sz="950" dirty="0"/>
              <a:t>피고는 </a:t>
            </a:r>
            <a:r>
              <a:rPr lang="en-US" altLang="ko-KR" sz="950" dirty="0"/>
              <a:t>2018. 11. 7.</a:t>
            </a:r>
            <a:r>
              <a:rPr lang="ko-KR" altLang="en-US" sz="950" dirty="0"/>
              <a:t>부터 </a:t>
            </a:r>
            <a:r>
              <a:rPr lang="en-US" altLang="ko-KR" sz="950" dirty="0"/>
              <a:t>2020. 5. 27.</a:t>
            </a:r>
            <a:r>
              <a:rPr lang="ko-KR" altLang="en-US" sz="950" dirty="0"/>
              <a:t>까지 이 사건 제</a:t>
            </a:r>
            <a:r>
              <a:rPr lang="en-US" altLang="ko-KR" sz="950" dirty="0"/>
              <a:t>1</a:t>
            </a:r>
            <a:r>
              <a:rPr lang="ko-KR" altLang="en-US" sz="950" dirty="0"/>
              <a:t>항 발명의 보호범위에 속하는 제</a:t>
            </a:r>
            <a:r>
              <a:rPr lang="en-US" altLang="ko-KR" sz="950" dirty="0"/>
              <a:t>1</a:t>
            </a:r>
            <a:r>
              <a:rPr lang="ko-KR" altLang="en-US" sz="950" dirty="0"/>
              <a:t>차부터 제</a:t>
            </a:r>
            <a:r>
              <a:rPr lang="en-US" altLang="ko-KR" sz="950" dirty="0"/>
              <a:t>4</a:t>
            </a:r>
            <a:r>
              <a:rPr lang="ko-KR" altLang="en-US" sz="950" dirty="0"/>
              <a:t>차까지 네 차례 백신을 생산하여 러시아 제약회사인 丙에 무상으로 제공하였다</a:t>
            </a:r>
            <a:r>
              <a:rPr lang="en-US" altLang="ko-KR" sz="950" dirty="0"/>
              <a:t>.</a:t>
            </a:r>
          </a:p>
          <a:p>
            <a:r>
              <a:rPr lang="en-US" altLang="ko-KR" sz="950" dirty="0"/>
              <a:t>2) </a:t>
            </a:r>
            <a:r>
              <a:rPr lang="ko-KR" altLang="en-US" sz="950" dirty="0"/>
              <a:t>제</a:t>
            </a:r>
            <a:r>
              <a:rPr lang="en-US" altLang="ko-KR" sz="950" dirty="0"/>
              <a:t>1, 2, 4</a:t>
            </a:r>
            <a:r>
              <a:rPr lang="ko-KR" altLang="en-US" sz="950" dirty="0"/>
              <a:t>차 백신은 모두 완성 백신의 유효성과 안정성 등을 확인하는 </a:t>
            </a:r>
            <a:r>
              <a:rPr lang="ko-KR" altLang="en-US" sz="950" dirty="0">
                <a:solidFill>
                  <a:srgbClr val="FF0000"/>
                </a:solidFill>
              </a:rPr>
              <a:t>러시아에서의 </a:t>
            </a:r>
            <a:r>
              <a:rPr lang="ko-KR" altLang="en-US" sz="950" dirty="0" err="1">
                <a:solidFill>
                  <a:srgbClr val="FF0000"/>
                </a:solidFill>
              </a:rPr>
              <a:t>비임상시험</a:t>
            </a:r>
            <a:r>
              <a:rPr lang="ko-KR" altLang="en-US" sz="950" dirty="0">
                <a:solidFill>
                  <a:srgbClr val="FF0000"/>
                </a:solidFill>
              </a:rPr>
              <a:t> 또는 임상시험에 사용하기 위하여 생산</a:t>
            </a:r>
            <a:r>
              <a:rPr lang="ko-KR" altLang="en-US" sz="950" dirty="0"/>
              <a:t>되었고</a:t>
            </a:r>
            <a:r>
              <a:rPr lang="en-US" altLang="ko-KR" sz="950" dirty="0"/>
              <a:t>, </a:t>
            </a:r>
            <a:r>
              <a:rPr lang="ko-KR" altLang="en-US" sz="950" dirty="0"/>
              <a:t>제</a:t>
            </a:r>
            <a:r>
              <a:rPr lang="en-US" altLang="ko-KR" sz="950" dirty="0"/>
              <a:t>3</a:t>
            </a:r>
            <a:r>
              <a:rPr lang="ko-KR" altLang="en-US" sz="950" dirty="0"/>
              <a:t>차 백신은 </a:t>
            </a:r>
            <a:r>
              <a:rPr lang="ko-KR" altLang="en-US" sz="950" dirty="0">
                <a:solidFill>
                  <a:srgbClr val="FF0000"/>
                </a:solidFill>
              </a:rPr>
              <a:t>완성 백신 제조기술이 丙에게 제대로 이전되었는지를 확인하는 분석시험에 사용하기 위하여 생산</a:t>
            </a:r>
            <a:r>
              <a:rPr lang="ko-KR" altLang="en-US" sz="950" dirty="0"/>
              <a:t>되었다</a:t>
            </a:r>
            <a:r>
              <a:rPr lang="en-US" altLang="ko-KR" sz="950" dirty="0"/>
              <a:t>.</a:t>
            </a:r>
          </a:p>
          <a:p>
            <a:r>
              <a:rPr lang="en-US" altLang="ko-KR" sz="950" dirty="0"/>
              <a:t>3) </a:t>
            </a:r>
            <a:r>
              <a:rPr lang="ko-KR" altLang="en-US" sz="950" dirty="0"/>
              <a:t>피고는 丙에 제</a:t>
            </a:r>
            <a:r>
              <a:rPr lang="en-US" altLang="ko-KR" sz="950" dirty="0"/>
              <a:t>4</a:t>
            </a:r>
            <a:r>
              <a:rPr lang="ko-KR" altLang="en-US" sz="950" dirty="0"/>
              <a:t>차까지 </a:t>
            </a:r>
            <a:r>
              <a:rPr lang="ko-KR" altLang="en-US" sz="950" dirty="0">
                <a:solidFill>
                  <a:srgbClr val="FF0000"/>
                </a:solidFill>
              </a:rPr>
              <a:t>네 차례 백신을 제공하면서 그 백신의 용도가 연구 또는 시험을 위한 것이고 판매용이나 유통용이 아님을 표시</a:t>
            </a:r>
            <a:r>
              <a:rPr lang="ko-KR" altLang="en-US" sz="950" dirty="0"/>
              <a:t>하였다</a:t>
            </a:r>
            <a:r>
              <a:rPr lang="en-US" altLang="ko-KR" sz="950" dirty="0"/>
              <a:t>.</a:t>
            </a:r>
          </a:p>
          <a:p>
            <a:r>
              <a:rPr lang="en-US" altLang="ko-KR" sz="950" dirty="0"/>
              <a:t>4) </a:t>
            </a:r>
            <a:r>
              <a:rPr lang="ko-KR" altLang="en-US" sz="950" dirty="0"/>
              <a:t>제</a:t>
            </a:r>
            <a:r>
              <a:rPr lang="en-US" altLang="ko-KR" sz="950" dirty="0"/>
              <a:t>1</a:t>
            </a:r>
            <a:r>
              <a:rPr lang="ko-KR" altLang="en-US" sz="950" dirty="0"/>
              <a:t>차부터 제</a:t>
            </a:r>
            <a:r>
              <a:rPr lang="en-US" altLang="ko-KR" sz="950" dirty="0"/>
              <a:t>4</a:t>
            </a:r>
            <a:r>
              <a:rPr lang="ko-KR" altLang="en-US" sz="950" dirty="0"/>
              <a:t>차까지 백신이 판매용이나 유통용으로 </a:t>
            </a:r>
            <a:r>
              <a:rPr lang="ko-KR" altLang="en-US" sz="950" dirty="0" err="1"/>
              <a:t>제공되었다거나</a:t>
            </a:r>
            <a:r>
              <a:rPr lang="en-US" altLang="ko-KR" sz="950" dirty="0"/>
              <a:t>, </a:t>
            </a:r>
            <a:r>
              <a:rPr lang="ko-KR" altLang="en-US" sz="950" dirty="0"/>
              <a:t>피고가 위 제</a:t>
            </a:r>
            <a:r>
              <a:rPr lang="en-US" altLang="ko-KR" sz="950" dirty="0"/>
              <a:t>4</a:t>
            </a:r>
            <a:r>
              <a:rPr lang="ko-KR" altLang="en-US" sz="950" dirty="0"/>
              <a:t>차까지의 백신 이외에 다른 완성 백신을 생산하였다고 볼 만한 자료는 없다</a:t>
            </a:r>
            <a:r>
              <a:rPr lang="en-US" altLang="ko-KR" sz="950" dirty="0"/>
              <a:t>.</a:t>
            </a:r>
          </a:p>
          <a:p>
            <a:r>
              <a:rPr lang="en-US" altLang="ko-KR" sz="950" dirty="0"/>
              <a:t>5) </a:t>
            </a:r>
            <a:r>
              <a:rPr lang="ko-KR" altLang="en-US" sz="950" dirty="0"/>
              <a:t>이러한 사정을 앞서 본 법리에 비추어 살펴보면</a:t>
            </a:r>
            <a:r>
              <a:rPr lang="en-US" altLang="ko-KR" sz="950" dirty="0"/>
              <a:t>, </a:t>
            </a:r>
            <a:r>
              <a:rPr lang="ko-KR" altLang="en-US" sz="950" dirty="0"/>
              <a:t>피고가 위와 같이 네 차례 백신을 생산한 행위는 특허발명인 이 사건 제</a:t>
            </a:r>
            <a:r>
              <a:rPr lang="en-US" altLang="ko-KR" sz="950" dirty="0"/>
              <a:t>1</a:t>
            </a:r>
            <a:r>
              <a:rPr lang="ko-KR" altLang="en-US" sz="950" dirty="0"/>
              <a:t>항 발명을 연구 또는 시험하기 위하여 그 특허발명을 실시한 것에 해당하고</a:t>
            </a:r>
            <a:r>
              <a:rPr lang="en-US" altLang="ko-KR" sz="950" dirty="0"/>
              <a:t>, </a:t>
            </a:r>
            <a:r>
              <a:rPr lang="ko-KR" altLang="en-US" sz="950" dirty="0"/>
              <a:t>그로 인하여 특허권자 또는 </a:t>
            </a:r>
            <a:r>
              <a:rPr lang="ko-KR" altLang="en-US" sz="950" dirty="0" err="1"/>
              <a:t>전용실시권자인</a:t>
            </a:r>
            <a:r>
              <a:rPr lang="ko-KR" altLang="en-US" sz="950" dirty="0"/>
              <a:t> 원고들의 독점적 </a:t>
            </a:r>
            <a:r>
              <a:rPr lang="en-US" altLang="ko-KR" sz="950" dirty="0"/>
              <a:t>· </a:t>
            </a:r>
            <a:r>
              <a:rPr lang="ko-KR" altLang="en-US" sz="950" dirty="0"/>
              <a:t>배타적 이익을 불합리하게 훼손하였다고 보기는 어려우므로</a:t>
            </a:r>
            <a:r>
              <a:rPr lang="en-US" altLang="ko-KR" sz="950" dirty="0"/>
              <a:t>, </a:t>
            </a:r>
            <a:r>
              <a:rPr lang="ko-KR" altLang="en-US" sz="950" dirty="0"/>
              <a:t>피고의 위 행위에는 특허법 제</a:t>
            </a:r>
            <a:r>
              <a:rPr lang="en-US" altLang="ko-KR" sz="950" dirty="0"/>
              <a:t>96</a:t>
            </a:r>
            <a:r>
              <a:rPr lang="ko-KR" altLang="en-US" sz="950" dirty="0"/>
              <a:t>조 제</a:t>
            </a:r>
            <a:r>
              <a:rPr lang="en-US" altLang="ko-KR" sz="950" dirty="0"/>
              <a:t>1</a:t>
            </a:r>
            <a:r>
              <a:rPr lang="ko-KR" altLang="en-US" sz="950" dirty="0"/>
              <a:t>항 제</a:t>
            </a:r>
            <a:r>
              <a:rPr lang="en-US" altLang="ko-KR" sz="950" dirty="0"/>
              <a:t>1</a:t>
            </a:r>
            <a:r>
              <a:rPr lang="ko-KR" altLang="en-US" sz="950" dirty="0"/>
              <a:t>호가 적용되어 특허권의 효력이 미치지 않는다</a:t>
            </a:r>
            <a:r>
              <a:rPr lang="en-US" altLang="ko-KR" sz="950" dirty="0"/>
              <a:t>.</a:t>
            </a:r>
            <a:endParaRPr lang="ko-KR" altLang="en-US" sz="950" dirty="0"/>
          </a:p>
        </p:txBody>
      </p:sp>
      <p:sp>
        <p:nvSpPr>
          <p:cNvPr id="3" name="사각형: 둥근 모서리 2">
            <a:extLst>
              <a:ext uri="{FF2B5EF4-FFF2-40B4-BE49-F238E27FC236}">
                <a16:creationId xmlns:a16="http://schemas.microsoft.com/office/drawing/2014/main" id="{F1B229A2-CE0D-F467-AC28-220BE3125BDA}"/>
              </a:ext>
            </a:extLst>
          </p:cNvPr>
          <p:cNvSpPr/>
          <p:nvPr/>
        </p:nvSpPr>
        <p:spPr>
          <a:xfrm>
            <a:off x="86621" y="949592"/>
            <a:ext cx="162678" cy="162678"/>
          </a:xfrm>
          <a:prstGeom prst="roundRect">
            <a:avLst/>
          </a:prstGeom>
          <a:solidFill>
            <a:schemeClr val="accent5">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1</a:t>
            </a:r>
            <a:endParaRPr lang="ko-KR" altLang="en-US" sz="1200" dirty="0"/>
          </a:p>
        </p:txBody>
      </p:sp>
      <p:sp>
        <p:nvSpPr>
          <p:cNvPr id="6" name="사각형: 둥근 모서리 5">
            <a:extLst>
              <a:ext uri="{FF2B5EF4-FFF2-40B4-BE49-F238E27FC236}">
                <a16:creationId xmlns:a16="http://schemas.microsoft.com/office/drawing/2014/main" id="{6601F1C1-E88E-5515-EEAF-F9AAF22A0AC4}"/>
              </a:ext>
            </a:extLst>
          </p:cNvPr>
          <p:cNvSpPr/>
          <p:nvPr/>
        </p:nvSpPr>
        <p:spPr>
          <a:xfrm>
            <a:off x="86621" y="2540961"/>
            <a:ext cx="162678" cy="162678"/>
          </a:xfrm>
          <a:prstGeom prst="roundRect">
            <a:avLst/>
          </a:prstGeom>
          <a:solidFill>
            <a:schemeClr val="accent5">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2</a:t>
            </a:r>
            <a:endParaRPr lang="ko-KR" altLang="en-US" sz="1200" dirty="0"/>
          </a:p>
        </p:txBody>
      </p:sp>
      <p:sp>
        <p:nvSpPr>
          <p:cNvPr id="11" name="사각형: 둥근 모서리 10">
            <a:extLst>
              <a:ext uri="{FF2B5EF4-FFF2-40B4-BE49-F238E27FC236}">
                <a16:creationId xmlns:a16="http://schemas.microsoft.com/office/drawing/2014/main" id="{826A2C0C-167C-F2A6-230B-4EDBE575F5F3}"/>
              </a:ext>
            </a:extLst>
          </p:cNvPr>
          <p:cNvSpPr/>
          <p:nvPr/>
        </p:nvSpPr>
        <p:spPr>
          <a:xfrm>
            <a:off x="86621" y="3135364"/>
            <a:ext cx="162678" cy="162678"/>
          </a:xfrm>
          <a:prstGeom prst="roundRect">
            <a:avLst/>
          </a:prstGeom>
          <a:solidFill>
            <a:schemeClr val="accent5">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3</a:t>
            </a:r>
            <a:endParaRPr lang="ko-KR" altLang="en-US" sz="1200" dirty="0"/>
          </a:p>
        </p:txBody>
      </p:sp>
      <p:sp>
        <p:nvSpPr>
          <p:cNvPr id="12" name="사각형: 둥근 모서리 11">
            <a:extLst>
              <a:ext uri="{FF2B5EF4-FFF2-40B4-BE49-F238E27FC236}">
                <a16:creationId xmlns:a16="http://schemas.microsoft.com/office/drawing/2014/main" id="{295904FF-8A5D-2D98-78C3-722081AB90BB}"/>
              </a:ext>
            </a:extLst>
          </p:cNvPr>
          <p:cNvSpPr/>
          <p:nvPr/>
        </p:nvSpPr>
        <p:spPr>
          <a:xfrm>
            <a:off x="86621" y="4771014"/>
            <a:ext cx="162678" cy="162678"/>
          </a:xfrm>
          <a:prstGeom prst="roundRect">
            <a:avLst/>
          </a:prstGeom>
          <a:solidFill>
            <a:schemeClr val="accent5">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ko-KR" sz="1200" dirty="0"/>
              <a:t>4</a:t>
            </a:r>
            <a:endParaRPr lang="ko-KR" altLang="en-US" sz="1200" dirty="0"/>
          </a:p>
        </p:txBody>
      </p:sp>
    </p:spTree>
    <p:extLst>
      <p:ext uri="{BB962C8B-B14F-4D97-AF65-F5344CB8AC3E}">
        <p14:creationId xmlns:p14="http://schemas.microsoft.com/office/powerpoint/2010/main" val="3395279278"/>
      </p:ext>
    </p:extLst>
  </p:cSld>
  <p:clrMapOvr>
    <a:masterClrMapping/>
  </p:clrMapOvr>
  <p:transition/>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94</a:t>
            </a:r>
            <a:r>
              <a:rPr lang="ko-KR" altLang="en-US" dirty="0"/>
              <a:t>조</a:t>
            </a:r>
            <a:r>
              <a:rPr lang="en-US" altLang="ko-KR" dirty="0"/>
              <a:t>, </a:t>
            </a:r>
            <a:r>
              <a:rPr lang="ko-KR" altLang="en-US" dirty="0"/>
              <a:t>제</a:t>
            </a:r>
            <a:r>
              <a:rPr lang="en-US" altLang="ko-KR" dirty="0"/>
              <a:t>127</a:t>
            </a:r>
            <a:r>
              <a:rPr lang="ko-KR" altLang="en-US" dirty="0"/>
              <a:t>조</a:t>
            </a:r>
          </a:p>
        </p:txBody>
      </p:sp>
      <p:sp>
        <p:nvSpPr>
          <p:cNvPr id="4" name="텍스트 개체 틀 3"/>
          <p:cNvSpPr>
            <a:spLocks noGrp="1"/>
          </p:cNvSpPr>
          <p:nvPr>
            <p:ph type="body" sz="quarter" idx="13"/>
          </p:nvPr>
        </p:nvSpPr>
        <p:spPr/>
        <p:txBody>
          <a:bodyPr/>
          <a:lstStyle/>
          <a:p>
            <a:r>
              <a:rPr lang="ko-KR" altLang="en-US" dirty="0"/>
              <a:t>생산 </a:t>
            </a:r>
            <a:r>
              <a:rPr lang="en-US" altLang="ko-KR" dirty="0"/>
              <a:t>vs </a:t>
            </a:r>
            <a:r>
              <a:rPr lang="ko-KR" altLang="en-US" dirty="0"/>
              <a:t>권리소진</a:t>
            </a:r>
            <a:r>
              <a:rPr lang="en-US" altLang="ko-KR" dirty="0"/>
              <a:t>, </a:t>
            </a:r>
            <a:r>
              <a:rPr lang="ko-KR" altLang="en-US" dirty="0"/>
              <a:t>간접침해</a:t>
            </a:r>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397</a:t>
            </a:r>
            <a:endParaRPr lang="ko-KR" altLang="en-US"/>
          </a:p>
        </p:txBody>
      </p:sp>
      <p:sp>
        <p:nvSpPr>
          <p:cNvPr id="6" name="TextBox 5">
            <a:extLst>
              <a:ext uri="{FF2B5EF4-FFF2-40B4-BE49-F238E27FC236}">
                <a16:creationId xmlns:a16="http://schemas.microsoft.com/office/drawing/2014/main" id="{C7A31AF3-E1F6-AB2F-A81A-9B568657BEDE}"/>
              </a:ext>
            </a:extLst>
          </p:cNvPr>
          <p:cNvSpPr txBox="1"/>
          <p:nvPr/>
        </p:nvSpPr>
        <p:spPr>
          <a:xfrm>
            <a:off x="1512513" y="1586474"/>
            <a:ext cx="1009290" cy="369332"/>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algn="ctr"/>
            <a:r>
              <a:rPr lang="ko-KR" altLang="en-US" dirty="0">
                <a:solidFill>
                  <a:schemeClr val="bg1">
                    <a:lumMod val="50000"/>
                  </a:schemeClr>
                </a:solidFill>
              </a:rPr>
              <a:t>의의</a:t>
            </a:r>
          </a:p>
        </p:txBody>
      </p:sp>
      <p:sp>
        <p:nvSpPr>
          <p:cNvPr id="7" name="TextBox 6">
            <a:extLst>
              <a:ext uri="{FF2B5EF4-FFF2-40B4-BE49-F238E27FC236}">
                <a16:creationId xmlns:a16="http://schemas.microsoft.com/office/drawing/2014/main" id="{9664083C-DDA5-D79D-DA58-225B5BEE48E5}"/>
              </a:ext>
            </a:extLst>
          </p:cNvPr>
          <p:cNvSpPr txBox="1"/>
          <p:nvPr/>
        </p:nvSpPr>
        <p:spPr>
          <a:xfrm>
            <a:off x="1512513" y="2751125"/>
            <a:ext cx="1009290" cy="923330"/>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algn="ctr"/>
            <a:r>
              <a:rPr lang="ko-KR" altLang="en-US" dirty="0">
                <a:solidFill>
                  <a:schemeClr val="bg1">
                    <a:lumMod val="50000"/>
                  </a:schemeClr>
                </a:solidFill>
              </a:rPr>
              <a:t>부품의 교체와 생산</a:t>
            </a:r>
          </a:p>
        </p:txBody>
      </p:sp>
      <p:sp>
        <p:nvSpPr>
          <p:cNvPr id="8" name="TextBox 7">
            <a:extLst>
              <a:ext uri="{FF2B5EF4-FFF2-40B4-BE49-F238E27FC236}">
                <a16:creationId xmlns:a16="http://schemas.microsoft.com/office/drawing/2014/main" id="{BCB08C6E-A3F7-0C28-57CE-C0EAFF91FF1C}"/>
              </a:ext>
            </a:extLst>
          </p:cNvPr>
          <p:cNvSpPr txBox="1"/>
          <p:nvPr/>
        </p:nvSpPr>
        <p:spPr>
          <a:xfrm>
            <a:off x="1512513" y="4551919"/>
            <a:ext cx="1009290" cy="646331"/>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algn="ctr"/>
            <a:r>
              <a:rPr lang="ko-KR" altLang="en-US" dirty="0">
                <a:solidFill>
                  <a:schemeClr val="bg1">
                    <a:lumMod val="50000"/>
                  </a:schemeClr>
                </a:solidFill>
              </a:rPr>
              <a:t>속지주의와 생산</a:t>
            </a:r>
          </a:p>
        </p:txBody>
      </p:sp>
      <p:sp>
        <p:nvSpPr>
          <p:cNvPr id="10" name="TextBox 9">
            <a:extLst>
              <a:ext uri="{FF2B5EF4-FFF2-40B4-BE49-F238E27FC236}">
                <a16:creationId xmlns:a16="http://schemas.microsoft.com/office/drawing/2014/main" id="{87192B07-24E1-27A4-0CCF-7E78432202CC}"/>
              </a:ext>
            </a:extLst>
          </p:cNvPr>
          <p:cNvSpPr txBox="1"/>
          <p:nvPr/>
        </p:nvSpPr>
        <p:spPr>
          <a:xfrm>
            <a:off x="3039628" y="2190038"/>
            <a:ext cx="1466490" cy="276999"/>
          </a:xfrm>
          <a:prstGeom prst="rect">
            <a:avLst/>
          </a:prstGeom>
          <a:noFill/>
          <a:ln>
            <a:solidFill>
              <a:schemeClr val="bg1">
                <a:lumMod val="50000"/>
              </a:schemeClr>
            </a:solidFill>
          </a:ln>
        </p:spPr>
        <p:txBody>
          <a:bodyPr wrap="square" rtlCol="0">
            <a:spAutoFit/>
          </a:bodyPr>
          <a:lstStyle/>
          <a:p>
            <a:pPr algn="ctr"/>
            <a:r>
              <a:rPr lang="ko-KR" altLang="en-US" sz="1200" dirty="0">
                <a:solidFill>
                  <a:schemeClr val="bg1">
                    <a:lumMod val="50000"/>
                  </a:schemeClr>
                </a:solidFill>
              </a:rPr>
              <a:t>판단</a:t>
            </a:r>
          </a:p>
        </p:txBody>
      </p:sp>
      <p:sp>
        <p:nvSpPr>
          <p:cNvPr id="11" name="TextBox 10">
            <a:extLst>
              <a:ext uri="{FF2B5EF4-FFF2-40B4-BE49-F238E27FC236}">
                <a16:creationId xmlns:a16="http://schemas.microsoft.com/office/drawing/2014/main" id="{134BD3D2-CD26-DE9A-3D2D-91CA88F4E2DF}"/>
              </a:ext>
            </a:extLst>
          </p:cNvPr>
          <p:cNvSpPr txBox="1"/>
          <p:nvPr/>
        </p:nvSpPr>
        <p:spPr>
          <a:xfrm>
            <a:off x="4824040" y="2912701"/>
            <a:ext cx="1466490" cy="276999"/>
          </a:xfrm>
          <a:prstGeom prst="rect">
            <a:avLst/>
          </a:prstGeom>
          <a:noFill/>
          <a:ln>
            <a:solidFill>
              <a:schemeClr val="bg1">
                <a:lumMod val="50000"/>
              </a:schemeClr>
            </a:solidFill>
          </a:ln>
        </p:spPr>
        <p:txBody>
          <a:bodyPr wrap="square" rtlCol="0">
            <a:spAutoFit/>
          </a:bodyPr>
          <a:lstStyle/>
          <a:p>
            <a:pPr algn="ctr"/>
            <a:r>
              <a:rPr lang="ko-KR" altLang="en-US" sz="1200" dirty="0">
                <a:solidFill>
                  <a:schemeClr val="bg1">
                    <a:lumMod val="50000"/>
                  </a:schemeClr>
                </a:solidFill>
              </a:rPr>
              <a:t>권리소진</a:t>
            </a:r>
          </a:p>
        </p:txBody>
      </p:sp>
      <p:sp>
        <p:nvSpPr>
          <p:cNvPr id="12" name="TextBox 11">
            <a:extLst>
              <a:ext uri="{FF2B5EF4-FFF2-40B4-BE49-F238E27FC236}">
                <a16:creationId xmlns:a16="http://schemas.microsoft.com/office/drawing/2014/main" id="{F3FC796A-3A45-36BF-B957-38318807FF6E}"/>
              </a:ext>
            </a:extLst>
          </p:cNvPr>
          <p:cNvSpPr txBox="1"/>
          <p:nvPr/>
        </p:nvSpPr>
        <p:spPr>
          <a:xfrm>
            <a:off x="3039628" y="3257167"/>
            <a:ext cx="1466490" cy="276999"/>
          </a:xfrm>
          <a:prstGeom prst="rect">
            <a:avLst/>
          </a:prstGeom>
          <a:noFill/>
          <a:ln>
            <a:solidFill>
              <a:schemeClr val="bg1">
                <a:lumMod val="50000"/>
              </a:schemeClr>
            </a:solidFill>
          </a:ln>
        </p:spPr>
        <p:txBody>
          <a:bodyPr wrap="square" rtlCol="0">
            <a:spAutoFit/>
          </a:bodyPr>
          <a:lstStyle/>
          <a:p>
            <a:pPr algn="ctr"/>
            <a:r>
              <a:rPr lang="ko-KR" altLang="en-US" sz="1200" dirty="0">
                <a:solidFill>
                  <a:schemeClr val="bg1">
                    <a:lumMod val="50000"/>
                  </a:schemeClr>
                </a:solidFill>
              </a:rPr>
              <a:t>문제되는 형태</a:t>
            </a:r>
          </a:p>
        </p:txBody>
      </p:sp>
      <p:cxnSp>
        <p:nvCxnSpPr>
          <p:cNvPr id="31" name="연결선: 꺾임 30">
            <a:extLst>
              <a:ext uri="{FF2B5EF4-FFF2-40B4-BE49-F238E27FC236}">
                <a16:creationId xmlns:a16="http://schemas.microsoft.com/office/drawing/2014/main" id="{C7ED0349-0CC9-4F2D-1874-7F6DED763FBD}"/>
              </a:ext>
            </a:extLst>
          </p:cNvPr>
          <p:cNvCxnSpPr>
            <a:stCxn id="7" idx="3"/>
            <a:endCxn id="10" idx="1"/>
          </p:cNvCxnSpPr>
          <p:nvPr/>
        </p:nvCxnSpPr>
        <p:spPr>
          <a:xfrm flipV="1">
            <a:off x="2521803" y="2328538"/>
            <a:ext cx="517825" cy="88425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연결선: 꺾임 32">
            <a:extLst>
              <a:ext uri="{FF2B5EF4-FFF2-40B4-BE49-F238E27FC236}">
                <a16:creationId xmlns:a16="http://schemas.microsoft.com/office/drawing/2014/main" id="{755173B3-E819-40A9-285A-5A3DC2DF422A}"/>
              </a:ext>
            </a:extLst>
          </p:cNvPr>
          <p:cNvCxnSpPr>
            <a:cxnSpLocks/>
            <a:stCxn id="7" idx="3"/>
            <a:endCxn id="12" idx="1"/>
          </p:cNvCxnSpPr>
          <p:nvPr/>
        </p:nvCxnSpPr>
        <p:spPr>
          <a:xfrm>
            <a:off x="2521803" y="3212790"/>
            <a:ext cx="517825" cy="18287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연결선: 꺾임 41">
            <a:extLst>
              <a:ext uri="{FF2B5EF4-FFF2-40B4-BE49-F238E27FC236}">
                <a16:creationId xmlns:a16="http://schemas.microsoft.com/office/drawing/2014/main" id="{2CF4A9E0-2EC6-1EC5-60BB-F6EF4175392B}"/>
              </a:ext>
            </a:extLst>
          </p:cNvPr>
          <p:cNvCxnSpPr>
            <a:cxnSpLocks/>
            <a:stCxn id="8" idx="3"/>
            <a:endCxn id="124" idx="1"/>
          </p:cNvCxnSpPr>
          <p:nvPr/>
        </p:nvCxnSpPr>
        <p:spPr>
          <a:xfrm>
            <a:off x="2521803" y="4875085"/>
            <a:ext cx="517825" cy="107"/>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551C6701-8A33-1D84-CDE8-0DB22D72A76B}"/>
              </a:ext>
            </a:extLst>
          </p:cNvPr>
          <p:cNvSpPr txBox="1"/>
          <p:nvPr/>
        </p:nvSpPr>
        <p:spPr>
          <a:xfrm>
            <a:off x="244311" y="2991186"/>
            <a:ext cx="750377" cy="369332"/>
          </a:xfrm>
          <a:prstGeom prst="rect">
            <a:avLst/>
          </a:prstGeom>
          <a:solidFill>
            <a:schemeClr val="accent1">
              <a:lumMod val="50000"/>
            </a:schemeClr>
          </a:solidFill>
          <a:ln>
            <a:solidFill>
              <a:schemeClr val="bg1">
                <a:lumMod val="50000"/>
              </a:schemeClr>
            </a:solidFill>
          </a:ln>
        </p:spPr>
        <p:txBody>
          <a:bodyPr wrap="square" rtlCol="0">
            <a:spAutoFit/>
          </a:bodyPr>
          <a:lstStyle/>
          <a:p>
            <a:pPr algn="ctr"/>
            <a:r>
              <a:rPr lang="ko-KR" altLang="en-US" dirty="0">
                <a:solidFill>
                  <a:schemeClr val="accent4">
                    <a:lumMod val="20000"/>
                    <a:lumOff val="80000"/>
                  </a:schemeClr>
                </a:solidFill>
              </a:rPr>
              <a:t>생산</a:t>
            </a:r>
          </a:p>
        </p:txBody>
      </p:sp>
      <p:cxnSp>
        <p:nvCxnSpPr>
          <p:cNvPr id="63" name="연결선: 꺾임 62">
            <a:extLst>
              <a:ext uri="{FF2B5EF4-FFF2-40B4-BE49-F238E27FC236}">
                <a16:creationId xmlns:a16="http://schemas.microsoft.com/office/drawing/2014/main" id="{8599E787-C07D-AE0E-99C3-2AEDD910E484}"/>
              </a:ext>
            </a:extLst>
          </p:cNvPr>
          <p:cNvCxnSpPr>
            <a:stCxn id="61" idx="3"/>
            <a:endCxn id="6" idx="1"/>
          </p:cNvCxnSpPr>
          <p:nvPr/>
        </p:nvCxnSpPr>
        <p:spPr>
          <a:xfrm flipV="1">
            <a:off x="994688" y="1771140"/>
            <a:ext cx="517825" cy="140471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연결선: 꺾임 66">
            <a:extLst>
              <a:ext uri="{FF2B5EF4-FFF2-40B4-BE49-F238E27FC236}">
                <a16:creationId xmlns:a16="http://schemas.microsoft.com/office/drawing/2014/main" id="{91EE88C8-757E-EE6F-53C8-BAC898E4DFFB}"/>
              </a:ext>
            </a:extLst>
          </p:cNvPr>
          <p:cNvCxnSpPr>
            <a:cxnSpLocks/>
            <a:stCxn id="61" idx="3"/>
            <a:endCxn id="7" idx="1"/>
          </p:cNvCxnSpPr>
          <p:nvPr/>
        </p:nvCxnSpPr>
        <p:spPr>
          <a:xfrm>
            <a:off x="994688" y="3175852"/>
            <a:ext cx="517825" cy="3693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연결선: 꺾임 67">
            <a:extLst>
              <a:ext uri="{FF2B5EF4-FFF2-40B4-BE49-F238E27FC236}">
                <a16:creationId xmlns:a16="http://schemas.microsoft.com/office/drawing/2014/main" id="{8723F15C-2434-40E0-76C4-0FB61DAF8036}"/>
              </a:ext>
            </a:extLst>
          </p:cNvPr>
          <p:cNvCxnSpPr>
            <a:cxnSpLocks/>
            <a:stCxn id="61" idx="3"/>
            <a:endCxn id="8" idx="1"/>
          </p:cNvCxnSpPr>
          <p:nvPr/>
        </p:nvCxnSpPr>
        <p:spPr>
          <a:xfrm>
            <a:off x="994688" y="3175852"/>
            <a:ext cx="517825" cy="169923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6F31ACE1-3B2B-9992-48E5-E94848477A17}"/>
              </a:ext>
            </a:extLst>
          </p:cNvPr>
          <p:cNvSpPr txBox="1"/>
          <p:nvPr/>
        </p:nvSpPr>
        <p:spPr>
          <a:xfrm>
            <a:off x="4824040" y="1790662"/>
            <a:ext cx="1466490" cy="276999"/>
          </a:xfrm>
          <a:prstGeom prst="rect">
            <a:avLst/>
          </a:prstGeom>
          <a:noFill/>
          <a:ln>
            <a:solidFill>
              <a:schemeClr val="bg1">
                <a:lumMod val="50000"/>
              </a:schemeClr>
            </a:solidFill>
          </a:ln>
        </p:spPr>
        <p:txBody>
          <a:bodyPr wrap="square" rtlCol="0">
            <a:spAutoFit/>
          </a:bodyPr>
          <a:lstStyle/>
          <a:p>
            <a:pPr algn="ctr"/>
            <a:r>
              <a:rPr lang="ko-KR" altLang="en-US" sz="1200" dirty="0">
                <a:solidFill>
                  <a:schemeClr val="bg1">
                    <a:lumMod val="50000"/>
                  </a:schemeClr>
                </a:solidFill>
              </a:rPr>
              <a:t>기존</a:t>
            </a:r>
          </a:p>
        </p:txBody>
      </p:sp>
      <p:sp>
        <p:nvSpPr>
          <p:cNvPr id="77" name="TextBox 76">
            <a:extLst>
              <a:ext uri="{FF2B5EF4-FFF2-40B4-BE49-F238E27FC236}">
                <a16:creationId xmlns:a16="http://schemas.microsoft.com/office/drawing/2014/main" id="{E9662109-D482-47BA-7736-187F0F92BBB7}"/>
              </a:ext>
            </a:extLst>
          </p:cNvPr>
          <p:cNvSpPr txBox="1"/>
          <p:nvPr/>
        </p:nvSpPr>
        <p:spPr>
          <a:xfrm>
            <a:off x="4824040" y="2429568"/>
            <a:ext cx="1466490" cy="276999"/>
          </a:xfrm>
          <a:prstGeom prst="rect">
            <a:avLst/>
          </a:prstGeom>
          <a:noFill/>
          <a:ln>
            <a:solidFill>
              <a:schemeClr val="bg1">
                <a:lumMod val="50000"/>
              </a:schemeClr>
            </a:solidFill>
          </a:ln>
        </p:spPr>
        <p:txBody>
          <a:bodyPr wrap="square" rtlCol="0">
            <a:spAutoFit/>
          </a:bodyPr>
          <a:lstStyle/>
          <a:p>
            <a:pPr algn="ctr"/>
            <a:r>
              <a:rPr lang="ko-KR" altLang="en-US" sz="1200" dirty="0">
                <a:solidFill>
                  <a:schemeClr val="bg1">
                    <a:lumMod val="50000"/>
                  </a:schemeClr>
                </a:solidFill>
              </a:rPr>
              <a:t>최근</a:t>
            </a:r>
          </a:p>
        </p:txBody>
      </p:sp>
      <p:cxnSp>
        <p:nvCxnSpPr>
          <p:cNvPr id="80" name="연결선: 꺾임 79">
            <a:extLst>
              <a:ext uri="{FF2B5EF4-FFF2-40B4-BE49-F238E27FC236}">
                <a16:creationId xmlns:a16="http://schemas.microsoft.com/office/drawing/2014/main" id="{8271EC96-8514-1F05-BC34-1CC18726A50E}"/>
              </a:ext>
            </a:extLst>
          </p:cNvPr>
          <p:cNvCxnSpPr>
            <a:cxnSpLocks/>
            <a:stCxn id="10" idx="3"/>
            <a:endCxn id="76" idx="1"/>
          </p:cNvCxnSpPr>
          <p:nvPr/>
        </p:nvCxnSpPr>
        <p:spPr>
          <a:xfrm flipV="1">
            <a:off x="4506118" y="1929162"/>
            <a:ext cx="317922" cy="399376"/>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연결선: 꺾임 82">
            <a:extLst>
              <a:ext uri="{FF2B5EF4-FFF2-40B4-BE49-F238E27FC236}">
                <a16:creationId xmlns:a16="http://schemas.microsoft.com/office/drawing/2014/main" id="{91D94C9B-274B-EB74-9151-93C9492AA9E5}"/>
              </a:ext>
            </a:extLst>
          </p:cNvPr>
          <p:cNvCxnSpPr>
            <a:cxnSpLocks/>
            <a:stCxn id="10" idx="3"/>
            <a:endCxn id="77" idx="1"/>
          </p:cNvCxnSpPr>
          <p:nvPr/>
        </p:nvCxnSpPr>
        <p:spPr>
          <a:xfrm>
            <a:off x="4506118" y="2328538"/>
            <a:ext cx="317922" cy="239530"/>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C43FE8D6-8538-C4DA-BA23-01D3FDEBB376}"/>
              </a:ext>
            </a:extLst>
          </p:cNvPr>
          <p:cNvSpPr txBox="1"/>
          <p:nvPr/>
        </p:nvSpPr>
        <p:spPr>
          <a:xfrm>
            <a:off x="6910292" y="1471930"/>
            <a:ext cx="1466490" cy="276999"/>
          </a:xfrm>
          <a:prstGeom prst="rect">
            <a:avLst/>
          </a:prstGeom>
          <a:noFill/>
          <a:ln>
            <a:solidFill>
              <a:schemeClr val="bg1">
                <a:lumMod val="50000"/>
              </a:schemeClr>
            </a:solidFill>
          </a:ln>
        </p:spPr>
        <p:txBody>
          <a:bodyPr wrap="square" rtlCol="0">
            <a:spAutoFit/>
          </a:bodyPr>
          <a:lstStyle/>
          <a:p>
            <a:pPr algn="ctr"/>
            <a:r>
              <a:rPr lang="ko-KR" altLang="en-US" sz="1200" dirty="0" err="1">
                <a:solidFill>
                  <a:schemeClr val="bg1">
                    <a:lumMod val="50000"/>
                  </a:schemeClr>
                </a:solidFill>
              </a:rPr>
              <a:t>비소모품</a:t>
            </a:r>
            <a:endParaRPr lang="ko-KR" altLang="en-US" sz="1200" dirty="0">
              <a:solidFill>
                <a:schemeClr val="bg1">
                  <a:lumMod val="50000"/>
                </a:schemeClr>
              </a:solidFill>
            </a:endParaRPr>
          </a:p>
        </p:txBody>
      </p:sp>
      <p:sp>
        <p:nvSpPr>
          <p:cNvPr id="88" name="TextBox 87">
            <a:extLst>
              <a:ext uri="{FF2B5EF4-FFF2-40B4-BE49-F238E27FC236}">
                <a16:creationId xmlns:a16="http://schemas.microsoft.com/office/drawing/2014/main" id="{75DBC3AF-B5B9-2F16-2D2A-A845F4868C1E}"/>
              </a:ext>
            </a:extLst>
          </p:cNvPr>
          <p:cNvSpPr txBox="1"/>
          <p:nvPr/>
        </p:nvSpPr>
        <p:spPr>
          <a:xfrm>
            <a:off x="6910292" y="2064799"/>
            <a:ext cx="1466490" cy="276999"/>
          </a:xfrm>
          <a:prstGeom prst="rect">
            <a:avLst/>
          </a:prstGeom>
          <a:noFill/>
          <a:ln>
            <a:solidFill>
              <a:schemeClr val="bg1">
                <a:lumMod val="50000"/>
              </a:schemeClr>
            </a:solidFill>
          </a:ln>
        </p:spPr>
        <p:txBody>
          <a:bodyPr wrap="square" rtlCol="0">
            <a:spAutoFit/>
          </a:bodyPr>
          <a:lstStyle/>
          <a:p>
            <a:pPr algn="ctr"/>
            <a:r>
              <a:rPr lang="ko-KR" altLang="en-US" sz="1200" dirty="0">
                <a:solidFill>
                  <a:schemeClr val="bg1">
                    <a:lumMod val="50000"/>
                  </a:schemeClr>
                </a:solidFill>
              </a:rPr>
              <a:t>소모품</a:t>
            </a:r>
          </a:p>
        </p:txBody>
      </p:sp>
      <p:sp>
        <p:nvSpPr>
          <p:cNvPr id="89" name="TextBox 88">
            <a:extLst>
              <a:ext uri="{FF2B5EF4-FFF2-40B4-BE49-F238E27FC236}">
                <a16:creationId xmlns:a16="http://schemas.microsoft.com/office/drawing/2014/main" id="{4C40DCFB-BD0A-9709-380C-E162805C47A6}"/>
              </a:ext>
            </a:extLst>
          </p:cNvPr>
          <p:cNvSpPr txBox="1"/>
          <p:nvPr/>
        </p:nvSpPr>
        <p:spPr>
          <a:xfrm>
            <a:off x="4824040" y="3646559"/>
            <a:ext cx="1466490" cy="276999"/>
          </a:xfrm>
          <a:prstGeom prst="rect">
            <a:avLst/>
          </a:prstGeom>
          <a:noFill/>
          <a:ln>
            <a:solidFill>
              <a:schemeClr val="bg1">
                <a:lumMod val="50000"/>
              </a:schemeClr>
            </a:solidFill>
          </a:ln>
        </p:spPr>
        <p:txBody>
          <a:bodyPr wrap="square" rtlCol="0">
            <a:spAutoFit/>
          </a:bodyPr>
          <a:lstStyle/>
          <a:p>
            <a:pPr algn="ctr"/>
            <a:r>
              <a:rPr lang="ko-KR" altLang="en-US" sz="1200" dirty="0">
                <a:solidFill>
                  <a:schemeClr val="bg1">
                    <a:lumMod val="50000"/>
                  </a:schemeClr>
                </a:solidFill>
              </a:rPr>
              <a:t>간접침해</a:t>
            </a:r>
          </a:p>
        </p:txBody>
      </p:sp>
      <p:cxnSp>
        <p:nvCxnSpPr>
          <p:cNvPr id="90" name="연결선: 꺾임 89">
            <a:extLst>
              <a:ext uri="{FF2B5EF4-FFF2-40B4-BE49-F238E27FC236}">
                <a16:creationId xmlns:a16="http://schemas.microsoft.com/office/drawing/2014/main" id="{95998256-070B-23C3-8F28-E70699748B38}"/>
              </a:ext>
            </a:extLst>
          </p:cNvPr>
          <p:cNvCxnSpPr>
            <a:cxnSpLocks/>
            <a:stCxn id="76" idx="3"/>
            <a:endCxn id="87" idx="1"/>
          </p:cNvCxnSpPr>
          <p:nvPr/>
        </p:nvCxnSpPr>
        <p:spPr>
          <a:xfrm flipV="1">
            <a:off x="6290530" y="1610430"/>
            <a:ext cx="619762" cy="318732"/>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연결선: 꺾임 92">
            <a:extLst>
              <a:ext uri="{FF2B5EF4-FFF2-40B4-BE49-F238E27FC236}">
                <a16:creationId xmlns:a16="http://schemas.microsoft.com/office/drawing/2014/main" id="{5330E19A-BBC9-5792-7C54-5A51F3D91CAF}"/>
              </a:ext>
            </a:extLst>
          </p:cNvPr>
          <p:cNvCxnSpPr>
            <a:cxnSpLocks/>
            <a:stCxn id="76" idx="3"/>
            <a:endCxn id="88" idx="1"/>
          </p:cNvCxnSpPr>
          <p:nvPr/>
        </p:nvCxnSpPr>
        <p:spPr>
          <a:xfrm>
            <a:off x="6290530" y="1929162"/>
            <a:ext cx="619762" cy="274137"/>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연결선: 꺾임 95">
            <a:extLst>
              <a:ext uri="{FF2B5EF4-FFF2-40B4-BE49-F238E27FC236}">
                <a16:creationId xmlns:a16="http://schemas.microsoft.com/office/drawing/2014/main" id="{59F846DC-941F-12A6-E666-890E7161AD73}"/>
              </a:ext>
            </a:extLst>
          </p:cNvPr>
          <p:cNvCxnSpPr>
            <a:cxnSpLocks/>
            <a:stCxn id="12" idx="3"/>
            <a:endCxn id="89" idx="1"/>
          </p:cNvCxnSpPr>
          <p:nvPr/>
        </p:nvCxnSpPr>
        <p:spPr>
          <a:xfrm>
            <a:off x="4506118" y="3395667"/>
            <a:ext cx="317922" cy="389392"/>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연결선: 꺾임 98">
            <a:extLst>
              <a:ext uri="{FF2B5EF4-FFF2-40B4-BE49-F238E27FC236}">
                <a16:creationId xmlns:a16="http://schemas.microsoft.com/office/drawing/2014/main" id="{27237AD2-A630-E940-45CD-BBE726765B38}"/>
              </a:ext>
            </a:extLst>
          </p:cNvPr>
          <p:cNvCxnSpPr>
            <a:cxnSpLocks/>
            <a:stCxn id="12" idx="3"/>
            <a:endCxn id="11" idx="1"/>
          </p:cNvCxnSpPr>
          <p:nvPr/>
        </p:nvCxnSpPr>
        <p:spPr>
          <a:xfrm flipV="1">
            <a:off x="4506118" y="3051201"/>
            <a:ext cx="317922" cy="344466"/>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29A6F03A-0198-C02E-555B-068BAA5AC4BC}"/>
              </a:ext>
            </a:extLst>
          </p:cNvPr>
          <p:cNvSpPr txBox="1"/>
          <p:nvPr/>
        </p:nvSpPr>
        <p:spPr>
          <a:xfrm>
            <a:off x="3039628" y="4736692"/>
            <a:ext cx="1466490" cy="276999"/>
          </a:xfrm>
          <a:prstGeom prst="rect">
            <a:avLst/>
          </a:prstGeom>
          <a:noFill/>
          <a:ln>
            <a:solidFill>
              <a:schemeClr val="bg1">
                <a:lumMod val="50000"/>
              </a:schemeClr>
            </a:solidFill>
          </a:ln>
        </p:spPr>
        <p:txBody>
          <a:bodyPr wrap="square" rtlCol="0">
            <a:spAutoFit/>
          </a:bodyPr>
          <a:lstStyle/>
          <a:p>
            <a:pPr algn="ctr"/>
            <a:r>
              <a:rPr lang="ko-KR" altLang="en-US" sz="1200" dirty="0">
                <a:solidFill>
                  <a:schemeClr val="bg1">
                    <a:lumMod val="50000"/>
                  </a:schemeClr>
                </a:solidFill>
              </a:rPr>
              <a:t>문제되는 형태</a:t>
            </a:r>
          </a:p>
        </p:txBody>
      </p:sp>
      <p:sp>
        <p:nvSpPr>
          <p:cNvPr id="133" name="TextBox 132">
            <a:extLst>
              <a:ext uri="{FF2B5EF4-FFF2-40B4-BE49-F238E27FC236}">
                <a16:creationId xmlns:a16="http://schemas.microsoft.com/office/drawing/2014/main" id="{EFD540E4-66A0-6652-8451-D988200DAEB4}"/>
              </a:ext>
            </a:extLst>
          </p:cNvPr>
          <p:cNvSpPr txBox="1"/>
          <p:nvPr/>
        </p:nvSpPr>
        <p:spPr>
          <a:xfrm>
            <a:off x="4824040" y="4316348"/>
            <a:ext cx="1466490" cy="461665"/>
          </a:xfrm>
          <a:prstGeom prst="rect">
            <a:avLst/>
          </a:prstGeom>
          <a:noFill/>
          <a:ln>
            <a:solidFill>
              <a:schemeClr val="bg1">
                <a:lumMod val="50000"/>
              </a:schemeClr>
            </a:solidFill>
          </a:ln>
        </p:spPr>
        <p:txBody>
          <a:bodyPr wrap="square" rtlCol="0">
            <a:spAutoFit/>
          </a:bodyPr>
          <a:lstStyle/>
          <a:p>
            <a:pPr algn="ctr"/>
            <a:r>
              <a:rPr lang="ko-KR" altLang="en-US" sz="1200" dirty="0">
                <a:solidFill>
                  <a:schemeClr val="bg1">
                    <a:lumMod val="50000"/>
                  </a:schemeClr>
                </a:solidFill>
              </a:rPr>
              <a:t>권리소진</a:t>
            </a:r>
            <a:endParaRPr lang="en-US" altLang="ko-KR" sz="1200" dirty="0">
              <a:solidFill>
                <a:schemeClr val="bg1">
                  <a:lumMod val="50000"/>
                </a:schemeClr>
              </a:solidFill>
            </a:endParaRPr>
          </a:p>
          <a:p>
            <a:pPr algn="ctr"/>
            <a:r>
              <a:rPr lang="en-US" altLang="ko-KR" sz="1200" dirty="0">
                <a:solidFill>
                  <a:schemeClr val="bg1">
                    <a:lumMod val="50000"/>
                  </a:schemeClr>
                </a:solidFill>
              </a:rPr>
              <a:t>(</a:t>
            </a:r>
            <a:r>
              <a:rPr lang="ko-KR" altLang="en-US" sz="1200" dirty="0" err="1">
                <a:solidFill>
                  <a:schemeClr val="bg1">
                    <a:lumMod val="50000"/>
                  </a:schemeClr>
                </a:solidFill>
              </a:rPr>
              <a:t>진정상품병행수입</a:t>
            </a:r>
            <a:r>
              <a:rPr lang="en-US" altLang="ko-KR" sz="1200" dirty="0">
                <a:solidFill>
                  <a:schemeClr val="bg1">
                    <a:lumMod val="50000"/>
                  </a:schemeClr>
                </a:solidFill>
              </a:rPr>
              <a:t>)</a:t>
            </a:r>
            <a:endParaRPr lang="ko-KR" altLang="en-US" sz="1200" dirty="0">
              <a:solidFill>
                <a:schemeClr val="bg1">
                  <a:lumMod val="50000"/>
                </a:schemeClr>
              </a:solidFill>
            </a:endParaRPr>
          </a:p>
        </p:txBody>
      </p:sp>
      <p:sp>
        <p:nvSpPr>
          <p:cNvPr id="134" name="TextBox 133">
            <a:extLst>
              <a:ext uri="{FF2B5EF4-FFF2-40B4-BE49-F238E27FC236}">
                <a16:creationId xmlns:a16="http://schemas.microsoft.com/office/drawing/2014/main" id="{60DE5E45-173B-A23F-CC85-FF62A9253D39}"/>
              </a:ext>
            </a:extLst>
          </p:cNvPr>
          <p:cNvSpPr txBox="1"/>
          <p:nvPr/>
        </p:nvSpPr>
        <p:spPr>
          <a:xfrm>
            <a:off x="6608452" y="4933020"/>
            <a:ext cx="1466490" cy="276999"/>
          </a:xfrm>
          <a:prstGeom prst="rect">
            <a:avLst/>
          </a:prstGeom>
          <a:noFill/>
          <a:ln>
            <a:solidFill>
              <a:schemeClr val="bg1">
                <a:lumMod val="50000"/>
              </a:schemeClr>
            </a:solidFill>
          </a:ln>
        </p:spPr>
        <p:txBody>
          <a:bodyPr wrap="square" rtlCol="0">
            <a:spAutoFit/>
          </a:bodyPr>
          <a:lstStyle/>
          <a:p>
            <a:pPr algn="ctr"/>
            <a:r>
              <a:rPr lang="ko-KR" altLang="en-US" sz="1200" dirty="0">
                <a:solidFill>
                  <a:schemeClr val="bg1">
                    <a:lumMod val="50000"/>
                  </a:schemeClr>
                </a:solidFill>
              </a:rPr>
              <a:t>속지주의 원칙</a:t>
            </a:r>
          </a:p>
        </p:txBody>
      </p:sp>
      <p:sp>
        <p:nvSpPr>
          <p:cNvPr id="135" name="TextBox 134">
            <a:extLst>
              <a:ext uri="{FF2B5EF4-FFF2-40B4-BE49-F238E27FC236}">
                <a16:creationId xmlns:a16="http://schemas.microsoft.com/office/drawing/2014/main" id="{DE456044-1B77-304C-8135-3A6A7F6B3836}"/>
              </a:ext>
            </a:extLst>
          </p:cNvPr>
          <p:cNvSpPr txBox="1"/>
          <p:nvPr/>
        </p:nvSpPr>
        <p:spPr>
          <a:xfrm>
            <a:off x="6608452" y="5385491"/>
            <a:ext cx="1466490" cy="276999"/>
          </a:xfrm>
          <a:prstGeom prst="rect">
            <a:avLst/>
          </a:prstGeom>
          <a:noFill/>
          <a:ln>
            <a:solidFill>
              <a:schemeClr val="bg1">
                <a:lumMod val="50000"/>
              </a:schemeClr>
            </a:solidFill>
          </a:ln>
        </p:spPr>
        <p:txBody>
          <a:bodyPr wrap="square" rtlCol="0">
            <a:spAutoFit/>
          </a:bodyPr>
          <a:lstStyle/>
          <a:p>
            <a:pPr algn="ctr"/>
            <a:r>
              <a:rPr lang="ko-KR" altLang="en-US" sz="1200" dirty="0">
                <a:solidFill>
                  <a:schemeClr val="bg1">
                    <a:lumMod val="50000"/>
                  </a:schemeClr>
                </a:solidFill>
              </a:rPr>
              <a:t>역외주의 보완</a:t>
            </a:r>
          </a:p>
        </p:txBody>
      </p:sp>
      <p:cxnSp>
        <p:nvCxnSpPr>
          <p:cNvPr id="137" name="연결선: 꺾임 136">
            <a:extLst>
              <a:ext uri="{FF2B5EF4-FFF2-40B4-BE49-F238E27FC236}">
                <a16:creationId xmlns:a16="http://schemas.microsoft.com/office/drawing/2014/main" id="{2BE91F0D-68D5-85FA-47A9-EAEB9F790E5B}"/>
              </a:ext>
            </a:extLst>
          </p:cNvPr>
          <p:cNvCxnSpPr>
            <a:cxnSpLocks/>
            <a:stCxn id="142" idx="3"/>
            <a:endCxn id="134" idx="1"/>
          </p:cNvCxnSpPr>
          <p:nvPr/>
        </p:nvCxnSpPr>
        <p:spPr>
          <a:xfrm flipV="1">
            <a:off x="6290530" y="5071520"/>
            <a:ext cx="317922" cy="209519"/>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1" name="연결선: 꺾임 140">
            <a:extLst>
              <a:ext uri="{FF2B5EF4-FFF2-40B4-BE49-F238E27FC236}">
                <a16:creationId xmlns:a16="http://schemas.microsoft.com/office/drawing/2014/main" id="{8F0671E6-E5E9-9277-B1B5-94C2AE2F5F1C}"/>
              </a:ext>
            </a:extLst>
          </p:cNvPr>
          <p:cNvCxnSpPr>
            <a:cxnSpLocks/>
            <a:stCxn id="142" idx="3"/>
            <a:endCxn id="135" idx="1"/>
          </p:cNvCxnSpPr>
          <p:nvPr/>
        </p:nvCxnSpPr>
        <p:spPr>
          <a:xfrm>
            <a:off x="6290530" y="5281039"/>
            <a:ext cx="317922" cy="242952"/>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2" name="TextBox 141">
            <a:extLst>
              <a:ext uri="{FF2B5EF4-FFF2-40B4-BE49-F238E27FC236}">
                <a16:creationId xmlns:a16="http://schemas.microsoft.com/office/drawing/2014/main" id="{51204CE7-0F4C-624B-4402-360D85746E77}"/>
              </a:ext>
            </a:extLst>
          </p:cNvPr>
          <p:cNvSpPr txBox="1"/>
          <p:nvPr/>
        </p:nvSpPr>
        <p:spPr>
          <a:xfrm>
            <a:off x="4824040" y="5050206"/>
            <a:ext cx="1466490" cy="461665"/>
          </a:xfrm>
          <a:prstGeom prst="rect">
            <a:avLst/>
          </a:prstGeom>
          <a:noFill/>
          <a:ln>
            <a:solidFill>
              <a:schemeClr val="bg1">
                <a:lumMod val="50000"/>
              </a:schemeClr>
            </a:solidFill>
          </a:ln>
        </p:spPr>
        <p:txBody>
          <a:bodyPr wrap="square" rtlCol="0">
            <a:spAutoFit/>
          </a:bodyPr>
          <a:lstStyle/>
          <a:p>
            <a:pPr algn="ctr"/>
            <a:r>
              <a:rPr lang="ko-KR" altLang="en-US" sz="1200" dirty="0">
                <a:solidFill>
                  <a:schemeClr val="bg1">
                    <a:lumMod val="50000"/>
                  </a:schemeClr>
                </a:solidFill>
              </a:rPr>
              <a:t>직접침해</a:t>
            </a:r>
            <a:r>
              <a:rPr lang="en-US" altLang="ko-KR" sz="1200" dirty="0">
                <a:solidFill>
                  <a:schemeClr val="bg1">
                    <a:lumMod val="50000"/>
                  </a:schemeClr>
                </a:solidFill>
              </a:rPr>
              <a:t>/</a:t>
            </a:r>
            <a:r>
              <a:rPr lang="ko-KR" altLang="en-US" sz="1200" dirty="0">
                <a:solidFill>
                  <a:schemeClr val="bg1">
                    <a:lumMod val="50000"/>
                  </a:schemeClr>
                </a:solidFill>
              </a:rPr>
              <a:t>간접침해</a:t>
            </a:r>
            <a:endParaRPr lang="en-US" altLang="ko-KR" sz="1200" dirty="0">
              <a:solidFill>
                <a:schemeClr val="bg1">
                  <a:lumMod val="50000"/>
                </a:schemeClr>
              </a:solidFill>
            </a:endParaRPr>
          </a:p>
          <a:p>
            <a:pPr algn="ctr"/>
            <a:r>
              <a:rPr lang="en-US" altLang="ko-KR" sz="1200" dirty="0">
                <a:solidFill>
                  <a:schemeClr val="bg1">
                    <a:lumMod val="50000"/>
                  </a:schemeClr>
                </a:solidFill>
              </a:rPr>
              <a:t>(</a:t>
            </a:r>
            <a:r>
              <a:rPr lang="ko-KR" altLang="en-US" sz="1200" dirty="0">
                <a:solidFill>
                  <a:schemeClr val="bg1">
                    <a:lumMod val="50000"/>
                  </a:schemeClr>
                </a:solidFill>
              </a:rPr>
              <a:t>반제품 사건</a:t>
            </a:r>
            <a:r>
              <a:rPr lang="en-US" altLang="ko-KR" sz="1200" dirty="0">
                <a:solidFill>
                  <a:schemeClr val="bg1">
                    <a:lumMod val="50000"/>
                  </a:schemeClr>
                </a:solidFill>
              </a:rPr>
              <a:t>)</a:t>
            </a:r>
            <a:endParaRPr lang="ko-KR" altLang="en-US" sz="1200" dirty="0">
              <a:solidFill>
                <a:schemeClr val="bg1">
                  <a:lumMod val="50000"/>
                </a:schemeClr>
              </a:solidFill>
            </a:endParaRPr>
          </a:p>
        </p:txBody>
      </p:sp>
      <p:cxnSp>
        <p:nvCxnSpPr>
          <p:cNvPr id="143" name="연결선: 꺾임 142">
            <a:extLst>
              <a:ext uri="{FF2B5EF4-FFF2-40B4-BE49-F238E27FC236}">
                <a16:creationId xmlns:a16="http://schemas.microsoft.com/office/drawing/2014/main" id="{4FD94E74-AF66-290A-0F31-BC6CFE3EBBE8}"/>
              </a:ext>
            </a:extLst>
          </p:cNvPr>
          <p:cNvCxnSpPr>
            <a:cxnSpLocks/>
            <a:stCxn id="124" idx="3"/>
            <a:endCxn id="142" idx="1"/>
          </p:cNvCxnSpPr>
          <p:nvPr/>
        </p:nvCxnSpPr>
        <p:spPr>
          <a:xfrm>
            <a:off x="4506118" y="4875192"/>
            <a:ext cx="317922" cy="405847"/>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연결선: 꺾임 143">
            <a:extLst>
              <a:ext uri="{FF2B5EF4-FFF2-40B4-BE49-F238E27FC236}">
                <a16:creationId xmlns:a16="http://schemas.microsoft.com/office/drawing/2014/main" id="{4068CD54-F9A6-DA2C-A8FE-4029040232FC}"/>
              </a:ext>
            </a:extLst>
          </p:cNvPr>
          <p:cNvCxnSpPr>
            <a:cxnSpLocks/>
            <a:stCxn id="124" idx="3"/>
            <a:endCxn id="133" idx="1"/>
          </p:cNvCxnSpPr>
          <p:nvPr/>
        </p:nvCxnSpPr>
        <p:spPr>
          <a:xfrm flipV="1">
            <a:off x="4506118" y="4547181"/>
            <a:ext cx="317922" cy="328011"/>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5DBABF93-0B05-3AB6-A333-C1D613FE5B50}"/>
              </a:ext>
            </a:extLst>
          </p:cNvPr>
          <p:cNvSpPr txBox="1"/>
          <p:nvPr/>
        </p:nvSpPr>
        <p:spPr>
          <a:xfrm>
            <a:off x="6299404" y="2838568"/>
            <a:ext cx="5768303" cy="461665"/>
          </a:xfrm>
          <a:prstGeom prst="rect">
            <a:avLst/>
          </a:prstGeom>
          <a:noFill/>
        </p:spPr>
        <p:txBody>
          <a:bodyPr wrap="square" rtlCol="0">
            <a:spAutoFit/>
          </a:bodyPr>
          <a:lstStyle/>
          <a:p>
            <a:r>
              <a:rPr lang="ko-KR" altLang="en-US" sz="1200" dirty="0"/>
              <a:t>특허발명인 받침대</a:t>
            </a:r>
            <a:r>
              <a:rPr lang="en-US" altLang="ko-KR" sz="1200" dirty="0"/>
              <a:t>, </a:t>
            </a:r>
            <a:r>
              <a:rPr lang="ko-KR" altLang="en-US" sz="1200" dirty="0"/>
              <a:t>다리</a:t>
            </a:r>
            <a:r>
              <a:rPr lang="en-US" altLang="ko-KR" sz="1200" dirty="0"/>
              <a:t>, </a:t>
            </a:r>
            <a:r>
              <a:rPr lang="ko-KR" altLang="en-US" sz="1200" dirty="0"/>
              <a:t>등받이로 구성된 의자를 특허권자로부터 구매하여 사용하던 도중 등받이를 교체하는 것이 특허권의 침해에 해당하는지 여부</a:t>
            </a:r>
            <a:endParaRPr lang="en-US" altLang="ko-KR" sz="1200" dirty="0"/>
          </a:p>
        </p:txBody>
      </p:sp>
      <p:sp>
        <p:nvSpPr>
          <p:cNvPr id="9" name="TextBox 8">
            <a:extLst>
              <a:ext uri="{FF2B5EF4-FFF2-40B4-BE49-F238E27FC236}">
                <a16:creationId xmlns:a16="http://schemas.microsoft.com/office/drawing/2014/main" id="{3D7F01D5-2E33-4077-CF37-9A00CDD46BFE}"/>
              </a:ext>
            </a:extLst>
          </p:cNvPr>
          <p:cNvSpPr txBox="1"/>
          <p:nvPr/>
        </p:nvSpPr>
        <p:spPr>
          <a:xfrm>
            <a:off x="6308282" y="3563017"/>
            <a:ext cx="5759425" cy="461665"/>
          </a:xfrm>
          <a:prstGeom prst="rect">
            <a:avLst/>
          </a:prstGeom>
          <a:noFill/>
        </p:spPr>
        <p:txBody>
          <a:bodyPr wrap="square" rtlCol="0">
            <a:spAutoFit/>
          </a:bodyPr>
          <a:lstStyle/>
          <a:p>
            <a:r>
              <a:rPr lang="ko-KR" altLang="en-US" sz="1200" dirty="0"/>
              <a:t>특허발명인 받침대</a:t>
            </a:r>
            <a:r>
              <a:rPr lang="en-US" altLang="ko-KR" sz="1200" dirty="0"/>
              <a:t>, </a:t>
            </a:r>
            <a:r>
              <a:rPr lang="ko-KR" altLang="en-US" sz="1200" dirty="0"/>
              <a:t>다리</a:t>
            </a:r>
            <a:r>
              <a:rPr lang="en-US" altLang="ko-KR" sz="1200" dirty="0"/>
              <a:t>, </a:t>
            </a:r>
            <a:r>
              <a:rPr lang="ko-KR" altLang="en-US" sz="1200" dirty="0"/>
              <a:t>등받이로 구성된 의자의 등받이를 교체하였는데</a:t>
            </a:r>
            <a:r>
              <a:rPr lang="en-US" altLang="ko-KR" sz="1200" dirty="0"/>
              <a:t>, </a:t>
            </a:r>
            <a:r>
              <a:rPr lang="ko-KR" altLang="en-US" sz="1200" dirty="0"/>
              <a:t>그 등받이를 생산하여 판매하는 행위가 간접침해에 해당하는지 여부</a:t>
            </a:r>
            <a:endParaRPr lang="en-US" altLang="ko-KR" sz="1200" dirty="0"/>
          </a:p>
        </p:txBody>
      </p:sp>
      <p:sp>
        <p:nvSpPr>
          <p:cNvPr id="13" name="TextBox 12">
            <a:extLst>
              <a:ext uri="{FF2B5EF4-FFF2-40B4-BE49-F238E27FC236}">
                <a16:creationId xmlns:a16="http://schemas.microsoft.com/office/drawing/2014/main" id="{24EABB12-127A-63D0-920F-4E3886BF48A6}"/>
              </a:ext>
            </a:extLst>
          </p:cNvPr>
          <p:cNvSpPr txBox="1"/>
          <p:nvPr/>
        </p:nvSpPr>
        <p:spPr>
          <a:xfrm>
            <a:off x="6308282" y="4336604"/>
            <a:ext cx="5759425" cy="461665"/>
          </a:xfrm>
          <a:prstGeom prst="rect">
            <a:avLst/>
          </a:prstGeom>
          <a:noFill/>
        </p:spPr>
        <p:txBody>
          <a:bodyPr wrap="square" rtlCol="0">
            <a:spAutoFit/>
          </a:bodyPr>
          <a:lstStyle/>
          <a:p>
            <a:r>
              <a:rPr lang="ko-KR" altLang="en-US" sz="1200" dirty="0"/>
              <a:t>국내의 특허발명인 의자를 외국에서 생산하여 국내에 수입하는 행위가 직접침해에  해당하는지 여부 </a:t>
            </a:r>
            <a:endParaRPr lang="en-US" altLang="ko-KR" sz="1200" dirty="0"/>
          </a:p>
        </p:txBody>
      </p:sp>
      <p:sp>
        <p:nvSpPr>
          <p:cNvPr id="14" name="TextBox 13">
            <a:extLst>
              <a:ext uri="{FF2B5EF4-FFF2-40B4-BE49-F238E27FC236}">
                <a16:creationId xmlns:a16="http://schemas.microsoft.com/office/drawing/2014/main" id="{DAC6EEDA-DBCF-3EB1-8FAD-0FC683A57A80}"/>
              </a:ext>
            </a:extLst>
          </p:cNvPr>
          <p:cNvSpPr txBox="1"/>
          <p:nvPr/>
        </p:nvSpPr>
        <p:spPr>
          <a:xfrm>
            <a:off x="4577393" y="5792321"/>
            <a:ext cx="7212152" cy="461665"/>
          </a:xfrm>
          <a:prstGeom prst="rect">
            <a:avLst/>
          </a:prstGeom>
          <a:noFill/>
        </p:spPr>
        <p:txBody>
          <a:bodyPr wrap="square" rtlCol="0">
            <a:spAutoFit/>
          </a:bodyPr>
          <a:lstStyle/>
          <a:p>
            <a:r>
              <a:rPr lang="ko-KR" altLang="en-US" sz="1200" dirty="0"/>
              <a:t>국내의 특허발명인 받침대</a:t>
            </a:r>
            <a:r>
              <a:rPr lang="en-US" altLang="ko-KR" sz="1200" dirty="0"/>
              <a:t>, </a:t>
            </a:r>
            <a:r>
              <a:rPr lang="ko-KR" altLang="en-US" sz="1200" dirty="0"/>
              <a:t>다리</a:t>
            </a:r>
            <a:r>
              <a:rPr lang="en-US" altLang="ko-KR" sz="1200" dirty="0"/>
              <a:t>, </a:t>
            </a:r>
            <a:r>
              <a:rPr lang="ko-KR" altLang="en-US" sz="1200" dirty="0"/>
              <a:t>등받이로 구성된 의자의 구성 대부분을 국내에서 생산하여 수출한 후</a:t>
            </a:r>
            <a:r>
              <a:rPr lang="en-US" altLang="ko-KR" sz="1200" dirty="0"/>
              <a:t>, </a:t>
            </a:r>
          </a:p>
          <a:p>
            <a:r>
              <a:rPr lang="ko-KR" altLang="en-US" sz="1200" dirty="0"/>
              <a:t>최종 가공</a:t>
            </a:r>
            <a:r>
              <a:rPr lang="en-US" altLang="ko-KR" sz="1200" dirty="0"/>
              <a:t>, </a:t>
            </a:r>
            <a:r>
              <a:rPr lang="ko-KR" altLang="en-US" sz="1200" dirty="0"/>
              <a:t>조립만이 외국에서 이루어진 경우 국내에서 생산하는 것이 직접침해</a:t>
            </a:r>
            <a:r>
              <a:rPr lang="en-US" altLang="ko-KR" sz="1200" dirty="0"/>
              <a:t>/</a:t>
            </a:r>
            <a:r>
              <a:rPr lang="ko-KR" altLang="en-US" sz="1200" dirty="0"/>
              <a:t>간접침해에 해당하는지 여부 </a:t>
            </a:r>
            <a:endParaRPr lang="en-US" altLang="ko-KR" sz="1200" dirty="0"/>
          </a:p>
        </p:txBody>
      </p:sp>
    </p:spTree>
    <p:extLst>
      <p:ext uri="{BB962C8B-B14F-4D97-AF65-F5344CB8AC3E}">
        <p14:creationId xmlns:p14="http://schemas.microsoft.com/office/powerpoint/2010/main" val="3369068754"/>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r>
              <a:rPr lang="en-US" altLang="ko-KR"/>
              <a:t>398</a:t>
            </a:r>
            <a:endParaRPr lang="ko-KR" altLang="en-US"/>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normAutofit/>
          </a:bodyPr>
          <a:lstStyle/>
          <a:p>
            <a:pPr lvl="0" fontAlgn="base" latinLnBrk="0"/>
            <a:r>
              <a:rPr lang="en-US" altLang="ko-KR" sz="2400" dirty="0"/>
              <a:t>A(1) vs A</a:t>
            </a:r>
            <a:r>
              <a:rPr lang="ko-KR" altLang="en-US" sz="2400" dirty="0"/>
              <a:t>의 제조장치</a:t>
            </a:r>
            <a:r>
              <a:rPr lang="en-US" altLang="ko-KR" sz="2400" dirty="0"/>
              <a:t>(</a:t>
            </a:r>
            <a:r>
              <a:rPr lang="ko-KR" altLang="en-US" sz="2400" dirty="0"/>
              <a:t>多</a:t>
            </a:r>
            <a:r>
              <a:rPr lang="en-US" altLang="ko-KR" sz="2400" dirty="0"/>
              <a:t>)</a:t>
            </a:r>
            <a:r>
              <a:rPr lang="ko-KR" altLang="en-US" sz="2400" dirty="0"/>
              <a:t> </a:t>
            </a:r>
            <a:r>
              <a:rPr lang="en-US" altLang="ko-KR" sz="2400" dirty="0"/>
              <a:t>vs</a:t>
            </a:r>
            <a:r>
              <a:rPr lang="ko-KR" altLang="en-US" sz="2400" dirty="0"/>
              <a:t> </a:t>
            </a:r>
            <a:r>
              <a:rPr lang="en-US" altLang="ko-KR" sz="2400" dirty="0"/>
              <a:t>A</a:t>
            </a:r>
            <a:r>
              <a:rPr lang="ko-KR" altLang="en-US" sz="2400" dirty="0"/>
              <a:t>의 제조방법</a:t>
            </a:r>
            <a:r>
              <a:rPr lang="en-US" altLang="ko-KR" sz="2400" dirty="0"/>
              <a:t>(</a:t>
            </a:r>
            <a:r>
              <a:rPr lang="ko-KR" altLang="en-US" sz="2400" dirty="0"/>
              <a:t>多</a:t>
            </a:r>
            <a:r>
              <a:rPr lang="en-US" altLang="ko-KR" sz="2400" dirty="0"/>
              <a:t>)</a:t>
            </a:r>
            <a:endParaRPr lang="ko-KR" altLang="en-US" sz="2400" dirty="0"/>
          </a:p>
        </p:txBody>
      </p:sp>
      <p:sp>
        <p:nvSpPr>
          <p:cNvPr id="5" name="Rectangle 2">
            <a:extLst>
              <a:ext uri="{FF2B5EF4-FFF2-40B4-BE49-F238E27FC236}">
                <a16:creationId xmlns:a16="http://schemas.microsoft.com/office/drawing/2014/main" id="{DE84B2DC-111D-477A-8506-7F61B68A3BF6}"/>
              </a:ext>
            </a:extLst>
          </p:cNvPr>
          <p:cNvSpPr>
            <a:spLocks noChangeArrowheads="1"/>
          </p:cNvSpPr>
          <p:nvPr/>
        </p:nvSpPr>
        <p:spPr bwMode="auto">
          <a:xfrm>
            <a:off x="0" y="0"/>
            <a:ext cx="12192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ko-KR" altLang="en-US"/>
          </a:p>
        </p:txBody>
      </p:sp>
      <p:graphicFrame>
        <p:nvGraphicFramePr>
          <p:cNvPr id="7" name="표 6">
            <a:extLst>
              <a:ext uri="{FF2B5EF4-FFF2-40B4-BE49-F238E27FC236}">
                <a16:creationId xmlns:a16="http://schemas.microsoft.com/office/drawing/2014/main" id="{0A170A41-CBAF-4876-BAEB-4B84B29CA8C3}"/>
              </a:ext>
            </a:extLst>
          </p:cNvPr>
          <p:cNvGraphicFramePr>
            <a:graphicFrameLocks noGrp="1"/>
          </p:cNvGraphicFramePr>
          <p:nvPr/>
        </p:nvGraphicFramePr>
        <p:xfrm>
          <a:off x="654753" y="2951314"/>
          <a:ext cx="10945575" cy="3780092"/>
        </p:xfrm>
        <a:graphic>
          <a:graphicData uri="http://schemas.openxmlformats.org/drawingml/2006/table">
            <a:tbl>
              <a:tblPr>
                <a:tableStyleId>{8799B23B-EC83-4686-B30A-512413B5E67A}</a:tableStyleId>
              </a:tblPr>
              <a:tblGrid>
                <a:gridCol w="1447420">
                  <a:extLst>
                    <a:ext uri="{9D8B030D-6E8A-4147-A177-3AD203B41FA5}">
                      <a16:colId xmlns:a16="http://schemas.microsoft.com/office/drawing/2014/main" val="3059594399"/>
                    </a:ext>
                  </a:extLst>
                </a:gridCol>
                <a:gridCol w="3236767">
                  <a:extLst>
                    <a:ext uri="{9D8B030D-6E8A-4147-A177-3AD203B41FA5}">
                      <a16:colId xmlns:a16="http://schemas.microsoft.com/office/drawing/2014/main" val="3158936253"/>
                    </a:ext>
                  </a:extLst>
                </a:gridCol>
                <a:gridCol w="3130694">
                  <a:extLst>
                    <a:ext uri="{9D8B030D-6E8A-4147-A177-3AD203B41FA5}">
                      <a16:colId xmlns:a16="http://schemas.microsoft.com/office/drawing/2014/main" val="267936053"/>
                    </a:ext>
                  </a:extLst>
                </a:gridCol>
                <a:gridCol w="3130694">
                  <a:extLst>
                    <a:ext uri="{9D8B030D-6E8A-4147-A177-3AD203B41FA5}">
                      <a16:colId xmlns:a16="http://schemas.microsoft.com/office/drawing/2014/main" val="3260108901"/>
                    </a:ext>
                  </a:extLst>
                </a:gridCol>
              </a:tblGrid>
              <a:tr h="381747">
                <a:tc>
                  <a:txBody>
                    <a:bodyPr/>
                    <a:lstStyle/>
                    <a:p>
                      <a:pPr marL="0" marR="0" indent="0" algn="r" fontAlgn="base" latinLnBrk="0">
                        <a:lnSpc>
                          <a:spcPct val="130000"/>
                        </a:lnSpc>
                        <a:spcBef>
                          <a:spcPts val="0"/>
                        </a:spcBef>
                        <a:spcAft>
                          <a:spcPts val="0"/>
                        </a:spcAft>
                      </a:pPr>
                      <a:r>
                        <a:rPr lang="ko-KR" altLang="en-US" sz="1100" kern="0" spc="-100" dirty="0">
                          <a:effectLst/>
                        </a:rPr>
                        <a:t>특허발명</a:t>
                      </a:r>
                    </a:p>
                    <a:p>
                      <a:pPr marL="0" marR="0" indent="0" algn="just" fontAlgn="base" latinLnBrk="1">
                        <a:lnSpc>
                          <a:spcPct val="130000"/>
                        </a:lnSpc>
                        <a:spcBef>
                          <a:spcPts val="0"/>
                        </a:spcBef>
                        <a:spcAft>
                          <a:spcPts val="0"/>
                        </a:spcAft>
                      </a:pPr>
                      <a:r>
                        <a:rPr lang="ko-KR" altLang="en-US" sz="1100" kern="0" spc="-100" dirty="0" err="1">
                          <a:effectLst/>
                        </a:rPr>
                        <a:t>실시중</a:t>
                      </a:r>
                      <a:endParaRPr lang="ko-KR" altLang="en-US" sz="1100" kern="0" spc="-100" dirty="0">
                        <a:solidFill>
                          <a:srgbClr val="000000"/>
                        </a:solidFill>
                        <a:effectLst/>
                        <a:latin typeface="+mn-ea"/>
                        <a:ea typeface="+mn-ea"/>
                      </a:endParaRPr>
                    </a:p>
                  </a:txBody>
                  <a:tcPr marL="72000" marR="72000" marT="17907" marB="17907" anchor="ctr">
                    <a:lnTlToBr w="12700" cap="flat" cmpd="sng" algn="ctr">
                      <a:solidFill>
                        <a:schemeClr val="bg1">
                          <a:lumMod val="65000"/>
                        </a:schemeClr>
                      </a:solidFill>
                      <a:prstDash val="solid"/>
                      <a:round/>
                      <a:headEnd type="none" w="med" len="med"/>
                      <a:tailEnd type="none" w="med" len="med"/>
                    </a:lnTlToB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en-US" sz="1100" kern="0" spc="-100" dirty="0">
                          <a:effectLst/>
                        </a:rPr>
                        <a:t>A</a:t>
                      </a:r>
                      <a:endParaRPr lang="en-US" sz="1100" kern="0" spc="-100" dirty="0">
                        <a:solidFill>
                          <a:srgbClr val="000000"/>
                        </a:solidFill>
                        <a:effectLst/>
                        <a:latin typeface="+mn-ea"/>
                        <a:ea typeface="+mn-ea"/>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en-US" altLang="ko-KR" sz="1100" kern="0" spc="-100" dirty="0">
                          <a:effectLst/>
                        </a:rPr>
                        <a:t>A</a:t>
                      </a:r>
                      <a:r>
                        <a:rPr lang="ko-KR" altLang="en-US" sz="1100" kern="0" spc="-100" dirty="0">
                          <a:effectLst/>
                        </a:rPr>
                        <a:t>의 제조방법</a:t>
                      </a:r>
                      <a:r>
                        <a:rPr lang="en-US" altLang="ko-KR" sz="1100" kern="0" spc="-100" dirty="0">
                          <a:effectLst/>
                        </a:rPr>
                        <a:t>(</a:t>
                      </a:r>
                      <a:r>
                        <a:rPr lang="ko-KR" altLang="en-US" sz="1100" kern="0" spc="-100" dirty="0">
                          <a:effectLst/>
                        </a:rPr>
                        <a:t>方</a:t>
                      </a:r>
                      <a:r>
                        <a:rPr lang="en-US" altLang="ko-KR" sz="1100" kern="0" spc="-100" dirty="0">
                          <a:effectLst/>
                        </a:rPr>
                        <a:t>1)</a:t>
                      </a:r>
                      <a:endParaRPr lang="ko-KR" altLang="en-US" sz="1100" kern="0" spc="-100" dirty="0">
                        <a:solidFill>
                          <a:srgbClr val="000000"/>
                        </a:solidFill>
                        <a:effectLst/>
                        <a:latin typeface="+mn-ea"/>
                        <a:ea typeface="+mn-ea"/>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en-US" altLang="ko-KR" sz="1100" kern="0" spc="-100" dirty="0">
                          <a:effectLst/>
                        </a:rPr>
                        <a:t>A</a:t>
                      </a:r>
                      <a:r>
                        <a:rPr lang="ko-KR" altLang="en-US" sz="1100" kern="0" spc="-100" dirty="0">
                          <a:effectLst/>
                        </a:rPr>
                        <a:t>의 제조장치</a:t>
                      </a:r>
                      <a:r>
                        <a:rPr lang="en-US" altLang="ko-KR" sz="1100" kern="0" spc="-100" dirty="0">
                          <a:effectLst/>
                        </a:rPr>
                        <a:t>(</a:t>
                      </a:r>
                      <a:r>
                        <a:rPr lang="ko-KR" altLang="en-US" sz="1100" kern="0" spc="-100" dirty="0">
                          <a:effectLst/>
                        </a:rPr>
                        <a:t>裝</a:t>
                      </a:r>
                      <a:r>
                        <a:rPr lang="en-US" altLang="ko-KR" sz="1100" kern="0" spc="-100" dirty="0">
                          <a:effectLst/>
                        </a:rPr>
                        <a:t>1)</a:t>
                      </a:r>
                      <a:endParaRPr lang="ko-KR" altLang="en-US" sz="1100" kern="0" spc="-100" dirty="0">
                        <a:solidFill>
                          <a:srgbClr val="000000"/>
                        </a:solidFill>
                        <a:effectLst/>
                        <a:latin typeface="+mn-ea"/>
                        <a:ea typeface="+mn-ea"/>
                      </a:endParaRPr>
                    </a:p>
                  </a:txBody>
                  <a:tcPr marL="72000" marR="72000" marT="17907" marB="17907" anchor="ctr">
                    <a:solidFill>
                      <a:schemeClr val="accent1">
                        <a:lumMod val="20000"/>
                        <a:lumOff val="80000"/>
                      </a:schemeClr>
                    </a:solidFill>
                  </a:tcPr>
                </a:tc>
                <a:extLst>
                  <a:ext uri="{0D108BD9-81ED-4DB2-BD59-A6C34878D82A}">
                    <a16:rowId xmlns:a16="http://schemas.microsoft.com/office/drawing/2014/main" val="3104920914"/>
                  </a:ext>
                </a:extLst>
              </a:tr>
              <a:tr h="748609">
                <a:tc>
                  <a:txBody>
                    <a:bodyPr/>
                    <a:lstStyle/>
                    <a:p>
                      <a:pPr marL="0" marR="0" indent="0" algn="ctr" fontAlgn="base" latinLnBrk="0">
                        <a:lnSpc>
                          <a:spcPct val="130000"/>
                        </a:lnSpc>
                        <a:spcBef>
                          <a:spcPts val="0"/>
                        </a:spcBef>
                        <a:spcAft>
                          <a:spcPts val="0"/>
                        </a:spcAft>
                      </a:pPr>
                      <a:r>
                        <a:rPr lang="en-US" sz="1100" kern="0" spc="-100">
                          <a:effectLst/>
                        </a:rPr>
                        <a:t>A</a:t>
                      </a:r>
                      <a:endParaRPr lang="en-US" sz="1100" kern="0" spc="-100">
                        <a:solidFill>
                          <a:srgbClr val="000000"/>
                        </a:solidFill>
                        <a:effectLst/>
                        <a:latin typeface="+mn-ea"/>
                        <a:ea typeface="+mn-ea"/>
                      </a:endParaRPr>
                    </a:p>
                  </a:txBody>
                  <a:tcPr marL="72000" marR="72000" marT="17907" marB="17907" anchor="ctr"/>
                </a:tc>
                <a:tc>
                  <a:txBody>
                    <a:bodyPr/>
                    <a:lstStyle/>
                    <a:p>
                      <a:pPr marL="17780" marR="17780" indent="0" algn="just" fontAlgn="base" latinLnBrk="1">
                        <a:lnSpc>
                          <a:spcPct val="130000"/>
                        </a:lnSpc>
                        <a:spcBef>
                          <a:spcPts val="0"/>
                        </a:spcBef>
                        <a:spcAft>
                          <a:spcPts val="0"/>
                        </a:spcAft>
                      </a:pPr>
                      <a:r>
                        <a:rPr lang="ko-KR" altLang="en-US" sz="1100" kern="0" spc="-50" dirty="0">
                          <a:effectLst/>
                        </a:rPr>
                        <a:t>▪직접침해</a:t>
                      </a:r>
                      <a:endParaRPr lang="ko-KR" altLang="en-US" sz="1100" kern="0" spc="-50" dirty="0">
                        <a:solidFill>
                          <a:srgbClr val="000000"/>
                        </a:solidFill>
                        <a:effectLst/>
                        <a:latin typeface="+mn-ea"/>
                        <a:ea typeface="+mn-ea"/>
                      </a:endParaRPr>
                    </a:p>
                  </a:txBody>
                  <a:tcPr marL="72000" marR="72000" marT="17907" marB="17907" anchor="ctr"/>
                </a:tc>
                <a:tc>
                  <a:txBody>
                    <a:bodyPr/>
                    <a:lstStyle/>
                    <a:p>
                      <a:pPr marL="91440" marR="17780" indent="-91440" algn="just" fontAlgn="base" latinLnBrk="1">
                        <a:lnSpc>
                          <a:spcPct val="130000"/>
                        </a:lnSpc>
                        <a:spcBef>
                          <a:spcPts val="0"/>
                        </a:spcBef>
                        <a:spcAft>
                          <a:spcPts val="0"/>
                        </a:spcAft>
                      </a:pPr>
                      <a:r>
                        <a:rPr lang="ko-KR" altLang="en-US" sz="1100" kern="0" spc="-50" dirty="0">
                          <a:effectLst/>
                        </a:rPr>
                        <a:t>▪方</a:t>
                      </a:r>
                      <a:r>
                        <a:rPr lang="en-US" altLang="ko-KR" sz="1100" kern="0" spc="-50" dirty="0">
                          <a:effectLst/>
                        </a:rPr>
                        <a:t>1</a:t>
                      </a:r>
                      <a:r>
                        <a:rPr lang="ko-KR" altLang="en-US" sz="1100" kern="0" spc="-50" dirty="0">
                          <a:effectLst/>
                        </a:rPr>
                        <a:t>의 실시 </a:t>
                      </a:r>
                      <a:r>
                        <a:rPr lang="en-US" altLang="ko-KR" sz="1100" kern="0" spc="-50" dirty="0">
                          <a:effectLst/>
                        </a:rPr>
                        <a:t>: </a:t>
                      </a:r>
                      <a:r>
                        <a:rPr lang="ko-KR" altLang="en-US" sz="1100" kern="0" spc="-50" dirty="0">
                          <a:effectLst/>
                        </a:rPr>
                        <a:t>직접침해</a:t>
                      </a:r>
                    </a:p>
                    <a:p>
                      <a:pPr marL="91440" marR="17780" indent="-91440" algn="just" fontAlgn="base" latinLnBrk="1">
                        <a:lnSpc>
                          <a:spcPct val="130000"/>
                        </a:lnSpc>
                        <a:spcBef>
                          <a:spcPts val="0"/>
                        </a:spcBef>
                        <a:spcAft>
                          <a:spcPts val="0"/>
                        </a:spcAft>
                      </a:pPr>
                      <a:r>
                        <a:rPr lang="ko-KR" altLang="en-US" sz="1100" kern="0" spc="-50" dirty="0">
                          <a:effectLst/>
                        </a:rPr>
                        <a:t>▪다른 方의 실시 </a:t>
                      </a:r>
                      <a:r>
                        <a:rPr lang="en-US" altLang="ko-KR" sz="1100" kern="0" spc="-50" dirty="0">
                          <a:effectLst/>
                        </a:rPr>
                        <a:t>: </a:t>
                      </a:r>
                      <a:r>
                        <a:rPr lang="ko-KR" altLang="en-US" sz="1100" kern="0" spc="-50" dirty="0" err="1">
                          <a:effectLst/>
                        </a:rPr>
                        <a:t>비침해</a:t>
                      </a:r>
                      <a:endParaRPr lang="ko-KR" altLang="en-US" sz="1100" kern="0" spc="-50" dirty="0">
                        <a:solidFill>
                          <a:srgbClr val="000000"/>
                        </a:solidFill>
                        <a:effectLst/>
                        <a:latin typeface="+mn-ea"/>
                        <a:ea typeface="+mn-ea"/>
                      </a:endParaRPr>
                    </a:p>
                  </a:txBody>
                  <a:tcPr marL="72000" marR="72000" marT="17907" marB="17907" anchor="ctr"/>
                </a:tc>
                <a:tc>
                  <a:txBody>
                    <a:bodyPr/>
                    <a:lstStyle/>
                    <a:p>
                      <a:pPr marL="91440" marR="17780" indent="-91440" algn="just" fontAlgn="base" latinLnBrk="1">
                        <a:lnSpc>
                          <a:spcPct val="130000"/>
                        </a:lnSpc>
                        <a:spcBef>
                          <a:spcPts val="0"/>
                        </a:spcBef>
                        <a:spcAft>
                          <a:spcPts val="0"/>
                        </a:spcAft>
                      </a:pPr>
                      <a:r>
                        <a:rPr lang="ko-KR" altLang="en-US" sz="1100" kern="0" spc="-50" dirty="0">
                          <a:effectLst/>
                        </a:rPr>
                        <a:t>▪</a:t>
                      </a:r>
                      <a:r>
                        <a:rPr lang="en-US" altLang="ko-KR" sz="1100" kern="0" spc="-50" dirty="0">
                          <a:effectLst/>
                        </a:rPr>
                        <a:t>A</a:t>
                      </a:r>
                      <a:r>
                        <a:rPr lang="ko-KR" altLang="en-US" sz="1100" kern="0" spc="-50" dirty="0">
                          <a:effectLst/>
                        </a:rPr>
                        <a:t>의 생산</a:t>
                      </a:r>
                    </a:p>
                    <a:p>
                      <a:pPr marL="17780" marR="17780" indent="0" algn="just" fontAlgn="base" latinLnBrk="1">
                        <a:lnSpc>
                          <a:spcPct val="130000"/>
                        </a:lnSpc>
                        <a:spcBef>
                          <a:spcPts val="0"/>
                        </a:spcBef>
                        <a:spcAft>
                          <a:spcPts val="0"/>
                        </a:spcAft>
                      </a:pPr>
                      <a:r>
                        <a:rPr lang="en-US" altLang="ko-KR" sz="1100" kern="0" spc="-50" dirty="0">
                          <a:effectLst/>
                        </a:rPr>
                        <a:t>- </a:t>
                      </a:r>
                      <a:r>
                        <a:rPr lang="ko-KR" altLang="en-US" sz="1100" kern="0" spc="-50" dirty="0">
                          <a:effectLst/>
                        </a:rPr>
                        <a:t>裝</a:t>
                      </a:r>
                      <a:r>
                        <a:rPr lang="en-US" altLang="ko-KR" sz="1100" kern="0" spc="-50" dirty="0">
                          <a:effectLst/>
                        </a:rPr>
                        <a:t>1</a:t>
                      </a:r>
                      <a:r>
                        <a:rPr lang="ko-KR" altLang="en-US" sz="1100" kern="0" spc="-50" dirty="0">
                          <a:effectLst/>
                        </a:rPr>
                        <a:t>의 사용 </a:t>
                      </a:r>
                      <a:r>
                        <a:rPr lang="en-US" altLang="ko-KR" sz="1100" kern="0" spc="-50" dirty="0">
                          <a:effectLst/>
                        </a:rPr>
                        <a:t>: </a:t>
                      </a:r>
                      <a:r>
                        <a:rPr lang="ko-KR" altLang="en-US" sz="1100" kern="0" spc="-50" dirty="0">
                          <a:effectLst/>
                        </a:rPr>
                        <a:t>직접침해</a:t>
                      </a:r>
                    </a:p>
                    <a:p>
                      <a:pPr marL="17780" marR="17780" indent="0" algn="just" fontAlgn="base" latinLnBrk="1">
                        <a:lnSpc>
                          <a:spcPct val="130000"/>
                        </a:lnSpc>
                        <a:spcBef>
                          <a:spcPts val="0"/>
                        </a:spcBef>
                        <a:spcAft>
                          <a:spcPts val="0"/>
                        </a:spcAft>
                      </a:pPr>
                      <a:r>
                        <a:rPr lang="en-US" altLang="ko-KR" sz="1100" kern="0" spc="-50" dirty="0">
                          <a:effectLst/>
                        </a:rPr>
                        <a:t>- </a:t>
                      </a:r>
                      <a:r>
                        <a:rPr lang="ko-KR" altLang="en-US" sz="1100" kern="0" spc="-50" dirty="0">
                          <a:effectLst/>
                        </a:rPr>
                        <a:t>다른 裝의 사용 </a:t>
                      </a:r>
                      <a:r>
                        <a:rPr lang="en-US" altLang="ko-KR" sz="1100" kern="0" spc="-50" dirty="0">
                          <a:effectLst/>
                        </a:rPr>
                        <a:t>: </a:t>
                      </a:r>
                      <a:r>
                        <a:rPr lang="ko-KR" altLang="en-US" sz="1100" kern="0" spc="-50" dirty="0" err="1">
                          <a:effectLst/>
                        </a:rPr>
                        <a:t>비침해</a:t>
                      </a:r>
                      <a:endParaRPr lang="ko-KR" altLang="en-US" sz="1100" kern="0" spc="-50" dirty="0">
                        <a:effectLst/>
                      </a:endParaRPr>
                    </a:p>
                    <a:p>
                      <a:pPr marL="91440" marR="17780" indent="-91440" algn="just" fontAlgn="base" latinLnBrk="1">
                        <a:lnSpc>
                          <a:spcPct val="130000"/>
                        </a:lnSpc>
                        <a:spcBef>
                          <a:spcPts val="0"/>
                        </a:spcBef>
                        <a:spcAft>
                          <a:spcPts val="0"/>
                        </a:spcAft>
                      </a:pPr>
                      <a:r>
                        <a:rPr lang="ko-KR" altLang="en-US" sz="1100" kern="0" spc="-50" dirty="0">
                          <a:effectLst/>
                        </a:rPr>
                        <a:t>▪</a:t>
                      </a:r>
                      <a:r>
                        <a:rPr lang="en-US" altLang="ko-KR" sz="1100" kern="0" spc="-50" dirty="0">
                          <a:effectLst/>
                        </a:rPr>
                        <a:t>A</a:t>
                      </a:r>
                      <a:r>
                        <a:rPr lang="ko-KR" altLang="en-US" sz="1100" kern="0" spc="-50" dirty="0">
                          <a:effectLst/>
                        </a:rPr>
                        <a:t>의 </a:t>
                      </a:r>
                      <a:r>
                        <a:rPr lang="ko-KR" altLang="en-US" sz="1100" kern="0" spc="-50" dirty="0" err="1">
                          <a:effectLst/>
                        </a:rPr>
                        <a:t>사용ㆍ양도ㆍ대여</a:t>
                      </a:r>
                      <a:r>
                        <a:rPr lang="ko-KR" altLang="en-US" sz="1100" dirty="0" err="1"/>
                        <a:t>ㆍ</a:t>
                      </a:r>
                      <a:r>
                        <a:rPr kumimoji="1" lang="ko-KR" altLang="en-US" sz="1100" b="0" i="0" u="none" strike="noStrike" cap="none" normalizeH="0" baseline="0" dirty="0" err="1">
                          <a:ln>
                            <a:noFill/>
                          </a:ln>
                          <a:solidFill>
                            <a:srgbClr val="444444"/>
                          </a:solidFill>
                          <a:effectLst/>
                          <a:latin typeface="+mn-ea"/>
                          <a:cs typeface="굴림" pitchFamily="50" charset="-127"/>
                        </a:rPr>
                        <a:t>수출</a:t>
                      </a:r>
                      <a:r>
                        <a:rPr lang="ko-KR" altLang="en-US" sz="1100" kern="0" spc="-50" dirty="0" err="1">
                          <a:effectLst/>
                        </a:rPr>
                        <a:t>ㆍ수입ㆍ청약</a:t>
                      </a:r>
                      <a:r>
                        <a:rPr lang="ko-KR" altLang="en-US" sz="1100" kern="0" spc="-50" dirty="0">
                          <a:effectLst/>
                        </a:rPr>
                        <a:t> </a:t>
                      </a:r>
                      <a:r>
                        <a:rPr lang="en-US" altLang="ko-KR" sz="1100" kern="0" spc="-50" dirty="0">
                          <a:effectLst/>
                        </a:rPr>
                        <a:t>: </a:t>
                      </a:r>
                      <a:r>
                        <a:rPr lang="ko-KR" altLang="en-US" sz="1100" kern="0" spc="-50" dirty="0" err="1">
                          <a:effectLst/>
                        </a:rPr>
                        <a:t>비침해</a:t>
                      </a:r>
                      <a:endParaRPr lang="ko-KR" altLang="en-US" sz="1100" kern="0" spc="-50" dirty="0">
                        <a:solidFill>
                          <a:srgbClr val="000000"/>
                        </a:solidFill>
                        <a:effectLst/>
                        <a:latin typeface="+mn-ea"/>
                        <a:ea typeface="+mn-ea"/>
                      </a:endParaRPr>
                    </a:p>
                  </a:txBody>
                  <a:tcPr marL="72000" marR="72000" marT="17907" marB="17907" anchor="ctr"/>
                </a:tc>
                <a:extLst>
                  <a:ext uri="{0D108BD9-81ED-4DB2-BD59-A6C34878D82A}">
                    <a16:rowId xmlns:a16="http://schemas.microsoft.com/office/drawing/2014/main" val="416023832"/>
                  </a:ext>
                </a:extLst>
              </a:tr>
              <a:tr h="932973">
                <a:tc>
                  <a:txBody>
                    <a:bodyPr/>
                    <a:lstStyle/>
                    <a:p>
                      <a:pPr marL="0" marR="0" indent="0" algn="ctr" fontAlgn="base" latinLnBrk="0">
                        <a:lnSpc>
                          <a:spcPct val="130000"/>
                        </a:lnSpc>
                        <a:spcBef>
                          <a:spcPts val="0"/>
                        </a:spcBef>
                        <a:spcAft>
                          <a:spcPts val="0"/>
                        </a:spcAft>
                      </a:pPr>
                      <a:r>
                        <a:rPr lang="en-US" altLang="ko-KR" sz="1100" kern="0" spc="-100">
                          <a:effectLst/>
                        </a:rPr>
                        <a:t>A</a:t>
                      </a:r>
                      <a:r>
                        <a:rPr lang="ko-KR" altLang="en-US" sz="1100" kern="0" spc="-100">
                          <a:effectLst/>
                        </a:rPr>
                        <a:t>의 제조방법</a:t>
                      </a:r>
                    </a:p>
                    <a:p>
                      <a:pPr marL="0" marR="0" indent="0" algn="ctr" fontAlgn="base" latinLnBrk="0">
                        <a:lnSpc>
                          <a:spcPct val="130000"/>
                        </a:lnSpc>
                        <a:spcBef>
                          <a:spcPts val="0"/>
                        </a:spcBef>
                        <a:spcAft>
                          <a:spcPts val="0"/>
                        </a:spcAft>
                      </a:pPr>
                      <a:r>
                        <a:rPr lang="en-US" altLang="ko-KR" sz="1100" kern="0" spc="-100">
                          <a:effectLst/>
                        </a:rPr>
                        <a:t>(</a:t>
                      </a:r>
                      <a:r>
                        <a:rPr lang="ko-KR" altLang="en-US" sz="1100" kern="0" spc="-100">
                          <a:effectLst/>
                        </a:rPr>
                        <a:t>方</a:t>
                      </a:r>
                      <a:r>
                        <a:rPr lang="en-US" altLang="ko-KR" sz="1100" kern="0" spc="-100">
                          <a:effectLst/>
                        </a:rPr>
                        <a:t>1)</a:t>
                      </a:r>
                      <a:endParaRPr lang="ko-KR" altLang="en-US" sz="1100" kern="0" spc="-100">
                        <a:solidFill>
                          <a:srgbClr val="000000"/>
                        </a:solidFill>
                        <a:effectLst/>
                        <a:latin typeface="+mn-ea"/>
                        <a:ea typeface="+mn-ea"/>
                      </a:endParaRPr>
                    </a:p>
                  </a:txBody>
                  <a:tcPr marL="72000" marR="72000" marT="17907" marB="17907" anchor="ctr"/>
                </a:tc>
                <a:tc>
                  <a:txBody>
                    <a:bodyPr/>
                    <a:lstStyle/>
                    <a:p>
                      <a:pPr marL="91440" marR="17780" indent="-91440" algn="just" fontAlgn="base" latinLnBrk="1">
                        <a:lnSpc>
                          <a:spcPct val="130000"/>
                        </a:lnSpc>
                        <a:spcBef>
                          <a:spcPts val="0"/>
                        </a:spcBef>
                        <a:spcAft>
                          <a:spcPts val="0"/>
                        </a:spcAft>
                      </a:pPr>
                      <a:r>
                        <a:rPr lang="ko-KR" altLang="en-US" sz="1100" kern="0" spc="-50" dirty="0">
                          <a:effectLst/>
                        </a:rPr>
                        <a:t>▪직접침해</a:t>
                      </a:r>
                      <a:r>
                        <a:rPr lang="en-US" altLang="ko-KR" sz="1100" kern="0" spc="-70" dirty="0">
                          <a:effectLst/>
                        </a:rPr>
                        <a:t>(</a:t>
                      </a:r>
                      <a:r>
                        <a:rPr lang="ko-KR" altLang="en-US" sz="1100" kern="0" spc="-70" dirty="0">
                          <a:effectLst/>
                        </a:rPr>
                        <a:t>∵</a:t>
                      </a:r>
                      <a:r>
                        <a:rPr lang="en-US" altLang="ko-KR" sz="1100" kern="0" spc="-70" dirty="0">
                          <a:effectLst/>
                        </a:rPr>
                        <a:t>A</a:t>
                      </a:r>
                      <a:r>
                        <a:rPr lang="ko-KR" altLang="en-US" sz="1100" kern="0" spc="-70" dirty="0">
                          <a:effectLst/>
                        </a:rPr>
                        <a:t>의 제조방법의 실시는</a:t>
                      </a:r>
                      <a:r>
                        <a:rPr lang="ko-KR" altLang="en-US" sz="1100" kern="0" spc="-70" dirty="0">
                          <a:solidFill>
                            <a:srgbClr val="FF0000"/>
                          </a:solidFill>
                          <a:effectLst/>
                        </a:rPr>
                        <a:t> 물건생산의 청약을 제외하고는 </a:t>
                      </a:r>
                      <a:r>
                        <a:rPr lang="ko-KR" altLang="en-US" sz="1100" kern="0" spc="-70" dirty="0">
                          <a:effectLst/>
                        </a:rPr>
                        <a:t>모두 </a:t>
                      </a:r>
                      <a:r>
                        <a:rPr lang="en-US" altLang="ko-KR" sz="1100" kern="0" spc="-70" dirty="0">
                          <a:effectLst/>
                        </a:rPr>
                        <a:t>A</a:t>
                      </a:r>
                      <a:r>
                        <a:rPr lang="ko-KR" altLang="en-US" sz="1100" kern="0" spc="-70" dirty="0">
                          <a:effectLst/>
                        </a:rPr>
                        <a:t>의 실시에 해당함</a:t>
                      </a:r>
                      <a:r>
                        <a:rPr lang="en-US" altLang="ko-KR" sz="1100" kern="0" spc="-70" dirty="0">
                          <a:effectLst/>
                        </a:rPr>
                        <a:t>)</a:t>
                      </a:r>
                      <a:endParaRPr lang="ko-KR" altLang="en-US" sz="1100" kern="0" spc="-50" dirty="0">
                        <a:solidFill>
                          <a:srgbClr val="000000"/>
                        </a:solidFill>
                        <a:effectLst/>
                        <a:latin typeface="+mn-ea"/>
                        <a:ea typeface="+mn-ea"/>
                      </a:endParaRPr>
                    </a:p>
                  </a:txBody>
                  <a:tcPr marL="72000" marR="72000" marT="17907" marB="17907" anchor="ctr"/>
                </a:tc>
                <a:tc>
                  <a:txBody>
                    <a:bodyPr/>
                    <a:lstStyle/>
                    <a:p>
                      <a:pPr marL="91440" marR="17780" indent="-91440" algn="just" fontAlgn="base" latinLnBrk="1">
                        <a:lnSpc>
                          <a:spcPct val="130000"/>
                        </a:lnSpc>
                        <a:spcBef>
                          <a:spcPts val="0"/>
                        </a:spcBef>
                        <a:spcAft>
                          <a:spcPts val="0"/>
                        </a:spcAft>
                      </a:pPr>
                      <a:r>
                        <a:rPr lang="ko-KR" altLang="en-US" sz="1100" kern="0" spc="-50" dirty="0">
                          <a:effectLst/>
                        </a:rPr>
                        <a:t>▪직접침해</a:t>
                      </a:r>
                      <a:endParaRPr lang="ko-KR" altLang="en-US" sz="1100" kern="0" spc="-50" dirty="0">
                        <a:solidFill>
                          <a:srgbClr val="000000"/>
                        </a:solidFill>
                        <a:effectLst/>
                        <a:latin typeface="+mn-ea"/>
                        <a:ea typeface="+mn-ea"/>
                      </a:endParaRPr>
                    </a:p>
                  </a:txBody>
                  <a:tcPr marL="72000" marR="72000" marT="17907" marB="17907" anchor="ctr"/>
                </a:tc>
                <a:tc>
                  <a:txBody>
                    <a:bodyPr/>
                    <a:lstStyle/>
                    <a:p>
                      <a:pPr marL="91440" marR="17780" indent="-91440" algn="just" fontAlgn="base" latinLnBrk="1">
                        <a:lnSpc>
                          <a:spcPct val="130000"/>
                        </a:lnSpc>
                        <a:spcBef>
                          <a:spcPts val="0"/>
                        </a:spcBef>
                        <a:spcAft>
                          <a:spcPts val="0"/>
                        </a:spcAft>
                      </a:pPr>
                      <a:r>
                        <a:rPr lang="ko-KR" altLang="en-US" sz="1100" kern="0" spc="-50" dirty="0">
                          <a:effectLst/>
                        </a:rPr>
                        <a:t>▪</a:t>
                      </a:r>
                      <a:r>
                        <a:rPr lang="en-US" altLang="ko-KR" sz="1100" kern="0" spc="-50" dirty="0">
                          <a:effectLst/>
                        </a:rPr>
                        <a:t>A</a:t>
                      </a:r>
                      <a:r>
                        <a:rPr lang="ko-KR" altLang="en-US" sz="1100" kern="0" spc="-50" dirty="0">
                          <a:effectLst/>
                        </a:rPr>
                        <a:t>의 제조방법의 사용 </a:t>
                      </a:r>
                    </a:p>
                    <a:p>
                      <a:pPr marL="17780" marR="17780" indent="0" algn="just" fontAlgn="base" latinLnBrk="1">
                        <a:lnSpc>
                          <a:spcPct val="130000"/>
                        </a:lnSpc>
                        <a:spcBef>
                          <a:spcPts val="0"/>
                        </a:spcBef>
                        <a:spcAft>
                          <a:spcPts val="0"/>
                        </a:spcAft>
                      </a:pPr>
                      <a:r>
                        <a:rPr lang="en-US" altLang="ko-KR" sz="1100" kern="0" spc="-50" dirty="0">
                          <a:effectLst/>
                        </a:rPr>
                        <a:t>- </a:t>
                      </a:r>
                      <a:r>
                        <a:rPr lang="ko-KR" altLang="en-US" sz="1100" kern="0" spc="-50" dirty="0">
                          <a:effectLst/>
                        </a:rPr>
                        <a:t>裝</a:t>
                      </a:r>
                      <a:r>
                        <a:rPr lang="en-US" altLang="ko-KR" sz="1100" kern="0" spc="-50" dirty="0">
                          <a:effectLst/>
                        </a:rPr>
                        <a:t>1</a:t>
                      </a:r>
                      <a:r>
                        <a:rPr lang="ko-KR" altLang="en-US" sz="1100" kern="0" spc="-50" dirty="0">
                          <a:effectLst/>
                        </a:rPr>
                        <a:t>의 사용 </a:t>
                      </a:r>
                      <a:r>
                        <a:rPr lang="en-US" altLang="ko-KR" sz="1100" kern="0" spc="-50" dirty="0">
                          <a:effectLst/>
                        </a:rPr>
                        <a:t>: </a:t>
                      </a:r>
                      <a:r>
                        <a:rPr lang="ko-KR" altLang="en-US" sz="1100" kern="0" spc="-50" dirty="0">
                          <a:effectLst/>
                        </a:rPr>
                        <a:t>직접침해</a:t>
                      </a:r>
                    </a:p>
                    <a:p>
                      <a:pPr marL="17780" marR="17780" indent="0" algn="just" fontAlgn="base" latinLnBrk="1">
                        <a:lnSpc>
                          <a:spcPct val="130000"/>
                        </a:lnSpc>
                        <a:spcBef>
                          <a:spcPts val="0"/>
                        </a:spcBef>
                        <a:spcAft>
                          <a:spcPts val="0"/>
                        </a:spcAft>
                      </a:pPr>
                      <a:r>
                        <a:rPr lang="en-US" altLang="ko-KR" sz="1100" kern="0" spc="-50" dirty="0">
                          <a:effectLst/>
                        </a:rPr>
                        <a:t>- </a:t>
                      </a:r>
                      <a:r>
                        <a:rPr lang="ko-KR" altLang="en-US" sz="1100" kern="0" spc="-50" dirty="0">
                          <a:effectLst/>
                        </a:rPr>
                        <a:t>다른 裝의 사용 </a:t>
                      </a:r>
                      <a:r>
                        <a:rPr lang="en-US" altLang="ko-KR" sz="1100" kern="0" spc="-50" dirty="0">
                          <a:effectLst/>
                        </a:rPr>
                        <a:t>: </a:t>
                      </a:r>
                      <a:r>
                        <a:rPr lang="ko-KR" altLang="en-US" sz="1100" kern="0" spc="-50" dirty="0" err="1">
                          <a:effectLst/>
                        </a:rPr>
                        <a:t>비침해</a:t>
                      </a:r>
                      <a:endParaRPr lang="ko-KR" altLang="en-US" sz="1100" kern="0" spc="-50" dirty="0">
                        <a:effectLst/>
                      </a:endParaRPr>
                    </a:p>
                    <a:p>
                      <a:pPr marL="91440" marR="17780" indent="-91440" algn="just" fontAlgn="base" latinLnBrk="1">
                        <a:lnSpc>
                          <a:spcPct val="130000"/>
                        </a:lnSpc>
                        <a:spcBef>
                          <a:spcPts val="0"/>
                        </a:spcBef>
                        <a:spcAft>
                          <a:spcPts val="0"/>
                        </a:spcAft>
                      </a:pPr>
                      <a:r>
                        <a:rPr lang="ko-KR" altLang="en-US" sz="1100" kern="0" spc="-50" dirty="0">
                          <a:effectLst/>
                        </a:rPr>
                        <a:t>▪</a:t>
                      </a:r>
                      <a:r>
                        <a:rPr lang="en-US" altLang="ko-KR" sz="1100" kern="0" spc="-150" dirty="0">
                          <a:effectLst/>
                        </a:rPr>
                        <a:t>A</a:t>
                      </a:r>
                      <a:r>
                        <a:rPr lang="ko-KR" altLang="en-US" sz="1100" kern="0" spc="-150" dirty="0">
                          <a:effectLst/>
                        </a:rPr>
                        <a:t>의 제조방법의 사용에 의한 </a:t>
                      </a:r>
                      <a:r>
                        <a:rPr lang="en-US" altLang="ko-KR" sz="1100" kern="0" spc="-150" dirty="0">
                          <a:effectLst/>
                        </a:rPr>
                        <a:t>A</a:t>
                      </a:r>
                      <a:r>
                        <a:rPr lang="ko-KR" altLang="en-US" sz="1100" kern="0" spc="-150" dirty="0">
                          <a:effectLst/>
                        </a:rPr>
                        <a:t>의 </a:t>
                      </a:r>
                      <a:r>
                        <a:rPr lang="ko-KR" altLang="en-US" sz="1100" kern="0" spc="-150" dirty="0" err="1">
                          <a:effectLst/>
                        </a:rPr>
                        <a:t>사용ㆍ양도ㆍ대여</a:t>
                      </a:r>
                      <a:r>
                        <a:rPr lang="ko-KR" altLang="en-US" sz="1100" dirty="0" err="1"/>
                        <a:t>ㆍ</a:t>
                      </a:r>
                      <a:r>
                        <a:rPr kumimoji="1" lang="ko-KR" altLang="en-US" sz="1100" b="0" i="0" u="none" strike="noStrike" cap="none" normalizeH="0" baseline="0" dirty="0" err="1">
                          <a:ln>
                            <a:noFill/>
                          </a:ln>
                          <a:solidFill>
                            <a:srgbClr val="444444"/>
                          </a:solidFill>
                          <a:effectLst/>
                          <a:latin typeface="+mn-ea"/>
                          <a:cs typeface="굴림" pitchFamily="50" charset="-127"/>
                        </a:rPr>
                        <a:t>수출</a:t>
                      </a:r>
                      <a:r>
                        <a:rPr lang="ko-KR" altLang="en-US" sz="1100" kern="0" spc="-150" dirty="0" err="1">
                          <a:effectLst/>
                        </a:rPr>
                        <a:t>ㆍ수입ㆍ청약</a:t>
                      </a:r>
                      <a:r>
                        <a:rPr lang="ko-KR" altLang="en-US" sz="1100" kern="0" spc="-150" dirty="0">
                          <a:effectLst/>
                        </a:rPr>
                        <a:t> </a:t>
                      </a:r>
                      <a:r>
                        <a:rPr lang="en-US" altLang="ko-KR" sz="1100" kern="0" spc="-150" dirty="0">
                          <a:effectLst/>
                        </a:rPr>
                        <a:t>: </a:t>
                      </a:r>
                      <a:r>
                        <a:rPr lang="ko-KR" altLang="en-US" sz="1100" kern="0" spc="-150" dirty="0" err="1">
                          <a:effectLst/>
                        </a:rPr>
                        <a:t>비침해</a:t>
                      </a:r>
                      <a:endParaRPr lang="ko-KR" altLang="en-US" sz="1100" kern="0" spc="-150" dirty="0">
                        <a:solidFill>
                          <a:srgbClr val="000000"/>
                        </a:solidFill>
                        <a:effectLst/>
                        <a:latin typeface="+mn-ea"/>
                        <a:ea typeface="+mn-ea"/>
                      </a:endParaRPr>
                    </a:p>
                  </a:txBody>
                  <a:tcPr marL="72000" marR="72000" marT="17907" marB="17907" anchor="ctr"/>
                </a:tc>
                <a:extLst>
                  <a:ext uri="{0D108BD9-81ED-4DB2-BD59-A6C34878D82A}">
                    <a16:rowId xmlns:a16="http://schemas.microsoft.com/office/drawing/2014/main" val="129468670"/>
                  </a:ext>
                </a:extLst>
              </a:tr>
              <a:tr h="1116895">
                <a:tc>
                  <a:txBody>
                    <a:bodyPr/>
                    <a:lstStyle/>
                    <a:p>
                      <a:pPr marL="0" marR="0" indent="0" algn="ctr" fontAlgn="base" latinLnBrk="0">
                        <a:lnSpc>
                          <a:spcPct val="130000"/>
                        </a:lnSpc>
                        <a:spcBef>
                          <a:spcPts val="0"/>
                        </a:spcBef>
                        <a:spcAft>
                          <a:spcPts val="0"/>
                        </a:spcAft>
                      </a:pPr>
                      <a:r>
                        <a:rPr lang="en-US" altLang="ko-KR" sz="1100" kern="0" spc="-100" dirty="0">
                          <a:effectLst/>
                        </a:rPr>
                        <a:t>A</a:t>
                      </a:r>
                      <a:r>
                        <a:rPr lang="ko-KR" altLang="en-US" sz="1100" kern="0" spc="-100" dirty="0">
                          <a:effectLst/>
                        </a:rPr>
                        <a:t>의 제조장치</a:t>
                      </a:r>
                    </a:p>
                    <a:p>
                      <a:pPr marL="0" marR="0" indent="0" algn="ctr" fontAlgn="base" latinLnBrk="0">
                        <a:lnSpc>
                          <a:spcPct val="130000"/>
                        </a:lnSpc>
                        <a:spcBef>
                          <a:spcPts val="0"/>
                        </a:spcBef>
                        <a:spcAft>
                          <a:spcPts val="0"/>
                        </a:spcAft>
                      </a:pPr>
                      <a:r>
                        <a:rPr lang="en-US" altLang="ko-KR" sz="1100" kern="0" spc="-100" dirty="0">
                          <a:effectLst/>
                        </a:rPr>
                        <a:t>(</a:t>
                      </a:r>
                      <a:r>
                        <a:rPr lang="ko-KR" altLang="en-US" sz="1100" kern="0" spc="-100" dirty="0">
                          <a:effectLst/>
                        </a:rPr>
                        <a:t>裝</a:t>
                      </a:r>
                      <a:r>
                        <a:rPr lang="en-US" altLang="ko-KR" sz="1100" kern="0" spc="-100" dirty="0">
                          <a:effectLst/>
                        </a:rPr>
                        <a:t>1)</a:t>
                      </a:r>
                      <a:endParaRPr lang="ko-KR" altLang="en-US" sz="1100" kern="0" spc="-100" dirty="0">
                        <a:solidFill>
                          <a:srgbClr val="000000"/>
                        </a:solidFill>
                        <a:effectLst/>
                        <a:latin typeface="+mn-ea"/>
                        <a:ea typeface="+mn-ea"/>
                      </a:endParaRPr>
                    </a:p>
                  </a:txBody>
                  <a:tcPr marL="72000" marR="72000" marT="17907" marB="17907" anchor="ctr"/>
                </a:tc>
                <a:tc>
                  <a:txBody>
                    <a:bodyPr/>
                    <a:lstStyle/>
                    <a:p>
                      <a:pPr marL="91440" marR="17780" indent="-91440" algn="just" fontAlgn="base" latinLnBrk="1">
                        <a:lnSpc>
                          <a:spcPct val="130000"/>
                        </a:lnSpc>
                        <a:spcBef>
                          <a:spcPts val="0"/>
                        </a:spcBef>
                        <a:spcAft>
                          <a:spcPts val="0"/>
                        </a:spcAft>
                      </a:pPr>
                      <a:r>
                        <a:rPr lang="ko-KR" altLang="en-US" sz="1100" kern="0" spc="-50" dirty="0">
                          <a:effectLst/>
                        </a:rPr>
                        <a:t>▪</a:t>
                      </a:r>
                      <a:r>
                        <a:rPr lang="en-US" altLang="ko-KR" sz="1100" kern="0" spc="-50" dirty="0">
                          <a:effectLst/>
                        </a:rPr>
                        <a:t>A</a:t>
                      </a:r>
                      <a:r>
                        <a:rPr lang="ko-KR" altLang="en-US" sz="1100" kern="0" spc="-50" dirty="0">
                          <a:effectLst/>
                        </a:rPr>
                        <a:t>의 제조장치의 사용 </a:t>
                      </a:r>
                      <a:r>
                        <a:rPr lang="en-US" altLang="ko-KR" sz="1100" kern="0" spc="-50" dirty="0">
                          <a:effectLst/>
                        </a:rPr>
                        <a:t>– </a:t>
                      </a:r>
                      <a:r>
                        <a:rPr lang="ko-KR" altLang="en-US" sz="1100" kern="0" spc="-50" dirty="0">
                          <a:effectLst/>
                        </a:rPr>
                        <a:t>직접침해</a:t>
                      </a:r>
                      <a:r>
                        <a:rPr lang="en-US" altLang="ko-KR" sz="1100" kern="0" spc="-50" dirty="0">
                          <a:effectLst/>
                        </a:rPr>
                        <a:t> </a:t>
                      </a:r>
                    </a:p>
                    <a:p>
                      <a:pPr marL="91440" marR="17780" indent="-91440" algn="just" fontAlgn="base" latinLnBrk="1">
                        <a:lnSpc>
                          <a:spcPct val="130000"/>
                        </a:lnSpc>
                        <a:spcBef>
                          <a:spcPts val="0"/>
                        </a:spcBef>
                        <a:spcAft>
                          <a:spcPts val="0"/>
                        </a:spcAft>
                      </a:pPr>
                      <a:r>
                        <a:rPr lang="en-US" altLang="ko-KR" sz="1100" kern="0" spc="-50" dirty="0">
                          <a:effectLst/>
                        </a:rPr>
                        <a:t>  (</a:t>
                      </a:r>
                      <a:r>
                        <a:rPr lang="ko-KR" altLang="en-US" sz="1100" kern="0" spc="-50" dirty="0">
                          <a:effectLst/>
                        </a:rPr>
                        <a:t>∵</a:t>
                      </a:r>
                      <a:r>
                        <a:rPr lang="en-US" altLang="ko-KR" sz="1100" kern="0" spc="-50" dirty="0">
                          <a:effectLst/>
                        </a:rPr>
                        <a:t>A</a:t>
                      </a:r>
                      <a:r>
                        <a:rPr lang="ko-KR" altLang="en-US" sz="1100" kern="0" spc="-50" dirty="0">
                          <a:effectLst/>
                        </a:rPr>
                        <a:t>의 생산에 해당</a:t>
                      </a:r>
                      <a:r>
                        <a:rPr lang="en-US" altLang="ko-KR" sz="1100" kern="0" spc="-50" dirty="0">
                          <a:effectLst/>
                        </a:rPr>
                        <a:t>)</a:t>
                      </a:r>
                      <a:endParaRPr lang="ko-KR" altLang="en-US" sz="1100" kern="0" spc="-50" dirty="0">
                        <a:effectLst/>
                      </a:endParaRPr>
                    </a:p>
                    <a:p>
                      <a:pPr marL="91440" marR="17780" indent="-91440" algn="just" fontAlgn="base" latinLnBrk="1">
                        <a:lnSpc>
                          <a:spcPct val="130000"/>
                        </a:lnSpc>
                        <a:spcBef>
                          <a:spcPts val="0"/>
                        </a:spcBef>
                        <a:spcAft>
                          <a:spcPts val="0"/>
                        </a:spcAft>
                      </a:pPr>
                      <a:r>
                        <a:rPr lang="ko-KR" altLang="en-US" sz="1100" kern="0" spc="-50" dirty="0">
                          <a:effectLst/>
                        </a:rPr>
                        <a:t>▪</a:t>
                      </a:r>
                      <a:r>
                        <a:rPr lang="en-US" altLang="ko-KR" sz="1100" kern="0" spc="-50" dirty="0">
                          <a:effectLst/>
                        </a:rPr>
                        <a:t>A</a:t>
                      </a:r>
                      <a:r>
                        <a:rPr lang="ko-KR" altLang="en-US" sz="1100" kern="0" spc="-50" dirty="0">
                          <a:effectLst/>
                        </a:rPr>
                        <a:t>의 제조장치의 </a:t>
                      </a:r>
                      <a:r>
                        <a:rPr lang="ko-KR" altLang="en-US" sz="1100" kern="0" spc="-50" dirty="0" err="1">
                          <a:effectLst/>
                        </a:rPr>
                        <a:t>생산ㆍ양도ㆍ대여</a:t>
                      </a:r>
                      <a:r>
                        <a:rPr lang="ko-KR" altLang="en-US" sz="1100" dirty="0" err="1"/>
                        <a:t>ㆍ</a:t>
                      </a:r>
                      <a:r>
                        <a:rPr kumimoji="1" lang="ko-KR" altLang="en-US" sz="1100" b="0" i="0" u="none" strike="noStrike" cap="none" normalizeH="0" baseline="0" dirty="0" err="1">
                          <a:ln>
                            <a:noFill/>
                          </a:ln>
                          <a:solidFill>
                            <a:srgbClr val="444444"/>
                          </a:solidFill>
                          <a:effectLst/>
                          <a:latin typeface="+mn-ea"/>
                          <a:cs typeface="굴림" pitchFamily="50" charset="-127"/>
                        </a:rPr>
                        <a:t>수출</a:t>
                      </a:r>
                      <a:r>
                        <a:rPr lang="ko-KR" altLang="en-US" sz="1100" kern="0" spc="-50" dirty="0" err="1">
                          <a:effectLst/>
                        </a:rPr>
                        <a:t>ㆍ수입ㆍ청약</a:t>
                      </a:r>
                      <a:endParaRPr lang="ko-KR" altLang="en-US" sz="1100" kern="0" spc="-50" dirty="0">
                        <a:effectLst/>
                      </a:endParaRPr>
                    </a:p>
                    <a:p>
                      <a:pPr marL="137160" marR="17780" indent="-137160" algn="just" fontAlgn="base" latinLnBrk="1">
                        <a:lnSpc>
                          <a:spcPct val="130000"/>
                        </a:lnSpc>
                        <a:spcBef>
                          <a:spcPts val="0"/>
                        </a:spcBef>
                        <a:spcAft>
                          <a:spcPts val="0"/>
                        </a:spcAft>
                      </a:pPr>
                      <a:r>
                        <a:rPr lang="en-US" altLang="ko-KR" sz="1100" kern="0" spc="-50" dirty="0">
                          <a:effectLst/>
                        </a:rPr>
                        <a:t>- </a:t>
                      </a:r>
                      <a:r>
                        <a:rPr lang="ko-KR" altLang="en-US" sz="1100" kern="0" spc="-140" dirty="0">
                          <a:effectLst/>
                        </a:rPr>
                        <a:t>타용도가 있는 경우 </a:t>
                      </a:r>
                      <a:r>
                        <a:rPr lang="en-US" altLang="ko-KR" sz="1100" kern="0" spc="-140" dirty="0">
                          <a:effectLst/>
                        </a:rPr>
                        <a:t>: </a:t>
                      </a:r>
                      <a:r>
                        <a:rPr lang="ko-KR" altLang="en-US" sz="1100" kern="0" spc="-140" dirty="0" err="1">
                          <a:effectLst/>
                        </a:rPr>
                        <a:t>비침해</a:t>
                      </a:r>
                      <a:endParaRPr lang="ko-KR" altLang="en-US" sz="1100" kern="0" spc="-50" dirty="0">
                        <a:effectLst/>
                      </a:endParaRPr>
                    </a:p>
                    <a:p>
                      <a:pPr marL="124460" marR="17780" indent="-124460" algn="just" fontAlgn="base" latinLnBrk="1">
                        <a:lnSpc>
                          <a:spcPct val="130000"/>
                        </a:lnSpc>
                        <a:spcBef>
                          <a:spcPts val="0"/>
                        </a:spcBef>
                        <a:spcAft>
                          <a:spcPts val="0"/>
                        </a:spcAft>
                      </a:pPr>
                      <a:r>
                        <a:rPr lang="en-US" altLang="ko-KR" sz="1100" kern="0" spc="-50" dirty="0">
                          <a:effectLst/>
                        </a:rPr>
                        <a:t>-</a:t>
                      </a:r>
                      <a:r>
                        <a:rPr lang="ko-KR" altLang="en-US" sz="1100" kern="0" spc="-80" dirty="0">
                          <a:effectLst/>
                        </a:rPr>
                        <a:t> 타용도가 없는 경우 </a:t>
                      </a:r>
                      <a:r>
                        <a:rPr lang="en-US" altLang="ko-KR" sz="1100" kern="0" spc="-80" dirty="0">
                          <a:effectLst/>
                        </a:rPr>
                        <a:t>: </a:t>
                      </a:r>
                      <a:r>
                        <a:rPr lang="ko-KR" altLang="en-US" sz="1100" kern="0" spc="-80" dirty="0">
                          <a:effectLst/>
                        </a:rPr>
                        <a:t>간접침해</a:t>
                      </a:r>
                      <a:endParaRPr lang="ko-KR" altLang="en-US" sz="1100" kern="0" spc="-50" dirty="0">
                        <a:solidFill>
                          <a:srgbClr val="000000"/>
                        </a:solidFill>
                        <a:effectLst/>
                        <a:latin typeface="+mn-ea"/>
                        <a:ea typeface="+mn-ea"/>
                      </a:endParaRPr>
                    </a:p>
                  </a:txBody>
                  <a:tcPr marL="72000" marR="72000" marT="17907" marB="17907" anchor="ctr"/>
                </a:tc>
                <a:tc>
                  <a:txBody>
                    <a:bodyPr/>
                    <a:lstStyle/>
                    <a:p>
                      <a:pPr marL="91440" marR="17780" indent="-91440" algn="just" fontAlgn="base" latinLnBrk="1">
                        <a:lnSpc>
                          <a:spcPct val="130000"/>
                        </a:lnSpc>
                        <a:spcBef>
                          <a:spcPts val="0"/>
                        </a:spcBef>
                        <a:spcAft>
                          <a:spcPts val="0"/>
                        </a:spcAft>
                      </a:pPr>
                      <a:r>
                        <a:rPr lang="ko-KR" altLang="en-US" sz="1100" kern="0" spc="-50" dirty="0">
                          <a:effectLst/>
                        </a:rPr>
                        <a:t>▪</a:t>
                      </a:r>
                      <a:r>
                        <a:rPr lang="en-US" altLang="ko-KR" sz="1100" kern="0" spc="-50" dirty="0">
                          <a:effectLst/>
                        </a:rPr>
                        <a:t>A</a:t>
                      </a:r>
                      <a:r>
                        <a:rPr lang="ko-KR" altLang="en-US" sz="1100" kern="0" spc="-50" dirty="0">
                          <a:effectLst/>
                        </a:rPr>
                        <a:t>의 제조장치의 사용</a:t>
                      </a:r>
                    </a:p>
                    <a:p>
                      <a:pPr marL="17780" marR="17780" indent="0" algn="just" fontAlgn="base" latinLnBrk="1">
                        <a:lnSpc>
                          <a:spcPct val="130000"/>
                        </a:lnSpc>
                        <a:spcBef>
                          <a:spcPts val="0"/>
                        </a:spcBef>
                        <a:spcAft>
                          <a:spcPts val="0"/>
                        </a:spcAft>
                      </a:pPr>
                      <a:r>
                        <a:rPr lang="en-US" altLang="ko-KR" sz="1100" kern="0" spc="-50" dirty="0">
                          <a:effectLst/>
                        </a:rPr>
                        <a:t>- </a:t>
                      </a:r>
                      <a:r>
                        <a:rPr lang="ko-KR" altLang="en-US" sz="1100" kern="0" spc="-50" dirty="0">
                          <a:effectLst/>
                        </a:rPr>
                        <a:t>方</a:t>
                      </a:r>
                      <a:r>
                        <a:rPr lang="en-US" altLang="ko-KR" sz="1100" kern="0" spc="-50" dirty="0">
                          <a:effectLst/>
                        </a:rPr>
                        <a:t>1</a:t>
                      </a:r>
                      <a:r>
                        <a:rPr lang="ko-KR" altLang="en-US" sz="1100" kern="0" spc="-50" dirty="0">
                          <a:effectLst/>
                        </a:rPr>
                        <a:t>의 사용 </a:t>
                      </a:r>
                      <a:r>
                        <a:rPr lang="en-US" altLang="ko-KR" sz="1100" kern="0" spc="-50" dirty="0">
                          <a:effectLst/>
                        </a:rPr>
                        <a:t>: </a:t>
                      </a:r>
                      <a:r>
                        <a:rPr lang="ko-KR" altLang="en-US" sz="1100" kern="0" spc="-50" dirty="0">
                          <a:effectLst/>
                        </a:rPr>
                        <a:t>직접침해</a:t>
                      </a:r>
                    </a:p>
                    <a:p>
                      <a:pPr marL="17780" marR="17780" indent="0" algn="just" fontAlgn="base" latinLnBrk="1">
                        <a:lnSpc>
                          <a:spcPct val="130000"/>
                        </a:lnSpc>
                        <a:spcBef>
                          <a:spcPts val="0"/>
                        </a:spcBef>
                        <a:spcAft>
                          <a:spcPts val="0"/>
                        </a:spcAft>
                      </a:pPr>
                      <a:r>
                        <a:rPr lang="en-US" altLang="ko-KR" sz="1100" kern="0" spc="-50" dirty="0">
                          <a:effectLst/>
                        </a:rPr>
                        <a:t>- </a:t>
                      </a:r>
                      <a:r>
                        <a:rPr lang="ko-KR" altLang="en-US" sz="1100" kern="0" spc="-50" dirty="0">
                          <a:effectLst/>
                        </a:rPr>
                        <a:t>다른 方의 사용 </a:t>
                      </a:r>
                      <a:r>
                        <a:rPr lang="en-US" altLang="ko-KR" sz="1100" kern="0" spc="-50" dirty="0">
                          <a:effectLst/>
                        </a:rPr>
                        <a:t>: </a:t>
                      </a:r>
                      <a:r>
                        <a:rPr lang="ko-KR" altLang="en-US" sz="1100" kern="0" spc="-50" dirty="0" err="1">
                          <a:effectLst/>
                        </a:rPr>
                        <a:t>비침해</a:t>
                      </a:r>
                      <a:endParaRPr lang="ko-KR" altLang="en-US" sz="1100" kern="0" spc="-50" dirty="0">
                        <a:effectLst/>
                      </a:endParaRPr>
                    </a:p>
                    <a:p>
                      <a:pPr marL="91440" marR="17780" indent="-91440" algn="just" fontAlgn="base" latinLnBrk="1">
                        <a:lnSpc>
                          <a:spcPct val="130000"/>
                        </a:lnSpc>
                        <a:spcBef>
                          <a:spcPts val="0"/>
                        </a:spcBef>
                        <a:spcAft>
                          <a:spcPts val="0"/>
                        </a:spcAft>
                      </a:pPr>
                      <a:r>
                        <a:rPr lang="ko-KR" altLang="en-US" sz="1100" kern="0" spc="-50" dirty="0">
                          <a:effectLst/>
                        </a:rPr>
                        <a:t>▪</a:t>
                      </a:r>
                      <a:r>
                        <a:rPr lang="en-US" altLang="ko-KR" sz="1100" kern="0" spc="-50" dirty="0">
                          <a:effectLst/>
                        </a:rPr>
                        <a:t>A</a:t>
                      </a:r>
                      <a:r>
                        <a:rPr lang="ko-KR" altLang="en-US" sz="1100" kern="0" spc="-50" dirty="0">
                          <a:effectLst/>
                        </a:rPr>
                        <a:t>의 제조장치의 </a:t>
                      </a:r>
                      <a:r>
                        <a:rPr lang="ko-KR" altLang="en-US" sz="1100" kern="0" spc="-50" dirty="0" err="1">
                          <a:effectLst/>
                        </a:rPr>
                        <a:t>생산ㆍ양도ㆍ대여ㆍ수출ㆍ수입ㆍ청약</a:t>
                      </a:r>
                      <a:endParaRPr lang="ko-KR" altLang="en-US" sz="1100" kern="0" spc="-50" dirty="0">
                        <a:effectLst/>
                      </a:endParaRPr>
                    </a:p>
                    <a:p>
                      <a:pPr marL="137160" marR="17780" indent="-137160" algn="just" fontAlgn="base" latinLnBrk="1">
                        <a:lnSpc>
                          <a:spcPct val="130000"/>
                        </a:lnSpc>
                        <a:spcBef>
                          <a:spcPts val="0"/>
                        </a:spcBef>
                        <a:spcAft>
                          <a:spcPts val="0"/>
                        </a:spcAft>
                      </a:pPr>
                      <a:r>
                        <a:rPr lang="en-US" altLang="ko-KR" sz="1100" kern="0" spc="-50" dirty="0">
                          <a:effectLst/>
                        </a:rPr>
                        <a:t>- </a:t>
                      </a:r>
                      <a:r>
                        <a:rPr lang="ko-KR" altLang="en-US" sz="1100" kern="0" spc="-140" dirty="0">
                          <a:effectLst/>
                        </a:rPr>
                        <a:t>타용도가 있는 경우 </a:t>
                      </a:r>
                      <a:r>
                        <a:rPr lang="en-US" altLang="ko-KR" sz="1100" kern="0" spc="-140" dirty="0">
                          <a:effectLst/>
                        </a:rPr>
                        <a:t>: </a:t>
                      </a:r>
                      <a:r>
                        <a:rPr lang="ko-KR" altLang="en-US" sz="1100" kern="0" spc="-140" dirty="0" err="1">
                          <a:effectLst/>
                        </a:rPr>
                        <a:t>비침해</a:t>
                      </a:r>
                      <a:endParaRPr lang="ko-KR" altLang="en-US" sz="1100" kern="0" spc="-50" dirty="0">
                        <a:effectLst/>
                      </a:endParaRPr>
                    </a:p>
                    <a:p>
                      <a:pPr marL="137160" marR="17780" indent="-137160" algn="just" fontAlgn="base" latinLnBrk="1">
                        <a:lnSpc>
                          <a:spcPct val="130000"/>
                        </a:lnSpc>
                        <a:spcBef>
                          <a:spcPts val="0"/>
                        </a:spcBef>
                        <a:spcAft>
                          <a:spcPts val="0"/>
                        </a:spcAft>
                      </a:pPr>
                      <a:r>
                        <a:rPr lang="en-US" altLang="ko-KR" sz="1100" kern="0" spc="-50" dirty="0">
                          <a:effectLst/>
                        </a:rPr>
                        <a:t>- </a:t>
                      </a:r>
                      <a:r>
                        <a:rPr lang="ko-KR" altLang="en-US" sz="1100" kern="0" spc="-50" dirty="0">
                          <a:effectLst/>
                        </a:rPr>
                        <a:t>타용도가 없는 경우 </a:t>
                      </a:r>
                      <a:r>
                        <a:rPr lang="en-US" altLang="ko-KR" sz="1100" kern="0" spc="-50" dirty="0">
                          <a:effectLst/>
                        </a:rPr>
                        <a:t>: </a:t>
                      </a:r>
                      <a:r>
                        <a:rPr lang="ko-KR" altLang="en-US" sz="1100" kern="0" spc="-50" dirty="0">
                          <a:effectLst/>
                        </a:rPr>
                        <a:t>간접침해</a:t>
                      </a:r>
                      <a:endParaRPr lang="ko-KR" altLang="en-US" sz="1100" kern="0" spc="-50" dirty="0">
                        <a:solidFill>
                          <a:srgbClr val="000000"/>
                        </a:solidFill>
                        <a:effectLst/>
                        <a:latin typeface="+mn-ea"/>
                        <a:ea typeface="+mn-ea"/>
                      </a:endParaRPr>
                    </a:p>
                  </a:txBody>
                  <a:tcPr marL="72000" marR="72000" marT="17907" marB="17907" anchor="ctr"/>
                </a:tc>
                <a:tc>
                  <a:txBody>
                    <a:bodyPr/>
                    <a:lstStyle/>
                    <a:p>
                      <a:pPr marL="91440" marR="17780" indent="-91440" algn="just" fontAlgn="base" latinLnBrk="1">
                        <a:lnSpc>
                          <a:spcPct val="130000"/>
                        </a:lnSpc>
                        <a:spcBef>
                          <a:spcPts val="0"/>
                        </a:spcBef>
                        <a:spcAft>
                          <a:spcPts val="0"/>
                        </a:spcAft>
                      </a:pPr>
                      <a:r>
                        <a:rPr lang="ko-KR" altLang="en-US" sz="1100" kern="0" spc="-50" dirty="0">
                          <a:effectLst/>
                        </a:rPr>
                        <a:t>▪직접침해</a:t>
                      </a:r>
                      <a:endParaRPr lang="ko-KR" altLang="en-US" sz="1100" kern="0" spc="-50" dirty="0">
                        <a:solidFill>
                          <a:srgbClr val="000000"/>
                        </a:solidFill>
                        <a:effectLst/>
                        <a:latin typeface="+mn-ea"/>
                        <a:ea typeface="+mn-ea"/>
                      </a:endParaRPr>
                    </a:p>
                  </a:txBody>
                  <a:tcPr marL="72000" marR="72000" marT="17907" marB="17907" anchor="ctr"/>
                </a:tc>
                <a:extLst>
                  <a:ext uri="{0D108BD9-81ED-4DB2-BD59-A6C34878D82A}">
                    <a16:rowId xmlns:a16="http://schemas.microsoft.com/office/drawing/2014/main" val="1476621320"/>
                  </a:ext>
                </a:extLst>
              </a:tr>
            </a:tbl>
          </a:graphicData>
        </a:graphic>
      </p:graphicFrame>
      <p:sp>
        <p:nvSpPr>
          <p:cNvPr id="6" name="타원 5">
            <a:extLst>
              <a:ext uri="{FF2B5EF4-FFF2-40B4-BE49-F238E27FC236}">
                <a16:creationId xmlns:a16="http://schemas.microsoft.com/office/drawing/2014/main" id="{5F4BEE1D-DF3A-E7F5-A3FD-151C77E7DD38}"/>
              </a:ext>
            </a:extLst>
          </p:cNvPr>
          <p:cNvSpPr/>
          <p:nvPr/>
        </p:nvSpPr>
        <p:spPr>
          <a:xfrm>
            <a:off x="633507" y="1214420"/>
            <a:ext cx="1866900" cy="1353359"/>
          </a:xfrm>
          <a:prstGeom prst="ellipse">
            <a:avLst/>
          </a:prstGeom>
          <a:noFill/>
          <a:ln w="127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타원 7">
            <a:extLst>
              <a:ext uri="{FF2B5EF4-FFF2-40B4-BE49-F238E27FC236}">
                <a16:creationId xmlns:a16="http://schemas.microsoft.com/office/drawing/2014/main" id="{974FF6EA-B3BE-3F59-BE4A-651A805B73B3}"/>
              </a:ext>
            </a:extLst>
          </p:cNvPr>
          <p:cNvSpPr/>
          <p:nvPr/>
        </p:nvSpPr>
        <p:spPr>
          <a:xfrm>
            <a:off x="1848415" y="1204309"/>
            <a:ext cx="1866900" cy="1363470"/>
          </a:xfrm>
          <a:prstGeom prst="ellipse">
            <a:avLst/>
          </a:prstGeom>
          <a:noFill/>
          <a:ln w="127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직사각형 8">
            <a:extLst>
              <a:ext uri="{FF2B5EF4-FFF2-40B4-BE49-F238E27FC236}">
                <a16:creationId xmlns:a16="http://schemas.microsoft.com/office/drawing/2014/main" id="{2BF83F9C-DDFC-39B4-D7B7-D84DF2929E9E}"/>
              </a:ext>
            </a:extLst>
          </p:cNvPr>
          <p:cNvSpPr/>
          <p:nvPr/>
        </p:nvSpPr>
        <p:spPr>
          <a:xfrm>
            <a:off x="1144021" y="1050579"/>
            <a:ext cx="568236" cy="317571"/>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A</a:t>
            </a:r>
            <a:endParaRPr lang="ko-KR" altLang="en-US" sz="1400" dirty="0"/>
          </a:p>
        </p:txBody>
      </p:sp>
      <p:sp>
        <p:nvSpPr>
          <p:cNvPr id="10" name="직사각형 9">
            <a:extLst>
              <a:ext uri="{FF2B5EF4-FFF2-40B4-BE49-F238E27FC236}">
                <a16:creationId xmlns:a16="http://schemas.microsoft.com/office/drawing/2014/main" id="{53A907FB-1BFE-E969-0995-43E6BB653FD9}"/>
              </a:ext>
            </a:extLst>
          </p:cNvPr>
          <p:cNvSpPr/>
          <p:nvPr/>
        </p:nvSpPr>
        <p:spPr>
          <a:xfrm>
            <a:off x="2222771" y="1034232"/>
            <a:ext cx="1168400" cy="312871"/>
          </a:xfrm>
          <a:prstGeom prst="rect">
            <a:avLst/>
          </a:prstGeom>
          <a:solidFill>
            <a:schemeClr val="accent4"/>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A</a:t>
            </a:r>
            <a:r>
              <a:rPr lang="ko-KR" altLang="en-US" sz="1400" dirty="0"/>
              <a:t>의 제조장치</a:t>
            </a:r>
          </a:p>
        </p:txBody>
      </p:sp>
      <p:sp>
        <p:nvSpPr>
          <p:cNvPr id="11" name="타원 10">
            <a:extLst>
              <a:ext uri="{FF2B5EF4-FFF2-40B4-BE49-F238E27FC236}">
                <a16:creationId xmlns:a16="http://schemas.microsoft.com/office/drawing/2014/main" id="{8D4AE004-4AEE-6996-E74D-BA7E2AE5D1E5}"/>
              </a:ext>
            </a:extLst>
          </p:cNvPr>
          <p:cNvSpPr/>
          <p:nvPr/>
        </p:nvSpPr>
        <p:spPr>
          <a:xfrm>
            <a:off x="792725" y="1515484"/>
            <a:ext cx="351296" cy="317571"/>
          </a:xfrm>
          <a:prstGeom prst="ellipse">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사용</a:t>
            </a:r>
          </a:p>
        </p:txBody>
      </p:sp>
      <p:sp>
        <p:nvSpPr>
          <p:cNvPr id="13" name="타원 12">
            <a:extLst>
              <a:ext uri="{FF2B5EF4-FFF2-40B4-BE49-F238E27FC236}">
                <a16:creationId xmlns:a16="http://schemas.microsoft.com/office/drawing/2014/main" id="{5F5B48A2-0F1A-AA5D-F5B3-53349024CBFA}"/>
              </a:ext>
            </a:extLst>
          </p:cNvPr>
          <p:cNvSpPr/>
          <p:nvPr/>
        </p:nvSpPr>
        <p:spPr>
          <a:xfrm>
            <a:off x="1979253" y="1541632"/>
            <a:ext cx="351296" cy="317571"/>
          </a:xfrm>
          <a:prstGeom prst="ellipse">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생산</a:t>
            </a:r>
          </a:p>
        </p:txBody>
      </p:sp>
      <p:sp>
        <p:nvSpPr>
          <p:cNvPr id="14" name="타원 13">
            <a:extLst>
              <a:ext uri="{FF2B5EF4-FFF2-40B4-BE49-F238E27FC236}">
                <a16:creationId xmlns:a16="http://schemas.microsoft.com/office/drawing/2014/main" id="{B31E8DB1-3568-0D43-1BD6-C76D5D98F5AA}"/>
              </a:ext>
            </a:extLst>
          </p:cNvPr>
          <p:cNvSpPr/>
          <p:nvPr/>
        </p:nvSpPr>
        <p:spPr>
          <a:xfrm>
            <a:off x="1215661" y="1452729"/>
            <a:ext cx="351296" cy="317571"/>
          </a:xfrm>
          <a:prstGeom prst="ellipse">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양도</a:t>
            </a:r>
          </a:p>
        </p:txBody>
      </p:sp>
      <p:sp>
        <p:nvSpPr>
          <p:cNvPr id="15" name="타원 14">
            <a:extLst>
              <a:ext uri="{FF2B5EF4-FFF2-40B4-BE49-F238E27FC236}">
                <a16:creationId xmlns:a16="http://schemas.microsoft.com/office/drawing/2014/main" id="{439C3C14-5690-96B6-B096-E5F03151EE61}"/>
              </a:ext>
            </a:extLst>
          </p:cNvPr>
          <p:cNvSpPr/>
          <p:nvPr/>
        </p:nvSpPr>
        <p:spPr>
          <a:xfrm>
            <a:off x="860793" y="1955466"/>
            <a:ext cx="351296" cy="317571"/>
          </a:xfrm>
          <a:prstGeom prst="ellipse">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대여</a:t>
            </a:r>
          </a:p>
        </p:txBody>
      </p:sp>
      <p:sp>
        <p:nvSpPr>
          <p:cNvPr id="16" name="타원 15">
            <a:extLst>
              <a:ext uri="{FF2B5EF4-FFF2-40B4-BE49-F238E27FC236}">
                <a16:creationId xmlns:a16="http://schemas.microsoft.com/office/drawing/2014/main" id="{2EEA389D-F02E-5230-DC69-E0D1154BDACD}"/>
              </a:ext>
            </a:extLst>
          </p:cNvPr>
          <p:cNvSpPr/>
          <p:nvPr/>
        </p:nvSpPr>
        <p:spPr>
          <a:xfrm>
            <a:off x="1434404" y="1793285"/>
            <a:ext cx="351296" cy="317571"/>
          </a:xfrm>
          <a:prstGeom prst="ellipse">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수입</a:t>
            </a:r>
          </a:p>
        </p:txBody>
      </p:sp>
      <p:sp>
        <p:nvSpPr>
          <p:cNvPr id="17" name="타원 16">
            <a:extLst>
              <a:ext uri="{FF2B5EF4-FFF2-40B4-BE49-F238E27FC236}">
                <a16:creationId xmlns:a16="http://schemas.microsoft.com/office/drawing/2014/main" id="{5925B076-1F03-589C-5E64-DA379AE688DC}"/>
              </a:ext>
            </a:extLst>
          </p:cNvPr>
          <p:cNvSpPr/>
          <p:nvPr/>
        </p:nvSpPr>
        <p:spPr>
          <a:xfrm>
            <a:off x="1150202" y="2191425"/>
            <a:ext cx="351296" cy="317571"/>
          </a:xfrm>
          <a:prstGeom prst="ellipse">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청약</a:t>
            </a:r>
          </a:p>
        </p:txBody>
      </p:sp>
      <p:sp>
        <p:nvSpPr>
          <p:cNvPr id="18" name="타원 17">
            <a:extLst>
              <a:ext uri="{FF2B5EF4-FFF2-40B4-BE49-F238E27FC236}">
                <a16:creationId xmlns:a16="http://schemas.microsoft.com/office/drawing/2014/main" id="{E69FFD21-5BE3-085D-E201-C3BAC208F913}"/>
              </a:ext>
            </a:extLst>
          </p:cNvPr>
          <p:cNvSpPr/>
          <p:nvPr/>
        </p:nvSpPr>
        <p:spPr>
          <a:xfrm>
            <a:off x="2000495" y="1963720"/>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a:t>
            </a:r>
            <a:endParaRPr lang="en-US" altLang="ko-KR" sz="1000" dirty="0">
              <a:solidFill>
                <a:schemeClr val="tx1"/>
              </a:solidFill>
            </a:endParaRPr>
          </a:p>
          <a:p>
            <a:pPr algn="ctr"/>
            <a:r>
              <a:rPr lang="ko-KR" altLang="en-US" sz="1000" dirty="0">
                <a:solidFill>
                  <a:schemeClr val="tx1"/>
                </a:solidFill>
              </a:rPr>
              <a:t>사용</a:t>
            </a:r>
          </a:p>
        </p:txBody>
      </p:sp>
      <p:sp>
        <p:nvSpPr>
          <p:cNvPr id="19" name="타원 18">
            <a:extLst>
              <a:ext uri="{FF2B5EF4-FFF2-40B4-BE49-F238E27FC236}">
                <a16:creationId xmlns:a16="http://schemas.microsoft.com/office/drawing/2014/main" id="{6ECDAA64-F2F9-3297-D03A-9832452B8F18}"/>
              </a:ext>
            </a:extLst>
          </p:cNvPr>
          <p:cNvSpPr/>
          <p:nvPr/>
        </p:nvSpPr>
        <p:spPr>
          <a:xfrm>
            <a:off x="2483977" y="1417686"/>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a:t>
            </a:r>
            <a:endParaRPr lang="en-US" altLang="ko-KR" sz="1000" dirty="0">
              <a:solidFill>
                <a:schemeClr val="tx1"/>
              </a:solidFill>
            </a:endParaRPr>
          </a:p>
          <a:p>
            <a:pPr algn="ctr"/>
            <a:r>
              <a:rPr lang="ko-KR" altLang="en-US" sz="1000" dirty="0">
                <a:solidFill>
                  <a:schemeClr val="tx1"/>
                </a:solidFill>
              </a:rPr>
              <a:t>생산</a:t>
            </a:r>
          </a:p>
        </p:txBody>
      </p:sp>
      <p:sp>
        <p:nvSpPr>
          <p:cNvPr id="20" name="타원 19">
            <a:extLst>
              <a:ext uri="{FF2B5EF4-FFF2-40B4-BE49-F238E27FC236}">
                <a16:creationId xmlns:a16="http://schemas.microsoft.com/office/drawing/2014/main" id="{9B9CD10F-F636-26D3-A95D-9EBCA62772D5}"/>
              </a:ext>
            </a:extLst>
          </p:cNvPr>
          <p:cNvSpPr/>
          <p:nvPr/>
        </p:nvSpPr>
        <p:spPr>
          <a:xfrm>
            <a:off x="2906913" y="1401270"/>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a:t>
            </a:r>
            <a:endParaRPr lang="en-US" altLang="ko-KR" sz="1000" dirty="0">
              <a:solidFill>
                <a:schemeClr val="tx1"/>
              </a:solidFill>
            </a:endParaRPr>
          </a:p>
          <a:p>
            <a:pPr algn="ctr"/>
            <a:r>
              <a:rPr lang="ko-KR" altLang="en-US" sz="1000" dirty="0">
                <a:solidFill>
                  <a:schemeClr val="tx1"/>
                </a:solidFill>
              </a:rPr>
              <a:t>양도</a:t>
            </a:r>
          </a:p>
        </p:txBody>
      </p:sp>
      <p:sp>
        <p:nvSpPr>
          <p:cNvPr id="21" name="타원 20">
            <a:extLst>
              <a:ext uri="{FF2B5EF4-FFF2-40B4-BE49-F238E27FC236}">
                <a16:creationId xmlns:a16="http://schemas.microsoft.com/office/drawing/2014/main" id="{498BC20C-C31D-E050-988F-AFB331E5D0C3}"/>
              </a:ext>
            </a:extLst>
          </p:cNvPr>
          <p:cNvSpPr/>
          <p:nvPr/>
        </p:nvSpPr>
        <p:spPr>
          <a:xfrm>
            <a:off x="2543084" y="1841252"/>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a:t>
            </a:r>
            <a:endParaRPr lang="en-US" altLang="ko-KR" sz="1000" dirty="0">
              <a:solidFill>
                <a:schemeClr val="tx1"/>
              </a:solidFill>
            </a:endParaRPr>
          </a:p>
          <a:p>
            <a:pPr algn="ctr"/>
            <a:r>
              <a:rPr lang="ko-KR" altLang="en-US" sz="1000" dirty="0">
                <a:solidFill>
                  <a:schemeClr val="tx1"/>
                </a:solidFill>
              </a:rPr>
              <a:t>대여</a:t>
            </a:r>
          </a:p>
        </p:txBody>
      </p:sp>
      <p:sp>
        <p:nvSpPr>
          <p:cNvPr id="22" name="타원 21">
            <a:extLst>
              <a:ext uri="{FF2B5EF4-FFF2-40B4-BE49-F238E27FC236}">
                <a16:creationId xmlns:a16="http://schemas.microsoft.com/office/drawing/2014/main" id="{AECCEB13-632D-7660-E8CC-38D7009335D1}"/>
              </a:ext>
            </a:extLst>
          </p:cNvPr>
          <p:cNvSpPr/>
          <p:nvPr/>
        </p:nvSpPr>
        <p:spPr>
          <a:xfrm>
            <a:off x="2948093" y="2137087"/>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a:t>
            </a:r>
            <a:endParaRPr lang="en-US" altLang="ko-KR" sz="1000" dirty="0">
              <a:solidFill>
                <a:schemeClr val="tx1"/>
              </a:solidFill>
            </a:endParaRPr>
          </a:p>
          <a:p>
            <a:pPr algn="ctr"/>
            <a:r>
              <a:rPr lang="ko-KR" altLang="en-US" sz="1000" dirty="0">
                <a:solidFill>
                  <a:schemeClr val="tx1"/>
                </a:solidFill>
              </a:rPr>
              <a:t>수입</a:t>
            </a:r>
          </a:p>
        </p:txBody>
      </p:sp>
      <p:sp>
        <p:nvSpPr>
          <p:cNvPr id="23" name="타원 22">
            <a:extLst>
              <a:ext uri="{FF2B5EF4-FFF2-40B4-BE49-F238E27FC236}">
                <a16:creationId xmlns:a16="http://schemas.microsoft.com/office/drawing/2014/main" id="{58AAB080-25AE-AC6C-F433-19EDEF6F09D2}"/>
              </a:ext>
            </a:extLst>
          </p:cNvPr>
          <p:cNvSpPr/>
          <p:nvPr/>
        </p:nvSpPr>
        <p:spPr>
          <a:xfrm>
            <a:off x="2560537" y="2212187"/>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a:t>
            </a:r>
            <a:endParaRPr lang="en-US" altLang="ko-KR" sz="1000" dirty="0">
              <a:solidFill>
                <a:schemeClr val="tx1"/>
              </a:solidFill>
            </a:endParaRPr>
          </a:p>
          <a:p>
            <a:pPr algn="ctr"/>
            <a:r>
              <a:rPr lang="ko-KR" altLang="en-US" sz="1000" dirty="0">
                <a:solidFill>
                  <a:schemeClr val="tx1"/>
                </a:solidFill>
              </a:rPr>
              <a:t>청약</a:t>
            </a:r>
          </a:p>
        </p:txBody>
      </p:sp>
      <p:sp>
        <p:nvSpPr>
          <p:cNvPr id="24" name="타원 23">
            <a:extLst>
              <a:ext uri="{FF2B5EF4-FFF2-40B4-BE49-F238E27FC236}">
                <a16:creationId xmlns:a16="http://schemas.microsoft.com/office/drawing/2014/main" id="{3DD3129E-1321-0B42-9920-4587BD21CF33}"/>
              </a:ext>
            </a:extLst>
          </p:cNvPr>
          <p:cNvSpPr/>
          <p:nvPr/>
        </p:nvSpPr>
        <p:spPr>
          <a:xfrm>
            <a:off x="4244061" y="1214420"/>
            <a:ext cx="1866900" cy="1353359"/>
          </a:xfrm>
          <a:prstGeom prst="ellipse">
            <a:avLst/>
          </a:prstGeom>
          <a:noFill/>
          <a:ln w="127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타원 24">
            <a:extLst>
              <a:ext uri="{FF2B5EF4-FFF2-40B4-BE49-F238E27FC236}">
                <a16:creationId xmlns:a16="http://schemas.microsoft.com/office/drawing/2014/main" id="{4BE89728-0329-EC0A-C4F8-1D0F59DBDDA8}"/>
              </a:ext>
            </a:extLst>
          </p:cNvPr>
          <p:cNvSpPr/>
          <p:nvPr/>
        </p:nvSpPr>
        <p:spPr>
          <a:xfrm>
            <a:off x="5458969" y="1204309"/>
            <a:ext cx="1866900" cy="1363470"/>
          </a:xfrm>
          <a:prstGeom prst="ellipse">
            <a:avLst/>
          </a:prstGeom>
          <a:noFill/>
          <a:ln w="127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6" name="직사각형 25">
            <a:extLst>
              <a:ext uri="{FF2B5EF4-FFF2-40B4-BE49-F238E27FC236}">
                <a16:creationId xmlns:a16="http://schemas.microsoft.com/office/drawing/2014/main" id="{022B5011-905F-32E4-A211-61259AFCD805}"/>
              </a:ext>
            </a:extLst>
          </p:cNvPr>
          <p:cNvSpPr/>
          <p:nvPr/>
        </p:nvSpPr>
        <p:spPr>
          <a:xfrm>
            <a:off x="4465556" y="1050579"/>
            <a:ext cx="1182134" cy="317571"/>
          </a:xfrm>
          <a:prstGeom prst="rect">
            <a:avLst/>
          </a:prstGeom>
          <a:solidFill>
            <a:schemeClr val="bg2">
              <a:lumMod val="25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A</a:t>
            </a:r>
            <a:r>
              <a:rPr lang="ko-KR" altLang="en-US" sz="1400" dirty="0"/>
              <a:t>의 제조방법</a:t>
            </a:r>
          </a:p>
        </p:txBody>
      </p:sp>
      <p:sp>
        <p:nvSpPr>
          <p:cNvPr id="27" name="직사각형 26">
            <a:extLst>
              <a:ext uri="{FF2B5EF4-FFF2-40B4-BE49-F238E27FC236}">
                <a16:creationId xmlns:a16="http://schemas.microsoft.com/office/drawing/2014/main" id="{9F24D55D-3D2F-042A-02EE-EC1C2945A02D}"/>
              </a:ext>
            </a:extLst>
          </p:cNvPr>
          <p:cNvSpPr/>
          <p:nvPr/>
        </p:nvSpPr>
        <p:spPr>
          <a:xfrm>
            <a:off x="5869185" y="1034232"/>
            <a:ext cx="1168400" cy="312871"/>
          </a:xfrm>
          <a:prstGeom prst="rect">
            <a:avLst/>
          </a:prstGeom>
          <a:solidFill>
            <a:schemeClr val="accent4"/>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A</a:t>
            </a:r>
            <a:r>
              <a:rPr lang="ko-KR" altLang="en-US" sz="1400" dirty="0"/>
              <a:t>의 제조장치</a:t>
            </a:r>
          </a:p>
        </p:txBody>
      </p:sp>
      <p:sp>
        <p:nvSpPr>
          <p:cNvPr id="28" name="타원 27">
            <a:extLst>
              <a:ext uri="{FF2B5EF4-FFF2-40B4-BE49-F238E27FC236}">
                <a16:creationId xmlns:a16="http://schemas.microsoft.com/office/drawing/2014/main" id="{72D8AF68-2322-3D7A-5516-0711B62504A0}"/>
              </a:ext>
            </a:extLst>
          </p:cNvPr>
          <p:cNvSpPr/>
          <p:nvPr/>
        </p:nvSpPr>
        <p:spPr>
          <a:xfrm>
            <a:off x="4403279" y="1515484"/>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사용</a:t>
            </a:r>
          </a:p>
        </p:txBody>
      </p:sp>
      <p:sp>
        <p:nvSpPr>
          <p:cNvPr id="29" name="타원 28">
            <a:extLst>
              <a:ext uri="{FF2B5EF4-FFF2-40B4-BE49-F238E27FC236}">
                <a16:creationId xmlns:a16="http://schemas.microsoft.com/office/drawing/2014/main" id="{505F200D-8DF3-3DAF-B705-590ABFD232A2}"/>
              </a:ext>
            </a:extLst>
          </p:cNvPr>
          <p:cNvSpPr/>
          <p:nvPr/>
        </p:nvSpPr>
        <p:spPr>
          <a:xfrm>
            <a:off x="5589807" y="1541632"/>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제법</a:t>
            </a:r>
            <a:endParaRPr lang="en-US" altLang="ko-KR" sz="1000" dirty="0">
              <a:solidFill>
                <a:schemeClr val="tx1"/>
              </a:solidFill>
            </a:endParaRPr>
          </a:p>
          <a:p>
            <a:pPr algn="ctr"/>
            <a:r>
              <a:rPr lang="ko-KR" altLang="en-US" sz="1000" dirty="0">
                <a:solidFill>
                  <a:schemeClr val="tx1"/>
                </a:solidFill>
              </a:rPr>
              <a:t>사용</a:t>
            </a:r>
          </a:p>
        </p:txBody>
      </p:sp>
      <p:sp>
        <p:nvSpPr>
          <p:cNvPr id="30" name="타원 29">
            <a:extLst>
              <a:ext uri="{FF2B5EF4-FFF2-40B4-BE49-F238E27FC236}">
                <a16:creationId xmlns:a16="http://schemas.microsoft.com/office/drawing/2014/main" id="{B080C38C-73C5-7E5C-8D6E-DB418D7CB682}"/>
              </a:ext>
            </a:extLst>
          </p:cNvPr>
          <p:cNvSpPr/>
          <p:nvPr/>
        </p:nvSpPr>
        <p:spPr>
          <a:xfrm>
            <a:off x="4798490" y="1401269"/>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양도</a:t>
            </a:r>
          </a:p>
        </p:txBody>
      </p:sp>
      <p:sp>
        <p:nvSpPr>
          <p:cNvPr id="31" name="타원 30">
            <a:extLst>
              <a:ext uri="{FF2B5EF4-FFF2-40B4-BE49-F238E27FC236}">
                <a16:creationId xmlns:a16="http://schemas.microsoft.com/office/drawing/2014/main" id="{F6CD5F99-D94F-4BDE-A18E-7729AD86D694}"/>
              </a:ext>
            </a:extLst>
          </p:cNvPr>
          <p:cNvSpPr/>
          <p:nvPr/>
        </p:nvSpPr>
        <p:spPr>
          <a:xfrm>
            <a:off x="4336817" y="1897254"/>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대여</a:t>
            </a:r>
          </a:p>
        </p:txBody>
      </p:sp>
      <p:sp>
        <p:nvSpPr>
          <p:cNvPr id="32" name="타원 31">
            <a:extLst>
              <a:ext uri="{FF2B5EF4-FFF2-40B4-BE49-F238E27FC236}">
                <a16:creationId xmlns:a16="http://schemas.microsoft.com/office/drawing/2014/main" id="{0369DA63-8747-9C58-2E9D-188E78F04A99}"/>
              </a:ext>
            </a:extLst>
          </p:cNvPr>
          <p:cNvSpPr/>
          <p:nvPr/>
        </p:nvSpPr>
        <p:spPr>
          <a:xfrm>
            <a:off x="5089758" y="1704557"/>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수입</a:t>
            </a:r>
          </a:p>
        </p:txBody>
      </p:sp>
      <p:sp>
        <p:nvSpPr>
          <p:cNvPr id="33" name="타원 32">
            <a:extLst>
              <a:ext uri="{FF2B5EF4-FFF2-40B4-BE49-F238E27FC236}">
                <a16:creationId xmlns:a16="http://schemas.microsoft.com/office/drawing/2014/main" id="{B3A78661-28A9-909E-D4C8-8E38DE7E1CCC}"/>
              </a:ext>
            </a:extLst>
          </p:cNvPr>
          <p:cNvSpPr/>
          <p:nvPr/>
        </p:nvSpPr>
        <p:spPr>
          <a:xfrm>
            <a:off x="5100535" y="2155681"/>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청약</a:t>
            </a:r>
          </a:p>
        </p:txBody>
      </p:sp>
      <p:sp>
        <p:nvSpPr>
          <p:cNvPr id="34" name="타원 33">
            <a:extLst>
              <a:ext uri="{FF2B5EF4-FFF2-40B4-BE49-F238E27FC236}">
                <a16:creationId xmlns:a16="http://schemas.microsoft.com/office/drawing/2014/main" id="{2DA2941C-7A95-7216-D176-58F1556742F4}"/>
              </a:ext>
            </a:extLst>
          </p:cNvPr>
          <p:cNvSpPr/>
          <p:nvPr/>
        </p:nvSpPr>
        <p:spPr>
          <a:xfrm>
            <a:off x="5611049" y="1963720"/>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a:t>
            </a:r>
            <a:endParaRPr lang="en-US" altLang="ko-KR" sz="1000" dirty="0">
              <a:solidFill>
                <a:schemeClr val="tx1"/>
              </a:solidFill>
            </a:endParaRPr>
          </a:p>
          <a:p>
            <a:pPr algn="ctr"/>
            <a:r>
              <a:rPr lang="ko-KR" altLang="en-US" sz="1000" dirty="0">
                <a:solidFill>
                  <a:schemeClr val="tx1"/>
                </a:solidFill>
              </a:rPr>
              <a:t>사용</a:t>
            </a:r>
          </a:p>
        </p:txBody>
      </p:sp>
      <p:sp>
        <p:nvSpPr>
          <p:cNvPr id="35" name="타원 34">
            <a:extLst>
              <a:ext uri="{FF2B5EF4-FFF2-40B4-BE49-F238E27FC236}">
                <a16:creationId xmlns:a16="http://schemas.microsoft.com/office/drawing/2014/main" id="{06B24D76-82FE-D3CC-4C60-B5C3CCF10ACF}"/>
              </a:ext>
            </a:extLst>
          </p:cNvPr>
          <p:cNvSpPr/>
          <p:nvPr/>
        </p:nvSpPr>
        <p:spPr>
          <a:xfrm>
            <a:off x="6094531" y="1417686"/>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 생산</a:t>
            </a:r>
          </a:p>
        </p:txBody>
      </p:sp>
      <p:sp>
        <p:nvSpPr>
          <p:cNvPr id="36" name="타원 35">
            <a:extLst>
              <a:ext uri="{FF2B5EF4-FFF2-40B4-BE49-F238E27FC236}">
                <a16:creationId xmlns:a16="http://schemas.microsoft.com/office/drawing/2014/main" id="{50B33438-B9B0-19D2-249F-E1C6833F8BD6}"/>
              </a:ext>
            </a:extLst>
          </p:cNvPr>
          <p:cNvSpPr/>
          <p:nvPr/>
        </p:nvSpPr>
        <p:spPr>
          <a:xfrm>
            <a:off x="6517467" y="1401270"/>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 양도</a:t>
            </a:r>
          </a:p>
        </p:txBody>
      </p:sp>
      <p:sp>
        <p:nvSpPr>
          <p:cNvPr id="37" name="타원 36">
            <a:extLst>
              <a:ext uri="{FF2B5EF4-FFF2-40B4-BE49-F238E27FC236}">
                <a16:creationId xmlns:a16="http://schemas.microsoft.com/office/drawing/2014/main" id="{2D0E46C0-1313-08F1-DBAB-BD7682A39C69}"/>
              </a:ext>
            </a:extLst>
          </p:cNvPr>
          <p:cNvSpPr/>
          <p:nvPr/>
        </p:nvSpPr>
        <p:spPr>
          <a:xfrm>
            <a:off x="6270179" y="1841252"/>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 대여</a:t>
            </a:r>
          </a:p>
        </p:txBody>
      </p:sp>
      <p:sp>
        <p:nvSpPr>
          <p:cNvPr id="39" name="타원 38">
            <a:extLst>
              <a:ext uri="{FF2B5EF4-FFF2-40B4-BE49-F238E27FC236}">
                <a16:creationId xmlns:a16="http://schemas.microsoft.com/office/drawing/2014/main" id="{51876FE3-F431-86E5-0E39-F3C98B930822}"/>
              </a:ext>
            </a:extLst>
          </p:cNvPr>
          <p:cNvSpPr/>
          <p:nvPr/>
        </p:nvSpPr>
        <p:spPr>
          <a:xfrm>
            <a:off x="6314526" y="2212187"/>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 청약</a:t>
            </a:r>
          </a:p>
        </p:txBody>
      </p:sp>
      <p:sp>
        <p:nvSpPr>
          <p:cNvPr id="40" name="타원 39">
            <a:extLst>
              <a:ext uri="{FF2B5EF4-FFF2-40B4-BE49-F238E27FC236}">
                <a16:creationId xmlns:a16="http://schemas.microsoft.com/office/drawing/2014/main" id="{1E0DB26D-9763-7501-E300-C6773E1610DD}"/>
              </a:ext>
            </a:extLst>
          </p:cNvPr>
          <p:cNvSpPr/>
          <p:nvPr/>
        </p:nvSpPr>
        <p:spPr>
          <a:xfrm>
            <a:off x="4723588" y="1805473"/>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제법</a:t>
            </a:r>
            <a:endParaRPr lang="en-US" altLang="ko-KR" sz="1000" dirty="0">
              <a:solidFill>
                <a:schemeClr val="tx1"/>
              </a:solidFill>
            </a:endParaRPr>
          </a:p>
          <a:p>
            <a:pPr algn="ctr"/>
            <a:r>
              <a:rPr lang="ko-KR" altLang="en-US" sz="1000" dirty="0">
                <a:solidFill>
                  <a:schemeClr val="tx1"/>
                </a:solidFill>
              </a:rPr>
              <a:t>청약</a:t>
            </a:r>
            <a:endParaRPr lang="en-US" altLang="ko-KR" sz="1000" dirty="0">
              <a:solidFill>
                <a:schemeClr val="tx1"/>
              </a:solidFill>
            </a:endParaRPr>
          </a:p>
          <a:p>
            <a:pPr algn="ctr"/>
            <a:r>
              <a:rPr lang="en-US" altLang="ko-KR" sz="700" dirty="0">
                <a:solidFill>
                  <a:schemeClr val="tx1"/>
                </a:solidFill>
              </a:rPr>
              <a:t>(</a:t>
            </a:r>
            <a:r>
              <a:rPr lang="ko-KR" altLang="en-US" sz="700" dirty="0">
                <a:solidFill>
                  <a:schemeClr val="tx1"/>
                </a:solidFill>
              </a:rPr>
              <a:t>사용</a:t>
            </a:r>
            <a:r>
              <a:rPr lang="en-US" altLang="ko-KR" sz="700" dirty="0">
                <a:solidFill>
                  <a:schemeClr val="tx1"/>
                </a:solidFill>
              </a:rPr>
              <a:t>)</a:t>
            </a:r>
            <a:endParaRPr lang="ko-KR" altLang="en-US" sz="700" dirty="0">
              <a:solidFill>
                <a:schemeClr val="tx1"/>
              </a:solidFill>
            </a:endParaRPr>
          </a:p>
        </p:txBody>
      </p:sp>
      <p:sp>
        <p:nvSpPr>
          <p:cNvPr id="41" name="타원 40">
            <a:extLst>
              <a:ext uri="{FF2B5EF4-FFF2-40B4-BE49-F238E27FC236}">
                <a16:creationId xmlns:a16="http://schemas.microsoft.com/office/drawing/2014/main" id="{D910BD56-15FE-ECF3-856D-4EC97150B97A}"/>
              </a:ext>
            </a:extLst>
          </p:cNvPr>
          <p:cNvSpPr/>
          <p:nvPr/>
        </p:nvSpPr>
        <p:spPr>
          <a:xfrm>
            <a:off x="7735325" y="1214420"/>
            <a:ext cx="2456180" cy="1353359"/>
          </a:xfrm>
          <a:prstGeom prst="ellipse">
            <a:avLst/>
          </a:prstGeom>
          <a:noFill/>
          <a:ln w="127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2" name="타원 41">
            <a:extLst>
              <a:ext uri="{FF2B5EF4-FFF2-40B4-BE49-F238E27FC236}">
                <a16:creationId xmlns:a16="http://schemas.microsoft.com/office/drawing/2014/main" id="{DCF9F7BA-E2CB-CE49-06A6-52EB57C32E0D}"/>
              </a:ext>
            </a:extLst>
          </p:cNvPr>
          <p:cNvSpPr/>
          <p:nvPr/>
        </p:nvSpPr>
        <p:spPr>
          <a:xfrm>
            <a:off x="8125704" y="1204309"/>
            <a:ext cx="2691429" cy="1363470"/>
          </a:xfrm>
          <a:prstGeom prst="ellipse">
            <a:avLst/>
          </a:prstGeom>
          <a:noFill/>
          <a:ln w="127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직사각형 42">
            <a:extLst>
              <a:ext uri="{FF2B5EF4-FFF2-40B4-BE49-F238E27FC236}">
                <a16:creationId xmlns:a16="http://schemas.microsoft.com/office/drawing/2014/main" id="{BC12E138-075F-42EC-CC77-422063EFBB9D}"/>
              </a:ext>
            </a:extLst>
          </p:cNvPr>
          <p:cNvSpPr/>
          <p:nvPr/>
        </p:nvSpPr>
        <p:spPr>
          <a:xfrm>
            <a:off x="8036289" y="1050579"/>
            <a:ext cx="568236" cy="317571"/>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A</a:t>
            </a:r>
            <a:endParaRPr lang="ko-KR" altLang="en-US" sz="1400" dirty="0"/>
          </a:p>
        </p:txBody>
      </p:sp>
      <p:sp>
        <p:nvSpPr>
          <p:cNvPr id="44" name="직사각형 43">
            <a:extLst>
              <a:ext uri="{FF2B5EF4-FFF2-40B4-BE49-F238E27FC236}">
                <a16:creationId xmlns:a16="http://schemas.microsoft.com/office/drawing/2014/main" id="{17CC6427-4B11-7009-43F7-64E4A53A667E}"/>
              </a:ext>
            </a:extLst>
          </p:cNvPr>
          <p:cNvSpPr/>
          <p:nvPr/>
        </p:nvSpPr>
        <p:spPr>
          <a:xfrm>
            <a:off x="9324589" y="1034232"/>
            <a:ext cx="1168400" cy="312871"/>
          </a:xfrm>
          <a:prstGeom prst="rect">
            <a:avLst/>
          </a:prstGeom>
          <a:solidFill>
            <a:schemeClr val="bg2">
              <a:lumMod val="25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A</a:t>
            </a:r>
            <a:r>
              <a:rPr lang="ko-KR" altLang="en-US" sz="1400" dirty="0"/>
              <a:t>의 제조방법</a:t>
            </a:r>
          </a:p>
        </p:txBody>
      </p:sp>
      <p:sp>
        <p:nvSpPr>
          <p:cNvPr id="52" name="타원 51">
            <a:extLst>
              <a:ext uri="{FF2B5EF4-FFF2-40B4-BE49-F238E27FC236}">
                <a16:creationId xmlns:a16="http://schemas.microsoft.com/office/drawing/2014/main" id="{0C764D32-25D2-D415-C035-1FBF347B01BC}"/>
              </a:ext>
            </a:extLst>
          </p:cNvPr>
          <p:cNvSpPr/>
          <p:nvPr/>
        </p:nvSpPr>
        <p:spPr>
          <a:xfrm>
            <a:off x="8775827" y="2073047"/>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제법</a:t>
            </a:r>
            <a:endParaRPr lang="en-US" altLang="ko-KR" sz="1000" dirty="0">
              <a:solidFill>
                <a:schemeClr val="tx1"/>
              </a:solidFill>
            </a:endParaRPr>
          </a:p>
          <a:p>
            <a:pPr algn="ctr"/>
            <a:r>
              <a:rPr lang="ko-KR" altLang="en-US" sz="1000" dirty="0">
                <a:solidFill>
                  <a:schemeClr val="tx1"/>
                </a:solidFill>
              </a:rPr>
              <a:t>사용</a:t>
            </a:r>
            <a:endParaRPr lang="en-US" altLang="ko-KR" sz="1000" dirty="0">
              <a:solidFill>
                <a:schemeClr val="tx1"/>
              </a:solidFill>
            </a:endParaRPr>
          </a:p>
          <a:p>
            <a:pPr algn="ctr"/>
            <a:r>
              <a:rPr lang="en-US" altLang="ko-KR" sz="600" dirty="0">
                <a:solidFill>
                  <a:schemeClr val="tx1"/>
                </a:solidFill>
              </a:rPr>
              <a:t>(A</a:t>
            </a:r>
            <a:r>
              <a:rPr lang="ko-KR" altLang="en-US" sz="600" dirty="0">
                <a:solidFill>
                  <a:schemeClr val="tx1"/>
                </a:solidFill>
              </a:rPr>
              <a:t>생산</a:t>
            </a:r>
            <a:r>
              <a:rPr lang="en-US" altLang="ko-KR" sz="600" dirty="0">
                <a:solidFill>
                  <a:schemeClr val="tx1"/>
                </a:solidFill>
              </a:rPr>
              <a:t>)</a:t>
            </a:r>
            <a:endParaRPr lang="ko-KR" altLang="en-US" sz="1000" dirty="0">
              <a:solidFill>
                <a:schemeClr val="tx1"/>
              </a:solidFill>
            </a:endParaRPr>
          </a:p>
        </p:txBody>
      </p:sp>
      <p:sp>
        <p:nvSpPr>
          <p:cNvPr id="53" name="타원 52">
            <a:extLst>
              <a:ext uri="{FF2B5EF4-FFF2-40B4-BE49-F238E27FC236}">
                <a16:creationId xmlns:a16="http://schemas.microsoft.com/office/drawing/2014/main" id="{D0535D56-E0E5-DC2C-5B18-5C1C113666F0}"/>
              </a:ext>
            </a:extLst>
          </p:cNvPr>
          <p:cNvSpPr/>
          <p:nvPr/>
        </p:nvSpPr>
        <p:spPr>
          <a:xfrm>
            <a:off x="8907154" y="1349505"/>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양도</a:t>
            </a:r>
          </a:p>
        </p:txBody>
      </p:sp>
      <p:sp>
        <p:nvSpPr>
          <p:cNvPr id="54" name="타원 53">
            <a:extLst>
              <a:ext uri="{FF2B5EF4-FFF2-40B4-BE49-F238E27FC236}">
                <a16:creationId xmlns:a16="http://schemas.microsoft.com/office/drawing/2014/main" id="{96DB342F-61C9-D6C6-AF38-9EBC1AE9BAD5}"/>
              </a:ext>
            </a:extLst>
          </p:cNvPr>
          <p:cNvSpPr/>
          <p:nvPr/>
        </p:nvSpPr>
        <p:spPr>
          <a:xfrm>
            <a:off x="9082802" y="1708489"/>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 </a:t>
            </a:r>
          </a:p>
          <a:p>
            <a:pPr algn="ctr"/>
            <a:r>
              <a:rPr lang="ko-KR" altLang="en-US" sz="1000" dirty="0">
                <a:solidFill>
                  <a:schemeClr val="tx1"/>
                </a:solidFill>
              </a:rPr>
              <a:t>대여</a:t>
            </a:r>
          </a:p>
        </p:txBody>
      </p:sp>
      <p:sp>
        <p:nvSpPr>
          <p:cNvPr id="55" name="타원 54">
            <a:extLst>
              <a:ext uri="{FF2B5EF4-FFF2-40B4-BE49-F238E27FC236}">
                <a16:creationId xmlns:a16="http://schemas.microsoft.com/office/drawing/2014/main" id="{48C9AA6D-F53C-354D-2189-151CBC1ADB03}"/>
              </a:ext>
            </a:extLst>
          </p:cNvPr>
          <p:cNvSpPr/>
          <p:nvPr/>
        </p:nvSpPr>
        <p:spPr>
          <a:xfrm>
            <a:off x="9564188" y="1584812"/>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수입</a:t>
            </a:r>
          </a:p>
        </p:txBody>
      </p:sp>
      <p:sp>
        <p:nvSpPr>
          <p:cNvPr id="56" name="타원 55">
            <a:extLst>
              <a:ext uri="{FF2B5EF4-FFF2-40B4-BE49-F238E27FC236}">
                <a16:creationId xmlns:a16="http://schemas.microsoft.com/office/drawing/2014/main" id="{E316CE98-4021-E4A7-F508-C3E2EA9FBA93}"/>
              </a:ext>
            </a:extLst>
          </p:cNvPr>
          <p:cNvSpPr/>
          <p:nvPr/>
        </p:nvSpPr>
        <p:spPr>
          <a:xfrm>
            <a:off x="9149739" y="2144007"/>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청약</a:t>
            </a:r>
          </a:p>
        </p:txBody>
      </p:sp>
      <p:sp>
        <p:nvSpPr>
          <p:cNvPr id="57" name="타원 56">
            <a:extLst>
              <a:ext uri="{FF2B5EF4-FFF2-40B4-BE49-F238E27FC236}">
                <a16:creationId xmlns:a16="http://schemas.microsoft.com/office/drawing/2014/main" id="{A6A5C2FE-57F1-6D1A-6A29-3C1F1F7CA443}"/>
              </a:ext>
            </a:extLst>
          </p:cNvPr>
          <p:cNvSpPr/>
          <p:nvPr/>
        </p:nvSpPr>
        <p:spPr>
          <a:xfrm>
            <a:off x="8447035" y="1667076"/>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 </a:t>
            </a:r>
          </a:p>
          <a:p>
            <a:pPr algn="ctr"/>
            <a:r>
              <a:rPr lang="ko-KR" altLang="en-US" sz="1000" dirty="0">
                <a:solidFill>
                  <a:schemeClr val="tx1"/>
                </a:solidFill>
              </a:rPr>
              <a:t>사용</a:t>
            </a:r>
          </a:p>
        </p:txBody>
      </p:sp>
      <p:sp>
        <p:nvSpPr>
          <p:cNvPr id="58" name="타원 57">
            <a:extLst>
              <a:ext uri="{FF2B5EF4-FFF2-40B4-BE49-F238E27FC236}">
                <a16:creationId xmlns:a16="http://schemas.microsoft.com/office/drawing/2014/main" id="{DD79795D-3729-7EA4-FEFD-D3EA0C7879AA}"/>
              </a:ext>
            </a:extLst>
          </p:cNvPr>
          <p:cNvSpPr/>
          <p:nvPr/>
        </p:nvSpPr>
        <p:spPr>
          <a:xfrm>
            <a:off x="10273849" y="1719780"/>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제법</a:t>
            </a:r>
            <a:endParaRPr lang="en-US" altLang="ko-KR" sz="1000" dirty="0">
              <a:solidFill>
                <a:schemeClr val="tx1"/>
              </a:solidFill>
            </a:endParaRPr>
          </a:p>
          <a:p>
            <a:pPr algn="ctr"/>
            <a:r>
              <a:rPr lang="ko-KR" altLang="en-US" sz="1000" dirty="0">
                <a:solidFill>
                  <a:schemeClr val="tx1"/>
                </a:solidFill>
              </a:rPr>
              <a:t>청약</a:t>
            </a:r>
            <a:endParaRPr lang="en-US" altLang="ko-KR" sz="1000" dirty="0">
              <a:solidFill>
                <a:schemeClr val="tx1"/>
              </a:solidFill>
            </a:endParaRPr>
          </a:p>
          <a:p>
            <a:pPr algn="ctr"/>
            <a:r>
              <a:rPr lang="en-US" altLang="ko-KR" sz="700" dirty="0">
                <a:solidFill>
                  <a:schemeClr val="tx1"/>
                </a:solidFill>
              </a:rPr>
              <a:t>(</a:t>
            </a:r>
            <a:r>
              <a:rPr lang="ko-KR" altLang="en-US" sz="700" dirty="0">
                <a:solidFill>
                  <a:schemeClr val="tx1"/>
                </a:solidFill>
              </a:rPr>
              <a:t>사용</a:t>
            </a:r>
            <a:r>
              <a:rPr lang="en-US" altLang="ko-KR" sz="700" dirty="0">
                <a:solidFill>
                  <a:schemeClr val="tx1"/>
                </a:solidFill>
              </a:rPr>
              <a:t>)</a:t>
            </a:r>
            <a:endParaRPr lang="ko-KR" altLang="en-US" sz="700" dirty="0">
              <a:solidFill>
                <a:schemeClr val="tx1"/>
              </a:solidFill>
            </a:endParaRPr>
          </a:p>
        </p:txBody>
      </p:sp>
      <p:sp>
        <p:nvSpPr>
          <p:cNvPr id="12" name="직사각형 11">
            <a:extLst>
              <a:ext uri="{FF2B5EF4-FFF2-40B4-BE49-F238E27FC236}">
                <a16:creationId xmlns:a16="http://schemas.microsoft.com/office/drawing/2014/main" id="{B8ED2105-B091-B62B-CB4C-3AB4770259DB}"/>
              </a:ext>
            </a:extLst>
          </p:cNvPr>
          <p:cNvSpPr/>
          <p:nvPr/>
        </p:nvSpPr>
        <p:spPr>
          <a:xfrm>
            <a:off x="5458969" y="1417686"/>
            <a:ext cx="637031" cy="961834"/>
          </a:xfrm>
          <a:prstGeom prst="rect">
            <a:avLst/>
          </a:prstGeom>
          <a:noFill/>
          <a:ln w="28575">
            <a:solidFill>
              <a:srgbClr val="FF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TextBox 44">
            <a:extLst>
              <a:ext uri="{FF2B5EF4-FFF2-40B4-BE49-F238E27FC236}">
                <a16:creationId xmlns:a16="http://schemas.microsoft.com/office/drawing/2014/main" id="{319DE809-5DEA-6E94-FAA6-E5F2C8A13A9E}"/>
              </a:ext>
            </a:extLst>
          </p:cNvPr>
          <p:cNvSpPr txBox="1"/>
          <p:nvPr/>
        </p:nvSpPr>
        <p:spPr>
          <a:xfrm>
            <a:off x="5376625" y="2389234"/>
            <a:ext cx="809837" cy="369332"/>
          </a:xfrm>
          <a:prstGeom prst="rect">
            <a:avLst/>
          </a:prstGeom>
          <a:noFill/>
        </p:spPr>
        <p:txBody>
          <a:bodyPr wrap="none" rtlCol="0">
            <a:spAutoFit/>
          </a:bodyPr>
          <a:lstStyle/>
          <a:p>
            <a:r>
              <a:rPr lang="ko-KR" altLang="en-US" dirty="0">
                <a:solidFill>
                  <a:srgbClr val="FF0000"/>
                </a:solidFill>
              </a:rPr>
              <a:t>임의적</a:t>
            </a:r>
          </a:p>
        </p:txBody>
      </p:sp>
      <p:sp>
        <p:nvSpPr>
          <p:cNvPr id="46" name="타원 45">
            <a:extLst>
              <a:ext uri="{FF2B5EF4-FFF2-40B4-BE49-F238E27FC236}">
                <a16:creationId xmlns:a16="http://schemas.microsoft.com/office/drawing/2014/main" id="{6B74406E-8D4E-FC10-1C8C-502C87A43EF1}"/>
              </a:ext>
            </a:extLst>
          </p:cNvPr>
          <p:cNvSpPr/>
          <p:nvPr/>
        </p:nvSpPr>
        <p:spPr>
          <a:xfrm>
            <a:off x="1559006" y="2186612"/>
            <a:ext cx="351296" cy="317571"/>
          </a:xfrm>
          <a:prstGeom prst="ellipse">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수출</a:t>
            </a:r>
          </a:p>
        </p:txBody>
      </p:sp>
      <p:sp>
        <p:nvSpPr>
          <p:cNvPr id="47" name="타원 46">
            <a:extLst>
              <a:ext uri="{FF2B5EF4-FFF2-40B4-BE49-F238E27FC236}">
                <a16:creationId xmlns:a16="http://schemas.microsoft.com/office/drawing/2014/main" id="{97904266-32A3-8B50-A68E-99988DB95911}"/>
              </a:ext>
            </a:extLst>
          </p:cNvPr>
          <p:cNvSpPr/>
          <p:nvPr/>
        </p:nvSpPr>
        <p:spPr>
          <a:xfrm>
            <a:off x="3179460" y="1769795"/>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a:t>
            </a:r>
            <a:endParaRPr lang="en-US" altLang="ko-KR" sz="1000" dirty="0">
              <a:solidFill>
                <a:schemeClr val="tx1"/>
              </a:solidFill>
            </a:endParaRPr>
          </a:p>
          <a:p>
            <a:pPr algn="ctr"/>
            <a:r>
              <a:rPr lang="ko-KR" altLang="en-US" sz="1000" dirty="0">
                <a:solidFill>
                  <a:schemeClr val="tx1"/>
                </a:solidFill>
              </a:rPr>
              <a:t>수출</a:t>
            </a:r>
          </a:p>
        </p:txBody>
      </p:sp>
      <p:sp>
        <p:nvSpPr>
          <p:cNvPr id="48" name="타원 47">
            <a:extLst>
              <a:ext uri="{FF2B5EF4-FFF2-40B4-BE49-F238E27FC236}">
                <a16:creationId xmlns:a16="http://schemas.microsoft.com/office/drawing/2014/main" id="{5480C275-7DEA-08E3-C09B-66A81CBCFFE4}"/>
              </a:ext>
            </a:extLst>
          </p:cNvPr>
          <p:cNvSpPr/>
          <p:nvPr/>
        </p:nvSpPr>
        <p:spPr>
          <a:xfrm>
            <a:off x="4721502" y="2186612"/>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수출</a:t>
            </a:r>
          </a:p>
        </p:txBody>
      </p:sp>
      <p:sp>
        <p:nvSpPr>
          <p:cNvPr id="49" name="타원 48">
            <a:extLst>
              <a:ext uri="{FF2B5EF4-FFF2-40B4-BE49-F238E27FC236}">
                <a16:creationId xmlns:a16="http://schemas.microsoft.com/office/drawing/2014/main" id="{90F81EA7-9C74-013B-EE83-F5B6173885B5}"/>
              </a:ext>
            </a:extLst>
          </p:cNvPr>
          <p:cNvSpPr/>
          <p:nvPr/>
        </p:nvSpPr>
        <p:spPr>
          <a:xfrm>
            <a:off x="6686951" y="2083297"/>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a:t>
            </a:r>
            <a:endParaRPr lang="en-US" altLang="ko-KR" sz="1000" dirty="0">
              <a:solidFill>
                <a:schemeClr val="tx1"/>
              </a:solidFill>
            </a:endParaRPr>
          </a:p>
          <a:p>
            <a:pPr algn="ctr"/>
            <a:r>
              <a:rPr lang="ko-KR" altLang="en-US" sz="1000" dirty="0">
                <a:solidFill>
                  <a:schemeClr val="tx1"/>
                </a:solidFill>
              </a:rPr>
              <a:t>수입</a:t>
            </a:r>
          </a:p>
        </p:txBody>
      </p:sp>
      <p:sp>
        <p:nvSpPr>
          <p:cNvPr id="50" name="타원 49">
            <a:extLst>
              <a:ext uri="{FF2B5EF4-FFF2-40B4-BE49-F238E27FC236}">
                <a16:creationId xmlns:a16="http://schemas.microsoft.com/office/drawing/2014/main" id="{ECB340C4-CCA2-0BA5-EE08-1F13AAEEE706}"/>
              </a:ext>
            </a:extLst>
          </p:cNvPr>
          <p:cNvSpPr/>
          <p:nvPr/>
        </p:nvSpPr>
        <p:spPr>
          <a:xfrm>
            <a:off x="6918318" y="1707040"/>
            <a:ext cx="351296" cy="317571"/>
          </a:xfrm>
          <a:prstGeom prst="ellipse">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000" dirty="0">
                <a:solidFill>
                  <a:schemeClr val="tx1"/>
                </a:solidFill>
              </a:rPr>
              <a:t>장치</a:t>
            </a:r>
            <a:endParaRPr lang="en-US" altLang="ko-KR" sz="1000" dirty="0">
              <a:solidFill>
                <a:schemeClr val="tx1"/>
              </a:solidFill>
            </a:endParaRPr>
          </a:p>
          <a:p>
            <a:pPr algn="ctr"/>
            <a:r>
              <a:rPr lang="ko-KR" altLang="en-US" sz="1000" dirty="0">
                <a:solidFill>
                  <a:schemeClr val="tx1"/>
                </a:solidFill>
              </a:rPr>
              <a:t>수출</a:t>
            </a:r>
          </a:p>
        </p:txBody>
      </p:sp>
      <p:sp>
        <p:nvSpPr>
          <p:cNvPr id="51" name="타원 50">
            <a:extLst>
              <a:ext uri="{FF2B5EF4-FFF2-40B4-BE49-F238E27FC236}">
                <a16:creationId xmlns:a16="http://schemas.microsoft.com/office/drawing/2014/main" id="{DFD6D98C-D44D-746A-BA7E-A2462E67B77C}"/>
              </a:ext>
            </a:extLst>
          </p:cNvPr>
          <p:cNvSpPr/>
          <p:nvPr/>
        </p:nvSpPr>
        <p:spPr>
          <a:xfrm>
            <a:off x="9630622" y="1978301"/>
            <a:ext cx="351296" cy="317571"/>
          </a:xfrm>
          <a:prstGeom prst="ellipse">
            <a:avLst/>
          </a:prstGeom>
          <a:solidFill>
            <a:schemeClr val="bg2">
              <a:lumMod val="9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altLang="ko-KR" sz="1000" dirty="0">
                <a:solidFill>
                  <a:schemeClr val="tx1"/>
                </a:solidFill>
              </a:rPr>
              <a:t>A</a:t>
            </a:r>
          </a:p>
          <a:p>
            <a:pPr algn="ctr"/>
            <a:r>
              <a:rPr lang="ko-KR" altLang="en-US" sz="1000" dirty="0">
                <a:solidFill>
                  <a:schemeClr val="tx1"/>
                </a:solidFill>
              </a:rPr>
              <a:t>수출</a:t>
            </a:r>
          </a:p>
        </p:txBody>
      </p:sp>
    </p:spTree>
    <p:extLst>
      <p:ext uri="{BB962C8B-B14F-4D97-AF65-F5344CB8AC3E}">
        <p14:creationId xmlns:p14="http://schemas.microsoft.com/office/powerpoint/2010/main" val="3569644271"/>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sz="2000" dirty="0"/>
              <a:t>제</a:t>
            </a:r>
            <a:r>
              <a:rPr lang="en-US" altLang="ko-KR" sz="2000" dirty="0"/>
              <a:t>126</a:t>
            </a:r>
            <a:r>
              <a:rPr lang="ko-KR" altLang="en-US" sz="2000" dirty="0"/>
              <a:t>조의</a:t>
            </a:r>
            <a:r>
              <a:rPr lang="en-US" altLang="ko-KR" sz="2000" dirty="0"/>
              <a:t>2, </a:t>
            </a:r>
            <a:r>
              <a:rPr lang="ko-KR" altLang="en-US" sz="2000" dirty="0"/>
              <a:t>제</a:t>
            </a:r>
            <a:r>
              <a:rPr lang="en-US" altLang="ko-KR" sz="2000" dirty="0"/>
              <a:t>132</a:t>
            </a:r>
            <a:r>
              <a:rPr lang="ko-KR" altLang="en-US" sz="2000" dirty="0"/>
              <a:t>조</a:t>
            </a:r>
          </a:p>
        </p:txBody>
      </p:sp>
      <p:sp>
        <p:nvSpPr>
          <p:cNvPr id="5" name="텍스트 개체 틀 4"/>
          <p:cNvSpPr>
            <a:spLocks noGrp="1"/>
          </p:cNvSpPr>
          <p:nvPr>
            <p:ph type="body" sz="quarter" idx="13"/>
          </p:nvPr>
        </p:nvSpPr>
        <p:spPr/>
        <p:txBody>
          <a:bodyPr>
            <a:normAutofit/>
          </a:bodyPr>
          <a:lstStyle/>
          <a:p>
            <a:r>
              <a:rPr lang="ko-KR" altLang="en-US" dirty="0"/>
              <a:t>자료의 제출</a:t>
            </a:r>
            <a:r>
              <a:rPr lang="en-US" altLang="ko-KR" dirty="0"/>
              <a:t>, </a:t>
            </a:r>
            <a:r>
              <a:rPr lang="ko-KR" altLang="en-US" dirty="0"/>
              <a:t>구체적 행위의 </a:t>
            </a:r>
            <a:r>
              <a:rPr lang="ko-KR" altLang="en-US" dirty="0" err="1"/>
              <a:t>내용ㆍ방식ㆍ형태</a:t>
            </a:r>
            <a:r>
              <a:rPr lang="ko-KR" altLang="en-US" dirty="0"/>
              <a:t> 제시 의무</a:t>
            </a:r>
          </a:p>
        </p:txBody>
      </p:sp>
      <p:sp>
        <p:nvSpPr>
          <p:cNvPr id="7" name="TextBox 6"/>
          <p:cNvSpPr txBox="1"/>
          <p:nvPr/>
        </p:nvSpPr>
        <p:spPr>
          <a:xfrm>
            <a:off x="77875" y="986046"/>
            <a:ext cx="6037175" cy="3231654"/>
          </a:xfrm>
          <a:prstGeom prst="rect">
            <a:avLst/>
          </a:prstGeom>
          <a:noFill/>
        </p:spPr>
        <p:txBody>
          <a:bodyPr wrap="square" rtlCol="0">
            <a:spAutoFit/>
          </a:bodyPr>
          <a:lstStyle/>
          <a:p>
            <a:r>
              <a:rPr lang="ko-KR" altLang="en-US" sz="1200" b="1" dirty="0">
                <a:solidFill>
                  <a:schemeClr val="accent1"/>
                </a:solidFill>
                <a:latin typeface="+mn-ea"/>
              </a:rPr>
              <a:t>제</a:t>
            </a:r>
            <a:r>
              <a:rPr lang="en-US" altLang="ko-KR" sz="1200" b="1" dirty="0">
                <a:solidFill>
                  <a:schemeClr val="accent1"/>
                </a:solidFill>
                <a:latin typeface="+mn-ea"/>
              </a:rPr>
              <a:t>132</a:t>
            </a:r>
            <a:r>
              <a:rPr lang="ko-KR" altLang="en-US" sz="1200" b="1" dirty="0">
                <a:solidFill>
                  <a:schemeClr val="accent1"/>
                </a:solidFill>
                <a:latin typeface="+mn-ea"/>
              </a:rPr>
              <a:t>조</a:t>
            </a:r>
            <a:r>
              <a:rPr lang="en-US" altLang="ko-KR" sz="1200" b="1" dirty="0">
                <a:solidFill>
                  <a:schemeClr val="accent1"/>
                </a:solidFill>
                <a:latin typeface="+mn-ea"/>
              </a:rPr>
              <a:t>(</a:t>
            </a:r>
            <a:r>
              <a:rPr lang="ko-KR" altLang="en-US" sz="1200" b="1" dirty="0">
                <a:solidFill>
                  <a:schemeClr val="accent1"/>
                </a:solidFill>
                <a:latin typeface="+mn-ea"/>
              </a:rPr>
              <a:t>자료의 제출</a:t>
            </a:r>
            <a:r>
              <a:rPr lang="en-US" altLang="ko-KR" sz="1200" b="1" dirty="0">
                <a:solidFill>
                  <a:schemeClr val="accent1"/>
                </a:solidFill>
                <a:latin typeface="+mn-ea"/>
              </a:rPr>
              <a:t>)</a:t>
            </a:r>
            <a:r>
              <a:rPr lang="ko-KR" altLang="en-US" sz="1200" dirty="0">
                <a:solidFill>
                  <a:schemeClr val="tx2"/>
                </a:solidFill>
                <a:latin typeface="+mn-ea"/>
              </a:rPr>
              <a:t> ① 법원은 특허권 또는 전용실시권 침해소송에서 당사자의 신청에 의하여 상대방 당사자에게 </a:t>
            </a:r>
            <a:r>
              <a:rPr lang="ko-KR" altLang="en-US" sz="1200" dirty="0">
                <a:solidFill>
                  <a:srgbClr val="FF0000"/>
                </a:solidFill>
                <a:latin typeface="+mn-ea"/>
              </a:rPr>
              <a:t>해당 침해의 증명 또는 침해로 인한 손해액의 산정</a:t>
            </a:r>
            <a:r>
              <a:rPr lang="ko-KR" altLang="en-US" sz="1200" dirty="0">
                <a:solidFill>
                  <a:schemeClr val="tx2"/>
                </a:solidFill>
                <a:latin typeface="+mn-ea"/>
              </a:rPr>
              <a:t>에 필요한 자료의 제출을 명할 수 있다</a:t>
            </a:r>
            <a:r>
              <a:rPr lang="en-US" altLang="ko-KR" sz="1200" dirty="0">
                <a:solidFill>
                  <a:schemeClr val="tx2"/>
                </a:solidFill>
                <a:latin typeface="+mn-ea"/>
              </a:rPr>
              <a:t>. </a:t>
            </a:r>
            <a:r>
              <a:rPr lang="ko-KR" altLang="en-US" sz="1200" dirty="0">
                <a:solidFill>
                  <a:schemeClr val="tx2"/>
                </a:solidFill>
                <a:latin typeface="+mn-ea"/>
              </a:rPr>
              <a:t>다만</a:t>
            </a:r>
            <a:r>
              <a:rPr lang="en-US" altLang="ko-KR" sz="1200" dirty="0">
                <a:solidFill>
                  <a:schemeClr val="tx2"/>
                </a:solidFill>
                <a:latin typeface="+mn-ea"/>
              </a:rPr>
              <a:t>, </a:t>
            </a:r>
            <a:r>
              <a:rPr lang="ko-KR" altLang="en-US" sz="1200" dirty="0">
                <a:solidFill>
                  <a:schemeClr val="tx2"/>
                </a:solidFill>
                <a:latin typeface="+mn-ea"/>
              </a:rPr>
              <a:t>그 자료의 소지자가 그 자료의 제출을 거절할 정당한 이유가 있으면 그러하지 아니하다</a:t>
            </a:r>
            <a:r>
              <a:rPr lang="en-US" altLang="ko-KR" sz="1200" dirty="0">
                <a:solidFill>
                  <a:schemeClr val="tx2"/>
                </a:solidFill>
                <a:latin typeface="+mn-ea"/>
              </a:rPr>
              <a:t>.  </a:t>
            </a:r>
            <a:endParaRPr lang="ko-KR" altLang="en-US" sz="1200" dirty="0">
              <a:solidFill>
                <a:schemeClr val="tx2"/>
              </a:solidFill>
              <a:latin typeface="+mn-ea"/>
            </a:endParaRPr>
          </a:p>
          <a:p>
            <a:r>
              <a:rPr lang="ko-KR" altLang="en-US" sz="1200" dirty="0">
                <a:solidFill>
                  <a:schemeClr val="tx2"/>
                </a:solidFill>
                <a:latin typeface="+mn-ea"/>
              </a:rPr>
              <a:t>② 법원은 자료의 소지자가 제</a:t>
            </a:r>
            <a:r>
              <a:rPr lang="en-US" altLang="ko-KR" sz="1200" dirty="0">
                <a:solidFill>
                  <a:schemeClr val="tx2"/>
                </a:solidFill>
                <a:latin typeface="+mn-ea"/>
              </a:rPr>
              <a:t>1</a:t>
            </a:r>
            <a:r>
              <a:rPr lang="ko-KR" altLang="en-US" sz="1200" dirty="0">
                <a:solidFill>
                  <a:schemeClr val="tx2"/>
                </a:solidFill>
                <a:latin typeface="+mn-ea"/>
              </a:rPr>
              <a:t>항에 따른 제출을 거부할 정당한 이유가 있다고 주장하는 경우에는 그 주장의 당부를 판단하기 위하여 자료의 제시를 명할 수 있다</a:t>
            </a:r>
            <a:r>
              <a:rPr lang="en-US" altLang="ko-KR" sz="1200" dirty="0">
                <a:solidFill>
                  <a:schemeClr val="tx2"/>
                </a:solidFill>
                <a:latin typeface="+mn-ea"/>
              </a:rPr>
              <a:t>. </a:t>
            </a:r>
            <a:r>
              <a:rPr lang="ko-KR" altLang="en-US" sz="1200" dirty="0">
                <a:solidFill>
                  <a:schemeClr val="tx2"/>
                </a:solidFill>
                <a:latin typeface="+mn-ea"/>
              </a:rPr>
              <a:t>이 경우 법원은 그 자료를 다른 사람이 보게 하여서는 아니 된다</a:t>
            </a:r>
            <a:r>
              <a:rPr lang="en-US" altLang="ko-KR" sz="1200" dirty="0">
                <a:solidFill>
                  <a:schemeClr val="tx2"/>
                </a:solidFill>
                <a:latin typeface="+mn-ea"/>
              </a:rPr>
              <a:t>.  </a:t>
            </a:r>
            <a:endParaRPr lang="ko-KR" altLang="en-US" sz="1200" dirty="0">
              <a:solidFill>
                <a:schemeClr val="tx2"/>
              </a:solidFill>
              <a:latin typeface="+mn-ea"/>
            </a:endParaRPr>
          </a:p>
          <a:p>
            <a:r>
              <a:rPr lang="ko-KR" altLang="en-US" sz="1200" dirty="0">
                <a:solidFill>
                  <a:schemeClr val="tx2"/>
                </a:solidFill>
                <a:latin typeface="+mn-ea"/>
              </a:rPr>
              <a:t>③ 제</a:t>
            </a:r>
            <a:r>
              <a:rPr lang="en-US" altLang="ko-KR" sz="1200" dirty="0">
                <a:solidFill>
                  <a:schemeClr val="tx2"/>
                </a:solidFill>
                <a:latin typeface="+mn-ea"/>
              </a:rPr>
              <a:t>1</a:t>
            </a:r>
            <a:r>
              <a:rPr lang="ko-KR" altLang="en-US" sz="1200" dirty="0">
                <a:solidFill>
                  <a:schemeClr val="tx2"/>
                </a:solidFill>
                <a:latin typeface="+mn-ea"/>
              </a:rPr>
              <a:t>항에 따라 제출되어야 할 자료가 </a:t>
            </a:r>
            <a:r>
              <a:rPr lang="ko-KR" altLang="en-US" sz="1200" dirty="0">
                <a:solidFill>
                  <a:srgbClr val="FF0000"/>
                </a:solidFill>
                <a:latin typeface="+mn-ea"/>
              </a:rPr>
              <a:t>영업비밀</a:t>
            </a:r>
            <a:r>
              <a:rPr lang="en-US" altLang="ko-KR" sz="1200" dirty="0">
                <a:solidFill>
                  <a:srgbClr val="FF0000"/>
                </a:solidFill>
                <a:latin typeface="+mn-ea"/>
              </a:rPr>
              <a:t>(</a:t>
            </a:r>
            <a:r>
              <a:rPr lang="ko-KR" altLang="en-US" sz="1200" dirty="0">
                <a:solidFill>
                  <a:srgbClr val="FF0000"/>
                </a:solidFill>
                <a:latin typeface="+mn-ea"/>
              </a:rPr>
              <a:t>「부정경쟁방지 및 영업비밀보호에 관한 법률」 제</a:t>
            </a:r>
            <a:r>
              <a:rPr lang="en-US" altLang="ko-KR" sz="1200" dirty="0">
                <a:solidFill>
                  <a:srgbClr val="FF0000"/>
                </a:solidFill>
                <a:latin typeface="+mn-ea"/>
              </a:rPr>
              <a:t>2</a:t>
            </a:r>
            <a:r>
              <a:rPr lang="ko-KR" altLang="en-US" sz="1200" dirty="0">
                <a:solidFill>
                  <a:srgbClr val="FF0000"/>
                </a:solidFill>
                <a:latin typeface="+mn-ea"/>
              </a:rPr>
              <a:t>조제</a:t>
            </a:r>
            <a:r>
              <a:rPr lang="en-US" altLang="ko-KR" sz="1200" dirty="0">
                <a:solidFill>
                  <a:srgbClr val="FF0000"/>
                </a:solidFill>
                <a:latin typeface="+mn-ea"/>
              </a:rPr>
              <a:t>2</a:t>
            </a:r>
            <a:r>
              <a:rPr lang="ko-KR" altLang="en-US" sz="1200" dirty="0">
                <a:solidFill>
                  <a:srgbClr val="FF0000"/>
                </a:solidFill>
                <a:latin typeface="+mn-ea"/>
              </a:rPr>
              <a:t>호에 따른 영업비밀을 말한다</a:t>
            </a:r>
            <a:r>
              <a:rPr lang="en-US" altLang="ko-KR" sz="1200" dirty="0">
                <a:solidFill>
                  <a:srgbClr val="FF0000"/>
                </a:solidFill>
                <a:latin typeface="+mn-ea"/>
              </a:rPr>
              <a:t>. </a:t>
            </a:r>
            <a:r>
              <a:rPr lang="ko-KR" altLang="en-US" sz="1200" dirty="0">
                <a:solidFill>
                  <a:srgbClr val="FF0000"/>
                </a:solidFill>
                <a:latin typeface="+mn-ea"/>
              </a:rPr>
              <a:t>이하 같다</a:t>
            </a:r>
            <a:r>
              <a:rPr lang="en-US" altLang="ko-KR" sz="1200" dirty="0">
                <a:solidFill>
                  <a:srgbClr val="FF0000"/>
                </a:solidFill>
                <a:latin typeface="+mn-ea"/>
              </a:rPr>
              <a:t>)</a:t>
            </a:r>
            <a:r>
              <a:rPr lang="ko-KR" altLang="en-US" sz="1200" dirty="0">
                <a:solidFill>
                  <a:srgbClr val="FF0000"/>
                </a:solidFill>
                <a:latin typeface="+mn-ea"/>
              </a:rPr>
              <a:t>에 해당하나 침해의 증명 또는 손해액의 산정에 반드시 필요한 때</a:t>
            </a:r>
            <a:r>
              <a:rPr lang="ko-KR" altLang="en-US" sz="1200" dirty="0">
                <a:solidFill>
                  <a:schemeClr val="tx2"/>
                </a:solidFill>
                <a:latin typeface="+mn-ea"/>
              </a:rPr>
              <a:t>에는 제</a:t>
            </a:r>
            <a:r>
              <a:rPr lang="en-US" altLang="ko-KR" sz="1200" dirty="0">
                <a:solidFill>
                  <a:schemeClr val="tx2"/>
                </a:solidFill>
                <a:latin typeface="+mn-ea"/>
              </a:rPr>
              <a:t>1</a:t>
            </a:r>
            <a:r>
              <a:rPr lang="ko-KR" altLang="en-US" sz="1200" dirty="0">
                <a:solidFill>
                  <a:schemeClr val="tx2"/>
                </a:solidFill>
                <a:latin typeface="+mn-ea"/>
              </a:rPr>
              <a:t>항 단서에 따른 정당한 이유로 보지 아니한다</a:t>
            </a:r>
            <a:r>
              <a:rPr lang="en-US" altLang="ko-KR" sz="1200" dirty="0">
                <a:solidFill>
                  <a:schemeClr val="tx2"/>
                </a:solidFill>
                <a:latin typeface="+mn-ea"/>
              </a:rPr>
              <a:t>. </a:t>
            </a:r>
            <a:r>
              <a:rPr lang="ko-KR" altLang="en-US" sz="1200" dirty="0">
                <a:solidFill>
                  <a:schemeClr val="tx2"/>
                </a:solidFill>
                <a:latin typeface="+mn-ea"/>
              </a:rPr>
              <a:t>이 경우 법원은 제출명령의 목적 내에서 열람할 수 있는 범위 또는 열람할 수 있는 사람을 지정하여야 한다</a:t>
            </a:r>
            <a:r>
              <a:rPr lang="en-US" altLang="ko-KR" sz="1200" dirty="0">
                <a:solidFill>
                  <a:schemeClr val="tx2"/>
                </a:solidFill>
                <a:latin typeface="+mn-ea"/>
              </a:rPr>
              <a:t>.  </a:t>
            </a:r>
          </a:p>
          <a:p>
            <a:r>
              <a:rPr lang="ko-KR" altLang="en-US" sz="1200" dirty="0">
                <a:solidFill>
                  <a:schemeClr val="tx2"/>
                </a:solidFill>
                <a:latin typeface="+mn-ea"/>
              </a:rPr>
              <a:t>④ 당사자가 정당한 이유 없이 자료제출명령에 따르지 아니한 때에는 법원은 </a:t>
            </a:r>
            <a:r>
              <a:rPr lang="ko-KR" altLang="en-US" sz="1200" dirty="0">
                <a:solidFill>
                  <a:srgbClr val="FF0000"/>
                </a:solidFill>
                <a:latin typeface="+mn-ea"/>
              </a:rPr>
              <a:t>자료의 기재에 대한 상대방의 주장을 진실한 것으로 인정</a:t>
            </a:r>
            <a:r>
              <a:rPr lang="ko-KR" altLang="en-US" sz="1200" dirty="0">
                <a:solidFill>
                  <a:schemeClr val="tx2"/>
                </a:solidFill>
                <a:latin typeface="+mn-ea"/>
              </a:rPr>
              <a:t>할 수 있다</a:t>
            </a:r>
            <a:r>
              <a:rPr lang="en-US" altLang="ko-KR" sz="1200" dirty="0">
                <a:solidFill>
                  <a:schemeClr val="tx2"/>
                </a:solidFill>
                <a:latin typeface="+mn-ea"/>
              </a:rPr>
              <a:t>.  </a:t>
            </a:r>
          </a:p>
          <a:p>
            <a:r>
              <a:rPr lang="ko-KR" altLang="en-US" sz="1200" dirty="0">
                <a:solidFill>
                  <a:schemeClr val="tx2"/>
                </a:solidFill>
                <a:latin typeface="+mn-ea"/>
              </a:rPr>
              <a:t>⑤ 제</a:t>
            </a:r>
            <a:r>
              <a:rPr lang="en-US" altLang="ko-KR" sz="1200" dirty="0">
                <a:solidFill>
                  <a:schemeClr val="tx2"/>
                </a:solidFill>
                <a:latin typeface="+mn-ea"/>
              </a:rPr>
              <a:t>4</a:t>
            </a:r>
            <a:r>
              <a:rPr lang="ko-KR" altLang="en-US" sz="1200" dirty="0">
                <a:solidFill>
                  <a:schemeClr val="tx2"/>
                </a:solidFill>
                <a:latin typeface="+mn-ea"/>
              </a:rPr>
              <a:t>항에 해당하는 경우 </a:t>
            </a:r>
            <a:r>
              <a:rPr lang="ko-KR" altLang="en-US" sz="1200" dirty="0">
                <a:solidFill>
                  <a:srgbClr val="FF0000"/>
                </a:solidFill>
                <a:latin typeface="+mn-ea"/>
              </a:rPr>
              <a:t>자료의 제출을 신청한 당사자가 자료의 기재에 관하여 구체적으로 주장하기에 현저히 곤란한 사정이 있고 자료로 증명할 사실을 다른 증거로 증명하는 것을 기대하기도 어려운 때</a:t>
            </a:r>
            <a:r>
              <a:rPr lang="ko-KR" altLang="en-US" sz="1200" dirty="0">
                <a:solidFill>
                  <a:schemeClr val="tx2"/>
                </a:solidFill>
                <a:latin typeface="+mn-ea"/>
              </a:rPr>
              <a:t>에는 법원은 그 당사자가 자료의 기재에 의하여 증명하고자 하는 사실에 관한 주장을 진실한 것으로 인정할 수 있다</a:t>
            </a:r>
            <a:r>
              <a:rPr lang="en-US" altLang="ko-KR" sz="1200" dirty="0">
                <a:solidFill>
                  <a:schemeClr val="tx2"/>
                </a:solidFill>
                <a:latin typeface="+mn-ea"/>
              </a:rPr>
              <a:t>.  </a:t>
            </a:r>
            <a:endParaRPr lang="ko-KR" altLang="en-US" sz="1200" dirty="0">
              <a:solidFill>
                <a:schemeClr val="tx2"/>
              </a:solidFill>
              <a:latin typeface="+mn-ea"/>
            </a:endParaRPr>
          </a:p>
        </p:txBody>
      </p:sp>
      <p:sp>
        <p:nvSpPr>
          <p:cNvPr id="8" name="TextBox 7"/>
          <p:cNvSpPr txBox="1"/>
          <p:nvPr/>
        </p:nvSpPr>
        <p:spPr>
          <a:xfrm>
            <a:off x="361139" y="5158909"/>
            <a:ext cx="1360400" cy="445874"/>
          </a:xfrm>
          <a:prstGeom prst="rect">
            <a:avLst/>
          </a:prstGeom>
          <a:solidFill>
            <a:schemeClr val="accent1">
              <a:lumMod val="50000"/>
            </a:schemeClr>
          </a:solidFill>
          <a:ln>
            <a:solidFill>
              <a:schemeClr val="bg1">
                <a:lumMod val="50000"/>
              </a:schemeClr>
            </a:solidFill>
          </a:ln>
        </p:spPr>
        <p:txBody>
          <a:bodyPr wrap="square" rtlCol="0" anchor="ctr">
            <a:noAutofit/>
          </a:bodyPr>
          <a:lstStyle/>
          <a:p>
            <a:pPr algn="ctr"/>
            <a:r>
              <a:rPr lang="ko-KR" altLang="en-US" sz="1400" dirty="0">
                <a:solidFill>
                  <a:schemeClr val="accent4"/>
                </a:solidFill>
              </a:rPr>
              <a:t>자료의 제출</a:t>
            </a:r>
            <a:endParaRPr lang="en-US" altLang="ko-KR" sz="1400" dirty="0">
              <a:solidFill>
                <a:schemeClr val="accent4"/>
              </a:solidFill>
            </a:endParaRPr>
          </a:p>
          <a:p>
            <a:pPr algn="ctr"/>
            <a:r>
              <a:rPr lang="en-US" altLang="ko-KR" sz="1400" dirty="0">
                <a:solidFill>
                  <a:schemeClr val="accent4"/>
                </a:solidFill>
              </a:rPr>
              <a:t>(</a:t>
            </a:r>
            <a:r>
              <a:rPr lang="ko-KR" altLang="en-US" sz="1400" dirty="0">
                <a:solidFill>
                  <a:schemeClr val="accent4"/>
                </a:solidFill>
              </a:rPr>
              <a:t>제</a:t>
            </a:r>
            <a:r>
              <a:rPr lang="en-US" altLang="ko-KR" sz="1400" dirty="0">
                <a:solidFill>
                  <a:schemeClr val="accent4"/>
                </a:solidFill>
              </a:rPr>
              <a:t>132</a:t>
            </a:r>
            <a:r>
              <a:rPr lang="ko-KR" altLang="en-US" sz="1400" dirty="0">
                <a:solidFill>
                  <a:schemeClr val="accent4"/>
                </a:solidFill>
              </a:rPr>
              <a:t>조</a:t>
            </a:r>
            <a:r>
              <a:rPr lang="en-US" altLang="ko-KR" sz="1400" dirty="0">
                <a:solidFill>
                  <a:schemeClr val="accent4"/>
                </a:solidFill>
              </a:rPr>
              <a:t>)</a:t>
            </a:r>
            <a:endParaRPr lang="ko-KR" altLang="en-US" sz="1400" dirty="0">
              <a:solidFill>
                <a:schemeClr val="accent4"/>
              </a:solidFill>
            </a:endParaRPr>
          </a:p>
        </p:txBody>
      </p:sp>
      <p:sp>
        <p:nvSpPr>
          <p:cNvPr id="10" name="TextBox 9"/>
          <p:cNvSpPr txBox="1"/>
          <p:nvPr/>
        </p:nvSpPr>
        <p:spPr>
          <a:xfrm>
            <a:off x="2108890" y="4280888"/>
            <a:ext cx="1672536" cy="44587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자료제출명령</a:t>
            </a:r>
            <a:r>
              <a:rPr lang="en-US" altLang="ko-KR" sz="1400" dirty="0"/>
              <a:t>(</a:t>
            </a:r>
            <a:r>
              <a:rPr lang="ko-KR" altLang="en-US" sz="1400" dirty="0"/>
              <a:t>제</a:t>
            </a:r>
            <a:r>
              <a:rPr lang="en-US" altLang="ko-KR" sz="1400" dirty="0"/>
              <a:t>1</a:t>
            </a:r>
            <a:r>
              <a:rPr lang="ko-KR" altLang="en-US" sz="1400" dirty="0"/>
              <a:t>항</a:t>
            </a:r>
            <a:r>
              <a:rPr lang="en-US" altLang="ko-KR" sz="1400" dirty="0"/>
              <a:t>)</a:t>
            </a:r>
            <a:endParaRPr lang="ko-KR" altLang="en-US" sz="1400" dirty="0"/>
          </a:p>
        </p:txBody>
      </p:sp>
      <p:sp>
        <p:nvSpPr>
          <p:cNvPr id="11" name="TextBox 10"/>
          <p:cNvSpPr txBox="1"/>
          <p:nvPr/>
        </p:nvSpPr>
        <p:spPr>
          <a:xfrm>
            <a:off x="2108889" y="4810570"/>
            <a:ext cx="1672536" cy="44587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정당한 이유</a:t>
            </a:r>
            <a:r>
              <a:rPr lang="en-US" altLang="ko-KR" sz="1400" dirty="0"/>
              <a:t>(</a:t>
            </a:r>
            <a:r>
              <a:rPr lang="ko-KR" altLang="en-US" sz="1400" dirty="0"/>
              <a:t>제</a:t>
            </a:r>
            <a:r>
              <a:rPr lang="en-US" altLang="ko-KR" sz="1400" dirty="0"/>
              <a:t>2</a:t>
            </a:r>
            <a:r>
              <a:rPr lang="ko-KR" altLang="en-US" sz="1400" dirty="0"/>
              <a:t>항</a:t>
            </a:r>
            <a:r>
              <a:rPr lang="en-US" altLang="ko-KR" sz="1400" dirty="0"/>
              <a:t>)</a:t>
            </a:r>
            <a:endParaRPr lang="ko-KR" altLang="en-US" sz="1400" dirty="0"/>
          </a:p>
        </p:txBody>
      </p:sp>
      <p:sp>
        <p:nvSpPr>
          <p:cNvPr id="12" name="TextBox 11"/>
          <p:cNvSpPr txBox="1"/>
          <p:nvPr/>
        </p:nvSpPr>
        <p:spPr>
          <a:xfrm>
            <a:off x="2108888" y="5365327"/>
            <a:ext cx="1672536" cy="44587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영업비밀</a:t>
            </a:r>
            <a:r>
              <a:rPr lang="en-US" altLang="ko-KR" sz="1400" dirty="0"/>
              <a:t>(</a:t>
            </a:r>
            <a:r>
              <a:rPr lang="ko-KR" altLang="en-US" sz="1400" dirty="0"/>
              <a:t>제</a:t>
            </a:r>
            <a:r>
              <a:rPr lang="en-US" altLang="ko-KR" sz="1400" dirty="0"/>
              <a:t>3</a:t>
            </a:r>
            <a:r>
              <a:rPr lang="ko-KR" altLang="en-US" sz="1400" dirty="0"/>
              <a:t>항</a:t>
            </a:r>
            <a:r>
              <a:rPr lang="en-US" altLang="ko-KR" sz="1400" dirty="0"/>
              <a:t>)</a:t>
            </a:r>
            <a:endParaRPr lang="ko-KR" altLang="en-US" sz="1400" dirty="0"/>
          </a:p>
        </p:txBody>
      </p:sp>
      <p:sp>
        <p:nvSpPr>
          <p:cNvPr id="13" name="TextBox 12"/>
          <p:cNvSpPr txBox="1"/>
          <p:nvPr/>
        </p:nvSpPr>
        <p:spPr>
          <a:xfrm>
            <a:off x="2108888" y="5884342"/>
            <a:ext cx="1672536" cy="402158"/>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제재</a:t>
            </a:r>
            <a:r>
              <a:rPr lang="en-US" altLang="ko-KR" sz="1400" dirty="0"/>
              <a:t>(</a:t>
            </a:r>
            <a:r>
              <a:rPr lang="ko-KR" altLang="en-US" sz="1400" dirty="0"/>
              <a:t>제</a:t>
            </a:r>
            <a:r>
              <a:rPr lang="en-US" altLang="ko-KR" sz="1400" dirty="0"/>
              <a:t>4</a:t>
            </a:r>
            <a:r>
              <a:rPr lang="ko-KR" altLang="en-US" sz="1400" dirty="0"/>
              <a:t>항</a:t>
            </a:r>
            <a:r>
              <a:rPr lang="en-US" altLang="ko-KR" sz="1400" dirty="0"/>
              <a:t>)</a:t>
            </a:r>
            <a:endParaRPr lang="ko-KR" altLang="en-US" sz="1400" dirty="0"/>
          </a:p>
        </p:txBody>
      </p:sp>
      <p:sp>
        <p:nvSpPr>
          <p:cNvPr id="23" name="TextBox 22"/>
          <p:cNvSpPr txBox="1"/>
          <p:nvPr/>
        </p:nvSpPr>
        <p:spPr>
          <a:xfrm>
            <a:off x="4128188" y="5365327"/>
            <a:ext cx="1672536" cy="445874"/>
          </a:xfrm>
          <a:prstGeom prst="rect">
            <a:avLst/>
          </a:prstGeom>
          <a:solidFill>
            <a:schemeClr val="accent2"/>
          </a:solidFill>
          <a:ln>
            <a:solidFill>
              <a:schemeClr val="bg1">
                <a:lumMod val="50000"/>
              </a:schemeClr>
            </a:solidFill>
          </a:ln>
        </p:spPr>
        <p:txBody>
          <a:bodyPr wrap="square" rtlCol="0" anchor="ctr">
            <a:noAutofit/>
          </a:bodyPr>
          <a:lstStyle/>
          <a:p>
            <a:pPr algn="ctr"/>
            <a:r>
              <a:rPr lang="ko-KR" altLang="en-US" sz="1400" dirty="0"/>
              <a:t>비밀유지명령제도</a:t>
            </a:r>
            <a:endParaRPr lang="en-US" altLang="ko-KR" sz="1400" dirty="0"/>
          </a:p>
          <a:p>
            <a:pPr algn="ctr"/>
            <a:r>
              <a:rPr lang="en-US" altLang="ko-KR" sz="1400" dirty="0"/>
              <a:t>(</a:t>
            </a:r>
            <a:r>
              <a:rPr lang="ko-KR" altLang="en-US" sz="1400" dirty="0"/>
              <a:t>제</a:t>
            </a:r>
            <a:r>
              <a:rPr lang="en-US" altLang="ko-KR" sz="1400" dirty="0"/>
              <a:t>224</a:t>
            </a:r>
            <a:r>
              <a:rPr lang="ko-KR" altLang="en-US" sz="1400" dirty="0"/>
              <a:t>조의</a:t>
            </a:r>
            <a:r>
              <a:rPr lang="en-US" altLang="ko-KR" sz="1400" dirty="0"/>
              <a:t>3)</a:t>
            </a:r>
            <a:endParaRPr lang="ko-KR" altLang="en-US" sz="1400" dirty="0"/>
          </a:p>
        </p:txBody>
      </p:sp>
      <p:sp>
        <p:nvSpPr>
          <p:cNvPr id="2" name="슬라이드 번호 개체 틀 1"/>
          <p:cNvSpPr>
            <a:spLocks noGrp="1"/>
          </p:cNvSpPr>
          <p:nvPr>
            <p:ph type="sldNum" sz="quarter" idx="12"/>
          </p:nvPr>
        </p:nvSpPr>
        <p:spPr/>
        <p:txBody>
          <a:bodyPr/>
          <a:lstStyle/>
          <a:p>
            <a:r>
              <a:rPr lang="en-US" altLang="ko-KR"/>
              <a:t>399</a:t>
            </a:r>
            <a:endParaRPr lang="ko-KR" altLang="en-US"/>
          </a:p>
        </p:txBody>
      </p:sp>
      <p:cxnSp>
        <p:nvCxnSpPr>
          <p:cNvPr id="27" name="직선 연결선 26">
            <a:extLst>
              <a:ext uri="{FF2B5EF4-FFF2-40B4-BE49-F238E27FC236}">
                <a16:creationId xmlns:a16="http://schemas.microsoft.com/office/drawing/2014/main" id="{C47FAAE9-FCBB-4055-BE3E-CDD0743AE652}"/>
              </a:ext>
            </a:extLst>
          </p:cNvPr>
          <p:cNvCxnSpPr>
            <a:cxnSpLocks/>
          </p:cNvCxnSpPr>
          <p:nvPr/>
        </p:nvCxnSpPr>
        <p:spPr>
          <a:xfrm>
            <a:off x="-36242" y="4205437"/>
            <a:ext cx="3493817"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연결선: 꺾임 30">
            <a:extLst>
              <a:ext uri="{FF2B5EF4-FFF2-40B4-BE49-F238E27FC236}">
                <a16:creationId xmlns:a16="http://schemas.microsoft.com/office/drawing/2014/main" id="{2F56B33C-1F0D-46DC-BC0C-C40DCB6F502A}"/>
              </a:ext>
            </a:extLst>
          </p:cNvPr>
          <p:cNvCxnSpPr>
            <a:stCxn id="8" idx="3"/>
            <a:endCxn id="10" idx="1"/>
          </p:cNvCxnSpPr>
          <p:nvPr/>
        </p:nvCxnSpPr>
        <p:spPr>
          <a:xfrm flipV="1">
            <a:off x="1721539" y="4503825"/>
            <a:ext cx="387351" cy="87802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연결선: 꺾임 32">
            <a:extLst>
              <a:ext uri="{FF2B5EF4-FFF2-40B4-BE49-F238E27FC236}">
                <a16:creationId xmlns:a16="http://schemas.microsoft.com/office/drawing/2014/main" id="{8846FB45-FD74-441D-B165-D2E7BFEF9030}"/>
              </a:ext>
            </a:extLst>
          </p:cNvPr>
          <p:cNvCxnSpPr>
            <a:stCxn id="8" idx="3"/>
            <a:endCxn id="13" idx="1"/>
          </p:cNvCxnSpPr>
          <p:nvPr/>
        </p:nvCxnSpPr>
        <p:spPr>
          <a:xfrm>
            <a:off x="1721539" y="5381846"/>
            <a:ext cx="387349" cy="70357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연결선: 꺾임 34">
            <a:extLst>
              <a:ext uri="{FF2B5EF4-FFF2-40B4-BE49-F238E27FC236}">
                <a16:creationId xmlns:a16="http://schemas.microsoft.com/office/drawing/2014/main" id="{3B99309C-C10B-4A76-81D5-634BDBCA4A79}"/>
              </a:ext>
            </a:extLst>
          </p:cNvPr>
          <p:cNvCxnSpPr>
            <a:stCxn id="8" idx="3"/>
            <a:endCxn id="11" idx="1"/>
          </p:cNvCxnSpPr>
          <p:nvPr/>
        </p:nvCxnSpPr>
        <p:spPr>
          <a:xfrm flipV="1">
            <a:off x="1721539" y="5033507"/>
            <a:ext cx="387350" cy="34833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연결선: 꺾임 36">
            <a:extLst>
              <a:ext uri="{FF2B5EF4-FFF2-40B4-BE49-F238E27FC236}">
                <a16:creationId xmlns:a16="http://schemas.microsoft.com/office/drawing/2014/main" id="{364C087A-4E36-44AA-9956-516C24340F33}"/>
              </a:ext>
            </a:extLst>
          </p:cNvPr>
          <p:cNvCxnSpPr>
            <a:stCxn id="8" idx="3"/>
            <a:endCxn id="12" idx="1"/>
          </p:cNvCxnSpPr>
          <p:nvPr/>
        </p:nvCxnSpPr>
        <p:spPr>
          <a:xfrm>
            <a:off x="1721539" y="5381846"/>
            <a:ext cx="387349" cy="20641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직선 연결선 38">
            <a:extLst>
              <a:ext uri="{FF2B5EF4-FFF2-40B4-BE49-F238E27FC236}">
                <a16:creationId xmlns:a16="http://schemas.microsoft.com/office/drawing/2014/main" id="{8B6A7334-7A62-45AA-B36B-640DA17BAFBB}"/>
              </a:ext>
            </a:extLst>
          </p:cNvPr>
          <p:cNvCxnSpPr>
            <a:stCxn id="12" idx="3"/>
            <a:endCxn id="23" idx="1"/>
          </p:cNvCxnSpPr>
          <p:nvPr/>
        </p:nvCxnSpPr>
        <p:spPr>
          <a:xfrm>
            <a:off x="3781424" y="5588264"/>
            <a:ext cx="346764"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직선 연결선 39">
            <a:extLst>
              <a:ext uri="{FF2B5EF4-FFF2-40B4-BE49-F238E27FC236}">
                <a16:creationId xmlns:a16="http://schemas.microsoft.com/office/drawing/2014/main" id="{D11F9EE8-662F-46A0-AF82-2526C39CAB08}"/>
              </a:ext>
            </a:extLst>
          </p:cNvPr>
          <p:cNvCxnSpPr>
            <a:cxnSpLocks/>
          </p:cNvCxnSpPr>
          <p:nvPr/>
        </p:nvCxnSpPr>
        <p:spPr>
          <a:xfrm>
            <a:off x="6096000" y="866775"/>
            <a:ext cx="19050" cy="583882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ABE20EDF-6533-4BBE-95D6-0ABC88D961F8}"/>
              </a:ext>
            </a:extLst>
          </p:cNvPr>
          <p:cNvSpPr txBox="1"/>
          <p:nvPr/>
        </p:nvSpPr>
        <p:spPr>
          <a:xfrm>
            <a:off x="6096001" y="986046"/>
            <a:ext cx="6037174" cy="2492990"/>
          </a:xfrm>
          <a:prstGeom prst="rect">
            <a:avLst/>
          </a:prstGeom>
          <a:noFill/>
        </p:spPr>
        <p:txBody>
          <a:bodyPr wrap="square" rtlCol="0">
            <a:spAutoFit/>
          </a:bodyPr>
          <a:lstStyle/>
          <a:p>
            <a:r>
              <a:rPr lang="ko-KR" altLang="en-US" sz="1200" b="1" dirty="0">
                <a:solidFill>
                  <a:schemeClr val="accent1"/>
                </a:solidFill>
                <a:latin typeface="+mn-ea"/>
              </a:rPr>
              <a:t>제</a:t>
            </a:r>
            <a:r>
              <a:rPr lang="en-US" altLang="ko-KR" sz="1200" b="1" dirty="0">
                <a:solidFill>
                  <a:schemeClr val="accent1"/>
                </a:solidFill>
                <a:latin typeface="+mn-ea"/>
              </a:rPr>
              <a:t>126</a:t>
            </a:r>
            <a:r>
              <a:rPr lang="ko-KR" altLang="en-US" sz="1200" b="1" dirty="0">
                <a:solidFill>
                  <a:schemeClr val="accent1"/>
                </a:solidFill>
                <a:latin typeface="+mn-ea"/>
              </a:rPr>
              <a:t>조의</a:t>
            </a:r>
            <a:r>
              <a:rPr lang="en-US" altLang="ko-KR" sz="1200" b="1" dirty="0">
                <a:solidFill>
                  <a:schemeClr val="accent1"/>
                </a:solidFill>
                <a:latin typeface="+mn-ea"/>
              </a:rPr>
              <a:t>2(</a:t>
            </a:r>
            <a:r>
              <a:rPr lang="ko-KR" altLang="en-US" sz="1200" b="1" dirty="0">
                <a:solidFill>
                  <a:schemeClr val="accent1"/>
                </a:solidFill>
                <a:latin typeface="+mn-ea"/>
              </a:rPr>
              <a:t>구체적 행위의 </a:t>
            </a:r>
            <a:r>
              <a:rPr lang="ko-KR" altLang="en-US" sz="1200" b="1" dirty="0" err="1">
                <a:solidFill>
                  <a:schemeClr val="accent1"/>
                </a:solidFill>
                <a:latin typeface="+mn-ea"/>
              </a:rPr>
              <a:t>내용ㆍ방식ㆍ형태</a:t>
            </a:r>
            <a:r>
              <a:rPr lang="ko-KR" altLang="en-US" sz="1200" b="1" dirty="0">
                <a:solidFill>
                  <a:schemeClr val="accent1"/>
                </a:solidFill>
                <a:latin typeface="+mn-ea"/>
              </a:rPr>
              <a:t> 제시 의무</a:t>
            </a:r>
            <a:r>
              <a:rPr lang="en-US" altLang="ko-KR" sz="1200" b="1" dirty="0">
                <a:solidFill>
                  <a:schemeClr val="accent1"/>
                </a:solidFill>
                <a:latin typeface="+mn-ea"/>
              </a:rPr>
              <a:t>) </a:t>
            </a:r>
            <a:r>
              <a:rPr lang="en-US" altLang="ko-KR" sz="1200" dirty="0">
                <a:solidFill>
                  <a:schemeClr val="tx2"/>
                </a:solidFill>
                <a:latin typeface="+mn-ea"/>
              </a:rPr>
              <a:t>① </a:t>
            </a:r>
            <a:r>
              <a:rPr lang="ko-KR" altLang="en-US" sz="1200" dirty="0">
                <a:solidFill>
                  <a:schemeClr val="tx2"/>
                </a:solidFill>
                <a:latin typeface="+mn-ea"/>
              </a:rPr>
              <a:t>특허권 또는 전용실시권 침해소송에서 특허권자 또는 </a:t>
            </a:r>
            <a:r>
              <a:rPr lang="ko-KR" altLang="en-US" sz="1200" dirty="0" err="1">
                <a:solidFill>
                  <a:schemeClr val="tx2"/>
                </a:solidFill>
                <a:latin typeface="+mn-ea"/>
              </a:rPr>
              <a:t>전용실시권자가</a:t>
            </a:r>
            <a:r>
              <a:rPr lang="ko-KR" altLang="en-US" sz="1200" dirty="0">
                <a:solidFill>
                  <a:schemeClr val="tx2"/>
                </a:solidFill>
                <a:latin typeface="+mn-ea"/>
              </a:rPr>
              <a:t> 주장하는 침해행위의 구체적 </a:t>
            </a:r>
            <a:r>
              <a:rPr lang="ko-KR" altLang="en-US" sz="1200" dirty="0" err="1">
                <a:solidFill>
                  <a:schemeClr val="tx2"/>
                </a:solidFill>
                <a:latin typeface="+mn-ea"/>
              </a:rPr>
              <a:t>내용ㆍ방식ㆍ형태를</a:t>
            </a:r>
            <a:r>
              <a:rPr lang="ko-KR" altLang="en-US" sz="1200" dirty="0">
                <a:solidFill>
                  <a:schemeClr val="tx2"/>
                </a:solidFill>
                <a:latin typeface="+mn-ea"/>
              </a:rPr>
              <a:t> 부인하는 당사자는 자기의 구체적 행위의 </a:t>
            </a:r>
            <a:r>
              <a:rPr lang="ko-KR" altLang="en-US" sz="1200" dirty="0" err="1">
                <a:solidFill>
                  <a:schemeClr val="tx2"/>
                </a:solidFill>
                <a:latin typeface="+mn-ea"/>
              </a:rPr>
              <a:t>내용ㆍ방식ㆍ형태를</a:t>
            </a:r>
            <a:r>
              <a:rPr lang="ko-KR" altLang="en-US" sz="1200" dirty="0">
                <a:solidFill>
                  <a:schemeClr val="tx2"/>
                </a:solidFill>
                <a:latin typeface="+mn-ea"/>
              </a:rPr>
              <a:t> 제시하여야 한다</a:t>
            </a:r>
            <a:r>
              <a:rPr lang="en-US" altLang="ko-KR" sz="1200" dirty="0">
                <a:solidFill>
                  <a:schemeClr val="tx2"/>
                </a:solidFill>
                <a:latin typeface="+mn-ea"/>
              </a:rPr>
              <a:t>.</a:t>
            </a:r>
          </a:p>
          <a:p>
            <a:r>
              <a:rPr lang="en-US" altLang="ko-KR" sz="1200" dirty="0">
                <a:solidFill>
                  <a:schemeClr val="tx2"/>
                </a:solidFill>
                <a:latin typeface="+mn-ea"/>
              </a:rPr>
              <a:t>② </a:t>
            </a:r>
            <a:r>
              <a:rPr lang="ko-KR" altLang="en-US" sz="1200" dirty="0">
                <a:solidFill>
                  <a:schemeClr val="tx2"/>
                </a:solidFill>
                <a:latin typeface="+mn-ea"/>
              </a:rPr>
              <a:t>법원은 당사자가 제</a:t>
            </a:r>
            <a:r>
              <a:rPr lang="en-US" altLang="ko-KR" sz="1200" dirty="0">
                <a:solidFill>
                  <a:schemeClr val="tx2"/>
                </a:solidFill>
                <a:latin typeface="+mn-ea"/>
              </a:rPr>
              <a:t>1</a:t>
            </a:r>
            <a:r>
              <a:rPr lang="ko-KR" altLang="en-US" sz="1200" dirty="0">
                <a:solidFill>
                  <a:schemeClr val="tx2"/>
                </a:solidFill>
                <a:latin typeface="+mn-ea"/>
              </a:rPr>
              <a:t>항에도 불구하고 자기의 구체적 행위의 </a:t>
            </a:r>
            <a:r>
              <a:rPr lang="ko-KR" altLang="en-US" sz="1200" dirty="0" err="1">
                <a:solidFill>
                  <a:schemeClr val="tx2"/>
                </a:solidFill>
                <a:latin typeface="+mn-ea"/>
              </a:rPr>
              <a:t>내용ㆍ방식ㆍ형태를</a:t>
            </a:r>
            <a:r>
              <a:rPr lang="ko-KR" altLang="en-US" sz="1200" dirty="0">
                <a:solidFill>
                  <a:schemeClr val="tx2"/>
                </a:solidFill>
                <a:latin typeface="+mn-ea"/>
              </a:rPr>
              <a:t> 제시할 수 없는 </a:t>
            </a:r>
            <a:r>
              <a:rPr lang="ko-KR" altLang="en-US" sz="1200" dirty="0">
                <a:solidFill>
                  <a:srgbClr val="FF0000"/>
                </a:solidFill>
                <a:latin typeface="+mn-ea"/>
              </a:rPr>
              <a:t>정당한 이유</a:t>
            </a:r>
            <a:r>
              <a:rPr lang="ko-KR" altLang="en-US" sz="1200" dirty="0">
                <a:solidFill>
                  <a:schemeClr val="tx2"/>
                </a:solidFill>
                <a:latin typeface="+mn-ea"/>
              </a:rPr>
              <a:t>가 있다고 주장하는 경우에는 그 주장의 당부를 판단하기 위하여 그 당사자에게 자료의 제출을 명할 수 있다</a:t>
            </a:r>
            <a:r>
              <a:rPr lang="en-US" altLang="ko-KR" sz="1200" dirty="0">
                <a:solidFill>
                  <a:schemeClr val="tx2"/>
                </a:solidFill>
                <a:latin typeface="+mn-ea"/>
              </a:rPr>
              <a:t>. </a:t>
            </a:r>
            <a:r>
              <a:rPr lang="ko-KR" altLang="en-US" sz="1200" dirty="0">
                <a:solidFill>
                  <a:schemeClr val="tx2"/>
                </a:solidFill>
                <a:latin typeface="+mn-ea"/>
              </a:rPr>
              <a:t>다만</a:t>
            </a:r>
            <a:r>
              <a:rPr lang="en-US" altLang="ko-KR" sz="1200" dirty="0">
                <a:solidFill>
                  <a:schemeClr val="tx2"/>
                </a:solidFill>
                <a:latin typeface="+mn-ea"/>
              </a:rPr>
              <a:t>, </a:t>
            </a:r>
            <a:r>
              <a:rPr lang="ko-KR" altLang="en-US" sz="1200" dirty="0">
                <a:solidFill>
                  <a:schemeClr val="tx2"/>
                </a:solidFill>
                <a:latin typeface="+mn-ea"/>
              </a:rPr>
              <a:t>그 자료의 소지자가 그 자료의 제출을 거절할 </a:t>
            </a:r>
            <a:r>
              <a:rPr lang="ko-KR" altLang="en-US" sz="1200" dirty="0">
                <a:solidFill>
                  <a:srgbClr val="FF0000"/>
                </a:solidFill>
                <a:latin typeface="+mn-ea"/>
              </a:rPr>
              <a:t>정당한 이유</a:t>
            </a:r>
            <a:r>
              <a:rPr lang="ko-KR" altLang="en-US" sz="1200" dirty="0">
                <a:solidFill>
                  <a:schemeClr val="tx2"/>
                </a:solidFill>
                <a:latin typeface="+mn-ea"/>
              </a:rPr>
              <a:t>가 있으면 그러하지 아니하다</a:t>
            </a:r>
            <a:r>
              <a:rPr lang="en-US" altLang="ko-KR" sz="1200" dirty="0">
                <a:solidFill>
                  <a:schemeClr val="tx2"/>
                </a:solidFill>
                <a:latin typeface="+mn-ea"/>
              </a:rPr>
              <a:t>.</a:t>
            </a:r>
          </a:p>
          <a:p>
            <a:r>
              <a:rPr lang="en-US" altLang="ko-KR" sz="1200" dirty="0">
                <a:solidFill>
                  <a:schemeClr val="tx2"/>
                </a:solidFill>
                <a:latin typeface="+mn-ea"/>
              </a:rPr>
              <a:t>③ </a:t>
            </a:r>
            <a:r>
              <a:rPr lang="ko-KR" altLang="en-US" sz="1200" dirty="0">
                <a:solidFill>
                  <a:schemeClr val="tx2"/>
                </a:solidFill>
                <a:latin typeface="+mn-ea"/>
              </a:rPr>
              <a:t>제</a:t>
            </a:r>
            <a:r>
              <a:rPr lang="en-US" altLang="ko-KR" sz="1200" dirty="0">
                <a:solidFill>
                  <a:schemeClr val="tx2"/>
                </a:solidFill>
                <a:latin typeface="+mn-ea"/>
              </a:rPr>
              <a:t>2</a:t>
            </a:r>
            <a:r>
              <a:rPr lang="ko-KR" altLang="en-US" sz="1200" dirty="0">
                <a:solidFill>
                  <a:schemeClr val="tx2"/>
                </a:solidFill>
                <a:latin typeface="+mn-ea"/>
              </a:rPr>
              <a:t>항에 따른 자료제출명령에 관하여는 제</a:t>
            </a:r>
            <a:r>
              <a:rPr lang="en-US" altLang="ko-KR" sz="1200" dirty="0">
                <a:solidFill>
                  <a:schemeClr val="tx2"/>
                </a:solidFill>
                <a:latin typeface="+mn-ea"/>
              </a:rPr>
              <a:t>132</a:t>
            </a:r>
            <a:r>
              <a:rPr lang="ko-KR" altLang="en-US" sz="1200" dirty="0">
                <a:solidFill>
                  <a:schemeClr val="tx2"/>
                </a:solidFill>
                <a:latin typeface="+mn-ea"/>
              </a:rPr>
              <a:t>조제</a:t>
            </a:r>
            <a:r>
              <a:rPr lang="en-US" altLang="ko-KR" sz="1200" dirty="0">
                <a:solidFill>
                  <a:schemeClr val="tx2"/>
                </a:solidFill>
                <a:latin typeface="+mn-ea"/>
              </a:rPr>
              <a:t>2</a:t>
            </a:r>
            <a:r>
              <a:rPr lang="ko-KR" altLang="en-US" sz="1200" dirty="0">
                <a:solidFill>
                  <a:schemeClr val="tx2"/>
                </a:solidFill>
                <a:latin typeface="+mn-ea"/>
              </a:rPr>
              <a:t>항 및 제</a:t>
            </a:r>
            <a:r>
              <a:rPr lang="en-US" altLang="ko-KR" sz="1200" dirty="0">
                <a:solidFill>
                  <a:schemeClr val="tx2"/>
                </a:solidFill>
                <a:latin typeface="+mn-ea"/>
              </a:rPr>
              <a:t>3</a:t>
            </a:r>
            <a:r>
              <a:rPr lang="ko-KR" altLang="en-US" sz="1200" dirty="0">
                <a:solidFill>
                  <a:schemeClr val="tx2"/>
                </a:solidFill>
                <a:latin typeface="+mn-ea"/>
              </a:rPr>
              <a:t>항을 준용한다</a:t>
            </a:r>
            <a:r>
              <a:rPr lang="en-US" altLang="ko-KR" sz="1200" dirty="0">
                <a:solidFill>
                  <a:schemeClr val="tx2"/>
                </a:solidFill>
                <a:latin typeface="+mn-ea"/>
              </a:rPr>
              <a:t>. </a:t>
            </a:r>
            <a:r>
              <a:rPr lang="ko-KR" altLang="en-US" sz="1200" dirty="0">
                <a:solidFill>
                  <a:schemeClr val="tx2"/>
                </a:solidFill>
                <a:latin typeface="+mn-ea"/>
              </a:rPr>
              <a:t>이 경우 제</a:t>
            </a:r>
            <a:r>
              <a:rPr lang="en-US" altLang="ko-KR" sz="1200" dirty="0">
                <a:solidFill>
                  <a:schemeClr val="tx2"/>
                </a:solidFill>
                <a:latin typeface="+mn-ea"/>
              </a:rPr>
              <a:t>132</a:t>
            </a:r>
            <a:r>
              <a:rPr lang="ko-KR" altLang="en-US" sz="1200" dirty="0">
                <a:solidFill>
                  <a:schemeClr val="tx2"/>
                </a:solidFill>
                <a:latin typeface="+mn-ea"/>
              </a:rPr>
              <a:t>조제</a:t>
            </a:r>
            <a:r>
              <a:rPr lang="en-US" altLang="ko-KR" sz="1200" dirty="0">
                <a:solidFill>
                  <a:schemeClr val="tx2"/>
                </a:solidFill>
                <a:latin typeface="+mn-ea"/>
              </a:rPr>
              <a:t>3</a:t>
            </a:r>
            <a:r>
              <a:rPr lang="ko-KR" altLang="en-US" sz="1200" dirty="0">
                <a:solidFill>
                  <a:schemeClr val="tx2"/>
                </a:solidFill>
                <a:latin typeface="+mn-ea"/>
              </a:rPr>
              <a:t>항 중 “침해의 증명 또는 손해액의 산정에 반드시 필요한 </a:t>
            </a:r>
            <a:r>
              <a:rPr lang="ko-KR" altLang="en-US" sz="1200" dirty="0" err="1">
                <a:solidFill>
                  <a:schemeClr val="tx2"/>
                </a:solidFill>
                <a:latin typeface="+mn-ea"/>
              </a:rPr>
              <a:t>때”를</a:t>
            </a:r>
            <a:r>
              <a:rPr lang="ko-KR" altLang="en-US" sz="1200" dirty="0">
                <a:solidFill>
                  <a:schemeClr val="tx2"/>
                </a:solidFill>
                <a:latin typeface="+mn-ea"/>
              </a:rPr>
              <a:t> “구체적 행위의 </a:t>
            </a:r>
            <a:r>
              <a:rPr lang="ko-KR" altLang="en-US" sz="1200" dirty="0" err="1">
                <a:solidFill>
                  <a:schemeClr val="tx2"/>
                </a:solidFill>
                <a:latin typeface="+mn-ea"/>
              </a:rPr>
              <a:t>내용ㆍ방식ㆍ형태를</a:t>
            </a:r>
            <a:r>
              <a:rPr lang="ko-KR" altLang="en-US" sz="1200" dirty="0">
                <a:solidFill>
                  <a:schemeClr val="tx2"/>
                </a:solidFill>
                <a:latin typeface="+mn-ea"/>
              </a:rPr>
              <a:t> 제시할 수 없는 정당한 이유의 유무 판단에 반드시 필요한 </a:t>
            </a:r>
            <a:r>
              <a:rPr lang="ko-KR" altLang="en-US" sz="1200" dirty="0" err="1">
                <a:solidFill>
                  <a:schemeClr val="tx2"/>
                </a:solidFill>
                <a:latin typeface="+mn-ea"/>
              </a:rPr>
              <a:t>때”로</a:t>
            </a:r>
            <a:r>
              <a:rPr lang="ko-KR" altLang="en-US" sz="1200" dirty="0">
                <a:solidFill>
                  <a:schemeClr val="tx2"/>
                </a:solidFill>
                <a:latin typeface="+mn-ea"/>
              </a:rPr>
              <a:t> 한다</a:t>
            </a:r>
            <a:r>
              <a:rPr lang="en-US" altLang="ko-KR" sz="1200" dirty="0">
                <a:solidFill>
                  <a:schemeClr val="tx2"/>
                </a:solidFill>
                <a:latin typeface="+mn-ea"/>
              </a:rPr>
              <a:t>.</a:t>
            </a:r>
          </a:p>
          <a:p>
            <a:r>
              <a:rPr lang="en-US" altLang="ko-KR" sz="1200" dirty="0">
                <a:solidFill>
                  <a:schemeClr val="tx2"/>
                </a:solidFill>
                <a:latin typeface="+mn-ea"/>
              </a:rPr>
              <a:t>④ </a:t>
            </a:r>
            <a:r>
              <a:rPr lang="ko-KR" altLang="en-US" sz="1200" dirty="0">
                <a:solidFill>
                  <a:schemeClr val="tx2"/>
                </a:solidFill>
                <a:latin typeface="+mn-ea"/>
              </a:rPr>
              <a:t>당사자가 정당한 이유 없이 자기의 구체적 행위의 </a:t>
            </a:r>
            <a:r>
              <a:rPr lang="ko-KR" altLang="en-US" sz="1200" dirty="0" err="1">
                <a:solidFill>
                  <a:schemeClr val="tx2"/>
                </a:solidFill>
                <a:latin typeface="+mn-ea"/>
              </a:rPr>
              <a:t>내용ㆍ방식ㆍ형태를</a:t>
            </a:r>
            <a:r>
              <a:rPr lang="ko-KR" altLang="en-US" sz="1200" dirty="0">
                <a:solidFill>
                  <a:schemeClr val="tx2"/>
                </a:solidFill>
                <a:latin typeface="+mn-ea"/>
              </a:rPr>
              <a:t> 제시하지 않는 경우에는 법원은 특허권자 또는 </a:t>
            </a:r>
            <a:r>
              <a:rPr lang="ko-KR" altLang="en-US" sz="1200" dirty="0" err="1">
                <a:solidFill>
                  <a:schemeClr val="tx2"/>
                </a:solidFill>
                <a:latin typeface="+mn-ea"/>
              </a:rPr>
              <a:t>전용실시권자가</a:t>
            </a:r>
            <a:r>
              <a:rPr lang="ko-KR" altLang="en-US" sz="1200" dirty="0">
                <a:solidFill>
                  <a:schemeClr val="tx2"/>
                </a:solidFill>
                <a:latin typeface="+mn-ea"/>
              </a:rPr>
              <a:t> 주장하는 침해행위의 구체적 </a:t>
            </a:r>
            <a:r>
              <a:rPr lang="ko-KR" altLang="en-US" sz="1200" dirty="0" err="1">
                <a:solidFill>
                  <a:schemeClr val="tx2"/>
                </a:solidFill>
                <a:latin typeface="+mn-ea"/>
              </a:rPr>
              <a:t>내용ㆍ방식ㆍ형태를</a:t>
            </a:r>
            <a:r>
              <a:rPr lang="ko-KR" altLang="en-US" sz="1200" dirty="0">
                <a:solidFill>
                  <a:schemeClr val="tx2"/>
                </a:solidFill>
                <a:latin typeface="+mn-ea"/>
              </a:rPr>
              <a:t> 진실한 것으로 인정할 수 있다</a:t>
            </a:r>
            <a:r>
              <a:rPr lang="en-US" altLang="ko-KR" sz="1200" dirty="0">
                <a:solidFill>
                  <a:schemeClr val="tx2"/>
                </a:solidFill>
                <a:latin typeface="+mn-ea"/>
              </a:rPr>
              <a:t>.</a:t>
            </a:r>
            <a:endParaRPr lang="ko-KR" altLang="en-US" sz="1200" dirty="0">
              <a:solidFill>
                <a:schemeClr val="tx2"/>
              </a:solidFill>
              <a:latin typeface="+mn-ea"/>
            </a:endParaRPr>
          </a:p>
        </p:txBody>
      </p:sp>
      <p:cxnSp>
        <p:nvCxnSpPr>
          <p:cNvPr id="46" name="직선 연결선 45">
            <a:extLst>
              <a:ext uri="{FF2B5EF4-FFF2-40B4-BE49-F238E27FC236}">
                <a16:creationId xmlns:a16="http://schemas.microsoft.com/office/drawing/2014/main" id="{D36651AF-0B68-486A-BE26-1B5F6235EDAC}"/>
              </a:ext>
            </a:extLst>
          </p:cNvPr>
          <p:cNvCxnSpPr>
            <a:cxnSpLocks/>
          </p:cNvCxnSpPr>
          <p:nvPr/>
        </p:nvCxnSpPr>
        <p:spPr>
          <a:xfrm>
            <a:off x="6115050" y="3886040"/>
            <a:ext cx="3493817"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6B51D7D5-372F-4F73-8EB1-0F9C7E5096A9}"/>
              </a:ext>
            </a:extLst>
          </p:cNvPr>
          <p:cNvSpPr txBox="1"/>
          <p:nvPr/>
        </p:nvSpPr>
        <p:spPr>
          <a:xfrm>
            <a:off x="9341224" y="4935972"/>
            <a:ext cx="2565026" cy="445874"/>
          </a:xfrm>
          <a:prstGeom prst="rect">
            <a:avLst/>
          </a:prstGeom>
          <a:solidFill>
            <a:schemeClr val="accent1">
              <a:lumMod val="50000"/>
            </a:schemeClr>
          </a:solidFill>
          <a:ln>
            <a:solidFill>
              <a:schemeClr val="bg1">
                <a:lumMod val="50000"/>
              </a:schemeClr>
            </a:solidFill>
          </a:ln>
        </p:spPr>
        <p:txBody>
          <a:bodyPr wrap="square" rtlCol="0" anchor="ctr">
            <a:noAutofit/>
          </a:bodyPr>
          <a:lstStyle/>
          <a:p>
            <a:pPr algn="ctr"/>
            <a:r>
              <a:rPr lang="ko-KR" altLang="en-US" sz="1400" dirty="0">
                <a:solidFill>
                  <a:schemeClr val="accent4"/>
                </a:solidFill>
              </a:rPr>
              <a:t>구체적 행위의 </a:t>
            </a:r>
            <a:r>
              <a:rPr lang="ko-KR" altLang="en-US" sz="1400" dirty="0" err="1">
                <a:solidFill>
                  <a:schemeClr val="accent4"/>
                </a:solidFill>
              </a:rPr>
              <a:t>내용ㆍ방식ㆍ형태</a:t>
            </a:r>
            <a:r>
              <a:rPr lang="ko-KR" altLang="en-US" sz="1400" dirty="0">
                <a:solidFill>
                  <a:schemeClr val="accent4"/>
                </a:solidFill>
              </a:rPr>
              <a:t> 제시 의무</a:t>
            </a:r>
            <a:r>
              <a:rPr lang="en-US" altLang="ko-KR" sz="1400" dirty="0">
                <a:solidFill>
                  <a:schemeClr val="accent4"/>
                </a:solidFill>
              </a:rPr>
              <a:t>(</a:t>
            </a:r>
            <a:r>
              <a:rPr lang="ko-KR" altLang="en-US" sz="1400" dirty="0">
                <a:solidFill>
                  <a:schemeClr val="accent4"/>
                </a:solidFill>
              </a:rPr>
              <a:t>제</a:t>
            </a:r>
            <a:r>
              <a:rPr lang="en-US" altLang="ko-KR" sz="1400" dirty="0">
                <a:solidFill>
                  <a:schemeClr val="accent4"/>
                </a:solidFill>
              </a:rPr>
              <a:t>126</a:t>
            </a:r>
            <a:r>
              <a:rPr lang="ko-KR" altLang="en-US" sz="1400" dirty="0">
                <a:solidFill>
                  <a:schemeClr val="accent4"/>
                </a:solidFill>
              </a:rPr>
              <a:t>조의</a:t>
            </a:r>
            <a:r>
              <a:rPr lang="en-US" altLang="ko-KR" sz="1400" dirty="0">
                <a:solidFill>
                  <a:schemeClr val="accent4"/>
                </a:solidFill>
              </a:rPr>
              <a:t>2)</a:t>
            </a:r>
            <a:endParaRPr lang="ko-KR" altLang="en-US" sz="1400" dirty="0">
              <a:solidFill>
                <a:schemeClr val="accent4"/>
              </a:solidFill>
            </a:endParaRPr>
          </a:p>
        </p:txBody>
      </p:sp>
      <p:sp>
        <p:nvSpPr>
          <p:cNvPr id="48" name="TextBox 47">
            <a:extLst>
              <a:ext uri="{FF2B5EF4-FFF2-40B4-BE49-F238E27FC236}">
                <a16:creationId xmlns:a16="http://schemas.microsoft.com/office/drawing/2014/main" id="{8A624D51-A32F-444C-B4E1-49FDCA0CC5DF}"/>
              </a:ext>
            </a:extLst>
          </p:cNvPr>
          <p:cNvSpPr txBox="1"/>
          <p:nvPr/>
        </p:nvSpPr>
        <p:spPr>
          <a:xfrm>
            <a:off x="6791325" y="4277026"/>
            <a:ext cx="2047876" cy="44587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행위 </a:t>
            </a:r>
            <a:r>
              <a:rPr lang="ko-KR" altLang="en-US" sz="1400" dirty="0" err="1"/>
              <a:t>내용ㆍ방식ㆍ형태</a:t>
            </a:r>
            <a:r>
              <a:rPr lang="ko-KR" altLang="en-US" sz="1400" dirty="0"/>
              <a:t> </a:t>
            </a:r>
            <a:endParaRPr lang="en-US" altLang="ko-KR" sz="1400" dirty="0"/>
          </a:p>
          <a:p>
            <a:pPr algn="ctr"/>
            <a:r>
              <a:rPr lang="ko-KR" altLang="en-US" sz="1400" dirty="0"/>
              <a:t>제시</a:t>
            </a:r>
            <a:r>
              <a:rPr lang="en-US" altLang="ko-KR" sz="1400" dirty="0"/>
              <a:t>(</a:t>
            </a:r>
            <a:r>
              <a:rPr lang="ko-KR" altLang="en-US" sz="1400" dirty="0"/>
              <a:t>제</a:t>
            </a:r>
            <a:r>
              <a:rPr lang="en-US" altLang="ko-KR" sz="1400" dirty="0"/>
              <a:t>1</a:t>
            </a:r>
            <a:r>
              <a:rPr lang="ko-KR" altLang="en-US" sz="1400" dirty="0"/>
              <a:t>항</a:t>
            </a:r>
            <a:r>
              <a:rPr lang="en-US" altLang="ko-KR" sz="1400" dirty="0"/>
              <a:t>)</a:t>
            </a:r>
            <a:endParaRPr lang="ko-KR" altLang="en-US" sz="1400" dirty="0"/>
          </a:p>
        </p:txBody>
      </p:sp>
      <p:sp>
        <p:nvSpPr>
          <p:cNvPr id="49" name="TextBox 48">
            <a:extLst>
              <a:ext uri="{FF2B5EF4-FFF2-40B4-BE49-F238E27FC236}">
                <a16:creationId xmlns:a16="http://schemas.microsoft.com/office/drawing/2014/main" id="{2128E04B-7D96-4D34-91F4-18BBD8DD8060}"/>
              </a:ext>
            </a:extLst>
          </p:cNvPr>
          <p:cNvSpPr txBox="1"/>
          <p:nvPr/>
        </p:nvSpPr>
        <p:spPr>
          <a:xfrm>
            <a:off x="6791324" y="4806708"/>
            <a:ext cx="2047876" cy="44587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자료제출명령</a:t>
            </a:r>
            <a:r>
              <a:rPr lang="en-US" altLang="ko-KR" sz="1400" dirty="0"/>
              <a:t>(</a:t>
            </a:r>
            <a:r>
              <a:rPr lang="ko-KR" altLang="en-US" sz="1400" dirty="0"/>
              <a:t>제</a:t>
            </a:r>
            <a:r>
              <a:rPr lang="en-US" altLang="ko-KR" sz="1400" dirty="0"/>
              <a:t>2</a:t>
            </a:r>
            <a:r>
              <a:rPr lang="ko-KR" altLang="en-US" sz="1400" dirty="0"/>
              <a:t>항</a:t>
            </a:r>
            <a:r>
              <a:rPr lang="en-US" altLang="ko-KR" sz="1400" dirty="0"/>
              <a:t>)</a:t>
            </a:r>
            <a:endParaRPr lang="ko-KR" altLang="en-US" sz="1400" dirty="0"/>
          </a:p>
        </p:txBody>
      </p:sp>
      <p:sp>
        <p:nvSpPr>
          <p:cNvPr id="50" name="TextBox 49">
            <a:extLst>
              <a:ext uri="{FF2B5EF4-FFF2-40B4-BE49-F238E27FC236}">
                <a16:creationId xmlns:a16="http://schemas.microsoft.com/office/drawing/2014/main" id="{7C0CFC7D-5185-45F9-8B44-BE2E6DC2168C}"/>
              </a:ext>
            </a:extLst>
          </p:cNvPr>
          <p:cNvSpPr txBox="1"/>
          <p:nvPr/>
        </p:nvSpPr>
        <p:spPr>
          <a:xfrm>
            <a:off x="6791323" y="5361465"/>
            <a:ext cx="2047876" cy="44587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정당한 이유 및 영업비밀</a:t>
            </a:r>
            <a:endParaRPr lang="en-US" altLang="ko-KR" sz="1400" dirty="0"/>
          </a:p>
          <a:p>
            <a:pPr algn="ctr"/>
            <a:r>
              <a:rPr lang="en-US" altLang="ko-KR" sz="1400" dirty="0"/>
              <a:t>(</a:t>
            </a:r>
            <a:r>
              <a:rPr lang="ko-KR" altLang="en-US" sz="1400" dirty="0"/>
              <a:t>제</a:t>
            </a:r>
            <a:r>
              <a:rPr lang="en-US" altLang="ko-KR" sz="1400" dirty="0"/>
              <a:t>3</a:t>
            </a:r>
            <a:r>
              <a:rPr lang="ko-KR" altLang="en-US" sz="1400" dirty="0"/>
              <a:t>항</a:t>
            </a:r>
            <a:r>
              <a:rPr lang="en-US" altLang="ko-KR" sz="1400" dirty="0"/>
              <a:t>)</a:t>
            </a:r>
            <a:endParaRPr lang="ko-KR" altLang="en-US" sz="1400" dirty="0"/>
          </a:p>
        </p:txBody>
      </p:sp>
      <p:sp>
        <p:nvSpPr>
          <p:cNvPr id="51" name="TextBox 50">
            <a:extLst>
              <a:ext uri="{FF2B5EF4-FFF2-40B4-BE49-F238E27FC236}">
                <a16:creationId xmlns:a16="http://schemas.microsoft.com/office/drawing/2014/main" id="{7F30AED1-DF7A-44A6-BF62-92030A4ECDF4}"/>
              </a:ext>
            </a:extLst>
          </p:cNvPr>
          <p:cNvSpPr txBox="1"/>
          <p:nvPr/>
        </p:nvSpPr>
        <p:spPr>
          <a:xfrm>
            <a:off x="6791323" y="5918580"/>
            <a:ext cx="2047876" cy="402158"/>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제재</a:t>
            </a:r>
            <a:r>
              <a:rPr lang="en-US" altLang="ko-KR" sz="1400" dirty="0"/>
              <a:t>(</a:t>
            </a:r>
            <a:r>
              <a:rPr lang="ko-KR" altLang="en-US" sz="1400" dirty="0"/>
              <a:t>제</a:t>
            </a:r>
            <a:r>
              <a:rPr lang="en-US" altLang="ko-KR" sz="1400" dirty="0"/>
              <a:t>4</a:t>
            </a:r>
            <a:r>
              <a:rPr lang="ko-KR" altLang="en-US" sz="1400" dirty="0"/>
              <a:t>항</a:t>
            </a:r>
            <a:r>
              <a:rPr lang="en-US" altLang="ko-KR" sz="1400" dirty="0"/>
              <a:t>)</a:t>
            </a:r>
            <a:endParaRPr lang="ko-KR" altLang="en-US" sz="1400" dirty="0"/>
          </a:p>
        </p:txBody>
      </p:sp>
      <p:cxnSp>
        <p:nvCxnSpPr>
          <p:cNvPr id="53" name="연결선: 꺾임 52">
            <a:extLst>
              <a:ext uri="{FF2B5EF4-FFF2-40B4-BE49-F238E27FC236}">
                <a16:creationId xmlns:a16="http://schemas.microsoft.com/office/drawing/2014/main" id="{FB8DC235-38B1-4F15-82C4-25497918AF94}"/>
              </a:ext>
            </a:extLst>
          </p:cNvPr>
          <p:cNvCxnSpPr>
            <a:cxnSpLocks/>
            <a:stCxn id="47" idx="1"/>
            <a:endCxn id="48" idx="3"/>
          </p:cNvCxnSpPr>
          <p:nvPr/>
        </p:nvCxnSpPr>
        <p:spPr>
          <a:xfrm rot="10800000">
            <a:off x="8839202" y="4499963"/>
            <a:ext cx="502023" cy="658946"/>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연결선: 꺾임 53">
            <a:extLst>
              <a:ext uri="{FF2B5EF4-FFF2-40B4-BE49-F238E27FC236}">
                <a16:creationId xmlns:a16="http://schemas.microsoft.com/office/drawing/2014/main" id="{509B0B7F-9A09-4602-B005-A5C0348C07E6}"/>
              </a:ext>
            </a:extLst>
          </p:cNvPr>
          <p:cNvCxnSpPr>
            <a:cxnSpLocks/>
            <a:stCxn id="47" idx="1"/>
            <a:endCxn id="51" idx="3"/>
          </p:cNvCxnSpPr>
          <p:nvPr/>
        </p:nvCxnSpPr>
        <p:spPr>
          <a:xfrm rot="10800000" flipV="1">
            <a:off x="8839200" y="5158909"/>
            <a:ext cx="502025" cy="960750"/>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연결선: 꺾임 54">
            <a:extLst>
              <a:ext uri="{FF2B5EF4-FFF2-40B4-BE49-F238E27FC236}">
                <a16:creationId xmlns:a16="http://schemas.microsoft.com/office/drawing/2014/main" id="{B88D09D8-E219-44C4-BCD8-0E2D026BADD2}"/>
              </a:ext>
            </a:extLst>
          </p:cNvPr>
          <p:cNvCxnSpPr>
            <a:cxnSpLocks/>
            <a:stCxn id="47" idx="1"/>
            <a:endCxn id="49" idx="3"/>
          </p:cNvCxnSpPr>
          <p:nvPr/>
        </p:nvCxnSpPr>
        <p:spPr>
          <a:xfrm rot="10800000">
            <a:off x="8839200" y="5029645"/>
            <a:ext cx="502024" cy="129264"/>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연결선: 꺾임 55">
            <a:extLst>
              <a:ext uri="{FF2B5EF4-FFF2-40B4-BE49-F238E27FC236}">
                <a16:creationId xmlns:a16="http://schemas.microsoft.com/office/drawing/2014/main" id="{D3AA9864-66DB-4C6A-8F35-34D7E70B3984}"/>
              </a:ext>
            </a:extLst>
          </p:cNvPr>
          <p:cNvCxnSpPr>
            <a:cxnSpLocks/>
            <a:stCxn id="47" idx="1"/>
            <a:endCxn id="50" idx="3"/>
          </p:cNvCxnSpPr>
          <p:nvPr/>
        </p:nvCxnSpPr>
        <p:spPr>
          <a:xfrm rot="10800000" flipV="1">
            <a:off x="8839200" y="5158908"/>
            <a:ext cx="502025" cy="425493"/>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4694B093-E88D-48DE-8035-6B9D03CBB370}"/>
              </a:ext>
            </a:extLst>
          </p:cNvPr>
          <p:cNvSpPr txBox="1"/>
          <p:nvPr/>
        </p:nvSpPr>
        <p:spPr>
          <a:xfrm>
            <a:off x="2108888" y="6371171"/>
            <a:ext cx="1672536" cy="402158"/>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제재</a:t>
            </a:r>
            <a:r>
              <a:rPr lang="en-US" altLang="ko-KR" sz="1400" dirty="0"/>
              <a:t>(</a:t>
            </a:r>
            <a:r>
              <a:rPr lang="ko-KR" altLang="en-US" sz="1400" dirty="0"/>
              <a:t>제</a:t>
            </a:r>
            <a:r>
              <a:rPr lang="en-US" altLang="ko-KR" sz="1400" dirty="0"/>
              <a:t>5</a:t>
            </a:r>
            <a:r>
              <a:rPr lang="ko-KR" altLang="en-US" sz="1400" dirty="0"/>
              <a:t>항</a:t>
            </a:r>
            <a:r>
              <a:rPr lang="en-US" altLang="ko-KR" sz="1400" dirty="0"/>
              <a:t>)</a:t>
            </a:r>
            <a:endParaRPr lang="ko-KR" altLang="en-US" sz="1400" dirty="0"/>
          </a:p>
        </p:txBody>
      </p:sp>
      <p:cxnSp>
        <p:nvCxnSpPr>
          <p:cNvPr id="87" name="연결선: 꺾임 86">
            <a:extLst>
              <a:ext uri="{FF2B5EF4-FFF2-40B4-BE49-F238E27FC236}">
                <a16:creationId xmlns:a16="http://schemas.microsoft.com/office/drawing/2014/main" id="{41A6DCB3-4F73-42AF-BF01-23D5D03A452A}"/>
              </a:ext>
            </a:extLst>
          </p:cNvPr>
          <p:cNvCxnSpPr>
            <a:stCxn id="8" idx="3"/>
            <a:endCxn id="85" idx="1"/>
          </p:cNvCxnSpPr>
          <p:nvPr/>
        </p:nvCxnSpPr>
        <p:spPr>
          <a:xfrm>
            <a:off x="1721539" y="5381846"/>
            <a:ext cx="387349" cy="119040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직선 화살표 연결선 90">
            <a:extLst>
              <a:ext uri="{FF2B5EF4-FFF2-40B4-BE49-F238E27FC236}">
                <a16:creationId xmlns:a16="http://schemas.microsoft.com/office/drawing/2014/main" id="{C47BA823-5BEC-47EC-BB7D-C072D541B182}"/>
              </a:ext>
            </a:extLst>
          </p:cNvPr>
          <p:cNvCxnSpPr>
            <a:stCxn id="10" idx="3"/>
            <a:endCxn id="49" idx="1"/>
          </p:cNvCxnSpPr>
          <p:nvPr/>
        </p:nvCxnSpPr>
        <p:spPr>
          <a:xfrm>
            <a:off x="3781426" y="4503825"/>
            <a:ext cx="3009898" cy="525820"/>
          </a:xfrm>
          <a:prstGeom prst="straightConnector1">
            <a:avLst/>
          </a:prstGeom>
          <a:ln w="38100">
            <a:solidFill>
              <a:srgbClr val="FF0000"/>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2" name="직선 화살표 연결선 91">
            <a:extLst>
              <a:ext uri="{FF2B5EF4-FFF2-40B4-BE49-F238E27FC236}">
                <a16:creationId xmlns:a16="http://schemas.microsoft.com/office/drawing/2014/main" id="{8AFBA2E9-99C2-4726-AC31-B1C1503A5E2F}"/>
              </a:ext>
            </a:extLst>
          </p:cNvPr>
          <p:cNvCxnSpPr>
            <a:cxnSpLocks/>
            <a:stCxn id="11" idx="3"/>
            <a:endCxn id="50" idx="1"/>
          </p:cNvCxnSpPr>
          <p:nvPr/>
        </p:nvCxnSpPr>
        <p:spPr>
          <a:xfrm>
            <a:off x="3781425" y="5033507"/>
            <a:ext cx="3009898" cy="550895"/>
          </a:xfrm>
          <a:prstGeom prst="straightConnector1">
            <a:avLst/>
          </a:prstGeom>
          <a:ln w="38100">
            <a:solidFill>
              <a:srgbClr val="FF0000"/>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5" name="직선 화살표 연결선 94">
            <a:extLst>
              <a:ext uri="{FF2B5EF4-FFF2-40B4-BE49-F238E27FC236}">
                <a16:creationId xmlns:a16="http://schemas.microsoft.com/office/drawing/2014/main" id="{DF7B41CB-BCB4-4940-8921-15A515F2A5C8}"/>
              </a:ext>
            </a:extLst>
          </p:cNvPr>
          <p:cNvCxnSpPr>
            <a:cxnSpLocks/>
            <a:stCxn id="12" idx="3"/>
            <a:endCxn id="50" idx="1"/>
          </p:cNvCxnSpPr>
          <p:nvPr/>
        </p:nvCxnSpPr>
        <p:spPr>
          <a:xfrm flipV="1">
            <a:off x="3781424" y="5584402"/>
            <a:ext cx="3009899" cy="3862"/>
          </a:xfrm>
          <a:prstGeom prst="straightConnector1">
            <a:avLst/>
          </a:prstGeom>
          <a:ln w="38100">
            <a:solidFill>
              <a:srgbClr val="FF0000"/>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8" name="직선 화살표 연결선 97">
            <a:extLst>
              <a:ext uri="{FF2B5EF4-FFF2-40B4-BE49-F238E27FC236}">
                <a16:creationId xmlns:a16="http://schemas.microsoft.com/office/drawing/2014/main" id="{E1501C82-0168-4EBC-8E59-B50311C43F6A}"/>
              </a:ext>
            </a:extLst>
          </p:cNvPr>
          <p:cNvCxnSpPr>
            <a:cxnSpLocks/>
            <a:endCxn id="51" idx="1"/>
          </p:cNvCxnSpPr>
          <p:nvPr/>
        </p:nvCxnSpPr>
        <p:spPr>
          <a:xfrm>
            <a:off x="3781426" y="6094406"/>
            <a:ext cx="3009897" cy="25253"/>
          </a:xfrm>
          <a:prstGeom prst="straightConnector1">
            <a:avLst/>
          </a:prstGeom>
          <a:ln w="38100">
            <a:solidFill>
              <a:srgbClr val="FF0000"/>
            </a:solidFill>
            <a:prstDash val="sysDot"/>
            <a:headEnd type="triangle"/>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5592471"/>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sz="2000" dirty="0"/>
              <a:t>제</a:t>
            </a:r>
            <a:r>
              <a:rPr lang="en-US" altLang="ko-KR" sz="2000" dirty="0"/>
              <a:t>225</a:t>
            </a:r>
            <a:r>
              <a:rPr lang="ko-KR" altLang="en-US" sz="2000" dirty="0"/>
              <a:t>조</a:t>
            </a:r>
            <a:r>
              <a:rPr lang="en-US" altLang="ko-KR" sz="2000" dirty="0"/>
              <a:t>~</a:t>
            </a:r>
            <a:r>
              <a:rPr lang="ko-KR" altLang="en-US" sz="2000" dirty="0"/>
              <a:t>제</a:t>
            </a:r>
            <a:r>
              <a:rPr lang="en-US" altLang="ko-KR" sz="2000" dirty="0"/>
              <a:t>232</a:t>
            </a:r>
            <a:r>
              <a:rPr lang="ko-KR" altLang="en-US" sz="2000" dirty="0"/>
              <a:t>조</a:t>
            </a:r>
          </a:p>
        </p:txBody>
      </p:sp>
      <p:sp>
        <p:nvSpPr>
          <p:cNvPr id="5" name="텍스트 개체 틀 4"/>
          <p:cNvSpPr>
            <a:spLocks noGrp="1"/>
          </p:cNvSpPr>
          <p:nvPr>
            <p:ph type="body" sz="quarter" idx="13"/>
          </p:nvPr>
        </p:nvSpPr>
        <p:spPr/>
        <p:txBody>
          <a:bodyPr/>
          <a:lstStyle/>
          <a:p>
            <a:r>
              <a:rPr lang="ko-KR" altLang="en-US" dirty="0"/>
              <a:t>벌칙</a:t>
            </a:r>
          </a:p>
        </p:txBody>
      </p:sp>
      <p:sp>
        <p:nvSpPr>
          <p:cNvPr id="2" name="슬라이드 번호 개체 틀 1"/>
          <p:cNvSpPr>
            <a:spLocks noGrp="1"/>
          </p:cNvSpPr>
          <p:nvPr>
            <p:ph type="sldNum" sz="quarter" idx="12"/>
          </p:nvPr>
        </p:nvSpPr>
        <p:spPr/>
        <p:txBody>
          <a:bodyPr/>
          <a:lstStyle/>
          <a:p>
            <a:r>
              <a:rPr lang="en-US" altLang="ko-KR"/>
              <a:t>400</a:t>
            </a:r>
            <a:endParaRPr lang="ko-KR" altLang="en-US"/>
          </a:p>
        </p:txBody>
      </p:sp>
      <p:graphicFrame>
        <p:nvGraphicFramePr>
          <p:cNvPr id="3" name="표 2">
            <a:extLst>
              <a:ext uri="{FF2B5EF4-FFF2-40B4-BE49-F238E27FC236}">
                <a16:creationId xmlns:a16="http://schemas.microsoft.com/office/drawing/2014/main" id="{E0741BD5-FFB6-4265-9F20-A44F9D2E9ACD}"/>
              </a:ext>
            </a:extLst>
          </p:cNvPr>
          <p:cNvGraphicFramePr>
            <a:graphicFrameLocks noGrp="1"/>
          </p:cNvGraphicFramePr>
          <p:nvPr/>
        </p:nvGraphicFramePr>
        <p:xfrm>
          <a:off x="349624" y="990869"/>
          <a:ext cx="11525895" cy="5204041"/>
        </p:xfrm>
        <a:graphic>
          <a:graphicData uri="http://schemas.openxmlformats.org/drawingml/2006/table">
            <a:tbl>
              <a:tblPr>
                <a:tableStyleId>{5940675A-B579-460E-94D1-54222C63F5DA}</a:tableStyleId>
              </a:tblPr>
              <a:tblGrid>
                <a:gridCol w="2259105">
                  <a:extLst>
                    <a:ext uri="{9D8B030D-6E8A-4147-A177-3AD203B41FA5}">
                      <a16:colId xmlns:a16="http://schemas.microsoft.com/office/drawing/2014/main" val="403048828"/>
                    </a:ext>
                  </a:extLst>
                </a:gridCol>
                <a:gridCol w="3814752">
                  <a:extLst>
                    <a:ext uri="{9D8B030D-6E8A-4147-A177-3AD203B41FA5}">
                      <a16:colId xmlns:a16="http://schemas.microsoft.com/office/drawing/2014/main" val="337503801"/>
                    </a:ext>
                  </a:extLst>
                </a:gridCol>
                <a:gridCol w="838718">
                  <a:extLst>
                    <a:ext uri="{9D8B030D-6E8A-4147-A177-3AD203B41FA5}">
                      <a16:colId xmlns:a16="http://schemas.microsoft.com/office/drawing/2014/main" val="600250988"/>
                    </a:ext>
                  </a:extLst>
                </a:gridCol>
                <a:gridCol w="838718">
                  <a:extLst>
                    <a:ext uri="{9D8B030D-6E8A-4147-A177-3AD203B41FA5}">
                      <a16:colId xmlns:a16="http://schemas.microsoft.com/office/drawing/2014/main" val="2794633405"/>
                    </a:ext>
                  </a:extLst>
                </a:gridCol>
                <a:gridCol w="698808">
                  <a:extLst>
                    <a:ext uri="{9D8B030D-6E8A-4147-A177-3AD203B41FA5}">
                      <a16:colId xmlns:a16="http://schemas.microsoft.com/office/drawing/2014/main" val="231912993"/>
                    </a:ext>
                  </a:extLst>
                </a:gridCol>
                <a:gridCol w="698808">
                  <a:extLst>
                    <a:ext uri="{9D8B030D-6E8A-4147-A177-3AD203B41FA5}">
                      <a16:colId xmlns:a16="http://schemas.microsoft.com/office/drawing/2014/main" val="3431876037"/>
                    </a:ext>
                  </a:extLst>
                </a:gridCol>
                <a:gridCol w="1188493">
                  <a:extLst>
                    <a:ext uri="{9D8B030D-6E8A-4147-A177-3AD203B41FA5}">
                      <a16:colId xmlns:a16="http://schemas.microsoft.com/office/drawing/2014/main" val="661053040"/>
                    </a:ext>
                  </a:extLst>
                </a:gridCol>
                <a:gridCol w="1188493">
                  <a:extLst>
                    <a:ext uri="{9D8B030D-6E8A-4147-A177-3AD203B41FA5}">
                      <a16:colId xmlns:a16="http://schemas.microsoft.com/office/drawing/2014/main" val="1534238529"/>
                    </a:ext>
                  </a:extLst>
                </a:gridCol>
              </a:tblGrid>
              <a:tr h="158747">
                <a:tc rowSpan="2">
                  <a:txBody>
                    <a:bodyPr/>
                    <a:lstStyle/>
                    <a:p>
                      <a:pPr marL="0" marR="0" indent="0" algn="ctr" fontAlgn="base" latinLnBrk="0">
                        <a:lnSpc>
                          <a:spcPct val="100000"/>
                        </a:lnSpc>
                        <a:spcBef>
                          <a:spcPts val="0"/>
                        </a:spcBef>
                        <a:spcAft>
                          <a:spcPts val="0"/>
                        </a:spcAft>
                      </a:pPr>
                      <a:r>
                        <a:rPr lang="ko-KR" altLang="en-US" sz="1200" b="1" kern="0" spc="-100" dirty="0">
                          <a:solidFill>
                            <a:srgbClr val="000000"/>
                          </a:solidFill>
                          <a:effectLst/>
                        </a:rPr>
                        <a:t>죄 명</a:t>
                      </a:r>
                      <a:endParaRPr lang="ko-KR" altLang="en-US" sz="1200" b="1" kern="0" spc="-100" dirty="0">
                        <a:solidFill>
                          <a:srgbClr val="000000"/>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rowSpan="2">
                  <a:txBody>
                    <a:bodyPr/>
                    <a:lstStyle/>
                    <a:p>
                      <a:pPr marL="0" marR="0" indent="0" algn="ctr" fontAlgn="base" latinLnBrk="0">
                        <a:lnSpc>
                          <a:spcPct val="100000"/>
                        </a:lnSpc>
                        <a:spcBef>
                          <a:spcPts val="0"/>
                        </a:spcBef>
                        <a:spcAft>
                          <a:spcPts val="0"/>
                        </a:spcAft>
                      </a:pPr>
                      <a:r>
                        <a:rPr lang="ko-KR" altLang="en-US" sz="1200" b="1" kern="0" spc="-100" dirty="0">
                          <a:solidFill>
                            <a:srgbClr val="000000"/>
                          </a:solidFill>
                          <a:effectLst/>
                        </a:rPr>
                        <a:t>구성요건</a:t>
                      </a:r>
                      <a:endParaRPr lang="ko-KR" altLang="en-US" sz="1200" b="1" kern="0" spc="-100" dirty="0">
                        <a:solidFill>
                          <a:srgbClr val="000000"/>
                        </a:solidFill>
                        <a:effectLst/>
                        <a:latin typeface="+mn-ea"/>
                        <a:ea typeface="+mn-ea"/>
                      </a:endParaRPr>
                    </a:p>
                  </a:txBody>
                  <a:tcPr marL="108000" marR="108000" marT="14706" marB="14706"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gridSpan="2">
                  <a:txBody>
                    <a:bodyPr/>
                    <a:lstStyle/>
                    <a:p>
                      <a:pPr marL="0" marR="0" indent="0" algn="ctr" fontAlgn="base" latinLnBrk="0">
                        <a:lnSpc>
                          <a:spcPct val="100000"/>
                        </a:lnSpc>
                        <a:spcBef>
                          <a:spcPts val="0"/>
                        </a:spcBef>
                        <a:spcAft>
                          <a:spcPts val="0"/>
                        </a:spcAft>
                      </a:pPr>
                      <a:r>
                        <a:rPr lang="ko-KR" altLang="en-US" sz="1200" b="1" kern="0" spc="-100">
                          <a:solidFill>
                            <a:srgbClr val="000000"/>
                          </a:solidFill>
                          <a:effectLst/>
                        </a:rPr>
                        <a:t>처 벌</a:t>
                      </a:r>
                      <a:endParaRPr lang="ko-KR" altLang="en-US" sz="1200" b="1" kern="0" spc="-100">
                        <a:solidFill>
                          <a:srgbClr val="000000"/>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1200" b="1" kern="0" spc="-100">
                          <a:solidFill>
                            <a:srgbClr val="000000"/>
                          </a:solidFill>
                          <a:effectLst/>
                        </a:rPr>
                        <a:t>반의사</a:t>
                      </a:r>
                    </a:p>
                    <a:p>
                      <a:pPr marL="0" marR="0" indent="0" algn="ctr" fontAlgn="base" latinLnBrk="0">
                        <a:lnSpc>
                          <a:spcPct val="100000"/>
                        </a:lnSpc>
                        <a:spcBef>
                          <a:spcPts val="0"/>
                        </a:spcBef>
                        <a:spcAft>
                          <a:spcPts val="0"/>
                        </a:spcAft>
                      </a:pPr>
                      <a:r>
                        <a:rPr lang="ko-KR" altLang="en-US" sz="1200" b="1" kern="0" spc="-100">
                          <a:solidFill>
                            <a:srgbClr val="000000"/>
                          </a:solidFill>
                          <a:effectLst/>
                        </a:rPr>
                        <a:t>불벌죄</a:t>
                      </a:r>
                      <a:endParaRPr lang="ko-KR" altLang="en-US" sz="1200" b="1" kern="0" spc="-100">
                        <a:solidFill>
                          <a:srgbClr val="000000"/>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rowSpan="2">
                  <a:txBody>
                    <a:bodyPr/>
                    <a:lstStyle/>
                    <a:p>
                      <a:pPr marL="0" marR="0" indent="0" algn="ctr" fontAlgn="base" latinLnBrk="0">
                        <a:lnSpc>
                          <a:spcPct val="100000"/>
                        </a:lnSpc>
                        <a:spcBef>
                          <a:spcPts val="0"/>
                        </a:spcBef>
                        <a:spcAft>
                          <a:spcPts val="0"/>
                        </a:spcAft>
                      </a:pPr>
                      <a:r>
                        <a:rPr lang="ko-KR" altLang="en-US" sz="1200" b="1" kern="0" spc="-100">
                          <a:solidFill>
                            <a:srgbClr val="000000"/>
                          </a:solidFill>
                          <a:effectLst/>
                        </a:rPr>
                        <a:t>친고죄</a:t>
                      </a:r>
                      <a:endParaRPr lang="ko-KR" altLang="en-US" sz="1200" b="1" kern="0" spc="-100">
                        <a:solidFill>
                          <a:srgbClr val="000000"/>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rowSpan="2">
                  <a:txBody>
                    <a:bodyPr/>
                    <a:lstStyle/>
                    <a:p>
                      <a:pPr marL="0" marR="0" indent="0" algn="ctr" fontAlgn="base" latinLnBrk="0">
                        <a:lnSpc>
                          <a:spcPct val="100000"/>
                        </a:lnSpc>
                        <a:spcBef>
                          <a:spcPts val="0"/>
                        </a:spcBef>
                        <a:spcAft>
                          <a:spcPts val="0"/>
                        </a:spcAft>
                      </a:pPr>
                      <a:r>
                        <a:rPr lang="ko-KR" altLang="en-US" sz="1200" b="1" kern="0" spc="-100" dirty="0" err="1">
                          <a:solidFill>
                            <a:srgbClr val="000000"/>
                          </a:solidFill>
                          <a:effectLst/>
                        </a:rPr>
                        <a:t>양벌규정</a:t>
                      </a:r>
                      <a:endParaRPr lang="ko-KR" altLang="en-US" sz="1200" b="1" kern="0" spc="-100" dirty="0">
                        <a:solidFill>
                          <a:srgbClr val="000000"/>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rowSpan="2">
                  <a:txBody>
                    <a:bodyPr/>
                    <a:lstStyle/>
                    <a:p>
                      <a:pPr marL="0" marR="0" indent="0" algn="ctr" fontAlgn="base" latinLnBrk="0">
                        <a:lnSpc>
                          <a:spcPct val="100000"/>
                        </a:lnSpc>
                        <a:spcBef>
                          <a:spcPts val="0"/>
                        </a:spcBef>
                        <a:spcAft>
                          <a:spcPts val="0"/>
                        </a:spcAft>
                      </a:pPr>
                      <a:r>
                        <a:rPr lang="ko-KR" altLang="en-US" sz="1200" b="1" kern="0" spc="-100">
                          <a:solidFill>
                            <a:srgbClr val="000000"/>
                          </a:solidFill>
                          <a:effectLst/>
                        </a:rPr>
                        <a:t>비 고</a:t>
                      </a:r>
                      <a:endParaRPr lang="ko-KR" altLang="en-US" sz="1200" b="1" kern="0" spc="-100">
                        <a:solidFill>
                          <a:srgbClr val="000000"/>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244942655"/>
                  </a:ext>
                </a:extLst>
              </a:tr>
              <a:tr h="158747">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b="1" kern="0" spc="-100">
                          <a:solidFill>
                            <a:srgbClr val="000000"/>
                          </a:solidFill>
                          <a:effectLst/>
                        </a:rPr>
                        <a:t>징역</a:t>
                      </a:r>
                      <a:r>
                        <a:rPr lang="en-US" altLang="ko-KR" sz="1200" b="1" kern="0" spc="-100">
                          <a:solidFill>
                            <a:srgbClr val="000000"/>
                          </a:solidFill>
                          <a:effectLst/>
                        </a:rPr>
                        <a:t>/</a:t>
                      </a:r>
                      <a:r>
                        <a:rPr lang="ko-KR" altLang="en-US" sz="1200" b="1" kern="0" spc="-100">
                          <a:solidFill>
                            <a:srgbClr val="000000"/>
                          </a:solidFill>
                          <a:effectLst/>
                        </a:rPr>
                        <a:t>금고</a:t>
                      </a:r>
                      <a:endParaRPr lang="ko-KR" altLang="en-US" sz="1200" b="1" kern="0" spc="-100">
                        <a:solidFill>
                          <a:srgbClr val="000000"/>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b="1" kern="0" spc="-100" dirty="0">
                          <a:solidFill>
                            <a:srgbClr val="000000"/>
                          </a:solidFill>
                          <a:effectLst/>
                        </a:rPr>
                        <a:t>벌금</a:t>
                      </a:r>
                      <a:endParaRPr lang="ko-KR" altLang="en-US" sz="1200" b="1" kern="0" spc="-100" dirty="0">
                        <a:solidFill>
                          <a:srgbClr val="000000"/>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2595675165"/>
                  </a:ext>
                </a:extLst>
              </a:tr>
              <a:tr h="295366">
                <a:tc>
                  <a:txBody>
                    <a:bodyPr/>
                    <a:lstStyle/>
                    <a:p>
                      <a:pPr marL="0" marR="0" indent="0" algn="ctr" fontAlgn="base" latinLnBrk="0">
                        <a:lnSpc>
                          <a:spcPct val="100000"/>
                        </a:lnSpc>
                        <a:spcBef>
                          <a:spcPts val="0"/>
                        </a:spcBef>
                        <a:spcAft>
                          <a:spcPts val="0"/>
                        </a:spcAft>
                      </a:pPr>
                      <a:r>
                        <a:rPr lang="ko-KR" altLang="en-US" sz="1200" kern="0" spc="-100" dirty="0" err="1">
                          <a:solidFill>
                            <a:schemeClr val="bg2">
                              <a:lumMod val="25000"/>
                            </a:schemeClr>
                          </a:solidFill>
                          <a:effectLst/>
                        </a:rPr>
                        <a:t>침해죄</a:t>
                      </a:r>
                      <a:endParaRPr lang="ko-KR" altLang="en-US" sz="1200" kern="0" spc="-100" dirty="0">
                        <a:solidFill>
                          <a:schemeClr val="bg2">
                            <a:lumMod val="25000"/>
                          </a:schemeClr>
                        </a:solidFill>
                        <a:effectLst/>
                      </a:endParaRPr>
                    </a:p>
                    <a:p>
                      <a:pPr marL="0" marR="0" indent="0" algn="ctr" fontAlgn="base" latinLnBrk="0">
                        <a:lnSpc>
                          <a:spcPct val="100000"/>
                        </a:lnSpc>
                        <a:spcBef>
                          <a:spcPts val="0"/>
                        </a:spcBef>
                        <a:spcAft>
                          <a:spcPts val="0"/>
                        </a:spcAft>
                      </a:pPr>
                      <a:r>
                        <a:rPr lang="en-US" altLang="ko-KR" sz="1200" kern="0" spc="-100" dirty="0">
                          <a:solidFill>
                            <a:schemeClr val="bg2">
                              <a:lumMod val="25000"/>
                            </a:schemeClr>
                          </a:solidFill>
                          <a:effectLst/>
                        </a:rPr>
                        <a:t>(</a:t>
                      </a:r>
                      <a:r>
                        <a:rPr lang="ko-KR" altLang="en-US" sz="1200" kern="0" spc="-100" dirty="0">
                          <a:solidFill>
                            <a:schemeClr val="bg2">
                              <a:lumMod val="25000"/>
                            </a:schemeClr>
                          </a:solidFill>
                          <a:effectLst/>
                        </a:rPr>
                        <a:t>法 </a:t>
                      </a:r>
                      <a:r>
                        <a:rPr lang="en-US" altLang="ko-KR" sz="1200" kern="0" spc="-100" dirty="0">
                          <a:solidFill>
                            <a:schemeClr val="bg2">
                              <a:lumMod val="25000"/>
                            </a:schemeClr>
                          </a:solidFill>
                          <a:effectLst/>
                        </a:rPr>
                        <a:t>225)</a:t>
                      </a:r>
                      <a:endParaRPr lang="ko-KR" altLang="en-US" sz="1200" kern="0" spc="-10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00000"/>
                        </a:lnSpc>
                        <a:spcBef>
                          <a:spcPts val="0"/>
                        </a:spcBef>
                        <a:spcAft>
                          <a:spcPts val="0"/>
                        </a:spcAft>
                      </a:pPr>
                      <a:r>
                        <a:rPr lang="ko-KR" altLang="en-US" sz="1200" kern="0" spc="-50" dirty="0">
                          <a:solidFill>
                            <a:schemeClr val="bg2">
                              <a:lumMod val="25000"/>
                            </a:schemeClr>
                          </a:solidFill>
                          <a:effectLst/>
                        </a:rPr>
                        <a:t>특허권 또는 전용실시권을 침해한자</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a:solidFill>
                            <a:schemeClr val="bg2">
                              <a:lumMod val="25000"/>
                            </a:schemeClr>
                          </a:solidFill>
                          <a:effectLst/>
                        </a:rPr>
                        <a:t>7</a:t>
                      </a:r>
                      <a:r>
                        <a:rPr lang="ko-KR" altLang="en-US" sz="1200" kern="0" spc="-50">
                          <a:solidFill>
                            <a:schemeClr val="bg2">
                              <a:lumMod val="25000"/>
                            </a:schemeClr>
                          </a:solidFill>
                          <a:effectLst/>
                        </a:rPr>
                        <a:t>년이하</a:t>
                      </a:r>
                    </a:p>
                    <a:p>
                      <a:pPr marL="17780" marR="17780" indent="0" algn="ctr" fontAlgn="base" latinLnBrk="0">
                        <a:lnSpc>
                          <a:spcPct val="100000"/>
                        </a:lnSpc>
                        <a:spcBef>
                          <a:spcPts val="0"/>
                        </a:spcBef>
                        <a:spcAft>
                          <a:spcPts val="0"/>
                        </a:spcAft>
                      </a:pPr>
                      <a:r>
                        <a:rPr lang="ko-KR" altLang="en-US" sz="1200" kern="0" spc="-50">
                          <a:solidFill>
                            <a:schemeClr val="bg2">
                              <a:lumMod val="25000"/>
                            </a:schemeClr>
                          </a:solidFill>
                          <a:effectLst/>
                        </a:rPr>
                        <a:t>징역</a:t>
                      </a: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a:solidFill>
                            <a:schemeClr val="bg2">
                              <a:lumMod val="25000"/>
                            </a:schemeClr>
                          </a:solidFill>
                          <a:effectLst/>
                        </a:rPr>
                        <a:t>1</a:t>
                      </a:r>
                      <a:r>
                        <a:rPr lang="ko-KR" altLang="en-US" sz="1200" kern="0" spc="-50">
                          <a:solidFill>
                            <a:schemeClr val="bg2">
                              <a:lumMod val="25000"/>
                            </a:schemeClr>
                          </a:solidFill>
                          <a:effectLst/>
                        </a:rPr>
                        <a:t>억원</a:t>
                      </a:r>
                    </a:p>
                    <a:p>
                      <a:pPr marL="17780" marR="17780" indent="0" algn="ctr" fontAlgn="base" latinLnBrk="0">
                        <a:lnSpc>
                          <a:spcPct val="100000"/>
                        </a:lnSpc>
                        <a:spcBef>
                          <a:spcPts val="0"/>
                        </a:spcBef>
                        <a:spcAft>
                          <a:spcPts val="0"/>
                        </a:spcAft>
                      </a:pPr>
                      <a:r>
                        <a:rPr lang="ko-KR" altLang="en-US" sz="1200" kern="0" spc="-50">
                          <a:solidFill>
                            <a:schemeClr val="bg2">
                              <a:lumMod val="25000"/>
                            </a:schemeClr>
                          </a:solidFill>
                          <a:effectLst/>
                        </a:rPr>
                        <a:t>이하</a:t>
                      </a: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200" kern="0" spc="-50" dirty="0">
                          <a:solidFill>
                            <a:schemeClr val="bg2">
                              <a:lumMod val="25000"/>
                            </a:schemeClr>
                          </a:solidFill>
                          <a:effectLst/>
                        </a:rPr>
                        <a:t>○</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a:solidFill>
                            <a:schemeClr val="bg2">
                              <a:lumMod val="25000"/>
                            </a:schemeClr>
                          </a:solidFill>
                          <a:effectLst/>
                        </a:rPr>
                        <a:t>×</a:t>
                      </a:r>
                      <a:endParaRPr 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200" kern="0" spc="-50" dirty="0">
                          <a:solidFill>
                            <a:schemeClr val="bg2">
                              <a:lumMod val="25000"/>
                            </a:schemeClr>
                          </a:solidFill>
                          <a:effectLst/>
                        </a:rPr>
                        <a:t>○</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200" kern="0" spc="-50" dirty="0">
                          <a:solidFill>
                            <a:schemeClr val="bg2">
                              <a:lumMod val="25000"/>
                            </a:schemeClr>
                          </a:solidFill>
                          <a:effectLst/>
                        </a:rPr>
                        <a:t>몰수</a:t>
                      </a:r>
                      <a:r>
                        <a:rPr lang="en-US" altLang="ko-KR" sz="1200" kern="0" spc="-50" dirty="0">
                          <a:solidFill>
                            <a:schemeClr val="bg2">
                              <a:lumMod val="25000"/>
                            </a:schemeClr>
                          </a:solidFill>
                          <a:effectLst/>
                        </a:rPr>
                        <a:t>*</a:t>
                      </a:r>
                      <a:r>
                        <a:rPr lang="ko-KR" altLang="en-US" sz="1200" kern="0" spc="-50" dirty="0" err="1">
                          <a:solidFill>
                            <a:schemeClr val="bg2">
                              <a:lumMod val="25000"/>
                            </a:schemeClr>
                          </a:solidFill>
                          <a:effectLst/>
                        </a:rPr>
                        <a:t>ㆍ교부</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989058062"/>
                  </a:ext>
                </a:extLst>
              </a:tr>
              <a:tr h="568603">
                <a:tc rowSpan="2">
                  <a:txBody>
                    <a:bodyPr/>
                    <a:lstStyle/>
                    <a:p>
                      <a:pPr marL="0" marR="0" indent="0" algn="ctr" fontAlgn="base" latinLnBrk="0">
                        <a:lnSpc>
                          <a:spcPct val="100000"/>
                        </a:lnSpc>
                        <a:spcBef>
                          <a:spcPts val="0"/>
                        </a:spcBef>
                        <a:spcAft>
                          <a:spcPts val="0"/>
                        </a:spcAft>
                      </a:pPr>
                      <a:r>
                        <a:rPr lang="ko-KR" altLang="en-US" sz="1200" kern="0" spc="-100" dirty="0" err="1">
                          <a:solidFill>
                            <a:schemeClr val="bg2">
                              <a:lumMod val="25000"/>
                            </a:schemeClr>
                          </a:solidFill>
                          <a:effectLst/>
                        </a:rPr>
                        <a:t>비밀누설죄</a:t>
                      </a:r>
                      <a:endParaRPr lang="ko-KR" altLang="en-US" sz="1200" kern="0" spc="-100" dirty="0">
                        <a:solidFill>
                          <a:schemeClr val="bg2">
                            <a:lumMod val="25000"/>
                          </a:schemeClr>
                        </a:solidFill>
                        <a:effectLst/>
                      </a:endParaRPr>
                    </a:p>
                    <a:p>
                      <a:pPr marL="0" marR="0" indent="0" algn="ctr" fontAlgn="base" latinLnBrk="0">
                        <a:lnSpc>
                          <a:spcPct val="100000"/>
                        </a:lnSpc>
                        <a:spcBef>
                          <a:spcPts val="0"/>
                        </a:spcBef>
                        <a:spcAft>
                          <a:spcPts val="0"/>
                        </a:spcAft>
                      </a:pPr>
                      <a:r>
                        <a:rPr lang="en-US" altLang="ko-KR" sz="1200" kern="0" spc="-100" dirty="0">
                          <a:solidFill>
                            <a:schemeClr val="bg2">
                              <a:lumMod val="25000"/>
                            </a:schemeClr>
                          </a:solidFill>
                          <a:effectLst/>
                        </a:rPr>
                        <a:t>(</a:t>
                      </a:r>
                      <a:r>
                        <a:rPr lang="ko-KR" altLang="en-US" sz="1200" kern="0" spc="-100" dirty="0">
                          <a:solidFill>
                            <a:schemeClr val="bg2">
                              <a:lumMod val="25000"/>
                            </a:schemeClr>
                          </a:solidFill>
                          <a:effectLst/>
                        </a:rPr>
                        <a:t>法 </a:t>
                      </a:r>
                      <a:r>
                        <a:rPr lang="en-US" altLang="ko-KR" sz="1200" kern="0" spc="-100" dirty="0">
                          <a:solidFill>
                            <a:schemeClr val="bg2">
                              <a:lumMod val="25000"/>
                            </a:schemeClr>
                          </a:solidFill>
                          <a:effectLst/>
                        </a:rPr>
                        <a:t>226, 226</a:t>
                      </a:r>
                      <a:r>
                        <a:rPr lang="ko-KR" altLang="en-US" sz="1200" kern="0" spc="-100" dirty="0">
                          <a:solidFill>
                            <a:schemeClr val="bg2">
                              <a:lumMod val="25000"/>
                            </a:schemeClr>
                          </a:solidFill>
                          <a:effectLst/>
                        </a:rPr>
                        <a:t>의</a:t>
                      </a:r>
                      <a:r>
                        <a:rPr lang="en-US" altLang="ko-KR" sz="1200" kern="0" spc="-100" dirty="0">
                          <a:solidFill>
                            <a:schemeClr val="bg2">
                              <a:lumMod val="25000"/>
                            </a:schemeClr>
                          </a:solidFill>
                          <a:effectLst/>
                        </a:rPr>
                        <a:t>2)</a:t>
                      </a:r>
                      <a:endParaRPr lang="ko-KR" altLang="en-US" sz="1200" kern="0" spc="-10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00000"/>
                        </a:lnSpc>
                        <a:spcBef>
                          <a:spcPts val="0"/>
                        </a:spcBef>
                        <a:spcAft>
                          <a:spcPts val="0"/>
                        </a:spcAft>
                      </a:pPr>
                      <a:r>
                        <a:rPr lang="ko-KR" altLang="en-US" sz="1200" kern="0" spc="-50" dirty="0">
                          <a:solidFill>
                            <a:schemeClr val="bg2">
                              <a:lumMod val="25000"/>
                            </a:schemeClr>
                          </a:solidFill>
                          <a:effectLst/>
                        </a:rPr>
                        <a:t>지식재산처 또는 특허심판원 소속 직원이거나 직원 </a:t>
                      </a:r>
                      <a:r>
                        <a:rPr lang="en-US" altLang="ko-KR" sz="1200" kern="0" spc="-50" dirty="0">
                          <a:solidFill>
                            <a:schemeClr val="bg2">
                              <a:lumMod val="25000"/>
                            </a:schemeClr>
                          </a:solidFill>
                          <a:effectLst/>
                        </a:rPr>
                        <a:t>(</a:t>
                      </a:r>
                      <a:r>
                        <a:rPr lang="ko-KR" altLang="en-US" sz="1200" kern="0" spc="-50" dirty="0">
                          <a:solidFill>
                            <a:schemeClr val="bg2">
                              <a:lumMod val="25000"/>
                            </a:schemeClr>
                          </a:solidFill>
                          <a:effectLst/>
                        </a:rPr>
                        <a:t>전문기관 또는</a:t>
                      </a:r>
                      <a:r>
                        <a:rPr lang="en-US" altLang="ko-KR" sz="1200" kern="0" spc="-50" dirty="0">
                          <a:solidFill>
                            <a:schemeClr val="bg2">
                              <a:lumMod val="25000"/>
                            </a:schemeClr>
                          </a:solidFill>
                          <a:effectLst/>
                        </a:rPr>
                        <a:t> </a:t>
                      </a:r>
                      <a:r>
                        <a:rPr lang="ko-KR" altLang="en-US" sz="1200" kern="0" spc="-50" dirty="0">
                          <a:solidFill>
                            <a:schemeClr val="bg2">
                              <a:lumMod val="25000"/>
                            </a:schemeClr>
                          </a:solidFill>
                          <a:effectLst/>
                        </a:rPr>
                        <a:t>전담기관 의 임직원이거나 임직원이었던 사람 포함</a:t>
                      </a:r>
                      <a:r>
                        <a:rPr lang="en-US" altLang="ko-KR" sz="1200" kern="0" spc="-50" dirty="0">
                          <a:solidFill>
                            <a:schemeClr val="bg2">
                              <a:lumMod val="25000"/>
                            </a:schemeClr>
                          </a:solidFill>
                          <a:effectLst/>
                        </a:rPr>
                        <a:t>)</a:t>
                      </a:r>
                      <a:r>
                        <a:rPr lang="ko-KR" altLang="en-US" sz="1200" kern="0" spc="-50" dirty="0">
                          <a:solidFill>
                            <a:schemeClr val="bg2">
                              <a:lumMod val="25000"/>
                            </a:schemeClr>
                          </a:solidFill>
                          <a:effectLst/>
                        </a:rPr>
                        <a:t>이었던 사람이 특허출원 중인 발명</a:t>
                      </a:r>
                      <a:r>
                        <a:rPr lang="en-US" altLang="ko-KR" sz="1200" kern="0" spc="-50" dirty="0">
                          <a:solidFill>
                            <a:schemeClr val="bg2">
                              <a:lumMod val="25000"/>
                            </a:schemeClr>
                          </a:solidFill>
                          <a:effectLst/>
                        </a:rPr>
                        <a:t>(</a:t>
                      </a:r>
                      <a:r>
                        <a:rPr lang="ko-KR" altLang="en-US" sz="1200" kern="0" spc="-50" dirty="0">
                          <a:solidFill>
                            <a:schemeClr val="bg2">
                              <a:lumMod val="25000"/>
                            </a:schemeClr>
                          </a:solidFill>
                          <a:effectLst/>
                        </a:rPr>
                        <a:t>국제출원 중인 발명을 포함한다</a:t>
                      </a:r>
                      <a:r>
                        <a:rPr lang="en-US" altLang="ko-KR" sz="1200" kern="0" spc="-50" dirty="0">
                          <a:solidFill>
                            <a:schemeClr val="bg2">
                              <a:lumMod val="25000"/>
                            </a:schemeClr>
                          </a:solidFill>
                          <a:effectLst/>
                        </a:rPr>
                        <a:t>)</a:t>
                      </a:r>
                      <a:r>
                        <a:rPr lang="ko-KR" altLang="en-US" sz="1200" kern="0" spc="-50" dirty="0">
                          <a:solidFill>
                            <a:schemeClr val="bg2">
                              <a:lumMod val="25000"/>
                            </a:schemeClr>
                          </a:solidFill>
                          <a:effectLst/>
                        </a:rPr>
                        <a:t>에 관하여 직무상 알게 된 비밀을 누설하거나 도용한 경우</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a:solidFill>
                            <a:schemeClr val="bg2">
                              <a:lumMod val="25000"/>
                            </a:schemeClr>
                          </a:solidFill>
                          <a:effectLst/>
                        </a:rPr>
                        <a:t>5</a:t>
                      </a:r>
                      <a:r>
                        <a:rPr lang="ko-KR" altLang="en-US" sz="1200" kern="0" spc="-50">
                          <a:solidFill>
                            <a:schemeClr val="bg2">
                              <a:lumMod val="25000"/>
                            </a:schemeClr>
                          </a:solidFill>
                          <a:effectLst/>
                        </a:rPr>
                        <a:t>년이하</a:t>
                      </a:r>
                    </a:p>
                    <a:p>
                      <a:pPr marL="17780" marR="17780" indent="0" algn="ctr" fontAlgn="base" latinLnBrk="0">
                        <a:lnSpc>
                          <a:spcPct val="100000"/>
                        </a:lnSpc>
                        <a:spcBef>
                          <a:spcPts val="0"/>
                        </a:spcBef>
                        <a:spcAft>
                          <a:spcPts val="0"/>
                        </a:spcAft>
                      </a:pPr>
                      <a:r>
                        <a:rPr lang="ko-KR" altLang="en-US" sz="1200" kern="0" spc="-50">
                          <a:solidFill>
                            <a:schemeClr val="bg2">
                              <a:lumMod val="25000"/>
                            </a:schemeClr>
                          </a:solidFill>
                          <a:effectLst/>
                        </a:rPr>
                        <a:t>징역</a:t>
                      </a: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a:solidFill>
                            <a:schemeClr val="bg2">
                              <a:lumMod val="25000"/>
                            </a:schemeClr>
                          </a:solidFill>
                          <a:effectLst/>
                        </a:rPr>
                        <a:t>5</a:t>
                      </a:r>
                      <a:r>
                        <a:rPr lang="ko-KR" altLang="en-US" sz="1200" kern="0" spc="-50">
                          <a:solidFill>
                            <a:schemeClr val="bg2">
                              <a:lumMod val="25000"/>
                            </a:schemeClr>
                          </a:solidFill>
                          <a:effectLst/>
                        </a:rPr>
                        <a:t>천만원이하</a:t>
                      </a: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a:solidFill>
                            <a:schemeClr val="bg2">
                              <a:lumMod val="25000"/>
                            </a:schemeClr>
                          </a:solidFill>
                          <a:effectLst/>
                        </a:rPr>
                        <a:t>×</a:t>
                      </a:r>
                      <a:endParaRPr 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a:solidFill>
                            <a:schemeClr val="bg2">
                              <a:lumMod val="25000"/>
                            </a:schemeClr>
                          </a:solidFill>
                          <a:effectLst/>
                        </a:rPr>
                        <a:t>×</a:t>
                      </a:r>
                      <a:endParaRPr 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a:solidFill>
                            <a:schemeClr val="bg2">
                              <a:lumMod val="25000"/>
                            </a:schemeClr>
                          </a:solidFill>
                          <a:effectLst/>
                        </a:rPr>
                        <a:t>×</a:t>
                      </a:r>
                      <a:endParaRPr 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76578705"/>
                  </a:ext>
                </a:extLst>
              </a:tr>
              <a:tr h="431984">
                <a:tc v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200" kern="0" spc="-50" dirty="0">
                          <a:solidFill>
                            <a:schemeClr val="bg2">
                              <a:lumMod val="25000"/>
                            </a:schemeClr>
                          </a:solidFill>
                          <a:effectLst/>
                        </a:rPr>
                        <a:t>전문심리위원 또는 </a:t>
                      </a:r>
                      <a:r>
                        <a:rPr lang="ko-KR" altLang="en-US" sz="1200" kern="0" spc="-50" dirty="0" err="1">
                          <a:solidFill>
                            <a:schemeClr val="bg2">
                              <a:lumMod val="25000"/>
                            </a:schemeClr>
                          </a:solidFill>
                          <a:effectLst/>
                        </a:rPr>
                        <a:t>전문심리위원이었던</a:t>
                      </a:r>
                      <a:r>
                        <a:rPr lang="ko-KR" altLang="en-US" sz="1200" kern="0" spc="-50" dirty="0">
                          <a:solidFill>
                            <a:schemeClr val="bg2">
                              <a:lumMod val="25000"/>
                            </a:schemeClr>
                          </a:solidFill>
                          <a:effectLst/>
                        </a:rPr>
                        <a:t> 자가 그 직무수행 중에 알게 된 다른 사람의 비밀을 누설하는 경우*</a:t>
                      </a:r>
                      <a:endParaRPr lang="ko-KR" altLang="en-US" sz="1200" kern="0" spc="-6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dirty="0">
                          <a:solidFill>
                            <a:schemeClr val="bg2">
                              <a:lumMod val="25000"/>
                            </a:schemeClr>
                          </a:solidFill>
                          <a:effectLst/>
                        </a:rPr>
                        <a:t>2</a:t>
                      </a:r>
                      <a:r>
                        <a:rPr lang="ko-KR" altLang="en-US" sz="1200" kern="0" spc="-50" dirty="0" err="1">
                          <a:solidFill>
                            <a:schemeClr val="bg2">
                              <a:lumMod val="25000"/>
                            </a:schemeClr>
                          </a:solidFill>
                          <a:effectLst/>
                        </a:rPr>
                        <a:t>년이하</a:t>
                      </a:r>
                      <a:endParaRPr lang="ko-KR" altLang="en-US" sz="1200" kern="0" spc="-50" dirty="0">
                        <a:solidFill>
                          <a:schemeClr val="bg2">
                            <a:lumMod val="25000"/>
                          </a:schemeClr>
                        </a:solidFill>
                        <a:effectLst/>
                      </a:endParaRPr>
                    </a:p>
                    <a:p>
                      <a:pPr marL="17780" marR="17780" indent="0" algn="ctr" fontAlgn="base" latinLnBrk="0">
                        <a:lnSpc>
                          <a:spcPct val="100000"/>
                        </a:lnSpc>
                        <a:spcBef>
                          <a:spcPts val="0"/>
                        </a:spcBef>
                        <a:spcAft>
                          <a:spcPts val="0"/>
                        </a:spcAft>
                      </a:pPr>
                      <a:r>
                        <a:rPr lang="ko-KR" altLang="en-US" sz="1200" kern="0" spc="-50" dirty="0">
                          <a:solidFill>
                            <a:schemeClr val="bg2">
                              <a:lumMod val="25000"/>
                            </a:schemeClr>
                          </a:solidFill>
                          <a:effectLst/>
                        </a:rPr>
                        <a:t>징역</a:t>
                      </a:r>
                      <a:r>
                        <a:rPr lang="en-US" altLang="ko-KR" sz="1200" kern="0" spc="-50" dirty="0">
                          <a:solidFill>
                            <a:schemeClr val="bg2">
                              <a:lumMod val="25000"/>
                            </a:schemeClr>
                          </a:solidFill>
                          <a:effectLst/>
                        </a:rPr>
                        <a:t>/</a:t>
                      </a:r>
                      <a:endParaRPr lang="ko-KR" altLang="en-US" sz="1200" kern="0" spc="-50" dirty="0">
                        <a:solidFill>
                          <a:schemeClr val="bg2">
                            <a:lumMod val="25000"/>
                          </a:schemeClr>
                        </a:solidFill>
                        <a:effectLst/>
                      </a:endParaRPr>
                    </a:p>
                    <a:p>
                      <a:pPr marL="17780" marR="17780" indent="0" algn="ctr" fontAlgn="base" latinLnBrk="0">
                        <a:lnSpc>
                          <a:spcPct val="100000"/>
                        </a:lnSpc>
                        <a:spcBef>
                          <a:spcPts val="0"/>
                        </a:spcBef>
                        <a:spcAft>
                          <a:spcPts val="0"/>
                        </a:spcAft>
                      </a:pPr>
                      <a:r>
                        <a:rPr lang="ko-KR" altLang="en-US" sz="1200" kern="0" spc="-50" dirty="0">
                          <a:solidFill>
                            <a:schemeClr val="bg2">
                              <a:lumMod val="25000"/>
                            </a:schemeClr>
                          </a:solidFill>
                          <a:effectLst/>
                        </a:rPr>
                        <a:t>금고</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a:solidFill>
                            <a:schemeClr val="bg2">
                              <a:lumMod val="25000"/>
                            </a:schemeClr>
                          </a:solidFill>
                          <a:effectLst/>
                        </a:rPr>
                        <a:t>1</a:t>
                      </a:r>
                      <a:r>
                        <a:rPr lang="ko-KR" altLang="en-US" sz="1200" kern="0" spc="-50">
                          <a:solidFill>
                            <a:schemeClr val="bg2">
                              <a:lumMod val="25000"/>
                            </a:schemeClr>
                          </a:solidFill>
                          <a:effectLst/>
                        </a:rPr>
                        <a:t>천만원</a:t>
                      </a:r>
                    </a:p>
                    <a:p>
                      <a:pPr marL="17780" marR="17780" indent="0" algn="ctr" fontAlgn="base" latinLnBrk="0">
                        <a:lnSpc>
                          <a:spcPct val="100000"/>
                        </a:lnSpc>
                        <a:spcBef>
                          <a:spcPts val="0"/>
                        </a:spcBef>
                        <a:spcAft>
                          <a:spcPts val="0"/>
                        </a:spcAft>
                      </a:pPr>
                      <a:r>
                        <a:rPr lang="ko-KR" altLang="en-US" sz="1200" kern="0" spc="-50">
                          <a:solidFill>
                            <a:schemeClr val="bg2">
                              <a:lumMod val="25000"/>
                            </a:schemeClr>
                          </a:solidFill>
                          <a:effectLst/>
                        </a:rPr>
                        <a:t>이하</a:t>
                      </a: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a:solidFill>
                            <a:schemeClr val="bg2">
                              <a:lumMod val="25000"/>
                            </a:schemeClr>
                          </a:solidFill>
                          <a:effectLst/>
                        </a:rPr>
                        <a:t>×</a:t>
                      </a:r>
                      <a:endParaRPr 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a:solidFill>
                            <a:schemeClr val="bg2">
                              <a:lumMod val="25000"/>
                            </a:schemeClr>
                          </a:solidFill>
                          <a:effectLst/>
                        </a:rPr>
                        <a:t>×</a:t>
                      </a:r>
                      <a:endParaRPr 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a:solidFill>
                            <a:schemeClr val="bg2">
                              <a:lumMod val="25000"/>
                            </a:schemeClr>
                          </a:solidFill>
                          <a:effectLst/>
                        </a:rPr>
                        <a:t>×</a:t>
                      </a:r>
                      <a:endParaRPr 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9224476"/>
                  </a:ext>
                </a:extLst>
              </a:tr>
              <a:tr h="705221">
                <a:tc>
                  <a:txBody>
                    <a:bodyPr/>
                    <a:lstStyle/>
                    <a:p>
                      <a:pPr marL="0" marR="0" indent="0" algn="ctr" fontAlgn="base" latinLnBrk="0">
                        <a:lnSpc>
                          <a:spcPct val="100000"/>
                        </a:lnSpc>
                        <a:spcBef>
                          <a:spcPts val="0"/>
                        </a:spcBef>
                        <a:spcAft>
                          <a:spcPts val="0"/>
                        </a:spcAft>
                      </a:pPr>
                      <a:r>
                        <a:rPr lang="ko-KR" altLang="en-US" sz="1200" kern="0" spc="-100">
                          <a:solidFill>
                            <a:schemeClr val="bg2">
                              <a:lumMod val="25000"/>
                            </a:schemeClr>
                          </a:solidFill>
                          <a:effectLst/>
                        </a:rPr>
                        <a:t>위증죄</a:t>
                      </a:r>
                    </a:p>
                    <a:p>
                      <a:pPr marL="0" marR="0" indent="0" algn="ctr" fontAlgn="base" latinLnBrk="0">
                        <a:lnSpc>
                          <a:spcPct val="100000"/>
                        </a:lnSpc>
                        <a:spcBef>
                          <a:spcPts val="0"/>
                        </a:spcBef>
                        <a:spcAft>
                          <a:spcPts val="0"/>
                        </a:spcAft>
                      </a:pPr>
                      <a:r>
                        <a:rPr lang="en-US" altLang="ko-KR" sz="1200" kern="0" spc="-100">
                          <a:solidFill>
                            <a:schemeClr val="bg2">
                              <a:lumMod val="25000"/>
                            </a:schemeClr>
                          </a:solidFill>
                          <a:effectLst/>
                        </a:rPr>
                        <a:t>(</a:t>
                      </a:r>
                      <a:r>
                        <a:rPr lang="ko-KR" altLang="en-US" sz="1200" kern="0" spc="-100">
                          <a:solidFill>
                            <a:schemeClr val="bg2">
                              <a:lumMod val="25000"/>
                            </a:schemeClr>
                          </a:solidFill>
                          <a:effectLst/>
                        </a:rPr>
                        <a:t>法 </a:t>
                      </a:r>
                      <a:r>
                        <a:rPr lang="en-US" altLang="ko-KR" sz="1200" kern="0" spc="-100">
                          <a:solidFill>
                            <a:schemeClr val="bg2">
                              <a:lumMod val="25000"/>
                            </a:schemeClr>
                          </a:solidFill>
                          <a:effectLst/>
                        </a:rPr>
                        <a:t>227)</a:t>
                      </a:r>
                      <a:endParaRPr lang="ko-KR" altLang="en-US" sz="1200" kern="0" spc="-10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00000"/>
                        </a:lnSpc>
                        <a:spcBef>
                          <a:spcPts val="0"/>
                        </a:spcBef>
                        <a:spcAft>
                          <a:spcPts val="0"/>
                        </a:spcAft>
                      </a:pPr>
                      <a:r>
                        <a:rPr lang="ko-KR" altLang="en-US" sz="1200" kern="0" spc="-50" dirty="0">
                          <a:solidFill>
                            <a:schemeClr val="bg2">
                              <a:lumMod val="25000"/>
                            </a:schemeClr>
                          </a:solidFill>
                          <a:effectLst/>
                        </a:rPr>
                        <a:t>이 법에 따라 선서한 </a:t>
                      </a:r>
                      <a:r>
                        <a:rPr lang="ko-KR" altLang="en-US" sz="1200" kern="0" spc="-50" dirty="0" err="1">
                          <a:solidFill>
                            <a:schemeClr val="bg2">
                              <a:lumMod val="25000"/>
                            </a:schemeClr>
                          </a:solidFill>
                          <a:effectLst/>
                        </a:rPr>
                        <a:t>증인ㆍ감정인</a:t>
                      </a:r>
                      <a:r>
                        <a:rPr lang="ko-KR" altLang="en-US" sz="1200" kern="0" spc="-50" dirty="0">
                          <a:solidFill>
                            <a:schemeClr val="bg2">
                              <a:lumMod val="25000"/>
                            </a:schemeClr>
                          </a:solidFill>
                          <a:effectLst/>
                        </a:rPr>
                        <a:t> 또는 통역인이 특허심판원에 대하여 허위의 </a:t>
                      </a:r>
                      <a:r>
                        <a:rPr lang="ko-KR" altLang="en-US" sz="1200" kern="0" spc="-50" dirty="0" err="1">
                          <a:solidFill>
                            <a:schemeClr val="bg2">
                              <a:lumMod val="25000"/>
                            </a:schemeClr>
                          </a:solidFill>
                          <a:effectLst/>
                        </a:rPr>
                        <a:t>진술ㆍ감정</a:t>
                      </a:r>
                      <a:r>
                        <a:rPr lang="ko-KR" altLang="en-US" sz="1200" kern="0" spc="-50" dirty="0">
                          <a:solidFill>
                            <a:schemeClr val="bg2">
                              <a:lumMod val="25000"/>
                            </a:schemeClr>
                          </a:solidFill>
                          <a:effectLst/>
                        </a:rPr>
                        <a:t> 또는 통역을 한 경우</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a:solidFill>
                            <a:schemeClr val="bg2">
                              <a:lumMod val="25000"/>
                            </a:schemeClr>
                          </a:solidFill>
                          <a:effectLst/>
                        </a:rPr>
                        <a:t>5</a:t>
                      </a:r>
                      <a:r>
                        <a:rPr lang="ko-KR" altLang="en-US" sz="1200" kern="0" spc="-50">
                          <a:solidFill>
                            <a:schemeClr val="bg2">
                              <a:lumMod val="25000"/>
                            </a:schemeClr>
                          </a:solidFill>
                          <a:effectLst/>
                        </a:rPr>
                        <a:t>년이하 징역</a:t>
                      </a: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dirty="0">
                          <a:solidFill>
                            <a:schemeClr val="bg2">
                              <a:lumMod val="25000"/>
                            </a:schemeClr>
                          </a:solidFill>
                          <a:effectLst/>
                        </a:rPr>
                        <a:t>5</a:t>
                      </a:r>
                      <a:r>
                        <a:rPr lang="ko-KR" altLang="en-US" sz="1200" kern="0" spc="-50" dirty="0" err="1">
                          <a:solidFill>
                            <a:schemeClr val="bg2">
                              <a:lumMod val="25000"/>
                            </a:schemeClr>
                          </a:solidFill>
                          <a:effectLst/>
                        </a:rPr>
                        <a:t>천만원이하</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a:solidFill>
                            <a:schemeClr val="bg2">
                              <a:lumMod val="25000"/>
                            </a:schemeClr>
                          </a:solidFill>
                          <a:effectLst/>
                        </a:rPr>
                        <a:t>×</a:t>
                      </a:r>
                      <a:endParaRPr 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dirty="0">
                          <a:solidFill>
                            <a:schemeClr val="bg2">
                              <a:lumMod val="25000"/>
                            </a:schemeClr>
                          </a:solidFill>
                          <a:effectLst/>
                        </a:rPr>
                        <a:t>×</a:t>
                      </a:r>
                      <a:endParaRPr 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a:solidFill>
                            <a:schemeClr val="bg2">
                              <a:lumMod val="25000"/>
                            </a:schemeClr>
                          </a:solidFill>
                          <a:effectLst/>
                        </a:rPr>
                        <a:t>×</a:t>
                      </a:r>
                      <a:endParaRPr 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200" kern="0" spc="-50">
                          <a:solidFill>
                            <a:schemeClr val="bg2">
                              <a:lumMod val="25000"/>
                            </a:schemeClr>
                          </a:solidFill>
                          <a:effectLst/>
                        </a:rPr>
                        <a:t>특허취소신청에 대한 결정 또는 심결 확정전 자수시 감경</a:t>
                      </a:r>
                      <a:r>
                        <a:rPr lang="en-US" altLang="ko-KR" sz="1200" kern="0" spc="-50">
                          <a:solidFill>
                            <a:schemeClr val="bg2">
                              <a:lumMod val="25000"/>
                            </a:schemeClr>
                          </a:solidFill>
                          <a:effectLst/>
                        </a:rPr>
                        <a:t>․</a:t>
                      </a:r>
                      <a:r>
                        <a:rPr lang="ko-KR" altLang="en-US" sz="1200" kern="0" spc="-50">
                          <a:solidFill>
                            <a:schemeClr val="bg2">
                              <a:lumMod val="25000"/>
                            </a:schemeClr>
                          </a:solidFill>
                          <a:effectLst/>
                        </a:rPr>
                        <a:t>면제</a:t>
                      </a: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579656776"/>
                  </a:ext>
                </a:extLst>
              </a:tr>
              <a:tr h="295366">
                <a:tc>
                  <a:txBody>
                    <a:bodyPr/>
                    <a:lstStyle/>
                    <a:p>
                      <a:pPr marL="0" marR="0" indent="0" algn="ctr" fontAlgn="base" latinLnBrk="0">
                        <a:lnSpc>
                          <a:spcPct val="100000"/>
                        </a:lnSpc>
                        <a:spcBef>
                          <a:spcPts val="0"/>
                        </a:spcBef>
                        <a:spcAft>
                          <a:spcPts val="0"/>
                        </a:spcAft>
                      </a:pPr>
                      <a:r>
                        <a:rPr lang="ko-KR" altLang="en-US" sz="1200" kern="0" spc="-100">
                          <a:solidFill>
                            <a:schemeClr val="bg2">
                              <a:lumMod val="25000"/>
                            </a:schemeClr>
                          </a:solidFill>
                          <a:effectLst/>
                        </a:rPr>
                        <a:t>허위표시죄</a:t>
                      </a:r>
                    </a:p>
                    <a:p>
                      <a:pPr marL="0" marR="0" indent="0" algn="ctr" fontAlgn="base" latinLnBrk="0">
                        <a:lnSpc>
                          <a:spcPct val="100000"/>
                        </a:lnSpc>
                        <a:spcBef>
                          <a:spcPts val="0"/>
                        </a:spcBef>
                        <a:spcAft>
                          <a:spcPts val="0"/>
                        </a:spcAft>
                      </a:pPr>
                      <a:r>
                        <a:rPr lang="en-US" altLang="ko-KR" sz="1200" kern="0" spc="-100">
                          <a:solidFill>
                            <a:schemeClr val="bg2">
                              <a:lumMod val="25000"/>
                            </a:schemeClr>
                          </a:solidFill>
                          <a:effectLst/>
                        </a:rPr>
                        <a:t>(</a:t>
                      </a:r>
                      <a:r>
                        <a:rPr lang="ko-KR" altLang="en-US" sz="1200" kern="0" spc="-100">
                          <a:solidFill>
                            <a:schemeClr val="bg2">
                              <a:lumMod val="25000"/>
                            </a:schemeClr>
                          </a:solidFill>
                          <a:effectLst/>
                        </a:rPr>
                        <a:t>法 </a:t>
                      </a:r>
                      <a:r>
                        <a:rPr lang="en-US" altLang="ko-KR" sz="1200" kern="0" spc="-100">
                          <a:solidFill>
                            <a:schemeClr val="bg2">
                              <a:lumMod val="25000"/>
                            </a:schemeClr>
                          </a:solidFill>
                          <a:effectLst/>
                        </a:rPr>
                        <a:t>228)</a:t>
                      </a:r>
                      <a:endParaRPr lang="ko-KR" altLang="en-US" sz="1200" kern="0" spc="-10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00000"/>
                        </a:lnSpc>
                        <a:spcBef>
                          <a:spcPts val="0"/>
                        </a:spcBef>
                        <a:spcAft>
                          <a:spcPts val="0"/>
                        </a:spcAft>
                      </a:pPr>
                      <a:r>
                        <a:rPr lang="ko-KR" altLang="en-US" sz="1200" kern="0" spc="-50" dirty="0">
                          <a:solidFill>
                            <a:schemeClr val="bg2">
                              <a:lumMod val="25000"/>
                            </a:schemeClr>
                          </a:solidFill>
                          <a:effectLst/>
                        </a:rPr>
                        <a:t>허위표시의 금지</a:t>
                      </a:r>
                      <a:r>
                        <a:rPr lang="en-US" altLang="ko-KR" sz="1200" kern="0" spc="-50" dirty="0">
                          <a:solidFill>
                            <a:schemeClr val="bg2">
                              <a:lumMod val="25000"/>
                            </a:schemeClr>
                          </a:solidFill>
                          <a:effectLst/>
                        </a:rPr>
                        <a:t>(</a:t>
                      </a:r>
                      <a:r>
                        <a:rPr lang="ko-KR" altLang="en-US" sz="1200" kern="0" spc="-50" dirty="0">
                          <a:solidFill>
                            <a:schemeClr val="bg2">
                              <a:lumMod val="25000"/>
                            </a:schemeClr>
                          </a:solidFill>
                          <a:effectLst/>
                        </a:rPr>
                        <a:t>法 </a:t>
                      </a:r>
                      <a:r>
                        <a:rPr lang="en-US" altLang="ko-KR" sz="1200" kern="0" spc="-50" dirty="0">
                          <a:solidFill>
                            <a:schemeClr val="bg2">
                              <a:lumMod val="25000"/>
                            </a:schemeClr>
                          </a:solidFill>
                          <a:effectLst/>
                        </a:rPr>
                        <a:t>224)</a:t>
                      </a:r>
                      <a:r>
                        <a:rPr lang="ko-KR" altLang="en-US" sz="1200" kern="0" spc="-50" dirty="0">
                          <a:solidFill>
                            <a:schemeClr val="bg2">
                              <a:lumMod val="25000"/>
                            </a:schemeClr>
                          </a:solidFill>
                          <a:effectLst/>
                        </a:rPr>
                        <a:t>에 위반한 자</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a:solidFill>
                            <a:schemeClr val="bg2">
                              <a:lumMod val="25000"/>
                            </a:schemeClr>
                          </a:solidFill>
                          <a:effectLst/>
                        </a:rPr>
                        <a:t>3</a:t>
                      </a:r>
                      <a:r>
                        <a:rPr lang="ko-KR" altLang="en-US" sz="1200" kern="0" spc="-50">
                          <a:solidFill>
                            <a:schemeClr val="bg2">
                              <a:lumMod val="25000"/>
                            </a:schemeClr>
                          </a:solidFill>
                          <a:effectLst/>
                        </a:rPr>
                        <a:t>년이하 징역</a:t>
                      </a: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a:solidFill>
                            <a:schemeClr val="bg2">
                              <a:lumMod val="25000"/>
                            </a:schemeClr>
                          </a:solidFill>
                          <a:effectLst/>
                        </a:rPr>
                        <a:t>3</a:t>
                      </a:r>
                      <a:r>
                        <a:rPr lang="ko-KR" altLang="en-US" sz="1200" kern="0" spc="-50">
                          <a:solidFill>
                            <a:schemeClr val="bg2">
                              <a:lumMod val="25000"/>
                            </a:schemeClr>
                          </a:solidFill>
                          <a:effectLst/>
                        </a:rPr>
                        <a:t>천만원이하</a:t>
                      </a: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a:solidFill>
                            <a:schemeClr val="bg2">
                              <a:lumMod val="25000"/>
                            </a:schemeClr>
                          </a:solidFill>
                          <a:effectLst/>
                        </a:rPr>
                        <a:t>×</a:t>
                      </a:r>
                      <a:endParaRPr 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dirty="0">
                          <a:solidFill>
                            <a:schemeClr val="bg2">
                              <a:lumMod val="25000"/>
                            </a:schemeClr>
                          </a:solidFill>
                          <a:effectLst/>
                        </a:rPr>
                        <a:t>×</a:t>
                      </a:r>
                      <a:endParaRPr 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200" kern="0" spc="-50" dirty="0">
                          <a:solidFill>
                            <a:schemeClr val="bg2">
                              <a:lumMod val="25000"/>
                            </a:schemeClr>
                          </a:solidFill>
                          <a:effectLst/>
                        </a:rPr>
                        <a:t>○</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483827514"/>
                  </a:ext>
                </a:extLst>
              </a:tr>
              <a:tr h="295366">
                <a:tc>
                  <a:txBody>
                    <a:bodyPr/>
                    <a:lstStyle/>
                    <a:p>
                      <a:pPr marL="0" marR="0" indent="0" algn="ctr" fontAlgn="base" latinLnBrk="0">
                        <a:lnSpc>
                          <a:spcPct val="100000"/>
                        </a:lnSpc>
                        <a:spcBef>
                          <a:spcPts val="0"/>
                        </a:spcBef>
                        <a:spcAft>
                          <a:spcPts val="0"/>
                        </a:spcAft>
                      </a:pPr>
                      <a:r>
                        <a:rPr lang="ko-KR" altLang="en-US" sz="1200" kern="0" spc="-100">
                          <a:solidFill>
                            <a:schemeClr val="bg2">
                              <a:lumMod val="25000"/>
                            </a:schemeClr>
                          </a:solidFill>
                          <a:effectLst/>
                        </a:rPr>
                        <a:t>거짓행위죄</a:t>
                      </a:r>
                    </a:p>
                    <a:p>
                      <a:pPr marL="0" marR="0" indent="0" algn="ctr" fontAlgn="base" latinLnBrk="0">
                        <a:lnSpc>
                          <a:spcPct val="100000"/>
                        </a:lnSpc>
                        <a:spcBef>
                          <a:spcPts val="0"/>
                        </a:spcBef>
                        <a:spcAft>
                          <a:spcPts val="0"/>
                        </a:spcAft>
                      </a:pPr>
                      <a:r>
                        <a:rPr lang="en-US" altLang="ko-KR" sz="1200" kern="0" spc="-100">
                          <a:solidFill>
                            <a:schemeClr val="bg2">
                              <a:lumMod val="25000"/>
                            </a:schemeClr>
                          </a:solidFill>
                          <a:effectLst/>
                        </a:rPr>
                        <a:t>(</a:t>
                      </a:r>
                      <a:r>
                        <a:rPr lang="ko-KR" altLang="en-US" sz="1200" kern="0" spc="-100">
                          <a:solidFill>
                            <a:schemeClr val="bg2">
                              <a:lumMod val="25000"/>
                            </a:schemeClr>
                          </a:solidFill>
                          <a:effectLst/>
                        </a:rPr>
                        <a:t>法 </a:t>
                      </a:r>
                      <a:r>
                        <a:rPr lang="en-US" altLang="ko-KR" sz="1200" kern="0" spc="-100">
                          <a:solidFill>
                            <a:schemeClr val="bg2">
                              <a:lumMod val="25000"/>
                            </a:schemeClr>
                          </a:solidFill>
                          <a:effectLst/>
                        </a:rPr>
                        <a:t>229)</a:t>
                      </a:r>
                      <a:endParaRPr lang="ko-KR" altLang="en-US" sz="1200" kern="0" spc="-10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00000"/>
                        </a:lnSpc>
                        <a:spcBef>
                          <a:spcPts val="0"/>
                        </a:spcBef>
                        <a:spcAft>
                          <a:spcPts val="0"/>
                        </a:spcAft>
                      </a:pPr>
                      <a:r>
                        <a:rPr lang="ko-KR" altLang="en-US" sz="1200" kern="0" spc="-50">
                          <a:solidFill>
                            <a:schemeClr val="bg2">
                              <a:lumMod val="25000"/>
                            </a:schemeClr>
                          </a:solidFill>
                          <a:effectLst/>
                        </a:rPr>
                        <a:t>거짓이나 그 밖의 부정한 행위로써 특허</a:t>
                      </a:r>
                      <a:r>
                        <a:rPr lang="en-US" altLang="ko-KR" sz="1200" kern="0" spc="-50">
                          <a:solidFill>
                            <a:schemeClr val="bg2">
                              <a:lumMod val="25000"/>
                            </a:schemeClr>
                          </a:solidFill>
                          <a:effectLst/>
                        </a:rPr>
                        <a:t>, </a:t>
                      </a:r>
                      <a:r>
                        <a:rPr lang="ko-KR" altLang="en-US" sz="1200" kern="0" spc="-50">
                          <a:solidFill>
                            <a:schemeClr val="bg2">
                              <a:lumMod val="25000"/>
                            </a:schemeClr>
                          </a:solidFill>
                          <a:effectLst/>
                        </a:rPr>
                        <a:t>특허권의 존속기간의 연장등록 특허취소신청에 대한 결정 또는 심결을 받은 자</a:t>
                      </a: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dirty="0">
                          <a:solidFill>
                            <a:schemeClr val="bg2">
                              <a:lumMod val="25000"/>
                            </a:schemeClr>
                          </a:solidFill>
                          <a:effectLst/>
                        </a:rPr>
                        <a:t>3</a:t>
                      </a:r>
                      <a:r>
                        <a:rPr lang="ko-KR" altLang="en-US" sz="1200" kern="0" spc="-50" dirty="0" err="1">
                          <a:solidFill>
                            <a:schemeClr val="bg2">
                              <a:lumMod val="25000"/>
                            </a:schemeClr>
                          </a:solidFill>
                          <a:effectLst/>
                        </a:rPr>
                        <a:t>년이하</a:t>
                      </a:r>
                      <a:r>
                        <a:rPr lang="ko-KR" altLang="en-US" sz="1200" kern="0" spc="-50" dirty="0">
                          <a:solidFill>
                            <a:schemeClr val="bg2">
                              <a:lumMod val="25000"/>
                            </a:schemeClr>
                          </a:solidFill>
                          <a:effectLst/>
                        </a:rPr>
                        <a:t> 징역</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a:solidFill>
                            <a:schemeClr val="bg2">
                              <a:lumMod val="25000"/>
                            </a:schemeClr>
                          </a:solidFill>
                          <a:effectLst/>
                        </a:rPr>
                        <a:t>3</a:t>
                      </a:r>
                      <a:r>
                        <a:rPr lang="ko-KR" altLang="en-US" sz="1200" kern="0" spc="-50">
                          <a:solidFill>
                            <a:schemeClr val="bg2">
                              <a:lumMod val="25000"/>
                            </a:schemeClr>
                          </a:solidFill>
                          <a:effectLst/>
                        </a:rPr>
                        <a:t>천만원이하</a:t>
                      </a: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a:solidFill>
                            <a:schemeClr val="bg2">
                              <a:lumMod val="25000"/>
                            </a:schemeClr>
                          </a:solidFill>
                          <a:effectLst/>
                        </a:rPr>
                        <a:t>×</a:t>
                      </a:r>
                      <a:endParaRPr 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a:solidFill>
                            <a:schemeClr val="bg2">
                              <a:lumMod val="25000"/>
                            </a:schemeClr>
                          </a:solidFill>
                          <a:effectLst/>
                        </a:rPr>
                        <a:t>×</a:t>
                      </a:r>
                      <a:endParaRPr 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200" kern="0" spc="-50" dirty="0">
                          <a:solidFill>
                            <a:schemeClr val="bg2">
                              <a:lumMod val="25000"/>
                            </a:schemeClr>
                          </a:solidFill>
                          <a:effectLst/>
                        </a:rPr>
                        <a:t>○</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endParaRPr lang="ko-KR" altLang="en-US" sz="1200" kern="0" spc="-5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788496495"/>
                  </a:ext>
                </a:extLst>
              </a:tr>
              <a:tr h="431984">
                <a:tc>
                  <a:txBody>
                    <a:bodyPr/>
                    <a:lstStyle/>
                    <a:p>
                      <a:pPr marL="0" marR="0" indent="0" algn="ctr" fontAlgn="base" latinLnBrk="0">
                        <a:lnSpc>
                          <a:spcPct val="100000"/>
                        </a:lnSpc>
                        <a:spcBef>
                          <a:spcPts val="0"/>
                        </a:spcBef>
                        <a:spcAft>
                          <a:spcPts val="0"/>
                        </a:spcAft>
                      </a:pPr>
                      <a:r>
                        <a:rPr lang="ko-KR" altLang="en-US" sz="1200" kern="0" spc="-100" dirty="0">
                          <a:solidFill>
                            <a:schemeClr val="bg2">
                              <a:lumMod val="25000"/>
                            </a:schemeClr>
                          </a:solidFill>
                          <a:effectLst/>
                        </a:rPr>
                        <a:t>비밀유지명령 </a:t>
                      </a:r>
                    </a:p>
                    <a:p>
                      <a:pPr marL="0" marR="0" indent="0" algn="ctr" fontAlgn="base" latinLnBrk="0">
                        <a:lnSpc>
                          <a:spcPct val="100000"/>
                        </a:lnSpc>
                        <a:spcBef>
                          <a:spcPts val="0"/>
                        </a:spcBef>
                        <a:spcAft>
                          <a:spcPts val="0"/>
                        </a:spcAft>
                      </a:pPr>
                      <a:r>
                        <a:rPr lang="ko-KR" altLang="en-US" sz="1200" kern="0" spc="-100" dirty="0" err="1">
                          <a:solidFill>
                            <a:schemeClr val="bg2">
                              <a:lumMod val="25000"/>
                            </a:schemeClr>
                          </a:solidFill>
                          <a:effectLst/>
                        </a:rPr>
                        <a:t>위반죄</a:t>
                      </a:r>
                      <a:endParaRPr lang="ko-KR" altLang="en-US" sz="1200" kern="0" spc="-100" dirty="0">
                        <a:solidFill>
                          <a:schemeClr val="bg2">
                            <a:lumMod val="25000"/>
                          </a:schemeClr>
                        </a:solidFill>
                        <a:effectLst/>
                      </a:endParaRPr>
                    </a:p>
                    <a:p>
                      <a:pPr marL="0" marR="0" indent="0" algn="ctr" fontAlgn="base" latinLnBrk="0">
                        <a:lnSpc>
                          <a:spcPct val="100000"/>
                        </a:lnSpc>
                        <a:spcBef>
                          <a:spcPts val="0"/>
                        </a:spcBef>
                        <a:spcAft>
                          <a:spcPts val="0"/>
                        </a:spcAft>
                      </a:pPr>
                      <a:r>
                        <a:rPr lang="en-US" altLang="ko-KR" sz="1200" kern="0" spc="-100" dirty="0">
                          <a:solidFill>
                            <a:schemeClr val="bg2">
                              <a:lumMod val="25000"/>
                            </a:schemeClr>
                          </a:solidFill>
                          <a:effectLst/>
                        </a:rPr>
                        <a:t>(</a:t>
                      </a:r>
                      <a:r>
                        <a:rPr lang="ko-KR" altLang="en-US" sz="1200" kern="0" spc="-100" dirty="0">
                          <a:solidFill>
                            <a:schemeClr val="bg2">
                              <a:lumMod val="25000"/>
                            </a:schemeClr>
                          </a:solidFill>
                          <a:effectLst/>
                        </a:rPr>
                        <a:t>法 </a:t>
                      </a:r>
                      <a:r>
                        <a:rPr lang="en-US" altLang="ko-KR" sz="1200" kern="0" spc="-100" dirty="0">
                          <a:solidFill>
                            <a:schemeClr val="bg2">
                              <a:lumMod val="25000"/>
                            </a:schemeClr>
                          </a:solidFill>
                          <a:effectLst/>
                        </a:rPr>
                        <a:t>229</a:t>
                      </a:r>
                      <a:r>
                        <a:rPr lang="ko-KR" altLang="en-US" sz="1200" kern="0" spc="-100" dirty="0">
                          <a:solidFill>
                            <a:schemeClr val="bg2">
                              <a:lumMod val="25000"/>
                            </a:schemeClr>
                          </a:solidFill>
                          <a:effectLst/>
                        </a:rPr>
                        <a:t>의</a:t>
                      </a:r>
                      <a:r>
                        <a:rPr lang="en-US" altLang="ko-KR" sz="1200" kern="0" spc="-100" dirty="0">
                          <a:solidFill>
                            <a:schemeClr val="bg2">
                              <a:lumMod val="25000"/>
                            </a:schemeClr>
                          </a:solidFill>
                          <a:effectLst/>
                        </a:rPr>
                        <a:t>2)</a:t>
                      </a:r>
                      <a:endParaRPr lang="ko-KR" altLang="en-US" sz="1200" kern="0" spc="-10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00000"/>
                        </a:lnSpc>
                        <a:spcBef>
                          <a:spcPts val="0"/>
                        </a:spcBef>
                        <a:spcAft>
                          <a:spcPts val="0"/>
                        </a:spcAft>
                      </a:pPr>
                      <a:r>
                        <a:rPr lang="ko-KR" altLang="en-US" sz="1200" kern="0" spc="-50" dirty="0">
                          <a:solidFill>
                            <a:schemeClr val="bg2">
                              <a:lumMod val="25000"/>
                            </a:schemeClr>
                          </a:solidFill>
                          <a:effectLst/>
                        </a:rPr>
                        <a:t>국내외에서 정당한 사유 없이 제</a:t>
                      </a:r>
                      <a:r>
                        <a:rPr lang="en-US" altLang="ko-KR" sz="1200" kern="0" spc="-50" dirty="0">
                          <a:solidFill>
                            <a:schemeClr val="bg2">
                              <a:lumMod val="25000"/>
                            </a:schemeClr>
                          </a:solidFill>
                          <a:effectLst/>
                        </a:rPr>
                        <a:t>224</a:t>
                      </a:r>
                      <a:r>
                        <a:rPr lang="ko-KR" altLang="en-US" sz="1200" kern="0" spc="-50" dirty="0">
                          <a:solidFill>
                            <a:schemeClr val="bg2">
                              <a:lumMod val="25000"/>
                            </a:schemeClr>
                          </a:solidFill>
                          <a:effectLst/>
                        </a:rPr>
                        <a:t>조의</a:t>
                      </a:r>
                      <a:r>
                        <a:rPr lang="en-US" altLang="ko-KR" sz="1200" kern="0" spc="-50" dirty="0">
                          <a:solidFill>
                            <a:schemeClr val="bg2">
                              <a:lumMod val="25000"/>
                            </a:schemeClr>
                          </a:solidFill>
                          <a:effectLst/>
                        </a:rPr>
                        <a:t>3 </a:t>
                      </a:r>
                      <a:r>
                        <a:rPr lang="ko-KR" altLang="en-US" sz="1200" kern="0" spc="-50" dirty="0">
                          <a:solidFill>
                            <a:schemeClr val="bg2">
                              <a:lumMod val="25000"/>
                            </a:schemeClr>
                          </a:solidFill>
                          <a:effectLst/>
                        </a:rPr>
                        <a:t>제</a:t>
                      </a:r>
                      <a:r>
                        <a:rPr lang="en-US" altLang="ko-KR" sz="1200" kern="0" spc="-50" dirty="0">
                          <a:solidFill>
                            <a:schemeClr val="bg2">
                              <a:lumMod val="25000"/>
                            </a:schemeClr>
                          </a:solidFill>
                          <a:effectLst/>
                        </a:rPr>
                        <a:t>1</a:t>
                      </a:r>
                      <a:r>
                        <a:rPr lang="ko-KR" altLang="en-US" sz="1200" kern="0" spc="-50" dirty="0">
                          <a:solidFill>
                            <a:schemeClr val="bg2">
                              <a:lumMod val="25000"/>
                            </a:schemeClr>
                          </a:solidFill>
                          <a:effectLst/>
                        </a:rPr>
                        <a:t>항에 따른 비밀유지명령을 위반한 자</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dirty="0">
                          <a:solidFill>
                            <a:schemeClr val="bg2">
                              <a:lumMod val="25000"/>
                            </a:schemeClr>
                          </a:solidFill>
                          <a:effectLst/>
                        </a:rPr>
                        <a:t>5</a:t>
                      </a:r>
                      <a:r>
                        <a:rPr lang="ko-KR" altLang="en-US" sz="1200" kern="0" spc="-50" dirty="0" err="1">
                          <a:solidFill>
                            <a:schemeClr val="bg2">
                              <a:lumMod val="25000"/>
                            </a:schemeClr>
                          </a:solidFill>
                          <a:effectLst/>
                        </a:rPr>
                        <a:t>년이하</a:t>
                      </a:r>
                      <a:r>
                        <a:rPr lang="ko-KR" altLang="en-US" sz="1200" kern="0" spc="-50" dirty="0">
                          <a:solidFill>
                            <a:schemeClr val="bg2">
                              <a:lumMod val="25000"/>
                            </a:schemeClr>
                          </a:solidFill>
                          <a:effectLst/>
                        </a:rPr>
                        <a:t> 징역</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altLang="ko-KR" sz="1200" kern="0" spc="-50" dirty="0">
                          <a:solidFill>
                            <a:schemeClr val="bg2">
                              <a:lumMod val="25000"/>
                            </a:schemeClr>
                          </a:solidFill>
                          <a:effectLst/>
                        </a:rPr>
                        <a:t>5</a:t>
                      </a:r>
                      <a:r>
                        <a:rPr lang="ko-KR" altLang="en-US" sz="1200" kern="0" spc="-50" dirty="0">
                          <a:solidFill>
                            <a:schemeClr val="bg2">
                              <a:lumMod val="25000"/>
                            </a:schemeClr>
                          </a:solidFill>
                          <a:effectLst/>
                        </a:rPr>
                        <a:t>천만원 이하</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dirty="0">
                          <a:solidFill>
                            <a:schemeClr val="bg2">
                              <a:lumMod val="25000"/>
                            </a:schemeClr>
                          </a:solidFill>
                          <a:effectLst/>
                        </a:rPr>
                        <a:t>×</a:t>
                      </a:r>
                      <a:endParaRPr 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200" kern="0" spc="-50" dirty="0">
                          <a:solidFill>
                            <a:schemeClr val="bg2">
                              <a:lumMod val="25000"/>
                            </a:schemeClr>
                          </a:solidFill>
                          <a:effectLst/>
                        </a:rPr>
                        <a:t>○</a:t>
                      </a: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en-US" sz="1200" kern="0" spc="-50" dirty="0">
                          <a:solidFill>
                            <a:schemeClr val="bg2">
                              <a:lumMod val="25000"/>
                            </a:schemeClr>
                          </a:solidFill>
                          <a:effectLst/>
                        </a:rPr>
                        <a:t>×</a:t>
                      </a:r>
                      <a:endParaRPr 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endParaRPr lang="ko-KR" altLang="en-US" sz="1200" kern="0" spc="-50" dirty="0">
                        <a:solidFill>
                          <a:schemeClr val="bg2">
                            <a:lumMod val="25000"/>
                          </a:schemeClr>
                        </a:solidFill>
                        <a:effectLst/>
                        <a:latin typeface="+mn-ea"/>
                        <a:ea typeface="+mn-ea"/>
                      </a:endParaRPr>
                    </a:p>
                  </a:txBody>
                  <a:tcPr marL="108000" marR="108000" marT="14811" marB="14811"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63703008"/>
                  </a:ext>
                </a:extLst>
              </a:tr>
              <a:tr h="723841">
                <a:tc>
                  <a:txBody>
                    <a:bodyPr/>
                    <a:lstStyle/>
                    <a:p>
                      <a:pPr marL="0" marR="0" indent="0" algn="ctr" fontAlgn="base" latinLnBrk="0">
                        <a:lnSpc>
                          <a:spcPct val="130000"/>
                        </a:lnSpc>
                      </a:pPr>
                      <a:r>
                        <a:rPr lang="ko-KR" altLang="en-US" sz="1200" kern="0" spc="-100" dirty="0">
                          <a:solidFill>
                            <a:schemeClr val="tx1"/>
                          </a:solidFill>
                          <a:effectLst/>
                          <a:latin typeface="+mn-ea"/>
                          <a:ea typeface="+mn-ea"/>
                        </a:rPr>
                        <a:t>외국에의 특허출원 금지</a:t>
                      </a:r>
                      <a:r>
                        <a:rPr lang="en-US" altLang="ko-KR" sz="1200" kern="0" spc="-100" dirty="0">
                          <a:solidFill>
                            <a:schemeClr val="tx1"/>
                          </a:solidFill>
                          <a:effectLst/>
                          <a:latin typeface="+mn-ea"/>
                          <a:ea typeface="+mn-ea"/>
                        </a:rPr>
                        <a:t>/</a:t>
                      </a:r>
                      <a:endParaRPr lang="ko-KR" altLang="en-US" sz="1200" kern="0" spc="-100" dirty="0">
                        <a:solidFill>
                          <a:schemeClr val="tx1"/>
                        </a:solidFill>
                        <a:effectLst/>
                        <a:latin typeface="+mn-ea"/>
                        <a:ea typeface="+mn-ea"/>
                      </a:endParaRPr>
                    </a:p>
                    <a:p>
                      <a:pPr marL="0" marR="0" indent="0" algn="ctr" fontAlgn="base" latinLnBrk="0">
                        <a:lnSpc>
                          <a:spcPct val="130000"/>
                        </a:lnSpc>
                      </a:pPr>
                      <a:r>
                        <a:rPr lang="ko-KR" altLang="en-US" sz="1200" kern="0" spc="-100" dirty="0">
                          <a:solidFill>
                            <a:schemeClr val="tx1"/>
                          </a:solidFill>
                          <a:effectLst/>
                          <a:latin typeface="+mn-ea"/>
                          <a:ea typeface="+mn-ea"/>
                        </a:rPr>
                        <a:t>비밀취급명령 </a:t>
                      </a:r>
                      <a:r>
                        <a:rPr lang="ko-KR" altLang="en-US" sz="1200" kern="0" spc="-100" dirty="0" err="1">
                          <a:solidFill>
                            <a:schemeClr val="tx1"/>
                          </a:solidFill>
                          <a:effectLst/>
                          <a:latin typeface="+mn-ea"/>
                          <a:ea typeface="+mn-ea"/>
                        </a:rPr>
                        <a:t>위반죄</a:t>
                      </a:r>
                      <a:endParaRPr lang="ko-KR" altLang="en-US" sz="1200" kern="0" spc="-100" dirty="0">
                        <a:solidFill>
                          <a:schemeClr val="tx1"/>
                        </a:solidFill>
                        <a:effectLst/>
                        <a:latin typeface="+mn-ea"/>
                        <a:ea typeface="+mn-ea"/>
                      </a:endParaRPr>
                    </a:p>
                    <a:p>
                      <a:pPr marL="0" marR="0" indent="0" algn="ctr" fontAlgn="base" latinLnBrk="0">
                        <a:lnSpc>
                          <a:spcPct val="130000"/>
                        </a:lnSpc>
                      </a:pPr>
                      <a:r>
                        <a:rPr lang="en-US" altLang="ko-KR" sz="1200" kern="0" spc="-100" dirty="0">
                          <a:solidFill>
                            <a:schemeClr val="tx1"/>
                          </a:solidFill>
                          <a:effectLst/>
                          <a:latin typeface="+mn-ea"/>
                          <a:ea typeface="+mn-ea"/>
                        </a:rPr>
                        <a:t>(</a:t>
                      </a:r>
                      <a:r>
                        <a:rPr lang="ko-KR" altLang="en-US" sz="1200" kern="0" spc="-100" dirty="0">
                          <a:solidFill>
                            <a:schemeClr val="tx1"/>
                          </a:solidFill>
                          <a:effectLst/>
                          <a:latin typeface="+mn-ea"/>
                          <a:ea typeface="+mn-ea"/>
                        </a:rPr>
                        <a:t>法 </a:t>
                      </a:r>
                      <a:r>
                        <a:rPr lang="en-US" altLang="ko-KR" sz="1200" kern="0" spc="-100" dirty="0">
                          <a:solidFill>
                            <a:schemeClr val="tx1"/>
                          </a:solidFill>
                          <a:effectLst/>
                          <a:latin typeface="+mn-ea"/>
                          <a:ea typeface="+mn-ea"/>
                        </a:rPr>
                        <a:t>229</a:t>
                      </a:r>
                      <a:r>
                        <a:rPr lang="ko-KR" altLang="en-US" sz="1200" kern="0" spc="-100" dirty="0">
                          <a:solidFill>
                            <a:schemeClr val="tx1"/>
                          </a:solidFill>
                          <a:effectLst/>
                          <a:latin typeface="+mn-ea"/>
                          <a:ea typeface="+mn-ea"/>
                        </a:rPr>
                        <a:t>의</a:t>
                      </a:r>
                      <a:r>
                        <a:rPr lang="en-US" altLang="ko-KR" sz="1200" kern="0" spc="-100" dirty="0">
                          <a:solidFill>
                            <a:schemeClr val="tx1"/>
                          </a:solidFill>
                          <a:effectLst/>
                          <a:latin typeface="+mn-ea"/>
                          <a:ea typeface="+mn-ea"/>
                        </a:rPr>
                        <a:t>3)</a:t>
                      </a:r>
                      <a:endParaRPr lang="ko-KR" altLang="en-US" sz="1200" kern="0" spc="-100" dirty="0">
                        <a:solidFill>
                          <a:schemeClr val="tx1"/>
                        </a:solidFill>
                        <a:effectLst/>
                        <a:latin typeface="+mn-ea"/>
                        <a:ea typeface="+mn-ea"/>
                      </a:endParaRPr>
                    </a:p>
                  </a:txBody>
                  <a:tcPr marL="17907" marR="17907" marT="17907" marB="17907"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just" fontAlgn="base" latinLnBrk="1">
                        <a:lnSpc>
                          <a:spcPct val="130000"/>
                        </a:lnSpc>
                      </a:pPr>
                      <a:r>
                        <a:rPr lang="ko-KR" altLang="en-US" sz="1200" kern="0" spc="-50" dirty="0">
                          <a:solidFill>
                            <a:schemeClr val="tx1"/>
                          </a:solidFill>
                          <a:effectLst/>
                          <a:latin typeface="+mn-ea"/>
                          <a:ea typeface="+mn-ea"/>
                        </a:rPr>
                        <a:t>제</a:t>
                      </a:r>
                      <a:r>
                        <a:rPr lang="en-US" altLang="ko-KR" sz="1200" kern="0" spc="-50" dirty="0">
                          <a:solidFill>
                            <a:schemeClr val="tx1"/>
                          </a:solidFill>
                          <a:effectLst/>
                          <a:latin typeface="+mn-ea"/>
                          <a:ea typeface="+mn-ea"/>
                        </a:rPr>
                        <a:t>41</a:t>
                      </a:r>
                      <a:r>
                        <a:rPr lang="ko-KR" altLang="en-US" sz="1200" kern="0" spc="-50" dirty="0">
                          <a:solidFill>
                            <a:schemeClr val="tx1"/>
                          </a:solidFill>
                          <a:effectLst/>
                          <a:latin typeface="+mn-ea"/>
                          <a:ea typeface="+mn-ea"/>
                        </a:rPr>
                        <a:t>조제</a:t>
                      </a:r>
                      <a:r>
                        <a:rPr lang="en-US" altLang="ko-KR" sz="1200" kern="0" spc="-50" dirty="0">
                          <a:solidFill>
                            <a:schemeClr val="tx1"/>
                          </a:solidFill>
                          <a:effectLst/>
                          <a:latin typeface="+mn-ea"/>
                          <a:ea typeface="+mn-ea"/>
                        </a:rPr>
                        <a:t>1</a:t>
                      </a:r>
                      <a:r>
                        <a:rPr lang="ko-KR" altLang="en-US" sz="1200" kern="0" spc="-50" dirty="0">
                          <a:solidFill>
                            <a:schemeClr val="tx1"/>
                          </a:solidFill>
                          <a:effectLst/>
                          <a:latin typeface="+mn-ea"/>
                          <a:ea typeface="+mn-ea"/>
                        </a:rPr>
                        <a:t>항에 따른 외국에의 특허출원 금지 또는 비밀취급명령을 위반한 자</a:t>
                      </a:r>
                    </a:p>
                  </a:txBody>
                  <a:tcPr marL="17907" marR="17907" marT="17907" marB="17907"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30000"/>
                        </a:lnSpc>
                      </a:pPr>
                      <a:r>
                        <a:rPr lang="en-US" altLang="ko-KR" sz="1200" kern="0" spc="-50" dirty="0">
                          <a:solidFill>
                            <a:schemeClr val="tx1"/>
                          </a:solidFill>
                          <a:effectLst/>
                          <a:latin typeface="+mn-ea"/>
                          <a:ea typeface="+mn-ea"/>
                        </a:rPr>
                        <a:t>5</a:t>
                      </a:r>
                      <a:r>
                        <a:rPr lang="ko-KR" altLang="en-US" sz="1200" kern="0" spc="-50" dirty="0" err="1">
                          <a:solidFill>
                            <a:schemeClr val="tx1"/>
                          </a:solidFill>
                          <a:effectLst/>
                          <a:latin typeface="+mn-ea"/>
                          <a:ea typeface="+mn-ea"/>
                        </a:rPr>
                        <a:t>년이하</a:t>
                      </a:r>
                      <a:endParaRPr lang="ko-KR" altLang="en-US" sz="1200" kern="0" spc="-50" dirty="0">
                        <a:solidFill>
                          <a:schemeClr val="tx1"/>
                        </a:solidFill>
                        <a:effectLst/>
                        <a:latin typeface="+mn-ea"/>
                        <a:ea typeface="+mn-ea"/>
                      </a:endParaRPr>
                    </a:p>
                    <a:p>
                      <a:pPr marL="17780" marR="17780" indent="0" algn="ctr" fontAlgn="base" latinLnBrk="0">
                        <a:lnSpc>
                          <a:spcPct val="130000"/>
                        </a:lnSpc>
                      </a:pPr>
                      <a:r>
                        <a:rPr lang="ko-KR" altLang="en-US" sz="1200" kern="0" spc="-50" dirty="0">
                          <a:solidFill>
                            <a:schemeClr val="tx1"/>
                          </a:solidFill>
                          <a:effectLst/>
                          <a:latin typeface="+mn-ea"/>
                          <a:ea typeface="+mn-ea"/>
                        </a:rPr>
                        <a:t>징역</a:t>
                      </a:r>
                    </a:p>
                  </a:txBody>
                  <a:tcPr marL="17907" marR="17907" marT="17907" marB="17907"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30000"/>
                        </a:lnSpc>
                      </a:pPr>
                      <a:r>
                        <a:rPr lang="en-US" altLang="ko-KR" sz="1200" kern="0" spc="-50" dirty="0">
                          <a:solidFill>
                            <a:schemeClr val="tx1"/>
                          </a:solidFill>
                          <a:effectLst/>
                          <a:latin typeface="+mn-ea"/>
                          <a:ea typeface="+mn-ea"/>
                        </a:rPr>
                        <a:t>5</a:t>
                      </a:r>
                      <a:r>
                        <a:rPr lang="ko-KR" altLang="en-US" sz="1200" kern="0" spc="-50" dirty="0">
                          <a:solidFill>
                            <a:schemeClr val="tx1"/>
                          </a:solidFill>
                          <a:effectLst/>
                          <a:latin typeface="+mn-ea"/>
                          <a:ea typeface="+mn-ea"/>
                        </a:rPr>
                        <a:t>천만원</a:t>
                      </a:r>
                    </a:p>
                    <a:p>
                      <a:pPr marL="17780" marR="17780" indent="0" algn="ctr" fontAlgn="base" latinLnBrk="0">
                        <a:lnSpc>
                          <a:spcPct val="130000"/>
                        </a:lnSpc>
                      </a:pPr>
                      <a:r>
                        <a:rPr lang="ko-KR" altLang="en-US" sz="1200" kern="0" spc="-50" dirty="0">
                          <a:solidFill>
                            <a:schemeClr val="tx1"/>
                          </a:solidFill>
                          <a:effectLst/>
                          <a:latin typeface="+mn-ea"/>
                          <a:ea typeface="+mn-ea"/>
                        </a:rPr>
                        <a:t>이하</a:t>
                      </a:r>
                    </a:p>
                  </a:txBody>
                  <a:tcPr marL="17907" marR="17907" marT="17907" marB="17907"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30000"/>
                        </a:lnSpc>
                      </a:pPr>
                      <a:r>
                        <a:rPr lang="en-US" sz="1200" kern="0" spc="-50" dirty="0">
                          <a:solidFill>
                            <a:schemeClr val="tx1"/>
                          </a:solidFill>
                          <a:effectLst/>
                          <a:latin typeface="+mn-ea"/>
                          <a:ea typeface="+mn-ea"/>
                        </a:rPr>
                        <a:t>×</a:t>
                      </a:r>
                    </a:p>
                  </a:txBody>
                  <a:tcPr marL="17907" marR="17907" marT="17907" marB="17907"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30000"/>
                        </a:lnSpc>
                      </a:pPr>
                      <a:r>
                        <a:rPr lang="en-US" sz="1200" kern="0" spc="-50" dirty="0">
                          <a:solidFill>
                            <a:schemeClr val="tx1"/>
                          </a:solidFill>
                          <a:effectLst/>
                          <a:latin typeface="+mn-ea"/>
                          <a:ea typeface="+mn-ea"/>
                        </a:rPr>
                        <a:t>×</a:t>
                      </a:r>
                    </a:p>
                  </a:txBody>
                  <a:tcPr marL="17907" marR="17907" marT="17907" marB="17907"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30000"/>
                        </a:lnSpc>
                      </a:pPr>
                      <a:r>
                        <a:rPr lang="ko-KR" altLang="en-US" sz="1200" kern="0" spc="-50" dirty="0">
                          <a:solidFill>
                            <a:schemeClr val="tx1"/>
                          </a:solidFill>
                          <a:effectLst/>
                          <a:latin typeface="+mn-ea"/>
                          <a:ea typeface="+mn-ea"/>
                        </a:rPr>
                        <a:t>○</a:t>
                      </a:r>
                    </a:p>
                  </a:txBody>
                  <a:tcPr marL="17907" marR="17907" marT="17907" marB="17907"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30000"/>
                        </a:lnSpc>
                      </a:pPr>
                      <a:r>
                        <a:rPr lang="en-US" sz="1200" kern="0" spc="-50" dirty="0">
                          <a:solidFill>
                            <a:schemeClr val="tx1"/>
                          </a:solidFill>
                          <a:effectLst/>
                          <a:latin typeface="+mn-ea"/>
                          <a:ea typeface="+mn-ea"/>
                        </a:rPr>
                        <a:t>×</a:t>
                      </a:r>
                    </a:p>
                  </a:txBody>
                  <a:tcPr marL="17907" marR="17907" marT="17907" marB="17907"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00345267"/>
                  </a:ext>
                </a:extLst>
              </a:tr>
            </a:tbl>
          </a:graphicData>
        </a:graphic>
      </p:graphicFrame>
      <p:sp>
        <p:nvSpPr>
          <p:cNvPr id="9" name="TextBox 8">
            <a:extLst>
              <a:ext uri="{FF2B5EF4-FFF2-40B4-BE49-F238E27FC236}">
                <a16:creationId xmlns:a16="http://schemas.microsoft.com/office/drawing/2014/main" id="{17FDAA39-71A7-4107-ACE9-EBAAC49FDFC7}"/>
              </a:ext>
            </a:extLst>
          </p:cNvPr>
          <p:cNvSpPr txBox="1"/>
          <p:nvPr/>
        </p:nvSpPr>
        <p:spPr>
          <a:xfrm>
            <a:off x="438410" y="6217211"/>
            <a:ext cx="3358612" cy="430887"/>
          </a:xfrm>
          <a:prstGeom prst="rect">
            <a:avLst/>
          </a:prstGeom>
          <a:noFill/>
        </p:spPr>
        <p:txBody>
          <a:bodyPr wrap="none" rtlCol="0">
            <a:spAutoFit/>
          </a:bodyPr>
          <a:lstStyle/>
          <a:p>
            <a:r>
              <a:rPr lang="ko-KR" altLang="en-US" sz="1100" dirty="0"/>
              <a:t>* 특허법은 필요적 몰수</a:t>
            </a:r>
            <a:r>
              <a:rPr lang="en-US" altLang="ko-KR" sz="1100" dirty="0"/>
              <a:t>, </a:t>
            </a:r>
            <a:r>
              <a:rPr lang="ko-KR" altLang="en-US" sz="1100" dirty="0"/>
              <a:t>실용신안법은 임의적 몰수</a:t>
            </a:r>
            <a:endParaRPr lang="en-US" altLang="ko-KR" sz="1100" dirty="0"/>
          </a:p>
          <a:p>
            <a:r>
              <a:rPr lang="ko-KR" altLang="en-US" sz="1100" dirty="0"/>
              <a:t>** 실용신안법은 전문심리위원에 대한 벌칙 규정이 없음</a:t>
            </a:r>
            <a:endParaRPr lang="en-US" altLang="ko-KR" sz="1100" dirty="0"/>
          </a:p>
        </p:txBody>
      </p:sp>
    </p:spTree>
    <p:extLst>
      <p:ext uri="{BB962C8B-B14F-4D97-AF65-F5344CB8AC3E}">
        <p14:creationId xmlns:p14="http://schemas.microsoft.com/office/powerpoint/2010/main" val="2966653826"/>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228</a:t>
            </a:r>
            <a:r>
              <a:rPr lang="ko-KR" altLang="en-US" dirty="0"/>
              <a:t>조</a:t>
            </a:r>
          </a:p>
        </p:txBody>
      </p:sp>
      <p:sp>
        <p:nvSpPr>
          <p:cNvPr id="4" name="텍스트 개체 틀 3"/>
          <p:cNvSpPr>
            <a:spLocks noGrp="1"/>
          </p:cNvSpPr>
          <p:nvPr>
            <p:ph type="body" sz="quarter" idx="13"/>
          </p:nvPr>
        </p:nvSpPr>
        <p:spPr/>
        <p:txBody>
          <a:bodyPr/>
          <a:lstStyle/>
          <a:p>
            <a:r>
              <a:rPr lang="ko-KR" altLang="en-US" dirty="0"/>
              <a:t>납골함 </a:t>
            </a:r>
            <a:r>
              <a:rPr lang="ko-KR" altLang="en-US" dirty="0" err="1"/>
              <a:t>안치대</a:t>
            </a:r>
            <a:r>
              <a:rPr lang="ko-KR" altLang="en-US" dirty="0"/>
              <a:t> </a:t>
            </a:r>
            <a:r>
              <a:rPr lang="en-US" altLang="ko-KR" dirty="0"/>
              <a:t>CASE</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401</a:t>
            </a:r>
            <a:endParaRPr lang="ko-KR" altLang="en-US"/>
          </a:p>
        </p:txBody>
      </p:sp>
      <p:sp>
        <p:nvSpPr>
          <p:cNvPr id="31" name="모서리가 둥근 직사각형 10">
            <a:extLst>
              <a:ext uri="{FF2B5EF4-FFF2-40B4-BE49-F238E27FC236}">
                <a16:creationId xmlns:a16="http://schemas.microsoft.com/office/drawing/2014/main" id="{83E8DC17-A890-4A8F-8AF6-87049ACC89A5}"/>
              </a:ext>
            </a:extLst>
          </p:cNvPr>
          <p:cNvSpPr/>
          <p:nvPr/>
        </p:nvSpPr>
        <p:spPr bwMode="auto">
          <a:xfrm>
            <a:off x="378418" y="1002199"/>
            <a:ext cx="4981233"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2015. 8. 13. </a:t>
            </a:r>
            <a:r>
              <a:rPr lang="ko-KR" altLang="en-US" sz="1400" dirty="0"/>
              <a:t>선고 </a:t>
            </a:r>
            <a:r>
              <a:rPr lang="en-US" altLang="ko-KR" sz="1400" dirty="0"/>
              <a:t>2013</a:t>
            </a:r>
            <a:r>
              <a:rPr lang="ko-KR" altLang="en-US" sz="1400" dirty="0"/>
              <a:t>도</a:t>
            </a:r>
            <a:r>
              <a:rPr lang="en-US" altLang="ko-KR" sz="1400" dirty="0"/>
              <a:t>10265 </a:t>
            </a:r>
            <a:r>
              <a:rPr lang="ko-KR" altLang="en-US" sz="1400" dirty="0"/>
              <a:t>판결 </a:t>
            </a:r>
            <a:r>
              <a:rPr lang="en-US" altLang="ko-KR" sz="1400" dirty="0"/>
              <a:t>【</a:t>
            </a:r>
            <a:r>
              <a:rPr lang="ko-KR" altLang="en-US" sz="1400" dirty="0"/>
              <a:t>특허법 위반</a:t>
            </a:r>
            <a:r>
              <a:rPr lang="en-US" altLang="ko-KR" sz="1400" dirty="0"/>
              <a:t>】</a:t>
            </a:r>
          </a:p>
        </p:txBody>
      </p:sp>
      <p:sp>
        <p:nvSpPr>
          <p:cNvPr id="32" name="직사각형 31">
            <a:extLst>
              <a:ext uri="{FF2B5EF4-FFF2-40B4-BE49-F238E27FC236}">
                <a16:creationId xmlns:a16="http://schemas.microsoft.com/office/drawing/2014/main" id="{AB016C75-8430-4388-9E51-7B3101DE3CF1}"/>
              </a:ext>
            </a:extLst>
          </p:cNvPr>
          <p:cNvSpPr/>
          <p:nvPr/>
        </p:nvSpPr>
        <p:spPr>
          <a:xfrm>
            <a:off x="80682" y="1335588"/>
            <a:ext cx="11949952" cy="1200329"/>
          </a:xfrm>
          <a:prstGeom prst="rect">
            <a:avLst/>
          </a:prstGeom>
        </p:spPr>
        <p:txBody>
          <a:bodyPr wrap="square">
            <a:spAutoFit/>
          </a:bodyPr>
          <a:lstStyle/>
          <a:p>
            <a:pPr algn="just"/>
            <a:r>
              <a:rPr lang="ko-KR" altLang="en-US" sz="1200" dirty="0"/>
              <a:t>특허법 제</a:t>
            </a:r>
            <a:r>
              <a:rPr lang="en-US" altLang="ko-KR" sz="1200" dirty="0"/>
              <a:t>224</a:t>
            </a:r>
            <a:r>
              <a:rPr lang="ko-KR" altLang="en-US" sz="1200" dirty="0"/>
              <a:t>조 제</a:t>
            </a:r>
            <a:r>
              <a:rPr lang="en-US" altLang="ko-KR" sz="1200" dirty="0"/>
              <a:t>3</a:t>
            </a:r>
            <a:r>
              <a:rPr lang="ko-KR" altLang="en-US" sz="1200" dirty="0"/>
              <a:t>호는 같은 조 제</a:t>
            </a:r>
            <a:r>
              <a:rPr lang="en-US" altLang="ko-KR" sz="1200" dirty="0"/>
              <a:t>1</a:t>
            </a:r>
            <a:r>
              <a:rPr lang="ko-KR" altLang="en-US" sz="1200" dirty="0"/>
              <a:t>호의 </a:t>
            </a:r>
            <a:r>
              <a:rPr lang="ko-KR" altLang="en-US" sz="1200" dirty="0" err="1"/>
              <a:t>특허된</a:t>
            </a:r>
            <a:r>
              <a:rPr lang="ko-KR" altLang="en-US" sz="1200" dirty="0"/>
              <a:t> 것이 아닌 물건</a:t>
            </a:r>
            <a:r>
              <a:rPr lang="en-US" altLang="ko-KR" sz="1200" dirty="0"/>
              <a:t>, </a:t>
            </a:r>
            <a:r>
              <a:rPr lang="ko-KR" altLang="en-US" sz="1200" dirty="0"/>
              <a:t>특허출원 중이 아닌 물건</a:t>
            </a:r>
            <a:r>
              <a:rPr lang="en-US" altLang="ko-KR" sz="1200" dirty="0"/>
              <a:t>, </a:t>
            </a:r>
            <a:r>
              <a:rPr lang="ko-KR" altLang="en-US" sz="1200" dirty="0" err="1"/>
              <a:t>특허된</a:t>
            </a:r>
            <a:r>
              <a:rPr lang="ko-KR" altLang="en-US" sz="1200" dirty="0"/>
              <a:t> 것이 아닌 방법이나 특허출원 중이 아닌 방법에 의하여 생산한 물건을 생산</a:t>
            </a:r>
            <a:r>
              <a:rPr lang="en-US" altLang="ko-KR" sz="1200" dirty="0"/>
              <a:t>․</a:t>
            </a:r>
            <a:r>
              <a:rPr lang="ko-KR" altLang="en-US" sz="1200" dirty="0"/>
              <a:t>사용</a:t>
            </a:r>
            <a:r>
              <a:rPr lang="en-US" altLang="ko-KR" sz="1200" dirty="0"/>
              <a:t>․</a:t>
            </a:r>
            <a:r>
              <a:rPr lang="ko-KR" altLang="en-US" sz="1200" dirty="0"/>
              <a:t>양도하기 위하여 광고 등에 그 물건이 특허나 </a:t>
            </a:r>
            <a:r>
              <a:rPr lang="ko-KR" altLang="en-US" sz="1200" dirty="0" err="1"/>
              <a:t>특허출원된</a:t>
            </a:r>
            <a:r>
              <a:rPr lang="ko-KR" altLang="en-US" sz="1200" dirty="0"/>
              <a:t> 것 또는 </a:t>
            </a:r>
            <a:r>
              <a:rPr lang="ko-KR" altLang="en-US" sz="1200" dirty="0" err="1"/>
              <a:t>특허된</a:t>
            </a:r>
            <a:r>
              <a:rPr lang="ko-KR" altLang="en-US" sz="1200" dirty="0"/>
              <a:t> 방법이나 특허출원 중인 방법에 따라 생산한 것으로 표시하거나 이와 혼동하기 쉬운 표시</a:t>
            </a:r>
            <a:r>
              <a:rPr lang="en-US" altLang="ko-KR" sz="1200" dirty="0"/>
              <a:t>(</a:t>
            </a:r>
            <a:r>
              <a:rPr lang="ko-KR" altLang="en-US" sz="1200" dirty="0"/>
              <a:t>이하 ‘</a:t>
            </a:r>
            <a:r>
              <a:rPr lang="ko-KR" altLang="en-US" sz="1200" dirty="0" err="1"/>
              <a:t>특허된</a:t>
            </a:r>
            <a:r>
              <a:rPr lang="ko-KR" altLang="en-US" sz="1200" dirty="0"/>
              <a:t> 것 등으로 </a:t>
            </a:r>
            <a:r>
              <a:rPr lang="ko-KR" altLang="en-US" sz="1200" dirty="0" err="1"/>
              <a:t>표시’라</a:t>
            </a:r>
            <a:r>
              <a:rPr lang="ko-KR" altLang="en-US" sz="1200" dirty="0"/>
              <a:t> 한다</a:t>
            </a:r>
            <a:r>
              <a:rPr lang="en-US" altLang="ko-KR" sz="1200" dirty="0"/>
              <a:t>)</a:t>
            </a:r>
            <a:r>
              <a:rPr lang="ko-KR" altLang="en-US" sz="1200" dirty="0"/>
              <a:t>를 하는 행위를 금지하고 있다</a:t>
            </a:r>
            <a:r>
              <a:rPr lang="en-US" altLang="ko-KR" sz="1200" dirty="0"/>
              <a:t>. </a:t>
            </a:r>
            <a:r>
              <a:rPr lang="ko-KR" altLang="en-US" sz="1200" dirty="0"/>
              <a:t>위 규정의 취지는 </a:t>
            </a:r>
            <a:r>
              <a:rPr lang="ko-KR" altLang="en-US" sz="1200" dirty="0">
                <a:highlight>
                  <a:srgbClr val="FFFF00"/>
                </a:highlight>
              </a:rPr>
              <a:t>특허로 인한 거래상의 유리함과 특허에 관한 공중의 신뢰를 악용하여 공중을 </a:t>
            </a:r>
            <a:r>
              <a:rPr lang="ko-KR" altLang="en-US" sz="1200" dirty="0" err="1">
                <a:highlight>
                  <a:srgbClr val="FFFF00"/>
                </a:highlight>
              </a:rPr>
              <a:t>오인시키는</a:t>
            </a:r>
            <a:r>
              <a:rPr lang="ko-KR" altLang="en-US" sz="1200" dirty="0">
                <a:highlight>
                  <a:srgbClr val="FFFF00"/>
                </a:highlight>
              </a:rPr>
              <a:t> 행위를 처벌함으로써 거래의 안전을 보호</a:t>
            </a:r>
            <a:r>
              <a:rPr lang="ko-KR" altLang="en-US" sz="1200" dirty="0"/>
              <a:t>하는 데에 있다고 할 것이다</a:t>
            </a:r>
            <a:r>
              <a:rPr lang="en-US" altLang="ko-KR" sz="1200" dirty="0"/>
              <a:t>. </a:t>
            </a:r>
            <a:r>
              <a:rPr lang="ko-KR" altLang="en-US" sz="1200" dirty="0"/>
              <a:t>이러한 취지에 비추어 볼 때</a:t>
            </a:r>
            <a:r>
              <a:rPr lang="en-US" altLang="ko-KR" sz="1200" dirty="0"/>
              <a:t>, </a:t>
            </a:r>
            <a:r>
              <a:rPr lang="ko-KR" altLang="en-US" sz="1200" dirty="0" err="1"/>
              <a:t>특허된</a:t>
            </a:r>
            <a:r>
              <a:rPr lang="ko-KR" altLang="en-US" sz="1200" dirty="0"/>
              <a:t> 것 등으로 표시한 물건의 기술적 구성이 청구범위에 기재된 발명의 구성을 일부 변경한 것이라고 하더라도</a:t>
            </a:r>
            <a:r>
              <a:rPr lang="en-US" altLang="ko-KR" sz="1200" dirty="0"/>
              <a:t>, </a:t>
            </a:r>
            <a:r>
              <a:rPr lang="ko-KR" altLang="en-US" sz="1200" dirty="0">
                <a:highlight>
                  <a:srgbClr val="FFFF00"/>
                </a:highlight>
              </a:rPr>
              <a:t>그러한 변경이 해당 기술분야에서 통상의 지식을 가진 사람</a:t>
            </a:r>
            <a:r>
              <a:rPr lang="en-US" altLang="ko-KR" sz="1200" dirty="0">
                <a:highlight>
                  <a:srgbClr val="FFFF00"/>
                </a:highlight>
              </a:rPr>
              <a:t>(</a:t>
            </a:r>
            <a:r>
              <a:rPr lang="ko-KR" altLang="en-US" sz="1200" dirty="0">
                <a:highlight>
                  <a:srgbClr val="FFFF00"/>
                </a:highlight>
              </a:rPr>
              <a:t>이하 ‘통상의 </a:t>
            </a:r>
            <a:r>
              <a:rPr lang="ko-KR" altLang="en-US" sz="1200" dirty="0" err="1">
                <a:highlight>
                  <a:srgbClr val="FFFF00"/>
                </a:highlight>
              </a:rPr>
              <a:t>기술자’라고</a:t>
            </a:r>
            <a:r>
              <a:rPr lang="ko-KR" altLang="en-US" sz="1200" dirty="0">
                <a:highlight>
                  <a:srgbClr val="FFFF00"/>
                </a:highlight>
              </a:rPr>
              <a:t> 한다</a:t>
            </a:r>
            <a:r>
              <a:rPr lang="en-US" altLang="ko-KR" sz="1200" dirty="0">
                <a:highlight>
                  <a:srgbClr val="FFFF00"/>
                </a:highlight>
              </a:rPr>
              <a:t>)</a:t>
            </a:r>
            <a:r>
              <a:rPr lang="ko-KR" altLang="en-US" sz="1200" dirty="0">
                <a:highlight>
                  <a:srgbClr val="FFFF00"/>
                </a:highlight>
              </a:rPr>
              <a:t>이 보통 채용하는 정도로 기술적 구성을 부가</a:t>
            </a:r>
            <a:r>
              <a:rPr lang="en-US" altLang="ko-KR" sz="1200" dirty="0">
                <a:highlight>
                  <a:srgbClr val="FFFF00"/>
                </a:highlight>
              </a:rPr>
              <a:t>․</a:t>
            </a:r>
            <a:r>
              <a:rPr lang="ko-KR" altLang="en-US" sz="1200" dirty="0">
                <a:highlight>
                  <a:srgbClr val="FFFF00"/>
                </a:highlight>
              </a:rPr>
              <a:t>삭제</a:t>
            </a:r>
            <a:r>
              <a:rPr lang="en-US" altLang="ko-KR" sz="1200" dirty="0">
                <a:highlight>
                  <a:srgbClr val="FFFF00"/>
                </a:highlight>
              </a:rPr>
              <a:t>․</a:t>
            </a:r>
            <a:r>
              <a:rPr lang="ko-KR" altLang="en-US" sz="1200" dirty="0">
                <a:highlight>
                  <a:srgbClr val="FFFF00"/>
                </a:highlight>
              </a:rPr>
              <a:t>변경한 것에 지나지 아니하고 그로 인하여 발명의 효과에 특별한 차이가 생기지도 아니하는 등 공중을 </a:t>
            </a:r>
            <a:r>
              <a:rPr lang="ko-KR" altLang="en-US" sz="1200" dirty="0" err="1">
                <a:highlight>
                  <a:srgbClr val="FFFF00"/>
                </a:highlight>
              </a:rPr>
              <a:t>오인시킬</a:t>
            </a:r>
            <a:r>
              <a:rPr lang="ko-KR" altLang="en-US" sz="1200" dirty="0">
                <a:highlight>
                  <a:srgbClr val="FFFF00"/>
                </a:highlight>
              </a:rPr>
              <a:t> 정도에 이르지 아니한 경우</a:t>
            </a:r>
            <a:r>
              <a:rPr lang="ko-KR" altLang="en-US" sz="1200" dirty="0"/>
              <a:t>에는</a:t>
            </a:r>
            <a:r>
              <a:rPr lang="en-US" altLang="ko-KR" sz="1200" dirty="0"/>
              <a:t>, </a:t>
            </a:r>
            <a:r>
              <a:rPr lang="ko-KR" altLang="en-US" sz="1200" dirty="0"/>
              <a:t>위 물건에 </a:t>
            </a:r>
            <a:r>
              <a:rPr lang="ko-KR" altLang="en-US" sz="1200" dirty="0" err="1"/>
              <a:t>특허된</a:t>
            </a:r>
            <a:r>
              <a:rPr lang="ko-KR" altLang="en-US" sz="1200" dirty="0"/>
              <a:t> 것 등으로 표시를 하는 행위가 위 규정에서 금지하는 표시행위에 해당한다고 볼 수 없다</a:t>
            </a:r>
            <a:r>
              <a:rPr lang="en-US" altLang="ko-KR" sz="1200" dirty="0"/>
              <a:t>.</a:t>
            </a:r>
          </a:p>
        </p:txBody>
      </p:sp>
      <p:cxnSp>
        <p:nvCxnSpPr>
          <p:cNvPr id="33" name="직선 연결선 32">
            <a:extLst>
              <a:ext uri="{FF2B5EF4-FFF2-40B4-BE49-F238E27FC236}">
                <a16:creationId xmlns:a16="http://schemas.microsoft.com/office/drawing/2014/main" id="{3B7D8B57-08E9-4752-8D90-0D1D0602B6B2}"/>
              </a:ext>
            </a:extLst>
          </p:cNvPr>
          <p:cNvCxnSpPr/>
          <p:nvPr/>
        </p:nvCxnSpPr>
        <p:spPr>
          <a:xfrm>
            <a:off x="0" y="2581472"/>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821701B8-7B79-9EA8-4BA6-F40252C22D61}"/>
              </a:ext>
            </a:extLst>
          </p:cNvPr>
          <p:cNvSpPr txBox="1"/>
          <p:nvPr/>
        </p:nvSpPr>
        <p:spPr>
          <a:xfrm>
            <a:off x="197225" y="2732690"/>
            <a:ext cx="2710883" cy="3875420"/>
          </a:xfrm>
          <a:prstGeom prst="rect">
            <a:avLst/>
          </a:prstGeom>
          <a:noFill/>
          <a:ln>
            <a:solidFill>
              <a:schemeClr val="bg1">
                <a:lumMod val="65000"/>
              </a:schemeClr>
            </a:solidFill>
          </a:ln>
        </p:spPr>
        <p:txBody>
          <a:bodyPr wrap="square">
            <a:spAutoFit/>
          </a:bodyPr>
          <a:lstStyle/>
          <a:p>
            <a:pPr>
              <a:lnSpc>
                <a:spcPct val="150000"/>
              </a:lnSpc>
            </a:pPr>
            <a:r>
              <a:rPr lang="en-US" altLang="ko-KR" sz="1100" dirty="0"/>
              <a:t>[</a:t>
            </a:r>
            <a:r>
              <a:rPr lang="ko-KR" altLang="en-US" sz="1100" dirty="0"/>
              <a:t>청구항 </a:t>
            </a:r>
            <a:r>
              <a:rPr lang="en-US" altLang="ko-KR" sz="1100" dirty="0"/>
              <a:t>9]</a:t>
            </a:r>
          </a:p>
          <a:p>
            <a:pPr>
              <a:lnSpc>
                <a:spcPct val="150000"/>
              </a:lnSpc>
            </a:pPr>
            <a:r>
              <a:rPr lang="ko-KR" altLang="en-US" sz="1100" dirty="0"/>
              <a:t>일면이 개방된 수용공간부로 유골이 넣어진 납골함을 안치한 후</a:t>
            </a:r>
            <a:r>
              <a:rPr lang="en-US" altLang="ko-KR" sz="1100" dirty="0"/>
              <a:t>, </a:t>
            </a:r>
            <a:r>
              <a:rPr lang="ko-KR" altLang="en-US" sz="1100" dirty="0"/>
              <a:t>위 수용공간부의 전면으로 그 수용공간부와 대응되는 개폐판이 결합되는 본체로 구성된 납골함 안치대에 있어서</a:t>
            </a:r>
            <a:r>
              <a:rPr lang="en-US" altLang="ko-KR" sz="1100" dirty="0"/>
              <a:t>, </a:t>
            </a:r>
          </a:p>
          <a:p>
            <a:pPr>
              <a:lnSpc>
                <a:spcPct val="150000"/>
              </a:lnSpc>
            </a:pPr>
            <a:r>
              <a:rPr lang="ko-KR" altLang="en-US" sz="1100" dirty="0"/>
              <a:t>위 </a:t>
            </a:r>
            <a:r>
              <a:rPr lang="ko-KR" altLang="en-US" sz="1100" dirty="0" err="1">
                <a:solidFill>
                  <a:srgbClr val="FF0000"/>
                </a:solidFill>
              </a:rPr>
              <a:t>개폐판</a:t>
            </a:r>
            <a:r>
              <a:rPr lang="en-US" altLang="ko-KR" sz="1100" dirty="0">
                <a:solidFill>
                  <a:srgbClr val="FF0000"/>
                </a:solidFill>
              </a:rPr>
              <a:t>(120a)</a:t>
            </a:r>
            <a:r>
              <a:rPr lang="en-US" altLang="ko-KR" sz="1100" dirty="0"/>
              <a:t> </a:t>
            </a:r>
            <a:r>
              <a:rPr lang="ko-KR" altLang="en-US" sz="1100" dirty="0"/>
              <a:t>과 </a:t>
            </a:r>
            <a:r>
              <a:rPr lang="ko-KR" altLang="en-US" sz="1100" dirty="0">
                <a:solidFill>
                  <a:srgbClr val="FF0000"/>
                </a:solidFill>
              </a:rPr>
              <a:t>수용공간부</a:t>
            </a:r>
            <a:r>
              <a:rPr lang="en-US" altLang="ko-KR" sz="1100" dirty="0">
                <a:solidFill>
                  <a:srgbClr val="FF0000"/>
                </a:solidFill>
              </a:rPr>
              <a:t>(110a)</a:t>
            </a:r>
            <a:r>
              <a:rPr lang="ko-KR" altLang="en-US" sz="1100" dirty="0"/>
              <a:t>의 테두리 </a:t>
            </a:r>
            <a:r>
              <a:rPr lang="ko-KR" altLang="en-US" sz="1100" dirty="0">
                <a:solidFill>
                  <a:srgbClr val="FF0000"/>
                </a:solidFill>
              </a:rPr>
              <a:t>본체</a:t>
            </a:r>
            <a:r>
              <a:rPr lang="en-US" altLang="ko-KR" sz="1100" dirty="0">
                <a:solidFill>
                  <a:srgbClr val="FF0000"/>
                </a:solidFill>
              </a:rPr>
              <a:t>(100a)</a:t>
            </a:r>
            <a:r>
              <a:rPr lang="ko-KR" altLang="en-US" sz="1100" dirty="0">
                <a:solidFill>
                  <a:srgbClr val="FF0000"/>
                </a:solidFill>
              </a:rPr>
              <a:t> </a:t>
            </a:r>
            <a:r>
              <a:rPr lang="ko-KR" altLang="en-US" sz="1100" dirty="0"/>
              <a:t>사이에는 </a:t>
            </a:r>
            <a:r>
              <a:rPr lang="ko-KR" altLang="en-US" sz="1100" dirty="0">
                <a:solidFill>
                  <a:srgbClr val="FF0000"/>
                </a:solidFill>
              </a:rPr>
              <a:t>기밀부재</a:t>
            </a:r>
            <a:r>
              <a:rPr lang="en-US" altLang="ko-KR" sz="1100" dirty="0">
                <a:solidFill>
                  <a:srgbClr val="FF0000"/>
                </a:solidFill>
              </a:rPr>
              <a:t>(10)</a:t>
            </a:r>
            <a:r>
              <a:rPr lang="ko-KR" altLang="en-US" sz="1100" dirty="0"/>
              <a:t>를 구비하여 위 개폐판이 볼트에 의해 결합되고</a:t>
            </a:r>
            <a:r>
              <a:rPr lang="en-US" altLang="ko-KR" sz="1100" dirty="0"/>
              <a:t>, </a:t>
            </a:r>
          </a:p>
          <a:p>
            <a:pPr>
              <a:lnSpc>
                <a:spcPct val="150000"/>
              </a:lnSpc>
            </a:pPr>
            <a:r>
              <a:rPr lang="ko-KR" altLang="en-US" sz="1100" dirty="0"/>
              <a:t>위 수용공간부의 본체 </a:t>
            </a:r>
            <a:r>
              <a:rPr lang="ko-KR" altLang="en-US" sz="1100" dirty="0">
                <a:highlight>
                  <a:srgbClr val="FF00FF"/>
                </a:highlight>
              </a:rPr>
              <a:t>후방면</a:t>
            </a:r>
            <a:r>
              <a:rPr lang="ko-KR" altLang="en-US" sz="1100" dirty="0"/>
              <a:t>에는 그 수용공간부와 통하도록 돌출되게 형성된 </a:t>
            </a:r>
            <a:r>
              <a:rPr lang="ko-KR" altLang="en-US" sz="1100" dirty="0" err="1">
                <a:solidFill>
                  <a:srgbClr val="FF0000"/>
                </a:solidFill>
              </a:rPr>
              <a:t>주입구</a:t>
            </a:r>
            <a:r>
              <a:rPr lang="en-US" altLang="ko-KR" sz="1100" dirty="0">
                <a:solidFill>
                  <a:srgbClr val="FF0000"/>
                </a:solidFill>
              </a:rPr>
              <a:t>(20)</a:t>
            </a:r>
            <a:r>
              <a:rPr lang="ko-KR" altLang="en-US" sz="1100" dirty="0"/>
              <a:t>와</a:t>
            </a:r>
            <a:r>
              <a:rPr lang="en-US" altLang="ko-KR" sz="1100" dirty="0"/>
              <a:t>, </a:t>
            </a:r>
          </a:p>
          <a:p>
            <a:pPr>
              <a:lnSpc>
                <a:spcPct val="150000"/>
              </a:lnSpc>
            </a:pPr>
            <a:r>
              <a:rPr lang="ko-KR" altLang="en-US" sz="1100" dirty="0"/>
              <a:t>위 주입구에 중앙으로 그 주입구와 통하여 가스가 주입되어 지는 </a:t>
            </a:r>
            <a:r>
              <a:rPr lang="ko-KR" altLang="en-US" sz="1100" dirty="0">
                <a:solidFill>
                  <a:srgbClr val="FF0000"/>
                </a:solidFill>
              </a:rPr>
              <a:t>주입밸브</a:t>
            </a:r>
            <a:r>
              <a:rPr lang="en-US" altLang="ko-KR" sz="1100" dirty="0">
                <a:solidFill>
                  <a:srgbClr val="FF0000"/>
                </a:solidFill>
              </a:rPr>
              <a:t>(40)</a:t>
            </a:r>
            <a:r>
              <a:rPr lang="ko-KR" altLang="en-US" sz="1100" dirty="0"/>
              <a:t>가 결합되는 </a:t>
            </a:r>
            <a:r>
              <a:rPr lang="ko-KR" altLang="en-US" sz="1100" dirty="0">
                <a:solidFill>
                  <a:srgbClr val="FF0000"/>
                </a:solidFill>
              </a:rPr>
              <a:t>장착부재</a:t>
            </a:r>
            <a:r>
              <a:rPr lang="en-US" altLang="ko-KR" sz="1100" dirty="0">
                <a:solidFill>
                  <a:srgbClr val="FF0000"/>
                </a:solidFill>
              </a:rPr>
              <a:t>(30)</a:t>
            </a:r>
            <a:r>
              <a:rPr lang="ko-KR" altLang="en-US" sz="1100" dirty="0"/>
              <a:t>가 장착되는 것</a:t>
            </a:r>
            <a:endParaRPr lang="en-US" altLang="ko-KR" sz="1100" dirty="0"/>
          </a:p>
          <a:p>
            <a:pPr>
              <a:lnSpc>
                <a:spcPct val="150000"/>
              </a:lnSpc>
            </a:pPr>
            <a:r>
              <a:rPr lang="ko-KR" altLang="en-US" sz="1100" dirty="0"/>
              <a:t>을 특징으로 하는 납골함 </a:t>
            </a:r>
            <a:r>
              <a:rPr lang="ko-KR" altLang="en-US" sz="1100" dirty="0" err="1"/>
              <a:t>안치대</a:t>
            </a:r>
            <a:endParaRPr lang="ko-KR" altLang="en-US" sz="1100" dirty="0"/>
          </a:p>
        </p:txBody>
      </p:sp>
      <p:grpSp>
        <p:nvGrpSpPr>
          <p:cNvPr id="24" name="그룹 23">
            <a:extLst>
              <a:ext uri="{FF2B5EF4-FFF2-40B4-BE49-F238E27FC236}">
                <a16:creationId xmlns:a16="http://schemas.microsoft.com/office/drawing/2014/main" id="{66ABC2C9-0010-E332-C853-6E8099B90551}"/>
              </a:ext>
            </a:extLst>
          </p:cNvPr>
          <p:cNvGrpSpPr/>
          <p:nvPr/>
        </p:nvGrpSpPr>
        <p:grpSpPr>
          <a:xfrm>
            <a:off x="2813453" y="2580708"/>
            <a:ext cx="5518465" cy="2897338"/>
            <a:chOff x="3478306" y="3067698"/>
            <a:chExt cx="6028785" cy="3535151"/>
          </a:xfrm>
        </p:grpSpPr>
        <p:pic>
          <p:nvPicPr>
            <p:cNvPr id="14" name="그림 13">
              <a:extLst>
                <a:ext uri="{FF2B5EF4-FFF2-40B4-BE49-F238E27FC236}">
                  <a16:creationId xmlns:a16="http://schemas.microsoft.com/office/drawing/2014/main" id="{18FC7BC0-BED4-F10A-F926-BA27CE6CC299}"/>
                </a:ext>
              </a:extLst>
            </p:cNvPr>
            <p:cNvPicPr>
              <a:picLocks noChangeAspect="1"/>
            </p:cNvPicPr>
            <p:nvPr/>
          </p:nvPicPr>
          <p:blipFill rotWithShape="1">
            <a:blip r:embed="rId3"/>
            <a:srcRect l="-6311" t="6483" r="6311" b="-216"/>
            <a:stretch/>
          </p:blipFill>
          <p:spPr>
            <a:xfrm>
              <a:off x="3478306" y="3272224"/>
              <a:ext cx="3105583" cy="3330625"/>
            </a:xfrm>
            <a:prstGeom prst="rect">
              <a:avLst/>
            </a:prstGeom>
          </p:spPr>
        </p:pic>
        <p:pic>
          <p:nvPicPr>
            <p:cNvPr id="16" name="그림 15">
              <a:extLst>
                <a:ext uri="{FF2B5EF4-FFF2-40B4-BE49-F238E27FC236}">
                  <a16:creationId xmlns:a16="http://schemas.microsoft.com/office/drawing/2014/main" id="{932BB3C3-68F0-F470-B606-E95B6F55134B}"/>
                </a:ext>
              </a:extLst>
            </p:cNvPr>
            <p:cNvPicPr>
              <a:picLocks noChangeAspect="1"/>
            </p:cNvPicPr>
            <p:nvPr/>
          </p:nvPicPr>
          <p:blipFill>
            <a:blip r:embed="rId4"/>
            <a:stretch>
              <a:fillRect/>
            </a:stretch>
          </p:blipFill>
          <p:spPr>
            <a:xfrm>
              <a:off x="6687297" y="3370068"/>
              <a:ext cx="2819794" cy="2838846"/>
            </a:xfrm>
            <a:prstGeom prst="rect">
              <a:avLst/>
            </a:prstGeom>
          </p:spPr>
        </p:pic>
        <p:sp>
          <p:nvSpPr>
            <p:cNvPr id="17" name="TextBox 16">
              <a:extLst>
                <a:ext uri="{FF2B5EF4-FFF2-40B4-BE49-F238E27FC236}">
                  <a16:creationId xmlns:a16="http://schemas.microsoft.com/office/drawing/2014/main" id="{F9F944BE-B51E-EE01-056C-789A4F8E1026}"/>
                </a:ext>
              </a:extLst>
            </p:cNvPr>
            <p:cNvSpPr txBox="1"/>
            <p:nvPr/>
          </p:nvSpPr>
          <p:spPr>
            <a:xfrm>
              <a:off x="3581714" y="4876800"/>
              <a:ext cx="530915" cy="246221"/>
            </a:xfrm>
            <a:prstGeom prst="rect">
              <a:avLst/>
            </a:prstGeom>
            <a:noFill/>
          </p:spPr>
          <p:txBody>
            <a:bodyPr wrap="none" rtlCol="0">
              <a:spAutoFit/>
            </a:bodyPr>
            <a:lstStyle/>
            <a:p>
              <a:r>
                <a:rPr lang="ko-KR" altLang="en-US" sz="1000" dirty="0" err="1">
                  <a:solidFill>
                    <a:srgbClr val="FF0000"/>
                  </a:solidFill>
                </a:rPr>
                <a:t>개폐판</a:t>
              </a:r>
              <a:endParaRPr lang="ko-KR" altLang="en-US" sz="1000" dirty="0">
                <a:solidFill>
                  <a:srgbClr val="FF0000"/>
                </a:solidFill>
              </a:endParaRPr>
            </a:p>
          </p:txBody>
        </p:sp>
        <p:sp>
          <p:nvSpPr>
            <p:cNvPr id="18" name="TextBox 17">
              <a:extLst>
                <a:ext uri="{FF2B5EF4-FFF2-40B4-BE49-F238E27FC236}">
                  <a16:creationId xmlns:a16="http://schemas.microsoft.com/office/drawing/2014/main" id="{F295EA05-6716-BE2D-E453-FD9A60F006CE}"/>
                </a:ext>
              </a:extLst>
            </p:cNvPr>
            <p:cNvSpPr txBox="1"/>
            <p:nvPr/>
          </p:nvSpPr>
          <p:spPr>
            <a:xfrm>
              <a:off x="4357307" y="3495675"/>
              <a:ext cx="761747" cy="246221"/>
            </a:xfrm>
            <a:prstGeom prst="rect">
              <a:avLst/>
            </a:prstGeom>
            <a:noFill/>
          </p:spPr>
          <p:txBody>
            <a:bodyPr wrap="none" rtlCol="0">
              <a:spAutoFit/>
            </a:bodyPr>
            <a:lstStyle/>
            <a:p>
              <a:r>
                <a:rPr lang="ko-KR" altLang="en-US" sz="1000">
                  <a:solidFill>
                    <a:srgbClr val="FF0000"/>
                  </a:solidFill>
                </a:rPr>
                <a:t>수용공간부</a:t>
              </a:r>
              <a:endParaRPr lang="ko-KR" altLang="en-US" sz="1000" dirty="0">
                <a:solidFill>
                  <a:srgbClr val="FF0000"/>
                </a:solidFill>
              </a:endParaRPr>
            </a:p>
          </p:txBody>
        </p:sp>
        <p:sp>
          <p:nvSpPr>
            <p:cNvPr id="19" name="TextBox 18">
              <a:extLst>
                <a:ext uri="{FF2B5EF4-FFF2-40B4-BE49-F238E27FC236}">
                  <a16:creationId xmlns:a16="http://schemas.microsoft.com/office/drawing/2014/main" id="{965F40DB-DCA2-2BCD-20E8-2274DBF90DAD}"/>
                </a:ext>
              </a:extLst>
            </p:cNvPr>
            <p:cNvSpPr txBox="1"/>
            <p:nvPr/>
          </p:nvSpPr>
          <p:spPr>
            <a:xfrm>
              <a:off x="4823348" y="3067698"/>
              <a:ext cx="415498" cy="246221"/>
            </a:xfrm>
            <a:prstGeom prst="rect">
              <a:avLst/>
            </a:prstGeom>
            <a:noFill/>
          </p:spPr>
          <p:txBody>
            <a:bodyPr wrap="none" rtlCol="0">
              <a:spAutoFit/>
            </a:bodyPr>
            <a:lstStyle/>
            <a:p>
              <a:r>
                <a:rPr lang="ko-KR" altLang="en-US" sz="1000" dirty="0">
                  <a:solidFill>
                    <a:srgbClr val="FF0000"/>
                  </a:solidFill>
                </a:rPr>
                <a:t>본체</a:t>
              </a:r>
            </a:p>
          </p:txBody>
        </p:sp>
        <p:sp>
          <p:nvSpPr>
            <p:cNvPr id="20" name="TextBox 19">
              <a:extLst>
                <a:ext uri="{FF2B5EF4-FFF2-40B4-BE49-F238E27FC236}">
                  <a16:creationId xmlns:a16="http://schemas.microsoft.com/office/drawing/2014/main" id="{B567C2F7-8E5D-91C0-63AA-98E3F541C52D}"/>
                </a:ext>
              </a:extLst>
            </p:cNvPr>
            <p:cNvSpPr txBox="1"/>
            <p:nvPr/>
          </p:nvSpPr>
          <p:spPr>
            <a:xfrm>
              <a:off x="4357307" y="5013277"/>
              <a:ext cx="646331" cy="246221"/>
            </a:xfrm>
            <a:prstGeom prst="rect">
              <a:avLst/>
            </a:prstGeom>
            <a:noFill/>
          </p:spPr>
          <p:txBody>
            <a:bodyPr wrap="none" rtlCol="0">
              <a:spAutoFit/>
            </a:bodyPr>
            <a:lstStyle/>
            <a:p>
              <a:r>
                <a:rPr lang="ko-KR" altLang="en-US" sz="1000" dirty="0">
                  <a:solidFill>
                    <a:srgbClr val="FF0000"/>
                  </a:solidFill>
                </a:rPr>
                <a:t>기밀부재</a:t>
              </a:r>
            </a:p>
          </p:txBody>
        </p:sp>
        <p:sp>
          <p:nvSpPr>
            <p:cNvPr id="21" name="TextBox 20">
              <a:extLst>
                <a:ext uri="{FF2B5EF4-FFF2-40B4-BE49-F238E27FC236}">
                  <a16:creationId xmlns:a16="http://schemas.microsoft.com/office/drawing/2014/main" id="{1F9A8CEA-F926-6452-5DA2-A412C7E8F0CC}"/>
                </a:ext>
              </a:extLst>
            </p:cNvPr>
            <p:cNvSpPr txBox="1"/>
            <p:nvPr/>
          </p:nvSpPr>
          <p:spPr>
            <a:xfrm>
              <a:off x="7598297" y="3555952"/>
              <a:ext cx="530915" cy="246221"/>
            </a:xfrm>
            <a:prstGeom prst="rect">
              <a:avLst/>
            </a:prstGeom>
            <a:noFill/>
          </p:spPr>
          <p:txBody>
            <a:bodyPr wrap="none" rtlCol="0">
              <a:spAutoFit/>
            </a:bodyPr>
            <a:lstStyle/>
            <a:p>
              <a:r>
                <a:rPr lang="ko-KR" altLang="en-US" sz="1000" dirty="0" err="1">
                  <a:solidFill>
                    <a:srgbClr val="FF0000"/>
                  </a:solidFill>
                </a:rPr>
                <a:t>주입구</a:t>
              </a:r>
              <a:endParaRPr lang="ko-KR" altLang="en-US" sz="1000" dirty="0">
                <a:solidFill>
                  <a:srgbClr val="FF0000"/>
                </a:solidFill>
              </a:endParaRPr>
            </a:p>
          </p:txBody>
        </p:sp>
        <p:sp>
          <p:nvSpPr>
            <p:cNvPr id="22" name="TextBox 21">
              <a:extLst>
                <a:ext uri="{FF2B5EF4-FFF2-40B4-BE49-F238E27FC236}">
                  <a16:creationId xmlns:a16="http://schemas.microsoft.com/office/drawing/2014/main" id="{A8739265-203F-2FF3-FF17-632A742714CF}"/>
                </a:ext>
              </a:extLst>
            </p:cNvPr>
            <p:cNvSpPr txBox="1"/>
            <p:nvPr/>
          </p:nvSpPr>
          <p:spPr>
            <a:xfrm>
              <a:off x="5877144" y="3802173"/>
              <a:ext cx="646331" cy="246221"/>
            </a:xfrm>
            <a:prstGeom prst="rect">
              <a:avLst/>
            </a:prstGeom>
            <a:noFill/>
          </p:spPr>
          <p:txBody>
            <a:bodyPr wrap="none" rtlCol="0">
              <a:spAutoFit/>
            </a:bodyPr>
            <a:lstStyle/>
            <a:p>
              <a:r>
                <a:rPr lang="ko-KR" altLang="en-US" sz="1000">
                  <a:solidFill>
                    <a:srgbClr val="FF0000"/>
                  </a:solidFill>
                </a:rPr>
                <a:t>주입밸브</a:t>
              </a:r>
              <a:endParaRPr lang="ko-KR" altLang="en-US" sz="1000" dirty="0">
                <a:solidFill>
                  <a:srgbClr val="FF0000"/>
                </a:solidFill>
              </a:endParaRPr>
            </a:p>
          </p:txBody>
        </p:sp>
        <p:sp>
          <p:nvSpPr>
            <p:cNvPr id="23" name="TextBox 22">
              <a:extLst>
                <a:ext uri="{FF2B5EF4-FFF2-40B4-BE49-F238E27FC236}">
                  <a16:creationId xmlns:a16="http://schemas.microsoft.com/office/drawing/2014/main" id="{5378518C-C2FA-294D-D8CC-38F54D40D664}"/>
                </a:ext>
              </a:extLst>
            </p:cNvPr>
            <p:cNvSpPr txBox="1"/>
            <p:nvPr/>
          </p:nvSpPr>
          <p:spPr>
            <a:xfrm>
              <a:off x="5834660" y="4006699"/>
              <a:ext cx="646331" cy="246221"/>
            </a:xfrm>
            <a:prstGeom prst="rect">
              <a:avLst/>
            </a:prstGeom>
            <a:noFill/>
          </p:spPr>
          <p:txBody>
            <a:bodyPr wrap="none" rtlCol="0">
              <a:spAutoFit/>
            </a:bodyPr>
            <a:lstStyle/>
            <a:p>
              <a:r>
                <a:rPr lang="ko-KR" altLang="en-US" sz="1000" dirty="0">
                  <a:solidFill>
                    <a:srgbClr val="FF0000"/>
                  </a:solidFill>
                </a:rPr>
                <a:t>장착부재</a:t>
              </a:r>
            </a:p>
          </p:txBody>
        </p:sp>
      </p:grpSp>
      <p:sp>
        <p:nvSpPr>
          <p:cNvPr id="28" name="TextBox 27">
            <a:extLst>
              <a:ext uri="{FF2B5EF4-FFF2-40B4-BE49-F238E27FC236}">
                <a16:creationId xmlns:a16="http://schemas.microsoft.com/office/drawing/2014/main" id="{A423F20E-DDEA-8AC2-56F5-E2173912BB74}"/>
              </a:ext>
            </a:extLst>
          </p:cNvPr>
          <p:cNvSpPr txBox="1"/>
          <p:nvPr/>
        </p:nvSpPr>
        <p:spPr>
          <a:xfrm>
            <a:off x="8760012" y="2831699"/>
            <a:ext cx="3234763" cy="2492990"/>
          </a:xfrm>
          <a:prstGeom prst="rect">
            <a:avLst/>
          </a:prstGeom>
          <a:noFill/>
          <a:ln w="28575">
            <a:solidFill>
              <a:srgbClr val="FF0000"/>
            </a:solidFill>
          </a:ln>
        </p:spPr>
        <p:txBody>
          <a:bodyPr wrap="square">
            <a:spAutoFit/>
          </a:bodyPr>
          <a:lstStyle/>
          <a:p>
            <a:r>
              <a:rPr lang="ko-KR" altLang="en-US" sz="1200" dirty="0"/>
              <a:t>⑶ 피고인들이 실제 제조한 물건을 이 사건 제</a:t>
            </a:r>
            <a:r>
              <a:rPr lang="en-US" altLang="ko-KR" sz="1200" dirty="0"/>
              <a:t>9</a:t>
            </a:r>
            <a:r>
              <a:rPr lang="ko-KR" altLang="en-US" sz="1200" dirty="0"/>
              <a:t>항 발명과 대비하여 </a:t>
            </a:r>
            <a:r>
              <a:rPr lang="ko-KR" altLang="en-US" sz="1200" dirty="0">
                <a:highlight>
                  <a:srgbClr val="CCECFF"/>
                </a:highlight>
              </a:rPr>
              <a:t>보면 가스주입구와 주입밸브가 수용공간부 ‘</a:t>
            </a:r>
            <a:r>
              <a:rPr lang="ko-KR" altLang="en-US" sz="1200" dirty="0" err="1">
                <a:highlight>
                  <a:srgbClr val="FF00FF"/>
                </a:highlight>
              </a:rPr>
              <a:t>전방면</a:t>
            </a:r>
            <a:r>
              <a:rPr lang="ko-KR" altLang="en-US" sz="1200" dirty="0" err="1">
                <a:highlight>
                  <a:srgbClr val="CCECFF"/>
                </a:highlight>
              </a:rPr>
              <a:t>’에</a:t>
            </a:r>
            <a:r>
              <a:rPr lang="ko-KR" altLang="en-US" sz="1200" dirty="0">
                <a:highlight>
                  <a:srgbClr val="CCECFF"/>
                </a:highlight>
              </a:rPr>
              <a:t> 형성되어 있다는 점</a:t>
            </a:r>
            <a:r>
              <a:rPr lang="ko-KR" altLang="en-US" sz="1200" dirty="0"/>
              <a:t>에서만 차이가 있고 나머지 구성은 동일하다</a:t>
            </a:r>
            <a:r>
              <a:rPr lang="en-US" altLang="ko-KR" sz="1200" dirty="0"/>
              <a:t>.</a:t>
            </a:r>
          </a:p>
          <a:p>
            <a:endParaRPr lang="en-US" altLang="ko-KR" sz="1200" dirty="0"/>
          </a:p>
          <a:p>
            <a:r>
              <a:rPr lang="en-US" altLang="ko-KR" sz="1200" dirty="0"/>
              <a:t>⑸ </a:t>
            </a:r>
            <a:r>
              <a:rPr lang="ko-KR" altLang="en-US" sz="1200" dirty="0"/>
              <a:t>이 사건 제</a:t>
            </a:r>
            <a:r>
              <a:rPr lang="en-US" altLang="ko-KR" sz="1200" dirty="0"/>
              <a:t>9</a:t>
            </a:r>
            <a:r>
              <a:rPr lang="ko-KR" altLang="en-US" sz="1200" dirty="0"/>
              <a:t>항 발명의 핵심적인 기술적 과제는 </a:t>
            </a:r>
            <a:r>
              <a:rPr lang="ko-KR" altLang="en-US" sz="1200" dirty="0" err="1"/>
              <a:t>간이한</a:t>
            </a:r>
            <a:r>
              <a:rPr lang="ko-KR" altLang="en-US" sz="1200" dirty="0"/>
              <a:t> 구조로 납골함 보관공간을 진공 또는 </a:t>
            </a:r>
            <a:r>
              <a:rPr lang="ko-KR" altLang="en-US" sz="1200" dirty="0" err="1"/>
              <a:t>고압력</a:t>
            </a:r>
            <a:r>
              <a:rPr lang="en-US" altLang="ko-KR" sz="1200" dirty="0"/>
              <a:t>(</a:t>
            </a:r>
            <a:r>
              <a:rPr lang="ko-KR" altLang="en-US" sz="1200" dirty="0" err="1"/>
              <a:t>질소충천</a:t>
            </a:r>
            <a:r>
              <a:rPr lang="en-US" altLang="ko-KR" sz="1200" dirty="0"/>
              <a:t>)</a:t>
            </a:r>
            <a:r>
              <a:rPr lang="ko-KR" altLang="en-US" sz="1200" dirty="0"/>
              <a:t> 상태로 유지하여 유골의 부패와 변질을 최소화하는 데에 있고</a:t>
            </a:r>
            <a:r>
              <a:rPr lang="en-US" altLang="ko-KR" sz="1200" dirty="0"/>
              <a:t>, </a:t>
            </a:r>
            <a:r>
              <a:rPr lang="ko-KR" altLang="en-US" sz="1200" dirty="0"/>
              <a:t>가스주입구와 주입밸브의 설치 위치 변경은 통상의 기술자가 보통 채용하는 정도의 기술적 구성의 변경에 불과하며</a:t>
            </a:r>
            <a:r>
              <a:rPr lang="en-US" altLang="ko-KR" sz="1200" dirty="0"/>
              <a:t>, </a:t>
            </a:r>
            <a:r>
              <a:rPr lang="ko-KR" altLang="en-US" sz="1200" dirty="0"/>
              <a:t>그로 인하여 발명의 효과에 특별한 차이가 생기지도 아니한다고 보인다</a:t>
            </a:r>
            <a:r>
              <a:rPr lang="en-US" altLang="ko-KR" sz="1200" dirty="0"/>
              <a:t>.</a:t>
            </a:r>
            <a:endParaRPr lang="ko-KR" altLang="en-US" sz="1200" dirty="0"/>
          </a:p>
        </p:txBody>
      </p:sp>
      <p:sp>
        <p:nvSpPr>
          <p:cNvPr id="35" name="TextBox 34">
            <a:extLst>
              <a:ext uri="{FF2B5EF4-FFF2-40B4-BE49-F238E27FC236}">
                <a16:creationId xmlns:a16="http://schemas.microsoft.com/office/drawing/2014/main" id="{B1EFBDF3-98E8-FE18-5FC2-AF7BC52A1A98}"/>
              </a:ext>
            </a:extLst>
          </p:cNvPr>
          <p:cNvSpPr txBox="1"/>
          <p:nvPr/>
        </p:nvSpPr>
        <p:spPr>
          <a:xfrm>
            <a:off x="3033938" y="5532956"/>
            <a:ext cx="9083222" cy="1200329"/>
          </a:xfrm>
          <a:prstGeom prst="rect">
            <a:avLst/>
          </a:prstGeom>
          <a:noFill/>
        </p:spPr>
        <p:txBody>
          <a:bodyPr wrap="square">
            <a:spAutoFit/>
          </a:bodyPr>
          <a:lstStyle/>
          <a:p>
            <a:r>
              <a:rPr lang="ko-KR" altLang="en-US" sz="1200" dirty="0"/>
              <a:t>허위</a:t>
            </a:r>
            <a:r>
              <a:rPr lang="en-US" altLang="ko-KR" sz="1200" dirty="0"/>
              <a:t>, </a:t>
            </a:r>
            <a:r>
              <a:rPr lang="ko-KR" altLang="en-US" sz="1200" dirty="0"/>
              <a:t>과장광고에 대하여 대법원 </a:t>
            </a:r>
            <a:r>
              <a:rPr lang="en-US" altLang="ko-KR" sz="1200" dirty="0"/>
              <a:t>1993. 8.13. </a:t>
            </a:r>
            <a:r>
              <a:rPr lang="ko-KR" altLang="en-US" sz="1200" dirty="0"/>
              <a:t>선고 </a:t>
            </a:r>
            <a:r>
              <a:rPr lang="en-US" altLang="ko-KR" sz="1200" dirty="0"/>
              <a:t>92</a:t>
            </a:r>
            <a:r>
              <a:rPr lang="ko-KR" altLang="en-US" sz="1200" dirty="0"/>
              <a:t>다</a:t>
            </a:r>
            <a:r>
              <a:rPr lang="en-US" altLang="ko-KR" sz="1200" dirty="0"/>
              <a:t>52665 </a:t>
            </a:r>
            <a:r>
              <a:rPr lang="ko-KR" altLang="en-US" sz="1200" dirty="0"/>
              <a:t>판결</a:t>
            </a:r>
            <a:r>
              <a:rPr lang="en-US" altLang="ko-KR" sz="1200" dirty="0"/>
              <a:t>, </a:t>
            </a:r>
            <a:r>
              <a:rPr lang="ko-KR" altLang="en-US" sz="1200" dirty="0"/>
              <a:t>대법원 </a:t>
            </a:r>
            <a:r>
              <a:rPr lang="en-US" altLang="ko-KR" sz="1200" dirty="0"/>
              <a:t>2008. 10. 23. </a:t>
            </a:r>
            <a:r>
              <a:rPr lang="ko-KR" altLang="en-US" sz="1200" dirty="0"/>
              <a:t>선고 </a:t>
            </a:r>
            <a:r>
              <a:rPr lang="en-US" altLang="ko-KR" sz="1200" dirty="0"/>
              <a:t>2007</a:t>
            </a:r>
            <a:r>
              <a:rPr lang="ko-KR" altLang="en-US" sz="1200" dirty="0"/>
              <a:t>다</a:t>
            </a:r>
            <a:r>
              <a:rPr lang="en-US" altLang="ko-KR" sz="1200" dirty="0"/>
              <a:t>44194 </a:t>
            </a:r>
            <a:r>
              <a:rPr lang="ko-KR" altLang="en-US" sz="1200" dirty="0"/>
              <a:t>판결 등은 “</a:t>
            </a:r>
            <a:r>
              <a:rPr lang="ko-KR" altLang="en-US" sz="1200" dirty="0">
                <a:highlight>
                  <a:srgbClr val="CCECFF"/>
                </a:highlight>
              </a:rPr>
              <a:t>상품의 선전</a:t>
            </a:r>
            <a:r>
              <a:rPr lang="en-US" altLang="ko-KR" sz="1200" dirty="0">
                <a:highlight>
                  <a:srgbClr val="CCECFF"/>
                </a:highlight>
              </a:rPr>
              <a:t>․</a:t>
            </a:r>
            <a:r>
              <a:rPr lang="ko-KR" altLang="en-US" sz="1200" dirty="0">
                <a:highlight>
                  <a:srgbClr val="CCECFF"/>
                </a:highlight>
              </a:rPr>
              <a:t>광고에 있어 다소의 과장이나 허위가 수반되는 것은 그것이 일반 상거래의 관행과 </a:t>
            </a:r>
            <a:r>
              <a:rPr lang="ko-KR" altLang="en-US" sz="1200" dirty="0" err="1">
                <a:highlight>
                  <a:srgbClr val="CCECFF"/>
                </a:highlight>
              </a:rPr>
              <a:t>신의칙에</a:t>
            </a:r>
            <a:r>
              <a:rPr lang="ko-KR" altLang="en-US" sz="1200" dirty="0">
                <a:highlight>
                  <a:srgbClr val="CCECFF"/>
                </a:highlight>
              </a:rPr>
              <a:t> 비추어 </a:t>
            </a:r>
            <a:r>
              <a:rPr lang="ko-KR" altLang="en-US" sz="1200" dirty="0" err="1">
                <a:highlight>
                  <a:srgbClr val="CCECFF"/>
                </a:highlight>
              </a:rPr>
              <a:t>시인될</a:t>
            </a:r>
            <a:r>
              <a:rPr lang="ko-KR" altLang="en-US" sz="1200" dirty="0">
                <a:highlight>
                  <a:srgbClr val="CCECFF"/>
                </a:highlight>
              </a:rPr>
              <a:t> 수 있는 한 기망성이 결여된다고 </a:t>
            </a:r>
            <a:r>
              <a:rPr lang="ko-KR" altLang="en-US" sz="1200" dirty="0" err="1">
                <a:highlight>
                  <a:srgbClr val="CCECFF"/>
                </a:highlight>
              </a:rPr>
              <a:t>하겠으나</a:t>
            </a:r>
            <a:r>
              <a:rPr lang="en-US" altLang="ko-KR" sz="1200" dirty="0">
                <a:highlight>
                  <a:srgbClr val="CCECFF"/>
                </a:highlight>
              </a:rPr>
              <a:t>, </a:t>
            </a:r>
            <a:r>
              <a:rPr lang="ko-KR" altLang="en-US" sz="1200" dirty="0">
                <a:highlight>
                  <a:srgbClr val="CCECFF"/>
                </a:highlight>
              </a:rPr>
              <a:t>거래에 있어서 중요한 사항에 관하여 구체적 사실을 신의성실의 의무에 비추어 </a:t>
            </a:r>
            <a:r>
              <a:rPr lang="ko-KR" altLang="en-US" sz="1200" dirty="0" err="1">
                <a:highlight>
                  <a:srgbClr val="CCECFF"/>
                </a:highlight>
              </a:rPr>
              <a:t>비난받을</a:t>
            </a:r>
            <a:r>
              <a:rPr lang="ko-KR" altLang="en-US" sz="1200" dirty="0">
                <a:highlight>
                  <a:srgbClr val="CCECFF"/>
                </a:highlight>
              </a:rPr>
              <a:t> 정도의 방법으로 허위로 고지한 경우에는 기망행위에 해당한다</a:t>
            </a:r>
            <a:r>
              <a:rPr lang="en-US" altLang="ko-KR" sz="1200" dirty="0"/>
              <a:t>.”</a:t>
            </a:r>
            <a:r>
              <a:rPr lang="ko-KR" altLang="en-US" sz="1200" dirty="0"/>
              <a:t>고 판시하고 있다</a:t>
            </a:r>
            <a:r>
              <a:rPr lang="en-US" altLang="ko-KR" sz="1200" dirty="0"/>
              <a:t>. </a:t>
            </a:r>
            <a:r>
              <a:rPr lang="ko-KR" altLang="en-US" sz="1200" dirty="0"/>
              <a:t>위와 같은 판결의 취지에 따르면</a:t>
            </a:r>
            <a:r>
              <a:rPr lang="en-US" altLang="ko-KR" sz="1200" dirty="0"/>
              <a:t>, </a:t>
            </a:r>
            <a:r>
              <a:rPr lang="ko-KR" altLang="en-US" sz="1200" dirty="0"/>
              <a:t>모든 허위 표시 행위가 처벌의 대상이 되는 것은 아니고</a:t>
            </a:r>
            <a:r>
              <a:rPr lang="en-US" altLang="ko-KR" sz="1200" dirty="0"/>
              <a:t>, </a:t>
            </a:r>
            <a:r>
              <a:rPr lang="ko-KR" altLang="en-US" sz="1200" dirty="0"/>
              <a:t>일반 수요자의 관점에서 </a:t>
            </a:r>
            <a:r>
              <a:rPr lang="ko-KR" altLang="en-US" sz="1200" dirty="0" err="1"/>
              <a:t>신의칙에</a:t>
            </a:r>
            <a:r>
              <a:rPr lang="ko-KR" altLang="en-US" sz="1200" dirty="0"/>
              <a:t> 비추어 </a:t>
            </a:r>
            <a:r>
              <a:rPr lang="ko-KR" altLang="en-US" sz="1200" dirty="0" err="1"/>
              <a:t>비난받을</a:t>
            </a:r>
            <a:r>
              <a:rPr lang="ko-KR" altLang="en-US" sz="1200" dirty="0"/>
              <a:t> 정도에 이르렀는지 여부에 따라 판단되어야 한다</a:t>
            </a:r>
            <a:r>
              <a:rPr lang="en-US" altLang="ko-KR" sz="1200" dirty="0"/>
              <a:t>. </a:t>
            </a:r>
            <a:r>
              <a:rPr lang="ko-KR" altLang="en-US" sz="1200" dirty="0"/>
              <a:t>따라서</a:t>
            </a:r>
            <a:r>
              <a:rPr lang="en-US" altLang="ko-KR" sz="1200" dirty="0"/>
              <a:t>, </a:t>
            </a:r>
            <a:r>
              <a:rPr lang="ko-KR" altLang="en-US" sz="1200" dirty="0"/>
              <a:t>특허법 제</a:t>
            </a:r>
            <a:r>
              <a:rPr lang="en-US" altLang="ko-KR" sz="1200" dirty="0"/>
              <a:t>228</a:t>
            </a:r>
            <a:r>
              <a:rPr lang="ko-KR" altLang="en-US" sz="1200" dirty="0"/>
              <a:t>조</a:t>
            </a:r>
            <a:r>
              <a:rPr lang="en-US" altLang="ko-KR" sz="1200" dirty="0"/>
              <a:t>, </a:t>
            </a:r>
            <a:r>
              <a:rPr lang="ko-KR" altLang="en-US" sz="1200" dirty="0"/>
              <a:t>제</a:t>
            </a:r>
            <a:r>
              <a:rPr lang="en-US" altLang="ko-KR" sz="1200" dirty="0"/>
              <a:t>224</a:t>
            </a:r>
            <a:r>
              <a:rPr lang="ko-KR" altLang="en-US" sz="1200" dirty="0"/>
              <a:t>조의 허위표시의 죄에 있어서도 위 입법 취지와 일반법리를 고려하면 “일반 공중의 오인 우려 </a:t>
            </a:r>
            <a:r>
              <a:rPr lang="ko-KR" altLang="en-US" sz="1200" dirty="0" err="1"/>
              <a:t>여부”가</a:t>
            </a:r>
            <a:r>
              <a:rPr lang="ko-KR" altLang="en-US" sz="1200" dirty="0"/>
              <a:t> 그 판단 기준이 될 수 있다</a:t>
            </a:r>
            <a:r>
              <a:rPr lang="en-US" altLang="ko-KR" sz="1200" dirty="0"/>
              <a:t>.</a:t>
            </a:r>
            <a:endParaRPr lang="ko-KR" altLang="en-US" sz="1200" dirty="0"/>
          </a:p>
        </p:txBody>
      </p:sp>
    </p:spTree>
    <p:extLst>
      <p:ext uri="{BB962C8B-B14F-4D97-AF65-F5344CB8AC3E}">
        <p14:creationId xmlns:p14="http://schemas.microsoft.com/office/powerpoint/2010/main" val="437988563"/>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ko-KR" altLang="en-US" dirty="0"/>
              <a:t>출원발명을 제</a:t>
            </a:r>
            <a:r>
              <a:rPr lang="en-US" altLang="ko-KR" dirty="0"/>
              <a:t>3</a:t>
            </a:r>
            <a:r>
              <a:rPr lang="ko-KR" altLang="en-US" dirty="0"/>
              <a:t>자가 실시할 때 출원인의 대응방안</a:t>
            </a:r>
          </a:p>
        </p:txBody>
      </p:sp>
      <p:sp>
        <p:nvSpPr>
          <p:cNvPr id="5" name="Rectangle 13"/>
          <p:cNvSpPr>
            <a:spLocks noChangeArrowheads="1"/>
          </p:cNvSpPr>
          <p:nvPr/>
        </p:nvSpPr>
        <p:spPr bwMode="auto">
          <a:xfrm>
            <a:off x="607488" y="1158727"/>
            <a:ext cx="1668987" cy="450998"/>
          </a:xfrm>
          <a:prstGeom prst="rect">
            <a:avLst/>
          </a:prstGeom>
          <a:solidFill>
            <a:schemeClr val="accent2"/>
          </a:solidFill>
          <a:ln w="9525" algn="ctr">
            <a:solidFill>
              <a:schemeClr val="bg1">
                <a:lumMod val="50000"/>
              </a:schemeClr>
            </a:solidFill>
            <a:miter lim="800000"/>
            <a:headEnd/>
            <a:tailEnd/>
          </a:ln>
        </p:spPr>
        <p:txBody>
          <a:bodyPr wrap="none" anchor="ctr"/>
          <a:lstStyle/>
          <a:p>
            <a:pPr algn="ctr"/>
            <a:r>
              <a:rPr lang="ko-KR" altLang="en-US" sz="1400" dirty="0">
                <a:latin typeface="+mj-ea"/>
                <a:ea typeface="+mj-ea"/>
              </a:rPr>
              <a:t>실시의 적법성</a:t>
            </a:r>
            <a:endParaRPr lang="en-US" altLang="ko-KR" sz="1400" dirty="0">
              <a:latin typeface="+mj-ea"/>
              <a:ea typeface="+mj-ea"/>
            </a:endParaRPr>
          </a:p>
          <a:p>
            <a:pPr algn="ctr"/>
            <a:r>
              <a:rPr lang="en-US" altLang="ko-KR" sz="1400" dirty="0">
                <a:latin typeface="+mj-ea"/>
                <a:ea typeface="+mj-ea"/>
              </a:rPr>
              <a:t>(</a:t>
            </a:r>
            <a:r>
              <a:rPr lang="ko-KR" altLang="en-US" sz="1400" dirty="0">
                <a:latin typeface="+mj-ea"/>
                <a:ea typeface="+mj-ea"/>
              </a:rPr>
              <a:t>판단</a:t>
            </a:r>
            <a:r>
              <a:rPr lang="en-US" altLang="ko-KR" sz="1400" dirty="0">
                <a:latin typeface="+mj-ea"/>
                <a:ea typeface="+mj-ea"/>
              </a:rPr>
              <a:t>)</a:t>
            </a:r>
          </a:p>
        </p:txBody>
      </p:sp>
      <p:sp>
        <p:nvSpPr>
          <p:cNvPr id="6" name="Rectangle 13"/>
          <p:cNvSpPr>
            <a:spLocks noChangeArrowheads="1"/>
          </p:cNvSpPr>
          <p:nvPr/>
        </p:nvSpPr>
        <p:spPr bwMode="auto">
          <a:xfrm>
            <a:off x="3293538" y="1152303"/>
            <a:ext cx="8517461" cy="450998"/>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j-ea"/>
                <a:ea typeface="+mj-ea"/>
              </a:rPr>
              <a:t>대응방안</a:t>
            </a:r>
            <a:endParaRPr lang="en-US" altLang="ko-KR" sz="1400" dirty="0">
              <a:latin typeface="+mj-ea"/>
              <a:ea typeface="+mj-ea"/>
            </a:endParaRPr>
          </a:p>
          <a:p>
            <a:pPr algn="ctr"/>
            <a:r>
              <a:rPr lang="en-US" altLang="ko-KR" sz="1400" dirty="0">
                <a:latin typeface="+mj-ea"/>
                <a:ea typeface="+mj-ea"/>
              </a:rPr>
              <a:t>(</a:t>
            </a:r>
            <a:r>
              <a:rPr lang="ko-KR" altLang="en-US" sz="1400" dirty="0">
                <a:latin typeface="+mj-ea"/>
                <a:ea typeface="+mj-ea"/>
              </a:rPr>
              <a:t>반응</a:t>
            </a:r>
            <a:r>
              <a:rPr lang="en-US" altLang="ko-KR" sz="1400" dirty="0">
                <a:latin typeface="+mj-ea"/>
                <a:ea typeface="+mj-ea"/>
              </a:rPr>
              <a:t>)</a:t>
            </a:r>
          </a:p>
        </p:txBody>
      </p:sp>
      <p:cxnSp>
        <p:nvCxnSpPr>
          <p:cNvPr id="8" name="직선 연결선 7"/>
          <p:cNvCxnSpPr>
            <a:stCxn id="5" idx="3"/>
            <a:endCxn id="6" idx="1"/>
          </p:cNvCxnSpPr>
          <p:nvPr/>
        </p:nvCxnSpPr>
        <p:spPr>
          <a:xfrm flipV="1">
            <a:off x="2276475" y="1377802"/>
            <a:ext cx="1017063" cy="642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2867025" y="1057275"/>
            <a:ext cx="0" cy="55054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순서도: 판단 12"/>
          <p:cNvSpPr/>
          <p:nvPr/>
        </p:nvSpPr>
        <p:spPr bwMode="auto">
          <a:xfrm>
            <a:off x="481874" y="1964450"/>
            <a:ext cx="1920213" cy="760764"/>
          </a:xfrm>
          <a:prstGeom prst="flowChartDecision">
            <a:avLst/>
          </a:prstGeom>
          <a:solidFill>
            <a:schemeClr val="accent1">
              <a:lumMod val="20000"/>
              <a:lumOff val="80000"/>
            </a:schemeClr>
          </a:solidFill>
          <a:ln>
            <a:solidFill>
              <a:schemeClr val="bg1">
                <a:lumMod val="50000"/>
              </a:schemeClr>
            </a:solidFill>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0" tIns="46800" rIns="0" bIns="4680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ko-KR" altLang="en-US" sz="1200" b="0" i="0" u="none" strike="noStrike" cap="none" normalizeH="0" baseline="0" dirty="0">
                <a:ln>
                  <a:noFill/>
                </a:ln>
                <a:solidFill>
                  <a:schemeClr val="tx2"/>
                </a:solidFill>
                <a:effectLst/>
                <a:latin typeface="+mn-ea"/>
              </a:rPr>
              <a:t>침해성립</a:t>
            </a:r>
            <a:endParaRPr kumimoji="1" lang="en-US" altLang="ko-KR" sz="1200" b="0" i="0" u="none" strike="noStrike" cap="none" normalizeH="0" baseline="0" dirty="0">
              <a:ln>
                <a:noFill/>
              </a:ln>
              <a:solidFill>
                <a:schemeClr val="tx2"/>
              </a:solidFill>
              <a:effectLst/>
              <a:latin typeface="+mn-ea"/>
            </a:endParaRPr>
          </a:p>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en-US" altLang="ko-KR" sz="1200" dirty="0">
                <a:solidFill>
                  <a:schemeClr val="tx2"/>
                </a:solidFill>
                <a:latin typeface="+mn-ea"/>
              </a:rPr>
              <a:t>(</a:t>
            </a:r>
            <a:r>
              <a:rPr kumimoji="1" lang="ko-KR" altLang="en-US" sz="1200" dirty="0">
                <a:solidFill>
                  <a:schemeClr val="tx2"/>
                </a:solidFill>
                <a:latin typeface="+mn-ea"/>
              </a:rPr>
              <a:t>판단</a:t>
            </a:r>
            <a:r>
              <a:rPr kumimoji="1" lang="en-US" altLang="ko-KR" sz="1200" dirty="0">
                <a:solidFill>
                  <a:schemeClr val="tx2"/>
                </a:solidFill>
                <a:latin typeface="+mn-ea"/>
              </a:rPr>
              <a:t>)</a:t>
            </a:r>
            <a:endParaRPr kumimoji="1" lang="ko-KR" altLang="en-US" sz="1200" b="0" i="0" u="none" strike="noStrike" cap="none" normalizeH="0" baseline="0" dirty="0">
              <a:ln>
                <a:noFill/>
              </a:ln>
              <a:solidFill>
                <a:schemeClr val="tx2"/>
              </a:solidFill>
              <a:effectLst/>
              <a:latin typeface="+mn-ea"/>
            </a:endParaRPr>
          </a:p>
        </p:txBody>
      </p:sp>
      <p:cxnSp>
        <p:nvCxnSpPr>
          <p:cNvPr id="56" name="꺾인 연결선 55"/>
          <p:cNvCxnSpPr>
            <a:stCxn id="13" idx="2"/>
            <a:endCxn id="31" idx="1"/>
          </p:cNvCxnSpPr>
          <p:nvPr/>
        </p:nvCxnSpPr>
        <p:spPr>
          <a:xfrm rot="16200000" flipH="1">
            <a:off x="611813" y="3555381"/>
            <a:ext cx="3521418" cy="1861083"/>
          </a:xfrm>
          <a:prstGeom prst="bentConnector2">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1441981" y="2728124"/>
            <a:ext cx="380232" cy="276999"/>
          </a:xfrm>
          <a:prstGeom prst="rect">
            <a:avLst/>
          </a:prstGeom>
          <a:noFill/>
          <a:ln>
            <a:noFill/>
          </a:ln>
        </p:spPr>
        <p:txBody>
          <a:bodyPr wrap="none" rtlCol="0">
            <a:spAutoFit/>
          </a:bodyPr>
          <a:lstStyle/>
          <a:p>
            <a:pPr algn="ctr"/>
            <a:r>
              <a:rPr lang="en-US" altLang="ko-KR" sz="1200" b="0" dirty="0">
                <a:solidFill>
                  <a:schemeClr val="tx1"/>
                </a:solidFill>
                <a:latin typeface="+mn-ea"/>
              </a:rPr>
              <a:t>No</a:t>
            </a:r>
            <a:endParaRPr lang="ko-KR" altLang="en-US" sz="1200" b="0" dirty="0">
              <a:solidFill>
                <a:schemeClr val="tx1"/>
              </a:solidFill>
              <a:latin typeface="+mn-ea"/>
            </a:endParaRPr>
          </a:p>
        </p:txBody>
      </p:sp>
      <p:cxnSp>
        <p:nvCxnSpPr>
          <p:cNvPr id="62" name="직선 화살표 연결선 61"/>
          <p:cNvCxnSpPr/>
          <p:nvPr/>
        </p:nvCxnSpPr>
        <p:spPr bwMode="auto">
          <a:xfrm>
            <a:off x="2393624" y="2344832"/>
            <a:ext cx="654376" cy="0"/>
          </a:xfrm>
          <a:prstGeom prst="straightConnector1">
            <a:avLst/>
          </a:prstGeom>
          <a:ln w="28575">
            <a:solidFill>
              <a:schemeClr val="bg1">
                <a:lumMod val="50000"/>
              </a:schemeClr>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64" name="TextBox 63"/>
          <p:cNvSpPr txBox="1"/>
          <p:nvPr/>
        </p:nvSpPr>
        <p:spPr>
          <a:xfrm>
            <a:off x="2382941" y="2071517"/>
            <a:ext cx="423899" cy="276999"/>
          </a:xfrm>
          <a:prstGeom prst="rect">
            <a:avLst/>
          </a:prstGeom>
          <a:noFill/>
          <a:ln>
            <a:noFill/>
          </a:ln>
        </p:spPr>
        <p:txBody>
          <a:bodyPr wrap="none" rtlCol="0">
            <a:spAutoFit/>
          </a:bodyPr>
          <a:lstStyle/>
          <a:p>
            <a:pPr algn="ctr"/>
            <a:r>
              <a:rPr lang="en-US" altLang="ko-KR" sz="1200" b="0" dirty="0">
                <a:solidFill>
                  <a:schemeClr val="tx1"/>
                </a:solidFill>
                <a:latin typeface="+mn-ea"/>
              </a:rPr>
              <a:t>Yes</a:t>
            </a:r>
            <a:endParaRPr lang="ko-KR" altLang="en-US" sz="1200" b="0" dirty="0">
              <a:solidFill>
                <a:schemeClr val="tx1"/>
              </a:solidFill>
              <a:latin typeface="+mn-ea"/>
            </a:endParaRPr>
          </a:p>
        </p:txBody>
      </p:sp>
      <p:sp>
        <p:nvSpPr>
          <p:cNvPr id="18" name="TextBox 17"/>
          <p:cNvSpPr txBox="1"/>
          <p:nvPr/>
        </p:nvSpPr>
        <p:spPr>
          <a:xfrm>
            <a:off x="3303064" y="1707225"/>
            <a:ext cx="1611836" cy="397054"/>
          </a:xfrm>
          <a:prstGeom prst="rect">
            <a:avLst/>
          </a:prstGeom>
          <a:solidFill>
            <a:schemeClr val="accent4"/>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특허권의 행사</a:t>
            </a:r>
            <a:endParaRPr lang="en-US" altLang="ko-KR" sz="1200" b="0" dirty="0">
              <a:solidFill>
                <a:schemeClr val="tx1"/>
              </a:solidFill>
              <a:latin typeface="+mn-ea"/>
            </a:endParaRPr>
          </a:p>
        </p:txBody>
      </p:sp>
      <p:sp>
        <p:nvSpPr>
          <p:cNvPr id="19" name="TextBox 18"/>
          <p:cNvSpPr txBox="1"/>
          <p:nvPr/>
        </p:nvSpPr>
        <p:spPr>
          <a:xfrm>
            <a:off x="3303064" y="3845575"/>
            <a:ext cx="1611836" cy="397054"/>
          </a:xfrm>
          <a:prstGeom prst="rect">
            <a:avLst/>
          </a:prstGeom>
          <a:solidFill>
            <a:schemeClr val="accent3"/>
          </a:solidFill>
          <a:ln>
            <a:solidFill>
              <a:schemeClr val="bg1">
                <a:lumMod val="50000"/>
              </a:schemeClr>
            </a:solidFill>
          </a:ln>
        </p:spPr>
        <p:txBody>
          <a:bodyPr wrap="none" rtlCol="0" anchor="ctr">
            <a:noAutofit/>
          </a:bodyPr>
          <a:lstStyle/>
          <a:p>
            <a:pPr algn="ctr"/>
            <a:r>
              <a:rPr lang="ko-KR" altLang="en-US" sz="1200" dirty="0">
                <a:latin typeface="+mn-ea"/>
              </a:rPr>
              <a:t>보상금청구권</a:t>
            </a:r>
            <a:r>
              <a:rPr lang="ko-KR" altLang="en-US" sz="1200" b="0" dirty="0">
                <a:solidFill>
                  <a:schemeClr val="tx1"/>
                </a:solidFill>
                <a:latin typeface="+mn-ea"/>
              </a:rPr>
              <a:t>의 행사</a:t>
            </a:r>
            <a:endParaRPr lang="en-US" altLang="ko-KR" sz="1200" b="0" dirty="0">
              <a:solidFill>
                <a:schemeClr val="tx1"/>
              </a:solidFill>
              <a:latin typeface="+mn-ea"/>
            </a:endParaRPr>
          </a:p>
        </p:txBody>
      </p:sp>
      <p:sp>
        <p:nvSpPr>
          <p:cNvPr id="20" name="TextBox 19"/>
          <p:cNvSpPr txBox="1"/>
          <p:nvPr/>
        </p:nvSpPr>
        <p:spPr>
          <a:xfrm>
            <a:off x="3303064" y="5177219"/>
            <a:ext cx="1611836" cy="397054"/>
          </a:xfrm>
          <a:prstGeom prst="rect">
            <a:avLst/>
          </a:prstGeom>
          <a:solidFill>
            <a:schemeClr val="accent1"/>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기타</a:t>
            </a:r>
            <a:endParaRPr lang="en-US" altLang="ko-KR" sz="1200" b="0" dirty="0">
              <a:solidFill>
                <a:schemeClr val="tx1"/>
              </a:solidFill>
              <a:latin typeface="+mn-ea"/>
            </a:endParaRPr>
          </a:p>
        </p:txBody>
      </p:sp>
      <p:sp>
        <p:nvSpPr>
          <p:cNvPr id="21" name="TextBox 20"/>
          <p:cNvSpPr txBox="1"/>
          <p:nvPr/>
        </p:nvSpPr>
        <p:spPr>
          <a:xfrm>
            <a:off x="5293789" y="1707225"/>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전제</a:t>
            </a:r>
            <a:r>
              <a:rPr lang="en-US" altLang="ko-KR" sz="1200" b="0" dirty="0">
                <a:solidFill>
                  <a:schemeClr val="tx1"/>
                </a:solidFill>
                <a:latin typeface="+mn-ea"/>
              </a:rPr>
              <a:t>(</a:t>
            </a:r>
            <a:r>
              <a:rPr lang="ko-KR" altLang="en-US" sz="1200" b="0" dirty="0">
                <a:solidFill>
                  <a:schemeClr val="tx1"/>
                </a:solidFill>
                <a:latin typeface="+mn-ea"/>
              </a:rPr>
              <a:t>조기권리화</a:t>
            </a:r>
            <a:r>
              <a:rPr lang="en-US" altLang="ko-KR" sz="1200" b="0" dirty="0">
                <a:solidFill>
                  <a:schemeClr val="tx1"/>
                </a:solidFill>
                <a:latin typeface="+mn-ea"/>
              </a:rPr>
              <a:t>)</a:t>
            </a:r>
          </a:p>
        </p:txBody>
      </p:sp>
      <p:sp>
        <p:nvSpPr>
          <p:cNvPr id="22" name="TextBox 21"/>
          <p:cNvSpPr txBox="1"/>
          <p:nvPr/>
        </p:nvSpPr>
        <p:spPr>
          <a:xfrm>
            <a:off x="5293789" y="2272463"/>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행사</a:t>
            </a:r>
            <a:endParaRPr lang="en-US" altLang="ko-KR" sz="1200" b="0" dirty="0">
              <a:solidFill>
                <a:schemeClr val="tx1"/>
              </a:solidFill>
              <a:latin typeface="+mn-ea"/>
            </a:endParaRPr>
          </a:p>
        </p:txBody>
      </p:sp>
      <p:sp>
        <p:nvSpPr>
          <p:cNvPr id="23" name="TextBox 22"/>
          <p:cNvSpPr txBox="1"/>
          <p:nvPr/>
        </p:nvSpPr>
        <p:spPr>
          <a:xfrm>
            <a:off x="5293789" y="3845575"/>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전제</a:t>
            </a:r>
            <a:endParaRPr lang="en-US" altLang="ko-KR" sz="1200" b="0" dirty="0">
              <a:solidFill>
                <a:schemeClr val="tx1"/>
              </a:solidFill>
              <a:latin typeface="+mn-ea"/>
            </a:endParaRPr>
          </a:p>
        </p:txBody>
      </p:sp>
      <p:sp>
        <p:nvSpPr>
          <p:cNvPr id="24" name="TextBox 23"/>
          <p:cNvSpPr txBox="1"/>
          <p:nvPr/>
        </p:nvSpPr>
        <p:spPr>
          <a:xfrm>
            <a:off x="5293789" y="4719006"/>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행사</a:t>
            </a:r>
            <a:endParaRPr lang="en-US" altLang="ko-KR" sz="1200" b="0" dirty="0">
              <a:solidFill>
                <a:schemeClr val="tx1"/>
              </a:solidFill>
              <a:latin typeface="+mn-ea"/>
            </a:endParaRPr>
          </a:p>
        </p:txBody>
      </p:sp>
      <p:sp>
        <p:nvSpPr>
          <p:cNvPr id="25" name="TextBox 24"/>
          <p:cNvSpPr txBox="1"/>
          <p:nvPr/>
        </p:nvSpPr>
        <p:spPr>
          <a:xfrm>
            <a:off x="5293789" y="5177219"/>
            <a:ext cx="1878535" cy="228870"/>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pPr algn="ctr"/>
            <a:r>
              <a:rPr lang="ko-KR" altLang="en-US" sz="1200" dirty="0">
                <a:latin typeface="+mn-ea"/>
              </a:rPr>
              <a:t>경고</a:t>
            </a:r>
            <a:endParaRPr lang="en-US" altLang="ko-KR" sz="1200" b="0" dirty="0">
              <a:solidFill>
                <a:schemeClr val="tx1"/>
              </a:solidFill>
              <a:latin typeface="+mn-ea"/>
            </a:endParaRPr>
          </a:p>
        </p:txBody>
      </p:sp>
      <p:sp>
        <p:nvSpPr>
          <p:cNvPr id="26" name="TextBox 25"/>
          <p:cNvSpPr txBox="1"/>
          <p:nvPr/>
        </p:nvSpPr>
        <p:spPr>
          <a:xfrm>
            <a:off x="5293789" y="5444181"/>
            <a:ext cx="1878535" cy="228870"/>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적극적 권리범위확인심판청구</a:t>
            </a:r>
            <a:endParaRPr lang="en-US" altLang="ko-KR" sz="1200" b="0" dirty="0">
              <a:solidFill>
                <a:schemeClr val="tx1"/>
              </a:solidFill>
              <a:latin typeface="+mn-ea"/>
            </a:endParaRPr>
          </a:p>
        </p:txBody>
      </p:sp>
      <p:sp>
        <p:nvSpPr>
          <p:cNvPr id="27" name="TextBox 26"/>
          <p:cNvSpPr txBox="1"/>
          <p:nvPr/>
        </p:nvSpPr>
        <p:spPr>
          <a:xfrm>
            <a:off x="5293789" y="5710607"/>
            <a:ext cx="1878535" cy="228870"/>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pPr algn="ctr"/>
            <a:r>
              <a:rPr lang="ko-KR" altLang="en-US" sz="1200" b="0" dirty="0" err="1">
                <a:solidFill>
                  <a:schemeClr val="tx1"/>
                </a:solidFill>
                <a:latin typeface="+mn-ea"/>
              </a:rPr>
              <a:t>실시권</a:t>
            </a:r>
            <a:r>
              <a:rPr lang="ko-KR" altLang="en-US" sz="1200" b="0" dirty="0">
                <a:solidFill>
                  <a:schemeClr val="tx1"/>
                </a:solidFill>
                <a:latin typeface="+mn-ea"/>
              </a:rPr>
              <a:t> 설정</a:t>
            </a:r>
            <a:endParaRPr lang="en-US" altLang="ko-KR" sz="1200" b="0" dirty="0">
              <a:solidFill>
                <a:schemeClr val="tx1"/>
              </a:solidFill>
              <a:latin typeface="+mn-ea"/>
            </a:endParaRPr>
          </a:p>
        </p:txBody>
      </p:sp>
      <p:sp>
        <p:nvSpPr>
          <p:cNvPr id="30" name="TextBox 29"/>
          <p:cNvSpPr txBox="1"/>
          <p:nvPr/>
        </p:nvSpPr>
        <p:spPr>
          <a:xfrm>
            <a:off x="5293789" y="5982646"/>
            <a:ext cx="1878535" cy="228870"/>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크로스 라이선스 청구</a:t>
            </a:r>
            <a:endParaRPr lang="en-US" altLang="ko-KR" sz="1200" b="0" dirty="0">
              <a:solidFill>
                <a:schemeClr val="tx1"/>
              </a:solidFill>
              <a:latin typeface="+mn-ea"/>
            </a:endParaRPr>
          </a:p>
        </p:txBody>
      </p:sp>
      <p:sp>
        <p:nvSpPr>
          <p:cNvPr id="31" name="TextBox 30"/>
          <p:cNvSpPr txBox="1"/>
          <p:nvPr/>
        </p:nvSpPr>
        <p:spPr>
          <a:xfrm>
            <a:off x="3303064" y="6048105"/>
            <a:ext cx="1611836" cy="397054"/>
          </a:xfrm>
          <a:prstGeom prst="rect">
            <a:avLst/>
          </a:prstGeom>
          <a:solidFill>
            <a:schemeClr val="tx2">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별도조치 불가</a:t>
            </a:r>
            <a:endParaRPr lang="en-US" altLang="ko-KR" sz="1200" b="0" dirty="0">
              <a:solidFill>
                <a:schemeClr val="tx1"/>
              </a:solidFill>
              <a:latin typeface="+mn-ea"/>
            </a:endParaRPr>
          </a:p>
        </p:txBody>
      </p:sp>
      <p:sp>
        <p:nvSpPr>
          <p:cNvPr id="34" name="TextBox 33"/>
          <p:cNvSpPr txBox="1"/>
          <p:nvPr/>
        </p:nvSpPr>
        <p:spPr>
          <a:xfrm>
            <a:off x="7608364" y="1707225"/>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심사청구</a:t>
            </a:r>
            <a:endParaRPr lang="en-US" altLang="ko-KR" sz="1200" b="0" dirty="0">
              <a:solidFill>
                <a:schemeClr val="tx1"/>
              </a:solidFill>
              <a:latin typeface="+mn-ea"/>
            </a:endParaRPr>
          </a:p>
        </p:txBody>
      </p:sp>
      <p:sp>
        <p:nvSpPr>
          <p:cNvPr id="35" name="TextBox 34"/>
          <p:cNvSpPr txBox="1"/>
          <p:nvPr/>
        </p:nvSpPr>
        <p:spPr>
          <a:xfrm>
            <a:off x="7608364" y="1973651"/>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우선심사신청</a:t>
            </a:r>
            <a:endParaRPr lang="en-US" altLang="ko-KR" sz="1200" b="0" dirty="0">
              <a:solidFill>
                <a:schemeClr val="tx1"/>
              </a:solidFill>
              <a:latin typeface="+mn-ea"/>
            </a:endParaRPr>
          </a:p>
        </p:txBody>
      </p:sp>
      <p:sp>
        <p:nvSpPr>
          <p:cNvPr id="36" name="TextBox 35"/>
          <p:cNvSpPr txBox="1"/>
          <p:nvPr/>
        </p:nvSpPr>
        <p:spPr>
          <a:xfrm>
            <a:off x="7608364" y="2272463"/>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민사적 조치</a:t>
            </a:r>
            <a:endParaRPr lang="en-US" altLang="ko-KR" sz="1200" b="0" dirty="0">
              <a:solidFill>
                <a:schemeClr val="tx1"/>
              </a:solidFill>
              <a:latin typeface="+mn-ea"/>
            </a:endParaRPr>
          </a:p>
        </p:txBody>
      </p:sp>
      <p:sp>
        <p:nvSpPr>
          <p:cNvPr id="37" name="TextBox 36"/>
          <p:cNvSpPr txBox="1"/>
          <p:nvPr/>
        </p:nvSpPr>
        <p:spPr>
          <a:xfrm>
            <a:off x="7608364" y="2836065"/>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dirty="0">
                <a:latin typeface="+mn-ea"/>
              </a:rPr>
              <a:t>형</a:t>
            </a:r>
            <a:r>
              <a:rPr lang="ko-KR" altLang="en-US" sz="1200" b="0" dirty="0">
                <a:solidFill>
                  <a:schemeClr val="tx1"/>
                </a:solidFill>
                <a:latin typeface="+mn-ea"/>
              </a:rPr>
              <a:t>사적 조치</a:t>
            </a:r>
            <a:endParaRPr lang="en-US" altLang="ko-KR" sz="1200" b="0" dirty="0">
              <a:solidFill>
                <a:schemeClr val="tx1"/>
              </a:solidFill>
              <a:latin typeface="+mn-ea"/>
            </a:endParaRPr>
          </a:p>
        </p:txBody>
      </p:sp>
      <p:sp>
        <p:nvSpPr>
          <p:cNvPr id="38" name="TextBox 37"/>
          <p:cNvSpPr txBox="1"/>
          <p:nvPr/>
        </p:nvSpPr>
        <p:spPr>
          <a:xfrm>
            <a:off x="9894364" y="2272463"/>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신용회복청구권</a:t>
            </a:r>
            <a:endParaRPr lang="en-US" altLang="ko-KR" sz="1200" b="0" dirty="0">
              <a:solidFill>
                <a:schemeClr val="tx1"/>
              </a:solidFill>
              <a:latin typeface="+mn-ea"/>
            </a:endParaRPr>
          </a:p>
        </p:txBody>
      </p:sp>
      <p:sp>
        <p:nvSpPr>
          <p:cNvPr id="39" name="TextBox 38"/>
          <p:cNvSpPr txBox="1"/>
          <p:nvPr/>
        </p:nvSpPr>
        <p:spPr>
          <a:xfrm>
            <a:off x="9894364" y="2538890"/>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부당이득반환청구</a:t>
            </a:r>
            <a:r>
              <a:rPr lang="ko-KR" altLang="en-US" sz="1200" dirty="0">
                <a:latin typeface="+mn-ea"/>
              </a:rPr>
              <a:t>권</a:t>
            </a:r>
            <a:endParaRPr lang="en-US" altLang="ko-KR" sz="1200" b="0" dirty="0">
              <a:solidFill>
                <a:schemeClr val="tx1"/>
              </a:solidFill>
              <a:latin typeface="+mn-ea"/>
            </a:endParaRPr>
          </a:p>
        </p:txBody>
      </p:sp>
      <p:sp>
        <p:nvSpPr>
          <p:cNvPr id="40" name="TextBox 39"/>
          <p:cNvSpPr txBox="1"/>
          <p:nvPr/>
        </p:nvSpPr>
        <p:spPr>
          <a:xfrm>
            <a:off x="9894364" y="1707225"/>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침해금지청구권</a:t>
            </a:r>
            <a:endParaRPr lang="en-US" altLang="ko-KR" sz="1200" b="0" dirty="0">
              <a:solidFill>
                <a:schemeClr val="tx1"/>
              </a:solidFill>
              <a:latin typeface="+mn-ea"/>
            </a:endParaRPr>
          </a:p>
        </p:txBody>
      </p:sp>
      <p:sp>
        <p:nvSpPr>
          <p:cNvPr id="41" name="TextBox 40"/>
          <p:cNvSpPr txBox="1"/>
          <p:nvPr/>
        </p:nvSpPr>
        <p:spPr>
          <a:xfrm>
            <a:off x="9894364" y="1973651"/>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손해배상청구권</a:t>
            </a:r>
            <a:endParaRPr lang="en-US" altLang="ko-KR" sz="1200" b="0" dirty="0">
              <a:solidFill>
                <a:schemeClr val="tx1"/>
              </a:solidFill>
              <a:latin typeface="+mn-ea"/>
            </a:endParaRPr>
          </a:p>
        </p:txBody>
      </p:sp>
      <p:sp>
        <p:nvSpPr>
          <p:cNvPr id="42" name="TextBox 41"/>
          <p:cNvSpPr txBox="1"/>
          <p:nvPr/>
        </p:nvSpPr>
        <p:spPr>
          <a:xfrm>
            <a:off x="9894364" y="3380727"/>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err="1">
                <a:solidFill>
                  <a:schemeClr val="tx1"/>
                </a:solidFill>
                <a:latin typeface="+mn-ea"/>
              </a:rPr>
              <a:t>양벌규정</a:t>
            </a:r>
            <a:endParaRPr lang="en-US" altLang="ko-KR" sz="1200" b="0" dirty="0">
              <a:solidFill>
                <a:schemeClr val="tx1"/>
              </a:solidFill>
              <a:latin typeface="+mn-ea"/>
            </a:endParaRPr>
          </a:p>
        </p:txBody>
      </p:sp>
      <p:sp>
        <p:nvSpPr>
          <p:cNvPr id="44" name="TextBox 43"/>
          <p:cNvSpPr txBox="1"/>
          <p:nvPr/>
        </p:nvSpPr>
        <p:spPr>
          <a:xfrm>
            <a:off x="9894364" y="2836065"/>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err="1">
                <a:solidFill>
                  <a:schemeClr val="tx1"/>
                </a:solidFill>
                <a:latin typeface="+mn-ea"/>
              </a:rPr>
              <a:t>침해죄</a:t>
            </a:r>
            <a:endParaRPr lang="en-US" altLang="ko-KR" sz="1200" b="0" dirty="0">
              <a:solidFill>
                <a:schemeClr val="tx1"/>
              </a:solidFill>
              <a:latin typeface="+mn-ea"/>
            </a:endParaRPr>
          </a:p>
        </p:txBody>
      </p:sp>
      <p:sp>
        <p:nvSpPr>
          <p:cNvPr id="45" name="TextBox 44"/>
          <p:cNvSpPr txBox="1"/>
          <p:nvPr/>
        </p:nvSpPr>
        <p:spPr>
          <a:xfrm>
            <a:off x="9894364" y="3102492"/>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몰수</a:t>
            </a:r>
            <a:endParaRPr lang="en-US" altLang="ko-KR" sz="1200" b="0" dirty="0">
              <a:solidFill>
                <a:schemeClr val="tx1"/>
              </a:solidFill>
              <a:latin typeface="+mn-ea"/>
            </a:endParaRPr>
          </a:p>
        </p:txBody>
      </p:sp>
      <p:sp>
        <p:nvSpPr>
          <p:cNvPr id="46" name="TextBox 45"/>
          <p:cNvSpPr txBox="1"/>
          <p:nvPr/>
        </p:nvSpPr>
        <p:spPr>
          <a:xfrm>
            <a:off x="7608364" y="3845575"/>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조기공개신청</a:t>
            </a:r>
            <a:endParaRPr lang="en-US" altLang="ko-KR" sz="1200" b="0" dirty="0">
              <a:solidFill>
                <a:schemeClr val="tx1"/>
              </a:solidFill>
              <a:latin typeface="+mn-ea"/>
            </a:endParaRPr>
          </a:p>
        </p:txBody>
      </p:sp>
      <p:sp>
        <p:nvSpPr>
          <p:cNvPr id="47" name="TextBox 46"/>
          <p:cNvSpPr txBox="1"/>
          <p:nvPr/>
        </p:nvSpPr>
        <p:spPr>
          <a:xfrm>
            <a:off x="7608364" y="4112001"/>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dirty="0" err="1">
                <a:latin typeface="+mn-ea"/>
              </a:rPr>
              <a:t>필요시</a:t>
            </a:r>
            <a:r>
              <a:rPr lang="ko-KR" altLang="en-US" sz="1200" dirty="0">
                <a:latin typeface="+mn-ea"/>
              </a:rPr>
              <a:t> 보정</a:t>
            </a:r>
            <a:endParaRPr lang="en-US" altLang="ko-KR" sz="1200" b="0" dirty="0">
              <a:solidFill>
                <a:schemeClr val="tx1"/>
              </a:solidFill>
              <a:latin typeface="+mn-ea"/>
            </a:endParaRPr>
          </a:p>
        </p:txBody>
      </p:sp>
      <p:sp>
        <p:nvSpPr>
          <p:cNvPr id="48" name="TextBox 47"/>
          <p:cNvSpPr txBox="1"/>
          <p:nvPr/>
        </p:nvSpPr>
        <p:spPr>
          <a:xfrm>
            <a:off x="7608364" y="4371792"/>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dirty="0">
                <a:latin typeface="+mn-ea"/>
              </a:rPr>
              <a:t>경고</a:t>
            </a:r>
            <a:endParaRPr lang="en-US" altLang="ko-KR" sz="1200" b="0" dirty="0">
              <a:solidFill>
                <a:schemeClr val="tx1"/>
              </a:solidFill>
              <a:latin typeface="+mn-ea"/>
            </a:endParaRPr>
          </a:p>
        </p:txBody>
      </p:sp>
      <p:sp>
        <p:nvSpPr>
          <p:cNvPr id="49" name="TextBox 48"/>
          <p:cNvSpPr txBox="1"/>
          <p:nvPr/>
        </p:nvSpPr>
        <p:spPr>
          <a:xfrm>
            <a:off x="7608364" y="4719006"/>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보상금액</a:t>
            </a:r>
            <a:endParaRPr lang="en-US" altLang="ko-KR" sz="1200" b="0" dirty="0">
              <a:solidFill>
                <a:schemeClr val="tx1"/>
              </a:solidFill>
              <a:latin typeface="+mn-ea"/>
            </a:endParaRPr>
          </a:p>
        </p:txBody>
      </p:sp>
      <p:sp>
        <p:nvSpPr>
          <p:cNvPr id="51" name="TextBox 50"/>
          <p:cNvSpPr txBox="1"/>
          <p:nvPr/>
        </p:nvSpPr>
        <p:spPr>
          <a:xfrm>
            <a:off x="7608364" y="5000035"/>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행사시기</a:t>
            </a:r>
            <a:endParaRPr lang="en-US" altLang="ko-KR" sz="1200" b="0" dirty="0">
              <a:solidFill>
                <a:schemeClr val="tx1"/>
              </a:solidFill>
              <a:latin typeface="+mn-ea"/>
            </a:endParaRPr>
          </a:p>
        </p:txBody>
      </p:sp>
      <p:sp>
        <p:nvSpPr>
          <p:cNvPr id="52" name="TextBox 51"/>
          <p:cNvSpPr txBox="1"/>
          <p:nvPr/>
        </p:nvSpPr>
        <p:spPr>
          <a:xfrm>
            <a:off x="7608364" y="5266461"/>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독립성</a:t>
            </a:r>
            <a:endParaRPr lang="en-US" altLang="ko-KR" sz="1200" b="0" dirty="0">
              <a:solidFill>
                <a:schemeClr val="tx1"/>
              </a:solidFill>
              <a:latin typeface="+mn-ea"/>
            </a:endParaRPr>
          </a:p>
        </p:txBody>
      </p:sp>
      <p:sp>
        <p:nvSpPr>
          <p:cNvPr id="53" name="TextBox 52"/>
          <p:cNvSpPr txBox="1"/>
          <p:nvPr/>
        </p:nvSpPr>
        <p:spPr>
          <a:xfrm>
            <a:off x="7608364" y="5526251"/>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준용규정</a:t>
            </a:r>
            <a:endParaRPr lang="en-US" altLang="ko-KR" sz="1200" b="0" dirty="0">
              <a:solidFill>
                <a:schemeClr val="tx1"/>
              </a:solidFill>
              <a:latin typeface="+mn-ea"/>
            </a:endParaRPr>
          </a:p>
        </p:txBody>
      </p:sp>
      <p:sp>
        <p:nvSpPr>
          <p:cNvPr id="54" name="TextBox 53"/>
          <p:cNvSpPr txBox="1"/>
          <p:nvPr/>
        </p:nvSpPr>
        <p:spPr>
          <a:xfrm>
            <a:off x="7608364" y="5804466"/>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소멸</a:t>
            </a:r>
            <a:endParaRPr lang="en-US" altLang="ko-KR" sz="1200" b="0" dirty="0">
              <a:solidFill>
                <a:schemeClr val="tx1"/>
              </a:solidFill>
              <a:latin typeface="+mn-ea"/>
            </a:endParaRPr>
          </a:p>
        </p:txBody>
      </p:sp>
      <p:cxnSp>
        <p:nvCxnSpPr>
          <p:cNvPr id="59" name="꺾인 연결선 58"/>
          <p:cNvCxnSpPr>
            <a:stCxn id="18" idx="1"/>
            <a:endCxn id="20" idx="1"/>
          </p:cNvCxnSpPr>
          <p:nvPr/>
        </p:nvCxnSpPr>
        <p:spPr>
          <a:xfrm rot="10800000" flipV="1">
            <a:off x="3303064" y="1905752"/>
            <a:ext cx="12700" cy="3469994"/>
          </a:xfrm>
          <a:prstGeom prst="bentConnector3">
            <a:avLst>
              <a:gd name="adj1" fmla="val 1800000"/>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꺾인 연결선 60"/>
          <p:cNvCxnSpPr>
            <a:stCxn id="18" idx="1"/>
            <a:endCxn id="19" idx="1"/>
          </p:cNvCxnSpPr>
          <p:nvPr/>
        </p:nvCxnSpPr>
        <p:spPr>
          <a:xfrm rot="10800000" flipV="1">
            <a:off x="3303064" y="1905752"/>
            <a:ext cx="12700" cy="2138350"/>
          </a:xfrm>
          <a:prstGeom prst="bentConnector3">
            <a:avLst>
              <a:gd name="adj1" fmla="val 1800000"/>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18" idx="3"/>
            <a:endCxn id="22" idx="1"/>
          </p:cNvCxnSpPr>
          <p:nvPr/>
        </p:nvCxnSpPr>
        <p:spPr>
          <a:xfrm>
            <a:off x="4914900" y="1905752"/>
            <a:ext cx="378889" cy="48114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꺾인 연결선 67"/>
          <p:cNvCxnSpPr>
            <a:stCxn id="22" idx="3"/>
            <a:endCxn id="37" idx="1"/>
          </p:cNvCxnSpPr>
          <p:nvPr/>
        </p:nvCxnSpPr>
        <p:spPr>
          <a:xfrm>
            <a:off x="7172324" y="2386898"/>
            <a:ext cx="436040" cy="56360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69"/>
          <p:cNvCxnSpPr>
            <a:stCxn id="37" idx="3"/>
            <a:endCxn id="42" idx="1"/>
          </p:cNvCxnSpPr>
          <p:nvPr/>
        </p:nvCxnSpPr>
        <p:spPr>
          <a:xfrm>
            <a:off x="9486899" y="2950500"/>
            <a:ext cx="407465" cy="54466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직선 연결선 73"/>
          <p:cNvCxnSpPr>
            <a:stCxn id="21" idx="3"/>
            <a:endCxn id="34" idx="1"/>
          </p:cNvCxnSpPr>
          <p:nvPr/>
        </p:nvCxnSpPr>
        <p:spPr>
          <a:xfrm>
            <a:off x="7172324" y="1821660"/>
            <a:ext cx="43604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꺾인 연결선 77"/>
          <p:cNvCxnSpPr>
            <a:stCxn id="21" idx="3"/>
            <a:endCxn id="35" idx="1"/>
          </p:cNvCxnSpPr>
          <p:nvPr/>
        </p:nvCxnSpPr>
        <p:spPr>
          <a:xfrm>
            <a:off x="7172324" y="1821660"/>
            <a:ext cx="436040" cy="2664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직선 연결선 79"/>
          <p:cNvCxnSpPr>
            <a:stCxn id="22" idx="3"/>
            <a:endCxn id="36" idx="1"/>
          </p:cNvCxnSpPr>
          <p:nvPr/>
        </p:nvCxnSpPr>
        <p:spPr>
          <a:xfrm>
            <a:off x="7172324" y="2386898"/>
            <a:ext cx="43604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직선 연결선 81"/>
          <p:cNvCxnSpPr>
            <a:stCxn id="36" idx="3"/>
            <a:endCxn id="38" idx="1"/>
          </p:cNvCxnSpPr>
          <p:nvPr/>
        </p:nvCxnSpPr>
        <p:spPr>
          <a:xfrm>
            <a:off x="9486899" y="2386898"/>
            <a:ext cx="407465"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꺾인 연결선 83"/>
          <p:cNvCxnSpPr>
            <a:stCxn id="36" idx="3"/>
            <a:endCxn id="41" idx="1"/>
          </p:cNvCxnSpPr>
          <p:nvPr/>
        </p:nvCxnSpPr>
        <p:spPr>
          <a:xfrm flipV="1">
            <a:off x="9486899" y="2088087"/>
            <a:ext cx="407465" cy="29881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36" idx="3"/>
            <a:endCxn id="40" idx="1"/>
          </p:cNvCxnSpPr>
          <p:nvPr/>
        </p:nvCxnSpPr>
        <p:spPr>
          <a:xfrm flipV="1">
            <a:off x="9486899" y="1821660"/>
            <a:ext cx="407465" cy="56523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꺾인 연결선 87"/>
          <p:cNvCxnSpPr>
            <a:stCxn id="36" idx="3"/>
            <a:endCxn id="39" idx="1"/>
          </p:cNvCxnSpPr>
          <p:nvPr/>
        </p:nvCxnSpPr>
        <p:spPr>
          <a:xfrm>
            <a:off x="9486899" y="2386898"/>
            <a:ext cx="407465" cy="2664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직선 연결선 89"/>
          <p:cNvCxnSpPr>
            <a:stCxn id="37" idx="3"/>
            <a:endCxn id="44" idx="1"/>
          </p:cNvCxnSpPr>
          <p:nvPr/>
        </p:nvCxnSpPr>
        <p:spPr>
          <a:xfrm>
            <a:off x="9486899" y="2950500"/>
            <a:ext cx="407465"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꺾인 연결선 91"/>
          <p:cNvCxnSpPr>
            <a:stCxn id="37" idx="3"/>
            <a:endCxn id="45" idx="1"/>
          </p:cNvCxnSpPr>
          <p:nvPr/>
        </p:nvCxnSpPr>
        <p:spPr>
          <a:xfrm>
            <a:off x="9486899" y="2950500"/>
            <a:ext cx="407465" cy="2664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직선 연결선 95"/>
          <p:cNvCxnSpPr>
            <a:stCxn id="23" idx="3"/>
            <a:endCxn id="46" idx="1"/>
          </p:cNvCxnSpPr>
          <p:nvPr/>
        </p:nvCxnSpPr>
        <p:spPr>
          <a:xfrm>
            <a:off x="7172324" y="3960010"/>
            <a:ext cx="43604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직선 연결선 97"/>
          <p:cNvCxnSpPr>
            <a:stCxn id="24" idx="3"/>
            <a:endCxn id="49" idx="1"/>
          </p:cNvCxnSpPr>
          <p:nvPr/>
        </p:nvCxnSpPr>
        <p:spPr>
          <a:xfrm>
            <a:off x="7172324" y="4833441"/>
            <a:ext cx="43604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꺾인 연결선 103"/>
          <p:cNvCxnSpPr>
            <a:stCxn id="19" idx="3"/>
            <a:endCxn id="24" idx="1"/>
          </p:cNvCxnSpPr>
          <p:nvPr/>
        </p:nvCxnSpPr>
        <p:spPr>
          <a:xfrm>
            <a:off x="4914900" y="4044102"/>
            <a:ext cx="378889" cy="78933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꺾인 연결선 105"/>
          <p:cNvCxnSpPr>
            <a:stCxn id="23" idx="3"/>
            <a:endCxn id="48" idx="1"/>
          </p:cNvCxnSpPr>
          <p:nvPr/>
        </p:nvCxnSpPr>
        <p:spPr>
          <a:xfrm>
            <a:off x="7172324" y="3960010"/>
            <a:ext cx="436040" cy="52621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꺾인 연결선 107"/>
          <p:cNvCxnSpPr>
            <a:stCxn id="23" idx="3"/>
            <a:endCxn id="47" idx="1"/>
          </p:cNvCxnSpPr>
          <p:nvPr/>
        </p:nvCxnSpPr>
        <p:spPr>
          <a:xfrm>
            <a:off x="7172324" y="3960010"/>
            <a:ext cx="436040" cy="2664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0" name="꺾인 연결선 109"/>
          <p:cNvCxnSpPr>
            <a:stCxn id="24" idx="3"/>
            <a:endCxn id="54" idx="1"/>
          </p:cNvCxnSpPr>
          <p:nvPr/>
        </p:nvCxnSpPr>
        <p:spPr>
          <a:xfrm>
            <a:off x="7172324" y="4833441"/>
            <a:ext cx="436040" cy="108546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꺾인 연결선 111"/>
          <p:cNvCxnSpPr>
            <a:stCxn id="24" idx="3"/>
            <a:endCxn id="51" idx="1"/>
          </p:cNvCxnSpPr>
          <p:nvPr/>
        </p:nvCxnSpPr>
        <p:spPr>
          <a:xfrm>
            <a:off x="7172324" y="4833441"/>
            <a:ext cx="436040" cy="28102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꺾인 연결선 113"/>
          <p:cNvCxnSpPr>
            <a:stCxn id="52" idx="1"/>
            <a:endCxn id="24" idx="3"/>
          </p:cNvCxnSpPr>
          <p:nvPr/>
        </p:nvCxnSpPr>
        <p:spPr>
          <a:xfrm rot="10800000">
            <a:off x="7172324" y="4833442"/>
            <a:ext cx="436040" cy="54745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꺾인 연결선 115"/>
          <p:cNvCxnSpPr>
            <a:stCxn id="53" idx="1"/>
            <a:endCxn id="24" idx="3"/>
          </p:cNvCxnSpPr>
          <p:nvPr/>
        </p:nvCxnSpPr>
        <p:spPr>
          <a:xfrm rot="10800000">
            <a:off x="7172324" y="4833442"/>
            <a:ext cx="436040" cy="80724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꺾인 연결선 117"/>
          <p:cNvCxnSpPr>
            <a:stCxn id="30" idx="1"/>
            <a:endCxn id="20" idx="3"/>
          </p:cNvCxnSpPr>
          <p:nvPr/>
        </p:nvCxnSpPr>
        <p:spPr>
          <a:xfrm rot="10800000">
            <a:off x="4914901" y="5375747"/>
            <a:ext cx="378889" cy="72133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꺾인 연결선 119"/>
          <p:cNvCxnSpPr>
            <a:stCxn id="27" idx="1"/>
            <a:endCxn id="20" idx="3"/>
          </p:cNvCxnSpPr>
          <p:nvPr/>
        </p:nvCxnSpPr>
        <p:spPr>
          <a:xfrm rot="10800000">
            <a:off x="4914901" y="5375746"/>
            <a:ext cx="378889" cy="44929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꺾인 연결선 121"/>
          <p:cNvCxnSpPr>
            <a:stCxn id="26" idx="1"/>
            <a:endCxn id="20" idx="3"/>
          </p:cNvCxnSpPr>
          <p:nvPr/>
        </p:nvCxnSpPr>
        <p:spPr>
          <a:xfrm rot="10800000">
            <a:off x="4914901" y="5375746"/>
            <a:ext cx="378889" cy="1828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꺾인 연결선 146"/>
          <p:cNvCxnSpPr>
            <a:stCxn id="18" idx="3"/>
            <a:endCxn id="21" idx="1"/>
          </p:cNvCxnSpPr>
          <p:nvPr/>
        </p:nvCxnSpPr>
        <p:spPr>
          <a:xfrm flipV="1">
            <a:off x="4914900" y="1821660"/>
            <a:ext cx="378889" cy="8409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꺾인 연결선 148"/>
          <p:cNvCxnSpPr>
            <a:stCxn id="19" idx="3"/>
            <a:endCxn id="23" idx="1"/>
          </p:cNvCxnSpPr>
          <p:nvPr/>
        </p:nvCxnSpPr>
        <p:spPr>
          <a:xfrm flipV="1">
            <a:off x="4914900" y="3960010"/>
            <a:ext cx="378889" cy="8409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1" name="꺾인 연결선 150"/>
          <p:cNvCxnSpPr>
            <a:stCxn id="20" idx="3"/>
            <a:endCxn id="25" idx="1"/>
          </p:cNvCxnSpPr>
          <p:nvPr/>
        </p:nvCxnSpPr>
        <p:spPr>
          <a:xfrm flipV="1">
            <a:off x="4914900" y="5291654"/>
            <a:ext cx="378889" cy="8409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슬라이드 번호 개체 틀 3"/>
          <p:cNvSpPr>
            <a:spLocks noGrp="1"/>
          </p:cNvSpPr>
          <p:nvPr>
            <p:ph type="sldNum" sz="quarter" idx="12"/>
          </p:nvPr>
        </p:nvSpPr>
        <p:spPr/>
        <p:txBody>
          <a:bodyPr/>
          <a:lstStyle/>
          <a:p>
            <a:r>
              <a:rPr lang="en-US" altLang="ko-KR"/>
              <a:t>402</a:t>
            </a:r>
            <a:endParaRPr lang="ko-KR" altLang="en-US"/>
          </a:p>
        </p:txBody>
      </p:sp>
    </p:spTree>
    <p:extLst>
      <p:ext uri="{BB962C8B-B14F-4D97-AF65-F5344CB8AC3E}">
        <p14:creationId xmlns:p14="http://schemas.microsoft.com/office/powerpoint/2010/main" val="295937266"/>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ko-KR" altLang="en-US" dirty="0"/>
              <a:t>출원발명을 제</a:t>
            </a:r>
            <a:r>
              <a:rPr lang="en-US" altLang="ko-KR" dirty="0"/>
              <a:t>3</a:t>
            </a:r>
            <a:r>
              <a:rPr lang="ko-KR" altLang="en-US" dirty="0"/>
              <a:t>자가 실시할 때 제</a:t>
            </a:r>
            <a:r>
              <a:rPr lang="en-US" altLang="ko-KR" dirty="0"/>
              <a:t>3</a:t>
            </a:r>
            <a:r>
              <a:rPr lang="ko-KR" altLang="en-US" dirty="0"/>
              <a:t>자의 대응방안</a:t>
            </a:r>
          </a:p>
        </p:txBody>
      </p:sp>
      <p:sp>
        <p:nvSpPr>
          <p:cNvPr id="5" name="Rectangle 13"/>
          <p:cNvSpPr>
            <a:spLocks noChangeArrowheads="1"/>
          </p:cNvSpPr>
          <p:nvPr/>
        </p:nvSpPr>
        <p:spPr bwMode="auto">
          <a:xfrm>
            <a:off x="607488" y="1158727"/>
            <a:ext cx="1668987" cy="450998"/>
          </a:xfrm>
          <a:prstGeom prst="rect">
            <a:avLst/>
          </a:prstGeom>
          <a:solidFill>
            <a:schemeClr val="accent2"/>
          </a:solidFill>
          <a:ln w="9525" algn="ctr">
            <a:solidFill>
              <a:schemeClr val="bg1">
                <a:lumMod val="50000"/>
              </a:schemeClr>
            </a:solidFill>
            <a:miter lim="800000"/>
            <a:headEnd/>
            <a:tailEnd/>
          </a:ln>
        </p:spPr>
        <p:txBody>
          <a:bodyPr wrap="none" anchor="ctr"/>
          <a:lstStyle/>
          <a:p>
            <a:pPr algn="ctr"/>
            <a:r>
              <a:rPr lang="ko-KR" altLang="en-US" sz="1400" dirty="0">
                <a:latin typeface="+mj-ea"/>
                <a:ea typeface="+mj-ea"/>
              </a:rPr>
              <a:t>실시의 적법성</a:t>
            </a:r>
            <a:endParaRPr lang="en-US" altLang="ko-KR" sz="1400" dirty="0">
              <a:latin typeface="+mj-ea"/>
              <a:ea typeface="+mj-ea"/>
            </a:endParaRPr>
          </a:p>
          <a:p>
            <a:pPr algn="ctr"/>
            <a:r>
              <a:rPr lang="en-US" altLang="ko-KR" sz="1400" dirty="0">
                <a:latin typeface="+mj-ea"/>
                <a:ea typeface="+mj-ea"/>
              </a:rPr>
              <a:t>(</a:t>
            </a:r>
            <a:r>
              <a:rPr lang="ko-KR" altLang="en-US" sz="1400" dirty="0">
                <a:latin typeface="+mj-ea"/>
                <a:ea typeface="+mj-ea"/>
              </a:rPr>
              <a:t>판단</a:t>
            </a:r>
            <a:r>
              <a:rPr lang="en-US" altLang="ko-KR" sz="1400" dirty="0">
                <a:latin typeface="+mj-ea"/>
                <a:ea typeface="+mj-ea"/>
              </a:rPr>
              <a:t>)</a:t>
            </a:r>
          </a:p>
        </p:txBody>
      </p:sp>
      <p:sp>
        <p:nvSpPr>
          <p:cNvPr id="6" name="Rectangle 13"/>
          <p:cNvSpPr>
            <a:spLocks noChangeArrowheads="1"/>
          </p:cNvSpPr>
          <p:nvPr/>
        </p:nvSpPr>
        <p:spPr bwMode="auto">
          <a:xfrm>
            <a:off x="3293538" y="1152303"/>
            <a:ext cx="8517461" cy="450998"/>
          </a:xfrm>
          <a:prstGeom prst="rect">
            <a:avLst/>
          </a:prstGeom>
          <a:solidFill>
            <a:schemeClr val="accent3">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j-ea"/>
                <a:ea typeface="+mj-ea"/>
              </a:rPr>
              <a:t>대응방안</a:t>
            </a:r>
            <a:endParaRPr lang="en-US" altLang="ko-KR" sz="1400" dirty="0">
              <a:latin typeface="+mj-ea"/>
              <a:ea typeface="+mj-ea"/>
            </a:endParaRPr>
          </a:p>
          <a:p>
            <a:pPr algn="ctr"/>
            <a:r>
              <a:rPr lang="en-US" altLang="ko-KR" sz="1400" dirty="0">
                <a:latin typeface="+mj-ea"/>
                <a:ea typeface="+mj-ea"/>
              </a:rPr>
              <a:t>(</a:t>
            </a:r>
            <a:r>
              <a:rPr lang="ko-KR" altLang="en-US" sz="1400" dirty="0">
                <a:latin typeface="+mj-ea"/>
                <a:ea typeface="+mj-ea"/>
              </a:rPr>
              <a:t>반응</a:t>
            </a:r>
            <a:r>
              <a:rPr lang="en-US" altLang="ko-KR" sz="1400" dirty="0">
                <a:latin typeface="+mj-ea"/>
                <a:ea typeface="+mj-ea"/>
              </a:rPr>
              <a:t>)</a:t>
            </a:r>
          </a:p>
        </p:txBody>
      </p:sp>
      <p:cxnSp>
        <p:nvCxnSpPr>
          <p:cNvPr id="8" name="직선 연결선 7"/>
          <p:cNvCxnSpPr>
            <a:stCxn id="5" idx="3"/>
            <a:endCxn id="6" idx="1"/>
          </p:cNvCxnSpPr>
          <p:nvPr/>
        </p:nvCxnSpPr>
        <p:spPr>
          <a:xfrm flipV="1">
            <a:off x="2276475" y="1377802"/>
            <a:ext cx="1017063" cy="642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 name="직선 연결선 8"/>
          <p:cNvCxnSpPr/>
          <p:nvPr/>
        </p:nvCxnSpPr>
        <p:spPr>
          <a:xfrm>
            <a:off x="2867025" y="1057275"/>
            <a:ext cx="0" cy="55054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순서도: 판단 12"/>
          <p:cNvSpPr/>
          <p:nvPr/>
        </p:nvSpPr>
        <p:spPr bwMode="auto">
          <a:xfrm>
            <a:off x="481874" y="1964450"/>
            <a:ext cx="1920213" cy="760764"/>
          </a:xfrm>
          <a:prstGeom prst="flowChartDecision">
            <a:avLst/>
          </a:prstGeom>
          <a:solidFill>
            <a:schemeClr val="accent1">
              <a:lumMod val="20000"/>
              <a:lumOff val="80000"/>
            </a:schemeClr>
          </a:solidFill>
          <a:ln>
            <a:solidFill>
              <a:schemeClr val="bg1">
                <a:lumMod val="50000"/>
              </a:schemeClr>
            </a:solidFill>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0" tIns="46800" rIns="0" bIns="4680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ko-KR" altLang="en-US" sz="1200" b="0" i="0" u="none" strike="noStrike" cap="none" normalizeH="0" baseline="0" dirty="0">
                <a:ln>
                  <a:noFill/>
                </a:ln>
                <a:solidFill>
                  <a:schemeClr val="tx2"/>
                </a:solidFill>
                <a:effectLst/>
                <a:latin typeface="+mn-ea"/>
              </a:rPr>
              <a:t>침해성립</a:t>
            </a:r>
            <a:endParaRPr kumimoji="1" lang="en-US" altLang="ko-KR" sz="1200" b="0" i="0" u="none" strike="noStrike" cap="none" normalizeH="0" baseline="0" dirty="0">
              <a:ln>
                <a:noFill/>
              </a:ln>
              <a:solidFill>
                <a:schemeClr val="tx2"/>
              </a:solidFill>
              <a:effectLst/>
              <a:latin typeface="+mn-ea"/>
            </a:endParaRPr>
          </a:p>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en-US" altLang="ko-KR" sz="1200" dirty="0">
                <a:solidFill>
                  <a:schemeClr val="tx2"/>
                </a:solidFill>
                <a:latin typeface="+mn-ea"/>
              </a:rPr>
              <a:t>(</a:t>
            </a:r>
            <a:r>
              <a:rPr kumimoji="1" lang="ko-KR" altLang="en-US" sz="1200" dirty="0">
                <a:solidFill>
                  <a:schemeClr val="tx2"/>
                </a:solidFill>
                <a:latin typeface="+mn-ea"/>
              </a:rPr>
              <a:t>판단</a:t>
            </a:r>
            <a:r>
              <a:rPr kumimoji="1" lang="en-US" altLang="ko-KR" sz="1200" dirty="0">
                <a:solidFill>
                  <a:schemeClr val="tx2"/>
                </a:solidFill>
                <a:latin typeface="+mn-ea"/>
              </a:rPr>
              <a:t>)</a:t>
            </a:r>
            <a:endParaRPr kumimoji="1" lang="ko-KR" altLang="en-US" sz="1200" b="0" i="0" u="none" strike="noStrike" cap="none" normalizeH="0" baseline="0" dirty="0">
              <a:ln>
                <a:noFill/>
              </a:ln>
              <a:solidFill>
                <a:schemeClr val="tx2"/>
              </a:solidFill>
              <a:effectLst/>
              <a:latin typeface="+mn-ea"/>
            </a:endParaRPr>
          </a:p>
        </p:txBody>
      </p:sp>
      <p:sp>
        <p:nvSpPr>
          <p:cNvPr id="57" name="TextBox 56"/>
          <p:cNvSpPr txBox="1"/>
          <p:nvPr/>
        </p:nvSpPr>
        <p:spPr>
          <a:xfrm>
            <a:off x="1420148" y="2728124"/>
            <a:ext cx="423899" cy="276999"/>
          </a:xfrm>
          <a:prstGeom prst="rect">
            <a:avLst/>
          </a:prstGeom>
          <a:noFill/>
          <a:ln>
            <a:noFill/>
          </a:ln>
        </p:spPr>
        <p:txBody>
          <a:bodyPr wrap="none" rtlCol="0">
            <a:spAutoFit/>
          </a:bodyPr>
          <a:lstStyle/>
          <a:p>
            <a:pPr algn="ctr"/>
            <a:r>
              <a:rPr lang="en-US" altLang="ko-KR" sz="1200" b="0" dirty="0">
                <a:solidFill>
                  <a:schemeClr val="tx1"/>
                </a:solidFill>
                <a:latin typeface="+mn-ea"/>
              </a:rPr>
              <a:t>Yes</a:t>
            </a:r>
            <a:endParaRPr lang="ko-KR" altLang="en-US" sz="1200" b="0" dirty="0">
              <a:solidFill>
                <a:schemeClr val="tx1"/>
              </a:solidFill>
              <a:latin typeface="+mn-ea"/>
            </a:endParaRPr>
          </a:p>
        </p:txBody>
      </p:sp>
      <p:cxnSp>
        <p:nvCxnSpPr>
          <p:cNvPr id="62" name="직선 화살표 연결선 61"/>
          <p:cNvCxnSpPr/>
          <p:nvPr/>
        </p:nvCxnSpPr>
        <p:spPr bwMode="auto">
          <a:xfrm>
            <a:off x="2393624" y="2344832"/>
            <a:ext cx="654376" cy="0"/>
          </a:xfrm>
          <a:prstGeom prst="straightConnector1">
            <a:avLst/>
          </a:prstGeom>
          <a:ln w="28575">
            <a:solidFill>
              <a:schemeClr val="bg1">
                <a:lumMod val="50000"/>
              </a:schemeClr>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64" name="TextBox 63"/>
          <p:cNvSpPr txBox="1"/>
          <p:nvPr/>
        </p:nvSpPr>
        <p:spPr>
          <a:xfrm>
            <a:off x="2404774" y="2071517"/>
            <a:ext cx="380233" cy="276999"/>
          </a:xfrm>
          <a:prstGeom prst="rect">
            <a:avLst/>
          </a:prstGeom>
          <a:noFill/>
          <a:ln>
            <a:noFill/>
          </a:ln>
        </p:spPr>
        <p:txBody>
          <a:bodyPr wrap="none" rtlCol="0">
            <a:spAutoFit/>
          </a:bodyPr>
          <a:lstStyle/>
          <a:p>
            <a:pPr algn="ctr"/>
            <a:r>
              <a:rPr lang="en-US" altLang="ko-KR" sz="1200" b="0" dirty="0">
                <a:solidFill>
                  <a:schemeClr val="tx1"/>
                </a:solidFill>
                <a:latin typeface="+mn-ea"/>
              </a:rPr>
              <a:t>No</a:t>
            </a:r>
            <a:endParaRPr lang="ko-KR" altLang="en-US" sz="1200" b="0" dirty="0">
              <a:solidFill>
                <a:schemeClr val="tx1"/>
              </a:solidFill>
              <a:latin typeface="+mn-ea"/>
            </a:endParaRPr>
          </a:p>
        </p:txBody>
      </p:sp>
      <p:sp>
        <p:nvSpPr>
          <p:cNvPr id="18" name="TextBox 17"/>
          <p:cNvSpPr txBox="1"/>
          <p:nvPr/>
        </p:nvSpPr>
        <p:spPr>
          <a:xfrm>
            <a:off x="3303063" y="1707224"/>
            <a:ext cx="2592911" cy="364293"/>
          </a:xfrm>
          <a:prstGeom prst="rect">
            <a:avLst/>
          </a:prstGeom>
          <a:solidFill>
            <a:schemeClr val="accent4"/>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상대방의</a:t>
            </a:r>
            <a:r>
              <a:rPr lang="en-US" altLang="ko-KR" sz="1200" b="0" dirty="0">
                <a:solidFill>
                  <a:schemeClr val="tx1"/>
                </a:solidFill>
                <a:latin typeface="+mn-ea"/>
              </a:rPr>
              <a:t> </a:t>
            </a:r>
            <a:r>
              <a:rPr lang="ko-KR" altLang="en-US" sz="1200" b="0" dirty="0">
                <a:solidFill>
                  <a:schemeClr val="tx1"/>
                </a:solidFill>
                <a:latin typeface="+mn-ea"/>
              </a:rPr>
              <a:t>조치에 대한 적극적 대응</a:t>
            </a:r>
            <a:endParaRPr lang="en-US" altLang="ko-KR" sz="1200" b="0" dirty="0">
              <a:solidFill>
                <a:schemeClr val="tx1"/>
              </a:solidFill>
              <a:latin typeface="+mn-ea"/>
            </a:endParaRPr>
          </a:p>
          <a:p>
            <a:pPr algn="ctr"/>
            <a:r>
              <a:rPr lang="en-US" altLang="ko-KR" sz="1200" dirty="0">
                <a:latin typeface="+mn-ea"/>
              </a:rPr>
              <a:t>(</a:t>
            </a:r>
            <a:r>
              <a:rPr lang="ko-KR" altLang="en-US" sz="1200" dirty="0">
                <a:latin typeface="+mn-ea"/>
              </a:rPr>
              <a:t>예를 들어</a:t>
            </a:r>
            <a:r>
              <a:rPr lang="en-US" altLang="ko-KR" sz="1200" dirty="0">
                <a:latin typeface="+mn-ea"/>
              </a:rPr>
              <a:t>, </a:t>
            </a:r>
            <a:r>
              <a:rPr lang="ko-KR" altLang="en-US" sz="1200" dirty="0">
                <a:latin typeface="+mn-ea"/>
              </a:rPr>
              <a:t>경고에 대한 답변서 제출</a:t>
            </a:r>
            <a:r>
              <a:rPr lang="en-US" altLang="ko-KR" sz="1200" dirty="0">
                <a:latin typeface="+mn-ea"/>
              </a:rPr>
              <a:t>)</a:t>
            </a:r>
            <a:endParaRPr lang="en-US" altLang="ko-KR" sz="1200" b="0" dirty="0">
              <a:solidFill>
                <a:schemeClr val="tx1"/>
              </a:solidFill>
              <a:latin typeface="+mn-ea"/>
            </a:endParaRPr>
          </a:p>
        </p:txBody>
      </p:sp>
      <p:sp>
        <p:nvSpPr>
          <p:cNvPr id="75" name="TextBox 74"/>
          <p:cNvSpPr txBox="1"/>
          <p:nvPr/>
        </p:nvSpPr>
        <p:spPr>
          <a:xfrm>
            <a:off x="6579664" y="2075306"/>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침해의 성립요건 부정 항변</a:t>
            </a:r>
            <a:endParaRPr lang="en-US" altLang="ko-KR" sz="1200" b="0" dirty="0">
              <a:solidFill>
                <a:schemeClr val="tx1"/>
              </a:solidFill>
              <a:latin typeface="+mn-ea"/>
            </a:endParaRPr>
          </a:p>
        </p:txBody>
      </p:sp>
      <p:sp>
        <p:nvSpPr>
          <p:cNvPr id="76" name="TextBox 75"/>
          <p:cNvSpPr txBox="1"/>
          <p:nvPr/>
        </p:nvSpPr>
        <p:spPr>
          <a:xfrm>
            <a:off x="6579664" y="2372392"/>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권리남용의 항변</a:t>
            </a:r>
            <a:endParaRPr lang="en-US" altLang="ko-KR" sz="1200" b="0" dirty="0">
              <a:solidFill>
                <a:schemeClr val="tx1"/>
              </a:solidFill>
              <a:latin typeface="+mn-ea"/>
            </a:endParaRPr>
          </a:p>
        </p:txBody>
      </p:sp>
      <p:sp>
        <p:nvSpPr>
          <p:cNvPr id="77" name="TextBox 76"/>
          <p:cNvSpPr txBox="1"/>
          <p:nvPr/>
        </p:nvSpPr>
        <p:spPr>
          <a:xfrm>
            <a:off x="6579664" y="1774935"/>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dirty="0">
                <a:latin typeface="+mn-ea"/>
              </a:rPr>
              <a:t>침해부인</a:t>
            </a:r>
            <a:r>
              <a:rPr lang="en-US" altLang="ko-KR" sz="1200" dirty="0">
                <a:latin typeface="+mn-ea"/>
              </a:rPr>
              <a:t>(</a:t>
            </a:r>
            <a:r>
              <a:rPr lang="ko-KR" altLang="en-US" sz="1200" dirty="0" err="1">
                <a:latin typeface="+mn-ea"/>
              </a:rPr>
              <a:t>비실시주장</a:t>
            </a:r>
            <a:r>
              <a:rPr lang="en-US" altLang="ko-KR" sz="1200" dirty="0">
                <a:latin typeface="+mn-ea"/>
              </a:rPr>
              <a:t>)</a:t>
            </a:r>
            <a:endParaRPr lang="en-US" altLang="ko-KR" sz="1200" b="0" dirty="0">
              <a:solidFill>
                <a:schemeClr val="tx1"/>
              </a:solidFill>
              <a:latin typeface="+mn-ea"/>
            </a:endParaRPr>
          </a:p>
        </p:txBody>
      </p:sp>
      <p:sp>
        <p:nvSpPr>
          <p:cNvPr id="79" name="TextBox 78"/>
          <p:cNvSpPr txBox="1"/>
          <p:nvPr/>
        </p:nvSpPr>
        <p:spPr>
          <a:xfrm>
            <a:off x="9208564" y="2075306"/>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err="1">
                <a:solidFill>
                  <a:schemeClr val="tx1"/>
                </a:solidFill>
                <a:latin typeface="+mn-ea"/>
              </a:rPr>
              <a:t>실시권의</a:t>
            </a:r>
            <a:r>
              <a:rPr lang="ko-KR" altLang="en-US" sz="1200" b="0" dirty="0">
                <a:solidFill>
                  <a:schemeClr val="tx1"/>
                </a:solidFill>
                <a:latin typeface="+mn-ea"/>
              </a:rPr>
              <a:t> 항변</a:t>
            </a:r>
            <a:endParaRPr lang="en-US" altLang="ko-KR" sz="1200" b="0" dirty="0">
              <a:solidFill>
                <a:schemeClr val="tx1"/>
              </a:solidFill>
              <a:latin typeface="+mn-ea"/>
            </a:endParaRPr>
          </a:p>
        </p:txBody>
      </p:sp>
      <p:sp>
        <p:nvSpPr>
          <p:cNvPr id="81" name="TextBox 80"/>
          <p:cNvSpPr txBox="1"/>
          <p:nvPr/>
        </p:nvSpPr>
        <p:spPr>
          <a:xfrm>
            <a:off x="9208564" y="2372392"/>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소진이론의 항변</a:t>
            </a:r>
            <a:endParaRPr lang="en-US" altLang="ko-KR" sz="1200" b="0" dirty="0">
              <a:solidFill>
                <a:schemeClr val="tx1"/>
              </a:solidFill>
              <a:latin typeface="+mn-ea"/>
            </a:endParaRPr>
          </a:p>
        </p:txBody>
      </p:sp>
      <p:sp>
        <p:nvSpPr>
          <p:cNvPr id="83" name="TextBox 82"/>
          <p:cNvSpPr txBox="1"/>
          <p:nvPr/>
        </p:nvSpPr>
        <p:spPr>
          <a:xfrm>
            <a:off x="9208564" y="2671478"/>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업이 아니라는 항변</a:t>
            </a:r>
            <a:endParaRPr lang="en-US" altLang="ko-KR" sz="1200" b="0" dirty="0">
              <a:solidFill>
                <a:schemeClr val="tx1"/>
              </a:solidFill>
              <a:latin typeface="+mn-ea"/>
            </a:endParaRPr>
          </a:p>
        </p:txBody>
      </p:sp>
      <p:sp>
        <p:nvSpPr>
          <p:cNvPr id="85" name="TextBox 84"/>
          <p:cNvSpPr txBox="1"/>
          <p:nvPr/>
        </p:nvSpPr>
        <p:spPr>
          <a:xfrm>
            <a:off x="9208564" y="2957228"/>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특허권 하자</a:t>
            </a:r>
            <a:r>
              <a:rPr lang="en-US" altLang="ko-KR" sz="1200" b="0" dirty="0">
                <a:solidFill>
                  <a:schemeClr val="tx1"/>
                </a:solidFill>
                <a:latin typeface="+mn-ea"/>
              </a:rPr>
              <a:t>(</a:t>
            </a:r>
            <a:r>
              <a:rPr lang="ko-KR" altLang="en-US" sz="1200" b="0" dirty="0">
                <a:solidFill>
                  <a:schemeClr val="tx1"/>
                </a:solidFill>
                <a:latin typeface="+mn-ea"/>
              </a:rPr>
              <a:t>무효</a:t>
            </a:r>
            <a:r>
              <a:rPr lang="en-US" altLang="ko-KR" sz="1200" b="0" dirty="0">
                <a:solidFill>
                  <a:schemeClr val="tx1"/>
                </a:solidFill>
                <a:latin typeface="+mn-ea"/>
              </a:rPr>
              <a:t>)</a:t>
            </a:r>
            <a:r>
              <a:rPr lang="ko-KR" altLang="en-US" sz="1200" b="0" dirty="0">
                <a:solidFill>
                  <a:schemeClr val="tx1"/>
                </a:solidFill>
                <a:latin typeface="+mn-ea"/>
              </a:rPr>
              <a:t>의 항변</a:t>
            </a:r>
            <a:endParaRPr lang="en-US" altLang="ko-KR" sz="1200" b="0" dirty="0">
              <a:solidFill>
                <a:schemeClr val="tx1"/>
              </a:solidFill>
              <a:latin typeface="+mn-ea"/>
            </a:endParaRPr>
          </a:p>
        </p:txBody>
      </p:sp>
      <p:sp>
        <p:nvSpPr>
          <p:cNvPr id="87" name="TextBox 86"/>
          <p:cNvSpPr txBox="1"/>
          <p:nvPr/>
        </p:nvSpPr>
        <p:spPr>
          <a:xfrm>
            <a:off x="9208564" y="3237356"/>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자유기술의 항변</a:t>
            </a:r>
            <a:endParaRPr lang="en-US" altLang="ko-KR" sz="1200" b="0" dirty="0">
              <a:solidFill>
                <a:schemeClr val="tx1"/>
              </a:solidFill>
              <a:latin typeface="+mn-ea"/>
            </a:endParaRPr>
          </a:p>
        </p:txBody>
      </p:sp>
      <p:sp>
        <p:nvSpPr>
          <p:cNvPr id="89" name="TextBox 88"/>
          <p:cNvSpPr txBox="1"/>
          <p:nvPr/>
        </p:nvSpPr>
        <p:spPr>
          <a:xfrm>
            <a:off x="9208564" y="3534442"/>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효력제한의 항변</a:t>
            </a:r>
            <a:endParaRPr lang="en-US" altLang="ko-KR" sz="1200" b="0" dirty="0">
              <a:solidFill>
                <a:schemeClr val="tx1"/>
              </a:solidFill>
              <a:latin typeface="+mn-ea"/>
            </a:endParaRPr>
          </a:p>
        </p:txBody>
      </p:sp>
      <p:sp>
        <p:nvSpPr>
          <p:cNvPr id="91" name="TextBox 90"/>
          <p:cNvSpPr txBox="1"/>
          <p:nvPr/>
        </p:nvSpPr>
        <p:spPr>
          <a:xfrm>
            <a:off x="9208564" y="3833528"/>
            <a:ext cx="1878535" cy="228870"/>
          </a:xfrm>
          <a:prstGeom prst="rect">
            <a:avLst/>
          </a:prstGeom>
          <a:solidFill>
            <a:schemeClr val="accent4">
              <a:lumMod val="20000"/>
              <a:lumOff val="80000"/>
            </a:schemeClr>
          </a:solidFill>
          <a:ln>
            <a:solidFill>
              <a:schemeClr val="bg1">
                <a:lumMod val="50000"/>
              </a:schemeClr>
            </a:solidFill>
          </a:ln>
        </p:spPr>
        <p:txBody>
          <a:bodyPr wrap="none" rtlCol="0" anchor="ctr">
            <a:noAutofit/>
          </a:bodyPr>
          <a:lstStyle/>
          <a:p>
            <a:pPr algn="ctr"/>
            <a:r>
              <a:rPr lang="ko-KR" altLang="en-US" sz="1200" dirty="0">
                <a:latin typeface="+mn-ea"/>
              </a:rPr>
              <a:t>실효</a:t>
            </a:r>
            <a:r>
              <a:rPr lang="ko-KR" altLang="en-US" sz="1200" b="0" dirty="0">
                <a:solidFill>
                  <a:schemeClr val="tx1"/>
                </a:solidFill>
                <a:latin typeface="+mn-ea"/>
              </a:rPr>
              <a:t>의 항변</a:t>
            </a:r>
            <a:endParaRPr lang="en-US" altLang="ko-KR" sz="1200" b="0" dirty="0">
              <a:solidFill>
                <a:schemeClr val="tx1"/>
              </a:solidFill>
              <a:latin typeface="+mn-ea"/>
            </a:endParaRPr>
          </a:p>
        </p:txBody>
      </p:sp>
      <p:sp>
        <p:nvSpPr>
          <p:cNvPr id="95" name="TextBox 94"/>
          <p:cNvSpPr txBox="1"/>
          <p:nvPr/>
        </p:nvSpPr>
        <p:spPr>
          <a:xfrm>
            <a:off x="3303063" y="2146311"/>
            <a:ext cx="2592911" cy="364293"/>
          </a:xfrm>
          <a:prstGeom prst="rect">
            <a:avLst/>
          </a:prstGeom>
          <a:solidFill>
            <a:schemeClr val="accent4"/>
          </a:solidFill>
          <a:ln>
            <a:solidFill>
              <a:schemeClr val="bg1">
                <a:lumMod val="50000"/>
              </a:schemeClr>
            </a:solidFill>
          </a:ln>
        </p:spPr>
        <p:txBody>
          <a:bodyPr wrap="none" rtlCol="0" anchor="ctr">
            <a:noAutofit/>
          </a:bodyPr>
          <a:lstStyle/>
          <a:p>
            <a:pPr algn="ctr"/>
            <a:r>
              <a:rPr lang="ko-KR" altLang="en-US" sz="1200" b="0">
                <a:solidFill>
                  <a:schemeClr val="tx1"/>
                </a:solidFill>
                <a:latin typeface="+mn-ea"/>
              </a:rPr>
              <a:t>소극적 권리범위확인심판청구</a:t>
            </a:r>
            <a:endParaRPr lang="en-US" altLang="ko-KR" sz="1200" b="0" dirty="0">
              <a:solidFill>
                <a:schemeClr val="tx1"/>
              </a:solidFill>
              <a:latin typeface="+mn-ea"/>
            </a:endParaRPr>
          </a:p>
        </p:txBody>
      </p:sp>
      <p:sp>
        <p:nvSpPr>
          <p:cNvPr id="97" name="TextBox 96"/>
          <p:cNvSpPr txBox="1"/>
          <p:nvPr/>
        </p:nvSpPr>
        <p:spPr>
          <a:xfrm>
            <a:off x="3303063" y="2612120"/>
            <a:ext cx="2592911" cy="364293"/>
          </a:xfrm>
          <a:prstGeom prst="rect">
            <a:avLst/>
          </a:prstGeom>
          <a:solidFill>
            <a:schemeClr val="accent4"/>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별도의 소 제기</a:t>
            </a:r>
            <a:endParaRPr lang="en-US" altLang="ko-KR" sz="1200" b="0" dirty="0">
              <a:solidFill>
                <a:schemeClr val="tx1"/>
              </a:solidFill>
              <a:latin typeface="+mn-ea"/>
            </a:endParaRPr>
          </a:p>
          <a:p>
            <a:pPr algn="ctr"/>
            <a:r>
              <a:rPr lang="en-US" altLang="ko-KR" sz="1200" dirty="0">
                <a:latin typeface="+mn-ea"/>
              </a:rPr>
              <a:t>(</a:t>
            </a:r>
            <a:r>
              <a:rPr lang="ko-KR" altLang="en-US" sz="1200" dirty="0">
                <a:latin typeface="+mn-ea"/>
              </a:rPr>
              <a:t>예를 들어</a:t>
            </a:r>
            <a:r>
              <a:rPr lang="en-US" altLang="ko-KR" sz="1200" dirty="0">
                <a:latin typeface="+mn-ea"/>
              </a:rPr>
              <a:t>, </a:t>
            </a:r>
            <a:r>
              <a:rPr lang="ko-KR" altLang="en-US" sz="1200" dirty="0" err="1">
                <a:latin typeface="+mn-ea"/>
              </a:rPr>
              <a:t>선사용권</a:t>
            </a:r>
            <a:r>
              <a:rPr lang="ko-KR" altLang="en-US" sz="1200" dirty="0">
                <a:latin typeface="+mn-ea"/>
              </a:rPr>
              <a:t> 확인의 소</a:t>
            </a:r>
            <a:r>
              <a:rPr lang="en-US" altLang="ko-KR" sz="1200" dirty="0">
                <a:latin typeface="+mn-ea"/>
              </a:rPr>
              <a:t>)</a:t>
            </a:r>
            <a:endParaRPr lang="en-US" altLang="ko-KR" sz="1200" b="0" dirty="0">
              <a:solidFill>
                <a:schemeClr val="tx1"/>
              </a:solidFill>
              <a:latin typeface="+mn-ea"/>
            </a:endParaRPr>
          </a:p>
        </p:txBody>
      </p:sp>
      <p:sp>
        <p:nvSpPr>
          <p:cNvPr id="99" name="TextBox 98"/>
          <p:cNvSpPr txBox="1"/>
          <p:nvPr/>
        </p:nvSpPr>
        <p:spPr>
          <a:xfrm>
            <a:off x="3303063" y="3074394"/>
            <a:ext cx="2592911" cy="364293"/>
          </a:xfrm>
          <a:prstGeom prst="rect">
            <a:avLst/>
          </a:prstGeom>
          <a:solidFill>
            <a:schemeClr val="accent4"/>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소송절차 중지 신청</a:t>
            </a:r>
            <a:endParaRPr lang="en-US" altLang="ko-KR" sz="1200" b="0" dirty="0">
              <a:solidFill>
                <a:schemeClr val="tx1"/>
              </a:solidFill>
              <a:latin typeface="+mn-ea"/>
            </a:endParaRPr>
          </a:p>
        </p:txBody>
      </p:sp>
      <p:sp>
        <p:nvSpPr>
          <p:cNvPr id="101" name="순서도: 판단 100"/>
          <p:cNvSpPr/>
          <p:nvPr/>
        </p:nvSpPr>
        <p:spPr bwMode="auto">
          <a:xfrm>
            <a:off x="481874" y="3504858"/>
            <a:ext cx="1920213" cy="760764"/>
          </a:xfrm>
          <a:prstGeom prst="flowChartDecision">
            <a:avLst/>
          </a:prstGeom>
          <a:solidFill>
            <a:schemeClr val="accent1">
              <a:lumMod val="20000"/>
              <a:lumOff val="80000"/>
            </a:schemeClr>
          </a:solidFill>
          <a:ln>
            <a:solidFill>
              <a:schemeClr val="bg1">
                <a:lumMod val="50000"/>
              </a:schemeClr>
            </a:solidFill>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0" tIns="46800" rIns="0" bIns="46800" numCol="1" rtlCol="0" anchor="ctr" anchorCtr="0" compatLnSpc="1">
            <a:prstTxWarp prst="textNoShape">
              <a:avLst/>
            </a:prstTxWarp>
          </a:bodyPr>
          <a:lstStyle/>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ko-KR" altLang="en-US" sz="1200" dirty="0" err="1">
                <a:solidFill>
                  <a:schemeClr val="tx2"/>
                </a:solidFill>
                <a:latin typeface="+mn-ea"/>
              </a:rPr>
              <a:t>특허요건흠결</a:t>
            </a:r>
            <a:endParaRPr kumimoji="1" lang="en-US" altLang="ko-KR" sz="1200" dirty="0">
              <a:solidFill>
                <a:schemeClr val="tx2"/>
              </a:solidFill>
              <a:latin typeface="+mn-ea"/>
            </a:endParaRPr>
          </a:p>
          <a:p>
            <a:pPr marL="0" marR="0" indent="0" algn="ctr" defTabSz="914400" rtl="0" eaLnBrk="1" fontAlgn="base" latinLnBrk="1" hangingPunct="1">
              <a:lnSpc>
                <a:spcPct val="100000"/>
              </a:lnSpc>
              <a:spcBef>
                <a:spcPct val="0"/>
              </a:spcBef>
              <a:spcAft>
                <a:spcPct val="0"/>
              </a:spcAft>
              <a:buClrTx/>
              <a:buSzTx/>
              <a:buFont typeface="Wingdings" pitchFamily="2" charset="2"/>
              <a:buNone/>
              <a:tabLst/>
            </a:pPr>
            <a:r>
              <a:rPr kumimoji="1" lang="en-US" altLang="ko-KR" sz="1200" dirty="0">
                <a:solidFill>
                  <a:schemeClr val="tx2"/>
                </a:solidFill>
                <a:latin typeface="+mn-ea"/>
              </a:rPr>
              <a:t>(</a:t>
            </a:r>
            <a:r>
              <a:rPr kumimoji="1" lang="ko-KR" altLang="en-US" sz="1200" dirty="0">
                <a:solidFill>
                  <a:schemeClr val="tx2"/>
                </a:solidFill>
                <a:latin typeface="+mn-ea"/>
              </a:rPr>
              <a:t>판단</a:t>
            </a:r>
            <a:r>
              <a:rPr kumimoji="1" lang="en-US" altLang="ko-KR" sz="1200" dirty="0">
                <a:solidFill>
                  <a:schemeClr val="tx2"/>
                </a:solidFill>
                <a:latin typeface="+mn-ea"/>
              </a:rPr>
              <a:t>)</a:t>
            </a:r>
            <a:endParaRPr kumimoji="1" lang="ko-KR" altLang="en-US" sz="1200" b="0" i="0" u="none" strike="noStrike" cap="none" normalizeH="0" baseline="0" dirty="0">
              <a:ln>
                <a:noFill/>
              </a:ln>
              <a:solidFill>
                <a:schemeClr val="tx2"/>
              </a:solidFill>
              <a:effectLst/>
              <a:latin typeface="+mn-ea"/>
            </a:endParaRPr>
          </a:p>
        </p:txBody>
      </p:sp>
      <p:cxnSp>
        <p:nvCxnSpPr>
          <p:cNvPr id="102" name="직선 화살표 연결선 101"/>
          <p:cNvCxnSpPr>
            <a:stCxn id="13" idx="2"/>
            <a:endCxn id="101" idx="0"/>
          </p:cNvCxnSpPr>
          <p:nvPr/>
        </p:nvCxnSpPr>
        <p:spPr bwMode="auto">
          <a:xfrm>
            <a:off x="1441981" y="2725214"/>
            <a:ext cx="0" cy="779644"/>
          </a:xfrm>
          <a:prstGeom prst="straightConnector1">
            <a:avLst/>
          </a:prstGeom>
          <a:ln w="28575">
            <a:solidFill>
              <a:schemeClr val="bg1">
                <a:lumMod val="50000"/>
              </a:schemeClr>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05" name="TextBox 104"/>
          <p:cNvSpPr txBox="1"/>
          <p:nvPr/>
        </p:nvSpPr>
        <p:spPr>
          <a:xfrm>
            <a:off x="3303063" y="5383639"/>
            <a:ext cx="2592911" cy="364293"/>
          </a:xfrm>
          <a:prstGeom prst="rect">
            <a:avLst/>
          </a:prstGeom>
          <a:solidFill>
            <a:schemeClr val="accent3"/>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조기권리저지방안</a:t>
            </a:r>
            <a:endParaRPr lang="en-US" altLang="ko-KR" sz="1200" b="0" dirty="0">
              <a:solidFill>
                <a:schemeClr val="tx1"/>
              </a:solidFill>
              <a:latin typeface="+mn-ea"/>
            </a:endParaRPr>
          </a:p>
        </p:txBody>
      </p:sp>
      <p:sp>
        <p:nvSpPr>
          <p:cNvPr id="107" name="TextBox 106"/>
          <p:cNvSpPr txBox="1"/>
          <p:nvPr/>
        </p:nvSpPr>
        <p:spPr>
          <a:xfrm>
            <a:off x="3303063" y="6057806"/>
            <a:ext cx="2592911" cy="364293"/>
          </a:xfrm>
          <a:prstGeom prst="rect">
            <a:avLst/>
          </a:prstGeom>
          <a:solidFill>
            <a:schemeClr val="accent3"/>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심사관여방안</a:t>
            </a:r>
            <a:endParaRPr lang="en-US" altLang="ko-KR" sz="1200" b="0" dirty="0">
              <a:solidFill>
                <a:schemeClr val="tx1"/>
              </a:solidFill>
              <a:latin typeface="+mn-ea"/>
            </a:endParaRPr>
          </a:p>
        </p:txBody>
      </p:sp>
      <p:sp>
        <p:nvSpPr>
          <p:cNvPr id="109" name="TextBox 108"/>
          <p:cNvSpPr txBox="1"/>
          <p:nvPr/>
        </p:nvSpPr>
        <p:spPr>
          <a:xfrm>
            <a:off x="6579664" y="5434892"/>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우선심사신청</a:t>
            </a:r>
            <a:endParaRPr lang="en-US" altLang="ko-KR" sz="1200" b="0" dirty="0">
              <a:solidFill>
                <a:schemeClr val="tx1"/>
              </a:solidFill>
              <a:latin typeface="+mn-ea"/>
            </a:endParaRPr>
          </a:p>
        </p:txBody>
      </p:sp>
      <p:sp>
        <p:nvSpPr>
          <p:cNvPr id="113" name="TextBox 112"/>
          <p:cNvSpPr txBox="1"/>
          <p:nvPr/>
        </p:nvSpPr>
        <p:spPr>
          <a:xfrm>
            <a:off x="6579664" y="5134521"/>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심사청구</a:t>
            </a:r>
            <a:endParaRPr lang="en-US" altLang="ko-KR" sz="1200" b="0" dirty="0">
              <a:solidFill>
                <a:schemeClr val="tx1"/>
              </a:solidFill>
              <a:latin typeface="+mn-ea"/>
            </a:endParaRPr>
          </a:p>
        </p:txBody>
      </p:sp>
      <p:sp>
        <p:nvSpPr>
          <p:cNvPr id="115" name="TextBox 114"/>
          <p:cNvSpPr txBox="1"/>
          <p:nvPr/>
        </p:nvSpPr>
        <p:spPr>
          <a:xfrm>
            <a:off x="6579664" y="6103063"/>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특허취소신청</a:t>
            </a:r>
            <a:endParaRPr lang="en-US" altLang="ko-KR" sz="1200" b="0" dirty="0">
              <a:solidFill>
                <a:schemeClr val="tx1"/>
              </a:solidFill>
              <a:latin typeface="+mn-ea"/>
            </a:endParaRPr>
          </a:p>
        </p:txBody>
      </p:sp>
      <p:sp>
        <p:nvSpPr>
          <p:cNvPr id="117" name="TextBox 116"/>
          <p:cNvSpPr txBox="1"/>
          <p:nvPr/>
        </p:nvSpPr>
        <p:spPr>
          <a:xfrm>
            <a:off x="6579664" y="5802692"/>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정보제공</a:t>
            </a:r>
            <a:endParaRPr lang="en-US" altLang="ko-KR" sz="1200" b="0" dirty="0">
              <a:solidFill>
                <a:schemeClr val="tx1"/>
              </a:solidFill>
              <a:latin typeface="+mn-ea"/>
            </a:endParaRPr>
          </a:p>
        </p:txBody>
      </p:sp>
      <p:sp>
        <p:nvSpPr>
          <p:cNvPr id="119" name="TextBox 118"/>
          <p:cNvSpPr txBox="1"/>
          <p:nvPr/>
        </p:nvSpPr>
        <p:spPr>
          <a:xfrm>
            <a:off x="6579664" y="6391140"/>
            <a:ext cx="1878535" cy="228870"/>
          </a:xfrm>
          <a:prstGeom prst="rect">
            <a:avLst/>
          </a:prstGeom>
          <a:solidFill>
            <a:schemeClr val="bg2">
              <a:lumMod val="90000"/>
            </a:schemeClr>
          </a:solidFill>
          <a:ln>
            <a:solidFill>
              <a:schemeClr val="bg1">
                <a:lumMod val="50000"/>
              </a:schemeClr>
            </a:solidFill>
          </a:ln>
        </p:spPr>
        <p:txBody>
          <a:bodyPr wrap="none" rtlCol="0" anchor="ctr">
            <a:noAutofit/>
          </a:bodyPr>
          <a:lstStyle/>
          <a:p>
            <a:pPr algn="ctr"/>
            <a:r>
              <a:rPr lang="ko-KR" altLang="en-US" sz="1200" b="0" dirty="0">
                <a:solidFill>
                  <a:schemeClr val="tx1"/>
                </a:solidFill>
                <a:latin typeface="+mn-ea"/>
              </a:rPr>
              <a:t>특허무효심판청구</a:t>
            </a:r>
            <a:endParaRPr lang="en-US" altLang="ko-KR" sz="1200" b="0" dirty="0">
              <a:solidFill>
                <a:schemeClr val="tx1"/>
              </a:solidFill>
              <a:latin typeface="+mn-ea"/>
            </a:endParaRPr>
          </a:p>
        </p:txBody>
      </p:sp>
      <p:sp>
        <p:nvSpPr>
          <p:cNvPr id="121" name="TextBox 120"/>
          <p:cNvSpPr txBox="1"/>
          <p:nvPr/>
        </p:nvSpPr>
        <p:spPr>
          <a:xfrm>
            <a:off x="3303063" y="3530537"/>
            <a:ext cx="2592911" cy="364293"/>
          </a:xfrm>
          <a:prstGeom prst="rect">
            <a:avLst/>
          </a:prstGeom>
          <a:solidFill>
            <a:schemeClr val="accent1"/>
          </a:solidFill>
          <a:ln>
            <a:solidFill>
              <a:schemeClr val="bg1">
                <a:lumMod val="50000"/>
              </a:schemeClr>
            </a:solidFill>
          </a:ln>
        </p:spPr>
        <p:txBody>
          <a:bodyPr wrap="none" rtlCol="0" anchor="ctr">
            <a:noAutofit/>
          </a:bodyPr>
          <a:lstStyle/>
          <a:p>
            <a:pPr algn="ctr"/>
            <a:r>
              <a:rPr lang="ko-KR" altLang="en-US" sz="1200" b="0" dirty="0">
                <a:latin typeface="+mn-ea"/>
              </a:rPr>
              <a:t>실시중지</a:t>
            </a:r>
            <a:endParaRPr lang="en-US" altLang="ko-KR" sz="1200" b="0" dirty="0">
              <a:latin typeface="+mn-ea"/>
            </a:endParaRPr>
          </a:p>
        </p:txBody>
      </p:sp>
      <p:sp>
        <p:nvSpPr>
          <p:cNvPr id="124" name="TextBox 123"/>
          <p:cNvSpPr txBox="1"/>
          <p:nvPr/>
        </p:nvSpPr>
        <p:spPr>
          <a:xfrm>
            <a:off x="3303063" y="3969624"/>
            <a:ext cx="2592911" cy="364293"/>
          </a:xfrm>
          <a:prstGeom prst="rect">
            <a:avLst/>
          </a:prstGeom>
          <a:solidFill>
            <a:schemeClr val="accent1"/>
          </a:solidFill>
          <a:ln>
            <a:solidFill>
              <a:schemeClr val="bg1">
                <a:lumMod val="50000"/>
              </a:schemeClr>
            </a:solidFill>
          </a:ln>
        </p:spPr>
        <p:txBody>
          <a:bodyPr wrap="none" rtlCol="0" anchor="ctr">
            <a:noAutofit/>
          </a:bodyPr>
          <a:lstStyle/>
          <a:p>
            <a:pPr algn="ctr"/>
            <a:r>
              <a:rPr lang="ko-KR" altLang="en-US" sz="1200" b="0" dirty="0">
                <a:latin typeface="+mn-ea"/>
              </a:rPr>
              <a:t>정당한 권원 획득 후 실시</a:t>
            </a:r>
            <a:endParaRPr lang="en-US" altLang="ko-KR" sz="1200" b="0" dirty="0">
              <a:latin typeface="+mn-ea"/>
            </a:endParaRPr>
          </a:p>
        </p:txBody>
      </p:sp>
      <p:sp>
        <p:nvSpPr>
          <p:cNvPr id="125" name="TextBox 124"/>
          <p:cNvSpPr txBox="1"/>
          <p:nvPr/>
        </p:nvSpPr>
        <p:spPr>
          <a:xfrm>
            <a:off x="3303063" y="4435433"/>
            <a:ext cx="2592911" cy="364293"/>
          </a:xfrm>
          <a:prstGeom prst="rect">
            <a:avLst/>
          </a:prstGeom>
          <a:solidFill>
            <a:schemeClr val="accent1"/>
          </a:solidFill>
          <a:ln>
            <a:solidFill>
              <a:schemeClr val="bg1">
                <a:lumMod val="50000"/>
              </a:schemeClr>
            </a:solidFill>
          </a:ln>
        </p:spPr>
        <p:txBody>
          <a:bodyPr wrap="none" rtlCol="0" anchor="ctr">
            <a:noAutofit/>
          </a:bodyPr>
          <a:lstStyle/>
          <a:p>
            <a:pPr algn="ctr"/>
            <a:r>
              <a:rPr lang="ko-KR" altLang="en-US" sz="1200" b="0" dirty="0">
                <a:latin typeface="+mn-ea"/>
              </a:rPr>
              <a:t>회피설계</a:t>
            </a:r>
            <a:r>
              <a:rPr lang="en-US" altLang="ko-KR" sz="1200" b="0" dirty="0">
                <a:latin typeface="+mn-ea"/>
              </a:rPr>
              <a:t>(Design-Around)</a:t>
            </a:r>
          </a:p>
        </p:txBody>
      </p:sp>
      <p:sp>
        <p:nvSpPr>
          <p:cNvPr id="126" name="TextBox 125"/>
          <p:cNvSpPr txBox="1"/>
          <p:nvPr/>
        </p:nvSpPr>
        <p:spPr>
          <a:xfrm>
            <a:off x="3303063" y="4897707"/>
            <a:ext cx="2592911" cy="364293"/>
          </a:xfrm>
          <a:prstGeom prst="rect">
            <a:avLst/>
          </a:prstGeom>
          <a:solidFill>
            <a:schemeClr val="accent1"/>
          </a:solidFill>
          <a:ln>
            <a:solidFill>
              <a:schemeClr val="bg1">
                <a:lumMod val="50000"/>
              </a:schemeClr>
            </a:solidFill>
          </a:ln>
        </p:spPr>
        <p:txBody>
          <a:bodyPr wrap="none" rtlCol="0" anchor="ctr">
            <a:noAutofit/>
          </a:bodyPr>
          <a:lstStyle/>
          <a:p>
            <a:pPr algn="ctr"/>
            <a:r>
              <a:rPr lang="ko-KR" altLang="en-US" sz="1200" dirty="0">
                <a:latin typeface="+mn-ea"/>
              </a:rPr>
              <a:t>대응특허 매입한 후 </a:t>
            </a:r>
            <a:r>
              <a:rPr lang="ko-KR" altLang="en-US" sz="1200" dirty="0" err="1">
                <a:latin typeface="+mn-ea"/>
              </a:rPr>
              <a:t>역공격</a:t>
            </a:r>
            <a:endParaRPr lang="en-US" altLang="ko-KR" sz="1200" b="0" dirty="0">
              <a:latin typeface="+mn-ea"/>
            </a:endParaRPr>
          </a:p>
        </p:txBody>
      </p:sp>
      <p:cxnSp>
        <p:nvCxnSpPr>
          <p:cNvPr id="15" name="꺾인 연결선 14"/>
          <p:cNvCxnSpPr>
            <a:stCxn id="18" idx="1"/>
            <a:endCxn id="99" idx="1"/>
          </p:cNvCxnSpPr>
          <p:nvPr/>
        </p:nvCxnSpPr>
        <p:spPr>
          <a:xfrm rot="10800000" flipV="1">
            <a:off x="3303063" y="1889371"/>
            <a:ext cx="12700" cy="1367170"/>
          </a:xfrm>
          <a:prstGeom prst="bentConnector3">
            <a:avLst>
              <a:gd name="adj1" fmla="val 1800000"/>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꺾인 연결선 16"/>
          <p:cNvCxnSpPr>
            <a:stCxn id="18" idx="1"/>
            <a:endCxn id="95" idx="1"/>
          </p:cNvCxnSpPr>
          <p:nvPr/>
        </p:nvCxnSpPr>
        <p:spPr>
          <a:xfrm rot="10800000" flipV="1">
            <a:off x="3303063" y="1889370"/>
            <a:ext cx="12700" cy="439087"/>
          </a:xfrm>
          <a:prstGeom prst="bentConnector3">
            <a:avLst>
              <a:gd name="adj1" fmla="val 1800000"/>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꺾인 연결선 28"/>
          <p:cNvCxnSpPr>
            <a:stCxn id="18" idx="1"/>
            <a:endCxn id="97" idx="1"/>
          </p:cNvCxnSpPr>
          <p:nvPr/>
        </p:nvCxnSpPr>
        <p:spPr>
          <a:xfrm rot="10800000" flipV="1">
            <a:off x="3303063" y="1889371"/>
            <a:ext cx="12700" cy="904896"/>
          </a:xfrm>
          <a:prstGeom prst="bentConnector3">
            <a:avLst>
              <a:gd name="adj1" fmla="val 1800000"/>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7" name="꺾인 연결선 126"/>
          <p:cNvCxnSpPr>
            <a:stCxn id="121" idx="1"/>
            <a:endCxn id="126" idx="1"/>
          </p:cNvCxnSpPr>
          <p:nvPr/>
        </p:nvCxnSpPr>
        <p:spPr>
          <a:xfrm rot="10800000" flipV="1">
            <a:off x="3303063" y="3712684"/>
            <a:ext cx="12700" cy="1367170"/>
          </a:xfrm>
          <a:prstGeom prst="bentConnector3">
            <a:avLst>
              <a:gd name="adj1" fmla="val 1800000"/>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꺾인 연결선 127"/>
          <p:cNvCxnSpPr>
            <a:stCxn id="101" idx="2"/>
          </p:cNvCxnSpPr>
          <p:nvPr/>
        </p:nvCxnSpPr>
        <p:spPr>
          <a:xfrm rot="16200000" flipH="1">
            <a:off x="1476454" y="4231148"/>
            <a:ext cx="1537072" cy="1606019"/>
          </a:xfrm>
          <a:prstGeom prst="bentConnector2">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9" name="꺾인 연결선 128"/>
          <p:cNvCxnSpPr>
            <a:stCxn id="121" idx="1"/>
            <a:endCxn id="125" idx="1"/>
          </p:cNvCxnSpPr>
          <p:nvPr/>
        </p:nvCxnSpPr>
        <p:spPr>
          <a:xfrm rot="10800000" flipV="1">
            <a:off x="3303063" y="3712684"/>
            <a:ext cx="12700" cy="904896"/>
          </a:xfrm>
          <a:prstGeom prst="bentConnector3">
            <a:avLst>
              <a:gd name="adj1" fmla="val 1800000"/>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꺾인 연결선 129"/>
          <p:cNvCxnSpPr>
            <a:stCxn id="105" idx="1"/>
            <a:endCxn id="107" idx="1"/>
          </p:cNvCxnSpPr>
          <p:nvPr/>
        </p:nvCxnSpPr>
        <p:spPr>
          <a:xfrm rot="10800000" flipV="1">
            <a:off x="3303063" y="5565785"/>
            <a:ext cx="12700" cy="674167"/>
          </a:xfrm>
          <a:prstGeom prst="bentConnector3">
            <a:avLst>
              <a:gd name="adj1" fmla="val 1800000"/>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꺾인 연결선 130"/>
          <p:cNvCxnSpPr>
            <a:stCxn id="121" idx="1"/>
            <a:endCxn id="124" idx="1"/>
          </p:cNvCxnSpPr>
          <p:nvPr/>
        </p:nvCxnSpPr>
        <p:spPr>
          <a:xfrm rot="10800000" flipV="1">
            <a:off x="3303063" y="3712683"/>
            <a:ext cx="12700" cy="439087"/>
          </a:xfrm>
          <a:prstGeom prst="bentConnector3">
            <a:avLst>
              <a:gd name="adj1" fmla="val 1800000"/>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직선 화살표 연결선 131"/>
          <p:cNvCxnSpPr/>
          <p:nvPr/>
        </p:nvCxnSpPr>
        <p:spPr bwMode="auto">
          <a:xfrm>
            <a:off x="2393624" y="3880225"/>
            <a:ext cx="654376" cy="0"/>
          </a:xfrm>
          <a:prstGeom prst="straightConnector1">
            <a:avLst/>
          </a:prstGeom>
          <a:ln w="28575">
            <a:solidFill>
              <a:schemeClr val="bg1">
                <a:lumMod val="50000"/>
              </a:schemeClr>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33" name="TextBox 132"/>
          <p:cNvSpPr txBox="1"/>
          <p:nvPr/>
        </p:nvSpPr>
        <p:spPr>
          <a:xfrm>
            <a:off x="2404774" y="3606910"/>
            <a:ext cx="380233" cy="276999"/>
          </a:xfrm>
          <a:prstGeom prst="rect">
            <a:avLst/>
          </a:prstGeom>
          <a:noFill/>
          <a:ln>
            <a:noFill/>
          </a:ln>
        </p:spPr>
        <p:txBody>
          <a:bodyPr wrap="none" rtlCol="0">
            <a:spAutoFit/>
          </a:bodyPr>
          <a:lstStyle/>
          <a:p>
            <a:pPr algn="ctr"/>
            <a:r>
              <a:rPr lang="en-US" altLang="ko-KR" sz="1200" b="0" dirty="0">
                <a:solidFill>
                  <a:schemeClr val="tx1"/>
                </a:solidFill>
                <a:latin typeface="+mn-ea"/>
              </a:rPr>
              <a:t>No</a:t>
            </a:r>
            <a:endParaRPr lang="ko-KR" altLang="en-US" sz="1200" b="0" dirty="0">
              <a:solidFill>
                <a:schemeClr val="tx1"/>
              </a:solidFill>
              <a:latin typeface="+mn-ea"/>
            </a:endParaRPr>
          </a:p>
        </p:txBody>
      </p:sp>
      <p:sp>
        <p:nvSpPr>
          <p:cNvPr id="134" name="TextBox 133"/>
          <p:cNvSpPr txBox="1"/>
          <p:nvPr/>
        </p:nvSpPr>
        <p:spPr>
          <a:xfrm>
            <a:off x="1420148" y="4319615"/>
            <a:ext cx="423899" cy="276999"/>
          </a:xfrm>
          <a:prstGeom prst="rect">
            <a:avLst/>
          </a:prstGeom>
          <a:noFill/>
          <a:ln>
            <a:noFill/>
          </a:ln>
        </p:spPr>
        <p:txBody>
          <a:bodyPr wrap="none" rtlCol="0">
            <a:spAutoFit/>
          </a:bodyPr>
          <a:lstStyle/>
          <a:p>
            <a:pPr algn="ctr"/>
            <a:r>
              <a:rPr lang="en-US" altLang="ko-KR" sz="1200" b="0" dirty="0">
                <a:solidFill>
                  <a:schemeClr val="tx1"/>
                </a:solidFill>
                <a:latin typeface="+mn-ea"/>
              </a:rPr>
              <a:t>Yes</a:t>
            </a:r>
            <a:endParaRPr lang="ko-KR" altLang="en-US" sz="1200" b="0" dirty="0">
              <a:solidFill>
                <a:schemeClr val="tx1"/>
              </a:solidFill>
              <a:latin typeface="+mn-ea"/>
            </a:endParaRPr>
          </a:p>
        </p:txBody>
      </p:sp>
      <p:cxnSp>
        <p:nvCxnSpPr>
          <p:cNvPr id="73" name="꺾인 연결선 72"/>
          <p:cNvCxnSpPr>
            <a:stCxn id="18" idx="3"/>
            <a:endCxn id="77" idx="1"/>
          </p:cNvCxnSpPr>
          <p:nvPr/>
        </p:nvCxnSpPr>
        <p:spPr>
          <a:xfrm flipV="1">
            <a:off x="5895974" y="1889370"/>
            <a:ext cx="683690" cy="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6" name="꺾인 연결선 135"/>
          <p:cNvCxnSpPr>
            <a:stCxn id="18" idx="3"/>
            <a:endCxn id="75" idx="1"/>
          </p:cNvCxnSpPr>
          <p:nvPr/>
        </p:nvCxnSpPr>
        <p:spPr>
          <a:xfrm>
            <a:off x="5895974" y="1889371"/>
            <a:ext cx="683690" cy="3003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꺾인 연결선 139"/>
          <p:cNvCxnSpPr>
            <a:stCxn id="18" idx="3"/>
            <a:endCxn id="76" idx="1"/>
          </p:cNvCxnSpPr>
          <p:nvPr/>
        </p:nvCxnSpPr>
        <p:spPr>
          <a:xfrm>
            <a:off x="5895974" y="1889371"/>
            <a:ext cx="683690" cy="59745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2" name="꺾인 연결선 141"/>
          <p:cNvCxnSpPr>
            <a:stCxn id="75" idx="3"/>
            <a:endCxn id="79" idx="1"/>
          </p:cNvCxnSpPr>
          <p:nvPr/>
        </p:nvCxnSpPr>
        <p:spPr>
          <a:xfrm>
            <a:off x="8458199" y="2189741"/>
            <a:ext cx="750365"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꺾인 연결선 143"/>
          <p:cNvCxnSpPr>
            <a:stCxn id="75" idx="3"/>
            <a:endCxn id="91" idx="1"/>
          </p:cNvCxnSpPr>
          <p:nvPr/>
        </p:nvCxnSpPr>
        <p:spPr>
          <a:xfrm>
            <a:off x="8458199" y="2189741"/>
            <a:ext cx="750365" cy="175822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꺾인 연결선 145"/>
          <p:cNvCxnSpPr>
            <a:stCxn id="81" idx="1"/>
            <a:endCxn id="75" idx="3"/>
          </p:cNvCxnSpPr>
          <p:nvPr/>
        </p:nvCxnSpPr>
        <p:spPr>
          <a:xfrm rot="10800000">
            <a:off x="8458200" y="2189741"/>
            <a:ext cx="750365" cy="29708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꺾인 연결선 147"/>
          <p:cNvCxnSpPr>
            <a:stCxn id="75" idx="3"/>
            <a:endCxn id="83" idx="1"/>
          </p:cNvCxnSpPr>
          <p:nvPr/>
        </p:nvCxnSpPr>
        <p:spPr>
          <a:xfrm>
            <a:off x="8458199" y="2189741"/>
            <a:ext cx="750365" cy="59617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꺾인 연결선 149"/>
          <p:cNvCxnSpPr>
            <a:stCxn id="75" idx="3"/>
            <a:endCxn id="89" idx="1"/>
          </p:cNvCxnSpPr>
          <p:nvPr/>
        </p:nvCxnSpPr>
        <p:spPr>
          <a:xfrm>
            <a:off x="8458199" y="2189741"/>
            <a:ext cx="750365" cy="1459136"/>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꺾인 연결선 152"/>
          <p:cNvCxnSpPr>
            <a:stCxn id="75" idx="3"/>
            <a:endCxn id="85" idx="1"/>
          </p:cNvCxnSpPr>
          <p:nvPr/>
        </p:nvCxnSpPr>
        <p:spPr>
          <a:xfrm>
            <a:off x="8458199" y="2189741"/>
            <a:ext cx="750365" cy="88192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꺾인 연결선 154"/>
          <p:cNvCxnSpPr>
            <a:stCxn id="75" idx="3"/>
            <a:endCxn id="87" idx="1"/>
          </p:cNvCxnSpPr>
          <p:nvPr/>
        </p:nvCxnSpPr>
        <p:spPr>
          <a:xfrm>
            <a:off x="8458199" y="2189741"/>
            <a:ext cx="750365" cy="11620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7" name="꺾인 연결선 156"/>
          <p:cNvCxnSpPr>
            <a:stCxn id="105" idx="3"/>
            <a:endCxn id="113" idx="1"/>
          </p:cNvCxnSpPr>
          <p:nvPr/>
        </p:nvCxnSpPr>
        <p:spPr>
          <a:xfrm flipV="1">
            <a:off x="5895974" y="5248956"/>
            <a:ext cx="683690" cy="31683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9" name="꺾인 연결선 158"/>
          <p:cNvCxnSpPr>
            <a:stCxn id="105" idx="3"/>
            <a:endCxn id="109" idx="1"/>
          </p:cNvCxnSpPr>
          <p:nvPr/>
        </p:nvCxnSpPr>
        <p:spPr>
          <a:xfrm flipV="1">
            <a:off x="5895974" y="5549327"/>
            <a:ext cx="683690" cy="1645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1" name="꺾인 연결선 160"/>
          <p:cNvCxnSpPr>
            <a:stCxn id="107" idx="3"/>
            <a:endCxn id="117" idx="1"/>
          </p:cNvCxnSpPr>
          <p:nvPr/>
        </p:nvCxnSpPr>
        <p:spPr>
          <a:xfrm flipV="1">
            <a:off x="5895974" y="5917127"/>
            <a:ext cx="683690" cy="3228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3" name="꺾인 연결선 162"/>
          <p:cNvCxnSpPr>
            <a:stCxn id="107" idx="3"/>
            <a:endCxn id="119" idx="1"/>
          </p:cNvCxnSpPr>
          <p:nvPr/>
        </p:nvCxnSpPr>
        <p:spPr>
          <a:xfrm>
            <a:off x="5895974" y="6239953"/>
            <a:ext cx="683690" cy="26562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5" name="꺾인 연결선 164"/>
          <p:cNvCxnSpPr>
            <a:endCxn id="115" idx="1"/>
          </p:cNvCxnSpPr>
          <p:nvPr/>
        </p:nvCxnSpPr>
        <p:spPr>
          <a:xfrm flipV="1">
            <a:off x="6229350" y="6217498"/>
            <a:ext cx="350314" cy="2245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슬라이드 번호 개체 틀 3"/>
          <p:cNvSpPr>
            <a:spLocks noGrp="1"/>
          </p:cNvSpPr>
          <p:nvPr>
            <p:ph type="sldNum" sz="quarter" idx="12"/>
          </p:nvPr>
        </p:nvSpPr>
        <p:spPr/>
        <p:txBody>
          <a:bodyPr/>
          <a:lstStyle/>
          <a:p>
            <a:r>
              <a:rPr lang="en-US" altLang="ko-KR"/>
              <a:t>403</a:t>
            </a:r>
            <a:endParaRPr lang="ko-KR" altLang="en-US"/>
          </a:p>
        </p:txBody>
      </p:sp>
    </p:spTree>
    <p:extLst>
      <p:ext uri="{BB962C8B-B14F-4D97-AF65-F5344CB8AC3E}">
        <p14:creationId xmlns:p14="http://schemas.microsoft.com/office/powerpoint/2010/main" val="1838871798"/>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특허권의 변동 개괄</a:t>
            </a:r>
          </a:p>
        </p:txBody>
      </p:sp>
      <p:sp>
        <p:nvSpPr>
          <p:cNvPr id="6" name="직사각형 5"/>
          <p:cNvSpPr/>
          <p:nvPr/>
        </p:nvSpPr>
        <p:spPr>
          <a:xfrm>
            <a:off x="885825" y="2914650"/>
            <a:ext cx="738640" cy="790575"/>
          </a:xfrm>
          <a:prstGeom prst="rect">
            <a:avLst/>
          </a:prstGeom>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변동</a:t>
            </a:r>
          </a:p>
        </p:txBody>
      </p:sp>
      <p:sp>
        <p:nvSpPr>
          <p:cNvPr id="7" name="직사각형 6"/>
          <p:cNvSpPr/>
          <p:nvPr/>
        </p:nvSpPr>
        <p:spPr>
          <a:xfrm>
            <a:off x="2465631" y="1495425"/>
            <a:ext cx="2001593" cy="478631"/>
          </a:xfrm>
          <a:prstGeom prst="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이전 및 공유</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99, 99</a:t>
            </a:r>
            <a:r>
              <a:rPr lang="ko-KR" altLang="en-US" sz="1200" dirty="0">
                <a:solidFill>
                  <a:schemeClr val="tx1"/>
                </a:solidFill>
              </a:rPr>
              <a:t>의</a:t>
            </a:r>
            <a:r>
              <a:rPr lang="en-US" altLang="ko-KR" sz="1200" dirty="0">
                <a:solidFill>
                  <a:schemeClr val="tx1"/>
                </a:solidFill>
              </a:rPr>
              <a:t>2)</a:t>
            </a:r>
            <a:endParaRPr lang="ko-KR" altLang="en-US" sz="1200" dirty="0">
              <a:solidFill>
                <a:schemeClr val="tx1"/>
              </a:solidFill>
            </a:endParaRPr>
          </a:p>
        </p:txBody>
      </p:sp>
      <p:cxnSp>
        <p:nvCxnSpPr>
          <p:cNvPr id="40" name="꺾인 연결선 39"/>
          <p:cNvCxnSpPr>
            <a:stCxn id="6" idx="3"/>
            <a:endCxn id="7" idx="1"/>
          </p:cNvCxnSpPr>
          <p:nvPr/>
        </p:nvCxnSpPr>
        <p:spPr>
          <a:xfrm flipV="1">
            <a:off x="1624465" y="1734741"/>
            <a:ext cx="841166" cy="157519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6" idx="3"/>
            <a:endCxn id="80" idx="1"/>
          </p:cNvCxnSpPr>
          <p:nvPr/>
        </p:nvCxnSpPr>
        <p:spPr>
          <a:xfrm>
            <a:off x="1624465" y="3309938"/>
            <a:ext cx="841166" cy="1737121"/>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직사각형 77"/>
          <p:cNvSpPr/>
          <p:nvPr/>
        </p:nvSpPr>
        <p:spPr>
          <a:xfrm>
            <a:off x="2465631" y="3112293"/>
            <a:ext cx="2001593" cy="478631"/>
          </a:xfrm>
          <a:prstGeom prst="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실시권</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100~118)</a:t>
            </a:r>
            <a:endParaRPr lang="ko-KR" altLang="en-US" sz="1200" dirty="0">
              <a:solidFill>
                <a:schemeClr val="tx1"/>
              </a:solidFill>
            </a:endParaRPr>
          </a:p>
        </p:txBody>
      </p:sp>
      <p:sp>
        <p:nvSpPr>
          <p:cNvPr id="80" name="직사각형 79"/>
          <p:cNvSpPr/>
          <p:nvPr/>
        </p:nvSpPr>
        <p:spPr>
          <a:xfrm>
            <a:off x="2465631" y="4807743"/>
            <a:ext cx="2001593" cy="478631"/>
          </a:xfrm>
          <a:prstGeom prst="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질권</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121~123)</a:t>
            </a:r>
            <a:endParaRPr lang="ko-KR" altLang="en-US" sz="1200" dirty="0">
              <a:solidFill>
                <a:schemeClr val="tx1"/>
              </a:solidFill>
            </a:endParaRPr>
          </a:p>
        </p:txBody>
      </p:sp>
      <p:cxnSp>
        <p:nvCxnSpPr>
          <p:cNvPr id="45" name="꺾인 연결선 44"/>
          <p:cNvCxnSpPr>
            <a:stCxn id="6" idx="3"/>
            <a:endCxn id="78" idx="1"/>
          </p:cNvCxnSpPr>
          <p:nvPr/>
        </p:nvCxnSpPr>
        <p:spPr>
          <a:xfrm>
            <a:off x="1624465" y="3309938"/>
            <a:ext cx="841166" cy="4167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8" name="직사각형 87"/>
          <p:cNvSpPr/>
          <p:nvPr/>
        </p:nvSpPr>
        <p:spPr>
          <a:xfrm>
            <a:off x="5151681" y="2511623"/>
            <a:ext cx="3411294" cy="47863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일반론</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100~102, 118)</a:t>
            </a:r>
            <a:endParaRPr lang="ko-KR" altLang="en-US" sz="1200" dirty="0">
              <a:solidFill>
                <a:schemeClr val="tx1"/>
              </a:solidFill>
            </a:endParaRPr>
          </a:p>
        </p:txBody>
      </p:sp>
      <p:sp>
        <p:nvSpPr>
          <p:cNvPr id="89" name="직사각형 88"/>
          <p:cNvSpPr/>
          <p:nvPr/>
        </p:nvSpPr>
        <p:spPr>
          <a:xfrm>
            <a:off x="5151681" y="3112292"/>
            <a:ext cx="3411294" cy="47863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법정실시권</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81</a:t>
            </a:r>
            <a:r>
              <a:rPr lang="ko-KR" altLang="en-US" sz="1200" dirty="0">
                <a:solidFill>
                  <a:schemeClr val="tx1"/>
                </a:solidFill>
              </a:rPr>
              <a:t>의</a:t>
            </a:r>
            <a:r>
              <a:rPr lang="en-US" altLang="ko-KR" sz="1200" dirty="0">
                <a:solidFill>
                  <a:schemeClr val="tx1"/>
                </a:solidFill>
              </a:rPr>
              <a:t>3, 103~105, 122, 182,183, </a:t>
            </a:r>
            <a:r>
              <a:rPr lang="ko-KR" altLang="en-US" sz="1200" dirty="0" err="1">
                <a:solidFill>
                  <a:schemeClr val="tx1"/>
                </a:solidFill>
              </a:rPr>
              <a:t>발진법</a:t>
            </a:r>
            <a:r>
              <a:rPr lang="en-US" altLang="ko-KR" sz="1200" dirty="0">
                <a:solidFill>
                  <a:schemeClr val="tx1"/>
                </a:solidFill>
              </a:rPr>
              <a:t>10①)</a:t>
            </a:r>
            <a:endParaRPr lang="ko-KR" altLang="en-US" sz="1200" dirty="0">
              <a:solidFill>
                <a:schemeClr val="tx1"/>
              </a:solidFill>
            </a:endParaRPr>
          </a:p>
        </p:txBody>
      </p:sp>
      <p:sp>
        <p:nvSpPr>
          <p:cNvPr id="90" name="직사각형 89"/>
          <p:cNvSpPr/>
          <p:nvPr/>
        </p:nvSpPr>
        <p:spPr>
          <a:xfrm>
            <a:off x="5151681" y="3694509"/>
            <a:ext cx="3411294" cy="47863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강제실시권</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106</a:t>
            </a:r>
            <a:r>
              <a:rPr lang="ko-KR" altLang="en-US" sz="1200" dirty="0">
                <a:solidFill>
                  <a:schemeClr val="tx1"/>
                </a:solidFill>
              </a:rPr>
              <a:t>의</a:t>
            </a:r>
            <a:r>
              <a:rPr lang="en-US" altLang="ko-KR" sz="1200" dirty="0">
                <a:solidFill>
                  <a:schemeClr val="tx1"/>
                </a:solidFill>
              </a:rPr>
              <a:t>2, 107~115, 138)</a:t>
            </a:r>
            <a:endParaRPr lang="ko-KR" altLang="en-US" sz="1200" dirty="0">
              <a:solidFill>
                <a:schemeClr val="tx1"/>
              </a:solidFill>
            </a:endParaRPr>
          </a:p>
        </p:txBody>
      </p:sp>
      <p:sp>
        <p:nvSpPr>
          <p:cNvPr id="91" name="직사각형 90"/>
          <p:cNvSpPr/>
          <p:nvPr/>
        </p:nvSpPr>
        <p:spPr>
          <a:xfrm>
            <a:off x="9047406" y="2276475"/>
            <a:ext cx="1506294" cy="47863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일반</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100, 102)</a:t>
            </a:r>
            <a:endParaRPr lang="ko-KR" altLang="en-US" sz="1200" dirty="0">
              <a:solidFill>
                <a:schemeClr val="tx1"/>
              </a:solidFill>
            </a:endParaRPr>
          </a:p>
        </p:txBody>
      </p:sp>
      <p:sp>
        <p:nvSpPr>
          <p:cNvPr id="93" name="직사각형 92"/>
          <p:cNvSpPr/>
          <p:nvPr/>
        </p:nvSpPr>
        <p:spPr>
          <a:xfrm>
            <a:off x="9047406" y="2825948"/>
            <a:ext cx="1506294" cy="47863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등록의 효과</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法 </a:t>
            </a:r>
            <a:r>
              <a:rPr lang="en-US" altLang="ko-KR" sz="1200" dirty="0">
                <a:solidFill>
                  <a:schemeClr val="tx1"/>
                </a:solidFill>
              </a:rPr>
              <a:t>101, 118)</a:t>
            </a:r>
            <a:endParaRPr lang="ko-KR" altLang="en-US" sz="1200" dirty="0">
              <a:solidFill>
                <a:schemeClr val="tx1"/>
              </a:solidFill>
            </a:endParaRPr>
          </a:p>
        </p:txBody>
      </p:sp>
      <p:cxnSp>
        <p:nvCxnSpPr>
          <p:cNvPr id="57" name="꺾인 연결선 56"/>
          <p:cNvCxnSpPr>
            <a:stCxn id="78" idx="3"/>
            <a:endCxn id="88" idx="1"/>
          </p:cNvCxnSpPr>
          <p:nvPr/>
        </p:nvCxnSpPr>
        <p:spPr>
          <a:xfrm flipV="1">
            <a:off x="4467224" y="2750939"/>
            <a:ext cx="684457" cy="6006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꺾인 연결선 60"/>
          <p:cNvCxnSpPr>
            <a:stCxn id="78" idx="3"/>
            <a:endCxn id="90" idx="1"/>
          </p:cNvCxnSpPr>
          <p:nvPr/>
        </p:nvCxnSpPr>
        <p:spPr>
          <a:xfrm>
            <a:off x="4467224" y="3351609"/>
            <a:ext cx="684457" cy="58221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꺾인 연결선 66"/>
          <p:cNvCxnSpPr>
            <a:stCxn id="78" idx="3"/>
            <a:endCxn id="89" idx="1"/>
          </p:cNvCxnSpPr>
          <p:nvPr/>
        </p:nvCxnSpPr>
        <p:spPr>
          <a:xfrm flipV="1">
            <a:off x="4467224" y="3351608"/>
            <a:ext cx="684457" cy="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꺾인 연결선 71"/>
          <p:cNvCxnSpPr>
            <a:stCxn id="88" idx="3"/>
            <a:endCxn id="91" idx="1"/>
          </p:cNvCxnSpPr>
          <p:nvPr/>
        </p:nvCxnSpPr>
        <p:spPr>
          <a:xfrm flipV="1">
            <a:off x="8562975" y="2515791"/>
            <a:ext cx="484431" cy="23514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꺾인 연결선 75"/>
          <p:cNvCxnSpPr>
            <a:stCxn id="88" idx="3"/>
            <a:endCxn id="93" idx="1"/>
          </p:cNvCxnSpPr>
          <p:nvPr/>
        </p:nvCxnSpPr>
        <p:spPr>
          <a:xfrm>
            <a:off x="8562975" y="2750939"/>
            <a:ext cx="484431" cy="3143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5" name="직사각형 104"/>
          <p:cNvSpPr/>
          <p:nvPr/>
        </p:nvSpPr>
        <p:spPr>
          <a:xfrm>
            <a:off x="4780206" y="1444992"/>
            <a:ext cx="4371975" cy="242974"/>
          </a:xfrm>
          <a:prstGeom prst="rect">
            <a:avLst/>
          </a:prstGeom>
          <a:noFill/>
          <a:ln>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99</a:t>
            </a:r>
            <a:r>
              <a:rPr lang="ko-KR" altLang="en-US" sz="1200" dirty="0">
                <a:solidFill>
                  <a:schemeClr val="tx1"/>
                </a:solidFill>
              </a:rPr>
              <a:t>조</a:t>
            </a:r>
            <a:r>
              <a:rPr lang="en-US" altLang="ko-KR" sz="1200" dirty="0">
                <a:solidFill>
                  <a:schemeClr val="tx1"/>
                </a:solidFill>
              </a:rPr>
              <a:t>(</a:t>
            </a:r>
            <a:r>
              <a:rPr lang="ko-KR" altLang="en-US" sz="1200" dirty="0">
                <a:solidFill>
                  <a:schemeClr val="tx1"/>
                </a:solidFill>
              </a:rPr>
              <a:t>특허권의 이전 및 공유 등</a:t>
            </a:r>
            <a:r>
              <a:rPr lang="en-US" altLang="ko-KR" sz="1200" dirty="0">
                <a:solidFill>
                  <a:schemeClr val="tx1"/>
                </a:solidFill>
              </a:rPr>
              <a:t>)</a:t>
            </a:r>
            <a:endParaRPr lang="ko-KR" altLang="en-US" sz="1200" dirty="0">
              <a:solidFill>
                <a:schemeClr val="tx1"/>
              </a:solidFill>
            </a:endParaRPr>
          </a:p>
        </p:txBody>
      </p:sp>
      <p:sp>
        <p:nvSpPr>
          <p:cNvPr id="107" name="직사각형 106"/>
          <p:cNvSpPr/>
          <p:nvPr/>
        </p:nvSpPr>
        <p:spPr>
          <a:xfrm>
            <a:off x="4780206" y="1745413"/>
            <a:ext cx="4371975" cy="242974"/>
          </a:xfrm>
          <a:prstGeom prst="rect">
            <a:avLst/>
          </a:prstGeom>
          <a:noFill/>
          <a:ln>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99</a:t>
            </a:r>
            <a:r>
              <a:rPr lang="ko-KR" altLang="en-US" sz="1200" dirty="0">
                <a:solidFill>
                  <a:schemeClr val="tx1"/>
                </a:solidFill>
              </a:rPr>
              <a:t>조의</a:t>
            </a:r>
            <a:r>
              <a:rPr lang="en-US" altLang="ko-KR" sz="1200" dirty="0">
                <a:solidFill>
                  <a:schemeClr val="tx1"/>
                </a:solidFill>
              </a:rPr>
              <a:t>2(</a:t>
            </a:r>
            <a:r>
              <a:rPr lang="ko-KR" altLang="en-US" sz="1200" dirty="0">
                <a:solidFill>
                  <a:schemeClr val="tx1"/>
                </a:solidFill>
              </a:rPr>
              <a:t>특허권의 이전청구</a:t>
            </a:r>
            <a:r>
              <a:rPr lang="en-US" altLang="ko-KR" sz="1200" dirty="0">
                <a:solidFill>
                  <a:schemeClr val="tx1"/>
                </a:solidFill>
              </a:rPr>
              <a:t>)</a:t>
            </a:r>
            <a:endParaRPr lang="ko-KR" altLang="en-US" sz="1200" dirty="0">
              <a:solidFill>
                <a:schemeClr val="tx1"/>
              </a:solidFill>
            </a:endParaRPr>
          </a:p>
        </p:txBody>
      </p:sp>
      <p:cxnSp>
        <p:nvCxnSpPr>
          <p:cNvPr id="83" name="꺾인 연결선 82"/>
          <p:cNvCxnSpPr>
            <a:stCxn id="7" idx="3"/>
            <a:endCxn id="105" idx="1"/>
          </p:cNvCxnSpPr>
          <p:nvPr/>
        </p:nvCxnSpPr>
        <p:spPr>
          <a:xfrm flipV="1">
            <a:off x="4467224" y="1566479"/>
            <a:ext cx="312982" cy="16826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꺾인 연결선 94"/>
          <p:cNvCxnSpPr>
            <a:stCxn id="7" idx="3"/>
            <a:endCxn id="107" idx="1"/>
          </p:cNvCxnSpPr>
          <p:nvPr/>
        </p:nvCxnSpPr>
        <p:spPr>
          <a:xfrm>
            <a:off x="4467224" y="1734741"/>
            <a:ext cx="312982" cy="13215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4" name="직사각형 113"/>
          <p:cNvSpPr/>
          <p:nvPr/>
        </p:nvSpPr>
        <p:spPr>
          <a:xfrm>
            <a:off x="4780206" y="4810124"/>
            <a:ext cx="4371975" cy="242974"/>
          </a:xfrm>
          <a:prstGeom prst="rect">
            <a:avLst/>
          </a:prstGeom>
          <a:noFill/>
          <a:ln>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121</a:t>
            </a:r>
            <a:r>
              <a:rPr lang="ko-KR" altLang="en-US" sz="1200" dirty="0">
                <a:solidFill>
                  <a:schemeClr val="tx1"/>
                </a:solidFill>
              </a:rPr>
              <a:t>조</a:t>
            </a:r>
            <a:r>
              <a:rPr lang="en-US" altLang="ko-KR" sz="1200" dirty="0">
                <a:solidFill>
                  <a:schemeClr val="tx1"/>
                </a:solidFill>
              </a:rPr>
              <a:t>(</a:t>
            </a:r>
            <a:r>
              <a:rPr lang="ko-KR" altLang="en-US" sz="1200" dirty="0">
                <a:solidFill>
                  <a:schemeClr val="tx1"/>
                </a:solidFill>
              </a:rPr>
              <a:t>질권</a:t>
            </a:r>
            <a:r>
              <a:rPr lang="en-US" altLang="ko-KR" sz="1200" dirty="0">
                <a:solidFill>
                  <a:schemeClr val="tx1"/>
                </a:solidFill>
              </a:rPr>
              <a:t>)</a:t>
            </a:r>
            <a:endParaRPr lang="ko-KR" altLang="en-US" sz="1200" dirty="0">
              <a:solidFill>
                <a:schemeClr val="tx1"/>
              </a:solidFill>
            </a:endParaRPr>
          </a:p>
        </p:txBody>
      </p:sp>
      <p:sp>
        <p:nvSpPr>
          <p:cNvPr id="116" name="직사각형 115"/>
          <p:cNvSpPr/>
          <p:nvPr/>
        </p:nvSpPr>
        <p:spPr>
          <a:xfrm>
            <a:off x="4780206" y="5110545"/>
            <a:ext cx="4371975" cy="242974"/>
          </a:xfrm>
          <a:prstGeom prst="rect">
            <a:avLst/>
          </a:prstGeom>
          <a:noFill/>
          <a:ln>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122</a:t>
            </a:r>
            <a:r>
              <a:rPr lang="ko-KR" altLang="en-US" sz="1200" dirty="0">
                <a:solidFill>
                  <a:schemeClr val="tx1"/>
                </a:solidFill>
              </a:rPr>
              <a:t>조</a:t>
            </a:r>
            <a:r>
              <a:rPr lang="en-US" altLang="ko-KR" sz="1200" dirty="0">
                <a:solidFill>
                  <a:schemeClr val="tx1"/>
                </a:solidFill>
              </a:rPr>
              <a:t>(</a:t>
            </a:r>
            <a:r>
              <a:rPr lang="ko-KR" altLang="en-US" sz="1200" dirty="0">
                <a:solidFill>
                  <a:schemeClr val="tx1"/>
                </a:solidFill>
              </a:rPr>
              <a:t>질권행사로 특허권의 이전에 따른 </a:t>
            </a:r>
            <a:r>
              <a:rPr lang="ko-KR" altLang="en-US" sz="1200" dirty="0" err="1">
                <a:solidFill>
                  <a:schemeClr val="tx1"/>
                </a:solidFill>
              </a:rPr>
              <a:t>통상실시권</a:t>
            </a:r>
            <a:r>
              <a:rPr lang="en-US" altLang="ko-KR" sz="1200" dirty="0">
                <a:solidFill>
                  <a:schemeClr val="tx1"/>
                </a:solidFill>
              </a:rPr>
              <a:t>)</a:t>
            </a:r>
            <a:endParaRPr lang="ko-KR" altLang="en-US" sz="1200" dirty="0">
              <a:solidFill>
                <a:schemeClr val="tx1"/>
              </a:solidFill>
            </a:endParaRPr>
          </a:p>
        </p:txBody>
      </p:sp>
      <p:sp>
        <p:nvSpPr>
          <p:cNvPr id="117" name="직사각형 116"/>
          <p:cNvSpPr/>
          <p:nvPr/>
        </p:nvSpPr>
        <p:spPr>
          <a:xfrm>
            <a:off x="4780206" y="5405820"/>
            <a:ext cx="4371975" cy="242974"/>
          </a:xfrm>
          <a:prstGeom prst="rect">
            <a:avLst/>
          </a:prstGeom>
          <a:noFill/>
          <a:ln>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123</a:t>
            </a:r>
            <a:r>
              <a:rPr lang="ko-KR" altLang="en-US" sz="1200" dirty="0">
                <a:solidFill>
                  <a:schemeClr val="tx1"/>
                </a:solidFill>
              </a:rPr>
              <a:t>조</a:t>
            </a:r>
            <a:r>
              <a:rPr lang="en-US" altLang="ko-KR" sz="1200" dirty="0">
                <a:solidFill>
                  <a:schemeClr val="tx1"/>
                </a:solidFill>
              </a:rPr>
              <a:t>(</a:t>
            </a:r>
            <a:r>
              <a:rPr lang="ko-KR" altLang="en-US" sz="1200" dirty="0">
                <a:solidFill>
                  <a:schemeClr val="tx1"/>
                </a:solidFill>
              </a:rPr>
              <a:t>질권자의 물상대위</a:t>
            </a:r>
            <a:r>
              <a:rPr lang="en-US" altLang="ko-KR" sz="1200" dirty="0">
                <a:solidFill>
                  <a:schemeClr val="tx1"/>
                </a:solidFill>
              </a:rPr>
              <a:t>)</a:t>
            </a:r>
            <a:endParaRPr lang="ko-KR" altLang="en-US" sz="1200" dirty="0">
              <a:solidFill>
                <a:schemeClr val="tx1"/>
              </a:solidFill>
            </a:endParaRPr>
          </a:p>
        </p:txBody>
      </p:sp>
      <p:cxnSp>
        <p:nvCxnSpPr>
          <p:cNvPr id="108" name="꺾인 연결선 107"/>
          <p:cNvCxnSpPr>
            <a:stCxn id="80" idx="3"/>
            <a:endCxn id="114" idx="1"/>
          </p:cNvCxnSpPr>
          <p:nvPr/>
        </p:nvCxnSpPr>
        <p:spPr>
          <a:xfrm flipV="1">
            <a:off x="4467224" y="4931611"/>
            <a:ext cx="312982" cy="11544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꺾인 연결선 112"/>
          <p:cNvCxnSpPr>
            <a:stCxn id="80" idx="3"/>
            <a:endCxn id="117" idx="1"/>
          </p:cNvCxnSpPr>
          <p:nvPr/>
        </p:nvCxnSpPr>
        <p:spPr>
          <a:xfrm>
            <a:off x="4467224" y="5047059"/>
            <a:ext cx="312982" cy="48024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꺾인 연결선 119"/>
          <p:cNvCxnSpPr>
            <a:stCxn id="80" idx="3"/>
            <a:endCxn id="116" idx="1"/>
          </p:cNvCxnSpPr>
          <p:nvPr/>
        </p:nvCxnSpPr>
        <p:spPr>
          <a:xfrm>
            <a:off x="4467224" y="5047059"/>
            <a:ext cx="312982" cy="18497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404</a:t>
            </a:r>
            <a:endParaRPr lang="ko-KR" altLang="en-US"/>
          </a:p>
        </p:txBody>
      </p:sp>
    </p:spTree>
    <p:extLst>
      <p:ext uri="{BB962C8B-B14F-4D97-AF65-F5344CB8AC3E}">
        <p14:creationId xmlns:p14="http://schemas.microsoft.com/office/powerpoint/2010/main" val="1929743888"/>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99</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제</a:t>
            </a:r>
            <a:r>
              <a:rPr lang="en-US" altLang="ko-KR" dirty="0"/>
              <a:t>37</a:t>
            </a:r>
            <a:r>
              <a:rPr lang="ko-KR" altLang="en-US" dirty="0"/>
              <a:t>조와 제</a:t>
            </a:r>
            <a:r>
              <a:rPr lang="en-US" altLang="ko-KR" dirty="0"/>
              <a:t>99</a:t>
            </a:r>
            <a:r>
              <a:rPr lang="ko-KR" altLang="en-US" dirty="0"/>
              <a:t>조 법조문의 비교</a:t>
            </a:r>
          </a:p>
        </p:txBody>
      </p:sp>
      <p:cxnSp>
        <p:nvCxnSpPr>
          <p:cNvPr id="31" name="직선 연결선 30"/>
          <p:cNvCxnSpPr/>
          <p:nvPr/>
        </p:nvCxnSpPr>
        <p:spPr>
          <a:xfrm flipH="1" flipV="1">
            <a:off x="6091328" y="1050924"/>
            <a:ext cx="1" cy="553085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Rectangle 1"/>
          <p:cNvSpPr>
            <a:spLocks noChangeArrowheads="1"/>
          </p:cNvSpPr>
          <p:nvPr/>
        </p:nvSpPr>
        <p:spPr bwMode="auto">
          <a:xfrm>
            <a:off x="333372" y="1893192"/>
            <a:ext cx="55149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sz="1400" b="1" i="0" u="none" strike="noStrike" cap="none" normalizeH="0" baseline="0" dirty="0">
                <a:ln>
                  <a:noFill/>
                </a:ln>
                <a:solidFill>
                  <a:srgbClr val="151594"/>
                </a:solidFill>
                <a:effectLst/>
                <a:latin typeface="+mn-ea"/>
                <a:cs typeface="굴림" pitchFamily="50" charset="-127"/>
              </a:rPr>
              <a:t>제</a:t>
            </a:r>
            <a:r>
              <a:rPr kumimoji="1" lang="ko-KR" altLang="ko-KR" sz="1400" b="1" i="0" u="none" strike="noStrike" cap="none" normalizeH="0" baseline="0" dirty="0">
                <a:ln>
                  <a:noFill/>
                </a:ln>
                <a:solidFill>
                  <a:srgbClr val="151594"/>
                </a:solidFill>
                <a:effectLst/>
                <a:latin typeface="+mn-ea"/>
                <a:cs typeface="굴림" pitchFamily="50" charset="-127"/>
              </a:rPr>
              <a:t>37</a:t>
            </a:r>
            <a:r>
              <a:rPr kumimoji="1" lang="ko-KR" sz="1400" b="1" i="0" u="none" strike="noStrike" cap="none" normalizeH="0" baseline="0" dirty="0">
                <a:ln>
                  <a:noFill/>
                </a:ln>
                <a:solidFill>
                  <a:srgbClr val="151594"/>
                </a:solidFill>
                <a:effectLst/>
                <a:latin typeface="+mn-ea"/>
                <a:cs typeface="굴림" pitchFamily="50" charset="-127"/>
              </a:rPr>
              <a:t>조</a:t>
            </a:r>
            <a:r>
              <a:rPr kumimoji="1" lang="ko-KR" altLang="ko-KR" sz="1400" b="1" i="0" u="none" strike="noStrike" cap="none" normalizeH="0" baseline="0" dirty="0">
                <a:ln>
                  <a:noFill/>
                </a:ln>
                <a:solidFill>
                  <a:srgbClr val="151594"/>
                </a:solidFill>
                <a:effectLst/>
                <a:latin typeface="+mn-ea"/>
                <a:cs typeface="굴림" pitchFamily="50" charset="-127"/>
              </a:rPr>
              <a:t>(</a:t>
            </a:r>
            <a:r>
              <a:rPr kumimoji="1" lang="ko-KR" sz="1400" b="1" i="0" u="none" strike="noStrike" cap="none" normalizeH="0" baseline="0" dirty="0">
                <a:ln>
                  <a:noFill/>
                </a:ln>
                <a:solidFill>
                  <a:srgbClr val="151594"/>
                </a:solidFill>
                <a:effectLst/>
                <a:latin typeface="+mn-ea"/>
                <a:cs typeface="굴림" pitchFamily="50" charset="-127"/>
              </a:rPr>
              <a:t>특허를 받을 수 있는 권리의 이전 등</a:t>
            </a:r>
            <a:r>
              <a:rPr kumimoji="1" lang="ko-KR" altLang="ko-KR" sz="1400" b="1" i="0" u="none" strike="noStrike" cap="none" normalizeH="0" baseline="0" dirty="0">
                <a:ln>
                  <a:noFill/>
                </a:ln>
                <a:solidFill>
                  <a:srgbClr val="151594"/>
                </a:solidFill>
                <a:effectLst/>
                <a:latin typeface="+mn-ea"/>
                <a:cs typeface="굴림" pitchFamily="50" charset="-127"/>
              </a:rPr>
              <a:t>)</a:t>
            </a:r>
            <a:r>
              <a:rPr kumimoji="1" lang="ko-KR" altLang="ko-KR" sz="1400" b="0" i="0" u="none" strike="noStrike" cap="none" normalizeH="0" baseline="0" dirty="0">
                <a:ln>
                  <a:noFill/>
                </a:ln>
                <a:solidFill>
                  <a:srgbClr val="444444"/>
                </a:solidFill>
                <a:effectLst/>
                <a:latin typeface="+mn-ea"/>
                <a:cs typeface="굴림" pitchFamily="50" charset="-127"/>
              </a:rPr>
              <a:t> </a:t>
            </a:r>
            <a:endParaRPr kumimoji="1" lang="en-US" altLang="ko-KR" sz="1400" b="0" i="0" u="none" strike="noStrike" cap="none" normalizeH="0" baseline="0" dirty="0">
              <a:ln>
                <a:noFill/>
              </a:ln>
              <a:solidFill>
                <a:srgbClr val="444444"/>
              </a:solidFill>
              <a:effectLst/>
              <a:latin typeface="+mn-ea"/>
              <a:cs typeface="굴림" pitchFamily="50" charset="-127"/>
            </a:endParaRPr>
          </a:p>
        </p:txBody>
      </p:sp>
      <p:sp>
        <p:nvSpPr>
          <p:cNvPr id="5" name="Rectangle 2"/>
          <p:cNvSpPr>
            <a:spLocks noChangeArrowheads="1"/>
          </p:cNvSpPr>
          <p:nvPr/>
        </p:nvSpPr>
        <p:spPr bwMode="auto">
          <a:xfrm>
            <a:off x="6405562" y="1876523"/>
            <a:ext cx="546258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sz="1400" b="1" i="0" u="none" strike="noStrike" cap="none" normalizeH="0" baseline="0" dirty="0">
                <a:ln>
                  <a:noFill/>
                </a:ln>
                <a:solidFill>
                  <a:srgbClr val="151594"/>
                </a:solidFill>
                <a:effectLst/>
                <a:latin typeface="+mn-ea"/>
                <a:cs typeface="굴림" pitchFamily="50" charset="-127"/>
              </a:rPr>
              <a:t>제</a:t>
            </a:r>
            <a:r>
              <a:rPr kumimoji="1" lang="ko-KR" altLang="ko-KR" sz="1400" b="1" i="0" u="none" strike="noStrike" cap="none" normalizeH="0" baseline="0" dirty="0">
                <a:ln>
                  <a:noFill/>
                </a:ln>
                <a:solidFill>
                  <a:srgbClr val="151594"/>
                </a:solidFill>
                <a:effectLst/>
                <a:latin typeface="+mn-ea"/>
                <a:cs typeface="굴림" pitchFamily="50" charset="-127"/>
              </a:rPr>
              <a:t>99</a:t>
            </a:r>
            <a:r>
              <a:rPr kumimoji="1" lang="ko-KR" sz="1400" b="1" i="0" u="none" strike="noStrike" cap="none" normalizeH="0" baseline="0" dirty="0">
                <a:ln>
                  <a:noFill/>
                </a:ln>
                <a:solidFill>
                  <a:srgbClr val="151594"/>
                </a:solidFill>
                <a:effectLst/>
                <a:latin typeface="+mn-ea"/>
                <a:cs typeface="굴림" pitchFamily="50" charset="-127"/>
              </a:rPr>
              <a:t>조</a:t>
            </a:r>
            <a:r>
              <a:rPr kumimoji="1" lang="ko-KR" altLang="ko-KR" sz="1400" b="1" i="0" u="none" strike="noStrike" cap="none" normalizeH="0" baseline="0" dirty="0">
                <a:ln>
                  <a:noFill/>
                </a:ln>
                <a:solidFill>
                  <a:srgbClr val="151594"/>
                </a:solidFill>
                <a:effectLst/>
                <a:latin typeface="+mn-ea"/>
                <a:cs typeface="굴림" pitchFamily="50" charset="-127"/>
              </a:rPr>
              <a:t>(</a:t>
            </a:r>
            <a:r>
              <a:rPr kumimoji="1" lang="ko-KR" sz="1400" b="1" i="0" u="none" strike="noStrike" cap="none" normalizeH="0" baseline="0" dirty="0">
                <a:ln>
                  <a:noFill/>
                </a:ln>
                <a:solidFill>
                  <a:srgbClr val="151594"/>
                </a:solidFill>
                <a:effectLst/>
                <a:latin typeface="+mn-ea"/>
                <a:cs typeface="굴림" pitchFamily="50" charset="-127"/>
              </a:rPr>
              <a:t>특허권의 이전 및 공유 등</a:t>
            </a:r>
            <a:r>
              <a:rPr kumimoji="1" lang="ko-KR" altLang="ko-KR" sz="1400" b="1" i="0" u="none" strike="noStrike" cap="none" normalizeH="0" baseline="0" dirty="0">
                <a:ln>
                  <a:noFill/>
                </a:ln>
                <a:solidFill>
                  <a:srgbClr val="151594"/>
                </a:solidFill>
                <a:effectLst/>
                <a:latin typeface="+mn-ea"/>
                <a:cs typeface="굴림" pitchFamily="50" charset="-127"/>
              </a:rPr>
              <a:t>)</a:t>
            </a:r>
            <a:r>
              <a:rPr kumimoji="1" lang="ko-KR" altLang="ko-KR" sz="1400" b="0" i="0" u="none" strike="noStrike" cap="none" normalizeH="0" baseline="0" dirty="0">
                <a:ln>
                  <a:noFill/>
                </a:ln>
                <a:solidFill>
                  <a:srgbClr val="444444"/>
                </a:solidFill>
                <a:effectLst/>
                <a:latin typeface="+mn-ea"/>
                <a:cs typeface="굴림" pitchFamily="50" charset="-127"/>
              </a:rPr>
              <a:t> </a:t>
            </a:r>
            <a:endParaRPr kumimoji="1" lang="en-US" altLang="ko-KR" sz="1400" b="0" i="0" u="none" strike="noStrike" cap="none" normalizeH="0" baseline="0" dirty="0">
              <a:ln>
                <a:noFill/>
              </a:ln>
              <a:solidFill>
                <a:srgbClr val="444444"/>
              </a:solidFill>
              <a:effectLst/>
              <a:latin typeface="+mn-ea"/>
              <a:cs typeface="굴림" pitchFamily="50" charset="-127"/>
            </a:endParaRPr>
          </a:p>
        </p:txBody>
      </p:sp>
      <p:sp>
        <p:nvSpPr>
          <p:cNvPr id="33" name="Rectangle 1"/>
          <p:cNvSpPr>
            <a:spLocks noChangeArrowheads="1"/>
          </p:cNvSpPr>
          <p:nvPr/>
        </p:nvSpPr>
        <p:spPr bwMode="auto">
          <a:xfrm>
            <a:off x="333372" y="3138020"/>
            <a:ext cx="5514975" cy="523220"/>
          </a:xfrm>
          <a:prstGeom prst="rect">
            <a:avLst/>
          </a:prstGeom>
          <a:solidFill>
            <a:schemeClr val="accent1">
              <a:lumMod val="20000"/>
              <a:lumOff val="80000"/>
            </a:schemeClr>
          </a:solidFill>
          <a:ln w="9525">
            <a:solidFill>
              <a:schemeClr val="tx1"/>
            </a:solidFill>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altLang="ko-KR" sz="1400" b="0" i="0" u="none" strike="noStrike" cap="none" normalizeH="0" baseline="0" dirty="0">
                <a:ln>
                  <a:noFill/>
                </a:ln>
                <a:solidFill>
                  <a:srgbClr val="444444"/>
                </a:solidFill>
                <a:effectLst/>
                <a:latin typeface="+mn-ea"/>
                <a:cs typeface="굴림" pitchFamily="50" charset="-127"/>
              </a:rPr>
              <a:t>③ </a:t>
            </a:r>
            <a:r>
              <a:rPr kumimoji="1" lang="ko-KR" sz="1400" b="0" i="0" u="none" strike="noStrike" cap="none" normalizeH="0" baseline="0" dirty="0">
                <a:ln>
                  <a:noFill/>
                </a:ln>
                <a:solidFill>
                  <a:srgbClr val="444444"/>
                </a:solidFill>
                <a:effectLst/>
                <a:latin typeface="+mn-ea"/>
                <a:cs typeface="굴림" pitchFamily="50" charset="-127"/>
              </a:rPr>
              <a:t>특허를 받을 수 있는 권리가 공유인 경우에는 각 공유자는 다른 공유자 모두의 동의를 받아야만 그 지분을 양도할 수 있다</a:t>
            </a:r>
            <a:r>
              <a:rPr kumimoji="1" lang="ko-KR" altLang="ko-KR" sz="1400" b="0" i="0" u="none" strike="noStrike" cap="none" normalizeH="0" baseline="0" dirty="0">
                <a:ln>
                  <a:noFill/>
                </a:ln>
                <a:solidFill>
                  <a:srgbClr val="444444"/>
                </a:solidFill>
                <a:effectLst/>
                <a:latin typeface="+mn-ea"/>
                <a:cs typeface="굴림" pitchFamily="50" charset="-127"/>
              </a:rPr>
              <a:t>.</a:t>
            </a:r>
            <a:endParaRPr kumimoji="1" lang="ko-KR" altLang="ko-KR" sz="1400" b="0" i="0" u="none" strike="noStrike" cap="none" normalizeH="0" baseline="0" dirty="0">
              <a:ln>
                <a:noFill/>
              </a:ln>
              <a:solidFill>
                <a:schemeClr val="tx1"/>
              </a:solidFill>
              <a:effectLst/>
              <a:latin typeface="+mn-ea"/>
              <a:cs typeface="굴림" pitchFamily="50" charset="-127"/>
            </a:endParaRPr>
          </a:p>
        </p:txBody>
      </p:sp>
      <p:sp>
        <p:nvSpPr>
          <p:cNvPr id="42" name="Rectangle 1"/>
          <p:cNvSpPr>
            <a:spLocks noChangeArrowheads="1"/>
          </p:cNvSpPr>
          <p:nvPr/>
        </p:nvSpPr>
        <p:spPr bwMode="auto">
          <a:xfrm>
            <a:off x="333372" y="2362296"/>
            <a:ext cx="5514975" cy="307777"/>
          </a:xfrm>
          <a:prstGeom prst="rect">
            <a:avLst/>
          </a:prstGeom>
          <a:solidFill>
            <a:schemeClr val="accent1">
              <a:lumMod val="20000"/>
              <a:lumOff val="80000"/>
            </a:schemeClr>
          </a:solidFill>
          <a:ln w="9525">
            <a:solidFill>
              <a:schemeClr val="tx1"/>
            </a:solidFill>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altLang="ko-KR" sz="1400" b="0" i="0" u="none" strike="noStrike" cap="none" normalizeH="0" baseline="0" dirty="0">
                <a:ln>
                  <a:noFill/>
                </a:ln>
                <a:solidFill>
                  <a:srgbClr val="444444"/>
                </a:solidFill>
                <a:effectLst/>
                <a:latin typeface="+mn-ea"/>
                <a:cs typeface="굴림" pitchFamily="50" charset="-127"/>
              </a:rPr>
              <a:t>① </a:t>
            </a:r>
            <a:r>
              <a:rPr kumimoji="1" lang="ko-KR" sz="1400" b="0" i="0" u="none" strike="noStrike" cap="none" normalizeH="0" baseline="0" dirty="0">
                <a:ln>
                  <a:noFill/>
                </a:ln>
                <a:solidFill>
                  <a:srgbClr val="444444"/>
                </a:solidFill>
                <a:effectLst/>
                <a:latin typeface="+mn-ea"/>
                <a:cs typeface="굴림" pitchFamily="50" charset="-127"/>
              </a:rPr>
              <a:t>특허를 받을 수 있는 권리는 </a:t>
            </a:r>
            <a:r>
              <a:rPr kumimoji="1" lang="ko-KR" sz="1400" b="0" i="0" u="none" strike="noStrike" cap="none" normalizeH="0" baseline="0" dirty="0">
                <a:ln>
                  <a:noFill/>
                </a:ln>
                <a:solidFill>
                  <a:srgbClr val="FF0000"/>
                </a:solidFill>
                <a:effectLst/>
                <a:latin typeface="+mn-ea"/>
                <a:cs typeface="굴림" pitchFamily="50" charset="-127"/>
              </a:rPr>
              <a:t>이전</a:t>
            </a:r>
            <a:r>
              <a:rPr kumimoji="1" lang="ko-KR" sz="1400" b="0" i="0" u="none" strike="noStrike" cap="none" normalizeH="0" baseline="0" dirty="0">
                <a:ln>
                  <a:noFill/>
                </a:ln>
                <a:solidFill>
                  <a:srgbClr val="444444"/>
                </a:solidFill>
                <a:effectLst/>
                <a:latin typeface="+mn-ea"/>
                <a:cs typeface="굴림" pitchFamily="50" charset="-127"/>
              </a:rPr>
              <a:t>할 수 있다</a:t>
            </a:r>
            <a:r>
              <a:rPr kumimoji="1" lang="ko-KR" altLang="ko-KR" sz="1400" b="0" i="0" u="none" strike="noStrike" cap="none" normalizeH="0" baseline="0" dirty="0">
                <a:ln>
                  <a:noFill/>
                </a:ln>
                <a:solidFill>
                  <a:srgbClr val="444444"/>
                </a:solidFill>
                <a:effectLst/>
                <a:latin typeface="+mn-ea"/>
                <a:cs typeface="굴림" pitchFamily="50" charset="-127"/>
              </a:rPr>
              <a:t>.</a:t>
            </a:r>
            <a:endParaRPr kumimoji="1" lang="ko-KR" altLang="ko-KR" sz="1400" b="0" i="0" u="none" strike="noStrike" cap="none" normalizeH="0" baseline="0" dirty="0">
              <a:ln>
                <a:noFill/>
              </a:ln>
              <a:solidFill>
                <a:schemeClr val="tx1"/>
              </a:solidFill>
              <a:effectLst/>
              <a:latin typeface="+mn-ea"/>
              <a:cs typeface="굴림" pitchFamily="50" charset="-127"/>
            </a:endParaRPr>
          </a:p>
        </p:txBody>
      </p:sp>
      <p:sp>
        <p:nvSpPr>
          <p:cNvPr id="44" name="Rectangle 1"/>
          <p:cNvSpPr>
            <a:spLocks noChangeArrowheads="1"/>
          </p:cNvSpPr>
          <p:nvPr/>
        </p:nvSpPr>
        <p:spPr bwMode="auto">
          <a:xfrm>
            <a:off x="333372" y="2753834"/>
            <a:ext cx="5514975" cy="307777"/>
          </a:xfrm>
          <a:prstGeom prst="rect">
            <a:avLst/>
          </a:prstGeom>
          <a:solidFill>
            <a:schemeClr val="accent1">
              <a:lumMod val="20000"/>
              <a:lumOff val="80000"/>
            </a:schemeClr>
          </a:solidFill>
          <a:ln w="9525">
            <a:solidFill>
              <a:schemeClr val="tx1"/>
            </a:solidFill>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altLang="ko-KR" sz="1400" b="0" i="0" u="none" strike="noStrike" cap="none" normalizeH="0" baseline="0" dirty="0">
                <a:ln>
                  <a:noFill/>
                </a:ln>
                <a:solidFill>
                  <a:srgbClr val="444444"/>
                </a:solidFill>
                <a:effectLst/>
                <a:latin typeface="+mn-ea"/>
                <a:cs typeface="굴림" pitchFamily="50" charset="-127"/>
              </a:rPr>
              <a:t>② </a:t>
            </a:r>
            <a:r>
              <a:rPr kumimoji="1" lang="ko-KR" sz="1400" b="0" i="0" u="none" strike="noStrike" cap="none" normalizeH="0" baseline="0" dirty="0">
                <a:ln>
                  <a:noFill/>
                </a:ln>
                <a:solidFill>
                  <a:srgbClr val="444444"/>
                </a:solidFill>
                <a:effectLst/>
                <a:latin typeface="+mn-ea"/>
                <a:cs typeface="굴림" pitchFamily="50" charset="-127"/>
              </a:rPr>
              <a:t>특허를 받을 수 있는 권리는 질권의 목적으로 할 수 없다</a:t>
            </a:r>
            <a:r>
              <a:rPr kumimoji="1" lang="ko-KR" altLang="ko-KR" sz="1400" b="0" i="0" u="none" strike="noStrike" cap="none" normalizeH="0" baseline="0" dirty="0">
                <a:ln>
                  <a:noFill/>
                </a:ln>
                <a:solidFill>
                  <a:srgbClr val="444444"/>
                </a:solidFill>
                <a:effectLst/>
                <a:latin typeface="+mn-ea"/>
                <a:cs typeface="굴림" pitchFamily="50" charset="-127"/>
              </a:rPr>
              <a:t>.</a:t>
            </a:r>
            <a:endParaRPr kumimoji="1" lang="ko-KR" altLang="ko-KR" sz="1400" b="0" i="0" u="none" strike="noStrike" cap="none" normalizeH="0" baseline="0" dirty="0">
              <a:ln>
                <a:noFill/>
              </a:ln>
              <a:solidFill>
                <a:schemeClr val="tx1"/>
              </a:solidFill>
              <a:effectLst/>
              <a:latin typeface="+mn-ea"/>
              <a:cs typeface="굴림" pitchFamily="50" charset="-127"/>
            </a:endParaRPr>
          </a:p>
        </p:txBody>
      </p:sp>
      <p:sp>
        <p:nvSpPr>
          <p:cNvPr id="47" name="Rectangle 2"/>
          <p:cNvSpPr>
            <a:spLocks noChangeArrowheads="1"/>
          </p:cNvSpPr>
          <p:nvPr/>
        </p:nvSpPr>
        <p:spPr bwMode="auto">
          <a:xfrm>
            <a:off x="6405562" y="3595339"/>
            <a:ext cx="5462588" cy="1384995"/>
          </a:xfrm>
          <a:prstGeom prst="rect">
            <a:avLst/>
          </a:prstGeom>
          <a:solidFill>
            <a:schemeClr val="accent4">
              <a:lumMod val="20000"/>
              <a:lumOff val="80000"/>
            </a:schemeClr>
          </a:solidFill>
          <a:ln w="9525">
            <a:solidFill>
              <a:schemeClr val="tx1"/>
            </a:solidFill>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altLang="ko-KR" sz="1400" b="0" i="0" u="none" strike="noStrike" cap="none" normalizeH="0" baseline="0" dirty="0">
                <a:ln>
                  <a:noFill/>
                </a:ln>
                <a:solidFill>
                  <a:srgbClr val="444444"/>
                </a:solidFill>
                <a:effectLst/>
                <a:latin typeface="+mn-ea"/>
                <a:cs typeface="굴림" pitchFamily="50" charset="-127"/>
              </a:rPr>
              <a:t>③ </a:t>
            </a:r>
            <a:r>
              <a:rPr kumimoji="1" lang="ko-KR" sz="1400" b="0" i="0" u="none" strike="noStrike" cap="none" normalizeH="0" baseline="0" dirty="0">
                <a:ln>
                  <a:noFill/>
                </a:ln>
                <a:solidFill>
                  <a:srgbClr val="444444"/>
                </a:solidFill>
                <a:effectLst/>
                <a:latin typeface="+mn-ea"/>
                <a:cs typeface="굴림" pitchFamily="50" charset="-127"/>
              </a:rPr>
              <a:t>특허권이 공유인 경우에는 각 공유자는 계약으로 특별히 약정한 경우를 제외하고는 다른 공유자의 동의를 받지 아니하고 그 특허발명을 자신이 실시할 수 있다</a:t>
            </a:r>
            <a:r>
              <a:rPr kumimoji="1" lang="ko-KR" altLang="ko-KR" sz="1400" b="0" i="0" u="none" strike="noStrike" cap="none" normalizeH="0" baseline="0" dirty="0">
                <a:ln>
                  <a:noFill/>
                </a:ln>
                <a:solidFill>
                  <a:srgbClr val="444444"/>
                </a:solidFill>
                <a:effectLst/>
                <a:latin typeface="+mn-ea"/>
                <a:cs typeface="굴림" pitchFamily="50" charset="-127"/>
              </a:rPr>
              <a:t>.</a:t>
            </a:r>
            <a:endParaRPr kumimoji="1" lang="ko-KR" altLang="ko-KR" sz="1400" b="0" i="0" u="none" strike="noStrike" cap="none" normalizeH="0" baseline="0" dirty="0">
              <a:ln>
                <a:noFill/>
              </a:ln>
              <a:solidFill>
                <a:schemeClr val="tx1"/>
              </a:solidFill>
              <a:effectLst/>
              <a:latin typeface="+mn-ea"/>
              <a:cs typeface="굴림" pitchFamily="50" charset="-127"/>
            </a:endParaRPr>
          </a:p>
          <a:p>
            <a:pPr marL="0" marR="0" lvl="0" indent="0" algn="l" defTabSz="914400" rtl="0" eaLnBrk="0" fontAlgn="base" latinLnBrk="0" hangingPunct="0">
              <a:lnSpc>
                <a:spcPct val="100000"/>
              </a:lnSpc>
              <a:spcBef>
                <a:spcPct val="0"/>
              </a:spcBef>
              <a:spcAft>
                <a:spcPct val="0"/>
              </a:spcAft>
              <a:buClrTx/>
              <a:buSzTx/>
              <a:buFontTx/>
              <a:buNone/>
              <a:tabLst/>
            </a:pPr>
            <a:r>
              <a:rPr kumimoji="1" lang="ko-KR" altLang="ko-KR" sz="1400" b="0" i="0" u="none" strike="noStrike" cap="none" normalizeH="0" baseline="0" dirty="0">
                <a:ln>
                  <a:noFill/>
                </a:ln>
                <a:solidFill>
                  <a:srgbClr val="444444"/>
                </a:solidFill>
                <a:effectLst/>
                <a:latin typeface="+mn-ea"/>
                <a:cs typeface="굴림" pitchFamily="50" charset="-127"/>
              </a:rPr>
              <a:t>④ </a:t>
            </a:r>
            <a:r>
              <a:rPr kumimoji="1" lang="ko-KR" sz="1400" b="0" i="0" u="none" strike="noStrike" cap="none" normalizeH="0" baseline="0" dirty="0">
                <a:ln>
                  <a:noFill/>
                </a:ln>
                <a:solidFill>
                  <a:srgbClr val="444444"/>
                </a:solidFill>
                <a:effectLst/>
                <a:latin typeface="+mn-ea"/>
                <a:cs typeface="굴림" pitchFamily="50" charset="-127"/>
              </a:rPr>
              <a:t>특허권이 공유인 경우에는 각 공유자는 다른 공유자 모두의 동의를 받아야만 </a:t>
            </a:r>
            <a:r>
              <a:rPr kumimoji="1" lang="ko-KR" sz="1400" b="0" i="0" u="none" strike="noStrike" cap="none" normalizeH="0" baseline="0" dirty="0">
                <a:ln>
                  <a:noFill/>
                </a:ln>
                <a:solidFill>
                  <a:srgbClr val="FF0000"/>
                </a:solidFill>
                <a:effectLst/>
                <a:latin typeface="+mn-ea"/>
                <a:cs typeface="굴림" pitchFamily="50" charset="-127"/>
              </a:rPr>
              <a:t>그 특허권</a:t>
            </a:r>
            <a:r>
              <a:rPr kumimoji="1" lang="ko-KR" sz="1400" b="0" i="0" u="none" strike="noStrike" cap="none" normalizeH="0" baseline="0" dirty="0">
                <a:ln>
                  <a:noFill/>
                </a:ln>
                <a:solidFill>
                  <a:srgbClr val="444444"/>
                </a:solidFill>
                <a:effectLst/>
                <a:latin typeface="+mn-ea"/>
                <a:cs typeface="굴림" pitchFamily="50" charset="-127"/>
              </a:rPr>
              <a:t>에 대하여 </a:t>
            </a:r>
            <a:r>
              <a:rPr kumimoji="1" lang="ko-KR" sz="1400" b="0" i="0" u="none" strike="noStrike" cap="none" normalizeH="0" baseline="0" dirty="0" err="1">
                <a:ln>
                  <a:noFill/>
                </a:ln>
                <a:solidFill>
                  <a:srgbClr val="444444"/>
                </a:solidFill>
                <a:effectLst/>
                <a:latin typeface="+mn-ea"/>
                <a:cs typeface="굴림" pitchFamily="50" charset="-127"/>
              </a:rPr>
              <a:t>전용실시권을</a:t>
            </a:r>
            <a:r>
              <a:rPr kumimoji="1" lang="ko-KR" sz="1400" b="0" i="0" u="none" strike="noStrike" cap="none" normalizeH="0" baseline="0" dirty="0">
                <a:ln>
                  <a:noFill/>
                </a:ln>
                <a:solidFill>
                  <a:srgbClr val="444444"/>
                </a:solidFill>
                <a:effectLst/>
                <a:latin typeface="+mn-ea"/>
                <a:cs typeface="굴림" pitchFamily="50" charset="-127"/>
              </a:rPr>
              <a:t> </a:t>
            </a:r>
            <a:r>
              <a:rPr kumimoji="1" lang="ko-KR" sz="1400" b="0" i="0" u="none" strike="noStrike" cap="none" normalizeH="0" baseline="0" dirty="0">
                <a:ln>
                  <a:noFill/>
                </a:ln>
                <a:solidFill>
                  <a:srgbClr val="FF0000"/>
                </a:solidFill>
                <a:effectLst/>
                <a:latin typeface="+mn-ea"/>
                <a:cs typeface="굴림" pitchFamily="50" charset="-127"/>
              </a:rPr>
              <a:t>설정</a:t>
            </a:r>
            <a:r>
              <a:rPr kumimoji="1" lang="ko-KR" sz="1400" b="0" i="0" u="none" strike="noStrike" cap="none" normalizeH="0" baseline="0" dirty="0">
                <a:ln>
                  <a:noFill/>
                </a:ln>
                <a:solidFill>
                  <a:srgbClr val="444444"/>
                </a:solidFill>
                <a:effectLst/>
                <a:latin typeface="+mn-ea"/>
                <a:cs typeface="굴림" pitchFamily="50" charset="-127"/>
              </a:rPr>
              <a:t>하거나 </a:t>
            </a:r>
            <a:r>
              <a:rPr kumimoji="1" lang="ko-KR" sz="1400" b="0" i="0" u="none" strike="noStrike" cap="none" normalizeH="0" baseline="0" dirty="0" err="1">
                <a:ln>
                  <a:noFill/>
                </a:ln>
                <a:solidFill>
                  <a:srgbClr val="444444"/>
                </a:solidFill>
                <a:effectLst/>
                <a:latin typeface="+mn-ea"/>
                <a:cs typeface="굴림" pitchFamily="50" charset="-127"/>
              </a:rPr>
              <a:t>통상실시권을</a:t>
            </a:r>
            <a:r>
              <a:rPr kumimoji="1" lang="ko-KR" sz="1400" b="0" i="0" u="none" strike="noStrike" cap="none" normalizeH="0" baseline="0" dirty="0">
                <a:ln>
                  <a:noFill/>
                </a:ln>
                <a:solidFill>
                  <a:srgbClr val="444444"/>
                </a:solidFill>
                <a:effectLst/>
                <a:latin typeface="+mn-ea"/>
                <a:cs typeface="굴림" pitchFamily="50" charset="-127"/>
              </a:rPr>
              <a:t> </a:t>
            </a:r>
            <a:r>
              <a:rPr kumimoji="1" lang="ko-KR" sz="1400" b="0" i="0" u="none" strike="noStrike" cap="none" normalizeH="0" baseline="0" dirty="0">
                <a:ln>
                  <a:noFill/>
                </a:ln>
                <a:solidFill>
                  <a:srgbClr val="FF0000"/>
                </a:solidFill>
                <a:effectLst/>
                <a:latin typeface="+mn-ea"/>
                <a:cs typeface="굴림" pitchFamily="50" charset="-127"/>
              </a:rPr>
              <a:t>허락</a:t>
            </a:r>
            <a:r>
              <a:rPr kumimoji="1" lang="ko-KR" sz="1400" b="0" i="0" u="none" strike="noStrike" cap="none" normalizeH="0" baseline="0" dirty="0">
                <a:ln>
                  <a:noFill/>
                </a:ln>
                <a:solidFill>
                  <a:srgbClr val="444444"/>
                </a:solidFill>
                <a:effectLst/>
                <a:latin typeface="+mn-ea"/>
                <a:cs typeface="굴림" pitchFamily="50" charset="-127"/>
              </a:rPr>
              <a:t>할 수 있다</a:t>
            </a:r>
            <a:r>
              <a:rPr kumimoji="1" lang="ko-KR" altLang="ko-KR" sz="1400" b="0" i="0" u="none" strike="noStrike" cap="none" normalizeH="0" baseline="0" dirty="0">
                <a:ln>
                  <a:noFill/>
                </a:ln>
                <a:solidFill>
                  <a:srgbClr val="444444"/>
                </a:solidFill>
                <a:effectLst/>
                <a:latin typeface="+mn-ea"/>
                <a:cs typeface="굴림" pitchFamily="50" charset="-127"/>
              </a:rPr>
              <a:t>.</a:t>
            </a:r>
            <a:endParaRPr kumimoji="1" lang="ko-KR" altLang="ko-KR" sz="1400" b="0" i="0" u="none" strike="noStrike" cap="none" normalizeH="0" baseline="0" dirty="0">
              <a:ln>
                <a:noFill/>
              </a:ln>
              <a:solidFill>
                <a:schemeClr val="tx1"/>
              </a:solidFill>
              <a:effectLst/>
              <a:latin typeface="+mn-ea"/>
              <a:cs typeface="굴림" pitchFamily="50" charset="-127"/>
            </a:endParaRPr>
          </a:p>
        </p:txBody>
      </p:sp>
      <p:sp>
        <p:nvSpPr>
          <p:cNvPr id="48" name="Rectangle 2"/>
          <p:cNvSpPr>
            <a:spLocks noChangeArrowheads="1"/>
          </p:cNvSpPr>
          <p:nvPr/>
        </p:nvSpPr>
        <p:spPr bwMode="auto">
          <a:xfrm>
            <a:off x="6405562" y="2354356"/>
            <a:ext cx="5462588" cy="307777"/>
          </a:xfrm>
          <a:prstGeom prst="rect">
            <a:avLst/>
          </a:prstGeom>
          <a:solidFill>
            <a:schemeClr val="accent4">
              <a:lumMod val="20000"/>
              <a:lumOff val="80000"/>
            </a:schemeClr>
          </a:solidFill>
          <a:ln w="9525">
            <a:solidFill>
              <a:schemeClr val="tx1"/>
            </a:solidFill>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base" latinLnBrk="1" hangingPunct="1">
              <a:lnSpc>
                <a:spcPct val="100000"/>
              </a:lnSpc>
              <a:spcBef>
                <a:spcPct val="0"/>
              </a:spcBef>
              <a:spcAft>
                <a:spcPct val="0"/>
              </a:spcAft>
              <a:buClrTx/>
              <a:buSzTx/>
              <a:buFontTx/>
              <a:buNone/>
              <a:tabLst/>
            </a:pPr>
            <a:r>
              <a:rPr kumimoji="1" lang="ko-KR" altLang="ko-KR" sz="1400" b="0" i="0" u="none" strike="noStrike" cap="none" normalizeH="0" baseline="0" dirty="0">
                <a:ln>
                  <a:noFill/>
                </a:ln>
                <a:solidFill>
                  <a:srgbClr val="444444"/>
                </a:solidFill>
                <a:effectLst/>
                <a:latin typeface="+mn-ea"/>
                <a:cs typeface="굴림" pitchFamily="50" charset="-127"/>
              </a:rPr>
              <a:t>① </a:t>
            </a:r>
            <a:r>
              <a:rPr kumimoji="1" lang="ko-KR" sz="1400" b="0" i="0" u="none" strike="noStrike" cap="none" normalizeH="0" baseline="0" dirty="0">
                <a:ln>
                  <a:noFill/>
                </a:ln>
                <a:solidFill>
                  <a:srgbClr val="444444"/>
                </a:solidFill>
                <a:effectLst/>
                <a:latin typeface="+mn-ea"/>
                <a:cs typeface="굴림" pitchFamily="50" charset="-127"/>
              </a:rPr>
              <a:t>특허권은 </a:t>
            </a:r>
            <a:r>
              <a:rPr kumimoji="1" lang="ko-KR" sz="1400" b="0" i="0" u="none" strike="noStrike" cap="none" normalizeH="0" baseline="0" dirty="0">
                <a:ln>
                  <a:noFill/>
                </a:ln>
                <a:solidFill>
                  <a:srgbClr val="FF0000"/>
                </a:solidFill>
                <a:effectLst/>
                <a:latin typeface="+mn-ea"/>
                <a:cs typeface="굴림" pitchFamily="50" charset="-127"/>
              </a:rPr>
              <a:t>이전</a:t>
            </a:r>
            <a:r>
              <a:rPr kumimoji="1" lang="ko-KR" sz="1400" b="0" i="0" u="none" strike="noStrike" cap="none" normalizeH="0" baseline="0" dirty="0">
                <a:ln>
                  <a:noFill/>
                </a:ln>
                <a:solidFill>
                  <a:srgbClr val="444444"/>
                </a:solidFill>
                <a:effectLst/>
                <a:latin typeface="+mn-ea"/>
                <a:cs typeface="굴림" pitchFamily="50" charset="-127"/>
              </a:rPr>
              <a:t>할 수 있다</a:t>
            </a:r>
            <a:r>
              <a:rPr kumimoji="1" lang="ko-KR" altLang="ko-KR" sz="1400" b="0" i="0" u="none" strike="noStrike" cap="none" normalizeH="0" baseline="0" dirty="0">
                <a:ln>
                  <a:noFill/>
                </a:ln>
                <a:solidFill>
                  <a:srgbClr val="444444"/>
                </a:solidFill>
                <a:effectLst/>
                <a:latin typeface="+mn-ea"/>
                <a:cs typeface="굴림" pitchFamily="50" charset="-127"/>
              </a:rPr>
              <a:t>.</a:t>
            </a:r>
            <a:endParaRPr kumimoji="1" lang="ko-KR" altLang="ko-KR" sz="1400" b="0" i="0" u="none" strike="noStrike" cap="none" normalizeH="0" baseline="0" dirty="0">
              <a:ln>
                <a:noFill/>
              </a:ln>
              <a:solidFill>
                <a:schemeClr val="tx1"/>
              </a:solidFill>
              <a:effectLst/>
              <a:latin typeface="+mn-ea"/>
              <a:cs typeface="굴림" pitchFamily="50" charset="-127"/>
            </a:endParaRPr>
          </a:p>
        </p:txBody>
      </p:sp>
      <p:sp>
        <p:nvSpPr>
          <p:cNvPr id="50" name="Rectangle 2"/>
          <p:cNvSpPr>
            <a:spLocks noChangeArrowheads="1"/>
          </p:cNvSpPr>
          <p:nvPr/>
        </p:nvSpPr>
        <p:spPr bwMode="auto">
          <a:xfrm>
            <a:off x="6405562" y="2749526"/>
            <a:ext cx="5462588" cy="738664"/>
          </a:xfrm>
          <a:prstGeom prst="rect">
            <a:avLst/>
          </a:prstGeom>
          <a:solidFill>
            <a:schemeClr val="accent4">
              <a:lumMod val="20000"/>
              <a:lumOff val="80000"/>
            </a:schemeClr>
          </a:solidFill>
          <a:ln w="9525">
            <a:solidFill>
              <a:schemeClr val="tx1"/>
            </a:solidFill>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ko-KR" altLang="ko-KR" sz="1400" b="0" i="0" u="none" strike="noStrike" cap="none" normalizeH="0" baseline="0" dirty="0">
                <a:ln>
                  <a:noFill/>
                </a:ln>
                <a:solidFill>
                  <a:srgbClr val="444444"/>
                </a:solidFill>
                <a:effectLst/>
                <a:latin typeface="+mn-ea"/>
                <a:cs typeface="굴림" pitchFamily="50" charset="-127"/>
              </a:rPr>
              <a:t>② </a:t>
            </a:r>
            <a:r>
              <a:rPr kumimoji="1" lang="ko-KR" sz="1400" b="0" i="0" u="none" strike="noStrike" cap="none" normalizeH="0" baseline="0" dirty="0">
                <a:ln>
                  <a:noFill/>
                </a:ln>
                <a:solidFill>
                  <a:srgbClr val="444444"/>
                </a:solidFill>
                <a:effectLst/>
                <a:latin typeface="+mn-ea"/>
                <a:cs typeface="굴림" pitchFamily="50" charset="-127"/>
              </a:rPr>
              <a:t>특허권이 공유인 경우에는 각 공유자는 다른 공유자 모두의 동의를 받아야만 </a:t>
            </a:r>
            <a:r>
              <a:rPr kumimoji="1" lang="ko-KR" sz="1400" b="0" i="0" u="none" strike="noStrike" cap="none" normalizeH="0" baseline="0" dirty="0">
                <a:ln>
                  <a:noFill/>
                </a:ln>
                <a:solidFill>
                  <a:srgbClr val="FF0000"/>
                </a:solidFill>
                <a:effectLst/>
                <a:latin typeface="+mn-ea"/>
                <a:cs typeface="굴림" pitchFamily="50" charset="-127"/>
              </a:rPr>
              <a:t>그 지분</a:t>
            </a:r>
            <a:r>
              <a:rPr kumimoji="1" lang="ko-KR" sz="1400" b="0" i="0" u="none" strike="noStrike" cap="none" normalizeH="0" baseline="0" dirty="0">
                <a:ln>
                  <a:noFill/>
                </a:ln>
                <a:solidFill>
                  <a:srgbClr val="444444"/>
                </a:solidFill>
                <a:effectLst/>
                <a:latin typeface="+mn-ea"/>
                <a:cs typeface="굴림" pitchFamily="50" charset="-127"/>
              </a:rPr>
              <a:t>을 양도하거나 그 지분을 목적으로 하는 질권을 설정할 수 있다</a:t>
            </a:r>
            <a:r>
              <a:rPr kumimoji="1" lang="ko-KR" altLang="ko-KR" sz="1400" b="0" i="0" u="none" strike="noStrike" cap="none" normalizeH="0" baseline="0" dirty="0">
                <a:ln>
                  <a:noFill/>
                </a:ln>
                <a:solidFill>
                  <a:srgbClr val="444444"/>
                </a:solidFill>
                <a:effectLst/>
                <a:latin typeface="+mn-ea"/>
                <a:cs typeface="굴림" pitchFamily="50" charset="-127"/>
              </a:rPr>
              <a:t>.</a:t>
            </a:r>
            <a:endParaRPr kumimoji="1" lang="ko-KR" altLang="ko-KR" sz="1400" b="0" i="0" u="none" strike="noStrike" cap="none" normalizeH="0" baseline="0" dirty="0">
              <a:ln>
                <a:noFill/>
              </a:ln>
              <a:solidFill>
                <a:schemeClr val="tx1"/>
              </a:solidFill>
              <a:effectLst/>
              <a:latin typeface="+mn-ea"/>
              <a:cs typeface="굴림" pitchFamily="50" charset="-127"/>
            </a:endParaRPr>
          </a:p>
        </p:txBody>
      </p:sp>
      <p:cxnSp>
        <p:nvCxnSpPr>
          <p:cNvPr id="8" name="직선 연결선 7"/>
          <p:cNvCxnSpPr>
            <a:stCxn id="44" idx="3"/>
            <a:endCxn id="50" idx="1"/>
          </p:cNvCxnSpPr>
          <p:nvPr/>
        </p:nvCxnSpPr>
        <p:spPr>
          <a:xfrm>
            <a:off x="5848347" y="2907723"/>
            <a:ext cx="557215" cy="211135"/>
          </a:xfrm>
          <a:prstGeom prst="line">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 name="직선 연결선 9"/>
          <p:cNvCxnSpPr>
            <a:stCxn id="50" idx="1"/>
            <a:endCxn id="33" idx="3"/>
          </p:cNvCxnSpPr>
          <p:nvPr/>
        </p:nvCxnSpPr>
        <p:spPr>
          <a:xfrm flipH="1">
            <a:off x="5848347" y="3118858"/>
            <a:ext cx="557215" cy="280772"/>
          </a:xfrm>
          <a:prstGeom prst="line">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3" name="직선 연결선 52"/>
          <p:cNvCxnSpPr>
            <a:stCxn id="48" idx="1"/>
            <a:endCxn id="42" idx="3"/>
          </p:cNvCxnSpPr>
          <p:nvPr/>
        </p:nvCxnSpPr>
        <p:spPr>
          <a:xfrm flipH="1">
            <a:off x="5848347" y="2508245"/>
            <a:ext cx="557215" cy="7940"/>
          </a:xfrm>
          <a:prstGeom prst="line">
            <a:avLst/>
          </a:prstGeom>
          <a:ln w="28575">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모서리가 둥근 사각형 설명선 12"/>
          <p:cNvSpPr/>
          <p:nvPr/>
        </p:nvSpPr>
        <p:spPr>
          <a:xfrm>
            <a:off x="3962397" y="1276350"/>
            <a:ext cx="1885950" cy="574575"/>
          </a:xfrm>
          <a:prstGeom prst="wedgeRoundRectCallout">
            <a:avLst>
              <a:gd name="adj1" fmla="val -105681"/>
              <a:gd name="adj2" fmla="val 146852"/>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일반승계</a:t>
            </a:r>
            <a:r>
              <a:rPr lang="en-US" altLang="ko-KR" sz="1400" dirty="0">
                <a:solidFill>
                  <a:schemeClr val="tx1"/>
                </a:solidFill>
              </a:rPr>
              <a:t>(</a:t>
            </a:r>
            <a:r>
              <a:rPr lang="ko-KR" altLang="en-US" sz="1400" dirty="0">
                <a:solidFill>
                  <a:schemeClr val="tx1"/>
                </a:solidFill>
              </a:rPr>
              <a:t>상속</a:t>
            </a:r>
            <a:r>
              <a:rPr lang="en-US" altLang="ko-KR" sz="1400" dirty="0">
                <a:solidFill>
                  <a:schemeClr val="tx1"/>
                </a:solidFill>
              </a:rPr>
              <a:t>)+</a:t>
            </a:r>
          </a:p>
          <a:p>
            <a:pPr algn="ctr"/>
            <a:r>
              <a:rPr lang="ko-KR" altLang="en-US" sz="1400" dirty="0">
                <a:solidFill>
                  <a:schemeClr val="tx1"/>
                </a:solidFill>
              </a:rPr>
              <a:t>특정승계</a:t>
            </a:r>
            <a:r>
              <a:rPr lang="en-US" altLang="ko-KR" sz="1400" dirty="0">
                <a:solidFill>
                  <a:schemeClr val="tx1"/>
                </a:solidFill>
              </a:rPr>
              <a:t>(</a:t>
            </a:r>
            <a:r>
              <a:rPr lang="ko-KR" altLang="en-US" sz="1400" dirty="0">
                <a:solidFill>
                  <a:schemeClr val="tx1"/>
                </a:solidFill>
              </a:rPr>
              <a:t>양도</a:t>
            </a:r>
            <a:r>
              <a:rPr lang="en-US" altLang="ko-KR" sz="1400" dirty="0">
                <a:solidFill>
                  <a:schemeClr val="tx1"/>
                </a:solidFill>
              </a:rPr>
              <a:t>)</a:t>
            </a:r>
            <a:endParaRPr lang="ko-KR" altLang="en-US" sz="1400" dirty="0">
              <a:solidFill>
                <a:schemeClr val="tx1"/>
              </a:solidFill>
            </a:endParaRPr>
          </a:p>
        </p:txBody>
      </p:sp>
      <p:sp>
        <p:nvSpPr>
          <p:cNvPr id="56" name="모서리가 둥근 사각형 설명선 55"/>
          <p:cNvSpPr/>
          <p:nvPr/>
        </p:nvSpPr>
        <p:spPr>
          <a:xfrm>
            <a:off x="6201623" y="5780826"/>
            <a:ext cx="2091351" cy="574575"/>
          </a:xfrm>
          <a:prstGeom prst="wedgeRoundRectCallout">
            <a:avLst>
              <a:gd name="adj1" fmla="val 22297"/>
              <a:gd name="adj2" fmla="val -244147"/>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특허권 일부 지분에 대한 </a:t>
            </a:r>
            <a:endParaRPr lang="en-US" altLang="ko-KR" sz="1400" dirty="0">
              <a:solidFill>
                <a:schemeClr val="tx1"/>
              </a:solidFill>
            </a:endParaRPr>
          </a:p>
          <a:p>
            <a:pPr algn="ctr"/>
            <a:r>
              <a:rPr lang="ko-KR" altLang="en-US" sz="1400" dirty="0" err="1">
                <a:solidFill>
                  <a:schemeClr val="tx1"/>
                </a:solidFill>
              </a:rPr>
              <a:t>실시권</a:t>
            </a:r>
            <a:r>
              <a:rPr lang="ko-KR" altLang="en-US" sz="1400" dirty="0">
                <a:solidFill>
                  <a:schemeClr val="tx1"/>
                </a:solidFill>
              </a:rPr>
              <a:t> 설정</a:t>
            </a:r>
            <a:r>
              <a:rPr lang="en-US" altLang="ko-KR" sz="1400" dirty="0">
                <a:solidFill>
                  <a:schemeClr val="tx1"/>
                </a:solidFill>
              </a:rPr>
              <a:t>/</a:t>
            </a:r>
            <a:r>
              <a:rPr lang="ko-KR" altLang="en-US" sz="1400" dirty="0">
                <a:solidFill>
                  <a:schemeClr val="tx1"/>
                </a:solidFill>
              </a:rPr>
              <a:t>허락은 불가</a:t>
            </a:r>
          </a:p>
        </p:txBody>
      </p:sp>
      <p:sp>
        <p:nvSpPr>
          <p:cNvPr id="57" name="모서리가 둥근 사각형 설명선 56"/>
          <p:cNvSpPr/>
          <p:nvPr/>
        </p:nvSpPr>
        <p:spPr>
          <a:xfrm>
            <a:off x="9558336" y="5591174"/>
            <a:ext cx="1185864" cy="574575"/>
          </a:xfrm>
          <a:prstGeom prst="wedgeRoundRectCallout">
            <a:avLst>
              <a:gd name="adj1" fmla="val -23236"/>
              <a:gd name="adj2" fmla="val -212880"/>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a:solidFill>
                  <a:schemeClr val="tx1"/>
                </a:solidFill>
              </a:rPr>
              <a:t>계약</a:t>
            </a:r>
            <a:r>
              <a:rPr lang="en-US" altLang="ko-KR" sz="1400" dirty="0">
                <a:solidFill>
                  <a:schemeClr val="tx1"/>
                </a:solidFill>
              </a:rPr>
              <a:t>+</a:t>
            </a:r>
            <a:r>
              <a:rPr lang="ko-KR" altLang="en-US" sz="1400" dirty="0">
                <a:solidFill>
                  <a:schemeClr val="tx1"/>
                </a:solidFill>
              </a:rPr>
              <a:t>등록을 의미</a:t>
            </a:r>
          </a:p>
        </p:txBody>
      </p:sp>
      <p:sp>
        <p:nvSpPr>
          <p:cNvPr id="6" name="슬라이드 번호 개체 틀 5"/>
          <p:cNvSpPr>
            <a:spLocks noGrp="1"/>
          </p:cNvSpPr>
          <p:nvPr>
            <p:ph type="sldNum" sz="quarter" idx="12"/>
          </p:nvPr>
        </p:nvSpPr>
        <p:spPr/>
        <p:txBody>
          <a:bodyPr/>
          <a:lstStyle/>
          <a:p>
            <a:r>
              <a:rPr lang="en-US" altLang="ko-KR"/>
              <a:t>405</a:t>
            </a:r>
            <a:endParaRPr lang="ko-KR" altLang="en-US"/>
          </a:p>
        </p:txBody>
      </p:sp>
      <p:sp>
        <p:nvSpPr>
          <p:cNvPr id="7" name="직사각형 6">
            <a:extLst>
              <a:ext uri="{FF2B5EF4-FFF2-40B4-BE49-F238E27FC236}">
                <a16:creationId xmlns:a16="http://schemas.microsoft.com/office/drawing/2014/main" id="{9E5B7146-6F15-463F-8D8F-83A7D2D75641}"/>
              </a:ext>
            </a:extLst>
          </p:cNvPr>
          <p:cNvSpPr/>
          <p:nvPr/>
        </p:nvSpPr>
        <p:spPr>
          <a:xfrm>
            <a:off x="9558336" y="1380226"/>
            <a:ext cx="2035565" cy="363290"/>
          </a:xfrm>
          <a:prstGeom prst="rect">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제</a:t>
            </a:r>
            <a:r>
              <a:rPr lang="en-US" altLang="ko-KR" sz="1200" dirty="0">
                <a:solidFill>
                  <a:schemeClr val="bg1"/>
                </a:solidFill>
              </a:rPr>
              <a:t>101</a:t>
            </a:r>
            <a:r>
              <a:rPr lang="ko-KR" altLang="en-US" sz="1200" dirty="0">
                <a:solidFill>
                  <a:schemeClr val="bg1"/>
                </a:solidFill>
              </a:rPr>
              <a:t>조제</a:t>
            </a:r>
            <a:r>
              <a:rPr lang="en-US" altLang="ko-KR" sz="1200" dirty="0">
                <a:solidFill>
                  <a:schemeClr val="bg1"/>
                </a:solidFill>
              </a:rPr>
              <a:t>1</a:t>
            </a:r>
            <a:r>
              <a:rPr lang="ko-KR" altLang="en-US" sz="1200" dirty="0" err="1">
                <a:solidFill>
                  <a:schemeClr val="bg1"/>
                </a:solidFill>
              </a:rPr>
              <a:t>항제</a:t>
            </a:r>
            <a:r>
              <a:rPr lang="en-US" altLang="ko-KR" sz="1200" dirty="0">
                <a:solidFill>
                  <a:schemeClr val="bg1"/>
                </a:solidFill>
              </a:rPr>
              <a:t>1</a:t>
            </a:r>
            <a:r>
              <a:rPr lang="ko-KR" altLang="en-US" sz="1200" dirty="0">
                <a:solidFill>
                  <a:schemeClr val="bg1"/>
                </a:solidFill>
              </a:rPr>
              <a:t>호</a:t>
            </a:r>
            <a:r>
              <a:rPr lang="en-US" altLang="ko-KR" sz="1200" dirty="0">
                <a:solidFill>
                  <a:schemeClr val="bg1"/>
                </a:solidFill>
              </a:rPr>
              <a:t>, </a:t>
            </a:r>
            <a:r>
              <a:rPr lang="ko-KR" altLang="en-US" sz="1200" dirty="0">
                <a:solidFill>
                  <a:schemeClr val="bg1"/>
                </a:solidFill>
              </a:rPr>
              <a:t>제</a:t>
            </a:r>
            <a:r>
              <a:rPr lang="en-US" altLang="ko-KR" sz="1200" dirty="0">
                <a:solidFill>
                  <a:schemeClr val="bg1"/>
                </a:solidFill>
              </a:rPr>
              <a:t>2</a:t>
            </a:r>
            <a:r>
              <a:rPr lang="ko-KR" altLang="en-US" sz="1200" dirty="0">
                <a:solidFill>
                  <a:schemeClr val="bg1"/>
                </a:solidFill>
              </a:rPr>
              <a:t>항</a:t>
            </a:r>
          </a:p>
        </p:txBody>
      </p:sp>
      <p:cxnSp>
        <p:nvCxnSpPr>
          <p:cNvPr id="11" name="연결선: 꺾임 10">
            <a:extLst>
              <a:ext uri="{FF2B5EF4-FFF2-40B4-BE49-F238E27FC236}">
                <a16:creationId xmlns:a16="http://schemas.microsoft.com/office/drawing/2014/main" id="{FAF62623-6588-4915-911D-0F8AD8A539B7}"/>
              </a:ext>
            </a:extLst>
          </p:cNvPr>
          <p:cNvCxnSpPr>
            <a:stCxn id="48" idx="0"/>
            <a:endCxn id="7" idx="2"/>
          </p:cNvCxnSpPr>
          <p:nvPr/>
        </p:nvCxnSpPr>
        <p:spPr>
          <a:xfrm rot="5400000" flipH="1" flipV="1">
            <a:off x="9551067" y="1329305"/>
            <a:ext cx="610840" cy="1439263"/>
          </a:xfrm>
          <a:prstGeom prst="bentConnector3">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ED6FEE33-993E-4BEB-B694-25C5FD6D909F}"/>
              </a:ext>
            </a:extLst>
          </p:cNvPr>
          <p:cNvSpPr txBox="1"/>
          <p:nvPr/>
        </p:nvSpPr>
        <p:spPr>
          <a:xfrm>
            <a:off x="10589628" y="1868543"/>
            <a:ext cx="601447" cy="369332"/>
          </a:xfrm>
          <a:prstGeom prst="rect">
            <a:avLst/>
          </a:prstGeom>
          <a:noFill/>
        </p:spPr>
        <p:txBody>
          <a:bodyPr wrap="none" rtlCol="0">
            <a:spAutoFit/>
          </a:bodyPr>
          <a:lstStyle/>
          <a:p>
            <a:r>
              <a:rPr lang="ko-KR" altLang="en-US"/>
              <a:t>효력</a:t>
            </a:r>
          </a:p>
        </p:txBody>
      </p:sp>
      <p:sp>
        <p:nvSpPr>
          <p:cNvPr id="24" name="직사각형 23">
            <a:extLst>
              <a:ext uri="{FF2B5EF4-FFF2-40B4-BE49-F238E27FC236}">
                <a16:creationId xmlns:a16="http://schemas.microsoft.com/office/drawing/2014/main" id="{3C162B50-C68D-4C76-85C3-BAFE3F9AD774}"/>
              </a:ext>
            </a:extLst>
          </p:cNvPr>
          <p:cNvSpPr/>
          <p:nvPr/>
        </p:nvSpPr>
        <p:spPr>
          <a:xfrm>
            <a:off x="1861680" y="3881886"/>
            <a:ext cx="762642" cy="363290"/>
          </a:xfrm>
          <a:prstGeom prst="rect">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제</a:t>
            </a:r>
            <a:r>
              <a:rPr lang="en-US" altLang="ko-KR" sz="1200" dirty="0">
                <a:solidFill>
                  <a:schemeClr val="bg1"/>
                </a:solidFill>
              </a:rPr>
              <a:t>38</a:t>
            </a:r>
            <a:r>
              <a:rPr lang="ko-KR" altLang="en-US" sz="1200" dirty="0">
                <a:solidFill>
                  <a:schemeClr val="bg1"/>
                </a:solidFill>
              </a:rPr>
              <a:t>조</a:t>
            </a:r>
          </a:p>
        </p:txBody>
      </p:sp>
      <p:cxnSp>
        <p:nvCxnSpPr>
          <p:cNvPr id="25" name="연결선: 꺾임 24">
            <a:extLst>
              <a:ext uri="{FF2B5EF4-FFF2-40B4-BE49-F238E27FC236}">
                <a16:creationId xmlns:a16="http://schemas.microsoft.com/office/drawing/2014/main" id="{268832A9-EA42-421C-8074-9ECE710CD48C}"/>
              </a:ext>
            </a:extLst>
          </p:cNvPr>
          <p:cNvCxnSpPr>
            <a:cxnSpLocks/>
            <a:stCxn id="42" idx="1"/>
            <a:endCxn id="24" idx="2"/>
          </p:cNvCxnSpPr>
          <p:nvPr/>
        </p:nvCxnSpPr>
        <p:spPr>
          <a:xfrm rot="10800000" flipH="1" flipV="1">
            <a:off x="333371" y="2516184"/>
            <a:ext cx="1909629" cy="1728991"/>
          </a:xfrm>
          <a:prstGeom prst="bentConnector4">
            <a:avLst>
              <a:gd name="adj1" fmla="val -11971"/>
              <a:gd name="adj2" fmla="val 113222"/>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E7090B14-0617-465B-BB32-145002896539}"/>
              </a:ext>
            </a:extLst>
          </p:cNvPr>
          <p:cNvSpPr txBox="1"/>
          <p:nvPr/>
        </p:nvSpPr>
        <p:spPr>
          <a:xfrm>
            <a:off x="686738" y="4075354"/>
            <a:ext cx="601447" cy="369332"/>
          </a:xfrm>
          <a:prstGeom prst="rect">
            <a:avLst/>
          </a:prstGeom>
          <a:noFill/>
        </p:spPr>
        <p:txBody>
          <a:bodyPr wrap="square" rtlCol="0">
            <a:spAutoFit/>
          </a:bodyPr>
          <a:lstStyle/>
          <a:p>
            <a:r>
              <a:rPr lang="ko-KR" altLang="en-US"/>
              <a:t>효력</a:t>
            </a:r>
          </a:p>
        </p:txBody>
      </p:sp>
    </p:spTree>
    <p:extLst>
      <p:ext uri="{BB962C8B-B14F-4D97-AF65-F5344CB8AC3E}">
        <p14:creationId xmlns:p14="http://schemas.microsoft.com/office/powerpoint/2010/main" val="1078235799"/>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99</a:t>
            </a:r>
            <a:r>
              <a:rPr lang="ko-KR" altLang="en-US" dirty="0"/>
              <a:t>조</a:t>
            </a:r>
          </a:p>
        </p:txBody>
      </p:sp>
      <p:sp>
        <p:nvSpPr>
          <p:cNvPr id="4" name="텍스트 개체 틀 3"/>
          <p:cNvSpPr>
            <a:spLocks noGrp="1"/>
          </p:cNvSpPr>
          <p:nvPr>
            <p:ph type="body" sz="quarter" idx="13"/>
          </p:nvPr>
        </p:nvSpPr>
        <p:spPr/>
        <p:txBody>
          <a:bodyPr/>
          <a:lstStyle/>
          <a:p>
            <a:r>
              <a:rPr lang="ko-KR" altLang="en-US" dirty="0"/>
              <a:t>제</a:t>
            </a:r>
            <a:r>
              <a:rPr lang="en-US" altLang="ko-KR" dirty="0"/>
              <a:t>99</a:t>
            </a:r>
            <a:r>
              <a:rPr lang="ko-KR" altLang="en-US" dirty="0"/>
              <a:t>조제</a:t>
            </a:r>
            <a:r>
              <a:rPr lang="en-US" altLang="ko-KR" dirty="0"/>
              <a:t>2</a:t>
            </a:r>
            <a:r>
              <a:rPr lang="ko-KR" altLang="en-US" dirty="0"/>
              <a:t>항 내지 제</a:t>
            </a:r>
            <a:r>
              <a:rPr lang="en-US" altLang="ko-KR" dirty="0"/>
              <a:t>4</a:t>
            </a:r>
            <a:r>
              <a:rPr lang="ko-KR" altLang="en-US" dirty="0"/>
              <a:t>항의 개념</a:t>
            </a:r>
          </a:p>
        </p:txBody>
      </p:sp>
      <p:sp>
        <p:nvSpPr>
          <p:cNvPr id="18" name="TextBox 17"/>
          <p:cNvSpPr txBox="1"/>
          <p:nvPr/>
        </p:nvSpPr>
        <p:spPr>
          <a:xfrm>
            <a:off x="695967" y="1746507"/>
            <a:ext cx="1043876" cy="592672"/>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pPr algn="ctr"/>
            <a:r>
              <a:rPr lang="ko-KR" altLang="en-US" sz="1400" dirty="0"/>
              <a:t>발명</a:t>
            </a:r>
          </a:p>
        </p:txBody>
      </p:sp>
      <p:sp>
        <p:nvSpPr>
          <p:cNvPr id="19" name="TextBox 18"/>
          <p:cNvSpPr txBox="1"/>
          <p:nvPr/>
        </p:nvSpPr>
        <p:spPr>
          <a:xfrm>
            <a:off x="695967" y="3980749"/>
            <a:ext cx="1043876" cy="592672"/>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pPr algn="ctr"/>
            <a:r>
              <a:rPr lang="ko-KR" altLang="en-US" sz="1400"/>
              <a:t>무체물</a:t>
            </a:r>
            <a:endParaRPr lang="ko-KR" altLang="en-US" sz="1400" dirty="0"/>
          </a:p>
        </p:txBody>
      </p:sp>
      <p:sp>
        <p:nvSpPr>
          <p:cNvPr id="20" name="TextBox 19"/>
          <p:cNvSpPr txBox="1"/>
          <p:nvPr/>
        </p:nvSpPr>
        <p:spPr>
          <a:xfrm>
            <a:off x="695968" y="5084930"/>
            <a:ext cx="1043876" cy="592672"/>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r>
              <a:rPr lang="ko-KR" altLang="en-US" sz="1400" dirty="0"/>
              <a:t>점유 수반</a:t>
            </a:r>
            <a:r>
              <a:rPr lang="en-US" altLang="ko-KR" sz="1400" dirty="0"/>
              <a:t>×</a:t>
            </a:r>
            <a:endParaRPr lang="ko-KR" altLang="en-US" sz="1400" dirty="0"/>
          </a:p>
        </p:txBody>
      </p:sp>
      <p:sp>
        <p:nvSpPr>
          <p:cNvPr id="21" name="TextBox 20"/>
          <p:cNvSpPr txBox="1"/>
          <p:nvPr/>
        </p:nvSpPr>
        <p:spPr>
          <a:xfrm>
            <a:off x="2312157" y="1427453"/>
            <a:ext cx="3436861" cy="592672"/>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공유자 모두</a:t>
            </a:r>
            <a:r>
              <a:rPr lang="en-US" altLang="ko-KR" sz="1400" dirty="0"/>
              <a:t>/</a:t>
            </a:r>
            <a:r>
              <a:rPr lang="ko-KR" altLang="en-US" sz="1400" dirty="0"/>
              <a:t>지분 비율 무관</a:t>
            </a:r>
            <a:r>
              <a:rPr lang="en-US" altLang="ko-KR" sz="1400" dirty="0"/>
              <a:t>/</a:t>
            </a:r>
            <a:r>
              <a:rPr lang="ko-KR" altLang="en-US" sz="1400" dirty="0"/>
              <a:t>발명 전체 실시</a:t>
            </a:r>
            <a:endParaRPr lang="en-US" altLang="ko-KR" sz="1400" dirty="0"/>
          </a:p>
          <a:p>
            <a:pPr algn="ctr"/>
            <a:r>
              <a:rPr lang="en-US" altLang="ko-KR" sz="1400" dirty="0"/>
              <a:t>(</a:t>
            </a:r>
            <a:r>
              <a:rPr lang="ko-KR" altLang="en-US" sz="1400" dirty="0"/>
              <a:t>法 </a:t>
            </a:r>
            <a:r>
              <a:rPr lang="en-US" altLang="ko-KR" sz="1400" dirty="0"/>
              <a:t>99</a:t>
            </a:r>
            <a:r>
              <a:rPr lang="ko-KR" altLang="en-US" sz="1400" dirty="0"/>
              <a:t>③</a:t>
            </a:r>
            <a:r>
              <a:rPr lang="en-US" altLang="ko-KR" sz="1400" dirty="0"/>
              <a:t>) </a:t>
            </a:r>
            <a:endParaRPr lang="ko-KR" altLang="en-US" sz="1400" dirty="0"/>
          </a:p>
        </p:txBody>
      </p:sp>
      <p:sp>
        <p:nvSpPr>
          <p:cNvPr id="22" name="TextBox 21"/>
          <p:cNvSpPr txBox="1"/>
          <p:nvPr/>
        </p:nvSpPr>
        <p:spPr>
          <a:xfrm>
            <a:off x="2312159" y="2985788"/>
            <a:ext cx="3436860" cy="592672"/>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지분 비율보다는 자본력</a:t>
            </a:r>
            <a:r>
              <a:rPr lang="en-US" altLang="ko-KR" sz="1400" dirty="0"/>
              <a:t>, </a:t>
            </a:r>
            <a:r>
              <a:rPr lang="ko-KR" altLang="en-US" sz="1400" dirty="0"/>
              <a:t>기술력</a:t>
            </a:r>
            <a:r>
              <a:rPr lang="en-US" altLang="ko-KR" sz="1400" dirty="0"/>
              <a:t>, </a:t>
            </a:r>
            <a:r>
              <a:rPr lang="ko-KR" altLang="en-US" sz="1400" dirty="0" err="1"/>
              <a:t>신용력</a:t>
            </a:r>
            <a:r>
              <a:rPr lang="ko-KR" altLang="en-US" sz="1400" dirty="0"/>
              <a:t> 등 다른 요인</a:t>
            </a:r>
          </a:p>
        </p:txBody>
      </p:sp>
      <p:sp>
        <p:nvSpPr>
          <p:cNvPr id="23" name="TextBox 22"/>
          <p:cNvSpPr txBox="1"/>
          <p:nvPr/>
        </p:nvSpPr>
        <p:spPr>
          <a:xfrm>
            <a:off x="695967" y="2807556"/>
            <a:ext cx="1043876" cy="592672"/>
          </a:xfrm>
          <a:prstGeom prst="rect">
            <a:avLst/>
          </a:prstGeom>
          <a:solidFill>
            <a:schemeClr val="accent1">
              <a:lumMod val="20000"/>
              <a:lumOff val="80000"/>
            </a:schemeClr>
          </a:solidFill>
          <a:ln>
            <a:solidFill>
              <a:schemeClr val="bg1">
                <a:lumMod val="50000"/>
              </a:schemeClr>
            </a:solidFill>
          </a:ln>
        </p:spPr>
        <p:txBody>
          <a:bodyPr wrap="none" rtlCol="0" anchor="ctr">
            <a:noAutofit/>
          </a:bodyPr>
          <a:lstStyle/>
          <a:p>
            <a:r>
              <a:rPr lang="ko-KR" altLang="en-US" sz="1400" dirty="0"/>
              <a:t>기술적 사상</a:t>
            </a:r>
          </a:p>
        </p:txBody>
      </p:sp>
      <p:cxnSp>
        <p:nvCxnSpPr>
          <p:cNvPr id="7" name="직선 화살표 연결선 6"/>
          <p:cNvCxnSpPr>
            <a:stCxn id="18" idx="2"/>
            <a:endCxn id="23" idx="0"/>
          </p:cNvCxnSpPr>
          <p:nvPr/>
        </p:nvCxnSpPr>
        <p:spPr>
          <a:xfrm>
            <a:off x="1217905" y="2339179"/>
            <a:ext cx="0" cy="468377"/>
          </a:xfrm>
          <a:prstGeom prst="straightConnector1">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 name="직선 연결선 25"/>
          <p:cNvCxnSpPr>
            <a:stCxn id="23" idx="2"/>
          </p:cNvCxnSpPr>
          <p:nvPr/>
        </p:nvCxnSpPr>
        <p:spPr>
          <a:xfrm>
            <a:off x="1217905" y="3400228"/>
            <a:ext cx="1" cy="580521"/>
          </a:xfrm>
          <a:prstGeom prst="line">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직선 연결선 27"/>
          <p:cNvCxnSpPr>
            <a:stCxn id="19" idx="2"/>
            <a:endCxn id="20" idx="0"/>
          </p:cNvCxnSpPr>
          <p:nvPr/>
        </p:nvCxnSpPr>
        <p:spPr>
          <a:xfrm>
            <a:off x="1217905" y="4573421"/>
            <a:ext cx="1" cy="511509"/>
          </a:xfrm>
          <a:prstGeom prst="line">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 name="꺾인 연결선 29"/>
          <p:cNvCxnSpPr>
            <a:stCxn id="20" idx="2"/>
            <a:endCxn id="21" idx="0"/>
          </p:cNvCxnSpPr>
          <p:nvPr/>
        </p:nvCxnSpPr>
        <p:spPr>
          <a:xfrm rot="5400000" flipH="1" flipV="1">
            <a:off x="499172" y="2146187"/>
            <a:ext cx="4250149" cy="2812682"/>
          </a:xfrm>
          <a:prstGeom prst="bentConnector5">
            <a:avLst>
              <a:gd name="adj1" fmla="val -5379"/>
              <a:gd name="adj2" fmla="val 28730"/>
              <a:gd name="adj3" fmla="val 105379"/>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 name="직선 연결선 33"/>
          <p:cNvCxnSpPr>
            <a:stCxn id="22" idx="0"/>
            <a:endCxn id="21" idx="2"/>
          </p:cNvCxnSpPr>
          <p:nvPr/>
        </p:nvCxnSpPr>
        <p:spPr>
          <a:xfrm flipH="1" flipV="1">
            <a:off x="4030588" y="2020125"/>
            <a:ext cx="1" cy="965663"/>
          </a:xfrm>
          <a:prstGeom prst="line">
            <a:avLst/>
          </a:prstGeom>
          <a:ln>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3633409" y="2332095"/>
            <a:ext cx="809837" cy="369332"/>
          </a:xfrm>
          <a:prstGeom prst="rect">
            <a:avLst/>
          </a:prstGeom>
          <a:solidFill>
            <a:schemeClr val="bg1"/>
          </a:solidFill>
          <a:ln>
            <a:solidFill>
              <a:schemeClr val="bg1">
                <a:lumMod val="50000"/>
              </a:schemeClr>
            </a:solidFill>
          </a:ln>
        </p:spPr>
        <p:txBody>
          <a:bodyPr wrap="none" rtlCol="0">
            <a:spAutoFit/>
          </a:bodyPr>
          <a:lstStyle/>
          <a:p>
            <a:r>
              <a:rPr lang="ko-KR" altLang="en-US" dirty="0">
                <a:solidFill>
                  <a:schemeClr val="accent4">
                    <a:lumMod val="50000"/>
                  </a:schemeClr>
                </a:solidFill>
              </a:rPr>
              <a:t>영향력</a:t>
            </a:r>
          </a:p>
        </p:txBody>
      </p:sp>
      <p:sp>
        <p:nvSpPr>
          <p:cNvPr id="36" name="왼쪽 화살표 35"/>
          <p:cNvSpPr/>
          <p:nvPr/>
        </p:nvSpPr>
        <p:spPr>
          <a:xfrm>
            <a:off x="4571998" y="2332095"/>
            <a:ext cx="575733" cy="369332"/>
          </a:xfrm>
          <a:prstGeom prst="leftArrow">
            <a:avLst/>
          </a:prstGeom>
          <a:solidFill>
            <a:schemeClr val="bg1">
              <a:lumMod val="8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7" name="TextBox 36"/>
          <p:cNvSpPr txBox="1"/>
          <p:nvPr/>
        </p:nvSpPr>
        <p:spPr>
          <a:xfrm>
            <a:off x="5242075" y="2332095"/>
            <a:ext cx="601447" cy="369332"/>
          </a:xfrm>
          <a:prstGeom prst="rect">
            <a:avLst/>
          </a:prstGeom>
          <a:solidFill>
            <a:srgbClr val="FF0000"/>
          </a:solidFill>
          <a:ln>
            <a:solidFill>
              <a:schemeClr val="bg1">
                <a:lumMod val="50000"/>
              </a:schemeClr>
            </a:solidFill>
          </a:ln>
        </p:spPr>
        <p:txBody>
          <a:bodyPr wrap="none" rtlCol="0">
            <a:spAutoFit/>
          </a:bodyPr>
          <a:lstStyle/>
          <a:p>
            <a:r>
              <a:rPr lang="ko-KR" altLang="en-US" dirty="0">
                <a:solidFill>
                  <a:schemeClr val="bg1"/>
                </a:solidFill>
              </a:rPr>
              <a:t>제한</a:t>
            </a:r>
          </a:p>
        </p:txBody>
      </p:sp>
      <p:sp>
        <p:nvSpPr>
          <p:cNvPr id="38" name="TextBox 37"/>
          <p:cNvSpPr txBox="1"/>
          <p:nvPr/>
        </p:nvSpPr>
        <p:spPr>
          <a:xfrm>
            <a:off x="6122609" y="1561841"/>
            <a:ext cx="670376" cy="307777"/>
          </a:xfrm>
          <a:prstGeom prst="rect">
            <a:avLst/>
          </a:prstGeom>
          <a:solidFill>
            <a:schemeClr val="bg1"/>
          </a:solidFill>
          <a:ln>
            <a:solidFill>
              <a:schemeClr val="bg1">
                <a:lumMod val="50000"/>
              </a:schemeClr>
            </a:solidFill>
          </a:ln>
        </p:spPr>
        <p:txBody>
          <a:bodyPr wrap="square" rtlCol="0">
            <a:noAutofit/>
          </a:bodyPr>
          <a:lstStyle/>
          <a:p>
            <a:r>
              <a:rPr lang="ko-KR" altLang="en-US" sz="1400" b="1">
                <a:solidFill>
                  <a:schemeClr val="accent1">
                    <a:lumMod val="50000"/>
                  </a:schemeClr>
                </a:solidFill>
              </a:rPr>
              <a:t>등록전</a:t>
            </a:r>
            <a:endParaRPr lang="ko-KR" altLang="en-US" sz="1400" b="1" dirty="0">
              <a:solidFill>
                <a:schemeClr val="accent1">
                  <a:lumMod val="50000"/>
                </a:schemeClr>
              </a:solidFill>
            </a:endParaRPr>
          </a:p>
        </p:txBody>
      </p:sp>
      <p:sp>
        <p:nvSpPr>
          <p:cNvPr id="39" name="TextBox 38"/>
          <p:cNvSpPr txBox="1"/>
          <p:nvPr/>
        </p:nvSpPr>
        <p:spPr>
          <a:xfrm>
            <a:off x="6122609" y="2517534"/>
            <a:ext cx="670376" cy="307777"/>
          </a:xfrm>
          <a:prstGeom prst="rect">
            <a:avLst/>
          </a:prstGeom>
          <a:solidFill>
            <a:schemeClr val="bg1"/>
          </a:solidFill>
          <a:ln>
            <a:solidFill>
              <a:schemeClr val="bg1">
                <a:lumMod val="50000"/>
              </a:schemeClr>
            </a:solidFill>
          </a:ln>
        </p:spPr>
        <p:txBody>
          <a:bodyPr wrap="square" rtlCol="0">
            <a:noAutofit/>
          </a:bodyPr>
          <a:lstStyle/>
          <a:p>
            <a:r>
              <a:rPr lang="ko-KR" altLang="en-US" sz="1400" b="1" dirty="0" err="1">
                <a:solidFill>
                  <a:schemeClr val="accent1">
                    <a:lumMod val="50000"/>
                  </a:schemeClr>
                </a:solidFill>
              </a:rPr>
              <a:t>등록후</a:t>
            </a:r>
            <a:endParaRPr lang="ko-KR" altLang="en-US" sz="1400" b="1" dirty="0">
              <a:solidFill>
                <a:schemeClr val="accent1">
                  <a:lumMod val="50000"/>
                </a:schemeClr>
              </a:solidFill>
            </a:endParaRPr>
          </a:p>
        </p:txBody>
      </p:sp>
      <p:sp>
        <p:nvSpPr>
          <p:cNvPr id="40" name="직사각형 39"/>
          <p:cNvSpPr/>
          <p:nvPr/>
        </p:nvSpPr>
        <p:spPr>
          <a:xfrm>
            <a:off x="6883400" y="1492956"/>
            <a:ext cx="4960668" cy="461665"/>
          </a:xfrm>
          <a:prstGeom prst="rect">
            <a:avLst/>
          </a:prstGeom>
          <a:ln>
            <a:solidFill>
              <a:schemeClr val="bg1">
                <a:lumMod val="50000"/>
              </a:schemeClr>
            </a:solidFill>
          </a:ln>
        </p:spPr>
        <p:txBody>
          <a:bodyPr wrap="square">
            <a:spAutoFit/>
          </a:bodyPr>
          <a:lstStyle/>
          <a:p>
            <a:pPr fontAlgn="base"/>
            <a:r>
              <a:rPr lang="en-US" altLang="ko-KR" sz="1200" b="1" dirty="0">
                <a:solidFill>
                  <a:schemeClr val="tx2"/>
                </a:solidFill>
              </a:rPr>
              <a:t>(</a:t>
            </a:r>
            <a:r>
              <a:rPr lang="ko-KR" altLang="en-US" sz="1200" b="1" dirty="0">
                <a:solidFill>
                  <a:schemeClr val="tx2"/>
                </a:solidFill>
              </a:rPr>
              <a:t>제</a:t>
            </a:r>
            <a:r>
              <a:rPr lang="en-US" altLang="ko-KR" sz="1200" b="1" dirty="0">
                <a:solidFill>
                  <a:schemeClr val="tx2"/>
                </a:solidFill>
              </a:rPr>
              <a:t>37</a:t>
            </a:r>
            <a:r>
              <a:rPr lang="ko-KR" altLang="en-US" sz="1200" b="1" dirty="0">
                <a:solidFill>
                  <a:schemeClr val="tx2"/>
                </a:solidFill>
              </a:rPr>
              <a:t>조제</a:t>
            </a:r>
            <a:r>
              <a:rPr lang="en-US" altLang="ko-KR" sz="1200" b="1" dirty="0">
                <a:solidFill>
                  <a:schemeClr val="tx2"/>
                </a:solidFill>
              </a:rPr>
              <a:t>3</a:t>
            </a:r>
            <a:r>
              <a:rPr lang="ko-KR" altLang="en-US" sz="1200" b="1" dirty="0">
                <a:solidFill>
                  <a:schemeClr val="tx2"/>
                </a:solidFill>
              </a:rPr>
              <a:t>항</a:t>
            </a:r>
            <a:r>
              <a:rPr lang="en-US" altLang="ko-KR" sz="1200" b="1" dirty="0">
                <a:solidFill>
                  <a:schemeClr val="tx2"/>
                </a:solidFill>
              </a:rPr>
              <a:t>)</a:t>
            </a:r>
            <a:r>
              <a:rPr lang="en-US" altLang="ko-KR" sz="1200" dirty="0">
                <a:solidFill>
                  <a:schemeClr val="tx2"/>
                </a:solidFill>
              </a:rPr>
              <a:t> </a:t>
            </a:r>
            <a:r>
              <a:rPr lang="ko-KR" altLang="en-US" sz="1200" dirty="0">
                <a:solidFill>
                  <a:schemeClr val="tx2"/>
                </a:solidFill>
              </a:rPr>
              <a:t>특허를 받을 수 있는 권리가 공유인 경우에는 각 공유자는 다른 공유자 모두의 동의를 받아야만 그 지분을 양도할 수 있다</a:t>
            </a:r>
            <a:r>
              <a:rPr lang="en-US" altLang="ko-KR" sz="1200" dirty="0">
                <a:solidFill>
                  <a:schemeClr val="tx2"/>
                </a:solidFill>
              </a:rPr>
              <a:t>.</a:t>
            </a:r>
          </a:p>
        </p:txBody>
      </p:sp>
      <p:sp>
        <p:nvSpPr>
          <p:cNvPr id="41" name="직사각형 40"/>
          <p:cNvSpPr/>
          <p:nvPr/>
        </p:nvSpPr>
        <p:spPr>
          <a:xfrm>
            <a:off x="6874933" y="2186579"/>
            <a:ext cx="4960668" cy="1200329"/>
          </a:xfrm>
          <a:prstGeom prst="rect">
            <a:avLst/>
          </a:prstGeom>
          <a:ln>
            <a:solidFill>
              <a:schemeClr val="bg1">
                <a:lumMod val="50000"/>
              </a:schemeClr>
            </a:solidFill>
          </a:ln>
        </p:spPr>
        <p:txBody>
          <a:bodyPr wrap="square">
            <a:spAutoFit/>
          </a:bodyPr>
          <a:lstStyle/>
          <a:p>
            <a:pPr fontAlgn="base"/>
            <a:r>
              <a:rPr lang="en-US" altLang="ko-KR" sz="1200" b="1" dirty="0">
                <a:solidFill>
                  <a:schemeClr val="tx2"/>
                </a:solidFill>
              </a:rPr>
              <a:t>(</a:t>
            </a:r>
            <a:r>
              <a:rPr lang="ko-KR" altLang="en-US" sz="1200" b="1" dirty="0">
                <a:solidFill>
                  <a:schemeClr val="tx2"/>
                </a:solidFill>
              </a:rPr>
              <a:t>제</a:t>
            </a:r>
            <a:r>
              <a:rPr lang="en-US" altLang="ko-KR" sz="1200" b="1" dirty="0">
                <a:solidFill>
                  <a:schemeClr val="tx2"/>
                </a:solidFill>
              </a:rPr>
              <a:t>99</a:t>
            </a:r>
            <a:r>
              <a:rPr lang="ko-KR" altLang="en-US" sz="1200" b="1" dirty="0">
                <a:solidFill>
                  <a:schemeClr val="tx2"/>
                </a:solidFill>
              </a:rPr>
              <a:t>조제</a:t>
            </a:r>
            <a:r>
              <a:rPr lang="en-US" altLang="ko-KR" sz="1200" b="1" dirty="0">
                <a:solidFill>
                  <a:schemeClr val="tx2"/>
                </a:solidFill>
              </a:rPr>
              <a:t>2</a:t>
            </a:r>
            <a:r>
              <a:rPr lang="ko-KR" altLang="en-US" sz="1200" b="1" dirty="0">
                <a:solidFill>
                  <a:schemeClr val="tx2"/>
                </a:solidFill>
              </a:rPr>
              <a:t>항</a:t>
            </a:r>
            <a:r>
              <a:rPr lang="en-US" altLang="ko-KR" sz="1200" b="1" dirty="0">
                <a:solidFill>
                  <a:schemeClr val="tx2"/>
                </a:solidFill>
              </a:rPr>
              <a:t>)</a:t>
            </a:r>
            <a:r>
              <a:rPr lang="en-US" altLang="ko-KR" sz="1200" dirty="0">
                <a:solidFill>
                  <a:schemeClr val="tx2"/>
                </a:solidFill>
              </a:rPr>
              <a:t> </a:t>
            </a:r>
            <a:r>
              <a:rPr lang="ko-KR" altLang="en-US" sz="1200" dirty="0">
                <a:solidFill>
                  <a:schemeClr val="tx2"/>
                </a:solidFill>
              </a:rPr>
              <a:t>특허권이 공유인 경우에는 각 공유자는 다른 공유자 모두의 동의를 받아야만 그 지분을 양도하거나 그 지분을 목적으로 하는 질권을 설정할 수 있다</a:t>
            </a:r>
            <a:r>
              <a:rPr lang="en-US" altLang="ko-KR" sz="1200" dirty="0">
                <a:solidFill>
                  <a:schemeClr val="tx2"/>
                </a:solidFill>
              </a:rPr>
              <a:t>.</a:t>
            </a:r>
            <a:r>
              <a:rPr lang="ko-KR" altLang="en-US" sz="1200" dirty="0">
                <a:solidFill>
                  <a:schemeClr val="tx2"/>
                </a:solidFill>
              </a:rPr>
              <a:t> </a:t>
            </a:r>
            <a:endParaRPr lang="en-US" altLang="ko-KR" sz="1200" dirty="0">
              <a:solidFill>
                <a:schemeClr val="tx2"/>
              </a:solidFill>
            </a:endParaRPr>
          </a:p>
          <a:p>
            <a:pPr fontAlgn="base"/>
            <a:r>
              <a:rPr lang="en-US" altLang="ko-KR" sz="1200" b="1" dirty="0">
                <a:solidFill>
                  <a:schemeClr val="tx2"/>
                </a:solidFill>
              </a:rPr>
              <a:t>(</a:t>
            </a:r>
            <a:r>
              <a:rPr lang="ko-KR" altLang="en-US" sz="1200" b="1" dirty="0">
                <a:solidFill>
                  <a:schemeClr val="tx2"/>
                </a:solidFill>
              </a:rPr>
              <a:t>제</a:t>
            </a:r>
            <a:r>
              <a:rPr lang="en-US" altLang="ko-KR" sz="1200" b="1" dirty="0">
                <a:solidFill>
                  <a:schemeClr val="tx2"/>
                </a:solidFill>
              </a:rPr>
              <a:t>99</a:t>
            </a:r>
            <a:r>
              <a:rPr lang="ko-KR" altLang="en-US" sz="1200" b="1" dirty="0">
                <a:solidFill>
                  <a:schemeClr val="tx2"/>
                </a:solidFill>
              </a:rPr>
              <a:t>조제</a:t>
            </a:r>
            <a:r>
              <a:rPr lang="en-US" altLang="ko-KR" sz="1200" b="1" dirty="0">
                <a:solidFill>
                  <a:schemeClr val="tx2"/>
                </a:solidFill>
              </a:rPr>
              <a:t>4</a:t>
            </a:r>
            <a:r>
              <a:rPr lang="ko-KR" altLang="en-US" sz="1200" b="1" dirty="0">
                <a:solidFill>
                  <a:schemeClr val="tx2"/>
                </a:solidFill>
              </a:rPr>
              <a:t>항</a:t>
            </a:r>
            <a:r>
              <a:rPr lang="en-US" altLang="ko-KR" sz="1200" b="1" dirty="0">
                <a:solidFill>
                  <a:schemeClr val="tx2"/>
                </a:solidFill>
              </a:rPr>
              <a:t>)</a:t>
            </a:r>
            <a:r>
              <a:rPr lang="en-US" altLang="ko-KR" sz="1200" dirty="0">
                <a:solidFill>
                  <a:schemeClr val="tx2"/>
                </a:solidFill>
              </a:rPr>
              <a:t> </a:t>
            </a:r>
            <a:r>
              <a:rPr lang="ko-KR" altLang="en-US" sz="1200" dirty="0">
                <a:solidFill>
                  <a:schemeClr val="tx2"/>
                </a:solidFill>
              </a:rPr>
              <a:t>특허권이 공유인 경우에는 각 공유자는 다른 공유자 모두의 동의를 받아야만 그 특허권에 대하여 </a:t>
            </a:r>
            <a:r>
              <a:rPr lang="ko-KR" altLang="en-US" sz="1200" dirty="0" err="1">
                <a:solidFill>
                  <a:schemeClr val="tx2"/>
                </a:solidFill>
              </a:rPr>
              <a:t>전용실시권을</a:t>
            </a:r>
            <a:r>
              <a:rPr lang="ko-KR" altLang="en-US" sz="1200" dirty="0">
                <a:solidFill>
                  <a:schemeClr val="tx2"/>
                </a:solidFill>
              </a:rPr>
              <a:t> 설정하거나 </a:t>
            </a:r>
            <a:r>
              <a:rPr lang="ko-KR" altLang="en-US" sz="1200" dirty="0" err="1">
                <a:solidFill>
                  <a:schemeClr val="tx2"/>
                </a:solidFill>
              </a:rPr>
              <a:t>통상실시권을</a:t>
            </a:r>
            <a:r>
              <a:rPr lang="ko-KR" altLang="en-US" sz="1200" dirty="0">
                <a:solidFill>
                  <a:schemeClr val="tx2"/>
                </a:solidFill>
              </a:rPr>
              <a:t> 허락할 수 있다</a:t>
            </a:r>
            <a:r>
              <a:rPr lang="en-US" altLang="ko-KR" sz="1200" dirty="0">
                <a:solidFill>
                  <a:schemeClr val="tx2"/>
                </a:solidFill>
              </a:rPr>
              <a:t>.</a:t>
            </a:r>
          </a:p>
        </p:txBody>
      </p:sp>
      <p:cxnSp>
        <p:nvCxnSpPr>
          <p:cNvPr id="43" name="꺾인 연결선 42"/>
          <p:cNvCxnSpPr>
            <a:stCxn id="37" idx="3"/>
            <a:endCxn id="38" idx="1"/>
          </p:cNvCxnSpPr>
          <p:nvPr/>
        </p:nvCxnSpPr>
        <p:spPr>
          <a:xfrm flipV="1">
            <a:off x="5843522" y="1715730"/>
            <a:ext cx="279087" cy="801031"/>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37" idx="3"/>
            <a:endCxn id="39" idx="1"/>
          </p:cNvCxnSpPr>
          <p:nvPr/>
        </p:nvCxnSpPr>
        <p:spPr>
          <a:xfrm>
            <a:off x="5843522" y="2516761"/>
            <a:ext cx="279087" cy="154662"/>
          </a:xfrm>
          <a:prstGeom prst="bentConnector3">
            <a:avLst/>
          </a:prstGeom>
          <a:ln>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직선 연결선 45"/>
          <p:cNvCxnSpPr/>
          <p:nvPr/>
        </p:nvCxnSpPr>
        <p:spPr>
          <a:xfrm>
            <a:off x="2312159" y="3886200"/>
            <a:ext cx="953190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9" name="표 48"/>
          <p:cNvGraphicFramePr>
            <a:graphicFrameLocks noGrp="1"/>
          </p:cNvGraphicFramePr>
          <p:nvPr/>
        </p:nvGraphicFramePr>
        <p:xfrm>
          <a:off x="2428427" y="4421024"/>
          <a:ext cx="3489772" cy="1569720"/>
        </p:xfrm>
        <a:graphic>
          <a:graphicData uri="http://schemas.openxmlformats.org/drawingml/2006/table">
            <a:tbl>
              <a:tblPr firstRow="1">
                <a:tableStyleId>{69CF1AB2-1976-4502-BF36-3FF5EA218861}</a:tableStyleId>
              </a:tblPr>
              <a:tblGrid>
                <a:gridCol w="872443">
                  <a:extLst>
                    <a:ext uri="{9D8B030D-6E8A-4147-A177-3AD203B41FA5}">
                      <a16:colId xmlns:a16="http://schemas.microsoft.com/office/drawing/2014/main" val="20000"/>
                    </a:ext>
                  </a:extLst>
                </a:gridCol>
                <a:gridCol w="872443">
                  <a:extLst>
                    <a:ext uri="{9D8B030D-6E8A-4147-A177-3AD203B41FA5}">
                      <a16:colId xmlns:a16="http://schemas.microsoft.com/office/drawing/2014/main" val="20001"/>
                    </a:ext>
                  </a:extLst>
                </a:gridCol>
                <a:gridCol w="872443">
                  <a:extLst>
                    <a:ext uri="{9D8B030D-6E8A-4147-A177-3AD203B41FA5}">
                      <a16:colId xmlns:a16="http://schemas.microsoft.com/office/drawing/2014/main" val="20002"/>
                    </a:ext>
                  </a:extLst>
                </a:gridCol>
                <a:gridCol w="872443">
                  <a:extLst>
                    <a:ext uri="{9D8B030D-6E8A-4147-A177-3AD203B41FA5}">
                      <a16:colId xmlns:a16="http://schemas.microsoft.com/office/drawing/2014/main" val="20003"/>
                    </a:ext>
                  </a:extLst>
                </a:gridCol>
              </a:tblGrid>
              <a:tr h="370840">
                <a:tc>
                  <a:txBody>
                    <a:bodyPr/>
                    <a:lstStyle/>
                    <a:p>
                      <a:pPr algn="ctr" latinLnBrk="1"/>
                      <a:r>
                        <a:rPr lang="ko-KR" altLang="en-US" sz="1200" dirty="0"/>
                        <a:t>공유</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1200" dirty="0"/>
                        <a:t>지분</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1200" dirty="0"/>
                        <a:t>자본</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1200" dirty="0"/>
                        <a:t>상대적 </a:t>
                      </a:r>
                      <a:endParaRPr lang="en-US" altLang="ko-KR" sz="1200" dirty="0"/>
                    </a:p>
                    <a:p>
                      <a:pPr algn="ctr" latinLnBrk="1"/>
                      <a:r>
                        <a:rPr lang="ko-KR" altLang="en-US" sz="1200" dirty="0"/>
                        <a:t>우위</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0"/>
                  </a:ext>
                </a:extLst>
              </a:tr>
              <a:tr h="370840">
                <a:tc>
                  <a:txBody>
                    <a:bodyPr/>
                    <a:lstStyle/>
                    <a:p>
                      <a:pPr algn="ctr" latinLnBrk="1"/>
                      <a:r>
                        <a:rPr lang="ko-KR" altLang="en-US" sz="1200" dirty="0"/>
                        <a:t>甲</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t>60%</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백만원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rowSpan="3">
                  <a:txBody>
                    <a:bodyPr/>
                    <a:lstStyle/>
                    <a:p>
                      <a:pPr algn="ctr" latinLnBrk="1"/>
                      <a:r>
                        <a:rPr lang="ko-KR" altLang="en-US" sz="1200" dirty="0"/>
                        <a:t>丙</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370840">
                <a:tc>
                  <a:txBody>
                    <a:bodyPr/>
                    <a:lstStyle/>
                    <a:p>
                      <a:pPr algn="ctr" latinLnBrk="1"/>
                      <a:r>
                        <a:rPr lang="ko-KR" altLang="en-US" sz="1200" dirty="0"/>
                        <a:t>乙</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t>30%</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천만원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algn="ctr" latinLnBrk="1"/>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370840">
                <a:tc>
                  <a:txBody>
                    <a:bodyPr/>
                    <a:lstStyle/>
                    <a:p>
                      <a:pPr algn="ctr" latinLnBrk="1"/>
                      <a:r>
                        <a:rPr lang="ko-KR" altLang="en-US" sz="1200" dirty="0"/>
                        <a:t>丙</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t>10%</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일억원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algn="ctr" latinLnBrk="1"/>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grpSp>
        <p:nvGrpSpPr>
          <p:cNvPr id="54" name="그룹 53"/>
          <p:cNvGrpSpPr/>
          <p:nvPr/>
        </p:nvGrpSpPr>
        <p:grpSpPr>
          <a:xfrm>
            <a:off x="6244163" y="4622800"/>
            <a:ext cx="1443571" cy="982134"/>
            <a:chOff x="6659029" y="4622800"/>
            <a:chExt cx="1443571" cy="982134"/>
          </a:xfrm>
        </p:grpSpPr>
        <p:sp>
          <p:nvSpPr>
            <p:cNvPr id="51" name="오른쪽 화살표 50"/>
            <p:cNvSpPr/>
            <p:nvPr/>
          </p:nvSpPr>
          <p:spPr>
            <a:xfrm>
              <a:off x="6680200" y="4622800"/>
              <a:ext cx="1422400" cy="982134"/>
            </a:xfrm>
            <a:prstGeom prst="rightArrow">
              <a:avLst>
                <a:gd name="adj1" fmla="val 71348"/>
                <a:gd name="adj2" fmla="val 51191"/>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ko-KR" altLang="en-US" sz="1400" dirty="0">
                <a:solidFill>
                  <a:schemeClr val="tx1">
                    <a:lumMod val="50000"/>
                    <a:lumOff val="50000"/>
                  </a:schemeClr>
                </a:solidFill>
              </a:endParaRPr>
            </a:p>
          </p:txBody>
        </p:sp>
        <p:sp>
          <p:nvSpPr>
            <p:cNvPr id="52" name="TextBox 51"/>
            <p:cNvSpPr txBox="1"/>
            <p:nvPr/>
          </p:nvSpPr>
          <p:spPr>
            <a:xfrm>
              <a:off x="6659029" y="4823320"/>
              <a:ext cx="1278467" cy="523220"/>
            </a:xfrm>
            <a:prstGeom prst="rect">
              <a:avLst/>
            </a:prstGeom>
            <a:noFill/>
          </p:spPr>
          <p:txBody>
            <a:bodyPr wrap="square" rtlCol="0">
              <a:spAutoFit/>
            </a:bodyPr>
            <a:lstStyle/>
            <a:p>
              <a:pPr algn="ctr"/>
              <a:r>
                <a:rPr lang="ko-KR" altLang="en-US" sz="1400" dirty="0"/>
                <a:t>甲이 丁에게 </a:t>
              </a:r>
              <a:endParaRPr lang="en-US" altLang="ko-KR" sz="1400" dirty="0"/>
            </a:p>
            <a:p>
              <a:pPr algn="ctr"/>
              <a:r>
                <a:rPr lang="ko-KR" altLang="en-US" sz="1400" dirty="0"/>
                <a:t>지분 </a:t>
              </a:r>
              <a:r>
                <a:rPr lang="en-US" altLang="ko-KR" sz="1400" dirty="0"/>
                <a:t>5% </a:t>
              </a:r>
              <a:r>
                <a:rPr lang="ko-KR" altLang="en-US" sz="1400" dirty="0"/>
                <a:t>양도</a:t>
              </a:r>
            </a:p>
          </p:txBody>
        </p:sp>
      </p:grpSp>
      <p:graphicFrame>
        <p:nvGraphicFramePr>
          <p:cNvPr id="55" name="표 54"/>
          <p:cNvGraphicFramePr>
            <a:graphicFrameLocks noGrp="1"/>
          </p:cNvGraphicFramePr>
          <p:nvPr/>
        </p:nvGraphicFramePr>
        <p:xfrm>
          <a:off x="8024893" y="4421024"/>
          <a:ext cx="3489772" cy="1940560"/>
        </p:xfrm>
        <a:graphic>
          <a:graphicData uri="http://schemas.openxmlformats.org/drawingml/2006/table">
            <a:tbl>
              <a:tblPr firstRow="1">
                <a:tableStyleId>{69CF1AB2-1976-4502-BF36-3FF5EA218861}</a:tableStyleId>
              </a:tblPr>
              <a:tblGrid>
                <a:gridCol w="872443">
                  <a:extLst>
                    <a:ext uri="{9D8B030D-6E8A-4147-A177-3AD203B41FA5}">
                      <a16:colId xmlns:a16="http://schemas.microsoft.com/office/drawing/2014/main" val="20000"/>
                    </a:ext>
                  </a:extLst>
                </a:gridCol>
                <a:gridCol w="872443">
                  <a:extLst>
                    <a:ext uri="{9D8B030D-6E8A-4147-A177-3AD203B41FA5}">
                      <a16:colId xmlns:a16="http://schemas.microsoft.com/office/drawing/2014/main" val="20001"/>
                    </a:ext>
                  </a:extLst>
                </a:gridCol>
                <a:gridCol w="872443">
                  <a:extLst>
                    <a:ext uri="{9D8B030D-6E8A-4147-A177-3AD203B41FA5}">
                      <a16:colId xmlns:a16="http://schemas.microsoft.com/office/drawing/2014/main" val="20002"/>
                    </a:ext>
                  </a:extLst>
                </a:gridCol>
                <a:gridCol w="872443">
                  <a:extLst>
                    <a:ext uri="{9D8B030D-6E8A-4147-A177-3AD203B41FA5}">
                      <a16:colId xmlns:a16="http://schemas.microsoft.com/office/drawing/2014/main" val="20003"/>
                    </a:ext>
                  </a:extLst>
                </a:gridCol>
              </a:tblGrid>
              <a:tr h="370840">
                <a:tc>
                  <a:txBody>
                    <a:bodyPr/>
                    <a:lstStyle/>
                    <a:p>
                      <a:pPr algn="ctr" latinLnBrk="1"/>
                      <a:r>
                        <a:rPr lang="ko-KR" altLang="en-US" sz="1200" dirty="0"/>
                        <a:t>공유</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1200" dirty="0"/>
                        <a:t>지분</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1200" dirty="0"/>
                        <a:t>자본</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tc>
                  <a:txBody>
                    <a:bodyPr/>
                    <a:lstStyle/>
                    <a:p>
                      <a:pPr algn="ctr" latinLnBrk="1"/>
                      <a:r>
                        <a:rPr lang="ko-KR" altLang="en-US" sz="1200" dirty="0"/>
                        <a:t>상대적 </a:t>
                      </a:r>
                      <a:endParaRPr lang="en-US" altLang="ko-KR" sz="1200" dirty="0"/>
                    </a:p>
                    <a:p>
                      <a:pPr algn="ctr" latinLnBrk="1"/>
                      <a:r>
                        <a:rPr lang="ko-KR" altLang="en-US" sz="1200" dirty="0"/>
                        <a:t>우위</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0"/>
                  </a:ext>
                </a:extLst>
              </a:tr>
              <a:tr h="370840">
                <a:tc>
                  <a:txBody>
                    <a:bodyPr/>
                    <a:lstStyle/>
                    <a:p>
                      <a:pPr algn="ctr" latinLnBrk="1"/>
                      <a:r>
                        <a:rPr lang="ko-KR" altLang="en-US" sz="1200" dirty="0"/>
                        <a:t>甲</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solidFill>
                            <a:srgbClr val="FF0000"/>
                          </a:solidFill>
                        </a:rPr>
                        <a:t>55%</a:t>
                      </a:r>
                      <a:endParaRPr lang="ko-KR" altLang="en-US" sz="1200" dirty="0">
                        <a:solidFill>
                          <a:srgbClr val="FF0000"/>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백만원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rowSpan="4">
                  <a:txBody>
                    <a:bodyPr/>
                    <a:lstStyle/>
                    <a:p>
                      <a:pPr algn="ctr" latinLnBrk="1"/>
                      <a:r>
                        <a:rPr lang="ko-KR" altLang="en-US" sz="1200" dirty="0">
                          <a:solidFill>
                            <a:srgbClr val="FF0000"/>
                          </a:solidFill>
                        </a:rPr>
                        <a:t>丁</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370840">
                <a:tc>
                  <a:txBody>
                    <a:bodyPr/>
                    <a:lstStyle/>
                    <a:p>
                      <a:pPr algn="ctr" latinLnBrk="1"/>
                      <a:r>
                        <a:rPr lang="ko-KR" altLang="en-US" sz="1200" dirty="0"/>
                        <a:t>乙</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t>30%</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천만원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algn="ctr" latinLnBrk="1"/>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370840">
                <a:tc>
                  <a:txBody>
                    <a:bodyPr/>
                    <a:lstStyle/>
                    <a:p>
                      <a:pPr algn="ctr" latinLnBrk="1"/>
                      <a:r>
                        <a:rPr lang="ko-KR" altLang="en-US" sz="1200" dirty="0"/>
                        <a:t>丙</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t>10%</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일억원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algn="ctr" latinLnBrk="1"/>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r h="370840">
                <a:tc>
                  <a:txBody>
                    <a:bodyPr/>
                    <a:lstStyle/>
                    <a:p>
                      <a:pPr algn="ctr" latinLnBrk="1"/>
                      <a:r>
                        <a:rPr lang="ko-KR" altLang="en-US" sz="1200" dirty="0"/>
                        <a:t>丁</a:t>
                      </a: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en-US" altLang="ko-KR" sz="1200" dirty="0">
                          <a:solidFill>
                            <a:srgbClr val="FF0000"/>
                          </a:solidFill>
                        </a:rPr>
                        <a:t>5%</a:t>
                      </a:r>
                      <a:endParaRPr lang="ko-KR" altLang="en-US" sz="1200" dirty="0">
                        <a:solidFill>
                          <a:srgbClr val="FF0000"/>
                        </a:solidFill>
                      </a:endParaRPr>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latinLnBrk="1"/>
                      <a:r>
                        <a:rPr lang="ko-KR" altLang="en-US" sz="1200" dirty="0" err="1"/>
                        <a:t>일조원</a:t>
                      </a:r>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algn="ctr" latinLnBrk="1"/>
                      <a:endParaRPr lang="ko-KR" altLang="en-US" sz="1200" dirty="0"/>
                    </a:p>
                  </a:txBody>
                  <a:tcPr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2" name="슬라이드 번호 개체 틀 1"/>
          <p:cNvSpPr>
            <a:spLocks noGrp="1"/>
          </p:cNvSpPr>
          <p:nvPr>
            <p:ph type="sldNum" sz="quarter" idx="12"/>
          </p:nvPr>
        </p:nvSpPr>
        <p:spPr/>
        <p:txBody>
          <a:bodyPr/>
          <a:lstStyle/>
          <a:p>
            <a:r>
              <a:rPr lang="en-US" altLang="ko-KR"/>
              <a:t>406</a:t>
            </a:r>
            <a:endParaRPr lang="ko-KR" altLang="en-US"/>
          </a:p>
        </p:txBody>
      </p:sp>
    </p:spTree>
    <p:extLst>
      <p:ext uri="{BB962C8B-B14F-4D97-AF65-F5344CB8AC3E}">
        <p14:creationId xmlns:p14="http://schemas.microsoft.com/office/powerpoint/2010/main" val="227467219"/>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99</a:t>
            </a:r>
            <a:r>
              <a:rPr lang="ko-KR" altLang="en-US" dirty="0"/>
              <a:t>조</a:t>
            </a:r>
          </a:p>
        </p:txBody>
      </p:sp>
      <p:sp>
        <p:nvSpPr>
          <p:cNvPr id="4" name="텍스트 개체 틀 3"/>
          <p:cNvSpPr>
            <a:spLocks noGrp="1"/>
          </p:cNvSpPr>
          <p:nvPr>
            <p:ph type="body" sz="quarter" idx="13"/>
          </p:nvPr>
        </p:nvSpPr>
        <p:spPr/>
        <p:txBody>
          <a:bodyPr/>
          <a:lstStyle/>
          <a:p>
            <a:r>
              <a:rPr lang="ko-KR" altLang="en-US" dirty="0"/>
              <a:t>공유물의 분할청구 </a:t>
            </a:r>
            <a:r>
              <a:rPr lang="en-US" altLang="ko-KR" dirty="0"/>
              <a:t>CASE</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407</a:t>
            </a:r>
            <a:endParaRPr lang="ko-KR" altLang="en-US"/>
          </a:p>
        </p:txBody>
      </p:sp>
      <p:sp>
        <p:nvSpPr>
          <p:cNvPr id="31" name="모서리가 둥근 직사각형 10">
            <a:extLst>
              <a:ext uri="{FF2B5EF4-FFF2-40B4-BE49-F238E27FC236}">
                <a16:creationId xmlns:a16="http://schemas.microsoft.com/office/drawing/2014/main" id="{83E8DC17-A890-4A8F-8AF6-87049ACC89A5}"/>
              </a:ext>
            </a:extLst>
          </p:cNvPr>
          <p:cNvSpPr/>
          <p:nvPr/>
        </p:nvSpPr>
        <p:spPr bwMode="auto">
          <a:xfrm>
            <a:off x="378418" y="1002199"/>
            <a:ext cx="4981233"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2014. 8. 20. </a:t>
            </a:r>
            <a:r>
              <a:rPr lang="ko-KR" altLang="en-US" sz="1400" dirty="0"/>
              <a:t>선고 </a:t>
            </a:r>
            <a:r>
              <a:rPr lang="en-US" altLang="ko-KR" sz="1400" dirty="0"/>
              <a:t>2013</a:t>
            </a:r>
            <a:r>
              <a:rPr lang="ko-KR" altLang="en-US" sz="1400" dirty="0"/>
              <a:t>다</a:t>
            </a:r>
            <a:r>
              <a:rPr lang="en-US" altLang="ko-KR" sz="1400" dirty="0"/>
              <a:t>41578 </a:t>
            </a:r>
            <a:r>
              <a:rPr lang="ko-KR" altLang="en-US" sz="1400" dirty="0"/>
              <a:t>판결 </a:t>
            </a:r>
            <a:r>
              <a:rPr lang="en-US" altLang="ko-KR" sz="1400" dirty="0"/>
              <a:t>【</a:t>
            </a:r>
            <a:r>
              <a:rPr lang="ko-KR" altLang="en-US" sz="1400" dirty="0"/>
              <a:t>공유물분할</a:t>
            </a:r>
            <a:r>
              <a:rPr lang="en-US" altLang="ko-KR" sz="1400" dirty="0"/>
              <a:t>】</a:t>
            </a:r>
          </a:p>
        </p:txBody>
      </p:sp>
      <p:sp>
        <p:nvSpPr>
          <p:cNvPr id="32" name="직사각형 31">
            <a:extLst>
              <a:ext uri="{FF2B5EF4-FFF2-40B4-BE49-F238E27FC236}">
                <a16:creationId xmlns:a16="http://schemas.microsoft.com/office/drawing/2014/main" id="{AB016C75-8430-4388-9E51-7B3101DE3CF1}"/>
              </a:ext>
            </a:extLst>
          </p:cNvPr>
          <p:cNvSpPr/>
          <p:nvPr/>
        </p:nvSpPr>
        <p:spPr>
          <a:xfrm>
            <a:off x="232372" y="1469453"/>
            <a:ext cx="11681987" cy="1384995"/>
          </a:xfrm>
          <a:prstGeom prst="rect">
            <a:avLst/>
          </a:prstGeom>
        </p:spPr>
        <p:txBody>
          <a:bodyPr wrap="square">
            <a:spAutoFit/>
          </a:bodyPr>
          <a:lstStyle/>
          <a:p>
            <a:pPr algn="just"/>
            <a:r>
              <a:rPr lang="ko-KR" altLang="en-US" sz="1200" dirty="0"/>
              <a:t>특허법 제</a:t>
            </a:r>
            <a:r>
              <a:rPr lang="en-US" altLang="ko-KR" sz="1200" dirty="0"/>
              <a:t>99</a:t>
            </a:r>
            <a:r>
              <a:rPr lang="ko-KR" altLang="en-US" sz="1200" dirty="0"/>
              <a:t>조 제</a:t>
            </a:r>
            <a:r>
              <a:rPr lang="en-US" altLang="ko-KR" sz="1200" dirty="0"/>
              <a:t>2</a:t>
            </a:r>
            <a:r>
              <a:rPr lang="ko-KR" altLang="en-US" sz="1200" dirty="0"/>
              <a:t>항 및 제</a:t>
            </a:r>
            <a:r>
              <a:rPr lang="en-US" altLang="ko-KR" sz="1200" dirty="0"/>
              <a:t>4</a:t>
            </a:r>
            <a:r>
              <a:rPr lang="ko-KR" altLang="en-US" sz="1200" dirty="0"/>
              <a:t>항의 규정 취지는</a:t>
            </a:r>
            <a:r>
              <a:rPr lang="en-US" altLang="ko-KR" sz="1200" dirty="0"/>
              <a:t>, </a:t>
            </a:r>
            <a:r>
              <a:rPr lang="ko-KR" altLang="en-US" sz="1200" dirty="0"/>
              <a:t>공유자 외의 제</a:t>
            </a:r>
            <a:r>
              <a:rPr lang="en-US" altLang="ko-KR" sz="1200" dirty="0"/>
              <a:t>3</a:t>
            </a:r>
            <a:r>
              <a:rPr lang="ko-KR" altLang="en-US" sz="1200" dirty="0"/>
              <a:t>자가 특허권 지분을 양도받거나 그에 관한 실시권을 </a:t>
            </a:r>
            <a:r>
              <a:rPr lang="ko-KR" altLang="en-US" sz="1200" dirty="0" err="1"/>
              <a:t>설정받을</a:t>
            </a:r>
            <a:r>
              <a:rPr lang="ko-KR" altLang="en-US" sz="1200" dirty="0"/>
              <a:t> 경우 그 제</a:t>
            </a:r>
            <a:r>
              <a:rPr lang="en-US" altLang="ko-KR" sz="1200" dirty="0"/>
              <a:t>3</a:t>
            </a:r>
            <a:r>
              <a:rPr lang="ko-KR" altLang="en-US" sz="1200" dirty="0"/>
              <a:t>자가 투입하는 자본의 </a:t>
            </a:r>
            <a:r>
              <a:rPr lang="ko-KR" altLang="en-US" sz="1200" dirty="0" err="1"/>
              <a:t>규모ㆍ기술</a:t>
            </a:r>
            <a:r>
              <a:rPr lang="ko-KR" altLang="en-US" sz="1200" dirty="0"/>
              <a:t> 및 능력 등에 따라 그 경제적 효과가 현저하게 달라지게 되어 다른 공유자 지분의 경제적 가치에도 상당한 변동을 가져올 수 있는 특허권의 공유관계의 특수성을 고려하여</a:t>
            </a:r>
            <a:r>
              <a:rPr lang="en-US" altLang="ko-KR" sz="1200" dirty="0"/>
              <a:t>, </a:t>
            </a:r>
            <a:r>
              <a:rPr lang="ko-KR" altLang="en-US" sz="1200" dirty="0"/>
              <a:t>다른 공유자의 동의 없는 지분의 양도 및 </a:t>
            </a:r>
            <a:r>
              <a:rPr lang="ko-KR" altLang="en-US" sz="1200" dirty="0" err="1"/>
              <a:t>실시권</a:t>
            </a:r>
            <a:r>
              <a:rPr lang="ko-KR" altLang="en-US" sz="1200" dirty="0"/>
              <a:t> 설정 등을 금지한다는 데에 있다</a:t>
            </a:r>
            <a:r>
              <a:rPr lang="en-US" altLang="ko-KR" sz="1200" dirty="0"/>
              <a:t>. </a:t>
            </a:r>
            <a:r>
              <a:rPr lang="ko-KR" altLang="en-US" sz="1200" dirty="0"/>
              <a:t>그렇다면 </a:t>
            </a:r>
            <a:r>
              <a:rPr lang="en-US" altLang="ko-KR" sz="1200" dirty="0"/>
              <a:t>1) </a:t>
            </a:r>
            <a:r>
              <a:rPr lang="ko-KR" altLang="en-US" sz="1200" dirty="0"/>
              <a:t>특허권의 공유자 상호간에 이해관계가 대립되는 경우 등에 그 공유관계를 해소하기 위한 수단으로서 각 공유자에게 민법상의 공유물분할청구권을 인정하더라도 </a:t>
            </a:r>
            <a:r>
              <a:rPr lang="ko-KR" altLang="en-US" sz="1200" dirty="0">
                <a:solidFill>
                  <a:schemeClr val="accent3">
                    <a:lumMod val="50000"/>
                  </a:schemeClr>
                </a:solidFill>
                <a:highlight>
                  <a:srgbClr val="FFFF00"/>
                </a:highlight>
              </a:rPr>
              <a:t>공유자 이외의 제</a:t>
            </a:r>
            <a:r>
              <a:rPr lang="en-US" altLang="ko-KR" sz="1200" dirty="0">
                <a:solidFill>
                  <a:schemeClr val="accent3">
                    <a:lumMod val="50000"/>
                  </a:schemeClr>
                </a:solidFill>
                <a:highlight>
                  <a:srgbClr val="FFFF00"/>
                </a:highlight>
              </a:rPr>
              <a:t>3</a:t>
            </a:r>
            <a:r>
              <a:rPr lang="ko-KR" altLang="en-US" sz="1200" dirty="0">
                <a:solidFill>
                  <a:schemeClr val="accent3">
                    <a:lumMod val="50000"/>
                  </a:schemeClr>
                </a:solidFill>
                <a:highlight>
                  <a:srgbClr val="FFFF00"/>
                </a:highlight>
              </a:rPr>
              <a:t>자에 의하여 다른 공유자 지분의 경제적 가치에 위와 같은 변동이 발생한다고 보기 어려워서 위 특허법 제</a:t>
            </a:r>
            <a:r>
              <a:rPr lang="en-US" altLang="ko-KR" sz="1200" dirty="0">
                <a:solidFill>
                  <a:schemeClr val="accent3">
                    <a:lumMod val="50000"/>
                  </a:schemeClr>
                </a:solidFill>
                <a:highlight>
                  <a:srgbClr val="FFFF00"/>
                </a:highlight>
              </a:rPr>
              <a:t>99</a:t>
            </a:r>
            <a:r>
              <a:rPr lang="ko-KR" altLang="en-US" sz="1200" dirty="0">
                <a:solidFill>
                  <a:schemeClr val="accent3">
                    <a:lumMod val="50000"/>
                  </a:schemeClr>
                </a:solidFill>
                <a:highlight>
                  <a:srgbClr val="FFFF00"/>
                </a:highlight>
              </a:rPr>
              <a:t>조 제</a:t>
            </a:r>
            <a:r>
              <a:rPr lang="en-US" altLang="ko-KR" sz="1200" dirty="0">
                <a:solidFill>
                  <a:schemeClr val="accent3">
                    <a:lumMod val="50000"/>
                  </a:schemeClr>
                </a:solidFill>
                <a:highlight>
                  <a:srgbClr val="FFFF00"/>
                </a:highlight>
              </a:rPr>
              <a:t>2</a:t>
            </a:r>
            <a:r>
              <a:rPr lang="ko-KR" altLang="en-US" sz="1200" dirty="0">
                <a:solidFill>
                  <a:schemeClr val="accent3">
                    <a:lumMod val="50000"/>
                  </a:schemeClr>
                </a:solidFill>
                <a:highlight>
                  <a:srgbClr val="FFFF00"/>
                </a:highlight>
              </a:rPr>
              <a:t>항 및 제</a:t>
            </a:r>
            <a:r>
              <a:rPr lang="en-US" altLang="ko-KR" sz="1200" dirty="0">
                <a:solidFill>
                  <a:schemeClr val="accent3">
                    <a:lumMod val="50000"/>
                  </a:schemeClr>
                </a:solidFill>
                <a:highlight>
                  <a:srgbClr val="FFFF00"/>
                </a:highlight>
              </a:rPr>
              <a:t>4</a:t>
            </a:r>
            <a:r>
              <a:rPr lang="ko-KR" altLang="en-US" sz="1200" dirty="0">
                <a:solidFill>
                  <a:schemeClr val="accent3">
                    <a:lumMod val="50000"/>
                  </a:schemeClr>
                </a:solidFill>
                <a:highlight>
                  <a:srgbClr val="FFFF00"/>
                </a:highlight>
              </a:rPr>
              <a:t>항에 반하지 아니하고</a:t>
            </a:r>
            <a:r>
              <a:rPr lang="en-US" altLang="ko-KR" sz="1200" dirty="0"/>
              <a:t>, 2) </a:t>
            </a:r>
            <a:r>
              <a:rPr lang="ko-KR" altLang="en-US" sz="1200" dirty="0"/>
              <a:t>달리 분할청구를 </a:t>
            </a:r>
            <a:r>
              <a:rPr lang="ko-KR" altLang="en-US" sz="1200" dirty="0">
                <a:solidFill>
                  <a:schemeClr val="accent3">
                    <a:lumMod val="50000"/>
                  </a:schemeClr>
                </a:solidFill>
                <a:highlight>
                  <a:srgbClr val="CCECFF"/>
                </a:highlight>
              </a:rPr>
              <a:t>금지하는 특허법 규정도 없으므로</a:t>
            </a:r>
            <a:r>
              <a:rPr lang="en-US" altLang="ko-KR" sz="1200" dirty="0">
                <a:solidFill>
                  <a:srgbClr val="FF0000"/>
                </a:solidFill>
              </a:rPr>
              <a:t>, </a:t>
            </a:r>
            <a:r>
              <a:rPr lang="ko-KR" altLang="en-US" sz="1200" dirty="0"/>
              <a:t>특허권의 공유관계에 민법상 공유물분할청구에 관한 규정이 적용될 수 있다</a:t>
            </a:r>
            <a:r>
              <a:rPr lang="en-US" altLang="ko-KR" sz="1200" dirty="0"/>
              <a:t>. </a:t>
            </a:r>
            <a:r>
              <a:rPr lang="ko-KR" altLang="en-US" sz="1200" dirty="0"/>
              <a:t>다만 특허권은 발명실시에 대한 독점권으로서 그 대상은 형체가 없을 뿐만 아니라 각 공유자에게 특허권을 부여하는 방식의 </a:t>
            </a:r>
            <a:r>
              <a:rPr lang="ko-KR" altLang="en-US" sz="1200" dirty="0">
                <a:solidFill>
                  <a:schemeClr val="accent3">
                    <a:lumMod val="50000"/>
                  </a:schemeClr>
                </a:solidFill>
                <a:highlight>
                  <a:srgbClr val="FFFF00"/>
                </a:highlight>
              </a:rPr>
              <a:t>현물분할을 인정하면 하나의 특허권이 사실상 내용이 동일한 복수의 특허권으로 증가하는 부당한 결과를 초래하게 되므로</a:t>
            </a:r>
            <a:r>
              <a:rPr lang="en-US" altLang="ko-KR" sz="1200" dirty="0">
                <a:solidFill>
                  <a:schemeClr val="accent3">
                    <a:lumMod val="50000"/>
                  </a:schemeClr>
                </a:solidFill>
                <a:highlight>
                  <a:srgbClr val="FFFF00"/>
                </a:highlight>
              </a:rPr>
              <a:t>, </a:t>
            </a:r>
            <a:r>
              <a:rPr lang="ko-KR" altLang="en-US" sz="1200" dirty="0">
                <a:solidFill>
                  <a:schemeClr val="accent3">
                    <a:lumMod val="50000"/>
                  </a:schemeClr>
                </a:solidFill>
                <a:highlight>
                  <a:srgbClr val="FFFF00"/>
                </a:highlight>
              </a:rPr>
              <a:t>특허권의 성질상 그러한 현물분할은 허용되지 아니한다</a:t>
            </a:r>
            <a:r>
              <a:rPr lang="ko-KR" altLang="en-US" sz="1200" dirty="0"/>
              <a:t>고 봄이 상당하다</a:t>
            </a:r>
            <a:endParaRPr lang="en-US" altLang="ko-KR" sz="1200" dirty="0"/>
          </a:p>
        </p:txBody>
      </p:sp>
      <p:cxnSp>
        <p:nvCxnSpPr>
          <p:cNvPr id="33" name="직선 연결선 32">
            <a:extLst>
              <a:ext uri="{FF2B5EF4-FFF2-40B4-BE49-F238E27FC236}">
                <a16:creationId xmlns:a16="http://schemas.microsoft.com/office/drawing/2014/main" id="{3B7D8B57-08E9-4752-8D90-0D1D0602B6B2}"/>
              </a:ext>
            </a:extLst>
          </p:cNvPr>
          <p:cNvCxnSpPr/>
          <p:nvPr/>
        </p:nvCxnSpPr>
        <p:spPr>
          <a:xfrm>
            <a:off x="0" y="2879008"/>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Line 5">
            <a:extLst>
              <a:ext uri="{FF2B5EF4-FFF2-40B4-BE49-F238E27FC236}">
                <a16:creationId xmlns:a16="http://schemas.microsoft.com/office/drawing/2014/main" id="{C3D521F3-C89A-4691-A233-1BC4F6DB64D3}"/>
              </a:ext>
            </a:extLst>
          </p:cNvPr>
          <p:cNvSpPr>
            <a:spLocks noChangeShapeType="1"/>
          </p:cNvSpPr>
          <p:nvPr/>
        </p:nvSpPr>
        <p:spPr bwMode="auto">
          <a:xfrm>
            <a:off x="790576" y="3259730"/>
            <a:ext cx="10620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4" name="TextBox 43">
            <a:extLst>
              <a:ext uri="{FF2B5EF4-FFF2-40B4-BE49-F238E27FC236}">
                <a16:creationId xmlns:a16="http://schemas.microsoft.com/office/drawing/2014/main" id="{890F57E0-0C93-429E-B52D-950B18A62824}"/>
              </a:ext>
            </a:extLst>
          </p:cNvPr>
          <p:cNvSpPr txBox="1"/>
          <p:nvPr/>
        </p:nvSpPr>
        <p:spPr>
          <a:xfrm>
            <a:off x="1288217" y="3515905"/>
            <a:ext cx="1871436" cy="523220"/>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甲</a:t>
            </a:r>
            <a:r>
              <a:rPr lang="en-US" altLang="ko-KR" sz="1400" dirty="0">
                <a:solidFill>
                  <a:schemeClr val="tx1"/>
                </a:solidFill>
                <a:latin typeface="+mn-ea"/>
              </a:rPr>
              <a:t>(</a:t>
            </a:r>
            <a:r>
              <a:rPr lang="ko-KR" altLang="en-US" sz="1400" dirty="0">
                <a:solidFill>
                  <a:schemeClr val="tx1"/>
                </a:solidFill>
                <a:latin typeface="+mn-ea"/>
              </a:rPr>
              <a:t>개인발명자</a:t>
            </a:r>
            <a:r>
              <a:rPr lang="en-US" altLang="ko-KR" sz="1400" dirty="0">
                <a:solidFill>
                  <a:schemeClr val="tx1"/>
                </a:solidFill>
                <a:latin typeface="+mn-ea"/>
              </a:rPr>
              <a:t>)</a:t>
            </a:r>
            <a:r>
              <a:rPr lang="ko-KR" altLang="en-US" sz="1400" dirty="0">
                <a:solidFill>
                  <a:schemeClr val="tx1"/>
                </a:solidFill>
                <a:latin typeface="+mn-ea"/>
              </a:rPr>
              <a:t>와 </a:t>
            </a:r>
            <a:endParaRPr lang="en-US" altLang="ko-KR" sz="1400" dirty="0">
              <a:solidFill>
                <a:schemeClr val="tx1"/>
              </a:solidFill>
              <a:latin typeface="+mn-ea"/>
            </a:endParaRPr>
          </a:p>
          <a:p>
            <a:pPr algn="ctr"/>
            <a:r>
              <a:rPr lang="ko-KR" altLang="en-US" sz="1400" dirty="0">
                <a:solidFill>
                  <a:schemeClr val="tx1"/>
                </a:solidFill>
                <a:latin typeface="+mn-ea"/>
              </a:rPr>
              <a:t>乙</a:t>
            </a:r>
            <a:r>
              <a:rPr lang="en-US" altLang="ko-KR" sz="1400" dirty="0">
                <a:solidFill>
                  <a:schemeClr val="tx1"/>
                </a:solidFill>
                <a:latin typeface="+mn-ea"/>
              </a:rPr>
              <a:t>(</a:t>
            </a:r>
            <a:r>
              <a:rPr lang="ko-KR" altLang="en-US" sz="1400" dirty="0">
                <a:solidFill>
                  <a:schemeClr val="tx1"/>
                </a:solidFill>
                <a:latin typeface="+mn-ea"/>
              </a:rPr>
              <a:t>기업</a:t>
            </a:r>
            <a:r>
              <a:rPr lang="en-US" altLang="ko-KR" sz="1400" dirty="0">
                <a:solidFill>
                  <a:schemeClr val="tx1"/>
                </a:solidFill>
                <a:latin typeface="+mn-ea"/>
              </a:rPr>
              <a:t>)</a:t>
            </a:r>
            <a:r>
              <a:rPr lang="ko-KR" altLang="en-US" sz="1400" dirty="0">
                <a:solidFill>
                  <a:schemeClr val="tx1"/>
                </a:solidFill>
                <a:latin typeface="+mn-ea"/>
              </a:rPr>
              <a:t>의 특허권 공유 </a:t>
            </a:r>
          </a:p>
        </p:txBody>
      </p:sp>
      <p:sp>
        <p:nvSpPr>
          <p:cNvPr id="47" name="타원 46">
            <a:extLst>
              <a:ext uri="{FF2B5EF4-FFF2-40B4-BE49-F238E27FC236}">
                <a16:creationId xmlns:a16="http://schemas.microsoft.com/office/drawing/2014/main" id="{1E416A6A-17E0-4A3B-8C28-9560A00280A4}"/>
              </a:ext>
            </a:extLst>
          </p:cNvPr>
          <p:cNvSpPr/>
          <p:nvPr/>
        </p:nvSpPr>
        <p:spPr>
          <a:xfrm>
            <a:off x="2146565" y="316579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8" name="직선 연결선 47">
            <a:extLst>
              <a:ext uri="{FF2B5EF4-FFF2-40B4-BE49-F238E27FC236}">
                <a16:creationId xmlns:a16="http://schemas.microsoft.com/office/drawing/2014/main" id="{94B9FD84-6472-4A38-96A7-0961D12BE1A4}"/>
              </a:ext>
            </a:extLst>
          </p:cNvPr>
          <p:cNvCxnSpPr>
            <a:cxnSpLocks/>
            <a:stCxn id="44" idx="0"/>
            <a:endCxn id="47" idx="4"/>
          </p:cNvCxnSpPr>
          <p:nvPr/>
        </p:nvCxnSpPr>
        <p:spPr>
          <a:xfrm flipH="1" flipV="1">
            <a:off x="2223934" y="332713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E06C7183-3A8A-4CA0-89EE-E9F87C3CAAC7}"/>
              </a:ext>
            </a:extLst>
          </p:cNvPr>
          <p:cNvSpPr txBox="1"/>
          <p:nvPr/>
        </p:nvSpPr>
        <p:spPr>
          <a:xfrm>
            <a:off x="1150762" y="4674749"/>
            <a:ext cx="2146346" cy="646331"/>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just"/>
            <a:r>
              <a:rPr lang="ko-KR" altLang="en-US" sz="1200" dirty="0">
                <a:solidFill>
                  <a:schemeClr val="tx1"/>
                </a:solidFill>
                <a:latin typeface="+mn-ea"/>
              </a:rPr>
              <a:t>乙이 실시사업을 진행하여 상당한 매출을 올리고 있으며</a:t>
            </a:r>
            <a:r>
              <a:rPr lang="en-US" altLang="ko-KR" sz="1200" dirty="0">
                <a:solidFill>
                  <a:schemeClr val="tx1"/>
                </a:solidFill>
                <a:latin typeface="+mn-ea"/>
              </a:rPr>
              <a:t>, </a:t>
            </a:r>
            <a:r>
              <a:rPr lang="ko-KR" altLang="en-US" sz="1200" dirty="0">
                <a:solidFill>
                  <a:schemeClr val="tx1"/>
                </a:solidFill>
                <a:latin typeface="+mn-ea"/>
              </a:rPr>
              <a:t>甲에게 자문료를 지급</a:t>
            </a:r>
          </a:p>
        </p:txBody>
      </p:sp>
      <p:sp>
        <p:nvSpPr>
          <p:cNvPr id="57" name="타원 56">
            <a:extLst>
              <a:ext uri="{FF2B5EF4-FFF2-40B4-BE49-F238E27FC236}">
                <a16:creationId xmlns:a16="http://schemas.microsoft.com/office/drawing/2014/main" id="{04EAA1F7-D529-4AA7-9717-4E841CCFA88C}"/>
              </a:ext>
            </a:extLst>
          </p:cNvPr>
          <p:cNvSpPr/>
          <p:nvPr/>
        </p:nvSpPr>
        <p:spPr>
          <a:xfrm>
            <a:off x="4773233" y="316579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62" name="TextBox 61">
            <a:extLst>
              <a:ext uri="{FF2B5EF4-FFF2-40B4-BE49-F238E27FC236}">
                <a16:creationId xmlns:a16="http://schemas.microsoft.com/office/drawing/2014/main" id="{5CD16809-C4A7-44CE-9A18-97BA633F6083}"/>
              </a:ext>
            </a:extLst>
          </p:cNvPr>
          <p:cNvSpPr txBox="1"/>
          <p:nvPr/>
        </p:nvSpPr>
        <p:spPr>
          <a:xfrm>
            <a:off x="6216951" y="3515905"/>
            <a:ext cx="1737975" cy="523220"/>
          </a:xfrm>
          <a:prstGeom prst="rect">
            <a:avLst/>
          </a:prstGeom>
          <a:solidFill>
            <a:schemeClr val="accent2"/>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tx1"/>
                </a:solidFill>
                <a:latin typeface="+mn-ea"/>
              </a:rPr>
              <a:t>丙이 공유물 분할청구</a:t>
            </a:r>
            <a:endParaRPr lang="en-US" altLang="ko-KR" sz="1400" dirty="0">
              <a:solidFill>
                <a:schemeClr val="tx1"/>
              </a:solidFill>
              <a:latin typeface="+mn-ea"/>
            </a:endParaRPr>
          </a:p>
          <a:p>
            <a:pPr algn="ctr"/>
            <a:r>
              <a:rPr lang="en-US" altLang="ko-KR" sz="1400" dirty="0">
                <a:solidFill>
                  <a:schemeClr val="tx1"/>
                </a:solidFill>
                <a:latin typeface="+mn-ea"/>
              </a:rPr>
              <a:t>(</a:t>
            </a:r>
            <a:r>
              <a:rPr lang="ko-KR" altLang="en-US" sz="1400" dirty="0">
                <a:solidFill>
                  <a:schemeClr val="tx1"/>
                </a:solidFill>
                <a:latin typeface="+mn-ea"/>
              </a:rPr>
              <a:t>소송제기</a:t>
            </a:r>
            <a:r>
              <a:rPr lang="en-US" altLang="ko-KR" sz="1400" dirty="0">
                <a:solidFill>
                  <a:schemeClr val="tx1"/>
                </a:solidFill>
                <a:latin typeface="+mn-ea"/>
              </a:rPr>
              <a:t>)</a:t>
            </a:r>
            <a:endParaRPr lang="ko-KR" altLang="en-US" sz="1400" dirty="0">
              <a:solidFill>
                <a:schemeClr val="tx1"/>
              </a:solidFill>
              <a:latin typeface="+mn-ea"/>
            </a:endParaRPr>
          </a:p>
        </p:txBody>
      </p:sp>
      <p:sp>
        <p:nvSpPr>
          <p:cNvPr id="63" name="타원 62">
            <a:extLst>
              <a:ext uri="{FF2B5EF4-FFF2-40B4-BE49-F238E27FC236}">
                <a16:creationId xmlns:a16="http://schemas.microsoft.com/office/drawing/2014/main" id="{FE7E84DE-983F-469F-B385-5DD99D3002FB}"/>
              </a:ext>
            </a:extLst>
          </p:cNvPr>
          <p:cNvSpPr/>
          <p:nvPr/>
        </p:nvSpPr>
        <p:spPr>
          <a:xfrm>
            <a:off x="7008567" y="316579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4" name="직선 연결선 63">
            <a:extLst>
              <a:ext uri="{FF2B5EF4-FFF2-40B4-BE49-F238E27FC236}">
                <a16:creationId xmlns:a16="http://schemas.microsoft.com/office/drawing/2014/main" id="{3E261082-147B-40B2-927C-0F24B41D5FCE}"/>
              </a:ext>
            </a:extLst>
          </p:cNvPr>
          <p:cNvCxnSpPr>
            <a:stCxn id="62" idx="0"/>
            <a:endCxn id="63" idx="4"/>
          </p:cNvCxnSpPr>
          <p:nvPr/>
        </p:nvCxnSpPr>
        <p:spPr>
          <a:xfrm flipH="1" flipV="1">
            <a:off x="7085936" y="3327134"/>
            <a:ext cx="3"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6" name="타원 65">
            <a:extLst>
              <a:ext uri="{FF2B5EF4-FFF2-40B4-BE49-F238E27FC236}">
                <a16:creationId xmlns:a16="http://schemas.microsoft.com/office/drawing/2014/main" id="{6DCC2D84-C776-4113-8BB2-E7990440EE5E}"/>
              </a:ext>
            </a:extLst>
          </p:cNvPr>
          <p:cNvSpPr/>
          <p:nvPr/>
        </p:nvSpPr>
        <p:spPr>
          <a:xfrm>
            <a:off x="9503993" y="316579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7" name="직선 연결선 66">
            <a:extLst>
              <a:ext uri="{FF2B5EF4-FFF2-40B4-BE49-F238E27FC236}">
                <a16:creationId xmlns:a16="http://schemas.microsoft.com/office/drawing/2014/main" id="{ADE85959-105F-4189-96D0-83C390BEC4F9}"/>
              </a:ext>
            </a:extLst>
          </p:cNvPr>
          <p:cNvCxnSpPr>
            <a:stCxn id="65" idx="0"/>
            <a:endCxn id="66" idx="4"/>
          </p:cNvCxnSpPr>
          <p:nvPr/>
        </p:nvCxnSpPr>
        <p:spPr>
          <a:xfrm flipH="1" flipV="1">
            <a:off x="9581362" y="332713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3D153D81-5D9C-4AFA-8718-9C080C141B39}"/>
              </a:ext>
            </a:extLst>
          </p:cNvPr>
          <p:cNvCxnSpPr>
            <a:stCxn id="44" idx="2"/>
            <a:endCxn id="50" idx="0"/>
          </p:cNvCxnSpPr>
          <p:nvPr/>
        </p:nvCxnSpPr>
        <p:spPr>
          <a:xfrm>
            <a:off x="2223935" y="4039125"/>
            <a:ext cx="0" cy="63562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E0943674-B4FC-4356-A58A-C4F12CCD367F}"/>
              </a:ext>
            </a:extLst>
          </p:cNvPr>
          <p:cNvSpPr txBox="1"/>
          <p:nvPr/>
        </p:nvSpPr>
        <p:spPr>
          <a:xfrm>
            <a:off x="3922007" y="3515905"/>
            <a:ext cx="1871436" cy="307777"/>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甲 사망으로 丙이 상속</a:t>
            </a:r>
          </a:p>
        </p:txBody>
      </p:sp>
      <p:sp>
        <p:nvSpPr>
          <p:cNvPr id="69" name="TextBox 68">
            <a:extLst>
              <a:ext uri="{FF2B5EF4-FFF2-40B4-BE49-F238E27FC236}">
                <a16:creationId xmlns:a16="http://schemas.microsoft.com/office/drawing/2014/main" id="{A91FE06F-7DAC-4598-8300-D7104B6B4D51}"/>
              </a:ext>
            </a:extLst>
          </p:cNvPr>
          <p:cNvSpPr txBox="1"/>
          <p:nvPr/>
        </p:nvSpPr>
        <p:spPr>
          <a:xfrm>
            <a:off x="3784552" y="4674749"/>
            <a:ext cx="2146346"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just"/>
            <a:r>
              <a:rPr lang="ko-KR" altLang="en-US" sz="1200" dirty="0">
                <a:solidFill>
                  <a:schemeClr val="tx1"/>
                </a:solidFill>
                <a:latin typeface="+mn-ea"/>
              </a:rPr>
              <a:t>乙이 더 이상 丙에게 자문료를 지급하지 않음</a:t>
            </a:r>
          </a:p>
        </p:txBody>
      </p:sp>
      <p:cxnSp>
        <p:nvCxnSpPr>
          <p:cNvPr id="70" name="직선 연결선 69">
            <a:extLst>
              <a:ext uri="{FF2B5EF4-FFF2-40B4-BE49-F238E27FC236}">
                <a16:creationId xmlns:a16="http://schemas.microsoft.com/office/drawing/2014/main" id="{E7CA3ACF-753F-4556-BAC8-D2F58DF8930B}"/>
              </a:ext>
            </a:extLst>
          </p:cNvPr>
          <p:cNvCxnSpPr>
            <a:stCxn id="68" idx="2"/>
            <a:endCxn id="69" idx="0"/>
          </p:cNvCxnSpPr>
          <p:nvPr/>
        </p:nvCxnSpPr>
        <p:spPr>
          <a:xfrm>
            <a:off x="4857725" y="3823682"/>
            <a:ext cx="0" cy="85106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직선 연결선 70">
            <a:extLst>
              <a:ext uri="{FF2B5EF4-FFF2-40B4-BE49-F238E27FC236}">
                <a16:creationId xmlns:a16="http://schemas.microsoft.com/office/drawing/2014/main" id="{9F54EACA-7168-48FD-9C82-13C062D99775}"/>
              </a:ext>
            </a:extLst>
          </p:cNvPr>
          <p:cNvCxnSpPr>
            <a:cxnSpLocks/>
            <a:stCxn id="68" idx="0"/>
            <a:endCxn id="57" idx="4"/>
          </p:cNvCxnSpPr>
          <p:nvPr/>
        </p:nvCxnSpPr>
        <p:spPr>
          <a:xfrm flipH="1" flipV="1">
            <a:off x="4850602" y="3327134"/>
            <a:ext cx="7123"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71C02078-6C4F-4F1C-8610-22DCE684B2F3}"/>
              </a:ext>
            </a:extLst>
          </p:cNvPr>
          <p:cNvSpPr txBox="1"/>
          <p:nvPr/>
        </p:nvSpPr>
        <p:spPr>
          <a:xfrm>
            <a:off x="8144519" y="4039169"/>
            <a:ext cx="2873686" cy="461665"/>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분할가능하나</a:t>
            </a:r>
            <a:r>
              <a:rPr lang="en-US" altLang="ko-KR" sz="1200" dirty="0">
                <a:solidFill>
                  <a:schemeClr val="tx1"/>
                </a:solidFill>
                <a:latin typeface="+mn-ea"/>
              </a:rPr>
              <a:t>, </a:t>
            </a:r>
          </a:p>
          <a:p>
            <a:pPr algn="ctr"/>
            <a:r>
              <a:rPr lang="ko-KR" altLang="en-US" sz="1200" dirty="0">
                <a:solidFill>
                  <a:schemeClr val="tx1"/>
                </a:solidFill>
                <a:latin typeface="+mn-ea"/>
              </a:rPr>
              <a:t>무체성으로 인해 현물분할은 불인정</a:t>
            </a:r>
          </a:p>
        </p:txBody>
      </p:sp>
      <p:cxnSp>
        <p:nvCxnSpPr>
          <p:cNvPr id="73" name="직선 연결선 72">
            <a:extLst>
              <a:ext uri="{FF2B5EF4-FFF2-40B4-BE49-F238E27FC236}">
                <a16:creationId xmlns:a16="http://schemas.microsoft.com/office/drawing/2014/main" id="{5220A345-F9B8-4BA7-96C6-2C5E2D0086E6}"/>
              </a:ext>
            </a:extLst>
          </p:cNvPr>
          <p:cNvCxnSpPr>
            <a:cxnSpLocks/>
            <a:endCxn id="72" idx="0"/>
          </p:cNvCxnSpPr>
          <p:nvPr/>
        </p:nvCxnSpPr>
        <p:spPr>
          <a:xfrm>
            <a:off x="9581362" y="3188102"/>
            <a:ext cx="0" cy="85106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16DCFA2-4E7D-4635-92CA-3580B1AE8CD4}"/>
              </a:ext>
            </a:extLst>
          </p:cNvPr>
          <p:cNvSpPr txBox="1"/>
          <p:nvPr/>
        </p:nvSpPr>
        <p:spPr>
          <a:xfrm>
            <a:off x="6418342" y="5330989"/>
            <a:ext cx="2784737" cy="369332"/>
          </a:xfrm>
          <a:prstGeom prst="rect">
            <a:avLst/>
          </a:prstGeom>
          <a:solidFill>
            <a:schemeClr val="tx2"/>
          </a:solidFill>
          <a:ln>
            <a:solidFill>
              <a:schemeClr val="bg1">
                <a:lumMod val="50000"/>
              </a:schemeClr>
            </a:solidFill>
          </a:ln>
        </p:spPr>
        <p:txBody>
          <a:bodyPr wrap="none" rtlCol="0">
            <a:spAutoFit/>
          </a:bodyPr>
          <a:lstStyle/>
          <a:p>
            <a:r>
              <a:rPr lang="ko-KR" altLang="en-US" dirty="0">
                <a:solidFill>
                  <a:schemeClr val="bg1"/>
                </a:solidFill>
              </a:rPr>
              <a:t>乙은 어떻게 보호할 것인가</a:t>
            </a:r>
            <a:r>
              <a:rPr lang="en-US" altLang="ko-KR" dirty="0">
                <a:solidFill>
                  <a:schemeClr val="bg1"/>
                </a:solidFill>
              </a:rPr>
              <a:t>?</a:t>
            </a:r>
            <a:endParaRPr lang="ko-KR" altLang="en-US" dirty="0">
              <a:solidFill>
                <a:schemeClr val="bg1"/>
              </a:solidFill>
            </a:endParaRPr>
          </a:p>
        </p:txBody>
      </p:sp>
      <p:sp>
        <p:nvSpPr>
          <p:cNvPr id="65" name="TextBox 64">
            <a:extLst>
              <a:ext uri="{FF2B5EF4-FFF2-40B4-BE49-F238E27FC236}">
                <a16:creationId xmlns:a16="http://schemas.microsoft.com/office/drawing/2014/main" id="{41D0BB0B-1F8E-4831-9E42-BE222378E1EC}"/>
              </a:ext>
            </a:extLst>
          </p:cNvPr>
          <p:cNvSpPr txBox="1"/>
          <p:nvPr/>
        </p:nvSpPr>
        <p:spPr>
          <a:xfrm>
            <a:off x="9327126" y="3515905"/>
            <a:ext cx="508473" cy="307777"/>
          </a:xfrm>
          <a:prstGeom prst="rect">
            <a:avLst/>
          </a:prstGeom>
          <a:solidFill>
            <a:schemeClr val="tx2"/>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bg1">
                    <a:lumMod val="95000"/>
                  </a:schemeClr>
                </a:solidFill>
                <a:latin typeface="+mn-ea"/>
              </a:rPr>
              <a:t>판단</a:t>
            </a:r>
          </a:p>
        </p:txBody>
      </p:sp>
      <p:sp>
        <p:nvSpPr>
          <p:cNvPr id="5" name="TextBox 4">
            <a:extLst>
              <a:ext uri="{FF2B5EF4-FFF2-40B4-BE49-F238E27FC236}">
                <a16:creationId xmlns:a16="http://schemas.microsoft.com/office/drawing/2014/main" id="{E60A61FE-FEE6-4862-AD6F-013BC53F8123}"/>
              </a:ext>
            </a:extLst>
          </p:cNvPr>
          <p:cNvSpPr txBox="1"/>
          <p:nvPr/>
        </p:nvSpPr>
        <p:spPr>
          <a:xfrm>
            <a:off x="9327126" y="5261501"/>
            <a:ext cx="1944763" cy="523220"/>
          </a:xfrm>
          <a:prstGeom prst="rect">
            <a:avLst/>
          </a:prstGeom>
          <a:noFill/>
        </p:spPr>
        <p:txBody>
          <a:bodyPr wrap="none" rtlCol="0">
            <a:spAutoFit/>
          </a:bodyPr>
          <a:lstStyle/>
          <a:p>
            <a:pPr marL="342900" indent="-342900">
              <a:buAutoNum type="arabicPeriod"/>
            </a:pPr>
            <a:r>
              <a:rPr lang="ko-KR" altLang="en-US" sz="1400" dirty="0"/>
              <a:t>우선매수청구권</a:t>
            </a:r>
            <a:endParaRPr lang="en-US" altLang="ko-KR" sz="1400" dirty="0"/>
          </a:p>
          <a:p>
            <a:pPr marL="342900" indent="-342900">
              <a:buAutoNum type="arabicPeriod"/>
            </a:pPr>
            <a:r>
              <a:rPr lang="ko-KR" altLang="en-US" sz="1400" dirty="0">
                <a:solidFill>
                  <a:srgbClr val="FF0000"/>
                </a:solidFill>
              </a:rPr>
              <a:t>법정실시권</a:t>
            </a:r>
            <a:r>
              <a:rPr lang="en-US" altLang="ko-KR" sz="1400" dirty="0">
                <a:solidFill>
                  <a:srgbClr val="FF0000"/>
                </a:solidFill>
              </a:rPr>
              <a:t>(</a:t>
            </a:r>
            <a:r>
              <a:rPr lang="ko-KR" altLang="en-US" sz="1400" dirty="0">
                <a:solidFill>
                  <a:srgbClr val="FF0000"/>
                </a:solidFill>
              </a:rPr>
              <a:t>개정법</a:t>
            </a:r>
            <a:r>
              <a:rPr lang="en-US" altLang="ko-KR" sz="1400" dirty="0">
                <a:solidFill>
                  <a:srgbClr val="FF0000"/>
                </a:solidFill>
              </a:rPr>
              <a:t>)</a:t>
            </a:r>
          </a:p>
        </p:txBody>
      </p:sp>
      <p:sp>
        <p:nvSpPr>
          <p:cNvPr id="6" name="Rectangle 1">
            <a:extLst>
              <a:ext uri="{FF2B5EF4-FFF2-40B4-BE49-F238E27FC236}">
                <a16:creationId xmlns:a16="http://schemas.microsoft.com/office/drawing/2014/main" id="{47CEC8B8-C2A8-4E4C-B322-5C37CC966C2C}"/>
              </a:ext>
            </a:extLst>
          </p:cNvPr>
          <p:cNvSpPr>
            <a:spLocks noChangeArrowheads="1"/>
          </p:cNvSpPr>
          <p:nvPr/>
        </p:nvSpPr>
        <p:spPr bwMode="auto">
          <a:xfrm>
            <a:off x="363834" y="5988475"/>
            <a:ext cx="11464329" cy="64633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200" b="1" i="0" u="none" strike="noStrike" cap="none" normalizeH="0" baseline="0" dirty="0">
                <a:ln>
                  <a:noFill/>
                </a:ln>
                <a:solidFill>
                  <a:srgbClr val="151594"/>
                </a:solidFill>
                <a:effectLst/>
                <a:latin typeface="+mn-ea"/>
              </a:rPr>
              <a:t>제122조(질권행사 등으로 인한 특허권의 이전에 따른 통상실시권)</a:t>
            </a:r>
            <a:r>
              <a:rPr kumimoji="0" lang="ko-KR" altLang="ko-KR" sz="1200" b="0" i="0" u="none" strike="noStrike" cap="none" normalizeH="0" baseline="0" dirty="0">
                <a:ln>
                  <a:noFill/>
                </a:ln>
                <a:solidFill>
                  <a:srgbClr val="444444"/>
                </a:solidFill>
                <a:effectLst/>
                <a:latin typeface="+mn-ea"/>
              </a:rPr>
              <a:t> 특허권자(공유인 특허권을 분할청구한 경우에는 분할청구를 한 공유자를 제외한 나머지 공유자를 말한다)는 특허권을 목적으로 하는 질권설정 또는 공유인 특허권의 분할청구 이전에 그 특허발명을 실시하고 있는 경우에는 그 특허권이 경매 등에 의하여 이전되더라도 그 특허발명에 대하여 통상실시권을 가진다. 이 경우 특허권자는 경매 등에 의하여 특허권을 </a:t>
            </a:r>
            <a:r>
              <a:rPr kumimoji="0" lang="ko-KR" altLang="ko-KR" sz="1200" b="0" i="0" u="none" strike="noStrike" cap="none" normalizeH="0" baseline="0" dirty="0" err="1">
                <a:ln>
                  <a:noFill/>
                </a:ln>
                <a:solidFill>
                  <a:srgbClr val="444444"/>
                </a:solidFill>
                <a:effectLst/>
                <a:latin typeface="+mn-ea"/>
              </a:rPr>
              <a:t>이전받은</a:t>
            </a:r>
            <a:r>
              <a:rPr kumimoji="0" lang="ko-KR" altLang="ko-KR" sz="1200" b="0" i="0" u="none" strike="noStrike" cap="none" normalizeH="0" baseline="0" dirty="0">
                <a:ln>
                  <a:noFill/>
                </a:ln>
                <a:solidFill>
                  <a:srgbClr val="444444"/>
                </a:solidFill>
                <a:effectLst/>
                <a:latin typeface="+mn-ea"/>
              </a:rPr>
              <a:t> 자에게 상당한 대가를 지급하여야 한다.</a:t>
            </a:r>
            <a:r>
              <a:rPr kumimoji="0" lang="ko-KR" altLang="ko-KR" sz="1100" b="0" i="0" u="none" strike="noStrike" cap="none" normalizeH="0" baseline="0" dirty="0">
                <a:ln>
                  <a:noFill/>
                </a:ln>
                <a:solidFill>
                  <a:schemeClr val="tx1"/>
                </a:solidFill>
                <a:effectLst/>
                <a:latin typeface="+mn-ea"/>
              </a:rPr>
              <a:t> </a:t>
            </a:r>
            <a:endParaRPr kumimoji="0" lang="ko-KR" altLang="ko-KR" sz="3200" b="0" i="0" u="none" strike="noStrike" cap="none" normalizeH="0" baseline="0" dirty="0">
              <a:ln>
                <a:noFill/>
              </a:ln>
              <a:solidFill>
                <a:schemeClr val="tx1"/>
              </a:solidFill>
              <a:effectLst/>
              <a:latin typeface="+mn-ea"/>
            </a:endParaRPr>
          </a:p>
        </p:txBody>
      </p:sp>
    </p:spTree>
    <p:extLst>
      <p:ext uri="{BB962C8B-B14F-4D97-AF65-F5344CB8AC3E}">
        <p14:creationId xmlns:p14="http://schemas.microsoft.com/office/powerpoint/2010/main" val="1741839019"/>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99</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특허권의 공유 </a:t>
            </a:r>
            <a:r>
              <a:rPr lang="en-US" altLang="ko-KR" dirty="0">
                <a:solidFill>
                  <a:srgbClr val="525252"/>
                </a:solidFill>
              </a:rPr>
              <a:t>CASE</a:t>
            </a:r>
            <a:endParaRPr lang="ko-KR" altLang="en-US" dirty="0">
              <a:solidFill>
                <a:srgbClr val="525252"/>
              </a:solidFill>
            </a:endParaRPr>
          </a:p>
        </p:txBody>
      </p:sp>
      <p:sp>
        <p:nvSpPr>
          <p:cNvPr id="4" name="슬라이드 번호 개체 틀 3"/>
          <p:cNvSpPr>
            <a:spLocks noGrp="1"/>
          </p:cNvSpPr>
          <p:nvPr>
            <p:ph type="sldNum" sz="quarter" idx="4294967295"/>
          </p:nvPr>
        </p:nvSpPr>
        <p:spPr>
          <a:xfrm>
            <a:off x="11125200" y="0"/>
            <a:ext cx="1066800" cy="744538"/>
          </a:xfrm>
        </p:spPr>
        <p:txBody>
          <a:bodyPr/>
          <a:lstStyle/>
          <a:p>
            <a:r>
              <a:rPr lang="en-US" altLang="ko-KR"/>
              <a:t>408</a:t>
            </a:r>
            <a:endParaRPr lang="ko-KR" altLang="en-US"/>
          </a:p>
        </p:txBody>
      </p:sp>
      <p:sp>
        <p:nvSpPr>
          <p:cNvPr id="6" name="TextBox 5"/>
          <p:cNvSpPr txBox="1"/>
          <p:nvPr/>
        </p:nvSpPr>
        <p:spPr>
          <a:xfrm>
            <a:off x="77875" y="1341693"/>
            <a:ext cx="11936323" cy="3323987"/>
          </a:xfrm>
          <a:prstGeom prst="rect">
            <a:avLst/>
          </a:prstGeom>
          <a:noFill/>
        </p:spPr>
        <p:txBody>
          <a:bodyPr wrap="square" rtlCol="0">
            <a:spAutoFit/>
          </a:bodyPr>
          <a:lstStyle/>
          <a:p>
            <a:pPr fontAlgn="base"/>
            <a:r>
              <a:rPr lang="en-US" altLang="ko-KR" sz="1400" dirty="0"/>
              <a:t>[1] </a:t>
            </a:r>
            <a:r>
              <a:rPr lang="ko-KR" altLang="en-US" sz="1400" dirty="0"/>
              <a:t>특허권의 일부 공유지분의 이전청구권을 보전하기 위한 </a:t>
            </a:r>
            <a:r>
              <a:rPr lang="ko-KR" altLang="en-US" sz="1400" dirty="0" err="1"/>
              <a:t>처분금지가처분결정에</a:t>
            </a:r>
            <a:r>
              <a:rPr lang="ko-KR" altLang="en-US" sz="1400" dirty="0"/>
              <a:t> 기하여 가처분등록이 </a:t>
            </a:r>
            <a:r>
              <a:rPr lang="ko-KR" altLang="en-US" sz="1400" dirty="0" err="1"/>
              <a:t>경료된</a:t>
            </a:r>
            <a:r>
              <a:rPr lang="ko-KR" altLang="en-US" sz="1400" dirty="0"/>
              <a:t> 후 특허권이 전부 제</a:t>
            </a:r>
            <a:r>
              <a:rPr lang="en-US" altLang="ko-KR" sz="1400" dirty="0"/>
              <a:t>3</a:t>
            </a:r>
            <a:r>
              <a:rPr lang="ko-KR" altLang="en-US" sz="1400" dirty="0"/>
              <a:t>자에게 이전된 상태에서 </a:t>
            </a:r>
            <a:r>
              <a:rPr lang="ko-KR" altLang="en-US" sz="1400" dirty="0" err="1"/>
              <a:t>가처분권자인</a:t>
            </a:r>
            <a:r>
              <a:rPr lang="ko-KR" altLang="en-US" sz="1400" dirty="0"/>
              <a:t> 그 지분의 양수인이 본안소송에서 승소하여 그 지분에 대한 이전등록이 이루어졌다면</a:t>
            </a:r>
            <a:r>
              <a:rPr lang="en-US" altLang="ko-KR" sz="1400" dirty="0"/>
              <a:t>, </a:t>
            </a:r>
            <a:r>
              <a:rPr lang="ko-KR" altLang="en-US" sz="1400" dirty="0"/>
              <a:t>위 </a:t>
            </a:r>
            <a:r>
              <a:rPr lang="ko-KR" altLang="en-US" sz="1400" dirty="0">
                <a:solidFill>
                  <a:schemeClr val="accent3">
                    <a:lumMod val="50000"/>
                  </a:schemeClr>
                </a:solidFill>
                <a:highlight>
                  <a:srgbClr val="FFFF00"/>
                </a:highlight>
              </a:rPr>
              <a:t>가처분등록 이후의 특허권 이전은 양수인 앞으로 </a:t>
            </a:r>
            <a:r>
              <a:rPr lang="ko-KR" altLang="en-US" sz="1400" dirty="0" err="1">
                <a:solidFill>
                  <a:schemeClr val="accent3">
                    <a:lumMod val="50000"/>
                  </a:schemeClr>
                </a:solidFill>
                <a:highlight>
                  <a:srgbClr val="FFFF00"/>
                </a:highlight>
              </a:rPr>
              <a:t>이전등록된</a:t>
            </a:r>
            <a:r>
              <a:rPr lang="ko-KR" altLang="en-US" sz="1400" dirty="0">
                <a:solidFill>
                  <a:schemeClr val="accent3">
                    <a:lumMod val="50000"/>
                  </a:schemeClr>
                </a:solidFill>
                <a:highlight>
                  <a:srgbClr val="FFFF00"/>
                </a:highlight>
              </a:rPr>
              <a:t> 지분의 범위 내에서만 무효가 된다</a:t>
            </a:r>
            <a:r>
              <a:rPr lang="en-US" altLang="ko-KR" sz="1400" dirty="0">
                <a:solidFill>
                  <a:schemeClr val="accent3">
                    <a:lumMod val="50000"/>
                  </a:schemeClr>
                </a:solidFill>
                <a:highlight>
                  <a:srgbClr val="FFFF00"/>
                </a:highlight>
              </a:rPr>
              <a:t>.</a:t>
            </a:r>
          </a:p>
          <a:p>
            <a:pPr fontAlgn="base"/>
            <a:r>
              <a:rPr lang="en-US" altLang="ko-KR" sz="1400" dirty="0"/>
              <a:t>[2] </a:t>
            </a:r>
            <a:r>
              <a:rPr lang="ko-KR" altLang="en-US" sz="1400" dirty="0"/>
              <a:t>특허권을 공유하는 경우에 각 공유자는 다른 공유자의 동의를 얻지 아니하면 그 지분을 양도하거나 그 지분을 목적으로 하는 질권을 설정할 수 없고</a:t>
            </a:r>
            <a:r>
              <a:rPr lang="en-US" altLang="ko-KR" sz="1400" dirty="0"/>
              <a:t>, </a:t>
            </a:r>
            <a:r>
              <a:rPr lang="ko-KR" altLang="en-US" sz="1400" dirty="0"/>
              <a:t>그 특허권에 대하여 전용실시권을 설정하거나 통상실시권을 허락할 수 없는 등 특허권의 공유관계는 </a:t>
            </a:r>
            <a:r>
              <a:rPr lang="ko-KR" altLang="en-US" sz="1400" dirty="0" err="1"/>
              <a:t>합유에</a:t>
            </a:r>
            <a:r>
              <a:rPr lang="ko-KR" altLang="en-US" sz="1400" dirty="0"/>
              <a:t> 준하는 성질을 가진다</a:t>
            </a:r>
            <a:r>
              <a:rPr lang="en-US" altLang="ko-KR" sz="1400" dirty="0"/>
              <a:t>.</a:t>
            </a:r>
          </a:p>
          <a:p>
            <a:pPr fontAlgn="base"/>
            <a:r>
              <a:rPr lang="en-US" altLang="ko-KR" sz="1400" dirty="0"/>
              <a:t>[3] </a:t>
            </a:r>
            <a:r>
              <a:rPr lang="ko-KR" altLang="en-US" sz="1400" dirty="0"/>
              <a:t>특허권의 일부 지분을 양수하기로 한 자는 그 지분의 이전등록이 있기까지는 특허권의 공유자로서 양수의 목적이 되지 아니한 다른 지분의 양도에 대하여 동의권을 행사할 수 없는 것이므로</a:t>
            </a:r>
            <a:r>
              <a:rPr lang="en-US" altLang="ko-KR" sz="1400" dirty="0"/>
              <a:t>, </a:t>
            </a:r>
            <a:r>
              <a:rPr lang="ko-KR" altLang="en-US" sz="1400" dirty="0"/>
              <a:t>다른 지분의 처분을 저지할 수 있는 특약이 존재하는 등의 특별한 사정이 있는 경우가 아니라면 </a:t>
            </a:r>
            <a:r>
              <a:rPr lang="ko-KR" altLang="en-US" sz="1400" dirty="0">
                <a:solidFill>
                  <a:schemeClr val="accent3">
                    <a:lumMod val="50000"/>
                  </a:schemeClr>
                </a:solidFill>
                <a:highlight>
                  <a:srgbClr val="FFFF00"/>
                </a:highlight>
              </a:rPr>
              <a:t>양수의 목적이 된 지분의 이전등록 이전에 그러한 동의권의 보전을 위한 가처분이나 다른 지분에 대한 처분금지의 가처분을 구하는 것은 허용되지 않는다</a:t>
            </a:r>
            <a:r>
              <a:rPr lang="en-US" altLang="ko-KR" sz="1400" dirty="0">
                <a:solidFill>
                  <a:schemeClr val="accent3">
                    <a:lumMod val="50000"/>
                  </a:schemeClr>
                </a:solidFill>
                <a:highlight>
                  <a:srgbClr val="FFFF00"/>
                </a:highlight>
              </a:rPr>
              <a:t>.</a:t>
            </a:r>
          </a:p>
          <a:p>
            <a:pPr fontAlgn="base"/>
            <a:r>
              <a:rPr lang="en-US" altLang="ko-KR" sz="1400" dirty="0"/>
              <a:t>[4] </a:t>
            </a:r>
            <a:r>
              <a:rPr lang="ko-KR" altLang="en-US" sz="1400" dirty="0"/>
              <a:t>특허권의 </a:t>
            </a:r>
            <a:r>
              <a:rPr lang="ko-KR" altLang="en-US" sz="1400" dirty="0" err="1"/>
              <a:t>전용실시권자는</a:t>
            </a:r>
            <a:r>
              <a:rPr lang="ko-KR" altLang="en-US" sz="1400" dirty="0"/>
              <a:t> 그 설정행위로 정한 범위 안에서 업으로서 그 특허발명을 실시할 권리를 독점하고 그 범위 내에서는 </a:t>
            </a:r>
            <a:r>
              <a:rPr lang="ko-KR" altLang="en-US" sz="1400" dirty="0" err="1"/>
              <a:t>특허권자일지라도</a:t>
            </a:r>
            <a:r>
              <a:rPr lang="ko-KR" altLang="en-US" sz="1400" dirty="0"/>
              <a:t> 그 특허권을 실시할 수 없는 것이므로</a:t>
            </a:r>
            <a:r>
              <a:rPr lang="en-US" altLang="ko-KR" sz="1400" dirty="0"/>
              <a:t>, </a:t>
            </a:r>
            <a:r>
              <a:rPr lang="ko-KR" altLang="en-US" sz="1400" dirty="0"/>
              <a:t>특허권이 공유인 경우 각 공유자는 다른 공유자의 동의를 얻지 아니하면 그 특허권에 대하여 전용실시권을 설정할 수 없는 </a:t>
            </a:r>
            <a:r>
              <a:rPr lang="ko-KR" altLang="en-US" sz="1400" dirty="0" err="1"/>
              <a:t>것인바</a:t>
            </a:r>
            <a:r>
              <a:rPr lang="en-US" altLang="ko-KR" sz="1400" dirty="0"/>
              <a:t>, </a:t>
            </a:r>
            <a:r>
              <a:rPr lang="ko-KR" altLang="en-US" sz="1400" dirty="0"/>
              <a:t>공유자의 한 사람이 다른 공유자의 동의를 얻어 전용실시권을 설정하는 경우에도 </a:t>
            </a:r>
            <a:r>
              <a:rPr lang="ko-KR" altLang="en-US" sz="1400" dirty="0">
                <a:solidFill>
                  <a:schemeClr val="accent3">
                    <a:lumMod val="50000"/>
                  </a:schemeClr>
                </a:solidFill>
                <a:highlight>
                  <a:srgbClr val="FFFF00"/>
                </a:highlight>
              </a:rPr>
              <a:t>그 전용실시권의 설정은 특허권의 일부 지분에 국한된 처분이 아니라 특허권 자체에 대한 처분행위에 해당하는 것이며</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전용실시권의 성질상 특허권의 일부 지분에 대한 전용실시권의 설정은 상정할 수 없는 것이므로</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특허권의 일부 지분에 대하여만 처분행위를 금하는 가처분등록이 </a:t>
            </a:r>
            <a:r>
              <a:rPr lang="ko-KR" altLang="en-US" sz="1400" dirty="0" err="1">
                <a:solidFill>
                  <a:schemeClr val="accent3">
                    <a:lumMod val="50000"/>
                  </a:schemeClr>
                </a:solidFill>
                <a:highlight>
                  <a:srgbClr val="FFFF00"/>
                </a:highlight>
              </a:rPr>
              <a:t>경료된</a:t>
            </a:r>
            <a:r>
              <a:rPr lang="ko-KR" altLang="en-US" sz="1400" dirty="0">
                <a:solidFill>
                  <a:schemeClr val="accent3">
                    <a:lumMod val="50000"/>
                  </a:schemeClr>
                </a:solidFill>
                <a:highlight>
                  <a:srgbClr val="FFFF00"/>
                </a:highlight>
              </a:rPr>
              <a:t> 후 제</a:t>
            </a:r>
            <a:r>
              <a:rPr lang="en-US" altLang="ko-KR" sz="1400" dirty="0">
                <a:solidFill>
                  <a:schemeClr val="accent3">
                    <a:lumMod val="50000"/>
                  </a:schemeClr>
                </a:solidFill>
                <a:highlight>
                  <a:srgbClr val="FFFF00"/>
                </a:highlight>
              </a:rPr>
              <a:t>3</a:t>
            </a:r>
            <a:r>
              <a:rPr lang="ko-KR" altLang="en-US" sz="1400" dirty="0">
                <a:solidFill>
                  <a:schemeClr val="accent3">
                    <a:lumMod val="50000"/>
                  </a:schemeClr>
                </a:solidFill>
                <a:highlight>
                  <a:srgbClr val="FFFF00"/>
                </a:highlight>
              </a:rPr>
              <a:t>자 앞으로 당해 특허권에 대한 전용실시권이 설정된 경우에</a:t>
            </a:r>
            <a:r>
              <a:rPr lang="en-US" altLang="ko-KR" sz="1400" dirty="0">
                <a:solidFill>
                  <a:schemeClr val="accent3">
                    <a:lumMod val="50000"/>
                  </a:schemeClr>
                </a:solidFill>
                <a:highlight>
                  <a:srgbClr val="FFFF00"/>
                </a:highlight>
              </a:rPr>
              <a:t>, </a:t>
            </a:r>
            <a:r>
              <a:rPr lang="ko-KR" altLang="en-US" sz="1400" dirty="0" err="1">
                <a:solidFill>
                  <a:schemeClr val="accent3">
                    <a:lumMod val="50000"/>
                  </a:schemeClr>
                </a:solidFill>
                <a:highlight>
                  <a:srgbClr val="FFFF00"/>
                </a:highlight>
              </a:rPr>
              <a:t>가처분권자가</a:t>
            </a:r>
            <a:r>
              <a:rPr lang="ko-KR" altLang="en-US" sz="1400" dirty="0">
                <a:solidFill>
                  <a:schemeClr val="accent3">
                    <a:lumMod val="50000"/>
                  </a:schemeClr>
                </a:solidFill>
                <a:highlight>
                  <a:srgbClr val="FFFF00"/>
                </a:highlight>
              </a:rPr>
              <a:t> 본안소송에서 승소하여 그 앞으로 위 일부 지분에 관한 이전등록이 이루어졌다면 그 전용실시권의 설정은 그 전부가 위 가처분의 취지에 반하는 것으로서 무효가 된다고 보아야 할 것이고</a:t>
            </a:r>
            <a:r>
              <a:rPr lang="en-US" altLang="ko-KR" sz="1400" dirty="0">
                <a:solidFill>
                  <a:schemeClr val="accent3">
                    <a:lumMod val="50000"/>
                  </a:schemeClr>
                </a:solidFill>
                <a:highlight>
                  <a:srgbClr val="FFFF00"/>
                </a:highlight>
              </a:rPr>
              <a:t>, </a:t>
            </a:r>
            <a:r>
              <a:rPr lang="ko-KR" altLang="en-US" sz="1400" dirty="0"/>
              <a:t>이는 전용실시권 설정 당시 </a:t>
            </a:r>
            <a:r>
              <a:rPr lang="ko-KR" altLang="en-US" sz="1400" dirty="0" err="1"/>
              <a:t>가처분권자가</a:t>
            </a:r>
            <a:r>
              <a:rPr lang="ko-KR" altLang="en-US" sz="1400" dirty="0"/>
              <a:t> 그 설정에 대하여 동의를 할 지위에 있지 아니하였다고 하더라도 마찬가지이다</a:t>
            </a:r>
            <a:r>
              <a:rPr lang="en-US" altLang="ko-KR" sz="1400" dirty="0"/>
              <a:t>.</a:t>
            </a:r>
            <a:endParaRPr lang="ko-KR" altLang="en-US" sz="1400" dirty="0"/>
          </a:p>
        </p:txBody>
      </p:sp>
      <p:sp>
        <p:nvSpPr>
          <p:cNvPr id="20" name="Line 5">
            <a:extLst>
              <a:ext uri="{FF2B5EF4-FFF2-40B4-BE49-F238E27FC236}">
                <a16:creationId xmlns:a16="http://schemas.microsoft.com/office/drawing/2014/main" id="{ACCDA59F-2AF7-4FC8-9236-82288B8FB7B1}"/>
              </a:ext>
            </a:extLst>
          </p:cNvPr>
          <p:cNvSpPr>
            <a:spLocks noChangeShapeType="1"/>
          </p:cNvSpPr>
          <p:nvPr/>
        </p:nvSpPr>
        <p:spPr bwMode="auto">
          <a:xfrm>
            <a:off x="607658" y="5674863"/>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1" name="TextBox 20">
            <a:extLst>
              <a:ext uri="{FF2B5EF4-FFF2-40B4-BE49-F238E27FC236}">
                <a16:creationId xmlns:a16="http://schemas.microsoft.com/office/drawing/2014/main" id="{984A9B38-9CBF-428C-922A-DB33022A9147}"/>
              </a:ext>
            </a:extLst>
          </p:cNvPr>
          <p:cNvSpPr txBox="1"/>
          <p:nvPr/>
        </p:nvSpPr>
        <p:spPr>
          <a:xfrm>
            <a:off x="878336" y="5127081"/>
            <a:ext cx="708924"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등록</a:t>
            </a:r>
          </a:p>
        </p:txBody>
      </p:sp>
      <p:sp>
        <p:nvSpPr>
          <p:cNvPr id="22" name="타원 21">
            <a:extLst>
              <a:ext uri="{FF2B5EF4-FFF2-40B4-BE49-F238E27FC236}">
                <a16:creationId xmlns:a16="http://schemas.microsoft.com/office/drawing/2014/main" id="{D7DE53CC-C4D9-422B-AF3A-7B30A9EA5F60}"/>
              </a:ext>
            </a:extLst>
          </p:cNvPr>
          <p:cNvSpPr/>
          <p:nvPr/>
        </p:nvSpPr>
        <p:spPr>
          <a:xfrm>
            <a:off x="1162223" y="5588014"/>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23" name="직선 연결선 22">
            <a:extLst>
              <a:ext uri="{FF2B5EF4-FFF2-40B4-BE49-F238E27FC236}">
                <a16:creationId xmlns:a16="http://schemas.microsoft.com/office/drawing/2014/main" id="{408FCD3A-E182-4831-A770-42918078B18B}"/>
              </a:ext>
            </a:extLst>
          </p:cNvPr>
          <p:cNvCxnSpPr>
            <a:cxnSpLocks/>
            <a:stCxn id="21" idx="2"/>
            <a:endCxn id="22" idx="0"/>
          </p:cNvCxnSpPr>
          <p:nvPr/>
        </p:nvCxnSpPr>
        <p:spPr>
          <a:xfrm flipH="1">
            <a:off x="1232797" y="5404080"/>
            <a:ext cx="1" cy="1839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 name="사각형: 둥근 모서리 18">
            <a:extLst>
              <a:ext uri="{FF2B5EF4-FFF2-40B4-BE49-F238E27FC236}">
                <a16:creationId xmlns:a16="http://schemas.microsoft.com/office/drawing/2014/main" id="{A83D1C3A-9892-4861-9E7D-128450D07D78}"/>
              </a:ext>
            </a:extLst>
          </p:cNvPr>
          <p:cNvSpPr/>
          <p:nvPr/>
        </p:nvSpPr>
        <p:spPr>
          <a:xfrm>
            <a:off x="113937" y="964867"/>
            <a:ext cx="6273653" cy="346234"/>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r>
              <a:rPr lang="ko-KR" altLang="en-US" sz="1600" dirty="0"/>
              <a:t>대법원 </a:t>
            </a:r>
            <a:r>
              <a:rPr lang="en-US" altLang="ko-KR" sz="1600" dirty="0"/>
              <a:t>1999. 3. 26. </a:t>
            </a:r>
            <a:r>
              <a:rPr lang="ko-KR" altLang="en-US" sz="1600" dirty="0"/>
              <a:t>선고 </a:t>
            </a:r>
            <a:r>
              <a:rPr lang="en-US" altLang="ko-KR" sz="1600" dirty="0"/>
              <a:t>97</a:t>
            </a:r>
            <a:r>
              <a:rPr lang="ko-KR" altLang="en-US" sz="1600" dirty="0"/>
              <a:t>다</a:t>
            </a:r>
            <a:r>
              <a:rPr lang="en-US" altLang="ko-KR" sz="1600" dirty="0"/>
              <a:t>41295 </a:t>
            </a:r>
            <a:r>
              <a:rPr lang="ko-KR" altLang="en-US" sz="1600" dirty="0"/>
              <a:t>판결 </a:t>
            </a:r>
            <a:r>
              <a:rPr lang="en-US" altLang="ko-KR" sz="1600" dirty="0"/>
              <a:t>【</a:t>
            </a:r>
            <a:r>
              <a:rPr lang="ko-KR" altLang="en-US" sz="1600" dirty="0" err="1"/>
              <a:t>특허권이전등록말소등</a:t>
            </a:r>
            <a:r>
              <a:rPr lang="en-US" altLang="ko-KR" sz="1600" dirty="0"/>
              <a:t>】</a:t>
            </a:r>
            <a:endParaRPr lang="ko-KR" altLang="en-US" sz="1600" dirty="0"/>
          </a:p>
        </p:txBody>
      </p:sp>
      <p:cxnSp>
        <p:nvCxnSpPr>
          <p:cNvPr id="83" name="직선 연결선 82">
            <a:extLst>
              <a:ext uri="{FF2B5EF4-FFF2-40B4-BE49-F238E27FC236}">
                <a16:creationId xmlns:a16="http://schemas.microsoft.com/office/drawing/2014/main" id="{85DA65B5-3277-4ADF-95AF-47AB4FD658B7}"/>
              </a:ext>
            </a:extLst>
          </p:cNvPr>
          <p:cNvCxnSpPr/>
          <p:nvPr/>
        </p:nvCxnSpPr>
        <p:spPr>
          <a:xfrm>
            <a:off x="0" y="4665680"/>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6999B311-108C-4360-B404-112176F90F45}"/>
              </a:ext>
            </a:extLst>
          </p:cNvPr>
          <p:cNvSpPr txBox="1"/>
          <p:nvPr/>
        </p:nvSpPr>
        <p:spPr>
          <a:xfrm>
            <a:off x="1161554" y="5931038"/>
            <a:ext cx="1224604" cy="461665"/>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지분처분금지 </a:t>
            </a:r>
            <a:endParaRPr lang="en-US" altLang="ko-KR" sz="1200" dirty="0">
              <a:solidFill>
                <a:schemeClr val="tx1"/>
              </a:solidFill>
              <a:latin typeface="+mn-ea"/>
            </a:endParaRPr>
          </a:p>
          <a:p>
            <a:pPr algn="ctr"/>
            <a:r>
              <a:rPr lang="ko-KR" altLang="en-US" sz="1200" dirty="0">
                <a:solidFill>
                  <a:schemeClr val="tx1"/>
                </a:solidFill>
                <a:latin typeface="+mn-ea"/>
              </a:rPr>
              <a:t>가처분신청</a:t>
            </a:r>
          </a:p>
        </p:txBody>
      </p:sp>
      <p:sp>
        <p:nvSpPr>
          <p:cNvPr id="61" name="타원 60">
            <a:extLst>
              <a:ext uri="{FF2B5EF4-FFF2-40B4-BE49-F238E27FC236}">
                <a16:creationId xmlns:a16="http://schemas.microsoft.com/office/drawing/2014/main" id="{79A5A288-5FA6-46E6-BC75-43B7FB32100D}"/>
              </a:ext>
            </a:extLst>
          </p:cNvPr>
          <p:cNvSpPr/>
          <p:nvPr/>
        </p:nvSpPr>
        <p:spPr>
          <a:xfrm>
            <a:off x="1703281" y="5588014"/>
            <a:ext cx="141148" cy="14716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2" name="직선 연결선 61">
            <a:extLst>
              <a:ext uri="{FF2B5EF4-FFF2-40B4-BE49-F238E27FC236}">
                <a16:creationId xmlns:a16="http://schemas.microsoft.com/office/drawing/2014/main" id="{DA0317E4-1917-4596-8F89-DE15A2F8693F}"/>
              </a:ext>
            </a:extLst>
          </p:cNvPr>
          <p:cNvCxnSpPr>
            <a:cxnSpLocks/>
            <a:stCxn id="60" idx="0"/>
            <a:endCxn id="61" idx="4"/>
          </p:cNvCxnSpPr>
          <p:nvPr/>
        </p:nvCxnSpPr>
        <p:spPr>
          <a:xfrm flipH="1" flipV="1">
            <a:off x="1773855" y="5735182"/>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8AB214D8-931B-4BB3-A124-6E6705FABAD5}"/>
              </a:ext>
            </a:extLst>
          </p:cNvPr>
          <p:cNvSpPr txBox="1"/>
          <p:nvPr/>
        </p:nvSpPr>
        <p:spPr>
          <a:xfrm>
            <a:off x="3862354" y="5931038"/>
            <a:ext cx="122460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가처분결정</a:t>
            </a:r>
          </a:p>
        </p:txBody>
      </p:sp>
      <p:sp>
        <p:nvSpPr>
          <p:cNvPr id="33" name="타원 32">
            <a:extLst>
              <a:ext uri="{FF2B5EF4-FFF2-40B4-BE49-F238E27FC236}">
                <a16:creationId xmlns:a16="http://schemas.microsoft.com/office/drawing/2014/main" id="{CCC08926-976F-40F3-A94F-F23E1F51991B}"/>
              </a:ext>
            </a:extLst>
          </p:cNvPr>
          <p:cNvSpPr/>
          <p:nvPr/>
        </p:nvSpPr>
        <p:spPr>
          <a:xfrm>
            <a:off x="4404081" y="5588014"/>
            <a:ext cx="141148" cy="14716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4" name="직선 연결선 33">
            <a:extLst>
              <a:ext uri="{FF2B5EF4-FFF2-40B4-BE49-F238E27FC236}">
                <a16:creationId xmlns:a16="http://schemas.microsoft.com/office/drawing/2014/main" id="{C1B931D4-40CF-4CEB-BF92-481163D513F4}"/>
              </a:ext>
            </a:extLst>
          </p:cNvPr>
          <p:cNvCxnSpPr>
            <a:cxnSpLocks/>
            <a:stCxn id="32" idx="0"/>
            <a:endCxn id="33" idx="4"/>
          </p:cNvCxnSpPr>
          <p:nvPr/>
        </p:nvCxnSpPr>
        <p:spPr>
          <a:xfrm flipH="1" flipV="1">
            <a:off x="4474655" y="5735182"/>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BA40FF4B-94C3-4A7E-B155-367688F02EF3}"/>
              </a:ext>
            </a:extLst>
          </p:cNvPr>
          <p:cNvSpPr txBox="1"/>
          <p:nvPr/>
        </p:nvSpPr>
        <p:spPr>
          <a:xfrm>
            <a:off x="4221534" y="5127081"/>
            <a:ext cx="1692826"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丙에게 전용실시권 설정</a:t>
            </a:r>
          </a:p>
        </p:txBody>
      </p:sp>
      <p:sp>
        <p:nvSpPr>
          <p:cNvPr id="40" name="타원 39">
            <a:extLst>
              <a:ext uri="{FF2B5EF4-FFF2-40B4-BE49-F238E27FC236}">
                <a16:creationId xmlns:a16="http://schemas.microsoft.com/office/drawing/2014/main" id="{3A0FB48A-E8A6-4FA8-82E8-35B2F2E3A82E}"/>
              </a:ext>
            </a:extLst>
          </p:cNvPr>
          <p:cNvSpPr/>
          <p:nvPr/>
        </p:nvSpPr>
        <p:spPr>
          <a:xfrm>
            <a:off x="4997372" y="5588014"/>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1" name="직선 연결선 40">
            <a:extLst>
              <a:ext uri="{FF2B5EF4-FFF2-40B4-BE49-F238E27FC236}">
                <a16:creationId xmlns:a16="http://schemas.microsoft.com/office/drawing/2014/main" id="{8417D011-868E-44E6-8957-4E1BC62E9D22}"/>
              </a:ext>
            </a:extLst>
          </p:cNvPr>
          <p:cNvCxnSpPr>
            <a:cxnSpLocks/>
            <a:stCxn id="39" idx="2"/>
            <a:endCxn id="40" idx="0"/>
          </p:cNvCxnSpPr>
          <p:nvPr/>
        </p:nvCxnSpPr>
        <p:spPr>
          <a:xfrm flipH="1">
            <a:off x="5067946" y="5404080"/>
            <a:ext cx="1" cy="1839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97BE132B-AD0A-4F1A-9FAA-71045A2ECA31}"/>
              </a:ext>
            </a:extLst>
          </p:cNvPr>
          <p:cNvSpPr txBox="1"/>
          <p:nvPr/>
        </p:nvSpPr>
        <p:spPr>
          <a:xfrm>
            <a:off x="6062279" y="5127081"/>
            <a:ext cx="1484444"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丁에게 특허권 이전</a:t>
            </a:r>
          </a:p>
        </p:txBody>
      </p:sp>
      <p:sp>
        <p:nvSpPr>
          <p:cNvPr id="45" name="타원 44">
            <a:extLst>
              <a:ext uri="{FF2B5EF4-FFF2-40B4-BE49-F238E27FC236}">
                <a16:creationId xmlns:a16="http://schemas.microsoft.com/office/drawing/2014/main" id="{6521B08C-3631-4A44-930F-87FEC238810C}"/>
              </a:ext>
            </a:extLst>
          </p:cNvPr>
          <p:cNvSpPr/>
          <p:nvPr/>
        </p:nvSpPr>
        <p:spPr>
          <a:xfrm>
            <a:off x="6733926" y="5588014"/>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6" name="직선 연결선 45">
            <a:extLst>
              <a:ext uri="{FF2B5EF4-FFF2-40B4-BE49-F238E27FC236}">
                <a16:creationId xmlns:a16="http://schemas.microsoft.com/office/drawing/2014/main" id="{88AE8CA0-5E29-47FA-A606-321D1F1C5FDF}"/>
              </a:ext>
            </a:extLst>
          </p:cNvPr>
          <p:cNvCxnSpPr>
            <a:cxnSpLocks/>
            <a:stCxn id="44" idx="2"/>
            <a:endCxn id="45" idx="0"/>
          </p:cNvCxnSpPr>
          <p:nvPr/>
        </p:nvCxnSpPr>
        <p:spPr>
          <a:xfrm flipH="1">
            <a:off x="6804500" y="5404080"/>
            <a:ext cx="1" cy="1839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56E071B4-E48C-46B9-91BD-A2A18DB0491F}"/>
              </a:ext>
            </a:extLst>
          </p:cNvPr>
          <p:cNvSpPr txBox="1"/>
          <p:nvPr/>
        </p:nvSpPr>
        <p:spPr>
          <a:xfrm>
            <a:off x="2490380" y="5931038"/>
            <a:ext cx="1224604" cy="461665"/>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지분이전</a:t>
            </a:r>
            <a:endParaRPr lang="en-US" altLang="ko-KR" sz="1200" dirty="0">
              <a:solidFill>
                <a:schemeClr val="tx1"/>
              </a:solidFill>
              <a:latin typeface="+mn-ea"/>
            </a:endParaRPr>
          </a:p>
          <a:p>
            <a:pPr algn="ctr"/>
            <a:r>
              <a:rPr lang="ko-KR" altLang="en-US" sz="1200" dirty="0">
                <a:solidFill>
                  <a:schemeClr val="tx1"/>
                </a:solidFill>
                <a:latin typeface="+mn-ea"/>
              </a:rPr>
              <a:t>소송제기</a:t>
            </a:r>
          </a:p>
        </p:txBody>
      </p:sp>
      <p:sp>
        <p:nvSpPr>
          <p:cNvPr id="48" name="타원 47">
            <a:extLst>
              <a:ext uri="{FF2B5EF4-FFF2-40B4-BE49-F238E27FC236}">
                <a16:creationId xmlns:a16="http://schemas.microsoft.com/office/drawing/2014/main" id="{F7DE80D1-B72C-4C6A-98BE-80D58825955E}"/>
              </a:ext>
            </a:extLst>
          </p:cNvPr>
          <p:cNvSpPr/>
          <p:nvPr/>
        </p:nvSpPr>
        <p:spPr>
          <a:xfrm>
            <a:off x="3032107" y="5588014"/>
            <a:ext cx="141148" cy="14716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9" name="직선 연결선 48">
            <a:extLst>
              <a:ext uri="{FF2B5EF4-FFF2-40B4-BE49-F238E27FC236}">
                <a16:creationId xmlns:a16="http://schemas.microsoft.com/office/drawing/2014/main" id="{C54A13B5-8B33-4ED1-AA4B-047EDDA2514F}"/>
              </a:ext>
            </a:extLst>
          </p:cNvPr>
          <p:cNvCxnSpPr>
            <a:cxnSpLocks/>
            <a:stCxn id="47" idx="0"/>
            <a:endCxn id="48" idx="4"/>
          </p:cNvCxnSpPr>
          <p:nvPr/>
        </p:nvCxnSpPr>
        <p:spPr>
          <a:xfrm flipH="1" flipV="1">
            <a:off x="3102681" y="5735182"/>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5F9AC92B-B913-442A-913C-22422CF26F9D}"/>
              </a:ext>
            </a:extLst>
          </p:cNvPr>
          <p:cNvSpPr txBox="1"/>
          <p:nvPr/>
        </p:nvSpPr>
        <p:spPr>
          <a:xfrm>
            <a:off x="6860714" y="5931038"/>
            <a:ext cx="1230872" cy="461665"/>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승소 </a:t>
            </a:r>
            <a:r>
              <a:rPr lang="en-US" altLang="ko-KR" sz="1200" dirty="0">
                <a:solidFill>
                  <a:schemeClr val="tx1"/>
                </a:solidFill>
                <a:latin typeface="+mn-ea"/>
              </a:rPr>
              <a:t>&amp; </a:t>
            </a:r>
            <a:r>
              <a:rPr lang="ko-KR" altLang="en-US" sz="1200" dirty="0">
                <a:solidFill>
                  <a:schemeClr val="tx1"/>
                </a:solidFill>
                <a:latin typeface="+mn-ea"/>
              </a:rPr>
              <a:t>乙에게 </a:t>
            </a:r>
            <a:endParaRPr lang="en-US" altLang="ko-KR" sz="1200" dirty="0">
              <a:solidFill>
                <a:schemeClr val="tx1"/>
              </a:solidFill>
              <a:latin typeface="+mn-ea"/>
            </a:endParaRPr>
          </a:p>
          <a:p>
            <a:pPr algn="ctr"/>
            <a:r>
              <a:rPr lang="ko-KR" altLang="en-US" sz="1200" dirty="0">
                <a:solidFill>
                  <a:schemeClr val="tx1"/>
                </a:solidFill>
                <a:latin typeface="+mn-ea"/>
              </a:rPr>
              <a:t>지분이전등록</a:t>
            </a:r>
          </a:p>
        </p:txBody>
      </p:sp>
      <p:sp>
        <p:nvSpPr>
          <p:cNvPr id="51" name="타원 50">
            <a:extLst>
              <a:ext uri="{FF2B5EF4-FFF2-40B4-BE49-F238E27FC236}">
                <a16:creationId xmlns:a16="http://schemas.microsoft.com/office/drawing/2014/main" id="{E078EF0B-6318-4E6F-987D-15EC027C44C1}"/>
              </a:ext>
            </a:extLst>
          </p:cNvPr>
          <p:cNvSpPr/>
          <p:nvPr/>
        </p:nvSpPr>
        <p:spPr>
          <a:xfrm>
            <a:off x="7405575" y="5588014"/>
            <a:ext cx="141148" cy="14716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2" name="직선 연결선 51">
            <a:extLst>
              <a:ext uri="{FF2B5EF4-FFF2-40B4-BE49-F238E27FC236}">
                <a16:creationId xmlns:a16="http://schemas.microsoft.com/office/drawing/2014/main" id="{8ABEE451-11F6-47A4-A416-FAFB98DABBBA}"/>
              </a:ext>
            </a:extLst>
          </p:cNvPr>
          <p:cNvCxnSpPr>
            <a:cxnSpLocks/>
            <a:stCxn id="50" idx="0"/>
            <a:endCxn id="51" idx="4"/>
          </p:cNvCxnSpPr>
          <p:nvPr/>
        </p:nvCxnSpPr>
        <p:spPr>
          <a:xfrm flipH="1" flipV="1">
            <a:off x="7476149" y="5735182"/>
            <a:ext cx="1" cy="19585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CA3A19E3-0A45-424A-817B-B132FD8DDE77}"/>
              </a:ext>
            </a:extLst>
          </p:cNvPr>
          <p:cNvSpPr txBox="1"/>
          <p:nvPr/>
        </p:nvSpPr>
        <p:spPr>
          <a:xfrm>
            <a:off x="8431419" y="4957325"/>
            <a:ext cx="2244525" cy="523220"/>
          </a:xfrm>
          <a:prstGeom prst="rect">
            <a:avLst/>
          </a:prstGeom>
          <a:solidFill>
            <a:schemeClr val="accent4">
              <a:lumMod val="75000"/>
            </a:schemeClr>
          </a:solidFill>
        </p:spPr>
        <p:txBody>
          <a:bodyPr wrap="none" rtlCol="0">
            <a:spAutoFit/>
          </a:bodyPr>
          <a:lstStyle/>
          <a:p>
            <a:r>
              <a:rPr lang="en-US" altLang="ko-KR" sz="1600" dirty="0">
                <a:solidFill>
                  <a:schemeClr val="bg1">
                    <a:lumMod val="95000"/>
                  </a:schemeClr>
                </a:solidFill>
              </a:rPr>
              <a:t>* </a:t>
            </a:r>
            <a:r>
              <a:rPr lang="ko-KR" altLang="en-US" sz="1600" dirty="0">
                <a:solidFill>
                  <a:schemeClr val="bg1">
                    <a:lumMod val="95000"/>
                  </a:schemeClr>
                </a:solidFill>
              </a:rPr>
              <a:t>丙 전용실시권 무효</a:t>
            </a:r>
            <a:endParaRPr lang="en-US" altLang="ko-KR" sz="1600" dirty="0">
              <a:solidFill>
                <a:schemeClr val="bg1">
                  <a:lumMod val="95000"/>
                </a:schemeClr>
              </a:solidFill>
            </a:endParaRPr>
          </a:p>
          <a:p>
            <a:r>
              <a:rPr lang="en-US" altLang="ko-KR" sz="1200" dirty="0">
                <a:solidFill>
                  <a:schemeClr val="bg1">
                    <a:lumMod val="95000"/>
                  </a:schemeClr>
                </a:solidFill>
              </a:rPr>
              <a:t> - </a:t>
            </a:r>
            <a:r>
              <a:rPr lang="ko-KR" altLang="en-US" sz="1200" dirty="0">
                <a:solidFill>
                  <a:schemeClr val="bg1">
                    <a:lumMod val="95000"/>
                  </a:schemeClr>
                </a:solidFill>
              </a:rPr>
              <a:t>지분만큼 전용실시권 설정 불가</a:t>
            </a:r>
            <a:endParaRPr lang="en-US" altLang="ko-KR" sz="1200" dirty="0">
              <a:solidFill>
                <a:schemeClr val="bg1">
                  <a:lumMod val="95000"/>
                </a:schemeClr>
              </a:solidFill>
            </a:endParaRPr>
          </a:p>
        </p:txBody>
      </p:sp>
      <p:sp>
        <p:nvSpPr>
          <p:cNvPr id="63" name="TextBox 62">
            <a:extLst>
              <a:ext uri="{FF2B5EF4-FFF2-40B4-BE49-F238E27FC236}">
                <a16:creationId xmlns:a16="http://schemas.microsoft.com/office/drawing/2014/main" id="{7BD634BF-5828-407D-9887-95D0D96C832D}"/>
              </a:ext>
            </a:extLst>
          </p:cNvPr>
          <p:cNvSpPr txBox="1"/>
          <p:nvPr/>
        </p:nvSpPr>
        <p:spPr>
          <a:xfrm>
            <a:off x="8431419" y="5869482"/>
            <a:ext cx="3225563" cy="769441"/>
          </a:xfrm>
          <a:prstGeom prst="rect">
            <a:avLst/>
          </a:prstGeom>
          <a:solidFill>
            <a:schemeClr val="accent6"/>
          </a:solidFill>
        </p:spPr>
        <p:txBody>
          <a:bodyPr wrap="none" rtlCol="0">
            <a:spAutoFit/>
          </a:bodyPr>
          <a:lstStyle/>
          <a:p>
            <a:r>
              <a:rPr lang="en-US" altLang="ko-KR" sz="1600" dirty="0">
                <a:solidFill>
                  <a:schemeClr val="bg1">
                    <a:lumMod val="95000"/>
                  </a:schemeClr>
                </a:solidFill>
              </a:rPr>
              <a:t>* </a:t>
            </a:r>
            <a:r>
              <a:rPr lang="ko-KR" altLang="en-US" sz="1600" dirty="0">
                <a:solidFill>
                  <a:schemeClr val="bg1">
                    <a:lumMod val="95000"/>
                  </a:schemeClr>
                </a:solidFill>
              </a:rPr>
              <a:t>丁 특허권 이전은 甲 지분만큼 유효</a:t>
            </a:r>
            <a:endParaRPr lang="en-US" altLang="ko-KR" sz="1600" dirty="0">
              <a:solidFill>
                <a:schemeClr val="bg1">
                  <a:lumMod val="95000"/>
                </a:schemeClr>
              </a:solidFill>
            </a:endParaRPr>
          </a:p>
          <a:p>
            <a:r>
              <a:rPr lang="en-US" altLang="ko-KR" sz="1600" dirty="0">
                <a:solidFill>
                  <a:schemeClr val="bg1">
                    <a:lumMod val="95000"/>
                  </a:schemeClr>
                </a:solidFill>
              </a:rPr>
              <a:t> </a:t>
            </a:r>
            <a:r>
              <a:rPr lang="en-US" altLang="ko-KR" sz="1200" dirty="0">
                <a:solidFill>
                  <a:schemeClr val="bg1">
                    <a:lumMod val="95000"/>
                  </a:schemeClr>
                </a:solidFill>
              </a:rPr>
              <a:t>- </a:t>
            </a:r>
            <a:r>
              <a:rPr lang="ko-KR" altLang="en-US" sz="1200" dirty="0">
                <a:solidFill>
                  <a:schemeClr val="bg1">
                    <a:lumMod val="95000"/>
                  </a:schemeClr>
                </a:solidFill>
              </a:rPr>
              <a:t>지분만큼 특허권 이전 가능</a:t>
            </a:r>
            <a:endParaRPr lang="en-US" altLang="ko-KR" sz="1200" dirty="0">
              <a:solidFill>
                <a:schemeClr val="bg1">
                  <a:lumMod val="95000"/>
                </a:schemeClr>
              </a:solidFill>
            </a:endParaRPr>
          </a:p>
          <a:p>
            <a:r>
              <a:rPr lang="en-US" altLang="ko-KR" sz="1200" dirty="0">
                <a:solidFill>
                  <a:schemeClr val="bg1">
                    <a:lumMod val="95000"/>
                  </a:schemeClr>
                </a:solidFill>
              </a:rPr>
              <a:t> - </a:t>
            </a:r>
            <a:r>
              <a:rPr lang="ko-KR" altLang="en-US" sz="1200" dirty="0">
                <a:solidFill>
                  <a:schemeClr val="bg1">
                    <a:lumMod val="95000"/>
                  </a:schemeClr>
                </a:solidFill>
              </a:rPr>
              <a:t>양도에 대한 </a:t>
            </a:r>
            <a:r>
              <a:rPr lang="ko-KR" altLang="en-US" sz="1200" dirty="0" err="1">
                <a:solidFill>
                  <a:schemeClr val="bg1">
                    <a:lumMod val="95000"/>
                  </a:schemeClr>
                </a:solidFill>
              </a:rPr>
              <a:t>동의권</a:t>
            </a:r>
            <a:r>
              <a:rPr lang="ko-KR" altLang="en-US" sz="1200" dirty="0">
                <a:solidFill>
                  <a:schemeClr val="bg1">
                    <a:lumMod val="95000"/>
                  </a:schemeClr>
                </a:solidFill>
              </a:rPr>
              <a:t> 가처분 불가</a:t>
            </a:r>
          </a:p>
        </p:txBody>
      </p:sp>
    </p:spTree>
    <p:extLst>
      <p:ext uri="{BB962C8B-B14F-4D97-AF65-F5344CB8AC3E}">
        <p14:creationId xmlns:p14="http://schemas.microsoft.com/office/powerpoint/2010/main" val="3085461216"/>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100</a:t>
            </a:r>
            <a:r>
              <a:rPr lang="ko-KR" altLang="en-US" dirty="0"/>
              <a:t>조</a:t>
            </a:r>
            <a:r>
              <a:rPr lang="en-US" altLang="ko-KR" dirty="0"/>
              <a:t>~</a:t>
            </a:r>
            <a:r>
              <a:rPr lang="ko-KR" altLang="en-US" dirty="0"/>
              <a:t>제</a:t>
            </a:r>
            <a:r>
              <a:rPr lang="en-US" altLang="ko-KR" dirty="0"/>
              <a:t>118</a:t>
            </a:r>
            <a:r>
              <a:rPr lang="ko-KR" altLang="en-US" dirty="0"/>
              <a:t>조</a:t>
            </a:r>
          </a:p>
        </p:txBody>
      </p:sp>
      <p:sp>
        <p:nvSpPr>
          <p:cNvPr id="4" name="텍스트 개체 틀 3"/>
          <p:cNvSpPr>
            <a:spLocks noGrp="1"/>
          </p:cNvSpPr>
          <p:nvPr>
            <p:ph type="body" sz="quarter" idx="13"/>
          </p:nvPr>
        </p:nvSpPr>
        <p:spPr/>
        <p:txBody>
          <a:bodyPr/>
          <a:lstStyle/>
          <a:p>
            <a:r>
              <a:rPr lang="ko-KR" altLang="en-US" dirty="0" err="1"/>
              <a:t>실시권의</a:t>
            </a:r>
            <a:r>
              <a:rPr lang="ko-KR" altLang="en-US" dirty="0"/>
              <a:t> 종류</a:t>
            </a:r>
          </a:p>
        </p:txBody>
      </p:sp>
      <p:cxnSp>
        <p:nvCxnSpPr>
          <p:cNvPr id="31" name="직선 연결선 30"/>
          <p:cNvCxnSpPr/>
          <p:nvPr/>
        </p:nvCxnSpPr>
        <p:spPr>
          <a:xfrm>
            <a:off x="-36242" y="150926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77875" y="986046"/>
            <a:ext cx="11936323" cy="523220"/>
          </a:xfrm>
          <a:prstGeom prst="rect">
            <a:avLst/>
          </a:prstGeom>
          <a:noFill/>
        </p:spPr>
        <p:txBody>
          <a:bodyPr wrap="square" rtlCol="0">
            <a:spAutoFit/>
          </a:bodyPr>
          <a:lstStyle/>
          <a:p>
            <a:pPr fontAlgn="base"/>
            <a:r>
              <a:rPr lang="ko-KR" altLang="en-US" sz="1400" dirty="0" err="1">
                <a:solidFill>
                  <a:schemeClr val="tx2"/>
                </a:solidFill>
              </a:rPr>
              <a:t>실시권이란</a:t>
            </a:r>
            <a:r>
              <a:rPr lang="ko-KR" altLang="en-US" sz="1400" dirty="0">
                <a:solidFill>
                  <a:schemeClr val="tx2"/>
                </a:solidFill>
              </a:rPr>
              <a:t> </a:t>
            </a:r>
            <a:r>
              <a:rPr lang="ko-KR" altLang="en-US" sz="1400" dirty="0" err="1">
                <a:solidFill>
                  <a:schemeClr val="tx2"/>
                </a:solidFill>
              </a:rPr>
              <a:t>특허권자</a:t>
            </a:r>
            <a:r>
              <a:rPr lang="ko-KR" altLang="en-US" sz="1400" dirty="0">
                <a:solidFill>
                  <a:schemeClr val="tx2"/>
                </a:solidFill>
              </a:rPr>
              <a:t> 이외의 자가 업으로서 특허발명을 실시할 수 있는 권리를 말한다</a:t>
            </a:r>
            <a:r>
              <a:rPr lang="en-US" altLang="ko-KR" sz="1400" dirty="0">
                <a:solidFill>
                  <a:schemeClr val="tx2"/>
                </a:solidFill>
              </a:rPr>
              <a:t>. </a:t>
            </a:r>
            <a:r>
              <a:rPr lang="ko-KR" altLang="en-US" sz="1400" dirty="0" err="1">
                <a:solidFill>
                  <a:schemeClr val="tx2"/>
                </a:solidFill>
              </a:rPr>
              <a:t>실시권은</a:t>
            </a:r>
            <a:r>
              <a:rPr lang="ko-KR" altLang="en-US" sz="1400" dirty="0">
                <a:solidFill>
                  <a:schemeClr val="tx2"/>
                </a:solidFill>
              </a:rPr>
              <a:t> </a:t>
            </a:r>
            <a:r>
              <a:rPr lang="ko-KR" altLang="en-US" sz="1400" dirty="0">
                <a:solidFill>
                  <a:schemeClr val="accent3">
                    <a:lumMod val="50000"/>
                  </a:schemeClr>
                </a:solidFill>
                <a:highlight>
                  <a:srgbClr val="FFFF00"/>
                </a:highlight>
              </a:rPr>
              <a:t>특허권의 침해가 되지 아니한 정당한 권원 중 하나</a:t>
            </a:r>
            <a:r>
              <a:rPr lang="ko-KR" altLang="en-US" sz="1400" dirty="0">
                <a:solidFill>
                  <a:schemeClr val="tx2"/>
                </a:solidFill>
              </a:rPr>
              <a:t>로서 특허권에 </a:t>
            </a:r>
            <a:r>
              <a:rPr lang="ko-KR" altLang="en-US" sz="1400" dirty="0">
                <a:solidFill>
                  <a:schemeClr val="accent3">
                    <a:lumMod val="50000"/>
                  </a:schemeClr>
                </a:solidFill>
                <a:highlight>
                  <a:srgbClr val="FFFF00"/>
                </a:highlight>
              </a:rPr>
              <a:t>부수적인 권리</a:t>
            </a:r>
            <a:r>
              <a:rPr lang="ko-KR" altLang="en-US" sz="1400" dirty="0">
                <a:solidFill>
                  <a:schemeClr val="tx2"/>
                </a:solidFill>
              </a:rPr>
              <a:t>이기 때문에 특허권이 존재하여야만 발생할 수 있고</a:t>
            </a:r>
            <a:r>
              <a:rPr lang="en-US" altLang="ko-KR" sz="1400" dirty="0">
                <a:solidFill>
                  <a:schemeClr val="tx2"/>
                </a:solidFill>
              </a:rPr>
              <a:t>, </a:t>
            </a:r>
            <a:r>
              <a:rPr lang="ko-KR" altLang="en-US" sz="1400" dirty="0">
                <a:solidFill>
                  <a:schemeClr val="tx2"/>
                </a:solidFill>
              </a:rPr>
              <a:t>특허권이 소멸하면 </a:t>
            </a:r>
            <a:r>
              <a:rPr lang="ko-KR" altLang="en-US" sz="1400" dirty="0" err="1">
                <a:solidFill>
                  <a:schemeClr val="tx2"/>
                </a:solidFill>
              </a:rPr>
              <a:t>실시권도</a:t>
            </a:r>
            <a:r>
              <a:rPr lang="ko-KR" altLang="en-US" sz="1400" dirty="0">
                <a:solidFill>
                  <a:schemeClr val="tx2"/>
                </a:solidFill>
              </a:rPr>
              <a:t> 소멸한다</a:t>
            </a:r>
            <a:r>
              <a:rPr lang="en-US" altLang="ko-KR" sz="1400" dirty="0">
                <a:solidFill>
                  <a:schemeClr val="tx2"/>
                </a:solidFill>
              </a:rPr>
              <a:t>. </a:t>
            </a:r>
            <a:endParaRPr lang="ko-KR" altLang="en-US" sz="1400" dirty="0">
              <a:solidFill>
                <a:schemeClr val="tx2"/>
              </a:solidFill>
            </a:endParaRPr>
          </a:p>
        </p:txBody>
      </p:sp>
      <p:sp>
        <p:nvSpPr>
          <p:cNvPr id="33" name="직사각형 32"/>
          <p:cNvSpPr/>
          <p:nvPr/>
        </p:nvSpPr>
        <p:spPr>
          <a:xfrm>
            <a:off x="333375" y="3544441"/>
            <a:ext cx="868363" cy="576080"/>
          </a:xfrm>
          <a:prstGeom prst="rect">
            <a:avLst/>
          </a:prstGeom>
          <a:solidFill>
            <a:schemeClr val="tx2">
              <a:lumMod val="5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a:t>실시권</a:t>
            </a:r>
            <a:endParaRPr lang="ko-KR" altLang="en-US" dirty="0"/>
          </a:p>
        </p:txBody>
      </p:sp>
      <p:sp>
        <p:nvSpPr>
          <p:cNvPr id="42" name="직사각형 41"/>
          <p:cNvSpPr/>
          <p:nvPr/>
        </p:nvSpPr>
        <p:spPr>
          <a:xfrm>
            <a:off x="2161845" y="2572333"/>
            <a:ext cx="1322256" cy="324036"/>
          </a:xfrm>
          <a:prstGeom prst="rect">
            <a:avLst/>
          </a:prstGeom>
          <a:solidFill>
            <a:schemeClr val="tx2">
              <a:lumMod val="75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600" dirty="0" err="1"/>
              <a:t>전용실시권</a:t>
            </a:r>
            <a:endParaRPr lang="ko-KR" altLang="en-US" sz="1600" dirty="0"/>
          </a:p>
        </p:txBody>
      </p:sp>
      <p:sp>
        <p:nvSpPr>
          <p:cNvPr id="44" name="직사각형 43"/>
          <p:cNvSpPr/>
          <p:nvPr/>
        </p:nvSpPr>
        <p:spPr>
          <a:xfrm>
            <a:off x="2161845" y="4372533"/>
            <a:ext cx="1322256" cy="324036"/>
          </a:xfrm>
          <a:prstGeom prst="rect">
            <a:avLst/>
          </a:prstGeom>
          <a:solidFill>
            <a:schemeClr val="tx2">
              <a:lumMod val="75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600" dirty="0" err="1"/>
              <a:t>통상실시권</a:t>
            </a:r>
            <a:endParaRPr lang="ko-KR" altLang="en-US" sz="1600" dirty="0"/>
          </a:p>
        </p:txBody>
      </p:sp>
      <p:sp>
        <p:nvSpPr>
          <p:cNvPr id="47" name="직사각형 46"/>
          <p:cNvSpPr/>
          <p:nvPr/>
        </p:nvSpPr>
        <p:spPr>
          <a:xfrm>
            <a:off x="2161845" y="2896369"/>
            <a:ext cx="1322256" cy="540060"/>
          </a:xfrm>
          <a:prstGeom prst="rect">
            <a:avLst/>
          </a:prstGeom>
          <a:no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독점배타성 有</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물권적 권리</a:t>
            </a:r>
            <a:r>
              <a:rPr lang="en-US" altLang="ko-KR" sz="1200" dirty="0">
                <a:solidFill>
                  <a:schemeClr val="tx1"/>
                </a:solidFill>
              </a:rPr>
              <a:t>)</a:t>
            </a:r>
            <a:endParaRPr lang="ko-KR" altLang="en-US" sz="1200" dirty="0">
              <a:solidFill>
                <a:schemeClr val="tx1"/>
              </a:solidFill>
            </a:endParaRPr>
          </a:p>
        </p:txBody>
      </p:sp>
      <p:sp>
        <p:nvSpPr>
          <p:cNvPr id="48" name="직사각형 47"/>
          <p:cNvSpPr/>
          <p:nvPr/>
        </p:nvSpPr>
        <p:spPr>
          <a:xfrm>
            <a:off x="2161845" y="4703043"/>
            <a:ext cx="1322256" cy="540060"/>
          </a:xfrm>
          <a:prstGeom prst="rect">
            <a:avLst/>
          </a:prstGeom>
          <a:no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독점배타성 無</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채권적 권리</a:t>
            </a:r>
            <a:r>
              <a:rPr lang="en-US" altLang="ko-KR" sz="1200" dirty="0">
                <a:solidFill>
                  <a:schemeClr val="tx1"/>
                </a:solidFill>
              </a:rPr>
              <a:t>)</a:t>
            </a:r>
            <a:endParaRPr lang="ko-KR" altLang="en-US" sz="1200" dirty="0">
              <a:solidFill>
                <a:schemeClr val="tx1"/>
              </a:solidFill>
            </a:endParaRPr>
          </a:p>
        </p:txBody>
      </p:sp>
      <p:sp>
        <p:nvSpPr>
          <p:cNvPr id="50" name="직사각형 49"/>
          <p:cNvSpPr/>
          <p:nvPr/>
        </p:nvSpPr>
        <p:spPr>
          <a:xfrm>
            <a:off x="4562111" y="2248297"/>
            <a:ext cx="1322256" cy="324036"/>
          </a:xfrm>
          <a:prstGeom prst="rect">
            <a:avLst/>
          </a:prstGeom>
          <a:solidFill>
            <a:schemeClr val="bg2">
              <a:lumMod val="5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600" dirty="0" err="1"/>
              <a:t>허락실시권</a:t>
            </a:r>
            <a:endParaRPr lang="en-US" altLang="ko-KR" sz="1600" dirty="0"/>
          </a:p>
        </p:txBody>
      </p:sp>
      <p:sp>
        <p:nvSpPr>
          <p:cNvPr id="53" name="직사각형 52"/>
          <p:cNvSpPr/>
          <p:nvPr/>
        </p:nvSpPr>
        <p:spPr>
          <a:xfrm>
            <a:off x="4562111" y="2572333"/>
            <a:ext cx="1322256" cy="540060"/>
          </a:xfrm>
          <a:prstGeom prst="rect">
            <a:avLst/>
          </a:prstGeom>
          <a:no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특허권자의 </a:t>
            </a:r>
            <a:endParaRPr lang="en-US" altLang="ko-KR" sz="1200" dirty="0">
              <a:solidFill>
                <a:schemeClr val="tx1"/>
              </a:solidFill>
            </a:endParaRPr>
          </a:p>
          <a:p>
            <a:pPr algn="ctr"/>
            <a:r>
              <a:rPr lang="ko-KR" altLang="en-US" sz="1200" dirty="0">
                <a:solidFill>
                  <a:schemeClr val="tx1"/>
                </a:solidFill>
              </a:rPr>
              <a:t>의사에 의하여 </a:t>
            </a:r>
            <a:endParaRPr lang="en-US" altLang="ko-KR" sz="1200" dirty="0">
              <a:solidFill>
                <a:schemeClr val="tx1"/>
              </a:solidFill>
            </a:endParaRPr>
          </a:p>
          <a:p>
            <a:pPr algn="ctr"/>
            <a:r>
              <a:rPr lang="ko-KR" altLang="en-US" sz="1200" dirty="0">
                <a:solidFill>
                  <a:schemeClr val="tx1"/>
                </a:solidFill>
              </a:rPr>
              <a:t>발생</a:t>
            </a:r>
            <a:endParaRPr lang="en-US" altLang="ko-KR" sz="1200" dirty="0">
              <a:solidFill>
                <a:schemeClr val="tx1"/>
              </a:solidFill>
            </a:endParaRPr>
          </a:p>
        </p:txBody>
      </p:sp>
      <p:sp>
        <p:nvSpPr>
          <p:cNvPr id="56" name="직사각형 55"/>
          <p:cNvSpPr/>
          <p:nvPr/>
        </p:nvSpPr>
        <p:spPr>
          <a:xfrm>
            <a:off x="4562111" y="3724461"/>
            <a:ext cx="1322256" cy="324036"/>
          </a:xfrm>
          <a:prstGeom prst="rect">
            <a:avLst/>
          </a:prstGeom>
          <a:solidFill>
            <a:schemeClr val="bg2">
              <a:lumMod val="5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600" dirty="0" err="1"/>
              <a:t>법정실시권</a:t>
            </a:r>
            <a:endParaRPr lang="ko-KR" altLang="en-US" sz="1600" dirty="0"/>
          </a:p>
        </p:txBody>
      </p:sp>
      <p:sp>
        <p:nvSpPr>
          <p:cNvPr id="57" name="직사각형 56"/>
          <p:cNvSpPr/>
          <p:nvPr/>
        </p:nvSpPr>
        <p:spPr>
          <a:xfrm>
            <a:off x="4562111" y="4048497"/>
            <a:ext cx="1322256" cy="540060"/>
          </a:xfrm>
          <a:prstGeom prst="rect">
            <a:avLst/>
          </a:prstGeom>
          <a:no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법률규정 </a:t>
            </a:r>
            <a:endParaRPr lang="en-US" altLang="ko-KR" sz="1200" dirty="0">
              <a:solidFill>
                <a:schemeClr val="tx1"/>
              </a:solidFill>
            </a:endParaRPr>
          </a:p>
          <a:p>
            <a:pPr algn="ctr"/>
            <a:r>
              <a:rPr lang="ko-KR" altLang="en-US" sz="1200" dirty="0">
                <a:solidFill>
                  <a:schemeClr val="tx1"/>
                </a:solidFill>
              </a:rPr>
              <a:t>만족에 의하여 </a:t>
            </a:r>
            <a:endParaRPr lang="en-US" altLang="ko-KR" sz="1200" dirty="0">
              <a:solidFill>
                <a:schemeClr val="tx1"/>
              </a:solidFill>
            </a:endParaRPr>
          </a:p>
          <a:p>
            <a:pPr algn="ctr"/>
            <a:r>
              <a:rPr lang="ko-KR" altLang="en-US" sz="1200" dirty="0">
                <a:solidFill>
                  <a:schemeClr val="tx1"/>
                </a:solidFill>
              </a:rPr>
              <a:t>발생</a:t>
            </a:r>
            <a:endParaRPr lang="en-US" altLang="ko-KR" sz="1200" dirty="0">
              <a:solidFill>
                <a:schemeClr val="tx1"/>
              </a:solidFill>
            </a:endParaRPr>
          </a:p>
        </p:txBody>
      </p:sp>
      <p:sp>
        <p:nvSpPr>
          <p:cNvPr id="58" name="직사각형 57"/>
          <p:cNvSpPr/>
          <p:nvPr/>
        </p:nvSpPr>
        <p:spPr>
          <a:xfrm>
            <a:off x="4562111" y="5243103"/>
            <a:ext cx="1322256" cy="324036"/>
          </a:xfrm>
          <a:prstGeom prst="rect">
            <a:avLst/>
          </a:prstGeom>
          <a:solidFill>
            <a:schemeClr val="bg2">
              <a:lumMod val="5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600" dirty="0" err="1"/>
              <a:t>강제실시권</a:t>
            </a:r>
            <a:endParaRPr lang="ko-KR" altLang="en-US" sz="1600" dirty="0"/>
          </a:p>
        </p:txBody>
      </p:sp>
      <p:sp>
        <p:nvSpPr>
          <p:cNvPr id="59" name="직사각형 58"/>
          <p:cNvSpPr/>
          <p:nvPr/>
        </p:nvSpPr>
        <p:spPr>
          <a:xfrm>
            <a:off x="4562111" y="5567139"/>
            <a:ext cx="1322256" cy="540060"/>
          </a:xfrm>
          <a:prstGeom prst="rect">
            <a:avLst/>
          </a:prstGeom>
          <a:no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행정처분에 </a:t>
            </a:r>
            <a:endParaRPr lang="en-US" altLang="ko-KR" sz="1200" dirty="0">
              <a:solidFill>
                <a:schemeClr val="tx1"/>
              </a:solidFill>
            </a:endParaRPr>
          </a:p>
          <a:p>
            <a:pPr algn="ctr"/>
            <a:r>
              <a:rPr lang="ko-KR" altLang="en-US" sz="1200" dirty="0">
                <a:solidFill>
                  <a:schemeClr val="tx1"/>
                </a:solidFill>
              </a:rPr>
              <a:t>의하여 발생</a:t>
            </a:r>
            <a:endParaRPr lang="en-US" altLang="ko-KR" sz="1200" dirty="0">
              <a:solidFill>
                <a:schemeClr val="tx1"/>
              </a:solidFill>
            </a:endParaRPr>
          </a:p>
        </p:txBody>
      </p:sp>
      <p:cxnSp>
        <p:nvCxnSpPr>
          <p:cNvPr id="60" name="직선 연결선 59"/>
          <p:cNvCxnSpPr>
            <a:stCxn id="42" idx="3"/>
            <a:endCxn id="50" idx="1"/>
          </p:cNvCxnSpPr>
          <p:nvPr/>
        </p:nvCxnSpPr>
        <p:spPr>
          <a:xfrm flipV="1">
            <a:off x="3484101" y="2410315"/>
            <a:ext cx="1078011" cy="32403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직선 연결선 60"/>
          <p:cNvCxnSpPr>
            <a:stCxn id="44" idx="3"/>
            <a:endCxn id="50" idx="1"/>
          </p:cNvCxnSpPr>
          <p:nvPr/>
        </p:nvCxnSpPr>
        <p:spPr>
          <a:xfrm flipV="1">
            <a:off x="3484101" y="2410315"/>
            <a:ext cx="1078011" cy="212423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2" name="직선 연결선 61"/>
          <p:cNvCxnSpPr>
            <a:stCxn id="44" idx="3"/>
            <a:endCxn id="56" idx="1"/>
          </p:cNvCxnSpPr>
          <p:nvPr/>
        </p:nvCxnSpPr>
        <p:spPr>
          <a:xfrm flipV="1">
            <a:off x="3484101" y="3886479"/>
            <a:ext cx="1078011" cy="64807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3" name="직선 연결선 62"/>
          <p:cNvCxnSpPr>
            <a:stCxn id="44" idx="3"/>
            <a:endCxn id="58" idx="1"/>
          </p:cNvCxnSpPr>
          <p:nvPr/>
        </p:nvCxnSpPr>
        <p:spPr>
          <a:xfrm>
            <a:off x="3484101" y="4534551"/>
            <a:ext cx="1078011" cy="87057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4" name="직선 연결선 63"/>
          <p:cNvCxnSpPr>
            <a:stCxn id="33" idx="3"/>
            <a:endCxn id="42" idx="1"/>
          </p:cNvCxnSpPr>
          <p:nvPr/>
        </p:nvCxnSpPr>
        <p:spPr>
          <a:xfrm flipV="1">
            <a:off x="1201738" y="2734351"/>
            <a:ext cx="960107" cy="10981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5" name="직선 연결선 64"/>
          <p:cNvCxnSpPr>
            <a:stCxn id="33" idx="3"/>
            <a:endCxn id="44" idx="1"/>
          </p:cNvCxnSpPr>
          <p:nvPr/>
        </p:nvCxnSpPr>
        <p:spPr>
          <a:xfrm>
            <a:off x="1201738" y="3832481"/>
            <a:ext cx="960107" cy="70207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56" idx="3"/>
            <a:endCxn id="78" idx="1"/>
          </p:cNvCxnSpPr>
          <p:nvPr/>
        </p:nvCxnSpPr>
        <p:spPr>
          <a:xfrm flipV="1">
            <a:off x="5884367" y="2244158"/>
            <a:ext cx="811708" cy="164232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7" name="꺾인 연결선 66"/>
          <p:cNvCxnSpPr>
            <a:stCxn id="56" idx="3"/>
            <a:endCxn id="79" idx="1"/>
          </p:cNvCxnSpPr>
          <p:nvPr/>
        </p:nvCxnSpPr>
        <p:spPr>
          <a:xfrm flipV="1">
            <a:off x="5884367" y="2535727"/>
            <a:ext cx="811708" cy="1350752"/>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꺾인 연결선 67"/>
          <p:cNvCxnSpPr>
            <a:stCxn id="56" idx="3"/>
            <a:endCxn id="85" idx="1"/>
          </p:cNvCxnSpPr>
          <p:nvPr/>
        </p:nvCxnSpPr>
        <p:spPr>
          <a:xfrm>
            <a:off x="5884367" y="3886479"/>
            <a:ext cx="811708" cy="684411"/>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9" name="꺾인 연결선 68"/>
          <p:cNvCxnSpPr>
            <a:stCxn id="56" idx="3"/>
            <a:endCxn id="80" idx="1"/>
          </p:cNvCxnSpPr>
          <p:nvPr/>
        </p:nvCxnSpPr>
        <p:spPr>
          <a:xfrm flipV="1">
            <a:off x="5884367" y="2826337"/>
            <a:ext cx="811708" cy="1060142"/>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꺾인 연결선 69"/>
          <p:cNvCxnSpPr>
            <a:stCxn id="56" idx="3"/>
            <a:endCxn id="81" idx="1"/>
          </p:cNvCxnSpPr>
          <p:nvPr/>
        </p:nvCxnSpPr>
        <p:spPr>
          <a:xfrm flipV="1">
            <a:off x="5884367" y="3404615"/>
            <a:ext cx="811708" cy="481864"/>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1" name="꺾인 연결선 70"/>
          <p:cNvCxnSpPr>
            <a:stCxn id="56" idx="3"/>
            <a:endCxn id="82" idx="1"/>
          </p:cNvCxnSpPr>
          <p:nvPr/>
        </p:nvCxnSpPr>
        <p:spPr>
          <a:xfrm flipV="1">
            <a:off x="5884367" y="3696183"/>
            <a:ext cx="811708" cy="190296"/>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2" name="꺾인 연결선 71"/>
          <p:cNvCxnSpPr>
            <a:stCxn id="56" idx="3"/>
            <a:endCxn id="83" idx="1"/>
          </p:cNvCxnSpPr>
          <p:nvPr/>
        </p:nvCxnSpPr>
        <p:spPr>
          <a:xfrm>
            <a:off x="5884367" y="3886479"/>
            <a:ext cx="811708" cy="101273"/>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3" name="꺾인 연결선 72"/>
          <p:cNvCxnSpPr>
            <a:stCxn id="56" idx="3"/>
            <a:endCxn id="84" idx="1"/>
          </p:cNvCxnSpPr>
          <p:nvPr/>
        </p:nvCxnSpPr>
        <p:spPr>
          <a:xfrm>
            <a:off x="5884367" y="3886479"/>
            <a:ext cx="811708" cy="391884"/>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4" name="꺾인 연결선 73"/>
          <p:cNvCxnSpPr>
            <a:stCxn id="58" idx="3"/>
            <a:endCxn id="86" idx="1"/>
          </p:cNvCxnSpPr>
          <p:nvPr/>
        </p:nvCxnSpPr>
        <p:spPr>
          <a:xfrm flipV="1">
            <a:off x="5884367" y="5246755"/>
            <a:ext cx="811708" cy="158366"/>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5" name="꺾인 연결선 74"/>
          <p:cNvCxnSpPr>
            <a:stCxn id="58" idx="3"/>
            <a:endCxn id="88" idx="1"/>
          </p:cNvCxnSpPr>
          <p:nvPr/>
        </p:nvCxnSpPr>
        <p:spPr>
          <a:xfrm>
            <a:off x="5884367" y="5405121"/>
            <a:ext cx="811708" cy="423813"/>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 name="꺾인 연결선 75"/>
          <p:cNvCxnSpPr>
            <a:stCxn id="58" idx="3"/>
            <a:endCxn id="87" idx="1"/>
          </p:cNvCxnSpPr>
          <p:nvPr/>
        </p:nvCxnSpPr>
        <p:spPr>
          <a:xfrm>
            <a:off x="5884367" y="5405121"/>
            <a:ext cx="811708" cy="133203"/>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8" name="직사각형 77"/>
          <p:cNvSpPr/>
          <p:nvPr/>
        </p:nvSpPr>
        <p:spPr>
          <a:xfrm>
            <a:off x="6696075" y="2122671"/>
            <a:ext cx="4874815" cy="242974"/>
          </a:xfrm>
          <a:prstGeom prst="rect">
            <a:avLst/>
          </a:prstGeom>
          <a:solidFill>
            <a:schemeClr val="accent5">
              <a:lumMod val="20000"/>
              <a:lumOff val="8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a:solidFill>
                  <a:schemeClr val="tx1"/>
                </a:solidFill>
              </a:rPr>
              <a:t>직무발명에 대한 </a:t>
            </a:r>
            <a:r>
              <a:rPr lang="ko-KR" altLang="en-US" sz="1200" dirty="0" err="1">
                <a:solidFill>
                  <a:schemeClr val="tx1"/>
                </a:solidFill>
              </a:rPr>
              <a:t>통상실시권</a:t>
            </a:r>
            <a:endParaRPr lang="ko-KR" altLang="en-US" sz="1200" dirty="0">
              <a:solidFill>
                <a:schemeClr val="tx1"/>
              </a:solidFill>
            </a:endParaRPr>
          </a:p>
        </p:txBody>
      </p:sp>
      <p:sp>
        <p:nvSpPr>
          <p:cNvPr id="79" name="직사각형 78"/>
          <p:cNvSpPr/>
          <p:nvPr/>
        </p:nvSpPr>
        <p:spPr>
          <a:xfrm>
            <a:off x="6696075" y="2414240"/>
            <a:ext cx="4874815" cy="242974"/>
          </a:xfrm>
          <a:prstGeom prst="rect">
            <a:avLst/>
          </a:prstGeom>
          <a:solidFill>
            <a:schemeClr val="accent5">
              <a:lumMod val="20000"/>
              <a:lumOff val="8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추가납부 또는 보전에 의하여 회복한 특허출원과 특허권에 대한 통상실시권</a:t>
            </a:r>
          </a:p>
        </p:txBody>
      </p:sp>
      <p:sp>
        <p:nvSpPr>
          <p:cNvPr id="80" name="직사각형 79"/>
          <p:cNvSpPr/>
          <p:nvPr/>
        </p:nvSpPr>
        <p:spPr>
          <a:xfrm>
            <a:off x="6696075" y="2704850"/>
            <a:ext cx="4874815" cy="242974"/>
          </a:xfrm>
          <a:prstGeom prst="rect">
            <a:avLst/>
          </a:prstGeom>
          <a:solidFill>
            <a:schemeClr val="accent5">
              <a:lumMod val="20000"/>
              <a:lumOff val="8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선사용에 의한 </a:t>
            </a:r>
            <a:r>
              <a:rPr lang="ko-KR" altLang="en-US" sz="1200" dirty="0" err="1">
                <a:solidFill>
                  <a:schemeClr val="tx1"/>
                </a:solidFill>
              </a:rPr>
              <a:t>통상실시권</a:t>
            </a:r>
            <a:endParaRPr lang="ko-KR" altLang="en-US" sz="1200" dirty="0">
              <a:solidFill>
                <a:schemeClr val="tx1"/>
              </a:solidFill>
            </a:endParaRPr>
          </a:p>
        </p:txBody>
      </p:sp>
      <p:sp>
        <p:nvSpPr>
          <p:cNvPr id="81" name="직사각형 80"/>
          <p:cNvSpPr/>
          <p:nvPr/>
        </p:nvSpPr>
        <p:spPr>
          <a:xfrm>
            <a:off x="6696075" y="3283128"/>
            <a:ext cx="4874815" cy="242974"/>
          </a:xfrm>
          <a:prstGeom prst="rect">
            <a:avLst/>
          </a:prstGeom>
          <a:solidFill>
            <a:schemeClr val="accent5">
              <a:lumMod val="20000"/>
              <a:lumOff val="8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무효심판청구 등록 전의 실시에 의한 </a:t>
            </a:r>
            <a:r>
              <a:rPr lang="ko-KR" altLang="en-US" sz="1200" dirty="0" err="1">
                <a:solidFill>
                  <a:schemeClr val="tx1"/>
                </a:solidFill>
              </a:rPr>
              <a:t>통상실시권</a:t>
            </a:r>
            <a:endParaRPr lang="ko-KR" altLang="en-US" sz="1200" dirty="0">
              <a:solidFill>
                <a:schemeClr val="tx1"/>
              </a:solidFill>
            </a:endParaRPr>
          </a:p>
        </p:txBody>
      </p:sp>
      <p:sp>
        <p:nvSpPr>
          <p:cNvPr id="82" name="직사각형 81"/>
          <p:cNvSpPr/>
          <p:nvPr/>
        </p:nvSpPr>
        <p:spPr>
          <a:xfrm>
            <a:off x="6696075" y="3574696"/>
            <a:ext cx="4874815" cy="242974"/>
          </a:xfrm>
          <a:prstGeom prst="rect">
            <a:avLst/>
          </a:prstGeom>
          <a:solidFill>
            <a:schemeClr val="accent5">
              <a:lumMod val="20000"/>
              <a:lumOff val="8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err="1">
                <a:solidFill>
                  <a:schemeClr val="tx1"/>
                </a:solidFill>
              </a:rPr>
              <a:t>디자인권의</a:t>
            </a:r>
            <a:r>
              <a:rPr lang="ko-KR" altLang="en-US" sz="1200" dirty="0">
                <a:solidFill>
                  <a:schemeClr val="tx1"/>
                </a:solidFill>
              </a:rPr>
              <a:t> 존속기간 만료 후의 </a:t>
            </a:r>
            <a:r>
              <a:rPr lang="ko-KR" altLang="en-US" sz="1200" dirty="0" err="1">
                <a:solidFill>
                  <a:schemeClr val="tx1"/>
                </a:solidFill>
              </a:rPr>
              <a:t>통상실시권</a:t>
            </a:r>
            <a:endParaRPr lang="ko-KR" altLang="en-US" sz="1200" dirty="0">
              <a:solidFill>
                <a:schemeClr val="tx1"/>
              </a:solidFill>
            </a:endParaRPr>
          </a:p>
        </p:txBody>
      </p:sp>
      <p:sp>
        <p:nvSpPr>
          <p:cNvPr id="83" name="직사각형 82"/>
          <p:cNvSpPr/>
          <p:nvPr/>
        </p:nvSpPr>
        <p:spPr>
          <a:xfrm>
            <a:off x="6696075" y="3866265"/>
            <a:ext cx="4874815" cy="242974"/>
          </a:xfrm>
          <a:prstGeom prst="rect">
            <a:avLst/>
          </a:prstGeom>
          <a:solidFill>
            <a:schemeClr val="accent5">
              <a:lumMod val="20000"/>
              <a:lumOff val="8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질권행사 등으로 인한 특허권의 이전에 따른 통상실시권</a:t>
            </a:r>
          </a:p>
        </p:txBody>
      </p:sp>
      <p:sp>
        <p:nvSpPr>
          <p:cNvPr id="84" name="직사각형 83"/>
          <p:cNvSpPr/>
          <p:nvPr/>
        </p:nvSpPr>
        <p:spPr>
          <a:xfrm>
            <a:off x="6696075" y="4156876"/>
            <a:ext cx="4874815" cy="242974"/>
          </a:xfrm>
          <a:prstGeom prst="rect">
            <a:avLst/>
          </a:prstGeom>
          <a:solidFill>
            <a:schemeClr val="accent5">
              <a:lumMod val="20000"/>
              <a:lumOff val="8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재심에 의하여 회복한 특허권에 대한 선사용자의 </a:t>
            </a:r>
            <a:r>
              <a:rPr lang="ko-KR" altLang="en-US" sz="1200" dirty="0" err="1">
                <a:solidFill>
                  <a:schemeClr val="tx1"/>
                </a:solidFill>
              </a:rPr>
              <a:t>통상실시권</a:t>
            </a:r>
            <a:endParaRPr lang="ko-KR" altLang="en-US" sz="1200" dirty="0">
              <a:solidFill>
                <a:schemeClr val="tx1"/>
              </a:solidFill>
            </a:endParaRPr>
          </a:p>
        </p:txBody>
      </p:sp>
      <p:sp>
        <p:nvSpPr>
          <p:cNvPr id="85" name="직사각형 84"/>
          <p:cNvSpPr/>
          <p:nvPr/>
        </p:nvSpPr>
        <p:spPr>
          <a:xfrm>
            <a:off x="6696075" y="4449403"/>
            <a:ext cx="4874815" cy="242974"/>
          </a:xfrm>
          <a:prstGeom prst="rect">
            <a:avLst/>
          </a:prstGeom>
          <a:solidFill>
            <a:schemeClr val="accent5">
              <a:lumMod val="20000"/>
              <a:lumOff val="8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재심에 의하여 </a:t>
            </a:r>
            <a:r>
              <a:rPr lang="ko-KR" altLang="en-US" sz="1200" dirty="0" err="1">
                <a:solidFill>
                  <a:schemeClr val="tx1"/>
                </a:solidFill>
              </a:rPr>
              <a:t>통상실시권을</a:t>
            </a:r>
            <a:r>
              <a:rPr lang="ko-KR" altLang="en-US" sz="1200" dirty="0">
                <a:solidFill>
                  <a:schemeClr val="tx1"/>
                </a:solidFill>
              </a:rPr>
              <a:t> 상실한 </a:t>
            </a:r>
            <a:r>
              <a:rPr lang="ko-KR" altLang="en-US" sz="1200" dirty="0" err="1">
                <a:solidFill>
                  <a:schemeClr val="tx1"/>
                </a:solidFill>
              </a:rPr>
              <a:t>원권리자의</a:t>
            </a:r>
            <a:r>
              <a:rPr lang="ko-KR" altLang="en-US" sz="1200" dirty="0">
                <a:solidFill>
                  <a:schemeClr val="tx1"/>
                </a:solidFill>
              </a:rPr>
              <a:t> </a:t>
            </a:r>
            <a:r>
              <a:rPr lang="ko-KR" altLang="en-US" sz="1200" dirty="0" err="1">
                <a:solidFill>
                  <a:schemeClr val="tx1"/>
                </a:solidFill>
              </a:rPr>
              <a:t>통상실시권</a:t>
            </a:r>
            <a:endParaRPr lang="ko-KR" altLang="en-US" sz="1200" dirty="0">
              <a:solidFill>
                <a:schemeClr val="tx1"/>
              </a:solidFill>
            </a:endParaRPr>
          </a:p>
        </p:txBody>
      </p:sp>
      <p:sp>
        <p:nvSpPr>
          <p:cNvPr id="86" name="직사각형 85"/>
          <p:cNvSpPr/>
          <p:nvPr/>
        </p:nvSpPr>
        <p:spPr>
          <a:xfrm>
            <a:off x="6696075" y="5125268"/>
            <a:ext cx="4874815" cy="242974"/>
          </a:xfrm>
          <a:prstGeom prst="rect">
            <a:avLst/>
          </a:prstGeom>
          <a:solidFill>
            <a:schemeClr val="accent5">
              <a:lumMod val="20000"/>
              <a:lumOff val="8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국가의 비상사태 등에 의한 </a:t>
            </a:r>
            <a:r>
              <a:rPr lang="ko-KR" altLang="en-US" sz="1200" dirty="0" err="1">
                <a:solidFill>
                  <a:schemeClr val="tx1"/>
                </a:solidFill>
              </a:rPr>
              <a:t>통상실시권</a:t>
            </a:r>
            <a:endParaRPr lang="ko-KR" altLang="en-US" sz="1200" dirty="0">
              <a:solidFill>
                <a:schemeClr val="tx1"/>
              </a:solidFill>
            </a:endParaRPr>
          </a:p>
        </p:txBody>
      </p:sp>
      <p:sp>
        <p:nvSpPr>
          <p:cNvPr id="87" name="직사각형 86"/>
          <p:cNvSpPr/>
          <p:nvPr/>
        </p:nvSpPr>
        <p:spPr>
          <a:xfrm>
            <a:off x="6696075" y="5416837"/>
            <a:ext cx="4874815" cy="242974"/>
          </a:xfrm>
          <a:prstGeom prst="rect">
            <a:avLst/>
          </a:prstGeom>
          <a:solidFill>
            <a:schemeClr val="accent5">
              <a:lumMod val="20000"/>
              <a:lumOff val="8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재정에 의한 </a:t>
            </a:r>
            <a:r>
              <a:rPr lang="ko-KR" altLang="en-US" sz="1200" dirty="0" err="1">
                <a:solidFill>
                  <a:schemeClr val="tx1"/>
                </a:solidFill>
              </a:rPr>
              <a:t>통상실시권</a:t>
            </a:r>
            <a:endParaRPr lang="ko-KR" altLang="en-US" sz="1200" dirty="0">
              <a:solidFill>
                <a:schemeClr val="tx1"/>
              </a:solidFill>
            </a:endParaRPr>
          </a:p>
        </p:txBody>
      </p:sp>
      <p:sp>
        <p:nvSpPr>
          <p:cNvPr id="88" name="직사각형 87"/>
          <p:cNvSpPr/>
          <p:nvPr/>
        </p:nvSpPr>
        <p:spPr>
          <a:xfrm>
            <a:off x="6696075" y="5707447"/>
            <a:ext cx="4874815" cy="242974"/>
          </a:xfrm>
          <a:prstGeom prst="rect">
            <a:avLst/>
          </a:prstGeom>
          <a:solidFill>
            <a:schemeClr val="accent5">
              <a:lumMod val="20000"/>
              <a:lumOff val="8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err="1">
                <a:solidFill>
                  <a:schemeClr val="tx1"/>
                </a:solidFill>
              </a:rPr>
              <a:t>통상실시권허락심판에</a:t>
            </a:r>
            <a:r>
              <a:rPr lang="ko-KR" altLang="en-US" sz="1200" dirty="0">
                <a:solidFill>
                  <a:schemeClr val="tx1"/>
                </a:solidFill>
              </a:rPr>
              <a:t> 의한 </a:t>
            </a:r>
            <a:r>
              <a:rPr lang="ko-KR" altLang="en-US" sz="1200" dirty="0" err="1">
                <a:solidFill>
                  <a:schemeClr val="tx1"/>
                </a:solidFill>
              </a:rPr>
              <a:t>통상실시권</a:t>
            </a:r>
            <a:endParaRPr lang="ko-KR" altLang="en-US" sz="1200" dirty="0">
              <a:solidFill>
                <a:schemeClr val="tx1"/>
              </a:solidFill>
            </a:endParaRPr>
          </a:p>
        </p:txBody>
      </p:sp>
      <p:sp>
        <p:nvSpPr>
          <p:cNvPr id="91" name="직사각형 90"/>
          <p:cNvSpPr/>
          <p:nvPr/>
        </p:nvSpPr>
        <p:spPr>
          <a:xfrm>
            <a:off x="6696075" y="2995449"/>
            <a:ext cx="4874815" cy="242974"/>
          </a:xfrm>
          <a:prstGeom prst="rect">
            <a:avLst/>
          </a:prstGeom>
          <a:solidFill>
            <a:schemeClr val="accent5">
              <a:lumMod val="20000"/>
              <a:lumOff val="8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solidFill>
                  <a:schemeClr val="tx1"/>
                </a:solidFill>
              </a:rPr>
              <a:t>특허권의 이전청구에 따른 이전등록 전의 실시에 의한  </a:t>
            </a:r>
            <a:r>
              <a:rPr lang="ko-KR" altLang="en-US" sz="1200" dirty="0" err="1">
                <a:solidFill>
                  <a:schemeClr val="tx1"/>
                </a:solidFill>
              </a:rPr>
              <a:t>통상실시권</a:t>
            </a:r>
            <a:endParaRPr lang="ko-KR" altLang="en-US" sz="1200" dirty="0">
              <a:solidFill>
                <a:schemeClr val="tx1"/>
              </a:solidFill>
            </a:endParaRPr>
          </a:p>
        </p:txBody>
      </p:sp>
      <p:cxnSp>
        <p:nvCxnSpPr>
          <p:cNvPr id="92" name="꺾인 연결선 91"/>
          <p:cNvCxnSpPr>
            <a:stCxn id="56" idx="3"/>
            <a:endCxn id="91" idx="1"/>
          </p:cNvCxnSpPr>
          <p:nvPr/>
        </p:nvCxnSpPr>
        <p:spPr>
          <a:xfrm flipV="1">
            <a:off x="5884367" y="3116936"/>
            <a:ext cx="811708" cy="769543"/>
          </a:xfrm>
          <a:prstGeom prst="bentConnector3">
            <a:avLst>
              <a:gd name="adj1" fmla="val 5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409</a:t>
            </a:r>
            <a:endParaRPr lang="ko-KR" altLang="en-US"/>
          </a:p>
        </p:txBody>
      </p:sp>
    </p:spTree>
    <p:extLst>
      <p:ext uri="{BB962C8B-B14F-4D97-AF65-F5344CB8AC3E}">
        <p14:creationId xmlns:p14="http://schemas.microsoft.com/office/powerpoint/2010/main" val="2645332609"/>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100</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t>독점적 </a:t>
            </a:r>
            <a:r>
              <a:rPr lang="ko-KR" altLang="en-US" dirty="0" err="1"/>
              <a:t>통상실시권자의</a:t>
            </a:r>
            <a:r>
              <a:rPr lang="ko-KR" altLang="en-US" dirty="0"/>
              <a:t> </a:t>
            </a:r>
            <a:r>
              <a:rPr lang="en-US" altLang="ko-KR" dirty="0"/>
              <a:t>CASE</a:t>
            </a:r>
            <a:endParaRPr lang="ko-KR" altLang="en-US" dirty="0"/>
          </a:p>
        </p:txBody>
      </p:sp>
      <p:sp>
        <p:nvSpPr>
          <p:cNvPr id="5" name="슬라이드 번호 개체 틀 4"/>
          <p:cNvSpPr>
            <a:spLocks noGrp="1"/>
          </p:cNvSpPr>
          <p:nvPr>
            <p:ph type="sldNum" sz="quarter" idx="4294967295"/>
          </p:nvPr>
        </p:nvSpPr>
        <p:spPr>
          <a:xfrm>
            <a:off x="11125200" y="0"/>
            <a:ext cx="1066800" cy="744538"/>
          </a:xfrm>
        </p:spPr>
        <p:txBody>
          <a:bodyPr/>
          <a:lstStyle/>
          <a:p>
            <a:r>
              <a:rPr lang="en-US" altLang="ko-KR"/>
              <a:t>410</a:t>
            </a:r>
            <a:endParaRPr lang="ko-KR" altLang="en-US"/>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45" name="직사각형 44">
            <a:extLst>
              <a:ext uri="{FF2B5EF4-FFF2-40B4-BE49-F238E27FC236}">
                <a16:creationId xmlns:a16="http://schemas.microsoft.com/office/drawing/2014/main" id="{7C8A4446-9A84-44CF-BF8E-778825646662}"/>
              </a:ext>
            </a:extLst>
          </p:cNvPr>
          <p:cNvSpPr/>
          <p:nvPr/>
        </p:nvSpPr>
        <p:spPr>
          <a:xfrm>
            <a:off x="103517" y="1353610"/>
            <a:ext cx="11990717" cy="1708160"/>
          </a:xfrm>
          <a:prstGeom prst="rect">
            <a:avLst/>
          </a:prstGeom>
        </p:spPr>
        <p:txBody>
          <a:bodyPr wrap="square">
            <a:spAutoFit/>
          </a:bodyPr>
          <a:lstStyle/>
          <a:p>
            <a:pPr algn="just" fontAlgn="base"/>
            <a:r>
              <a:rPr lang="en-US" altLang="ko-KR" sz="1050" b="1" dirty="0">
                <a:solidFill>
                  <a:schemeClr val="accent1"/>
                </a:solidFill>
              </a:rPr>
              <a:t>[1] </a:t>
            </a:r>
            <a:r>
              <a:rPr lang="ko-KR" altLang="en-US" sz="1050" b="1" dirty="0">
                <a:solidFill>
                  <a:schemeClr val="accent1"/>
                </a:solidFill>
              </a:rPr>
              <a:t>원고가 독점적 </a:t>
            </a:r>
            <a:r>
              <a:rPr lang="ko-KR" altLang="en-US" sz="1050" b="1" dirty="0" err="1">
                <a:solidFill>
                  <a:schemeClr val="accent1"/>
                </a:solidFill>
              </a:rPr>
              <a:t>통상실시권자인지</a:t>
            </a:r>
            <a:r>
              <a:rPr lang="ko-KR" altLang="en-US" sz="1050" b="1" dirty="0">
                <a:solidFill>
                  <a:schemeClr val="accent1"/>
                </a:solidFill>
              </a:rPr>
              <a:t> 여부</a:t>
            </a:r>
            <a:r>
              <a:rPr lang="en-US" altLang="ko-KR" sz="1050" dirty="0"/>
              <a:t>:</a:t>
            </a:r>
          </a:p>
          <a:p>
            <a:pPr marL="180975" indent="-180975" algn="just" fontAlgn="base"/>
            <a:r>
              <a:rPr lang="ko-KR" altLang="en-US" sz="1050" dirty="0"/>
              <a:t>가</a:t>
            </a:r>
            <a:r>
              <a:rPr lang="en-US" altLang="ko-KR" sz="1050" dirty="0"/>
              <a:t>. </a:t>
            </a:r>
            <a:r>
              <a:rPr lang="ko-KR" altLang="en-US" sz="1050" dirty="0"/>
              <a:t>원고와 특허권자 릴리 </a:t>
            </a:r>
            <a:r>
              <a:rPr lang="ko-KR" altLang="en-US" sz="1050" dirty="0" err="1"/>
              <a:t>리미티드는</a:t>
            </a:r>
            <a:r>
              <a:rPr lang="ko-KR" altLang="en-US" sz="1050" dirty="0"/>
              <a:t> 모두 </a:t>
            </a:r>
            <a:r>
              <a:rPr lang="ko-KR" altLang="en-US" sz="1050" dirty="0" err="1"/>
              <a:t>일라이</a:t>
            </a:r>
            <a:r>
              <a:rPr lang="ko-KR" altLang="en-US" sz="1050" dirty="0"/>
              <a:t> 릴리 </a:t>
            </a:r>
            <a:r>
              <a:rPr lang="ko-KR" altLang="en-US" sz="1050" dirty="0" err="1"/>
              <a:t>앤드</a:t>
            </a:r>
            <a:r>
              <a:rPr lang="ko-KR" altLang="en-US" sz="1050" dirty="0"/>
              <a:t> 컴퍼니</a:t>
            </a:r>
            <a:r>
              <a:rPr lang="en-US" altLang="ko-KR" sz="1050" dirty="0"/>
              <a:t>(</a:t>
            </a:r>
            <a:r>
              <a:rPr lang="ko-KR" altLang="en-US" sz="1050" dirty="0"/>
              <a:t>이하 ‘릴리 </a:t>
            </a:r>
            <a:r>
              <a:rPr lang="ko-KR" altLang="en-US" sz="1050" dirty="0" err="1"/>
              <a:t>컴퍼니’라고</a:t>
            </a:r>
            <a:r>
              <a:rPr lang="ko-KR" altLang="en-US" sz="1050" dirty="0"/>
              <a:t> 한다</a:t>
            </a:r>
            <a:r>
              <a:rPr lang="en-US" altLang="ko-KR" sz="1050" dirty="0"/>
              <a:t>)</a:t>
            </a:r>
            <a:r>
              <a:rPr lang="ko-KR" altLang="en-US" sz="1050" dirty="0"/>
              <a:t>의 자회사로서 서로 계열회사 관계에 있고</a:t>
            </a:r>
            <a:r>
              <a:rPr lang="en-US" altLang="ko-KR" sz="1050" dirty="0"/>
              <a:t>, </a:t>
            </a:r>
            <a:r>
              <a:rPr lang="ko-KR" altLang="en-US" sz="1050" dirty="0"/>
              <a:t>원고만이 이 사건 특허발명의 특허권 존속기간 동안 특허제품인 원고 제품을 국내로 수입</a:t>
            </a:r>
            <a:r>
              <a:rPr lang="en-US" altLang="ko-KR" sz="1050" dirty="0"/>
              <a:t>·</a:t>
            </a:r>
            <a:r>
              <a:rPr lang="ko-KR" altLang="en-US" sz="1050" dirty="0"/>
              <a:t>판매해 왔으므로</a:t>
            </a:r>
            <a:r>
              <a:rPr lang="en-US" altLang="ko-KR" sz="1050" dirty="0"/>
              <a:t>, </a:t>
            </a:r>
            <a:r>
              <a:rPr lang="ko-KR" altLang="en-US" sz="1050" dirty="0"/>
              <a:t>원고가 유일하게 이 사건 특허발명의 국내 수입</a:t>
            </a:r>
            <a:r>
              <a:rPr lang="en-US" altLang="ko-KR" sz="1050" dirty="0"/>
              <a:t>·</a:t>
            </a:r>
            <a:r>
              <a:rPr lang="ko-KR" altLang="en-US" sz="1050" dirty="0"/>
              <a:t>양도에 관한 허락을 받았다고 볼 수는 있다</a:t>
            </a:r>
            <a:r>
              <a:rPr lang="en-US" altLang="ko-KR" sz="1050" dirty="0"/>
              <a:t>.</a:t>
            </a:r>
          </a:p>
          <a:p>
            <a:pPr marL="180975" indent="-180975" algn="just" fontAlgn="base"/>
            <a:r>
              <a:rPr lang="ko-KR" altLang="en-US" sz="1050" dirty="0"/>
              <a:t>나</a:t>
            </a:r>
            <a:r>
              <a:rPr lang="en-US" altLang="ko-KR" sz="1050" dirty="0"/>
              <a:t>. </a:t>
            </a:r>
            <a:r>
              <a:rPr lang="ko-KR" altLang="en-US" sz="1050" dirty="0"/>
              <a:t>그러나 제출된 증거만으로는 특허권자인 릴리 </a:t>
            </a:r>
            <a:r>
              <a:rPr lang="ko-KR" altLang="en-US" sz="1050" dirty="0" err="1"/>
              <a:t>리미티드가</a:t>
            </a:r>
            <a:r>
              <a:rPr lang="ko-KR" altLang="en-US" sz="1050" dirty="0"/>
              <a:t> 원고에 대하여 원고 외의 제</a:t>
            </a:r>
            <a:r>
              <a:rPr lang="en-US" altLang="ko-KR" sz="1050" dirty="0"/>
              <a:t>3</a:t>
            </a:r>
            <a:r>
              <a:rPr lang="ko-KR" altLang="en-US" sz="1050" dirty="0"/>
              <a:t>자에게 이 사건 특허발명의 특허권에 대한 통상실시권을 부여하지 않을 부작위 의무를 부담하기로 약정하였다고 보기 어렵다</a:t>
            </a:r>
            <a:r>
              <a:rPr lang="en-US" altLang="ko-KR" sz="1050" dirty="0"/>
              <a:t>. </a:t>
            </a:r>
            <a:r>
              <a:rPr lang="ko-KR" altLang="en-US" sz="1050" dirty="0"/>
              <a:t>원고가 원고 제품에 관한 수입품목 허가를 받고 이를 국내에서 수입</a:t>
            </a:r>
            <a:r>
              <a:rPr lang="en-US" altLang="ko-KR" sz="1050" dirty="0"/>
              <a:t>·</a:t>
            </a:r>
            <a:r>
              <a:rPr lang="ko-KR" altLang="en-US" sz="1050" dirty="0"/>
              <a:t>판매할 수 있었던 근거는 릴리 컴퍼니와 체결한 공급유통 기본계약 제</a:t>
            </a:r>
            <a:r>
              <a:rPr lang="en-US" altLang="ko-KR" sz="1050" dirty="0"/>
              <a:t>2.4</a:t>
            </a:r>
            <a:r>
              <a:rPr lang="ko-KR" altLang="en-US" sz="1050" dirty="0"/>
              <a:t>조</a:t>
            </a:r>
            <a:r>
              <a:rPr lang="en-US" altLang="ko-KR" sz="1050" dirty="0"/>
              <a:t>(Section 2.4) </a:t>
            </a:r>
            <a:r>
              <a:rPr lang="ko-KR" altLang="en-US" sz="1050" dirty="0"/>
              <a:t>등에 따른 것으로 보이는데</a:t>
            </a:r>
            <a:r>
              <a:rPr lang="en-US" altLang="ko-KR" sz="1050" dirty="0"/>
              <a:t>, </a:t>
            </a:r>
            <a:r>
              <a:rPr lang="ko-KR" altLang="en-US" sz="1050" u="sng" dirty="0"/>
              <a:t>위 </a:t>
            </a:r>
            <a:r>
              <a:rPr lang="ko-KR" altLang="en-US" sz="1050" u="sng" dirty="0">
                <a:highlight>
                  <a:srgbClr val="FFFF00"/>
                </a:highlight>
              </a:rPr>
              <a:t>공급유통 기본계약은 이 사건 특허발명의 특허권에 대한 실시허락계약이 아니다</a:t>
            </a:r>
            <a:r>
              <a:rPr lang="en-US" altLang="ko-KR" sz="1050" u="sng" dirty="0">
                <a:highlight>
                  <a:srgbClr val="FFFF00"/>
                </a:highlight>
              </a:rPr>
              <a:t>.</a:t>
            </a:r>
            <a:r>
              <a:rPr lang="en-US" altLang="ko-KR" sz="1050" dirty="0"/>
              <a:t> </a:t>
            </a:r>
            <a:r>
              <a:rPr lang="ko-KR" altLang="en-US" sz="1050" dirty="0"/>
              <a:t>릴리 </a:t>
            </a:r>
            <a:r>
              <a:rPr lang="ko-KR" altLang="en-US" sz="1050" dirty="0" err="1"/>
              <a:t>리미티드에게</a:t>
            </a:r>
            <a:r>
              <a:rPr lang="ko-KR" altLang="en-US" sz="1050" dirty="0"/>
              <a:t> 특허 실시에 관한 대가인 실시료를 지급한 주체는 원고가 아니라 </a:t>
            </a:r>
            <a:r>
              <a:rPr lang="ko-KR" altLang="en-US" sz="1050" dirty="0" err="1"/>
              <a:t>일라이</a:t>
            </a:r>
            <a:r>
              <a:rPr lang="ko-KR" altLang="en-US" sz="1050" dirty="0"/>
              <a:t> 릴리 </a:t>
            </a:r>
            <a:r>
              <a:rPr lang="ko-KR" altLang="en-US" sz="1050" dirty="0" err="1"/>
              <a:t>에스에이</a:t>
            </a:r>
            <a:r>
              <a:rPr lang="en-US" altLang="ko-KR" sz="1050" dirty="0"/>
              <a:t>(Eli Lilly S.A.)</a:t>
            </a:r>
            <a:r>
              <a:rPr lang="ko-KR" altLang="en-US" sz="1050" dirty="0"/>
              <a:t>이고 </a:t>
            </a:r>
            <a:r>
              <a:rPr lang="ko-KR" altLang="en-US" sz="1050" dirty="0" err="1"/>
              <a:t>실시료율이나</a:t>
            </a:r>
            <a:r>
              <a:rPr lang="ko-KR" altLang="en-US" sz="1050" dirty="0"/>
              <a:t> </a:t>
            </a:r>
            <a:r>
              <a:rPr lang="ko-KR" altLang="en-US" sz="1050" dirty="0" err="1"/>
              <a:t>실시료</a:t>
            </a:r>
            <a:r>
              <a:rPr lang="ko-KR" altLang="en-US" sz="1050" dirty="0"/>
              <a:t> 액수를 알 수 있는 객관적인 자료도 없어</a:t>
            </a:r>
            <a:r>
              <a:rPr lang="en-US" altLang="ko-KR" sz="1050" dirty="0"/>
              <a:t>, </a:t>
            </a:r>
            <a:r>
              <a:rPr lang="ko-KR" altLang="en-US" sz="1050" u="sng" dirty="0">
                <a:highlight>
                  <a:srgbClr val="FFFF00"/>
                </a:highlight>
              </a:rPr>
              <a:t>릴리 </a:t>
            </a:r>
            <a:r>
              <a:rPr lang="ko-KR" altLang="en-US" sz="1050" u="sng" dirty="0" err="1">
                <a:highlight>
                  <a:srgbClr val="FFFF00"/>
                </a:highlight>
              </a:rPr>
              <a:t>리미티드가</a:t>
            </a:r>
            <a:r>
              <a:rPr lang="ko-KR" altLang="en-US" sz="1050" u="sng" dirty="0">
                <a:highlight>
                  <a:srgbClr val="FFFF00"/>
                </a:highlight>
              </a:rPr>
              <a:t> 원고에 대하여 위와 같은 부작위 의무를 부담하는 대가로 원고로부터 높은 실시료를 받아왔다고 보기도 어렵다</a:t>
            </a:r>
            <a:r>
              <a:rPr lang="en-US" altLang="ko-KR" sz="1050" dirty="0"/>
              <a:t>. </a:t>
            </a:r>
            <a:r>
              <a:rPr lang="ko-KR" altLang="en-US" sz="1050" dirty="0"/>
              <a:t>릴리 </a:t>
            </a:r>
            <a:r>
              <a:rPr lang="ko-KR" altLang="en-US" sz="1050" dirty="0" err="1"/>
              <a:t>리미티드가</a:t>
            </a:r>
            <a:r>
              <a:rPr lang="ko-KR" altLang="en-US" sz="1050" dirty="0"/>
              <a:t> 원고에 대하여 원고 외의 제</a:t>
            </a:r>
            <a:r>
              <a:rPr lang="en-US" altLang="ko-KR" sz="1050" dirty="0"/>
              <a:t>3</a:t>
            </a:r>
            <a:r>
              <a:rPr lang="ko-KR" altLang="en-US" sz="1050" dirty="0"/>
              <a:t>자에게 통상실시권을 부여하지 않을 부작위 의무까지 부담할 사정을 찾기 어렵다</a:t>
            </a:r>
            <a:r>
              <a:rPr lang="en-US" altLang="ko-KR" sz="1050" dirty="0"/>
              <a:t>.</a:t>
            </a:r>
          </a:p>
          <a:p>
            <a:pPr marL="180975" indent="-180975" algn="just" fontAlgn="base"/>
            <a:r>
              <a:rPr lang="ko-KR" altLang="en-US" sz="1050" dirty="0"/>
              <a:t>다</a:t>
            </a:r>
            <a:r>
              <a:rPr lang="en-US" altLang="ko-KR" sz="1050" dirty="0"/>
              <a:t>. </a:t>
            </a:r>
            <a:r>
              <a:rPr lang="ko-KR" altLang="en-US" sz="1050" dirty="0"/>
              <a:t>위와 같은 사정을 관련 법리에 비추어 살펴보면</a:t>
            </a:r>
            <a:r>
              <a:rPr lang="en-US" altLang="ko-KR" sz="1050" dirty="0"/>
              <a:t>, </a:t>
            </a:r>
            <a:r>
              <a:rPr lang="ko-KR" altLang="en-US" sz="1050" u="sng" dirty="0">
                <a:highlight>
                  <a:srgbClr val="FFFF00"/>
                </a:highlight>
              </a:rPr>
              <a:t>특허권자 릴리 </a:t>
            </a:r>
            <a:r>
              <a:rPr lang="ko-KR" altLang="en-US" sz="1050" u="sng" dirty="0" err="1">
                <a:highlight>
                  <a:srgbClr val="FFFF00"/>
                </a:highlight>
              </a:rPr>
              <a:t>리미티드가</a:t>
            </a:r>
            <a:r>
              <a:rPr lang="ko-KR" altLang="en-US" sz="1050" u="sng" dirty="0">
                <a:highlight>
                  <a:srgbClr val="FFFF00"/>
                </a:highlight>
              </a:rPr>
              <a:t> 원고에 대하여 원고 외의 제</a:t>
            </a:r>
            <a:r>
              <a:rPr lang="en-US" altLang="ko-KR" sz="1050" u="sng" dirty="0">
                <a:highlight>
                  <a:srgbClr val="FFFF00"/>
                </a:highlight>
              </a:rPr>
              <a:t>3</a:t>
            </a:r>
            <a:r>
              <a:rPr lang="ko-KR" altLang="en-US" sz="1050" u="sng" dirty="0">
                <a:highlight>
                  <a:srgbClr val="FFFF00"/>
                </a:highlight>
              </a:rPr>
              <a:t>자에게 통상실시권을 부여하지 않을 부작위 의무를 부담하기로 명시적 또는 묵시적으로 약정했다고 단정하기 어려우므로</a:t>
            </a:r>
            <a:r>
              <a:rPr lang="en-US" altLang="ko-KR" sz="1050" dirty="0"/>
              <a:t>, </a:t>
            </a:r>
            <a:r>
              <a:rPr lang="ko-KR" altLang="en-US" sz="1050" dirty="0"/>
              <a:t>원고를 이 사건 특허발명의 독점적 </a:t>
            </a:r>
            <a:r>
              <a:rPr lang="ko-KR" altLang="en-US" sz="1050" dirty="0" err="1"/>
              <a:t>통상실시권자로</a:t>
            </a:r>
            <a:r>
              <a:rPr lang="ko-KR" altLang="en-US" sz="1050" dirty="0"/>
              <a:t> 볼 수는 없다</a:t>
            </a:r>
            <a:r>
              <a:rPr lang="en-US" altLang="ko-KR" sz="1050" dirty="0"/>
              <a:t>.</a:t>
            </a:r>
          </a:p>
        </p:txBody>
      </p:sp>
      <p:sp>
        <p:nvSpPr>
          <p:cNvPr id="46" name="모서리가 둥근 직사각형 10">
            <a:extLst>
              <a:ext uri="{FF2B5EF4-FFF2-40B4-BE49-F238E27FC236}">
                <a16:creationId xmlns:a16="http://schemas.microsoft.com/office/drawing/2014/main" id="{1EB2F813-B207-4574-BC6A-9E0259FF1206}"/>
              </a:ext>
            </a:extLst>
          </p:cNvPr>
          <p:cNvSpPr/>
          <p:nvPr/>
        </p:nvSpPr>
        <p:spPr bwMode="auto">
          <a:xfrm>
            <a:off x="378417" y="998802"/>
            <a:ext cx="6496835"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2020. 11. 26. </a:t>
            </a:r>
            <a:r>
              <a:rPr lang="ko-KR" altLang="en-US" sz="1400" dirty="0"/>
              <a:t>선고 </a:t>
            </a:r>
            <a:r>
              <a:rPr lang="en-US" altLang="ko-KR" sz="1400" dirty="0"/>
              <a:t>2018</a:t>
            </a:r>
            <a:r>
              <a:rPr lang="ko-KR" altLang="en-US" sz="1400" dirty="0"/>
              <a:t>다</a:t>
            </a:r>
            <a:r>
              <a:rPr lang="en-US" altLang="ko-KR" sz="1400" dirty="0"/>
              <a:t>221676 </a:t>
            </a:r>
            <a:r>
              <a:rPr lang="ko-KR" altLang="en-US" sz="1400" dirty="0"/>
              <a:t>판결</a:t>
            </a:r>
            <a:r>
              <a:rPr lang="en-US" altLang="ko-KR" sz="1400" dirty="0"/>
              <a:t>, 2016</a:t>
            </a:r>
            <a:r>
              <a:rPr lang="ko-KR" altLang="en-US" sz="1400" dirty="0"/>
              <a:t>다</a:t>
            </a:r>
            <a:r>
              <a:rPr lang="en-US" altLang="ko-KR" sz="1400" dirty="0"/>
              <a:t>260707 【</a:t>
            </a:r>
            <a:r>
              <a:rPr lang="ko-KR" altLang="en-US" sz="1400" dirty="0"/>
              <a:t>손해배상</a:t>
            </a:r>
            <a:r>
              <a:rPr lang="en-US" altLang="ko-KR" sz="1400" dirty="0"/>
              <a:t>(</a:t>
            </a:r>
            <a:r>
              <a:rPr lang="ko-KR" altLang="en-US" sz="1400" dirty="0"/>
              <a:t>지</a:t>
            </a:r>
            <a:r>
              <a:rPr lang="en-US" altLang="ko-KR" sz="1400" dirty="0"/>
              <a:t>)】</a:t>
            </a:r>
          </a:p>
        </p:txBody>
      </p:sp>
      <p:sp>
        <p:nvSpPr>
          <p:cNvPr id="10" name="직사각형 9">
            <a:extLst>
              <a:ext uri="{FF2B5EF4-FFF2-40B4-BE49-F238E27FC236}">
                <a16:creationId xmlns:a16="http://schemas.microsoft.com/office/drawing/2014/main" id="{12B876D2-3854-4F12-B595-0A8BEC6D8976}"/>
              </a:ext>
            </a:extLst>
          </p:cNvPr>
          <p:cNvSpPr/>
          <p:nvPr/>
        </p:nvSpPr>
        <p:spPr>
          <a:xfrm>
            <a:off x="232372" y="3017949"/>
            <a:ext cx="11681987" cy="577081"/>
          </a:xfrm>
          <a:prstGeom prst="rect">
            <a:avLst/>
          </a:prstGeom>
          <a:ln>
            <a:solidFill>
              <a:schemeClr val="bg1">
                <a:lumMod val="50000"/>
              </a:schemeClr>
            </a:solidFill>
          </a:ln>
        </p:spPr>
        <p:txBody>
          <a:bodyPr wrap="square">
            <a:spAutoFit/>
          </a:bodyPr>
          <a:lstStyle/>
          <a:p>
            <a:pPr algn="just" fontAlgn="base"/>
            <a:r>
              <a:rPr lang="ko-KR" altLang="en-US" sz="1050" dirty="0">
                <a:solidFill>
                  <a:srgbClr val="FF0000"/>
                </a:solidFill>
              </a:rPr>
              <a:t>특허권자와 </a:t>
            </a:r>
            <a:r>
              <a:rPr lang="ko-KR" altLang="en-US" sz="1050" dirty="0" err="1">
                <a:solidFill>
                  <a:srgbClr val="FF0000"/>
                </a:solidFill>
              </a:rPr>
              <a:t>실시권자</a:t>
            </a:r>
            <a:r>
              <a:rPr lang="ko-KR" altLang="en-US" sz="1050" dirty="0">
                <a:solidFill>
                  <a:srgbClr val="FF0000"/>
                </a:solidFill>
              </a:rPr>
              <a:t> 사이에 체결된 계약이 독점적 통상실시권을 부여하는 계약에 해당하기 위해서는 계약의 내용상 특허권자가 </a:t>
            </a:r>
            <a:r>
              <a:rPr lang="ko-KR" altLang="en-US" sz="1050" dirty="0" err="1">
                <a:solidFill>
                  <a:srgbClr val="FF0000"/>
                </a:solidFill>
              </a:rPr>
              <a:t>실시권자</a:t>
            </a:r>
            <a:r>
              <a:rPr lang="ko-KR" altLang="en-US" sz="1050" dirty="0">
                <a:solidFill>
                  <a:srgbClr val="FF0000"/>
                </a:solidFill>
              </a:rPr>
              <a:t> 외의 제</a:t>
            </a:r>
            <a:r>
              <a:rPr lang="en-US" altLang="ko-KR" sz="1050" dirty="0">
                <a:solidFill>
                  <a:srgbClr val="FF0000"/>
                </a:solidFill>
              </a:rPr>
              <a:t>3</a:t>
            </a:r>
            <a:r>
              <a:rPr lang="ko-KR" altLang="en-US" sz="1050" dirty="0">
                <a:solidFill>
                  <a:srgbClr val="FF0000"/>
                </a:solidFill>
              </a:rPr>
              <a:t>자에게 통상실시권을 부여하지 아니할 의무를 부담하여야 하고</a:t>
            </a:r>
            <a:r>
              <a:rPr lang="en-US" altLang="ko-KR" sz="1050" dirty="0">
                <a:solidFill>
                  <a:srgbClr val="FF0000"/>
                </a:solidFill>
              </a:rPr>
              <a:t>, </a:t>
            </a:r>
            <a:r>
              <a:rPr lang="ko-KR" altLang="en-US" sz="1050" dirty="0">
                <a:solidFill>
                  <a:srgbClr val="FF0000"/>
                </a:solidFill>
              </a:rPr>
              <a:t>단지 특허권자가 어느 한 </a:t>
            </a:r>
            <a:r>
              <a:rPr lang="ko-KR" altLang="en-US" sz="1050" dirty="0" err="1">
                <a:solidFill>
                  <a:srgbClr val="FF0000"/>
                </a:solidFill>
              </a:rPr>
              <a:t>실시권자에게만</a:t>
            </a:r>
            <a:r>
              <a:rPr lang="ko-KR" altLang="en-US" sz="1050" dirty="0">
                <a:solidFill>
                  <a:srgbClr val="FF0000"/>
                </a:solidFill>
              </a:rPr>
              <a:t> 실시권을 부여함에 따라 그 </a:t>
            </a:r>
            <a:r>
              <a:rPr lang="ko-KR" altLang="en-US" sz="1050" dirty="0" err="1">
                <a:solidFill>
                  <a:srgbClr val="FF0000"/>
                </a:solidFill>
              </a:rPr>
              <a:t>실시권자가</a:t>
            </a:r>
            <a:r>
              <a:rPr lang="ko-KR" altLang="en-US" sz="1050" dirty="0">
                <a:solidFill>
                  <a:srgbClr val="FF0000"/>
                </a:solidFill>
              </a:rPr>
              <a:t> 사실상 독점적인 지위를 향유하고 있다는 사정만으로 그러한 계약이 있었다고 보기 어렵다</a:t>
            </a:r>
            <a:r>
              <a:rPr lang="en-US" altLang="ko-KR" sz="1050" dirty="0">
                <a:solidFill>
                  <a:srgbClr val="FF0000"/>
                </a:solidFill>
              </a:rPr>
              <a:t>. </a:t>
            </a:r>
            <a:r>
              <a:rPr lang="ko-KR" altLang="en-US" sz="1050" dirty="0">
                <a:solidFill>
                  <a:srgbClr val="FF0000"/>
                </a:solidFill>
              </a:rPr>
              <a:t>그러나 </a:t>
            </a:r>
            <a:r>
              <a:rPr lang="ko-KR" altLang="en-US" sz="1050" dirty="0" err="1">
                <a:solidFill>
                  <a:srgbClr val="FF0000"/>
                </a:solidFill>
              </a:rPr>
              <a:t>등록하여야만</a:t>
            </a:r>
            <a:r>
              <a:rPr lang="ko-KR" altLang="en-US" sz="1050" dirty="0">
                <a:solidFill>
                  <a:srgbClr val="FF0000"/>
                </a:solidFill>
              </a:rPr>
              <a:t> 그 효력이 발생하는 전용실시권 설정과 달리</a:t>
            </a:r>
            <a:r>
              <a:rPr lang="en-US" altLang="ko-KR" sz="1050" dirty="0">
                <a:solidFill>
                  <a:srgbClr val="FF0000"/>
                </a:solidFill>
              </a:rPr>
              <a:t>, </a:t>
            </a:r>
            <a:r>
              <a:rPr lang="ko-KR" altLang="en-US" sz="1050" dirty="0">
                <a:solidFill>
                  <a:srgbClr val="FF0000"/>
                </a:solidFill>
              </a:rPr>
              <a:t>독점적 통상실시권의 허락은 당사자 간 의사의 합치만 있으면 성립되고</a:t>
            </a:r>
            <a:r>
              <a:rPr lang="en-US" altLang="ko-KR" sz="1050" dirty="0">
                <a:solidFill>
                  <a:srgbClr val="FF0000"/>
                </a:solidFill>
              </a:rPr>
              <a:t>, </a:t>
            </a:r>
            <a:r>
              <a:rPr lang="ko-KR" altLang="en-US" sz="1050" dirty="0">
                <a:solidFill>
                  <a:srgbClr val="FF0000"/>
                </a:solidFill>
              </a:rPr>
              <a:t>이러한 의사의 합치는 명시적으로는 물론 묵시적으로도 이루어질 수 있다</a:t>
            </a:r>
            <a:r>
              <a:rPr lang="en-US" altLang="ko-KR" sz="1050" dirty="0">
                <a:solidFill>
                  <a:srgbClr val="FF0000"/>
                </a:solidFill>
              </a:rPr>
              <a:t>(</a:t>
            </a:r>
            <a:r>
              <a:rPr lang="ko-KR" altLang="en-US" sz="1050" dirty="0">
                <a:solidFill>
                  <a:srgbClr val="FF0000"/>
                </a:solidFill>
              </a:rPr>
              <a:t>특허법원 </a:t>
            </a:r>
            <a:r>
              <a:rPr lang="en-US" altLang="ko-KR" sz="1050" dirty="0">
                <a:solidFill>
                  <a:srgbClr val="FF0000"/>
                </a:solidFill>
              </a:rPr>
              <a:t>2018. 2. 8. </a:t>
            </a:r>
            <a:r>
              <a:rPr lang="ko-KR" altLang="en-US" sz="1050" dirty="0">
                <a:solidFill>
                  <a:srgbClr val="FF0000"/>
                </a:solidFill>
              </a:rPr>
              <a:t>선고 </a:t>
            </a:r>
            <a:r>
              <a:rPr lang="en-US" altLang="ko-KR" sz="1050" dirty="0">
                <a:solidFill>
                  <a:srgbClr val="FF0000"/>
                </a:solidFill>
              </a:rPr>
              <a:t>2017</a:t>
            </a:r>
            <a:r>
              <a:rPr lang="ko-KR" altLang="en-US" sz="1050" dirty="0">
                <a:solidFill>
                  <a:srgbClr val="FF0000"/>
                </a:solidFill>
              </a:rPr>
              <a:t>나</a:t>
            </a:r>
            <a:r>
              <a:rPr lang="en-US" altLang="ko-KR" sz="1050" dirty="0">
                <a:solidFill>
                  <a:srgbClr val="FF0000"/>
                </a:solidFill>
              </a:rPr>
              <a:t>2332). </a:t>
            </a:r>
          </a:p>
        </p:txBody>
      </p:sp>
      <p:sp>
        <p:nvSpPr>
          <p:cNvPr id="24" name="직사각형 23">
            <a:extLst>
              <a:ext uri="{FF2B5EF4-FFF2-40B4-BE49-F238E27FC236}">
                <a16:creationId xmlns:a16="http://schemas.microsoft.com/office/drawing/2014/main" id="{3AD22648-52C5-4A11-BFA3-F88605289408}"/>
              </a:ext>
            </a:extLst>
          </p:cNvPr>
          <p:cNvSpPr/>
          <p:nvPr/>
        </p:nvSpPr>
        <p:spPr>
          <a:xfrm>
            <a:off x="103517" y="3569014"/>
            <a:ext cx="11990717" cy="3323987"/>
          </a:xfrm>
          <a:prstGeom prst="rect">
            <a:avLst/>
          </a:prstGeom>
        </p:spPr>
        <p:txBody>
          <a:bodyPr wrap="square">
            <a:spAutoFit/>
          </a:bodyPr>
          <a:lstStyle/>
          <a:p>
            <a:pPr algn="just" fontAlgn="base"/>
            <a:r>
              <a:rPr lang="en-US" altLang="ko-KR" sz="1050" b="1" dirty="0">
                <a:solidFill>
                  <a:schemeClr val="accent1"/>
                </a:solidFill>
              </a:rPr>
              <a:t>[2] </a:t>
            </a:r>
            <a:r>
              <a:rPr lang="ko-KR" altLang="en-US" sz="1050" b="1" dirty="0">
                <a:solidFill>
                  <a:schemeClr val="accent1"/>
                </a:solidFill>
              </a:rPr>
              <a:t>피고가 위법행위로 원고에게 원고 제품의 상한금액 인하라는 손해를 가하였는지 여부에 관하여</a:t>
            </a:r>
            <a:r>
              <a:rPr lang="en-US" altLang="ko-KR" sz="1050" b="1" dirty="0">
                <a:solidFill>
                  <a:schemeClr val="accent1"/>
                </a:solidFill>
              </a:rPr>
              <a:t>(</a:t>
            </a:r>
            <a:r>
              <a:rPr lang="ko-KR" altLang="en-US" sz="1050" b="1" dirty="0">
                <a:solidFill>
                  <a:schemeClr val="accent1"/>
                </a:solidFill>
              </a:rPr>
              <a:t>위법성과 인과관계</a:t>
            </a:r>
            <a:r>
              <a:rPr lang="en-US" altLang="ko-KR" sz="1050" b="1" dirty="0">
                <a:solidFill>
                  <a:schemeClr val="accent1"/>
                </a:solidFill>
              </a:rPr>
              <a:t>): </a:t>
            </a:r>
          </a:p>
          <a:p>
            <a:pPr algn="just" fontAlgn="base"/>
            <a:r>
              <a:rPr lang="ko-KR" altLang="en-US" sz="1050" dirty="0"/>
              <a:t>가</a:t>
            </a:r>
            <a:r>
              <a:rPr lang="en-US" altLang="ko-KR" sz="1050" dirty="0"/>
              <a:t>. </a:t>
            </a:r>
            <a:r>
              <a:rPr lang="ko-KR" altLang="en-US" sz="1050" dirty="0"/>
              <a:t>원고가 약제급여목록표에 등재된 원고 제품의 상한금액에 관하여 가지는 이익은 국민건강보험법령에서 정한 약제 상한금액 조정사유가 있는 경우 보건복지부장관의 적법한 조정에 따라 변동될 수도 있는 이익이다</a:t>
            </a:r>
            <a:r>
              <a:rPr lang="en-US" altLang="ko-KR" sz="1050" dirty="0"/>
              <a:t>.</a:t>
            </a:r>
          </a:p>
          <a:p>
            <a:pPr marL="180975" indent="-180975" algn="just" fontAlgn="base"/>
            <a:r>
              <a:rPr lang="ko-KR" altLang="en-US" sz="1050" dirty="0"/>
              <a:t>나</a:t>
            </a:r>
            <a:r>
              <a:rPr lang="en-US" altLang="ko-KR" sz="1050" dirty="0"/>
              <a:t>. </a:t>
            </a:r>
            <a:r>
              <a:rPr lang="ko-KR" altLang="en-US" sz="1050" dirty="0"/>
              <a:t>피고는 원래 피고 제품을 이 사건 특허발명의 특허권 존속기간 만료 후 요양급여대상 약제로 판매하고자 이 사건 요양급여대상 결정신청을 하여 피고 제품이 약제급여목록표에 등재</a:t>
            </a:r>
            <a:r>
              <a:rPr lang="en-US" altLang="ko-KR" sz="1050" dirty="0"/>
              <a:t>·</a:t>
            </a:r>
            <a:r>
              <a:rPr lang="ko-KR" altLang="en-US" sz="1050" dirty="0"/>
              <a:t>고시되었고</a:t>
            </a:r>
            <a:r>
              <a:rPr lang="en-US" altLang="ko-KR" sz="1050" dirty="0"/>
              <a:t>, </a:t>
            </a:r>
            <a:r>
              <a:rPr lang="ko-KR" altLang="en-US" sz="1050" dirty="0"/>
              <a:t>이는 관련 규정에 따른 것으로서 피고의 이 사건 요양급여대상 결정신청이 위법하다고 할 수 없다</a:t>
            </a:r>
            <a:r>
              <a:rPr lang="en-US" altLang="ko-KR" sz="1050" dirty="0"/>
              <a:t>.</a:t>
            </a:r>
          </a:p>
          <a:p>
            <a:pPr marL="180975" indent="-180975" algn="just" fontAlgn="base"/>
            <a:r>
              <a:rPr lang="ko-KR" altLang="en-US" sz="1050" dirty="0"/>
              <a:t>다</a:t>
            </a:r>
            <a:r>
              <a:rPr lang="en-US" altLang="ko-KR" sz="1050" dirty="0"/>
              <a:t>. </a:t>
            </a:r>
            <a:r>
              <a:rPr lang="ko-KR" altLang="en-US" sz="1050" dirty="0"/>
              <a:t>특허를 무효로 한다는 </a:t>
            </a:r>
            <a:r>
              <a:rPr lang="ko-KR" altLang="en-US" sz="1050" dirty="0" err="1"/>
              <a:t>심결이</a:t>
            </a:r>
            <a:r>
              <a:rPr lang="ko-KR" altLang="en-US" sz="1050" dirty="0"/>
              <a:t> 확정되어야 그 특허권은 처음부터 없었던 것으로 되므로</a:t>
            </a:r>
            <a:r>
              <a:rPr lang="en-US" altLang="ko-KR" sz="1050" dirty="0"/>
              <a:t>(</a:t>
            </a:r>
            <a:r>
              <a:rPr lang="ko-KR" altLang="en-US" sz="1050" dirty="0"/>
              <a:t>특허법 제</a:t>
            </a:r>
            <a:r>
              <a:rPr lang="en-US" altLang="ko-KR" sz="1050" dirty="0"/>
              <a:t>133</a:t>
            </a:r>
            <a:r>
              <a:rPr lang="ko-KR" altLang="en-US" sz="1050" dirty="0"/>
              <a:t>조 제</a:t>
            </a:r>
            <a:r>
              <a:rPr lang="en-US" altLang="ko-KR" sz="1050" dirty="0"/>
              <a:t>3</a:t>
            </a:r>
            <a:r>
              <a:rPr lang="ko-KR" altLang="en-US" sz="1050" dirty="0"/>
              <a:t>항</a:t>
            </a:r>
            <a:r>
              <a:rPr lang="en-US" altLang="ko-KR" sz="1050" dirty="0"/>
              <a:t>), </a:t>
            </a:r>
            <a:r>
              <a:rPr lang="ko-KR" altLang="en-US" sz="1050" dirty="0" err="1"/>
              <a:t>특허무효심결이</a:t>
            </a:r>
            <a:r>
              <a:rPr lang="ko-KR" altLang="en-US" sz="1050" dirty="0"/>
              <a:t> 확정되기 전까지는 특허는 무효가 아니다</a:t>
            </a:r>
            <a:r>
              <a:rPr lang="en-US" altLang="ko-KR" sz="1050" dirty="0"/>
              <a:t>. </a:t>
            </a:r>
            <a:r>
              <a:rPr lang="ko-KR" altLang="en-US" sz="1050" dirty="0"/>
              <a:t>그렇지만 피고는 특허법원이 진보성을 부정하는 판결을 선고하자 이를 근거로 관련 규정에서 원고 제품의 특허권에도 불구하고 피고 제품을 약제급여목록표 등재 후 즉시 요양급여대상 약제로 판매할 수 있는 사유로 예시한 </a:t>
            </a:r>
            <a:r>
              <a:rPr lang="ko-KR" altLang="en-US" sz="1050" dirty="0">
                <a:highlight>
                  <a:srgbClr val="FFFF00"/>
                </a:highlight>
              </a:rPr>
              <a:t>‘특허분쟁의 승소가능성 등’ 을 소명하여 이 사건 판매예정시기 변경신청을 한 것으로</a:t>
            </a:r>
            <a:r>
              <a:rPr lang="en-US" altLang="ko-KR" sz="1050" dirty="0">
                <a:highlight>
                  <a:srgbClr val="FFFF00"/>
                </a:highlight>
              </a:rPr>
              <a:t>, </a:t>
            </a:r>
            <a:r>
              <a:rPr lang="ko-KR" altLang="en-US" sz="1050" dirty="0">
                <a:highlight>
                  <a:srgbClr val="FFFF00"/>
                </a:highlight>
              </a:rPr>
              <a:t>이러한 피고의 행위를 위법하다고 평가하기는 어렵다</a:t>
            </a:r>
            <a:r>
              <a:rPr lang="en-US" altLang="ko-KR" sz="1050" dirty="0">
                <a:highlight>
                  <a:srgbClr val="FFFF00"/>
                </a:highlight>
              </a:rPr>
              <a:t>.</a:t>
            </a:r>
          </a:p>
          <a:p>
            <a:pPr marL="180975" indent="-180975" algn="just" fontAlgn="base"/>
            <a:r>
              <a:rPr lang="ko-KR" altLang="en-US" sz="1050" dirty="0"/>
              <a:t>라</a:t>
            </a:r>
            <a:r>
              <a:rPr lang="en-US" altLang="ko-KR" sz="1050" dirty="0"/>
              <a:t>. </a:t>
            </a:r>
            <a:r>
              <a:rPr lang="ko-KR" altLang="en-US" sz="1050" dirty="0"/>
              <a:t>피고 제품의 제조판매품목 신고 이전에 보건복지가족부 고시 제</a:t>
            </a:r>
            <a:r>
              <a:rPr lang="en-US" altLang="ko-KR" sz="1050" dirty="0"/>
              <a:t>2009-182</a:t>
            </a:r>
            <a:r>
              <a:rPr lang="ko-KR" altLang="en-US" sz="1050" dirty="0"/>
              <a:t>호로 원고 제품의 상한금액이 특허권 존속기간 만료일 다음날에 인하될 예정이라고 고시된 것은 피고가 아닌 다른 업체가 원고 제품의 제네릭 의약품을 요양급여대상으로 </a:t>
            </a:r>
            <a:r>
              <a:rPr lang="ko-KR" altLang="en-US" sz="1050" dirty="0" err="1"/>
              <a:t>결정신청하였기</a:t>
            </a:r>
            <a:r>
              <a:rPr lang="ko-KR" altLang="en-US" sz="1050" dirty="0"/>
              <a:t> 때문으로 보인다</a:t>
            </a:r>
            <a:r>
              <a:rPr lang="en-US" altLang="ko-KR" sz="1050" dirty="0"/>
              <a:t>. </a:t>
            </a:r>
            <a:r>
              <a:rPr lang="ko-KR" altLang="en-US" sz="1050" dirty="0"/>
              <a:t>또한 피고의 이 사건 판매예정시기 변경신청은 원고 제품의 상한금액을 인하해 달라는 약제 상한금액 조정신청이 아니고</a:t>
            </a:r>
            <a:r>
              <a:rPr lang="en-US" altLang="ko-KR" sz="1050" dirty="0"/>
              <a:t>, </a:t>
            </a:r>
            <a:r>
              <a:rPr lang="ko-KR" altLang="en-US" sz="1050" dirty="0"/>
              <a:t>제네릭 의약품인 피고 제품의 상한금액은 관련 규정에 따라 </a:t>
            </a:r>
            <a:r>
              <a:rPr lang="ko-KR" altLang="en-US" sz="1050" dirty="0" err="1"/>
              <a:t>최초등재제품인</a:t>
            </a:r>
            <a:r>
              <a:rPr lang="ko-KR" altLang="en-US" sz="1050" dirty="0"/>
              <a:t> 원고 제품 상한금액의 일정 비율로 정해지므로</a:t>
            </a:r>
            <a:r>
              <a:rPr lang="en-US" altLang="ko-KR" sz="1050" dirty="0"/>
              <a:t>, </a:t>
            </a:r>
            <a:r>
              <a:rPr lang="ko-KR" altLang="en-US" sz="1050" dirty="0"/>
              <a:t>피고가 원고에게 원고 제품의 상한금액 인하라는 손해를 가할 의도로 이 사건 판매예정시기 변경신청을 했다고 보기도 어렵다</a:t>
            </a:r>
            <a:r>
              <a:rPr lang="en-US" altLang="ko-KR" sz="1050" dirty="0"/>
              <a:t>. </a:t>
            </a:r>
            <a:r>
              <a:rPr lang="ko-KR" altLang="en-US" sz="1050" dirty="0"/>
              <a:t>나아가 원고 제품의 상한금액 인하 시행시기를 언제로 정할 지는 보건복지부장관의 재량에 달려 있다는 점은 앞서 본 바와 같다</a:t>
            </a:r>
            <a:r>
              <a:rPr lang="en-US" altLang="ko-KR" sz="1050" dirty="0"/>
              <a:t>.</a:t>
            </a:r>
          </a:p>
          <a:p>
            <a:pPr marL="180975" indent="-180975" algn="just" fontAlgn="base"/>
            <a:r>
              <a:rPr lang="ko-KR" altLang="en-US" sz="1050" dirty="0"/>
              <a:t>마</a:t>
            </a:r>
            <a:r>
              <a:rPr lang="en-US" altLang="ko-KR" sz="1050" dirty="0"/>
              <a:t>. </a:t>
            </a:r>
            <a:r>
              <a:rPr lang="ko-KR" altLang="en-US" sz="1050" dirty="0"/>
              <a:t>원고 제품의 상한금액이 </a:t>
            </a:r>
            <a:r>
              <a:rPr lang="en-US" altLang="ko-KR" sz="1050" dirty="0"/>
              <a:t>2011. 2. 1.</a:t>
            </a:r>
            <a:r>
              <a:rPr lang="ko-KR" altLang="en-US" sz="1050" dirty="0"/>
              <a:t>부터 인하된 것은 보건복지부장관이 이 사건 고시를 했기 때문이지 피고가 피고 제품을 제조</a:t>
            </a:r>
            <a:r>
              <a:rPr lang="en-US" altLang="ko-KR" sz="1050" dirty="0"/>
              <a:t>·</a:t>
            </a:r>
            <a:r>
              <a:rPr lang="ko-KR" altLang="en-US" sz="1050" dirty="0"/>
              <a:t>판매했기 때문이 아니므로</a:t>
            </a:r>
            <a:r>
              <a:rPr lang="en-US" altLang="ko-KR" sz="1050" dirty="0"/>
              <a:t>, </a:t>
            </a:r>
            <a:r>
              <a:rPr lang="ko-KR" altLang="en-US" sz="1050" dirty="0"/>
              <a:t>원고가 주장하는 일련의 피고 제품 출시행위 중 피고 제품의 제조</a:t>
            </a:r>
            <a:r>
              <a:rPr lang="en-US" altLang="ko-KR" sz="1050" dirty="0"/>
              <a:t>·</a:t>
            </a:r>
            <a:r>
              <a:rPr lang="ko-KR" altLang="en-US" sz="1050" dirty="0"/>
              <a:t>판매행위를 원고 제품 상한금액 인하의 원인이라고 볼 수 없다</a:t>
            </a:r>
            <a:r>
              <a:rPr lang="en-US" altLang="ko-KR" sz="1050" dirty="0"/>
              <a:t>.</a:t>
            </a:r>
          </a:p>
          <a:p>
            <a:pPr marL="180975" indent="-180975" algn="just" fontAlgn="base"/>
            <a:r>
              <a:rPr lang="ko-KR" altLang="en-US" sz="1050" dirty="0"/>
              <a:t>바</a:t>
            </a:r>
            <a:r>
              <a:rPr lang="en-US" altLang="ko-KR" sz="1050" dirty="0">
                <a:highlight>
                  <a:srgbClr val="FFFF00"/>
                </a:highlight>
              </a:rPr>
              <a:t>.</a:t>
            </a:r>
            <a:r>
              <a:rPr lang="en-US" altLang="ko-KR" sz="1050" u="sng" dirty="0">
                <a:highlight>
                  <a:srgbClr val="FFFF00"/>
                </a:highlight>
              </a:rPr>
              <a:t> </a:t>
            </a:r>
            <a:r>
              <a:rPr lang="ko-KR" altLang="en-US" sz="1050" u="sng" dirty="0">
                <a:highlight>
                  <a:srgbClr val="FFFF00"/>
                </a:highlight>
              </a:rPr>
              <a:t>피고가 제네릭 의약품인 피고 제품에 관하여 이 사건 요양급여대상 결정신청과 이 사건 판매예정시기 변경신청을 한 이후 보건복지부장관이 이 사건 고시로써 원고 제품의 상한금액 인하 시행시기를 변경하여 원고가 원고 제품의 상한금액 인하라는 불이익을 입게 된 측면은 있다</a:t>
            </a:r>
            <a:r>
              <a:rPr lang="en-US" altLang="ko-KR" sz="1050" u="sng" dirty="0">
                <a:highlight>
                  <a:srgbClr val="FFFF00"/>
                </a:highlight>
              </a:rPr>
              <a:t>. </a:t>
            </a:r>
            <a:r>
              <a:rPr lang="ko-KR" altLang="en-US" sz="1050" u="sng" dirty="0">
                <a:highlight>
                  <a:srgbClr val="FFFF00"/>
                </a:highlight>
              </a:rPr>
              <a:t>그렇지만 피고의 신청행위를 위법하다고 보기 어려운 점</a:t>
            </a:r>
            <a:r>
              <a:rPr lang="en-US" altLang="ko-KR" sz="1050" u="sng" dirty="0">
                <a:highlight>
                  <a:srgbClr val="FFFF00"/>
                </a:highlight>
              </a:rPr>
              <a:t>, </a:t>
            </a:r>
            <a:r>
              <a:rPr lang="ko-KR" altLang="en-US" sz="1050" u="sng" dirty="0">
                <a:highlight>
                  <a:srgbClr val="FFFF00"/>
                </a:highlight>
              </a:rPr>
              <a:t>보건복지부장관의 이 사건 고시를 위법한 처분이라고 볼만한 자료도 없는 점</a:t>
            </a:r>
            <a:r>
              <a:rPr lang="en-US" altLang="ko-KR" sz="1050" u="sng" dirty="0">
                <a:highlight>
                  <a:srgbClr val="FFFF00"/>
                </a:highlight>
              </a:rPr>
              <a:t>, </a:t>
            </a:r>
            <a:r>
              <a:rPr lang="ko-KR" altLang="en-US" sz="1050" u="sng" dirty="0">
                <a:highlight>
                  <a:srgbClr val="FFFF00"/>
                </a:highlight>
              </a:rPr>
              <a:t>관련 규정의 취지가 국민건강보험 재정을 </a:t>
            </a:r>
            <a:r>
              <a:rPr lang="ko-KR" altLang="en-US" sz="1050" u="sng" dirty="0" err="1">
                <a:highlight>
                  <a:srgbClr val="FFFF00"/>
                </a:highlight>
              </a:rPr>
              <a:t>건전화하여</a:t>
            </a:r>
            <a:r>
              <a:rPr lang="ko-KR" altLang="en-US" sz="1050" u="sng" dirty="0">
                <a:highlight>
                  <a:srgbClr val="FFFF00"/>
                </a:highlight>
              </a:rPr>
              <a:t> 원활한 요양급여를 지속적으로 보장하는 데에 있다는 점과 국민건강보험제도의 공익적 성격 등을 고려하면</a:t>
            </a:r>
            <a:r>
              <a:rPr lang="en-US" altLang="ko-KR" sz="1050" u="sng" dirty="0">
                <a:highlight>
                  <a:srgbClr val="FFFF00"/>
                </a:highlight>
              </a:rPr>
              <a:t>, </a:t>
            </a:r>
            <a:r>
              <a:rPr lang="ko-KR" altLang="en-US" sz="1050" u="sng" dirty="0">
                <a:highlight>
                  <a:srgbClr val="FFFF00"/>
                </a:highlight>
              </a:rPr>
              <a:t>위와 같은 원고의 불이익은 제네릭 의약품의 요양급여대상 결정신청이 있으면 보건복지부장관이 </a:t>
            </a:r>
            <a:r>
              <a:rPr lang="ko-KR" altLang="en-US" sz="1050" u="sng" dirty="0" err="1">
                <a:highlight>
                  <a:srgbClr val="FFFF00"/>
                </a:highlight>
              </a:rPr>
              <a:t>최초등재제품의</a:t>
            </a:r>
            <a:r>
              <a:rPr lang="ko-KR" altLang="en-US" sz="1050" u="sng" dirty="0">
                <a:highlight>
                  <a:srgbClr val="FFFF00"/>
                </a:highlight>
              </a:rPr>
              <a:t> 상한금액을 인하할 수 있고</a:t>
            </a:r>
            <a:r>
              <a:rPr lang="en-US" altLang="ko-KR" sz="1050" u="sng" dirty="0">
                <a:highlight>
                  <a:srgbClr val="FFFF00"/>
                </a:highlight>
              </a:rPr>
              <a:t>, </a:t>
            </a:r>
            <a:r>
              <a:rPr lang="ko-KR" altLang="en-US" sz="1050" u="sng" dirty="0" err="1">
                <a:highlight>
                  <a:srgbClr val="FFFF00"/>
                </a:highlight>
              </a:rPr>
              <a:t>최초등재제품</a:t>
            </a:r>
            <a:r>
              <a:rPr lang="ko-KR" altLang="en-US" sz="1050" u="sng" dirty="0">
                <a:highlight>
                  <a:srgbClr val="FFFF00"/>
                </a:highlight>
              </a:rPr>
              <a:t> 특허의 무효가능성이 소명되면 제네릭 의약품을 약제급여목록표 등재 후 즉시 요양급여대상 약제로 판매할 수 있도록 한 관련 제도를 채택한 결과에 따른 것이다</a:t>
            </a:r>
            <a:r>
              <a:rPr lang="en-US" altLang="ko-KR" sz="1050" u="sng" dirty="0">
                <a:highlight>
                  <a:srgbClr val="FFFF00"/>
                </a:highlight>
              </a:rPr>
              <a:t>. </a:t>
            </a:r>
            <a:r>
              <a:rPr lang="ko-KR" altLang="en-US" sz="1050" u="sng" dirty="0">
                <a:highlight>
                  <a:srgbClr val="FFFF00"/>
                </a:highlight>
              </a:rPr>
              <a:t>결국 원고가 원고 제품의 상한금액에 관하여 갖는 이익은 이러한 제도의 테두리 내에서 보호될 수 있는 것에 불과하고</a:t>
            </a:r>
            <a:r>
              <a:rPr lang="en-US" altLang="ko-KR" sz="1050" u="sng" dirty="0">
                <a:highlight>
                  <a:srgbClr val="FFFF00"/>
                </a:highlight>
              </a:rPr>
              <a:t>, </a:t>
            </a:r>
            <a:r>
              <a:rPr lang="ko-KR" altLang="en-US" sz="1050" u="sng" dirty="0">
                <a:highlight>
                  <a:srgbClr val="FFFF00"/>
                </a:highlight>
              </a:rPr>
              <a:t>그 제도에서 정한 절차에 따른 결과가 원고에게 불리하게 작용하더라도 이를 피고의 책임으로 돌릴 것은 아니다</a:t>
            </a:r>
            <a:r>
              <a:rPr lang="en-US" altLang="ko-KR" sz="1050" u="sng" dirty="0">
                <a:highlight>
                  <a:srgbClr val="FFFF00"/>
                </a:highlight>
              </a:rPr>
              <a:t>.</a:t>
            </a:r>
          </a:p>
          <a:p>
            <a:pPr marL="180975" indent="-180975" algn="just" fontAlgn="base"/>
            <a:r>
              <a:rPr lang="ko-KR" altLang="en-US" sz="1050" dirty="0"/>
              <a:t>사</a:t>
            </a:r>
            <a:r>
              <a:rPr lang="en-US" altLang="ko-KR" sz="1050" dirty="0"/>
              <a:t>. </a:t>
            </a:r>
            <a:r>
              <a:rPr lang="ko-KR" altLang="en-US" sz="1050" dirty="0"/>
              <a:t>따라서 피고의 행위가 </a:t>
            </a:r>
            <a:r>
              <a:rPr lang="ko-KR" altLang="en-US" sz="1050" dirty="0" err="1"/>
              <a:t>위법하다거나</a:t>
            </a:r>
            <a:r>
              <a:rPr lang="ko-KR" altLang="en-US" sz="1050" dirty="0"/>
              <a:t> 피고의 행위와 원고 제품의 상한금액 인하 사이에 상당인과관계가 있다고 볼 수 없다</a:t>
            </a:r>
            <a:r>
              <a:rPr lang="en-US" altLang="ko-KR" sz="1050" dirty="0"/>
              <a:t>.</a:t>
            </a:r>
          </a:p>
        </p:txBody>
      </p:sp>
    </p:spTree>
    <p:extLst>
      <p:ext uri="{BB962C8B-B14F-4D97-AF65-F5344CB8AC3E}">
        <p14:creationId xmlns:p14="http://schemas.microsoft.com/office/powerpoint/2010/main" val="253224181"/>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자유형: 도형 83">
            <a:extLst>
              <a:ext uri="{FF2B5EF4-FFF2-40B4-BE49-F238E27FC236}">
                <a16:creationId xmlns:a16="http://schemas.microsoft.com/office/drawing/2014/main" id="{04504324-05C8-44EE-906C-4BFD4627B46D}"/>
              </a:ext>
            </a:extLst>
          </p:cNvPr>
          <p:cNvSpPr/>
          <p:nvPr/>
        </p:nvSpPr>
        <p:spPr>
          <a:xfrm>
            <a:off x="2622430" y="1500996"/>
            <a:ext cx="6354952" cy="5003321"/>
          </a:xfrm>
          <a:custGeom>
            <a:avLst/>
            <a:gdLst>
              <a:gd name="connsiteX0" fmla="*/ 0 w 6633713"/>
              <a:gd name="connsiteY0" fmla="*/ 43132 h 5003321"/>
              <a:gd name="connsiteX1" fmla="*/ 0 w 6633713"/>
              <a:gd name="connsiteY1" fmla="*/ 5003321 h 5003321"/>
              <a:gd name="connsiteX2" fmla="*/ 6633713 w 6633713"/>
              <a:gd name="connsiteY2" fmla="*/ 5003321 h 5003321"/>
              <a:gd name="connsiteX3" fmla="*/ 6633713 w 6633713"/>
              <a:gd name="connsiteY3" fmla="*/ 0 h 5003321"/>
            </a:gdLst>
            <a:ahLst/>
            <a:cxnLst>
              <a:cxn ang="0">
                <a:pos x="connsiteX0" y="connsiteY0"/>
              </a:cxn>
              <a:cxn ang="0">
                <a:pos x="connsiteX1" y="connsiteY1"/>
              </a:cxn>
              <a:cxn ang="0">
                <a:pos x="connsiteX2" y="connsiteY2"/>
              </a:cxn>
              <a:cxn ang="0">
                <a:pos x="connsiteX3" y="connsiteY3"/>
              </a:cxn>
            </a:cxnLst>
            <a:rect l="l" t="t" r="r" b="b"/>
            <a:pathLst>
              <a:path w="6633713" h="5003321">
                <a:moveTo>
                  <a:pt x="0" y="43132"/>
                </a:moveTo>
                <a:lnTo>
                  <a:pt x="0" y="5003321"/>
                </a:lnTo>
                <a:lnTo>
                  <a:pt x="6633713" y="5003321"/>
                </a:lnTo>
                <a:lnTo>
                  <a:pt x="6633713" y="0"/>
                </a:lnTo>
              </a:path>
            </a:pathLst>
          </a:custGeom>
          <a:noFill/>
          <a:ln w="571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n w="57150">
                <a:solidFill>
                  <a:schemeClr val="tx1"/>
                </a:solidFill>
              </a:ln>
            </a:endParaRPr>
          </a:p>
        </p:txBody>
      </p:sp>
      <p:sp>
        <p:nvSpPr>
          <p:cNvPr id="3" name="제목 2"/>
          <p:cNvSpPr>
            <a:spLocks noGrp="1"/>
          </p:cNvSpPr>
          <p:nvPr>
            <p:ph type="title"/>
          </p:nvPr>
        </p:nvSpPr>
        <p:spPr/>
        <p:txBody>
          <a:bodyPr/>
          <a:lstStyle/>
          <a:p>
            <a:r>
              <a:rPr lang="ko-KR" altLang="en-US" dirty="0"/>
              <a:t>제</a:t>
            </a:r>
            <a:r>
              <a:rPr lang="en-US" altLang="ko-KR" dirty="0"/>
              <a:t>100</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sz="2400" dirty="0"/>
              <a:t>독점적 </a:t>
            </a:r>
            <a:r>
              <a:rPr lang="ko-KR" altLang="en-US" sz="2400" dirty="0" err="1"/>
              <a:t>통상실시권자의</a:t>
            </a:r>
            <a:r>
              <a:rPr lang="ko-KR" altLang="en-US" sz="2400" dirty="0"/>
              <a:t> </a:t>
            </a:r>
            <a:r>
              <a:rPr lang="en-US" altLang="ko-KR" sz="2400" dirty="0"/>
              <a:t>CASE:</a:t>
            </a:r>
            <a:r>
              <a:rPr lang="ko-KR" altLang="en-US" sz="2400" dirty="0"/>
              <a:t> </a:t>
            </a:r>
            <a:r>
              <a:rPr lang="ko-KR" altLang="en-US" sz="2400" dirty="0" err="1"/>
              <a:t>한국릴리의</a:t>
            </a:r>
            <a:r>
              <a:rPr lang="ko-KR" altLang="en-US" sz="2400" dirty="0"/>
              <a:t> 약가 인하에 대한 보상</a:t>
            </a:r>
            <a:r>
              <a:rPr lang="en-US" altLang="ko-KR" sz="2400" dirty="0"/>
              <a:t>?</a:t>
            </a:r>
            <a:endParaRPr lang="ko-KR" altLang="en-US" sz="2400" dirty="0"/>
          </a:p>
        </p:txBody>
      </p:sp>
      <p:sp>
        <p:nvSpPr>
          <p:cNvPr id="5" name="슬라이드 번호 개체 틀 4"/>
          <p:cNvSpPr>
            <a:spLocks noGrp="1"/>
          </p:cNvSpPr>
          <p:nvPr>
            <p:ph type="sldNum" sz="quarter" idx="4294967295"/>
          </p:nvPr>
        </p:nvSpPr>
        <p:spPr>
          <a:xfrm>
            <a:off x="11125200" y="0"/>
            <a:ext cx="1066800" cy="744538"/>
          </a:xfrm>
        </p:spPr>
        <p:txBody>
          <a:bodyPr/>
          <a:lstStyle/>
          <a:p>
            <a:r>
              <a:rPr lang="en-US" altLang="ko-KR"/>
              <a:t>411</a:t>
            </a:r>
            <a:endParaRPr lang="ko-KR" altLang="en-US"/>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13" name="타원 12">
            <a:extLst>
              <a:ext uri="{FF2B5EF4-FFF2-40B4-BE49-F238E27FC236}">
                <a16:creationId xmlns:a16="http://schemas.microsoft.com/office/drawing/2014/main" id="{4F5D4168-136B-4AB7-BC55-ED019DE4DE7A}"/>
              </a:ext>
            </a:extLst>
          </p:cNvPr>
          <p:cNvSpPr/>
          <p:nvPr/>
        </p:nvSpPr>
        <p:spPr>
          <a:xfrm>
            <a:off x="2553898" y="229514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23" name="TextBox 22">
            <a:extLst>
              <a:ext uri="{FF2B5EF4-FFF2-40B4-BE49-F238E27FC236}">
                <a16:creationId xmlns:a16="http://schemas.microsoft.com/office/drawing/2014/main" id="{F6CA120A-CEEC-4143-862F-756DABA1D2AA}"/>
              </a:ext>
            </a:extLst>
          </p:cNvPr>
          <p:cNvSpPr txBox="1"/>
          <p:nvPr/>
        </p:nvSpPr>
        <p:spPr>
          <a:xfrm>
            <a:off x="232371" y="976832"/>
            <a:ext cx="5421669" cy="507831"/>
          </a:xfrm>
          <a:prstGeom prst="rect">
            <a:avLst/>
          </a:prstGeom>
          <a:solidFill>
            <a:schemeClr val="accent1">
              <a:lumMod val="20000"/>
              <a:lumOff val="80000"/>
            </a:schemeClr>
          </a:solidFill>
          <a:ln>
            <a:solidFill>
              <a:schemeClr val="bg1">
                <a:lumMod val="50000"/>
              </a:schemeClr>
            </a:solidFill>
          </a:ln>
        </p:spPr>
        <p:txBody>
          <a:bodyPr wrap="square">
            <a:spAutoFit/>
          </a:bodyPr>
          <a:lstStyle/>
          <a:p>
            <a:pPr marL="0" marR="0" indent="0" algn="just" fontAlgn="base" latinLnBrk="1">
              <a:spcBef>
                <a:spcPts val="0"/>
              </a:spcBef>
              <a:spcAft>
                <a:spcPts val="600"/>
              </a:spcAft>
              <a:tabLst>
                <a:tab pos="408940" algn="l"/>
                <a:tab pos="624840" algn="l"/>
                <a:tab pos="4561840" algn="r"/>
                <a:tab pos="273050" algn="l"/>
                <a:tab pos="408940" algn="l"/>
                <a:tab pos="624840" algn="l"/>
                <a:tab pos="4561840" algn="r"/>
              </a:tabLst>
            </a:pPr>
            <a:r>
              <a:rPr lang="en-US" altLang="ko-KR" sz="1100" kern="0" spc="-90" dirty="0">
                <a:solidFill>
                  <a:srgbClr val="000000"/>
                </a:solidFill>
                <a:effectLst/>
                <a:latin typeface="+mn-ea"/>
              </a:rPr>
              <a:t>- </a:t>
            </a:r>
            <a:r>
              <a:rPr lang="ko-KR" altLang="en-US" sz="1100" kern="0" spc="-90" dirty="0" err="1">
                <a:solidFill>
                  <a:srgbClr val="000000"/>
                </a:solidFill>
                <a:effectLst/>
                <a:latin typeface="+mn-ea"/>
              </a:rPr>
              <a:t>영국릴리는</a:t>
            </a:r>
            <a:r>
              <a:rPr lang="ko-KR" altLang="en-US" sz="1100" kern="0" spc="-90" dirty="0">
                <a:solidFill>
                  <a:srgbClr val="000000"/>
                </a:solidFill>
                <a:effectLst/>
                <a:latin typeface="+mn-ea"/>
              </a:rPr>
              <a:t> </a:t>
            </a:r>
            <a:r>
              <a:rPr lang="ko-KR" altLang="en-US" sz="1100" kern="0" spc="-50" dirty="0">
                <a:solidFill>
                  <a:srgbClr val="000000"/>
                </a:solidFill>
                <a:effectLst/>
                <a:latin typeface="+mn-ea"/>
              </a:rPr>
              <a:t>‘</a:t>
            </a:r>
            <a:r>
              <a:rPr lang="ko-KR" altLang="en-US" sz="1100" kern="0" spc="-90" dirty="0" err="1">
                <a:solidFill>
                  <a:srgbClr val="000000"/>
                </a:solidFill>
                <a:effectLst/>
                <a:latin typeface="+mn-ea"/>
              </a:rPr>
              <a:t>올란자핀</a:t>
            </a:r>
            <a:r>
              <a:rPr lang="ko-KR" altLang="en-US" sz="1100" kern="0" spc="-50" dirty="0">
                <a:solidFill>
                  <a:srgbClr val="000000"/>
                </a:solidFill>
                <a:effectLst/>
                <a:latin typeface="+mn-ea"/>
              </a:rPr>
              <a:t>’</a:t>
            </a:r>
            <a:r>
              <a:rPr lang="ko-KR" altLang="en-US" sz="1100" kern="0" spc="-90" dirty="0">
                <a:solidFill>
                  <a:srgbClr val="000000"/>
                </a:solidFill>
                <a:effectLst/>
                <a:latin typeface="+mn-ea"/>
              </a:rPr>
              <a:t> 특허발명</a:t>
            </a:r>
            <a:r>
              <a:rPr lang="en-US" altLang="ko-KR" sz="1100" kern="0" spc="-50" dirty="0">
                <a:solidFill>
                  <a:srgbClr val="000000"/>
                </a:solidFill>
                <a:effectLst/>
                <a:latin typeface="+mn-ea"/>
              </a:rPr>
              <a:t>(</a:t>
            </a:r>
            <a:r>
              <a:rPr lang="ko-KR" altLang="en-US" sz="1100" kern="0" spc="-90" dirty="0">
                <a:solidFill>
                  <a:srgbClr val="000000"/>
                </a:solidFill>
                <a:effectLst/>
                <a:latin typeface="+mn-ea"/>
              </a:rPr>
              <a:t>특허번호 제</a:t>
            </a:r>
            <a:r>
              <a:rPr lang="en-US" altLang="ko-KR" sz="1100" kern="0" spc="-50" dirty="0">
                <a:solidFill>
                  <a:srgbClr val="000000"/>
                </a:solidFill>
                <a:effectLst/>
                <a:latin typeface="+mn-ea"/>
              </a:rPr>
              <a:t>195566</a:t>
            </a:r>
            <a:r>
              <a:rPr lang="ko-KR" altLang="en-US" sz="1100" kern="0" spc="-90" dirty="0">
                <a:solidFill>
                  <a:srgbClr val="000000"/>
                </a:solidFill>
                <a:effectLst/>
                <a:latin typeface="+mn-ea"/>
              </a:rPr>
              <a:t>호</a:t>
            </a:r>
            <a:r>
              <a:rPr lang="en-US" altLang="ko-KR" sz="1100" kern="0" spc="-50" dirty="0">
                <a:solidFill>
                  <a:srgbClr val="000000"/>
                </a:solidFill>
                <a:effectLst/>
                <a:latin typeface="+mn-ea"/>
              </a:rPr>
              <a:t>, </a:t>
            </a:r>
            <a:r>
              <a:rPr lang="ko-KR" altLang="en-US" sz="1100" kern="0" spc="-90" dirty="0">
                <a:solidFill>
                  <a:srgbClr val="000000"/>
                </a:solidFill>
                <a:effectLst/>
                <a:latin typeface="+mn-ea"/>
              </a:rPr>
              <a:t>특허권 존속기간 </a:t>
            </a:r>
            <a:r>
              <a:rPr lang="en-US" altLang="ko-KR" sz="1100" kern="0" spc="-50" dirty="0">
                <a:solidFill>
                  <a:srgbClr val="000000"/>
                </a:solidFill>
                <a:effectLst/>
                <a:latin typeface="+mn-ea"/>
              </a:rPr>
              <a:t>2011. 4. 24.)</a:t>
            </a:r>
            <a:r>
              <a:rPr lang="ko-KR" altLang="en-US" sz="1100" kern="0" spc="-90" dirty="0">
                <a:solidFill>
                  <a:srgbClr val="000000"/>
                </a:solidFill>
                <a:effectLst/>
                <a:latin typeface="+mn-ea"/>
              </a:rPr>
              <a:t>의 특허권자</a:t>
            </a:r>
            <a:endParaRPr lang="en-US" altLang="ko-KR" sz="1100" kern="0" spc="-90" dirty="0">
              <a:solidFill>
                <a:srgbClr val="000000"/>
              </a:solidFill>
              <a:effectLst/>
              <a:latin typeface="+mn-ea"/>
            </a:endParaRPr>
          </a:p>
          <a:p>
            <a:pPr algn="just" fontAlgn="base">
              <a:spcAft>
                <a:spcPts val="600"/>
              </a:spcAft>
              <a:tabLst>
                <a:tab pos="408940" algn="l"/>
                <a:tab pos="624840" algn="l"/>
                <a:tab pos="4561840" algn="r"/>
                <a:tab pos="273050" algn="l"/>
                <a:tab pos="408940" algn="l"/>
                <a:tab pos="624840" algn="l"/>
                <a:tab pos="4561840" algn="r"/>
              </a:tabLst>
            </a:pPr>
            <a:r>
              <a:rPr lang="en-US" altLang="ko-KR" sz="1100" kern="0" spc="-50" dirty="0">
                <a:solidFill>
                  <a:srgbClr val="000000"/>
                </a:solidFill>
                <a:effectLst/>
                <a:latin typeface="+mn-ea"/>
              </a:rPr>
              <a:t>- </a:t>
            </a:r>
            <a:r>
              <a:rPr lang="ko-KR" altLang="en-US" sz="1100" kern="0" spc="-50" dirty="0" err="1">
                <a:solidFill>
                  <a:srgbClr val="000000"/>
                </a:solidFill>
                <a:effectLst/>
                <a:latin typeface="+mn-ea"/>
              </a:rPr>
              <a:t>한국릴리는</a:t>
            </a:r>
            <a:r>
              <a:rPr lang="ko-KR" altLang="en-US" sz="1100" kern="0" spc="-50" dirty="0">
                <a:solidFill>
                  <a:srgbClr val="000000"/>
                </a:solidFill>
                <a:effectLst/>
                <a:latin typeface="+mn-ea"/>
              </a:rPr>
              <a:t> </a:t>
            </a:r>
            <a:r>
              <a:rPr lang="en-US" altLang="ko-KR" sz="1100" kern="0" spc="-50" dirty="0">
                <a:solidFill>
                  <a:srgbClr val="000000"/>
                </a:solidFill>
                <a:effectLst/>
                <a:latin typeface="+mn-ea"/>
              </a:rPr>
              <a:t>1997</a:t>
            </a:r>
            <a:r>
              <a:rPr lang="ko-KR" altLang="en-US" sz="1100" kern="0" spc="-90" dirty="0">
                <a:solidFill>
                  <a:srgbClr val="000000"/>
                </a:solidFill>
                <a:effectLst/>
                <a:latin typeface="+mn-ea"/>
              </a:rPr>
              <a:t>년 이후로 국내 유일한 수입자로서 원고 제품을 국내에 수입</a:t>
            </a:r>
            <a:r>
              <a:rPr lang="en-US" altLang="ko-KR" sz="1100" kern="0" spc="-50" dirty="0">
                <a:solidFill>
                  <a:srgbClr val="000000"/>
                </a:solidFill>
                <a:effectLst/>
                <a:latin typeface="+mn-ea"/>
              </a:rPr>
              <a:t>, </a:t>
            </a:r>
            <a:r>
              <a:rPr lang="ko-KR" altLang="en-US" sz="1100" kern="0" spc="-90" dirty="0">
                <a:solidFill>
                  <a:srgbClr val="000000"/>
                </a:solidFill>
                <a:effectLst/>
                <a:latin typeface="+mn-ea"/>
              </a:rPr>
              <a:t>판매</a:t>
            </a:r>
            <a:endParaRPr lang="ko-KR" altLang="en-US" sz="1100" kern="0" spc="0" dirty="0">
              <a:solidFill>
                <a:srgbClr val="000000"/>
              </a:solidFill>
              <a:effectLst/>
              <a:latin typeface="+mn-ea"/>
            </a:endParaRPr>
          </a:p>
        </p:txBody>
      </p:sp>
      <p:sp>
        <p:nvSpPr>
          <p:cNvPr id="8" name="TextBox 7">
            <a:extLst>
              <a:ext uri="{FF2B5EF4-FFF2-40B4-BE49-F238E27FC236}">
                <a16:creationId xmlns:a16="http://schemas.microsoft.com/office/drawing/2014/main" id="{6662EABB-34DA-4F98-A4D7-48662E151957}"/>
              </a:ext>
            </a:extLst>
          </p:cNvPr>
          <p:cNvSpPr txBox="1"/>
          <p:nvPr/>
        </p:nvSpPr>
        <p:spPr>
          <a:xfrm>
            <a:off x="943856" y="2162158"/>
            <a:ext cx="1077542" cy="430887"/>
          </a:xfrm>
          <a:prstGeom prst="rect">
            <a:avLst/>
          </a:prstGeom>
          <a:solidFill>
            <a:schemeClr val="bg1">
              <a:lumMod val="95000"/>
            </a:schemeClr>
          </a:solidFill>
          <a:ln>
            <a:solidFill>
              <a:schemeClr val="bg1">
                <a:lumMod val="50000"/>
              </a:schemeClr>
            </a:solidFill>
          </a:ln>
        </p:spPr>
        <p:txBody>
          <a:bodyPr wrap="square" rtlCol="0">
            <a:spAutoFit/>
          </a:bodyPr>
          <a:lstStyle/>
          <a:p>
            <a:pPr algn="ctr"/>
            <a:r>
              <a:rPr lang="ko-KR" altLang="en-US" sz="1100" dirty="0"/>
              <a:t>한미약품 </a:t>
            </a:r>
            <a:endParaRPr lang="en-US" altLang="ko-KR" sz="1100" dirty="0"/>
          </a:p>
          <a:p>
            <a:pPr algn="ctr"/>
            <a:r>
              <a:rPr lang="ko-KR" altLang="en-US" sz="1100" dirty="0"/>
              <a:t>무효심판청구</a:t>
            </a:r>
          </a:p>
        </p:txBody>
      </p:sp>
      <p:sp>
        <p:nvSpPr>
          <p:cNvPr id="25" name="타원 24">
            <a:extLst>
              <a:ext uri="{FF2B5EF4-FFF2-40B4-BE49-F238E27FC236}">
                <a16:creationId xmlns:a16="http://schemas.microsoft.com/office/drawing/2014/main" id="{365AF651-D371-46E9-807F-D22D48075FB3}"/>
              </a:ext>
            </a:extLst>
          </p:cNvPr>
          <p:cNvSpPr/>
          <p:nvPr/>
        </p:nvSpPr>
        <p:spPr>
          <a:xfrm>
            <a:off x="2553898" y="271627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26" name="TextBox 25">
            <a:extLst>
              <a:ext uri="{FF2B5EF4-FFF2-40B4-BE49-F238E27FC236}">
                <a16:creationId xmlns:a16="http://schemas.microsoft.com/office/drawing/2014/main" id="{70064101-1DB6-4DE3-849F-1E84484CD2DA}"/>
              </a:ext>
            </a:extLst>
          </p:cNvPr>
          <p:cNvSpPr txBox="1"/>
          <p:nvPr/>
        </p:nvSpPr>
        <p:spPr>
          <a:xfrm>
            <a:off x="943855" y="2658448"/>
            <a:ext cx="1077542" cy="430887"/>
          </a:xfrm>
          <a:prstGeom prst="rect">
            <a:avLst/>
          </a:prstGeom>
          <a:solidFill>
            <a:schemeClr val="bg1">
              <a:lumMod val="95000"/>
            </a:schemeClr>
          </a:solidFill>
          <a:ln>
            <a:solidFill>
              <a:schemeClr val="bg1">
                <a:lumMod val="50000"/>
              </a:schemeClr>
            </a:solidFill>
          </a:ln>
        </p:spPr>
        <p:txBody>
          <a:bodyPr wrap="square" rtlCol="0">
            <a:spAutoFit/>
          </a:bodyPr>
          <a:lstStyle/>
          <a:p>
            <a:pPr algn="ctr"/>
            <a:r>
              <a:rPr lang="ko-KR" altLang="en-US" sz="1100" dirty="0"/>
              <a:t>기각</a:t>
            </a:r>
            <a:endParaRPr lang="en-US" altLang="ko-KR" sz="1100" dirty="0"/>
          </a:p>
          <a:p>
            <a:pPr algn="ctr"/>
            <a:r>
              <a:rPr lang="en-US" altLang="ko-KR" sz="1100" dirty="0"/>
              <a:t>(2009.12.31)</a:t>
            </a:r>
            <a:endParaRPr lang="ko-KR" altLang="en-US" sz="1100" dirty="0"/>
          </a:p>
        </p:txBody>
      </p:sp>
      <p:sp>
        <p:nvSpPr>
          <p:cNvPr id="27" name="타원 26">
            <a:extLst>
              <a:ext uri="{FF2B5EF4-FFF2-40B4-BE49-F238E27FC236}">
                <a16:creationId xmlns:a16="http://schemas.microsoft.com/office/drawing/2014/main" id="{24A37EE6-614A-448C-B665-9C0977E23A19}"/>
              </a:ext>
            </a:extLst>
          </p:cNvPr>
          <p:cNvSpPr/>
          <p:nvPr/>
        </p:nvSpPr>
        <p:spPr>
          <a:xfrm>
            <a:off x="2553898" y="314210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28" name="TextBox 27">
            <a:extLst>
              <a:ext uri="{FF2B5EF4-FFF2-40B4-BE49-F238E27FC236}">
                <a16:creationId xmlns:a16="http://schemas.microsoft.com/office/drawing/2014/main" id="{7D3CD166-C380-486F-89C8-8725C2EC44D6}"/>
              </a:ext>
            </a:extLst>
          </p:cNvPr>
          <p:cNvSpPr txBox="1"/>
          <p:nvPr/>
        </p:nvSpPr>
        <p:spPr>
          <a:xfrm>
            <a:off x="943855" y="3138584"/>
            <a:ext cx="1077542" cy="430887"/>
          </a:xfrm>
          <a:prstGeom prst="rect">
            <a:avLst/>
          </a:prstGeom>
          <a:solidFill>
            <a:schemeClr val="bg1">
              <a:lumMod val="95000"/>
            </a:schemeClr>
          </a:solidFill>
          <a:ln>
            <a:solidFill>
              <a:schemeClr val="bg1">
                <a:lumMod val="50000"/>
              </a:schemeClr>
            </a:solidFill>
          </a:ln>
        </p:spPr>
        <p:txBody>
          <a:bodyPr wrap="square" rtlCol="0">
            <a:spAutoFit/>
          </a:bodyPr>
          <a:lstStyle/>
          <a:p>
            <a:pPr algn="ctr"/>
            <a:r>
              <a:rPr lang="ko-KR" altLang="en-US" sz="1100" dirty="0" err="1"/>
              <a:t>심결취소소송</a:t>
            </a:r>
            <a:endParaRPr lang="en-US" altLang="ko-KR" sz="1100" dirty="0"/>
          </a:p>
          <a:p>
            <a:pPr algn="ctr"/>
            <a:r>
              <a:rPr lang="ko-KR" altLang="en-US" sz="1100" dirty="0"/>
              <a:t>제기</a:t>
            </a:r>
          </a:p>
        </p:txBody>
      </p:sp>
      <p:sp>
        <p:nvSpPr>
          <p:cNvPr id="29" name="타원 28">
            <a:extLst>
              <a:ext uri="{FF2B5EF4-FFF2-40B4-BE49-F238E27FC236}">
                <a16:creationId xmlns:a16="http://schemas.microsoft.com/office/drawing/2014/main" id="{5374AD15-FB0C-45A5-879A-9037F23DBC63}"/>
              </a:ext>
            </a:extLst>
          </p:cNvPr>
          <p:cNvSpPr/>
          <p:nvPr/>
        </p:nvSpPr>
        <p:spPr>
          <a:xfrm>
            <a:off x="2553898" y="370089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0" name="TextBox 29">
            <a:extLst>
              <a:ext uri="{FF2B5EF4-FFF2-40B4-BE49-F238E27FC236}">
                <a16:creationId xmlns:a16="http://schemas.microsoft.com/office/drawing/2014/main" id="{3117A833-3B8F-49AC-A479-E4430114913D}"/>
              </a:ext>
            </a:extLst>
          </p:cNvPr>
          <p:cNvSpPr txBox="1"/>
          <p:nvPr/>
        </p:nvSpPr>
        <p:spPr>
          <a:xfrm>
            <a:off x="943856" y="3643063"/>
            <a:ext cx="1077542" cy="430887"/>
          </a:xfrm>
          <a:prstGeom prst="rect">
            <a:avLst/>
          </a:prstGeom>
          <a:solidFill>
            <a:schemeClr val="bg1">
              <a:lumMod val="95000"/>
            </a:schemeClr>
          </a:solidFill>
          <a:ln>
            <a:solidFill>
              <a:schemeClr val="bg1">
                <a:lumMod val="50000"/>
              </a:schemeClr>
            </a:solidFill>
          </a:ln>
        </p:spPr>
        <p:txBody>
          <a:bodyPr wrap="square" rtlCol="0">
            <a:spAutoFit/>
          </a:bodyPr>
          <a:lstStyle/>
          <a:p>
            <a:pPr algn="ctr"/>
            <a:r>
              <a:rPr lang="ko-KR" altLang="en-US" sz="1100" dirty="0"/>
              <a:t>인용</a:t>
            </a:r>
            <a:endParaRPr lang="en-US" altLang="ko-KR" sz="1100" dirty="0"/>
          </a:p>
          <a:p>
            <a:pPr algn="ctr"/>
            <a:r>
              <a:rPr lang="en-US" altLang="ko-KR" sz="1100" dirty="0"/>
              <a:t>(2010.11.5)</a:t>
            </a:r>
            <a:endParaRPr lang="ko-KR" altLang="en-US" sz="1100" dirty="0"/>
          </a:p>
        </p:txBody>
      </p:sp>
      <p:sp>
        <p:nvSpPr>
          <p:cNvPr id="31" name="타원 30">
            <a:extLst>
              <a:ext uri="{FF2B5EF4-FFF2-40B4-BE49-F238E27FC236}">
                <a16:creationId xmlns:a16="http://schemas.microsoft.com/office/drawing/2014/main" id="{305182CC-60EE-46E0-A93F-BBD8E1ABA8A6}"/>
              </a:ext>
            </a:extLst>
          </p:cNvPr>
          <p:cNvSpPr/>
          <p:nvPr/>
        </p:nvSpPr>
        <p:spPr>
          <a:xfrm>
            <a:off x="2553898" y="454624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2" name="TextBox 31">
            <a:extLst>
              <a:ext uri="{FF2B5EF4-FFF2-40B4-BE49-F238E27FC236}">
                <a16:creationId xmlns:a16="http://schemas.microsoft.com/office/drawing/2014/main" id="{9EADDBBF-500F-4AEA-8D87-85D6F3B7AD31}"/>
              </a:ext>
            </a:extLst>
          </p:cNvPr>
          <p:cNvSpPr txBox="1"/>
          <p:nvPr/>
        </p:nvSpPr>
        <p:spPr>
          <a:xfrm>
            <a:off x="943856" y="4413333"/>
            <a:ext cx="1077541" cy="430887"/>
          </a:xfrm>
          <a:prstGeom prst="rect">
            <a:avLst/>
          </a:prstGeom>
          <a:solidFill>
            <a:schemeClr val="bg1">
              <a:lumMod val="95000"/>
            </a:schemeClr>
          </a:solidFill>
          <a:ln>
            <a:solidFill>
              <a:schemeClr val="bg1">
                <a:lumMod val="50000"/>
              </a:schemeClr>
            </a:solidFill>
          </a:ln>
        </p:spPr>
        <p:txBody>
          <a:bodyPr wrap="square" rtlCol="0">
            <a:spAutoFit/>
          </a:bodyPr>
          <a:lstStyle/>
          <a:p>
            <a:pPr algn="ctr"/>
            <a:r>
              <a:rPr lang="ko-KR" altLang="en-US" sz="1100" dirty="0" err="1"/>
              <a:t>영국릴리</a:t>
            </a:r>
            <a:endParaRPr lang="en-US" altLang="ko-KR" sz="1100" dirty="0"/>
          </a:p>
          <a:p>
            <a:pPr algn="ctr"/>
            <a:r>
              <a:rPr lang="ko-KR" altLang="en-US" sz="1100" dirty="0"/>
              <a:t>상고</a:t>
            </a:r>
          </a:p>
        </p:txBody>
      </p:sp>
      <p:sp>
        <p:nvSpPr>
          <p:cNvPr id="33" name="타원 32">
            <a:extLst>
              <a:ext uri="{FF2B5EF4-FFF2-40B4-BE49-F238E27FC236}">
                <a16:creationId xmlns:a16="http://schemas.microsoft.com/office/drawing/2014/main" id="{F58632EC-6401-420C-97F1-D6479D57069E}"/>
              </a:ext>
            </a:extLst>
          </p:cNvPr>
          <p:cNvSpPr/>
          <p:nvPr/>
        </p:nvSpPr>
        <p:spPr>
          <a:xfrm>
            <a:off x="2553898" y="522580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4" name="TextBox 33">
            <a:extLst>
              <a:ext uri="{FF2B5EF4-FFF2-40B4-BE49-F238E27FC236}">
                <a16:creationId xmlns:a16="http://schemas.microsoft.com/office/drawing/2014/main" id="{B67BC770-7B39-4E32-96EF-DBC5B7B950E6}"/>
              </a:ext>
            </a:extLst>
          </p:cNvPr>
          <p:cNvSpPr txBox="1"/>
          <p:nvPr/>
        </p:nvSpPr>
        <p:spPr>
          <a:xfrm>
            <a:off x="943856" y="5142092"/>
            <a:ext cx="1037465" cy="430887"/>
          </a:xfrm>
          <a:prstGeom prst="rect">
            <a:avLst/>
          </a:prstGeom>
          <a:solidFill>
            <a:schemeClr val="bg1">
              <a:lumMod val="95000"/>
            </a:schemeClr>
          </a:solidFill>
          <a:ln>
            <a:solidFill>
              <a:schemeClr val="bg1">
                <a:lumMod val="50000"/>
              </a:schemeClr>
            </a:solidFill>
          </a:ln>
        </p:spPr>
        <p:txBody>
          <a:bodyPr wrap="none" rtlCol="0">
            <a:spAutoFit/>
          </a:bodyPr>
          <a:lstStyle/>
          <a:p>
            <a:pPr algn="ctr"/>
            <a:r>
              <a:rPr lang="ko-KR" altLang="en-US" sz="1100" dirty="0"/>
              <a:t>인용</a:t>
            </a:r>
            <a:r>
              <a:rPr lang="en-US" altLang="ko-KR" sz="1100" dirty="0"/>
              <a:t>(</a:t>
            </a:r>
            <a:r>
              <a:rPr lang="ko-KR" altLang="en-US" sz="1100" dirty="0" err="1"/>
              <a:t>파기환송</a:t>
            </a:r>
            <a:r>
              <a:rPr lang="en-US" altLang="ko-KR" sz="1100" dirty="0"/>
              <a:t>)</a:t>
            </a:r>
          </a:p>
          <a:p>
            <a:pPr algn="ctr"/>
            <a:r>
              <a:rPr lang="en-US" altLang="ko-KR" sz="1100" dirty="0"/>
              <a:t>(2012.8.23)</a:t>
            </a:r>
            <a:endParaRPr lang="ko-KR" altLang="en-US" sz="1100" dirty="0"/>
          </a:p>
        </p:txBody>
      </p:sp>
      <p:sp>
        <p:nvSpPr>
          <p:cNvPr id="35" name="타원 34">
            <a:extLst>
              <a:ext uri="{FF2B5EF4-FFF2-40B4-BE49-F238E27FC236}">
                <a16:creationId xmlns:a16="http://schemas.microsoft.com/office/drawing/2014/main" id="{F80161B6-56DC-4AE1-A878-BAF8B68CD4DF}"/>
              </a:ext>
            </a:extLst>
          </p:cNvPr>
          <p:cNvSpPr/>
          <p:nvPr/>
        </p:nvSpPr>
        <p:spPr>
          <a:xfrm>
            <a:off x="2553898" y="567872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6" name="TextBox 35">
            <a:extLst>
              <a:ext uri="{FF2B5EF4-FFF2-40B4-BE49-F238E27FC236}">
                <a16:creationId xmlns:a16="http://schemas.microsoft.com/office/drawing/2014/main" id="{CC921652-DB3D-4DE0-8F0C-C99C9145D510}"/>
              </a:ext>
            </a:extLst>
          </p:cNvPr>
          <p:cNvSpPr txBox="1"/>
          <p:nvPr/>
        </p:nvSpPr>
        <p:spPr>
          <a:xfrm>
            <a:off x="943856" y="5620894"/>
            <a:ext cx="1037465" cy="430887"/>
          </a:xfrm>
          <a:prstGeom prst="rect">
            <a:avLst/>
          </a:prstGeom>
          <a:solidFill>
            <a:schemeClr val="bg1">
              <a:lumMod val="95000"/>
            </a:schemeClr>
          </a:solidFill>
          <a:ln>
            <a:solidFill>
              <a:schemeClr val="bg1">
                <a:lumMod val="50000"/>
              </a:schemeClr>
            </a:solidFill>
          </a:ln>
        </p:spPr>
        <p:txBody>
          <a:bodyPr wrap="square" rtlCol="0">
            <a:spAutoFit/>
          </a:bodyPr>
          <a:lstStyle/>
          <a:p>
            <a:pPr algn="ctr"/>
            <a:r>
              <a:rPr lang="ko-KR" altLang="en-US" sz="1100" dirty="0"/>
              <a:t>기각</a:t>
            </a:r>
            <a:endParaRPr lang="en-US" altLang="ko-KR" sz="1100" dirty="0"/>
          </a:p>
          <a:p>
            <a:pPr algn="ctr"/>
            <a:r>
              <a:rPr lang="en-US" altLang="ko-KR" sz="1100" dirty="0"/>
              <a:t>(2012.12.19)</a:t>
            </a:r>
            <a:endParaRPr lang="ko-KR" altLang="en-US" sz="1100" dirty="0"/>
          </a:p>
        </p:txBody>
      </p:sp>
      <p:sp>
        <p:nvSpPr>
          <p:cNvPr id="37" name="타원 36">
            <a:extLst>
              <a:ext uri="{FF2B5EF4-FFF2-40B4-BE49-F238E27FC236}">
                <a16:creationId xmlns:a16="http://schemas.microsoft.com/office/drawing/2014/main" id="{B5D046CC-8262-456D-B7AC-EA9583E7F5F0}"/>
              </a:ext>
            </a:extLst>
          </p:cNvPr>
          <p:cNvSpPr/>
          <p:nvPr/>
        </p:nvSpPr>
        <p:spPr>
          <a:xfrm>
            <a:off x="2553898" y="624747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8" name="TextBox 37">
            <a:extLst>
              <a:ext uri="{FF2B5EF4-FFF2-40B4-BE49-F238E27FC236}">
                <a16:creationId xmlns:a16="http://schemas.microsoft.com/office/drawing/2014/main" id="{44E6BAF7-5CC1-4FD7-8643-5A5CF8A5568B}"/>
              </a:ext>
            </a:extLst>
          </p:cNvPr>
          <p:cNvSpPr txBox="1"/>
          <p:nvPr/>
        </p:nvSpPr>
        <p:spPr>
          <a:xfrm>
            <a:off x="943855" y="6189646"/>
            <a:ext cx="1037465" cy="430887"/>
          </a:xfrm>
          <a:prstGeom prst="rect">
            <a:avLst/>
          </a:prstGeom>
          <a:solidFill>
            <a:schemeClr val="bg1">
              <a:lumMod val="95000"/>
            </a:schemeClr>
          </a:solidFill>
          <a:ln>
            <a:solidFill>
              <a:schemeClr val="bg1">
                <a:lumMod val="50000"/>
              </a:schemeClr>
            </a:solidFill>
          </a:ln>
        </p:spPr>
        <p:txBody>
          <a:bodyPr wrap="square" rtlCol="0">
            <a:spAutoFit/>
          </a:bodyPr>
          <a:lstStyle/>
          <a:p>
            <a:pPr algn="ctr"/>
            <a:r>
              <a:rPr lang="ko-KR" altLang="en-US" sz="1100" dirty="0"/>
              <a:t>확정</a:t>
            </a:r>
            <a:endParaRPr lang="en-US" altLang="ko-KR" sz="1100" dirty="0"/>
          </a:p>
          <a:p>
            <a:pPr algn="ctr"/>
            <a:r>
              <a:rPr lang="en-US" altLang="ko-KR" sz="1100" dirty="0"/>
              <a:t>(2012.12.21)</a:t>
            </a:r>
            <a:endParaRPr lang="ko-KR" altLang="en-US" sz="1100" dirty="0"/>
          </a:p>
        </p:txBody>
      </p:sp>
      <p:cxnSp>
        <p:nvCxnSpPr>
          <p:cNvPr id="11" name="연결선: 꺾임 10">
            <a:extLst>
              <a:ext uri="{FF2B5EF4-FFF2-40B4-BE49-F238E27FC236}">
                <a16:creationId xmlns:a16="http://schemas.microsoft.com/office/drawing/2014/main" id="{D3FF88C0-4A3B-462E-8C2B-0534FA493793}"/>
              </a:ext>
            </a:extLst>
          </p:cNvPr>
          <p:cNvCxnSpPr>
            <a:stCxn id="8" idx="3"/>
            <a:endCxn id="13" idx="2"/>
          </p:cNvCxnSpPr>
          <p:nvPr/>
        </p:nvCxnSpPr>
        <p:spPr>
          <a:xfrm flipV="1">
            <a:off x="2021398" y="2375816"/>
            <a:ext cx="532500" cy="1786"/>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 name="연결선: 꺾임 21">
            <a:extLst>
              <a:ext uri="{FF2B5EF4-FFF2-40B4-BE49-F238E27FC236}">
                <a16:creationId xmlns:a16="http://schemas.microsoft.com/office/drawing/2014/main" id="{DE36C933-36C9-4C35-BCAA-77DADBAC7D98}"/>
              </a:ext>
            </a:extLst>
          </p:cNvPr>
          <p:cNvCxnSpPr>
            <a:stCxn id="26" idx="3"/>
            <a:endCxn id="25" idx="2"/>
          </p:cNvCxnSpPr>
          <p:nvPr/>
        </p:nvCxnSpPr>
        <p:spPr>
          <a:xfrm flipV="1">
            <a:off x="2021397" y="2796948"/>
            <a:ext cx="532501" cy="76944"/>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0" name="연결선: 꺾임 39">
            <a:extLst>
              <a:ext uri="{FF2B5EF4-FFF2-40B4-BE49-F238E27FC236}">
                <a16:creationId xmlns:a16="http://schemas.microsoft.com/office/drawing/2014/main" id="{A19D6D86-3726-46F3-8CF5-1C9E2D5826F4}"/>
              </a:ext>
            </a:extLst>
          </p:cNvPr>
          <p:cNvCxnSpPr>
            <a:stCxn id="28" idx="3"/>
            <a:endCxn id="27" idx="2"/>
          </p:cNvCxnSpPr>
          <p:nvPr/>
        </p:nvCxnSpPr>
        <p:spPr>
          <a:xfrm flipV="1">
            <a:off x="2021397" y="3222774"/>
            <a:ext cx="532501" cy="131254"/>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2" name="연결선: 꺾임 41">
            <a:extLst>
              <a:ext uri="{FF2B5EF4-FFF2-40B4-BE49-F238E27FC236}">
                <a16:creationId xmlns:a16="http://schemas.microsoft.com/office/drawing/2014/main" id="{B8154D24-D026-4223-9C3B-F144D34C39AD}"/>
              </a:ext>
            </a:extLst>
          </p:cNvPr>
          <p:cNvCxnSpPr>
            <a:stCxn id="30" idx="3"/>
            <a:endCxn id="29" idx="2"/>
          </p:cNvCxnSpPr>
          <p:nvPr/>
        </p:nvCxnSpPr>
        <p:spPr>
          <a:xfrm flipV="1">
            <a:off x="2021398" y="3781563"/>
            <a:ext cx="532500" cy="76944"/>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7" name="연결선: 꺾임 46">
            <a:extLst>
              <a:ext uri="{FF2B5EF4-FFF2-40B4-BE49-F238E27FC236}">
                <a16:creationId xmlns:a16="http://schemas.microsoft.com/office/drawing/2014/main" id="{24B1347B-9CA3-432B-B51D-02573E6E9722}"/>
              </a:ext>
            </a:extLst>
          </p:cNvPr>
          <p:cNvCxnSpPr>
            <a:stCxn id="32" idx="3"/>
            <a:endCxn id="31" idx="2"/>
          </p:cNvCxnSpPr>
          <p:nvPr/>
        </p:nvCxnSpPr>
        <p:spPr>
          <a:xfrm flipV="1">
            <a:off x="2021397" y="4626914"/>
            <a:ext cx="532501" cy="1863"/>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9" name="연결선: 꺾임 48">
            <a:extLst>
              <a:ext uri="{FF2B5EF4-FFF2-40B4-BE49-F238E27FC236}">
                <a16:creationId xmlns:a16="http://schemas.microsoft.com/office/drawing/2014/main" id="{D9045E82-B25C-4F5D-966F-772C7C147AD0}"/>
              </a:ext>
            </a:extLst>
          </p:cNvPr>
          <p:cNvCxnSpPr>
            <a:stCxn id="34" idx="3"/>
            <a:endCxn id="33" idx="2"/>
          </p:cNvCxnSpPr>
          <p:nvPr/>
        </p:nvCxnSpPr>
        <p:spPr>
          <a:xfrm flipV="1">
            <a:off x="1981321" y="5306470"/>
            <a:ext cx="572577" cy="51066"/>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1" name="연결선: 꺾임 50">
            <a:extLst>
              <a:ext uri="{FF2B5EF4-FFF2-40B4-BE49-F238E27FC236}">
                <a16:creationId xmlns:a16="http://schemas.microsoft.com/office/drawing/2014/main" id="{14FF034F-69B0-432D-82C0-9D696F47A2A0}"/>
              </a:ext>
            </a:extLst>
          </p:cNvPr>
          <p:cNvCxnSpPr>
            <a:stCxn id="36" idx="3"/>
            <a:endCxn id="35" idx="2"/>
          </p:cNvCxnSpPr>
          <p:nvPr/>
        </p:nvCxnSpPr>
        <p:spPr>
          <a:xfrm flipV="1">
            <a:off x="1981321" y="5759394"/>
            <a:ext cx="572577" cy="76944"/>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3" name="연결선: 꺾임 52">
            <a:extLst>
              <a:ext uri="{FF2B5EF4-FFF2-40B4-BE49-F238E27FC236}">
                <a16:creationId xmlns:a16="http://schemas.microsoft.com/office/drawing/2014/main" id="{B94EDD56-8CF3-4D1C-B4C0-6BC7BCF60608}"/>
              </a:ext>
            </a:extLst>
          </p:cNvPr>
          <p:cNvCxnSpPr>
            <a:stCxn id="38" idx="3"/>
            <a:endCxn id="37" idx="1"/>
          </p:cNvCxnSpPr>
          <p:nvPr/>
        </p:nvCxnSpPr>
        <p:spPr>
          <a:xfrm flipV="1">
            <a:off x="1981320" y="6328146"/>
            <a:ext cx="572578" cy="76944"/>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5" name="직선 연결선 54">
            <a:extLst>
              <a:ext uri="{FF2B5EF4-FFF2-40B4-BE49-F238E27FC236}">
                <a16:creationId xmlns:a16="http://schemas.microsoft.com/office/drawing/2014/main" id="{9E07BDBE-C007-47E7-8AA7-755BCADF08F0}"/>
              </a:ext>
            </a:extLst>
          </p:cNvPr>
          <p:cNvCxnSpPr/>
          <p:nvPr/>
        </p:nvCxnSpPr>
        <p:spPr>
          <a:xfrm>
            <a:off x="646981" y="4942936"/>
            <a:ext cx="3821502" cy="0"/>
          </a:xfrm>
          <a:prstGeom prst="line">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186B3162-1733-4B53-B1EE-722BF88800AA}"/>
              </a:ext>
            </a:extLst>
          </p:cNvPr>
          <p:cNvSpPr txBox="1"/>
          <p:nvPr/>
        </p:nvSpPr>
        <p:spPr>
          <a:xfrm>
            <a:off x="2859385" y="4789047"/>
            <a:ext cx="2069797" cy="307777"/>
          </a:xfrm>
          <a:prstGeom prst="rect">
            <a:avLst/>
          </a:prstGeom>
          <a:solidFill>
            <a:schemeClr val="bg1">
              <a:lumMod val="65000"/>
            </a:schemeClr>
          </a:solidFill>
          <a:ln>
            <a:solidFill>
              <a:schemeClr val="bg1">
                <a:lumMod val="50000"/>
              </a:schemeClr>
            </a:solidFill>
          </a:ln>
        </p:spPr>
        <p:txBody>
          <a:bodyPr wrap="none" rtlCol="0">
            <a:spAutoFit/>
          </a:bodyPr>
          <a:lstStyle/>
          <a:p>
            <a:r>
              <a:rPr lang="ko-KR" altLang="en-US" sz="1400" dirty="0"/>
              <a:t>존속기간만료</a:t>
            </a:r>
            <a:r>
              <a:rPr lang="en-US" altLang="ko-KR" sz="1400" dirty="0"/>
              <a:t>(2011.4.24)</a:t>
            </a:r>
            <a:endParaRPr lang="ko-KR" altLang="en-US" sz="1400" dirty="0"/>
          </a:p>
        </p:txBody>
      </p:sp>
      <p:sp>
        <p:nvSpPr>
          <p:cNvPr id="58" name="타원 57">
            <a:extLst>
              <a:ext uri="{FF2B5EF4-FFF2-40B4-BE49-F238E27FC236}">
                <a16:creationId xmlns:a16="http://schemas.microsoft.com/office/drawing/2014/main" id="{19B7F3C1-E7B0-4482-B113-810B92F93248}"/>
              </a:ext>
            </a:extLst>
          </p:cNvPr>
          <p:cNvSpPr/>
          <p:nvPr/>
        </p:nvSpPr>
        <p:spPr>
          <a:xfrm>
            <a:off x="2553898" y="1586958"/>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60" name="TextBox 59">
            <a:extLst>
              <a:ext uri="{FF2B5EF4-FFF2-40B4-BE49-F238E27FC236}">
                <a16:creationId xmlns:a16="http://schemas.microsoft.com/office/drawing/2014/main" id="{78B7331B-6A34-4438-BCAF-CDC1AA9B4FEC}"/>
              </a:ext>
            </a:extLst>
          </p:cNvPr>
          <p:cNvSpPr txBox="1"/>
          <p:nvPr/>
        </p:nvSpPr>
        <p:spPr>
          <a:xfrm>
            <a:off x="3355512" y="1631740"/>
            <a:ext cx="2235319" cy="769441"/>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pPr algn="ctr"/>
            <a:r>
              <a:rPr lang="ko-KR" altLang="en-US" sz="1100" dirty="0"/>
              <a:t>건강보험심사평가원에 </a:t>
            </a:r>
            <a:endParaRPr lang="en-US" altLang="ko-KR" sz="1100" dirty="0"/>
          </a:p>
          <a:p>
            <a:pPr algn="ctr"/>
            <a:r>
              <a:rPr lang="ko-KR" altLang="en-US" sz="1100"/>
              <a:t>명인제약</a:t>
            </a:r>
            <a:r>
              <a:rPr lang="en-US" altLang="ko-KR" sz="1100"/>
              <a:t>, </a:t>
            </a:r>
            <a:r>
              <a:rPr lang="ko-KR" altLang="en-US" sz="1100" dirty="0"/>
              <a:t>한미약품 </a:t>
            </a:r>
            <a:r>
              <a:rPr lang="ko-KR" altLang="en-US" sz="1100" dirty="0" err="1"/>
              <a:t>복제약</a:t>
            </a:r>
            <a:r>
              <a:rPr lang="ko-KR" altLang="en-US" sz="1100" dirty="0"/>
              <a:t> 요양급여 등재 신청</a:t>
            </a:r>
            <a:endParaRPr lang="en-US" altLang="ko-KR" sz="1100" dirty="0"/>
          </a:p>
          <a:p>
            <a:pPr algn="ctr"/>
            <a:r>
              <a:rPr lang="en-US" altLang="ko-KR" sz="1100" dirty="0"/>
              <a:t>(2011.4.24 </a:t>
            </a:r>
            <a:r>
              <a:rPr lang="ko-KR" altLang="en-US" sz="1100" dirty="0"/>
              <a:t>이후 판매</a:t>
            </a:r>
            <a:r>
              <a:rPr lang="en-US" altLang="ko-KR" sz="1100" dirty="0"/>
              <a:t>)</a:t>
            </a:r>
            <a:endParaRPr lang="ko-KR" altLang="en-US" sz="1100" dirty="0"/>
          </a:p>
        </p:txBody>
      </p:sp>
      <p:sp>
        <p:nvSpPr>
          <p:cNvPr id="61" name="타원 60">
            <a:extLst>
              <a:ext uri="{FF2B5EF4-FFF2-40B4-BE49-F238E27FC236}">
                <a16:creationId xmlns:a16="http://schemas.microsoft.com/office/drawing/2014/main" id="{1965996D-F263-4363-BF30-AEF3F31BB7AD}"/>
              </a:ext>
            </a:extLst>
          </p:cNvPr>
          <p:cNvSpPr/>
          <p:nvPr/>
        </p:nvSpPr>
        <p:spPr>
          <a:xfrm>
            <a:off x="2553898" y="1949413"/>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62" name="TextBox 61">
            <a:extLst>
              <a:ext uri="{FF2B5EF4-FFF2-40B4-BE49-F238E27FC236}">
                <a16:creationId xmlns:a16="http://schemas.microsoft.com/office/drawing/2014/main" id="{2A67BBF2-C94A-430F-A165-33578C66A588}"/>
              </a:ext>
            </a:extLst>
          </p:cNvPr>
          <p:cNvSpPr txBox="1"/>
          <p:nvPr/>
        </p:nvSpPr>
        <p:spPr>
          <a:xfrm>
            <a:off x="3355512" y="2442133"/>
            <a:ext cx="2235319" cy="600164"/>
          </a:xfrm>
          <a:prstGeom prst="rect">
            <a:avLst/>
          </a:prstGeom>
          <a:noFill/>
          <a:ln>
            <a:solidFill>
              <a:schemeClr val="bg1">
                <a:lumMod val="50000"/>
              </a:schemeClr>
            </a:solidFill>
          </a:ln>
        </p:spPr>
        <p:txBody>
          <a:bodyPr wrap="square" rtlCol="0">
            <a:spAutoFit/>
          </a:bodyPr>
          <a:lstStyle/>
          <a:p>
            <a:pPr algn="ctr"/>
            <a:r>
              <a:rPr lang="en-US" altLang="ko-KR" sz="1100" dirty="0"/>
              <a:t>(</a:t>
            </a:r>
            <a:r>
              <a:rPr lang="ko-KR" altLang="en-US" sz="1100" dirty="0"/>
              <a:t>보건복지부 장관</a:t>
            </a:r>
            <a:r>
              <a:rPr lang="en-US" altLang="ko-KR" sz="1100" dirty="0"/>
              <a:t>)</a:t>
            </a:r>
            <a:r>
              <a:rPr lang="ko-KR" altLang="en-US" sz="1100" dirty="0"/>
              <a:t> </a:t>
            </a:r>
            <a:r>
              <a:rPr lang="ko-KR" altLang="en-US" sz="1100" dirty="0" err="1"/>
              <a:t>영국릴리제품의</a:t>
            </a:r>
            <a:r>
              <a:rPr lang="ko-KR" altLang="en-US" sz="1100" dirty="0"/>
              <a:t> 약가 인하 고시</a:t>
            </a:r>
            <a:endParaRPr lang="en-US" altLang="ko-KR" sz="1100" dirty="0"/>
          </a:p>
          <a:p>
            <a:pPr algn="ctr"/>
            <a:r>
              <a:rPr lang="en-US" altLang="ko-KR" sz="1100" dirty="0"/>
              <a:t>(2011.4.25</a:t>
            </a:r>
            <a:r>
              <a:rPr lang="ko-KR" altLang="en-US" sz="1100" dirty="0"/>
              <a:t>부터</a:t>
            </a:r>
            <a:r>
              <a:rPr lang="en-US" altLang="ko-KR" sz="1100" dirty="0"/>
              <a:t>)</a:t>
            </a:r>
            <a:endParaRPr lang="ko-KR" altLang="en-US" sz="1100" dirty="0"/>
          </a:p>
        </p:txBody>
      </p:sp>
      <p:sp>
        <p:nvSpPr>
          <p:cNvPr id="63" name="TextBox 62">
            <a:extLst>
              <a:ext uri="{FF2B5EF4-FFF2-40B4-BE49-F238E27FC236}">
                <a16:creationId xmlns:a16="http://schemas.microsoft.com/office/drawing/2014/main" id="{4A0800B3-FA66-44EA-8A6A-F2F0334453DB}"/>
              </a:ext>
            </a:extLst>
          </p:cNvPr>
          <p:cNvSpPr txBox="1"/>
          <p:nvPr/>
        </p:nvSpPr>
        <p:spPr>
          <a:xfrm>
            <a:off x="3355512" y="3114715"/>
            <a:ext cx="2235319" cy="769441"/>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pPr algn="ctr"/>
            <a:r>
              <a:rPr lang="ko-KR" altLang="en-US" sz="1100" dirty="0"/>
              <a:t>건강보험심사평가원에 </a:t>
            </a:r>
            <a:endParaRPr lang="en-US" altLang="ko-KR" sz="1100" dirty="0"/>
          </a:p>
          <a:p>
            <a:pPr algn="ctr"/>
            <a:r>
              <a:rPr lang="ko-KR" altLang="en-US" sz="1100" dirty="0"/>
              <a:t>명인제약</a:t>
            </a:r>
            <a:r>
              <a:rPr lang="en-US" altLang="ko-KR" sz="1100" dirty="0"/>
              <a:t>, </a:t>
            </a:r>
            <a:r>
              <a:rPr lang="ko-KR" altLang="en-US" sz="1100" dirty="0"/>
              <a:t>한미약품 </a:t>
            </a:r>
            <a:r>
              <a:rPr lang="ko-KR" altLang="en-US" sz="1100" dirty="0" err="1"/>
              <a:t>복제약</a:t>
            </a:r>
            <a:r>
              <a:rPr lang="ko-KR" altLang="en-US" sz="1100" dirty="0"/>
              <a:t> 요양급여 변경 신청</a:t>
            </a:r>
            <a:endParaRPr lang="en-US" altLang="ko-KR" sz="1100" dirty="0"/>
          </a:p>
          <a:p>
            <a:pPr algn="ctr"/>
            <a:r>
              <a:rPr lang="en-US" altLang="ko-KR" sz="1100" dirty="0"/>
              <a:t>(2010.11.10 </a:t>
            </a:r>
            <a:r>
              <a:rPr lang="ko-KR" altLang="en-US" sz="1100" dirty="0"/>
              <a:t>즉시 판매</a:t>
            </a:r>
            <a:r>
              <a:rPr lang="en-US" altLang="ko-KR" sz="1100" dirty="0"/>
              <a:t>)</a:t>
            </a:r>
            <a:endParaRPr lang="ko-KR" altLang="en-US" sz="1100" dirty="0"/>
          </a:p>
        </p:txBody>
      </p:sp>
      <p:sp>
        <p:nvSpPr>
          <p:cNvPr id="64" name="타원 63">
            <a:extLst>
              <a:ext uri="{FF2B5EF4-FFF2-40B4-BE49-F238E27FC236}">
                <a16:creationId xmlns:a16="http://schemas.microsoft.com/office/drawing/2014/main" id="{ADB27E68-B7E2-47FC-BD8C-B1675EE997E2}"/>
              </a:ext>
            </a:extLst>
          </p:cNvPr>
          <p:cNvSpPr/>
          <p:nvPr/>
        </p:nvSpPr>
        <p:spPr>
          <a:xfrm>
            <a:off x="2553898" y="4027342"/>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65" name="TextBox 64">
            <a:extLst>
              <a:ext uri="{FF2B5EF4-FFF2-40B4-BE49-F238E27FC236}">
                <a16:creationId xmlns:a16="http://schemas.microsoft.com/office/drawing/2014/main" id="{84EE232F-6524-487E-AA84-5F75911239C3}"/>
              </a:ext>
            </a:extLst>
          </p:cNvPr>
          <p:cNvSpPr txBox="1"/>
          <p:nvPr/>
        </p:nvSpPr>
        <p:spPr>
          <a:xfrm>
            <a:off x="3355512" y="3973220"/>
            <a:ext cx="2235319" cy="600164"/>
          </a:xfrm>
          <a:prstGeom prst="rect">
            <a:avLst/>
          </a:prstGeom>
          <a:noFill/>
          <a:ln>
            <a:solidFill>
              <a:schemeClr val="bg1">
                <a:lumMod val="50000"/>
              </a:schemeClr>
            </a:solidFill>
          </a:ln>
        </p:spPr>
        <p:txBody>
          <a:bodyPr wrap="square" rtlCol="0">
            <a:spAutoFit/>
          </a:bodyPr>
          <a:lstStyle/>
          <a:p>
            <a:pPr algn="ctr"/>
            <a:r>
              <a:rPr lang="en-US" altLang="ko-KR" sz="1100" dirty="0"/>
              <a:t>(</a:t>
            </a:r>
            <a:r>
              <a:rPr lang="ko-KR" altLang="en-US" sz="1100" dirty="0"/>
              <a:t>보건복지부 장관</a:t>
            </a:r>
            <a:r>
              <a:rPr lang="en-US" altLang="ko-KR" sz="1100" dirty="0"/>
              <a:t>)</a:t>
            </a:r>
            <a:r>
              <a:rPr lang="ko-KR" altLang="en-US" sz="1100" dirty="0"/>
              <a:t> </a:t>
            </a:r>
            <a:r>
              <a:rPr lang="ko-KR" altLang="en-US" sz="1100" dirty="0" err="1"/>
              <a:t>영국릴리제품의</a:t>
            </a:r>
            <a:r>
              <a:rPr lang="ko-KR" altLang="en-US" sz="1100" dirty="0"/>
              <a:t> 약가 인하 변경 고시</a:t>
            </a:r>
            <a:endParaRPr lang="en-US" altLang="ko-KR" sz="1100" dirty="0"/>
          </a:p>
          <a:p>
            <a:pPr algn="ctr"/>
            <a:r>
              <a:rPr lang="en-US" altLang="ko-KR" sz="1100" dirty="0"/>
              <a:t>(2011.1.1</a:t>
            </a:r>
            <a:r>
              <a:rPr lang="ko-KR" altLang="en-US" sz="1100" dirty="0"/>
              <a:t>부터</a:t>
            </a:r>
            <a:r>
              <a:rPr lang="en-US" altLang="ko-KR" sz="1100" dirty="0"/>
              <a:t>)</a:t>
            </a:r>
            <a:endParaRPr lang="ko-KR" altLang="en-US" sz="1100" dirty="0"/>
          </a:p>
        </p:txBody>
      </p:sp>
      <p:sp>
        <p:nvSpPr>
          <p:cNvPr id="66" name="타원 65">
            <a:extLst>
              <a:ext uri="{FF2B5EF4-FFF2-40B4-BE49-F238E27FC236}">
                <a16:creationId xmlns:a16="http://schemas.microsoft.com/office/drawing/2014/main" id="{395F48E8-58E0-4B40-B176-FAEB50527AD9}"/>
              </a:ext>
            </a:extLst>
          </p:cNvPr>
          <p:cNvSpPr/>
          <p:nvPr/>
        </p:nvSpPr>
        <p:spPr>
          <a:xfrm>
            <a:off x="2553898" y="4286042"/>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67" name="타원 66">
            <a:extLst>
              <a:ext uri="{FF2B5EF4-FFF2-40B4-BE49-F238E27FC236}">
                <a16:creationId xmlns:a16="http://schemas.microsoft.com/office/drawing/2014/main" id="{2C9B0D4E-7042-4EF5-8A34-C9FE31C4E446}"/>
              </a:ext>
            </a:extLst>
          </p:cNvPr>
          <p:cNvSpPr/>
          <p:nvPr/>
        </p:nvSpPr>
        <p:spPr>
          <a:xfrm>
            <a:off x="8902725" y="565796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8" name="연결선: 꺾임 67">
            <a:extLst>
              <a:ext uri="{FF2B5EF4-FFF2-40B4-BE49-F238E27FC236}">
                <a16:creationId xmlns:a16="http://schemas.microsoft.com/office/drawing/2014/main" id="{F826A778-6777-407F-906A-EEFB91B9F57E}"/>
              </a:ext>
            </a:extLst>
          </p:cNvPr>
          <p:cNvCxnSpPr>
            <a:cxnSpLocks/>
            <a:endCxn id="58" idx="6"/>
          </p:cNvCxnSpPr>
          <p:nvPr/>
        </p:nvCxnSpPr>
        <p:spPr>
          <a:xfrm rot="10800000">
            <a:off x="2708636" y="1667628"/>
            <a:ext cx="646874" cy="179557"/>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2" name="연결선: 꺾임 71">
            <a:extLst>
              <a:ext uri="{FF2B5EF4-FFF2-40B4-BE49-F238E27FC236}">
                <a16:creationId xmlns:a16="http://schemas.microsoft.com/office/drawing/2014/main" id="{549549E1-F9E3-4B3F-B19A-116999FF6B24}"/>
              </a:ext>
            </a:extLst>
          </p:cNvPr>
          <p:cNvCxnSpPr>
            <a:cxnSpLocks/>
            <a:stCxn id="63" idx="1"/>
            <a:endCxn id="64" idx="6"/>
          </p:cNvCxnSpPr>
          <p:nvPr/>
        </p:nvCxnSpPr>
        <p:spPr>
          <a:xfrm rot="10800000" flipV="1">
            <a:off x="2708636" y="3499435"/>
            <a:ext cx="646876" cy="608575"/>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 name="연결선: 꺾임 75">
            <a:extLst>
              <a:ext uri="{FF2B5EF4-FFF2-40B4-BE49-F238E27FC236}">
                <a16:creationId xmlns:a16="http://schemas.microsoft.com/office/drawing/2014/main" id="{18664F3E-3110-4B6B-A410-2AFECEE2C343}"/>
              </a:ext>
            </a:extLst>
          </p:cNvPr>
          <p:cNvCxnSpPr>
            <a:cxnSpLocks/>
            <a:stCxn id="62" idx="1"/>
            <a:endCxn id="61" idx="6"/>
          </p:cNvCxnSpPr>
          <p:nvPr/>
        </p:nvCxnSpPr>
        <p:spPr>
          <a:xfrm rot="10800000">
            <a:off x="2708636" y="2030083"/>
            <a:ext cx="646876" cy="712133"/>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0" name="연결선: 꺾임 79">
            <a:extLst>
              <a:ext uri="{FF2B5EF4-FFF2-40B4-BE49-F238E27FC236}">
                <a16:creationId xmlns:a16="http://schemas.microsoft.com/office/drawing/2014/main" id="{DE0623C2-4CFA-4DE0-9EEA-9307CC65DBBE}"/>
              </a:ext>
            </a:extLst>
          </p:cNvPr>
          <p:cNvCxnSpPr>
            <a:cxnSpLocks/>
            <a:stCxn id="65" idx="1"/>
            <a:endCxn id="66" idx="6"/>
          </p:cNvCxnSpPr>
          <p:nvPr/>
        </p:nvCxnSpPr>
        <p:spPr>
          <a:xfrm rot="10800000" flipV="1">
            <a:off x="2708636" y="4273301"/>
            <a:ext cx="646876" cy="93409"/>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745E0076-FD89-449D-8351-A15CA7CAD3B6}"/>
              </a:ext>
            </a:extLst>
          </p:cNvPr>
          <p:cNvSpPr txBox="1"/>
          <p:nvPr/>
        </p:nvSpPr>
        <p:spPr>
          <a:xfrm>
            <a:off x="6337099" y="5667491"/>
            <a:ext cx="2147166" cy="600164"/>
          </a:xfrm>
          <a:prstGeom prst="rect">
            <a:avLst/>
          </a:prstGeom>
          <a:solidFill>
            <a:schemeClr val="accent2">
              <a:lumMod val="20000"/>
              <a:lumOff val="80000"/>
            </a:schemeClr>
          </a:solidFill>
          <a:ln>
            <a:solidFill>
              <a:schemeClr val="bg1">
                <a:lumMod val="50000"/>
              </a:schemeClr>
            </a:solidFill>
          </a:ln>
        </p:spPr>
        <p:txBody>
          <a:bodyPr wrap="square" rtlCol="0">
            <a:spAutoFit/>
          </a:bodyPr>
          <a:lstStyle/>
          <a:p>
            <a:pPr algn="ctr"/>
            <a:r>
              <a:rPr lang="ko-KR" altLang="en-US" sz="1100" dirty="0" err="1"/>
              <a:t>영국릴리</a:t>
            </a:r>
            <a:r>
              <a:rPr lang="en-US" altLang="ko-KR" sz="1100" dirty="0"/>
              <a:t>, </a:t>
            </a:r>
            <a:r>
              <a:rPr lang="ko-KR" altLang="en-US" sz="1100" dirty="0" err="1"/>
              <a:t>한국릴리</a:t>
            </a:r>
            <a:r>
              <a:rPr lang="ko-KR" altLang="en-US" sz="1100" dirty="0"/>
              <a:t> </a:t>
            </a:r>
            <a:endParaRPr lang="en-US" altLang="ko-KR" sz="1100" dirty="0"/>
          </a:p>
          <a:p>
            <a:pPr algn="ctr"/>
            <a:r>
              <a:rPr lang="ko-KR" altLang="en-US" sz="1100" dirty="0"/>
              <a:t>한미약품 상대로 손해배상 소송</a:t>
            </a:r>
            <a:endParaRPr lang="en-US" altLang="ko-KR" sz="1100" dirty="0"/>
          </a:p>
          <a:p>
            <a:pPr algn="ctr"/>
            <a:r>
              <a:rPr lang="en-US" altLang="ko-KR" sz="1100" dirty="0"/>
              <a:t>(2014.4.18)</a:t>
            </a:r>
            <a:endParaRPr lang="ko-KR" altLang="en-US" sz="1100" dirty="0"/>
          </a:p>
        </p:txBody>
      </p:sp>
      <p:sp>
        <p:nvSpPr>
          <p:cNvPr id="92" name="타원 91">
            <a:extLst>
              <a:ext uri="{FF2B5EF4-FFF2-40B4-BE49-F238E27FC236}">
                <a16:creationId xmlns:a16="http://schemas.microsoft.com/office/drawing/2014/main" id="{D04E3322-A349-44F9-A795-B86BD08E5526}"/>
              </a:ext>
            </a:extLst>
          </p:cNvPr>
          <p:cNvSpPr/>
          <p:nvPr/>
        </p:nvSpPr>
        <p:spPr>
          <a:xfrm>
            <a:off x="8902725" y="5004080"/>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93" name="TextBox 92">
            <a:extLst>
              <a:ext uri="{FF2B5EF4-FFF2-40B4-BE49-F238E27FC236}">
                <a16:creationId xmlns:a16="http://schemas.microsoft.com/office/drawing/2014/main" id="{62C540C6-BEFB-4EE3-B195-8DC46DE97DA1}"/>
              </a:ext>
            </a:extLst>
          </p:cNvPr>
          <p:cNvSpPr txBox="1"/>
          <p:nvPr/>
        </p:nvSpPr>
        <p:spPr>
          <a:xfrm>
            <a:off x="6337099" y="4763448"/>
            <a:ext cx="2147166" cy="769441"/>
          </a:xfrm>
          <a:prstGeom prst="rect">
            <a:avLst/>
          </a:prstGeom>
          <a:solidFill>
            <a:schemeClr val="accent2">
              <a:lumMod val="20000"/>
              <a:lumOff val="80000"/>
            </a:schemeClr>
          </a:solidFill>
          <a:ln>
            <a:solidFill>
              <a:schemeClr val="bg1">
                <a:lumMod val="50000"/>
              </a:schemeClr>
            </a:solidFill>
          </a:ln>
        </p:spPr>
        <p:txBody>
          <a:bodyPr wrap="square" rtlCol="0">
            <a:spAutoFit/>
          </a:bodyPr>
          <a:lstStyle/>
          <a:p>
            <a:pPr algn="ctr"/>
            <a:r>
              <a:rPr lang="ko-KR" altLang="en-US" sz="1100" dirty="0" err="1"/>
              <a:t>영국릴리</a:t>
            </a:r>
            <a:r>
              <a:rPr lang="ko-KR" altLang="en-US" sz="1100" dirty="0"/>
              <a:t> 인용</a:t>
            </a:r>
            <a:endParaRPr lang="en-US" altLang="ko-KR" sz="1100" dirty="0"/>
          </a:p>
          <a:p>
            <a:pPr algn="ctr"/>
            <a:r>
              <a:rPr lang="ko-KR" altLang="en-US" sz="1100" dirty="0" err="1"/>
              <a:t>한국릴리</a:t>
            </a:r>
            <a:r>
              <a:rPr lang="ko-KR" altLang="en-US" sz="1100" dirty="0"/>
              <a:t> 기각</a:t>
            </a:r>
            <a:endParaRPr lang="en-US" altLang="ko-KR" sz="1100" dirty="0"/>
          </a:p>
          <a:p>
            <a:pPr algn="ctr"/>
            <a:r>
              <a:rPr lang="en-US" altLang="ko-KR" sz="1100" dirty="0"/>
              <a:t>(</a:t>
            </a:r>
            <a:r>
              <a:rPr lang="ko-KR" altLang="en-US" sz="1100" dirty="0"/>
              <a:t>서울중앙지방법원 </a:t>
            </a:r>
            <a:r>
              <a:rPr lang="en-US" altLang="ko-KR" sz="1100" dirty="0"/>
              <a:t>2015. 6. 19. </a:t>
            </a:r>
            <a:r>
              <a:rPr lang="ko-KR" altLang="en-US" sz="1100" dirty="0"/>
              <a:t>선고 </a:t>
            </a:r>
            <a:r>
              <a:rPr lang="en-US" altLang="ko-KR" sz="1100" dirty="0"/>
              <a:t>2014</a:t>
            </a:r>
            <a:r>
              <a:rPr lang="ko-KR" altLang="en-US" sz="1100" dirty="0"/>
              <a:t>가합</a:t>
            </a:r>
            <a:r>
              <a:rPr lang="en-US" altLang="ko-KR" sz="1100" dirty="0"/>
              <a:t>526972 </a:t>
            </a:r>
            <a:r>
              <a:rPr lang="ko-KR" altLang="en-US" sz="1100" dirty="0"/>
              <a:t>판결</a:t>
            </a:r>
            <a:r>
              <a:rPr lang="en-US" altLang="ko-KR" sz="1100" dirty="0"/>
              <a:t>)</a:t>
            </a:r>
            <a:endParaRPr lang="ko-KR" altLang="en-US" sz="1100" dirty="0"/>
          </a:p>
        </p:txBody>
      </p:sp>
      <p:sp>
        <p:nvSpPr>
          <p:cNvPr id="94" name="TextBox 93">
            <a:extLst>
              <a:ext uri="{FF2B5EF4-FFF2-40B4-BE49-F238E27FC236}">
                <a16:creationId xmlns:a16="http://schemas.microsoft.com/office/drawing/2014/main" id="{8890EEE3-E07F-442E-B251-D8E5AC27171D}"/>
              </a:ext>
            </a:extLst>
          </p:cNvPr>
          <p:cNvSpPr txBox="1"/>
          <p:nvPr/>
        </p:nvSpPr>
        <p:spPr>
          <a:xfrm>
            <a:off x="6337099" y="4210650"/>
            <a:ext cx="2147166" cy="430887"/>
          </a:xfrm>
          <a:prstGeom prst="rect">
            <a:avLst/>
          </a:prstGeom>
          <a:solidFill>
            <a:schemeClr val="accent2">
              <a:lumMod val="20000"/>
              <a:lumOff val="80000"/>
            </a:schemeClr>
          </a:solidFill>
          <a:ln>
            <a:solidFill>
              <a:schemeClr val="bg1">
                <a:lumMod val="50000"/>
              </a:schemeClr>
            </a:solidFill>
          </a:ln>
        </p:spPr>
        <p:txBody>
          <a:bodyPr wrap="square" rtlCol="0">
            <a:spAutoFit/>
          </a:bodyPr>
          <a:lstStyle/>
          <a:p>
            <a:pPr algn="ctr"/>
            <a:r>
              <a:rPr lang="ko-KR" altLang="en-US" sz="1100" dirty="0" err="1"/>
              <a:t>한국릴리</a:t>
            </a:r>
            <a:r>
              <a:rPr lang="ko-KR" altLang="en-US" sz="1100" dirty="0"/>
              <a:t> 항소</a:t>
            </a:r>
            <a:endParaRPr lang="en-US" altLang="ko-KR" sz="1100" dirty="0"/>
          </a:p>
          <a:p>
            <a:pPr algn="ctr"/>
            <a:r>
              <a:rPr lang="en-US" altLang="ko-KR" sz="1100" dirty="0"/>
              <a:t>(2015.7.9)</a:t>
            </a:r>
            <a:endParaRPr lang="ko-KR" altLang="en-US" sz="1100" dirty="0"/>
          </a:p>
        </p:txBody>
      </p:sp>
      <p:sp>
        <p:nvSpPr>
          <p:cNvPr id="95" name="TextBox 94">
            <a:extLst>
              <a:ext uri="{FF2B5EF4-FFF2-40B4-BE49-F238E27FC236}">
                <a16:creationId xmlns:a16="http://schemas.microsoft.com/office/drawing/2014/main" id="{7585A82C-ABBE-4406-9AF1-CBADB5E0DC54}"/>
              </a:ext>
            </a:extLst>
          </p:cNvPr>
          <p:cNvSpPr txBox="1"/>
          <p:nvPr/>
        </p:nvSpPr>
        <p:spPr>
          <a:xfrm>
            <a:off x="6337099" y="3514453"/>
            <a:ext cx="2147166" cy="600164"/>
          </a:xfrm>
          <a:prstGeom prst="rect">
            <a:avLst/>
          </a:prstGeom>
          <a:solidFill>
            <a:schemeClr val="accent2">
              <a:lumMod val="20000"/>
              <a:lumOff val="80000"/>
            </a:schemeClr>
          </a:solidFill>
          <a:ln>
            <a:solidFill>
              <a:schemeClr val="bg1">
                <a:lumMod val="50000"/>
              </a:schemeClr>
            </a:solidFill>
          </a:ln>
        </p:spPr>
        <p:txBody>
          <a:bodyPr wrap="square" rtlCol="0">
            <a:spAutoFit/>
          </a:bodyPr>
          <a:lstStyle/>
          <a:p>
            <a:pPr algn="ctr"/>
            <a:r>
              <a:rPr lang="ko-KR" altLang="en-US" sz="1100" dirty="0"/>
              <a:t>기각</a:t>
            </a:r>
            <a:endParaRPr lang="en-US" altLang="ko-KR" sz="1100" dirty="0"/>
          </a:p>
          <a:p>
            <a:pPr algn="ctr"/>
            <a:r>
              <a:rPr lang="en-US" altLang="ko-KR" sz="1100" dirty="0"/>
              <a:t>(</a:t>
            </a:r>
            <a:r>
              <a:rPr lang="ko-KR" altLang="en-US" sz="1100" dirty="0"/>
              <a:t>서울고등법원 </a:t>
            </a:r>
            <a:r>
              <a:rPr lang="en-US" altLang="ko-KR" sz="1100" dirty="0"/>
              <a:t>2016. 10. 6. </a:t>
            </a:r>
            <a:r>
              <a:rPr lang="ko-KR" altLang="en-US" sz="1100" dirty="0"/>
              <a:t>선고 </a:t>
            </a:r>
            <a:r>
              <a:rPr lang="en-US" altLang="ko-KR" sz="1100" dirty="0"/>
              <a:t>2015</a:t>
            </a:r>
            <a:r>
              <a:rPr lang="ko-KR" altLang="en-US" sz="1100" dirty="0"/>
              <a:t>나</a:t>
            </a:r>
            <a:r>
              <a:rPr lang="en-US" altLang="ko-KR" sz="1100" dirty="0"/>
              <a:t>2040348 </a:t>
            </a:r>
            <a:r>
              <a:rPr lang="ko-KR" altLang="en-US" sz="1100" dirty="0"/>
              <a:t>판결</a:t>
            </a:r>
            <a:r>
              <a:rPr lang="en-US" altLang="ko-KR" sz="1100" dirty="0"/>
              <a:t>)</a:t>
            </a:r>
            <a:endParaRPr lang="ko-KR" altLang="en-US" sz="1100" dirty="0"/>
          </a:p>
        </p:txBody>
      </p:sp>
      <p:sp>
        <p:nvSpPr>
          <p:cNvPr id="96" name="TextBox 95">
            <a:extLst>
              <a:ext uri="{FF2B5EF4-FFF2-40B4-BE49-F238E27FC236}">
                <a16:creationId xmlns:a16="http://schemas.microsoft.com/office/drawing/2014/main" id="{0D816325-5A39-4EE0-B115-6FF31D00319F}"/>
              </a:ext>
            </a:extLst>
          </p:cNvPr>
          <p:cNvSpPr txBox="1"/>
          <p:nvPr/>
        </p:nvSpPr>
        <p:spPr>
          <a:xfrm>
            <a:off x="6337099" y="3082674"/>
            <a:ext cx="2147166" cy="261610"/>
          </a:xfrm>
          <a:prstGeom prst="rect">
            <a:avLst/>
          </a:prstGeom>
          <a:solidFill>
            <a:schemeClr val="accent2">
              <a:lumMod val="20000"/>
              <a:lumOff val="80000"/>
            </a:schemeClr>
          </a:solidFill>
          <a:ln>
            <a:solidFill>
              <a:schemeClr val="bg1">
                <a:lumMod val="50000"/>
              </a:schemeClr>
            </a:solidFill>
          </a:ln>
        </p:spPr>
        <p:txBody>
          <a:bodyPr wrap="square" rtlCol="0">
            <a:spAutoFit/>
          </a:bodyPr>
          <a:lstStyle/>
          <a:p>
            <a:pPr algn="ctr"/>
            <a:r>
              <a:rPr lang="ko-KR" altLang="en-US" sz="1100" dirty="0" err="1"/>
              <a:t>한국릴리</a:t>
            </a:r>
            <a:r>
              <a:rPr lang="ko-KR" altLang="en-US" sz="1100" dirty="0"/>
              <a:t> 상고</a:t>
            </a:r>
          </a:p>
        </p:txBody>
      </p:sp>
      <p:sp>
        <p:nvSpPr>
          <p:cNvPr id="97" name="TextBox 96">
            <a:extLst>
              <a:ext uri="{FF2B5EF4-FFF2-40B4-BE49-F238E27FC236}">
                <a16:creationId xmlns:a16="http://schemas.microsoft.com/office/drawing/2014/main" id="{598292C4-834F-4519-9A3C-772949E8B090}"/>
              </a:ext>
            </a:extLst>
          </p:cNvPr>
          <p:cNvSpPr txBox="1"/>
          <p:nvPr/>
        </p:nvSpPr>
        <p:spPr>
          <a:xfrm>
            <a:off x="6337099" y="2013961"/>
            <a:ext cx="2147166" cy="600164"/>
          </a:xfrm>
          <a:prstGeom prst="rect">
            <a:avLst/>
          </a:prstGeom>
          <a:solidFill>
            <a:schemeClr val="accent2">
              <a:lumMod val="20000"/>
              <a:lumOff val="80000"/>
            </a:schemeClr>
          </a:solidFill>
          <a:ln>
            <a:solidFill>
              <a:schemeClr val="bg1">
                <a:lumMod val="50000"/>
              </a:schemeClr>
            </a:solidFill>
          </a:ln>
        </p:spPr>
        <p:txBody>
          <a:bodyPr wrap="square" rtlCol="0">
            <a:spAutoFit/>
          </a:bodyPr>
          <a:lstStyle/>
          <a:p>
            <a:pPr algn="ctr"/>
            <a:r>
              <a:rPr lang="ko-KR" altLang="en-US" sz="1100" dirty="0"/>
              <a:t>기각</a:t>
            </a:r>
            <a:endParaRPr lang="en-US" altLang="ko-KR" sz="1100" dirty="0"/>
          </a:p>
          <a:p>
            <a:pPr algn="ctr"/>
            <a:r>
              <a:rPr lang="en-US" altLang="ko-KR" sz="1100" dirty="0"/>
              <a:t>(</a:t>
            </a:r>
            <a:r>
              <a:rPr lang="ko-KR" altLang="en-US" sz="1100" dirty="0"/>
              <a:t>대법원 </a:t>
            </a:r>
            <a:r>
              <a:rPr lang="en-US" altLang="ko-KR" sz="1100" dirty="0"/>
              <a:t>2020. 11. 26. </a:t>
            </a:r>
            <a:r>
              <a:rPr lang="ko-KR" altLang="en-US" sz="1100" dirty="0"/>
              <a:t>선고 </a:t>
            </a:r>
            <a:r>
              <a:rPr lang="en-US" altLang="ko-KR" sz="1100" dirty="0"/>
              <a:t>2015</a:t>
            </a:r>
            <a:r>
              <a:rPr lang="ko-KR" altLang="en-US" sz="1100" dirty="0"/>
              <a:t>다</a:t>
            </a:r>
            <a:r>
              <a:rPr lang="en-US" altLang="ko-KR" sz="1100" dirty="0"/>
              <a:t>260707 </a:t>
            </a:r>
            <a:r>
              <a:rPr lang="ko-KR" altLang="en-US" sz="1100" dirty="0"/>
              <a:t>판결</a:t>
            </a:r>
            <a:r>
              <a:rPr lang="en-US" altLang="ko-KR" sz="1100" dirty="0"/>
              <a:t>)</a:t>
            </a:r>
            <a:endParaRPr lang="ko-KR" altLang="en-US" sz="1100" dirty="0"/>
          </a:p>
        </p:txBody>
      </p:sp>
      <p:sp>
        <p:nvSpPr>
          <p:cNvPr id="98" name="타원 97">
            <a:extLst>
              <a:ext uri="{FF2B5EF4-FFF2-40B4-BE49-F238E27FC236}">
                <a16:creationId xmlns:a16="http://schemas.microsoft.com/office/drawing/2014/main" id="{9BD4DA98-7BA3-40B2-947A-6541051F441D}"/>
              </a:ext>
            </a:extLst>
          </p:cNvPr>
          <p:cNvSpPr/>
          <p:nvPr/>
        </p:nvSpPr>
        <p:spPr>
          <a:xfrm>
            <a:off x="8902725" y="4735825"/>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99" name="타원 98">
            <a:extLst>
              <a:ext uri="{FF2B5EF4-FFF2-40B4-BE49-F238E27FC236}">
                <a16:creationId xmlns:a16="http://schemas.microsoft.com/office/drawing/2014/main" id="{124E0653-9D13-414D-90AE-7E4F499898FF}"/>
              </a:ext>
            </a:extLst>
          </p:cNvPr>
          <p:cNvSpPr/>
          <p:nvPr/>
        </p:nvSpPr>
        <p:spPr>
          <a:xfrm>
            <a:off x="8902725" y="416041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100" name="타원 99">
            <a:extLst>
              <a:ext uri="{FF2B5EF4-FFF2-40B4-BE49-F238E27FC236}">
                <a16:creationId xmlns:a16="http://schemas.microsoft.com/office/drawing/2014/main" id="{55B9748E-EDD1-48AE-8B3C-4483C4239B8A}"/>
              </a:ext>
            </a:extLst>
          </p:cNvPr>
          <p:cNvSpPr/>
          <p:nvPr/>
        </p:nvSpPr>
        <p:spPr>
          <a:xfrm>
            <a:off x="8902725" y="3657334"/>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101" name="타원 100">
            <a:extLst>
              <a:ext uri="{FF2B5EF4-FFF2-40B4-BE49-F238E27FC236}">
                <a16:creationId xmlns:a16="http://schemas.microsoft.com/office/drawing/2014/main" id="{8835AC98-58C3-4F0B-90E9-8A783DDDA763}"/>
              </a:ext>
            </a:extLst>
          </p:cNvPr>
          <p:cNvSpPr/>
          <p:nvPr/>
        </p:nvSpPr>
        <p:spPr>
          <a:xfrm>
            <a:off x="8902725" y="179336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3" name="연결선: 꺾임 102">
            <a:extLst>
              <a:ext uri="{FF2B5EF4-FFF2-40B4-BE49-F238E27FC236}">
                <a16:creationId xmlns:a16="http://schemas.microsoft.com/office/drawing/2014/main" id="{200B8229-B56E-4F25-BD67-1363F34015A0}"/>
              </a:ext>
            </a:extLst>
          </p:cNvPr>
          <p:cNvCxnSpPr>
            <a:cxnSpLocks/>
            <a:stCxn id="86" idx="3"/>
            <a:endCxn id="67" idx="2"/>
          </p:cNvCxnSpPr>
          <p:nvPr/>
        </p:nvCxnSpPr>
        <p:spPr>
          <a:xfrm flipV="1">
            <a:off x="8484265" y="5738631"/>
            <a:ext cx="418460" cy="228942"/>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6" name="연결선: 꺾임 105">
            <a:extLst>
              <a:ext uri="{FF2B5EF4-FFF2-40B4-BE49-F238E27FC236}">
                <a16:creationId xmlns:a16="http://schemas.microsoft.com/office/drawing/2014/main" id="{A1ADFF48-4B44-4BD1-BFB7-DE708B8D4B0A}"/>
              </a:ext>
            </a:extLst>
          </p:cNvPr>
          <p:cNvCxnSpPr>
            <a:cxnSpLocks/>
            <a:stCxn id="93" idx="3"/>
            <a:endCxn id="92" idx="2"/>
          </p:cNvCxnSpPr>
          <p:nvPr/>
        </p:nvCxnSpPr>
        <p:spPr>
          <a:xfrm flipV="1">
            <a:off x="8484265" y="5084749"/>
            <a:ext cx="418460" cy="63420"/>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9" name="연결선: 꺾임 108">
            <a:extLst>
              <a:ext uri="{FF2B5EF4-FFF2-40B4-BE49-F238E27FC236}">
                <a16:creationId xmlns:a16="http://schemas.microsoft.com/office/drawing/2014/main" id="{A86998D4-291F-4F9B-9809-69B79C0028DF}"/>
              </a:ext>
            </a:extLst>
          </p:cNvPr>
          <p:cNvCxnSpPr>
            <a:cxnSpLocks/>
            <a:stCxn id="94" idx="3"/>
            <a:endCxn id="98" idx="2"/>
          </p:cNvCxnSpPr>
          <p:nvPr/>
        </p:nvCxnSpPr>
        <p:spPr>
          <a:xfrm>
            <a:off x="8484265" y="4426094"/>
            <a:ext cx="418460" cy="390400"/>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2" name="연결선: 꺾임 111">
            <a:extLst>
              <a:ext uri="{FF2B5EF4-FFF2-40B4-BE49-F238E27FC236}">
                <a16:creationId xmlns:a16="http://schemas.microsoft.com/office/drawing/2014/main" id="{3024D2D5-B0A6-4A93-8E40-D682420BD6B3}"/>
              </a:ext>
            </a:extLst>
          </p:cNvPr>
          <p:cNvCxnSpPr>
            <a:cxnSpLocks/>
            <a:stCxn id="95" idx="3"/>
            <a:endCxn id="99" idx="2"/>
          </p:cNvCxnSpPr>
          <p:nvPr/>
        </p:nvCxnSpPr>
        <p:spPr>
          <a:xfrm>
            <a:off x="8484265" y="3814535"/>
            <a:ext cx="418460" cy="426546"/>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5" name="연결선: 꺾임 114">
            <a:extLst>
              <a:ext uri="{FF2B5EF4-FFF2-40B4-BE49-F238E27FC236}">
                <a16:creationId xmlns:a16="http://schemas.microsoft.com/office/drawing/2014/main" id="{69ED5A70-D4B7-418F-9FD0-995A5372E062}"/>
              </a:ext>
            </a:extLst>
          </p:cNvPr>
          <p:cNvCxnSpPr>
            <a:cxnSpLocks/>
            <a:stCxn id="96" idx="3"/>
            <a:endCxn id="100" idx="2"/>
          </p:cNvCxnSpPr>
          <p:nvPr/>
        </p:nvCxnSpPr>
        <p:spPr>
          <a:xfrm>
            <a:off x="8484265" y="3213479"/>
            <a:ext cx="418460" cy="524524"/>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8" name="연결선: 꺾임 117">
            <a:extLst>
              <a:ext uri="{FF2B5EF4-FFF2-40B4-BE49-F238E27FC236}">
                <a16:creationId xmlns:a16="http://schemas.microsoft.com/office/drawing/2014/main" id="{32963B00-53B8-4FA3-8664-5B53962A1A26}"/>
              </a:ext>
            </a:extLst>
          </p:cNvPr>
          <p:cNvCxnSpPr>
            <a:cxnSpLocks/>
            <a:stCxn id="97" idx="3"/>
            <a:endCxn id="101" idx="2"/>
          </p:cNvCxnSpPr>
          <p:nvPr/>
        </p:nvCxnSpPr>
        <p:spPr>
          <a:xfrm flipV="1">
            <a:off x="8484265" y="1874037"/>
            <a:ext cx="418460" cy="440006"/>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7" name="TextBox 126">
            <a:extLst>
              <a:ext uri="{FF2B5EF4-FFF2-40B4-BE49-F238E27FC236}">
                <a16:creationId xmlns:a16="http://schemas.microsoft.com/office/drawing/2014/main" id="{80498797-60D8-4CC3-AC58-DCAF151A5217}"/>
              </a:ext>
            </a:extLst>
          </p:cNvPr>
          <p:cNvSpPr txBox="1"/>
          <p:nvPr/>
        </p:nvSpPr>
        <p:spPr>
          <a:xfrm>
            <a:off x="9511434" y="5107295"/>
            <a:ext cx="2147166" cy="600164"/>
          </a:xfrm>
          <a:prstGeom prst="rect">
            <a:avLst/>
          </a:prstGeom>
          <a:solidFill>
            <a:schemeClr val="accent6">
              <a:lumMod val="20000"/>
              <a:lumOff val="80000"/>
            </a:schemeClr>
          </a:solidFill>
          <a:ln>
            <a:solidFill>
              <a:schemeClr val="bg1">
                <a:lumMod val="50000"/>
              </a:schemeClr>
            </a:solidFill>
          </a:ln>
        </p:spPr>
        <p:txBody>
          <a:bodyPr wrap="square" rtlCol="0">
            <a:spAutoFit/>
          </a:bodyPr>
          <a:lstStyle/>
          <a:p>
            <a:pPr algn="ctr"/>
            <a:r>
              <a:rPr lang="ko-KR" altLang="en-US" sz="1100" dirty="0" err="1"/>
              <a:t>영국릴리</a:t>
            </a:r>
            <a:r>
              <a:rPr lang="en-US" altLang="ko-KR" sz="1100" dirty="0"/>
              <a:t>, </a:t>
            </a:r>
            <a:r>
              <a:rPr lang="ko-KR" altLang="en-US" sz="1100" dirty="0" err="1"/>
              <a:t>한국릴리</a:t>
            </a:r>
            <a:r>
              <a:rPr lang="ko-KR" altLang="en-US" sz="1100" dirty="0"/>
              <a:t> </a:t>
            </a:r>
            <a:endParaRPr lang="en-US" altLang="ko-KR" sz="1100" dirty="0"/>
          </a:p>
          <a:p>
            <a:pPr algn="ctr"/>
            <a:r>
              <a:rPr lang="ko-KR" altLang="en-US" sz="1100" dirty="0"/>
              <a:t>명인제약 상대로 손해배상 소송</a:t>
            </a:r>
            <a:endParaRPr lang="en-US" altLang="ko-KR" sz="1100" dirty="0"/>
          </a:p>
          <a:p>
            <a:pPr algn="ctr"/>
            <a:r>
              <a:rPr lang="en-US" altLang="ko-KR" sz="1100" dirty="0"/>
              <a:t>(2014.8.6)</a:t>
            </a:r>
            <a:endParaRPr lang="ko-KR" altLang="en-US" sz="1100" dirty="0"/>
          </a:p>
        </p:txBody>
      </p:sp>
      <p:sp>
        <p:nvSpPr>
          <p:cNvPr id="128" name="TextBox 127">
            <a:extLst>
              <a:ext uri="{FF2B5EF4-FFF2-40B4-BE49-F238E27FC236}">
                <a16:creationId xmlns:a16="http://schemas.microsoft.com/office/drawing/2014/main" id="{8DAA358D-686A-40BD-90A2-AFCC7482B6AF}"/>
              </a:ext>
            </a:extLst>
          </p:cNvPr>
          <p:cNvSpPr txBox="1"/>
          <p:nvPr/>
        </p:nvSpPr>
        <p:spPr>
          <a:xfrm>
            <a:off x="9511434" y="3652646"/>
            <a:ext cx="2147166" cy="769441"/>
          </a:xfrm>
          <a:prstGeom prst="rect">
            <a:avLst/>
          </a:prstGeom>
          <a:solidFill>
            <a:schemeClr val="accent6">
              <a:lumMod val="20000"/>
              <a:lumOff val="80000"/>
            </a:schemeClr>
          </a:solidFill>
          <a:ln>
            <a:solidFill>
              <a:schemeClr val="bg1">
                <a:lumMod val="50000"/>
              </a:schemeClr>
            </a:solidFill>
          </a:ln>
        </p:spPr>
        <p:txBody>
          <a:bodyPr wrap="square" rtlCol="0">
            <a:spAutoFit/>
          </a:bodyPr>
          <a:lstStyle/>
          <a:p>
            <a:pPr algn="ctr"/>
            <a:r>
              <a:rPr lang="ko-KR" altLang="en-US" sz="1100" dirty="0" err="1"/>
              <a:t>영국릴리</a:t>
            </a:r>
            <a:r>
              <a:rPr lang="en-US" altLang="ko-KR" sz="1100" dirty="0"/>
              <a:t> </a:t>
            </a:r>
            <a:r>
              <a:rPr lang="ko-KR" altLang="en-US" sz="1100" dirty="0"/>
              <a:t>인용</a:t>
            </a:r>
            <a:endParaRPr lang="en-US" altLang="ko-KR" sz="1100" dirty="0"/>
          </a:p>
          <a:p>
            <a:pPr algn="ctr"/>
            <a:r>
              <a:rPr lang="ko-KR" altLang="en-US" sz="1100" dirty="0" err="1"/>
              <a:t>한국릴리</a:t>
            </a:r>
            <a:r>
              <a:rPr lang="ko-KR" altLang="en-US" sz="1100" dirty="0"/>
              <a:t> 일부인용</a:t>
            </a:r>
            <a:endParaRPr lang="en-US" altLang="ko-KR" sz="1100" dirty="0"/>
          </a:p>
          <a:p>
            <a:pPr algn="ctr"/>
            <a:r>
              <a:rPr lang="en-US" altLang="ko-KR" sz="1100" dirty="0"/>
              <a:t>(</a:t>
            </a:r>
            <a:r>
              <a:rPr lang="ko-KR" altLang="en-US" sz="1100" dirty="0"/>
              <a:t>서울중앙지방법원 </a:t>
            </a:r>
            <a:r>
              <a:rPr lang="en-US" altLang="ko-KR" sz="1100" dirty="0"/>
              <a:t>2017. 9. 15. </a:t>
            </a:r>
            <a:r>
              <a:rPr lang="ko-KR" altLang="en-US" sz="1100" dirty="0"/>
              <a:t>선고 </a:t>
            </a:r>
            <a:r>
              <a:rPr lang="en-US" altLang="ko-KR" sz="1100" dirty="0"/>
              <a:t>2014</a:t>
            </a:r>
            <a:r>
              <a:rPr lang="ko-KR" altLang="en-US" sz="1100" dirty="0"/>
              <a:t>가합</a:t>
            </a:r>
            <a:r>
              <a:rPr lang="en-US" altLang="ko-KR" sz="1100" dirty="0"/>
              <a:t>556560 </a:t>
            </a:r>
            <a:r>
              <a:rPr lang="ko-KR" altLang="en-US" sz="1100" dirty="0"/>
              <a:t>판결</a:t>
            </a:r>
            <a:r>
              <a:rPr lang="en-US" altLang="ko-KR" sz="1100" dirty="0"/>
              <a:t>)</a:t>
            </a:r>
          </a:p>
        </p:txBody>
      </p:sp>
      <p:sp>
        <p:nvSpPr>
          <p:cNvPr id="130" name="TextBox 129">
            <a:extLst>
              <a:ext uri="{FF2B5EF4-FFF2-40B4-BE49-F238E27FC236}">
                <a16:creationId xmlns:a16="http://schemas.microsoft.com/office/drawing/2014/main" id="{E54100F1-6F2E-404E-A529-80B615ABFEF9}"/>
              </a:ext>
            </a:extLst>
          </p:cNvPr>
          <p:cNvSpPr txBox="1"/>
          <p:nvPr/>
        </p:nvSpPr>
        <p:spPr>
          <a:xfrm>
            <a:off x="9511434" y="3038516"/>
            <a:ext cx="2147166" cy="430887"/>
          </a:xfrm>
          <a:prstGeom prst="rect">
            <a:avLst/>
          </a:prstGeom>
          <a:solidFill>
            <a:schemeClr val="accent6">
              <a:lumMod val="20000"/>
              <a:lumOff val="80000"/>
            </a:schemeClr>
          </a:solidFill>
          <a:ln>
            <a:solidFill>
              <a:schemeClr val="bg1">
                <a:lumMod val="50000"/>
              </a:schemeClr>
            </a:solidFill>
          </a:ln>
        </p:spPr>
        <p:txBody>
          <a:bodyPr wrap="square" rtlCol="0">
            <a:spAutoFit/>
          </a:bodyPr>
          <a:lstStyle/>
          <a:p>
            <a:pPr algn="ctr"/>
            <a:r>
              <a:rPr lang="ko-KR" altLang="en-US" sz="1100" dirty="0"/>
              <a:t>명인제약 항소</a:t>
            </a:r>
            <a:endParaRPr lang="en-US" altLang="ko-KR" sz="1100" dirty="0"/>
          </a:p>
          <a:p>
            <a:pPr algn="ctr"/>
            <a:r>
              <a:rPr lang="en-US" altLang="ko-KR" sz="1100" dirty="0"/>
              <a:t>(2017.10.10)</a:t>
            </a:r>
          </a:p>
        </p:txBody>
      </p:sp>
      <p:sp>
        <p:nvSpPr>
          <p:cNvPr id="131" name="TextBox 130">
            <a:extLst>
              <a:ext uri="{FF2B5EF4-FFF2-40B4-BE49-F238E27FC236}">
                <a16:creationId xmlns:a16="http://schemas.microsoft.com/office/drawing/2014/main" id="{17B0FA40-965B-4714-8AB8-347B770EE2D2}"/>
              </a:ext>
            </a:extLst>
          </p:cNvPr>
          <p:cNvSpPr txBox="1"/>
          <p:nvPr/>
        </p:nvSpPr>
        <p:spPr>
          <a:xfrm>
            <a:off x="9511434" y="2283332"/>
            <a:ext cx="2147166" cy="600164"/>
          </a:xfrm>
          <a:prstGeom prst="rect">
            <a:avLst/>
          </a:prstGeom>
          <a:solidFill>
            <a:schemeClr val="accent6">
              <a:lumMod val="20000"/>
              <a:lumOff val="80000"/>
            </a:schemeClr>
          </a:solidFill>
          <a:ln>
            <a:solidFill>
              <a:schemeClr val="bg1">
                <a:lumMod val="50000"/>
              </a:schemeClr>
            </a:solidFill>
          </a:ln>
        </p:spPr>
        <p:txBody>
          <a:bodyPr wrap="square" rtlCol="0">
            <a:spAutoFit/>
          </a:bodyPr>
          <a:lstStyle/>
          <a:p>
            <a:pPr algn="ctr"/>
            <a:r>
              <a:rPr lang="ko-KR" altLang="en-US" sz="1100" dirty="0"/>
              <a:t>기각</a:t>
            </a:r>
            <a:endParaRPr lang="en-US" altLang="ko-KR" sz="1100" dirty="0"/>
          </a:p>
          <a:p>
            <a:pPr algn="ctr"/>
            <a:r>
              <a:rPr lang="en-US" altLang="ko-KR" sz="1100" dirty="0"/>
              <a:t>(</a:t>
            </a:r>
            <a:r>
              <a:rPr lang="ko-KR" altLang="en-US" sz="1100" dirty="0"/>
              <a:t>특허법원 </a:t>
            </a:r>
            <a:r>
              <a:rPr lang="en-US" altLang="ko-KR" sz="1100" dirty="0"/>
              <a:t>2018. 2. 8. </a:t>
            </a:r>
            <a:r>
              <a:rPr lang="ko-KR" altLang="en-US" sz="1100" dirty="0"/>
              <a:t>선고 </a:t>
            </a:r>
            <a:r>
              <a:rPr lang="en-US" altLang="ko-KR" sz="1100" dirty="0"/>
              <a:t>2017</a:t>
            </a:r>
            <a:r>
              <a:rPr lang="ko-KR" altLang="en-US" sz="1100" dirty="0"/>
              <a:t>나</a:t>
            </a:r>
            <a:r>
              <a:rPr lang="en-US" altLang="ko-KR" sz="1100" dirty="0"/>
              <a:t>2332 </a:t>
            </a:r>
            <a:r>
              <a:rPr lang="ko-KR" altLang="en-US" sz="1100" dirty="0"/>
              <a:t>판결</a:t>
            </a:r>
            <a:r>
              <a:rPr lang="en-US" altLang="ko-KR" sz="1100" dirty="0"/>
              <a:t>)</a:t>
            </a:r>
          </a:p>
        </p:txBody>
      </p:sp>
      <p:sp>
        <p:nvSpPr>
          <p:cNvPr id="132" name="TextBox 131">
            <a:extLst>
              <a:ext uri="{FF2B5EF4-FFF2-40B4-BE49-F238E27FC236}">
                <a16:creationId xmlns:a16="http://schemas.microsoft.com/office/drawing/2014/main" id="{B242A304-F8B9-4C1E-A2F3-301FFD143F5C}"/>
              </a:ext>
            </a:extLst>
          </p:cNvPr>
          <p:cNvSpPr txBox="1"/>
          <p:nvPr/>
        </p:nvSpPr>
        <p:spPr>
          <a:xfrm>
            <a:off x="9511434" y="1846232"/>
            <a:ext cx="2147166" cy="261610"/>
          </a:xfrm>
          <a:prstGeom prst="rect">
            <a:avLst/>
          </a:prstGeom>
          <a:solidFill>
            <a:schemeClr val="accent6">
              <a:lumMod val="20000"/>
              <a:lumOff val="80000"/>
            </a:schemeClr>
          </a:solidFill>
          <a:ln>
            <a:solidFill>
              <a:schemeClr val="bg1">
                <a:lumMod val="50000"/>
              </a:schemeClr>
            </a:solidFill>
          </a:ln>
        </p:spPr>
        <p:txBody>
          <a:bodyPr wrap="square" rtlCol="0">
            <a:spAutoFit/>
          </a:bodyPr>
          <a:lstStyle/>
          <a:p>
            <a:pPr algn="ctr"/>
            <a:r>
              <a:rPr lang="ko-KR" altLang="en-US" sz="1100" dirty="0"/>
              <a:t>명인제약 상고</a:t>
            </a:r>
            <a:endParaRPr lang="en-US" altLang="ko-KR" sz="1100" dirty="0"/>
          </a:p>
        </p:txBody>
      </p:sp>
      <p:sp>
        <p:nvSpPr>
          <p:cNvPr id="133" name="TextBox 132">
            <a:extLst>
              <a:ext uri="{FF2B5EF4-FFF2-40B4-BE49-F238E27FC236}">
                <a16:creationId xmlns:a16="http://schemas.microsoft.com/office/drawing/2014/main" id="{E09810C0-C542-4E3E-9C51-FB88C62FACCB}"/>
              </a:ext>
            </a:extLst>
          </p:cNvPr>
          <p:cNvSpPr txBox="1"/>
          <p:nvPr/>
        </p:nvSpPr>
        <p:spPr>
          <a:xfrm>
            <a:off x="9511434" y="1062409"/>
            <a:ext cx="2147166" cy="600164"/>
          </a:xfrm>
          <a:prstGeom prst="rect">
            <a:avLst/>
          </a:prstGeom>
          <a:solidFill>
            <a:schemeClr val="accent6">
              <a:lumMod val="20000"/>
              <a:lumOff val="80000"/>
            </a:schemeClr>
          </a:solidFill>
          <a:ln>
            <a:solidFill>
              <a:schemeClr val="bg1">
                <a:lumMod val="50000"/>
              </a:schemeClr>
            </a:solidFill>
          </a:ln>
        </p:spPr>
        <p:txBody>
          <a:bodyPr wrap="square" rtlCol="0">
            <a:spAutoFit/>
          </a:bodyPr>
          <a:lstStyle/>
          <a:p>
            <a:pPr algn="ctr"/>
            <a:r>
              <a:rPr lang="ko-KR" altLang="en-US" sz="1100" dirty="0"/>
              <a:t>인용</a:t>
            </a:r>
            <a:r>
              <a:rPr lang="en-US" altLang="ko-KR" sz="1100" dirty="0"/>
              <a:t>(</a:t>
            </a:r>
            <a:r>
              <a:rPr lang="ko-KR" altLang="en-US" sz="1100" dirty="0" err="1"/>
              <a:t>파기환송</a:t>
            </a:r>
            <a:r>
              <a:rPr lang="en-US" altLang="ko-KR" sz="1100" dirty="0"/>
              <a:t>)</a:t>
            </a:r>
          </a:p>
          <a:p>
            <a:pPr algn="ctr"/>
            <a:r>
              <a:rPr lang="en-US" altLang="ko-KR" sz="1100" dirty="0"/>
              <a:t>(</a:t>
            </a:r>
            <a:r>
              <a:rPr lang="ko-KR" altLang="en-US" sz="1100" dirty="0"/>
              <a:t>대법원 </a:t>
            </a:r>
            <a:r>
              <a:rPr lang="en-US" altLang="ko-KR" sz="1100" dirty="0"/>
              <a:t>2020. 11. 26. </a:t>
            </a:r>
            <a:r>
              <a:rPr lang="ko-KR" altLang="en-US" sz="1100" dirty="0"/>
              <a:t>선고</a:t>
            </a:r>
            <a:r>
              <a:rPr lang="en-US" altLang="ko-KR" sz="1100" dirty="0"/>
              <a:t>2018</a:t>
            </a:r>
            <a:r>
              <a:rPr lang="ko-KR" altLang="en-US" sz="1100" dirty="0"/>
              <a:t>다</a:t>
            </a:r>
            <a:r>
              <a:rPr lang="en-US" altLang="ko-KR" sz="1100" dirty="0"/>
              <a:t>221676 </a:t>
            </a:r>
            <a:r>
              <a:rPr lang="ko-KR" altLang="en-US" sz="1100" dirty="0"/>
              <a:t>판결</a:t>
            </a:r>
            <a:r>
              <a:rPr lang="en-US" altLang="ko-KR" sz="1100" dirty="0"/>
              <a:t>)</a:t>
            </a:r>
          </a:p>
        </p:txBody>
      </p:sp>
      <p:sp>
        <p:nvSpPr>
          <p:cNvPr id="135" name="타원 134">
            <a:extLst>
              <a:ext uri="{FF2B5EF4-FFF2-40B4-BE49-F238E27FC236}">
                <a16:creationId xmlns:a16="http://schemas.microsoft.com/office/drawing/2014/main" id="{D0C38523-0F0A-4880-AF40-B6FC2BFC5EC7}"/>
              </a:ext>
            </a:extLst>
          </p:cNvPr>
          <p:cNvSpPr/>
          <p:nvPr/>
        </p:nvSpPr>
        <p:spPr>
          <a:xfrm>
            <a:off x="8902725" y="5239058"/>
            <a:ext cx="154738" cy="161338"/>
          </a:xfrm>
          <a:prstGeom prst="ellipse">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136" name="타원 135">
            <a:extLst>
              <a:ext uri="{FF2B5EF4-FFF2-40B4-BE49-F238E27FC236}">
                <a16:creationId xmlns:a16="http://schemas.microsoft.com/office/drawing/2014/main" id="{BF3801E5-9B3E-4189-8D79-E878FC874EA8}"/>
              </a:ext>
            </a:extLst>
          </p:cNvPr>
          <p:cNvSpPr/>
          <p:nvPr/>
        </p:nvSpPr>
        <p:spPr>
          <a:xfrm>
            <a:off x="8902725" y="3419369"/>
            <a:ext cx="154738" cy="161338"/>
          </a:xfrm>
          <a:prstGeom prst="ellipse">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137" name="타원 136">
            <a:extLst>
              <a:ext uri="{FF2B5EF4-FFF2-40B4-BE49-F238E27FC236}">
                <a16:creationId xmlns:a16="http://schemas.microsoft.com/office/drawing/2014/main" id="{C68B0177-EE57-4B97-AF18-DB268125B1D7}"/>
              </a:ext>
            </a:extLst>
          </p:cNvPr>
          <p:cNvSpPr/>
          <p:nvPr/>
        </p:nvSpPr>
        <p:spPr>
          <a:xfrm>
            <a:off x="8902725" y="3098306"/>
            <a:ext cx="154738" cy="161338"/>
          </a:xfrm>
          <a:prstGeom prst="ellipse">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138" name="타원 137">
            <a:extLst>
              <a:ext uri="{FF2B5EF4-FFF2-40B4-BE49-F238E27FC236}">
                <a16:creationId xmlns:a16="http://schemas.microsoft.com/office/drawing/2014/main" id="{C1FF5CD1-DF11-48DA-A0E6-BF338A65F34B}"/>
              </a:ext>
            </a:extLst>
          </p:cNvPr>
          <p:cNvSpPr/>
          <p:nvPr/>
        </p:nvSpPr>
        <p:spPr>
          <a:xfrm>
            <a:off x="8902725" y="2435637"/>
            <a:ext cx="154738" cy="161338"/>
          </a:xfrm>
          <a:prstGeom prst="ellipse">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139" name="타원 138">
            <a:extLst>
              <a:ext uri="{FF2B5EF4-FFF2-40B4-BE49-F238E27FC236}">
                <a16:creationId xmlns:a16="http://schemas.microsoft.com/office/drawing/2014/main" id="{92FD9310-1D51-42A6-BF24-81CBC30761C2}"/>
              </a:ext>
            </a:extLst>
          </p:cNvPr>
          <p:cNvSpPr/>
          <p:nvPr/>
        </p:nvSpPr>
        <p:spPr>
          <a:xfrm>
            <a:off x="8902725" y="2081489"/>
            <a:ext cx="154738" cy="161338"/>
          </a:xfrm>
          <a:prstGeom prst="ellipse">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40" name="연결선: 꺾임 139">
            <a:extLst>
              <a:ext uri="{FF2B5EF4-FFF2-40B4-BE49-F238E27FC236}">
                <a16:creationId xmlns:a16="http://schemas.microsoft.com/office/drawing/2014/main" id="{F43872C2-75B5-402C-A8AB-AE0542E64419}"/>
              </a:ext>
            </a:extLst>
          </p:cNvPr>
          <p:cNvCxnSpPr>
            <a:cxnSpLocks/>
            <a:stCxn id="133" idx="1"/>
            <a:endCxn id="101" idx="6"/>
          </p:cNvCxnSpPr>
          <p:nvPr/>
        </p:nvCxnSpPr>
        <p:spPr>
          <a:xfrm rot="10800000" flipV="1">
            <a:off x="9057464" y="1362491"/>
            <a:ext cx="453971" cy="511546"/>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43" name="연결선: 꺾임 142">
            <a:extLst>
              <a:ext uri="{FF2B5EF4-FFF2-40B4-BE49-F238E27FC236}">
                <a16:creationId xmlns:a16="http://schemas.microsoft.com/office/drawing/2014/main" id="{3A63990C-2733-4190-81DF-24B99C74E712}"/>
              </a:ext>
            </a:extLst>
          </p:cNvPr>
          <p:cNvCxnSpPr>
            <a:cxnSpLocks/>
            <a:stCxn id="127" idx="1"/>
            <a:endCxn id="135" idx="6"/>
          </p:cNvCxnSpPr>
          <p:nvPr/>
        </p:nvCxnSpPr>
        <p:spPr>
          <a:xfrm rot="10800000">
            <a:off x="9057464" y="5319727"/>
            <a:ext cx="453971" cy="87650"/>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46" name="연결선: 꺾임 145">
            <a:extLst>
              <a:ext uri="{FF2B5EF4-FFF2-40B4-BE49-F238E27FC236}">
                <a16:creationId xmlns:a16="http://schemas.microsoft.com/office/drawing/2014/main" id="{14A4D0B3-E31C-4C25-8B60-D6CE8AEAFA0E}"/>
              </a:ext>
            </a:extLst>
          </p:cNvPr>
          <p:cNvCxnSpPr>
            <a:cxnSpLocks/>
            <a:stCxn id="128" idx="1"/>
            <a:endCxn id="136" idx="6"/>
          </p:cNvCxnSpPr>
          <p:nvPr/>
        </p:nvCxnSpPr>
        <p:spPr>
          <a:xfrm rot="10800000">
            <a:off x="9057464" y="3500039"/>
            <a:ext cx="453971" cy="537329"/>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49" name="연결선: 꺾임 148">
            <a:extLst>
              <a:ext uri="{FF2B5EF4-FFF2-40B4-BE49-F238E27FC236}">
                <a16:creationId xmlns:a16="http://schemas.microsoft.com/office/drawing/2014/main" id="{DD467AB8-409C-4536-A5A3-58456ABD1826}"/>
              </a:ext>
            </a:extLst>
          </p:cNvPr>
          <p:cNvCxnSpPr>
            <a:cxnSpLocks/>
            <a:stCxn id="130" idx="1"/>
            <a:endCxn id="137" idx="6"/>
          </p:cNvCxnSpPr>
          <p:nvPr/>
        </p:nvCxnSpPr>
        <p:spPr>
          <a:xfrm rot="10800000">
            <a:off x="9057464" y="3178976"/>
            <a:ext cx="453971" cy="74985"/>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52" name="연결선: 꺾임 151">
            <a:extLst>
              <a:ext uri="{FF2B5EF4-FFF2-40B4-BE49-F238E27FC236}">
                <a16:creationId xmlns:a16="http://schemas.microsoft.com/office/drawing/2014/main" id="{D700402E-9981-4F06-A126-8F6530EFAFC5}"/>
              </a:ext>
            </a:extLst>
          </p:cNvPr>
          <p:cNvCxnSpPr>
            <a:cxnSpLocks/>
            <a:stCxn id="131" idx="1"/>
            <a:endCxn id="138" idx="6"/>
          </p:cNvCxnSpPr>
          <p:nvPr/>
        </p:nvCxnSpPr>
        <p:spPr>
          <a:xfrm rot="10800000">
            <a:off x="9057464" y="2516306"/>
            <a:ext cx="453971" cy="67108"/>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55" name="연결선: 꺾임 154">
            <a:extLst>
              <a:ext uri="{FF2B5EF4-FFF2-40B4-BE49-F238E27FC236}">
                <a16:creationId xmlns:a16="http://schemas.microsoft.com/office/drawing/2014/main" id="{28809000-3230-43E4-8D8F-B0A7E67E7281}"/>
              </a:ext>
            </a:extLst>
          </p:cNvPr>
          <p:cNvCxnSpPr>
            <a:cxnSpLocks/>
            <a:stCxn id="132" idx="1"/>
            <a:endCxn id="139" idx="6"/>
          </p:cNvCxnSpPr>
          <p:nvPr/>
        </p:nvCxnSpPr>
        <p:spPr>
          <a:xfrm rot="10800000" flipV="1">
            <a:off x="9057464" y="1977036"/>
            <a:ext cx="453971" cy="185121"/>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2" name="TextBox 81">
            <a:extLst>
              <a:ext uri="{FF2B5EF4-FFF2-40B4-BE49-F238E27FC236}">
                <a16:creationId xmlns:a16="http://schemas.microsoft.com/office/drawing/2014/main" id="{81365FBD-EC7C-4356-AD90-4BE7928DC5B9}"/>
              </a:ext>
            </a:extLst>
          </p:cNvPr>
          <p:cNvSpPr txBox="1"/>
          <p:nvPr/>
        </p:nvSpPr>
        <p:spPr>
          <a:xfrm>
            <a:off x="2708635" y="6148361"/>
            <a:ext cx="6120440" cy="314894"/>
          </a:xfrm>
          <a:prstGeom prst="rect">
            <a:avLst/>
          </a:prstGeom>
          <a:noFill/>
        </p:spPr>
        <p:txBody>
          <a:bodyPr wrap="square">
            <a:spAutoFit/>
          </a:bodyPr>
          <a:lstStyle/>
          <a:p>
            <a:pPr marL="6350" marR="0" indent="0" algn="just" fontAlgn="base" latinLnBrk="1">
              <a:lnSpc>
                <a:spcPct val="145000"/>
              </a:lnSpc>
              <a:spcBef>
                <a:spcPts val="300"/>
              </a:spcBef>
              <a:spcAft>
                <a:spcPts val="200"/>
              </a:spcAft>
              <a:tabLst>
                <a:tab pos="408940" algn="l"/>
                <a:tab pos="624840" algn="l"/>
                <a:tab pos="4931410" algn="r"/>
                <a:tab pos="408940" algn="l"/>
                <a:tab pos="624840" algn="l"/>
                <a:tab pos="4931410" algn="r"/>
              </a:tabLst>
            </a:pPr>
            <a:r>
              <a:rPr lang="ko-KR" altLang="en-US" sz="1100" kern="100" spc="-100" dirty="0">
                <a:solidFill>
                  <a:srgbClr val="000000"/>
                </a:solidFill>
                <a:effectLst/>
                <a:latin typeface="+mn-ea"/>
              </a:rPr>
              <a:t>대법원 </a:t>
            </a:r>
            <a:r>
              <a:rPr lang="en-US" altLang="ko-KR" sz="1100" kern="100" spc="-100" dirty="0">
                <a:solidFill>
                  <a:srgbClr val="000000"/>
                </a:solidFill>
                <a:effectLst/>
                <a:latin typeface="+mn-ea"/>
              </a:rPr>
              <a:t>2012. 8. 23. </a:t>
            </a:r>
            <a:r>
              <a:rPr lang="ko-KR" altLang="en-US" sz="1100" kern="100" spc="-100" dirty="0">
                <a:solidFill>
                  <a:srgbClr val="000000"/>
                </a:solidFill>
                <a:effectLst/>
                <a:latin typeface="+mn-ea"/>
              </a:rPr>
              <a:t>선고 </a:t>
            </a:r>
            <a:r>
              <a:rPr lang="en-US" altLang="ko-KR" sz="1100" kern="100" spc="-100" dirty="0">
                <a:solidFill>
                  <a:srgbClr val="000000"/>
                </a:solidFill>
                <a:effectLst/>
                <a:latin typeface="+mn-ea"/>
              </a:rPr>
              <a:t>2010</a:t>
            </a:r>
            <a:r>
              <a:rPr lang="ko-KR" altLang="en-US" sz="1100" kern="100" spc="-100" dirty="0">
                <a:solidFill>
                  <a:srgbClr val="000000"/>
                </a:solidFill>
                <a:effectLst/>
                <a:latin typeface="+mn-ea"/>
              </a:rPr>
              <a:t>후</a:t>
            </a:r>
            <a:r>
              <a:rPr lang="en-US" altLang="ko-KR" sz="1100" kern="100" spc="-100" dirty="0">
                <a:solidFill>
                  <a:srgbClr val="000000"/>
                </a:solidFill>
                <a:effectLst/>
                <a:latin typeface="+mn-ea"/>
              </a:rPr>
              <a:t>3424(</a:t>
            </a:r>
            <a:r>
              <a:rPr lang="ko-KR" altLang="en-US" sz="1100" kern="100" spc="-100" dirty="0">
                <a:solidFill>
                  <a:srgbClr val="000000"/>
                </a:solidFill>
                <a:effectLst/>
                <a:latin typeface="+mn-ea"/>
              </a:rPr>
              <a:t>선택발명의 진보성</a:t>
            </a:r>
            <a:r>
              <a:rPr lang="en-US" altLang="ko-KR" sz="1100" kern="100" spc="-100">
                <a:solidFill>
                  <a:srgbClr val="000000"/>
                </a:solidFill>
                <a:effectLst/>
                <a:latin typeface="+mn-ea"/>
              </a:rPr>
              <a:t>)</a:t>
            </a:r>
            <a:endParaRPr lang="ko-KR" altLang="en-US" sz="1100" kern="100" spc="-100" dirty="0">
              <a:solidFill>
                <a:srgbClr val="000000"/>
              </a:solidFill>
              <a:effectLst/>
              <a:latin typeface="+mn-ea"/>
            </a:endParaRPr>
          </a:p>
        </p:txBody>
      </p:sp>
      <p:sp>
        <p:nvSpPr>
          <p:cNvPr id="6" name="TextBox 5">
            <a:extLst>
              <a:ext uri="{FF2B5EF4-FFF2-40B4-BE49-F238E27FC236}">
                <a16:creationId xmlns:a16="http://schemas.microsoft.com/office/drawing/2014/main" id="{9509971A-48D1-A9DA-F154-D5F006944D2A}"/>
              </a:ext>
            </a:extLst>
          </p:cNvPr>
          <p:cNvSpPr txBox="1"/>
          <p:nvPr/>
        </p:nvSpPr>
        <p:spPr>
          <a:xfrm>
            <a:off x="9152706" y="5889519"/>
            <a:ext cx="2664825" cy="830997"/>
          </a:xfrm>
          <a:prstGeom prst="rect">
            <a:avLst/>
          </a:prstGeom>
          <a:noFill/>
          <a:ln w="38100">
            <a:solidFill>
              <a:schemeClr val="accent2"/>
            </a:solidFill>
          </a:ln>
        </p:spPr>
        <p:txBody>
          <a:bodyPr wrap="square" rtlCol="0">
            <a:spAutoFit/>
          </a:bodyPr>
          <a:lstStyle/>
          <a:p>
            <a:r>
              <a:rPr lang="en-US" altLang="ko-KR" sz="1200" dirty="0">
                <a:solidFill>
                  <a:schemeClr val="accent2">
                    <a:lumMod val="50000"/>
                  </a:schemeClr>
                </a:solidFill>
              </a:rPr>
              <a:t>- </a:t>
            </a:r>
            <a:r>
              <a:rPr lang="ko-KR" altLang="en-US" sz="1200" dirty="0" err="1">
                <a:solidFill>
                  <a:schemeClr val="accent2">
                    <a:lumMod val="50000"/>
                  </a:schemeClr>
                </a:solidFill>
              </a:rPr>
              <a:t>영국릴리는</a:t>
            </a:r>
            <a:r>
              <a:rPr lang="ko-KR" altLang="en-US" sz="1200" dirty="0">
                <a:solidFill>
                  <a:schemeClr val="accent2">
                    <a:lumMod val="50000"/>
                  </a:schemeClr>
                </a:solidFill>
              </a:rPr>
              <a:t> 판매에 대한 손해배상</a:t>
            </a:r>
            <a:endParaRPr lang="en-US" altLang="ko-KR" sz="1200" dirty="0">
              <a:solidFill>
                <a:schemeClr val="accent2">
                  <a:lumMod val="50000"/>
                </a:schemeClr>
              </a:solidFill>
            </a:endParaRPr>
          </a:p>
          <a:p>
            <a:r>
              <a:rPr lang="en-US" altLang="ko-KR" sz="1200" dirty="0">
                <a:solidFill>
                  <a:schemeClr val="accent2">
                    <a:lumMod val="50000"/>
                  </a:schemeClr>
                </a:solidFill>
              </a:rPr>
              <a:t>  (</a:t>
            </a:r>
            <a:r>
              <a:rPr lang="ko-KR" altLang="en-US" sz="1200" dirty="0">
                <a:solidFill>
                  <a:schemeClr val="accent2">
                    <a:lumMod val="50000"/>
                  </a:schemeClr>
                </a:solidFill>
              </a:rPr>
              <a:t>특허권의 침해</a:t>
            </a:r>
            <a:r>
              <a:rPr lang="en-US" altLang="ko-KR" sz="1200" dirty="0">
                <a:solidFill>
                  <a:schemeClr val="accent2">
                    <a:lumMod val="50000"/>
                  </a:schemeClr>
                </a:solidFill>
              </a:rPr>
              <a:t>)</a:t>
            </a:r>
          </a:p>
          <a:p>
            <a:r>
              <a:rPr lang="en-US" altLang="ko-KR" sz="1200" dirty="0">
                <a:solidFill>
                  <a:schemeClr val="accent2">
                    <a:lumMod val="50000"/>
                  </a:schemeClr>
                </a:solidFill>
              </a:rPr>
              <a:t>- </a:t>
            </a:r>
            <a:r>
              <a:rPr lang="ko-KR" altLang="en-US" sz="1200" dirty="0" err="1">
                <a:solidFill>
                  <a:schemeClr val="accent2">
                    <a:lumMod val="50000"/>
                  </a:schemeClr>
                </a:solidFill>
              </a:rPr>
              <a:t>한국릴리는</a:t>
            </a:r>
            <a:r>
              <a:rPr lang="ko-KR" altLang="en-US" sz="1200" dirty="0">
                <a:solidFill>
                  <a:schemeClr val="accent2">
                    <a:lumMod val="50000"/>
                  </a:schemeClr>
                </a:solidFill>
              </a:rPr>
              <a:t> 약가 인하에 대한 손해배상</a:t>
            </a:r>
            <a:endParaRPr lang="en-US" altLang="ko-KR" sz="1200" dirty="0">
              <a:solidFill>
                <a:schemeClr val="accent2">
                  <a:lumMod val="50000"/>
                </a:schemeClr>
              </a:solidFill>
            </a:endParaRPr>
          </a:p>
          <a:p>
            <a:r>
              <a:rPr lang="en-US" altLang="ko-KR" sz="1200" dirty="0">
                <a:solidFill>
                  <a:schemeClr val="accent2">
                    <a:lumMod val="50000"/>
                  </a:schemeClr>
                </a:solidFill>
              </a:rPr>
              <a:t>  (</a:t>
            </a:r>
            <a:r>
              <a:rPr lang="ko-KR" altLang="en-US" sz="1200" dirty="0">
                <a:solidFill>
                  <a:schemeClr val="accent2">
                    <a:lumMod val="50000"/>
                  </a:schemeClr>
                </a:solidFill>
              </a:rPr>
              <a:t>독점적 통상실시권에 대한 불법행위</a:t>
            </a:r>
            <a:r>
              <a:rPr lang="en-US" altLang="ko-KR" sz="1200" dirty="0">
                <a:solidFill>
                  <a:schemeClr val="accent2">
                    <a:lumMod val="50000"/>
                  </a:schemeClr>
                </a:solidFill>
              </a:rPr>
              <a:t>)</a:t>
            </a:r>
            <a:endParaRPr lang="ko-KR" altLang="en-US" sz="1200" dirty="0">
              <a:solidFill>
                <a:schemeClr val="accent2">
                  <a:lumMod val="50000"/>
                </a:schemeClr>
              </a:solidFill>
            </a:endParaRPr>
          </a:p>
        </p:txBody>
      </p:sp>
    </p:spTree>
    <p:extLst>
      <p:ext uri="{BB962C8B-B14F-4D97-AF65-F5344CB8AC3E}">
        <p14:creationId xmlns:p14="http://schemas.microsoft.com/office/powerpoint/2010/main" val="516917483"/>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TextBox 64">
            <a:extLst>
              <a:ext uri="{FF2B5EF4-FFF2-40B4-BE49-F238E27FC236}">
                <a16:creationId xmlns:a16="http://schemas.microsoft.com/office/drawing/2014/main" id="{41D0BB0B-1F8E-4831-9E42-BE222378E1EC}"/>
              </a:ext>
            </a:extLst>
          </p:cNvPr>
          <p:cNvSpPr txBox="1"/>
          <p:nvPr/>
        </p:nvSpPr>
        <p:spPr>
          <a:xfrm>
            <a:off x="10848727" y="3159959"/>
            <a:ext cx="508473" cy="307777"/>
          </a:xfrm>
          <a:prstGeom prst="rect">
            <a:avLst/>
          </a:prstGeom>
          <a:solidFill>
            <a:schemeClr val="accent1">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lang="ko-KR" altLang="en-US" sz="1400" dirty="0">
                <a:solidFill>
                  <a:schemeClr val="bg1">
                    <a:lumMod val="95000"/>
                  </a:schemeClr>
                </a:solidFill>
                <a:latin typeface="+mn-ea"/>
              </a:rPr>
              <a:t>판단</a:t>
            </a:r>
          </a:p>
        </p:txBody>
      </p:sp>
      <p:sp>
        <p:nvSpPr>
          <p:cNvPr id="3" name="제목 2"/>
          <p:cNvSpPr>
            <a:spLocks noGrp="1"/>
          </p:cNvSpPr>
          <p:nvPr>
            <p:ph type="title"/>
          </p:nvPr>
        </p:nvSpPr>
        <p:spPr/>
        <p:txBody>
          <a:bodyPr/>
          <a:lstStyle/>
          <a:p>
            <a:r>
              <a:rPr lang="ko-KR" altLang="en-US" dirty="0"/>
              <a:t>제</a:t>
            </a:r>
            <a:r>
              <a:rPr lang="en-US" altLang="ko-KR" dirty="0"/>
              <a:t>101</a:t>
            </a:r>
            <a:r>
              <a:rPr lang="ko-KR" altLang="en-US" dirty="0"/>
              <a:t>조</a:t>
            </a:r>
          </a:p>
        </p:txBody>
      </p:sp>
      <p:sp>
        <p:nvSpPr>
          <p:cNvPr id="4" name="텍스트 개체 틀 3"/>
          <p:cNvSpPr>
            <a:spLocks noGrp="1"/>
          </p:cNvSpPr>
          <p:nvPr>
            <p:ph type="body" sz="quarter" idx="13"/>
          </p:nvPr>
        </p:nvSpPr>
        <p:spPr/>
        <p:txBody>
          <a:bodyPr/>
          <a:lstStyle/>
          <a:p>
            <a:r>
              <a:rPr lang="ko-KR" altLang="en-US" dirty="0"/>
              <a:t>전용실시권 등록의 제한 </a:t>
            </a:r>
            <a:r>
              <a:rPr lang="en-US" altLang="ko-KR" dirty="0"/>
              <a:t>CASE(</a:t>
            </a:r>
            <a:r>
              <a:rPr lang="ko-KR" altLang="en-US" dirty="0"/>
              <a:t>제</a:t>
            </a:r>
            <a:r>
              <a:rPr lang="en-US" altLang="ko-KR" dirty="0"/>
              <a:t>101</a:t>
            </a:r>
            <a:r>
              <a:rPr lang="ko-KR" altLang="en-US" dirty="0"/>
              <a:t>조제</a:t>
            </a:r>
            <a:r>
              <a:rPr lang="en-US" altLang="ko-KR" dirty="0"/>
              <a:t>1</a:t>
            </a:r>
            <a:r>
              <a:rPr lang="ko-KR" altLang="en-US" dirty="0" err="1"/>
              <a:t>항제</a:t>
            </a:r>
            <a:r>
              <a:rPr lang="en-US" altLang="ko-KR" dirty="0"/>
              <a:t>2</a:t>
            </a:r>
            <a:r>
              <a:rPr lang="ko-KR" altLang="en-US" dirty="0"/>
              <a:t>호</a:t>
            </a:r>
            <a:r>
              <a:rPr lang="en-US" altLang="ko-KR" dirty="0"/>
              <a:t>)</a:t>
            </a:r>
            <a:endParaRPr lang="ko-KR" altLang="en-US" dirty="0"/>
          </a:p>
        </p:txBody>
      </p:sp>
      <p:sp>
        <p:nvSpPr>
          <p:cNvPr id="2" name="슬라이드 번호 개체 틀 1"/>
          <p:cNvSpPr>
            <a:spLocks noGrp="1"/>
          </p:cNvSpPr>
          <p:nvPr>
            <p:ph type="sldNum" sz="quarter" idx="4294967295"/>
          </p:nvPr>
        </p:nvSpPr>
        <p:spPr>
          <a:xfrm>
            <a:off x="11125200" y="0"/>
            <a:ext cx="1066800" cy="744538"/>
          </a:xfrm>
        </p:spPr>
        <p:txBody>
          <a:bodyPr/>
          <a:lstStyle/>
          <a:p>
            <a:r>
              <a:rPr lang="en-US" altLang="ko-KR"/>
              <a:t>412</a:t>
            </a:r>
            <a:endParaRPr lang="ko-KR" altLang="en-US"/>
          </a:p>
        </p:txBody>
      </p:sp>
      <p:sp>
        <p:nvSpPr>
          <p:cNvPr id="31" name="모서리가 둥근 직사각형 10">
            <a:extLst>
              <a:ext uri="{FF2B5EF4-FFF2-40B4-BE49-F238E27FC236}">
                <a16:creationId xmlns:a16="http://schemas.microsoft.com/office/drawing/2014/main" id="{83E8DC17-A890-4A8F-8AF6-87049ACC89A5}"/>
              </a:ext>
            </a:extLst>
          </p:cNvPr>
          <p:cNvSpPr/>
          <p:nvPr/>
        </p:nvSpPr>
        <p:spPr bwMode="auto">
          <a:xfrm>
            <a:off x="378418" y="1002199"/>
            <a:ext cx="4981233"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2013. 1. 24. </a:t>
            </a:r>
            <a:r>
              <a:rPr lang="ko-KR" altLang="en-US" sz="1400" dirty="0"/>
              <a:t>선고 </a:t>
            </a:r>
            <a:r>
              <a:rPr lang="en-US" altLang="ko-KR" sz="1400" dirty="0"/>
              <a:t>2011</a:t>
            </a:r>
            <a:r>
              <a:rPr lang="ko-KR" altLang="en-US" sz="1400" dirty="0"/>
              <a:t>도</a:t>
            </a:r>
            <a:r>
              <a:rPr lang="en-US" altLang="ko-KR" sz="1400" dirty="0"/>
              <a:t>4645  </a:t>
            </a:r>
            <a:r>
              <a:rPr lang="ko-KR" altLang="en-US" sz="1400" dirty="0"/>
              <a:t>판결 </a:t>
            </a:r>
            <a:r>
              <a:rPr lang="en-US" altLang="ko-KR" sz="1400" dirty="0"/>
              <a:t>【</a:t>
            </a:r>
            <a:r>
              <a:rPr lang="ko-KR" altLang="en-US" sz="1400" dirty="0"/>
              <a:t>특허법위반</a:t>
            </a:r>
            <a:r>
              <a:rPr lang="en-US" altLang="ko-KR" sz="1400" dirty="0"/>
              <a:t>】</a:t>
            </a:r>
          </a:p>
        </p:txBody>
      </p:sp>
      <p:sp>
        <p:nvSpPr>
          <p:cNvPr id="32" name="직사각형 31">
            <a:extLst>
              <a:ext uri="{FF2B5EF4-FFF2-40B4-BE49-F238E27FC236}">
                <a16:creationId xmlns:a16="http://schemas.microsoft.com/office/drawing/2014/main" id="{AB016C75-8430-4388-9E51-7B3101DE3CF1}"/>
              </a:ext>
            </a:extLst>
          </p:cNvPr>
          <p:cNvSpPr/>
          <p:nvPr/>
        </p:nvSpPr>
        <p:spPr>
          <a:xfrm>
            <a:off x="253497" y="1324605"/>
            <a:ext cx="11660862" cy="954107"/>
          </a:xfrm>
          <a:prstGeom prst="rect">
            <a:avLst/>
          </a:prstGeom>
        </p:spPr>
        <p:txBody>
          <a:bodyPr wrap="square">
            <a:spAutoFit/>
          </a:bodyPr>
          <a:lstStyle/>
          <a:p>
            <a:pPr algn="just"/>
            <a:r>
              <a:rPr lang="ko-KR" altLang="en-US" sz="1400" dirty="0"/>
              <a:t>특허법 제</a:t>
            </a:r>
            <a:r>
              <a:rPr lang="en-US" altLang="ko-KR" sz="1400" dirty="0"/>
              <a:t>101</a:t>
            </a:r>
            <a:r>
              <a:rPr lang="ko-KR" altLang="en-US" sz="1400" dirty="0"/>
              <a:t>조 제</a:t>
            </a:r>
            <a:r>
              <a:rPr lang="en-US" altLang="ko-KR" sz="1400" dirty="0"/>
              <a:t>1</a:t>
            </a:r>
            <a:r>
              <a:rPr lang="ko-KR" altLang="en-US" sz="1400" dirty="0"/>
              <a:t>항은 “다음 각 호에 해당하는 사항은 이를 등록하지 아니하면 그 효력이 발생하지 </a:t>
            </a:r>
            <a:r>
              <a:rPr lang="ko-KR" altLang="en-US" sz="1400" dirty="0" err="1"/>
              <a:t>아니한다”고</a:t>
            </a:r>
            <a:r>
              <a:rPr lang="ko-KR" altLang="en-US" sz="1400" dirty="0"/>
              <a:t> 하면서</a:t>
            </a:r>
            <a:r>
              <a:rPr lang="en-US" altLang="ko-KR" sz="1400" dirty="0"/>
              <a:t>, </a:t>
            </a:r>
            <a:r>
              <a:rPr lang="ko-KR" altLang="en-US" sz="1400" dirty="0"/>
              <a:t>제</a:t>
            </a:r>
            <a:r>
              <a:rPr lang="en-US" altLang="ko-KR" sz="1400" dirty="0"/>
              <a:t>2</a:t>
            </a:r>
            <a:r>
              <a:rPr lang="ko-KR" altLang="en-US" sz="1400" dirty="0"/>
              <a:t>호에 “전용실시권의 </a:t>
            </a:r>
            <a:r>
              <a:rPr lang="ko-KR" altLang="en-US" sz="1400" dirty="0" err="1"/>
              <a:t>설정･이전</a:t>
            </a:r>
            <a:r>
              <a:rPr lang="en-US" altLang="ko-KR" sz="1400" dirty="0"/>
              <a:t>(</a:t>
            </a:r>
            <a:r>
              <a:rPr lang="ko-KR" altLang="en-US" sz="1400" dirty="0"/>
              <a:t>상속 기타 일반승계에 의한 경우를 제외한다</a:t>
            </a:r>
            <a:r>
              <a:rPr lang="en-US" altLang="ko-KR" sz="1400" dirty="0"/>
              <a:t>)</a:t>
            </a:r>
            <a:r>
              <a:rPr lang="ko-KR" altLang="en-US" sz="1400" dirty="0"/>
              <a:t>･</a:t>
            </a:r>
            <a:r>
              <a:rPr lang="ko-KR" altLang="en-US" sz="1400" dirty="0" err="1"/>
              <a:t>변경･소멸</a:t>
            </a:r>
            <a:r>
              <a:rPr lang="en-US" altLang="ko-KR" sz="1400" dirty="0"/>
              <a:t>(</a:t>
            </a:r>
            <a:r>
              <a:rPr lang="ko-KR" altLang="en-US" sz="1400" dirty="0"/>
              <a:t>혼동에 의한 경우를 제외한다</a:t>
            </a:r>
            <a:r>
              <a:rPr lang="en-US" altLang="ko-KR" sz="1400" dirty="0"/>
              <a:t>) </a:t>
            </a:r>
            <a:r>
              <a:rPr lang="ko-KR" altLang="en-US" sz="1400" dirty="0"/>
              <a:t>또는 처분의 </a:t>
            </a:r>
            <a:r>
              <a:rPr lang="ko-KR" altLang="en-US" sz="1400" dirty="0" err="1"/>
              <a:t>제한”을</a:t>
            </a:r>
            <a:r>
              <a:rPr lang="ko-KR" altLang="en-US" sz="1400" dirty="0"/>
              <a:t> 규정하고 있다</a:t>
            </a:r>
            <a:r>
              <a:rPr lang="en-US" altLang="ko-KR" sz="1400" dirty="0"/>
              <a:t>. </a:t>
            </a:r>
            <a:r>
              <a:rPr lang="ko-KR" altLang="en-US" sz="1400" dirty="0"/>
              <a:t>따라서 </a:t>
            </a:r>
            <a:r>
              <a:rPr lang="ko-KR" altLang="en-US" sz="1400" dirty="0">
                <a:highlight>
                  <a:srgbClr val="FFFF00"/>
                </a:highlight>
              </a:rPr>
              <a:t>설정계약으로 전용실시권의 범위에 관하여 특별한 제한을 두고도 이를 등록하지 않으면 그 효력이 발생하지 않는 것이므로</a:t>
            </a:r>
            <a:r>
              <a:rPr lang="en-US" altLang="ko-KR" sz="1400" dirty="0"/>
              <a:t>, </a:t>
            </a:r>
            <a:r>
              <a:rPr lang="ko-KR" altLang="en-US" sz="1400" dirty="0" err="1"/>
              <a:t>전용실시권자가</a:t>
            </a:r>
            <a:r>
              <a:rPr lang="ko-KR" altLang="en-US" sz="1400" dirty="0"/>
              <a:t> 등록되어 있지 않은 제한을 넘어 특허발명을 실시하더라도</a:t>
            </a:r>
            <a:r>
              <a:rPr lang="en-US" altLang="ko-KR" sz="1400" dirty="0"/>
              <a:t>,</a:t>
            </a:r>
            <a:r>
              <a:rPr lang="en-US" altLang="ko-KR" sz="1400" dirty="0">
                <a:highlight>
                  <a:srgbClr val="FFFF00"/>
                </a:highlight>
              </a:rPr>
              <a:t> </a:t>
            </a:r>
            <a:r>
              <a:rPr lang="ko-KR" altLang="en-US" sz="1400" dirty="0">
                <a:highlight>
                  <a:srgbClr val="FFFF00"/>
                </a:highlight>
              </a:rPr>
              <a:t>특허권자에 대하여 채무불이행 책임을 지게 됨은 별론으로 하고 특허권 침해가 성립하는 것은 아니다</a:t>
            </a:r>
            <a:r>
              <a:rPr lang="en-US" altLang="ko-KR" sz="1400" dirty="0">
                <a:solidFill>
                  <a:srgbClr val="FF0000"/>
                </a:solidFill>
              </a:rPr>
              <a:t>.</a:t>
            </a:r>
          </a:p>
        </p:txBody>
      </p:sp>
      <p:cxnSp>
        <p:nvCxnSpPr>
          <p:cNvPr id="33" name="직선 연결선 32">
            <a:extLst>
              <a:ext uri="{FF2B5EF4-FFF2-40B4-BE49-F238E27FC236}">
                <a16:creationId xmlns:a16="http://schemas.microsoft.com/office/drawing/2014/main" id="{3B7D8B57-08E9-4752-8D90-0D1D0602B6B2}"/>
              </a:ext>
            </a:extLst>
          </p:cNvPr>
          <p:cNvCxnSpPr/>
          <p:nvPr/>
        </p:nvCxnSpPr>
        <p:spPr>
          <a:xfrm>
            <a:off x="0" y="2314900"/>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Line 5">
            <a:extLst>
              <a:ext uri="{FF2B5EF4-FFF2-40B4-BE49-F238E27FC236}">
                <a16:creationId xmlns:a16="http://schemas.microsoft.com/office/drawing/2014/main" id="{C3D521F3-C89A-4691-A233-1BC4F6DB64D3}"/>
              </a:ext>
            </a:extLst>
          </p:cNvPr>
          <p:cNvSpPr>
            <a:spLocks noChangeShapeType="1"/>
          </p:cNvSpPr>
          <p:nvPr/>
        </p:nvSpPr>
        <p:spPr bwMode="auto">
          <a:xfrm>
            <a:off x="514351" y="2903784"/>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4" name="TextBox 43">
            <a:extLst>
              <a:ext uri="{FF2B5EF4-FFF2-40B4-BE49-F238E27FC236}">
                <a16:creationId xmlns:a16="http://schemas.microsoft.com/office/drawing/2014/main" id="{890F57E0-0C93-429E-B52D-950B18A62824}"/>
              </a:ext>
            </a:extLst>
          </p:cNvPr>
          <p:cNvSpPr txBox="1"/>
          <p:nvPr/>
        </p:nvSpPr>
        <p:spPr>
          <a:xfrm>
            <a:off x="704164" y="3159959"/>
            <a:ext cx="1871436" cy="523220"/>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甲과 乙의 </a:t>
            </a:r>
            <a:endParaRPr lang="en-US" altLang="ko-KR" sz="1400" dirty="0">
              <a:solidFill>
                <a:schemeClr val="tx1"/>
              </a:solidFill>
              <a:latin typeface="+mn-ea"/>
            </a:endParaRPr>
          </a:p>
          <a:p>
            <a:pPr algn="ctr"/>
            <a:r>
              <a:rPr lang="ko-KR" altLang="en-US" sz="1400" dirty="0">
                <a:solidFill>
                  <a:schemeClr val="tx1"/>
                </a:solidFill>
                <a:latin typeface="+mn-ea"/>
              </a:rPr>
              <a:t>전용실시권 계약</a:t>
            </a:r>
          </a:p>
        </p:txBody>
      </p:sp>
      <p:sp>
        <p:nvSpPr>
          <p:cNvPr id="47" name="타원 46">
            <a:extLst>
              <a:ext uri="{FF2B5EF4-FFF2-40B4-BE49-F238E27FC236}">
                <a16:creationId xmlns:a16="http://schemas.microsoft.com/office/drawing/2014/main" id="{1E416A6A-17E0-4A3B-8C28-9560A00280A4}"/>
              </a:ext>
            </a:extLst>
          </p:cNvPr>
          <p:cNvSpPr/>
          <p:nvPr/>
        </p:nvSpPr>
        <p:spPr>
          <a:xfrm>
            <a:off x="1562512" y="28098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8" name="직선 연결선 47">
            <a:extLst>
              <a:ext uri="{FF2B5EF4-FFF2-40B4-BE49-F238E27FC236}">
                <a16:creationId xmlns:a16="http://schemas.microsoft.com/office/drawing/2014/main" id="{94B9FD84-6472-4A38-96A7-0961D12BE1A4}"/>
              </a:ext>
            </a:extLst>
          </p:cNvPr>
          <p:cNvCxnSpPr>
            <a:cxnSpLocks/>
            <a:stCxn id="44" idx="0"/>
            <a:endCxn id="47" idx="4"/>
          </p:cNvCxnSpPr>
          <p:nvPr/>
        </p:nvCxnSpPr>
        <p:spPr>
          <a:xfrm flipH="1" flipV="1">
            <a:off x="1639881" y="297118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E06C7183-3A8A-4CA0-89EE-E9F87C3CAAC7}"/>
              </a:ext>
            </a:extLst>
          </p:cNvPr>
          <p:cNvSpPr txBox="1"/>
          <p:nvPr/>
        </p:nvSpPr>
        <p:spPr>
          <a:xfrm>
            <a:off x="566709" y="3838963"/>
            <a:ext cx="2146346" cy="2677656"/>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just"/>
            <a:r>
              <a:rPr lang="ko-KR" altLang="en-US" sz="1200" dirty="0">
                <a:solidFill>
                  <a:schemeClr val="tx1"/>
                </a:solidFill>
                <a:latin typeface="+mn-ea"/>
              </a:rPr>
              <a:t>상기 본인</a:t>
            </a:r>
            <a:r>
              <a:rPr lang="en-US" altLang="ko-KR" sz="1200" dirty="0">
                <a:solidFill>
                  <a:schemeClr val="tx1"/>
                </a:solidFill>
                <a:latin typeface="+mn-ea"/>
              </a:rPr>
              <a:t>(</a:t>
            </a:r>
            <a:r>
              <a:rPr lang="ko-KR" altLang="en-US" sz="1200" dirty="0">
                <a:solidFill>
                  <a:schemeClr val="tx1"/>
                </a:solidFill>
                <a:latin typeface="+mn-ea"/>
              </a:rPr>
              <a:t>을</a:t>
            </a:r>
            <a:r>
              <a:rPr lang="en-US" altLang="ko-KR" sz="1200" dirty="0">
                <a:solidFill>
                  <a:schemeClr val="tx1"/>
                </a:solidFill>
                <a:latin typeface="+mn-ea"/>
              </a:rPr>
              <a:t>)</a:t>
            </a:r>
            <a:r>
              <a:rPr lang="ko-KR" altLang="en-US" sz="1200" dirty="0">
                <a:solidFill>
                  <a:schemeClr val="tx1"/>
                </a:solidFill>
                <a:latin typeface="+mn-ea"/>
              </a:rPr>
              <a:t>은 </a:t>
            </a:r>
            <a:r>
              <a:rPr lang="en-US" altLang="ko-KR" sz="1200" dirty="0">
                <a:solidFill>
                  <a:schemeClr val="tx1"/>
                </a:solidFill>
                <a:latin typeface="+mn-ea"/>
              </a:rPr>
              <a:t>2007. 10. 8. </a:t>
            </a:r>
            <a:r>
              <a:rPr lang="ko-KR" altLang="en-US" sz="1200" dirty="0">
                <a:solidFill>
                  <a:schemeClr val="tx1"/>
                </a:solidFill>
                <a:latin typeface="+mn-ea"/>
              </a:rPr>
              <a:t>귀하 명의 공기정화제 특허를 </a:t>
            </a:r>
            <a:r>
              <a:rPr lang="ko-KR" altLang="en-US" sz="1200" dirty="0" err="1">
                <a:solidFill>
                  <a:schemeClr val="tx1"/>
                </a:solidFill>
                <a:latin typeface="+mn-ea"/>
              </a:rPr>
              <a:t>설정하였는바</a:t>
            </a:r>
            <a:r>
              <a:rPr lang="en-US" altLang="ko-KR" sz="1200" dirty="0">
                <a:solidFill>
                  <a:schemeClr val="tx1"/>
                </a:solidFill>
                <a:latin typeface="+mn-ea"/>
              </a:rPr>
              <a:t>, </a:t>
            </a:r>
            <a:r>
              <a:rPr lang="ko-KR" altLang="en-US" sz="1200" dirty="0">
                <a:solidFill>
                  <a:schemeClr val="tx1"/>
                </a:solidFill>
                <a:latin typeface="+mn-ea"/>
              </a:rPr>
              <a:t>이에 관련하여 설정기간에 타인으로부터 특허 침해가 되지 않도록 관리의무를 철저히 할 것이며</a:t>
            </a:r>
            <a:r>
              <a:rPr lang="en-US" altLang="ko-KR" sz="1200" dirty="0">
                <a:solidFill>
                  <a:schemeClr val="tx1"/>
                </a:solidFill>
                <a:latin typeface="+mn-ea"/>
              </a:rPr>
              <a:t>, </a:t>
            </a:r>
            <a:r>
              <a:rPr lang="ko-KR" altLang="en-US" sz="1200" dirty="0">
                <a:solidFill>
                  <a:schemeClr val="tx1"/>
                </a:solidFill>
                <a:latin typeface="+mn-ea"/>
              </a:rPr>
              <a:t>또한 </a:t>
            </a:r>
            <a:r>
              <a:rPr lang="ko-KR" altLang="en-US" sz="1200" dirty="0">
                <a:solidFill>
                  <a:srgbClr val="FF0000"/>
                </a:solidFill>
                <a:latin typeface="+mn-ea"/>
              </a:rPr>
              <a:t>귀하의 승낙 없이 특허를 임의대로 사용</a:t>
            </a:r>
            <a:r>
              <a:rPr lang="ko-KR" altLang="en-US" sz="1200" dirty="0">
                <a:solidFill>
                  <a:schemeClr val="tx1"/>
                </a:solidFill>
                <a:latin typeface="+mn-ea"/>
              </a:rPr>
              <a:t>하지 않을 것입니다</a:t>
            </a:r>
            <a:r>
              <a:rPr lang="en-US" altLang="ko-KR" sz="1200" dirty="0">
                <a:solidFill>
                  <a:schemeClr val="tx1"/>
                </a:solidFill>
                <a:latin typeface="+mn-ea"/>
              </a:rPr>
              <a:t>. </a:t>
            </a:r>
            <a:r>
              <a:rPr lang="ko-KR" altLang="en-US" sz="1200" dirty="0">
                <a:solidFill>
                  <a:schemeClr val="tx1"/>
                </a:solidFill>
                <a:latin typeface="+mn-ea"/>
              </a:rPr>
              <a:t>그리고 언제든지 귀하로부터 본인의 채권</a:t>
            </a:r>
            <a:r>
              <a:rPr lang="en-US" altLang="ko-KR" sz="1200" dirty="0">
                <a:solidFill>
                  <a:schemeClr val="tx1"/>
                </a:solidFill>
                <a:latin typeface="+mn-ea"/>
              </a:rPr>
              <a:t>(</a:t>
            </a:r>
            <a:r>
              <a:rPr lang="ko-KR" altLang="en-US" sz="1200" dirty="0">
                <a:solidFill>
                  <a:schemeClr val="tx1"/>
                </a:solidFill>
                <a:latin typeface="+mn-ea"/>
              </a:rPr>
              <a:t>현재 </a:t>
            </a:r>
            <a:r>
              <a:rPr lang="en-US" altLang="ko-KR" sz="1200" dirty="0">
                <a:solidFill>
                  <a:schemeClr val="tx1"/>
                </a:solidFill>
                <a:latin typeface="+mn-ea"/>
              </a:rPr>
              <a:t>3</a:t>
            </a:r>
            <a:r>
              <a:rPr lang="ko-KR" altLang="en-US" sz="1200" dirty="0">
                <a:solidFill>
                  <a:schemeClr val="tx1"/>
                </a:solidFill>
                <a:latin typeface="+mn-ea"/>
              </a:rPr>
              <a:t>억 원 및 추가 채권이 있는 경우 포함</a:t>
            </a:r>
            <a:r>
              <a:rPr lang="en-US" altLang="ko-KR" sz="1200" dirty="0">
                <a:solidFill>
                  <a:schemeClr val="tx1"/>
                </a:solidFill>
                <a:latin typeface="+mn-ea"/>
              </a:rPr>
              <a:t>)</a:t>
            </a:r>
            <a:r>
              <a:rPr lang="ko-KR" altLang="en-US" sz="1200" dirty="0">
                <a:solidFill>
                  <a:schemeClr val="tx1"/>
                </a:solidFill>
                <a:latin typeface="+mn-ea"/>
              </a:rPr>
              <a:t>을 변제하고 설정 해지 요구가 있을 경우 즉시 해지해 드릴 것을 약속하며 이에 </a:t>
            </a:r>
            <a:r>
              <a:rPr lang="ko-KR" altLang="en-US" sz="1200" dirty="0" err="1">
                <a:solidFill>
                  <a:schemeClr val="tx1"/>
                </a:solidFill>
                <a:latin typeface="+mn-ea"/>
              </a:rPr>
              <a:t>서명날인합니다</a:t>
            </a:r>
            <a:endParaRPr lang="ko-KR" altLang="en-US" sz="1200" dirty="0">
              <a:solidFill>
                <a:schemeClr val="tx1"/>
              </a:solidFill>
              <a:latin typeface="+mn-ea"/>
            </a:endParaRPr>
          </a:p>
        </p:txBody>
      </p:sp>
      <p:sp>
        <p:nvSpPr>
          <p:cNvPr id="62" name="TextBox 61">
            <a:extLst>
              <a:ext uri="{FF2B5EF4-FFF2-40B4-BE49-F238E27FC236}">
                <a16:creationId xmlns:a16="http://schemas.microsoft.com/office/drawing/2014/main" id="{5CD16809-C4A7-44CE-9A18-97BA633F6083}"/>
              </a:ext>
            </a:extLst>
          </p:cNvPr>
          <p:cNvSpPr txBox="1"/>
          <p:nvPr/>
        </p:nvSpPr>
        <p:spPr>
          <a:xfrm>
            <a:off x="5041478" y="3159960"/>
            <a:ext cx="1947970" cy="773866"/>
          </a:xfrm>
          <a:prstGeom prst="rect">
            <a:avLst/>
          </a:prstGeom>
          <a:solidFill>
            <a:schemeClr val="accent4">
              <a:lumMod val="40000"/>
              <a:lumOff val="6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oAutofit/>
          </a:bodyPr>
          <a:lstStyle/>
          <a:p>
            <a:pPr algn="ctr"/>
            <a:r>
              <a:rPr lang="ko-KR" altLang="en-US" sz="1400" dirty="0">
                <a:solidFill>
                  <a:schemeClr val="tx1"/>
                </a:solidFill>
                <a:latin typeface="+mn-ea"/>
              </a:rPr>
              <a:t>乙이 공기정화제 사용한 </a:t>
            </a:r>
            <a:r>
              <a:rPr lang="ko-KR" altLang="en-US" sz="1400" dirty="0" err="1">
                <a:solidFill>
                  <a:schemeClr val="tx1"/>
                </a:solidFill>
                <a:latin typeface="+mn-ea"/>
              </a:rPr>
              <a:t>침대용</a:t>
            </a:r>
            <a:r>
              <a:rPr lang="ko-KR" altLang="en-US" sz="1400" dirty="0">
                <a:solidFill>
                  <a:schemeClr val="tx1"/>
                </a:solidFill>
                <a:latin typeface="+mn-ea"/>
              </a:rPr>
              <a:t> 카트리지를 생산하여 거래처 납품 </a:t>
            </a:r>
          </a:p>
        </p:txBody>
      </p:sp>
      <p:sp>
        <p:nvSpPr>
          <p:cNvPr id="63" name="타원 62">
            <a:extLst>
              <a:ext uri="{FF2B5EF4-FFF2-40B4-BE49-F238E27FC236}">
                <a16:creationId xmlns:a16="http://schemas.microsoft.com/office/drawing/2014/main" id="{FE7E84DE-983F-469F-B385-5DD99D3002FB}"/>
              </a:ext>
            </a:extLst>
          </p:cNvPr>
          <p:cNvSpPr/>
          <p:nvPr/>
        </p:nvSpPr>
        <p:spPr>
          <a:xfrm>
            <a:off x="5938090" y="28098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4" name="직선 연결선 63">
            <a:extLst>
              <a:ext uri="{FF2B5EF4-FFF2-40B4-BE49-F238E27FC236}">
                <a16:creationId xmlns:a16="http://schemas.microsoft.com/office/drawing/2014/main" id="{3E261082-147B-40B2-927C-0F24B41D5FCE}"/>
              </a:ext>
            </a:extLst>
          </p:cNvPr>
          <p:cNvCxnSpPr>
            <a:cxnSpLocks/>
            <a:stCxn id="62" idx="0"/>
            <a:endCxn id="63" idx="4"/>
          </p:cNvCxnSpPr>
          <p:nvPr/>
        </p:nvCxnSpPr>
        <p:spPr>
          <a:xfrm flipH="1" flipV="1">
            <a:off x="6015459" y="2971188"/>
            <a:ext cx="4" cy="18877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6" name="타원 65">
            <a:extLst>
              <a:ext uri="{FF2B5EF4-FFF2-40B4-BE49-F238E27FC236}">
                <a16:creationId xmlns:a16="http://schemas.microsoft.com/office/drawing/2014/main" id="{6DCC2D84-C776-4113-8BB2-E7990440EE5E}"/>
              </a:ext>
            </a:extLst>
          </p:cNvPr>
          <p:cNvSpPr/>
          <p:nvPr/>
        </p:nvSpPr>
        <p:spPr>
          <a:xfrm>
            <a:off x="11025594" y="28098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7" name="직선 연결선 66">
            <a:extLst>
              <a:ext uri="{FF2B5EF4-FFF2-40B4-BE49-F238E27FC236}">
                <a16:creationId xmlns:a16="http://schemas.microsoft.com/office/drawing/2014/main" id="{ADE85959-105F-4189-96D0-83C390BEC4F9}"/>
              </a:ext>
            </a:extLst>
          </p:cNvPr>
          <p:cNvCxnSpPr>
            <a:stCxn id="65" idx="0"/>
            <a:endCxn id="66" idx="4"/>
          </p:cNvCxnSpPr>
          <p:nvPr/>
        </p:nvCxnSpPr>
        <p:spPr>
          <a:xfrm flipH="1" flipV="1">
            <a:off x="11102963" y="297118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 name="직선 연결선 7">
            <a:extLst>
              <a:ext uri="{FF2B5EF4-FFF2-40B4-BE49-F238E27FC236}">
                <a16:creationId xmlns:a16="http://schemas.microsoft.com/office/drawing/2014/main" id="{3D153D81-5D9C-4AFA-8718-9C080C141B39}"/>
              </a:ext>
            </a:extLst>
          </p:cNvPr>
          <p:cNvCxnSpPr>
            <a:stCxn id="44" idx="2"/>
            <a:endCxn id="50" idx="0"/>
          </p:cNvCxnSpPr>
          <p:nvPr/>
        </p:nvCxnSpPr>
        <p:spPr>
          <a:xfrm>
            <a:off x="1639882" y="3683179"/>
            <a:ext cx="0" cy="15578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71C02078-6C4F-4F1C-8610-22DCE684B2F3}"/>
              </a:ext>
            </a:extLst>
          </p:cNvPr>
          <p:cNvSpPr txBox="1"/>
          <p:nvPr/>
        </p:nvSpPr>
        <p:spPr>
          <a:xfrm>
            <a:off x="5162515" y="4388073"/>
            <a:ext cx="6524660" cy="160043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just"/>
            <a:r>
              <a:rPr lang="ko-KR" altLang="en-US" sz="1400" dirty="0">
                <a:solidFill>
                  <a:schemeClr val="tx1"/>
                </a:solidFill>
                <a:latin typeface="+mn-ea"/>
              </a:rPr>
              <a:t>乙이 비록 </a:t>
            </a:r>
            <a:r>
              <a:rPr lang="en-US" altLang="ko-KR" sz="1400" dirty="0">
                <a:solidFill>
                  <a:schemeClr val="tx1"/>
                </a:solidFill>
                <a:latin typeface="+mn-ea"/>
              </a:rPr>
              <a:t>2009. 3. 27. </a:t>
            </a:r>
            <a:r>
              <a:rPr lang="ko-KR" altLang="en-US" sz="1400" dirty="0">
                <a:solidFill>
                  <a:schemeClr val="tx1"/>
                </a:solidFill>
                <a:latin typeface="+mn-ea"/>
              </a:rPr>
              <a:t>丙에게 전용실시권 전부를 </a:t>
            </a:r>
            <a:r>
              <a:rPr lang="ko-KR" altLang="en-US" sz="1400" dirty="0" err="1">
                <a:solidFill>
                  <a:schemeClr val="tx1"/>
                </a:solidFill>
                <a:latin typeface="+mn-ea"/>
              </a:rPr>
              <a:t>이전등록하였다고</a:t>
            </a:r>
            <a:r>
              <a:rPr lang="ko-KR" altLang="en-US" sz="1400" dirty="0">
                <a:solidFill>
                  <a:schemeClr val="tx1"/>
                </a:solidFill>
                <a:latin typeface="+mn-ea"/>
              </a:rPr>
              <a:t> 하더라도 甲의 동의를 받지 아니한 이상 위 이전은 무효이므로</a:t>
            </a:r>
            <a:r>
              <a:rPr lang="en-US" altLang="ko-KR" sz="1400" dirty="0">
                <a:solidFill>
                  <a:schemeClr val="tx1"/>
                </a:solidFill>
                <a:latin typeface="+mn-ea"/>
              </a:rPr>
              <a:t>, </a:t>
            </a:r>
            <a:r>
              <a:rPr lang="ko-KR" altLang="en-US" sz="1400" dirty="0">
                <a:solidFill>
                  <a:schemeClr val="tx1"/>
                </a:solidFill>
                <a:latin typeface="+mn-ea"/>
              </a:rPr>
              <a:t>乙은 여전히 </a:t>
            </a:r>
            <a:r>
              <a:rPr lang="ko-KR" altLang="en-US" sz="1400" dirty="0" err="1">
                <a:solidFill>
                  <a:schemeClr val="tx1"/>
                </a:solidFill>
                <a:latin typeface="+mn-ea"/>
              </a:rPr>
              <a:t>전용실시권자라고</a:t>
            </a:r>
            <a:r>
              <a:rPr lang="ko-KR" altLang="en-US" sz="1400" dirty="0">
                <a:solidFill>
                  <a:schemeClr val="tx1"/>
                </a:solidFill>
                <a:latin typeface="+mn-ea"/>
              </a:rPr>
              <a:t> 할 것이다</a:t>
            </a:r>
            <a:r>
              <a:rPr lang="en-US" altLang="ko-KR" sz="1400" dirty="0">
                <a:solidFill>
                  <a:schemeClr val="tx1"/>
                </a:solidFill>
                <a:latin typeface="+mn-ea"/>
              </a:rPr>
              <a:t>. </a:t>
            </a:r>
            <a:r>
              <a:rPr lang="ko-KR" altLang="en-US" sz="1400" dirty="0">
                <a:solidFill>
                  <a:schemeClr val="tx1"/>
                </a:solidFill>
                <a:latin typeface="+mn-ea"/>
              </a:rPr>
              <a:t>그런데 乙의 이 사건 공소사실의 행위는 등록된 위 전용실시권의 범위 내에서 행해진 특허발명 실시행위에 </a:t>
            </a:r>
            <a:r>
              <a:rPr lang="ko-KR" altLang="en-US" sz="1400" dirty="0" err="1">
                <a:solidFill>
                  <a:schemeClr val="tx1"/>
                </a:solidFill>
                <a:latin typeface="+mn-ea"/>
              </a:rPr>
              <a:t>해당하는바</a:t>
            </a:r>
            <a:r>
              <a:rPr lang="en-US" altLang="ko-KR" sz="1400" dirty="0">
                <a:solidFill>
                  <a:schemeClr val="tx1"/>
                </a:solidFill>
                <a:latin typeface="+mn-ea"/>
              </a:rPr>
              <a:t>, </a:t>
            </a:r>
            <a:r>
              <a:rPr lang="ko-KR" altLang="en-US" sz="1400" dirty="0">
                <a:solidFill>
                  <a:schemeClr val="tx1"/>
                </a:solidFill>
                <a:latin typeface="+mn-ea"/>
              </a:rPr>
              <a:t>비록 乙이 甲로부터 위 전용실시권을 </a:t>
            </a:r>
            <a:r>
              <a:rPr lang="ko-KR" altLang="en-US" sz="1400" dirty="0" err="1">
                <a:solidFill>
                  <a:schemeClr val="tx1"/>
                </a:solidFill>
                <a:latin typeface="+mn-ea"/>
              </a:rPr>
              <a:t>설정받으면서</a:t>
            </a:r>
            <a:r>
              <a:rPr lang="ko-KR" altLang="en-US" sz="1400" dirty="0">
                <a:solidFill>
                  <a:schemeClr val="tx1"/>
                </a:solidFill>
                <a:latin typeface="+mn-ea"/>
              </a:rPr>
              <a:t> 이를 사용하지 않겠다고 약정하였다고 하더라도 이와 같은 제한을 등록하지 아니한 이상 특허법상의 효력은 발생하지 아니하므로</a:t>
            </a:r>
            <a:r>
              <a:rPr lang="en-US" altLang="ko-KR" sz="1400" dirty="0">
                <a:solidFill>
                  <a:schemeClr val="tx1"/>
                </a:solidFill>
                <a:latin typeface="+mn-ea"/>
              </a:rPr>
              <a:t>, </a:t>
            </a:r>
            <a:r>
              <a:rPr lang="ko-KR" altLang="en-US" sz="1400" dirty="0">
                <a:solidFill>
                  <a:schemeClr val="tx1"/>
                </a:solidFill>
                <a:latin typeface="+mn-ea"/>
              </a:rPr>
              <a:t>乙이 민사상 채무불이행책임을 부담함은 별론으로 하고 甲의 특허권을 침해하였다고는 볼 수 없다</a:t>
            </a:r>
            <a:r>
              <a:rPr lang="en-US" altLang="ko-KR" sz="1400" dirty="0">
                <a:solidFill>
                  <a:schemeClr val="tx1"/>
                </a:solidFill>
                <a:latin typeface="+mn-ea"/>
              </a:rPr>
              <a:t>.</a:t>
            </a:r>
            <a:endParaRPr lang="ko-KR" altLang="en-US" sz="1400" dirty="0">
              <a:solidFill>
                <a:schemeClr val="tx1"/>
              </a:solidFill>
              <a:latin typeface="+mn-ea"/>
            </a:endParaRPr>
          </a:p>
        </p:txBody>
      </p:sp>
      <p:sp>
        <p:nvSpPr>
          <p:cNvPr id="28" name="TextBox 27">
            <a:extLst>
              <a:ext uri="{FF2B5EF4-FFF2-40B4-BE49-F238E27FC236}">
                <a16:creationId xmlns:a16="http://schemas.microsoft.com/office/drawing/2014/main" id="{B93DE314-156B-4AE0-A6A1-A3E38D2DAD5E}"/>
              </a:ext>
            </a:extLst>
          </p:cNvPr>
          <p:cNvSpPr txBox="1"/>
          <p:nvPr/>
        </p:nvSpPr>
        <p:spPr>
          <a:xfrm>
            <a:off x="2959037" y="3159959"/>
            <a:ext cx="1871436" cy="523220"/>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甲과 乙의 </a:t>
            </a:r>
            <a:endParaRPr lang="en-US" altLang="ko-KR" sz="1400" dirty="0">
              <a:solidFill>
                <a:schemeClr val="tx1"/>
              </a:solidFill>
              <a:latin typeface="+mn-ea"/>
            </a:endParaRPr>
          </a:p>
          <a:p>
            <a:pPr algn="ctr"/>
            <a:r>
              <a:rPr lang="ko-KR" altLang="en-US" sz="1400" dirty="0">
                <a:solidFill>
                  <a:schemeClr val="tx1"/>
                </a:solidFill>
                <a:latin typeface="+mn-ea"/>
              </a:rPr>
              <a:t>전용실시권 설정등록</a:t>
            </a:r>
          </a:p>
        </p:txBody>
      </p:sp>
      <p:sp>
        <p:nvSpPr>
          <p:cNvPr id="29" name="타원 28">
            <a:extLst>
              <a:ext uri="{FF2B5EF4-FFF2-40B4-BE49-F238E27FC236}">
                <a16:creationId xmlns:a16="http://schemas.microsoft.com/office/drawing/2014/main" id="{BF25F9F4-5090-4DB9-9E09-63BBFFE26323}"/>
              </a:ext>
            </a:extLst>
          </p:cNvPr>
          <p:cNvSpPr/>
          <p:nvPr/>
        </p:nvSpPr>
        <p:spPr>
          <a:xfrm>
            <a:off x="3817385" y="28098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0" name="직선 연결선 29">
            <a:extLst>
              <a:ext uri="{FF2B5EF4-FFF2-40B4-BE49-F238E27FC236}">
                <a16:creationId xmlns:a16="http://schemas.microsoft.com/office/drawing/2014/main" id="{80124424-B4CE-4C83-9036-BBB347007F6C}"/>
              </a:ext>
            </a:extLst>
          </p:cNvPr>
          <p:cNvCxnSpPr>
            <a:cxnSpLocks/>
            <a:stCxn id="28" idx="0"/>
            <a:endCxn id="29" idx="4"/>
          </p:cNvCxnSpPr>
          <p:nvPr/>
        </p:nvCxnSpPr>
        <p:spPr>
          <a:xfrm flipH="1" flipV="1">
            <a:off x="3894754" y="297118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3CB4771D-BF3B-492C-95F9-DCB37C299291}"/>
              </a:ext>
            </a:extLst>
          </p:cNvPr>
          <p:cNvSpPr txBox="1"/>
          <p:nvPr/>
        </p:nvSpPr>
        <p:spPr>
          <a:xfrm>
            <a:off x="2821582" y="3838963"/>
            <a:ext cx="2146346" cy="156966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just"/>
            <a:r>
              <a:rPr lang="ko-KR" altLang="en-US" sz="1200" dirty="0" err="1">
                <a:solidFill>
                  <a:schemeClr val="tx1"/>
                </a:solidFill>
                <a:latin typeface="+mn-ea"/>
              </a:rPr>
              <a:t>전용실시권자</a:t>
            </a:r>
            <a:r>
              <a:rPr lang="ko-KR" altLang="en-US" sz="1200" dirty="0">
                <a:solidFill>
                  <a:schemeClr val="tx1"/>
                </a:solidFill>
                <a:latin typeface="+mn-ea"/>
              </a:rPr>
              <a:t> 乙</a:t>
            </a:r>
            <a:r>
              <a:rPr lang="en-US" altLang="ko-KR" sz="1200" dirty="0">
                <a:solidFill>
                  <a:schemeClr val="tx1"/>
                </a:solidFill>
                <a:latin typeface="+mn-ea"/>
              </a:rPr>
              <a:t>, </a:t>
            </a:r>
          </a:p>
          <a:p>
            <a:pPr algn="just"/>
            <a:r>
              <a:rPr lang="ko-KR" altLang="en-US" sz="1200" dirty="0">
                <a:solidFill>
                  <a:schemeClr val="tx1"/>
                </a:solidFill>
                <a:latin typeface="+mn-ea"/>
              </a:rPr>
              <a:t>기간 </a:t>
            </a:r>
            <a:r>
              <a:rPr lang="en-US" altLang="ko-KR" sz="1200" dirty="0">
                <a:solidFill>
                  <a:schemeClr val="tx1"/>
                </a:solidFill>
                <a:latin typeface="+mn-ea"/>
              </a:rPr>
              <a:t>: 2007. 10. 8.</a:t>
            </a:r>
            <a:r>
              <a:rPr lang="ko-KR" altLang="en-US" sz="1200" dirty="0">
                <a:solidFill>
                  <a:schemeClr val="tx1"/>
                </a:solidFill>
                <a:latin typeface="+mn-ea"/>
              </a:rPr>
              <a:t>부터 </a:t>
            </a:r>
            <a:r>
              <a:rPr lang="en-US" altLang="ko-KR" sz="1200" dirty="0">
                <a:solidFill>
                  <a:schemeClr val="tx1"/>
                </a:solidFill>
                <a:latin typeface="+mn-ea"/>
              </a:rPr>
              <a:t>2018. 5. 26.</a:t>
            </a:r>
            <a:r>
              <a:rPr lang="ko-KR" altLang="en-US" sz="1200" dirty="0">
                <a:solidFill>
                  <a:schemeClr val="tx1"/>
                </a:solidFill>
                <a:latin typeface="+mn-ea"/>
              </a:rPr>
              <a:t>까지</a:t>
            </a:r>
            <a:r>
              <a:rPr lang="en-US" altLang="ko-KR" sz="1200" dirty="0">
                <a:solidFill>
                  <a:schemeClr val="tx1"/>
                </a:solidFill>
                <a:latin typeface="+mn-ea"/>
              </a:rPr>
              <a:t>, </a:t>
            </a:r>
          </a:p>
          <a:p>
            <a:pPr algn="just"/>
            <a:r>
              <a:rPr lang="ko-KR" altLang="en-US" sz="1200" dirty="0">
                <a:solidFill>
                  <a:schemeClr val="tx1"/>
                </a:solidFill>
                <a:latin typeface="+mn-ea"/>
              </a:rPr>
              <a:t>지역 </a:t>
            </a:r>
            <a:r>
              <a:rPr lang="en-US" altLang="ko-KR" sz="1200" dirty="0">
                <a:solidFill>
                  <a:schemeClr val="tx1"/>
                </a:solidFill>
                <a:latin typeface="+mn-ea"/>
              </a:rPr>
              <a:t>: </a:t>
            </a:r>
            <a:r>
              <a:rPr lang="ko-KR" altLang="en-US" sz="1200" dirty="0">
                <a:solidFill>
                  <a:schemeClr val="tx1"/>
                </a:solidFill>
                <a:latin typeface="+mn-ea"/>
              </a:rPr>
              <a:t>대한민국 전역</a:t>
            </a:r>
            <a:r>
              <a:rPr lang="en-US" altLang="ko-KR" sz="1200" dirty="0">
                <a:solidFill>
                  <a:schemeClr val="tx1"/>
                </a:solidFill>
                <a:latin typeface="+mn-ea"/>
              </a:rPr>
              <a:t>, </a:t>
            </a:r>
          </a:p>
          <a:p>
            <a:pPr algn="just"/>
            <a:r>
              <a:rPr lang="ko-KR" altLang="en-US" sz="1200" dirty="0">
                <a:solidFill>
                  <a:schemeClr val="tx1"/>
                </a:solidFill>
                <a:latin typeface="+mn-ea"/>
              </a:rPr>
              <a:t>실시내용 </a:t>
            </a:r>
            <a:r>
              <a:rPr lang="en-US" altLang="ko-KR" sz="1200" dirty="0">
                <a:solidFill>
                  <a:schemeClr val="tx1"/>
                </a:solidFill>
                <a:latin typeface="+mn-ea"/>
              </a:rPr>
              <a:t>: </a:t>
            </a:r>
            <a:r>
              <a:rPr lang="ko-KR" altLang="en-US" sz="1200" dirty="0">
                <a:solidFill>
                  <a:schemeClr val="tx1"/>
                </a:solidFill>
                <a:latin typeface="+mn-ea"/>
              </a:rPr>
              <a:t>생산</a:t>
            </a:r>
            <a:r>
              <a:rPr lang="en-US" altLang="ko-KR" sz="1200" dirty="0">
                <a:solidFill>
                  <a:schemeClr val="tx1"/>
                </a:solidFill>
                <a:latin typeface="+mn-ea"/>
              </a:rPr>
              <a:t>, </a:t>
            </a:r>
            <a:r>
              <a:rPr lang="ko-KR" altLang="en-US" sz="1200" dirty="0">
                <a:solidFill>
                  <a:schemeClr val="tx1"/>
                </a:solidFill>
                <a:latin typeface="+mn-ea"/>
              </a:rPr>
              <a:t>사용</a:t>
            </a:r>
            <a:r>
              <a:rPr lang="en-US" altLang="ko-KR" sz="1200" dirty="0">
                <a:solidFill>
                  <a:schemeClr val="tx1"/>
                </a:solidFill>
                <a:latin typeface="+mn-ea"/>
              </a:rPr>
              <a:t>, </a:t>
            </a:r>
            <a:r>
              <a:rPr lang="ko-KR" altLang="en-US" sz="1200" dirty="0">
                <a:solidFill>
                  <a:schemeClr val="tx1"/>
                </a:solidFill>
                <a:latin typeface="+mn-ea"/>
              </a:rPr>
              <a:t>양도</a:t>
            </a:r>
            <a:r>
              <a:rPr lang="en-US" altLang="ko-KR" sz="1200" dirty="0">
                <a:solidFill>
                  <a:schemeClr val="tx1"/>
                </a:solidFill>
                <a:latin typeface="+mn-ea"/>
              </a:rPr>
              <a:t>, </a:t>
            </a:r>
            <a:r>
              <a:rPr lang="ko-KR" altLang="en-US" sz="1200" dirty="0">
                <a:solidFill>
                  <a:schemeClr val="tx1"/>
                </a:solidFill>
                <a:latin typeface="+mn-ea"/>
              </a:rPr>
              <a:t>대여</a:t>
            </a:r>
            <a:r>
              <a:rPr lang="en-US" altLang="ko-KR" sz="1200" dirty="0">
                <a:solidFill>
                  <a:schemeClr val="tx1"/>
                </a:solidFill>
                <a:latin typeface="+mn-ea"/>
              </a:rPr>
              <a:t>, </a:t>
            </a:r>
            <a:r>
              <a:rPr lang="ko-KR" altLang="en-US" sz="1200" dirty="0">
                <a:solidFill>
                  <a:schemeClr val="tx1"/>
                </a:solidFill>
                <a:latin typeface="+mn-ea"/>
              </a:rPr>
              <a:t>수입</a:t>
            </a:r>
            <a:r>
              <a:rPr lang="en-US" altLang="ko-KR" sz="1200" dirty="0">
                <a:solidFill>
                  <a:schemeClr val="tx1"/>
                </a:solidFill>
                <a:latin typeface="+mn-ea"/>
              </a:rPr>
              <a:t>, </a:t>
            </a:r>
            <a:r>
              <a:rPr lang="ko-KR" altLang="en-US" sz="1200" dirty="0">
                <a:solidFill>
                  <a:schemeClr val="tx1"/>
                </a:solidFill>
                <a:latin typeface="+mn-ea"/>
              </a:rPr>
              <a:t>양도의 청약</a:t>
            </a:r>
            <a:r>
              <a:rPr lang="en-US" altLang="ko-KR" sz="1200" dirty="0">
                <a:solidFill>
                  <a:schemeClr val="tx1"/>
                </a:solidFill>
                <a:latin typeface="+mn-ea"/>
              </a:rPr>
              <a:t>(</a:t>
            </a:r>
            <a:r>
              <a:rPr lang="ko-KR" altLang="en-US" sz="1200" dirty="0">
                <a:solidFill>
                  <a:schemeClr val="tx1"/>
                </a:solidFill>
                <a:latin typeface="+mn-ea"/>
              </a:rPr>
              <a:t>양도를 위한 전시를 포함</a:t>
            </a:r>
            <a:r>
              <a:rPr lang="en-US" altLang="ko-KR" sz="1200" dirty="0">
                <a:solidFill>
                  <a:schemeClr val="tx1"/>
                </a:solidFill>
                <a:latin typeface="+mn-ea"/>
              </a:rPr>
              <a:t>), </a:t>
            </a:r>
            <a:r>
              <a:rPr lang="ko-KR" altLang="en-US" sz="1200" dirty="0">
                <a:solidFill>
                  <a:schemeClr val="tx1"/>
                </a:solidFill>
                <a:latin typeface="+mn-ea"/>
              </a:rPr>
              <a:t>대여의 청약</a:t>
            </a:r>
            <a:r>
              <a:rPr lang="en-US" altLang="ko-KR" sz="1200" dirty="0">
                <a:solidFill>
                  <a:schemeClr val="tx1"/>
                </a:solidFill>
                <a:latin typeface="+mn-ea"/>
              </a:rPr>
              <a:t>(</a:t>
            </a:r>
            <a:r>
              <a:rPr lang="ko-KR" altLang="en-US" sz="1200" dirty="0">
                <a:solidFill>
                  <a:schemeClr val="tx1"/>
                </a:solidFill>
                <a:latin typeface="+mn-ea"/>
              </a:rPr>
              <a:t>대여를 위한 전시를 포함</a:t>
            </a:r>
            <a:r>
              <a:rPr lang="en-US" altLang="ko-KR" sz="1200" dirty="0">
                <a:solidFill>
                  <a:schemeClr val="tx1"/>
                </a:solidFill>
                <a:latin typeface="+mn-ea"/>
              </a:rPr>
              <a:t>), </a:t>
            </a:r>
            <a:endParaRPr lang="ko-KR" altLang="en-US" sz="1200" dirty="0">
              <a:solidFill>
                <a:schemeClr val="tx1"/>
              </a:solidFill>
              <a:latin typeface="+mn-ea"/>
            </a:endParaRPr>
          </a:p>
        </p:txBody>
      </p:sp>
      <p:cxnSp>
        <p:nvCxnSpPr>
          <p:cNvPr id="35" name="직선 연결선 34">
            <a:extLst>
              <a:ext uri="{FF2B5EF4-FFF2-40B4-BE49-F238E27FC236}">
                <a16:creationId xmlns:a16="http://schemas.microsoft.com/office/drawing/2014/main" id="{A27181A7-F4D3-4C31-BA4C-4E3C8CB77898}"/>
              </a:ext>
            </a:extLst>
          </p:cNvPr>
          <p:cNvCxnSpPr>
            <a:stCxn id="28" idx="2"/>
            <a:endCxn id="34" idx="0"/>
          </p:cNvCxnSpPr>
          <p:nvPr/>
        </p:nvCxnSpPr>
        <p:spPr>
          <a:xfrm>
            <a:off x="3894755" y="3683179"/>
            <a:ext cx="0" cy="15578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9A622D5C-DE1E-4FB9-97F5-2CF4E797AE62}"/>
              </a:ext>
            </a:extLst>
          </p:cNvPr>
          <p:cNvSpPr txBox="1"/>
          <p:nvPr/>
        </p:nvSpPr>
        <p:spPr>
          <a:xfrm>
            <a:off x="7047567" y="3159960"/>
            <a:ext cx="1341604" cy="773866"/>
          </a:xfrm>
          <a:prstGeom prst="rect">
            <a:avLst/>
          </a:prstGeom>
          <a:solidFill>
            <a:schemeClr val="accent4">
              <a:lumMod val="40000"/>
              <a:lumOff val="6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oAutofit/>
          </a:bodyPr>
          <a:lstStyle/>
          <a:p>
            <a:pPr algn="ctr"/>
            <a:r>
              <a:rPr lang="ko-KR" altLang="en-US" sz="1400" dirty="0">
                <a:solidFill>
                  <a:schemeClr val="tx1"/>
                </a:solidFill>
                <a:latin typeface="+mn-ea"/>
              </a:rPr>
              <a:t>乙이 丙에게 </a:t>
            </a:r>
            <a:endParaRPr lang="en-US" altLang="ko-KR" sz="1400" dirty="0">
              <a:solidFill>
                <a:schemeClr val="tx1"/>
              </a:solidFill>
              <a:latin typeface="+mn-ea"/>
            </a:endParaRPr>
          </a:p>
          <a:p>
            <a:pPr algn="ctr"/>
            <a:r>
              <a:rPr lang="ko-KR" altLang="en-US" sz="1400" dirty="0">
                <a:solidFill>
                  <a:schemeClr val="tx1"/>
                </a:solidFill>
                <a:latin typeface="+mn-ea"/>
              </a:rPr>
              <a:t>전용실시권 </a:t>
            </a:r>
            <a:endParaRPr lang="en-US" altLang="ko-KR" sz="1400" dirty="0">
              <a:solidFill>
                <a:schemeClr val="tx1"/>
              </a:solidFill>
              <a:latin typeface="+mn-ea"/>
            </a:endParaRPr>
          </a:p>
          <a:p>
            <a:pPr algn="ctr"/>
            <a:r>
              <a:rPr lang="ko-KR" altLang="en-US" sz="1400" dirty="0">
                <a:solidFill>
                  <a:schemeClr val="tx1"/>
                </a:solidFill>
                <a:latin typeface="+mn-ea"/>
              </a:rPr>
              <a:t>이전 등록</a:t>
            </a:r>
          </a:p>
        </p:txBody>
      </p:sp>
      <p:sp>
        <p:nvSpPr>
          <p:cNvPr id="37" name="타원 36">
            <a:extLst>
              <a:ext uri="{FF2B5EF4-FFF2-40B4-BE49-F238E27FC236}">
                <a16:creationId xmlns:a16="http://schemas.microsoft.com/office/drawing/2014/main" id="{590433F7-878C-46A9-853D-367C91F30463}"/>
              </a:ext>
            </a:extLst>
          </p:cNvPr>
          <p:cNvSpPr/>
          <p:nvPr/>
        </p:nvSpPr>
        <p:spPr>
          <a:xfrm>
            <a:off x="7640996" y="28098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8" name="직선 연결선 37">
            <a:extLst>
              <a:ext uri="{FF2B5EF4-FFF2-40B4-BE49-F238E27FC236}">
                <a16:creationId xmlns:a16="http://schemas.microsoft.com/office/drawing/2014/main" id="{A6EE59D0-619E-4B91-93B0-2B5828ADB0DA}"/>
              </a:ext>
            </a:extLst>
          </p:cNvPr>
          <p:cNvCxnSpPr>
            <a:cxnSpLocks/>
            <a:stCxn id="36" idx="0"/>
            <a:endCxn id="37" idx="4"/>
          </p:cNvCxnSpPr>
          <p:nvPr/>
        </p:nvCxnSpPr>
        <p:spPr>
          <a:xfrm flipH="1" flipV="1">
            <a:off x="7718365" y="2971188"/>
            <a:ext cx="4" cy="18877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4B6ABFDA-A16E-405E-AC7F-FA0C1C598A71}"/>
              </a:ext>
            </a:extLst>
          </p:cNvPr>
          <p:cNvSpPr txBox="1"/>
          <p:nvPr/>
        </p:nvSpPr>
        <p:spPr>
          <a:xfrm>
            <a:off x="8472466" y="3159959"/>
            <a:ext cx="1871436" cy="523220"/>
          </a:xfrm>
          <a:prstGeom prst="rect">
            <a:avLst/>
          </a:prstGeom>
          <a:solidFill>
            <a:schemeClr val="accent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bg1">
                    <a:lumMod val="95000"/>
                  </a:schemeClr>
                </a:solidFill>
                <a:latin typeface="+mn-ea"/>
              </a:rPr>
              <a:t>甲 특허권 침해</a:t>
            </a:r>
            <a:endParaRPr lang="en-US" altLang="ko-KR" sz="1400" dirty="0">
              <a:solidFill>
                <a:schemeClr val="bg1">
                  <a:lumMod val="95000"/>
                </a:schemeClr>
              </a:solidFill>
              <a:latin typeface="+mn-ea"/>
            </a:endParaRPr>
          </a:p>
          <a:p>
            <a:pPr algn="ctr"/>
            <a:r>
              <a:rPr lang="en-US" altLang="ko-KR" sz="1400" dirty="0">
                <a:solidFill>
                  <a:schemeClr val="bg1">
                    <a:lumMod val="95000"/>
                  </a:schemeClr>
                </a:solidFill>
                <a:latin typeface="+mn-ea"/>
              </a:rPr>
              <a:t>(</a:t>
            </a:r>
            <a:r>
              <a:rPr lang="ko-KR" altLang="en-US" sz="1400" dirty="0">
                <a:solidFill>
                  <a:schemeClr val="bg1">
                    <a:lumMod val="95000"/>
                  </a:schemeClr>
                </a:solidFill>
                <a:latin typeface="+mn-ea"/>
              </a:rPr>
              <a:t>형사고소</a:t>
            </a:r>
            <a:r>
              <a:rPr lang="en-US" altLang="ko-KR" sz="1400" dirty="0">
                <a:solidFill>
                  <a:schemeClr val="bg1">
                    <a:lumMod val="95000"/>
                  </a:schemeClr>
                </a:solidFill>
                <a:latin typeface="+mn-ea"/>
              </a:rPr>
              <a:t>)</a:t>
            </a:r>
            <a:endParaRPr lang="ko-KR" altLang="en-US" sz="1400" dirty="0">
              <a:solidFill>
                <a:schemeClr val="bg1">
                  <a:lumMod val="95000"/>
                </a:schemeClr>
              </a:solidFill>
              <a:latin typeface="+mn-ea"/>
            </a:endParaRPr>
          </a:p>
        </p:txBody>
      </p:sp>
      <p:sp>
        <p:nvSpPr>
          <p:cNvPr id="41" name="타원 40">
            <a:extLst>
              <a:ext uri="{FF2B5EF4-FFF2-40B4-BE49-F238E27FC236}">
                <a16:creationId xmlns:a16="http://schemas.microsoft.com/office/drawing/2014/main" id="{1D86C29C-6710-463A-A12E-EE485DFFC247}"/>
              </a:ext>
            </a:extLst>
          </p:cNvPr>
          <p:cNvSpPr/>
          <p:nvPr/>
        </p:nvSpPr>
        <p:spPr>
          <a:xfrm>
            <a:off x="9330814" y="280985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3" name="직선 연결선 42">
            <a:extLst>
              <a:ext uri="{FF2B5EF4-FFF2-40B4-BE49-F238E27FC236}">
                <a16:creationId xmlns:a16="http://schemas.microsoft.com/office/drawing/2014/main" id="{13C43141-704A-45BC-9A89-4A001717BFBC}"/>
              </a:ext>
            </a:extLst>
          </p:cNvPr>
          <p:cNvCxnSpPr>
            <a:cxnSpLocks/>
            <a:stCxn id="40" idx="0"/>
            <a:endCxn id="41" idx="4"/>
          </p:cNvCxnSpPr>
          <p:nvPr/>
        </p:nvCxnSpPr>
        <p:spPr>
          <a:xfrm flipH="1" flipV="1">
            <a:off x="9408183" y="297118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연결선: 꺾임 12">
            <a:extLst>
              <a:ext uri="{FF2B5EF4-FFF2-40B4-BE49-F238E27FC236}">
                <a16:creationId xmlns:a16="http://schemas.microsoft.com/office/drawing/2014/main" id="{24CB9F9B-D0EF-4BFE-97B2-709E2F6123F5}"/>
              </a:ext>
            </a:extLst>
          </p:cNvPr>
          <p:cNvCxnSpPr>
            <a:stCxn id="72" idx="0"/>
            <a:endCxn id="65" idx="2"/>
          </p:cNvCxnSpPr>
          <p:nvPr/>
        </p:nvCxnSpPr>
        <p:spPr>
          <a:xfrm rot="5400000" flipH="1" flipV="1">
            <a:off x="9303736" y="2588846"/>
            <a:ext cx="920337" cy="2678119"/>
          </a:xfrm>
          <a:prstGeom prst="bentConnector3">
            <a:avLst>
              <a:gd name="adj1" fmla="val 30336"/>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직사각형 4">
            <a:extLst>
              <a:ext uri="{FF2B5EF4-FFF2-40B4-BE49-F238E27FC236}">
                <a16:creationId xmlns:a16="http://schemas.microsoft.com/office/drawing/2014/main" id="{99D119CC-A4C0-B72A-4ECD-F615FA91DF56}"/>
              </a:ext>
            </a:extLst>
          </p:cNvPr>
          <p:cNvSpPr/>
          <p:nvPr/>
        </p:nvSpPr>
        <p:spPr>
          <a:xfrm>
            <a:off x="504825" y="4789714"/>
            <a:ext cx="2243204" cy="557349"/>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곱하기 기호 5">
            <a:extLst>
              <a:ext uri="{FF2B5EF4-FFF2-40B4-BE49-F238E27FC236}">
                <a16:creationId xmlns:a16="http://schemas.microsoft.com/office/drawing/2014/main" id="{3D9F19BF-8E78-8E83-F762-1DA12F94FAF3}"/>
              </a:ext>
            </a:extLst>
          </p:cNvPr>
          <p:cNvSpPr/>
          <p:nvPr/>
        </p:nvSpPr>
        <p:spPr>
          <a:xfrm>
            <a:off x="3328458" y="5389637"/>
            <a:ext cx="842682" cy="932329"/>
          </a:xfrm>
          <a:prstGeom prst="mathMultiply">
            <a:avLst>
              <a:gd name="adj1" fmla="val 6499"/>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TextBox 6">
            <a:extLst>
              <a:ext uri="{FF2B5EF4-FFF2-40B4-BE49-F238E27FC236}">
                <a16:creationId xmlns:a16="http://schemas.microsoft.com/office/drawing/2014/main" id="{77270923-861C-2D21-68B3-7A9E36B5A005}"/>
              </a:ext>
            </a:extLst>
          </p:cNvPr>
          <p:cNvSpPr txBox="1"/>
          <p:nvPr/>
        </p:nvSpPr>
        <p:spPr>
          <a:xfrm>
            <a:off x="3200978" y="6208842"/>
            <a:ext cx="3533900" cy="307777"/>
          </a:xfrm>
          <a:prstGeom prst="rect">
            <a:avLst/>
          </a:prstGeom>
          <a:noFill/>
          <a:ln w="28575">
            <a:solidFill>
              <a:schemeClr val="accent4"/>
            </a:solidFill>
          </a:ln>
        </p:spPr>
        <p:txBody>
          <a:bodyPr wrap="square" rtlCol="0">
            <a:spAutoFit/>
          </a:bodyPr>
          <a:lstStyle/>
          <a:p>
            <a:r>
              <a:rPr lang="ko-KR" altLang="en-US" sz="1400">
                <a:solidFill>
                  <a:schemeClr val="accent4">
                    <a:lumMod val="50000"/>
                  </a:schemeClr>
                </a:solidFill>
              </a:rPr>
              <a:t>계약서의 제한이 등록원부에 기재되지 않음</a:t>
            </a:r>
            <a:endParaRPr lang="ko-KR" altLang="en-US" sz="1400" dirty="0">
              <a:solidFill>
                <a:schemeClr val="accent4">
                  <a:lumMod val="50000"/>
                </a:schemeClr>
              </a:solidFill>
            </a:endParaRPr>
          </a:p>
        </p:txBody>
      </p:sp>
      <p:cxnSp>
        <p:nvCxnSpPr>
          <p:cNvPr id="10" name="직선 연결선 9">
            <a:extLst>
              <a:ext uri="{FF2B5EF4-FFF2-40B4-BE49-F238E27FC236}">
                <a16:creationId xmlns:a16="http://schemas.microsoft.com/office/drawing/2014/main" id="{63AD5C7C-54DB-D2FB-5172-0CC0730E7F56}"/>
              </a:ext>
            </a:extLst>
          </p:cNvPr>
          <p:cNvCxnSpPr>
            <a:stCxn id="5" idx="3"/>
          </p:cNvCxnSpPr>
          <p:nvPr/>
        </p:nvCxnSpPr>
        <p:spPr>
          <a:xfrm>
            <a:off x="2748029" y="5068389"/>
            <a:ext cx="761525" cy="787412"/>
          </a:xfrm>
          <a:prstGeom prst="line">
            <a:avLst/>
          </a:prstGeom>
          <a:ln w="28575">
            <a:solidFill>
              <a:srgbClr val="FF0000"/>
            </a:solidFill>
            <a:headEnd type="none" w="med" len="med"/>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6783742"/>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119</a:t>
            </a:r>
            <a:r>
              <a:rPr lang="ko-KR" altLang="en-US" dirty="0"/>
              <a:t>조</a:t>
            </a:r>
            <a:r>
              <a:rPr lang="en-US" altLang="ko-KR" dirty="0"/>
              <a:t>, </a:t>
            </a:r>
            <a:r>
              <a:rPr lang="ko-KR" altLang="en-US" dirty="0"/>
              <a:t>제</a:t>
            </a:r>
            <a:r>
              <a:rPr lang="en-US" altLang="ko-KR" dirty="0"/>
              <a:t>120</a:t>
            </a:r>
            <a:r>
              <a:rPr lang="ko-KR" altLang="en-US" dirty="0"/>
              <a:t>조</a:t>
            </a:r>
          </a:p>
        </p:txBody>
      </p:sp>
      <p:sp>
        <p:nvSpPr>
          <p:cNvPr id="3" name="텍스트 개체 틀 2"/>
          <p:cNvSpPr>
            <a:spLocks noGrp="1"/>
          </p:cNvSpPr>
          <p:nvPr>
            <p:ph type="body" sz="quarter" idx="13"/>
          </p:nvPr>
        </p:nvSpPr>
        <p:spPr/>
        <p:txBody>
          <a:bodyPr/>
          <a:lstStyle/>
          <a:p>
            <a:r>
              <a:rPr lang="ko-KR" altLang="en-US" dirty="0"/>
              <a:t>동의권에 대한 계층도</a:t>
            </a:r>
          </a:p>
        </p:txBody>
      </p:sp>
      <p:cxnSp>
        <p:nvCxnSpPr>
          <p:cNvPr id="5" name="직선 연결선 4"/>
          <p:cNvCxnSpPr/>
          <p:nvPr/>
        </p:nvCxnSpPr>
        <p:spPr>
          <a:xfrm>
            <a:off x="-36242" y="302032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7875" y="986046"/>
            <a:ext cx="11936323" cy="2031325"/>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119</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특허권 등의 포기의 제한</a:t>
            </a:r>
            <a:r>
              <a:rPr lang="en-US" altLang="ko-KR" sz="1400" b="1" dirty="0">
                <a:solidFill>
                  <a:schemeClr val="accent1"/>
                </a:solidFill>
              </a:rPr>
              <a:t>)</a:t>
            </a:r>
            <a:r>
              <a:rPr lang="en-US" altLang="ko-KR" sz="1400" b="1" dirty="0">
                <a:solidFill>
                  <a:schemeClr val="tx2"/>
                </a:solidFill>
              </a:rPr>
              <a:t> </a:t>
            </a:r>
            <a:r>
              <a:rPr lang="en-US" altLang="ko-KR" sz="1400" dirty="0">
                <a:solidFill>
                  <a:schemeClr val="tx2"/>
                </a:solidFill>
              </a:rPr>
              <a:t>① </a:t>
            </a:r>
            <a:r>
              <a:rPr lang="ko-KR" altLang="en-US" sz="1400" dirty="0" err="1">
                <a:solidFill>
                  <a:schemeClr val="tx2"/>
                </a:solidFill>
              </a:rPr>
              <a:t>특허권자는</a:t>
            </a:r>
            <a:r>
              <a:rPr lang="ko-KR" altLang="en-US" sz="1400" dirty="0">
                <a:solidFill>
                  <a:schemeClr val="tx2"/>
                </a:solidFill>
              </a:rPr>
              <a:t> 다음 각 호의 모두의 동의를 받아야만 특허권을 포기할 수 있다</a:t>
            </a:r>
            <a:r>
              <a:rPr lang="en-US" altLang="ko-KR" sz="1400" dirty="0">
                <a:solidFill>
                  <a:schemeClr val="tx2"/>
                </a:solidFill>
              </a:rPr>
              <a:t>.</a:t>
            </a:r>
          </a:p>
          <a:p>
            <a:pPr fontAlgn="base"/>
            <a:r>
              <a:rPr lang="en-US" altLang="ko-KR" sz="1400" dirty="0">
                <a:solidFill>
                  <a:schemeClr val="tx2"/>
                </a:solidFill>
              </a:rPr>
              <a:t>1. </a:t>
            </a:r>
            <a:r>
              <a:rPr lang="ko-KR" altLang="en-US" sz="1400" dirty="0" err="1">
                <a:solidFill>
                  <a:schemeClr val="tx2"/>
                </a:solidFill>
              </a:rPr>
              <a:t>전용실시권자</a:t>
            </a:r>
            <a:endParaRPr lang="ko-KR" altLang="en-US" sz="1400" dirty="0">
              <a:solidFill>
                <a:schemeClr val="tx2"/>
              </a:solidFill>
            </a:endParaRPr>
          </a:p>
          <a:p>
            <a:pPr fontAlgn="base"/>
            <a:r>
              <a:rPr lang="en-US" altLang="ko-KR" sz="1400" dirty="0">
                <a:solidFill>
                  <a:schemeClr val="tx2"/>
                </a:solidFill>
              </a:rPr>
              <a:t>2. </a:t>
            </a:r>
            <a:r>
              <a:rPr lang="ko-KR" altLang="en-US" sz="1400" dirty="0" err="1">
                <a:solidFill>
                  <a:schemeClr val="tx2"/>
                </a:solidFill>
              </a:rPr>
              <a:t>질권자</a:t>
            </a:r>
            <a:endParaRPr lang="ko-KR" altLang="en-US" sz="1400" dirty="0">
              <a:solidFill>
                <a:schemeClr val="tx2"/>
              </a:solidFill>
            </a:endParaRPr>
          </a:p>
          <a:p>
            <a:pPr fontAlgn="base"/>
            <a:r>
              <a:rPr lang="en-US" altLang="ko-KR" sz="1400" dirty="0">
                <a:solidFill>
                  <a:schemeClr val="tx2"/>
                </a:solidFill>
              </a:rPr>
              <a:t>3. </a:t>
            </a:r>
            <a:r>
              <a:rPr lang="ko-KR" altLang="en-US" sz="1400" dirty="0">
                <a:solidFill>
                  <a:schemeClr val="tx2"/>
                </a:solidFill>
              </a:rPr>
              <a:t>제</a:t>
            </a:r>
            <a:r>
              <a:rPr lang="en-US" altLang="ko-KR" sz="1400" dirty="0">
                <a:solidFill>
                  <a:schemeClr val="tx2"/>
                </a:solidFill>
              </a:rPr>
              <a:t>100</a:t>
            </a:r>
            <a:r>
              <a:rPr lang="ko-KR" altLang="en-US" sz="1400" dirty="0">
                <a:solidFill>
                  <a:schemeClr val="tx2"/>
                </a:solidFill>
              </a:rPr>
              <a:t>조제</a:t>
            </a:r>
            <a:r>
              <a:rPr lang="en-US" altLang="ko-KR" sz="1400" dirty="0">
                <a:solidFill>
                  <a:schemeClr val="tx2"/>
                </a:solidFill>
              </a:rPr>
              <a:t>4</a:t>
            </a:r>
            <a:r>
              <a:rPr lang="ko-KR" altLang="en-US" sz="1400" dirty="0">
                <a:solidFill>
                  <a:schemeClr val="tx2"/>
                </a:solidFill>
              </a:rPr>
              <a:t>항에 따른 </a:t>
            </a:r>
            <a:r>
              <a:rPr lang="ko-KR" altLang="en-US" sz="1400" dirty="0" err="1">
                <a:solidFill>
                  <a:schemeClr val="tx2"/>
                </a:solidFill>
              </a:rPr>
              <a:t>통상실시권자</a:t>
            </a:r>
            <a:endParaRPr lang="ko-KR" altLang="en-US" sz="1400" dirty="0">
              <a:solidFill>
                <a:schemeClr val="tx2"/>
              </a:solidFill>
            </a:endParaRPr>
          </a:p>
          <a:p>
            <a:pPr fontAlgn="base"/>
            <a:r>
              <a:rPr lang="en-US" altLang="ko-KR" sz="1400" dirty="0">
                <a:solidFill>
                  <a:schemeClr val="tx2"/>
                </a:solidFill>
              </a:rPr>
              <a:t>4. </a:t>
            </a:r>
            <a:r>
              <a:rPr lang="ko-KR" altLang="en-US" sz="1400" dirty="0">
                <a:solidFill>
                  <a:schemeClr val="tx2"/>
                </a:solidFill>
              </a:rPr>
              <a:t>제</a:t>
            </a:r>
            <a:r>
              <a:rPr lang="en-US" altLang="ko-KR" sz="1400" dirty="0">
                <a:solidFill>
                  <a:schemeClr val="tx2"/>
                </a:solidFill>
              </a:rPr>
              <a:t>102</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a:t>
            </a:r>
            <a:r>
              <a:rPr lang="ko-KR" altLang="en-US" sz="1400" dirty="0" err="1">
                <a:solidFill>
                  <a:schemeClr val="tx2"/>
                </a:solidFill>
              </a:rPr>
              <a:t>통상실시권자</a:t>
            </a:r>
            <a:endParaRPr lang="ko-KR" altLang="en-US" sz="1400" dirty="0">
              <a:solidFill>
                <a:schemeClr val="tx2"/>
              </a:solidFill>
            </a:endParaRPr>
          </a:p>
          <a:p>
            <a:pPr fontAlgn="base"/>
            <a:r>
              <a:rPr lang="en-US" altLang="ko-KR" sz="1400" dirty="0">
                <a:solidFill>
                  <a:schemeClr val="tx2"/>
                </a:solidFill>
              </a:rPr>
              <a:t>5. </a:t>
            </a:r>
            <a:r>
              <a:rPr lang="ko-KR" altLang="en-US" sz="1400" dirty="0">
                <a:solidFill>
                  <a:schemeClr val="tx2"/>
                </a:solidFill>
              </a:rPr>
              <a:t>「발명진흥법」 제</a:t>
            </a:r>
            <a:r>
              <a:rPr lang="en-US" altLang="ko-KR" sz="1400" dirty="0">
                <a:solidFill>
                  <a:schemeClr val="tx2"/>
                </a:solidFill>
              </a:rPr>
              <a:t>10</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따른 </a:t>
            </a:r>
            <a:r>
              <a:rPr lang="ko-KR" altLang="en-US" sz="1400" dirty="0" err="1">
                <a:solidFill>
                  <a:schemeClr val="tx2"/>
                </a:solidFill>
              </a:rPr>
              <a:t>통상실시권자</a:t>
            </a:r>
            <a:endParaRPr lang="ko-KR" altLang="en-US" sz="1400" dirty="0">
              <a:solidFill>
                <a:schemeClr val="tx2"/>
              </a:solidFill>
            </a:endParaRPr>
          </a:p>
          <a:p>
            <a:pPr fontAlgn="base"/>
            <a:r>
              <a:rPr lang="ko-KR" altLang="en-US" sz="1400" dirty="0">
                <a:solidFill>
                  <a:schemeClr val="tx2"/>
                </a:solidFill>
              </a:rPr>
              <a:t>② </a:t>
            </a:r>
            <a:r>
              <a:rPr lang="ko-KR" altLang="en-US" sz="1400" dirty="0" err="1">
                <a:solidFill>
                  <a:schemeClr val="tx2"/>
                </a:solidFill>
              </a:rPr>
              <a:t>전용실시권자는</a:t>
            </a:r>
            <a:r>
              <a:rPr lang="ko-KR" altLang="en-US" sz="1400" dirty="0">
                <a:solidFill>
                  <a:schemeClr val="tx2"/>
                </a:solidFill>
              </a:rPr>
              <a:t> </a:t>
            </a:r>
            <a:r>
              <a:rPr lang="ko-KR" altLang="en-US" sz="1400" dirty="0" err="1">
                <a:solidFill>
                  <a:schemeClr val="tx2"/>
                </a:solidFill>
              </a:rPr>
              <a:t>질권자</a:t>
            </a:r>
            <a:r>
              <a:rPr lang="ko-KR" altLang="en-US" sz="1400" dirty="0">
                <a:solidFill>
                  <a:schemeClr val="tx2"/>
                </a:solidFill>
              </a:rPr>
              <a:t> 또는 제</a:t>
            </a:r>
            <a:r>
              <a:rPr lang="en-US" altLang="ko-KR" sz="1400" dirty="0">
                <a:solidFill>
                  <a:schemeClr val="tx2"/>
                </a:solidFill>
              </a:rPr>
              <a:t>100</a:t>
            </a:r>
            <a:r>
              <a:rPr lang="ko-KR" altLang="en-US" sz="1400" dirty="0">
                <a:solidFill>
                  <a:schemeClr val="tx2"/>
                </a:solidFill>
              </a:rPr>
              <a:t>조제</a:t>
            </a:r>
            <a:r>
              <a:rPr lang="en-US" altLang="ko-KR" sz="1400" dirty="0">
                <a:solidFill>
                  <a:schemeClr val="tx2"/>
                </a:solidFill>
              </a:rPr>
              <a:t>4</a:t>
            </a:r>
            <a:r>
              <a:rPr lang="ko-KR" altLang="en-US" sz="1400" dirty="0">
                <a:solidFill>
                  <a:schemeClr val="tx2"/>
                </a:solidFill>
              </a:rPr>
              <a:t>항에 따른 </a:t>
            </a:r>
            <a:r>
              <a:rPr lang="ko-KR" altLang="en-US" sz="1400" dirty="0" err="1">
                <a:solidFill>
                  <a:schemeClr val="tx2"/>
                </a:solidFill>
              </a:rPr>
              <a:t>통상실시권자의</a:t>
            </a:r>
            <a:r>
              <a:rPr lang="ko-KR" altLang="en-US" sz="1400" dirty="0">
                <a:solidFill>
                  <a:schemeClr val="tx2"/>
                </a:solidFill>
              </a:rPr>
              <a:t> 동의를 받아야만 </a:t>
            </a:r>
            <a:r>
              <a:rPr lang="ko-KR" altLang="en-US" sz="1400" dirty="0" err="1">
                <a:solidFill>
                  <a:schemeClr val="tx2"/>
                </a:solidFill>
              </a:rPr>
              <a:t>전용실시권을</a:t>
            </a:r>
            <a:r>
              <a:rPr lang="ko-KR" altLang="en-US" sz="1400" dirty="0">
                <a:solidFill>
                  <a:schemeClr val="tx2"/>
                </a:solidFill>
              </a:rPr>
              <a:t> 포기할 수 있다</a:t>
            </a:r>
            <a:r>
              <a:rPr lang="en-US" altLang="ko-KR" sz="1400" dirty="0">
                <a:solidFill>
                  <a:schemeClr val="tx2"/>
                </a:solidFill>
              </a:rPr>
              <a:t>.</a:t>
            </a:r>
          </a:p>
          <a:p>
            <a:pPr fontAlgn="base"/>
            <a:r>
              <a:rPr lang="en-US" altLang="ko-KR" sz="1400" dirty="0">
                <a:solidFill>
                  <a:schemeClr val="tx2"/>
                </a:solidFill>
              </a:rPr>
              <a:t>③ </a:t>
            </a:r>
            <a:r>
              <a:rPr lang="ko-KR" altLang="en-US" sz="1400" dirty="0" err="1">
                <a:solidFill>
                  <a:schemeClr val="tx2"/>
                </a:solidFill>
              </a:rPr>
              <a:t>통상실시권자는</a:t>
            </a:r>
            <a:r>
              <a:rPr lang="ko-KR" altLang="en-US" sz="1400" dirty="0">
                <a:solidFill>
                  <a:schemeClr val="tx2"/>
                </a:solidFill>
              </a:rPr>
              <a:t> 질권자의 동의를 받아야만 통상실시권을 포기할 수 있다</a:t>
            </a:r>
            <a:r>
              <a:rPr lang="en-US" altLang="ko-KR" sz="1400" dirty="0">
                <a:solidFill>
                  <a:schemeClr val="tx2"/>
                </a:solidFill>
              </a:rPr>
              <a:t>.</a:t>
            </a:r>
          </a:p>
          <a:p>
            <a:pPr fontAlgn="base"/>
            <a:r>
              <a:rPr lang="ko-KR" altLang="en-US" sz="1400" b="1" dirty="0">
                <a:solidFill>
                  <a:schemeClr val="accent1"/>
                </a:solidFill>
              </a:rPr>
              <a:t>제</a:t>
            </a:r>
            <a:r>
              <a:rPr lang="en-US" altLang="ko-KR" sz="1400" b="1" dirty="0">
                <a:solidFill>
                  <a:schemeClr val="accent1"/>
                </a:solidFill>
              </a:rPr>
              <a:t>120</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포기의 효과</a:t>
            </a:r>
            <a:r>
              <a:rPr lang="en-US" altLang="ko-KR" sz="1400" b="1" dirty="0">
                <a:solidFill>
                  <a:schemeClr val="accent1"/>
                </a:solidFill>
              </a:rPr>
              <a:t>) </a:t>
            </a:r>
            <a:r>
              <a:rPr lang="ko-KR" altLang="en-US" sz="1400" dirty="0">
                <a:solidFill>
                  <a:schemeClr val="tx2"/>
                </a:solidFill>
              </a:rPr>
              <a:t>특허권</a:t>
            </a:r>
            <a:r>
              <a:rPr lang="en-US" altLang="ko-KR" sz="1400" dirty="0">
                <a:solidFill>
                  <a:schemeClr val="tx2"/>
                </a:solidFill>
              </a:rPr>
              <a:t>·</a:t>
            </a:r>
            <a:r>
              <a:rPr lang="ko-KR" altLang="en-US" sz="1400" dirty="0">
                <a:solidFill>
                  <a:schemeClr val="tx2"/>
                </a:solidFill>
              </a:rPr>
              <a:t>전용실시권 또는 통상실시권을 포기한 때에는 특허권</a:t>
            </a:r>
            <a:r>
              <a:rPr lang="en-US" altLang="ko-KR" sz="1400" dirty="0">
                <a:solidFill>
                  <a:schemeClr val="tx2"/>
                </a:solidFill>
              </a:rPr>
              <a:t>·</a:t>
            </a:r>
            <a:r>
              <a:rPr lang="ko-KR" altLang="en-US" sz="1400" dirty="0">
                <a:solidFill>
                  <a:schemeClr val="tx2"/>
                </a:solidFill>
              </a:rPr>
              <a:t>전용실시권 또는 통상실시권은 그때부터 소멸된다</a:t>
            </a:r>
            <a:r>
              <a:rPr lang="en-US" altLang="ko-KR" sz="1400" dirty="0">
                <a:solidFill>
                  <a:schemeClr val="tx2"/>
                </a:solidFill>
              </a:rPr>
              <a:t>.</a:t>
            </a:r>
          </a:p>
        </p:txBody>
      </p:sp>
      <p:grpSp>
        <p:nvGrpSpPr>
          <p:cNvPr id="7" name="그룹 6">
            <a:extLst>
              <a:ext uri="{FF2B5EF4-FFF2-40B4-BE49-F238E27FC236}">
                <a16:creationId xmlns:a16="http://schemas.microsoft.com/office/drawing/2014/main" id="{E7E81F8C-5F47-4424-9181-C3775C84254A}"/>
              </a:ext>
            </a:extLst>
          </p:cNvPr>
          <p:cNvGrpSpPr/>
          <p:nvPr/>
        </p:nvGrpSpPr>
        <p:grpSpPr>
          <a:xfrm>
            <a:off x="247650" y="3115128"/>
            <a:ext cx="11766548" cy="3609522"/>
            <a:chOff x="247650" y="2913876"/>
            <a:chExt cx="11766548" cy="3810774"/>
          </a:xfrm>
        </p:grpSpPr>
        <p:sp>
          <p:nvSpPr>
            <p:cNvPr id="89" name="직사각형 88"/>
            <p:cNvSpPr/>
            <p:nvPr/>
          </p:nvSpPr>
          <p:spPr>
            <a:xfrm>
              <a:off x="10518773" y="2916229"/>
              <a:ext cx="1495425" cy="38084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1" name="직선 연결선 90"/>
            <p:cNvCxnSpPr/>
            <p:nvPr/>
          </p:nvCxnSpPr>
          <p:spPr>
            <a:xfrm flipH="1">
              <a:off x="10144125" y="3740945"/>
              <a:ext cx="1870073"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직선 연결선 87"/>
            <p:cNvCxnSpPr/>
            <p:nvPr/>
          </p:nvCxnSpPr>
          <p:spPr>
            <a:xfrm flipH="1">
              <a:off x="10144125" y="5479634"/>
              <a:ext cx="1870073"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직선 연결선 86"/>
            <p:cNvCxnSpPr/>
            <p:nvPr/>
          </p:nvCxnSpPr>
          <p:spPr>
            <a:xfrm flipH="1">
              <a:off x="10144125" y="4626770"/>
              <a:ext cx="1870073"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4" name="직사각형 83"/>
            <p:cNvSpPr/>
            <p:nvPr/>
          </p:nvSpPr>
          <p:spPr>
            <a:xfrm>
              <a:off x="2500835" y="2916229"/>
              <a:ext cx="7335583" cy="49080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2" name="직사각형 81"/>
            <p:cNvSpPr/>
            <p:nvPr/>
          </p:nvSpPr>
          <p:spPr>
            <a:xfrm>
              <a:off x="247650" y="2916229"/>
              <a:ext cx="1707478" cy="38084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직사각형 12"/>
            <p:cNvSpPr/>
            <p:nvPr/>
          </p:nvSpPr>
          <p:spPr>
            <a:xfrm>
              <a:off x="5939916" y="3498058"/>
              <a:ext cx="1320077" cy="48577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특허권자</a:t>
              </a:r>
              <a:endParaRPr lang="en-US" altLang="ko-KR" sz="1200" dirty="0">
                <a:solidFill>
                  <a:schemeClr val="tx1"/>
                </a:solidFill>
              </a:endParaRPr>
            </a:p>
            <a:p>
              <a:pPr algn="ctr"/>
              <a:r>
                <a:rPr lang="en-US" altLang="ko-KR" sz="1200" dirty="0">
                  <a:solidFill>
                    <a:schemeClr val="tx1"/>
                  </a:solidFill>
                </a:rPr>
                <a:t>(A)</a:t>
              </a:r>
              <a:endParaRPr lang="ko-KR" altLang="en-US" sz="1200" dirty="0">
                <a:solidFill>
                  <a:schemeClr val="tx1"/>
                </a:solidFill>
              </a:endParaRPr>
            </a:p>
          </p:txBody>
        </p:sp>
        <p:sp>
          <p:nvSpPr>
            <p:cNvPr id="14" name="직사각형 13"/>
            <p:cNvSpPr/>
            <p:nvPr/>
          </p:nvSpPr>
          <p:spPr>
            <a:xfrm>
              <a:off x="3186916" y="4383883"/>
              <a:ext cx="1320077" cy="48577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전용실시권자</a:t>
              </a:r>
              <a:endParaRPr lang="en-US" altLang="ko-KR" sz="1200" dirty="0">
                <a:solidFill>
                  <a:schemeClr val="tx1"/>
                </a:solidFill>
              </a:endParaRPr>
            </a:p>
            <a:p>
              <a:pPr algn="ctr"/>
              <a:r>
                <a:rPr lang="en-US" altLang="ko-KR" sz="1200" dirty="0">
                  <a:solidFill>
                    <a:schemeClr val="tx1"/>
                  </a:solidFill>
                </a:rPr>
                <a:t>(B)</a:t>
              </a:r>
              <a:endParaRPr lang="ko-KR" altLang="en-US" sz="1200" dirty="0">
                <a:solidFill>
                  <a:schemeClr val="tx1"/>
                </a:solidFill>
              </a:endParaRPr>
            </a:p>
          </p:txBody>
        </p:sp>
        <p:sp>
          <p:nvSpPr>
            <p:cNvPr id="15" name="직사각형 14"/>
            <p:cNvSpPr/>
            <p:nvPr/>
          </p:nvSpPr>
          <p:spPr>
            <a:xfrm>
              <a:off x="5192516" y="4383883"/>
              <a:ext cx="1320077" cy="48577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허락통상실시권자</a:t>
              </a:r>
              <a:endParaRPr lang="en-US" altLang="ko-KR" sz="1200" dirty="0">
                <a:solidFill>
                  <a:schemeClr val="tx1"/>
                </a:solidFill>
              </a:endParaRPr>
            </a:p>
            <a:p>
              <a:pPr algn="ctr"/>
              <a:r>
                <a:rPr lang="en-US" altLang="ko-KR" sz="1200" dirty="0">
                  <a:solidFill>
                    <a:schemeClr val="tx1"/>
                  </a:solidFill>
                </a:rPr>
                <a:t>(C)</a:t>
              </a:r>
              <a:endParaRPr lang="ko-KR" altLang="en-US" sz="1200" dirty="0">
                <a:solidFill>
                  <a:schemeClr val="tx1"/>
                </a:solidFill>
              </a:endParaRPr>
            </a:p>
          </p:txBody>
        </p:sp>
        <p:sp>
          <p:nvSpPr>
            <p:cNvPr id="16" name="직사각형 15"/>
            <p:cNvSpPr/>
            <p:nvPr/>
          </p:nvSpPr>
          <p:spPr>
            <a:xfrm>
              <a:off x="6853642" y="4383883"/>
              <a:ext cx="1320077" cy="48577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직무발명에 대한</a:t>
              </a:r>
              <a:endParaRPr lang="en-US" altLang="ko-KR" sz="1200" dirty="0">
                <a:solidFill>
                  <a:schemeClr val="tx1"/>
                </a:solidFill>
              </a:endParaRPr>
            </a:p>
            <a:p>
              <a:pPr algn="ctr"/>
              <a:r>
                <a:rPr lang="ko-KR" altLang="en-US" sz="1200" dirty="0" err="1">
                  <a:solidFill>
                    <a:schemeClr val="tx1"/>
                  </a:solidFill>
                </a:rPr>
                <a:t>통상실시권자</a:t>
              </a:r>
              <a:r>
                <a:rPr lang="en-US" altLang="ko-KR" sz="1200" dirty="0">
                  <a:solidFill>
                    <a:schemeClr val="tx1"/>
                  </a:solidFill>
                </a:rPr>
                <a:t>(D)</a:t>
              </a:r>
              <a:endParaRPr lang="ko-KR" altLang="en-US" sz="1200" dirty="0">
                <a:solidFill>
                  <a:schemeClr val="tx1"/>
                </a:solidFill>
              </a:endParaRPr>
            </a:p>
          </p:txBody>
        </p:sp>
        <p:sp>
          <p:nvSpPr>
            <p:cNvPr id="17" name="직사각형 16"/>
            <p:cNvSpPr/>
            <p:nvPr/>
          </p:nvSpPr>
          <p:spPr>
            <a:xfrm>
              <a:off x="8516342" y="4383883"/>
              <a:ext cx="1320077" cy="48577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질권자</a:t>
              </a:r>
              <a:endParaRPr lang="en-US" altLang="ko-KR" sz="1200" dirty="0">
                <a:solidFill>
                  <a:schemeClr val="tx1"/>
                </a:solidFill>
              </a:endParaRPr>
            </a:p>
            <a:p>
              <a:pPr algn="ctr"/>
              <a:r>
                <a:rPr lang="en-US" altLang="ko-KR" sz="1200" dirty="0">
                  <a:solidFill>
                    <a:schemeClr val="tx1"/>
                  </a:solidFill>
                </a:rPr>
                <a:t>(E)</a:t>
              </a:r>
              <a:endParaRPr lang="ko-KR" altLang="en-US" sz="1200" dirty="0">
                <a:solidFill>
                  <a:schemeClr val="tx1"/>
                </a:solidFill>
              </a:endParaRPr>
            </a:p>
          </p:txBody>
        </p:sp>
        <p:sp>
          <p:nvSpPr>
            <p:cNvPr id="19" name="직사각형 18"/>
            <p:cNvSpPr/>
            <p:nvPr/>
          </p:nvSpPr>
          <p:spPr>
            <a:xfrm>
              <a:off x="2095499" y="5224453"/>
              <a:ext cx="1320077" cy="48577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허락통상실시권자</a:t>
              </a:r>
              <a:endParaRPr lang="en-US" altLang="ko-KR" sz="1200" dirty="0">
                <a:solidFill>
                  <a:schemeClr val="tx1"/>
                </a:solidFill>
              </a:endParaRPr>
            </a:p>
            <a:p>
              <a:pPr algn="ctr"/>
              <a:r>
                <a:rPr lang="en-US" altLang="ko-KR" sz="1200" dirty="0">
                  <a:solidFill>
                    <a:schemeClr val="tx1"/>
                  </a:solidFill>
                </a:rPr>
                <a:t>(F)</a:t>
              </a:r>
              <a:endParaRPr lang="ko-KR" altLang="en-US" sz="1200" dirty="0">
                <a:solidFill>
                  <a:schemeClr val="tx1"/>
                </a:solidFill>
              </a:endParaRPr>
            </a:p>
          </p:txBody>
        </p:sp>
        <p:sp>
          <p:nvSpPr>
            <p:cNvPr id="20" name="직사각형 19"/>
            <p:cNvSpPr/>
            <p:nvPr/>
          </p:nvSpPr>
          <p:spPr>
            <a:xfrm>
              <a:off x="3693044" y="5224453"/>
              <a:ext cx="1320077" cy="48577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질권자</a:t>
              </a:r>
              <a:endParaRPr lang="en-US" altLang="ko-KR" sz="1200" dirty="0">
                <a:solidFill>
                  <a:schemeClr val="tx1"/>
                </a:solidFill>
              </a:endParaRPr>
            </a:p>
            <a:p>
              <a:pPr algn="ctr"/>
              <a:r>
                <a:rPr lang="en-US" altLang="ko-KR" sz="1200" dirty="0">
                  <a:solidFill>
                    <a:schemeClr val="tx1"/>
                  </a:solidFill>
                </a:rPr>
                <a:t>(G)</a:t>
              </a:r>
              <a:endParaRPr lang="ko-KR" altLang="en-US" sz="1200" dirty="0">
                <a:solidFill>
                  <a:schemeClr val="tx1"/>
                </a:solidFill>
              </a:endParaRPr>
            </a:p>
          </p:txBody>
        </p:sp>
        <p:sp>
          <p:nvSpPr>
            <p:cNvPr id="21" name="직사각형 20"/>
            <p:cNvSpPr/>
            <p:nvPr/>
          </p:nvSpPr>
          <p:spPr>
            <a:xfrm>
              <a:off x="2095499" y="6079333"/>
              <a:ext cx="1320077" cy="48577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질권자</a:t>
              </a:r>
              <a:endParaRPr lang="en-US" altLang="ko-KR" sz="1200" dirty="0">
                <a:solidFill>
                  <a:schemeClr val="tx1"/>
                </a:solidFill>
              </a:endParaRPr>
            </a:p>
            <a:p>
              <a:pPr algn="ctr"/>
              <a:r>
                <a:rPr lang="en-US" altLang="ko-KR" sz="1200" dirty="0">
                  <a:solidFill>
                    <a:schemeClr val="tx1"/>
                  </a:solidFill>
                </a:rPr>
                <a:t>(J)</a:t>
              </a:r>
              <a:endParaRPr lang="ko-KR" altLang="en-US" sz="1200" dirty="0">
                <a:solidFill>
                  <a:schemeClr val="tx1"/>
                </a:solidFill>
              </a:endParaRPr>
            </a:p>
          </p:txBody>
        </p:sp>
        <p:sp>
          <p:nvSpPr>
            <p:cNvPr id="22" name="직사각형 21"/>
            <p:cNvSpPr/>
            <p:nvPr/>
          </p:nvSpPr>
          <p:spPr>
            <a:xfrm>
              <a:off x="5196720" y="5224465"/>
              <a:ext cx="1320077" cy="48577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질권자</a:t>
              </a:r>
              <a:endParaRPr lang="en-US" altLang="ko-KR" sz="1200" dirty="0">
                <a:solidFill>
                  <a:schemeClr val="tx1"/>
                </a:solidFill>
              </a:endParaRPr>
            </a:p>
            <a:p>
              <a:pPr algn="ctr"/>
              <a:r>
                <a:rPr lang="en-US" altLang="ko-KR" sz="1200" dirty="0">
                  <a:solidFill>
                    <a:schemeClr val="tx1"/>
                  </a:solidFill>
                </a:rPr>
                <a:t>(H)</a:t>
              </a:r>
              <a:endParaRPr lang="ko-KR" altLang="en-US" sz="1200" dirty="0">
                <a:solidFill>
                  <a:schemeClr val="tx1"/>
                </a:solidFill>
              </a:endParaRPr>
            </a:p>
          </p:txBody>
        </p:sp>
        <p:sp>
          <p:nvSpPr>
            <p:cNvPr id="23" name="직사각형 22"/>
            <p:cNvSpPr/>
            <p:nvPr/>
          </p:nvSpPr>
          <p:spPr>
            <a:xfrm>
              <a:off x="6853641" y="5224465"/>
              <a:ext cx="1320077" cy="48577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질권자</a:t>
              </a:r>
              <a:endParaRPr lang="en-US" altLang="ko-KR" sz="1200" dirty="0">
                <a:solidFill>
                  <a:schemeClr val="tx1"/>
                </a:solidFill>
              </a:endParaRPr>
            </a:p>
            <a:p>
              <a:pPr algn="ctr"/>
              <a:r>
                <a:rPr lang="en-US" altLang="ko-KR" sz="1200" dirty="0">
                  <a:solidFill>
                    <a:schemeClr val="tx1"/>
                  </a:solidFill>
                </a:rPr>
                <a:t>(I)</a:t>
              </a:r>
              <a:endParaRPr lang="ko-KR" altLang="en-US" sz="1200" dirty="0">
                <a:solidFill>
                  <a:schemeClr val="tx1"/>
                </a:solidFill>
              </a:endParaRPr>
            </a:p>
          </p:txBody>
        </p:sp>
        <p:cxnSp>
          <p:nvCxnSpPr>
            <p:cNvPr id="27" name="꺾인 연결선 26"/>
            <p:cNvCxnSpPr>
              <a:stCxn id="13" idx="2"/>
              <a:endCxn id="14" idx="0"/>
            </p:cNvCxnSpPr>
            <p:nvPr/>
          </p:nvCxnSpPr>
          <p:spPr>
            <a:xfrm rot="5400000">
              <a:off x="5023430" y="2807357"/>
              <a:ext cx="400051" cy="27530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꺾인 연결선 28"/>
            <p:cNvCxnSpPr>
              <a:stCxn id="13" idx="2"/>
              <a:endCxn id="17" idx="0"/>
            </p:cNvCxnSpPr>
            <p:nvPr/>
          </p:nvCxnSpPr>
          <p:spPr>
            <a:xfrm rot="16200000" flipH="1">
              <a:off x="7688143" y="2895644"/>
              <a:ext cx="400051" cy="25764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꺾인 연결선 30"/>
            <p:cNvCxnSpPr>
              <a:stCxn id="13" idx="2"/>
              <a:endCxn id="16" idx="0"/>
            </p:cNvCxnSpPr>
            <p:nvPr/>
          </p:nvCxnSpPr>
          <p:spPr>
            <a:xfrm rot="16200000" flipH="1">
              <a:off x="6856793" y="3726994"/>
              <a:ext cx="400051" cy="9137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꺾인 연결선 32"/>
            <p:cNvCxnSpPr>
              <a:stCxn id="13" idx="2"/>
              <a:endCxn id="15" idx="0"/>
            </p:cNvCxnSpPr>
            <p:nvPr/>
          </p:nvCxnSpPr>
          <p:spPr>
            <a:xfrm rot="5400000">
              <a:off x="6026230" y="3810157"/>
              <a:ext cx="400051" cy="7474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꺾인 연결선 34"/>
            <p:cNvCxnSpPr>
              <a:stCxn id="14" idx="2"/>
              <a:endCxn id="19" idx="0"/>
            </p:cNvCxnSpPr>
            <p:nvPr/>
          </p:nvCxnSpPr>
          <p:spPr>
            <a:xfrm rot="5400000">
              <a:off x="3123849" y="4501346"/>
              <a:ext cx="354796" cy="109141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14" idx="2"/>
              <a:endCxn id="20" idx="0"/>
            </p:cNvCxnSpPr>
            <p:nvPr/>
          </p:nvCxnSpPr>
          <p:spPr>
            <a:xfrm rot="16200000" flipH="1">
              <a:off x="3922621" y="4793991"/>
              <a:ext cx="354796" cy="506128"/>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직선 연결선 39"/>
            <p:cNvCxnSpPr>
              <a:stCxn id="19" idx="2"/>
              <a:endCxn id="21" idx="0"/>
            </p:cNvCxnSpPr>
            <p:nvPr/>
          </p:nvCxnSpPr>
          <p:spPr>
            <a:xfrm>
              <a:off x="2755538" y="5710227"/>
              <a:ext cx="0" cy="36910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직선 연결선 41"/>
            <p:cNvCxnSpPr>
              <a:stCxn id="15" idx="2"/>
              <a:endCxn id="22" idx="0"/>
            </p:cNvCxnSpPr>
            <p:nvPr/>
          </p:nvCxnSpPr>
          <p:spPr>
            <a:xfrm>
              <a:off x="5852555" y="4869657"/>
              <a:ext cx="4204" cy="35480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직선 연결선 43"/>
            <p:cNvCxnSpPr>
              <a:stCxn id="16" idx="2"/>
              <a:endCxn id="23" idx="0"/>
            </p:cNvCxnSpPr>
            <p:nvPr/>
          </p:nvCxnSpPr>
          <p:spPr>
            <a:xfrm flipH="1">
              <a:off x="7513680" y="4869657"/>
              <a:ext cx="1" cy="35480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2679864" y="4826395"/>
              <a:ext cx="542244" cy="276999"/>
            </a:xfrm>
            <a:prstGeom prst="rect">
              <a:avLst/>
            </a:prstGeom>
            <a:noFill/>
          </p:spPr>
          <p:txBody>
            <a:bodyPr wrap="none" rtlCol="0">
              <a:spAutoFit/>
            </a:bodyPr>
            <a:lstStyle/>
            <a:p>
              <a:r>
                <a:rPr lang="en-US" altLang="ko-KR" sz="1200" dirty="0">
                  <a:solidFill>
                    <a:srgbClr val="FF0000"/>
                  </a:solidFill>
                </a:rPr>
                <a:t>A </a:t>
              </a:r>
              <a:r>
                <a:rPr lang="ko-KR" altLang="en-US" sz="1200" dirty="0">
                  <a:solidFill>
                    <a:srgbClr val="FF0000"/>
                  </a:solidFill>
                </a:rPr>
                <a:t>동의</a:t>
              </a:r>
            </a:p>
          </p:txBody>
        </p:sp>
        <p:sp>
          <p:nvSpPr>
            <p:cNvPr id="46" name="TextBox 45"/>
            <p:cNvSpPr txBox="1"/>
            <p:nvPr/>
          </p:nvSpPr>
          <p:spPr>
            <a:xfrm>
              <a:off x="3947431" y="4826395"/>
              <a:ext cx="542244" cy="276999"/>
            </a:xfrm>
            <a:prstGeom prst="rect">
              <a:avLst/>
            </a:prstGeom>
            <a:noFill/>
          </p:spPr>
          <p:txBody>
            <a:bodyPr wrap="none" rtlCol="0">
              <a:spAutoFit/>
            </a:bodyPr>
            <a:lstStyle/>
            <a:p>
              <a:r>
                <a:rPr lang="en-US" altLang="ko-KR" sz="1200" dirty="0">
                  <a:solidFill>
                    <a:srgbClr val="FF0000"/>
                  </a:solidFill>
                </a:rPr>
                <a:t>A </a:t>
              </a:r>
              <a:r>
                <a:rPr lang="ko-KR" altLang="en-US" sz="1200" dirty="0">
                  <a:solidFill>
                    <a:srgbClr val="FF0000"/>
                  </a:solidFill>
                </a:rPr>
                <a:t>동의</a:t>
              </a:r>
            </a:p>
          </p:txBody>
        </p:sp>
        <p:sp>
          <p:nvSpPr>
            <p:cNvPr id="47" name="TextBox 46"/>
            <p:cNvSpPr txBox="1"/>
            <p:nvPr/>
          </p:nvSpPr>
          <p:spPr>
            <a:xfrm>
              <a:off x="5299561" y="4921645"/>
              <a:ext cx="542244" cy="276999"/>
            </a:xfrm>
            <a:prstGeom prst="rect">
              <a:avLst/>
            </a:prstGeom>
            <a:noFill/>
          </p:spPr>
          <p:txBody>
            <a:bodyPr wrap="none" rtlCol="0">
              <a:spAutoFit/>
            </a:bodyPr>
            <a:lstStyle/>
            <a:p>
              <a:r>
                <a:rPr lang="en-US" altLang="ko-KR" sz="1200" dirty="0">
                  <a:solidFill>
                    <a:srgbClr val="FF0000"/>
                  </a:solidFill>
                </a:rPr>
                <a:t>A </a:t>
              </a:r>
              <a:r>
                <a:rPr lang="ko-KR" altLang="en-US" sz="1200" dirty="0">
                  <a:solidFill>
                    <a:srgbClr val="FF0000"/>
                  </a:solidFill>
                </a:rPr>
                <a:t>동의</a:t>
              </a:r>
            </a:p>
          </p:txBody>
        </p:sp>
        <p:sp>
          <p:nvSpPr>
            <p:cNvPr id="48" name="TextBox 47"/>
            <p:cNvSpPr txBox="1"/>
            <p:nvPr/>
          </p:nvSpPr>
          <p:spPr>
            <a:xfrm>
              <a:off x="6971093" y="4912120"/>
              <a:ext cx="542244" cy="276999"/>
            </a:xfrm>
            <a:prstGeom prst="rect">
              <a:avLst/>
            </a:prstGeom>
            <a:noFill/>
          </p:spPr>
          <p:txBody>
            <a:bodyPr wrap="none" rtlCol="0">
              <a:spAutoFit/>
            </a:bodyPr>
            <a:lstStyle/>
            <a:p>
              <a:r>
                <a:rPr lang="en-US" altLang="ko-KR" sz="1200" dirty="0">
                  <a:solidFill>
                    <a:srgbClr val="FF0000"/>
                  </a:solidFill>
                </a:rPr>
                <a:t>A </a:t>
              </a:r>
              <a:r>
                <a:rPr lang="ko-KR" altLang="en-US" sz="1200" dirty="0">
                  <a:solidFill>
                    <a:srgbClr val="FF0000"/>
                  </a:solidFill>
                </a:rPr>
                <a:t>동의</a:t>
              </a:r>
            </a:p>
          </p:txBody>
        </p:sp>
        <p:sp>
          <p:nvSpPr>
            <p:cNvPr id="49" name="TextBox 48"/>
            <p:cNvSpPr txBox="1"/>
            <p:nvPr/>
          </p:nvSpPr>
          <p:spPr>
            <a:xfrm>
              <a:off x="2756064" y="5756280"/>
              <a:ext cx="702144" cy="276999"/>
            </a:xfrm>
            <a:prstGeom prst="rect">
              <a:avLst/>
            </a:prstGeom>
            <a:noFill/>
          </p:spPr>
          <p:txBody>
            <a:bodyPr wrap="none" rtlCol="0">
              <a:spAutoFit/>
            </a:bodyPr>
            <a:lstStyle/>
            <a:p>
              <a:r>
                <a:rPr lang="en-US" altLang="ko-KR" sz="1200" dirty="0">
                  <a:solidFill>
                    <a:srgbClr val="FF0000"/>
                  </a:solidFill>
                </a:rPr>
                <a:t>A, B </a:t>
              </a:r>
              <a:r>
                <a:rPr lang="ko-KR" altLang="en-US" sz="1200" dirty="0">
                  <a:solidFill>
                    <a:srgbClr val="FF0000"/>
                  </a:solidFill>
                </a:rPr>
                <a:t>동의</a:t>
              </a:r>
            </a:p>
          </p:txBody>
        </p:sp>
        <p:sp>
          <p:nvSpPr>
            <p:cNvPr id="51" name="TextBox 50"/>
            <p:cNvSpPr txBox="1"/>
            <p:nvPr/>
          </p:nvSpPr>
          <p:spPr>
            <a:xfrm>
              <a:off x="7693516" y="3028175"/>
              <a:ext cx="1112805" cy="276999"/>
            </a:xfrm>
            <a:prstGeom prst="rect">
              <a:avLst/>
            </a:prstGeom>
            <a:solidFill>
              <a:schemeClr val="accent2">
                <a:lumMod val="75000"/>
              </a:schemeClr>
            </a:solidFill>
            <a:ln>
              <a:solidFill>
                <a:schemeClr val="bg1">
                  <a:lumMod val="50000"/>
                </a:schemeClr>
              </a:solidFill>
            </a:ln>
          </p:spPr>
          <p:txBody>
            <a:bodyPr wrap="none" rtlCol="0">
              <a:spAutoFit/>
            </a:bodyPr>
            <a:lstStyle/>
            <a:p>
              <a:r>
                <a:rPr lang="ko-KR" altLang="en-US" sz="1200" dirty="0">
                  <a:solidFill>
                    <a:schemeClr val="accent5">
                      <a:lumMod val="20000"/>
                      <a:lumOff val="80000"/>
                    </a:schemeClr>
                  </a:solidFill>
                </a:rPr>
                <a:t>포기</a:t>
              </a:r>
              <a:r>
                <a:rPr lang="en-US" altLang="ko-KR" sz="1200" dirty="0">
                  <a:solidFill>
                    <a:schemeClr val="accent5">
                      <a:lumMod val="20000"/>
                      <a:lumOff val="80000"/>
                    </a:schemeClr>
                  </a:solidFill>
                </a:rPr>
                <a:t>: B~J </a:t>
              </a:r>
              <a:r>
                <a:rPr lang="ko-KR" altLang="en-US" sz="1200" dirty="0">
                  <a:solidFill>
                    <a:schemeClr val="accent5">
                      <a:lumMod val="20000"/>
                      <a:lumOff val="80000"/>
                    </a:schemeClr>
                  </a:solidFill>
                </a:rPr>
                <a:t>동의</a:t>
              </a:r>
            </a:p>
          </p:txBody>
        </p:sp>
        <p:cxnSp>
          <p:nvCxnSpPr>
            <p:cNvPr id="53" name="직선 연결선 52"/>
            <p:cNvCxnSpPr>
              <a:stCxn id="13" idx="3"/>
              <a:endCxn id="51" idx="1"/>
            </p:cNvCxnSpPr>
            <p:nvPr/>
          </p:nvCxnSpPr>
          <p:spPr>
            <a:xfrm flipV="1">
              <a:off x="7259993" y="3166675"/>
              <a:ext cx="433523" cy="574270"/>
            </a:xfrm>
            <a:prstGeom prst="line">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4" name="직선 연결선 53"/>
            <p:cNvCxnSpPr>
              <a:stCxn id="14" idx="0"/>
              <a:endCxn id="58" idx="2"/>
            </p:cNvCxnSpPr>
            <p:nvPr/>
          </p:nvCxnSpPr>
          <p:spPr>
            <a:xfrm flipH="1" flipV="1">
              <a:off x="3534831" y="3305175"/>
              <a:ext cx="312124" cy="1078708"/>
            </a:xfrm>
            <a:prstGeom prst="line">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2901805" y="3028176"/>
              <a:ext cx="1266052" cy="276999"/>
            </a:xfrm>
            <a:prstGeom prst="rect">
              <a:avLst/>
            </a:prstGeom>
            <a:solidFill>
              <a:schemeClr val="accent2">
                <a:lumMod val="75000"/>
              </a:schemeClr>
            </a:solidFill>
            <a:ln>
              <a:solidFill>
                <a:schemeClr val="bg1">
                  <a:lumMod val="50000"/>
                </a:schemeClr>
              </a:solidFill>
            </a:ln>
          </p:spPr>
          <p:txBody>
            <a:bodyPr wrap="none" rtlCol="0">
              <a:spAutoFit/>
            </a:bodyPr>
            <a:lstStyle/>
            <a:p>
              <a:r>
                <a:rPr lang="ko-KR" altLang="en-US" sz="1200" dirty="0">
                  <a:solidFill>
                    <a:schemeClr val="accent5">
                      <a:lumMod val="20000"/>
                      <a:lumOff val="80000"/>
                    </a:schemeClr>
                  </a:solidFill>
                </a:rPr>
                <a:t>포기</a:t>
              </a:r>
              <a:r>
                <a:rPr lang="en-US" altLang="ko-KR" sz="1200" dirty="0">
                  <a:solidFill>
                    <a:schemeClr val="accent5">
                      <a:lumMod val="20000"/>
                      <a:lumOff val="80000"/>
                    </a:schemeClr>
                  </a:solidFill>
                </a:rPr>
                <a:t>: F, G, J </a:t>
              </a:r>
              <a:r>
                <a:rPr lang="ko-KR" altLang="en-US" sz="1200" dirty="0">
                  <a:solidFill>
                    <a:schemeClr val="accent5">
                      <a:lumMod val="20000"/>
                      <a:lumOff val="80000"/>
                    </a:schemeClr>
                  </a:solidFill>
                </a:rPr>
                <a:t>동의</a:t>
              </a:r>
            </a:p>
          </p:txBody>
        </p:sp>
        <p:sp>
          <p:nvSpPr>
            <p:cNvPr id="59" name="TextBox 58"/>
            <p:cNvSpPr txBox="1"/>
            <p:nvPr/>
          </p:nvSpPr>
          <p:spPr>
            <a:xfrm>
              <a:off x="4704883" y="3037701"/>
              <a:ext cx="976549" cy="276999"/>
            </a:xfrm>
            <a:prstGeom prst="rect">
              <a:avLst/>
            </a:prstGeom>
            <a:solidFill>
              <a:schemeClr val="accent2">
                <a:lumMod val="75000"/>
              </a:schemeClr>
            </a:solidFill>
            <a:ln>
              <a:solidFill>
                <a:schemeClr val="bg1">
                  <a:lumMod val="50000"/>
                </a:schemeClr>
              </a:solidFill>
            </a:ln>
          </p:spPr>
          <p:txBody>
            <a:bodyPr wrap="none" rtlCol="0">
              <a:spAutoFit/>
            </a:bodyPr>
            <a:lstStyle/>
            <a:p>
              <a:r>
                <a:rPr lang="ko-KR" altLang="en-US" sz="1200" dirty="0">
                  <a:solidFill>
                    <a:schemeClr val="accent5">
                      <a:lumMod val="20000"/>
                      <a:lumOff val="80000"/>
                    </a:schemeClr>
                  </a:solidFill>
                </a:rPr>
                <a:t>포기</a:t>
              </a:r>
              <a:r>
                <a:rPr lang="en-US" altLang="ko-KR" sz="1200" dirty="0">
                  <a:solidFill>
                    <a:schemeClr val="accent5">
                      <a:lumMod val="20000"/>
                      <a:lumOff val="80000"/>
                    </a:schemeClr>
                  </a:solidFill>
                </a:rPr>
                <a:t>: H </a:t>
              </a:r>
              <a:r>
                <a:rPr lang="ko-KR" altLang="en-US" sz="1200" dirty="0">
                  <a:solidFill>
                    <a:schemeClr val="accent5">
                      <a:lumMod val="20000"/>
                      <a:lumOff val="80000"/>
                    </a:schemeClr>
                  </a:solidFill>
                </a:rPr>
                <a:t>동의</a:t>
              </a:r>
            </a:p>
          </p:txBody>
        </p:sp>
        <p:cxnSp>
          <p:nvCxnSpPr>
            <p:cNvPr id="60" name="직선 연결선 59"/>
            <p:cNvCxnSpPr>
              <a:stCxn id="15" idx="0"/>
              <a:endCxn id="59" idx="2"/>
            </p:cNvCxnSpPr>
            <p:nvPr/>
          </p:nvCxnSpPr>
          <p:spPr>
            <a:xfrm flipH="1" flipV="1">
              <a:off x="5193158" y="3314700"/>
              <a:ext cx="659397" cy="1069183"/>
            </a:xfrm>
            <a:prstGeom prst="line">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8" name="TextBox 67"/>
            <p:cNvSpPr txBox="1"/>
            <p:nvPr/>
          </p:nvSpPr>
          <p:spPr>
            <a:xfrm>
              <a:off x="330055" y="4303604"/>
              <a:ext cx="1511952" cy="646331"/>
            </a:xfrm>
            <a:prstGeom prst="rect">
              <a:avLst/>
            </a:prstGeom>
            <a:solidFill>
              <a:schemeClr val="accent4"/>
            </a:solidFill>
            <a:ln>
              <a:solidFill>
                <a:schemeClr val="bg1">
                  <a:lumMod val="50000"/>
                </a:schemeClr>
              </a:solidFill>
            </a:ln>
          </p:spPr>
          <p:txBody>
            <a:bodyPr wrap="none" rtlCol="0">
              <a:spAutoFit/>
            </a:bodyPr>
            <a:lstStyle/>
            <a:p>
              <a:r>
                <a:rPr lang="ko-KR" altLang="en-US" sz="1200" dirty="0">
                  <a:solidFill>
                    <a:schemeClr val="tx2"/>
                  </a:solidFill>
                </a:rPr>
                <a:t>이전</a:t>
              </a:r>
              <a:r>
                <a:rPr lang="en-US" altLang="ko-KR" sz="1200" dirty="0">
                  <a:solidFill>
                    <a:schemeClr val="tx2"/>
                  </a:solidFill>
                </a:rPr>
                <a:t>: A </a:t>
              </a:r>
              <a:r>
                <a:rPr lang="ko-KR" altLang="en-US" sz="1200" dirty="0">
                  <a:solidFill>
                    <a:schemeClr val="tx2"/>
                  </a:solidFill>
                </a:rPr>
                <a:t>동의</a:t>
              </a:r>
              <a:endParaRPr lang="en-US" altLang="ko-KR" sz="1200" dirty="0">
                <a:solidFill>
                  <a:schemeClr val="tx2"/>
                </a:solidFill>
              </a:endParaRPr>
            </a:p>
            <a:p>
              <a:r>
                <a:rPr lang="en-US" altLang="ko-KR" sz="1200" dirty="0">
                  <a:solidFill>
                    <a:schemeClr val="tx2"/>
                  </a:solidFill>
                </a:rPr>
                <a:t>(</a:t>
              </a:r>
              <a:r>
                <a:rPr lang="ko-KR" altLang="en-US" sz="1200" dirty="0">
                  <a:solidFill>
                    <a:schemeClr val="tx2"/>
                  </a:solidFill>
                </a:rPr>
                <a:t>단 실시사업과 함께</a:t>
              </a:r>
              <a:r>
                <a:rPr lang="en-US" altLang="ko-KR" sz="1200" dirty="0">
                  <a:solidFill>
                    <a:schemeClr val="tx2"/>
                  </a:solidFill>
                </a:rPr>
                <a:t>/</a:t>
              </a:r>
            </a:p>
            <a:p>
              <a:r>
                <a:rPr lang="ko-KR" altLang="en-US" sz="1200" dirty="0">
                  <a:solidFill>
                    <a:schemeClr val="tx2"/>
                  </a:solidFill>
                </a:rPr>
                <a:t>상속은 제외</a:t>
              </a:r>
              <a:r>
                <a:rPr lang="en-US" altLang="ko-KR" sz="1200" dirty="0">
                  <a:solidFill>
                    <a:schemeClr val="tx2"/>
                  </a:solidFill>
                </a:rPr>
                <a:t>)</a:t>
              </a:r>
              <a:endParaRPr lang="ko-KR" altLang="en-US" sz="1200" dirty="0">
                <a:solidFill>
                  <a:schemeClr val="tx2"/>
                </a:solidFill>
              </a:endParaRPr>
            </a:p>
          </p:txBody>
        </p:sp>
        <p:cxnSp>
          <p:nvCxnSpPr>
            <p:cNvPr id="69" name="직선 연결선 68"/>
            <p:cNvCxnSpPr>
              <a:stCxn id="19" idx="1"/>
              <a:endCxn id="74" idx="3"/>
            </p:cNvCxnSpPr>
            <p:nvPr/>
          </p:nvCxnSpPr>
          <p:spPr>
            <a:xfrm flipH="1">
              <a:off x="1814757" y="5467340"/>
              <a:ext cx="280742" cy="5149"/>
            </a:xfrm>
            <a:prstGeom prst="line">
              <a:avLst/>
            </a:prstGeom>
            <a:ln w="381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4" name="TextBox 73"/>
            <p:cNvSpPr txBox="1"/>
            <p:nvPr/>
          </p:nvSpPr>
          <p:spPr>
            <a:xfrm>
              <a:off x="330055" y="5149323"/>
              <a:ext cx="1484702" cy="646331"/>
            </a:xfrm>
            <a:prstGeom prst="rect">
              <a:avLst/>
            </a:prstGeom>
            <a:solidFill>
              <a:schemeClr val="accent4"/>
            </a:solidFill>
            <a:ln>
              <a:solidFill>
                <a:schemeClr val="bg1">
                  <a:lumMod val="50000"/>
                </a:schemeClr>
              </a:solidFill>
            </a:ln>
          </p:spPr>
          <p:txBody>
            <a:bodyPr wrap="none" rtlCol="0">
              <a:spAutoFit/>
            </a:bodyPr>
            <a:lstStyle/>
            <a:p>
              <a:r>
                <a:rPr lang="ko-KR" altLang="en-US" sz="1200" dirty="0">
                  <a:solidFill>
                    <a:schemeClr val="tx2"/>
                  </a:solidFill>
                </a:rPr>
                <a:t>이전</a:t>
              </a:r>
              <a:r>
                <a:rPr lang="en-US" altLang="ko-KR" sz="1200" dirty="0">
                  <a:solidFill>
                    <a:schemeClr val="tx2"/>
                  </a:solidFill>
                </a:rPr>
                <a:t>: A, B </a:t>
              </a:r>
              <a:r>
                <a:rPr lang="ko-KR" altLang="en-US" sz="1200" dirty="0">
                  <a:solidFill>
                    <a:schemeClr val="tx2"/>
                  </a:solidFill>
                </a:rPr>
                <a:t>동의</a:t>
              </a:r>
              <a:endParaRPr lang="en-US" altLang="ko-KR" sz="1200" dirty="0">
                <a:solidFill>
                  <a:schemeClr val="tx2"/>
                </a:solidFill>
              </a:endParaRPr>
            </a:p>
            <a:p>
              <a:r>
                <a:rPr lang="en-US" altLang="ko-KR" sz="1200" dirty="0">
                  <a:solidFill>
                    <a:schemeClr val="tx2"/>
                  </a:solidFill>
                </a:rPr>
                <a:t>(</a:t>
              </a:r>
              <a:r>
                <a:rPr lang="ko-KR" altLang="en-US" sz="1200" dirty="0">
                  <a:solidFill>
                    <a:schemeClr val="tx2"/>
                  </a:solidFill>
                </a:rPr>
                <a:t>단 실시사업과 함께</a:t>
              </a:r>
              <a:r>
                <a:rPr lang="en-US" altLang="ko-KR" sz="1200" dirty="0">
                  <a:solidFill>
                    <a:schemeClr val="tx2"/>
                  </a:solidFill>
                </a:rPr>
                <a:t>/</a:t>
              </a:r>
            </a:p>
            <a:p>
              <a:r>
                <a:rPr lang="ko-KR" altLang="en-US" sz="1200" dirty="0">
                  <a:solidFill>
                    <a:schemeClr val="tx2"/>
                  </a:solidFill>
                </a:rPr>
                <a:t>상속은 제외</a:t>
              </a:r>
              <a:r>
                <a:rPr lang="en-US" altLang="ko-KR" sz="1200" dirty="0">
                  <a:solidFill>
                    <a:schemeClr val="tx2"/>
                  </a:solidFill>
                </a:rPr>
                <a:t>)</a:t>
              </a:r>
              <a:endParaRPr lang="ko-KR" altLang="en-US" sz="1200" dirty="0">
                <a:solidFill>
                  <a:schemeClr val="tx2"/>
                </a:solidFill>
              </a:endParaRPr>
            </a:p>
          </p:txBody>
        </p:sp>
        <p:cxnSp>
          <p:nvCxnSpPr>
            <p:cNvPr id="77" name="직선 연결선 76"/>
            <p:cNvCxnSpPr>
              <a:stCxn id="14" idx="1"/>
              <a:endCxn id="68" idx="3"/>
            </p:cNvCxnSpPr>
            <p:nvPr/>
          </p:nvCxnSpPr>
          <p:spPr>
            <a:xfrm flipH="1">
              <a:off x="1842007" y="4626770"/>
              <a:ext cx="1344909" cy="0"/>
            </a:xfrm>
            <a:prstGeom prst="line">
              <a:avLst/>
            </a:prstGeom>
            <a:ln w="381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3" name="TextBox 82"/>
            <p:cNvSpPr txBox="1"/>
            <p:nvPr/>
          </p:nvSpPr>
          <p:spPr>
            <a:xfrm>
              <a:off x="247650" y="2932926"/>
              <a:ext cx="601447" cy="369332"/>
            </a:xfrm>
            <a:prstGeom prst="rect">
              <a:avLst/>
            </a:prstGeom>
            <a:noFill/>
          </p:spPr>
          <p:txBody>
            <a:bodyPr wrap="none" rtlCol="0">
              <a:spAutoFit/>
            </a:bodyPr>
            <a:lstStyle/>
            <a:p>
              <a:r>
                <a:rPr lang="ko-KR" altLang="en-US" dirty="0"/>
                <a:t>이전</a:t>
              </a:r>
            </a:p>
          </p:txBody>
        </p:sp>
        <p:sp>
          <p:nvSpPr>
            <p:cNvPr id="85" name="TextBox 84"/>
            <p:cNvSpPr txBox="1"/>
            <p:nvPr/>
          </p:nvSpPr>
          <p:spPr>
            <a:xfrm>
              <a:off x="9233530" y="2924859"/>
              <a:ext cx="601447" cy="369332"/>
            </a:xfrm>
            <a:prstGeom prst="rect">
              <a:avLst/>
            </a:prstGeom>
            <a:noFill/>
          </p:spPr>
          <p:txBody>
            <a:bodyPr wrap="none" rtlCol="0">
              <a:spAutoFit/>
            </a:bodyPr>
            <a:lstStyle/>
            <a:p>
              <a:r>
                <a:rPr lang="ko-KR" altLang="en-US" dirty="0"/>
                <a:t>포기</a:t>
              </a:r>
            </a:p>
          </p:txBody>
        </p:sp>
        <p:sp>
          <p:nvSpPr>
            <p:cNvPr id="90" name="TextBox 89"/>
            <p:cNvSpPr txBox="1"/>
            <p:nvPr/>
          </p:nvSpPr>
          <p:spPr>
            <a:xfrm>
              <a:off x="10518773" y="2913876"/>
              <a:ext cx="601447" cy="369332"/>
            </a:xfrm>
            <a:prstGeom prst="rect">
              <a:avLst/>
            </a:prstGeom>
            <a:noFill/>
          </p:spPr>
          <p:txBody>
            <a:bodyPr wrap="none" rtlCol="0">
              <a:spAutoFit/>
            </a:bodyPr>
            <a:lstStyle/>
            <a:p>
              <a:r>
                <a:rPr lang="ko-KR" altLang="en-US" dirty="0"/>
                <a:t>소멸</a:t>
              </a:r>
            </a:p>
          </p:txBody>
        </p:sp>
        <p:sp>
          <p:nvSpPr>
            <p:cNvPr id="93" name="TextBox 92"/>
            <p:cNvSpPr txBox="1"/>
            <p:nvPr/>
          </p:nvSpPr>
          <p:spPr>
            <a:xfrm>
              <a:off x="10633459" y="3602445"/>
              <a:ext cx="1192955" cy="276999"/>
            </a:xfrm>
            <a:prstGeom prst="rect">
              <a:avLst/>
            </a:prstGeom>
            <a:solidFill>
              <a:schemeClr val="tx2">
                <a:lumMod val="50000"/>
              </a:schemeClr>
            </a:solidFill>
            <a:ln>
              <a:solidFill>
                <a:schemeClr val="bg1">
                  <a:lumMod val="50000"/>
                </a:schemeClr>
              </a:solidFill>
            </a:ln>
          </p:spPr>
          <p:txBody>
            <a:bodyPr wrap="square" rtlCol="0">
              <a:spAutoFit/>
            </a:bodyPr>
            <a:lstStyle/>
            <a:p>
              <a:pPr algn="ctr"/>
              <a:r>
                <a:rPr lang="ko-KR" altLang="en-US" sz="1200" dirty="0">
                  <a:solidFill>
                    <a:schemeClr val="accent4"/>
                  </a:solidFill>
                </a:rPr>
                <a:t>소멸원인</a:t>
              </a:r>
            </a:p>
          </p:txBody>
        </p:sp>
        <p:sp>
          <p:nvSpPr>
            <p:cNvPr id="94" name="TextBox 93"/>
            <p:cNvSpPr txBox="1"/>
            <p:nvPr/>
          </p:nvSpPr>
          <p:spPr>
            <a:xfrm>
              <a:off x="10633459" y="4488270"/>
              <a:ext cx="1192955" cy="276999"/>
            </a:xfrm>
            <a:prstGeom prst="rect">
              <a:avLst/>
            </a:prstGeom>
            <a:solidFill>
              <a:schemeClr val="tx2">
                <a:lumMod val="50000"/>
              </a:schemeClr>
            </a:solidFill>
            <a:ln>
              <a:solidFill>
                <a:schemeClr val="bg1">
                  <a:lumMod val="50000"/>
                </a:schemeClr>
              </a:solidFill>
            </a:ln>
          </p:spPr>
          <p:txBody>
            <a:bodyPr wrap="none" rtlCol="0">
              <a:spAutoFit/>
            </a:bodyPr>
            <a:lstStyle/>
            <a:p>
              <a:r>
                <a:rPr lang="ko-KR" altLang="en-US" sz="1200" dirty="0">
                  <a:solidFill>
                    <a:schemeClr val="accent4"/>
                  </a:solidFill>
                </a:rPr>
                <a:t>자체의 소멸원인</a:t>
              </a:r>
            </a:p>
          </p:txBody>
        </p:sp>
        <p:sp>
          <p:nvSpPr>
            <p:cNvPr id="95" name="TextBox 94"/>
            <p:cNvSpPr txBox="1"/>
            <p:nvPr/>
          </p:nvSpPr>
          <p:spPr>
            <a:xfrm>
              <a:off x="10633459" y="5328840"/>
              <a:ext cx="1192955" cy="276999"/>
            </a:xfrm>
            <a:prstGeom prst="rect">
              <a:avLst/>
            </a:prstGeom>
            <a:solidFill>
              <a:schemeClr val="tx2">
                <a:lumMod val="50000"/>
              </a:schemeClr>
            </a:solidFill>
            <a:ln>
              <a:solidFill>
                <a:schemeClr val="bg1">
                  <a:lumMod val="50000"/>
                </a:schemeClr>
              </a:solidFill>
            </a:ln>
          </p:spPr>
          <p:txBody>
            <a:bodyPr wrap="square" rtlCol="0">
              <a:spAutoFit/>
            </a:bodyPr>
            <a:lstStyle/>
            <a:p>
              <a:pPr algn="ctr"/>
              <a:r>
                <a:rPr lang="ko-KR" altLang="en-US" sz="1200" dirty="0">
                  <a:solidFill>
                    <a:schemeClr val="accent4"/>
                  </a:solidFill>
                </a:rPr>
                <a:t>자체의 소멸원인</a:t>
              </a:r>
            </a:p>
          </p:txBody>
        </p:sp>
        <p:sp>
          <p:nvSpPr>
            <p:cNvPr id="96" name="TextBox 95"/>
            <p:cNvSpPr txBox="1"/>
            <p:nvPr/>
          </p:nvSpPr>
          <p:spPr>
            <a:xfrm>
              <a:off x="10633459" y="4026605"/>
              <a:ext cx="1192955" cy="276999"/>
            </a:xfrm>
            <a:prstGeom prst="rect">
              <a:avLst/>
            </a:prstGeom>
            <a:solidFill>
              <a:schemeClr val="tx2">
                <a:lumMod val="50000"/>
              </a:schemeClr>
            </a:solidFill>
            <a:ln>
              <a:solidFill>
                <a:schemeClr val="bg1">
                  <a:lumMod val="50000"/>
                </a:schemeClr>
              </a:solidFill>
            </a:ln>
          </p:spPr>
          <p:txBody>
            <a:bodyPr wrap="square" rtlCol="0">
              <a:spAutoFit/>
            </a:bodyPr>
            <a:lstStyle/>
            <a:p>
              <a:pPr algn="ctr"/>
              <a:r>
                <a:rPr lang="ko-KR" altLang="en-US" sz="1200" dirty="0">
                  <a:solidFill>
                    <a:schemeClr val="accent4"/>
                  </a:solidFill>
                </a:rPr>
                <a:t>특허권의 수용</a:t>
              </a:r>
            </a:p>
          </p:txBody>
        </p:sp>
      </p:grpSp>
      <p:sp>
        <p:nvSpPr>
          <p:cNvPr id="4" name="슬라이드 번호 개체 틀 3"/>
          <p:cNvSpPr>
            <a:spLocks noGrp="1"/>
          </p:cNvSpPr>
          <p:nvPr>
            <p:ph type="sldNum" sz="quarter" idx="12"/>
          </p:nvPr>
        </p:nvSpPr>
        <p:spPr/>
        <p:txBody>
          <a:bodyPr/>
          <a:lstStyle/>
          <a:p>
            <a:r>
              <a:rPr lang="en-US" altLang="ko-KR"/>
              <a:t>413</a:t>
            </a:r>
            <a:endParaRPr lang="ko-KR" altLang="en-US"/>
          </a:p>
        </p:txBody>
      </p:sp>
      <p:sp>
        <p:nvSpPr>
          <p:cNvPr id="55" name="모서리가 둥근 사각형 설명선 5">
            <a:extLst>
              <a:ext uri="{FF2B5EF4-FFF2-40B4-BE49-F238E27FC236}">
                <a16:creationId xmlns:a16="http://schemas.microsoft.com/office/drawing/2014/main" id="{C1C728B5-E129-4924-99FE-16CC434F6746}"/>
              </a:ext>
            </a:extLst>
          </p:cNvPr>
          <p:cNvSpPr/>
          <p:nvPr/>
        </p:nvSpPr>
        <p:spPr>
          <a:xfrm>
            <a:off x="7513337" y="1371280"/>
            <a:ext cx="4500861" cy="528009"/>
          </a:xfrm>
          <a:prstGeom prst="wedgeRoundRectCallout">
            <a:avLst>
              <a:gd name="adj1" fmla="val 40708"/>
              <a:gd name="adj2" fmla="val 367499"/>
              <a:gd name="adj3" fmla="val 16667"/>
            </a:avLst>
          </a:prstGeom>
          <a:solidFill>
            <a:schemeClr val="accent3">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ko-KR" sz="1200" dirty="0">
                <a:solidFill>
                  <a:schemeClr val="tx1"/>
                </a:solidFill>
              </a:rPr>
              <a:t>- </a:t>
            </a:r>
            <a:r>
              <a:rPr lang="ko-KR" altLang="en-US" sz="1200" dirty="0" err="1">
                <a:solidFill>
                  <a:schemeClr val="tx1"/>
                </a:solidFill>
              </a:rPr>
              <a:t>장래효</a:t>
            </a:r>
            <a:r>
              <a:rPr lang="en-US" altLang="ko-KR" sz="1200" dirty="0">
                <a:solidFill>
                  <a:schemeClr val="tx1"/>
                </a:solidFill>
              </a:rPr>
              <a:t>: </a:t>
            </a:r>
            <a:r>
              <a:rPr lang="ko-KR" altLang="en-US" sz="1200" dirty="0">
                <a:solidFill>
                  <a:schemeClr val="tx1"/>
                </a:solidFill>
              </a:rPr>
              <a:t>특허료 불납</a:t>
            </a:r>
            <a:r>
              <a:rPr lang="en-US" altLang="ko-KR" sz="1200" dirty="0">
                <a:solidFill>
                  <a:schemeClr val="tx1"/>
                </a:solidFill>
              </a:rPr>
              <a:t>, </a:t>
            </a:r>
            <a:r>
              <a:rPr lang="ko-KR" altLang="en-US" sz="1200" dirty="0">
                <a:solidFill>
                  <a:schemeClr val="tx1"/>
                </a:solidFill>
              </a:rPr>
              <a:t>존속기간 만료</a:t>
            </a:r>
            <a:r>
              <a:rPr lang="en-US" altLang="ko-KR" sz="1200" dirty="0">
                <a:solidFill>
                  <a:schemeClr val="tx1"/>
                </a:solidFill>
              </a:rPr>
              <a:t>, </a:t>
            </a:r>
            <a:r>
              <a:rPr lang="ko-KR" altLang="en-US" sz="1200" dirty="0">
                <a:solidFill>
                  <a:schemeClr val="tx1"/>
                </a:solidFill>
              </a:rPr>
              <a:t>특허권의 포기</a:t>
            </a:r>
            <a:r>
              <a:rPr lang="en-US" altLang="ko-KR" sz="1200" dirty="0">
                <a:solidFill>
                  <a:schemeClr val="tx1"/>
                </a:solidFill>
              </a:rPr>
              <a:t>, </a:t>
            </a:r>
            <a:r>
              <a:rPr lang="ko-KR" altLang="en-US" sz="1200" dirty="0">
                <a:solidFill>
                  <a:schemeClr val="tx1"/>
                </a:solidFill>
              </a:rPr>
              <a:t>상속인 </a:t>
            </a:r>
            <a:r>
              <a:rPr lang="ko-KR" altLang="en-US" sz="1200" dirty="0" err="1">
                <a:solidFill>
                  <a:schemeClr val="tx1"/>
                </a:solidFill>
              </a:rPr>
              <a:t>부존재</a:t>
            </a:r>
            <a:endParaRPr lang="en-US" altLang="ko-KR" sz="1200" dirty="0">
              <a:solidFill>
                <a:schemeClr val="tx1"/>
              </a:solidFill>
            </a:endParaRPr>
          </a:p>
          <a:p>
            <a:r>
              <a:rPr lang="en-US" altLang="ko-KR" sz="1200" dirty="0">
                <a:solidFill>
                  <a:schemeClr val="tx1"/>
                </a:solidFill>
              </a:rPr>
              <a:t>- </a:t>
            </a:r>
            <a:r>
              <a:rPr lang="ko-KR" altLang="en-US" sz="1200" dirty="0">
                <a:solidFill>
                  <a:schemeClr val="tx1"/>
                </a:solidFill>
              </a:rPr>
              <a:t>소급효</a:t>
            </a:r>
            <a:r>
              <a:rPr lang="en-US" altLang="ko-KR" sz="1200" dirty="0">
                <a:solidFill>
                  <a:schemeClr val="tx1"/>
                </a:solidFill>
              </a:rPr>
              <a:t>: </a:t>
            </a:r>
            <a:r>
              <a:rPr lang="ko-KR" altLang="en-US" sz="1200" dirty="0">
                <a:solidFill>
                  <a:schemeClr val="tx1"/>
                </a:solidFill>
              </a:rPr>
              <a:t>취소결정확정</a:t>
            </a:r>
            <a:r>
              <a:rPr lang="en-US" altLang="ko-KR" sz="1200" dirty="0">
                <a:solidFill>
                  <a:schemeClr val="tx1"/>
                </a:solidFill>
              </a:rPr>
              <a:t>, </a:t>
            </a:r>
            <a:r>
              <a:rPr lang="ko-KR" altLang="en-US" sz="1200" dirty="0" err="1">
                <a:solidFill>
                  <a:schemeClr val="tx1"/>
                </a:solidFill>
              </a:rPr>
              <a:t>무효심결확정</a:t>
            </a:r>
            <a:r>
              <a:rPr lang="en-US" altLang="ko-KR" sz="1200" dirty="0">
                <a:solidFill>
                  <a:schemeClr val="tx1"/>
                </a:solidFill>
              </a:rPr>
              <a:t>(</a:t>
            </a:r>
            <a:r>
              <a:rPr lang="ko-KR" altLang="en-US" sz="1200" dirty="0">
                <a:solidFill>
                  <a:schemeClr val="tx1"/>
                </a:solidFill>
              </a:rPr>
              <a:t>단</a:t>
            </a:r>
            <a:r>
              <a:rPr lang="en-US" altLang="ko-KR" sz="1200" dirty="0">
                <a:solidFill>
                  <a:schemeClr val="tx1"/>
                </a:solidFill>
              </a:rPr>
              <a:t>, </a:t>
            </a:r>
            <a:r>
              <a:rPr lang="ko-KR" altLang="en-US" sz="1200" dirty="0">
                <a:solidFill>
                  <a:schemeClr val="tx1"/>
                </a:solidFill>
              </a:rPr>
              <a:t>후발적 사유는 제외</a:t>
            </a:r>
            <a:r>
              <a:rPr lang="en-US" altLang="ko-KR" sz="1200" dirty="0">
                <a:solidFill>
                  <a:schemeClr val="tx1"/>
                </a:solidFill>
              </a:rPr>
              <a:t>)</a:t>
            </a:r>
            <a:endParaRPr lang="ko-KR" altLang="en-US" sz="1200" dirty="0">
              <a:solidFill>
                <a:schemeClr val="tx1"/>
              </a:solidFill>
            </a:endParaRPr>
          </a:p>
        </p:txBody>
      </p:sp>
      <p:sp>
        <p:nvSpPr>
          <p:cNvPr id="8" name="말풍선: 모서리가 둥근 사각형 7">
            <a:extLst>
              <a:ext uri="{FF2B5EF4-FFF2-40B4-BE49-F238E27FC236}">
                <a16:creationId xmlns:a16="http://schemas.microsoft.com/office/drawing/2014/main" id="{E4AFB539-482D-4BC2-8CEB-6B8DC785CFA5}"/>
              </a:ext>
            </a:extLst>
          </p:cNvPr>
          <p:cNvSpPr/>
          <p:nvPr/>
        </p:nvSpPr>
        <p:spPr>
          <a:xfrm>
            <a:off x="8739534" y="911379"/>
            <a:ext cx="1339648" cy="306702"/>
          </a:xfrm>
          <a:prstGeom prst="wedgeRoundRectCallout">
            <a:avLst>
              <a:gd name="adj1" fmla="val -72543"/>
              <a:gd name="adj2" fmla="val 17328"/>
              <a:gd name="adj3" fmla="val 16667"/>
            </a:avLst>
          </a:prstGeom>
          <a:solidFill>
            <a:schemeClr val="accent3">
              <a:lumMod val="50000"/>
            </a:schemeClr>
          </a:solidFill>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400" dirty="0"/>
              <a:t>제</a:t>
            </a:r>
            <a:r>
              <a:rPr lang="en-US" altLang="ko-KR" sz="1400" dirty="0"/>
              <a:t>136</a:t>
            </a:r>
            <a:r>
              <a:rPr lang="ko-KR" altLang="en-US" sz="1400" dirty="0"/>
              <a:t>조제</a:t>
            </a:r>
            <a:r>
              <a:rPr lang="en-US" altLang="ko-KR" sz="1400" dirty="0"/>
              <a:t>8</a:t>
            </a:r>
            <a:r>
              <a:rPr lang="ko-KR" altLang="en-US" sz="1400" dirty="0"/>
              <a:t>항</a:t>
            </a:r>
          </a:p>
        </p:txBody>
      </p:sp>
    </p:spTree>
    <p:extLst>
      <p:ext uri="{BB962C8B-B14F-4D97-AF65-F5344CB8AC3E}">
        <p14:creationId xmlns:p14="http://schemas.microsoft.com/office/powerpoint/2010/main" val="3393479798"/>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118</a:t>
            </a:r>
            <a:r>
              <a:rPr lang="ko-KR" altLang="en-US" dirty="0"/>
              <a:t>조</a:t>
            </a:r>
          </a:p>
        </p:txBody>
      </p:sp>
      <p:sp>
        <p:nvSpPr>
          <p:cNvPr id="5" name="텍스트 개체 틀 4"/>
          <p:cNvSpPr>
            <a:spLocks noGrp="1"/>
          </p:cNvSpPr>
          <p:nvPr>
            <p:ph type="body" sz="quarter" idx="13"/>
          </p:nvPr>
        </p:nvSpPr>
        <p:spPr/>
        <p:txBody>
          <a:bodyPr/>
          <a:lstStyle/>
          <a:p>
            <a:r>
              <a:rPr lang="ko-KR" altLang="en-US" dirty="0" err="1"/>
              <a:t>통상실시권의</a:t>
            </a:r>
            <a:r>
              <a:rPr lang="ko-KR" altLang="en-US" dirty="0"/>
              <a:t> 성질</a:t>
            </a:r>
          </a:p>
        </p:txBody>
      </p:sp>
      <p:cxnSp>
        <p:nvCxnSpPr>
          <p:cNvPr id="16" name="직선 연결선 15"/>
          <p:cNvCxnSpPr/>
          <p:nvPr/>
        </p:nvCxnSpPr>
        <p:spPr>
          <a:xfrm>
            <a:off x="3660696" y="1681028"/>
            <a:ext cx="0" cy="499110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Line 5"/>
          <p:cNvSpPr>
            <a:spLocks noChangeShapeType="1"/>
          </p:cNvSpPr>
          <p:nvPr/>
        </p:nvSpPr>
        <p:spPr bwMode="auto">
          <a:xfrm>
            <a:off x="4105276" y="3013063"/>
            <a:ext cx="76104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cxnSp>
        <p:nvCxnSpPr>
          <p:cNvPr id="23" name="직선 연결선 22"/>
          <p:cNvCxnSpPr/>
          <p:nvPr/>
        </p:nvCxnSpPr>
        <p:spPr>
          <a:xfrm>
            <a:off x="-36242" y="150926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77875" y="986046"/>
            <a:ext cx="11936323" cy="523220"/>
          </a:xfrm>
          <a:prstGeom prst="rect">
            <a:avLst/>
          </a:prstGeom>
          <a:noFill/>
        </p:spPr>
        <p:txBody>
          <a:bodyPr wrap="square" rtlCol="0">
            <a:spAutoFit/>
          </a:bodyPr>
          <a:lstStyle/>
          <a:p>
            <a:pPr fontAlgn="base"/>
            <a:r>
              <a:rPr lang="ko-KR" altLang="en-US" sz="1400" dirty="0" err="1">
                <a:solidFill>
                  <a:schemeClr val="tx2"/>
                </a:solidFill>
              </a:rPr>
              <a:t>통상실시권은</a:t>
            </a:r>
            <a:r>
              <a:rPr lang="ko-KR" altLang="en-US" sz="1400" dirty="0">
                <a:solidFill>
                  <a:schemeClr val="tx2"/>
                </a:solidFill>
              </a:rPr>
              <a:t> 특허권에 부수적인 권리이며</a:t>
            </a:r>
            <a:r>
              <a:rPr lang="en-US" altLang="ko-KR" sz="1400" dirty="0">
                <a:solidFill>
                  <a:schemeClr val="tx2"/>
                </a:solidFill>
              </a:rPr>
              <a:t>, </a:t>
            </a:r>
            <a:r>
              <a:rPr lang="ko-KR" altLang="en-US" sz="1400" dirty="0">
                <a:solidFill>
                  <a:schemeClr val="tx2"/>
                </a:solidFill>
              </a:rPr>
              <a:t>특허발명을 </a:t>
            </a:r>
            <a:r>
              <a:rPr lang="ko-KR" altLang="en-US" sz="1400" dirty="0" err="1">
                <a:solidFill>
                  <a:schemeClr val="tx2"/>
                </a:solidFill>
              </a:rPr>
              <a:t>독점ㆍ배타적으로</a:t>
            </a:r>
            <a:r>
              <a:rPr lang="ko-KR" altLang="en-US" sz="1400" dirty="0">
                <a:solidFill>
                  <a:schemeClr val="tx2"/>
                </a:solidFill>
              </a:rPr>
              <a:t> 실시할 수 없는 채권적 권리이다</a:t>
            </a:r>
            <a:r>
              <a:rPr lang="en-US" altLang="ko-KR" sz="1400" dirty="0">
                <a:solidFill>
                  <a:schemeClr val="tx2"/>
                </a:solidFill>
              </a:rPr>
              <a:t>. </a:t>
            </a:r>
            <a:r>
              <a:rPr lang="ko-KR" altLang="en-US" sz="1400" dirty="0">
                <a:solidFill>
                  <a:schemeClr val="tx2"/>
                </a:solidFill>
              </a:rPr>
              <a:t>따라서 </a:t>
            </a:r>
            <a:r>
              <a:rPr lang="ko-KR" altLang="en-US" sz="1400" dirty="0" err="1">
                <a:solidFill>
                  <a:schemeClr val="tx2"/>
                </a:solidFill>
              </a:rPr>
              <a:t>통상실시권을</a:t>
            </a:r>
            <a:r>
              <a:rPr lang="ko-KR" altLang="en-US" sz="1400" dirty="0">
                <a:solidFill>
                  <a:schemeClr val="tx2"/>
                </a:solidFill>
              </a:rPr>
              <a:t> 허락한 후에도 중복되는 범위에서 </a:t>
            </a:r>
            <a:r>
              <a:rPr lang="en-US" altLang="ko-KR" sz="1400" dirty="0">
                <a:solidFill>
                  <a:schemeClr val="tx2"/>
                </a:solidFill>
              </a:rPr>
              <a:t>ⅰ) </a:t>
            </a:r>
            <a:r>
              <a:rPr lang="ko-KR" altLang="en-US" sz="1400" dirty="0">
                <a:solidFill>
                  <a:schemeClr val="tx2"/>
                </a:solidFill>
              </a:rPr>
              <a:t>특허권자가 스스로 실시할 수 있고</a:t>
            </a:r>
            <a:r>
              <a:rPr lang="en-US" altLang="ko-KR" sz="1400" dirty="0">
                <a:solidFill>
                  <a:schemeClr val="tx2"/>
                </a:solidFill>
              </a:rPr>
              <a:t>, ⅱ) </a:t>
            </a:r>
            <a:r>
              <a:rPr lang="ko-KR" altLang="en-US" sz="1400" dirty="0">
                <a:solidFill>
                  <a:schemeClr val="tx2"/>
                </a:solidFill>
              </a:rPr>
              <a:t>같은 내용의 복수의 </a:t>
            </a:r>
            <a:r>
              <a:rPr lang="ko-KR" altLang="en-US" sz="1400" dirty="0" err="1">
                <a:solidFill>
                  <a:schemeClr val="tx2"/>
                </a:solidFill>
              </a:rPr>
              <a:t>통상실시권이</a:t>
            </a:r>
            <a:r>
              <a:rPr lang="ko-KR" altLang="en-US" sz="1400" dirty="0">
                <a:solidFill>
                  <a:schemeClr val="tx2"/>
                </a:solidFill>
              </a:rPr>
              <a:t> 동시에 존재할 수 있으며</a:t>
            </a:r>
            <a:r>
              <a:rPr lang="en-US" altLang="ko-KR" sz="1400" dirty="0">
                <a:solidFill>
                  <a:schemeClr val="tx2"/>
                </a:solidFill>
              </a:rPr>
              <a:t>, ⅲ) </a:t>
            </a:r>
            <a:r>
              <a:rPr lang="ko-KR" altLang="en-US" sz="1400" dirty="0">
                <a:solidFill>
                  <a:schemeClr val="tx2"/>
                </a:solidFill>
              </a:rPr>
              <a:t>특허권자가 다시 </a:t>
            </a:r>
            <a:r>
              <a:rPr lang="ko-KR" altLang="en-US" sz="1400" dirty="0" err="1">
                <a:solidFill>
                  <a:schemeClr val="tx2"/>
                </a:solidFill>
              </a:rPr>
              <a:t>전용실시권을</a:t>
            </a:r>
            <a:r>
              <a:rPr lang="ko-KR" altLang="en-US" sz="1400" dirty="0">
                <a:solidFill>
                  <a:schemeClr val="tx2"/>
                </a:solidFill>
              </a:rPr>
              <a:t> 설정할 수도 있다</a:t>
            </a:r>
            <a:r>
              <a:rPr lang="en-US" altLang="ko-KR" sz="1400" dirty="0">
                <a:solidFill>
                  <a:schemeClr val="tx2"/>
                </a:solidFill>
              </a:rPr>
              <a:t>.</a:t>
            </a:r>
            <a:endParaRPr lang="ko-KR" altLang="en-US" sz="1400" dirty="0">
              <a:solidFill>
                <a:schemeClr val="tx2"/>
              </a:solidFill>
            </a:endParaRPr>
          </a:p>
        </p:txBody>
      </p:sp>
      <p:sp>
        <p:nvSpPr>
          <p:cNvPr id="25" name="타원 24"/>
          <p:cNvSpPr/>
          <p:nvPr/>
        </p:nvSpPr>
        <p:spPr>
          <a:xfrm>
            <a:off x="4305939" y="293822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26" name="TextBox 25"/>
          <p:cNvSpPr txBox="1"/>
          <p:nvPr/>
        </p:nvSpPr>
        <p:spPr>
          <a:xfrm>
            <a:off x="4024318" y="3347669"/>
            <a:ext cx="720069" cy="307777"/>
          </a:xfrm>
          <a:prstGeom prst="rect">
            <a:avLst/>
          </a:prstGeom>
          <a:solidFill>
            <a:schemeClr val="bg1">
              <a:lumMod val="95000"/>
            </a:schemeClr>
          </a:solidFill>
          <a:ln>
            <a:solidFill>
              <a:schemeClr val="bg1">
                <a:lumMod val="50000"/>
              </a:schemeClr>
            </a:solidFill>
          </a:ln>
        </p:spPr>
        <p:txBody>
          <a:bodyPr wrap="none" rtlCol="0">
            <a:spAutoFit/>
          </a:bodyPr>
          <a:lstStyle/>
          <a:p>
            <a:pPr algn="ctr"/>
            <a:r>
              <a:rPr lang="ko-KR" altLang="en-US" sz="1400" dirty="0"/>
              <a:t>甲 등록</a:t>
            </a:r>
          </a:p>
        </p:txBody>
      </p:sp>
      <p:cxnSp>
        <p:nvCxnSpPr>
          <p:cNvPr id="27" name="직선 연결선 26"/>
          <p:cNvCxnSpPr>
            <a:stCxn id="26" idx="0"/>
            <a:endCxn id="25" idx="4"/>
          </p:cNvCxnSpPr>
          <p:nvPr/>
        </p:nvCxnSpPr>
        <p:spPr>
          <a:xfrm flipH="1" flipV="1">
            <a:off x="4383308" y="3099565"/>
            <a:ext cx="1045"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타원 27"/>
          <p:cNvSpPr/>
          <p:nvPr/>
        </p:nvSpPr>
        <p:spPr>
          <a:xfrm>
            <a:off x="5239389" y="293822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29" name="TextBox 28"/>
          <p:cNvSpPr txBox="1"/>
          <p:nvPr/>
        </p:nvSpPr>
        <p:spPr>
          <a:xfrm>
            <a:off x="4528167" y="3776294"/>
            <a:ext cx="1579278" cy="307777"/>
          </a:xfrm>
          <a:prstGeom prst="rect">
            <a:avLst/>
          </a:prstGeom>
          <a:solidFill>
            <a:schemeClr val="bg1">
              <a:lumMod val="95000"/>
            </a:schemeClr>
          </a:solidFill>
          <a:ln>
            <a:solidFill>
              <a:schemeClr val="bg1">
                <a:lumMod val="50000"/>
              </a:schemeClr>
            </a:solidFill>
          </a:ln>
        </p:spPr>
        <p:txBody>
          <a:bodyPr wrap="none" rtlCol="0">
            <a:spAutoFit/>
          </a:bodyPr>
          <a:lstStyle/>
          <a:p>
            <a:pPr algn="ctr"/>
            <a:r>
              <a:rPr lang="ko-KR" altLang="en-US" sz="1400" dirty="0"/>
              <a:t>乙 </a:t>
            </a:r>
            <a:r>
              <a:rPr lang="ko-KR" altLang="en-US" sz="1400" dirty="0" err="1"/>
              <a:t>전용실시권</a:t>
            </a:r>
            <a:r>
              <a:rPr lang="ko-KR" altLang="en-US" sz="1400" dirty="0"/>
              <a:t> 설정</a:t>
            </a:r>
          </a:p>
        </p:txBody>
      </p:sp>
      <p:cxnSp>
        <p:nvCxnSpPr>
          <p:cNvPr id="30" name="직선 연결선 29"/>
          <p:cNvCxnSpPr>
            <a:stCxn id="29" idx="0"/>
            <a:endCxn id="28" idx="4"/>
          </p:cNvCxnSpPr>
          <p:nvPr/>
        </p:nvCxnSpPr>
        <p:spPr>
          <a:xfrm flipH="1" flipV="1">
            <a:off x="5316758" y="3099565"/>
            <a:ext cx="1048" cy="67672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4434844" y="4232373"/>
            <a:ext cx="1765932" cy="276999"/>
          </a:xfrm>
          <a:prstGeom prst="rect">
            <a:avLst/>
          </a:prstGeom>
          <a:noFill/>
          <a:ln>
            <a:solidFill>
              <a:schemeClr val="bg1">
                <a:lumMod val="50000"/>
              </a:schemeClr>
            </a:solidFill>
          </a:ln>
        </p:spPr>
        <p:txBody>
          <a:bodyPr wrap="square" rtlCol="0">
            <a:noAutofit/>
          </a:bodyPr>
          <a:lstStyle/>
          <a:p>
            <a:pPr algn="ctr"/>
            <a:r>
              <a:rPr lang="ko-KR" altLang="en-US" sz="1200" dirty="0"/>
              <a:t>甲과 乙의 계약 </a:t>
            </a:r>
            <a:r>
              <a:rPr lang="en-US" altLang="ko-KR" sz="1200" dirty="0"/>
              <a:t>&amp; </a:t>
            </a:r>
            <a:r>
              <a:rPr lang="ko-KR" altLang="en-US" sz="1200" dirty="0"/>
              <a:t>등록</a:t>
            </a:r>
          </a:p>
        </p:txBody>
      </p:sp>
      <p:cxnSp>
        <p:nvCxnSpPr>
          <p:cNvPr id="33" name="직선 연결선 32"/>
          <p:cNvCxnSpPr>
            <a:stCxn id="32" idx="0"/>
            <a:endCxn id="29" idx="2"/>
          </p:cNvCxnSpPr>
          <p:nvPr/>
        </p:nvCxnSpPr>
        <p:spPr>
          <a:xfrm flipH="1" flipV="1">
            <a:off x="5317806" y="4084071"/>
            <a:ext cx="4" cy="14830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 name="타원 34"/>
          <p:cNvSpPr/>
          <p:nvPr/>
        </p:nvSpPr>
        <p:spPr>
          <a:xfrm>
            <a:off x="6296664" y="293822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6" name="TextBox 35"/>
          <p:cNvSpPr txBox="1"/>
          <p:nvPr/>
        </p:nvSpPr>
        <p:spPr>
          <a:xfrm>
            <a:off x="5585442" y="2114736"/>
            <a:ext cx="1579278" cy="307777"/>
          </a:xfrm>
          <a:prstGeom prst="rect">
            <a:avLst/>
          </a:prstGeom>
          <a:solidFill>
            <a:schemeClr val="bg1">
              <a:lumMod val="95000"/>
            </a:schemeClr>
          </a:solidFill>
          <a:ln>
            <a:solidFill>
              <a:schemeClr val="bg1">
                <a:lumMod val="50000"/>
              </a:schemeClr>
            </a:solidFill>
          </a:ln>
        </p:spPr>
        <p:txBody>
          <a:bodyPr wrap="none" rtlCol="0">
            <a:spAutoFit/>
          </a:bodyPr>
          <a:lstStyle/>
          <a:p>
            <a:pPr algn="ctr"/>
            <a:r>
              <a:rPr lang="ko-KR" altLang="en-US" sz="1400" dirty="0"/>
              <a:t>丙 </a:t>
            </a:r>
            <a:r>
              <a:rPr lang="ko-KR" altLang="en-US" sz="1400" dirty="0" err="1"/>
              <a:t>통상실시권</a:t>
            </a:r>
            <a:r>
              <a:rPr lang="ko-KR" altLang="en-US" sz="1400" dirty="0"/>
              <a:t> 허락</a:t>
            </a:r>
          </a:p>
        </p:txBody>
      </p:sp>
      <p:cxnSp>
        <p:nvCxnSpPr>
          <p:cNvPr id="37" name="직선 연결선 36"/>
          <p:cNvCxnSpPr>
            <a:stCxn id="36" idx="2"/>
            <a:endCxn id="35" idx="0"/>
          </p:cNvCxnSpPr>
          <p:nvPr/>
        </p:nvCxnSpPr>
        <p:spPr>
          <a:xfrm flipH="1">
            <a:off x="6374033" y="2422513"/>
            <a:ext cx="1048" cy="51571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5301620" y="1731926"/>
            <a:ext cx="2146930" cy="276999"/>
          </a:xfrm>
          <a:prstGeom prst="rect">
            <a:avLst/>
          </a:prstGeom>
          <a:noFill/>
          <a:ln>
            <a:solidFill>
              <a:schemeClr val="bg1">
                <a:lumMod val="50000"/>
              </a:schemeClr>
            </a:solidFill>
          </a:ln>
        </p:spPr>
        <p:txBody>
          <a:bodyPr wrap="square" rtlCol="0">
            <a:noAutofit/>
          </a:bodyPr>
          <a:lstStyle/>
          <a:p>
            <a:pPr algn="ctr"/>
            <a:r>
              <a:rPr lang="ko-KR" altLang="en-US" sz="1200" dirty="0"/>
              <a:t>乙과 丙의 계약</a:t>
            </a:r>
            <a:r>
              <a:rPr lang="en-US" altLang="ko-KR" sz="1200" dirty="0"/>
              <a:t>(</a:t>
            </a:r>
            <a:r>
              <a:rPr lang="ko-KR" altLang="en-US" sz="1200" dirty="0"/>
              <a:t>단</a:t>
            </a:r>
            <a:r>
              <a:rPr lang="en-US" altLang="ko-KR" sz="1200" dirty="0"/>
              <a:t>, </a:t>
            </a:r>
            <a:r>
              <a:rPr lang="ko-KR" altLang="en-US" sz="1200" dirty="0"/>
              <a:t>甲의 동의</a:t>
            </a:r>
            <a:r>
              <a:rPr lang="en-US" altLang="ko-KR" sz="1200" dirty="0"/>
              <a:t>)</a:t>
            </a:r>
            <a:endParaRPr lang="ko-KR" altLang="en-US" sz="1200" dirty="0"/>
          </a:p>
        </p:txBody>
      </p:sp>
      <p:cxnSp>
        <p:nvCxnSpPr>
          <p:cNvPr id="39" name="직선 연결선 38"/>
          <p:cNvCxnSpPr>
            <a:stCxn id="38" idx="2"/>
            <a:endCxn id="36" idx="0"/>
          </p:cNvCxnSpPr>
          <p:nvPr/>
        </p:nvCxnSpPr>
        <p:spPr>
          <a:xfrm flipH="1">
            <a:off x="6375081" y="2008925"/>
            <a:ext cx="4" cy="10581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타원 47"/>
          <p:cNvSpPr/>
          <p:nvPr/>
        </p:nvSpPr>
        <p:spPr>
          <a:xfrm>
            <a:off x="7477764" y="293822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49" name="TextBox 48"/>
          <p:cNvSpPr txBox="1"/>
          <p:nvPr/>
        </p:nvSpPr>
        <p:spPr>
          <a:xfrm>
            <a:off x="6766542" y="3776294"/>
            <a:ext cx="1579278" cy="307777"/>
          </a:xfrm>
          <a:prstGeom prst="rect">
            <a:avLst/>
          </a:prstGeom>
          <a:solidFill>
            <a:schemeClr val="bg1">
              <a:lumMod val="95000"/>
            </a:schemeClr>
          </a:solidFill>
          <a:ln>
            <a:solidFill>
              <a:schemeClr val="bg1">
                <a:lumMod val="50000"/>
              </a:schemeClr>
            </a:solidFill>
          </a:ln>
        </p:spPr>
        <p:txBody>
          <a:bodyPr wrap="none" rtlCol="0">
            <a:spAutoFit/>
          </a:bodyPr>
          <a:lstStyle/>
          <a:p>
            <a:pPr algn="ctr"/>
            <a:r>
              <a:rPr lang="ko-KR" altLang="en-US" sz="1400" dirty="0"/>
              <a:t>丁 </a:t>
            </a:r>
            <a:r>
              <a:rPr lang="ko-KR" altLang="en-US" sz="1400" dirty="0" err="1"/>
              <a:t>통상실시권</a:t>
            </a:r>
            <a:r>
              <a:rPr lang="ko-KR" altLang="en-US" sz="1400" dirty="0"/>
              <a:t> 허락</a:t>
            </a:r>
          </a:p>
        </p:txBody>
      </p:sp>
      <p:cxnSp>
        <p:nvCxnSpPr>
          <p:cNvPr id="50" name="직선 연결선 49"/>
          <p:cNvCxnSpPr>
            <a:stCxn id="49" idx="0"/>
            <a:endCxn id="48" idx="4"/>
          </p:cNvCxnSpPr>
          <p:nvPr/>
        </p:nvCxnSpPr>
        <p:spPr>
          <a:xfrm flipH="1" flipV="1">
            <a:off x="7555133" y="3099565"/>
            <a:ext cx="1048" cy="67672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1" name="TextBox 50"/>
          <p:cNvSpPr txBox="1"/>
          <p:nvPr/>
        </p:nvSpPr>
        <p:spPr>
          <a:xfrm>
            <a:off x="6673219" y="4232373"/>
            <a:ext cx="1765932" cy="276999"/>
          </a:xfrm>
          <a:prstGeom prst="rect">
            <a:avLst/>
          </a:prstGeom>
          <a:noFill/>
          <a:ln>
            <a:solidFill>
              <a:schemeClr val="bg1">
                <a:lumMod val="50000"/>
              </a:schemeClr>
            </a:solidFill>
          </a:ln>
        </p:spPr>
        <p:txBody>
          <a:bodyPr wrap="square" rtlCol="0">
            <a:noAutofit/>
          </a:bodyPr>
          <a:lstStyle/>
          <a:p>
            <a:pPr algn="ctr"/>
            <a:r>
              <a:rPr lang="ko-KR" altLang="en-US" sz="1200" dirty="0"/>
              <a:t>甲과 丁의 계약</a:t>
            </a:r>
          </a:p>
        </p:txBody>
      </p:sp>
      <p:cxnSp>
        <p:nvCxnSpPr>
          <p:cNvPr id="52" name="직선 연결선 51"/>
          <p:cNvCxnSpPr>
            <a:stCxn id="51" idx="0"/>
            <a:endCxn id="49" idx="2"/>
          </p:cNvCxnSpPr>
          <p:nvPr/>
        </p:nvCxnSpPr>
        <p:spPr>
          <a:xfrm flipH="1" flipV="1">
            <a:off x="7556181" y="4084071"/>
            <a:ext cx="4" cy="14830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3" name="타원 52"/>
          <p:cNvSpPr/>
          <p:nvPr/>
        </p:nvSpPr>
        <p:spPr>
          <a:xfrm>
            <a:off x="8820789" y="293822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54" name="TextBox 53"/>
          <p:cNvSpPr txBox="1"/>
          <p:nvPr/>
        </p:nvSpPr>
        <p:spPr>
          <a:xfrm>
            <a:off x="8109567" y="2114736"/>
            <a:ext cx="1579278" cy="307777"/>
          </a:xfrm>
          <a:prstGeom prst="rect">
            <a:avLst/>
          </a:prstGeom>
          <a:solidFill>
            <a:schemeClr val="bg1">
              <a:lumMod val="95000"/>
            </a:schemeClr>
          </a:solidFill>
          <a:ln>
            <a:solidFill>
              <a:schemeClr val="bg1">
                <a:lumMod val="50000"/>
              </a:schemeClr>
            </a:solidFill>
          </a:ln>
        </p:spPr>
        <p:txBody>
          <a:bodyPr wrap="none" rtlCol="0">
            <a:spAutoFit/>
          </a:bodyPr>
          <a:lstStyle/>
          <a:p>
            <a:pPr algn="ctr"/>
            <a:r>
              <a:rPr lang="ko-KR" altLang="en-US" sz="1400" dirty="0"/>
              <a:t>戊 </a:t>
            </a:r>
            <a:r>
              <a:rPr lang="ko-KR" altLang="en-US" sz="1400" dirty="0" err="1"/>
              <a:t>전용실시권</a:t>
            </a:r>
            <a:r>
              <a:rPr lang="ko-KR" altLang="en-US" sz="1400" dirty="0"/>
              <a:t> 설정</a:t>
            </a:r>
          </a:p>
        </p:txBody>
      </p:sp>
      <p:cxnSp>
        <p:nvCxnSpPr>
          <p:cNvPr id="55" name="직선 연결선 54"/>
          <p:cNvCxnSpPr>
            <a:stCxn id="54" idx="2"/>
            <a:endCxn id="53" idx="0"/>
          </p:cNvCxnSpPr>
          <p:nvPr/>
        </p:nvCxnSpPr>
        <p:spPr>
          <a:xfrm flipH="1">
            <a:off x="8898158" y="2422513"/>
            <a:ext cx="1048" cy="51571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7825745" y="1731926"/>
            <a:ext cx="2146930" cy="276999"/>
          </a:xfrm>
          <a:prstGeom prst="rect">
            <a:avLst/>
          </a:prstGeom>
          <a:noFill/>
          <a:ln>
            <a:solidFill>
              <a:schemeClr val="bg1">
                <a:lumMod val="50000"/>
              </a:schemeClr>
            </a:solidFill>
          </a:ln>
        </p:spPr>
        <p:txBody>
          <a:bodyPr wrap="square" rtlCol="0">
            <a:noAutofit/>
          </a:bodyPr>
          <a:lstStyle/>
          <a:p>
            <a:pPr algn="ctr"/>
            <a:r>
              <a:rPr lang="ko-KR" altLang="en-US" sz="1200" dirty="0"/>
              <a:t>甲과 戊의 계약 </a:t>
            </a:r>
            <a:r>
              <a:rPr lang="en-US" altLang="ko-KR" sz="1200" dirty="0"/>
              <a:t>&amp; </a:t>
            </a:r>
            <a:r>
              <a:rPr lang="ko-KR" altLang="en-US" sz="1200" dirty="0"/>
              <a:t>등록</a:t>
            </a:r>
          </a:p>
        </p:txBody>
      </p:sp>
      <p:cxnSp>
        <p:nvCxnSpPr>
          <p:cNvPr id="57" name="직선 연결선 56"/>
          <p:cNvCxnSpPr>
            <a:stCxn id="56" idx="2"/>
            <a:endCxn id="54" idx="0"/>
          </p:cNvCxnSpPr>
          <p:nvPr/>
        </p:nvCxnSpPr>
        <p:spPr>
          <a:xfrm flipH="1">
            <a:off x="8899206" y="2008925"/>
            <a:ext cx="4" cy="10581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타원 62"/>
          <p:cNvSpPr/>
          <p:nvPr/>
        </p:nvSpPr>
        <p:spPr>
          <a:xfrm>
            <a:off x="10068564" y="293822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65" name="TextBox 64"/>
          <p:cNvSpPr txBox="1"/>
          <p:nvPr/>
        </p:nvSpPr>
        <p:spPr>
          <a:xfrm>
            <a:off x="3949068" y="5296812"/>
            <a:ext cx="3032757" cy="1256388"/>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fontAlgn="base"/>
            <a:r>
              <a:rPr lang="ko-KR" altLang="en-US" sz="1600" dirty="0">
                <a:solidFill>
                  <a:schemeClr val="accent2">
                    <a:lumMod val="50000"/>
                  </a:schemeClr>
                </a:solidFill>
              </a:rPr>
              <a:t>❹의 </a:t>
            </a:r>
            <a:r>
              <a:rPr lang="ko-KR" altLang="en-US" sz="1600" dirty="0" err="1">
                <a:solidFill>
                  <a:schemeClr val="accent2">
                    <a:lumMod val="50000"/>
                  </a:schemeClr>
                </a:solidFill>
              </a:rPr>
              <a:t>범위내에서</a:t>
            </a:r>
            <a:r>
              <a:rPr lang="ko-KR" altLang="en-US" sz="1600" dirty="0">
                <a:solidFill>
                  <a:schemeClr val="accent2">
                    <a:lumMod val="50000"/>
                  </a:schemeClr>
                </a:solidFill>
              </a:rPr>
              <a:t> 丁의 실시가 戊의 </a:t>
            </a:r>
            <a:r>
              <a:rPr lang="ko-KR" altLang="en-US" sz="1600" dirty="0" err="1">
                <a:solidFill>
                  <a:schemeClr val="accent2">
                    <a:lumMod val="50000"/>
                  </a:schemeClr>
                </a:solidFill>
              </a:rPr>
              <a:t>전용실시권의</a:t>
            </a:r>
            <a:r>
              <a:rPr lang="ko-KR" altLang="en-US" sz="1600" dirty="0">
                <a:solidFill>
                  <a:schemeClr val="accent2">
                    <a:lumMod val="50000"/>
                  </a:schemeClr>
                </a:solidFill>
              </a:rPr>
              <a:t> 침해인가</a:t>
            </a:r>
            <a:r>
              <a:rPr lang="en-US" altLang="ko-KR" sz="1600" dirty="0">
                <a:solidFill>
                  <a:schemeClr val="accent2">
                    <a:lumMod val="50000"/>
                  </a:schemeClr>
                </a:solidFill>
              </a:rPr>
              <a:t>?</a:t>
            </a:r>
          </a:p>
          <a:p>
            <a:pPr fontAlgn="base"/>
            <a:r>
              <a:rPr lang="en-US" altLang="ko-KR" sz="1600" dirty="0">
                <a:solidFill>
                  <a:schemeClr val="accent2">
                    <a:lumMod val="50000"/>
                  </a:schemeClr>
                </a:solidFill>
              </a:rPr>
              <a:t>(</a:t>
            </a:r>
            <a:r>
              <a:rPr lang="ko-KR" altLang="en-US" sz="1600" dirty="0">
                <a:solidFill>
                  <a:schemeClr val="accent2">
                    <a:lumMod val="50000"/>
                  </a:schemeClr>
                </a:solidFill>
              </a:rPr>
              <a:t>丁이 </a:t>
            </a:r>
            <a:r>
              <a:rPr lang="ko-KR" altLang="en-US" sz="1600" dirty="0" err="1">
                <a:solidFill>
                  <a:schemeClr val="accent2">
                    <a:lumMod val="50000"/>
                  </a:schemeClr>
                </a:solidFill>
              </a:rPr>
              <a:t>통상실시권의</a:t>
            </a:r>
            <a:r>
              <a:rPr lang="ko-KR" altLang="en-US" sz="1600" dirty="0">
                <a:solidFill>
                  <a:schemeClr val="accent2">
                    <a:lumMod val="50000"/>
                  </a:schemeClr>
                </a:solidFill>
              </a:rPr>
              <a:t> 효력을 戊에게 주장할 수 있는가</a:t>
            </a:r>
            <a:r>
              <a:rPr lang="en-US" altLang="ko-KR" sz="1600" dirty="0">
                <a:solidFill>
                  <a:schemeClr val="accent2">
                    <a:lumMod val="50000"/>
                  </a:schemeClr>
                </a:solidFill>
              </a:rPr>
              <a:t>?)</a:t>
            </a:r>
            <a:endParaRPr lang="ko-KR" altLang="en-US" sz="1600" dirty="0">
              <a:solidFill>
                <a:schemeClr val="accent2">
                  <a:lumMod val="50000"/>
                </a:schemeClr>
              </a:solidFill>
            </a:endParaRPr>
          </a:p>
        </p:txBody>
      </p:sp>
      <p:cxnSp>
        <p:nvCxnSpPr>
          <p:cNvPr id="66" name="꺾인 연결선 65"/>
          <p:cNvCxnSpPr>
            <a:stCxn id="63" idx="4"/>
            <a:endCxn id="65" idx="0"/>
          </p:cNvCxnSpPr>
          <p:nvPr/>
        </p:nvCxnSpPr>
        <p:spPr>
          <a:xfrm rot="5400000">
            <a:off x="6707067" y="1857945"/>
            <a:ext cx="2197247" cy="4680486"/>
          </a:xfrm>
          <a:prstGeom prst="bentConnector3">
            <a:avLst>
              <a:gd name="adj1" fmla="val 74709"/>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TextBox 70"/>
          <p:cNvSpPr txBox="1"/>
          <p:nvPr/>
        </p:nvSpPr>
        <p:spPr>
          <a:xfrm>
            <a:off x="7461867" y="5366761"/>
            <a:ext cx="2313455" cy="307777"/>
          </a:xfrm>
          <a:prstGeom prst="rect">
            <a:avLst/>
          </a:prstGeom>
          <a:solidFill>
            <a:schemeClr val="accent4">
              <a:lumMod val="20000"/>
              <a:lumOff val="80000"/>
            </a:schemeClr>
          </a:solidFill>
          <a:ln>
            <a:solidFill>
              <a:schemeClr val="bg1">
                <a:lumMod val="50000"/>
              </a:schemeClr>
            </a:solidFill>
          </a:ln>
        </p:spPr>
        <p:txBody>
          <a:bodyPr wrap="square" rtlCol="0">
            <a:noAutofit/>
          </a:bodyPr>
          <a:lstStyle/>
          <a:p>
            <a:pPr algn="ctr"/>
            <a:r>
              <a:rPr lang="ko-KR" altLang="en-US" sz="1400" dirty="0"/>
              <a:t>戊 등록 전 丁이 등록된 경우 </a:t>
            </a:r>
          </a:p>
        </p:txBody>
      </p:sp>
      <p:sp>
        <p:nvSpPr>
          <p:cNvPr id="73" name="TextBox 72"/>
          <p:cNvSpPr txBox="1"/>
          <p:nvPr/>
        </p:nvSpPr>
        <p:spPr>
          <a:xfrm>
            <a:off x="7461867" y="6100186"/>
            <a:ext cx="2313455" cy="307777"/>
          </a:xfrm>
          <a:prstGeom prst="rect">
            <a:avLst/>
          </a:prstGeom>
          <a:solidFill>
            <a:schemeClr val="accent4">
              <a:lumMod val="20000"/>
              <a:lumOff val="80000"/>
            </a:schemeClr>
          </a:solidFill>
          <a:ln>
            <a:solidFill>
              <a:schemeClr val="bg1">
                <a:lumMod val="50000"/>
              </a:schemeClr>
            </a:solidFill>
          </a:ln>
        </p:spPr>
        <p:txBody>
          <a:bodyPr wrap="square" rtlCol="0">
            <a:noAutofit/>
          </a:bodyPr>
          <a:lstStyle/>
          <a:p>
            <a:pPr algn="ctr"/>
            <a:r>
              <a:rPr lang="en-US" altLang="ko-KR" sz="1400" dirty="0"/>
              <a:t>Otherwise</a:t>
            </a:r>
            <a:endParaRPr lang="ko-KR" altLang="en-US" sz="1400" dirty="0"/>
          </a:p>
        </p:txBody>
      </p:sp>
      <p:sp>
        <p:nvSpPr>
          <p:cNvPr id="74" name="TextBox 73"/>
          <p:cNvSpPr txBox="1"/>
          <p:nvPr/>
        </p:nvSpPr>
        <p:spPr>
          <a:xfrm>
            <a:off x="9785841" y="5366761"/>
            <a:ext cx="2313455" cy="307777"/>
          </a:xfrm>
          <a:prstGeom prst="rect">
            <a:avLst/>
          </a:prstGeom>
          <a:noFill/>
          <a:ln>
            <a:noFill/>
          </a:ln>
        </p:spPr>
        <p:txBody>
          <a:bodyPr wrap="square" rtlCol="0">
            <a:noAutofit/>
          </a:bodyPr>
          <a:lstStyle/>
          <a:p>
            <a:r>
              <a:rPr lang="ko-KR" altLang="en-US" sz="1400" dirty="0" err="1"/>
              <a:t>비침해</a:t>
            </a:r>
            <a:endParaRPr lang="ko-KR" altLang="en-US" sz="1400" dirty="0"/>
          </a:p>
        </p:txBody>
      </p:sp>
      <p:sp>
        <p:nvSpPr>
          <p:cNvPr id="75" name="TextBox 74"/>
          <p:cNvSpPr txBox="1"/>
          <p:nvPr/>
        </p:nvSpPr>
        <p:spPr>
          <a:xfrm>
            <a:off x="9785841" y="6100185"/>
            <a:ext cx="2313455" cy="307777"/>
          </a:xfrm>
          <a:prstGeom prst="rect">
            <a:avLst/>
          </a:prstGeom>
          <a:noFill/>
          <a:ln>
            <a:noFill/>
          </a:ln>
        </p:spPr>
        <p:txBody>
          <a:bodyPr wrap="square" rtlCol="0">
            <a:noAutofit/>
          </a:bodyPr>
          <a:lstStyle/>
          <a:p>
            <a:r>
              <a:rPr lang="ko-KR" altLang="en-US" sz="1400" dirty="0"/>
              <a:t>침해</a:t>
            </a:r>
          </a:p>
        </p:txBody>
      </p:sp>
      <p:cxnSp>
        <p:nvCxnSpPr>
          <p:cNvPr id="76" name="꺾인 연결선 75"/>
          <p:cNvCxnSpPr>
            <a:stCxn id="65" idx="3"/>
            <a:endCxn id="71" idx="1"/>
          </p:cNvCxnSpPr>
          <p:nvPr/>
        </p:nvCxnSpPr>
        <p:spPr>
          <a:xfrm flipV="1">
            <a:off x="6981825" y="5520650"/>
            <a:ext cx="480042" cy="40435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꺾인 연결선 77"/>
          <p:cNvCxnSpPr>
            <a:stCxn id="65" idx="3"/>
            <a:endCxn id="73" idx="1"/>
          </p:cNvCxnSpPr>
          <p:nvPr/>
        </p:nvCxnSpPr>
        <p:spPr>
          <a:xfrm>
            <a:off x="6981825" y="5925006"/>
            <a:ext cx="480042" cy="32906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414</a:t>
            </a:r>
            <a:endParaRPr lang="ko-KR" altLang="en-US"/>
          </a:p>
        </p:txBody>
      </p:sp>
      <p:pic>
        <p:nvPicPr>
          <p:cNvPr id="62" name="Picture 2" descr="남한 지도에 대한 이미지 검색결과">
            <a:extLst>
              <a:ext uri="{FF2B5EF4-FFF2-40B4-BE49-F238E27FC236}">
                <a16:creationId xmlns:a16="http://schemas.microsoft.com/office/drawing/2014/main" id="{088E2D3B-F24C-4BAD-914E-16B3F47153A8}"/>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20563" r="18629"/>
          <a:stretch/>
        </p:blipFill>
        <p:spPr bwMode="auto">
          <a:xfrm>
            <a:off x="85726" y="2324100"/>
            <a:ext cx="2766615" cy="4391025"/>
          </a:xfrm>
          <a:prstGeom prst="rect">
            <a:avLst/>
          </a:prstGeom>
          <a:noFill/>
          <a:extLst>
            <a:ext uri="{909E8E84-426E-40DD-AFC4-6F175D3DCCD1}">
              <a14:hiddenFill xmlns:a14="http://schemas.microsoft.com/office/drawing/2010/main">
                <a:solidFill>
                  <a:srgbClr val="FFFFFF"/>
                </a:solidFill>
              </a14:hiddenFill>
            </a:ext>
          </a:extLst>
        </p:spPr>
      </p:pic>
      <p:sp>
        <p:nvSpPr>
          <p:cNvPr id="64" name="타원 63">
            <a:extLst>
              <a:ext uri="{FF2B5EF4-FFF2-40B4-BE49-F238E27FC236}">
                <a16:creationId xmlns:a16="http://schemas.microsoft.com/office/drawing/2014/main" id="{23DD6659-E8B9-40E8-97BA-028846156A57}"/>
              </a:ext>
            </a:extLst>
          </p:cNvPr>
          <p:cNvSpPr/>
          <p:nvPr/>
        </p:nvSpPr>
        <p:spPr>
          <a:xfrm>
            <a:off x="637449" y="2625067"/>
            <a:ext cx="1135432" cy="1064959"/>
          </a:xfrm>
          <a:prstGeom prst="ellipse">
            <a:avLst/>
          </a:pr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7" name="타원 66">
            <a:extLst>
              <a:ext uri="{FF2B5EF4-FFF2-40B4-BE49-F238E27FC236}">
                <a16:creationId xmlns:a16="http://schemas.microsoft.com/office/drawing/2014/main" id="{0297F349-4FCE-4BB1-8C71-73B7A6068623}"/>
              </a:ext>
            </a:extLst>
          </p:cNvPr>
          <p:cNvSpPr/>
          <p:nvPr/>
        </p:nvSpPr>
        <p:spPr>
          <a:xfrm>
            <a:off x="1485025" y="4284241"/>
            <a:ext cx="1135432" cy="1064959"/>
          </a:xfrm>
          <a:prstGeom prst="ellipse">
            <a:avLst/>
          </a:prstGeom>
          <a:solidFill>
            <a:schemeClr val="accent4">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8" name="타원 67">
            <a:extLst>
              <a:ext uri="{FF2B5EF4-FFF2-40B4-BE49-F238E27FC236}">
                <a16:creationId xmlns:a16="http://schemas.microsoft.com/office/drawing/2014/main" id="{03DAE59A-318C-4621-9B66-872E539EC32D}"/>
              </a:ext>
            </a:extLst>
          </p:cNvPr>
          <p:cNvSpPr/>
          <p:nvPr/>
        </p:nvSpPr>
        <p:spPr>
          <a:xfrm>
            <a:off x="989273" y="2976194"/>
            <a:ext cx="647676" cy="607476"/>
          </a:xfrm>
          <a:prstGeom prst="ellipse">
            <a:avLst/>
          </a:prstGeom>
          <a:solidFill>
            <a:schemeClr val="tx2">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9" name="타원 68">
            <a:extLst>
              <a:ext uri="{FF2B5EF4-FFF2-40B4-BE49-F238E27FC236}">
                <a16:creationId xmlns:a16="http://schemas.microsoft.com/office/drawing/2014/main" id="{27135EFD-C2DC-4D0A-A1A2-71E5AE7852F9}"/>
              </a:ext>
            </a:extLst>
          </p:cNvPr>
          <p:cNvSpPr/>
          <p:nvPr/>
        </p:nvSpPr>
        <p:spPr>
          <a:xfrm>
            <a:off x="1728902" y="4357553"/>
            <a:ext cx="647676" cy="607476"/>
          </a:xfrm>
          <a:prstGeom prst="ellipse">
            <a:avLst/>
          </a:prstGeom>
          <a:solidFill>
            <a:schemeClr val="accent4">
              <a:lumMod val="50000"/>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0" name="직사각형 69">
            <a:extLst>
              <a:ext uri="{FF2B5EF4-FFF2-40B4-BE49-F238E27FC236}">
                <a16:creationId xmlns:a16="http://schemas.microsoft.com/office/drawing/2014/main" id="{51887E0D-BE9B-458E-857D-55A593C1A9CE}"/>
              </a:ext>
            </a:extLst>
          </p:cNvPr>
          <p:cNvSpPr/>
          <p:nvPr/>
        </p:nvSpPr>
        <p:spPr>
          <a:xfrm>
            <a:off x="2052741" y="4650584"/>
            <a:ext cx="543740" cy="523220"/>
          </a:xfrm>
          <a:prstGeom prst="rect">
            <a:avLst/>
          </a:prstGeom>
        </p:spPr>
        <p:txBody>
          <a:bodyPr wrap="none">
            <a:spAutoFit/>
          </a:bodyPr>
          <a:lstStyle/>
          <a:p>
            <a:pPr fontAlgn="base"/>
            <a:r>
              <a:rPr lang="ko-KR" altLang="en-US" sz="2800" dirty="0">
                <a:solidFill>
                  <a:schemeClr val="accent2">
                    <a:lumMod val="50000"/>
                  </a:schemeClr>
                </a:solidFill>
              </a:rPr>
              <a:t>❹</a:t>
            </a:r>
          </a:p>
        </p:txBody>
      </p:sp>
      <p:sp>
        <p:nvSpPr>
          <p:cNvPr id="72" name="직사각형 71">
            <a:extLst>
              <a:ext uri="{FF2B5EF4-FFF2-40B4-BE49-F238E27FC236}">
                <a16:creationId xmlns:a16="http://schemas.microsoft.com/office/drawing/2014/main" id="{6F9B9B52-D16B-4E11-A0B4-5C6181A0BC93}"/>
              </a:ext>
            </a:extLst>
          </p:cNvPr>
          <p:cNvSpPr/>
          <p:nvPr/>
        </p:nvSpPr>
        <p:spPr>
          <a:xfrm>
            <a:off x="691987" y="2467734"/>
            <a:ext cx="543740" cy="523220"/>
          </a:xfrm>
          <a:prstGeom prst="rect">
            <a:avLst/>
          </a:prstGeom>
        </p:spPr>
        <p:txBody>
          <a:bodyPr wrap="none">
            <a:spAutoFit/>
          </a:bodyPr>
          <a:lstStyle/>
          <a:p>
            <a:pPr fontAlgn="base"/>
            <a:r>
              <a:rPr lang="ko-KR" altLang="en-US" sz="2800" dirty="0">
                <a:solidFill>
                  <a:schemeClr val="accent2">
                    <a:lumMod val="50000"/>
                  </a:schemeClr>
                </a:solidFill>
              </a:rPr>
              <a:t>❶</a:t>
            </a:r>
          </a:p>
        </p:txBody>
      </p:sp>
      <p:sp>
        <p:nvSpPr>
          <p:cNvPr id="77" name="직사각형 76">
            <a:extLst>
              <a:ext uri="{FF2B5EF4-FFF2-40B4-BE49-F238E27FC236}">
                <a16:creationId xmlns:a16="http://schemas.microsoft.com/office/drawing/2014/main" id="{FF666A16-60EF-407A-8D38-EEFF79175787}"/>
              </a:ext>
            </a:extLst>
          </p:cNvPr>
          <p:cNvSpPr/>
          <p:nvPr/>
        </p:nvSpPr>
        <p:spPr>
          <a:xfrm>
            <a:off x="1092504" y="2802003"/>
            <a:ext cx="543740" cy="523220"/>
          </a:xfrm>
          <a:prstGeom prst="rect">
            <a:avLst/>
          </a:prstGeom>
        </p:spPr>
        <p:txBody>
          <a:bodyPr wrap="none">
            <a:spAutoFit/>
          </a:bodyPr>
          <a:lstStyle/>
          <a:p>
            <a:pPr fontAlgn="base"/>
            <a:r>
              <a:rPr lang="ko-KR" altLang="en-US" sz="2800" dirty="0">
                <a:solidFill>
                  <a:schemeClr val="accent2">
                    <a:lumMod val="50000"/>
                  </a:schemeClr>
                </a:solidFill>
              </a:rPr>
              <a:t>❷</a:t>
            </a:r>
          </a:p>
        </p:txBody>
      </p:sp>
      <p:sp>
        <p:nvSpPr>
          <p:cNvPr id="79" name="직사각형 78">
            <a:extLst>
              <a:ext uri="{FF2B5EF4-FFF2-40B4-BE49-F238E27FC236}">
                <a16:creationId xmlns:a16="http://schemas.microsoft.com/office/drawing/2014/main" id="{F31F703B-EEDF-42A3-A36A-641A65EA7876}"/>
              </a:ext>
            </a:extLst>
          </p:cNvPr>
          <p:cNvSpPr/>
          <p:nvPr/>
        </p:nvSpPr>
        <p:spPr>
          <a:xfrm>
            <a:off x="1692205" y="5144962"/>
            <a:ext cx="543740" cy="523220"/>
          </a:xfrm>
          <a:prstGeom prst="rect">
            <a:avLst/>
          </a:prstGeom>
        </p:spPr>
        <p:txBody>
          <a:bodyPr wrap="none">
            <a:spAutoFit/>
          </a:bodyPr>
          <a:lstStyle/>
          <a:p>
            <a:pPr fontAlgn="base"/>
            <a:r>
              <a:rPr lang="ko-KR" altLang="en-US" sz="2800" dirty="0">
                <a:solidFill>
                  <a:schemeClr val="accent2">
                    <a:lumMod val="50000"/>
                  </a:schemeClr>
                </a:solidFill>
              </a:rPr>
              <a:t>❸</a:t>
            </a:r>
          </a:p>
        </p:txBody>
      </p:sp>
      <p:sp>
        <p:nvSpPr>
          <p:cNvPr id="58" name="직사각형 57"/>
          <p:cNvSpPr/>
          <p:nvPr/>
        </p:nvSpPr>
        <p:spPr>
          <a:xfrm>
            <a:off x="5045940" y="3223617"/>
            <a:ext cx="543739" cy="523220"/>
          </a:xfrm>
          <a:prstGeom prst="rect">
            <a:avLst/>
          </a:prstGeom>
        </p:spPr>
        <p:txBody>
          <a:bodyPr wrap="none">
            <a:spAutoFit/>
          </a:bodyPr>
          <a:lstStyle/>
          <a:p>
            <a:pPr fontAlgn="base"/>
            <a:r>
              <a:rPr lang="ko-KR" altLang="en-US" sz="2800" dirty="0">
                <a:solidFill>
                  <a:schemeClr val="accent2">
                    <a:lumMod val="50000"/>
                  </a:schemeClr>
                </a:solidFill>
              </a:rPr>
              <a:t>❶</a:t>
            </a:r>
          </a:p>
        </p:txBody>
      </p:sp>
      <p:sp>
        <p:nvSpPr>
          <p:cNvPr id="59" name="직사각형 58"/>
          <p:cNvSpPr/>
          <p:nvPr/>
        </p:nvSpPr>
        <p:spPr>
          <a:xfrm>
            <a:off x="6116095" y="2380121"/>
            <a:ext cx="543740" cy="523220"/>
          </a:xfrm>
          <a:prstGeom prst="rect">
            <a:avLst/>
          </a:prstGeom>
        </p:spPr>
        <p:txBody>
          <a:bodyPr wrap="none">
            <a:spAutoFit/>
          </a:bodyPr>
          <a:lstStyle/>
          <a:p>
            <a:pPr fontAlgn="base"/>
            <a:r>
              <a:rPr lang="ko-KR" altLang="en-US" sz="2800" dirty="0">
                <a:solidFill>
                  <a:schemeClr val="accent2">
                    <a:lumMod val="50000"/>
                  </a:schemeClr>
                </a:solidFill>
              </a:rPr>
              <a:t>❷</a:t>
            </a:r>
          </a:p>
        </p:txBody>
      </p:sp>
      <p:sp>
        <p:nvSpPr>
          <p:cNvPr id="60" name="직사각형 59"/>
          <p:cNvSpPr/>
          <p:nvPr/>
        </p:nvSpPr>
        <p:spPr>
          <a:xfrm>
            <a:off x="7277346" y="3239947"/>
            <a:ext cx="543740" cy="523220"/>
          </a:xfrm>
          <a:prstGeom prst="rect">
            <a:avLst/>
          </a:prstGeom>
        </p:spPr>
        <p:txBody>
          <a:bodyPr wrap="none">
            <a:spAutoFit/>
          </a:bodyPr>
          <a:lstStyle/>
          <a:p>
            <a:pPr fontAlgn="base"/>
            <a:r>
              <a:rPr lang="ko-KR" altLang="en-US" sz="2800" dirty="0">
                <a:solidFill>
                  <a:schemeClr val="accent2">
                    <a:lumMod val="50000"/>
                  </a:schemeClr>
                </a:solidFill>
              </a:rPr>
              <a:t>❸</a:t>
            </a:r>
          </a:p>
        </p:txBody>
      </p:sp>
      <p:sp>
        <p:nvSpPr>
          <p:cNvPr id="61" name="직사각형 60"/>
          <p:cNvSpPr/>
          <p:nvPr/>
        </p:nvSpPr>
        <p:spPr>
          <a:xfrm>
            <a:off x="8626288" y="2395667"/>
            <a:ext cx="543740" cy="523220"/>
          </a:xfrm>
          <a:prstGeom prst="rect">
            <a:avLst/>
          </a:prstGeom>
        </p:spPr>
        <p:txBody>
          <a:bodyPr wrap="none">
            <a:spAutoFit/>
          </a:bodyPr>
          <a:lstStyle/>
          <a:p>
            <a:pPr fontAlgn="base"/>
            <a:r>
              <a:rPr lang="ko-KR" altLang="en-US" sz="2800" dirty="0">
                <a:solidFill>
                  <a:schemeClr val="accent2">
                    <a:lumMod val="50000"/>
                  </a:schemeClr>
                </a:solidFill>
              </a:rPr>
              <a:t>❹</a:t>
            </a:r>
          </a:p>
        </p:txBody>
      </p:sp>
    </p:spTree>
    <p:extLst>
      <p:ext uri="{BB962C8B-B14F-4D97-AF65-F5344CB8AC3E}">
        <p14:creationId xmlns:p14="http://schemas.microsoft.com/office/powerpoint/2010/main" val="508980453"/>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슬라이드 번호 개체 틀 2"/>
          <p:cNvSpPr>
            <a:spLocks noGrp="1"/>
          </p:cNvSpPr>
          <p:nvPr>
            <p:ph type="sldNum" sz="quarter" idx="12"/>
          </p:nvPr>
        </p:nvSpPr>
        <p:spPr/>
        <p:txBody>
          <a:bodyPr/>
          <a:lstStyle/>
          <a:p>
            <a:r>
              <a:rPr lang="en-US" altLang="ko-KR"/>
              <a:t>415</a:t>
            </a:r>
            <a:endParaRPr lang="ko-KR" altLang="en-US"/>
          </a:p>
        </p:txBody>
      </p:sp>
      <p:sp>
        <p:nvSpPr>
          <p:cNvPr id="4" name="제목 3"/>
          <p:cNvSpPr>
            <a:spLocks noGrp="1"/>
          </p:cNvSpPr>
          <p:nvPr>
            <p:ph type="title"/>
          </p:nvPr>
        </p:nvSpPr>
        <p:spPr/>
        <p:txBody>
          <a:bodyPr/>
          <a:lstStyle/>
          <a:p>
            <a:r>
              <a:rPr lang="ko-KR" altLang="en-US" dirty="0"/>
              <a:t>제</a:t>
            </a:r>
            <a:r>
              <a:rPr lang="en-US" altLang="ko-KR" dirty="0"/>
              <a:t>100</a:t>
            </a:r>
            <a:r>
              <a:rPr lang="ko-KR" altLang="en-US" dirty="0"/>
              <a:t>조</a:t>
            </a:r>
            <a:r>
              <a:rPr lang="en-US" altLang="ko-KR" dirty="0"/>
              <a:t>~</a:t>
            </a:r>
            <a:r>
              <a:rPr lang="ko-KR" altLang="en-US" dirty="0"/>
              <a:t>제</a:t>
            </a:r>
            <a:r>
              <a:rPr lang="en-US" altLang="ko-KR" dirty="0"/>
              <a:t>118</a:t>
            </a:r>
            <a:r>
              <a:rPr lang="ko-KR" altLang="en-US" dirty="0"/>
              <a:t>조</a:t>
            </a:r>
          </a:p>
        </p:txBody>
      </p:sp>
      <p:sp>
        <p:nvSpPr>
          <p:cNvPr id="5" name="텍스트 개체 틀 4"/>
          <p:cNvSpPr>
            <a:spLocks noGrp="1"/>
          </p:cNvSpPr>
          <p:nvPr>
            <p:ph type="body" sz="quarter" idx="13"/>
          </p:nvPr>
        </p:nvSpPr>
        <p:spPr/>
        <p:txBody>
          <a:bodyPr/>
          <a:lstStyle/>
          <a:p>
            <a:r>
              <a:rPr lang="ko-KR" altLang="en-US" dirty="0" err="1"/>
              <a:t>법정실시권의</a:t>
            </a:r>
            <a:r>
              <a:rPr lang="ko-KR" altLang="en-US" dirty="0"/>
              <a:t> 성립요건 및 효력</a:t>
            </a:r>
          </a:p>
        </p:txBody>
      </p:sp>
      <p:graphicFrame>
        <p:nvGraphicFramePr>
          <p:cNvPr id="2" name="표 1"/>
          <p:cNvGraphicFramePr>
            <a:graphicFrameLocks noGrp="1"/>
          </p:cNvGraphicFramePr>
          <p:nvPr/>
        </p:nvGraphicFramePr>
        <p:xfrm>
          <a:off x="295275" y="1031500"/>
          <a:ext cx="11649075" cy="5737017"/>
        </p:xfrm>
        <a:graphic>
          <a:graphicData uri="http://schemas.openxmlformats.org/drawingml/2006/table">
            <a:tbl>
              <a:tblPr>
                <a:tableStyleId>{8799B23B-EC83-4686-B30A-512413B5E67A}</a:tableStyleId>
              </a:tblPr>
              <a:tblGrid>
                <a:gridCol w="574439">
                  <a:extLst>
                    <a:ext uri="{9D8B030D-6E8A-4147-A177-3AD203B41FA5}">
                      <a16:colId xmlns:a16="http://schemas.microsoft.com/office/drawing/2014/main" val="20000"/>
                    </a:ext>
                  </a:extLst>
                </a:gridCol>
                <a:gridCol w="522867">
                  <a:extLst>
                    <a:ext uri="{9D8B030D-6E8A-4147-A177-3AD203B41FA5}">
                      <a16:colId xmlns:a16="http://schemas.microsoft.com/office/drawing/2014/main" val="20001"/>
                    </a:ext>
                  </a:extLst>
                </a:gridCol>
                <a:gridCol w="7122689">
                  <a:extLst>
                    <a:ext uri="{9D8B030D-6E8A-4147-A177-3AD203B41FA5}">
                      <a16:colId xmlns:a16="http://schemas.microsoft.com/office/drawing/2014/main" val="20002"/>
                    </a:ext>
                  </a:extLst>
                </a:gridCol>
                <a:gridCol w="2784701">
                  <a:extLst>
                    <a:ext uri="{9D8B030D-6E8A-4147-A177-3AD203B41FA5}">
                      <a16:colId xmlns:a16="http://schemas.microsoft.com/office/drawing/2014/main" val="20003"/>
                    </a:ext>
                  </a:extLst>
                </a:gridCol>
                <a:gridCol w="644379">
                  <a:extLst>
                    <a:ext uri="{9D8B030D-6E8A-4147-A177-3AD203B41FA5}">
                      <a16:colId xmlns:a16="http://schemas.microsoft.com/office/drawing/2014/main" val="20004"/>
                    </a:ext>
                  </a:extLst>
                </a:gridCol>
              </a:tblGrid>
              <a:tr h="194852">
                <a:tc gridSpan="2">
                  <a:txBody>
                    <a:bodyPr/>
                    <a:lstStyle/>
                    <a:p>
                      <a:pPr marL="0" marR="0" indent="0" algn="ctr" fontAlgn="base" latinLnBrk="0">
                        <a:lnSpc>
                          <a:spcPct val="100000"/>
                        </a:lnSpc>
                        <a:spcBef>
                          <a:spcPts val="0"/>
                        </a:spcBef>
                        <a:spcAft>
                          <a:spcPts val="0"/>
                        </a:spcAft>
                      </a:pPr>
                      <a:r>
                        <a:rPr lang="ko-KR" altLang="en-US" sz="1050" kern="1200" dirty="0">
                          <a:solidFill>
                            <a:schemeClr val="tx1"/>
                          </a:solidFill>
                        </a:rPr>
                        <a:t>구 분</a:t>
                      </a:r>
                      <a:endParaRPr lang="ko-KR" altLang="en-US" sz="1050" kern="1200" dirty="0">
                        <a:solidFill>
                          <a:schemeClr val="tx1"/>
                        </a:solidFill>
                        <a:latin typeface="+mn-lt"/>
                        <a:ea typeface="+mn-ea"/>
                        <a:cs typeface="+mn-cs"/>
                      </a:endParaRPr>
                    </a:p>
                  </a:txBody>
                  <a:tcPr marL="10515" marR="10515" marT="10515" marB="10515"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50" kern="1200" dirty="0">
                          <a:solidFill>
                            <a:schemeClr val="tx1"/>
                          </a:solidFill>
                        </a:rPr>
                        <a:t>성립요건</a:t>
                      </a:r>
                      <a:endParaRPr lang="ko-KR" altLang="en-US" sz="1050" kern="1200" dirty="0">
                        <a:solidFill>
                          <a:schemeClr val="tx1"/>
                        </a:solidFill>
                        <a:latin typeface="+mn-lt"/>
                        <a:ea typeface="+mn-ea"/>
                        <a:cs typeface="+mn-cs"/>
                      </a:endParaRPr>
                    </a:p>
                  </a:txBody>
                  <a:tcPr marL="10515" marR="10515" marT="10515" marB="10515"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50" kern="1200" dirty="0">
                          <a:solidFill>
                            <a:schemeClr val="tx1"/>
                          </a:solidFill>
                        </a:rPr>
                        <a:t>효력범위</a:t>
                      </a:r>
                      <a:endParaRPr lang="ko-KR" altLang="en-US" sz="1050" kern="1200" dirty="0">
                        <a:solidFill>
                          <a:schemeClr val="tx1"/>
                        </a:solidFill>
                        <a:latin typeface="+mn-lt"/>
                        <a:ea typeface="+mn-ea"/>
                        <a:cs typeface="+mn-cs"/>
                      </a:endParaRPr>
                    </a:p>
                  </a:txBody>
                  <a:tcPr marL="10515" marR="10515" marT="10515" marB="10515"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50" kern="1200" dirty="0">
                          <a:solidFill>
                            <a:schemeClr val="tx1"/>
                          </a:solidFill>
                        </a:rPr>
                        <a:t>효력내용</a:t>
                      </a:r>
                      <a:endParaRPr lang="ko-KR" altLang="en-US" sz="1050" kern="1200" dirty="0">
                        <a:solidFill>
                          <a:schemeClr val="tx1"/>
                        </a:solidFill>
                        <a:latin typeface="+mn-lt"/>
                        <a:ea typeface="+mn-ea"/>
                        <a:cs typeface="+mn-cs"/>
                      </a:endParaRPr>
                    </a:p>
                  </a:txBody>
                  <a:tcPr marL="10515" marR="10515" marT="10515" marB="10515" anchor="ctr">
                    <a:solidFill>
                      <a:schemeClr val="accent1">
                        <a:lumMod val="20000"/>
                        <a:lumOff val="80000"/>
                      </a:schemeClr>
                    </a:solidFill>
                  </a:tcPr>
                </a:tc>
                <a:extLst>
                  <a:ext uri="{0D108BD9-81ED-4DB2-BD59-A6C34878D82A}">
                    <a16:rowId xmlns:a16="http://schemas.microsoft.com/office/drawing/2014/main" val="10000"/>
                  </a:ext>
                </a:extLst>
              </a:tr>
              <a:tr h="714252">
                <a:tc rowSpan="3">
                  <a:txBody>
                    <a:bodyPr/>
                    <a:lstStyle/>
                    <a:p>
                      <a:pPr marL="31750" marR="31750" indent="0" algn="ctr" defTabSz="914400" rtl="0" eaLnBrk="1" fontAlgn="base" latinLnBrk="1" hangingPunct="1">
                        <a:lnSpc>
                          <a:spcPct val="100000"/>
                        </a:lnSpc>
                        <a:spcBef>
                          <a:spcPts val="0"/>
                        </a:spcBef>
                        <a:spcAft>
                          <a:spcPts val="0"/>
                        </a:spcAft>
                      </a:pPr>
                      <a:r>
                        <a:rPr lang="ko-KR" altLang="en-US" sz="1050" kern="1200" dirty="0">
                          <a:solidFill>
                            <a:schemeClr val="tx1"/>
                          </a:solidFill>
                        </a:rPr>
                        <a:t>특수한 </a:t>
                      </a:r>
                      <a:endParaRPr lang="en-US" altLang="ko-KR" sz="1050" kern="1200" dirty="0">
                        <a:solidFill>
                          <a:schemeClr val="tx1"/>
                        </a:solidFill>
                      </a:endParaRPr>
                    </a:p>
                    <a:p>
                      <a:pPr marL="31750" marR="31750" indent="0" algn="ctr" defTabSz="914400" rtl="0" eaLnBrk="1" fontAlgn="base" latinLnBrk="1" hangingPunct="1">
                        <a:lnSpc>
                          <a:spcPct val="100000"/>
                        </a:lnSpc>
                        <a:spcBef>
                          <a:spcPts val="0"/>
                        </a:spcBef>
                        <a:spcAft>
                          <a:spcPts val="0"/>
                        </a:spcAft>
                      </a:pPr>
                      <a:r>
                        <a:rPr lang="ko-KR" altLang="en-US" sz="1050" kern="1200" dirty="0">
                          <a:solidFill>
                            <a:schemeClr val="tx1"/>
                          </a:solidFill>
                        </a:rPr>
                        <a:t>경우</a:t>
                      </a:r>
                    </a:p>
                    <a:p>
                      <a:pPr marL="31750" marR="31750" indent="0" algn="ctr" defTabSz="914400" rtl="0" eaLnBrk="1" fontAlgn="base" latinLnBrk="1" hangingPunct="1">
                        <a:lnSpc>
                          <a:spcPct val="100000"/>
                        </a:lnSpc>
                        <a:spcBef>
                          <a:spcPts val="0"/>
                        </a:spcBef>
                        <a:spcAft>
                          <a:spcPts val="0"/>
                        </a:spcAft>
                      </a:pPr>
                      <a:r>
                        <a:rPr lang="en-US" altLang="ko-KR" sz="1050" kern="1200" dirty="0">
                          <a:solidFill>
                            <a:schemeClr val="tx1"/>
                          </a:solidFill>
                        </a:rPr>
                        <a:t>(</a:t>
                      </a:r>
                      <a:r>
                        <a:rPr lang="ko-KR" altLang="en-US" sz="1050" kern="1200" dirty="0">
                          <a:solidFill>
                            <a:schemeClr val="tx1"/>
                          </a:solidFill>
                        </a:rPr>
                        <a:t>규칙</a:t>
                      </a:r>
                      <a:r>
                        <a:rPr lang="en-US" altLang="ko-KR" sz="1050" kern="1200" dirty="0">
                          <a:solidFill>
                            <a:schemeClr val="tx1"/>
                          </a:solidFill>
                        </a:rPr>
                        <a:t>×)</a:t>
                      </a:r>
                      <a:endParaRPr lang="ko-KR" altLang="en-US" sz="1050" kern="1200" dirty="0">
                        <a:solidFill>
                          <a:schemeClr val="tx1"/>
                        </a:solidFill>
                        <a:latin typeface="+mn-lt"/>
                        <a:ea typeface="+mn-ea"/>
                        <a:cs typeface="+mn-cs"/>
                      </a:endParaRPr>
                    </a:p>
                  </a:txBody>
                  <a:tcPr marL="10515" marR="10515" marT="10515" marB="10515" anchor="ctr"/>
                </a:tc>
                <a:tc>
                  <a:txBody>
                    <a:bodyPr/>
                    <a:lstStyle/>
                    <a:p>
                      <a:pPr marL="0" marR="0" indent="0" algn="ctr" fontAlgn="base" latinLnBrk="0">
                        <a:lnSpc>
                          <a:spcPct val="100000"/>
                        </a:lnSpc>
                        <a:spcBef>
                          <a:spcPts val="0"/>
                        </a:spcBef>
                        <a:spcAft>
                          <a:spcPts val="0"/>
                        </a:spcAft>
                      </a:pPr>
                      <a:r>
                        <a:rPr lang="ko-KR" altLang="en-US" sz="1050" kern="1200" dirty="0" err="1">
                          <a:solidFill>
                            <a:schemeClr val="tx1"/>
                          </a:solidFill>
                        </a:rPr>
                        <a:t>發振法</a:t>
                      </a:r>
                      <a:r>
                        <a:rPr lang="ko-KR" altLang="en-US" sz="1050" kern="1200" dirty="0">
                          <a:solidFill>
                            <a:schemeClr val="tx1"/>
                          </a:solidFill>
                        </a:rPr>
                        <a:t> </a:t>
                      </a:r>
                      <a:r>
                        <a:rPr lang="en-US" altLang="ko-KR" sz="1050" kern="1200" dirty="0">
                          <a:solidFill>
                            <a:schemeClr val="tx1"/>
                          </a:solidFill>
                        </a:rPr>
                        <a:t>10</a:t>
                      </a:r>
                      <a:r>
                        <a:rPr lang="ko-KR" altLang="en-US" sz="1050" kern="1200" dirty="0">
                          <a:solidFill>
                            <a:schemeClr val="tx1"/>
                          </a:solidFill>
                        </a:rPr>
                        <a:t>①</a:t>
                      </a:r>
                      <a:endParaRPr lang="ko-KR" altLang="en-US" sz="1050" kern="1200" dirty="0">
                        <a:solidFill>
                          <a:schemeClr val="tx1"/>
                        </a:solidFill>
                        <a:latin typeface="+mn-lt"/>
                        <a:ea typeface="+mn-ea"/>
                        <a:cs typeface="+mn-cs"/>
                      </a:endParaRPr>
                    </a:p>
                  </a:txBody>
                  <a:tcPr marL="10515" marR="10515" marT="10515" marB="10515" anchor="ctr"/>
                </a:tc>
                <a:tc>
                  <a:txBody>
                    <a:bodyPr/>
                    <a:lstStyle/>
                    <a:p>
                      <a:pPr marL="85725" marR="31750" indent="-53975" algn="l" fontAlgn="base" latinLnBrk="1">
                        <a:lnSpc>
                          <a:spcPct val="100000"/>
                        </a:lnSpc>
                        <a:spcBef>
                          <a:spcPts val="0"/>
                        </a:spcBef>
                        <a:spcAft>
                          <a:spcPts val="0"/>
                        </a:spcAft>
                        <a:buAutoNum type="arabicPeriod"/>
                      </a:pPr>
                      <a:r>
                        <a:rPr lang="ko-KR" altLang="en-US" sz="1050" kern="1200" dirty="0">
                          <a:solidFill>
                            <a:schemeClr val="tx1"/>
                          </a:solidFill>
                        </a:rPr>
                        <a:t> 직무발명일 것</a:t>
                      </a:r>
                      <a:endParaRPr lang="en-US" altLang="ko-KR" sz="1050" kern="1200" dirty="0">
                        <a:solidFill>
                          <a:schemeClr val="tx1"/>
                        </a:solidFill>
                      </a:endParaRPr>
                    </a:p>
                    <a:p>
                      <a:pPr marL="85725" marR="31750" indent="-53975" algn="l" fontAlgn="base" latinLnBrk="1">
                        <a:lnSpc>
                          <a:spcPct val="100000"/>
                        </a:lnSpc>
                        <a:spcBef>
                          <a:spcPts val="0"/>
                        </a:spcBef>
                        <a:spcAft>
                          <a:spcPts val="0"/>
                        </a:spcAft>
                        <a:buAutoNum type="arabicPeriod"/>
                      </a:pPr>
                      <a:r>
                        <a:rPr lang="en-US" altLang="ko-KR" sz="1050" kern="1200" dirty="0">
                          <a:solidFill>
                            <a:schemeClr val="tx1"/>
                          </a:solidFill>
                        </a:rPr>
                        <a:t> </a:t>
                      </a:r>
                      <a:r>
                        <a:rPr lang="ko-KR" altLang="en-US" sz="1050" kern="1200" dirty="0">
                          <a:solidFill>
                            <a:schemeClr val="tx1"/>
                          </a:solidFill>
                        </a:rPr>
                        <a:t>종업원 등이 특허를 받았거나 특허를 받을 수 있는 권리를 승계한 자가 특허를 받았을 것 </a:t>
                      </a:r>
                      <a:endParaRPr lang="en-US" altLang="ko-KR" sz="1050" kern="1200" dirty="0">
                        <a:solidFill>
                          <a:schemeClr val="tx1"/>
                        </a:solidFill>
                      </a:endParaRPr>
                    </a:p>
                    <a:p>
                      <a:pPr marL="180975" marR="31750" indent="-149225" algn="l" fontAlgn="base" latinLnBrk="1">
                        <a:lnSpc>
                          <a:spcPct val="100000"/>
                        </a:lnSpc>
                        <a:spcBef>
                          <a:spcPts val="0"/>
                        </a:spcBef>
                        <a:spcAft>
                          <a:spcPts val="0"/>
                        </a:spcAft>
                        <a:buAutoNum type="arabicPeriod"/>
                      </a:pPr>
                      <a:r>
                        <a:rPr lang="ko-KR" altLang="en-US" sz="1050" kern="1200" dirty="0">
                          <a:solidFill>
                            <a:schemeClr val="tx1"/>
                          </a:solidFill>
                        </a:rPr>
                        <a:t>사용자 등이 「중소기업기본법」 제</a:t>
                      </a:r>
                      <a:r>
                        <a:rPr lang="en-US" altLang="ko-KR" sz="1050" kern="1200" dirty="0">
                          <a:solidFill>
                            <a:schemeClr val="tx1"/>
                          </a:solidFill>
                        </a:rPr>
                        <a:t>2</a:t>
                      </a:r>
                      <a:r>
                        <a:rPr lang="ko-KR" altLang="en-US" sz="1050" kern="1200" dirty="0">
                          <a:solidFill>
                            <a:schemeClr val="tx1"/>
                          </a:solidFill>
                        </a:rPr>
                        <a:t>조에 따른 중소기업이 아닌 기업인 경우 종업원 등과의 협의를 거쳐 미리 예약승계에 해당하는 계약 또는 근무규정을 체결 또는 작성하였을 것</a:t>
                      </a:r>
                      <a:endParaRPr lang="ko-KR" altLang="en-US" sz="1050" kern="1200" dirty="0">
                        <a:solidFill>
                          <a:schemeClr val="tx1"/>
                        </a:solidFill>
                        <a:latin typeface="+mn-lt"/>
                        <a:ea typeface="+mn-ea"/>
                        <a:cs typeface="+mn-cs"/>
                      </a:endParaRPr>
                    </a:p>
                  </a:txBody>
                  <a:tcPr marL="10515" marR="10515" marT="10515" marB="10515" anchor="ctr"/>
                </a:tc>
                <a:tc>
                  <a:txBody>
                    <a:bodyPr/>
                    <a:lstStyle/>
                    <a:p>
                      <a:pPr marL="31750" marR="31750" indent="0" algn="l" fontAlgn="base" latinLnBrk="1">
                        <a:lnSpc>
                          <a:spcPct val="100000"/>
                        </a:lnSpc>
                        <a:spcBef>
                          <a:spcPts val="0"/>
                        </a:spcBef>
                        <a:spcAft>
                          <a:spcPts val="0"/>
                        </a:spcAft>
                      </a:pPr>
                      <a:r>
                        <a:rPr lang="ko-KR" altLang="en-US" sz="1050" kern="1200" dirty="0">
                          <a:solidFill>
                            <a:schemeClr val="tx1"/>
                          </a:solidFill>
                        </a:rPr>
                        <a:t>특허발명 전체</a:t>
                      </a:r>
                      <a:endParaRPr lang="ko-KR" altLang="en-US" sz="1050" kern="1200" dirty="0">
                        <a:solidFill>
                          <a:schemeClr val="tx1"/>
                        </a:solidFill>
                        <a:latin typeface="+mn-lt"/>
                        <a:ea typeface="+mn-ea"/>
                        <a:cs typeface="+mn-cs"/>
                      </a:endParaRPr>
                    </a:p>
                  </a:txBody>
                  <a:tcPr marL="10515" marR="10515" marT="10515" marB="10515" anchor="ctr"/>
                </a:tc>
                <a:tc rowSpan="7">
                  <a:txBody>
                    <a:bodyPr/>
                    <a:lstStyle/>
                    <a:p>
                      <a:pPr marL="31750" marR="31750" indent="0" algn="ctr" fontAlgn="base" latinLnBrk="0">
                        <a:lnSpc>
                          <a:spcPct val="100000"/>
                        </a:lnSpc>
                        <a:spcBef>
                          <a:spcPts val="0"/>
                        </a:spcBef>
                        <a:spcAft>
                          <a:spcPts val="0"/>
                        </a:spcAft>
                      </a:pPr>
                      <a:r>
                        <a:rPr lang="ko-KR" altLang="en-US" sz="1050" kern="1200" dirty="0">
                          <a:solidFill>
                            <a:schemeClr val="tx1"/>
                          </a:solidFill>
                        </a:rPr>
                        <a:t>통상</a:t>
                      </a:r>
                    </a:p>
                    <a:p>
                      <a:pPr marL="31750" marR="31750" indent="0" algn="ctr" fontAlgn="base" latinLnBrk="0">
                        <a:lnSpc>
                          <a:spcPct val="100000"/>
                        </a:lnSpc>
                        <a:spcBef>
                          <a:spcPts val="0"/>
                        </a:spcBef>
                        <a:spcAft>
                          <a:spcPts val="0"/>
                        </a:spcAft>
                      </a:pPr>
                      <a:r>
                        <a:rPr lang="ko-KR" altLang="en-US" sz="1050" kern="1200" dirty="0" err="1">
                          <a:solidFill>
                            <a:schemeClr val="tx1"/>
                          </a:solidFill>
                        </a:rPr>
                        <a:t>실시권</a:t>
                      </a:r>
                      <a:endParaRPr lang="ko-KR" altLang="en-US" sz="1050" kern="1200" dirty="0">
                        <a:solidFill>
                          <a:schemeClr val="tx1"/>
                        </a:solidFill>
                        <a:latin typeface="+mn-lt"/>
                        <a:ea typeface="+mn-ea"/>
                        <a:cs typeface="+mn-cs"/>
                      </a:endParaRPr>
                    </a:p>
                  </a:txBody>
                  <a:tcPr marL="10515" marR="10515" marT="10515" marB="10515" anchor="ctr"/>
                </a:tc>
                <a:extLst>
                  <a:ext uri="{0D108BD9-81ED-4DB2-BD59-A6C34878D82A}">
                    <a16:rowId xmlns:a16="http://schemas.microsoft.com/office/drawing/2014/main" val="10001"/>
                  </a:ext>
                </a:extLst>
              </a:tr>
              <a:tr h="541119">
                <a:tc vMerge="1">
                  <a:txBody>
                    <a:bodyPr/>
                    <a:lstStyle/>
                    <a:p>
                      <a:pPr latinLnBrk="1"/>
                      <a:endParaRPr lang="ko-KR" altLang="en-US"/>
                    </a:p>
                  </a:txBody>
                  <a:tcPr/>
                </a:tc>
                <a:tc>
                  <a:txBody>
                    <a:bodyPr/>
                    <a:lstStyle/>
                    <a:p>
                      <a:pPr marL="31750" marR="31750" indent="0" algn="ctr" defTabSz="914400" rtl="0" eaLnBrk="1" fontAlgn="base" latinLnBrk="1" hangingPunct="1">
                        <a:lnSpc>
                          <a:spcPct val="100000"/>
                        </a:lnSpc>
                        <a:spcBef>
                          <a:spcPts val="0"/>
                        </a:spcBef>
                        <a:spcAft>
                          <a:spcPts val="0"/>
                        </a:spcAft>
                      </a:pPr>
                      <a:r>
                        <a:rPr lang="ko-KR" altLang="en-US" sz="1050" kern="1200" dirty="0">
                          <a:solidFill>
                            <a:schemeClr val="tx1"/>
                          </a:solidFill>
                        </a:rPr>
                        <a:t>法 </a:t>
                      </a:r>
                      <a:r>
                        <a:rPr lang="en-US" altLang="ko-KR" sz="1050" kern="1200" dirty="0">
                          <a:solidFill>
                            <a:schemeClr val="tx1"/>
                          </a:solidFill>
                        </a:rPr>
                        <a:t>105</a:t>
                      </a:r>
                      <a:endParaRPr lang="ko-KR" altLang="en-US" sz="1050" kern="1200" dirty="0">
                        <a:solidFill>
                          <a:schemeClr val="tx1"/>
                        </a:solidFill>
                        <a:latin typeface="+mn-lt"/>
                        <a:ea typeface="+mn-ea"/>
                        <a:cs typeface="+mn-cs"/>
                      </a:endParaRPr>
                    </a:p>
                  </a:txBody>
                  <a:tcPr marL="10515" marR="10515" marT="10515" marB="10515" anchor="ctr"/>
                </a:tc>
                <a:tc>
                  <a:txBody>
                    <a:bodyPr/>
                    <a:lstStyle/>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1. </a:t>
                      </a:r>
                      <a:r>
                        <a:rPr lang="ko-KR" altLang="en-US" sz="1050" kern="1200" dirty="0">
                          <a:solidFill>
                            <a:schemeClr val="tx1"/>
                          </a:solidFill>
                        </a:rPr>
                        <a:t>특허출원일 전 또는 같은 날에 출원되어 등록되었을 것</a:t>
                      </a:r>
                    </a:p>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2. </a:t>
                      </a:r>
                      <a:r>
                        <a:rPr lang="ko-KR" altLang="en-US" sz="1050" kern="1200" dirty="0" err="1">
                          <a:solidFill>
                            <a:schemeClr val="tx1"/>
                          </a:solidFill>
                        </a:rPr>
                        <a:t>디자인권이</a:t>
                      </a:r>
                      <a:r>
                        <a:rPr lang="ko-KR" altLang="en-US" sz="1050" kern="1200" dirty="0">
                          <a:solidFill>
                            <a:schemeClr val="tx1"/>
                          </a:solidFill>
                        </a:rPr>
                        <a:t> 특허권과 저촉될 것</a:t>
                      </a:r>
                    </a:p>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3. </a:t>
                      </a:r>
                      <a:r>
                        <a:rPr lang="ko-KR" altLang="en-US" sz="1050" kern="1200" dirty="0">
                          <a:solidFill>
                            <a:schemeClr val="tx1"/>
                          </a:solidFill>
                        </a:rPr>
                        <a:t>존속기간 만료로 소멸할 것</a:t>
                      </a:r>
                      <a:endParaRPr lang="ko-KR" altLang="en-US" sz="1050" kern="1200" dirty="0">
                        <a:solidFill>
                          <a:schemeClr val="tx1"/>
                        </a:solidFill>
                        <a:latin typeface="+mn-lt"/>
                        <a:ea typeface="+mn-ea"/>
                        <a:cs typeface="+mn-cs"/>
                      </a:endParaRPr>
                    </a:p>
                  </a:txBody>
                  <a:tcPr marL="10515" marR="10515" marT="10515" marB="10515" anchor="ctr"/>
                </a:tc>
                <a:tc>
                  <a:txBody>
                    <a:bodyPr/>
                    <a:lstStyle/>
                    <a:p>
                      <a:pPr marL="110490" marR="31750" indent="-110490" algn="l" fontAlgn="base" latinLnBrk="1">
                        <a:lnSpc>
                          <a:spcPct val="100000"/>
                        </a:lnSpc>
                        <a:spcBef>
                          <a:spcPts val="0"/>
                        </a:spcBef>
                        <a:spcAft>
                          <a:spcPts val="0"/>
                        </a:spcAft>
                      </a:pPr>
                      <a:r>
                        <a:rPr lang="en-US" altLang="ko-KR" sz="1050" kern="1200" dirty="0">
                          <a:solidFill>
                            <a:schemeClr val="tx1"/>
                          </a:solidFill>
                        </a:rPr>
                        <a:t>1. </a:t>
                      </a:r>
                      <a:r>
                        <a:rPr lang="ko-KR" altLang="en-US" sz="1050" kern="1200" dirty="0" err="1">
                          <a:solidFill>
                            <a:schemeClr val="tx1"/>
                          </a:solidFill>
                        </a:rPr>
                        <a:t>디자인권자</a:t>
                      </a:r>
                      <a:r>
                        <a:rPr lang="ko-KR" altLang="en-US" sz="1050" kern="1200" dirty="0">
                          <a:solidFill>
                            <a:schemeClr val="tx1"/>
                          </a:solidFill>
                        </a:rPr>
                        <a:t> → </a:t>
                      </a:r>
                      <a:r>
                        <a:rPr lang="ko-KR" altLang="en-US" sz="1050" kern="1200" dirty="0" err="1">
                          <a:solidFill>
                            <a:schemeClr val="tx1"/>
                          </a:solidFill>
                        </a:rPr>
                        <a:t>원디자인권의</a:t>
                      </a:r>
                      <a:r>
                        <a:rPr lang="ko-KR" altLang="en-US" sz="1050" kern="1200" dirty="0">
                          <a:solidFill>
                            <a:schemeClr val="tx1"/>
                          </a:solidFill>
                        </a:rPr>
                        <a:t> 범위</a:t>
                      </a:r>
                    </a:p>
                    <a:p>
                      <a:pPr marL="124460" marR="31750" indent="-124460" algn="l" fontAlgn="base" latinLnBrk="1">
                        <a:lnSpc>
                          <a:spcPct val="100000"/>
                        </a:lnSpc>
                        <a:spcBef>
                          <a:spcPts val="0"/>
                        </a:spcBef>
                        <a:spcAft>
                          <a:spcPts val="0"/>
                        </a:spcAft>
                      </a:pPr>
                      <a:r>
                        <a:rPr lang="en-US" altLang="ko-KR" sz="1050" kern="1200" dirty="0">
                          <a:solidFill>
                            <a:schemeClr val="tx1"/>
                          </a:solidFill>
                        </a:rPr>
                        <a:t>2. </a:t>
                      </a:r>
                      <a:r>
                        <a:rPr lang="ko-KR" altLang="en-US" sz="1050" kern="1200" dirty="0">
                          <a:solidFill>
                            <a:schemeClr val="tx1"/>
                          </a:solidFill>
                        </a:rPr>
                        <a:t>등록된 </a:t>
                      </a:r>
                      <a:r>
                        <a:rPr lang="ko-KR" altLang="en-US" sz="1050" kern="1200" dirty="0" err="1">
                          <a:solidFill>
                            <a:schemeClr val="tx1"/>
                          </a:solidFill>
                        </a:rPr>
                        <a:t>실시권자</a:t>
                      </a:r>
                      <a:r>
                        <a:rPr lang="en-US" altLang="ko-KR" sz="1050" kern="1200" dirty="0">
                          <a:solidFill>
                            <a:schemeClr val="tx1"/>
                          </a:solidFill>
                        </a:rPr>
                        <a:t>(</a:t>
                      </a:r>
                      <a:r>
                        <a:rPr lang="ko-KR" altLang="en-US" sz="1050" kern="1200" dirty="0">
                          <a:solidFill>
                            <a:schemeClr val="tx1"/>
                          </a:solidFill>
                        </a:rPr>
                        <a:t>단</a:t>
                      </a:r>
                      <a:r>
                        <a:rPr lang="en-US" altLang="ko-KR" sz="1050" kern="1200" dirty="0">
                          <a:solidFill>
                            <a:schemeClr val="tx1"/>
                          </a:solidFill>
                        </a:rPr>
                        <a:t>, </a:t>
                      </a:r>
                      <a:r>
                        <a:rPr lang="ko-KR" altLang="en-US" sz="1050" kern="1200" dirty="0" err="1">
                          <a:solidFill>
                            <a:schemeClr val="tx1"/>
                          </a:solidFill>
                        </a:rPr>
                        <a:t>법정실시권은</a:t>
                      </a:r>
                      <a:r>
                        <a:rPr lang="ko-KR" altLang="en-US" sz="1050" kern="1200" dirty="0">
                          <a:solidFill>
                            <a:schemeClr val="tx1"/>
                          </a:solidFill>
                        </a:rPr>
                        <a:t> 등록 不要</a:t>
                      </a:r>
                      <a:r>
                        <a:rPr lang="en-US" altLang="ko-KR" sz="1050" kern="1200" dirty="0">
                          <a:solidFill>
                            <a:schemeClr val="tx1"/>
                          </a:solidFill>
                        </a:rPr>
                        <a:t>)</a:t>
                      </a:r>
                      <a:r>
                        <a:rPr lang="ko-KR" altLang="en-US" sz="1050" kern="1200" dirty="0">
                          <a:solidFill>
                            <a:schemeClr val="tx1"/>
                          </a:solidFill>
                        </a:rPr>
                        <a:t> → </a:t>
                      </a:r>
                      <a:r>
                        <a:rPr lang="ko-KR" altLang="en-US" sz="1050" kern="1200" dirty="0" err="1">
                          <a:solidFill>
                            <a:schemeClr val="tx1"/>
                          </a:solidFill>
                        </a:rPr>
                        <a:t>원실시권의</a:t>
                      </a:r>
                      <a:r>
                        <a:rPr lang="ko-KR" altLang="en-US" sz="1050" kern="1200" dirty="0">
                          <a:solidFill>
                            <a:schemeClr val="tx1"/>
                          </a:solidFill>
                        </a:rPr>
                        <a:t> 범위</a:t>
                      </a:r>
                      <a:endParaRPr lang="ko-KR" altLang="en-US" sz="1050" kern="1200" dirty="0">
                        <a:solidFill>
                          <a:schemeClr val="tx1"/>
                        </a:solidFill>
                        <a:latin typeface="+mn-lt"/>
                        <a:ea typeface="+mn-ea"/>
                        <a:cs typeface="+mn-cs"/>
                      </a:endParaRPr>
                    </a:p>
                  </a:txBody>
                  <a:tcPr marL="10515" marR="10515" marT="10515" marB="10515" anchor="ctr"/>
                </a:tc>
                <a:tc vMerge="1">
                  <a:txBody>
                    <a:bodyPr/>
                    <a:lstStyle/>
                    <a:p>
                      <a:pPr latinLnBrk="1"/>
                      <a:endParaRPr lang="ko-KR" altLang="en-US"/>
                    </a:p>
                  </a:txBody>
                  <a:tcPr/>
                </a:tc>
                <a:extLst>
                  <a:ext uri="{0D108BD9-81ED-4DB2-BD59-A6C34878D82A}">
                    <a16:rowId xmlns:a16="http://schemas.microsoft.com/office/drawing/2014/main" val="10002"/>
                  </a:ext>
                </a:extLst>
              </a:tr>
              <a:tr h="367985">
                <a:tc vMerge="1">
                  <a:txBody>
                    <a:bodyPr/>
                    <a:lstStyle/>
                    <a:p>
                      <a:pPr latinLnBrk="1"/>
                      <a:endParaRPr lang="ko-KR" altLang="en-US"/>
                    </a:p>
                  </a:txBody>
                  <a:tcPr/>
                </a:tc>
                <a:tc>
                  <a:txBody>
                    <a:bodyPr/>
                    <a:lstStyle/>
                    <a:p>
                      <a:pPr marL="31750" marR="31750" indent="0" algn="ctr" defTabSz="914400" rtl="0" eaLnBrk="1" fontAlgn="base" latinLnBrk="1" hangingPunct="1">
                        <a:lnSpc>
                          <a:spcPct val="100000"/>
                        </a:lnSpc>
                        <a:spcBef>
                          <a:spcPts val="0"/>
                        </a:spcBef>
                        <a:spcAft>
                          <a:spcPts val="0"/>
                        </a:spcAft>
                      </a:pPr>
                      <a:r>
                        <a:rPr lang="ko-KR" altLang="en-US" sz="1050" kern="1200">
                          <a:solidFill>
                            <a:schemeClr val="tx1"/>
                          </a:solidFill>
                        </a:rPr>
                        <a:t>法 </a:t>
                      </a:r>
                      <a:r>
                        <a:rPr lang="en-US" altLang="ko-KR" sz="1050" kern="1200">
                          <a:solidFill>
                            <a:schemeClr val="tx1"/>
                          </a:solidFill>
                        </a:rPr>
                        <a:t>122</a:t>
                      </a:r>
                      <a:endParaRPr lang="ko-KR" altLang="en-US" sz="1050" kern="1200">
                        <a:solidFill>
                          <a:schemeClr val="tx1"/>
                        </a:solidFill>
                        <a:latin typeface="+mn-lt"/>
                        <a:ea typeface="+mn-ea"/>
                        <a:cs typeface="+mn-cs"/>
                      </a:endParaRPr>
                    </a:p>
                  </a:txBody>
                  <a:tcPr marL="10515" marR="10515" marT="10515" marB="10515" anchor="ctr"/>
                </a:tc>
                <a:tc>
                  <a:txBody>
                    <a:bodyPr/>
                    <a:lstStyle/>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1. </a:t>
                      </a:r>
                      <a:r>
                        <a:rPr lang="ko-KR" altLang="en-US" sz="1050" kern="1200" dirty="0">
                          <a:solidFill>
                            <a:schemeClr val="tx1"/>
                          </a:solidFill>
                        </a:rPr>
                        <a:t>특허권자</a:t>
                      </a:r>
                      <a:r>
                        <a:rPr lang="en-US" altLang="ko-KR" sz="1050" kern="1200" dirty="0">
                          <a:solidFill>
                            <a:schemeClr val="tx1"/>
                          </a:solidFill>
                        </a:rPr>
                        <a:t>(</a:t>
                      </a:r>
                      <a:r>
                        <a:rPr lang="ko-KR" altLang="en-US" sz="1050" kern="1200" dirty="0">
                          <a:solidFill>
                            <a:schemeClr val="tx1"/>
                          </a:solidFill>
                        </a:rPr>
                        <a:t>공유인 특허권을 분할청구한 경우에는 분할청구를 한 공유자를 제외한 나머지 공유자를 말한다</a:t>
                      </a:r>
                      <a:r>
                        <a:rPr lang="en-US" altLang="ko-KR" sz="1050" kern="1200" dirty="0">
                          <a:solidFill>
                            <a:schemeClr val="tx1"/>
                          </a:solidFill>
                        </a:rPr>
                        <a:t>)</a:t>
                      </a:r>
                      <a:r>
                        <a:rPr lang="ko-KR" altLang="en-US" sz="1050" kern="1200" dirty="0">
                          <a:solidFill>
                            <a:schemeClr val="tx1"/>
                          </a:solidFill>
                        </a:rPr>
                        <a:t>가 특허권을 목적으로 하는 질권설정 또는 공유인 특허권의 분할청구</a:t>
                      </a:r>
                      <a:r>
                        <a:rPr lang="ko-KR" altLang="en-US" sz="1050" kern="1200" dirty="0">
                          <a:solidFill>
                            <a:srgbClr val="FF0000"/>
                          </a:solidFill>
                        </a:rPr>
                        <a:t> </a:t>
                      </a:r>
                      <a:r>
                        <a:rPr lang="ko-KR" altLang="en-US" sz="1050" kern="1200" dirty="0">
                          <a:solidFill>
                            <a:schemeClr val="tx1"/>
                          </a:solidFill>
                        </a:rPr>
                        <a:t>이전에 그 특허발명을 실시하고 있을 것</a:t>
                      </a:r>
                    </a:p>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2. </a:t>
                      </a:r>
                      <a:r>
                        <a:rPr lang="ko-KR" altLang="en-US" sz="1050" kern="1200" dirty="0">
                          <a:solidFill>
                            <a:schemeClr val="tx1"/>
                          </a:solidFill>
                        </a:rPr>
                        <a:t>그 특허권이 경매 등에 의하여 이전될 것</a:t>
                      </a:r>
                      <a:endParaRPr lang="ko-KR" altLang="en-US" sz="1050" kern="1200" dirty="0">
                        <a:solidFill>
                          <a:schemeClr val="tx1"/>
                        </a:solidFill>
                        <a:latin typeface="+mn-lt"/>
                        <a:ea typeface="+mn-ea"/>
                        <a:cs typeface="+mn-cs"/>
                      </a:endParaRPr>
                    </a:p>
                  </a:txBody>
                  <a:tcPr marL="10515" marR="10515" marT="10515" marB="10515" anchor="ctr"/>
                </a:tc>
                <a:tc>
                  <a:txBody>
                    <a:bodyPr/>
                    <a:lstStyle/>
                    <a:p>
                      <a:pPr marL="31750" marR="31750" indent="0" algn="l" fontAlgn="base" latinLnBrk="1">
                        <a:lnSpc>
                          <a:spcPct val="100000"/>
                        </a:lnSpc>
                        <a:spcBef>
                          <a:spcPts val="0"/>
                        </a:spcBef>
                        <a:spcAft>
                          <a:spcPts val="0"/>
                        </a:spcAft>
                      </a:pPr>
                      <a:r>
                        <a:rPr lang="ko-KR" altLang="en-US" sz="1050" kern="1200">
                          <a:solidFill>
                            <a:schemeClr val="tx1"/>
                          </a:solidFill>
                        </a:rPr>
                        <a:t>특허발명전체</a:t>
                      </a:r>
                      <a:r>
                        <a:rPr lang="en-US" altLang="ko-KR" sz="1050" kern="1200">
                          <a:solidFill>
                            <a:schemeClr val="tx1"/>
                          </a:solidFill>
                        </a:rPr>
                        <a:t>(</a:t>
                      </a:r>
                      <a:r>
                        <a:rPr lang="ko-KR" altLang="en-US" sz="1050" kern="1200">
                          <a:solidFill>
                            <a:schemeClr val="tx1"/>
                          </a:solidFill>
                        </a:rPr>
                        <a:t>무제한설이 통설</a:t>
                      </a:r>
                      <a:r>
                        <a:rPr lang="en-US" altLang="ko-KR" sz="1050" kern="1200">
                          <a:solidFill>
                            <a:schemeClr val="tx1"/>
                          </a:solidFill>
                        </a:rPr>
                        <a:t>)</a:t>
                      </a:r>
                      <a:endParaRPr lang="ko-KR" altLang="en-US" sz="1050" kern="1200">
                        <a:solidFill>
                          <a:schemeClr val="tx1"/>
                        </a:solidFill>
                        <a:latin typeface="+mn-lt"/>
                        <a:ea typeface="+mn-ea"/>
                        <a:cs typeface="+mn-cs"/>
                      </a:endParaRPr>
                    </a:p>
                  </a:txBody>
                  <a:tcPr marL="10515" marR="10515" marT="10515" marB="10515" anchor="ctr"/>
                </a:tc>
                <a:tc vMerge="1">
                  <a:txBody>
                    <a:bodyPr/>
                    <a:lstStyle/>
                    <a:p>
                      <a:pPr latinLnBrk="1"/>
                      <a:endParaRPr lang="ko-KR" altLang="en-US"/>
                    </a:p>
                  </a:txBody>
                  <a:tcPr/>
                </a:tc>
                <a:extLst>
                  <a:ext uri="{0D108BD9-81ED-4DB2-BD59-A6C34878D82A}">
                    <a16:rowId xmlns:a16="http://schemas.microsoft.com/office/drawing/2014/main" val="10003"/>
                  </a:ext>
                </a:extLst>
              </a:tr>
              <a:tr h="1579918">
                <a:tc rowSpan="4">
                  <a:txBody>
                    <a:bodyPr/>
                    <a:lstStyle/>
                    <a:p>
                      <a:pPr marL="31750" marR="31750" indent="0" algn="ctr" defTabSz="914400" rtl="0" eaLnBrk="1" fontAlgn="base" latinLnBrk="1" hangingPunct="1">
                        <a:lnSpc>
                          <a:spcPct val="100000"/>
                        </a:lnSpc>
                        <a:spcBef>
                          <a:spcPts val="0"/>
                        </a:spcBef>
                        <a:spcAft>
                          <a:spcPts val="0"/>
                        </a:spcAft>
                      </a:pPr>
                      <a:r>
                        <a:rPr lang="ko-KR" altLang="en-US" sz="1050" kern="1200" dirty="0">
                          <a:solidFill>
                            <a:schemeClr val="tx1"/>
                          </a:solidFill>
                        </a:rPr>
                        <a:t>일반적인 경우</a:t>
                      </a:r>
                    </a:p>
                    <a:p>
                      <a:pPr marL="31750" marR="31750" indent="0" algn="ctr" defTabSz="914400" rtl="0" eaLnBrk="1" fontAlgn="base" latinLnBrk="1" hangingPunct="1">
                        <a:lnSpc>
                          <a:spcPct val="100000"/>
                        </a:lnSpc>
                        <a:spcBef>
                          <a:spcPts val="0"/>
                        </a:spcBef>
                        <a:spcAft>
                          <a:spcPts val="0"/>
                        </a:spcAft>
                      </a:pPr>
                      <a:r>
                        <a:rPr lang="en-US" altLang="ko-KR" sz="1050" kern="1200" dirty="0">
                          <a:solidFill>
                            <a:schemeClr val="tx1"/>
                          </a:solidFill>
                        </a:rPr>
                        <a:t>(</a:t>
                      </a:r>
                      <a:r>
                        <a:rPr lang="ko-KR" altLang="en-US" sz="1050" kern="1200" dirty="0">
                          <a:solidFill>
                            <a:schemeClr val="tx1"/>
                          </a:solidFill>
                        </a:rPr>
                        <a:t>규칙○</a:t>
                      </a:r>
                      <a:r>
                        <a:rPr lang="en-US" altLang="ko-KR" sz="1050" kern="1200" dirty="0">
                          <a:solidFill>
                            <a:schemeClr val="tx1"/>
                          </a:solidFill>
                        </a:rPr>
                        <a:t>)</a:t>
                      </a:r>
                      <a:endParaRPr lang="ko-KR" altLang="en-US" sz="1050" kern="1200" dirty="0">
                        <a:solidFill>
                          <a:schemeClr val="tx1"/>
                        </a:solidFill>
                        <a:latin typeface="+mn-lt"/>
                        <a:ea typeface="+mn-ea"/>
                        <a:cs typeface="+mn-cs"/>
                      </a:endParaRPr>
                    </a:p>
                  </a:txBody>
                  <a:tcPr marL="10515" marR="10515" marT="10515" marB="10515" anchor="ctr"/>
                </a:tc>
                <a:tc>
                  <a:txBody>
                    <a:bodyPr/>
                    <a:lstStyle/>
                    <a:p>
                      <a:pPr marL="31750" marR="31750" indent="0" algn="ctr" defTabSz="914400" rtl="0" eaLnBrk="1" fontAlgn="base" latinLnBrk="1" hangingPunct="1">
                        <a:lnSpc>
                          <a:spcPct val="100000"/>
                        </a:lnSpc>
                        <a:spcBef>
                          <a:spcPts val="0"/>
                        </a:spcBef>
                        <a:spcAft>
                          <a:spcPts val="0"/>
                        </a:spcAft>
                      </a:pPr>
                      <a:r>
                        <a:rPr lang="ko-KR" altLang="en-US" sz="1050" kern="1200" dirty="0">
                          <a:solidFill>
                            <a:schemeClr val="tx1"/>
                          </a:solidFill>
                        </a:rPr>
                        <a:t>시기적</a:t>
                      </a:r>
                      <a:endParaRPr lang="ko-KR" altLang="en-US" sz="1050" kern="1200" dirty="0">
                        <a:solidFill>
                          <a:schemeClr val="tx1"/>
                        </a:solidFill>
                        <a:latin typeface="+mn-lt"/>
                        <a:ea typeface="+mn-ea"/>
                        <a:cs typeface="+mn-cs"/>
                      </a:endParaRPr>
                    </a:p>
                  </a:txBody>
                  <a:tcPr marL="10515" marR="10515" marT="10515" marB="10515" anchor="ctr"/>
                </a:tc>
                <a:tc>
                  <a:txBody>
                    <a:bodyPr/>
                    <a:lstStyle/>
                    <a:p>
                      <a:pPr marL="31750" marR="31750" indent="0" algn="l" defTabSz="914400" rtl="0" eaLnBrk="1" fontAlgn="base" latinLnBrk="1" hangingPunct="1">
                        <a:lnSpc>
                          <a:spcPct val="100000"/>
                        </a:lnSpc>
                        <a:spcBef>
                          <a:spcPts val="0"/>
                        </a:spcBef>
                        <a:spcAft>
                          <a:spcPts val="0"/>
                        </a:spcAft>
                      </a:pPr>
                      <a:r>
                        <a:rPr lang="en-US" altLang="ko-KR" sz="1050" kern="1200" dirty="0">
                          <a:solidFill>
                            <a:sysClr val="windowText" lastClr="000000"/>
                          </a:solidFill>
                        </a:rPr>
                        <a:t>1. </a:t>
                      </a:r>
                      <a:r>
                        <a:rPr lang="ko-KR" altLang="en-US" sz="1050" kern="1200" dirty="0">
                          <a:solidFill>
                            <a:sysClr val="windowText" lastClr="000000"/>
                          </a:solidFill>
                        </a:rPr>
                        <a:t>法 </a:t>
                      </a:r>
                      <a:r>
                        <a:rPr lang="en-US" altLang="ko-KR" sz="1050" kern="1200" dirty="0">
                          <a:solidFill>
                            <a:sysClr val="windowText" lastClr="000000"/>
                          </a:solidFill>
                        </a:rPr>
                        <a:t>81</a:t>
                      </a:r>
                      <a:r>
                        <a:rPr lang="ko-KR" altLang="en-US" sz="1050" kern="1200" dirty="0">
                          <a:solidFill>
                            <a:sysClr val="windowText" lastClr="000000"/>
                          </a:solidFill>
                        </a:rPr>
                        <a:t>의</a:t>
                      </a:r>
                      <a:r>
                        <a:rPr lang="en-US" altLang="ko-KR" sz="1050" kern="1200" dirty="0">
                          <a:solidFill>
                            <a:sysClr val="windowText" lastClr="000000"/>
                          </a:solidFill>
                        </a:rPr>
                        <a:t>3</a:t>
                      </a:r>
                      <a:r>
                        <a:rPr lang="ko-KR" altLang="en-US" sz="1050" kern="1200" dirty="0">
                          <a:solidFill>
                            <a:sysClr val="windowText" lastClr="000000"/>
                          </a:solidFill>
                        </a:rPr>
                        <a:t>⑤ → </a:t>
                      </a:r>
                      <a:r>
                        <a:rPr lang="ko-KR" altLang="en-US" sz="1050" kern="1200" dirty="0" err="1">
                          <a:solidFill>
                            <a:sysClr val="windowText" lastClr="000000"/>
                          </a:solidFill>
                        </a:rPr>
                        <a:t>효력제한기간중</a:t>
                      </a:r>
                      <a:r>
                        <a:rPr lang="en-US" altLang="ko-KR" sz="1050" kern="1200" dirty="0">
                          <a:solidFill>
                            <a:sysClr val="windowText" lastClr="000000"/>
                          </a:solidFill>
                        </a:rPr>
                        <a:t>(</a:t>
                      </a:r>
                      <a:r>
                        <a:rPr lang="ko-KR" altLang="en-US" sz="1050" kern="1200" dirty="0">
                          <a:solidFill>
                            <a:sysClr val="windowText" lastClr="000000"/>
                          </a:solidFill>
                        </a:rPr>
                        <a:t>추가납부기간 또는 보전기간이 지난 날로부터 납부하거나 보전한 날</a:t>
                      </a:r>
                      <a:r>
                        <a:rPr lang="en-US" altLang="ko-KR" sz="1050" kern="1200" dirty="0">
                          <a:solidFill>
                            <a:sysClr val="windowText" lastClr="000000"/>
                          </a:solidFill>
                        </a:rPr>
                        <a:t>)</a:t>
                      </a:r>
                      <a:endParaRPr lang="ko-KR" altLang="en-US" sz="1050" kern="1200" dirty="0">
                        <a:solidFill>
                          <a:sysClr val="windowText" lastClr="000000"/>
                        </a:solidFill>
                      </a:endParaRPr>
                    </a:p>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2. </a:t>
                      </a:r>
                      <a:r>
                        <a:rPr lang="ko-KR" altLang="en-US" sz="1050" kern="1200" dirty="0">
                          <a:solidFill>
                            <a:schemeClr val="tx1"/>
                          </a:solidFill>
                        </a:rPr>
                        <a:t>法 </a:t>
                      </a:r>
                      <a:r>
                        <a:rPr lang="en-US" altLang="ko-KR" sz="1050" kern="1200" dirty="0">
                          <a:solidFill>
                            <a:schemeClr val="tx1"/>
                          </a:solidFill>
                        </a:rPr>
                        <a:t>103</a:t>
                      </a:r>
                      <a:r>
                        <a:rPr lang="ko-KR" altLang="en-US" sz="1050" kern="1200" dirty="0">
                          <a:solidFill>
                            <a:schemeClr val="tx1"/>
                          </a:solidFill>
                        </a:rPr>
                        <a:t> → 특허출원 시</a:t>
                      </a:r>
                    </a:p>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3. </a:t>
                      </a:r>
                      <a:r>
                        <a:rPr lang="ko-KR" altLang="en-US" sz="1050" kern="1200" dirty="0">
                          <a:solidFill>
                            <a:schemeClr val="tx1"/>
                          </a:solidFill>
                        </a:rPr>
                        <a:t>法 </a:t>
                      </a:r>
                      <a:r>
                        <a:rPr lang="en-US" altLang="ko-KR" sz="1050" kern="1200" dirty="0">
                          <a:solidFill>
                            <a:schemeClr val="tx1"/>
                          </a:solidFill>
                        </a:rPr>
                        <a:t>103</a:t>
                      </a:r>
                      <a:r>
                        <a:rPr lang="ko-KR" altLang="en-US" sz="1050" kern="1200" dirty="0">
                          <a:solidFill>
                            <a:schemeClr val="tx1"/>
                          </a:solidFill>
                        </a:rPr>
                        <a:t>의</a:t>
                      </a:r>
                      <a:r>
                        <a:rPr lang="en-US" altLang="ko-KR" sz="1050" kern="1200" dirty="0">
                          <a:solidFill>
                            <a:schemeClr val="tx1"/>
                          </a:solidFill>
                        </a:rPr>
                        <a:t>2 </a:t>
                      </a:r>
                      <a:r>
                        <a:rPr lang="ko-KR" altLang="en-US" sz="1050" kern="1200" dirty="0">
                          <a:solidFill>
                            <a:schemeClr val="tx1"/>
                          </a:solidFill>
                        </a:rPr>
                        <a:t>→ 특허권의 이전등록이 있기 전</a:t>
                      </a:r>
                    </a:p>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4. </a:t>
                      </a:r>
                      <a:r>
                        <a:rPr lang="ko-KR" altLang="en-US" sz="1050" kern="1200" dirty="0">
                          <a:solidFill>
                            <a:schemeClr val="tx1"/>
                          </a:solidFill>
                        </a:rPr>
                        <a:t>法 </a:t>
                      </a:r>
                      <a:r>
                        <a:rPr lang="en-US" altLang="ko-KR" sz="1050" kern="1200" dirty="0">
                          <a:solidFill>
                            <a:schemeClr val="tx1"/>
                          </a:solidFill>
                        </a:rPr>
                        <a:t>104</a:t>
                      </a:r>
                      <a:r>
                        <a:rPr lang="ko-KR" altLang="en-US" sz="1050" kern="1200" dirty="0">
                          <a:solidFill>
                            <a:schemeClr val="tx1"/>
                          </a:solidFill>
                        </a:rPr>
                        <a:t> → 무효심판청구의 </a:t>
                      </a:r>
                      <a:r>
                        <a:rPr lang="ko-KR" altLang="en-US" sz="1050" kern="1200" dirty="0" err="1">
                          <a:solidFill>
                            <a:schemeClr val="tx1"/>
                          </a:solidFill>
                        </a:rPr>
                        <a:t>등록전에</a:t>
                      </a:r>
                      <a:endParaRPr lang="ko-KR" altLang="en-US" sz="1050" kern="1200" dirty="0">
                        <a:solidFill>
                          <a:schemeClr val="tx1"/>
                        </a:solidFill>
                      </a:endParaRPr>
                    </a:p>
                    <a:p>
                      <a:pPr marL="180975" marR="31750" indent="-149225" algn="l" defTabSz="914400" rtl="0" eaLnBrk="1" fontAlgn="base" latinLnBrk="1" hangingPunct="1">
                        <a:lnSpc>
                          <a:spcPct val="100000"/>
                        </a:lnSpc>
                        <a:spcBef>
                          <a:spcPts val="0"/>
                        </a:spcBef>
                        <a:spcAft>
                          <a:spcPts val="0"/>
                        </a:spcAft>
                      </a:pPr>
                      <a:r>
                        <a:rPr lang="en-US" altLang="ko-KR" sz="1050" kern="1200" dirty="0">
                          <a:solidFill>
                            <a:schemeClr val="tx1"/>
                          </a:solidFill>
                        </a:rPr>
                        <a:t>5. </a:t>
                      </a:r>
                      <a:r>
                        <a:rPr lang="ko-KR" altLang="en-US" sz="1050" kern="1200" dirty="0">
                          <a:solidFill>
                            <a:schemeClr val="tx1"/>
                          </a:solidFill>
                        </a:rPr>
                        <a:t>法 </a:t>
                      </a:r>
                      <a:r>
                        <a:rPr lang="en-US" altLang="ko-KR" sz="1050" kern="1200" dirty="0">
                          <a:solidFill>
                            <a:schemeClr val="tx1"/>
                          </a:solidFill>
                        </a:rPr>
                        <a:t>182</a:t>
                      </a:r>
                      <a:r>
                        <a:rPr lang="ko-KR" altLang="en-US" sz="1050" kern="1200" dirty="0">
                          <a:solidFill>
                            <a:schemeClr val="tx1"/>
                          </a:solidFill>
                        </a:rPr>
                        <a:t> → ① 무효가 된 특허권이 재심에 의하여 회복된 경우</a:t>
                      </a:r>
                      <a:r>
                        <a:rPr lang="en-US" altLang="ko-KR" sz="1050" kern="1200" dirty="0">
                          <a:solidFill>
                            <a:schemeClr val="tx1"/>
                          </a:solidFill>
                        </a:rPr>
                        <a:t>, </a:t>
                      </a:r>
                      <a:r>
                        <a:rPr lang="ko-KR" altLang="en-US" sz="1050" kern="1200" dirty="0">
                          <a:solidFill>
                            <a:schemeClr val="tx1"/>
                          </a:solidFill>
                        </a:rPr>
                        <a:t>② 특허권의 권리범위에 속하지 아니한다는 </a:t>
                      </a:r>
                      <a:r>
                        <a:rPr lang="ko-KR" altLang="en-US" sz="1050" kern="1200" dirty="0" err="1">
                          <a:solidFill>
                            <a:schemeClr val="tx1"/>
                          </a:solidFill>
                        </a:rPr>
                        <a:t>심결이</a:t>
                      </a:r>
                      <a:r>
                        <a:rPr lang="ko-KR" altLang="en-US" sz="1050" kern="1200" dirty="0">
                          <a:solidFill>
                            <a:schemeClr val="tx1"/>
                          </a:solidFill>
                        </a:rPr>
                        <a:t> 확정된 후 재심에 의하여 그 </a:t>
                      </a:r>
                      <a:r>
                        <a:rPr lang="ko-KR" altLang="en-US" sz="1050" kern="1200" dirty="0" err="1">
                          <a:solidFill>
                            <a:schemeClr val="tx1"/>
                          </a:solidFill>
                        </a:rPr>
                        <a:t>심결과</a:t>
                      </a:r>
                      <a:r>
                        <a:rPr lang="ko-KR" altLang="en-US" sz="1050" kern="1200" dirty="0">
                          <a:solidFill>
                            <a:schemeClr val="tx1"/>
                          </a:solidFill>
                        </a:rPr>
                        <a:t> 상반되는 </a:t>
                      </a:r>
                      <a:r>
                        <a:rPr lang="ko-KR" altLang="en-US" sz="1050" kern="1200" dirty="0" err="1">
                          <a:solidFill>
                            <a:schemeClr val="tx1"/>
                          </a:solidFill>
                        </a:rPr>
                        <a:t>심결이</a:t>
                      </a:r>
                      <a:r>
                        <a:rPr lang="ko-KR" altLang="en-US" sz="1050" kern="1200" dirty="0">
                          <a:solidFill>
                            <a:schemeClr val="tx1"/>
                          </a:solidFill>
                        </a:rPr>
                        <a:t> 확정된 경우 및 ③ 거절한다는 취지의 </a:t>
                      </a:r>
                      <a:r>
                        <a:rPr lang="ko-KR" altLang="en-US" sz="1050" kern="1200" dirty="0" err="1">
                          <a:solidFill>
                            <a:schemeClr val="tx1"/>
                          </a:solidFill>
                        </a:rPr>
                        <a:t>심결이</a:t>
                      </a:r>
                      <a:r>
                        <a:rPr lang="ko-KR" altLang="en-US" sz="1050" kern="1200" dirty="0">
                          <a:solidFill>
                            <a:schemeClr val="tx1"/>
                          </a:solidFill>
                        </a:rPr>
                        <a:t> 있었던 특허출원 또는 특허권의 존속기간의 연장등록출원이 재심에 의하여 특허권의 설정등록 또는 특허권의 존속기간의 연장등록이 된 경우</a:t>
                      </a:r>
                      <a:r>
                        <a:rPr lang="en-US" altLang="ko-KR" sz="1050" kern="1200" dirty="0">
                          <a:solidFill>
                            <a:schemeClr val="tx1"/>
                          </a:solidFill>
                        </a:rPr>
                        <a:t>,</a:t>
                      </a:r>
                      <a:r>
                        <a:rPr lang="ko-KR" altLang="en-US" sz="1050" kern="1200" dirty="0">
                          <a:solidFill>
                            <a:schemeClr val="tx1"/>
                          </a:solidFill>
                        </a:rPr>
                        <a:t> </a:t>
                      </a:r>
                      <a:r>
                        <a:rPr kumimoji="1" lang="ko-KR" altLang="ko-KR" sz="1050" b="0" i="0" u="none" strike="noStrike" cap="none" normalizeH="0" baseline="0" dirty="0">
                          <a:ln>
                            <a:noFill/>
                          </a:ln>
                          <a:solidFill>
                            <a:schemeClr val="tx1"/>
                          </a:solidFill>
                          <a:effectLst/>
                          <a:latin typeface="+mn-ea"/>
                          <a:cs typeface="굴림" pitchFamily="50" charset="-127"/>
                        </a:rPr>
                        <a:t>④</a:t>
                      </a:r>
                      <a:r>
                        <a:rPr kumimoji="1" lang="en-US" altLang="ko-KR" sz="1050" b="0" i="0" u="none" strike="noStrike" cap="none" normalizeH="0" baseline="0" dirty="0">
                          <a:ln>
                            <a:noFill/>
                          </a:ln>
                          <a:solidFill>
                            <a:schemeClr val="tx1"/>
                          </a:solidFill>
                          <a:effectLst/>
                          <a:latin typeface="+mn-ea"/>
                          <a:cs typeface="굴림" pitchFamily="50" charset="-127"/>
                        </a:rPr>
                        <a:t> </a:t>
                      </a:r>
                      <a:r>
                        <a:rPr kumimoji="1" lang="ko-KR" altLang="en-US" sz="1050" b="0" i="0" u="none" strike="noStrike" cap="none" normalizeH="0" baseline="0" dirty="0">
                          <a:ln>
                            <a:noFill/>
                          </a:ln>
                          <a:solidFill>
                            <a:schemeClr val="tx1"/>
                          </a:solidFill>
                          <a:effectLst/>
                          <a:latin typeface="+mn-ea"/>
                          <a:cs typeface="굴림" pitchFamily="50" charset="-127"/>
                        </a:rPr>
                        <a:t>취소가 된 특허권이 재심에 의하여 회복된 경우</a:t>
                      </a:r>
                      <a:r>
                        <a:rPr lang="ko-KR" altLang="en-US" sz="1050" kern="1200" dirty="0">
                          <a:solidFill>
                            <a:schemeClr val="tx1"/>
                          </a:solidFill>
                        </a:rPr>
                        <a:t> 중 어느 하나에 해당하는 경우 결정</a:t>
                      </a:r>
                      <a:r>
                        <a:rPr lang="en-US" altLang="ko-KR" sz="1050" kern="1200" dirty="0">
                          <a:solidFill>
                            <a:schemeClr val="tx1"/>
                          </a:solidFill>
                        </a:rPr>
                        <a:t>/</a:t>
                      </a:r>
                      <a:r>
                        <a:rPr lang="ko-KR" altLang="en-US" sz="1050" kern="1200" dirty="0" err="1">
                          <a:solidFill>
                            <a:schemeClr val="tx1"/>
                          </a:solidFill>
                        </a:rPr>
                        <a:t>심결확정후</a:t>
                      </a:r>
                      <a:r>
                        <a:rPr lang="ko-KR" altLang="en-US" sz="1050" kern="1200" dirty="0">
                          <a:solidFill>
                            <a:schemeClr val="tx1"/>
                          </a:solidFill>
                        </a:rPr>
                        <a:t> 재심청구등록전</a:t>
                      </a:r>
                    </a:p>
                    <a:p>
                      <a:pPr marL="180975" marR="31750" indent="-149225" algn="l" defTabSz="914400" rtl="0" eaLnBrk="1" fontAlgn="base" latinLnBrk="1" hangingPunct="1">
                        <a:lnSpc>
                          <a:spcPct val="100000"/>
                        </a:lnSpc>
                        <a:spcBef>
                          <a:spcPts val="0"/>
                        </a:spcBef>
                        <a:spcAft>
                          <a:spcPts val="0"/>
                        </a:spcAft>
                      </a:pPr>
                      <a:r>
                        <a:rPr lang="en-US" altLang="ko-KR" sz="1050" kern="1200" dirty="0">
                          <a:solidFill>
                            <a:schemeClr val="tx1"/>
                          </a:solidFill>
                        </a:rPr>
                        <a:t>6. </a:t>
                      </a:r>
                      <a:r>
                        <a:rPr lang="ko-KR" altLang="en-US" sz="1050" kern="1200" dirty="0">
                          <a:solidFill>
                            <a:schemeClr val="tx1"/>
                          </a:solidFill>
                        </a:rPr>
                        <a:t>法 </a:t>
                      </a:r>
                      <a:r>
                        <a:rPr lang="en-US" altLang="ko-KR" sz="1050" kern="1200" dirty="0">
                          <a:solidFill>
                            <a:schemeClr val="tx1"/>
                          </a:solidFill>
                        </a:rPr>
                        <a:t>183</a:t>
                      </a:r>
                      <a:r>
                        <a:rPr lang="ko-KR" altLang="en-US" sz="1050" kern="1200" dirty="0">
                          <a:solidFill>
                            <a:schemeClr val="tx1"/>
                          </a:solidFill>
                        </a:rPr>
                        <a:t> → </a:t>
                      </a:r>
                      <a:r>
                        <a:rPr lang="ko-KR" altLang="en-US" sz="1050" kern="1200" dirty="0" err="1">
                          <a:solidFill>
                            <a:schemeClr val="tx1"/>
                          </a:solidFill>
                        </a:rPr>
                        <a:t>통상실시권을</a:t>
                      </a:r>
                      <a:r>
                        <a:rPr lang="ko-KR" altLang="en-US" sz="1050" kern="1200" dirty="0">
                          <a:solidFill>
                            <a:schemeClr val="tx1"/>
                          </a:solidFill>
                        </a:rPr>
                        <a:t> 허락한다는 </a:t>
                      </a:r>
                      <a:r>
                        <a:rPr lang="ko-KR" altLang="en-US" sz="1050" kern="1200" dirty="0" err="1">
                          <a:solidFill>
                            <a:schemeClr val="tx1"/>
                          </a:solidFill>
                        </a:rPr>
                        <a:t>심결이</a:t>
                      </a:r>
                      <a:r>
                        <a:rPr lang="ko-KR" altLang="en-US" sz="1050" kern="1200" dirty="0">
                          <a:solidFill>
                            <a:schemeClr val="tx1"/>
                          </a:solidFill>
                        </a:rPr>
                        <a:t> 확정된 후 재심에 의하여 이에 상반되는 </a:t>
                      </a:r>
                      <a:r>
                        <a:rPr lang="ko-KR" altLang="en-US" sz="1050" kern="1200" dirty="0" err="1">
                          <a:solidFill>
                            <a:schemeClr val="tx1"/>
                          </a:solidFill>
                        </a:rPr>
                        <a:t>심결의</a:t>
                      </a:r>
                      <a:r>
                        <a:rPr lang="ko-KR" altLang="en-US" sz="1050" kern="1200" dirty="0">
                          <a:solidFill>
                            <a:schemeClr val="tx1"/>
                          </a:solidFill>
                        </a:rPr>
                        <a:t> 확정이 있는 경우에 </a:t>
                      </a:r>
                      <a:r>
                        <a:rPr lang="ko-KR" altLang="en-US" sz="1050" kern="1200" dirty="0" err="1">
                          <a:solidFill>
                            <a:schemeClr val="tx1"/>
                          </a:solidFill>
                        </a:rPr>
                        <a:t>심결확정후</a:t>
                      </a:r>
                      <a:r>
                        <a:rPr lang="ko-KR" altLang="en-US" sz="1050" kern="1200" dirty="0">
                          <a:solidFill>
                            <a:schemeClr val="tx1"/>
                          </a:solidFill>
                        </a:rPr>
                        <a:t> </a:t>
                      </a:r>
                      <a:r>
                        <a:rPr lang="ko-KR" altLang="en-US" sz="1050" kern="1200" dirty="0" err="1">
                          <a:solidFill>
                            <a:schemeClr val="tx1"/>
                          </a:solidFill>
                        </a:rPr>
                        <a:t>재심청구등록전</a:t>
                      </a:r>
                      <a:endParaRPr lang="ko-KR" altLang="en-US" sz="1050" kern="1200" dirty="0">
                        <a:solidFill>
                          <a:schemeClr val="tx1"/>
                        </a:solidFill>
                        <a:latin typeface="+mn-lt"/>
                        <a:ea typeface="+mn-ea"/>
                        <a:cs typeface="+mn-cs"/>
                      </a:endParaRPr>
                    </a:p>
                  </a:txBody>
                  <a:tcPr marL="10515" marR="10515" marT="10515" marB="10515" anchor="ctr"/>
                </a:tc>
                <a:tc rowSpan="4">
                  <a:txBody>
                    <a:bodyPr/>
                    <a:lstStyle/>
                    <a:p>
                      <a:pPr marL="135890" marR="31750" indent="-135890" algn="l" fontAlgn="base" latinLnBrk="1">
                        <a:lnSpc>
                          <a:spcPct val="100000"/>
                        </a:lnSpc>
                        <a:spcBef>
                          <a:spcPts val="0"/>
                        </a:spcBef>
                        <a:spcAft>
                          <a:spcPts val="0"/>
                        </a:spcAft>
                      </a:pPr>
                      <a:r>
                        <a:rPr lang="en-US" altLang="ko-KR" sz="1050" kern="1200" dirty="0">
                          <a:solidFill>
                            <a:schemeClr val="tx1"/>
                          </a:solidFill>
                        </a:rPr>
                        <a:t>1. </a:t>
                      </a:r>
                      <a:r>
                        <a:rPr lang="ko-KR" altLang="en-US" sz="1050" kern="1200" dirty="0">
                          <a:solidFill>
                            <a:schemeClr val="tx1"/>
                          </a:solidFill>
                        </a:rPr>
                        <a:t>法 </a:t>
                      </a:r>
                      <a:r>
                        <a:rPr lang="en-US" altLang="ko-KR" sz="1050" kern="1200" dirty="0">
                          <a:solidFill>
                            <a:schemeClr val="tx1"/>
                          </a:solidFill>
                        </a:rPr>
                        <a:t>81</a:t>
                      </a:r>
                      <a:r>
                        <a:rPr lang="ko-KR" altLang="en-US" sz="1050" kern="1200" dirty="0">
                          <a:solidFill>
                            <a:schemeClr val="tx1"/>
                          </a:solidFill>
                        </a:rPr>
                        <a:t>의</a:t>
                      </a:r>
                      <a:r>
                        <a:rPr lang="en-US" altLang="ko-KR" sz="1050" kern="1200" dirty="0">
                          <a:solidFill>
                            <a:schemeClr val="tx1"/>
                          </a:solidFill>
                        </a:rPr>
                        <a:t>3</a:t>
                      </a:r>
                      <a:r>
                        <a:rPr lang="ko-KR" altLang="en-US" sz="1050" kern="1200" dirty="0">
                          <a:solidFill>
                            <a:schemeClr val="tx1"/>
                          </a:solidFill>
                        </a:rPr>
                        <a:t>⑤</a:t>
                      </a:r>
                      <a:r>
                        <a:rPr lang="en-US" altLang="ko-KR" sz="1050" kern="1200" dirty="0">
                          <a:solidFill>
                            <a:schemeClr val="tx1"/>
                          </a:solidFill>
                        </a:rPr>
                        <a:t>, 103, 103</a:t>
                      </a:r>
                      <a:r>
                        <a:rPr lang="ko-KR" altLang="en-US" sz="1050" kern="1200" dirty="0">
                          <a:solidFill>
                            <a:schemeClr val="tx1"/>
                          </a:solidFill>
                        </a:rPr>
                        <a:t>의</a:t>
                      </a:r>
                      <a:r>
                        <a:rPr lang="en-US" altLang="ko-KR" sz="1050" kern="1200" dirty="0">
                          <a:solidFill>
                            <a:schemeClr val="tx1"/>
                          </a:solidFill>
                        </a:rPr>
                        <a:t>2, 104, 182</a:t>
                      </a:r>
                      <a:r>
                        <a:rPr lang="ko-KR" altLang="en-US" sz="1050" kern="1200" dirty="0">
                          <a:solidFill>
                            <a:schemeClr val="tx1"/>
                          </a:solidFill>
                        </a:rPr>
                        <a:t> → 실시 또는 준비를 하고 있는 발명 및 사업목적의 범위 </a:t>
                      </a:r>
                    </a:p>
                    <a:p>
                      <a:pPr marL="135890" marR="31750" indent="-135890" algn="l" fontAlgn="base" latinLnBrk="1">
                        <a:lnSpc>
                          <a:spcPct val="100000"/>
                        </a:lnSpc>
                        <a:spcBef>
                          <a:spcPts val="0"/>
                        </a:spcBef>
                        <a:spcAft>
                          <a:spcPts val="0"/>
                        </a:spcAft>
                      </a:pPr>
                      <a:r>
                        <a:rPr lang="en-US" altLang="ko-KR" sz="1050" kern="1200" dirty="0">
                          <a:solidFill>
                            <a:schemeClr val="tx1"/>
                          </a:solidFill>
                        </a:rPr>
                        <a:t>2. </a:t>
                      </a:r>
                      <a:r>
                        <a:rPr lang="ko-KR" altLang="en-US" sz="1050" kern="1200" dirty="0">
                          <a:solidFill>
                            <a:schemeClr val="tx1"/>
                          </a:solidFill>
                        </a:rPr>
                        <a:t>法 </a:t>
                      </a:r>
                      <a:r>
                        <a:rPr lang="en-US" altLang="ko-KR" sz="1050" kern="1200" dirty="0">
                          <a:solidFill>
                            <a:schemeClr val="tx1"/>
                          </a:solidFill>
                        </a:rPr>
                        <a:t>183</a:t>
                      </a:r>
                      <a:r>
                        <a:rPr lang="ko-KR" altLang="en-US" sz="1050" kern="1200" dirty="0">
                          <a:solidFill>
                            <a:schemeClr val="tx1"/>
                          </a:solidFill>
                        </a:rPr>
                        <a:t> → 원통상실시권의 사업목적 및 발명의 범위</a:t>
                      </a:r>
                      <a:endParaRPr lang="ko-KR" altLang="en-US" sz="1050" kern="1200" dirty="0">
                        <a:solidFill>
                          <a:schemeClr val="tx1"/>
                        </a:solidFill>
                        <a:latin typeface="+mn-lt"/>
                        <a:ea typeface="+mn-ea"/>
                        <a:cs typeface="+mn-cs"/>
                      </a:endParaRPr>
                    </a:p>
                  </a:txBody>
                  <a:tcPr marL="10515" marR="10515" marT="10515" marB="10515" anchor="ctr"/>
                </a:tc>
                <a:tc vMerge="1">
                  <a:txBody>
                    <a:bodyPr/>
                    <a:lstStyle/>
                    <a:p>
                      <a:pPr latinLnBrk="1"/>
                      <a:endParaRPr lang="ko-KR" altLang="en-US"/>
                    </a:p>
                  </a:txBody>
                  <a:tcPr/>
                </a:tc>
                <a:extLst>
                  <a:ext uri="{0D108BD9-81ED-4DB2-BD59-A6C34878D82A}">
                    <a16:rowId xmlns:a16="http://schemas.microsoft.com/office/drawing/2014/main" val="10004"/>
                  </a:ext>
                </a:extLst>
              </a:tr>
              <a:tr h="1579918">
                <a:tc vMerge="1">
                  <a:txBody>
                    <a:bodyPr/>
                    <a:lstStyle/>
                    <a:p>
                      <a:pPr latinLnBrk="1"/>
                      <a:endParaRPr lang="ko-KR" altLang="en-US"/>
                    </a:p>
                  </a:txBody>
                  <a:tcPr/>
                </a:tc>
                <a:tc>
                  <a:txBody>
                    <a:bodyPr/>
                    <a:lstStyle/>
                    <a:p>
                      <a:pPr marL="31750" marR="31750" indent="0" algn="ctr" defTabSz="914400" rtl="0" eaLnBrk="1" fontAlgn="base" latinLnBrk="1" hangingPunct="1">
                        <a:lnSpc>
                          <a:spcPct val="100000"/>
                        </a:lnSpc>
                        <a:spcBef>
                          <a:spcPts val="0"/>
                        </a:spcBef>
                        <a:spcAft>
                          <a:spcPts val="0"/>
                        </a:spcAft>
                      </a:pPr>
                      <a:r>
                        <a:rPr lang="ko-KR" altLang="en-US" sz="1050" kern="1200" dirty="0">
                          <a:solidFill>
                            <a:schemeClr val="tx1"/>
                          </a:solidFill>
                        </a:rPr>
                        <a:t>주체적</a:t>
                      </a:r>
                      <a:endParaRPr lang="ko-KR" altLang="en-US" sz="1050" kern="1200" dirty="0">
                        <a:solidFill>
                          <a:schemeClr val="tx1"/>
                        </a:solidFill>
                        <a:latin typeface="+mn-lt"/>
                        <a:ea typeface="+mn-ea"/>
                        <a:cs typeface="+mn-cs"/>
                      </a:endParaRPr>
                    </a:p>
                  </a:txBody>
                  <a:tcPr marL="10515" marR="10515" marT="10515" marB="10515" anchor="ctr"/>
                </a:tc>
                <a:tc>
                  <a:txBody>
                    <a:bodyPr/>
                    <a:lstStyle/>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1. </a:t>
                      </a:r>
                      <a:r>
                        <a:rPr lang="ko-KR" altLang="en-US" sz="1050" kern="1200" dirty="0">
                          <a:solidFill>
                            <a:schemeClr val="tx1"/>
                          </a:solidFill>
                        </a:rPr>
                        <a:t>선의일 것</a:t>
                      </a:r>
                    </a:p>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2. </a:t>
                      </a:r>
                      <a:r>
                        <a:rPr lang="ko-KR" altLang="en-US" sz="1050" kern="1200" dirty="0">
                          <a:solidFill>
                            <a:schemeClr val="tx1"/>
                          </a:solidFill>
                        </a:rPr>
                        <a:t>선의의 해석</a:t>
                      </a:r>
                    </a:p>
                    <a:p>
                      <a:pPr marL="31750" marR="31750" indent="0" algn="l" defTabSz="914400" rtl="0" eaLnBrk="1" fontAlgn="base" latinLnBrk="1" hangingPunct="1">
                        <a:lnSpc>
                          <a:spcPct val="100000"/>
                        </a:lnSpc>
                        <a:spcBef>
                          <a:spcPts val="0"/>
                        </a:spcBef>
                        <a:spcAft>
                          <a:spcPts val="0"/>
                        </a:spcAft>
                      </a:pPr>
                      <a:r>
                        <a:rPr lang="ko-KR" altLang="en-US" sz="1050" kern="1200" dirty="0">
                          <a:solidFill>
                            <a:schemeClr val="tx1"/>
                          </a:solidFill>
                        </a:rPr>
                        <a:t>① 法 </a:t>
                      </a:r>
                      <a:r>
                        <a:rPr lang="en-US" altLang="ko-KR" sz="1050" kern="1200" dirty="0">
                          <a:solidFill>
                            <a:schemeClr val="tx1"/>
                          </a:solidFill>
                        </a:rPr>
                        <a:t>103</a:t>
                      </a:r>
                      <a:r>
                        <a:rPr lang="ko-KR" altLang="en-US" sz="1050" kern="1200" dirty="0">
                          <a:solidFill>
                            <a:schemeClr val="tx1"/>
                          </a:solidFill>
                        </a:rPr>
                        <a:t> → 그 </a:t>
                      </a:r>
                      <a:r>
                        <a:rPr lang="ko-KR" altLang="en-US" sz="1050" kern="1200" dirty="0" err="1">
                          <a:solidFill>
                            <a:schemeClr val="tx1"/>
                          </a:solidFill>
                        </a:rPr>
                        <a:t>특허출원된</a:t>
                      </a:r>
                      <a:r>
                        <a:rPr lang="ko-KR" altLang="en-US" sz="1050" kern="1200" dirty="0">
                          <a:solidFill>
                            <a:schemeClr val="tx1"/>
                          </a:solidFill>
                        </a:rPr>
                        <a:t> 발명의 내용의 알지 못하고 그 발명을 하거나 그 발명을 한 사람으로부터 알게 된 자</a:t>
                      </a:r>
                    </a:p>
                    <a:p>
                      <a:pPr marL="31750" marR="31750" indent="0" algn="l" defTabSz="914400" rtl="0" eaLnBrk="1" fontAlgn="base" latinLnBrk="1" hangingPunct="1">
                        <a:lnSpc>
                          <a:spcPct val="100000"/>
                        </a:lnSpc>
                        <a:spcBef>
                          <a:spcPts val="0"/>
                        </a:spcBef>
                        <a:spcAft>
                          <a:spcPts val="0"/>
                        </a:spcAft>
                      </a:pPr>
                      <a:r>
                        <a:rPr lang="ko-KR" altLang="en-US" sz="1050" kern="1200" dirty="0">
                          <a:solidFill>
                            <a:schemeClr val="tx1"/>
                          </a:solidFill>
                        </a:rPr>
                        <a:t>② 法 </a:t>
                      </a:r>
                      <a:r>
                        <a:rPr lang="en-US" altLang="ko-KR" sz="1050" kern="1200" dirty="0">
                          <a:solidFill>
                            <a:schemeClr val="tx1"/>
                          </a:solidFill>
                        </a:rPr>
                        <a:t>103</a:t>
                      </a:r>
                      <a:r>
                        <a:rPr lang="ko-KR" altLang="en-US" sz="1050" kern="1200" dirty="0">
                          <a:solidFill>
                            <a:schemeClr val="tx1"/>
                          </a:solidFill>
                        </a:rPr>
                        <a:t>의</a:t>
                      </a:r>
                      <a:r>
                        <a:rPr lang="en-US" altLang="ko-KR" sz="1050" kern="1200" dirty="0">
                          <a:solidFill>
                            <a:schemeClr val="tx1"/>
                          </a:solidFill>
                        </a:rPr>
                        <a:t>2 </a:t>
                      </a:r>
                      <a:endParaRPr lang="ko-KR" altLang="en-US" sz="1050" kern="1200" dirty="0">
                        <a:solidFill>
                          <a:schemeClr val="tx1"/>
                        </a:solidFill>
                      </a:endParaRPr>
                    </a:p>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   - </a:t>
                      </a:r>
                      <a:r>
                        <a:rPr lang="ko-KR" altLang="en-US" sz="1050" kern="1200" dirty="0">
                          <a:solidFill>
                            <a:schemeClr val="tx1"/>
                          </a:solidFill>
                        </a:rPr>
                        <a:t>무효사유에 해당하는 것을 알지 못하고</a:t>
                      </a:r>
                    </a:p>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   - </a:t>
                      </a:r>
                      <a:r>
                        <a:rPr lang="ko-KR" altLang="en-US" sz="1050" kern="1200" dirty="0">
                          <a:solidFill>
                            <a:schemeClr val="tx1"/>
                          </a:solidFill>
                        </a:rPr>
                        <a:t>취득할 수 있는 자</a:t>
                      </a:r>
                      <a:r>
                        <a:rPr lang="en-US" altLang="ko-KR" sz="1050" kern="1200" dirty="0">
                          <a:solidFill>
                            <a:schemeClr val="tx1"/>
                          </a:solidFill>
                        </a:rPr>
                        <a:t>(</a:t>
                      </a:r>
                      <a:r>
                        <a:rPr lang="ko-KR" altLang="en-US" sz="1050" kern="1200" dirty="0">
                          <a:solidFill>
                            <a:schemeClr val="tx1"/>
                          </a:solidFill>
                        </a:rPr>
                        <a:t>法 </a:t>
                      </a:r>
                      <a:r>
                        <a:rPr lang="en-US" altLang="ko-KR" sz="1050" kern="1200" dirty="0">
                          <a:solidFill>
                            <a:schemeClr val="tx1"/>
                          </a:solidFill>
                        </a:rPr>
                        <a:t>103</a:t>
                      </a:r>
                      <a:r>
                        <a:rPr lang="ko-KR" altLang="en-US" sz="1050" kern="1200" dirty="0">
                          <a:solidFill>
                            <a:schemeClr val="tx1"/>
                          </a:solidFill>
                        </a:rPr>
                        <a:t>의</a:t>
                      </a:r>
                      <a:r>
                        <a:rPr lang="en-US" altLang="ko-KR" sz="1050" kern="1200" dirty="0">
                          <a:solidFill>
                            <a:schemeClr val="tx1"/>
                          </a:solidFill>
                        </a:rPr>
                        <a:t>2</a:t>
                      </a:r>
                      <a:r>
                        <a:rPr lang="ko-KR" altLang="en-US" sz="1050" kern="1200" dirty="0">
                          <a:solidFill>
                            <a:schemeClr val="tx1"/>
                          </a:solidFill>
                        </a:rPr>
                        <a:t>①각호</a:t>
                      </a:r>
                      <a:r>
                        <a:rPr lang="en-US" altLang="ko-KR" sz="1050" kern="1200" dirty="0">
                          <a:solidFill>
                            <a:schemeClr val="tx1"/>
                          </a:solidFill>
                        </a:rPr>
                        <a:t>)</a:t>
                      </a:r>
                      <a:r>
                        <a:rPr lang="ko-KR" altLang="en-US" sz="1050" kern="1200" dirty="0">
                          <a:solidFill>
                            <a:schemeClr val="tx1"/>
                          </a:solidFill>
                        </a:rPr>
                        <a:t>에 해당</a:t>
                      </a:r>
                    </a:p>
                    <a:p>
                      <a:pPr marL="31750" marR="31750" indent="0" algn="l" defTabSz="914400" rtl="0" eaLnBrk="1" fontAlgn="base" latinLnBrk="1" hangingPunct="1">
                        <a:lnSpc>
                          <a:spcPct val="100000"/>
                        </a:lnSpc>
                        <a:spcBef>
                          <a:spcPts val="0"/>
                        </a:spcBef>
                        <a:spcAft>
                          <a:spcPts val="0"/>
                        </a:spcAft>
                      </a:pPr>
                      <a:r>
                        <a:rPr lang="ko-KR" altLang="en-US" sz="1050" kern="1200" dirty="0">
                          <a:solidFill>
                            <a:schemeClr val="tx1"/>
                          </a:solidFill>
                        </a:rPr>
                        <a:t>③ 法 </a:t>
                      </a:r>
                      <a:r>
                        <a:rPr lang="en-US" altLang="ko-KR" sz="1050" kern="1200" dirty="0">
                          <a:solidFill>
                            <a:schemeClr val="tx1"/>
                          </a:solidFill>
                        </a:rPr>
                        <a:t>104</a:t>
                      </a:r>
                      <a:r>
                        <a:rPr lang="ko-KR" altLang="en-US" sz="1050" kern="1200" dirty="0">
                          <a:solidFill>
                            <a:schemeClr val="tx1"/>
                          </a:solidFill>
                        </a:rPr>
                        <a:t> </a:t>
                      </a:r>
                    </a:p>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   - </a:t>
                      </a:r>
                      <a:r>
                        <a:rPr lang="ko-KR" altLang="en-US" sz="1050" kern="1200" dirty="0">
                          <a:solidFill>
                            <a:schemeClr val="tx1"/>
                          </a:solidFill>
                        </a:rPr>
                        <a:t>무효사유에 해당되는 것을 알지 못하고</a:t>
                      </a:r>
                    </a:p>
                    <a:p>
                      <a:pPr marL="31750" marR="31750" indent="0" algn="l" defTabSz="914400" rtl="0" eaLnBrk="1" fontAlgn="base" latinLnBrk="1" hangingPunct="1">
                        <a:lnSpc>
                          <a:spcPct val="100000"/>
                        </a:lnSpc>
                        <a:spcBef>
                          <a:spcPts val="0"/>
                        </a:spcBef>
                        <a:spcAft>
                          <a:spcPts val="0"/>
                        </a:spcAft>
                      </a:pPr>
                      <a:r>
                        <a:rPr lang="en-US" altLang="ko-KR" sz="1050" kern="1200" dirty="0">
                          <a:solidFill>
                            <a:schemeClr val="tx1"/>
                          </a:solidFill>
                        </a:rPr>
                        <a:t>   - </a:t>
                      </a:r>
                      <a:r>
                        <a:rPr lang="ko-KR" altLang="en-US" sz="1050" kern="1200" dirty="0">
                          <a:solidFill>
                            <a:schemeClr val="tx1"/>
                          </a:solidFill>
                        </a:rPr>
                        <a:t>취득할 수 있는 자</a:t>
                      </a:r>
                      <a:r>
                        <a:rPr lang="en-US" altLang="ko-KR" sz="1050" kern="1200" dirty="0">
                          <a:solidFill>
                            <a:schemeClr val="tx1"/>
                          </a:solidFill>
                        </a:rPr>
                        <a:t>(</a:t>
                      </a:r>
                      <a:r>
                        <a:rPr lang="ko-KR" altLang="en-US" sz="1050" kern="1200" dirty="0">
                          <a:solidFill>
                            <a:schemeClr val="tx1"/>
                          </a:solidFill>
                        </a:rPr>
                        <a:t>法</a:t>
                      </a:r>
                      <a:r>
                        <a:rPr lang="en-US" altLang="ko-KR" sz="1050" kern="1200" dirty="0">
                          <a:solidFill>
                            <a:schemeClr val="tx1"/>
                          </a:solidFill>
                        </a:rPr>
                        <a:t>104</a:t>
                      </a:r>
                      <a:r>
                        <a:rPr lang="ko-KR" altLang="en-US" sz="1050" kern="1200" dirty="0">
                          <a:solidFill>
                            <a:schemeClr val="tx1"/>
                          </a:solidFill>
                        </a:rPr>
                        <a:t>①각호</a:t>
                      </a:r>
                      <a:r>
                        <a:rPr lang="en-US" altLang="ko-KR" sz="1050" kern="1200" dirty="0">
                          <a:solidFill>
                            <a:schemeClr val="tx1"/>
                          </a:solidFill>
                        </a:rPr>
                        <a:t>)</a:t>
                      </a:r>
                      <a:r>
                        <a:rPr lang="ko-KR" altLang="en-US" sz="1050" kern="1200" dirty="0">
                          <a:solidFill>
                            <a:schemeClr val="tx1"/>
                          </a:solidFill>
                        </a:rPr>
                        <a:t>에 해당</a:t>
                      </a:r>
                      <a:endParaRPr lang="ko-KR" altLang="en-US" sz="1050" kern="1200" dirty="0">
                        <a:solidFill>
                          <a:schemeClr val="tx1"/>
                        </a:solidFill>
                        <a:latin typeface="+mn-lt"/>
                        <a:ea typeface="+mn-ea"/>
                        <a:cs typeface="+mn-cs"/>
                      </a:endParaRPr>
                    </a:p>
                  </a:txBody>
                  <a:tcPr marL="10515" marR="10515" marT="10515" marB="10515" anchor="ct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5"/>
                  </a:ext>
                </a:extLst>
              </a:tr>
              <a:tr h="194852">
                <a:tc vMerge="1">
                  <a:txBody>
                    <a:bodyPr/>
                    <a:lstStyle/>
                    <a:p>
                      <a:pPr latinLnBrk="1"/>
                      <a:endParaRPr lang="ko-KR" altLang="en-US"/>
                    </a:p>
                  </a:txBody>
                  <a:tcPr/>
                </a:tc>
                <a:tc>
                  <a:txBody>
                    <a:bodyPr/>
                    <a:lstStyle/>
                    <a:p>
                      <a:pPr marL="31750" marR="31750" indent="0" algn="ctr" defTabSz="914400" rtl="0" eaLnBrk="1" fontAlgn="base" latinLnBrk="1" hangingPunct="1">
                        <a:lnSpc>
                          <a:spcPct val="100000"/>
                        </a:lnSpc>
                        <a:spcBef>
                          <a:spcPts val="0"/>
                        </a:spcBef>
                        <a:spcAft>
                          <a:spcPts val="0"/>
                        </a:spcAft>
                      </a:pPr>
                      <a:r>
                        <a:rPr lang="ko-KR" altLang="en-US" sz="1050" kern="1200" dirty="0">
                          <a:solidFill>
                            <a:schemeClr val="tx1"/>
                          </a:solidFill>
                        </a:rPr>
                        <a:t>지역적</a:t>
                      </a:r>
                      <a:endParaRPr lang="ko-KR" altLang="en-US" sz="1050" kern="1200" dirty="0">
                        <a:solidFill>
                          <a:schemeClr val="tx1"/>
                        </a:solidFill>
                        <a:latin typeface="+mn-lt"/>
                        <a:ea typeface="+mn-ea"/>
                        <a:cs typeface="+mn-cs"/>
                      </a:endParaRPr>
                    </a:p>
                  </a:txBody>
                  <a:tcPr marL="10515" marR="10515" marT="10515" marB="10515" anchor="ctr"/>
                </a:tc>
                <a:tc>
                  <a:txBody>
                    <a:bodyPr/>
                    <a:lstStyle/>
                    <a:p>
                      <a:pPr marL="31750" marR="31750" indent="0" algn="l" defTabSz="914400" rtl="0" eaLnBrk="1" fontAlgn="base" latinLnBrk="1" hangingPunct="1">
                        <a:lnSpc>
                          <a:spcPct val="100000"/>
                        </a:lnSpc>
                        <a:spcBef>
                          <a:spcPts val="0"/>
                        </a:spcBef>
                        <a:spcAft>
                          <a:spcPts val="0"/>
                        </a:spcAft>
                      </a:pPr>
                      <a:r>
                        <a:rPr lang="ko-KR" altLang="en-US" sz="1050" kern="1200" dirty="0">
                          <a:solidFill>
                            <a:schemeClr val="tx1"/>
                          </a:solidFill>
                        </a:rPr>
                        <a:t>국내</a:t>
                      </a:r>
                      <a:endParaRPr lang="ko-KR" altLang="en-US" sz="1050" kern="1200" dirty="0">
                        <a:solidFill>
                          <a:schemeClr val="tx1"/>
                        </a:solidFill>
                        <a:latin typeface="+mn-lt"/>
                        <a:ea typeface="+mn-ea"/>
                        <a:cs typeface="+mn-cs"/>
                      </a:endParaRPr>
                    </a:p>
                  </a:txBody>
                  <a:tcPr marL="10515" marR="10515" marT="10515" marB="10515" anchor="ct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6"/>
                  </a:ext>
                </a:extLst>
              </a:tr>
              <a:tr h="194852">
                <a:tc vMerge="1">
                  <a:txBody>
                    <a:bodyPr/>
                    <a:lstStyle/>
                    <a:p>
                      <a:pPr latinLnBrk="1"/>
                      <a:endParaRPr lang="ko-KR" altLang="en-US"/>
                    </a:p>
                  </a:txBody>
                  <a:tcPr/>
                </a:tc>
                <a:tc>
                  <a:txBody>
                    <a:bodyPr/>
                    <a:lstStyle/>
                    <a:p>
                      <a:pPr marL="31750" marR="31750" indent="0" algn="ctr" defTabSz="914400" rtl="0" eaLnBrk="1" fontAlgn="base" latinLnBrk="1" hangingPunct="1">
                        <a:lnSpc>
                          <a:spcPct val="100000"/>
                        </a:lnSpc>
                        <a:spcBef>
                          <a:spcPts val="0"/>
                        </a:spcBef>
                        <a:spcAft>
                          <a:spcPts val="0"/>
                        </a:spcAft>
                      </a:pPr>
                      <a:r>
                        <a:rPr lang="ko-KR" altLang="en-US" sz="1050" kern="1200" dirty="0">
                          <a:solidFill>
                            <a:schemeClr val="tx1"/>
                          </a:solidFill>
                        </a:rPr>
                        <a:t>객체적</a:t>
                      </a:r>
                      <a:endParaRPr lang="ko-KR" altLang="en-US" sz="1050" kern="1200" dirty="0">
                        <a:solidFill>
                          <a:schemeClr val="tx1"/>
                        </a:solidFill>
                        <a:latin typeface="+mn-lt"/>
                        <a:ea typeface="+mn-ea"/>
                        <a:cs typeface="+mn-cs"/>
                      </a:endParaRPr>
                    </a:p>
                  </a:txBody>
                  <a:tcPr marL="10515" marR="10515" marT="10515" marB="10515" anchor="ctr"/>
                </a:tc>
                <a:tc>
                  <a:txBody>
                    <a:bodyPr/>
                    <a:lstStyle/>
                    <a:p>
                      <a:pPr marL="31750" marR="31750" indent="0" algn="l" defTabSz="914400" rtl="0" eaLnBrk="1" fontAlgn="base" latinLnBrk="1" hangingPunct="1">
                        <a:lnSpc>
                          <a:spcPct val="100000"/>
                        </a:lnSpc>
                        <a:spcBef>
                          <a:spcPts val="0"/>
                        </a:spcBef>
                        <a:spcAft>
                          <a:spcPts val="0"/>
                        </a:spcAft>
                      </a:pPr>
                      <a:r>
                        <a:rPr lang="ko-KR" altLang="en-US" sz="1050" kern="1200" dirty="0">
                          <a:solidFill>
                            <a:schemeClr val="tx1"/>
                          </a:solidFill>
                        </a:rPr>
                        <a:t>실시사업을 하거나 그 사업의 준비를 하고 있을 것</a:t>
                      </a:r>
                      <a:endParaRPr lang="ko-KR" altLang="en-US" sz="1050" kern="1200" dirty="0">
                        <a:solidFill>
                          <a:schemeClr val="tx1"/>
                        </a:solidFill>
                        <a:latin typeface="+mn-lt"/>
                        <a:ea typeface="+mn-ea"/>
                        <a:cs typeface="+mn-cs"/>
                      </a:endParaRPr>
                    </a:p>
                  </a:txBody>
                  <a:tcPr marL="10515" marR="10515" marT="10515" marB="10515" anchor="ct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7"/>
                  </a:ext>
                </a:extLst>
              </a:tr>
              <a:tr h="194852">
                <a:tc gridSpan="2">
                  <a:txBody>
                    <a:bodyPr/>
                    <a:lstStyle/>
                    <a:p>
                      <a:pPr marL="31750" marR="31750" indent="0" algn="ctr" defTabSz="914400" rtl="0" eaLnBrk="1" fontAlgn="base" latinLnBrk="1" hangingPunct="1">
                        <a:lnSpc>
                          <a:spcPct val="100000"/>
                        </a:lnSpc>
                        <a:spcBef>
                          <a:spcPts val="0"/>
                        </a:spcBef>
                        <a:spcAft>
                          <a:spcPts val="0"/>
                        </a:spcAft>
                      </a:pPr>
                      <a:r>
                        <a:rPr lang="ko-KR" altLang="en-US" sz="1050" kern="1200" dirty="0">
                          <a:solidFill>
                            <a:schemeClr val="tx1"/>
                          </a:solidFill>
                          <a:latin typeface="+mn-lt"/>
                          <a:ea typeface="+mn-ea"/>
                          <a:cs typeface="+mn-cs"/>
                        </a:rPr>
                        <a:t>대가</a:t>
                      </a:r>
                    </a:p>
                  </a:txBody>
                  <a:tcPr marL="10515" marR="10515" marT="10515" marB="10515" anchor="ctr"/>
                </a:tc>
                <a:tc hMerge="1">
                  <a:txBody>
                    <a:bodyPr/>
                    <a:lstStyle/>
                    <a:p>
                      <a:pPr marL="31750" marR="31750" indent="0" algn="ctr" defTabSz="914400" rtl="0" eaLnBrk="1" fontAlgn="base" latinLnBrk="1" hangingPunct="1">
                        <a:lnSpc>
                          <a:spcPct val="100000"/>
                        </a:lnSpc>
                        <a:spcBef>
                          <a:spcPts val="0"/>
                        </a:spcBef>
                        <a:spcAft>
                          <a:spcPts val="0"/>
                        </a:spcAft>
                      </a:pPr>
                      <a:endParaRPr lang="ko-KR" altLang="en-US" sz="1100" kern="1200" dirty="0">
                        <a:solidFill>
                          <a:schemeClr val="tx2"/>
                        </a:solidFill>
                        <a:latin typeface="+mn-lt"/>
                        <a:ea typeface="+mn-ea"/>
                        <a:cs typeface="+mn-cs"/>
                      </a:endParaRPr>
                    </a:p>
                  </a:txBody>
                  <a:tcPr marL="10515" marR="10515" marT="10515" marB="10515" anchor="ctr"/>
                </a:tc>
                <a:tc>
                  <a:txBody>
                    <a:bodyPr/>
                    <a:lstStyle/>
                    <a:p>
                      <a:pPr marL="31750" marR="31750" indent="0" algn="l" defTabSz="914400" rtl="0" eaLnBrk="1" fontAlgn="base" latinLnBrk="1" hangingPunct="1">
                        <a:lnSpc>
                          <a:spcPct val="100000"/>
                        </a:lnSpc>
                        <a:spcBef>
                          <a:spcPts val="0"/>
                        </a:spcBef>
                        <a:spcAft>
                          <a:spcPts val="0"/>
                        </a:spcAft>
                        <a:buClrTx/>
                        <a:buSzTx/>
                        <a:buFontTx/>
                        <a:buNone/>
                        <a:tabLst/>
                        <a:defRPr/>
                      </a:pPr>
                      <a:r>
                        <a:rPr lang="ko-KR" altLang="en-US" sz="1050" kern="1200" dirty="0" err="1">
                          <a:solidFill>
                            <a:schemeClr val="tx1"/>
                          </a:solidFill>
                        </a:rPr>
                        <a:t>發振法</a:t>
                      </a:r>
                      <a:r>
                        <a:rPr lang="ko-KR" altLang="en-US" sz="1050" kern="1200" dirty="0">
                          <a:solidFill>
                            <a:schemeClr val="tx1"/>
                          </a:solidFill>
                        </a:rPr>
                        <a:t> </a:t>
                      </a:r>
                      <a:r>
                        <a:rPr lang="en-US" altLang="ko-KR" sz="1050" kern="1200" dirty="0">
                          <a:solidFill>
                            <a:schemeClr val="tx1"/>
                          </a:solidFill>
                        </a:rPr>
                        <a:t>10</a:t>
                      </a:r>
                      <a:r>
                        <a:rPr lang="ko-KR" altLang="en-US" sz="1050" kern="1200" dirty="0">
                          <a:solidFill>
                            <a:schemeClr val="tx1"/>
                          </a:solidFill>
                        </a:rPr>
                        <a:t>①</a:t>
                      </a:r>
                      <a:r>
                        <a:rPr lang="en-US" altLang="ko-KR" sz="1050" kern="1200" dirty="0">
                          <a:solidFill>
                            <a:schemeClr val="tx1"/>
                          </a:solidFill>
                        </a:rPr>
                        <a:t>, </a:t>
                      </a:r>
                      <a:r>
                        <a:rPr lang="ko-KR" altLang="en-US" sz="1050" kern="1200" dirty="0">
                          <a:solidFill>
                            <a:schemeClr val="tx1"/>
                          </a:solidFill>
                        </a:rPr>
                        <a:t>法 </a:t>
                      </a:r>
                      <a:r>
                        <a:rPr lang="en-US" altLang="ko-KR" sz="1050" kern="1200" dirty="0">
                          <a:solidFill>
                            <a:schemeClr val="tx1"/>
                          </a:solidFill>
                        </a:rPr>
                        <a:t>103,</a:t>
                      </a:r>
                      <a:r>
                        <a:rPr lang="en-US" altLang="ko-KR" sz="1050" kern="1200" baseline="0" dirty="0">
                          <a:solidFill>
                            <a:schemeClr val="tx1"/>
                          </a:solidFill>
                        </a:rPr>
                        <a:t> </a:t>
                      </a:r>
                      <a:r>
                        <a:rPr lang="ko-KR" altLang="en-US" sz="1050" kern="1200" dirty="0">
                          <a:solidFill>
                            <a:schemeClr val="tx1"/>
                          </a:solidFill>
                        </a:rPr>
                        <a:t>法 </a:t>
                      </a:r>
                      <a:r>
                        <a:rPr lang="en-US" altLang="ko-KR" sz="1050" kern="1200" dirty="0">
                          <a:solidFill>
                            <a:schemeClr val="tx1"/>
                          </a:solidFill>
                        </a:rPr>
                        <a:t>105</a:t>
                      </a:r>
                      <a:r>
                        <a:rPr lang="en-US" altLang="ko-KR" sz="1050" kern="1200" dirty="0">
                          <a:solidFill>
                            <a:schemeClr val="tx1"/>
                          </a:solidFill>
                          <a:latin typeface="+mn-lt"/>
                          <a:ea typeface="+mn-ea"/>
                          <a:cs typeface="+mn-cs"/>
                        </a:rPr>
                        <a:t>(</a:t>
                      </a:r>
                      <a:r>
                        <a:rPr lang="ko-KR" altLang="en-US" sz="1050" kern="1200" baseline="0" dirty="0" err="1">
                          <a:solidFill>
                            <a:schemeClr val="tx1"/>
                          </a:solidFill>
                          <a:latin typeface="+mn-lt"/>
                          <a:ea typeface="+mn-ea"/>
                          <a:cs typeface="+mn-cs"/>
                        </a:rPr>
                        <a:t>원디자인권자에</a:t>
                      </a:r>
                      <a:r>
                        <a:rPr lang="ko-KR" altLang="en-US" sz="1050" kern="1200" baseline="0" dirty="0">
                          <a:solidFill>
                            <a:schemeClr val="tx1"/>
                          </a:solidFill>
                          <a:latin typeface="+mn-lt"/>
                          <a:ea typeface="+mn-ea"/>
                          <a:cs typeface="+mn-cs"/>
                        </a:rPr>
                        <a:t> 한함</a:t>
                      </a:r>
                      <a:r>
                        <a:rPr lang="en-US" altLang="ko-KR" sz="1050" kern="1200" baseline="0" dirty="0">
                          <a:solidFill>
                            <a:schemeClr val="tx1"/>
                          </a:solidFill>
                          <a:latin typeface="+mn-lt"/>
                          <a:ea typeface="+mn-ea"/>
                          <a:cs typeface="+mn-cs"/>
                        </a:rPr>
                        <a:t>), </a:t>
                      </a:r>
                      <a:r>
                        <a:rPr lang="ko-KR" altLang="en-US" sz="1050" kern="1200" baseline="0" dirty="0">
                          <a:solidFill>
                            <a:schemeClr val="tx1"/>
                          </a:solidFill>
                          <a:latin typeface="+mn-lt"/>
                          <a:ea typeface="+mn-ea"/>
                          <a:cs typeface="+mn-cs"/>
                        </a:rPr>
                        <a:t>法 </a:t>
                      </a:r>
                      <a:r>
                        <a:rPr lang="en-US" altLang="ko-KR" sz="1050" kern="1200" baseline="0" dirty="0">
                          <a:solidFill>
                            <a:schemeClr val="tx1"/>
                          </a:solidFill>
                          <a:latin typeface="+mn-lt"/>
                          <a:ea typeface="+mn-ea"/>
                          <a:cs typeface="+mn-cs"/>
                        </a:rPr>
                        <a:t>182</a:t>
                      </a:r>
                      <a:r>
                        <a:rPr lang="ko-KR" altLang="en-US" sz="1050" kern="1200" baseline="0" dirty="0">
                          <a:solidFill>
                            <a:schemeClr val="tx1"/>
                          </a:solidFill>
                          <a:latin typeface="+mn-lt"/>
                          <a:ea typeface="+mn-ea"/>
                          <a:cs typeface="+mn-cs"/>
                        </a:rPr>
                        <a:t>의 경우 무상</a:t>
                      </a:r>
                      <a:endParaRPr lang="ko-KR" altLang="en-US" sz="1050" kern="1200" dirty="0">
                        <a:solidFill>
                          <a:schemeClr val="tx1"/>
                        </a:solidFill>
                        <a:latin typeface="+mn-lt"/>
                        <a:ea typeface="+mn-ea"/>
                        <a:cs typeface="+mn-cs"/>
                      </a:endParaRPr>
                    </a:p>
                  </a:txBody>
                  <a:tcPr marL="10515" marR="10515" marT="10515" marB="10515" anchor="ctr"/>
                </a:tc>
                <a:tc>
                  <a:txBody>
                    <a:bodyPr/>
                    <a:lstStyle/>
                    <a:p>
                      <a:pPr marL="135890" marR="31750" indent="-135890" algn="l" fontAlgn="base" latinLnBrk="1">
                        <a:lnSpc>
                          <a:spcPct val="100000"/>
                        </a:lnSpc>
                        <a:spcBef>
                          <a:spcPts val="0"/>
                        </a:spcBef>
                        <a:spcAft>
                          <a:spcPts val="0"/>
                        </a:spcAft>
                      </a:pPr>
                      <a:endParaRPr lang="ko-KR" altLang="en-US" sz="1050" kern="1200">
                        <a:solidFill>
                          <a:schemeClr val="tx1"/>
                        </a:solidFill>
                        <a:latin typeface="+mn-lt"/>
                        <a:ea typeface="+mn-ea"/>
                        <a:cs typeface="+mn-cs"/>
                      </a:endParaRPr>
                    </a:p>
                  </a:txBody>
                  <a:tcPr marL="10515" marR="10515" marT="10515" marB="10515" anchor="ctr"/>
                </a:tc>
                <a:tc>
                  <a:txBody>
                    <a:bodyPr/>
                    <a:lstStyle/>
                    <a:p>
                      <a:pPr marL="31750" marR="31750" indent="0" algn="ctr" fontAlgn="base" latinLnBrk="0">
                        <a:lnSpc>
                          <a:spcPct val="100000"/>
                        </a:lnSpc>
                        <a:spcBef>
                          <a:spcPts val="0"/>
                        </a:spcBef>
                        <a:spcAft>
                          <a:spcPts val="0"/>
                        </a:spcAft>
                      </a:pPr>
                      <a:endParaRPr lang="ko-KR" altLang="en-US" sz="1050" kern="1200" dirty="0">
                        <a:solidFill>
                          <a:schemeClr val="tx1"/>
                        </a:solidFill>
                        <a:latin typeface="+mn-lt"/>
                        <a:ea typeface="+mn-ea"/>
                        <a:cs typeface="+mn-cs"/>
                      </a:endParaRPr>
                    </a:p>
                  </a:txBody>
                  <a:tcPr marL="10515" marR="10515" marT="10515" marB="10515" anchor="ct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2215388788"/>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103</a:t>
            </a:r>
            <a:r>
              <a:rPr lang="ko-KR" altLang="en-US" dirty="0"/>
              <a:t>조</a:t>
            </a:r>
          </a:p>
        </p:txBody>
      </p:sp>
      <p:sp>
        <p:nvSpPr>
          <p:cNvPr id="5" name="텍스트 개체 틀 4"/>
          <p:cNvSpPr>
            <a:spLocks noGrp="1"/>
          </p:cNvSpPr>
          <p:nvPr>
            <p:ph type="body" sz="quarter" idx="13"/>
          </p:nvPr>
        </p:nvSpPr>
        <p:spPr/>
        <p:txBody>
          <a:bodyPr/>
          <a:lstStyle/>
          <a:p>
            <a:r>
              <a:rPr lang="ko-KR" altLang="en-US" dirty="0"/>
              <a:t>선의의 해석</a:t>
            </a:r>
          </a:p>
        </p:txBody>
      </p:sp>
      <p:sp>
        <p:nvSpPr>
          <p:cNvPr id="6" name="슬라이드 번호 개체 틀 5"/>
          <p:cNvSpPr>
            <a:spLocks noGrp="1"/>
          </p:cNvSpPr>
          <p:nvPr>
            <p:ph type="sldNum" sz="quarter" idx="4294967295"/>
          </p:nvPr>
        </p:nvSpPr>
        <p:spPr>
          <a:xfrm>
            <a:off x="11125200" y="0"/>
            <a:ext cx="1066800" cy="744538"/>
          </a:xfrm>
        </p:spPr>
        <p:txBody>
          <a:bodyPr/>
          <a:lstStyle/>
          <a:p>
            <a:r>
              <a:rPr lang="en-US" altLang="ko-KR"/>
              <a:t>416</a:t>
            </a:r>
            <a:endParaRPr lang="ko-KR" altLang="en-US"/>
          </a:p>
        </p:txBody>
      </p:sp>
      <p:sp>
        <p:nvSpPr>
          <p:cNvPr id="21" name="Line 5"/>
          <p:cNvSpPr>
            <a:spLocks noChangeShapeType="1"/>
          </p:cNvSpPr>
          <p:nvPr/>
        </p:nvSpPr>
        <p:spPr bwMode="auto">
          <a:xfrm>
            <a:off x="1369112" y="5194288"/>
            <a:ext cx="10469659"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cxnSp>
        <p:nvCxnSpPr>
          <p:cNvPr id="23" name="직선 연결선 22"/>
          <p:cNvCxnSpPr/>
          <p:nvPr/>
        </p:nvCxnSpPr>
        <p:spPr>
          <a:xfrm>
            <a:off x="0" y="215991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77875" y="986046"/>
            <a:ext cx="11936323" cy="1169551"/>
          </a:xfrm>
          <a:prstGeom prst="rect">
            <a:avLst/>
          </a:prstGeom>
          <a:noFill/>
        </p:spPr>
        <p:txBody>
          <a:bodyPr wrap="square" rtlCol="0">
            <a:spAutoFit/>
          </a:bodyPr>
          <a:lstStyle/>
          <a:p>
            <a:pPr fontAlgn="base"/>
            <a:r>
              <a:rPr lang="ko-KR" altLang="en-US" sz="1400" dirty="0">
                <a:highlight>
                  <a:srgbClr val="FFFF00"/>
                </a:highlight>
                <a:latin typeface="+mn-ea"/>
              </a:rPr>
              <a:t>「선의」란 </a:t>
            </a:r>
            <a:r>
              <a:rPr lang="ko-KR" altLang="en-US" sz="1400" dirty="0" err="1">
                <a:highlight>
                  <a:srgbClr val="FFFF00"/>
                </a:highlight>
                <a:latin typeface="+mn-ea"/>
              </a:rPr>
              <a:t>특허출원된</a:t>
            </a:r>
            <a:r>
              <a:rPr lang="ko-KR" altLang="en-US" sz="1400" dirty="0">
                <a:highlight>
                  <a:srgbClr val="FFFF00"/>
                </a:highlight>
                <a:latin typeface="+mn-ea"/>
              </a:rPr>
              <a:t> 발명의 내용을 알지 못하고 발명을 하거나 그 발명을 한 사람으로부터 알게 된 것</a:t>
            </a:r>
            <a:r>
              <a:rPr lang="ko-KR" altLang="en-US" sz="1400" dirty="0">
                <a:latin typeface="+mn-ea"/>
              </a:rPr>
              <a:t>을 말한다</a:t>
            </a:r>
            <a:r>
              <a:rPr lang="en-US" altLang="ko-KR" sz="1400" dirty="0">
                <a:latin typeface="+mn-ea"/>
              </a:rPr>
              <a:t>. </a:t>
            </a:r>
            <a:r>
              <a:rPr lang="en-US" altLang="ko-KR" sz="1400" dirty="0" err="1">
                <a:latin typeface="+mn-ea"/>
              </a:rPr>
              <a:t>타인으로부터</a:t>
            </a:r>
            <a:r>
              <a:rPr lang="en-US" altLang="ko-KR" sz="1400" dirty="0">
                <a:latin typeface="+mn-ea"/>
              </a:rPr>
              <a:t> </a:t>
            </a:r>
            <a:r>
              <a:rPr lang="en-US" altLang="ko-KR" sz="1400" dirty="0" err="1">
                <a:latin typeface="+mn-ea"/>
              </a:rPr>
              <a:t>발명을</a:t>
            </a:r>
            <a:r>
              <a:rPr lang="en-US" altLang="ko-KR" sz="1400" dirty="0">
                <a:latin typeface="+mn-ea"/>
              </a:rPr>
              <a:t> </a:t>
            </a:r>
            <a:r>
              <a:rPr lang="en-US" altLang="ko-KR" sz="1400" dirty="0" err="1">
                <a:latin typeface="+mn-ea"/>
              </a:rPr>
              <a:t>알게</a:t>
            </a:r>
            <a:r>
              <a:rPr lang="en-US" altLang="ko-KR" sz="1400" dirty="0">
                <a:latin typeface="+mn-ea"/>
              </a:rPr>
              <a:t> 된 </a:t>
            </a:r>
            <a:r>
              <a:rPr lang="en-US" altLang="ko-KR" sz="1400" dirty="0" err="1">
                <a:latin typeface="+mn-ea"/>
              </a:rPr>
              <a:t>경우에</a:t>
            </a:r>
            <a:r>
              <a:rPr lang="en-US" altLang="ko-KR" sz="1400" dirty="0">
                <a:latin typeface="+mn-ea"/>
              </a:rPr>
              <a:t> </a:t>
            </a:r>
            <a:r>
              <a:rPr lang="en-US" altLang="ko-KR" sz="1400" dirty="0" err="1">
                <a:latin typeface="+mn-ea"/>
              </a:rPr>
              <a:t>그것이</a:t>
            </a:r>
            <a:r>
              <a:rPr lang="en-US" altLang="ko-KR" sz="1400" dirty="0">
                <a:latin typeface="+mn-ea"/>
              </a:rPr>
              <a:t> </a:t>
            </a:r>
            <a:r>
              <a:rPr lang="en-US" altLang="ko-KR" sz="1400" dirty="0" err="1">
                <a:latin typeface="+mn-ea"/>
              </a:rPr>
              <a:t>선의인</a:t>
            </a:r>
            <a:r>
              <a:rPr lang="en-US" altLang="ko-KR" sz="1400" dirty="0">
                <a:latin typeface="+mn-ea"/>
              </a:rPr>
              <a:t> 한 그 </a:t>
            </a:r>
            <a:r>
              <a:rPr lang="en-US" altLang="ko-KR" sz="1400" dirty="0" err="1">
                <a:latin typeface="+mn-ea"/>
              </a:rPr>
              <a:t>발명을</a:t>
            </a:r>
            <a:r>
              <a:rPr lang="en-US" altLang="ko-KR" sz="1400" dirty="0">
                <a:latin typeface="+mn-ea"/>
              </a:rPr>
              <a:t> </a:t>
            </a:r>
            <a:r>
              <a:rPr lang="en-US" altLang="ko-KR" sz="1400" dirty="0" err="1">
                <a:latin typeface="+mn-ea"/>
              </a:rPr>
              <a:t>알게</a:t>
            </a:r>
            <a:r>
              <a:rPr lang="en-US" altLang="ko-KR" sz="1400" dirty="0">
                <a:latin typeface="+mn-ea"/>
              </a:rPr>
              <a:t> 된 </a:t>
            </a:r>
            <a:r>
              <a:rPr lang="en-US" altLang="ko-KR" sz="1400" dirty="0" err="1">
                <a:latin typeface="+mn-ea"/>
              </a:rPr>
              <a:t>경로</a:t>
            </a:r>
            <a:r>
              <a:rPr lang="en-US" altLang="ko-KR" sz="1400" dirty="0">
                <a:latin typeface="+mn-ea"/>
              </a:rPr>
              <a:t>(route)는 </a:t>
            </a:r>
            <a:r>
              <a:rPr lang="en-US" altLang="ko-KR" sz="1400" dirty="0" err="1">
                <a:latin typeface="+mn-ea"/>
              </a:rPr>
              <a:t>문제되지</a:t>
            </a:r>
            <a:r>
              <a:rPr lang="en-US" altLang="ko-KR" sz="1400" dirty="0">
                <a:latin typeface="+mn-ea"/>
              </a:rPr>
              <a:t> </a:t>
            </a:r>
            <a:r>
              <a:rPr lang="en-US" altLang="ko-KR" sz="1400" dirty="0" err="1">
                <a:latin typeface="+mn-ea"/>
              </a:rPr>
              <a:t>않으나</a:t>
            </a:r>
            <a:r>
              <a:rPr lang="en-US" altLang="ko-KR" sz="1400" dirty="0">
                <a:latin typeface="+mn-ea"/>
              </a:rPr>
              <a:t>, </a:t>
            </a:r>
            <a:r>
              <a:rPr lang="en-US" altLang="ko-KR" sz="1400" dirty="0" err="1">
                <a:latin typeface="+mn-ea"/>
              </a:rPr>
              <a:t>선사용되는</a:t>
            </a:r>
            <a:r>
              <a:rPr lang="en-US" altLang="ko-KR" sz="1400" dirty="0">
                <a:latin typeface="+mn-ea"/>
              </a:rPr>
              <a:t> </a:t>
            </a:r>
            <a:r>
              <a:rPr lang="en-US" altLang="ko-KR" sz="1400" dirty="0" err="1">
                <a:latin typeface="+mn-ea"/>
              </a:rPr>
              <a:t>발명의</a:t>
            </a:r>
            <a:r>
              <a:rPr lang="en-US" altLang="ko-KR" sz="1400" dirty="0">
                <a:latin typeface="+mn-ea"/>
              </a:rPr>
              <a:t> </a:t>
            </a:r>
            <a:r>
              <a:rPr lang="en-US" altLang="ko-KR" sz="1400" dirty="0" err="1">
                <a:latin typeface="+mn-ea"/>
              </a:rPr>
              <a:t>과도한</a:t>
            </a:r>
            <a:r>
              <a:rPr lang="en-US" altLang="ko-KR" sz="1400" dirty="0">
                <a:latin typeface="+mn-ea"/>
              </a:rPr>
              <a:t> </a:t>
            </a:r>
            <a:r>
              <a:rPr lang="en-US" altLang="ko-KR" sz="1400" dirty="0" err="1">
                <a:latin typeface="+mn-ea"/>
              </a:rPr>
              <a:t>보호를</a:t>
            </a:r>
            <a:r>
              <a:rPr lang="en-US" altLang="ko-KR" sz="1400" dirty="0">
                <a:latin typeface="+mn-ea"/>
              </a:rPr>
              <a:t> </a:t>
            </a:r>
            <a:r>
              <a:rPr lang="en-US" altLang="ko-KR" sz="1400" dirty="0" err="1">
                <a:latin typeface="+mn-ea"/>
              </a:rPr>
              <a:t>방지하기</a:t>
            </a:r>
            <a:r>
              <a:rPr lang="en-US" altLang="ko-KR" sz="1400" dirty="0">
                <a:latin typeface="+mn-ea"/>
              </a:rPr>
              <a:t> </a:t>
            </a:r>
            <a:r>
              <a:rPr lang="en-US" altLang="ko-KR" sz="1400" dirty="0" err="1">
                <a:latin typeface="+mn-ea"/>
              </a:rPr>
              <a:t>위하여</a:t>
            </a:r>
            <a:r>
              <a:rPr lang="en-US" altLang="ko-KR" sz="1400" dirty="0">
                <a:latin typeface="+mn-ea"/>
              </a:rPr>
              <a:t> </a:t>
            </a:r>
            <a:r>
              <a:rPr lang="en-US" altLang="ko-KR" sz="1400" dirty="0" err="1">
                <a:latin typeface="+mn-ea"/>
              </a:rPr>
              <a:t>특허출원한</a:t>
            </a:r>
            <a:r>
              <a:rPr lang="en-US" altLang="ko-KR" sz="1400" dirty="0">
                <a:latin typeface="+mn-ea"/>
              </a:rPr>
              <a:t> </a:t>
            </a:r>
            <a:r>
              <a:rPr lang="en-US" altLang="ko-KR" sz="1400" dirty="0" err="1">
                <a:latin typeface="+mn-ea"/>
              </a:rPr>
              <a:t>발명자로부터</a:t>
            </a:r>
            <a:r>
              <a:rPr lang="en-US" altLang="ko-KR" sz="1400" dirty="0">
                <a:latin typeface="+mn-ea"/>
              </a:rPr>
              <a:t> </a:t>
            </a:r>
            <a:r>
              <a:rPr lang="en-US" altLang="ko-KR" sz="1400" dirty="0" err="1">
                <a:latin typeface="+mn-ea"/>
              </a:rPr>
              <a:t>발명을</a:t>
            </a:r>
            <a:r>
              <a:rPr lang="en-US" altLang="ko-KR" sz="1400" dirty="0">
                <a:latin typeface="+mn-ea"/>
              </a:rPr>
              <a:t> </a:t>
            </a:r>
            <a:r>
              <a:rPr lang="en-US" altLang="ko-KR" sz="1400" dirty="0" err="1">
                <a:latin typeface="+mn-ea"/>
              </a:rPr>
              <a:t>알게</a:t>
            </a:r>
            <a:r>
              <a:rPr lang="en-US" altLang="ko-KR" sz="1400" dirty="0">
                <a:latin typeface="+mn-ea"/>
              </a:rPr>
              <a:t> 된 </a:t>
            </a:r>
            <a:r>
              <a:rPr lang="en-US" altLang="ko-KR" sz="1400" dirty="0" err="1">
                <a:latin typeface="+mn-ea"/>
              </a:rPr>
              <a:t>경우는</a:t>
            </a:r>
            <a:r>
              <a:rPr lang="en-US" altLang="ko-KR" sz="1400" dirty="0">
                <a:latin typeface="+mn-ea"/>
              </a:rPr>
              <a:t> </a:t>
            </a:r>
            <a:r>
              <a:rPr lang="en-US" altLang="ko-KR" sz="1400" dirty="0" err="1">
                <a:latin typeface="+mn-ea"/>
              </a:rPr>
              <a:t>제외되는</a:t>
            </a:r>
            <a:r>
              <a:rPr lang="en-US" altLang="ko-KR" sz="1400" dirty="0">
                <a:latin typeface="+mn-ea"/>
              </a:rPr>
              <a:t> </a:t>
            </a:r>
            <a:r>
              <a:rPr lang="en-US" altLang="ko-KR" sz="1400" dirty="0" err="1">
                <a:latin typeface="+mn-ea"/>
              </a:rPr>
              <a:t>것으로</a:t>
            </a:r>
            <a:r>
              <a:rPr lang="en-US" altLang="ko-KR" sz="1400" dirty="0">
                <a:latin typeface="+mn-ea"/>
              </a:rPr>
              <a:t> </a:t>
            </a:r>
            <a:r>
              <a:rPr lang="en-US" altLang="ko-KR" sz="1400" dirty="0" err="1">
                <a:latin typeface="+mn-ea"/>
              </a:rPr>
              <a:t>해석함이</a:t>
            </a:r>
            <a:r>
              <a:rPr lang="en-US" altLang="ko-KR" sz="1400" dirty="0">
                <a:latin typeface="+mn-ea"/>
              </a:rPr>
              <a:t> </a:t>
            </a:r>
            <a:r>
              <a:rPr lang="en-US" altLang="ko-KR" sz="1400" dirty="0" err="1">
                <a:latin typeface="+mn-ea"/>
              </a:rPr>
              <a:t>일반적이다</a:t>
            </a:r>
            <a:r>
              <a:rPr lang="en-US" altLang="ko-KR" sz="1400" dirty="0">
                <a:latin typeface="+mn-ea"/>
              </a:rPr>
              <a:t>. </a:t>
            </a:r>
            <a:r>
              <a:rPr lang="ko-KR" altLang="en-US" sz="1400" dirty="0">
                <a:latin typeface="+mn-ea"/>
              </a:rPr>
              <a:t>한편</a:t>
            </a:r>
            <a:r>
              <a:rPr lang="en-US" altLang="ko-KR" sz="1400" dirty="0">
                <a:latin typeface="+mn-ea"/>
              </a:rPr>
              <a:t>, </a:t>
            </a:r>
            <a:r>
              <a:rPr lang="ko-KR" altLang="en-US" sz="1400" dirty="0">
                <a:latin typeface="+mn-ea"/>
              </a:rPr>
              <a:t>정당한 권리자인 발명자 또는 이로부터 발명을 알게 된 자가 실시사업 등을 하고 있는 경우 모인하여 </a:t>
            </a:r>
            <a:r>
              <a:rPr lang="ko-KR" altLang="en-US" sz="1400" dirty="0" err="1">
                <a:latin typeface="+mn-ea"/>
              </a:rPr>
              <a:t>특허출원되고</a:t>
            </a:r>
            <a:r>
              <a:rPr lang="ko-KR" altLang="en-US" sz="1400" dirty="0">
                <a:latin typeface="+mn-ea"/>
              </a:rPr>
              <a:t> 특허된 무권리자의 특허에 대하여 선사용권이 </a:t>
            </a:r>
            <a:r>
              <a:rPr lang="ko-KR" altLang="en-US" sz="1400" dirty="0" err="1">
                <a:latin typeface="+mn-ea"/>
              </a:rPr>
              <a:t>인정되는지와</a:t>
            </a:r>
            <a:r>
              <a:rPr lang="ko-KR" altLang="en-US" sz="1400" dirty="0">
                <a:latin typeface="+mn-ea"/>
              </a:rPr>
              <a:t> 관련하여</a:t>
            </a:r>
            <a:r>
              <a:rPr lang="en-US" altLang="ko-KR" sz="1400" dirty="0">
                <a:latin typeface="+mn-ea"/>
              </a:rPr>
              <a:t>, </a:t>
            </a:r>
            <a:r>
              <a:rPr lang="ko-KR" altLang="en-US" sz="1400" dirty="0">
                <a:latin typeface="+mn-ea"/>
              </a:rPr>
              <a:t>무권리자의 특허가 제</a:t>
            </a:r>
            <a:r>
              <a:rPr lang="en-US" altLang="ko-KR" sz="1400" dirty="0">
                <a:latin typeface="+mn-ea"/>
              </a:rPr>
              <a:t>33</a:t>
            </a:r>
            <a:r>
              <a:rPr lang="ko-KR" altLang="en-US" sz="1400" dirty="0">
                <a:latin typeface="+mn-ea"/>
              </a:rPr>
              <a:t>조제</a:t>
            </a:r>
            <a:r>
              <a:rPr lang="en-US" altLang="ko-KR" sz="1400" dirty="0">
                <a:latin typeface="+mn-ea"/>
              </a:rPr>
              <a:t>1</a:t>
            </a:r>
            <a:r>
              <a:rPr lang="ko-KR" altLang="en-US" sz="1400" dirty="0">
                <a:latin typeface="+mn-ea"/>
              </a:rPr>
              <a:t>항 본문의 특허요건의 </a:t>
            </a:r>
            <a:r>
              <a:rPr lang="ko-KR" altLang="en-US" sz="1400" dirty="0" err="1">
                <a:latin typeface="+mn-ea"/>
              </a:rPr>
              <a:t>흠결이</a:t>
            </a:r>
            <a:r>
              <a:rPr lang="ko-KR" altLang="en-US" sz="1400" dirty="0">
                <a:latin typeface="+mn-ea"/>
              </a:rPr>
              <a:t> 있다고 하더라도 특허무효심판에 의한 </a:t>
            </a:r>
            <a:r>
              <a:rPr lang="ko-KR" altLang="en-US" sz="1400" dirty="0" err="1">
                <a:latin typeface="+mn-ea"/>
              </a:rPr>
              <a:t>무효심결이</a:t>
            </a:r>
            <a:r>
              <a:rPr lang="ko-KR" altLang="en-US" sz="1400" dirty="0">
                <a:latin typeface="+mn-ea"/>
              </a:rPr>
              <a:t> 확정되기 전까지는 유효한 권리이므로 </a:t>
            </a:r>
            <a:r>
              <a:rPr lang="ko-KR" altLang="en-US" sz="1400" dirty="0" err="1">
                <a:latin typeface="+mn-ea"/>
              </a:rPr>
              <a:t>선사용권이</a:t>
            </a:r>
            <a:r>
              <a:rPr lang="ko-KR" altLang="en-US" sz="1400" dirty="0">
                <a:latin typeface="+mn-ea"/>
              </a:rPr>
              <a:t> 인정된다고 해석된다</a:t>
            </a:r>
            <a:r>
              <a:rPr lang="en-US" altLang="ko-KR" sz="1400" dirty="0">
                <a:latin typeface="+mn-ea"/>
              </a:rPr>
              <a:t>.</a:t>
            </a:r>
            <a:endParaRPr lang="ko-KR" altLang="en-US" sz="1400" dirty="0">
              <a:latin typeface="+mn-ea"/>
            </a:endParaRPr>
          </a:p>
        </p:txBody>
      </p:sp>
      <p:sp>
        <p:nvSpPr>
          <p:cNvPr id="25" name="타원 24"/>
          <p:cNvSpPr/>
          <p:nvPr/>
        </p:nvSpPr>
        <p:spPr>
          <a:xfrm>
            <a:off x="1893625" y="511945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26" name="TextBox 25"/>
          <p:cNvSpPr txBox="1"/>
          <p:nvPr/>
        </p:nvSpPr>
        <p:spPr>
          <a:xfrm>
            <a:off x="1353922" y="5528894"/>
            <a:ext cx="1236236" cy="461665"/>
          </a:xfrm>
          <a:prstGeom prst="rect">
            <a:avLst/>
          </a:prstGeom>
          <a:noFill/>
          <a:ln>
            <a:solidFill>
              <a:schemeClr val="bg1">
                <a:lumMod val="50000"/>
              </a:schemeClr>
            </a:solidFill>
          </a:ln>
        </p:spPr>
        <p:txBody>
          <a:bodyPr wrap="none" rtlCol="0">
            <a:spAutoFit/>
          </a:bodyPr>
          <a:lstStyle/>
          <a:p>
            <a:pPr algn="ctr"/>
            <a:r>
              <a:rPr lang="ko-KR" altLang="en-US" sz="1200" dirty="0"/>
              <a:t>甲이 丙에게</a:t>
            </a:r>
            <a:endParaRPr lang="en-US" altLang="ko-KR" sz="1200" dirty="0"/>
          </a:p>
          <a:p>
            <a:pPr algn="ctr"/>
            <a:r>
              <a:rPr lang="ko-KR" altLang="en-US" sz="1200" dirty="0"/>
              <a:t>은수저 제작 의뢰</a:t>
            </a:r>
          </a:p>
        </p:txBody>
      </p:sp>
      <p:cxnSp>
        <p:nvCxnSpPr>
          <p:cNvPr id="27" name="직선 연결선 26"/>
          <p:cNvCxnSpPr>
            <a:stCxn id="26" idx="0"/>
            <a:endCxn id="25" idx="4"/>
          </p:cNvCxnSpPr>
          <p:nvPr/>
        </p:nvCxnSpPr>
        <p:spPr>
          <a:xfrm flipH="1" flipV="1">
            <a:off x="1970994" y="5280790"/>
            <a:ext cx="1046"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타원 27"/>
          <p:cNvSpPr/>
          <p:nvPr/>
        </p:nvSpPr>
        <p:spPr>
          <a:xfrm>
            <a:off x="2560375" y="511945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2" name="TextBox 1"/>
          <p:cNvSpPr txBox="1"/>
          <p:nvPr/>
        </p:nvSpPr>
        <p:spPr>
          <a:xfrm>
            <a:off x="276225" y="2245568"/>
            <a:ext cx="601447" cy="369332"/>
          </a:xfrm>
          <a:prstGeom prst="rect">
            <a:avLst/>
          </a:prstGeom>
          <a:solidFill>
            <a:schemeClr val="accent1"/>
          </a:solidFill>
          <a:ln>
            <a:solidFill>
              <a:schemeClr val="bg1">
                <a:lumMod val="50000"/>
              </a:schemeClr>
            </a:solidFill>
          </a:ln>
        </p:spPr>
        <p:txBody>
          <a:bodyPr wrap="none" rtlCol="0">
            <a:spAutoFit/>
          </a:bodyPr>
          <a:lstStyle/>
          <a:p>
            <a:r>
              <a:rPr lang="ko-KR" altLang="en-US" dirty="0">
                <a:solidFill>
                  <a:schemeClr val="bg1"/>
                </a:solidFill>
              </a:rPr>
              <a:t>선의</a:t>
            </a:r>
          </a:p>
        </p:txBody>
      </p:sp>
      <p:sp>
        <p:nvSpPr>
          <p:cNvPr id="62" name="TextBox 61"/>
          <p:cNvSpPr txBox="1"/>
          <p:nvPr/>
        </p:nvSpPr>
        <p:spPr>
          <a:xfrm>
            <a:off x="1152525" y="2268767"/>
            <a:ext cx="2164375" cy="307777"/>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1400" dirty="0"/>
              <a:t>원칙</a:t>
            </a:r>
            <a:r>
              <a:rPr lang="en-US" altLang="ko-KR" sz="1400" dirty="0"/>
              <a:t>: </a:t>
            </a:r>
            <a:r>
              <a:rPr lang="ko-KR" altLang="en-US" sz="1400" dirty="0"/>
              <a:t>발명루트가 다른 경우</a:t>
            </a:r>
          </a:p>
        </p:txBody>
      </p:sp>
      <p:sp>
        <p:nvSpPr>
          <p:cNvPr id="64" name="TextBox 63"/>
          <p:cNvSpPr txBox="1"/>
          <p:nvPr/>
        </p:nvSpPr>
        <p:spPr>
          <a:xfrm>
            <a:off x="1152525" y="3807726"/>
            <a:ext cx="2164375" cy="523220"/>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1400" dirty="0"/>
              <a:t>예외</a:t>
            </a:r>
            <a:r>
              <a:rPr lang="en-US" altLang="ko-KR" sz="1400" dirty="0"/>
              <a:t>: </a:t>
            </a:r>
            <a:r>
              <a:rPr lang="ko-KR" altLang="en-US" sz="1400" dirty="0"/>
              <a:t>발명루트가 같은 경우</a:t>
            </a:r>
            <a:endParaRPr lang="en-US" altLang="ko-KR" sz="1400" dirty="0"/>
          </a:p>
          <a:p>
            <a:r>
              <a:rPr lang="en-US" altLang="ko-KR" sz="1400" dirty="0"/>
              <a:t>(</a:t>
            </a:r>
            <a:r>
              <a:rPr lang="ko-KR" altLang="en-US" sz="1400" dirty="0"/>
              <a:t>은수저 제작방법 사건</a:t>
            </a:r>
            <a:r>
              <a:rPr lang="en-US" altLang="ko-KR" sz="1400" dirty="0"/>
              <a:t>)</a:t>
            </a:r>
            <a:endParaRPr lang="ko-KR" altLang="en-US" sz="1400" dirty="0"/>
          </a:p>
        </p:txBody>
      </p:sp>
      <p:cxnSp>
        <p:nvCxnSpPr>
          <p:cNvPr id="12" name="꺾인 연결선 11"/>
          <p:cNvCxnSpPr>
            <a:stCxn id="2" idx="3"/>
            <a:endCxn id="62" idx="1"/>
          </p:cNvCxnSpPr>
          <p:nvPr/>
        </p:nvCxnSpPr>
        <p:spPr>
          <a:xfrm flipV="1">
            <a:off x="877672" y="2422656"/>
            <a:ext cx="274853" cy="757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꺾인 연결선 17"/>
          <p:cNvCxnSpPr>
            <a:cxnSpLocks/>
            <a:stCxn id="2" idx="3"/>
            <a:endCxn id="64" idx="1"/>
          </p:cNvCxnSpPr>
          <p:nvPr/>
        </p:nvCxnSpPr>
        <p:spPr>
          <a:xfrm>
            <a:off x="877672" y="2430234"/>
            <a:ext cx="274853" cy="163910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TextBox 67"/>
          <p:cNvSpPr txBox="1"/>
          <p:nvPr/>
        </p:nvSpPr>
        <p:spPr>
          <a:xfrm>
            <a:off x="2033251" y="4403251"/>
            <a:ext cx="1208985" cy="461665"/>
          </a:xfrm>
          <a:prstGeom prst="rect">
            <a:avLst/>
          </a:prstGeom>
          <a:noFill/>
          <a:ln>
            <a:solidFill>
              <a:schemeClr val="bg1">
                <a:lumMod val="50000"/>
              </a:schemeClr>
            </a:solidFill>
          </a:ln>
        </p:spPr>
        <p:txBody>
          <a:bodyPr wrap="none" rtlCol="0">
            <a:spAutoFit/>
          </a:bodyPr>
          <a:lstStyle/>
          <a:p>
            <a:pPr algn="ctr"/>
            <a:r>
              <a:rPr lang="ko-KR" altLang="en-US" sz="1200" dirty="0"/>
              <a:t>丙 은수저 제작</a:t>
            </a:r>
            <a:endParaRPr lang="en-US" altLang="ko-KR" sz="1200" dirty="0"/>
          </a:p>
          <a:p>
            <a:pPr algn="ctr"/>
            <a:r>
              <a:rPr lang="en-US" altLang="ko-KR" sz="1200" dirty="0"/>
              <a:t>&amp; </a:t>
            </a:r>
            <a:r>
              <a:rPr lang="ko-KR" altLang="en-US" sz="1200" dirty="0"/>
              <a:t>제작방법 발명</a:t>
            </a:r>
          </a:p>
        </p:txBody>
      </p:sp>
      <p:cxnSp>
        <p:nvCxnSpPr>
          <p:cNvPr id="69" name="직선 연결선 68"/>
          <p:cNvCxnSpPr>
            <a:stCxn id="68" idx="2"/>
            <a:endCxn id="28" idx="0"/>
          </p:cNvCxnSpPr>
          <p:nvPr/>
        </p:nvCxnSpPr>
        <p:spPr>
          <a:xfrm>
            <a:off x="2637744" y="4864916"/>
            <a:ext cx="0" cy="254536"/>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0" name="타원 69"/>
          <p:cNvSpPr/>
          <p:nvPr/>
        </p:nvSpPr>
        <p:spPr>
          <a:xfrm>
            <a:off x="3541450" y="511945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72" name="TextBox 71"/>
          <p:cNvSpPr txBox="1"/>
          <p:nvPr/>
        </p:nvSpPr>
        <p:spPr>
          <a:xfrm>
            <a:off x="2410952" y="6099588"/>
            <a:ext cx="2415734" cy="451151"/>
          </a:xfrm>
          <a:prstGeom prst="rect">
            <a:avLst/>
          </a:prstGeom>
          <a:noFill/>
          <a:ln>
            <a:solidFill>
              <a:schemeClr val="bg1">
                <a:lumMod val="50000"/>
              </a:schemeClr>
            </a:solidFill>
          </a:ln>
        </p:spPr>
        <p:txBody>
          <a:bodyPr wrap="square" rtlCol="0">
            <a:noAutofit/>
          </a:bodyPr>
          <a:lstStyle/>
          <a:p>
            <a:pPr algn="ctr"/>
            <a:r>
              <a:rPr lang="ko-KR" altLang="en-US" sz="1200" dirty="0"/>
              <a:t>丙이 甲에게 납품하면서 발명 매수 의사 타진하였으나 甲이 거부</a:t>
            </a:r>
          </a:p>
        </p:txBody>
      </p:sp>
      <p:cxnSp>
        <p:nvCxnSpPr>
          <p:cNvPr id="77" name="직선 연결선 76"/>
          <p:cNvCxnSpPr>
            <a:cxnSpLocks/>
            <a:stCxn id="72" idx="0"/>
            <a:endCxn id="70" idx="4"/>
          </p:cNvCxnSpPr>
          <p:nvPr/>
        </p:nvCxnSpPr>
        <p:spPr>
          <a:xfrm flipV="1">
            <a:off x="3618819" y="5280790"/>
            <a:ext cx="0" cy="81879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타원 78"/>
          <p:cNvSpPr/>
          <p:nvPr/>
        </p:nvSpPr>
        <p:spPr>
          <a:xfrm>
            <a:off x="4255825" y="511945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80" name="TextBox 79"/>
          <p:cNvSpPr txBox="1"/>
          <p:nvPr/>
        </p:nvSpPr>
        <p:spPr>
          <a:xfrm>
            <a:off x="3334878" y="4403251"/>
            <a:ext cx="1996634" cy="435251"/>
          </a:xfrm>
          <a:prstGeom prst="rect">
            <a:avLst/>
          </a:prstGeom>
          <a:noFill/>
          <a:ln>
            <a:solidFill>
              <a:schemeClr val="bg1">
                <a:lumMod val="50000"/>
              </a:schemeClr>
            </a:solidFill>
          </a:ln>
        </p:spPr>
        <p:txBody>
          <a:bodyPr wrap="square" rtlCol="0">
            <a:noAutofit/>
          </a:bodyPr>
          <a:lstStyle/>
          <a:p>
            <a:pPr algn="ctr"/>
            <a:r>
              <a:rPr lang="ko-KR" altLang="en-US" sz="1200" dirty="0"/>
              <a:t>丙이 은수저 제작방법을 사용하여 실시사업</a:t>
            </a:r>
            <a:r>
              <a:rPr lang="en-US" altLang="ko-KR" sz="1200" dirty="0"/>
              <a:t>/</a:t>
            </a:r>
            <a:r>
              <a:rPr lang="ko-KR" altLang="en-US" sz="1200" dirty="0"/>
              <a:t>사업준비</a:t>
            </a:r>
          </a:p>
        </p:txBody>
      </p:sp>
      <p:cxnSp>
        <p:nvCxnSpPr>
          <p:cNvPr id="81" name="직선 연결선 80"/>
          <p:cNvCxnSpPr>
            <a:stCxn id="80" idx="2"/>
            <a:endCxn id="79" idx="0"/>
          </p:cNvCxnSpPr>
          <p:nvPr/>
        </p:nvCxnSpPr>
        <p:spPr>
          <a:xfrm flipH="1">
            <a:off x="4333194" y="4838502"/>
            <a:ext cx="1" cy="28095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3" name="타원 82"/>
          <p:cNvSpPr/>
          <p:nvPr/>
        </p:nvSpPr>
        <p:spPr>
          <a:xfrm>
            <a:off x="5385439" y="511945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84" name="TextBox 83"/>
          <p:cNvSpPr txBox="1"/>
          <p:nvPr/>
        </p:nvSpPr>
        <p:spPr>
          <a:xfrm>
            <a:off x="4867379" y="5528894"/>
            <a:ext cx="1192955" cy="646331"/>
          </a:xfrm>
          <a:prstGeom prst="rect">
            <a:avLst/>
          </a:prstGeom>
          <a:noFill/>
          <a:ln>
            <a:solidFill>
              <a:schemeClr val="bg1">
                <a:lumMod val="50000"/>
              </a:schemeClr>
            </a:solidFill>
          </a:ln>
        </p:spPr>
        <p:txBody>
          <a:bodyPr wrap="none" rtlCol="0">
            <a:spAutoFit/>
          </a:bodyPr>
          <a:lstStyle/>
          <a:p>
            <a:pPr algn="ctr"/>
            <a:r>
              <a:rPr lang="ko-KR" altLang="en-US" sz="1200" dirty="0"/>
              <a:t>甲</a:t>
            </a:r>
            <a:r>
              <a:rPr lang="en-US" altLang="ko-KR" sz="1200" dirty="0"/>
              <a:t>&amp;</a:t>
            </a:r>
            <a:r>
              <a:rPr lang="ko-KR" altLang="en-US" sz="1200" dirty="0"/>
              <a:t>乙 명의로 </a:t>
            </a:r>
            <a:endParaRPr lang="en-US" altLang="ko-KR" sz="1200" dirty="0"/>
          </a:p>
          <a:p>
            <a:pPr algn="ctr"/>
            <a:r>
              <a:rPr lang="ko-KR" altLang="en-US" sz="1200" dirty="0"/>
              <a:t>은수저 제작방법</a:t>
            </a:r>
            <a:endParaRPr lang="en-US" altLang="ko-KR" sz="1200" dirty="0"/>
          </a:p>
          <a:p>
            <a:pPr algn="ctr"/>
            <a:r>
              <a:rPr lang="ko-KR" altLang="en-US" sz="1200" dirty="0"/>
              <a:t>출원</a:t>
            </a:r>
          </a:p>
        </p:txBody>
      </p:sp>
      <p:cxnSp>
        <p:nvCxnSpPr>
          <p:cNvPr id="85" name="직선 연결선 84"/>
          <p:cNvCxnSpPr>
            <a:stCxn id="84" idx="0"/>
            <a:endCxn id="83" idx="4"/>
          </p:cNvCxnSpPr>
          <p:nvPr/>
        </p:nvCxnSpPr>
        <p:spPr>
          <a:xfrm flipH="1" flipV="1">
            <a:off x="5462808" y="5280790"/>
            <a:ext cx="1049"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8" name="타원 87"/>
          <p:cNvSpPr/>
          <p:nvPr/>
        </p:nvSpPr>
        <p:spPr>
          <a:xfrm>
            <a:off x="6061714" y="511945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89" name="TextBox 88"/>
          <p:cNvSpPr txBox="1"/>
          <p:nvPr/>
        </p:nvSpPr>
        <p:spPr>
          <a:xfrm>
            <a:off x="5431447" y="6338519"/>
            <a:ext cx="1417376" cy="276999"/>
          </a:xfrm>
          <a:prstGeom prst="rect">
            <a:avLst/>
          </a:prstGeom>
          <a:noFill/>
          <a:ln>
            <a:solidFill>
              <a:schemeClr val="bg1">
                <a:lumMod val="50000"/>
              </a:schemeClr>
            </a:solidFill>
          </a:ln>
        </p:spPr>
        <p:txBody>
          <a:bodyPr wrap="none" rtlCol="0">
            <a:spAutoFit/>
          </a:bodyPr>
          <a:lstStyle/>
          <a:p>
            <a:pPr algn="ctr"/>
            <a:r>
              <a:rPr lang="ko-KR" altLang="en-US" sz="1200" dirty="0"/>
              <a:t>등록 후 丁에게 양도</a:t>
            </a:r>
          </a:p>
        </p:txBody>
      </p:sp>
      <p:cxnSp>
        <p:nvCxnSpPr>
          <p:cNvPr id="90" name="직선 연결선 89"/>
          <p:cNvCxnSpPr>
            <a:stCxn id="89" idx="0"/>
            <a:endCxn id="88" idx="4"/>
          </p:cNvCxnSpPr>
          <p:nvPr/>
        </p:nvCxnSpPr>
        <p:spPr>
          <a:xfrm flipH="1" flipV="1">
            <a:off x="6139083" y="5280790"/>
            <a:ext cx="1052" cy="105772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타원 92"/>
          <p:cNvSpPr/>
          <p:nvPr/>
        </p:nvSpPr>
        <p:spPr>
          <a:xfrm>
            <a:off x="6918964" y="511945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94" name="TextBox 93"/>
          <p:cNvSpPr txBox="1"/>
          <p:nvPr/>
        </p:nvSpPr>
        <p:spPr>
          <a:xfrm>
            <a:off x="6331978" y="5738444"/>
            <a:ext cx="1330813" cy="276999"/>
          </a:xfrm>
          <a:prstGeom prst="rect">
            <a:avLst/>
          </a:prstGeom>
          <a:noFill/>
          <a:ln>
            <a:solidFill>
              <a:schemeClr val="bg1">
                <a:lumMod val="50000"/>
              </a:schemeClr>
            </a:solidFill>
          </a:ln>
        </p:spPr>
        <p:txBody>
          <a:bodyPr wrap="none" rtlCol="0">
            <a:spAutoFit/>
          </a:bodyPr>
          <a:lstStyle/>
          <a:p>
            <a:pPr algn="ctr"/>
            <a:r>
              <a:rPr lang="ko-KR" altLang="en-US" sz="1200" dirty="0"/>
              <a:t>丁이 침해소송제기</a:t>
            </a:r>
          </a:p>
        </p:txBody>
      </p:sp>
      <p:cxnSp>
        <p:nvCxnSpPr>
          <p:cNvPr id="95" name="직선 연결선 94"/>
          <p:cNvCxnSpPr>
            <a:stCxn id="94" idx="0"/>
            <a:endCxn id="93" idx="4"/>
          </p:cNvCxnSpPr>
          <p:nvPr/>
        </p:nvCxnSpPr>
        <p:spPr>
          <a:xfrm flipH="1" flipV="1">
            <a:off x="6996333" y="5280790"/>
            <a:ext cx="1052" cy="45765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타원 95"/>
          <p:cNvSpPr/>
          <p:nvPr/>
        </p:nvSpPr>
        <p:spPr>
          <a:xfrm>
            <a:off x="7437175" y="5109926"/>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97" name="TextBox 96"/>
          <p:cNvSpPr txBox="1"/>
          <p:nvPr/>
        </p:nvSpPr>
        <p:spPr>
          <a:xfrm>
            <a:off x="6516228" y="4393725"/>
            <a:ext cx="1996634" cy="435251"/>
          </a:xfrm>
          <a:prstGeom prst="rect">
            <a:avLst/>
          </a:prstGeom>
          <a:solidFill>
            <a:schemeClr val="accent2"/>
          </a:solidFill>
          <a:ln>
            <a:solidFill>
              <a:schemeClr val="bg1">
                <a:lumMod val="50000"/>
              </a:schemeClr>
            </a:solidFill>
          </a:ln>
        </p:spPr>
        <p:txBody>
          <a:bodyPr wrap="square" rtlCol="0" anchor="ctr">
            <a:noAutofit/>
          </a:bodyPr>
          <a:lstStyle/>
          <a:p>
            <a:pPr algn="ctr"/>
            <a:r>
              <a:rPr lang="ko-KR" altLang="en-US" sz="1400" dirty="0">
                <a:solidFill>
                  <a:schemeClr val="bg1">
                    <a:lumMod val="95000"/>
                  </a:schemeClr>
                </a:solidFill>
              </a:rPr>
              <a:t>丙이 선사용권 항변</a:t>
            </a:r>
            <a:r>
              <a:rPr lang="en-US" altLang="ko-KR" sz="1400" dirty="0">
                <a:solidFill>
                  <a:schemeClr val="bg1">
                    <a:lumMod val="95000"/>
                  </a:schemeClr>
                </a:solidFill>
              </a:rPr>
              <a:t>: </a:t>
            </a:r>
            <a:r>
              <a:rPr lang="ko-KR" altLang="en-US" sz="1400" dirty="0">
                <a:solidFill>
                  <a:schemeClr val="bg1">
                    <a:lumMod val="95000"/>
                  </a:schemeClr>
                </a:solidFill>
              </a:rPr>
              <a:t>인정</a:t>
            </a:r>
          </a:p>
        </p:txBody>
      </p:sp>
      <p:cxnSp>
        <p:nvCxnSpPr>
          <p:cNvPr id="98" name="직선 연결선 97"/>
          <p:cNvCxnSpPr>
            <a:stCxn id="97" idx="2"/>
            <a:endCxn id="96" idx="0"/>
          </p:cNvCxnSpPr>
          <p:nvPr/>
        </p:nvCxnSpPr>
        <p:spPr>
          <a:xfrm flipH="1">
            <a:off x="7514544" y="4828976"/>
            <a:ext cx="1" cy="28095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Line 5">
            <a:extLst>
              <a:ext uri="{FF2B5EF4-FFF2-40B4-BE49-F238E27FC236}">
                <a16:creationId xmlns:a16="http://schemas.microsoft.com/office/drawing/2014/main" id="{D02D6E3A-674D-4044-96AC-E4C6BCEE5D33}"/>
              </a:ext>
            </a:extLst>
          </p:cNvPr>
          <p:cNvSpPr>
            <a:spLocks noChangeShapeType="1"/>
          </p:cNvSpPr>
          <p:nvPr/>
        </p:nvSpPr>
        <p:spPr bwMode="auto">
          <a:xfrm>
            <a:off x="1193685" y="2792358"/>
            <a:ext cx="10645086"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8" name="타원 47">
            <a:extLst>
              <a:ext uri="{FF2B5EF4-FFF2-40B4-BE49-F238E27FC236}">
                <a16:creationId xmlns:a16="http://schemas.microsoft.com/office/drawing/2014/main" id="{3B0F4E26-F08C-45E3-B156-899D43679781}"/>
              </a:ext>
            </a:extLst>
          </p:cNvPr>
          <p:cNvSpPr/>
          <p:nvPr/>
        </p:nvSpPr>
        <p:spPr>
          <a:xfrm>
            <a:off x="1893625" y="271752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49" name="TextBox 48">
            <a:extLst>
              <a:ext uri="{FF2B5EF4-FFF2-40B4-BE49-F238E27FC236}">
                <a16:creationId xmlns:a16="http://schemas.microsoft.com/office/drawing/2014/main" id="{E9777942-14B1-43C9-AECA-C14E0E9C126C}"/>
              </a:ext>
            </a:extLst>
          </p:cNvPr>
          <p:cNvSpPr txBox="1"/>
          <p:nvPr/>
        </p:nvSpPr>
        <p:spPr>
          <a:xfrm>
            <a:off x="1651279" y="3126964"/>
            <a:ext cx="641521" cy="276999"/>
          </a:xfrm>
          <a:prstGeom prst="rect">
            <a:avLst/>
          </a:prstGeom>
          <a:noFill/>
          <a:ln>
            <a:solidFill>
              <a:schemeClr val="bg1">
                <a:lumMod val="50000"/>
              </a:schemeClr>
            </a:solidFill>
          </a:ln>
        </p:spPr>
        <p:txBody>
          <a:bodyPr wrap="none" rtlCol="0">
            <a:spAutoFit/>
          </a:bodyPr>
          <a:lstStyle/>
          <a:p>
            <a:pPr algn="ctr"/>
            <a:r>
              <a:rPr lang="ko-KR" altLang="en-US" sz="1200" dirty="0"/>
              <a:t>甲 발명</a:t>
            </a:r>
          </a:p>
        </p:txBody>
      </p:sp>
      <p:cxnSp>
        <p:nvCxnSpPr>
          <p:cNvPr id="50" name="직선 연결선 49">
            <a:extLst>
              <a:ext uri="{FF2B5EF4-FFF2-40B4-BE49-F238E27FC236}">
                <a16:creationId xmlns:a16="http://schemas.microsoft.com/office/drawing/2014/main" id="{F1BA0C3C-C4C4-44C9-9910-1389E6CB5555}"/>
              </a:ext>
            </a:extLst>
          </p:cNvPr>
          <p:cNvCxnSpPr>
            <a:stCxn id="49" idx="0"/>
            <a:endCxn id="48" idx="4"/>
          </p:cNvCxnSpPr>
          <p:nvPr/>
        </p:nvCxnSpPr>
        <p:spPr>
          <a:xfrm flipH="1" flipV="1">
            <a:off x="1970994" y="2878860"/>
            <a:ext cx="1046"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6" name="타원 85">
            <a:extLst>
              <a:ext uri="{FF2B5EF4-FFF2-40B4-BE49-F238E27FC236}">
                <a16:creationId xmlns:a16="http://schemas.microsoft.com/office/drawing/2014/main" id="{BEBD22BC-CE43-4FA1-BD02-36DB31E1E18E}"/>
              </a:ext>
            </a:extLst>
          </p:cNvPr>
          <p:cNvSpPr/>
          <p:nvPr/>
        </p:nvSpPr>
        <p:spPr>
          <a:xfrm>
            <a:off x="3208172" y="271752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87" name="TextBox 86">
            <a:extLst>
              <a:ext uri="{FF2B5EF4-FFF2-40B4-BE49-F238E27FC236}">
                <a16:creationId xmlns:a16="http://schemas.microsoft.com/office/drawing/2014/main" id="{B453EAA0-942D-4488-BED5-0B26BCEAEEAF}"/>
              </a:ext>
            </a:extLst>
          </p:cNvPr>
          <p:cNvSpPr txBox="1"/>
          <p:nvPr/>
        </p:nvSpPr>
        <p:spPr>
          <a:xfrm>
            <a:off x="2521086" y="3126964"/>
            <a:ext cx="1511953" cy="276999"/>
          </a:xfrm>
          <a:prstGeom prst="rect">
            <a:avLst/>
          </a:prstGeom>
          <a:noFill/>
          <a:ln>
            <a:solidFill>
              <a:schemeClr val="bg1">
                <a:lumMod val="50000"/>
              </a:schemeClr>
            </a:solidFill>
          </a:ln>
        </p:spPr>
        <p:txBody>
          <a:bodyPr wrap="square" rtlCol="0">
            <a:spAutoFit/>
          </a:bodyPr>
          <a:lstStyle/>
          <a:p>
            <a:pPr algn="ctr"/>
            <a:r>
              <a:rPr lang="ko-KR" altLang="en-US" sz="1200" dirty="0"/>
              <a:t>乙이 甲으로부터 지득</a:t>
            </a:r>
          </a:p>
        </p:txBody>
      </p:sp>
      <p:cxnSp>
        <p:nvCxnSpPr>
          <p:cNvPr id="91" name="직선 연결선 90">
            <a:extLst>
              <a:ext uri="{FF2B5EF4-FFF2-40B4-BE49-F238E27FC236}">
                <a16:creationId xmlns:a16="http://schemas.microsoft.com/office/drawing/2014/main" id="{FA36C7B6-4F15-4CBD-9EB0-E6ABB2B691DE}"/>
              </a:ext>
            </a:extLst>
          </p:cNvPr>
          <p:cNvCxnSpPr>
            <a:cxnSpLocks/>
            <a:endCxn id="86" idx="4"/>
          </p:cNvCxnSpPr>
          <p:nvPr/>
        </p:nvCxnSpPr>
        <p:spPr>
          <a:xfrm flipH="1" flipV="1">
            <a:off x="3285541" y="2878860"/>
            <a:ext cx="1047"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타원 91">
            <a:extLst>
              <a:ext uri="{FF2B5EF4-FFF2-40B4-BE49-F238E27FC236}">
                <a16:creationId xmlns:a16="http://schemas.microsoft.com/office/drawing/2014/main" id="{A26086D2-BE54-47CD-AAAB-C8271877A61C}"/>
              </a:ext>
            </a:extLst>
          </p:cNvPr>
          <p:cNvSpPr/>
          <p:nvPr/>
        </p:nvSpPr>
        <p:spPr>
          <a:xfrm>
            <a:off x="5045666" y="271752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99" name="TextBox 98">
            <a:extLst>
              <a:ext uri="{FF2B5EF4-FFF2-40B4-BE49-F238E27FC236}">
                <a16:creationId xmlns:a16="http://schemas.microsoft.com/office/drawing/2014/main" id="{8C4AF152-46FA-417B-9494-3FEBBA72149E}"/>
              </a:ext>
            </a:extLst>
          </p:cNvPr>
          <p:cNvSpPr txBox="1"/>
          <p:nvPr/>
        </p:nvSpPr>
        <p:spPr>
          <a:xfrm>
            <a:off x="4228364" y="3126964"/>
            <a:ext cx="1772386" cy="461665"/>
          </a:xfrm>
          <a:prstGeom prst="rect">
            <a:avLst/>
          </a:prstGeom>
          <a:noFill/>
          <a:ln>
            <a:solidFill>
              <a:schemeClr val="bg1">
                <a:lumMod val="50000"/>
              </a:schemeClr>
            </a:solidFill>
          </a:ln>
        </p:spPr>
        <p:txBody>
          <a:bodyPr wrap="square" rtlCol="0">
            <a:spAutoFit/>
          </a:bodyPr>
          <a:lstStyle/>
          <a:p>
            <a:pPr algn="ctr"/>
            <a:r>
              <a:rPr lang="ko-KR" altLang="en-US" sz="1200" dirty="0"/>
              <a:t>乙이 국내에서 </a:t>
            </a:r>
            <a:endParaRPr lang="en-US" altLang="ko-KR" sz="1200" dirty="0"/>
          </a:p>
          <a:p>
            <a:pPr algn="ctr"/>
            <a:r>
              <a:rPr lang="ko-KR" altLang="en-US" sz="1200" dirty="0"/>
              <a:t>실시사업 또는 사업준비</a:t>
            </a:r>
          </a:p>
        </p:txBody>
      </p:sp>
      <p:cxnSp>
        <p:nvCxnSpPr>
          <p:cNvPr id="100" name="직선 연결선 99">
            <a:extLst>
              <a:ext uri="{FF2B5EF4-FFF2-40B4-BE49-F238E27FC236}">
                <a16:creationId xmlns:a16="http://schemas.microsoft.com/office/drawing/2014/main" id="{63E59C04-8F57-4256-8366-589D2B002C10}"/>
              </a:ext>
            </a:extLst>
          </p:cNvPr>
          <p:cNvCxnSpPr>
            <a:cxnSpLocks/>
            <a:endCxn id="92" idx="4"/>
          </p:cNvCxnSpPr>
          <p:nvPr/>
        </p:nvCxnSpPr>
        <p:spPr>
          <a:xfrm flipH="1" flipV="1">
            <a:off x="5123035" y="2878860"/>
            <a:ext cx="1047"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1" name="타원 100">
            <a:extLst>
              <a:ext uri="{FF2B5EF4-FFF2-40B4-BE49-F238E27FC236}">
                <a16:creationId xmlns:a16="http://schemas.microsoft.com/office/drawing/2014/main" id="{AD998DB3-BB60-48E3-861C-658000689A38}"/>
              </a:ext>
            </a:extLst>
          </p:cNvPr>
          <p:cNvSpPr/>
          <p:nvPr/>
        </p:nvSpPr>
        <p:spPr>
          <a:xfrm>
            <a:off x="6332733" y="271752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102" name="TextBox 101">
            <a:extLst>
              <a:ext uri="{FF2B5EF4-FFF2-40B4-BE49-F238E27FC236}">
                <a16:creationId xmlns:a16="http://schemas.microsoft.com/office/drawing/2014/main" id="{A9CE25EE-EB40-4151-8C55-C25FCC1E555B}"/>
              </a:ext>
            </a:extLst>
          </p:cNvPr>
          <p:cNvSpPr txBox="1"/>
          <p:nvPr/>
        </p:nvSpPr>
        <p:spPr>
          <a:xfrm>
            <a:off x="6090386" y="3126964"/>
            <a:ext cx="641522" cy="276999"/>
          </a:xfrm>
          <a:prstGeom prst="rect">
            <a:avLst/>
          </a:prstGeom>
          <a:noFill/>
          <a:ln>
            <a:solidFill>
              <a:schemeClr val="bg1">
                <a:lumMod val="50000"/>
              </a:schemeClr>
            </a:solidFill>
          </a:ln>
        </p:spPr>
        <p:txBody>
          <a:bodyPr wrap="none" rtlCol="0">
            <a:spAutoFit/>
          </a:bodyPr>
          <a:lstStyle/>
          <a:p>
            <a:pPr algn="ctr"/>
            <a:r>
              <a:rPr lang="ko-KR" altLang="en-US" sz="1200" dirty="0"/>
              <a:t>甲 출원</a:t>
            </a:r>
          </a:p>
        </p:txBody>
      </p:sp>
      <p:cxnSp>
        <p:nvCxnSpPr>
          <p:cNvPr id="103" name="직선 연결선 102">
            <a:extLst>
              <a:ext uri="{FF2B5EF4-FFF2-40B4-BE49-F238E27FC236}">
                <a16:creationId xmlns:a16="http://schemas.microsoft.com/office/drawing/2014/main" id="{186C0828-5CFB-4338-A5CE-9FD9AABD0D21}"/>
              </a:ext>
            </a:extLst>
          </p:cNvPr>
          <p:cNvCxnSpPr>
            <a:stCxn id="102" idx="0"/>
            <a:endCxn id="101" idx="4"/>
          </p:cNvCxnSpPr>
          <p:nvPr/>
        </p:nvCxnSpPr>
        <p:spPr>
          <a:xfrm flipH="1" flipV="1">
            <a:off x="6410102" y="2878860"/>
            <a:ext cx="1045"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4" name="타원 103">
            <a:extLst>
              <a:ext uri="{FF2B5EF4-FFF2-40B4-BE49-F238E27FC236}">
                <a16:creationId xmlns:a16="http://schemas.microsoft.com/office/drawing/2014/main" id="{201E3B5A-D69C-4F8A-B51F-79C9D6B56DCA}"/>
              </a:ext>
            </a:extLst>
          </p:cNvPr>
          <p:cNvSpPr/>
          <p:nvPr/>
        </p:nvSpPr>
        <p:spPr>
          <a:xfrm>
            <a:off x="7098223" y="271752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105" name="TextBox 104">
            <a:extLst>
              <a:ext uri="{FF2B5EF4-FFF2-40B4-BE49-F238E27FC236}">
                <a16:creationId xmlns:a16="http://schemas.microsoft.com/office/drawing/2014/main" id="{7278B48A-BCB9-4E18-8A25-C2CA36195CD1}"/>
              </a:ext>
            </a:extLst>
          </p:cNvPr>
          <p:cNvSpPr txBox="1"/>
          <p:nvPr/>
        </p:nvSpPr>
        <p:spPr>
          <a:xfrm>
            <a:off x="6855876" y="3126964"/>
            <a:ext cx="641522" cy="276999"/>
          </a:xfrm>
          <a:prstGeom prst="rect">
            <a:avLst/>
          </a:prstGeom>
          <a:noFill/>
          <a:ln>
            <a:solidFill>
              <a:schemeClr val="bg1">
                <a:lumMod val="50000"/>
              </a:schemeClr>
            </a:solidFill>
          </a:ln>
        </p:spPr>
        <p:txBody>
          <a:bodyPr wrap="none" rtlCol="0">
            <a:spAutoFit/>
          </a:bodyPr>
          <a:lstStyle/>
          <a:p>
            <a:pPr algn="ctr"/>
            <a:r>
              <a:rPr lang="ko-KR" altLang="en-US" sz="1200" dirty="0"/>
              <a:t>甲 등록</a:t>
            </a:r>
          </a:p>
        </p:txBody>
      </p:sp>
      <p:cxnSp>
        <p:nvCxnSpPr>
          <p:cNvPr id="106" name="직선 연결선 105">
            <a:extLst>
              <a:ext uri="{FF2B5EF4-FFF2-40B4-BE49-F238E27FC236}">
                <a16:creationId xmlns:a16="http://schemas.microsoft.com/office/drawing/2014/main" id="{436F8EB8-41AF-4E12-8557-38EA9A99AF07}"/>
              </a:ext>
            </a:extLst>
          </p:cNvPr>
          <p:cNvCxnSpPr>
            <a:stCxn id="105" idx="0"/>
            <a:endCxn id="104" idx="4"/>
          </p:cNvCxnSpPr>
          <p:nvPr/>
        </p:nvCxnSpPr>
        <p:spPr>
          <a:xfrm flipH="1" flipV="1">
            <a:off x="7175592" y="2878860"/>
            <a:ext cx="1045"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7" name="타원 106">
            <a:extLst>
              <a:ext uri="{FF2B5EF4-FFF2-40B4-BE49-F238E27FC236}">
                <a16:creationId xmlns:a16="http://schemas.microsoft.com/office/drawing/2014/main" id="{47A341BC-A396-4C77-AE65-0EC204EB3410}"/>
              </a:ext>
            </a:extLst>
          </p:cNvPr>
          <p:cNvSpPr/>
          <p:nvPr/>
        </p:nvSpPr>
        <p:spPr>
          <a:xfrm>
            <a:off x="10087247" y="271752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108" name="TextBox 107">
            <a:extLst>
              <a:ext uri="{FF2B5EF4-FFF2-40B4-BE49-F238E27FC236}">
                <a16:creationId xmlns:a16="http://schemas.microsoft.com/office/drawing/2014/main" id="{36E5F19E-C59D-41C4-9A2C-02F68CC3CBE9}"/>
              </a:ext>
            </a:extLst>
          </p:cNvPr>
          <p:cNvSpPr txBox="1"/>
          <p:nvPr/>
        </p:nvSpPr>
        <p:spPr>
          <a:xfrm>
            <a:off x="9079059" y="3098389"/>
            <a:ext cx="2154158" cy="307777"/>
          </a:xfrm>
          <a:prstGeom prst="rect">
            <a:avLst/>
          </a:prstGeom>
          <a:solidFill>
            <a:schemeClr val="accent2"/>
          </a:solidFill>
          <a:ln>
            <a:solidFill>
              <a:schemeClr val="bg1">
                <a:lumMod val="50000"/>
              </a:schemeClr>
            </a:solidFill>
          </a:ln>
        </p:spPr>
        <p:txBody>
          <a:bodyPr wrap="square" rtlCol="0">
            <a:spAutoFit/>
          </a:bodyPr>
          <a:lstStyle/>
          <a:p>
            <a:pPr algn="ctr"/>
            <a:r>
              <a:rPr lang="ko-KR" altLang="en-US" sz="1400" dirty="0">
                <a:solidFill>
                  <a:schemeClr val="bg1"/>
                </a:solidFill>
              </a:rPr>
              <a:t>乙이 선사용권 항변</a:t>
            </a:r>
            <a:r>
              <a:rPr lang="en-US" altLang="ko-KR" sz="1400" dirty="0">
                <a:solidFill>
                  <a:schemeClr val="bg1"/>
                </a:solidFill>
              </a:rPr>
              <a:t>: </a:t>
            </a:r>
            <a:r>
              <a:rPr lang="ko-KR" altLang="en-US" sz="1400" dirty="0">
                <a:solidFill>
                  <a:schemeClr val="bg1"/>
                </a:solidFill>
              </a:rPr>
              <a:t>불인정</a:t>
            </a:r>
          </a:p>
        </p:txBody>
      </p:sp>
      <p:cxnSp>
        <p:nvCxnSpPr>
          <p:cNvPr id="109" name="직선 연결선 108">
            <a:extLst>
              <a:ext uri="{FF2B5EF4-FFF2-40B4-BE49-F238E27FC236}">
                <a16:creationId xmlns:a16="http://schemas.microsoft.com/office/drawing/2014/main" id="{03503E16-6420-47F1-ADB6-D6379C20DBD0}"/>
              </a:ext>
            </a:extLst>
          </p:cNvPr>
          <p:cNvCxnSpPr>
            <a:cxnSpLocks/>
            <a:endCxn id="107" idx="4"/>
          </p:cNvCxnSpPr>
          <p:nvPr/>
        </p:nvCxnSpPr>
        <p:spPr>
          <a:xfrm flipH="1" flipV="1">
            <a:off x="10164616" y="2878860"/>
            <a:ext cx="1047"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0" name="타원 109">
            <a:extLst>
              <a:ext uri="{FF2B5EF4-FFF2-40B4-BE49-F238E27FC236}">
                <a16:creationId xmlns:a16="http://schemas.microsoft.com/office/drawing/2014/main" id="{A4009CD6-DF7B-4CE0-899B-7B13B6351B10}"/>
              </a:ext>
            </a:extLst>
          </p:cNvPr>
          <p:cNvSpPr/>
          <p:nvPr/>
        </p:nvSpPr>
        <p:spPr>
          <a:xfrm>
            <a:off x="8157819" y="271752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111" name="TextBox 110">
            <a:extLst>
              <a:ext uri="{FF2B5EF4-FFF2-40B4-BE49-F238E27FC236}">
                <a16:creationId xmlns:a16="http://schemas.microsoft.com/office/drawing/2014/main" id="{D03AFA59-A509-4389-B229-33DA46AD16A6}"/>
              </a:ext>
            </a:extLst>
          </p:cNvPr>
          <p:cNvSpPr txBox="1"/>
          <p:nvPr/>
        </p:nvSpPr>
        <p:spPr>
          <a:xfrm>
            <a:off x="7639756" y="3126964"/>
            <a:ext cx="1192955" cy="276999"/>
          </a:xfrm>
          <a:prstGeom prst="rect">
            <a:avLst/>
          </a:prstGeom>
          <a:noFill/>
          <a:ln>
            <a:solidFill>
              <a:schemeClr val="bg1">
                <a:lumMod val="50000"/>
              </a:schemeClr>
            </a:solidFill>
          </a:ln>
        </p:spPr>
        <p:txBody>
          <a:bodyPr wrap="none" rtlCol="0">
            <a:spAutoFit/>
          </a:bodyPr>
          <a:lstStyle/>
          <a:p>
            <a:pPr algn="ctr"/>
            <a:r>
              <a:rPr lang="ko-KR" altLang="en-US" sz="1200" dirty="0"/>
              <a:t>甲 침해소송제기</a:t>
            </a:r>
          </a:p>
        </p:txBody>
      </p:sp>
      <p:cxnSp>
        <p:nvCxnSpPr>
          <p:cNvPr id="112" name="직선 연결선 111">
            <a:extLst>
              <a:ext uri="{FF2B5EF4-FFF2-40B4-BE49-F238E27FC236}">
                <a16:creationId xmlns:a16="http://schemas.microsoft.com/office/drawing/2014/main" id="{47224C3A-83B2-4BB2-AB64-F223DD9ADC51}"/>
              </a:ext>
            </a:extLst>
          </p:cNvPr>
          <p:cNvCxnSpPr>
            <a:stCxn id="111" idx="0"/>
            <a:endCxn id="110" idx="4"/>
          </p:cNvCxnSpPr>
          <p:nvPr/>
        </p:nvCxnSpPr>
        <p:spPr>
          <a:xfrm flipH="1" flipV="1">
            <a:off x="8235188" y="2878860"/>
            <a:ext cx="1046"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3" name="TextBox 112">
            <a:extLst>
              <a:ext uri="{FF2B5EF4-FFF2-40B4-BE49-F238E27FC236}">
                <a16:creationId xmlns:a16="http://schemas.microsoft.com/office/drawing/2014/main" id="{EAF33929-F3EA-4E0E-91CD-B32E79A34C69}"/>
              </a:ext>
            </a:extLst>
          </p:cNvPr>
          <p:cNvSpPr txBox="1"/>
          <p:nvPr/>
        </p:nvSpPr>
        <p:spPr>
          <a:xfrm>
            <a:off x="9076588" y="3556246"/>
            <a:ext cx="2154157" cy="461665"/>
          </a:xfrm>
          <a:prstGeom prst="rect">
            <a:avLst/>
          </a:prstGeom>
          <a:noFill/>
          <a:ln>
            <a:solidFill>
              <a:schemeClr val="bg1">
                <a:lumMod val="50000"/>
              </a:schemeClr>
            </a:solidFill>
          </a:ln>
        </p:spPr>
        <p:txBody>
          <a:bodyPr wrap="square" rtlCol="0">
            <a:spAutoFit/>
          </a:bodyPr>
          <a:lstStyle/>
          <a:p>
            <a:pPr algn="ctr"/>
            <a:r>
              <a:rPr lang="ko-KR" altLang="en-US" sz="1200" dirty="0"/>
              <a:t>乙이 발명한 甲으로부터 알게 됨</a:t>
            </a:r>
            <a:endParaRPr lang="en-US" altLang="ko-KR" sz="1200" dirty="0"/>
          </a:p>
          <a:p>
            <a:pPr algn="ctr"/>
            <a:r>
              <a:rPr lang="en-US" altLang="ko-KR" sz="1200" dirty="0">
                <a:solidFill>
                  <a:srgbClr val="FF0000"/>
                </a:solidFill>
              </a:rPr>
              <a:t>(</a:t>
            </a:r>
            <a:r>
              <a:rPr lang="ko-KR" altLang="en-US" sz="1200" dirty="0">
                <a:solidFill>
                  <a:srgbClr val="FF0000"/>
                </a:solidFill>
              </a:rPr>
              <a:t>같은 발명루트</a:t>
            </a:r>
            <a:r>
              <a:rPr lang="en-US" altLang="ko-KR" sz="1200" dirty="0">
                <a:solidFill>
                  <a:srgbClr val="FF0000"/>
                </a:solidFill>
              </a:rPr>
              <a:t>)</a:t>
            </a:r>
            <a:endParaRPr lang="ko-KR" altLang="en-US" sz="1200" dirty="0">
              <a:solidFill>
                <a:srgbClr val="FF0000"/>
              </a:solidFill>
            </a:endParaRPr>
          </a:p>
        </p:txBody>
      </p:sp>
      <p:cxnSp>
        <p:nvCxnSpPr>
          <p:cNvPr id="16" name="직선 연결선 15">
            <a:extLst>
              <a:ext uri="{FF2B5EF4-FFF2-40B4-BE49-F238E27FC236}">
                <a16:creationId xmlns:a16="http://schemas.microsoft.com/office/drawing/2014/main" id="{78FE8A99-5FA9-42D5-AE5B-FC567E571BCA}"/>
              </a:ext>
            </a:extLst>
          </p:cNvPr>
          <p:cNvCxnSpPr>
            <a:stCxn id="113" idx="0"/>
            <a:endCxn id="108" idx="2"/>
          </p:cNvCxnSpPr>
          <p:nvPr/>
        </p:nvCxnSpPr>
        <p:spPr>
          <a:xfrm flipV="1">
            <a:off x="10153667" y="3406166"/>
            <a:ext cx="2471" cy="15008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4" name="TextBox 113">
            <a:extLst>
              <a:ext uri="{FF2B5EF4-FFF2-40B4-BE49-F238E27FC236}">
                <a16:creationId xmlns:a16="http://schemas.microsoft.com/office/drawing/2014/main" id="{DE602E27-B11A-401A-9A33-917DA060930F}"/>
              </a:ext>
            </a:extLst>
          </p:cNvPr>
          <p:cNvSpPr txBox="1"/>
          <p:nvPr/>
        </p:nvSpPr>
        <p:spPr>
          <a:xfrm>
            <a:off x="9076588" y="5448922"/>
            <a:ext cx="2835439" cy="1015663"/>
          </a:xfrm>
          <a:prstGeom prst="rect">
            <a:avLst/>
          </a:prstGeom>
          <a:noFill/>
          <a:ln>
            <a:solidFill>
              <a:schemeClr val="bg1">
                <a:lumMod val="50000"/>
              </a:schemeClr>
            </a:solidFill>
          </a:ln>
        </p:spPr>
        <p:txBody>
          <a:bodyPr wrap="square" rtlCol="0">
            <a:spAutoFit/>
          </a:bodyPr>
          <a:lstStyle/>
          <a:p>
            <a:pPr algn="just"/>
            <a:r>
              <a:rPr lang="ko-KR" altLang="en-US" sz="1200" dirty="0"/>
              <a:t>丙은 </a:t>
            </a:r>
            <a:r>
              <a:rPr lang="ko-KR" altLang="en-US" sz="1200" dirty="0" err="1"/>
              <a:t>특허출원된</a:t>
            </a:r>
            <a:r>
              <a:rPr lang="ko-KR" altLang="en-US" sz="1200" dirty="0"/>
              <a:t> 발명의 내용을 알지 못하고 스스로 발명한 자에 해당함</a:t>
            </a:r>
            <a:endParaRPr lang="en-US" altLang="ko-KR" sz="1200" dirty="0"/>
          </a:p>
          <a:p>
            <a:pPr algn="just"/>
            <a:r>
              <a:rPr lang="en-US" altLang="ko-KR" sz="1200" dirty="0">
                <a:solidFill>
                  <a:srgbClr val="FF0000"/>
                </a:solidFill>
              </a:rPr>
              <a:t>(</a:t>
            </a:r>
            <a:r>
              <a:rPr lang="ko-KR" altLang="en-US" sz="1200" dirty="0">
                <a:solidFill>
                  <a:srgbClr val="FF0000"/>
                </a:solidFill>
              </a:rPr>
              <a:t>정당한</a:t>
            </a:r>
            <a:r>
              <a:rPr lang="en-US" altLang="ko-KR" sz="1200" dirty="0">
                <a:solidFill>
                  <a:srgbClr val="FF0000"/>
                </a:solidFill>
              </a:rPr>
              <a:t> </a:t>
            </a:r>
            <a:r>
              <a:rPr lang="ko-KR" altLang="en-US" sz="1200" dirty="0">
                <a:solidFill>
                  <a:srgbClr val="FF0000"/>
                </a:solidFill>
              </a:rPr>
              <a:t>권리자가 실시사업 또는 </a:t>
            </a:r>
            <a:r>
              <a:rPr lang="ko-KR" altLang="en-US" sz="1200" dirty="0" err="1">
                <a:solidFill>
                  <a:srgbClr val="FF0000"/>
                </a:solidFill>
              </a:rPr>
              <a:t>사업준비하고</a:t>
            </a:r>
            <a:r>
              <a:rPr lang="ko-KR" altLang="en-US" sz="1200" dirty="0">
                <a:solidFill>
                  <a:srgbClr val="FF0000"/>
                </a:solidFill>
              </a:rPr>
              <a:t> 있는데 무권리자가 출원하여 착오로 등록된 경우</a:t>
            </a:r>
            <a:r>
              <a:rPr lang="en-US" altLang="ko-KR" sz="1200" dirty="0">
                <a:solidFill>
                  <a:srgbClr val="FF0000"/>
                </a:solidFill>
              </a:rPr>
              <a:t>)</a:t>
            </a:r>
            <a:endParaRPr lang="ko-KR" altLang="en-US" sz="1200" dirty="0">
              <a:solidFill>
                <a:srgbClr val="FF0000"/>
              </a:solidFill>
            </a:endParaRPr>
          </a:p>
        </p:txBody>
      </p:sp>
      <p:sp>
        <p:nvSpPr>
          <p:cNvPr id="29" name="자유형: 도형 28">
            <a:extLst>
              <a:ext uri="{FF2B5EF4-FFF2-40B4-BE49-F238E27FC236}">
                <a16:creationId xmlns:a16="http://schemas.microsoft.com/office/drawing/2014/main" id="{F450E51C-47B0-41ED-A463-62D9BE7A242A}"/>
              </a:ext>
            </a:extLst>
          </p:cNvPr>
          <p:cNvSpPr/>
          <p:nvPr/>
        </p:nvSpPr>
        <p:spPr>
          <a:xfrm>
            <a:off x="247650" y="3590925"/>
            <a:ext cx="11868150" cy="485775"/>
          </a:xfrm>
          <a:custGeom>
            <a:avLst/>
            <a:gdLst>
              <a:gd name="connsiteX0" fmla="*/ 11868150 w 11868150"/>
              <a:gd name="connsiteY0" fmla="*/ 485775 h 485775"/>
              <a:gd name="connsiteX1" fmla="*/ 3162300 w 11868150"/>
              <a:gd name="connsiteY1" fmla="*/ 485775 h 485775"/>
              <a:gd name="connsiteX2" fmla="*/ 3162300 w 11868150"/>
              <a:gd name="connsiteY2" fmla="*/ 0 h 485775"/>
              <a:gd name="connsiteX3" fmla="*/ 0 w 11868150"/>
              <a:gd name="connsiteY3" fmla="*/ 0 h 485775"/>
            </a:gdLst>
            <a:ahLst/>
            <a:cxnLst>
              <a:cxn ang="0">
                <a:pos x="connsiteX0" y="connsiteY0"/>
              </a:cxn>
              <a:cxn ang="0">
                <a:pos x="connsiteX1" y="connsiteY1"/>
              </a:cxn>
              <a:cxn ang="0">
                <a:pos x="connsiteX2" y="connsiteY2"/>
              </a:cxn>
              <a:cxn ang="0">
                <a:pos x="connsiteX3" y="connsiteY3"/>
              </a:cxn>
            </a:cxnLst>
            <a:rect l="l" t="t" r="r" b="b"/>
            <a:pathLst>
              <a:path w="11868150" h="485775">
                <a:moveTo>
                  <a:pt x="11868150" y="485775"/>
                </a:moveTo>
                <a:lnTo>
                  <a:pt x="3162300" y="485775"/>
                </a:lnTo>
                <a:lnTo>
                  <a:pt x="3162300" y="0"/>
                </a:lnTo>
                <a:lnTo>
                  <a:pt x="0" y="0"/>
                </a:lnTo>
              </a:path>
            </a:pathLst>
          </a:custGeom>
          <a:noFill/>
          <a:ln w="285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 name="연결선: 꺾임 9">
            <a:extLst>
              <a:ext uri="{FF2B5EF4-FFF2-40B4-BE49-F238E27FC236}">
                <a16:creationId xmlns:a16="http://schemas.microsoft.com/office/drawing/2014/main" id="{069FC632-8C01-42A0-A117-D77FDA118CAA}"/>
              </a:ext>
            </a:extLst>
          </p:cNvPr>
          <p:cNvCxnSpPr>
            <a:cxnSpLocks/>
            <a:stCxn id="97" idx="3"/>
            <a:endCxn id="114" idx="1"/>
          </p:cNvCxnSpPr>
          <p:nvPr/>
        </p:nvCxnSpPr>
        <p:spPr>
          <a:xfrm>
            <a:off x="8512862" y="4611351"/>
            <a:ext cx="563726" cy="134540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97375611"/>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107</a:t>
            </a:r>
            <a:r>
              <a:rPr lang="ko-KR" altLang="en-US" dirty="0"/>
              <a:t>조</a:t>
            </a:r>
            <a:r>
              <a:rPr lang="en-US" altLang="ko-KR" dirty="0"/>
              <a:t>~</a:t>
            </a:r>
            <a:r>
              <a:rPr lang="ko-KR" altLang="en-US" dirty="0"/>
              <a:t>제</a:t>
            </a:r>
            <a:r>
              <a:rPr lang="en-US" altLang="ko-KR" dirty="0"/>
              <a:t>115</a:t>
            </a:r>
            <a:r>
              <a:rPr lang="ko-KR" altLang="en-US" dirty="0"/>
              <a:t>조</a:t>
            </a:r>
          </a:p>
        </p:txBody>
      </p:sp>
      <p:sp>
        <p:nvSpPr>
          <p:cNvPr id="5" name="텍스트 개체 틀 4"/>
          <p:cNvSpPr>
            <a:spLocks noGrp="1"/>
          </p:cNvSpPr>
          <p:nvPr>
            <p:ph type="body" sz="quarter" idx="13"/>
          </p:nvPr>
        </p:nvSpPr>
        <p:spPr/>
        <p:txBody>
          <a:bodyPr/>
          <a:lstStyle/>
          <a:p>
            <a:r>
              <a:rPr lang="ko-KR" altLang="en-US" dirty="0"/>
              <a:t>재정에 의한 통상실시권의 요건</a:t>
            </a:r>
            <a:r>
              <a:rPr lang="en-US" altLang="ko-KR" dirty="0"/>
              <a:t>(</a:t>
            </a:r>
            <a:r>
              <a:rPr lang="ko-KR" altLang="en-US" dirty="0"/>
              <a:t>제</a:t>
            </a:r>
            <a:r>
              <a:rPr lang="en-US" altLang="ko-KR" dirty="0"/>
              <a:t>107</a:t>
            </a:r>
            <a:r>
              <a:rPr lang="ko-KR" altLang="en-US" dirty="0"/>
              <a:t>조</a:t>
            </a:r>
            <a:r>
              <a:rPr lang="en-US" altLang="ko-KR" dirty="0"/>
              <a:t>)</a:t>
            </a:r>
            <a:endParaRPr lang="ko-KR" altLang="en-US" dirty="0"/>
          </a:p>
        </p:txBody>
      </p:sp>
      <p:cxnSp>
        <p:nvCxnSpPr>
          <p:cNvPr id="23" name="직선 연결선 22"/>
          <p:cNvCxnSpPr/>
          <p:nvPr/>
        </p:nvCxnSpPr>
        <p:spPr>
          <a:xfrm>
            <a:off x="0" y="643142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77875" y="986046"/>
            <a:ext cx="11936323" cy="5447645"/>
          </a:xfrm>
          <a:prstGeom prst="rect">
            <a:avLst/>
          </a:prstGeom>
          <a:noFill/>
        </p:spPr>
        <p:txBody>
          <a:bodyPr wrap="square" rtlCol="0">
            <a:spAutoFit/>
          </a:bodyPr>
          <a:lstStyle/>
          <a:p>
            <a:r>
              <a:rPr lang="ko-KR" altLang="en-US" sz="1200" b="1" dirty="0">
                <a:solidFill>
                  <a:schemeClr val="accent1"/>
                </a:solidFill>
                <a:latin typeface="+mn-ea"/>
              </a:rPr>
              <a:t>제</a:t>
            </a:r>
            <a:r>
              <a:rPr lang="en-US" altLang="ko-KR" sz="1200" b="1" dirty="0">
                <a:solidFill>
                  <a:schemeClr val="accent1"/>
                </a:solidFill>
                <a:latin typeface="+mn-ea"/>
              </a:rPr>
              <a:t>107</a:t>
            </a:r>
            <a:r>
              <a:rPr lang="ko-KR" altLang="en-US" sz="1200" b="1" dirty="0">
                <a:solidFill>
                  <a:schemeClr val="accent1"/>
                </a:solidFill>
                <a:latin typeface="+mn-ea"/>
              </a:rPr>
              <a:t>조</a:t>
            </a:r>
            <a:r>
              <a:rPr lang="en-US" altLang="ko-KR" sz="1200" b="1" dirty="0">
                <a:solidFill>
                  <a:schemeClr val="accent1"/>
                </a:solidFill>
                <a:latin typeface="+mn-ea"/>
              </a:rPr>
              <a:t>(</a:t>
            </a:r>
            <a:r>
              <a:rPr lang="ko-KR" altLang="en-US" sz="1200" b="1" dirty="0" err="1">
                <a:solidFill>
                  <a:schemeClr val="accent1"/>
                </a:solidFill>
                <a:latin typeface="+mn-ea"/>
              </a:rPr>
              <a:t>통상실시권</a:t>
            </a:r>
            <a:r>
              <a:rPr lang="ko-KR" altLang="en-US" sz="1200" b="1" dirty="0">
                <a:solidFill>
                  <a:schemeClr val="accent1"/>
                </a:solidFill>
                <a:latin typeface="+mn-ea"/>
              </a:rPr>
              <a:t> 설정의 재정</a:t>
            </a:r>
            <a:r>
              <a:rPr lang="en-US" altLang="ko-KR" sz="1200" b="1" dirty="0">
                <a:solidFill>
                  <a:schemeClr val="accent1"/>
                </a:solidFill>
                <a:latin typeface="+mn-ea"/>
              </a:rPr>
              <a:t>)</a:t>
            </a:r>
            <a:r>
              <a:rPr lang="ko-KR" altLang="en-US" sz="1200" dirty="0">
                <a:solidFill>
                  <a:schemeClr val="accent1"/>
                </a:solidFill>
                <a:latin typeface="+mn-ea"/>
              </a:rPr>
              <a:t> </a:t>
            </a:r>
            <a:r>
              <a:rPr lang="ko-KR" altLang="en-US" sz="1200" dirty="0">
                <a:solidFill>
                  <a:schemeClr val="tx2"/>
                </a:solidFill>
                <a:latin typeface="+mn-ea"/>
              </a:rPr>
              <a:t>① 특허발명을 실시하려는 자는 특허발명이 다음 각 호의 어느 하나에 해당하고</a:t>
            </a:r>
            <a:r>
              <a:rPr lang="en-US" altLang="ko-KR" sz="1200" dirty="0">
                <a:solidFill>
                  <a:schemeClr val="tx2"/>
                </a:solidFill>
                <a:latin typeface="+mn-ea"/>
              </a:rPr>
              <a:t>, </a:t>
            </a:r>
            <a:r>
              <a:rPr lang="ko-KR" altLang="en-US" sz="1200" dirty="0">
                <a:solidFill>
                  <a:schemeClr val="tx2"/>
                </a:solidFill>
                <a:latin typeface="+mn-ea"/>
              </a:rPr>
              <a:t>그 특허발명의 </a:t>
            </a:r>
            <a:r>
              <a:rPr lang="ko-KR" altLang="en-US" sz="1200" dirty="0" err="1">
                <a:solidFill>
                  <a:schemeClr val="tx2"/>
                </a:solidFill>
                <a:latin typeface="+mn-ea"/>
              </a:rPr>
              <a:t>특허권자</a:t>
            </a:r>
            <a:r>
              <a:rPr lang="ko-KR" altLang="en-US" sz="1200" dirty="0">
                <a:solidFill>
                  <a:schemeClr val="tx2"/>
                </a:solidFill>
                <a:latin typeface="+mn-ea"/>
              </a:rPr>
              <a:t> 또는 </a:t>
            </a:r>
            <a:r>
              <a:rPr lang="ko-KR" altLang="en-US" sz="1200" dirty="0" err="1">
                <a:solidFill>
                  <a:schemeClr val="tx2"/>
                </a:solidFill>
                <a:latin typeface="+mn-ea"/>
              </a:rPr>
              <a:t>전용실시권자와</a:t>
            </a:r>
            <a:r>
              <a:rPr lang="ko-KR" altLang="en-US" sz="1200" dirty="0">
                <a:solidFill>
                  <a:schemeClr val="tx2"/>
                </a:solidFill>
                <a:latin typeface="+mn-ea"/>
              </a:rPr>
              <a:t> 합리적인 조건으로 </a:t>
            </a:r>
            <a:r>
              <a:rPr lang="ko-KR" altLang="en-US" sz="1200" dirty="0" err="1">
                <a:solidFill>
                  <a:schemeClr val="tx2"/>
                </a:solidFill>
                <a:latin typeface="+mn-ea"/>
              </a:rPr>
              <a:t>통상실시권</a:t>
            </a:r>
            <a:r>
              <a:rPr lang="ko-KR" altLang="en-US" sz="1200" dirty="0">
                <a:solidFill>
                  <a:schemeClr val="tx2"/>
                </a:solidFill>
                <a:latin typeface="+mn-ea"/>
              </a:rPr>
              <a:t> 허락에 관한 협의</a:t>
            </a:r>
            <a:r>
              <a:rPr lang="en-US" altLang="ko-KR" sz="1200" dirty="0">
                <a:solidFill>
                  <a:schemeClr val="tx2"/>
                </a:solidFill>
                <a:latin typeface="+mn-ea"/>
              </a:rPr>
              <a:t>(</a:t>
            </a:r>
            <a:r>
              <a:rPr lang="ko-KR" altLang="en-US" sz="1200" dirty="0">
                <a:solidFill>
                  <a:schemeClr val="tx2"/>
                </a:solidFill>
                <a:latin typeface="+mn-ea"/>
              </a:rPr>
              <a:t>이하 이 조에서 </a:t>
            </a:r>
            <a:r>
              <a:rPr lang="en-US" altLang="ko-KR" sz="1200" dirty="0">
                <a:solidFill>
                  <a:schemeClr val="tx2"/>
                </a:solidFill>
                <a:latin typeface="+mn-ea"/>
              </a:rPr>
              <a:t>"</a:t>
            </a:r>
            <a:r>
              <a:rPr lang="ko-KR" altLang="en-US" sz="1200" dirty="0">
                <a:solidFill>
                  <a:schemeClr val="tx2"/>
                </a:solidFill>
                <a:latin typeface="+mn-ea"/>
              </a:rPr>
              <a:t>협의</a:t>
            </a:r>
            <a:r>
              <a:rPr lang="en-US" altLang="ko-KR" sz="1200" dirty="0">
                <a:solidFill>
                  <a:schemeClr val="tx2"/>
                </a:solidFill>
                <a:latin typeface="+mn-ea"/>
              </a:rPr>
              <a:t>"</a:t>
            </a:r>
            <a:r>
              <a:rPr lang="ko-KR" altLang="en-US" sz="1200" dirty="0">
                <a:solidFill>
                  <a:schemeClr val="tx2"/>
                </a:solidFill>
                <a:latin typeface="+mn-ea"/>
              </a:rPr>
              <a:t>라 한다</a:t>
            </a:r>
            <a:r>
              <a:rPr lang="en-US" altLang="ko-KR" sz="1200" dirty="0">
                <a:solidFill>
                  <a:schemeClr val="tx2"/>
                </a:solidFill>
                <a:latin typeface="+mn-ea"/>
              </a:rPr>
              <a:t>)</a:t>
            </a:r>
            <a:r>
              <a:rPr lang="ko-KR" altLang="en-US" sz="1200" dirty="0">
                <a:solidFill>
                  <a:schemeClr val="tx2"/>
                </a:solidFill>
                <a:latin typeface="+mn-ea"/>
              </a:rPr>
              <a:t>를 하였으나 합의가 이루어지지 아니하는 경우 또는 협의를 할 수 없는 경우에는 지식재산처장에게 통상실시권 설정에 관한 재정</a:t>
            </a:r>
            <a:r>
              <a:rPr lang="en-US" altLang="ko-KR" sz="1200" dirty="0">
                <a:solidFill>
                  <a:schemeClr val="tx2"/>
                </a:solidFill>
                <a:latin typeface="+mn-ea"/>
              </a:rPr>
              <a:t>(</a:t>
            </a:r>
            <a:r>
              <a:rPr lang="ko-KR" altLang="en-US" sz="1200" dirty="0">
                <a:solidFill>
                  <a:schemeClr val="tx2"/>
                </a:solidFill>
                <a:latin typeface="+mn-ea"/>
              </a:rPr>
              <a:t>裁定</a:t>
            </a:r>
            <a:r>
              <a:rPr lang="en-US" altLang="ko-KR" sz="1200" dirty="0">
                <a:solidFill>
                  <a:schemeClr val="tx2"/>
                </a:solidFill>
                <a:latin typeface="+mn-ea"/>
              </a:rPr>
              <a:t>)(</a:t>
            </a:r>
            <a:r>
              <a:rPr lang="ko-KR" altLang="en-US" sz="1200" dirty="0">
                <a:solidFill>
                  <a:schemeClr val="tx2"/>
                </a:solidFill>
                <a:latin typeface="+mn-ea"/>
              </a:rPr>
              <a:t>이하 </a:t>
            </a:r>
            <a:r>
              <a:rPr lang="en-US" altLang="ko-KR" sz="1200" dirty="0">
                <a:solidFill>
                  <a:schemeClr val="tx2"/>
                </a:solidFill>
                <a:latin typeface="+mn-ea"/>
              </a:rPr>
              <a:t>"</a:t>
            </a:r>
            <a:r>
              <a:rPr lang="ko-KR" altLang="en-US" sz="1200" dirty="0">
                <a:solidFill>
                  <a:schemeClr val="tx2"/>
                </a:solidFill>
                <a:latin typeface="+mn-ea"/>
              </a:rPr>
              <a:t>재정</a:t>
            </a:r>
            <a:r>
              <a:rPr lang="en-US" altLang="ko-KR" sz="1200" dirty="0">
                <a:solidFill>
                  <a:schemeClr val="tx2"/>
                </a:solidFill>
                <a:latin typeface="+mn-ea"/>
              </a:rPr>
              <a:t>"</a:t>
            </a:r>
            <a:r>
              <a:rPr lang="ko-KR" altLang="en-US" sz="1200" dirty="0">
                <a:solidFill>
                  <a:schemeClr val="tx2"/>
                </a:solidFill>
                <a:latin typeface="+mn-ea"/>
              </a:rPr>
              <a:t>이라 한다</a:t>
            </a:r>
            <a:r>
              <a:rPr lang="en-US" altLang="ko-KR" sz="1200" dirty="0">
                <a:solidFill>
                  <a:schemeClr val="tx2"/>
                </a:solidFill>
                <a:latin typeface="+mn-ea"/>
              </a:rPr>
              <a:t>)</a:t>
            </a:r>
            <a:r>
              <a:rPr lang="ko-KR" altLang="en-US" sz="1200" dirty="0">
                <a:solidFill>
                  <a:schemeClr val="tx2"/>
                </a:solidFill>
                <a:latin typeface="+mn-ea"/>
              </a:rPr>
              <a:t>을 청구할 수 있다</a:t>
            </a:r>
            <a:r>
              <a:rPr lang="en-US" altLang="ko-KR" sz="1200" dirty="0">
                <a:solidFill>
                  <a:schemeClr val="tx2"/>
                </a:solidFill>
                <a:latin typeface="+mn-ea"/>
              </a:rPr>
              <a:t>. </a:t>
            </a:r>
            <a:r>
              <a:rPr lang="ko-KR" altLang="en-US" sz="1200" dirty="0">
                <a:solidFill>
                  <a:schemeClr val="tx2"/>
                </a:solidFill>
                <a:latin typeface="+mn-ea"/>
              </a:rPr>
              <a:t>다만</a:t>
            </a:r>
            <a:r>
              <a:rPr lang="en-US" altLang="ko-KR" sz="1200" dirty="0">
                <a:solidFill>
                  <a:schemeClr val="tx2"/>
                </a:solidFill>
                <a:latin typeface="+mn-ea"/>
              </a:rPr>
              <a:t>, </a:t>
            </a:r>
            <a:r>
              <a:rPr lang="ko-KR" altLang="en-US" sz="1200" dirty="0">
                <a:solidFill>
                  <a:schemeClr val="tx2"/>
                </a:solidFill>
                <a:latin typeface="+mn-ea"/>
              </a:rPr>
              <a:t>공공의 이익을 위하여 비상업적으로 실시하려는 경우와 제</a:t>
            </a:r>
            <a:r>
              <a:rPr lang="en-US" altLang="ko-KR" sz="1200" dirty="0">
                <a:solidFill>
                  <a:schemeClr val="tx2"/>
                </a:solidFill>
                <a:latin typeface="+mn-ea"/>
              </a:rPr>
              <a:t>4</a:t>
            </a:r>
            <a:r>
              <a:rPr lang="ko-KR" altLang="en-US" sz="1200" dirty="0">
                <a:solidFill>
                  <a:schemeClr val="tx2"/>
                </a:solidFill>
                <a:latin typeface="+mn-ea"/>
              </a:rPr>
              <a:t>호에 해당하는 경우에는 협의 없이도 재정을 청구할 수 있다</a:t>
            </a:r>
            <a:r>
              <a:rPr lang="en-US" altLang="ko-KR" sz="1200" dirty="0">
                <a:solidFill>
                  <a:schemeClr val="tx2"/>
                </a:solidFill>
                <a:latin typeface="+mn-ea"/>
              </a:rPr>
              <a:t>.</a:t>
            </a:r>
          </a:p>
          <a:p>
            <a:r>
              <a:rPr lang="en-US" altLang="ko-KR" sz="1200" dirty="0">
                <a:solidFill>
                  <a:schemeClr val="tx2"/>
                </a:solidFill>
                <a:latin typeface="+mn-ea"/>
              </a:rPr>
              <a:t>1. </a:t>
            </a:r>
            <a:r>
              <a:rPr lang="ko-KR" altLang="en-US" sz="1200" dirty="0">
                <a:solidFill>
                  <a:schemeClr val="tx2"/>
                </a:solidFill>
                <a:latin typeface="+mn-ea"/>
              </a:rPr>
              <a:t>특허발명이 천재지변이나 그 밖의 불가항력 또는 대통령령으로 정하는 정당한 이유 없이 계속하여 </a:t>
            </a:r>
            <a:r>
              <a:rPr lang="en-US" altLang="ko-KR" sz="1200" dirty="0">
                <a:solidFill>
                  <a:schemeClr val="tx2"/>
                </a:solidFill>
                <a:latin typeface="+mn-ea"/>
              </a:rPr>
              <a:t>3</a:t>
            </a:r>
            <a:r>
              <a:rPr lang="ko-KR" altLang="en-US" sz="1200" dirty="0">
                <a:solidFill>
                  <a:schemeClr val="tx2"/>
                </a:solidFill>
                <a:latin typeface="+mn-ea"/>
              </a:rPr>
              <a:t>년 이상 국내에서 실시되고 있지 아니한 경우</a:t>
            </a:r>
          </a:p>
          <a:p>
            <a:r>
              <a:rPr lang="en-US" altLang="ko-KR" sz="1200" dirty="0">
                <a:solidFill>
                  <a:schemeClr val="tx2"/>
                </a:solidFill>
                <a:latin typeface="+mn-ea"/>
              </a:rPr>
              <a:t>2. </a:t>
            </a:r>
            <a:r>
              <a:rPr lang="ko-KR" altLang="en-US" sz="1200" dirty="0">
                <a:solidFill>
                  <a:schemeClr val="tx2"/>
                </a:solidFill>
                <a:latin typeface="+mn-ea"/>
              </a:rPr>
              <a:t>특허발명이 정당한 이유 없이 계속하여 </a:t>
            </a:r>
            <a:r>
              <a:rPr lang="en-US" altLang="ko-KR" sz="1200" dirty="0">
                <a:solidFill>
                  <a:schemeClr val="tx2"/>
                </a:solidFill>
                <a:latin typeface="+mn-ea"/>
              </a:rPr>
              <a:t>3</a:t>
            </a:r>
            <a:r>
              <a:rPr lang="ko-KR" altLang="en-US" sz="1200" dirty="0">
                <a:solidFill>
                  <a:schemeClr val="tx2"/>
                </a:solidFill>
                <a:latin typeface="+mn-ea"/>
              </a:rPr>
              <a:t>년 이상 국내에서 상당한 영업적 규모로 실시되고 있지 아니하거나 적당한 정도와 조건으로 국내수요를 충족시키지 못한 경우</a:t>
            </a:r>
          </a:p>
          <a:p>
            <a:r>
              <a:rPr lang="en-US" altLang="ko-KR" sz="1200" dirty="0">
                <a:solidFill>
                  <a:schemeClr val="tx2"/>
                </a:solidFill>
                <a:latin typeface="+mn-ea"/>
              </a:rPr>
              <a:t>3. </a:t>
            </a:r>
            <a:r>
              <a:rPr lang="ko-KR" altLang="en-US" sz="1200" dirty="0">
                <a:solidFill>
                  <a:schemeClr val="tx2"/>
                </a:solidFill>
                <a:latin typeface="+mn-ea"/>
              </a:rPr>
              <a:t>특허발명의 실시가 공공의 이익을 위하여 특히 필요한 경우</a:t>
            </a:r>
          </a:p>
          <a:p>
            <a:r>
              <a:rPr lang="en-US" altLang="ko-KR" sz="1200" dirty="0">
                <a:solidFill>
                  <a:schemeClr val="tx2"/>
                </a:solidFill>
                <a:latin typeface="+mn-ea"/>
              </a:rPr>
              <a:t>4. </a:t>
            </a:r>
            <a:r>
              <a:rPr lang="ko-KR" altLang="en-US" sz="1200" dirty="0">
                <a:solidFill>
                  <a:schemeClr val="tx2"/>
                </a:solidFill>
                <a:latin typeface="+mn-ea"/>
              </a:rPr>
              <a:t>사법적 절차 또는 행정적 절차에 의하여 불공정거래행위로 판정된 사항을 바로잡기 위하여 특허발명을 실시할 필요가 있는 경우</a:t>
            </a:r>
          </a:p>
          <a:p>
            <a:r>
              <a:rPr lang="en-US" altLang="ko-KR" sz="1200" dirty="0">
                <a:solidFill>
                  <a:schemeClr val="tx2"/>
                </a:solidFill>
                <a:latin typeface="+mn-ea"/>
              </a:rPr>
              <a:t>5. </a:t>
            </a:r>
            <a:r>
              <a:rPr lang="ko-KR" altLang="en-US" sz="1200" dirty="0">
                <a:solidFill>
                  <a:schemeClr val="tx2"/>
                </a:solidFill>
                <a:latin typeface="+mn-ea"/>
              </a:rPr>
              <a:t>자국민 다수의 보건을 위협하는 질병을 치료하기 위하여 의약품</a:t>
            </a:r>
            <a:r>
              <a:rPr lang="en-US" altLang="ko-KR" sz="1200" dirty="0">
                <a:solidFill>
                  <a:schemeClr val="tx2"/>
                </a:solidFill>
                <a:latin typeface="+mn-ea"/>
              </a:rPr>
              <a:t>(</a:t>
            </a:r>
            <a:r>
              <a:rPr lang="ko-KR" altLang="en-US" sz="1200" dirty="0">
                <a:solidFill>
                  <a:schemeClr val="tx2"/>
                </a:solidFill>
                <a:latin typeface="+mn-ea"/>
              </a:rPr>
              <a:t>의약품 생산에 필요한 유효성분</a:t>
            </a:r>
            <a:r>
              <a:rPr lang="en-US" altLang="ko-KR" sz="1200" dirty="0">
                <a:solidFill>
                  <a:schemeClr val="tx2"/>
                </a:solidFill>
                <a:latin typeface="+mn-ea"/>
              </a:rPr>
              <a:t>, </a:t>
            </a:r>
            <a:r>
              <a:rPr lang="ko-KR" altLang="en-US" sz="1200" dirty="0">
                <a:solidFill>
                  <a:schemeClr val="tx2"/>
                </a:solidFill>
                <a:latin typeface="+mn-ea"/>
              </a:rPr>
              <a:t>의약품 사용에 필요한 진단키트를 포함한다</a:t>
            </a:r>
            <a:r>
              <a:rPr lang="en-US" altLang="ko-KR" sz="1200" dirty="0">
                <a:solidFill>
                  <a:schemeClr val="tx2"/>
                </a:solidFill>
                <a:latin typeface="+mn-ea"/>
              </a:rPr>
              <a:t>)</a:t>
            </a:r>
            <a:r>
              <a:rPr lang="ko-KR" altLang="en-US" sz="1200" dirty="0">
                <a:solidFill>
                  <a:schemeClr val="tx2"/>
                </a:solidFill>
                <a:latin typeface="+mn-ea"/>
              </a:rPr>
              <a:t>을 수입하려는 국가</a:t>
            </a:r>
            <a:r>
              <a:rPr lang="en-US" altLang="ko-KR" sz="1200" dirty="0">
                <a:solidFill>
                  <a:schemeClr val="tx2"/>
                </a:solidFill>
                <a:latin typeface="+mn-ea"/>
              </a:rPr>
              <a:t>(</a:t>
            </a:r>
            <a:r>
              <a:rPr lang="ko-KR" altLang="en-US" sz="1200" dirty="0">
                <a:solidFill>
                  <a:schemeClr val="tx2"/>
                </a:solidFill>
                <a:latin typeface="+mn-ea"/>
              </a:rPr>
              <a:t>이하 이 조에서 </a:t>
            </a:r>
            <a:r>
              <a:rPr lang="en-US" altLang="ko-KR" sz="1200" dirty="0">
                <a:solidFill>
                  <a:schemeClr val="tx2"/>
                </a:solidFill>
                <a:latin typeface="+mn-ea"/>
              </a:rPr>
              <a:t>"</a:t>
            </a:r>
            <a:r>
              <a:rPr lang="ko-KR" altLang="en-US" sz="1200" dirty="0">
                <a:solidFill>
                  <a:schemeClr val="tx2"/>
                </a:solidFill>
                <a:latin typeface="+mn-ea"/>
              </a:rPr>
              <a:t>수입국</a:t>
            </a:r>
            <a:r>
              <a:rPr lang="en-US" altLang="ko-KR" sz="1200" dirty="0">
                <a:solidFill>
                  <a:schemeClr val="tx2"/>
                </a:solidFill>
                <a:latin typeface="+mn-ea"/>
              </a:rPr>
              <a:t>"</a:t>
            </a:r>
            <a:r>
              <a:rPr lang="ko-KR" altLang="en-US" sz="1200" dirty="0">
                <a:solidFill>
                  <a:schemeClr val="tx2"/>
                </a:solidFill>
                <a:latin typeface="+mn-ea"/>
              </a:rPr>
              <a:t>이라 한다</a:t>
            </a:r>
            <a:r>
              <a:rPr lang="en-US" altLang="ko-KR" sz="1200" dirty="0">
                <a:solidFill>
                  <a:schemeClr val="tx2"/>
                </a:solidFill>
                <a:latin typeface="+mn-ea"/>
              </a:rPr>
              <a:t>)</a:t>
            </a:r>
            <a:r>
              <a:rPr lang="ko-KR" altLang="en-US" sz="1200" dirty="0">
                <a:solidFill>
                  <a:schemeClr val="tx2"/>
                </a:solidFill>
                <a:latin typeface="+mn-ea"/>
              </a:rPr>
              <a:t>에 그 의약품을 수출할 수 있도록 특허발명을 실시할 필요가 있는 경우</a:t>
            </a:r>
          </a:p>
          <a:p>
            <a:r>
              <a:rPr lang="ko-KR" altLang="en-US" sz="1200" dirty="0">
                <a:solidFill>
                  <a:schemeClr val="tx2"/>
                </a:solidFill>
                <a:latin typeface="+mn-ea"/>
              </a:rPr>
              <a:t>② </a:t>
            </a:r>
            <a:r>
              <a:rPr lang="ko-KR" altLang="en-US" sz="1200" dirty="0" err="1">
                <a:solidFill>
                  <a:schemeClr val="tx2"/>
                </a:solidFill>
                <a:latin typeface="+mn-ea"/>
              </a:rPr>
              <a:t>특허출원일부터</a:t>
            </a:r>
            <a:r>
              <a:rPr lang="ko-KR" altLang="en-US" sz="1200" dirty="0">
                <a:solidFill>
                  <a:schemeClr val="tx2"/>
                </a:solidFill>
                <a:latin typeface="+mn-ea"/>
              </a:rPr>
              <a:t> </a:t>
            </a:r>
            <a:r>
              <a:rPr lang="en-US" altLang="ko-KR" sz="1200" dirty="0">
                <a:solidFill>
                  <a:schemeClr val="tx2"/>
                </a:solidFill>
                <a:latin typeface="+mn-ea"/>
              </a:rPr>
              <a:t>4</a:t>
            </a:r>
            <a:r>
              <a:rPr lang="ko-KR" altLang="en-US" sz="1200" dirty="0">
                <a:solidFill>
                  <a:schemeClr val="tx2"/>
                </a:solidFill>
                <a:latin typeface="+mn-ea"/>
              </a:rPr>
              <a:t>년이 지나지 아니한 특허발명에 관하여는 제</a:t>
            </a:r>
            <a:r>
              <a:rPr lang="en-US" altLang="ko-KR" sz="1200" dirty="0">
                <a:solidFill>
                  <a:schemeClr val="tx2"/>
                </a:solidFill>
                <a:latin typeface="+mn-ea"/>
              </a:rPr>
              <a:t>1</a:t>
            </a:r>
            <a:r>
              <a:rPr lang="ko-KR" altLang="en-US" sz="1200" dirty="0" err="1">
                <a:solidFill>
                  <a:schemeClr val="tx2"/>
                </a:solidFill>
                <a:latin typeface="+mn-ea"/>
              </a:rPr>
              <a:t>항제</a:t>
            </a:r>
            <a:r>
              <a:rPr lang="en-US" altLang="ko-KR" sz="1200" dirty="0">
                <a:solidFill>
                  <a:schemeClr val="tx2"/>
                </a:solidFill>
                <a:latin typeface="+mn-ea"/>
              </a:rPr>
              <a:t>1</a:t>
            </a:r>
            <a:r>
              <a:rPr lang="ko-KR" altLang="en-US" sz="1200" dirty="0">
                <a:solidFill>
                  <a:schemeClr val="tx2"/>
                </a:solidFill>
                <a:latin typeface="+mn-ea"/>
              </a:rPr>
              <a:t>호 및 제</a:t>
            </a:r>
            <a:r>
              <a:rPr lang="en-US" altLang="ko-KR" sz="1200" dirty="0">
                <a:solidFill>
                  <a:schemeClr val="tx2"/>
                </a:solidFill>
                <a:latin typeface="+mn-ea"/>
              </a:rPr>
              <a:t>2</a:t>
            </a:r>
            <a:r>
              <a:rPr lang="ko-KR" altLang="en-US" sz="1200" dirty="0">
                <a:solidFill>
                  <a:schemeClr val="tx2"/>
                </a:solidFill>
                <a:latin typeface="+mn-ea"/>
              </a:rPr>
              <a:t>호를 적용하지 아니한다</a:t>
            </a:r>
            <a:r>
              <a:rPr lang="en-US" altLang="ko-KR" sz="1200" dirty="0">
                <a:solidFill>
                  <a:schemeClr val="tx2"/>
                </a:solidFill>
                <a:latin typeface="+mn-ea"/>
              </a:rPr>
              <a:t>.</a:t>
            </a:r>
          </a:p>
          <a:p>
            <a:r>
              <a:rPr lang="en-US" altLang="ko-KR" sz="1200" dirty="0">
                <a:solidFill>
                  <a:schemeClr val="tx2"/>
                </a:solidFill>
                <a:latin typeface="+mn-ea"/>
              </a:rPr>
              <a:t>③ </a:t>
            </a:r>
            <a:r>
              <a:rPr lang="ko-KR" altLang="en-US" sz="1200" dirty="0">
                <a:solidFill>
                  <a:schemeClr val="tx2"/>
                </a:solidFill>
                <a:latin typeface="+mn-ea"/>
              </a:rPr>
              <a:t>지식재산처장은 재정을 하는 경우 청구별로 통상실시권 설정의 필요성을 검토하여야 한다</a:t>
            </a:r>
            <a:r>
              <a:rPr lang="en-US" altLang="ko-KR" sz="1200" dirty="0">
                <a:solidFill>
                  <a:schemeClr val="tx2"/>
                </a:solidFill>
                <a:latin typeface="+mn-ea"/>
              </a:rPr>
              <a:t>.</a:t>
            </a:r>
          </a:p>
          <a:p>
            <a:r>
              <a:rPr lang="en-US" altLang="ko-KR" sz="1200" dirty="0">
                <a:solidFill>
                  <a:schemeClr val="tx2"/>
                </a:solidFill>
                <a:latin typeface="+mn-ea"/>
              </a:rPr>
              <a:t>④ </a:t>
            </a:r>
            <a:r>
              <a:rPr lang="ko-KR" altLang="en-US" sz="1200" dirty="0">
                <a:solidFill>
                  <a:schemeClr val="tx2"/>
                </a:solidFill>
                <a:latin typeface="+mn-ea"/>
              </a:rPr>
              <a:t>지식재산처장은 제</a:t>
            </a:r>
            <a:r>
              <a:rPr lang="en-US" altLang="ko-KR" sz="1200" dirty="0">
                <a:solidFill>
                  <a:schemeClr val="tx2"/>
                </a:solidFill>
                <a:latin typeface="+mn-ea"/>
              </a:rPr>
              <a:t>1</a:t>
            </a:r>
            <a:r>
              <a:rPr lang="ko-KR" altLang="en-US" sz="1200" dirty="0" err="1">
                <a:solidFill>
                  <a:schemeClr val="tx2"/>
                </a:solidFill>
                <a:latin typeface="+mn-ea"/>
              </a:rPr>
              <a:t>항제</a:t>
            </a:r>
            <a:r>
              <a:rPr lang="en-US" altLang="ko-KR" sz="1200" dirty="0">
                <a:solidFill>
                  <a:schemeClr val="tx2"/>
                </a:solidFill>
                <a:latin typeface="+mn-ea"/>
              </a:rPr>
              <a:t>1</a:t>
            </a:r>
            <a:r>
              <a:rPr lang="ko-KR" altLang="en-US" sz="1200" dirty="0">
                <a:solidFill>
                  <a:schemeClr val="tx2"/>
                </a:solidFill>
                <a:latin typeface="+mn-ea"/>
              </a:rPr>
              <a:t>호부터 제</a:t>
            </a:r>
            <a:r>
              <a:rPr lang="en-US" altLang="ko-KR" sz="1200" dirty="0">
                <a:solidFill>
                  <a:schemeClr val="tx2"/>
                </a:solidFill>
                <a:latin typeface="+mn-ea"/>
              </a:rPr>
              <a:t>3</a:t>
            </a:r>
            <a:r>
              <a:rPr lang="ko-KR" altLang="en-US" sz="1200" dirty="0">
                <a:solidFill>
                  <a:schemeClr val="tx2"/>
                </a:solidFill>
                <a:latin typeface="+mn-ea"/>
              </a:rPr>
              <a:t>호까지 또는 제</a:t>
            </a:r>
            <a:r>
              <a:rPr lang="en-US" altLang="ko-KR" sz="1200" dirty="0">
                <a:solidFill>
                  <a:schemeClr val="tx2"/>
                </a:solidFill>
                <a:latin typeface="+mn-ea"/>
              </a:rPr>
              <a:t>5</a:t>
            </a:r>
            <a:r>
              <a:rPr lang="ko-KR" altLang="en-US" sz="1200" dirty="0">
                <a:solidFill>
                  <a:schemeClr val="tx2"/>
                </a:solidFill>
                <a:latin typeface="+mn-ea"/>
              </a:rPr>
              <a:t>호에 따른 재정을 하는 경우 재정을 받는 자에게 다음 각 호의 조건을 붙여야 한다</a:t>
            </a:r>
            <a:r>
              <a:rPr lang="en-US" altLang="ko-KR" sz="1200" dirty="0">
                <a:solidFill>
                  <a:schemeClr val="tx2"/>
                </a:solidFill>
                <a:latin typeface="+mn-ea"/>
              </a:rPr>
              <a:t>.</a:t>
            </a:r>
          </a:p>
          <a:p>
            <a:r>
              <a:rPr lang="en-US" altLang="ko-KR" sz="1200" dirty="0">
                <a:solidFill>
                  <a:schemeClr val="tx2"/>
                </a:solidFill>
                <a:latin typeface="+mn-ea"/>
              </a:rPr>
              <a:t>1. </a:t>
            </a:r>
            <a:r>
              <a:rPr lang="ko-KR" altLang="en-US" sz="1200" dirty="0">
                <a:solidFill>
                  <a:schemeClr val="tx2"/>
                </a:solidFill>
                <a:latin typeface="+mn-ea"/>
              </a:rPr>
              <a:t>제</a:t>
            </a:r>
            <a:r>
              <a:rPr lang="en-US" altLang="ko-KR" sz="1200" dirty="0">
                <a:solidFill>
                  <a:schemeClr val="tx2"/>
                </a:solidFill>
                <a:latin typeface="+mn-ea"/>
              </a:rPr>
              <a:t>1</a:t>
            </a:r>
            <a:r>
              <a:rPr lang="ko-KR" altLang="en-US" sz="1200" dirty="0" err="1">
                <a:solidFill>
                  <a:schemeClr val="tx2"/>
                </a:solidFill>
                <a:latin typeface="+mn-ea"/>
              </a:rPr>
              <a:t>항제</a:t>
            </a:r>
            <a:r>
              <a:rPr lang="en-US" altLang="ko-KR" sz="1200" dirty="0">
                <a:solidFill>
                  <a:schemeClr val="tx2"/>
                </a:solidFill>
                <a:latin typeface="+mn-ea"/>
              </a:rPr>
              <a:t>1</a:t>
            </a:r>
            <a:r>
              <a:rPr lang="ko-KR" altLang="en-US" sz="1200" dirty="0">
                <a:solidFill>
                  <a:schemeClr val="tx2"/>
                </a:solidFill>
                <a:latin typeface="+mn-ea"/>
              </a:rPr>
              <a:t>호부터 제</a:t>
            </a:r>
            <a:r>
              <a:rPr lang="en-US" altLang="ko-KR" sz="1200" dirty="0">
                <a:solidFill>
                  <a:schemeClr val="tx2"/>
                </a:solidFill>
                <a:latin typeface="+mn-ea"/>
              </a:rPr>
              <a:t>3</a:t>
            </a:r>
            <a:r>
              <a:rPr lang="ko-KR" altLang="en-US" sz="1200" dirty="0">
                <a:solidFill>
                  <a:schemeClr val="tx2"/>
                </a:solidFill>
                <a:latin typeface="+mn-ea"/>
              </a:rPr>
              <a:t>호까지의 규정에 따른 재정의 경우에는 </a:t>
            </a:r>
            <a:r>
              <a:rPr lang="ko-KR" altLang="en-US" sz="1200" dirty="0" err="1">
                <a:solidFill>
                  <a:schemeClr val="tx2"/>
                </a:solidFill>
                <a:latin typeface="+mn-ea"/>
              </a:rPr>
              <a:t>통상실시권을</a:t>
            </a:r>
            <a:r>
              <a:rPr lang="ko-KR" altLang="en-US" sz="1200" dirty="0">
                <a:solidFill>
                  <a:schemeClr val="tx2"/>
                </a:solidFill>
                <a:latin typeface="+mn-ea"/>
              </a:rPr>
              <a:t> 국내수요충족을 위한 공급을 주목적으로 실시할 것</a:t>
            </a:r>
          </a:p>
          <a:p>
            <a:r>
              <a:rPr lang="en-US" altLang="ko-KR" sz="1200" dirty="0">
                <a:solidFill>
                  <a:schemeClr val="tx2"/>
                </a:solidFill>
                <a:latin typeface="+mn-ea"/>
              </a:rPr>
              <a:t>2. </a:t>
            </a:r>
            <a:r>
              <a:rPr lang="ko-KR" altLang="en-US" sz="1200" dirty="0">
                <a:solidFill>
                  <a:schemeClr val="tx2"/>
                </a:solidFill>
                <a:latin typeface="+mn-ea"/>
              </a:rPr>
              <a:t>제</a:t>
            </a:r>
            <a:r>
              <a:rPr lang="en-US" altLang="ko-KR" sz="1200" dirty="0">
                <a:solidFill>
                  <a:schemeClr val="tx2"/>
                </a:solidFill>
                <a:latin typeface="+mn-ea"/>
              </a:rPr>
              <a:t>1</a:t>
            </a:r>
            <a:r>
              <a:rPr lang="ko-KR" altLang="en-US" sz="1200" dirty="0" err="1">
                <a:solidFill>
                  <a:schemeClr val="tx2"/>
                </a:solidFill>
                <a:latin typeface="+mn-ea"/>
              </a:rPr>
              <a:t>항제</a:t>
            </a:r>
            <a:r>
              <a:rPr lang="en-US" altLang="ko-KR" sz="1200" dirty="0">
                <a:solidFill>
                  <a:schemeClr val="tx2"/>
                </a:solidFill>
                <a:latin typeface="+mn-ea"/>
              </a:rPr>
              <a:t>5</a:t>
            </a:r>
            <a:r>
              <a:rPr lang="ko-KR" altLang="en-US" sz="1200" dirty="0">
                <a:solidFill>
                  <a:schemeClr val="tx2"/>
                </a:solidFill>
                <a:latin typeface="+mn-ea"/>
              </a:rPr>
              <a:t>호에 따른 재정의 경우에는 생산된 의약품 전량을 수입국에 수출할 것</a:t>
            </a:r>
          </a:p>
          <a:p>
            <a:r>
              <a:rPr lang="ko-KR" altLang="en-US" sz="1200" dirty="0">
                <a:solidFill>
                  <a:schemeClr val="tx2"/>
                </a:solidFill>
                <a:latin typeface="+mn-ea"/>
              </a:rPr>
              <a:t>⑤ 지식재산처장은 재정을 하는 경우 상당한 대가가 지급될 수 있도록 하여야 한다</a:t>
            </a:r>
            <a:r>
              <a:rPr lang="en-US" altLang="ko-KR" sz="1200" dirty="0">
                <a:solidFill>
                  <a:schemeClr val="tx2"/>
                </a:solidFill>
                <a:latin typeface="+mn-ea"/>
              </a:rPr>
              <a:t>. </a:t>
            </a:r>
            <a:r>
              <a:rPr lang="ko-KR" altLang="en-US" sz="1200" dirty="0">
                <a:solidFill>
                  <a:schemeClr val="tx2"/>
                </a:solidFill>
                <a:latin typeface="+mn-ea"/>
              </a:rPr>
              <a:t>이 경우 제</a:t>
            </a:r>
            <a:r>
              <a:rPr lang="en-US" altLang="ko-KR" sz="1200" dirty="0">
                <a:solidFill>
                  <a:schemeClr val="tx2"/>
                </a:solidFill>
                <a:latin typeface="+mn-ea"/>
              </a:rPr>
              <a:t>1</a:t>
            </a:r>
            <a:r>
              <a:rPr lang="ko-KR" altLang="en-US" sz="1200" dirty="0" err="1">
                <a:solidFill>
                  <a:schemeClr val="tx2"/>
                </a:solidFill>
                <a:latin typeface="+mn-ea"/>
              </a:rPr>
              <a:t>항제</a:t>
            </a:r>
            <a:r>
              <a:rPr lang="en-US" altLang="ko-KR" sz="1200" dirty="0">
                <a:solidFill>
                  <a:schemeClr val="tx2"/>
                </a:solidFill>
                <a:latin typeface="+mn-ea"/>
              </a:rPr>
              <a:t>4</a:t>
            </a:r>
            <a:r>
              <a:rPr lang="ko-KR" altLang="en-US" sz="1200" dirty="0">
                <a:solidFill>
                  <a:schemeClr val="tx2"/>
                </a:solidFill>
                <a:latin typeface="+mn-ea"/>
              </a:rPr>
              <a:t>호 또는 제</a:t>
            </a:r>
            <a:r>
              <a:rPr lang="en-US" altLang="ko-KR" sz="1200" dirty="0">
                <a:solidFill>
                  <a:schemeClr val="tx2"/>
                </a:solidFill>
                <a:latin typeface="+mn-ea"/>
              </a:rPr>
              <a:t>5</a:t>
            </a:r>
            <a:r>
              <a:rPr lang="ko-KR" altLang="en-US" sz="1200" dirty="0">
                <a:solidFill>
                  <a:schemeClr val="tx2"/>
                </a:solidFill>
                <a:latin typeface="+mn-ea"/>
              </a:rPr>
              <a:t>호에 따른 재정을 하는 경우에는 다음 각 호의 사항을 대가 결정에 고려할 수 있다</a:t>
            </a:r>
            <a:r>
              <a:rPr lang="en-US" altLang="ko-KR" sz="1200" dirty="0">
                <a:solidFill>
                  <a:schemeClr val="tx2"/>
                </a:solidFill>
                <a:latin typeface="+mn-ea"/>
              </a:rPr>
              <a:t>.</a:t>
            </a:r>
          </a:p>
          <a:p>
            <a:r>
              <a:rPr lang="en-US" altLang="ko-KR" sz="1200" dirty="0">
                <a:solidFill>
                  <a:schemeClr val="tx2"/>
                </a:solidFill>
                <a:latin typeface="+mn-ea"/>
              </a:rPr>
              <a:t>1. </a:t>
            </a:r>
            <a:r>
              <a:rPr lang="ko-KR" altLang="en-US" sz="1200" dirty="0">
                <a:solidFill>
                  <a:schemeClr val="tx2"/>
                </a:solidFill>
                <a:latin typeface="+mn-ea"/>
              </a:rPr>
              <a:t>제</a:t>
            </a:r>
            <a:r>
              <a:rPr lang="en-US" altLang="ko-KR" sz="1200" dirty="0">
                <a:solidFill>
                  <a:schemeClr val="tx2"/>
                </a:solidFill>
                <a:latin typeface="+mn-ea"/>
              </a:rPr>
              <a:t>1</a:t>
            </a:r>
            <a:r>
              <a:rPr lang="ko-KR" altLang="en-US" sz="1200" dirty="0" err="1">
                <a:solidFill>
                  <a:schemeClr val="tx2"/>
                </a:solidFill>
                <a:latin typeface="+mn-ea"/>
              </a:rPr>
              <a:t>항제</a:t>
            </a:r>
            <a:r>
              <a:rPr lang="en-US" altLang="ko-KR" sz="1200" dirty="0">
                <a:solidFill>
                  <a:schemeClr val="tx2"/>
                </a:solidFill>
                <a:latin typeface="+mn-ea"/>
              </a:rPr>
              <a:t>4</a:t>
            </a:r>
            <a:r>
              <a:rPr lang="ko-KR" altLang="en-US" sz="1200" dirty="0">
                <a:solidFill>
                  <a:schemeClr val="tx2"/>
                </a:solidFill>
                <a:latin typeface="+mn-ea"/>
              </a:rPr>
              <a:t>호에 따른 재정의 경우에는 불공정거래행위를 바로잡기 위한 취지</a:t>
            </a:r>
          </a:p>
          <a:p>
            <a:r>
              <a:rPr lang="en-US" altLang="ko-KR" sz="1200" dirty="0">
                <a:solidFill>
                  <a:schemeClr val="tx2"/>
                </a:solidFill>
                <a:latin typeface="+mn-ea"/>
              </a:rPr>
              <a:t>2. </a:t>
            </a:r>
            <a:r>
              <a:rPr lang="ko-KR" altLang="en-US" sz="1200" dirty="0">
                <a:solidFill>
                  <a:schemeClr val="tx2"/>
                </a:solidFill>
                <a:latin typeface="+mn-ea"/>
              </a:rPr>
              <a:t>제</a:t>
            </a:r>
            <a:r>
              <a:rPr lang="en-US" altLang="ko-KR" sz="1200" dirty="0">
                <a:solidFill>
                  <a:schemeClr val="tx2"/>
                </a:solidFill>
                <a:latin typeface="+mn-ea"/>
              </a:rPr>
              <a:t>1</a:t>
            </a:r>
            <a:r>
              <a:rPr lang="ko-KR" altLang="en-US" sz="1200" dirty="0" err="1">
                <a:solidFill>
                  <a:schemeClr val="tx2"/>
                </a:solidFill>
                <a:latin typeface="+mn-ea"/>
              </a:rPr>
              <a:t>항제</a:t>
            </a:r>
            <a:r>
              <a:rPr lang="en-US" altLang="ko-KR" sz="1200" dirty="0">
                <a:solidFill>
                  <a:schemeClr val="tx2"/>
                </a:solidFill>
                <a:latin typeface="+mn-ea"/>
              </a:rPr>
              <a:t>5</a:t>
            </a:r>
            <a:r>
              <a:rPr lang="ko-KR" altLang="en-US" sz="1200" dirty="0">
                <a:solidFill>
                  <a:schemeClr val="tx2"/>
                </a:solidFill>
                <a:latin typeface="+mn-ea"/>
              </a:rPr>
              <a:t>호에 따른 재정의 경우에는 그 특허발명을 실시함으로써 발생하는 수입국에서의 경제적 가치</a:t>
            </a:r>
          </a:p>
          <a:p>
            <a:r>
              <a:rPr lang="ko-KR" altLang="en-US" sz="1200" dirty="0">
                <a:solidFill>
                  <a:schemeClr val="tx2"/>
                </a:solidFill>
                <a:latin typeface="+mn-ea"/>
              </a:rPr>
              <a:t>⑥ 반도체 기술에 대해서는 제</a:t>
            </a:r>
            <a:r>
              <a:rPr lang="en-US" altLang="ko-KR" sz="1200" dirty="0">
                <a:solidFill>
                  <a:schemeClr val="tx2"/>
                </a:solidFill>
                <a:latin typeface="+mn-ea"/>
              </a:rPr>
              <a:t>1</a:t>
            </a:r>
            <a:r>
              <a:rPr lang="ko-KR" altLang="en-US" sz="1200" dirty="0" err="1">
                <a:solidFill>
                  <a:schemeClr val="tx2"/>
                </a:solidFill>
                <a:latin typeface="+mn-ea"/>
              </a:rPr>
              <a:t>항제</a:t>
            </a:r>
            <a:r>
              <a:rPr lang="en-US" altLang="ko-KR" sz="1200" dirty="0">
                <a:solidFill>
                  <a:schemeClr val="tx2"/>
                </a:solidFill>
                <a:latin typeface="+mn-ea"/>
              </a:rPr>
              <a:t>3</a:t>
            </a:r>
            <a:r>
              <a:rPr lang="ko-KR" altLang="en-US" sz="1200" dirty="0">
                <a:solidFill>
                  <a:schemeClr val="tx2"/>
                </a:solidFill>
                <a:latin typeface="+mn-ea"/>
              </a:rPr>
              <a:t>호</a:t>
            </a:r>
            <a:r>
              <a:rPr lang="en-US" altLang="ko-KR" sz="1200" dirty="0">
                <a:solidFill>
                  <a:schemeClr val="tx2"/>
                </a:solidFill>
                <a:latin typeface="+mn-ea"/>
              </a:rPr>
              <a:t>(</a:t>
            </a:r>
            <a:r>
              <a:rPr lang="ko-KR" altLang="en-US" sz="1200" dirty="0">
                <a:solidFill>
                  <a:schemeClr val="tx2"/>
                </a:solidFill>
                <a:latin typeface="+mn-ea"/>
              </a:rPr>
              <a:t>공공의 이익을 위하여 비상업적으로 실시하는 경우만 해당한다</a:t>
            </a:r>
            <a:r>
              <a:rPr lang="en-US" altLang="ko-KR" sz="1200" dirty="0">
                <a:solidFill>
                  <a:schemeClr val="tx2"/>
                </a:solidFill>
                <a:latin typeface="+mn-ea"/>
              </a:rPr>
              <a:t>) </a:t>
            </a:r>
            <a:r>
              <a:rPr lang="ko-KR" altLang="en-US" sz="1200" dirty="0">
                <a:solidFill>
                  <a:schemeClr val="tx2"/>
                </a:solidFill>
                <a:latin typeface="+mn-ea"/>
              </a:rPr>
              <a:t>또는 제</a:t>
            </a:r>
            <a:r>
              <a:rPr lang="en-US" altLang="ko-KR" sz="1200" dirty="0">
                <a:solidFill>
                  <a:schemeClr val="tx2"/>
                </a:solidFill>
                <a:latin typeface="+mn-ea"/>
              </a:rPr>
              <a:t>4</a:t>
            </a:r>
            <a:r>
              <a:rPr lang="ko-KR" altLang="en-US" sz="1200" dirty="0">
                <a:solidFill>
                  <a:schemeClr val="tx2"/>
                </a:solidFill>
                <a:latin typeface="+mn-ea"/>
              </a:rPr>
              <a:t>호의 경우에만 재정을 청구할 수 있다</a:t>
            </a:r>
            <a:r>
              <a:rPr lang="en-US" altLang="ko-KR" sz="1200" dirty="0">
                <a:solidFill>
                  <a:schemeClr val="tx2"/>
                </a:solidFill>
                <a:latin typeface="+mn-ea"/>
              </a:rPr>
              <a:t>.</a:t>
            </a:r>
          </a:p>
          <a:p>
            <a:r>
              <a:rPr lang="en-US" altLang="ko-KR" sz="1200" dirty="0">
                <a:solidFill>
                  <a:schemeClr val="tx2"/>
                </a:solidFill>
                <a:latin typeface="+mn-ea"/>
              </a:rPr>
              <a:t>⑦ </a:t>
            </a:r>
            <a:r>
              <a:rPr lang="ko-KR" altLang="en-US" sz="1200" dirty="0">
                <a:solidFill>
                  <a:schemeClr val="tx2"/>
                </a:solidFill>
                <a:latin typeface="+mn-ea"/>
              </a:rPr>
              <a:t>수입국은 세계무역기구회원국 중 세계무역기구에 다음 각 호의 사항을 통지한 국가 또는 세계무역기구회원국이 아닌 국가 중 대통령령으로 정하는 국가로서 다음 각 호의 사항을 대한민국정부에 통지한 국가의 경우만 해당한다</a:t>
            </a:r>
            <a:r>
              <a:rPr lang="en-US" altLang="ko-KR" sz="1200" dirty="0">
                <a:solidFill>
                  <a:schemeClr val="tx2"/>
                </a:solidFill>
                <a:latin typeface="+mn-ea"/>
              </a:rPr>
              <a:t>.</a:t>
            </a:r>
          </a:p>
          <a:p>
            <a:r>
              <a:rPr lang="en-US" altLang="ko-KR" sz="1200" dirty="0">
                <a:solidFill>
                  <a:schemeClr val="tx2"/>
                </a:solidFill>
                <a:latin typeface="+mn-ea"/>
              </a:rPr>
              <a:t>1. </a:t>
            </a:r>
            <a:r>
              <a:rPr lang="ko-KR" altLang="en-US" sz="1200" dirty="0">
                <a:solidFill>
                  <a:schemeClr val="tx2"/>
                </a:solidFill>
                <a:latin typeface="+mn-ea"/>
              </a:rPr>
              <a:t>수입국이 필요로 하는 의약품의 명칭과 수량</a:t>
            </a:r>
          </a:p>
          <a:p>
            <a:r>
              <a:rPr lang="en-US" altLang="ko-KR" sz="1200" dirty="0">
                <a:solidFill>
                  <a:schemeClr val="tx2"/>
                </a:solidFill>
                <a:latin typeface="+mn-ea"/>
              </a:rPr>
              <a:t>2. </a:t>
            </a:r>
            <a:r>
              <a:rPr lang="ko-KR" altLang="en-US" sz="1200" dirty="0">
                <a:solidFill>
                  <a:schemeClr val="tx2"/>
                </a:solidFill>
                <a:latin typeface="+mn-ea"/>
              </a:rPr>
              <a:t>국제연합총회의 결의에 따른 </a:t>
            </a:r>
            <a:r>
              <a:rPr lang="ko-KR" altLang="en-US" sz="1200" dirty="0" err="1">
                <a:solidFill>
                  <a:schemeClr val="tx2"/>
                </a:solidFill>
                <a:latin typeface="+mn-ea"/>
              </a:rPr>
              <a:t>최빈개발도상국이</a:t>
            </a:r>
            <a:r>
              <a:rPr lang="ko-KR" altLang="en-US" sz="1200" dirty="0">
                <a:solidFill>
                  <a:schemeClr val="tx2"/>
                </a:solidFill>
                <a:latin typeface="+mn-ea"/>
              </a:rPr>
              <a:t> 아닌 경우 해당 의약품의 생산을 위한 제조능력이 없거나 부족하다는 수입국의 확인</a:t>
            </a:r>
          </a:p>
          <a:p>
            <a:r>
              <a:rPr lang="en-US" altLang="ko-KR" sz="1200" dirty="0">
                <a:solidFill>
                  <a:schemeClr val="tx2"/>
                </a:solidFill>
                <a:latin typeface="+mn-ea"/>
              </a:rPr>
              <a:t>3. </a:t>
            </a:r>
            <a:r>
              <a:rPr lang="ko-KR" altLang="en-US" sz="1200" dirty="0">
                <a:solidFill>
                  <a:schemeClr val="tx2"/>
                </a:solidFill>
                <a:latin typeface="+mn-ea"/>
              </a:rPr>
              <a:t>수입국에서 해당 의약품이 특허된 경우 강제적인 실시를 허락하였거나 허락할 의사가 있다는 그 국가의 확인</a:t>
            </a:r>
          </a:p>
          <a:p>
            <a:r>
              <a:rPr lang="ko-KR" altLang="en-US" sz="1200" dirty="0">
                <a:solidFill>
                  <a:schemeClr val="tx2"/>
                </a:solidFill>
                <a:latin typeface="+mn-ea"/>
              </a:rPr>
              <a:t>⑧ 제</a:t>
            </a:r>
            <a:r>
              <a:rPr lang="en-US" altLang="ko-KR" sz="1200" dirty="0">
                <a:solidFill>
                  <a:schemeClr val="tx2"/>
                </a:solidFill>
                <a:latin typeface="+mn-ea"/>
              </a:rPr>
              <a:t>1</a:t>
            </a:r>
            <a:r>
              <a:rPr lang="ko-KR" altLang="en-US" sz="1200" dirty="0" err="1">
                <a:solidFill>
                  <a:schemeClr val="tx2"/>
                </a:solidFill>
                <a:latin typeface="+mn-ea"/>
              </a:rPr>
              <a:t>항제</a:t>
            </a:r>
            <a:r>
              <a:rPr lang="en-US" altLang="ko-KR" sz="1200" dirty="0">
                <a:solidFill>
                  <a:schemeClr val="tx2"/>
                </a:solidFill>
                <a:latin typeface="+mn-ea"/>
              </a:rPr>
              <a:t>5</a:t>
            </a:r>
            <a:r>
              <a:rPr lang="ko-KR" altLang="en-US" sz="1200" dirty="0">
                <a:solidFill>
                  <a:schemeClr val="tx2"/>
                </a:solidFill>
                <a:latin typeface="+mn-ea"/>
              </a:rPr>
              <a:t>호에 따른 의약품은 다음 각 호의 어느 하나에 해당하는 것으로 한다</a:t>
            </a:r>
            <a:r>
              <a:rPr lang="en-US" altLang="ko-KR" sz="1200" dirty="0">
                <a:solidFill>
                  <a:schemeClr val="tx2"/>
                </a:solidFill>
                <a:latin typeface="+mn-ea"/>
              </a:rPr>
              <a:t>.</a:t>
            </a:r>
          </a:p>
          <a:p>
            <a:r>
              <a:rPr lang="en-US" altLang="ko-KR" sz="1200" dirty="0">
                <a:solidFill>
                  <a:schemeClr val="tx2"/>
                </a:solidFill>
                <a:latin typeface="+mn-ea"/>
              </a:rPr>
              <a:t>1. </a:t>
            </a:r>
            <a:r>
              <a:rPr lang="ko-KR" altLang="en-US" sz="1200" dirty="0">
                <a:solidFill>
                  <a:schemeClr val="tx2"/>
                </a:solidFill>
                <a:latin typeface="+mn-ea"/>
              </a:rPr>
              <a:t>특허된 의약품</a:t>
            </a:r>
          </a:p>
          <a:p>
            <a:r>
              <a:rPr lang="en-US" altLang="ko-KR" sz="1200" dirty="0">
                <a:solidFill>
                  <a:schemeClr val="tx2"/>
                </a:solidFill>
                <a:latin typeface="+mn-ea"/>
              </a:rPr>
              <a:t>2. </a:t>
            </a:r>
            <a:r>
              <a:rPr lang="ko-KR" altLang="en-US" sz="1200" dirty="0">
                <a:solidFill>
                  <a:schemeClr val="tx2"/>
                </a:solidFill>
                <a:latin typeface="+mn-ea"/>
              </a:rPr>
              <a:t>특허된 제조방법으로 생산된 의약품</a:t>
            </a:r>
          </a:p>
          <a:p>
            <a:r>
              <a:rPr lang="en-US" altLang="ko-KR" sz="1200" dirty="0">
                <a:solidFill>
                  <a:schemeClr val="tx2"/>
                </a:solidFill>
                <a:latin typeface="+mn-ea"/>
              </a:rPr>
              <a:t>3. </a:t>
            </a:r>
            <a:r>
              <a:rPr lang="ko-KR" altLang="en-US" sz="1200" dirty="0">
                <a:solidFill>
                  <a:schemeClr val="tx2"/>
                </a:solidFill>
                <a:latin typeface="+mn-ea"/>
              </a:rPr>
              <a:t>의약품 생산에 필요한 특허된 유효성분</a:t>
            </a:r>
          </a:p>
          <a:p>
            <a:r>
              <a:rPr lang="en-US" altLang="ko-KR" sz="1200" dirty="0">
                <a:solidFill>
                  <a:schemeClr val="tx2"/>
                </a:solidFill>
                <a:latin typeface="+mn-ea"/>
              </a:rPr>
              <a:t>4. </a:t>
            </a:r>
            <a:r>
              <a:rPr lang="ko-KR" altLang="en-US" sz="1200" dirty="0">
                <a:solidFill>
                  <a:schemeClr val="tx2"/>
                </a:solidFill>
                <a:latin typeface="+mn-ea"/>
              </a:rPr>
              <a:t>의약품 사용에 필요한 특허된 진단키트</a:t>
            </a:r>
          </a:p>
          <a:p>
            <a:r>
              <a:rPr lang="ko-KR" altLang="en-US" sz="1200" dirty="0">
                <a:solidFill>
                  <a:schemeClr val="tx2"/>
                </a:solidFill>
                <a:latin typeface="+mn-ea"/>
              </a:rPr>
              <a:t>⑨ 재정을 청구하는 자가 제출하여야 하는 서류</a:t>
            </a:r>
            <a:r>
              <a:rPr lang="en-US" altLang="ko-KR" sz="1200" dirty="0">
                <a:solidFill>
                  <a:schemeClr val="tx2"/>
                </a:solidFill>
                <a:latin typeface="+mn-ea"/>
              </a:rPr>
              <a:t>, </a:t>
            </a:r>
            <a:r>
              <a:rPr lang="ko-KR" altLang="en-US" sz="1200" dirty="0">
                <a:solidFill>
                  <a:schemeClr val="tx2"/>
                </a:solidFill>
                <a:latin typeface="+mn-ea"/>
              </a:rPr>
              <a:t>그 밖에 재정에 관하여 필요한 사항은 대통령령으로 정한다</a:t>
            </a:r>
            <a:r>
              <a:rPr lang="en-US" altLang="ko-KR" sz="1200" dirty="0">
                <a:solidFill>
                  <a:schemeClr val="tx2"/>
                </a:solidFill>
                <a:latin typeface="+mn-ea"/>
              </a:rPr>
              <a:t>.</a:t>
            </a:r>
          </a:p>
        </p:txBody>
      </p:sp>
      <p:sp>
        <p:nvSpPr>
          <p:cNvPr id="2" name="슬라이드 번호 개체 틀 1"/>
          <p:cNvSpPr>
            <a:spLocks noGrp="1"/>
          </p:cNvSpPr>
          <p:nvPr>
            <p:ph type="sldNum" sz="quarter" idx="12"/>
          </p:nvPr>
        </p:nvSpPr>
        <p:spPr/>
        <p:txBody>
          <a:bodyPr/>
          <a:lstStyle/>
          <a:p>
            <a:r>
              <a:rPr lang="en-US" altLang="ko-KR"/>
              <a:t>417</a:t>
            </a:r>
            <a:endParaRPr lang="ko-KR" altLang="en-US"/>
          </a:p>
        </p:txBody>
      </p:sp>
    </p:spTree>
    <p:extLst>
      <p:ext uri="{BB962C8B-B14F-4D97-AF65-F5344CB8AC3E}">
        <p14:creationId xmlns:p14="http://schemas.microsoft.com/office/powerpoint/2010/main" val="1687253801"/>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7" name="직선 연결선 26">
            <a:extLst>
              <a:ext uri="{FF2B5EF4-FFF2-40B4-BE49-F238E27FC236}">
                <a16:creationId xmlns:a16="http://schemas.microsoft.com/office/drawing/2014/main" id="{C01A41CD-B164-46AC-AFF5-0668AB46ADF2}"/>
              </a:ext>
            </a:extLst>
          </p:cNvPr>
          <p:cNvCxnSpPr>
            <a:stCxn id="6" idx="2"/>
            <a:endCxn id="20" idx="0"/>
          </p:cNvCxnSpPr>
          <p:nvPr/>
        </p:nvCxnSpPr>
        <p:spPr>
          <a:xfrm>
            <a:off x="2034386" y="1461700"/>
            <a:ext cx="0" cy="4778325"/>
          </a:xfrm>
          <a:prstGeom prst="line">
            <a:avLst/>
          </a:prstGeom>
          <a:ln w="28575">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4" name="제목 3"/>
          <p:cNvSpPr>
            <a:spLocks noGrp="1"/>
          </p:cNvSpPr>
          <p:nvPr>
            <p:ph type="title"/>
          </p:nvPr>
        </p:nvSpPr>
        <p:spPr/>
        <p:txBody>
          <a:bodyPr/>
          <a:lstStyle/>
          <a:p>
            <a:r>
              <a:rPr lang="ko-KR" altLang="en-US" dirty="0"/>
              <a:t>제</a:t>
            </a:r>
            <a:r>
              <a:rPr lang="en-US" altLang="ko-KR" dirty="0"/>
              <a:t>107</a:t>
            </a:r>
            <a:r>
              <a:rPr lang="ko-KR" altLang="en-US" dirty="0"/>
              <a:t>조</a:t>
            </a:r>
            <a:r>
              <a:rPr lang="en-US" altLang="ko-KR" dirty="0"/>
              <a:t>~</a:t>
            </a:r>
            <a:r>
              <a:rPr lang="ko-KR" altLang="en-US" dirty="0"/>
              <a:t>제</a:t>
            </a:r>
            <a:r>
              <a:rPr lang="en-US" altLang="ko-KR" dirty="0"/>
              <a:t>115</a:t>
            </a:r>
            <a:r>
              <a:rPr lang="ko-KR" altLang="en-US" dirty="0"/>
              <a:t>조</a:t>
            </a:r>
          </a:p>
        </p:txBody>
      </p:sp>
      <p:sp>
        <p:nvSpPr>
          <p:cNvPr id="5" name="텍스트 개체 틀 4"/>
          <p:cNvSpPr>
            <a:spLocks noGrp="1"/>
          </p:cNvSpPr>
          <p:nvPr>
            <p:ph type="body" sz="quarter" idx="13"/>
          </p:nvPr>
        </p:nvSpPr>
        <p:spPr/>
        <p:txBody>
          <a:bodyPr/>
          <a:lstStyle/>
          <a:p>
            <a:r>
              <a:rPr lang="ko-KR" altLang="en-US" dirty="0"/>
              <a:t>재정에 의한 통상실시권의 요건</a:t>
            </a:r>
            <a:r>
              <a:rPr lang="en-US" altLang="ko-KR" dirty="0"/>
              <a:t>(</a:t>
            </a:r>
            <a:r>
              <a:rPr lang="ko-KR" altLang="en-US" dirty="0"/>
              <a:t>제</a:t>
            </a:r>
            <a:r>
              <a:rPr lang="en-US" altLang="ko-KR" dirty="0"/>
              <a:t>107</a:t>
            </a:r>
            <a:r>
              <a:rPr lang="ko-KR" altLang="en-US" dirty="0"/>
              <a:t>조</a:t>
            </a:r>
            <a:r>
              <a:rPr lang="en-US" altLang="ko-KR" dirty="0"/>
              <a:t>)</a:t>
            </a:r>
            <a:endParaRPr lang="ko-KR" altLang="en-US" dirty="0"/>
          </a:p>
        </p:txBody>
      </p:sp>
      <p:graphicFrame>
        <p:nvGraphicFramePr>
          <p:cNvPr id="2" name="표 1"/>
          <p:cNvGraphicFramePr>
            <a:graphicFrameLocks noGrp="1"/>
          </p:cNvGraphicFramePr>
          <p:nvPr/>
        </p:nvGraphicFramePr>
        <p:xfrm>
          <a:off x="5885572" y="1105721"/>
          <a:ext cx="6032999" cy="5359357"/>
        </p:xfrm>
        <a:graphic>
          <a:graphicData uri="http://schemas.openxmlformats.org/drawingml/2006/table">
            <a:tbl>
              <a:tblPr>
                <a:tableStyleId>{8799B23B-EC83-4686-B30A-512413B5E67A}</a:tableStyleId>
              </a:tblPr>
              <a:tblGrid>
                <a:gridCol w="1072571">
                  <a:extLst>
                    <a:ext uri="{9D8B030D-6E8A-4147-A177-3AD203B41FA5}">
                      <a16:colId xmlns:a16="http://schemas.microsoft.com/office/drawing/2014/main" val="20000"/>
                    </a:ext>
                  </a:extLst>
                </a:gridCol>
                <a:gridCol w="645893">
                  <a:extLst>
                    <a:ext uri="{9D8B030D-6E8A-4147-A177-3AD203B41FA5}">
                      <a16:colId xmlns:a16="http://schemas.microsoft.com/office/drawing/2014/main" val="20001"/>
                    </a:ext>
                  </a:extLst>
                </a:gridCol>
                <a:gridCol w="583988">
                  <a:extLst>
                    <a:ext uri="{9D8B030D-6E8A-4147-A177-3AD203B41FA5}">
                      <a16:colId xmlns:a16="http://schemas.microsoft.com/office/drawing/2014/main" val="20002"/>
                    </a:ext>
                  </a:extLst>
                </a:gridCol>
                <a:gridCol w="128481">
                  <a:extLst>
                    <a:ext uri="{9D8B030D-6E8A-4147-A177-3AD203B41FA5}">
                      <a16:colId xmlns:a16="http://schemas.microsoft.com/office/drawing/2014/main" val="2011394915"/>
                    </a:ext>
                  </a:extLst>
                </a:gridCol>
                <a:gridCol w="414368">
                  <a:extLst>
                    <a:ext uri="{9D8B030D-6E8A-4147-A177-3AD203B41FA5}">
                      <a16:colId xmlns:a16="http://schemas.microsoft.com/office/drawing/2014/main" val="20003"/>
                    </a:ext>
                  </a:extLst>
                </a:gridCol>
                <a:gridCol w="646198">
                  <a:extLst>
                    <a:ext uri="{9D8B030D-6E8A-4147-A177-3AD203B41FA5}">
                      <a16:colId xmlns:a16="http://schemas.microsoft.com/office/drawing/2014/main" val="20004"/>
                    </a:ext>
                  </a:extLst>
                </a:gridCol>
                <a:gridCol w="1023928">
                  <a:extLst>
                    <a:ext uri="{9D8B030D-6E8A-4147-A177-3AD203B41FA5}">
                      <a16:colId xmlns:a16="http://schemas.microsoft.com/office/drawing/2014/main" val="20005"/>
                    </a:ext>
                  </a:extLst>
                </a:gridCol>
                <a:gridCol w="1517572">
                  <a:extLst>
                    <a:ext uri="{9D8B030D-6E8A-4147-A177-3AD203B41FA5}">
                      <a16:colId xmlns:a16="http://schemas.microsoft.com/office/drawing/2014/main" val="20006"/>
                    </a:ext>
                  </a:extLst>
                </a:gridCol>
              </a:tblGrid>
              <a:tr h="305712">
                <a:tc rowSpan="2">
                  <a:txBody>
                    <a:bodyPr/>
                    <a:lstStyle/>
                    <a:p>
                      <a:pPr marL="0" marR="0" indent="0" algn="ctr" fontAlgn="base" latinLnBrk="0">
                        <a:lnSpc>
                          <a:spcPct val="100000"/>
                        </a:lnSpc>
                        <a:spcBef>
                          <a:spcPts val="0"/>
                        </a:spcBef>
                        <a:spcAft>
                          <a:spcPts val="0"/>
                        </a:spcAft>
                      </a:pPr>
                      <a:r>
                        <a:rPr lang="ko-KR" altLang="en-US" sz="1100" kern="1200" dirty="0"/>
                        <a:t>구분</a:t>
                      </a:r>
                      <a:endParaRPr lang="ko-KR" altLang="en-US" sz="1100" kern="1200" dirty="0">
                        <a:solidFill>
                          <a:schemeClr val="tx1"/>
                        </a:solidFill>
                        <a:latin typeface="+mn-ea"/>
                        <a:ea typeface="+mn-ea"/>
                        <a:cs typeface="+mn-cs"/>
                      </a:endParaRPr>
                    </a:p>
                  </a:txBody>
                  <a:tcPr marL="36000" marR="36000" marT="17907" marB="17907" anchor="ctr">
                    <a:solidFill>
                      <a:schemeClr val="accent1">
                        <a:lumMod val="20000"/>
                        <a:lumOff val="80000"/>
                      </a:schemeClr>
                    </a:solidFill>
                  </a:tcPr>
                </a:tc>
                <a:tc rowSpan="2">
                  <a:txBody>
                    <a:bodyPr/>
                    <a:lstStyle/>
                    <a:p>
                      <a:pPr marL="0" marR="0" indent="0" algn="ctr" fontAlgn="base" latinLnBrk="0">
                        <a:lnSpc>
                          <a:spcPct val="100000"/>
                        </a:lnSpc>
                        <a:spcBef>
                          <a:spcPts val="0"/>
                        </a:spcBef>
                        <a:spcAft>
                          <a:spcPts val="0"/>
                        </a:spcAft>
                      </a:pPr>
                      <a:r>
                        <a:rPr lang="ko-KR" altLang="en-US" sz="1100" kern="1200" dirty="0" err="1"/>
                        <a:t>불실시</a:t>
                      </a:r>
                      <a:endParaRPr lang="ko-KR" altLang="en-US" sz="1100" kern="1200" dirty="0">
                        <a:solidFill>
                          <a:schemeClr val="tx1"/>
                        </a:solidFill>
                        <a:latin typeface="+mn-ea"/>
                        <a:ea typeface="+mn-ea"/>
                        <a:cs typeface="+mn-cs"/>
                      </a:endParaRPr>
                    </a:p>
                  </a:txBody>
                  <a:tcPr marL="36000" marR="36000" marT="17907" marB="17907" anchor="ctr">
                    <a:solidFill>
                      <a:schemeClr val="accent1">
                        <a:lumMod val="20000"/>
                        <a:lumOff val="80000"/>
                      </a:schemeClr>
                    </a:solidFill>
                  </a:tcPr>
                </a:tc>
                <a:tc rowSpan="2">
                  <a:txBody>
                    <a:bodyPr/>
                    <a:lstStyle/>
                    <a:p>
                      <a:pPr marL="0" marR="0" indent="0" algn="ctr" fontAlgn="base" latinLnBrk="0">
                        <a:lnSpc>
                          <a:spcPct val="100000"/>
                        </a:lnSpc>
                        <a:spcBef>
                          <a:spcPts val="0"/>
                        </a:spcBef>
                        <a:spcAft>
                          <a:spcPts val="0"/>
                        </a:spcAft>
                      </a:pPr>
                      <a:r>
                        <a:rPr lang="ko-KR" altLang="en-US" sz="1100" kern="1200" dirty="0"/>
                        <a:t>불충분</a:t>
                      </a:r>
                      <a:endParaRPr lang="en-US" altLang="ko-KR" sz="1100" kern="1200" dirty="0"/>
                    </a:p>
                    <a:p>
                      <a:pPr marL="0" marR="0" indent="0" algn="ctr" fontAlgn="base" latinLnBrk="0">
                        <a:lnSpc>
                          <a:spcPct val="100000"/>
                        </a:lnSpc>
                        <a:spcBef>
                          <a:spcPts val="0"/>
                        </a:spcBef>
                        <a:spcAft>
                          <a:spcPts val="0"/>
                        </a:spcAft>
                      </a:pPr>
                      <a:r>
                        <a:rPr lang="ko-KR" altLang="en-US" sz="1100" kern="1200" dirty="0"/>
                        <a:t>실시</a:t>
                      </a:r>
                      <a:endParaRPr lang="ko-KR" altLang="en-US" sz="1100" kern="1200" dirty="0">
                        <a:solidFill>
                          <a:schemeClr val="tx1"/>
                        </a:solidFill>
                        <a:latin typeface="+mn-ea"/>
                        <a:ea typeface="+mn-ea"/>
                        <a:cs typeface="+mn-cs"/>
                      </a:endParaRPr>
                    </a:p>
                  </a:txBody>
                  <a:tcPr marL="36000" marR="36000" marT="17907" marB="17907" anchor="ctr">
                    <a:solidFill>
                      <a:schemeClr val="accent1">
                        <a:lumMod val="20000"/>
                        <a:lumOff val="80000"/>
                      </a:schemeClr>
                    </a:solidFill>
                  </a:tcPr>
                </a:tc>
                <a:tc gridSpan="3">
                  <a:txBody>
                    <a:bodyPr/>
                    <a:lstStyle/>
                    <a:p>
                      <a:pPr marL="0" marR="0" indent="0" algn="ctr" fontAlgn="base" latinLnBrk="0">
                        <a:lnSpc>
                          <a:spcPct val="100000"/>
                        </a:lnSpc>
                        <a:spcBef>
                          <a:spcPts val="0"/>
                        </a:spcBef>
                        <a:spcAft>
                          <a:spcPts val="0"/>
                        </a:spcAft>
                      </a:pPr>
                      <a:r>
                        <a:rPr lang="ko-KR" altLang="en-US" sz="1100" kern="1200"/>
                        <a:t>공공의 이익 실시</a:t>
                      </a:r>
                      <a:endParaRPr lang="ko-KR" altLang="en-US" sz="1100" kern="1200" dirty="0">
                        <a:solidFill>
                          <a:schemeClr val="tx1"/>
                        </a:solidFill>
                        <a:latin typeface="+mn-ea"/>
                        <a:ea typeface="+mn-ea"/>
                        <a:cs typeface="+mn-cs"/>
                      </a:endParaRPr>
                    </a:p>
                  </a:txBody>
                  <a:tcPr marL="36000" marR="36000" marT="17907" marB="17907" anchor="ctr">
                    <a:solidFill>
                      <a:schemeClr val="accent1">
                        <a:lumMod val="20000"/>
                        <a:lumOff val="80000"/>
                      </a:schemeClr>
                    </a:solidFill>
                  </a:tcPr>
                </a:tc>
                <a:tc hMerge="1">
                  <a:txBody>
                    <a:bodyPr/>
                    <a:lstStyle/>
                    <a:p>
                      <a:pPr marL="0" marR="0" indent="0" algn="ctr" fontAlgn="base" latinLnBrk="0">
                        <a:lnSpc>
                          <a:spcPct val="100000"/>
                        </a:lnSpc>
                        <a:spcBef>
                          <a:spcPts val="0"/>
                        </a:spcBef>
                        <a:spcAft>
                          <a:spcPts val="0"/>
                        </a:spcAft>
                      </a:pPr>
                      <a:r>
                        <a:rPr lang="ko-KR" altLang="en-US" sz="1100" kern="1200"/>
                        <a:t>공공의 이익 실시</a:t>
                      </a:r>
                      <a:endParaRPr lang="ko-KR" altLang="en-US" sz="1100" kern="1200">
                        <a:solidFill>
                          <a:schemeClr val="tx1"/>
                        </a:solidFill>
                        <a:latin typeface="+mn-ea"/>
                        <a:ea typeface="+mn-ea"/>
                        <a:cs typeface="+mn-cs"/>
                      </a:endParaRPr>
                    </a:p>
                  </a:txBody>
                  <a:tcPr marL="36000" marR="36000" marT="17907" marB="17907" anchor="ctr">
                    <a:solidFill>
                      <a:schemeClr val="accent1">
                        <a:lumMod val="20000"/>
                        <a:lumOff val="80000"/>
                      </a:schemeClr>
                    </a:solidFill>
                  </a:tcPr>
                </a:tc>
                <a:tc h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1100" kern="1200" dirty="0"/>
                        <a:t>불공정거래행위 시정실시</a:t>
                      </a:r>
                      <a:endParaRPr lang="ko-KR" altLang="en-US" sz="1100" kern="1200" dirty="0">
                        <a:solidFill>
                          <a:schemeClr val="tx1"/>
                        </a:solidFill>
                        <a:latin typeface="+mn-ea"/>
                        <a:ea typeface="+mn-ea"/>
                        <a:cs typeface="+mn-cs"/>
                      </a:endParaRPr>
                    </a:p>
                  </a:txBody>
                  <a:tcPr marL="36000" marR="36000" marT="17907" marB="17907" anchor="ctr">
                    <a:solidFill>
                      <a:schemeClr val="accent1">
                        <a:lumMod val="20000"/>
                        <a:lumOff val="80000"/>
                      </a:schemeClr>
                    </a:solidFill>
                  </a:tcPr>
                </a:tc>
                <a:tc rowSpan="2">
                  <a:txBody>
                    <a:bodyPr/>
                    <a:lstStyle/>
                    <a:p>
                      <a:pPr marL="0" marR="0" indent="0" algn="ctr" fontAlgn="base" latinLnBrk="0">
                        <a:lnSpc>
                          <a:spcPct val="100000"/>
                        </a:lnSpc>
                        <a:spcBef>
                          <a:spcPts val="0"/>
                        </a:spcBef>
                        <a:spcAft>
                          <a:spcPts val="0"/>
                        </a:spcAft>
                      </a:pPr>
                      <a:r>
                        <a:rPr lang="ko-KR" altLang="en-US" sz="1100" kern="1200" dirty="0"/>
                        <a:t>수입국에 수출실시</a:t>
                      </a:r>
                      <a:endParaRPr lang="ko-KR" altLang="en-US" sz="1100" kern="1200" dirty="0">
                        <a:solidFill>
                          <a:schemeClr val="tx1"/>
                        </a:solidFill>
                        <a:latin typeface="+mn-ea"/>
                        <a:ea typeface="+mn-ea"/>
                        <a:cs typeface="+mn-cs"/>
                      </a:endParaRPr>
                    </a:p>
                  </a:txBody>
                  <a:tcPr marL="36000" marR="36000" marT="17907" marB="17907" anchor="ctr">
                    <a:solidFill>
                      <a:schemeClr val="accent1">
                        <a:lumMod val="20000"/>
                        <a:lumOff val="80000"/>
                      </a:schemeClr>
                    </a:solidFill>
                  </a:tcPr>
                </a:tc>
                <a:extLst>
                  <a:ext uri="{0D108BD9-81ED-4DB2-BD59-A6C34878D82A}">
                    <a16:rowId xmlns:a16="http://schemas.microsoft.com/office/drawing/2014/main" val="10000"/>
                  </a:ext>
                </a:extLst>
              </a:tr>
              <a:tr h="340876">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gridSpan="2">
                  <a:txBody>
                    <a:bodyPr/>
                    <a:lstStyle/>
                    <a:p>
                      <a:pPr algn="ctr" latinLnBrk="1"/>
                      <a:r>
                        <a:rPr lang="ko-KR" altLang="en-US" sz="1100" kern="1200" dirty="0"/>
                        <a:t>상업적</a:t>
                      </a:r>
                      <a:endParaRPr lang="ko-KR" altLang="en-US" dirty="0"/>
                    </a:p>
                  </a:txBody>
                  <a:tcPr marL="36000" marR="36000" marT="17907" marB="17907" anchor="ctr">
                    <a:solidFill>
                      <a:schemeClr val="accent1">
                        <a:lumMod val="20000"/>
                        <a:lumOff val="80000"/>
                      </a:schemeClr>
                    </a:solidFill>
                  </a:tcPr>
                </a:tc>
                <a:tc hMerge="1">
                  <a:txBody>
                    <a:bodyPr/>
                    <a:lstStyle/>
                    <a:p>
                      <a:pPr marL="0" marR="0" indent="0" algn="ctr" fontAlgn="base" latinLnBrk="0">
                        <a:lnSpc>
                          <a:spcPct val="100000"/>
                        </a:lnSpc>
                        <a:spcBef>
                          <a:spcPts val="0"/>
                        </a:spcBef>
                        <a:spcAft>
                          <a:spcPts val="0"/>
                        </a:spcAft>
                      </a:pPr>
                      <a:r>
                        <a:rPr lang="ko-KR" altLang="en-US" sz="1100" kern="1200" dirty="0"/>
                        <a:t>상업적</a:t>
                      </a:r>
                      <a:endParaRPr lang="ko-KR" altLang="en-US" sz="1100" kern="1200" dirty="0">
                        <a:solidFill>
                          <a:schemeClr val="tx1"/>
                        </a:solidFill>
                        <a:latin typeface="+mn-ea"/>
                        <a:ea typeface="+mn-ea"/>
                        <a:cs typeface="+mn-cs"/>
                      </a:endParaRPr>
                    </a:p>
                  </a:txBody>
                  <a:tcPr marL="36000" marR="3600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100" kern="1200" dirty="0"/>
                        <a:t>비상업적</a:t>
                      </a:r>
                      <a:endParaRPr lang="ko-KR" altLang="en-US" sz="1100" kern="1200" dirty="0">
                        <a:solidFill>
                          <a:schemeClr val="tx1"/>
                        </a:solidFill>
                        <a:latin typeface="+mn-ea"/>
                        <a:ea typeface="+mn-ea"/>
                        <a:cs typeface="+mn-cs"/>
                      </a:endParaRPr>
                    </a:p>
                  </a:txBody>
                  <a:tcPr marL="36000" marR="36000" marT="17907" marB="17907" anchor="ctr">
                    <a:solidFill>
                      <a:schemeClr val="accent1">
                        <a:lumMod val="20000"/>
                        <a:lumOff val="80000"/>
                      </a:schemeClr>
                    </a:solidFill>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1"/>
                  </a:ext>
                </a:extLst>
              </a:tr>
              <a:tr h="557609">
                <a:tc>
                  <a:txBody>
                    <a:bodyPr/>
                    <a:lstStyle/>
                    <a:p>
                      <a:pPr marL="0" marR="0" indent="0" algn="ctr" fontAlgn="base" latinLnBrk="0">
                        <a:lnSpc>
                          <a:spcPct val="100000"/>
                        </a:lnSpc>
                        <a:spcBef>
                          <a:spcPts val="0"/>
                        </a:spcBef>
                        <a:spcAft>
                          <a:spcPts val="0"/>
                        </a:spcAft>
                      </a:pPr>
                      <a:r>
                        <a:rPr lang="ko-KR" altLang="en-US" sz="1100" kern="1200" dirty="0"/>
                        <a:t>협의</a:t>
                      </a:r>
                      <a:endParaRPr lang="en-US" altLang="ko-KR" sz="1100" kern="1200" dirty="0"/>
                    </a:p>
                    <a:p>
                      <a:pPr marL="0" marR="0" indent="0" algn="ctr" fontAlgn="base" latinLnBrk="0">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제</a:t>
                      </a:r>
                      <a:r>
                        <a:rPr lang="en-US" altLang="ko-KR" sz="1100" kern="1200" dirty="0">
                          <a:solidFill>
                            <a:schemeClr val="tx1"/>
                          </a:solidFill>
                          <a:latin typeface="+mn-ea"/>
                          <a:ea typeface="+mn-ea"/>
                          <a:cs typeface="+mn-cs"/>
                        </a:rPr>
                        <a:t>107</a:t>
                      </a:r>
                      <a:r>
                        <a:rPr lang="ko-KR" altLang="en-US" sz="1100" kern="1200" dirty="0">
                          <a:solidFill>
                            <a:schemeClr val="tx1"/>
                          </a:solidFill>
                          <a:latin typeface="+mn-ea"/>
                          <a:ea typeface="+mn-ea"/>
                          <a:cs typeface="+mn-cs"/>
                        </a:rPr>
                        <a:t>조제</a:t>
                      </a:r>
                      <a:r>
                        <a:rPr lang="en-US" altLang="ko-KR" sz="1100" kern="1200" dirty="0">
                          <a:solidFill>
                            <a:schemeClr val="tx1"/>
                          </a:solidFill>
                          <a:latin typeface="+mn-ea"/>
                          <a:ea typeface="+mn-ea"/>
                          <a:cs typeface="+mn-cs"/>
                        </a:rPr>
                        <a:t>1</a:t>
                      </a:r>
                      <a:r>
                        <a:rPr lang="ko-KR" altLang="en-US" sz="1100" kern="1200" dirty="0">
                          <a:solidFill>
                            <a:schemeClr val="tx1"/>
                          </a:solidFill>
                          <a:latin typeface="+mn-ea"/>
                          <a:ea typeface="+mn-ea"/>
                          <a:cs typeface="+mn-cs"/>
                        </a:rPr>
                        <a:t>항</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ko-KR" altLang="en-US" sz="1100" kern="1200" dirty="0"/>
                        <a:t>○</a:t>
                      </a:r>
                      <a:endParaRPr lang="ko-KR" altLang="en-US" sz="1100" kern="1200" dirty="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ko-KR" altLang="en-US" sz="1100" kern="1200"/>
                        <a:t>○</a:t>
                      </a:r>
                      <a:endParaRPr lang="ko-KR" altLang="en-US" sz="1100" kern="1200">
                        <a:solidFill>
                          <a:schemeClr val="tx1"/>
                        </a:solidFill>
                        <a:latin typeface="+mn-ea"/>
                        <a:ea typeface="+mn-ea"/>
                        <a:cs typeface="+mn-cs"/>
                      </a:endParaRPr>
                    </a:p>
                  </a:txBody>
                  <a:tcPr marL="36000" marR="36000" marT="17907" marB="17907" anchor="ctr"/>
                </a:tc>
                <a:tc gridSpan="2">
                  <a:txBody>
                    <a:bodyPr/>
                    <a:lstStyle/>
                    <a:p>
                      <a:pPr marL="17780" marR="17780" indent="0" algn="ctr" fontAlgn="base" latinLnBrk="0">
                        <a:lnSpc>
                          <a:spcPct val="100000"/>
                        </a:lnSpc>
                        <a:spcBef>
                          <a:spcPts val="0"/>
                        </a:spcBef>
                        <a:spcAft>
                          <a:spcPts val="0"/>
                        </a:spcAft>
                      </a:pPr>
                      <a:r>
                        <a:rPr lang="ko-KR" altLang="en-US" sz="1100" kern="1200"/>
                        <a:t>○</a:t>
                      </a:r>
                      <a:endParaRPr lang="ko-KR" altLang="en-US" sz="1100" kern="1200">
                        <a:solidFill>
                          <a:schemeClr val="tx1"/>
                        </a:solidFill>
                        <a:latin typeface="+mn-ea"/>
                        <a:ea typeface="+mn-ea"/>
                        <a:cs typeface="+mn-cs"/>
                      </a:endParaRPr>
                    </a:p>
                  </a:txBody>
                  <a:tcPr marL="36000" marR="36000" marT="17907" marB="17907" anchor="ctr"/>
                </a:tc>
                <a:tc hMerge="1">
                  <a:txBody>
                    <a:bodyPr/>
                    <a:lstStyle/>
                    <a:p>
                      <a:pPr marL="17780" marR="17780" indent="0" algn="ctr" fontAlgn="base" latinLnBrk="0">
                        <a:lnSpc>
                          <a:spcPct val="100000"/>
                        </a:lnSpc>
                        <a:spcBef>
                          <a:spcPts val="0"/>
                        </a:spcBef>
                        <a:spcAft>
                          <a:spcPts val="0"/>
                        </a:spcAft>
                      </a:pPr>
                      <a:r>
                        <a:rPr lang="ko-KR" altLang="en-US" sz="1100" kern="1200"/>
                        <a:t>○</a:t>
                      </a:r>
                      <a:endParaRPr lang="ko-KR" altLang="en-US" sz="1100" kern="120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en-US" sz="1100" kern="1200"/>
                        <a:t>×</a:t>
                      </a:r>
                      <a:endParaRPr lang="en-US" sz="1100" kern="120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en-US" sz="1100" kern="1200"/>
                        <a:t>×</a:t>
                      </a:r>
                      <a:endParaRPr lang="en-US" sz="1100" kern="120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ko-KR" altLang="en-US" sz="1100" kern="1200"/>
                        <a:t>○</a:t>
                      </a:r>
                      <a:endParaRPr lang="ko-KR" altLang="en-US" sz="1100" kern="1200">
                        <a:solidFill>
                          <a:schemeClr val="tx1"/>
                        </a:solidFill>
                        <a:latin typeface="+mn-ea"/>
                        <a:ea typeface="+mn-ea"/>
                        <a:cs typeface="+mn-cs"/>
                      </a:endParaRPr>
                    </a:p>
                  </a:txBody>
                  <a:tcPr marL="36000" marR="36000" marT="17907" marB="17907" anchor="ctr"/>
                </a:tc>
                <a:extLst>
                  <a:ext uri="{0D108BD9-81ED-4DB2-BD59-A6C34878D82A}">
                    <a16:rowId xmlns:a16="http://schemas.microsoft.com/office/drawing/2014/main" val="10002"/>
                  </a:ext>
                </a:extLst>
              </a:tr>
              <a:tr h="557609">
                <a:tc>
                  <a:txBody>
                    <a:bodyPr/>
                    <a:lstStyle/>
                    <a:p>
                      <a:pPr marL="0" marR="0" indent="0" algn="ctr" fontAlgn="base" latinLnBrk="0">
                        <a:lnSpc>
                          <a:spcPct val="100000"/>
                        </a:lnSpc>
                        <a:spcBef>
                          <a:spcPts val="0"/>
                        </a:spcBef>
                        <a:spcAft>
                          <a:spcPts val="0"/>
                        </a:spcAft>
                      </a:pPr>
                      <a:r>
                        <a:rPr lang="ko-KR" altLang="en-US" sz="1100" kern="1200" dirty="0"/>
                        <a:t>기간경과</a:t>
                      </a:r>
                      <a:endParaRPr lang="en-US" altLang="ko-KR" sz="1100" kern="1200" dirty="0"/>
                    </a:p>
                    <a:p>
                      <a:pPr marL="0" marR="0" indent="0" algn="ctr" fontAlgn="base" latinLnBrk="0">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제</a:t>
                      </a:r>
                      <a:r>
                        <a:rPr lang="en-US" altLang="ko-KR" sz="1100" kern="1200" dirty="0">
                          <a:solidFill>
                            <a:schemeClr val="tx1"/>
                          </a:solidFill>
                          <a:latin typeface="+mn-ea"/>
                          <a:ea typeface="+mn-ea"/>
                          <a:cs typeface="+mn-cs"/>
                        </a:rPr>
                        <a:t>107</a:t>
                      </a:r>
                      <a:r>
                        <a:rPr lang="ko-KR" altLang="en-US" sz="1100" kern="1200" dirty="0">
                          <a:solidFill>
                            <a:schemeClr val="tx1"/>
                          </a:solidFill>
                          <a:latin typeface="+mn-ea"/>
                          <a:ea typeface="+mn-ea"/>
                          <a:cs typeface="+mn-cs"/>
                        </a:rPr>
                        <a:t>조제</a:t>
                      </a:r>
                      <a:r>
                        <a:rPr lang="en-US" altLang="ko-KR" sz="1100" kern="1200" dirty="0">
                          <a:solidFill>
                            <a:schemeClr val="tx1"/>
                          </a:solidFill>
                          <a:latin typeface="+mn-ea"/>
                          <a:ea typeface="+mn-ea"/>
                          <a:cs typeface="+mn-cs"/>
                        </a:rPr>
                        <a:t>2</a:t>
                      </a:r>
                      <a:r>
                        <a:rPr lang="ko-KR" altLang="en-US" sz="1100" kern="1200" dirty="0">
                          <a:solidFill>
                            <a:schemeClr val="tx1"/>
                          </a:solidFill>
                          <a:latin typeface="+mn-ea"/>
                          <a:ea typeface="+mn-ea"/>
                          <a:cs typeface="+mn-cs"/>
                        </a:rPr>
                        <a:t>항</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ko-KR" altLang="en-US" sz="1100" kern="1200" dirty="0"/>
                        <a:t>○</a:t>
                      </a:r>
                      <a:endParaRPr lang="ko-KR" altLang="en-US" sz="1100" kern="1200" dirty="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ko-KR" altLang="en-US" sz="1100" kern="1200" dirty="0"/>
                        <a:t>○</a:t>
                      </a:r>
                      <a:endParaRPr lang="ko-KR" altLang="en-US" sz="1100" kern="1200" dirty="0">
                        <a:solidFill>
                          <a:schemeClr val="tx1"/>
                        </a:solidFill>
                        <a:latin typeface="+mn-ea"/>
                        <a:ea typeface="+mn-ea"/>
                        <a:cs typeface="+mn-cs"/>
                      </a:endParaRPr>
                    </a:p>
                  </a:txBody>
                  <a:tcPr marL="36000" marR="36000" marT="17907" marB="17907" anchor="ctr"/>
                </a:tc>
                <a:tc gridSpan="2">
                  <a:txBody>
                    <a:bodyPr/>
                    <a:lstStyle/>
                    <a:p>
                      <a:pPr marL="17780" marR="17780" indent="0" algn="ctr" fontAlgn="base" latinLnBrk="0">
                        <a:lnSpc>
                          <a:spcPct val="100000"/>
                        </a:lnSpc>
                        <a:spcBef>
                          <a:spcPts val="0"/>
                        </a:spcBef>
                        <a:spcAft>
                          <a:spcPts val="0"/>
                        </a:spcAft>
                      </a:pPr>
                      <a:r>
                        <a:rPr lang="en-US" sz="1100" kern="1200" dirty="0"/>
                        <a:t>×</a:t>
                      </a:r>
                      <a:endParaRPr lang="ko-KR" altLang="en-US" sz="1100" kern="1200" dirty="0">
                        <a:solidFill>
                          <a:schemeClr val="tx1"/>
                        </a:solidFill>
                        <a:latin typeface="+mn-ea"/>
                        <a:ea typeface="+mn-ea"/>
                        <a:cs typeface="+mn-cs"/>
                      </a:endParaRPr>
                    </a:p>
                  </a:txBody>
                  <a:tcPr marL="36000" marR="36000" marT="17907" marB="17907" anchor="ctr"/>
                </a:tc>
                <a:tc hMerge="1">
                  <a:txBody>
                    <a:bodyPr/>
                    <a:lstStyle/>
                    <a:p>
                      <a:pPr marL="17780" marR="17780" indent="0" algn="ctr" fontAlgn="base" latinLnBrk="0">
                        <a:lnSpc>
                          <a:spcPct val="100000"/>
                        </a:lnSpc>
                        <a:spcBef>
                          <a:spcPts val="0"/>
                        </a:spcBef>
                        <a:spcAft>
                          <a:spcPts val="0"/>
                        </a:spcAft>
                      </a:pPr>
                      <a:r>
                        <a:rPr lang="en-US" sz="1100" kern="1200" dirty="0"/>
                        <a:t>×</a:t>
                      </a:r>
                      <a:endParaRPr lang="en-US" sz="1100" kern="1200" dirty="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en-US" sz="1100" kern="1200" dirty="0"/>
                        <a:t>×</a:t>
                      </a:r>
                      <a:endParaRPr lang="en-US" sz="1100" kern="1200" dirty="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en-US" sz="1100" kern="1200" dirty="0"/>
                        <a:t>×</a:t>
                      </a:r>
                      <a:endParaRPr lang="en-US" sz="1100" kern="1200" dirty="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en-US" sz="1100" kern="1200" dirty="0"/>
                        <a:t>×</a:t>
                      </a:r>
                      <a:endParaRPr lang="en-US" sz="1100" kern="1200" dirty="0">
                        <a:solidFill>
                          <a:schemeClr val="tx1"/>
                        </a:solidFill>
                        <a:latin typeface="+mn-ea"/>
                        <a:ea typeface="+mn-ea"/>
                        <a:cs typeface="+mn-cs"/>
                      </a:endParaRPr>
                    </a:p>
                  </a:txBody>
                  <a:tcPr marL="36000" marR="36000" marT="17907" marB="17907" anchor="ctr"/>
                </a:tc>
                <a:extLst>
                  <a:ext uri="{0D108BD9-81ED-4DB2-BD59-A6C34878D82A}">
                    <a16:rowId xmlns:a16="http://schemas.microsoft.com/office/drawing/2014/main" val="10004"/>
                  </a:ext>
                </a:extLst>
              </a:tr>
              <a:tr h="557609">
                <a:tc>
                  <a:txBody>
                    <a:bodyPr/>
                    <a:lstStyle/>
                    <a:p>
                      <a:pPr marL="0" marR="0" indent="0" algn="ctr" fontAlgn="base" latinLnBrk="0">
                        <a:lnSpc>
                          <a:spcPct val="100000"/>
                        </a:lnSpc>
                        <a:spcBef>
                          <a:spcPts val="0"/>
                        </a:spcBef>
                        <a:spcAft>
                          <a:spcPts val="0"/>
                        </a:spcAft>
                      </a:pPr>
                      <a:r>
                        <a:rPr lang="ko-KR" altLang="en-US" sz="1100" kern="1200" dirty="0" err="1">
                          <a:solidFill>
                            <a:schemeClr val="tx1"/>
                          </a:solidFill>
                          <a:latin typeface="+mn-ea"/>
                          <a:ea typeface="+mn-ea"/>
                          <a:cs typeface="+mn-cs"/>
                        </a:rPr>
                        <a:t>청구별</a:t>
                      </a:r>
                      <a:r>
                        <a:rPr lang="ko-KR" altLang="en-US" sz="1100" kern="1200" dirty="0">
                          <a:solidFill>
                            <a:schemeClr val="tx1"/>
                          </a:solidFill>
                          <a:latin typeface="+mn-ea"/>
                          <a:ea typeface="+mn-ea"/>
                          <a:cs typeface="+mn-cs"/>
                        </a:rPr>
                        <a:t> 검토</a:t>
                      </a:r>
                      <a:endParaRPr lang="en-US" altLang="ko-KR" sz="1100" kern="1200" dirty="0">
                        <a:solidFill>
                          <a:schemeClr val="tx1"/>
                        </a:solidFill>
                        <a:latin typeface="+mn-ea"/>
                        <a:ea typeface="+mn-ea"/>
                        <a:cs typeface="+mn-cs"/>
                      </a:endParaRPr>
                    </a:p>
                    <a:p>
                      <a:pPr marL="0" marR="0" indent="0" algn="ctr" fontAlgn="base" latinLnBrk="0">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제</a:t>
                      </a:r>
                      <a:r>
                        <a:rPr lang="en-US" altLang="ko-KR" sz="1100" kern="1200" dirty="0">
                          <a:solidFill>
                            <a:schemeClr val="tx1"/>
                          </a:solidFill>
                          <a:latin typeface="+mn-ea"/>
                          <a:ea typeface="+mn-ea"/>
                          <a:cs typeface="+mn-cs"/>
                        </a:rPr>
                        <a:t>107</a:t>
                      </a:r>
                      <a:r>
                        <a:rPr lang="ko-KR" altLang="en-US" sz="1100" kern="1200" dirty="0">
                          <a:solidFill>
                            <a:schemeClr val="tx1"/>
                          </a:solidFill>
                          <a:latin typeface="+mn-ea"/>
                          <a:ea typeface="+mn-ea"/>
                          <a:cs typeface="+mn-cs"/>
                        </a:rPr>
                        <a:t>조제</a:t>
                      </a:r>
                      <a:r>
                        <a:rPr lang="en-US" altLang="ko-KR" sz="1100" kern="1200" dirty="0">
                          <a:solidFill>
                            <a:schemeClr val="tx1"/>
                          </a:solidFill>
                          <a:latin typeface="+mn-ea"/>
                          <a:ea typeface="+mn-ea"/>
                          <a:cs typeface="+mn-cs"/>
                        </a:rPr>
                        <a:t>3</a:t>
                      </a:r>
                      <a:r>
                        <a:rPr lang="ko-KR" altLang="en-US" sz="1100" kern="1200" dirty="0">
                          <a:solidFill>
                            <a:schemeClr val="tx1"/>
                          </a:solidFill>
                          <a:latin typeface="+mn-ea"/>
                          <a:ea typeface="+mn-ea"/>
                          <a:cs typeface="+mn-cs"/>
                        </a:rPr>
                        <a:t>항</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txBody>
                  <a:tcPr marL="36000" marR="36000" marT="17907" marB="17907" anchor="ctr"/>
                </a:tc>
                <a:tc gridSpan="7">
                  <a:txBody>
                    <a:bodyPr/>
                    <a:lstStyle/>
                    <a:p>
                      <a:pPr marL="17780" marR="17780" lvl="0" indent="0" algn="ctr" defTabSz="914400" rtl="0" eaLnBrk="1" fontAlgn="base" latinLnBrk="1" hangingPunct="1">
                        <a:lnSpc>
                          <a:spcPct val="100000"/>
                        </a:lnSpc>
                        <a:spcBef>
                          <a:spcPts val="0"/>
                        </a:spcBef>
                        <a:spcAft>
                          <a:spcPts val="0"/>
                        </a:spcAft>
                        <a:buClrTx/>
                        <a:buSzTx/>
                        <a:buFontTx/>
                        <a:buNone/>
                        <a:tabLst/>
                        <a:defRPr/>
                      </a:pPr>
                      <a:r>
                        <a:rPr lang="ko-KR" altLang="en-US" sz="1100" kern="1200" dirty="0"/>
                        <a:t>○</a:t>
                      </a:r>
                      <a:endParaRPr lang="ko-KR" altLang="en-US" sz="1100" kern="1200" dirty="0">
                        <a:solidFill>
                          <a:schemeClr val="tx1"/>
                        </a:solidFill>
                        <a:latin typeface="+mn-ea"/>
                        <a:ea typeface="+mn-ea"/>
                        <a:cs typeface="+mn-cs"/>
                      </a:endParaRPr>
                    </a:p>
                  </a:txBody>
                  <a:tcPr marL="36000" marR="36000" marT="17907" marB="17907" anchor="ct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marL="17780" marR="17780" indent="0" algn="ctr" fontAlgn="base" latinLnBrk="0">
                        <a:lnSpc>
                          <a:spcPct val="100000"/>
                        </a:lnSpc>
                        <a:spcBef>
                          <a:spcPts val="0"/>
                        </a:spcBef>
                        <a:spcAft>
                          <a:spcPts val="0"/>
                        </a:spcAft>
                      </a:pPr>
                      <a:endParaRPr lang="en-US" sz="1100" kern="1200" dirty="0">
                        <a:solidFill>
                          <a:schemeClr val="tx1"/>
                        </a:solidFill>
                        <a:latin typeface="+mn-ea"/>
                        <a:ea typeface="+mn-ea"/>
                        <a:cs typeface="+mn-cs"/>
                      </a:endParaRPr>
                    </a:p>
                  </a:txBody>
                  <a:tcPr marL="36000" marR="36000" marT="17907" marB="17907" anchor="ctr"/>
                </a:tc>
                <a:tc hMerge="1">
                  <a:txBody>
                    <a:bodyPr/>
                    <a:lstStyle/>
                    <a:p>
                      <a:pPr marL="17780" marR="17780" indent="0" algn="just" fontAlgn="base" latinLnBrk="1">
                        <a:lnSpc>
                          <a:spcPct val="100000"/>
                        </a:lnSpc>
                        <a:spcBef>
                          <a:spcPts val="0"/>
                        </a:spcBef>
                        <a:spcAft>
                          <a:spcPts val="0"/>
                        </a:spcAft>
                      </a:pPr>
                      <a:endParaRPr lang="ko-KR" altLang="en-US" sz="1100" kern="1200" dirty="0">
                        <a:solidFill>
                          <a:schemeClr val="tx1"/>
                        </a:solidFill>
                        <a:latin typeface="+mn-ea"/>
                        <a:ea typeface="+mn-ea"/>
                        <a:cs typeface="+mn-cs"/>
                      </a:endParaRPr>
                    </a:p>
                  </a:txBody>
                  <a:tcPr marL="36000" marR="36000" marT="17907" marB="17907" anchor="ctr"/>
                </a:tc>
                <a:extLst>
                  <a:ext uri="{0D108BD9-81ED-4DB2-BD59-A6C34878D82A}">
                    <a16:rowId xmlns:a16="http://schemas.microsoft.com/office/drawing/2014/main" val="10005"/>
                  </a:ext>
                </a:extLst>
              </a:tr>
              <a:tr h="557609">
                <a:tc>
                  <a:txBody>
                    <a:bodyPr/>
                    <a:lstStyle/>
                    <a:p>
                      <a:pPr marL="0" marR="0" indent="0" algn="ctr" fontAlgn="base" latinLnBrk="0">
                        <a:lnSpc>
                          <a:spcPct val="100000"/>
                        </a:lnSpc>
                        <a:spcBef>
                          <a:spcPts val="0"/>
                        </a:spcBef>
                        <a:spcAft>
                          <a:spcPts val="0"/>
                        </a:spcAft>
                      </a:pPr>
                      <a:r>
                        <a:rPr lang="ko-KR" altLang="en-US" sz="1100" kern="1200" dirty="0"/>
                        <a:t>조건부과</a:t>
                      </a:r>
                      <a:endParaRPr lang="en-US" altLang="ko-KR" sz="1100" kern="1200" dirty="0"/>
                    </a:p>
                    <a:p>
                      <a:pPr marL="0" marR="0" indent="0" algn="ctr" fontAlgn="base" latinLnBrk="0">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제</a:t>
                      </a:r>
                      <a:r>
                        <a:rPr lang="en-US" altLang="ko-KR" sz="1100" kern="1200" dirty="0">
                          <a:solidFill>
                            <a:schemeClr val="tx1"/>
                          </a:solidFill>
                          <a:latin typeface="+mn-ea"/>
                          <a:ea typeface="+mn-ea"/>
                          <a:cs typeface="+mn-cs"/>
                        </a:rPr>
                        <a:t>107</a:t>
                      </a:r>
                      <a:r>
                        <a:rPr lang="ko-KR" altLang="en-US" sz="1100" kern="1200" dirty="0">
                          <a:solidFill>
                            <a:schemeClr val="tx1"/>
                          </a:solidFill>
                          <a:latin typeface="+mn-ea"/>
                          <a:ea typeface="+mn-ea"/>
                          <a:cs typeface="+mn-cs"/>
                        </a:rPr>
                        <a:t>조제</a:t>
                      </a:r>
                      <a:r>
                        <a:rPr lang="en-US" altLang="ko-KR" sz="1100" kern="1200" dirty="0">
                          <a:solidFill>
                            <a:schemeClr val="tx1"/>
                          </a:solidFill>
                          <a:latin typeface="+mn-ea"/>
                          <a:ea typeface="+mn-ea"/>
                          <a:cs typeface="+mn-cs"/>
                        </a:rPr>
                        <a:t>4</a:t>
                      </a:r>
                      <a:r>
                        <a:rPr lang="ko-KR" altLang="en-US" sz="1100" kern="1200" dirty="0">
                          <a:solidFill>
                            <a:schemeClr val="tx1"/>
                          </a:solidFill>
                          <a:latin typeface="+mn-ea"/>
                          <a:ea typeface="+mn-ea"/>
                          <a:cs typeface="+mn-cs"/>
                        </a:rPr>
                        <a:t>항</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txBody>
                  <a:tcPr marL="36000" marR="36000" marT="17907" marB="17907" anchor="ctr"/>
                </a:tc>
                <a:tc gridSpan="5">
                  <a:txBody>
                    <a:bodyPr/>
                    <a:lstStyle/>
                    <a:p>
                      <a:pPr marL="17780" marR="17780" lvl="0" indent="0" algn="just" defTabSz="914400" rtl="0" eaLnBrk="1" fontAlgn="base" latinLnBrk="1" hangingPunct="1">
                        <a:lnSpc>
                          <a:spcPct val="100000"/>
                        </a:lnSpc>
                        <a:spcBef>
                          <a:spcPts val="0"/>
                        </a:spcBef>
                        <a:spcAft>
                          <a:spcPts val="0"/>
                        </a:spcAft>
                        <a:buClrTx/>
                        <a:buSzTx/>
                        <a:buFontTx/>
                        <a:buNone/>
                        <a:tabLst/>
                        <a:defRPr/>
                      </a:pPr>
                      <a:r>
                        <a:rPr lang="ko-KR" altLang="en-US" sz="1100" kern="1200" dirty="0"/>
                        <a:t>국내수요충족</a:t>
                      </a:r>
                      <a:endParaRPr lang="ko-KR" altLang="en-US" sz="1100" kern="1200" dirty="0">
                        <a:solidFill>
                          <a:schemeClr val="tx1"/>
                        </a:solidFill>
                        <a:latin typeface="+mn-ea"/>
                        <a:ea typeface="+mn-ea"/>
                        <a:cs typeface="+mn-cs"/>
                      </a:endParaRPr>
                    </a:p>
                    <a:p>
                      <a:pPr marL="17780" marR="17780" indent="0" algn="just" fontAlgn="base" latinLnBrk="1">
                        <a:lnSpc>
                          <a:spcPct val="100000"/>
                        </a:lnSpc>
                        <a:spcBef>
                          <a:spcPts val="0"/>
                        </a:spcBef>
                        <a:spcAft>
                          <a:spcPts val="0"/>
                        </a:spcAft>
                      </a:pPr>
                      <a:endParaRPr lang="ko-KR" altLang="en-US" sz="1100" kern="1200" dirty="0">
                        <a:solidFill>
                          <a:schemeClr val="tx1"/>
                        </a:solidFill>
                        <a:latin typeface="+mn-ea"/>
                        <a:ea typeface="+mn-ea"/>
                        <a:cs typeface="+mn-cs"/>
                      </a:endParaRPr>
                    </a:p>
                  </a:txBody>
                  <a:tcPr marL="36000" marR="36000" marT="17907" marB="17907" anchor="ct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a:txBody>
                    <a:bodyPr/>
                    <a:lstStyle/>
                    <a:p>
                      <a:pPr marL="17780" marR="17780" indent="0" algn="ctr" fontAlgn="base" latinLnBrk="0">
                        <a:lnSpc>
                          <a:spcPct val="100000"/>
                        </a:lnSpc>
                        <a:spcBef>
                          <a:spcPts val="0"/>
                        </a:spcBef>
                        <a:spcAft>
                          <a:spcPts val="0"/>
                        </a:spcAft>
                      </a:pPr>
                      <a:r>
                        <a:rPr lang="en-US" altLang="ko-KR" sz="1100" kern="1200" dirty="0"/>
                        <a:t>-</a:t>
                      </a:r>
                      <a:endParaRPr lang="en-US" sz="1100" kern="1200" dirty="0">
                        <a:solidFill>
                          <a:schemeClr val="tx1"/>
                        </a:solidFill>
                        <a:latin typeface="+mn-ea"/>
                        <a:ea typeface="+mn-ea"/>
                        <a:cs typeface="+mn-cs"/>
                      </a:endParaRPr>
                    </a:p>
                  </a:txBody>
                  <a:tcPr marL="36000" marR="36000" marT="17907" marB="17907" anchor="ctr"/>
                </a:tc>
                <a:tc>
                  <a:txBody>
                    <a:bodyPr/>
                    <a:lstStyle/>
                    <a:p>
                      <a:pPr marL="17780" marR="17780" lvl="0" indent="0" algn="just" defTabSz="914400" rtl="0" eaLnBrk="1" fontAlgn="base" latinLnBrk="1" hangingPunct="1">
                        <a:lnSpc>
                          <a:spcPct val="100000"/>
                        </a:lnSpc>
                        <a:spcBef>
                          <a:spcPts val="0"/>
                        </a:spcBef>
                        <a:spcAft>
                          <a:spcPts val="0"/>
                        </a:spcAft>
                        <a:buClrTx/>
                        <a:buSzTx/>
                        <a:buFontTx/>
                        <a:buNone/>
                        <a:tabLst/>
                        <a:defRPr/>
                      </a:pPr>
                      <a:r>
                        <a:rPr lang="ko-KR" altLang="en-US" sz="1100" kern="1200" dirty="0"/>
                        <a:t>생산된 의약품 전량을 수입국에 수출</a:t>
                      </a:r>
                      <a:endParaRPr lang="ko-KR" altLang="en-US" sz="1100" kern="1200" dirty="0">
                        <a:solidFill>
                          <a:schemeClr val="tx1"/>
                        </a:solidFill>
                        <a:latin typeface="+mn-ea"/>
                        <a:ea typeface="+mn-ea"/>
                        <a:cs typeface="+mn-cs"/>
                      </a:endParaRPr>
                    </a:p>
                  </a:txBody>
                  <a:tcPr marL="36000" marR="36000" marT="17907" marB="17907" anchor="ctr"/>
                </a:tc>
                <a:extLst>
                  <a:ext uri="{0D108BD9-81ED-4DB2-BD59-A6C34878D82A}">
                    <a16:rowId xmlns:a16="http://schemas.microsoft.com/office/drawing/2014/main" val="4170451065"/>
                  </a:ext>
                </a:extLst>
              </a:tr>
              <a:tr h="809506">
                <a:tc>
                  <a:txBody>
                    <a:bodyPr/>
                    <a:lstStyle/>
                    <a:p>
                      <a:pPr marL="0" marR="0" indent="0" algn="ctr" fontAlgn="base" latinLnBrk="0">
                        <a:lnSpc>
                          <a:spcPct val="100000"/>
                        </a:lnSpc>
                        <a:spcBef>
                          <a:spcPts val="0"/>
                        </a:spcBef>
                        <a:spcAft>
                          <a:spcPts val="0"/>
                        </a:spcAft>
                      </a:pPr>
                      <a:r>
                        <a:rPr lang="ko-KR" altLang="en-US" sz="1100" kern="1200" dirty="0"/>
                        <a:t>대가참작</a:t>
                      </a:r>
                      <a:endParaRPr lang="en-US" altLang="ko-KR" sz="1100" kern="1200" dirty="0"/>
                    </a:p>
                    <a:p>
                      <a:pPr marL="0" marR="0" indent="0" algn="ctr" fontAlgn="base" latinLnBrk="0">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제</a:t>
                      </a:r>
                      <a:r>
                        <a:rPr lang="en-US" altLang="ko-KR" sz="1100" kern="1200" dirty="0">
                          <a:solidFill>
                            <a:schemeClr val="tx1"/>
                          </a:solidFill>
                          <a:latin typeface="+mn-ea"/>
                          <a:ea typeface="+mn-ea"/>
                          <a:cs typeface="+mn-cs"/>
                        </a:rPr>
                        <a:t>107</a:t>
                      </a:r>
                      <a:r>
                        <a:rPr lang="ko-KR" altLang="en-US" sz="1100" kern="1200" dirty="0">
                          <a:solidFill>
                            <a:schemeClr val="tx1"/>
                          </a:solidFill>
                          <a:latin typeface="+mn-ea"/>
                          <a:ea typeface="+mn-ea"/>
                          <a:cs typeface="+mn-cs"/>
                        </a:rPr>
                        <a:t>조제</a:t>
                      </a:r>
                      <a:r>
                        <a:rPr lang="en-US" altLang="ko-KR" sz="1100" kern="1200" dirty="0">
                          <a:solidFill>
                            <a:schemeClr val="tx1"/>
                          </a:solidFill>
                          <a:latin typeface="+mn-ea"/>
                          <a:ea typeface="+mn-ea"/>
                          <a:cs typeface="+mn-cs"/>
                        </a:rPr>
                        <a:t>5</a:t>
                      </a:r>
                      <a:r>
                        <a:rPr lang="ko-KR" altLang="en-US" sz="1100" kern="1200" dirty="0">
                          <a:solidFill>
                            <a:schemeClr val="tx1"/>
                          </a:solidFill>
                          <a:latin typeface="+mn-ea"/>
                          <a:ea typeface="+mn-ea"/>
                          <a:cs typeface="+mn-cs"/>
                        </a:rPr>
                        <a:t>항</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txBody>
                  <a:tcPr marL="36000" marR="36000" marT="17907" marB="17907" anchor="ctr"/>
                </a:tc>
                <a:tc gridSpan="5">
                  <a:txBody>
                    <a:bodyPr/>
                    <a:lstStyle/>
                    <a:p>
                      <a:pPr marL="17780" marR="17780" indent="0" algn="ctr" fontAlgn="base" latinLnBrk="0">
                        <a:lnSpc>
                          <a:spcPct val="100000"/>
                        </a:lnSpc>
                        <a:spcBef>
                          <a:spcPts val="0"/>
                        </a:spcBef>
                        <a:spcAft>
                          <a:spcPts val="0"/>
                        </a:spcAft>
                      </a:pPr>
                      <a:r>
                        <a:rPr lang="en-US" sz="1100" kern="1200" dirty="0"/>
                        <a:t>-</a:t>
                      </a:r>
                      <a:endParaRPr lang="en-US" sz="1100" kern="1200" dirty="0">
                        <a:solidFill>
                          <a:schemeClr val="tx1"/>
                        </a:solidFill>
                        <a:latin typeface="+mn-ea"/>
                        <a:ea typeface="+mn-ea"/>
                        <a:cs typeface="+mn-cs"/>
                      </a:endParaRPr>
                    </a:p>
                  </a:txBody>
                  <a:tcPr marL="36000" marR="36000" marT="17907" marB="17907" anchor="ct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100" kern="1200" dirty="0"/>
                        <a:t>불공정거래행위를 바로잡기 위한 취지</a:t>
                      </a:r>
                      <a:endParaRPr lang="ko-KR" altLang="en-US" sz="1100" kern="1200" dirty="0">
                        <a:solidFill>
                          <a:schemeClr val="tx1"/>
                        </a:solidFill>
                        <a:latin typeface="+mn-ea"/>
                        <a:ea typeface="+mn-ea"/>
                        <a:cs typeface="+mn-cs"/>
                      </a:endParaRPr>
                    </a:p>
                  </a:txBody>
                  <a:tcPr marL="36000" marR="36000" marT="17907" marB="17907" anchor="ctr"/>
                </a:tc>
                <a:tc>
                  <a:txBody>
                    <a:bodyPr/>
                    <a:lstStyle/>
                    <a:p>
                      <a:pPr marL="17780" marR="17780" indent="0" algn="just" fontAlgn="base" latinLnBrk="1">
                        <a:lnSpc>
                          <a:spcPct val="100000"/>
                        </a:lnSpc>
                        <a:spcBef>
                          <a:spcPts val="0"/>
                        </a:spcBef>
                        <a:spcAft>
                          <a:spcPts val="0"/>
                        </a:spcAft>
                      </a:pPr>
                      <a:r>
                        <a:rPr lang="ko-KR" altLang="en-US" sz="1100" kern="1200" dirty="0"/>
                        <a:t>그 특허발명을 실시함으로써 발생하는 수입국에서의 경제적 가치</a:t>
                      </a:r>
                      <a:endParaRPr lang="ko-KR" altLang="en-US" sz="1100" kern="1200" dirty="0">
                        <a:solidFill>
                          <a:schemeClr val="tx1"/>
                        </a:solidFill>
                        <a:latin typeface="+mn-ea"/>
                        <a:ea typeface="+mn-ea"/>
                        <a:cs typeface="+mn-cs"/>
                      </a:endParaRPr>
                    </a:p>
                  </a:txBody>
                  <a:tcPr marL="36000" marR="36000" marT="17907" marB="17907" anchor="ctr"/>
                </a:tc>
                <a:extLst>
                  <a:ext uri="{0D108BD9-81ED-4DB2-BD59-A6C34878D82A}">
                    <a16:rowId xmlns:a16="http://schemas.microsoft.com/office/drawing/2014/main" val="10006"/>
                  </a:ext>
                </a:extLst>
              </a:tr>
              <a:tr h="557609">
                <a:tc>
                  <a:txBody>
                    <a:bodyPr/>
                    <a:lstStyle/>
                    <a:p>
                      <a:pPr marL="0" marR="0" indent="0" algn="ctr" fontAlgn="base" latinLnBrk="0">
                        <a:lnSpc>
                          <a:spcPct val="100000"/>
                        </a:lnSpc>
                        <a:spcBef>
                          <a:spcPts val="0"/>
                        </a:spcBef>
                        <a:spcAft>
                          <a:spcPts val="0"/>
                        </a:spcAft>
                      </a:pPr>
                      <a:r>
                        <a:rPr lang="ko-KR" altLang="en-US" sz="1100" kern="1200" dirty="0"/>
                        <a:t>반도체기술</a:t>
                      </a:r>
                      <a:endParaRPr lang="en-US" altLang="ko-KR" sz="1100" kern="1200" dirty="0"/>
                    </a:p>
                    <a:p>
                      <a:pPr marL="0" marR="0" indent="0" algn="ctr" fontAlgn="base" latinLnBrk="0">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제</a:t>
                      </a:r>
                      <a:r>
                        <a:rPr lang="en-US" altLang="ko-KR" sz="1100" kern="1200" dirty="0">
                          <a:solidFill>
                            <a:schemeClr val="tx1"/>
                          </a:solidFill>
                          <a:latin typeface="+mn-ea"/>
                          <a:ea typeface="+mn-ea"/>
                          <a:cs typeface="+mn-cs"/>
                        </a:rPr>
                        <a:t>107</a:t>
                      </a:r>
                      <a:r>
                        <a:rPr lang="ko-KR" altLang="en-US" sz="1100" kern="1200" dirty="0">
                          <a:solidFill>
                            <a:schemeClr val="tx1"/>
                          </a:solidFill>
                          <a:latin typeface="+mn-ea"/>
                          <a:ea typeface="+mn-ea"/>
                          <a:cs typeface="+mn-cs"/>
                        </a:rPr>
                        <a:t>조제</a:t>
                      </a:r>
                      <a:r>
                        <a:rPr lang="en-US" altLang="ko-KR" sz="1100" kern="1200" dirty="0">
                          <a:solidFill>
                            <a:schemeClr val="tx1"/>
                          </a:solidFill>
                          <a:latin typeface="+mn-ea"/>
                          <a:ea typeface="+mn-ea"/>
                          <a:cs typeface="+mn-cs"/>
                        </a:rPr>
                        <a:t>6</a:t>
                      </a:r>
                      <a:r>
                        <a:rPr lang="ko-KR" altLang="en-US" sz="1100" kern="1200" dirty="0">
                          <a:solidFill>
                            <a:schemeClr val="tx1"/>
                          </a:solidFill>
                          <a:latin typeface="+mn-ea"/>
                          <a:ea typeface="+mn-ea"/>
                          <a:cs typeface="+mn-cs"/>
                        </a:rPr>
                        <a:t>항</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en-US" sz="1100" kern="1200" dirty="0"/>
                        <a:t>×</a:t>
                      </a:r>
                      <a:endParaRPr lang="en-US" sz="1100" kern="1200" dirty="0">
                        <a:solidFill>
                          <a:schemeClr val="tx1"/>
                        </a:solidFill>
                        <a:latin typeface="+mn-ea"/>
                        <a:ea typeface="+mn-ea"/>
                        <a:cs typeface="+mn-cs"/>
                      </a:endParaRPr>
                    </a:p>
                  </a:txBody>
                  <a:tcPr marL="36000" marR="36000" marT="17907" marB="17907" anchor="ctr"/>
                </a:tc>
                <a:tc gridSpan="2">
                  <a:txBody>
                    <a:bodyPr/>
                    <a:lstStyle/>
                    <a:p>
                      <a:pPr marL="17780" marR="17780" indent="0" algn="ctr" fontAlgn="base" latinLnBrk="0">
                        <a:lnSpc>
                          <a:spcPct val="100000"/>
                        </a:lnSpc>
                        <a:spcBef>
                          <a:spcPts val="0"/>
                        </a:spcBef>
                        <a:spcAft>
                          <a:spcPts val="0"/>
                        </a:spcAft>
                      </a:pPr>
                      <a:r>
                        <a:rPr lang="en-US" sz="1100" kern="1200" dirty="0"/>
                        <a:t>×</a:t>
                      </a:r>
                      <a:endParaRPr lang="en-US" sz="1100" kern="1200" dirty="0">
                        <a:solidFill>
                          <a:schemeClr val="tx1"/>
                        </a:solidFill>
                        <a:latin typeface="+mn-ea"/>
                        <a:ea typeface="+mn-ea"/>
                        <a:cs typeface="+mn-cs"/>
                      </a:endParaRPr>
                    </a:p>
                  </a:txBody>
                  <a:tcPr marL="36000" marR="36000" marT="17907" marB="17907" anchor="ctr"/>
                </a:tc>
                <a:tc hMerge="1">
                  <a:txBody>
                    <a:bodyPr/>
                    <a:lstStyle/>
                    <a:p>
                      <a:pPr marL="17780" marR="17780" indent="0" algn="ctr" fontAlgn="base" latinLnBrk="0">
                        <a:lnSpc>
                          <a:spcPct val="100000"/>
                        </a:lnSpc>
                        <a:spcBef>
                          <a:spcPts val="0"/>
                        </a:spcBef>
                        <a:spcAft>
                          <a:spcPts val="0"/>
                        </a:spcAft>
                      </a:pPr>
                      <a:endParaRPr lang="en-US" sz="1100" kern="1200" dirty="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en-US" sz="1100" kern="1200" dirty="0"/>
                        <a:t>×</a:t>
                      </a:r>
                      <a:endParaRPr lang="en-US" sz="1100" kern="1200" dirty="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ko-KR" altLang="en-US" sz="1100" kern="1200" dirty="0"/>
                        <a:t>○</a:t>
                      </a:r>
                      <a:endParaRPr lang="ko-KR" altLang="en-US" sz="1100" kern="1200" dirty="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ko-KR" altLang="en-US" sz="1100" kern="1200" dirty="0"/>
                        <a:t>○</a:t>
                      </a:r>
                      <a:endParaRPr lang="ko-KR" altLang="en-US" sz="1100" kern="1200" dirty="0">
                        <a:solidFill>
                          <a:schemeClr val="tx1"/>
                        </a:solidFill>
                        <a:latin typeface="+mn-ea"/>
                        <a:ea typeface="+mn-ea"/>
                        <a:cs typeface="+mn-cs"/>
                      </a:endParaRPr>
                    </a:p>
                  </a:txBody>
                  <a:tcPr marL="36000" marR="36000" marT="17907" marB="17907" anchor="ctr"/>
                </a:tc>
                <a:tc>
                  <a:txBody>
                    <a:bodyPr/>
                    <a:lstStyle/>
                    <a:p>
                      <a:pPr marL="17780" marR="17780" indent="0" algn="ctr" fontAlgn="base" latinLnBrk="0">
                        <a:lnSpc>
                          <a:spcPct val="100000"/>
                        </a:lnSpc>
                        <a:spcBef>
                          <a:spcPts val="0"/>
                        </a:spcBef>
                        <a:spcAft>
                          <a:spcPts val="0"/>
                        </a:spcAft>
                      </a:pPr>
                      <a:r>
                        <a:rPr lang="en-US" sz="1100" kern="1200" dirty="0"/>
                        <a:t>×</a:t>
                      </a:r>
                      <a:endParaRPr lang="en-US" sz="1100" kern="1200" dirty="0">
                        <a:solidFill>
                          <a:schemeClr val="tx1"/>
                        </a:solidFill>
                        <a:latin typeface="+mn-ea"/>
                        <a:ea typeface="+mn-ea"/>
                        <a:cs typeface="+mn-cs"/>
                      </a:endParaRPr>
                    </a:p>
                  </a:txBody>
                  <a:tcPr marL="36000" marR="36000" marT="17907" marB="17907" anchor="ctr"/>
                </a:tc>
                <a:extLst>
                  <a:ext uri="{0D108BD9-81ED-4DB2-BD59-A6C34878D82A}">
                    <a16:rowId xmlns:a16="http://schemas.microsoft.com/office/drawing/2014/main" val="840672937"/>
                  </a:ext>
                </a:extLst>
              </a:tr>
              <a:tr h="557609">
                <a:tc>
                  <a:txBody>
                    <a:bodyPr/>
                    <a:lstStyle/>
                    <a:p>
                      <a:pPr marL="0" marR="0" indent="0" algn="ctr" fontAlgn="base" latinLnBrk="0">
                        <a:lnSpc>
                          <a:spcPct val="100000"/>
                        </a:lnSpc>
                        <a:spcBef>
                          <a:spcPts val="0"/>
                        </a:spcBef>
                        <a:spcAft>
                          <a:spcPts val="0"/>
                        </a:spcAft>
                      </a:pPr>
                      <a:r>
                        <a:rPr lang="ko-KR" altLang="en-US" sz="1100" kern="1200" dirty="0">
                          <a:solidFill>
                            <a:schemeClr val="tx1"/>
                          </a:solidFill>
                          <a:latin typeface="+mn-ea"/>
                          <a:ea typeface="+mn-ea"/>
                          <a:cs typeface="+mn-cs"/>
                        </a:rPr>
                        <a:t>수입국요건</a:t>
                      </a:r>
                      <a:endParaRPr lang="en-US" altLang="ko-KR" sz="1100" kern="1200" dirty="0">
                        <a:solidFill>
                          <a:schemeClr val="tx1"/>
                        </a:solidFill>
                        <a:latin typeface="+mn-ea"/>
                        <a:ea typeface="+mn-ea"/>
                        <a:cs typeface="+mn-cs"/>
                      </a:endParaRPr>
                    </a:p>
                    <a:p>
                      <a:pPr marL="0" marR="0" indent="0" algn="ctr" fontAlgn="base" latinLnBrk="0">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제</a:t>
                      </a:r>
                      <a:r>
                        <a:rPr lang="en-US" altLang="ko-KR" sz="1100" kern="1200" dirty="0">
                          <a:solidFill>
                            <a:schemeClr val="tx1"/>
                          </a:solidFill>
                          <a:latin typeface="+mn-ea"/>
                          <a:ea typeface="+mn-ea"/>
                          <a:cs typeface="+mn-cs"/>
                        </a:rPr>
                        <a:t>107</a:t>
                      </a:r>
                      <a:r>
                        <a:rPr lang="ko-KR" altLang="en-US" sz="1100" kern="1200" dirty="0">
                          <a:solidFill>
                            <a:schemeClr val="tx1"/>
                          </a:solidFill>
                          <a:latin typeface="+mn-ea"/>
                          <a:ea typeface="+mn-ea"/>
                          <a:cs typeface="+mn-cs"/>
                        </a:rPr>
                        <a:t>조제</a:t>
                      </a:r>
                      <a:r>
                        <a:rPr lang="en-US" altLang="ko-KR" sz="1100" kern="1200" dirty="0">
                          <a:solidFill>
                            <a:schemeClr val="tx1"/>
                          </a:solidFill>
                          <a:latin typeface="+mn-ea"/>
                          <a:ea typeface="+mn-ea"/>
                          <a:cs typeface="+mn-cs"/>
                        </a:rPr>
                        <a:t>7</a:t>
                      </a:r>
                      <a:r>
                        <a:rPr lang="ko-KR" altLang="en-US" sz="1100" kern="1200" dirty="0">
                          <a:solidFill>
                            <a:schemeClr val="tx1"/>
                          </a:solidFill>
                          <a:latin typeface="+mn-ea"/>
                          <a:ea typeface="+mn-ea"/>
                          <a:cs typeface="+mn-cs"/>
                        </a:rPr>
                        <a:t>항</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txBody>
                  <a:tcPr marL="36000" marR="36000" marT="17907" marB="17907" anchor="ctr"/>
                </a:tc>
                <a:tc>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en-US" altLang="ko-KR" sz="1100" kern="1200" dirty="0"/>
                        <a:t>×</a:t>
                      </a:r>
                      <a:endParaRPr lang="en-US" altLang="ko-KR" sz="1100" kern="1200" dirty="0">
                        <a:solidFill>
                          <a:schemeClr val="tx1"/>
                        </a:solidFill>
                        <a:latin typeface="+mn-ea"/>
                        <a:ea typeface="+mn-ea"/>
                        <a:cs typeface="+mn-cs"/>
                      </a:endParaRPr>
                    </a:p>
                  </a:txBody>
                  <a:tcPr marL="36000" marR="36000" marT="17907" marB="17907" anchor="ctr"/>
                </a:tc>
                <a:tc gridSpan="2">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en-US" altLang="ko-KR" sz="1100" kern="1200" dirty="0"/>
                        <a:t>×</a:t>
                      </a:r>
                      <a:endParaRPr lang="en-US" altLang="ko-KR" sz="1100" kern="1200" dirty="0">
                        <a:solidFill>
                          <a:schemeClr val="tx1"/>
                        </a:solidFill>
                        <a:latin typeface="+mn-ea"/>
                        <a:ea typeface="+mn-ea"/>
                        <a:cs typeface="+mn-cs"/>
                      </a:endParaRPr>
                    </a:p>
                  </a:txBody>
                  <a:tcPr marL="36000" marR="36000" marT="17907" marB="17907" anchor="ctr"/>
                </a:tc>
                <a:tc hMerge="1">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endParaRPr lang="en-US" altLang="ko-KR" sz="1100" kern="1200" dirty="0">
                        <a:solidFill>
                          <a:schemeClr val="tx1"/>
                        </a:solidFill>
                        <a:latin typeface="+mn-ea"/>
                        <a:ea typeface="+mn-ea"/>
                        <a:cs typeface="+mn-cs"/>
                      </a:endParaRPr>
                    </a:p>
                  </a:txBody>
                  <a:tcPr marL="36000" marR="36000" marT="17907" marB="17907" anchor="ctr"/>
                </a:tc>
                <a:tc>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en-US" altLang="ko-KR" sz="1100" kern="1200" dirty="0"/>
                        <a:t>×</a:t>
                      </a:r>
                      <a:endParaRPr lang="en-US" altLang="ko-KR" sz="1100" kern="1200" dirty="0">
                        <a:solidFill>
                          <a:schemeClr val="tx1"/>
                        </a:solidFill>
                        <a:latin typeface="+mn-ea"/>
                        <a:ea typeface="+mn-ea"/>
                        <a:cs typeface="+mn-cs"/>
                      </a:endParaRPr>
                    </a:p>
                  </a:txBody>
                  <a:tcPr marL="36000" marR="36000" marT="17907" marB="17907" anchor="ctr"/>
                </a:tc>
                <a:tc>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en-US" altLang="ko-KR" sz="1100" kern="1200" dirty="0"/>
                        <a:t>×</a:t>
                      </a:r>
                      <a:endParaRPr lang="en-US" altLang="ko-KR" sz="1100" kern="1200" dirty="0">
                        <a:solidFill>
                          <a:schemeClr val="tx1"/>
                        </a:solidFill>
                        <a:latin typeface="+mn-ea"/>
                        <a:ea typeface="+mn-ea"/>
                        <a:cs typeface="+mn-cs"/>
                      </a:endParaRPr>
                    </a:p>
                  </a:txBody>
                  <a:tcPr marL="36000" marR="36000" marT="17907" marB="17907" anchor="ctr"/>
                </a:tc>
                <a:tc>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en-US" altLang="ko-KR" sz="1100" kern="1200" dirty="0"/>
                        <a:t>×</a:t>
                      </a:r>
                      <a:endParaRPr lang="en-US" altLang="ko-KR" sz="1100" kern="1200" dirty="0">
                        <a:solidFill>
                          <a:schemeClr val="tx1"/>
                        </a:solidFill>
                        <a:latin typeface="+mn-ea"/>
                        <a:ea typeface="+mn-ea"/>
                        <a:cs typeface="+mn-cs"/>
                      </a:endParaRPr>
                    </a:p>
                  </a:txBody>
                  <a:tcPr marL="36000" marR="36000" marT="17907" marB="17907" anchor="ctr"/>
                </a:tc>
                <a:tc>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ko-KR" altLang="en-US" sz="1100" kern="1200" dirty="0"/>
                        <a:t>○</a:t>
                      </a:r>
                      <a:endParaRPr lang="ko-KR" altLang="en-US" sz="1100" kern="1200" dirty="0">
                        <a:solidFill>
                          <a:schemeClr val="tx1"/>
                        </a:solidFill>
                        <a:latin typeface="+mn-ea"/>
                        <a:ea typeface="+mn-ea"/>
                        <a:cs typeface="+mn-cs"/>
                      </a:endParaRPr>
                    </a:p>
                  </a:txBody>
                  <a:tcPr marL="36000" marR="36000" marT="17907" marB="17907" anchor="ctr"/>
                </a:tc>
                <a:extLst>
                  <a:ext uri="{0D108BD9-81ED-4DB2-BD59-A6C34878D82A}">
                    <a16:rowId xmlns:a16="http://schemas.microsoft.com/office/drawing/2014/main" val="855940917"/>
                  </a:ext>
                </a:extLst>
              </a:tr>
              <a:tr h="557609">
                <a:tc>
                  <a:txBody>
                    <a:bodyPr/>
                    <a:lstStyle/>
                    <a:p>
                      <a:pPr marL="0" marR="0" indent="0" algn="ctr" fontAlgn="base" latinLnBrk="0">
                        <a:lnSpc>
                          <a:spcPct val="100000"/>
                        </a:lnSpc>
                        <a:spcBef>
                          <a:spcPts val="0"/>
                        </a:spcBef>
                        <a:spcAft>
                          <a:spcPts val="0"/>
                        </a:spcAft>
                      </a:pPr>
                      <a:r>
                        <a:rPr lang="ko-KR" altLang="en-US" sz="1100" kern="1200" dirty="0">
                          <a:solidFill>
                            <a:schemeClr val="tx1"/>
                          </a:solidFill>
                          <a:latin typeface="+mn-ea"/>
                          <a:ea typeface="+mn-ea"/>
                          <a:cs typeface="+mn-cs"/>
                        </a:rPr>
                        <a:t>의약품요건</a:t>
                      </a:r>
                      <a:endParaRPr lang="en-US" altLang="ko-KR" sz="1100" kern="1200" dirty="0">
                        <a:solidFill>
                          <a:schemeClr val="tx1"/>
                        </a:solidFill>
                        <a:latin typeface="+mn-ea"/>
                        <a:ea typeface="+mn-ea"/>
                        <a:cs typeface="+mn-cs"/>
                      </a:endParaRPr>
                    </a:p>
                    <a:p>
                      <a:pPr marL="0" marR="0" indent="0" algn="ctr" fontAlgn="base" latinLnBrk="0">
                        <a:lnSpc>
                          <a:spcPct val="100000"/>
                        </a:lnSpc>
                        <a:spcBef>
                          <a:spcPts val="0"/>
                        </a:spcBef>
                        <a:spcAft>
                          <a:spcPts val="0"/>
                        </a:spcAft>
                      </a:pPr>
                      <a:r>
                        <a:rPr lang="en-US" altLang="ko-KR" sz="1100" kern="1200" dirty="0">
                          <a:solidFill>
                            <a:schemeClr val="tx1"/>
                          </a:solidFill>
                          <a:latin typeface="+mn-ea"/>
                          <a:ea typeface="+mn-ea"/>
                          <a:cs typeface="+mn-cs"/>
                        </a:rPr>
                        <a:t>(</a:t>
                      </a:r>
                      <a:r>
                        <a:rPr lang="ko-KR" altLang="en-US" sz="1100" kern="1200" dirty="0">
                          <a:solidFill>
                            <a:schemeClr val="tx1"/>
                          </a:solidFill>
                          <a:latin typeface="+mn-ea"/>
                          <a:ea typeface="+mn-ea"/>
                          <a:cs typeface="+mn-cs"/>
                        </a:rPr>
                        <a:t>제</a:t>
                      </a:r>
                      <a:r>
                        <a:rPr lang="en-US" altLang="ko-KR" sz="1100" kern="1200" dirty="0">
                          <a:solidFill>
                            <a:schemeClr val="tx1"/>
                          </a:solidFill>
                          <a:latin typeface="+mn-ea"/>
                          <a:ea typeface="+mn-ea"/>
                          <a:cs typeface="+mn-cs"/>
                        </a:rPr>
                        <a:t>107</a:t>
                      </a:r>
                      <a:r>
                        <a:rPr lang="ko-KR" altLang="en-US" sz="1100" kern="1200" dirty="0">
                          <a:solidFill>
                            <a:schemeClr val="tx1"/>
                          </a:solidFill>
                          <a:latin typeface="+mn-ea"/>
                          <a:ea typeface="+mn-ea"/>
                          <a:cs typeface="+mn-cs"/>
                        </a:rPr>
                        <a:t>조제</a:t>
                      </a:r>
                      <a:r>
                        <a:rPr lang="en-US" altLang="ko-KR" sz="1100" kern="1200" dirty="0">
                          <a:solidFill>
                            <a:schemeClr val="tx1"/>
                          </a:solidFill>
                          <a:latin typeface="+mn-ea"/>
                          <a:ea typeface="+mn-ea"/>
                          <a:cs typeface="+mn-cs"/>
                        </a:rPr>
                        <a:t>8</a:t>
                      </a:r>
                      <a:r>
                        <a:rPr lang="ko-KR" altLang="en-US" sz="1100" kern="1200" dirty="0">
                          <a:solidFill>
                            <a:schemeClr val="tx1"/>
                          </a:solidFill>
                          <a:latin typeface="+mn-ea"/>
                          <a:ea typeface="+mn-ea"/>
                          <a:cs typeface="+mn-cs"/>
                        </a:rPr>
                        <a:t>항</a:t>
                      </a:r>
                      <a:r>
                        <a:rPr lang="en-US" altLang="ko-KR" sz="1100" kern="1200" dirty="0">
                          <a:solidFill>
                            <a:schemeClr val="tx1"/>
                          </a:solidFill>
                          <a:latin typeface="+mn-ea"/>
                          <a:ea typeface="+mn-ea"/>
                          <a:cs typeface="+mn-cs"/>
                        </a:rPr>
                        <a:t>)</a:t>
                      </a:r>
                      <a:endParaRPr lang="ko-KR" altLang="en-US" sz="1100" kern="1200" dirty="0">
                        <a:solidFill>
                          <a:schemeClr val="tx1"/>
                        </a:solidFill>
                        <a:latin typeface="+mn-ea"/>
                        <a:ea typeface="+mn-ea"/>
                        <a:cs typeface="+mn-cs"/>
                      </a:endParaRPr>
                    </a:p>
                  </a:txBody>
                  <a:tcPr marL="36000" marR="36000" marT="17907" marB="17907" anchor="ctr"/>
                </a:tc>
                <a:tc>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en-US" altLang="ko-KR" sz="1100" kern="1200" dirty="0"/>
                        <a:t>×</a:t>
                      </a:r>
                      <a:endParaRPr lang="en-US" altLang="ko-KR" sz="1100" kern="1200" dirty="0">
                        <a:solidFill>
                          <a:schemeClr val="tx1"/>
                        </a:solidFill>
                        <a:latin typeface="+mn-ea"/>
                        <a:ea typeface="+mn-ea"/>
                        <a:cs typeface="+mn-cs"/>
                      </a:endParaRPr>
                    </a:p>
                  </a:txBody>
                  <a:tcPr marL="36000" marR="36000" marT="17907" marB="17907" anchor="ctr"/>
                </a:tc>
                <a:tc gridSpan="2">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en-US" altLang="ko-KR" sz="1100" kern="1200" dirty="0"/>
                        <a:t>×</a:t>
                      </a:r>
                      <a:endParaRPr lang="en-US" altLang="ko-KR" sz="1100" kern="1200" dirty="0">
                        <a:solidFill>
                          <a:schemeClr val="tx1"/>
                        </a:solidFill>
                        <a:latin typeface="+mn-ea"/>
                        <a:ea typeface="+mn-ea"/>
                        <a:cs typeface="+mn-cs"/>
                      </a:endParaRPr>
                    </a:p>
                  </a:txBody>
                  <a:tcPr marL="36000" marR="36000" marT="17907" marB="17907" anchor="ctr"/>
                </a:tc>
                <a:tc hMerge="1">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endParaRPr lang="en-US" altLang="ko-KR" sz="1100" kern="1200" dirty="0">
                        <a:solidFill>
                          <a:schemeClr val="tx1"/>
                        </a:solidFill>
                        <a:latin typeface="+mn-ea"/>
                        <a:ea typeface="+mn-ea"/>
                        <a:cs typeface="+mn-cs"/>
                      </a:endParaRPr>
                    </a:p>
                  </a:txBody>
                  <a:tcPr marL="36000" marR="36000" marT="17907" marB="17907" anchor="ctr"/>
                </a:tc>
                <a:tc>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en-US" altLang="ko-KR" sz="1100" kern="1200" dirty="0"/>
                        <a:t>×</a:t>
                      </a:r>
                      <a:endParaRPr lang="en-US" altLang="ko-KR" sz="1100" kern="1200" dirty="0">
                        <a:solidFill>
                          <a:schemeClr val="tx1"/>
                        </a:solidFill>
                        <a:latin typeface="+mn-ea"/>
                        <a:ea typeface="+mn-ea"/>
                        <a:cs typeface="+mn-cs"/>
                      </a:endParaRPr>
                    </a:p>
                  </a:txBody>
                  <a:tcPr marL="36000" marR="36000" marT="17907" marB="17907" anchor="ctr"/>
                </a:tc>
                <a:tc>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en-US" altLang="ko-KR" sz="1100" kern="1200" dirty="0"/>
                        <a:t>×</a:t>
                      </a:r>
                      <a:endParaRPr lang="en-US" altLang="ko-KR" sz="1100" kern="1200" dirty="0">
                        <a:solidFill>
                          <a:schemeClr val="tx1"/>
                        </a:solidFill>
                        <a:latin typeface="+mn-ea"/>
                        <a:ea typeface="+mn-ea"/>
                        <a:cs typeface="+mn-cs"/>
                      </a:endParaRPr>
                    </a:p>
                  </a:txBody>
                  <a:tcPr marL="36000" marR="36000" marT="17907" marB="17907" anchor="ctr"/>
                </a:tc>
                <a:tc>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en-US" altLang="ko-KR" sz="1100" kern="1200" dirty="0"/>
                        <a:t>×</a:t>
                      </a:r>
                      <a:endParaRPr lang="en-US" altLang="ko-KR" sz="1100" kern="1200" dirty="0">
                        <a:solidFill>
                          <a:schemeClr val="tx1"/>
                        </a:solidFill>
                        <a:latin typeface="+mn-ea"/>
                        <a:ea typeface="+mn-ea"/>
                        <a:cs typeface="+mn-cs"/>
                      </a:endParaRPr>
                    </a:p>
                  </a:txBody>
                  <a:tcPr marL="36000" marR="36000" marT="17907" marB="17907" anchor="ctr"/>
                </a:tc>
                <a:tc>
                  <a:txBody>
                    <a:bodyPr/>
                    <a:lstStyle/>
                    <a:p>
                      <a:pPr marL="17780" marR="17780" lvl="0" indent="0" algn="ctr" defTabSz="914400" rtl="0" eaLnBrk="1" fontAlgn="base" latinLnBrk="0" hangingPunct="1">
                        <a:lnSpc>
                          <a:spcPct val="100000"/>
                        </a:lnSpc>
                        <a:spcBef>
                          <a:spcPts val="0"/>
                        </a:spcBef>
                        <a:spcAft>
                          <a:spcPts val="0"/>
                        </a:spcAft>
                        <a:buClrTx/>
                        <a:buSzTx/>
                        <a:buFontTx/>
                        <a:buNone/>
                        <a:tabLst/>
                        <a:defRPr/>
                      </a:pPr>
                      <a:r>
                        <a:rPr lang="ko-KR" altLang="en-US" sz="1100" kern="1200" dirty="0"/>
                        <a:t>○</a:t>
                      </a:r>
                      <a:endParaRPr lang="ko-KR" altLang="en-US" sz="1100" kern="1200" dirty="0">
                        <a:solidFill>
                          <a:schemeClr val="tx1"/>
                        </a:solidFill>
                        <a:latin typeface="+mn-ea"/>
                        <a:ea typeface="+mn-ea"/>
                        <a:cs typeface="+mn-cs"/>
                      </a:endParaRPr>
                    </a:p>
                  </a:txBody>
                  <a:tcPr marL="36000" marR="36000" marT="17907" marB="17907" anchor="ctr"/>
                </a:tc>
                <a:extLst>
                  <a:ext uri="{0D108BD9-81ED-4DB2-BD59-A6C34878D82A}">
                    <a16:rowId xmlns:a16="http://schemas.microsoft.com/office/drawing/2014/main" val="422579348"/>
                  </a:ext>
                </a:extLst>
              </a:tr>
            </a:tbl>
          </a:graphicData>
        </a:graphic>
      </p:graphicFrame>
      <p:sp>
        <p:nvSpPr>
          <p:cNvPr id="3" name="슬라이드 번호 개체 틀 2"/>
          <p:cNvSpPr>
            <a:spLocks noGrp="1"/>
          </p:cNvSpPr>
          <p:nvPr>
            <p:ph type="sldNum" sz="quarter" idx="12"/>
          </p:nvPr>
        </p:nvSpPr>
        <p:spPr/>
        <p:txBody>
          <a:bodyPr/>
          <a:lstStyle/>
          <a:p>
            <a:r>
              <a:rPr lang="en-US" altLang="ko-KR"/>
              <a:t>418</a:t>
            </a:r>
            <a:endParaRPr lang="ko-KR" altLang="en-US"/>
          </a:p>
        </p:txBody>
      </p:sp>
      <p:sp>
        <p:nvSpPr>
          <p:cNvPr id="6" name="직사각형 5">
            <a:extLst>
              <a:ext uri="{FF2B5EF4-FFF2-40B4-BE49-F238E27FC236}">
                <a16:creationId xmlns:a16="http://schemas.microsoft.com/office/drawing/2014/main" id="{65C88E31-AA46-4330-8CD3-2D0CAFB2CC4F}"/>
              </a:ext>
            </a:extLst>
          </p:cNvPr>
          <p:cNvSpPr/>
          <p:nvPr/>
        </p:nvSpPr>
        <p:spPr>
          <a:xfrm>
            <a:off x="1526386" y="1175373"/>
            <a:ext cx="1016000" cy="2863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t>제</a:t>
            </a:r>
            <a:r>
              <a:rPr lang="en-US" altLang="ko-KR" dirty="0"/>
              <a:t>107</a:t>
            </a:r>
            <a:r>
              <a:rPr lang="ko-KR" altLang="en-US" dirty="0"/>
              <a:t>조</a:t>
            </a:r>
          </a:p>
        </p:txBody>
      </p:sp>
      <p:sp>
        <p:nvSpPr>
          <p:cNvPr id="7" name="타원 6">
            <a:extLst>
              <a:ext uri="{FF2B5EF4-FFF2-40B4-BE49-F238E27FC236}">
                <a16:creationId xmlns:a16="http://schemas.microsoft.com/office/drawing/2014/main" id="{4DDCB452-9B47-4E51-97F6-6E179A30C6C6}"/>
              </a:ext>
            </a:extLst>
          </p:cNvPr>
          <p:cNvSpPr/>
          <p:nvPr/>
        </p:nvSpPr>
        <p:spPr>
          <a:xfrm>
            <a:off x="1840422" y="1704972"/>
            <a:ext cx="387928" cy="38792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8" name="타원 7">
            <a:extLst>
              <a:ext uri="{FF2B5EF4-FFF2-40B4-BE49-F238E27FC236}">
                <a16:creationId xmlns:a16="http://schemas.microsoft.com/office/drawing/2014/main" id="{9D41FCB9-FEF3-423F-9906-1F5D6DB667FD}"/>
              </a:ext>
            </a:extLst>
          </p:cNvPr>
          <p:cNvSpPr/>
          <p:nvPr/>
        </p:nvSpPr>
        <p:spPr>
          <a:xfrm>
            <a:off x="1840422" y="2584733"/>
            <a:ext cx="387928" cy="38792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9" name="타원 8">
            <a:extLst>
              <a:ext uri="{FF2B5EF4-FFF2-40B4-BE49-F238E27FC236}">
                <a16:creationId xmlns:a16="http://schemas.microsoft.com/office/drawing/2014/main" id="{1EEAD9C7-D2BC-453D-B5CC-569132EBC517}"/>
              </a:ext>
            </a:extLst>
          </p:cNvPr>
          <p:cNvSpPr/>
          <p:nvPr/>
        </p:nvSpPr>
        <p:spPr>
          <a:xfrm>
            <a:off x="1840422" y="3121258"/>
            <a:ext cx="387928" cy="38792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10" name="타원 9">
            <a:extLst>
              <a:ext uri="{FF2B5EF4-FFF2-40B4-BE49-F238E27FC236}">
                <a16:creationId xmlns:a16="http://schemas.microsoft.com/office/drawing/2014/main" id="{A530C15D-868E-47E0-B2AB-D6F62E4EE623}"/>
              </a:ext>
            </a:extLst>
          </p:cNvPr>
          <p:cNvSpPr/>
          <p:nvPr/>
        </p:nvSpPr>
        <p:spPr>
          <a:xfrm>
            <a:off x="1840422" y="3640803"/>
            <a:ext cx="387928" cy="38792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4</a:t>
            </a:r>
            <a:endParaRPr lang="ko-KR" altLang="en-US" dirty="0"/>
          </a:p>
        </p:txBody>
      </p:sp>
      <p:sp>
        <p:nvSpPr>
          <p:cNvPr id="11" name="타원 10">
            <a:extLst>
              <a:ext uri="{FF2B5EF4-FFF2-40B4-BE49-F238E27FC236}">
                <a16:creationId xmlns:a16="http://schemas.microsoft.com/office/drawing/2014/main" id="{5C8D0F21-F280-4483-9A8E-3C605F4914CB}"/>
              </a:ext>
            </a:extLst>
          </p:cNvPr>
          <p:cNvSpPr/>
          <p:nvPr/>
        </p:nvSpPr>
        <p:spPr>
          <a:xfrm>
            <a:off x="1840422" y="4160348"/>
            <a:ext cx="387928" cy="38792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5</a:t>
            </a:r>
            <a:endParaRPr lang="ko-KR" altLang="en-US" dirty="0"/>
          </a:p>
        </p:txBody>
      </p:sp>
      <p:sp>
        <p:nvSpPr>
          <p:cNvPr id="12" name="타원 11">
            <a:extLst>
              <a:ext uri="{FF2B5EF4-FFF2-40B4-BE49-F238E27FC236}">
                <a16:creationId xmlns:a16="http://schemas.microsoft.com/office/drawing/2014/main" id="{3F3FE96E-8557-4FE0-ACFB-9E606E07BCFC}"/>
              </a:ext>
            </a:extLst>
          </p:cNvPr>
          <p:cNvSpPr/>
          <p:nvPr/>
        </p:nvSpPr>
        <p:spPr>
          <a:xfrm>
            <a:off x="1840422" y="4679893"/>
            <a:ext cx="387928" cy="38792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6</a:t>
            </a:r>
            <a:endParaRPr lang="ko-KR" altLang="en-US" dirty="0"/>
          </a:p>
        </p:txBody>
      </p:sp>
      <p:sp>
        <p:nvSpPr>
          <p:cNvPr id="13" name="타원 12">
            <a:extLst>
              <a:ext uri="{FF2B5EF4-FFF2-40B4-BE49-F238E27FC236}">
                <a16:creationId xmlns:a16="http://schemas.microsoft.com/office/drawing/2014/main" id="{928007BD-646F-4136-8E7D-8A5D2D7D7110}"/>
              </a:ext>
            </a:extLst>
          </p:cNvPr>
          <p:cNvSpPr/>
          <p:nvPr/>
        </p:nvSpPr>
        <p:spPr>
          <a:xfrm>
            <a:off x="1840422" y="5216418"/>
            <a:ext cx="387928" cy="38792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7</a:t>
            </a:r>
            <a:endParaRPr lang="ko-KR" altLang="en-US" dirty="0"/>
          </a:p>
        </p:txBody>
      </p:sp>
      <p:sp>
        <p:nvSpPr>
          <p:cNvPr id="14" name="타원 13">
            <a:extLst>
              <a:ext uri="{FF2B5EF4-FFF2-40B4-BE49-F238E27FC236}">
                <a16:creationId xmlns:a16="http://schemas.microsoft.com/office/drawing/2014/main" id="{F3770343-1D2F-4959-9250-FECF16D86554}"/>
              </a:ext>
            </a:extLst>
          </p:cNvPr>
          <p:cNvSpPr/>
          <p:nvPr/>
        </p:nvSpPr>
        <p:spPr>
          <a:xfrm>
            <a:off x="1840422" y="5735963"/>
            <a:ext cx="387928" cy="38792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8</a:t>
            </a:r>
            <a:endParaRPr lang="ko-KR" altLang="en-US" dirty="0"/>
          </a:p>
        </p:txBody>
      </p:sp>
      <p:sp>
        <p:nvSpPr>
          <p:cNvPr id="15" name="TextBox 14">
            <a:extLst>
              <a:ext uri="{FF2B5EF4-FFF2-40B4-BE49-F238E27FC236}">
                <a16:creationId xmlns:a16="http://schemas.microsoft.com/office/drawing/2014/main" id="{06C3A4AA-AF16-41F4-991C-32F5A384144C}"/>
              </a:ext>
            </a:extLst>
          </p:cNvPr>
          <p:cNvSpPr txBox="1"/>
          <p:nvPr/>
        </p:nvSpPr>
        <p:spPr>
          <a:xfrm>
            <a:off x="340705" y="1714270"/>
            <a:ext cx="1429255" cy="369332"/>
          </a:xfrm>
          <a:prstGeom prst="rect">
            <a:avLst/>
          </a:prstGeom>
          <a:noFill/>
        </p:spPr>
        <p:txBody>
          <a:bodyPr wrap="square" rtlCol="0">
            <a:spAutoFit/>
          </a:bodyPr>
          <a:lstStyle/>
          <a:p>
            <a:pPr algn="r"/>
            <a:r>
              <a:rPr lang="en-US" altLang="ko-KR" dirty="0">
                <a:solidFill>
                  <a:schemeClr val="tx1">
                    <a:lumMod val="50000"/>
                    <a:lumOff val="50000"/>
                  </a:schemeClr>
                </a:solidFill>
              </a:rPr>
              <a:t>(</a:t>
            </a:r>
            <a:r>
              <a:rPr lang="ko-KR" altLang="en-US" dirty="0">
                <a:solidFill>
                  <a:schemeClr val="tx1">
                    <a:lumMod val="50000"/>
                    <a:lumOff val="50000"/>
                  </a:schemeClr>
                </a:solidFill>
              </a:rPr>
              <a:t>요건</a:t>
            </a:r>
            <a:r>
              <a:rPr lang="en-US" altLang="ko-KR" dirty="0">
                <a:solidFill>
                  <a:schemeClr val="tx1">
                    <a:lumMod val="50000"/>
                    <a:lumOff val="50000"/>
                  </a:schemeClr>
                </a:solidFill>
              </a:rPr>
              <a:t>: </a:t>
            </a:r>
            <a:r>
              <a:rPr lang="ko-KR" altLang="en-US" dirty="0">
                <a:solidFill>
                  <a:srgbClr val="FF0000"/>
                </a:solidFill>
              </a:rPr>
              <a:t>주</a:t>
            </a:r>
            <a:r>
              <a:rPr lang="en-US" altLang="ko-KR" dirty="0">
                <a:solidFill>
                  <a:schemeClr val="tx1">
                    <a:lumMod val="50000"/>
                    <a:lumOff val="50000"/>
                  </a:schemeClr>
                </a:solidFill>
              </a:rPr>
              <a:t>, </a:t>
            </a:r>
            <a:r>
              <a:rPr lang="ko-KR" altLang="en-US" dirty="0">
                <a:solidFill>
                  <a:srgbClr val="FF0000"/>
                </a:solidFill>
              </a:rPr>
              <a:t>객</a:t>
            </a:r>
            <a:r>
              <a:rPr lang="en-US" altLang="ko-KR" dirty="0">
                <a:solidFill>
                  <a:schemeClr val="tx1">
                    <a:lumMod val="50000"/>
                    <a:lumOff val="50000"/>
                  </a:schemeClr>
                </a:solidFill>
              </a:rPr>
              <a:t>)</a:t>
            </a:r>
            <a:endParaRPr lang="ko-KR" altLang="en-US" dirty="0">
              <a:solidFill>
                <a:schemeClr val="tx1">
                  <a:lumMod val="50000"/>
                  <a:lumOff val="50000"/>
                </a:schemeClr>
              </a:solidFill>
            </a:endParaRPr>
          </a:p>
        </p:txBody>
      </p:sp>
      <p:sp>
        <p:nvSpPr>
          <p:cNvPr id="16" name="TextBox 15">
            <a:extLst>
              <a:ext uri="{FF2B5EF4-FFF2-40B4-BE49-F238E27FC236}">
                <a16:creationId xmlns:a16="http://schemas.microsoft.com/office/drawing/2014/main" id="{5153C5F1-F1EE-42B8-8E40-754F9A92C8AE}"/>
              </a:ext>
            </a:extLst>
          </p:cNvPr>
          <p:cNvSpPr txBox="1"/>
          <p:nvPr/>
        </p:nvSpPr>
        <p:spPr>
          <a:xfrm>
            <a:off x="340705" y="2572327"/>
            <a:ext cx="1429255" cy="369332"/>
          </a:xfrm>
          <a:prstGeom prst="rect">
            <a:avLst/>
          </a:prstGeom>
          <a:noFill/>
        </p:spPr>
        <p:txBody>
          <a:bodyPr wrap="square" rtlCol="0">
            <a:spAutoFit/>
          </a:bodyPr>
          <a:lstStyle/>
          <a:p>
            <a:pPr algn="r"/>
            <a:r>
              <a:rPr lang="en-US" altLang="ko-KR" dirty="0">
                <a:solidFill>
                  <a:schemeClr val="tx1">
                    <a:lumMod val="50000"/>
                    <a:lumOff val="50000"/>
                  </a:schemeClr>
                </a:solidFill>
              </a:rPr>
              <a:t>(</a:t>
            </a:r>
            <a:r>
              <a:rPr lang="ko-KR" altLang="en-US" dirty="0">
                <a:solidFill>
                  <a:schemeClr val="tx1">
                    <a:lumMod val="50000"/>
                    <a:lumOff val="50000"/>
                  </a:schemeClr>
                </a:solidFill>
              </a:rPr>
              <a:t>요건</a:t>
            </a:r>
            <a:r>
              <a:rPr lang="en-US" altLang="ko-KR" dirty="0">
                <a:solidFill>
                  <a:schemeClr val="tx1">
                    <a:lumMod val="50000"/>
                    <a:lumOff val="50000"/>
                  </a:schemeClr>
                </a:solidFill>
              </a:rPr>
              <a:t>: </a:t>
            </a:r>
            <a:r>
              <a:rPr lang="ko-KR" altLang="en-US" dirty="0">
                <a:solidFill>
                  <a:srgbClr val="FF0000"/>
                </a:solidFill>
              </a:rPr>
              <a:t>시</a:t>
            </a:r>
            <a:r>
              <a:rPr lang="en-US" altLang="ko-KR" dirty="0">
                <a:solidFill>
                  <a:schemeClr val="tx1">
                    <a:lumMod val="50000"/>
                    <a:lumOff val="50000"/>
                  </a:schemeClr>
                </a:solidFill>
              </a:rPr>
              <a:t>)</a:t>
            </a:r>
            <a:endParaRPr lang="ko-KR" altLang="en-US" dirty="0">
              <a:solidFill>
                <a:schemeClr val="tx1">
                  <a:lumMod val="50000"/>
                  <a:lumOff val="50000"/>
                </a:schemeClr>
              </a:solidFill>
            </a:endParaRPr>
          </a:p>
        </p:txBody>
      </p:sp>
      <p:sp>
        <p:nvSpPr>
          <p:cNvPr id="17" name="TextBox 16">
            <a:extLst>
              <a:ext uri="{FF2B5EF4-FFF2-40B4-BE49-F238E27FC236}">
                <a16:creationId xmlns:a16="http://schemas.microsoft.com/office/drawing/2014/main" id="{C475D964-C491-4833-975C-48F3114564E5}"/>
              </a:ext>
            </a:extLst>
          </p:cNvPr>
          <p:cNvSpPr txBox="1"/>
          <p:nvPr/>
        </p:nvSpPr>
        <p:spPr>
          <a:xfrm>
            <a:off x="340705" y="3123692"/>
            <a:ext cx="1429255" cy="369332"/>
          </a:xfrm>
          <a:prstGeom prst="rect">
            <a:avLst/>
          </a:prstGeom>
          <a:noFill/>
        </p:spPr>
        <p:txBody>
          <a:bodyPr wrap="square" rtlCol="0">
            <a:spAutoFit/>
          </a:bodyPr>
          <a:lstStyle/>
          <a:p>
            <a:pPr algn="r"/>
            <a:r>
              <a:rPr lang="en-US" altLang="ko-KR" dirty="0">
                <a:solidFill>
                  <a:schemeClr val="tx1">
                    <a:lumMod val="50000"/>
                    <a:lumOff val="50000"/>
                  </a:schemeClr>
                </a:solidFill>
              </a:rPr>
              <a:t>(</a:t>
            </a:r>
            <a:r>
              <a:rPr lang="ko-KR" altLang="en-US" dirty="0" err="1">
                <a:solidFill>
                  <a:srgbClr val="FF0000"/>
                </a:solidFill>
              </a:rPr>
              <a:t>청</a:t>
            </a:r>
            <a:r>
              <a:rPr lang="ko-KR" altLang="en-US" dirty="0" err="1">
                <a:solidFill>
                  <a:schemeClr val="tx1">
                    <a:lumMod val="50000"/>
                    <a:lumOff val="50000"/>
                  </a:schemeClr>
                </a:solidFill>
              </a:rPr>
              <a:t>구별</a:t>
            </a:r>
            <a:r>
              <a:rPr lang="ko-KR" altLang="en-US" dirty="0">
                <a:solidFill>
                  <a:schemeClr val="tx1">
                    <a:lumMod val="50000"/>
                    <a:lumOff val="50000"/>
                  </a:schemeClr>
                </a:solidFill>
              </a:rPr>
              <a:t> 검토</a:t>
            </a:r>
            <a:r>
              <a:rPr lang="en-US" altLang="ko-KR" dirty="0">
                <a:solidFill>
                  <a:schemeClr val="tx1">
                    <a:lumMod val="50000"/>
                    <a:lumOff val="50000"/>
                  </a:schemeClr>
                </a:solidFill>
              </a:rPr>
              <a:t>)</a:t>
            </a:r>
            <a:endParaRPr lang="ko-KR" altLang="en-US" dirty="0">
              <a:solidFill>
                <a:schemeClr val="tx1">
                  <a:lumMod val="50000"/>
                  <a:lumOff val="50000"/>
                </a:schemeClr>
              </a:solidFill>
            </a:endParaRPr>
          </a:p>
        </p:txBody>
      </p:sp>
      <p:sp>
        <p:nvSpPr>
          <p:cNvPr id="18" name="TextBox 17">
            <a:extLst>
              <a:ext uri="{FF2B5EF4-FFF2-40B4-BE49-F238E27FC236}">
                <a16:creationId xmlns:a16="http://schemas.microsoft.com/office/drawing/2014/main" id="{A707DE34-1952-46BC-BD46-70C41CCE49FD}"/>
              </a:ext>
            </a:extLst>
          </p:cNvPr>
          <p:cNvSpPr txBox="1"/>
          <p:nvPr/>
        </p:nvSpPr>
        <p:spPr>
          <a:xfrm>
            <a:off x="340705" y="3661575"/>
            <a:ext cx="1429255" cy="369332"/>
          </a:xfrm>
          <a:prstGeom prst="rect">
            <a:avLst/>
          </a:prstGeom>
          <a:noFill/>
        </p:spPr>
        <p:txBody>
          <a:bodyPr wrap="square" rtlCol="0">
            <a:spAutoFit/>
          </a:bodyPr>
          <a:lstStyle/>
          <a:p>
            <a:pPr algn="r"/>
            <a:r>
              <a:rPr lang="en-US" altLang="ko-KR" dirty="0">
                <a:solidFill>
                  <a:schemeClr val="tx1">
                    <a:lumMod val="50000"/>
                    <a:lumOff val="50000"/>
                  </a:schemeClr>
                </a:solidFill>
              </a:rPr>
              <a:t>(</a:t>
            </a:r>
            <a:r>
              <a:rPr lang="ko-KR" altLang="en-US" dirty="0">
                <a:solidFill>
                  <a:srgbClr val="FF0000"/>
                </a:solidFill>
              </a:rPr>
              <a:t>조</a:t>
            </a:r>
            <a:r>
              <a:rPr lang="ko-KR" altLang="en-US" dirty="0">
                <a:solidFill>
                  <a:schemeClr val="tx1">
                    <a:lumMod val="50000"/>
                    <a:lumOff val="50000"/>
                  </a:schemeClr>
                </a:solidFill>
              </a:rPr>
              <a:t>건 부과</a:t>
            </a:r>
            <a:r>
              <a:rPr lang="en-US" altLang="ko-KR" dirty="0">
                <a:solidFill>
                  <a:schemeClr val="tx1">
                    <a:lumMod val="50000"/>
                    <a:lumOff val="50000"/>
                  </a:schemeClr>
                </a:solidFill>
              </a:rPr>
              <a:t>)</a:t>
            </a:r>
            <a:endParaRPr lang="ko-KR" altLang="en-US" dirty="0">
              <a:solidFill>
                <a:schemeClr val="tx1">
                  <a:lumMod val="50000"/>
                  <a:lumOff val="50000"/>
                </a:schemeClr>
              </a:solidFill>
            </a:endParaRPr>
          </a:p>
        </p:txBody>
      </p:sp>
      <p:sp>
        <p:nvSpPr>
          <p:cNvPr id="19" name="TextBox 18">
            <a:extLst>
              <a:ext uri="{FF2B5EF4-FFF2-40B4-BE49-F238E27FC236}">
                <a16:creationId xmlns:a16="http://schemas.microsoft.com/office/drawing/2014/main" id="{36759430-49F6-41B9-AE5E-FA5F5C537CC7}"/>
              </a:ext>
            </a:extLst>
          </p:cNvPr>
          <p:cNvSpPr txBox="1"/>
          <p:nvPr/>
        </p:nvSpPr>
        <p:spPr>
          <a:xfrm>
            <a:off x="340705" y="4169646"/>
            <a:ext cx="1429255" cy="369332"/>
          </a:xfrm>
          <a:prstGeom prst="rect">
            <a:avLst/>
          </a:prstGeom>
          <a:noFill/>
        </p:spPr>
        <p:txBody>
          <a:bodyPr wrap="square" rtlCol="0">
            <a:spAutoFit/>
          </a:bodyPr>
          <a:lstStyle/>
          <a:p>
            <a:pPr algn="r"/>
            <a:r>
              <a:rPr lang="en-US" altLang="ko-KR" dirty="0">
                <a:solidFill>
                  <a:schemeClr val="tx1">
                    <a:lumMod val="50000"/>
                    <a:lumOff val="50000"/>
                  </a:schemeClr>
                </a:solidFill>
              </a:rPr>
              <a:t>(</a:t>
            </a:r>
            <a:r>
              <a:rPr lang="ko-KR" altLang="en-US" dirty="0">
                <a:solidFill>
                  <a:srgbClr val="FF0000"/>
                </a:solidFill>
              </a:rPr>
              <a:t>대</a:t>
            </a:r>
            <a:r>
              <a:rPr lang="ko-KR" altLang="en-US" dirty="0">
                <a:solidFill>
                  <a:schemeClr val="tx1">
                    <a:lumMod val="50000"/>
                    <a:lumOff val="50000"/>
                  </a:schemeClr>
                </a:solidFill>
              </a:rPr>
              <a:t>가</a:t>
            </a:r>
            <a:r>
              <a:rPr lang="en-US" altLang="ko-KR" dirty="0">
                <a:solidFill>
                  <a:schemeClr val="tx1">
                    <a:lumMod val="50000"/>
                    <a:lumOff val="50000"/>
                  </a:schemeClr>
                </a:solidFill>
              </a:rPr>
              <a:t>)</a:t>
            </a:r>
            <a:endParaRPr lang="ko-KR" altLang="en-US" dirty="0">
              <a:solidFill>
                <a:schemeClr val="tx1">
                  <a:lumMod val="50000"/>
                  <a:lumOff val="50000"/>
                </a:schemeClr>
              </a:solidFill>
            </a:endParaRPr>
          </a:p>
        </p:txBody>
      </p:sp>
      <p:sp>
        <p:nvSpPr>
          <p:cNvPr id="20" name="타원 19">
            <a:extLst>
              <a:ext uri="{FF2B5EF4-FFF2-40B4-BE49-F238E27FC236}">
                <a16:creationId xmlns:a16="http://schemas.microsoft.com/office/drawing/2014/main" id="{8CF0D79A-FD21-47F5-9200-920864F90DD4}"/>
              </a:ext>
            </a:extLst>
          </p:cNvPr>
          <p:cNvSpPr/>
          <p:nvPr/>
        </p:nvSpPr>
        <p:spPr>
          <a:xfrm>
            <a:off x="1840422" y="6240025"/>
            <a:ext cx="387928" cy="38792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9</a:t>
            </a:r>
            <a:endParaRPr lang="ko-KR" altLang="en-US" dirty="0"/>
          </a:p>
        </p:txBody>
      </p:sp>
      <p:sp>
        <p:nvSpPr>
          <p:cNvPr id="22" name="TextBox 21">
            <a:extLst>
              <a:ext uri="{FF2B5EF4-FFF2-40B4-BE49-F238E27FC236}">
                <a16:creationId xmlns:a16="http://schemas.microsoft.com/office/drawing/2014/main" id="{115E6F66-6FD5-4BAD-AD6C-16D521487655}"/>
              </a:ext>
            </a:extLst>
          </p:cNvPr>
          <p:cNvSpPr txBox="1"/>
          <p:nvPr/>
        </p:nvSpPr>
        <p:spPr>
          <a:xfrm>
            <a:off x="340705" y="4677717"/>
            <a:ext cx="1429255" cy="369332"/>
          </a:xfrm>
          <a:prstGeom prst="rect">
            <a:avLst/>
          </a:prstGeom>
          <a:noFill/>
        </p:spPr>
        <p:txBody>
          <a:bodyPr wrap="square" rtlCol="0">
            <a:spAutoFit/>
          </a:bodyPr>
          <a:lstStyle/>
          <a:p>
            <a:pPr algn="r"/>
            <a:r>
              <a:rPr lang="en-US" altLang="ko-KR" dirty="0">
                <a:solidFill>
                  <a:schemeClr val="tx1">
                    <a:lumMod val="50000"/>
                    <a:lumOff val="50000"/>
                  </a:schemeClr>
                </a:solidFill>
              </a:rPr>
              <a:t>(</a:t>
            </a:r>
            <a:r>
              <a:rPr lang="ko-KR" altLang="en-US" dirty="0">
                <a:solidFill>
                  <a:srgbClr val="FF0000"/>
                </a:solidFill>
              </a:rPr>
              <a:t>반</a:t>
            </a:r>
            <a:r>
              <a:rPr lang="ko-KR" altLang="en-US" dirty="0">
                <a:solidFill>
                  <a:schemeClr val="tx1">
                    <a:lumMod val="50000"/>
                    <a:lumOff val="50000"/>
                  </a:schemeClr>
                </a:solidFill>
              </a:rPr>
              <a:t>도체 기술</a:t>
            </a:r>
            <a:r>
              <a:rPr lang="en-US" altLang="ko-KR" dirty="0">
                <a:solidFill>
                  <a:schemeClr val="tx1">
                    <a:lumMod val="50000"/>
                    <a:lumOff val="50000"/>
                  </a:schemeClr>
                </a:solidFill>
              </a:rPr>
              <a:t>)</a:t>
            </a:r>
            <a:endParaRPr lang="ko-KR" altLang="en-US" dirty="0">
              <a:solidFill>
                <a:schemeClr val="tx1">
                  <a:lumMod val="50000"/>
                  <a:lumOff val="50000"/>
                </a:schemeClr>
              </a:solidFill>
            </a:endParaRPr>
          </a:p>
        </p:txBody>
      </p:sp>
      <p:sp>
        <p:nvSpPr>
          <p:cNvPr id="23" name="TextBox 22">
            <a:extLst>
              <a:ext uri="{FF2B5EF4-FFF2-40B4-BE49-F238E27FC236}">
                <a16:creationId xmlns:a16="http://schemas.microsoft.com/office/drawing/2014/main" id="{B660EE1D-6810-4A15-9C1A-755155CA2E64}"/>
              </a:ext>
            </a:extLst>
          </p:cNvPr>
          <p:cNvSpPr txBox="1"/>
          <p:nvPr/>
        </p:nvSpPr>
        <p:spPr>
          <a:xfrm>
            <a:off x="340705" y="5225716"/>
            <a:ext cx="1429255" cy="369332"/>
          </a:xfrm>
          <a:prstGeom prst="rect">
            <a:avLst/>
          </a:prstGeom>
          <a:noFill/>
        </p:spPr>
        <p:txBody>
          <a:bodyPr wrap="square" rtlCol="0">
            <a:spAutoFit/>
          </a:bodyPr>
          <a:lstStyle/>
          <a:p>
            <a:pPr algn="r"/>
            <a:r>
              <a:rPr lang="en-US" altLang="ko-KR" dirty="0">
                <a:solidFill>
                  <a:schemeClr val="tx1">
                    <a:lumMod val="50000"/>
                    <a:lumOff val="50000"/>
                  </a:schemeClr>
                </a:solidFill>
              </a:rPr>
              <a:t>(</a:t>
            </a:r>
            <a:r>
              <a:rPr lang="ko-KR" altLang="en-US" dirty="0">
                <a:solidFill>
                  <a:srgbClr val="FF0000"/>
                </a:solidFill>
              </a:rPr>
              <a:t>수</a:t>
            </a:r>
            <a:r>
              <a:rPr lang="ko-KR" altLang="en-US" dirty="0">
                <a:solidFill>
                  <a:schemeClr val="tx1">
                    <a:lumMod val="50000"/>
                    <a:lumOff val="50000"/>
                  </a:schemeClr>
                </a:solidFill>
              </a:rPr>
              <a:t>입국 요건</a:t>
            </a:r>
            <a:r>
              <a:rPr lang="en-US" altLang="ko-KR" dirty="0">
                <a:solidFill>
                  <a:schemeClr val="tx1">
                    <a:lumMod val="50000"/>
                    <a:lumOff val="50000"/>
                  </a:schemeClr>
                </a:solidFill>
              </a:rPr>
              <a:t>)</a:t>
            </a:r>
            <a:endParaRPr lang="ko-KR" altLang="en-US" dirty="0">
              <a:solidFill>
                <a:schemeClr val="tx1">
                  <a:lumMod val="50000"/>
                  <a:lumOff val="50000"/>
                </a:schemeClr>
              </a:solidFill>
            </a:endParaRPr>
          </a:p>
        </p:txBody>
      </p:sp>
      <p:sp>
        <p:nvSpPr>
          <p:cNvPr id="24" name="TextBox 23">
            <a:extLst>
              <a:ext uri="{FF2B5EF4-FFF2-40B4-BE49-F238E27FC236}">
                <a16:creationId xmlns:a16="http://schemas.microsoft.com/office/drawing/2014/main" id="{62742EEB-E868-42F0-98D7-135B3486597A}"/>
              </a:ext>
            </a:extLst>
          </p:cNvPr>
          <p:cNvSpPr txBox="1"/>
          <p:nvPr/>
        </p:nvSpPr>
        <p:spPr>
          <a:xfrm>
            <a:off x="340705" y="5754559"/>
            <a:ext cx="1429255" cy="369332"/>
          </a:xfrm>
          <a:prstGeom prst="rect">
            <a:avLst/>
          </a:prstGeom>
          <a:noFill/>
        </p:spPr>
        <p:txBody>
          <a:bodyPr wrap="square" rtlCol="0">
            <a:spAutoFit/>
          </a:bodyPr>
          <a:lstStyle/>
          <a:p>
            <a:pPr algn="r"/>
            <a:r>
              <a:rPr lang="en-US" altLang="ko-KR" dirty="0">
                <a:solidFill>
                  <a:schemeClr val="tx1">
                    <a:lumMod val="50000"/>
                    <a:lumOff val="50000"/>
                  </a:schemeClr>
                </a:solidFill>
              </a:rPr>
              <a:t>(</a:t>
            </a:r>
            <a:r>
              <a:rPr lang="ko-KR" altLang="en-US" dirty="0">
                <a:solidFill>
                  <a:srgbClr val="FF0000"/>
                </a:solidFill>
              </a:rPr>
              <a:t>의</a:t>
            </a:r>
            <a:r>
              <a:rPr lang="ko-KR" altLang="en-US" dirty="0">
                <a:solidFill>
                  <a:schemeClr val="tx1">
                    <a:lumMod val="50000"/>
                    <a:lumOff val="50000"/>
                  </a:schemeClr>
                </a:solidFill>
              </a:rPr>
              <a:t>약품 요건</a:t>
            </a:r>
            <a:r>
              <a:rPr lang="en-US" altLang="ko-KR" dirty="0">
                <a:solidFill>
                  <a:schemeClr val="tx1">
                    <a:lumMod val="50000"/>
                    <a:lumOff val="50000"/>
                  </a:schemeClr>
                </a:solidFill>
              </a:rPr>
              <a:t>)</a:t>
            </a:r>
            <a:endParaRPr lang="ko-KR" altLang="en-US" dirty="0">
              <a:solidFill>
                <a:schemeClr val="tx1">
                  <a:lumMod val="50000"/>
                  <a:lumOff val="50000"/>
                </a:schemeClr>
              </a:solidFill>
            </a:endParaRPr>
          </a:p>
        </p:txBody>
      </p:sp>
      <p:sp>
        <p:nvSpPr>
          <p:cNvPr id="25" name="TextBox 24">
            <a:extLst>
              <a:ext uri="{FF2B5EF4-FFF2-40B4-BE49-F238E27FC236}">
                <a16:creationId xmlns:a16="http://schemas.microsoft.com/office/drawing/2014/main" id="{D2D6262E-26A3-4E22-A95D-7AE1C9006C47}"/>
              </a:ext>
            </a:extLst>
          </p:cNvPr>
          <p:cNvSpPr txBox="1"/>
          <p:nvPr/>
        </p:nvSpPr>
        <p:spPr>
          <a:xfrm>
            <a:off x="340705" y="6240025"/>
            <a:ext cx="1429255" cy="369332"/>
          </a:xfrm>
          <a:prstGeom prst="rect">
            <a:avLst/>
          </a:prstGeom>
          <a:noFill/>
        </p:spPr>
        <p:txBody>
          <a:bodyPr wrap="square" rtlCol="0">
            <a:spAutoFit/>
          </a:bodyPr>
          <a:lstStyle/>
          <a:p>
            <a:pPr algn="r"/>
            <a:r>
              <a:rPr lang="en-US" altLang="ko-KR" dirty="0">
                <a:solidFill>
                  <a:schemeClr val="tx1">
                    <a:lumMod val="50000"/>
                    <a:lumOff val="50000"/>
                  </a:schemeClr>
                </a:solidFill>
              </a:rPr>
              <a:t>(</a:t>
            </a:r>
            <a:r>
              <a:rPr lang="ko-KR" altLang="en-US" dirty="0">
                <a:solidFill>
                  <a:schemeClr val="tx1">
                    <a:lumMod val="50000"/>
                    <a:lumOff val="50000"/>
                  </a:schemeClr>
                </a:solidFill>
              </a:rPr>
              <a:t>절차</a:t>
            </a:r>
            <a:r>
              <a:rPr lang="en-US" altLang="ko-KR" dirty="0">
                <a:solidFill>
                  <a:schemeClr val="tx1">
                    <a:lumMod val="50000"/>
                    <a:lumOff val="50000"/>
                  </a:schemeClr>
                </a:solidFill>
              </a:rPr>
              <a:t>, </a:t>
            </a:r>
            <a:r>
              <a:rPr lang="ko-KR" altLang="en-US" dirty="0">
                <a:solidFill>
                  <a:schemeClr val="tx1">
                    <a:lumMod val="50000"/>
                    <a:lumOff val="50000"/>
                  </a:schemeClr>
                </a:solidFill>
              </a:rPr>
              <a:t>서류</a:t>
            </a:r>
            <a:r>
              <a:rPr lang="en-US" altLang="ko-KR" dirty="0">
                <a:solidFill>
                  <a:schemeClr val="tx1">
                    <a:lumMod val="50000"/>
                    <a:lumOff val="50000"/>
                  </a:schemeClr>
                </a:solidFill>
              </a:rPr>
              <a:t>)</a:t>
            </a:r>
            <a:endParaRPr lang="ko-KR" altLang="en-US" dirty="0">
              <a:solidFill>
                <a:schemeClr val="tx1">
                  <a:lumMod val="50000"/>
                  <a:lumOff val="50000"/>
                </a:schemeClr>
              </a:solidFill>
            </a:endParaRPr>
          </a:p>
        </p:txBody>
      </p:sp>
      <p:sp>
        <p:nvSpPr>
          <p:cNvPr id="28" name="직사각형 27">
            <a:extLst>
              <a:ext uri="{FF2B5EF4-FFF2-40B4-BE49-F238E27FC236}">
                <a16:creationId xmlns:a16="http://schemas.microsoft.com/office/drawing/2014/main" id="{CCB519BD-D65C-49F4-9F9B-5FAC58EAFBE6}"/>
              </a:ext>
            </a:extLst>
          </p:cNvPr>
          <p:cNvSpPr/>
          <p:nvPr/>
        </p:nvSpPr>
        <p:spPr>
          <a:xfrm>
            <a:off x="3547959" y="889045"/>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29" name="직사각형 28">
            <a:extLst>
              <a:ext uri="{FF2B5EF4-FFF2-40B4-BE49-F238E27FC236}">
                <a16:creationId xmlns:a16="http://schemas.microsoft.com/office/drawing/2014/main" id="{5C587D0C-7E15-4455-B47F-E1AB9EFB65FF}"/>
              </a:ext>
            </a:extLst>
          </p:cNvPr>
          <p:cNvSpPr/>
          <p:nvPr/>
        </p:nvSpPr>
        <p:spPr>
          <a:xfrm>
            <a:off x="3547959" y="1238536"/>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30" name="직사각형 29">
            <a:extLst>
              <a:ext uri="{FF2B5EF4-FFF2-40B4-BE49-F238E27FC236}">
                <a16:creationId xmlns:a16="http://schemas.microsoft.com/office/drawing/2014/main" id="{68C280A4-F04F-4204-9EF3-19DB342CBA16}"/>
              </a:ext>
            </a:extLst>
          </p:cNvPr>
          <p:cNvSpPr/>
          <p:nvPr/>
        </p:nvSpPr>
        <p:spPr>
          <a:xfrm>
            <a:off x="3547959" y="1588027"/>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31" name="직사각형 30">
            <a:extLst>
              <a:ext uri="{FF2B5EF4-FFF2-40B4-BE49-F238E27FC236}">
                <a16:creationId xmlns:a16="http://schemas.microsoft.com/office/drawing/2014/main" id="{5E07602F-EC14-4740-A82C-E5F9DF4D7DA1}"/>
              </a:ext>
            </a:extLst>
          </p:cNvPr>
          <p:cNvSpPr/>
          <p:nvPr/>
        </p:nvSpPr>
        <p:spPr>
          <a:xfrm>
            <a:off x="3547959" y="1937520"/>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4</a:t>
            </a:r>
            <a:endParaRPr lang="ko-KR" altLang="en-US" dirty="0"/>
          </a:p>
        </p:txBody>
      </p:sp>
      <p:sp>
        <p:nvSpPr>
          <p:cNvPr id="32" name="직사각형 31">
            <a:extLst>
              <a:ext uri="{FF2B5EF4-FFF2-40B4-BE49-F238E27FC236}">
                <a16:creationId xmlns:a16="http://schemas.microsoft.com/office/drawing/2014/main" id="{793D11B1-43DE-4342-8E24-41C4709F4069}"/>
              </a:ext>
            </a:extLst>
          </p:cNvPr>
          <p:cNvSpPr/>
          <p:nvPr/>
        </p:nvSpPr>
        <p:spPr>
          <a:xfrm>
            <a:off x="3547959" y="2287011"/>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5</a:t>
            </a:r>
            <a:endParaRPr lang="ko-KR" altLang="en-US" dirty="0"/>
          </a:p>
        </p:txBody>
      </p:sp>
      <p:cxnSp>
        <p:nvCxnSpPr>
          <p:cNvPr id="34" name="연결선: 꺾임 33">
            <a:extLst>
              <a:ext uri="{FF2B5EF4-FFF2-40B4-BE49-F238E27FC236}">
                <a16:creationId xmlns:a16="http://schemas.microsoft.com/office/drawing/2014/main" id="{28EC5DE7-2CF8-4AFB-BD59-9D10C403188C}"/>
              </a:ext>
            </a:extLst>
          </p:cNvPr>
          <p:cNvCxnSpPr>
            <a:stCxn id="7" idx="6"/>
            <a:endCxn id="28" idx="1"/>
          </p:cNvCxnSpPr>
          <p:nvPr/>
        </p:nvCxnSpPr>
        <p:spPr>
          <a:xfrm flipV="1">
            <a:off x="2228350" y="1041445"/>
            <a:ext cx="1319609" cy="857491"/>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35" name="연결선: 꺾임 34">
            <a:extLst>
              <a:ext uri="{FF2B5EF4-FFF2-40B4-BE49-F238E27FC236}">
                <a16:creationId xmlns:a16="http://schemas.microsoft.com/office/drawing/2014/main" id="{CC1CDE20-00C4-4314-9712-6B3EECEFED93}"/>
              </a:ext>
            </a:extLst>
          </p:cNvPr>
          <p:cNvCxnSpPr>
            <a:cxnSpLocks/>
            <a:stCxn id="7" idx="6"/>
            <a:endCxn id="29" idx="1"/>
          </p:cNvCxnSpPr>
          <p:nvPr/>
        </p:nvCxnSpPr>
        <p:spPr>
          <a:xfrm flipV="1">
            <a:off x="2228350" y="1390936"/>
            <a:ext cx="1319609" cy="508000"/>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38" name="연결선: 꺾임 37">
            <a:extLst>
              <a:ext uri="{FF2B5EF4-FFF2-40B4-BE49-F238E27FC236}">
                <a16:creationId xmlns:a16="http://schemas.microsoft.com/office/drawing/2014/main" id="{96DD905A-4186-40DA-BC17-75643C3D0922}"/>
              </a:ext>
            </a:extLst>
          </p:cNvPr>
          <p:cNvCxnSpPr>
            <a:cxnSpLocks/>
            <a:stCxn id="7" idx="6"/>
            <a:endCxn id="30" idx="1"/>
          </p:cNvCxnSpPr>
          <p:nvPr/>
        </p:nvCxnSpPr>
        <p:spPr>
          <a:xfrm flipV="1">
            <a:off x="2228350" y="1740427"/>
            <a:ext cx="1319609" cy="158509"/>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41" name="연결선: 꺾임 40">
            <a:extLst>
              <a:ext uri="{FF2B5EF4-FFF2-40B4-BE49-F238E27FC236}">
                <a16:creationId xmlns:a16="http://schemas.microsoft.com/office/drawing/2014/main" id="{15ECCAC5-C8FA-40E1-B3E0-FB45390F736D}"/>
              </a:ext>
            </a:extLst>
          </p:cNvPr>
          <p:cNvCxnSpPr>
            <a:cxnSpLocks/>
            <a:stCxn id="7" idx="6"/>
            <a:endCxn id="31" idx="1"/>
          </p:cNvCxnSpPr>
          <p:nvPr/>
        </p:nvCxnSpPr>
        <p:spPr>
          <a:xfrm>
            <a:off x="2228350" y="1898936"/>
            <a:ext cx="1319609" cy="190984"/>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44" name="연결선: 꺾임 43">
            <a:extLst>
              <a:ext uri="{FF2B5EF4-FFF2-40B4-BE49-F238E27FC236}">
                <a16:creationId xmlns:a16="http://schemas.microsoft.com/office/drawing/2014/main" id="{B603DE00-E5D8-4448-BD83-F2E938C32F1D}"/>
              </a:ext>
            </a:extLst>
          </p:cNvPr>
          <p:cNvCxnSpPr>
            <a:cxnSpLocks/>
            <a:stCxn id="7" idx="6"/>
            <a:endCxn id="32" idx="1"/>
          </p:cNvCxnSpPr>
          <p:nvPr/>
        </p:nvCxnSpPr>
        <p:spPr>
          <a:xfrm>
            <a:off x="2228350" y="1898936"/>
            <a:ext cx="1319609" cy="540475"/>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51" name="직사각형 50">
            <a:extLst>
              <a:ext uri="{FF2B5EF4-FFF2-40B4-BE49-F238E27FC236}">
                <a16:creationId xmlns:a16="http://schemas.microsoft.com/office/drawing/2014/main" id="{6D0597F9-F826-4FB2-B2B3-0B3E67C507D4}"/>
              </a:ext>
            </a:extLst>
          </p:cNvPr>
          <p:cNvSpPr/>
          <p:nvPr/>
        </p:nvSpPr>
        <p:spPr>
          <a:xfrm>
            <a:off x="3866618" y="2624130"/>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52" name="직사각형 51">
            <a:extLst>
              <a:ext uri="{FF2B5EF4-FFF2-40B4-BE49-F238E27FC236}">
                <a16:creationId xmlns:a16="http://schemas.microsoft.com/office/drawing/2014/main" id="{887136E7-43DB-48B6-A065-EE19F0F8A57C}"/>
              </a:ext>
            </a:extLst>
          </p:cNvPr>
          <p:cNvSpPr/>
          <p:nvPr/>
        </p:nvSpPr>
        <p:spPr>
          <a:xfrm>
            <a:off x="4212981" y="2627828"/>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cxnSp>
        <p:nvCxnSpPr>
          <p:cNvPr id="53" name="연결선: 꺾임 52">
            <a:extLst>
              <a:ext uri="{FF2B5EF4-FFF2-40B4-BE49-F238E27FC236}">
                <a16:creationId xmlns:a16="http://schemas.microsoft.com/office/drawing/2014/main" id="{F6E5099D-D248-4C82-8286-68F988A058F5}"/>
              </a:ext>
            </a:extLst>
          </p:cNvPr>
          <p:cNvCxnSpPr>
            <a:cxnSpLocks/>
            <a:stCxn id="8" idx="6"/>
            <a:endCxn id="51" idx="1"/>
          </p:cNvCxnSpPr>
          <p:nvPr/>
        </p:nvCxnSpPr>
        <p:spPr>
          <a:xfrm flipV="1">
            <a:off x="2228350" y="2776530"/>
            <a:ext cx="1638268" cy="2167"/>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89" name="직사각형 88">
            <a:extLst>
              <a:ext uri="{FF2B5EF4-FFF2-40B4-BE49-F238E27FC236}">
                <a16:creationId xmlns:a16="http://schemas.microsoft.com/office/drawing/2014/main" id="{EF21BB12-4B2F-4EE7-AFAE-DE981FA394E9}"/>
              </a:ext>
            </a:extLst>
          </p:cNvPr>
          <p:cNvSpPr/>
          <p:nvPr/>
        </p:nvSpPr>
        <p:spPr>
          <a:xfrm>
            <a:off x="3866618" y="3653225"/>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90" name="직사각형 89">
            <a:extLst>
              <a:ext uri="{FF2B5EF4-FFF2-40B4-BE49-F238E27FC236}">
                <a16:creationId xmlns:a16="http://schemas.microsoft.com/office/drawing/2014/main" id="{26724386-5254-4B87-8804-6FA4F87ADE22}"/>
              </a:ext>
            </a:extLst>
          </p:cNvPr>
          <p:cNvSpPr/>
          <p:nvPr/>
        </p:nvSpPr>
        <p:spPr>
          <a:xfrm>
            <a:off x="4212981" y="3656923"/>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cxnSp>
        <p:nvCxnSpPr>
          <p:cNvPr id="91" name="연결선: 꺾임 90">
            <a:extLst>
              <a:ext uri="{FF2B5EF4-FFF2-40B4-BE49-F238E27FC236}">
                <a16:creationId xmlns:a16="http://schemas.microsoft.com/office/drawing/2014/main" id="{9AA81ED9-5358-4CAA-9633-3CB720A767B2}"/>
              </a:ext>
            </a:extLst>
          </p:cNvPr>
          <p:cNvCxnSpPr>
            <a:cxnSpLocks/>
            <a:endCxn id="89" idx="1"/>
          </p:cNvCxnSpPr>
          <p:nvPr/>
        </p:nvCxnSpPr>
        <p:spPr>
          <a:xfrm flipV="1">
            <a:off x="2228350" y="3805625"/>
            <a:ext cx="1638268" cy="2167"/>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92" name="직사각형 91">
            <a:extLst>
              <a:ext uri="{FF2B5EF4-FFF2-40B4-BE49-F238E27FC236}">
                <a16:creationId xmlns:a16="http://schemas.microsoft.com/office/drawing/2014/main" id="{E75B5541-DD66-419B-AEAA-E9F97431818C}"/>
              </a:ext>
            </a:extLst>
          </p:cNvPr>
          <p:cNvSpPr/>
          <p:nvPr/>
        </p:nvSpPr>
        <p:spPr>
          <a:xfrm>
            <a:off x="4547204" y="3655857"/>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94" name="직사각형 93">
            <a:extLst>
              <a:ext uri="{FF2B5EF4-FFF2-40B4-BE49-F238E27FC236}">
                <a16:creationId xmlns:a16="http://schemas.microsoft.com/office/drawing/2014/main" id="{049616D3-E843-46FA-9E2F-0498F1E15B1D}"/>
              </a:ext>
            </a:extLst>
          </p:cNvPr>
          <p:cNvSpPr/>
          <p:nvPr/>
        </p:nvSpPr>
        <p:spPr>
          <a:xfrm>
            <a:off x="5207606" y="3650919"/>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5</a:t>
            </a:r>
            <a:endParaRPr lang="ko-KR" altLang="en-US" dirty="0"/>
          </a:p>
        </p:txBody>
      </p:sp>
      <p:cxnSp>
        <p:nvCxnSpPr>
          <p:cNvPr id="97" name="연결선: 꺾임 96">
            <a:extLst>
              <a:ext uri="{FF2B5EF4-FFF2-40B4-BE49-F238E27FC236}">
                <a16:creationId xmlns:a16="http://schemas.microsoft.com/office/drawing/2014/main" id="{213AED0C-4421-4B5F-87EE-9D40B7CC06FA}"/>
              </a:ext>
            </a:extLst>
          </p:cNvPr>
          <p:cNvCxnSpPr>
            <a:cxnSpLocks/>
            <a:endCxn id="99" idx="1"/>
          </p:cNvCxnSpPr>
          <p:nvPr/>
        </p:nvCxnSpPr>
        <p:spPr>
          <a:xfrm flipV="1">
            <a:off x="2228350" y="4359675"/>
            <a:ext cx="2651364" cy="2010"/>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99" name="직사각형 98">
            <a:extLst>
              <a:ext uri="{FF2B5EF4-FFF2-40B4-BE49-F238E27FC236}">
                <a16:creationId xmlns:a16="http://schemas.microsoft.com/office/drawing/2014/main" id="{02830F70-E8AC-4961-85ED-FEEE55F0D65C}"/>
              </a:ext>
            </a:extLst>
          </p:cNvPr>
          <p:cNvSpPr/>
          <p:nvPr/>
        </p:nvSpPr>
        <p:spPr>
          <a:xfrm>
            <a:off x="4879714" y="4207275"/>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4</a:t>
            </a:r>
            <a:endParaRPr lang="ko-KR" altLang="en-US" dirty="0"/>
          </a:p>
        </p:txBody>
      </p:sp>
      <p:sp>
        <p:nvSpPr>
          <p:cNvPr id="100" name="직사각형 99">
            <a:extLst>
              <a:ext uri="{FF2B5EF4-FFF2-40B4-BE49-F238E27FC236}">
                <a16:creationId xmlns:a16="http://schemas.microsoft.com/office/drawing/2014/main" id="{78862032-2C6D-4665-A1FE-395B3002C233}"/>
              </a:ext>
            </a:extLst>
          </p:cNvPr>
          <p:cNvSpPr/>
          <p:nvPr/>
        </p:nvSpPr>
        <p:spPr>
          <a:xfrm>
            <a:off x="5207606" y="4204811"/>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5</a:t>
            </a:r>
            <a:endParaRPr lang="ko-KR" altLang="en-US" dirty="0"/>
          </a:p>
        </p:txBody>
      </p:sp>
      <p:cxnSp>
        <p:nvCxnSpPr>
          <p:cNvPr id="103" name="연결선: 꺾임 102">
            <a:extLst>
              <a:ext uri="{FF2B5EF4-FFF2-40B4-BE49-F238E27FC236}">
                <a16:creationId xmlns:a16="http://schemas.microsoft.com/office/drawing/2014/main" id="{9EE04DB7-2622-4301-838D-D1A7CED354D9}"/>
              </a:ext>
            </a:extLst>
          </p:cNvPr>
          <p:cNvCxnSpPr>
            <a:cxnSpLocks/>
            <a:endCxn id="104" idx="1"/>
          </p:cNvCxnSpPr>
          <p:nvPr/>
        </p:nvCxnSpPr>
        <p:spPr>
          <a:xfrm>
            <a:off x="2228350" y="4879063"/>
            <a:ext cx="2318854" cy="464"/>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04" name="직사각형 103">
            <a:extLst>
              <a:ext uri="{FF2B5EF4-FFF2-40B4-BE49-F238E27FC236}">
                <a16:creationId xmlns:a16="http://schemas.microsoft.com/office/drawing/2014/main" id="{2115DC67-DA8F-46A2-8E9A-B84A69636B48}"/>
              </a:ext>
            </a:extLst>
          </p:cNvPr>
          <p:cNvSpPr/>
          <p:nvPr/>
        </p:nvSpPr>
        <p:spPr>
          <a:xfrm>
            <a:off x="4547204" y="4727127"/>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105" name="직사각형 104">
            <a:extLst>
              <a:ext uri="{FF2B5EF4-FFF2-40B4-BE49-F238E27FC236}">
                <a16:creationId xmlns:a16="http://schemas.microsoft.com/office/drawing/2014/main" id="{69304A84-4F70-4A40-B569-3AADCDADAB92}"/>
              </a:ext>
            </a:extLst>
          </p:cNvPr>
          <p:cNvSpPr/>
          <p:nvPr/>
        </p:nvSpPr>
        <p:spPr>
          <a:xfrm>
            <a:off x="4879714" y="4724653"/>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4</a:t>
            </a:r>
            <a:endParaRPr lang="ko-KR" altLang="en-US" dirty="0"/>
          </a:p>
        </p:txBody>
      </p:sp>
      <p:cxnSp>
        <p:nvCxnSpPr>
          <p:cNvPr id="109" name="연결선: 꺾임 108">
            <a:extLst>
              <a:ext uri="{FF2B5EF4-FFF2-40B4-BE49-F238E27FC236}">
                <a16:creationId xmlns:a16="http://schemas.microsoft.com/office/drawing/2014/main" id="{6077BC83-B9CF-4013-82CB-46AE06EB47AD}"/>
              </a:ext>
            </a:extLst>
          </p:cNvPr>
          <p:cNvCxnSpPr>
            <a:cxnSpLocks/>
            <a:endCxn id="112" idx="1"/>
          </p:cNvCxnSpPr>
          <p:nvPr/>
        </p:nvCxnSpPr>
        <p:spPr>
          <a:xfrm flipV="1">
            <a:off x="2228350" y="5380243"/>
            <a:ext cx="2979256" cy="4474"/>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12" name="직사각형 111">
            <a:extLst>
              <a:ext uri="{FF2B5EF4-FFF2-40B4-BE49-F238E27FC236}">
                <a16:creationId xmlns:a16="http://schemas.microsoft.com/office/drawing/2014/main" id="{52B3ED78-A8AC-4AA0-A77F-4B240CA5045D}"/>
              </a:ext>
            </a:extLst>
          </p:cNvPr>
          <p:cNvSpPr/>
          <p:nvPr/>
        </p:nvSpPr>
        <p:spPr>
          <a:xfrm>
            <a:off x="5207606" y="5227843"/>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5</a:t>
            </a:r>
            <a:endParaRPr lang="ko-KR" altLang="en-US" dirty="0"/>
          </a:p>
        </p:txBody>
      </p:sp>
      <p:cxnSp>
        <p:nvCxnSpPr>
          <p:cNvPr id="115" name="연결선: 꺾임 114">
            <a:extLst>
              <a:ext uri="{FF2B5EF4-FFF2-40B4-BE49-F238E27FC236}">
                <a16:creationId xmlns:a16="http://schemas.microsoft.com/office/drawing/2014/main" id="{E387E7EB-9AC6-4CBD-974C-01325A5F212C}"/>
              </a:ext>
            </a:extLst>
          </p:cNvPr>
          <p:cNvCxnSpPr>
            <a:cxnSpLocks/>
            <a:endCxn id="118" idx="1"/>
          </p:cNvCxnSpPr>
          <p:nvPr/>
        </p:nvCxnSpPr>
        <p:spPr>
          <a:xfrm flipV="1">
            <a:off x="2228350" y="5915684"/>
            <a:ext cx="2979256" cy="4474"/>
          </a:xfrm>
          <a:prstGeom prst="bentConnector3">
            <a:avLst/>
          </a:prstGeom>
          <a:ln w="12700">
            <a:solidFill>
              <a:schemeClr val="bg1">
                <a:lumMod val="50000"/>
              </a:schemeClr>
            </a:solidFill>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18" name="직사각형 117">
            <a:extLst>
              <a:ext uri="{FF2B5EF4-FFF2-40B4-BE49-F238E27FC236}">
                <a16:creationId xmlns:a16="http://schemas.microsoft.com/office/drawing/2014/main" id="{28CEFB60-6F7F-45D8-89CC-6D2D56C15688}"/>
              </a:ext>
            </a:extLst>
          </p:cNvPr>
          <p:cNvSpPr/>
          <p:nvPr/>
        </p:nvSpPr>
        <p:spPr>
          <a:xfrm>
            <a:off x="5207606" y="5763284"/>
            <a:ext cx="304800" cy="304800"/>
          </a:xfrm>
          <a:prstGeom prst="rect">
            <a:avLst/>
          </a:prstGeom>
          <a:solidFill>
            <a:schemeClr val="tx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5</a:t>
            </a:r>
            <a:endParaRPr lang="ko-KR" altLang="en-US" dirty="0"/>
          </a:p>
        </p:txBody>
      </p:sp>
    </p:spTree>
    <p:extLst>
      <p:ext uri="{BB962C8B-B14F-4D97-AF65-F5344CB8AC3E}">
        <p14:creationId xmlns:p14="http://schemas.microsoft.com/office/powerpoint/2010/main" val="1464098456"/>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양쪽 모서리가 둥근 사각형 33"/>
          <p:cNvSpPr/>
          <p:nvPr/>
        </p:nvSpPr>
        <p:spPr>
          <a:xfrm>
            <a:off x="9760663" y="2576401"/>
            <a:ext cx="2021762" cy="614474"/>
          </a:xfrm>
          <a:prstGeom prst="round2SameRect">
            <a:avLst>
              <a:gd name="adj1" fmla="val 0"/>
              <a:gd name="adj2" fmla="val 50000"/>
            </a:avLst>
          </a:prstGeom>
          <a:pattFill prst="wdDnDiag">
            <a:fgClr>
              <a:schemeClr val="accent2"/>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2"/>
                </a:solidFill>
              </a:rPr>
              <a:t>재정청구가능</a:t>
            </a:r>
          </a:p>
        </p:txBody>
      </p:sp>
      <p:sp>
        <p:nvSpPr>
          <p:cNvPr id="32" name="양쪽 모서리가 둥근 사각형 31"/>
          <p:cNvSpPr/>
          <p:nvPr/>
        </p:nvSpPr>
        <p:spPr>
          <a:xfrm>
            <a:off x="6398337" y="2576401"/>
            <a:ext cx="3343275" cy="928799"/>
          </a:xfrm>
          <a:prstGeom prst="round2SameRect">
            <a:avLst>
              <a:gd name="adj1" fmla="val 0"/>
              <a:gd name="adj2" fmla="val 24172"/>
            </a:avLst>
          </a:prstGeom>
          <a:pattFill prst="dkVert">
            <a:fgClr>
              <a:schemeClr val="accent4"/>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양쪽 모서리가 둥근 사각형 29"/>
          <p:cNvSpPr/>
          <p:nvPr/>
        </p:nvSpPr>
        <p:spPr>
          <a:xfrm>
            <a:off x="2959568" y="2576401"/>
            <a:ext cx="5096120" cy="614474"/>
          </a:xfrm>
          <a:prstGeom prst="round2SameRect">
            <a:avLst>
              <a:gd name="adj1" fmla="val 0"/>
              <a:gd name="adj2" fmla="val 50000"/>
            </a:avLst>
          </a:prstGeom>
          <a:pattFill prst="lgGrid">
            <a:fgClr>
              <a:schemeClr val="accent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 name="제목 3"/>
          <p:cNvSpPr>
            <a:spLocks noGrp="1"/>
          </p:cNvSpPr>
          <p:nvPr>
            <p:ph type="title"/>
          </p:nvPr>
        </p:nvSpPr>
        <p:spPr/>
        <p:txBody>
          <a:bodyPr/>
          <a:lstStyle/>
          <a:p>
            <a:r>
              <a:rPr lang="ko-KR" altLang="en-US" dirty="0"/>
              <a:t>제</a:t>
            </a:r>
            <a:r>
              <a:rPr lang="en-US" altLang="ko-KR" dirty="0"/>
              <a:t>107</a:t>
            </a:r>
            <a:r>
              <a:rPr lang="ko-KR" altLang="en-US" dirty="0"/>
              <a:t>조</a:t>
            </a:r>
            <a:r>
              <a:rPr lang="en-US" altLang="ko-KR" dirty="0"/>
              <a:t>~</a:t>
            </a:r>
            <a:r>
              <a:rPr lang="ko-KR" altLang="en-US" dirty="0"/>
              <a:t>제</a:t>
            </a:r>
            <a:r>
              <a:rPr lang="en-US" altLang="ko-KR" dirty="0"/>
              <a:t>115</a:t>
            </a:r>
            <a:r>
              <a:rPr lang="ko-KR" altLang="en-US" dirty="0"/>
              <a:t>조</a:t>
            </a:r>
          </a:p>
        </p:txBody>
      </p:sp>
      <p:sp>
        <p:nvSpPr>
          <p:cNvPr id="5" name="텍스트 개체 틀 4"/>
          <p:cNvSpPr>
            <a:spLocks noGrp="1"/>
          </p:cNvSpPr>
          <p:nvPr>
            <p:ph type="body" sz="quarter" idx="13"/>
          </p:nvPr>
        </p:nvSpPr>
        <p:spPr/>
        <p:txBody>
          <a:bodyPr/>
          <a:lstStyle/>
          <a:p>
            <a:r>
              <a:rPr lang="ko-KR" altLang="en-US" dirty="0"/>
              <a:t>제</a:t>
            </a:r>
            <a:r>
              <a:rPr lang="en-US" altLang="ko-KR" dirty="0"/>
              <a:t>107</a:t>
            </a:r>
            <a:r>
              <a:rPr lang="ko-KR" altLang="en-US" dirty="0"/>
              <a:t>조제</a:t>
            </a:r>
            <a:r>
              <a:rPr lang="en-US" altLang="ko-KR" dirty="0"/>
              <a:t>1</a:t>
            </a:r>
            <a:r>
              <a:rPr lang="ko-KR" altLang="en-US" dirty="0" err="1"/>
              <a:t>항제</a:t>
            </a:r>
            <a:r>
              <a:rPr lang="en-US" altLang="ko-KR" dirty="0"/>
              <a:t>1</a:t>
            </a:r>
            <a:r>
              <a:rPr lang="ko-KR" altLang="en-US" dirty="0"/>
              <a:t>호</a:t>
            </a:r>
            <a:r>
              <a:rPr lang="en-US" altLang="ko-KR" dirty="0"/>
              <a:t>, </a:t>
            </a:r>
            <a:r>
              <a:rPr lang="ko-KR" altLang="en-US" dirty="0"/>
              <a:t>제</a:t>
            </a:r>
            <a:r>
              <a:rPr lang="en-US" altLang="ko-KR" dirty="0"/>
              <a:t>2</a:t>
            </a:r>
            <a:r>
              <a:rPr lang="ko-KR" altLang="en-US" dirty="0"/>
              <a:t>호</a:t>
            </a:r>
          </a:p>
        </p:txBody>
      </p:sp>
      <p:sp>
        <p:nvSpPr>
          <p:cNvPr id="6" name="Line 5"/>
          <p:cNvSpPr>
            <a:spLocks noChangeShapeType="1"/>
          </p:cNvSpPr>
          <p:nvPr/>
        </p:nvSpPr>
        <p:spPr bwMode="auto">
          <a:xfrm>
            <a:off x="1097161" y="2574913"/>
            <a:ext cx="1036141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8" name="TextBox 7"/>
          <p:cNvSpPr txBox="1"/>
          <p:nvPr/>
        </p:nvSpPr>
        <p:spPr>
          <a:xfrm>
            <a:off x="761755" y="2421024"/>
            <a:ext cx="1228970" cy="307777"/>
          </a:xfrm>
          <a:prstGeom prst="rect">
            <a:avLst/>
          </a:prstGeom>
          <a:solidFill>
            <a:schemeClr val="bg1">
              <a:lumMod val="95000"/>
            </a:schemeClr>
          </a:solidFill>
          <a:ln>
            <a:solidFill>
              <a:schemeClr val="bg1">
                <a:lumMod val="50000"/>
              </a:schemeClr>
            </a:solidFill>
          </a:ln>
        </p:spPr>
        <p:txBody>
          <a:bodyPr wrap="square" rtlCol="0">
            <a:noAutofit/>
          </a:bodyPr>
          <a:lstStyle/>
          <a:p>
            <a:pPr algn="ctr"/>
            <a:r>
              <a:rPr lang="en-US" altLang="ko-KR" sz="1200" dirty="0"/>
              <a:t>2010.04.27</a:t>
            </a:r>
            <a:endParaRPr lang="ko-KR" altLang="en-US" sz="1200" dirty="0"/>
          </a:p>
        </p:txBody>
      </p:sp>
      <p:sp>
        <p:nvSpPr>
          <p:cNvPr id="15" name="TextBox 14"/>
          <p:cNvSpPr txBox="1"/>
          <p:nvPr/>
        </p:nvSpPr>
        <p:spPr>
          <a:xfrm>
            <a:off x="2419105" y="2421024"/>
            <a:ext cx="1228970" cy="307777"/>
          </a:xfrm>
          <a:prstGeom prst="rect">
            <a:avLst/>
          </a:prstGeom>
          <a:solidFill>
            <a:schemeClr val="bg1">
              <a:lumMod val="95000"/>
            </a:schemeClr>
          </a:solidFill>
          <a:ln>
            <a:solidFill>
              <a:schemeClr val="bg1">
                <a:lumMod val="50000"/>
              </a:schemeClr>
            </a:solidFill>
          </a:ln>
        </p:spPr>
        <p:txBody>
          <a:bodyPr wrap="square" rtlCol="0">
            <a:noAutofit/>
          </a:bodyPr>
          <a:lstStyle/>
          <a:p>
            <a:pPr algn="ctr"/>
            <a:r>
              <a:rPr lang="en-US" altLang="ko-KR" sz="1200" dirty="0"/>
              <a:t>2011.04.27</a:t>
            </a:r>
            <a:endParaRPr lang="ko-KR" altLang="en-US" sz="1200" dirty="0"/>
          </a:p>
        </p:txBody>
      </p:sp>
      <p:sp>
        <p:nvSpPr>
          <p:cNvPr id="16" name="TextBox 15"/>
          <p:cNvSpPr txBox="1"/>
          <p:nvPr/>
        </p:nvSpPr>
        <p:spPr>
          <a:xfrm>
            <a:off x="4105030" y="2421024"/>
            <a:ext cx="1228970" cy="307777"/>
          </a:xfrm>
          <a:prstGeom prst="rect">
            <a:avLst/>
          </a:prstGeom>
          <a:solidFill>
            <a:schemeClr val="bg1">
              <a:lumMod val="95000"/>
            </a:schemeClr>
          </a:solidFill>
          <a:ln>
            <a:solidFill>
              <a:schemeClr val="bg1">
                <a:lumMod val="50000"/>
              </a:schemeClr>
            </a:solidFill>
          </a:ln>
        </p:spPr>
        <p:txBody>
          <a:bodyPr wrap="square" rtlCol="0">
            <a:noAutofit/>
          </a:bodyPr>
          <a:lstStyle/>
          <a:p>
            <a:pPr algn="ctr"/>
            <a:r>
              <a:rPr lang="en-US" altLang="ko-KR" sz="1200" dirty="0"/>
              <a:t>2012.04.27</a:t>
            </a:r>
            <a:endParaRPr lang="ko-KR" altLang="en-US" sz="1200" dirty="0"/>
          </a:p>
        </p:txBody>
      </p:sp>
      <p:sp>
        <p:nvSpPr>
          <p:cNvPr id="17" name="TextBox 16"/>
          <p:cNvSpPr txBox="1"/>
          <p:nvPr/>
        </p:nvSpPr>
        <p:spPr>
          <a:xfrm>
            <a:off x="5783853" y="2421024"/>
            <a:ext cx="1228970" cy="307777"/>
          </a:xfrm>
          <a:prstGeom prst="rect">
            <a:avLst/>
          </a:prstGeom>
          <a:solidFill>
            <a:schemeClr val="bg1">
              <a:lumMod val="95000"/>
            </a:schemeClr>
          </a:solidFill>
          <a:ln>
            <a:solidFill>
              <a:schemeClr val="bg1">
                <a:lumMod val="50000"/>
              </a:schemeClr>
            </a:solidFill>
          </a:ln>
        </p:spPr>
        <p:txBody>
          <a:bodyPr wrap="square" rtlCol="0">
            <a:noAutofit/>
          </a:bodyPr>
          <a:lstStyle/>
          <a:p>
            <a:pPr algn="ctr"/>
            <a:r>
              <a:rPr lang="en-US" altLang="ko-KR" sz="1200" dirty="0"/>
              <a:t>2013.04.27</a:t>
            </a:r>
            <a:endParaRPr lang="ko-KR" altLang="en-US" sz="1200" dirty="0"/>
          </a:p>
        </p:txBody>
      </p:sp>
      <p:sp>
        <p:nvSpPr>
          <p:cNvPr id="18" name="TextBox 17"/>
          <p:cNvSpPr txBox="1"/>
          <p:nvPr/>
        </p:nvSpPr>
        <p:spPr>
          <a:xfrm>
            <a:off x="7441203" y="2421024"/>
            <a:ext cx="1228970" cy="307777"/>
          </a:xfrm>
          <a:prstGeom prst="rect">
            <a:avLst/>
          </a:prstGeom>
          <a:solidFill>
            <a:schemeClr val="bg1">
              <a:lumMod val="95000"/>
            </a:schemeClr>
          </a:solidFill>
          <a:ln>
            <a:solidFill>
              <a:schemeClr val="bg1">
                <a:lumMod val="50000"/>
              </a:schemeClr>
            </a:solidFill>
          </a:ln>
        </p:spPr>
        <p:txBody>
          <a:bodyPr wrap="square" rtlCol="0">
            <a:noAutofit/>
          </a:bodyPr>
          <a:lstStyle/>
          <a:p>
            <a:pPr algn="ctr"/>
            <a:r>
              <a:rPr lang="en-US" altLang="ko-KR" sz="1200" dirty="0"/>
              <a:t>2015.04.27</a:t>
            </a:r>
            <a:endParaRPr lang="ko-KR" altLang="en-US" sz="1200" dirty="0"/>
          </a:p>
        </p:txBody>
      </p:sp>
      <p:sp>
        <p:nvSpPr>
          <p:cNvPr id="19" name="TextBox 18"/>
          <p:cNvSpPr txBox="1"/>
          <p:nvPr/>
        </p:nvSpPr>
        <p:spPr>
          <a:xfrm>
            <a:off x="9127128" y="2421024"/>
            <a:ext cx="1228970" cy="307777"/>
          </a:xfrm>
          <a:prstGeom prst="rect">
            <a:avLst/>
          </a:prstGeom>
          <a:solidFill>
            <a:schemeClr val="bg1">
              <a:lumMod val="95000"/>
            </a:schemeClr>
          </a:solidFill>
          <a:ln>
            <a:solidFill>
              <a:schemeClr val="bg1">
                <a:lumMod val="50000"/>
              </a:schemeClr>
            </a:solidFill>
          </a:ln>
        </p:spPr>
        <p:txBody>
          <a:bodyPr wrap="square" rtlCol="0">
            <a:noAutofit/>
          </a:bodyPr>
          <a:lstStyle/>
          <a:p>
            <a:pPr algn="ctr"/>
            <a:r>
              <a:rPr lang="en-US" altLang="ko-KR" sz="1200" dirty="0"/>
              <a:t>2016.04.27</a:t>
            </a:r>
            <a:endParaRPr lang="ko-KR" altLang="en-US" sz="1200" dirty="0"/>
          </a:p>
        </p:txBody>
      </p:sp>
      <p:sp>
        <p:nvSpPr>
          <p:cNvPr id="20" name="TextBox 19"/>
          <p:cNvSpPr txBox="1"/>
          <p:nvPr/>
        </p:nvSpPr>
        <p:spPr>
          <a:xfrm>
            <a:off x="761755" y="1782849"/>
            <a:ext cx="1228970" cy="307777"/>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en-US" altLang="ko-KR" sz="1200" dirty="0"/>
              <a:t>A </a:t>
            </a:r>
            <a:r>
              <a:rPr lang="ko-KR" altLang="en-US" sz="1200" dirty="0"/>
              <a:t>일본출원</a:t>
            </a:r>
            <a:r>
              <a:rPr lang="en-US" altLang="ko-KR" sz="1200" dirty="0"/>
              <a:t>(X)</a:t>
            </a:r>
            <a:endParaRPr lang="ko-KR" altLang="en-US" sz="1200" dirty="0"/>
          </a:p>
        </p:txBody>
      </p:sp>
      <p:cxnSp>
        <p:nvCxnSpPr>
          <p:cNvPr id="3" name="직선 화살표 연결선 2"/>
          <p:cNvCxnSpPr>
            <a:stCxn id="20" idx="2"/>
            <a:endCxn id="8" idx="0"/>
          </p:cNvCxnSpPr>
          <p:nvPr/>
        </p:nvCxnSpPr>
        <p:spPr>
          <a:xfrm>
            <a:off x="1376240" y="2090626"/>
            <a:ext cx="0" cy="330398"/>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2419105" y="1782849"/>
            <a:ext cx="1228970" cy="307777"/>
          </a:xfrm>
          <a:prstGeom prst="rect">
            <a:avLst/>
          </a:prstGeom>
          <a:solidFill>
            <a:schemeClr val="accent4">
              <a:lumMod val="20000"/>
              <a:lumOff val="80000"/>
            </a:schemeClr>
          </a:solidFill>
          <a:ln>
            <a:solidFill>
              <a:schemeClr val="bg1">
                <a:lumMod val="50000"/>
              </a:schemeClr>
            </a:solidFill>
          </a:ln>
        </p:spPr>
        <p:txBody>
          <a:bodyPr wrap="square" rtlCol="0">
            <a:noAutofit/>
          </a:bodyPr>
          <a:lstStyle/>
          <a:p>
            <a:pPr algn="ctr"/>
            <a:r>
              <a:rPr lang="en-US" altLang="ko-KR" sz="1200" dirty="0"/>
              <a:t>A </a:t>
            </a:r>
            <a:r>
              <a:rPr lang="ko-KR" altLang="en-US" sz="1200" dirty="0"/>
              <a:t>한국출원</a:t>
            </a:r>
            <a:r>
              <a:rPr lang="en-US" altLang="ko-KR" sz="1200" dirty="0"/>
              <a:t>(Y)</a:t>
            </a:r>
            <a:endParaRPr lang="ko-KR" altLang="en-US" sz="1200" dirty="0"/>
          </a:p>
        </p:txBody>
      </p:sp>
      <p:cxnSp>
        <p:nvCxnSpPr>
          <p:cNvPr id="22" name="직선 화살표 연결선 21"/>
          <p:cNvCxnSpPr>
            <a:stCxn id="21" idx="2"/>
          </p:cNvCxnSpPr>
          <p:nvPr/>
        </p:nvCxnSpPr>
        <p:spPr>
          <a:xfrm>
            <a:off x="3033590" y="2090626"/>
            <a:ext cx="0" cy="330398"/>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2419105" y="1475072"/>
            <a:ext cx="1228970" cy="307777"/>
          </a:xfrm>
          <a:prstGeom prst="rect">
            <a:avLst/>
          </a:prstGeom>
          <a:solidFill>
            <a:schemeClr val="accent4">
              <a:lumMod val="20000"/>
              <a:lumOff val="80000"/>
            </a:schemeClr>
          </a:solidFill>
          <a:ln>
            <a:solidFill>
              <a:schemeClr val="bg1">
                <a:lumMod val="50000"/>
              </a:schemeClr>
            </a:solidFill>
          </a:ln>
        </p:spPr>
        <p:txBody>
          <a:bodyPr wrap="square" rtlCol="0">
            <a:noAutofit/>
          </a:bodyPr>
          <a:lstStyle/>
          <a:p>
            <a:pPr algn="ctr"/>
            <a:r>
              <a:rPr lang="ko-KR" altLang="en-US" sz="1200" dirty="0"/>
              <a:t>조약우선권주장</a:t>
            </a:r>
          </a:p>
        </p:txBody>
      </p:sp>
      <p:sp>
        <p:nvSpPr>
          <p:cNvPr id="24" name="TextBox 23"/>
          <p:cNvSpPr txBox="1"/>
          <p:nvPr/>
        </p:nvSpPr>
        <p:spPr>
          <a:xfrm>
            <a:off x="5783853" y="1782849"/>
            <a:ext cx="1228970" cy="307777"/>
          </a:xfrm>
          <a:prstGeom prst="rect">
            <a:avLst/>
          </a:prstGeom>
          <a:solidFill>
            <a:schemeClr val="accent4">
              <a:lumMod val="20000"/>
              <a:lumOff val="80000"/>
            </a:schemeClr>
          </a:solidFill>
          <a:ln>
            <a:solidFill>
              <a:schemeClr val="bg1">
                <a:lumMod val="50000"/>
              </a:schemeClr>
            </a:solidFill>
          </a:ln>
        </p:spPr>
        <p:txBody>
          <a:bodyPr wrap="square" rtlCol="0">
            <a:noAutofit/>
          </a:bodyPr>
          <a:lstStyle/>
          <a:p>
            <a:pPr algn="ctr"/>
            <a:r>
              <a:rPr lang="en-US" altLang="ko-KR" sz="1200" dirty="0"/>
              <a:t>A </a:t>
            </a:r>
            <a:r>
              <a:rPr lang="ko-KR" altLang="en-US" sz="1200" dirty="0"/>
              <a:t>한국등록</a:t>
            </a:r>
            <a:r>
              <a:rPr lang="en-US" altLang="ko-KR" sz="1200" dirty="0"/>
              <a:t>(Y)</a:t>
            </a:r>
            <a:endParaRPr lang="ko-KR" altLang="en-US" sz="1200" dirty="0"/>
          </a:p>
        </p:txBody>
      </p:sp>
      <p:cxnSp>
        <p:nvCxnSpPr>
          <p:cNvPr id="25" name="직선 화살표 연결선 24"/>
          <p:cNvCxnSpPr>
            <a:stCxn id="24" idx="2"/>
          </p:cNvCxnSpPr>
          <p:nvPr/>
        </p:nvCxnSpPr>
        <p:spPr>
          <a:xfrm>
            <a:off x="6398338" y="2090626"/>
            <a:ext cx="0" cy="330398"/>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자유형 26"/>
          <p:cNvSpPr/>
          <p:nvPr/>
        </p:nvSpPr>
        <p:spPr>
          <a:xfrm>
            <a:off x="4733925" y="1419225"/>
            <a:ext cx="6543675" cy="1000125"/>
          </a:xfrm>
          <a:custGeom>
            <a:avLst/>
            <a:gdLst>
              <a:gd name="connsiteX0" fmla="*/ 0 w 6543675"/>
              <a:gd name="connsiteY0" fmla="*/ 1000125 h 1000125"/>
              <a:gd name="connsiteX1" fmla="*/ 0 w 6543675"/>
              <a:gd name="connsiteY1" fmla="*/ 0 h 1000125"/>
              <a:gd name="connsiteX2" fmla="*/ 209550 w 6543675"/>
              <a:gd name="connsiteY2" fmla="*/ 0 h 1000125"/>
              <a:gd name="connsiteX3" fmla="*/ 6543675 w 6543675"/>
              <a:gd name="connsiteY3" fmla="*/ 0 h 1000125"/>
            </a:gdLst>
            <a:ahLst/>
            <a:cxnLst>
              <a:cxn ang="0">
                <a:pos x="connsiteX0" y="connsiteY0"/>
              </a:cxn>
              <a:cxn ang="0">
                <a:pos x="connsiteX1" y="connsiteY1"/>
              </a:cxn>
              <a:cxn ang="0">
                <a:pos x="connsiteX2" y="connsiteY2"/>
              </a:cxn>
              <a:cxn ang="0">
                <a:pos x="connsiteX3" y="connsiteY3"/>
              </a:cxn>
            </a:cxnLst>
            <a:rect l="l" t="t" r="r" b="b"/>
            <a:pathLst>
              <a:path w="6543675" h="1000125">
                <a:moveTo>
                  <a:pt x="0" y="1000125"/>
                </a:moveTo>
                <a:lnTo>
                  <a:pt x="0" y="0"/>
                </a:lnTo>
                <a:lnTo>
                  <a:pt x="209550" y="0"/>
                </a:lnTo>
                <a:lnTo>
                  <a:pt x="6543675" y="0"/>
                </a:lnTo>
              </a:path>
            </a:pathLst>
          </a:cu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9" name="TextBox 28"/>
          <p:cNvSpPr txBox="1"/>
          <p:nvPr/>
        </p:nvSpPr>
        <p:spPr>
          <a:xfrm>
            <a:off x="7012823" y="1111448"/>
            <a:ext cx="1228970" cy="307777"/>
          </a:xfrm>
          <a:prstGeom prst="rect">
            <a:avLst/>
          </a:prstGeom>
          <a:noFill/>
          <a:ln>
            <a:noFill/>
          </a:ln>
        </p:spPr>
        <p:txBody>
          <a:bodyPr wrap="square" rtlCol="0">
            <a:noAutofit/>
          </a:bodyPr>
          <a:lstStyle/>
          <a:p>
            <a:pPr algn="ctr"/>
            <a:r>
              <a:rPr lang="en-US" altLang="ko-KR" sz="1200" dirty="0"/>
              <a:t>A </a:t>
            </a:r>
            <a:r>
              <a:rPr lang="ko-KR" altLang="en-US" sz="1200" dirty="0" err="1"/>
              <a:t>불실시</a:t>
            </a:r>
            <a:endParaRPr lang="ko-KR" altLang="en-US" sz="1200" dirty="0"/>
          </a:p>
        </p:txBody>
      </p:sp>
      <p:sp>
        <p:nvSpPr>
          <p:cNvPr id="31" name="TextBox 30"/>
          <p:cNvSpPr txBox="1"/>
          <p:nvPr/>
        </p:nvSpPr>
        <p:spPr>
          <a:xfrm>
            <a:off x="4581525" y="3197423"/>
            <a:ext cx="1504950" cy="307777"/>
          </a:xfrm>
          <a:prstGeom prst="rect">
            <a:avLst/>
          </a:prstGeom>
          <a:noFill/>
          <a:ln>
            <a:noFill/>
          </a:ln>
        </p:spPr>
        <p:txBody>
          <a:bodyPr wrap="square" rtlCol="0">
            <a:noAutofit/>
          </a:bodyPr>
          <a:lstStyle/>
          <a:p>
            <a:pPr algn="ctr"/>
            <a:r>
              <a:rPr lang="ko-KR" altLang="en-US" sz="1400"/>
              <a:t>출원일로부터 </a:t>
            </a:r>
            <a:r>
              <a:rPr lang="en-US" altLang="ko-KR" sz="1400" dirty="0"/>
              <a:t>4</a:t>
            </a:r>
            <a:r>
              <a:rPr lang="ko-KR" altLang="en-US" sz="1400" dirty="0"/>
              <a:t>년</a:t>
            </a:r>
          </a:p>
        </p:txBody>
      </p:sp>
      <p:sp>
        <p:nvSpPr>
          <p:cNvPr id="33" name="TextBox 32"/>
          <p:cNvSpPr txBox="1"/>
          <p:nvPr/>
        </p:nvSpPr>
        <p:spPr>
          <a:xfrm>
            <a:off x="6684824" y="3524250"/>
            <a:ext cx="2999638" cy="307777"/>
          </a:xfrm>
          <a:prstGeom prst="rect">
            <a:avLst/>
          </a:prstGeom>
          <a:noFill/>
          <a:ln>
            <a:noFill/>
          </a:ln>
        </p:spPr>
        <p:txBody>
          <a:bodyPr wrap="square" rtlCol="0">
            <a:noAutofit/>
          </a:bodyPr>
          <a:lstStyle/>
          <a:p>
            <a:pPr algn="ctr"/>
            <a:r>
              <a:rPr lang="ko-KR" altLang="en-US" sz="1400" dirty="0"/>
              <a:t>특허발명을 계속하여 </a:t>
            </a:r>
            <a:r>
              <a:rPr lang="en-US" altLang="ko-KR" sz="1400" dirty="0"/>
              <a:t>3</a:t>
            </a:r>
            <a:r>
              <a:rPr lang="ko-KR" altLang="en-US" sz="1400" dirty="0"/>
              <a:t>년 이상 </a:t>
            </a:r>
            <a:r>
              <a:rPr lang="ko-KR" altLang="en-US" sz="1400" dirty="0" err="1"/>
              <a:t>불실시</a:t>
            </a:r>
            <a:endParaRPr lang="ko-KR" altLang="en-US" sz="1400" dirty="0"/>
          </a:p>
        </p:txBody>
      </p:sp>
      <p:sp>
        <p:nvSpPr>
          <p:cNvPr id="35" name="직사각형 34"/>
          <p:cNvSpPr/>
          <p:nvPr/>
        </p:nvSpPr>
        <p:spPr>
          <a:xfrm>
            <a:off x="11458575" y="2255825"/>
            <a:ext cx="457200" cy="11827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6" name="직사각형 35"/>
          <p:cNvSpPr/>
          <p:nvPr/>
        </p:nvSpPr>
        <p:spPr>
          <a:xfrm>
            <a:off x="2402205" y="4448816"/>
            <a:ext cx="795528" cy="385628"/>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err="1"/>
              <a:t>소급제도</a:t>
            </a:r>
            <a:endParaRPr lang="en-US" altLang="ko-KR" sz="1050" dirty="0"/>
          </a:p>
          <a:p>
            <a:pPr algn="ctr"/>
            <a:r>
              <a:rPr lang="en-US" altLang="ko-KR" sz="1050" dirty="0"/>
              <a:t>(6</a:t>
            </a:r>
            <a:r>
              <a:rPr lang="ko-KR" altLang="en-US" sz="1050" dirty="0"/>
              <a:t>가지</a:t>
            </a:r>
            <a:r>
              <a:rPr lang="en-US" altLang="ko-KR" sz="1050" dirty="0"/>
              <a:t>)</a:t>
            </a:r>
            <a:endParaRPr lang="ko-KR" altLang="en-US" sz="1050" dirty="0"/>
          </a:p>
        </p:txBody>
      </p:sp>
      <p:sp>
        <p:nvSpPr>
          <p:cNvPr id="37" name="직사각형 36"/>
          <p:cNvSpPr/>
          <p:nvPr/>
        </p:nvSpPr>
        <p:spPr>
          <a:xfrm>
            <a:off x="2402205" y="6082597"/>
            <a:ext cx="795528" cy="385628"/>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050" dirty="0">
                <a:solidFill>
                  <a:srgbClr val="FF0000"/>
                </a:solidFill>
              </a:rPr>
              <a:t>PCT</a:t>
            </a:r>
            <a:endParaRPr lang="ko-KR" altLang="en-US" sz="1050" dirty="0">
              <a:solidFill>
                <a:srgbClr val="FF0000"/>
              </a:solidFill>
            </a:endParaRPr>
          </a:p>
        </p:txBody>
      </p:sp>
      <p:sp>
        <p:nvSpPr>
          <p:cNvPr id="38" name="직사각형 37"/>
          <p:cNvSpPr/>
          <p:nvPr/>
        </p:nvSpPr>
        <p:spPr>
          <a:xfrm>
            <a:off x="3547877" y="3778447"/>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34</a:t>
            </a:r>
            <a:r>
              <a:rPr lang="ko-KR" altLang="en-US" sz="1050" dirty="0">
                <a:solidFill>
                  <a:schemeClr val="bg1">
                    <a:lumMod val="50000"/>
                  </a:schemeClr>
                </a:solidFill>
              </a:rPr>
              <a:t>조</a:t>
            </a:r>
            <a:r>
              <a:rPr lang="en-US" altLang="ko-KR" sz="1050" dirty="0">
                <a:solidFill>
                  <a:schemeClr val="bg1">
                    <a:lumMod val="50000"/>
                  </a:schemeClr>
                </a:solidFill>
              </a:rPr>
              <a:t>, </a:t>
            </a:r>
            <a:r>
              <a:rPr lang="ko-KR" altLang="en-US" sz="1050" dirty="0">
                <a:solidFill>
                  <a:schemeClr val="bg1">
                    <a:lumMod val="50000"/>
                  </a:schemeClr>
                </a:solidFill>
              </a:rPr>
              <a:t>제</a:t>
            </a:r>
            <a:r>
              <a:rPr lang="en-US" altLang="ko-KR" sz="1050" dirty="0">
                <a:solidFill>
                  <a:schemeClr val="bg1">
                    <a:lumMod val="50000"/>
                  </a:schemeClr>
                </a:solidFill>
              </a:rPr>
              <a:t>35</a:t>
            </a:r>
            <a:r>
              <a:rPr lang="ko-KR" altLang="en-US" sz="1050" dirty="0">
                <a:solidFill>
                  <a:schemeClr val="bg1">
                    <a:lumMod val="50000"/>
                  </a:schemeClr>
                </a:solidFill>
              </a:rPr>
              <a:t>조</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ko-KR" altLang="en-US" sz="1050" dirty="0">
                <a:solidFill>
                  <a:schemeClr val="bg1">
                    <a:lumMod val="50000"/>
                  </a:schemeClr>
                </a:solidFill>
              </a:rPr>
              <a:t>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39" name="직사각형 38"/>
          <p:cNvSpPr/>
          <p:nvPr/>
        </p:nvSpPr>
        <p:spPr>
          <a:xfrm>
            <a:off x="3547877" y="4516738"/>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52</a:t>
            </a:r>
            <a:r>
              <a:rPr lang="ko-KR" altLang="en-US" sz="1050" dirty="0">
                <a:solidFill>
                  <a:schemeClr val="bg1">
                    <a:lumMod val="50000"/>
                  </a:schemeClr>
                </a:solidFill>
              </a:rPr>
              <a:t>조</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ko-KR" altLang="en-US" sz="1050" dirty="0" err="1">
                <a:solidFill>
                  <a:schemeClr val="bg1">
                    <a:lumMod val="50000"/>
                  </a:schemeClr>
                </a:solidFill>
              </a:rPr>
              <a:t>확공조국등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40" name="직사각형 39"/>
          <p:cNvSpPr/>
          <p:nvPr/>
        </p:nvSpPr>
        <p:spPr>
          <a:xfrm>
            <a:off x="3547877" y="5257516"/>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53</a:t>
            </a:r>
            <a:r>
              <a:rPr lang="ko-KR" altLang="en-US" sz="1050" dirty="0">
                <a:solidFill>
                  <a:schemeClr val="bg1">
                    <a:lumMod val="50000"/>
                  </a:schemeClr>
                </a:solidFill>
              </a:rPr>
              <a:t>조</a:t>
            </a:r>
            <a:endParaRPr lang="en-US" altLang="ko-KR" sz="1050" dirty="0">
              <a:solidFill>
                <a:schemeClr val="bg1">
                  <a:lumMod val="50000"/>
                </a:schemeClr>
              </a:solidFill>
            </a:endParaRPr>
          </a:p>
          <a:p>
            <a:pPr algn="ctr"/>
            <a:r>
              <a:rPr lang="en-US" altLang="ko-KR" sz="1050" dirty="0">
                <a:solidFill>
                  <a:schemeClr val="bg1">
                    <a:lumMod val="50000"/>
                  </a:schemeClr>
                </a:solidFill>
              </a:rPr>
              <a:t>(</a:t>
            </a:r>
            <a:r>
              <a:rPr lang="ko-KR" altLang="en-US" sz="1050" dirty="0" err="1">
                <a:solidFill>
                  <a:schemeClr val="bg1">
                    <a:lumMod val="50000"/>
                  </a:schemeClr>
                </a:solidFill>
              </a:rPr>
              <a:t>확공조국등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41" name="직사각형 40"/>
          <p:cNvSpPr/>
          <p:nvPr/>
        </p:nvSpPr>
        <p:spPr>
          <a:xfrm>
            <a:off x="3547877" y="4145412"/>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47</a:t>
            </a:r>
            <a:r>
              <a:rPr lang="ko-KR" altLang="en-US" sz="1050" dirty="0">
                <a:solidFill>
                  <a:schemeClr val="bg1">
                    <a:lumMod val="50000"/>
                  </a:schemeClr>
                </a:solidFill>
              </a:rPr>
              <a:t>조</a:t>
            </a:r>
            <a:r>
              <a:rPr lang="en-US" altLang="ko-KR" sz="1050" dirty="0">
                <a:solidFill>
                  <a:schemeClr val="bg1">
                    <a:lumMod val="50000"/>
                  </a:schemeClr>
                </a:solidFill>
              </a:rPr>
              <a:t>, </a:t>
            </a:r>
            <a:r>
              <a:rPr lang="ko-KR" altLang="en-US" sz="1050" dirty="0">
                <a:solidFill>
                  <a:schemeClr val="bg1">
                    <a:lumMod val="50000"/>
                  </a:schemeClr>
                </a:solidFill>
              </a:rPr>
              <a:t>제</a:t>
            </a:r>
            <a:r>
              <a:rPr lang="en-US" altLang="ko-KR" sz="1050" dirty="0">
                <a:solidFill>
                  <a:schemeClr val="bg1">
                    <a:lumMod val="50000"/>
                  </a:schemeClr>
                </a:solidFill>
              </a:rPr>
              <a:t>51</a:t>
            </a:r>
            <a:r>
              <a:rPr lang="ko-KR" altLang="en-US" sz="1050" dirty="0">
                <a:solidFill>
                  <a:schemeClr val="bg1">
                    <a:lumMod val="50000"/>
                  </a:schemeClr>
                </a:solidFill>
              </a:rPr>
              <a:t>조</a:t>
            </a:r>
          </a:p>
        </p:txBody>
      </p:sp>
      <p:sp>
        <p:nvSpPr>
          <p:cNvPr id="42" name="직사각형 41"/>
          <p:cNvSpPr/>
          <p:nvPr/>
        </p:nvSpPr>
        <p:spPr>
          <a:xfrm>
            <a:off x="3547877" y="5637798"/>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rgbClr val="FF0000"/>
                </a:solidFill>
              </a:rPr>
              <a:t>제</a:t>
            </a:r>
            <a:r>
              <a:rPr lang="en-US" altLang="ko-KR" sz="1050" dirty="0">
                <a:solidFill>
                  <a:srgbClr val="FF0000"/>
                </a:solidFill>
              </a:rPr>
              <a:t>54</a:t>
            </a:r>
            <a:r>
              <a:rPr lang="ko-KR" altLang="en-US" sz="1050" dirty="0">
                <a:solidFill>
                  <a:srgbClr val="FF0000"/>
                </a:solidFill>
              </a:rPr>
              <a:t>조</a:t>
            </a:r>
            <a:endParaRPr lang="en-US" altLang="ko-KR" sz="1050" dirty="0">
              <a:solidFill>
                <a:srgbClr val="FF0000"/>
              </a:solidFill>
            </a:endParaRPr>
          </a:p>
          <a:p>
            <a:pPr algn="ctr"/>
            <a:r>
              <a:rPr lang="en-US" altLang="ko-KR" sz="1050" dirty="0">
                <a:solidFill>
                  <a:schemeClr val="bg1">
                    <a:lumMod val="50000"/>
                  </a:schemeClr>
                </a:solidFill>
              </a:rPr>
              <a:t>(</a:t>
            </a:r>
            <a:r>
              <a:rPr lang="ko-KR" altLang="en-US" sz="1050" b="1" dirty="0" err="1">
                <a:solidFill>
                  <a:schemeClr val="bg1">
                    <a:lumMod val="50000"/>
                  </a:schemeClr>
                </a:solidFill>
              </a:rPr>
              <a:t>심</a:t>
            </a:r>
            <a:r>
              <a:rPr lang="ko-KR" altLang="en-US" sz="1050" dirty="0" err="1">
                <a:solidFill>
                  <a:schemeClr val="bg1">
                    <a:lumMod val="50000"/>
                  </a:schemeClr>
                </a:solidFill>
              </a:rPr>
              <a:t>공존</a:t>
            </a:r>
            <a:r>
              <a:rPr lang="ko-KR" altLang="en-US" sz="1050" dirty="0" err="1">
                <a:solidFill>
                  <a:srgbClr val="FF0000"/>
                </a:solidFill>
              </a:rPr>
              <a:t>재</a:t>
            </a:r>
            <a:r>
              <a:rPr lang="ko-KR" altLang="en-US" sz="1050" dirty="0" err="1">
                <a:solidFill>
                  <a:schemeClr val="bg1">
                    <a:lumMod val="50000"/>
                  </a:schemeClr>
                </a:solidFill>
              </a:rPr>
              <a:t>등</a:t>
            </a:r>
            <a:r>
              <a:rPr lang="en-US" altLang="ko-KR" sz="1050" dirty="0">
                <a:solidFill>
                  <a:schemeClr val="bg1">
                    <a:lumMod val="50000"/>
                  </a:schemeClr>
                </a:solidFill>
              </a:rPr>
              <a:t>)</a:t>
            </a:r>
            <a:endParaRPr lang="ko-KR" altLang="en-US" sz="1050" dirty="0">
              <a:solidFill>
                <a:schemeClr val="bg1">
                  <a:lumMod val="50000"/>
                </a:schemeClr>
              </a:solidFill>
            </a:endParaRPr>
          </a:p>
        </p:txBody>
      </p:sp>
      <p:sp>
        <p:nvSpPr>
          <p:cNvPr id="43" name="직사각형 42"/>
          <p:cNvSpPr/>
          <p:nvPr/>
        </p:nvSpPr>
        <p:spPr>
          <a:xfrm>
            <a:off x="3547877" y="6009124"/>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rgbClr val="FF0000"/>
                </a:solidFill>
              </a:rPr>
              <a:t>제</a:t>
            </a:r>
            <a:r>
              <a:rPr lang="en-US" altLang="ko-KR" sz="1050" dirty="0">
                <a:solidFill>
                  <a:srgbClr val="FF0000"/>
                </a:solidFill>
              </a:rPr>
              <a:t>55</a:t>
            </a:r>
            <a:r>
              <a:rPr lang="ko-KR" altLang="en-US" sz="1050" dirty="0">
                <a:solidFill>
                  <a:srgbClr val="FF0000"/>
                </a:solidFill>
              </a:rPr>
              <a:t>조</a:t>
            </a:r>
            <a:r>
              <a:rPr lang="en-US" altLang="ko-KR" sz="1050" dirty="0">
                <a:solidFill>
                  <a:srgbClr val="FF0000"/>
                </a:solidFill>
              </a:rPr>
              <a:t>, </a:t>
            </a:r>
            <a:r>
              <a:rPr lang="ko-KR" altLang="en-US" sz="1050" dirty="0">
                <a:solidFill>
                  <a:srgbClr val="FF0000"/>
                </a:solidFill>
              </a:rPr>
              <a:t>제</a:t>
            </a:r>
            <a:r>
              <a:rPr lang="en-US" altLang="ko-KR" sz="1050" dirty="0">
                <a:solidFill>
                  <a:srgbClr val="FF0000"/>
                </a:solidFill>
              </a:rPr>
              <a:t>56</a:t>
            </a:r>
            <a:r>
              <a:rPr lang="ko-KR" altLang="en-US" sz="1050" dirty="0">
                <a:solidFill>
                  <a:srgbClr val="FF0000"/>
                </a:solidFill>
              </a:rPr>
              <a:t>조</a:t>
            </a:r>
            <a:endParaRPr lang="en-US" altLang="ko-KR" sz="1050" dirty="0">
              <a:solidFill>
                <a:srgbClr val="FF0000"/>
              </a:solidFill>
            </a:endParaRPr>
          </a:p>
          <a:p>
            <a:pPr algn="ctr"/>
            <a:r>
              <a:rPr lang="en-US" altLang="ko-KR" sz="1050" dirty="0">
                <a:solidFill>
                  <a:schemeClr val="bg1">
                    <a:lumMod val="50000"/>
                  </a:schemeClr>
                </a:solidFill>
              </a:rPr>
              <a:t>(</a:t>
            </a:r>
            <a:r>
              <a:rPr lang="ko-KR" altLang="en-US" sz="1050" b="1" dirty="0">
                <a:solidFill>
                  <a:schemeClr val="bg1">
                    <a:lumMod val="50000"/>
                  </a:schemeClr>
                </a:solidFill>
              </a:rPr>
              <a:t>심</a:t>
            </a:r>
            <a:r>
              <a:rPr lang="ko-KR" altLang="en-US" sz="1050" dirty="0">
                <a:solidFill>
                  <a:schemeClr val="bg1">
                    <a:lumMod val="50000"/>
                  </a:schemeClr>
                </a:solidFill>
              </a:rPr>
              <a:t>공존</a:t>
            </a:r>
            <a:r>
              <a:rPr lang="ko-KR" altLang="en-US" sz="1050" dirty="0">
                <a:solidFill>
                  <a:srgbClr val="FF0000"/>
                </a:solidFill>
              </a:rPr>
              <a:t>재</a:t>
            </a:r>
            <a:r>
              <a:rPr lang="ko-KR" altLang="en-US" sz="1050" dirty="0">
                <a:solidFill>
                  <a:schemeClr val="bg1">
                    <a:lumMod val="50000"/>
                  </a:schemeClr>
                </a:solidFill>
              </a:rPr>
              <a:t>등이</a:t>
            </a:r>
            <a:r>
              <a:rPr lang="en-US" altLang="ko-KR" sz="1050" dirty="0">
                <a:solidFill>
                  <a:schemeClr val="bg1">
                    <a:lumMod val="50000"/>
                  </a:schemeClr>
                </a:solidFill>
              </a:rPr>
              <a:t>)</a:t>
            </a:r>
            <a:endParaRPr lang="ko-KR" altLang="en-US" sz="1050" dirty="0">
              <a:solidFill>
                <a:schemeClr val="bg1">
                  <a:lumMod val="50000"/>
                </a:schemeClr>
              </a:solidFill>
            </a:endParaRPr>
          </a:p>
        </p:txBody>
      </p:sp>
      <p:cxnSp>
        <p:nvCxnSpPr>
          <p:cNvPr id="44" name="꺾인 연결선 43"/>
          <p:cNvCxnSpPr>
            <a:stCxn id="36" idx="3"/>
            <a:endCxn id="38" idx="1"/>
          </p:cNvCxnSpPr>
          <p:nvPr/>
        </p:nvCxnSpPr>
        <p:spPr>
          <a:xfrm flipV="1">
            <a:off x="3197733" y="3944823"/>
            <a:ext cx="350144" cy="69680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36" idx="3"/>
            <a:endCxn id="43" idx="1"/>
          </p:cNvCxnSpPr>
          <p:nvPr/>
        </p:nvCxnSpPr>
        <p:spPr>
          <a:xfrm>
            <a:off x="3197733" y="4641630"/>
            <a:ext cx="350144" cy="15338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36" idx="3"/>
            <a:endCxn id="41" idx="1"/>
          </p:cNvCxnSpPr>
          <p:nvPr/>
        </p:nvCxnSpPr>
        <p:spPr>
          <a:xfrm flipV="1">
            <a:off x="3197733" y="4311788"/>
            <a:ext cx="350144" cy="32984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36" idx="3"/>
            <a:endCxn id="42" idx="1"/>
          </p:cNvCxnSpPr>
          <p:nvPr/>
        </p:nvCxnSpPr>
        <p:spPr>
          <a:xfrm>
            <a:off x="3197733" y="4641630"/>
            <a:ext cx="350144" cy="116254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36" idx="3"/>
            <a:endCxn id="39" idx="1"/>
          </p:cNvCxnSpPr>
          <p:nvPr/>
        </p:nvCxnSpPr>
        <p:spPr>
          <a:xfrm>
            <a:off x="3197733" y="4641630"/>
            <a:ext cx="350144" cy="4148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꺾인 연결선 48"/>
          <p:cNvCxnSpPr>
            <a:stCxn id="36" idx="3"/>
            <a:endCxn id="40" idx="1"/>
          </p:cNvCxnSpPr>
          <p:nvPr/>
        </p:nvCxnSpPr>
        <p:spPr>
          <a:xfrm>
            <a:off x="3197733" y="4641630"/>
            <a:ext cx="350144" cy="78226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꺾인 연결선 49"/>
          <p:cNvCxnSpPr>
            <a:stCxn id="36" idx="1"/>
            <a:endCxn id="37" idx="1"/>
          </p:cNvCxnSpPr>
          <p:nvPr/>
        </p:nvCxnSpPr>
        <p:spPr>
          <a:xfrm rot="10800000" flipV="1">
            <a:off x="2402205" y="4641630"/>
            <a:ext cx="12700" cy="1633781"/>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직선 연결선 51"/>
          <p:cNvCxnSpPr/>
          <p:nvPr/>
        </p:nvCxnSpPr>
        <p:spPr>
          <a:xfrm>
            <a:off x="4719515" y="3505200"/>
            <a:ext cx="443035" cy="0"/>
          </a:xfrm>
          <a:prstGeom prst="line">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3" name="자유형 52"/>
          <p:cNvSpPr/>
          <p:nvPr/>
        </p:nvSpPr>
        <p:spPr>
          <a:xfrm>
            <a:off x="1714500" y="3495675"/>
            <a:ext cx="3209925" cy="1885950"/>
          </a:xfrm>
          <a:custGeom>
            <a:avLst/>
            <a:gdLst>
              <a:gd name="connsiteX0" fmla="*/ 3209925 w 3209925"/>
              <a:gd name="connsiteY0" fmla="*/ 0 h 1885950"/>
              <a:gd name="connsiteX1" fmla="*/ 3209925 w 3209925"/>
              <a:gd name="connsiteY1" fmla="*/ 180975 h 1885950"/>
              <a:gd name="connsiteX2" fmla="*/ 0 w 3209925"/>
              <a:gd name="connsiteY2" fmla="*/ 180975 h 1885950"/>
              <a:gd name="connsiteX3" fmla="*/ 9525 w 3209925"/>
              <a:gd name="connsiteY3" fmla="*/ 276225 h 1885950"/>
              <a:gd name="connsiteX4" fmla="*/ 9525 w 3209925"/>
              <a:gd name="connsiteY4" fmla="*/ 1885950 h 1885950"/>
              <a:gd name="connsiteX5" fmla="*/ 457200 w 3209925"/>
              <a:gd name="connsiteY5" fmla="*/ 1885950 h 188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925" h="1885950">
                <a:moveTo>
                  <a:pt x="3209925" y="0"/>
                </a:moveTo>
                <a:lnTo>
                  <a:pt x="3209925" y="180975"/>
                </a:lnTo>
                <a:lnTo>
                  <a:pt x="0" y="180975"/>
                </a:lnTo>
                <a:lnTo>
                  <a:pt x="9525" y="276225"/>
                </a:lnTo>
                <a:lnTo>
                  <a:pt x="9525" y="1885950"/>
                </a:lnTo>
                <a:lnTo>
                  <a:pt x="457200" y="1885950"/>
                </a:lnTo>
              </a:path>
            </a:pathLst>
          </a:cu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cxnSp>
        <p:nvCxnSpPr>
          <p:cNvPr id="54" name="직선 연결선 53"/>
          <p:cNvCxnSpPr/>
          <p:nvPr/>
        </p:nvCxnSpPr>
        <p:spPr>
          <a:xfrm>
            <a:off x="6791305" y="3832027"/>
            <a:ext cx="742970" cy="0"/>
          </a:xfrm>
          <a:prstGeom prst="line">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6398338" y="4729173"/>
            <a:ext cx="4373206" cy="307777"/>
          </a:xfrm>
          <a:prstGeom prst="rect">
            <a:avLst/>
          </a:prstGeom>
          <a:noFill/>
          <a:ln>
            <a:solidFill>
              <a:schemeClr val="bg1">
                <a:lumMod val="50000"/>
              </a:schemeClr>
            </a:solidFill>
          </a:ln>
        </p:spPr>
        <p:txBody>
          <a:bodyPr wrap="square" rtlCol="0" anchor="ctr">
            <a:noAutofit/>
          </a:bodyPr>
          <a:lstStyle/>
          <a:p>
            <a:pPr algn="ctr"/>
            <a:r>
              <a:rPr lang="ko-KR" altLang="en-US" sz="1200" dirty="0"/>
              <a:t>특허를 받은 발명이기 때문에 등록된 후의 발명을 의미</a:t>
            </a:r>
          </a:p>
        </p:txBody>
      </p:sp>
      <p:cxnSp>
        <p:nvCxnSpPr>
          <p:cNvPr id="58" name="직선 연결선 57"/>
          <p:cNvCxnSpPr/>
          <p:nvPr/>
        </p:nvCxnSpPr>
        <p:spPr>
          <a:xfrm flipV="1">
            <a:off x="7162790" y="3832027"/>
            <a:ext cx="0" cy="897146"/>
          </a:xfrm>
          <a:prstGeom prst="line">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419</a:t>
            </a:r>
            <a:endParaRPr lang="ko-KR" altLang="en-US"/>
          </a:p>
        </p:txBody>
      </p:sp>
      <p:sp>
        <p:nvSpPr>
          <p:cNvPr id="51" name="직사각형 50">
            <a:extLst>
              <a:ext uri="{FF2B5EF4-FFF2-40B4-BE49-F238E27FC236}">
                <a16:creationId xmlns:a16="http://schemas.microsoft.com/office/drawing/2014/main" id="{4CAF2810-441E-4004-83FC-87A43B53CEB6}"/>
              </a:ext>
            </a:extLst>
          </p:cNvPr>
          <p:cNvSpPr/>
          <p:nvPr/>
        </p:nvSpPr>
        <p:spPr>
          <a:xfrm>
            <a:off x="3547877" y="4889211"/>
            <a:ext cx="1186048" cy="33275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bg1">
                    <a:lumMod val="50000"/>
                  </a:schemeClr>
                </a:solidFill>
              </a:rPr>
              <a:t>제</a:t>
            </a:r>
            <a:r>
              <a:rPr lang="en-US" altLang="ko-KR" sz="1050" dirty="0">
                <a:solidFill>
                  <a:schemeClr val="bg1">
                    <a:lumMod val="50000"/>
                  </a:schemeClr>
                </a:solidFill>
              </a:rPr>
              <a:t>52</a:t>
            </a:r>
            <a:r>
              <a:rPr lang="ko-KR" altLang="en-US" sz="1050" dirty="0">
                <a:solidFill>
                  <a:schemeClr val="bg1">
                    <a:lumMod val="50000"/>
                  </a:schemeClr>
                </a:solidFill>
              </a:rPr>
              <a:t>조의</a:t>
            </a:r>
            <a:r>
              <a:rPr lang="en-US" altLang="ko-KR" sz="1050" dirty="0">
                <a:solidFill>
                  <a:schemeClr val="bg1">
                    <a:lumMod val="50000"/>
                  </a:schemeClr>
                </a:solidFill>
              </a:rPr>
              <a:t>2</a:t>
            </a:r>
          </a:p>
          <a:p>
            <a:pPr algn="ctr"/>
            <a:r>
              <a:rPr lang="en-US" altLang="ko-KR" sz="1050" dirty="0">
                <a:solidFill>
                  <a:schemeClr val="bg1">
                    <a:lumMod val="50000"/>
                  </a:schemeClr>
                </a:solidFill>
              </a:rPr>
              <a:t>(</a:t>
            </a:r>
            <a:r>
              <a:rPr lang="ko-KR" altLang="en-US" sz="1050" dirty="0" err="1">
                <a:solidFill>
                  <a:schemeClr val="bg1">
                    <a:lumMod val="50000"/>
                  </a:schemeClr>
                </a:solidFill>
              </a:rPr>
              <a:t>확공조국등</a:t>
            </a:r>
            <a:r>
              <a:rPr lang="en-US" altLang="ko-KR" sz="1050" dirty="0">
                <a:solidFill>
                  <a:schemeClr val="bg1">
                    <a:lumMod val="50000"/>
                  </a:schemeClr>
                </a:solidFill>
              </a:rPr>
              <a:t>)</a:t>
            </a:r>
            <a:endParaRPr lang="ko-KR" altLang="en-US" sz="1050" dirty="0">
              <a:solidFill>
                <a:schemeClr val="bg1">
                  <a:lumMod val="50000"/>
                </a:schemeClr>
              </a:solidFill>
            </a:endParaRPr>
          </a:p>
        </p:txBody>
      </p:sp>
      <p:cxnSp>
        <p:nvCxnSpPr>
          <p:cNvPr id="55" name="꺾인 연결선 48">
            <a:extLst>
              <a:ext uri="{FF2B5EF4-FFF2-40B4-BE49-F238E27FC236}">
                <a16:creationId xmlns:a16="http://schemas.microsoft.com/office/drawing/2014/main" id="{EA10574B-A6EF-48F3-B8FA-31047A92E308}"/>
              </a:ext>
            </a:extLst>
          </p:cNvPr>
          <p:cNvCxnSpPr>
            <a:cxnSpLocks/>
            <a:stCxn id="36" idx="3"/>
            <a:endCxn id="51" idx="1"/>
          </p:cNvCxnSpPr>
          <p:nvPr/>
        </p:nvCxnSpPr>
        <p:spPr>
          <a:xfrm>
            <a:off x="3197733" y="4641630"/>
            <a:ext cx="350144" cy="413957"/>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7599562"/>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107</a:t>
            </a:r>
            <a:r>
              <a:rPr lang="ko-KR" altLang="en-US" dirty="0"/>
              <a:t>조</a:t>
            </a:r>
            <a:r>
              <a:rPr lang="en-US" altLang="ko-KR" dirty="0"/>
              <a:t>~</a:t>
            </a:r>
            <a:r>
              <a:rPr lang="ko-KR" altLang="en-US" dirty="0"/>
              <a:t>제</a:t>
            </a:r>
            <a:r>
              <a:rPr lang="en-US" altLang="ko-KR" dirty="0"/>
              <a:t>115</a:t>
            </a:r>
            <a:r>
              <a:rPr lang="ko-KR" altLang="en-US" dirty="0"/>
              <a:t>조</a:t>
            </a:r>
          </a:p>
        </p:txBody>
      </p:sp>
      <p:sp>
        <p:nvSpPr>
          <p:cNvPr id="5" name="텍스트 개체 틀 4"/>
          <p:cNvSpPr>
            <a:spLocks noGrp="1"/>
          </p:cNvSpPr>
          <p:nvPr>
            <p:ph type="body" sz="quarter" idx="13"/>
          </p:nvPr>
        </p:nvSpPr>
        <p:spPr/>
        <p:txBody>
          <a:bodyPr/>
          <a:lstStyle/>
          <a:p>
            <a:r>
              <a:rPr lang="ko-KR" altLang="en-US" dirty="0"/>
              <a:t>제</a:t>
            </a:r>
            <a:r>
              <a:rPr lang="en-US" altLang="ko-KR" dirty="0"/>
              <a:t>107</a:t>
            </a:r>
            <a:r>
              <a:rPr lang="ko-KR" altLang="en-US" dirty="0"/>
              <a:t>조제</a:t>
            </a:r>
            <a:r>
              <a:rPr lang="en-US" altLang="ko-KR" dirty="0"/>
              <a:t>1</a:t>
            </a:r>
            <a:r>
              <a:rPr lang="ko-KR" altLang="en-US" dirty="0" err="1"/>
              <a:t>항제</a:t>
            </a:r>
            <a:r>
              <a:rPr lang="en-US" altLang="ko-KR" dirty="0"/>
              <a:t>5</a:t>
            </a:r>
            <a:r>
              <a:rPr lang="ko-KR" altLang="en-US" dirty="0"/>
              <a:t>호</a:t>
            </a:r>
          </a:p>
        </p:txBody>
      </p:sp>
      <p:sp>
        <p:nvSpPr>
          <p:cNvPr id="3" name="모서리가 둥근 직사각형 2"/>
          <p:cNvSpPr/>
          <p:nvPr/>
        </p:nvSpPr>
        <p:spPr>
          <a:xfrm>
            <a:off x="971550" y="2009773"/>
            <a:ext cx="2590800" cy="1133477"/>
          </a:xfrm>
          <a:prstGeom prst="roundRect">
            <a:avLst>
              <a:gd name="adj" fmla="val 20956"/>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모서리가 둥근 직사각형 5"/>
          <p:cNvSpPr/>
          <p:nvPr/>
        </p:nvSpPr>
        <p:spPr>
          <a:xfrm>
            <a:off x="4524375" y="2009773"/>
            <a:ext cx="2590800" cy="1133477"/>
          </a:xfrm>
          <a:prstGeom prst="roundRect">
            <a:avLst>
              <a:gd name="adj" fmla="val 20956"/>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 name="TextBox 6"/>
          <p:cNvSpPr txBox="1"/>
          <p:nvPr/>
        </p:nvSpPr>
        <p:spPr>
          <a:xfrm>
            <a:off x="1804987" y="1822966"/>
            <a:ext cx="923925" cy="369332"/>
          </a:xfrm>
          <a:prstGeom prst="rect">
            <a:avLst/>
          </a:prstGeom>
          <a:solidFill>
            <a:schemeClr val="bg1"/>
          </a:solidFill>
          <a:ln>
            <a:solidFill>
              <a:schemeClr val="bg1">
                <a:lumMod val="50000"/>
              </a:schemeClr>
            </a:solidFill>
          </a:ln>
        </p:spPr>
        <p:txBody>
          <a:bodyPr wrap="square" rtlCol="0">
            <a:spAutoFit/>
          </a:bodyPr>
          <a:lstStyle/>
          <a:p>
            <a:pPr algn="ctr"/>
            <a:r>
              <a:rPr lang="ko-KR" altLang="en-US" dirty="0"/>
              <a:t>수출국</a:t>
            </a:r>
          </a:p>
        </p:txBody>
      </p:sp>
      <p:sp>
        <p:nvSpPr>
          <p:cNvPr id="8" name="TextBox 7"/>
          <p:cNvSpPr txBox="1"/>
          <p:nvPr/>
        </p:nvSpPr>
        <p:spPr>
          <a:xfrm>
            <a:off x="5357812" y="1836182"/>
            <a:ext cx="923925" cy="369332"/>
          </a:xfrm>
          <a:prstGeom prst="rect">
            <a:avLst/>
          </a:prstGeom>
          <a:solidFill>
            <a:schemeClr val="bg1"/>
          </a:solidFill>
          <a:ln>
            <a:solidFill>
              <a:schemeClr val="bg1">
                <a:lumMod val="50000"/>
              </a:schemeClr>
            </a:solidFill>
          </a:ln>
        </p:spPr>
        <p:txBody>
          <a:bodyPr wrap="square" rtlCol="0">
            <a:spAutoFit/>
          </a:bodyPr>
          <a:lstStyle/>
          <a:p>
            <a:pPr algn="ctr"/>
            <a:r>
              <a:rPr lang="ko-KR" altLang="en-US" dirty="0"/>
              <a:t>수입국</a:t>
            </a:r>
          </a:p>
        </p:txBody>
      </p:sp>
      <p:sp>
        <p:nvSpPr>
          <p:cNvPr id="10" name="모서리가 둥근 사각형 설명선 9"/>
          <p:cNvSpPr/>
          <p:nvPr/>
        </p:nvSpPr>
        <p:spPr>
          <a:xfrm>
            <a:off x="371475" y="1383268"/>
            <a:ext cx="1047749" cy="573048"/>
          </a:xfrm>
          <a:prstGeom prst="wedgeRoundRectCallout">
            <a:avLst>
              <a:gd name="adj1" fmla="val 30862"/>
              <a:gd name="adj2" fmla="val 69149"/>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甲 의약품</a:t>
            </a:r>
            <a:r>
              <a:rPr lang="en-US" altLang="ko-KR" sz="1200" dirty="0"/>
              <a:t>(A)</a:t>
            </a:r>
          </a:p>
          <a:p>
            <a:pPr algn="ctr"/>
            <a:r>
              <a:rPr lang="ko-KR" altLang="en-US" sz="1200" dirty="0" err="1"/>
              <a:t>특허권자</a:t>
            </a:r>
            <a:endParaRPr lang="ko-KR" altLang="en-US" sz="1200" dirty="0"/>
          </a:p>
        </p:txBody>
      </p:sp>
      <p:sp>
        <p:nvSpPr>
          <p:cNvPr id="11" name="모서리가 둥근 사각형 설명선 10"/>
          <p:cNvSpPr/>
          <p:nvPr/>
        </p:nvSpPr>
        <p:spPr>
          <a:xfrm>
            <a:off x="4000500" y="1383268"/>
            <a:ext cx="1047749" cy="573048"/>
          </a:xfrm>
          <a:prstGeom prst="wedgeRoundRectCallout">
            <a:avLst>
              <a:gd name="adj1" fmla="val 30862"/>
              <a:gd name="adj2" fmla="val 69149"/>
              <a:gd name="adj3" fmla="val 16667"/>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乙 의약품</a:t>
            </a:r>
            <a:r>
              <a:rPr lang="en-US" altLang="ko-KR" sz="1200" dirty="0"/>
              <a:t>(A)</a:t>
            </a:r>
          </a:p>
          <a:p>
            <a:pPr algn="ctr"/>
            <a:r>
              <a:rPr lang="ko-KR" altLang="en-US" sz="1200" dirty="0" err="1"/>
              <a:t>특허권자</a:t>
            </a:r>
            <a:endParaRPr lang="ko-KR" altLang="en-US" sz="1200" dirty="0"/>
          </a:p>
        </p:txBody>
      </p:sp>
      <p:sp>
        <p:nvSpPr>
          <p:cNvPr id="12" name="TextBox 11"/>
          <p:cNvSpPr txBox="1"/>
          <p:nvPr/>
        </p:nvSpPr>
        <p:spPr>
          <a:xfrm>
            <a:off x="1714554" y="2391845"/>
            <a:ext cx="1104790" cy="369332"/>
          </a:xfrm>
          <a:prstGeom prst="rect">
            <a:avLst/>
          </a:prstGeom>
          <a:noFill/>
        </p:spPr>
        <p:txBody>
          <a:bodyPr wrap="none" rtlCol="0">
            <a:spAutoFit/>
          </a:bodyPr>
          <a:lstStyle/>
          <a:p>
            <a:r>
              <a:rPr lang="ko-KR" altLang="en-US" dirty="0"/>
              <a:t>丙 </a:t>
            </a:r>
            <a:r>
              <a:rPr lang="en-US" altLang="ko-KR" dirty="0"/>
              <a:t>A </a:t>
            </a:r>
            <a:r>
              <a:rPr lang="ko-KR" altLang="en-US" dirty="0"/>
              <a:t>생산</a:t>
            </a:r>
          </a:p>
        </p:txBody>
      </p:sp>
      <p:cxnSp>
        <p:nvCxnSpPr>
          <p:cNvPr id="14" name="꺾인 연결선 13"/>
          <p:cNvCxnSpPr>
            <a:stCxn id="12" idx="2"/>
            <a:endCxn id="6" idx="2"/>
          </p:cNvCxnSpPr>
          <p:nvPr/>
        </p:nvCxnSpPr>
        <p:spPr>
          <a:xfrm rot="16200000" flipH="1">
            <a:off x="3852326" y="1175800"/>
            <a:ext cx="382073" cy="3552826"/>
          </a:xfrm>
          <a:prstGeom prst="bentConnector3">
            <a:avLst>
              <a:gd name="adj1" fmla="val 15983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3562350" y="3382445"/>
            <a:ext cx="1675459" cy="369332"/>
          </a:xfrm>
          <a:prstGeom prst="rect">
            <a:avLst/>
          </a:prstGeom>
          <a:noFill/>
        </p:spPr>
        <p:txBody>
          <a:bodyPr wrap="none" rtlCol="0">
            <a:spAutoFit/>
          </a:bodyPr>
          <a:lstStyle/>
          <a:p>
            <a:r>
              <a:rPr lang="ko-KR" altLang="en-US" dirty="0"/>
              <a:t>丙 </a:t>
            </a:r>
            <a:r>
              <a:rPr lang="en-US" altLang="ko-KR" dirty="0"/>
              <a:t>A </a:t>
            </a:r>
            <a:r>
              <a:rPr lang="ko-KR" altLang="en-US" dirty="0"/>
              <a:t>수출</a:t>
            </a:r>
            <a:r>
              <a:rPr lang="en-US" altLang="ko-KR" dirty="0"/>
              <a:t>(</a:t>
            </a:r>
            <a:r>
              <a:rPr lang="ko-KR" altLang="en-US" dirty="0"/>
              <a:t>수입</a:t>
            </a:r>
            <a:r>
              <a:rPr lang="en-US" altLang="ko-KR" dirty="0"/>
              <a:t>)</a:t>
            </a:r>
            <a:endParaRPr lang="ko-KR" altLang="en-US" dirty="0"/>
          </a:p>
        </p:txBody>
      </p:sp>
      <p:sp>
        <p:nvSpPr>
          <p:cNvPr id="17" name="직사각형 16"/>
          <p:cNvSpPr/>
          <p:nvPr/>
        </p:nvSpPr>
        <p:spPr>
          <a:xfrm>
            <a:off x="7258049" y="767833"/>
            <a:ext cx="4829175" cy="1624011"/>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base"/>
            <a:r>
              <a:rPr lang="en-US" altLang="ko-KR" sz="1200" dirty="0">
                <a:solidFill>
                  <a:schemeClr val="tx2"/>
                </a:solidFill>
              </a:rPr>
              <a:t>WTO </a:t>
            </a:r>
            <a:r>
              <a:rPr lang="ko-KR" altLang="en-US" sz="1200" dirty="0">
                <a:solidFill>
                  <a:schemeClr val="tx2"/>
                </a:solidFill>
              </a:rPr>
              <a:t>회원국 중 </a:t>
            </a:r>
            <a:r>
              <a:rPr lang="en-US" altLang="ko-KR" sz="1200" dirty="0">
                <a:solidFill>
                  <a:schemeClr val="tx2"/>
                </a:solidFill>
              </a:rPr>
              <a:t>WTO</a:t>
            </a:r>
            <a:r>
              <a:rPr lang="ko-KR" altLang="en-US" sz="1200" dirty="0">
                <a:solidFill>
                  <a:schemeClr val="tx2"/>
                </a:solidFill>
              </a:rPr>
              <a:t>에 다음의 사항을 통지한 국가 또는 </a:t>
            </a:r>
            <a:r>
              <a:rPr lang="en-US" altLang="ko-KR" sz="1200" dirty="0">
                <a:solidFill>
                  <a:schemeClr val="tx2"/>
                </a:solidFill>
              </a:rPr>
              <a:t>WTO </a:t>
            </a:r>
            <a:r>
              <a:rPr lang="ko-KR" altLang="en-US" sz="1200" dirty="0">
                <a:solidFill>
                  <a:schemeClr val="tx2"/>
                </a:solidFill>
              </a:rPr>
              <a:t>회원국이 아닌 국가 중 대통령령으로 정하는 국가로서 다음의 사항을 대한민국 정부에 통지한 국가</a:t>
            </a:r>
            <a:endParaRPr lang="en-US" altLang="ko-KR" sz="1200" dirty="0">
              <a:solidFill>
                <a:schemeClr val="tx2"/>
              </a:solidFill>
            </a:endParaRPr>
          </a:p>
          <a:p>
            <a:pPr marL="228600" indent="-228600" fontAlgn="base">
              <a:buAutoNum type="arabicPeriod"/>
            </a:pPr>
            <a:r>
              <a:rPr lang="ko-KR" altLang="en-US" sz="1200" dirty="0">
                <a:solidFill>
                  <a:schemeClr val="tx2"/>
                </a:solidFill>
              </a:rPr>
              <a:t>수입국이 필요로 하는 의약품의 명칭과 수량</a:t>
            </a:r>
            <a:endParaRPr lang="en-US" altLang="ko-KR" sz="1200" dirty="0">
              <a:solidFill>
                <a:schemeClr val="tx2"/>
              </a:solidFill>
            </a:endParaRPr>
          </a:p>
          <a:p>
            <a:pPr marL="228600" indent="-228600" fontAlgn="base">
              <a:buAutoNum type="arabicPeriod"/>
            </a:pPr>
            <a:r>
              <a:rPr lang="ko-KR" altLang="en-US" sz="1200" dirty="0">
                <a:solidFill>
                  <a:schemeClr val="tx2"/>
                </a:solidFill>
              </a:rPr>
              <a:t>국제연합총회의 결의에 따른 </a:t>
            </a:r>
            <a:r>
              <a:rPr lang="ko-KR" altLang="en-US" sz="1200" dirty="0" err="1">
                <a:solidFill>
                  <a:schemeClr val="tx2"/>
                </a:solidFill>
              </a:rPr>
              <a:t>최빈개발도상국이</a:t>
            </a:r>
            <a:r>
              <a:rPr lang="ko-KR" altLang="en-US" sz="1200" dirty="0">
                <a:solidFill>
                  <a:schemeClr val="tx2"/>
                </a:solidFill>
              </a:rPr>
              <a:t> 아닌 경우 해당 의약품의 생산을 위한 제조능력이 없거나 부족하다는 수입국의 확인</a:t>
            </a:r>
            <a:endParaRPr lang="en-US" altLang="ko-KR" sz="1200" dirty="0">
              <a:solidFill>
                <a:schemeClr val="tx2"/>
              </a:solidFill>
            </a:endParaRPr>
          </a:p>
          <a:p>
            <a:pPr marL="228600" indent="-228600" fontAlgn="base">
              <a:buAutoNum type="arabicPeriod"/>
            </a:pPr>
            <a:r>
              <a:rPr lang="ko-KR" altLang="en-US" sz="1200" dirty="0">
                <a:solidFill>
                  <a:schemeClr val="tx2"/>
                </a:solidFill>
              </a:rPr>
              <a:t>수입국에서 해당 의약품이 특허된 경우 강제적인 실시를 허락하였거나 허락할 의사가 있다는 그 국가의 확인</a:t>
            </a:r>
          </a:p>
        </p:txBody>
      </p:sp>
      <p:cxnSp>
        <p:nvCxnSpPr>
          <p:cNvPr id="19" name="꺾인 연결선 18"/>
          <p:cNvCxnSpPr>
            <a:stCxn id="8" idx="0"/>
            <a:endCxn id="17" idx="1"/>
          </p:cNvCxnSpPr>
          <p:nvPr/>
        </p:nvCxnSpPr>
        <p:spPr>
          <a:xfrm rot="5400000" flipH="1" flipV="1">
            <a:off x="6410741" y="988874"/>
            <a:ext cx="256343" cy="1438274"/>
          </a:xfrm>
          <a:prstGeom prst="bentConnector2">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220791" y="4413766"/>
            <a:ext cx="3911938" cy="646331"/>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r>
              <a:rPr lang="en-US" altLang="ko-KR" dirty="0"/>
              <a:t>- </a:t>
            </a:r>
            <a:r>
              <a:rPr lang="ko-KR" altLang="en-US" dirty="0"/>
              <a:t>丙의 </a:t>
            </a:r>
            <a:r>
              <a:rPr lang="en-US" altLang="ko-KR" dirty="0"/>
              <a:t>A </a:t>
            </a:r>
            <a:r>
              <a:rPr lang="ko-KR" altLang="en-US" dirty="0"/>
              <a:t>생산</a:t>
            </a:r>
            <a:r>
              <a:rPr lang="en-US" altLang="ko-KR" dirty="0"/>
              <a:t>, </a:t>
            </a:r>
            <a:r>
              <a:rPr lang="ko-KR" altLang="en-US" dirty="0"/>
              <a:t>수출은 甲의 특허권 침해 </a:t>
            </a:r>
            <a:r>
              <a:rPr lang="en-US" altLang="ko-KR" dirty="0"/>
              <a:t>: </a:t>
            </a:r>
          </a:p>
          <a:p>
            <a:r>
              <a:rPr lang="ko-KR" altLang="en-US" dirty="0"/>
              <a:t>  수출국 정부가 </a:t>
            </a:r>
            <a:r>
              <a:rPr lang="ko-KR" altLang="en-US" dirty="0" err="1"/>
              <a:t>강제실시권</a:t>
            </a:r>
            <a:r>
              <a:rPr lang="ko-KR" altLang="en-US" dirty="0"/>
              <a:t> 허락 </a:t>
            </a:r>
          </a:p>
        </p:txBody>
      </p:sp>
      <p:sp>
        <p:nvSpPr>
          <p:cNvPr id="21" name="TextBox 20"/>
          <p:cNvSpPr txBox="1"/>
          <p:nvPr/>
        </p:nvSpPr>
        <p:spPr>
          <a:xfrm>
            <a:off x="6672262" y="3243945"/>
            <a:ext cx="3557588" cy="646331"/>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r>
              <a:rPr lang="en-US" altLang="ko-KR" dirty="0"/>
              <a:t>- </a:t>
            </a:r>
            <a:r>
              <a:rPr lang="ko-KR" altLang="en-US" dirty="0"/>
              <a:t>丙의 </a:t>
            </a:r>
            <a:r>
              <a:rPr lang="en-US" altLang="ko-KR" dirty="0"/>
              <a:t>A </a:t>
            </a:r>
            <a:r>
              <a:rPr lang="ko-KR" altLang="en-US" dirty="0"/>
              <a:t>수입은 乙의 특허권 침해 </a:t>
            </a:r>
            <a:r>
              <a:rPr lang="en-US" altLang="ko-KR" dirty="0"/>
              <a:t>: </a:t>
            </a:r>
          </a:p>
          <a:p>
            <a:r>
              <a:rPr lang="ko-KR" altLang="en-US" dirty="0"/>
              <a:t>  수입국 정부가 </a:t>
            </a:r>
            <a:r>
              <a:rPr lang="ko-KR" altLang="en-US" dirty="0" err="1"/>
              <a:t>강제실시권</a:t>
            </a:r>
            <a:r>
              <a:rPr lang="ko-KR" altLang="en-US" dirty="0"/>
              <a:t> 허락 </a:t>
            </a:r>
          </a:p>
        </p:txBody>
      </p:sp>
      <p:cxnSp>
        <p:nvCxnSpPr>
          <p:cNvPr id="27" name="직선 화살표 연결선 26"/>
          <p:cNvCxnSpPr>
            <a:endCxn id="21" idx="1"/>
          </p:cNvCxnSpPr>
          <p:nvPr/>
        </p:nvCxnSpPr>
        <p:spPr>
          <a:xfrm>
            <a:off x="5237809" y="3567111"/>
            <a:ext cx="1434453" cy="0"/>
          </a:xfrm>
          <a:prstGeom prst="straightConnector1">
            <a:avLst/>
          </a:prstGeom>
          <a:ln w="28575">
            <a:solidFill>
              <a:srgbClr val="FF0000"/>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직선 화살표 연결선 27"/>
          <p:cNvCxnSpPr/>
          <p:nvPr/>
        </p:nvCxnSpPr>
        <p:spPr>
          <a:xfrm flipH="1">
            <a:off x="1714554" y="2761176"/>
            <a:ext cx="361896" cy="1652590"/>
          </a:xfrm>
          <a:prstGeom prst="straightConnector1">
            <a:avLst/>
          </a:prstGeom>
          <a:ln w="28575">
            <a:solidFill>
              <a:srgbClr val="FF0000"/>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직사각형 30"/>
          <p:cNvSpPr/>
          <p:nvPr/>
        </p:nvSpPr>
        <p:spPr>
          <a:xfrm>
            <a:off x="4524375" y="4305300"/>
            <a:ext cx="1933575" cy="657225"/>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solidFill>
                  <a:schemeClr val="tx2"/>
                </a:solidFill>
              </a:rPr>
              <a:t>WTO/TRIPS </a:t>
            </a:r>
            <a:r>
              <a:rPr lang="ko-KR" altLang="en-US" dirty="0">
                <a:solidFill>
                  <a:schemeClr val="tx2"/>
                </a:solidFill>
              </a:rPr>
              <a:t>위반</a:t>
            </a:r>
            <a:endParaRPr lang="en-US" altLang="ko-KR" dirty="0">
              <a:solidFill>
                <a:schemeClr val="tx2"/>
              </a:solidFill>
            </a:endParaRPr>
          </a:p>
          <a:p>
            <a:pPr algn="ctr"/>
            <a:r>
              <a:rPr lang="en-US" altLang="ko-KR" dirty="0">
                <a:solidFill>
                  <a:schemeClr val="tx2"/>
                </a:solidFill>
              </a:rPr>
              <a:t>(</a:t>
            </a:r>
            <a:r>
              <a:rPr lang="ko-KR" altLang="en-US" dirty="0">
                <a:solidFill>
                  <a:schemeClr val="tx2"/>
                </a:solidFill>
              </a:rPr>
              <a:t>적용유보</a:t>
            </a:r>
            <a:r>
              <a:rPr lang="en-US" altLang="ko-KR" dirty="0">
                <a:solidFill>
                  <a:schemeClr val="tx2"/>
                </a:solidFill>
              </a:rPr>
              <a:t>)</a:t>
            </a:r>
            <a:endParaRPr lang="ko-KR" altLang="en-US" dirty="0">
              <a:solidFill>
                <a:schemeClr val="tx2"/>
              </a:solidFill>
            </a:endParaRPr>
          </a:p>
        </p:txBody>
      </p:sp>
      <p:sp>
        <p:nvSpPr>
          <p:cNvPr id="32" name="직사각형 31"/>
          <p:cNvSpPr/>
          <p:nvPr/>
        </p:nvSpPr>
        <p:spPr>
          <a:xfrm>
            <a:off x="4524375" y="5657851"/>
            <a:ext cx="1933575" cy="59055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2"/>
                </a:solidFill>
              </a:rPr>
              <a:t>甲의 반발</a:t>
            </a:r>
            <a:endParaRPr lang="en-US" altLang="ko-KR" dirty="0">
              <a:solidFill>
                <a:schemeClr val="tx2"/>
              </a:solidFill>
            </a:endParaRPr>
          </a:p>
          <a:p>
            <a:pPr algn="ctr"/>
            <a:r>
              <a:rPr lang="en-US" altLang="ko-KR" dirty="0">
                <a:solidFill>
                  <a:schemeClr val="tx2"/>
                </a:solidFill>
              </a:rPr>
              <a:t>(</a:t>
            </a:r>
            <a:r>
              <a:rPr lang="ko-KR" altLang="en-US" dirty="0">
                <a:solidFill>
                  <a:schemeClr val="tx2"/>
                </a:solidFill>
              </a:rPr>
              <a:t>조건부과</a:t>
            </a:r>
            <a:r>
              <a:rPr lang="en-US" altLang="ko-KR" dirty="0">
                <a:solidFill>
                  <a:schemeClr val="tx2"/>
                </a:solidFill>
              </a:rPr>
              <a:t>)</a:t>
            </a:r>
            <a:endParaRPr lang="ko-KR" altLang="en-US" dirty="0">
              <a:solidFill>
                <a:schemeClr val="tx2"/>
              </a:solidFill>
            </a:endParaRPr>
          </a:p>
        </p:txBody>
      </p:sp>
      <p:cxnSp>
        <p:nvCxnSpPr>
          <p:cNvPr id="34" name="꺾인 연결선 33"/>
          <p:cNvCxnSpPr>
            <a:cxnSpLocks/>
            <a:stCxn id="20" idx="3"/>
            <a:endCxn id="31" idx="1"/>
          </p:cNvCxnSpPr>
          <p:nvPr/>
        </p:nvCxnSpPr>
        <p:spPr>
          <a:xfrm flipV="1">
            <a:off x="4132729" y="4633913"/>
            <a:ext cx="391646" cy="10301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꺾인 연결선 35"/>
          <p:cNvCxnSpPr>
            <a:cxnSpLocks/>
            <a:stCxn id="20" idx="3"/>
            <a:endCxn id="32" idx="1"/>
          </p:cNvCxnSpPr>
          <p:nvPr/>
        </p:nvCxnSpPr>
        <p:spPr>
          <a:xfrm>
            <a:off x="4132729" y="4736932"/>
            <a:ext cx="391646" cy="121619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6781800" y="4372302"/>
            <a:ext cx="5133975" cy="523220"/>
          </a:xfrm>
          <a:prstGeom prst="rect">
            <a:avLst/>
          </a:prstGeom>
          <a:noFill/>
          <a:ln>
            <a:solidFill>
              <a:schemeClr val="bg1">
                <a:lumMod val="50000"/>
              </a:schemeClr>
            </a:solidFill>
          </a:ln>
        </p:spPr>
        <p:txBody>
          <a:bodyPr wrap="square" rtlCol="0">
            <a:spAutoFit/>
          </a:bodyPr>
          <a:lstStyle/>
          <a:p>
            <a:r>
              <a:rPr lang="en-US" altLang="ko-KR" sz="1400" dirty="0"/>
              <a:t>- </a:t>
            </a:r>
            <a:r>
              <a:rPr lang="ko-KR" altLang="en-US" sz="1400" dirty="0"/>
              <a:t>제</a:t>
            </a:r>
            <a:r>
              <a:rPr lang="en-US" altLang="ko-KR" sz="1400" dirty="0"/>
              <a:t>31</a:t>
            </a:r>
            <a:r>
              <a:rPr lang="ko-KR" altLang="en-US" sz="1400" dirty="0"/>
              <a:t>조</a:t>
            </a:r>
            <a:r>
              <a:rPr lang="en-US" altLang="ko-KR" sz="1400" dirty="0"/>
              <a:t>(f): </a:t>
            </a:r>
            <a:r>
              <a:rPr lang="ko-KR" altLang="en-US" sz="1400" dirty="0"/>
              <a:t>국내수요를</a:t>
            </a:r>
            <a:r>
              <a:rPr lang="en-US" altLang="ko-KR" sz="1400" dirty="0"/>
              <a:t> </a:t>
            </a:r>
            <a:r>
              <a:rPr lang="ko-KR" altLang="en-US" sz="1400" dirty="0"/>
              <a:t>주목적으로 </a:t>
            </a:r>
            <a:r>
              <a:rPr lang="ko-KR" altLang="en-US" sz="1400" dirty="0" err="1"/>
              <a:t>강제실시권</a:t>
            </a:r>
            <a:r>
              <a:rPr lang="ko-KR" altLang="en-US" sz="1400" dirty="0"/>
              <a:t> 허락</a:t>
            </a:r>
          </a:p>
          <a:p>
            <a:r>
              <a:rPr lang="en-US" altLang="ko-KR" sz="1400" dirty="0"/>
              <a:t>- </a:t>
            </a:r>
            <a:r>
              <a:rPr lang="ko-KR" altLang="en-US" sz="1400" dirty="0"/>
              <a:t>제</a:t>
            </a:r>
            <a:r>
              <a:rPr lang="en-US" altLang="ko-KR" sz="1400" dirty="0"/>
              <a:t>31</a:t>
            </a:r>
            <a:r>
              <a:rPr lang="ko-KR" altLang="en-US" sz="1400" dirty="0"/>
              <a:t>조</a:t>
            </a:r>
            <a:r>
              <a:rPr lang="en-US" altLang="ko-KR" sz="1400" dirty="0"/>
              <a:t>(h): </a:t>
            </a:r>
            <a:r>
              <a:rPr lang="ko-KR" altLang="en-US" sz="1400" dirty="0" err="1"/>
              <a:t>자국내</a:t>
            </a:r>
            <a:r>
              <a:rPr lang="ko-KR" altLang="en-US" sz="1400" dirty="0"/>
              <a:t> 경제적 가치를 고려하여 대가 산정</a:t>
            </a:r>
          </a:p>
        </p:txBody>
      </p:sp>
      <p:sp>
        <p:nvSpPr>
          <p:cNvPr id="41" name="TextBox 40"/>
          <p:cNvSpPr txBox="1"/>
          <p:nvPr/>
        </p:nvSpPr>
        <p:spPr>
          <a:xfrm>
            <a:off x="6781800" y="5691516"/>
            <a:ext cx="5133975" cy="523220"/>
          </a:xfrm>
          <a:prstGeom prst="rect">
            <a:avLst/>
          </a:prstGeom>
          <a:noFill/>
          <a:ln>
            <a:solidFill>
              <a:schemeClr val="bg1">
                <a:lumMod val="50000"/>
              </a:schemeClr>
            </a:solidFill>
          </a:ln>
        </p:spPr>
        <p:txBody>
          <a:bodyPr wrap="square" rtlCol="0">
            <a:spAutoFit/>
          </a:bodyPr>
          <a:lstStyle/>
          <a:p>
            <a:r>
              <a:rPr lang="en-US" altLang="ko-KR" sz="1400" dirty="0"/>
              <a:t>- </a:t>
            </a:r>
            <a:r>
              <a:rPr lang="ko-KR" altLang="en-US" sz="1400" dirty="0"/>
              <a:t>생산된 의약품 전량을 수입국에 수출할 것</a:t>
            </a:r>
          </a:p>
          <a:p>
            <a:r>
              <a:rPr lang="en-US" altLang="ko-KR" sz="1400" dirty="0"/>
              <a:t>- </a:t>
            </a:r>
            <a:r>
              <a:rPr lang="ko-KR" altLang="en-US" sz="1400" dirty="0"/>
              <a:t>외관상 구분 표시 및 이를 공시할 인터넷 주소 명시</a:t>
            </a:r>
          </a:p>
        </p:txBody>
      </p:sp>
      <p:cxnSp>
        <p:nvCxnSpPr>
          <p:cNvPr id="43" name="직선 연결선 42"/>
          <p:cNvCxnSpPr>
            <a:stCxn id="31" idx="3"/>
            <a:endCxn id="40" idx="1"/>
          </p:cNvCxnSpPr>
          <p:nvPr/>
        </p:nvCxnSpPr>
        <p:spPr>
          <a:xfrm flipV="1">
            <a:off x="6457950" y="4633912"/>
            <a:ext cx="323850" cy="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직선 연결선 44"/>
          <p:cNvCxnSpPr>
            <a:stCxn id="32" idx="3"/>
            <a:endCxn id="41" idx="1"/>
          </p:cNvCxnSpPr>
          <p:nvPr/>
        </p:nvCxnSpPr>
        <p:spPr>
          <a:xfrm>
            <a:off x="6457950" y="5953126"/>
            <a:ext cx="32385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420</a:t>
            </a:r>
            <a:endParaRPr lang="ko-KR" altLang="en-US"/>
          </a:p>
        </p:txBody>
      </p:sp>
    </p:spTree>
    <p:extLst>
      <p:ext uri="{BB962C8B-B14F-4D97-AF65-F5344CB8AC3E}">
        <p14:creationId xmlns:p14="http://schemas.microsoft.com/office/powerpoint/2010/main" val="515947301"/>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107</a:t>
            </a:r>
            <a:r>
              <a:rPr lang="ko-KR" altLang="en-US" dirty="0"/>
              <a:t>조</a:t>
            </a:r>
            <a:r>
              <a:rPr lang="en-US" altLang="ko-KR" dirty="0"/>
              <a:t>~</a:t>
            </a:r>
            <a:r>
              <a:rPr lang="ko-KR" altLang="en-US" dirty="0"/>
              <a:t>제</a:t>
            </a:r>
            <a:r>
              <a:rPr lang="en-US" altLang="ko-KR" dirty="0"/>
              <a:t>115</a:t>
            </a:r>
            <a:r>
              <a:rPr lang="ko-KR" altLang="en-US" dirty="0"/>
              <a:t>조</a:t>
            </a:r>
          </a:p>
        </p:txBody>
      </p:sp>
      <p:sp>
        <p:nvSpPr>
          <p:cNvPr id="5" name="텍스트 개체 틀 4"/>
          <p:cNvSpPr>
            <a:spLocks noGrp="1"/>
          </p:cNvSpPr>
          <p:nvPr>
            <p:ph type="body" sz="quarter" idx="13"/>
          </p:nvPr>
        </p:nvSpPr>
        <p:spPr/>
        <p:txBody>
          <a:bodyPr/>
          <a:lstStyle/>
          <a:p>
            <a:r>
              <a:rPr lang="ko-KR" altLang="en-US" dirty="0"/>
              <a:t>재정절차</a:t>
            </a:r>
            <a:r>
              <a:rPr lang="en-US" altLang="ko-KR" dirty="0"/>
              <a:t>(</a:t>
            </a:r>
            <a:r>
              <a:rPr lang="ko-KR" altLang="en-US" dirty="0"/>
              <a:t>제</a:t>
            </a:r>
            <a:r>
              <a:rPr lang="en-US" altLang="ko-KR" dirty="0"/>
              <a:t>108</a:t>
            </a:r>
            <a:r>
              <a:rPr lang="ko-KR" altLang="en-US" dirty="0"/>
              <a:t>조</a:t>
            </a:r>
            <a:r>
              <a:rPr lang="en-US" altLang="ko-KR" dirty="0"/>
              <a:t>-</a:t>
            </a:r>
            <a:r>
              <a:rPr lang="ko-KR" altLang="en-US" dirty="0"/>
              <a:t>제</a:t>
            </a:r>
            <a:r>
              <a:rPr lang="en-US" altLang="ko-KR" dirty="0"/>
              <a:t>113</a:t>
            </a:r>
            <a:r>
              <a:rPr lang="ko-KR" altLang="en-US" dirty="0"/>
              <a:t>조</a:t>
            </a:r>
            <a:r>
              <a:rPr lang="en-US" altLang="ko-KR" dirty="0"/>
              <a:t>)</a:t>
            </a:r>
            <a:endParaRPr lang="ko-KR" altLang="en-US" dirty="0"/>
          </a:p>
        </p:txBody>
      </p:sp>
      <p:sp>
        <p:nvSpPr>
          <p:cNvPr id="2" name="Rectangle 1"/>
          <p:cNvSpPr>
            <a:spLocks noChangeArrowheads="1"/>
          </p:cNvSpPr>
          <p:nvPr/>
        </p:nvSpPr>
        <p:spPr bwMode="auto">
          <a:xfrm>
            <a:off x="152399" y="990600"/>
            <a:ext cx="7124701" cy="56388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noAutofit/>
          </a:bodyPr>
          <a:lstStyle/>
          <a:p>
            <a:pPr lvl="0" fontAlgn="base">
              <a:spcBef>
                <a:spcPct val="0"/>
              </a:spcBef>
              <a:spcAft>
                <a:spcPct val="0"/>
              </a:spcAft>
            </a:pPr>
            <a:r>
              <a:rPr kumimoji="1" lang="ko-KR" sz="1100" b="1" i="0" u="none" strike="noStrike" cap="none" normalizeH="0" baseline="0" dirty="0">
                <a:ln>
                  <a:noFill/>
                </a:ln>
                <a:solidFill>
                  <a:schemeClr val="accent1"/>
                </a:solidFill>
                <a:effectLst/>
                <a:latin typeface="+mn-ea"/>
                <a:cs typeface="굴림" pitchFamily="50" charset="-127"/>
              </a:rPr>
              <a:t>제</a:t>
            </a:r>
            <a:r>
              <a:rPr kumimoji="1" lang="ko-KR" altLang="ko-KR" sz="1100" b="1" i="0" u="none" strike="noStrike" cap="none" normalizeH="0" baseline="0" dirty="0">
                <a:ln>
                  <a:noFill/>
                </a:ln>
                <a:solidFill>
                  <a:schemeClr val="accent1"/>
                </a:solidFill>
                <a:effectLst/>
                <a:latin typeface="+mn-ea"/>
                <a:cs typeface="굴림" pitchFamily="50" charset="-127"/>
              </a:rPr>
              <a:t>108</a:t>
            </a:r>
            <a:r>
              <a:rPr kumimoji="1" lang="ko-KR" sz="1100" b="1" i="0" u="none" strike="noStrike" cap="none" normalizeH="0" baseline="0" dirty="0">
                <a:ln>
                  <a:noFill/>
                </a:ln>
                <a:solidFill>
                  <a:schemeClr val="accent1"/>
                </a:solidFill>
                <a:effectLst/>
                <a:latin typeface="+mn-ea"/>
                <a:cs typeface="굴림" pitchFamily="50" charset="-127"/>
              </a:rPr>
              <a:t>조</a:t>
            </a:r>
            <a:r>
              <a:rPr kumimoji="1" lang="ko-KR" altLang="ko-KR" sz="1100" b="1" i="0" u="none" strike="noStrike" cap="none" normalizeH="0" baseline="0" dirty="0">
                <a:ln>
                  <a:noFill/>
                </a:ln>
                <a:solidFill>
                  <a:schemeClr val="accent1"/>
                </a:solidFill>
                <a:effectLst/>
                <a:latin typeface="+mn-ea"/>
                <a:cs typeface="굴림" pitchFamily="50" charset="-127"/>
              </a:rPr>
              <a:t>(</a:t>
            </a:r>
            <a:r>
              <a:rPr kumimoji="1" lang="ko-KR" sz="1100" b="1" i="0" u="none" strike="noStrike" cap="none" normalizeH="0" baseline="0" dirty="0">
                <a:ln>
                  <a:noFill/>
                </a:ln>
                <a:solidFill>
                  <a:schemeClr val="accent1"/>
                </a:solidFill>
                <a:effectLst/>
                <a:latin typeface="+mn-ea"/>
                <a:cs typeface="굴림" pitchFamily="50" charset="-127"/>
              </a:rPr>
              <a:t>답변서의 제출</a:t>
            </a:r>
            <a:r>
              <a:rPr kumimoji="1" lang="ko-KR" altLang="ko-KR" sz="1100" b="1" i="0" u="none" strike="noStrike" cap="none" normalizeH="0" baseline="0" dirty="0">
                <a:ln>
                  <a:noFill/>
                </a:ln>
                <a:solidFill>
                  <a:schemeClr val="accent1"/>
                </a:solidFill>
                <a:effectLst/>
                <a:latin typeface="+mn-ea"/>
                <a:cs typeface="굴림" pitchFamily="50" charset="-127"/>
              </a:rPr>
              <a:t>)</a:t>
            </a:r>
            <a:r>
              <a:rPr kumimoji="1" lang="ko-KR" altLang="ko-KR" sz="1100" b="0" i="0" u="none" strike="noStrike" cap="none" normalizeH="0" baseline="0" dirty="0">
                <a:ln>
                  <a:noFill/>
                </a:ln>
                <a:solidFill>
                  <a:schemeClr val="tx2"/>
                </a:solidFill>
                <a:effectLst/>
                <a:latin typeface="+mn-ea"/>
                <a:cs typeface="굴림" pitchFamily="50" charset="-127"/>
              </a:rPr>
              <a:t> </a:t>
            </a:r>
            <a:r>
              <a:rPr kumimoji="1" lang="ko-KR" altLang="en-US" sz="1100" b="0" i="0" u="none" strike="noStrike" cap="none" normalizeH="0" baseline="0" dirty="0">
                <a:ln>
                  <a:noFill/>
                </a:ln>
                <a:solidFill>
                  <a:schemeClr val="tx2"/>
                </a:solidFill>
                <a:effectLst/>
                <a:latin typeface="+mn-ea"/>
                <a:cs typeface="굴림" pitchFamily="50" charset="-127"/>
              </a:rPr>
              <a:t>지식재산처장은</a:t>
            </a:r>
            <a:r>
              <a:rPr kumimoji="1" lang="ko-KR" sz="1100" b="0" i="0" u="none" strike="noStrike" cap="none" normalizeH="0" baseline="0" dirty="0">
                <a:ln>
                  <a:noFill/>
                </a:ln>
                <a:solidFill>
                  <a:schemeClr val="tx2"/>
                </a:solidFill>
                <a:effectLst/>
                <a:latin typeface="+mn-ea"/>
                <a:cs typeface="굴림" pitchFamily="50" charset="-127"/>
              </a:rPr>
              <a:t> 재정의 청구가 있으면 그 청구서의 부본</a:t>
            </a:r>
            <a:r>
              <a:rPr kumimoji="1" lang="ko-KR" altLang="ko-KR" sz="1100" b="0" i="0" u="none" strike="noStrike" cap="none" normalizeH="0" baseline="0" dirty="0">
                <a:ln>
                  <a:noFill/>
                </a:ln>
                <a:solidFill>
                  <a:schemeClr val="tx2"/>
                </a:solidFill>
                <a:effectLst/>
                <a:latin typeface="+mn-ea"/>
                <a:cs typeface="굴림" pitchFamily="50" charset="-127"/>
              </a:rPr>
              <a:t>(</a:t>
            </a:r>
            <a:r>
              <a:rPr kumimoji="1" lang="ko-KR" sz="1100" b="0" i="0" u="none" strike="noStrike" cap="none" normalizeH="0" baseline="0" dirty="0">
                <a:ln>
                  <a:noFill/>
                </a:ln>
                <a:solidFill>
                  <a:schemeClr val="tx2"/>
                </a:solidFill>
                <a:effectLst/>
                <a:latin typeface="+mn-ea"/>
                <a:cs typeface="굴림" pitchFamily="50" charset="-127"/>
              </a:rPr>
              <a:t>副本</a:t>
            </a:r>
            <a:r>
              <a:rPr kumimoji="1" lang="ko-KR" altLang="ko-KR" sz="1100" b="0" i="0" u="none" strike="noStrike" cap="none" normalizeH="0" baseline="0" dirty="0">
                <a:ln>
                  <a:noFill/>
                </a:ln>
                <a:solidFill>
                  <a:schemeClr val="tx2"/>
                </a:solidFill>
                <a:effectLst/>
                <a:latin typeface="+mn-ea"/>
                <a:cs typeface="굴림" pitchFamily="50" charset="-127"/>
              </a:rPr>
              <a:t>)</a:t>
            </a:r>
            <a:r>
              <a:rPr kumimoji="1" lang="ko-KR" sz="1100" b="0" i="0" u="none" strike="noStrike" cap="none" normalizeH="0" baseline="0" dirty="0">
                <a:ln>
                  <a:noFill/>
                </a:ln>
                <a:solidFill>
                  <a:schemeClr val="tx2"/>
                </a:solidFill>
                <a:effectLst/>
                <a:latin typeface="+mn-ea"/>
                <a:cs typeface="굴림" pitchFamily="50" charset="-127"/>
              </a:rPr>
              <a:t>을 그 청구에 관련된 </a:t>
            </a:r>
            <a:r>
              <a:rPr kumimoji="1" lang="ko-KR" sz="1100" b="0" i="0" u="none" strike="noStrike" cap="none" normalizeH="0" baseline="0" dirty="0" err="1">
                <a:ln>
                  <a:noFill/>
                </a:ln>
                <a:solidFill>
                  <a:schemeClr val="tx2"/>
                </a:solidFill>
                <a:effectLst/>
                <a:latin typeface="+mn-ea"/>
                <a:cs typeface="굴림" pitchFamily="50" charset="-127"/>
              </a:rPr>
              <a:t>특허권자ㆍ전용실시권자</a:t>
            </a:r>
            <a:r>
              <a:rPr kumimoji="1" lang="ko-KR" altLang="ko-KR" sz="1100" b="0" i="0" u="none" strike="noStrike" cap="none" normalizeH="0" baseline="0" dirty="0">
                <a:ln>
                  <a:noFill/>
                </a:ln>
                <a:solidFill>
                  <a:schemeClr val="tx2"/>
                </a:solidFill>
                <a:effectLst/>
                <a:latin typeface="+mn-ea"/>
                <a:cs typeface="굴림" pitchFamily="50" charset="-127"/>
              </a:rPr>
              <a:t>, </a:t>
            </a:r>
            <a:r>
              <a:rPr kumimoji="1" lang="ko-KR" sz="1100" b="0" i="0" u="none" strike="noStrike" cap="none" normalizeH="0" baseline="0" dirty="0">
                <a:ln>
                  <a:noFill/>
                </a:ln>
                <a:solidFill>
                  <a:schemeClr val="tx2"/>
                </a:solidFill>
                <a:effectLst/>
                <a:latin typeface="+mn-ea"/>
                <a:cs typeface="굴림" pitchFamily="50" charset="-127"/>
              </a:rPr>
              <a:t>그 밖에 그 특허에 관하여 등록을 한 권리를 가지는 자에게 송달하고</a:t>
            </a:r>
            <a:r>
              <a:rPr kumimoji="1" lang="ko-KR" altLang="ko-KR" sz="1100" b="0" i="0" u="none" strike="noStrike" cap="none" normalizeH="0" baseline="0" dirty="0">
                <a:ln>
                  <a:noFill/>
                </a:ln>
                <a:solidFill>
                  <a:schemeClr val="tx2"/>
                </a:solidFill>
                <a:effectLst/>
                <a:latin typeface="+mn-ea"/>
                <a:cs typeface="굴림" pitchFamily="50" charset="-127"/>
              </a:rPr>
              <a:t>, </a:t>
            </a:r>
            <a:r>
              <a:rPr kumimoji="1" lang="ko-KR" sz="1100" b="0" i="0" u="none" strike="noStrike" cap="none" normalizeH="0" baseline="0" dirty="0">
                <a:ln>
                  <a:noFill/>
                </a:ln>
                <a:solidFill>
                  <a:schemeClr val="tx2"/>
                </a:solidFill>
                <a:effectLst/>
                <a:latin typeface="+mn-ea"/>
                <a:cs typeface="굴림" pitchFamily="50" charset="-127"/>
              </a:rPr>
              <a:t>기간을 정하여 답변서를 제출할 수 있는 기회를 주어야 한다</a:t>
            </a:r>
            <a:r>
              <a:rPr kumimoji="1" lang="ko-KR" altLang="ko-KR" sz="1100" b="0" i="0" u="none" strike="noStrike" cap="none" normalizeH="0" baseline="0" dirty="0">
                <a:ln>
                  <a:noFill/>
                </a:ln>
                <a:solidFill>
                  <a:schemeClr val="tx2"/>
                </a:solidFill>
                <a:effectLst/>
                <a:latin typeface="+mn-ea"/>
                <a:cs typeface="굴림" pitchFamily="50" charset="-127"/>
              </a:rPr>
              <a:t>. </a:t>
            </a:r>
            <a:endParaRPr kumimoji="1" lang="en-US" altLang="ko-KR" sz="1100" b="0" i="0" u="none" strike="noStrike" cap="none" normalizeH="0" baseline="0" dirty="0">
              <a:ln>
                <a:noFill/>
              </a:ln>
              <a:solidFill>
                <a:schemeClr val="tx2"/>
              </a:solidFill>
              <a:effectLst/>
              <a:latin typeface="+mn-ea"/>
              <a:cs typeface="굴림" pitchFamily="50" charset="-127"/>
            </a:endParaRPr>
          </a:p>
          <a:p>
            <a:r>
              <a:rPr lang="ko-KR" altLang="en-US" sz="1100" b="1" dirty="0">
                <a:solidFill>
                  <a:schemeClr val="accent1"/>
                </a:solidFill>
                <a:latin typeface="+mn-ea"/>
              </a:rPr>
              <a:t>제</a:t>
            </a:r>
            <a:r>
              <a:rPr lang="en-US" altLang="ko-KR" sz="1100" b="1" dirty="0">
                <a:solidFill>
                  <a:schemeClr val="accent1"/>
                </a:solidFill>
                <a:latin typeface="+mn-ea"/>
              </a:rPr>
              <a:t>109</a:t>
            </a:r>
            <a:r>
              <a:rPr lang="ko-KR" altLang="en-US" sz="1100" b="1" dirty="0">
                <a:solidFill>
                  <a:schemeClr val="accent1"/>
                </a:solidFill>
                <a:latin typeface="+mn-ea"/>
              </a:rPr>
              <a:t>조</a:t>
            </a:r>
            <a:r>
              <a:rPr lang="en-US" altLang="ko-KR" sz="1100" b="1" dirty="0">
                <a:solidFill>
                  <a:schemeClr val="accent1"/>
                </a:solidFill>
                <a:latin typeface="+mn-ea"/>
              </a:rPr>
              <a:t>(</a:t>
            </a:r>
            <a:r>
              <a:rPr lang="ko-KR" altLang="en-US" sz="1100" b="1" dirty="0">
                <a:solidFill>
                  <a:schemeClr val="accent1"/>
                </a:solidFill>
                <a:latin typeface="+mn-ea"/>
              </a:rPr>
              <a:t>산업재산권분쟁조정위원회 및 관계 부처의 장의 의견청취</a:t>
            </a:r>
            <a:r>
              <a:rPr lang="en-US" altLang="ko-KR" sz="1100" b="1" dirty="0">
                <a:solidFill>
                  <a:schemeClr val="accent1"/>
                </a:solidFill>
                <a:latin typeface="+mn-ea"/>
              </a:rPr>
              <a:t>)</a:t>
            </a:r>
            <a:r>
              <a:rPr lang="ko-KR" altLang="en-US" sz="1100" dirty="0">
                <a:solidFill>
                  <a:schemeClr val="tx2"/>
                </a:solidFill>
                <a:latin typeface="+mn-ea"/>
              </a:rPr>
              <a:t> 지식재산처장은 재정을 할 때 필요하다고 인정하는 경우에는 「발명진흥법」 제</a:t>
            </a:r>
            <a:r>
              <a:rPr lang="en-US" altLang="ko-KR" sz="1100" dirty="0">
                <a:solidFill>
                  <a:schemeClr val="tx2"/>
                </a:solidFill>
                <a:latin typeface="+mn-ea"/>
              </a:rPr>
              <a:t>41</a:t>
            </a:r>
            <a:r>
              <a:rPr lang="ko-KR" altLang="en-US" sz="1100" dirty="0">
                <a:solidFill>
                  <a:schemeClr val="tx2"/>
                </a:solidFill>
                <a:latin typeface="+mn-ea"/>
              </a:rPr>
              <a:t>조에 따른 산업재산권분쟁조정위원회</a:t>
            </a:r>
            <a:r>
              <a:rPr lang="en-US" altLang="ko-KR" sz="1100" dirty="0">
                <a:solidFill>
                  <a:srgbClr val="FF0000"/>
                </a:solidFill>
                <a:latin typeface="+mn-ea"/>
              </a:rPr>
              <a:t>(</a:t>
            </a:r>
            <a:r>
              <a:rPr lang="ko-KR" altLang="en-US" sz="1100" dirty="0">
                <a:solidFill>
                  <a:srgbClr val="FF0000"/>
                </a:solidFill>
                <a:latin typeface="+mn-ea"/>
              </a:rPr>
              <a:t>이하 “</a:t>
            </a:r>
            <a:r>
              <a:rPr lang="ko-KR" altLang="en-US" sz="1100" dirty="0" err="1">
                <a:solidFill>
                  <a:srgbClr val="FF0000"/>
                </a:solidFill>
                <a:latin typeface="+mn-ea"/>
              </a:rPr>
              <a:t>조정위원회”라</a:t>
            </a:r>
            <a:r>
              <a:rPr lang="ko-KR" altLang="en-US" sz="1100" dirty="0">
                <a:solidFill>
                  <a:srgbClr val="FF0000"/>
                </a:solidFill>
                <a:latin typeface="+mn-ea"/>
              </a:rPr>
              <a:t> 한다</a:t>
            </a:r>
            <a:r>
              <a:rPr lang="en-US" altLang="ko-KR" sz="1100" dirty="0">
                <a:solidFill>
                  <a:srgbClr val="FF0000"/>
                </a:solidFill>
                <a:latin typeface="+mn-ea"/>
              </a:rPr>
              <a:t>)</a:t>
            </a:r>
            <a:r>
              <a:rPr lang="ko-KR" altLang="en-US" sz="1100" dirty="0">
                <a:solidFill>
                  <a:schemeClr val="tx2"/>
                </a:solidFill>
                <a:latin typeface="+mn-ea"/>
              </a:rPr>
              <a:t> 및 관계 부처의 장의 의견을 들을 수 있고</a:t>
            </a:r>
            <a:r>
              <a:rPr lang="en-US" altLang="ko-KR" sz="1100" dirty="0">
                <a:solidFill>
                  <a:schemeClr val="tx2"/>
                </a:solidFill>
                <a:latin typeface="+mn-ea"/>
              </a:rPr>
              <a:t>, </a:t>
            </a:r>
            <a:r>
              <a:rPr lang="ko-KR" altLang="en-US" sz="1100" dirty="0">
                <a:solidFill>
                  <a:schemeClr val="tx2"/>
                </a:solidFill>
                <a:latin typeface="+mn-ea"/>
              </a:rPr>
              <a:t>관계 행정기관이나 관계인에게 협조를 요청할 수 있다</a:t>
            </a:r>
            <a:r>
              <a:rPr lang="en-US" altLang="ko-KR" sz="1100" dirty="0">
                <a:solidFill>
                  <a:schemeClr val="tx2"/>
                </a:solidFill>
                <a:latin typeface="+mn-ea"/>
              </a:rPr>
              <a:t>.</a:t>
            </a:r>
            <a:r>
              <a:rPr lang="ko-KR" altLang="en-US" sz="1100" b="1" dirty="0">
                <a:solidFill>
                  <a:schemeClr val="tx2"/>
                </a:solidFill>
                <a:latin typeface="+mn-ea"/>
              </a:rPr>
              <a:t> </a:t>
            </a:r>
            <a:endParaRPr lang="en-US" altLang="ko-KR" sz="1100" b="1" dirty="0">
              <a:solidFill>
                <a:schemeClr val="tx2"/>
              </a:solidFill>
              <a:latin typeface="+mn-ea"/>
            </a:endParaRPr>
          </a:p>
          <a:p>
            <a:r>
              <a:rPr lang="ko-KR" altLang="en-US" sz="1100" b="1" dirty="0">
                <a:solidFill>
                  <a:schemeClr val="accent1"/>
                </a:solidFill>
                <a:latin typeface="+mn-ea"/>
              </a:rPr>
              <a:t>제</a:t>
            </a:r>
            <a:r>
              <a:rPr lang="en-US" altLang="ko-KR" sz="1100" b="1" dirty="0">
                <a:solidFill>
                  <a:schemeClr val="accent1"/>
                </a:solidFill>
                <a:latin typeface="+mn-ea"/>
              </a:rPr>
              <a:t>110</a:t>
            </a:r>
            <a:r>
              <a:rPr lang="ko-KR" altLang="en-US" sz="1100" b="1" dirty="0">
                <a:solidFill>
                  <a:schemeClr val="accent1"/>
                </a:solidFill>
                <a:latin typeface="+mn-ea"/>
              </a:rPr>
              <a:t>조</a:t>
            </a:r>
            <a:r>
              <a:rPr lang="en-US" altLang="ko-KR" sz="1100" b="1" dirty="0">
                <a:solidFill>
                  <a:schemeClr val="accent1"/>
                </a:solidFill>
                <a:latin typeface="+mn-ea"/>
              </a:rPr>
              <a:t>(</a:t>
            </a:r>
            <a:r>
              <a:rPr lang="ko-KR" altLang="en-US" sz="1100" b="1" dirty="0">
                <a:solidFill>
                  <a:schemeClr val="accent1"/>
                </a:solidFill>
                <a:latin typeface="+mn-ea"/>
              </a:rPr>
              <a:t>재정의 방식 등</a:t>
            </a:r>
            <a:r>
              <a:rPr lang="en-US" altLang="ko-KR" sz="1100" b="1" dirty="0">
                <a:solidFill>
                  <a:schemeClr val="accent1"/>
                </a:solidFill>
                <a:latin typeface="+mn-ea"/>
              </a:rPr>
              <a:t>)</a:t>
            </a:r>
            <a:r>
              <a:rPr lang="ko-KR" altLang="en-US" sz="1100" dirty="0">
                <a:solidFill>
                  <a:schemeClr val="accent1"/>
                </a:solidFill>
                <a:latin typeface="+mn-ea"/>
              </a:rPr>
              <a:t> </a:t>
            </a:r>
            <a:r>
              <a:rPr lang="ko-KR" altLang="en-US" sz="1100" dirty="0">
                <a:solidFill>
                  <a:schemeClr val="tx2"/>
                </a:solidFill>
                <a:latin typeface="+mn-ea"/>
              </a:rPr>
              <a:t>① 재정은 서면으로 하고</a:t>
            </a:r>
            <a:r>
              <a:rPr lang="en-US" altLang="ko-KR" sz="1100" dirty="0">
                <a:solidFill>
                  <a:schemeClr val="tx2"/>
                </a:solidFill>
                <a:latin typeface="+mn-ea"/>
              </a:rPr>
              <a:t>, </a:t>
            </a:r>
            <a:r>
              <a:rPr lang="ko-KR" altLang="en-US" sz="1100" dirty="0">
                <a:solidFill>
                  <a:schemeClr val="tx2"/>
                </a:solidFill>
                <a:latin typeface="+mn-ea"/>
              </a:rPr>
              <a:t>그 이유를 구체적으로 적어야 한다</a:t>
            </a:r>
            <a:r>
              <a:rPr lang="en-US" altLang="ko-KR" sz="1100" dirty="0">
                <a:solidFill>
                  <a:schemeClr val="tx2"/>
                </a:solidFill>
                <a:latin typeface="+mn-ea"/>
              </a:rPr>
              <a:t>.</a:t>
            </a:r>
          </a:p>
          <a:p>
            <a:r>
              <a:rPr lang="en-US" altLang="ko-KR" sz="1100" dirty="0">
                <a:solidFill>
                  <a:schemeClr val="tx2"/>
                </a:solidFill>
                <a:latin typeface="+mn-ea"/>
              </a:rPr>
              <a:t>② </a:t>
            </a:r>
            <a:r>
              <a:rPr lang="ko-KR" altLang="en-US" sz="1100" dirty="0">
                <a:solidFill>
                  <a:schemeClr val="tx2"/>
                </a:solidFill>
                <a:latin typeface="+mn-ea"/>
              </a:rPr>
              <a:t>제</a:t>
            </a:r>
            <a:r>
              <a:rPr lang="en-US" altLang="ko-KR" sz="1100" dirty="0">
                <a:solidFill>
                  <a:schemeClr val="tx2"/>
                </a:solidFill>
                <a:latin typeface="+mn-ea"/>
              </a:rPr>
              <a:t>1</a:t>
            </a:r>
            <a:r>
              <a:rPr lang="ko-KR" altLang="en-US" sz="1100" dirty="0">
                <a:solidFill>
                  <a:schemeClr val="tx2"/>
                </a:solidFill>
                <a:latin typeface="+mn-ea"/>
              </a:rPr>
              <a:t>항에 따른 재정에는 다음 각 호의 사항을 구체적으로 적어야 한다</a:t>
            </a:r>
            <a:r>
              <a:rPr lang="en-US" altLang="ko-KR" sz="1100" dirty="0">
                <a:solidFill>
                  <a:schemeClr val="tx2"/>
                </a:solidFill>
                <a:latin typeface="+mn-ea"/>
              </a:rPr>
              <a:t>.</a:t>
            </a:r>
          </a:p>
          <a:p>
            <a:r>
              <a:rPr lang="en-US" altLang="ko-KR" sz="1100" dirty="0">
                <a:solidFill>
                  <a:schemeClr val="tx2"/>
                </a:solidFill>
                <a:latin typeface="+mn-ea"/>
              </a:rPr>
              <a:t>1. </a:t>
            </a:r>
            <a:r>
              <a:rPr lang="ko-KR" altLang="en-US" sz="1100" dirty="0" err="1">
                <a:solidFill>
                  <a:schemeClr val="tx2"/>
                </a:solidFill>
                <a:latin typeface="+mn-ea"/>
              </a:rPr>
              <a:t>통상실시권의</a:t>
            </a:r>
            <a:r>
              <a:rPr lang="ko-KR" altLang="en-US" sz="1100" dirty="0">
                <a:solidFill>
                  <a:schemeClr val="tx2"/>
                </a:solidFill>
                <a:latin typeface="+mn-ea"/>
              </a:rPr>
              <a:t> 범위 및 기간</a:t>
            </a:r>
          </a:p>
          <a:p>
            <a:r>
              <a:rPr lang="en-US" altLang="ko-KR" sz="1100" dirty="0">
                <a:solidFill>
                  <a:schemeClr val="tx2"/>
                </a:solidFill>
                <a:latin typeface="+mn-ea"/>
              </a:rPr>
              <a:t>2. </a:t>
            </a:r>
            <a:r>
              <a:rPr lang="ko-KR" altLang="en-US" sz="1100" dirty="0">
                <a:solidFill>
                  <a:schemeClr val="tx2"/>
                </a:solidFill>
                <a:latin typeface="+mn-ea"/>
              </a:rPr>
              <a:t>대가와 그 지급방법 및 지급시기</a:t>
            </a:r>
          </a:p>
          <a:p>
            <a:r>
              <a:rPr lang="en-US" altLang="ko-KR" sz="1100" dirty="0">
                <a:solidFill>
                  <a:schemeClr val="tx2"/>
                </a:solidFill>
                <a:latin typeface="+mn-ea"/>
              </a:rPr>
              <a:t>3. </a:t>
            </a:r>
            <a:r>
              <a:rPr lang="ko-KR" altLang="en-US" sz="1100" dirty="0">
                <a:solidFill>
                  <a:schemeClr val="tx2"/>
                </a:solidFill>
                <a:latin typeface="+mn-ea"/>
              </a:rPr>
              <a:t>제</a:t>
            </a:r>
            <a:r>
              <a:rPr lang="en-US" altLang="ko-KR" sz="1100" dirty="0">
                <a:solidFill>
                  <a:schemeClr val="tx2"/>
                </a:solidFill>
                <a:latin typeface="+mn-ea"/>
              </a:rPr>
              <a:t>107</a:t>
            </a:r>
            <a:r>
              <a:rPr lang="ko-KR" altLang="en-US" sz="1100" dirty="0">
                <a:solidFill>
                  <a:schemeClr val="tx2"/>
                </a:solidFill>
                <a:latin typeface="+mn-ea"/>
              </a:rPr>
              <a:t>조제</a:t>
            </a:r>
            <a:r>
              <a:rPr lang="en-US" altLang="ko-KR" sz="1100" dirty="0">
                <a:solidFill>
                  <a:schemeClr val="tx2"/>
                </a:solidFill>
                <a:latin typeface="+mn-ea"/>
              </a:rPr>
              <a:t>1</a:t>
            </a:r>
            <a:r>
              <a:rPr lang="ko-KR" altLang="en-US" sz="1100" dirty="0" err="1">
                <a:solidFill>
                  <a:schemeClr val="tx2"/>
                </a:solidFill>
                <a:latin typeface="+mn-ea"/>
              </a:rPr>
              <a:t>항제</a:t>
            </a:r>
            <a:r>
              <a:rPr lang="en-US" altLang="ko-KR" sz="1100" dirty="0">
                <a:solidFill>
                  <a:schemeClr val="tx2"/>
                </a:solidFill>
                <a:latin typeface="+mn-ea"/>
              </a:rPr>
              <a:t>5</a:t>
            </a:r>
            <a:r>
              <a:rPr lang="ko-KR" altLang="en-US" sz="1100" dirty="0">
                <a:solidFill>
                  <a:schemeClr val="tx2"/>
                </a:solidFill>
                <a:latin typeface="+mn-ea"/>
              </a:rPr>
              <a:t>호에 따른 재정의 경우에는 그 특허발명의 </a:t>
            </a:r>
            <a:r>
              <a:rPr lang="ko-KR" altLang="en-US" sz="1100" dirty="0" err="1">
                <a:solidFill>
                  <a:schemeClr val="tx2"/>
                </a:solidFill>
                <a:latin typeface="+mn-ea"/>
              </a:rPr>
              <a:t>특허권자ㆍ전용실시권자</a:t>
            </a:r>
            <a:r>
              <a:rPr lang="ko-KR" altLang="en-US" sz="1100" dirty="0">
                <a:solidFill>
                  <a:schemeClr val="tx2"/>
                </a:solidFill>
                <a:latin typeface="+mn-ea"/>
              </a:rPr>
              <a:t> 또는 </a:t>
            </a:r>
            <a:r>
              <a:rPr lang="ko-KR" altLang="en-US" sz="1100" dirty="0" err="1">
                <a:solidFill>
                  <a:schemeClr val="tx2"/>
                </a:solidFill>
                <a:latin typeface="+mn-ea"/>
              </a:rPr>
              <a:t>통상실시권자</a:t>
            </a:r>
            <a:r>
              <a:rPr lang="en-US" altLang="ko-KR" sz="1100" dirty="0">
                <a:solidFill>
                  <a:schemeClr val="tx2"/>
                </a:solidFill>
                <a:latin typeface="+mn-ea"/>
              </a:rPr>
              <a:t>(</a:t>
            </a:r>
            <a:r>
              <a:rPr lang="ko-KR" altLang="en-US" sz="1100" dirty="0">
                <a:solidFill>
                  <a:schemeClr val="tx2"/>
                </a:solidFill>
                <a:latin typeface="+mn-ea"/>
              </a:rPr>
              <a:t>재정에 따른 경우는 제외한다</a:t>
            </a:r>
            <a:r>
              <a:rPr lang="en-US" altLang="ko-KR" sz="1100" dirty="0">
                <a:solidFill>
                  <a:schemeClr val="tx2"/>
                </a:solidFill>
                <a:latin typeface="+mn-ea"/>
              </a:rPr>
              <a:t>)</a:t>
            </a:r>
            <a:r>
              <a:rPr lang="ko-KR" altLang="en-US" sz="1100" dirty="0">
                <a:solidFill>
                  <a:schemeClr val="tx2"/>
                </a:solidFill>
                <a:latin typeface="+mn-ea"/>
              </a:rPr>
              <a:t>가 공급하는 의약품과 외관상 구분할 수 있는 </a:t>
            </a:r>
            <a:r>
              <a:rPr lang="ko-KR" altLang="en-US" sz="1100" dirty="0" err="1">
                <a:solidFill>
                  <a:schemeClr val="tx2"/>
                </a:solidFill>
                <a:latin typeface="+mn-ea"/>
              </a:rPr>
              <a:t>포장ㆍ표시</a:t>
            </a:r>
            <a:r>
              <a:rPr lang="ko-KR" altLang="en-US" sz="1100" dirty="0">
                <a:solidFill>
                  <a:schemeClr val="tx2"/>
                </a:solidFill>
                <a:latin typeface="+mn-ea"/>
              </a:rPr>
              <a:t> 및 재정에서 정한 사항을 공시할 인터넷 주소</a:t>
            </a:r>
          </a:p>
          <a:p>
            <a:r>
              <a:rPr lang="en-US" altLang="ko-KR" sz="1100" dirty="0">
                <a:solidFill>
                  <a:schemeClr val="tx2"/>
                </a:solidFill>
                <a:latin typeface="+mn-ea"/>
              </a:rPr>
              <a:t>4. </a:t>
            </a:r>
            <a:r>
              <a:rPr lang="ko-KR" altLang="en-US" sz="1100" dirty="0">
                <a:solidFill>
                  <a:schemeClr val="tx2"/>
                </a:solidFill>
                <a:latin typeface="+mn-ea"/>
              </a:rPr>
              <a:t>그 밖에 재정을 받은 자가 그 특허발명을 실시할 경우 법령 또는 조약에 따른 내용을 이행하기 위하여 필요한 준수사항</a:t>
            </a:r>
          </a:p>
          <a:p>
            <a:r>
              <a:rPr lang="ko-KR" altLang="en-US" sz="1100" dirty="0">
                <a:solidFill>
                  <a:schemeClr val="tx2"/>
                </a:solidFill>
                <a:latin typeface="+mn-ea"/>
              </a:rPr>
              <a:t>③ 지식재산처장은 정당한 사유가 있는 경우를 제외하고는 재정청구일부터 </a:t>
            </a:r>
            <a:r>
              <a:rPr lang="en-US" altLang="ko-KR" sz="1100" dirty="0">
                <a:solidFill>
                  <a:schemeClr val="tx2"/>
                </a:solidFill>
                <a:latin typeface="+mn-ea"/>
              </a:rPr>
              <a:t>6</a:t>
            </a:r>
            <a:r>
              <a:rPr lang="ko-KR" altLang="en-US" sz="1100" dirty="0">
                <a:solidFill>
                  <a:schemeClr val="tx2"/>
                </a:solidFill>
                <a:latin typeface="+mn-ea"/>
              </a:rPr>
              <a:t>개월 이내에 재정에 관한 결정을 하여야 한다</a:t>
            </a:r>
            <a:r>
              <a:rPr lang="en-US" altLang="ko-KR" sz="1100" dirty="0">
                <a:solidFill>
                  <a:schemeClr val="tx2"/>
                </a:solidFill>
                <a:latin typeface="+mn-ea"/>
              </a:rPr>
              <a:t>.</a:t>
            </a:r>
          </a:p>
          <a:p>
            <a:r>
              <a:rPr lang="en-US" altLang="ko-KR" sz="1100" dirty="0">
                <a:solidFill>
                  <a:schemeClr val="tx2"/>
                </a:solidFill>
                <a:latin typeface="+mn-ea"/>
              </a:rPr>
              <a:t>④ </a:t>
            </a:r>
            <a:r>
              <a:rPr lang="ko-KR" altLang="en-US" sz="1100" dirty="0">
                <a:solidFill>
                  <a:schemeClr val="tx2"/>
                </a:solidFill>
                <a:latin typeface="+mn-ea"/>
              </a:rPr>
              <a:t>제</a:t>
            </a:r>
            <a:r>
              <a:rPr lang="en-US" altLang="ko-KR" sz="1100" dirty="0">
                <a:solidFill>
                  <a:schemeClr val="tx2"/>
                </a:solidFill>
                <a:latin typeface="+mn-ea"/>
              </a:rPr>
              <a:t>107</a:t>
            </a:r>
            <a:r>
              <a:rPr lang="ko-KR" altLang="en-US" sz="1100" dirty="0">
                <a:solidFill>
                  <a:schemeClr val="tx2"/>
                </a:solidFill>
                <a:latin typeface="+mn-ea"/>
              </a:rPr>
              <a:t>조제</a:t>
            </a:r>
            <a:r>
              <a:rPr lang="en-US" altLang="ko-KR" sz="1100" dirty="0">
                <a:solidFill>
                  <a:schemeClr val="tx2"/>
                </a:solidFill>
                <a:latin typeface="+mn-ea"/>
              </a:rPr>
              <a:t>1</a:t>
            </a:r>
            <a:r>
              <a:rPr lang="ko-KR" altLang="en-US" sz="1100" dirty="0" err="1">
                <a:solidFill>
                  <a:schemeClr val="tx2"/>
                </a:solidFill>
                <a:latin typeface="+mn-ea"/>
              </a:rPr>
              <a:t>항제</a:t>
            </a:r>
            <a:r>
              <a:rPr lang="en-US" altLang="ko-KR" sz="1100" dirty="0">
                <a:solidFill>
                  <a:schemeClr val="tx2"/>
                </a:solidFill>
                <a:latin typeface="+mn-ea"/>
              </a:rPr>
              <a:t>5</a:t>
            </a:r>
            <a:r>
              <a:rPr lang="ko-KR" altLang="en-US" sz="1100" dirty="0">
                <a:solidFill>
                  <a:schemeClr val="tx2"/>
                </a:solidFill>
                <a:latin typeface="+mn-ea"/>
              </a:rPr>
              <a:t>호에 따른 재정청구가 같은 조 제</a:t>
            </a:r>
            <a:r>
              <a:rPr lang="en-US" altLang="ko-KR" sz="1100" dirty="0">
                <a:solidFill>
                  <a:schemeClr val="tx2"/>
                </a:solidFill>
                <a:latin typeface="+mn-ea"/>
              </a:rPr>
              <a:t>7</a:t>
            </a:r>
            <a:r>
              <a:rPr lang="ko-KR" altLang="en-US" sz="1100" dirty="0">
                <a:solidFill>
                  <a:schemeClr val="tx2"/>
                </a:solidFill>
                <a:latin typeface="+mn-ea"/>
              </a:rPr>
              <a:t>항 및 제</a:t>
            </a:r>
            <a:r>
              <a:rPr lang="en-US" altLang="ko-KR" sz="1100" dirty="0">
                <a:solidFill>
                  <a:schemeClr val="tx2"/>
                </a:solidFill>
                <a:latin typeface="+mn-ea"/>
              </a:rPr>
              <a:t>8</a:t>
            </a:r>
            <a:r>
              <a:rPr lang="ko-KR" altLang="en-US" sz="1100" dirty="0">
                <a:solidFill>
                  <a:schemeClr val="tx2"/>
                </a:solidFill>
                <a:latin typeface="+mn-ea"/>
              </a:rPr>
              <a:t>항에 해당하고 같은 조 제</a:t>
            </a:r>
            <a:r>
              <a:rPr lang="en-US" altLang="ko-KR" sz="1100" dirty="0">
                <a:solidFill>
                  <a:schemeClr val="tx2"/>
                </a:solidFill>
                <a:latin typeface="+mn-ea"/>
              </a:rPr>
              <a:t>9</a:t>
            </a:r>
            <a:r>
              <a:rPr lang="ko-KR" altLang="en-US" sz="1100" dirty="0">
                <a:solidFill>
                  <a:schemeClr val="tx2"/>
                </a:solidFill>
                <a:latin typeface="+mn-ea"/>
              </a:rPr>
              <a:t>항에 따른 서류가 모두 제출된 경우에는 지식재산처장은 정당한 사유가 있는 경우를 제외하고는 통상실시권 설정의 재정을 하여야 한다</a:t>
            </a:r>
            <a:r>
              <a:rPr lang="en-US" altLang="ko-KR" sz="1100" dirty="0">
                <a:solidFill>
                  <a:schemeClr val="tx2"/>
                </a:solidFill>
                <a:latin typeface="+mn-ea"/>
              </a:rPr>
              <a:t>.</a:t>
            </a:r>
          </a:p>
          <a:p>
            <a:r>
              <a:rPr lang="ko-KR" altLang="en-US" sz="1100" b="1" dirty="0">
                <a:solidFill>
                  <a:schemeClr val="accent1"/>
                </a:solidFill>
                <a:latin typeface="+mn-ea"/>
              </a:rPr>
              <a:t>제</a:t>
            </a:r>
            <a:r>
              <a:rPr lang="en-US" altLang="ko-KR" sz="1100" b="1" dirty="0">
                <a:solidFill>
                  <a:schemeClr val="accent1"/>
                </a:solidFill>
                <a:latin typeface="+mn-ea"/>
              </a:rPr>
              <a:t>111</a:t>
            </a:r>
            <a:r>
              <a:rPr lang="ko-KR" altLang="en-US" sz="1100" b="1" dirty="0">
                <a:solidFill>
                  <a:schemeClr val="accent1"/>
                </a:solidFill>
                <a:latin typeface="+mn-ea"/>
              </a:rPr>
              <a:t>조</a:t>
            </a:r>
            <a:r>
              <a:rPr lang="en-US" altLang="ko-KR" sz="1100" b="1" dirty="0">
                <a:solidFill>
                  <a:schemeClr val="accent1"/>
                </a:solidFill>
                <a:latin typeface="+mn-ea"/>
              </a:rPr>
              <a:t>(</a:t>
            </a:r>
            <a:r>
              <a:rPr lang="ko-KR" altLang="en-US" sz="1100" b="1" dirty="0" err="1">
                <a:solidFill>
                  <a:schemeClr val="accent1"/>
                </a:solidFill>
                <a:latin typeface="+mn-ea"/>
              </a:rPr>
              <a:t>재정서등본의</a:t>
            </a:r>
            <a:r>
              <a:rPr lang="ko-KR" altLang="en-US" sz="1100" b="1" dirty="0">
                <a:solidFill>
                  <a:schemeClr val="accent1"/>
                </a:solidFill>
                <a:latin typeface="+mn-ea"/>
              </a:rPr>
              <a:t> 송달</a:t>
            </a:r>
            <a:r>
              <a:rPr lang="en-US" altLang="ko-KR" sz="1100" b="1" dirty="0">
                <a:solidFill>
                  <a:schemeClr val="accent1"/>
                </a:solidFill>
                <a:latin typeface="+mn-ea"/>
              </a:rPr>
              <a:t>)</a:t>
            </a:r>
            <a:r>
              <a:rPr lang="ko-KR" altLang="en-US" sz="1100" dirty="0">
                <a:solidFill>
                  <a:schemeClr val="accent1"/>
                </a:solidFill>
                <a:latin typeface="+mn-ea"/>
              </a:rPr>
              <a:t> </a:t>
            </a:r>
            <a:r>
              <a:rPr lang="ko-KR" altLang="en-US" sz="1100" dirty="0">
                <a:solidFill>
                  <a:schemeClr val="tx2"/>
                </a:solidFill>
                <a:latin typeface="+mn-ea"/>
              </a:rPr>
              <a:t>① 지식재산처장은 재정을 한 경우에는 당사자 및 그 특허에 관하여 등록을 한 권리를 가지는 자에게 재정서등본을 송달하여야 한다</a:t>
            </a:r>
            <a:r>
              <a:rPr lang="en-US" altLang="ko-KR" sz="1100" dirty="0">
                <a:solidFill>
                  <a:schemeClr val="tx2"/>
                </a:solidFill>
                <a:latin typeface="+mn-ea"/>
              </a:rPr>
              <a:t>.</a:t>
            </a:r>
          </a:p>
          <a:p>
            <a:r>
              <a:rPr lang="en-US" altLang="ko-KR" sz="1100" dirty="0">
                <a:solidFill>
                  <a:schemeClr val="tx2"/>
                </a:solidFill>
                <a:latin typeface="+mn-ea"/>
              </a:rPr>
              <a:t>② </a:t>
            </a:r>
            <a:r>
              <a:rPr lang="ko-KR" altLang="en-US" sz="1100" dirty="0">
                <a:solidFill>
                  <a:schemeClr val="tx2"/>
                </a:solidFill>
                <a:latin typeface="+mn-ea"/>
              </a:rPr>
              <a:t>제</a:t>
            </a:r>
            <a:r>
              <a:rPr lang="en-US" altLang="ko-KR" sz="1100" dirty="0">
                <a:solidFill>
                  <a:schemeClr val="tx2"/>
                </a:solidFill>
                <a:latin typeface="+mn-ea"/>
              </a:rPr>
              <a:t>1</a:t>
            </a:r>
            <a:r>
              <a:rPr lang="ko-KR" altLang="en-US" sz="1100" dirty="0">
                <a:solidFill>
                  <a:schemeClr val="tx2"/>
                </a:solidFill>
                <a:latin typeface="+mn-ea"/>
              </a:rPr>
              <a:t>항에 따라 당사자에게 </a:t>
            </a:r>
            <a:r>
              <a:rPr lang="ko-KR" altLang="en-US" sz="1100" dirty="0" err="1">
                <a:solidFill>
                  <a:schemeClr val="tx2"/>
                </a:solidFill>
                <a:latin typeface="+mn-ea"/>
              </a:rPr>
              <a:t>재정서등본이</a:t>
            </a:r>
            <a:r>
              <a:rPr lang="ko-KR" altLang="en-US" sz="1100" dirty="0">
                <a:solidFill>
                  <a:schemeClr val="tx2"/>
                </a:solidFill>
                <a:latin typeface="+mn-ea"/>
              </a:rPr>
              <a:t> 송달되었을 때에는 </a:t>
            </a:r>
            <a:r>
              <a:rPr lang="ko-KR" altLang="en-US" sz="1100" dirty="0" err="1">
                <a:solidFill>
                  <a:schemeClr val="tx2"/>
                </a:solidFill>
                <a:latin typeface="+mn-ea"/>
              </a:rPr>
              <a:t>재정서에</a:t>
            </a:r>
            <a:r>
              <a:rPr lang="ko-KR" altLang="en-US" sz="1100" dirty="0">
                <a:solidFill>
                  <a:schemeClr val="tx2"/>
                </a:solidFill>
                <a:latin typeface="+mn-ea"/>
              </a:rPr>
              <a:t> 적혀 있는 바에 따라 당사자 사이에 협의가 이루어진 것으로 본다</a:t>
            </a:r>
            <a:r>
              <a:rPr lang="en-US" altLang="ko-KR" sz="1100" dirty="0">
                <a:solidFill>
                  <a:schemeClr val="tx2"/>
                </a:solidFill>
                <a:latin typeface="+mn-ea"/>
              </a:rPr>
              <a:t>.</a:t>
            </a:r>
          </a:p>
          <a:p>
            <a:r>
              <a:rPr lang="ko-KR" altLang="en-US" sz="1100" b="1" dirty="0">
                <a:solidFill>
                  <a:schemeClr val="accent1"/>
                </a:solidFill>
              </a:rPr>
              <a:t>제</a:t>
            </a:r>
            <a:r>
              <a:rPr lang="en-US" altLang="ko-KR" sz="1100" b="1" dirty="0">
                <a:solidFill>
                  <a:schemeClr val="accent1"/>
                </a:solidFill>
              </a:rPr>
              <a:t>111</a:t>
            </a:r>
            <a:r>
              <a:rPr lang="ko-KR" altLang="en-US" sz="1100" b="1" dirty="0">
                <a:solidFill>
                  <a:schemeClr val="accent1"/>
                </a:solidFill>
              </a:rPr>
              <a:t>조의</a:t>
            </a:r>
            <a:r>
              <a:rPr lang="en-US" altLang="ko-KR" sz="1100" b="1" dirty="0">
                <a:solidFill>
                  <a:schemeClr val="accent1"/>
                </a:solidFill>
              </a:rPr>
              <a:t>2(</a:t>
            </a:r>
            <a:r>
              <a:rPr lang="ko-KR" altLang="en-US" sz="1100" b="1" dirty="0">
                <a:solidFill>
                  <a:schemeClr val="accent1"/>
                </a:solidFill>
              </a:rPr>
              <a:t>재정서의 변경</a:t>
            </a:r>
            <a:r>
              <a:rPr lang="en-US" altLang="ko-KR" sz="1100" b="1" dirty="0">
                <a:solidFill>
                  <a:schemeClr val="accent1"/>
                </a:solidFill>
              </a:rPr>
              <a:t>)</a:t>
            </a:r>
            <a:r>
              <a:rPr lang="ko-KR" altLang="en-US" sz="1100" dirty="0">
                <a:solidFill>
                  <a:schemeClr val="accent1"/>
                </a:solidFill>
              </a:rPr>
              <a:t> </a:t>
            </a:r>
            <a:r>
              <a:rPr lang="ko-KR" altLang="en-US" sz="1100" dirty="0">
                <a:solidFill>
                  <a:schemeClr val="tx2"/>
                </a:solidFill>
              </a:rPr>
              <a:t>① 재정을 받은 자는 </a:t>
            </a:r>
            <a:r>
              <a:rPr lang="ko-KR" altLang="en-US" sz="1100" dirty="0" err="1">
                <a:solidFill>
                  <a:schemeClr val="tx2"/>
                </a:solidFill>
              </a:rPr>
              <a:t>재정서에</a:t>
            </a:r>
            <a:r>
              <a:rPr lang="ko-KR" altLang="en-US" sz="1100" dirty="0">
                <a:solidFill>
                  <a:schemeClr val="tx2"/>
                </a:solidFill>
              </a:rPr>
              <a:t> 적혀 있는 제</a:t>
            </a:r>
            <a:r>
              <a:rPr lang="en-US" altLang="ko-KR" sz="1100" dirty="0">
                <a:solidFill>
                  <a:schemeClr val="tx2"/>
                </a:solidFill>
              </a:rPr>
              <a:t>110</a:t>
            </a:r>
            <a:r>
              <a:rPr lang="ko-KR" altLang="en-US" sz="1100" dirty="0">
                <a:solidFill>
                  <a:schemeClr val="tx2"/>
                </a:solidFill>
              </a:rPr>
              <a:t>조제</a:t>
            </a:r>
            <a:r>
              <a:rPr lang="en-US" altLang="ko-KR" sz="1100" dirty="0">
                <a:solidFill>
                  <a:schemeClr val="tx2"/>
                </a:solidFill>
              </a:rPr>
              <a:t>2</a:t>
            </a:r>
            <a:r>
              <a:rPr lang="ko-KR" altLang="en-US" sz="1100" dirty="0" err="1">
                <a:solidFill>
                  <a:schemeClr val="tx2"/>
                </a:solidFill>
              </a:rPr>
              <a:t>항제</a:t>
            </a:r>
            <a:r>
              <a:rPr lang="en-US" altLang="ko-KR" sz="1100" dirty="0">
                <a:solidFill>
                  <a:schemeClr val="tx2"/>
                </a:solidFill>
              </a:rPr>
              <a:t>3</a:t>
            </a:r>
            <a:r>
              <a:rPr lang="ko-KR" altLang="en-US" sz="1100" dirty="0">
                <a:solidFill>
                  <a:schemeClr val="tx2"/>
                </a:solidFill>
              </a:rPr>
              <a:t>호의 사항에 관하여 변경이 필요하면 그 원인을 증명하는 서류를 첨부하여 지식재산처장에게 변경청구를 할 수 있다</a:t>
            </a:r>
            <a:r>
              <a:rPr lang="en-US" altLang="ko-KR" sz="1100" dirty="0">
                <a:solidFill>
                  <a:schemeClr val="tx2"/>
                </a:solidFill>
              </a:rPr>
              <a:t>.</a:t>
            </a:r>
          </a:p>
          <a:p>
            <a:r>
              <a:rPr lang="en-US" altLang="ko-KR" sz="1100" dirty="0">
                <a:solidFill>
                  <a:schemeClr val="tx2"/>
                </a:solidFill>
              </a:rPr>
              <a:t>② </a:t>
            </a:r>
            <a:r>
              <a:rPr lang="ko-KR" altLang="en-US" sz="1100" dirty="0">
                <a:solidFill>
                  <a:schemeClr val="tx2"/>
                </a:solidFill>
              </a:rPr>
              <a:t>지식재산처장은 제</a:t>
            </a:r>
            <a:r>
              <a:rPr lang="en-US" altLang="ko-KR" sz="1100" dirty="0">
                <a:solidFill>
                  <a:schemeClr val="tx2"/>
                </a:solidFill>
              </a:rPr>
              <a:t>1</a:t>
            </a:r>
            <a:r>
              <a:rPr lang="ko-KR" altLang="en-US" sz="1100" dirty="0">
                <a:solidFill>
                  <a:schemeClr val="tx2"/>
                </a:solidFill>
              </a:rPr>
              <a:t>항에 따른 청구가 </a:t>
            </a:r>
            <a:r>
              <a:rPr lang="ko-KR" altLang="en-US" sz="1100" dirty="0" err="1">
                <a:solidFill>
                  <a:schemeClr val="tx2"/>
                </a:solidFill>
              </a:rPr>
              <a:t>이유있다고</a:t>
            </a:r>
            <a:r>
              <a:rPr lang="ko-KR" altLang="en-US" sz="1100" dirty="0">
                <a:solidFill>
                  <a:schemeClr val="tx2"/>
                </a:solidFill>
              </a:rPr>
              <a:t> 인정되면 </a:t>
            </a:r>
            <a:r>
              <a:rPr lang="ko-KR" altLang="en-US" sz="1100" dirty="0" err="1">
                <a:solidFill>
                  <a:schemeClr val="tx2"/>
                </a:solidFill>
              </a:rPr>
              <a:t>재정서에</a:t>
            </a:r>
            <a:r>
              <a:rPr lang="ko-KR" altLang="en-US" sz="1100" dirty="0">
                <a:solidFill>
                  <a:schemeClr val="tx2"/>
                </a:solidFill>
              </a:rPr>
              <a:t> 적혀 있는 사항을 변경할 수 있다</a:t>
            </a:r>
            <a:r>
              <a:rPr lang="en-US" altLang="ko-KR" sz="1100" dirty="0">
                <a:solidFill>
                  <a:schemeClr val="tx2"/>
                </a:solidFill>
              </a:rPr>
              <a:t>. </a:t>
            </a:r>
            <a:r>
              <a:rPr lang="ko-KR" altLang="en-US" sz="1100" dirty="0">
                <a:solidFill>
                  <a:schemeClr val="tx2"/>
                </a:solidFill>
              </a:rPr>
              <a:t>이 경우 이해관계인의 의견을 들어야 한다</a:t>
            </a:r>
            <a:r>
              <a:rPr lang="en-US" altLang="ko-KR" sz="1100" dirty="0">
                <a:solidFill>
                  <a:schemeClr val="tx2"/>
                </a:solidFill>
              </a:rPr>
              <a:t>.</a:t>
            </a:r>
          </a:p>
          <a:p>
            <a:r>
              <a:rPr lang="en-US" altLang="ko-KR" sz="1100" dirty="0">
                <a:solidFill>
                  <a:schemeClr val="tx2"/>
                </a:solidFill>
              </a:rPr>
              <a:t>③ </a:t>
            </a:r>
            <a:r>
              <a:rPr lang="ko-KR" altLang="en-US" sz="1100" dirty="0">
                <a:solidFill>
                  <a:schemeClr val="tx2"/>
                </a:solidFill>
              </a:rPr>
              <a:t>제</a:t>
            </a:r>
            <a:r>
              <a:rPr lang="en-US" altLang="ko-KR" sz="1100" dirty="0">
                <a:solidFill>
                  <a:schemeClr val="tx2"/>
                </a:solidFill>
              </a:rPr>
              <a:t>2</a:t>
            </a:r>
            <a:r>
              <a:rPr lang="ko-KR" altLang="en-US" sz="1100" dirty="0">
                <a:solidFill>
                  <a:schemeClr val="tx2"/>
                </a:solidFill>
              </a:rPr>
              <a:t>항의 경우에 관하여는 제</a:t>
            </a:r>
            <a:r>
              <a:rPr lang="en-US" altLang="ko-KR" sz="1100" dirty="0">
                <a:solidFill>
                  <a:schemeClr val="tx2"/>
                </a:solidFill>
              </a:rPr>
              <a:t>111</a:t>
            </a:r>
            <a:r>
              <a:rPr lang="ko-KR" altLang="en-US" sz="1100" dirty="0">
                <a:solidFill>
                  <a:schemeClr val="tx2"/>
                </a:solidFill>
              </a:rPr>
              <a:t>조를 준용한다</a:t>
            </a:r>
            <a:r>
              <a:rPr lang="en-US" altLang="ko-KR" sz="1100" dirty="0">
                <a:solidFill>
                  <a:schemeClr val="tx2"/>
                </a:solidFill>
              </a:rPr>
              <a:t>.</a:t>
            </a:r>
            <a:r>
              <a:rPr lang="ko-KR" altLang="en-US" sz="1100" b="1" dirty="0">
                <a:solidFill>
                  <a:schemeClr val="tx2"/>
                </a:solidFill>
              </a:rPr>
              <a:t> </a:t>
            </a:r>
            <a:endParaRPr lang="en-US" altLang="ko-KR" sz="1100" b="1" dirty="0">
              <a:solidFill>
                <a:schemeClr val="tx2"/>
              </a:solidFill>
            </a:endParaRPr>
          </a:p>
          <a:p>
            <a:r>
              <a:rPr lang="ko-KR" altLang="en-US" sz="1100" b="1" dirty="0">
                <a:solidFill>
                  <a:schemeClr val="accent1"/>
                </a:solidFill>
              </a:rPr>
              <a:t>제</a:t>
            </a:r>
            <a:r>
              <a:rPr lang="en-US" altLang="ko-KR" sz="1100" b="1" dirty="0">
                <a:solidFill>
                  <a:schemeClr val="accent1"/>
                </a:solidFill>
              </a:rPr>
              <a:t>112</a:t>
            </a:r>
            <a:r>
              <a:rPr lang="ko-KR" altLang="en-US" sz="1100" b="1" dirty="0">
                <a:solidFill>
                  <a:schemeClr val="accent1"/>
                </a:solidFill>
              </a:rPr>
              <a:t>조</a:t>
            </a:r>
            <a:r>
              <a:rPr lang="en-US" altLang="ko-KR" sz="1100" b="1" dirty="0">
                <a:solidFill>
                  <a:schemeClr val="accent1"/>
                </a:solidFill>
              </a:rPr>
              <a:t>(</a:t>
            </a:r>
            <a:r>
              <a:rPr lang="ko-KR" altLang="en-US" sz="1100" b="1" dirty="0">
                <a:solidFill>
                  <a:schemeClr val="accent1"/>
                </a:solidFill>
              </a:rPr>
              <a:t>대가의 공탁</a:t>
            </a:r>
            <a:r>
              <a:rPr lang="en-US" altLang="ko-KR" sz="1100" b="1" dirty="0">
                <a:solidFill>
                  <a:schemeClr val="accent1"/>
                </a:solidFill>
              </a:rPr>
              <a:t>)</a:t>
            </a:r>
            <a:r>
              <a:rPr lang="ko-KR" altLang="en-US" sz="1100" dirty="0">
                <a:solidFill>
                  <a:schemeClr val="tx2"/>
                </a:solidFill>
              </a:rPr>
              <a:t> 제</a:t>
            </a:r>
            <a:r>
              <a:rPr lang="en-US" altLang="ko-KR" sz="1100" dirty="0">
                <a:solidFill>
                  <a:schemeClr val="tx2"/>
                </a:solidFill>
              </a:rPr>
              <a:t>110</a:t>
            </a:r>
            <a:r>
              <a:rPr lang="ko-KR" altLang="en-US" sz="1100" dirty="0">
                <a:solidFill>
                  <a:schemeClr val="tx2"/>
                </a:solidFill>
              </a:rPr>
              <a:t>조제</a:t>
            </a:r>
            <a:r>
              <a:rPr lang="en-US" altLang="ko-KR" sz="1100" dirty="0">
                <a:solidFill>
                  <a:schemeClr val="tx2"/>
                </a:solidFill>
              </a:rPr>
              <a:t>2</a:t>
            </a:r>
            <a:r>
              <a:rPr lang="ko-KR" altLang="en-US" sz="1100" dirty="0" err="1">
                <a:solidFill>
                  <a:schemeClr val="tx2"/>
                </a:solidFill>
              </a:rPr>
              <a:t>항제</a:t>
            </a:r>
            <a:r>
              <a:rPr lang="en-US" altLang="ko-KR" sz="1100" dirty="0">
                <a:solidFill>
                  <a:schemeClr val="tx2"/>
                </a:solidFill>
              </a:rPr>
              <a:t>2</a:t>
            </a:r>
            <a:r>
              <a:rPr lang="ko-KR" altLang="en-US" sz="1100" dirty="0">
                <a:solidFill>
                  <a:schemeClr val="tx2"/>
                </a:solidFill>
              </a:rPr>
              <a:t>호에 따른 대가를 지급하여야 하는 자는 다음 각 호의 어느 하나에 해당하는 경우에는 그 대가를 공탁</a:t>
            </a:r>
            <a:r>
              <a:rPr lang="en-US" altLang="ko-KR" sz="1100" dirty="0">
                <a:solidFill>
                  <a:schemeClr val="tx2"/>
                </a:solidFill>
              </a:rPr>
              <a:t>(</a:t>
            </a:r>
            <a:r>
              <a:rPr lang="ko-KR" altLang="en-US" sz="1100" dirty="0">
                <a:solidFill>
                  <a:schemeClr val="tx2"/>
                </a:solidFill>
              </a:rPr>
              <a:t>供託</a:t>
            </a:r>
            <a:r>
              <a:rPr lang="en-US" altLang="ko-KR" sz="1100" dirty="0">
                <a:solidFill>
                  <a:schemeClr val="tx2"/>
                </a:solidFill>
              </a:rPr>
              <a:t>)</a:t>
            </a:r>
            <a:r>
              <a:rPr lang="ko-KR" altLang="en-US" sz="1100" dirty="0">
                <a:solidFill>
                  <a:schemeClr val="tx2"/>
                </a:solidFill>
              </a:rPr>
              <a:t>하여야 한다</a:t>
            </a:r>
            <a:r>
              <a:rPr lang="en-US" altLang="ko-KR" sz="1100" dirty="0">
                <a:solidFill>
                  <a:schemeClr val="tx2"/>
                </a:solidFill>
              </a:rPr>
              <a:t>.</a:t>
            </a:r>
          </a:p>
          <a:p>
            <a:r>
              <a:rPr lang="en-US" altLang="ko-KR" sz="1100" dirty="0">
                <a:solidFill>
                  <a:schemeClr val="tx2"/>
                </a:solidFill>
              </a:rPr>
              <a:t>1. </a:t>
            </a:r>
            <a:r>
              <a:rPr lang="ko-KR" altLang="en-US" sz="1100" dirty="0">
                <a:solidFill>
                  <a:schemeClr val="tx2"/>
                </a:solidFill>
              </a:rPr>
              <a:t>대가를 받을 자가 수령을 거부하거나 수령할 수 없는 경우</a:t>
            </a:r>
          </a:p>
          <a:p>
            <a:r>
              <a:rPr lang="en-US" altLang="ko-KR" sz="1100" dirty="0">
                <a:solidFill>
                  <a:schemeClr val="tx2"/>
                </a:solidFill>
              </a:rPr>
              <a:t>2. </a:t>
            </a:r>
            <a:r>
              <a:rPr lang="ko-KR" altLang="en-US" sz="1100" dirty="0">
                <a:solidFill>
                  <a:schemeClr val="tx2"/>
                </a:solidFill>
              </a:rPr>
              <a:t>대가에 대하여 제</a:t>
            </a:r>
            <a:r>
              <a:rPr lang="en-US" altLang="ko-KR" sz="1100" dirty="0">
                <a:solidFill>
                  <a:schemeClr val="tx2"/>
                </a:solidFill>
              </a:rPr>
              <a:t>190</a:t>
            </a:r>
            <a:r>
              <a:rPr lang="ko-KR" altLang="en-US" sz="1100" dirty="0">
                <a:solidFill>
                  <a:schemeClr val="tx2"/>
                </a:solidFill>
              </a:rPr>
              <a:t>조제</a:t>
            </a:r>
            <a:r>
              <a:rPr lang="en-US" altLang="ko-KR" sz="1100" dirty="0">
                <a:solidFill>
                  <a:schemeClr val="tx2"/>
                </a:solidFill>
              </a:rPr>
              <a:t>1</a:t>
            </a:r>
            <a:r>
              <a:rPr lang="ko-KR" altLang="en-US" sz="1100" dirty="0">
                <a:solidFill>
                  <a:schemeClr val="tx2"/>
                </a:solidFill>
              </a:rPr>
              <a:t>항에 따른 소송이 제기된 경우</a:t>
            </a:r>
          </a:p>
          <a:p>
            <a:r>
              <a:rPr lang="en-US" altLang="ko-KR" sz="1100" dirty="0">
                <a:solidFill>
                  <a:schemeClr val="tx2"/>
                </a:solidFill>
              </a:rPr>
              <a:t>3. </a:t>
            </a:r>
            <a:r>
              <a:rPr lang="ko-KR" altLang="en-US" sz="1100" dirty="0">
                <a:solidFill>
                  <a:schemeClr val="tx2"/>
                </a:solidFill>
              </a:rPr>
              <a:t>해당 특허권 또는 </a:t>
            </a:r>
            <a:r>
              <a:rPr lang="ko-KR" altLang="en-US" sz="1100" dirty="0" err="1">
                <a:solidFill>
                  <a:schemeClr val="tx2"/>
                </a:solidFill>
              </a:rPr>
              <a:t>전용실시권을</a:t>
            </a:r>
            <a:r>
              <a:rPr lang="ko-KR" altLang="en-US" sz="1100" dirty="0">
                <a:solidFill>
                  <a:schemeClr val="tx2"/>
                </a:solidFill>
              </a:rPr>
              <a:t> 목적으로 하는 질권이 설정되어 있는 경우</a:t>
            </a:r>
            <a:r>
              <a:rPr lang="en-US" altLang="ko-KR" sz="1100" dirty="0">
                <a:solidFill>
                  <a:schemeClr val="tx2"/>
                </a:solidFill>
              </a:rPr>
              <a:t>. </a:t>
            </a:r>
            <a:r>
              <a:rPr lang="ko-KR" altLang="en-US" sz="1100" dirty="0">
                <a:solidFill>
                  <a:schemeClr val="tx2"/>
                </a:solidFill>
              </a:rPr>
              <a:t>다만</a:t>
            </a:r>
            <a:r>
              <a:rPr lang="en-US" altLang="ko-KR" sz="1100" dirty="0">
                <a:solidFill>
                  <a:schemeClr val="tx2"/>
                </a:solidFill>
              </a:rPr>
              <a:t>, </a:t>
            </a:r>
            <a:r>
              <a:rPr lang="ko-KR" altLang="en-US" sz="1100" dirty="0">
                <a:solidFill>
                  <a:schemeClr val="tx2"/>
                </a:solidFill>
              </a:rPr>
              <a:t>질권자의 동의를 받은 경우에는 그러하지 아니하다</a:t>
            </a:r>
            <a:r>
              <a:rPr lang="en-US" altLang="ko-KR" sz="1100" dirty="0">
                <a:solidFill>
                  <a:schemeClr val="tx2"/>
                </a:solidFill>
              </a:rPr>
              <a:t>.</a:t>
            </a:r>
            <a:r>
              <a:rPr lang="ko-KR" altLang="en-US" sz="1100" b="1" dirty="0">
                <a:solidFill>
                  <a:schemeClr val="tx2"/>
                </a:solidFill>
              </a:rPr>
              <a:t> </a:t>
            </a:r>
            <a:endParaRPr lang="en-US" altLang="ko-KR" sz="1100" b="1" dirty="0">
              <a:solidFill>
                <a:schemeClr val="tx2"/>
              </a:solidFill>
            </a:endParaRPr>
          </a:p>
          <a:p>
            <a:r>
              <a:rPr lang="ko-KR" altLang="en-US" sz="1100" b="1" dirty="0">
                <a:solidFill>
                  <a:schemeClr val="accent1"/>
                </a:solidFill>
              </a:rPr>
              <a:t>제</a:t>
            </a:r>
            <a:r>
              <a:rPr lang="en-US" altLang="ko-KR" sz="1100" b="1" dirty="0">
                <a:solidFill>
                  <a:schemeClr val="accent1"/>
                </a:solidFill>
              </a:rPr>
              <a:t>113</a:t>
            </a:r>
            <a:r>
              <a:rPr lang="ko-KR" altLang="en-US" sz="1100" b="1" dirty="0">
                <a:solidFill>
                  <a:schemeClr val="accent1"/>
                </a:solidFill>
              </a:rPr>
              <a:t>조</a:t>
            </a:r>
            <a:r>
              <a:rPr lang="en-US" altLang="ko-KR" sz="1100" b="1" dirty="0">
                <a:solidFill>
                  <a:schemeClr val="accent1"/>
                </a:solidFill>
              </a:rPr>
              <a:t>(</a:t>
            </a:r>
            <a:r>
              <a:rPr lang="ko-KR" altLang="en-US" sz="1100" b="1" dirty="0">
                <a:solidFill>
                  <a:schemeClr val="accent1"/>
                </a:solidFill>
              </a:rPr>
              <a:t>재정의 실효</a:t>
            </a:r>
            <a:r>
              <a:rPr lang="en-US" altLang="ko-KR" sz="1100" b="1" dirty="0">
                <a:solidFill>
                  <a:schemeClr val="accent1"/>
                </a:solidFill>
              </a:rPr>
              <a:t>)</a:t>
            </a:r>
            <a:r>
              <a:rPr lang="ko-KR" altLang="en-US" sz="1100" dirty="0">
                <a:solidFill>
                  <a:schemeClr val="tx2"/>
                </a:solidFill>
              </a:rPr>
              <a:t> 재정을 받은 자가 제</a:t>
            </a:r>
            <a:r>
              <a:rPr lang="en-US" altLang="ko-KR" sz="1100" dirty="0">
                <a:solidFill>
                  <a:schemeClr val="tx2"/>
                </a:solidFill>
              </a:rPr>
              <a:t>110</a:t>
            </a:r>
            <a:r>
              <a:rPr lang="ko-KR" altLang="en-US" sz="1100" dirty="0">
                <a:solidFill>
                  <a:schemeClr val="tx2"/>
                </a:solidFill>
              </a:rPr>
              <a:t>조제</a:t>
            </a:r>
            <a:r>
              <a:rPr lang="en-US" altLang="ko-KR" sz="1100" dirty="0">
                <a:solidFill>
                  <a:schemeClr val="tx2"/>
                </a:solidFill>
              </a:rPr>
              <a:t>2</a:t>
            </a:r>
            <a:r>
              <a:rPr lang="ko-KR" altLang="en-US" sz="1100" dirty="0" err="1">
                <a:solidFill>
                  <a:schemeClr val="tx2"/>
                </a:solidFill>
              </a:rPr>
              <a:t>항제</a:t>
            </a:r>
            <a:r>
              <a:rPr lang="en-US" altLang="ko-KR" sz="1100" dirty="0">
                <a:solidFill>
                  <a:schemeClr val="tx2"/>
                </a:solidFill>
              </a:rPr>
              <a:t>2</a:t>
            </a:r>
            <a:r>
              <a:rPr lang="ko-KR" altLang="en-US" sz="1100" dirty="0">
                <a:solidFill>
                  <a:schemeClr val="tx2"/>
                </a:solidFill>
              </a:rPr>
              <a:t>호에 따른 지급시기까지 대가</a:t>
            </a:r>
            <a:r>
              <a:rPr lang="en-US" altLang="ko-KR" sz="1100" dirty="0">
                <a:solidFill>
                  <a:schemeClr val="tx2"/>
                </a:solidFill>
              </a:rPr>
              <a:t>(</a:t>
            </a:r>
            <a:r>
              <a:rPr lang="ko-KR" altLang="en-US" sz="1100" dirty="0">
                <a:solidFill>
                  <a:schemeClr val="tx2"/>
                </a:solidFill>
              </a:rPr>
              <a:t>대가를 정기 또는 분할하여 지급할 경우에는 최초의 </a:t>
            </a:r>
            <a:r>
              <a:rPr lang="ko-KR" altLang="en-US" sz="1100" dirty="0" err="1">
                <a:solidFill>
                  <a:schemeClr val="tx2"/>
                </a:solidFill>
              </a:rPr>
              <a:t>지급분</a:t>
            </a:r>
            <a:r>
              <a:rPr lang="en-US" altLang="ko-KR" sz="1100" dirty="0">
                <a:solidFill>
                  <a:schemeClr val="tx2"/>
                </a:solidFill>
              </a:rPr>
              <a:t>)</a:t>
            </a:r>
            <a:r>
              <a:rPr lang="ko-KR" altLang="en-US" sz="1100" dirty="0">
                <a:solidFill>
                  <a:schemeClr val="tx2"/>
                </a:solidFill>
              </a:rPr>
              <a:t>를 지급하지 아니하거나 공탁을 하지 아니한 경우에는 그 재정은 효력을 잃는다</a:t>
            </a:r>
            <a:r>
              <a:rPr lang="en-US" altLang="ko-KR" sz="1100" dirty="0">
                <a:solidFill>
                  <a:schemeClr val="tx2"/>
                </a:solidFill>
              </a:rPr>
              <a:t>.</a:t>
            </a:r>
          </a:p>
        </p:txBody>
      </p:sp>
      <p:sp>
        <p:nvSpPr>
          <p:cNvPr id="3" name="모서리가 둥근 직사각형 2"/>
          <p:cNvSpPr/>
          <p:nvPr/>
        </p:nvSpPr>
        <p:spPr>
          <a:xfrm>
            <a:off x="10810875" y="1457325"/>
            <a:ext cx="1047750"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95000"/>
                  </a:schemeClr>
                </a:solidFill>
              </a:rPr>
              <a:t>등록권리자</a:t>
            </a:r>
          </a:p>
        </p:txBody>
      </p:sp>
      <p:cxnSp>
        <p:nvCxnSpPr>
          <p:cNvPr id="17" name="직선 연결선 16"/>
          <p:cNvCxnSpPr>
            <a:stCxn id="3" idx="2"/>
          </p:cNvCxnSpPr>
          <p:nvPr/>
        </p:nvCxnSpPr>
        <p:spPr>
          <a:xfrm>
            <a:off x="11334750" y="1781175"/>
            <a:ext cx="0" cy="435292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모서리가 둥근 직사각형 14"/>
          <p:cNvSpPr/>
          <p:nvPr/>
        </p:nvSpPr>
        <p:spPr>
          <a:xfrm>
            <a:off x="10810875" y="1800225"/>
            <a:ext cx="1047750"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95000"/>
                  </a:schemeClr>
                </a:solidFill>
              </a:rPr>
              <a:t>피청구인</a:t>
            </a:r>
          </a:p>
        </p:txBody>
      </p:sp>
      <p:sp>
        <p:nvSpPr>
          <p:cNvPr id="20" name="모서리가 둥근 직사각형 19"/>
          <p:cNvSpPr/>
          <p:nvPr/>
        </p:nvSpPr>
        <p:spPr>
          <a:xfrm>
            <a:off x="9058276" y="1457325"/>
            <a:ext cx="1104898"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95000"/>
                  </a:schemeClr>
                </a:solidFill>
              </a:rPr>
              <a:t>지식재산처장</a:t>
            </a:r>
          </a:p>
        </p:txBody>
      </p:sp>
      <p:cxnSp>
        <p:nvCxnSpPr>
          <p:cNvPr id="21" name="직선 연결선 20"/>
          <p:cNvCxnSpPr>
            <a:cxnSpLocks/>
            <a:stCxn id="20" idx="2"/>
          </p:cNvCxnSpPr>
          <p:nvPr/>
        </p:nvCxnSpPr>
        <p:spPr>
          <a:xfrm>
            <a:off x="9610725" y="1781175"/>
            <a:ext cx="0" cy="435292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모서리가 둥근 직사각형 22"/>
          <p:cNvSpPr/>
          <p:nvPr/>
        </p:nvSpPr>
        <p:spPr>
          <a:xfrm>
            <a:off x="7391400" y="1457325"/>
            <a:ext cx="1047750"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95000"/>
                  </a:schemeClr>
                </a:solidFill>
              </a:rPr>
              <a:t>청구인</a:t>
            </a:r>
          </a:p>
        </p:txBody>
      </p:sp>
      <p:cxnSp>
        <p:nvCxnSpPr>
          <p:cNvPr id="24" name="직선 연결선 23"/>
          <p:cNvCxnSpPr>
            <a:stCxn id="23" idx="2"/>
          </p:cNvCxnSpPr>
          <p:nvPr/>
        </p:nvCxnSpPr>
        <p:spPr>
          <a:xfrm>
            <a:off x="7915275" y="1781175"/>
            <a:ext cx="0" cy="4352925"/>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모서리가 둥근 직사각형 25"/>
          <p:cNvSpPr/>
          <p:nvPr/>
        </p:nvSpPr>
        <p:spPr>
          <a:xfrm>
            <a:off x="9086850" y="2495550"/>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방식심사</a:t>
            </a:r>
          </a:p>
        </p:txBody>
      </p:sp>
      <p:sp>
        <p:nvSpPr>
          <p:cNvPr id="27" name="모서리가 둥근 직사각형 26"/>
          <p:cNvSpPr/>
          <p:nvPr/>
        </p:nvSpPr>
        <p:spPr>
          <a:xfrm>
            <a:off x="9086850" y="3819525"/>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의견청취</a:t>
            </a:r>
          </a:p>
        </p:txBody>
      </p:sp>
      <p:sp>
        <p:nvSpPr>
          <p:cNvPr id="28" name="모서리가 둥근 직사각형 27"/>
          <p:cNvSpPr/>
          <p:nvPr/>
        </p:nvSpPr>
        <p:spPr>
          <a:xfrm>
            <a:off x="9086850" y="4267200"/>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재정</a:t>
            </a:r>
            <a:endParaRPr lang="ko-KR" altLang="en-US" sz="1200" dirty="0">
              <a:solidFill>
                <a:schemeClr val="tx1"/>
              </a:solidFill>
            </a:endParaRPr>
          </a:p>
        </p:txBody>
      </p:sp>
      <p:cxnSp>
        <p:nvCxnSpPr>
          <p:cNvPr id="31" name="직선 연결선 30"/>
          <p:cNvCxnSpPr/>
          <p:nvPr/>
        </p:nvCxnSpPr>
        <p:spPr>
          <a:xfrm>
            <a:off x="7905750" y="2333625"/>
            <a:ext cx="170497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모서리가 둥근 직사각형 31"/>
          <p:cNvSpPr/>
          <p:nvPr/>
        </p:nvSpPr>
        <p:spPr>
          <a:xfrm>
            <a:off x="8267700" y="2009775"/>
            <a:ext cx="1047750"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재정 청구</a:t>
            </a:r>
          </a:p>
        </p:txBody>
      </p:sp>
      <p:cxnSp>
        <p:nvCxnSpPr>
          <p:cNvPr id="33" name="직선 연결선 32"/>
          <p:cNvCxnSpPr/>
          <p:nvPr/>
        </p:nvCxnSpPr>
        <p:spPr>
          <a:xfrm>
            <a:off x="9610725" y="3124200"/>
            <a:ext cx="172402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모서리가 둥근 직사각형 33"/>
          <p:cNvSpPr/>
          <p:nvPr/>
        </p:nvSpPr>
        <p:spPr>
          <a:xfrm>
            <a:off x="9734550" y="2800350"/>
            <a:ext cx="1390650"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청구서 부본 송달</a:t>
            </a:r>
            <a:endParaRPr lang="ko-KR" altLang="en-US" sz="1200" dirty="0">
              <a:solidFill>
                <a:schemeClr val="tx1"/>
              </a:solidFill>
            </a:endParaRPr>
          </a:p>
        </p:txBody>
      </p:sp>
      <p:cxnSp>
        <p:nvCxnSpPr>
          <p:cNvPr id="36" name="직선 연결선 35"/>
          <p:cNvCxnSpPr/>
          <p:nvPr/>
        </p:nvCxnSpPr>
        <p:spPr>
          <a:xfrm>
            <a:off x="9610725" y="3495675"/>
            <a:ext cx="1724025" cy="0"/>
          </a:xfrm>
          <a:prstGeom prst="line">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모서리가 둥근 직사각형 36"/>
          <p:cNvSpPr/>
          <p:nvPr/>
        </p:nvSpPr>
        <p:spPr>
          <a:xfrm>
            <a:off x="9734550" y="3171825"/>
            <a:ext cx="1390650"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답변서 제출</a:t>
            </a:r>
          </a:p>
        </p:txBody>
      </p:sp>
      <p:cxnSp>
        <p:nvCxnSpPr>
          <p:cNvPr id="38" name="직선 연결선 37"/>
          <p:cNvCxnSpPr/>
          <p:nvPr/>
        </p:nvCxnSpPr>
        <p:spPr>
          <a:xfrm>
            <a:off x="7905750" y="3638550"/>
            <a:ext cx="1724025" cy="0"/>
          </a:xfrm>
          <a:prstGeom prst="line">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모서리가 둥근 직사각형 38"/>
          <p:cNvSpPr/>
          <p:nvPr/>
        </p:nvSpPr>
        <p:spPr>
          <a:xfrm>
            <a:off x="8029575" y="3314700"/>
            <a:ext cx="1390650"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답변서 부본 송달</a:t>
            </a:r>
          </a:p>
        </p:txBody>
      </p:sp>
      <p:cxnSp>
        <p:nvCxnSpPr>
          <p:cNvPr id="41" name="직선 연결선 40"/>
          <p:cNvCxnSpPr/>
          <p:nvPr/>
        </p:nvCxnSpPr>
        <p:spPr>
          <a:xfrm>
            <a:off x="7905750" y="4867275"/>
            <a:ext cx="1724025" cy="0"/>
          </a:xfrm>
          <a:prstGeom prst="line">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직선 연결선 41"/>
          <p:cNvCxnSpPr/>
          <p:nvPr/>
        </p:nvCxnSpPr>
        <p:spPr>
          <a:xfrm>
            <a:off x="9610725" y="4876800"/>
            <a:ext cx="172402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9" name="모서리가 둥근 직사각형 28"/>
          <p:cNvSpPr/>
          <p:nvPr/>
        </p:nvSpPr>
        <p:spPr>
          <a:xfrm>
            <a:off x="9086850" y="4724400"/>
            <a:ext cx="10477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등본송달</a:t>
            </a:r>
          </a:p>
        </p:txBody>
      </p:sp>
      <p:cxnSp>
        <p:nvCxnSpPr>
          <p:cNvPr id="43" name="직선 연결선 42"/>
          <p:cNvCxnSpPr/>
          <p:nvPr/>
        </p:nvCxnSpPr>
        <p:spPr>
          <a:xfrm>
            <a:off x="7905750" y="5973472"/>
            <a:ext cx="3429000"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모서리가 둥근 직사각형 44"/>
          <p:cNvSpPr/>
          <p:nvPr/>
        </p:nvSpPr>
        <p:spPr>
          <a:xfrm>
            <a:off x="8220074" y="5649622"/>
            <a:ext cx="2826617"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대가지급 또는 공탁</a:t>
            </a:r>
            <a:r>
              <a:rPr lang="en-US" altLang="ko-KR" sz="1200" dirty="0">
                <a:solidFill>
                  <a:schemeClr val="tx1"/>
                </a:solidFill>
              </a:rPr>
              <a:t>/</a:t>
            </a:r>
            <a:r>
              <a:rPr lang="ko-KR" altLang="en-US" sz="1200" dirty="0">
                <a:solidFill>
                  <a:schemeClr val="tx1"/>
                </a:solidFill>
              </a:rPr>
              <a:t>재정의 실효</a:t>
            </a:r>
            <a:r>
              <a:rPr lang="en-US" altLang="ko-KR" sz="1200" dirty="0">
                <a:solidFill>
                  <a:schemeClr val="tx1"/>
                </a:solidFill>
              </a:rPr>
              <a:t> </a:t>
            </a:r>
            <a:endParaRPr lang="ko-KR" altLang="en-US" sz="1200" dirty="0">
              <a:solidFill>
                <a:schemeClr val="tx1"/>
              </a:solidFill>
            </a:endParaRPr>
          </a:p>
        </p:txBody>
      </p:sp>
      <p:cxnSp>
        <p:nvCxnSpPr>
          <p:cNvPr id="46" name="직선 연결선 45"/>
          <p:cNvCxnSpPr/>
          <p:nvPr/>
        </p:nvCxnSpPr>
        <p:spPr>
          <a:xfrm>
            <a:off x="7905750" y="5356358"/>
            <a:ext cx="170497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모서리가 둥근 직사각형 46"/>
          <p:cNvSpPr/>
          <p:nvPr/>
        </p:nvSpPr>
        <p:spPr>
          <a:xfrm>
            <a:off x="8162925" y="5032508"/>
            <a:ext cx="1257300"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재정서 변경 청구</a:t>
            </a:r>
          </a:p>
        </p:txBody>
      </p:sp>
      <p:sp>
        <p:nvSpPr>
          <p:cNvPr id="6" name="슬라이드 번호 개체 틀 5"/>
          <p:cNvSpPr>
            <a:spLocks noGrp="1"/>
          </p:cNvSpPr>
          <p:nvPr>
            <p:ph type="sldNum" sz="quarter" idx="12"/>
          </p:nvPr>
        </p:nvSpPr>
        <p:spPr/>
        <p:txBody>
          <a:bodyPr/>
          <a:lstStyle/>
          <a:p>
            <a:r>
              <a:rPr lang="en-US" altLang="ko-KR"/>
              <a:t>421</a:t>
            </a:r>
            <a:endParaRPr lang="ko-KR" altLang="en-US"/>
          </a:p>
        </p:txBody>
      </p:sp>
      <p:sp>
        <p:nvSpPr>
          <p:cNvPr id="7" name="TextBox 6">
            <a:extLst>
              <a:ext uri="{FF2B5EF4-FFF2-40B4-BE49-F238E27FC236}">
                <a16:creationId xmlns:a16="http://schemas.microsoft.com/office/drawing/2014/main" id="{354DF4A4-84E9-F68E-4C48-9D9F58F151E2}"/>
              </a:ext>
            </a:extLst>
          </p:cNvPr>
          <p:cNvSpPr txBox="1"/>
          <p:nvPr/>
        </p:nvSpPr>
        <p:spPr>
          <a:xfrm>
            <a:off x="8488330" y="1848220"/>
            <a:ext cx="627095"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107</a:t>
            </a:r>
            <a:r>
              <a:rPr lang="ko-KR" altLang="en-US" sz="1000" dirty="0">
                <a:solidFill>
                  <a:srgbClr val="FF0000"/>
                </a:solidFill>
              </a:rPr>
              <a:t>조</a:t>
            </a:r>
          </a:p>
        </p:txBody>
      </p:sp>
      <p:sp>
        <p:nvSpPr>
          <p:cNvPr id="8" name="TextBox 7">
            <a:extLst>
              <a:ext uri="{FF2B5EF4-FFF2-40B4-BE49-F238E27FC236}">
                <a16:creationId xmlns:a16="http://schemas.microsoft.com/office/drawing/2014/main" id="{1B1F57FF-190F-639C-78BF-3F806B9E47F6}"/>
              </a:ext>
            </a:extLst>
          </p:cNvPr>
          <p:cNvSpPr txBox="1"/>
          <p:nvPr/>
        </p:nvSpPr>
        <p:spPr>
          <a:xfrm>
            <a:off x="10250078" y="2601755"/>
            <a:ext cx="627095" cy="246221"/>
          </a:xfrm>
          <a:prstGeom prst="rect">
            <a:avLst/>
          </a:prstGeom>
          <a:noFill/>
        </p:spPr>
        <p:txBody>
          <a:bodyPr wrap="none" rtlCol="0">
            <a:spAutoFit/>
          </a:bodyPr>
          <a:lstStyle/>
          <a:p>
            <a:r>
              <a:rPr lang="ko-KR" altLang="en-US" sz="1000">
                <a:solidFill>
                  <a:srgbClr val="FF0000"/>
                </a:solidFill>
              </a:rPr>
              <a:t>제</a:t>
            </a:r>
            <a:r>
              <a:rPr lang="en-US" altLang="ko-KR" sz="1000" dirty="0">
                <a:solidFill>
                  <a:srgbClr val="FF0000"/>
                </a:solidFill>
              </a:rPr>
              <a:t>108</a:t>
            </a:r>
            <a:r>
              <a:rPr lang="ko-KR" altLang="en-US" sz="1000" dirty="0">
                <a:solidFill>
                  <a:srgbClr val="FF0000"/>
                </a:solidFill>
              </a:rPr>
              <a:t>조</a:t>
            </a:r>
          </a:p>
        </p:txBody>
      </p:sp>
      <p:sp>
        <p:nvSpPr>
          <p:cNvPr id="9" name="TextBox 8">
            <a:extLst>
              <a:ext uri="{FF2B5EF4-FFF2-40B4-BE49-F238E27FC236}">
                <a16:creationId xmlns:a16="http://schemas.microsoft.com/office/drawing/2014/main" id="{2213475A-16D6-4902-E8D3-E93B5AA28B90}"/>
              </a:ext>
            </a:extLst>
          </p:cNvPr>
          <p:cNvSpPr txBox="1"/>
          <p:nvPr/>
        </p:nvSpPr>
        <p:spPr>
          <a:xfrm>
            <a:off x="10250078" y="3516153"/>
            <a:ext cx="627095" cy="246221"/>
          </a:xfrm>
          <a:prstGeom prst="rect">
            <a:avLst/>
          </a:prstGeom>
          <a:noFill/>
        </p:spPr>
        <p:txBody>
          <a:bodyPr wrap="none" rtlCol="0">
            <a:spAutoFit/>
          </a:bodyPr>
          <a:lstStyle/>
          <a:p>
            <a:r>
              <a:rPr lang="ko-KR" altLang="en-US" sz="1000">
                <a:solidFill>
                  <a:srgbClr val="FF0000"/>
                </a:solidFill>
              </a:rPr>
              <a:t>제</a:t>
            </a:r>
            <a:r>
              <a:rPr lang="en-US" altLang="ko-KR" sz="1000" dirty="0">
                <a:solidFill>
                  <a:srgbClr val="FF0000"/>
                </a:solidFill>
              </a:rPr>
              <a:t>108</a:t>
            </a:r>
            <a:r>
              <a:rPr lang="ko-KR" altLang="en-US" sz="1000" dirty="0">
                <a:solidFill>
                  <a:srgbClr val="FF0000"/>
                </a:solidFill>
              </a:rPr>
              <a:t>조</a:t>
            </a:r>
          </a:p>
        </p:txBody>
      </p:sp>
      <p:sp>
        <p:nvSpPr>
          <p:cNvPr id="10" name="TextBox 9">
            <a:extLst>
              <a:ext uri="{FF2B5EF4-FFF2-40B4-BE49-F238E27FC236}">
                <a16:creationId xmlns:a16="http://schemas.microsoft.com/office/drawing/2014/main" id="{A1EEE52A-FD59-DC77-F461-8FD0D3E34258}"/>
              </a:ext>
            </a:extLst>
          </p:cNvPr>
          <p:cNvSpPr txBox="1"/>
          <p:nvPr/>
        </p:nvSpPr>
        <p:spPr>
          <a:xfrm>
            <a:off x="10081404" y="3863815"/>
            <a:ext cx="627095" cy="246221"/>
          </a:xfrm>
          <a:prstGeom prst="rect">
            <a:avLst/>
          </a:prstGeom>
          <a:noFill/>
        </p:spPr>
        <p:txBody>
          <a:bodyPr wrap="none" rtlCol="0">
            <a:spAutoFit/>
          </a:bodyPr>
          <a:lstStyle/>
          <a:p>
            <a:r>
              <a:rPr lang="ko-KR" altLang="en-US" sz="1000">
                <a:solidFill>
                  <a:srgbClr val="FF0000"/>
                </a:solidFill>
              </a:rPr>
              <a:t>제</a:t>
            </a:r>
            <a:r>
              <a:rPr lang="en-US" altLang="ko-KR" sz="1000" dirty="0">
                <a:solidFill>
                  <a:srgbClr val="FF0000"/>
                </a:solidFill>
              </a:rPr>
              <a:t>109</a:t>
            </a:r>
            <a:r>
              <a:rPr lang="ko-KR" altLang="en-US" sz="1000" dirty="0">
                <a:solidFill>
                  <a:srgbClr val="FF0000"/>
                </a:solidFill>
              </a:rPr>
              <a:t>조</a:t>
            </a:r>
          </a:p>
        </p:txBody>
      </p:sp>
      <p:sp>
        <p:nvSpPr>
          <p:cNvPr id="11" name="TextBox 10">
            <a:extLst>
              <a:ext uri="{FF2B5EF4-FFF2-40B4-BE49-F238E27FC236}">
                <a16:creationId xmlns:a16="http://schemas.microsoft.com/office/drawing/2014/main" id="{A39EC239-27EB-B0D4-D7A8-90480FAA865E}"/>
              </a:ext>
            </a:extLst>
          </p:cNvPr>
          <p:cNvSpPr txBox="1"/>
          <p:nvPr/>
        </p:nvSpPr>
        <p:spPr>
          <a:xfrm>
            <a:off x="10081404" y="4308847"/>
            <a:ext cx="627095"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110</a:t>
            </a:r>
            <a:r>
              <a:rPr lang="ko-KR" altLang="en-US" sz="1000" dirty="0">
                <a:solidFill>
                  <a:srgbClr val="FF0000"/>
                </a:solidFill>
              </a:rPr>
              <a:t>조</a:t>
            </a:r>
          </a:p>
        </p:txBody>
      </p:sp>
      <p:sp>
        <p:nvSpPr>
          <p:cNvPr id="12" name="TextBox 11">
            <a:extLst>
              <a:ext uri="{FF2B5EF4-FFF2-40B4-BE49-F238E27FC236}">
                <a16:creationId xmlns:a16="http://schemas.microsoft.com/office/drawing/2014/main" id="{24A71216-F6C0-102A-CA22-B52F32DDEB3E}"/>
              </a:ext>
            </a:extLst>
          </p:cNvPr>
          <p:cNvSpPr txBox="1"/>
          <p:nvPr/>
        </p:nvSpPr>
        <p:spPr>
          <a:xfrm>
            <a:off x="9773548" y="4582240"/>
            <a:ext cx="627095"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111</a:t>
            </a:r>
            <a:r>
              <a:rPr lang="ko-KR" altLang="en-US" sz="1000" dirty="0">
                <a:solidFill>
                  <a:srgbClr val="FF0000"/>
                </a:solidFill>
              </a:rPr>
              <a:t>조</a:t>
            </a:r>
          </a:p>
        </p:txBody>
      </p:sp>
      <p:sp>
        <p:nvSpPr>
          <p:cNvPr id="14" name="TextBox 13">
            <a:extLst>
              <a:ext uri="{FF2B5EF4-FFF2-40B4-BE49-F238E27FC236}">
                <a16:creationId xmlns:a16="http://schemas.microsoft.com/office/drawing/2014/main" id="{7595B4BC-777E-A7DE-EF64-E6C2365D9A42}"/>
              </a:ext>
            </a:extLst>
          </p:cNvPr>
          <p:cNvSpPr txBox="1"/>
          <p:nvPr/>
        </p:nvSpPr>
        <p:spPr>
          <a:xfrm>
            <a:off x="8877516" y="5954423"/>
            <a:ext cx="627095"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112</a:t>
            </a:r>
            <a:r>
              <a:rPr lang="ko-KR" altLang="en-US" sz="1000" dirty="0">
                <a:solidFill>
                  <a:srgbClr val="FF0000"/>
                </a:solidFill>
              </a:rPr>
              <a:t>조</a:t>
            </a:r>
          </a:p>
        </p:txBody>
      </p:sp>
      <p:sp>
        <p:nvSpPr>
          <p:cNvPr id="16" name="TextBox 15">
            <a:extLst>
              <a:ext uri="{FF2B5EF4-FFF2-40B4-BE49-F238E27FC236}">
                <a16:creationId xmlns:a16="http://schemas.microsoft.com/office/drawing/2014/main" id="{9BE5871B-6E3F-0DFA-57ED-0A40B89E2055}"/>
              </a:ext>
            </a:extLst>
          </p:cNvPr>
          <p:cNvSpPr txBox="1"/>
          <p:nvPr/>
        </p:nvSpPr>
        <p:spPr>
          <a:xfrm>
            <a:off x="9962188" y="5954423"/>
            <a:ext cx="627095" cy="246221"/>
          </a:xfrm>
          <a:prstGeom prst="rect">
            <a:avLst/>
          </a:prstGeom>
          <a:noFill/>
        </p:spPr>
        <p:txBody>
          <a:bodyPr wrap="none" rtlCol="0">
            <a:spAutoFit/>
          </a:bodyPr>
          <a:lstStyle/>
          <a:p>
            <a:r>
              <a:rPr lang="ko-KR" altLang="en-US" sz="1000">
                <a:solidFill>
                  <a:srgbClr val="FF0000"/>
                </a:solidFill>
              </a:rPr>
              <a:t>제</a:t>
            </a:r>
            <a:r>
              <a:rPr lang="en-US" altLang="ko-KR" sz="1000" dirty="0">
                <a:solidFill>
                  <a:srgbClr val="FF0000"/>
                </a:solidFill>
              </a:rPr>
              <a:t>113</a:t>
            </a:r>
            <a:r>
              <a:rPr lang="ko-KR" altLang="en-US" sz="1000" dirty="0">
                <a:solidFill>
                  <a:srgbClr val="FF0000"/>
                </a:solidFill>
              </a:rPr>
              <a:t>조</a:t>
            </a:r>
          </a:p>
        </p:txBody>
      </p:sp>
      <p:sp>
        <p:nvSpPr>
          <p:cNvPr id="18" name="TextBox 17">
            <a:extLst>
              <a:ext uri="{FF2B5EF4-FFF2-40B4-BE49-F238E27FC236}">
                <a16:creationId xmlns:a16="http://schemas.microsoft.com/office/drawing/2014/main" id="{2FB1F319-4720-8D49-E7E4-73C1D561118B}"/>
              </a:ext>
            </a:extLst>
          </p:cNvPr>
          <p:cNvSpPr txBox="1"/>
          <p:nvPr/>
        </p:nvSpPr>
        <p:spPr>
          <a:xfrm>
            <a:off x="8479301" y="5381071"/>
            <a:ext cx="813043"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111</a:t>
            </a:r>
            <a:r>
              <a:rPr lang="ko-KR" altLang="en-US" sz="1000" dirty="0">
                <a:solidFill>
                  <a:srgbClr val="FF0000"/>
                </a:solidFill>
              </a:rPr>
              <a:t>조의</a:t>
            </a:r>
            <a:r>
              <a:rPr lang="en-US" altLang="ko-KR" sz="1000" dirty="0">
                <a:solidFill>
                  <a:srgbClr val="FF0000"/>
                </a:solidFill>
              </a:rPr>
              <a:t>2</a:t>
            </a:r>
            <a:endParaRPr lang="ko-KR" altLang="en-US" sz="1000" dirty="0">
              <a:solidFill>
                <a:srgbClr val="FF0000"/>
              </a:solidFill>
            </a:endParaRPr>
          </a:p>
        </p:txBody>
      </p:sp>
    </p:spTree>
    <p:extLst>
      <p:ext uri="{BB962C8B-B14F-4D97-AF65-F5344CB8AC3E}">
        <p14:creationId xmlns:p14="http://schemas.microsoft.com/office/powerpoint/2010/main" val="3125148457"/>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100</a:t>
            </a:r>
            <a:r>
              <a:rPr lang="ko-KR" altLang="en-US" dirty="0"/>
              <a:t>조</a:t>
            </a:r>
            <a:r>
              <a:rPr lang="en-US" altLang="ko-KR" dirty="0"/>
              <a:t>~</a:t>
            </a:r>
            <a:r>
              <a:rPr lang="ko-KR" altLang="en-US" dirty="0"/>
              <a:t>제</a:t>
            </a:r>
            <a:r>
              <a:rPr lang="en-US" altLang="ko-KR" dirty="0"/>
              <a:t>118</a:t>
            </a:r>
            <a:r>
              <a:rPr lang="ko-KR" altLang="en-US" dirty="0"/>
              <a:t>조</a:t>
            </a:r>
          </a:p>
        </p:txBody>
      </p:sp>
      <p:sp>
        <p:nvSpPr>
          <p:cNvPr id="5" name="텍스트 개체 틀 4"/>
          <p:cNvSpPr>
            <a:spLocks noGrp="1"/>
          </p:cNvSpPr>
          <p:nvPr>
            <p:ph type="body" sz="quarter" idx="13"/>
          </p:nvPr>
        </p:nvSpPr>
        <p:spPr/>
        <p:txBody>
          <a:bodyPr/>
          <a:lstStyle/>
          <a:p>
            <a:r>
              <a:rPr lang="ko-KR" altLang="en-US" dirty="0" err="1"/>
              <a:t>실시권</a:t>
            </a:r>
            <a:r>
              <a:rPr lang="ko-KR" altLang="en-US" dirty="0"/>
              <a:t> 일반 법조문의 비교</a:t>
            </a:r>
          </a:p>
        </p:txBody>
      </p:sp>
      <p:graphicFrame>
        <p:nvGraphicFramePr>
          <p:cNvPr id="2" name="표 1"/>
          <p:cNvGraphicFramePr>
            <a:graphicFrameLocks noGrp="1"/>
          </p:cNvGraphicFramePr>
          <p:nvPr/>
        </p:nvGraphicFramePr>
        <p:xfrm>
          <a:off x="342901" y="969167"/>
          <a:ext cx="11668124" cy="5732784"/>
        </p:xfrm>
        <a:graphic>
          <a:graphicData uri="http://schemas.openxmlformats.org/drawingml/2006/table">
            <a:tbl>
              <a:tblPr>
                <a:tableStyleId>{8799B23B-EC83-4686-B30A-512413B5E67A}</a:tableStyleId>
              </a:tblPr>
              <a:tblGrid>
                <a:gridCol w="409574">
                  <a:extLst>
                    <a:ext uri="{9D8B030D-6E8A-4147-A177-3AD203B41FA5}">
                      <a16:colId xmlns:a16="http://schemas.microsoft.com/office/drawing/2014/main" val="20000"/>
                    </a:ext>
                  </a:extLst>
                </a:gridCol>
                <a:gridCol w="5200650">
                  <a:extLst>
                    <a:ext uri="{9D8B030D-6E8A-4147-A177-3AD203B41FA5}">
                      <a16:colId xmlns:a16="http://schemas.microsoft.com/office/drawing/2014/main" val="20001"/>
                    </a:ext>
                  </a:extLst>
                </a:gridCol>
                <a:gridCol w="6057900">
                  <a:extLst>
                    <a:ext uri="{9D8B030D-6E8A-4147-A177-3AD203B41FA5}">
                      <a16:colId xmlns:a16="http://schemas.microsoft.com/office/drawing/2014/main" val="20002"/>
                    </a:ext>
                  </a:extLst>
                </a:gridCol>
              </a:tblGrid>
              <a:tr h="155358">
                <a:tc>
                  <a:txBody>
                    <a:bodyPr/>
                    <a:lstStyle/>
                    <a:p>
                      <a:pPr marL="0" marR="0" indent="0" algn="ctr" fontAlgn="base" latinLnBrk="0">
                        <a:lnSpc>
                          <a:spcPct val="100000"/>
                        </a:lnSpc>
                        <a:spcBef>
                          <a:spcPts val="0"/>
                        </a:spcBef>
                        <a:spcAft>
                          <a:spcPts val="0"/>
                        </a:spcAft>
                      </a:pPr>
                      <a:r>
                        <a:rPr lang="ko-KR" altLang="en-US" sz="1200" kern="0" spc="-100" dirty="0">
                          <a:effectLst/>
                        </a:rPr>
                        <a:t>비교</a:t>
                      </a:r>
                      <a:endParaRPr lang="ko-KR" altLang="en-US" sz="1200" kern="0" spc="-100" dirty="0">
                        <a:solidFill>
                          <a:srgbClr val="000000"/>
                        </a:solidFill>
                        <a:effectLst/>
                        <a:latin typeface="Rix모던고딕 L" pitchFamily="18" charset="-127"/>
                        <a:ea typeface="Rix모던고딕 L" pitchFamily="18" charset="-127"/>
                      </a:endParaRPr>
                    </a:p>
                  </a:txBody>
                  <a:tcPr marL="72000" marR="72000" marT="10584" marB="10584"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effectLst/>
                        </a:rPr>
                        <a:t>전용실시권</a:t>
                      </a:r>
                      <a:endParaRPr lang="ko-KR" altLang="en-US" sz="1200" kern="0" spc="-100" dirty="0">
                        <a:solidFill>
                          <a:srgbClr val="000000"/>
                        </a:solidFill>
                        <a:effectLst/>
                        <a:latin typeface="Rix모던고딕 L" pitchFamily="18" charset="-127"/>
                        <a:ea typeface="Rix모던고딕 L" pitchFamily="18" charset="-127"/>
                      </a:endParaRPr>
                    </a:p>
                  </a:txBody>
                  <a:tcPr marL="72000" marR="72000" marT="10584" marB="10584"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err="1">
                          <a:effectLst/>
                        </a:rPr>
                        <a:t>통상실시권</a:t>
                      </a:r>
                      <a:endParaRPr lang="ko-KR" altLang="en-US" sz="1200" kern="0" spc="-100" dirty="0">
                        <a:solidFill>
                          <a:srgbClr val="000000"/>
                        </a:solidFill>
                        <a:effectLst/>
                        <a:latin typeface="Rix모던고딕 L" pitchFamily="18" charset="-127"/>
                        <a:ea typeface="Rix모던고딕 L" pitchFamily="18" charset="-127"/>
                      </a:endParaRPr>
                    </a:p>
                  </a:txBody>
                  <a:tcPr marL="72000" marR="72000" marT="10584" marB="10584" anchor="ctr">
                    <a:solidFill>
                      <a:schemeClr val="accent1">
                        <a:lumMod val="20000"/>
                        <a:lumOff val="80000"/>
                      </a:schemeClr>
                    </a:solidFill>
                  </a:tcPr>
                </a:tc>
                <a:extLst>
                  <a:ext uri="{0D108BD9-81ED-4DB2-BD59-A6C34878D82A}">
                    <a16:rowId xmlns:a16="http://schemas.microsoft.com/office/drawing/2014/main" val="10000"/>
                  </a:ext>
                </a:extLst>
              </a:tr>
              <a:tr h="2383220">
                <a:tc>
                  <a:txBody>
                    <a:bodyPr/>
                    <a:lstStyle/>
                    <a:p>
                      <a:pPr marL="0" marR="0" indent="0" algn="ctr" fontAlgn="base" latinLnBrk="0">
                        <a:lnSpc>
                          <a:spcPct val="100000"/>
                        </a:lnSpc>
                        <a:spcBef>
                          <a:spcPts val="0"/>
                        </a:spcBef>
                        <a:spcAft>
                          <a:spcPts val="0"/>
                        </a:spcAft>
                      </a:pPr>
                      <a:r>
                        <a:rPr lang="ko-KR" altLang="en-US" sz="1200" kern="0" spc="-100" dirty="0">
                          <a:effectLst/>
                        </a:rPr>
                        <a:t>일</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반</a:t>
                      </a:r>
                    </a:p>
                    <a:p>
                      <a:pPr marL="0" marR="0" indent="0" algn="ctr" fontAlgn="base" latinLnBrk="0">
                        <a:lnSpc>
                          <a:spcPct val="100000"/>
                        </a:lnSpc>
                        <a:spcBef>
                          <a:spcPts val="0"/>
                        </a:spcBef>
                        <a:spcAft>
                          <a:spcPts val="0"/>
                        </a:spcAft>
                      </a:pPr>
                      <a:r>
                        <a:rPr lang="ko-KR" altLang="en-US" sz="1200" kern="0" spc="-100" dirty="0" err="1">
                          <a:effectLst/>
                        </a:rPr>
                        <a:t>론</a:t>
                      </a:r>
                      <a:endParaRPr lang="ko-KR" altLang="en-US" sz="1200" kern="0" spc="-100" dirty="0">
                        <a:solidFill>
                          <a:srgbClr val="000000"/>
                        </a:solidFill>
                        <a:effectLst/>
                        <a:latin typeface="Rix모던고딕 L" pitchFamily="18" charset="-127"/>
                        <a:ea typeface="Rix모던고딕 L" pitchFamily="18" charset="-127"/>
                      </a:endParaRPr>
                    </a:p>
                  </a:txBody>
                  <a:tcPr marL="72000" marR="72000" marT="10584" marB="10584" anchor="ctr"/>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200" b="1" kern="1200" dirty="0">
                          <a:solidFill>
                            <a:schemeClr val="tx2"/>
                          </a:solidFill>
                          <a:latin typeface="+mn-lt"/>
                          <a:ea typeface="+mn-ea"/>
                          <a:cs typeface="+mn-cs"/>
                        </a:rPr>
                        <a:t>제</a:t>
                      </a:r>
                      <a:r>
                        <a:rPr lang="en-US" altLang="ko-KR" sz="1200" b="1" kern="1200" dirty="0">
                          <a:solidFill>
                            <a:schemeClr val="tx2"/>
                          </a:solidFill>
                          <a:latin typeface="+mn-lt"/>
                          <a:ea typeface="+mn-ea"/>
                          <a:cs typeface="+mn-cs"/>
                        </a:rPr>
                        <a:t>100</a:t>
                      </a:r>
                      <a:r>
                        <a:rPr lang="ko-KR" altLang="en-US" sz="1200" b="1" kern="1200" dirty="0">
                          <a:solidFill>
                            <a:schemeClr val="tx2"/>
                          </a:solidFill>
                          <a:latin typeface="+mn-lt"/>
                          <a:ea typeface="+mn-ea"/>
                          <a:cs typeface="+mn-cs"/>
                        </a:rPr>
                        <a:t>조</a:t>
                      </a:r>
                      <a:r>
                        <a:rPr lang="en-US" altLang="ko-KR" sz="1200" b="1" kern="1200" dirty="0">
                          <a:solidFill>
                            <a:schemeClr val="tx2"/>
                          </a:solidFill>
                          <a:latin typeface="+mn-lt"/>
                          <a:ea typeface="+mn-ea"/>
                          <a:cs typeface="+mn-cs"/>
                        </a:rPr>
                        <a:t>【</a:t>
                      </a:r>
                      <a:r>
                        <a:rPr lang="ko-KR" altLang="en-US" sz="1200" b="1" kern="1200" dirty="0" err="1">
                          <a:solidFill>
                            <a:schemeClr val="tx2"/>
                          </a:solidFill>
                          <a:latin typeface="+mn-lt"/>
                          <a:ea typeface="+mn-ea"/>
                          <a:cs typeface="+mn-cs"/>
                        </a:rPr>
                        <a:t>전용실시권</a:t>
                      </a:r>
                      <a:r>
                        <a:rPr lang="en-US" altLang="ko-KR" sz="1200" b="1" kern="1200" dirty="0">
                          <a:solidFill>
                            <a:schemeClr val="tx2"/>
                          </a:solidFill>
                          <a:latin typeface="+mn-lt"/>
                          <a:ea typeface="+mn-ea"/>
                          <a:cs typeface="+mn-cs"/>
                        </a:rPr>
                        <a:t>】</a:t>
                      </a:r>
                      <a:endParaRPr lang="ko-KR" altLang="en-US" sz="1200" b="1" kern="1200" dirty="0">
                        <a:solidFill>
                          <a:schemeClr val="tx2"/>
                        </a:solidFill>
                        <a:latin typeface="+mn-lt"/>
                        <a:ea typeface="+mn-ea"/>
                        <a:cs typeface="+mn-cs"/>
                      </a:endParaRPr>
                    </a:p>
                    <a:p>
                      <a:pPr marL="144780" marR="0" indent="-144780" algn="just" fontAlgn="base" latinLnBrk="1">
                        <a:lnSpc>
                          <a:spcPct val="100000"/>
                        </a:lnSpc>
                        <a:spcBef>
                          <a:spcPts val="0"/>
                        </a:spcBef>
                        <a:spcAft>
                          <a:spcPts val="0"/>
                        </a:spcAft>
                        <a:tabLst>
                          <a:tab pos="152400" algn="l"/>
                          <a:tab pos="359410" algn="l"/>
                          <a:tab pos="152400" algn="l"/>
                          <a:tab pos="359410" algn="l"/>
                        </a:tabLst>
                      </a:pPr>
                      <a:r>
                        <a:rPr lang="ko-KR" altLang="en-US" sz="1200" b="1" kern="1200" dirty="0">
                          <a:solidFill>
                            <a:schemeClr val="tx2"/>
                          </a:solidFill>
                          <a:latin typeface="+mn-lt"/>
                          <a:ea typeface="+mn-ea"/>
                          <a:cs typeface="+mn-cs"/>
                        </a:rPr>
                        <a:t>①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발생</a:t>
                      </a:r>
                      <a:r>
                        <a:rPr lang="en-US" altLang="ko-KR" sz="1200" b="1"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특허권자는</a:t>
                      </a:r>
                      <a:r>
                        <a:rPr lang="ko-KR" altLang="en-US" sz="1200" kern="1200" dirty="0">
                          <a:solidFill>
                            <a:schemeClr val="tx2"/>
                          </a:solidFill>
                          <a:latin typeface="+mn-lt"/>
                          <a:ea typeface="+mn-ea"/>
                          <a:cs typeface="+mn-cs"/>
                        </a:rPr>
                        <a:t> 그 특허권에 대하여 타인에게 </a:t>
                      </a:r>
                      <a:r>
                        <a:rPr lang="ko-KR" altLang="en-US" sz="1200" kern="1200" dirty="0" err="1">
                          <a:solidFill>
                            <a:schemeClr val="tx2"/>
                          </a:solidFill>
                          <a:latin typeface="+mn-lt"/>
                          <a:ea typeface="+mn-ea"/>
                          <a:cs typeface="+mn-cs"/>
                        </a:rPr>
                        <a:t>전용실시권을</a:t>
                      </a:r>
                      <a:r>
                        <a:rPr lang="ko-KR" altLang="en-US" sz="1200" kern="1200" dirty="0">
                          <a:solidFill>
                            <a:schemeClr val="tx2"/>
                          </a:solidFill>
                          <a:latin typeface="+mn-lt"/>
                          <a:ea typeface="+mn-ea"/>
                          <a:cs typeface="+mn-cs"/>
                        </a:rPr>
                        <a:t> 설정할 수 있다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151130" marR="0" indent="-151130" algn="just" fontAlgn="base" latinLnBrk="1">
                        <a:lnSpc>
                          <a:spcPct val="100000"/>
                        </a:lnSpc>
                        <a:spcBef>
                          <a:spcPts val="0"/>
                        </a:spcBef>
                        <a:spcAft>
                          <a:spcPts val="0"/>
                        </a:spcAft>
                        <a:tabLst>
                          <a:tab pos="152400" algn="l"/>
                          <a:tab pos="359410" algn="l"/>
                          <a:tab pos="152400" algn="l"/>
                          <a:tab pos="359410" algn="l"/>
                        </a:tabLst>
                      </a:pPr>
                      <a:r>
                        <a:rPr lang="ko-KR" altLang="en-US" sz="1200" b="1" kern="1200" dirty="0">
                          <a:solidFill>
                            <a:schemeClr val="tx2"/>
                          </a:solidFill>
                          <a:latin typeface="+mn-lt"/>
                          <a:ea typeface="+mn-ea"/>
                          <a:cs typeface="+mn-cs"/>
                        </a:rPr>
                        <a:t>②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효력</a:t>
                      </a:r>
                      <a:r>
                        <a:rPr lang="en-US" altLang="ko-KR" sz="1200" b="1"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전용실시권을</a:t>
                      </a:r>
                      <a:r>
                        <a:rPr lang="ko-KR" altLang="en-US" sz="1200"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설정받은</a:t>
                      </a:r>
                      <a:r>
                        <a:rPr lang="ko-KR" altLang="en-US" sz="1200"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전용실시권자는</a:t>
                      </a:r>
                      <a:r>
                        <a:rPr lang="ko-KR" altLang="en-US" sz="1200" kern="1200" dirty="0">
                          <a:solidFill>
                            <a:schemeClr val="tx2"/>
                          </a:solidFill>
                          <a:latin typeface="+mn-lt"/>
                          <a:ea typeface="+mn-ea"/>
                          <a:cs typeface="+mn-cs"/>
                        </a:rPr>
                        <a:t> 그 설정행위로 정한 범위에서 그 특허발명을 업으로서 실시할 권리를 독점한다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162560" marR="0" indent="-162560" algn="just" fontAlgn="base" latinLnBrk="1">
                        <a:lnSpc>
                          <a:spcPct val="100000"/>
                        </a:lnSpc>
                        <a:spcBef>
                          <a:spcPts val="0"/>
                        </a:spcBef>
                        <a:spcAft>
                          <a:spcPts val="0"/>
                        </a:spcAft>
                        <a:tabLst>
                          <a:tab pos="152400" algn="l"/>
                          <a:tab pos="359410" algn="l"/>
                          <a:tab pos="152400" algn="l"/>
                          <a:tab pos="359410" algn="l"/>
                        </a:tabLst>
                      </a:pPr>
                      <a:r>
                        <a:rPr lang="ko-KR" altLang="en-US" sz="1200" b="1" kern="1200" dirty="0">
                          <a:solidFill>
                            <a:schemeClr val="tx2"/>
                          </a:solidFill>
                          <a:latin typeface="+mn-lt"/>
                          <a:ea typeface="+mn-ea"/>
                          <a:cs typeface="+mn-cs"/>
                        </a:rPr>
                        <a:t>③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변동</a:t>
                      </a:r>
                      <a:r>
                        <a:rPr lang="en-US" altLang="ko-KR" sz="1200" b="1" kern="1200" dirty="0">
                          <a:solidFill>
                            <a:schemeClr val="tx2"/>
                          </a:solidFill>
                          <a:latin typeface="+mn-lt"/>
                          <a:ea typeface="+mn-ea"/>
                          <a:cs typeface="+mn-cs"/>
                        </a:rPr>
                        <a:t>: </a:t>
                      </a:r>
                      <a:r>
                        <a:rPr lang="ko-KR" altLang="en-US" sz="1200" b="1" kern="1200" dirty="0">
                          <a:solidFill>
                            <a:schemeClr val="tx2"/>
                          </a:solidFill>
                          <a:latin typeface="+mn-lt"/>
                          <a:ea typeface="+mn-ea"/>
                          <a:cs typeface="+mn-cs"/>
                        </a:rPr>
                        <a:t>이전</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전용실시권자는</a:t>
                      </a:r>
                      <a:r>
                        <a:rPr lang="ko-KR" altLang="en-US" sz="1200" kern="1200" dirty="0">
                          <a:solidFill>
                            <a:schemeClr val="tx2"/>
                          </a:solidFill>
                          <a:latin typeface="+mn-lt"/>
                          <a:ea typeface="+mn-ea"/>
                          <a:cs typeface="+mn-cs"/>
                        </a:rPr>
                        <a:t> 다음 각 호의 경우를 제외하고는 특허권자의 동의를 받아야만 </a:t>
                      </a:r>
                      <a:r>
                        <a:rPr lang="ko-KR" altLang="en-US" sz="1200" kern="1200" dirty="0" err="1">
                          <a:solidFill>
                            <a:schemeClr val="tx2"/>
                          </a:solidFill>
                          <a:latin typeface="+mn-lt"/>
                          <a:ea typeface="+mn-ea"/>
                          <a:cs typeface="+mn-cs"/>
                        </a:rPr>
                        <a:t>전용실시권을</a:t>
                      </a:r>
                      <a:r>
                        <a:rPr lang="ko-KR" altLang="en-US" sz="1200" kern="1200" dirty="0">
                          <a:solidFill>
                            <a:schemeClr val="tx2"/>
                          </a:solidFill>
                          <a:latin typeface="+mn-lt"/>
                          <a:ea typeface="+mn-ea"/>
                          <a:cs typeface="+mn-cs"/>
                        </a:rPr>
                        <a:t> 이전할 수 있다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252730" marR="0" indent="-252730" algn="just" fontAlgn="base" latinLnBrk="1">
                        <a:lnSpc>
                          <a:spcPct val="100000"/>
                        </a:lnSpc>
                        <a:spcBef>
                          <a:spcPts val="0"/>
                        </a:spcBef>
                        <a:spcAft>
                          <a:spcPts val="0"/>
                        </a:spcAft>
                        <a:tabLst>
                          <a:tab pos="152400" algn="l"/>
                          <a:tab pos="359410" algn="l"/>
                          <a:tab pos="152400" algn="l"/>
                          <a:tab pos="359410" algn="l"/>
                        </a:tabLst>
                      </a:pPr>
                      <a:r>
                        <a:rPr lang="en-US" altLang="ko-KR" sz="1200" kern="1200" dirty="0">
                          <a:solidFill>
                            <a:schemeClr val="tx2"/>
                          </a:solidFill>
                          <a:latin typeface="+mn-lt"/>
                          <a:ea typeface="+mn-ea"/>
                          <a:cs typeface="+mn-cs"/>
                        </a:rPr>
                        <a:t> 1. </a:t>
                      </a:r>
                      <a:r>
                        <a:rPr lang="ko-KR" altLang="en-US" sz="1200" kern="1200" dirty="0" err="1">
                          <a:solidFill>
                            <a:schemeClr val="tx2"/>
                          </a:solidFill>
                          <a:latin typeface="+mn-lt"/>
                          <a:ea typeface="+mn-ea"/>
                          <a:cs typeface="+mn-cs"/>
                        </a:rPr>
                        <a:t>전용실시권을</a:t>
                      </a:r>
                      <a:r>
                        <a:rPr lang="ko-KR" altLang="en-US" sz="1200" kern="1200" dirty="0">
                          <a:solidFill>
                            <a:schemeClr val="tx2"/>
                          </a:solidFill>
                          <a:latin typeface="+mn-lt"/>
                          <a:ea typeface="+mn-ea"/>
                          <a:cs typeface="+mn-cs"/>
                        </a:rPr>
                        <a:t> 실시사업</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實施事業</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과 함께 이전하는 경우</a:t>
                      </a:r>
                    </a:p>
                    <a:p>
                      <a:pPr marL="212090" marR="0" indent="-212090" algn="just" fontAlgn="base" latinLnBrk="1">
                        <a:lnSpc>
                          <a:spcPct val="100000"/>
                        </a:lnSpc>
                        <a:spcBef>
                          <a:spcPts val="0"/>
                        </a:spcBef>
                        <a:spcAft>
                          <a:spcPts val="0"/>
                        </a:spcAft>
                        <a:tabLst>
                          <a:tab pos="152400" algn="l"/>
                          <a:tab pos="359410" algn="l"/>
                          <a:tab pos="152400" algn="l"/>
                          <a:tab pos="359410" algn="l"/>
                        </a:tabLst>
                      </a:pPr>
                      <a:r>
                        <a:rPr lang="en-US" altLang="ko-KR" sz="1200" kern="1200" dirty="0">
                          <a:solidFill>
                            <a:schemeClr val="tx2"/>
                          </a:solidFill>
                          <a:latin typeface="+mn-lt"/>
                          <a:ea typeface="+mn-ea"/>
                          <a:cs typeface="+mn-cs"/>
                        </a:rPr>
                        <a:t> 2. </a:t>
                      </a:r>
                      <a:r>
                        <a:rPr lang="ko-KR" altLang="en-US" sz="1200" kern="1200" dirty="0">
                          <a:solidFill>
                            <a:schemeClr val="tx2"/>
                          </a:solidFill>
                          <a:latin typeface="+mn-lt"/>
                          <a:ea typeface="+mn-ea"/>
                          <a:cs typeface="+mn-cs"/>
                        </a:rPr>
                        <a:t>상속이나 그 밖의 일반승계의 경우</a:t>
                      </a:r>
                      <a:endParaRPr lang="en-US" altLang="ko-KR" sz="1200" kern="1200" dirty="0">
                        <a:solidFill>
                          <a:schemeClr val="tx2"/>
                        </a:solidFill>
                        <a:latin typeface="+mn-lt"/>
                        <a:ea typeface="+mn-ea"/>
                        <a:cs typeface="+mn-cs"/>
                      </a:endParaRPr>
                    </a:p>
                    <a:p>
                      <a:pPr marL="212090" marR="0" indent="-212090" algn="just" fontAlgn="base" latinLnBrk="1">
                        <a:lnSpc>
                          <a:spcPct val="100000"/>
                        </a:lnSpc>
                        <a:spcBef>
                          <a:spcPts val="0"/>
                        </a:spcBef>
                        <a:spcAft>
                          <a:spcPts val="0"/>
                        </a:spcAft>
                        <a:tabLst>
                          <a:tab pos="152400" algn="l"/>
                          <a:tab pos="359410" algn="l"/>
                          <a:tab pos="152400" algn="l"/>
                          <a:tab pos="359410" algn="l"/>
                        </a:tabLst>
                      </a:pPr>
                      <a:endParaRPr lang="en-US" altLang="ko-KR" sz="1200" kern="1200" dirty="0">
                        <a:solidFill>
                          <a:schemeClr val="tx2"/>
                        </a:solidFill>
                        <a:latin typeface="+mn-lt"/>
                        <a:ea typeface="+mn-ea"/>
                        <a:cs typeface="+mn-cs"/>
                      </a:endParaRPr>
                    </a:p>
                    <a:p>
                      <a:pPr marL="212090" marR="0" indent="-212090" algn="just" fontAlgn="base" latinLnBrk="1">
                        <a:lnSpc>
                          <a:spcPct val="100000"/>
                        </a:lnSpc>
                        <a:spcBef>
                          <a:spcPts val="0"/>
                        </a:spcBef>
                        <a:spcAft>
                          <a:spcPts val="0"/>
                        </a:spcAft>
                        <a:tabLst>
                          <a:tab pos="152400" algn="l"/>
                          <a:tab pos="359410" algn="l"/>
                          <a:tab pos="152400" algn="l"/>
                          <a:tab pos="359410" algn="l"/>
                        </a:tabLst>
                      </a:pPr>
                      <a:endParaRPr lang="en-US" altLang="ko-KR" sz="1200" kern="1200" dirty="0">
                        <a:solidFill>
                          <a:schemeClr val="tx2"/>
                        </a:solidFill>
                        <a:latin typeface="+mn-lt"/>
                        <a:ea typeface="+mn-ea"/>
                        <a:cs typeface="+mn-cs"/>
                      </a:endParaRPr>
                    </a:p>
                    <a:p>
                      <a:pPr marL="212090" marR="0" indent="-212090" algn="just" fontAlgn="base" latinLnBrk="1">
                        <a:lnSpc>
                          <a:spcPct val="100000"/>
                        </a:lnSpc>
                        <a:spcBef>
                          <a:spcPts val="0"/>
                        </a:spcBef>
                        <a:spcAft>
                          <a:spcPts val="0"/>
                        </a:spcAft>
                        <a:tabLst>
                          <a:tab pos="152400" algn="l"/>
                          <a:tab pos="359410" algn="l"/>
                          <a:tab pos="152400" algn="l"/>
                          <a:tab pos="359410" algn="l"/>
                        </a:tabLst>
                      </a:pPr>
                      <a:endParaRPr lang="en-US" altLang="ko-KR" sz="1200" kern="1200" dirty="0">
                        <a:solidFill>
                          <a:schemeClr val="tx2"/>
                        </a:solidFill>
                        <a:latin typeface="+mn-lt"/>
                        <a:ea typeface="+mn-ea"/>
                        <a:cs typeface="+mn-cs"/>
                      </a:endParaRPr>
                    </a:p>
                    <a:p>
                      <a:pPr marL="212090" marR="0" indent="-212090" algn="just" fontAlgn="base" latinLnBrk="1">
                        <a:lnSpc>
                          <a:spcPct val="100000"/>
                        </a:lnSpc>
                        <a:spcBef>
                          <a:spcPts val="0"/>
                        </a:spcBef>
                        <a:spcAft>
                          <a:spcPts val="0"/>
                        </a:spcAft>
                        <a:tabLst>
                          <a:tab pos="152400" algn="l"/>
                          <a:tab pos="359410" algn="l"/>
                          <a:tab pos="152400" algn="l"/>
                          <a:tab pos="359410" algn="l"/>
                        </a:tabLst>
                      </a:pPr>
                      <a:endParaRPr lang="en-US" altLang="ko-KR" sz="1200" kern="1200" dirty="0">
                        <a:solidFill>
                          <a:schemeClr val="tx2"/>
                        </a:solidFill>
                        <a:latin typeface="+mn-lt"/>
                        <a:ea typeface="+mn-ea"/>
                        <a:cs typeface="+mn-cs"/>
                      </a:endParaRPr>
                    </a:p>
                    <a:p>
                      <a:pPr marL="212090" marR="0" indent="-212090" algn="just" fontAlgn="base" latinLnBrk="1">
                        <a:lnSpc>
                          <a:spcPct val="100000"/>
                        </a:lnSpc>
                        <a:spcBef>
                          <a:spcPts val="0"/>
                        </a:spcBef>
                        <a:spcAft>
                          <a:spcPts val="0"/>
                        </a:spcAft>
                        <a:tabLst>
                          <a:tab pos="152400" algn="l"/>
                          <a:tab pos="359410" algn="l"/>
                          <a:tab pos="152400" algn="l"/>
                          <a:tab pos="359410" algn="l"/>
                        </a:tabLst>
                      </a:pPr>
                      <a:endParaRPr lang="ko-KR" altLang="en-US" sz="1200" kern="1200" dirty="0">
                        <a:solidFill>
                          <a:schemeClr val="tx2"/>
                        </a:solidFill>
                        <a:latin typeface="+mn-lt"/>
                        <a:ea typeface="+mn-ea"/>
                        <a:cs typeface="+mn-cs"/>
                      </a:endParaRPr>
                    </a:p>
                    <a:p>
                      <a:pPr marL="157480" marR="0" indent="-157480" algn="just" fontAlgn="base" latinLnBrk="1">
                        <a:lnSpc>
                          <a:spcPct val="100000"/>
                        </a:lnSpc>
                        <a:spcBef>
                          <a:spcPts val="0"/>
                        </a:spcBef>
                        <a:spcAft>
                          <a:spcPts val="0"/>
                        </a:spcAft>
                        <a:tabLst>
                          <a:tab pos="152400" algn="l"/>
                          <a:tab pos="359410" algn="l"/>
                          <a:tab pos="152400" algn="l"/>
                          <a:tab pos="359410" algn="l"/>
                        </a:tabLst>
                      </a:pPr>
                      <a:r>
                        <a:rPr lang="ko-KR" altLang="en-US" sz="1200" b="1" kern="1200" dirty="0">
                          <a:solidFill>
                            <a:schemeClr val="tx2"/>
                          </a:solidFill>
                          <a:latin typeface="+mn-lt"/>
                          <a:ea typeface="+mn-ea"/>
                          <a:cs typeface="+mn-cs"/>
                        </a:rPr>
                        <a:t>④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변동</a:t>
                      </a:r>
                      <a:r>
                        <a:rPr lang="en-US" altLang="ko-KR" sz="1200" b="1" kern="1200" dirty="0">
                          <a:solidFill>
                            <a:schemeClr val="tx2"/>
                          </a:solidFill>
                          <a:latin typeface="+mn-lt"/>
                          <a:ea typeface="+mn-ea"/>
                          <a:cs typeface="+mn-cs"/>
                        </a:rPr>
                        <a:t>: </a:t>
                      </a:r>
                      <a:r>
                        <a:rPr lang="ko-KR" altLang="en-US" sz="1200" b="1" kern="1200" dirty="0" err="1">
                          <a:solidFill>
                            <a:schemeClr val="tx2"/>
                          </a:solidFill>
                          <a:latin typeface="+mn-lt"/>
                          <a:ea typeface="+mn-ea"/>
                          <a:cs typeface="+mn-cs"/>
                        </a:rPr>
                        <a:t>질권설정ㆍ통상실시권허락</a:t>
                      </a:r>
                      <a:r>
                        <a:rPr lang="en-US" altLang="ko-KR" sz="1200" b="1"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전용실시권자는</a:t>
                      </a:r>
                      <a:r>
                        <a:rPr lang="ko-KR" altLang="en-US" sz="1200" kern="1200" dirty="0">
                          <a:solidFill>
                            <a:schemeClr val="tx2"/>
                          </a:solidFill>
                          <a:latin typeface="+mn-lt"/>
                          <a:ea typeface="+mn-ea"/>
                          <a:cs typeface="+mn-cs"/>
                        </a:rPr>
                        <a:t> 특허권자의 동의를 받아야만 그 </a:t>
                      </a:r>
                      <a:r>
                        <a:rPr lang="ko-KR" altLang="en-US" sz="1200" kern="1200" dirty="0" err="1">
                          <a:solidFill>
                            <a:schemeClr val="tx2"/>
                          </a:solidFill>
                          <a:latin typeface="+mn-lt"/>
                          <a:ea typeface="+mn-ea"/>
                          <a:cs typeface="+mn-cs"/>
                        </a:rPr>
                        <a:t>전용실시권을</a:t>
                      </a:r>
                      <a:r>
                        <a:rPr lang="ko-KR" altLang="en-US" sz="1200" kern="1200" dirty="0">
                          <a:solidFill>
                            <a:schemeClr val="tx2"/>
                          </a:solidFill>
                          <a:latin typeface="+mn-lt"/>
                          <a:ea typeface="+mn-ea"/>
                          <a:cs typeface="+mn-cs"/>
                        </a:rPr>
                        <a:t> 목적으로 하는 질권을 설정하거나 </a:t>
                      </a:r>
                      <a:r>
                        <a:rPr lang="ko-KR" altLang="en-US" sz="1200" kern="1200" dirty="0" err="1">
                          <a:solidFill>
                            <a:schemeClr val="tx2"/>
                          </a:solidFill>
                          <a:latin typeface="+mn-lt"/>
                          <a:ea typeface="+mn-ea"/>
                          <a:cs typeface="+mn-cs"/>
                        </a:rPr>
                        <a:t>통상실시권을</a:t>
                      </a:r>
                      <a:r>
                        <a:rPr lang="ko-KR" altLang="en-US" sz="1200" kern="1200" dirty="0">
                          <a:solidFill>
                            <a:schemeClr val="tx2"/>
                          </a:solidFill>
                          <a:latin typeface="+mn-lt"/>
                          <a:ea typeface="+mn-ea"/>
                          <a:cs typeface="+mn-cs"/>
                        </a:rPr>
                        <a:t> 허락할 수 있다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140970" marR="0" indent="-140970" algn="just" fontAlgn="base" latinLnBrk="1">
                        <a:lnSpc>
                          <a:spcPct val="100000"/>
                        </a:lnSpc>
                        <a:spcBef>
                          <a:spcPts val="0"/>
                        </a:spcBef>
                        <a:spcAft>
                          <a:spcPts val="0"/>
                        </a:spcAft>
                        <a:tabLst>
                          <a:tab pos="152400" algn="l"/>
                          <a:tab pos="359410" algn="l"/>
                          <a:tab pos="152400" algn="l"/>
                          <a:tab pos="359410" algn="l"/>
                        </a:tabLst>
                      </a:pPr>
                      <a:endParaRPr lang="en-US" altLang="ko-KR" sz="1200" b="1" kern="1200" dirty="0">
                        <a:solidFill>
                          <a:schemeClr val="tx2"/>
                        </a:solidFill>
                        <a:latin typeface="+mn-lt"/>
                        <a:ea typeface="+mn-ea"/>
                        <a:cs typeface="+mn-cs"/>
                      </a:endParaRPr>
                    </a:p>
                    <a:p>
                      <a:pPr marL="140970" marR="0" indent="-140970" algn="just" fontAlgn="base" latinLnBrk="1">
                        <a:lnSpc>
                          <a:spcPct val="100000"/>
                        </a:lnSpc>
                        <a:spcBef>
                          <a:spcPts val="0"/>
                        </a:spcBef>
                        <a:spcAft>
                          <a:spcPts val="0"/>
                        </a:spcAft>
                        <a:tabLst>
                          <a:tab pos="152400" algn="l"/>
                          <a:tab pos="359410" algn="l"/>
                          <a:tab pos="152400" algn="l"/>
                          <a:tab pos="359410" algn="l"/>
                        </a:tabLst>
                      </a:pPr>
                      <a:r>
                        <a:rPr lang="ko-KR" altLang="en-US" sz="1200" b="1" kern="1200" dirty="0">
                          <a:solidFill>
                            <a:schemeClr val="tx2"/>
                          </a:solidFill>
                          <a:latin typeface="+mn-lt"/>
                          <a:ea typeface="+mn-ea"/>
                          <a:cs typeface="+mn-cs"/>
                        </a:rPr>
                        <a:t>⑤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공유</a:t>
                      </a:r>
                      <a:r>
                        <a:rPr lang="en-US" altLang="ko-KR" sz="1200" b="1"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전용실시권에</a:t>
                      </a:r>
                      <a:r>
                        <a:rPr lang="ko-KR" altLang="en-US" sz="1200" kern="1200" dirty="0">
                          <a:solidFill>
                            <a:schemeClr val="tx2"/>
                          </a:solidFill>
                          <a:latin typeface="+mn-lt"/>
                          <a:ea typeface="+mn-ea"/>
                          <a:cs typeface="+mn-cs"/>
                        </a:rPr>
                        <a:t> 관하여는 제</a:t>
                      </a:r>
                      <a:r>
                        <a:rPr lang="en-US" altLang="ko-KR" sz="1200" kern="1200" dirty="0">
                          <a:solidFill>
                            <a:schemeClr val="tx2"/>
                          </a:solidFill>
                          <a:latin typeface="+mn-lt"/>
                          <a:ea typeface="+mn-ea"/>
                          <a:cs typeface="+mn-cs"/>
                        </a:rPr>
                        <a:t>99</a:t>
                      </a:r>
                      <a:r>
                        <a:rPr lang="ko-KR" altLang="en-US" sz="1200" kern="1200" dirty="0">
                          <a:solidFill>
                            <a:schemeClr val="tx2"/>
                          </a:solidFill>
                          <a:latin typeface="+mn-lt"/>
                          <a:ea typeface="+mn-ea"/>
                          <a:cs typeface="+mn-cs"/>
                        </a:rPr>
                        <a:t>조제</a:t>
                      </a:r>
                      <a:r>
                        <a:rPr lang="en-US" altLang="ko-KR" sz="1200" kern="1200" dirty="0">
                          <a:solidFill>
                            <a:schemeClr val="tx2"/>
                          </a:solidFill>
                          <a:latin typeface="+mn-lt"/>
                          <a:ea typeface="+mn-ea"/>
                          <a:cs typeface="+mn-cs"/>
                        </a:rPr>
                        <a:t>2</a:t>
                      </a:r>
                      <a:r>
                        <a:rPr lang="ko-KR" altLang="en-US" sz="1200" kern="1200" dirty="0">
                          <a:solidFill>
                            <a:schemeClr val="tx2"/>
                          </a:solidFill>
                          <a:latin typeface="+mn-lt"/>
                          <a:ea typeface="+mn-ea"/>
                          <a:cs typeface="+mn-cs"/>
                        </a:rPr>
                        <a:t>항부터 제</a:t>
                      </a:r>
                      <a:r>
                        <a:rPr lang="en-US" altLang="ko-KR" sz="1200" kern="1200" dirty="0">
                          <a:solidFill>
                            <a:schemeClr val="tx2"/>
                          </a:solidFill>
                          <a:latin typeface="+mn-lt"/>
                          <a:ea typeface="+mn-ea"/>
                          <a:cs typeface="+mn-cs"/>
                        </a:rPr>
                        <a:t>4</a:t>
                      </a:r>
                      <a:r>
                        <a:rPr lang="ko-KR" altLang="en-US" sz="1200" kern="1200" dirty="0">
                          <a:solidFill>
                            <a:schemeClr val="tx2"/>
                          </a:solidFill>
                          <a:latin typeface="+mn-lt"/>
                          <a:ea typeface="+mn-ea"/>
                          <a:cs typeface="+mn-cs"/>
                        </a:rPr>
                        <a:t>항까지의 규정을 준용한다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txBody>
                  <a:tcPr marL="72000" marR="72000" marT="10584" marB="10584"/>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200" b="1" kern="1200" dirty="0">
                          <a:solidFill>
                            <a:schemeClr val="tx2"/>
                          </a:solidFill>
                          <a:latin typeface="+mn-lt"/>
                          <a:ea typeface="+mn-ea"/>
                          <a:cs typeface="+mn-cs"/>
                        </a:rPr>
                        <a:t>제</a:t>
                      </a:r>
                      <a:r>
                        <a:rPr lang="en-US" altLang="ko-KR" sz="1200" b="1" kern="1200" dirty="0">
                          <a:solidFill>
                            <a:schemeClr val="tx2"/>
                          </a:solidFill>
                          <a:latin typeface="+mn-lt"/>
                          <a:ea typeface="+mn-ea"/>
                          <a:cs typeface="+mn-cs"/>
                        </a:rPr>
                        <a:t>102</a:t>
                      </a:r>
                      <a:r>
                        <a:rPr lang="ko-KR" altLang="en-US" sz="1200" b="1" kern="1200" dirty="0">
                          <a:solidFill>
                            <a:schemeClr val="tx2"/>
                          </a:solidFill>
                          <a:latin typeface="+mn-lt"/>
                          <a:ea typeface="+mn-ea"/>
                          <a:cs typeface="+mn-cs"/>
                        </a:rPr>
                        <a:t>조</a:t>
                      </a:r>
                      <a:r>
                        <a:rPr lang="en-US" altLang="ko-KR" sz="1200" b="1" kern="1200" dirty="0">
                          <a:solidFill>
                            <a:schemeClr val="tx2"/>
                          </a:solidFill>
                          <a:latin typeface="+mn-lt"/>
                          <a:ea typeface="+mn-ea"/>
                          <a:cs typeface="+mn-cs"/>
                        </a:rPr>
                        <a:t>【</a:t>
                      </a:r>
                      <a:r>
                        <a:rPr lang="ko-KR" altLang="en-US" sz="1200" b="1" kern="1200" dirty="0" err="1">
                          <a:solidFill>
                            <a:schemeClr val="tx2"/>
                          </a:solidFill>
                          <a:latin typeface="+mn-lt"/>
                          <a:ea typeface="+mn-ea"/>
                          <a:cs typeface="+mn-cs"/>
                        </a:rPr>
                        <a:t>통상실시권</a:t>
                      </a:r>
                      <a:r>
                        <a:rPr lang="en-US" altLang="ko-KR" sz="1200" b="1" kern="1200" dirty="0">
                          <a:solidFill>
                            <a:schemeClr val="tx2"/>
                          </a:solidFill>
                          <a:latin typeface="+mn-lt"/>
                          <a:ea typeface="+mn-ea"/>
                          <a:cs typeface="+mn-cs"/>
                        </a:rPr>
                        <a:t>】</a:t>
                      </a:r>
                      <a:endParaRPr lang="ko-KR" altLang="en-US" sz="1200" b="1" kern="1200" dirty="0">
                        <a:solidFill>
                          <a:schemeClr val="tx2"/>
                        </a:solidFill>
                        <a:latin typeface="+mn-lt"/>
                        <a:ea typeface="+mn-ea"/>
                        <a:cs typeface="+mn-cs"/>
                      </a:endParaRPr>
                    </a:p>
                    <a:p>
                      <a:pPr marL="134620" marR="0" indent="-134620" algn="just" fontAlgn="base" latinLnBrk="1">
                        <a:lnSpc>
                          <a:spcPct val="100000"/>
                        </a:lnSpc>
                        <a:spcBef>
                          <a:spcPts val="0"/>
                        </a:spcBef>
                        <a:spcAft>
                          <a:spcPts val="0"/>
                        </a:spcAft>
                        <a:tabLst>
                          <a:tab pos="152400" algn="l"/>
                          <a:tab pos="359410" algn="l"/>
                          <a:tab pos="152400" algn="l"/>
                          <a:tab pos="359410" algn="l"/>
                        </a:tabLst>
                      </a:pPr>
                      <a:r>
                        <a:rPr lang="ko-KR" altLang="en-US" sz="1200" kern="1200" dirty="0">
                          <a:solidFill>
                            <a:schemeClr val="tx2"/>
                          </a:solidFill>
                          <a:latin typeface="+mn-lt"/>
                          <a:ea typeface="+mn-ea"/>
                          <a:cs typeface="+mn-cs"/>
                        </a:rPr>
                        <a:t>①</a:t>
                      </a:r>
                      <a:r>
                        <a:rPr lang="ko-KR" altLang="en-US" sz="1200" b="1" kern="1200" dirty="0">
                          <a:solidFill>
                            <a:schemeClr val="tx2"/>
                          </a:solidFill>
                          <a:latin typeface="+mn-lt"/>
                          <a:ea typeface="+mn-ea"/>
                          <a:cs typeface="+mn-cs"/>
                        </a:rPr>
                        <a:t>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발생</a:t>
                      </a:r>
                      <a:r>
                        <a:rPr lang="en-US" altLang="ko-KR" sz="1200" b="1"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특허권자는</a:t>
                      </a:r>
                      <a:r>
                        <a:rPr lang="ko-KR" altLang="en-US" sz="1200" kern="1200" dirty="0">
                          <a:solidFill>
                            <a:schemeClr val="tx2"/>
                          </a:solidFill>
                          <a:latin typeface="+mn-lt"/>
                          <a:ea typeface="+mn-ea"/>
                          <a:cs typeface="+mn-cs"/>
                        </a:rPr>
                        <a:t> 그 특허권에 대하여 타인에게 </a:t>
                      </a:r>
                      <a:r>
                        <a:rPr lang="ko-KR" altLang="en-US" sz="1200" kern="1200" dirty="0" err="1">
                          <a:solidFill>
                            <a:schemeClr val="tx2"/>
                          </a:solidFill>
                          <a:latin typeface="+mn-lt"/>
                          <a:ea typeface="+mn-ea"/>
                          <a:cs typeface="+mn-cs"/>
                        </a:rPr>
                        <a:t>통상실시권을</a:t>
                      </a:r>
                      <a:r>
                        <a:rPr lang="ko-KR" altLang="en-US" sz="1200" kern="1200" dirty="0">
                          <a:solidFill>
                            <a:schemeClr val="tx2"/>
                          </a:solidFill>
                          <a:latin typeface="+mn-lt"/>
                          <a:ea typeface="+mn-ea"/>
                          <a:cs typeface="+mn-cs"/>
                        </a:rPr>
                        <a:t> 허락할 수 있다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139700" marR="0" indent="-139700" algn="just" fontAlgn="base" latinLnBrk="1">
                        <a:lnSpc>
                          <a:spcPct val="100000"/>
                        </a:lnSpc>
                        <a:spcBef>
                          <a:spcPts val="0"/>
                        </a:spcBef>
                        <a:spcAft>
                          <a:spcPts val="0"/>
                        </a:spcAft>
                        <a:tabLst>
                          <a:tab pos="152400" algn="l"/>
                          <a:tab pos="359410" algn="l"/>
                          <a:tab pos="152400" algn="l"/>
                          <a:tab pos="359410" algn="l"/>
                        </a:tabLst>
                      </a:pPr>
                      <a:r>
                        <a:rPr lang="ko-KR" altLang="en-US" sz="1200" kern="1200" dirty="0">
                          <a:solidFill>
                            <a:schemeClr val="tx2"/>
                          </a:solidFill>
                          <a:latin typeface="+mn-lt"/>
                          <a:ea typeface="+mn-ea"/>
                          <a:cs typeface="+mn-cs"/>
                        </a:rPr>
                        <a:t>②</a:t>
                      </a:r>
                      <a:r>
                        <a:rPr lang="ko-KR" altLang="en-US" sz="1200" b="1" kern="1200" dirty="0">
                          <a:solidFill>
                            <a:schemeClr val="tx2"/>
                          </a:solidFill>
                          <a:latin typeface="+mn-lt"/>
                          <a:ea typeface="+mn-ea"/>
                          <a:cs typeface="+mn-cs"/>
                        </a:rPr>
                        <a:t>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효력</a:t>
                      </a:r>
                      <a:r>
                        <a:rPr lang="en-US" altLang="ko-KR" sz="1200" b="1"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통상실시권자는</a:t>
                      </a:r>
                      <a:r>
                        <a:rPr lang="ko-KR" altLang="en-US" sz="1200" kern="1200" dirty="0">
                          <a:solidFill>
                            <a:schemeClr val="tx2"/>
                          </a:solidFill>
                          <a:latin typeface="+mn-lt"/>
                          <a:ea typeface="+mn-ea"/>
                          <a:cs typeface="+mn-cs"/>
                        </a:rPr>
                        <a:t> 이 법에 따라 또는 설정행위로 정한 범위에서 특허발명을 업으로서 실시할 수 있는 권리를 가진다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137160" marR="0" indent="-137160" algn="just" fontAlgn="base" latinLnBrk="1">
                        <a:lnSpc>
                          <a:spcPct val="100000"/>
                        </a:lnSpc>
                        <a:spcBef>
                          <a:spcPts val="0"/>
                        </a:spcBef>
                        <a:spcAft>
                          <a:spcPts val="0"/>
                        </a:spcAft>
                        <a:tabLst>
                          <a:tab pos="152400" algn="l"/>
                          <a:tab pos="359410" algn="l"/>
                          <a:tab pos="152400" algn="l"/>
                          <a:tab pos="359410" algn="l"/>
                        </a:tabLst>
                      </a:pPr>
                      <a:r>
                        <a:rPr lang="ko-KR" altLang="en-US" sz="1200" kern="1200" dirty="0">
                          <a:solidFill>
                            <a:schemeClr val="tx2"/>
                          </a:solidFill>
                          <a:latin typeface="+mn-lt"/>
                          <a:ea typeface="+mn-ea"/>
                          <a:cs typeface="+mn-cs"/>
                        </a:rPr>
                        <a:t>③</a:t>
                      </a:r>
                      <a:r>
                        <a:rPr lang="ko-KR" altLang="en-US" sz="1200" b="1" kern="1200" dirty="0">
                          <a:solidFill>
                            <a:schemeClr val="tx2"/>
                          </a:solidFill>
                          <a:latin typeface="+mn-lt"/>
                          <a:ea typeface="+mn-ea"/>
                          <a:cs typeface="+mn-cs"/>
                        </a:rPr>
                        <a:t>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변동</a:t>
                      </a:r>
                      <a:r>
                        <a:rPr lang="en-US" altLang="ko-KR" sz="1200" b="1" kern="1200" dirty="0">
                          <a:solidFill>
                            <a:schemeClr val="tx2"/>
                          </a:solidFill>
                          <a:latin typeface="+mn-lt"/>
                          <a:ea typeface="+mn-ea"/>
                          <a:cs typeface="+mn-cs"/>
                        </a:rPr>
                        <a:t>: </a:t>
                      </a:r>
                      <a:r>
                        <a:rPr lang="ko-KR" altLang="en-US" sz="1200" b="1" kern="1200" dirty="0" err="1">
                          <a:solidFill>
                            <a:schemeClr val="tx2"/>
                          </a:solidFill>
                          <a:latin typeface="+mn-lt"/>
                          <a:ea typeface="+mn-ea"/>
                          <a:cs typeface="+mn-cs"/>
                        </a:rPr>
                        <a:t>재정실시권의</a:t>
                      </a:r>
                      <a:r>
                        <a:rPr lang="ko-KR" altLang="en-US" sz="1200" b="1" kern="1200" dirty="0">
                          <a:solidFill>
                            <a:schemeClr val="tx2"/>
                          </a:solidFill>
                          <a:latin typeface="+mn-lt"/>
                          <a:ea typeface="+mn-ea"/>
                          <a:cs typeface="+mn-cs"/>
                        </a:rPr>
                        <a:t> 이전</a:t>
                      </a:r>
                      <a:r>
                        <a:rPr lang="en-US" altLang="ko-KR" sz="1200" b="1" kern="1200" dirty="0">
                          <a:solidFill>
                            <a:schemeClr val="tx2"/>
                          </a:solidFill>
                          <a:latin typeface="+mn-lt"/>
                          <a:ea typeface="+mn-ea"/>
                          <a:cs typeface="+mn-cs"/>
                        </a:rPr>
                        <a:t>) </a:t>
                      </a: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107</a:t>
                      </a:r>
                      <a:r>
                        <a:rPr lang="ko-KR" altLang="en-US" sz="1200" kern="1200" dirty="0">
                          <a:solidFill>
                            <a:schemeClr val="tx2"/>
                          </a:solidFill>
                          <a:latin typeface="+mn-lt"/>
                          <a:ea typeface="+mn-ea"/>
                          <a:cs typeface="+mn-cs"/>
                        </a:rPr>
                        <a:t>조에 따른 </a:t>
                      </a:r>
                      <a:r>
                        <a:rPr lang="ko-KR" altLang="en-US" sz="1200" kern="1200" dirty="0" err="1">
                          <a:solidFill>
                            <a:schemeClr val="tx2"/>
                          </a:solidFill>
                          <a:latin typeface="+mn-lt"/>
                          <a:ea typeface="+mn-ea"/>
                          <a:cs typeface="+mn-cs"/>
                        </a:rPr>
                        <a:t>통상실시권은</a:t>
                      </a:r>
                      <a:r>
                        <a:rPr lang="ko-KR" altLang="en-US" sz="1200" kern="1200" dirty="0">
                          <a:solidFill>
                            <a:schemeClr val="tx2"/>
                          </a:solidFill>
                          <a:latin typeface="+mn-lt"/>
                          <a:ea typeface="+mn-ea"/>
                          <a:cs typeface="+mn-cs"/>
                        </a:rPr>
                        <a:t> 실시사업과 함께 이전하는 경우에만 이전할 수 있다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143510" marR="0" indent="-143510" algn="just" fontAlgn="base" latinLnBrk="1">
                        <a:lnSpc>
                          <a:spcPct val="100000"/>
                        </a:lnSpc>
                        <a:spcBef>
                          <a:spcPts val="0"/>
                        </a:spcBef>
                        <a:spcAft>
                          <a:spcPts val="0"/>
                        </a:spcAft>
                        <a:tabLst>
                          <a:tab pos="152400" algn="l"/>
                          <a:tab pos="359410" algn="l"/>
                          <a:tab pos="152400" algn="l"/>
                          <a:tab pos="359410" algn="l"/>
                        </a:tabLst>
                      </a:pPr>
                      <a:r>
                        <a:rPr lang="ko-KR" altLang="en-US" sz="1200" kern="1200" dirty="0">
                          <a:solidFill>
                            <a:schemeClr val="tx2"/>
                          </a:solidFill>
                          <a:latin typeface="+mn-lt"/>
                          <a:ea typeface="+mn-ea"/>
                          <a:cs typeface="+mn-cs"/>
                        </a:rPr>
                        <a:t>④</a:t>
                      </a:r>
                      <a:r>
                        <a:rPr lang="ko-KR" altLang="en-US" sz="1200" b="1" kern="1200" dirty="0">
                          <a:solidFill>
                            <a:schemeClr val="tx2"/>
                          </a:solidFill>
                          <a:latin typeface="+mn-lt"/>
                          <a:ea typeface="+mn-ea"/>
                          <a:cs typeface="+mn-cs"/>
                        </a:rPr>
                        <a:t>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변동</a:t>
                      </a:r>
                      <a:r>
                        <a:rPr lang="en-US" altLang="ko-KR" sz="1200" b="1" kern="1200" dirty="0">
                          <a:solidFill>
                            <a:schemeClr val="tx2"/>
                          </a:solidFill>
                          <a:latin typeface="+mn-lt"/>
                          <a:ea typeface="+mn-ea"/>
                          <a:cs typeface="+mn-cs"/>
                        </a:rPr>
                        <a:t>: </a:t>
                      </a:r>
                      <a:r>
                        <a:rPr lang="ko-KR" altLang="en-US" sz="1200" b="1" kern="1200" dirty="0" err="1">
                          <a:solidFill>
                            <a:schemeClr val="tx2"/>
                          </a:solidFill>
                          <a:latin typeface="+mn-lt"/>
                          <a:ea typeface="+mn-ea"/>
                          <a:cs typeface="+mn-cs"/>
                        </a:rPr>
                        <a:t>통상실시권허락심판에</a:t>
                      </a:r>
                      <a:r>
                        <a:rPr lang="ko-KR" altLang="en-US" sz="1200" b="1" kern="1200" dirty="0">
                          <a:solidFill>
                            <a:schemeClr val="tx2"/>
                          </a:solidFill>
                          <a:latin typeface="+mn-lt"/>
                          <a:ea typeface="+mn-ea"/>
                          <a:cs typeface="+mn-cs"/>
                        </a:rPr>
                        <a:t> 의한 </a:t>
                      </a:r>
                      <a:r>
                        <a:rPr lang="ko-KR" altLang="en-US" sz="1200" b="1" kern="1200" dirty="0" err="1">
                          <a:solidFill>
                            <a:schemeClr val="tx2"/>
                          </a:solidFill>
                          <a:latin typeface="+mn-lt"/>
                          <a:ea typeface="+mn-ea"/>
                          <a:cs typeface="+mn-cs"/>
                        </a:rPr>
                        <a:t>실시권의</a:t>
                      </a:r>
                      <a:r>
                        <a:rPr lang="ko-KR" altLang="en-US" sz="1200" b="1" kern="1200" dirty="0">
                          <a:solidFill>
                            <a:schemeClr val="tx2"/>
                          </a:solidFill>
                          <a:latin typeface="+mn-lt"/>
                          <a:ea typeface="+mn-ea"/>
                          <a:cs typeface="+mn-cs"/>
                        </a:rPr>
                        <a:t> 이전</a:t>
                      </a:r>
                      <a:r>
                        <a:rPr lang="en-US" altLang="ko-KR" sz="1200" b="1" kern="1200" dirty="0">
                          <a:solidFill>
                            <a:schemeClr val="tx2"/>
                          </a:solidFill>
                          <a:latin typeface="+mn-lt"/>
                          <a:ea typeface="+mn-ea"/>
                          <a:cs typeface="+mn-cs"/>
                        </a:rPr>
                        <a:t>) </a:t>
                      </a: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138</a:t>
                      </a:r>
                      <a:r>
                        <a:rPr lang="ko-KR" altLang="en-US" sz="1200" kern="1200" dirty="0">
                          <a:solidFill>
                            <a:schemeClr val="tx2"/>
                          </a:solidFill>
                          <a:latin typeface="+mn-lt"/>
                          <a:ea typeface="+mn-ea"/>
                          <a:cs typeface="+mn-cs"/>
                        </a:rPr>
                        <a:t>조</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a:t>
                      </a:r>
                      <a:r>
                        <a:rPr lang="ko-KR" altLang="en-US" sz="1200" kern="1200" dirty="0" err="1">
                          <a:solidFill>
                            <a:schemeClr val="tx2"/>
                          </a:solidFill>
                          <a:latin typeface="+mn-lt"/>
                          <a:ea typeface="+mn-ea"/>
                          <a:cs typeface="+mn-cs"/>
                        </a:rPr>
                        <a:t>실용신안법</a:t>
                      </a:r>
                      <a:r>
                        <a:rPr lang="ko-KR" altLang="en-US" sz="1200" kern="1200" dirty="0">
                          <a:solidFill>
                            <a:schemeClr val="tx2"/>
                          </a:solidFill>
                          <a:latin typeface="+mn-lt"/>
                          <a:ea typeface="+mn-ea"/>
                          <a:cs typeface="+mn-cs"/>
                        </a:rPr>
                        <a:t>」 제</a:t>
                      </a:r>
                      <a:r>
                        <a:rPr lang="en-US" altLang="ko-KR" sz="1200" kern="1200" dirty="0">
                          <a:solidFill>
                            <a:schemeClr val="tx2"/>
                          </a:solidFill>
                          <a:latin typeface="+mn-lt"/>
                          <a:ea typeface="+mn-ea"/>
                          <a:cs typeface="+mn-cs"/>
                        </a:rPr>
                        <a:t>32</a:t>
                      </a:r>
                      <a:r>
                        <a:rPr lang="ko-KR" altLang="en-US" sz="1200" kern="1200" dirty="0">
                          <a:solidFill>
                            <a:schemeClr val="tx2"/>
                          </a:solidFill>
                          <a:latin typeface="+mn-lt"/>
                          <a:ea typeface="+mn-ea"/>
                          <a:cs typeface="+mn-cs"/>
                        </a:rPr>
                        <a:t>조 또는 「디자인보호법」 제</a:t>
                      </a:r>
                      <a:r>
                        <a:rPr lang="en-US" altLang="ko-KR" sz="1200" kern="1200" dirty="0">
                          <a:solidFill>
                            <a:schemeClr val="tx2"/>
                          </a:solidFill>
                          <a:latin typeface="+mn-lt"/>
                          <a:ea typeface="+mn-ea"/>
                          <a:cs typeface="+mn-cs"/>
                        </a:rPr>
                        <a:t>123</a:t>
                      </a:r>
                      <a:r>
                        <a:rPr lang="ko-KR" altLang="en-US" sz="1200" kern="1200" dirty="0">
                          <a:solidFill>
                            <a:schemeClr val="tx2"/>
                          </a:solidFill>
                          <a:latin typeface="+mn-lt"/>
                          <a:ea typeface="+mn-ea"/>
                          <a:cs typeface="+mn-cs"/>
                        </a:rPr>
                        <a:t>조에 따른 </a:t>
                      </a:r>
                      <a:r>
                        <a:rPr lang="ko-KR" altLang="en-US" sz="1200" kern="1200" dirty="0" err="1">
                          <a:solidFill>
                            <a:schemeClr val="tx2"/>
                          </a:solidFill>
                          <a:latin typeface="+mn-lt"/>
                          <a:ea typeface="+mn-ea"/>
                          <a:cs typeface="+mn-cs"/>
                        </a:rPr>
                        <a:t>통상실시권은</a:t>
                      </a:r>
                      <a:r>
                        <a:rPr lang="ko-KR" altLang="en-US" sz="1200" kern="1200" dirty="0">
                          <a:solidFill>
                            <a:schemeClr val="tx2"/>
                          </a:solidFill>
                          <a:latin typeface="+mn-lt"/>
                          <a:ea typeface="+mn-ea"/>
                          <a:cs typeface="+mn-cs"/>
                        </a:rPr>
                        <a:t> 그 </a:t>
                      </a:r>
                      <a:r>
                        <a:rPr lang="ko-KR" altLang="en-US" sz="1200" kern="1200" dirty="0" err="1">
                          <a:solidFill>
                            <a:schemeClr val="tx2"/>
                          </a:solidFill>
                          <a:latin typeface="+mn-lt"/>
                          <a:ea typeface="+mn-ea"/>
                          <a:cs typeface="+mn-cs"/>
                        </a:rPr>
                        <a:t>통상실시권자의</a:t>
                      </a:r>
                      <a:r>
                        <a:rPr lang="ko-KR" altLang="en-US" sz="1200" kern="1200" dirty="0">
                          <a:solidFill>
                            <a:schemeClr val="tx2"/>
                          </a:solidFill>
                          <a:latin typeface="+mn-lt"/>
                          <a:ea typeface="+mn-ea"/>
                          <a:cs typeface="+mn-cs"/>
                        </a:rPr>
                        <a:t> 해당 특허권</a:t>
                      </a:r>
                      <a:r>
                        <a:rPr lang="en-US" altLang="ko-KR" sz="1200" kern="1200" dirty="0">
                          <a:solidFill>
                            <a:schemeClr val="tx2"/>
                          </a:solidFill>
                          <a:latin typeface="+mn-lt"/>
                          <a:ea typeface="+mn-ea"/>
                          <a:cs typeface="+mn-cs"/>
                        </a:rPr>
                        <a:t>·</a:t>
                      </a:r>
                      <a:r>
                        <a:rPr lang="ko-KR" altLang="en-US" sz="1200" kern="1200" dirty="0" err="1">
                          <a:solidFill>
                            <a:schemeClr val="tx2"/>
                          </a:solidFill>
                          <a:latin typeface="+mn-lt"/>
                          <a:ea typeface="+mn-ea"/>
                          <a:cs typeface="+mn-cs"/>
                        </a:rPr>
                        <a:t>실용신안권</a:t>
                      </a:r>
                      <a:r>
                        <a:rPr lang="ko-KR" altLang="en-US" sz="1200" kern="1200" dirty="0">
                          <a:solidFill>
                            <a:schemeClr val="tx2"/>
                          </a:solidFill>
                          <a:latin typeface="+mn-lt"/>
                          <a:ea typeface="+mn-ea"/>
                          <a:cs typeface="+mn-cs"/>
                        </a:rPr>
                        <a:t> 또는 </a:t>
                      </a:r>
                      <a:r>
                        <a:rPr lang="ko-KR" altLang="en-US" sz="1200" kern="1200" dirty="0" err="1">
                          <a:solidFill>
                            <a:schemeClr val="tx2"/>
                          </a:solidFill>
                          <a:latin typeface="+mn-lt"/>
                          <a:ea typeface="+mn-ea"/>
                          <a:cs typeface="+mn-cs"/>
                        </a:rPr>
                        <a:t>디자인권과</a:t>
                      </a:r>
                      <a:r>
                        <a:rPr lang="ko-KR" altLang="en-US" sz="1200" kern="1200" dirty="0">
                          <a:solidFill>
                            <a:schemeClr val="tx2"/>
                          </a:solidFill>
                          <a:latin typeface="+mn-lt"/>
                          <a:ea typeface="+mn-ea"/>
                          <a:cs typeface="+mn-cs"/>
                        </a:rPr>
                        <a:t> 함께 이전되고</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해당 특허권</a:t>
                      </a:r>
                      <a:r>
                        <a:rPr lang="en-US" altLang="ko-KR" sz="1200" kern="1200" dirty="0">
                          <a:solidFill>
                            <a:schemeClr val="tx2"/>
                          </a:solidFill>
                          <a:latin typeface="+mn-lt"/>
                          <a:ea typeface="+mn-ea"/>
                          <a:cs typeface="+mn-cs"/>
                        </a:rPr>
                        <a:t>·</a:t>
                      </a:r>
                      <a:r>
                        <a:rPr lang="ko-KR" altLang="en-US" sz="1200" kern="1200" dirty="0" err="1">
                          <a:solidFill>
                            <a:schemeClr val="tx2"/>
                          </a:solidFill>
                          <a:latin typeface="+mn-lt"/>
                          <a:ea typeface="+mn-ea"/>
                          <a:cs typeface="+mn-cs"/>
                        </a:rPr>
                        <a:t>실용신안권</a:t>
                      </a:r>
                      <a:r>
                        <a:rPr lang="ko-KR" altLang="en-US" sz="1200" kern="1200" dirty="0">
                          <a:solidFill>
                            <a:schemeClr val="tx2"/>
                          </a:solidFill>
                          <a:latin typeface="+mn-lt"/>
                          <a:ea typeface="+mn-ea"/>
                          <a:cs typeface="+mn-cs"/>
                        </a:rPr>
                        <a:t> 또는 </a:t>
                      </a:r>
                      <a:r>
                        <a:rPr lang="ko-KR" altLang="en-US" sz="1200" kern="1200" dirty="0" err="1">
                          <a:solidFill>
                            <a:schemeClr val="tx2"/>
                          </a:solidFill>
                          <a:latin typeface="+mn-lt"/>
                          <a:ea typeface="+mn-ea"/>
                          <a:cs typeface="+mn-cs"/>
                        </a:rPr>
                        <a:t>디자인권이</a:t>
                      </a:r>
                      <a:r>
                        <a:rPr lang="ko-KR" altLang="en-US" sz="1200" kern="1200" dirty="0">
                          <a:solidFill>
                            <a:schemeClr val="tx2"/>
                          </a:solidFill>
                          <a:latin typeface="+mn-lt"/>
                          <a:ea typeface="+mn-ea"/>
                          <a:cs typeface="+mn-cs"/>
                        </a:rPr>
                        <a:t> 소멸되면 함께 소멸된다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140970" marR="0" indent="-140970" algn="just" fontAlgn="base" latinLnBrk="1">
                        <a:lnSpc>
                          <a:spcPct val="100000"/>
                        </a:lnSpc>
                        <a:spcBef>
                          <a:spcPts val="0"/>
                        </a:spcBef>
                        <a:spcAft>
                          <a:spcPts val="0"/>
                        </a:spcAft>
                        <a:tabLst>
                          <a:tab pos="152400" algn="l"/>
                          <a:tab pos="359410" algn="l"/>
                          <a:tab pos="152400" algn="l"/>
                          <a:tab pos="359410" algn="l"/>
                        </a:tabLst>
                      </a:pPr>
                      <a:r>
                        <a:rPr lang="ko-KR" altLang="en-US" sz="1200" kern="1200" dirty="0">
                          <a:solidFill>
                            <a:schemeClr val="tx2"/>
                          </a:solidFill>
                          <a:latin typeface="+mn-lt"/>
                          <a:ea typeface="+mn-ea"/>
                          <a:cs typeface="+mn-cs"/>
                        </a:rPr>
                        <a:t>⑤</a:t>
                      </a:r>
                      <a:r>
                        <a:rPr lang="ko-KR" altLang="en-US" sz="1200" b="1" kern="1200" dirty="0">
                          <a:solidFill>
                            <a:schemeClr val="tx2"/>
                          </a:solidFill>
                          <a:latin typeface="+mn-lt"/>
                          <a:ea typeface="+mn-ea"/>
                          <a:cs typeface="+mn-cs"/>
                        </a:rPr>
                        <a:t>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변동</a:t>
                      </a:r>
                      <a:r>
                        <a:rPr lang="en-US" altLang="ko-KR" sz="1200" b="1" kern="1200" dirty="0">
                          <a:solidFill>
                            <a:schemeClr val="tx2"/>
                          </a:solidFill>
                          <a:latin typeface="+mn-lt"/>
                          <a:ea typeface="+mn-ea"/>
                          <a:cs typeface="+mn-cs"/>
                        </a:rPr>
                        <a:t>: </a:t>
                      </a:r>
                      <a:r>
                        <a:rPr lang="ko-KR" altLang="en-US" sz="1200" b="1" kern="1200" dirty="0">
                          <a:solidFill>
                            <a:schemeClr val="tx2"/>
                          </a:solidFill>
                          <a:latin typeface="+mn-lt"/>
                          <a:ea typeface="+mn-ea"/>
                          <a:cs typeface="+mn-cs"/>
                        </a:rPr>
                        <a:t>이전</a:t>
                      </a:r>
                      <a:r>
                        <a:rPr lang="en-US" altLang="ko-KR" sz="1200" b="1" kern="1200" dirty="0">
                          <a:solidFill>
                            <a:schemeClr val="tx2"/>
                          </a:solidFill>
                          <a:latin typeface="+mn-lt"/>
                          <a:ea typeface="+mn-ea"/>
                          <a:cs typeface="+mn-cs"/>
                        </a:rPr>
                        <a:t>) </a:t>
                      </a: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3</a:t>
                      </a:r>
                      <a:r>
                        <a:rPr lang="ko-KR" altLang="en-US" sz="1200" kern="1200" dirty="0">
                          <a:solidFill>
                            <a:schemeClr val="tx2"/>
                          </a:solidFill>
                          <a:latin typeface="+mn-lt"/>
                          <a:ea typeface="+mn-ea"/>
                          <a:cs typeface="+mn-cs"/>
                        </a:rPr>
                        <a:t>항 및 제</a:t>
                      </a:r>
                      <a:r>
                        <a:rPr lang="en-US" altLang="ko-KR" sz="1200" kern="1200" dirty="0">
                          <a:solidFill>
                            <a:schemeClr val="tx2"/>
                          </a:solidFill>
                          <a:latin typeface="+mn-lt"/>
                          <a:ea typeface="+mn-ea"/>
                          <a:cs typeface="+mn-cs"/>
                        </a:rPr>
                        <a:t>4</a:t>
                      </a:r>
                      <a:r>
                        <a:rPr lang="ko-KR" altLang="en-US" sz="1200" kern="1200" dirty="0">
                          <a:solidFill>
                            <a:schemeClr val="tx2"/>
                          </a:solidFill>
                          <a:latin typeface="+mn-lt"/>
                          <a:ea typeface="+mn-ea"/>
                          <a:cs typeface="+mn-cs"/>
                        </a:rPr>
                        <a:t>항에 따른 </a:t>
                      </a:r>
                      <a:r>
                        <a:rPr lang="ko-KR" altLang="en-US" sz="1200" kern="1200" dirty="0" err="1">
                          <a:solidFill>
                            <a:schemeClr val="tx2"/>
                          </a:solidFill>
                          <a:latin typeface="+mn-lt"/>
                          <a:ea typeface="+mn-ea"/>
                          <a:cs typeface="+mn-cs"/>
                        </a:rPr>
                        <a:t>통상실시권</a:t>
                      </a:r>
                      <a:r>
                        <a:rPr lang="ko-KR" altLang="en-US" sz="1200" kern="1200" dirty="0">
                          <a:solidFill>
                            <a:schemeClr val="tx2"/>
                          </a:solidFill>
                          <a:latin typeface="+mn-lt"/>
                          <a:ea typeface="+mn-ea"/>
                          <a:cs typeface="+mn-cs"/>
                        </a:rPr>
                        <a:t> 외의 </a:t>
                      </a:r>
                      <a:r>
                        <a:rPr lang="ko-KR" altLang="en-US" sz="1200" kern="1200" dirty="0" err="1">
                          <a:solidFill>
                            <a:schemeClr val="tx2"/>
                          </a:solidFill>
                          <a:latin typeface="+mn-lt"/>
                          <a:ea typeface="+mn-ea"/>
                          <a:cs typeface="+mn-cs"/>
                        </a:rPr>
                        <a:t>통상실시권은</a:t>
                      </a:r>
                      <a:r>
                        <a:rPr lang="ko-KR" altLang="en-US" sz="1200" kern="1200" dirty="0">
                          <a:solidFill>
                            <a:schemeClr val="tx2"/>
                          </a:solidFill>
                          <a:latin typeface="+mn-lt"/>
                          <a:ea typeface="+mn-ea"/>
                          <a:cs typeface="+mn-cs"/>
                        </a:rPr>
                        <a:t> 실시사업과 함께 이전하는 경우 또는 상속이나 그 밖의 일반승계의 경우를 제외하고는 </a:t>
                      </a:r>
                      <a:r>
                        <a:rPr lang="ko-KR" altLang="en-US" sz="1200" kern="1200" dirty="0" err="1">
                          <a:solidFill>
                            <a:schemeClr val="tx2"/>
                          </a:solidFill>
                          <a:latin typeface="+mn-lt"/>
                          <a:ea typeface="+mn-ea"/>
                          <a:cs typeface="+mn-cs"/>
                        </a:rPr>
                        <a:t>특허권자</a:t>
                      </a:r>
                      <a:r>
                        <a:rPr lang="en-US" altLang="ko-KR" sz="1200" kern="1200" dirty="0">
                          <a:solidFill>
                            <a:schemeClr val="tx2"/>
                          </a:solidFill>
                          <a:latin typeface="+mn-lt"/>
                          <a:ea typeface="+mn-ea"/>
                          <a:cs typeface="+mn-cs"/>
                        </a:rPr>
                        <a:t>(</a:t>
                      </a:r>
                      <a:r>
                        <a:rPr lang="ko-KR" altLang="en-US" sz="1200" kern="1200" dirty="0" err="1">
                          <a:solidFill>
                            <a:schemeClr val="tx2"/>
                          </a:solidFill>
                          <a:latin typeface="+mn-lt"/>
                          <a:ea typeface="+mn-ea"/>
                          <a:cs typeface="+mn-cs"/>
                        </a:rPr>
                        <a:t>전용실시권에</a:t>
                      </a:r>
                      <a:r>
                        <a:rPr lang="ko-KR" altLang="en-US" sz="1200" kern="1200" dirty="0">
                          <a:solidFill>
                            <a:schemeClr val="tx2"/>
                          </a:solidFill>
                          <a:latin typeface="+mn-lt"/>
                          <a:ea typeface="+mn-ea"/>
                          <a:cs typeface="+mn-cs"/>
                        </a:rPr>
                        <a:t> 관한 </a:t>
                      </a:r>
                      <a:r>
                        <a:rPr lang="ko-KR" altLang="en-US" sz="1200" kern="1200" dirty="0" err="1">
                          <a:solidFill>
                            <a:schemeClr val="tx2"/>
                          </a:solidFill>
                          <a:latin typeface="+mn-lt"/>
                          <a:ea typeface="+mn-ea"/>
                          <a:cs typeface="+mn-cs"/>
                        </a:rPr>
                        <a:t>통상실시권의</a:t>
                      </a:r>
                      <a:r>
                        <a:rPr lang="ko-KR" altLang="en-US" sz="1200" kern="1200" dirty="0">
                          <a:solidFill>
                            <a:schemeClr val="tx2"/>
                          </a:solidFill>
                          <a:latin typeface="+mn-lt"/>
                          <a:ea typeface="+mn-ea"/>
                          <a:cs typeface="+mn-cs"/>
                        </a:rPr>
                        <a:t> 경우에는 </a:t>
                      </a:r>
                      <a:r>
                        <a:rPr lang="ko-KR" altLang="en-US" sz="1200" kern="1200" dirty="0" err="1">
                          <a:solidFill>
                            <a:schemeClr val="tx2"/>
                          </a:solidFill>
                          <a:latin typeface="+mn-lt"/>
                          <a:ea typeface="+mn-ea"/>
                          <a:cs typeface="+mn-cs"/>
                        </a:rPr>
                        <a:t>특허권자</a:t>
                      </a:r>
                      <a:r>
                        <a:rPr lang="ko-KR" altLang="en-US" sz="1200" kern="1200" dirty="0">
                          <a:solidFill>
                            <a:schemeClr val="tx2"/>
                          </a:solidFill>
                          <a:latin typeface="+mn-lt"/>
                          <a:ea typeface="+mn-ea"/>
                          <a:cs typeface="+mn-cs"/>
                        </a:rPr>
                        <a:t> 및 </a:t>
                      </a:r>
                      <a:r>
                        <a:rPr lang="ko-KR" altLang="en-US" sz="1200" kern="1200" dirty="0" err="1">
                          <a:solidFill>
                            <a:schemeClr val="tx2"/>
                          </a:solidFill>
                          <a:latin typeface="+mn-lt"/>
                          <a:ea typeface="+mn-ea"/>
                          <a:cs typeface="+mn-cs"/>
                        </a:rPr>
                        <a:t>전용실시권자</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의 동의를 받아야만 이전할 수 있다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147320" marR="0" indent="-147320" algn="just" fontAlgn="base" latinLnBrk="1">
                        <a:lnSpc>
                          <a:spcPct val="100000"/>
                        </a:lnSpc>
                        <a:spcBef>
                          <a:spcPts val="0"/>
                        </a:spcBef>
                        <a:spcAft>
                          <a:spcPts val="0"/>
                        </a:spcAft>
                        <a:tabLst>
                          <a:tab pos="152400" algn="l"/>
                          <a:tab pos="359410" algn="l"/>
                          <a:tab pos="152400" algn="l"/>
                          <a:tab pos="359410" algn="l"/>
                        </a:tabLst>
                      </a:pPr>
                      <a:r>
                        <a:rPr lang="ko-KR" altLang="en-US" sz="1200" kern="1200" dirty="0">
                          <a:solidFill>
                            <a:schemeClr val="tx2"/>
                          </a:solidFill>
                          <a:latin typeface="+mn-lt"/>
                          <a:ea typeface="+mn-ea"/>
                          <a:cs typeface="+mn-cs"/>
                        </a:rPr>
                        <a:t>⑥</a:t>
                      </a:r>
                      <a:r>
                        <a:rPr lang="ko-KR" altLang="en-US" sz="1200" b="1" kern="1200" dirty="0">
                          <a:solidFill>
                            <a:schemeClr val="tx2"/>
                          </a:solidFill>
                          <a:latin typeface="+mn-lt"/>
                          <a:ea typeface="+mn-ea"/>
                          <a:cs typeface="+mn-cs"/>
                        </a:rPr>
                        <a:t>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변동</a:t>
                      </a:r>
                      <a:r>
                        <a:rPr lang="en-US" altLang="ko-KR" sz="1200" b="1" kern="1200" dirty="0">
                          <a:solidFill>
                            <a:schemeClr val="tx2"/>
                          </a:solidFill>
                          <a:latin typeface="+mn-lt"/>
                          <a:ea typeface="+mn-ea"/>
                          <a:cs typeface="+mn-cs"/>
                        </a:rPr>
                        <a:t>: </a:t>
                      </a:r>
                      <a:r>
                        <a:rPr lang="ko-KR" altLang="en-US" sz="1200" b="1" kern="1200" dirty="0">
                          <a:solidFill>
                            <a:schemeClr val="tx2"/>
                          </a:solidFill>
                          <a:latin typeface="+mn-lt"/>
                          <a:ea typeface="+mn-ea"/>
                          <a:cs typeface="+mn-cs"/>
                        </a:rPr>
                        <a:t>질권설정</a:t>
                      </a:r>
                      <a:r>
                        <a:rPr lang="en-US" altLang="ko-KR" sz="1200" b="1" kern="1200" dirty="0">
                          <a:solidFill>
                            <a:schemeClr val="tx2"/>
                          </a:solidFill>
                          <a:latin typeface="+mn-lt"/>
                          <a:ea typeface="+mn-ea"/>
                          <a:cs typeface="+mn-cs"/>
                        </a:rPr>
                        <a:t>) </a:t>
                      </a: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3</a:t>
                      </a:r>
                      <a:r>
                        <a:rPr lang="ko-KR" altLang="en-US" sz="1200" kern="1200" dirty="0">
                          <a:solidFill>
                            <a:schemeClr val="tx2"/>
                          </a:solidFill>
                          <a:latin typeface="+mn-lt"/>
                          <a:ea typeface="+mn-ea"/>
                          <a:cs typeface="+mn-cs"/>
                        </a:rPr>
                        <a:t>항 및 제</a:t>
                      </a:r>
                      <a:r>
                        <a:rPr lang="en-US" altLang="ko-KR" sz="1200" kern="1200" dirty="0">
                          <a:solidFill>
                            <a:schemeClr val="tx2"/>
                          </a:solidFill>
                          <a:latin typeface="+mn-lt"/>
                          <a:ea typeface="+mn-ea"/>
                          <a:cs typeface="+mn-cs"/>
                        </a:rPr>
                        <a:t>4</a:t>
                      </a:r>
                      <a:r>
                        <a:rPr lang="ko-KR" altLang="en-US" sz="1200" kern="1200" dirty="0">
                          <a:solidFill>
                            <a:schemeClr val="tx2"/>
                          </a:solidFill>
                          <a:latin typeface="+mn-lt"/>
                          <a:ea typeface="+mn-ea"/>
                          <a:cs typeface="+mn-cs"/>
                        </a:rPr>
                        <a:t>항에 따른 </a:t>
                      </a:r>
                      <a:r>
                        <a:rPr lang="ko-KR" altLang="en-US" sz="1200" kern="1200" dirty="0" err="1">
                          <a:solidFill>
                            <a:schemeClr val="tx2"/>
                          </a:solidFill>
                          <a:latin typeface="+mn-lt"/>
                          <a:ea typeface="+mn-ea"/>
                          <a:cs typeface="+mn-cs"/>
                        </a:rPr>
                        <a:t>통상실시권</a:t>
                      </a:r>
                      <a:r>
                        <a:rPr lang="ko-KR" altLang="en-US" sz="1200" kern="1200" dirty="0">
                          <a:solidFill>
                            <a:schemeClr val="tx2"/>
                          </a:solidFill>
                          <a:latin typeface="+mn-lt"/>
                          <a:ea typeface="+mn-ea"/>
                          <a:cs typeface="+mn-cs"/>
                        </a:rPr>
                        <a:t> 외의 </a:t>
                      </a:r>
                      <a:r>
                        <a:rPr lang="ko-KR" altLang="en-US" sz="1200" kern="1200" dirty="0" err="1">
                          <a:solidFill>
                            <a:schemeClr val="tx2"/>
                          </a:solidFill>
                          <a:latin typeface="+mn-lt"/>
                          <a:ea typeface="+mn-ea"/>
                          <a:cs typeface="+mn-cs"/>
                        </a:rPr>
                        <a:t>통상실시권은</a:t>
                      </a:r>
                      <a:r>
                        <a:rPr lang="ko-KR" altLang="en-US" sz="1200"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특허권자</a:t>
                      </a:r>
                      <a:r>
                        <a:rPr lang="en-US" altLang="ko-KR" sz="1200" kern="1200" dirty="0">
                          <a:solidFill>
                            <a:schemeClr val="tx2"/>
                          </a:solidFill>
                          <a:latin typeface="+mn-lt"/>
                          <a:ea typeface="+mn-ea"/>
                          <a:cs typeface="+mn-cs"/>
                        </a:rPr>
                        <a:t>(</a:t>
                      </a:r>
                      <a:r>
                        <a:rPr lang="ko-KR" altLang="en-US" sz="1200" kern="1200" dirty="0" err="1">
                          <a:solidFill>
                            <a:schemeClr val="tx2"/>
                          </a:solidFill>
                          <a:latin typeface="+mn-lt"/>
                          <a:ea typeface="+mn-ea"/>
                          <a:cs typeface="+mn-cs"/>
                        </a:rPr>
                        <a:t>전용실시권에</a:t>
                      </a:r>
                      <a:r>
                        <a:rPr lang="ko-KR" altLang="en-US" sz="1200" kern="1200" dirty="0">
                          <a:solidFill>
                            <a:schemeClr val="tx2"/>
                          </a:solidFill>
                          <a:latin typeface="+mn-lt"/>
                          <a:ea typeface="+mn-ea"/>
                          <a:cs typeface="+mn-cs"/>
                        </a:rPr>
                        <a:t> 관한 </a:t>
                      </a:r>
                      <a:r>
                        <a:rPr lang="ko-KR" altLang="en-US" sz="1200" kern="1200" dirty="0" err="1">
                          <a:solidFill>
                            <a:schemeClr val="tx2"/>
                          </a:solidFill>
                          <a:latin typeface="+mn-lt"/>
                          <a:ea typeface="+mn-ea"/>
                          <a:cs typeface="+mn-cs"/>
                        </a:rPr>
                        <a:t>통상실시권의</a:t>
                      </a:r>
                      <a:r>
                        <a:rPr lang="ko-KR" altLang="en-US" sz="1200" kern="1200" dirty="0">
                          <a:solidFill>
                            <a:schemeClr val="tx2"/>
                          </a:solidFill>
                          <a:latin typeface="+mn-lt"/>
                          <a:ea typeface="+mn-ea"/>
                          <a:cs typeface="+mn-cs"/>
                        </a:rPr>
                        <a:t> 경우에는 </a:t>
                      </a:r>
                      <a:r>
                        <a:rPr lang="ko-KR" altLang="en-US" sz="1200" kern="1200" dirty="0" err="1">
                          <a:solidFill>
                            <a:schemeClr val="tx2"/>
                          </a:solidFill>
                          <a:latin typeface="+mn-lt"/>
                          <a:ea typeface="+mn-ea"/>
                          <a:cs typeface="+mn-cs"/>
                        </a:rPr>
                        <a:t>특허권자</a:t>
                      </a:r>
                      <a:r>
                        <a:rPr lang="ko-KR" altLang="en-US" sz="1200" kern="1200" dirty="0">
                          <a:solidFill>
                            <a:schemeClr val="tx2"/>
                          </a:solidFill>
                          <a:latin typeface="+mn-lt"/>
                          <a:ea typeface="+mn-ea"/>
                          <a:cs typeface="+mn-cs"/>
                        </a:rPr>
                        <a:t> 및 </a:t>
                      </a:r>
                      <a:r>
                        <a:rPr lang="ko-KR" altLang="en-US" sz="1200" kern="1200" dirty="0" err="1">
                          <a:solidFill>
                            <a:schemeClr val="tx2"/>
                          </a:solidFill>
                          <a:latin typeface="+mn-lt"/>
                          <a:ea typeface="+mn-ea"/>
                          <a:cs typeface="+mn-cs"/>
                        </a:rPr>
                        <a:t>전용실시권자</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의 동의를 받아야만 그 </a:t>
                      </a:r>
                      <a:r>
                        <a:rPr lang="ko-KR" altLang="en-US" sz="1200" kern="1200" dirty="0" err="1">
                          <a:solidFill>
                            <a:schemeClr val="tx2"/>
                          </a:solidFill>
                          <a:latin typeface="+mn-lt"/>
                          <a:ea typeface="+mn-ea"/>
                          <a:cs typeface="+mn-cs"/>
                        </a:rPr>
                        <a:t>통상실시권을</a:t>
                      </a:r>
                      <a:r>
                        <a:rPr lang="ko-KR" altLang="en-US" sz="1200" kern="1200" dirty="0">
                          <a:solidFill>
                            <a:schemeClr val="tx2"/>
                          </a:solidFill>
                          <a:latin typeface="+mn-lt"/>
                          <a:ea typeface="+mn-ea"/>
                          <a:cs typeface="+mn-cs"/>
                        </a:rPr>
                        <a:t> 목적으로 하는 질권을 설정할 수 있다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134620" marR="0" indent="-134620" algn="just" fontAlgn="base" latinLnBrk="1">
                        <a:lnSpc>
                          <a:spcPct val="100000"/>
                        </a:lnSpc>
                        <a:spcBef>
                          <a:spcPts val="0"/>
                        </a:spcBef>
                        <a:spcAft>
                          <a:spcPts val="0"/>
                        </a:spcAft>
                        <a:tabLst>
                          <a:tab pos="152400" algn="l"/>
                          <a:tab pos="359410" algn="l"/>
                          <a:tab pos="152400" algn="l"/>
                          <a:tab pos="359410" algn="l"/>
                        </a:tabLst>
                      </a:pPr>
                      <a:r>
                        <a:rPr lang="ko-KR" altLang="en-US" sz="1200" kern="1200" dirty="0">
                          <a:solidFill>
                            <a:schemeClr val="tx2"/>
                          </a:solidFill>
                          <a:latin typeface="+mn-lt"/>
                          <a:ea typeface="+mn-ea"/>
                          <a:cs typeface="+mn-cs"/>
                        </a:rPr>
                        <a:t>⑦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공유</a:t>
                      </a:r>
                      <a:r>
                        <a:rPr lang="en-US" altLang="ko-KR" sz="1200" b="1"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통상실시권에</a:t>
                      </a:r>
                      <a:r>
                        <a:rPr lang="ko-KR" altLang="en-US" sz="1200" kern="1200" dirty="0">
                          <a:solidFill>
                            <a:schemeClr val="tx2"/>
                          </a:solidFill>
                          <a:latin typeface="+mn-lt"/>
                          <a:ea typeface="+mn-ea"/>
                          <a:cs typeface="+mn-cs"/>
                        </a:rPr>
                        <a:t> 관하여는 제</a:t>
                      </a:r>
                      <a:r>
                        <a:rPr lang="en-US" altLang="ko-KR" sz="1200" kern="1200" dirty="0">
                          <a:solidFill>
                            <a:schemeClr val="tx2"/>
                          </a:solidFill>
                          <a:latin typeface="+mn-lt"/>
                          <a:ea typeface="+mn-ea"/>
                          <a:cs typeface="+mn-cs"/>
                        </a:rPr>
                        <a:t>99</a:t>
                      </a:r>
                      <a:r>
                        <a:rPr lang="ko-KR" altLang="en-US" sz="1200" kern="1200" dirty="0">
                          <a:solidFill>
                            <a:schemeClr val="tx2"/>
                          </a:solidFill>
                          <a:latin typeface="+mn-lt"/>
                          <a:ea typeface="+mn-ea"/>
                          <a:cs typeface="+mn-cs"/>
                        </a:rPr>
                        <a:t>조제</a:t>
                      </a:r>
                      <a:r>
                        <a:rPr lang="en-US" altLang="ko-KR" sz="1200" kern="1200" dirty="0">
                          <a:solidFill>
                            <a:schemeClr val="tx2"/>
                          </a:solidFill>
                          <a:latin typeface="+mn-lt"/>
                          <a:ea typeface="+mn-ea"/>
                          <a:cs typeface="+mn-cs"/>
                        </a:rPr>
                        <a:t>2</a:t>
                      </a:r>
                      <a:r>
                        <a:rPr lang="ko-KR" altLang="en-US" sz="1200" kern="1200" dirty="0">
                          <a:solidFill>
                            <a:schemeClr val="tx2"/>
                          </a:solidFill>
                          <a:latin typeface="+mn-lt"/>
                          <a:ea typeface="+mn-ea"/>
                          <a:cs typeface="+mn-cs"/>
                        </a:rPr>
                        <a:t>항 및 제</a:t>
                      </a:r>
                      <a:r>
                        <a:rPr lang="en-US" altLang="ko-KR" sz="1200" kern="1200" dirty="0">
                          <a:solidFill>
                            <a:schemeClr val="tx2"/>
                          </a:solidFill>
                          <a:latin typeface="+mn-lt"/>
                          <a:ea typeface="+mn-ea"/>
                          <a:cs typeface="+mn-cs"/>
                        </a:rPr>
                        <a:t>3</a:t>
                      </a:r>
                      <a:r>
                        <a:rPr lang="ko-KR" altLang="en-US" sz="1200" kern="1200" dirty="0">
                          <a:solidFill>
                            <a:schemeClr val="tx2"/>
                          </a:solidFill>
                          <a:latin typeface="+mn-lt"/>
                          <a:ea typeface="+mn-ea"/>
                          <a:cs typeface="+mn-cs"/>
                        </a:rPr>
                        <a:t>항을 준용한다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txBody>
                  <a:tcPr marL="72000" marR="72000" marT="10584" marB="10584"/>
                </a:tc>
                <a:extLst>
                  <a:ext uri="{0D108BD9-81ED-4DB2-BD59-A6C34878D82A}">
                    <a16:rowId xmlns:a16="http://schemas.microsoft.com/office/drawing/2014/main" val="10001"/>
                  </a:ext>
                </a:extLst>
              </a:tr>
              <a:tr h="1826255">
                <a:tc>
                  <a:txBody>
                    <a:bodyPr/>
                    <a:lstStyle/>
                    <a:p>
                      <a:pPr marL="0" marR="0" indent="0" algn="ctr" fontAlgn="base" latinLnBrk="0">
                        <a:lnSpc>
                          <a:spcPct val="100000"/>
                        </a:lnSpc>
                        <a:spcBef>
                          <a:spcPts val="0"/>
                        </a:spcBef>
                        <a:spcAft>
                          <a:spcPts val="0"/>
                        </a:spcAft>
                      </a:pPr>
                      <a:r>
                        <a:rPr lang="ko-KR" altLang="en-US" sz="1200" kern="0" spc="-100" dirty="0">
                          <a:effectLst/>
                        </a:rPr>
                        <a:t>등</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err="1">
                          <a:effectLst/>
                        </a:rPr>
                        <a:t>록</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의</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 </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a:effectLst/>
                        </a:rPr>
                        <a:t>효</a:t>
                      </a:r>
                      <a:endParaRPr lang="en-US" altLang="ko-KR" sz="1200" kern="0" spc="-100" dirty="0">
                        <a:effectLst/>
                      </a:endParaRPr>
                    </a:p>
                    <a:p>
                      <a:pPr marL="0" marR="0" indent="0" algn="ctr" fontAlgn="base" latinLnBrk="0">
                        <a:lnSpc>
                          <a:spcPct val="100000"/>
                        </a:lnSpc>
                        <a:spcBef>
                          <a:spcPts val="0"/>
                        </a:spcBef>
                        <a:spcAft>
                          <a:spcPts val="0"/>
                        </a:spcAft>
                      </a:pPr>
                      <a:r>
                        <a:rPr lang="ko-KR" altLang="en-US" sz="1200" kern="0" spc="-100" dirty="0" err="1">
                          <a:effectLst/>
                        </a:rPr>
                        <a:t>력</a:t>
                      </a:r>
                      <a:endParaRPr lang="ko-KR" altLang="en-US" sz="1200" kern="0" spc="-100" dirty="0">
                        <a:solidFill>
                          <a:srgbClr val="000000"/>
                        </a:solidFill>
                        <a:effectLst/>
                        <a:latin typeface="Rix모던고딕 L" pitchFamily="18" charset="-127"/>
                        <a:ea typeface="Rix모던고딕 L" pitchFamily="18" charset="-127"/>
                      </a:endParaRPr>
                    </a:p>
                  </a:txBody>
                  <a:tcPr marL="72000" marR="72000" marT="10584" marB="10584" anchor="ctr"/>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200" b="1" kern="1200" dirty="0">
                          <a:solidFill>
                            <a:schemeClr val="tx2"/>
                          </a:solidFill>
                          <a:latin typeface="+mn-lt"/>
                          <a:ea typeface="+mn-ea"/>
                          <a:cs typeface="+mn-cs"/>
                        </a:rPr>
                        <a:t>제</a:t>
                      </a:r>
                      <a:r>
                        <a:rPr lang="en-US" altLang="ko-KR" sz="1200" b="1" kern="1200" dirty="0">
                          <a:solidFill>
                            <a:schemeClr val="tx2"/>
                          </a:solidFill>
                          <a:latin typeface="+mn-lt"/>
                          <a:ea typeface="+mn-ea"/>
                          <a:cs typeface="+mn-cs"/>
                        </a:rPr>
                        <a:t>101</a:t>
                      </a:r>
                      <a:r>
                        <a:rPr lang="ko-KR" altLang="en-US" sz="1200" b="1" kern="1200" dirty="0">
                          <a:solidFill>
                            <a:schemeClr val="tx2"/>
                          </a:solidFill>
                          <a:latin typeface="+mn-lt"/>
                          <a:ea typeface="+mn-ea"/>
                          <a:cs typeface="+mn-cs"/>
                        </a:rPr>
                        <a:t>조</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특허권 및 </a:t>
                      </a:r>
                      <a:r>
                        <a:rPr lang="ko-KR" altLang="en-US" sz="1200" b="1" kern="1200" dirty="0" err="1">
                          <a:solidFill>
                            <a:schemeClr val="tx2"/>
                          </a:solidFill>
                          <a:latin typeface="+mn-lt"/>
                          <a:ea typeface="+mn-ea"/>
                          <a:cs typeface="+mn-cs"/>
                        </a:rPr>
                        <a:t>전용실시권의</a:t>
                      </a:r>
                      <a:r>
                        <a:rPr lang="ko-KR" altLang="en-US" sz="1200" b="1" kern="1200" dirty="0">
                          <a:solidFill>
                            <a:schemeClr val="tx2"/>
                          </a:solidFill>
                          <a:latin typeface="+mn-lt"/>
                          <a:ea typeface="+mn-ea"/>
                          <a:cs typeface="+mn-cs"/>
                        </a:rPr>
                        <a:t> 등록의 효력</a:t>
                      </a:r>
                      <a:r>
                        <a:rPr lang="en-US" altLang="ko-KR" sz="1200" b="1" kern="1200" dirty="0">
                          <a:solidFill>
                            <a:schemeClr val="tx2"/>
                          </a:solidFill>
                          <a:latin typeface="+mn-lt"/>
                          <a:ea typeface="+mn-ea"/>
                          <a:cs typeface="+mn-cs"/>
                        </a:rPr>
                        <a:t>】</a:t>
                      </a:r>
                      <a:endParaRPr lang="ko-KR" altLang="en-US" sz="1200" b="1" kern="1200" dirty="0">
                        <a:solidFill>
                          <a:schemeClr val="tx2"/>
                        </a:solidFill>
                        <a:latin typeface="+mn-lt"/>
                        <a:ea typeface="+mn-ea"/>
                        <a:cs typeface="+mn-cs"/>
                      </a:endParaRPr>
                    </a:p>
                    <a:p>
                      <a:pPr marL="140970" marR="0" indent="-140970" algn="just" fontAlgn="base" latinLnBrk="1">
                        <a:lnSpc>
                          <a:spcPct val="100000"/>
                        </a:lnSpc>
                        <a:spcBef>
                          <a:spcPts val="0"/>
                        </a:spcBef>
                        <a:spcAft>
                          <a:spcPts val="0"/>
                        </a:spcAft>
                        <a:tabLst>
                          <a:tab pos="152400" algn="l"/>
                          <a:tab pos="359410" algn="l"/>
                          <a:tab pos="152400" algn="l"/>
                          <a:tab pos="359410" algn="l"/>
                        </a:tabLst>
                      </a:pPr>
                      <a:r>
                        <a:rPr lang="ko-KR" altLang="en-US" sz="1200" kern="1200" dirty="0">
                          <a:solidFill>
                            <a:schemeClr val="tx2"/>
                          </a:solidFill>
                          <a:latin typeface="+mn-lt"/>
                          <a:ea typeface="+mn-ea"/>
                          <a:cs typeface="+mn-cs"/>
                        </a:rPr>
                        <a:t>①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등록의 효력</a:t>
                      </a:r>
                      <a:r>
                        <a:rPr lang="en-US" altLang="ko-KR" sz="1200" b="1" kern="1200" dirty="0">
                          <a:solidFill>
                            <a:schemeClr val="tx2"/>
                          </a:solidFill>
                          <a:latin typeface="+mn-lt"/>
                          <a:ea typeface="+mn-ea"/>
                          <a:cs typeface="+mn-cs"/>
                        </a:rPr>
                        <a:t>) </a:t>
                      </a:r>
                      <a:r>
                        <a:rPr lang="ko-KR" altLang="en-US" sz="1200" kern="1200" dirty="0">
                          <a:solidFill>
                            <a:schemeClr val="tx2"/>
                          </a:solidFill>
                          <a:latin typeface="+mn-lt"/>
                          <a:ea typeface="+mn-ea"/>
                          <a:cs typeface="+mn-cs"/>
                        </a:rPr>
                        <a:t>다음 각 호의 어느 하나에 해당하는 사항은 등록하여야만 효력이 발생한다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223520" marR="0" indent="-223520" algn="just" fontAlgn="base" latinLnBrk="1">
                        <a:lnSpc>
                          <a:spcPct val="100000"/>
                        </a:lnSpc>
                        <a:spcBef>
                          <a:spcPts val="0"/>
                        </a:spcBef>
                        <a:spcAft>
                          <a:spcPts val="0"/>
                        </a:spcAft>
                        <a:tabLst>
                          <a:tab pos="152400" algn="l"/>
                          <a:tab pos="359410" algn="l"/>
                          <a:tab pos="152400" algn="l"/>
                          <a:tab pos="359410" algn="l"/>
                        </a:tabLst>
                      </a:pPr>
                      <a:r>
                        <a:rPr lang="en-US" altLang="ko-KR" sz="1200" kern="1200" dirty="0">
                          <a:solidFill>
                            <a:schemeClr val="tx2"/>
                          </a:solidFill>
                          <a:latin typeface="+mn-lt"/>
                          <a:ea typeface="+mn-ea"/>
                          <a:cs typeface="+mn-cs"/>
                        </a:rPr>
                        <a:t> 1. </a:t>
                      </a:r>
                      <a:r>
                        <a:rPr lang="ko-KR" altLang="en-US" sz="1200" kern="1200" dirty="0">
                          <a:solidFill>
                            <a:schemeClr val="tx2"/>
                          </a:solidFill>
                          <a:latin typeface="+mn-lt"/>
                          <a:ea typeface="+mn-ea"/>
                          <a:cs typeface="+mn-cs"/>
                        </a:rPr>
                        <a:t>특허권의 이전</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상속이나 그 밖의 일반승계에 의한 경우는 제외한다</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포기에 의한 소멸 또는 처분의 제한</a:t>
                      </a:r>
                    </a:p>
                    <a:p>
                      <a:pPr marL="217170" marR="0" indent="-217170" algn="just" fontAlgn="base" latinLnBrk="1">
                        <a:lnSpc>
                          <a:spcPct val="100000"/>
                        </a:lnSpc>
                        <a:spcBef>
                          <a:spcPts val="0"/>
                        </a:spcBef>
                        <a:spcAft>
                          <a:spcPts val="0"/>
                        </a:spcAft>
                        <a:tabLst>
                          <a:tab pos="152400" algn="l"/>
                          <a:tab pos="359410" algn="l"/>
                          <a:tab pos="152400" algn="l"/>
                          <a:tab pos="359410" algn="l"/>
                        </a:tabLst>
                      </a:pPr>
                      <a:r>
                        <a:rPr lang="en-US" altLang="ko-KR" sz="1200" kern="1200" dirty="0">
                          <a:solidFill>
                            <a:schemeClr val="tx2"/>
                          </a:solidFill>
                          <a:latin typeface="+mn-lt"/>
                          <a:ea typeface="+mn-ea"/>
                          <a:cs typeface="+mn-cs"/>
                        </a:rPr>
                        <a:t> 2. </a:t>
                      </a:r>
                      <a:r>
                        <a:rPr lang="ko-KR" altLang="en-US" sz="1200" kern="1200" dirty="0" err="1">
                          <a:solidFill>
                            <a:schemeClr val="tx2"/>
                          </a:solidFill>
                          <a:latin typeface="+mn-lt"/>
                          <a:ea typeface="+mn-ea"/>
                          <a:cs typeface="+mn-cs"/>
                        </a:rPr>
                        <a:t>전용실시권의</a:t>
                      </a:r>
                      <a:r>
                        <a:rPr lang="ko-KR" altLang="en-US" sz="1200" kern="1200" dirty="0">
                          <a:solidFill>
                            <a:schemeClr val="tx2"/>
                          </a:solidFill>
                          <a:latin typeface="+mn-lt"/>
                          <a:ea typeface="+mn-ea"/>
                          <a:cs typeface="+mn-cs"/>
                        </a:rPr>
                        <a:t> 설정</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이전</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상속이나 그 밖의 일반승계에 의한 경우는 제외한다</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변경</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소멸</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혼동에 의한 경우는 제외한다</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또는 처분의 제한</a:t>
                      </a:r>
                    </a:p>
                    <a:p>
                      <a:pPr marL="231140" marR="0" indent="-231140" algn="just" fontAlgn="base" latinLnBrk="1">
                        <a:lnSpc>
                          <a:spcPct val="100000"/>
                        </a:lnSpc>
                        <a:spcBef>
                          <a:spcPts val="0"/>
                        </a:spcBef>
                        <a:spcAft>
                          <a:spcPts val="0"/>
                        </a:spcAft>
                        <a:tabLst>
                          <a:tab pos="152400" algn="l"/>
                          <a:tab pos="359410" algn="l"/>
                          <a:tab pos="152400" algn="l"/>
                          <a:tab pos="359410" algn="l"/>
                        </a:tabLst>
                      </a:pPr>
                      <a:r>
                        <a:rPr lang="en-US" altLang="ko-KR" sz="1200" kern="1200" dirty="0">
                          <a:solidFill>
                            <a:schemeClr val="tx2"/>
                          </a:solidFill>
                          <a:latin typeface="+mn-lt"/>
                          <a:ea typeface="+mn-ea"/>
                          <a:cs typeface="+mn-cs"/>
                        </a:rPr>
                        <a:t> 3. </a:t>
                      </a:r>
                      <a:r>
                        <a:rPr lang="ko-KR" altLang="en-US" sz="1200" kern="1200" dirty="0">
                          <a:solidFill>
                            <a:schemeClr val="tx2"/>
                          </a:solidFill>
                          <a:latin typeface="+mn-lt"/>
                          <a:ea typeface="+mn-ea"/>
                          <a:cs typeface="+mn-cs"/>
                        </a:rPr>
                        <a:t>특허권 또는 </a:t>
                      </a:r>
                      <a:r>
                        <a:rPr lang="ko-KR" altLang="en-US" sz="1200" kern="1200" dirty="0" err="1">
                          <a:solidFill>
                            <a:schemeClr val="tx2"/>
                          </a:solidFill>
                          <a:latin typeface="+mn-lt"/>
                          <a:ea typeface="+mn-ea"/>
                          <a:cs typeface="+mn-cs"/>
                        </a:rPr>
                        <a:t>전용실시권을</a:t>
                      </a:r>
                      <a:r>
                        <a:rPr lang="ko-KR" altLang="en-US" sz="1200" kern="1200" dirty="0">
                          <a:solidFill>
                            <a:schemeClr val="tx2"/>
                          </a:solidFill>
                          <a:latin typeface="+mn-lt"/>
                          <a:ea typeface="+mn-ea"/>
                          <a:cs typeface="+mn-cs"/>
                        </a:rPr>
                        <a:t> 목적으로 하는 질권의 설정</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이전</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상속이나 그 밖의 일반승계에 의한 경우는 제외한다</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변경</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소멸</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혼동에 의한 경우는 제외한다</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또는 처분의 제한</a:t>
                      </a:r>
                    </a:p>
                    <a:p>
                      <a:pPr marL="157480" marR="0" indent="-157480" algn="just" fontAlgn="base" latinLnBrk="1">
                        <a:lnSpc>
                          <a:spcPct val="100000"/>
                        </a:lnSpc>
                        <a:spcBef>
                          <a:spcPts val="0"/>
                        </a:spcBef>
                        <a:spcAft>
                          <a:spcPts val="0"/>
                        </a:spcAft>
                        <a:tabLst>
                          <a:tab pos="152400" algn="l"/>
                          <a:tab pos="359410" algn="l"/>
                          <a:tab pos="152400" algn="l"/>
                          <a:tab pos="359410" algn="l"/>
                        </a:tabLst>
                      </a:pPr>
                      <a:r>
                        <a:rPr lang="ko-KR" altLang="en-US" sz="1200" b="1" kern="1200" dirty="0">
                          <a:solidFill>
                            <a:schemeClr val="tx2"/>
                          </a:solidFill>
                          <a:latin typeface="+mn-lt"/>
                          <a:ea typeface="+mn-ea"/>
                          <a:cs typeface="+mn-cs"/>
                        </a:rPr>
                        <a:t>②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상속이나 그 밖의 일반승계</a:t>
                      </a:r>
                      <a:r>
                        <a:rPr lang="en-US" altLang="ko-KR" sz="1200" b="1" kern="1200" dirty="0">
                          <a:solidFill>
                            <a:schemeClr val="tx2"/>
                          </a:solidFill>
                          <a:latin typeface="+mn-lt"/>
                          <a:ea typeface="+mn-ea"/>
                          <a:cs typeface="+mn-cs"/>
                        </a:rPr>
                        <a:t>) </a:t>
                      </a: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1</a:t>
                      </a:r>
                      <a:r>
                        <a:rPr lang="ko-KR" altLang="en-US" sz="1200" kern="1200" dirty="0">
                          <a:solidFill>
                            <a:schemeClr val="tx2"/>
                          </a:solidFill>
                          <a:latin typeface="+mn-lt"/>
                          <a:ea typeface="+mn-ea"/>
                          <a:cs typeface="+mn-cs"/>
                        </a:rPr>
                        <a:t>항 각 호에 따른 특허권</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전용실시권 및 질권의 상속이나 그 밖의 일반승계의 경우에는 지체 없이 그 취지를 지식재산처장에게 신고하여야 한다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txBody>
                  <a:tcPr marL="72000" marR="72000" marT="10584" marB="10584"/>
                </a:tc>
                <a:tc>
                  <a:txBody>
                    <a:bodyPr/>
                    <a:lstStyle/>
                    <a:p>
                      <a:pPr marL="0" marR="0" indent="0" algn="l" fontAlgn="base" latinLnBrk="0">
                        <a:lnSpc>
                          <a:spcPct val="100000"/>
                        </a:lnSpc>
                        <a:spcBef>
                          <a:spcPts val="0"/>
                        </a:spcBef>
                        <a:spcAft>
                          <a:spcPts val="0"/>
                        </a:spcAft>
                        <a:tabLst>
                          <a:tab pos="373380" algn="r"/>
                          <a:tab pos="5478780" algn="r"/>
                          <a:tab pos="373380" algn="r"/>
                          <a:tab pos="5478780" algn="r"/>
                        </a:tabLst>
                      </a:pPr>
                      <a:r>
                        <a:rPr lang="ko-KR" altLang="en-US" sz="1200" b="1" kern="1200" dirty="0">
                          <a:solidFill>
                            <a:schemeClr val="tx2"/>
                          </a:solidFill>
                          <a:latin typeface="+mn-lt"/>
                          <a:ea typeface="+mn-ea"/>
                          <a:cs typeface="+mn-cs"/>
                        </a:rPr>
                        <a:t>제</a:t>
                      </a:r>
                      <a:r>
                        <a:rPr lang="en-US" altLang="ko-KR" sz="1200" b="1" kern="1200" dirty="0">
                          <a:solidFill>
                            <a:schemeClr val="tx2"/>
                          </a:solidFill>
                          <a:latin typeface="+mn-lt"/>
                          <a:ea typeface="+mn-ea"/>
                          <a:cs typeface="+mn-cs"/>
                        </a:rPr>
                        <a:t>118</a:t>
                      </a:r>
                      <a:r>
                        <a:rPr lang="ko-KR" altLang="en-US" sz="1200" b="1" kern="1200" dirty="0">
                          <a:solidFill>
                            <a:schemeClr val="tx2"/>
                          </a:solidFill>
                          <a:latin typeface="+mn-lt"/>
                          <a:ea typeface="+mn-ea"/>
                          <a:cs typeface="+mn-cs"/>
                        </a:rPr>
                        <a:t>조</a:t>
                      </a:r>
                      <a:r>
                        <a:rPr lang="en-US" altLang="ko-KR" sz="1200" b="1" kern="1200" dirty="0">
                          <a:solidFill>
                            <a:schemeClr val="tx2"/>
                          </a:solidFill>
                          <a:latin typeface="+mn-lt"/>
                          <a:ea typeface="+mn-ea"/>
                          <a:cs typeface="+mn-cs"/>
                        </a:rPr>
                        <a:t>【</a:t>
                      </a:r>
                      <a:r>
                        <a:rPr lang="ko-KR" altLang="en-US" sz="1200" b="1" kern="1200" dirty="0" err="1">
                          <a:solidFill>
                            <a:schemeClr val="tx2"/>
                          </a:solidFill>
                          <a:latin typeface="+mn-lt"/>
                          <a:ea typeface="+mn-ea"/>
                          <a:cs typeface="+mn-cs"/>
                        </a:rPr>
                        <a:t>통상실시권의</a:t>
                      </a:r>
                      <a:r>
                        <a:rPr lang="ko-KR" altLang="en-US" sz="1200" b="1" kern="1200" dirty="0">
                          <a:solidFill>
                            <a:schemeClr val="tx2"/>
                          </a:solidFill>
                          <a:latin typeface="+mn-lt"/>
                          <a:ea typeface="+mn-ea"/>
                          <a:cs typeface="+mn-cs"/>
                        </a:rPr>
                        <a:t> 등록의 효력</a:t>
                      </a:r>
                      <a:r>
                        <a:rPr lang="en-US" altLang="ko-KR" sz="1200" b="1" kern="1200" dirty="0">
                          <a:solidFill>
                            <a:schemeClr val="tx2"/>
                          </a:solidFill>
                          <a:latin typeface="+mn-lt"/>
                          <a:ea typeface="+mn-ea"/>
                          <a:cs typeface="+mn-cs"/>
                        </a:rPr>
                        <a:t>】</a:t>
                      </a:r>
                      <a:endParaRPr lang="ko-KR" altLang="en-US" sz="1200" b="1" kern="1200" dirty="0">
                        <a:solidFill>
                          <a:schemeClr val="tx2"/>
                        </a:solidFill>
                        <a:latin typeface="+mn-lt"/>
                        <a:ea typeface="+mn-ea"/>
                        <a:cs typeface="+mn-cs"/>
                      </a:endParaRPr>
                    </a:p>
                    <a:p>
                      <a:pPr marL="165100" marR="0" indent="-165100" algn="just" fontAlgn="base" latinLnBrk="1">
                        <a:lnSpc>
                          <a:spcPct val="100000"/>
                        </a:lnSpc>
                        <a:spcBef>
                          <a:spcPts val="0"/>
                        </a:spcBef>
                        <a:spcAft>
                          <a:spcPts val="0"/>
                        </a:spcAft>
                        <a:tabLst>
                          <a:tab pos="152400" algn="l"/>
                          <a:tab pos="359410" algn="l"/>
                          <a:tab pos="152400" algn="l"/>
                          <a:tab pos="359410" algn="l"/>
                        </a:tabLst>
                      </a:pPr>
                      <a:r>
                        <a:rPr lang="ko-KR" altLang="en-US" sz="1200" kern="1200" dirty="0">
                          <a:solidFill>
                            <a:schemeClr val="tx2"/>
                          </a:solidFill>
                          <a:latin typeface="+mn-lt"/>
                          <a:ea typeface="+mn-ea"/>
                          <a:cs typeface="+mn-cs"/>
                        </a:rPr>
                        <a:t>①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설정등록의 효력</a:t>
                      </a:r>
                      <a:r>
                        <a:rPr lang="en-US" altLang="ko-KR" sz="1200" b="1" kern="1200" dirty="0">
                          <a:solidFill>
                            <a:schemeClr val="tx2"/>
                          </a:solidFill>
                          <a:latin typeface="+mn-lt"/>
                          <a:ea typeface="+mn-ea"/>
                          <a:cs typeface="+mn-cs"/>
                        </a:rPr>
                        <a:t>)</a:t>
                      </a:r>
                      <a:r>
                        <a:rPr lang="en-US" altLang="ko-KR" sz="1200"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통상실시권을</a:t>
                      </a:r>
                      <a:r>
                        <a:rPr lang="ko-KR" altLang="en-US" sz="1200" kern="1200" dirty="0">
                          <a:solidFill>
                            <a:schemeClr val="tx2"/>
                          </a:solidFill>
                          <a:latin typeface="+mn-lt"/>
                          <a:ea typeface="+mn-ea"/>
                          <a:cs typeface="+mn-cs"/>
                        </a:rPr>
                        <a:t> 등록한 경우에는 그 등록 후에 특허권 또는 </a:t>
                      </a:r>
                      <a:r>
                        <a:rPr lang="ko-KR" altLang="en-US" sz="1200" kern="1200" dirty="0" err="1">
                          <a:solidFill>
                            <a:schemeClr val="tx2"/>
                          </a:solidFill>
                          <a:latin typeface="+mn-lt"/>
                          <a:ea typeface="+mn-ea"/>
                          <a:cs typeface="+mn-cs"/>
                        </a:rPr>
                        <a:t>전용실시권을</a:t>
                      </a:r>
                      <a:r>
                        <a:rPr lang="ko-KR" altLang="en-US" sz="1200" kern="1200" dirty="0">
                          <a:solidFill>
                            <a:schemeClr val="tx2"/>
                          </a:solidFill>
                          <a:latin typeface="+mn-lt"/>
                          <a:ea typeface="+mn-ea"/>
                          <a:cs typeface="+mn-cs"/>
                        </a:rPr>
                        <a:t> 취득한 자에 대해서도 그 효력이 발생한다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156210" marR="0" indent="-156210" algn="just" fontAlgn="base" latinLnBrk="1">
                        <a:lnSpc>
                          <a:spcPct val="100000"/>
                        </a:lnSpc>
                        <a:spcBef>
                          <a:spcPts val="0"/>
                        </a:spcBef>
                        <a:spcAft>
                          <a:spcPts val="0"/>
                        </a:spcAft>
                        <a:tabLst>
                          <a:tab pos="152400" algn="l"/>
                          <a:tab pos="359410" algn="l"/>
                          <a:tab pos="152400" algn="l"/>
                          <a:tab pos="359410" algn="l"/>
                        </a:tabLst>
                      </a:pPr>
                      <a:r>
                        <a:rPr lang="ko-KR" altLang="en-US" sz="1200" kern="1200" dirty="0">
                          <a:solidFill>
                            <a:schemeClr val="tx2"/>
                          </a:solidFill>
                          <a:latin typeface="+mn-lt"/>
                          <a:ea typeface="+mn-ea"/>
                          <a:cs typeface="+mn-cs"/>
                        </a:rPr>
                        <a:t>② </a:t>
                      </a:r>
                      <a:r>
                        <a:rPr lang="en-US" altLang="ko-KR" sz="1200" b="1" kern="1200" dirty="0">
                          <a:solidFill>
                            <a:schemeClr val="tx2"/>
                          </a:solidFill>
                          <a:latin typeface="+mn-lt"/>
                          <a:ea typeface="+mn-ea"/>
                          <a:cs typeface="+mn-cs"/>
                        </a:rPr>
                        <a:t>(</a:t>
                      </a:r>
                      <a:r>
                        <a:rPr lang="ko-KR" altLang="en-US" sz="1200" b="1" kern="1200" dirty="0" err="1">
                          <a:solidFill>
                            <a:schemeClr val="tx2"/>
                          </a:solidFill>
                          <a:latin typeface="+mn-lt"/>
                          <a:ea typeface="+mn-ea"/>
                          <a:cs typeface="+mn-cs"/>
                        </a:rPr>
                        <a:t>법정실시권</a:t>
                      </a:r>
                      <a:r>
                        <a:rPr lang="ko-KR" altLang="en-US" sz="1200" b="1" kern="1200" dirty="0">
                          <a:solidFill>
                            <a:schemeClr val="tx2"/>
                          </a:solidFill>
                          <a:latin typeface="+mn-lt"/>
                          <a:ea typeface="+mn-ea"/>
                          <a:cs typeface="+mn-cs"/>
                        </a:rPr>
                        <a:t> 설정등록 不要</a:t>
                      </a:r>
                      <a:r>
                        <a:rPr lang="en-US" altLang="ko-KR" sz="1200" b="1" kern="1200" dirty="0">
                          <a:solidFill>
                            <a:schemeClr val="tx2"/>
                          </a:solidFill>
                          <a:latin typeface="+mn-lt"/>
                          <a:ea typeface="+mn-ea"/>
                          <a:cs typeface="+mn-cs"/>
                        </a:rPr>
                        <a:t>)</a:t>
                      </a:r>
                      <a:r>
                        <a:rPr lang="ko-KR" altLang="en-US" sz="1200" kern="1200" dirty="0">
                          <a:solidFill>
                            <a:schemeClr val="tx2"/>
                          </a:solidFill>
                          <a:latin typeface="+mn-lt"/>
                          <a:ea typeface="+mn-ea"/>
                          <a:cs typeface="+mn-cs"/>
                        </a:rPr>
                        <a:t> 제</a:t>
                      </a:r>
                      <a:r>
                        <a:rPr lang="en-US" altLang="ko-KR" sz="1200" kern="1200" dirty="0">
                          <a:solidFill>
                            <a:schemeClr val="tx2"/>
                          </a:solidFill>
                          <a:latin typeface="+mn-lt"/>
                          <a:ea typeface="+mn-ea"/>
                          <a:cs typeface="+mn-cs"/>
                        </a:rPr>
                        <a:t>81</a:t>
                      </a:r>
                      <a:r>
                        <a:rPr lang="ko-KR" altLang="en-US" sz="1200" kern="1200" dirty="0">
                          <a:solidFill>
                            <a:schemeClr val="tx2"/>
                          </a:solidFill>
                          <a:latin typeface="+mn-lt"/>
                          <a:ea typeface="+mn-ea"/>
                          <a:cs typeface="+mn-cs"/>
                        </a:rPr>
                        <a:t>조의</a:t>
                      </a:r>
                      <a:r>
                        <a:rPr lang="en-US" altLang="ko-KR" sz="1200" kern="1200" dirty="0">
                          <a:solidFill>
                            <a:schemeClr val="tx2"/>
                          </a:solidFill>
                          <a:latin typeface="+mn-lt"/>
                          <a:ea typeface="+mn-ea"/>
                          <a:cs typeface="+mn-cs"/>
                        </a:rPr>
                        <a:t>3</a:t>
                      </a: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5</a:t>
                      </a:r>
                      <a:r>
                        <a:rPr lang="ko-KR" altLang="en-US" sz="1200" kern="1200" dirty="0">
                          <a:solidFill>
                            <a:schemeClr val="tx2"/>
                          </a:solidFill>
                          <a:latin typeface="+mn-lt"/>
                          <a:ea typeface="+mn-ea"/>
                          <a:cs typeface="+mn-cs"/>
                        </a:rPr>
                        <a:t>항</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103</a:t>
                      </a:r>
                      <a:r>
                        <a:rPr lang="ko-KR" altLang="en-US" sz="1200" kern="1200" dirty="0">
                          <a:solidFill>
                            <a:schemeClr val="tx2"/>
                          </a:solidFill>
                          <a:latin typeface="+mn-lt"/>
                          <a:ea typeface="+mn-ea"/>
                          <a:cs typeface="+mn-cs"/>
                        </a:rPr>
                        <a:t>조부터 제</a:t>
                      </a:r>
                      <a:r>
                        <a:rPr lang="en-US" altLang="ko-KR" sz="1200" kern="1200" dirty="0">
                          <a:solidFill>
                            <a:schemeClr val="tx2"/>
                          </a:solidFill>
                          <a:latin typeface="+mn-lt"/>
                          <a:ea typeface="+mn-ea"/>
                          <a:cs typeface="+mn-cs"/>
                        </a:rPr>
                        <a:t>105</a:t>
                      </a:r>
                      <a:r>
                        <a:rPr lang="ko-KR" altLang="en-US" sz="1200" kern="1200" dirty="0">
                          <a:solidFill>
                            <a:schemeClr val="tx2"/>
                          </a:solidFill>
                          <a:latin typeface="+mn-lt"/>
                          <a:ea typeface="+mn-ea"/>
                          <a:cs typeface="+mn-cs"/>
                        </a:rPr>
                        <a:t>조까지</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122</a:t>
                      </a:r>
                      <a:r>
                        <a:rPr lang="ko-KR" altLang="en-US" sz="1200" kern="1200" dirty="0">
                          <a:solidFill>
                            <a:schemeClr val="tx2"/>
                          </a:solidFill>
                          <a:latin typeface="+mn-lt"/>
                          <a:ea typeface="+mn-ea"/>
                          <a:cs typeface="+mn-cs"/>
                        </a:rPr>
                        <a:t>조</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182</a:t>
                      </a:r>
                      <a:r>
                        <a:rPr lang="ko-KR" altLang="en-US" sz="1200" kern="1200" dirty="0">
                          <a:solidFill>
                            <a:schemeClr val="tx2"/>
                          </a:solidFill>
                          <a:latin typeface="+mn-lt"/>
                          <a:ea typeface="+mn-ea"/>
                          <a:cs typeface="+mn-cs"/>
                        </a:rPr>
                        <a:t>조</a:t>
                      </a:r>
                      <a:r>
                        <a:rPr lang="en-US" altLang="ko-KR" sz="1200" kern="1200" dirty="0">
                          <a:solidFill>
                            <a:schemeClr val="tx2"/>
                          </a:solidFill>
                          <a:latin typeface="+mn-lt"/>
                          <a:ea typeface="+mn-ea"/>
                          <a:cs typeface="+mn-cs"/>
                        </a:rPr>
                        <a:t>, </a:t>
                      </a:r>
                      <a:r>
                        <a:rPr lang="ko-KR" altLang="en-US" sz="1200" kern="1200" dirty="0">
                          <a:solidFill>
                            <a:schemeClr val="tx2"/>
                          </a:solidFill>
                          <a:latin typeface="+mn-lt"/>
                          <a:ea typeface="+mn-ea"/>
                          <a:cs typeface="+mn-cs"/>
                        </a:rPr>
                        <a:t>제</a:t>
                      </a:r>
                      <a:r>
                        <a:rPr lang="en-US" altLang="ko-KR" sz="1200" kern="1200" dirty="0">
                          <a:solidFill>
                            <a:schemeClr val="tx2"/>
                          </a:solidFill>
                          <a:latin typeface="+mn-lt"/>
                          <a:ea typeface="+mn-ea"/>
                          <a:cs typeface="+mn-cs"/>
                        </a:rPr>
                        <a:t>183</a:t>
                      </a:r>
                      <a:r>
                        <a:rPr lang="ko-KR" altLang="en-US" sz="1200" kern="1200" dirty="0">
                          <a:solidFill>
                            <a:schemeClr val="tx2"/>
                          </a:solidFill>
                          <a:latin typeface="+mn-lt"/>
                          <a:ea typeface="+mn-ea"/>
                          <a:cs typeface="+mn-cs"/>
                        </a:rPr>
                        <a:t>조 및 「발명진흥법」 제</a:t>
                      </a:r>
                      <a:r>
                        <a:rPr lang="en-US" altLang="ko-KR" sz="1200" kern="1200" dirty="0">
                          <a:solidFill>
                            <a:schemeClr val="tx2"/>
                          </a:solidFill>
                          <a:latin typeface="+mn-lt"/>
                          <a:ea typeface="+mn-ea"/>
                          <a:cs typeface="+mn-cs"/>
                        </a:rPr>
                        <a:t>10</a:t>
                      </a:r>
                      <a:r>
                        <a:rPr lang="ko-KR" altLang="en-US" sz="1200" kern="1200" dirty="0">
                          <a:solidFill>
                            <a:schemeClr val="tx2"/>
                          </a:solidFill>
                          <a:latin typeface="+mn-lt"/>
                          <a:ea typeface="+mn-ea"/>
                          <a:cs typeface="+mn-cs"/>
                        </a:rPr>
                        <a:t>조제</a:t>
                      </a:r>
                      <a:r>
                        <a:rPr lang="en-US" altLang="ko-KR" sz="1200" kern="1200" dirty="0">
                          <a:solidFill>
                            <a:schemeClr val="tx2"/>
                          </a:solidFill>
                          <a:latin typeface="+mn-lt"/>
                          <a:ea typeface="+mn-ea"/>
                          <a:cs typeface="+mn-cs"/>
                        </a:rPr>
                        <a:t>1</a:t>
                      </a:r>
                      <a:r>
                        <a:rPr lang="ko-KR" altLang="en-US" sz="1200" kern="1200" dirty="0">
                          <a:solidFill>
                            <a:schemeClr val="tx2"/>
                          </a:solidFill>
                          <a:latin typeface="+mn-lt"/>
                          <a:ea typeface="+mn-ea"/>
                          <a:cs typeface="+mn-cs"/>
                        </a:rPr>
                        <a:t>항에 따른 </a:t>
                      </a:r>
                      <a:r>
                        <a:rPr lang="ko-KR" altLang="en-US" sz="1200" kern="1200" dirty="0" err="1">
                          <a:solidFill>
                            <a:schemeClr val="tx2"/>
                          </a:solidFill>
                          <a:latin typeface="+mn-lt"/>
                          <a:ea typeface="+mn-ea"/>
                          <a:cs typeface="+mn-cs"/>
                        </a:rPr>
                        <a:t>통상실시권은</a:t>
                      </a:r>
                      <a:r>
                        <a:rPr lang="ko-KR" altLang="en-US" sz="1200" kern="1200" dirty="0">
                          <a:solidFill>
                            <a:schemeClr val="tx2"/>
                          </a:solidFill>
                          <a:latin typeface="+mn-lt"/>
                          <a:ea typeface="+mn-ea"/>
                          <a:cs typeface="+mn-cs"/>
                        </a:rPr>
                        <a:t> 등록이 없더라도 제</a:t>
                      </a:r>
                      <a:r>
                        <a:rPr lang="en-US" altLang="ko-KR" sz="1200" kern="1200" dirty="0">
                          <a:solidFill>
                            <a:schemeClr val="tx2"/>
                          </a:solidFill>
                          <a:latin typeface="+mn-lt"/>
                          <a:ea typeface="+mn-ea"/>
                          <a:cs typeface="+mn-cs"/>
                        </a:rPr>
                        <a:t>1</a:t>
                      </a:r>
                      <a:r>
                        <a:rPr lang="ko-KR" altLang="en-US" sz="1200" kern="1200" dirty="0">
                          <a:solidFill>
                            <a:schemeClr val="tx2"/>
                          </a:solidFill>
                          <a:latin typeface="+mn-lt"/>
                          <a:ea typeface="+mn-ea"/>
                          <a:cs typeface="+mn-cs"/>
                        </a:rPr>
                        <a:t>항에 따른 효력이 발생한다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p>
                      <a:pPr marL="160020" marR="0" indent="-160020" algn="just" fontAlgn="base" latinLnBrk="1">
                        <a:lnSpc>
                          <a:spcPct val="100000"/>
                        </a:lnSpc>
                        <a:spcBef>
                          <a:spcPts val="0"/>
                        </a:spcBef>
                        <a:spcAft>
                          <a:spcPts val="0"/>
                        </a:spcAft>
                        <a:tabLst>
                          <a:tab pos="152400" algn="l"/>
                          <a:tab pos="359410" algn="l"/>
                          <a:tab pos="152400" algn="l"/>
                          <a:tab pos="359410" algn="l"/>
                        </a:tabLst>
                      </a:pPr>
                      <a:r>
                        <a:rPr lang="ko-KR" altLang="en-US" sz="1200" kern="1200" dirty="0">
                          <a:solidFill>
                            <a:schemeClr val="tx2"/>
                          </a:solidFill>
                          <a:latin typeface="+mn-lt"/>
                          <a:ea typeface="+mn-ea"/>
                          <a:cs typeface="+mn-cs"/>
                        </a:rPr>
                        <a:t>③ </a:t>
                      </a:r>
                      <a:r>
                        <a:rPr lang="en-US" altLang="ko-KR" sz="1200" b="1" kern="1200" dirty="0">
                          <a:solidFill>
                            <a:schemeClr val="tx2"/>
                          </a:solidFill>
                          <a:latin typeface="+mn-lt"/>
                          <a:ea typeface="+mn-ea"/>
                          <a:cs typeface="+mn-cs"/>
                        </a:rPr>
                        <a:t>(</a:t>
                      </a:r>
                      <a:r>
                        <a:rPr lang="ko-KR" altLang="en-US" sz="1200" b="1" kern="1200" dirty="0">
                          <a:solidFill>
                            <a:schemeClr val="tx2"/>
                          </a:solidFill>
                          <a:latin typeface="+mn-lt"/>
                          <a:ea typeface="+mn-ea"/>
                          <a:cs typeface="+mn-cs"/>
                        </a:rPr>
                        <a:t>그 밖의 등록의 효력</a:t>
                      </a:r>
                      <a:r>
                        <a:rPr lang="en-US" altLang="ko-KR" sz="1200" b="1" kern="1200" dirty="0">
                          <a:solidFill>
                            <a:schemeClr val="tx2"/>
                          </a:solidFill>
                          <a:latin typeface="+mn-lt"/>
                          <a:ea typeface="+mn-ea"/>
                          <a:cs typeface="+mn-cs"/>
                        </a:rPr>
                        <a:t>)</a:t>
                      </a:r>
                      <a:r>
                        <a:rPr lang="en-US" altLang="ko-KR" sz="1200"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통상실시권의</a:t>
                      </a:r>
                      <a:r>
                        <a:rPr lang="ko-KR" altLang="en-US" sz="1200" kern="1200" dirty="0">
                          <a:solidFill>
                            <a:schemeClr val="tx2"/>
                          </a:solidFill>
                          <a:latin typeface="+mn-lt"/>
                          <a:ea typeface="+mn-ea"/>
                          <a:cs typeface="+mn-cs"/>
                        </a:rPr>
                        <a:t> 이전</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변경</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소멸 또는 처분의 제한</a:t>
                      </a:r>
                      <a:r>
                        <a:rPr lang="en-US" altLang="ko-KR" sz="1200" kern="1200" dirty="0">
                          <a:solidFill>
                            <a:schemeClr val="tx2"/>
                          </a:solidFill>
                          <a:latin typeface="+mn-lt"/>
                          <a:ea typeface="+mn-ea"/>
                          <a:cs typeface="+mn-cs"/>
                        </a:rPr>
                        <a:t>, </a:t>
                      </a:r>
                      <a:r>
                        <a:rPr lang="ko-KR" altLang="en-US" sz="1200" kern="1200" dirty="0" err="1">
                          <a:solidFill>
                            <a:schemeClr val="tx2"/>
                          </a:solidFill>
                          <a:latin typeface="+mn-lt"/>
                          <a:ea typeface="+mn-ea"/>
                          <a:cs typeface="+mn-cs"/>
                        </a:rPr>
                        <a:t>통상실시권을</a:t>
                      </a:r>
                      <a:r>
                        <a:rPr lang="ko-KR" altLang="en-US" sz="1200" kern="1200" dirty="0">
                          <a:solidFill>
                            <a:schemeClr val="tx2"/>
                          </a:solidFill>
                          <a:latin typeface="+mn-lt"/>
                          <a:ea typeface="+mn-ea"/>
                          <a:cs typeface="+mn-cs"/>
                        </a:rPr>
                        <a:t> 목적으로 하는 질권의 설정</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이전</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변경</a:t>
                      </a:r>
                      <a:r>
                        <a:rPr lang="en-US" altLang="ko-KR" sz="1200" kern="1200" dirty="0">
                          <a:solidFill>
                            <a:schemeClr val="tx2"/>
                          </a:solidFill>
                          <a:latin typeface="+mn-lt"/>
                          <a:ea typeface="+mn-ea"/>
                          <a:cs typeface="+mn-cs"/>
                        </a:rPr>
                        <a:t>·</a:t>
                      </a:r>
                      <a:r>
                        <a:rPr lang="ko-KR" altLang="en-US" sz="1200" kern="1200" dirty="0">
                          <a:solidFill>
                            <a:schemeClr val="tx2"/>
                          </a:solidFill>
                          <a:latin typeface="+mn-lt"/>
                          <a:ea typeface="+mn-ea"/>
                          <a:cs typeface="+mn-cs"/>
                        </a:rPr>
                        <a:t>소멸 또는 처분의 제한은 이를 등록하여야만 제</a:t>
                      </a:r>
                      <a:r>
                        <a:rPr lang="en-US" altLang="ko-KR" sz="1200" kern="1200" dirty="0">
                          <a:solidFill>
                            <a:schemeClr val="tx2"/>
                          </a:solidFill>
                          <a:latin typeface="+mn-lt"/>
                          <a:ea typeface="+mn-ea"/>
                          <a:cs typeface="+mn-cs"/>
                        </a:rPr>
                        <a:t>3</a:t>
                      </a:r>
                      <a:r>
                        <a:rPr lang="ko-KR" altLang="en-US" sz="1200" kern="1200" dirty="0">
                          <a:solidFill>
                            <a:schemeClr val="tx2"/>
                          </a:solidFill>
                          <a:latin typeface="+mn-lt"/>
                          <a:ea typeface="+mn-ea"/>
                          <a:cs typeface="+mn-cs"/>
                        </a:rPr>
                        <a:t>자에게 대항할 수 있다</a:t>
                      </a:r>
                      <a:r>
                        <a:rPr lang="en-US" altLang="ko-KR" sz="1200" kern="1200" dirty="0">
                          <a:solidFill>
                            <a:schemeClr val="tx2"/>
                          </a:solidFill>
                          <a:latin typeface="+mn-lt"/>
                          <a:ea typeface="+mn-ea"/>
                          <a:cs typeface="+mn-cs"/>
                        </a:rPr>
                        <a:t>.</a:t>
                      </a:r>
                      <a:endParaRPr lang="ko-KR" altLang="en-US" sz="1200" kern="1200" dirty="0">
                        <a:solidFill>
                          <a:schemeClr val="tx2"/>
                        </a:solidFill>
                        <a:latin typeface="+mn-lt"/>
                        <a:ea typeface="+mn-ea"/>
                        <a:cs typeface="+mn-cs"/>
                      </a:endParaRPr>
                    </a:p>
                  </a:txBody>
                  <a:tcPr marL="72000" marR="72000" marT="10584" marB="10584"/>
                </a:tc>
                <a:extLst>
                  <a:ext uri="{0D108BD9-81ED-4DB2-BD59-A6C34878D82A}">
                    <a16:rowId xmlns:a16="http://schemas.microsoft.com/office/drawing/2014/main" val="10002"/>
                  </a:ext>
                </a:extLst>
              </a:tr>
            </a:tbl>
          </a:graphicData>
        </a:graphic>
      </p:graphicFrame>
      <p:sp>
        <p:nvSpPr>
          <p:cNvPr id="3" name="슬라이드 번호 개체 틀 2"/>
          <p:cNvSpPr>
            <a:spLocks noGrp="1"/>
          </p:cNvSpPr>
          <p:nvPr>
            <p:ph type="sldNum" sz="quarter" idx="12"/>
          </p:nvPr>
        </p:nvSpPr>
        <p:spPr/>
        <p:txBody>
          <a:bodyPr/>
          <a:lstStyle/>
          <a:p>
            <a:r>
              <a:rPr lang="en-US" altLang="ko-KR"/>
              <a:t>422</a:t>
            </a:r>
            <a:endParaRPr lang="ko-KR" altLang="en-US"/>
          </a:p>
        </p:txBody>
      </p:sp>
    </p:spTree>
    <p:extLst>
      <p:ext uri="{BB962C8B-B14F-4D97-AF65-F5344CB8AC3E}">
        <p14:creationId xmlns:p14="http://schemas.microsoft.com/office/powerpoint/2010/main" val="4188680964"/>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100</a:t>
            </a:r>
            <a:r>
              <a:rPr lang="ko-KR" altLang="en-US" dirty="0"/>
              <a:t>조</a:t>
            </a:r>
            <a:r>
              <a:rPr lang="en-US" altLang="ko-KR" dirty="0"/>
              <a:t>~</a:t>
            </a:r>
            <a:r>
              <a:rPr lang="ko-KR" altLang="en-US" dirty="0"/>
              <a:t>제</a:t>
            </a:r>
            <a:r>
              <a:rPr lang="en-US" altLang="ko-KR" dirty="0"/>
              <a:t>118</a:t>
            </a:r>
            <a:r>
              <a:rPr lang="ko-KR" altLang="en-US" dirty="0"/>
              <a:t>조</a:t>
            </a:r>
          </a:p>
        </p:txBody>
      </p:sp>
      <p:sp>
        <p:nvSpPr>
          <p:cNvPr id="5" name="텍스트 개체 틀 4"/>
          <p:cNvSpPr>
            <a:spLocks noGrp="1"/>
          </p:cNvSpPr>
          <p:nvPr>
            <p:ph type="body" sz="quarter" idx="13"/>
          </p:nvPr>
        </p:nvSpPr>
        <p:spPr/>
        <p:txBody>
          <a:bodyPr/>
          <a:lstStyle/>
          <a:p>
            <a:r>
              <a:rPr lang="ko-KR" altLang="en-US" dirty="0" err="1">
                <a:solidFill>
                  <a:schemeClr val="tx1">
                    <a:lumMod val="65000"/>
                    <a:lumOff val="35000"/>
                  </a:schemeClr>
                </a:solidFill>
              </a:rPr>
              <a:t>실시권</a:t>
            </a:r>
            <a:r>
              <a:rPr lang="ko-KR" altLang="en-US" dirty="0">
                <a:solidFill>
                  <a:schemeClr val="tx1">
                    <a:lumMod val="65000"/>
                    <a:lumOff val="35000"/>
                  </a:schemeClr>
                </a:solidFill>
              </a:rPr>
              <a:t> 일반 법조문의 해석</a:t>
            </a:r>
          </a:p>
        </p:txBody>
      </p:sp>
      <p:sp>
        <p:nvSpPr>
          <p:cNvPr id="3" name="슬라이드 번호 개체 틀 2"/>
          <p:cNvSpPr>
            <a:spLocks noGrp="1"/>
          </p:cNvSpPr>
          <p:nvPr>
            <p:ph type="sldNum" sz="quarter" idx="12"/>
          </p:nvPr>
        </p:nvSpPr>
        <p:spPr/>
        <p:txBody>
          <a:bodyPr/>
          <a:lstStyle/>
          <a:p>
            <a:r>
              <a:rPr lang="en-US" altLang="ko-KR"/>
              <a:t>423</a:t>
            </a:r>
            <a:endParaRPr lang="ko-KR" altLang="en-US"/>
          </a:p>
        </p:txBody>
      </p:sp>
      <p:graphicFrame>
        <p:nvGraphicFramePr>
          <p:cNvPr id="6" name="표 6">
            <a:extLst>
              <a:ext uri="{FF2B5EF4-FFF2-40B4-BE49-F238E27FC236}">
                <a16:creationId xmlns:a16="http://schemas.microsoft.com/office/drawing/2014/main" id="{901C1B69-57ED-4840-8187-5124CAA9A653}"/>
              </a:ext>
            </a:extLst>
          </p:cNvPr>
          <p:cNvGraphicFramePr>
            <a:graphicFrameLocks noGrp="1"/>
          </p:cNvGraphicFramePr>
          <p:nvPr/>
        </p:nvGraphicFramePr>
        <p:xfrm>
          <a:off x="591386" y="1475118"/>
          <a:ext cx="10838612" cy="4502988"/>
        </p:xfrm>
        <a:graphic>
          <a:graphicData uri="http://schemas.openxmlformats.org/drawingml/2006/table">
            <a:tbl>
              <a:tblPr firstRow="1">
                <a:tableStyleId>{8799B23B-EC83-4686-B30A-512413B5E67A}</a:tableStyleId>
              </a:tblPr>
              <a:tblGrid>
                <a:gridCol w="1806436">
                  <a:extLst>
                    <a:ext uri="{9D8B030D-6E8A-4147-A177-3AD203B41FA5}">
                      <a16:colId xmlns:a16="http://schemas.microsoft.com/office/drawing/2014/main" val="3972421538"/>
                    </a:ext>
                  </a:extLst>
                </a:gridCol>
                <a:gridCol w="1806436">
                  <a:extLst>
                    <a:ext uri="{9D8B030D-6E8A-4147-A177-3AD203B41FA5}">
                      <a16:colId xmlns:a16="http://schemas.microsoft.com/office/drawing/2014/main" val="3709726805"/>
                    </a:ext>
                  </a:extLst>
                </a:gridCol>
                <a:gridCol w="3612870">
                  <a:extLst>
                    <a:ext uri="{9D8B030D-6E8A-4147-A177-3AD203B41FA5}">
                      <a16:colId xmlns:a16="http://schemas.microsoft.com/office/drawing/2014/main" val="400982153"/>
                    </a:ext>
                  </a:extLst>
                </a:gridCol>
                <a:gridCol w="3612870">
                  <a:extLst>
                    <a:ext uri="{9D8B030D-6E8A-4147-A177-3AD203B41FA5}">
                      <a16:colId xmlns:a16="http://schemas.microsoft.com/office/drawing/2014/main" val="4080601717"/>
                    </a:ext>
                  </a:extLst>
                </a:gridCol>
              </a:tblGrid>
              <a:tr h="500332">
                <a:tc gridSpan="2">
                  <a:txBody>
                    <a:bodyPr/>
                    <a:lstStyle/>
                    <a:p>
                      <a:pPr algn="ctr" latinLnBrk="1"/>
                      <a:r>
                        <a:rPr lang="ko-KR" altLang="en-US" sz="1400" dirty="0"/>
                        <a:t>구분</a:t>
                      </a:r>
                    </a:p>
                  </a:txBody>
                  <a:tcPr anchor="ctr">
                    <a:solidFill>
                      <a:schemeClr val="accent1">
                        <a:lumMod val="20000"/>
                        <a:lumOff val="80000"/>
                      </a:schemeClr>
                    </a:solidFill>
                  </a:tcPr>
                </a:tc>
                <a:tc hMerge="1">
                  <a:txBody>
                    <a:bodyPr/>
                    <a:lstStyle/>
                    <a:p>
                      <a:pPr latinLnBrk="1"/>
                      <a:endParaRPr lang="ko-KR" altLang="en-US"/>
                    </a:p>
                  </a:txBody>
                  <a:tcPr/>
                </a:tc>
                <a:tc>
                  <a:txBody>
                    <a:bodyPr/>
                    <a:lstStyle/>
                    <a:p>
                      <a:pPr algn="ctr" latinLnBrk="1"/>
                      <a:r>
                        <a:rPr lang="ko-KR" altLang="en-US" sz="1400" dirty="0"/>
                        <a:t>전용실시권</a:t>
                      </a:r>
                    </a:p>
                  </a:txBody>
                  <a:tcPr anchor="ctr">
                    <a:solidFill>
                      <a:schemeClr val="accent1">
                        <a:lumMod val="20000"/>
                        <a:lumOff val="80000"/>
                      </a:schemeClr>
                    </a:solidFill>
                  </a:tcPr>
                </a:tc>
                <a:tc>
                  <a:txBody>
                    <a:bodyPr/>
                    <a:lstStyle/>
                    <a:p>
                      <a:pPr algn="ctr" latinLnBrk="1"/>
                      <a:r>
                        <a:rPr lang="ko-KR" altLang="en-US" sz="1400" dirty="0"/>
                        <a:t>통상실시권</a:t>
                      </a:r>
                    </a:p>
                  </a:txBody>
                  <a:tcPr anchor="ctr">
                    <a:solidFill>
                      <a:schemeClr val="accent1">
                        <a:lumMod val="20000"/>
                        <a:lumOff val="80000"/>
                      </a:schemeClr>
                    </a:solidFill>
                  </a:tcPr>
                </a:tc>
                <a:extLst>
                  <a:ext uri="{0D108BD9-81ED-4DB2-BD59-A6C34878D82A}">
                    <a16:rowId xmlns:a16="http://schemas.microsoft.com/office/drawing/2014/main" val="4109862959"/>
                  </a:ext>
                </a:extLst>
              </a:tr>
              <a:tr h="500332">
                <a:tc gridSpan="2">
                  <a:txBody>
                    <a:bodyPr/>
                    <a:lstStyle/>
                    <a:p>
                      <a:pPr algn="ctr" latinLnBrk="1"/>
                      <a:r>
                        <a:rPr lang="ko-KR" altLang="en-US" sz="1400" dirty="0"/>
                        <a:t>발생</a:t>
                      </a:r>
                    </a:p>
                  </a:txBody>
                  <a:tcPr anchor="ctr"/>
                </a:tc>
                <a:tc hMerge="1">
                  <a:txBody>
                    <a:bodyPr/>
                    <a:lstStyle/>
                    <a:p>
                      <a:pPr latinLnBrk="1"/>
                      <a:endParaRPr lang="ko-KR" altLang="en-US"/>
                    </a:p>
                  </a:txBody>
                  <a:tcPr/>
                </a:tc>
                <a:tc>
                  <a:txBody>
                    <a:bodyPr/>
                    <a:lstStyle/>
                    <a:p>
                      <a:pPr algn="ctr" latinLnBrk="1"/>
                      <a:r>
                        <a:rPr lang="ko-KR" altLang="en-US" sz="1400" dirty="0"/>
                        <a:t>제</a:t>
                      </a:r>
                      <a:r>
                        <a:rPr lang="en-US" altLang="ko-KR" sz="1400" dirty="0"/>
                        <a:t>100</a:t>
                      </a:r>
                      <a:r>
                        <a:rPr lang="ko-KR" altLang="en-US" sz="1400" dirty="0"/>
                        <a:t>조제</a:t>
                      </a:r>
                      <a:r>
                        <a:rPr lang="en-US" altLang="ko-KR" sz="1400" dirty="0"/>
                        <a:t>1</a:t>
                      </a:r>
                      <a:r>
                        <a:rPr lang="ko-KR" altLang="en-US" sz="1400" dirty="0"/>
                        <a:t>항</a:t>
                      </a:r>
                    </a:p>
                  </a:txBody>
                  <a:tcPr anchor="ctr"/>
                </a:tc>
                <a:tc>
                  <a:txBody>
                    <a:bodyPr/>
                    <a:lstStyle/>
                    <a:p>
                      <a:pPr algn="ctr" latinLnBrk="1"/>
                      <a:r>
                        <a:rPr lang="ko-KR" altLang="en-US" sz="1400" dirty="0"/>
                        <a:t>제</a:t>
                      </a:r>
                      <a:r>
                        <a:rPr lang="en-US" altLang="ko-KR" sz="1400" dirty="0"/>
                        <a:t>102</a:t>
                      </a:r>
                      <a:r>
                        <a:rPr lang="ko-KR" altLang="en-US" sz="1400" dirty="0"/>
                        <a:t>조제</a:t>
                      </a:r>
                      <a:r>
                        <a:rPr lang="en-US" altLang="ko-KR" sz="1400" dirty="0"/>
                        <a:t>1</a:t>
                      </a:r>
                      <a:r>
                        <a:rPr lang="ko-KR" altLang="en-US" sz="1400" dirty="0"/>
                        <a:t>항</a:t>
                      </a:r>
                    </a:p>
                  </a:txBody>
                  <a:tcPr anchor="ctr"/>
                </a:tc>
                <a:extLst>
                  <a:ext uri="{0D108BD9-81ED-4DB2-BD59-A6C34878D82A}">
                    <a16:rowId xmlns:a16="http://schemas.microsoft.com/office/drawing/2014/main" val="3384467488"/>
                  </a:ext>
                </a:extLst>
              </a:tr>
              <a:tr h="500332">
                <a:tc gridSpan="2">
                  <a:txBody>
                    <a:bodyPr/>
                    <a:lstStyle/>
                    <a:p>
                      <a:pPr algn="ctr" latinLnBrk="1"/>
                      <a:r>
                        <a:rPr lang="ko-KR" altLang="en-US" sz="1400" dirty="0"/>
                        <a:t>효력</a:t>
                      </a:r>
                    </a:p>
                  </a:txBody>
                  <a:tcPr anchor="ctr"/>
                </a:tc>
                <a:tc hMerge="1">
                  <a:txBody>
                    <a:bodyPr/>
                    <a:lstStyle/>
                    <a:p>
                      <a:pPr latinLnBrk="1"/>
                      <a:endParaRPr lang="ko-KR" altLang="en-US"/>
                    </a:p>
                  </a:txBody>
                  <a:tcPr/>
                </a:tc>
                <a:tc>
                  <a:txBody>
                    <a:bodyPr/>
                    <a:lstStyle/>
                    <a:p>
                      <a:pPr algn="ctr" latinLnBrk="1"/>
                      <a:r>
                        <a:rPr lang="ko-KR" altLang="en-US" sz="1400" dirty="0"/>
                        <a:t>제</a:t>
                      </a:r>
                      <a:r>
                        <a:rPr lang="en-US" altLang="ko-KR" sz="1400" dirty="0"/>
                        <a:t>100</a:t>
                      </a:r>
                      <a:r>
                        <a:rPr lang="ko-KR" altLang="en-US" sz="1400" dirty="0"/>
                        <a:t>조제</a:t>
                      </a:r>
                      <a:r>
                        <a:rPr lang="en-US" altLang="ko-KR" sz="1400" dirty="0"/>
                        <a:t>2</a:t>
                      </a:r>
                      <a:r>
                        <a:rPr lang="ko-KR" altLang="en-US" sz="1400" dirty="0"/>
                        <a:t>항</a:t>
                      </a:r>
                    </a:p>
                  </a:txBody>
                  <a:tcPr anchor="ctr"/>
                </a:tc>
                <a:tc>
                  <a:txBody>
                    <a:bodyPr/>
                    <a:lstStyle/>
                    <a:p>
                      <a:pPr algn="ctr" latinLnBrk="1"/>
                      <a:r>
                        <a:rPr lang="ko-KR" altLang="en-US" sz="1400" dirty="0"/>
                        <a:t>제</a:t>
                      </a:r>
                      <a:r>
                        <a:rPr lang="en-US" altLang="ko-KR" sz="1400" dirty="0"/>
                        <a:t>102</a:t>
                      </a:r>
                      <a:r>
                        <a:rPr lang="ko-KR" altLang="en-US" sz="1400" dirty="0"/>
                        <a:t>조제</a:t>
                      </a:r>
                      <a:r>
                        <a:rPr lang="en-US" altLang="ko-KR" sz="1400" dirty="0"/>
                        <a:t>2</a:t>
                      </a:r>
                      <a:r>
                        <a:rPr lang="ko-KR" altLang="en-US" sz="1400" dirty="0"/>
                        <a:t>항</a:t>
                      </a:r>
                    </a:p>
                  </a:txBody>
                  <a:tcPr anchor="ctr"/>
                </a:tc>
                <a:extLst>
                  <a:ext uri="{0D108BD9-81ED-4DB2-BD59-A6C34878D82A}">
                    <a16:rowId xmlns:a16="http://schemas.microsoft.com/office/drawing/2014/main" val="3805860888"/>
                  </a:ext>
                </a:extLst>
              </a:tr>
              <a:tr h="500332">
                <a:tc rowSpan="3">
                  <a:txBody>
                    <a:bodyPr/>
                    <a:lstStyle/>
                    <a:p>
                      <a:pPr algn="ctr" latinLnBrk="1"/>
                      <a:r>
                        <a:rPr lang="ko-KR" altLang="en-US" sz="1400" dirty="0"/>
                        <a:t>변동</a:t>
                      </a:r>
                    </a:p>
                  </a:txBody>
                  <a:tcPr anchor="ctr"/>
                </a:tc>
                <a:tc>
                  <a:txBody>
                    <a:bodyPr/>
                    <a:lstStyle/>
                    <a:p>
                      <a:pPr algn="ctr" latinLnBrk="1"/>
                      <a:r>
                        <a:rPr lang="ko-KR" altLang="en-US" sz="1400" dirty="0"/>
                        <a:t>이전</a:t>
                      </a:r>
                    </a:p>
                  </a:txBody>
                  <a:tcPr anchor="ctr"/>
                </a:tc>
                <a:tc>
                  <a:txBody>
                    <a:bodyPr/>
                    <a:lstStyle/>
                    <a:p>
                      <a:pPr algn="ctr" latinLnBrk="1"/>
                      <a:r>
                        <a:rPr lang="ko-KR" altLang="en-US" sz="1400" dirty="0"/>
                        <a:t>제</a:t>
                      </a:r>
                      <a:r>
                        <a:rPr lang="en-US" altLang="ko-KR" sz="1400" dirty="0"/>
                        <a:t>100</a:t>
                      </a:r>
                      <a:r>
                        <a:rPr lang="ko-KR" altLang="en-US" sz="1400" dirty="0"/>
                        <a:t>조제</a:t>
                      </a:r>
                      <a:r>
                        <a:rPr lang="en-US" altLang="ko-KR" sz="1400" dirty="0"/>
                        <a:t>3</a:t>
                      </a:r>
                      <a:r>
                        <a:rPr lang="ko-KR" altLang="en-US" sz="1400" dirty="0"/>
                        <a:t>항</a:t>
                      </a:r>
                    </a:p>
                  </a:txBody>
                  <a:tcPr anchor="ctr"/>
                </a:tc>
                <a:tc>
                  <a:txBody>
                    <a:bodyPr/>
                    <a:lstStyle/>
                    <a:p>
                      <a:pPr algn="ctr" latinLnBrk="1"/>
                      <a:r>
                        <a:rPr lang="ko-KR" altLang="en-US" sz="1400" dirty="0"/>
                        <a:t>제</a:t>
                      </a:r>
                      <a:r>
                        <a:rPr lang="en-US" altLang="ko-KR" sz="1400" dirty="0"/>
                        <a:t>102</a:t>
                      </a:r>
                      <a:r>
                        <a:rPr lang="ko-KR" altLang="en-US" sz="1400" dirty="0"/>
                        <a:t>조제</a:t>
                      </a:r>
                      <a:r>
                        <a:rPr lang="en-US" altLang="ko-KR" sz="1400" dirty="0"/>
                        <a:t>3</a:t>
                      </a:r>
                      <a:r>
                        <a:rPr lang="ko-KR" altLang="en-US" sz="1400" dirty="0"/>
                        <a:t>항 내지 제</a:t>
                      </a:r>
                      <a:r>
                        <a:rPr lang="en-US" altLang="ko-KR" sz="1400" dirty="0"/>
                        <a:t>5</a:t>
                      </a:r>
                      <a:r>
                        <a:rPr lang="ko-KR" altLang="en-US" sz="1400" dirty="0"/>
                        <a:t>항</a:t>
                      </a:r>
                    </a:p>
                  </a:txBody>
                  <a:tcPr anchor="ctr"/>
                </a:tc>
                <a:extLst>
                  <a:ext uri="{0D108BD9-81ED-4DB2-BD59-A6C34878D82A}">
                    <a16:rowId xmlns:a16="http://schemas.microsoft.com/office/drawing/2014/main" val="97838407"/>
                  </a:ext>
                </a:extLst>
              </a:tr>
              <a:tr h="500332">
                <a:tc vMerge="1">
                  <a:txBody>
                    <a:bodyPr/>
                    <a:lstStyle/>
                    <a:p>
                      <a:pPr latinLnBrk="1"/>
                      <a:endParaRPr lang="ko-KR" altLang="en-US" sz="1400" dirty="0"/>
                    </a:p>
                  </a:txBody>
                  <a:tcPr/>
                </a:tc>
                <a:tc>
                  <a:txBody>
                    <a:bodyPr/>
                    <a:lstStyle/>
                    <a:p>
                      <a:pPr algn="ctr" latinLnBrk="1"/>
                      <a:r>
                        <a:rPr lang="ko-KR" altLang="en-US" sz="1400" dirty="0"/>
                        <a:t>통상실시권</a:t>
                      </a:r>
                    </a:p>
                  </a:txBody>
                  <a:tcPr anchor="ctr"/>
                </a:tc>
                <a:tc>
                  <a:txBody>
                    <a:bodyPr/>
                    <a:lstStyle/>
                    <a:p>
                      <a:pPr algn="ctr" latinLnBrk="1"/>
                      <a:r>
                        <a:rPr lang="ko-KR" altLang="en-US" sz="1400" dirty="0"/>
                        <a:t>제</a:t>
                      </a:r>
                      <a:r>
                        <a:rPr lang="en-US" altLang="ko-KR" sz="1400" dirty="0"/>
                        <a:t>100</a:t>
                      </a:r>
                      <a:r>
                        <a:rPr lang="ko-KR" altLang="en-US" sz="1400" dirty="0"/>
                        <a:t>조제</a:t>
                      </a:r>
                      <a:r>
                        <a:rPr lang="en-US" altLang="ko-KR" sz="1400" dirty="0"/>
                        <a:t>4</a:t>
                      </a:r>
                      <a:r>
                        <a:rPr lang="ko-KR" altLang="en-US" sz="1400" dirty="0"/>
                        <a:t>항</a:t>
                      </a:r>
                    </a:p>
                  </a:txBody>
                  <a:tcPr anchor="ctr"/>
                </a:tc>
                <a:tc>
                  <a:txBody>
                    <a:bodyPr/>
                    <a:lstStyle/>
                    <a:p>
                      <a:pPr algn="ctr" latinLnBrk="1"/>
                      <a:r>
                        <a:rPr lang="en-US" altLang="ko-KR" sz="1400" dirty="0"/>
                        <a:t>-</a:t>
                      </a:r>
                      <a:endParaRPr lang="ko-KR" altLang="en-US" sz="1400" dirty="0"/>
                    </a:p>
                  </a:txBody>
                  <a:tcPr anchor="ctr"/>
                </a:tc>
                <a:extLst>
                  <a:ext uri="{0D108BD9-81ED-4DB2-BD59-A6C34878D82A}">
                    <a16:rowId xmlns:a16="http://schemas.microsoft.com/office/drawing/2014/main" val="2569569272"/>
                  </a:ext>
                </a:extLst>
              </a:tr>
              <a:tr h="500332">
                <a:tc vMerge="1">
                  <a:txBody>
                    <a:bodyPr/>
                    <a:lstStyle/>
                    <a:p>
                      <a:pPr latinLnBrk="1"/>
                      <a:endParaRPr lang="ko-KR" altLang="en-US" sz="1400" dirty="0"/>
                    </a:p>
                  </a:txBody>
                  <a:tcPr/>
                </a:tc>
                <a:tc>
                  <a:txBody>
                    <a:bodyPr/>
                    <a:lstStyle/>
                    <a:p>
                      <a:pPr algn="ctr" latinLnBrk="1"/>
                      <a:r>
                        <a:rPr lang="ko-KR" altLang="en-US" sz="1400" dirty="0"/>
                        <a:t>질권</a:t>
                      </a:r>
                    </a:p>
                  </a:txBody>
                  <a:tcPr anchor="ctr"/>
                </a:tc>
                <a:tc>
                  <a: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lang="ko-KR" altLang="en-US" sz="1400" dirty="0"/>
                        <a:t>제</a:t>
                      </a:r>
                      <a:r>
                        <a:rPr lang="en-US" altLang="ko-KR" sz="1400" dirty="0"/>
                        <a:t>100</a:t>
                      </a:r>
                      <a:r>
                        <a:rPr lang="ko-KR" altLang="en-US" sz="1400" dirty="0"/>
                        <a:t>조제</a:t>
                      </a:r>
                      <a:r>
                        <a:rPr lang="en-US" altLang="ko-KR" sz="1400" dirty="0"/>
                        <a:t>4</a:t>
                      </a:r>
                      <a:r>
                        <a:rPr lang="ko-KR" altLang="en-US" sz="1400" dirty="0"/>
                        <a:t>항</a:t>
                      </a:r>
                    </a:p>
                  </a:txBody>
                  <a:tcPr anchor="ctr"/>
                </a:tc>
                <a:tc>
                  <a:txBody>
                    <a:bodyPr/>
                    <a:lstStyle/>
                    <a:p>
                      <a:pPr algn="ctr" latinLnBrk="1"/>
                      <a:r>
                        <a:rPr lang="ko-KR" altLang="en-US" sz="1400" dirty="0"/>
                        <a:t>제</a:t>
                      </a:r>
                      <a:r>
                        <a:rPr lang="en-US" altLang="ko-KR" sz="1400" dirty="0"/>
                        <a:t>102</a:t>
                      </a:r>
                      <a:r>
                        <a:rPr lang="ko-KR" altLang="en-US" sz="1400" dirty="0"/>
                        <a:t>조제</a:t>
                      </a:r>
                      <a:r>
                        <a:rPr lang="en-US" altLang="ko-KR" sz="1400" dirty="0"/>
                        <a:t>6</a:t>
                      </a:r>
                      <a:r>
                        <a:rPr lang="ko-KR" altLang="en-US" sz="1400" dirty="0"/>
                        <a:t>항</a:t>
                      </a:r>
                    </a:p>
                  </a:txBody>
                  <a:tcPr anchor="ctr"/>
                </a:tc>
                <a:extLst>
                  <a:ext uri="{0D108BD9-81ED-4DB2-BD59-A6C34878D82A}">
                    <a16:rowId xmlns:a16="http://schemas.microsoft.com/office/drawing/2014/main" val="598717374"/>
                  </a:ext>
                </a:extLst>
              </a:tr>
              <a:tr h="500332">
                <a:tc gridSpan="2">
                  <a:txBody>
                    <a:bodyPr/>
                    <a:lstStyle/>
                    <a:p>
                      <a:pPr algn="ctr" latinLnBrk="1"/>
                      <a:r>
                        <a:rPr lang="ko-KR" altLang="en-US" sz="1400" dirty="0"/>
                        <a:t>소멸</a:t>
                      </a:r>
                    </a:p>
                  </a:txBody>
                  <a:tcPr anchor="ctr"/>
                </a:tc>
                <a:tc hMerge="1">
                  <a:txBody>
                    <a:bodyPr/>
                    <a:lstStyle/>
                    <a:p>
                      <a:pPr latinLnBrk="1"/>
                      <a:endParaRPr lang="ko-KR" altLang="en-US"/>
                    </a:p>
                  </a:txBody>
                  <a:tcPr/>
                </a:tc>
                <a:tc>
                  <a:txBody>
                    <a:bodyPr/>
                    <a:lstStyle/>
                    <a:p>
                      <a:pPr algn="ctr" latinLnBrk="1"/>
                      <a:r>
                        <a:rPr lang="en-US" altLang="ko-KR" sz="1400" dirty="0"/>
                        <a:t>-</a:t>
                      </a:r>
                      <a:endParaRPr lang="ko-KR" altLang="en-US" sz="1400" dirty="0"/>
                    </a:p>
                  </a:txBody>
                  <a:tcPr anchor="ctr"/>
                </a:tc>
                <a:tc>
                  <a:txBody>
                    <a:bodyPr/>
                    <a:lstStyle/>
                    <a:p>
                      <a:pPr algn="ctr" latinLnBrk="1"/>
                      <a:r>
                        <a:rPr lang="en-US" altLang="ko-KR" sz="1400" dirty="0"/>
                        <a:t>-</a:t>
                      </a:r>
                      <a:endParaRPr lang="ko-KR" altLang="en-US" sz="1400" dirty="0"/>
                    </a:p>
                  </a:txBody>
                  <a:tcPr anchor="ctr"/>
                </a:tc>
                <a:extLst>
                  <a:ext uri="{0D108BD9-81ED-4DB2-BD59-A6C34878D82A}">
                    <a16:rowId xmlns:a16="http://schemas.microsoft.com/office/drawing/2014/main" val="1343052544"/>
                  </a:ext>
                </a:extLst>
              </a:tr>
              <a:tr h="500332">
                <a:tc gridSpan="2">
                  <a:txBody>
                    <a:bodyPr/>
                    <a:lstStyle/>
                    <a:p>
                      <a:pPr algn="ctr" latinLnBrk="1"/>
                      <a:r>
                        <a:rPr lang="ko-KR" altLang="en-US" sz="1400" dirty="0"/>
                        <a:t>공유</a:t>
                      </a:r>
                    </a:p>
                  </a:txBody>
                  <a:tcPr anchor="ctr"/>
                </a:tc>
                <a:tc hMerge="1">
                  <a:txBody>
                    <a:bodyPr/>
                    <a:lstStyle/>
                    <a:p>
                      <a:pPr latinLnBrk="1"/>
                      <a:endParaRPr lang="ko-KR" altLang="en-US"/>
                    </a:p>
                  </a:txBody>
                  <a:tcPr/>
                </a:tc>
                <a:tc>
                  <a:txBody>
                    <a:bodyPr/>
                    <a:lstStyle/>
                    <a:p>
                      <a:pPr algn="ctr" latinLnBrk="1"/>
                      <a:r>
                        <a:rPr lang="ko-KR" altLang="en-US" sz="1400" dirty="0"/>
                        <a:t>제</a:t>
                      </a:r>
                      <a:r>
                        <a:rPr lang="en-US" altLang="ko-KR" sz="1400" dirty="0"/>
                        <a:t>100</a:t>
                      </a:r>
                      <a:r>
                        <a:rPr lang="ko-KR" altLang="en-US" sz="1400" dirty="0"/>
                        <a:t>조제</a:t>
                      </a:r>
                      <a:r>
                        <a:rPr lang="en-US" altLang="ko-KR" sz="1400" dirty="0"/>
                        <a:t>5</a:t>
                      </a:r>
                      <a:r>
                        <a:rPr lang="ko-KR" altLang="en-US" sz="1400" dirty="0"/>
                        <a:t>항</a:t>
                      </a:r>
                    </a:p>
                  </a:txBody>
                  <a:tcPr anchor="ctr"/>
                </a:tc>
                <a:tc>
                  <a:txBody>
                    <a:bodyPr/>
                    <a:lstStyle/>
                    <a:p>
                      <a:pPr algn="ctr" latinLnBrk="1"/>
                      <a:r>
                        <a:rPr lang="ko-KR" altLang="en-US" sz="1400" dirty="0"/>
                        <a:t>제</a:t>
                      </a:r>
                      <a:r>
                        <a:rPr lang="en-US" altLang="ko-KR" sz="1400" dirty="0"/>
                        <a:t>102</a:t>
                      </a:r>
                      <a:r>
                        <a:rPr lang="ko-KR" altLang="en-US" sz="1400" dirty="0"/>
                        <a:t>조제</a:t>
                      </a:r>
                      <a:r>
                        <a:rPr lang="en-US" altLang="ko-KR" sz="1400" dirty="0"/>
                        <a:t>7</a:t>
                      </a:r>
                      <a:r>
                        <a:rPr lang="ko-KR" altLang="en-US" sz="1400" dirty="0"/>
                        <a:t>항</a:t>
                      </a:r>
                    </a:p>
                  </a:txBody>
                  <a:tcPr anchor="ctr"/>
                </a:tc>
                <a:extLst>
                  <a:ext uri="{0D108BD9-81ED-4DB2-BD59-A6C34878D82A}">
                    <a16:rowId xmlns:a16="http://schemas.microsoft.com/office/drawing/2014/main" val="1556986514"/>
                  </a:ext>
                </a:extLst>
              </a:tr>
              <a:tr h="500332">
                <a:tc gridSpan="2">
                  <a:txBody>
                    <a:bodyPr/>
                    <a:lstStyle/>
                    <a:p>
                      <a:pPr algn="ctr" latinLnBrk="1"/>
                      <a:r>
                        <a:rPr lang="ko-KR" altLang="en-US" sz="1400" dirty="0"/>
                        <a:t>등록의 효력</a:t>
                      </a:r>
                    </a:p>
                  </a:txBody>
                  <a:tcPr anchor="ctr"/>
                </a:tc>
                <a:tc hMerge="1">
                  <a:txBody>
                    <a:bodyPr/>
                    <a:lstStyle/>
                    <a:p>
                      <a:pPr latinLnBrk="1"/>
                      <a:endParaRPr lang="ko-KR" altLang="en-US"/>
                    </a:p>
                  </a:txBody>
                  <a:tcPr/>
                </a:tc>
                <a:tc>
                  <a:txBody>
                    <a:bodyPr/>
                    <a:lstStyle/>
                    <a:p>
                      <a:pPr algn="ctr" latinLnBrk="1"/>
                      <a:r>
                        <a:rPr lang="ko-KR" altLang="en-US" sz="1400" dirty="0"/>
                        <a:t>제</a:t>
                      </a:r>
                      <a:r>
                        <a:rPr lang="en-US" altLang="ko-KR" sz="1400" dirty="0"/>
                        <a:t>101</a:t>
                      </a:r>
                      <a:r>
                        <a:rPr lang="ko-KR" altLang="en-US" sz="1400" dirty="0"/>
                        <a:t>조제</a:t>
                      </a:r>
                      <a:r>
                        <a:rPr lang="en-US" altLang="ko-KR" sz="1400" dirty="0"/>
                        <a:t>1</a:t>
                      </a:r>
                      <a:r>
                        <a:rPr lang="ko-KR" altLang="en-US" sz="1400" dirty="0" err="1"/>
                        <a:t>항제</a:t>
                      </a:r>
                      <a:r>
                        <a:rPr lang="en-US" altLang="ko-KR" sz="1400" dirty="0"/>
                        <a:t>2</a:t>
                      </a:r>
                      <a:r>
                        <a:rPr lang="ko-KR" altLang="en-US" sz="1400" dirty="0"/>
                        <a:t>호</a:t>
                      </a:r>
                    </a:p>
                  </a:txBody>
                  <a:tcPr anchor="ctr"/>
                </a:tc>
                <a:tc>
                  <a:txBody>
                    <a:bodyPr/>
                    <a:lstStyle/>
                    <a:p>
                      <a:pPr algn="ctr" latinLnBrk="1"/>
                      <a:r>
                        <a:rPr lang="ko-KR" altLang="en-US" sz="1400" dirty="0"/>
                        <a:t>제</a:t>
                      </a:r>
                      <a:r>
                        <a:rPr lang="en-US" altLang="ko-KR" sz="1400" dirty="0"/>
                        <a:t>118</a:t>
                      </a:r>
                      <a:r>
                        <a:rPr lang="ko-KR" altLang="en-US" sz="1400" dirty="0"/>
                        <a:t>조</a:t>
                      </a:r>
                    </a:p>
                  </a:txBody>
                  <a:tcPr anchor="ctr"/>
                </a:tc>
                <a:extLst>
                  <a:ext uri="{0D108BD9-81ED-4DB2-BD59-A6C34878D82A}">
                    <a16:rowId xmlns:a16="http://schemas.microsoft.com/office/drawing/2014/main" val="2024031737"/>
                  </a:ext>
                </a:extLst>
              </a:tr>
            </a:tbl>
          </a:graphicData>
        </a:graphic>
      </p:graphicFrame>
    </p:spTree>
    <p:extLst>
      <p:ext uri="{BB962C8B-B14F-4D97-AF65-F5344CB8AC3E}">
        <p14:creationId xmlns:p14="http://schemas.microsoft.com/office/powerpoint/2010/main" val="3716090416"/>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119</a:t>
            </a:r>
            <a:r>
              <a:rPr lang="ko-KR" altLang="en-US" dirty="0"/>
              <a:t>조</a:t>
            </a:r>
            <a:r>
              <a:rPr lang="en-US" altLang="ko-KR" dirty="0"/>
              <a:t>, </a:t>
            </a:r>
            <a:r>
              <a:rPr lang="ko-KR" altLang="en-US" dirty="0"/>
              <a:t>제</a:t>
            </a:r>
            <a:r>
              <a:rPr lang="en-US" altLang="ko-KR" dirty="0"/>
              <a:t>120</a:t>
            </a:r>
            <a:r>
              <a:rPr lang="ko-KR" altLang="en-US" dirty="0"/>
              <a:t>조</a:t>
            </a:r>
            <a:r>
              <a:rPr lang="en-US" altLang="ko-KR" dirty="0"/>
              <a:t>, </a:t>
            </a:r>
            <a:r>
              <a:rPr lang="ko-KR" altLang="en-US" dirty="0"/>
              <a:t>제</a:t>
            </a:r>
            <a:r>
              <a:rPr lang="en-US" altLang="ko-KR" dirty="0"/>
              <a:t>124</a:t>
            </a:r>
            <a:r>
              <a:rPr lang="ko-KR" altLang="en-US" dirty="0"/>
              <a:t>조</a:t>
            </a:r>
          </a:p>
        </p:txBody>
      </p:sp>
      <p:sp>
        <p:nvSpPr>
          <p:cNvPr id="5" name="텍스트 개체 틀 4"/>
          <p:cNvSpPr>
            <a:spLocks noGrp="1"/>
          </p:cNvSpPr>
          <p:nvPr>
            <p:ph type="body" sz="quarter" idx="13"/>
          </p:nvPr>
        </p:nvSpPr>
        <p:spPr/>
        <p:txBody>
          <a:bodyPr/>
          <a:lstStyle/>
          <a:p>
            <a:r>
              <a:rPr lang="ko-KR" altLang="en-US" dirty="0"/>
              <a:t>특허권의 소멸</a:t>
            </a:r>
          </a:p>
        </p:txBody>
      </p:sp>
      <p:graphicFrame>
        <p:nvGraphicFramePr>
          <p:cNvPr id="6" name="표 5"/>
          <p:cNvGraphicFramePr>
            <a:graphicFrameLocks noGrp="1"/>
          </p:cNvGraphicFramePr>
          <p:nvPr/>
        </p:nvGraphicFramePr>
        <p:xfrm>
          <a:off x="628522" y="1381124"/>
          <a:ext cx="10591927" cy="4107108"/>
        </p:xfrm>
        <a:graphic>
          <a:graphicData uri="http://schemas.openxmlformats.org/drawingml/2006/table">
            <a:tbl>
              <a:tblPr>
                <a:tableStyleId>{8799B23B-EC83-4686-B30A-512413B5E67A}</a:tableStyleId>
              </a:tblPr>
              <a:tblGrid>
                <a:gridCol w="810826">
                  <a:extLst>
                    <a:ext uri="{9D8B030D-6E8A-4147-A177-3AD203B41FA5}">
                      <a16:colId xmlns:a16="http://schemas.microsoft.com/office/drawing/2014/main" val="20000"/>
                    </a:ext>
                  </a:extLst>
                </a:gridCol>
                <a:gridCol w="4807291">
                  <a:extLst>
                    <a:ext uri="{9D8B030D-6E8A-4147-A177-3AD203B41FA5}">
                      <a16:colId xmlns:a16="http://schemas.microsoft.com/office/drawing/2014/main" val="20001"/>
                    </a:ext>
                  </a:extLst>
                </a:gridCol>
                <a:gridCol w="4973810">
                  <a:extLst>
                    <a:ext uri="{9D8B030D-6E8A-4147-A177-3AD203B41FA5}">
                      <a16:colId xmlns:a16="http://schemas.microsoft.com/office/drawing/2014/main" val="20002"/>
                    </a:ext>
                  </a:extLst>
                </a:gridCol>
              </a:tblGrid>
              <a:tr h="268660">
                <a:tc>
                  <a:txBody>
                    <a:bodyPr/>
                    <a:lstStyle/>
                    <a:p>
                      <a:pPr marL="0" marR="0" indent="0" algn="ctr" fontAlgn="base" latinLnBrk="0">
                        <a:lnSpc>
                          <a:spcPct val="130000"/>
                        </a:lnSpc>
                        <a:spcBef>
                          <a:spcPts val="0"/>
                        </a:spcBef>
                        <a:spcAft>
                          <a:spcPts val="0"/>
                        </a:spcAft>
                      </a:pPr>
                      <a:r>
                        <a:rPr lang="ko-KR" altLang="en-US" sz="1200" kern="1200" dirty="0"/>
                        <a:t>구분</a:t>
                      </a:r>
                      <a:endParaRPr lang="ko-KR" altLang="en-US" sz="12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1200"/>
                        <a:t>장래를 향해 소멸</a:t>
                      </a:r>
                      <a:endParaRPr lang="ko-KR" altLang="en-US" sz="1200" kern="120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kern="1200" dirty="0"/>
                        <a:t>소급하여 소멸</a:t>
                      </a:r>
                      <a:endParaRPr lang="ko-KR" altLang="en-US" sz="12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10000"/>
                  </a:ext>
                </a:extLst>
              </a:tr>
              <a:tr h="1669581">
                <a:tc>
                  <a:txBody>
                    <a:bodyPr/>
                    <a:lstStyle/>
                    <a:p>
                      <a:pPr marL="0" marR="0" indent="0" algn="ctr" fontAlgn="base" latinLnBrk="0">
                        <a:lnSpc>
                          <a:spcPct val="130000"/>
                        </a:lnSpc>
                        <a:spcBef>
                          <a:spcPts val="0"/>
                        </a:spcBef>
                        <a:spcAft>
                          <a:spcPts val="0"/>
                        </a:spcAft>
                      </a:pPr>
                      <a:r>
                        <a:rPr lang="ko-KR" altLang="en-US" sz="1200" kern="1200"/>
                        <a:t>원인</a:t>
                      </a:r>
                      <a:endParaRPr lang="ko-KR" altLang="en-US" sz="1200" kern="1200">
                        <a:solidFill>
                          <a:schemeClr val="tx2"/>
                        </a:solidFill>
                        <a:latin typeface="+mn-lt"/>
                        <a:ea typeface="+mn-ea"/>
                        <a:cs typeface="+mn-cs"/>
                      </a:endParaRPr>
                    </a:p>
                  </a:txBody>
                  <a:tcPr marL="64770" marR="64770" marT="17907" marB="17907" anchor="ctr"/>
                </a:tc>
                <a:tc>
                  <a:txBody>
                    <a:bodyPr/>
                    <a:lstStyle/>
                    <a:p>
                      <a:pPr marL="189230" marR="17780" indent="-171450" algn="just" defTabSz="914400" rtl="0" eaLnBrk="1" fontAlgn="base" latinLnBrk="1" hangingPunct="1">
                        <a:lnSpc>
                          <a:spcPct val="130000"/>
                        </a:lnSpc>
                        <a:spcBef>
                          <a:spcPts val="0"/>
                        </a:spcBef>
                        <a:spcAft>
                          <a:spcPts val="0"/>
                        </a:spcAft>
                        <a:buClrTx/>
                        <a:buSzTx/>
                        <a:buFontTx/>
                        <a:buChar char="-"/>
                        <a:tabLst/>
                        <a:defRPr/>
                      </a:pPr>
                      <a:r>
                        <a:rPr lang="ko-KR" altLang="en-US" sz="1200" kern="1200" dirty="0"/>
                        <a:t>특허료 불납</a:t>
                      </a:r>
                      <a:endParaRPr lang="en-US" altLang="ko-KR" sz="1200" kern="1200" dirty="0"/>
                    </a:p>
                    <a:p>
                      <a:pPr marL="189230" marR="17780" indent="-171450" algn="just" fontAlgn="base" latinLnBrk="1">
                        <a:lnSpc>
                          <a:spcPct val="130000"/>
                        </a:lnSpc>
                        <a:spcBef>
                          <a:spcPts val="0"/>
                        </a:spcBef>
                        <a:spcAft>
                          <a:spcPts val="0"/>
                        </a:spcAft>
                        <a:buFontTx/>
                        <a:buChar char="-"/>
                      </a:pPr>
                      <a:r>
                        <a:rPr lang="ko-KR" altLang="en-US" sz="1200" kern="1200" dirty="0"/>
                        <a:t>존속기간의 만료</a:t>
                      </a:r>
                      <a:endParaRPr lang="en-US" altLang="ko-KR" sz="1200" kern="1200" dirty="0"/>
                    </a:p>
                    <a:p>
                      <a:pPr marL="189230" marR="17780" indent="-171450" algn="just" defTabSz="914400" rtl="0" eaLnBrk="1" fontAlgn="base" latinLnBrk="1" hangingPunct="1">
                        <a:lnSpc>
                          <a:spcPct val="130000"/>
                        </a:lnSpc>
                        <a:spcBef>
                          <a:spcPts val="0"/>
                        </a:spcBef>
                        <a:spcAft>
                          <a:spcPts val="0"/>
                        </a:spcAft>
                        <a:buClrTx/>
                        <a:buSzTx/>
                        <a:buFontTx/>
                        <a:buChar char="-"/>
                        <a:tabLst/>
                        <a:defRPr/>
                      </a:pPr>
                      <a:r>
                        <a:rPr lang="ko-KR" altLang="en-US" sz="1200" kern="1200" dirty="0"/>
                        <a:t>특허권의 포기</a:t>
                      </a:r>
                      <a:r>
                        <a:rPr lang="en-US" altLang="ko-KR" sz="1200" kern="1200" dirty="0"/>
                        <a:t>(</a:t>
                      </a:r>
                      <a:r>
                        <a:rPr lang="ko-KR" altLang="en-US" sz="1200" kern="1200" dirty="0"/>
                        <a:t>法 </a:t>
                      </a:r>
                      <a:r>
                        <a:rPr lang="en-US" altLang="ko-KR" sz="1200" kern="1200" dirty="0"/>
                        <a:t>119, 120)</a:t>
                      </a:r>
                    </a:p>
                    <a:p>
                      <a:pPr marL="189230" marR="17780" indent="-171450" algn="just" fontAlgn="base" latinLnBrk="1">
                        <a:lnSpc>
                          <a:spcPct val="130000"/>
                        </a:lnSpc>
                        <a:spcBef>
                          <a:spcPts val="0"/>
                        </a:spcBef>
                        <a:spcAft>
                          <a:spcPts val="0"/>
                        </a:spcAft>
                        <a:buFontTx/>
                        <a:buChar char="-"/>
                      </a:pPr>
                      <a:r>
                        <a:rPr lang="ko-KR" altLang="en-US" sz="1200" kern="1200" dirty="0"/>
                        <a:t>상속인 </a:t>
                      </a:r>
                      <a:r>
                        <a:rPr lang="ko-KR" altLang="en-US" sz="1200" kern="1200" dirty="0" err="1"/>
                        <a:t>부존재</a:t>
                      </a:r>
                      <a:r>
                        <a:rPr lang="en-US" altLang="ko-KR" sz="1200" kern="1200" dirty="0"/>
                        <a:t>(</a:t>
                      </a:r>
                      <a:r>
                        <a:rPr lang="ko-KR" altLang="en-US" sz="1200" kern="1200" dirty="0"/>
                        <a:t>청산절차가 진행 중인 법인의 특허권을 청산종결등기일</a:t>
                      </a:r>
                      <a:r>
                        <a:rPr lang="en-US" altLang="ko-KR" sz="1200" kern="1200" dirty="0"/>
                        <a:t>(</a:t>
                      </a:r>
                      <a:r>
                        <a:rPr lang="ko-KR" altLang="en-US" sz="1200" kern="1200" dirty="0"/>
                        <a:t>청산종결등기가 되었더라도 청산사무가 사실상 끝나지 아니한 경우에는 청산사무가 사실상 끝난 날과 </a:t>
                      </a:r>
                      <a:r>
                        <a:rPr lang="ko-KR" altLang="en-US" sz="1200" kern="1200" dirty="0" err="1"/>
                        <a:t>청산종결등기일부터</a:t>
                      </a:r>
                      <a:r>
                        <a:rPr lang="ko-KR" altLang="en-US" sz="1200" kern="1200" dirty="0"/>
                        <a:t> </a:t>
                      </a:r>
                      <a:r>
                        <a:rPr lang="en-US" altLang="ko-KR" sz="1200" kern="1200" dirty="0"/>
                        <a:t>6</a:t>
                      </a:r>
                      <a:r>
                        <a:rPr lang="ko-KR" altLang="en-US" sz="1200" kern="1200" dirty="0"/>
                        <a:t>개월이 지난 날 중 빠른 날로 한다</a:t>
                      </a:r>
                      <a:r>
                        <a:rPr lang="en-US" altLang="ko-KR" sz="1200" kern="1200" dirty="0"/>
                        <a:t>)</a:t>
                      </a:r>
                      <a:r>
                        <a:rPr lang="ko-KR" altLang="en-US" sz="1200" kern="1200" dirty="0"/>
                        <a:t>까지 </a:t>
                      </a:r>
                      <a:r>
                        <a:rPr lang="ko-KR" altLang="en-US" sz="1200" kern="1200" dirty="0" err="1"/>
                        <a:t>이전등록하지</a:t>
                      </a:r>
                      <a:r>
                        <a:rPr lang="ko-KR" altLang="en-US" sz="1200" kern="1200" dirty="0"/>
                        <a:t> 아니한 경우 그 다음 날 소멸</a:t>
                      </a:r>
                      <a:r>
                        <a:rPr lang="en-US" altLang="ko-KR" sz="1200" kern="1200" dirty="0"/>
                        <a:t>)(</a:t>
                      </a:r>
                      <a:r>
                        <a:rPr lang="ko-KR" altLang="en-US" sz="1200" kern="1200" dirty="0"/>
                        <a:t>法 </a:t>
                      </a:r>
                      <a:r>
                        <a:rPr lang="en-US" altLang="ko-KR" sz="1200" kern="1200" dirty="0"/>
                        <a:t>124) </a:t>
                      </a:r>
                    </a:p>
                  </a:txBody>
                  <a:tcPr marL="64770" marR="64770" marT="17907" marB="17907" anchor="ctr"/>
                </a:tc>
                <a:tc>
                  <a:txBody>
                    <a:bodyPr/>
                    <a:lstStyle/>
                    <a:p>
                      <a:pPr marL="171450" marR="17780" indent="-171450" algn="just" fontAlgn="base" latinLnBrk="1">
                        <a:lnSpc>
                          <a:spcPct val="130000"/>
                        </a:lnSpc>
                        <a:spcBef>
                          <a:spcPts val="0"/>
                        </a:spcBef>
                        <a:spcAft>
                          <a:spcPts val="0"/>
                        </a:spcAft>
                        <a:buFontTx/>
                        <a:buChar char="-"/>
                      </a:pPr>
                      <a:r>
                        <a:rPr lang="ko-KR" altLang="en-US" sz="1200" kern="1200" dirty="0"/>
                        <a:t>특허취소신청에 의한 취소결정의 확정</a:t>
                      </a:r>
                      <a:endParaRPr lang="en-US" altLang="ko-KR" sz="1200" kern="1200" dirty="0"/>
                    </a:p>
                    <a:p>
                      <a:pPr marL="171450" marR="17780" indent="-171450" algn="just" fontAlgn="base" latinLnBrk="1">
                        <a:lnSpc>
                          <a:spcPct val="130000"/>
                        </a:lnSpc>
                        <a:spcBef>
                          <a:spcPts val="0"/>
                        </a:spcBef>
                        <a:spcAft>
                          <a:spcPts val="0"/>
                        </a:spcAft>
                        <a:buFontTx/>
                        <a:buChar char="-"/>
                      </a:pPr>
                      <a:r>
                        <a:rPr lang="ko-KR" altLang="en-US" sz="1200" kern="1200" dirty="0"/>
                        <a:t>특허무효심판에 의한 </a:t>
                      </a:r>
                      <a:r>
                        <a:rPr lang="ko-KR" altLang="en-US" sz="1200" kern="1200" dirty="0" err="1"/>
                        <a:t>무효심결의</a:t>
                      </a:r>
                      <a:r>
                        <a:rPr lang="ko-KR" altLang="en-US" sz="1200" kern="1200" dirty="0"/>
                        <a:t> 확정</a:t>
                      </a:r>
                      <a:r>
                        <a:rPr lang="en-US" altLang="ko-KR" sz="1200" kern="1200" dirty="0"/>
                        <a:t>(</a:t>
                      </a:r>
                      <a:r>
                        <a:rPr lang="ko-KR" altLang="en-US" sz="1200" kern="1200" dirty="0"/>
                        <a:t>후발적 무효사유는 제외</a:t>
                      </a:r>
                      <a:r>
                        <a:rPr lang="en-US" altLang="ko-KR" sz="1200" kern="1200" dirty="0"/>
                        <a:t>)</a:t>
                      </a:r>
                      <a:endParaRPr lang="ko-KR" altLang="en-US" sz="12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1"/>
                  </a:ext>
                </a:extLst>
              </a:tr>
              <a:tr h="2136555">
                <a:tc>
                  <a:txBody>
                    <a:bodyPr/>
                    <a:lstStyle/>
                    <a:p>
                      <a:pPr marL="0" marR="0" indent="0" algn="ctr" fontAlgn="base" latinLnBrk="0">
                        <a:lnSpc>
                          <a:spcPct val="130000"/>
                        </a:lnSpc>
                        <a:spcBef>
                          <a:spcPts val="0"/>
                        </a:spcBef>
                        <a:spcAft>
                          <a:spcPts val="0"/>
                        </a:spcAft>
                      </a:pPr>
                      <a:r>
                        <a:rPr lang="ko-KR" altLang="en-US" sz="1200" kern="1200"/>
                        <a:t>효과</a:t>
                      </a:r>
                      <a:endParaRPr lang="ko-KR" altLang="en-US" sz="1200" kern="1200">
                        <a:solidFill>
                          <a:schemeClr val="tx2"/>
                        </a:solidFill>
                        <a:latin typeface="+mn-lt"/>
                        <a:ea typeface="+mn-ea"/>
                        <a:cs typeface="+mn-cs"/>
                      </a:endParaRPr>
                    </a:p>
                  </a:txBody>
                  <a:tcPr marL="64770" marR="64770" marT="17907" marB="17907" anchor="ctr"/>
                </a:tc>
                <a:tc>
                  <a:txBody>
                    <a:bodyPr/>
                    <a:lstStyle/>
                    <a:p>
                      <a:pPr marL="182563" marR="17780" indent="-182563" algn="just" fontAlgn="base" latinLnBrk="1">
                        <a:lnSpc>
                          <a:spcPct val="130000"/>
                        </a:lnSpc>
                        <a:spcBef>
                          <a:spcPts val="0"/>
                        </a:spcBef>
                        <a:spcAft>
                          <a:spcPts val="0"/>
                        </a:spcAft>
                      </a:pPr>
                      <a:r>
                        <a:rPr lang="en-US" altLang="ko-KR" sz="1200" kern="1200" dirty="0"/>
                        <a:t>1. </a:t>
                      </a:r>
                      <a:r>
                        <a:rPr lang="ko-KR" altLang="en-US" sz="1200" kern="1200" dirty="0"/>
                        <a:t>특허권 존속기간 만료 후의 디자인보호법상 </a:t>
                      </a:r>
                      <a:r>
                        <a:rPr lang="ko-KR" altLang="en-US" sz="1200" kern="1200" dirty="0" err="1"/>
                        <a:t>법정실시권</a:t>
                      </a:r>
                      <a:r>
                        <a:rPr lang="ko-KR" altLang="en-US" sz="1200" kern="1200" dirty="0"/>
                        <a:t> 인정</a:t>
                      </a:r>
                      <a:r>
                        <a:rPr lang="en-US" altLang="ko-KR" sz="1200" kern="1200" dirty="0"/>
                        <a:t>(</a:t>
                      </a:r>
                      <a:r>
                        <a:rPr lang="ko-KR" altLang="en-US" sz="1200" kern="1200" dirty="0"/>
                        <a:t>디자인 </a:t>
                      </a:r>
                      <a:r>
                        <a:rPr lang="en-US" altLang="ko-KR" sz="1200" kern="1200" dirty="0"/>
                        <a:t>103</a:t>
                      </a:r>
                      <a:r>
                        <a:rPr lang="ko-KR" altLang="en-US" sz="1200" kern="1200" dirty="0"/>
                        <a:t>③④</a:t>
                      </a:r>
                      <a:r>
                        <a:rPr lang="en-US" altLang="ko-KR" sz="1200" kern="1200" dirty="0"/>
                        <a:t>)</a:t>
                      </a:r>
                      <a:endParaRPr lang="ko-KR" altLang="en-US" sz="1200" kern="1200" dirty="0"/>
                    </a:p>
                    <a:p>
                      <a:pPr marL="120650" marR="17780" indent="-120650" algn="just" fontAlgn="base" latinLnBrk="1">
                        <a:lnSpc>
                          <a:spcPct val="130000"/>
                        </a:lnSpc>
                        <a:spcBef>
                          <a:spcPts val="0"/>
                        </a:spcBef>
                        <a:spcAft>
                          <a:spcPts val="0"/>
                        </a:spcAft>
                      </a:pPr>
                      <a:r>
                        <a:rPr lang="en-US" altLang="ko-KR" sz="1200" kern="1200" dirty="0"/>
                        <a:t>2. </a:t>
                      </a:r>
                      <a:r>
                        <a:rPr lang="ko-KR" altLang="en-US" sz="1200" kern="1200" dirty="0"/>
                        <a:t>특허권 존속기간 만료 후의 상표법상 법정사용권 인정</a:t>
                      </a:r>
                      <a:r>
                        <a:rPr lang="en-US" altLang="ko-KR" sz="1200" kern="1200" dirty="0"/>
                        <a:t>(</a:t>
                      </a:r>
                      <a:r>
                        <a:rPr lang="ko-KR" altLang="en-US" sz="1200" kern="1200" dirty="0"/>
                        <a:t>商標 </a:t>
                      </a:r>
                      <a:r>
                        <a:rPr lang="en-US" altLang="ko-KR" sz="1200" kern="1200" dirty="0"/>
                        <a:t>98)</a:t>
                      </a:r>
                      <a:endParaRPr lang="ko-KR" altLang="en-US" sz="1200" kern="1200" dirty="0"/>
                    </a:p>
                    <a:p>
                      <a:pPr marL="182563" marR="17780" indent="-182563" algn="just" fontAlgn="base" latinLnBrk="1">
                        <a:lnSpc>
                          <a:spcPct val="130000"/>
                        </a:lnSpc>
                        <a:spcBef>
                          <a:spcPts val="0"/>
                        </a:spcBef>
                        <a:spcAft>
                          <a:spcPts val="0"/>
                        </a:spcAft>
                      </a:pPr>
                      <a:r>
                        <a:rPr lang="en-US" altLang="ko-KR" sz="1200" kern="1200" dirty="0"/>
                        <a:t>3. </a:t>
                      </a:r>
                      <a:r>
                        <a:rPr lang="ko-KR" altLang="en-US" sz="1200" kern="1200" dirty="0"/>
                        <a:t>특허료의 추가납부 또는 보전에 의하여 회복한 특허출원과 특허권의 효력 제한 및 법정실시권 인정</a:t>
                      </a:r>
                      <a:r>
                        <a:rPr lang="en-US" altLang="ko-KR" sz="1200" kern="1200" dirty="0"/>
                        <a:t>(</a:t>
                      </a:r>
                      <a:r>
                        <a:rPr lang="ko-KR" altLang="en-US" sz="1200" kern="1200" dirty="0"/>
                        <a:t>法 </a:t>
                      </a:r>
                      <a:r>
                        <a:rPr lang="en-US" altLang="ko-KR" sz="1200" kern="1200" dirty="0"/>
                        <a:t>81</a:t>
                      </a:r>
                      <a:r>
                        <a:rPr lang="ko-KR" altLang="en-US" sz="1200" kern="1200" dirty="0"/>
                        <a:t>의</a:t>
                      </a:r>
                      <a:r>
                        <a:rPr lang="en-US" altLang="ko-KR" sz="1200" kern="1200" dirty="0"/>
                        <a:t>3)</a:t>
                      </a:r>
                      <a:endParaRPr lang="ko-KR" altLang="en-US" sz="1200" kern="1200" dirty="0">
                        <a:solidFill>
                          <a:schemeClr val="tx2"/>
                        </a:solidFill>
                        <a:latin typeface="+mn-lt"/>
                        <a:ea typeface="+mn-ea"/>
                        <a:cs typeface="+mn-cs"/>
                      </a:endParaRPr>
                    </a:p>
                  </a:txBody>
                  <a:tcPr marL="64770" marR="64770" marT="17907" marB="17907" anchor="ctr"/>
                </a:tc>
                <a:tc>
                  <a:txBody>
                    <a:bodyPr/>
                    <a:lstStyle/>
                    <a:p>
                      <a:pPr marL="17780" marR="17780" indent="0" algn="just" fontAlgn="base" latinLnBrk="1">
                        <a:lnSpc>
                          <a:spcPct val="130000"/>
                        </a:lnSpc>
                        <a:spcBef>
                          <a:spcPts val="0"/>
                        </a:spcBef>
                        <a:spcAft>
                          <a:spcPts val="0"/>
                        </a:spcAft>
                      </a:pPr>
                      <a:r>
                        <a:rPr lang="en-US" altLang="ko-KR" sz="1200" kern="1200" dirty="0"/>
                        <a:t>1. </a:t>
                      </a:r>
                      <a:r>
                        <a:rPr lang="ko-KR" altLang="en-US" sz="1200" kern="1200" dirty="0"/>
                        <a:t>보상금청구권의 소멸</a:t>
                      </a:r>
                      <a:r>
                        <a:rPr lang="en-US" altLang="ko-KR" sz="1200" kern="1200" dirty="0"/>
                        <a:t>(</a:t>
                      </a:r>
                      <a:r>
                        <a:rPr lang="ko-KR" altLang="en-US" sz="1200" kern="1200" dirty="0"/>
                        <a:t>法 </a:t>
                      </a:r>
                      <a:r>
                        <a:rPr lang="en-US" altLang="ko-KR" sz="1200" kern="1200" dirty="0"/>
                        <a:t>65</a:t>
                      </a:r>
                      <a:r>
                        <a:rPr lang="ko-KR" altLang="en-US" sz="1200" kern="1200" dirty="0"/>
                        <a:t>⑥</a:t>
                      </a:r>
                      <a:r>
                        <a:rPr lang="en-US" altLang="ko-KR" sz="1200" kern="1200" dirty="0"/>
                        <a:t>)</a:t>
                      </a:r>
                      <a:endParaRPr lang="ko-KR" altLang="en-US" sz="1200" kern="1200" dirty="0"/>
                    </a:p>
                    <a:p>
                      <a:pPr marL="182563" marR="17780" indent="-182563" algn="just" fontAlgn="base" latinLnBrk="1">
                        <a:lnSpc>
                          <a:spcPct val="130000"/>
                        </a:lnSpc>
                        <a:spcBef>
                          <a:spcPts val="0"/>
                        </a:spcBef>
                        <a:spcAft>
                          <a:spcPts val="0"/>
                        </a:spcAft>
                      </a:pPr>
                      <a:r>
                        <a:rPr lang="en-US" altLang="ko-KR" sz="1200" kern="1200" dirty="0"/>
                        <a:t>2. </a:t>
                      </a:r>
                      <a:r>
                        <a:rPr lang="ko-KR" altLang="en-US" sz="1200" kern="1200" dirty="0"/>
                        <a:t>소급 소멸 전 침해소송은 재심의 대상이며</a:t>
                      </a:r>
                      <a:r>
                        <a:rPr lang="en-US" altLang="ko-KR" sz="1200" kern="1200" dirty="0"/>
                        <a:t>, </a:t>
                      </a:r>
                      <a:r>
                        <a:rPr lang="ko-KR" altLang="en-US" sz="1200" kern="1200" dirty="0" err="1"/>
                        <a:t>특허권자에게는</a:t>
                      </a:r>
                      <a:r>
                        <a:rPr lang="ko-KR" altLang="en-US" sz="1200" kern="1200" dirty="0"/>
                        <a:t> 손해배상책임 또는 부당이득반환청구 가능 </a:t>
                      </a:r>
                    </a:p>
                    <a:p>
                      <a:pPr marL="182563" marR="17780" indent="-182563" algn="just" fontAlgn="base" latinLnBrk="1">
                        <a:lnSpc>
                          <a:spcPct val="130000"/>
                        </a:lnSpc>
                        <a:spcBef>
                          <a:spcPts val="0"/>
                        </a:spcBef>
                        <a:spcAft>
                          <a:spcPts val="0"/>
                        </a:spcAft>
                      </a:pPr>
                      <a:r>
                        <a:rPr lang="en-US" altLang="ko-KR" sz="1200" kern="1200" dirty="0"/>
                        <a:t>3. </a:t>
                      </a:r>
                      <a:r>
                        <a:rPr lang="ko-KR" altLang="en-US" sz="1200" kern="1200" dirty="0"/>
                        <a:t>특허취소결정 또는 </a:t>
                      </a:r>
                      <a:r>
                        <a:rPr lang="ko-KR" altLang="en-US" sz="1200" kern="1200" dirty="0" err="1"/>
                        <a:t>무효심결</a:t>
                      </a:r>
                      <a:r>
                        <a:rPr lang="ko-KR" altLang="en-US" sz="1200" kern="1200" dirty="0"/>
                        <a:t> 확정 후 재심에 의하여 상반된 결정 또는 </a:t>
                      </a:r>
                      <a:r>
                        <a:rPr lang="ko-KR" altLang="en-US" sz="1200" kern="1200" dirty="0" err="1"/>
                        <a:t>심결이</a:t>
                      </a:r>
                      <a:r>
                        <a:rPr lang="ko-KR" altLang="en-US" sz="1200" kern="1200" dirty="0"/>
                        <a:t> 확정된 경우 효력 제한 및 </a:t>
                      </a:r>
                      <a:r>
                        <a:rPr lang="ko-KR" altLang="en-US" sz="1200" kern="1200" dirty="0" err="1"/>
                        <a:t>법정실시권</a:t>
                      </a:r>
                      <a:r>
                        <a:rPr lang="ko-KR" altLang="en-US" sz="1200" kern="1200" dirty="0"/>
                        <a:t> 인정</a:t>
                      </a:r>
                      <a:r>
                        <a:rPr lang="en-US" altLang="ko-KR" sz="1200" kern="1200" dirty="0"/>
                        <a:t>(</a:t>
                      </a:r>
                      <a:r>
                        <a:rPr lang="ko-KR" altLang="en-US" sz="1200" kern="1200" dirty="0"/>
                        <a:t>法 </a:t>
                      </a:r>
                      <a:r>
                        <a:rPr lang="en-US" altLang="ko-KR" sz="1200" kern="1200" dirty="0"/>
                        <a:t>181, 182)</a:t>
                      </a:r>
                      <a:endParaRPr lang="ko-KR" altLang="en-US" sz="1200" kern="1200" dirty="0"/>
                    </a:p>
                    <a:p>
                      <a:pPr marL="17780" marR="17780" indent="0" algn="just" fontAlgn="base" latinLnBrk="1">
                        <a:lnSpc>
                          <a:spcPct val="130000"/>
                        </a:lnSpc>
                        <a:spcBef>
                          <a:spcPts val="0"/>
                        </a:spcBef>
                        <a:spcAft>
                          <a:spcPts val="0"/>
                        </a:spcAft>
                      </a:pPr>
                      <a:r>
                        <a:rPr lang="en-US" altLang="ko-KR" sz="1200" kern="1200" dirty="0"/>
                        <a:t>4. </a:t>
                      </a:r>
                      <a:r>
                        <a:rPr lang="ko-KR" altLang="en-US" sz="1200" kern="1200" dirty="0" err="1"/>
                        <a:t>무효심결확정된</a:t>
                      </a:r>
                      <a:r>
                        <a:rPr lang="ko-KR" altLang="en-US" sz="1200" kern="1200" dirty="0"/>
                        <a:t> 경우 중용권의 발생</a:t>
                      </a:r>
                      <a:r>
                        <a:rPr lang="en-US" altLang="ko-KR" sz="1200" kern="1200" dirty="0"/>
                        <a:t>(</a:t>
                      </a:r>
                      <a:r>
                        <a:rPr lang="ko-KR" altLang="en-US" sz="1200" kern="1200" dirty="0"/>
                        <a:t>法 </a:t>
                      </a:r>
                      <a:r>
                        <a:rPr lang="en-US" altLang="ko-KR" sz="1200" kern="1200" dirty="0"/>
                        <a:t>104)</a:t>
                      </a:r>
                      <a:endParaRPr lang="ko-KR" altLang="en-US" sz="1200" kern="1200" dirty="0"/>
                    </a:p>
                    <a:p>
                      <a:pPr marL="128270" marR="17780" indent="-128270" algn="just" fontAlgn="base" latinLnBrk="1">
                        <a:lnSpc>
                          <a:spcPct val="130000"/>
                        </a:lnSpc>
                        <a:spcBef>
                          <a:spcPts val="0"/>
                        </a:spcBef>
                        <a:spcAft>
                          <a:spcPts val="0"/>
                        </a:spcAft>
                      </a:pPr>
                      <a:r>
                        <a:rPr lang="en-US" altLang="ko-KR" sz="1200" kern="1200" dirty="0"/>
                        <a:t>5. </a:t>
                      </a:r>
                      <a:r>
                        <a:rPr lang="ko-KR" altLang="en-US" sz="1200" kern="1200" dirty="0" err="1"/>
                        <a:t>무권리자의</a:t>
                      </a:r>
                      <a:r>
                        <a:rPr lang="ko-KR" altLang="en-US" sz="1200" kern="1200" dirty="0"/>
                        <a:t> 특허가 </a:t>
                      </a:r>
                      <a:r>
                        <a:rPr lang="ko-KR" altLang="en-US" sz="1200" kern="1200" dirty="0" err="1"/>
                        <a:t>무효심결확정된</a:t>
                      </a:r>
                      <a:r>
                        <a:rPr lang="ko-KR" altLang="en-US" sz="1200" kern="1200" dirty="0"/>
                        <a:t> 경우 정당한 권리자 출원 가능</a:t>
                      </a:r>
                      <a:r>
                        <a:rPr lang="en-US" altLang="ko-KR" sz="1200" kern="1200" dirty="0"/>
                        <a:t>(</a:t>
                      </a:r>
                      <a:r>
                        <a:rPr lang="ko-KR" altLang="en-US" sz="1200" kern="1200" dirty="0"/>
                        <a:t>法 </a:t>
                      </a:r>
                      <a:r>
                        <a:rPr lang="en-US" altLang="ko-KR" sz="1200" kern="1200" dirty="0"/>
                        <a:t>35)</a:t>
                      </a:r>
                      <a:endParaRPr lang="ko-KR" altLang="en-US" sz="1200" kern="1200" dirty="0"/>
                    </a:p>
                    <a:p>
                      <a:pPr marL="182563" marR="17780" indent="-182563" algn="just" fontAlgn="base" latinLnBrk="1">
                        <a:lnSpc>
                          <a:spcPct val="130000"/>
                        </a:lnSpc>
                        <a:spcBef>
                          <a:spcPts val="0"/>
                        </a:spcBef>
                        <a:spcAft>
                          <a:spcPts val="0"/>
                        </a:spcAft>
                      </a:pPr>
                      <a:r>
                        <a:rPr lang="en-US" altLang="ko-KR" sz="1200" kern="1200" dirty="0"/>
                        <a:t>6. </a:t>
                      </a:r>
                      <a:r>
                        <a:rPr lang="ko-KR" altLang="en-US" sz="1200" kern="1200" dirty="0"/>
                        <a:t>특허취소결정 또는 </a:t>
                      </a:r>
                      <a:r>
                        <a:rPr lang="ko-KR" altLang="en-US" sz="1200" kern="1200" dirty="0" err="1"/>
                        <a:t>무효심결이</a:t>
                      </a:r>
                      <a:r>
                        <a:rPr lang="ko-KR" altLang="en-US" sz="1200" kern="1200" dirty="0"/>
                        <a:t> 확정된 해의 다음 해부터의 특허료 </a:t>
                      </a:r>
                      <a:r>
                        <a:rPr lang="ko-KR" altLang="en-US" sz="1200" kern="1200" dirty="0" err="1"/>
                        <a:t>해당분의</a:t>
                      </a:r>
                      <a:r>
                        <a:rPr lang="ko-KR" altLang="en-US" sz="1200" kern="1200" dirty="0"/>
                        <a:t> 반환 청구 가능</a:t>
                      </a:r>
                      <a:r>
                        <a:rPr lang="en-US" altLang="ko-KR" sz="1200" kern="1200" dirty="0"/>
                        <a:t>(</a:t>
                      </a:r>
                      <a:r>
                        <a:rPr lang="ko-KR" altLang="en-US" sz="1200" kern="1200" dirty="0"/>
                        <a:t>法 </a:t>
                      </a:r>
                      <a:r>
                        <a:rPr lang="en-US" altLang="ko-KR" sz="1200" kern="1200" dirty="0"/>
                        <a:t>84)</a:t>
                      </a:r>
                      <a:endParaRPr lang="ko-KR" altLang="en-US" sz="12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0002"/>
                  </a:ext>
                </a:extLst>
              </a:tr>
            </a:tbl>
          </a:graphicData>
        </a:graphic>
      </p:graphicFrame>
      <p:sp>
        <p:nvSpPr>
          <p:cNvPr id="7" name="직사각형 6"/>
          <p:cNvSpPr/>
          <p:nvPr/>
        </p:nvSpPr>
        <p:spPr>
          <a:xfrm>
            <a:off x="8934450"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기</a:t>
            </a:r>
          </a:p>
        </p:txBody>
      </p:sp>
      <p:sp>
        <p:nvSpPr>
          <p:cNvPr id="8" name="직사각형 7"/>
          <p:cNvSpPr/>
          <p:nvPr/>
        </p:nvSpPr>
        <p:spPr>
          <a:xfrm>
            <a:off x="9561203"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포</a:t>
            </a:r>
          </a:p>
        </p:txBody>
      </p:sp>
      <p:sp>
        <p:nvSpPr>
          <p:cNvPr id="9" name="직사각형 8"/>
          <p:cNvSpPr/>
          <p:nvPr/>
        </p:nvSpPr>
        <p:spPr>
          <a:xfrm>
            <a:off x="10187956"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상</a:t>
            </a:r>
          </a:p>
        </p:txBody>
      </p:sp>
      <p:sp>
        <p:nvSpPr>
          <p:cNvPr id="10" name="직사각형 9"/>
          <p:cNvSpPr/>
          <p:nvPr/>
        </p:nvSpPr>
        <p:spPr>
          <a:xfrm>
            <a:off x="10803760"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err="1"/>
              <a:t>취</a:t>
            </a:r>
            <a:endParaRPr lang="ko-KR" altLang="en-US" dirty="0"/>
          </a:p>
        </p:txBody>
      </p:sp>
      <p:sp>
        <p:nvSpPr>
          <p:cNvPr id="11" name="직사각형 10"/>
          <p:cNvSpPr/>
          <p:nvPr/>
        </p:nvSpPr>
        <p:spPr>
          <a:xfrm>
            <a:off x="11394310" y="6181761"/>
            <a:ext cx="514350" cy="514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무</a:t>
            </a:r>
          </a:p>
        </p:txBody>
      </p:sp>
      <p:sp>
        <p:nvSpPr>
          <p:cNvPr id="12" name="직사각형 11"/>
          <p:cNvSpPr/>
          <p:nvPr/>
        </p:nvSpPr>
        <p:spPr>
          <a:xfrm>
            <a:off x="8279130" y="6181761"/>
            <a:ext cx="514350" cy="51435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err="1"/>
              <a:t>특</a:t>
            </a:r>
            <a:endParaRPr lang="ko-KR" altLang="en-US" dirty="0"/>
          </a:p>
        </p:txBody>
      </p:sp>
      <p:sp>
        <p:nvSpPr>
          <p:cNvPr id="2" name="슬라이드 번호 개체 틀 1"/>
          <p:cNvSpPr>
            <a:spLocks noGrp="1"/>
          </p:cNvSpPr>
          <p:nvPr>
            <p:ph type="sldNum" sz="quarter" idx="12"/>
          </p:nvPr>
        </p:nvSpPr>
        <p:spPr/>
        <p:txBody>
          <a:bodyPr/>
          <a:lstStyle/>
          <a:p>
            <a:r>
              <a:rPr lang="en-US" altLang="ko-KR"/>
              <a:t>424</a:t>
            </a:r>
            <a:endParaRPr lang="ko-KR" altLang="en-US"/>
          </a:p>
        </p:txBody>
      </p:sp>
    </p:spTree>
    <p:extLst>
      <p:ext uri="{BB962C8B-B14F-4D97-AF65-F5344CB8AC3E}">
        <p14:creationId xmlns:p14="http://schemas.microsoft.com/office/powerpoint/2010/main" val="820080783"/>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특허권 체계</a:t>
            </a:r>
            <a:r>
              <a:rPr lang="en-US" altLang="ko-KR" dirty="0"/>
              <a:t>: </a:t>
            </a:r>
            <a:r>
              <a:rPr lang="ko-KR" altLang="en-US" dirty="0"/>
              <a:t>제</a:t>
            </a:r>
            <a:r>
              <a:rPr lang="en-US" altLang="ko-KR" dirty="0"/>
              <a:t>4</a:t>
            </a:r>
            <a:r>
              <a:rPr lang="ko-KR" altLang="en-US" dirty="0"/>
              <a:t>장</a:t>
            </a:r>
            <a:r>
              <a:rPr lang="en-US" altLang="ko-KR" dirty="0"/>
              <a:t>~</a:t>
            </a:r>
            <a:r>
              <a:rPr lang="ko-KR" altLang="en-US" dirty="0"/>
              <a:t>제</a:t>
            </a:r>
            <a:r>
              <a:rPr lang="en-US" altLang="ko-KR" dirty="0"/>
              <a:t>6</a:t>
            </a:r>
            <a:r>
              <a:rPr lang="ko-KR" altLang="en-US" dirty="0"/>
              <a:t>장</a:t>
            </a:r>
            <a:r>
              <a:rPr lang="en-US" altLang="ko-KR" dirty="0"/>
              <a:t>, </a:t>
            </a:r>
            <a:r>
              <a:rPr lang="ko-KR" altLang="en-US" dirty="0"/>
              <a:t>제</a:t>
            </a:r>
            <a:r>
              <a:rPr lang="en-US" altLang="ko-KR" dirty="0"/>
              <a:t>12</a:t>
            </a:r>
            <a:r>
              <a:rPr lang="ko-KR" altLang="en-US" dirty="0"/>
              <a:t>장</a:t>
            </a:r>
          </a:p>
        </p:txBody>
      </p:sp>
      <p:sp>
        <p:nvSpPr>
          <p:cNvPr id="31" name="직사각형 30"/>
          <p:cNvSpPr/>
          <p:nvPr/>
        </p:nvSpPr>
        <p:spPr>
          <a:xfrm>
            <a:off x="258351" y="3217998"/>
            <a:ext cx="1056099" cy="940625"/>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2400"/>
              <a:t>특허권</a:t>
            </a:r>
            <a:endParaRPr lang="ko-KR" altLang="en-US" sz="2400" dirty="0"/>
          </a:p>
        </p:txBody>
      </p:sp>
      <p:sp>
        <p:nvSpPr>
          <p:cNvPr id="39" name="직사각형 38"/>
          <p:cNvSpPr/>
          <p:nvPr/>
        </p:nvSpPr>
        <p:spPr>
          <a:xfrm>
            <a:off x="1720428" y="1098425"/>
            <a:ext cx="548639" cy="411563"/>
          </a:xfrm>
          <a:prstGeom prst="rect">
            <a:avLst/>
          </a:prstGeom>
          <a:solidFill>
            <a:schemeClr val="accent4">
              <a:lumMod val="40000"/>
              <a:lumOff val="6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발생</a:t>
            </a:r>
          </a:p>
        </p:txBody>
      </p:sp>
      <p:sp>
        <p:nvSpPr>
          <p:cNvPr id="26" name="직사각형 25"/>
          <p:cNvSpPr/>
          <p:nvPr/>
        </p:nvSpPr>
        <p:spPr>
          <a:xfrm>
            <a:off x="1720428" y="2034892"/>
            <a:ext cx="548639" cy="411563"/>
          </a:xfrm>
          <a:prstGeom prst="rect">
            <a:avLst/>
          </a:prstGeom>
          <a:solidFill>
            <a:schemeClr val="accent4">
              <a:lumMod val="40000"/>
              <a:lumOff val="6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효력</a:t>
            </a:r>
          </a:p>
        </p:txBody>
      </p:sp>
      <p:sp>
        <p:nvSpPr>
          <p:cNvPr id="27" name="직사각형 26"/>
          <p:cNvSpPr/>
          <p:nvPr/>
        </p:nvSpPr>
        <p:spPr>
          <a:xfrm>
            <a:off x="1720428" y="3801032"/>
            <a:ext cx="548639" cy="411563"/>
          </a:xfrm>
          <a:prstGeom prst="rect">
            <a:avLst/>
          </a:prstGeom>
          <a:solidFill>
            <a:schemeClr val="accent4">
              <a:lumMod val="40000"/>
              <a:lumOff val="6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변동</a:t>
            </a:r>
          </a:p>
        </p:txBody>
      </p:sp>
      <p:sp>
        <p:nvSpPr>
          <p:cNvPr id="28" name="직사각형 27"/>
          <p:cNvSpPr/>
          <p:nvPr/>
        </p:nvSpPr>
        <p:spPr>
          <a:xfrm>
            <a:off x="1720428" y="5016895"/>
            <a:ext cx="548639" cy="411563"/>
          </a:xfrm>
          <a:prstGeom prst="rect">
            <a:avLst/>
          </a:prstGeom>
          <a:solidFill>
            <a:schemeClr val="accent4">
              <a:lumMod val="40000"/>
              <a:lumOff val="6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소멸</a:t>
            </a:r>
          </a:p>
        </p:txBody>
      </p:sp>
      <p:sp>
        <p:nvSpPr>
          <p:cNvPr id="29" name="직사각형 28"/>
          <p:cNvSpPr/>
          <p:nvPr/>
        </p:nvSpPr>
        <p:spPr>
          <a:xfrm>
            <a:off x="1720428" y="5946535"/>
            <a:ext cx="548639" cy="411563"/>
          </a:xfrm>
          <a:prstGeom prst="rect">
            <a:avLst/>
          </a:prstGeom>
          <a:solidFill>
            <a:schemeClr val="accent4">
              <a:lumMod val="40000"/>
              <a:lumOff val="6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200" dirty="0">
                <a:solidFill>
                  <a:schemeClr val="tx1"/>
                </a:solidFill>
              </a:rPr>
              <a:t>관련</a:t>
            </a:r>
          </a:p>
        </p:txBody>
      </p:sp>
      <p:cxnSp>
        <p:nvCxnSpPr>
          <p:cNvPr id="8" name="꺾인 연결선 7"/>
          <p:cNvCxnSpPr>
            <a:stCxn id="31" idx="3"/>
            <a:endCxn id="39" idx="1"/>
          </p:cNvCxnSpPr>
          <p:nvPr/>
        </p:nvCxnSpPr>
        <p:spPr>
          <a:xfrm flipV="1">
            <a:off x="1314450" y="1304207"/>
            <a:ext cx="405978" cy="238410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꺾인 연결선 9"/>
          <p:cNvCxnSpPr>
            <a:stCxn id="31" idx="3"/>
            <a:endCxn id="29" idx="1"/>
          </p:cNvCxnSpPr>
          <p:nvPr/>
        </p:nvCxnSpPr>
        <p:spPr>
          <a:xfrm>
            <a:off x="1314450" y="3688311"/>
            <a:ext cx="405978" cy="246400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꺾인 연결선 11"/>
          <p:cNvCxnSpPr>
            <a:stCxn id="31" idx="3"/>
            <a:endCxn id="26" idx="1"/>
          </p:cNvCxnSpPr>
          <p:nvPr/>
        </p:nvCxnSpPr>
        <p:spPr>
          <a:xfrm flipV="1">
            <a:off x="1314450" y="2240674"/>
            <a:ext cx="405978" cy="144763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꺾인 연결선 13"/>
          <p:cNvCxnSpPr>
            <a:stCxn id="31" idx="3"/>
            <a:endCxn id="28" idx="1"/>
          </p:cNvCxnSpPr>
          <p:nvPr/>
        </p:nvCxnSpPr>
        <p:spPr>
          <a:xfrm>
            <a:off x="1314450" y="3688311"/>
            <a:ext cx="405978" cy="153436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꺾인 연결선 15"/>
          <p:cNvCxnSpPr>
            <a:stCxn id="31" idx="3"/>
            <a:endCxn id="27" idx="1"/>
          </p:cNvCxnSpPr>
          <p:nvPr/>
        </p:nvCxnSpPr>
        <p:spPr>
          <a:xfrm>
            <a:off x="1314450" y="3688311"/>
            <a:ext cx="405978" cy="31850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직사각형 49"/>
          <p:cNvSpPr/>
          <p:nvPr/>
        </p:nvSpPr>
        <p:spPr>
          <a:xfrm>
            <a:off x="2496554" y="980649"/>
            <a:ext cx="1855313"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특허료의 납부 등</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79~86)</a:t>
            </a:r>
            <a:endParaRPr lang="ko-KR" altLang="en-US" sz="1100" dirty="0">
              <a:solidFill>
                <a:schemeClr val="tx2"/>
              </a:solidFill>
            </a:endParaRPr>
          </a:p>
        </p:txBody>
      </p:sp>
      <p:sp>
        <p:nvSpPr>
          <p:cNvPr id="51" name="직사각형 50"/>
          <p:cNvSpPr/>
          <p:nvPr/>
        </p:nvSpPr>
        <p:spPr>
          <a:xfrm>
            <a:off x="2496554" y="1243466"/>
            <a:ext cx="1855313"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설정등록 및 등록공고</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87)</a:t>
            </a:r>
            <a:endParaRPr lang="ko-KR" altLang="en-US" sz="1100" dirty="0">
              <a:solidFill>
                <a:schemeClr val="tx2"/>
              </a:solidFill>
            </a:endParaRPr>
          </a:p>
        </p:txBody>
      </p:sp>
      <p:sp>
        <p:nvSpPr>
          <p:cNvPr id="52" name="직사각형 51"/>
          <p:cNvSpPr/>
          <p:nvPr/>
        </p:nvSpPr>
        <p:spPr>
          <a:xfrm>
            <a:off x="2496555" y="4427019"/>
            <a:ext cx="1719262"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질권</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121~123)</a:t>
            </a:r>
            <a:endParaRPr lang="ko-KR" altLang="en-US" sz="1100" dirty="0">
              <a:solidFill>
                <a:schemeClr val="tx2"/>
              </a:solidFill>
            </a:endParaRPr>
          </a:p>
        </p:txBody>
      </p:sp>
      <p:sp>
        <p:nvSpPr>
          <p:cNvPr id="53" name="직사각형 52"/>
          <p:cNvSpPr/>
          <p:nvPr/>
        </p:nvSpPr>
        <p:spPr>
          <a:xfrm>
            <a:off x="2502429" y="5426325"/>
            <a:ext cx="475192"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2"/>
                </a:solidFill>
              </a:rPr>
              <a:t>효과</a:t>
            </a:r>
          </a:p>
        </p:txBody>
      </p:sp>
      <p:sp>
        <p:nvSpPr>
          <p:cNvPr id="54" name="직사각형 53"/>
          <p:cNvSpPr/>
          <p:nvPr/>
        </p:nvSpPr>
        <p:spPr>
          <a:xfrm>
            <a:off x="2496555" y="1712973"/>
            <a:ext cx="576316"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2"/>
                </a:solidFill>
              </a:rPr>
              <a:t>범위</a:t>
            </a:r>
          </a:p>
        </p:txBody>
      </p:sp>
      <p:sp>
        <p:nvSpPr>
          <p:cNvPr id="55" name="직사각형 54"/>
          <p:cNvSpPr/>
          <p:nvPr/>
        </p:nvSpPr>
        <p:spPr>
          <a:xfrm>
            <a:off x="2496555" y="2794335"/>
            <a:ext cx="576316"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2"/>
                </a:solidFill>
              </a:rPr>
              <a:t>내용</a:t>
            </a:r>
          </a:p>
        </p:txBody>
      </p:sp>
      <p:sp>
        <p:nvSpPr>
          <p:cNvPr id="56" name="직사각형 55"/>
          <p:cNvSpPr/>
          <p:nvPr/>
        </p:nvSpPr>
        <p:spPr>
          <a:xfrm>
            <a:off x="2496555" y="4120663"/>
            <a:ext cx="1474256"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100" dirty="0" err="1">
                <a:solidFill>
                  <a:schemeClr val="tx2"/>
                </a:solidFill>
              </a:rPr>
              <a:t>실시권</a:t>
            </a:r>
            <a:endParaRPr lang="ko-KR" altLang="en-US" sz="1100" dirty="0">
              <a:solidFill>
                <a:schemeClr val="tx2"/>
              </a:solidFill>
            </a:endParaRPr>
          </a:p>
        </p:txBody>
      </p:sp>
      <p:sp>
        <p:nvSpPr>
          <p:cNvPr id="57" name="직사각형 56"/>
          <p:cNvSpPr/>
          <p:nvPr/>
        </p:nvSpPr>
        <p:spPr>
          <a:xfrm>
            <a:off x="2495550" y="5890827"/>
            <a:ext cx="1381125"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실시보고</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125)</a:t>
            </a:r>
            <a:endParaRPr lang="ko-KR" altLang="en-US" sz="1100" dirty="0">
              <a:solidFill>
                <a:schemeClr val="tx2"/>
              </a:solidFill>
            </a:endParaRPr>
          </a:p>
        </p:txBody>
      </p:sp>
      <p:sp>
        <p:nvSpPr>
          <p:cNvPr id="58" name="직사각형 57"/>
          <p:cNvSpPr/>
          <p:nvPr/>
        </p:nvSpPr>
        <p:spPr>
          <a:xfrm>
            <a:off x="2495550" y="6178410"/>
            <a:ext cx="1381125"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err="1">
                <a:solidFill>
                  <a:schemeClr val="tx2"/>
                </a:solidFill>
              </a:rPr>
              <a:t>집행권원</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125</a:t>
            </a:r>
            <a:r>
              <a:rPr lang="ko-KR" altLang="en-US" sz="1100" dirty="0">
                <a:solidFill>
                  <a:schemeClr val="tx2"/>
                </a:solidFill>
              </a:rPr>
              <a:t>의</a:t>
            </a:r>
            <a:r>
              <a:rPr lang="en-US" altLang="ko-KR" sz="1100" dirty="0">
                <a:solidFill>
                  <a:schemeClr val="tx2"/>
                </a:solidFill>
              </a:rPr>
              <a:t>2)</a:t>
            </a:r>
            <a:endParaRPr lang="ko-KR" altLang="en-US" sz="1100" dirty="0">
              <a:solidFill>
                <a:schemeClr val="tx2"/>
              </a:solidFill>
            </a:endParaRPr>
          </a:p>
        </p:txBody>
      </p:sp>
      <p:cxnSp>
        <p:nvCxnSpPr>
          <p:cNvPr id="20" name="꺾인 연결선 19"/>
          <p:cNvCxnSpPr>
            <a:stCxn id="39" idx="3"/>
            <a:endCxn id="50" idx="1"/>
          </p:cNvCxnSpPr>
          <p:nvPr/>
        </p:nvCxnSpPr>
        <p:spPr>
          <a:xfrm flipV="1">
            <a:off x="2269067" y="1115731"/>
            <a:ext cx="227487" cy="188476"/>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stCxn id="39" idx="3"/>
            <a:endCxn id="51" idx="1"/>
          </p:cNvCxnSpPr>
          <p:nvPr/>
        </p:nvCxnSpPr>
        <p:spPr>
          <a:xfrm>
            <a:off x="2269067" y="1304207"/>
            <a:ext cx="227487" cy="7434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stCxn id="26" idx="3"/>
            <a:endCxn id="54" idx="1"/>
          </p:cNvCxnSpPr>
          <p:nvPr/>
        </p:nvCxnSpPr>
        <p:spPr>
          <a:xfrm flipV="1">
            <a:off x="2269067" y="1848055"/>
            <a:ext cx="227488" cy="39261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stCxn id="26" idx="3"/>
            <a:endCxn id="55" idx="1"/>
          </p:cNvCxnSpPr>
          <p:nvPr/>
        </p:nvCxnSpPr>
        <p:spPr>
          <a:xfrm>
            <a:off x="2269067" y="2240674"/>
            <a:ext cx="227488" cy="68874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꺾인 연결선 73"/>
          <p:cNvCxnSpPr>
            <a:stCxn id="27" idx="3"/>
            <a:endCxn id="56" idx="1"/>
          </p:cNvCxnSpPr>
          <p:nvPr/>
        </p:nvCxnSpPr>
        <p:spPr>
          <a:xfrm>
            <a:off x="2269067" y="4006814"/>
            <a:ext cx="227488" cy="24893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꺾인 연결선 77"/>
          <p:cNvCxnSpPr>
            <a:stCxn id="28" idx="3"/>
            <a:endCxn id="53" idx="1"/>
          </p:cNvCxnSpPr>
          <p:nvPr/>
        </p:nvCxnSpPr>
        <p:spPr>
          <a:xfrm>
            <a:off x="2269067" y="5222677"/>
            <a:ext cx="233362" cy="33873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꺾인 연결선 79"/>
          <p:cNvCxnSpPr>
            <a:stCxn id="29" idx="3"/>
            <a:endCxn id="57" idx="1"/>
          </p:cNvCxnSpPr>
          <p:nvPr/>
        </p:nvCxnSpPr>
        <p:spPr>
          <a:xfrm flipV="1">
            <a:off x="2269067" y="6025909"/>
            <a:ext cx="226483" cy="12640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꺾인 연결선 81"/>
          <p:cNvCxnSpPr>
            <a:stCxn id="29" idx="3"/>
            <a:endCxn id="58" idx="1"/>
          </p:cNvCxnSpPr>
          <p:nvPr/>
        </p:nvCxnSpPr>
        <p:spPr>
          <a:xfrm>
            <a:off x="2269067" y="6152317"/>
            <a:ext cx="226483" cy="16117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직사각형 71"/>
          <p:cNvSpPr/>
          <p:nvPr/>
        </p:nvSpPr>
        <p:spPr>
          <a:xfrm>
            <a:off x="3334744" y="1712972"/>
            <a:ext cx="636067"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100" dirty="0">
                <a:solidFill>
                  <a:schemeClr val="tx2"/>
                </a:solidFill>
              </a:rPr>
              <a:t>시간적</a:t>
            </a:r>
          </a:p>
        </p:txBody>
      </p:sp>
      <p:sp>
        <p:nvSpPr>
          <p:cNvPr id="73" name="직사각형 72"/>
          <p:cNvSpPr/>
          <p:nvPr/>
        </p:nvSpPr>
        <p:spPr>
          <a:xfrm>
            <a:off x="3334744" y="2019604"/>
            <a:ext cx="636067"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100" dirty="0">
                <a:solidFill>
                  <a:schemeClr val="tx2"/>
                </a:solidFill>
              </a:rPr>
              <a:t>내용적</a:t>
            </a:r>
          </a:p>
        </p:txBody>
      </p:sp>
      <p:sp>
        <p:nvSpPr>
          <p:cNvPr id="75" name="직사각형 74"/>
          <p:cNvSpPr/>
          <p:nvPr/>
        </p:nvSpPr>
        <p:spPr>
          <a:xfrm>
            <a:off x="3334744" y="2320785"/>
            <a:ext cx="636067"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100" dirty="0">
                <a:solidFill>
                  <a:schemeClr val="tx2"/>
                </a:solidFill>
              </a:rPr>
              <a:t>지역적</a:t>
            </a:r>
          </a:p>
        </p:txBody>
      </p:sp>
      <p:sp>
        <p:nvSpPr>
          <p:cNvPr id="79" name="직사각형 78"/>
          <p:cNvSpPr/>
          <p:nvPr/>
        </p:nvSpPr>
        <p:spPr>
          <a:xfrm>
            <a:off x="4133725" y="1458726"/>
            <a:ext cx="2117850"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존속기간</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88)</a:t>
            </a:r>
            <a:endParaRPr lang="ko-KR" altLang="en-US" sz="1100" dirty="0">
              <a:solidFill>
                <a:schemeClr val="tx2"/>
              </a:solidFill>
            </a:endParaRPr>
          </a:p>
        </p:txBody>
      </p:sp>
      <p:sp>
        <p:nvSpPr>
          <p:cNvPr id="81" name="직사각형 80"/>
          <p:cNvSpPr/>
          <p:nvPr/>
        </p:nvSpPr>
        <p:spPr>
          <a:xfrm>
            <a:off x="4133725" y="1719638"/>
            <a:ext cx="2117850"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존속기간의 연장</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89~93, 95)</a:t>
            </a:r>
            <a:endParaRPr lang="ko-KR" altLang="en-US" sz="1100" dirty="0">
              <a:solidFill>
                <a:schemeClr val="tx2"/>
              </a:solidFill>
            </a:endParaRPr>
          </a:p>
        </p:txBody>
      </p:sp>
      <p:sp>
        <p:nvSpPr>
          <p:cNvPr id="83" name="직사각형 82"/>
          <p:cNvSpPr/>
          <p:nvPr/>
        </p:nvSpPr>
        <p:spPr>
          <a:xfrm>
            <a:off x="4133724" y="2019604"/>
            <a:ext cx="1914525"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청구범위</a:t>
            </a:r>
          </a:p>
        </p:txBody>
      </p:sp>
      <p:sp>
        <p:nvSpPr>
          <p:cNvPr id="85" name="직사각형 84"/>
          <p:cNvSpPr/>
          <p:nvPr/>
        </p:nvSpPr>
        <p:spPr>
          <a:xfrm>
            <a:off x="4133725" y="2320784"/>
            <a:ext cx="1914525"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속지주의</a:t>
            </a:r>
          </a:p>
        </p:txBody>
      </p:sp>
      <p:sp>
        <p:nvSpPr>
          <p:cNvPr id="87" name="직사각형 86"/>
          <p:cNvSpPr/>
          <p:nvPr/>
        </p:nvSpPr>
        <p:spPr>
          <a:xfrm>
            <a:off x="3348548" y="2632109"/>
            <a:ext cx="622263"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100" dirty="0">
                <a:solidFill>
                  <a:schemeClr val="tx2"/>
                </a:solidFill>
              </a:rPr>
              <a:t>의의</a:t>
            </a:r>
          </a:p>
        </p:txBody>
      </p:sp>
      <p:sp>
        <p:nvSpPr>
          <p:cNvPr id="89" name="직사각형 88"/>
          <p:cNvSpPr/>
          <p:nvPr/>
        </p:nvSpPr>
        <p:spPr>
          <a:xfrm>
            <a:off x="3348548" y="3224491"/>
            <a:ext cx="2018664"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제한</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81</a:t>
            </a:r>
            <a:r>
              <a:rPr lang="ko-KR" altLang="en-US" sz="1100" dirty="0">
                <a:solidFill>
                  <a:schemeClr val="tx2"/>
                </a:solidFill>
              </a:rPr>
              <a:t>의</a:t>
            </a:r>
            <a:r>
              <a:rPr lang="en-US" altLang="ko-KR" sz="1100" dirty="0">
                <a:solidFill>
                  <a:schemeClr val="tx2"/>
                </a:solidFill>
              </a:rPr>
              <a:t>3④, 96, 181/98)</a:t>
            </a:r>
            <a:endParaRPr lang="ko-KR" altLang="en-US" sz="1100" dirty="0">
              <a:solidFill>
                <a:schemeClr val="tx2"/>
              </a:solidFill>
            </a:endParaRPr>
          </a:p>
        </p:txBody>
      </p:sp>
      <p:sp>
        <p:nvSpPr>
          <p:cNvPr id="91" name="직사각형 90"/>
          <p:cNvSpPr/>
          <p:nvPr/>
        </p:nvSpPr>
        <p:spPr>
          <a:xfrm>
            <a:off x="3348548" y="3457092"/>
            <a:ext cx="2018664"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확장</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127)</a:t>
            </a:r>
            <a:endParaRPr lang="ko-KR" altLang="en-US" sz="1100" dirty="0">
              <a:solidFill>
                <a:schemeClr val="tx2"/>
              </a:solidFill>
            </a:endParaRPr>
          </a:p>
        </p:txBody>
      </p:sp>
      <p:sp>
        <p:nvSpPr>
          <p:cNvPr id="93" name="직사각형 92"/>
          <p:cNvSpPr/>
          <p:nvPr/>
        </p:nvSpPr>
        <p:spPr>
          <a:xfrm>
            <a:off x="2496555" y="3801032"/>
            <a:ext cx="1719262"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이전 및 공유</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99, 99</a:t>
            </a:r>
            <a:r>
              <a:rPr lang="ko-KR" altLang="en-US" sz="1100" dirty="0">
                <a:solidFill>
                  <a:schemeClr val="tx2"/>
                </a:solidFill>
              </a:rPr>
              <a:t>의</a:t>
            </a:r>
            <a:r>
              <a:rPr lang="en-US" altLang="ko-KR" sz="1100" dirty="0">
                <a:solidFill>
                  <a:schemeClr val="tx2"/>
                </a:solidFill>
              </a:rPr>
              <a:t>2)</a:t>
            </a:r>
            <a:endParaRPr lang="ko-KR" altLang="en-US" sz="1100" dirty="0">
              <a:solidFill>
                <a:schemeClr val="tx2"/>
              </a:solidFill>
            </a:endParaRPr>
          </a:p>
        </p:txBody>
      </p:sp>
      <p:sp>
        <p:nvSpPr>
          <p:cNvPr id="95" name="직사각형 94"/>
          <p:cNvSpPr/>
          <p:nvPr/>
        </p:nvSpPr>
        <p:spPr>
          <a:xfrm>
            <a:off x="4254268" y="4746649"/>
            <a:ext cx="3789891"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err="1">
                <a:solidFill>
                  <a:schemeClr val="tx2"/>
                </a:solidFill>
              </a:rPr>
              <a:t>강제실시권</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106</a:t>
            </a:r>
            <a:r>
              <a:rPr lang="ko-KR" altLang="en-US" sz="1100" dirty="0">
                <a:solidFill>
                  <a:schemeClr val="tx2"/>
                </a:solidFill>
              </a:rPr>
              <a:t>의</a:t>
            </a:r>
            <a:r>
              <a:rPr lang="en-US" altLang="ko-KR" sz="1100" dirty="0">
                <a:solidFill>
                  <a:schemeClr val="tx2"/>
                </a:solidFill>
              </a:rPr>
              <a:t>2, 107~115, 138)</a:t>
            </a:r>
            <a:endParaRPr lang="ko-KR" altLang="en-US" sz="1100" dirty="0">
              <a:solidFill>
                <a:schemeClr val="tx2"/>
              </a:solidFill>
            </a:endParaRPr>
          </a:p>
        </p:txBody>
      </p:sp>
      <p:sp>
        <p:nvSpPr>
          <p:cNvPr id="97" name="직사각형 96"/>
          <p:cNvSpPr/>
          <p:nvPr/>
        </p:nvSpPr>
        <p:spPr>
          <a:xfrm>
            <a:off x="4254268" y="4440293"/>
            <a:ext cx="3789891"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err="1">
                <a:solidFill>
                  <a:schemeClr val="tx2"/>
                </a:solidFill>
              </a:rPr>
              <a:t>법정실시권</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81</a:t>
            </a:r>
            <a:r>
              <a:rPr lang="ko-KR" altLang="en-US" sz="1100" dirty="0">
                <a:solidFill>
                  <a:schemeClr val="tx2"/>
                </a:solidFill>
              </a:rPr>
              <a:t>의</a:t>
            </a:r>
            <a:r>
              <a:rPr lang="en-US" altLang="ko-KR" sz="1100" dirty="0">
                <a:solidFill>
                  <a:schemeClr val="tx2"/>
                </a:solidFill>
              </a:rPr>
              <a:t>3, 103~105, 122, 182,183, </a:t>
            </a:r>
            <a:r>
              <a:rPr lang="ko-KR" altLang="en-US" sz="1100" dirty="0" err="1">
                <a:solidFill>
                  <a:schemeClr val="tx2"/>
                </a:solidFill>
              </a:rPr>
              <a:t>발진법</a:t>
            </a:r>
            <a:r>
              <a:rPr lang="en-US" altLang="ko-KR" sz="1100" dirty="0">
                <a:solidFill>
                  <a:schemeClr val="tx2"/>
                </a:solidFill>
              </a:rPr>
              <a:t>10</a:t>
            </a:r>
            <a:r>
              <a:rPr lang="ko-KR" altLang="en-US" sz="1100" dirty="0">
                <a:solidFill>
                  <a:schemeClr val="tx2"/>
                </a:solidFill>
              </a:rPr>
              <a:t>①</a:t>
            </a:r>
            <a:r>
              <a:rPr lang="en-US" altLang="ko-KR" sz="1100" dirty="0">
                <a:solidFill>
                  <a:schemeClr val="tx2"/>
                </a:solidFill>
              </a:rPr>
              <a:t>)</a:t>
            </a:r>
            <a:endParaRPr lang="ko-KR" altLang="en-US" sz="1100" dirty="0">
              <a:solidFill>
                <a:schemeClr val="tx2"/>
              </a:solidFill>
            </a:endParaRPr>
          </a:p>
        </p:txBody>
      </p:sp>
      <p:sp>
        <p:nvSpPr>
          <p:cNvPr id="99" name="직사각형 98"/>
          <p:cNvSpPr/>
          <p:nvPr/>
        </p:nvSpPr>
        <p:spPr>
          <a:xfrm>
            <a:off x="4254268" y="4120662"/>
            <a:ext cx="3789891"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일반론</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100~102, 118)</a:t>
            </a:r>
            <a:endParaRPr lang="ko-KR" altLang="en-US" sz="1100" dirty="0">
              <a:solidFill>
                <a:schemeClr val="tx2"/>
              </a:solidFill>
            </a:endParaRPr>
          </a:p>
        </p:txBody>
      </p:sp>
      <p:sp>
        <p:nvSpPr>
          <p:cNvPr id="101" name="직사각형 100"/>
          <p:cNvSpPr/>
          <p:nvPr/>
        </p:nvSpPr>
        <p:spPr>
          <a:xfrm>
            <a:off x="2502429" y="5087595"/>
            <a:ext cx="475192"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100" dirty="0">
                <a:solidFill>
                  <a:schemeClr val="tx2"/>
                </a:solidFill>
              </a:rPr>
              <a:t>원인</a:t>
            </a:r>
          </a:p>
        </p:txBody>
      </p:sp>
      <p:sp>
        <p:nvSpPr>
          <p:cNvPr id="103" name="직사각형 102"/>
          <p:cNvSpPr/>
          <p:nvPr/>
        </p:nvSpPr>
        <p:spPr>
          <a:xfrm>
            <a:off x="3239494" y="5262500"/>
            <a:ext cx="1816311"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장래소멸</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119, 120, 124)</a:t>
            </a:r>
            <a:endParaRPr lang="ko-KR" altLang="en-US" sz="1100" dirty="0">
              <a:solidFill>
                <a:schemeClr val="tx2"/>
              </a:solidFill>
            </a:endParaRPr>
          </a:p>
        </p:txBody>
      </p:sp>
      <p:sp>
        <p:nvSpPr>
          <p:cNvPr id="105" name="직사각형 104"/>
          <p:cNvSpPr/>
          <p:nvPr/>
        </p:nvSpPr>
        <p:spPr>
          <a:xfrm>
            <a:off x="3239494" y="5022819"/>
            <a:ext cx="1816311"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소급소멸</a:t>
            </a:r>
          </a:p>
        </p:txBody>
      </p:sp>
      <p:cxnSp>
        <p:nvCxnSpPr>
          <p:cNvPr id="110" name="꺾인 연결선 109"/>
          <p:cNvCxnSpPr>
            <a:stCxn id="54" idx="3"/>
            <a:endCxn id="72" idx="1"/>
          </p:cNvCxnSpPr>
          <p:nvPr/>
        </p:nvCxnSpPr>
        <p:spPr>
          <a:xfrm flipV="1">
            <a:off x="3072871" y="1848054"/>
            <a:ext cx="261873" cy="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꺾인 연결선 111"/>
          <p:cNvCxnSpPr>
            <a:stCxn id="54" idx="3"/>
            <a:endCxn id="73" idx="1"/>
          </p:cNvCxnSpPr>
          <p:nvPr/>
        </p:nvCxnSpPr>
        <p:spPr>
          <a:xfrm>
            <a:off x="3072871" y="1848055"/>
            <a:ext cx="261873" cy="30663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꺾인 연결선 113"/>
          <p:cNvCxnSpPr>
            <a:stCxn id="54" idx="3"/>
            <a:endCxn id="75" idx="1"/>
          </p:cNvCxnSpPr>
          <p:nvPr/>
        </p:nvCxnSpPr>
        <p:spPr>
          <a:xfrm>
            <a:off x="3072871" y="1848055"/>
            <a:ext cx="261873" cy="60781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꺾인 연결선 115"/>
          <p:cNvCxnSpPr>
            <a:stCxn id="72" idx="3"/>
            <a:endCxn id="79" idx="1"/>
          </p:cNvCxnSpPr>
          <p:nvPr/>
        </p:nvCxnSpPr>
        <p:spPr>
          <a:xfrm flipV="1">
            <a:off x="3970811" y="1593808"/>
            <a:ext cx="162914" cy="254246"/>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꺾인 연결선 117"/>
          <p:cNvCxnSpPr>
            <a:stCxn id="72" idx="3"/>
            <a:endCxn id="81" idx="1"/>
          </p:cNvCxnSpPr>
          <p:nvPr/>
        </p:nvCxnSpPr>
        <p:spPr>
          <a:xfrm>
            <a:off x="3970811" y="1848054"/>
            <a:ext cx="162914" cy="666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4" name="직선 연결선 123"/>
          <p:cNvCxnSpPr>
            <a:stCxn id="73" idx="3"/>
            <a:endCxn id="83" idx="1"/>
          </p:cNvCxnSpPr>
          <p:nvPr/>
        </p:nvCxnSpPr>
        <p:spPr>
          <a:xfrm>
            <a:off x="3970811" y="2154686"/>
            <a:ext cx="162913"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직선 연결선 125"/>
          <p:cNvCxnSpPr>
            <a:stCxn id="75" idx="3"/>
            <a:endCxn id="85" idx="1"/>
          </p:cNvCxnSpPr>
          <p:nvPr/>
        </p:nvCxnSpPr>
        <p:spPr>
          <a:xfrm flipV="1">
            <a:off x="3970811" y="2455866"/>
            <a:ext cx="162914" cy="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꺾인 연결선 127"/>
          <p:cNvCxnSpPr>
            <a:stCxn id="55" idx="3"/>
            <a:endCxn id="91" idx="1"/>
          </p:cNvCxnSpPr>
          <p:nvPr/>
        </p:nvCxnSpPr>
        <p:spPr>
          <a:xfrm>
            <a:off x="3072871" y="2929417"/>
            <a:ext cx="275677" cy="66275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꺾인 연결선 129"/>
          <p:cNvCxnSpPr>
            <a:stCxn id="55" idx="3"/>
            <a:endCxn id="87" idx="1"/>
          </p:cNvCxnSpPr>
          <p:nvPr/>
        </p:nvCxnSpPr>
        <p:spPr>
          <a:xfrm flipV="1">
            <a:off x="3072871" y="2767191"/>
            <a:ext cx="275677" cy="16222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55" idx="3"/>
            <a:endCxn id="89" idx="1"/>
          </p:cNvCxnSpPr>
          <p:nvPr/>
        </p:nvCxnSpPr>
        <p:spPr>
          <a:xfrm>
            <a:off x="3072871" y="2929417"/>
            <a:ext cx="275677" cy="43015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8" name="꺾인 연결선 137"/>
          <p:cNvCxnSpPr>
            <a:stCxn id="27" idx="3"/>
            <a:endCxn id="93" idx="1"/>
          </p:cNvCxnSpPr>
          <p:nvPr/>
        </p:nvCxnSpPr>
        <p:spPr>
          <a:xfrm flipV="1">
            <a:off x="2269067" y="3936114"/>
            <a:ext cx="227488" cy="70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꺾인 연결선 139"/>
          <p:cNvCxnSpPr>
            <a:stCxn id="27" idx="3"/>
            <a:endCxn id="52" idx="1"/>
          </p:cNvCxnSpPr>
          <p:nvPr/>
        </p:nvCxnSpPr>
        <p:spPr>
          <a:xfrm>
            <a:off x="2269067" y="4006814"/>
            <a:ext cx="227488" cy="55528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3" name="꺾인 연결선 142"/>
          <p:cNvCxnSpPr>
            <a:stCxn id="56" idx="3"/>
            <a:endCxn id="95" idx="1"/>
          </p:cNvCxnSpPr>
          <p:nvPr/>
        </p:nvCxnSpPr>
        <p:spPr>
          <a:xfrm>
            <a:off x="3970811" y="4255745"/>
            <a:ext cx="283457" cy="62598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꺾인 연결선 144"/>
          <p:cNvCxnSpPr>
            <a:stCxn id="56" idx="3"/>
            <a:endCxn id="99" idx="1"/>
          </p:cNvCxnSpPr>
          <p:nvPr/>
        </p:nvCxnSpPr>
        <p:spPr>
          <a:xfrm flipV="1">
            <a:off x="3970811" y="4255744"/>
            <a:ext cx="283457" cy="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꺾인 연결선 146"/>
          <p:cNvCxnSpPr>
            <a:stCxn id="56" idx="3"/>
            <a:endCxn id="97" idx="1"/>
          </p:cNvCxnSpPr>
          <p:nvPr/>
        </p:nvCxnSpPr>
        <p:spPr>
          <a:xfrm>
            <a:off x="3970811" y="4255745"/>
            <a:ext cx="283457" cy="31963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1" name="꺾인 연결선 150"/>
          <p:cNvCxnSpPr>
            <a:stCxn id="28" idx="3"/>
            <a:endCxn id="101" idx="1"/>
          </p:cNvCxnSpPr>
          <p:nvPr/>
        </p:nvCxnSpPr>
        <p:spPr>
          <a:xfrm>
            <a:off x="2269067" y="5222677"/>
            <a:ext cx="233362"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5" name="꺾인 연결선 154"/>
          <p:cNvCxnSpPr>
            <a:stCxn id="101" idx="3"/>
            <a:endCxn id="103" idx="1"/>
          </p:cNvCxnSpPr>
          <p:nvPr/>
        </p:nvCxnSpPr>
        <p:spPr>
          <a:xfrm>
            <a:off x="2977621" y="5222677"/>
            <a:ext cx="261873" cy="17490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8" name="꺾인 연결선 157"/>
          <p:cNvCxnSpPr>
            <a:stCxn id="101" idx="3"/>
            <a:endCxn id="105" idx="1"/>
          </p:cNvCxnSpPr>
          <p:nvPr/>
        </p:nvCxnSpPr>
        <p:spPr>
          <a:xfrm flipV="1">
            <a:off x="2977621" y="5157901"/>
            <a:ext cx="261873" cy="6477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2" name="직사각형 161"/>
          <p:cNvSpPr/>
          <p:nvPr/>
        </p:nvSpPr>
        <p:spPr>
          <a:xfrm>
            <a:off x="4511443" y="2632109"/>
            <a:ext cx="1289282"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100" dirty="0">
                <a:solidFill>
                  <a:schemeClr val="tx2"/>
                </a:solidFill>
              </a:rPr>
              <a:t>적극적 효력</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94)</a:t>
            </a:r>
            <a:endParaRPr lang="ko-KR" altLang="en-US" sz="1100" dirty="0">
              <a:solidFill>
                <a:schemeClr val="tx2"/>
              </a:solidFill>
            </a:endParaRPr>
          </a:p>
        </p:txBody>
      </p:sp>
      <p:sp>
        <p:nvSpPr>
          <p:cNvPr id="163" name="직사각형 162"/>
          <p:cNvSpPr/>
          <p:nvPr/>
        </p:nvSpPr>
        <p:spPr>
          <a:xfrm>
            <a:off x="4511443" y="2929417"/>
            <a:ext cx="1289282"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100" dirty="0">
                <a:solidFill>
                  <a:schemeClr val="tx2"/>
                </a:solidFill>
              </a:rPr>
              <a:t>소극적 효력</a:t>
            </a:r>
            <a:r>
              <a:rPr lang="en-US" altLang="ko-KR" sz="1100" dirty="0">
                <a:solidFill>
                  <a:schemeClr val="tx2"/>
                </a:solidFill>
              </a:rPr>
              <a:t>(</a:t>
            </a:r>
            <a:r>
              <a:rPr lang="ko-KR" altLang="en-US" sz="1100" dirty="0">
                <a:solidFill>
                  <a:schemeClr val="tx2"/>
                </a:solidFill>
              </a:rPr>
              <a:t>침해</a:t>
            </a:r>
            <a:r>
              <a:rPr lang="en-US" altLang="ko-KR" sz="1100" dirty="0">
                <a:solidFill>
                  <a:schemeClr val="tx2"/>
                </a:solidFill>
              </a:rPr>
              <a:t>)</a:t>
            </a:r>
            <a:endParaRPr lang="ko-KR" altLang="en-US" sz="1100" dirty="0">
              <a:solidFill>
                <a:schemeClr val="tx2"/>
              </a:solidFill>
            </a:endParaRPr>
          </a:p>
        </p:txBody>
      </p:sp>
      <p:cxnSp>
        <p:nvCxnSpPr>
          <p:cNvPr id="165" name="꺾인 연결선 164"/>
          <p:cNvCxnSpPr>
            <a:stCxn id="87" idx="3"/>
            <a:endCxn id="163" idx="1"/>
          </p:cNvCxnSpPr>
          <p:nvPr/>
        </p:nvCxnSpPr>
        <p:spPr>
          <a:xfrm>
            <a:off x="3970811" y="2767191"/>
            <a:ext cx="540632" cy="29730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7" name="꺾인 연결선 166"/>
          <p:cNvCxnSpPr>
            <a:stCxn id="87" idx="3"/>
            <a:endCxn id="162" idx="1"/>
          </p:cNvCxnSpPr>
          <p:nvPr/>
        </p:nvCxnSpPr>
        <p:spPr>
          <a:xfrm>
            <a:off x="3970811" y="2767191"/>
            <a:ext cx="540632"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9" name="직사각형 168"/>
          <p:cNvSpPr/>
          <p:nvPr/>
        </p:nvSpPr>
        <p:spPr>
          <a:xfrm>
            <a:off x="6804025" y="1371549"/>
            <a:ext cx="835025"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100" dirty="0">
                <a:solidFill>
                  <a:schemeClr val="tx2"/>
                </a:solidFill>
              </a:rPr>
              <a:t>성립요건</a:t>
            </a:r>
          </a:p>
        </p:txBody>
      </p:sp>
      <p:sp>
        <p:nvSpPr>
          <p:cNvPr id="170" name="직사각형 169"/>
          <p:cNvSpPr/>
          <p:nvPr/>
        </p:nvSpPr>
        <p:spPr>
          <a:xfrm>
            <a:off x="6804025" y="2902782"/>
            <a:ext cx="835025"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100" dirty="0">
                <a:solidFill>
                  <a:schemeClr val="tx2"/>
                </a:solidFill>
              </a:rPr>
              <a:t>종류</a:t>
            </a:r>
          </a:p>
        </p:txBody>
      </p:sp>
      <p:sp>
        <p:nvSpPr>
          <p:cNvPr id="171" name="직사각형 170"/>
          <p:cNvSpPr/>
          <p:nvPr/>
        </p:nvSpPr>
        <p:spPr>
          <a:xfrm>
            <a:off x="6804025" y="4094764"/>
            <a:ext cx="835025"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100" dirty="0">
                <a:solidFill>
                  <a:schemeClr val="tx2"/>
                </a:solidFill>
              </a:rPr>
              <a:t>조치</a:t>
            </a:r>
          </a:p>
        </p:txBody>
      </p:sp>
      <p:sp>
        <p:nvSpPr>
          <p:cNvPr id="172" name="직사각형 171"/>
          <p:cNvSpPr/>
          <p:nvPr/>
        </p:nvSpPr>
        <p:spPr>
          <a:xfrm>
            <a:off x="8328024" y="872266"/>
            <a:ext cx="3635375"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특허권 존속 中</a:t>
            </a:r>
          </a:p>
        </p:txBody>
      </p:sp>
      <p:sp>
        <p:nvSpPr>
          <p:cNvPr id="173" name="직사각형 172"/>
          <p:cNvSpPr/>
          <p:nvPr/>
        </p:nvSpPr>
        <p:spPr>
          <a:xfrm>
            <a:off x="8328024" y="1146133"/>
            <a:ext cx="3635375"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정당한 권원이 없는 자</a:t>
            </a:r>
          </a:p>
        </p:txBody>
      </p:sp>
      <p:sp>
        <p:nvSpPr>
          <p:cNvPr id="174" name="직사각형 173"/>
          <p:cNvSpPr/>
          <p:nvPr/>
        </p:nvSpPr>
        <p:spPr>
          <a:xfrm>
            <a:off x="8328024" y="1421669"/>
            <a:ext cx="3635375"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업으로서</a:t>
            </a:r>
          </a:p>
        </p:txBody>
      </p:sp>
      <p:sp>
        <p:nvSpPr>
          <p:cNvPr id="175" name="직사각형 174"/>
          <p:cNvSpPr/>
          <p:nvPr/>
        </p:nvSpPr>
        <p:spPr>
          <a:xfrm>
            <a:off x="8328024" y="1691832"/>
            <a:ext cx="3635375" cy="270163"/>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100" dirty="0">
                <a:solidFill>
                  <a:schemeClr val="tx2"/>
                </a:solidFill>
              </a:rPr>
              <a:t>특허발명의 보호범위</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97)</a:t>
            </a:r>
            <a:r>
              <a:rPr lang="ko-KR" altLang="en-US" sz="1100" dirty="0">
                <a:solidFill>
                  <a:schemeClr val="tx2"/>
                </a:solidFill>
              </a:rPr>
              <a:t>에 속하는 발명을 실시</a:t>
            </a:r>
          </a:p>
        </p:txBody>
      </p:sp>
      <p:cxnSp>
        <p:nvCxnSpPr>
          <p:cNvPr id="179" name="꺾인 연결선 178"/>
          <p:cNvCxnSpPr>
            <a:stCxn id="163" idx="3"/>
            <a:endCxn id="169" idx="1"/>
          </p:cNvCxnSpPr>
          <p:nvPr/>
        </p:nvCxnSpPr>
        <p:spPr>
          <a:xfrm flipV="1">
            <a:off x="5800725" y="1506631"/>
            <a:ext cx="1003300" cy="155786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꺾인 연결선 180"/>
          <p:cNvCxnSpPr>
            <a:stCxn id="163" idx="3"/>
            <a:endCxn id="171" idx="1"/>
          </p:cNvCxnSpPr>
          <p:nvPr/>
        </p:nvCxnSpPr>
        <p:spPr>
          <a:xfrm>
            <a:off x="5800725" y="3064499"/>
            <a:ext cx="1003300" cy="116534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3" name="꺾인 연결선 182"/>
          <p:cNvCxnSpPr>
            <a:stCxn id="163" idx="3"/>
            <a:endCxn id="170" idx="1"/>
          </p:cNvCxnSpPr>
          <p:nvPr/>
        </p:nvCxnSpPr>
        <p:spPr>
          <a:xfrm flipV="1">
            <a:off x="5800725" y="3037864"/>
            <a:ext cx="1003300" cy="2663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5" name="꺾인 연결선 184"/>
          <p:cNvCxnSpPr>
            <a:stCxn id="169" idx="3"/>
            <a:endCxn id="172" idx="1"/>
          </p:cNvCxnSpPr>
          <p:nvPr/>
        </p:nvCxnSpPr>
        <p:spPr>
          <a:xfrm flipV="1">
            <a:off x="7639050" y="1007348"/>
            <a:ext cx="688974" cy="49928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7" name="꺾인 연결선 186"/>
          <p:cNvCxnSpPr>
            <a:stCxn id="169" idx="3"/>
            <a:endCxn id="173" idx="1"/>
          </p:cNvCxnSpPr>
          <p:nvPr/>
        </p:nvCxnSpPr>
        <p:spPr>
          <a:xfrm flipV="1">
            <a:off x="7639050" y="1281215"/>
            <a:ext cx="688974" cy="225416"/>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1" name="꺾인 연결선 190"/>
          <p:cNvCxnSpPr>
            <a:stCxn id="169" idx="3"/>
            <a:endCxn id="174" idx="1"/>
          </p:cNvCxnSpPr>
          <p:nvPr/>
        </p:nvCxnSpPr>
        <p:spPr>
          <a:xfrm>
            <a:off x="7639050" y="1506631"/>
            <a:ext cx="688974" cy="5012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3" name="꺾인 연결선 192"/>
          <p:cNvCxnSpPr>
            <a:stCxn id="169" idx="3"/>
            <a:endCxn id="175" idx="1"/>
          </p:cNvCxnSpPr>
          <p:nvPr/>
        </p:nvCxnSpPr>
        <p:spPr>
          <a:xfrm>
            <a:off x="7639050" y="1506631"/>
            <a:ext cx="688974" cy="32028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5" name="직사각형 194"/>
          <p:cNvSpPr/>
          <p:nvPr/>
        </p:nvSpPr>
        <p:spPr>
          <a:xfrm>
            <a:off x="8304508" y="1990161"/>
            <a:ext cx="1239541"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100" dirty="0">
                <a:solidFill>
                  <a:schemeClr val="tx2"/>
                </a:solidFill>
              </a:rPr>
              <a:t>직접침해</a:t>
            </a:r>
          </a:p>
        </p:txBody>
      </p:sp>
      <p:sp>
        <p:nvSpPr>
          <p:cNvPr id="196" name="직사각형 195"/>
          <p:cNvSpPr/>
          <p:nvPr/>
        </p:nvSpPr>
        <p:spPr>
          <a:xfrm>
            <a:off x="8304508" y="3728266"/>
            <a:ext cx="1239541" cy="270163"/>
          </a:xfrm>
          <a:prstGeom prst="rect">
            <a:avLst/>
          </a:prstGeom>
          <a:solidFill>
            <a:schemeClr val="accent1">
              <a:lumMod val="20000"/>
              <a:lumOff val="80000"/>
            </a:schemeClr>
          </a:solidFill>
          <a:ln>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100" dirty="0">
                <a:solidFill>
                  <a:schemeClr val="tx2"/>
                </a:solidFill>
              </a:rPr>
              <a:t>간접침해</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127)</a:t>
            </a:r>
            <a:endParaRPr lang="ko-KR" altLang="en-US" sz="1100" dirty="0">
              <a:solidFill>
                <a:schemeClr val="tx2"/>
              </a:solidFill>
            </a:endParaRPr>
          </a:p>
        </p:txBody>
      </p:sp>
      <p:sp>
        <p:nvSpPr>
          <p:cNvPr id="197" name="모서리가 둥근 직사각형 196"/>
          <p:cNvSpPr/>
          <p:nvPr/>
        </p:nvSpPr>
        <p:spPr>
          <a:xfrm>
            <a:off x="9834277" y="1942155"/>
            <a:ext cx="1876995"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a:solidFill>
                  <a:schemeClr val="tx2"/>
                </a:solidFill>
              </a:rPr>
              <a:t>문언침해</a:t>
            </a:r>
          </a:p>
        </p:txBody>
      </p:sp>
      <p:sp>
        <p:nvSpPr>
          <p:cNvPr id="198" name="모서리가 둥근 직사각형 197"/>
          <p:cNvSpPr/>
          <p:nvPr/>
        </p:nvSpPr>
        <p:spPr>
          <a:xfrm>
            <a:off x="9834277" y="2219939"/>
            <a:ext cx="1876995"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a:solidFill>
                  <a:schemeClr val="tx2"/>
                </a:solidFill>
              </a:rPr>
              <a:t>균등침해</a:t>
            </a:r>
          </a:p>
        </p:txBody>
      </p:sp>
      <p:sp>
        <p:nvSpPr>
          <p:cNvPr id="199" name="모서리가 둥근 직사각형 198"/>
          <p:cNvSpPr/>
          <p:nvPr/>
        </p:nvSpPr>
        <p:spPr>
          <a:xfrm>
            <a:off x="9834277" y="2507021"/>
            <a:ext cx="1876995"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b="1" dirty="0">
                <a:solidFill>
                  <a:schemeClr val="tx2"/>
                </a:solidFill>
              </a:rPr>
              <a:t>이용</a:t>
            </a:r>
            <a:r>
              <a:rPr lang="en-US" altLang="ko-KR" sz="1100" b="1" dirty="0">
                <a:solidFill>
                  <a:schemeClr val="tx2"/>
                </a:solidFill>
              </a:rPr>
              <a:t>/</a:t>
            </a:r>
            <a:r>
              <a:rPr lang="ko-KR" altLang="en-US" sz="1100" b="1" dirty="0">
                <a:solidFill>
                  <a:schemeClr val="tx2"/>
                </a:solidFill>
              </a:rPr>
              <a:t>저촉 침해</a:t>
            </a:r>
            <a:r>
              <a:rPr lang="en-US" altLang="ko-KR" sz="1100" b="1" dirty="0">
                <a:solidFill>
                  <a:schemeClr val="tx2"/>
                </a:solidFill>
              </a:rPr>
              <a:t>(</a:t>
            </a:r>
            <a:r>
              <a:rPr lang="ko-KR" altLang="en-US" sz="1100" b="1" dirty="0">
                <a:solidFill>
                  <a:schemeClr val="tx2"/>
                </a:solidFill>
              </a:rPr>
              <a:t>法 </a:t>
            </a:r>
            <a:r>
              <a:rPr lang="en-US" altLang="ko-KR" sz="1100" b="1" dirty="0">
                <a:solidFill>
                  <a:schemeClr val="tx2"/>
                </a:solidFill>
              </a:rPr>
              <a:t>98)</a:t>
            </a:r>
            <a:endParaRPr lang="ko-KR" altLang="en-US" sz="1100" b="1" dirty="0">
              <a:solidFill>
                <a:schemeClr val="tx2"/>
              </a:solidFill>
            </a:endParaRPr>
          </a:p>
        </p:txBody>
      </p:sp>
      <p:sp>
        <p:nvSpPr>
          <p:cNvPr id="200" name="모서리가 둥근 직사각형 199"/>
          <p:cNvSpPr/>
          <p:nvPr/>
        </p:nvSpPr>
        <p:spPr>
          <a:xfrm>
            <a:off x="9834277" y="2795496"/>
            <a:ext cx="1876995"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a:solidFill>
                  <a:schemeClr val="tx2"/>
                </a:solidFill>
              </a:rPr>
              <a:t>생략</a:t>
            </a:r>
            <a:r>
              <a:rPr lang="en-US" altLang="ko-KR" sz="1100" dirty="0">
                <a:solidFill>
                  <a:schemeClr val="tx2"/>
                </a:solidFill>
              </a:rPr>
              <a:t>/</a:t>
            </a:r>
            <a:r>
              <a:rPr lang="ko-KR" altLang="en-US" sz="1100" dirty="0">
                <a:solidFill>
                  <a:schemeClr val="tx2"/>
                </a:solidFill>
              </a:rPr>
              <a:t>불완전이용침해</a:t>
            </a:r>
          </a:p>
        </p:txBody>
      </p:sp>
      <p:sp>
        <p:nvSpPr>
          <p:cNvPr id="201" name="모서리가 둥근 직사각형 200"/>
          <p:cNvSpPr/>
          <p:nvPr/>
        </p:nvSpPr>
        <p:spPr>
          <a:xfrm>
            <a:off x="9834277" y="3073710"/>
            <a:ext cx="1876995"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a:solidFill>
                  <a:schemeClr val="tx2"/>
                </a:solidFill>
              </a:rPr>
              <a:t>선택침해</a:t>
            </a:r>
          </a:p>
        </p:txBody>
      </p:sp>
      <p:sp>
        <p:nvSpPr>
          <p:cNvPr id="202" name="모서리가 둥근 직사각형 201"/>
          <p:cNvSpPr/>
          <p:nvPr/>
        </p:nvSpPr>
        <p:spPr>
          <a:xfrm>
            <a:off x="9834277" y="3351267"/>
            <a:ext cx="1876995"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a:solidFill>
                  <a:schemeClr val="tx2"/>
                </a:solidFill>
              </a:rPr>
              <a:t>우회침해</a:t>
            </a:r>
          </a:p>
        </p:txBody>
      </p:sp>
      <p:sp>
        <p:nvSpPr>
          <p:cNvPr id="203" name="모서리가 둥근 직사각형 202"/>
          <p:cNvSpPr/>
          <p:nvPr/>
        </p:nvSpPr>
        <p:spPr>
          <a:xfrm>
            <a:off x="9834277" y="3576514"/>
            <a:ext cx="1876995"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a:solidFill>
                  <a:schemeClr val="tx2"/>
                </a:solidFill>
              </a:rPr>
              <a:t>물건의 특허발명침해</a:t>
            </a:r>
          </a:p>
        </p:txBody>
      </p:sp>
      <p:sp>
        <p:nvSpPr>
          <p:cNvPr id="204" name="모서리가 둥근 직사각형 203"/>
          <p:cNvSpPr/>
          <p:nvPr/>
        </p:nvSpPr>
        <p:spPr>
          <a:xfrm>
            <a:off x="9834277" y="3855465"/>
            <a:ext cx="1876995"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a:solidFill>
                  <a:schemeClr val="tx2"/>
                </a:solidFill>
              </a:rPr>
              <a:t>방법의 특허발명침해</a:t>
            </a:r>
          </a:p>
        </p:txBody>
      </p:sp>
      <p:cxnSp>
        <p:nvCxnSpPr>
          <p:cNvPr id="206" name="꺾인 연결선 205"/>
          <p:cNvCxnSpPr>
            <a:stCxn id="170" idx="3"/>
            <a:endCxn id="195" idx="1"/>
          </p:cNvCxnSpPr>
          <p:nvPr/>
        </p:nvCxnSpPr>
        <p:spPr>
          <a:xfrm flipV="1">
            <a:off x="7639050" y="2125243"/>
            <a:ext cx="665458" cy="91262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 name="꺾인 연결선 207"/>
          <p:cNvCxnSpPr>
            <a:stCxn id="170" idx="3"/>
            <a:endCxn id="196" idx="1"/>
          </p:cNvCxnSpPr>
          <p:nvPr/>
        </p:nvCxnSpPr>
        <p:spPr>
          <a:xfrm>
            <a:off x="7639050" y="3037864"/>
            <a:ext cx="665458" cy="82548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6" name="꺾인 연결선 215"/>
          <p:cNvCxnSpPr>
            <a:stCxn id="195" idx="3"/>
            <a:endCxn id="197" idx="1"/>
          </p:cNvCxnSpPr>
          <p:nvPr/>
        </p:nvCxnSpPr>
        <p:spPr>
          <a:xfrm flipV="1">
            <a:off x="9544049" y="2078211"/>
            <a:ext cx="290228" cy="4703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8" name="꺾인 연결선 217"/>
          <p:cNvCxnSpPr>
            <a:stCxn id="195" idx="3"/>
            <a:endCxn id="202" idx="1"/>
          </p:cNvCxnSpPr>
          <p:nvPr/>
        </p:nvCxnSpPr>
        <p:spPr>
          <a:xfrm>
            <a:off x="9544049" y="2125243"/>
            <a:ext cx="290228" cy="136208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0" name="꺾인 연결선 219"/>
          <p:cNvCxnSpPr>
            <a:stCxn id="195" idx="3"/>
            <a:endCxn id="198" idx="1"/>
          </p:cNvCxnSpPr>
          <p:nvPr/>
        </p:nvCxnSpPr>
        <p:spPr>
          <a:xfrm>
            <a:off x="9544049" y="2125243"/>
            <a:ext cx="290228" cy="23075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꺾인 연결선 221"/>
          <p:cNvCxnSpPr>
            <a:stCxn id="195" idx="3"/>
            <a:endCxn id="199" idx="1"/>
          </p:cNvCxnSpPr>
          <p:nvPr/>
        </p:nvCxnSpPr>
        <p:spPr>
          <a:xfrm>
            <a:off x="9544049" y="2125243"/>
            <a:ext cx="290228" cy="51783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4" name="꺾인 연결선 223"/>
          <p:cNvCxnSpPr>
            <a:stCxn id="195" idx="3"/>
            <a:endCxn id="200" idx="1"/>
          </p:cNvCxnSpPr>
          <p:nvPr/>
        </p:nvCxnSpPr>
        <p:spPr>
          <a:xfrm>
            <a:off x="9544049" y="2125243"/>
            <a:ext cx="290228" cy="80630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6" name="꺾인 연결선 225"/>
          <p:cNvCxnSpPr>
            <a:stCxn id="195" idx="3"/>
            <a:endCxn id="201" idx="1"/>
          </p:cNvCxnSpPr>
          <p:nvPr/>
        </p:nvCxnSpPr>
        <p:spPr>
          <a:xfrm>
            <a:off x="9544049" y="2125243"/>
            <a:ext cx="290228" cy="108452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 name="꺾인 연결선 227"/>
          <p:cNvCxnSpPr>
            <a:stCxn id="196" idx="3"/>
            <a:endCxn id="203" idx="1"/>
          </p:cNvCxnSpPr>
          <p:nvPr/>
        </p:nvCxnSpPr>
        <p:spPr>
          <a:xfrm flipV="1">
            <a:off x="9544049" y="3712570"/>
            <a:ext cx="290228" cy="15077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꺾인 연결선 229"/>
          <p:cNvCxnSpPr>
            <a:stCxn id="196" idx="3"/>
            <a:endCxn id="204" idx="1"/>
          </p:cNvCxnSpPr>
          <p:nvPr/>
        </p:nvCxnSpPr>
        <p:spPr>
          <a:xfrm>
            <a:off x="9544049" y="3863348"/>
            <a:ext cx="290228" cy="12817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1" name="모서리가 둥근 직사각형 230"/>
          <p:cNvSpPr/>
          <p:nvPr/>
        </p:nvSpPr>
        <p:spPr>
          <a:xfrm>
            <a:off x="8304508" y="4109295"/>
            <a:ext cx="1239541" cy="272111"/>
          </a:xfrm>
          <a:prstGeom prst="roundRect">
            <a:avLst>
              <a:gd name="adj" fmla="val 0"/>
            </a:avLst>
          </a:prstGeom>
          <a:solidFill>
            <a:schemeClr val="accent1">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100" dirty="0">
                <a:solidFill>
                  <a:schemeClr val="tx2"/>
                </a:solidFill>
              </a:rPr>
              <a:t>민사적 조치</a:t>
            </a:r>
          </a:p>
        </p:txBody>
      </p:sp>
      <p:sp>
        <p:nvSpPr>
          <p:cNvPr id="232" name="모서리가 둥근 직사각형 231"/>
          <p:cNvSpPr/>
          <p:nvPr/>
        </p:nvSpPr>
        <p:spPr>
          <a:xfrm>
            <a:off x="8304507" y="5738577"/>
            <a:ext cx="1239542" cy="272111"/>
          </a:xfrm>
          <a:prstGeom prst="roundRect">
            <a:avLst>
              <a:gd name="adj" fmla="val 0"/>
            </a:avLst>
          </a:prstGeom>
          <a:solidFill>
            <a:schemeClr val="accent1">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100" dirty="0">
                <a:solidFill>
                  <a:schemeClr val="tx2"/>
                </a:solidFill>
              </a:rPr>
              <a:t>형사적 조치</a:t>
            </a:r>
          </a:p>
        </p:txBody>
      </p:sp>
      <p:sp>
        <p:nvSpPr>
          <p:cNvPr id="233" name="모서리가 둥근 직사각형 232"/>
          <p:cNvSpPr/>
          <p:nvPr/>
        </p:nvSpPr>
        <p:spPr>
          <a:xfrm>
            <a:off x="9833750" y="4150185"/>
            <a:ext cx="2034400"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a:solidFill>
                  <a:schemeClr val="tx2"/>
                </a:solidFill>
              </a:rPr>
              <a:t>침해금지예방청구</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126)</a:t>
            </a:r>
            <a:endParaRPr lang="ko-KR" altLang="en-US" sz="1100" dirty="0">
              <a:solidFill>
                <a:schemeClr val="tx2"/>
              </a:solidFill>
            </a:endParaRPr>
          </a:p>
        </p:txBody>
      </p:sp>
      <p:sp>
        <p:nvSpPr>
          <p:cNvPr id="234" name="모서리가 둥근 직사각형 233"/>
          <p:cNvSpPr/>
          <p:nvPr/>
        </p:nvSpPr>
        <p:spPr>
          <a:xfrm>
            <a:off x="9833750" y="4485642"/>
            <a:ext cx="2034400"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a:solidFill>
                  <a:schemeClr val="tx2"/>
                </a:solidFill>
              </a:rPr>
              <a:t>손해배상청구</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128)</a:t>
            </a:r>
            <a:endParaRPr lang="ko-KR" altLang="en-US" sz="1100" dirty="0">
              <a:solidFill>
                <a:schemeClr val="tx2"/>
              </a:solidFill>
            </a:endParaRPr>
          </a:p>
        </p:txBody>
      </p:sp>
      <p:sp>
        <p:nvSpPr>
          <p:cNvPr id="235" name="모서리가 둥근 직사각형 234"/>
          <p:cNvSpPr/>
          <p:nvPr/>
        </p:nvSpPr>
        <p:spPr>
          <a:xfrm>
            <a:off x="9833750" y="4810824"/>
            <a:ext cx="2034400"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a:solidFill>
                  <a:schemeClr val="tx2"/>
                </a:solidFill>
              </a:rPr>
              <a:t>신용회복청구</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131)</a:t>
            </a:r>
            <a:endParaRPr lang="ko-KR" altLang="en-US" sz="1100" dirty="0">
              <a:solidFill>
                <a:schemeClr val="tx2"/>
              </a:solidFill>
            </a:endParaRPr>
          </a:p>
        </p:txBody>
      </p:sp>
      <p:sp>
        <p:nvSpPr>
          <p:cNvPr id="236" name="모서리가 둥근 직사각형 235"/>
          <p:cNvSpPr/>
          <p:nvPr/>
        </p:nvSpPr>
        <p:spPr>
          <a:xfrm>
            <a:off x="9833750" y="5137399"/>
            <a:ext cx="2034400"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a:solidFill>
                  <a:schemeClr val="tx2"/>
                </a:solidFill>
              </a:rPr>
              <a:t>부당이득반환청구</a:t>
            </a:r>
            <a:r>
              <a:rPr lang="en-US" altLang="ko-KR" sz="1100" dirty="0">
                <a:solidFill>
                  <a:schemeClr val="tx2"/>
                </a:solidFill>
              </a:rPr>
              <a:t>(</a:t>
            </a:r>
            <a:r>
              <a:rPr lang="ko-KR" altLang="en-US" sz="1100" dirty="0">
                <a:solidFill>
                  <a:schemeClr val="tx2"/>
                </a:solidFill>
              </a:rPr>
              <a:t>民法 </a:t>
            </a:r>
            <a:r>
              <a:rPr lang="en-US" altLang="ko-KR" sz="1100" dirty="0">
                <a:solidFill>
                  <a:schemeClr val="tx2"/>
                </a:solidFill>
              </a:rPr>
              <a:t>741)</a:t>
            </a:r>
            <a:endParaRPr lang="ko-KR" altLang="en-US" sz="1100" dirty="0">
              <a:solidFill>
                <a:schemeClr val="tx2"/>
              </a:solidFill>
            </a:endParaRPr>
          </a:p>
        </p:txBody>
      </p:sp>
      <p:sp>
        <p:nvSpPr>
          <p:cNvPr id="237" name="모서리가 둥근 직사각형 236"/>
          <p:cNvSpPr/>
          <p:nvPr/>
        </p:nvSpPr>
        <p:spPr>
          <a:xfrm>
            <a:off x="9833750" y="5483087"/>
            <a:ext cx="2034400"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err="1">
                <a:solidFill>
                  <a:schemeClr val="tx2"/>
                </a:solidFill>
              </a:rPr>
              <a:t>침해죄</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225)</a:t>
            </a:r>
            <a:endParaRPr lang="ko-KR" altLang="en-US" sz="1100" dirty="0">
              <a:solidFill>
                <a:schemeClr val="tx2"/>
              </a:solidFill>
            </a:endParaRPr>
          </a:p>
        </p:txBody>
      </p:sp>
      <p:sp>
        <p:nvSpPr>
          <p:cNvPr id="238" name="모서리가 둥근 직사각형 237"/>
          <p:cNvSpPr/>
          <p:nvPr/>
        </p:nvSpPr>
        <p:spPr>
          <a:xfrm>
            <a:off x="9833750" y="5808269"/>
            <a:ext cx="2034400"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a:solidFill>
                  <a:schemeClr val="tx2"/>
                </a:solidFill>
              </a:rPr>
              <a:t>몰수</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231)</a:t>
            </a:r>
            <a:endParaRPr lang="ko-KR" altLang="en-US" sz="1100" dirty="0">
              <a:solidFill>
                <a:schemeClr val="tx2"/>
              </a:solidFill>
            </a:endParaRPr>
          </a:p>
        </p:txBody>
      </p:sp>
      <p:sp>
        <p:nvSpPr>
          <p:cNvPr id="239" name="모서리가 둥근 직사각형 238"/>
          <p:cNvSpPr/>
          <p:nvPr/>
        </p:nvSpPr>
        <p:spPr>
          <a:xfrm>
            <a:off x="9833750" y="6134844"/>
            <a:ext cx="2034400" cy="272111"/>
          </a:xfrm>
          <a:prstGeom prst="roundRect">
            <a:avLst/>
          </a:prstGeom>
          <a:noFill/>
          <a:ln>
            <a:noFill/>
          </a:ln>
        </p:spPr>
        <p:style>
          <a:lnRef idx="1">
            <a:schemeClr val="accent5"/>
          </a:lnRef>
          <a:fillRef idx="3">
            <a:schemeClr val="accent5"/>
          </a:fillRef>
          <a:effectRef idx="2">
            <a:schemeClr val="accent5"/>
          </a:effectRef>
          <a:fontRef idx="minor">
            <a:schemeClr val="lt1"/>
          </a:fontRef>
        </p:style>
        <p:txBody>
          <a:bodyPr rtlCol="0" anchor="ctr"/>
          <a:lstStyle/>
          <a:p>
            <a:r>
              <a:rPr lang="ko-KR" altLang="en-US" sz="1100" dirty="0" err="1">
                <a:solidFill>
                  <a:schemeClr val="tx2"/>
                </a:solidFill>
              </a:rPr>
              <a:t>양벌규정</a:t>
            </a:r>
            <a:r>
              <a:rPr lang="en-US" altLang="ko-KR" sz="1100" dirty="0">
                <a:solidFill>
                  <a:schemeClr val="tx2"/>
                </a:solidFill>
              </a:rPr>
              <a:t>(</a:t>
            </a:r>
            <a:r>
              <a:rPr lang="ko-KR" altLang="en-US" sz="1100" dirty="0">
                <a:solidFill>
                  <a:schemeClr val="tx2"/>
                </a:solidFill>
              </a:rPr>
              <a:t>法 </a:t>
            </a:r>
            <a:r>
              <a:rPr lang="en-US" altLang="ko-KR" sz="1100" dirty="0">
                <a:solidFill>
                  <a:schemeClr val="tx2"/>
                </a:solidFill>
              </a:rPr>
              <a:t>230)</a:t>
            </a:r>
            <a:endParaRPr lang="ko-KR" altLang="en-US" sz="1100" dirty="0">
              <a:solidFill>
                <a:schemeClr val="tx2"/>
              </a:solidFill>
            </a:endParaRPr>
          </a:p>
        </p:txBody>
      </p:sp>
      <p:cxnSp>
        <p:nvCxnSpPr>
          <p:cNvPr id="240" name="꺾인 연결선 239"/>
          <p:cNvCxnSpPr>
            <a:stCxn id="231" idx="3"/>
            <a:endCxn id="233" idx="1"/>
          </p:cNvCxnSpPr>
          <p:nvPr/>
        </p:nvCxnSpPr>
        <p:spPr>
          <a:xfrm>
            <a:off x="9544049" y="4245351"/>
            <a:ext cx="289701" cy="4089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1" name="꺾인 연결선 240"/>
          <p:cNvCxnSpPr>
            <a:stCxn id="231" idx="3"/>
            <a:endCxn id="234" idx="1"/>
          </p:cNvCxnSpPr>
          <p:nvPr/>
        </p:nvCxnSpPr>
        <p:spPr>
          <a:xfrm>
            <a:off x="9544049" y="4245351"/>
            <a:ext cx="289701" cy="37634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꺾인 연결선 241"/>
          <p:cNvCxnSpPr>
            <a:stCxn id="231" idx="3"/>
            <a:endCxn id="235" idx="1"/>
          </p:cNvCxnSpPr>
          <p:nvPr/>
        </p:nvCxnSpPr>
        <p:spPr>
          <a:xfrm>
            <a:off x="9544049" y="4245351"/>
            <a:ext cx="289701" cy="70152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3" name="꺾인 연결선 242"/>
          <p:cNvCxnSpPr>
            <a:stCxn id="231" idx="3"/>
            <a:endCxn id="236" idx="1"/>
          </p:cNvCxnSpPr>
          <p:nvPr/>
        </p:nvCxnSpPr>
        <p:spPr>
          <a:xfrm>
            <a:off x="9544049" y="4245351"/>
            <a:ext cx="289701" cy="102810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4" name="꺾인 연결선 243"/>
          <p:cNvCxnSpPr>
            <a:stCxn id="232" idx="3"/>
            <a:endCxn id="237" idx="1"/>
          </p:cNvCxnSpPr>
          <p:nvPr/>
        </p:nvCxnSpPr>
        <p:spPr>
          <a:xfrm flipV="1">
            <a:off x="9544049" y="5619143"/>
            <a:ext cx="289701" cy="25549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꺾인 연결선 244"/>
          <p:cNvCxnSpPr>
            <a:stCxn id="232" idx="3"/>
            <a:endCxn id="239" idx="1"/>
          </p:cNvCxnSpPr>
          <p:nvPr/>
        </p:nvCxnSpPr>
        <p:spPr>
          <a:xfrm>
            <a:off x="9544049" y="5874633"/>
            <a:ext cx="289701" cy="39626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꺾인 연결선 245"/>
          <p:cNvCxnSpPr>
            <a:stCxn id="232" idx="3"/>
            <a:endCxn id="238" idx="1"/>
          </p:cNvCxnSpPr>
          <p:nvPr/>
        </p:nvCxnSpPr>
        <p:spPr>
          <a:xfrm>
            <a:off x="9544049" y="5874633"/>
            <a:ext cx="289701" cy="6969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3" name="꺾인 연결선 272"/>
          <p:cNvCxnSpPr>
            <a:stCxn id="171" idx="3"/>
            <a:endCxn id="231" idx="1"/>
          </p:cNvCxnSpPr>
          <p:nvPr/>
        </p:nvCxnSpPr>
        <p:spPr>
          <a:xfrm>
            <a:off x="7639050" y="4229846"/>
            <a:ext cx="665458" cy="1550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5" name="꺾인 연결선 274"/>
          <p:cNvCxnSpPr>
            <a:stCxn id="171" idx="3"/>
            <a:endCxn id="232" idx="1"/>
          </p:cNvCxnSpPr>
          <p:nvPr/>
        </p:nvCxnSpPr>
        <p:spPr>
          <a:xfrm>
            <a:off x="7639050" y="4229846"/>
            <a:ext cx="665457" cy="164478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r>
              <a:rPr lang="en-US" altLang="ko-KR"/>
              <a:t>425</a:t>
            </a:r>
            <a:endParaRPr lang="ko-KR" altLang="en-US"/>
          </a:p>
        </p:txBody>
      </p:sp>
    </p:spTree>
    <p:extLst>
      <p:ext uri="{BB962C8B-B14F-4D97-AF65-F5344CB8AC3E}">
        <p14:creationId xmlns:p14="http://schemas.microsoft.com/office/powerpoint/2010/main" val="3223814393"/>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ko-KR" altLang="en-US" dirty="0"/>
              <a:t>특허법상 권리</a:t>
            </a:r>
          </a:p>
        </p:txBody>
      </p:sp>
      <p:graphicFrame>
        <p:nvGraphicFramePr>
          <p:cNvPr id="4" name="표 3"/>
          <p:cNvGraphicFramePr>
            <a:graphicFrameLocks noGrp="1"/>
          </p:cNvGraphicFramePr>
          <p:nvPr/>
        </p:nvGraphicFramePr>
        <p:xfrm>
          <a:off x="171450" y="976002"/>
          <a:ext cx="11658600" cy="5824757"/>
        </p:xfrm>
        <a:graphic>
          <a:graphicData uri="http://schemas.openxmlformats.org/drawingml/2006/table">
            <a:tbl>
              <a:tblPr>
                <a:tableStyleId>{8799B23B-EC83-4686-B30A-512413B5E67A}</a:tableStyleId>
              </a:tblPr>
              <a:tblGrid>
                <a:gridCol w="791734">
                  <a:extLst>
                    <a:ext uri="{9D8B030D-6E8A-4147-A177-3AD203B41FA5}">
                      <a16:colId xmlns:a16="http://schemas.microsoft.com/office/drawing/2014/main" val="20000"/>
                    </a:ext>
                  </a:extLst>
                </a:gridCol>
                <a:gridCol w="752175">
                  <a:extLst>
                    <a:ext uri="{9D8B030D-6E8A-4147-A177-3AD203B41FA5}">
                      <a16:colId xmlns:a16="http://schemas.microsoft.com/office/drawing/2014/main" val="20001"/>
                    </a:ext>
                  </a:extLst>
                </a:gridCol>
                <a:gridCol w="5201908">
                  <a:extLst>
                    <a:ext uri="{9D8B030D-6E8A-4147-A177-3AD203B41FA5}">
                      <a16:colId xmlns:a16="http://schemas.microsoft.com/office/drawing/2014/main" val="20002"/>
                    </a:ext>
                  </a:extLst>
                </a:gridCol>
                <a:gridCol w="2396066">
                  <a:extLst>
                    <a:ext uri="{9D8B030D-6E8A-4147-A177-3AD203B41FA5}">
                      <a16:colId xmlns:a16="http://schemas.microsoft.com/office/drawing/2014/main" val="20003"/>
                    </a:ext>
                  </a:extLst>
                </a:gridCol>
                <a:gridCol w="2516717">
                  <a:extLst>
                    <a:ext uri="{9D8B030D-6E8A-4147-A177-3AD203B41FA5}">
                      <a16:colId xmlns:a16="http://schemas.microsoft.com/office/drawing/2014/main" val="20004"/>
                    </a:ext>
                  </a:extLst>
                </a:gridCol>
              </a:tblGrid>
              <a:tr h="125351">
                <a:tc rowSpan="2" gridSpan="2">
                  <a:txBody>
                    <a:bodyPr/>
                    <a:lstStyle/>
                    <a:p>
                      <a:pPr marL="0" marR="0" indent="0" algn="ctr" fontAlgn="base" latinLnBrk="0">
                        <a:lnSpc>
                          <a:spcPct val="100000"/>
                        </a:lnSpc>
                        <a:spcBef>
                          <a:spcPts val="0"/>
                        </a:spcBef>
                        <a:spcAft>
                          <a:spcPts val="0"/>
                        </a:spcAft>
                      </a:pPr>
                      <a:r>
                        <a:rPr lang="ko-KR" altLang="en-US" sz="1000" b="1" kern="0" spc="0" dirty="0">
                          <a:effectLst/>
                          <a:latin typeface="+mn-ea"/>
                          <a:ea typeface="+mn-ea"/>
                        </a:rPr>
                        <a:t>권리　</a:t>
                      </a:r>
                      <a:endParaRPr lang="ko-KR" altLang="en-US" sz="1000" b="1" kern="0" spc="0" dirty="0">
                        <a:solidFill>
                          <a:srgbClr val="000000"/>
                        </a:solidFill>
                        <a:effectLst/>
                        <a:latin typeface="+mn-ea"/>
                        <a:ea typeface="+mn-ea"/>
                      </a:endParaRPr>
                    </a:p>
                  </a:txBody>
                  <a:tcPr marL="51439" marR="51439" marT="25720" marB="25720" anchor="ctr">
                    <a:solidFill>
                      <a:schemeClr val="accent1">
                        <a:lumMod val="20000"/>
                        <a:lumOff val="80000"/>
                      </a:schemeClr>
                    </a:solidFill>
                  </a:tcPr>
                </a:tc>
                <a:tc rowSpan="2" h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1000" b="1" kern="0" spc="0" dirty="0">
                          <a:effectLst/>
                          <a:latin typeface="+mn-ea"/>
                          <a:ea typeface="+mn-ea"/>
                        </a:rPr>
                        <a:t>특허권</a:t>
                      </a:r>
                      <a:endParaRPr lang="ko-KR" altLang="en-US" sz="1000" b="1" kern="0" spc="0" dirty="0">
                        <a:solidFill>
                          <a:srgbClr val="000000"/>
                        </a:solidFill>
                        <a:effectLst/>
                        <a:latin typeface="+mn-ea"/>
                        <a:ea typeface="+mn-ea"/>
                      </a:endParaRPr>
                    </a:p>
                  </a:txBody>
                  <a:tcPr marL="51439" marR="51439" marT="25720" marB="25720" anchor="ctr">
                    <a:solidFill>
                      <a:schemeClr val="accent1">
                        <a:lumMod val="20000"/>
                        <a:lumOff val="80000"/>
                      </a:schemeClr>
                    </a:solidFill>
                  </a:tcPr>
                </a:tc>
                <a:tc gridSpan="2">
                  <a:txBody>
                    <a:bodyPr/>
                    <a:lstStyle/>
                    <a:p>
                      <a:pPr marL="0" marR="0" indent="0" algn="ctr" fontAlgn="base" latinLnBrk="0">
                        <a:lnSpc>
                          <a:spcPct val="100000"/>
                        </a:lnSpc>
                        <a:spcBef>
                          <a:spcPts val="0"/>
                        </a:spcBef>
                        <a:spcAft>
                          <a:spcPts val="0"/>
                        </a:spcAft>
                      </a:pPr>
                      <a:r>
                        <a:rPr lang="ko-KR" altLang="en-US" sz="1000" b="1" kern="0" spc="0" dirty="0" err="1">
                          <a:effectLst/>
                          <a:latin typeface="+mn-ea"/>
                          <a:ea typeface="+mn-ea"/>
                        </a:rPr>
                        <a:t>실시권</a:t>
                      </a:r>
                      <a:endParaRPr lang="ko-KR" altLang="en-US" sz="1000" b="1" kern="0" spc="0" dirty="0">
                        <a:solidFill>
                          <a:srgbClr val="000000"/>
                        </a:solidFill>
                        <a:effectLst/>
                        <a:latin typeface="+mn-ea"/>
                        <a:ea typeface="+mn-ea"/>
                      </a:endParaRPr>
                    </a:p>
                  </a:txBody>
                  <a:tcPr marL="51439" marR="51439" marT="25720" marB="25720" anchor="ctr">
                    <a:solidFill>
                      <a:schemeClr val="accent1">
                        <a:lumMod val="20000"/>
                        <a:lumOff val="80000"/>
                      </a:schemeClr>
                    </a:solidFill>
                  </a:tcPr>
                </a:tc>
                <a:tc hMerge="1">
                  <a:txBody>
                    <a:bodyPr/>
                    <a:lstStyle/>
                    <a:p>
                      <a:pPr latinLnBrk="1"/>
                      <a:endParaRPr lang="ko-KR" altLang="en-US"/>
                    </a:p>
                  </a:txBody>
                  <a:tcPr/>
                </a:tc>
                <a:extLst>
                  <a:ext uri="{0D108BD9-81ED-4DB2-BD59-A6C34878D82A}">
                    <a16:rowId xmlns:a16="http://schemas.microsoft.com/office/drawing/2014/main" val="10000"/>
                  </a:ext>
                </a:extLst>
              </a:tr>
              <a:tr h="125351">
                <a:tc gridSpan="2" vMerge="1">
                  <a:txBody>
                    <a:bodyPr/>
                    <a:lstStyle/>
                    <a:p>
                      <a:pPr latinLnBrk="1"/>
                      <a:endParaRPr lang="ko-KR" altLang="en-US"/>
                    </a:p>
                  </a:txBody>
                  <a:tcPr/>
                </a:tc>
                <a:tc hMerge="1"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00" b="1" kern="0" spc="0" dirty="0">
                          <a:solidFill>
                            <a:srgbClr val="000000"/>
                          </a:solidFill>
                          <a:effectLst/>
                          <a:latin typeface="+mn-ea"/>
                          <a:ea typeface="+mn-ea"/>
                        </a:rPr>
                        <a:t>전용권</a:t>
                      </a:r>
                    </a:p>
                  </a:txBody>
                  <a:tcPr marL="51439" marR="51439" marT="25720" marB="2572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00" b="1" kern="0" spc="0" dirty="0" err="1">
                          <a:solidFill>
                            <a:srgbClr val="000000"/>
                          </a:solidFill>
                          <a:effectLst/>
                          <a:latin typeface="+mn-ea"/>
                          <a:ea typeface="+mn-ea"/>
                        </a:rPr>
                        <a:t>통상권</a:t>
                      </a:r>
                      <a:endParaRPr lang="ko-KR" altLang="en-US" sz="1000" b="1" kern="0" spc="0" dirty="0">
                        <a:solidFill>
                          <a:srgbClr val="000000"/>
                        </a:solidFill>
                        <a:effectLst/>
                        <a:latin typeface="+mn-ea"/>
                        <a:ea typeface="+mn-ea"/>
                      </a:endParaRPr>
                    </a:p>
                  </a:txBody>
                  <a:tcPr marL="51439" marR="51439" marT="25720" marB="25720" anchor="ctr">
                    <a:solidFill>
                      <a:schemeClr val="accent1">
                        <a:lumMod val="20000"/>
                        <a:lumOff val="80000"/>
                      </a:schemeClr>
                    </a:solidFill>
                  </a:tcPr>
                </a:tc>
                <a:extLst>
                  <a:ext uri="{0D108BD9-81ED-4DB2-BD59-A6C34878D82A}">
                    <a16:rowId xmlns:a16="http://schemas.microsoft.com/office/drawing/2014/main" val="10001"/>
                  </a:ext>
                </a:extLst>
              </a:tr>
              <a:tr h="125351">
                <a:tc rowSpan="3">
                  <a:txBody>
                    <a:bodyPr/>
                    <a:lstStyle/>
                    <a:p>
                      <a:pPr marL="0" marR="0" indent="0" algn="ctr" fontAlgn="base" latinLnBrk="0">
                        <a:lnSpc>
                          <a:spcPct val="100000"/>
                        </a:lnSpc>
                        <a:spcBef>
                          <a:spcPts val="0"/>
                        </a:spcBef>
                        <a:spcAft>
                          <a:spcPts val="0"/>
                        </a:spcAft>
                      </a:pPr>
                      <a:r>
                        <a:rPr lang="ko-KR" altLang="en-US" sz="1000" kern="0" spc="0">
                          <a:effectLst/>
                          <a:latin typeface="+mn-ea"/>
                          <a:ea typeface="+mn-ea"/>
                        </a:rPr>
                        <a:t>서</a:t>
                      </a:r>
                      <a:endParaRPr lang="ko-KR" altLang="en-US" sz="1000" b="1" kern="0" spc="0">
                        <a:solidFill>
                          <a:srgbClr val="000000"/>
                        </a:solidFill>
                        <a:effectLst/>
                        <a:latin typeface="+mn-ea"/>
                        <a:ea typeface="+mn-ea"/>
                      </a:endParaRPr>
                    </a:p>
                  </a:txBody>
                  <a:tcPr marL="51439" marR="51439" marT="25720" marB="25720" anchor="ctr"/>
                </a:tc>
                <a:tc>
                  <a:txBody>
                    <a:bodyPr/>
                    <a:lstStyle/>
                    <a:p>
                      <a:pPr marL="0" marR="0" indent="0" algn="ctr" fontAlgn="base" latinLnBrk="0">
                        <a:lnSpc>
                          <a:spcPct val="100000"/>
                        </a:lnSpc>
                        <a:spcBef>
                          <a:spcPts val="0"/>
                        </a:spcBef>
                        <a:spcAft>
                          <a:spcPts val="0"/>
                        </a:spcAft>
                      </a:pPr>
                      <a:r>
                        <a:rPr lang="ko-KR" altLang="en-US" sz="1000" kern="0" spc="0">
                          <a:effectLst/>
                          <a:latin typeface="+mn-ea"/>
                          <a:ea typeface="+mn-ea"/>
                        </a:rPr>
                        <a:t>의의</a:t>
                      </a:r>
                      <a:endParaRPr lang="ko-KR" altLang="en-US" sz="1000" b="1" kern="0" spc="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000" kern="0" spc="0" dirty="0">
                          <a:effectLst/>
                          <a:latin typeface="+mn-ea"/>
                          <a:ea typeface="+mn-ea"/>
                        </a:rPr>
                        <a:t>발명이라는 기술적 사상의 창작에 대하여 법률에 의하여 부여된 </a:t>
                      </a:r>
                      <a:r>
                        <a:rPr lang="ko-KR" altLang="en-US" sz="1000" kern="0" spc="0" dirty="0" err="1">
                          <a:effectLst/>
                          <a:latin typeface="+mn-ea"/>
                          <a:ea typeface="+mn-ea"/>
                        </a:rPr>
                        <a:t>독점배타권</a:t>
                      </a:r>
                      <a:endParaRPr lang="ko-KR" altLang="en-US" sz="1000" kern="0" spc="0" dirty="0">
                        <a:solidFill>
                          <a:srgbClr val="000000"/>
                        </a:solidFill>
                        <a:effectLst/>
                        <a:latin typeface="+mn-ea"/>
                        <a:ea typeface="+mn-ea"/>
                      </a:endParaRPr>
                    </a:p>
                  </a:txBody>
                  <a:tcPr marL="51439" marR="51439" marT="25720" marB="25720" anchor="ctr"/>
                </a:tc>
                <a:tc gridSpan="2">
                  <a:txBody>
                    <a:bodyPr/>
                    <a:lstStyle/>
                    <a:p>
                      <a:pPr marL="0" marR="0" indent="0" algn="just" fontAlgn="base" latinLnBrk="1">
                        <a:lnSpc>
                          <a:spcPct val="100000"/>
                        </a:lnSpc>
                        <a:spcBef>
                          <a:spcPts val="0"/>
                        </a:spcBef>
                        <a:spcAft>
                          <a:spcPts val="0"/>
                        </a:spcAft>
                      </a:pPr>
                      <a:r>
                        <a:rPr lang="ko-KR" altLang="en-US" sz="1000" kern="0" spc="0" dirty="0" err="1">
                          <a:effectLst/>
                          <a:latin typeface="+mn-ea"/>
                          <a:ea typeface="+mn-ea"/>
                        </a:rPr>
                        <a:t>특허권자</a:t>
                      </a:r>
                      <a:r>
                        <a:rPr lang="ko-KR" altLang="en-US" sz="1000" kern="0" spc="0" dirty="0">
                          <a:effectLst/>
                          <a:latin typeface="+mn-ea"/>
                          <a:ea typeface="+mn-ea"/>
                        </a:rPr>
                        <a:t> 이외의 자가 업으로서 특허발명을 실시할 수 있는 권리</a:t>
                      </a:r>
                      <a:endParaRPr lang="ko-KR" altLang="en-US" sz="1000" kern="0" spc="0" dirty="0">
                        <a:solidFill>
                          <a:srgbClr val="000000"/>
                        </a:solidFill>
                        <a:effectLst/>
                        <a:latin typeface="+mn-ea"/>
                        <a:ea typeface="+mn-ea"/>
                      </a:endParaRPr>
                    </a:p>
                  </a:txBody>
                  <a:tcPr marL="51439" marR="51439" marT="25720" marB="25720" anchor="ctr"/>
                </a:tc>
                <a:tc hMerge="1">
                  <a:txBody>
                    <a:bodyPr/>
                    <a:lstStyle/>
                    <a:p>
                      <a:pPr latinLnBrk="1"/>
                      <a:endParaRPr lang="ko-KR" altLang="en-US"/>
                    </a:p>
                  </a:txBody>
                  <a:tcPr/>
                </a:tc>
                <a:extLst>
                  <a:ext uri="{0D108BD9-81ED-4DB2-BD59-A6C34878D82A}">
                    <a16:rowId xmlns:a16="http://schemas.microsoft.com/office/drawing/2014/main" val="10002"/>
                  </a:ext>
                </a:extLst>
              </a:tr>
              <a:tr h="216513">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00" kern="0" spc="0">
                          <a:effectLst/>
                          <a:latin typeface="+mn-ea"/>
                          <a:ea typeface="+mn-ea"/>
                        </a:rPr>
                        <a:t>취지</a:t>
                      </a:r>
                      <a:endParaRPr lang="ko-KR" altLang="en-US" sz="1000" b="1" kern="0" spc="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000" kern="0" spc="0">
                          <a:effectLst/>
                          <a:latin typeface="+mn-ea"/>
                          <a:ea typeface="+mn-ea"/>
                        </a:rPr>
                        <a:t>새로운 발명을 공개시킨 자에게 그 대가로서 독점배타권을 부여하여 산업발전에 이바지</a:t>
                      </a:r>
                      <a:endParaRPr lang="ko-KR" altLang="en-US" sz="1000" kern="0" spc="0">
                        <a:solidFill>
                          <a:srgbClr val="000000"/>
                        </a:solidFill>
                        <a:effectLst/>
                        <a:latin typeface="+mn-ea"/>
                        <a:ea typeface="+mn-ea"/>
                      </a:endParaRPr>
                    </a:p>
                  </a:txBody>
                  <a:tcPr marL="51439" marR="51439" marT="25720" marB="25720" anchor="ctr"/>
                </a:tc>
                <a:tc gridSpan="2">
                  <a:txBody>
                    <a:bodyPr/>
                    <a:lstStyle/>
                    <a:p>
                      <a:pPr marL="0" marR="0" indent="0" algn="just" fontAlgn="base" latinLnBrk="1">
                        <a:lnSpc>
                          <a:spcPct val="100000"/>
                        </a:lnSpc>
                        <a:spcBef>
                          <a:spcPts val="0"/>
                        </a:spcBef>
                        <a:spcAft>
                          <a:spcPts val="0"/>
                        </a:spcAft>
                      </a:pPr>
                      <a:r>
                        <a:rPr lang="en-US" altLang="ko-KR" sz="1000" kern="0" spc="0" dirty="0">
                          <a:effectLst/>
                          <a:latin typeface="+mn-ea"/>
                          <a:ea typeface="+mn-ea"/>
                        </a:rPr>
                        <a:t>1.</a:t>
                      </a:r>
                      <a:r>
                        <a:rPr lang="ko-KR" altLang="en-US" sz="1000" kern="0" spc="0" dirty="0">
                          <a:effectLst/>
                          <a:latin typeface="+mn-ea"/>
                          <a:ea typeface="+mn-ea"/>
                        </a:rPr>
                        <a:t>실시장려를 통한 산업발전 이바지</a:t>
                      </a:r>
                    </a:p>
                    <a:p>
                      <a:pPr marL="0" marR="0" indent="0" algn="just" fontAlgn="base" latinLnBrk="1">
                        <a:lnSpc>
                          <a:spcPct val="100000"/>
                        </a:lnSpc>
                        <a:spcBef>
                          <a:spcPts val="0"/>
                        </a:spcBef>
                        <a:spcAft>
                          <a:spcPts val="0"/>
                        </a:spcAft>
                      </a:pPr>
                      <a:r>
                        <a:rPr lang="en-US" altLang="ko-KR" sz="1000" kern="0" spc="0" dirty="0">
                          <a:effectLst/>
                          <a:latin typeface="+mn-ea"/>
                          <a:ea typeface="+mn-ea"/>
                        </a:rPr>
                        <a:t>2.</a:t>
                      </a:r>
                      <a:r>
                        <a:rPr lang="ko-KR" altLang="en-US" sz="1000" kern="0" spc="0" dirty="0">
                          <a:effectLst/>
                          <a:latin typeface="+mn-ea"/>
                          <a:ea typeface="+mn-ea"/>
                        </a:rPr>
                        <a:t>특허권의 재산적 가치 존중</a:t>
                      </a:r>
                      <a:endParaRPr lang="ko-KR" altLang="en-US" sz="1000" kern="0" spc="0" dirty="0">
                        <a:solidFill>
                          <a:srgbClr val="000000"/>
                        </a:solidFill>
                        <a:effectLst/>
                        <a:latin typeface="+mn-ea"/>
                        <a:ea typeface="+mn-ea"/>
                      </a:endParaRPr>
                    </a:p>
                  </a:txBody>
                  <a:tcPr marL="51439" marR="51439" marT="25720" marB="25720" anchor="ctr"/>
                </a:tc>
                <a:tc hMerge="1">
                  <a:txBody>
                    <a:bodyPr/>
                    <a:lstStyle/>
                    <a:p>
                      <a:pPr latinLnBrk="1"/>
                      <a:endParaRPr lang="ko-KR" altLang="en-US"/>
                    </a:p>
                  </a:txBody>
                  <a:tcPr/>
                </a:tc>
                <a:extLst>
                  <a:ext uri="{0D108BD9-81ED-4DB2-BD59-A6C34878D82A}">
                    <a16:rowId xmlns:a16="http://schemas.microsoft.com/office/drawing/2014/main" val="10003"/>
                  </a:ext>
                </a:extLst>
              </a:tr>
              <a:tr h="216513">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00" kern="0" spc="0">
                          <a:effectLst/>
                          <a:latin typeface="+mn-ea"/>
                          <a:ea typeface="+mn-ea"/>
                        </a:rPr>
                        <a:t>성질</a:t>
                      </a:r>
                      <a:endParaRPr lang="ko-KR" altLang="en-US" sz="1000" b="1" kern="0" spc="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000" kern="0" spc="0">
                          <a:effectLst/>
                          <a:latin typeface="+mn-ea"/>
                          <a:ea typeface="+mn-ea"/>
                        </a:rPr>
                        <a:t>무체재산권</a:t>
                      </a:r>
                      <a:endParaRPr lang="ko-KR" altLang="en-US" sz="1000" kern="0" spc="0">
                        <a:solidFill>
                          <a:srgbClr val="000000"/>
                        </a:solidFill>
                        <a:effectLst/>
                        <a:latin typeface="+mn-ea"/>
                        <a:ea typeface="+mn-ea"/>
                      </a:endParaRPr>
                    </a:p>
                  </a:txBody>
                  <a:tcPr marL="51439" marR="51439" marT="25720" marB="25720" anchor="ctr"/>
                </a:tc>
                <a:tc gridSpan="2">
                  <a:txBody>
                    <a:bodyPr/>
                    <a:lstStyle/>
                    <a:p>
                      <a:pPr marL="0" marR="0" indent="0" algn="just" fontAlgn="base" latinLnBrk="1">
                        <a:lnSpc>
                          <a:spcPct val="100000"/>
                        </a:lnSpc>
                        <a:spcBef>
                          <a:spcPts val="0"/>
                        </a:spcBef>
                        <a:spcAft>
                          <a:spcPts val="0"/>
                        </a:spcAft>
                      </a:pPr>
                      <a:r>
                        <a:rPr lang="en-US" altLang="ko-KR" sz="1000" kern="0" spc="0" dirty="0">
                          <a:effectLst/>
                          <a:latin typeface="+mn-ea"/>
                          <a:ea typeface="+mn-ea"/>
                        </a:rPr>
                        <a:t>1.</a:t>
                      </a:r>
                      <a:r>
                        <a:rPr lang="ko-KR" altLang="en-US" sz="1000" kern="0" spc="0" dirty="0">
                          <a:effectLst/>
                          <a:latin typeface="+mn-ea"/>
                          <a:ea typeface="+mn-ea"/>
                        </a:rPr>
                        <a:t>부수적</a:t>
                      </a:r>
                    </a:p>
                    <a:p>
                      <a:pPr marL="0" marR="0" indent="0" algn="just" fontAlgn="base" latinLnBrk="1">
                        <a:lnSpc>
                          <a:spcPct val="100000"/>
                        </a:lnSpc>
                        <a:spcBef>
                          <a:spcPts val="0"/>
                        </a:spcBef>
                        <a:spcAft>
                          <a:spcPts val="0"/>
                        </a:spcAft>
                      </a:pPr>
                      <a:r>
                        <a:rPr lang="en-US" altLang="ko-KR" sz="1000" kern="0" spc="0" dirty="0">
                          <a:effectLst/>
                          <a:latin typeface="+mn-ea"/>
                          <a:ea typeface="+mn-ea"/>
                        </a:rPr>
                        <a:t>2.</a:t>
                      </a:r>
                      <a:r>
                        <a:rPr lang="ko-KR" altLang="en-US" sz="1000" kern="0" spc="0" dirty="0">
                          <a:effectLst/>
                          <a:latin typeface="+mn-ea"/>
                          <a:ea typeface="+mn-ea"/>
                        </a:rPr>
                        <a:t>물권적</a:t>
                      </a:r>
                      <a:r>
                        <a:rPr lang="en-US" altLang="ko-KR" sz="1000" kern="0" spc="0" dirty="0">
                          <a:effectLst/>
                          <a:latin typeface="+mn-ea"/>
                          <a:ea typeface="+mn-ea"/>
                        </a:rPr>
                        <a:t>(</a:t>
                      </a:r>
                      <a:r>
                        <a:rPr lang="ko-KR" altLang="en-US" sz="1000" kern="0" spc="0" dirty="0">
                          <a:effectLst/>
                          <a:latin typeface="+mn-ea"/>
                          <a:ea typeface="+mn-ea"/>
                        </a:rPr>
                        <a:t>전용권</a:t>
                      </a:r>
                      <a:r>
                        <a:rPr lang="en-US" altLang="ko-KR" sz="1000" kern="0" spc="0" dirty="0">
                          <a:effectLst/>
                          <a:latin typeface="+mn-ea"/>
                          <a:ea typeface="+mn-ea"/>
                        </a:rPr>
                        <a:t>) vs </a:t>
                      </a:r>
                      <a:r>
                        <a:rPr lang="ko-KR" altLang="en-US" sz="1000" kern="0" spc="0" dirty="0">
                          <a:effectLst/>
                          <a:latin typeface="+mn-ea"/>
                          <a:ea typeface="+mn-ea"/>
                        </a:rPr>
                        <a:t>채권적</a:t>
                      </a:r>
                      <a:r>
                        <a:rPr lang="en-US" altLang="ko-KR" sz="1000" kern="0" spc="0" dirty="0">
                          <a:effectLst/>
                          <a:latin typeface="+mn-ea"/>
                          <a:ea typeface="+mn-ea"/>
                        </a:rPr>
                        <a:t>(</a:t>
                      </a:r>
                      <a:r>
                        <a:rPr lang="ko-KR" altLang="en-US" sz="1000" kern="0" spc="0" dirty="0" err="1">
                          <a:effectLst/>
                          <a:latin typeface="+mn-ea"/>
                          <a:ea typeface="+mn-ea"/>
                        </a:rPr>
                        <a:t>통상권</a:t>
                      </a:r>
                      <a:r>
                        <a:rPr lang="en-US" altLang="ko-KR" sz="1000" kern="0" spc="0" dirty="0">
                          <a:effectLst/>
                          <a:latin typeface="+mn-ea"/>
                          <a:ea typeface="+mn-ea"/>
                        </a:rPr>
                        <a:t>)</a:t>
                      </a:r>
                      <a:endParaRPr lang="ko-KR" altLang="en-US" sz="1000" kern="0" spc="0" dirty="0">
                        <a:solidFill>
                          <a:srgbClr val="000000"/>
                        </a:solidFill>
                        <a:effectLst/>
                        <a:latin typeface="+mn-ea"/>
                        <a:ea typeface="+mn-ea"/>
                      </a:endParaRPr>
                    </a:p>
                  </a:txBody>
                  <a:tcPr marL="51439" marR="51439" marT="25720" marB="25720" anchor="ctr"/>
                </a:tc>
                <a:tc hMerge="1">
                  <a:txBody>
                    <a:bodyPr/>
                    <a:lstStyle/>
                    <a:p>
                      <a:pPr latinLnBrk="1"/>
                      <a:endParaRPr lang="ko-KR" altLang="en-US"/>
                    </a:p>
                  </a:txBody>
                  <a:tcPr/>
                </a:tc>
                <a:extLst>
                  <a:ext uri="{0D108BD9-81ED-4DB2-BD59-A6C34878D82A}">
                    <a16:rowId xmlns:a16="http://schemas.microsoft.com/office/drawing/2014/main" val="10004"/>
                  </a:ext>
                </a:extLst>
              </a:tr>
              <a:tr h="307675">
                <a:tc gridSpan="2">
                  <a:txBody>
                    <a:bodyPr/>
                    <a:lstStyle/>
                    <a:p>
                      <a:pPr marL="0" marR="0" indent="0" algn="ctr" fontAlgn="base" latinLnBrk="0">
                        <a:lnSpc>
                          <a:spcPct val="100000"/>
                        </a:lnSpc>
                        <a:spcBef>
                          <a:spcPts val="0"/>
                        </a:spcBef>
                        <a:spcAft>
                          <a:spcPts val="0"/>
                        </a:spcAft>
                      </a:pPr>
                      <a:r>
                        <a:rPr lang="ko-KR" altLang="en-US" sz="1000" kern="0" spc="0">
                          <a:effectLst/>
                          <a:latin typeface="+mn-ea"/>
                          <a:ea typeface="+mn-ea"/>
                        </a:rPr>
                        <a:t>발생</a:t>
                      </a:r>
                      <a:endParaRPr lang="ko-KR" altLang="en-US" sz="1000" b="1" kern="0" spc="0">
                        <a:solidFill>
                          <a:srgbClr val="000000"/>
                        </a:solidFill>
                        <a:effectLst/>
                        <a:latin typeface="+mn-ea"/>
                        <a:ea typeface="+mn-ea"/>
                      </a:endParaRPr>
                    </a:p>
                  </a:txBody>
                  <a:tcPr marL="51439" marR="51439" marT="25720" marB="25720"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en-US" altLang="ko-KR" sz="1000" kern="0" spc="0" dirty="0">
                          <a:effectLst/>
                          <a:latin typeface="+mn-ea"/>
                          <a:ea typeface="+mn-ea"/>
                        </a:rPr>
                        <a:t>1.</a:t>
                      </a:r>
                      <a:r>
                        <a:rPr lang="ko-KR" altLang="en-US" sz="1000" kern="0" spc="0" dirty="0">
                          <a:effectLst/>
                          <a:latin typeface="+mn-ea"/>
                          <a:ea typeface="+mn-ea"/>
                        </a:rPr>
                        <a:t>특허결정</a:t>
                      </a:r>
                      <a:r>
                        <a:rPr lang="en-US" altLang="ko-KR" sz="1000" kern="0" spc="0" dirty="0">
                          <a:effectLst/>
                          <a:latin typeface="+mn-ea"/>
                          <a:ea typeface="+mn-ea"/>
                        </a:rPr>
                        <a:t>(</a:t>
                      </a:r>
                      <a:r>
                        <a:rPr lang="ko-KR" altLang="en-US" sz="1000" kern="0" spc="0" dirty="0">
                          <a:effectLst/>
                          <a:latin typeface="+mn-ea"/>
                          <a:ea typeface="+mn-ea"/>
                        </a:rPr>
                        <a:t>法 </a:t>
                      </a:r>
                      <a:r>
                        <a:rPr lang="en-US" altLang="ko-KR" sz="1000" kern="0" spc="0" dirty="0">
                          <a:effectLst/>
                          <a:latin typeface="+mn-ea"/>
                          <a:ea typeface="+mn-ea"/>
                        </a:rPr>
                        <a:t>66)</a:t>
                      </a:r>
                      <a:endParaRPr lang="ko-KR" altLang="en-US" sz="1000" kern="0" spc="0" dirty="0">
                        <a:effectLst/>
                        <a:latin typeface="+mn-ea"/>
                        <a:ea typeface="+mn-ea"/>
                      </a:endParaRPr>
                    </a:p>
                    <a:p>
                      <a:pPr marL="0" marR="0" indent="0" algn="just" fontAlgn="base" latinLnBrk="1">
                        <a:lnSpc>
                          <a:spcPct val="100000"/>
                        </a:lnSpc>
                        <a:spcBef>
                          <a:spcPts val="0"/>
                        </a:spcBef>
                        <a:spcAft>
                          <a:spcPts val="0"/>
                        </a:spcAft>
                      </a:pPr>
                      <a:r>
                        <a:rPr lang="en-US" altLang="ko-KR" sz="1000" kern="0" spc="0" dirty="0">
                          <a:effectLst/>
                          <a:latin typeface="+mn-ea"/>
                          <a:ea typeface="+mn-ea"/>
                        </a:rPr>
                        <a:t>2.</a:t>
                      </a:r>
                      <a:r>
                        <a:rPr lang="ko-KR" altLang="en-US" sz="1000" kern="0" spc="0" dirty="0">
                          <a:effectLst/>
                          <a:latin typeface="+mn-ea"/>
                          <a:ea typeface="+mn-ea"/>
                        </a:rPr>
                        <a:t>특허료 납부</a:t>
                      </a:r>
                      <a:r>
                        <a:rPr lang="en-US" altLang="ko-KR" sz="1000" kern="0" spc="0" dirty="0">
                          <a:effectLst/>
                          <a:latin typeface="+mn-ea"/>
                          <a:ea typeface="+mn-ea"/>
                        </a:rPr>
                        <a:t>(</a:t>
                      </a:r>
                      <a:r>
                        <a:rPr lang="ko-KR" altLang="en-US" sz="1000" kern="0" spc="0" dirty="0">
                          <a:effectLst/>
                          <a:latin typeface="+mn-ea"/>
                          <a:ea typeface="+mn-ea"/>
                        </a:rPr>
                        <a:t>法 </a:t>
                      </a:r>
                      <a:r>
                        <a:rPr lang="en-US" altLang="ko-KR" sz="1000" kern="0" spc="0" dirty="0">
                          <a:effectLst/>
                          <a:latin typeface="+mn-ea"/>
                          <a:ea typeface="+mn-ea"/>
                        </a:rPr>
                        <a:t>79~86)</a:t>
                      </a:r>
                      <a:endParaRPr lang="ko-KR" altLang="en-US" sz="1000" kern="0" spc="0" dirty="0">
                        <a:effectLst/>
                        <a:latin typeface="+mn-ea"/>
                        <a:ea typeface="+mn-ea"/>
                      </a:endParaRPr>
                    </a:p>
                    <a:p>
                      <a:pPr marL="0" marR="0" indent="0" algn="just" fontAlgn="base" latinLnBrk="1">
                        <a:lnSpc>
                          <a:spcPct val="100000"/>
                        </a:lnSpc>
                        <a:spcBef>
                          <a:spcPts val="0"/>
                        </a:spcBef>
                        <a:spcAft>
                          <a:spcPts val="0"/>
                        </a:spcAft>
                      </a:pPr>
                      <a:r>
                        <a:rPr lang="en-US" altLang="ko-KR" sz="1000" kern="0" spc="0" dirty="0">
                          <a:effectLst/>
                          <a:latin typeface="+mn-ea"/>
                          <a:ea typeface="+mn-ea"/>
                        </a:rPr>
                        <a:t>3.</a:t>
                      </a:r>
                      <a:r>
                        <a:rPr lang="ko-KR" altLang="en-US" sz="1000" kern="0" spc="0" dirty="0">
                          <a:effectLst/>
                          <a:latin typeface="+mn-ea"/>
                          <a:ea typeface="+mn-ea"/>
                        </a:rPr>
                        <a:t>설정등록 및 등록공고</a:t>
                      </a:r>
                      <a:r>
                        <a:rPr lang="en-US" altLang="ko-KR" sz="1000" kern="0" spc="0" dirty="0">
                          <a:effectLst/>
                          <a:latin typeface="+mn-ea"/>
                          <a:ea typeface="+mn-ea"/>
                        </a:rPr>
                        <a:t>(</a:t>
                      </a:r>
                      <a:r>
                        <a:rPr lang="ko-KR" altLang="en-US" sz="1000" kern="0" spc="0" dirty="0">
                          <a:effectLst/>
                          <a:latin typeface="+mn-ea"/>
                          <a:ea typeface="+mn-ea"/>
                        </a:rPr>
                        <a:t>法 </a:t>
                      </a:r>
                      <a:r>
                        <a:rPr lang="en-US" altLang="ko-KR" sz="1000" kern="0" spc="0" dirty="0">
                          <a:effectLst/>
                          <a:latin typeface="+mn-ea"/>
                          <a:ea typeface="+mn-ea"/>
                        </a:rPr>
                        <a:t>87)</a:t>
                      </a:r>
                      <a:endParaRPr lang="ko-KR" altLang="en-US" sz="1000" kern="0" spc="0" dirty="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000" kern="0" spc="0" dirty="0">
                          <a:effectLst/>
                          <a:latin typeface="+mn-ea"/>
                          <a:ea typeface="+mn-ea"/>
                        </a:rPr>
                        <a:t>계약</a:t>
                      </a:r>
                      <a:r>
                        <a:rPr lang="en-US" altLang="ko-KR" sz="1000" kern="0" spc="0" dirty="0">
                          <a:effectLst/>
                          <a:latin typeface="+mn-ea"/>
                          <a:ea typeface="+mn-ea"/>
                        </a:rPr>
                        <a:t>&amp;</a:t>
                      </a:r>
                      <a:r>
                        <a:rPr lang="ko-KR" altLang="en-US" sz="1000" kern="0" spc="0" dirty="0">
                          <a:effectLst/>
                          <a:latin typeface="+mn-ea"/>
                          <a:ea typeface="+mn-ea"/>
                        </a:rPr>
                        <a:t>등록</a:t>
                      </a: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000" kern="0" spc="0" dirty="0">
                          <a:effectLst/>
                          <a:latin typeface="+mn-ea"/>
                          <a:ea typeface="+mn-ea"/>
                        </a:rPr>
                        <a:t>1.</a:t>
                      </a:r>
                      <a:r>
                        <a:rPr lang="ko-KR" altLang="en-US" sz="1000" kern="0" spc="0" dirty="0">
                          <a:effectLst/>
                          <a:latin typeface="+mn-ea"/>
                          <a:ea typeface="+mn-ea"/>
                        </a:rPr>
                        <a:t>허락 </a:t>
                      </a:r>
                      <a:r>
                        <a:rPr lang="en-US" altLang="ko-KR" sz="1000" kern="0" spc="0" dirty="0">
                          <a:effectLst/>
                          <a:latin typeface="+mn-ea"/>
                          <a:ea typeface="+mn-ea"/>
                        </a:rPr>
                        <a:t>- </a:t>
                      </a:r>
                      <a:r>
                        <a:rPr lang="ko-KR" altLang="en-US" sz="1000" kern="0" spc="0" dirty="0">
                          <a:effectLst/>
                          <a:latin typeface="+mn-ea"/>
                          <a:ea typeface="+mn-ea"/>
                        </a:rPr>
                        <a:t>계약</a:t>
                      </a:r>
                    </a:p>
                    <a:p>
                      <a:pPr marL="0" marR="0" indent="0" algn="just" fontAlgn="base" latinLnBrk="1">
                        <a:lnSpc>
                          <a:spcPct val="100000"/>
                        </a:lnSpc>
                        <a:spcBef>
                          <a:spcPts val="0"/>
                        </a:spcBef>
                        <a:spcAft>
                          <a:spcPts val="0"/>
                        </a:spcAft>
                      </a:pPr>
                      <a:r>
                        <a:rPr lang="en-US" altLang="ko-KR" sz="1000" kern="0" spc="0" dirty="0">
                          <a:effectLst/>
                          <a:latin typeface="+mn-ea"/>
                          <a:ea typeface="+mn-ea"/>
                        </a:rPr>
                        <a:t>2.</a:t>
                      </a:r>
                      <a:r>
                        <a:rPr lang="ko-KR" altLang="en-US" sz="1000" kern="0" spc="0" dirty="0">
                          <a:effectLst/>
                          <a:latin typeface="+mn-ea"/>
                          <a:ea typeface="+mn-ea"/>
                        </a:rPr>
                        <a:t>법정 </a:t>
                      </a:r>
                      <a:r>
                        <a:rPr lang="en-US" altLang="ko-KR" sz="1000" kern="0" spc="0" dirty="0">
                          <a:effectLst/>
                          <a:latin typeface="+mn-ea"/>
                          <a:ea typeface="+mn-ea"/>
                        </a:rPr>
                        <a:t>- </a:t>
                      </a:r>
                      <a:r>
                        <a:rPr lang="ko-KR" altLang="en-US" sz="1000" kern="0" spc="0" dirty="0">
                          <a:effectLst/>
                          <a:latin typeface="+mn-ea"/>
                          <a:ea typeface="+mn-ea"/>
                        </a:rPr>
                        <a:t>법률규정 만족</a:t>
                      </a:r>
                    </a:p>
                    <a:p>
                      <a:pPr marL="0" marR="0" indent="0" algn="just" fontAlgn="base" latinLnBrk="1">
                        <a:lnSpc>
                          <a:spcPct val="100000"/>
                        </a:lnSpc>
                        <a:spcBef>
                          <a:spcPts val="0"/>
                        </a:spcBef>
                        <a:spcAft>
                          <a:spcPts val="0"/>
                        </a:spcAft>
                      </a:pPr>
                      <a:r>
                        <a:rPr lang="en-US" altLang="ko-KR" sz="1000" kern="0" spc="0" dirty="0">
                          <a:effectLst/>
                          <a:latin typeface="+mn-ea"/>
                          <a:ea typeface="+mn-ea"/>
                        </a:rPr>
                        <a:t>3.</a:t>
                      </a:r>
                      <a:r>
                        <a:rPr lang="ko-KR" altLang="en-US" sz="1000" kern="0" spc="0" dirty="0">
                          <a:effectLst/>
                          <a:latin typeface="+mn-ea"/>
                          <a:ea typeface="+mn-ea"/>
                        </a:rPr>
                        <a:t>강제 </a:t>
                      </a:r>
                      <a:r>
                        <a:rPr lang="en-US" altLang="ko-KR" sz="1000" kern="0" spc="0" dirty="0">
                          <a:effectLst/>
                          <a:latin typeface="+mn-ea"/>
                          <a:ea typeface="+mn-ea"/>
                        </a:rPr>
                        <a:t>– </a:t>
                      </a:r>
                      <a:r>
                        <a:rPr lang="ko-KR" altLang="en-US" sz="1000" kern="0" spc="0" dirty="0">
                          <a:effectLst/>
                          <a:latin typeface="+mn-ea"/>
                          <a:ea typeface="+mn-ea"/>
                        </a:rPr>
                        <a:t>행정처분</a:t>
                      </a:r>
                      <a:endParaRPr lang="ko-KR" altLang="en-US" sz="1000" kern="0" spc="0" dirty="0">
                        <a:solidFill>
                          <a:srgbClr val="000000"/>
                        </a:solidFill>
                        <a:effectLst/>
                        <a:latin typeface="+mn-ea"/>
                        <a:ea typeface="+mn-ea"/>
                      </a:endParaRPr>
                    </a:p>
                  </a:txBody>
                  <a:tcPr marL="51439" marR="51439" marT="25720" marB="25720" anchor="ctr"/>
                </a:tc>
                <a:extLst>
                  <a:ext uri="{0D108BD9-81ED-4DB2-BD59-A6C34878D82A}">
                    <a16:rowId xmlns:a16="http://schemas.microsoft.com/office/drawing/2014/main" val="10005"/>
                  </a:ext>
                </a:extLst>
              </a:tr>
              <a:tr h="490000">
                <a:tc rowSpan="2">
                  <a:txBody>
                    <a:bodyPr/>
                    <a:lstStyle/>
                    <a:p>
                      <a:pPr marL="0" marR="0" indent="0" algn="ctr" fontAlgn="base" latinLnBrk="0">
                        <a:lnSpc>
                          <a:spcPct val="100000"/>
                        </a:lnSpc>
                        <a:spcBef>
                          <a:spcPts val="0"/>
                        </a:spcBef>
                        <a:spcAft>
                          <a:spcPts val="0"/>
                        </a:spcAft>
                      </a:pPr>
                      <a:r>
                        <a:rPr lang="ko-KR" altLang="en-US" sz="1000" kern="0" spc="0">
                          <a:effectLst/>
                          <a:latin typeface="+mn-ea"/>
                          <a:ea typeface="+mn-ea"/>
                        </a:rPr>
                        <a:t>효력</a:t>
                      </a:r>
                      <a:endParaRPr lang="ko-KR" altLang="en-US" sz="1000" b="1" kern="0" spc="0">
                        <a:solidFill>
                          <a:srgbClr val="000000"/>
                        </a:solidFill>
                        <a:effectLst/>
                        <a:latin typeface="+mn-ea"/>
                        <a:ea typeface="+mn-ea"/>
                      </a:endParaRPr>
                    </a:p>
                  </a:txBody>
                  <a:tcPr marL="51439" marR="51439" marT="25720" marB="25720" anchor="ctr"/>
                </a:tc>
                <a:tc>
                  <a:txBody>
                    <a:bodyPr/>
                    <a:lstStyle/>
                    <a:p>
                      <a:pPr marL="0" marR="0" indent="0" algn="ctr" fontAlgn="base" latinLnBrk="0">
                        <a:lnSpc>
                          <a:spcPct val="100000"/>
                        </a:lnSpc>
                        <a:spcBef>
                          <a:spcPts val="0"/>
                        </a:spcBef>
                        <a:spcAft>
                          <a:spcPts val="0"/>
                        </a:spcAft>
                      </a:pPr>
                      <a:r>
                        <a:rPr lang="ko-KR" altLang="en-US" sz="1000" kern="0" spc="0" dirty="0">
                          <a:effectLst/>
                          <a:latin typeface="+mn-ea"/>
                          <a:ea typeface="+mn-ea"/>
                        </a:rPr>
                        <a:t>범위</a:t>
                      </a:r>
                      <a:endParaRPr lang="ko-KR" altLang="en-US" sz="1000" b="1" kern="0" spc="0" dirty="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000" kern="0" spc="0" dirty="0">
                          <a:effectLst/>
                          <a:latin typeface="+mn-ea"/>
                          <a:ea typeface="+mn-ea"/>
                        </a:rPr>
                        <a:t>1.</a:t>
                      </a:r>
                      <a:r>
                        <a:rPr lang="ko-KR" altLang="en-US" sz="1000" kern="0" spc="0" dirty="0">
                          <a:effectLst/>
                          <a:latin typeface="+mn-ea"/>
                          <a:ea typeface="+mn-ea"/>
                        </a:rPr>
                        <a:t>시간적</a:t>
                      </a:r>
                      <a:r>
                        <a:rPr lang="en-US" altLang="ko-KR" sz="1000" kern="0" spc="0" dirty="0">
                          <a:effectLst/>
                          <a:latin typeface="+mn-ea"/>
                          <a:ea typeface="+mn-ea"/>
                        </a:rPr>
                        <a:t>- </a:t>
                      </a:r>
                      <a:r>
                        <a:rPr lang="ko-KR" altLang="en-US" sz="1000" kern="0" spc="0" dirty="0">
                          <a:effectLst/>
                          <a:latin typeface="+mn-ea"/>
                          <a:ea typeface="+mn-ea"/>
                        </a:rPr>
                        <a:t>①존속기간</a:t>
                      </a:r>
                      <a:r>
                        <a:rPr lang="en-US" altLang="ko-KR" sz="1000" kern="0" spc="0" dirty="0">
                          <a:effectLst/>
                          <a:latin typeface="+mn-ea"/>
                          <a:ea typeface="+mn-ea"/>
                        </a:rPr>
                        <a:t>(</a:t>
                      </a:r>
                      <a:r>
                        <a:rPr lang="ko-KR" altLang="en-US" sz="1000" kern="0" spc="0" dirty="0">
                          <a:effectLst/>
                          <a:latin typeface="+mn-ea"/>
                          <a:ea typeface="+mn-ea"/>
                        </a:rPr>
                        <a:t>法 </a:t>
                      </a:r>
                      <a:r>
                        <a:rPr lang="en-US" altLang="ko-KR" sz="1000" kern="0" spc="0" dirty="0">
                          <a:effectLst/>
                          <a:latin typeface="+mn-ea"/>
                          <a:ea typeface="+mn-ea"/>
                        </a:rPr>
                        <a:t>88)/</a:t>
                      </a:r>
                      <a:r>
                        <a:rPr lang="ko-KR" altLang="en-US" sz="1000" kern="0" spc="0" dirty="0">
                          <a:effectLst/>
                          <a:latin typeface="+mn-ea"/>
                          <a:ea typeface="+mn-ea"/>
                        </a:rPr>
                        <a:t>②존속기간의 연장</a:t>
                      </a:r>
                      <a:r>
                        <a:rPr lang="en-US" altLang="ko-KR" sz="1000" kern="0" spc="0" dirty="0">
                          <a:effectLst/>
                          <a:latin typeface="+mn-ea"/>
                          <a:ea typeface="+mn-ea"/>
                        </a:rPr>
                        <a:t>(</a:t>
                      </a:r>
                      <a:r>
                        <a:rPr lang="ko-KR" altLang="en-US" sz="1000" kern="0" spc="0" dirty="0">
                          <a:effectLst/>
                          <a:latin typeface="+mn-ea"/>
                          <a:ea typeface="+mn-ea"/>
                        </a:rPr>
                        <a:t>法 </a:t>
                      </a:r>
                      <a:r>
                        <a:rPr lang="en-US" altLang="ko-KR" sz="1000" kern="0" spc="0" dirty="0">
                          <a:effectLst/>
                          <a:latin typeface="+mn-ea"/>
                          <a:ea typeface="+mn-ea"/>
                        </a:rPr>
                        <a:t>89~93, 95)</a:t>
                      </a:r>
                      <a:endParaRPr lang="ko-KR" altLang="en-US" sz="1000" kern="0" spc="0" dirty="0">
                        <a:effectLst/>
                        <a:latin typeface="+mn-ea"/>
                        <a:ea typeface="+mn-ea"/>
                      </a:endParaRPr>
                    </a:p>
                    <a:p>
                      <a:pPr marL="0" marR="0" indent="0" algn="just" fontAlgn="base" latinLnBrk="1">
                        <a:lnSpc>
                          <a:spcPct val="100000"/>
                        </a:lnSpc>
                        <a:spcBef>
                          <a:spcPts val="0"/>
                        </a:spcBef>
                        <a:spcAft>
                          <a:spcPts val="0"/>
                        </a:spcAft>
                      </a:pPr>
                      <a:r>
                        <a:rPr lang="en-US" altLang="ko-KR" sz="1000" kern="0" spc="0" dirty="0">
                          <a:effectLst/>
                          <a:latin typeface="+mn-ea"/>
                          <a:ea typeface="+mn-ea"/>
                        </a:rPr>
                        <a:t>2.</a:t>
                      </a:r>
                      <a:r>
                        <a:rPr lang="ko-KR" altLang="en-US" sz="1000" kern="0" spc="0" dirty="0">
                          <a:effectLst/>
                          <a:latin typeface="+mn-ea"/>
                          <a:ea typeface="+mn-ea"/>
                        </a:rPr>
                        <a:t>내용적</a:t>
                      </a:r>
                      <a:r>
                        <a:rPr lang="en-US" altLang="ko-KR" sz="1000" kern="0" spc="0" dirty="0">
                          <a:effectLst/>
                          <a:latin typeface="+mn-ea"/>
                          <a:ea typeface="+mn-ea"/>
                        </a:rPr>
                        <a:t>-</a:t>
                      </a:r>
                      <a:r>
                        <a:rPr lang="ko-KR" altLang="en-US" sz="1000" kern="0" spc="0" dirty="0">
                          <a:effectLst/>
                          <a:latin typeface="+mn-ea"/>
                          <a:ea typeface="+mn-ea"/>
                        </a:rPr>
                        <a:t>청구범위</a:t>
                      </a:r>
                    </a:p>
                    <a:p>
                      <a:pPr marL="0" marR="0" indent="0" algn="just" fontAlgn="base" latinLnBrk="1">
                        <a:lnSpc>
                          <a:spcPct val="100000"/>
                        </a:lnSpc>
                        <a:spcBef>
                          <a:spcPts val="0"/>
                        </a:spcBef>
                        <a:spcAft>
                          <a:spcPts val="0"/>
                        </a:spcAft>
                      </a:pPr>
                      <a:r>
                        <a:rPr lang="en-US" altLang="ko-KR" sz="1000" kern="0" spc="0" dirty="0">
                          <a:effectLst/>
                          <a:latin typeface="+mn-ea"/>
                          <a:ea typeface="+mn-ea"/>
                        </a:rPr>
                        <a:t>3.</a:t>
                      </a:r>
                      <a:r>
                        <a:rPr lang="ko-KR" altLang="en-US" sz="1000" kern="0" spc="0" dirty="0">
                          <a:effectLst/>
                          <a:latin typeface="+mn-ea"/>
                          <a:ea typeface="+mn-ea"/>
                        </a:rPr>
                        <a:t>지역적</a:t>
                      </a:r>
                      <a:r>
                        <a:rPr lang="en-US" altLang="ko-KR" sz="1000" kern="0" spc="0" dirty="0">
                          <a:effectLst/>
                          <a:latin typeface="+mn-ea"/>
                          <a:ea typeface="+mn-ea"/>
                        </a:rPr>
                        <a:t>-</a:t>
                      </a:r>
                      <a:r>
                        <a:rPr lang="ko-KR" altLang="en-US" sz="1000" kern="0" spc="0" dirty="0">
                          <a:effectLst/>
                          <a:latin typeface="+mn-ea"/>
                          <a:ea typeface="+mn-ea"/>
                        </a:rPr>
                        <a:t>속지주의</a:t>
                      </a:r>
                      <a:endParaRPr lang="ko-KR" altLang="en-US" sz="1000" kern="0" spc="0" dirty="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000" kern="0" spc="0" dirty="0" err="1">
                          <a:effectLst/>
                          <a:latin typeface="+mn-ea"/>
                          <a:ea typeface="+mn-ea"/>
                        </a:rPr>
                        <a:t>사적자치</a:t>
                      </a:r>
                      <a:endParaRPr lang="ko-KR" altLang="en-US" sz="1000" kern="0" spc="0" dirty="0">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000" kern="0" spc="0" dirty="0">
                          <a:effectLst/>
                          <a:latin typeface="+mn-ea"/>
                          <a:ea typeface="+mn-ea"/>
                        </a:rPr>
                        <a:t>1.</a:t>
                      </a:r>
                      <a:r>
                        <a:rPr lang="ko-KR" altLang="en-US" sz="1000" kern="0" spc="0" dirty="0">
                          <a:effectLst/>
                          <a:latin typeface="+mn-ea"/>
                          <a:ea typeface="+mn-ea"/>
                        </a:rPr>
                        <a:t>허락 </a:t>
                      </a:r>
                      <a:r>
                        <a:rPr lang="en-US" altLang="ko-KR" sz="1000" kern="0" spc="0" dirty="0">
                          <a:effectLst/>
                          <a:latin typeface="+mn-ea"/>
                          <a:ea typeface="+mn-ea"/>
                        </a:rPr>
                        <a:t>- </a:t>
                      </a:r>
                      <a:r>
                        <a:rPr lang="ko-KR" altLang="en-US" sz="1000" kern="0" spc="0" dirty="0" err="1">
                          <a:effectLst/>
                          <a:latin typeface="+mn-ea"/>
                          <a:ea typeface="+mn-ea"/>
                        </a:rPr>
                        <a:t>사적자치</a:t>
                      </a:r>
                      <a:endParaRPr lang="ko-KR" altLang="en-US" sz="1000" kern="0" spc="0" dirty="0">
                        <a:effectLst/>
                        <a:latin typeface="+mn-ea"/>
                        <a:ea typeface="+mn-ea"/>
                      </a:endParaRPr>
                    </a:p>
                    <a:p>
                      <a:pPr marL="0" marR="0" indent="0" algn="just" fontAlgn="base" latinLnBrk="1">
                        <a:lnSpc>
                          <a:spcPct val="100000"/>
                        </a:lnSpc>
                        <a:spcBef>
                          <a:spcPts val="0"/>
                        </a:spcBef>
                        <a:spcAft>
                          <a:spcPts val="0"/>
                        </a:spcAft>
                      </a:pPr>
                      <a:r>
                        <a:rPr lang="en-US" altLang="ko-KR" sz="1000" kern="0" spc="0" dirty="0">
                          <a:effectLst/>
                          <a:latin typeface="+mn-ea"/>
                          <a:ea typeface="+mn-ea"/>
                        </a:rPr>
                        <a:t>2.</a:t>
                      </a:r>
                      <a:r>
                        <a:rPr lang="ko-KR" altLang="en-US" sz="1000" kern="0" spc="0" dirty="0">
                          <a:effectLst/>
                          <a:latin typeface="+mn-ea"/>
                          <a:ea typeface="+mn-ea"/>
                        </a:rPr>
                        <a:t>법정 </a:t>
                      </a:r>
                      <a:r>
                        <a:rPr lang="en-US" altLang="ko-KR" sz="1000" kern="0" spc="0" dirty="0">
                          <a:effectLst/>
                          <a:latin typeface="+mn-ea"/>
                          <a:ea typeface="+mn-ea"/>
                        </a:rPr>
                        <a:t>- </a:t>
                      </a:r>
                      <a:r>
                        <a:rPr lang="ko-KR" altLang="en-US" sz="1000" kern="0" spc="0" dirty="0">
                          <a:effectLst/>
                          <a:latin typeface="+mn-ea"/>
                          <a:ea typeface="+mn-ea"/>
                        </a:rPr>
                        <a:t>법률규정</a:t>
                      </a:r>
                    </a:p>
                    <a:p>
                      <a:pPr marL="0" marR="0" indent="0" algn="just" fontAlgn="base" latinLnBrk="1">
                        <a:lnSpc>
                          <a:spcPct val="100000"/>
                        </a:lnSpc>
                        <a:spcBef>
                          <a:spcPts val="0"/>
                        </a:spcBef>
                        <a:spcAft>
                          <a:spcPts val="0"/>
                        </a:spcAft>
                      </a:pPr>
                      <a:r>
                        <a:rPr lang="en-US" altLang="ko-KR" sz="1000" kern="0" spc="0" dirty="0">
                          <a:effectLst/>
                          <a:latin typeface="+mn-ea"/>
                          <a:ea typeface="+mn-ea"/>
                        </a:rPr>
                        <a:t>3.</a:t>
                      </a:r>
                      <a:r>
                        <a:rPr lang="ko-KR" altLang="en-US" sz="1000" kern="0" spc="0" dirty="0">
                          <a:effectLst/>
                          <a:latin typeface="+mn-ea"/>
                          <a:ea typeface="+mn-ea"/>
                        </a:rPr>
                        <a:t>강제 </a:t>
                      </a:r>
                      <a:r>
                        <a:rPr lang="en-US" altLang="ko-KR" sz="1000" kern="0" spc="0" dirty="0">
                          <a:effectLst/>
                          <a:latin typeface="+mn-ea"/>
                          <a:ea typeface="+mn-ea"/>
                        </a:rPr>
                        <a:t>– </a:t>
                      </a:r>
                      <a:r>
                        <a:rPr lang="ko-KR" altLang="en-US" sz="1000" kern="0" spc="0" dirty="0">
                          <a:effectLst/>
                          <a:latin typeface="+mn-ea"/>
                          <a:ea typeface="+mn-ea"/>
                        </a:rPr>
                        <a:t>행정처분</a:t>
                      </a:r>
                      <a:endParaRPr lang="ko-KR" altLang="en-US" sz="1000" kern="0" spc="0" dirty="0">
                        <a:solidFill>
                          <a:srgbClr val="000000"/>
                        </a:solidFill>
                        <a:effectLst/>
                        <a:latin typeface="+mn-ea"/>
                        <a:ea typeface="+mn-ea"/>
                      </a:endParaRPr>
                    </a:p>
                  </a:txBody>
                  <a:tcPr marL="51439" marR="51439" marT="25720" marB="25720" anchor="ctr"/>
                </a:tc>
                <a:extLst>
                  <a:ext uri="{0D108BD9-81ED-4DB2-BD59-A6C34878D82A}">
                    <a16:rowId xmlns:a16="http://schemas.microsoft.com/office/drawing/2014/main" val="10006"/>
                  </a:ext>
                </a:extLst>
              </a:tr>
              <a:tr h="672324">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00" kern="0" spc="0">
                          <a:effectLst/>
                          <a:latin typeface="+mn-ea"/>
                          <a:ea typeface="+mn-ea"/>
                        </a:rPr>
                        <a:t>내용</a:t>
                      </a:r>
                      <a:endParaRPr lang="ko-KR" altLang="en-US" sz="1000" b="1" kern="0" spc="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000" kern="0" spc="0" dirty="0">
                          <a:effectLst/>
                          <a:latin typeface="+mn-ea"/>
                          <a:ea typeface="+mn-ea"/>
                        </a:rPr>
                        <a:t>1.</a:t>
                      </a:r>
                      <a:r>
                        <a:rPr lang="ko-KR" altLang="en-US" sz="1000" kern="0" spc="0" dirty="0">
                          <a:effectLst/>
                          <a:latin typeface="+mn-ea"/>
                          <a:ea typeface="+mn-ea"/>
                        </a:rPr>
                        <a:t>의의</a:t>
                      </a:r>
                      <a:r>
                        <a:rPr lang="en-US" altLang="ko-KR" sz="1000" kern="0" spc="0" dirty="0">
                          <a:effectLst/>
                          <a:latin typeface="+mn-ea"/>
                          <a:ea typeface="+mn-ea"/>
                        </a:rPr>
                        <a:t>(</a:t>
                      </a:r>
                      <a:r>
                        <a:rPr lang="ko-KR" altLang="en-US" sz="1000" kern="0" spc="0" dirty="0">
                          <a:effectLst/>
                          <a:latin typeface="+mn-ea"/>
                          <a:ea typeface="+mn-ea"/>
                        </a:rPr>
                        <a:t>法 </a:t>
                      </a:r>
                      <a:r>
                        <a:rPr lang="en-US" altLang="ko-KR" sz="1000" kern="0" spc="0" dirty="0">
                          <a:effectLst/>
                          <a:latin typeface="+mn-ea"/>
                          <a:ea typeface="+mn-ea"/>
                        </a:rPr>
                        <a:t>94)</a:t>
                      </a:r>
                      <a:endParaRPr lang="ko-KR" altLang="en-US" sz="1000" kern="0" spc="0" dirty="0">
                        <a:effectLst/>
                        <a:latin typeface="+mn-ea"/>
                        <a:ea typeface="+mn-ea"/>
                      </a:endParaRPr>
                    </a:p>
                    <a:p>
                      <a:pPr marL="0" marR="0" indent="0" algn="just" fontAlgn="base" latinLnBrk="1">
                        <a:lnSpc>
                          <a:spcPct val="100000"/>
                        </a:lnSpc>
                        <a:spcBef>
                          <a:spcPts val="0"/>
                        </a:spcBef>
                        <a:spcAft>
                          <a:spcPts val="0"/>
                        </a:spcAft>
                      </a:pPr>
                      <a:r>
                        <a:rPr lang="en-US" altLang="ko-KR" sz="1000" kern="0" spc="0" dirty="0">
                          <a:effectLst/>
                          <a:latin typeface="+mn-ea"/>
                          <a:ea typeface="+mn-ea"/>
                        </a:rPr>
                        <a:t>2.</a:t>
                      </a:r>
                      <a:r>
                        <a:rPr lang="ko-KR" altLang="en-US" sz="1000" kern="0" spc="0" dirty="0">
                          <a:effectLst/>
                          <a:latin typeface="+mn-ea"/>
                          <a:ea typeface="+mn-ea"/>
                        </a:rPr>
                        <a:t>제한</a:t>
                      </a:r>
                      <a:r>
                        <a:rPr lang="en-US" altLang="ko-KR" sz="1000" kern="0" spc="0" dirty="0">
                          <a:effectLst/>
                          <a:latin typeface="+mn-ea"/>
                          <a:ea typeface="+mn-ea"/>
                        </a:rPr>
                        <a:t>(</a:t>
                      </a:r>
                      <a:r>
                        <a:rPr lang="ko-KR" altLang="en-US" sz="1000" kern="0" spc="0" dirty="0">
                          <a:effectLst/>
                          <a:latin typeface="+mn-ea"/>
                          <a:ea typeface="+mn-ea"/>
                        </a:rPr>
                        <a:t>法 </a:t>
                      </a:r>
                      <a:r>
                        <a:rPr lang="en-US" altLang="ko-KR" sz="1000" kern="0" spc="0" dirty="0">
                          <a:effectLst/>
                          <a:latin typeface="+mn-ea"/>
                          <a:ea typeface="+mn-ea"/>
                        </a:rPr>
                        <a:t>81</a:t>
                      </a:r>
                      <a:r>
                        <a:rPr lang="ko-KR" altLang="en-US" sz="1000" kern="0" spc="0" dirty="0">
                          <a:effectLst/>
                          <a:latin typeface="+mn-ea"/>
                          <a:ea typeface="+mn-ea"/>
                        </a:rPr>
                        <a:t>의</a:t>
                      </a:r>
                      <a:r>
                        <a:rPr lang="en-US" altLang="ko-KR" sz="1000" kern="0" spc="0" dirty="0">
                          <a:effectLst/>
                          <a:latin typeface="+mn-ea"/>
                          <a:ea typeface="+mn-ea"/>
                        </a:rPr>
                        <a:t>3</a:t>
                      </a:r>
                      <a:r>
                        <a:rPr lang="ko-KR" altLang="en-US" sz="1000" kern="0" spc="0" dirty="0">
                          <a:effectLst/>
                          <a:latin typeface="+mn-ea"/>
                          <a:ea typeface="+mn-ea"/>
                        </a:rPr>
                        <a:t>④</a:t>
                      </a:r>
                      <a:r>
                        <a:rPr lang="en-US" altLang="ko-KR" sz="1000" kern="0" spc="0" dirty="0">
                          <a:effectLst/>
                          <a:latin typeface="+mn-ea"/>
                          <a:ea typeface="+mn-ea"/>
                        </a:rPr>
                        <a:t>,96,181/98)</a:t>
                      </a:r>
                      <a:endParaRPr lang="ko-KR" altLang="en-US" sz="1000" kern="0" spc="0" dirty="0">
                        <a:effectLst/>
                        <a:latin typeface="+mn-ea"/>
                        <a:ea typeface="+mn-ea"/>
                      </a:endParaRPr>
                    </a:p>
                    <a:p>
                      <a:pPr marL="0" marR="0" indent="0" algn="just" fontAlgn="base" latinLnBrk="1">
                        <a:lnSpc>
                          <a:spcPct val="100000"/>
                        </a:lnSpc>
                        <a:spcBef>
                          <a:spcPts val="0"/>
                        </a:spcBef>
                        <a:spcAft>
                          <a:spcPts val="0"/>
                        </a:spcAft>
                      </a:pPr>
                      <a:r>
                        <a:rPr lang="en-US" altLang="ko-KR" sz="1000" kern="0" spc="0" dirty="0">
                          <a:effectLst/>
                          <a:latin typeface="+mn-ea"/>
                          <a:ea typeface="+mn-ea"/>
                        </a:rPr>
                        <a:t>3.</a:t>
                      </a:r>
                      <a:r>
                        <a:rPr lang="ko-KR" altLang="en-US" sz="1000" kern="0" spc="0" dirty="0">
                          <a:effectLst/>
                          <a:latin typeface="+mn-ea"/>
                          <a:ea typeface="+mn-ea"/>
                        </a:rPr>
                        <a:t>확장</a:t>
                      </a:r>
                      <a:r>
                        <a:rPr lang="en-US" altLang="ko-KR" sz="1000" kern="0" spc="0" dirty="0">
                          <a:effectLst/>
                          <a:latin typeface="+mn-ea"/>
                          <a:ea typeface="+mn-ea"/>
                        </a:rPr>
                        <a:t>(</a:t>
                      </a:r>
                      <a:r>
                        <a:rPr lang="ko-KR" altLang="en-US" sz="1000" kern="0" spc="0" dirty="0">
                          <a:effectLst/>
                          <a:latin typeface="+mn-ea"/>
                          <a:ea typeface="+mn-ea"/>
                        </a:rPr>
                        <a:t>法 </a:t>
                      </a:r>
                      <a:r>
                        <a:rPr lang="en-US" altLang="ko-KR" sz="1000" kern="0" spc="0" dirty="0">
                          <a:effectLst/>
                          <a:latin typeface="+mn-ea"/>
                          <a:ea typeface="+mn-ea"/>
                        </a:rPr>
                        <a:t>127)</a:t>
                      </a:r>
                      <a:endParaRPr lang="ko-KR" altLang="en-US" sz="1000" kern="0" spc="0" dirty="0">
                        <a:effectLst/>
                        <a:latin typeface="+mn-ea"/>
                        <a:ea typeface="+mn-ea"/>
                      </a:endParaRPr>
                    </a:p>
                    <a:p>
                      <a:pPr marL="0" marR="0" indent="0" algn="just" fontAlgn="base" latinLnBrk="1">
                        <a:lnSpc>
                          <a:spcPct val="100000"/>
                        </a:lnSpc>
                        <a:spcBef>
                          <a:spcPts val="0"/>
                        </a:spcBef>
                        <a:spcAft>
                          <a:spcPts val="0"/>
                        </a:spcAft>
                      </a:pPr>
                      <a:r>
                        <a:rPr lang="en-US" altLang="ko-KR" sz="1000" kern="0" spc="0" dirty="0">
                          <a:effectLst/>
                          <a:latin typeface="+mn-ea"/>
                          <a:ea typeface="+mn-ea"/>
                        </a:rPr>
                        <a:t>4.</a:t>
                      </a:r>
                      <a:r>
                        <a:rPr lang="ko-KR" altLang="en-US" sz="1000" kern="0" spc="0" dirty="0">
                          <a:effectLst/>
                          <a:latin typeface="+mn-ea"/>
                          <a:ea typeface="+mn-ea"/>
                        </a:rPr>
                        <a:t>침해</a:t>
                      </a:r>
                      <a:r>
                        <a:rPr lang="en-US" altLang="ko-KR" sz="1000" kern="0" spc="0" dirty="0">
                          <a:effectLst/>
                          <a:latin typeface="+mn-ea"/>
                          <a:ea typeface="+mn-ea"/>
                        </a:rPr>
                        <a:t>-</a:t>
                      </a:r>
                      <a:r>
                        <a:rPr lang="ko-KR" altLang="en-US" sz="1000" kern="0" spc="0" dirty="0">
                          <a:effectLst/>
                          <a:latin typeface="+mn-ea"/>
                          <a:ea typeface="+mn-ea"/>
                        </a:rPr>
                        <a:t>①성립요건</a:t>
                      </a:r>
                      <a:r>
                        <a:rPr lang="en-US" altLang="ko-KR" sz="1000" kern="0" spc="0" dirty="0">
                          <a:effectLst/>
                          <a:latin typeface="+mn-ea"/>
                          <a:ea typeface="+mn-ea"/>
                        </a:rPr>
                        <a:t>/</a:t>
                      </a:r>
                      <a:r>
                        <a:rPr lang="ko-KR" altLang="en-US" sz="1000" kern="0" spc="0" dirty="0">
                          <a:effectLst/>
                          <a:latin typeface="+mn-ea"/>
                          <a:ea typeface="+mn-ea"/>
                        </a:rPr>
                        <a:t>②종류</a:t>
                      </a:r>
                      <a:r>
                        <a:rPr lang="en-US" altLang="ko-KR" sz="1000" kern="0" spc="0" dirty="0">
                          <a:effectLst/>
                          <a:latin typeface="+mn-ea"/>
                          <a:ea typeface="+mn-ea"/>
                        </a:rPr>
                        <a:t>(</a:t>
                      </a:r>
                      <a:r>
                        <a:rPr lang="ko-KR" altLang="en-US" sz="1000" kern="0" spc="0" dirty="0">
                          <a:effectLst/>
                          <a:latin typeface="+mn-ea"/>
                          <a:ea typeface="+mn-ea"/>
                        </a:rPr>
                        <a:t>法 </a:t>
                      </a:r>
                      <a:r>
                        <a:rPr lang="en-US" altLang="ko-KR" sz="1000" kern="0" spc="0" dirty="0">
                          <a:effectLst/>
                          <a:latin typeface="+mn-ea"/>
                          <a:ea typeface="+mn-ea"/>
                        </a:rPr>
                        <a:t>97,</a:t>
                      </a:r>
                      <a:r>
                        <a:rPr lang="en-US" altLang="ko-KR" sz="1000" kern="0" spc="0" baseline="0" dirty="0">
                          <a:effectLst/>
                          <a:latin typeface="+mn-ea"/>
                          <a:ea typeface="+mn-ea"/>
                        </a:rPr>
                        <a:t> 98, 1227)/</a:t>
                      </a:r>
                      <a:r>
                        <a:rPr lang="ko-KR" altLang="en-US" sz="1000" kern="0" spc="0" dirty="0">
                          <a:effectLst/>
                          <a:latin typeface="+mn-ea"/>
                          <a:ea typeface="+mn-ea"/>
                        </a:rPr>
                        <a:t>③조치</a:t>
                      </a:r>
                      <a:r>
                        <a:rPr lang="en-US" altLang="ko-KR" sz="1000" kern="0" spc="0" dirty="0">
                          <a:effectLst/>
                          <a:latin typeface="+mn-ea"/>
                          <a:ea typeface="+mn-ea"/>
                        </a:rPr>
                        <a:t>(</a:t>
                      </a:r>
                      <a:r>
                        <a:rPr lang="ko-KR" altLang="en-US" sz="1000" kern="0" spc="0" dirty="0">
                          <a:effectLst/>
                          <a:latin typeface="+mn-ea"/>
                          <a:ea typeface="+mn-ea"/>
                        </a:rPr>
                        <a:t>法 </a:t>
                      </a:r>
                      <a:r>
                        <a:rPr lang="en-US" altLang="ko-KR" sz="1000" kern="0" spc="0" dirty="0">
                          <a:effectLst/>
                          <a:latin typeface="+mn-ea"/>
                          <a:ea typeface="+mn-ea"/>
                        </a:rPr>
                        <a:t>126~132, 225~232)</a:t>
                      </a:r>
                      <a:endParaRPr lang="ko-KR" altLang="en-US" sz="1000" kern="0" spc="0" dirty="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000" kern="0" spc="0" dirty="0" err="1">
                          <a:effectLst/>
                          <a:latin typeface="+mn-ea"/>
                          <a:ea typeface="+mn-ea"/>
                        </a:rPr>
                        <a:t>실시효</a:t>
                      </a:r>
                      <a:r>
                        <a:rPr lang="ko-KR" altLang="en-US" sz="1000" kern="0" spc="0" dirty="0">
                          <a:effectLst/>
                          <a:latin typeface="+mn-ea"/>
                          <a:ea typeface="+mn-ea"/>
                        </a:rPr>
                        <a:t> </a:t>
                      </a:r>
                      <a:r>
                        <a:rPr lang="en-US" altLang="ko-KR" sz="1000" kern="0" spc="0" dirty="0">
                          <a:effectLst/>
                          <a:latin typeface="+mn-ea"/>
                          <a:ea typeface="+mn-ea"/>
                        </a:rPr>
                        <a:t>+ </a:t>
                      </a:r>
                      <a:r>
                        <a:rPr lang="ko-KR" altLang="en-US" sz="1000" kern="0" spc="0" dirty="0" err="1">
                          <a:effectLst/>
                          <a:latin typeface="+mn-ea"/>
                          <a:ea typeface="+mn-ea"/>
                        </a:rPr>
                        <a:t>실시금지효</a:t>
                      </a:r>
                      <a:endParaRPr lang="ko-KR" altLang="en-US" sz="1000" kern="0" spc="0" dirty="0">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000" kern="0" spc="0" dirty="0" err="1">
                          <a:solidFill>
                            <a:srgbClr val="000000"/>
                          </a:solidFill>
                          <a:effectLst/>
                          <a:latin typeface="+mn-ea"/>
                          <a:ea typeface="+mn-ea"/>
                        </a:rPr>
                        <a:t>실시효</a:t>
                      </a:r>
                      <a:endParaRPr lang="ko-KR" altLang="en-US" sz="1000" kern="0" spc="0" dirty="0">
                        <a:solidFill>
                          <a:srgbClr val="000000"/>
                        </a:solidFill>
                        <a:effectLst/>
                        <a:latin typeface="+mn-ea"/>
                        <a:ea typeface="+mn-ea"/>
                      </a:endParaRPr>
                    </a:p>
                  </a:txBody>
                  <a:tcPr marL="51439" marR="51439" marT="25720" marB="25720" anchor="ctr"/>
                </a:tc>
                <a:extLst>
                  <a:ext uri="{0D108BD9-81ED-4DB2-BD59-A6C34878D82A}">
                    <a16:rowId xmlns:a16="http://schemas.microsoft.com/office/drawing/2014/main" val="10007"/>
                  </a:ext>
                </a:extLst>
              </a:tr>
              <a:tr h="125351">
                <a:tc rowSpan="5">
                  <a:txBody>
                    <a:bodyPr/>
                    <a:lstStyle/>
                    <a:p>
                      <a:pPr marL="0" marR="0" indent="0" algn="ctr" fontAlgn="base" latinLnBrk="0">
                        <a:lnSpc>
                          <a:spcPct val="100000"/>
                        </a:lnSpc>
                        <a:spcBef>
                          <a:spcPts val="0"/>
                        </a:spcBef>
                        <a:spcAft>
                          <a:spcPts val="0"/>
                        </a:spcAft>
                      </a:pPr>
                      <a:r>
                        <a:rPr lang="ko-KR" altLang="en-US" sz="1000" kern="0" spc="0" dirty="0">
                          <a:effectLst/>
                          <a:latin typeface="+mn-ea"/>
                          <a:ea typeface="+mn-ea"/>
                        </a:rPr>
                        <a:t>변동</a:t>
                      </a:r>
                      <a:endParaRPr lang="ko-KR" altLang="en-US" sz="1000" b="1" kern="0" spc="0" dirty="0">
                        <a:solidFill>
                          <a:srgbClr val="000000"/>
                        </a:solidFill>
                        <a:effectLst/>
                        <a:latin typeface="+mn-ea"/>
                        <a:ea typeface="+mn-ea"/>
                      </a:endParaRPr>
                    </a:p>
                  </a:txBody>
                  <a:tcPr marL="51439" marR="51439" marT="25720" marB="25720" anchor="ctr"/>
                </a:tc>
                <a:tc rowSpan="2">
                  <a:txBody>
                    <a:bodyPr/>
                    <a:lstStyle/>
                    <a:p>
                      <a:pPr marL="0" marR="0" indent="0" algn="ctr" fontAlgn="base" latinLnBrk="0">
                        <a:lnSpc>
                          <a:spcPct val="100000"/>
                        </a:lnSpc>
                        <a:spcBef>
                          <a:spcPts val="0"/>
                        </a:spcBef>
                        <a:spcAft>
                          <a:spcPts val="0"/>
                        </a:spcAft>
                      </a:pPr>
                      <a:r>
                        <a:rPr lang="ko-KR" altLang="en-US" sz="1000" kern="0" spc="0" dirty="0">
                          <a:effectLst/>
                          <a:latin typeface="+mn-ea"/>
                          <a:ea typeface="+mn-ea"/>
                        </a:rPr>
                        <a:t>이전</a:t>
                      </a:r>
                      <a:endParaRPr lang="ko-KR" altLang="en-US" sz="1000" b="1" kern="0" spc="0" dirty="0">
                        <a:solidFill>
                          <a:srgbClr val="000000"/>
                        </a:solidFill>
                        <a:effectLst/>
                        <a:latin typeface="+mn-ea"/>
                        <a:ea typeface="+mn-ea"/>
                      </a:endParaRPr>
                    </a:p>
                  </a:txBody>
                  <a:tcPr marL="51439" marR="51439" marT="25720" marB="25720" anchor="ctr"/>
                </a:tc>
                <a:tc rowSpan="2">
                  <a:txBody>
                    <a:bodyPr/>
                    <a:lstStyle/>
                    <a:p>
                      <a:pPr marL="0" marR="0" indent="0" algn="just" fontAlgn="base" latinLnBrk="1">
                        <a:lnSpc>
                          <a:spcPct val="100000"/>
                        </a:lnSpc>
                        <a:spcBef>
                          <a:spcPts val="0"/>
                        </a:spcBef>
                        <a:spcAft>
                          <a:spcPts val="0"/>
                        </a:spcAft>
                      </a:pPr>
                      <a:r>
                        <a:rPr lang="ko-KR" altLang="en-US" sz="1000" kern="0" spc="0" dirty="0">
                          <a:effectLst/>
                          <a:latin typeface="+mn-ea"/>
                          <a:ea typeface="+mn-ea"/>
                        </a:rPr>
                        <a:t>이전가능</a:t>
                      </a:r>
                      <a:r>
                        <a:rPr lang="en-US" altLang="ko-KR" sz="1000" kern="0" spc="0" dirty="0">
                          <a:effectLst/>
                          <a:latin typeface="+mn-ea"/>
                          <a:ea typeface="+mn-ea"/>
                        </a:rPr>
                        <a:t>(</a:t>
                      </a:r>
                      <a:r>
                        <a:rPr lang="ko-KR" altLang="en-US" sz="1000" kern="0" spc="0" dirty="0">
                          <a:effectLst/>
                          <a:latin typeface="+mn-ea"/>
                          <a:ea typeface="+mn-ea"/>
                        </a:rPr>
                        <a:t>法 </a:t>
                      </a:r>
                      <a:r>
                        <a:rPr lang="en-US" altLang="ko-KR" sz="1000" kern="0" spc="0" dirty="0">
                          <a:effectLst/>
                          <a:latin typeface="+mn-ea"/>
                          <a:ea typeface="+mn-ea"/>
                        </a:rPr>
                        <a:t>99</a:t>
                      </a:r>
                      <a:r>
                        <a:rPr lang="ko-KR" altLang="en-US" sz="1000" kern="0" spc="0" dirty="0">
                          <a:effectLst/>
                          <a:latin typeface="+mn-ea"/>
                          <a:ea typeface="+mn-ea"/>
                        </a:rPr>
                        <a:t>①</a:t>
                      </a:r>
                      <a:r>
                        <a:rPr lang="en-US" altLang="ko-KR" sz="1000" kern="0" spc="0" dirty="0">
                          <a:effectLst/>
                          <a:latin typeface="+mn-ea"/>
                          <a:ea typeface="+mn-ea"/>
                        </a:rPr>
                        <a:t>)</a:t>
                      </a:r>
                      <a:endParaRPr lang="ko-KR" altLang="en-US" sz="1000" kern="0" spc="0" dirty="0">
                        <a:solidFill>
                          <a:srgbClr val="000000"/>
                        </a:solidFill>
                        <a:effectLst/>
                        <a:latin typeface="+mn-ea"/>
                        <a:ea typeface="+mn-ea"/>
                      </a:endParaRPr>
                    </a:p>
                  </a:txBody>
                  <a:tcPr marL="51439" marR="51439" marT="25720" marB="25720" anchor="ctr"/>
                </a:tc>
                <a:tc gridSpan="2">
                  <a:txBody>
                    <a:bodyPr/>
                    <a:lstStyle/>
                    <a:p>
                      <a:pPr marL="0" marR="0" indent="0" algn="just" fontAlgn="base" latinLnBrk="1">
                        <a:lnSpc>
                          <a:spcPct val="100000"/>
                        </a:lnSpc>
                        <a:spcBef>
                          <a:spcPts val="0"/>
                        </a:spcBef>
                        <a:spcAft>
                          <a:spcPts val="0"/>
                        </a:spcAft>
                      </a:pPr>
                      <a:r>
                        <a:rPr lang="ko-KR" altLang="en-US" sz="1000" kern="0" spc="0" dirty="0">
                          <a:effectLst/>
                          <a:latin typeface="+mn-ea"/>
                          <a:ea typeface="+mn-ea"/>
                        </a:rPr>
                        <a:t>특허권자의 동의</a:t>
                      </a:r>
                      <a:r>
                        <a:rPr lang="en-US" altLang="ko-KR" sz="1000" kern="0" spc="0" dirty="0">
                          <a:effectLst/>
                          <a:latin typeface="+mn-ea"/>
                          <a:ea typeface="+mn-ea"/>
                        </a:rPr>
                        <a:t>(</a:t>
                      </a:r>
                      <a:r>
                        <a:rPr lang="ko-KR" altLang="en-US" sz="1000" kern="0" spc="0" dirty="0">
                          <a:effectLst/>
                          <a:latin typeface="+mn-ea"/>
                          <a:ea typeface="+mn-ea"/>
                        </a:rPr>
                        <a:t>단</a:t>
                      </a:r>
                      <a:r>
                        <a:rPr lang="en-US" altLang="ko-KR" sz="1000" kern="0" spc="0" dirty="0">
                          <a:effectLst/>
                          <a:latin typeface="+mn-ea"/>
                          <a:ea typeface="+mn-ea"/>
                        </a:rPr>
                        <a:t>,</a:t>
                      </a:r>
                      <a:r>
                        <a:rPr lang="ko-KR" altLang="en-US" sz="1000" kern="0" spc="0" dirty="0">
                          <a:effectLst/>
                          <a:latin typeface="+mn-ea"/>
                          <a:ea typeface="+mn-ea"/>
                        </a:rPr>
                        <a:t>일반승계</a:t>
                      </a:r>
                      <a:r>
                        <a:rPr lang="en-US" altLang="ko-KR" sz="1000" kern="0" spc="0" dirty="0">
                          <a:effectLst/>
                          <a:latin typeface="+mn-ea"/>
                          <a:ea typeface="+mn-ea"/>
                        </a:rPr>
                        <a:t>, </a:t>
                      </a:r>
                      <a:r>
                        <a:rPr lang="ko-KR" altLang="en-US" sz="1000" kern="0" spc="0" dirty="0">
                          <a:effectLst/>
                          <a:latin typeface="+mn-ea"/>
                          <a:ea typeface="+mn-ea"/>
                        </a:rPr>
                        <a:t>실시사업과 함께는 동의 不要</a:t>
                      </a:r>
                      <a:r>
                        <a:rPr lang="en-US" altLang="ko-KR" sz="1000" kern="0" spc="0" dirty="0">
                          <a:effectLst/>
                          <a:latin typeface="+mn-ea"/>
                          <a:ea typeface="+mn-ea"/>
                        </a:rPr>
                        <a:t>)</a:t>
                      </a:r>
                      <a:endParaRPr lang="ko-KR" altLang="en-US" sz="1000" kern="0" spc="0" dirty="0">
                        <a:effectLst/>
                        <a:latin typeface="+mn-ea"/>
                        <a:ea typeface="+mn-ea"/>
                      </a:endParaRPr>
                    </a:p>
                  </a:txBody>
                  <a:tcPr marL="51439" marR="51439" marT="25720" marB="25720" anchor="ctr"/>
                </a:tc>
                <a:tc hMerge="1">
                  <a:txBody>
                    <a:bodyPr/>
                    <a:lstStyle/>
                    <a:p>
                      <a:pPr latinLnBrk="1"/>
                      <a:endParaRPr lang="ko-KR" altLang="en-US"/>
                    </a:p>
                  </a:txBody>
                  <a:tcPr/>
                </a:tc>
                <a:extLst>
                  <a:ext uri="{0D108BD9-81ED-4DB2-BD59-A6C34878D82A}">
                    <a16:rowId xmlns:a16="http://schemas.microsoft.com/office/drawing/2014/main" val="10008"/>
                  </a:ext>
                </a:extLst>
              </a:tr>
              <a:tr h="307675">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endParaRPr lang="ko-KR" altLang="en-US" sz="1000" kern="0" spc="0" dirty="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000" kern="0" spc="0" dirty="0">
                          <a:effectLst/>
                          <a:latin typeface="+mn-ea"/>
                          <a:ea typeface="+mn-ea"/>
                        </a:rPr>
                        <a:t>①法 </a:t>
                      </a:r>
                      <a:r>
                        <a:rPr lang="en-US" altLang="ko-KR" sz="1000" kern="0" spc="0" dirty="0">
                          <a:effectLst/>
                          <a:latin typeface="+mn-ea"/>
                          <a:ea typeface="+mn-ea"/>
                        </a:rPr>
                        <a:t>107-</a:t>
                      </a:r>
                      <a:r>
                        <a:rPr lang="ko-KR" altLang="en-US" sz="1000" kern="0" spc="0" dirty="0">
                          <a:effectLst/>
                          <a:latin typeface="+mn-ea"/>
                          <a:ea typeface="+mn-ea"/>
                        </a:rPr>
                        <a:t>실시사업과 함께만</a:t>
                      </a:r>
                    </a:p>
                    <a:p>
                      <a:pPr marL="0" marR="0" indent="0" algn="just" fontAlgn="base" latinLnBrk="1">
                        <a:lnSpc>
                          <a:spcPct val="100000"/>
                        </a:lnSpc>
                        <a:spcBef>
                          <a:spcPts val="0"/>
                        </a:spcBef>
                        <a:spcAft>
                          <a:spcPts val="0"/>
                        </a:spcAft>
                      </a:pPr>
                      <a:r>
                        <a:rPr lang="ko-KR" altLang="en-US" sz="1000" kern="0" spc="0" dirty="0">
                          <a:effectLst/>
                          <a:latin typeface="+mn-ea"/>
                          <a:ea typeface="+mn-ea"/>
                        </a:rPr>
                        <a:t>②法 </a:t>
                      </a:r>
                      <a:r>
                        <a:rPr lang="en-US" altLang="ko-KR" sz="1000" kern="0" spc="0" dirty="0">
                          <a:effectLst/>
                          <a:latin typeface="+mn-ea"/>
                          <a:ea typeface="+mn-ea"/>
                        </a:rPr>
                        <a:t>138-</a:t>
                      </a:r>
                      <a:r>
                        <a:rPr lang="ko-KR" altLang="en-US" sz="1000" kern="0" spc="0" dirty="0" err="1">
                          <a:effectLst/>
                          <a:latin typeface="+mn-ea"/>
                          <a:ea typeface="+mn-ea"/>
                        </a:rPr>
                        <a:t>원권리와</a:t>
                      </a:r>
                      <a:r>
                        <a:rPr lang="ko-KR" altLang="en-US" sz="1000" kern="0" spc="0" dirty="0">
                          <a:effectLst/>
                          <a:latin typeface="+mn-ea"/>
                          <a:ea typeface="+mn-ea"/>
                        </a:rPr>
                        <a:t> 함께 이전하고</a:t>
                      </a:r>
                      <a:r>
                        <a:rPr lang="en-US" altLang="ko-KR" sz="1000" kern="0" spc="0" dirty="0">
                          <a:effectLst/>
                          <a:latin typeface="+mn-ea"/>
                          <a:ea typeface="+mn-ea"/>
                        </a:rPr>
                        <a:t>, </a:t>
                      </a:r>
                      <a:r>
                        <a:rPr lang="ko-KR" altLang="en-US" sz="1000" kern="0" spc="0" dirty="0" err="1">
                          <a:effectLst/>
                          <a:latin typeface="+mn-ea"/>
                          <a:ea typeface="+mn-ea"/>
                        </a:rPr>
                        <a:t>원권리와</a:t>
                      </a:r>
                      <a:r>
                        <a:rPr lang="ko-KR" altLang="en-US" sz="1000" kern="0" spc="0" dirty="0">
                          <a:effectLst/>
                          <a:latin typeface="+mn-ea"/>
                          <a:ea typeface="+mn-ea"/>
                        </a:rPr>
                        <a:t> 함께 소멸</a:t>
                      </a:r>
                      <a:endParaRPr lang="ko-KR" altLang="en-US" sz="1000" kern="0" spc="0" dirty="0">
                        <a:solidFill>
                          <a:srgbClr val="000000"/>
                        </a:solidFill>
                        <a:effectLst/>
                        <a:latin typeface="+mn-ea"/>
                        <a:ea typeface="+mn-ea"/>
                      </a:endParaRPr>
                    </a:p>
                  </a:txBody>
                  <a:tcPr marL="51439" marR="51439" marT="25720" marB="25720" anchor="ctr"/>
                </a:tc>
                <a:extLst>
                  <a:ext uri="{0D108BD9-81ED-4DB2-BD59-A6C34878D82A}">
                    <a16:rowId xmlns:a16="http://schemas.microsoft.com/office/drawing/2014/main" val="10009"/>
                  </a:ext>
                </a:extLst>
              </a:tr>
              <a:tr h="216513">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00" kern="0" spc="0">
                          <a:effectLst/>
                          <a:latin typeface="+mn-ea"/>
                          <a:ea typeface="+mn-ea"/>
                        </a:rPr>
                        <a:t>실시권</a:t>
                      </a:r>
                      <a:endParaRPr lang="ko-KR" altLang="en-US" sz="1000" b="1" kern="0" spc="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000" kern="0" spc="0">
                          <a:effectLst/>
                          <a:latin typeface="+mn-ea"/>
                          <a:ea typeface="+mn-ea"/>
                        </a:rPr>
                        <a:t>1.</a:t>
                      </a:r>
                      <a:r>
                        <a:rPr lang="ko-KR" altLang="en-US" sz="1000" kern="0" spc="0">
                          <a:effectLst/>
                          <a:latin typeface="+mn-ea"/>
                          <a:ea typeface="+mn-ea"/>
                        </a:rPr>
                        <a:t>전용실시권</a:t>
                      </a:r>
                      <a:r>
                        <a:rPr lang="en-US" altLang="ko-KR" sz="1000" kern="0" spc="0">
                          <a:effectLst/>
                          <a:latin typeface="+mn-ea"/>
                          <a:ea typeface="+mn-ea"/>
                        </a:rPr>
                        <a:t>(</a:t>
                      </a:r>
                      <a:r>
                        <a:rPr lang="ko-KR" altLang="en-US" sz="1000" kern="0" spc="0">
                          <a:effectLst/>
                          <a:latin typeface="+mn-ea"/>
                          <a:ea typeface="+mn-ea"/>
                        </a:rPr>
                        <a:t>法 </a:t>
                      </a:r>
                      <a:r>
                        <a:rPr lang="en-US" altLang="ko-KR" sz="1000" kern="0" spc="0">
                          <a:effectLst/>
                          <a:latin typeface="+mn-ea"/>
                          <a:ea typeface="+mn-ea"/>
                        </a:rPr>
                        <a:t>100, 102)</a:t>
                      </a:r>
                      <a:endParaRPr lang="ko-KR" altLang="en-US" sz="1000" kern="0" spc="0">
                        <a:effectLst/>
                        <a:latin typeface="+mn-ea"/>
                        <a:ea typeface="+mn-ea"/>
                      </a:endParaRPr>
                    </a:p>
                    <a:p>
                      <a:pPr marL="0" marR="0" indent="0" algn="just" fontAlgn="base" latinLnBrk="1">
                        <a:lnSpc>
                          <a:spcPct val="100000"/>
                        </a:lnSpc>
                        <a:spcBef>
                          <a:spcPts val="0"/>
                        </a:spcBef>
                        <a:spcAft>
                          <a:spcPts val="0"/>
                        </a:spcAft>
                      </a:pPr>
                      <a:r>
                        <a:rPr lang="en-US" altLang="ko-KR" sz="1000" kern="0" spc="0">
                          <a:effectLst/>
                          <a:latin typeface="+mn-ea"/>
                          <a:ea typeface="+mn-ea"/>
                        </a:rPr>
                        <a:t>2.</a:t>
                      </a:r>
                      <a:r>
                        <a:rPr lang="ko-KR" altLang="en-US" sz="1000" kern="0" spc="0">
                          <a:effectLst/>
                          <a:latin typeface="+mn-ea"/>
                          <a:ea typeface="+mn-ea"/>
                        </a:rPr>
                        <a:t>통상실시권</a:t>
                      </a:r>
                      <a:r>
                        <a:rPr lang="en-US" altLang="ko-KR" sz="1000" kern="0" spc="0">
                          <a:effectLst/>
                          <a:latin typeface="+mn-ea"/>
                          <a:ea typeface="+mn-ea"/>
                        </a:rPr>
                        <a:t>(</a:t>
                      </a:r>
                      <a:r>
                        <a:rPr lang="ko-KR" altLang="en-US" sz="1000" kern="0" spc="0">
                          <a:effectLst/>
                          <a:latin typeface="+mn-ea"/>
                          <a:ea typeface="+mn-ea"/>
                        </a:rPr>
                        <a:t>法 </a:t>
                      </a:r>
                      <a:r>
                        <a:rPr lang="en-US" altLang="ko-KR" sz="1000" kern="0" spc="0">
                          <a:effectLst/>
                          <a:latin typeface="+mn-ea"/>
                          <a:ea typeface="+mn-ea"/>
                        </a:rPr>
                        <a:t>101, 118, 103~116)</a:t>
                      </a:r>
                      <a:endParaRPr lang="ko-KR" altLang="en-US" sz="1000" kern="0" spc="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000" kern="0" spc="0" dirty="0">
                          <a:effectLst/>
                          <a:latin typeface="+mn-ea"/>
                          <a:ea typeface="+mn-ea"/>
                        </a:rPr>
                        <a:t>특허권자의 동의 얻어 可</a:t>
                      </a:r>
                    </a:p>
                  </a:txBody>
                  <a:tcPr marL="51439" marR="51439" marT="25720" marB="25720" anchor="ctr"/>
                </a:tc>
                <a:tc>
                  <a:txBody>
                    <a:bodyPr/>
                    <a:lstStyle/>
                    <a:p>
                      <a:pPr marL="0" marR="0" indent="0" algn="just" defTabSz="914400" rtl="0" eaLnBrk="1" fontAlgn="base" latinLnBrk="1" hangingPunct="1">
                        <a:lnSpc>
                          <a:spcPct val="100000"/>
                        </a:lnSpc>
                        <a:spcBef>
                          <a:spcPts val="0"/>
                        </a:spcBef>
                        <a:spcAft>
                          <a:spcPts val="0"/>
                        </a:spcAft>
                        <a:buClrTx/>
                        <a:buSzTx/>
                        <a:buFontTx/>
                        <a:buNone/>
                        <a:tabLst/>
                        <a:defRPr/>
                      </a:pPr>
                      <a:r>
                        <a:rPr lang="ko-KR" altLang="en-US" sz="1000" kern="0" spc="0" dirty="0">
                          <a:effectLst/>
                          <a:latin typeface="+mn-ea"/>
                          <a:ea typeface="+mn-ea"/>
                        </a:rPr>
                        <a:t>不可</a:t>
                      </a:r>
                      <a:endParaRPr lang="ko-KR" altLang="en-US" sz="1000" kern="0" spc="0" dirty="0">
                        <a:solidFill>
                          <a:srgbClr val="000000"/>
                        </a:solidFill>
                        <a:effectLst/>
                        <a:latin typeface="+mn-ea"/>
                        <a:ea typeface="+mn-ea"/>
                      </a:endParaRPr>
                    </a:p>
                  </a:txBody>
                  <a:tcPr marL="51439" marR="51439" marT="25720" marB="25720" anchor="ctr"/>
                </a:tc>
                <a:extLst>
                  <a:ext uri="{0D108BD9-81ED-4DB2-BD59-A6C34878D82A}">
                    <a16:rowId xmlns:a16="http://schemas.microsoft.com/office/drawing/2014/main" val="10010"/>
                  </a:ext>
                </a:extLst>
              </a:tr>
              <a:tr h="125351">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1000" kern="0" spc="0">
                          <a:effectLst/>
                          <a:latin typeface="+mn-ea"/>
                          <a:ea typeface="+mn-ea"/>
                        </a:rPr>
                        <a:t>질권</a:t>
                      </a:r>
                      <a:endParaRPr lang="ko-KR" altLang="en-US" sz="1000" b="1" kern="0" spc="0">
                        <a:solidFill>
                          <a:srgbClr val="000000"/>
                        </a:solidFill>
                        <a:effectLst/>
                        <a:latin typeface="+mn-ea"/>
                        <a:ea typeface="+mn-ea"/>
                      </a:endParaRPr>
                    </a:p>
                  </a:txBody>
                  <a:tcPr marL="51439" marR="51439" marT="25720" marB="25720" anchor="ctr"/>
                </a:tc>
                <a:tc rowSpan="2">
                  <a:txBody>
                    <a:bodyPr/>
                    <a:lstStyle/>
                    <a:p>
                      <a:pPr marL="0" marR="0" indent="0" algn="just" fontAlgn="base" latinLnBrk="1">
                        <a:lnSpc>
                          <a:spcPct val="100000"/>
                        </a:lnSpc>
                        <a:spcBef>
                          <a:spcPts val="0"/>
                        </a:spcBef>
                        <a:spcAft>
                          <a:spcPts val="0"/>
                        </a:spcAft>
                      </a:pPr>
                      <a:r>
                        <a:rPr lang="en-US" altLang="ko-KR" sz="1000" kern="0" spc="0">
                          <a:effectLst/>
                          <a:latin typeface="+mn-ea"/>
                          <a:ea typeface="+mn-ea"/>
                        </a:rPr>
                        <a:t>1.</a:t>
                      </a:r>
                      <a:r>
                        <a:rPr lang="ko-KR" altLang="en-US" sz="1000" kern="0" spc="0">
                          <a:effectLst/>
                          <a:latin typeface="+mn-ea"/>
                          <a:ea typeface="+mn-ea"/>
                        </a:rPr>
                        <a:t>질권자 실시 不可</a:t>
                      </a:r>
                      <a:r>
                        <a:rPr lang="en-US" altLang="ko-KR" sz="1000" kern="0" spc="0">
                          <a:effectLst/>
                          <a:latin typeface="+mn-ea"/>
                          <a:ea typeface="+mn-ea"/>
                        </a:rPr>
                        <a:t>(</a:t>
                      </a:r>
                      <a:r>
                        <a:rPr lang="ko-KR" altLang="en-US" sz="1000" kern="0" spc="0">
                          <a:effectLst/>
                          <a:latin typeface="+mn-ea"/>
                          <a:ea typeface="+mn-ea"/>
                        </a:rPr>
                        <a:t>法 </a:t>
                      </a:r>
                      <a:r>
                        <a:rPr lang="en-US" altLang="ko-KR" sz="1000" kern="0" spc="0">
                          <a:effectLst/>
                          <a:latin typeface="+mn-ea"/>
                          <a:ea typeface="+mn-ea"/>
                        </a:rPr>
                        <a:t>121)</a:t>
                      </a:r>
                      <a:endParaRPr lang="ko-KR" altLang="en-US" sz="1000" kern="0" spc="0">
                        <a:effectLst/>
                        <a:latin typeface="+mn-ea"/>
                        <a:ea typeface="+mn-ea"/>
                      </a:endParaRPr>
                    </a:p>
                    <a:p>
                      <a:pPr marL="0" marR="0" indent="0" algn="just" fontAlgn="base" latinLnBrk="1">
                        <a:lnSpc>
                          <a:spcPct val="100000"/>
                        </a:lnSpc>
                        <a:spcBef>
                          <a:spcPts val="0"/>
                        </a:spcBef>
                        <a:spcAft>
                          <a:spcPts val="0"/>
                        </a:spcAft>
                      </a:pPr>
                      <a:r>
                        <a:rPr lang="en-US" altLang="ko-KR" sz="1000" kern="0" spc="0">
                          <a:effectLst/>
                          <a:latin typeface="+mn-ea"/>
                          <a:ea typeface="+mn-ea"/>
                        </a:rPr>
                        <a:t>2.</a:t>
                      </a:r>
                      <a:r>
                        <a:rPr lang="ko-KR" altLang="en-US" sz="1000" kern="0" spc="0">
                          <a:effectLst/>
                          <a:latin typeface="+mn-ea"/>
                          <a:ea typeface="+mn-ea"/>
                        </a:rPr>
                        <a:t>질권행사로 특허권 이전에 따른 법정실시권</a:t>
                      </a:r>
                      <a:r>
                        <a:rPr lang="en-US" altLang="ko-KR" sz="1000" kern="0" spc="0">
                          <a:effectLst/>
                          <a:latin typeface="+mn-ea"/>
                          <a:ea typeface="+mn-ea"/>
                        </a:rPr>
                        <a:t>(</a:t>
                      </a:r>
                      <a:r>
                        <a:rPr lang="ko-KR" altLang="en-US" sz="1000" kern="0" spc="0">
                          <a:effectLst/>
                          <a:latin typeface="+mn-ea"/>
                          <a:ea typeface="+mn-ea"/>
                        </a:rPr>
                        <a:t>法 </a:t>
                      </a:r>
                      <a:r>
                        <a:rPr lang="en-US" altLang="ko-KR" sz="1000" kern="0" spc="0">
                          <a:effectLst/>
                          <a:latin typeface="+mn-ea"/>
                          <a:ea typeface="+mn-ea"/>
                        </a:rPr>
                        <a:t>122)</a:t>
                      </a:r>
                      <a:endParaRPr lang="ko-KR" altLang="en-US" sz="1000" kern="0" spc="0">
                        <a:effectLst/>
                        <a:latin typeface="+mn-ea"/>
                        <a:ea typeface="+mn-ea"/>
                      </a:endParaRPr>
                    </a:p>
                    <a:p>
                      <a:pPr marL="0" marR="0" indent="0" algn="just" fontAlgn="base" latinLnBrk="1">
                        <a:lnSpc>
                          <a:spcPct val="100000"/>
                        </a:lnSpc>
                        <a:spcBef>
                          <a:spcPts val="0"/>
                        </a:spcBef>
                        <a:spcAft>
                          <a:spcPts val="0"/>
                        </a:spcAft>
                      </a:pPr>
                      <a:r>
                        <a:rPr lang="en-US" altLang="ko-KR" sz="1000" kern="0" spc="0">
                          <a:effectLst/>
                          <a:latin typeface="+mn-ea"/>
                          <a:ea typeface="+mn-ea"/>
                        </a:rPr>
                        <a:t>3.</a:t>
                      </a:r>
                      <a:r>
                        <a:rPr lang="ko-KR" altLang="en-US" sz="1000" kern="0" spc="0">
                          <a:effectLst/>
                          <a:latin typeface="+mn-ea"/>
                          <a:ea typeface="+mn-ea"/>
                        </a:rPr>
                        <a:t>물상대위</a:t>
                      </a:r>
                      <a:r>
                        <a:rPr lang="en-US" altLang="ko-KR" sz="1000" kern="0" spc="0">
                          <a:effectLst/>
                          <a:latin typeface="+mn-ea"/>
                          <a:ea typeface="+mn-ea"/>
                        </a:rPr>
                        <a:t>(</a:t>
                      </a:r>
                      <a:r>
                        <a:rPr lang="ko-KR" altLang="en-US" sz="1000" kern="0" spc="0">
                          <a:effectLst/>
                          <a:latin typeface="+mn-ea"/>
                          <a:ea typeface="+mn-ea"/>
                        </a:rPr>
                        <a:t>法 </a:t>
                      </a:r>
                      <a:r>
                        <a:rPr lang="en-US" altLang="ko-KR" sz="1000" kern="0" spc="0">
                          <a:effectLst/>
                          <a:latin typeface="+mn-ea"/>
                          <a:ea typeface="+mn-ea"/>
                        </a:rPr>
                        <a:t>123)</a:t>
                      </a:r>
                      <a:endParaRPr lang="ko-KR" altLang="en-US" sz="1000" kern="0" spc="0">
                        <a:solidFill>
                          <a:srgbClr val="000000"/>
                        </a:solidFill>
                        <a:effectLst/>
                        <a:latin typeface="+mn-ea"/>
                        <a:ea typeface="+mn-ea"/>
                      </a:endParaRPr>
                    </a:p>
                  </a:txBody>
                  <a:tcPr marL="51439" marR="51439" marT="25720" marB="25720" anchor="ctr"/>
                </a:tc>
                <a:tc gridSpan="2">
                  <a:txBody>
                    <a:bodyPr/>
                    <a:lstStyle/>
                    <a:p>
                      <a:pPr marL="0" marR="0" indent="0" algn="just" fontAlgn="base" latinLnBrk="1">
                        <a:lnSpc>
                          <a:spcPct val="100000"/>
                        </a:lnSpc>
                        <a:spcBef>
                          <a:spcPts val="0"/>
                        </a:spcBef>
                        <a:spcAft>
                          <a:spcPts val="0"/>
                        </a:spcAft>
                      </a:pPr>
                      <a:r>
                        <a:rPr lang="ko-KR" altLang="en-US" sz="1000" kern="0" spc="0" dirty="0">
                          <a:effectLst/>
                          <a:latin typeface="+mn-ea"/>
                          <a:ea typeface="+mn-ea"/>
                        </a:rPr>
                        <a:t>특허권자의 동의</a:t>
                      </a:r>
                    </a:p>
                  </a:txBody>
                  <a:tcPr marL="51439" marR="51439" marT="25720" marB="25720" anchor="ctr"/>
                </a:tc>
                <a:tc hMerge="1">
                  <a:txBody>
                    <a:bodyPr/>
                    <a:lstStyle/>
                    <a:p>
                      <a:pPr latinLnBrk="1"/>
                      <a:endParaRPr lang="ko-KR" altLang="en-US"/>
                    </a:p>
                  </a:txBody>
                  <a:tcPr/>
                </a:tc>
                <a:extLst>
                  <a:ext uri="{0D108BD9-81ED-4DB2-BD59-A6C34878D82A}">
                    <a16:rowId xmlns:a16="http://schemas.microsoft.com/office/drawing/2014/main" val="10011"/>
                  </a:ext>
                </a:extLst>
              </a:tr>
              <a:tr h="182324">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endParaRPr lang="ko-KR" altLang="en-US" sz="1000" kern="0" spc="0" dirty="0">
                        <a:solidFill>
                          <a:srgbClr val="000000"/>
                        </a:solidFill>
                        <a:effectLst/>
                        <a:latin typeface="+mn-ea"/>
                        <a:ea typeface="+mn-ea"/>
                      </a:endParaRPr>
                    </a:p>
                  </a:txBody>
                  <a:tcPr marL="51439" marR="51439" marT="25720" marB="25720" anchor="ctr"/>
                </a:tc>
                <a:tc>
                  <a:txBody>
                    <a:bodyPr/>
                    <a:lstStyle/>
                    <a:p>
                      <a:pPr latinLnBrk="1"/>
                      <a:r>
                        <a:rPr lang="ko-KR" altLang="en-US" sz="1000" kern="0" spc="0" dirty="0">
                          <a:effectLst/>
                          <a:latin typeface="+mn-ea"/>
                          <a:ea typeface="+mn-ea"/>
                        </a:rPr>
                        <a:t>法 </a:t>
                      </a:r>
                      <a:r>
                        <a:rPr lang="en-US" altLang="ko-KR" sz="1000" kern="0" spc="0" dirty="0">
                          <a:effectLst/>
                          <a:latin typeface="+mn-ea"/>
                          <a:ea typeface="+mn-ea"/>
                        </a:rPr>
                        <a:t>107,138</a:t>
                      </a:r>
                      <a:r>
                        <a:rPr lang="ko-KR" altLang="en-US" sz="1000" kern="0" spc="0" dirty="0">
                          <a:effectLst/>
                          <a:latin typeface="+mn-ea"/>
                          <a:ea typeface="+mn-ea"/>
                        </a:rPr>
                        <a:t>은 不可</a:t>
                      </a:r>
                      <a:endParaRPr lang="ko-KR" altLang="en-US" dirty="0"/>
                    </a:p>
                  </a:txBody>
                  <a:tcPr marL="51439" marR="51439" marT="25720" marB="25720" anchor="ctr"/>
                </a:tc>
                <a:extLst>
                  <a:ext uri="{0D108BD9-81ED-4DB2-BD59-A6C34878D82A}">
                    <a16:rowId xmlns:a16="http://schemas.microsoft.com/office/drawing/2014/main" val="10012"/>
                  </a:ext>
                </a:extLst>
              </a:tr>
              <a:tr h="216513">
                <a:tc rowSpan="2">
                  <a:txBody>
                    <a:bodyPr/>
                    <a:lstStyle/>
                    <a:p>
                      <a:pPr marL="0" marR="0" indent="0" algn="ctr" fontAlgn="base" latinLnBrk="0">
                        <a:lnSpc>
                          <a:spcPct val="100000"/>
                        </a:lnSpc>
                        <a:spcBef>
                          <a:spcPts val="0"/>
                        </a:spcBef>
                        <a:spcAft>
                          <a:spcPts val="0"/>
                        </a:spcAft>
                      </a:pPr>
                      <a:r>
                        <a:rPr lang="ko-KR" altLang="en-US" sz="1000" kern="0" spc="0">
                          <a:effectLst/>
                          <a:latin typeface="+mn-ea"/>
                          <a:ea typeface="+mn-ea"/>
                        </a:rPr>
                        <a:t>소멸</a:t>
                      </a:r>
                      <a:endParaRPr lang="ko-KR" altLang="en-US" sz="1000" b="1" kern="0" spc="0">
                        <a:solidFill>
                          <a:srgbClr val="000000"/>
                        </a:solidFill>
                        <a:effectLst/>
                        <a:latin typeface="+mn-ea"/>
                        <a:ea typeface="+mn-ea"/>
                      </a:endParaRPr>
                    </a:p>
                  </a:txBody>
                  <a:tcPr marL="51439" marR="51439" marT="25720" marB="25720" anchor="ctr"/>
                </a:tc>
                <a:tc>
                  <a:txBody>
                    <a:bodyPr/>
                    <a:lstStyle/>
                    <a:p>
                      <a:pPr marL="0" marR="0" indent="0" algn="ctr" fontAlgn="base" latinLnBrk="0">
                        <a:lnSpc>
                          <a:spcPct val="100000"/>
                        </a:lnSpc>
                        <a:spcBef>
                          <a:spcPts val="0"/>
                        </a:spcBef>
                        <a:spcAft>
                          <a:spcPts val="0"/>
                        </a:spcAft>
                      </a:pPr>
                      <a:r>
                        <a:rPr lang="ko-KR" altLang="en-US" sz="1000" kern="0" spc="0">
                          <a:effectLst/>
                          <a:latin typeface="+mn-ea"/>
                          <a:ea typeface="+mn-ea"/>
                        </a:rPr>
                        <a:t>원인</a:t>
                      </a:r>
                      <a:endParaRPr lang="ko-KR" altLang="en-US" sz="1000" b="1" kern="0" spc="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000" kern="0" spc="0" dirty="0">
                          <a:effectLst/>
                          <a:latin typeface="+mn-ea"/>
                          <a:ea typeface="+mn-ea"/>
                        </a:rPr>
                        <a:t>1.</a:t>
                      </a:r>
                      <a:r>
                        <a:rPr lang="ko-KR" altLang="en-US" sz="1000" kern="0" spc="0" dirty="0">
                          <a:effectLst/>
                          <a:latin typeface="+mn-ea"/>
                          <a:ea typeface="+mn-ea"/>
                        </a:rPr>
                        <a:t>소급하여 소멸</a:t>
                      </a:r>
                      <a:r>
                        <a:rPr lang="en-US" altLang="ko-KR" sz="1000" kern="0" spc="0" dirty="0">
                          <a:effectLst/>
                          <a:latin typeface="+mn-ea"/>
                          <a:ea typeface="+mn-ea"/>
                        </a:rPr>
                        <a:t>-</a:t>
                      </a:r>
                      <a:r>
                        <a:rPr lang="ko-KR" altLang="en-US" sz="1000" kern="0" spc="0" dirty="0" err="1">
                          <a:effectLst/>
                          <a:latin typeface="+mn-ea"/>
                          <a:ea typeface="+mn-ea"/>
                        </a:rPr>
                        <a:t>무효심결의</a:t>
                      </a:r>
                      <a:r>
                        <a:rPr lang="ko-KR" altLang="en-US" sz="1000" kern="0" spc="0" dirty="0">
                          <a:effectLst/>
                          <a:latin typeface="+mn-ea"/>
                          <a:ea typeface="+mn-ea"/>
                        </a:rPr>
                        <a:t> 확정</a:t>
                      </a:r>
                      <a:r>
                        <a:rPr lang="en-US" altLang="ko-KR" sz="1000" kern="0" spc="0" dirty="0">
                          <a:effectLst/>
                          <a:latin typeface="+mn-ea"/>
                          <a:ea typeface="+mn-ea"/>
                        </a:rPr>
                        <a:t>(</a:t>
                      </a:r>
                      <a:r>
                        <a:rPr lang="ko-KR" altLang="en-US" sz="1000" kern="0" spc="0" dirty="0">
                          <a:effectLst/>
                          <a:latin typeface="+mn-ea"/>
                          <a:ea typeface="+mn-ea"/>
                        </a:rPr>
                        <a:t>후발적 사유는 제외</a:t>
                      </a:r>
                      <a:r>
                        <a:rPr lang="en-US" altLang="ko-KR" sz="1000" kern="0" spc="0">
                          <a:effectLst/>
                          <a:latin typeface="+mn-ea"/>
                          <a:ea typeface="+mn-ea"/>
                        </a:rPr>
                        <a:t>), </a:t>
                      </a:r>
                      <a:r>
                        <a:rPr lang="ko-KR" altLang="en-US" sz="1000" kern="0" spc="0" dirty="0">
                          <a:effectLst/>
                          <a:latin typeface="+mn-ea"/>
                          <a:ea typeface="+mn-ea"/>
                        </a:rPr>
                        <a:t>취소결정의 확정</a:t>
                      </a:r>
                    </a:p>
                    <a:p>
                      <a:pPr marL="73660" marR="0" indent="-73660" algn="just" defTabSz="914400" rtl="0" eaLnBrk="1" fontAlgn="base" latinLnBrk="1" hangingPunct="1">
                        <a:lnSpc>
                          <a:spcPct val="100000"/>
                        </a:lnSpc>
                        <a:spcBef>
                          <a:spcPts val="0"/>
                        </a:spcBef>
                        <a:spcAft>
                          <a:spcPts val="0"/>
                        </a:spcAft>
                        <a:buClrTx/>
                        <a:buSzTx/>
                        <a:buFontTx/>
                        <a:buNone/>
                        <a:tabLst/>
                        <a:defRPr/>
                      </a:pPr>
                      <a:r>
                        <a:rPr lang="en-US" altLang="ko-KR" sz="1000" kern="0" spc="0" dirty="0">
                          <a:effectLst/>
                          <a:latin typeface="+mn-ea"/>
                          <a:ea typeface="+mn-ea"/>
                        </a:rPr>
                        <a:t>2.</a:t>
                      </a:r>
                      <a:r>
                        <a:rPr lang="ko-KR" altLang="en-US" sz="1000" kern="0" spc="0" dirty="0">
                          <a:effectLst/>
                          <a:latin typeface="+mn-ea"/>
                          <a:ea typeface="+mn-ea"/>
                        </a:rPr>
                        <a:t>장래를 향해 소멸</a:t>
                      </a:r>
                      <a:r>
                        <a:rPr lang="en-US" altLang="ko-KR" sz="1000" kern="0" spc="0" dirty="0">
                          <a:effectLst/>
                          <a:latin typeface="+mn-ea"/>
                          <a:ea typeface="+mn-ea"/>
                        </a:rPr>
                        <a:t>-</a:t>
                      </a:r>
                      <a:r>
                        <a:rPr lang="ko-KR" altLang="en-US" sz="1000" kern="0" spc="0" dirty="0">
                          <a:effectLst/>
                          <a:latin typeface="+mn-ea"/>
                          <a:ea typeface="+mn-ea"/>
                        </a:rPr>
                        <a:t>특허료 불납</a:t>
                      </a:r>
                      <a:r>
                        <a:rPr lang="en-US" altLang="ko-KR" sz="1000" kern="0" spc="0" dirty="0">
                          <a:solidFill>
                            <a:srgbClr val="000000"/>
                          </a:solidFill>
                          <a:effectLst/>
                          <a:latin typeface="+mn-ea"/>
                          <a:ea typeface="+mn-ea"/>
                        </a:rPr>
                        <a:t>,</a:t>
                      </a:r>
                      <a:r>
                        <a:rPr lang="en-US" altLang="ko-KR" sz="1000" kern="0" spc="0" baseline="0" dirty="0">
                          <a:solidFill>
                            <a:srgbClr val="000000"/>
                          </a:solidFill>
                          <a:effectLst/>
                          <a:latin typeface="+mn-ea"/>
                          <a:ea typeface="+mn-ea"/>
                        </a:rPr>
                        <a:t> </a:t>
                      </a:r>
                      <a:r>
                        <a:rPr lang="ko-KR" altLang="en-US" sz="1000" kern="0" spc="0" dirty="0">
                          <a:effectLst/>
                          <a:latin typeface="+mn-ea"/>
                          <a:ea typeface="+mn-ea"/>
                        </a:rPr>
                        <a:t>존속기간의 만료</a:t>
                      </a:r>
                      <a:r>
                        <a:rPr lang="en-US" altLang="ko-KR" sz="1000" kern="0" spc="0" dirty="0">
                          <a:effectLst/>
                          <a:latin typeface="+mn-ea"/>
                          <a:ea typeface="+mn-ea"/>
                        </a:rPr>
                        <a:t>, </a:t>
                      </a:r>
                      <a:r>
                        <a:rPr lang="ko-KR" altLang="en-US" sz="1000" kern="0" spc="0" dirty="0">
                          <a:effectLst/>
                          <a:latin typeface="+mn-ea"/>
                          <a:ea typeface="+mn-ea"/>
                        </a:rPr>
                        <a:t>특허권의 포기</a:t>
                      </a:r>
                      <a:r>
                        <a:rPr lang="en-US" altLang="ko-KR" sz="1000" kern="0" spc="0" dirty="0">
                          <a:effectLst/>
                          <a:latin typeface="+mn-ea"/>
                          <a:ea typeface="+mn-ea"/>
                        </a:rPr>
                        <a:t>(</a:t>
                      </a:r>
                      <a:r>
                        <a:rPr lang="ko-KR" altLang="en-US" sz="1000" kern="0" spc="0" dirty="0">
                          <a:effectLst/>
                          <a:latin typeface="+mn-ea"/>
                          <a:ea typeface="+mn-ea"/>
                        </a:rPr>
                        <a:t>法</a:t>
                      </a:r>
                      <a:r>
                        <a:rPr lang="en-US" altLang="ko-KR" sz="1000" kern="0" spc="0" dirty="0">
                          <a:effectLst/>
                          <a:latin typeface="+mn-ea"/>
                          <a:ea typeface="+mn-ea"/>
                        </a:rPr>
                        <a:t>119,120), </a:t>
                      </a:r>
                      <a:r>
                        <a:rPr lang="ko-KR" altLang="en-US" sz="1000" kern="0" spc="0" dirty="0">
                          <a:effectLst/>
                          <a:latin typeface="+mn-ea"/>
                          <a:ea typeface="+mn-ea"/>
                        </a:rPr>
                        <a:t>상속인이 없는 경우</a:t>
                      </a:r>
                      <a:r>
                        <a:rPr lang="en-US" altLang="ko-KR" sz="1000" kern="0" spc="0" dirty="0">
                          <a:effectLst/>
                          <a:latin typeface="+mn-ea"/>
                          <a:ea typeface="+mn-ea"/>
                        </a:rPr>
                        <a:t>(</a:t>
                      </a:r>
                      <a:r>
                        <a:rPr lang="ko-KR" altLang="en-US" sz="1000" kern="0" spc="0" dirty="0">
                          <a:effectLst/>
                          <a:latin typeface="+mn-ea"/>
                          <a:ea typeface="+mn-ea"/>
                        </a:rPr>
                        <a:t>法</a:t>
                      </a:r>
                      <a:r>
                        <a:rPr lang="en-US" altLang="ko-KR" sz="1000" kern="0" spc="0" dirty="0">
                          <a:effectLst/>
                          <a:latin typeface="+mn-ea"/>
                          <a:ea typeface="+mn-ea"/>
                        </a:rPr>
                        <a:t>124) </a:t>
                      </a:r>
                      <a:endParaRPr lang="ko-KR" altLang="en-US" sz="1000" kern="0" spc="0" dirty="0">
                        <a:solidFill>
                          <a:srgbClr val="000000"/>
                        </a:solidFill>
                        <a:effectLst/>
                        <a:latin typeface="+mn-ea"/>
                        <a:ea typeface="+mn-ea"/>
                      </a:endParaRPr>
                    </a:p>
                  </a:txBody>
                  <a:tcPr marL="51439" marR="51439" marT="25720" marB="25720" anchor="ctr"/>
                </a:tc>
                <a:tc gridSpan="2">
                  <a:txBody>
                    <a:bodyPr/>
                    <a:lstStyle/>
                    <a:p>
                      <a:pPr marL="0" marR="0" indent="0" algn="just" fontAlgn="base" latinLnBrk="1">
                        <a:lnSpc>
                          <a:spcPct val="100000"/>
                        </a:lnSpc>
                        <a:spcBef>
                          <a:spcPts val="0"/>
                        </a:spcBef>
                        <a:spcAft>
                          <a:spcPts val="0"/>
                        </a:spcAft>
                      </a:pPr>
                      <a:r>
                        <a:rPr lang="en-US" altLang="ko-KR" sz="1000" kern="0" spc="0" dirty="0">
                          <a:effectLst/>
                          <a:latin typeface="+mn-ea"/>
                          <a:ea typeface="+mn-ea"/>
                        </a:rPr>
                        <a:t>1.</a:t>
                      </a:r>
                      <a:r>
                        <a:rPr lang="ko-KR" altLang="en-US" sz="1000" kern="0" spc="0" dirty="0">
                          <a:effectLst/>
                          <a:latin typeface="+mn-ea"/>
                          <a:ea typeface="+mn-ea"/>
                        </a:rPr>
                        <a:t>특허권의 소멸</a:t>
                      </a:r>
                      <a:r>
                        <a:rPr lang="en-US" altLang="ko-KR" sz="1000" kern="0" spc="0" dirty="0">
                          <a:effectLst/>
                          <a:latin typeface="+mn-ea"/>
                          <a:ea typeface="+mn-ea"/>
                        </a:rPr>
                        <a:t>, </a:t>
                      </a:r>
                      <a:r>
                        <a:rPr lang="ko-KR" altLang="en-US" sz="1000" kern="0" spc="0" dirty="0">
                          <a:effectLst/>
                          <a:latin typeface="+mn-ea"/>
                          <a:ea typeface="+mn-ea"/>
                        </a:rPr>
                        <a:t>수용</a:t>
                      </a:r>
                    </a:p>
                    <a:p>
                      <a:pPr marL="0" marR="0" indent="0" algn="just" fontAlgn="base" latinLnBrk="1">
                        <a:lnSpc>
                          <a:spcPct val="100000"/>
                        </a:lnSpc>
                        <a:spcBef>
                          <a:spcPts val="0"/>
                        </a:spcBef>
                        <a:spcAft>
                          <a:spcPts val="0"/>
                        </a:spcAft>
                      </a:pPr>
                      <a:r>
                        <a:rPr lang="en-US" altLang="ko-KR" sz="1000" kern="0" spc="0" dirty="0">
                          <a:effectLst/>
                          <a:latin typeface="+mn-ea"/>
                          <a:ea typeface="+mn-ea"/>
                        </a:rPr>
                        <a:t>2.</a:t>
                      </a:r>
                      <a:r>
                        <a:rPr lang="ko-KR" altLang="en-US" sz="1000" kern="0" spc="0" dirty="0" err="1">
                          <a:effectLst/>
                          <a:latin typeface="+mn-ea"/>
                          <a:ea typeface="+mn-ea"/>
                        </a:rPr>
                        <a:t>실시권</a:t>
                      </a:r>
                      <a:r>
                        <a:rPr lang="ko-KR" altLang="en-US" sz="1000" kern="0" spc="0" dirty="0">
                          <a:effectLst/>
                          <a:latin typeface="+mn-ea"/>
                          <a:ea typeface="+mn-ea"/>
                        </a:rPr>
                        <a:t> 자체의 소멸</a:t>
                      </a:r>
                      <a:endParaRPr lang="ko-KR" altLang="en-US" sz="1000" kern="0" spc="0" dirty="0">
                        <a:solidFill>
                          <a:srgbClr val="000000"/>
                        </a:solidFill>
                        <a:effectLst/>
                        <a:latin typeface="+mn-ea"/>
                        <a:ea typeface="+mn-ea"/>
                      </a:endParaRPr>
                    </a:p>
                  </a:txBody>
                  <a:tcPr marL="51439" marR="51439" marT="25720" marB="25720" anchor="ctr"/>
                </a:tc>
                <a:tc hMerge="1">
                  <a:txBody>
                    <a:bodyPr/>
                    <a:lstStyle/>
                    <a:p>
                      <a:pPr latinLnBrk="1"/>
                      <a:endParaRPr lang="ko-KR" altLang="en-US"/>
                    </a:p>
                  </a:txBody>
                  <a:tcPr/>
                </a:tc>
                <a:extLst>
                  <a:ext uri="{0D108BD9-81ED-4DB2-BD59-A6C34878D82A}">
                    <a16:rowId xmlns:a16="http://schemas.microsoft.com/office/drawing/2014/main" val="10013"/>
                  </a:ext>
                </a:extLst>
              </a:tr>
              <a:tr h="216513">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00" kern="0" spc="0" dirty="0">
                          <a:effectLst/>
                          <a:latin typeface="+mn-ea"/>
                          <a:ea typeface="+mn-ea"/>
                        </a:rPr>
                        <a:t>효과</a:t>
                      </a:r>
                      <a:endParaRPr lang="ko-KR" altLang="en-US" sz="1000" b="1" kern="0" spc="0" dirty="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000" kern="0" spc="0" dirty="0">
                          <a:effectLst/>
                          <a:latin typeface="+mn-ea"/>
                          <a:ea typeface="+mn-ea"/>
                        </a:rPr>
                        <a:t>1.</a:t>
                      </a:r>
                      <a:r>
                        <a:rPr lang="ko-KR" altLang="en-US" sz="1000" kern="0" spc="0" dirty="0">
                          <a:effectLst/>
                          <a:latin typeface="+mn-ea"/>
                          <a:ea typeface="+mn-ea"/>
                        </a:rPr>
                        <a:t>소급하여 소멸</a:t>
                      </a:r>
                      <a:r>
                        <a:rPr lang="en-US" altLang="ko-KR" sz="1000" kern="0" spc="0" dirty="0">
                          <a:effectLst/>
                          <a:latin typeface="+mn-ea"/>
                          <a:ea typeface="+mn-ea"/>
                        </a:rPr>
                        <a:t>/2.</a:t>
                      </a:r>
                      <a:r>
                        <a:rPr lang="ko-KR" altLang="en-US" sz="1000" kern="0" spc="0" dirty="0">
                          <a:effectLst/>
                          <a:latin typeface="+mn-ea"/>
                          <a:ea typeface="+mn-ea"/>
                        </a:rPr>
                        <a:t>장래를 향해 소멸</a:t>
                      </a:r>
                      <a:endParaRPr lang="ko-KR" altLang="en-US" sz="1000" kern="0" spc="0" dirty="0">
                        <a:solidFill>
                          <a:srgbClr val="000000"/>
                        </a:solidFill>
                        <a:effectLst/>
                        <a:latin typeface="+mn-ea"/>
                        <a:ea typeface="+mn-ea"/>
                      </a:endParaRPr>
                    </a:p>
                  </a:txBody>
                  <a:tcPr marL="51439" marR="51439" marT="25720" marB="25720" anchor="ctr"/>
                </a:tc>
                <a:tc gridSpan="2">
                  <a:txBody>
                    <a:bodyPr/>
                    <a:lstStyle/>
                    <a:p>
                      <a:pPr marL="0" marR="0" indent="0" algn="just" fontAlgn="base" latinLnBrk="1">
                        <a:lnSpc>
                          <a:spcPct val="100000"/>
                        </a:lnSpc>
                        <a:spcBef>
                          <a:spcPts val="0"/>
                        </a:spcBef>
                        <a:spcAft>
                          <a:spcPts val="0"/>
                        </a:spcAft>
                      </a:pPr>
                      <a:r>
                        <a:rPr lang="ko-KR" altLang="en-US" sz="1000" kern="0" spc="0" dirty="0">
                          <a:effectLst/>
                          <a:latin typeface="+mn-ea"/>
                          <a:ea typeface="+mn-ea"/>
                        </a:rPr>
                        <a:t>　</a:t>
                      </a:r>
                      <a:endParaRPr lang="ko-KR" altLang="en-US" sz="1000" kern="0" spc="0" dirty="0">
                        <a:solidFill>
                          <a:srgbClr val="000000"/>
                        </a:solidFill>
                        <a:effectLst/>
                        <a:latin typeface="+mn-ea"/>
                        <a:ea typeface="+mn-ea"/>
                      </a:endParaRPr>
                    </a:p>
                  </a:txBody>
                  <a:tcPr marL="51439" marR="51439" marT="25720" marB="25720" anchor="ctr"/>
                </a:tc>
                <a:tc hMerge="1">
                  <a:txBody>
                    <a:bodyPr/>
                    <a:lstStyle/>
                    <a:p>
                      <a:pPr latinLnBrk="1"/>
                      <a:endParaRPr lang="ko-KR" altLang="en-US" dirty="0"/>
                    </a:p>
                  </a:txBody>
                  <a:tcPr marL="51439" marR="51439" marT="25720" marB="25720" anchor="ctr"/>
                </a:tc>
                <a:extLst>
                  <a:ext uri="{0D108BD9-81ED-4DB2-BD59-A6C34878D82A}">
                    <a16:rowId xmlns:a16="http://schemas.microsoft.com/office/drawing/2014/main" val="10014"/>
                  </a:ext>
                </a:extLst>
              </a:tr>
              <a:tr h="307675">
                <a:tc gridSpan="2">
                  <a:txBody>
                    <a:bodyPr/>
                    <a:lstStyle/>
                    <a:p>
                      <a:pPr marL="0" marR="0" indent="0" algn="ctr" fontAlgn="base" latinLnBrk="0">
                        <a:lnSpc>
                          <a:spcPct val="100000"/>
                        </a:lnSpc>
                        <a:spcBef>
                          <a:spcPts val="0"/>
                        </a:spcBef>
                        <a:spcAft>
                          <a:spcPts val="0"/>
                        </a:spcAft>
                      </a:pPr>
                      <a:r>
                        <a:rPr lang="ko-KR" altLang="en-US" sz="1000" kern="0" spc="0">
                          <a:effectLst/>
                          <a:latin typeface="+mn-ea"/>
                          <a:ea typeface="+mn-ea"/>
                        </a:rPr>
                        <a:t>공유</a:t>
                      </a:r>
                      <a:endParaRPr lang="ko-KR" altLang="en-US" sz="1000" b="1" kern="0" spc="0">
                        <a:solidFill>
                          <a:srgbClr val="000000"/>
                        </a:solidFill>
                        <a:effectLst/>
                        <a:latin typeface="+mn-ea"/>
                        <a:ea typeface="+mn-ea"/>
                      </a:endParaRPr>
                    </a:p>
                  </a:txBody>
                  <a:tcPr marL="51439" marR="51439" marT="25720" marB="25720"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en-US" altLang="ko-KR" sz="1000" kern="0" spc="0" dirty="0">
                          <a:effectLst/>
                          <a:latin typeface="+mn-ea"/>
                          <a:ea typeface="+mn-ea"/>
                        </a:rPr>
                        <a:t>1.</a:t>
                      </a:r>
                      <a:r>
                        <a:rPr lang="ko-KR" altLang="en-US" sz="1000" kern="0" spc="0" dirty="0">
                          <a:effectLst/>
                          <a:latin typeface="+mn-ea"/>
                          <a:ea typeface="+mn-ea"/>
                        </a:rPr>
                        <a:t>다른 공유자 동의 받아야만 지분 양도</a:t>
                      </a:r>
                      <a:r>
                        <a:rPr lang="en-US" altLang="ko-KR" sz="1000" kern="0" spc="0" dirty="0">
                          <a:effectLst/>
                          <a:latin typeface="+mn-ea"/>
                          <a:ea typeface="+mn-ea"/>
                        </a:rPr>
                        <a:t>, </a:t>
                      </a:r>
                      <a:r>
                        <a:rPr lang="ko-KR" altLang="en-US" sz="1000" kern="0" spc="0" dirty="0">
                          <a:effectLst/>
                          <a:latin typeface="+mn-ea"/>
                          <a:ea typeface="+mn-ea"/>
                        </a:rPr>
                        <a:t>지분에 대한 질권설정 可</a:t>
                      </a:r>
                      <a:r>
                        <a:rPr lang="en-US" altLang="ko-KR" sz="1000" kern="0" spc="0" dirty="0">
                          <a:effectLst/>
                          <a:latin typeface="+mn-ea"/>
                          <a:ea typeface="+mn-ea"/>
                        </a:rPr>
                        <a:t>(</a:t>
                      </a:r>
                      <a:r>
                        <a:rPr lang="ko-KR" altLang="en-US" sz="1000" kern="0" spc="0" dirty="0">
                          <a:effectLst/>
                          <a:latin typeface="+mn-ea"/>
                          <a:ea typeface="+mn-ea"/>
                        </a:rPr>
                        <a:t>法 </a:t>
                      </a:r>
                      <a:r>
                        <a:rPr lang="en-US" altLang="ko-KR" sz="1000" kern="0" spc="0" dirty="0">
                          <a:effectLst/>
                          <a:latin typeface="+mn-ea"/>
                          <a:ea typeface="+mn-ea"/>
                        </a:rPr>
                        <a:t>99</a:t>
                      </a:r>
                      <a:r>
                        <a:rPr lang="ko-KR" altLang="en-US" sz="1000" kern="0" spc="0" dirty="0">
                          <a:effectLst/>
                          <a:latin typeface="+mn-ea"/>
                          <a:ea typeface="+mn-ea"/>
                        </a:rPr>
                        <a:t>②</a:t>
                      </a:r>
                      <a:r>
                        <a:rPr lang="en-US" altLang="ko-KR" sz="1000" kern="0" spc="0" dirty="0">
                          <a:effectLst/>
                          <a:latin typeface="+mn-ea"/>
                          <a:ea typeface="+mn-ea"/>
                        </a:rPr>
                        <a:t>)</a:t>
                      </a:r>
                      <a:endParaRPr lang="ko-KR" altLang="en-US" sz="1000" kern="0" spc="0" dirty="0">
                        <a:effectLst/>
                        <a:latin typeface="+mn-ea"/>
                        <a:ea typeface="+mn-ea"/>
                      </a:endParaRPr>
                    </a:p>
                    <a:p>
                      <a:pPr marL="0" marR="0" indent="0" algn="just" fontAlgn="base" latinLnBrk="1">
                        <a:lnSpc>
                          <a:spcPct val="100000"/>
                        </a:lnSpc>
                        <a:spcBef>
                          <a:spcPts val="0"/>
                        </a:spcBef>
                        <a:spcAft>
                          <a:spcPts val="0"/>
                        </a:spcAft>
                      </a:pPr>
                      <a:r>
                        <a:rPr lang="en-US" altLang="ko-KR" sz="1000" kern="0" spc="-40" dirty="0">
                          <a:effectLst/>
                          <a:latin typeface="+mn-ea"/>
                          <a:ea typeface="+mn-ea"/>
                        </a:rPr>
                        <a:t>2.</a:t>
                      </a:r>
                      <a:r>
                        <a:rPr lang="ko-KR" altLang="en-US" sz="1000" kern="0" spc="-40" dirty="0">
                          <a:effectLst/>
                          <a:latin typeface="+mn-ea"/>
                          <a:ea typeface="+mn-ea"/>
                        </a:rPr>
                        <a:t>다른 공유자 </a:t>
                      </a:r>
                      <a:r>
                        <a:rPr lang="ko-KR" altLang="en-US" sz="1000" kern="0" spc="-40" dirty="0" err="1">
                          <a:effectLst/>
                          <a:latin typeface="+mn-ea"/>
                          <a:ea typeface="+mn-ea"/>
                        </a:rPr>
                        <a:t>동의없이</a:t>
                      </a:r>
                      <a:r>
                        <a:rPr lang="ko-KR" altLang="en-US" sz="1000" kern="0" spc="-40" dirty="0">
                          <a:effectLst/>
                          <a:latin typeface="+mn-ea"/>
                          <a:ea typeface="+mn-ea"/>
                        </a:rPr>
                        <a:t> 지분비율에 무관하게 특허발명 전체 실시 可</a:t>
                      </a:r>
                      <a:r>
                        <a:rPr lang="en-US" altLang="ko-KR" sz="1000" kern="0" spc="-40" dirty="0">
                          <a:effectLst/>
                          <a:latin typeface="+mn-ea"/>
                          <a:ea typeface="+mn-ea"/>
                        </a:rPr>
                        <a:t>(</a:t>
                      </a:r>
                      <a:r>
                        <a:rPr lang="ko-KR" altLang="en-US" sz="1000" kern="0" spc="-40" dirty="0">
                          <a:effectLst/>
                          <a:latin typeface="+mn-ea"/>
                          <a:ea typeface="+mn-ea"/>
                        </a:rPr>
                        <a:t>法 </a:t>
                      </a:r>
                      <a:r>
                        <a:rPr lang="en-US" altLang="ko-KR" sz="1000" kern="0" spc="-40" dirty="0">
                          <a:effectLst/>
                          <a:latin typeface="+mn-ea"/>
                          <a:ea typeface="+mn-ea"/>
                        </a:rPr>
                        <a:t>99</a:t>
                      </a:r>
                      <a:r>
                        <a:rPr lang="ko-KR" altLang="en-US" sz="1000" kern="0" spc="-40" dirty="0">
                          <a:effectLst/>
                          <a:latin typeface="+mn-ea"/>
                          <a:ea typeface="+mn-ea"/>
                        </a:rPr>
                        <a:t>③</a:t>
                      </a:r>
                      <a:r>
                        <a:rPr lang="en-US" altLang="ko-KR" sz="1000" kern="0" spc="-40" dirty="0">
                          <a:effectLst/>
                          <a:latin typeface="+mn-ea"/>
                          <a:ea typeface="+mn-ea"/>
                        </a:rPr>
                        <a:t>)</a:t>
                      </a:r>
                      <a:endParaRPr lang="ko-KR" altLang="en-US" sz="1000" kern="0" spc="-40" dirty="0">
                        <a:effectLst/>
                        <a:latin typeface="+mn-ea"/>
                        <a:ea typeface="+mn-ea"/>
                      </a:endParaRPr>
                    </a:p>
                    <a:p>
                      <a:pPr marL="71120" marR="0" indent="-71120" algn="just" fontAlgn="base" latinLnBrk="1">
                        <a:lnSpc>
                          <a:spcPct val="100000"/>
                        </a:lnSpc>
                        <a:spcBef>
                          <a:spcPts val="0"/>
                        </a:spcBef>
                        <a:spcAft>
                          <a:spcPts val="0"/>
                        </a:spcAft>
                      </a:pPr>
                      <a:r>
                        <a:rPr lang="en-US" altLang="ko-KR" sz="1000" kern="0" spc="-70" dirty="0">
                          <a:effectLst/>
                          <a:latin typeface="+mn-ea"/>
                          <a:ea typeface="+mn-ea"/>
                        </a:rPr>
                        <a:t>3.</a:t>
                      </a:r>
                      <a:r>
                        <a:rPr lang="ko-KR" altLang="en-US" sz="1000" kern="0" spc="-70" dirty="0">
                          <a:effectLst/>
                          <a:latin typeface="+mn-ea"/>
                          <a:ea typeface="+mn-ea"/>
                        </a:rPr>
                        <a:t>다른 공유자 동의 받아야만 특허권에 대한 전용권설정</a:t>
                      </a:r>
                      <a:r>
                        <a:rPr lang="en-US" altLang="ko-KR" sz="1000" kern="0" spc="-70" dirty="0">
                          <a:effectLst/>
                          <a:latin typeface="+mn-ea"/>
                          <a:ea typeface="+mn-ea"/>
                        </a:rPr>
                        <a:t>, </a:t>
                      </a:r>
                      <a:r>
                        <a:rPr lang="ko-KR" altLang="en-US" sz="1000" kern="0" spc="-70" dirty="0" err="1">
                          <a:effectLst/>
                          <a:latin typeface="+mn-ea"/>
                          <a:ea typeface="+mn-ea"/>
                        </a:rPr>
                        <a:t>통상권허락</a:t>
                      </a:r>
                      <a:r>
                        <a:rPr lang="ko-KR" altLang="en-US" sz="1000" kern="0" spc="-70" dirty="0">
                          <a:effectLst/>
                          <a:latin typeface="+mn-ea"/>
                          <a:ea typeface="+mn-ea"/>
                        </a:rPr>
                        <a:t> 可</a:t>
                      </a:r>
                      <a:r>
                        <a:rPr lang="en-US" altLang="ko-KR" sz="1000" kern="0" spc="-70" dirty="0">
                          <a:effectLst/>
                          <a:latin typeface="+mn-ea"/>
                          <a:ea typeface="+mn-ea"/>
                        </a:rPr>
                        <a:t>(</a:t>
                      </a:r>
                      <a:r>
                        <a:rPr lang="ko-KR" altLang="en-US" sz="1000" kern="0" spc="-70">
                          <a:effectLst/>
                          <a:latin typeface="+mn-ea"/>
                          <a:ea typeface="+mn-ea"/>
                        </a:rPr>
                        <a:t>法 </a:t>
                      </a:r>
                      <a:r>
                        <a:rPr lang="en-US" altLang="ko-KR" sz="1000" kern="0" spc="-70">
                          <a:effectLst/>
                          <a:latin typeface="+mn-ea"/>
                          <a:ea typeface="+mn-ea"/>
                        </a:rPr>
                        <a:t>99</a:t>
                      </a:r>
                      <a:r>
                        <a:rPr lang="ko-KR" altLang="en-US" sz="1000" kern="0" spc="-70" dirty="0">
                          <a:effectLst/>
                          <a:latin typeface="+mn-ea"/>
                          <a:ea typeface="+mn-ea"/>
                        </a:rPr>
                        <a:t>④</a:t>
                      </a:r>
                      <a:r>
                        <a:rPr lang="en-US" altLang="ko-KR" sz="1000" kern="0" spc="-70" dirty="0">
                          <a:effectLst/>
                          <a:latin typeface="+mn-ea"/>
                          <a:ea typeface="+mn-ea"/>
                        </a:rPr>
                        <a:t>)</a:t>
                      </a:r>
                      <a:endParaRPr lang="ko-KR" altLang="en-US" sz="1000" kern="0" spc="-70" dirty="0">
                        <a:solidFill>
                          <a:srgbClr val="000000"/>
                        </a:solidFill>
                        <a:effectLst/>
                        <a:latin typeface="+mn-ea"/>
                        <a:ea typeface="+mn-ea"/>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000" kern="0" spc="0" dirty="0">
                          <a:effectLst/>
                          <a:latin typeface="+mn-ea"/>
                          <a:ea typeface="+mn-ea"/>
                        </a:rPr>
                        <a:t>法</a:t>
                      </a:r>
                      <a:r>
                        <a:rPr lang="en-US" altLang="ko-KR" sz="1000" kern="0" spc="0" dirty="0">
                          <a:effectLst/>
                          <a:latin typeface="+mn-ea"/>
                          <a:ea typeface="+mn-ea"/>
                        </a:rPr>
                        <a:t>99</a:t>
                      </a:r>
                      <a:r>
                        <a:rPr lang="ko-KR" altLang="en-US" sz="1000" kern="0" spc="0" dirty="0">
                          <a:effectLst/>
                          <a:latin typeface="+mn-ea"/>
                          <a:ea typeface="+mn-ea"/>
                        </a:rPr>
                        <a:t>②</a:t>
                      </a:r>
                      <a:r>
                        <a:rPr lang="en-US" altLang="ko-KR" sz="1000" kern="0" spc="0" dirty="0">
                          <a:effectLst/>
                          <a:latin typeface="+mn-ea"/>
                          <a:ea typeface="+mn-ea"/>
                        </a:rPr>
                        <a:t>~</a:t>
                      </a:r>
                      <a:r>
                        <a:rPr lang="ko-KR" altLang="en-US" sz="1000" kern="0" spc="0" dirty="0">
                          <a:effectLst/>
                          <a:latin typeface="+mn-ea"/>
                          <a:ea typeface="+mn-ea"/>
                        </a:rPr>
                        <a:t>④준용</a:t>
                      </a:r>
                    </a:p>
                  </a:txBody>
                  <a:tcPr marL="51439" marR="51439" marT="25720" marB="25720" anchor="ctr"/>
                </a:tc>
                <a:tc>
                  <a:txBody>
                    <a:bodyPr/>
                    <a:lstStyle/>
                    <a:p>
                      <a:pPr marL="0" marR="0" indent="0" algn="just" defTabSz="914400" rtl="0" eaLnBrk="1" fontAlgn="base" latinLnBrk="1" hangingPunct="1">
                        <a:lnSpc>
                          <a:spcPct val="100000"/>
                        </a:lnSpc>
                        <a:spcBef>
                          <a:spcPts val="0"/>
                        </a:spcBef>
                        <a:spcAft>
                          <a:spcPts val="0"/>
                        </a:spcAft>
                        <a:buClrTx/>
                        <a:buSzTx/>
                        <a:buFontTx/>
                        <a:buNone/>
                        <a:tabLst/>
                        <a:defRPr/>
                      </a:pPr>
                      <a:r>
                        <a:rPr lang="ko-KR" altLang="en-US" sz="1000" kern="0" spc="0" dirty="0">
                          <a:effectLst/>
                          <a:latin typeface="+mn-ea"/>
                          <a:ea typeface="+mn-ea"/>
                        </a:rPr>
                        <a:t>法</a:t>
                      </a:r>
                      <a:r>
                        <a:rPr lang="en-US" altLang="ko-KR" sz="1000" kern="0" spc="0" dirty="0">
                          <a:effectLst/>
                          <a:latin typeface="+mn-ea"/>
                          <a:ea typeface="+mn-ea"/>
                        </a:rPr>
                        <a:t>99</a:t>
                      </a:r>
                      <a:r>
                        <a:rPr lang="ko-KR" altLang="en-US" sz="1000" kern="0" spc="0" dirty="0">
                          <a:effectLst/>
                          <a:latin typeface="+mn-ea"/>
                          <a:ea typeface="+mn-ea"/>
                        </a:rPr>
                        <a:t>②③준용</a:t>
                      </a:r>
                      <a:endParaRPr lang="ko-KR" altLang="en-US" sz="1000" kern="0" spc="0" dirty="0">
                        <a:solidFill>
                          <a:srgbClr val="000000"/>
                        </a:solidFill>
                        <a:effectLst/>
                        <a:latin typeface="+mn-ea"/>
                        <a:ea typeface="+mn-ea"/>
                      </a:endParaRPr>
                    </a:p>
                  </a:txBody>
                  <a:tcPr marL="51439" marR="51439" marT="25720" marB="25720" anchor="ctr"/>
                </a:tc>
                <a:extLst>
                  <a:ext uri="{0D108BD9-81ED-4DB2-BD59-A6C34878D82A}">
                    <a16:rowId xmlns:a16="http://schemas.microsoft.com/office/drawing/2014/main" val="10015"/>
                  </a:ext>
                </a:extLst>
              </a:tr>
            </a:tbl>
          </a:graphicData>
        </a:graphic>
      </p:graphicFrame>
      <p:sp>
        <p:nvSpPr>
          <p:cNvPr id="5" name="슬라이드 번호 개체 틀 4"/>
          <p:cNvSpPr>
            <a:spLocks noGrp="1"/>
          </p:cNvSpPr>
          <p:nvPr>
            <p:ph type="sldNum" sz="quarter" idx="12"/>
          </p:nvPr>
        </p:nvSpPr>
        <p:spPr/>
        <p:txBody>
          <a:bodyPr/>
          <a:lstStyle/>
          <a:p>
            <a:r>
              <a:rPr lang="en-US" altLang="ko-KR"/>
              <a:t>426</a:t>
            </a:r>
            <a:endParaRPr lang="ko-KR" altLang="en-US"/>
          </a:p>
        </p:txBody>
      </p:sp>
    </p:spTree>
    <p:extLst>
      <p:ext uri="{BB962C8B-B14F-4D97-AF65-F5344CB8AC3E}">
        <p14:creationId xmlns:p14="http://schemas.microsoft.com/office/powerpoint/2010/main" val="1686940527"/>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ko-KR" altLang="en-US" dirty="0"/>
              <a:t>특허법상 권리</a:t>
            </a:r>
          </a:p>
        </p:txBody>
      </p:sp>
      <p:graphicFrame>
        <p:nvGraphicFramePr>
          <p:cNvPr id="4" name="표 3"/>
          <p:cNvGraphicFramePr>
            <a:graphicFrameLocks noGrp="1"/>
          </p:cNvGraphicFramePr>
          <p:nvPr/>
        </p:nvGraphicFramePr>
        <p:xfrm>
          <a:off x="171450" y="1035270"/>
          <a:ext cx="11734800" cy="5555040"/>
        </p:xfrm>
        <a:graphic>
          <a:graphicData uri="http://schemas.openxmlformats.org/drawingml/2006/table">
            <a:tbl>
              <a:tblPr>
                <a:tableStyleId>{8799B23B-EC83-4686-B30A-512413B5E67A}</a:tableStyleId>
              </a:tblPr>
              <a:tblGrid>
                <a:gridCol w="833080">
                  <a:extLst>
                    <a:ext uri="{9D8B030D-6E8A-4147-A177-3AD203B41FA5}">
                      <a16:colId xmlns:a16="http://schemas.microsoft.com/office/drawing/2014/main" val="20000"/>
                    </a:ext>
                  </a:extLst>
                </a:gridCol>
                <a:gridCol w="791455">
                  <a:extLst>
                    <a:ext uri="{9D8B030D-6E8A-4147-A177-3AD203B41FA5}">
                      <a16:colId xmlns:a16="http://schemas.microsoft.com/office/drawing/2014/main" val="20001"/>
                    </a:ext>
                  </a:extLst>
                </a:gridCol>
                <a:gridCol w="4186074">
                  <a:extLst>
                    <a:ext uri="{9D8B030D-6E8A-4147-A177-3AD203B41FA5}">
                      <a16:colId xmlns:a16="http://schemas.microsoft.com/office/drawing/2014/main" val="20002"/>
                    </a:ext>
                  </a:extLst>
                </a:gridCol>
                <a:gridCol w="5924191">
                  <a:extLst>
                    <a:ext uri="{9D8B030D-6E8A-4147-A177-3AD203B41FA5}">
                      <a16:colId xmlns:a16="http://schemas.microsoft.com/office/drawing/2014/main" val="20003"/>
                    </a:ext>
                  </a:extLst>
                </a:gridCol>
              </a:tblGrid>
              <a:tr h="190588">
                <a:tc gridSpan="2">
                  <a:txBody>
                    <a:bodyPr/>
                    <a:lstStyle/>
                    <a:p>
                      <a:pPr marL="0" marR="0" indent="0" algn="ctr" fontAlgn="base" latinLnBrk="0">
                        <a:lnSpc>
                          <a:spcPct val="100000"/>
                        </a:lnSpc>
                        <a:spcBef>
                          <a:spcPts val="0"/>
                        </a:spcBef>
                        <a:spcAft>
                          <a:spcPts val="0"/>
                        </a:spcAft>
                      </a:pPr>
                      <a:r>
                        <a:rPr lang="ko-KR" altLang="en-US" sz="1200" kern="0" spc="0" dirty="0">
                          <a:solidFill>
                            <a:schemeClr val="tx1"/>
                          </a:solidFill>
                          <a:effectLst/>
                        </a:rPr>
                        <a:t>　권리</a:t>
                      </a:r>
                      <a:endParaRPr lang="ko-KR" altLang="en-US" sz="1200" b="1" kern="0" spc="0" dirty="0">
                        <a:solidFill>
                          <a:schemeClr val="tx1"/>
                        </a:solidFill>
                        <a:effectLst/>
                      </a:endParaRPr>
                    </a:p>
                  </a:txBody>
                  <a:tcPr marL="51439" marR="51439" marT="25720" marB="25720"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특허를 받을 수 있는 권리</a:t>
                      </a:r>
                      <a:endParaRPr lang="ko-KR" altLang="en-US" sz="1200" b="1" kern="0" spc="0">
                        <a:solidFill>
                          <a:schemeClr val="tx1"/>
                        </a:solidFill>
                        <a:effectLst/>
                      </a:endParaRPr>
                    </a:p>
                  </a:txBody>
                  <a:tcPr marL="51439" marR="51439" marT="25720" marB="25720"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0" dirty="0">
                          <a:solidFill>
                            <a:schemeClr val="tx1"/>
                          </a:solidFill>
                          <a:effectLst/>
                        </a:rPr>
                        <a:t>보상금청구권</a:t>
                      </a:r>
                      <a:endParaRPr lang="ko-KR" altLang="en-US" sz="1200" b="1" kern="0" spc="0" dirty="0">
                        <a:solidFill>
                          <a:schemeClr val="tx1"/>
                        </a:solidFill>
                        <a:effectLst/>
                      </a:endParaRPr>
                    </a:p>
                  </a:txBody>
                  <a:tcPr marL="51439" marR="51439" marT="25720" marB="25720" anchor="ctr">
                    <a:solidFill>
                      <a:schemeClr val="accent1">
                        <a:lumMod val="20000"/>
                        <a:lumOff val="80000"/>
                      </a:schemeClr>
                    </a:solidFill>
                  </a:tcPr>
                </a:tc>
                <a:extLst>
                  <a:ext uri="{0D108BD9-81ED-4DB2-BD59-A6C34878D82A}">
                    <a16:rowId xmlns:a16="http://schemas.microsoft.com/office/drawing/2014/main" val="10000"/>
                  </a:ext>
                </a:extLst>
              </a:tr>
              <a:tr h="488085">
                <a:tc rowSpan="3">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서</a:t>
                      </a:r>
                      <a:endParaRPr lang="ko-KR" altLang="en-US" sz="1200" b="1" kern="0" spc="0">
                        <a:solidFill>
                          <a:schemeClr val="tx1"/>
                        </a:solidFill>
                        <a:effectLst/>
                      </a:endParaRPr>
                    </a:p>
                  </a:txBody>
                  <a:tcPr marL="51439" marR="51439" marT="25720" marB="25720" anchor="ctr"/>
                </a:tc>
                <a:tc>
                  <a:txBody>
                    <a:bodyPr/>
                    <a:lstStyle/>
                    <a:p>
                      <a:pPr marL="0" marR="0" indent="0" algn="ctr" fontAlgn="base" latinLnBrk="0">
                        <a:lnSpc>
                          <a:spcPct val="100000"/>
                        </a:lnSpc>
                        <a:spcBef>
                          <a:spcPts val="0"/>
                        </a:spcBef>
                        <a:spcAft>
                          <a:spcPts val="0"/>
                        </a:spcAft>
                      </a:pPr>
                      <a:r>
                        <a:rPr lang="ko-KR" altLang="en-US" sz="1200" kern="0" spc="0" dirty="0">
                          <a:solidFill>
                            <a:schemeClr val="tx1"/>
                          </a:solidFill>
                          <a:effectLst/>
                        </a:rPr>
                        <a:t>의의</a:t>
                      </a:r>
                      <a:endParaRPr lang="ko-KR" altLang="en-US" sz="1200" b="1" kern="0" spc="0" dirty="0">
                        <a:solidFill>
                          <a:schemeClr val="tx1"/>
                        </a:solidFill>
                        <a:effectLst/>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200" kern="0" spc="0" dirty="0">
                          <a:solidFill>
                            <a:schemeClr val="tx1"/>
                          </a:solidFill>
                          <a:effectLst/>
                        </a:rPr>
                        <a:t>발명의 완성에 의하여 발생하고</a:t>
                      </a:r>
                      <a:r>
                        <a:rPr lang="en-US" altLang="ko-KR" sz="1200" kern="0" spc="0" dirty="0">
                          <a:solidFill>
                            <a:schemeClr val="tx1"/>
                          </a:solidFill>
                          <a:effectLst/>
                        </a:rPr>
                        <a:t>, </a:t>
                      </a:r>
                      <a:r>
                        <a:rPr lang="ko-KR" altLang="en-US" sz="1200" kern="0" spc="0" dirty="0">
                          <a:solidFill>
                            <a:schemeClr val="tx1"/>
                          </a:solidFill>
                          <a:effectLst/>
                        </a:rPr>
                        <a:t>특허출원에 대한 거절결정확정이나 설정등록이 있기 전까지 인정되는 권리</a:t>
                      </a: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200" kern="0" spc="0" dirty="0">
                          <a:solidFill>
                            <a:schemeClr val="tx1"/>
                          </a:solidFill>
                          <a:effectLst/>
                        </a:rPr>
                        <a:t>출원공개가 </a:t>
                      </a:r>
                      <a:r>
                        <a:rPr lang="ko-KR" altLang="en-US" sz="1200" kern="0" spc="0" dirty="0" err="1">
                          <a:solidFill>
                            <a:schemeClr val="tx1"/>
                          </a:solidFill>
                          <a:effectLst/>
                        </a:rPr>
                        <a:t>있는후</a:t>
                      </a:r>
                      <a:r>
                        <a:rPr lang="ko-KR" altLang="en-US" sz="1200" kern="0" spc="0" dirty="0">
                          <a:solidFill>
                            <a:schemeClr val="tx1"/>
                          </a:solidFill>
                          <a:effectLst/>
                        </a:rPr>
                        <a:t> 경고받거나 </a:t>
                      </a:r>
                      <a:r>
                        <a:rPr lang="ko-KR" altLang="en-US" sz="1200" kern="0" spc="0" dirty="0" err="1">
                          <a:solidFill>
                            <a:schemeClr val="tx1"/>
                          </a:solidFill>
                          <a:effectLst/>
                        </a:rPr>
                        <a:t>출원공개된</a:t>
                      </a:r>
                      <a:r>
                        <a:rPr lang="ko-KR" altLang="en-US" sz="1200" kern="0" spc="0" dirty="0">
                          <a:solidFill>
                            <a:schemeClr val="tx1"/>
                          </a:solidFill>
                          <a:effectLst/>
                        </a:rPr>
                        <a:t> 발명임을 알고 그 </a:t>
                      </a:r>
                      <a:r>
                        <a:rPr lang="ko-KR" altLang="en-US" sz="1200" kern="0" spc="0" dirty="0" err="1">
                          <a:solidFill>
                            <a:schemeClr val="tx1"/>
                          </a:solidFill>
                          <a:effectLst/>
                        </a:rPr>
                        <a:t>특허출원된</a:t>
                      </a:r>
                      <a:r>
                        <a:rPr lang="ko-KR" altLang="en-US" sz="1200" kern="0" spc="0" dirty="0">
                          <a:solidFill>
                            <a:schemeClr val="tx1"/>
                          </a:solidFill>
                          <a:effectLst/>
                        </a:rPr>
                        <a:t> 발명을 업으로서 실시한 자에게 경고받거나 알았을 때부터 설정등록을 할 때까지의 기간 동안 그 특허발명의 실시에 대하여 </a:t>
                      </a:r>
                      <a:r>
                        <a:rPr lang="ko-KR" altLang="en-US" sz="1200" dirty="0">
                          <a:solidFill>
                            <a:schemeClr val="tx1"/>
                          </a:solidFill>
                        </a:rPr>
                        <a:t>합리적</a:t>
                      </a:r>
                      <a:r>
                        <a:rPr lang="ko-KR" altLang="en-US" sz="1200" kern="0" spc="0" dirty="0">
                          <a:solidFill>
                            <a:schemeClr val="tx1"/>
                          </a:solidFill>
                          <a:effectLst/>
                        </a:rPr>
                        <a:t>으로 받을 수 있는 금액에 상당하는 보상금의 지급을 청구할 수 있는 권리</a:t>
                      </a:r>
                    </a:p>
                  </a:txBody>
                  <a:tcPr marL="51439" marR="51439" marT="25720" marB="25720" anchor="ctr"/>
                </a:tc>
                <a:extLst>
                  <a:ext uri="{0D108BD9-81ED-4DB2-BD59-A6C34878D82A}">
                    <a16:rowId xmlns:a16="http://schemas.microsoft.com/office/drawing/2014/main" val="10001"/>
                  </a:ext>
                </a:extLst>
              </a:tr>
              <a:tr h="190588">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취지</a:t>
                      </a:r>
                      <a:endParaRPr lang="ko-KR" altLang="en-US" sz="1200" b="1" kern="0" spc="0">
                        <a:solidFill>
                          <a:schemeClr val="tx1"/>
                        </a:solidFill>
                        <a:effectLst/>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200" kern="0" spc="0">
                          <a:solidFill>
                            <a:schemeClr val="tx1"/>
                          </a:solidFill>
                          <a:effectLst/>
                        </a:rPr>
                        <a:t>특허권 발생이전에 발명자 또는 출원인 보호</a:t>
                      </a: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200" kern="0" spc="0">
                          <a:solidFill>
                            <a:schemeClr val="tx1"/>
                          </a:solidFill>
                          <a:effectLst/>
                        </a:rPr>
                        <a:t>공개로 인해 상실된 이익의 보전</a:t>
                      </a:r>
                    </a:p>
                  </a:txBody>
                  <a:tcPr marL="51439" marR="51439" marT="25720" marB="25720" anchor="ctr"/>
                </a:tc>
                <a:extLst>
                  <a:ext uri="{0D108BD9-81ED-4DB2-BD59-A6C34878D82A}">
                    <a16:rowId xmlns:a16="http://schemas.microsoft.com/office/drawing/2014/main" val="10002"/>
                  </a:ext>
                </a:extLst>
              </a:tr>
              <a:tr h="488085">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성질</a:t>
                      </a:r>
                      <a:endParaRPr lang="ko-KR" altLang="en-US" sz="1200" b="1" kern="0" spc="0">
                        <a:solidFill>
                          <a:schemeClr val="tx1"/>
                        </a:solidFill>
                        <a:effectLst/>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200" kern="0" spc="0">
                          <a:solidFill>
                            <a:schemeClr val="tx1"/>
                          </a:solidFill>
                          <a:effectLst/>
                        </a:rPr>
                        <a:t>사권</a:t>
                      </a:r>
                      <a:r>
                        <a:rPr lang="en-US" altLang="ko-KR" sz="1200" kern="0" spc="0">
                          <a:solidFill>
                            <a:schemeClr val="tx1"/>
                          </a:solidFill>
                          <a:effectLst/>
                        </a:rPr>
                        <a:t>(</a:t>
                      </a:r>
                      <a:r>
                        <a:rPr lang="ko-KR" altLang="en-US" sz="1200" kern="0" spc="0">
                          <a:solidFill>
                            <a:schemeClr val="tx1"/>
                          </a:solidFill>
                          <a:effectLst/>
                        </a:rPr>
                        <a:t>재산권</a:t>
                      </a:r>
                      <a:r>
                        <a:rPr lang="en-US" altLang="ko-KR" sz="1200" kern="0" spc="0">
                          <a:solidFill>
                            <a:schemeClr val="tx1"/>
                          </a:solidFill>
                          <a:effectLst/>
                        </a:rPr>
                        <a:t>)</a:t>
                      </a:r>
                      <a:r>
                        <a:rPr lang="ko-KR" altLang="en-US" sz="1200" kern="0" spc="0">
                          <a:solidFill>
                            <a:schemeClr val="tx1"/>
                          </a:solidFill>
                          <a:effectLst/>
                        </a:rPr>
                        <a:t>과 공권</a:t>
                      </a:r>
                      <a:r>
                        <a:rPr lang="en-US" altLang="ko-KR" sz="1200" kern="0" spc="0">
                          <a:solidFill>
                            <a:schemeClr val="tx1"/>
                          </a:solidFill>
                          <a:effectLst/>
                        </a:rPr>
                        <a:t>(</a:t>
                      </a:r>
                      <a:r>
                        <a:rPr lang="ko-KR" altLang="en-US" sz="1200" kern="0" spc="0">
                          <a:solidFill>
                            <a:schemeClr val="tx1"/>
                          </a:solidFill>
                          <a:effectLst/>
                        </a:rPr>
                        <a:t>특허부여요구권</a:t>
                      </a:r>
                      <a:r>
                        <a:rPr lang="en-US" altLang="ko-KR" sz="1200" kern="0" spc="0">
                          <a:solidFill>
                            <a:schemeClr val="tx1"/>
                          </a:solidFill>
                          <a:effectLst/>
                        </a:rPr>
                        <a:t>)</a:t>
                      </a:r>
                      <a:r>
                        <a:rPr lang="ko-KR" altLang="en-US" sz="1200" kern="0" spc="0">
                          <a:solidFill>
                            <a:schemeClr val="tx1"/>
                          </a:solidFill>
                          <a:effectLst/>
                        </a:rPr>
                        <a:t>을 병합</a:t>
                      </a: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200" kern="0" spc="0" dirty="0">
                          <a:solidFill>
                            <a:schemeClr val="tx1"/>
                          </a:solidFill>
                          <a:effectLst/>
                        </a:rPr>
                        <a:t>1.</a:t>
                      </a:r>
                      <a:r>
                        <a:rPr lang="ko-KR" altLang="en-US" sz="1200" kern="0" spc="0" dirty="0">
                          <a:solidFill>
                            <a:schemeClr val="tx1"/>
                          </a:solidFill>
                          <a:effectLst/>
                        </a:rPr>
                        <a:t>해제조건부 권리</a:t>
                      </a:r>
                    </a:p>
                    <a:p>
                      <a:pPr marL="0" marR="0" indent="0" algn="just" fontAlgn="base" latinLnBrk="1">
                        <a:lnSpc>
                          <a:spcPct val="100000"/>
                        </a:lnSpc>
                        <a:spcBef>
                          <a:spcPts val="0"/>
                        </a:spcBef>
                        <a:spcAft>
                          <a:spcPts val="0"/>
                        </a:spcAft>
                      </a:pPr>
                      <a:r>
                        <a:rPr lang="en-US" altLang="ko-KR" sz="1200" kern="0" spc="0" dirty="0">
                          <a:solidFill>
                            <a:schemeClr val="tx1"/>
                          </a:solidFill>
                          <a:effectLst/>
                        </a:rPr>
                        <a:t>2.</a:t>
                      </a:r>
                      <a:r>
                        <a:rPr lang="ko-KR" altLang="en-US" sz="1200" kern="0" spc="0" dirty="0">
                          <a:solidFill>
                            <a:schemeClr val="tx1"/>
                          </a:solidFill>
                          <a:effectLst/>
                        </a:rPr>
                        <a:t>채권적 권리</a:t>
                      </a:r>
                    </a:p>
                    <a:p>
                      <a:pPr marL="0" marR="0" indent="0" algn="just" fontAlgn="base" latinLnBrk="1">
                        <a:lnSpc>
                          <a:spcPct val="100000"/>
                        </a:lnSpc>
                        <a:spcBef>
                          <a:spcPts val="0"/>
                        </a:spcBef>
                        <a:spcAft>
                          <a:spcPts val="0"/>
                        </a:spcAft>
                      </a:pPr>
                      <a:r>
                        <a:rPr lang="en-US" altLang="ko-KR" sz="1200" kern="0" spc="0" dirty="0">
                          <a:solidFill>
                            <a:schemeClr val="tx1"/>
                          </a:solidFill>
                          <a:effectLst/>
                        </a:rPr>
                        <a:t>3.</a:t>
                      </a:r>
                      <a:r>
                        <a:rPr lang="ko-KR" altLang="en-US" sz="1200" kern="0" spc="0">
                          <a:solidFill>
                            <a:schemeClr val="tx1"/>
                          </a:solidFill>
                          <a:effectLst/>
                        </a:rPr>
                        <a:t>특허권과 </a:t>
                      </a:r>
                      <a:r>
                        <a:rPr lang="ko-KR" altLang="en-US" sz="1200" kern="0" spc="0" dirty="0">
                          <a:solidFill>
                            <a:schemeClr val="tx1"/>
                          </a:solidFill>
                          <a:effectLst/>
                        </a:rPr>
                        <a:t>독립적인 권리</a:t>
                      </a:r>
                    </a:p>
                  </a:txBody>
                  <a:tcPr marL="51439" marR="51439" marT="25720" marB="25720" anchor="ctr"/>
                </a:tc>
                <a:extLst>
                  <a:ext uri="{0D108BD9-81ED-4DB2-BD59-A6C34878D82A}">
                    <a16:rowId xmlns:a16="http://schemas.microsoft.com/office/drawing/2014/main" val="10003"/>
                  </a:ext>
                </a:extLst>
              </a:tr>
              <a:tr h="488085">
                <a:tc gridSpan="2">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발생</a:t>
                      </a:r>
                      <a:endParaRPr lang="ko-KR" altLang="en-US" sz="1200" b="1" kern="0" spc="0">
                        <a:solidFill>
                          <a:schemeClr val="tx1"/>
                        </a:solidFill>
                        <a:effectLst/>
                      </a:endParaRPr>
                    </a:p>
                  </a:txBody>
                  <a:tcPr marL="51439" marR="51439" marT="25720" marB="25720"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1200" kern="0" spc="0" dirty="0">
                          <a:solidFill>
                            <a:schemeClr val="tx1"/>
                          </a:solidFill>
                          <a:effectLst/>
                        </a:rPr>
                        <a:t>발명의 완성에 의하여 발생</a:t>
                      </a: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200" kern="0" spc="0">
                          <a:solidFill>
                            <a:schemeClr val="tx1"/>
                          </a:solidFill>
                          <a:effectLst/>
                        </a:rPr>
                        <a:t>1.</a:t>
                      </a:r>
                      <a:r>
                        <a:rPr lang="ko-KR" altLang="en-US" sz="1200" kern="0" spc="0">
                          <a:solidFill>
                            <a:schemeClr val="tx1"/>
                          </a:solidFill>
                          <a:effectLst/>
                        </a:rPr>
                        <a:t>출원공개가 있을 것</a:t>
                      </a:r>
                    </a:p>
                    <a:p>
                      <a:pPr marL="0" marR="0" indent="0" algn="just" fontAlgn="base" latinLnBrk="1">
                        <a:lnSpc>
                          <a:spcPct val="100000"/>
                        </a:lnSpc>
                        <a:spcBef>
                          <a:spcPts val="0"/>
                        </a:spcBef>
                        <a:spcAft>
                          <a:spcPts val="0"/>
                        </a:spcAft>
                      </a:pPr>
                      <a:r>
                        <a:rPr lang="en-US" altLang="ko-KR" sz="1200" kern="0" spc="0">
                          <a:solidFill>
                            <a:schemeClr val="tx1"/>
                          </a:solidFill>
                          <a:effectLst/>
                        </a:rPr>
                        <a:t>2.</a:t>
                      </a:r>
                      <a:r>
                        <a:rPr lang="ko-KR" altLang="en-US" sz="1200" kern="0" spc="0">
                          <a:solidFill>
                            <a:schemeClr val="tx1"/>
                          </a:solidFill>
                          <a:effectLst/>
                        </a:rPr>
                        <a:t>경고받거나 알고 있을 것</a:t>
                      </a:r>
                    </a:p>
                    <a:p>
                      <a:pPr marL="73660" marR="0" indent="-73660" algn="just" fontAlgn="base" latinLnBrk="1">
                        <a:lnSpc>
                          <a:spcPct val="100000"/>
                        </a:lnSpc>
                        <a:spcBef>
                          <a:spcPts val="0"/>
                        </a:spcBef>
                        <a:spcAft>
                          <a:spcPts val="0"/>
                        </a:spcAft>
                      </a:pPr>
                      <a:r>
                        <a:rPr lang="en-US" altLang="ko-KR" sz="1200" kern="0" spc="0">
                          <a:solidFill>
                            <a:schemeClr val="tx1"/>
                          </a:solidFill>
                          <a:effectLst/>
                        </a:rPr>
                        <a:t>3.</a:t>
                      </a:r>
                      <a:r>
                        <a:rPr lang="ko-KR" altLang="en-US" sz="1200" kern="0" spc="0">
                          <a:solidFill>
                            <a:schemeClr val="tx1"/>
                          </a:solidFill>
                          <a:effectLst/>
                        </a:rPr>
                        <a:t>정당한 권원없는 제</a:t>
                      </a:r>
                      <a:r>
                        <a:rPr lang="en-US" altLang="ko-KR" sz="1200" kern="0" spc="0">
                          <a:solidFill>
                            <a:schemeClr val="tx1"/>
                          </a:solidFill>
                          <a:effectLst/>
                        </a:rPr>
                        <a:t>3</a:t>
                      </a:r>
                      <a:r>
                        <a:rPr lang="ko-KR" altLang="en-US" sz="1200" kern="0" spc="0">
                          <a:solidFill>
                            <a:schemeClr val="tx1"/>
                          </a:solidFill>
                          <a:effectLst/>
                        </a:rPr>
                        <a:t>자가 업으로서 출원발명을 실시할 것</a:t>
                      </a:r>
                    </a:p>
                  </a:txBody>
                  <a:tcPr marL="51439" marR="51439" marT="25720" marB="25720" anchor="ctr"/>
                </a:tc>
                <a:extLst>
                  <a:ext uri="{0D108BD9-81ED-4DB2-BD59-A6C34878D82A}">
                    <a16:rowId xmlns:a16="http://schemas.microsoft.com/office/drawing/2014/main" val="10004"/>
                  </a:ext>
                </a:extLst>
              </a:tr>
              <a:tr h="190588">
                <a:tc rowSpan="2">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효력</a:t>
                      </a:r>
                      <a:endParaRPr lang="ko-KR" altLang="en-US" sz="1200" b="1" kern="0" spc="0">
                        <a:solidFill>
                          <a:schemeClr val="tx1"/>
                        </a:solidFill>
                        <a:effectLst/>
                      </a:endParaRPr>
                    </a:p>
                  </a:txBody>
                  <a:tcPr marL="51439" marR="51439" marT="25720" marB="25720" anchor="ctr"/>
                </a:tc>
                <a:tc>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범위</a:t>
                      </a:r>
                      <a:endParaRPr lang="ko-KR" altLang="en-US" sz="1200" b="1" kern="0" spc="0">
                        <a:solidFill>
                          <a:schemeClr val="tx1"/>
                        </a:solidFill>
                        <a:effectLst/>
                      </a:endParaRPr>
                    </a:p>
                  </a:txBody>
                  <a:tcPr marL="51439" marR="51439" marT="25720" marB="25720" anchor="ctr"/>
                </a:tc>
                <a:tc rowSpan="2">
                  <a:txBody>
                    <a:bodyPr/>
                    <a:lstStyle/>
                    <a:p>
                      <a:pPr marL="0" marR="0" indent="0" algn="just" fontAlgn="base" latinLnBrk="1">
                        <a:lnSpc>
                          <a:spcPct val="100000"/>
                        </a:lnSpc>
                        <a:spcBef>
                          <a:spcPts val="0"/>
                        </a:spcBef>
                        <a:spcAft>
                          <a:spcPts val="0"/>
                        </a:spcAft>
                      </a:pPr>
                      <a:r>
                        <a:rPr lang="en-US" altLang="ko-KR" sz="1200" kern="0" spc="0" dirty="0">
                          <a:solidFill>
                            <a:schemeClr val="tx1"/>
                          </a:solidFill>
                          <a:effectLst/>
                        </a:rPr>
                        <a:t>1.</a:t>
                      </a:r>
                      <a:r>
                        <a:rPr lang="ko-KR" altLang="en-US" sz="1200" kern="0" spc="0" dirty="0">
                          <a:solidFill>
                            <a:schemeClr val="tx1"/>
                          </a:solidFill>
                          <a:effectLst/>
                        </a:rPr>
                        <a:t>특허부여요구권</a:t>
                      </a:r>
                      <a:endParaRPr lang="en-US" altLang="ko-KR" sz="1200" kern="0" spc="0" dirty="0">
                        <a:solidFill>
                          <a:schemeClr val="tx1"/>
                        </a:solidFill>
                        <a:effectLst/>
                      </a:endParaRPr>
                    </a:p>
                    <a:p>
                      <a:pPr marL="0" marR="0" indent="0" algn="just" fontAlgn="base" latinLnBrk="1">
                        <a:lnSpc>
                          <a:spcPct val="100000"/>
                        </a:lnSpc>
                        <a:spcBef>
                          <a:spcPts val="0"/>
                        </a:spcBef>
                        <a:spcAft>
                          <a:spcPts val="0"/>
                        </a:spcAft>
                      </a:pPr>
                      <a:r>
                        <a:rPr lang="ko-KR" altLang="en-US" sz="1200" kern="0" spc="0" dirty="0">
                          <a:solidFill>
                            <a:schemeClr val="tx1"/>
                          </a:solidFill>
                          <a:effectLst/>
                        </a:rPr>
                        <a:t>①권리부여의 요구</a:t>
                      </a:r>
                      <a:r>
                        <a:rPr lang="en-US" altLang="ko-KR" sz="1200" kern="0" spc="0" dirty="0">
                          <a:solidFill>
                            <a:schemeClr val="tx1"/>
                          </a:solidFill>
                          <a:effectLst/>
                        </a:rPr>
                        <a:t>-</a:t>
                      </a:r>
                      <a:r>
                        <a:rPr lang="ko-KR" altLang="en-US" sz="1200" kern="0" spc="0" dirty="0">
                          <a:solidFill>
                            <a:schemeClr val="tx1"/>
                          </a:solidFill>
                          <a:effectLst/>
                        </a:rPr>
                        <a:t>특허출원</a:t>
                      </a:r>
                      <a:r>
                        <a:rPr lang="en-US" altLang="ko-KR" sz="1200" kern="0" spc="0" dirty="0">
                          <a:solidFill>
                            <a:schemeClr val="tx1"/>
                          </a:solidFill>
                          <a:effectLst/>
                        </a:rPr>
                        <a:t>(</a:t>
                      </a:r>
                      <a:r>
                        <a:rPr lang="ko-KR" altLang="en-US" sz="1200" kern="0" spc="0" dirty="0">
                          <a:solidFill>
                            <a:schemeClr val="tx1"/>
                          </a:solidFill>
                          <a:effectLst/>
                        </a:rPr>
                        <a:t>法</a:t>
                      </a:r>
                      <a:r>
                        <a:rPr lang="en-US" altLang="ko-KR" sz="1200" kern="0" spc="0" dirty="0">
                          <a:solidFill>
                            <a:schemeClr val="tx1"/>
                          </a:solidFill>
                          <a:effectLst/>
                        </a:rPr>
                        <a:t>42)</a:t>
                      </a:r>
                      <a:r>
                        <a:rPr lang="ko-KR" altLang="en-US" sz="1200" kern="0" spc="0" dirty="0">
                          <a:solidFill>
                            <a:schemeClr val="tx1"/>
                          </a:solidFill>
                          <a:effectLst/>
                        </a:rPr>
                        <a:t> </a:t>
                      </a:r>
                      <a:endParaRPr lang="en-US" altLang="ko-KR" sz="1200" kern="0" spc="0" dirty="0">
                        <a:solidFill>
                          <a:schemeClr val="tx1"/>
                        </a:solidFill>
                        <a:effectLst/>
                      </a:endParaRPr>
                    </a:p>
                    <a:p>
                      <a:pPr marL="0" marR="0" indent="0" algn="just" fontAlgn="base" latinLnBrk="1">
                        <a:lnSpc>
                          <a:spcPct val="100000"/>
                        </a:lnSpc>
                        <a:spcBef>
                          <a:spcPts val="0"/>
                        </a:spcBef>
                        <a:spcAft>
                          <a:spcPts val="0"/>
                        </a:spcAft>
                      </a:pPr>
                      <a:r>
                        <a:rPr lang="ko-KR" altLang="en-US" sz="1200" kern="0" spc="0" dirty="0">
                          <a:solidFill>
                            <a:schemeClr val="tx1"/>
                          </a:solidFill>
                          <a:effectLst/>
                        </a:rPr>
                        <a:t>②타인출원의 등록금지</a:t>
                      </a:r>
                    </a:p>
                    <a:p>
                      <a:pPr marL="0" marR="0" indent="0" algn="just" fontAlgn="base" latinLnBrk="1">
                        <a:lnSpc>
                          <a:spcPct val="100000"/>
                        </a:lnSpc>
                        <a:spcBef>
                          <a:spcPts val="0"/>
                        </a:spcBef>
                        <a:spcAft>
                          <a:spcPts val="0"/>
                        </a:spcAft>
                      </a:pPr>
                      <a:r>
                        <a:rPr lang="en-US" altLang="ko-KR" sz="1200" kern="0" spc="0" dirty="0">
                          <a:solidFill>
                            <a:schemeClr val="tx1"/>
                          </a:solidFill>
                          <a:effectLst/>
                        </a:rPr>
                        <a:t>2.</a:t>
                      </a:r>
                      <a:r>
                        <a:rPr lang="ko-KR" altLang="en-US" sz="1200" kern="0" spc="0" dirty="0">
                          <a:solidFill>
                            <a:schemeClr val="tx1"/>
                          </a:solidFill>
                          <a:effectLst/>
                        </a:rPr>
                        <a:t>발명자권</a:t>
                      </a:r>
                      <a:endParaRPr lang="en-US" altLang="ko-KR" sz="1200" kern="0" spc="0" dirty="0">
                        <a:solidFill>
                          <a:schemeClr val="tx1"/>
                        </a:solidFill>
                        <a:effectLst/>
                      </a:endParaRPr>
                    </a:p>
                    <a:p>
                      <a:pPr marL="0" marR="0" indent="0" algn="just" fontAlgn="base" latinLnBrk="1">
                        <a:lnSpc>
                          <a:spcPct val="100000"/>
                        </a:lnSpc>
                        <a:spcBef>
                          <a:spcPts val="0"/>
                        </a:spcBef>
                        <a:spcAft>
                          <a:spcPts val="0"/>
                        </a:spcAft>
                      </a:pPr>
                      <a:r>
                        <a:rPr lang="ko-KR" altLang="en-US" sz="1200" kern="0" spc="0" dirty="0">
                          <a:solidFill>
                            <a:schemeClr val="tx1"/>
                          </a:solidFill>
                          <a:effectLst/>
                        </a:rPr>
                        <a:t>①인격권</a:t>
                      </a:r>
                      <a:endParaRPr lang="en-US" altLang="ko-KR" sz="1200" kern="0" spc="0" dirty="0">
                        <a:solidFill>
                          <a:schemeClr val="tx1"/>
                        </a:solidFill>
                        <a:effectLst/>
                      </a:endParaRPr>
                    </a:p>
                    <a:p>
                      <a:pPr marL="0" marR="0" indent="0" algn="just" fontAlgn="base" latinLnBrk="1">
                        <a:lnSpc>
                          <a:spcPct val="100000"/>
                        </a:lnSpc>
                        <a:spcBef>
                          <a:spcPts val="0"/>
                        </a:spcBef>
                        <a:spcAft>
                          <a:spcPts val="0"/>
                        </a:spcAft>
                      </a:pPr>
                      <a:r>
                        <a:rPr lang="ko-KR" altLang="en-US" sz="1200" kern="0" spc="0" dirty="0">
                          <a:solidFill>
                            <a:schemeClr val="tx1"/>
                          </a:solidFill>
                          <a:effectLst/>
                        </a:rPr>
                        <a:t>②재산권</a:t>
                      </a:r>
                    </a:p>
                  </a:txBody>
                  <a:tcPr marL="51439" marR="51439" marT="25720" marB="25720" anchor="ctr"/>
                </a:tc>
                <a:tc rowSpan="2">
                  <a:txBody>
                    <a:bodyPr/>
                    <a:lstStyle/>
                    <a:p>
                      <a:pPr marL="73660" marR="0" indent="-73660" algn="just" fontAlgn="base" latinLnBrk="1">
                        <a:lnSpc>
                          <a:spcPct val="100000"/>
                        </a:lnSpc>
                        <a:spcBef>
                          <a:spcPts val="0"/>
                        </a:spcBef>
                        <a:spcAft>
                          <a:spcPts val="0"/>
                        </a:spcAft>
                      </a:pPr>
                      <a:r>
                        <a:rPr lang="en-US" altLang="ko-KR" sz="1200" kern="0" spc="0" dirty="0">
                          <a:solidFill>
                            <a:schemeClr val="tx1"/>
                          </a:solidFill>
                          <a:effectLst/>
                        </a:rPr>
                        <a:t>1.</a:t>
                      </a:r>
                      <a:r>
                        <a:rPr lang="ko-KR" altLang="en-US" sz="1200" kern="0" spc="0" dirty="0">
                          <a:solidFill>
                            <a:schemeClr val="tx1"/>
                          </a:solidFill>
                          <a:effectLst/>
                        </a:rPr>
                        <a:t>보상금액</a:t>
                      </a:r>
                      <a:r>
                        <a:rPr lang="en-US" altLang="ko-KR" sz="1200" kern="0" spc="0" dirty="0">
                          <a:solidFill>
                            <a:schemeClr val="tx1"/>
                          </a:solidFill>
                          <a:effectLst/>
                        </a:rPr>
                        <a:t>(</a:t>
                      </a:r>
                      <a:r>
                        <a:rPr lang="ko-KR" altLang="en-US" sz="1200" kern="0" spc="0" dirty="0">
                          <a:solidFill>
                            <a:schemeClr val="tx1"/>
                          </a:solidFill>
                          <a:effectLst/>
                        </a:rPr>
                        <a:t>法</a:t>
                      </a:r>
                      <a:r>
                        <a:rPr lang="en-US" altLang="ko-KR" sz="1200" kern="0" spc="0" dirty="0">
                          <a:solidFill>
                            <a:schemeClr val="tx1"/>
                          </a:solidFill>
                          <a:effectLst/>
                        </a:rPr>
                        <a:t>65</a:t>
                      </a:r>
                      <a:r>
                        <a:rPr lang="ko-KR" altLang="en-US" sz="1200" kern="0" spc="0" dirty="0">
                          <a:solidFill>
                            <a:schemeClr val="tx1"/>
                          </a:solidFill>
                          <a:effectLst/>
                        </a:rPr>
                        <a:t>②</a:t>
                      </a:r>
                      <a:r>
                        <a:rPr lang="en-US" altLang="ko-KR" sz="1200" kern="0" spc="0" dirty="0">
                          <a:solidFill>
                            <a:schemeClr val="tx1"/>
                          </a:solidFill>
                          <a:effectLst/>
                        </a:rPr>
                        <a:t>)-</a:t>
                      </a:r>
                      <a:r>
                        <a:rPr lang="ko-KR" altLang="en-US" sz="1200" kern="0" spc="0" dirty="0">
                          <a:solidFill>
                            <a:schemeClr val="tx1"/>
                          </a:solidFill>
                          <a:effectLst/>
                        </a:rPr>
                        <a:t>경고받거나 알았을 때부터 설정등록을 할 때까지의 기간 동안 그 특허발명의 실시에 </a:t>
                      </a:r>
                      <a:r>
                        <a:rPr lang="ko-KR" altLang="en-US" sz="1200" dirty="0">
                          <a:solidFill>
                            <a:schemeClr val="tx1"/>
                          </a:solidFill>
                        </a:rPr>
                        <a:t>합리적</a:t>
                      </a:r>
                      <a:r>
                        <a:rPr lang="ko-KR" altLang="en-US" sz="1200" kern="0" spc="0" dirty="0">
                          <a:solidFill>
                            <a:schemeClr val="tx1"/>
                          </a:solidFill>
                          <a:effectLst/>
                        </a:rPr>
                        <a:t>으로 받을 수 있는 금액에 상당하는 보상금의 지급을 청구</a:t>
                      </a:r>
                    </a:p>
                    <a:p>
                      <a:pPr marL="0" marR="0" indent="0" algn="just" fontAlgn="base" latinLnBrk="1">
                        <a:lnSpc>
                          <a:spcPct val="100000"/>
                        </a:lnSpc>
                        <a:spcBef>
                          <a:spcPts val="0"/>
                        </a:spcBef>
                        <a:spcAft>
                          <a:spcPts val="0"/>
                        </a:spcAft>
                      </a:pPr>
                      <a:r>
                        <a:rPr lang="en-US" altLang="ko-KR" sz="1200" kern="0" spc="0" dirty="0">
                          <a:solidFill>
                            <a:schemeClr val="tx1"/>
                          </a:solidFill>
                          <a:effectLst/>
                        </a:rPr>
                        <a:t>2.</a:t>
                      </a:r>
                      <a:r>
                        <a:rPr lang="ko-KR" altLang="en-US" sz="1200" kern="0" spc="0" dirty="0">
                          <a:solidFill>
                            <a:schemeClr val="tx1"/>
                          </a:solidFill>
                          <a:effectLst/>
                        </a:rPr>
                        <a:t>행사시기</a:t>
                      </a:r>
                      <a:r>
                        <a:rPr lang="en-US" altLang="ko-KR" sz="1200" kern="0" spc="0" dirty="0">
                          <a:solidFill>
                            <a:schemeClr val="tx1"/>
                          </a:solidFill>
                          <a:effectLst/>
                        </a:rPr>
                        <a:t>(</a:t>
                      </a:r>
                      <a:r>
                        <a:rPr lang="ko-KR" altLang="en-US" sz="1200" kern="0" spc="0" dirty="0">
                          <a:solidFill>
                            <a:schemeClr val="tx1"/>
                          </a:solidFill>
                          <a:effectLst/>
                        </a:rPr>
                        <a:t>法</a:t>
                      </a:r>
                      <a:r>
                        <a:rPr lang="en-US" altLang="ko-KR" sz="1200" kern="0" spc="0" dirty="0">
                          <a:solidFill>
                            <a:schemeClr val="tx1"/>
                          </a:solidFill>
                          <a:effectLst/>
                        </a:rPr>
                        <a:t>65</a:t>
                      </a:r>
                      <a:r>
                        <a:rPr lang="ko-KR" altLang="en-US" sz="1200" kern="0" spc="0" dirty="0">
                          <a:solidFill>
                            <a:schemeClr val="tx1"/>
                          </a:solidFill>
                          <a:effectLst/>
                        </a:rPr>
                        <a:t>③</a:t>
                      </a:r>
                      <a:r>
                        <a:rPr lang="en-US" altLang="ko-KR" sz="1200" kern="0" spc="0" dirty="0">
                          <a:solidFill>
                            <a:schemeClr val="tx1"/>
                          </a:solidFill>
                          <a:effectLst/>
                        </a:rPr>
                        <a:t>)-</a:t>
                      </a:r>
                      <a:r>
                        <a:rPr lang="ko-KR" altLang="en-US" sz="1200" kern="0" spc="0">
                          <a:solidFill>
                            <a:schemeClr val="tx1"/>
                          </a:solidFill>
                          <a:effectLst/>
                        </a:rPr>
                        <a:t>등록 후</a:t>
                      </a:r>
                      <a:endParaRPr lang="ko-KR" altLang="en-US" sz="1200" kern="0" spc="0" dirty="0">
                        <a:solidFill>
                          <a:schemeClr val="tx1"/>
                        </a:solidFill>
                        <a:effectLst/>
                      </a:endParaRPr>
                    </a:p>
                    <a:p>
                      <a:pPr marL="0" marR="0" indent="0" algn="just" fontAlgn="base" latinLnBrk="1">
                        <a:lnSpc>
                          <a:spcPct val="100000"/>
                        </a:lnSpc>
                        <a:spcBef>
                          <a:spcPts val="0"/>
                        </a:spcBef>
                        <a:spcAft>
                          <a:spcPts val="0"/>
                        </a:spcAft>
                      </a:pPr>
                      <a:r>
                        <a:rPr lang="en-US" altLang="ko-KR" sz="1200" kern="0" spc="0" dirty="0">
                          <a:solidFill>
                            <a:schemeClr val="tx1"/>
                          </a:solidFill>
                          <a:effectLst/>
                        </a:rPr>
                        <a:t>3.</a:t>
                      </a:r>
                      <a:r>
                        <a:rPr lang="ko-KR" altLang="en-US" sz="1200" kern="0" spc="0" dirty="0">
                          <a:solidFill>
                            <a:schemeClr val="tx1"/>
                          </a:solidFill>
                          <a:effectLst/>
                        </a:rPr>
                        <a:t>독립성</a:t>
                      </a:r>
                      <a:r>
                        <a:rPr lang="en-US" altLang="ko-KR" sz="1200" kern="0" spc="0" dirty="0">
                          <a:solidFill>
                            <a:schemeClr val="tx1"/>
                          </a:solidFill>
                          <a:effectLst/>
                        </a:rPr>
                        <a:t>(</a:t>
                      </a:r>
                      <a:r>
                        <a:rPr lang="ko-KR" altLang="en-US" sz="1200" kern="0" spc="0" dirty="0">
                          <a:solidFill>
                            <a:schemeClr val="tx1"/>
                          </a:solidFill>
                          <a:effectLst/>
                        </a:rPr>
                        <a:t>法</a:t>
                      </a:r>
                      <a:r>
                        <a:rPr lang="en-US" altLang="ko-KR" sz="1200" kern="0" spc="0" dirty="0">
                          <a:solidFill>
                            <a:schemeClr val="tx1"/>
                          </a:solidFill>
                          <a:effectLst/>
                        </a:rPr>
                        <a:t>65</a:t>
                      </a:r>
                      <a:r>
                        <a:rPr lang="ko-KR" altLang="en-US" sz="1200" kern="0" spc="0" dirty="0">
                          <a:solidFill>
                            <a:schemeClr val="tx1"/>
                          </a:solidFill>
                          <a:effectLst/>
                        </a:rPr>
                        <a:t>④</a:t>
                      </a:r>
                      <a:r>
                        <a:rPr lang="en-US" altLang="ko-KR" sz="1200" kern="0" spc="0" dirty="0">
                          <a:solidFill>
                            <a:schemeClr val="tx1"/>
                          </a:solidFill>
                          <a:effectLst/>
                        </a:rPr>
                        <a:t>)-</a:t>
                      </a:r>
                      <a:r>
                        <a:rPr lang="ko-KR" altLang="en-US" sz="1200" kern="0" spc="0" dirty="0">
                          <a:solidFill>
                            <a:schemeClr val="tx1"/>
                          </a:solidFill>
                          <a:effectLst/>
                        </a:rPr>
                        <a:t>특허권과 별개</a:t>
                      </a:r>
                    </a:p>
                    <a:p>
                      <a:pPr marL="0" marR="0" indent="0" algn="just" fontAlgn="base" latinLnBrk="1">
                        <a:lnSpc>
                          <a:spcPct val="100000"/>
                        </a:lnSpc>
                        <a:spcBef>
                          <a:spcPts val="0"/>
                        </a:spcBef>
                        <a:spcAft>
                          <a:spcPts val="0"/>
                        </a:spcAft>
                      </a:pPr>
                      <a:r>
                        <a:rPr lang="en-US" altLang="ko-KR" sz="1200" kern="0" spc="0" dirty="0">
                          <a:solidFill>
                            <a:schemeClr val="tx1"/>
                          </a:solidFill>
                          <a:effectLst/>
                        </a:rPr>
                        <a:t>4.</a:t>
                      </a:r>
                      <a:r>
                        <a:rPr lang="ko-KR" altLang="en-US" sz="1200" kern="0" spc="0" dirty="0">
                          <a:solidFill>
                            <a:schemeClr val="tx1"/>
                          </a:solidFill>
                          <a:effectLst/>
                        </a:rPr>
                        <a:t>준용규정</a:t>
                      </a:r>
                      <a:r>
                        <a:rPr lang="en-US" altLang="ko-KR" sz="1200" kern="0" spc="0" dirty="0">
                          <a:solidFill>
                            <a:schemeClr val="tx1"/>
                          </a:solidFill>
                          <a:effectLst/>
                        </a:rPr>
                        <a:t>(</a:t>
                      </a:r>
                      <a:r>
                        <a:rPr lang="ko-KR" altLang="en-US" sz="1200" kern="0" spc="0" dirty="0">
                          <a:solidFill>
                            <a:schemeClr val="tx1"/>
                          </a:solidFill>
                          <a:effectLst/>
                        </a:rPr>
                        <a:t>法</a:t>
                      </a:r>
                      <a:r>
                        <a:rPr lang="en-US" altLang="ko-KR" sz="1200" kern="0" spc="0" dirty="0">
                          <a:solidFill>
                            <a:schemeClr val="tx1"/>
                          </a:solidFill>
                          <a:effectLst/>
                        </a:rPr>
                        <a:t>65</a:t>
                      </a:r>
                      <a:r>
                        <a:rPr lang="ko-KR" altLang="en-US" sz="1200" kern="0" spc="0" dirty="0">
                          <a:solidFill>
                            <a:schemeClr val="tx1"/>
                          </a:solidFill>
                          <a:effectLst/>
                        </a:rPr>
                        <a:t>⑤</a:t>
                      </a:r>
                      <a:r>
                        <a:rPr lang="en-US" altLang="ko-KR" sz="1200" kern="0" spc="0" dirty="0">
                          <a:solidFill>
                            <a:schemeClr val="tx1"/>
                          </a:solidFill>
                          <a:effectLst/>
                        </a:rPr>
                        <a:t>)</a:t>
                      </a:r>
                      <a:endParaRPr lang="ko-KR" altLang="en-US" sz="1200" kern="0" spc="0" dirty="0">
                        <a:solidFill>
                          <a:schemeClr val="tx1"/>
                        </a:solidFill>
                        <a:effectLst/>
                      </a:endParaRPr>
                    </a:p>
                    <a:p>
                      <a:pPr marL="0" marR="0" indent="0" algn="just" fontAlgn="base" latinLnBrk="1">
                        <a:lnSpc>
                          <a:spcPct val="100000"/>
                        </a:lnSpc>
                        <a:spcBef>
                          <a:spcPts val="0"/>
                        </a:spcBef>
                        <a:spcAft>
                          <a:spcPts val="0"/>
                        </a:spcAft>
                      </a:pPr>
                      <a:r>
                        <a:rPr lang="ko-KR" altLang="en-US" sz="1200" kern="0" spc="0" dirty="0">
                          <a:solidFill>
                            <a:schemeClr val="tx1"/>
                          </a:solidFill>
                          <a:effectLst/>
                        </a:rPr>
                        <a:t>①특허법상</a:t>
                      </a:r>
                      <a:r>
                        <a:rPr lang="en-US" altLang="ko-KR" sz="1200" kern="0" spc="0" dirty="0">
                          <a:solidFill>
                            <a:schemeClr val="tx1"/>
                          </a:solidFill>
                          <a:effectLst/>
                        </a:rPr>
                        <a:t>-</a:t>
                      </a:r>
                      <a:r>
                        <a:rPr lang="ko-KR" altLang="en-US" sz="1200" kern="0" spc="0" dirty="0">
                          <a:solidFill>
                            <a:schemeClr val="tx1"/>
                          </a:solidFill>
                          <a:effectLst/>
                        </a:rPr>
                        <a:t>간</a:t>
                      </a:r>
                      <a:r>
                        <a:rPr lang="en-US" altLang="ko-KR" sz="1200" kern="0" spc="0" dirty="0">
                          <a:solidFill>
                            <a:schemeClr val="tx1"/>
                          </a:solidFill>
                          <a:effectLst/>
                        </a:rPr>
                        <a:t>(</a:t>
                      </a:r>
                      <a:r>
                        <a:rPr lang="ko-KR" altLang="en-US" sz="1200" kern="0" spc="0" dirty="0">
                          <a:solidFill>
                            <a:schemeClr val="tx1"/>
                          </a:solidFill>
                          <a:effectLst/>
                        </a:rPr>
                        <a:t>法 </a:t>
                      </a:r>
                      <a:r>
                        <a:rPr lang="en-US" altLang="ko-KR" sz="1200" kern="0" spc="0" dirty="0">
                          <a:solidFill>
                            <a:schemeClr val="tx1"/>
                          </a:solidFill>
                          <a:effectLst/>
                        </a:rPr>
                        <a:t>127), </a:t>
                      </a:r>
                      <a:r>
                        <a:rPr lang="ko-KR" altLang="en-US" sz="1200" kern="0" spc="0" dirty="0">
                          <a:solidFill>
                            <a:schemeClr val="tx1"/>
                          </a:solidFill>
                          <a:effectLst/>
                        </a:rPr>
                        <a:t>생</a:t>
                      </a:r>
                      <a:r>
                        <a:rPr lang="en-US" altLang="ko-KR" sz="1200" kern="0" spc="0" dirty="0">
                          <a:solidFill>
                            <a:schemeClr val="tx1"/>
                          </a:solidFill>
                          <a:effectLst/>
                        </a:rPr>
                        <a:t>(</a:t>
                      </a:r>
                      <a:r>
                        <a:rPr lang="ko-KR" altLang="en-US" sz="1200" kern="0" spc="0" dirty="0">
                          <a:solidFill>
                            <a:schemeClr val="tx1"/>
                          </a:solidFill>
                          <a:effectLst/>
                        </a:rPr>
                        <a:t>法 </a:t>
                      </a:r>
                      <a:r>
                        <a:rPr lang="en-US" altLang="ko-KR" sz="1200" kern="0" spc="0" dirty="0">
                          <a:solidFill>
                            <a:schemeClr val="tx1"/>
                          </a:solidFill>
                          <a:effectLst/>
                        </a:rPr>
                        <a:t>129), </a:t>
                      </a:r>
                      <a:r>
                        <a:rPr lang="ko-KR" altLang="en-US" sz="1200" kern="0" spc="0" dirty="0">
                          <a:solidFill>
                            <a:schemeClr val="tx1"/>
                          </a:solidFill>
                          <a:effectLst/>
                        </a:rPr>
                        <a:t>자</a:t>
                      </a:r>
                      <a:r>
                        <a:rPr lang="en-US" altLang="ko-KR" sz="1200" kern="0" spc="0" dirty="0">
                          <a:solidFill>
                            <a:schemeClr val="tx1"/>
                          </a:solidFill>
                          <a:effectLst/>
                        </a:rPr>
                        <a:t>(</a:t>
                      </a:r>
                      <a:r>
                        <a:rPr lang="ko-KR" altLang="en-US" sz="1200" kern="0" spc="0" dirty="0">
                          <a:solidFill>
                            <a:schemeClr val="tx1"/>
                          </a:solidFill>
                          <a:effectLst/>
                        </a:rPr>
                        <a:t>法 </a:t>
                      </a:r>
                      <a:r>
                        <a:rPr lang="en-US" altLang="ko-KR" sz="1200" kern="0" spc="0" dirty="0">
                          <a:solidFill>
                            <a:schemeClr val="tx1"/>
                          </a:solidFill>
                          <a:effectLst/>
                        </a:rPr>
                        <a:t>132)</a:t>
                      </a:r>
                      <a:endParaRPr lang="ko-KR" altLang="en-US" sz="1200" kern="0" spc="0" dirty="0">
                        <a:solidFill>
                          <a:schemeClr val="tx1"/>
                        </a:solidFill>
                        <a:effectLst/>
                      </a:endParaRPr>
                    </a:p>
                    <a:p>
                      <a:pPr marL="0" marR="0" indent="0" algn="just" fontAlgn="base" latinLnBrk="1">
                        <a:lnSpc>
                          <a:spcPct val="100000"/>
                        </a:lnSpc>
                        <a:spcBef>
                          <a:spcPts val="0"/>
                        </a:spcBef>
                        <a:spcAft>
                          <a:spcPts val="0"/>
                        </a:spcAft>
                      </a:pPr>
                      <a:r>
                        <a:rPr lang="ko-KR" altLang="en-US" sz="1200" kern="0" spc="0" dirty="0">
                          <a:solidFill>
                            <a:schemeClr val="tx1"/>
                          </a:solidFill>
                          <a:effectLst/>
                        </a:rPr>
                        <a:t>②민법상</a:t>
                      </a:r>
                      <a:r>
                        <a:rPr lang="en-US" altLang="ko-KR" sz="1200" kern="0" spc="0" dirty="0">
                          <a:solidFill>
                            <a:schemeClr val="tx1"/>
                          </a:solidFill>
                          <a:effectLst/>
                        </a:rPr>
                        <a:t>-</a:t>
                      </a:r>
                      <a:r>
                        <a:rPr lang="ko-KR" altLang="en-US" sz="1200" kern="0" spc="0" dirty="0">
                          <a:solidFill>
                            <a:schemeClr val="tx1"/>
                          </a:solidFill>
                          <a:effectLst/>
                        </a:rPr>
                        <a:t>공</a:t>
                      </a:r>
                      <a:r>
                        <a:rPr lang="en-US" altLang="ko-KR" sz="1200" kern="0" spc="0" dirty="0">
                          <a:solidFill>
                            <a:schemeClr val="tx1"/>
                          </a:solidFill>
                          <a:effectLst/>
                        </a:rPr>
                        <a:t>(</a:t>
                      </a:r>
                      <a:r>
                        <a:rPr lang="ko-KR" altLang="en-US" sz="1200" kern="0" spc="0" dirty="0">
                          <a:solidFill>
                            <a:schemeClr val="tx1"/>
                          </a:solidFill>
                          <a:effectLst/>
                        </a:rPr>
                        <a:t>民法 </a:t>
                      </a:r>
                      <a:r>
                        <a:rPr lang="en-US" altLang="ko-KR" sz="1200" kern="0" spc="0" dirty="0">
                          <a:solidFill>
                            <a:schemeClr val="tx1"/>
                          </a:solidFill>
                          <a:effectLst/>
                        </a:rPr>
                        <a:t>760), </a:t>
                      </a:r>
                      <a:r>
                        <a:rPr lang="ko-KR" altLang="en-US" sz="1200" kern="0" spc="0" dirty="0">
                          <a:solidFill>
                            <a:schemeClr val="tx1"/>
                          </a:solidFill>
                          <a:effectLst/>
                        </a:rPr>
                        <a:t>소</a:t>
                      </a:r>
                      <a:r>
                        <a:rPr lang="en-US" altLang="ko-KR" sz="1200" kern="0" spc="0" dirty="0">
                          <a:solidFill>
                            <a:schemeClr val="tx1"/>
                          </a:solidFill>
                          <a:effectLst/>
                        </a:rPr>
                        <a:t>(</a:t>
                      </a:r>
                      <a:r>
                        <a:rPr lang="ko-KR" altLang="en-US" sz="1200" kern="0" spc="0" dirty="0">
                          <a:solidFill>
                            <a:schemeClr val="tx1"/>
                          </a:solidFill>
                          <a:effectLst/>
                        </a:rPr>
                        <a:t>民法 </a:t>
                      </a:r>
                      <a:r>
                        <a:rPr lang="en-US" altLang="ko-KR" sz="1200" kern="0" spc="0" dirty="0">
                          <a:solidFill>
                            <a:schemeClr val="tx1"/>
                          </a:solidFill>
                          <a:effectLst/>
                        </a:rPr>
                        <a:t>766)</a:t>
                      </a:r>
                      <a:endParaRPr lang="ko-KR" altLang="en-US" sz="1200" kern="0" spc="0" dirty="0">
                        <a:solidFill>
                          <a:schemeClr val="tx1"/>
                        </a:solidFill>
                        <a:effectLst/>
                      </a:endParaRPr>
                    </a:p>
                  </a:txBody>
                  <a:tcPr marL="51439" marR="51439" marT="25720" marB="25720" anchor="ctr"/>
                </a:tc>
                <a:extLst>
                  <a:ext uri="{0D108BD9-81ED-4DB2-BD59-A6C34878D82A}">
                    <a16:rowId xmlns:a16="http://schemas.microsoft.com/office/drawing/2014/main" val="10005"/>
                  </a:ext>
                </a:extLst>
              </a:tr>
              <a:tr h="1041239">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내용</a:t>
                      </a:r>
                      <a:endParaRPr lang="ko-KR" altLang="en-US" sz="1200" b="1" kern="0" spc="0">
                        <a:solidFill>
                          <a:schemeClr val="tx1"/>
                        </a:solidFill>
                        <a:effectLst/>
                      </a:endParaRPr>
                    </a:p>
                  </a:txBody>
                  <a:tcPr marL="51439" marR="51439" marT="25720" marB="25720" anchor="ct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6"/>
                  </a:ext>
                </a:extLst>
              </a:tr>
              <a:tr h="339336">
                <a:tc rowSpan="3">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변동</a:t>
                      </a:r>
                      <a:endParaRPr lang="ko-KR" altLang="en-US" sz="1200" b="1" kern="0" spc="0">
                        <a:solidFill>
                          <a:schemeClr val="tx1"/>
                        </a:solidFill>
                        <a:effectLst/>
                      </a:endParaRPr>
                    </a:p>
                  </a:txBody>
                  <a:tcPr marL="51439" marR="51439" marT="25720" marB="25720" anchor="ctr"/>
                </a:tc>
                <a:tc>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이전</a:t>
                      </a:r>
                      <a:endParaRPr lang="ko-KR" altLang="en-US" sz="1200" b="1" kern="0" spc="0">
                        <a:solidFill>
                          <a:schemeClr val="tx1"/>
                        </a:solidFill>
                        <a:effectLst/>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200" kern="0" spc="0" dirty="0">
                          <a:solidFill>
                            <a:schemeClr val="tx1"/>
                          </a:solidFill>
                          <a:effectLst/>
                        </a:rPr>
                        <a:t>1.</a:t>
                      </a:r>
                      <a:r>
                        <a:rPr lang="ko-KR" altLang="en-US" sz="1200" kern="0" spc="0" dirty="0">
                          <a:solidFill>
                            <a:schemeClr val="tx1"/>
                          </a:solidFill>
                          <a:effectLst/>
                        </a:rPr>
                        <a:t>이전가능</a:t>
                      </a:r>
                      <a:r>
                        <a:rPr lang="en-US" altLang="ko-KR" sz="1200" kern="0" spc="0" dirty="0">
                          <a:solidFill>
                            <a:schemeClr val="tx1"/>
                          </a:solidFill>
                          <a:effectLst/>
                        </a:rPr>
                        <a:t>(</a:t>
                      </a:r>
                      <a:r>
                        <a:rPr lang="ko-KR" altLang="en-US" sz="1200" kern="0" spc="0" dirty="0">
                          <a:solidFill>
                            <a:schemeClr val="tx1"/>
                          </a:solidFill>
                          <a:effectLst/>
                        </a:rPr>
                        <a:t>法 </a:t>
                      </a:r>
                      <a:r>
                        <a:rPr lang="en-US" altLang="ko-KR" sz="1200" kern="0" spc="0" dirty="0">
                          <a:solidFill>
                            <a:schemeClr val="tx1"/>
                          </a:solidFill>
                          <a:effectLst/>
                        </a:rPr>
                        <a:t>37</a:t>
                      </a:r>
                      <a:r>
                        <a:rPr lang="ko-KR" altLang="en-US" sz="1200" kern="0" spc="0" dirty="0">
                          <a:solidFill>
                            <a:schemeClr val="tx1"/>
                          </a:solidFill>
                          <a:effectLst/>
                        </a:rPr>
                        <a:t>①</a:t>
                      </a:r>
                      <a:r>
                        <a:rPr lang="en-US" altLang="ko-KR" sz="1200" kern="0" spc="0" dirty="0">
                          <a:solidFill>
                            <a:schemeClr val="tx1"/>
                          </a:solidFill>
                          <a:effectLst/>
                        </a:rPr>
                        <a:t>)</a:t>
                      </a:r>
                      <a:endParaRPr lang="ko-KR" altLang="en-US" sz="1200" kern="0" spc="0" dirty="0">
                        <a:solidFill>
                          <a:schemeClr val="tx1"/>
                        </a:solidFill>
                        <a:effectLst/>
                      </a:endParaRPr>
                    </a:p>
                    <a:p>
                      <a:pPr marL="0" marR="0" indent="0" algn="just" fontAlgn="base" latinLnBrk="1">
                        <a:lnSpc>
                          <a:spcPct val="100000"/>
                        </a:lnSpc>
                        <a:spcBef>
                          <a:spcPts val="0"/>
                        </a:spcBef>
                        <a:spcAft>
                          <a:spcPts val="0"/>
                        </a:spcAft>
                      </a:pPr>
                      <a:r>
                        <a:rPr lang="en-US" altLang="ko-KR" sz="1200" kern="0" spc="0" dirty="0">
                          <a:solidFill>
                            <a:schemeClr val="tx1"/>
                          </a:solidFill>
                          <a:effectLst/>
                        </a:rPr>
                        <a:t>2.</a:t>
                      </a:r>
                      <a:r>
                        <a:rPr lang="ko-KR" altLang="en-US" sz="1200" kern="0" spc="0" dirty="0" err="1">
                          <a:solidFill>
                            <a:schemeClr val="tx1"/>
                          </a:solidFill>
                          <a:effectLst/>
                        </a:rPr>
                        <a:t>특받권의</a:t>
                      </a:r>
                      <a:r>
                        <a:rPr lang="ko-KR" altLang="en-US" sz="1200" kern="0" spc="0" dirty="0">
                          <a:solidFill>
                            <a:schemeClr val="tx1"/>
                          </a:solidFill>
                          <a:effectLst/>
                        </a:rPr>
                        <a:t> 승계</a:t>
                      </a:r>
                      <a:r>
                        <a:rPr lang="en-US" altLang="ko-KR" sz="1200" kern="0" spc="0" dirty="0">
                          <a:solidFill>
                            <a:schemeClr val="tx1"/>
                          </a:solidFill>
                          <a:effectLst/>
                        </a:rPr>
                        <a:t>(</a:t>
                      </a:r>
                      <a:r>
                        <a:rPr lang="ko-KR" altLang="en-US" sz="1200" kern="0" spc="0" dirty="0">
                          <a:solidFill>
                            <a:schemeClr val="tx1"/>
                          </a:solidFill>
                          <a:effectLst/>
                        </a:rPr>
                        <a:t>法 </a:t>
                      </a:r>
                      <a:r>
                        <a:rPr lang="en-US" altLang="ko-KR" sz="1200" kern="0" spc="0" dirty="0">
                          <a:solidFill>
                            <a:schemeClr val="tx1"/>
                          </a:solidFill>
                          <a:effectLst/>
                        </a:rPr>
                        <a:t>38)</a:t>
                      </a:r>
                      <a:endParaRPr lang="ko-KR" altLang="en-US" sz="1200" kern="0" spc="0" dirty="0">
                        <a:solidFill>
                          <a:schemeClr val="tx1"/>
                        </a:solidFill>
                        <a:effectLst/>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200" kern="0" spc="0">
                          <a:solidFill>
                            <a:schemeClr val="tx1"/>
                          </a:solidFill>
                          <a:effectLst/>
                        </a:rPr>
                        <a:t>　</a:t>
                      </a:r>
                    </a:p>
                  </a:txBody>
                  <a:tcPr marL="51439" marR="51439" marT="25720" marB="25720" anchor="ctr"/>
                </a:tc>
                <a:extLst>
                  <a:ext uri="{0D108BD9-81ED-4DB2-BD59-A6C34878D82A}">
                    <a16:rowId xmlns:a16="http://schemas.microsoft.com/office/drawing/2014/main" val="10007"/>
                  </a:ext>
                </a:extLst>
              </a:tr>
              <a:tr h="190588">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실시권</a:t>
                      </a:r>
                      <a:endParaRPr lang="ko-KR" altLang="en-US" sz="1200" b="1" kern="0" spc="0">
                        <a:solidFill>
                          <a:schemeClr val="tx1"/>
                        </a:solidFill>
                        <a:effectLst/>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200" kern="0" spc="0">
                          <a:solidFill>
                            <a:schemeClr val="tx1"/>
                          </a:solidFill>
                          <a:effectLst/>
                        </a:rPr>
                        <a:t>　</a:t>
                      </a: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200" kern="0" spc="0">
                          <a:solidFill>
                            <a:schemeClr val="tx1"/>
                          </a:solidFill>
                          <a:effectLst/>
                        </a:rPr>
                        <a:t>　</a:t>
                      </a:r>
                    </a:p>
                  </a:txBody>
                  <a:tcPr marL="51439" marR="51439" marT="25720" marB="25720" anchor="ctr"/>
                </a:tc>
                <a:extLst>
                  <a:ext uri="{0D108BD9-81ED-4DB2-BD59-A6C34878D82A}">
                    <a16:rowId xmlns:a16="http://schemas.microsoft.com/office/drawing/2014/main" val="10008"/>
                  </a:ext>
                </a:extLst>
              </a:tr>
              <a:tr h="190588">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질권</a:t>
                      </a:r>
                      <a:endParaRPr lang="ko-KR" altLang="en-US" sz="1200" b="1" kern="0" spc="0">
                        <a:solidFill>
                          <a:schemeClr val="tx1"/>
                        </a:solidFill>
                        <a:effectLst/>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200" kern="0" spc="0">
                          <a:solidFill>
                            <a:schemeClr val="tx1"/>
                          </a:solidFill>
                          <a:effectLst/>
                        </a:rPr>
                        <a:t>불가</a:t>
                      </a:r>
                      <a:r>
                        <a:rPr lang="en-US" altLang="ko-KR" sz="1200" kern="0" spc="0">
                          <a:solidFill>
                            <a:schemeClr val="tx1"/>
                          </a:solidFill>
                          <a:effectLst/>
                        </a:rPr>
                        <a:t>(</a:t>
                      </a:r>
                      <a:r>
                        <a:rPr lang="ko-KR" altLang="en-US" sz="1200" kern="0" spc="0">
                          <a:solidFill>
                            <a:schemeClr val="tx1"/>
                          </a:solidFill>
                          <a:effectLst/>
                        </a:rPr>
                        <a:t>法 </a:t>
                      </a:r>
                      <a:r>
                        <a:rPr lang="en-US" altLang="ko-KR" sz="1200" kern="0" spc="0">
                          <a:solidFill>
                            <a:schemeClr val="tx1"/>
                          </a:solidFill>
                          <a:effectLst/>
                        </a:rPr>
                        <a:t>37</a:t>
                      </a:r>
                      <a:r>
                        <a:rPr lang="ko-KR" altLang="en-US" sz="1200" kern="0" spc="0">
                          <a:solidFill>
                            <a:schemeClr val="tx1"/>
                          </a:solidFill>
                          <a:effectLst/>
                        </a:rPr>
                        <a:t>②</a:t>
                      </a:r>
                      <a:r>
                        <a:rPr lang="en-US" altLang="ko-KR" sz="1200" kern="0" spc="0">
                          <a:solidFill>
                            <a:schemeClr val="tx1"/>
                          </a:solidFill>
                          <a:effectLst/>
                        </a:rPr>
                        <a:t>)</a:t>
                      </a:r>
                      <a:endParaRPr lang="ko-KR" altLang="en-US" sz="1200" kern="0" spc="0">
                        <a:solidFill>
                          <a:schemeClr val="tx1"/>
                        </a:solidFill>
                        <a:effectLst/>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200" kern="0" spc="0">
                          <a:solidFill>
                            <a:schemeClr val="tx1"/>
                          </a:solidFill>
                          <a:effectLst/>
                        </a:rPr>
                        <a:t>　</a:t>
                      </a:r>
                    </a:p>
                  </a:txBody>
                  <a:tcPr marL="51439" marR="51439" marT="25720" marB="25720" anchor="ctr"/>
                </a:tc>
                <a:extLst>
                  <a:ext uri="{0D108BD9-81ED-4DB2-BD59-A6C34878D82A}">
                    <a16:rowId xmlns:a16="http://schemas.microsoft.com/office/drawing/2014/main" val="10009"/>
                  </a:ext>
                </a:extLst>
              </a:tr>
              <a:tr h="339336">
                <a:tc rowSpan="2">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소멸</a:t>
                      </a:r>
                      <a:endParaRPr lang="ko-KR" altLang="en-US" sz="1200" b="1" kern="0" spc="0">
                        <a:solidFill>
                          <a:schemeClr val="tx1"/>
                        </a:solidFill>
                        <a:effectLst/>
                      </a:endParaRPr>
                    </a:p>
                  </a:txBody>
                  <a:tcPr marL="51439" marR="51439" marT="25720" marB="25720" anchor="ctr"/>
                </a:tc>
                <a:tc>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원인</a:t>
                      </a:r>
                      <a:endParaRPr lang="ko-KR" altLang="en-US" sz="1200" b="1" kern="0" spc="0">
                        <a:solidFill>
                          <a:schemeClr val="tx1"/>
                        </a:solidFill>
                        <a:effectLst/>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200" kern="0" spc="0">
                          <a:solidFill>
                            <a:schemeClr val="tx1"/>
                          </a:solidFill>
                          <a:effectLst/>
                        </a:rPr>
                        <a:t>1.</a:t>
                      </a:r>
                      <a:r>
                        <a:rPr lang="ko-KR" altLang="en-US" sz="1200" kern="0" spc="0">
                          <a:solidFill>
                            <a:schemeClr val="tx1"/>
                          </a:solidFill>
                          <a:effectLst/>
                        </a:rPr>
                        <a:t>권리능력 상실</a:t>
                      </a:r>
                      <a:r>
                        <a:rPr lang="en-US" altLang="ko-KR" sz="1200" kern="0" spc="0">
                          <a:solidFill>
                            <a:schemeClr val="tx1"/>
                          </a:solidFill>
                          <a:effectLst/>
                        </a:rPr>
                        <a:t>(</a:t>
                      </a:r>
                      <a:r>
                        <a:rPr lang="ko-KR" altLang="en-US" sz="1200" kern="0" spc="0">
                          <a:solidFill>
                            <a:schemeClr val="tx1"/>
                          </a:solidFill>
                          <a:effectLst/>
                        </a:rPr>
                        <a:t>상속인 부존재도 포함</a:t>
                      </a:r>
                      <a:r>
                        <a:rPr lang="en-US" altLang="ko-KR" sz="1200" kern="0" spc="0">
                          <a:solidFill>
                            <a:schemeClr val="tx1"/>
                          </a:solidFill>
                          <a:effectLst/>
                        </a:rPr>
                        <a:t>)</a:t>
                      </a:r>
                      <a:endParaRPr lang="ko-KR" altLang="en-US" sz="1200" kern="0" spc="0">
                        <a:solidFill>
                          <a:schemeClr val="tx1"/>
                        </a:solidFill>
                        <a:effectLst/>
                      </a:endParaRPr>
                    </a:p>
                    <a:p>
                      <a:pPr marL="0" marR="0" indent="0" algn="just" fontAlgn="base" latinLnBrk="1">
                        <a:lnSpc>
                          <a:spcPct val="100000"/>
                        </a:lnSpc>
                        <a:spcBef>
                          <a:spcPts val="0"/>
                        </a:spcBef>
                        <a:spcAft>
                          <a:spcPts val="0"/>
                        </a:spcAft>
                      </a:pPr>
                      <a:r>
                        <a:rPr lang="en-US" altLang="ko-KR" sz="1200" kern="0" spc="0">
                          <a:solidFill>
                            <a:schemeClr val="tx1"/>
                          </a:solidFill>
                          <a:effectLst/>
                        </a:rPr>
                        <a:t>2.</a:t>
                      </a:r>
                      <a:r>
                        <a:rPr lang="ko-KR" altLang="en-US" sz="1200" kern="0" spc="0">
                          <a:solidFill>
                            <a:schemeClr val="tx1"/>
                          </a:solidFill>
                          <a:effectLst/>
                        </a:rPr>
                        <a:t>출원계속의 소멸</a:t>
                      </a: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200" kern="0" spc="0">
                          <a:solidFill>
                            <a:schemeClr val="tx1"/>
                          </a:solidFill>
                          <a:effectLst/>
                        </a:rPr>
                        <a:t>1.</a:t>
                      </a:r>
                      <a:r>
                        <a:rPr lang="ko-KR" altLang="en-US" sz="1200" kern="0" spc="0">
                          <a:solidFill>
                            <a:schemeClr val="tx1"/>
                          </a:solidFill>
                          <a:effectLst/>
                        </a:rPr>
                        <a:t>특허등록이 되지 않은 경우</a:t>
                      </a:r>
                    </a:p>
                    <a:p>
                      <a:pPr marL="0" marR="0" indent="0" algn="just" fontAlgn="base" latinLnBrk="1">
                        <a:lnSpc>
                          <a:spcPct val="100000"/>
                        </a:lnSpc>
                        <a:spcBef>
                          <a:spcPts val="0"/>
                        </a:spcBef>
                        <a:spcAft>
                          <a:spcPts val="0"/>
                        </a:spcAft>
                      </a:pPr>
                      <a:r>
                        <a:rPr lang="en-US" altLang="ko-KR" sz="1200" kern="0" spc="0">
                          <a:solidFill>
                            <a:schemeClr val="tx1"/>
                          </a:solidFill>
                          <a:effectLst/>
                        </a:rPr>
                        <a:t>2.</a:t>
                      </a:r>
                      <a:r>
                        <a:rPr lang="ko-KR" altLang="en-US" sz="1200" kern="0" spc="0">
                          <a:solidFill>
                            <a:schemeClr val="tx1"/>
                          </a:solidFill>
                          <a:effectLst/>
                        </a:rPr>
                        <a:t>특허등록이 되더라도 소급 소멸하는 경우</a:t>
                      </a:r>
                    </a:p>
                  </a:txBody>
                  <a:tcPr marL="51439" marR="51439" marT="25720" marB="25720" anchor="ctr"/>
                </a:tc>
                <a:extLst>
                  <a:ext uri="{0D108BD9-81ED-4DB2-BD59-A6C34878D82A}">
                    <a16:rowId xmlns:a16="http://schemas.microsoft.com/office/drawing/2014/main" val="10010"/>
                  </a:ext>
                </a:extLst>
              </a:tr>
              <a:tr h="339336">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효과</a:t>
                      </a:r>
                      <a:endParaRPr lang="ko-KR" altLang="en-US" sz="1200" b="1" kern="0" spc="0">
                        <a:solidFill>
                          <a:schemeClr val="tx1"/>
                        </a:solidFill>
                        <a:effectLst/>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200" kern="0" spc="0" dirty="0">
                          <a:solidFill>
                            <a:schemeClr val="tx1"/>
                          </a:solidFill>
                          <a:effectLst/>
                        </a:rPr>
                        <a:t>1.</a:t>
                      </a:r>
                      <a:r>
                        <a:rPr lang="ko-KR" altLang="en-US" sz="1200" kern="0" spc="0" dirty="0" err="1">
                          <a:solidFill>
                            <a:schemeClr val="tx1"/>
                          </a:solidFill>
                          <a:effectLst/>
                        </a:rPr>
                        <a:t>공개전</a:t>
                      </a:r>
                      <a:r>
                        <a:rPr lang="ko-KR" altLang="en-US" sz="1200" kern="0" spc="0" dirty="0">
                          <a:solidFill>
                            <a:schemeClr val="tx1"/>
                          </a:solidFill>
                          <a:effectLst/>
                        </a:rPr>
                        <a:t> 소멸</a:t>
                      </a:r>
                      <a:r>
                        <a:rPr lang="en-US" altLang="ko-KR" sz="1200" kern="0" spc="0" dirty="0">
                          <a:solidFill>
                            <a:schemeClr val="tx1"/>
                          </a:solidFill>
                          <a:effectLst/>
                        </a:rPr>
                        <a:t>-</a:t>
                      </a:r>
                      <a:r>
                        <a:rPr lang="ko-KR" altLang="en-US" sz="1200" kern="0" spc="0" dirty="0">
                          <a:solidFill>
                            <a:schemeClr val="tx1"/>
                          </a:solidFill>
                          <a:effectLst/>
                        </a:rPr>
                        <a:t>등록금지적 효력</a:t>
                      </a:r>
                      <a:r>
                        <a:rPr lang="en-US" altLang="ko-KR" sz="1200" kern="0" spc="0" dirty="0">
                          <a:solidFill>
                            <a:schemeClr val="tx1"/>
                          </a:solidFill>
                          <a:effectLst/>
                        </a:rPr>
                        <a:t>X</a:t>
                      </a:r>
                      <a:endParaRPr lang="ko-KR" altLang="en-US" sz="1200" kern="0" spc="0" dirty="0">
                        <a:solidFill>
                          <a:schemeClr val="tx1"/>
                        </a:solidFill>
                        <a:effectLst/>
                      </a:endParaRPr>
                    </a:p>
                    <a:p>
                      <a:pPr marL="0" marR="0" indent="0" algn="just" fontAlgn="base" latinLnBrk="1">
                        <a:lnSpc>
                          <a:spcPct val="100000"/>
                        </a:lnSpc>
                        <a:spcBef>
                          <a:spcPts val="0"/>
                        </a:spcBef>
                        <a:spcAft>
                          <a:spcPts val="0"/>
                        </a:spcAft>
                      </a:pPr>
                      <a:r>
                        <a:rPr lang="en-US" altLang="ko-KR" sz="1200" kern="0" spc="0" dirty="0">
                          <a:solidFill>
                            <a:schemeClr val="tx1"/>
                          </a:solidFill>
                          <a:effectLst/>
                        </a:rPr>
                        <a:t>2.</a:t>
                      </a:r>
                      <a:r>
                        <a:rPr lang="ko-KR" altLang="en-US" sz="1200" kern="0" spc="0" dirty="0" err="1">
                          <a:solidFill>
                            <a:schemeClr val="tx1"/>
                          </a:solidFill>
                          <a:effectLst/>
                        </a:rPr>
                        <a:t>공개후</a:t>
                      </a:r>
                      <a:r>
                        <a:rPr lang="ko-KR" altLang="en-US" sz="1200" kern="0" spc="0" dirty="0">
                          <a:solidFill>
                            <a:schemeClr val="tx1"/>
                          </a:solidFill>
                          <a:effectLst/>
                        </a:rPr>
                        <a:t> 소멸</a:t>
                      </a:r>
                      <a:r>
                        <a:rPr lang="en-US" altLang="ko-KR" sz="1200" kern="0" spc="0" dirty="0">
                          <a:solidFill>
                            <a:schemeClr val="tx1"/>
                          </a:solidFill>
                          <a:effectLst/>
                        </a:rPr>
                        <a:t>-</a:t>
                      </a:r>
                      <a:r>
                        <a:rPr lang="ko-KR" altLang="en-US" sz="1200" kern="0" spc="0" dirty="0">
                          <a:solidFill>
                            <a:schemeClr val="tx1"/>
                          </a:solidFill>
                          <a:effectLst/>
                        </a:rPr>
                        <a:t>공지기술의 지위</a:t>
                      </a:r>
                      <a:r>
                        <a:rPr lang="en-US" altLang="ko-KR" sz="1200" kern="0" spc="0" dirty="0">
                          <a:solidFill>
                            <a:schemeClr val="tx1"/>
                          </a:solidFill>
                          <a:effectLst/>
                        </a:rPr>
                        <a:t>, </a:t>
                      </a:r>
                      <a:r>
                        <a:rPr lang="ko-KR" altLang="en-US" sz="1200" kern="0" spc="0" dirty="0" err="1">
                          <a:solidFill>
                            <a:schemeClr val="tx1"/>
                          </a:solidFill>
                          <a:effectLst/>
                        </a:rPr>
                        <a:t>확선의</a:t>
                      </a:r>
                      <a:r>
                        <a:rPr lang="ko-KR" altLang="en-US" sz="1200" kern="0" spc="0" dirty="0">
                          <a:solidFill>
                            <a:schemeClr val="tx1"/>
                          </a:solidFill>
                          <a:effectLst/>
                        </a:rPr>
                        <a:t> 지위</a:t>
                      </a:r>
                    </a:p>
                  </a:txBody>
                  <a:tcPr marL="51439" marR="51439" marT="25720" marB="25720" anchor="ctr"/>
                </a:tc>
                <a:tc>
                  <a:txBody>
                    <a:bodyPr/>
                    <a:lstStyle/>
                    <a:p>
                      <a:pPr marL="0" marR="0" indent="0" algn="just" fontAlgn="base" latinLnBrk="1">
                        <a:lnSpc>
                          <a:spcPct val="100000"/>
                        </a:lnSpc>
                        <a:spcBef>
                          <a:spcPts val="0"/>
                        </a:spcBef>
                        <a:spcAft>
                          <a:spcPts val="0"/>
                        </a:spcAft>
                      </a:pPr>
                      <a:r>
                        <a:rPr lang="en-US" altLang="ko-KR" sz="1200" kern="0" spc="0">
                          <a:solidFill>
                            <a:schemeClr val="tx1"/>
                          </a:solidFill>
                          <a:effectLst/>
                        </a:rPr>
                        <a:t>1.</a:t>
                      </a:r>
                      <a:r>
                        <a:rPr lang="ko-KR" altLang="en-US" sz="1200" kern="0" spc="0">
                          <a:solidFill>
                            <a:schemeClr val="tx1"/>
                          </a:solidFill>
                          <a:effectLst/>
                        </a:rPr>
                        <a:t>고의과실○</a:t>
                      </a:r>
                      <a:r>
                        <a:rPr lang="en-US" altLang="ko-KR" sz="1200" kern="0" spc="0">
                          <a:solidFill>
                            <a:schemeClr val="tx1"/>
                          </a:solidFill>
                          <a:effectLst/>
                        </a:rPr>
                        <a:t>-</a:t>
                      </a:r>
                      <a:r>
                        <a:rPr lang="ko-KR" altLang="en-US" sz="1200" kern="0" spc="0">
                          <a:solidFill>
                            <a:schemeClr val="tx1"/>
                          </a:solidFill>
                          <a:effectLst/>
                        </a:rPr>
                        <a:t>손배청구</a:t>
                      </a:r>
                    </a:p>
                    <a:p>
                      <a:pPr marL="0" marR="0" indent="0" algn="just" fontAlgn="base" latinLnBrk="1">
                        <a:lnSpc>
                          <a:spcPct val="100000"/>
                        </a:lnSpc>
                        <a:spcBef>
                          <a:spcPts val="0"/>
                        </a:spcBef>
                        <a:spcAft>
                          <a:spcPts val="0"/>
                        </a:spcAft>
                      </a:pPr>
                      <a:r>
                        <a:rPr lang="en-US" altLang="ko-KR" sz="1200" kern="0" spc="0">
                          <a:solidFill>
                            <a:schemeClr val="tx1"/>
                          </a:solidFill>
                          <a:effectLst/>
                        </a:rPr>
                        <a:t>2.</a:t>
                      </a:r>
                      <a:r>
                        <a:rPr lang="ko-KR" altLang="en-US" sz="1200" kern="0" spc="0">
                          <a:solidFill>
                            <a:schemeClr val="tx1"/>
                          </a:solidFill>
                          <a:effectLst/>
                        </a:rPr>
                        <a:t>고의과실</a:t>
                      </a:r>
                      <a:r>
                        <a:rPr lang="en-US" altLang="ko-KR" sz="1200" kern="0" spc="0">
                          <a:solidFill>
                            <a:schemeClr val="tx1"/>
                          </a:solidFill>
                          <a:effectLst/>
                        </a:rPr>
                        <a:t>×-</a:t>
                      </a:r>
                      <a:r>
                        <a:rPr lang="ko-KR" altLang="en-US" sz="1200" kern="0" spc="0">
                          <a:solidFill>
                            <a:schemeClr val="tx1"/>
                          </a:solidFill>
                          <a:effectLst/>
                        </a:rPr>
                        <a:t>부당이득반환청구</a:t>
                      </a:r>
                    </a:p>
                  </a:txBody>
                  <a:tcPr marL="51439" marR="51439" marT="25720" marB="25720" anchor="ctr"/>
                </a:tc>
                <a:extLst>
                  <a:ext uri="{0D108BD9-81ED-4DB2-BD59-A6C34878D82A}">
                    <a16:rowId xmlns:a16="http://schemas.microsoft.com/office/drawing/2014/main" val="10011"/>
                  </a:ext>
                </a:extLst>
              </a:tr>
              <a:tr h="190588">
                <a:tc gridSpan="2">
                  <a:txBody>
                    <a:bodyPr/>
                    <a:lstStyle/>
                    <a:p>
                      <a:pPr marL="0" marR="0" indent="0" algn="ctr" fontAlgn="base" latinLnBrk="0">
                        <a:lnSpc>
                          <a:spcPct val="100000"/>
                        </a:lnSpc>
                        <a:spcBef>
                          <a:spcPts val="0"/>
                        </a:spcBef>
                        <a:spcAft>
                          <a:spcPts val="0"/>
                        </a:spcAft>
                      </a:pPr>
                      <a:r>
                        <a:rPr lang="ko-KR" altLang="en-US" sz="1200" kern="0" spc="0">
                          <a:solidFill>
                            <a:schemeClr val="tx1"/>
                          </a:solidFill>
                          <a:effectLst/>
                        </a:rPr>
                        <a:t>공유</a:t>
                      </a:r>
                      <a:endParaRPr lang="ko-KR" altLang="en-US" sz="1200" b="1" kern="0" spc="0">
                        <a:solidFill>
                          <a:schemeClr val="tx1"/>
                        </a:solidFill>
                        <a:effectLst/>
                      </a:endParaRPr>
                    </a:p>
                  </a:txBody>
                  <a:tcPr marL="51439" marR="51439" marT="25720" marB="25720" anchor="ctr"/>
                </a:tc>
                <a:tc hMerge="1">
                  <a:txBody>
                    <a:bodyPr/>
                    <a:lstStyle/>
                    <a:p>
                      <a:pPr latinLnBrk="1"/>
                      <a:endParaRPr lang="ko-KR" altLang="en-US"/>
                    </a:p>
                  </a:txBody>
                  <a:tcPr/>
                </a:tc>
                <a:tc>
                  <a:txBody>
                    <a:bodyPr/>
                    <a:lstStyle/>
                    <a:p>
                      <a:pPr marL="0" marR="0" indent="0" algn="just" fontAlgn="base" latinLnBrk="1">
                        <a:lnSpc>
                          <a:spcPct val="100000"/>
                        </a:lnSpc>
                        <a:spcBef>
                          <a:spcPts val="0"/>
                        </a:spcBef>
                        <a:spcAft>
                          <a:spcPts val="0"/>
                        </a:spcAft>
                      </a:pPr>
                      <a:r>
                        <a:rPr lang="ko-KR" altLang="en-US" sz="1200" kern="0" spc="-20">
                          <a:solidFill>
                            <a:schemeClr val="tx1"/>
                          </a:solidFill>
                          <a:effectLst/>
                        </a:rPr>
                        <a:t>다른 공유자 동의 받아야만 지분양도 可</a:t>
                      </a:r>
                      <a:r>
                        <a:rPr lang="en-US" altLang="ko-KR" sz="1200" kern="0" spc="-20">
                          <a:solidFill>
                            <a:schemeClr val="tx1"/>
                          </a:solidFill>
                          <a:effectLst/>
                        </a:rPr>
                        <a:t>(</a:t>
                      </a:r>
                      <a:r>
                        <a:rPr lang="ko-KR" altLang="en-US" sz="1200" kern="0" spc="-20">
                          <a:solidFill>
                            <a:schemeClr val="tx1"/>
                          </a:solidFill>
                          <a:effectLst/>
                        </a:rPr>
                        <a:t>法 </a:t>
                      </a:r>
                      <a:r>
                        <a:rPr lang="en-US" altLang="ko-KR" sz="1200" kern="0" spc="-20">
                          <a:solidFill>
                            <a:schemeClr val="tx1"/>
                          </a:solidFill>
                          <a:effectLst/>
                        </a:rPr>
                        <a:t>99</a:t>
                      </a:r>
                      <a:r>
                        <a:rPr lang="ko-KR" altLang="en-US" sz="1200" kern="0" spc="-20">
                          <a:solidFill>
                            <a:schemeClr val="tx1"/>
                          </a:solidFill>
                          <a:effectLst/>
                        </a:rPr>
                        <a:t>③</a:t>
                      </a:r>
                      <a:r>
                        <a:rPr lang="en-US" altLang="ko-KR" sz="1200" kern="0" spc="-20">
                          <a:solidFill>
                            <a:schemeClr val="tx1"/>
                          </a:solidFill>
                          <a:effectLst/>
                        </a:rPr>
                        <a:t>)</a:t>
                      </a:r>
                      <a:endParaRPr lang="ko-KR" altLang="en-US" sz="1200" kern="0" spc="-20">
                        <a:solidFill>
                          <a:schemeClr val="tx1"/>
                        </a:solidFill>
                        <a:effectLst/>
                      </a:endParaRPr>
                    </a:p>
                  </a:txBody>
                  <a:tcPr marL="51439" marR="51439" marT="25720" marB="25720" anchor="ctr"/>
                </a:tc>
                <a:tc>
                  <a:txBody>
                    <a:bodyPr/>
                    <a:lstStyle/>
                    <a:p>
                      <a:pPr marL="0" marR="0" indent="0" algn="just" fontAlgn="base" latinLnBrk="1">
                        <a:lnSpc>
                          <a:spcPct val="100000"/>
                        </a:lnSpc>
                        <a:spcBef>
                          <a:spcPts val="0"/>
                        </a:spcBef>
                        <a:spcAft>
                          <a:spcPts val="0"/>
                        </a:spcAft>
                      </a:pPr>
                      <a:r>
                        <a:rPr lang="ko-KR" altLang="en-US" sz="1200" kern="0" spc="0" dirty="0">
                          <a:solidFill>
                            <a:schemeClr val="tx1"/>
                          </a:solidFill>
                          <a:effectLst/>
                        </a:rPr>
                        <a:t>　</a:t>
                      </a:r>
                    </a:p>
                  </a:txBody>
                  <a:tcPr marL="51439" marR="51439" marT="25720" marB="25720" anchor="ctr"/>
                </a:tc>
                <a:extLst>
                  <a:ext uri="{0D108BD9-81ED-4DB2-BD59-A6C34878D82A}">
                    <a16:rowId xmlns:a16="http://schemas.microsoft.com/office/drawing/2014/main" val="10012"/>
                  </a:ext>
                </a:extLst>
              </a:tr>
            </a:tbl>
          </a:graphicData>
        </a:graphic>
      </p:graphicFrame>
      <p:sp>
        <p:nvSpPr>
          <p:cNvPr id="5" name="슬라이드 번호 개체 틀 4"/>
          <p:cNvSpPr>
            <a:spLocks noGrp="1"/>
          </p:cNvSpPr>
          <p:nvPr>
            <p:ph type="sldNum" sz="quarter" idx="12"/>
          </p:nvPr>
        </p:nvSpPr>
        <p:spPr/>
        <p:txBody>
          <a:bodyPr/>
          <a:lstStyle/>
          <a:p>
            <a:r>
              <a:rPr lang="en-US" altLang="ko-KR"/>
              <a:t>427</a:t>
            </a:r>
            <a:endParaRPr lang="ko-KR" altLang="en-US"/>
          </a:p>
        </p:txBody>
      </p:sp>
    </p:spTree>
    <p:extLst>
      <p:ext uri="{BB962C8B-B14F-4D97-AF65-F5344CB8AC3E}">
        <p14:creationId xmlns:p14="http://schemas.microsoft.com/office/powerpoint/2010/main" val="1528616809"/>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101667989"/>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 name="제목 1"/>
          <p:cNvSpPr txBox="1">
            <a:spLocks/>
          </p:cNvSpPr>
          <p:nvPr/>
        </p:nvSpPr>
        <p:spPr>
          <a:xfrm>
            <a:off x="1961128" y="1991045"/>
            <a:ext cx="7162800" cy="1193800"/>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2400" kern="1200">
                <a:solidFill>
                  <a:schemeClr val="accent4"/>
                </a:solidFill>
                <a:latin typeface="Rix모던명조 B" panose="02020603020101020101" pitchFamily="18" charset="-127"/>
                <a:ea typeface="Rix모던명조 B" panose="02020603020101020101" pitchFamily="18" charset="-127"/>
                <a:cs typeface="+mj-cs"/>
              </a:defRPr>
            </a:lvl1pPr>
          </a:lstStyle>
          <a:p>
            <a:r>
              <a:rPr lang="ko-KR" altLang="en-US" sz="8000" dirty="0">
                <a:solidFill>
                  <a:schemeClr val="tx1">
                    <a:lumMod val="50000"/>
                    <a:lumOff val="50000"/>
                  </a:schemeClr>
                </a:solidFill>
                <a:latin typeface="Rix모던고딕 EB" panose="02020603020101020101" pitchFamily="18" charset="-127"/>
                <a:ea typeface="Rix모던고딕 EB" panose="02020603020101020101" pitchFamily="18" charset="-127"/>
              </a:rPr>
              <a:t>특허법 강의노트</a:t>
            </a:r>
          </a:p>
        </p:txBody>
      </p:sp>
      <p:sp>
        <p:nvSpPr>
          <p:cNvPr id="20" name="제목 1"/>
          <p:cNvSpPr txBox="1">
            <a:spLocks/>
          </p:cNvSpPr>
          <p:nvPr/>
        </p:nvSpPr>
        <p:spPr>
          <a:xfrm>
            <a:off x="2185246" y="3197545"/>
            <a:ext cx="6684682" cy="104455"/>
          </a:xfrm>
          <a:prstGeom prst="rect">
            <a:avLst/>
          </a:prstGeom>
          <a:solidFill>
            <a:schemeClr val="bg2">
              <a:lumMod val="90000"/>
            </a:schemeClr>
          </a:solidFill>
        </p:spPr>
        <p:txBody>
          <a:bodyPr vert="horz" lIns="540000" tIns="0" rIns="54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pPr algn="dist"/>
            <a:endParaRPr lang="ko-KR" altLang="en-US" sz="4000" dirty="0">
              <a:solidFill>
                <a:schemeClr val="accent4"/>
              </a:solidFill>
              <a:latin typeface="+mn-ea"/>
              <a:ea typeface="+mn-ea"/>
              <a:cs typeface="Tahoma" panose="020B0604030504040204" pitchFamily="34" charset="0"/>
            </a:endParaRPr>
          </a:p>
        </p:txBody>
      </p:sp>
      <p:sp>
        <p:nvSpPr>
          <p:cNvPr id="21" name="제목 1"/>
          <p:cNvSpPr txBox="1">
            <a:spLocks/>
          </p:cNvSpPr>
          <p:nvPr/>
        </p:nvSpPr>
        <p:spPr>
          <a:xfrm>
            <a:off x="4565375" y="4873198"/>
            <a:ext cx="1954306" cy="649061"/>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r>
              <a:rPr lang="en-US" altLang="ko-KR" sz="3600" dirty="0">
                <a:solidFill>
                  <a:schemeClr val="tx1">
                    <a:lumMod val="50000"/>
                    <a:lumOff val="50000"/>
                  </a:schemeClr>
                </a:solidFill>
                <a:latin typeface="Rix모던고딕 EB" panose="02020603020101020101" pitchFamily="18" charset="-127"/>
                <a:ea typeface="Rix모던고딕 EB" panose="02020603020101020101" pitchFamily="18" charset="-127"/>
              </a:rPr>
              <a:t>2026</a:t>
            </a:r>
            <a:endParaRPr lang="ko-KR" altLang="en-US" sz="3600" dirty="0">
              <a:solidFill>
                <a:schemeClr val="tx1">
                  <a:lumMod val="50000"/>
                  <a:lumOff val="50000"/>
                </a:schemeClr>
              </a:solidFill>
              <a:latin typeface="Rix모던고딕 EB" panose="02020603020101020101" pitchFamily="18" charset="-127"/>
              <a:ea typeface="Rix모던고딕 EB" panose="02020603020101020101" pitchFamily="18" charset="-127"/>
            </a:endParaRPr>
          </a:p>
        </p:txBody>
      </p:sp>
      <p:sp>
        <p:nvSpPr>
          <p:cNvPr id="22" name="제목 1"/>
          <p:cNvSpPr txBox="1">
            <a:spLocks/>
          </p:cNvSpPr>
          <p:nvPr/>
        </p:nvSpPr>
        <p:spPr>
          <a:xfrm>
            <a:off x="2185246" y="3467433"/>
            <a:ext cx="6684682" cy="545768"/>
          </a:xfrm>
          <a:prstGeom prst="roundRect">
            <a:avLst>
              <a:gd name="adj" fmla="val 50000"/>
            </a:avLst>
          </a:prstGeom>
          <a:solidFill>
            <a:schemeClr val="accent4"/>
          </a:solidFill>
        </p:spPr>
        <p:txBody>
          <a:bodyPr vert="horz" lIns="0" tIns="0" rIns="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r>
              <a:rPr lang="en-US" altLang="ko-KR" sz="2800" dirty="0" err="1">
                <a:solidFill>
                  <a:schemeClr val="bg1"/>
                </a:solidFill>
                <a:latin typeface="Rix모던고딕 EB" panose="02020603020101020101" pitchFamily="18" charset="-127"/>
                <a:ea typeface="Rix모던고딕 EB" panose="02020603020101020101" pitchFamily="18" charset="-127"/>
              </a:rPr>
              <a:t>Yim</a:t>
            </a:r>
            <a:r>
              <a:rPr lang="en-US" altLang="ko-KR" sz="2800" dirty="0">
                <a:solidFill>
                  <a:schemeClr val="bg1"/>
                </a:solidFill>
                <a:latin typeface="Rix모던고딕 EB" panose="02020603020101020101" pitchFamily="18" charset="-127"/>
                <a:ea typeface="Rix모던고딕 EB" panose="02020603020101020101" pitchFamily="18" charset="-127"/>
              </a:rPr>
              <a:t>, </a:t>
            </a:r>
            <a:r>
              <a:rPr lang="en-US" altLang="ko-KR" sz="2800" dirty="0" err="1">
                <a:solidFill>
                  <a:schemeClr val="bg1"/>
                </a:solidFill>
                <a:latin typeface="Rix모던고딕 EB" panose="02020603020101020101" pitchFamily="18" charset="-127"/>
                <a:ea typeface="Rix모던고딕 EB" panose="02020603020101020101" pitchFamily="18" charset="-127"/>
              </a:rPr>
              <a:t>Byung-Woong</a:t>
            </a:r>
            <a:r>
              <a:rPr lang="en-US" altLang="ko-KR" sz="2800" dirty="0">
                <a:solidFill>
                  <a:schemeClr val="bg1"/>
                </a:solidFill>
                <a:latin typeface="Rix모던고딕 EB" panose="02020603020101020101" pitchFamily="18" charset="-127"/>
                <a:ea typeface="Rix모던고딕 EB" panose="02020603020101020101" pitchFamily="18" charset="-127"/>
              </a:rPr>
              <a:t> All Rights Reserved.</a:t>
            </a:r>
            <a:endParaRPr lang="ko-KR" altLang="en-US" sz="2800" dirty="0">
              <a:solidFill>
                <a:schemeClr val="bg1"/>
              </a:solidFill>
              <a:latin typeface="Rix모던고딕 EB" panose="02020603020101020101" pitchFamily="18" charset="-127"/>
              <a:ea typeface="Rix모던고딕 EB" panose="02020603020101020101" pitchFamily="18" charset="-127"/>
            </a:endParaRPr>
          </a:p>
        </p:txBody>
      </p:sp>
      <p:sp>
        <p:nvSpPr>
          <p:cNvPr id="23" name="직사각형 22"/>
          <p:cNvSpPr/>
          <p:nvPr/>
        </p:nvSpPr>
        <p:spPr>
          <a:xfrm>
            <a:off x="11153595" y="44623"/>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bg1"/>
                </a:solidFill>
              </a:rPr>
              <a:t>총칙</a:t>
            </a:r>
            <a:r>
              <a:rPr lang="en-US" altLang="ko-KR" sz="2000" b="1" dirty="0">
                <a:solidFill>
                  <a:schemeClr val="bg1"/>
                </a:solidFill>
              </a:rPr>
              <a:t>/</a:t>
            </a:r>
          </a:p>
          <a:p>
            <a:pPr algn="ctr"/>
            <a:r>
              <a:rPr lang="ko-KR" altLang="en-US" sz="2000" b="1" dirty="0" err="1">
                <a:solidFill>
                  <a:schemeClr val="bg1"/>
                </a:solidFill>
              </a:rPr>
              <a:t>보칙</a:t>
            </a:r>
            <a:endParaRPr lang="ko-KR" altLang="en-US" sz="2000" b="1" dirty="0">
              <a:solidFill>
                <a:schemeClr val="bg1"/>
              </a:solidFill>
            </a:endParaRPr>
          </a:p>
        </p:txBody>
      </p:sp>
      <p:sp>
        <p:nvSpPr>
          <p:cNvPr id="24" name="직사각형 23"/>
          <p:cNvSpPr/>
          <p:nvPr/>
        </p:nvSpPr>
        <p:spPr>
          <a:xfrm>
            <a:off x="11153595" y="1011588"/>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bg1"/>
                </a:solidFill>
              </a:rPr>
              <a:t>특허</a:t>
            </a:r>
            <a:endParaRPr lang="en-US" altLang="ko-KR" sz="2000" b="1" dirty="0">
              <a:solidFill>
                <a:schemeClr val="bg1"/>
              </a:solidFill>
            </a:endParaRPr>
          </a:p>
          <a:p>
            <a:pPr algn="ctr"/>
            <a:r>
              <a:rPr lang="ko-KR" altLang="en-US" sz="2000" b="1" dirty="0">
                <a:solidFill>
                  <a:schemeClr val="bg1"/>
                </a:solidFill>
              </a:rPr>
              <a:t>요건</a:t>
            </a:r>
          </a:p>
        </p:txBody>
      </p:sp>
      <p:sp>
        <p:nvSpPr>
          <p:cNvPr id="25" name="직사각형 24"/>
          <p:cNvSpPr/>
          <p:nvPr/>
        </p:nvSpPr>
        <p:spPr>
          <a:xfrm>
            <a:off x="11153595" y="1978552"/>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이익</a:t>
            </a:r>
            <a:endParaRPr lang="en-US" altLang="ko-KR" sz="2000" b="1" dirty="0"/>
          </a:p>
          <a:p>
            <a:pPr algn="ctr"/>
            <a:r>
              <a:rPr lang="ko-KR" altLang="en-US" sz="2000" b="1" dirty="0"/>
              <a:t>제도</a:t>
            </a:r>
          </a:p>
        </p:txBody>
      </p:sp>
      <p:sp>
        <p:nvSpPr>
          <p:cNvPr id="26" name="직사각형 25"/>
          <p:cNvSpPr/>
          <p:nvPr/>
        </p:nvSpPr>
        <p:spPr>
          <a:xfrm>
            <a:off x="11153595" y="2945517"/>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심사</a:t>
            </a:r>
            <a:endParaRPr lang="en-US" altLang="ko-KR" sz="2000" b="1" dirty="0"/>
          </a:p>
          <a:p>
            <a:pPr algn="ctr"/>
            <a:r>
              <a:rPr lang="en-US" altLang="ko-KR" sz="2000" b="1" dirty="0"/>
              <a:t>(</a:t>
            </a:r>
            <a:r>
              <a:rPr lang="ko-KR" altLang="en-US" sz="2000" b="1" dirty="0"/>
              <a:t>제도</a:t>
            </a:r>
            <a:r>
              <a:rPr lang="en-US" altLang="ko-KR" sz="2000" b="1" dirty="0"/>
              <a:t>)</a:t>
            </a:r>
            <a:endParaRPr lang="ko-KR" altLang="en-US" sz="2000" b="1" dirty="0"/>
          </a:p>
        </p:txBody>
      </p:sp>
      <p:sp>
        <p:nvSpPr>
          <p:cNvPr id="27" name="직사각형 26"/>
          <p:cNvSpPr/>
          <p:nvPr/>
        </p:nvSpPr>
        <p:spPr>
          <a:xfrm>
            <a:off x="11153595" y="3912483"/>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t>특허권</a:t>
            </a:r>
          </a:p>
        </p:txBody>
      </p:sp>
      <p:sp>
        <p:nvSpPr>
          <p:cNvPr id="28" name="직사각형 27"/>
          <p:cNvSpPr/>
          <p:nvPr/>
        </p:nvSpPr>
        <p:spPr>
          <a:xfrm>
            <a:off x="11153595" y="4879448"/>
            <a:ext cx="1062789" cy="966965"/>
          </a:xfrm>
          <a:prstGeom prst="rect">
            <a:avLst/>
          </a:prstGeom>
          <a:solidFill>
            <a:schemeClr val="tx1">
              <a:lumMod val="65000"/>
              <a:lumOff val="3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b="1" dirty="0">
                <a:solidFill>
                  <a:schemeClr val="accent4"/>
                </a:solidFill>
              </a:rPr>
              <a:t>심판</a:t>
            </a:r>
            <a:r>
              <a:rPr lang="en-US" altLang="ko-KR" sz="2000" b="1" dirty="0">
                <a:solidFill>
                  <a:schemeClr val="accent4"/>
                </a:solidFill>
              </a:rPr>
              <a:t>/</a:t>
            </a:r>
          </a:p>
          <a:p>
            <a:pPr algn="ctr"/>
            <a:r>
              <a:rPr lang="ko-KR" altLang="en-US" sz="2000" b="1" dirty="0">
                <a:solidFill>
                  <a:schemeClr val="accent4"/>
                </a:solidFill>
              </a:rPr>
              <a:t>소송</a:t>
            </a:r>
          </a:p>
        </p:txBody>
      </p:sp>
      <p:sp>
        <p:nvSpPr>
          <p:cNvPr id="29" name="직사각형 28"/>
          <p:cNvSpPr/>
          <p:nvPr/>
        </p:nvSpPr>
        <p:spPr>
          <a:xfrm>
            <a:off x="11153595" y="5846412"/>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2000" b="1" dirty="0"/>
              <a:t>PCT</a:t>
            </a:r>
            <a:endParaRPr lang="ko-KR" altLang="en-US" sz="2000" b="1" dirty="0"/>
          </a:p>
        </p:txBody>
      </p:sp>
    </p:spTree>
    <p:extLst>
      <p:ext uri="{BB962C8B-B14F-4D97-AF65-F5344CB8AC3E}">
        <p14:creationId xmlns:p14="http://schemas.microsoft.com/office/powerpoint/2010/main" val="2879139653"/>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8D060A0-8FE6-8B6E-E33A-2223CC015A03}"/>
            </a:ext>
          </a:extLst>
        </p:cNvPr>
        <p:cNvGrpSpPr/>
        <p:nvPr/>
      </p:nvGrpSpPr>
      <p:grpSpPr>
        <a:xfrm>
          <a:off x="0" y="0"/>
          <a:ext cx="0" cy="0"/>
          <a:chOff x="0" y="0"/>
          <a:chExt cx="0" cy="0"/>
        </a:xfrm>
      </p:grpSpPr>
    </p:spTree>
    <p:extLst>
      <p:ext uri="{BB962C8B-B14F-4D97-AF65-F5344CB8AC3E}">
        <p14:creationId xmlns:p14="http://schemas.microsoft.com/office/powerpoint/2010/main" val="337180177"/>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294967295"/>
          </p:nvPr>
        </p:nvSpPr>
        <p:spPr>
          <a:xfrm>
            <a:off x="11125200" y="0"/>
            <a:ext cx="1066800" cy="711200"/>
          </a:xfrm>
        </p:spPr>
        <p:txBody>
          <a:bodyPr/>
          <a:lstStyle/>
          <a:p>
            <a:r>
              <a:rPr lang="en-US" altLang="ko-KR"/>
              <a:t>429</a:t>
            </a:r>
            <a:endParaRPr lang="ko-KR" altLang="en-US" dirty="0"/>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6" name="직사각형 5"/>
          <p:cNvSpPr/>
          <p:nvPr/>
        </p:nvSpPr>
        <p:spPr>
          <a:xfrm>
            <a:off x="1244284" y="2152137"/>
            <a:ext cx="552862" cy="498328"/>
          </a:xfrm>
          <a:prstGeom prst="rect">
            <a:avLst/>
          </a:prstGeom>
          <a:ln w="6350"/>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ko-KR" altLang="en-US" sz="1200" dirty="0"/>
              <a:t>총칙</a:t>
            </a:r>
            <a:r>
              <a:rPr lang="en-US" altLang="ko-KR" sz="1200" dirty="0"/>
              <a:t>/</a:t>
            </a:r>
          </a:p>
          <a:p>
            <a:pPr algn="ctr"/>
            <a:r>
              <a:rPr lang="ko-KR" altLang="en-US" sz="1200" dirty="0" err="1"/>
              <a:t>보칙</a:t>
            </a:r>
            <a:endParaRPr lang="ko-KR" altLang="en-US" sz="1200" dirty="0"/>
          </a:p>
        </p:txBody>
      </p:sp>
      <p:sp>
        <p:nvSpPr>
          <p:cNvPr id="7" name="직사각형 6"/>
          <p:cNvSpPr/>
          <p:nvPr/>
        </p:nvSpPr>
        <p:spPr>
          <a:xfrm>
            <a:off x="2118397" y="99429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목적</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a:t>
            </a:r>
            <a:endParaRPr lang="ko-KR" altLang="en-US" sz="1000" dirty="0">
              <a:solidFill>
                <a:schemeClr val="tx1"/>
              </a:solidFill>
            </a:endParaRPr>
          </a:p>
        </p:txBody>
      </p:sp>
      <p:sp>
        <p:nvSpPr>
          <p:cNvPr id="8" name="직사각형 7"/>
          <p:cNvSpPr/>
          <p:nvPr/>
        </p:nvSpPr>
        <p:spPr>
          <a:xfrm>
            <a:off x="2118397" y="12362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a:t>
            </a:r>
            <a:endParaRPr lang="ko-KR" altLang="en-US" sz="1000" dirty="0">
              <a:solidFill>
                <a:schemeClr val="tx1"/>
              </a:solidFill>
            </a:endParaRPr>
          </a:p>
        </p:txBody>
      </p:sp>
      <p:sp>
        <p:nvSpPr>
          <p:cNvPr id="9" name="직사각형 8"/>
          <p:cNvSpPr/>
          <p:nvPr/>
        </p:nvSpPr>
        <p:spPr>
          <a:xfrm>
            <a:off x="2118397" y="1471128"/>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행위능력</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3~5①)</a:t>
            </a:r>
            <a:endParaRPr lang="ko-KR" altLang="en-US" sz="1000" dirty="0">
              <a:solidFill>
                <a:schemeClr val="tx1"/>
              </a:solidFill>
            </a:endParaRPr>
          </a:p>
        </p:txBody>
      </p:sp>
      <p:sp>
        <p:nvSpPr>
          <p:cNvPr id="10" name="직사각형 9"/>
          <p:cNvSpPr/>
          <p:nvPr/>
        </p:nvSpPr>
        <p:spPr>
          <a:xfrm>
            <a:off x="2118397" y="1713120"/>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대리인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3②, 5②~10, 12)</a:t>
            </a:r>
            <a:endParaRPr lang="ko-KR" altLang="en-US" sz="1000" dirty="0">
              <a:solidFill>
                <a:schemeClr val="tx1"/>
              </a:solidFill>
            </a:endParaRPr>
          </a:p>
        </p:txBody>
      </p:sp>
      <p:sp>
        <p:nvSpPr>
          <p:cNvPr id="11" name="직사각형 10"/>
          <p:cNvSpPr/>
          <p:nvPr/>
        </p:nvSpPr>
        <p:spPr>
          <a:xfrm>
            <a:off x="2118397" y="1945643"/>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복수당사자 대표</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11)</a:t>
            </a:r>
            <a:endParaRPr lang="ko-KR" altLang="en-US" sz="1000" dirty="0">
              <a:solidFill>
                <a:schemeClr val="tx1"/>
              </a:solidFill>
            </a:endParaRPr>
          </a:p>
        </p:txBody>
      </p:sp>
      <p:sp>
        <p:nvSpPr>
          <p:cNvPr id="12" name="직사각형 11"/>
          <p:cNvSpPr/>
          <p:nvPr/>
        </p:nvSpPr>
        <p:spPr>
          <a:xfrm>
            <a:off x="2118397" y="218763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err="1">
                <a:solidFill>
                  <a:schemeClr val="tx1"/>
                </a:solidFill>
              </a:rPr>
              <a:t>재외자의</a:t>
            </a:r>
            <a:r>
              <a:rPr lang="ko-KR" altLang="en-US" sz="1000" dirty="0">
                <a:solidFill>
                  <a:schemeClr val="tx1"/>
                </a:solidFill>
              </a:rPr>
              <a:t> 재판관할</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13)</a:t>
            </a:r>
            <a:endParaRPr lang="ko-KR" altLang="en-US" sz="1000" dirty="0">
              <a:solidFill>
                <a:schemeClr val="tx1"/>
              </a:solidFill>
            </a:endParaRPr>
          </a:p>
        </p:txBody>
      </p:sp>
      <p:sp>
        <p:nvSpPr>
          <p:cNvPr id="13" name="직사각형 12"/>
          <p:cNvSpPr/>
          <p:nvPr/>
        </p:nvSpPr>
        <p:spPr>
          <a:xfrm>
            <a:off x="2118397" y="243841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기일과 기간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14, 15)</a:t>
            </a:r>
            <a:endParaRPr lang="ko-KR" altLang="en-US" sz="1000" dirty="0">
              <a:solidFill>
                <a:schemeClr val="tx1"/>
              </a:solidFill>
            </a:endParaRPr>
          </a:p>
        </p:txBody>
      </p:sp>
      <p:sp>
        <p:nvSpPr>
          <p:cNvPr id="14" name="직사각형 13"/>
          <p:cNvSpPr/>
          <p:nvPr/>
        </p:nvSpPr>
        <p:spPr>
          <a:xfrm>
            <a:off x="2118397" y="2670267"/>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특허에 관한 절차 일반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16, 28~28</a:t>
            </a:r>
            <a:r>
              <a:rPr lang="ko-KR" altLang="en-US" sz="1000" dirty="0">
                <a:solidFill>
                  <a:schemeClr val="tx1"/>
                </a:solidFill>
              </a:rPr>
              <a:t>의</a:t>
            </a:r>
            <a:r>
              <a:rPr lang="en-US" altLang="ko-KR" sz="1000" dirty="0">
                <a:solidFill>
                  <a:schemeClr val="tx1"/>
                </a:solidFill>
              </a:rPr>
              <a:t>5)</a:t>
            </a:r>
            <a:endParaRPr lang="ko-KR" altLang="en-US" sz="1000" dirty="0">
              <a:solidFill>
                <a:schemeClr val="tx1"/>
              </a:solidFill>
            </a:endParaRPr>
          </a:p>
        </p:txBody>
      </p:sp>
      <p:sp>
        <p:nvSpPr>
          <p:cNvPr id="15" name="직사각형 14"/>
          <p:cNvSpPr/>
          <p:nvPr/>
        </p:nvSpPr>
        <p:spPr>
          <a:xfrm>
            <a:off x="2118397" y="290844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추후보완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17, 67</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16" name="직사각형 15"/>
          <p:cNvSpPr/>
          <p:nvPr/>
        </p:nvSpPr>
        <p:spPr>
          <a:xfrm>
            <a:off x="2118397" y="313988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절차의 효력의 승계 및 절차의 속행</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18, 19)</a:t>
            </a:r>
            <a:endParaRPr lang="ko-KR" altLang="en-US" sz="1000" dirty="0">
              <a:solidFill>
                <a:schemeClr val="tx1"/>
              </a:solidFill>
            </a:endParaRPr>
          </a:p>
        </p:txBody>
      </p:sp>
      <p:sp>
        <p:nvSpPr>
          <p:cNvPr id="17" name="직사각형 16"/>
          <p:cNvSpPr/>
          <p:nvPr/>
        </p:nvSpPr>
        <p:spPr>
          <a:xfrm>
            <a:off x="2118397" y="337173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절차의 정지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20~24, 78, 164)</a:t>
            </a:r>
            <a:endParaRPr lang="ko-KR" altLang="en-US" sz="1000" dirty="0">
              <a:solidFill>
                <a:schemeClr val="tx1"/>
              </a:solidFill>
            </a:endParaRPr>
          </a:p>
        </p:txBody>
      </p:sp>
      <p:cxnSp>
        <p:nvCxnSpPr>
          <p:cNvPr id="18" name="꺾인 연결선 17"/>
          <p:cNvCxnSpPr>
            <a:cxnSpLocks/>
            <a:stCxn id="6" idx="3"/>
            <a:endCxn id="7" idx="1"/>
          </p:cNvCxnSpPr>
          <p:nvPr/>
        </p:nvCxnSpPr>
        <p:spPr>
          <a:xfrm flipV="1">
            <a:off x="1797146" y="1085041"/>
            <a:ext cx="321251" cy="131626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cxnSpLocks/>
            <a:stCxn id="6" idx="3"/>
            <a:endCxn id="17" idx="1"/>
          </p:cNvCxnSpPr>
          <p:nvPr/>
        </p:nvCxnSpPr>
        <p:spPr>
          <a:xfrm>
            <a:off x="1797146" y="2401301"/>
            <a:ext cx="321251" cy="106118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cxnSpLocks/>
            <a:stCxn id="6" idx="3"/>
            <a:endCxn id="8" idx="1"/>
          </p:cNvCxnSpPr>
          <p:nvPr/>
        </p:nvCxnSpPr>
        <p:spPr>
          <a:xfrm flipV="1">
            <a:off x="1797146" y="1327033"/>
            <a:ext cx="321251" cy="107426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cxnSpLocks/>
            <a:stCxn id="6" idx="3"/>
            <a:endCxn id="9" idx="1"/>
          </p:cNvCxnSpPr>
          <p:nvPr/>
        </p:nvCxnSpPr>
        <p:spPr>
          <a:xfrm flipV="1">
            <a:off x="1797146" y="1561875"/>
            <a:ext cx="321251" cy="8394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꺾인 연결선 21"/>
          <p:cNvCxnSpPr>
            <a:cxnSpLocks/>
            <a:stCxn id="6" idx="3"/>
            <a:endCxn id="13" idx="1"/>
          </p:cNvCxnSpPr>
          <p:nvPr/>
        </p:nvCxnSpPr>
        <p:spPr>
          <a:xfrm>
            <a:off x="1797146" y="2401301"/>
            <a:ext cx="321251" cy="12786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cxnSpLocks/>
            <a:stCxn id="6" idx="3"/>
            <a:endCxn id="14" idx="1"/>
          </p:cNvCxnSpPr>
          <p:nvPr/>
        </p:nvCxnSpPr>
        <p:spPr>
          <a:xfrm>
            <a:off x="1797146" y="2401301"/>
            <a:ext cx="321251" cy="35971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cxnSpLocks/>
            <a:stCxn id="6" idx="3"/>
            <a:endCxn id="15" idx="1"/>
          </p:cNvCxnSpPr>
          <p:nvPr/>
        </p:nvCxnSpPr>
        <p:spPr>
          <a:xfrm>
            <a:off x="1797146" y="2401301"/>
            <a:ext cx="321251" cy="5978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cxnSpLocks/>
            <a:stCxn id="6" idx="3"/>
            <a:endCxn id="16" idx="1"/>
          </p:cNvCxnSpPr>
          <p:nvPr/>
        </p:nvCxnSpPr>
        <p:spPr>
          <a:xfrm>
            <a:off x="1797146" y="2401301"/>
            <a:ext cx="321251" cy="82933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cxnSpLocks/>
            <a:stCxn id="6" idx="3"/>
            <a:endCxn id="10" idx="1"/>
          </p:cNvCxnSpPr>
          <p:nvPr/>
        </p:nvCxnSpPr>
        <p:spPr>
          <a:xfrm flipV="1">
            <a:off x="1797146" y="1803867"/>
            <a:ext cx="321251" cy="59743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cxnSpLocks/>
            <a:stCxn id="6" idx="3"/>
            <a:endCxn id="11" idx="1"/>
          </p:cNvCxnSpPr>
          <p:nvPr/>
        </p:nvCxnSpPr>
        <p:spPr>
          <a:xfrm flipV="1">
            <a:off x="1797146" y="2036390"/>
            <a:ext cx="321251" cy="36491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cxnSpLocks/>
            <a:stCxn id="6" idx="3"/>
            <a:endCxn id="12" idx="1"/>
          </p:cNvCxnSpPr>
          <p:nvPr/>
        </p:nvCxnSpPr>
        <p:spPr>
          <a:xfrm flipV="1">
            <a:off x="1797146" y="2278382"/>
            <a:ext cx="321251" cy="122919"/>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 name="그룹 28"/>
          <p:cNvGrpSpPr/>
          <p:nvPr/>
        </p:nvGrpSpPr>
        <p:grpSpPr>
          <a:xfrm>
            <a:off x="6536267" y="1171792"/>
            <a:ext cx="4444979" cy="2279356"/>
            <a:chOff x="3987793" y="1037128"/>
            <a:chExt cx="3733785" cy="1752532"/>
          </a:xfrm>
        </p:grpSpPr>
        <p:sp>
          <p:nvSpPr>
            <p:cNvPr id="30" name="직사각형 29"/>
            <p:cNvSpPr/>
            <p:nvPr/>
          </p:nvSpPr>
          <p:spPr>
            <a:xfrm>
              <a:off x="3987793" y="1888138"/>
              <a:ext cx="398311" cy="385993"/>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특허</a:t>
              </a:r>
              <a:endParaRPr lang="en-US" altLang="ko-KR" sz="1200" dirty="0"/>
            </a:p>
            <a:p>
              <a:pPr algn="ctr"/>
              <a:r>
                <a:rPr lang="ko-KR" altLang="en-US" sz="1200" dirty="0"/>
                <a:t>요건</a:t>
              </a:r>
            </a:p>
          </p:txBody>
        </p:sp>
        <p:sp>
          <p:nvSpPr>
            <p:cNvPr id="31" name="직사각형 30"/>
            <p:cNvSpPr/>
            <p:nvPr/>
          </p:nvSpPr>
          <p:spPr>
            <a:xfrm>
              <a:off x="4546567" y="160536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없는 발명</a:t>
              </a:r>
            </a:p>
          </p:txBody>
        </p:sp>
        <p:sp>
          <p:nvSpPr>
            <p:cNvPr id="32" name="직사각형 31"/>
            <p:cNvSpPr/>
            <p:nvPr/>
          </p:nvSpPr>
          <p:spPr>
            <a:xfrm>
              <a:off x="4546568" y="1990474"/>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자</a:t>
              </a:r>
            </a:p>
          </p:txBody>
        </p:sp>
        <p:sp>
          <p:nvSpPr>
            <p:cNvPr id="33" name="직사각형 32"/>
            <p:cNvSpPr/>
            <p:nvPr/>
          </p:nvSpPr>
          <p:spPr>
            <a:xfrm>
              <a:off x="4546567" y="120511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발명</a:t>
              </a:r>
            </a:p>
          </p:txBody>
        </p:sp>
        <p:sp>
          <p:nvSpPr>
            <p:cNvPr id="34" name="직사각형 33"/>
            <p:cNvSpPr/>
            <p:nvPr/>
          </p:nvSpPr>
          <p:spPr>
            <a:xfrm>
              <a:off x="4546568" y="2378317"/>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a:t>
              </a:r>
              <a:endParaRPr lang="en-US" altLang="ko-KR" sz="1000" dirty="0">
                <a:solidFill>
                  <a:schemeClr val="tx1"/>
                </a:solidFill>
              </a:endParaRPr>
            </a:p>
            <a:p>
              <a:pPr algn="ctr"/>
              <a:r>
                <a:rPr lang="ko-KR" altLang="en-US" sz="1000" dirty="0">
                  <a:solidFill>
                    <a:schemeClr val="tx1"/>
                  </a:solidFill>
                </a:rPr>
                <a:t>있는 출원</a:t>
              </a:r>
            </a:p>
          </p:txBody>
        </p:sp>
        <p:grpSp>
          <p:nvGrpSpPr>
            <p:cNvPr id="35" name="그룹 34"/>
            <p:cNvGrpSpPr/>
            <p:nvPr/>
          </p:nvGrpSpPr>
          <p:grpSpPr>
            <a:xfrm>
              <a:off x="5713090" y="1037128"/>
              <a:ext cx="2008488" cy="1752532"/>
              <a:chOff x="9836379" y="3177270"/>
              <a:chExt cx="2251744" cy="1752532"/>
            </a:xfrm>
            <a:solidFill>
              <a:schemeClr val="accent1">
                <a:lumMod val="20000"/>
                <a:lumOff val="80000"/>
              </a:schemeClr>
            </a:solidFill>
          </p:grpSpPr>
          <p:sp>
            <p:nvSpPr>
              <p:cNvPr id="49" name="직사각형 48"/>
              <p:cNvSpPr/>
              <p:nvPr/>
            </p:nvSpPr>
            <p:spPr>
              <a:xfrm>
                <a:off x="9836379" y="317727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협의의 특허요건</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29)</a:t>
                </a:r>
                <a:endParaRPr lang="ko-KR" altLang="en-US" sz="1000" dirty="0">
                  <a:solidFill>
                    <a:schemeClr val="tx1"/>
                  </a:solidFill>
                </a:endParaRPr>
              </a:p>
            </p:txBody>
          </p:sp>
          <p:sp>
            <p:nvSpPr>
              <p:cNvPr id="50" name="직사각형 49"/>
              <p:cNvSpPr/>
              <p:nvPr/>
            </p:nvSpPr>
            <p:spPr>
              <a:xfrm>
                <a:off x="9836379" y="338513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선출원주의</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36)</a:t>
                </a:r>
                <a:endParaRPr lang="ko-KR" altLang="en-US" sz="1000" dirty="0">
                  <a:solidFill>
                    <a:schemeClr val="tx1"/>
                  </a:solidFill>
                </a:endParaRPr>
              </a:p>
            </p:txBody>
          </p:sp>
          <p:sp>
            <p:nvSpPr>
              <p:cNvPr id="51" name="직사각형 50"/>
              <p:cNvSpPr/>
              <p:nvPr/>
            </p:nvSpPr>
            <p:spPr>
              <a:xfrm>
                <a:off x="9836379" y="357434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불특허발명</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32)</a:t>
                </a:r>
                <a:endParaRPr lang="ko-KR" altLang="en-US" sz="1000" dirty="0">
                  <a:solidFill>
                    <a:schemeClr val="tx1"/>
                  </a:solidFill>
                </a:endParaRPr>
              </a:p>
            </p:txBody>
          </p:sp>
          <p:sp>
            <p:nvSpPr>
              <p:cNvPr id="52" name="직사각형 51"/>
              <p:cNvSpPr/>
              <p:nvPr/>
            </p:nvSpPr>
            <p:spPr>
              <a:xfrm>
                <a:off x="9836379" y="378220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국방상 필요한 발명</a:t>
                </a:r>
                <a:r>
                  <a:rPr lang="en-US" altLang="ko-KR" sz="1000" dirty="0">
                    <a:solidFill>
                      <a:schemeClr val="tx1"/>
                    </a:solidFill>
                  </a:rPr>
                  <a:t>(</a:t>
                </a:r>
                <a:r>
                  <a:rPr lang="ko-KR" altLang="en-US" sz="1000" dirty="0">
                    <a:solidFill>
                      <a:schemeClr val="tx1"/>
                    </a:solidFill>
                  </a:rPr>
                  <a:t>法</a:t>
                </a:r>
                <a:r>
                  <a:rPr lang="en-US" altLang="ko-KR" sz="1000" dirty="0">
                    <a:solidFill>
                      <a:schemeClr val="tx1"/>
                    </a:solidFill>
                  </a:rPr>
                  <a:t> 41, 106)</a:t>
                </a:r>
                <a:endParaRPr lang="ko-KR" altLang="en-US" sz="1000" dirty="0">
                  <a:solidFill>
                    <a:schemeClr val="tx1"/>
                  </a:solidFill>
                </a:endParaRPr>
              </a:p>
            </p:txBody>
          </p:sp>
          <p:sp>
            <p:nvSpPr>
              <p:cNvPr id="53" name="직사각형 52"/>
              <p:cNvSpPr/>
              <p:nvPr/>
            </p:nvSpPr>
            <p:spPr>
              <a:xfrm>
                <a:off x="9836379" y="3969271"/>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출원인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25, 33, 44)</a:t>
                </a:r>
                <a:endParaRPr lang="ko-KR" altLang="en-US" sz="1000" dirty="0">
                  <a:solidFill>
                    <a:schemeClr val="tx1"/>
                  </a:solidFill>
                </a:endParaRPr>
              </a:p>
            </p:txBody>
          </p:sp>
          <p:sp>
            <p:nvSpPr>
              <p:cNvPr id="54" name="직사각형 53"/>
              <p:cNvSpPr/>
              <p:nvPr/>
            </p:nvSpPr>
            <p:spPr>
              <a:xfrm>
                <a:off x="9836379" y="4160199"/>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특허를 받을 수 있는 권리</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37, 38)</a:t>
                </a:r>
                <a:endParaRPr lang="ko-KR" altLang="en-US" sz="1000" dirty="0">
                  <a:solidFill>
                    <a:schemeClr val="tx1"/>
                  </a:solidFill>
                </a:endParaRPr>
              </a:p>
            </p:txBody>
          </p:sp>
          <p:sp>
            <p:nvSpPr>
              <p:cNvPr id="55" name="직사각형 54"/>
              <p:cNvSpPr/>
              <p:nvPr/>
            </p:nvSpPr>
            <p:spPr>
              <a:xfrm>
                <a:off x="9836379" y="435867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직무발명</a:t>
                </a:r>
                <a:r>
                  <a:rPr lang="en-US" altLang="ko-KR" sz="1000" dirty="0">
                    <a:solidFill>
                      <a:schemeClr val="tx1"/>
                    </a:solidFill>
                  </a:rPr>
                  <a:t>(</a:t>
                </a:r>
                <a:r>
                  <a:rPr lang="ko-KR" altLang="en-US" sz="1000" dirty="0" err="1">
                    <a:solidFill>
                      <a:schemeClr val="tx1"/>
                    </a:solidFill>
                  </a:rPr>
                  <a:t>발진법</a:t>
                </a:r>
                <a:r>
                  <a:rPr lang="ko-KR" altLang="en-US" sz="1000" dirty="0">
                    <a:solidFill>
                      <a:schemeClr val="tx1"/>
                    </a:solidFill>
                  </a:rPr>
                  <a:t> </a:t>
                </a:r>
                <a:r>
                  <a:rPr lang="en-US" altLang="ko-KR" sz="1000" dirty="0">
                    <a:solidFill>
                      <a:schemeClr val="tx1"/>
                    </a:solidFill>
                  </a:rPr>
                  <a:t>2, 10~19, 58)</a:t>
                </a:r>
                <a:endParaRPr lang="ko-KR" altLang="en-US" sz="1000" dirty="0">
                  <a:solidFill>
                    <a:schemeClr val="tx1"/>
                  </a:solidFill>
                </a:endParaRPr>
              </a:p>
            </p:txBody>
          </p:sp>
          <p:sp>
            <p:nvSpPr>
              <p:cNvPr id="56" name="직사각형 55"/>
              <p:cNvSpPr/>
              <p:nvPr/>
            </p:nvSpPr>
            <p:spPr>
              <a:xfrm>
                <a:off x="9836379" y="4558495"/>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특허출원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42~42</a:t>
                </a:r>
                <a:r>
                  <a:rPr lang="ko-KR" altLang="en-US" sz="1000" dirty="0">
                    <a:solidFill>
                      <a:schemeClr val="tx1"/>
                    </a:solidFill>
                  </a:rPr>
                  <a:t>의</a:t>
                </a:r>
                <a:r>
                  <a:rPr lang="en-US" altLang="ko-KR" sz="1000" dirty="0">
                    <a:solidFill>
                      <a:schemeClr val="tx1"/>
                    </a:solidFill>
                  </a:rPr>
                  <a:t>3, 43)</a:t>
                </a:r>
                <a:endParaRPr lang="ko-KR" altLang="en-US" sz="1000" dirty="0">
                  <a:solidFill>
                    <a:schemeClr val="tx1"/>
                  </a:solidFill>
                </a:endParaRPr>
              </a:p>
            </p:txBody>
          </p:sp>
          <p:sp>
            <p:nvSpPr>
              <p:cNvPr id="57" name="직사각형 56"/>
              <p:cNvSpPr/>
              <p:nvPr/>
            </p:nvSpPr>
            <p:spPr>
              <a:xfrm>
                <a:off x="9836379" y="477390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하나의 특허출원의 범위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45)</a:t>
                </a:r>
                <a:endParaRPr lang="ko-KR" altLang="en-US" sz="1000" dirty="0">
                  <a:solidFill>
                    <a:schemeClr val="tx1"/>
                  </a:solidFill>
                </a:endParaRPr>
              </a:p>
            </p:txBody>
          </p:sp>
        </p:grpSp>
        <p:cxnSp>
          <p:nvCxnSpPr>
            <p:cNvPr id="36" name="꺾인 연결선 35"/>
            <p:cNvCxnSpPr>
              <a:stCxn id="30" idx="3"/>
              <a:endCxn id="33" idx="1"/>
            </p:cNvCxnSpPr>
            <p:nvPr/>
          </p:nvCxnSpPr>
          <p:spPr>
            <a:xfrm flipV="1">
              <a:off x="4386104" y="1374002"/>
              <a:ext cx="160463" cy="70713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30" idx="3"/>
              <a:endCxn id="34" idx="1"/>
            </p:cNvCxnSpPr>
            <p:nvPr/>
          </p:nvCxnSpPr>
          <p:spPr>
            <a:xfrm>
              <a:off x="4386104" y="2081135"/>
              <a:ext cx="160464" cy="46607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30" idx="3"/>
              <a:endCxn id="31" idx="1"/>
            </p:cNvCxnSpPr>
            <p:nvPr/>
          </p:nvCxnSpPr>
          <p:spPr>
            <a:xfrm flipV="1">
              <a:off x="4386104" y="1774252"/>
              <a:ext cx="160463" cy="30688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30" idx="3"/>
              <a:endCxn id="32" idx="1"/>
            </p:cNvCxnSpPr>
            <p:nvPr/>
          </p:nvCxnSpPr>
          <p:spPr>
            <a:xfrm>
              <a:off x="4386104" y="2081135"/>
              <a:ext cx="160464" cy="7822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33" idx="3"/>
              <a:endCxn id="49" idx="1"/>
            </p:cNvCxnSpPr>
            <p:nvPr/>
          </p:nvCxnSpPr>
          <p:spPr>
            <a:xfrm flipV="1">
              <a:off x="5496870" y="1115076"/>
              <a:ext cx="216220" cy="2589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33" idx="3"/>
              <a:endCxn id="50" idx="1"/>
            </p:cNvCxnSpPr>
            <p:nvPr/>
          </p:nvCxnSpPr>
          <p:spPr>
            <a:xfrm flipV="1">
              <a:off x="5496870" y="1322938"/>
              <a:ext cx="216220" cy="5106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31" idx="3"/>
              <a:endCxn id="51" idx="1"/>
            </p:cNvCxnSpPr>
            <p:nvPr/>
          </p:nvCxnSpPr>
          <p:spPr>
            <a:xfrm flipV="1">
              <a:off x="5496870" y="1512146"/>
              <a:ext cx="216220" cy="26210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31" idx="3"/>
              <a:endCxn id="52" idx="1"/>
            </p:cNvCxnSpPr>
            <p:nvPr/>
          </p:nvCxnSpPr>
          <p:spPr>
            <a:xfrm flipV="1">
              <a:off x="5496870" y="1720008"/>
              <a:ext cx="216220" cy="5424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32" idx="3"/>
              <a:endCxn id="53" idx="1"/>
            </p:cNvCxnSpPr>
            <p:nvPr/>
          </p:nvCxnSpPr>
          <p:spPr>
            <a:xfrm flipV="1">
              <a:off x="5496870" y="1907077"/>
              <a:ext cx="216220" cy="25228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32" idx="3"/>
              <a:endCxn id="54" idx="1"/>
            </p:cNvCxnSpPr>
            <p:nvPr/>
          </p:nvCxnSpPr>
          <p:spPr>
            <a:xfrm flipV="1">
              <a:off x="5496870" y="2098005"/>
              <a:ext cx="216220" cy="613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32" idx="3"/>
              <a:endCxn id="55" idx="1"/>
            </p:cNvCxnSpPr>
            <p:nvPr/>
          </p:nvCxnSpPr>
          <p:spPr>
            <a:xfrm>
              <a:off x="5496870" y="2159362"/>
              <a:ext cx="216220" cy="13712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34" idx="3"/>
              <a:endCxn id="56" idx="1"/>
            </p:cNvCxnSpPr>
            <p:nvPr/>
          </p:nvCxnSpPr>
          <p:spPr>
            <a:xfrm flipV="1">
              <a:off x="5496870" y="2496301"/>
              <a:ext cx="216220" cy="5090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34" idx="3"/>
              <a:endCxn id="57" idx="1"/>
            </p:cNvCxnSpPr>
            <p:nvPr/>
          </p:nvCxnSpPr>
          <p:spPr>
            <a:xfrm>
              <a:off x="5496870" y="2547205"/>
              <a:ext cx="216220" cy="16450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9" name="직사각형 58"/>
          <p:cNvSpPr/>
          <p:nvPr/>
        </p:nvSpPr>
        <p:spPr>
          <a:xfrm>
            <a:off x="906097" y="4898289"/>
            <a:ext cx="472526" cy="503727"/>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이익</a:t>
            </a:r>
            <a:endParaRPr lang="en-US" altLang="ko-KR" sz="1200" dirty="0"/>
          </a:p>
          <a:p>
            <a:pPr algn="ctr"/>
            <a:r>
              <a:rPr lang="ko-KR" altLang="en-US" sz="1200" dirty="0"/>
              <a:t>제도</a:t>
            </a:r>
          </a:p>
        </p:txBody>
      </p:sp>
      <p:sp>
        <p:nvSpPr>
          <p:cNvPr id="72" name="직사각형 71"/>
          <p:cNvSpPr/>
          <p:nvPr/>
        </p:nvSpPr>
        <p:spPr>
          <a:xfrm>
            <a:off x="2487992" y="422619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err="1">
                <a:solidFill>
                  <a:schemeClr val="tx1"/>
                </a:solidFill>
              </a:rPr>
              <a:t>공지예외적용주장출원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30)</a:t>
            </a:r>
            <a:endParaRPr lang="ko-KR" altLang="en-US" sz="1000" dirty="0">
              <a:solidFill>
                <a:schemeClr val="tx1"/>
              </a:solidFill>
            </a:endParaRPr>
          </a:p>
        </p:txBody>
      </p:sp>
      <p:sp>
        <p:nvSpPr>
          <p:cNvPr id="73" name="직사각형 72"/>
          <p:cNvSpPr/>
          <p:nvPr/>
        </p:nvSpPr>
        <p:spPr>
          <a:xfrm>
            <a:off x="2487992" y="4599179"/>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정당한 권리자의 보호</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34, 35, 99</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74" name="직사각형 73"/>
          <p:cNvSpPr/>
          <p:nvPr/>
        </p:nvSpPr>
        <p:spPr>
          <a:xfrm>
            <a:off x="2487992" y="48704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보정</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46, 47, 51)</a:t>
            </a:r>
            <a:endParaRPr lang="ko-KR" altLang="en-US" sz="1000" dirty="0">
              <a:solidFill>
                <a:schemeClr val="tx1"/>
              </a:solidFill>
            </a:endParaRPr>
          </a:p>
        </p:txBody>
      </p:sp>
      <p:sp>
        <p:nvSpPr>
          <p:cNvPr id="75" name="직사각형 74"/>
          <p:cNvSpPr/>
          <p:nvPr/>
        </p:nvSpPr>
        <p:spPr>
          <a:xfrm>
            <a:off x="2487992" y="5446506"/>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분리출원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52</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76" name="직사각형 75"/>
          <p:cNvSpPr/>
          <p:nvPr/>
        </p:nvSpPr>
        <p:spPr>
          <a:xfrm>
            <a:off x="2487992" y="571777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변경출원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53)</a:t>
            </a:r>
            <a:endParaRPr lang="ko-KR" altLang="en-US" sz="1000" dirty="0">
              <a:solidFill>
                <a:schemeClr val="tx1"/>
              </a:solidFill>
            </a:endParaRPr>
          </a:p>
        </p:txBody>
      </p:sp>
      <p:sp>
        <p:nvSpPr>
          <p:cNvPr id="77" name="직사각형 76"/>
          <p:cNvSpPr/>
          <p:nvPr/>
        </p:nvSpPr>
        <p:spPr>
          <a:xfrm>
            <a:off x="2487992" y="60229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조약우선권주장출원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54)</a:t>
            </a:r>
            <a:endParaRPr lang="ko-KR" altLang="en-US" sz="1000" dirty="0">
              <a:solidFill>
                <a:schemeClr val="tx1"/>
              </a:solidFill>
            </a:endParaRPr>
          </a:p>
        </p:txBody>
      </p:sp>
      <p:sp>
        <p:nvSpPr>
          <p:cNvPr id="78" name="직사각형 77"/>
          <p:cNvSpPr/>
          <p:nvPr/>
        </p:nvSpPr>
        <p:spPr>
          <a:xfrm>
            <a:off x="2487992" y="6294208"/>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국내우선권주장출원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55, 56)</a:t>
            </a:r>
            <a:endParaRPr lang="ko-KR" altLang="en-US" sz="1000" dirty="0">
              <a:solidFill>
                <a:schemeClr val="tx1"/>
              </a:solidFill>
            </a:endParaRPr>
          </a:p>
        </p:txBody>
      </p:sp>
      <p:sp>
        <p:nvSpPr>
          <p:cNvPr id="61" name="직사각형 60"/>
          <p:cNvSpPr/>
          <p:nvPr/>
        </p:nvSpPr>
        <p:spPr>
          <a:xfrm>
            <a:off x="1519197" y="5145136"/>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출원일</a:t>
            </a:r>
            <a:endParaRPr lang="en-US" altLang="ko-KR" sz="1000" dirty="0">
              <a:solidFill>
                <a:schemeClr val="tx1"/>
              </a:solidFill>
            </a:endParaRPr>
          </a:p>
          <a:p>
            <a:pPr algn="ctr"/>
            <a:r>
              <a:rPr lang="ko-KR" altLang="en-US" sz="1000" dirty="0">
                <a:solidFill>
                  <a:schemeClr val="tx1"/>
                </a:solidFill>
              </a:rPr>
              <a:t>소급제도</a:t>
            </a:r>
          </a:p>
        </p:txBody>
      </p:sp>
      <p:sp>
        <p:nvSpPr>
          <p:cNvPr id="62" name="직사각형 61"/>
          <p:cNvSpPr/>
          <p:nvPr/>
        </p:nvSpPr>
        <p:spPr>
          <a:xfrm>
            <a:off x="1519197" y="6056851"/>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a:solidFill>
                  <a:schemeClr val="tx1"/>
                </a:solidFill>
              </a:rPr>
              <a:t>판단시점</a:t>
            </a:r>
            <a:endParaRPr lang="en-US" altLang="ko-KR" sz="1000" dirty="0">
              <a:solidFill>
                <a:schemeClr val="tx1"/>
              </a:solidFill>
            </a:endParaRPr>
          </a:p>
          <a:p>
            <a:pPr algn="ctr"/>
            <a:r>
              <a:rPr lang="ko-KR" altLang="en-US" sz="1000">
                <a:solidFill>
                  <a:schemeClr val="tx1"/>
                </a:solidFill>
              </a:rPr>
              <a:t>소급제도</a:t>
            </a:r>
            <a:endParaRPr lang="ko-KR" altLang="en-US" sz="1000" dirty="0">
              <a:solidFill>
                <a:schemeClr val="tx1"/>
              </a:solidFill>
            </a:endParaRPr>
          </a:p>
        </p:txBody>
      </p:sp>
      <p:cxnSp>
        <p:nvCxnSpPr>
          <p:cNvPr id="63" name="꺾인 연결선 62"/>
          <p:cNvCxnSpPr>
            <a:stCxn id="59" idx="3"/>
            <a:endCxn id="72" idx="1"/>
          </p:cNvCxnSpPr>
          <p:nvPr/>
        </p:nvCxnSpPr>
        <p:spPr>
          <a:xfrm flipV="1">
            <a:off x="1378623" y="4327915"/>
            <a:ext cx="1109369" cy="822238"/>
          </a:xfrm>
          <a:prstGeom prst="bentConnector3">
            <a:avLst>
              <a:gd name="adj1" fmla="val 6212"/>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꺾인 연결선 63"/>
          <p:cNvCxnSpPr>
            <a:stCxn id="59" idx="3"/>
            <a:endCxn id="62" idx="1"/>
          </p:cNvCxnSpPr>
          <p:nvPr/>
        </p:nvCxnSpPr>
        <p:spPr>
          <a:xfrm>
            <a:off x="1378623" y="5150153"/>
            <a:ext cx="140574" cy="1127101"/>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꺾인 연결선 64"/>
          <p:cNvCxnSpPr>
            <a:stCxn id="59" idx="3"/>
            <a:endCxn id="61" idx="1"/>
          </p:cNvCxnSpPr>
          <p:nvPr/>
        </p:nvCxnSpPr>
        <p:spPr>
          <a:xfrm>
            <a:off x="1378623" y="5150153"/>
            <a:ext cx="140574" cy="215386"/>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61" idx="3"/>
            <a:endCxn id="73" idx="1"/>
          </p:cNvCxnSpPr>
          <p:nvPr/>
        </p:nvCxnSpPr>
        <p:spPr>
          <a:xfrm flipV="1">
            <a:off x="2241819" y="4700903"/>
            <a:ext cx="246173" cy="66463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꺾인 연결선 66"/>
          <p:cNvCxnSpPr>
            <a:stCxn id="61" idx="3"/>
            <a:endCxn id="76" idx="1"/>
          </p:cNvCxnSpPr>
          <p:nvPr/>
        </p:nvCxnSpPr>
        <p:spPr>
          <a:xfrm>
            <a:off x="2241819" y="5365539"/>
            <a:ext cx="246173" cy="4539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꺾인 연결선 67"/>
          <p:cNvCxnSpPr>
            <a:stCxn id="61" idx="3"/>
            <a:endCxn id="74" idx="1"/>
          </p:cNvCxnSpPr>
          <p:nvPr/>
        </p:nvCxnSpPr>
        <p:spPr>
          <a:xfrm flipV="1">
            <a:off x="2241819" y="4972167"/>
            <a:ext cx="246173" cy="393371"/>
          </a:xfrm>
          <a:prstGeom prst="bentConnector3">
            <a:avLst>
              <a:gd name="adj1" fmla="val 50001"/>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꺾인 연결선 68"/>
          <p:cNvCxnSpPr>
            <a:stCxn id="61" idx="3"/>
            <a:endCxn id="75" idx="1"/>
          </p:cNvCxnSpPr>
          <p:nvPr/>
        </p:nvCxnSpPr>
        <p:spPr>
          <a:xfrm>
            <a:off x="2241819" y="5365539"/>
            <a:ext cx="246173" cy="1826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69"/>
          <p:cNvCxnSpPr>
            <a:cxnSpLocks/>
            <a:stCxn id="62" idx="3"/>
            <a:endCxn id="77" idx="1"/>
          </p:cNvCxnSpPr>
          <p:nvPr/>
        </p:nvCxnSpPr>
        <p:spPr>
          <a:xfrm flipV="1">
            <a:off x="2241819" y="6124667"/>
            <a:ext cx="246173" cy="15258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cxnSpLocks/>
            <a:stCxn id="62" idx="3"/>
            <a:endCxn id="78" idx="1"/>
          </p:cNvCxnSpPr>
          <p:nvPr/>
        </p:nvCxnSpPr>
        <p:spPr>
          <a:xfrm>
            <a:off x="2241819" y="6277254"/>
            <a:ext cx="246173" cy="11867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9" name="그룹 78"/>
          <p:cNvGrpSpPr/>
          <p:nvPr/>
        </p:nvGrpSpPr>
        <p:grpSpPr>
          <a:xfrm>
            <a:off x="7001934" y="4076201"/>
            <a:ext cx="3979312" cy="2368895"/>
            <a:chOff x="7340600" y="4076201"/>
            <a:chExt cx="3640645" cy="2368895"/>
          </a:xfrm>
        </p:grpSpPr>
        <p:sp>
          <p:nvSpPr>
            <p:cNvPr id="80" name="직사각형 79"/>
            <p:cNvSpPr/>
            <p:nvPr/>
          </p:nvSpPr>
          <p:spPr>
            <a:xfrm>
              <a:off x="7340600" y="5011587"/>
              <a:ext cx="448769" cy="399529"/>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dirty="0"/>
                <a:t>심사</a:t>
              </a:r>
              <a:endParaRPr lang="en-US" altLang="ko-KR" sz="1200" dirty="0"/>
            </a:p>
            <a:p>
              <a:pPr algn="ctr"/>
              <a:r>
                <a:rPr lang="en-US" altLang="ko-KR" sz="1200" dirty="0"/>
                <a:t>(</a:t>
              </a:r>
              <a:r>
                <a:rPr lang="ko-KR" altLang="en-US" sz="1200" dirty="0"/>
                <a:t>제도</a:t>
              </a:r>
              <a:r>
                <a:rPr lang="en-US" altLang="ko-KR" sz="1200" dirty="0"/>
                <a:t>)</a:t>
              </a:r>
              <a:endParaRPr lang="ko-KR" altLang="en-US" sz="1200" dirty="0"/>
            </a:p>
          </p:txBody>
        </p:sp>
        <p:grpSp>
          <p:nvGrpSpPr>
            <p:cNvPr id="81" name="그룹 80"/>
            <p:cNvGrpSpPr/>
            <p:nvPr/>
          </p:nvGrpSpPr>
          <p:grpSpPr>
            <a:xfrm>
              <a:off x="7967112" y="4305504"/>
              <a:ext cx="471444" cy="1770110"/>
              <a:chOff x="2707314" y="4441447"/>
              <a:chExt cx="786730" cy="1770110"/>
            </a:xfrm>
          </p:grpSpPr>
          <p:sp>
            <p:nvSpPr>
              <p:cNvPr id="108" name="직사각형 107"/>
              <p:cNvSpPr/>
              <p:nvPr/>
            </p:nvSpPr>
            <p:spPr>
              <a:xfrm>
                <a:off x="2707314" y="4441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주체</a:t>
                </a:r>
              </a:p>
            </p:txBody>
          </p:sp>
          <p:sp>
            <p:nvSpPr>
              <p:cNvPr id="109" name="직사각형 108"/>
              <p:cNvSpPr/>
              <p:nvPr/>
            </p:nvSpPr>
            <p:spPr>
              <a:xfrm>
                <a:off x="2707314" y="4839210"/>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청구</a:t>
                </a:r>
              </a:p>
            </p:txBody>
          </p:sp>
          <p:sp>
            <p:nvSpPr>
              <p:cNvPr id="110" name="직사각형 109"/>
              <p:cNvSpPr/>
              <p:nvPr/>
            </p:nvSpPr>
            <p:spPr>
              <a:xfrm>
                <a:off x="2707314" y="5258685"/>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진행</a:t>
                </a:r>
              </a:p>
            </p:txBody>
          </p:sp>
          <p:sp>
            <p:nvSpPr>
              <p:cNvPr id="111" name="직사각형 110"/>
              <p:cNvSpPr/>
              <p:nvPr/>
            </p:nvSpPr>
            <p:spPr>
              <a:xfrm>
                <a:off x="2707314" y="5656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종료</a:t>
                </a:r>
              </a:p>
            </p:txBody>
          </p:sp>
          <p:sp>
            <p:nvSpPr>
              <p:cNvPr id="112" name="직사각형 111"/>
              <p:cNvSpPr/>
              <p:nvPr/>
            </p:nvSpPr>
            <p:spPr>
              <a:xfrm>
                <a:off x="2707314" y="6036746"/>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관련</a:t>
                </a:r>
              </a:p>
            </p:txBody>
          </p:sp>
        </p:grpSp>
        <p:cxnSp>
          <p:nvCxnSpPr>
            <p:cNvPr id="82" name="꺾인 연결선 81"/>
            <p:cNvCxnSpPr>
              <a:stCxn id="80" idx="3"/>
              <a:endCxn id="108" idx="1"/>
            </p:cNvCxnSpPr>
            <p:nvPr/>
          </p:nvCxnSpPr>
          <p:spPr>
            <a:xfrm flipV="1">
              <a:off x="7789369" y="4392910"/>
              <a:ext cx="177743" cy="81844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꺾인 연결선 82"/>
            <p:cNvCxnSpPr>
              <a:stCxn id="80" idx="3"/>
              <a:endCxn id="112" idx="1"/>
            </p:cNvCxnSpPr>
            <p:nvPr/>
          </p:nvCxnSpPr>
          <p:spPr>
            <a:xfrm>
              <a:off x="7789369" y="5211352"/>
              <a:ext cx="177743" cy="77685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꺾인 연결선 83"/>
            <p:cNvCxnSpPr>
              <a:stCxn id="80" idx="3"/>
              <a:endCxn id="109" idx="1"/>
            </p:cNvCxnSpPr>
            <p:nvPr/>
          </p:nvCxnSpPr>
          <p:spPr>
            <a:xfrm flipV="1">
              <a:off x="7789369" y="4790673"/>
              <a:ext cx="177743" cy="42067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꺾인 연결선 84"/>
            <p:cNvCxnSpPr>
              <a:stCxn id="80" idx="3"/>
              <a:endCxn id="111" idx="1"/>
            </p:cNvCxnSpPr>
            <p:nvPr/>
          </p:nvCxnSpPr>
          <p:spPr>
            <a:xfrm>
              <a:off x="7789369" y="5211352"/>
              <a:ext cx="177743" cy="3965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80" idx="3"/>
              <a:endCxn id="110" idx="1"/>
            </p:cNvCxnSpPr>
            <p:nvPr/>
          </p:nvCxnSpPr>
          <p:spPr>
            <a:xfrm flipV="1">
              <a:off x="7789369" y="5210148"/>
              <a:ext cx="177743" cy="120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 name="그룹 86"/>
            <p:cNvGrpSpPr/>
            <p:nvPr/>
          </p:nvGrpSpPr>
          <p:grpSpPr>
            <a:xfrm>
              <a:off x="8563424" y="4076201"/>
              <a:ext cx="2417821" cy="2368895"/>
              <a:chOff x="3618912" y="4212144"/>
              <a:chExt cx="3438525" cy="2368895"/>
            </a:xfrm>
          </p:grpSpPr>
          <p:sp>
            <p:nvSpPr>
              <p:cNvPr id="98" name="직사각형 97"/>
              <p:cNvSpPr/>
              <p:nvPr/>
            </p:nvSpPr>
            <p:spPr>
              <a:xfrm>
                <a:off x="3618912" y="4212144"/>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57</a:t>
                </a:r>
                <a:r>
                  <a:rPr lang="en-US" altLang="ko-KR" sz="1000">
                    <a:solidFill>
                      <a:schemeClr val="tx1"/>
                    </a:solidFill>
                  </a:rPr>
                  <a:t>, 68)</a:t>
                </a:r>
                <a:endParaRPr lang="ko-KR" altLang="en-US" sz="1000" dirty="0">
                  <a:solidFill>
                    <a:schemeClr val="tx1"/>
                  </a:solidFill>
                </a:endParaRPr>
              </a:p>
            </p:txBody>
          </p:sp>
          <p:sp>
            <p:nvSpPr>
              <p:cNvPr id="99" name="직사각형 98"/>
              <p:cNvSpPr/>
              <p:nvPr/>
            </p:nvSpPr>
            <p:spPr>
              <a:xfrm>
                <a:off x="3618912" y="4435206"/>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전문기관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58, 58</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100" name="직사각형 99"/>
              <p:cNvSpPr/>
              <p:nvPr/>
            </p:nvSpPr>
            <p:spPr>
              <a:xfrm>
                <a:off x="3618912" y="547999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출원의 무효</a:t>
                </a:r>
                <a:r>
                  <a:rPr lang="en-US" altLang="ko-KR" sz="1000" dirty="0">
                    <a:solidFill>
                      <a:schemeClr val="tx1"/>
                    </a:solidFill>
                  </a:rPr>
                  <a:t>, </a:t>
                </a:r>
                <a:r>
                  <a:rPr lang="ko-KR" altLang="en-US" sz="1000" dirty="0">
                    <a:solidFill>
                      <a:schemeClr val="tx1"/>
                    </a:solidFill>
                  </a:rPr>
                  <a:t>취하</a:t>
                </a:r>
                <a:r>
                  <a:rPr lang="en-US" altLang="ko-KR" sz="1000" dirty="0">
                    <a:solidFill>
                      <a:schemeClr val="tx1"/>
                    </a:solidFill>
                  </a:rPr>
                  <a:t>, </a:t>
                </a:r>
                <a:r>
                  <a:rPr lang="ko-KR" altLang="en-US" sz="1000" dirty="0">
                    <a:solidFill>
                      <a:schemeClr val="tx1"/>
                    </a:solidFill>
                  </a:rPr>
                  <a:t>포기</a:t>
                </a:r>
                <a:r>
                  <a:rPr lang="en-US" altLang="ko-KR" sz="1000" dirty="0">
                    <a:solidFill>
                      <a:schemeClr val="tx1"/>
                    </a:solidFill>
                  </a:rPr>
                  <a:t>(</a:t>
                </a:r>
                <a:r>
                  <a:rPr lang="ko-KR" altLang="en-US" sz="1000" dirty="0">
                    <a:solidFill>
                      <a:schemeClr val="tx1"/>
                    </a:solidFill>
                  </a:rPr>
                  <a:t>제도</a:t>
                </a:r>
                <a:r>
                  <a:rPr lang="en-US" altLang="ko-KR" sz="1000" dirty="0">
                    <a:solidFill>
                      <a:schemeClr val="tx1"/>
                    </a:solidFill>
                  </a:rPr>
                  <a:t>)</a:t>
                </a:r>
                <a:endParaRPr lang="ko-KR" altLang="en-US" sz="1000" dirty="0">
                  <a:solidFill>
                    <a:schemeClr val="tx1"/>
                  </a:solidFill>
                </a:endParaRPr>
              </a:p>
            </p:txBody>
          </p:sp>
          <p:sp>
            <p:nvSpPr>
              <p:cNvPr id="101" name="직사각형 100"/>
              <p:cNvSpPr/>
              <p:nvPr/>
            </p:nvSpPr>
            <p:spPr>
              <a:xfrm>
                <a:off x="3618912" y="5703059"/>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특허여부결정</a:t>
                </a:r>
                <a:r>
                  <a:rPr lang="en-US" altLang="ko-KR" sz="1000" dirty="0">
                    <a:solidFill>
                      <a:schemeClr val="tx1"/>
                    </a:solidFill>
                  </a:rPr>
                  <a:t>(</a:t>
                </a:r>
                <a:r>
                  <a:rPr lang="ko-KR" altLang="en-US" sz="1000" dirty="0">
                    <a:solidFill>
                      <a:schemeClr val="tx1"/>
                    </a:solidFill>
                  </a:rPr>
                  <a:t>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62, 63, 66~67</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102" name="직사각형 101"/>
              <p:cNvSpPr/>
              <p:nvPr/>
            </p:nvSpPr>
            <p:spPr>
              <a:xfrm>
                <a:off x="3618912" y="466874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심사청구제도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59, 60)</a:t>
                </a:r>
                <a:endParaRPr lang="ko-KR" altLang="en-US" sz="1000" dirty="0">
                  <a:solidFill>
                    <a:schemeClr val="tx1"/>
                  </a:solidFill>
                </a:endParaRPr>
              </a:p>
            </p:txBody>
          </p:sp>
          <p:sp>
            <p:nvSpPr>
              <p:cNvPr id="103" name="직사각형 102"/>
              <p:cNvSpPr/>
              <p:nvPr/>
            </p:nvSpPr>
            <p:spPr>
              <a:xfrm>
                <a:off x="3618912" y="489180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우선심사제도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61)</a:t>
                </a:r>
                <a:endParaRPr lang="ko-KR" altLang="en-US" sz="1000" dirty="0">
                  <a:solidFill>
                    <a:schemeClr val="tx1"/>
                  </a:solidFill>
                </a:endParaRPr>
              </a:p>
            </p:txBody>
          </p:sp>
          <p:sp>
            <p:nvSpPr>
              <p:cNvPr id="104" name="직사각형 103"/>
              <p:cNvSpPr/>
              <p:nvPr/>
            </p:nvSpPr>
            <p:spPr>
              <a:xfrm>
                <a:off x="3618912" y="517897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심사의 진행</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62, 63, 63</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105" name="직사각형 104"/>
              <p:cNvSpPr/>
              <p:nvPr/>
            </p:nvSpPr>
            <p:spPr>
              <a:xfrm>
                <a:off x="3618912" y="5955831"/>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정보제공제도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63</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
            <p:nvSpPr>
              <p:cNvPr id="106" name="직사각형 105"/>
              <p:cNvSpPr/>
              <p:nvPr/>
            </p:nvSpPr>
            <p:spPr>
              <a:xfrm>
                <a:off x="3618912" y="617889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출원공개제도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64, 65)</a:t>
                </a:r>
                <a:endParaRPr lang="ko-KR" altLang="en-US" sz="1000" dirty="0">
                  <a:solidFill>
                    <a:schemeClr val="tx1"/>
                  </a:solidFill>
                </a:endParaRPr>
              </a:p>
            </p:txBody>
          </p:sp>
          <p:sp>
            <p:nvSpPr>
              <p:cNvPr id="107" name="직사각형 106"/>
              <p:cNvSpPr/>
              <p:nvPr/>
            </p:nvSpPr>
            <p:spPr>
              <a:xfrm>
                <a:off x="3618912" y="640622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err="1">
                    <a:solidFill>
                      <a:schemeClr val="tx1"/>
                    </a:solidFill>
                  </a:rPr>
                  <a:t>타절차와의</a:t>
                </a:r>
                <a:r>
                  <a:rPr lang="ko-KR" altLang="en-US" sz="1000" dirty="0">
                    <a:solidFill>
                      <a:schemeClr val="tx1"/>
                    </a:solidFill>
                  </a:rPr>
                  <a:t> 관계</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78)</a:t>
                </a:r>
                <a:endParaRPr lang="ko-KR" altLang="en-US" sz="1000" dirty="0">
                  <a:solidFill>
                    <a:schemeClr val="tx1"/>
                  </a:solidFill>
                </a:endParaRPr>
              </a:p>
            </p:txBody>
          </p:sp>
        </p:grpSp>
        <p:cxnSp>
          <p:nvCxnSpPr>
            <p:cNvPr id="88" name="꺾인 연결선 87"/>
            <p:cNvCxnSpPr>
              <a:stCxn id="108" idx="3"/>
              <a:endCxn id="98" idx="1"/>
            </p:cNvCxnSpPr>
            <p:nvPr/>
          </p:nvCxnSpPr>
          <p:spPr>
            <a:xfrm flipV="1">
              <a:off x="8438556" y="4163607"/>
              <a:ext cx="124868" cy="22930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꺾인 연결선 88"/>
            <p:cNvCxnSpPr>
              <a:stCxn id="108" idx="3"/>
              <a:endCxn id="99" idx="1"/>
            </p:cNvCxnSpPr>
            <p:nvPr/>
          </p:nvCxnSpPr>
          <p:spPr>
            <a:xfrm flipV="1">
              <a:off x="8438556" y="4386669"/>
              <a:ext cx="124868" cy="62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꺾인 연결선 89"/>
            <p:cNvCxnSpPr>
              <a:stCxn id="109" idx="3"/>
              <a:endCxn id="102" idx="1"/>
            </p:cNvCxnSpPr>
            <p:nvPr/>
          </p:nvCxnSpPr>
          <p:spPr>
            <a:xfrm flipV="1">
              <a:off x="8438556" y="4620206"/>
              <a:ext cx="124868" cy="1704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꺾인 연결선 90"/>
            <p:cNvCxnSpPr>
              <a:stCxn id="109" idx="3"/>
              <a:endCxn id="103" idx="1"/>
            </p:cNvCxnSpPr>
            <p:nvPr/>
          </p:nvCxnSpPr>
          <p:spPr>
            <a:xfrm>
              <a:off x="8438556" y="4790673"/>
              <a:ext cx="124868" cy="525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꺾인 연결선 91"/>
            <p:cNvCxnSpPr>
              <a:stCxn id="110" idx="3"/>
              <a:endCxn id="104" idx="1"/>
            </p:cNvCxnSpPr>
            <p:nvPr/>
          </p:nvCxnSpPr>
          <p:spPr>
            <a:xfrm flipV="1">
              <a:off x="8438556" y="5130438"/>
              <a:ext cx="124868" cy="797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꺾인 연결선 92"/>
            <p:cNvCxnSpPr>
              <a:stCxn id="111" idx="3"/>
              <a:endCxn id="100" idx="1"/>
            </p:cNvCxnSpPr>
            <p:nvPr/>
          </p:nvCxnSpPr>
          <p:spPr>
            <a:xfrm flipV="1">
              <a:off x="8438556" y="5431461"/>
              <a:ext cx="124868" cy="17644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꺾인 연결선 93"/>
            <p:cNvCxnSpPr>
              <a:stCxn id="111" idx="3"/>
              <a:endCxn id="101" idx="1"/>
            </p:cNvCxnSpPr>
            <p:nvPr/>
          </p:nvCxnSpPr>
          <p:spPr>
            <a:xfrm>
              <a:off x="8438556" y="5607910"/>
              <a:ext cx="124868" cy="466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꺾인 연결선 94"/>
            <p:cNvCxnSpPr>
              <a:stCxn id="112" idx="3"/>
              <a:endCxn id="105" idx="1"/>
            </p:cNvCxnSpPr>
            <p:nvPr/>
          </p:nvCxnSpPr>
          <p:spPr>
            <a:xfrm flipV="1">
              <a:off x="8438556" y="5907294"/>
              <a:ext cx="124868" cy="809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꺾인 연결선 95"/>
            <p:cNvCxnSpPr>
              <a:stCxn id="112" idx="3"/>
              <a:endCxn id="106" idx="1"/>
            </p:cNvCxnSpPr>
            <p:nvPr/>
          </p:nvCxnSpPr>
          <p:spPr>
            <a:xfrm>
              <a:off x="8438556" y="5988209"/>
              <a:ext cx="124868" cy="14214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꺾인 연결선 96"/>
            <p:cNvCxnSpPr>
              <a:stCxn id="112" idx="3"/>
              <a:endCxn id="107" idx="1"/>
            </p:cNvCxnSpPr>
            <p:nvPr/>
          </p:nvCxnSpPr>
          <p:spPr>
            <a:xfrm>
              <a:off x="8438556" y="5988209"/>
              <a:ext cx="124868" cy="36948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13" name="직사각형 112"/>
          <p:cNvSpPr/>
          <p:nvPr/>
        </p:nvSpPr>
        <p:spPr>
          <a:xfrm>
            <a:off x="5960556" y="3393490"/>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특허법</a:t>
            </a:r>
            <a:endParaRPr lang="en-US" altLang="ko-KR" dirty="0"/>
          </a:p>
          <a:p>
            <a:pPr algn="ctr"/>
            <a:r>
              <a:rPr lang="ko-KR" altLang="en-US" dirty="0"/>
              <a:t>체계도</a:t>
            </a:r>
          </a:p>
        </p:txBody>
      </p:sp>
      <p:sp>
        <p:nvSpPr>
          <p:cNvPr id="114" name="타원 113"/>
          <p:cNvSpPr/>
          <p:nvPr/>
        </p:nvSpPr>
        <p:spPr>
          <a:xfrm>
            <a:off x="880857" y="2219587"/>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115" name="타원 114"/>
          <p:cNvSpPr/>
          <p:nvPr/>
        </p:nvSpPr>
        <p:spPr>
          <a:xfrm>
            <a:off x="6163733" y="2366819"/>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116" name="타원 115"/>
          <p:cNvSpPr/>
          <p:nvPr/>
        </p:nvSpPr>
        <p:spPr>
          <a:xfrm>
            <a:off x="542670" y="5005703"/>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117" name="타원 116"/>
          <p:cNvSpPr/>
          <p:nvPr/>
        </p:nvSpPr>
        <p:spPr>
          <a:xfrm>
            <a:off x="6647019" y="5043860"/>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4</a:t>
            </a:r>
            <a:endParaRPr lang="ko-KR" altLang="en-US" dirty="0"/>
          </a:p>
        </p:txBody>
      </p:sp>
      <p:sp>
        <p:nvSpPr>
          <p:cNvPr id="118" name="자유형 117"/>
          <p:cNvSpPr/>
          <p:nvPr/>
        </p:nvSpPr>
        <p:spPr>
          <a:xfrm>
            <a:off x="1049867" y="2582332"/>
            <a:ext cx="4893733" cy="1423457"/>
          </a:xfrm>
          <a:custGeom>
            <a:avLst/>
            <a:gdLst>
              <a:gd name="connsiteX0" fmla="*/ 4893733 w 4893733"/>
              <a:gd name="connsiteY0" fmla="*/ 1295400 h 1295400"/>
              <a:gd name="connsiteX1" fmla="*/ 4893733 w 4893733"/>
              <a:gd name="connsiteY1" fmla="*/ 1295400 h 1295400"/>
              <a:gd name="connsiteX2" fmla="*/ 0 w 4893733"/>
              <a:gd name="connsiteY2" fmla="*/ 1295400 h 1295400"/>
              <a:gd name="connsiteX3" fmla="*/ 0 w 4893733"/>
              <a:gd name="connsiteY3" fmla="*/ 0 h 1295400"/>
            </a:gdLst>
            <a:ahLst/>
            <a:cxnLst>
              <a:cxn ang="0">
                <a:pos x="connsiteX0" y="connsiteY0"/>
              </a:cxn>
              <a:cxn ang="0">
                <a:pos x="connsiteX1" y="connsiteY1"/>
              </a:cxn>
              <a:cxn ang="0">
                <a:pos x="connsiteX2" y="connsiteY2"/>
              </a:cxn>
              <a:cxn ang="0">
                <a:pos x="connsiteX3" y="connsiteY3"/>
              </a:cxn>
            </a:cxnLst>
            <a:rect l="l" t="t" r="r" b="b"/>
            <a:pathLst>
              <a:path w="4893733" h="1295400">
                <a:moveTo>
                  <a:pt x="4893733" y="1295400"/>
                </a:moveTo>
                <a:lnTo>
                  <a:pt x="4893733" y="1295400"/>
                </a:lnTo>
                <a:lnTo>
                  <a:pt x="0" y="1295400"/>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19" name="자유형 118"/>
          <p:cNvSpPr/>
          <p:nvPr/>
        </p:nvSpPr>
        <p:spPr>
          <a:xfrm>
            <a:off x="718458" y="3993619"/>
            <a:ext cx="5233610" cy="997811"/>
          </a:xfrm>
          <a:custGeom>
            <a:avLst/>
            <a:gdLst>
              <a:gd name="connsiteX0" fmla="*/ 5215467 w 5215467"/>
              <a:gd name="connsiteY0" fmla="*/ 0 h 965200"/>
              <a:gd name="connsiteX1" fmla="*/ 0 w 5215467"/>
              <a:gd name="connsiteY1" fmla="*/ 0 h 965200"/>
              <a:gd name="connsiteX2" fmla="*/ 0 w 5215467"/>
              <a:gd name="connsiteY2" fmla="*/ 965200 h 965200"/>
            </a:gdLst>
            <a:ahLst/>
            <a:cxnLst>
              <a:cxn ang="0">
                <a:pos x="connsiteX0" y="connsiteY0"/>
              </a:cxn>
              <a:cxn ang="0">
                <a:pos x="connsiteX1" y="connsiteY1"/>
              </a:cxn>
              <a:cxn ang="0">
                <a:pos x="connsiteX2" y="connsiteY2"/>
              </a:cxn>
            </a:cxnLst>
            <a:rect l="l" t="t" r="r" b="b"/>
            <a:pathLst>
              <a:path w="5215467" h="965200">
                <a:moveTo>
                  <a:pt x="5215467" y="0"/>
                </a:moveTo>
                <a:lnTo>
                  <a:pt x="0" y="0"/>
                </a:lnTo>
                <a:lnTo>
                  <a:pt x="0" y="9652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0" name="자유형 119"/>
          <p:cNvSpPr/>
          <p:nvPr/>
        </p:nvSpPr>
        <p:spPr>
          <a:xfrm>
            <a:off x="6383867" y="2726267"/>
            <a:ext cx="0" cy="668866"/>
          </a:xfrm>
          <a:custGeom>
            <a:avLst/>
            <a:gdLst>
              <a:gd name="connsiteX0" fmla="*/ 0 w 0"/>
              <a:gd name="connsiteY0" fmla="*/ 668866 h 668866"/>
              <a:gd name="connsiteX1" fmla="*/ 0 w 0"/>
              <a:gd name="connsiteY1" fmla="*/ 0 h 668866"/>
            </a:gdLst>
            <a:ahLst/>
            <a:cxnLst>
              <a:cxn ang="0">
                <a:pos x="connsiteX0" y="connsiteY0"/>
              </a:cxn>
              <a:cxn ang="0">
                <a:pos x="connsiteX1" y="connsiteY1"/>
              </a:cxn>
            </a:cxnLst>
            <a:rect l="l" t="t" r="r" b="b"/>
            <a:pathLst>
              <a:path h="668866">
                <a:moveTo>
                  <a:pt x="0" y="668866"/>
                </a:move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cxnSp>
        <p:nvCxnSpPr>
          <p:cNvPr id="121" name="직선 연결선 120"/>
          <p:cNvCxnSpPr>
            <a:stCxn id="113" idx="2"/>
            <a:endCxn id="113" idx="2"/>
          </p:cNvCxnSpPr>
          <p:nvPr/>
        </p:nvCxnSpPr>
        <p:spPr>
          <a:xfrm>
            <a:off x="6417756" y="4307890"/>
            <a:ext cx="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2" name="자유형 121"/>
          <p:cNvSpPr/>
          <p:nvPr/>
        </p:nvSpPr>
        <p:spPr>
          <a:xfrm>
            <a:off x="6400800" y="4318000"/>
            <a:ext cx="262467" cy="897467"/>
          </a:xfrm>
          <a:custGeom>
            <a:avLst/>
            <a:gdLst>
              <a:gd name="connsiteX0" fmla="*/ 0 w 262467"/>
              <a:gd name="connsiteY0" fmla="*/ 0 h 897467"/>
              <a:gd name="connsiteX1" fmla="*/ 0 w 262467"/>
              <a:gd name="connsiteY1" fmla="*/ 0 h 897467"/>
              <a:gd name="connsiteX2" fmla="*/ 0 w 262467"/>
              <a:gd name="connsiteY2" fmla="*/ 897467 h 897467"/>
              <a:gd name="connsiteX3" fmla="*/ 262467 w 262467"/>
              <a:gd name="connsiteY3" fmla="*/ 897467 h 897467"/>
            </a:gdLst>
            <a:ahLst/>
            <a:cxnLst>
              <a:cxn ang="0">
                <a:pos x="connsiteX0" y="connsiteY0"/>
              </a:cxn>
              <a:cxn ang="0">
                <a:pos x="connsiteX1" y="connsiteY1"/>
              </a:cxn>
              <a:cxn ang="0">
                <a:pos x="connsiteX2" y="connsiteY2"/>
              </a:cxn>
              <a:cxn ang="0">
                <a:pos x="connsiteX3" y="connsiteY3"/>
              </a:cxn>
            </a:cxnLst>
            <a:rect l="l" t="t" r="r" b="b"/>
            <a:pathLst>
              <a:path w="262467" h="897467">
                <a:moveTo>
                  <a:pt x="0" y="0"/>
                </a:moveTo>
                <a:lnTo>
                  <a:pt x="0" y="0"/>
                </a:lnTo>
                <a:lnTo>
                  <a:pt x="0" y="897467"/>
                </a:lnTo>
                <a:lnTo>
                  <a:pt x="262467" y="897467"/>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125" name="직사각형 124">
            <a:extLst>
              <a:ext uri="{FF2B5EF4-FFF2-40B4-BE49-F238E27FC236}">
                <a16:creationId xmlns:a16="http://schemas.microsoft.com/office/drawing/2014/main" id="{9012F393-65ED-4311-A56D-1073EA0A0D99}"/>
              </a:ext>
            </a:extLst>
          </p:cNvPr>
          <p:cNvSpPr/>
          <p:nvPr/>
        </p:nvSpPr>
        <p:spPr>
          <a:xfrm>
            <a:off x="2487992" y="5160972"/>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ko-KR" altLang="en-US" sz="1000" dirty="0">
                <a:solidFill>
                  <a:schemeClr val="tx1"/>
                </a:solidFill>
              </a:rPr>
              <a:t>분할출원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52)</a:t>
            </a:r>
            <a:endParaRPr lang="ko-KR" altLang="en-US" sz="1000" dirty="0">
              <a:solidFill>
                <a:schemeClr val="tx1"/>
              </a:solidFill>
            </a:endParaRPr>
          </a:p>
        </p:txBody>
      </p:sp>
      <p:cxnSp>
        <p:nvCxnSpPr>
          <p:cNvPr id="127" name="꺾인 연결선 67">
            <a:extLst>
              <a:ext uri="{FF2B5EF4-FFF2-40B4-BE49-F238E27FC236}">
                <a16:creationId xmlns:a16="http://schemas.microsoft.com/office/drawing/2014/main" id="{E6B18D36-32CC-497B-A148-E8CED33A916F}"/>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꺾인 연결선 68">
            <a:extLst>
              <a:ext uri="{FF2B5EF4-FFF2-40B4-BE49-F238E27FC236}">
                <a16:creationId xmlns:a16="http://schemas.microsoft.com/office/drawing/2014/main" id="{15731FFB-002A-4D1A-B931-E4E3AE5EC565}"/>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6" name="직사각형 135">
            <a:extLst>
              <a:ext uri="{FF2B5EF4-FFF2-40B4-BE49-F238E27FC236}">
                <a16:creationId xmlns:a16="http://schemas.microsoft.com/office/drawing/2014/main" id="{88952097-4047-B4C7-1974-88AE224120C6}"/>
              </a:ext>
            </a:extLst>
          </p:cNvPr>
          <p:cNvSpPr/>
          <p:nvPr/>
        </p:nvSpPr>
        <p:spPr>
          <a:xfrm>
            <a:off x="2118397" y="36224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000" dirty="0" err="1">
                <a:solidFill>
                  <a:schemeClr val="tx1"/>
                </a:solidFill>
              </a:rPr>
              <a:t>보칙</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215-224</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spTree>
    <p:extLst>
      <p:ext uri="{BB962C8B-B14F-4D97-AF65-F5344CB8AC3E}">
        <p14:creationId xmlns:p14="http://schemas.microsoft.com/office/powerpoint/2010/main" val="3930070233"/>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4294967295"/>
          </p:nvPr>
        </p:nvSpPr>
        <p:spPr>
          <a:xfrm>
            <a:off x="11125200" y="0"/>
            <a:ext cx="1066800" cy="711200"/>
          </a:xfrm>
        </p:spPr>
        <p:txBody>
          <a:bodyPr/>
          <a:lstStyle/>
          <a:p>
            <a:r>
              <a:rPr lang="en-US" altLang="ko-KR"/>
              <a:t>430</a:t>
            </a:r>
            <a:endParaRPr lang="ko-KR" altLang="en-US" dirty="0"/>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124" name="직사각형 123"/>
          <p:cNvSpPr/>
          <p:nvPr/>
        </p:nvSpPr>
        <p:spPr>
          <a:xfrm>
            <a:off x="680604" y="2547021"/>
            <a:ext cx="545064" cy="552230"/>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algn="ctr"/>
            <a:r>
              <a:rPr lang="ko-KR" altLang="en-US" sz="1200"/>
              <a:t>특허권</a:t>
            </a:r>
            <a:endParaRPr lang="ko-KR" altLang="en-US" sz="1200" dirty="0"/>
          </a:p>
        </p:txBody>
      </p:sp>
      <p:sp>
        <p:nvSpPr>
          <p:cNvPr id="125" name="직사각형 124"/>
          <p:cNvSpPr/>
          <p:nvPr/>
        </p:nvSpPr>
        <p:spPr>
          <a:xfrm>
            <a:off x="1383335" y="123999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발생</a:t>
            </a:r>
          </a:p>
        </p:txBody>
      </p:sp>
      <p:sp>
        <p:nvSpPr>
          <p:cNvPr id="126" name="직사각형 125"/>
          <p:cNvSpPr/>
          <p:nvPr/>
        </p:nvSpPr>
        <p:spPr>
          <a:xfrm>
            <a:off x="1383335" y="1789781"/>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효력</a:t>
            </a:r>
          </a:p>
        </p:txBody>
      </p:sp>
      <p:sp>
        <p:nvSpPr>
          <p:cNvPr id="127" name="직사각형 126"/>
          <p:cNvSpPr/>
          <p:nvPr/>
        </p:nvSpPr>
        <p:spPr>
          <a:xfrm>
            <a:off x="1383335" y="2944739"/>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변동</a:t>
            </a:r>
          </a:p>
        </p:txBody>
      </p:sp>
      <p:sp>
        <p:nvSpPr>
          <p:cNvPr id="128" name="직사각형 127"/>
          <p:cNvSpPr/>
          <p:nvPr/>
        </p:nvSpPr>
        <p:spPr>
          <a:xfrm>
            <a:off x="1383335" y="366808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소멸</a:t>
            </a:r>
          </a:p>
        </p:txBody>
      </p:sp>
      <p:sp>
        <p:nvSpPr>
          <p:cNvPr id="129" name="직사각형 128"/>
          <p:cNvSpPr/>
          <p:nvPr/>
        </p:nvSpPr>
        <p:spPr>
          <a:xfrm>
            <a:off x="1383335" y="4175764"/>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1"/>
                </a:solidFill>
              </a:rPr>
              <a:t>관련</a:t>
            </a:r>
          </a:p>
        </p:txBody>
      </p:sp>
      <p:cxnSp>
        <p:nvCxnSpPr>
          <p:cNvPr id="130" name="꺾인 연결선 129"/>
          <p:cNvCxnSpPr>
            <a:stCxn id="124" idx="3"/>
            <a:endCxn id="125" idx="1"/>
          </p:cNvCxnSpPr>
          <p:nvPr/>
        </p:nvCxnSpPr>
        <p:spPr>
          <a:xfrm flipV="1">
            <a:off x="1225668" y="1360804"/>
            <a:ext cx="157667" cy="146233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꺾인 연결선 130"/>
          <p:cNvCxnSpPr>
            <a:stCxn id="124" idx="3"/>
            <a:endCxn id="129" idx="1"/>
          </p:cNvCxnSpPr>
          <p:nvPr/>
        </p:nvCxnSpPr>
        <p:spPr>
          <a:xfrm>
            <a:off x="1225668" y="2823136"/>
            <a:ext cx="157667" cy="147344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124" idx="3"/>
            <a:endCxn id="126" idx="1"/>
          </p:cNvCxnSpPr>
          <p:nvPr/>
        </p:nvCxnSpPr>
        <p:spPr>
          <a:xfrm flipV="1">
            <a:off x="1225668" y="1910593"/>
            <a:ext cx="157667" cy="9125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꺾인 연결선 132"/>
          <p:cNvCxnSpPr>
            <a:stCxn id="124" idx="3"/>
            <a:endCxn id="128" idx="1"/>
          </p:cNvCxnSpPr>
          <p:nvPr/>
        </p:nvCxnSpPr>
        <p:spPr>
          <a:xfrm>
            <a:off x="1225668" y="2823136"/>
            <a:ext cx="157667" cy="96575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stCxn id="124" idx="3"/>
            <a:endCxn id="127" idx="1"/>
          </p:cNvCxnSpPr>
          <p:nvPr/>
        </p:nvCxnSpPr>
        <p:spPr>
          <a:xfrm>
            <a:off x="1225668" y="2823136"/>
            <a:ext cx="157667" cy="2424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5" name="직사각형 134"/>
          <p:cNvSpPr/>
          <p:nvPr/>
        </p:nvSpPr>
        <p:spPr>
          <a:xfrm>
            <a:off x="1927293" y="1027643"/>
            <a:ext cx="1744315" cy="12863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특허료의 납부 등</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79~86)</a:t>
            </a:r>
            <a:endParaRPr lang="ko-KR" altLang="en-US" sz="1000" dirty="0">
              <a:solidFill>
                <a:schemeClr val="tx2"/>
              </a:solidFill>
            </a:endParaRPr>
          </a:p>
        </p:txBody>
      </p:sp>
      <p:sp>
        <p:nvSpPr>
          <p:cNvPr id="136" name="직사각형 135"/>
          <p:cNvSpPr/>
          <p:nvPr/>
        </p:nvSpPr>
        <p:spPr>
          <a:xfrm>
            <a:off x="1927294" y="1199840"/>
            <a:ext cx="1744314" cy="14679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설정등록 및 등록공고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87)</a:t>
            </a:r>
            <a:endParaRPr lang="ko-KR" altLang="en-US" sz="1000" dirty="0">
              <a:solidFill>
                <a:schemeClr val="tx2"/>
              </a:solidFill>
            </a:endParaRPr>
          </a:p>
        </p:txBody>
      </p:sp>
      <p:sp>
        <p:nvSpPr>
          <p:cNvPr id="137" name="직사각형 136"/>
          <p:cNvSpPr/>
          <p:nvPr/>
        </p:nvSpPr>
        <p:spPr>
          <a:xfrm>
            <a:off x="1927295" y="3385001"/>
            <a:ext cx="991185" cy="18765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질권</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121~123)</a:t>
            </a:r>
            <a:endParaRPr lang="ko-KR" altLang="en-US" sz="1000" dirty="0">
              <a:solidFill>
                <a:schemeClr val="tx2"/>
              </a:solidFill>
            </a:endParaRPr>
          </a:p>
        </p:txBody>
      </p:sp>
      <p:sp>
        <p:nvSpPr>
          <p:cNvPr id="138" name="직사각형 137"/>
          <p:cNvSpPr/>
          <p:nvPr/>
        </p:nvSpPr>
        <p:spPr>
          <a:xfrm>
            <a:off x="1931244" y="3908454"/>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효과</a:t>
            </a:r>
          </a:p>
        </p:txBody>
      </p:sp>
      <p:sp>
        <p:nvSpPr>
          <p:cNvPr id="139" name="직사각형 138"/>
          <p:cNvSpPr/>
          <p:nvPr/>
        </p:nvSpPr>
        <p:spPr>
          <a:xfrm>
            <a:off x="1927295" y="1600786"/>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범위</a:t>
            </a:r>
          </a:p>
        </p:txBody>
      </p:sp>
      <p:sp>
        <p:nvSpPr>
          <p:cNvPr id="140" name="직사각형 139"/>
          <p:cNvSpPr/>
          <p:nvPr/>
        </p:nvSpPr>
        <p:spPr>
          <a:xfrm>
            <a:off x="1927295" y="2235641"/>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내용</a:t>
            </a:r>
          </a:p>
        </p:txBody>
      </p:sp>
      <p:sp>
        <p:nvSpPr>
          <p:cNvPr id="141" name="직사각형 140"/>
          <p:cNvSpPr/>
          <p:nvPr/>
        </p:nvSpPr>
        <p:spPr>
          <a:xfrm>
            <a:off x="1927295" y="3187241"/>
            <a:ext cx="99118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fontAlgn="base"/>
            <a:r>
              <a:rPr lang="ko-KR" altLang="en-US" sz="1000" dirty="0" err="1">
                <a:solidFill>
                  <a:schemeClr val="tx2"/>
                </a:solidFill>
              </a:rPr>
              <a:t>실시권</a:t>
            </a:r>
            <a:endParaRPr lang="ko-KR" altLang="en-US" sz="1000" dirty="0">
              <a:solidFill>
                <a:schemeClr val="tx2"/>
              </a:solidFill>
            </a:endParaRPr>
          </a:p>
        </p:txBody>
      </p:sp>
      <p:sp>
        <p:nvSpPr>
          <p:cNvPr id="142" name="직사각형 141"/>
          <p:cNvSpPr/>
          <p:nvPr/>
        </p:nvSpPr>
        <p:spPr>
          <a:xfrm>
            <a:off x="1926619" y="4143059"/>
            <a:ext cx="1355344" cy="15351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실시보고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125)</a:t>
            </a:r>
            <a:endParaRPr lang="ko-KR" altLang="en-US" sz="1000" dirty="0">
              <a:solidFill>
                <a:schemeClr val="tx2"/>
              </a:solidFill>
            </a:endParaRPr>
          </a:p>
        </p:txBody>
      </p:sp>
      <p:sp>
        <p:nvSpPr>
          <p:cNvPr id="143" name="직사각형 142"/>
          <p:cNvSpPr/>
          <p:nvPr/>
        </p:nvSpPr>
        <p:spPr>
          <a:xfrm>
            <a:off x="1926619" y="4320845"/>
            <a:ext cx="1355344" cy="13417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집행권원</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125</a:t>
            </a:r>
            <a:r>
              <a:rPr lang="ko-KR" altLang="en-US" sz="1000" dirty="0">
                <a:solidFill>
                  <a:schemeClr val="tx2"/>
                </a:solidFill>
              </a:rPr>
              <a:t>의</a:t>
            </a:r>
            <a:r>
              <a:rPr lang="en-US" altLang="ko-KR" sz="1000" dirty="0">
                <a:solidFill>
                  <a:schemeClr val="tx2"/>
                </a:solidFill>
              </a:rPr>
              <a:t>2)</a:t>
            </a:r>
            <a:endParaRPr lang="ko-KR" altLang="en-US" sz="1000" dirty="0">
              <a:solidFill>
                <a:schemeClr val="tx2"/>
              </a:solidFill>
            </a:endParaRPr>
          </a:p>
        </p:txBody>
      </p:sp>
      <p:cxnSp>
        <p:nvCxnSpPr>
          <p:cNvPr id="144" name="꺾인 연결선 143"/>
          <p:cNvCxnSpPr>
            <a:stCxn id="125" idx="3"/>
            <a:endCxn id="135" idx="1"/>
          </p:cNvCxnSpPr>
          <p:nvPr/>
        </p:nvCxnSpPr>
        <p:spPr>
          <a:xfrm flipV="1">
            <a:off x="1774346" y="1091961"/>
            <a:ext cx="152947" cy="26884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꺾인 연결선 144"/>
          <p:cNvCxnSpPr>
            <a:stCxn id="125" idx="3"/>
            <a:endCxn id="136" idx="1"/>
          </p:cNvCxnSpPr>
          <p:nvPr/>
        </p:nvCxnSpPr>
        <p:spPr>
          <a:xfrm flipV="1">
            <a:off x="1774346" y="1273240"/>
            <a:ext cx="152948" cy="875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꺾인 연결선 145"/>
          <p:cNvCxnSpPr>
            <a:stCxn id="126" idx="3"/>
            <a:endCxn id="139" idx="1"/>
          </p:cNvCxnSpPr>
          <p:nvPr/>
        </p:nvCxnSpPr>
        <p:spPr>
          <a:xfrm flipV="1">
            <a:off x="1774346" y="1680091"/>
            <a:ext cx="152949" cy="2305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꺾인 연결선 146"/>
          <p:cNvCxnSpPr>
            <a:stCxn id="126" idx="3"/>
            <a:endCxn id="140" idx="1"/>
          </p:cNvCxnSpPr>
          <p:nvPr/>
        </p:nvCxnSpPr>
        <p:spPr>
          <a:xfrm>
            <a:off x="1774346" y="1910593"/>
            <a:ext cx="152949" cy="4043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꺾인 연결선 147"/>
          <p:cNvCxnSpPr>
            <a:stCxn id="127" idx="3"/>
            <a:endCxn id="141" idx="1"/>
          </p:cNvCxnSpPr>
          <p:nvPr/>
        </p:nvCxnSpPr>
        <p:spPr>
          <a:xfrm>
            <a:off x="1774346" y="3065551"/>
            <a:ext cx="152949" cy="2009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꺾인 연결선 148"/>
          <p:cNvCxnSpPr>
            <a:stCxn id="128" idx="3"/>
            <a:endCxn id="138" idx="1"/>
          </p:cNvCxnSpPr>
          <p:nvPr/>
        </p:nvCxnSpPr>
        <p:spPr>
          <a:xfrm>
            <a:off x="1774346" y="3788895"/>
            <a:ext cx="156898" cy="1988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꺾인 연결선 149"/>
          <p:cNvCxnSpPr>
            <a:stCxn id="129" idx="3"/>
            <a:endCxn id="142" idx="1"/>
          </p:cNvCxnSpPr>
          <p:nvPr/>
        </p:nvCxnSpPr>
        <p:spPr>
          <a:xfrm flipV="1">
            <a:off x="1774346" y="4219817"/>
            <a:ext cx="152273" cy="767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1" name="꺾인 연결선 150"/>
          <p:cNvCxnSpPr>
            <a:stCxn id="129" idx="3"/>
            <a:endCxn id="143" idx="1"/>
          </p:cNvCxnSpPr>
          <p:nvPr/>
        </p:nvCxnSpPr>
        <p:spPr>
          <a:xfrm>
            <a:off x="1774346" y="4296575"/>
            <a:ext cx="152273" cy="913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2" name="직사각형 151"/>
          <p:cNvSpPr/>
          <p:nvPr/>
        </p:nvSpPr>
        <p:spPr>
          <a:xfrm>
            <a:off x="2490834" y="1502332"/>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시간적</a:t>
            </a:r>
          </a:p>
        </p:txBody>
      </p:sp>
      <p:sp>
        <p:nvSpPr>
          <p:cNvPr id="153" name="직사각형 152"/>
          <p:cNvSpPr/>
          <p:nvPr/>
        </p:nvSpPr>
        <p:spPr>
          <a:xfrm>
            <a:off x="2490834" y="1753955"/>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내용적</a:t>
            </a:r>
          </a:p>
        </p:txBody>
      </p:sp>
      <p:sp>
        <p:nvSpPr>
          <p:cNvPr id="154" name="직사각형 153"/>
          <p:cNvSpPr/>
          <p:nvPr/>
        </p:nvSpPr>
        <p:spPr>
          <a:xfrm>
            <a:off x="2490834" y="1966576"/>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지역적</a:t>
            </a:r>
          </a:p>
        </p:txBody>
      </p:sp>
      <p:sp>
        <p:nvSpPr>
          <p:cNvPr id="155" name="직사각형 154"/>
          <p:cNvSpPr/>
          <p:nvPr/>
        </p:nvSpPr>
        <p:spPr>
          <a:xfrm>
            <a:off x="3028012" y="1406769"/>
            <a:ext cx="1665788"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존속기간</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88)</a:t>
            </a:r>
            <a:endParaRPr lang="ko-KR" altLang="en-US" sz="1000" dirty="0">
              <a:solidFill>
                <a:schemeClr val="tx2"/>
              </a:solidFill>
            </a:endParaRPr>
          </a:p>
        </p:txBody>
      </p:sp>
      <p:sp>
        <p:nvSpPr>
          <p:cNvPr id="156" name="직사각형 155"/>
          <p:cNvSpPr/>
          <p:nvPr/>
        </p:nvSpPr>
        <p:spPr>
          <a:xfrm>
            <a:off x="3028012" y="1577847"/>
            <a:ext cx="1665790" cy="149257"/>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존속기간의 연장</a:t>
            </a:r>
            <a:r>
              <a:rPr lang="en-US" altLang="ko-KR" sz="800" dirty="0">
                <a:solidFill>
                  <a:schemeClr val="tx2"/>
                </a:solidFill>
              </a:rPr>
              <a:t>(</a:t>
            </a:r>
            <a:r>
              <a:rPr lang="ko-KR" altLang="en-US" sz="800" dirty="0">
                <a:solidFill>
                  <a:schemeClr val="tx2"/>
                </a:solidFill>
              </a:rPr>
              <a:t>法 </a:t>
            </a:r>
            <a:r>
              <a:rPr lang="en-US" altLang="ko-KR" sz="800" dirty="0">
                <a:solidFill>
                  <a:schemeClr val="tx2"/>
                </a:solidFill>
              </a:rPr>
              <a:t>89~93, 95)</a:t>
            </a:r>
            <a:endParaRPr lang="ko-KR" altLang="en-US" sz="800" dirty="0">
              <a:solidFill>
                <a:schemeClr val="tx2"/>
              </a:solidFill>
            </a:endParaRPr>
          </a:p>
        </p:txBody>
      </p:sp>
      <p:sp>
        <p:nvSpPr>
          <p:cNvPr id="157" name="직사각형 156"/>
          <p:cNvSpPr/>
          <p:nvPr/>
        </p:nvSpPr>
        <p:spPr>
          <a:xfrm>
            <a:off x="3028012" y="1745004"/>
            <a:ext cx="1665788" cy="18577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청구범위</a:t>
            </a:r>
          </a:p>
        </p:txBody>
      </p:sp>
      <p:sp>
        <p:nvSpPr>
          <p:cNvPr id="158" name="직사각형 157"/>
          <p:cNvSpPr/>
          <p:nvPr/>
        </p:nvSpPr>
        <p:spPr>
          <a:xfrm>
            <a:off x="3028011" y="1966575"/>
            <a:ext cx="1665789" cy="15861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속지주의</a:t>
            </a:r>
          </a:p>
        </p:txBody>
      </p:sp>
      <p:sp>
        <p:nvSpPr>
          <p:cNvPr id="159" name="직사각형 158"/>
          <p:cNvSpPr/>
          <p:nvPr/>
        </p:nvSpPr>
        <p:spPr>
          <a:xfrm>
            <a:off x="2500115" y="2247804"/>
            <a:ext cx="41836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의의</a:t>
            </a:r>
          </a:p>
        </p:txBody>
      </p:sp>
      <p:sp>
        <p:nvSpPr>
          <p:cNvPr id="160" name="직사각형 159"/>
          <p:cNvSpPr/>
          <p:nvPr/>
        </p:nvSpPr>
        <p:spPr>
          <a:xfrm>
            <a:off x="2500114" y="2523982"/>
            <a:ext cx="2193687" cy="16340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제한</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81</a:t>
            </a:r>
            <a:r>
              <a:rPr lang="ko-KR" altLang="en-US" sz="1000" dirty="0">
                <a:solidFill>
                  <a:schemeClr val="tx2"/>
                </a:solidFill>
              </a:rPr>
              <a:t>의</a:t>
            </a:r>
            <a:r>
              <a:rPr lang="en-US" altLang="ko-KR" sz="1000" dirty="0">
                <a:solidFill>
                  <a:schemeClr val="tx2"/>
                </a:solidFill>
              </a:rPr>
              <a:t>3④, 96, 181/98)</a:t>
            </a:r>
            <a:endParaRPr lang="ko-KR" altLang="en-US" sz="1000" dirty="0">
              <a:solidFill>
                <a:schemeClr val="tx2"/>
              </a:solidFill>
            </a:endParaRPr>
          </a:p>
        </p:txBody>
      </p:sp>
      <p:sp>
        <p:nvSpPr>
          <p:cNvPr id="161" name="직사각형 160"/>
          <p:cNvSpPr/>
          <p:nvPr/>
        </p:nvSpPr>
        <p:spPr>
          <a:xfrm>
            <a:off x="2500114" y="2714241"/>
            <a:ext cx="2193687"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확장</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127)</a:t>
            </a:r>
            <a:endParaRPr lang="ko-KR" altLang="en-US" sz="1000" dirty="0">
              <a:solidFill>
                <a:schemeClr val="tx2"/>
              </a:solidFill>
            </a:endParaRPr>
          </a:p>
        </p:txBody>
      </p:sp>
      <p:sp>
        <p:nvSpPr>
          <p:cNvPr id="162" name="직사각형 161"/>
          <p:cNvSpPr/>
          <p:nvPr/>
        </p:nvSpPr>
        <p:spPr>
          <a:xfrm>
            <a:off x="1927295" y="2927413"/>
            <a:ext cx="1564240" cy="19388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이전 및 공유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99, 99</a:t>
            </a:r>
            <a:r>
              <a:rPr lang="ko-KR" altLang="en-US" sz="1000" dirty="0">
                <a:solidFill>
                  <a:schemeClr val="tx2"/>
                </a:solidFill>
              </a:rPr>
              <a:t>의</a:t>
            </a:r>
            <a:r>
              <a:rPr lang="en-US" altLang="ko-KR" sz="1000" dirty="0">
                <a:solidFill>
                  <a:schemeClr val="tx2"/>
                </a:solidFill>
              </a:rPr>
              <a:t>2)</a:t>
            </a:r>
            <a:endParaRPr lang="ko-KR" altLang="en-US" sz="1000" dirty="0">
              <a:solidFill>
                <a:schemeClr val="tx2"/>
              </a:solidFill>
            </a:endParaRPr>
          </a:p>
        </p:txBody>
      </p:sp>
      <p:sp>
        <p:nvSpPr>
          <p:cNvPr id="163" name="직사각형 162"/>
          <p:cNvSpPr/>
          <p:nvPr/>
        </p:nvSpPr>
        <p:spPr>
          <a:xfrm>
            <a:off x="3109057" y="3518950"/>
            <a:ext cx="2829345" cy="133282"/>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강제실시권</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106</a:t>
            </a:r>
            <a:r>
              <a:rPr lang="ko-KR" altLang="en-US" sz="1000" dirty="0">
                <a:solidFill>
                  <a:schemeClr val="tx2"/>
                </a:solidFill>
              </a:rPr>
              <a:t>의</a:t>
            </a:r>
            <a:r>
              <a:rPr lang="en-US" altLang="ko-KR" sz="1000" dirty="0">
                <a:solidFill>
                  <a:schemeClr val="tx2"/>
                </a:solidFill>
              </a:rPr>
              <a:t>2, 107~115, 138)</a:t>
            </a:r>
            <a:endParaRPr lang="ko-KR" altLang="en-US" sz="1000" dirty="0">
              <a:solidFill>
                <a:schemeClr val="tx2"/>
              </a:solidFill>
            </a:endParaRPr>
          </a:p>
        </p:txBody>
      </p:sp>
      <p:sp>
        <p:nvSpPr>
          <p:cNvPr id="164" name="직사각형 163"/>
          <p:cNvSpPr/>
          <p:nvPr/>
        </p:nvSpPr>
        <p:spPr>
          <a:xfrm>
            <a:off x="3109057" y="3339094"/>
            <a:ext cx="2829345" cy="13973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err="1">
                <a:solidFill>
                  <a:schemeClr val="tx2"/>
                </a:solidFill>
              </a:rPr>
              <a:t>법정실시권</a:t>
            </a:r>
            <a:r>
              <a:rPr lang="en-US" altLang="ko-KR" sz="800" dirty="0">
                <a:solidFill>
                  <a:schemeClr val="tx2"/>
                </a:solidFill>
              </a:rPr>
              <a:t>(</a:t>
            </a:r>
            <a:r>
              <a:rPr lang="ko-KR" altLang="en-US" sz="800" dirty="0">
                <a:solidFill>
                  <a:schemeClr val="tx2"/>
                </a:solidFill>
              </a:rPr>
              <a:t>法 </a:t>
            </a:r>
            <a:r>
              <a:rPr lang="en-US" altLang="ko-KR" sz="800" dirty="0">
                <a:solidFill>
                  <a:schemeClr val="tx2"/>
                </a:solidFill>
              </a:rPr>
              <a:t>81</a:t>
            </a:r>
            <a:r>
              <a:rPr lang="ko-KR" altLang="en-US" sz="800" dirty="0">
                <a:solidFill>
                  <a:schemeClr val="tx2"/>
                </a:solidFill>
              </a:rPr>
              <a:t>의</a:t>
            </a:r>
            <a:r>
              <a:rPr lang="en-US" altLang="ko-KR" sz="800" dirty="0">
                <a:solidFill>
                  <a:schemeClr val="tx2"/>
                </a:solidFill>
              </a:rPr>
              <a:t>3, 103~105, 122, 182,183, </a:t>
            </a:r>
            <a:r>
              <a:rPr lang="ko-KR" altLang="en-US" sz="800" dirty="0" err="1">
                <a:solidFill>
                  <a:schemeClr val="tx2"/>
                </a:solidFill>
              </a:rPr>
              <a:t>발진법</a:t>
            </a:r>
            <a:r>
              <a:rPr lang="en-US" altLang="ko-KR" sz="800" dirty="0">
                <a:solidFill>
                  <a:schemeClr val="tx2"/>
                </a:solidFill>
              </a:rPr>
              <a:t>10</a:t>
            </a:r>
            <a:r>
              <a:rPr lang="ko-KR" altLang="en-US" sz="800" dirty="0">
                <a:solidFill>
                  <a:schemeClr val="tx2"/>
                </a:solidFill>
              </a:rPr>
              <a:t>①</a:t>
            </a:r>
            <a:r>
              <a:rPr lang="en-US" altLang="ko-KR" sz="800" dirty="0">
                <a:solidFill>
                  <a:schemeClr val="tx2"/>
                </a:solidFill>
              </a:rPr>
              <a:t>)</a:t>
            </a:r>
            <a:endParaRPr lang="ko-KR" altLang="en-US" sz="800" dirty="0">
              <a:solidFill>
                <a:schemeClr val="tx2"/>
              </a:solidFill>
            </a:endParaRPr>
          </a:p>
        </p:txBody>
      </p:sp>
      <p:sp>
        <p:nvSpPr>
          <p:cNvPr id="165" name="직사각형 164"/>
          <p:cNvSpPr/>
          <p:nvPr/>
        </p:nvSpPr>
        <p:spPr>
          <a:xfrm>
            <a:off x="3109057" y="3151440"/>
            <a:ext cx="2829345"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일반론</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100~102, 118)</a:t>
            </a:r>
            <a:endParaRPr lang="ko-KR" altLang="en-US" sz="1000" dirty="0">
              <a:solidFill>
                <a:schemeClr val="tx2"/>
              </a:solidFill>
            </a:endParaRPr>
          </a:p>
        </p:txBody>
      </p:sp>
      <p:sp>
        <p:nvSpPr>
          <p:cNvPr id="166" name="직사각형 165"/>
          <p:cNvSpPr/>
          <p:nvPr/>
        </p:nvSpPr>
        <p:spPr>
          <a:xfrm>
            <a:off x="1931244" y="3709590"/>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a:r>
              <a:rPr lang="ko-KR" altLang="en-US" sz="1000" dirty="0">
                <a:solidFill>
                  <a:schemeClr val="tx2"/>
                </a:solidFill>
              </a:rPr>
              <a:t>원인</a:t>
            </a:r>
          </a:p>
        </p:txBody>
      </p:sp>
      <p:sp>
        <p:nvSpPr>
          <p:cNvPr id="167" name="직사각형 166"/>
          <p:cNvSpPr/>
          <p:nvPr/>
        </p:nvSpPr>
        <p:spPr>
          <a:xfrm>
            <a:off x="2426794" y="3883877"/>
            <a:ext cx="1721991" cy="20938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장래소멸</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119, 120, 124)</a:t>
            </a:r>
            <a:endParaRPr lang="ko-KR" altLang="en-US" sz="1000" dirty="0">
              <a:solidFill>
                <a:schemeClr val="tx2"/>
              </a:solidFill>
            </a:endParaRPr>
          </a:p>
        </p:txBody>
      </p:sp>
      <p:sp>
        <p:nvSpPr>
          <p:cNvPr id="168" name="직사각형 167"/>
          <p:cNvSpPr/>
          <p:nvPr/>
        </p:nvSpPr>
        <p:spPr>
          <a:xfrm>
            <a:off x="2426794" y="3698412"/>
            <a:ext cx="1721991"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fontAlgn="base"/>
            <a:r>
              <a:rPr lang="ko-KR" altLang="en-US" sz="1000" dirty="0">
                <a:solidFill>
                  <a:schemeClr val="tx2"/>
                </a:solidFill>
              </a:rPr>
              <a:t>소급소멸</a:t>
            </a:r>
          </a:p>
        </p:txBody>
      </p:sp>
      <p:cxnSp>
        <p:nvCxnSpPr>
          <p:cNvPr id="169" name="꺾인 연결선 168"/>
          <p:cNvCxnSpPr>
            <a:stCxn id="139" idx="3"/>
            <a:endCxn id="152" idx="1"/>
          </p:cNvCxnSpPr>
          <p:nvPr/>
        </p:nvCxnSpPr>
        <p:spPr>
          <a:xfrm flipV="1">
            <a:off x="2314769" y="1581638"/>
            <a:ext cx="176065" cy="984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꺾인 연결선 169"/>
          <p:cNvCxnSpPr>
            <a:stCxn id="139" idx="3"/>
            <a:endCxn id="153" idx="1"/>
          </p:cNvCxnSpPr>
          <p:nvPr/>
        </p:nvCxnSpPr>
        <p:spPr>
          <a:xfrm>
            <a:off x="2314769" y="1680091"/>
            <a:ext cx="176065" cy="15316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꺾인 연결선 170"/>
          <p:cNvCxnSpPr>
            <a:stCxn id="139" idx="3"/>
            <a:endCxn id="154" idx="1"/>
          </p:cNvCxnSpPr>
          <p:nvPr/>
        </p:nvCxnSpPr>
        <p:spPr>
          <a:xfrm>
            <a:off x="2314769" y="1680091"/>
            <a:ext cx="176065" cy="36579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꺾인 연결선 171"/>
          <p:cNvCxnSpPr>
            <a:stCxn id="152" idx="3"/>
            <a:endCxn id="155" idx="1"/>
          </p:cNvCxnSpPr>
          <p:nvPr/>
        </p:nvCxnSpPr>
        <p:spPr>
          <a:xfrm flipV="1">
            <a:off x="2918481" y="1486075"/>
            <a:ext cx="109531" cy="9556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꺾인 연결선 172"/>
          <p:cNvCxnSpPr>
            <a:stCxn id="152" idx="3"/>
            <a:endCxn id="156" idx="1"/>
          </p:cNvCxnSpPr>
          <p:nvPr/>
        </p:nvCxnSpPr>
        <p:spPr>
          <a:xfrm>
            <a:off x="2918481" y="1581638"/>
            <a:ext cx="109531" cy="7083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직선 연결선 173"/>
          <p:cNvCxnSpPr>
            <a:stCxn id="153" idx="3"/>
            <a:endCxn id="157" idx="1"/>
          </p:cNvCxnSpPr>
          <p:nvPr/>
        </p:nvCxnSpPr>
        <p:spPr>
          <a:xfrm>
            <a:off x="2918481" y="1833260"/>
            <a:ext cx="109531" cy="4630"/>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직선 연결선 174"/>
          <p:cNvCxnSpPr>
            <a:stCxn id="154" idx="3"/>
            <a:endCxn id="158" idx="1"/>
          </p:cNvCxnSpPr>
          <p:nvPr/>
        </p:nvCxnSpPr>
        <p:spPr>
          <a:xfrm flipV="1">
            <a:off x="2918481" y="2045880"/>
            <a:ext cx="109530" cy="1"/>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꺾인 연결선 175"/>
          <p:cNvCxnSpPr>
            <a:stCxn id="140" idx="3"/>
            <a:endCxn id="161" idx="1"/>
          </p:cNvCxnSpPr>
          <p:nvPr/>
        </p:nvCxnSpPr>
        <p:spPr>
          <a:xfrm>
            <a:off x="2314769" y="2314946"/>
            <a:ext cx="185345" cy="4786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꺾인 연결선 176"/>
          <p:cNvCxnSpPr>
            <a:stCxn id="140" idx="3"/>
            <a:endCxn id="159" idx="1"/>
          </p:cNvCxnSpPr>
          <p:nvPr/>
        </p:nvCxnSpPr>
        <p:spPr>
          <a:xfrm>
            <a:off x="2314769" y="2314946"/>
            <a:ext cx="185346" cy="1216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꺾인 연결선 177"/>
          <p:cNvCxnSpPr>
            <a:stCxn id="140" idx="3"/>
            <a:endCxn id="160" idx="1"/>
          </p:cNvCxnSpPr>
          <p:nvPr/>
        </p:nvCxnSpPr>
        <p:spPr>
          <a:xfrm>
            <a:off x="2314769" y="2314946"/>
            <a:ext cx="185345" cy="2907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9" name="꺾인 연결선 178"/>
          <p:cNvCxnSpPr>
            <a:stCxn id="127" idx="3"/>
            <a:endCxn id="162" idx="1"/>
          </p:cNvCxnSpPr>
          <p:nvPr/>
        </p:nvCxnSpPr>
        <p:spPr>
          <a:xfrm flipV="1">
            <a:off x="1774346" y="3024355"/>
            <a:ext cx="152949" cy="411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꺾인 연결선 179"/>
          <p:cNvCxnSpPr>
            <a:stCxn id="127" idx="3"/>
            <a:endCxn id="137" idx="1"/>
          </p:cNvCxnSpPr>
          <p:nvPr/>
        </p:nvCxnSpPr>
        <p:spPr>
          <a:xfrm>
            <a:off x="1774346" y="3065551"/>
            <a:ext cx="152949" cy="4132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꺾인 연결선 180"/>
          <p:cNvCxnSpPr>
            <a:stCxn id="141" idx="3"/>
            <a:endCxn id="163" idx="1"/>
          </p:cNvCxnSpPr>
          <p:nvPr/>
        </p:nvCxnSpPr>
        <p:spPr>
          <a:xfrm>
            <a:off x="2918481" y="3266547"/>
            <a:ext cx="190576" cy="31904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꺾인 연결선 181"/>
          <p:cNvCxnSpPr>
            <a:stCxn id="141" idx="3"/>
            <a:endCxn id="165" idx="1"/>
          </p:cNvCxnSpPr>
          <p:nvPr/>
        </p:nvCxnSpPr>
        <p:spPr>
          <a:xfrm flipV="1">
            <a:off x="2918481" y="3230745"/>
            <a:ext cx="190576" cy="3580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3" name="꺾인 연결선 182"/>
          <p:cNvCxnSpPr>
            <a:stCxn id="141" idx="3"/>
            <a:endCxn id="164" idx="1"/>
          </p:cNvCxnSpPr>
          <p:nvPr/>
        </p:nvCxnSpPr>
        <p:spPr>
          <a:xfrm>
            <a:off x="2918481" y="3266547"/>
            <a:ext cx="190576" cy="14241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4" name="꺾인 연결선 183"/>
          <p:cNvCxnSpPr>
            <a:stCxn id="128" idx="3"/>
            <a:endCxn id="166" idx="1"/>
          </p:cNvCxnSpPr>
          <p:nvPr/>
        </p:nvCxnSpPr>
        <p:spPr>
          <a:xfrm>
            <a:off x="1774346" y="3788895"/>
            <a:ext cx="156898" cy="127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5" name="꺾인 연결선 184"/>
          <p:cNvCxnSpPr>
            <a:stCxn id="166" idx="3"/>
            <a:endCxn id="167" idx="1"/>
          </p:cNvCxnSpPr>
          <p:nvPr/>
        </p:nvCxnSpPr>
        <p:spPr>
          <a:xfrm>
            <a:off x="2314770" y="3788895"/>
            <a:ext cx="112024" cy="1996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6" name="꺾인 연결선 185"/>
          <p:cNvCxnSpPr>
            <a:stCxn id="166" idx="3"/>
            <a:endCxn id="168" idx="1"/>
          </p:cNvCxnSpPr>
          <p:nvPr/>
        </p:nvCxnSpPr>
        <p:spPr>
          <a:xfrm flipV="1">
            <a:off x="2314770" y="3777717"/>
            <a:ext cx="112024" cy="1117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7" name="직사각형 186"/>
          <p:cNvSpPr/>
          <p:nvPr/>
        </p:nvSpPr>
        <p:spPr>
          <a:xfrm>
            <a:off x="3281962" y="2158301"/>
            <a:ext cx="1411839" cy="16756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적극적 효력</a:t>
            </a: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94)</a:t>
            </a:r>
            <a:endParaRPr lang="ko-KR" altLang="en-US" sz="1000" dirty="0">
              <a:solidFill>
                <a:schemeClr val="tx2"/>
              </a:solidFill>
            </a:endParaRPr>
          </a:p>
        </p:txBody>
      </p:sp>
      <p:sp>
        <p:nvSpPr>
          <p:cNvPr id="188" name="직사각형 187"/>
          <p:cNvSpPr/>
          <p:nvPr/>
        </p:nvSpPr>
        <p:spPr>
          <a:xfrm>
            <a:off x="3281962" y="2341797"/>
            <a:ext cx="1411839" cy="15393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소극적 효력</a:t>
            </a:r>
            <a:r>
              <a:rPr lang="en-US" altLang="ko-KR" sz="1000" dirty="0">
                <a:solidFill>
                  <a:schemeClr val="tx2"/>
                </a:solidFill>
              </a:rPr>
              <a:t>(</a:t>
            </a:r>
            <a:r>
              <a:rPr lang="ko-KR" altLang="en-US" sz="1000" dirty="0">
                <a:solidFill>
                  <a:schemeClr val="tx2"/>
                </a:solidFill>
              </a:rPr>
              <a:t>침해</a:t>
            </a:r>
            <a:r>
              <a:rPr lang="en-US" altLang="ko-KR" sz="1000" dirty="0">
                <a:solidFill>
                  <a:schemeClr val="tx2"/>
                </a:solidFill>
              </a:rPr>
              <a:t>)</a:t>
            </a:r>
            <a:endParaRPr lang="ko-KR" altLang="en-US" sz="1000" dirty="0">
              <a:solidFill>
                <a:schemeClr val="tx2"/>
              </a:solidFill>
            </a:endParaRPr>
          </a:p>
        </p:txBody>
      </p:sp>
      <p:cxnSp>
        <p:nvCxnSpPr>
          <p:cNvPr id="189" name="꺾인 연결선 188"/>
          <p:cNvCxnSpPr>
            <a:stCxn id="159" idx="3"/>
            <a:endCxn id="188" idx="1"/>
          </p:cNvCxnSpPr>
          <p:nvPr/>
        </p:nvCxnSpPr>
        <p:spPr>
          <a:xfrm>
            <a:off x="2918481" y="2327109"/>
            <a:ext cx="363481" cy="9165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0" name="꺾인 연결선 189"/>
          <p:cNvCxnSpPr>
            <a:stCxn id="159" idx="3"/>
            <a:endCxn id="187" idx="1"/>
          </p:cNvCxnSpPr>
          <p:nvPr/>
        </p:nvCxnSpPr>
        <p:spPr>
          <a:xfrm flipV="1">
            <a:off x="2918481" y="2242081"/>
            <a:ext cx="363481" cy="850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1" name="직사각형 190"/>
          <p:cNvSpPr/>
          <p:nvPr/>
        </p:nvSpPr>
        <p:spPr>
          <a:xfrm>
            <a:off x="4891070" y="1400340"/>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성립요건</a:t>
            </a:r>
          </a:p>
        </p:txBody>
      </p:sp>
      <p:sp>
        <p:nvSpPr>
          <p:cNvPr id="192" name="직사각형 191"/>
          <p:cNvSpPr/>
          <p:nvPr/>
        </p:nvSpPr>
        <p:spPr>
          <a:xfrm>
            <a:off x="4891070" y="1771241"/>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종류</a:t>
            </a:r>
          </a:p>
        </p:txBody>
      </p:sp>
      <p:sp>
        <p:nvSpPr>
          <p:cNvPr id="193" name="직사각형 192"/>
          <p:cNvSpPr/>
          <p:nvPr/>
        </p:nvSpPr>
        <p:spPr>
          <a:xfrm>
            <a:off x="4891070" y="2381537"/>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조치</a:t>
            </a:r>
          </a:p>
        </p:txBody>
      </p:sp>
      <p:cxnSp>
        <p:nvCxnSpPr>
          <p:cNvPr id="194" name="꺾인 연결선 193"/>
          <p:cNvCxnSpPr>
            <a:stCxn id="188" idx="3"/>
            <a:endCxn id="191" idx="1"/>
          </p:cNvCxnSpPr>
          <p:nvPr/>
        </p:nvCxnSpPr>
        <p:spPr>
          <a:xfrm flipV="1">
            <a:off x="4693801" y="1479645"/>
            <a:ext cx="197269" cy="939118"/>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꺾인 연결선 194"/>
          <p:cNvCxnSpPr>
            <a:stCxn id="188" idx="3"/>
            <a:endCxn id="193" idx="1"/>
          </p:cNvCxnSpPr>
          <p:nvPr/>
        </p:nvCxnSpPr>
        <p:spPr>
          <a:xfrm>
            <a:off x="4693801" y="2418763"/>
            <a:ext cx="197269" cy="42079"/>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꺾인 연결선 195"/>
          <p:cNvCxnSpPr>
            <a:stCxn id="188" idx="3"/>
            <a:endCxn id="192" idx="1"/>
          </p:cNvCxnSpPr>
          <p:nvPr/>
        </p:nvCxnSpPr>
        <p:spPr>
          <a:xfrm flipV="1">
            <a:off x="4693801" y="1850546"/>
            <a:ext cx="197269" cy="568217"/>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7" name="직사각형 196"/>
          <p:cNvSpPr/>
          <p:nvPr/>
        </p:nvSpPr>
        <p:spPr>
          <a:xfrm>
            <a:off x="5586610" y="1528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직접침해</a:t>
            </a:r>
            <a:endParaRPr lang="en-US" altLang="ko-KR" sz="1000" dirty="0">
              <a:solidFill>
                <a:schemeClr val="tx2"/>
              </a:solidFill>
            </a:endParaRPr>
          </a:p>
          <a:p>
            <a:pPr algn="ctr" fontAlgn="base"/>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97, 98)</a:t>
            </a:r>
            <a:endParaRPr lang="ko-KR" altLang="en-US" sz="1000" dirty="0">
              <a:solidFill>
                <a:schemeClr val="tx2"/>
              </a:solidFill>
            </a:endParaRPr>
          </a:p>
        </p:txBody>
      </p:sp>
      <p:sp>
        <p:nvSpPr>
          <p:cNvPr id="198" name="직사각형 197"/>
          <p:cNvSpPr/>
          <p:nvPr/>
        </p:nvSpPr>
        <p:spPr>
          <a:xfrm>
            <a:off x="5586610" y="1904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algn="ctr" fontAlgn="base"/>
            <a:r>
              <a:rPr lang="ko-KR" altLang="en-US" sz="1000" dirty="0">
                <a:solidFill>
                  <a:schemeClr val="tx2"/>
                </a:solidFill>
              </a:rPr>
              <a:t>간접침해</a:t>
            </a:r>
            <a:endParaRPr lang="en-US" altLang="ko-KR" sz="1000" dirty="0">
              <a:solidFill>
                <a:schemeClr val="tx2"/>
              </a:solidFill>
            </a:endParaRPr>
          </a:p>
          <a:p>
            <a:pPr algn="ctr" fontAlgn="base"/>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127)</a:t>
            </a:r>
            <a:endParaRPr lang="ko-KR" altLang="en-US" sz="1000" dirty="0">
              <a:solidFill>
                <a:schemeClr val="tx2"/>
              </a:solidFill>
            </a:endParaRPr>
          </a:p>
        </p:txBody>
      </p:sp>
      <p:cxnSp>
        <p:nvCxnSpPr>
          <p:cNvPr id="199" name="꺾인 연결선 198"/>
          <p:cNvCxnSpPr>
            <a:stCxn id="192" idx="3"/>
            <a:endCxn id="197" idx="1"/>
          </p:cNvCxnSpPr>
          <p:nvPr/>
        </p:nvCxnSpPr>
        <p:spPr>
          <a:xfrm flipV="1">
            <a:off x="5452482" y="1689718"/>
            <a:ext cx="134128" cy="1608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0" name="꺾인 연결선 199"/>
          <p:cNvCxnSpPr>
            <a:stCxn id="192" idx="3"/>
            <a:endCxn id="198" idx="1"/>
          </p:cNvCxnSpPr>
          <p:nvPr/>
        </p:nvCxnSpPr>
        <p:spPr>
          <a:xfrm>
            <a:off x="5452482" y="1850546"/>
            <a:ext cx="134128" cy="21517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1" name="모서리가 둥근 직사각형 200"/>
          <p:cNvSpPr/>
          <p:nvPr/>
        </p:nvSpPr>
        <p:spPr>
          <a:xfrm>
            <a:off x="5586610" y="2318465"/>
            <a:ext cx="833380" cy="300825"/>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algn="ctr"/>
            <a:r>
              <a:rPr lang="ko-KR" altLang="en-US" sz="1000" dirty="0">
                <a:solidFill>
                  <a:schemeClr val="tx2"/>
                </a:solidFill>
              </a:rPr>
              <a:t>민사적 조치</a:t>
            </a:r>
            <a:endParaRPr lang="en-US" altLang="ko-KR" sz="1000" dirty="0">
              <a:solidFill>
                <a:schemeClr val="tx2"/>
              </a:solidFill>
            </a:endParaRPr>
          </a:p>
          <a:p>
            <a:pPr algn="ct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126-132)</a:t>
            </a:r>
            <a:endParaRPr lang="ko-KR" altLang="en-US" sz="1000" dirty="0">
              <a:solidFill>
                <a:schemeClr val="tx2"/>
              </a:solidFill>
            </a:endParaRPr>
          </a:p>
        </p:txBody>
      </p:sp>
      <p:sp>
        <p:nvSpPr>
          <p:cNvPr id="202" name="모서리가 둥근 직사각형 201"/>
          <p:cNvSpPr/>
          <p:nvPr/>
        </p:nvSpPr>
        <p:spPr>
          <a:xfrm>
            <a:off x="5586609" y="2663316"/>
            <a:ext cx="833381" cy="341821"/>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algn="ctr"/>
            <a:r>
              <a:rPr lang="ko-KR" altLang="en-US" sz="1000" dirty="0">
                <a:solidFill>
                  <a:schemeClr val="tx2"/>
                </a:solidFill>
              </a:rPr>
              <a:t>형사적 조치</a:t>
            </a:r>
            <a:endParaRPr lang="en-US" altLang="ko-KR" sz="1000" dirty="0">
              <a:solidFill>
                <a:schemeClr val="tx2"/>
              </a:solidFill>
            </a:endParaRPr>
          </a:p>
          <a:p>
            <a:pPr algn="ctr"/>
            <a:r>
              <a:rPr lang="en-US" altLang="ko-KR" sz="1000" dirty="0">
                <a:solidFill>
                  <a:schemeClr val="tx2"/>
                </a:solidFill>
              </a:rPr>
              <a:t>(</a:t>
            </a:r>
            <a:r>
              <a:rPr lang="ko-KR" altLang="en-US" sz="1000" dirty="0">
                <a:solidFill>
                  <a:schemeClr val="tx2"/>
                </a:solidFill>
              </a:rPr>
              <a:t>法 </a:t>
            </a:r>
            <a:r>
              <a:rPr lang="en-US" altLang="ko-KR" sz="1000" dirty="0">
                <a:solidFill>
                  <a:schemeClr val="tx2"/>
                </a:solidFill>
              </a:rPr>
              <a:t>225-232)</a:t>
            </a:r>
            <a:endParaRPr lang="ko-KR" altLang="en-US" sz="1000" dirty="0">
              <a:solidFill>
                <a:schemeClr val="tx2"/>
              </a:solidFill>
            </a:endParaRPr>
          </a:p>
        </p:txBody>
      </p:sp>
      <p:cxnSp>
        <p:nvCxnSpPr>
          <p:cNvPr id="203" name="꺾인 연결선 202"/>
          <p:cNvCxnSpPr>
            <a:stCxn id="193" idx="3"/>
            <a:endCxn id="201" idx="1"/>
          </p:cNvCxnSpPr>
          <p:nvPr/>
        </p:nvCxnSpPr>
        <p:spPr>
          <a:xfrm>
            <a:off x="5452482" y="2460843"/>
            <a:ext cx="134128" cy="803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4" name="꺾인 연결선 203"/>
          <p:cNvCxnSpPr>
            <a:stCxn id="193" idx="3"/>
            <a:endCxn id="202" idx="1"/>
          </p:cNvCxnSpPr>
          <p:nvPr/>
        </p:nvCxnSpPr>
        <p:spPr>
          <a:xfrm>
            <a:off x="5452482" y="2460843"/>
            <a:ext cx="134127" cy="37338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5" name="직사각형 204"/>
          <p:cNvSpPr/>
          <p:nvPr/>
        </p:nvSpPr>
        <p:spPr>
          <a:xfrm>
            <a:off x="7780806" y="2184608"/>
            <a:ext cx="555844" cy="610645"/>
          </a:xfrm>
          <a:prstGeom prst="rect">
            <a:avLst/>
          </a:prstGeom>
          <a:solidFill>
            <a:schemeClr val="accent6">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solidFill>
                  <a:schemeClr val="bg1"/>
                </a:solidFill>
              </a:rPr>
              <a:t>심판절차 </a:t>
            </a:r>
            <a:endParaRPr lang="en-US" altLang="ko-KR" sz="1000" dirty="0">
              <a:solidFill>
                <a:schemeClr val="bg1"/>
              </a:solidFill>
            </a:endParaRPr>
          </a:p>
          <a:p>
            <a:pPr algn="ctr"/>
            <a:r>
              <a:rPr lang="ko-KR" altLang="en-US" sz="1000" dirty="0">
                <a:solidFill>
                  <a:schemeClr val="bg1"/>
                </a:solidFill>
              </a:rPr>
              <a:t>일반</a:t>
            </a:r>
            <a:endParaRPr lang="en-US" altLang="ko-KR" sz="1000" dirty="0">
              <a:solidFill>
                <a:schemeClr val="bg1"/>
              </a:solidFill>
            </a:endParaRPr>
          </a:p>
          <a:p>
            <a:pPr algn="ctr"/>
            <a:r>
              <a:rPr lang="en-US" altLang="ko-KR" sz="1000" dirty="0">
                <a:solidFill>
                  <a:schemeClr val="bg1"/>
                </a:solidFill>
              </a:rPr>
              <a:t>(</a:t>
            </a:r>
            <a:r>
              <a:rPr lang="ko-KR" altLang="en-US" sz="1000" dirty="0">
                <a:solidFill>
                  <a:schemeClr val="bg1"/>
                </a:solidFill>
              </a:rPr>
              <a:t>총론</a:t>
            </a:r>
            <a:r>
              <a:rPr lang="en-US" altLang="ko-KR" sz="1000" dirty="0">
                <a:solidFill>
                  <a:schemeClr val="bg1"/>
                </a:solidFill>
              </a:rPr>
              <a:t>)</a:t>
            </a:r>
            <a:endParaRPr lang="ko-KR" altLang="en-US" sz="1000" dirty="0">
              <a:solidFill>
                <a:schemeClr val="bg1"/>
              </a:solidFill>
            </a:endParaRPr>
          </a:p>
        </p:txBody>
      </p:sp>
      <p:sp>
        <p:nvSpPr>
          <p:cNvPr id="206" name="직사각형 205"/>
          <p:cNvSpPr/>
          <p:nvPr/>
        </p:nvSpPr>
        <p:spPr>
          <a:xfrm>
            <a:off x="7780806" y="4163272"/>
            <a:ext cx="555844" cy="610645"/>
          </a:xfrm>
          <a:prstGeom prst="rect">
            <a:avLst/>
          </a:prstGeom>
          <a:solidFill>
            <a:schemeClr val="accent5">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solidFill>
                  <a:schemeClr val="bg1"/>
                </a:solidFill>
              </a:rPr>
              <a:t>심판의</a:t>
            </a:r>
            <a:endParaRPr lang="en-US" altLang="ko-KR" sz="1000" dirty="0">
              <a:solidFill>
                <a:schemeClr val="bg1"/>
              </a:solidFill>
            </a:endParaRPr>
          </a:p>
          <a:p>
            <a:pPr algn="ctr"/>
            <a:r>
              <a:rPr lang="ko-KR" altLang="en-US" sz="1000" dirty="0">
                <a:solidFill>
                  <a:schemeClr val="bg1"/>
                </a:solidFill>
              </a:rPr>
              <a:t>종류</a:t>
            </a:r>
            <a:endParaRPr lang="en-US" altLang="ko-KR" sz="1000" dirty="0">
              <a:solidFill>
                <a:schemeClr val="bg1"/>
              </a:solidFill>
            </a:endParaRPr>
          </a:p>
          <a:p>
            <a:pPr algn="ctr"/>
            <a:r>
              <a:rPr lang="en-US" altLang="ko-KR" sz="1000" dirty="0">
                <a:solidFill>
                  <a:schemeClr val="bg1"/>
                </a:solidFill>
              </a:rPr>
              <a:t>(</a:t>
            </a:r>
            <a:r>
              <a:rPr lang="ko-KR" altLang="en-US" sz="1000" dirty="0">
                <a:solidFill>
                  <a:schemeClr val="bg1"/>
                </a:solidFill>
              </a:rPr>
              <a:t>각론</a:t>
            </a:r>
            <a:r>
              <a:rPr lang="en-US" altLang="ko-KR" sz="1000" dirty="0">
                <a:solidFill>
                  <a:schemeClr val="bg1"/>
                </a:solidFill>
              </a:rPr>
              <a:t>)</a:t>
            </a:r>
            <a:endParaRPr lang="ko-KR" altLang="en-US" sz="1000" dirty="0">
              <a:solidFill>
                <a:schemeClr val="bg1"/>
              </a:solidFill>
            </a:endParaRPr>
          </a:p>
        </p:txBody>
      </p:sp>
      <p:sp>
        <p:nvSpPr>
          <p:cNvPr id="207" name="직사각형 206"/>
          <p:cNvSpPr/>
          <p:nvPr/>
        </p:nvSpPr>
        <p:spPr>
          <a:xfrm>
            <a:off x="8500191" y="131308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a:t>주체</a:t>
            </a:r>
            <a:endParaRPr lang="ko-KR" altLang="en-US" sz="1000" dirty="0"/>
          </a:p>
        </p:txBody>
      </p:sp>
      <p:sp>
        <p:nvSpPr>
          <p:cNvPr id="208" name="직사각형 207"/>
          <p:cNvSpPr/>
          <p:nvPr/>
        </p:nvSpPr>
        <p:spPr>
          <a:xfrm>
            <a:off x="8500191" y="180459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청구</a:t>
            </a:r>
          </a:p>
        </p:txBody>
      </p:sp>
      <p:sp>
        <p:nvSpPr>
          <p:cNvPr id="209" name="직사각형 208"/>
          <p:cNvSpPr/>
          <p:nvPr/>
        </p:nvSpPr>
        <p:spPr>
          <a:xfrm>
            <a:off x="8500191" y="2449052"/>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진행</a:t>
            </a:r>
          </a:p>
        </p:txBody>
      </p:sp>
      <p:sp>
        <p:nvSpPr>
          <p:cNvPr id="210" name="직사각형 209"/>
          <p:cNvSpPr/>
          <p:nvPr/>
        </p:nvSpPr>
        <p:spPr>
          <a:xfrm>
            <a:off x="8500191" y="2977875"/>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종료</a:t>
            </a:r>
          </a:p>
        </p:txBody>
      </p:sp>
      <p:sp>
        <p:nvSpPr>
          <p:cNvPr id="211" name="직사각형 210"/>
          <p:cNvSpPr/>
          <p:nvPr/>
        </p:nvSpPr>
        <p:spPr>
          <a:xfrm>
            <a:off x="9363869" y="8056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심판원</a:t>
            </a:r>
            <a:r>
              <a:rPr lang="en-US" altLang="ko-KR" sz="1000" dirty="0"/>
              <a:t>(</a:t>
            </a:r>
            <a:r>
              <a:rPr lang="ko-KR" altLang="en-US" sz="1000" dirty="0"/>
              <a:t>法 </a:t>
            </a:r>
            <a:r>
              <a:rPr lang="en-US" altLang="ko-KR" sz="1000" dirty="0"/>
              <a:t>132</a:t>
            </a:r>
            <a:r>
              <a:rPr lang="ko-KR" altLang="en-US" sz="1000" dirty="0"/>
              <a:t>의</a:t>
            </a:r>
            <a:r>
              <a:rPr lang="en-US" altLang="ko-KR" sz="1000" dirty="0"/>
              <a:t>16, 143~153</a:t>
            </a:r>
            <a:r>
              <a:rPr lang="ko-KR" altLang="en-US" sz="1000" dirty="0"/>
              <a:t>의</a:t>
            </a:r>
            <a:r>
              <a:rPr lang="en-US" altLang="ko-KR" sz="1000" dirty="0"/>
              <a:t>2)</a:t>
            </a:r>
            <a:endParaRPr lang="ko-KR" altLang="en-US" sz="1000" dirty="0"/>
          </a:p>
        </p:txBody>
      </p:sp>
      <p:sp>
        <p:nvSpPr>
          <p:cNvPr id="212" name="직사각형 211"/>
          <p:cNvSpPr/>
          <p:nvPr/>
        </p:nvSpPr>
        <p:spPr>
          <a:xfrm>
            <a:off x="9363869" y="9962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당사자</a:t>
            </a:r>
            <a:r>
              <a:rPr lang="en-US" altLang="ko-KR" sz="1000" dirty="0"/>
              <a:t>(</a:t>
            </a:r>
            <a:r>
              <a:rPr lang="ko-KR" altLang="en-US" sz="1000" dirty="0"/>
              <a:t>法 </a:t>
            </a:r>
            <a:r>
              <a:rPr lang="en-US" altLang="ko-KR" sz="1000" dirty="0"/>
              <a:t>139)</a:t>
            </a:r>
            <a:endParaRPr lang="ko-KR" altLang="en-US" sz="1000" dirty="0"/>
          </a:p>
        </p:txBody>
      </p:sp>
      <p:sp>
        <p:nvSpPr>
          <p:cNvPr id="213" name="직사각형 212"/>
          <p:cNvSpPr/>
          <p:nvPr/>
        </p:nvSpPr>
        <p:spPr>
          <a:xfrm>
            <a:off x="9363869" y="118351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참가인</a:t>
            </a:r>
            <a:r>
              <a:rPr lang="en-US" altLang="ko-KR" sz="1000" dirty="0"/>
              <a:t>(</a:t>
            </a:r>
            <a:r>
              <a:rPr lang="ko-KR" altLang="en-US" sz="1000" dirty="0"/>
              <a:t>法 </a:t>
            </a:r>
            <a:r>
              <a:rPr lang="en-US" altLang="ko-KR" sz="1000" dirty="0"/>
              <a:t>155, 156)</a:t>
            </a:r>
            <a:endParaRPr lang="ko-KR" altLang="en-US" sz="1000" dirty="0"/>
          </a:p>
        </p:txBody>
      </p:sp>
      <p:sp>
        <p:nvSpPr>
          <p:cNvPr id="214" name="직사각형 213"/>
          <p:cNvSpPr/>
          <p:nvPr/>
        </p:nvSpPr>
        <p:spPr>
          <a:xfrm>
            <a:off x="9363869" y="1703773"/>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심판의 청구</a:t>
            </a:r>
            <a:r>
              <a:rPr lang="en-US" altLang="ko-KR" sz="1000" dirty="0"/>
              <a:t>(</a:t>
            </a:r>
            <a:r>
              <a:rPr lang="ko-KR" altLang="en-US" sz="1000" dirty="0"/>
              <a:t>法 </a:t>
            </a:r>
            <a:r>
              <a:rPr lang="en-US" altLang="ko-KR" sz="1000" dirty="0"/>
              <a:t>140, 140</a:t>
            </a:r>
            <a:r>
              <a:rPr lang="ko-KR" altLang="en-US" sz="1000" dirty="0"/>
              <a:t>의</a:t>
            </a:r>
            <a:r>
              <a:rPr lang="en-US" altLang="ko-KR" sz="1000" dirty="0"/>
              <a:t>2)</a:t>
            </a:r>
            <a:endParaRPr lang="ko-KR" altLang="en-US" sz="1000" dirty="0"/>
          </a:p>
        </p:txBody>
      </p:sp>
      <p:sp>
        <p:nvSpPr>
          <p:cNvPr id="215" name="직사각형 214"/>
          <p:cNvSpPr/>
          <p:nvPr/>
        </p:nvSpPr>
        <p:spPr>
          <a:xfrm>
            <a:off x="9363869" y="18943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심판청구서의 보정</a:t>
            </a:r>
            <a:r>
              <a:rPr lang="en-US" altLang="ko-KR" sz="1000" dirty="0"/>
              <a:t>(</a:t>
            </a:r>
            <a:r>
              <a:rPr lang="ko-KR" altLang="en-US" sz="1000" dirty="0"/>
              <a:t>法 </a:t>
            </a:r>
            <a:r>
              <a:rPr lang="en-US" altLang="ko-KR" sz="1000" dirty="0"/>
              <a:t>140②, 140</a:t>
            </a:r>
            <a:r>
              <a:rPr lang="ko-KR" altLang="en-US" sz="1000" dirty="0"/>
              <a:t>의</a:t>
            </a:r>
            <a:r>
              <a:rPr lang="en-US" altLang="ko-KR" sz="1000" dirty="0"/>
              <a:t>2②)</a:t>
            </a:r>
          </a:p>
        </p:txBody>
      </p:sp>
      <p:sp>
        <p:nvSpPr>
          <p:cNvPr id="216" name="직사각형 215"/>
          <p:cNvSpPr/>
          <p:nvPr/>
        </p:nvSpPr>
        <p:spPr>
          <a:xfrm>
            <a:off x="9363869" y="22698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방식심리</a:t>
            </a:r>
            <a:r>
              <a:rPr lang="en-US" altLang="ko-KR" sz="1000" dirty="0"/>
              <a:t>(</a:t>
            </a:r>
            <a:r>
              <a:rPr lang="ko-KR" altLang="en-US" sz="1000" dirty="0"/>
              <a:t>法 </a:t>
            </a:r>
            <a:r>
              <a:rPr lang="en-US" altLang="ko-KR" sz="1000" dirty="0"/>
              <a:t>141)</a:t>
            </a:r>
            <a:endParaRPr lang="ko-KR" altLang="en-US" sz="1000" dirty="0"/>
          </a:p>
        </p:txBody>
      </p:sp>
      <p:sp>
        <p:nvSpPr>
          <p:cNvPr id="217" name="직사각형 216"/>
          <p:cNvSpPr/>
          <p:nvPr/>
        </p:nvSpPr>
        <p:spPr>
          <a:xfrm>
            <a:off x="9363869" y="245801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적법성 심리</a:t>
            </a:r>
            <a:r>
              <a:rPr lang="en-US" altLang="ko-KR" sz="1000" dirty="0"/>
              <a:t>(</a:t>
            </a:r>
            <a:r>
              <a:rPr lang="ko-KR" altLang="en-US" sz="1000" dirty="0"/>
              <a:t>法 </a:t>
            </a:r>
            <a:r>
              <a:rPr lang="en-US" altLang="ko-KR" sz="1000" dirty="0"/>
              <a:t>142)</a:t>
            </a:r>
            <a:endParaRPr lang="ko-KR" altLang="en-US" sz="1000" dirty="0"/>
          </a:p>
        </p:txBody>
      </p:sp>
      <p:sp>
        <p:nvSpPr>
          <p:cNvPr id="218" name="직사각형 217"/>
          <p:cNvSpPr/>
          <p:nvPr/>
        </p:nvSpPr>
        <p:spPr>
          <a:xfrm>
            <a:off x="9363869" y="264666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본안심리</a:t>
            </a:r>
            <a:r>
              <a:rPr lang="en-US" altLang="ko-KR" sz="1000" dirty="0"/>
              <a:t>(</a:t>
            </a:r>
            <a:r>
              <a:rPr lang="ko-KR" altLang="en-US" sz="1000" dirty="0"/>
              <a:t>法 </a:t>
            </a:r>
            <a:r>
              <a:rPr lang="en-US" altLang="ko-KR" sz="1000" dirty="0"/>
              <a:t>154, 157-160)</a:t>
            </a:r>
            <a:endParaRPr lang="ko-KR" altLang="en-US" sz="1000" dirty="0"/>
          </a:p>
        </p:txBody>
      </p:sp>
      <p:sp>
        <p:nvSpPr>
          <p:cNvPr id="219" name="직사각형 218"/>
          <p:cNvSpPr/>
          <p:nvPr/>
        </p:nvSpPr>
        <p:spPr>
          <a:xfrm>
            <a:off x="9363869" y="288449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심판청구의 취하</a:t>
            </a:r>
            <a:r>
              <a:rPr lang="en-US" altLang="ko-KR" sz="1000" dirty="0"/>
              <a:t>(</a:t>
            </a:r>
            <a:r>
              <a:rPr lang="ko-KR" altLang="en-US" sz="1000" dirty="0"/>
              <a:t>法 </a:t>
            </a:r>
            <a:r>
              <a:rPr lang="en-US" altLang="ko-KR" sz="1000" dirty="0"/>
              <a:t>161)</a:t>
            </a:r>
            <a:endParaRPr lang="ko-KR" altLang="en-US" sz="1000" dirty="0"/>
          </a:p>
        </p:txBody>
      </p:sp>
      <p:sp>
        <p:nvSpPr>
          <p:cNvPr id="220" name="직사각형 219"/>
          <p:cNvSpPr/>
          <p:nvPr/>
        </p:nvSpPr>
        <p:spPr>
          <a:xfrm>
            <a:off x="9363869" y="307268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심결</a:t>
            </a:r>
            <a:r>
              <a:rPr lang="en-US" altLang="ko-KR" sz="1000" dirty="0"/>
              <a:t>(</a:t>
            </a:r>
            <a:r>
              <a:rPr lang="ko-KR" altLang="en-US" sz="1000" dirty="0"/>
              <a:t>法 </a:t>
            </a:r>
            <a:r>
              <a:rPr lang="en-US" altLang="ko-KR" sz="1000" dirty="0"/>
              <a:t>162, 163)</a:t>
            </a:r>
            <a:endParaRPr lang="ko-KR" altLang="en-US" sz="1000" dirty="0"/>
          </a:p>
        </p:txBody>
      </p:sp>
      <p:sp>
        <p:nvSpPr>
          <p:cNvPr id="221" name="직사각형 220"/>
          <p:cNvSpPr/>
          <p:nvPr/>
        </p:nvSpPr>
        <p:spPr>
          <a:xfrm>
            <a:off x="8500191" y="4104276"/>
            <a:ext cx="710030" cy="171015"/>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결정계</a:t>
            </a:r>
            <a:r>
              <a:rPr lang="ko-KR" altLang="en-US" sz="1000" dirty="0"/>
              <a:t> 심판</a:t>
            </a:r>
          </a:p>
        </p:txBody>
      </p:sp>
      <p:sp>
        <p:nvSpPr>
          <p:cNvPr id="222" name="직사각형 221"/>
          <p:cNvSpPr/>
          <p:nvPr/>
        </p:nvSpPr>
        <p:spPr>
          <a:xfrm>
            <a:off x="8500191" y="4475324"/>
            <a:ext cx="710030" cy="364286"/>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당사자계 </a:t>
            </a:r>
            <a:endParaRPr lang="en-US" altLang="ko-KR" sz="1000" dirty="0"/>
          </a:p>
          <a:p>
            <a:pPr algn="ctr"/>
            <a:r>
              <a:rPr lang="ko-KR" altLang="en-US" sz="1000" dirty="0"/>
              <a:t>심판</a:t>
            </a:r>
          </a:p>
        </p:txBody>
      </p:sp>
      <p:sp>
        <p:nvSpPr>
          <p:cNvPr id="223" name="직사각형 222"/>
          <p:cNvSpPr/>
          <p:nvPr/>
        </p:nvSpPr>
        <p:spPr>
          <a:xfrm>
            <a:off x="8500189" y="5251229"/>
            <a:ext cx="1308145"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재심</a:t>
            </a:r>
            <a:r>
              <a:rPr lang="en-US" altLang="ko-KR" sz="1000" dirty="0"/>
              <a:t>(</a:t>
            </a:r>
            <a:r>
              <a:rPr lang="ko-KR" altLang="en-US" sz="1000" dirty="0"/>
              <a:t>法 </a:t>
            </a:r>
            <a:r>
              <a:rPr lang="en-US" altLang="ko-KR" sz="1000" dirty="0"/>
              <a:t>178~185)</a:t>
            </a:r>
            <a:endParaRPr lang="ko-KR" altLang="en-US" sz="1000" dirty="0"/>
          </a:p>
        </p:txBody>
      </p:sp>
      <p:sp>
        <p:nvSpPr>
          <p:cNvPr id="224" name="직사각형 223"/>
          <p:cNvSpPr/>
          <p:nvPr/>
        </p:nvSpPr>
        <p:spPr>
          <a:xfrm>
            <a:off x="9363869" y="401219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거절결정불복심판</a:t>
            </a:r>
            <a:r>
              <a:rPr lang="en-US" altLang="ko-KR" sz="900" dirty="0"/>
              <a:t>(</a:t>
            </a:r>
            <a:r>
              <a:rPr lang="ko-KR" altLang="en-US" sz="900" dirty="0"/>
              <a:t>法 </a:t>
            </a:r>
            <a:r>
              <a:rPr lang="en-US" altLang="ko-KR" sz="900" dirty="0"/>
              <a:t>132</a:t>
            </a:r>
            <a:r>
              <a:rPr lang="ko-KR" altLang="en-US" sz="900" dirty="0"/>
              <a:t>의</a:t>
            </a:r>
            <a:r>
              <a:rPr lang="en-US" altLang="ko-KR" sz="900" dirty="0"/>
              <a:t>17, 170~172, 176)</a:t>
            </a:r>
            <a:endParaRPr lang="ko-KR" altLang="en-US" sz="900" dirty="0"/>
          </a:p>
        </p:txBody>
      </p:sp>
      <p:sp>
        <p:nvSpPr>
          <p:cNvPr id="225" name="직사각형 224"/>
          <p:cNvSpPr/>
          <p:nvPr/>
        </p:nvSpPr>
        <p:spPr>
          <a:xfrm>
            <a:off x="9363869" y="420277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정정심판</a:t>
            </a:r>
            <a:r>
              <a:rPr lang="en-US" altLang="ko-KR" sz="1000" dirty="0"/>
              <a:t>(</a:t>
            </a:r>
            <a:r>
              <a:rPr lang="ko-KR" altLang="en-US" sz="1000" dirty="0"/>
              <a:t>法 </a:t>
            </a:r>
            <a:r>
              <a:rPr lang="en-US" altLang="ko-KR" sz="1000" dirty="0"/>
              <a:t>136)</a:t>
            </a:r>
            <a:endParaRPr lang="ko-KR" altLang="en-US" sz="1000" dirty="0"/>
          </a:p>
        </p:txBody>
      </p:sp>
      <p:sp>
        <p:nvSpPr>
          <p:cNvPr id="226" name="직사각형 225"/>
          <p:cNvSpPr/>
          <p:nvPr/>
        </p:nvSpPr>
        <p:spPr>
          <a:xfrm>
            <a:off x="9363869" y="438375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무효심판</a:t>
            </a:r>
            <a:r>
              <a:rPr lang="en-US" altLang="ko-KR" sz="1000" dirty="0"/>
              <a:t>(</a:t>
            </a:r>
            <a:r>
              <a:rPr lang="ko-KR" altLang="en-US" sz="1000" dirty="0"/>
              <a:t>法 </a:t>
            </a:r>
            <a:r>
              <a:rPr lang="en-US" altLang="ko-KR" sz="1000" dirty="0"/>
              <a:t>133, 134, 137)</a:t>
            </a:r>
            <a:endParaRPr lang="ko-KR" altLang="en-US" sz="1000" dirty="0"/>
          </a:p>
        </p:txBody>
      </p:sp>
      <p:sp>
        <p:nvSpPr>
          <p:cNvPr id="227" name="직사각형 226"/>
          <p:cNvSpPr/>
          <p:nvPr/>
        </p:nvSpPr>
        <p:spPr>
          <a:xfrm>
            <a:off x="9363869" y="457975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권리범위확인심판</a:t>
            </a:r>
            <a:r>
              <a:rPr lang="en-US" altLang="ko-KR" sz="1000" dirty="0"/>
              <a:t>(</a:t>
            </a:r>
            <a:r>
              <a:rPr lang="ko-KR" altLang="en-US" sz="1000" dirty="0"/>
              <a:t>法 </a:t>
            </a:r>
            <a:r>
              <a:rPr lang="en-US" altLang="ko-KR" sz="1000" dirty="0"/>
              <a:t>135)</a:t>
            </a:r>
            <a:endParaRPr lang="ko-KR" altLang="en-US" sz="1000" dirty="0"/>
          </a:p>
        </p:txBody>
      </p:sp>
      <p:sp>
        <p:nvSpPr>
          <p:cNvPr id="228" name="직사각형 227"/>
          <p:cNvSpPr/>
          <p:nvPr/>
        </p:nvSpPr>
        <p:spPr>
          <a:xfrm>
            <a:off x="9363869" y="477033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err="1"/>
              <a:t>통상실시권허락심판</a:t>
            </a:r>
            <a:r>
              <a:rPr lang="en-US" altLang="ko-KR" sz="1000" dirty="0"/>
              <a:t>(</a:t>
            </a:r>
            <a:r>
              <a:rPr lang="ko-KR" altLang="en-US" sz="1000" dirty="0"/>
              <a:t>法 </a:t>
            </a:r>
            <a:r>
              <a:rPr lang="en-US" altLang="ko-KR" sz="1000" dirty="0"/>
              <a:t>138)</a:t>
            </a:r>
            <a:endParaRPr lang="ko-KR" altLang="en-US" sz="1000" dirty="0"/>
          </a:p>
        </p:txBody>
      </p:sp>
      <p:cxnSp>
        <p:nvCxnSpPr>
          <p:cNvPr id="229" name="꺾인 연결선 228"/>
          <p:cNvCxnSpPr>
            <a:stCxn id="205" idx="1"/>
            <a:endCxn id="252" idx="3"/>
          </p:cNvCxnSpPr>
          <p:nvPr/>
        </p:nvCxnSpPr>
        <p:spPr>
          <a:xfrm rot="10800000" flipV="1">
            <a:off x="7557110" y="2489931"/>
            <a:ext cx="223697" cy="347276"/>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꺾인 연결선 229"/>
          <p:cNvCxnSpPr>
            <a:stCxn id="205" idx="3"/>
            <a:endCxn id="207" idx="1"/>
          </p:cNvCxnSpPr>
          <p:nvPr/>
        </p:nvCxnSpPr>
        <p:spPr>
          <a:xfrm flipV="1">
            <a:off x="8336650" y="1398592"/>
            <a:ext cx="163541" cy="10913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꺾인 연결선 230"/>
          <p:cNvCxnSpPr>
            <a:stCxn id="205" idx="3"/>
            <a:endCxn id="210" idx="1"/>
          </p:cNvCxnSpPr>
          <p:nvPr/>
        </p:nvCxnSpPr>
        <p:spPr>
          <a:xfrm>
            <a:off x="8336650" y="2489931"/>
            <a:ext cx="163541" cy="573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꺾인 연결선 231"/>
          <p:cNvCxnSpPr>
            <a:stCxn id="205" idx="3"/>
            <a:endCxn id="208" idx="1"/>
          </p:cNvCxnSpPr>
          <p:nvPr/>
        </p:nvCxnSpPr>
        <p:spPr>
          <a:xfrm flipV="1">
            <a:off x="8336650" y="1890102"/>
            <a:ext cx="163541" cy="5998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3" name="꺾인 연결선 232"/>
          <p:cNvCxnSpPr>
            <a:stCxn id="205" idx="3"/>
            <a:endCxn id="209" idx="1"/>
          </p:cNvCxnSpPr>
          <p:nvPr/>
        </p:nvCxnSpPr>
        <p:spPr>
          <a:xfrm>
            <a:off x="8336650" y="2489931"/>
            <a:ext cx="163541" cy="446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꺾인 연결선 233"/>
          <p:cNvCxnSpPr>
            <a:stCxn id="207" idx="3"/>
            <a:endCxn id="211" idx="1"/>
          </p:cNvCxnSpPr>
          <p:nvPr/>
        </p:nvCxnSpPr>
        <p:spPr>
          <a:xfrm flipV="1">
            <a:off x="9210221" y="874930"/>
            <a:ext cx="153648" cy="52366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5" name="꺾인 연결선 234"/>
          <p:cNvCxnSpPr>
            <a:stCxn id="207" idx="3"/>
            <a:endCxn id="213" idx="1"/>
          </p:cNvCxnSpPr>
          <p:nvPr/>
        </p:nvCxnSpPr>
        <p:spPr>
          <a:xfrm flipV="1">
            <a:off x="9210221" y="1252790"/>
            <a:ext cx="153648" cy="1458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6" name="꺾인 연결선 235"/>
          <p:cNvCxnSpPr>
            <a:cxnSpLocks/>
            <a:stCxn id="207" idx="3"/>
            <a:endCxn id="288" idx="1"/>
          </p:cNvCxnSpPr>
          <p:nvPr/>
        </p:nvCxnSpPr>
        <p:spPr>
          <a:xfrm>
            <a:off x="9210221" y="1398592"/>
            <a:ext cx="148622" cy="1108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7" name="꺾인 연결선 236"/>
          <p:cNvCxnSpPr>
            <a:stCxn id="208" idx="3"/>
            <a:endCxn id="214" idx="1"/>
          </p:cNvCxnSpPr>
          <p:nvPr/>
        </p:nvCxnSpPr>
        <p:spPr>
          <a:xfrm flipV="1">
            <a:off x="9210221" y="1773052"/>
            <a:ext cx="153648" cy="1170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8" name="꺾인 연결선 237"/>
          <p:cNvCxnSpPr>
            <a:stCxn id="208" idx="3"/>
            <a:endCxn id="215" idx="1"/>
          </p:cNvCxnSpPr>
          <p:nvPr/>
        </p:nvCxnSpPr>
        <p:spPr>
          <a:xfrm>
            <a:off x="9210221" y="1890102"/>
            <a:ext cx="153648" cy="735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9" name="꺾인 연결선 238"/>
          <p:cNvCxnSpPr>
            <a:stCxn id="209" idx="3"/>
            <a:endCxn id="216" idx="1"/>
          </p:cNvCxnSpPr>
          <p:nvPr/>
        </p:nvCxnSpPr>
        <p:spPr>
          <a:xfrm flipV="1">
            <a:off x="9210221" y="2339108"/>
            <a:ext cx="153648" cy="195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0" name="꺾인 연결선 239"/>
          <p:cNvCxnSpPr>
            <a:stCxn id="209" idx="3"/>
            <a:endCxn id="218" idx="1"/>
          </p:cNvCxnSpPr>
          <p:nvPr/>
        </p:nvCxnSpPr>
        <p:spPr>
          <a:xfrm>
            <a:off x="9210221" y="2534560"/>
            <a:ext cx="153648" cy="18138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1" name="꺾인 연결선 240"/>
          <p:cNvCxnSpPr>
            <a:stCxn id="209" idx="3"/>
            <a:endCxn id="217" idx="1"/>
          </p:cNvCxnSpPr>
          <p:nvPr/>
        </p:nvCxnSpPr>
        <p:spPr>
          <a:xfrm flipV="1">
            <a:off x="9210221" y="2527293"/>
            <a:ext cx="153648" cy="72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꺾인 연결선 241"/>
          <p:cNvCxnSpPr>
            <a:stCxn id="221" idx="1"/>
            <a:endCxn id="206" idx="3"/>
          </p:cNvCxnSpPr>
          <p:nvPr/>
        </p:nvCxnSpPr>
        <p:spPr>
          <a:xfrm rot="10800000" flipV="1">
            <a:off x="8336651" y="4189783"/>
            <a:ext cx="163541" cy="2788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3" name="꺾인 연결선 242"/>
          <p:cNvCxnSpPr>
            <a:stCxn id="206" idx="3"/>
            <a:endCxn id="223" idx="1"/>
          </p:cNvCxnSpPr>
          <p:nvPr/>
        </p:nvCxnSpPr>
        <p:spPr>
          <a:xfrm>
            <a:off x="8336650" y="4468595"/>
            <a:ext cx="163539" cy="86197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4" name="꺾인 연결선 243"/>
          <p:cNvCxnSpPr>
            <a:stCxn id="206" idx="3"/>
            <a:endCxn id="222" idx="1"/>
          </p:cNvCxnSpPr>
          <p:nvPr/>
        </p:nvCxnSpPr>
        <p:spPr>
          <a:xfrm>
            <a:off x="8336650" y="4468595"/>
            <a:ext cx="163541" cy="1888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꺾인 연결선 244"/>
          <p:cNvCxnSpPr>
            <a:stCxn id="210" idx="3"/>
            <a:endCxn id="219" idx="1"/>
          </p:cNvCxnSpPr>
          <p:nvPr/>
        </p:nvCxnSpPr>
        <p:spPr>
          <a:xfrm flipV="1">
            <a:off x="9210221" y="2953778"/>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꺾인 연결선 245"/>
          <p:cNvCxnSpPr>
            <a:stCxn id="210" idx="3"/>
            <a:endCxn id="220" idx="1"/>
          </p:cNvCxnSpPr>
          <p:nvPr/>
        </p:nvCxnSpPr>
        <p:spPr>
          <a:xfrm>
            <a:off x="9210221" y="3063383"/>
            <a:ext cx="153648" cy="7858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7" name="꺾인 연결선 246"/>
          <p:cNvCxnSpPr>
            <a:stCxn id="221" idx="3"/>
            <a:endCxn id="224" idx="1"/>
          </p:cNvCxnSpPr>
          <p:nvPr/>
        </p:nvCxnSpPr>
        <p:spPr>
          <a:xfrm flipV="1">
            <a:off x="9210221" y="4081472"/>
            <a:ext cx="153648" cy="1083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8" name="꺾인 연결선 247"/>
          <p:cNvCxnSpPr>
            <a:stCxn id="221" idx="3"/>
            <a:endCxn id="225" idx="1"/>
          </p:cNvCxnSpPr>
          <p:nvPr/>
        </p:nvCxnSpPr>
        <p:spPr>
          <a:xfrm>
            <a:off x="9210221" y="4189784"/>
            <a:ext cx="153648" cy="8226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9" name="꺾인 연결선 248"/>
          <p:cNvCxnSpPr>
            <a:stCxn id="222" idx="3"/>
            <a:endCxn id="226" idx="1"/>
          </p:cNvCxnSpPr>
          <p:nvPr/>
        </p:nvCxnSpPr>
        <p:spPr>
          <a:xfrm flipV="1">
            <a:off x="9210221" y="4453030"/>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0" name="꺾인 연결선 249"/>
          <p:cNvCxnSpPr>
            <a:stCxn id="222" idx="3"/>
            <a:endCxn id="227" idx="1"/>
          </p:cNvCxnSpPr>
          <p:nvPr/>
        </p:nvCxnSpPr>
        <p:spPr>
          <a:xfrm flipV="1">
            <a:off x="9210221" y="4649032"/>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1" name="꺾인 연결선 250"/>
          <p:cNvCxnSpPr>
            <a:stCxn id="222" idx="3"/>
            <a:endCxn id="228" idx="1"/>
          </p:cNvCxnSpPr>
          <p:nvPr/>
        </p:nvCxnSpPr>
        <p:spPr>
          <a:xfrm>
            <a:off x="9210221" y="4657467"/>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2" name="직사각형 251"/>
          <p:cNvSpPr/>
          <p:nvPr/>
        </p:nvSpPr>
        <p:spPr>
          <a:xfrm>
            <a:off x="7136327" y="2620124"/>
            <a:ext cx="420782" cy="434166"/>
          </a:xfrm>
          <a:prstGeom prst="rect">
            <a:avLst/>
          </a:prstGeom>
          <a:solidFill>
            <a:schemeClr val="accent5"/>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200" dirty="0">
                <a:solidFill>
                  <a:schemeClr val="bg1"/>
                </a:solidFill>
              </a:rPr>
              <a:t>심판</a:t>
            </a:r>
            <a:endParaRPr lang="en-US" altLang="ko-KR" sz="1200" dirty="0">
              <a:solidFill>
                <a:schemeClr val="bg1"/>
              </a:solidFill>
            </a:endParaRPr>
          </a:p>
          <a:p>
            <a:pPr algn="ctr"/>
            <a:r>
              <a:rPr lang="ko-KR" altLang="en-US" sz="1200" dirty="0">
                <a:solidFill>
                  <a:schemeClr val="bg1"/>
                </a:solidFill>
              </a:rPr>
              <a:t>제도</a:t>
            </a:r>
          </a:p>
        </p:txBody>
      </p:sp>
      <p:cxnSp>
        <p:nvCxnSpPr>
          <p:cNvPr id="253" name="꺾인 연결선 252"/>
          <p:cNvCxnSpPr>
            <a:stCxn id="252" idx="3"/>
            <a:endCxn id="206" idx="1"/>
          </p:cNvCxnSpPr>
          <p:nvPr/>
        </p:nvCxnSpPr>
        <p:spPr>
          <a:xfrm>
            <a:off x="7557109" y="2837207"/>
            <a:ext cx="223697" cy="163138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4" name="직사각형 253"/>
          <p:cNvSpPr/>
          <p:nvPr/>
        </p:nvSpPr>
        <p:spPr>
          <a:xfrm>
            <a:off x="8500189" y="5000342"/>
            <a:ext cx="2075729"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특허취소신청</a:t>
            </a:r>
            <a:r>
              <a:rPr lang="en-US" altLang="ko-KR" sz="1000" dirty="0"/>
              <a:t>(</a:t>
            </a:r>
            <a:r>
              <a:rPr lang="ko-KR" altLang="en-US" sz="1000" dirty="0"/>
              <a:t>法 </a:t>
            </a:r>
            <a:r>
              <a:rPr lang="en-US" altLang="ko-KR" sz="1000" dirty="0"/>
              <a:t>132</a:t>
            </a:r>
            <a:r>
              <a:rPr lang="ko-KR" altLang="en-US" sz="1000" dirty="0"/>
              <a:t>의</a:t>
            </a:r>
            <a:r>
              <a:rPr lang="en-US" altLang="ko-KR" sz="1000" dirty="0"/>
              <a:t>2~132</a:t>
            </a:r>
            <a:r>
              <a:rPr lang="ko-KR" altLang="en-US" sz="1000" dirty="0"/>
              <a:t>의</a:t>
            </a:r>
            <a:r>
              <a:rPr lang="en-US" altLang="ko-KR" sz="1000" dirty="0"/>
              <a:t>15)</a:t>
            </a:r>
            <a:endParaRPr lang="ko-KR" altLang="en-US" sz="1000" dirty="0"/>
          </a:p>
        </p:txBody>
      </p:sp>
      <p:cxnSp>
        <p:nvCxnSpPr>
          <p:cNvPr id="255" name="꺾인 연결선 254"/>
          <p:cNvCxnSpPr>
            <a:stCxn id="206" idx="3"/>
            <a:endCxn id="254" idx="1"/>
          </p:cNvCxnSpPr>
          <p:nvPr/>
        </p:nvCxnSpPr>
        <p:spPr>
          <a:xfrm>
            <a:off x="8336650" y="4468595"/>
            <a:ext cx="163539" cy="6110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6" name="직사각형 255"/>
          <p:cNvSpPr/>
          <p:nvPr/>
        </p:nvSpPr>
        <p:spPr>
          <a:xfrm>
            <a:off x="9363869" y="2079620"/>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중복심판청구금지</a:t>
            </a:r>
            <a:r>
              <a:rPr lang="en-US" altLang="ko-KR" sz="1000" dirty="0"/>
              <a:t>(</a:t>
            </a:r>
            <a:r>
              <a:rPr lang="ko-KR" altLang="en-US" sz="1000" dirty="0"/>
              <a:t>法 </a:t>
            </a:r>
            <a:r>
              <a:rPr lang="en-US" altLang="ko-KR" sz="1000" dirty="0"/>
              <a:t>154⑧ </a:t>
            </a:r>
            <a:r>
              <a:rPr lang="ko-KR" altLang="en-US" sz="1000" dirty="0"/>
              <a:t>준용</a:t>
            </a:r>
            <a:r>
              <a:rPr lang="en-US" altLang="ko-KR" sz="1000" dirty="0"/>
              <a:t> </a:t>
            </a:r>
            <a:r>
              <a:rPr lang="ko-KR" altLang="en-US" sz="1000" dirty="0"/>
              <a:t>민소</a:t>
            </a:r>
            <a:r>
              <a:rPr lang="en-US" altLang="ko-KR" sz="1000" dirty="0"/>
              <a:t>259)</a:t>
            </a:r>
          </a:p>
        </p:txBody>
      </p:sp>
      <p:sp>
        <p:nvSpPr>
          <p:cNvPr id="257" name="직사각형 256"/>
          <p:cNvSpPr/>
          <p:nvPr/>
        </p:nvSpPr>
        <p:spPr>
          <a:xfrm>
            <a:off x="8237008" y="5752000"/>
            <a:ext cx="420212"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en-US" altLang="ko-KR" sz="1200" dirty="0">
                <a:solidFill>
                  <a:schemeClr val="bg1"/>
                </a:solidFill>
              </a:rPr>
              <a:t>PCT</a:t>
            </a:r>
            <a:endParaRPr lang="ko-KR" altLang="en-US" sz="1200" dirty="0">
              <a:solidFill>
                <a:schemeClr val="bg1"/>
              </a:solidFill>
            </a:endParaRPr>
          </a:p>
        </p:txBody>
      </p:sp>
      <p:sp>
        <p:nvSpPr>
          <p:cNvPr id="258" name="직사각형 257"/>
          <p:cNvSpPr/>
          <p:nvPr/>
        </p:nvSpPr>
        <p:spPr>
          <a:xfrm>
            <a:off x="8810868" y="566042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특허출원절차</a:t>
            </a:r>
            <a:r>
              <a:rPr lang="en-US" altLang="ko-KR" sz="1000" dirty="0"/>
              <a:t>(</a:t>
            </a:r>
            <a:r>
              <a:rPr lang="ko-KR" altLang="en-US" sz="1000" dirty="0"/>
              <a:t>法 </a:t>
            </a:r>
            <a:r>
              <a:rPr lang="en-US" altLang="ko-KR" sz="1000" dirty="0"/>
              <a:t>192~198)</a:t>
            </a:r>
            <a:endParaRPr lang="ko-KR" altLang="en-US" sz="1000" dirty="0"/>
          </a:p>
        </p:txBody>
      </p:sp>
      <p:sp>
        <p:nvSpPr>
          <p:cNvPr id="259" name="직사각형 258"/>
          <p:cNvSpPr/>
          <p:nvPr/>
        </p:nvSpPr>
        <p:spPr>
          <a:xfrm>
            <a:off x="8810868" y="5856429"/>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국제조사 및 국제예비심사</a:t>
            </a:r>
            <a:r>
              <a:rPr lang="en-US" altLang="ko-KR" sz="1000" dirty="0"/>
              <a:t>(</a:t>
            </a:r>
            <a:r>
              <a:rPr lang="ko-KR" altLang="en-US" sz="1000" dirty="0"/>
              <a:t>法 </a:t>
            </a:r>
            <a:r>
              <a:rPr lang="en-US" altLang="ko-KR" sz="1000" dirty="0"/>
              <a:t>198</a:t>
            </a:r>
            <a:r>
              <a:rPr lang="ko-KR" altLang="en-US" sz="1000" dirty="0"/>
              <a:t>의</a:t>
            </a:r>
            <a:r>
              <a:rPr lang="en-US" altLang="ko-KR" sz="1000" dirty="0"/>
              <a:t>2)</a:t>
            </a:r>
            <a:endParaRPr lang="ko-KR" altLang="en-US" sz="1000" dirty="0"/>
          </a:p>
        </p:txBody>
      </p:sp>
      <p:sp>
        <p:nvSpPr>
          <p:cNvPr id="260" name="직사각형 259"/>
          <p:cNvSpPr/>
          <p:nvPr/>
        </p:nvSpPr>
        <p:spPr>
          <a:xfrm>
            <a:off x="8810868" y="604700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국제특허출원에 관한 특례</a:t>
            </a:r>
            <a:r>
              <a:rPr lang="en-US" altLang="ko-KR" sz="1000" dirty="0"/>
              <a:t>(</a:t>
            </a:r>
            <a:r>
              <a:rPr lang="ko-KR" altLang="en-US" sz="1000" dirty="0"/>
              <a:t>法 </a:t>
            </a:r>
            <a:r>
              <a:rPr lang="en-US" altLang="ko-KR" sz="1000" dirty="0"/>
              <a:t>199~214)</a:t>
            </a:r>
            <a:endParaRPr lang="ko-KR" altLang="en-US" sz="1000" dirty="0"/>
          </a:p>
        </p:txBody>
      </p:sp>
      <p:cxnSp>
        <p:nvCxnSpPr>
          <p:cNvPr id="261" name="꺾인 연결선 260"/>
          <p:cNvCxnSpPr>
            <a:stCxn id="257" idx="3"/>
            <a:endCxn id="258" idx="1"/>
          </p:cNvCxnSpPr>
          <p:nvPr/>
        </p:nvCxnSpPr>
        <p:spPr>
          <a:xfrm flipV="1">
            <a:off x="8657220" y="5729706"/>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꺾인 연결선 261"/>
          <p:cNvCxnSpPr>
            <a:stCxn id="257" idx="3"/>
            <a:endCxn id="259" idx="1"/>
          </p:cNvCxnSpPr>
          <p:nvPr/>
        </p:nvCxnSpPr>
        <p:spPr>
          <a:xfrm flipV="1">
            <a:off x="8657220" y="5925708"/>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꺾인 연결선 262"/>
          <p:cNvCxnSpPr>
            <a:stCxn id="257" idx="3"/>
            <a:endCxn id="260" idx="1"/>
          </p:cNvCxnSpPr>
          <p:nvPr/>
        </p:nvCxnSpPr>
        <p:spPr>
          <a:xfrm>
            <a:off x="8657220" y="5934143"/>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꺾인 연결선 263"/>
          <p:cNvCxnSpPr>
            <a:stCxn id="273" idx="3"/>
            <a:endCxn id="295" idx="1"/>
          </p:cNvCxnSpPr>
          <p:nvPr/>
        </p:nvCxnSpPr>
        <p:spPr>
          <a:xfrm flipV="1">
            <a:off x="4278775" y="4164703"/>
            <a:ext cx="168733" cy="44072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5" name="꺾인 연결선 264"/>
          <p:cNvCxnSpPr>
            <a:stCxn id="273" idx="3"/>
            <a:endCxn id="296" idx="1"/>
          </p:cNvCxnSpPr>
          <p:nvPr/>
        </p:nvCxnSpPr>
        <p:spPr>
          <a:xfrm flipV="1">
            <a:off x="4278775" y="4328505"/>
            <a:ext cx="168733" cy="27692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6" name="직사각형 265"/>
          <p:cNvSpPr/>
          <p:nvPr/>
        </p:nvSpPr>
        <p:spPr>
          <a:xfrm>
            <a:off x="612833" y="5324052"/>
            <a:ext cx="355015"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200" dirty="0">
                <a:solidFill>
                  <a:schemeClr val="bg1"/>
                </a:solidFill>
              </a:rPr>
              <a:t>소송</a:t>
            </a:r>
          </a:p>
        </p:txBody>
      </p:sp>
      <p:sp>
        <p:nvSpPr>
          <p:cNvPr id="267" name="직사각형 266"/>
          <p:cNvSpPr/>
          <p:nvPr/>
        </p:nvSpPr>
        <p:spPr>
          <a:xfrm>
            <a:off x="1121497" y="523247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err="1"/>
              <a:t>심결취소소송</a:t>
            </a:r>
            <a:r>
              <a:rPr lang="en-US" altLang="ko-KR" sz="1000" dirty="0"/>
              <a:t>(</a:t>
            </a:r>
            <a:r>
              <a:rPr lang="ko-KR" altLang="en-US" sz="1000" dirty="0"/>
              <a:t>法 </a:t>
            </a:r>
            <a:r>
              <a:rPr lang="en-US" altLang="ko-KR" sz="1000" dirty="0"/>
              <a:t>186~189)</a:t>
            </a:r>
            <a:endParaRPr lang="ko-KR" altLang="en-US" sz="1000" dirty="0"/>
          </a:p>
        </p:txBody>
      </p:sp>
      <p:sp>
        <p:nvSpPr>
          <p:cNvPr id="268" name="직사각형 267"/>
          <p:cNvSpPr/>
          <p:nvPr/>
        </p:nvSpPr>
        <p:spPr>
          <a:xfrm>
            <a:off x="1121497" y="5428481"/>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보상금</a:t>
            </a:r>
            <a:r>
              <a:rPr lang="en-US" altLang="ko-KR" sz="1000" dirty="0"/>
              <a:t>/</a:t>
            </a:r>
            <a:r>
              <a:rPr lang="ko-KR" altLang="en-US" sz="1000" dirty="0"/>
              <a:t>대가에 대한 소송</a:t>
            </a:r>
            <a:r>
              <a:rPr lang="en-US" altLang="ko-KR" sz="1000" dirty="0"/>
              <a:t>(</a:t>
            </a:r>
            <a:r>
              <a:rPr lang="ko-KR" altLang="en-US" sz="1000" dirty="0"/>
              <a:t>法 </a:t>
            </a:r>
            <a:r>
              <a:rPr lang="en-US" altLang="ko-KR" sz="1000" dirty="0"/>
              <a:t>190, 191)</a:t>
            </a:r>
            <a:endParaRPr lang="ko-KR" altLang="en-US" sz="1000" dirty="0"/>
          </a:p>
        </p:txBody>
      </p:sp>
      <p:sp>
        <p:nvSpPr>
          <p:cNvPr id="269" name="직사각형 268"/>
          <p:cNvSpPr/>
          <p:nvPr/>
        </p:nvSpPr>
        <p:spPr>
          <a:xfrm>
            <a:off x="1121497" y="561905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fontAlgn="base"/>
            <a:r>
              <a:rPr lang="ko-KR" altLang="en-US" sz="1000" dirty="0"/>
              <a:t>변리사 보수</a:t>
            </a:r>
            <a:r>
              <a:rPr lang="en-US" altLang="ko-KR" sz="1000" dirty="0"/>
              <a:t>(</a:t>
            </a:r>
            <a:r>
              <a:rPr lang="ko-KR" altLang="en-US" sz="1000" dirty="0"/>
              <a:t>法 </a:t>
            </a:r>
            <a:r>
              <a:rPr lang="en-US" altLang="ko-KR" sz="1000" dirty="0"/>
              <a:t>191</a:t>
            </a:r>
            <a:r>
              <a:rPr lang="ko-KR" altLang="en-US" sz="1000" dirty="0"/>
              <a:t>의</a:t>
            </a:r>
            <a:r>
              <a:rPr lang="en-US" altLang="ko-KR" sz="1000" dirty="0"/>
              <a:t>2)</a:t>
            </a:r>
            <a:endParaRPr lang="ko-KR" altLang="en-US" sz="1000" dirty="0"/>
          </a:p>
        </p:txBody>
      </p:sp>
      <p:cxnSp>
        <p:nvCxnSpPr>
          <p:cNvPr id="270" name="꺾인 연결선 269"/>
          <p:cNvCxnSpPr>
            <a:stCxn id="266" idx="3"/>
            <a:endCxn id="267" idx="1"/>
          </p:cNvCxnSpPr>
          <p:nvPr/>
        </p:nvCxnSpPr>
        <p:spPr>
          <a:xfrm flipV="1">
            <a:off x="967848" y="5301758"/>
            <a:ext cx="153649"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1" name="꺾인 연결선 270"/>
          <p:cNvCxnSpPr>
            <a:stCxn id="266" idx="3"/>
            <a:endCxn id="268" idx="1"/>
          </p:cNvCxnSpPr>
          <p:nvPr/>
        </p:nvCxnSpPr>
        <p:spPr>
          <a:xfrm flipV="1">
            <a:off x="967848" y="5497760"/>
            <a:ext cx="153649"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2" name="꺾인 연결선 271"/>
          <p:cNvCxnSpPr>
            <a:stCxn id="266" idx="3"/>
            <a:endCxn id="269" idx="1"/>
          </p:cNvCxnSpPr>
          <p:nvPr/>
        </p:nvCxnSpPr>
        <p:spPr>
          <a:xfrm>
            <a:off x="967848" y="5506195"/>
            <a:ext cx="153649"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3" name="직사각형 272"/>
          <p:cNvSpPr/>
          <p:nvPr/>
        </p:nvSpPr>
        <p:spPr>
          <a:xfrm>
            <a:off x="3609544" y="4480740"/>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accent3">
                    <a:lumMod val="50000"/>
                  </a:schemeClr>
                </a:solidFill>
              </a:rPr>
              <a:t>소송요건</a:t>
            </a:r>
            <a:endParaRPr lang="en-US" altLang="ko-KR" sz="1000" dirty="0">
              <a:solidFill>
                <a:schemeClr val="accent3">
                  <a:lumMod val="50000"/>
                </a:schemeClr>
              </a:solidFill>
            </a:endParaRPr>
          </a:p>
          <a:p>
            <a:pPr algn="ctr"/>
            <a:r>
              <a:rPr lang="en-US" altLang="ko-KR" sz="700" dirty="0">
                <a:solidFill>
                  <a:schemeClr val="accent3">
                    <a:lumMod val="50000"/>
                  </a:schemeClr>
                </a:solidFill>
              </a:rPr>
              <a:t>(</a:t>
            </a:r>
            <a:r>
              <a:rPr lang="ko-KR" altLang="en-US" sz="700" dirty="0">
                <a:solidFill>
                  <a:schemeClr val="accent3">
                    <a:lumMod val="50000"/>
                  </a:schemeClr>
                </a:solidFill>
              </a:rPr>
              <a:t>法 </a:t>
            </a:r>
            <a:r>
              <a:rPr lang="en-US" altLang="ko-KR" sz="700" dirty="0">
                <a:solidFill>
                  <a:schemeClr val="accent3">
                    <a:lumMod val="50000"/>
                  </a:schemeClr>
                </a:solidFill>
              </a:rPr>
              <a:t>186, 187)</a:t>
            </a:r>
            <a:endParaRPr lang="ko-KR" altLang="en-US" sz="700" dirty="0">
              <a:solidFill>
                <a:schemeClr val="accent3">
                  <a:lumMod val="50000"/>
                </a:schemeClr>
              </a:solidFill>
            </a:endParaRPr>
          </a:p>
        </p:txBody>
      </p:sp>
      <p:sp>
        <p:nvSpPr>
          <p:cNvPr id="274" name="직사각형 273"/>
          <p:cNvSpPr/>
          <p:nvPr/>
        </p:nvSpPr>
        <p:spPr>
          <a:xfrm>
            <a:off x="3609544" y="5109654"/>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소송제기</a:t>
            </a:r>
          </a:p>
        </p:txBody>
      </p:sp>
      <p:sp>
        <p:nvSpPr>
          <p:cNvPr id="275" name="직사각형 274"/>
          <p:cNvSpPr/>
          <p:nvPr/>
        </p:nvSpPr>
        <p:spPr>
          <a:xfrm>
            <a:off x="3609544" y="5640678"/>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소송심리</a:t>
            </a:r>
          </a:p>
        </p:txBody>
      </p:sp>
      <p:sp>
        <p:nvSpPr>
          <p:cNvPr id="276" name="직사각형 275"/>
          <p:cNvSpPr/>
          <p:nvPr/>
        </p:nvSpPr>
        <p:spPr>
          <a:xfrm>
            <a:off x="3609544" y="6249551"/>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소송종료</a:t>
            </a:r>
          </a:p>
        </p:txBody>
      </p:sp>
      <p:cxnSp>
        <p:nvCxnSpPr>
          <p:cNvPr id="277" name="꺾인 연결선 276"/>
          <p:cNvCxnSpPr>
            <a:stCxn id="267" idx="3"/>
            <a:endCxn id="273" idx="1"/>
          </p:cNvCxnSpPr>
          <p:nvPr/>
        </p:nvCxnSpPr>
        <p:spPr>
          <a:xfrm flipV="1">
            <a:off x="3454709" y="4605428"/>
            <a:ext cx="154835" cy="696330"/>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꺾인 연결선 277"/>
          <p:cNvCxnSpPr>
            <a:stCxn id="267" idx="3"/>
            <a:endCxn id="276" idx="1"/>
          </p:cNvCxnSpPr>
          <p:nvPr/>
        </p:nvCxnSpPr>
        <p:spPr>
          <a:xfrm>
            <a:off x="3454709" y="5301758"/>
            <a:ext cx="154835" cy="1072481"/>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꺾인 연결선 278"/>
          <p:cNvCxnSpPr>
            <a:stCxn id="267" idx="3"/>
            <a:endCxn id="274" idx="1"/>
          </p:cNvCxnSpPr>
          <p:nvPr/>
        </p:nvCxnSpPr>
        <p:spPr>
          <a:xfrm flipV="1">
            <a:off x="3454709" y="5234342"/>
            <a:ext cx="154835" cy="6741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꺾인 연결선 279"/>
          <p:cNvCxnSpPr>
            <a:stCxn id="267" idx="3"/>
            <a:endCxn id="275" idx="1"/>
          </p:cNvCxnSpPr>
          <p:nvPr/>
        </p:nvCxnSpPr>
        <p:spPr>
          <a:xfrm>
            <a:off x="3454709" y="5301758"/>
            <a:ext cx="154835" cy="46360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꺾인 연결선 280"/>
          <p:cNvCxnSpPr>
            <a:stCxn id="273" idx="3"/>
            <a:endCxn id="297" idx="1"/>
          </p:cNvCxnSpPr>
          <p:nvPr/>
        </p:nvCxnSpPr>
        <p:spPr>
          <a:xfrm flipV="1">
            <a:off x="4278775" y="4489475"/>
            <a:ext cx="168733" cy="1159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꺾인 연결선 281"/>
          <p:cNvCxnSpPr>
            <a:stCxn id="274" idx="3"/>
            <a:endCxn id="298" idx="1"/>
          </p:cNvCxnSpPr>
          <p:nvPr/>
        </p:nvCxnSpPr>
        <p:spPr>
          <a:xfrm flipV="1">
            <a:off x="4278775" y="5070329"/>
            <a:ext cx="168733" cy="16401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꺾인 연결선 282"/>
          <p:cNvCxnSpPr>
            <a:stCxn id="274" idx="3"/>
            <a:endCxn id="299" idx="1"/>
          </p:cNvCxnSpPr>
          <p:nvPr/>
        </p:nvCxnSpPr>
        <p:spPr>
          <a:xfrm flipV="1">
            <a:off x="4278775" y="5234131"/>
            <a:ext cx="168733" cy="2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4" name="꺾인 연결선 283"/>
          <p:cNvCxnSpPr>
            <a:stCxn id="275" idx="3"/>
            <a:endCxn id="300" idx="1"/>
          </p:cNvCxnSpPr>
          <p:nvPr/>
        </p:nvCxnSpPr>
        <p:spPr>
          <a:xfrm flipV="1">
            <a:off x="4278775" y="5762383"/>
            <a:ext cx="168733" cy="298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5" name="꺾인 연결선 284"/>
          <p:cNvCxnSpPr>
            <a:cxnSpLocks/>
            <a:stCxn id="275" idx="3"/>
            <a:endCxn id="301" idx="1"/>
          </p:cNvCxnSpPr>
          <p:nvPr/>
        </p:nvCxnSpPr>
        <p:spPr>
          <a:xfrm>
            <a:off x="4278775" y="5765366"/>
            <a:ext cx="168733" cy="2485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6" name="꺾인 연결선 285"/>
          <p:cNvCxnSpPr>
            <a:stCxn id="276" idx="3"/>
            <a:endCxn id="302" idx="1"/>
          </p:cNvCxnSpPr>
          <p:nvPr/>
        </p:nvCxnSpPr>
        <p:spPr>
          <a:xfrm flipV="1">
            <a:off x="4278775" y="6284664"/>
            <a:ext cx="168733" cy="895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7" name="꺾인 연결선 286"/>
          <p:cNvCxnSpPr>
            <a:cxnSpLocks/>
            <a:stCxn id="276" idx="3"/>
            <a:endCxn id="303" idx="1"/>
          </p:cNvCxnSpPr>
          <p:nvPr/>
        </p:nvCxnSpPr>
        <p:spPr>
          <a:xfrm>
            <a:off x="4278775" y="6374239"/>
            <a:ext cx="168733" cy="1744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9" name="직사각형 288"/>
          <p:cNvSpPr/>
          <p:nvPr/>
        </p:nvSpPr>
        <p:spPr>
          <a:xfrm>
            <a:off x="5954614" y="5228714"/>
            <a:ext cx="1396961" cy="32899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변론주의 원칙</a:t>
            </a:r>
            <a:endParaRPr lang="en-US" altLang="ko-KR" sz="1000" dirty="0"/>
          </a:p>
          <a:p>
            <a:pPr algn="ctr"/>
            <a:r>
              <a:rPr lang="en-US" altLang="ko-KR" sz="1000" dirty="0"/>
              <a:t>(</a:t>
            </a:r>
            <a:r>
              <a:rPr lang="ko-KR" altLang="en-US" sz="1000" dirty="0"/>
              <a:t>직권주의 가미</a:t>
            </a:r>
            <a:r>
              <a:rPr lang="en-US" altLang="ko-KR" sz="1000" dirty="0"/>
              <a:t>)</a:t>
            </a:r>
            <a:endParaRPr lang="ko-KR" altLang="en-US" sz="1000" dirty="0"/>
          </a:p>
        </p:txBody>
      </p:sp>
      <p:sp>
        <p:nvSpPr>
          <p:cNvPr id="290" name="직사각형 289"/>
          <p:cNvSpPr/>
          <p:nvPr/>
        </p:nvSpPr>
        <p:spPr>
          <a:xfrm>
            <a:off x="5954614" y="5591097"/>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위법판단의 기준시점</a:t>
            </a:r>
          </a:p>
        </p:txBody>
      </p:sp>
      <p:sp>
        <p:nvSpPr>
          <p:cNvPr id="291" name="직사각형 290"/>
          <p:cNvSpPr/>
          <p:nvPr/>
        </p:nvSpPr>
        <p:spPr>
          <a:xfrm>
            <a:off x="5954614" y="575324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심리범위</a:t>
            </a:r>
          </a:p>
        </p:txBody>
      </p:sp>
      <p:sp>
        <p:nvSpPr>
          <p:cNvPr id="292" name="직사각형 291"/>
          <p:cNvSpPr/>
          <p:nvPr/>
        </p:nvSpPr>
        <p:spPr>
          <a:xfrm>
            <a:off x="5954614" y="591100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주장증명책임</a:t>
            </a:r>
          </a:p>
        </p:txBody>
      </p:sp>
      <p:sp>
        <p:nvSpPr>
          <p:cNvPr id="293" name="직사각형 292"/>
          <p:cNvSpPr/>
          <p:nvPr/>
        </p:nvSpPr>
        <p:spPr>
          <a:xfrm>
            <a:off x="5954614" y="6071372"/>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자백</a:t>
            </a:r>
          </a:p>
        </p:txBody>
      </p:sp>
      <p:sp>
        <p:nvSpPr>
          <p:cNvPr id="295" name="직사각형 294"/>
          <p:cNvSpPr/>
          <p:nvPr/>
        </p:nvSpPr>
        <p:spPr>
          <a:xfrm>
            <a:off x="4447508" y="410052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err="1"/>
              <a:t>소송물</a:t>
            </a:r>
            <a:endParaRPr lang="ko-KR" altLang="en-US" sz="1000" dirty="0"/>
          </a:p>
        </p:txBody>
      </p:sp>
      <p:sp>
        <p:nvSpPr>
          <p:cNvPr id="296" name="직사각형 295"/>
          <p:cNvSpPr/>
          <p:nvPr/>
        </p:nvSpPr>
        <p:spPr>
          <a:xfrm>
            <a:off x="4447508" y="426432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소의 이익</a:t>
            </a:r>
          </a:p>
        </p:txBody>
      </p:sp>
      <p:sp>
        <p:nvSpPr>
          <p:cNvPr id="297" name="직사각형 296"/>
          <p:cNvSpPr/>
          <p:nvPr/>
        </p:nvSpPr>
        <p:spPr>
          <a:xfrm>
            <a:off x="4447508" y="442529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관할</a:t>
            </a:r>
          </a:p>
        </p:txBody>
      </p:sp>
      <p:sp>
        <p:nvSpPr>
          <p:cNvPr id="298" name="직사각형 297"/>
          <p:cNvSpPr/>
          <p:nvPr/>
        </p:nvSpPr>
        <p:spPr>
          <a:xfrm>
            <a:off x="4447508" y="5006153"/>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소장의 제출</a:t>
            </a:r>
          </a:p>
        </p:txBody>
      </p:sp>
      <p:sp>
        <p:nvSpPr>
          <p:cNvPr id="299" name="직사각형 298"/>
          <p:cNvSpPr/>
          <p:nvPr/>
        </p:nvSpPr>
        <p:spPr>
          <a:xfrm>
            <a:off x="4447508" y="516995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심판원장에게 통지</a:t>
            </a:r>
            <a:r>
              <a:rPr lang="en-US" altLang="ko-KR" sz="600" dirty="0">
                <a:solidFill>
                  <a:schemeClr val="tx1"/>
                </a:solidFill>
              </a:rPr>
              <a:t>(</a:t>
            </a:r>
            <a:r>
              <a:rPr lang="ko-KR" altLang="en-US" sz="600" dirty="0">
                <a:solidFill>
                  <a:schemeClr val="tx1"/>
                </a:solidFill>
              </a:rPr>
              <a:t>法 </a:t>
            </a:r>
            <a:r>
              <a:rPr lang="en-US" altLang="ko-KR" sz="600" dirty="0">
                <a:solidFill>
                  <a:schemeClr val="tx1"/>
                </a:solidFill>
              </a:rPr>
              <a:t>188)</a:t>
            </a:r>
            <a:endParaRPr lang="en-US" altLang="ko-KR" sz="1000" dirty="0">
              <a:solidFill>
                <a:schemeClr val="tx1"/>
              </a:solidFill>
            </a:endParaRPr>
          </a:p>
        </p:txBody>
      </p:sp>
      <p:sp>
        <p:nvSpPr>
          <p:cNvPr id="300" name="직사각형 299"/>
          <p:cNvSpPr/>
          <p:nvPr/>
        </p:nvSpPr>
        <p:spPr>
          <a:xfrm>
            <a:off x="4447508" y="569820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err="1"/>
              <a:t>본안심리</a:t>
            </a:r>
            <a:endParaRPr lang="ko-KR" altLang="en-US" sz="1000" dirty="0"/>
          </a:p>
        </p:txBody>
      </p:sp>
      <p:sp>
        <p:nvSpPr>
          <p:cNvPr id="301" name="직사각형 300"/>
          <p:cNvSpPr/>
          <p:nvPr/>
        </p:nvSpPr>
        <p:spPr>
          <a:xfrm>
            <a:off x="4447508" y="5859952"/>
            <a:ext cx="1380067" cy="30802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기술심리관의 관여</a:t>
            </a:r>
            <a:endParaRPr lang="en-US" altLang="ko-KR" sz="1000" dirty="0">
              <a:solidFill>
                <a:schemeClr val="tx1"/>
              </a:solidFill>
            </a:endParaRPr>
          </a:p>
          <a:p>
            <a:pPr algn="ctr"/>
            <a:r>
              <a:rPr lang="en-US" altLang="ko-KR" sz="800" dirty="0">
                <a:solidFill>
                  <a:schemeClr val="tx1"/>
                </a:solidFill>
              </a:rPr>
              <a:t>(</a:t>
            </a:r>
            <a:r>
              <a:rPr lang="ko-KR" altLang="en-US" sz="800" dirty="0">
                <a:solidFill>
                  <a:schemeClr val="tx1"/>
                </a:solidFill>
              </a:rPr>
              <a:t>法 </a:t>
            </a:r>
            <a:r>
              <a:rPr lang="en-US" altLang="ko-KR" sz="800" dirty="0">
                <a:solidFill>
                  <a:schemeClr val="tx1"/>
                </a:solidFill>
              </a:rPr>
              <a:t>188</a:t>
            </a:r>
            <a:r>
              <a:rPr lang="ko-KR" altLang="en-US" sz="800" dirty="0">
                <a:solidFill>
                  <a:schemeClr val="tx1"/>
                </a:solidFill>
              </a:rPr>
              <a:t>의</a:t>
            </a:r>
            <a:r>
              <a:rPr lang="en-US" altLang="ko-KR" sz="800" dirty="0">
                <a:solidFill>
                  <a:schemeClr val="tx1"/>
                </a:solidFill>
              </a:rPr>
              <a:t>2)</a:t>
            </a:r>
            <a:endParaRPr lang="ko-KR" altLang="en-US" sz="1000" dirty="0">
              <a:solidFill>
                <a:schemeClr val="tx1"/>
              </a:solidFill>
            </a:endParaRPr>
          </a:p>
        </p:txBody>
      </p:sp>
      <p:sp>
        <p:nvSpPr>
          <p:cNvPr id="302" name="직사각형 301"/>
          <p:cNvSpPr/>
          <p:nvPr/>
        </p:nvSpPr>
        <p:spPr>
          <a:xfrm>
            <a:off x="4447508" y="622048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당사자에 의한 종결</a:t>
            </a:r>
          </a:p>
        </p:txBody>
      </p:sp>
      <p:sp>
        <p:nvSpPr>
          <p:cNvPr id="303" name="직사각형 302"/>
          <p:cNvSpPr/>
          <p:nvPr/>
        </p:nvSpPr>
        <p:spPr>
          <a:xfrm>
            <a:off x="4447508" y="6382234"/>
            <a:ext cx="1380067" cy="33289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종국판결에 의한 종결</a:t>
            </a:r>
            <a:endParaRPr lang="en-US" altLang="ko-KR" sz="1000" dirty="0">
              <a:solidFill>
                <a:schemeClr val="tx1"/>
              </a:solidFill>
            </a:endParaRPr>
          </a:p>
          <a:p>
            <a:pPr algn="ctr"/>
            <a:r>
              <a:rPr lang="en-US" altLang="ko-KR" sz="800" dirty="0">
                <a:solidFill>
                  <a:schemeClr val="tx1"/>
                </a:solidFill>
              </a:rPr>
              <a:t>(</a:t>
            </a:r>
            <a:r>
              <a:rPr lang="ko-KR" altLang="en-US" sz="800" dirty="0">
                <a:solidFill>
                  <a:schemeClr val="tx1"/>
                </a:solidFill>
              </a:rPr>
              <a:t>法 </a:t>
            </a:r>
            <a:r>
              <a:rPr lang="en-US" altLang="ko-KR" sz="800" dirty="0">
                <a:solidFill>
                  <a:schemeClr val="tx1"/>
                </a:solidFill>
              </a:rPr>
              <a:t>189)</a:t>
            </a:r>
            <a:endParaRPr lang="ko-KR" altLang="en-US" sz="1000" dirty="0">
              <a:solidFill>
                <a:schemeClr val="tx1"/>
              </a:solidFill>
            </a:endParaRPr>
          </a:p>
        </p:txBody>
      </p:sp>
      <p:sp>
        <p:nvSpPr>
          <p:cNvPr id="304" name="직사각형 303"/>
          <p:cNvSpPr/>
          <p:nvPr/>
        </p:nvSpPr>
        <p:spPr>
          <a:xfrm>
            <a:off x="4447508" y="459403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당사자</a:t>
            </a:r>
          </a:p>
        </p:txBody>
      </p:sp>
      <p:sp>
        <p:nvSpPr>
          <p:cNvPr id="305" name="직사각형 304"/>
          <p:cNvSpPr/>
          <p:nvPr/>
        </p:nvSpPr>
        <p:spPr>
          <a:xfrm>
            <a:off x="4447508" y="554183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소송요건의 심리</a:t>
            </a:r>
            <a:endParaRPr lang="en-US" altLang="ko-KR" sz="1000" dirty="0"/>
          </a:p>
        </p:txBody>
      </p:sp>
      <p:sp>
        <p:nvSpPr>
          <p:cNvPr id="306" name="직사각형 305"/>
          <p:cNvSpPr/>
          <p:nvPr/>
        </p:nvSpPr>
        <p:spPr>
          <a:xfrm>
            <a:off x="4447508" y="5338441"/>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소장의 심사</a:t>
            </a:r>
            <a:endParaRPr lang="en-US" altLang="ko-KR" sz="1000" dirty="0"/>
          </a:p>
        </p:txBody>
      </p:sp>
      <p:sp>
        <p:nvSpPr>
          <p:cNvPr id="307" name="직사각형 306"/>
          <p:cNvSpPr/>
          <p:nvPr/>
        </p:nvSpPr>
        <p:spPr>
          <a:xfrm>
            <a:off x="4447508" y="476412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t>제소기간</a:t>
            </a:r>
          </a:p>
        </p:txBody>
      </p:sp>
      <p:cxnSp>
        <p:nvCxnSpPr>
          <p:cNvPr id="309" name="꺾인 연결선 308"/>
          <p:cNvCxnSpPr>
            <a:stCxn id="273" idx="3"/>
            <a:endCxn id="304" idx="1"/>
          </p:cNvCxnSpPr>
          <p:nvPr/>
        </p:nvCxnSpPr>
        <p:spPr>
          <a:xfrm>
            <a:off x="4278775" y="4605428"/>
            <a:ext cx="168733" cy="527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0" name="꺾인 연결선 309"/>
          <p:cNvCxnSpPr>
            <a:stCxn id="273" idx="3"/>
            <a:endCxn id="307" idx="1"/>
          </p:cNvCxnSpPr>
          <p:nvPr/>
        </p:nvCxnSpPr>
        <p:spPr>
          <a:xfrm>
            <a:off x="4278775" y="4605428"/>
            <a:ext cx="168733" cy="2228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꺾인 연결선 310"/>
          <p:cNvCxnSpPr>
            <a:stCxn id="274" idx="3"/>
            <a:endCxn id="306" idx="1"/>
          </p:cNvCxnSpPr>
          <p:nvPr/>
        </p:nvCxnSpPr>
        <p:spPr>
          <a:xfrm>
            <a:off x="4278775" y="5234342"/>
            <a:ext cx="168733" cy="1682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꺾인 연결선 311"/>
          <p:cNvCxnSpPr>
            <a:stCxn id="275" idx="3"/>
            <a:endCxn id="305" idx="1"/>
          </p:cNvCxnSpPr>
          <p:nvPr/>
        </p:nvCxnSpPr>
        <p:spPr>
          <a:xfrm flipV="1">
            <a:off x="4278775" y="5606011"/>
            <a:ext cx="168733" cy="15935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꺾인 연결선 312"/>
          <p:cNvCxnSpPr>
            <a:stCxn id="300" idx="3"/>
            <a:endCxn id="289" idx="1"/>
          </p:cNvCxnSpPr>
          <p:nvPr/>
        </p:nvCxnSpPr>
        <p:spPr>
          <a:xfrm flipV="1">
            <a:off x="5827575" y="5393209"/>
            <a:ext cx="127039" cy="36917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꺾인 연결선 313"/>
          <p:cNvCxnSpPr>
            <a:stCxn id="300" idx="3"/>
            <a:endCxn id="290" idx="1"/>
          </p:cNvCxnSpPr>
          <p:nvPr/>
        </p:nvCxnSpPr>
        <p:spPr>
          <a:xfrm flipV="1">
            <a:off x="5827575" y="5655273"/>
            <a:ext cx="127039" cy="1071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꺾인 연결선 314"/>
          <p:cNvCxnSpPr>
            <a:stCxn id="300" idx="3"/>
            <a:endCxn id="291" idx="1"/>
          </p:cNvCxnSpPr>
          <p:nvPr/>
        </p:nvCxnSpPr>
        <p:spPr>
          <a:xfrm>
            <a:off x="5827575" y="5762383"/>
            <a:ext cx="127039" cy="5503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6" name="꺾인 연결선 315"/>
          <p:cNvCxnSpPr>
            <a:stCxn id="300" idx="3"/>
            <a:endCxn id="292" idx="1"/>
          </p:cNvCxnSpPr>
          <p:nvPr/>
        </p:nvCxnSpPr>
        <p:spPr>
          <a:xfrm>
            <a:off x="5827575" y="5762383"/>
            <a:ext cx="127039" cy="21279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꺾인 연결선 316"/>
          <p:cNvCxnSpPr>
            <a:endCxn id="293" idx="1"/>
          </p:cNvCxnSpPr>
          <p:nvPr/>
        </p:nvCxnSpPr>
        <p:spPr>
          <a:xfrm rot="16200000" flipH="1">
            <a:off x="5802218" y="5983152"/>
            <a:ext cx="293982" cy="10810"/>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8" name="직사각형 317"/>
          <p:cNvSpPr/>
          <p:nvPr/>
        </p:nvSpPr>
        <p:spPr>
          <a:xfrm>
            <a:off x="6103431" y="3574465"/>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특허법</a:t>
            </a:r>
            <a:endParaRPr lang="en-US" altLang="ko-KR" dirty="0"/>
          </a:p>
          <a:p>
            <a:pPr algn="ctr"/>
            <a:r>
              <a:rPr lang="ko-KR" altLang="en-US" dirty="0"/>
              <a:t>체계도</a:t>
            </a:r>
          </a:p>
        </p:txBody>
      </p:sp>
      <p:sp>
        <p:nvSpPr>
          <p:cNvPr id="319" name="타원 318"/>
          <p:cNvSpPr/>
          <p:nvPr/>
        </p:nvSpPr>
        <p:spPr>
          <a:xfrm>
            <a:off x="322118" y="268689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5</a:t>
            </a:r>
            <a:endParaRPr lang="ko-KR" altLang="en-US" dirty="0"/>
          </a:p>
        </p:txBody>
      </p:sp>
      <p:sp>
        <p:nvSpPr>
          <p:cNvPr id="320" name="타원 319"/>
          <p:cNvSpPr/>
          <p:nvPr/>
        </p:nvSpPr>
        <p:spPr>
          <a:xfrm>
            <a:off x="262164" y="5316045"/>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7</a:t>
            </a:r>
            <a:endParaRPr lang="ko-KR" altLang="en-US" dirty="0"/>
          </a:p>
        </p:txBody>
      </p:sp>
      <p:sp>
        <p:nvSpPr>
          <p:cNvPr id="321" name="타원 320"/>
          <p:cNvSpPr/>
          <p:nvPr/>
        </p:nvSpPr>
        <p:spPr>
          <a:xfrm>
            <a:off x="7873581" y="5757616"/>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8</a:t>
            </a:r>
            <a:endParaRPr lang="ko-KR" altLang="en-US" dirty="0"/>
          </a:p>
        </p:txBody>
      </p:sp>
      <p:sp>
        <p:nvSpPr>
          <p:cNvPr id="322" name="타원 321"/>
          <p:cNvSpPr/>
          <p:nvPr/>
        </p:nvSpPr>
        <p:spPr>
          <a:xfrm>
            <a:off x="6772900" y="266696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6</a:t>
            </a:r>
            <a:endParaRPr lang="ko-KR" altLang="en-US" dirty="0"/>
          </a:p>
        </p:txBody>
      </p:sp>
      <p:sp>
        <p:nvSpPr>
          <p:cNvPr id="323" name="자유형 322"/>
          <p:cNvSpPr/>
          <p:nvPr/>
        </p:nvSpPr>
        <p:spPr>
          <a:xfrm>
            <a:off x="523875" y="3059642"/>
            <a:ext cx="5571067" cy="1845733"/>
          </a:xfrm>
          <a:custGeom>
            <a:avLst/>
            <a:gdLst>
              <a:gd name="connsiteX0" fmla="*/ 5571067 w 5571067"/>
              <a:gd name="connsiteY0" fmla="*/ 872066 h 1845733"/>
              <a:gd name="connsiteX1" fmla="*/ 3708400 w 5571067"/>
              <a:gd name="connsiteY1" fmla="*/ 872066 h 1845733"/>
              <a:gd name="connsiteX2" fmla="*/ 3708400 w 5571067"/>
              <a:gd name="connsiteY2" fmla="*/ 1244600 h 1845733"/>
              <a:gd name="connsiteX3" fmla="*/ 2853267 w 5571067"/>
              <a:gd name="connsiteY3" fmla="*/ 1244600 h 1845733"/>
              <a:gd name="connsiteX4" fmla="*/ 2853267 w 5571067"/>
              <a:gd name="connsiteY4" fmla="*/ 1845733 h 1845733"/>
              <a:gd name="connsiteX5" fmla="*/ 0 w 5571067"/>
              <a:gd name="connsiteY5" fmla="*/ 1845733 h 1845733"/>
              <a:gd name="connsiteX6" fmla="*/ 0 w 5571067"/>
              <a:gd name="connsiteY6" fmla="*/ 0 h 184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1067" h="1845733">
                <a:moveTo>
                  <a:pt x="5571067" y="872066"/>
                </a:moveTo>
                <a:lnTo>
                  <a:pt x="3708400" y="872066"/>
                </a:lnTo>
                <a:lnTo>
                  <a:pt x="3708400" y="1244600"/>
                </a:lnTo>
                <a:lnTo>
                  <a:pt x="2853267" y="1244600"/>
                </a:lnTo>
                <a:lnTo>
                  <a:pt x="2853267" y="1845733"/>
                </a:lnTo>
                <a:lnTo>
                  <a:pt x="0" y="1845733"/>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4" name="자유형 323"/>
          <p:cNvSpPr/>
          <p:nvPr/>
        </p:nvSpPr>
        <p:spPr>
          <a:xfrm>
            <a:off x="422275" y="4905375"/>
            <a:ext cx="84667" cy="397933"/>
          </a:xfrm>
          <a:custGeom>
            <a:avLst/>
            <a:gdLst>
              <a:gd name="connsiteX0" fmla="*/ 84667 w 84667"/>
              <a:gd name="connsiteY0" fmla="*/ 0 h 397933"/>
              <a:gd name="connsiteX1" fmla="*/ 0 w 84667"/>
              <a:gd name="connsiteY1" fmla="*/ 0 h 397933"/>
              <a:gd name="connsiteX2" fmla="*/ 0 w 84667"/>
              <a:gd name="connsiteY2" fmla="*/ 397933 h 397933"/>
            </a:gdLst>
            <a:ahLst/>
            <a:cxnLst>
              <a:cxn ang="0">
                <a:pos x="connsiteX0" y="connsiteY0"/>
              </a:cxn>
              <a:cxn ang="0">
                <a:pos x="connsiteX1" y="connsiteY1"/>
              </a:cxn>
              <a:cxn ang="0">
                <a:pos x="connsiteX2" y="connsiteY2"/>
              </a:cxn>
            </a:cxnLst>
            <a:rect l="l" t="t" r="r" b="b"/>
            <a:pathLst>
              <a:path w="84667" h="397933">
                <a:moveTo>
                  <a:pt x="84667" y="0"/>
                </a:moveTo>
                <a:lnTo>
                  <a:pt x="0" y="0"/>
                </a:lnTo>
                <a:lnTo>
                  <a:pt x="0" y="397933"/>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5" name="자유형 324"/>
          <p:cNvSpPr/>
          <p:nvPr/>
        </p:nvSpPr>
        <p:spPr>
          <a:xfrm>
            <a:off x="6569075" y="2839508"/>
            <a:ext cx="186267" cy="745067"/>
          </a:xfrm>
          <a:custGeom>
            <a:avLst/>
            <a:gdLst>
              <a:gd name="connsiteX0" fmla="*/ 0 w 186267"/>
              <a:gd name="connsiteY0" fmla="*/ 745067 h 745067"/>
              <a:gd name="connsiteX1" fmla="*/ 0 w 186267"/>
              <a:gd name="connsiteY1" fmla="*/ 745067 h 745067"/>
              <a:gd name="connsiteX2" fmla="*/ 0 w 186267"/>
              <a:gd name="connsiteY2" fmla="*/ 0 h 745067"/>
              <a:gd name="connsiteX3" fmla="*/ 186267 w 186267"/>
              <a:gd name="connsiteY3" fmla="*/ 0 h 745067"/>
            </a:gdLst>
            <a:ahLst/>
            <a:cxnLst>
              <a:cxn ang="0">
                <a:pos x="connsiteX0" y="connsiteY0"/>
              </a:cxn>
              <a:cxn ang="0">
                <a:pos x="connsiteX1" y="connsiteY1"/>
              </a:cxn>
              <a:cxn ang="0">
                <a:pos x="connsiteX2" y="connsiteY2"/>
              </a:cxn>
              <a:cxn ang="0">
                <a:pos x="connsiteX3" y="connsiteY3"/>
              </a:cxn>
            </a:cxnLst>
            <a:rect l="l" t="t" r="r" b="b"/>
            <a:pathLst>
              <a:path w="186267" h="745067">
                <a:moveTo>
                  <a:pt x="0" y="745067"/>
                </a:moveTo>
                <a:lnTo>
                  <a:pt x="0" y="745067"/>
                </a:lnTo>
                <a:lnTo>
                  <a:pt x="0" y="0"/>
                </a:lnTo>
                <a:lnTo>
                  <a:pt x="186267"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326" name="자유형 325"/>
          <p:cNvSpPr/>
          <p:nvPr/>
        </p:nvSpPr>
        <p:spPr>
          <a:xfrm>
            <a:off x="6577542" y="4498975"/>
            <a:ext cx="1498600" cy="1244600"/>
          </a:xfrm>
          <a:custGeom>
            <a:avLst/>
            <a:gdLst>
              <a:gd name="connsiteX0" fmla="*/ 0 w 1498600"/>
              <a:gd name="connsiteY0" fmla="*/ 0 h 1244600"/>
              <a:gd name="connsiteX1" fmla="*/ 0 w 1498600"/>
              <a:gd name="connsiteY1" fmla="*/ 423333 h 1244600"/>
              <a:gd name="connsiteX2" fmla="*/ 1498600 w 1498600"/>
              <a:gd name="connsiteY2" fmla="*/ 423333 h 1244600"/>
              <a:gd name="connsiteX3" fmla="*/ 1498600 w 1498600"/>
              <a:gd name="connsiteY3" fmla="*/ 1244600 h 1244600"/>
            </a:gdLst>
            <a:ahLst/>
            <a:cxnLst>
              <a:cxn ang="0">
                <a:pos x="connsiteX0" y="connsiteY0"/>
              </a:cxn>
              <a:cxn ang="0">
                <a:pos x="connsiteX1" y="connsiteY1"/>
              </a:cxn>
              <a:cxn ang="0">
                <a:pos x="connsiteX2" y="connsiteY2"/>
              </a:cxn>
              <a:cxn ang="0">
                <a:pos x="connsiteX3" y="connsiteY3"/>
              </a:cxn>
            </a:cxnLst>
            <a:rect l="l" t="t" r="r" b="b"/>
            <a:pathLst>
              <a:path w="1498600" h="1244600">
                <a:moveTo>
                  <a:pt x="0" y="0"/>
                </a:moveTo>
                <a:lnTo>
                  <a:pt x="0" y="423333"/>
                </a:lnTo>
                <a:lnTo>
                  <a:pt x="1498600" y="423333"/>
                </a:lnTo>
                <a:lnTo>
                  <a:pt x="1498600" y="12446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a:p>
        </p:txBody>
      </p:sp>
      <p:sp>
        <p:nvSpPr>
          <p:cNvPr id="294" name="직사각형 293">
            <a:extLst>
              <a:ext uri="{FF2B5EF4-FFF2-40B4-BE49-F238E27FC236}">
                <a16:creationId xmlns:a16="http://schemas.microsoft.com/office/drawing/2014/main" id="{9B6DE0DF-BFFF-497F-9FD1-C58A8CA97621}"/>
              </a:ext>
            </a:extLst>
          </p:cNvPr>
          <p:cNvSpPr/>
          <p:nvPr/>
        </p:nvSpPr>
        <p:spPr>
          <a:xfrm>
            <a:off x="8500191" y="3384273"/>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관련</a:t>
            </a:r>
          </a:p>
        </p:txBody>
      </p:sp>
      <p:sp>
        <p:nvSpPr>
          <p:cNvPr id="327" name="직사각형 326">
            <a:extLst>
              <a:ext uri="{FF2B5EF4-FFF2-40B4-BE49-F238E27FC236}">
                <a16:creationId xmlns:a16="http://schemas.microsoft.com/office/drawing/2014/main" id="{A6BC253F-D9C4-4A98-984C-D8D62D28E8E9}"/>
              </a:ext>
            </a:extLst>
          </p:cNvPr>
          <p:cNvSpPr/>
          <p:nvPr/>
        </p:nvSpPr>
        <p:spPr>
          <a:xfrm>
            <a:off x="9363869" y="3290897"/>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타절차와의 관계</a:t>
            </a:r>
            <a:r>
              <a:rPr lang="en-US" altLang="ko-KR" sz="1000" dirty="0"/>
              <a:t>(</a:t>
            </a:r>
            <a:r>
              <a:rPr lang="ko-KR" altLang="en-US" sz="1000" dirty="0"/>
              <a:t>法 </a:t>
            </a:r>
            <a:r>
              <a:rPr lang="en-US" altLang="ko-KR" sz="1000" dirty="0"/>
              <a:t>164)</a:t>
            </a:r>
            <a:endParaRPr lang="ko-KR" altLang="en-US" sz="1000" dirty="0"/>
          </a:p>
        </p:txBody>
      </p:sp>
      <p:sp>
        <p:nvSpPr>
          <p:cNvPr id="328" name="직사각형 327">
            <a:extLst>
              <a:ext uri="{FF2B5EF4-FFF2-40B4-BE49-F238E27FC236}">
                <a16:creationId xmlns:a16="http://schemas.microsoft.com/office/drawing/2014/main" id="{855EA2A3-2862-42AE-AC8B-FB8E8761530B}"/>
              </a:ext>
            </a:extLst>
          </p:cNvPr>
          <p:cNvSpPr/>
          <p:nvPr/>
        </p:nvSpPr>
        <p:spPr>
          <a:xfrm>
            <a:off x="9363869" y="372062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algn="ctr"/>
            <a:r>
              <a:rPr lang="ko-KR" altLang="en-US" sz="1000" dirty="0"/>
              <a:t>심판비용</a:t>
            </a:r>
            <a:r>
              <a:rPr lang="en-US" altLang="ko-KR" sz="1000" dirty="0"/>
              <a:t>(</a:t>
            </a:r>
            <a:r>
              <a:rPr lang="ko-KR" altLang="en-US" sz="1000" dirty="0"/>
              <a:t>法 </a:t>
            </a:r>
            <a:r>
              <a:rPr lang="en-US" altLang="ko-KR" sz="1000" dirty="0"/>
              <a:t>165, 166)</a:t>
            </a:r>
            <a:endParaRPr lang="ko-KR" altLang="en-US" sz="1000" dirty="0"/>
          </a:p>
        </p:txBody>
      </p:sp>
      <p:cxnSp>
        <p:nvCxnSpPr>
          <p:cNvPr id="329" name="꺾인 연결선 244">
            <a:extLst>
              <a:ext uri="{FF2B5EF4-FFF2-40B4-BE49-F238E27FC236}">
                <a16:creationId xmlns:a16="http://schemas.microsoft.com/office/drawing/2014/main" id="{A54F89B3-B4E9-4E0A-BB23-C1DB0F7A25D8}"/>
              </a:ext>
            </a:extLst>
          </p:cNvPr>
          <p:cNvCxnSpPr>
            <a:cxnSpLocks/>
            <a:stCxn id="294" idx="3"/>
            <a:endCxn id="308" idx="1"/>
          </p:cNvCxnSpPr>
          <p:nvPr/>
        </p:nvCxnSpPr>
        <p:spPr>
          <a:xfrm>
            <a:off x="9210221" y="3469781"/>
            <a:ext cx="151225" cy="1077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0" name="꺾인 연결선 245">
            <a:extLst>
              <a:ext uri="{FF2B5EF4-FFF2-40B4-BE49-F238E27FC236}">
                <a16:creationId xmlns:a16="http://schemas.microsoft.com/office/drawing/2014/main" id="{48543D6B-7C92-4D3D-B213-6D84DC780C17}"/>
              </a:ext>
            </a:extLst>
          </p:cNvPr>
          <p:cNvCxnSpPr>
            <a:cxnSpLocks/>
            <a:stCxn id="294" idx="3"/>
            <a:endCxn id="328" idx="1"/>
          </p:cNvCxnSpPr>
          <p:nvPr/>
        </p:nvCxnSpPr>
        <p:spPr>
          <a:xfrm>
            <a:off x="9210221" y="3469781"/>
            <a:ext cx="153648" cy="32012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연결선: 꺾임 6">
            <a:extLst>
              <a:ext uri="{FF2B5EF4-FFF2-40B4-BE49-F238E27FC236}">
                <a16:creationId xmlns:a16="http://schemas.microsoft.com/office/drawing/2014/main" id="{B370871F-6F80-4244-8543-0634A44D09BD}"/>
              </a:ext>
            </a:extLst>
          </p:cNvPr>
          <p:cNvCxnSpPr>
            <a:stCxn id="205" idx="3"/>
            <a:endCxn id="294" idx="1"/>
          </p:cNvCxnSpPr>
          <p:nvPr/>
        </p:nvCxnSpPr>
        <p:spPr>
          <a:xfrm>
            <a:off x="8336650" y="2489931"/>
            <a:ext cx="163541" cy="9798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8" name="직사각형 287">
            <a:extLst>
              <a:ext uri="{FF2B5EF4-FFF2-40B4-BE49-F238E27FC236}">
                <a16:creationId xmlns:a16="http://schemas.microsoft.com/office/drawing/2014/main" id="{CCF75EB5-ACDA-45AD-A3D7-EAD9647556E3}"/>
              </a:ext>
            </a:extLst>
          </p:cNvPr>
          <p:cNvSpPr/>
          <p:nvPr/>
        </p:nvSpPr>
        <p:spPr>
          <a:xfrm>
            <a:off x="9358843" y="1365202"/>
            <a:ext cx="2333212" cy="288480"/>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국선대리인</a:t>
            </a:r>
            <a:r>
              <a:rPr lang="en-US" altLang="ko-KR" sz="1000" dirty="0">
                <a:solidFill>
                  <a:schemeClr val="tx1"/>
                </a:solidFill>
              </a:rPr>
              <a:t>, </a:t>
            </a:r>
            <a:r>
              <a:rPr lang="ko-KR" altLang="en-US" sz="1000" dirty="0">
                <a:solidFill>
                  <a:schemeClr val="tx1"/>
                </a:solidFill>
              </a:rPr>
              <a:t>전문심리위원 및 참고인</a:t>
            </a:r>
            <a:endParaRPr lang="en-US" altLang="ko-KR" sz="1000" dirty="0">
              <a:solidFill>
                <a:schemeClr val="tx1"/>
              </a:solidFill>
            </a:endParaRPr>
          </a:p>
          <a:p>
            <a:pPr algn="ctr"/>
            <a:r>
              <a:rPr lang="en-US" altLang="ko-KR" sz="900" dirty="0">
                <a:solidFill>
                  <a:schemeClr val="tx1"/>
                </a:solidFill>
              </a:rPr>
              <a:t>(</a:t>
            </a:r>
            <a:r>
              <a:rPr lang="ko-KR" altLang="en-US" sz="900" dirty="0">
                <a:solidFill>
                  <a:schemeClr val="tx1"/>
                </a:solidFill>
              </a:rPr>
              <a:t>法 </a:t>
            </a:r>
            <a:r>
              <a:rPr lang="en-US" altLang="ko-KR" sz="900" dirty="0">
                <a:solidFill>
                  <a:schemeClr val="tx1"/>
                </a:solidFill>
              </a:rPr>
              <a:t>139</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3)</a:t>
            </a:r>
            <a:endParaRPr lang="ko-KR" altLang="en-US" sz="1100" dirty="0">
              <a:solidFill>
                <a:schemeClr val="tx1"/>
              </a:solidFill>
            </a:endParaRPr>
          </a:p>
        </p:txBody>
      </p:sp>
      <p:sp>
        <p:nvSpPr>
          <p:cNvPr id="308" name="직사각형 307">
            <a:extLst>
              <a:ext uri="{FF2B5EF4-FFF2-40B4-BE49-F238E27FC236}">
                <a16:creationId xmlns:a16="http://schemas.microsoft.com/office/drawing/2014/main" id="{FBCE5317-4D8A-4C1C-92B6-ECD14431C289}"/>
              </a:ext>
            </a:extLst>
          </p:cNvPr>
          <p:cNvSpPr/>
          <p:nvPr/>
        </p:nvSpPr>
        <p:spPr>
          <a:xfrm>
            <a:off x="9361446" y="3486404"/>
            <a:ext cx="2330609" cy="182239"/>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000" dirty="0">
                <a:solidFill>
                  <a:schemeClr val="tx1"/>
                </a:solidFill>
              </a:rPr>
              <a:t>조정위원회 회부</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164</a:t>
            </a:r>
            <a:r>
              <a:rPr lang="ko-KR" altLang="en-US" sz="1000" dirty="0">
                <a:solidFill>
                  <a:schemeClr val="tx1"/>
                </a:solidFill>
              </a:rPr>
              <a:t>의</a:t>
            </a:r>
            <a:r>
              <a:rPr lang="en-US" altLang="ko-KR" sz="1000" dirty="0">
                <a:solidFill>
                  <a:schemeClr val="tx1"/>
                </a:solidFill>
              </a:rPr>
              <a:t>2)</a:t>
            </a:r>
            <a:endParaRPr lang="ko-KR" altLang="en-US" sz="1000" dirty="0">
              <a:solidFill>
                <a:schemeClr val="tx1"/>
              </a:solidFill>
            </a:endParaRPr>
          </a:p>
        </p:txBody>
      </p:sp>
      <p:cxnSp>
        <p:nvCxnSpPr>
          <p:cNvPr id="331" name="꺾인 연결선 245">
            <a:extLst>
              <a:ext uri="{FF2B5EF4-FFF2-40B4-BE49-F238E27FC236}">
                <a16:creationId xmlns:a16="http://schemas.microsoft.com/office/drawing/2014/main" id="{8272E89B-C399-461C-82CA-028F1E621707}"/>
              </a:ext>
            </a:extLst>
          </p:cNvPr>
          <p:cNvCxnSpPr>
            <a:cxnSpLocks/>
            <a:stCxn id="294" idx="3"/>
            <a:endCxn id="327" idx="1"/>
          </p:cNvCxnSpPr>
          <p:nvPr/>
        </p:nvCxnSpPr>
        <p:spPr>
          <a:xfrm flipV="1">
            <a:off x="9210221" y="3360176"/>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5657821"/>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제목 45"/>
          <p:cNvSpPr>
            <a:spLocks noGrp="1"/>
          </p:cNvSpPr>
          <p:nvPr>
            <p:ph type="title"/>
          </p:nvPr>
        </p:nvSpPr>
        <p:spPr/>
        <p:txBody>
          <a:bodyPr/>
          <a:lstStyle/>
          <a:p>
            <a:r>
              <a:rPr lang="ko-KR" altLang="en-US" dirty="0"/>
              <a:t>참고노트</a:t>
            </a:r>
          </a:p>
        </p:txBody>
      </p:sp>
      <p:sp>
        <p:nvSpPr>
          <p:cNvPr id="47" name="텍스트 개체 틀 46"/>
          <p:cNvSpPr>
            <a:spLocks noGrp="1"/>
          </p:cNvSpPr>
          <p:nvPr>
            <p:ph type="body" sz="quarter" idx="13"/>
          </p:nvPr>
        </p:nvSpPr>
        <p:spPr/>
        <p:txBody>
          <a:bodyPr/>
          <a:lstStyle/>
          <a:p>
            <a:r>
              <a:rPr lang="ko-KR" altLang="en-US" dirty="0"/>
              <a:t>심판</a:t>
            </a:r>
            <a:r>
              <a:rPr lang="en-US" altLang="ko-KR" dirty="0"/>
              <a:t>(</a:t>
            </a:r>
            <a:r>
              <a:rPr lang="ko-KR" altLang="en-US" dirty="0"/>
              <a:t>제도</a:t>
            </a:r>
            <a:r>
              <a:rPr lang="en-US" altLang="ko-KR" dirty="0"/>
              <a:t>)</a:t>
            </a:r>
            <a:r>
              <a:rPr lang="ko-KR" altLang="en-US" dirty="0"/>
              <a:t> 체계</a:t>
            </a:r>
            <a:r>
              <a:rPr lang="en-US" altLang="ko-KR" dirty="0"/>
              <a:t>: </a:t>
            </a:r>
            <a:r>
              <a:rPr lang="ko-KR" altLang="en-US" dirty="0"/>
              <a:t>제</a:t>
            </a:r>
            <a:r>
              <a:rPr lang="en-US" altLang="ko-KR" dirty="0"/>
              <a:t>6</a:t>
            </a:r>
            <a:r>
              <a:rPr lang="ko-KR" altLang="en-US" dirty="0"/>
              <a:t>장의</a:t>
            </a:r>
            <a:r>
              <a:rPr lang="en-US" altLang="ko-KR" dirty="0"/>
              <a:t>2, </a:t>
            </a:r>
            <a:r>
              <a:rPr lang="ko-KR" altLang="en-US" dirty="0"/>
              <a:t>제</a:t>
            </a:r>
            <a:r>
              <a:rPr lang="en-US" altLang="ko-KR" dirty="0"/>
              <a:t>7</a:t>
            </a:r>
            <a:r>
              <a:rPr lang="ko-KR" altLang="en-US" dirty="0"/>
              <a:t>장</a:t>
            </a:r>
            <a:r>
              <a:rPr lang="en-US" altLang="ko-KR" dirty="0"/>
              <a:t>, </a:t>
            </a:r>
            <a:r>
              <a:rPr lang="ko-KR" altLang="en-US" dirty="0"/>
              <a:t>제</a:t>
            </a:r>
            <a:r>
              <a:rPr lang="en-US" altLang="ko-KR" dirty="0"/>
              <a:t>8</a:t>
            </a:r>
            <a:r>
              <a:rPr lang="ko-KR" altLang="en-US" dirty="0"/>
              <a:t>장</a:t>
            </a:r>
          </a:p>
        </p:txBody>
      </p:sp>
      <p:sp>
        <p:nvSpPr>
          <p:cNvPr id="2" name="슬라이드 번호 개체 틀 1"/>
          <p:cNvSpPr>
            <a:spLocks noGrp="1"/>
          </p:cNvSpPr>
          <p:nvPr>
            <p:ph type="sldNum" sz="quarter" idx="4294967295"/>
          </p:nvPr>
        </p:nvSpPr>
        <p:spPr>
          <a:xfrm>
            <a:off x="11125200" y="0"/>
            <a:ext cx="1066800" cy="711200"/>
          </a:xfrm>
        </p:spPr>
        <p:txBody>
          <a:bodyPr/>
          <a:lstStyle/>
          <a:p>
            <a:r>
              <a:rPr lang="en-US" altLang="ko-KR"/>
              <a:t>431</a:t>
            </a:r>
            <a:endParaRPr lang="ko-KR" altLang="en-US" dirty="0"/>
          </a:p>
        </p:txBody>
      </p:sp>
      <p:sp>
        <p:nvSpPr>
          <p:cNvPr id="3" name="직사각형 2"/>
          <p:cNvSpPr/>
          <p:nvPr/>
        </p:nvSpPr>
        <p:spPr>
          <a:xfrm>
            <a:off x="1622738" y="2309240"/>
            <a:ext cx="930679" cy="827526"/>
          </a:xfrm>
          <a:prstGeom prst="rect">
            <a:avLst/>
          </a:prstGeom>
          <a:solidFill>
            <a:schemeClr val="accent6">
              <a:lumMod val="50000"/>
            </a:schemeClr>
          </a:solidFill>
          <a:ln w="381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600" dirty="0">
                <a:solidFill>
                  <a:schemeClr val="bg1"/>
                </a:solidFill>
              </a:rPr>
              <a:t>심판절차 </a:t>
            </a:r>
            <a:endParaRPr lang="en-US" altLang="ko-KR" sz="1600" dirty="0">
              <a:solidFill>
                <a:schemeClr val="bg1"/>
              </a:solidFill>
            </a:endParaRPr>
          </a:p>
          <a:p>
            <a:pPr algn="ctr"/>
            <a:r>
              <a:rPr lang="ko-KR" altLang="en-US" sz="1600" dirty="0">
                <a:solidFill>
                  <a:schemeClr val="bg1"/>
                </a:solidFill>
              </a:rPr>
              <a:t>일반</a:t>
            </a:r>
            <a:endParaRPr lang="en-US" altLang="ko-KR" sz="1600" dirty="0">
              <a:solidFill>
                <a:schemeClr val="bg1"/>
              </a:solidFill>
            </a:endParaRPr>
          </a:p>
          <a:p>
            <a:pPr algn="ctr"/>
            <a:r>
              <a:rPr lang="en-US" altLang="ko-KR" sz="1600" dirty="0">
                <a:solidFill>
                  <a:schemeClr val="bg1"/>
                </a:solidFill>
              </a:rPr>
              <a:t>(</a:t>
            </a:r>
            <a:r>
              <a:rPr lang="ko-KR" altLang="en-US" sz="1600" dirty="0">
                <a:solidFill>
                  <a:schemeClr val="bg1"/>
                </a:solidFill>
              </a:rPr>
              <a:t>총론</a:t>
            </a:r>
            <a:r>
              <a:rPr lang="en-US" altLang="ko-KR" sz="1600" dirty="0">
                <a:solidFill>
                  <a:schemeClr val="bg1"/>
                </a:solidFill>
              </a:rPr>
              <a:t>)</a:t>
            </a:r>
            <a:endParaRPr lang="ko-KR" altLang="en-US" sz="1600" dirty="0">
              <a:solidFill>
                <a:schemeClr val="bg1"/>
              </a:solidFill>
            </a:endParaRPr>
          </a:p>
        </p:txBody>
      </p:sp>
      <p:sp>
        <p:nvSpPr>
          <p:cNvPr id="11" name="직사각형 10"/>
          <p:cNvSpPr/>
          <p:nvPr/>
        </p:nvSpPr>
        <p:spPr>
          <a:xfrm>
            <a:off x="1622738" y="5080432"/>
            <a:ext cx="930679" cy="827526"/>
          </a:xfrm>
          <a:prstGeom prst="rect">
            <a:avLst/>
          </a:prstGeom>
          <a:solidFill>
            <a:schemeClr val="accent5">
              <a:lumMod val="50000"/>
            </a:schemeClr>
          </a:solidFill>
          <a:ln w="381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600" dirty="0">
                <a:solidFill>
                  <a:schemeClr val="bg1"/>
                </a:solidFill>
              </a:rPr>
              <a:t>심판의</a:t>
            </a:r>
            <a:endParaRPr lang="en-US" altLang="ko-KR" sz="1600" dirty="0">
              <a:solidFill>
                <a:schemeClr val="bg1"/>
              </a:solidFill>
            </a:endParaRPr>
          </a:p>
          <a:p>
            <a:pPr algn="ctr"/>
            <a:r>
              <a:rPr lang="ko-KR" altLang="en-US" sz="1600" dirty="0">
                <a:solidFill>
                  <a:schemeClr val="bg1"/>
                </a:solidFill>
              </a:rPr>
              <a:t>종류</a:t>
            </a:r>
            <a:endParaRPr lang="en-US" altLang="ko-KR" sz="1600" dirty="0">
              <a:solidFill>
                <a:schemeClr val="bg1"/>
              </a:solidFill>
            </a:endParaRPr>
          </a:p>
          <a:p>
            <a:pPr algn="ctr"/>
            <a:r>
              <a:rPr lang="en-US" altLang="ko-KR" sz="1600" dirty="0">
                <a:solidFill>
                  <a:schemeClr val="bg1"/>
                </a:solidFill>
              </a:rPr>
              <a:t>(</a:t>
            </a:r>
            <a:r>
              <a:rPr lang="ko-KR" altLang="en-US" sz="1600" dirty="0">
                <a:solidFill>
                  <a:schemeClr val="bg1"/>
                </a:solidFill>
              </a:rPr>
              <a:t>각론</a:t>
            </a:r>
            <a:r>
              <a:rPr lang="en-US" altLang="ko-KR" sz="1600" dirty="0">
                <a:solidFill>
                  <a:schemeClr val="bg1"/>
                </a:solidFill>
              </a:rPr>
              <a:t>)</a:t>
            </a:r>
            <a:endParaRPr lang="ko-KR" altLang="en-US" sz="1600" dirty="0">
              <a:solidFill>
                <a:schemeClr val="bg1"/>
              </a:solidFill>
            </a:endParaRPr>
          </a:p>
        </p:txBody>
      </p:sp>
      <p:sp>
        <p:nvSpPr>
          <p:cNvPr id="12" name="직사각형 11"/>
          <p:cNvSpPr/>
          <p:nvPr/>
        </p:nvSpPr>
        <p:spPr>
          <a:xfrm>
            <a:off x="3067099" y="1425191"/>
            <a:ext cx="1194356" cy="23175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a:t>주체</a:t>
            </a:r>
            <a:endParaRPr lang="ko-KR" altLang="en-US" sz="1100" dirty="0"/>
          </a:p>
        </p:txBody>
      </p:sp>
      <p:sp>
        <p:nvSpPr>
          <p:cNvPr id="13" name="직사각형 12"/>
          <p:cNvSpPr/>
          <p:nvPr/>
        </p:nvSpPr>
        <p:spPr>
          <a:xfrm>
            <a:off x="3067099" y="2208909"/>
            <a:ext cx="1194356" cy="23175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청구</a:t>
            </a:r>
          </a:p>
        </p:txBody>
      </p:sp>
      <p:sp>
        <p:nvSpPr>
          <p:cNvPr id="20" name="직사각형 19"/>
          <p:cNvSpPr/>
          <p:nvPr/>
        </p:nvSpPr>
        <p:spPr>
          <a:xfrm>
            <a:off x="3067099" y="3126269"/>
            <a:ext cx="1194356" cy="23175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진행</a:t>
            </a:r>
          </a:p>
        </p:txBody>
      </p:sp>
      <p:sp>
        <p:nvSpPr>
          <p:cNvPr id="21" name="직사각형 20"/>
          <p:cNvSpPr/>
          <p:nvPr/>
        </p:nvSpPr>
        <p:spPr>
          <a:xfrm>
            <a:off x="3067099" y="3788268"/>
            <a:ext cx="1194356" cy="23175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종료</a:t>
            </a:r>
          </a:p>
        </p:txBody>
      </p:sp>
      <p:sp>
        <p:nvSpPr>
          <p:cNvPr id="22" name="직사각형 21"/>
          <p:cNvSpPr/>
          <p:nvPr/>
        </p:nvSpPr>
        <p:spPr>
          <a:xfrm>
            <a:off x="4663630" y="1181829"/>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심판의 당사자</a:t>
            </a:r>
            <a:r>
              <a:rPr lang="en-US" altLang="ko-KR" sz="1100" dirty="0"/>
              <a:t>(</a:t>
            </a:r>
            <a:r>
              <a:rPr lang="ko-KR" altLang="en-US" sz="1100" dirty="0"/>
              <a:t>法 </a:t>
            </a:r>
            <a:r>
              <a:rPr lang="en-US" altLang="ko-KR" sz="1100" dirty="0"/>
              <a:t>139)</a:t>
            </a:r>
            <a:endParaRPr lang="ko-KR" altLang="en-US" sz="1100" dirty="0"/>
          </a:p>
        </p:txBody>
      </p:sp>
      <p:sp>
        <p:nvSpPr>
          <p:cNvPr id="23" name="직사각형 22"/>
          <p:cNvSpPr/>
          <p:nvPr/>
        </p:nvSpPr>
        <p:spPr>
          <a:xfrm>
            <a:off x="4663630" y="1440094"/>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심판의 참가인</a:t>
            </a:r>
            <a:r>
              <a:rPr lang="en-US" altLang="ko-KR" sz="1100" dirty="0"/>
              <a:t>(</a:t>
            </a:r>
            <a:r>
              <a:rPr lang="ko-KR" altLang="en-US" sz="1100" dirty="0"/>
              <a:t>法 </a:t>
            </a:r>
            <a:r>
              <a:rPr lang="en-US" altLang="ko-KR" sz="1100" dirty="0"/>
              <a:t>155, 156)</a:t>
            </a:r>
            <a:endParaRPr lang="ko-KR" altLang="en-US" sz="1100" dirty="0"/>
          </a:p>
        </p:txBody>
      </p:sp>
      <p:sp>
        <p:nvSpPr>
          <p:cNvPr id="24" name="직사각형 23"/>
          <p:cNvSpPr/>
          <p:nvPr/>
        </p:nvSpPr>
        <p:spPr>
          <a:xfrm>
            <a:off x="4663630" y="1693892"/>
            <a:ext cx="2737833" cy="313092"/>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solidFill>
                  <a:schemeClr val="tx1"/>
                </a:solidFill>
              </a:rPr>
              <a:t>국선대리인</a:t>
            </a:r>
            <a:r>
              <a:rPr lang="en-US" altLang="ko-KR" sz="1100" dirty="0">
                <a:solidFill>
                  <a:schemeClr val="tx1"/>
                </a:solidFill>
              </a:rPr>
              <a:t>, </a:t>
            </a:r>
            <a:r>
              <a:rPr lang="ko-KR" altLang="en-US" sz="1100" dirty="0">
                <a:solidFill>
                  <a:schemeClr val="tx1"/>
                </a:solidFill>
              </a:rPr>
              <a:t>전문심리위원 및 참고인</a:t>
            </a:r>
            <a:endParaRPr lang="en-US" altLang="ko-KR" sz="1100" dirty="0">
              <a:solidFill>
                <a:schemeClr val="tx1"/>
              </a:solidFill>
            </a:endParaRPr>
          </a:p>
          <a:p>
            <a:pPr algn="ctr"/>
            <a:r>
              <a:rPr lang="en-US" altLang="ko-KR" sz="900" dirty="0">
                <a:solidFill>
                  <a:schemeClr val="tx1"/>
                </a:solidFill>
              </a:rPr>
              <a:t>(</a:t>
            </a:r>
            <a:r>
              <a:rPr lang="ko-KR" altLang="en-US" sz="900" dirty="0">
                <a:solidFill>
                  <a:schemeClr val="tx1"/>
                </a:solidFill>
              </a:rPr>
              <a:t>法 </a:t>
            </a:r>
            <a:r>
              <a:rPr lang="en-US" altLang="ko-KR" sz="900" dirty="0">
                <a:solidFill>
                  <a:schemeClr val="tx1"/>
                </a:solidFill>
              </a:rPr>
              <a:t>139</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3)</a:t>
            </a:r>
            <a:endParaRPr lang="ko-KR" altLang="en-US" sz="1100" dirty="0">
              <a:solidFill>
                <a:schemeClr val="tx1"/>
              </a:solidFill>
            </a:endParaRPr>
          </a:p>
        </p:txBody>
      </p:sp>
      <p:sp>
        <p:nvSpPr>
          <p:cNvPr id="26" name="직사각형 25"/>
          <p:cNvSpPr/>
          <p:nvPr/>
        </p:nvSpPr>
        <p:spPr>
          <a:xfrm>
            <a:off x="4663630" y="2072344"/>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심판의 청구</a:t>
            </a:r>
            <a:r>
              <a:rPr lang="en-US" altLang="ko-KR" sz="1100" dirty="0"/>
              <a:t>(</a:t>
            </a:r>
            <a:r>
              <a:rPr lang="ko-KR" altLang="en-US" sz="1100" dirty="0"/>
              <a:t>法 </a:t>
            </a:r>
            <a:r>
              <a:rPr lang="en-US" altLang="ko-KR" sz="1100" dirty="0"/>
              <a:t>140, 140</a:t>
            </a:r>
            <a:r>
              <a:rPr lang="ko-KR" altLang="en-US" sz="1100" dirty="0"/>
              <a:t>의</a:t>
            </a:r>
            <a:r>
              <a:rPr lang="en-US" altLang="ko-KR" sz="1100" dirty="0"/>
              <a:t>2)</a:t>
            </a:r>
            <a:endParaRPr lang="ko-KR" altLang="en-US" sz="1100" dirty="0"/>
          </a:p>
        </p:txBody>
      </p:sp>
      <p:sp>
        <p:nvSpPr>
          <p:cNvPr id="27" name="직사각형 26"/>
          <p:cNvSpPr/>
          <p:nvPr/>
        </p:nvSpPr>
        <p:spPr>
          <a:xfrm>
            <a:off x="4663630" y="2330609"/>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심판청구서의 보정</a:t>
            </a:r>
            <a:r>
              <a:rPr lang="en-US" altLang="ko-KR" sz="1100" dirty="0"/>
              <a:t>(</a:t>
            </a:r>
            <a:r>
              <a:rPr lang="ko-KR" altLang="en-US" sz="1100" dirty="0"/>
              <a:t>法 </a:t>
            </a:r>
            <a:r>
              <a:rPr lang="en-US" altLang="ko-KR" sz="1100" dirty="0"/>
              <a:t>140②, 140</a:t>
            </a:r>
            <a:r>
              <a:rPr lang="ko-KR" altLang="en-US" sz="1100" dirty="0"/>
              <a:t>의</a:t>
            </a:r>
            <a:r>
              <a:rPr lang="en-US" altLang="ko-KR" sz="1100" dirty="0"/>
              <a:t>2②)</a:t>
            </a:r>
          </a:p>
        </p:txBody>
      </p:sp>
      <p:sp>
        <p:nvSpPr>
          <p:cNvPr id="29" name="직사각형 28"/>
          <p:cNvSpPr/>
          <p:nvPr/>
        </p:nvSpPr>
        <p:spPr>
          <a:xfrm>
            <a:off x="4663630" y="2883458"/>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방식심리</a:t>
            </a:r>
            <a:r>
              <a:rPr lang="en-US" altLang="ko-KR" sz="1100" dirty="0"/>
              <a:t>(</a:t>
            </a:r>
            <a:r>
              <a:rPr lang="ko-KR" altLang="en-US" sz="1100" dirty="0"/>
              <a:t>法 </a:t>
            </a:r>
            <a:r>
              <a:rPr lang="en-US" altLang="ko-KR" sz="1100" dirty="0"/>
              <a:t>141)</a:t>
            </a:r>
            <a:endParaRPr lang="ko-KR" altLang="en-US" sz="1100" dirty="0"/>
          </a:p>
        </p:txBody>
      </p:sp>
      <p:sp>
        <p:nvSpPr>
          <p:cNvPr id="30" name="직사각형 29"/>
          <p:cNvSpPr/>
          <p:nvPr/>
        </p:nvSpPr>
        <p:spPr>
          <a:xfrm>
            <a:off x="4663630" y="3138480"/>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적법성 심리</a:t>
            </a:r>
            <a:r>
              <a:rPr lang="en-US" altLang="ko-KR" sz="1100" dirty="0"/>
              <a:t>(</a:t>
            </a:r>
            <a:r>
              <a:rPr lang="ko-KR" altLang="en-US" sz="1100" dirty="0"/>
              <a:t>法 </a:t>
            </a:r>
            <a:r>
              <a:rPr lang="en-US" altLang="ko-KR" sz="1100" dirty="0"/>
              <a:t>142)</a:t>
            </a:r>
            <a:endParaRPr lang="ko-KR" altLang="en-US" sz="1100" dirty="0"/>
          </a:p>
        </p:txBody>
      </p:sp>
      <p:sp>
        <p:nvSpPr>
          <p:cNvPr id="31" name="직사각형 30"/>
          <p:cNvSpPr/>
          <p:nvPr/>
        </p:nvSpPr>
        <p:spPr>
          <a:xfrm>
            <a:off x="4663630" y="3394129"/>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err="1"/>
              <a:t>본안심리</a:t>
            </a:r>
            <a:endParaRPr lang="ko-KR" altLang="en-US" sz="1100" dirty="0"/>
          </a:p>
        </p:txBody>
      </p:sp>
      <p:sp>
        <p:nvSpPr>
          <p:cNvPr id="32" name="직사각형 31"/>
          <p:cNvSpPr/>
          <p:nvPr/>
        </p:nvSpPr>
        <p:spPr>
          <a:xfrm>
            <a:off x="4663630" y="3661793"/>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심판청구의 취하</a:t>
            </a:r>
            <a:r>
              <a:rPr lang="en-US" altLang="ko-KR" sz="1100" dirty="0"/>
              <a:t>(</a:t>
            </a:r>
            <a:r>
              <a:rPr lang="ko-KR" altLang="en-US" sz="1100" dirty="0"/>
              <a:t>法 </a:t>
            </a:r>
            <a:r>
              <a:rPr lang="en-US" altLang="ko-KR" sz="1100" dirty="0"/>
              <a:t>161)</a:t>
            </a:r>
            <a:endParaRPr lang="ko-KR" altLang="en-US" sz="1100" dirty="0"/>
          </a:p>
        </p:txBody>
      </p:sp>
      <p:sp>
        <p:nvSpPr>
          <p:cNvPr id="33" name="직사각형 32"/>
          <p:cNvSpPr/>
          <p:nvPr/>
        </p:nvSpPr>
        <p:spPr>
          <a:xfrm>
            <a:off x="4663630" y="3916815"/>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err="1"/>
              <a:t>심결</a:t>
            </a:r>
            <a:r>
              <a:rPr lang="en-US" altLang="ko-KR" sz="1100" dirty="0"/>
              <a:t>(</a:t>
            </a:r>
            <a:r>
              <a:rPr lang="ko-KR" altLang="en-US" sz="1100" dirty="0"/>
              <a:t>法 </a:t>
            </a:r>
            <a:r>
              <a:rPr lang="en-US" altLang="ko-KR" sz="1100" dirty="0"/>
              <a:t>162, 163)</a:t>
            </a:r>
            <a:endParaRPr lang="ko-KR" altLang="en-US" sz="1100" dirty="0"/>
          </a:p>
        </p:txBody>
      </p:sp>
      <p:sp>
        <p:nvSpPr>
          <p:cNvPr id="35" name="직사각형 34"/>
          <p:cNvSpPr/>
          <p:nvPr/>
        </p:nvSpPr>
        <p:spPr>
          <a:xfrm>
            <a:off x="3067099" y="5075838"/>
            <a:ext cx="1194356" cy="231754"/>
          </a:xfrm>
          <a:prstGeom prst="rect">
            <a:avLst/>
          </a:prstGeom>
          <a:solidFill>
            <a:schemeClr val="accent5">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err="1"/>
              <a:t>결정계</a:t>
            </a:r>
            <a:r>
              <a:rPr lang="ko-KR" altLang="en-US" sz="1100" dirty="0"/>
              <a:t> 심판</a:t>
            </a:r>
          </a:p>
        </p:txBody>
      </p:sp>
      <p:sp>
        <p:nvSpPr>
          <p:cNvPr id="36" name="직사각형 35"/>
          <p:cNvSpPr/>
          <p:nvPr/>
        </p:nvSpPr>
        <p:spPr>
          <a:xfrm>
            <a:off x="3067099" y="5738492"/>
            <a:ext cx="1194356" cy="231754"/>
          </a:xfrm>
          <a:prstGeom prst="rect">
            <a:avLst/>
          </a:prstGeom>
          <a:solidFill>
            <a:schemeClr val="accent5">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당사자계 심판</a:t>
            </a:r>
          </a:p>
        </p:txBody>
      </p:sp>
      <p:sp>
        <p:nvSpPr>
          <p:cNvPr id="37" name="직사각형 36"/>
          <p:cNvSpPr/>
          <p:nvPr/>
        </p:nvSpPr>
        <p:spPr>
          <a:xfrm>
            <a:off x="3067099" y="6561293"/>
            <a:ext cx="1194356" cy="231754"/>
          </a:xfrm>
          <a:prstGeom prst="rect">
            <a:avLst/>
          </a:prstGeom>
          <a:solidFill>
            <a:schemeClr val="accent5">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재심</a:t>
            </a:r>
            <a:r>
              <a:rPr lang="en-US" altLang="ko-KR" sz="1100" dirty="0"/>
              <a:t>(</a:t>
            </a:r>
            <a:r>
              <a:rPr lang="ko-KR" altLang="en-US" sz="1100" dirty="0"/>
              <a:t>法 </a:t>
            </a:r>
            <a:r>
              <a:rPr lang="en-US" altLang="ko-KR" sz="1100" dirty="0"/>
              <a:t>178~185)</a:t>
            </a:r>
            <a:endParaRPr lang="ko-KR" altLang="en-US" sz="1100" dirty="0"/>
          </a:p>
        </p:txBody>
      </p:sp>
      <p:sp>
        <p:nvSpPr>
          <p:cNvPr id="39" name="직사각형 38"/>
          <p:cNvSpPr/>
          <p:nvPr/>
        </p:nvSpPr>
        <p:spPr>
          <a:xfrm>
            <a:off x="4663630" y="4951113"/>
            <a:ext cx="2737833" cy="202304"/>
          </a:xfrm>
          <a:prstGeom prst="rect">
            <a:avLst/>
          </a:prstGeom>
          <a:solidFill>
            <a:schemeClr val="accent5">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거절결정불복심판</a:t>
            </a:r>
            <a:r>
              <a:rPr lang="en-US" altLang="ko-KR" sz="900" dirty="0"/>
              <a:t>(</a:t>
            </a:r>
            <a:r>
              <a:rPr lang="ko-KR" altLang="en-US" sz="900" dirty="0"/>
              <a:t>法 </a:t>
            </a:r>
            <a:r>
              <a:rPr lang="en-US" altLang="ko-KR" sz="900" dirty="0"/>
              <a:t>132</a:t>
            </a:r>
            <a:r>
              <a:rPr lang="ko-KR" altLang="en-US" sz="900" dirty="0"/>
              <a:t>의</a:t>
            </a:r>
            <a:r>
              <a:rPr lang="en-US" altLang="ko-KR" sz="900" dirty="0"/>
              <a:t>17, 170~172, 176)</a:t>
            </a:r>
            <a:endParaRPr lang="ko-KR" altLang="en-US" sz="900" dirty="0"/>
          </a:p>
        </p:txBody>
      </p:sp>
      <p:sp>
        <p:nvSpPr>
          <p:cNvPr id="40" name="직사각형 39"/>
          <p:cNvSpPr/>
          <p:nvPr/>
        </p:nvSpPr>
        <p:spPr>
          <a:xfrm>
            <a:off x="4663630" y="5209379"/>
            <a:ext cx="2737833" cy="202304"/>
          </a:xfrm>
          <a:prstGeom prst="rect">
            <a:avLst/>
          </a:prstGeom>
          <a:solidFill>
            <a:schemeClr val="accent5">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정정심판</a:t>
            </a:r>
            <a:r>
              <a:rPr lang="en-US" altLang="ko-KR" sz="1100" dirty="0"/>
              <a:t>(</a:t>
            </a:r>
            <a:r>
              <a:rPr lang="ko-KR" altLang="en-US" sz="1100" dirty="0"/>
              <a:t>法 </a:t>
            </a:r>
            <a:r>
              <a:rPr lang="en-US" altLang="ko-KR" sz="1100" dirty="0"/>
              <a:t>136)</a:t>
            </a:r>
            <a:endParaRPr lang="ko-KR" altLang="en-US" sz="1100" dirty="0"/>
          </a:p>
        </p:txBody>
      </p:sp>
      <p:sp>
        <p:nvSpPr>
          <p:cNvPr id="41" name="직사각형 40"/>
          <p:cNvSpPr/>
          <p:nvPr/>
        </p:nvSpPr>
        <p:spPr>
          <a:xfrm>
            <a:off x="4663630" y="5483504"/>
            <a:ext cx="2737833" cy="202304"/>
          </a:xfrm>
          <a:prstGeom prst="rect">
            <a:avLst/>
          </a:prstGeom>
          <a:solidFill>
            <a:schemeClr val="accent5">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무효심판</a:t>
            </a:r>
          </a:p>
        </p:txBody>
      </p:sp>
      <p:sp>
        <p:nvSpPr>
          <p:cNvPr id="42" name="직사각형 41"/>
          <p:cNvSpPr/>
          <p:nvPr/>
        </p:nvSpPr>
        <p:spPr>
          <a:xfrm>
            <a:off x="4663630" y="5749120"/>
            <a:ext cx="2737833" cy="202304"/>
          </a:xfrm>
          <a:prstGeom prst="rect">
            <a:avLst/>
          </a:prstGeom>
          <a:solidFill>
            <a:schemeClr val="accent5">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권리범위확인심판</a:t>
            </a:r>
            <a:r>
              <a:rPr lang="en-US" altLang="ko-KR" sz="1100" dirty="0"/>
              <a:t>(</a:t>
            </a:r>
            <a:r>
              <a:rPr lang="ko-KR" altLang="en-US" sz="1100" dirty="0"/>
              <a:t>法 </a:t>
            </a:r>
            <a:r>
              <a:rPr lang="en-US" altLang="ko-KR" sz="1100" dirty="0"/>
              <a:t>135)</a:t>
            </a:r>
            <a:endParaRPr lang="ko-KR" altLang="en-US" sz="1100" dirty="0"/>
          </a:p>
        </p:txBody>
      </p:sp>
      <p:sp>
        <p:nvSpPr>
          <p:cNvPr id="43" name="직사각형 42"/>
          <p:cNvSpPr/>
          <p:nvPr/>
        </p:nvSpPr>
        <p:spPr>
          <a:xfrm>
            <a:off x="4663630" y="6007385"/>
            <a:ext cx="2737833" cy="202304"/>
          </a:xfrm>
          <a:prstGeom prst="rect">
            <a:avLst/>
          </a:prstGeom>
          <a:solidFill>
            <a:schemeClr val="accent5">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err="1"/>
              <a:t>통상실시권허락심판</a:t>
            </a:r>
            <a:r>
              <a:rPr lang="en-US" altLang="ko-KR" sz="1100" dirty="0"/>
              <a:t>(</a:t>
            </a:r>
            <a:r>
              <a:rPr lang="ko-KR" altLang="en-US" sz="1100" dirty="0"/>
              <a:t>法 </a:t>
            </a:r>
            <a:r>
              <a:rPr lang="en-US" altLang="ko-KR" sz="1100" dirty="0"/>
              <a:t>138)</a:t>
            </a:r>
            <a:endParaRPr lang="ko-KR" altLang="en-US" sz="1100" dirty="0"/>
          </a:p>
        </p:txBody>
      </p:sp>
      <p:sp>
        <p:nvSpPr>
          <p:cNvPr id="49" name="직사각형 48"/>
          <p:cNvSpPr/>
          <p:nvPr/>
        </p:nvSpPr>
        <p:spPr>
          <a:xfrm>
            <a:off x="7559373" y="5214151"/>
            <a:ext cx="2016224" cy="202369"/>
          </a:xfrm>
          <a:prstGeom prst="rect">
            <a:avLst/>
          </a:prstGeom>
          <a:solidFill>
            <a:schemeClr val="accent5">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특허무효심판</a:t>
            </a:r>
            <a:r>
              <a:rPr lang="en-US" altLang="ko-KR" sz="1100" dirty="0"/>
              <a:t>(</a:t>
            </a:r>
            <a:r>
              <a:rPr lang="ko-KR" altLang="en-US" sz="1100" dirty="0"/>
              <a:t>法 </a:t>
            </a:r>
            <a:r>
              <a:rPr lang="en-US" altLang="ko-KR" sz="1100" dirty="0"/>
              <a:t>133, 133</a:t>
            </a:r>
            <a:r>
              <a:rPr lang="ko-KR" altLang="en-US" sz="1100" dirty="0"/>
              <a:t>의</a:t>
            </a:r>
            <a:r>
              <a:rPr lang="en-US" altLang="ko-KR" sz="1100" dirty="0"/>
              <a:t>2)</a:t>
            </a:r>
            <a:endParaRPr lang="ko-KR" altLang="en-US" sz="1100" dirty="0"/>
          </a:p>
        </p:txBody>
      </p:sp>
      <p:sp>
        <p:nvSpPr>
          <p:cNvPr id="50" name="직사각형 49"/>
          <p:cNvSpPr/>
          <p:nvPr/>
        </p:nvSpPr>
        <p:spPr>
          <a:xfrm>
            <a:off x="7559373" y="5486636"/>
            <a:ext cx="2016224" cy="202369"/>
          </a:xfrm>
          <a:prstGeom prst="rect">
            <a:avLst/>
          </a:prstGeom>
          <a:solidFill>
            <a:schemeClr val="accent5">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연장등록무효심판</a:t>
            </a:r>
            <a:r>
              <a:rPr lang="en-US" altLang="ko-KR" sz="1100" dirty="0"/>
              <a:t>(</a:t>
            </a:r>
            <a:r>
              <a:rPr lang="ko-KR" altLang="en-US" sz="1100" dirty="0"/>
              <a:t>法 </a:t>
            </a:r>
            <a:r>
              <a:rPr lang="en-US" altLang="ko-KR" sz="1100" dirty="0"/>
              <a:t>134)</a:t>
            </a:r>
            <a:endParaRPr lang="ko-KR" altLang="en-US" sz="1100" dirty="0"/>
          </a:p>
        </p:txBody>
      </p:sp>
      <p:sp>
        <p:nvSpPr>
          <p:cNvPr id="51" name="직사각형 50"/>
          <p:cNvSpPr/>
          <p:nvPr/>
        </p:nvSpPr>
        <p:spPr>
          <a:xfrm>
            <a:off x="7559373" y="5744902"/>
            <a:ext cx="2016224" cy="202369"/>
          </a:xfrm>
          <a:prstGeom prst="rect">
            <a:avLst/>
          </a:prstGeom>
          <a:solidFill>
            <a:schemeClr val="accent5">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정정무효심판</a:t>
            </a:r>
            <a:r>
              <a:rPr lang="en-US" altLang="ko-KR" sz="1100" dirty="0"/>
              <a:t>(</a:t>
            </a:r>
            <a:r>
              <a:rPr lang="ko-KR" altLang="en-US" sz="1100" dirty="0"/>
              <a:t>法 </a:t>
            </a:r>
            <a:r>
              <a:rPr lang="en-US" altLang="ko-KR" sz="1100" dirty="0"/>
              <a:t>137)</a:t>
            </a:r>
            <a:endParaRPr lang="ko-KR" altLang="en-US" sz="1100" dirty="0"/>
          </a:p>
        </p:txBody>
      </p:sp>
      <p:cxnSp>
        <p:nvCxnSpPr>
          <p:cNvPr id="5" name="꺾인 연결선 4"/>
          <p:cNvCxnSpPr>
            <a:cxnSpLocks/>
            <a:stCxn id="3" idx="1"/>
            <a:endCxn id="80" idx="3"/>
          </p:cNvCxnSpPr>
          <p:nvPr/>
        </p:nvCxnSpPr>
        <p:spPr>
          <a:xfrm rot="10800000" flipV="1">
            <a:off x="1314152" y="2723003"/>
            <a:ext cx="308587" cy="1199535"/>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꺾인 연결선 6"/>
          <p:cNvCxnSpPr>
            <a:cxnSpLocks/>
            <a:stCxn id="3" idx="3"/>
            <a:endCxn id="12" idx="1"/>
          </p:cNvCxnSpPr>
          <p:nvPr/>
        </p:nvCxnSpPr>
        <p:spPr>
          <a:xfrm flipV="1">
            <a:off x="2553417" y="1541068"/>
            <a:ext cx="513682" cy="11819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꺾인 연결선 8"/>
          <p:cNvCxnSpPr>
            <a:cxnSpLocks/>
            <a:stCxn id="3" idx="3"/>
            <a:endCxn id="21" idx="1"/>
          </p:cNvCxnSpPr>
          <p:nvPr/>
        </p:nvCxnSpPr>
        <p:spPr>
          <a:xfrm>
            <a:off x="2553417" y="2723003"/>
            <a:ext cx="513682" cy="118114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꺾인 연결선 51"/>
          <p:cNvCxnSpPr>
            <a:cxnSpLocks/>
            <a:stCxn id="3" idx="3"/>
            <a:endCxn id="13" idx="1"/>
          </p:cNvCxnSpPr>
          <p:nvPr/>
        </p:nvCxnSpPr>
        <p:spPr>
          <a:xfrm flipV="1">
            <a:off x="2553417" y="2324786"/>
            <a:ext cx="513682" cy="39821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꺾인 연결선 53"/>
          <p:cNvCxnSpPr>
            <a:cxnSpLocks/>
            <a:stCxn id="3" idx="3"/>
            <a:endCxn id="20" idx="1"/>
          </p:cNvCxnSpPr>
          <p:nvPr/>
        </p:nvCxnSpPr>
        <p:spPr>
          <a:xfrm>
            <a:off x="2553417" y="2723003"/>
            <a:ext cx="513682" cy="519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꺾인 연결선 55"/>
          <p:cNvCxnSpPr>
            <a:cxnSpLocks/>
            <a:stCxn id="12" idx="3"/>
            <a:endCxn id="22" idx="1"/>
          </p:cNvCxnSpPr>
          <p:nvPr/>
        </p:nvCxnSpPr>
        <p:spPr>
          <a:xfrm flipV="1">
            <a:off x="4261455" y="1282981"/>
            <a:ext cx="402175" cy="25808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꺾인 연결선 57"/>
          <p:cNvCxnSpPr>
            <a:cxnSpLocks/>
            <a:stCxn id="12" idx="3"/>
            <a:endCxn id="24" idx="1"/>
          </p:cNvCxnSpPr>
          <p:nvPr/>
        </p:nvCxnSpPr>
        <p:spPr>
          <a:xfrm>
            <a:off x="4261455" y="1541068"/>
            <a:ext cx="402175" cy="30937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꺾인 연결선 59"/>
          <p:cNvCxnSpPr>
            <a:cxnSpLocks/>
            <a:stCxn id="12" idx="3"/>
            <a:endCxn id="23" idx="1"/>
          </p:cNvCxnSpPr>
          <p:nvPr/>
        </p:nvCxnSpPr>
        <p:spPr>
          <a:xfrm>
            <a:off x="4261455" y="1541068"/>
            <a:ext cx="402175" cy="17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꺾인 연결선 61"/>
          <p:cNvCxnSpPr>
            <a:cxnSpLocks/>
            <a:stCxn id="13" idx="3"/>
            <a:endCxn id="26" idx="1"/>
          </p:cNvCxnSpPr>
          <p:nvPr/>
        </p:nvCxnSpPr>
        <p:spPr>
          <a:xfrm flipV="1">
            <a:off x="4261455" y="2173496"/>
            <a:ext cx="402175" cy="15129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꺾인 연결선 63"/>
          <p:cNvCxnSpPr>
            <a:cxnSpLocks/>
            <a:stCxn id="13" idx="3"/>
            <a:endCxn id="27" idx="1"/>
          </p:cNvCxnSpPr>
          <p:nvPr/>
        </p:nvCxnSpPr>
        <p:spPr>
          <a:xfrm>
            <a:off x="4261455" y="2324786"/>
            <a:ext cx="402175" cy="1069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cxnSpLocks/>
            <a:stCxn id="20" idx="3"/>
            <a:endCxn id="29" idx="1"/>
          </p:cNvCxnSpPr>
          <p:nvPr/>
        </p:nvCxnSpPr>
        <p:spPr>
          <a:xfrm flipV="1">
            <a:off x="4261455" y="2984610"/>
            <a:ext cx="402175" cy="25753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꺾인 연결선 67"/>
          <p:cNvCxnSpPr>
            <a:cxnSpLocks/>
            <a:stCxn id="20" idx="3"/>
            <a:endCxn id="31" idx="1"/>
          </p:cNvCxnSpPr>
          <p:nvPr/>
        </p:nvCxnSpPr>
        <p:spPr>
          <a:xfrm>
            <a:off x="4261455" y="3242146"/>
            <a:ext cx="402175" cy="2531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69"/>
          <p:cNvCxnSpPr>
            <a:cxnSpLocks/>
            <a:stCxn id="20" idx="3"/>
            <a:endCxn id="30" idx="1"/>
          </p:cNvCxnSpPr>
          <p:nvPr/>
        </p:nvCxnSpPr>
        <p:spPr>
          <a:xfrm flipV="1">
            <a:off x="4261455" y="3239632"/>
            <a:ext cx="402175" cy="251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 name="꺾인 연결선 72"/>
          <p:cNvCxnSpPr>
            <a:cxnSpLocks/>
            <a:stCxn id="35" idx="1"/>
            <a:endCxn id="11" idx="3"/>
          </p:cNvCxnSpPr>
          <p:nvPr/>
        </p:nvCxnSpPr>
        <p:spPr>
          <a:xfrm rot="10800000" flipV="1">
            <a:off x="2553417" y="5191715"/>
            <a:ext cx="513682" cy="30248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꺾인 연결선 74"/>
          <p:cNvCxnSpPr>
            <a:cxnSpLocks/>
            <a:stCxn id="11" idx="3"/>
            <a:endCxn id="37" idx="1"/>
          </p:cNvCxnSpPr>
          <p:nvPr/>
        </p:nvCxnSpPr>
        <p:spPr>
          <a:xfrm>
            <a:off x="2553417" y="5494195"/>
            <a:ext cx="513682" cy="11829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꺾인 연결선 76"/>
          <p:cNvCxnSpPr>
            <a:cxnSpLocks/>
            <a:stCxn id="11" idx="3"/>
            <a:endCxn id="36" idx="1"/>
          </p:cNvCxnSpPr>
          <p:nvPr/>
        </p:nvCxnSpPr>
        <p:spPr>
          <a:xfrm>
            <a:off x="2553417" y="5494195"/>
            <a:ext cx="513682" cy="36017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꺾인 연결선 78"/>
          <p:cNvCxnSpPr>
            <a:cxnSpLocks/>
            <a:stCxn id="21" idx="3"/>
            <a:endCxn id="32" idx="1"/>
          </p:cNvCxnSpPr>
          <p:nvPr/>
        </p:nvCxnSpPr>
        <p:spPr>
          <a:xfrm flipV="1">
            <a:off x="4261455" y="3762945"/>
            <a:ext cx="402175" cy="1412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꺾인 연결선 80"/>
          <p:cNvCxnSpPr>
            <a:cxnSpLocks/>
            <a:stCxn id="21" idx="3"/>
            <a:endCxn id="33" idx="1"/>
          </p:cNvCxnSpPr>
          <p:nvPr/>
        </p:nvCxnSpPr>
        <p:spPr>
          <a:xfrm>
            <a:off x="4261455" y="3904145"/>
            <a:ext cx="402175" cy="11382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꺾인 연결선 82"/>
          <p:cNvCxnSpPr>
            <a:cxnSpLocks/>
            <a:stCxn id="35" idx="3"/>
            <a:endCxn id="39" idx="1"/>
          </p:cNvCxnSpPr>
          <p:nvPr/>
        </p:nvCxnSpPr>
        <p:spPr>
          <a:xfrm flipV="1">
            <a:off x="4261455" y="5052265"/>
            <a:ext cx="402175" cy="1394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꺾인 연결선 84"/>
          <p:cNvCxnSpPr>
            <a:cxnSpLocks/>
            <a:stCxn id="35" idx="3"/>
            <a:endCxn id="40" idx="1"/>
          </p:cNvCxnSpPr>
          <p:nvPr/>
        </p:nvCxnSpPr>
        <p:spPr>
          <a:xfrm>
            <a:off x="4261455" y="5191715"/>
            <a:ext cx="402175" cy="11881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꺾인 연결선 86"/>
          <p:cNvCxnSpPr>
            <a:cxnSpLocks/>
            <a:stCxn id="36" idx="3"/>
            <a:endCxn id="41" idx="1"/>
          </p:cNvCxnSpPr>
          <p:nvPr/>
        </p:nvCxnSpPr>
        <p:spPr>
          <a:xfrm flipV="1">
            <a:off x="4261455" y="5584656"/>
            <a:ext cx="402175" cy="26971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꺾인 연결선 88"/>
          <p:cNvCxnSpPr>
            <a:cxnSpLocks/>
            <a:stCxn id="36" idx="3"/>
            <a:endCxn id="42" idx="1"/>
          </p:cNvCxnSpPr>
          <p:nvPr/>
        </p:nvCxnSpPr>
        <p:spPr>
          <a:xfrm flipV="1">
            <a:off x="4261455" y="5850272"/>
            <a:ext cx="402175" cy="409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꺾인 연결선 90"/>
          <p:cNvCxnSpPr>
            <a:cxnSpLocks/>
            <a:stCxn id="36" idx="3"/>
            <a:endCxn id="43" idx="1"/>
          </p:cNvCxnSpPr>
          <p:nvPr/>
        </p:nvCxnSpPr>
        <p:spPr>
          <a:xfrm>
            <a:off x="4261455" y="5854369"/>
            <a:ext cx="402175" cy="25416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꺾인 연결선 92"/>
          <p:cNvCxnSpPr>
            <a:cxnSpLocks/>
            <a:stCxn id="41" idx="3"/>
            <a:endCxn id="49" idx="1"/>
          </p:cNvCxnSpPr>
          <p:nvPr/>
        </p:nvCxnSpPr>
        <p:spPr>
          <a:xfrm flipV="1">
            <a:off x="7401463" y="5315336"/>
            <a:ext cx="157910" cy="26932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꺾인 연결선 94"/>
          <p:cNvCxnSpPr>
            <a:cxnSpLocks/>
            <a:stCxn id="41" idx="3"/>
            <a:endCxn id="51" idx="1"/>
          </p:cNvCxnSpPr>
          <p:nvPr/>
        </p:nvCxnSpPr>
        <p:spPr>
          <a:xfrm>
            <a:off x="7401463" y="5584656"/>
            <a:ext cx="157910" cy="26143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꺾인 연결선 96"/>
          <p:cNvCxnSpPr>
            <a:cxnSpLocks/>
            <a:stCxn id="41" idx="3"/>
            <a:endCxn id="50" idx="1"/>
          </p:cNvCxnSpPr>
          <p:nvPr/>
        </p:nvCxnSpPr>
        <p:spPr>
          <a:xfrm>
            <a:off x="7401463" y="5584656"/>
            <a:ext cx="157910" cy="316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직사각형 98"/>
          <p:cNvSpPr/>
          <p:nvPr/>
        </p:nvSpPr>
        <p:spPr>
          <a:xfrm>
            <a:off x="7559373" y="3246491"/>
            <a:ext cx="2016224" cy="202369"/>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심리방식의 선택</a:t>
            </a:r>
            <a:r>
              <a:rPr lang="en-US" altLang="ko-KR" sz="1100" dirty="0"/>
              <a:t>(</a:t>
            </a:r>
            <a:r>
              <a:rPr lang="ko-KR" altLang="en-US" sz="1100" dirty="0"/>
              <a:t>法 </a:t>
            </a:r>
            <a:r>
              <a:rPr lang="en-US" altLang="ko-KR" sz="1100" dirty="0"/>
              <a:t>154)</a:t>
            </a:r>
            <a:endParaRPr lang="ko-KR" altLang="en-US" sz="1100" dirty="0"/>
          </a:p>
        </p:txBody>
      </p:sp>
      <p:sp>
        <p:nvSpPr>
          <p:cNvPr id="100" name="직사각형 99"/>
          <p:cNvSpPr/>
          <p:nvPr/>
        </p:nvSpPr>
        <p:spPr>
          <a:xfrm>
            <a:off x="7559373" y="3541087"/>
            <a:ext cx="2016224" cy="202369"/>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직권주의</a:t>
            </a:r>
            <a:r>
              <a:rPr lang="en-US" altLang="ko-KR" sz="1100" dirty="0"/>
              <a:t>(</a:t>
            </a:r>
            <a:r>
              <a:rPr lang="ko-KR" altLang="en-US" sz="1100" dirty="0"/>
              <a:t>法 </a:t>
            </a:r>
            <a:r>
              <a:rPr lang="en-US" altLang="ko-KR" sz="1100" dirty="0"/>
              <a:t>157-160)</a:t>
            </a:r>
            <a:r>
              <a:rPr lang="ko-KR" altLang="en-US" sz="1100" dirty="0"/>
              <a:t> </a:t>
            </a:r>
          </a:p>
        </p:txBody>
      </p:sp>
      <p:cxnSp>
        <p:nvCxnSpPr>
          <p:cNvPr id="102" name="꺾인 연결선 101"/>
          <p:cNvCxnSpPr>
            <a:cxnSpLocks/>
            <a:stCxn id="31" idx="3"/>
            <a:endCxn id="99" idx="1"/>
          </p:cNvCxnSpPr>
          <p:nvPr/>
        </p:nvCxnSpPr>
        <p:spPr>
          <a:xfrm flipV="1">
            <a:off x="7401463" y="3347676"/>
            <a:ext cx="157910" cy="147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꺾인 연결선 103"/>
          <p:cNvCxnSpPr>
            <a:cxnSpLocks/>
            <a:stCxn id="31" idx="3"/>
            <a:endCxn id="100" idx="1"/>
          </p:cNvCxnSpPr>
          <p:nvPr/>
        </p:nvCxnSpPr>
        <p:spPr>
          <a:xfrm>
            <a:off x="7401463" y="3495281"/>
            <a:ext cx="157910" cy="14699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5" name="직사각형 104"/>
          <p:cNvSpPr/>
          <p:nvPr/>
        </p:nvSpPr>
        <p:spPr>
          <a:xfrm>
            <a:off x="7559373" y="1299559"/>
            <a:ext cx="2016224" cy="202369"/>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당사자 참가인</a:t>
            </a:r>
          </a:p>
        </p:txBody>
      </p:sp>
      <p:sp>
        <p:nvSpPr>
          <p:cNvPr id="106" name="직사각형 105"/>
          <p:cNvSpPr/>
          <p:nvPr/>
        </p:nvSpPr>
        <p:spPr>
          <a:xfrm>
            <a:off x="7559373" y="1594156"/>
            <a:ext cx="2016224" cy="202369"/>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보조 참가인</a:t>
            </a:r>
          </a:p>
        </p:txBody>
      </p:sp>
      <p:cxnSp>
        <p:nvCxnSpPr>
          <p:cNvPr id="107" name="꺾인 연결선 106"/>
          <p:cNvCxnSpPr>
            <a:cxnSpLocks/>
            <a:stCxn id="23" idx="3"/>
            <a:endCxn id="105" idx="1"/>
          </p:cNvCxnSpPr>
          <p:nvPr/>
        </p:nvCxnSpPr>
        <p:spPr>
          <a:xfrm flipV="1">
            <a:off x="7401463" y="1400744"/>
            <a:ext cx="157910" cy="1405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꺾인 연결선 107"/>
          <p:cNvCxnSpPr>
            <a:cxnSpLocks/>
            <a:stCxn id="23" idx="3"/>
            <a:endCxn id="106" idx="1"/>
          </p:cNvCxnSpPr>
          <p:nvPr/>
        </p:nvCxnSpPr>
        <p:spPr>
          <a:xfrm>
            <a:off x="7401463" y="1541246"/>
            <a:ext cx="157910" cy="1540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직사각형 79"/>
          <p:cNvSpPr/>
          <p:nvPr/>
        </p:nvSpPr>
        <p:spPr>
          <a:xfrm>
            <a:off x="186728" y="3508776"/>
            <a:ext cx="1127423" cy="827526"/>
          </a:xfrm>
          <a:prstGeom prst="rect">
            <a:avLst/>
          </a:prstGeom>
          <a:solidFill>
            <a:schemeClr val="accent2">
              <a:lumMod val="50000"/>
            </a:schemeClr>
          </a:solidFill>
          <a:ln w="381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2400" dirty="0">
                <a:solidFill>
                  <a:schemeClr val="bg1"/>
                </a:solidFill>
              </a:rPr>
              <a:t>심판</a:t>
            </a:r>
            <a:endParaRPr lang="en-US" altLang="ko-KR" sz="2400" dirty="0">
              <a:solidFill>
                <a:schemeClr val="bg1"/>
              </a:solidFill>
            </a:endParaRPr>
          </a:p>
          <a:p>
            <a:pPr algn="ctr"/>
            <a:r>
              <a:rPr lang="ko-KR" altLang="en-US" sz="2400" dirty="0">
                <a:solidFill>
                  <a:schemeClr val="bg1"/>
                </a:solidFill>
              </a:rPr>
              <a:t>제도</a:t>
            </a:r>
          </a:p>
        </p:txBody>
      </p:sp>
      <p:cxnSp>
        <p:nvCxnSpPr>
          <p:cNvPr id="45" name="꺾인 연결선 44"/>
          <p:cNvCxnSpPr>
            <a:cxnSpLocks/>
            <a:stCxn id="80" idx="3"/>
            <a:endCxn id="11" idx="1"/>
          </p:cNvCxnSpPr>
          <p:nvPr/>
        </p:nvCxnSpPr>
        <p:spPr>
          <a:xfrm>
            <a:off x="1314151" y="3922540"/>
            <a:ext cx="308587" cy="157165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9" name="직사각형 108"/>
          <p:cNvSpPr/>
          <p:nvPr/>
        </p:nvSpPr>
        <p:spPr>
          <a:xfrm>
            <a:off x="3067099" y="6272183"/>
            <a:ext cx="2285206" cy="231754"/>
          </a:xfrm>
          <a:prstGeom prst="rect">
            <a:avLst/>
          </a:prstGeom>
          <a:solidFill>
            <a:schemeClr val="accent5">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fontAlgn="base"/>
            <a:r>
              <a:rPr lang="ko-KR" altLang="en-US" sz="1100" dirty="0"/>
              <a:t>특허취소신청</a:t>
            </a:r>
            <a:r>
              <a:rPr lang="en-US" altLang="ko-KR" sz="1100" dirty="0"/>
              <a:t>(</a:t>
            </a:r>
            <a:r>
              <a:rPr lang="ko-KR" altLang="en-US" sz="1100" dirty="0"/>
              <a:t>法 </a:t>
            </a:r>
            <a:r>
              <a:rPr lang="en-US" altLang="ko-KR" sz="1100" dirty="0"/>
              <a:t>132</a:t>
            </a:r>
            <a:r>
              <a:rPr lang="ko-KR" altLang="en-US" sz="1100" dirty="0"/>
              <a:t>의</a:t>
            </a:r>
            <a:r>
              <a:rPr lang="en-US" altLang="ko-KR" sz="1100" dirty="0"/>
              <a:t>2~132</a:t>
            </a:r>
            <a:r>
              <a:rPr lang="ko-KR" altLang="en-US" sz="1100" dirty="0"/>
              <a:t>의</a:t>
            </a:r>
            <a:r>
              <a:rPr lang="en-US" altLang="ko-KR" sz="1100" dirty="0"/>
              <a:t>15)</a:t>
            </a:r>
            <a:endParaRPr lang="ko-KR" altLang="en-US" sz="1100" dirty="0"/>
          </a:p>
        </p:txBody>
      </p:sp>
      <p:cxnSp>
        <p:nvCxnSpPr>
          <p:cNvPr id="111" name="꺾인 연결선 110"/>
          <p:cNvCxnSpPr>
            <a:cxnSpLocks/>
            <a:stCxn id="11" idx="3"/>
            <a:endCxn id="109" idx="1"/>
          </p:cNvCxnSpPr>
          <p:nvPr/>
        </p:nvCxnSpPr>
        <p:spPr>
          <a:xfrm>
            <a:off x="2553417" y="5494195"/>
            <a:ext cx="513682" cy="89386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4" name="직사각형 113"/>
          <p:cNvSpPr/>
          <p:nvPr/>
        </p:nvSpPr>
        <p:spPr>
          <a:xfrm>
            <a:off x="4663630" y="2616103"/>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중복심판청구금지</a:t>
            </a:r>
            <a:r>
              <a:rPr lang="en-US" altLang="ko-KR" sz="1100" dirty="0"/>
              <a:t>(</a:t>
            </a:r>
            <a:r>
              <a:rPr lang="ko-KR" altLang="en-US" sz="1100" dirty="0"/>
              <a:t>法 </a:t>
            </a:r>
            <a:r>
              <a:rPr lang="en-US" altLang="ko-KR" sz="1100" dirty="0"/>
              <a:t>154⑧ </a:t>
            </a:r>
            <a:r>
              <a:rPr lang="ko-KR" altLang="en-US" sz="1100" dirty="0"/>
              <a:t>준용</a:t>
            </a:r>
            <a:r>
              <a:rPr lang="en-US" altLang="ko-KR" sz="1100" dirty="0"/>
              <a:t> </a:t>
            </a:r>
            <a:r>
              <a:rPr lang="ko-KR" altLang="en-US" sz="1100" dirty="0"/>
              <a:t>민소</a:t>
            </a:r>
            <a:r>
              <a:rPr lang="en-US" altLang="ko-KR" sz="1100" dirty="0"/>
              <a:t>259)</a:t>
            </a:r>
          </a:p>
        </p:txBody>
      </p:sp>
      <p:cxnSp>
        <p:nvCxnSpPr>
          <p:cNvPr id="71" name="꺾인 연결선 70"/>
          <p:cNvCxnSpPr>
            <a:cxnSpLocks/>
            <a:stCxn id="13" idx="3"/>
            <a:endCxn id="114" idx="1"/>
          </p:cNvCxnSpPr>
          <p:nvPr/>
        </p:nvCxnSpPr>
        <p:spPr>
          <a:xfrm>
            <a:off x="4261455" y="2324786"/>
            <a:ext cx="402175" cy="39246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직사각형 73">
            <a:extLst>
              <a:ext uri="{FF2B5EF4-FFF2-40B4-BE49-F238E27FC236}">
                <a16:creationId xmlns:a16="http://schemas.microsoft.com/office/drawing/2014/main" id="{78534246-C26B-4211-906E-FCD7EB006C54}"/>
              </a:ext>
            </a:extLst>
          </p:cNvPr>
          <p:cNvSpPr/>
          <p:nvPr/>
        </p:nvSpPr>
        <p:spPr>
          <a:xfrm>
            <a:off x="3067099" y="4296090"/>
            <a:ext cx="1194356" cy="23175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관련</a:t>
            </a:r>
          </a:p>
        </p:txBody>
      </p:sp>
      <p:sp>
        <p:nvSpPr>
          <p:cNvPr id="76" name="직사각형 75">
            <a:extLst>
              <a:ext uri="{FF2B5EF4-FFF2-40B4-BE49-F238E27FC236}">
                <a16:creationId xmlns:a16="http://schemas.microsoft.com/office/drawing/2014/main" id="{5E911655-5932-426B-881A-55F3376FB16D}"/>
              </a:ext>
            </a:extLst>
          </p:cNvPr>
          <p:cNvSpPr/>
          <p:nvPr/>
        </p:nvSpPr>
        <p:spPr>
          <a:xfrm>
            <a:off x="4663630" y="4169615"/>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타절차와의 관계</a:t>
            </a:r>
            <a:r>
              <a:rPr lang="en-US" altLang="ko-KR" sz="1100" dirty="0"/>
              <a:t>(</a:t>
            </a:r>
            <a:r>
              <a:rPr lang="ko-KR" altLang="en-US" sz="1100" dirty="0"/>
              <a:t>法 </a:t>
            </a:r>
            <a:r>
              <a:rPr lang="en-US" altLang="ko-KR" sz="1100" dirty="0"/>
              <a:t>164)</a:t>
            </a:r>
            <a:endParaRPr lang="ko-KR" altLang="en-US" sz="1100" dirty="0"/>
          </a:p>
        </p:txBody>
      </p:sp>
      <p:sp>
        <p:nvSpPr>
          <p:cNvPr id="78" name="직사각형 77">
            <a:extLst>
              <a:ext uri="{FF2B5EF4-FFF2-40B4-BE49-F238E27FC236}">
                <a16:creationId xmlns:a16="http://schemas.microsoft.com/office/drawing/2014/main" id="{A4E7CC56-8959-4245-B069-E648D0FEBB98}"/>
              </a:ext>
            </a:extLst>
          </p:cNvPr>
          <p:cNvSpPr/>
          <p:nvPr/>
        </p:nvSpPr>
        <p:spPr>
          <a:xfrm>
            <a:off x="4663630" y="4416579"/>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solidFill>
                  <a:schemeClr val="tx1"/>
                </a:solidFill>
              </a:rPr>
              <a:t>조정위원회 회부</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164</a:t>
            </a:r>
            <a:r>
              <a:rPr lang="ko-KR" altLang="en-US" sz="1100" dirty="0">
                <a:solidFill>
                  <a:schemeClr val="tx1"/>
                </a:solidFill>
              </a:rPr>
              <a:t>의</a:t>
            </a:r>
            <a:r>
              <a:rPr lang="en-US" altLang="ko-KR" sz="1100" dirty="0">
                <a:solidFill>
                  <a:schemeClr val="tx1"/>
                </a:solidFill>
              </a:rPr>
              <a:t>2)</a:t>
            </a:r>
            <a:endParaRPr lang="ko-KR" altLang="en-US" sz="1100" dirty="0">
              <a:solidFill>
                <a:schemeClr val="tx1"/>
              </a:solidFill>
            </a:endParaRPr>
          </a:p>
        </p:txBody>
      </p:sp>
      <p:cxnSp>
        <p:nvCxnSpPr>
          <p:cNvPr id="82" name="꺾인 연결선 78">
            <a:extLst>
              <a:ext uri="{FF2B5EF4-FFF2-40B4-BE49-F238E27FC236}">
                <a16:creationId xmlns:a16="http://schemas.microsoft.com/office/drawing/2014/main" id="{C1CE6BA2-2AEF-4C2D-9F9F-35F9F52666F1}"/>
              </a:ext>
            </a:extLst>
          </p:cNvPr>
          <p:cNvCxnSpPr>
            <a:cxnSpLocks/>
            <a:stCxn id="74" idx="3"/>
            <a:endCxn id="76" idx="1"/>
          </p:cNvCxnSpPr>
          <p:nvPr/>
        </p:nvCxnSpPr>
        <p:spPr>
          <a:xfrm flipV="1">
            <a:off x="4261455" y="4270767"/>
            <a:ext cx="402175" cy="1412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꺾인 연결선 80">
            <a:extLst>
              <a:ext uri="{FF2B5EF4-FFF2-40B4-BE49-F238E27FC236}">
                <a16:creationId xmlns:a16="http://schemas.microsoft.com/office/drawing/2014/main" id="{B27D790B-532A-46AD-9B78-F6B79E7DD7E9}"/>
              </a:ext>
            </a:extLst>
          </p:cNvPr>
          <p:cNvCxnSpPr>
            <a:cxnSpLocks/>
            <a:stCxn id="74" idx="3"/>
            <a:endCxn id="78" idx="1"/>
          </p:cNvCxnSpPr>
          <p:nvPr/>
        </p:nvCxnSpPr>
        <p:spPr>
          <a:xfrm>
            <a:off x="4261455" y="4411967"/>
            <a:ext cx="402175" cy="1057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연결선: 꺾임 7">
            <a:extLst>
              <a:ext uri="{FF2B5EF4-FFF2-40B4-BE49-F238E27FC236}">
                <a16:creationId xmlns:a16="http://schemas.microsoft.com/office/drawing/2014/main" id="{12D46862-8392-41EB-8330-D73C494F4882}"/>
              </a:ext>
            </a:extLst>
          </p:cNvPr>
          <p:cNvCxnSpPr>
            <a:cxnSpLocks/>
            <a:stCxn id="3" idx="3"/>
            <a:endCxn id="74" idx="1"/>
          </p:cNvCxnSpPr>
          <p:nvPr/>
        </p:nvCxnSpPr>
        <p:spPr>
          <a:xfrm>
            <a:off x="2553417" y="2723003"/>
            <a:ext cx="513682" cy="168896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직사각형 85">
            <a:extLst>
              <a:ext uri="{FF2B5EF4-FFF2-40B4-BE49-F238E27FC236}">
                <a16:creationId xmlns:a16="http://schemas.microsoft.com/office/drawing/2014/main" id="{3E818AD2-E450-4C69-93B6-F741F4EB0A9B}"/>
              </a:ext>
            </a:extLst>
          </p:cNvPr>
          <p:cNvSpPr/>
          <p:nvPr/>
        </p:nvSpPr>
        <p:spPr>
          <a:xfrm>
            <a:off x="9800979" y="3541900"/>
            <a:ext cx="2250668" cy="202369"/>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solidFill>
                  <a:schemeClr val="tx1"/>
                </a:solidFill>
              </a:rPr>
              <a:t>직권진행주의</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158, 158</a:t>
            </a:r>
            <a:r>
              <a:rPr lang="ko-KR" altLang="en-US" sz="1100" dirty="0">
                <a:solidFill>
                  <a:schemeClr val="tx1"/>
                </a:solidFill>
              </a:rPr>
              <a:t>의</a:t>
            </a:r>
            <a:r>
              <a:rPr lang="en-US" altLang="ko-KR" sz="1100" dirty="0">
                <a:solidFill>
                  <a:schemeClr val="tx1"/>
                </a:solidFill>
              </a:rPr>
              <a:t>2, 160)</a:t>
            </a:r>
            <a:r>
              <a:rPr lang="ko-KR" altLang="en-US" sz="1100" dirty="0">
                <a:solidFill>
                  <a:schemeClr val="tx1"/>
                </a:solidFill>
              </a:rPr>
              <a:t> </a:t>
            </a:r>
          </a:p>
        </p:txBody>
      </p:sp>
      <p:sp>
        <p:nvSpPr>
          <p:cNvPr id="110" name="직사각형 109">
            <a:extLst>
              <a:ext uri="{FF2B5EF4-FFF2-40B4-BE49-F238E27FC236}">
                <a16:creationId xmlns:a16="http://schemas.microsoft.com/office/drawing/2014/main" id="{3A545FA4-B5DB-4C98-85D7-145890921977}"/>
              </a:ext>
            </a:extLst>
          </p:cNvPr>
          <p:cNvSpPr/>
          <p:nvPr/>
        </p:nvSpPr>
        <p:spPr>
          <a:xfrm>
            <a:off x="9800979" y="3828560"/>
            <a:ext cx="2250668" cy="202369"/>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직권탐지주의</a:t>
            </a:r>
            <a:r>
              <a:rPr lang="en-US" altLang="ko-KR" sz="1100" dirty="0"/>
              <a:t>(</a:t>
            </a:r>
            <a:r>
              <a:rPr lang="ko-KR" altLang="en-US" sz="1100" dirty="0"/>
              <a:t>法 </a:t>
            </a:r>
            <a:r>
              <a:rPr lang="en-US" altLang="ko-KR" sz="1100" dirty="0"/>
              <a:t>157, 159)</a:t>
            </a:r>
            <a:r>
              <a:rPr lang="ko-KR" altLang="en-US" sz="1100" dirty="0"/>
              <a:t> </a:t>
            </a:r>
          </a:p>
        </p:txBody>
      </p:sp>
      <p:cxnSp>
        <p:nvCxnSpPr>
          <p:cNvPr id="98" name="연결선: 꺾임 97">
            <a:extLst>
              <a:ext uri="{FF2B5EF4-FFF2-40B4-BE49-F238E27FC236}">
                <a16:creationId xmlns:a16="http://schemas.microsoft.com/office/drawing/2014/main" id="{4C8B1F63-EAE0-45EA-A141-06561B1B86D9}"/>
              </a:ext>
            </a:extLst>
          </p:cNvPr>
          <p:cNvCxnSpPr>
            <a:cxnSpLocks/>
            <a:stCxn id="100" idx="3"/>
            <a:endCxn id="86" idx="1"/>
          </p:cNvCxnSpPr>
          <p:nvPr/>
        </p:nvCxnSpPr>
        <p:spPr>
          <a:xfrm>
            <a:off x="9575597" y="3642272"/>
            <a:ext cx="225382" cy="81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연결선: 꺾임 102">
            <a:extLst>
              <a:ext uri="{FF2B5EF4-FFF2-40B4-BE49-F238E27FC236}">
                <a16:creationId xmlns:a16="http://schemas.microsoft.com/office/drawing/2014/main" id="{0ADED95E-3C68-4589-855C-6AE8A8B3E7FB}"/>
              </a:ext>
            </a:extLst>
          </p:cNvPr>
          <p:cNvCxnSpPr>
            <a:cxnSpLocks/>
            <a:stCxn id="100" idx="3"/>
            <a:endCxn id="110" idx="1"/>
          </p:cNvCxnSpPr>
          <p:nvPr/>
        </p:nvCxnSpPr>
        <p:spPr>
          <a:xfrm>
            <a:off x="9575597" y="3642272"/>
            <a:ext cx="225382" cy="28747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직사각형 100">
            <a:extLst>
              <a:ext uri="{FF2B5EF4-FFF2-40B4-BE49-F238E27FC236}">
                <a16:creationId xmlns:a16="http://schemas.microsoft.com/office/drawing/2014/main" id="{B28DB34C-A0EA-47EE-88CA-E988607A7999}"/>
              </a:ext>
            </a:extLst>
          </p:cNvPr>
          <p:cNvSpPr/>
          <p:nvPr/>
        </p:nvSpPr>
        <p:spPr>
          <a:xfrm>
            <a:off x="4663630" y="4657705"/>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심판비용</a:t>
            </a:r>
            <a:r>
              <a:rPr lang="en-US" altLang="ko-KR" sz="1100" dirty="0"/>
              <a:t>(</a:t>
            </a:r>
            <a:r>
              <a:rPr lang="ko-KR" altLang="en-US" sz="1100" dirty="0"/>
              <a:t>法 </a:t>
            </a:r>
            <a:r>
              <a:rPr lang="en-US" altLang="ko-KR" sz="1100" dirty="0"/>
              <a:t>165, 166)</a:t>
            </a:r>
            <a:endParaRPr lang="ko-KR" altLang="en-US" sz="1100" dirty="0"/>
          </a:p>
        </p:txBody>
      </p:sp>
      <p:cxnSp>
        <p:nvCxnSpPr>
          <p:cNvPr id="112" name="꺾인 연결선 80">
            <a:extLst>
              <a:ext uri="{FF2B5EF4-FFF2-40B4-BE49-F238E27FC236}">
                <a16:creationId xmlns:a16="http://schemas.microsoft.com/office/drawing/2014/main" id="{2C9C259E-AACB-41FF-AA4B-EE689F4F9D04}"/>
              </a:ext>
            </a:extLst>
          </p:cNvPr>
          <p:cNvCxnSpPr>
            <a:cxnSpLocks/>
            <a:stCxn id="74" idx="3"/>
            <a:endCxn id="101" idx="1"/>
          </p:cNvCxnSpPr>
          <p:nvPr/>
        </p:nvCxnSpPr>
        <p:spPr>
          <a:xfrm>
            <a:off x="4261455" y="4411967"/>
            <a:ext cx="402175" cy="34689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3" name="직사각형 112">
            <a:extLst>
              <a:ext uri="{FF2B5EF4-FFF2-40B4-BE49-F238E27FC236}">
                <a16:creationId xmlns:a16="http://schemas.microsoft.com/office/drawing/2014/main" id="{563F24DF-9262-41E6-A7EC-2D7EC5CBADCE}"/>
              </a:ext>
            </a:extLst>
          </p:cNvPr>
          <p:cNvSpPr/>
          <p:nvPr/>
        </p:nvSpPr>
        <p:spPr>
          <a:xfrm>
            <a:off x="4663630" y="940279"/>
            <a:ext cx="2737833" cy="20230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심판원</a:t>
            </a:r>
            <a:r>
              <a:rPr lang="en-US" altLang="ko-KR" sz="1100" dirty="0"/>
              <a:t>(</a:t>
            </a:r>
            <a:r>
              <a:rPr lang="ko-KR" altLang="en-US" sz="1100" dirty="0"/>
              <a:t>法 </a:t>
            </a:r>
            <a:r>
              <a:rPr lang="en-US" altLang="ko-KR" sz="1100" dirty="0"/>
              <a:t>132</a:t>
            </a:r>
            <a:r>
              <a:rPr lang="ko-KR" altLang="en-US" sz="1100" dirty="0"/>
              <a:t>의</a:t>
            </a:r>
            <a:r>
              <a:rPr lang="en-US" altLang="ko-KR" sz="1100" dirty="0"/>
              <a:t>16, 143~153</a:t>
            </a:r>
            <a:r>
              <a:rPr lang="ko-KR" altLang="en-US" sz="1100" dirty="0"/>
              <a:t>의</a:t>
            </a:r>
            <a:r>
              <a:rPr lang="en-US" altLang="ko-KR" sz="1100" dirty="0"/>
              <a:t>2)</a:t>
            </a:r>
            <a:endParaRPr lang="ko-KR" altLang="en-US" sz="1100" dirty="0"/>
          </a:p>
        </p:txBody>
      </p:sp>
      <p:sp>
        <p:nvSpPr>
          <p:cNvPr id="88" name="직사각형 87">
            <a:extLst>
              <a:ext uri="{FF2B5EF4-FFF2-40B4-BE49-F238E27FC236}">
                <a16:creationId xmlns:a16="http://schemas.microsoft.com/office/drawing/2014/main" id="{D5FC8B1B-E4E6-4470-981F-980E0800BF07}"/>
              </a:ext>
            </a:extLst>
          </p:cNvPr>
          <p:cNvSpPr/>
          <p:nvPr/>
        </p:nvSpPr>
        <p:spPr>
          <a:xfrm>
            <a:off x="7559373" y="721935"/>
            <a:ext cx="2016224" cy="202369"/>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심판원의 조직과 구성</a:t>
            </a:r>
          </a:p>
        </p:txBody>
      </p:sp>
      <p:sp>
        <p:nvSpPr>
          <p:cNvPr id="90" name="직사각형 89">
            <a:extLst>
              <a:ext uri="{FF2B5EF4-FFF2-40B4-BE49-F238E27FC236}">
                <a16:creationId xmlns:a16="http://schemas.microsoft.com/office/drawing/2014/main" id="{0A94C8C3-2CB2-48EE-92A8-95BE934A8A46}"/>
              </a:ext>
            </a:extLst>
          </p:cNvPr>
          <p:cNvSpPr/>
          <p:nvPr/>
        </p:nvSpPr>
        <p:spPr>
          <a:xfrm>
            <a:off x="7559373" y="1016532"/>
            <a:ext cx="2016224" cy="202369"/>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심판관의 제척</a:t>
            </a:r>
            <a:r>
              <a:rPr lang="en-US" altLang="ko-KR" sz="1100" dirty="0"/>
              <a:t>, </a:t>
            </a:r>
            <a:r>
              <a:rPr lang="ko-KR" altLang="en-US" sz="1100" dirty="0"/>
              <a:t>기피 및 회피</a:t>
            </a:r>
          </a:p>
        </p:txBody>
      </p:sp>
      <p:cxnSp>
        <p:nvCxnSpPr>
          <p:cNvPr id="92" name="꺾인 연결선 106">
            <a:extLst>
              <a:ext uri="{FF2B5EF4-FFF2-40B4-BE49-F238E27FC236}">
                <a16:creationId xmlns:a16="http://schemas.microsoft.com/office/drawing/2014/main" id="{561F52D8-6A8E-4E97-80B6-8E1CD356757F}"/>
              </a:ext>
            </a:extLst>
          </p:cNvPr>
          <p:cNvCxnSpPr>
            <a:cxnSpLocks/>
            <a:stCxn id="113" idx="3"/>
            <a:endCxn id="88" idx="1"/>
          </p:cNvCxnSpPr>
          <p:nvPr/>
        </p:nvCxnSpPr>
        <p:spPr>
          <a:xfrm flipV="1">
            <a:off x="7401463" y="823120"/>
            <a:ext cx="157910" cy="2183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꺾인 연결선 107">
            <a:extLst>
              <a:ext uri="{FF2B5EF4-FFF2-40B4-BE49-F238E27FC236}">
                <a16:creationId xmlns:a16="http://schemas.microsoft.com/office/drawing/2014/main" id="{349CB056-CEAC-4F11-8A0B-11FDF5A78A5F}"/>
              </a:ext>
            </a:extLst>
          </p:cNvPr>
          <p:cNvCxnSpPr>
            <a:cxnSpLocks/>
            <a:stCxn id="113" idx="3"/>
            <a:endCxn id="90" idx="1"/>
          </p:cNvCxnSpPr>
          <p:nvPr/>
        </p:nvCxnSpPr>
        <p:spPr>
          <a:xfrm>
            <a:off x="7401463" y="1041431"/>
            <a:ext cx="157910" cy="762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4030564"/>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ko-KR" altLang="en-US" dirty="0"/>
              <a:t>특허심판 </a:t>
            </a:r>
            <a:r>
              <a:rPr lang="en-US" altLang="ko-KR" dirty="0"/>
              <a:t>vs </a:t>
            </a:r>
            <a:r>
              <a:rPr lang="ko-KR" altLang="en-US" dirty="0"/>
              <a:t>민사소송</a:t>
            </a:r>
          </a:p>
        </p:txBody>
      </p:sp>
      <p:graphicFrame>
        <p:nvGraphicFramePr>
          <p:cNvPr id="4" name="표 3"/>
          <p:cNvGraphicFramePr>
            <a:graphicFrameLocks noGrp="1"/>
          </p:cNvGraphicFramePr>
          <p:nvPr/>
        </p:nvGraphicFramePr>
        <p:xfrm>
          <a:off x="952501" y="2009777"/>
          <a:ext cx="10096500" cy="3714752"/>
        </p:xfrm>
        <a:graphic>
          <a:graphicData uri="http://schemas.openxmlformats.org/drawingml/2006/table">
            <a:tbl>
              <a:tblPr firstCol="1">
                <a:tableStyleId>{8799B23B-EC83-4686-B30A-512413B5E67A}</a:tableStyleId>
              </a:tblPr>
              <a:tblGrid>
                <a:gridCol w="2133599">
                  <a:extLst>
                    <a:ext uri="{9D8B030D-6E8A-4147-A177-3AD203B41FA5}">
                      <a16:colId xmlns:a16="http://schemas.microsoft.com/office/drawing/2014/main" val="20000"/>
                    </a:ext>
                  </a:extLst>
                </a:gridCol>
                <a:gridCol w="3800475">
                  <a:extLst>
                    <a:ext uri="{9D8B030D-6E8A-4147-A177-3AD203B41FA5}">
                      <a16:colId xmlns:a16="http://schemas.microsoft.com/office/drawing/2014/main" val="20001"/>
                    </a:ext>
                  </a:extLst>
                </a:gridCol>
                <a:gridCol w="4162426">
                  <a:extLst>
                    <a:ext uri="{9D8B030D-6E8A-4147-A177-3AD203B41FA5}">
                      <a16:colId xmlns:a16="http://schemas.microsoft.com/office/drawing/2014/main" val="20002"/>
                    </a:ext>
                  </a:extLst>
                </a:gridCol>
              </a:tblGrid>
              <a:tr h="464344">
                <a:tc>
                  <a:txBody>
                    <a:bodyPr/>
                    <a:lstStyle/>
                    <a:p>
                      <a:pPr algn="ctr" latinLnBrk="1"/>
                      <a:r>
                        <a:rPr lang="ko-KR" altLang="en-US" sz="1200" dirty="0"/>
                        <a:t>구분</a:t>
                      </a:r>
                    </a:p>
                  </a:txBody>
                  <a:tcPr marL="121919" marR="121919" marT="45709" marB="45709" anchor="ctr">
                    <a:solidFill>
                      <a:schemeClr val="accent1">
                        <a:lumMod val="20000"/>
                        <a:lumOff val="80000"/>
                      </a:schemeClr>
                    </a:solidFill>
                  </a:tcPr>
                </a:tc>
                <a:tc>
                  <a:txBody>
                    <a:bodyPr/>
                    <a:lstStyle/>
                    <a:p>
                      <a:pPr algn="ctr" latinLnBrk="1"/>
                      <a:r>
                        <a:rPr lang="ko-KR" altLang="en-US" sz="1200" dirty="0"/>
                        <a:t>민사소송</a:t>
                      </a:r>
                    </a:p>
                  </a:txBody>
                  <a:tcPr marL="121919" marR="121919" marT="45709" marB="45709" anchor="ctr">
                    <a:solidFill>
                      <a:schemeClr val="accent1">
                        <a:lumMod val="20000"/>
                        <a:lumOff val="80000"/>
                      </a:schemeClr>
                    </a:solidFill>
                  </a:tcPr>
                </a:tc>
                <a:tc>
                  <a:txBody>
                    <a:bodyPr/>
                    <a:lstStyle/>
                    <a:p>
                      <a:pPr algn="ctr" latinLnBrk="1"/>
                      <a:r>
                        <a:rPr lang="ko-KR" altLang="en-US" sz="1200" dirty="0"/>
                        <a:t>특허심판</a:t>
                      </a:r>
                    </a:p>
                  </a:txBody>
                  <a:tcPr marL="121919" marR="121919" marT="45709" marB="45709" anchor="ctr">
                    <a:solidFill>
                      <a:schemeClr val="accent1">
                        <a:lumMod val="20000"/>
                        <a:lumOff val="80000"/>
                      </a:schemeClr>
                    </a:solidFill>
                  </a:tcPr>
                </a:tc>
                <a:extLst>
                  <a:ext uri="{0D108BD9-81ED-4DB2-BD59-A6C34878D82A}">
                    <a16:rowId xmlns:a16="http://schemas.microsoft.com/office/drawing/2014/main" val="10000"/>
                  </a:ext>
                </a:extLst>
              </a:tr>
              <a:tr h="464344">
                <a:tc>
                  <a:txBody>
                    <a:bodyPr/>
                    <a:lstStyle/>
                    <a:p>
                      <a:pPr algn="ctr" latinLnBrk="1"/>
                      <a:r>
                        <a:rPr lang="ko-KR" altLang="en-US" sz="1200" dirty="0"/>
                        <a:t>관할</a:t>
                      </a:r>
                    </a:p>
                  </a:txBody>
                  <a:tcPr marL="121919" marR="121919" marT="45709" marB="45709" anchor="ctr"/>
                </a:tc>
                <a:tc>
                  <a:txBody>
                    <a:bodyPr/>
                    <a:lstStyle/>
                    <a:p>
                      <a:pPr algn="ctr" latinLnBrk="1"/>
                      <a:r>
                        <a:rPr lang="ko-KR" altLang="en-US" sz="1200" dirty="0"/>
                        <a:t>민사법원</a:t>
                      </a:r>
                    </a:p>
                  </a:txBody>
                  <a:tcPr marL="121919" marR="121919" marT="45709" marB="45709" anchor="ctr"/>
                </a:tc>
                <a:tc>
                  <a:txBody>
                    <a:bodyPr/>
                    <a:lstStyle/>
                    <a:p>
                      <a:pPr algn="ctr" latinLnBrk="1"/>
                      <a:r>
                        <a:rPr lang="ko-KR" altLang="en-US" sz="1200" dirty="0"/>
                        <a:t>특허심판원</a:t>
                      </a:r>
                    </a:p>
                  </a:txBody>
                  <a:tcPr marL="121919" marR="121919" marT="45709" marB="45709" anchor="ctr"/>
                </a:tc>
                <a:extLst>
                  <a:ext uri="{0D108BD9-81ED-4DB2-BD59-A6C34878D82A}">
                    <a16:rowId xmlns:a16="http://schemas.microsoft.com/office/drawing/2014/main" val="10001"/>
                  </a:ext>
                </a:extLst>
              </a:tr>
              <a:tr h="464344">
                <a:tc>
                  <a:txBody>
                    <a:bodyPr/>
                    <a:lstStyle/>
                    <a:p>
                      <a:pPr algn="ctr" latinLnBrk="1"/>
                      <a:r>
                        <a:rPr lang="ko-KR" altLang="en-US" sz="1200" dirty="0"/>
                        <a:t>직무</a:t>
                      </a:r>
                    </a:p>
                  </a:txBody>
                  <a:tcPr marL="121919" marR="121919" marT="45709" marB="45709"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a:t>산업재산권 관련 침해금지</a:t>
                      </a:r>
                      <a:r>
                        <a:rPr lang="en-US" altLang="ko-KR" sz="1200" dirty="0"/>
                        <a:t>, </a:t>
                      </a:r>
                      <a:r>
                        <a:rPr lang="ko-KR" altLang="en-US" sz="1200" dirty="0"/>
                        <a:t>손해배상소송 등</a:t>
                      </a:r>
                    </a:p>
                  </a:txBody>
                  <a:tcPr marL="121919" marR="121919" marT="45709" marB="45709"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a:t>산업재산권의 발생</a:t>
                      </a:r>
                      <a:r>
                        <a:rPr lang="en-US" altLang="ko-KR" sz="1200" dirty="0"/>
                        <a:t>, </a:t>
                      </a:r>
                      <a:r>
                        <a:rPr lang="ko-KR" altLang="en-US" sz="1200" dirty="0"/>
                        <a:t>변경</a:t>
                      </a:r>
                      <a:r>
                        <a:rPr lang="en-US" altLang="ko-KR" sz="1200" dirty="0"/>
                        <a:t>, </a:t>
                      </a:r>
                      <a:r>
                        <a:rPr lang="ko-KR" altLang="en-US" sz="1200" dirty="0"/>
                        <a:t>소멸 및 그 효력범위에 관한 분쟁</a:t>
                      </a:r>
                    </a:p>
                  </a:txBody>
                  <a:tcPr marL="121919" marR="121919" marT="45709" marB="45709" anchor="ctr"/>
                </a:tc>
                <a:extLst>
                  <a:ext uri="{0D108BD9-81ED-4DB2-BD59-A6C34878D82A}">
                    <a16:rowId xmlns:a16="http://schemas.microsoft.com/office/drawing/2014/main" val="10002"/>
                  </a:ext>
                </a:extLst>
              </a:tr>
              <a:tr h="464344">
                <a:tc>
                  <a:txBody>
                    <a:bodyPr/>
                    <a:lstStyle/>
                    <a:p>
                      <a:pPr algn="ctr" latinLnBrk="1"/>
                      <a:r>
                        <a:rPr lang="ko-KR" altLang="en-US" sz="1200" dirty="0"/>
                        <a:t>신분보장</a:t>
                      </a:r>
                    </a:p>
                  </a:txBody>
                  <a:tcPr marL="121919" marR="121919" marT="45709" marB="45709" anchor="ctr"/>
                </a:tc>
                <a:tc>
                  <a:txBody>
                    <a:bodyPr/>
                    <a:lstStyle/>
                    <a:p>
                      <a:pPr algn="ctr" latinLnBrk="1"/>
                      <a:r>
                        <a:rPr lang="ko-KR" altLang="en-US" sz="1200" dirty="0"/>
                        <a:t>신분상 </a:t>
                      </a:r>
                      <a:r>
                        <a:rPr lang="en-US" altLang="ko-KR" sz="1200" dirty="0"/>
                        <a:t>+ </a:t>
                      </a:r>
                      <a:r>
                        <a:rPr lang="ko-KR" altLang="en-US" sz="1200" dirty="0"/>
                        <a:t>직무상 독립</a:t>
                      </a:r>
                    </a:p>
                  </a:txBody>
                  <a:tcPr marL="121919" marR="121919" marT="45709" marB="45709" anchor="ctr"/>
                </a:tc>
                <a:tc>
                  <a:txBody>
                    <a:bodyPr/>
                    <a:lstStyle/>
                    <a:p>
                      <a:pPr algn="ctr" latinLnBrk="1"/>
                      <a:r>
                        <a:rPr lang="ko-KR" altLang="en-US" sz="1200" dirty="0"/>
                        <a:t>직무상 독립</a:t>
                      </a:r>
                    </a:p>
                  </a:txBody>
                  <a:tcPr marL="121919" marR="121919" marT="45709" marB="45709" anchor="ctr"/>
                </a:tc>
                <a:extLst>
                  <a:ext uri="{0D108BD9-81ED-4DB2-BD59-A6C34878D82A}">
                    <a16:rowId xmlns:a16="http://schemas.microsoft.com/office/drawing/2014/main" val="10003"/>
                  </a:ext>
                </a:extLst>
              </a:tr>
              <a:tr h="46434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a:t>심리방법</a:t>
                      </a:r>
                    </a:p>
                  </a:txBody>
                  <a:tcPr marL="121919" marR="121919" marT="45709" marB="45709" anchor="ctr"/>
                </a:tc>
                <a:tc>
                  <a:txBody>
                    <a:bodyPr/>
                    <a:lstStyle/>
                    <a:p>
                      <a:pPr algn="ctr" latinLnBrk="1"/>
                      <a:r>
                        <a:rPr lang="ko-KR" altLang="en-US" sz="1200" dirty="0"/>
                        <a:t>변론주의</a:t>
                      </a:r>
                      <a:r>
                        <a:rPr lang="en-US" altLang="ko-KR" sz="1200" dirty="0"/>
                        <a:t>*</a:t>
                      </a:r>
                      <a:endParaRPr lang="ko-KR" altLang="en-US" sz="1200" dirty="0"/>
                    </a:p>
                  </a:txBody>
                  <a:tcPr marL="121919" marR="121919" marT="45709" marB="45709" anchor="ctr"/>
                </a:tc>
                <a:tc>
                  <a:txBody>
                    <a:bodyPr/>
                    <a:lstStyle/>
                    <a:p>
                      <a:pPr algn="ctr" latinLnBrk="1"/>
                      <a:r>
                        <a:rPr lang="ko-KR" altLang="en-US" sz="1200" dirty="0"/>
                        <a:t>직권주의</a:t>
                      </a:r>
                      <a:r>
                        <a:rPr lang="en-US" altLang="ko-KR" sz="1200" dirty="0"/>
                        <a:t>**</a:t>
                      </a:r>
                      <a:endParaRPr lang="ko-KR" altLang="en-US" sz="1200" dirty="0"/>
                    </a:p>
                  </a:txBody>
                  <a:tcPr marL="121919" marR="121919" marT="45709" marB="45709" anchor="ctr"/>
                </a:tc>
                <a:extLst>
                  <a:ext uri="{0D108BD9-81ED-4DB2-BD59-A6C34878D82A}">
                    <a16:rowId xmlns:a16="http://schemas.microsoft.com/office/drawing/2014/main" val="10004"/>
                  </a:ext>
                </a:extLst>
              </a:tr>
              <a:tr h="464344">
                <a:tc>
                  <a:txBody>
                    <a:bodyPr/>
                    <a:lstStyle/>
                    <a:p>
                      <a:pPr algn="ctr" latinLnBrk="1"/>
                      <a:r>
                        <a:rPr lang="ko-KR" altLang="en-US" sz="1200" dirty="0"/>
                        <a:t>심리진행</a:t>
                      </a:r>
                    </a:p>
                  </a:txBody>
                  <a:tcPr marL="121919" marR="121919" marT="45709" marB="45709" anchor="ctr"/>
                </a:tc>
                <a:tc>
                  <a:txBody>
                    <a:bodyPr/>
                    <a:lstStyle/>
                    <a:p>
                      <a:pPr algn="ctr" latinLnBrk="1"/>
                      <a:r>
                        <a:rPr lang="ko-KR" altLang="en-US" sz="1200" dirty="0"/>
                        <a:t>구술심리</a:t>
                      </a:r>
                    </a:p>
                  </a:txBody>
                  <a:tcPr marL="121919" marR="121919" marT="45709" marB="45709" anchor="ctr"/>
                </a:tc>
                <a:tc>
                  <a:txBody>
                    <a:bodyPr/>
                    <a:lstStyle/>
                    <a:p>
                      <a:pPr algn="ctr" latinLnBrk="1"/>
                      <a:r>
                        <a:rPr lang="ko-KR" altLang="en-US" sz="1200" dirty="0"/>
                        <a:t>구술심리 </a:t>
                      </a:r>
                      <a:r>
                        <a:rPr lang="en-US" altLang="ko-KR" sz="1200" dirty="0"/>
                        <a:t>+ </a:t>
                      </a:r>
                      <a:r>
                        <a:rPr lang="ko-KR" altLang="en-US" sz="1200" dirty="0"/>
                        <a:t>서면심리</a:t>
                      </a:r>
                    </a:p>
                  </a:txBody>
                  <a:tcPr marL="121919" marR="121919" marT="45709" marB="45709" anchor="ctr"/>
                </a:tc>
                <a:extLst>
                  <a:ext uri="{0D108BD9-81ED-4DB2-BD59-A6C34878D82A}">
                    <a16:rowId xmlns:a16="http://schemas.microsoft.com/office/drawing/2014/main" val="10005"/>
                  </a:ext>
                </a:extLst>
              </a:tr>
              <a:tr h="464344">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a:t>기속력</a:t>
                      </a:r>
                    </a:p>
                  </a:txBody>
                  <a:tcPr marL="121919" marR="121919" marT="45709" marB="45709" anchor="ctr"/>
                </a:tc>
                <a:tc>
                  <a:txBody>
                    <a:bodyPr/>
                    <a:lstStyle/>
                    <a:p>
                      <a:pPr algn="ctr" latinLnBrk="1"/>
                      <a:r>
                        <a:rPr lang="ko-KR" altLang="en-US" sz="1200" dirty="0"/>
                        <a:t>당사자</a:t>
                      </a:r>
                    </a:p>
                  </a:txBody>
                  <a:tcPr marL="121919" marR="121919" marT="45709" marB="45709"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a:t>당사자 </a:t>
                      </a:r>
                      <a:r>
                        <a:rPr lang="en-US" altLang="ko-KR" sz="1200" dirty="0"/>
                        <a:t>+ </a:t>
                      </a:r>
                      <a:r>
                        <a:rPr lang="ko-KR" altLang="en-US" sz="1200" dirty="0"/>
                        <a:t>제</a:t>
                      </a:r>
                      <a:r>
                        <a:rPr lang="en-US" altLang="ko-KR" sz="1200" dirty="0"/>
                        <a:t>3</a:t>
                      </a:r>
                      <a:r>
                        <a:rPr lang="ko-KR" altLang="en-US" sz="1200" dirty="0"/>
                        <a:t>자</a:t>
                      </a:r>
                    </a:p>
                  </a:txBody>
                  <a:tcPr marL="121919" marR="121919" marT="45709" marB="45709" anchor="ctr"/>
                </a:tc>
                <a:extLst>
                  <a:ext uri="{0D108BD9-81ED-4DB2-BD59-A6C34878D82A}">
                    <a16:rowId xmlns:a16="http://schemas.microsoft.com/office/drawing/2014/main" val="10006"/>
                  </a:ext>
                </a:extLst>
              </a:tr>
              <a:tr h="464344">
                <a:tc>
                  <a:txBody>
                    <a:bodyPr/>
                    <a:lstStyle/>
                    <a:p>
                      <a:pPr algn="ctr" latinLnBrk="1"/>
                      <a:r>
                        <a:rPr lang="ko-KR" altLang="en-US" sz="1200" dirty="0"/>
                        <a:t>재판상 화해</a:t>
                      </a:r>
                      <a:r>
                        <a:rPr lang="en-US" altLang="ko-KR" sz="1200" dirty="0"/>
                        <a:t>, </a:t>
                      </a:r>
                      <a:r>
                        <a:rPr lang="ko-KR" altLang="en-US" sz="1200" dirty="0"/>
                        <a:t>포기</a:t>
                      </a:r>
                      <a:r>
                        <a:rPr lang="en-US" altLang="ko-KR" sz="1200" dirty="0"/>
                        <a:t>, </a:t>
                      </a:r>
                      <a:r>
                        <a:rPr lang="ko-KR" altLang="en-US" sz="1200" dirty="0" err="1"/>
                        <a:t>인락</a:t>
                      </a:r>
                      <a:endParaRPr lang="ko-KR" altLang="en-US" sz="1200" dirty="0"/>
                    </a:p>
                  </a:txBody>
                  <a:tcPr marL="121919" marR="121919" marT="45709" marB="45709" anchor="ctr"/>
                </a:tc>
                <a:tc>
                  <a:txBody>
                    <a:bodyPr/>
                    <a:lstStyle/>
                    <a:p>
                      <a:pPr algn="ctr" latinLnBrk="1"/>
                      <a:r>
                        <a:rPr lang="ko-KR" altLang="en-US" sz="1200" dirty="0"/>
                        <a:t>인정</a:t>
                      </a:r>
                    </a:p>
                  </a:txBody>
                  <a:tcPr marL="121919" marR="121919" marT="45709" marB="45709"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dirty="0"/>
                        <a:t>불인정</a:t>
                      </a:r>
                    </a:p>
                  </a:txBody>
                  <a:tcPr marL="121919" marR="121919" marT="45709" marB="45709" anchor="ctr"/>
                </a:tc>
                <a:extLst>
                  <a:ext uri="{0D108BD9-81ED-4DB2-BD59-A6C34878D82A}">
                    <a16:rowId xmlns:a16="http://schemas.microsoft.com/office/drawing/2014/main" val="10007"/>
                  </a:ext>
                </a:extLst>
              </a:tr>
            </a:tbl>
          </a:graphicData>
        </a:graphic>
      </p:graphicFrame>
      <p:sp>
        <p:nvSpPr>
          <p:cNvPr id="5" name="TextBox 4"/>
          <p:cNvSpPr txBox="1"/>
          <p:nvPr/>
        </p:nvSpPr>
        <p:spPr>
          <a:xfrm>
            <a:off x="938478" y="5888886"/>
            <a:ext cx="10158147" cy="538609"/>
          </a:xfrm>
          <a:prstGeom prst="rect">
            <a:avLst/>
          </a:prstGeom>
          <a:noFill/>
        </p:spPr>
        <p:txBody>
          <a:bodyPr wrap="square">
            <a:spAutoFit/>
          </a:bodyPr>
          <a:lstStyle/>
          <a:p>
            <a:pPr marL="85725" indent="-85725">
              <a:spcBef>
                <a:spcPts val="600"/>
              </a:spcBef>
              <a:defRPr/>
            </a:pPr>
            <a:r>
              <a:rPr lang="en-US" altLang="ko-KR" sz="1200" dirty="0">
                <a:solidFill>
                  <a:schemeClr val="accent2">
                    <a:lumMod val="75000"/>
                  </a:schemeClr>
                </a:solidFill>
                <a:latin typeface="+mn-ea"/>
                <a:ea typeface="+mn-ea"/>
              </a:rPr>
              <a:t>* </a:t>
            </a:r>
            <a:r>
              <a:rPr lang="ko-KR" altLang="en-US" sz="1200" dirty="0">
                <a:solidFill>
                  <a:schemeClr val="accent2">
                    <a:lumMod val="75000"/>
                  </a:schemeClr>
                </a:solidFill>
                <a:latin typeface="+mn-ea"/>
                <a:ea typeface="+mn-ea"/>
              </a:rPr>
              <a:t>소송자료</a:t>
            </a:r>
            <a:r>
              <a:rPr lang="en-US" altLang="ko-KR" sz="1200" dirty="0">
                <a:solidFill>
                  <a:schemeClr val="accent2">
                    <a:lumMod val="75000"/>
                  </a:schemeClr>
                </a:solidFill>
                <a:latin typeface="+mn-ea"/>
                <a:ea typeface="+mn-ea"/>
              </a:rPr>
              <a:t> </a:t>
            </a:r>
            <a:r>
              <a:rPr lang="ko-KR" altLang="en-US" sz="1200" dirty="0">
                <a:solidFill>
                  <a:schemeClr val="accent2">
                    <a:lumMod val="75000"/>
                  </a:schemeClr>
                </a:solidFill>
                <a:latin typeface="+mn-ea"/>
                <a:ea typeface="+mn-ea"/>
              </a:rPr>
              <a:t>즉</a:t>
            </a:r>
            <a:r>
              <a:rPr lang="en-US" altLang="ko-KR" sz="1200" dirty="0">
                <a:solidFill>
                  <a:schemeClr val="accent2">
                    <a:lumMod val="75000"/>
                  </a:schemeClr>
                </a:solidFill>
                <a:latin typeface="+mn-ea"/>
                <a:ea typeface="+mn-ea"/>
              </a:rPr>
              <a:t>, </a:t>
            </a:r>
            <a:r>
              <a:rPr lang="ko-KR" altLang="en-US" sz="1200" dirty="0">
                <a:solidFill>
                  <a:schemeClr val="accent2">
                    <a:lumMod val="75000"/>
                  </a:schemeClr>
                </a:solidFill>
                <a:latin typeface="+mn-ea"/>
                <a:ea typeface="+mn-ea"/>
              </a:rPr>
              <a:t>사실과 증거의 수집 및 제출의 책임을 당사자에게 맡기고 당사자가 수집</a:t>
            </a:r>
            <a:r>
              <a:rPr lang="en-US" altLang="ko-KR" sz="1200" dirty="0">
                <a:solidFill>
                  <a:schemeClr val="accent2">
                    <a:lumMod val="75000"/>
                  </a:schemeClr>
                </a:solidFill>
                <a:latin typeface="+mn-ea"/>
                <a:ea typeface="+mn-ea"/>
              </a:rPr>
              <a:t>, </a:t>
            </a:r>
            <a:r>
              <a:rPr lang="ko-KR" altLang="en-US" sz="1200" dirty="0">
                <a:solidFill>
                  <a:schemeClr val="accent2">
                    <a:lumMod val="75000"/>
                  </a:schemeClr>
                </a:solidFill>
                <a:latin typeface="+mn-ea"/>
                <a:ea typeface="+mn-ea"/>
              </a:rPr>
              <a:t>제출한 소송자료만을 재판의 기초로 삼아야 한다는 원칙</a:t>
            </a:r>
            <a:endParaRPr lang="en-US" altLang="ko-KR" sz="1200" dirty="0">
              <a:solidFill>
                <a:schemeClr val="accent2">
                  <a:lumMod val="75000"/>
                </a:schemeClr>
              </a:solidFill>
              <a:latin typeface="+mn-ea"/>
              <a:ea typeface="+mn-ea"/>
            </a:endParaRPr>
          </a:p>
          <a:p>
            <a:pPr>
              <a:spcBef>
                <a:spcPts val="600"/>
              </a:spcBef>
              <a:defRPr/>
            </a:pPr>
            <a:r>
              <a:rPr lang="en-US" altLang="ko-KR" sz="1200" dirty="0">
                <a:solidFill>
                  <a:schemeClr val="accent2">
                    <a:lumMod val="75000"/>
                  </a:schemeClr>
                </a:solidFill>
                <a:latin typeface="+mn-ea"/>
                <a:ea typeface="+mn-ea"/>
              </a:rPr>
              <a:t>** </a:t>
            </a:r>
            <a:r>
              <a:rPr lang="ko-KR" altLang="en-US" sz="1200" dirty="0">
                <a:solidFill>
                  <a:schemeClr val="accent2">
                    <a:lumMod val="75000"/>
                  </a:schemeClr>
                </a:solidFill>
                <a:latin typeface="+mn-ea"/>
                <a:ea typeface="+mn-ea"/>
              </a:rPr>
              <a:t>당사자가 신청하지 아니한 이유에 대해서도 직권심리</a:t>
            </a:r>
            <a:r>
              <a:rPr lang="en-US" altLang="ko-KR" sz="1200" dirty="0">
                <a:solidFill>
                  <a:schemeClr val="accent2">
                    <a:lumMod val="75000"/>
                  </a:schemeClr>
                </a:solidFill>
                <a:latin typeface="+mn-ea"/>
                <a:ea typeface="+mn-ea"/>
              </a:rPr>
              <a:t> &amp; </a:t>
            </a:r>
            <a:r>
              <a:rPr lang="ko-KR" altLang="en-US" sz="1200" dirty="0">
                <a:solidFill>
                  <a:schemeClr val="accent2">
                    <a:lumMod val="75000"/>
                  </a:schemeClr>
                </a:solidFill>
                <a:latin typeface="+mn-ea"/>
                <a:ea typeface="+mn-ea"/>
              </a:rPr>
              <a:t>직권으로 증거조사</a:t>
            </a:r>
            <a:r>
              <a:rPr lang="en-US" altLang="ko-KR" sz="1200" dirty="0">
                <a:solidFill>
                  <a:schemeClr val="accent2">
                    <a:lumMod val="75000"/>
                  </a:schemeClr>
                </a:solidFill>
                <a:latin typeface="+mn-ea"/>
                <a:ea typeface="+mn-ea"/>
              </a:rPr>
              <a:t>, </a:t>
            </a:r>
            <a:r>
              <a:rPr lang="ko-KR" altLang="en-US" sz="1200" dirty="0">
                <a:solidFill>
                  <a:schemeClr val="accent2">
                    <a:lumMod val="75000"/>
                  </a:schemeClr>
                </a:solidFill>
                <a:latin typeface="+mn-ea"/>
                <a:ea typeface="+mn-ea"/>
              </a:rPr>
              <a:t>증거보전 가능</a:t>
            </a:r>
          </a:p>
        </p:txBody>
      </p:sp>
      <p:cxnSp>
        <p:nvCxnSpPr>
          <p:cNvPr id="6" name="직선 연결선 5"/>
          <p:cNvCxnSpPr/>
          <p:nvPr/>
        </p:nvCxnSpPr>
        <p:spPr>
          <a:xfrm>
            <a:off x="77875" y="150012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77875" y="976902"/>
            <a:ext cx="11936323" cy="523220"/>
          </a:xfrm>
          <a:prstGeom prst="rect">
            <a:avLst/>
          </a:prstGeom>
          <a:noFill/>
        </p:spPr>
        <p:txBody>
          <a:bodyPr wrap="square" rtlCol="0">
            <a:spAutoFit/>
          </a:bodyPr>
          <a:lstStyle/>
          <a:p>
            <a:pPr fontAlgn="base"/>
            <a:r>
              <a:rPr lang="ko-KR" altLang="en-US" sz="1400" dirty="0"/>
              <a:t>심판절차는 형식적으로는 특허에 관한 분쟁을 해결하기 위하여 특허심판원의 심판관합의체에 의하여 </a:t>
            </a:r>
            <a:r>
              <a:rPr lang="ko-KR" altLang="en-US" sz="1400" dirty="0" err="1"/>
              <a:t>심리ㆍ결정되는</a:t>
            </a:r>
            <a:r>
              <a:rPr lang="ko-KR" altLang="en-US" sz="1400" dirty="0"/>
              <a:t> 행정상의 쟁송절차라 할 수 있지만</a:t>
            </a:r>
            <a:r>
              <a:rPr lang="en-US" altLang="ko-KR" sz="1400" dirty="0"/>
              <a:t>, </a:t>
            </a:r>
            <a:r>
              <a:rPr lang="ko-KR" altLang="en-US" sz="1400" dirty="0"/>
              <a:t>사실상 특허법원의 전심절차로서 민사소송에 준하는 엄격한 절차를 거쳐 판단되는 </a:t>
            </a:r>
            <a:r>
              <a:rPr lang="ko-KR" altLang="en-US" sz="1400" dirty="0" err="1"/>
              <a:t>준사법적</a:t>
            </a:r>
            <a:r>
              <a:rPr lang="ko-KR" altLang="en-US" sz="1400" dirty="0"/>
              <a:t> 성질을 가진다</a:t>
            </a:r>
            <a:r>
              <a:rPr lang="en-US" altLang="ko-KR" sz="1400" dirty="0"/>
              <a:t>.</a:t>
            </a:r>
            <a:endParaRPr lang="ko-KR" altLang="en-US" sz="1400" dirty="0"/>
          </a:p>
        </p:txBody>
      </p:sp>
      <p:sp>
        <p:nvSpPr>
          <p:cNvPr id="8" name="슬라이드 번호 개체 틀 7"/>
          <p:cNvSpPr>
            <a:spLocks noGrp="1"/>
          </p:cNvSpPr>
          <p:nvPr>
            <p:ph type="sldNum" sz="quarter" idx="4294967295"/>
          </p:nvPr>
        </p:nvSpPr>
        <p:spPr>
          <a:xfrm>
            <a:off x="11125200" y="0"/>
            <a:ext cx="1066800" cy="711200"/>
          </a:xfrm>
        </p:spPr>
        <p:txBody>
          <a:bodyPr/>
          <a:lstStyle/>
          <a:p>
            <a:r>
              <a:rPr lang="en-US" altLang="ko-KR"/>
              <a:t>432</a:t>
            </a:r>
            <a:endParaRPr lang="ko-KR" altLang="en-US" dirty="0"/>
          </a:p>
        </p:txBody>
      </p:sp>
    </p:spTree>
    <p:extLst>
      <p:ext uri="{BB962C8B-B14F-4D97-AF65-F5344CB8AC3E}">
        <p14:creationId xmlns:p14="http://schemas.microsoft.com/office/powerpoint/2010/main" val="3248138743"/>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ko-KR" altLang="en-US" dirty="0"/>
              <a:t>심판절차 일반</a:t>
            </a:r>
          </a:p>
        </p:txBody>
      </p:sp>
      <p:sp>
        <p:nvSpPr>
          <p:cNvPr id="4" name="모서리가 둥근 직사각형 3"/>
          <p:cNvSpPr/>
          <p:nvPr/>
        </p:nvSpPr>
        <p:spPr>
          <a:xfrm>
            <a:off x="10515600" y="1123950"/>
            <a:ext cx="1200150"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95000"/>
                  </a:schemeClr>
                </a:solidFill>
              </a:rPr>
              <a:t>피청구인</a:t>
            </a:r>
          </a:p>
        </p:txBody>
      </p:sp>
      <p:cxnSp>
        <p:nvCxnSpPr>
          <p:cNvPr id="5" name="직선 연결선 4"/>
          <p:cNvCxnSpPr>
            <a:stCxn id="4" idx="2"/>
          </p:cNvCxnSpPr>
          <p:nvPr/>
        </p:nvCxnSpPr>
        <p:spPr>
          <a:xfrm>
            <a:off x="11115675" y="1447800"/>
            <a:ext cx="0" cy="50863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모서리가 둥근 직사각형 6"/>
          <p:cNvSpPr/>
          <p:nvPr/>
        </p:nvSpPr>
        <p:spPr>
          <a:xfrm>
            <a:off x="8353425" y="1123950"/>
            <a:ext cx="1200150"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95000"/>
                  </a:schemeClr>
                </a:solidFill>
              </a:rPr>
              <a:t>심판원장</a:t>
            </a:r>
          </a:p>
        </p:txBody>
      </p:sp>
      <p:cxnSp>
        <p:nvCxnSpPr>
          <p:cNvPr id="8" name="직선 연결선 7"/>
          <p:cNvCxnSpPr>
            <a:stCxn id="7" idx="2"/>
          </p:cNvCxnSpPr>
          <p:nvPr/>
        </p:nvCxnSpPr>
        <p:spPr>
          <a:xfrm>
            <a:off x="8953500" y="1447800"/>
            <a:ext cx="0" cy="50863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모서리가 둥근 직사각형 8"/>
          <p:cNvSpPr/>
          <p:nvPr/>
        </p:nvSpPr>
        <p:spPr>
          <a:xfrm>
            <a:off x="6200775" y="1123950"/>
            <a:ext cx="1200150"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95000"/>
                  </a:schemeClr>
                </a:solidFill>
              </a:rPr>
              <a:t>청구인</a:t>
            </a:r>
          </a:p>
        </p:txBody>
      </p:sp>
      <p:cxnSp>
        <p:nvCxnSpPr>
          <p:cNvPr id="10" name="직선 연결선 9"/>
          <p:cNvCxnSpPr>
            <a:stCxn id="9" idx="2"/>
          </p:cNvCxnSpPr>
          <p:nvPr/>
        </p:nvCxnSpPr>
        <p:spPr>
          <a:xfrm>
            <a:off x="6800850" y="1447800"/>
            <a:ext cx="0" cy="50863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모서리가 둥근 직사각형 10"/>
          <p:cNvSpPr/>
          <p:nvPr/>
        </p:nvSpPr>
        <p:spPr>
          <a:xfrm>
            <a:off x="8353425" y="1876425"/>
            <a:ext cx="12001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방식심사</a:t>
            </a:r>
          </a:p>
        </p:txBody>
      </p:sp>
      <p:sp>
        <p:nvSpPr>
          <p:cNvPr id="12" name="모서리가 둥근 직사각형 11"/>
          <p:cNvSpPr/>
          <p:nvPr/>
        </p:nvSpPr>
        <p:spPr>
          <a:xfrm>
            <a:off x="8353425" y="5095878"/>
            <a:ext cx="12001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본안심리</a:t>
            </a:r>
            <a:endParaRPr lang="ko-KR" altLang="en-US" sz="1200" dirty="0">
              <a:solidFill>
                <a:schemeClr val="tx1"/>
              </a:solidFill>
            </a:endParaRPr>
          </a:p>
        </p:txBody>
      </p:sp>
      <p:sp>
        <p:nvSpPr>
          <p:cNvPr id="13" name="모서리가 둥근 직사각형 12"/>
          <p:cNvSpPr/>
          <p:nvPr/>
        </p:nvSpPr>
        <p:spPr>
          <a:xfrm>
            <a:off x="8353425" y="5610228"/>
            <a:ext cx="12001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심결</a:t>
            </a:r>
            <a:endParaRPr lang="ko-KR" altLang="en-US" sz="1200" dirty="0">
              <a:solidFill>
                <a:schemeClr val="tx1"/>
              </a:solidFill>
            </a:endParaRPr>
          </a:p>
        </p:txBody>
      </p:sp>
      <p:cxnSp>
        <p:nvCxnSpPr>
          <p:cNvPr id="14" name="직선 연결선 13"/>
          <p:cNvCxnSpPr/>
          <p:nvPr/>
        </p:nvCxnSpPr>
        <p:spPr>
          <a:xfrm>
            <a:off x="6800850" y="1738889"/>
            <a:ext cx="2152650"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 name="모서리가 둥근 직사각형 14"/>
          <p:cNvSpPr/>
          <p:nvPr/>
        </p:nvSpPr>
        <p:spPr>
          <a:xfrm>
            <a:off x="7248525" y="1419225"/>
            <a:ext cx="1047750"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심판청구</a:t>
            </a:r>
          </a:p>
        </p:txBody>
      </p:sp>
      <p:cxnSp>
        <p:nvCxnSpPr>
          <p:cNvPr id="16" name="직선 연결선 15"/>
          <p:cNvCxnSpPr/>
          <p:nvPr/>
        </p:nvCxnSpPr>
        <p:spPr>
          <a:xfrm>
            <a:off x="8953500" y="4000500"/>
            <a:ext cx="216217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모서리가 둥근 직사각형 16"/>
          <p:cNvSpPr/>
          <p:nvPr/>
        </p:nvSpPr>
        <p:spPr>
          <a:xfrm>
            <a:off x="8810627" y="3467099"/>
            <a:ext cx="2371724" cy="485775"/>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청구서 부본 송달</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무효심판의 경우 등록권리자</a:t>
            </a:r>
            <a:endParaRPr lang="en-US" altLang="ko-KR" sz="1200" dirty="0">
              <a:solidFill>
                <a:schemeClr val="tx1"/>
              </a:solidFill>
            </a:endParaRPr>
          </a:p>
          <a:p>
            <a:pPr algn="ctr"/>
            <a:r>
              <a:rPr lang="ko-KR" altLang="en-US" sz="1200" dirty="0">
                <a:solidFill>
                  <a:schemeClr val="tx1"/>
                </a:solidFill>
              </a:rPr>
              <a:t>에게 취지통지</a:t>
            </a:r>
            <a:r>
              <a:rPr lang="en-US" altLang="ko-KR" sz="1200" dirty="0">
                <a:solidFill>
                  <a:schemeClr val="tx1"/>
                </a:solidFill>
              </a:rPr>
              <a:t>)</a:t>
            </a:r>
            <a:endParaRPr lang="ko-KR" altLang="en-US" sz="1200" dirty="0">
              <a:solidFill>
                <a:schemeClr val="tx1"/>
              </a:solidFill>
            </a:endParaRPr>
          </a:p>
        </p:txBody>
      </p:sp>
      <p:cxnSp>
        <p:nvCxnSpPr>
          <p:cNvPr id="18" name="직선 연결선 17"/>
          <p:cNvCxnSpPr/>
          <p:nvPr/>
        </p:nvCxnSpPr>
        <p:spPr>
          <a:xfrm>
            <a:off x="8953500" y="4333875"/>
            <a:ext cx="2162175" cy="0"/>
          </a:xfrm>
          <a:prstGeom prst="line">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모서리가 둥근 직사각형 18"/>
          <p:cNvSpPr/>
          <p:nvPr/>
        </p:nvSpPr>
        <p:spPr>
          <a:xfrm>
            <a:off x="9220200" y="4343400"/>
            <a:ext cx="1390650"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답변서 제출</a:t>
            </a:r>
          </a:p>
        </p:txBody>
      </p:sp>
      <p:cxnSp>
        <p:nvCxnSpPr>
          <p:cNvPr id="20" name="직선 연결선 19"/>
          <p:cNvCxnSpPr/>
          <p:nvPr/>
        </p:nvCxnSpPr>
        <p:spPr>
          <a:xfrm>
            <a:off x="6800850" y="4457700"/>
            <a:ext cx="2152650" cy="0"/>
          </a:xfrm>
          <a:prstGeom prst="line">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모서리가 둥근 직사각형 20"/>
          <p:cNvSpPr/>
          <p:nvPr/>
        </p:nvSpPr>
        <p:spPr>
          <a:xfrm>
            <a:off x="6800850" y="4467224"/>
            <a:ext cx="1495425" cy="523875"/>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답변서 부본 송달</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당사자 심문</a:t>
            </a:r>
            <a:r>
              <a:rPr lang="en-US" altLang="ko-KR" sz="1200" dirty="0">
                <a:solidFill>
                  <a:schemeClr val="tx1"/>
                </a:solidFill>
              </a:rPr>
              <a:t>)</a:t>
            </a:r>
            <a:endParaRPr lang="ko-KR" altLang="en-US" sz="1200" dirty="0">
              <a:solidFill>
                <a:schemeClr val="tx1"/>
              </a:solidFill>
            </a:endParaRPr>
          </a:p>
        </p:txBody>
      </p:sp>
      <p:sp>
        <p:nvSpPr>
          <p:cNvPr id="29" name="직사각형 28"/>
          <p:cNvSpPr/>
          <p:nvPr/>
        </p:nvSpPr>
        <p:spPr>
          <a:xfrm>
            <a:off x="314325" y="3555038"/>
            <a:ext cx="1031825" cy="914400"/>
          </a:xfrm>
          <a:prstGeom prst="rect">
            <a:avLst/>
          </a:prstGeom>
          <a:solidFill>
            <a:schemeClr val="accent6">
              <a:lumMod val="50000"/>
            </a:schemeClr>
          </a:solidFill>
          <a:ln w="381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600" dirty="0">
                <a:solidFill>
                  <a:schemeClr val="bg1"/>
                </a:solidFill>
              </a:rPr>
              <a:t>심판절차 </a:t>
            </a:r>
            <a:endParaRPr lang="en-US" altLang="ko-KR" sz="1600" dirty="0">
              <a:solidFill>
                <a:schemeClr val="bg1"/>
              </a:solidFill>
            </a:endParaRPr>
          </a:p>
          <a:p>
            <a:pPr algn="ctr"/>
            <a:r>
              <a:rPr lang="ko-KR" altLang="en-US" sz="1600" dirty="0">
                <a:solidFill>
                  <a:schemeClr val="bg1"/>
                </a:solidFill>
              </a:rPr>
              <a:t>일반</a:t>
            </a:r>
            <a:endParaRPr lang="en-US" altLang="ko-KR" sz="1600" dirty="0">
              <a:solidFill>
                <a:schemeClr val="bg1"/>
              </a:solidFill>
            </a:endParaRPr>
          </a:p>
          <a:p>
            <a:pPr algn="ctr"/>
            <a:r>
              <a:rPr lang="en-US" altLang="ko-KR" sz="1600" dirty="0">
                <a:solidFill>
                  <a:schemeClr val="bg1"/>
                </a:solidFill>
              </a:rPr>
              <a:t>(</a:t>
            </a:r>
            <a:r>
              <a:rPr lang="ko-KR" altLang="en-US" sz="1600" dirty="0">
                <a:solidFill>
                  <a:schemeClr val="bg1"/>
                </a:solidFill>
              </a:rPr>
              <a:t>총론</a:t>
            </a:r>
            <a:r>
              <a:rPr lang="en-US" altLang="ko-KR" sz="1600" dirty="0">
                <a:solidFill>
                  <a:schemeClr val="bg1"/>
                </a:solidFill>
              </a:rPr>
              <a:t>)</a:t>
            </a:r>
            <a:endParaRPr lang="ko-KR" altLang="en-US" sz="1600" dirty="0">
              <a:solidFill>
                <a:schemeClr val="bg1"/>
              </a:solidFill>
            </a:endParaRPr>
          </a:p>
        </p:txBody>
      </p:sp>
      <p:sp>
        <p:nvSpPr>
          <p:cNvPr id="30" name="직사각형 29"/>
          <p:cNvSpPr/>
          <p:nvPr/>
        </p:nvSpPr>
        <p:spPr>
          <a:xfrm>
            <a:off x="1666875" y="1559002"/>
            <a:ext cx="554782" cy="25608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a:t>주체</a:t>
            </a:r>
            <a:endParaRPr lang="ko-KR" altLang="en-US" sz="1100" dirty="0"/>
          </a:p>
        </p:txBody>
      </p:sp>
      <p:sp>
        <p:nvSpPr>
          <p:cNvPr id="31" name="직사각형 30"/>
          <p:cNvSpPr/>
          <p:nvPr/>
        </p:nvSpPr>
        <p:spPr>
          <a:xfrm>
            <a:off x="1666875" y="2995508"/>
            <a:ext cx="554782" cy="25608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청구</a:t>
            </a:r>
          </a:p>
        </p:txBody>
      </p:sp>
      <p:sp>
        <p:nvSpPr>
          <p:cNvPr id="32" name="직사각형 31"/>
          <p:cNvSpPr/>
          <p:nvPr/>
        </p:nvSpPr>
        <p:spPr>
          <a:xfrm>
            <a:off x="1666875" y="4173248"/>
            <a:ext cx="554782" cy="25608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진행</a:t>
            </a:r>
          </a:p>
        </p:txBody>
      </p:sp>
      <p:sp>
        <p:nvSpPr>
          <p:cNvPr id="33" name="직사각형 32"/>
          <p:cNvSpPr/>
          <p:nvPr/>
        </p:nvSpPr>
        <p:spPr>
          <a:xfrm>
            <a:off x="1666875" y="5183396"/>
            <a:ext cx="554782" cy="25608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종료</a:t>
            </a:r>
          </a:p>
        </p:txBody>
      </p:sp>
      <p:sp>
        <p:nvSpPr>
          <p:cNvPr id="34" name="직사각형 33"/>
          <p:cNvSpPr/>
          <p:nvPr/>
        </p:nvSpPr>
        <p:spPr>
          <a:xfrm>
            <a:off x="2533303" y="1575398"/>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심판의 당사자</a:t>
            </a:r>
            <a:r>
              <a:rPr lang="en-US" altLang="ko-KR" sz="1100" dirty="0"/>
              <a:t>(</a:t>
            </a:r>
            <a:r>
              <a:rPr lang="ko-KR" altLang="en-US" sz="1100" dirty="0"/>
              <a:t>法 </a:t>
            </a:r>
            <a:r>
              <a:rPr lang="en-US" altLang="ko-KR" sz="1100" dirty="0"/>
              <a:t>139)</a:t>
            </a:r>
            <a:endParaRPr lang="ko-KR" altLang="en-US" sz="1100" dirty="0"/>
          </a:p>
        </p:txBody>
      </p:sp>
      <p:sp>
        <p:nvSpPr>
          <p:cNvPr id="35" name="직사각형 34"/>
          <p:cNvSpPr/>
          <p:nvPr/>
        </p:nvSpPr>
        <p:spPr>
          <a:xfrm>
            <a:off x="2533303" y="1855840"/>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심판의 참가인</a:t>
            </a:r>
            <a:r>
              <a:rPr lang="en-US" altLang="ko-KR" sz="1100" dirty="0"/>
              <a:t>(</a:t>
            </a:r>
            <a:r>
              <a:rPr lang="ko-KR" altLang="en-US" sz="1100" dirty="0"/>
              <a:t>法 </a:t>
            </a:r>
            <a:r>
              <a:rPr lang="en-US" altLang="ko-KR" sz="1100" dirty="0"/>
              <a:t>155, 156)</a:t>
            </a:r>
            <a:endParaRPr lang="ko-KR" altLang="en-US" sz="1100" dirty="0"/>
          </a:p>
        </p:txBody>
      </p:sp>
      <p:sp>
        <p:nvSpPr>
          <p:cNvPr id="36" name="직사각형 35"/>
          <p:cNvSpPr/>
          <p:nvPr/>
        </p:nvSpPr>
        <p:spPr>
          <a:xfrm>
            <a:off x="2533303" y="2723762"/>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심판의 청구</a:t>
            </a:r>
            <a:r>
              <a:rPr lang="en-US" altLang="ko-KR" sz="1100" dirty="0"/>
              <a:t>(</a:t>
            </a:r>
            <a:r>
              <a:rPr lang="ko-KR" altLang="en-US" sz="1100" dirty="0"/>
              <a:t>法 </a:t>
            </a:r>
            <a:r>
              <a:rPr lang="en-US" altLang="ko-KR" sz="1100" dirty="0"/>
              <a:t>140, 140</a:t>
            </a:r>
            <a:r>
              <a:rPr lang="ko-KR" altLang="en-US" sz="1100" dirty="0"/>
              <a:t>의</a:t>
            </a:r>
            <a:r>
              <a:rPr lang="en-US" altLang="ko-KR" sz="1100" dirty="0"/>
              <a:t>2)</a:t>
            </a:r>
            <a:endParaRPr lang="ko-KR" altLang="en-US" sz="1100" dirty="0"/>
          </a:p>
        </p:txBody>
      </p:sp>
      <p:sp>
        <p:nvSpPr>
          <p:cNvPr id="37" name="직사각형 36"/>
          <p:cNvSpPr/>
          <p:nvPr/>
        </p:nvSpPr>
        <p:spPr>
          <a:xfrm>
            <a:off x="2533303" y="3009140"/>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심판청구서의 보정</a:t>
            </a:r>
            <a:r>
              <a:rPr lang="en-US" altLang="ko-KR" sz="1100" dirty="0"/>
              <a:t>(</a:t>
            </a:r>
            <a:r>
              <a:rPr lang="ko-KR" altLang="en-US" sz="1100" dirty="0"/>
              <a:t>法 </a:t>
            </a:r>
            <a:r>
              <a:rPr lang="en-US" altLang="ko-KR" sz="1100" dirty="0"/>
              <a:t>140②, 140</a:t>
            </a:r>
            <a:r>
              <a:rPr lang="ko-KR" altLang="en-US" sz="1100" dirty="0"/>
              <a:t>의</a:t>
            </a:r>
            <a:r>
              <a:rPr lang="en-US" altLang="ko-KR" sz="1100" dirty="0"/>
              <a:t>2②)</a:t>
            </a:r>
          </a:p>
        </p:txBody>
      </p:sp>
      <p:sp>
        <p:nvSpPr>
          <p:cNvPr id="38" name="직사각형 37"/>
          <p:cNvSpPr/>
          <p:nvPr/>
        </p:nvSpPr>
        <p:spPr>
          <a:xfrm>
            <a:off x="2533303" y="3904874"/>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방식심리</a:t>
            </a:r>
            <a:r>
              <a:rPr lang="en-US" altLang="ko-KR" sz="1100" dirty="0"/>
              <a:t>(</a:t>
            </a:r>
            <a:r>
              <a:rPr lang="ko-KR" altLang="en-US" sz="1100" dirty="0"/>
              <a:t>法 </a:t>
            </a:r>
            <a:r>
              <a:rPr lang="en-US" altLang="ko-KR" sz="1100" dirty="0"/>
              <a:t>141)</a:t>
            </a:r>
            <a:endParaRPr lang="ko-KR" altLang="en-US" sz="1100" dirty="0"/>
          </a:p>
        </p:txBody>
      </p:sp>
      <p:sp>
        <p:nvSpPr>
          <p:cNvPr id="39" name="직사각형 38"/>
          <p:cNvSpPr/>
          <p:nvPr/>
        </p:nvSpPr>
        <p:spPr>
          <a:xfrm>
            <a:off x="2533303" y="4186668"/>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적법성 심리</a:t>
            </a:r>
            <a:r>
              <a:rPr lang="en-US" altLang="ko-KR" sz="1100" dirty="0"/>
              <a:t>(</a:t>
            </a:r>
            <a:r>
              <a:rPr lang="ko-KR" altLang="en-US" sz="1100" dirty="0"/>
              <a:t>法 </a:t>
            </a:r>
            <a:r>
              <a:rPr lang="en-US" altLang="ko-KR" sz="1100" dirty="0"/>
              <a:t>142)</a:t>
            </a:r>
            <a:endParaRPr lang="ko-KR" altLang="en-US" sz="1100" dirty="0"/>
          </a:p>
        </p:txBody>
      </p:sp>
      <p:sp>
        <p:nvSpPr>
          <p:cNvPr id="40" name="직사각형 39"/>
          <p:cNvSpPr/>
          <p:nvPr/>
        </p:nvSpPr>
        <p:spPr>
          <a:xfrm>
            <a:off x="2533303" y="4469156"/>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본안심리</a:t>
            </a:r>
            <a:r>
              <a:rPr lang="en-US" altLang="ko-KR" sz="1100" dirty="0"/>
              <a:t>(</a:t>
            </a:r>
            <a:r>
              <a:rPr lang="ko-KR" altLang="en-US" sz="1100" dirty="0"/>
              <a:t>法 </a:t>
            </a:r>
            <a:r>
              <a:rPr lang="en-US" altLang="ko-KR" sz="1100" dirty="0"/>
              <a:t>154, 157-160)</a:t>
            </a:r>
            <a:endParaRPr lang="ko-KR" altLang="en-US" sz="1100" dirty="0"/>
          </a:p>
        </p:txBody>
      </p:sp>
      <p:sp>
        <p:nvSpPr>
          <p:cNvPr id="41" name="직사각형 40"/>
          <p:cNvSpPr/>
          <p:nvPr/>
        </p:nvSpPr>
        <p:spPr>
          <a:xfrm>
            <a:off x="2533303" y="5043572"/>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심판청구의 취하</a:t>
            </a:r>
            <a:r>
              <a:rPr lang="en-US" altLang="ko-KR" sz="1100" dirty="0"/>
              <a:t>(</a:t>
            </a:r>
            <a:r>
              <a:rPr lang="ko-KR" altLang="en-US" sz="1100" dirty="0"/>
              <a:t>法 </a:t>
            </a:r>
            <a:r>
              <a:rPr lang="en-US" altLang="ko-KR" sz="1100" dirty="0"/>
              <a:t>161)</a:t>
            </a:r>
            <a:endParaRPr lang="ko-KR" altLang="en-US" sz="1100" dirty="0"/>
          </a:p>
        </p:txBody>
      </p:sp>
      <p:sp>
        <p:nvSpPr>
          <p:cNvPr id="42" name="직사각형 41"/>
          <p:cNvSpPr/>
          <p:nvPr/>
        </p:nvSpPr>
        <p:spPr>
          <a:xfrm>
            <a:off x="2533303" y="5325366"/>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err="1"/>
              <a:t>심결</a:t>
            </a:r>
            <a:r>
              <a:rPr lang="en-US" altLang="ko-KR" sz="1100" dirty="0"/>
              <a:t>(</a:t>
            </a:r>
            <a:r>
              <a:rPr lang="ko-KR" altLang="en-US" sz="1100" dirty="0"/>
              <a:t>法 </a:t>
            </a:r>
            <a:r>
              <a:rPr lang="en-US" altLang="ko-KR" sz="1100" dirty="0"/>
              <a:t>162, 163)</a:t>
            </a:r>
            <a:endParaRPr lang="ko-KR" altLang="en-US" sz="1100" dirty="0"/>
          </a:p>
        </p:txBody>
      </p:sp>
      <p:cxnSp>
        <p:nvCxnSpPr>
          <p:cNvPr id="43" name="꺾인 연결선 42"/>
          <p:cNvCxnSpPr>
            <a:cxnSpLocks/>
            <a:stCxn id="29" idx="3"/>
            <a:endCxn id="30" idx="1"/>
          </p:cNvCxnSpPr>
          <p:nvPr/>
        </p:nvCxnSpPr>
        <p:spPr>
          <a:xfrm flipV="1">
            <a:off x="1346150" y="1687044"/>
            <a:ext cx="320725" cy="232519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cxnSpLocks/>
            <a:stCxn id="29" idx="3"/>
            <a:endCxn id="33" idx="1"/>
          </p:cNvCxnSpPr>
          <p:nvPr/>
        </p:nvCxnSpPr>
        <p:spPr>
          <a:xfrm>
            <a:off x="1346150" y="4012238"/>
            <a:ext cx="320725" cy="12992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cxnSpLocks/>
            <a:stCxn id="29" idx="3"/>
            <a:endCxn id="31" idx="1"/>
          </p:cNvCxnSpPr>
          <p:nvPr/>
        </p:nvCxnSpPr>
        <p:spPr>
          <a:xfrm flipV="1">
            <a:off x="1346150" y="3123550"/>
            <a:ext cx="320725" cy="88868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cxnSpLocks/>
            <a:stCxn id="29" idx="3"/>
            <a:endCxn id="32" idx="1"/>
          </p:cNvCxnSpPr>
          <p:nvPr/>
        </p:nvCxnSpPr>
        <p:spPr>
          <a:xfrm>
            <a:off x="1346150" y="4012238"/>
            <a:ext cx="320725" cy="2890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30" idx="3"/>
            <a:endCxn id="66" idx="1"/>
          </p:cNvCxnSpPr>
          <p:nvPr/>
        </p:nvCxnSpPr>
        <p:spPr>
          <a:xfrm flipV="1">
            <a:off x="2221657" y="1401827"/>
            <a:ext cx="311646" cy="28521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30" idx="3"/>
            <a:endCxn id="35" idx="1"/>
          </p:cNvCxnSpPr>
          <p:nvPr/>
        </p:nvCxnSpPr>
        <p:spPr>
          <a:xfrm>
            <a:off x="2221657" y="1687044"/>
            <a:ext cx="311646" cy="28060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꺾인 연결선 48"/>
          <p:cNvCxnSpPr>
            <a:stCxn id="30" idx="3"/>
            <a:endCxn id="34" idx="1"/>
          </p:cNvCxnSpPr>
          <p:nvPr/>
        </p:nvCxnSpPr>
        <p:spPr>
          <a:xfrm>
            <a:off x="2221657" y="1687044"/>
            <a:ext cx="311646" cy="16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꺾인 연결선 49"/>
          <p:cNvCxnSpPr>
            <a:stCxn id="31" idx="3"/>
            <a:endCxn id="36" idx="1"/>
          </p:cNvCxnSpPr>
          <p:nvPr/>
        </p:nvCxnSpPr>
        <p:spPr>
          <a:xfrm flipV="1">
            <a:off x="2221657" y="2835569"/>
            <a:ext cx="311646" cy="28798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꺾인 연결선 50"/>
          <p:cNvCxnSpPr>
            <a:stCxn id="31" idx="3"/>
            <a:endCxn id="37" idx="1"/>
          </p:cNvCxnSpPr>
          <p:nvPr/>
        </p:nvCxnSpPr>
        <p:spPr>
          <a:xfrm flipV="1">
            <a:off x="2221657" y="3120947"/>
            <a:ext cx="311646" cy="260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꺾인 연결선 51"/>
          <p:cNvCxnSpPr>
            <a:stCxn id="32" idx="3"/>
            <a:endCxn id="38" idx="1"/>
          </p:cNvCxnSpPr>
          <p:nvPr/>
        </p:nvCxnSpPr>
        <p:spPr>
          <a:xfrm flipV="1">
            <a:off x="2221657" y="4016681"/>
            <a:ext cx="311646" cy="28460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꺾인 연결선 52"/>
          <p:cNvCxnSpPr>
            <a:stCxn id="32" idx="3"/>
            <a:endCxn id="40" idx="1"/>
          </p:cNvCxnSpPr>
          <p:nvPr/>
        </p:nvCxnSpPr>
        <p:spPr>
          <a:xfrm>
            <a:off x="2221657" y="4301290"/>
            <a:ext cx="311646" cy="27967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꺾인 연결선 53"/>
          <p:cNvCxnSpPr>
            <a:stCxn id="32" idx="3"/>
            <a:endCxn id="39" idx="1"/>
          </p:cNvCxnSpPr>
          <p:nvPr/>
        </p:nvCxnSpPr>
        <p:spPr>
          <a:xfrm flipV="1">
            <a:off x="2221657" y="4298475"/>
            <a:ext cx="311646" cy="28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꺾인 연결선 54"/>
          <p:cNvCxnSpPr>
            <a:stCxn id="33" idx="3"/>
            <a:endCxn id="41" idx="1"/>
          </p:cNvCxnSpPr>
          <p:nvPr/>
        </p:nvCxnSpPr>
        <p:spPr>
          <a:xfrm flipV="1">
            <a:off x="2221657" y="5155379"/>
            <a:ext cx="311646" cy="15605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꺾인 연결선 55"/>
          <p:cNvCxnSpPr>
            <a:stCxn id="33" idx="3"/>
            <a:endCxn id="42" idx="1"/>
          </p:cNvCxnSpPr>
          <p:nvPr/>
        </p:nvCxnSpPr>
        <p:spPr>
          <a:xfrm>
            <a:off x="2221657" y="5311438"/>
            <a:ext cx="311646" cy="1257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직사각형 64"/>
          <p:cNvSpPr/>
          <p:nvPr/>
        </p:nvSpPr>
        <p:spPr>
          <a:xfrm>
            <a:off x="2533303" y="3324605"/>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중복심판청구금지</a:t>
            </a:r>
            <a:r>
              <a:rPr lang="en-US" altLang="ko-KR" sz="1100" dirty="0"/>
              <a:t>(</a:t>
            </a:r>
            <a:r>
              <a:rPr lang="ko-KR" altLang="en-US" sz="1100" dirty="0"/>
              <a:t>法 </a:t>
            </a:r>
            <a:r>
              <a:rPr lang="en-US" altLang="ko-KR" sz="1100" dirty="0"/>
              <a:t>154⑧ </a:t>
            </a:r>
            <a:r>
              <a:rPr lang="ko-KR" altLang="en-US" sz="1100" dirty="0"/>
              <a:t>준용</a:t>
            </a:r>
            <a:r>
              <a:rPr lang="en-US" altLang="ko-KR" sz="1100" dirty="0"/>
              <a:t> </a:t>
            </a:r>
            <a:r>
              <a:rPr lang="ko-KR" altLang="en-US" sz="1100" dirty="0"/>
              <a:t>민소</a:t>
            </a:r>
            <a:r>
              <a:rPr lang="en-US" altLang="ko-KR" sz="1100" dirty="0"/>
              <a:t>259)</a:t>
            </a:r>
          </a:p>
        </p:txBody>
      </p:sp>
      <p:sp>
        <p:nvSpPr>
          <p:cNvPr id="66" name="직사각형 65"/>
          <p:cNvSpPr/>
          <p:nvPr/>
        </p:nvSpPr>
        <p:spPr>
          <a:xfrm>
            <a:off x="2533303" y="1290020"/>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심판원</a:t>
            </a:r>
            <a:r>
              <a:rPr lang="en-US" altLang="ko-KR" sz="1100" dirty="0"/>
              <a:t>(</a:t>
            </a:r>
            <a:r>
              <a:rPr lang="ko-KR" altLang="en-US" sz="1100" dirty="0"/>
              <a:t>法 </a:t>
            </a:r>
            <a:r>
              <a:rPr lang="en-US" altLang="ko-KR" sz="1100" dirty="0"/>
              <a:t>132</a:t>
            </a:r>
            <a:r>
              <a:rPr lang="ko-KR" altLang="en-US" sz="1100" dirty="0"/>
              <a:t>의</a:t>
            </a:r>
            <a:r>
              <a:rPr lang="en-US" altLang="ko-KR" sz="1100" dirty="0"/>
              <a:t>16, 143~153</a:t>
            </a:r>
            <a:r>
              <a:rPr lang="ko-KR" altLang="en-US" sz="1100" dirty="0"/>
              <a:t>의</a:t>
            </a:r>
            <a:r>
              <a:rPr lang="en-US" altLang="ko-KR" sz="1100" dirty="0"/>
              <a:t>2)</a:t>
            </a:r>
            <a:endParaRPr lang="ko-KR" altLang="en-US" sz="1100" dirty="0"/>
          </a:p>
        </p:txBody>
      </p:sp>
      <p:sp>
        <p:nvSpPr>
          <p:cNvPr id="90" name="모서리가 둥근 직사각형 89"/>
          <p:cNvSpPr/>
          <p:nvPr/>
        </p:nvSpPr>
        <p:spPr>
          <a:xfrm>
            <a:off x="8353425" y="2461386"/>
            <a:ext cx="1200150" cy="423639"/>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95000"/>
                  </a:schemeClr>
                </a:solidFill>
              </a:rPr>
              <a:t>심판관합의체</a:t>
            </a:r>
            <a:endParaRPr lang="en-US" altLang="ko-KR" sz="1200" dirty="0">
              <a:solidFill>
                <a:schemeClr val="bg1">
                  <a:lumMod val="95000"/>
                </a:schemeClr>
              </a:solidFill>
            </a:endParaRPr>
          </a:p>
          <a:p>
            <a:pPr algn="ctr"/>
            <a:r>
              <a:rPr lang="en-US" altLang="ko-KR" sz="1200" dirty="0">
                <a:solidFill>
                  <a:schemeClr val="bg1">
                    <a:lumMod val="95000"/>
                  </a:schemeClr>
                </a:solidFill>
              </a:rPr>
              <a:t>(</a:t>
            </a:r>
            <a:r>
              <a:rPr lang="ko-KR" altLang="en-US" sz="1200" dirty="0">
                <a:solidFill>
                  <a:schemeClr val="bg1">
                    <a:lumMod val="95000"/>
                  </a:schemeClr>
                </a:solidFill>
              </a:rPr>
              <a:t>심판장</a:t>
            </a:r>
            <a:r>
              <a:rPr lang="en-US" altLang="ko-KR" sz="1200" dirty="0">
                <a:solidFill>
                  <a:schemeClr val="bg1">
                    <a:lumMod val="95000"/>
                  </a:schemeClr>
                </a:solidFill>
              </a:rPr>
              <a:t>)</a:t>
            </a:r>
            <a:endParaRPr lang="ko-KR" altLang="en-US" sz="1200" dirty="0">
              <a:solidFill>
                <a:schemeClr val="bg1">
                  <a:lumMod val="95000"/>
                </a:schemeClr>
              </a:solidFill>
            </a:endParaRPr>
          </a:p>
        </p:txBody>
      </p:sp>
      <p:sp>
        <p:nvSpPr>
          <p:cNvPr id="94" name="모서리가 둥근 직사각형 93"/>
          <p:cNvSpPr/>
          <p:nvPr/>
        </p:nvSpPr>
        <p:spPr>
          <a:xfrm>
            <a:off x="8810626" y="2165182"/>
            <a:ext cx="685800"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지정</a:t>
            </a:r>
            <a:endParaRPr lang="ko-KR" altLang="en-US" sz="1200" dirty="0">
              <a:solidFill>
                <a:schemeClr val="tx1"/>
              </a:solidFill>
            </a:endParaRPr>
          </a:p>
        </p:txBody>
      </p:sp>
      <p:sp>
        <p:nvSpPr>
          <p:cNvPr id="95" name="모서리가 둥근 직사각형 94"/>
          <p:cNvSpPr/>
          <p:nvPr/>
        </p:nvSpPr>
        <p:spPr>
          <a:xfrm>
            <a:off x="8353425" y="3059737"/>
            <a:ext cx="12001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방식심리</a:t>
            </a:r>
          </a:p>
        </p:txBody>
      </p:sp>
      <p:cxnSp>
        <p:nvCxnSpPr>
          <p:cNvPr id="102" name="직선 연결선 101"/>
          <p:cNvCxnSpPr/>
          <p:nvPr/>
        </p:nvCxnSpPr>
        <p:spPr>
          <a:xfrm>
            <a:off x="8953500" y="6305553"/>
            <a:ext cx="216217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직선 연결선 102"/>
          <p:cNvCxnSpPr/>
          <p:nvPr/>
        </p:nvCxnSpPr>
        <p:spPr>
          <a:xfrm>
            <a:off x="6800850" y="6296028"/>
            <a:ext cx="2152650" cy="0"/>
          </a:xfrm>
          <a:prstGeom prst="line">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모서리가 둥근 직사각형 23"/>
          <p:cNvSpPr/>
          <p:nvPr/>
        </p:nvSpPr>
        <p:spPr>
          <a:xfrm>
            <a:off x="8353425" y="6143628"/>
            <a:ext cx="12001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등본송달</a:t>
            </a:r>
          </a:p>
        </p:txBody>
      </p:sp>
      <p:sp>
        <p:nvSpPr>
          <p:cNvPr id="104" name="모서리가 둥근 직사각형 103"/>
          <p:cNvSpPr/>
          <p:nvPr/>
        </p:nvSpPr>
        <p:spPr>
          <a:xfrm>
            <a:off x="7772400" y="3633730"/>
            <a:ext cx="838200" cy="53822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적법성</a:t>
            </a:r>
            <a:endParaRPr lang="en-US" altLang="ko-KR" sz="1200" dirty="0">
              <a:solidFill>
                <a:schemeClr val="tx1"/>
              </a:solidFill>
            </a:endParaRPr>
          </a:p>
          <a:p>
            <a:pPr algn="ctr"/>
            <a:r>
              <a:rPr lang="ko-KR" altLang="en-US" sz="1200" dirty="0">
                <a:solidFill>
                  <a:schemeClr val="tx1"/>
                </a:solidFill>
              </a:rPr>
              <a:t>심리</a:t>
            </a:r>
          </a:p>
        </p:txBody>
      </p:sp>
      <p:cxnSp>
        <p:nvCxnSpPr>
          <p:cNvPr id="106" name="꺾인 연결선 105"/>
          <p:cNvCxnSpPr>
            <a:stCxn id="95" idx="1"/>
            <a:endCxn id="104" idx="0"/>
          </p:cNvCxnSpPr>
          <p:nvPr/>
        </p:nvCxnSpPr>
        <p:spPr>
          <a:xfrm rot="10800000" flipV="1">
            <a:off x="8191501" y="3221662"/>
            <a:ext cx="161925" cy="412068"/>
          </a:xfrm>
          <a:prstGeom prst="bentConnector2">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8" name="꺾인 연결선 107"/>
          <p:cNvCxnSpPr>
            <a:stCxn id="104" idx="2"/>
            <a:endCxn id="12" idx="1"/>
          </p:cNvCxnSpPr>
          <p:nvPr/>
        </p:nvCxnSpPr>
        <p:spPr>
          <a:xfrm rot="16200000" flipH="1">
            <a:off x="7729536" y="4633913"/>
            <a:ext cx="1085853" cy="161925"/>
          </a:xfrm>
          <a:prstGeom prst="bentConnector2">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0" name="모서리가 둥근 직사각형 109"/>
          <p:cNvSpPr/>
          <p:nvPr/>
        </p:nvSpPr>
        <p:spPr>
          <a:xfrm>
            <a:off x="6200775" y="2031037"/>
            <a:ext cx="12001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p>
        </p:txBody>
      </p:sp>
      <p:sp>
        <p:nvSpPr>
          <p:cNvPr id="111" name="모서리가 둥근 직사각형 110"/>
          <p:cNvSpPr/>
          <p:nvPr/>
        </p:nvSpPr>
        <p:spPr>
          <a:xfrm>
            <a:off x="6200775" y="2670937"/>
            <a:ext cx="12001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취하</a:t>
            </a:r>
          </a:p>
        </p:txBody>
      </p:sp>
      <p:cxnSp>
        <p:nvCxnSpPr>
          <p:cNvPr id="112" name="직선 연결선 111"/>
          <p:cNvCxnSpPr>
            <a:cxnSpLocks/>
          </p:cNvCxnSpPr>
          <p:nvPr/>
        </p:nvCxnSpPr>
        <p:spPr>
          <a:xfrm flipV="1">
            <a:off x="5650441" y="1285876"/>
            <a:ext cx="0" cy="5088246"/>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슬라이드 번호 개체 틀 5"/>
          <p:cNvSpPr>
            <a:spLocks noGrp="1"/>
          </p:cNvSpPr>
          <p:nvPr>
            <p:ph type="sldNum" sz="quarter" idx="4294967295"/>
          </p:nvPr>
        </p:nvSpPr>
        <p:spPr>
          <a:xfrm>
            <a:off x="11125200" y="0"/>
            <a:ext cx="1066800" cy="711200"/>
          </a:xfrm>
        </p:spPr>
        <p:txBody>
          <a:bodyPr/>
          <a:lstStyle/>
          <a:p>
            <a:r>
              <a:rPr lang="en-US" altLang="ko-KR"/>
              <a:t>433</a:t>
            </a:r>
            <a:endParaRPr lang="ko-KR" altLang="en-US" dirty="0"/>
          </a:p>
        </p:txBody>
      </p:sp>
      <p:cxnSp>
        <p:nvCxnSpPr>
          <p:cNvPr id="64" name="꺾인 연결선 63"/>
          <p:cNvCxnSpPr>
            <a:stCxn id="31" idx="3"/>
            <a:endCxn id="65" idx="1"/>
          </p:cNvCxnSpPr>
          <p:nvPr/>
        </p:nvCxnSpPr>
        <p:spPr>
          <a:xfrm>
            <a:off x="2221657" y="3123550"/>
            <a:ext cx="311646" cy="31286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직사각형 66">
            <a:extLst>
              <a:ext uri="{FF2B5EF4-FFF2-40B4-BE49-F238E27FC236}">
                <a16:creationId xmlns:a16="http://schemas.microsoft.com/office/drawing/2014/main" id="{C62D0864-260F-4C01-8EC9-CF447B07AD85}"/>
              </a:ext>
            </a:extLst>
          </p:cNvPr>
          <p:cNvSpPr/>
          <p:nvPr/>
        </p:nvSpPr>
        <p:spPr>
          <a:xfrm>
            <a:off x="1666875" y="6120345"/>
            <a:ext cx="554782" cy="25608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관련</a:t>
            </a:r>
          </a:p>
        </p:txBody>
      </p:sp>
      <p:sp>
        <p:nvSpPr>
          <p:cNvPr id="68" name="직사각형 67">
            <a:extLst>
              <a:ext uri="{FF2B5EF4-FFF2-40B4-BE49-F238E27FC236}">
                <a16:creationId xmlns:a16="http://schemas.microsoft.com/office/drawing/2014/main" id="{F74F9624-29FA-4F84-95C3-67334599717B}"/>
              </a:ext>
            </a:extLst>
          </p:cNvPr>
          <p:cNvSpPr/>
          <p:nvPr/>
        </p:nvSpPr>
        <p:spPr>
          <a:xfrm>
            <a:off x="2533303" y="5851128"/>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타절차와의 관계</a:t>
            </a:r>
            <a:r>
              <a:rPr lang="en-US" altLang="ko-KR" sz="1100" dirty="0"/>
              <a:t>(</a:t>
            </a:r>
            <a:r>
              <a:rPr lang="ko-KR" altLang="en-US" sz="1100" dirty="0"/>
              <a:t>法 </a:t>
            </a:r>
            <a:r>
              <a:rPr lang="en-US" altLang="ko-KR" sz="1100" dirty="0"/>
              <a:t>164)</a:t>
            </a:r>
            <a:endParaRPr lang="ko-KR" altLang="en-US" sz="1100" dirty="0"/>
          </a:p>
        </p:txBody>
      </p:sp>
      <p:sp>
        <p:nvSpPr>
          <p:cNvPr id="69" name="직사각형 68">
            <a:extLst>
              <a:ext uri="{FF2B5EF4-FFF2-40B4-BE49-F238E27FC236}">
                <a16:creationId xmlns:a16="http://schemas.microsoft.com/office/drawing/2014/main" id="{681944BF-01AB-473C-B749-69A17267367D}"/>
              </a:ext>
            </a:extLst>
          </p:cNvPr>
          <p:cNvSpPr/>
          <p:nvPr/>
        </p:nvSpPr>
        <p:spPr>
          <a:xfrm>
            <a:off x="2533303" y="6125129"/>
            <a:ext cx="2568674" cy="257285"/>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solidFill>
                  <a:schemeClr val="tx1"/>
                </a:solidFill>
              </a:rPr>
              <a:t>조정위원회 회부</a:t>
            </a:r>
            <a:r>
              <a:rPr lang="en-US" altLang="ko-KR" sz="1100" dirty="0">
                <a:solidFill>
                  <a:schemeClr val="tx1"/>
                </a:solidFill>
              </a:rPr>
              <a:t>(</a:t>
            </a:r>
            <a:r>
              <a:rPr lang="ko-KR" altLang="en-US" sz="1100" dirty="0">
                <a:solidFill>
                  <a:schemeClr val="tx1"/>
                </a:solidFill>
              </a:rPr>
              <a:t>法 </a:t>
            </a:r>
            <a:r>
              <a:rPr lang="en-US" altLang="ko-KR" sz="1100" dirty="0">
                <a:solidFill>
                  <a:schemeClr val="tx1"/>
                </a:solidFill>
              </a:rPr>
              <a:t>164</a:t>
            </a:r>
            <a:r>
              <a:rPr lang="ko-KR" altLang="en-US" sz="1100" dirty="0">
                <a:solidFill>
                  <a:schemeClr val="tx1"/>
                </a:solidFill>
              </a:rPr>
              <a:t>의</a:t>
            </a:r>
            <a:r>
              <a:rPr lang="en-US" altLang="ko-KR" sz="1100" dirty="0">
                <a:solidFill>
                  <a:schemeClr val="tx1"/>
                </a:solidFill>
              </a:rPr>
              <a:t>2)</a:t>
            </a:r>
            <a:endParaRPr lang="ko-KR" altLang="en-US" sz="1100" dirty="0">
              <a:solidFill>
                <a:schemeClr val="tx1"/>
              </a:solidFill>
            </a:endParaRPr>
          </a:p>
        </p:txBody>
      </p:sp>
      <p:cxnSp>
        <p:nvCxnSpPr>
          <p:cNvPr id="70" name="꺾인 연결선 54">
            <a:extLst>
              <a:ext uri="{FF2B5EF4-FFF2-40B4-BE49-F238E27FC236}">
                <a16:creationId xmlns:a16="http://schemas.microsoft.com/office/drawing/2014/main" id="{E88353C7-90C3-4B31-9D09-55D1BD563C5C}"/>
              </a:ext>
            </a:extLst>
          </p:cNvPr>
          <p:cNvCxnSpPr>
            <a:stCxn id="67" idx="3"/>
            <a:endCxn id="68" idx="1"/>
          </p:cNvCxnSpPr>
          <p:nvPr/>
        </p:nvCxnSpPr>
        <p:spPr>
          <a:xfrm flipV="1">
            <a:off x="2221657" y="5962935"/>
            <a:ext cx="311646" cy="285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55">
            <a:extLst>
              <a:ext uri="{FF2B5EF4-FFF2-40B4-BE49-F238E27FC236}">
                <a16:creationId xmlns:a16="http://schemas.microsoft.com/office/drawing/2014/main" id="{A1E4ED58-5E42-4BC7-90FD-E7165A70A955}"/>
              </a:ext>
            </a:extLst>
          </p:cNvPr>
          <p:cNvCxnSpPr>
            <a:cxnSpLocks/>
            <a:stCxn id="67" idx="3"/>
            <a:endCxn id="69" idx="1"/>
          </p:cNvCxnSpPr>
          <p:nvPr/>
        </p:nvCxnSpPr>
        <p:spPr>
          <a:xfrm>
            <a:off x="2221657" y="6248387"/>
            <a:ext cx="311646" cy="538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연결선: 꺾임 56">
            <a:extLst>
              <a:ext uri="{FF2B5EF4-FFF2-40B4-BE49-F238E27FC236}">
                <a16:creationId xmlns:a16="http://schemas.microsoft.com/office/drawing/2014/main" id="{6CCFF1FD-147D-40EB-8FFF-0888239AFA87}"/>
              </a:ext>
            </a:extLst>
          </p:cNvPr>
          <p:cNvCxnSpPr>
            <a:stCxn id="29" idx="3"/>
            <a:endCxn id="67" idx="1"/>
          </p:cNvCxnSpPr>
          <p:nvPr/>
        </p:nvCxnSpPr>
        <p:spPr>
          <a:xfrm>
            <a:off x="1346150" y="4012238"/>
            <a:ext cx="320725" cy="2236149"/>
          </a:xfrm>
          <a:prstGeom prst="bentConnector3">
            <a:avLst/>
          </a:prstGeom>
          <a:ln w="12700">
            <a:solidFill>
              <a:schemeClr val="bg1">
                <a:lumMod val="6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직선 연결선 77">
            <a:extLst>
              <a:ext uri="{FF2B5EF4-FFF2-40B4-BE49-F238E27FC236}">
                <a16:creationId xmlns:a16="http://schemas.microsoft.com/office/drawing/2014/main" id="{8726C85C-EFBB-45F7-995D-080DC358AA16}"/>
              </a:ext>
            </a:extLst>
          </p:cNvPr>
          <p:cNvCxnSpPr>
            <a:cxnSpLocks/>
          </p:cNvCxnSpPr>
          <p:nvPr/>
        </p:nvCxnSpPr>
        <p:spPr>
          <a:xfrm flipH="1">
            <a:off x="8953500" y="4833936"/>
            <a:ext cx="2162175" cy="0"/>
          </a:xfrm>
          <a:prstGeom prst="line">
            <a:avLst/>
          </a:prstGeom>
          <a:ln w="12700">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모서리가 둥근 직사각형 20">
            <a:extLst>
              <a:ext uri="{FF2B5EF4-FFF2-40B4-BE49-F238E27FC236}">
                <a16:creationId xmlns:a16="http://schemas.microsoft.com/office/drawing/2014/main" id="{B2432F6C-D417-47D7-8F90-B83493261492}"/>
              </a:ext>
            </a:extLst>
          </p:cNvPr>
          <p:cNvSpPr/>
          <p:nvPr/>
        </p:nvSpPr>
        <p:spPr>
          <a:xfrm>
            <a:off x="9448801" y="4738683"/>
            <a:ext cx="1495425" cy="523875"/>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당사자 심문</a:t>
            </a:r>
          </a:p>
        </p:txBody>
      </p:sp>
      <p:sp>
        <p:nvSpPr>
          <p:cNvPr id="73" name="직사각형 72">
            <a:extLst>
              <a:ext uri="{FF2B5EF4-FFF2-40B4-BE49-F238E27FC236}">
                <a16:creationId xmlns:a16="http://schemas.microsoft.com/office/drawing/2014/main" id="{B3EBBC62-002A-4DB9-8D63-9937BDCC84CA}"/>
              </a:ext>
            </a:extLst>
          </p:cNvPr>
          <p:cNvSpPr/>
          <p:nvPr/>
        </p:nvSpPr>
        <p:spPr>
          <a:xfrm>
            <a:off x="2533304" y="6431968"/>
            <a:ext cx="2568674" cy="20337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심판비용</a:t>
            </a:r>
            <a:r>
              <a:rPr lang="en-US" altLang="ko-KR" sz="1100" dirty="0"/>
              <a:t>(</a:t>
            </a:r>
            <a:r>
              <a:rPr lang="ko-KR" altLang="en-US" sz="1100" dirty="0"/>
              <a:t>法 </a:t>
            </a:r>
            <a:r>
              <a:rPr lang="en-US" altLang="ko-KR" sz="1100" dirty="0"/>
              <a:t>165, 166)</a:t>
            </a:r>
            <a:endParaRPr lang="ko-KR" altLang="en-US" sz="1100" dirty="0">
              <a:solidFill>
                <a:srgbClr val="FF0000"/>
              </a:solidFill>
            </a:endParaRPr>
          </a:p>
        </p:txBody>
      </p:sp>
      <p:cxnSp>
        <p:nvCxnSpPr>
          <p:cNvPr id="75" name="꺾인 연결선 55">
            <a:extLst>
              <a:ext uri="{FF2B5EF4-FFF2-40B4-BE49-F238E27FC236}">
                <a16:creationId xmlns:a16="http://schemas.microsoft.com/office/drawing/2014/main" id="{2AE81EA6-CDC7-428D-8533-85EEA17C099A}"/>
              </a:ext>
            </a:extLst>
          </p:cNvPr>
          <p:cNvCxnSpPr>
            <a:cxnSpLocks/>
            <a:stCxn id="67" idx="3"/>
            <a:endCxn id="73" idx="1"/>
          </p:cNvCxnSpPr>
          <p:nvPr/>
        </p:nvCxnSpPr>
        <p:spPr>
          <a:xfrm>
            <a:off x="2221657" y="6248387"/>
            <a:ext cx="311647" cy="28526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직사각형 78">
            <a:extLst>
              <a:ext uri="{FF2B5EF4-FFF2-40B4-BE49-F238E27FC236}">
                <a16:creationId xmlns:a16="http://schemas.microsoft.com/office/drawing/2014/main" id="{FB63ECBC-A087-4B9E-8A7E-3B55C00CFCF7}"/>
              </a:ext>
            </a:extLst>
          </p:cNvPr>
          <p:cNvSpPr/>
          <p:nvPr/>
        </p:nvSpPr>
        <p:spPr>
          <a:xfrm>
            <a:off x="2533304" y="2126544"/>
            <a:ext cx="2566804" cy="321295"/>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solidFill>
                  <a:schemeClr val="tx1"/>
                </a:solidFill>
              </a:rPr>
              <a:t>국선대리인</a:t>
            </a:r>
            <a:r>
              <a:rPr lang="en-US" altLang="ko-KR" sz="1100" dirty="0">
                <a:solidFill>
                  <a:schemeClr val="tx1"/>
                </a:solidFill>
              </a:rPr>
              <a:t>, </a:t>
            </a:r>
            <a:r>
              <a:rPr lang="ko-KR" altLang="en-US" sz="1100" dirty="0">
                <a:solidFill>
                  <a:schemeClr val="tx1"/>
                </a:solidFill>
              </a:rPr>
              <a:t>전문심리위원 및 참고인</a:t>
            </a:r>
            <a:endParaRPr lang="en-US" altLang="ko-KR" sz="1100" dirty="0">
              <a:solidFill>
                <a:schemeClr val="tx1"/>
              </a:solidFill>
            </a:endParaRPr>
          </a:p>
          <a:p>
            <a:pPr algn="ctr"/>
            <a:r>
              <a:rPr lang="en-US" altLang="ko-KR" sz="900" dirty="0">
                <a:solidFill>
                  <a:schemeClr val="tx1"/>
                </a:solidFill>
              </a:rPr>
              <a:t>(</a:t>
            </a:r>
            <a:r>
              <a:rPr lang="ko-KR" altLang="en-US" sz="900" dirty="0">
                <a:solidFill>
                  <a:schemeClr val="tx1"/>
                </a:solidFill>
              </a:rPr>
              <a:t>法 </a:t>
            </a:r>
            <a:r>
              <a:rPr lang="en-US" altLang="ko-KR" sz="900" dirty="0">
                <a:solidFill>
                  <a:schemeClr val="tx1"/>
                </a:solidFill>
              </a:rPr>
              <a:t>139</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2, 154</a:t>
            </a:r>
            <a:r>
              <a:rPr lang="ko-KR" altLang="en-US" sz="900" dirty="0">
                <a:solidFill>
                  <a:schemeClr val="tx1"/>
                </a:solidFill>
              </a:rPr>
              <a:t>의</a:t>
            </a:r>
            <a:r>
              <a:rPr lang="en-US" altLang="ko-KR" sz="900" dirty="0">
                <a:solidFill>
                  <a:schemeClr val="tx1"/>
                </a:solidFill>
              </a:rPr>
              <a:t>3)</a:t>
            </a:r>
            <a:endParaRPr lang="ko-KR" altLang="en-US" sz="1100" dirty="0">
              <a:solidFill>
                <a:schemeClr val="tx1"/>
              </a:solidFill>
            </a:endParaRPr>
          </a:p>
        </p:txBody>
      </p:sp>
      <p:cxnSp>
        <p:nvCxnSpPr>
          <p:cNvPr id="80" name="꺾인 연결선 48">
            <a:extLst>
              <a:ext uri="{FF2B5EF4-FFF2-40B4-BE49-F238E27FC236}">
                <a16:creationId xmlns:a16="http://schemas.microsoft.com/office/drawing/2014/main" id="{643411E8-4B4E-45FC-B6FB-DC47D6682C4B}"/>
              </a:ext>
            </a:extLst>
          </p:cNvPr>
          <p:cNvCxnSpPr>
            <a:cxnSpLocks/>
            <a:stCxn id="30" idx="3"/>
            <a:endCxn id="79" idx="1"/>
          </p:cNvCxnSpPr>
          <p:nvPr/>
        </p:nvCxnSpPr>
        <p:spPr>
          <a:xfrm>
            <a:off x="2221657" y="1687044"/>
            <a:ext cx="311647" cy="600148"/>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926F7FCC-7763-C900-FD3D-0798AFE78BD4}"/>
              </a:ext>
            </a:extLst>
          </p:cNvPr>
          <p:cNvSpPr txBox="1"/>
          <p:nvPr/>
        </p:nvSpPr>
        <p:spPr>
          <a:xfrm>
            <a:off x="7221506" y="1714987"/>
            <a:ext cx="1326004"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140</a:t>
            </a:r>
            <a:r>
              <a:rPr lang="ko-KR" altLang="en-US" sz="1000" dirty="0">
                <a:solidFill>
                  <a:srgbClr val="FF0000"/>
                </a:solidFill>
              </a:rPr>
              <a:t>조</a:t>
            </a:r>
            <a:r>
              <a:rPr lang="en-US" altLang="ko-KR" sz="1000" dirty="0">
                <a:solidFill>
                  <a:srgbClr val="FF0000"/>
                </a:solidFill>
              </a:rPr>
              <a:t>, </a:t>
            </a:r>
            <a:r>
              <a:rPr lang="ko-KR" altLang="en-US" sz="1000" dirty="0">
                <a:solidFill>
                  <a:srgbClr val="FF0000"/>
                </a:solidFill>
              </a:rPr>
              <a:t>제</a:t>
            </a:r>
            <a:r>
              <a:rPr lang="en-US" altLang="ko-KR" sz="1000" dirty="0">
                <a:solidFill>
                  <a:srgbClr val="FF0000"/>
                </a:solidFill>
              </a:rPr>
              <a:t>140</a:t>
            </a:r>
            <a:r>
              <a:rPr lang="ko-KR" altLang="en-US" sz="1000" dirty="0">
                <a:solidFill>
                  <a:srgbClr val="FF0000"/>
                </a:solidFill>
              </a:rPr>
              <a:t>조의</a:t>
            </a:r>
            <a:r>
              <a:rPr lang="en-US" altLang="ko-KR" sz="1000" dirty="0">
                <a:solidFill>
                  <a:srgbClr val="FF0000"/>
                </a:solidFill>
              </a:rPr>
              <a:t>2</a:t>
            </a:r>
            <a:endParaRPr lang="ko-KR" altLang="en-US" sz="1000" dirty="0">
              <a:solidFill>
                <a:srgbClr val="FF0000"/>
              </a:solidFill>
            </a:endParaRPr>
          </a:p>
        </p:txBody>
      </p:sp>
      <p:sp>
        <p:nvSpPr>
          <p:cNvPr id="23" name="TextBox 22">
            <a:extLst>
              <a:ext uri="{FF2B5EF4-FFF2-40B4-BE49-F238E27FC236}">
                <a16:creationId xmlns:a16="http://schemas.microsoft.com/office/drawing/2014/main" id="{8A61E84B-AB49-69F1-21DA-28E46EAB9121}"/>
              </a:ext>
            </a:extLst>
          </p:cNvPr>
          <p:cNvSpPr txBox="1"/>
          <p:nvPr/>
        </p:nvSpPr>
        <p:spPr>
          <a:xfrm>
            <a:off x="9333487" y="1920076"/>
            <a:ext cx="1495922"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16</a:t>
            </a:r>
            <a:r>
              <a:rPr lang="ko-KR" altLang="en-US" sz="1000" dirty="0">
                <a:solidFill>
                  <a:srgbClr val="FF0000"/>
                </a:solidFill>
              </a:rPr>
              <a:t>조</a:t>
            </a:r>
            <a:r>
              <a:rPr lang="en-US" altLang="ko-KR" sz="1000" dirty="0">
                <a:solidFill>
                  <a:srgbClr val="FF0000"/>
                </a:solidFill>
              </a:rPr>
              <a:t>, </a:t>
            </a:r>
            <a:r>
              <a:rPr lang="ko-KR" altLang="en-US" sz="1000" dirty="0">
                <a:solidFill>
                  <a:srgbClr val="FF0000"/>
                </a:solidFill>
              </a:rPr>
              <a:t>시행규칙 제</a:t>
            </a:r>
            <a:r>
              <a:rPr lang="en-US" altLang="ko-KR" sz="1000" dirty="0">
                <a:solidFill>
                  <a:srgbClr val="FF0000"/>
                </a:solidFill>
              </a:rPr>
              <a:t>11</a:t>
            </a:r>
            <a:r>
              <a:rPr lang="ko-KR" altLang="en-US" sz="1000" dirty="0">
                <a:solidFill>
                  <a:srgbClr val="FF0000"/>
                </a:solidFill>
              </a:rPr>
              <a:t>조</a:t>
            </a:r>
          </a:p>
        </p:txBody>
      </p:sp>
      <p:sp>
        <p:nvSpPr>
          <p:cNvPr id="25" name="TextBox 24">
            <a:extLst>
              <a:ext uri="{FF2B5EF4-FFF2-40B4-BE49-F238E27FC236}">
                <a16:creationId xmlns:a16="http://schemas.microsoft.com/office/drawing/2014/main" id="{9D27E149-ECC7-CB83-13B2-9420395294EB}"/>
              </a:ext>
            </a:extLst>
          </p:cNvPr>
          <p:cNvSpPr txBox="1"/>
          <p:nvPr/>
        </p:nvSpPr>
        <p:spPr>
          <a:xfrm>
            <a:off x="6049747" y="2327513"/>
            <a:ext cx="1928733"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140</a:t>
            </a:r>
            <a:r>
              <a:rPr lang="ko-KR" altLang="en-US" sz="1000" dirty="0">
                <a:solidFill>
                  <a:srgbClr val="FF0000"/>
                </a:solidFill>
              </a:rPr>
              <a:t>조제</a:t>
            </a:r>
            <a:r>
              <a:rPr lang="en-US" altLang="ko-KR" sz="1000" dirty="0">
                <a:solidFill>
                  <a:srgbClr val="FF0000"/>
                </a:solidFill>
              </a:rPr>
              <a:t>2</a:t>
            </a:r>
            <a:r>
              <a:rPr lang="ko-KR" altLang="en-US" sz="1000" dirty="0">
                <a:solidFill>
                  <a:srgbClr val="FF0000"/>
                </a:solidFill>
              </a:rPr>
              <a:t>항</a:t>
            </a:r>
            <a:r>
              <a:rPr lang="en-US" altLang="ko-KR" sz="1000" dirty="0">
                <a:solidFill>
                  <a:srgbClr val="FF0000"/>
                </a:solidFill>
              </a:rPr>
              <a:t>, </a:t>
            </a:r>
            <a:r>
              <a:rPr lang="ko-KR" altLang="en-US" sz="1000" dirty="0">
                <a:solidFill>
                  <a:srgbClr val="FF0000"/>
                </a:solidFill>
              </a:rPr>
              <a:t>제</a:t>
            </a:r>
            <a:r>
              <a:rPr lang="en-US" altLang="ko-KR" sz="1000" dirty="0">
                <a:solidFill>
                  <a:srgbClr val="FF0000"/>
                </a:solidFill>
              </a:rPr>
              <a:t>140</a:t>
            </a:r>
            <a:r>
              <a:rPr lang="ko-KR" altLang="en-US" sz="1000" dirty="0">
                <a:solidFill>
                  <a:srgbClr val="FF0000"/>
                </a:solidFill>
              </a:rPr>
              <a:t>조의</a:t>
            </a:r>
            <a:r>
              <a:rPr lang="en-US" altLang="ko-KR" sz="1000" dirty="0">
                <a:solidFill>
                  <a:srgbClr val="FF0000"/>
                </a:solidFill>
              </a:rPr>
              <a:t>2</a:t>
            </a:r>
            <a:r>
              <a:rPr lang="ko-KR" altLang="en-US" sz="1000" dirty="0">
                <a:solidFill>
                  <a:srgbClr val="FF0000"/>
                </a:solidFill>
              </a:rPr>
              <a:t>제</a:t>
            </a:r>
            <a:r>
              <a:rPr lang="en-US" altLang="ko-KR" sz="1000" dirty="0">
                <a:solidFill>
                  <a:srgbClr val="FF0000"/>
                </a:solidFill>
              </a:rPr>
              <a:t>2</a:t>
            </a:r>
            <a:r>
              <a:rPr lang="ko-KR" altLang="en-US" sz="1000" dirty="0">
                <a:solidFill>
                  <a:srgbClr val="FF0000"/>
                </a:solidFill>
              </a:rPr>
              <a:t>항</a:t>
            </a:r>
          </a:p>
        </p:txBody>
      </p:sp>
      <p:sp>
        <p:nvSpPr>
          <p:cNvPr id="26" name="TextBox 25">
            <a:extLst>
              <a:ext uri="{FF2B5EF4-FFF2-40B4-BE49-F238E27FC236}">
                <a16:creationId xmlns:a16="http://schemas.microsoft.com/office/drawing/2014/main" id="{3C3ED517-99DE-B1C2-F46A-B12ACA4573BA}"/>
              </a:ext>
            </a:extLst>
          </p:cNvPr>
          <p:cNvSpPr txBox="1"/>
          <p:nvPr/>
        </p:nvSpPr>
        <p:spPr>
          <a:xfrm>
            <a:off x="6507095" y="2997833"/>
            <a:ext cx="627095" cy="246221"/>
          </a:xfrm>
          <a:prstGeom prst="rect">
            <a:avLst/>
          </a:prstGeom>
          <a:noFill/>
        </p:spPr>
        <p:txBody>
          <a:bodyPr wrap="none" rtlCol="0">
            <a:spAutoFit/>
          </a:bodyPr>
          <a:lstStyle/>
          <a:p>
            <a:r>
              <a:rPr lang="ko-KR" altLang="en-US" sz="1000">
                <a:solidFill>
                  <a:srgbClr val="FF0000"/>
                </a:solidFill>
              </a:rPr>
              <a:t>제</a:t>
            </a:r>
            <a:r>
              <a:rPr lang="en-US" altLang="ko-KR" sz="1000" dirty="0">
                <a:solidFill>
                  <a:srgbClr val="FF0000"/>
                </a:solidFill>
              </a:rPr>
              <a:t>161</a:t>
            </a:r>
            <a:r>
              <a:rPr lang="ko-KR" altLang="en-US" sz="1000" dirty="0">
                <a:solidFill>
                  <a:srgbClr val="FF0000"/>
                </a:solidFill>
              </a:rPr>
              <a:t>조</a:t>
            </a:r>
          </a:p>
        </p:txBody>
      </p:sp>
      <p:sp>
        <p:nvSpPr>
          <p:cNvPr id="27" name="TextBox 26">
            <a:extLst>
              <a:ext uri="{FF2B5EF4-FFF2-40B4-BE49-F238E27FC236}">
                <a16:creationId xmlns:a16="http://schemas.microsoft.com/office/drawing/2014/main" id="{5A477F91-A115-FD8B-B41A-DA80CEC462A7}"/>
              </a:ext>
            </a:extLst>
          </p:cNvPr>
          <p:cNvSpPr txBox="1"/>
          <p:nvPr/>
        </p:nvSpPr>
        <p:spPr>
          <a:xfrm>
            <a:off x="9291086" y="3100692"/>
            <a:ext cx="627095"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141</a:t>
            </a:r>
            <a:r>
              <a:rPr lang="ko-KR" altLang="en-US" sz="1000" dirty="0">
                <a:solidFill>
                  <a:srgbClr val="FF0000"/>
                </a:solidFill>
              </a:rPr>
              <a:t>조</a:t>
            </a:r>
          </a:p>
        </p:txBody>
      </p:sp>
      <p:sp>
        <p:nvSpPr>
          <p:cNvPr id="28" name="TextBox 27">
            <a:extLst>
              <a:ext uri="{FF2B5EF4-FFF2-40B4-BE49-F238E27FC236}">
                <a16:creationId xmlns:a16="http://schemas.microsoft.com/office/drawing/2014/main" id="{3CB87668-DBFA-BB48-D969-47801A7D7BA1}"/>
              </a:ext>
            </a:extLst>
          </p:cNvPr>
          <p:cNvSpPr txBox="1"/>
          <p:nvPr/>
        </p:nvSpPr>
        <p:spPr>
          <a:xfrm>
            <a:off x="7315720" y="3828010"/>
            <a:ext cx="627095"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142</a:t>
            </a:r>
            <a:r>
              <a:rPr lang="ko-KR" altLang="en-US" sz="1000" dirty="0">
                <a:solidFill>
                  <a:srgbClr val="FF0000"/>
                </a:solidFill>
              </a:rPr>
              <a:t>조</a:t>
            </a:r>
          </a:p>
        </p:txBody>
      </p:sp>
      <p:sp>
        <p:nvSpPr>
          <p:cNvPr id="58" name="TextBox 57">
            <a:extLst>
              <a:ext uri="{FF2B5EF4-FFF2-40B4-BE49-F238E27FC236}">
                <a16:creationId xmlns:a16="http://schemas.microsoft.com/office/drawing/2014/main" id="{35B97612-AA27-6531-EBBE-5731781AF9AC}"/>
              </a:ext>
            </a:extLst>
          </p:cNvPr>
          <p:cNvSpPr txBox="1"/>
          <p:nvPr/>
        </p:nvSpPr>
        <p:spPr>
          <a:xfrm>
            <a:off x="10515861" y="3320176"/>
            <a:ext cx="928459"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147</a:t>
            </a:r>
            <a:r>
              <a:rPr lang="ko-KR" altLang="en-US" sz="1000" dirty="0">
                <a:solidFill>
                  <a:srgbClr val="FF0000"/>
                </a:solidFill>
              </a:rPr>
              <a:t>조제</a:t>
            </a:r>
            <a:r>
              <a:rPr lang="en-US" altLang="ko-KR" sz="1000" dirty="0">
                <a:solidFill>
                  <a:srgbClr val="FF0000"/>
                </a:solidFill>
              </a:rPr>
              <a:t>1</a:t>
            </a:r>
            <a:r>
              <a:rPr lang="ko-KR" altLang="en-US" sz="1000" dirty="0">
                <a:solidFill>
                  <a:srgbClr val="FF0000"/>
                </a:solidFill>
              </a:rPr>
              <a:t>항</a:t>
            </a:r>
          </a:p>
        </p:txBody>
      </p:sp>
      <p:sp>
        <p:nvSpPr>
          <p:cNvPr id="59" name="TextBox 58">
            <a:extLst>
              <a:ext uri="{FF2B5EF4-FFF2-40B4-BE49-F238E27FC236}">
                <a16:creationId xmlns:a16="http://schemas.microsoft.com/office/drawing/2014/main" id="{359967FF-99BC-1C8A-70D5-5B4D1435D94E}"/>
              </a:ext>
            </a:extLst>
          </p:cNvPr>
          <p:cNvSpPr txBox="1"/>
          <p:nvPr/>
        </p:nvSpPr>
        <p:spPr>
          <a:xfrm>
            <a:off x="10344149" y="4397437"/>
            <a:ext cx="928459"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147</a:t>
            </a:r>
            <a:r>
              <a:rPr lang="ko-KR" altLang="en-US" sz="1000" dirty="0">
                <a:solidFill>
                  <a:srgbClr val="FF0000"/>
                </a:solidFill>
              </a:rPr>
              <a:t>조제</a:t>
            </a:r>
            <a:r>
              <a:rPr lang="en-US" altLang="ko-KR" sz="1000" dirty="0">
                <a:solidFill>
                  <a:srgbClr val="FF0000"/>
                </a:solidFill>
              </a:rPr>
              <a:t>1</a:t>
            </a:r>
            <a:r>
              <a:rPr lang="ko-KR" altLang="en-US" sz="1000" dirty="0">
                <a:solidFill>
                  <a:srgbClr val="FF0000"/>
                </a:solidFill>
              </a:rPr>
              <a:t>항</a:t>
            </a:r>
          </a:p>
        </p:txBody>
      </p:sp>
      <p:sp>
        <p:nvSpPr>
          <p:cNvPr id="60" name="TextBox 59">
            <a:extLst>
              <a:ext uri="{FF2B5EF4-FFF2-40B4-BE49-F238E27FC236}">
                <a16:creationId xmlns:a16="http://schemas.microsoft.com/office/drawing/2014/main" id="{1286DB46-8092-3EAF-1942-A62E2F98145A}"/>
              </a:ext>
            </a:extLst>
          </p:cNvPr>
          <p:cNvSpPr txBox="1"/>
          <p:nvPr/>
        </p:nvSpPr>
        <p:spPr>
          <a:xfrm>
            <a:off x="6153530" y="4494195"/>
            <a:ext cx="928459"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147</a:t>
            </a:r>
            <a:r>
              <a:rPr lang="ko-KR" altLang="en-US" sz="1000" dirty="0">
                <a:solidFill>
                  <a:srgbClr val="FF0000"/>
                </a:solidFill>
              </a:rPr>
              <a:t>조제</a:t>
            </a:r>
            <a:r>
              <a:rPr lang="en-US" altLang="ko-KR" sz="1000" dirty="0">
                <a:solidFill>
                  <a:srgbClr val="FF0000"/>
                </a:solidFill>
              </a:rPr>
              <a:t>2</a:t>
            </a:r>
            <a:r>
              <a:rPr lang="ko-KR" altLang="en-US" sz="1000" dirty="0">
                <a:solidFill>
                  <a:srgbClr val="FF0000"/>
                </a:solidFill>
              </a:rPr>
              <a:t>항</a:t>
            </a:r>
          </a:p>
        </p:txBody>
      </p:sp>
      <p:sp>
        <p:nvSpPr>
          <p:cNvPr id="61" name="TextBox 60">
            <a:extLst>
              <a:ext uri="{FF2B5EF4-FFF2-40B4-BE49-F238E27FC236}">
                <a16:creationId xmlns:a16="http://schemas.microsoft.com/office/drawing/2014/main" id="{F56469E4-6F56-89C9-D08A-ECF0B4D20175}"/>
              </a:ext>
            </a:extLst>
          </p:cNvPr>
          <p:cNvSpPr txBox="1"/>
          <p:nvPr/>
        </p:nvSpPr>
        <p:spPr>
          <a:xfrm>
            <a:off x="7084332" y="4903017"/>
            <a:ext cx="928459"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147</a:t>
            </a:r>
            <a:r>
              <a:rPr lang="ko-KR" altLang="en-US" sz="1000" dirty="0">
                <a:solidFill>
                  <a:srgbClr val="FF0000"/>
                </a:solidFill>
              </a:rPr>
              <a:t>조제</a:t>
            </a:r>
            <a:r>
              <a:rPr lang="en-US" altLang="ko-KR" sz="1000" dirty="0">
                <a:solidFill>
                  <a:srgbClr val="FF0000"/>
                </a:solidFill>
              </a:rPr>
              <a:t>3</a:t>
            </a:r>
            <a:r>
              <a:rPr lang="ko-KR" altLang="en-US" sz="1000" dirty="0">
                <a:solidFill>
                  <a:srgbClr val="FF0000"/>
                </a:solidFill>
              </a:rPr>
              <a:t>항</a:t>
            </a:r>
          </a:p>
        </p:txBody>
      </p:sp>
      <p:sp>
        <p:nvSpPr>
          <p:cNvPr id="62" name="TextBox 61">
            <a:extLst>
              <a:ext uri="{FF2B5EF4-FFF2-40B4-BE49-F238E27FC236}">
                <a16:creationId xmlns:a16="http://schemas.microsoft.com/office/drawing/2014/main" id="{279B7241-B403-CD6F-E198-5527253CEDDB}"/>
              </a:ext>
            </a:extLst>
          </p:cNvPr>
          <p:cNvSpPr txBox="1"/>
          <p:nvPr/>
        </p:nvSpPr>
        <p:spPr>
          <a:xfrm>
            <a:off x="9744074" y="5114889"/>
            <a:ext cx="928459"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147</a:t>
            </a:r>
            <a:r>
              <a:rPr lang="ko-KR" altLang="en-US" sz="1000" dirty="0">
                <a:solidFill>
                  <a:srgbClr val="FF0000"/>
                </a:solidFill>
              </a:rPr>
              <a:t>조제</a:t>
            </a:r>
            <a:r>
              <a:rPr lang="en-US" altLang="ko-KR" sz="1000" dirty="0">
                <a:solidFill>
                  <a:srgbClr val="FF0000"/>
                </a:solidFill>
              </a:rPr>
              <a:t>3</a:t>
            </a:r>
            <a:r>
              <a:rPr lang="ko-KR" altLang="en-US" sz="1000" dirty="0">
                <a:solidFill>
                  <a:srgbClr val="FF0000"/>
                </a:solidFill>
              </a:rPr>
              <a:t>항</a:t>
            </a:r>
          </a:p>
        </p:txBody>
      </p:sp>
      <p:sp>
        <p:nvSpPr>
          <p:cNvPr id="63" name="TextBox 62">
            <a:extLst>
              <a:ext uri="{FF2B5EF4-FFF2-40B4-BE49-F238E27FC236}">
                <a16:creationId xmlns:a16="http://schemas.microsoft.com/office/drawing/2014/main" id="{A3A3037F-F7BD-7D71-ACF2-204361A573C1}"/>
              </a:ext>
            </a:extLst>
          </p:cNvPr>
          <p:cNvSpPr txBox="1"/>
          <p:nvPr/>
        </p:nvSpPr>
        <p:spPr>
          <a:xfrm>
            <a:off x="8289759" y="5377645"/>
            <a:ext cx="1625766"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154</a:t>
            </a:r>
            <a:r>
              <a:rPr lang="ko-KR" altLang="en-US" sz="1000" dirty="0">
                <a:solidFill>
                  <a:srgbClr val="FF0000"/>
                </a:solidFill>
              </a:rPr>
              <a:t>조</a:t>
            </a:r>
            <a:r>
              <a:rPr lang="en-US" altLang="ko-KR" sz="1000" dirty="0">
                <a:solidFill>
                  <a:srgbClr val="FF0000"/>
                </a:solidFill>
              </a:rPr>
              <a:t>, </a:t>
            </a:r>
            <a:r>
              <a:rPr lang="ko-KR" altLang="en-US" sz="1000" dirty="0">
                <a:solidFill>
                  <a:srgbClr val="FF0000"/>
                </a:solidFill>
              </a:rPr>
              <a:t>제</a:t>
            </a:r>
            <a:r>
              <a:rPr lang="en-US" altLang="ko-KR" sz="1000" dirty="0">
                <a:solidFill>
                  <a:srgbClr val="FF0000"/>
                </a:solidFill>
              </a:rPr>
              <a:t>157</a:t>
            </a:r>
            <a:r>
              <a:rPr lang="ko-KR" altLang="en-US" sz="1000" dirty="0">
                <a:solidFill>
                  <a:srgbClr val="FF0000"/>
                </a:solidFill>
              </a:rPr>
              <a:t>조</a:t>
            </a:r>
            <a:r>
              <a:rPr lang="en-US" altLang="ko-KR" sz="1000" dirty="0">
                <a:solidFill>
                  <a:srgbClr val="FF0000"/>
                </a:solidFill>
              </a:rPr>
              <a:t>-</a:t>
            </a:r>
            <a:r>
              <a:rPr lang="ko-KR" altLang="en-US" sz="1000" dirty="0">
                <a:solidFill>
                  <a:srgbClr val="FF0000"/>
                </a:solidFill>
              </a:rPr>
              <a:t>제</a:t>
            </a:r>
            <a:r>
              <a:rPr lang="en-US" altLang="ko-KR" sz="1000" dirty="0">
                <a:solidFill>
                  <a:srgbClr val="FF0000"/>
                </a:solidFill>
              </a:rPr>
              <a:t>160</a:t>
            </a:r>
            <a:r>
              <a:rPr lang="ko-KR" altLang="en-US" sz="1000" dirty="0">
                <a:solidFill>
                  <a:srgbClr val="FF0000"/>
                </a:solidFill>
              </a:rPr>
              <a:t>조</a:t>
            </a:r>
          </a:p>
        </p:txBody>
      </p:sp>
      <p:sp>
        <p:nvSpPr>
          <p:cNvPr id="72" name="TextBox 71">
            <a:extLst>
              <a:ext uri="{FF2B5EF4-FFF2-40B4-BE49-F238E27FC236}">
                <a16:creationId xmlns:a16="http://schemas.microsoft.com/office/drawing/2014/main" id="{38A83439-D3B4-E3AC-0474-392B2DB75982}"/>
              </a:ext>
            </a:extLst>
          </p:cNvPr>
          <p:cNvSpPr txBox="1"/>
          <p:nvPr/>
        </p:nvSpPr>
        <p:spPr>
          <a:xfrm>
            <a:off x="8520342" y="5900735"/>
            <a:ext cx="1140056"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162</a:t>
            </a:r>
            <a:r>
              <a:rPr lang="ko-KR" altLang="en-US" sz="1000" dirty="0">
                <a:solidFill>
                  <a:srgbClr val="FF0000"/>
                </a:solidFill>
              </a:rPr>
              <a:t>조</a:t>
            </a:r>
            <a:r>
              <a:rPr lang="en-US" altLang="ko-KR" sz="1000" dirty="0">
                <a:solidFill>
                  <a:srgbClr val="FF0000"/>
                </a:solidFill>
              </a:rPr>
              <a:t>, </a:t>
            </a:r>
            <a:r>
              <a:rPr lang="ko-KR" altLang="en-US" sz="1000" dirty="0">
                <a:solidFill>
                  <a:srgbClr val="FF0000"/>
                </a:solidFill>
              </a:rPr>
              <a:t>제</a:t>
            </a:r>
            <a:r>
              <a:rPr lang="en-US" altLang="ko-KR" sz="1000" dirty="0">
                <a:solidFill>
                  <a:srgbClr val="FF0000"/>
                </a:solidFill>
              </a:rPr>
              <a:t>163</a:t>
            </a:r>
            <a:r>
              <a:rPr lang="ko-KR" altLang="en-US" sz="1000" dirty="0">
                <a:solidFill>
                  <a:srgbClr val="FF0000"/>
                </a:solidFill>
              </a:rPr>
              <a:t>조</a:t>
            </a:r>
          </a:p>
        </p:txBody>
      </p:sp>
      <p:sp>
        <p:nvSpPr>
          <p:cNvPr id="74" name="TextBox 73">
            <a:extLst>
              <a:ext uri="{FF2B5EF4-FFF2-40B4-BE49-F238E27FC236}">
                <a16:creationId xmlns:a16="http://schemas.microsoft.com/office/drawing/2014/main" id="{9A177FFF-2002-EED2-AF4B-9D00CB290548}"/>
              </a:ext>
            </a:extLst>
          </p:cNvPr>
          <p:cNvSpPr txBox="1"/>
          <p:nvPr/>
        </p:nvSpPr>
        <p:spPr>
          <a:xfrm>
            <a:off x="8610600" y="6492654"/>
            <a:ext cx="928459"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162</a:t>
            </a:r>
            <a:r>
              <a:rPr lang="ko-KR" altLang="en-US" sz="1000" dirty="0">
                <a:solidFill>
                  <a:srgbClr val="FF0000"/>
                </a:solidFill>
              </a:rPr>
              <a:t>조제</a:t>
            </a:r>
            <a:r>
              <a:rPr lang="en-US" altLang="ko-KR" sz="1000" dirty="0">
                <a:solidFill>
                  <a:srgbClr val="FF0000"/>
                </a:solidFill>
              </a:rPr>
              <a:t>6</a:t>
            </a:r>
            <a:r>
              <a:rPr lang="ko-KR" altLang="en-US" sz="1000" dirty="0">
                <a:solidFill>
                  <a:srgbClr val="FF0000"/>
                </a:solidFill>
              </a:rPr>
              <a:t>항</a:t>
            </a:r>
          </a:p>
        </p:txBody>
      </p:sp>
      <p:sp>
        <p:nvSpPr>
          <p:cNvPr id="76" name="TextBox 75">
            <a:extLst>
              <a:ext uri="{FF2B5EF4-FFF2-40B4-BE49-F238E27FC236}">
                <a16:creationId xmlns:a16="http://schemas.microsoft.com/office/drawing/2014/main" id="{55E55BE4-1FB9-A8AE-DF62-361FD500903C}"/>
              </a:ext>
            </a:extLst>
          </p:cNvPr>
          <p:cNvSpPr txBox="1"/>
          <p:nvPr/>
        </p:nvSpPr>
        <p:spPr>
          <a:xfrm>
            <a:off x="10570712" y="3760690"/>
            <a:ext cx="928459" cy="246221"/>
          </a:xfrm>
          <a:prstGeom prst="rect">
            <a:avLst/>
          </a:prstGeom>
          <a:noFill/>
        </p:spPr>
        <p:txBody>
          <a:bodyPr wrap="none" rtlCol="0">
            <a:spAutoFit/>
          </a:bodyPr>
          <a:lstStyle/>
          <a:p>
            <a:r>
              <a:rPr lang="ko-KR" altLang="en-US" sz="1000" dirty="0">
                <a:solidFill>
                  <a:srgbClr val="FF0000"/>
                </a:solidFill>
              </a:rPr>
              <a:t>제</a:t>
            </a:r>
            <a:r>
              <a:rPr lang="en-US" altLang="ko-KR" sz="1000" dirty="0">
                <a:solidFill>
                  <a:srgbClr val="FF0000"/>
                </a:solidFill>
              </a:rPr>
              <a:t>133</a:t>
            </a:r>
            <a:r>
              <a:rPr lang="ko-KR" altLang="en-US" sz="1000" dirty="0">
                <a:solidFill>
                  <a:srgbClr val="FF0000"/>
                </a:solidFill>
              </a:rPr>
              <a:t>조제</a:t>
            </a:r>
            <a:r>
              <a:rPr lang="en-US" altLang="ko-KR" sz="1000" dirty="0">
                <a:solidFill>
                  <a:srgbClr val="FF0000"/>
                </a:solidFill>
              </a:rPr>
              <a:t>4</a:t>
            </a:r>
            <a:r>
              <a:rPr lang="ko-KR" altLang="en-US" sz="1000" dirty="0">
                <a:solidFill>
                  <a:srgbClr val="FF0000"/>
                </a:solidFill>
              </a:rPr>
              <a:t>항</a:t>
            </a:r>
          </a:p>
        </p:txBody>
      </p:sp>
    </p:spTree>
    <p:extLst>
      <p:ext uri="{BB962C8B-B14F-4D97-AF65-F5344CB8AC3E}">
        <p14:creationId xmlns:p14="http://schemas.microsoft.com/office/powerpoint/2010/main" val="1985222734"/>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6" name="직선 연결선 115"/>
          <p:cNvCxnSpPr/>
          <p:nvPr/>
        </p:nvCxnSpPr>
        <p:spPr>
          <a:xfrm>
            <a:off x="6845109" y="3522559"/>
            <a:ext cx="0" cy="154730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직선 연결선 113"/>
          <p:cNvCxnSpPr/>
          <p:nvPr/>
        </p:nvCxnSpPr>
        <p:spPr>
          <a:xfrm>
            <a:off x="8123809" y="3522559"/>
            <a:ext cx="0" cy="154730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0" name="양쪽 모서리가 둥근 사각형 109"/>
          <p:cNvSpPr/>
          <p:nvPr/>
        </p:nvSpPr>
        <p:spPr>
          <a:xfrm>
            <a:off x="9372772" y="2974645"/>
            <a:ext cx="1284802" cy="552566"/>
          </a:xfrm>
          <a:prstGeom prst="round2SameRect">
            <a:avLst>
              <a:gd name="adj1" fmla="val 50000"/>
              <a:gd name="adj2" fmla="val 0"/>
            </a:avLst>
          </a:prstGeom>
          <a:pattFill prst="lgGrid">
            <a:fgClr>
              <a:schemeClr val="accent4"/>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제목 1"/>
          <p:cNvSpPr>
            <a:spLocks noGrp="1"/>
          </p:cNvSpPr>
          <p:nvPr>
            <p:ph type="title"/>
          </p:nvPr>
        </p:nvSpPr>
        <p:spPr/>
        <p:txBody>
          <a:bodyPr/>
          <a:lstStyle/>
          <a:p>
            <a:r>
              <a:rPr lang="ko-KR" altLang="en-US" dirty="0"/>
              <a:t>제</a:t>
            </a:r>
            <a:r>
              <a:rPr lang="en-US" altLang="ko-KR" dirty="0"/>
              <a:t>148</a:t>
            </a:r>
            <a:r>
              <a:rPr lang="ko-KR" altLang="en-US" dirty="0"/>
              <a:t>조</a:t>
            </a:r>
            <a:r>
              <a:rPr lang="en-US" altLang="ko-KR" dirty="0"/>
              <a:t>, </a:t>
            </a:r>
            <a:r>
              <a:rPr lang="ko-KR" altLang="en-US" dirty="0"/>
              <a:t>제</a:t>
            </a:r>
            <a:r>
              <a:rPr lang="en-US" altLang="ko-KR" dirty="0"/>
              <a:t>149</a:t>
            </a:r>
            <a:r>
              <a:rPr lang="ko-KR" altLang="en-US" dirty="0"/>
              <a:t>조</a:t>
            </a:r>
          </a:p>
        </p:txBody>
      </p:sp>
      <p:sp>
        <p:nvSpPr>
          <p:cNvPr id="3" name="텍스트 개체 틀 2"/>
          <p:cNvSpPr>
            <a:spLocks noGrp="1"/>
          </p:cNvSpPr>
          <p:nvPr>
            <p:ph type="body" sz="quarter" idx="13"/>
          </p:nvPr>
        </p:nvSpPr>
        <p:spPr/>
        <p:txBody>
          <a:bodyPr/>
          <a:lstStyle/>
          <a:p>
            <a:r>
              <a:rPr lang="ko-KR" altLang="en-US" dirty="0"/>
              <a:t>심판관의 제척</a:t>
            </a:r>
          </a:p>
        </p:txBody>
      </p:sp>
      <p:sp>
        <p:nvSpPr>
          <p:cNvPr id="8" name="Rectangle 5"/>
          <p:cNvSpPr>
            <a:spLocks noChangeArrowheads="1"/>
          </p:cNvSpPr>
          <p:nvPr/>
        </p:nvSpPr>
        <p:spPr bwMode="auto">
          <a:xfrm>
            <a:off x="195260" y="1123104"/>
            <a:ext cx="14811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err="1">
                <a:solidFill>
                  <a:schemeClr val="bg1"/>
                </a:solidFill>
                <a:latin typeface="+mj-ea"/>
                <a:ea typeface="+mj-ea"/>
              </a:rPr>
              <a:t>전심관여</a:t>
            </a:r>
            <a:endParaRPr lang="ko-KR" altLang="en-US" sz="1600" b="0" dirty="0">
              <a:solidFill>
                <a:schemeClr val="bg1"/>
              </a:solidFill>
              <a:latin typeface="+mj-ea"/>
              <a:ea typeface="+mj-ea"/>
            </a:endParaRPr>
          </a:p>
        </p:txBody>
      </p:sp>
      <p:cxnSp>
        <p:nvCxnSpPr>
          <p:cNvPr id="9" name="직선 연결선 8"/>
          <p:cNvCxnSpPr/>
          <p:nvPr/>
        </p:nvCxnSpPr>
        <p:spPr>
          <a:xfrm>
            <a:off x="319578" y="2889143"/>
            <a:ext cx="5477409"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Rectangle 14"/>
          <p:cNvSpPr>
            <a:spLocks noChangeArrowheads="1"/>
          </p:cNvSpPr>
          <p:nvPr/>
        </p:nvSpPr>
        <p:spPr bwMode="auto">
          <a:xfrm flipV="1">
            <a:off x="661217" y="281261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1" name="TextBox 10"/>
          <p:cNvSpPr txBox="1"/>
          <p:nvPr/>
        </p:nvSpPr>
        <p:spPr>
          <a:xfrm>
            <a:off x="223836" y="3365179"/>
            <a:ext cx="1011815" cy="461665"/>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sz="1200" dirty="0"/>
              <a:t>거절결정불복</a:t>
            </a:r>
            <a:endParaRPr lang="en-US" altLang="ko-KR" sz="1200" dirty="0"/>
          </a:p>
          <a:p>
            <a:pPr algn="ctr"/>
            <a:r>
              <a:rPr lang="ko-KR" altLang="en-US" sz="1200" dirty="0"/>
              <a:t>심판청구</a:t>
            </a:r>
          </a:p>
        </p:txBody>
      </p:sp>
      <p:cxnSp>
        <p:nvCxnSpPr>
          <p:cNvPr id="13" name="직선 연결선 12"/>
          <p:cNvCxnSpPr>
            <a:stCxn id="11" idx="0"/>
            <a:endCxn id="10" idx="0"/>
          </p:cNvCxnSpPr>
          <p:nvPr/>
        </p:nvCxnSpPr>
        <p:spPr>
          <a:xfrm flipV="1">
            <a:off x="729744" y="2965674"/>
            <a:ext cx="2911" cy="39950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 name="Rectangle 14"/>
          <p:cNvSpPr>
            <a:spLocks noChangeArrowheads="1"/>
          </p:cNvSpPr>
          <p:nvPr/>
        </p:nvSpPr>
        <p:spPr bwMode="auto">
          <a:xfrm flipV="1">
            <a:off x="1177239" y="2812612"/>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6" name="TextBox 15"/>
          <p:cNvSpPr txBox="1"/>
          <p:nvPr/>
        </p:nvSpPr>
        <p:spPr>
          <a:xfrm>
            <a:off x="716451" y="2336577"/>
            <a:ext cx="1058630" cy="24630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합의체 심리</a:t>
            </a:r>
          </a:p>
        </p:txBody>
      </p:sp>
      <p:cxnSp>
        <p:nvCxnSpPr>
          <p:cNvPr id="17" name="직선 연결선 16"/>
          <p:cNvCxnSpPr>
            <a:stCxn id="16" idx="2"/>
            <a:endCxn id="15" idx="4"/>
          </p:cNvCxnSpPr>
          <p:nvPr/>
        </p:nvCxnSpPr>
        <p:spPr>
          <a:xfrm>
            <a:off x="1245766" y="2582882"/>
            <a:ext cx="2911" cy="22973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716451" y="1835683"/>
            <a:ext cx="1058630" cy="454610"/>
          </a:xfrm>
          <a:prstGeom prst="rect">
            <a:avLst/>
          </a:prstGeom>
          <a:noFill/>
          <a:ln>
            <a:solidFill>
              <a:schemeClr val="bg1">
                <a:lumMod val="50000"/>
              </a:schemeClr>
            </a:solidFill>
          </a:ln>
        </p:spPr>
        <p:txBody>
          <a:bodyPr wrap="square" rtlCol="0" anchor="ctr">
            <a:noAutofit/>
          </a:bodyPr>
          <a:lstStyle/>
          <a:p>
            <a:pPr algn="ctr"/>
            <a:r>
              <a:rPr lang="ko-KR" altLang="en-US" sz="1200" dirty="0"/>
              <a:t>甲</a:t>
            </a:r>
            <a:r>
              <a:rPr lang="en-US" altLang="ko-KR" sz="1200" dirty="0"/>
              <a:t>, </a:t>
            </a:r>
            <a:r>
              <a:rPr lang="ko-KR" altLang="en-US" sz="1200" dirty="0"/>
              <a:t>乙</a:t>
            </a:r>
            <a:r>
              <a:rPr lang="en-US" altLang="ko-KR" sz="1200" dirty="0"/>
              <a:t>, </a:t>
            </a:r>
            <a:r>
              <a:rPr lang="ko-KR" altLang="en-US" sz="1200" dirty="0"/>
              <a:t>丙</a:t>
            </a:r>
          </a:p>
        </p:txBody>
      </p:sp>
      <p:sp>
        <p:nvSpPr>
          <p:cNvPr id="28" name="Rectangle 14"/>
          <p:cNvSpPr>
            <a:spLocks noChangeArrowheads="1"/>
          </p:cNvSpPr>
          <p:nvPr/>
        </p:nvSpPr>
        <p:spPr bwMode="auto">
          <a:xfrm flipV="1">
            <a:off x="2336875" y="2812612"/>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29" name="TextBox 28"/>
          <p:cNvSpPr txBox="1"/>
          <p:nvPr/>
        </p:nvSpPr>
        <p:spPr>
          <a:xfrm>
            <a:off x="1876087" y="2336577"/>
            <a:ext cx="1058630" cy="24630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인용심결</a:t>
            </a:r>
            <a:endParaRPr lang="ko-KR" altLang="en-US" sz="1200" dirty="0"/>
          </a:p>
        </p:txBody>
      </p:sp>
      <p:cxnSp>
        <p:nvCxnSpPr>
          <p:cNvPr id="30" name="직선 연결선 29"/>
          <p:cNvCxnSpPr>
            <a:stCxn id="29" idx="2"/>
            <a:endCxn id="28" idx="4"/>
          </p:cNvCxnSpPr>
          <p:nvPr/>
        </p:nvCxnSpPr>
        <p:spPr>
          <a:xfrm>
            <a:off x="2405402" y="2582882"/>
            <a:ext cx="2911" cy="22973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1876087" y="1835683"/>
            <a:ext cx="1058630" cy="454610"/>
          </a:xfrm>
          <a:prstGeom prst="rect">
            <a:avLst/>
          </a:prstGeom>
          <a:noFill/>
          <a:ln>
            <a:solidFill>
              <a:schemeClr val="bg1">
                <a:lumMod val="50000"/>
              </a:schemeClr>
            </a:solidFill>
          </a:ln>
        </p:spPr>
        <p:txBody>
          <a:bodyPr wrap="square" rtlCol="0" anchor="ctr">
            <a:noAutofit/>
          </a:bodyPr>
          <a:lstStyle/>
          <a:p>
            <a:pPr algn="ctr"/>
            <a:r>
              <a:rPr lang="ko-KR" altLang="en-US" sz="1200" dirty="0" err="1"/>
              <a:t>거절결정</a:t>
            </a:r>
            <a:r>
              <a:rPr lang="ko-KR" altLang="en-US" sz="1200" dirty="0"/>
              <a:t> 취소 </a:t>
            </a:r>
            <a:r>
              <a:rPr lang="en-US" altLang="ko-KR" sz="1200" dirty="0"/>
              <a:t>&amp; </a:t>
            </a:r>
            <a:r>
              <a:rPr lang="ko-KR" altLang="en-US" sz="1200" dirty="0" err="1"/>
              <a:t>특허결정</a:t>
            </a:r>
            <a:endParaRPr lang="ko-KR" altLang="en-US" sz="1200" dirty="0"/>
          </a:p>
        </p:txBody>
      </p:sp>
      <p:sp>
        <p:nvSpPr>
          <p:cNvPr id="34" name="Rectangle 14"/>
          <p:cNvSpPr>
            <a:spLocks noChangeArrowheads="1"/>
          </p:cNvSpPr>
          <p:nvPr/>
        </p:nvSpPr>
        <p:spPr bwMode="auto">
          <a:xfrm flipV="1">
            <a:off x="2970107" y="281261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5" name="TextBox 34"/>
          <p:cNvSpPr txBox="1"/>
          <p:nvPr/>
        </p:nvSpPr>
        <p:spPr>
          <a:xfrm>
            <a:off x="2532726" y="3365179"/>
            <a:ext cx="1011815" cy="461665"/>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sz="1200" dirty="0" err="1"/>
              <a:t>특허료납부</a:t>
            </a:r>
            <a:r>
              <a:rPr lang="ko-KR" altLang="en-US" sz="1200" dirty="0"/>
              <a:t> </a:t>
            </a:r>
            <a:r>
              <a:rPr lang="en-US" altLang="ko-KR" sz="1200" dirty="0"/>
              <a:t>&amp; </a:t>
            </a:r>
            <a:r>
              <a:rPr lang="ko-KR" altLang="en-US" sz="1200" dirty="0" err="1"/>
              <a:t>설정등록</a:t>
            </a:r>
            <a:endParaRPr lang="ko-KR" altLang="en-US" sz="1200" dirty="0"/>
          </a:p>
        </p:txBody>
      </p:sp>
      <p:cxnSp>
        <p:nvCxnSpPr>
          <p:cNvPr id="36" name="직선 연결선 35"/>
          <p:cNvCxnSpPr>
            <a:stCxn id="35" idx="0"/>
            <a:endCxn id="34" idx="0"/>
          </p:cNvCxnSpPr>
          <p:nvPr/>
        </p:nvCxnSpPr>
        <p:spPr>
          <a:xfrm flipV="1">
            <a:off x="3038634" y="2965674"/>
            <a:ext cx="2911" cy="39950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1" name="Rectangle 14"/>
          <p:cNvSpPr>
            <a:spLocks noChangeArrowheads="1"/>
          </p:cNvSpPr>
          <p:nvPr/>
        </p:nvSpPr>
        <p:spPr bwMode="auto">
          <a:xfrm flipV="1">
            <a:off x="4096484" y="281261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2" name="TextBox 41"/>
          <p:cNvSpPr txBox="1"/>
          <p:nvPr/>
        </p:nvSpPr>
        <p:spPr>
          <a:xfrm>
            <a:off x="3659103" y="3365179"/>
            <a:ext cx="1011815" cy="461665"/>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sz="1200" dirty="0" err="1"/>
              <a:t>특허무효</a:t>
            </a:r>
            <a:endParaRPr lang="en-US" altLang="ko-KR" sz="1200" dirty="0"/>
          </a:p>
          <a:p>
            <a:pPr algn="ctr"/>
            <a:r>
              <a:rPr lang="ko-KR" altLang="en-US" sz="1200" dirty="0"/>
              <a:t>심판청구</a:t>
            </a:r>
          </a:p>
        </p:txBody>
      </p:sp>
      <p:cxnSp>
        <p:nvCxnSpPr>
          <p:cNvPr id="43" name="직선 연결선 42"/>
          <p:cNvCxnSpPr>
            <a:stCxn id="42" idx="0"/>
            <a:endCxn id="41" idx="0"/>
          </p:cNvCxnSpPr>
          <p:nvPr/>
        </p:nvCxnSpPr>
        <p:spPr>
          <a:xfrm flipV="1">
            <a:off x="4165011" y="2965674"/>
            <a:ext cx="2911" cy="39950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Rectangle 14"/>
          <p:cNvSpPr>
            <a:spLocks noChangeArrowheads="1"/>
          </p:cNvSpPr>
          <p:nvPr/>
        </p:nvSpPr>
        <p:spPr bwMode="auto">
          <a:xfrm flipV="1">
            <a:off x="4526781" y="2812612"/>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5" name="TextBox 44"/>
          <p:cNvSpPr txBox="1"/>
          <p:nvPr/>
        </p:nvSpPr>
        <p:spPr>
          <a:xfrm>
            <a:off x="4065993" y="2336577"/>
            <a:ext cx="1058630" cy="24630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합의체 심리</a:t>
            </a:r>
          </a:p>
        </p:txBody>
      </p:sp>
      <p:cxnSp>
        <p:nvCxnSpPr>
          <p:cNvPr id="46" name="직선 연결선 45"/>
          <p:cNvCxnSpPr>
            <a:stCxn id="45" idx="2"/>
            <a:endCxn id="44" idx="4"/>
          </p:cNvCxnSpPr>
          <p:nvPr/>
        </p:nvCxnSpPr>
        <p:spPr>
          <a:xfrm>
            <a:off x="4595308" y="2582882"/>
            <a:ext cx="2911" cy="22973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4065993" y="1835683"/>
            <a:ext cx="1058630" cy="454610"/>
          </a:xfrm>
          <a:prstGeom prst="rect">
            <a:avLst/>
          </a:prstGeom>
          <a:noFill/>
          <a:ln>
            <a:solidFill>
              <a:schemeClr val="bg1">
                <a:lumMod val="50000"/>
              </a:schemeClr>
            </a:solidFill>
          </a:ln>
        </p:spPr>
        <p:txBody>
          <a:bodyPr wrap="square" rtlCol="0" anchor="ctr">
            <a:noAutofit/>
          </a:bodyPr>
          <a:lstStyle/>
          <a:p>
            <a:pPr algn="ctr"/>
            <a:r>
              <a:rPr lang="ko-KR" altLang="en-US" sz="1200" dirty="0"/>
              <a:t>甲</a:t>
            </a:r>
            <a:r>
              <a:rPr lang="en-US" altLang="ko-KR" sz="1200" dirty="0"/>
              <a:t>, </a:t>
            </a:r>
            <a:r>
              <a:rPr lang="ko-KR" altLang="en-US" sz="1200" dirty="0"/>
              <a:t>丁</a:t>
            </a:r>
            <a:r>
              <a:rPr lang="en-US" altLang="ko-KR" sz="1200" dirty="0"/>
              <a:t>, </a:t>
            </a:r>
            <a:r>
              <a:rPr lang="ko-KR" altLang="en-US" sz="1200" dirty="0"/>
              <a:t>戊</a:t>
            </a:r>
          </a:p>
        </p:txBody>
      </p:sp>
      <p:cxnSp>
        <p:nvCxnSpPr>
          <p:cNvPr id="48" name="직선 연결선 47"/>
          <p:cNvCxnSpPr/>
          <p:nvPr/>
        </p:nvCxnSpPr>
        <p:spPr>
          <a:xfrm>
            <a:off x="6076950" y="1000125"/>
            <a:ext cx="0" cy="566517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타원 49"/>
          <p:cNvSpPr/>
          <p:nvPr/>
        </p:nvSpPr>
        <p:spPr>
          <a:xfrm>
            <a:off x="4201748" y="1876760"/>
            <a:ext cx="325033" cy="325033"/>
          </a:xfrm>
          <a:prstGeom prst="ellipse">
            <a:avLst/>
          </a:prstGeom>
          <a:solidFill>
            <a:srgbClr val="FF0000">
              <a:alpha val="50000"/>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1" name="TextBox 50"/>
          <p:cNvSpPr txBox="1"/>
          <p:nvPr/>
        </p:nvSpPr>
        <p:spPr>
          <a:xfrm>
            <a:off x="3455755" y="1371935"/>
            <a:ext cx="601447" cy="369332"/>
          </a:xfrm>
          <a:prstGeom prst="rect">
            <a:avLst/>
          </a:prstGeom>
          <a:noFill/>
        </p:spPr>
        <p:txBody>
          <a:bodyPr wrap="square" rtlCol="0">
            <a:spAutoFit/>
          </a:bodyPr>
          <a:lstStyle/>
          <a:p>
            <a:r>
              <a:rPr lang="ko-KR" altLang="en-US">
                <a:solidFill>
                  <a:srgbClr val="FF0000"/>
                </a:solidFill>
              </a:rPr>
              <a:t>교체</a:t>
            </a:r>
          </a:p>
        </p:txBody>
      </p:sp>
      <p:cxnSp>
        <p:nvCxnSpPr>
          <p:cNvPr id="53" name="직선 연결선 52"/>
          <p:cNvCxnSpPr>
            <a:stCxn id="50" idx="1"/>
          </p:cNvCxnSpPr>
          <p:nvPr/>
        </p:nvCxnSpPr>
        <p:spPr>
          <a:xfrm flipH="1" flipV="1">
            <a:off x="3952876" y="1652584"/>
            <a:ext cx="296472" cy="271776"/>
          </a:xfrm>
          <a:prstGeom prst="line">
            <a:avLst/>
          </a:prstGeom>
          <a:ln w="28575">
            <a:solidFill>
              <a:srgbClr val="FF0000"/>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4" name="직선 연결선 53"/>
          <p:cNvCxnSpPr/>
          <p:nvPr/>
        </p:nvCxnSpPr>
        <p:spPr>
          <a:xfrm>
            <a:off x="319578" y="5449267"/>
            <a:ext cx="5477409"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Rectangle 14"/>
          <p:cNvSpPr>
            <a:spLocks noChangeArrowheads="1"/>
          </p:cNvSpPr>
          <p:nvPr/>
        </p:nvSpPr>
        <p:spPr bwMode="auto">
          <a:xfrm flipV="1">
            <a:off x="661217" y="5372736"/>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6" name="TextBox 55"/>
          <p:cNvSpPr txBox="1"/>
          <p:nvPr/>
        </p:nvSpPr>
        <p:spPr>
          <a:xfrm>
            <a:off x="223836" y="5925303"/>
            <a:ext cx="1011815" cy="461665"/>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sz="1200" dirty="0"/>
              <a:t>정정</a:t>
            </a:r>
            <a:endParaRPr lang="en-US" altLang="ko-KR" sz="1200" dirty="0"/>
          </a:p>
          <a:p>
            <a:pPr algn="ctr"/>
            <a:r>
              <a:rPr lang="ko-KR" altLang="en-US" sz="1200" dirty="0"/>
              <a:t>심판청구</a:t>
            </a:r>
          </a:p>
        </p:txBody>
      </p:sp>
      <p:cxnSp>
        <p:nvCxnSpPr>
          <p:cNvPr id="57" name="직선 연결선 56"/>
          <p:cNvCxnSpPr>
            <a:stCxn id="56" idx="0"/>
            <a:endCxn id="55" idx="0"/>
          </p:cNvCxnSpPr>
          <p:nvPr/>
        </p:nvCxnSpPr>
        <p:spPr>
          <a:xfrm flipV="1">
            <a:off x="729744" y="5525798"/>
            <a:ext cx="2911" cy="39950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Rectangle 14"/>
          <p:cNvSpPr>
            <a:spLocks noChangeArrowheads="1"/>
          </p:cNvSpPr>
          <p:nvPr/>
        </p:nvSpPr>
        <p:spPr bwMode="auto">
          <a:xfrm flipV="1">
            <a:off x="1177239" y="5372736"/>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9" name="TextBox 58"/>
          <p:cNvSpPr txBox="1"/>
          <p:nvPr/>
        </p:nvSpPr>
        <p:spPr>
          <a:xfrm>
            <a:off x="716451" y="4896701"/>
            <a:ext cx="1058630" cy="24630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합의체 심리</a:t>
            </a:r>
          </a:p>
        </p:txBody>
      </p:sp>
      <p:cxnSp>
        <p:nvCxnSpPr>
          <p:cNvPr id="60" name="직선 연결선 59"/>
          <p:cNvCxnSpPr>
            <a:stCxn id="59" idx="2"/>
            <a:endCxn id="58" idx="4"/>
          </p:cNvCxnSpPr>
          <p:nvPr/>
        </p:nvCxnSpPr>
        <p:spPr>
          <a:xfrm>
            <a:off x="1245766" y="5143006"/>
            <a:ext cx="2911" cy="22973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716451" y="4395807"/>
            <a:ext cx="1058630" cy="454610"/>
          </a:xfrm>
          <a:prstGeom prst="rect">
            <a:avLst/>
          </a:prstGeom>
          <a:noFill/>
          <a:ln>
            <a:solidFill>
              <a:schemeClr val="bg1">
                <a:lumMod val="50000"/>
              </a:schemeClr>
            </a:solidFill>
          </a:ln>
        </p:spPr>
        <p:txBody>
          <a:bodyPr wrap="square" rtlCol="0" anchor="ctr">
            <a:noAutofit/>
          </a:bodyPr>
          <a:lstStyle/>
          <a:p>
            <a:pPr algn="ctr"/>
            <a:r>
              <a:rPr lang="ko-KR" altLang="en-US" sz="1200" dirty="0"/>
              <a:t>甲</a:t>
            </a:r>
            <a:r>
              <a:rPr lang="en-US" altLang="ko-KR" sz="1200" dirty="0"/>
              <a:t>, </a:t>
            </a:r>
            <a:r>
              <a:rPr lang="ko-KR" altLang="en-US" sz="1200" dirty="0"/>
              <a:t>乙</a:t>
            </a:r>
            <a:r>
              <a:rPr lang="en-US" altLang="ko-KR" sz="1200" dirty="0"/>
              <a:t>, </a:t>
            </a:r>
            <a:r>
              <a:rPr lang="ko-KR" altLang="en-US" sz="1200" dirty="0"/>
              <a:t>丙</a:t>
            </a:r>
          </a:p>
        </p:txBody>
      </p:sp>
      <p:sp>
        <p:nvSpPr>
          <p:cNvPr id="62" name="Rectangle 14"/>
          <p:cNvSpPr>
            <a:spLocks noChangeArrowheads="1"/>
          </p:cNvSpPr>
          <p:nvPr/>
        </p:nvSpPr>
        <p:spPr bwMode="auto">
          <a:xfrm flipV="1">
            <a:off x="2336875" y="5372736"/>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63" name="TextBox 62"/>
          <p:cNvSpPr txBox="1"/>
          <p:nvPr/>
        </p:nvSpPr>
        <p:spPr>
          <a:xfrm>
            <a:off x="1876087" y="4896701"/>
            <a:ext cx="1058630" cy="24630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인용심결</a:t>
            </a:r>
            <a:endParaRPr lang="ko-KR" altLang="en-US" sz="1200" dirty="0"/>
          </a:p>
        </p:txBody>
      </p:sp>
      <p:cxnSp>
        <p:nvCxnSpPr>
          <p:cNvPr id="64" name="직선 연결선 63"/>
          <p:cNvCxnSpPr>
            <a:stCxn id="63" idx="2"/>
            <a:endCxn id="62" idx="4"/>
          </p:cNvCxnSpPr>
          <p:nvPr/>
        </p:nvCxnSpPr>
        <p:spPr>
          <a:xfrm>
            <a:off x="2405402" y="5143006"/>
            <a:ext cx="2911" cy="22973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Rectangle 14"/>
          <p:cNvSpPr>
            <a:spLocks noChangeArrowheads="1"/>
          </p:cNvSpPr>
          <p:nvPr/>
        </p:nvSpPr>
        <p:spPr bwMode="auto">
          <a:xfrm flipV="1">
            <a:off x="4096484" y="5372736"/>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0" name="TextBox 69"/>
          <p:cNvSpPr txBox="1"/>
          <p:nvPr/>
        </p:nvSpPr>
        <p:spPr>
          <a:xfrm>
            <a:off x="3659103" y="5925303"/>
            <a:ext cx="1011815" cy="461665"/>
          </a:xfrm>
          <a:prstGeom prst="rect">
            <a:avLst/>
          </a:prstGeom>
          <a:solidFill>
            <a:schemeClr val="accent1">
              <a:lumMod val="20000"/>
              <a:lumOff val="80000"/>
            </a:schemeClr>
          </a:solidFill>
          <a:ln>
            <a:solidFill>
              <a:schemeClr val="bg1">
                <a:lumMod val="50000"/>
              </a:schemeClr>
            </a:solidFill>
          </a:ln>
        </p:spPr>
        <p:txBody>
          <a:bodyPr wrap="square" rtlCol="0">
            <a:noAutofit/>
          </a:bodyPr>
          <a:lstStyle/>
          <a:p>
            <a:pPr algn="ctr"/>
            <a:r>
              <a:rPr lang="ko-KR" altLang="en-US" sz="1200" dirty="0" err="1"/>
              <a:t>정정무효</a:t>
            </a:r>
            <a:endParaRPr lang="en-US" altLang="ko-KR" sz="1200" dirty="0"/>
          </a:p>
          <a:p>
            <a:pPr algn="ctr"/>
            <a:r>
              <a:rPr lang="ko-KR" altLang="en-US" sz="1200" dirty="0"/>
              <a:t>심판청구</a:t>
            </a:r>
          </a:p>
        </p:txBody>
      </p:sp>
      <p:cxnSp>
        <p:nvCxnSpPr>
          <p:cNvPr id="71" name="직선 연결선 70"/>
          <p:cNvCxnSpPr>
            <a:stCxn id="70" idx="0"/>
            <a:endCxn id="69" idx="0"/>
          </p:cNvCxnSpPr>
          <p:nvPr/>
        </p:nvCxnSpPr>
        <p:spPr>
          <a:xfrm flipV="1">
            <a:off x="4165011" y="5525798"/>
            <a:ext cx="2911" cy="39950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2" name="Rectangle 14"/>
          <p:cNvSpPr>
            <a:spLocks noChangeArrowheads="1"/>
          </p:cNvSpPr>
          <p:nvPr/>
        </p:nvSpPr>
        <p:spPr bwMode="auto">
          <a:xfrm flipV="1">
            <a:off x="4526781" y="5372736"/>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3" name="TextBox 72"/>
          <p:cNvSpPr txBox="1"/>
          <p:nvPr/>
        </p:nvSpPr>
        <p:spPr>
          <a:xfrm>
            <a:off x="4065993" y="4896701"/>
            <a:ext cx="1058630" cy="24630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합의체 심리</a:t>
            </a:r>
          </a:p>
        </p:txBody>
      </p:sp>
      <p:cxnSp>
        <p:nvCxnSpPr>
          <p:cNvPr id="74" name="직선 연결선 73"/>
          <p:cNvCxnSpPr>
            <a:stCxn id="73" idx="2"/>
            <a:endCxn id="72" idx="4"/>
          </p:cNvCxnSpPr>
          <p:nvPr/>
        </p:nvCxnSpPr>
        <p:spPr>
          <a:xfrm>
            <a:off x="4595308" y="5143006"/>
            <a:ext cx="2911" cy="22973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4065993" y="4395807"/>
            <a:ext cx="1058630" cy="454610"/>
          </a:xfrm>
          <a:prstGeom prst="rect">
            <a:avLst/>
          </a:prstGeom>
          <a:noFill/>
          <a:ln>
            <a:solidFill>
              <a:schemeClr val="bg1">
                <a:lumMod val="50000"/>
              </a:schemeClr>
            </a:solidFill>
          </a:ln>
        </p:spPr>
        <p:txBody>
          <a:bodyPr wrap="square" rtlCol="0" anchor="ctr">
            <a:noAutofit/>
          </a:bodyPr>
          <a:lstStyle/>
          <a:p>
            <a:pPr algn="ctr"/>
            <a:r>
              <a:rPr lang="ko-KR" altLang="en-US" sz="1200" dirty="0"/>
              <a:t>甲</a:t>
            </a:r>
            <a:r>
              <a:rPr lang="en-US" altLang="ko-KR" sz="1200" dirty="0"/>
              <a:t>, </a:t>
            </a:r>
            <a:r>
              <a:rPr lang="ko-KR" altLang="en-US" sz="1200" dirty="0"/>
              <a:t>丁</a:t>
            </a:r>
            <a:r>
              <a:rPr lang="en-US" altLang="ko-KR" sz="1200" dirty="0"/>
              <a:t>, </a:t>
            </a:r>
            <a:r>
              <a:rPr lang="ko-KR" altLang="en-US" sz="1200" dirty="0"/>
              <a:t>戊</a:t>
            </a:r>
          </a:p>
        </p:txBody>
      </p:sp>
      <p:sp>
        <p:nvSpPr>
          <p:cNvPr id="76" name="타원 75"/>
          <p:cNvSpPr/>
          <p:nvPr/>
        </p:nvSpPr>
        <p:spPr>
          <a:xfrm>
            <a:off x="4201748" y="4436884"/>
            <a:ext cx="325033" cy="325033"/>
          </a:xfrm>
          <a:prstGeom prst="ellipse">
            <a:avLst/>
          </a:prstGeom>
          <a:solidFill>
            <a:srgbClr val="FF0000">
              <a:alpha val="50000"/>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7" name="TextBox 76"/>
          <p:cNvSpPr txBox="1"/>
          <p:nvPr/>
        </p:nvSpPr>
        <p:spPr>
          <a:xfrm>
            <a:off x="3330535" y="4221391"/>
            <a:ext cx="601447" cy="369332"/>
          </a:xfrm>
          <a:prstGeom prst="rect">
            <a:avLst/>
          </a:prstGeom>
          <a:noFill/>
        </p:spPr>
        <p:txBody>
          <a:bodyPr wrap="none" rtlCol="0">
            <a:spAutoFit/>
          </a:bodyPr>
          <a:lstStyle/>
          <a:p>
            <a:r>
              <a:rPr lang="ko-KR" altLang="en-US" dirty="0">
                <a:solidFill>
                  <a:srgbClr val="FF0000"/>
                </a:solidFill>
              </a:rPr>
              <a:t>교체</a:t>
            </a:r>
          </a:p>
        </p:txBody>
      </p:sp>
      <p:cxnSp>
        <p:nvCxnSpPr>
          <p:cNvPr id="78" name="직선 연결선 77"/>
          <p:cNvCxnSpPr>
            <a:stCxn id="76" idx="1"/>
            <a:endCxn id="77" idx="3"/>
          </p:cNvCxnSpPr>
          <p:nvPr/>
        </p:nvCxnSpPr>
        <p:spPr>
          <a:xfrm flipH="1" flipV="1">
            <a:off x="3931982" y="4406057"/>
            <a:ext cx="317366" cy="78427"/>
          </a:xfrm>
          <a:prstGeom prst="line">
            <a:avLst/>
          </a:prstGeom>
          <a:ln w="28575">
            <a:solidFill>
              <a:srgbClr val="FF0000"/>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0" name="Rectangle 5"/>
          <p:cNvSpPr>
            <a:spLocks noChangeArrowheads="1"/>
          </p:cNvSpPr>
          <p:nvPr/>
        </p:nvSpPr>
        <p:spPr bwMode="auto">
          <a:xfrm>
            <a:off x="6317284" y="1123104"/>
            <a:ext cx="1481140" cy="348102"/>
          </a:xfrm>
          <a:prstGeom prst="roundRect">
            <a:avLst>
              <a:gd name="adj" fmla="val 50000"/>
            </a:avLst>
          </a:prstGeom>
          <a:solidFill>
            <a:schemeClr val="accent1"/>
          </a:solidFill>
          <a:ln w="9525" algn="ctr">
            <a:noFill/>
            <a:miter lim="800000"/>
            <a:headEnd/>
            <a:tailEnd/>
          </a:ln>
        </p:spPr>
        <p:txBody>
          <a:bodyPr wrap="none" anchor="ctr"/>
          <a:lstStyle/>
          <a:p>
            <a:pPr algn="ctr"/>
            <a:r>
              <a:rPr lang="ko-KR" altLang="en-US" sz="1600" b="0" dirty="0">
                <a:solidFill>
                  <a:schemeClr val="bg1"/>
                </a:solidFill>
                <a:latin typeface="+mj-ea"/>
                <a:ea typeface="+mj-ea"/>
              </a:rPr>
              <a:t>시  기</a:t>
            </a:r>
          </a:p>
        </p:txBody>
      </p:sp>
      <p:cxnSp>
        <p:nvCxnSpPr>
          <p:cNvPr id="83" name="직선 연결선 82"/>
          <p:cNvCxnSpPr/>
          <p:nvPr/>
        </p:nvCxnSpPr>
        <p:spPr>
          <a:xfrm>
            <a:off x="6434944" y="3522559"/>
            <a:ext cx="5477409"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6339202" y="3361397"/>
            <a:ext cx="1011815" cy="32232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심판청구</a:t>
            </a:r>
          </a:p>
        </p:txBody>
      </p:sp>
      <p:sp>
        <p:nvSpPr>
          <p:cNvPr id="108" name="TextBox 107"/>
          <p:cNvSpPr txBox="1"/>
          <p:nvPr/>
        </p:nvSpPr>
        <p:spPr>
          <a:xfrm>
            <a:off x="7617902" y="3361397"/>
            <a:ext cx="1011815" cy="32232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심결</a:t>
            </a:r>
            <a:endParaRPr lang="ko-KR" altLang="en-US" sz="1200" dirty="0"/>
          </a:p>
        </p:txBody>
      </p:sp>
      <p:sp>
        <p:nvSpPr>
          <p:cNvPr id="109" name="TextBox 108"/>
          <p:cNvSpPr txBox="1"/>
          <p:nvPr/>
        </p:nvSpPr>
        <p:spPr>
          <a:xfrm>
            <a:off x="8812981" y="3361397"/>
            <a:ext cx="1011815" cy="32232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a:t>등본송달</a:t>
            </a:r>
            <a:endParaRPr lang="ko-KR" altLang="en-US" sz="1200" dirty="0"/>
          </a:p>
        </p:txBody>
      </p:sp>
      <p:sp>
        <p:nvSpPr>
          <p:cNvPr id="112" name="TextBox 111"/>
          <p:cNvSpPr txBox="1"/>
          <p:nvPr/>
        </p:nvSpPr>
        <p:spPr>
          <a:xfrm>
            <a:off x="9552591" y="2742738"/>
            <a:ext cx="1058630" cy="246305"/>
          </a:xfrm>
          <a:prstGeom prst="rect">
            <a:avLst/>
          </a:prstGeom>
          <a:noFill/>
          <a:ln>
            <a:noFill/>
          </a:ln>
        </p:spPr>
        <p:txBody>
          <a:bodyPr wrap="square" rtlCol="0" anchor="ctr">
            <a:noAutofit/>
          </a:bodyPr>
          <a:lstStyle/>
          <a:p>
            <a:pPr algn="ctr"/>
            <a:r>
              <a:rPr lang="en-US" altLang="ko-KR" sz="1200" dirty="0"/>
              <a:t>30</a:t>
            </a:r>
            <a:r>
              <a:rPr lang="ko-KR" altLang="en-US" sz="1200" dirty="0"/>
              <a:t>일</a:t>
            </a:r>
          </a:p>
        </p:txBody>
      </p:sp>
      <p:cxnSp>
        <p:nvCxnSpPr>
          <p:cNvPr id="115" name="직선 연결선 114"/>
          <p:cNvCxnSpPr/>
          <p:nvPr/>
        </p:nvCxnSpPr>
        <p:spPr>
          <a:xfrm>
            <a:off x="10657574" y="3522559"/>
            <a:ext cx="0" cy="1547301"/>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직선 화살표 연결선 125"/>
          <p:cNvCxnSpPr/>
          <p:nvPr/>
        </p:nvCxnSpPr>
        <p:spPr>
          <a:xfrm>
            <a:off x="6845109" y="4152900"/>
            <a:ext cx="1278700" cy="0"/>
          </a:xfrm>
          <a:prstGeom prst="straightConnector1">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27" name="직선 화살표 연결선 126"/>
          <p:cNvCxnSpPr/>
          <p:nvPr/>
        </p:nvCxnSpPr>
        <p:spPr>
          <a:xfrm>
            <a:off x="8123809" y="4152900"/>
            <a:ext cx="2487412" cy="0"/>
          </a:xfrm>
          <a:prstGeom prst="straightConnector1">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29" name="직선 화살표 연결선 128"/>
          <p:cNvCxnSpPr/>
          <p:nvPr/>
        </p:nvCxnSpPr>
        <p:spPr>
          <a:xfrm>
            <a:off x="10657574" y="4152900"/>
            <a:ext cx="1243706" cy="0"/>
          </a:xfrm>
          <a:prstGeom prst="straightConnector1">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1" name="TextBox 130"/>
          <p:cNvSpPr txBox="1"/>
          <p:nvPr/>
        </p:nvSpPr>
        <p:spPr>
          <a:xfrm>
            <a:off x="6967723" y="4229427"/>
            <a:ext cx="1156086" cy="307777"/>
          </a:xfrm>
          <a:prstGeom prst="rect">
            <a:avLst/>
          </a:prstGeom>
          <a:noFill/>
        </p:spPr>
        <p:txBody>
          <a:bodyPr wrap="none" rtlCol="0">
            <a:spAutoFit/>
          </a:bodyPr>
          <a:lstStyle/>
          <a:p>
            <a:r>
              <a:rPr lang="ko-KR" altLang="en-US" sz="1400" dirty="0"/>
              <a:t>제척신청시기</a:t>
            </a:r>
          </a:p>
        </p:txBody>
      </p:sp>
      <p:sp>
        <p:nvSpPr>
          <p:cNvPr id="132" name="TextBox 131"/>
          <p:cNvSpPr txBox="1"/>
          <p:nvPr/>
        </p:nvSpPr>
        <p:spPr>
          <a:xfrm>
            <a:off x="8626050" y="4229427"/>
            <a:ext cx="1479892" cy="307777"/>
          </a:xfrm>
          <a:prstGeom prst="rect">
            <a:avLst/>
          </a:prstGeom>
          <a:noFill/>
        </p:spPr>
        <p:txBody>
          <a:bodyPr wrap="none" rtlCol="0">
            <a:spAutoFit/>
          </a:bodyPr>
          <a:lstStyle/>
          <a:p>
            <a:r>
              <a:rPr lang="ko-KR" altLang="en-US" sz="1400"/>
              <a:t>심결취소소송제기</a:t>
            </a:r>
            <a:endParaRPr lang="ko-KR" altLang="en-US" sz="1400" dirty="0"/>
          </a:p>
        </p:txBody>
      </p:sp>
      <p:sp>
        <p:nvSpPr>
          <p:cNvPr id="133" name="TextBox 132"/>
          <p:cNvSpPr txBox="1"/>
          <p:nvPr/>
        </p:nvSpPr>
        <p:spPr>
          <a:xfrm>
            <a:off x="10815988" y="4229427"/>
            <a:ext cx="832279" cy="307777"/>
          </a:xfrm>
          <a:prstGeom prst="rect">
            <a:avLst/>
          </a:prstGeom>
          <a:noFill/>
        </p:spPr>
        <p:txBody>
          <a:bodyPr wrap="none" rtlCol="0">
            <a:spAutoFit/>
          </a:bodyPr>
          <a:lstStyle/>
          <a:p>
            <a:r>
              <a:rPr lang="ko-KR" altLang="en-US" sz="1400"/>
              <a:t>재심청구</a:t>
            </a:r>
            <a:endParaRPr lang="ko-KR" altLang="en-US" sz="1400" dirty="0"/>
          </a:p>
        </p:txBody>
      </p:sp>
      <p:sp>
        <p:nvSpPr>
          <p:cNvPr id="135" name="Rectangle 14"/>
          <p:cNvSpPr>
            <a:spLocks noChangeArrowheads="1"/>
          </p:cNvSpPr>
          <p:nvPr/>
        </p:nvSpPr>
        <p:spPr bwMode="auto">
          <a:xfrm flipV="1">
            <a:off x="10586137" y="344602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36" name="모서리가 둥근 사각형 설명선 135"/>
          <p:cNvSpPr/>
          <p:nvPr/>
        </p:nvSpPr>
        <p:spPr>
          <a:xfrm>
            <a:off x="11020425" y="2702620"/>
            <a:ext cx="781050" cy="405491"/>
          </a:xfrm>
          <a:prstGeom prst="wedgeRoundRectCallout">
            <a:avLst>
              <a:gd name="adj1" fmla="val -86687"/>
              <a:gd name="adj2" fmla="val 123574"/>
              <a:gd name="adj3" fmla="val 16667"/>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확정</a:t>
            </a:r>
          </a:p>
        </p:txBody>
      </p:sp>
      <p:sp>
        <p:nvSpPr>
          <p:cNvPr id="4" name="슬라이드 번호 개체 틀 3"/>
          <p:cNvSpPr>
            <a:spLocks noGrp="1"/>
          </p:cNvSpPr>
          <p:nvPr>
            <p:ph type="sldNum" sz="quarter" idx="4294967295"/>
          </p:nvPr>
        </p:nvSpPr>
        <p:spPr>
          <a:xfrm>
            <a:off x="11125200" y="0"/>
            <a:ext cx="1066800" cy="711200"/>
          </a:xfrm>
        </p:spPr>
        <p:txBody>
          <a:bodyPr/>
          <a:lstStyle/>
          <a:p>
            <a:r>
              <a:rPr lang="en-US" altLang="ko-KR"/>
              <a:t>434</a:t>
            </a:r>
            <a:endParaRPr lang="ko-KR" altLang="en-US" dirty="0"/>
          </a:p>
        </p:txBody>
      </p:sp>
    </p:spTree>
    <p:extLst>
      <p:ext uri="{BB962C8B-B14F-4D97-AF65-F5344CB8AC3E}">
        <p14:creationId xmlns:p14="http://schemas.microsoft.com/office/powerpoint/2010/main" val="840493757"/>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139</a:t>
            </a:r>
            <a:r>
              <a:rPr lang="ko-KR" altLang="en-US" dirty="0"/>
              <a:t>조</a:t>
            </a:r>
          </a:p>
        </p:txBody>
      </p:sp>
      <p:sp>
        <p:nvSpPr>
          <p:cNvPr id="3" name="텍스트 개체 틀 2"/>
          <p:cNvSpPr>
            <a:spLocks noGrp="1"/>
          </p:cNvSpPr>
          <p:nvPr>
            <p:ph type="body" sz="quarter" idx="13"/>
          </p:nvPr>
        </p:nvSpPr>
        <p:spPr/>
        <p:txBody>
          <a:bodyPr/>
          <a:lstStyle/>
          <a:p>
            <a:r>
              <a:rPr lang="ko-KR" altLang="en-US" dirty="0"/>
              <a:t>심판의 당사자</a:t>
            </a:r>
          </a:p>
        </p:txBody>
      </p:sp>
      <p:sp>
        <p:nvSpPr>
          <p:cNvPr id="4" name="TextBox 3"/>
          <p:cNvSpPr txBox="1"/>
          <p:nvPr/>
        </p:nvSpPr>
        <p:spPr>
          <a:xfrm>
            <a:off x="1685925" y="1409700"/>
            <a:ext cx="809837" cy="369332"/>
          </a:xfrm>
          <a:prstGeom prst="rect">
            <a:avLst/>
          </a:prstGeom>
          <a:solidFill>
            <a:schemeClr val="accent2"/>
          </a:solidFill>
          <a:ln>
            <a:solidFill>
              <a:schemeClr val="bg1">
                <a:lumMod val="50000"/>
              </a:schemeClr>
            </a:solidFill>
          </a:ln>
        </p:spPr>
        <p:txBody>
          <a:bodyPr wrap="square" rtlCol="0">
            <a:noAutofit/>
          </a:bodyPr>
          <a:lstStyle/>
          <a:p>
            <a:pPr algn="ctr"/>
            <a:r>
              <a:rPr lang="ko-KR" altLang="en-US" dirty="0"/>
              <a:t>출원인</a:t>
            </a:r>
          </a:p>
        </p:txBody>
      </p:sp>
      <p:sp>
        <p:nvSpPr>
          <p:cNvPr id="79" name="TextBox 78"/>
          <p:cNvSpPr txBox="1"/>
          <p:nvPr/>
        </p:nvSpPr>
        <p:spPr>
          <a:xfrm>
            <a:off x="7827783" y="1337191"/>
            <a:ext cx="809837" cy="369332"/>
          </a:xfrm>
          <a:prstGeom prst="rect">
            <a:avLst/>
          </a:prstGeom>
          <a:solidFill>
            <a:schemeClr val="accent4"/>
          </a:solidFill>
          <a:ln>
            <a:solidFill>
              <a:schemeClr val="bg1">
                <a:lumMod val="50000"/>
              </a:schemeClr>
            </a:solidFill>
          </a:ln>
        </p:spPr>
        <p:txBody>
          <a:bodyPr wrap="square" rtlCol="0">
            <a:noAutofit/>
          </a:bodyPr>
          <a:lstStyle/>
          <a:p>
            <a:pPr algn="ctr"/>
            <a:r>
              <a:rPr lang="ko-KR" altLang="en-US" dirty="0"/>
              <a:t>당사자</a:t>
            </a:r>
          </a:p>
        </p:txBody>
      </p:sp>
      <p:sp>
        <p:nvSpPr>
          <p:cNvPr id="81" name="TextBox 80"/>
          <p:cNvSpPr txBox="1"/>
          <p:nvPr/>
        </p:nvSpPr>
        <p:spPr>
          <a:xfrm>
            <a:off x="2886075" y="1409700"/>
            <a:ext cx="2857500" cy="369332"/>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400" dirty="0" err="1"/>
              <a:t>권리능력자</a:t>
            </a:r>
            <a:r>
              <a:rPr lang="ko-KR" altLang="en-US" sz="1400" dirty="0"/>
              <a:t> 中 </a:t>
            </a:r>
            <a:r>
              <a:rPr lang="ko-KR" altLang="en-US" sz="1400" dirty="0" err="1"/>
              <a:t>권리적격자</a:t>
            </a:r>
            <a:endParaRPr lang="ko-KR" altLang="en-US" sz="1400" dirty="0"/>
          </a:p>
        </p:txBody>
      </p:sp>
      <p:cxnSp>
        <p:nvCxnSpPr>
          <p:cNvPr id="12" name="직선 화살표 연결선 11"/>
          <p:cNvCxnSpPr>
            <a:stCxn id="4" idx="3"/>
            <a:endCxn id="81" idx="1"/>
          </p:cNvCxnSpPr>
          <p:nvPr/>
        </p:nvCxnSpPr>
        <p:spPr>
          <a:xfrm>
            <a:off x="2495762" y="1594366"/>
            <a:ext cx="390313"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2" name="TextBox 81"/>
          <p:cNvSpPr txBox="1"/>
          <p:nvPr/>
        </p:nvSpPr>
        <p:spPr>
          <a:xfrm>
            <a:off x="9027933" y="1337191"/>
            <a:ext cx="2857500" cy="369332"/>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400" dirty="0"/>
              <a:t>당사자능력자 中 당사자적격자</a:t>
            </a:r>
          </a:p>
        </p:txBody>
      </p:sp>
      <p:cxnSp>
        <p:nvCxnSpPr>
          <p:cNvPr id="19" name="직선 화살표 연결선 18"/>
          <p:cNvCxnSpPr>
            <a:stCxn id="79" idx="3"/>
            <a:endCxn id="82" idx="1"/>
          </p:cNvCxnSpPr>
          <p:nvPr/>
        </p:nvCxnSpPr>
        <p:spPr>
          <a:xfrm>
            <a:off x="8637620" y="1521857"/>
            <a:ext cx="390313"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0" name="모서리가 둥근 사각형 설명선 19"/>
          <p:cNvSpPr/>
          <p:nvPr/>
        </p:nvSpPr>
        <p:spPr>
          <a:xfrm>
            <a:off x="247650" y="1152525"/>
            <a:ext cx="1085850" cy="441841"/>
          </a:xfrm>
          <a:prstGeom prst="wedgeRoundRectCallout">
            <a:avLst>
              <a:gd name="adj1" fmla="val 80044"/>
              <a:gd name="adj2" fmla="val 40942"/>
              <a:gd name="adj3" fmla="val 16667"/>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실체법적</a:t>
            </a:r>
            <a:endParaRPr lang="en-US" altLang="ko-KR" sz="1200" dirty="0">
              <a:solidFill>
                <a:schemeClr val="tx1"/>
              </a:solidFill>
            </a:endParaRPr>
          </a:p>
          <a:p>
            <a:pPr algn="ctr"/>
            <a:r>
              <a:rPr lang="ko-KR" altLang="en-US" sz="1200" dirty="0">
                <a:solidFill>
                  <a:schemeClr val="tx1"/>
                </a:solidFill>
              </a:rPr>
              <a:t>측면</a:t>
            </a:r>
          </a:p>
        </p:txBody>
      </p:sp>
      <p:sp>
        <p:nvSpPr>
          <p:cNvPr id="84" name="모서리가 둥근 사각형 설명선 83"/>
          <p:cNvSpPr/>
          <p:nvPr/>
        </p:nvSpPr>
        <p:spPr>
          <a:xfrm>
            <a:off x="6410326" y="1337191"/>
            <a:ext cx="1085850" cy="441841"/>
          </a:xfrm>
          <a:prstGeom prst="wedgeRoundRectCallout">
            <a:avLst>
              <a:gd name="adj1" fmla="val 79167"/>
              <a:gd name="adj2" fmla="val -43132"/>
              <a:gd name="adj3" fmla="val 16667"/>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절차법적</a:t>
            </a:r>
            <a:endParaRPr lang="en-US" altLang="ko-KR" sz="1200" dirty="0">
              <a:solidFill>
                <a:schemeClr val="tx1"/>
              </a:solidFill>
            </a:endParaRPr>
          </a:p>
          <a:p>
            <a:pPr algn="ctr"/>
            <a:r>
              <a:rPr lang="ko-KR" altLang="en-US" sz="1200" dirty="0">
                <a:solidFill>
                  <a:schemeClr val="tx1"/>
                </a:solidFill>
              </a:rPr>
              <a:t>측면</a:t>
            </a:r>
          </a:p>
        </p:txBody>
      </p:sp>
      <p:cxnSp>
        <p:nvCxnSpPr>
          <p:cNvPr id="86" name="직선 연결선 85"/>
          <p:cNvCxnSpPr/>
          <p:nvPr/>
        </p:nvCxnSpPr>
        <p:spPr>
          <a:xfrm>
            <a:off x="6076950" y="1000125"/>
            <a:ext cx="0" cy="566517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7" name="TextBox 86"/>
          <p:cNvSpPr txBox="1"/>
          <p:nvPr/>
        </p:nvSpPr>
        <p:spPr>
          <a:xfrm>
            <a:off x="936687" y="2748177"/>
            <a:ext cx="1063563" cy="369332"/>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400" dirty="0" err="1"/>
              <a:t>권리능력자</a:t>
            </a:r>
            <a:endParaRPr lang="ko-KR" altLang="en-US" sz="1400" dirty="0"/>
          </a:p>
        </p:txBody>
      </p:sp>
      <p:sp>
        <p:nvSpPr>
          <p:cNvPr id="88" name="TextBox 87"/>
          <p:cNvSpPr txBox="1"/>
          <p:nvPr/>
        </p:nvSpPr>
        <p:spPr>
          <a:xfrm>
            <a:off x="936687" y="4274374"/>
            <a:ext cx="1063563" cy="369332"/>
          </a:xfrm>
          <a:prstGeom prst="rect">
            <a:avLst/>
          </a:prstGeom>
          <a:solidFill>
            <a:schemeClr val="accent3">
              <a:lumMod val="50000"/>
            </a:schemeClr>
          </a:solidFill>
          <a:ln>
            <a:solidFill>
              <a:schemeClr val="bg1">
                <a:lumMod val="50000"/>
              </a:schemeClr>
            </a:solidFill>
          </a:ln>
        </p:spPr>
        <p:txBody>
          <a:bodyPr wrap="square" rtlCol="0" anchor="ctr">
            <a:noAutofit/>
          </a:bodyPr>
          <a:lstStyle/>
          <a:p>
            <a:pPr algn="ctr"/>
            <a:r>
              <a:rPr lang="ko-KR" altLang="en-US" sz="1400" dirty="0" err="1">
                <a:solidFill>
                  <a:schemeClr val="bg1"/>
                </a:solidFill>
              </a:rPr>
              <a:t>권리적격자</a:t>
            </a:r>
            <a:endParaRPr lang="ko-KR" altLang="en-US" sz="1400" dirty="0">
              <a:solidFill>
                <a:schemeClr val="bg1"/>
              </a:solidFill>
            </a:endParaRPr>
          </a:p>
        </p:txBody>
      </p:sp>
      <p:sp>
        <p:nvSpPr>
          <p:cNvPr id="89" name="TextBox 88"/>
          <p:cNvSpPr txBox="1"/>
          <p:nvPr/>
        </p:nvSpPr>
        <p:spPr>
          <a:xfrm>
            <a:off x="2252768" y="2290977"/>
            <a:ext cx="1657080" cy="369332"/>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a:t>내국인</a:t>
            </a:r>
            <a:endParaRPr lang="ko-KR" altLang="en-US" sz="1400" dirty="0"/>
          </a:p>
        </p:txBody>
      </p:sp>
      <p:sp>
        <p:nvSpPr>
          <p:cNvPr id="90" name="TextBox 89"/>
          <p:cNvSpPr txBox="1"/>
          <p:nvPr/>
        </p:nvSpPr>
        <p:spPr>
          <a:xfrm>
            <a:off x="2252768" y="3043452"/>
            <a:ext cx="1657080" cy="369332"/>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a:t>외국인</a:t>
            </a:r>
            <a:endParaRPr lang="ko-KR" altLang="en-US" sz="1400" dirty="0"/>
          </a:p>
        </p:txBody>
      </p:sp>
      <p:sp>
        <p:nvSpPr>
          <p:cNvPr id="91" name="TextBox 90"/>
          <p:cNvSpPr txBox="1"/>
          <p:nvPr/>
        </p:nvSpPr>
        <p:spPr>
          <a:xfrm>
            <a:off x="4317248" y="2748177"/>
            <a:ext cx="1657080" cy="369332"/>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dirty="0" err="1"/>
              <a:t>재내자</a:t>
            </a:r>
            <a:endParaRPr lang="ko-KR" altLang="en-US" sz="1400" dirty="0"/>
          </a:p>
        </p:txBody>
      </p:sp>
      <p:sp>
        <p:nvSpPr>
          <p:cNvPr id="92" name="TextBox 91"/>
          <p:cNvSpPr txBox="1"/>
          <p:nvPr/>
        </p:nvSpPr>
        <p:spPr>
          <a:xfrm>
            <a:off x="4317248" y="3329202"/>
            <a:ext cx="1657080" cy="369332"/>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dirty="0" err="1"/>
              <a:t>재외자</a:t>
            </a:r>
            <a:endParaRPr lang="ko-KR" altLang="en-US" sz="1400" dirty="0"/>
          </a:p>
        </p:txBody>
      </p:sp>
      <p:sp>
        <p:nvSpPr>
          <p:cNvPr id="93" name="TextBox 92"/>
          <p:cNvSpPr txBox="1"/>
          <p:nvPr/>
        </p:nvSpPr>
        <p:spPr>
          <a:xfrm>
            <a:off x="2252768" y="3891231"/>
            <a:ext cx="2039072" cy="369332"/>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dirty="0"/>
              <a:t>발명자</a:t>
            </a:r>
          </a:p>
        </p:txBody>
      </p:sp>
      <p:sp>
        <p:nvSpPr>
          <p:cNvPr id="94" name="TextBox 93"/>
          <p:cNvSpPr txBox="1"/>
          <p:nvPr/>
        </p:nvSpPr>
        <p:spPr>
          <a:xfrm>
            <a:off x="2252768" y="4459040"/>
            <a:ext cx="2039072" cy="369332"/>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a:t>승계인</a:t>
            </a:r>
            <a:endParaRPr lang="ko-KR" altLang="en-US" sz="1400" dirty="0"/>
          </a:p>
        </p:txBody>
      </p:sp>
      <p:cxnSp>
        <p:nvCxnSpPr>
          <p:cNvPr id="23" name="꺾인 연결선 22"/>
          <p:cNvCxnSpPr>
            <a:stCxn id="87" idx="1"/>
            <a:endCxn id="88" idx="1"/>
          </p:cNvCxnSpPr>
          <p:nvPr/>
        </p:nvCxnSpPr>
        <p:spPr>
          <a:xfrm rot="10800000" flipV="1">
            <a:off x="936687" y="2932842"/>
            <a:ext cx="12700" cy="1526197"/>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자유형 23"/>
          <p:cNvSpPr/>
          <p:nvPr/>
        </p:nvSpPr>
        <p:spPr>
          <a:xfrm>
            <a:off x="546461" y="1781175"/>
            <a:ext cx="3663589" cy="1933575"/>
          </a:xfrm>
          <a:custGeom>
            <a:avLst/>
            <a:gdLst>
              <a:gd name="connsiteX0" fmla="*/ 190500 w 3981450"/>
              <a:gd name="connsiteY0" fmla="*/ 1933575 h 1933575"/>
              <a:gd name="connsiteX1" fmla="*/ 0 w 3981450"/>
              <a:gd name="connsiteY1" fmla="*/ 1933575 h 1933575"/>
              <a:gd name="connsiteX2" fmla="*/ 0 w 3981450"/>
              <a:gd name="connsiteY2" fmla="*/ 219075 h 1933575"/>
              <a:gd name="connsiteX3" fmla="*/ 3981450 w 3981450"/>
              <a:gd name="connsiteY3" fmla="*/ 219075 h 1933575"/>
              <a:gd name="connsiteX4" fmla="*/ 3981450 w 3981450"/>
              <a:gd name="connsiteY4" fmla="*/ 0 h 1933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450" h="1933575">
                <a:moveTo>
                  <a:pt x="190500" y="1933575"/>
                </a:moveTo>
                <a:lnTo>
                  <a:pt x="0" y="1933575"/>
                </a:lnTo>
                <a:lnTo>
                  <a:pt x="0" y="219075"/>
                </a:lnTo>
                <a:lnTo>
                  <a:pt x="3981450" y="219075"/>
                </a:lnTo>
                <a:lnTo>
                  <a:pt x="3981450" y="0"/>
                </a:lnTo>
              </a:path>
            </a:pathLst>
          </a:cu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6" name="꺾인 연결선 25"/>
          <p:cNvCxnSpPr>
            <a:stCxn id="87" idx="3"/>
            <a:endCxn id="89" idx="1"/>
          </p:cNvCxnSpPr>
          <p:nvPr/>
        </p:nvCxnSpPr>
        <p:spPr>
          <a:xfrm flipV="1">
            <a:off x="2000250" y="2475643"/>
            <a:ext cx="252518" cy="4572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꺾인 연결선 32"/>
          <p:cNvCxnSpPr>
            <a:stCxn id="87" idx="3"/>
            <a:endCxn id="90" idx="1"/>
          </p:cNvCxnSpPr>
          <p:nvPr/>
        </p:nvCxnSpPr>
        <p:spPr>
          <a:xfrm>
            <a:off x="2000250" y="2932843"/>
            <a:ext cx="252518" cy="29527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90" idx="3"/>
            <a:endCxn id="91" idx="1"/>
          </p:cNvCxnSpPr>
          <p:nvPr/>
        </p:nvCxnSpPr>
        <p:spPr>
          <a:xfrm flipV="1">
            <a:off x="3909848" y="2932843"/>
            <a:ext cx="407400" cy="295275"/>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90" idx="3"/>
            <a:endCxn id="92" idx="1"/>
          </p:cNvCxnSpPr>
          <p:nvPr/>
        </p:nvCxnSpPr>
        <p:spPr>
          <a:xfrm>
            <a:off x="3909848" y="3228118"/>
            <a:ext cx="407400" cy="285750"/>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꺾인 연결선 51"/>
          <p:cNvCxnSpPr>
            <a:cxnSpLocks/>
            <a:stCxn id="88" idx="3"/>
            <a:endCxn id="93" idx="1"/>
          </p:cNvCxnSpPr>
          <p:nvPr/>
        </p:nvCxnSpPr>
        <p:spPr>
          <a:xfrm flipV="1">
            <a:off x="2000250" y="4075897"/>
            <a:ext cx="252518" cy="38314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꺾인 연결선 67"/>
          <p:cNvCxnSpPr>
            <a:cxnSpLocks/>
            <a:stCxn id="88" idx="3"/>
            <a:endCxn id="94" idx="1"/>
          </p:cNvCxnSpPr>
          <p:nvPr/>
        </p:nvCxnSpPr>
        <p:spPr>
          <a:xfrm>
            <a:off x="2000250" y="4459040"/>
            <a:ext cx="252518" cy="18466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7" name="TextBox 116"/>
          <p:cNvSpPr txBox="1"/>
          <p:nvPr/>
        </p:nvSpPr>
        <p:spPr>
          <a:xfrm>
            <a:off x="6657975" y="2748177"/>
            <a:ext cx="1328781" cy="369332"/>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400" dirty="0"/>
              <a:t>당사자능력자</a:t>
            </a:r>
          </a:p>
        </p:txBody>
      </p:sp>
      <p:sp>
        <p:nvSpPr>
          <p:cNvPr id="118" name="TextBox 117"/>
          <p:cNvSpPr txBox="1"/>
          <p:nvPr/>
        </p:nvSpPr>
        <p:spPr>
          <a:xfrm>
            <a:off x="6657975" y="3338299"/>
            <a:ext cx="1328781" cy="369332"/>
          </a:xfrm>
          <a:prstGeom prst="rect">
            <a:avLst/>
          </a:prstGeom>
          <a:solidFill>
            <a:schemeClr val="accent3">
              <a:lumMod val="50000"/>
            </a:schemeClr>
          </a:solidFill>
          <a:ln>
            <a:solidFill>
              <a:schemeClr val="bg1">
                <a:lumMod val="50000"/>
              </a:schemeClr>
            </a:solidFill>
          </a:ln>
        </p:spPr>
        <p:txBody>
          <a:bodyPr wrap="square" rtlCol="0" anchor="ctr">
            <a:noAutofit/>
          </a:bodyPr>
          <a:lstStyle/>
          <a:p>
            <a:pPr algn="ctr"/>
            <a:r>
              <a:rPr lang="ko-KR" altLang="en-US" sz="1400" dirty="0">
                <a:solidFill>
                  <a:schemeClr val="bg1"/>
                </a:solidFill>
              </a:rPr>
              <a:t>당자자적격자</a:t>
            </a:r>
          </a:p>
        </p:txBody>
      </p:sp>
      <p:sp>
        <p:nvSpPr>
          <p:cNvPr id="119" name="TextBox 118"/>
          <p:cNvSpPr txBox="1"/>
          <p:nvPr/>
        </p:nvSpPr>
        <p:spPr>
          <a:xfrm>
            <a:off x="8111987" y="2747962"/>
            <a:ext cx="3394213" cy="369332"/>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dirty="0" err="1"/>
              <a:t>권리능력자</a:t>
            </a:r>
            <a:r>
              <a:rPr lang="ko-KR" altLang="en-US" sz="1400" dirty="0"/>
              <a:t> </a:t>
            </a:r>
            <a:r>
              <a:rPr lang="en-US" altLang="ko-KR" sz="1400" dirty="0"/>
              <a:t>+ </a:t>
            </a:r>
            <a:r>
              <a:rPr lang="ko-KR" altLang="en-US" sz="1400" dirty="0"/>
              <a:t>비법인 사단</a:t>
            </a:r>
            <a:r>
              <a:rPr lang="en-US" altLang="ko-KR" sz="1400" dirty="0"/>
              <a:t>/</a:t>
            </a:r>
            <a:r>
              <a:rPr lang="ko-KR" altLang="en-US" sz="1400" dirty="0"/>
              <a:t>재단</a:t>
            </a:r>
            <a:r>
              <a:rPr lang="en-US" altLang="ko-KR" sz="1400" dirty="0"/>
              <a:t>(</a:t>
            </a:r>
            <a:r>
              <a:rPr lang="ko-KR" altLang="en-US" sz="1400" dirty="0"/>
              <a:t>法 </a:t>
            </a:r>
            <a:r>
              <a:rPr lang="en-US" altLang="ko-KR" sz="1400" dirty="0"/>
              <a:t>4)</a:t>
            </a:r>
            <a:endParaRPr lang="ko-KR" altLang="en-US" sz="1400" dirty="0"/>
          </a:p>
        </p:txBody>
      </p:sp>
      <p:cxnSp>
        <p:nvCxnSpPr>
          <p:cNvPr id="130" name="꺾인 연결선 129"/>
          <p:cNvCxnSpPr>
            <a:stCxn id="117" idx="1"/>
            <a:endCxn id="118" idx="1"/>
          </p:cNvCxnSpPr>
          <p:nvPr/>
        </p:nvCxnSpPr>
        <p:spPr>
          <a:xfrm rot="10800000" flipV="1">
            <a:off x="6657975" y="2932843"/>
            <a:ext cx="12700" cy="590122"/>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stCxn id="117" idx="3"/>
            <a:endCxn id="119" idx="1"/>
          </p:cNvCxnSpPr>
          <p:nvPr/>
        </p:nvCxnSpPr>
        <p:spPr>
          <a:xfrm flipV="1">
            <a:off x="7986756" y="2932628"/>
            <a:ext cx="125231" cy="215"/>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5" name="TextBox 144"/>
          <p:cNvSpPr txBox="1"/>
          <p:nvPr/>
        </p:nvSpPr>
        <p:spPr>
          <a:xfrm>
            <a:off x="936687" y="5788893"/>
            <a:ext cx="1063563" cy="369332"/>
          </a:xfrm>
          <a:prstGeom prst="rect">
            <a:avLst/>
          </a:prstGeom>
          <a:solidFill>
            <a:schemeClr val="accent5"/>
          </a:solidFill>
          <a:ln>
            <a:solidFill>
              <a:schemeClr val="bg1">
                <a:lumMod val="50000"/>
              </a:schemeClr>
            </a:solidFill>
          </a:ln>
        </p:spPr>
        <p:txBody>
          <a:bodyPr wrap="square" rtlCol="0" anchor="ctr">
            <a:noAutofit/>
          </a:bodyPr>
          <a:lstStyle/>
          <a:p>
            <a:pPr algn="ctr"/>
            <a:r>
              <a:rPr lang="ko-KR" altLang="en-US" sz="1400" dirty="0">
                <a:solidFill>
                  <a:schemeClr val="bg1"/>
                </a:solidFill>
              </a:rPr>
              <a:t>복수 출원인</a:t>
            </a:r>
          </a:p>
        </p:txBody>
      </p:sp>
      <p:sp>
        <p:nvSpPr>
          <p:cNvPr id="148" name="TextBox 147"/>
          <p:cNvSpPr txBox="1"/>
          <p:nvPr/>
        </p:nvSpPr>
        <p:spPr>
          <a:xfrm>
            <a:off x="6657975" y="3864120"/>
            <a:ext cx="1328781" cy="369332"/>
          </a:xfrm>
          <a:prstGeom prst="rect">
            <a:avLst/>
          </a:prstGeom>
          <a:solidFill>
            <a:schemeClr val="accent5"/>
          </a:solidFill>
          <a:ln>
            <a:solidFill>
              <a:schemeClr val="bg1">
                <a:lumMod val="50000"/>
              </a:schemeClr>
            </a:solidFill>
          </a:ln>
        </p:spPr>
        <p:txBody>
          <a:bodyPr wrap="square" rtlCol="0" anchor="ctr">
            <a:noAutofit/>
          </a:bodyPr>
          <a:lstStyle/>
          <a:p>
            <a:pPr algn="ctr"/>
            <a:r>
              <a:rPr lang="ko-KR" altLang="en-US" sz="1400" dirty="0">
                <a:solidFill>
                  <a:schemeClr val="bg1"/>
                </a:solidFill>
              </a:rPr>
              <a:t>복수 당사자</a:t>
            </a:r>
          </a:p>
        </p:txBody>
      </p:sp>
      <p:cxnSp>
        <p:nvCxnSpPr>
          <p:cNvPr id="155" name="꺾인 연결선 154"/>
          <p:cNvCxnSpPr>
            <a:stCxn id="148" idx="1"/>
            <a:endCxn id="117" idx="1"/>
          </p:cNvCxnSpPr>
          <p:nvPr/>
        </p:nvCxnSpPr>
        <p:spPr>
          <a:xfrm rot="10800000">
            <a:off x="6657975" y="2932844"/>
            <a:ext cx="12700" cy="1115943"/>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7" name="꺾인 연결선 156"/>
          <p:cNvCxnSpPr>
            <a:stCxn id="87" idx="1"/>
            <a:endCxn id="145" idx="1"/>
          </p:cNvCxnSpPr>
          <p:nvPr/>
        </p:nvCxnSpPr>
        <p:spPr>
          <a:xfrm rot="10800000" flipV="1">
            <a:off x="936687" y="2932843"/>
            <a:ext cx="12700" cy="3040716"/>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0" name="직사각형 159"/>
          <p:cNvSpPr/>
          <p:nvPr/>
        </p:nvSpPr>
        <p:spPr>
          <a:xfrm>
            <a:off x="8341567" y="4464358"/>
            <a:ext cx="1352095"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a:t>
            </a:r>
            <a:r>
              <a:rPr lang="en-US" altLang="ko-KR" sz="1000" dirty="0">
                <a:solidFill>
                  <a:schemeClr val="tx1"/>
                </a:solidFill>
              </a:rPr>
              <a:t>, </a:t>
            </a:r>
            <a:r>
              <a:rPr lang="ko-KR" altLang="en-US" sz="1000" dirty="0">
                <a:solidFill>
                  <a:schemeClr val="tx1"/>
                </a:solidFill>
              </a:rPr>
              <a:t>심판청구 및 소송</a:t>
            </a:r>
          </a:p>
        </p:txBody>
      </p:sp>
      <p:sp>
        <p:nvSpPr>
          <p:cNvPr id="161" name="직사각형 160"/>
          <p:cNvSpPr/>
          <p:nvPr/>
        </p:nvSpPr>
        <p:spPr>
          <a:xfrm>
            <a:off x="8341567" y="5799149"/>
            <a:ext cx="1352095"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그 밖의 절차</a:t>
            </a:r>
          </a:p>
        </p:txBody>
      </p:sp>
      <p:sp>
        <p:nvSpPr>
          <p:cNvPr id="162" name="직사각형 161"/>
          <p:cNvSpPr/>
          <p:nvPr/>
        </p:nvSpPr>
        <p:spPr>
          <a:xfrm>
            <a:off x="9964607" y="4464358"/>
            <a:ext cx="170569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출원</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44, 90, 92</a:t>
            </a:r>
            <a:r>
              <a:rPr lang="ko-KR" altLang="en-US" sz="1000" dirty="0">
                <a:solidFill>
                  <a:schemeClr val="tx1"/>
                </a:solidFill>
              </a:rPr>
              <a:t>의</a:t>
            </a:r>
            <a:r>
              <a:rPr lang="en-US" altLang="ko-KR" sz="1000" dirty="0">
                <a:solidFill>
                  <a:schemeClr val="tx1"/>
                </a:solidFill>
              </a:rPr>
              <a:t>3)</a:t>
            </a:r>
            <a:endParaRPr lang="ko-KR" altLang="en-US" sz="1000" dirty="0">
              <a:solidFill>
                <a:schemeClr val="tx1"/>
              </a:solidFill>
            </a:endParaRPr>
          </a:p>
        </p:txBody>
      </p:sp>
      <p:sp>
        <p:nvSpPr>
          <p:cNvPr id="163" name="직사각형 162"/>
          <p:cNvSpPr/>
          <p:nvPr/>
        </p:nvSpPr>
        <p:spPr>
          <a:xfrm>
            <a:off x="9964607" y="4819419"/>
            <a:ext cx="170569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심판청구</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139)</a:t>
            </a:r>
            <a:endParaRPr lang="ko-KR" altLang="en-US" sz="1000" dirty="0">
              <a:solidFill>
                <a:schemeClr val="tx1"/>
              </a:solidFill>
            </a:endParaRPr>
          </a:p>
        </p:txBody>
      </p:sp>
      <p:sp>
        <p:nvSpPr>
          <p:cNvPr id="164" name="직사각형 163"/>
          <p:cNvSpPr/>
          <p:nvPr/>
        </p:nvSpPr>
        <p:spPr>
          <a:xfrm>
            <a:off x="9964607" y="5799149"/>
            <a:ext cx="170569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대표자 </a:t>
            </a:r>
            <a:r>
              <a:rPr lang="ko-KR" altLang="en-US" sz="1000" dirty="0" err="1">
                <a:solidFill>
                  <a:schemeClr val="tx1"/>
                </a:solidFill>
              </a:rPr>
              <a:t>不선정</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11①</a:t>
            </a:r>
            <a:r>
              <a:rPr lang="ko-KR" altLang="en-US" sz="1000" dirty="0">
                <a:solidFill>
                  <a:schemeClr val="tx1"/>
                </a:solidFill>
              </a:rPr>
              <a:t>본문</a:t>
            </a:r>
            <a:r>
              <a:rPr lang="en-US" altLang="ko-KR" sz="1000" dirty="0">
                <a:solidFill>
                  <a:schemeClr val="tx1"/>
                </a:solidFill>
              </a:rPr>
              <a:t>)</a:t>
            </a:r>
            <a:endParaRPr lang="ko-KR" altLang="en-US" sz="1000" dirty="0">
              <a:solidFill>
                <a:schemeClr val="tx1"/>
              </a:solidFill>
            </a:endParaRPr>
          </a:p>
        </p:txBody>
      </p:sp>
      <p:sp>
        <p:nvSpPr>
          <p:cNvPr id="165" name="직사각형 164"/>
          <p:cNvSpPr/>
          <p:nvPr/>
        </p:nvSpPr>
        <p:spPr>
          <a:xfrm>
            <a:off x="9964607" y="6154210"/>
            <a:ext cx="170569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대표자 선정</a:t>
            </a:r>
            <a:r>
              <a:rPr lang="en-US" altLang="ko-KR" sz="1000" dirty="0">
                <a:solidFill>
                  <a:schemeClr val="tx1"/>
                </a:solidFill>
              </a:rPr>
              <a:t>(</a:t>
            </a:r>
            <a:r>
              <a:rPr lang="ko-KR" altLang="en-US" sz="1000" dirty="0">
                <a:solidFill>
                  <a:schemeClr val="tx1"/>
                </a:solidFill>
              </a:rPr>
              <a:t>法 </a:t>
            </a:r>
            <a:r>
              <a:rPr lang="en-US" altLang="ko-KR" sz="1000" dirty="0">
                <a:solidFill>
                  <a:schemeClr val="tx1"/>
                </a:solidFill>
              </a:rPr>
              <a:t>11①</a:t>
            </a:r>
            <a:r>
              <a:rPr lang="ko-KR" altLang="en-US" sz="1000" dirty="0">
                <a:solidFill>
                  <a:schemeClr val="tx1"/>
                </a:solidFill>
              </a:rPr>
              <a:t>단서</a:t>
            </a:r>
            <a:r>
              <a:rPr lang="en-US" altLang="ko-KR" sz="1000" dirty="0">
                <a:solidFill>
                  <a:schemeClr val="tx1"/>
                </a:solidFill>
              </a:rPr>
              <a:t>)</a:t>
            </a:r>
            <a:endParaRPr lang="ko-KR" altLang="en-US" sz="1000" dirty="0">
              <a:solidFill>
                <a:schemeClr val="tx1"/>
              </a:solidFill>
            </a:endParaRPr>
          </a:p>
        </p:txBody>
      </p:sp>
      <p:sp>
        <p:nvSpPr>
          <p:cNvPr id="166" name="직사각형 165"/>
          <p:cNvSpPr/>
          <p:nvPr/>
        </p:nvSpPr>
        <p:spPr>
          <a:xfrm>
            <a:off x="8111987" y="3994732"/>
            <a:ext cx="3928533" cy="275137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endParaRPr lang="en-US" altLang="ko-KR" dirty="0">
              <a:solidFill>
                <a:schemeClr val="accent2">
                  <a:lumMod val="50000"/>
                </a:schemeClr>
              </a:solidFill>
            </a:endParaRPr>
          </a:p>
        </p:txBody>
      </p:sp>
      <p:cxnSp>
        <p:nvCxnSpPr>
          <p:cNvPr id="167" name="꺾인 연결선 166"/>
          <p:cNvCxnSpPr>
            <a:cxnSpLocks/>
            <a:stCxn id="160" idx="1"/>
            <a:endCxn id="161" idx="1"/>
          </p:cNvCxnSpPr>
          <p:nvPr/>
        </p:nvCxnSpPr>
        <p:spPr>
          <a:xfrm rot="10800000" flipV="1">
            <a:off x="8341567" y="4588957"/>
            <a:ext cx="12700" cy="1334791"/>
          </a:xfrm>
          <a:prstGeom prst="bentConnector3">
            <a:avLst>
              <a:gd name="adj1" fmla="val 113878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8" name="꺾인 연결선 167"/>
          <p:cNvCxnSpPr>
            <a:cxnSpLocks/>
            <a:stCxn id="160" idx="3"/>
            <a:endCxn id="162" idx="1"/>
          </p:cNvCxnSpPr>
          <p:nvPr/>
        </p:nvCxnSpPr>
        <p:spPr>
          <a:xfrm>
            <a:off x="9693662" y="4588958"/>
            <a:ext cx="270945" cy="127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9" name="꺾인 연결선 168"/>
          <p:cNvCxnSpPr>
            <a:cxnSpLocks/>
            <a:stCxn id="160" idx="3"/>
            <a:endCxn id="163" idx="1"/>
          </p:cNvCxnSpPr>
          <p:nvPr/>
        </p:nvCxnSpPr>
        <p:spPr>
          <a:xfrm>
            <a:off x="9693662" y="4588958"/>
            <a:ext cx="270945" cy="35506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꺾인 연결선 169"/>
          <p:cNvCxnSpPr>
            <a:cxnSpLocks/>
            <a:stCxn id="161" idx="3"/>
            <a:endCxn id="164" idx="1"/>
          </p:cNvCxnSpPr>
          <p:nvPr/>
        </p:nvCxnSpPr>
        <p:spPr>
          <a:xfrm>
            <a:off x="9693662" y="5923749"/>
            <a:ext cx="270945" cy="127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꺾인 연결선 170"/>
          <p:cNvCxnSpPr>
            <a:cxnSpLocks/>
            <a:stCxn id="161" idx="3"/>
            <a:endCxn id="165" idx="1"/>
          </p:cNvCxnSpPr>
          <p:nvPr/>
        </p:nvCxnSpPr>
        <p:spPr>
          <a:xfrm>
            <a:off x="9693662" y="5923749"/>
            <a:ext cx="270945" cy="35506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직선 화살표 연결선 172"/>
          <p:cNvCxnSpPr>
            <a:stCxn id="145" idx="3"/>
          </p:cNvCxnSpPr>
          <p:nvPr/>
        </p:nvCxnSpPr>
        <p:spPr>
          <a:xfrm>
            <a:off x="2000250" y="5973559"/>
            <a:ext cx="6111737"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5" name="꺾인 연결선 174"/>
          <p:cNvCxnSpPr>
            <a:stCxn id="148" idx="2"/>
            <a:endCxn id="166" idx="1"/>
          </p:cNvCxnSpPr>
          <p:nvPr/>
        </p:nvCxnSpPr>
        <p:spPr>
          <a:xfrm rot="16200000" flipH="1">
            <a:off x="7148693" y="4407124"/>
            <a:ext cx="1136967" cy="789621"/>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435</a:t>
            </a:r>
            <a:endParaRPr lang="ko-KR" altLang="en-US" dirty="0"/>
          </a:p>
        </p:txBody>
      </p:sp>
      <p:sp>
        <p:nvSpPr>
          <p:cNvPr id="54" name="TextBox 53"/>
          <p:cNvSpPr txBox="1"/>
          <p:nvPr/>
        </p:nvSpPr>
        <p:spPr>
          <a:xfrm>
            <a:off x="2252768" y="5017220"/>
            <a:ext cx="2039076" cy="369332"/>
          </a:xfrm>
          <a:prstGeom prst="rect">
            <a:avLst/>
          </a:prstGeom>
          <a:solidFill>
            <a:schemeClr val="bg1"/>
          </a:solidFill>
          <a:ln>
            <a:solidFill>
              <a:schemeClr val="bg1">
                <a:lumMod val="50000"/>
              </a:schemeClr>
            </a:solidFill>
          </a:ln>
        </p:spPr>
        <p:txBody>
          <a:bodyPr wrap="square" rtlCol="0" anchor="ctr">
            <a:noAutofit/>
          </a:bodyPr>
          <a:lstStyle/>
          <a:p>
            <a:pPr algn="ctr"/>
            <a:r>
              <a:rPr lang="ko-KR" altLang="en-US" sz="1400" dirty="0"/>
              <a:t>지식재산처</a:t>
            </a:r>
            <a:r>
              <a:rPr lang="en-US" altLang="ko-KR" sz="1400" dirty="0"/>
              <a:t>/</a:t>
            </a:r>
            <a:r>
              <a:rPr lang="ko-KR" altLang="en-US" sz="1400" dirty="0"/>
              <a:t>심판원 직원</a:t>
            </a:r>
          </a:p>
        </p:txBody>
      </p:sp>
      <p:cxnSp>
        <p:nvCxnSpPr>
          <p:cNvPr id="64" name="꺾인 연결선 63"/>
          <p:cNvCxnSpPr>
            <a:cxnSpLocks/>
            <a:stCxn id="88" idx="3"/>
            <a:endCxn id="54" idx="1"/>
          </p:cNvCxnSpPr>
          <p:nvPr/>
        </p:nvCxnSpPr>
        <p:spPr>
          <a:xfrm>
            <a:off x="2000250" y="4459040"/>
            <a:ext cx="252518" cy="742846"/>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직사각형 55">
            <a:extLst>
              <a:ext uri="{FF2B5EF4-FFF2-40B4-BE49-F238E27FC236}">
                <a16:creationId xmlns:a16="http://schemas.microsoft.com/office/drawing/2014/main" id="{2D7172C9-1F43-457A-9066-8BAA7937D22E}"/>
              </a:ext>
            </a:extLst>
          </p:cNvPr>
          <p:cNvSpPr/>
          <p:nvPr/>
        </p:nvSpPr>
        <p:spPr>
          <a:xfrm>
            <a:off x="9964607" y="5194889"/>
            <a:ext cx="1705690" cy="249199"/>
          </a:xfrm>
          <a:prstGeom prst="rect">
            <a:avLst/>
          </a:prstGeom>
          <a:solidFill>
            <a:schemeClr val="bg1">
              <a:lumMod val="95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solidFill>
                  <a:schemeClr val="tx1"/>
                </a:solidFill>
              </a:rPr>
              <a:t>소송</a:t>
            </a:r>
          </a:p>
        </p:txBody>
      </p:sp>
      <p:cxnSp>
        <p:nvCxnSpPr>
          <p:cNvPr id="57" name="꺾인 연결선 168">
            <a:extLst>
              <a:ext uri="{FF2B5EF4-FFF2-40B4-BE49-F238E27FC236}">
                <a16:creationId xmlns:a16="http://schemas.microsoft.com/office/drawing/2014/main" id="{8C6021F3-07E4-4057-BF7F-4EB5018355E3}"/>
              </a:ext>
            </a:extLst>
          </p:cNvPr>
          <p:cNvCxnSpPr>
            <a:cxnSpLocks/>
            <a:stCxn id="160" idx="3"/>
            <a:endCxn id="56" idx="1"/>
          </p:cNvCxnSpPr>
          <p:nvPr/>
        </p:nvCxnSpPr>
        <p:spPr>
          <a:xfrm>
            <a:off x="9693662" y="4588958"/>
            <a:ext cx="270945" cy="730531"/>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6077284"/>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139</a:t>
            </a:r>
            <a:r>
              <a:rPr lang="ko-KR" altLang="en-US" dirty="0"/>
              <a:t>조</a:t>
            </a:r>
          </a:p>
        </p:txBody>
      </p:sp>
      <p:sp>
        <p:nvSpPr>
          <p:cNvPr id="3" name="텍스트 개체 틀 2"/>
          <p:cNvSpPr>
            <a:spLocks noGrp="1"/>
          </p:cNvSpPr>
          <p:nvPr>
            <p:ph type="body" sz="quarter" idx="13"/>
          </p:nvPr>
        </p:nvSpPr>
        <p:spPr/>
        <p:txBody>
          <a:bodyPr/>
          <a:lstStyle/>
          <a:p>
            <a:r>
              <a:rPr lang="ko-KR" altLang="en-US" dirty="0"/>
              <a:t>심판의 당사자 中 당사자적격자</a:t>
            </a:r>
          </a:p>
        </p:txBody>
      </p:sp>
      <p:graphicFrame>
        <p:nvGraphicFramePr>
          <p:cNvPr id="53" name="표 52"/>
          <p:cNvGraphicFramePr>
            <a:graphicFrameLocks noGrp="1"/>
          </p:cNvGraphicFramePr>
          <p:nvPr/>
        </p:nvGraphicFramePr>
        <p:xfrm>
          <a:off x="335360" y="1143318"/>
          <a:ext cx="11521280" cy="5398614"/>
        </p:xfrm>
        <a:graphic>
          <a:graphicData uri="http://schemas.openxmlformats.org/drawingml/2006/table">
            <a:tbl>
              <a:tblPr>
                <a:tableStyleId>{8799B23B-EC83-4686-B30A-512413B5E67A}</a:tableStyleId>
              </a:tblPr>
              <a:tblGrid>
                <a:gridCol w="978649">
                  <a:extLst>
                    <a:ext uri="{9D8B030D-6E8A-4147-A177-3AD203B41FA5}">
                      <a16:colId xmlns:a16="http://schemas.microsoft.com/office/drawing/2014/main" val="20000"/>
                    </a:ext>
                  </a:extLst>
                </a:gridCol>
                <a:gridCol w="1613639">
                  <a:extLst>
                    <a:ext uri="{9D8B030D-6E8A-4147-A177-3AD203B41FA5}">
                      <a16:colId xmlns:a16="http://schemas.microsoft.com/office/drawing/2014/main" val="20001"/>
                    </a:ext>
                  </a:extLst>
                </a:gridCol>
                <a:gridCol w="4378027">
                  <a:extLst>
                    <a:ext uri="{9D8B030D-6E8A-4147-A177-3AD203B41FA5}">
                      <a16:colId xmlns:a16="http://schemas.microsoft.com/office/drawing/2014/main" val="20002"/>
                    </a:ext>
                  </a:extLst>
                </a:gridCol>
                <a:gridCol w="4550965">
                  <a:extLst>
                    <a:ext uri="{9D8B030D-6E8A-4147-A177-3AD203B41FA5}">
                      <a16:colId xmlns:a16="http://schemas.microsoft.com/office/drawing/2014/main" val="20003"/>
                    </a:ext>
                  </a:extLst>
                </a:gridCol>
              </a:tblGrid>
              <a:tr h="384049">
                <a:tc gridSpan="2">
                  <a:txBody>
                    <a:bodyPr/>
                    <a:lstStyle/>
                    <a:p>
                      <a:pPr marL="0" marR="0" algn="ctr">
                        <a:lnSpc>
                          <a:spcPct val="130000"/>
                        </a:lnSpc>
                        <a:spcBef>
                          <a:spcPts val="0"/>
                        </a:spcBef>
                        <a:spcAft>
                          <a:spcPts val="0"/>
                        </a:spcAft>
                      </a:pPr>
                      <a:r>
                        <a:rPr lang="ko-KR" altLang="en-US" sz="1200" dirty="0">
                          <a:effectLst/>
                        </a:rPr>
                        <a:t>구 분</a:t>
                      </a:r>
                      <a:endParaRPr lang="ko-KR" altLang="en-US" sz="1200" dirty="0">
                        <a:solidFill>
                          <a:srgbClr val="000000"/>
                        </a:solidFill>
                        <a:effectLst/>
                        <a:latin typeface="+mn-ea"/>
                        <a:ea typeface="+mn-ea"/>
                      </a:endParaRPr>
                    </a:p>
                  </a:txBody>
                  <a:tcPr marL="72000" marR="72000" marT="17907" marB="17907" anchor="ctr">
                    <a:solidFill>
                      <a:schemeClr val="accent1">
                        <a:lumMod val="20000"/>
                        <a:lumOff val="80000"/>
                      </a:schemeClr>
                    </a:solidFill>
                  </a:tcPr>
                </a:tc>
                <a:tc hMerge="1">
                  <a:txBody>
                    <a:bodyPr/>
                    <a:lstStyle/>
                    <a:p>
                      <a:pPr latinLnBrk="1"/>
                      <a:endParaRPr lang="ko-KR" altLang="en-US"/>
                    </a:p>
                  </a:txBody>
                  <a:tcPr/>
                </a:tc>
                <a:tc>
                  <a:txBody>
                    <a:bodyPr/>
                    <a:lstStyle/>
                    <a:p>
                      <a:pPr marL="0" marR="0" algn="ctr">
                        <a:lnSpc>
                          <a:spcPct val="130000"/>
                        </a:lnSpc>
                        <a:spcBef>
                          <a:spcPts val="0"/>
                        </a:spcBef>
                        <a:spcAft>
                          <a:spcPts val="0"/>
                        </a:spcAft>
                      </a:pPr>
                      <a:r>
                        <a:rPr lang="ko-KR" altLang="en-US" sz="1200" dirty="0">
                          <a:effectLst/>
                        </a:rPr>
                        <a:t>청구인</a:t>
                      </a:r>
                      <a:endParaRPr lang="ko-KR" altLang="en-US" sz="1200" dirty="0">
                        <a:solidFill>
                          <a:srgbClr val="000000"/>
                        </a:solidFill>
                        <a:effectLst/>
                        <a:latin typeface="+mn-ea"/>
                        <a:ea typeface="+mn-ea"/>
                      </a:endParaRPr>
                    </a:p>
                  </a:txBody>
                  <a:tcPr marL="72000" marR="72000" marT="17907" marB="17907" anchor="ctr">
                    <a:solidFill>
                      <a:schemeClr val="accent1">
                        <a:lumMod val="20000"/>
                        <a:lumOff val="80000"/>
                      </a:schemeClr>
                    </a:solidFill>
                  </a:tcPr>
                </a:tc>
                <a:tc>
                  <a:txBody>
                    <a:bodyPr/>
                    <a:lstStyle/>
                    <a:p>
                      <a:pPr marL="0" marR="0" algn="ctr">
                        <a:lnSpc>
                          <a:spcPct val="130000"/>
                        </a:lnSpc>
                        <a:spcBef>
                          <a:spcPts val="0"/>
                        </a:spcBef>
                        <a:spcAft>
                          <a:spcPts val="0"/>
                        </a:spcAft>
                      </a:pPr>
                      <a:r>
                        <a:rPr lang="ko-KR" altLang="en-US" sz="1200" dirty="0">
                          <a:effectLst/>
                        </a:rPr>
                        <a:t>피청구인</a:t>
                      </a:r>
                      <a:endParaRPr lang="ko-KR" altLang="en-US" sz="1200" dirty="0">
                        <a:solidFill>
                          <a:srgbClr val="000000"/>
                        </a:solidFill>
                        <a:effectLst/>
                        <a:latin typeface="+mn-ea"/>
                        <a:ea typeface="+mn-ea"/>
                      </a:endParaRPr>
                    </a:p>
                  </a:txBody>
                  <a:tcPr marL="72000" marR="72000" marT="17907" marB="17907" anchor="ctr">
                    <a:solidFill>
                      <a:schemeClr val="accent1">
                        <a:lumMod val="20000"/>
                        <a:lumOff val="80000"/>
                      </a:schemeClr>
                    </a:solidFill>
                  </a:tcPr>
                </a:tc>
                <a:extLst>
                  <a:ext uri="{0D108BD9-81ED-4DB2-BD59-A6C34878D82A}">
                    <a16:rowId xmlns:a16="http://schemas.microsoft.com/office/drawing/2014/main" val="10000"/>
                  </a:ext>
                </a:extLst>
              </a:tr>
              <a:tr h="384049">
                <a:tc gridSpan="2">
                  <a:txBody>
                    <a:bodyPr/>
                    <a:lstStyle/>
                    <a:p>
                      <a:pPr marL="0" marR="0" algn="ctr">
                        <a:lnSpc>
                          <a:spcPct val="130000"/>
                        </a:lnSpc>
                        <a:spcBef>
                          <a:spcPts val="0"/>
                        </a:spcBef>
                        <a:spcAft>
                          <a:spcPts val="0"/>
                        </a:spcAft>
                      </a:pPr>
                      <a:r>
                        <a:rPr lang="ko-KR" altLang="en-US" sz="1200" dirty="0">
                          <a:effectLst/>
                        </a:rPr>
                        <a:t>거절결정불복심판</a:t>
                      </a:r>
                      <a:r>
                        <a:rPr lang="en-US" altLang="ko-KR" sz="1200" dirty="0">
                          <a:effectLst/>
                        </a:rPr>
                        <a:t>(</a:t>
                      </a:r>
                      <a:r>
                        <a:rPr lang="ko-KR" altLang="en-US" sz="1200" dirty="0">
                          <a:effectLst/>
                        </a:rPr>
                        <a:t>法 </a:t>
                      </a:r>
                      <a:r>
                        <a:rPr lang="en-US" altLang="ko-KR" sz="1200" dirty="0">
                          <a:effectLst/>
                        </a:rPr>
                        <a:t>132</a:t>
                      </a:r>
                      <a:r>
                        <a:rPr lang="ko-KR" altLang="en-US" sz="1200" dirty="0">
                          <a:effectLst/>
                        </a:rPr>
                        <a:t>의</a:t>
                      </a:r>
                      <a:r>
                        <a:rPr lang="en-US" altLang="ko-KR" sz="1200" dirty="0">
                          <a:effectLst/>
                        </a:rPr>
                        <a:t>17)</a:t>
                      </a:r>
                      <a:endParaRPr lang="en-US" altLang="ko-KR" sz="1200" dirty="0">
                        <a:solidFill>
                          <a:srgbClr val="000000"/>
                        </a:solidFill>
                        <a:effectLst/>
                        <a:latin typeface="+mn-ea"/>
                        <a:ea typeface="+mn-ea"/>
                      </a:endParaRPr>
                    </a:p>
                  </a:txBody>
                  <a:tcPr marL="72000" marR="72000" marT="17907" marB="17907" anchor="ctr"/>
                </a:tc>
                <a:tc hMerge="1">
                  <a:txBody>
                    <a:bodyPr/>
                    <a:lstStyle/>
                    <a:p>
                      <a:pPr latinLnBrk="1"/>
                      <a:endParaRPr lang="ko-KR" altLang="en-US"/>
                    </a:p>
                  </a:txBody>
                  <a:tcPr/>
                </a:tc>
                <a:tc>
                  <a:txBody>
                    <a:bodyPr/>
                    <a:lstStyle/>
                    <a:p>
                      <a:pPr marL="35560" marR="35560" algn="ctr">
                        <a:lnSpc>
                          <a:spcPct val="130000"/>
                        </a:lnSpc>
                        <a:spcBef>
                          <a:spcPts val="0"/>
                        </a:spcBef>
                        <a:spcAft>
                          <a:spcPts val="0"/>
                        </a:spcAft>
                      </a:pPr>
                      <a:r>
                        <a:rPr lang="ko-KR" altLang="en-US" sz="1200" dirty="0">
                          <a:effectLst/>
                        </a:rPr>
                        <a:t>출원인</a:t>
                      </a:r>
                      <a:endParaRPr lang="ko-KR" altLang="en-US" sz="1200" dirty="0">
                        <a:solidFill>
                          <a:srgbClr val="000000"/>
                        </a:solidFill>
                        <a:effectLst/>
                        <a:latin typeface="+mn-ea"/>
                        <a:ea typeface="+mn-ea"/>
                      </a:endParaRPr>
                    </a:p>
                  </a:txBody>
                  <a:tcPr marL="72000" marR="72000" marT="17907" marB="17907" anchor="ctr"/>
                </a:tc>
                <a:tc>
                  <a:txBody>
                    <a:bodyPr/>
                    <a:lstStyle/>
                    <a:p>
                      <a:pPr marL="35560" marR="35560" algn="ctr">
                        <a:lnSpc>
                          <a:spcPct val="130000"/>
                        </a:lnSpc>
                        <a:spcBef>
                          <a:spcPts val="0"/>
                        </a:spcBef>
                        <a:spcAft>
                          <a:spcPts val="0"/>
                        </a:spcAft>
                      </a:pPr>
                      <a:r>
                        <a:rPr lang="en-US" sz="1200" dirty="0">
                          <a:effectLst/>
                        </a:rPr>
                        <a:t>-</a:t>
                      </a:r>
                      <a:endParaRPr lang="en-US" sz="1200" dirty="0">
                        <a:solidFill>
                          <a:srgbClr val="000000"/>
                        </a:solidFill>
                        <a:effectLst/>
                        <a:latin typeface="+mn-ea"/>
                        <a:ea typeface="+mn-ea"/>
                      </a:endParaRPr>
                    </a:p>
                  </a:txBody>
                  <a:tcPr marL="72000" marR="72000" marT="17907" marB="17907" anchor="ctr"/>
                </a:tc>
                <a:extLst>
                  <a:ext uri="{0D108BD9-81ED-4DB2-BD59-A6C34878D82A}">
                    <a16:rowId xmlns:a16="http://schemas.microsoft.com/office/drawing/2014/main" val="10001"/>
                  </a:ext>
                </a:extLst>
              </a:tr>
              <a:tr h="384049">
                <a:tc gridSpan="2">
                  <a:txBody>
                    <a:bodyPr/>
                    <a:lstStyle/>
                    <a:p>
                      <a:pPr marL="0" marR="0" algn="ctr">
                        <a:lnSpc>
                          <a:spcPct val="130000"/>
                        </a:lnSpc>
                        <a:spcBef>
                          <a:spcPts val="0"/>
                        </a:spcBef>
                        <a:spcAft>
                          <a:spcPts val="0"/>
                        </a:spcAft>
                      </a:pPr>
                      <a:r>
                        <a:rPr lang="ko-KR" altLang="en-US" sz="1200" dirty="0">
                          <a:effectLst/>
                        </a:rPr>
                        <a:t>정정심판</a:t>
                      </a:r>
                      <a:r>
                        <a:rPr lang="en-US" altLang="ko-KR" sz="1200" dirty="0">
                          <a:effectLst/>
                        </a:rPr>
                        <a:t>(</a:t>
                      </a:r>
                      <a:r>
                        <a:rPr lang="ko-KR" altLang="en-US" sz="1200" dirty="0">
                          <a:effectLst/>
                        </a:rPr>
                        <a:t>法 </a:t>
                      </a:r>
                      <a:r>
                        <a:rPr lang="en-US" altLang="ko-KR" sz="1200" dirty="0">
                          <a:effectLst/>
                        </a:rPr>
                        <a:t>136)</a:t>
                      </a:r>
                      <a:endParaRPr lang="en-US" altLang="ko-KR" sz="1200" dirty="0">
                        <a:solidFill>
                          <a:srgbClr val="000000"/>
                        </a:solidFill>
                        <a:effectLst/>
                        <a:latin typeface="+mn-ea"/>
                        <a:ea typeface="+mn-ea"/>
                      </a:endParaRPr>
                    </a:p>
                  </a:txBody>
                  <a:tcPr marL="72000" marR="72000" marT="17907" marB="17907" anchor="ctr"/>
                </a:tc>
                <a:tc hMerge="1">
                  <a:txBody>
                    <a:bodyPr/>
                    <a:lstStyle/>
                    <a:p>
                      <a:pPr latinLnBrk="1"/>
                      <a:endParaRPr lang="ko-KR" altLang="en-US"/>
                    </a:p>
                  </a:txBody>
                  <a:tcPr/>
                </a:tc>
                <a:tc>
                  <a:txBody>
                    <a:bodyPr/>
                    <a:lstStyle/>
                    <a:p>
                      <a:pPr marL="35560" marR="35560" algn="ctr">
                        <a:lnSpc>
                          <a:spcPct val="130000"/>
                        </a:lnSpc>
                        <a:spcBef>
                          <a:spcPts val="0"/>
                        </a:spcBef>
                        <a:spcAft>
                          <a:spcPts val="0"/>
                        </a:spcAft>
                      </a:pPr>
                      <a:r>
                        <a:rPr lang="ko-KR" altLang="en-US" sz="1200" dirty="0" err="1">
                          <a:effectLst/>
                        </a:rPr>
                        <a:t>특허권자</a:t>
                      </a:r>
                      <a:endParaRPr lang="ko-KR" altLang="en-US" sz="1200" dirty="0">
                        <a:solidFill>
                          <a:srgbClr val="000000"/>
                        </a:solidFill>
                        <a:effectLst/>
                        <a:latin typeface="+mn-ea"/>
                        <a:ea typeface="+mn-ea"/>
                      </a:endParaRPr>
                    </a:p>
                  </a:txBody>
                  <a:tcPr marL="72000" marR="72000" marT="17907" marB="17907" anchor="ctr"/>
                </a:tc>
                <a:tc>
                  <a:txBody>
                    <a:bodyPr/>
                    <a:lstStyle/>
                    <a:p>
                      <a:pPr marL="35560" marR="35560" algn="ctr">
                        <a:lnSpc>
                          <a:spcPct val="130000"/>
                        </a:lnSpc>
                        <a:spcBef>
                          <a:spcPts val="0"/>
                        </a:spcBef>
                        <a:spcAft>
                          <a:spcPts val="0"/>
                        </a:spcAft>
                      </a:pPr>
                      <a:r>
                        <a:rPr lang="en-US" sz="1200" dirty="0">
                          <a:effectLst/>
                        </a:rPr>
                        <a:t>-</a:t>
                      </a:r>
                      <a:endParaRPr lang="en-US" sz="1200" dirty="0">
                        <a:solidFill>
                          <a:srgbClr val="000000"/>
                        </a:solidFill>
                        <a:effectLst/>
                        <a:latin typeface="+mn-ea"/>
                        <a:ea typeface="+mn-ea"/>
                      </a:endParaRPr>
                    </a:p>
                  </a:txBody>
                  <a:tcPr marL="72000" marR="72000" marT="17907" marB="17907" anchor="ctr"/>
                </a:tc>
                <a:extLst>
                  <a:ext uri="{0D108BD9-81ED-4DB2-BD59-A6C34878D82A}">
                    <a16:rowId xmlns:a16="http://schemas.microsoft.com/office/drawing/2014/main" val="10002"/>
                  </a:ext>
                </a:extLst>
              </a:tr>
              <a:tr h="1043738">
                <a:tc gridSpan="2">
                  <a:txBody>
                    <a:bodyPr/>
                    <a:lstStyle/>
                    <a:p>
                      <a:pPr marL="0" marR="0" algn="ctr">
                        <a:lnSpc>
                          <a:spcPct val="130000"/>
                        </a:lnSpc>
                        <a:spcBef>
                          <a:spcPts val="0"/>
                        </a:spcBef>
                        <a:spcAft>
                          <a:spcPts val="0"/>
                        </a:spcAft>
                      </a:pPr>
                      <a:r>
                        <a:rPr lang="ko-KR" altLang="en-US" sz="1200">
                          <a:effectLst/>
                        </a:rPr>
                        <a:t>무효심판</a:t>
                      </a:r>
                    </a:p>
                    <a:p>
                      <a:pPr marL="0" marR="0" algn="ctr">
                        <a:lnSpc>
                          <a:spcPct val="130000"/>
                        </a:lnSpc>
                        <a:spcBef>
                          <a:spcPts val="0"/>
                        </a:spcBef>
                        <a:spcAft>
                          <a:spcPts val="0"/>
                        </a:spcAft>
                      </a:pPr>
                      <a:r>
                        <a:rPr lang="en-US" altLang="ko-KR" sz="1200">
                          <a:effectLst/>
                        </a:rPr>
                        <a:t>(</a:t>
                      </a:r>
                      <a:r>
                        <a:rPr lang="ko-KR" altLang="en-US" sz="1200">
                          <a:effectLst/>
                        </a:rPr>
                        <a:t>法 </a:t>
                      </a:r>
                      <a:r>
                        <a:rPr lang="en-US" altLang="ko-KR" sz="1200">
                          <a:effectLst/>
                        </a:rPr>
                        <a:t>133, 134, 137)</a:t>
                      </a:r>
                      <a:endParaRPr lang="ko-KR" altLang="en-US" sz="1200">
                        <a:solidFill>
                          <a:srgbClr val="000000"/>
                        </a:solidFill>
                        <a:effectLst/>
                        <a:latin typeface="+mn-ea"/>
                        <a:ea typeface="+mn-ea"/>
                      </a:endParaRPr>
                    </a:p>
                  </a:txBody>
                  <a:tcPr marL="72000" marR="72000" marT="17907" marB="17907" anchor="ctr"/>
                </a:tc>
                <a:tc hMerge="1">
                  <a:txBody>
                    <a:bodyPr/>
                    <a:lstStyle/>
                    <a:p>
                      <a:pPr latinLnBrk="1"/>
                      <a:endParaRPr lang="ko-KR" altLang="en-US"/>
                    </a:p>
                  </a:txBody>
                  <a:tcPr/>
                </a:tc>
                <a:tc>
                  <a:txBody>
                    <a:bodyPr/>
                    <a:lstStyle/>
                    <a:p>
                      <a:pPr marL="35560" marR="35560" algn="ctr">
                        <a:lnSpc>
                          <a:spcPct val="130000"/>
                        </a:lnSpc>
                        <a:spcBef>
                          <a:spcPts val="0"/>
                        </a:spcBef>
                        <a:spcAft>
                          <a:spcPts val="0"/>
                        </a:spcAft>
                      </a:pPr>
                      <a:r>
                        <a:rPr lang="ko-KR" altLang="en-US" sz="1200" dirty="0">
                          <a:effectLst/>
                        </a:rPr>
                        <a:t>이해관계인 또는 심사관</a:t>
                      </a:r>
                    </a:p>
                    <a:p>
                      <a:pPr fontAlgn="base" latinLnBrk="1"/>
                      <a:r>
                        <a:rPr lang="en-US" altLang="ko-KR" sz="1200" kern="1200" dirty="0">
                          <a:effectLst/>
                        </a:rPr>
                        <a:t>(</a:t>
                      </a:r>
                      <a:r>
                        <a:rPr lang="ko-KR" altLang="en-US" sz="1200" kern="1200" dirty="0">
                          <a:effectLst/>
                        </a:rPr>
                        <a:t>다만</a:t>
                      </a:r>
                      <a:r>
                        <a:rPr lang="en-US" altLang="ko-KR" sz="1200" kern="1200" dirty="0">
                          <a:effectLst/>
                        </a:rPr>
                        <a:t>, </a:t>
                      </a:r>
                      <a:r>
                        <a:rPr lang="ko-KR" altLang="en-US" sz="1200" kern="1200" dirty="0">
                          <a:effectLst/>
                        </a:rPr>
                        <a:t>특허를 받을 수 있는 권리를 가지지 아니하여 제</a:t>
                      </a:r>
                      <a:r>
                        <a:rPr lang="en-US" altLang="ko-KR" sz="1200" kern="1200" dirty="0">
                          <a:effectLst/>
                        </a:rPr>
                        <a:t>33</a:t>
                      </a:r>
                      <a:r>
                        <a:rPr lang="ko-KR" altLang="en-US" sz="1200" kern="1200" dirty="0">
                          <a:effectLst/>
                        </a:rPr>
                        <a:t>조 제</a:t>
                      </a:r>
                      <a:r>
                        <a:rPr lang="en-US" altLang="ko-KR" sz="1200" kern="1200" dirty="0">
                          <a:effectLst/>
                        </a:rPr>
                        <a:t>1</a:t>
                      </a:r>
                      <a:r>
                        <a:rPr lang="ko-KR" altLang="en-US" sz="1200" kern="1200" dirty="0">
                          <a:effectLst/>
                        </a:rPr>
                        <a:t>항 본문을 위반한 경우나 특허를 받을 수 있는 권리가 공유인데 공동출원하지 아니하여 제</a:t>
                      </a:r>
                      <a:r>
                        <a:rPr lang="en-US" altLang="ko-KR" sz="1200" kern="1200" dirty="0">
                          <a:effectLst/>
                        </a:rPr>
                        <a:t>44</a:t>
                      </a:r>
                      <a:r>
                        <a:rPr lang="ko-KR" altLang="en-US" sz="1200" kern="1200" dirty="0">
                          <a:effectLst/>
                        </a:rPr>
                        <a:t>조를 위반한 경우에는 </a:t>
                      </a:r>
                      <a:r>
                        <a:rPr lang="ko-KR" altLang="en-US" sz="1200" kern="1200" dirty="0">
                          <a:solidFill>
                            <a:schemeClr val="tx1"/>
                          </a:solidFill>
                          <a:effectLst/>
                        </a:rPr>
                        <a:t>심사관 또는 </a:t>
                      </a:r>
                      <a:r>
                        <a:rPr lang="ko-KR" altLang="en-US" sz="1200" kern="1200" dirty="0">
                          <a:solidFill>
                            <a:srgbClr val="FF0000"/>
                          </a:solidFill>
                          <a:effectLst/>
                        </a:rPr>
                        <a:t>특허를 받을 수 있는 권리를 가진 자</a:t>
                      </a:r>
                      <a:r>
                        <a:rPr lang="ko-KR" altLang="en-US" sz="1200" kern="1200" dirty="0">
                          <a:effectLst/>
                        </a:rPr>
                        <a:t>가 특허무효심판</a:t>
                      </a:r>
                      <a:r>
                        <a:rPr lang="en-US" altLang="ko-KR" sz="1200" kern="1200" dirty="0">
                          <a:effectLst/>
                        </a:rPr>
                        <a:t>(</a:t>
                      </a:r>
                      <a:r>
                        <a:rPr lang="ko-KR" altLang="en-US" sz="1200" kern="1200" dirty="0">
                          <a:effectLst/>
                        </a:rPr>
                        <a:t>法 </a:t>
                      </a:r>
                      <a:r>
                        <a:rPr lang="en-US" altLang="ko-KR" sz="1200" kern="1200" dirty="0">
                          <a:effectLst/>
                        </a:rPr>
                        <a:t>133) </a:t>
                      </a:r>
                      <a:r>
                        <a:rPr lang="ko-KR" altLang="en-US" sz="1200" kern="1200" dirty="0">
                          <a:effectLst/>
                        </a:rPr>
                        <a:t>청구 가능</a:t>
                      </a:r>
                      <a:r>
                        <a:rPr lang="en-US" altLang="ko-KR" sz="1200" kern="1200" dirty="0">
                          <a:effectLst/>
                        </a:rPr>
                        <a:t>) </a:t>
                      </a:r>
                      <a:endParaRPr lang="ko-KR" altLang="en-US" sz="1200" kern="1200" dirty="0">
                        <a:solidFill>
                          <a:schemeClr val="tx1"/>
                        </a:solidFill>
                        <a:effectLst/>
                        <a:latin typeface="+mn-lt"/>
                        <a:ea typeface="+mn-ea"/>
                        <a:cs typeface="+mn-cs"/>
                      </a:endParaRPr>
                    </a:p>
                  </a:txBody>
                  <a:tcPr marL="72000" marR="72000" marT="17907" marB="17907" anchor="ctr"/>
                </a:tc>
                <a:tc>
                  <a:txBody>
                    <a:bodyPr/>
                    <a:lstStyle/>
                    <a:p>
                      <a:pPr marL="35560" marR="35560" algn="ctr">
                        <a:lnSpc>
                          <a:spcPct val="130000"/>
                        </a:lnSpc>
                        <a:spcBef>
                          <a:spcPts val="0"/>
                        </a:spcBef>
                        <a:spcAft>
                          <a:spcPts val="0"/>
                        </a:spcAft>
                      </a:pPr>
                      <a:r>
                        <a:rPr lang="ko-KR" altLang="en-US" sz="1200" dirty="0" err="1">
                          <a:effectLst/>
                        </a:rPr>
                        <a:t>특허권자</a:t>
                      </a:r>
                      <a:endParaRPr lang="ko-KR" altLang="en-US" sz="1200" dirty="0">
                        <a:solidFill>
                          <a:srgbClr val="000000"/>
                        </a:solidFill>
                        <a:effectLst/>
                        <a:latin typeface="+mn-ea"/>
                        <a:ea typeface="+mn-ea"/>
                      </a:endParaRPr>
                    </a:p>
                  </a:txBody>
                  <a:tcPr marL="72000" marR="72000" marT="17907" marB="17907" anchor="ctr"/>
                </a:tc>
                <a:extLst>
                  <a:ext uri="{0D108BD9-81ED-4DB2-BD59-A6C34878D82A}">
                    <a16:rowId xmlns:a16="http://schemas.microsoft.com/office/drawing/2014/main" val="10003"/>
                  </a:ext>
                </a:extLst>
              </a:tr>
              <a:tr h="713894">
                <a:tc rowSpan="2">
                  <a:txBody>
                    <a:bodyPr/>
                    <a:lstStyle/>
                    <a:p>
                      <a:pPr marL="0" marR="0" algn="ctr">
                        <a:lnSpc>
                          <a:spcPct val="130000"/>
                        </a:lnSpc>
                        <a:spcBef>
                          <a:spcPts val="0"/>
                        </a:spcBef>
                        <a:spcAft>
                          <a:spcPts val="0"/>
                        </a:spcAft>
                      </a:pPr>
                      <a:r>
                        <a:rPr lang="ko-KR" altLang="en-US" sz="1200" dirty="0">
                          <a:effectLst/>
                        </a:rPr>
                        <a:t>권리범위</a:t>
                      </a:r>
                    </a:p>
                    <a:p>
                      <a:pPr marL="0" marR="0" algn="ctr">
                        <a:lnSpc>
                          <a:spcPct val="130000"/>
                        </a:lnSpc>
                        <a:spcBef>
                          <a:spcPts val="0"/>
                        </a:spcBef>
                        <a:spcAft>
                          <a:spcPts val="0"/>
                        </a:spcAft>
                      </a:pPr>
                      <a:r>
                        <a:rPr lang="ko-KR" altLang="en-US" sz="1200" dirty="0">
                          <a:effectLst/>
                        </a:rPr>
                        <a:t>확인심판</a:t>
                      </a:r>
                    </a:p>
                    <a:p>
                      <a:pPr marL="0" marR="0" algn="ctr">
                        <a:lnSpc>
                          <a:spcPct val="130000"/>
                        </a:lnSpc>
                        <a:spcBef>
                          <a:spcPts val="0"/>
                        </a:spcBef>
                        <a:spcAft>
                          <a:spcPts val="0"/>
                        </a:spcAft>
                      </a:pPr>
                      <a:r>
                        <a:rPr lang="en-US" altLang="ko-KR" sz="1200" dirty="0">
                          <a:effectLst/>
                        </a:rPr>
                        <a:t>(</a:t>
                      </a:r>
                      <a:r>
                        <a:rPr lang="ko-KR" altLang="en-US" sz="1200" dirty="0">
                          <a:effectLst/>
                        </a:rPr>
                        <a:t>法 </a:t>
                      </a:r>
                      <a:r>
                        <a:rPr lang="en-US" altLang="ko-KR" sz="1200" dirty="0">
                          <a:effectLst/>
                        </a:rPr>
                        <a:t>135)</a:t>
                      </a:r>
                      <a:endParaRPr lang="ko-KR" altLang="en-US" sz="1200" dirty="0">
                        <a:solidFill>
                          <a:srgbClr val="000000"/>
                        </a:solidFill>
                        <a:effectLst/>
                        <a:latin typeface="+mn-ea"/>
                        <a:ea typeface="+mn-ea"/>
                      </a:endParaRPr>
                    </a:p>
                  </a:txBody>
                  <a:tcPr marL="72000" marR="72000" marT="17907" marB="17907" anchor="ctr"/>
                </a:tc>
                <a:tc>
                  <a:txBody>
                    <a:bodyPr/>
                    <a:lstStyle/>
                    <a:p>
                      <a:pPr marL="0" marR="0" algn="ctr">
                        <a:lnSpc>
                          <a:spcPct val="130000"/>
                        </a:lnSpc>
                        <a:spcBef>
                          <a:spcPts val="0"/>
                        </a:spcBef>
                        <a:spcAft>
                          <a:spcPts val="0"/>
                        </a:spcAft>
                      </a:pPr>
                      <a:r>
                        <a:rPr lang="ko-KR" altLang="en-US" sz="1200" dirty="0">
                          <a:effectLst/>
                        </a:rPr>
                        <a:t>적극적 </a:t>
                      </a:r>
                      <a:endParaRPr lang="ko-KR" altLang="en-US" sz="1200" dirty="0">
                        <a:solidFill>
                          <a:srgbClr val="000000"/>
                        </a:solidFill>
                        <a:effectLst/>
                        <a:latin typeface="+mn-ea"/>
                        <a:ea typeface="+mn-ea"/>
                      </a:endParaRPr>
                    </a:p>
                  </a:txBody>
                  <a:tcPr marL="72000" marR="72000" marT="17907" marB="17907" anchor="ctr"/>
                </a:tc>
                <a:tc>
                  <a:txBody>
                    <a:bodyPr/>
                    <a:lstStyle/>
                    <a:p>
                      <a:pPr marL="35560" marR="35560" algn="ctr">
                        <a:lnSpc>
                          <a:spcPct val="130000"/>
                        </a:lnSpc>
                        <a:spcBef>
                          <a:spcPts val="0"/>
                        </a:spcBef>
                        <a:spcAft>
                          <a:spcPts val="0"/>
                        </a:spcAft>
                      </a:pPr>
                      <a:r>
                        <a:rPr lang="ko-KR" altLang="en-US" sz="1200" dirty="0" err="1">
                          <a:effectLst/>
                        </a:rPr>
                        <a:t>특허권자</a:t>
                      </a:r>
                      <a:r>
                        <a:rPr lang="en-US" altLang="ko-KR" sz="1200" dirty="0">
                          <a:effectLst/>
                        </a:rPr>
                        <a:t>, </a:t>
                      </a:r>
                      <a:r>
                        <a:rPr lang="ko-KR" altLang="en-US" sz="1200" dirty="0" err="1">
                          <a:effectLst/>
                        </a:rPr>
                        <a:t>전용실시권자</a:t>
                      </a:r>
                      <a:endParaRPr lang="ko-KR" altLang="en-US" sz="1200" dirty="0">
                        <a:solidFill>
                          <a:srgbClr val="000000"/>
                        </a:solidFill>
                        <a:effectLst/>
                        <a:latin typeface="+mn-ea"/>
                        <a:ea typeface="+mn-ea"/>
                      </a:endParaRPr>
                    </a:p>
                  </a:txBody>
                  <a:tcPr marL="72000" marR="72000" marT="17907" marB="17907" anchor="ctr"/>
                </a:tc>
                <a:tc>
                  <a:txBody>
                    <a:bodyPr/>
                    <a:lstStyle/>
                    <a:p>
                      <a:pPr marL="35560" marR="35560" algn="ctr">
                        <a:lnSpc>
                          <a:spcPct val="130000"/>
                        </a:lnSpc>
                        <a:spcBef>
                          <a:spcPts val="0"/>
                        </a:spcBef>
                        <a:spcAft>
                          <a:spcPts val="0"/>
                        </a:spcAft>
                      </a:pPr>
                      <a:r>
                        <a:rPr lang="ko-KR" altLang="en-US" sz="1200" dirty="0">
                          <a:effectLst/>
                        </a:rPr>
                        <a:t>과거에 확인대상발명을 실시한 적이 있거나 </a:t>
                      </a:r>
                      <a:endParaRPr lang="en-US" altLang="ko-KR" sz="1200" dirty="0">
                        <a:effectLst/>
                      </a:endParaRPr>
                    </a:p>
                    <a:p>
                      <a:pPr marL="35560" marR="35560" algn="ctr">
                        <a:lnSpc>
                          <a:spcPct val="130000"/>
                        </a:lnSpc>
                        <a:spcBef>
                          <a:spcPts val="0"/>
                        </a:spcBef>
                        <a:spcAft>
                          <a:spcPts val="0"/>
                        </a:spcAft>
                      </a:pPr>
                      <a:r>
                        <a:rPr lang="ko-KR" altLang="en-US" sz="1200" dirty="0">
                          <a:effectLst/>
                        </a:rPr>
                        <a:t>현재 실시하고 있는 이해관계인</a:t>
                      </a:r>
                      <a:endParaRPr lang="en-US" altLang="ko-KR" sz="1200" dirty="0">
                        <a:effectLst/>
                      </a:endParaRPr>
                    </a:p>
                    <a:p>
                      <a:pPr marL="35560" marR="35560" algn="ctr">
                        <a:lnSpc>
                          <a:spcPct val="130000"/>
                        </a:lnSpc>
                        <a:spcBef>
                          <a:spcPts val="0"/>
                        </a:spcBef>
                        <a:spcAft>
                          <a:spcPts val="0"/>
                        </a:spcAft>
                      </a:pPr>
                      <a:r>
                        <a:rPr lang="en-US" altLang="ko-KR" sz="1200" dirty="0">
                          <a:solidFill>
                            <a:srgbClr val="FF0000"/>
                          </a:solidFill>
                          <a:effectLst/>
                          <a:latin typeface="+mn-ea"/>
                          <a:ea typeface="+mn-ea"/>
                        </a:rPr>
                        <a:t>(</a:t>
                      </a:r>
                      <a:r>
                        <a:rPr lang="ko-KR" altLang="en-US" sz="1200" dirty="0">
                          <a:solidFill>
                            <a:srgbClr val="FF0000"/>
                          </a:solidFill>
                          <a:effectLst/>
                          <a:latin typeface="+mn-ea"/>
                          <a:ea typeface="+mn-ea"/>
                        </a:rPr>
                        <a:t>실시할 예정이 있는 이해관계인 제외</a:t>
                      </a:r>
                      <a:r>
                        <a:rPr lang="en-US" altLang="ko-KR" sz="1200" dirty="0">
                          <a:solidFill>
                            <a:srgbClr val="FF0000"/>
                          </a:solidFill>
                          <a:effectLst/>
                          <a:latin typeface="+mn-ea"/>
                          <a:ea typeface="+mn-ea"/>
                        </a:rPr>
                        <a:t>)</a:t>
                      </a:r>
                      <a:endParaRPr lang="ko-KR" altLang="en-US" sz="1200" dirty="0">
                        <a:solidFill>
                          <a:srgbClr val="FF0000"/>
                        </a:solidFill>
                        <a:effectLst/>
                        <a:latin typeface="+mn-ea"/>
                        <a:ea typeface="+mn-ea"/>
                      </a:endParaRPr>
                    </a:p>
                  </a:txBody>
                  <a:tcPr marL="72000" marR="72000" marT="17907" marB="17907" anchor="ctr"/>
                </a:tc>
                <a:extLst>
                  <a:ext uri="{0D108BD9-81ED-4DB2-BD59-A6C34878D82A}">
                    <a16:rowId xmlns:a16="http://schemas.microsoft.com/office/drawing/2014/main" val="10004"/>
                  </a:ext>
                </a:extLst>
              </a:tr>
              <a:tr h="1043738">
                <a:tc vMerge="1">
                  <a:txBody>
                    <a:bodyPr/>
                    <a:lstStyle/>
                    <a:p>
                      <a:pPr latinLnBrk="1"/>
                      <a:endParaRPr lang="ko-KR" altLang="en-US"/>
                    </a:p>
                  </a:txBody>
                  <a:tcPr/>
                </a:tc>
                <a:tc>
                  <a:txBody>
                    <a:bodyPr/>
                    <a:lstStyle/>
                    <a:p>
                      <a:pPr marL="0" marR="0" algn="ctr">
                        <a:lnSpc>
                          <a:spcPct val="130000"/>
                        </a:lnSpc>
                        <a:spcBef>
                          <a:spcPts val="0"/>
                        </a:spcBef>
                        <a:spcAft>
                          <a:spcPts val="0"/>
                        </a:spcAft>
                      </a:pPr>
                      <a:r>
                        <a:rPr lang="ko-KR" altLang="en-US" sz="1200">
                          <a:effectLst/>
                        </a:rPr>
                        <a:t>소극적 </a:t>
                      </a:r>
                      <a:endParaRPr lang="ko-KR" altLang="en-US" sz="1200">
                        <a:solidFill>
                          <a:srgbClr val="000000"/>
                        </a:solidFill>
                        <a:effectLst/>
                        <a:latin typeface="+mn-ea"/>
                        <a:ea typeface="+mn-ea"/>
                      </a:endParaRPr>
                    </a:p>
                  </a:txBody>
                  <a:tcPr marL="72000" marR="72000" marT="17907" marB="17907" anchor="ctr"/>
                </a:tc>
                <a:tc>
                  <a:txBody>
                    <a:bodyPr/>
                    <a:lstStyle/>
                    <a:p>
                      <a:pPr marL="35560" marR="35560" algn="ctr">
                        <a:lnSpc>
                          <a:spcPct val="130000"/>
                        </a:lnSpc>
                        <a:spcBef>
                          <a:spcPts val="0"/>
                        </a:spcBef>
                        <a:spcAft>
                          <a:spcPts val="0"/>
                        </a:spcAft>
                      </a:pPr>
                      <a:r>
                        <a:rPr lang="ko-KR" altLang="en-US" sz="1200" dirty="0">
                          <a:effectLst/>
                        </a:rPr>
                        <a:t>과거에 확인대상발명을 실시한 적이 있거나 현재 실시하고 있는 자뿐만 아니라 실시할 예정이 있는 이해관계인</a:t>
                      </a:r>
                      <a:endParaRPr lang="ko-KR" altLang="en-US" sz="1200" dirty="0">
                        <a:solidFill>
                          <a:srgbClr val="000000"/>
                        </a:solidFill>
                        <a:effectLst/>
                        <a:latin typeface="+mn-ea"/>
                        <a:ea typeface="+mn-ea"/>
                      </a:endParaRPr>
                    </a:p>
                  </a:txBody>
                  <a:tcPr marL="72000" marR="72000" marT="17907" marB="17907" anchor="ctr"/>
                </a:tc>
                <a:tc>
                  <a:txBody>
                    <a:bodyPr/>
                    <a:lstStyle/>
                    <a:p>
                      <a:pPr marL="35560" marR="35560" algn="ctr">
                        <a:lnSpc>
                          <a:spcPct val="130000"/>
                        </a:lnSpc>
                        <a:spcBef>
                          <a:spcPts val="0"/>
                        </a:spcBef>
                        <a:spcAft>
                          <a:spcPts val="0"/>
                        </a:spcAft>
                      </a:pPr>
                      <a:r>
                        <a:rPr lang="ko-KR" altLang="en-US" sz="1200" dirty="0" err="1">
                          <a:effectLst/>
                        </a:rPr>
                        <a:t>특허권자</a:t>
                      </a:r>
                      <a:endParaRPr lang="en-US" altLang="ko-KR" sz="1200" dirty="0">
                        <a:effectLst/>
                      </a:endParaRPr>
                    </a:p>
                    <a:p>
                      <a:pPr marL="35560" marR="35560" algn="ctr">
                        <a:lnSpc>
                          <a:spcPct val="130000"/>
                        </a:lnSpc>
                        <a:spcBef>
                          <a:spcPts val="0"/>
                        </a:spcBef>
                        <a:spcAft>
                          <a:spcPts val="0"/>
                        </a:spcAft>
                      </a:pPr>
                      <a:r>
                        <a:rPr lang="en-US" altLang="ko-KR" sz="1200" dirty="0">
                          <a:solidFill>
                            <a:srgbClr val="FF0000"/>
                          </a:solidFill>
                          <a:effectLst/>
                          <a:latin typeface="+mn-ea"/>
                          <a:ea typeface="+mn-ea"/>
                        </a:rPr>
                        <a:t>(</a:t>
                      </a:r>
                      <a:r>
                        <a:rPr lang="ko-KR" altLang="en-US" sz="1200" dirty="0">
                          <a:solidFill>
                            <a:srgbClr val="FF0000"/>
                          </a:solidFill>
                          <a:effectLst/>
                          <a:latin typeface="+mn-ea"/>
                          <a:ea typeface="+mn-ea"/>
                        </a:rPr>
                        <a:t>전용실시권자 제외</a:t>
                      </a:r>
                      <a:r>
                        <a:rPr lang="en-US" altLang="ko-KR" sz="1200" dirty="0">
                          <a:solidFill>
                            <a:srgbClr val="FF0000"/>
                          </a:solidFill>
                          <a:effectLst/>
                          <a:latin typeface="+mn-ea"/>
                          <a:ea typeface="+mn-ea"/>
                        </a:rPr>
                        <a:t>)</a:t>
                      </a:r>
                      <a:endParaRPr lang="ko-KR" altLang="en-US" sz="1200" dirty="0">
                        <a:solidFill>
                          <a:srgbClr val="FF0000"/>
                        </a:solidFill>
                        <a:effectLst/>
                        <a:latin typeface="+mn-ea"/>
                        <a:ea typeface="+mn-ea"/>
                      </a:endParaRPr>
                    </a:p>
                  </a:txBody>
                  <a:tcPr marL="72000" marR="72000" marT="17907" marB="17907" anchor="b"/>
                </a:tc>
                <a:extLst>
                  <a:ext uri="{0D108BD9-81ED-4DB2-BD59-A6C34878D82A}">
                    <a16:rowId xmlns:a16="http://schemas.microsoft.com/office/drawing/2014/main" val="10005"/>
                  </a:ext>
                </a:extLst>
              </a:tr>
              <a:tr h="713894">
                <a:tc rowSpan="2">
                  <a:txBody>
                    <a:bodyPr/>
                    <a:lstStyle/>
                    <a:p>
                      <a:pPr marL="0" marR="0" algn="ctr">
                        <a:lnSpc>
                          <a:spcPct val="130000"/>
                        </a:lnSpc>
                        <a:spcBef>
                          <a:spcPts val="0"/>
                        </a:spcBef>
                        <a:spcAft>
                          <a:spcPts val="0"/>
                        </a:spcAft>
                      </a:pPr>
                      <a:r>
                        <a:rPr lang="ko-KR" altLang="en-US" sz="1200" dirty="0" err="1">
                          <a:effectLst/>
                        </a:rPr>
                        <a:t>통상실시권</a:t>
                      </a:r>
                      <a:endParaRPr lang="ko-KR" altLang="en-US" sz="1200" dirty="0">
                        <a:effectLst/>
                      </a:endParaRPr>
                    </a:p>
                    <a:p>
                      <a:pPr marL="0" marR="0" algn="ctr">
                        <a:lnSpc>
                          <a:spcPct val="130000"/>
                        </a:lnSpc>
                        <a:spcBef>
                          <a:spcPts val="0"/>
                        </a:spcBef>
                        <a:spcAft>
                          <a:spcPts val="0"/>
                        </a:spcAft>
                      </a:pPr>
                      <a:r>
                        <a:rPr lang="ko-KR" altLang="en-US" sz="1200" dirty="0">
                          <a:effectLst/>
                        </a:rPr>
                        <a:t>허락심판</a:t>
                      </a:r>
                    </a:p>
                    <a:p>
                      <a:pPr marL="0" marR="0" algn="ctr">
                        <a:lnSpc>
                          <a:spcPct val="130000"/>
                        </a:lnSpc>
                        <a:spcBef>
                          <a:spcPts val="0"/>
                        </a:spcBef>
                        <a:spcAft>
                          <a:spcPts val="0"/>
                        </a:spcAft>
                      </a:pPr>
                      <a:r>
                        <a:rPr lang="en-US" altLang="ko-KR" sz="1200" dirty="0">
                          <a:effectLst/>
                        </a:rPr>
                        <a:t>(</a:t>
                      </a:r>
                      <a:r>
                        <a:rPr lang="ko-KR" altLang="en-US" sz="1200" dirty="0">
                          <a:effectLst/>
                        </a:rPr>
                        <a:t>法 </a:t>
                      </a:r>
                      <a:r>
                        <a:rPr lang="en-US" altLang="ko-KR" sz="1200" dirty="0">
                          <a:effectLst/>
                        </a:rPr>
                        <a:t>138)</a:t>
                      </a:r>
                      <a:endParaRPr lang="ko-KR" altLang="en-US" sz="1200" dirty="0">
                        <a:solidFill>
                          <a:srgbClr val="000000"/>
                        </a:solidFill>
                        <a:effectLst/>
                        <a:latin typeface="+mn-ea"/>
                        <a:ea typeface="+mn-ea"/>
                      </a:endParaRPr>
                    </a:p>
                  </a:txBody>
                  <a:tcPr marL="72000" marR="72000" marT="17907" marB="17907" anchor="ctr"/>
                </a:tc>
                <a:tc>
                  <a:txBody>
                    <a:bodyPr/>
                    <a:lstStyle/>
                    <a:p>
                      <a:pPr marL="0" marR="0" algn="ctr">
                        <a:lnSpc>
                          <a:spcPct val="130000"/>
                        </a:lnSpc>
                        <a:spcBef>
                          <a:spcPts val="0"/>
                        </a:spcBef>
                        <a:spcAft>
                          <a:spcPts val="0"/>
                        </a:spcAft>
                      </a:pPr>
                      <a:r>
                        <a:rPr lang="ko-KR" altLang="en-US" sz="1200" dirty="0">
                          <a:effectLst/>
                        </a:rPr>
                        <a:t>일반적</a:t>
                      </a:r>
                      <a:endParaRPr lang="ko-KR" altLang="en-US" sz="1200" dirty="0">
                        <a:solidFill>
                          <a:srgbClr val="000000"/>
                        </a:solidFill>
                        <a:effectLst/>
                        <a:latin typeface="+mn-ea"/>
                        <a:ea typeface="+mn-ea"/>
                      </a:endParaRPr>
                    </a:p>
                  </a:txBody>
                  <a:tcPr marL="72000" marR="72000" marT="17907" marB="17907" anchor="ctr"/>
                </a:tc>
                <a:tc>
                  <a:txBody>
                    <a:bodyPr/>
                    <a:lstStyle/>
                    <a:p>
                      <a:pPr marL="35560" marR="35560" algn="ctr">
                        <a:lnSpc>
                          <a:spcPct val="130000"/>
                        </a:lnSpc>
                        <a:spcBef>
                          <a:spcPts val="0"/>
                        </a:spcBef>
                        <a:spcAft>
                          <a:spcPts val="0"/>
                        </a:spcAft>
                      </a:pPr>
                      <a:r>
                        <a:rPr lang="ko-KR" altLang="en-US" sz="1200" dirty="0" err="1">
                          <a:effectLst/>
                        </a:rPr>
                        <a:t>후출원</a:t>
                      </a:r>
                      <a:r>
                        <a:rPr lang="ko-KR" altLang="en-US" sz="1200" dirty="0">
                          <a:effectLst/>
                        </a:rPr>
                        <a:t> </a:t>
                      </a:r>
                      <a:r>
                        <a:rPr lang="ko-KR" altLang="en-US" sz="1200" dirty="0" err="1">
                          <a:effectLst/>
                        </a:rPr>
                        <a:t>특허권자</a:t>
                      </a:r>
                      <a:r>
                        <a:rPr lang="en-US" altLang="ko-KR" sz="1200" dirty="0">
                          <a:effectLst/>
                        </a:rPr>
                        <a:t>, </a:t>
                      </a:r>
                      <a:r>
                        <a:rPr lang="ko-KR" altLang="en-US" sz="1200" dirty="0" err="1">
                          <a:effectLst/>
                        </a:rPr>
                        <a:t>전용실시권자</a:t>
                      </a:r>
                      <a:r>
                        <a:rPr lang="ko-KR" altLang="en-US" sz="1200" dirty="0">
                          <a:effectLst/>
                        </a:rPr>
                        <a:t> 또는 </a:t>
                      </a:r>
                      <a:r>
                        <a:rPr lang="ko-KR" altLang="en-US" sz="1200" dirty="0" err="1">
                          <a:effectLst/>
                        </a:rPr>
                        <a:t>통상실시권자</a:t>
                      </a:r>
                      <a:endParaRPr lang="ko-KR" altLang="en-US" sz="1200" dirty="0">
                        <a:solidFill>
                          <a:srgbClr val="000000"/>
                        </a:solidFill>
                        <a:effectLst/>
                        <a:latin typeface="+mn-ea"/>
                        <a:ea typeface="+mn-ea"/>
                      </a:endParaRPr>
                    </a:p>
                  </a:txBody>
                  <a:tcPr marL="72000" marR="72000" marT="17907" marB="17907" anchor="ctr"/>
                </a:tc>
                <a:tc>
                  <a:txBody>
                    <a:bodyPr/>
                    <a:lstStyle/>
                    <a:p>
                      <a:pPr marL="35560" marR="35560" algn="ctr">
                        <a:lnSpc>
                          <a:spcPct val="130000"/>
                        </a:lnSpc>
                        <a:spcBef>
                          <a:spcPts val="0"/>
                        </a:spcBef>
                        <a:spcAft>
                          <a:spcPts val="0"/>
                        </a:spcAft>
                      </a:pPr>
                      <a:r>
                        <a:rPr lang="ko-KR" altLang="en-US" sz="1200" dirty="0" err="1">
                          <a:effectLst/>
                        </a:rPr>
                        <a:t>선출원</a:t>
                      </a:r>
                      <a:r>
                        <a:rPr lang="ko-KR" altLang="en-US" sz="1200" dirty="0">
                          <a:effectLst/>
                        </a:rPr>
                        <a:t> </a:t>
                      </a:r>
                      <a:r>
                        <a:rPr lang="ko-KR" altLang="en-US" sz="1200" dirty="0" err="1">
                          <a:effectLst/>
                        </a:rPr>
                        <a:t>특허권자</a:t>
                      </a:r>
                      <a:r>
                        <a:rPr lang="en-US" altLang="ko-KR" sz="1200" dirty="0">
                          <a:effectLst/>
                        </a:rPr>
                        <a:t>, </a:t>
                      </a:r>
                      <a:r>
                        <a:rPr lang="ko-KR" altLang="en-US" sz="1200" dirty="0" err="1">
                          <a:effectLst/>
                        </a:rPr>
                        <a:t>전용실시권자</a:t>
                      </a:r>
                      <a:r>
                        <a:rPr lang="en-US" altLang="ko-KR" sz="1200" dirty="0">
                          <a:effectLst/>
                        </a:rPr>
                        <a:t>, </a:t>
                      </a:r>
                      <a:r>
                        <a:rPr lang="ko-KR" altLang="en-US" sz="1200" dirty="0">
                          <a:effectLst/>
                        </a:rPr>
                        <a:t>실용신안권자 또는 </a:t>
                      </a:r>
                      <a:r>
                        <a:rPr lang="ko-KR" altLang="en-US" sz="1200" dirty="0" err="1">
                          <a:effectLst/>
                        </a:rPr>
                        <a:t>디자인권자</a:t>
                      </a:r>
                      <a:endParaRPr lang="en-US" altLang="ko-KR" sz="1200" dirty="0">
                        <a:effectLst/>
                      </a:endParaRPr>
                    </a:p>
                    <a:p>
                      <a:pPr marL="35560" marR="35560" algn="ctr">
                        <a:lnSpc>
                          <a:spcPct val="130000"/>
                        </a:lnSpc>
                        <a:spcBef>
                          <a:spcPts val="0"/>
                        </a:spcBef>
                        <a:spcAft>
                          <a:spcPts val="0"/>
                        </a:spcAft>
                      </a:pPr>
                      <a:r>
                        <a:rPr lang="en-US" altLang="ko-KR" sz="1200" dirty="0">
                          <a:solidFill>
                            <a:srgbClr val="FF0000"/>
                          </a:solidFill>
                          <a:effectLst/>
                          <a:latin typeface="+mn-ea"/>
                          <a:ea typeface="+mn-ea"/>
                        </a:rPr>
                        <a:t>(</a:t>
                      </a:r>
                      <a:r>
                        <a:rPr lang="ko-KR" altLang="en-US" sz="1200" dirty="0" err="1">
                          <a:solidFill>
                            <a:srgbClr val="FF0000"/>
                          </a:solidFill>
                          <a:effectLst/>
                          <a:latin typeface="+mn-ea"/>
                          <a:ea typeface="+mn-ea"/>
                        </a:rPr>
                        <a:t>상표권자</a:t>
                      </a:r>
                      <a:r>
                        <a:rPr lang="ko-KR" altLang="en-US" sz="1200" dirty="0">
                          <a:solidFill>
                            <a:srgbClr val="FF0000"/>
                          </a:solidFill>
                          <a:effectLst/>
                          <a:latin typeface="+mn-ea"/>
                          <a:ea typeface="+mn-ea"/>
                        </a:rPr>
                        <a:t> 제외</a:t>
                      </a:r>
                      <a:r>
                        <a:rPr lang="en-US" altLang="ko-KR" sz="1200" dirty="0">
                          <a:solidFill>
                            <a:srgbClr val="FF0000"/>
                          </a:solidFill>
                          <a:effectLst/>
                          <a:latin typeface="+mn-ea"/>
                          <a:ea typeface="+mn-ea"/>
                        </a:rPr>
                        <a:t>)</a:t>
                      </a:r>
                      <a:endParaRPr lang="ko-KR" altLang="en-US" sz="1200" dirty="0">
                        <a:solidFill>
                          <a:srgbClr val="FF0000"/>
                        </a:solidFill>
                        <a:effectLst/>
                        <a:latin typeface="+mn-ea"/>
                        <a:ea typeface="+mn-ea"/>
                      </a:endParaRPr>
                    </a:p>
                  </a:txBody>
                  <a:tcPr marL="72000" marR="72000" marT="17907" marB="17907" anchor="ctr"/>
                </a:tc>
                <a:extLst>
                  <a:ext uri="{0D108BD9-81ED-4DB2-BD59-A6C34878D82A}">
                    <a16:rowId xmlns:a16="http://schemas.microsoft.com/office/drawing/2014/main" val="10006"/>
                  </a:ext>
                </a:extLst>
              </a:tr>
              <a:tr h="713894">
                <a:tc vMerge="1">
                  <a:txBody>
                    <a:bodyPr/>
                    <a:lstStyle/>
                    <a:p>
                      <a:pPr latinLnBrk="1"/>
                      <a:endParaRPr lang="ko-KR" altLang="en-US"/>
                    </a:p>
                  </a:txBody>
                  <a:tcPr/>
                </a:tc>
                <a:tc>
                  <a:txBody>
                    <a:bodyPr/>
                    <a:lstStyle/>
                    <a:p>
                      <a:pPr marL="0" marR="0" algn="ctr">
                        <a:lnSpc>
                          <a:spcPct val="130000"/>
                        </a:lnSpc>
                        <a:spcBef>
                          <a:spcPts val="0"/>
                        </a:spcBef>
                        <a:spcAft>
                          <a:spcPts val="0"/>
                        </a:spcAft>
                      </a:pPr>
                      <a:r>
                        <a:rPr lang="en-US" sz="1200">
                          <a:effectLst/>
                        </a:rPr>
                        <a:t>CROSS-</a:t>
                      </a:r>
                    </a:p>
                    <a:p>
                      <a:pPr marL="0" marR="0" algn="ctr">
                        <a:lnSpc>
                          <a:spcPct val="130000"/>
                        </a:lnSpc>
                        <a:spcBef>
                          <a:spcPts val="0"/>
                        </a:spcBef>
                        <a:spcAft>
                          <a:spcPts val="0"/>
                        </a:spcAft>
                      </a:pPr>
                      <a:r>
                        <a:rPr lang="en-US" sz="1200">
                          <a:effectLst/>
                        </a:rPr>
                        <a:t>LICENSE</a:t>
                      </a:r>
                      <a:endParaRPr lang="en-US" sz="1200">
                        <a:solidFill>
                          <a:srgbClr val="000000"/>
                        </a:solidFill>
                        <a:effectLst/>
                        <a:latin typeface="+mn-ea"/>
                        <a:ea typeface="+mn-ea"/>
                      </a:endParaRPr>
                    </a:p>
                  </a:txBody>
                  <a:tcPr marL="72000" marR="72000" marT="17907" marB="17907" anchor="ctr"/>
                </a:tc>
                <a:tc>
                  <a:txBody>
                    <a:bodyPr/>
                    <a:lstStyle/>
                    <a:p>
                      <a:pPr marL="35560" marR="35560" algn="ctr">
                        <a:lnSpc>
                          <a:spcPct val="130000"/>
                        </a:lnSpc>
                        <a:spcBef>
                          <a:spcPts val="0"/>
                        </a:spcBef>
                        <a:spcAft>
                          <a:spcPts val="0"/>
                        </a:spcAft>
                      </a:pPr>
                      <a:r>
                        <a:rPr lang="ko-KR" altLang="en-US" sz="1200">
                          <a:effectLst/>
                        </a:rPr>
                        <a:t>선출원 특허권자</a:t>
                      </a:r>
                      <a:r>
                        <a:rPr lang="en-US" altLang="ko-KR" sz="1200">
                          <a:effectLst/>
                        </a:rPr>
                        <a:t>, </a:t>
                      </a:r>
                      <a:r>
                        <a:rPr lang="ko-KR" altLang="en-US" sz="1200">
                          <a:effectLst/>
                        </a:rPr>
                        <a:t>전용실시권자</a:t>
                      </a:r>
                      <a:r>
                        <a:rPr lang="en-US" altLang="ko-KR" sz="1200">
                          <a:effectLst/>
                        </a:rPr>
                        <a:t>, </a:t>
                      </a:r>
                      <a:r>
                        <a:rPr lang="ko-KR" altLang="en-US" sz="1200">
                          <a:effectLst/>
                        </a:rPr>
                        <a:t>실용신안권자 또는 디자인권자</a:t>
                      </a:r>
                      <a:endParaRPr lang="ko-KR" altLang="en-US" sz="1200">
                        <a:solidFill>
                          <a:srgbClr val="000000"/>
                        </a:solidFill>
                        <a:effectLst/>
                        <a:latin typeface="+mn-ea"/>
                        <a:ea typeface="+mn-ea"/>
                      </a:endParaRPr>
                    </a:p>
                  </a:txBody>
                  <a:tcPr marL="72000" marR="72000" marT="17907" marB="17907" anchor="ctr"/>
                </a:tc>
                <a:tc>
                  <a:txBody>
                    <a:bodyPr/>
                    <a:lstStyle/>
                    <a:p>
                      <a:pPr marL="35560" marR="35560" algn="ctr">
                        <a:lnSpc>
                          <a:spcPct val="130000"/>
                        </a:lnSpc>
                        <a:spcBef>
                          <a:spcPts val="0"/>
                        </a:spcBef>
                        <a:spcAft>
                          <a:spcPts val="0"/>
                        </a:spcAft>
                      </a:pPr>
                      <a:r>
                        <a:rPr lang="ko-KR" altLang="en-US" sz="1200" dirty="0" err="1">
                          <a:effectLst/>
                        </a:rPr>
                        <a:t>후출원</a:t>
                      </a:r>
                      <a:r>
                        <a:rPr lang="ko-KR" altLang="en-US" sz="1200" dirty="0">
                          <a:effectLst/>
                        </a:rPr>
                        <a:t> </a:t>
                      </a:r>
                      <a:r>
                        <a:rPr lang="ko-KR" altLang="en-US" sz="1200" dirty="0" err="1">
                          <a:effectLst/>
                        </a:rPr>
                        <a:t>특허권자</a:t>
                      </a:r>
                      <a:r>
                        <a:rPr lang="en-US" altLang="ko-KR" sz="1200" dirty="0">
                          <a:effectLst/>
                        </a:rPr>
                        <a:t>, </a:t>
                      </a:r>
                      <a:r>
                        <a:rPr lang="ko-KR" altLang="en-US" sz="1200" dirty="0">
                          <a:effectLst/>
                        </a:rPr>
                        <a:t>전용실시권자</a:t>
                      </a:r>
                      <a:endParaRPr lang="en-US" altLang="ko-KR" sz="1200" dirty="0">
                        <a:effectLst/>
                      </a:endParaRPr>
                    </a:p>
                    <a:p>
                      <a:pPr marL="35560" marR="35560" algn="ctr">
                        <a:lnSpc>
                          <a:spcPct val="130000"/>
                        </a:lnSpc>
                        <a:spcBef>
                          <a:spcPts val="0"/>
                        </a:spcBef>
                        <a:spcAft>
                          <a:spcPts val="0"/>
                        </a:spcAft>
                      </a:pPr>
                      <a:r>
                        <a:rPr lang="en-US" altLang="ko-KR" sz="1200" dirty="0">
                          <a:solidFill>
                            <a:srgbClr val="FF0000"/>
                          </a:solidFill>
                          <a:effectLst/>
                          <a:latin typeface="+mn-ea"/>
                          <a:ea typeface="+mn-ea"/>
                        </a:rPr>
                        <a:t>(</a:t>
                      </a:r>
                      <a:r>
                        <a:rPr lang="ko-KR" altLang="en-US" sz="1200" dirty="0">
                          <a:solidFill>
                            <a:srgbClr val="FF0000"/>
                          </a:solidFill>
                          <a:effectLst/>
                          <a:latin typeface="+mn-ea"/>
                          <a:ea typeface="+mn-ea"/>
                        </a:rPr>
                        <a:t>통상실시권자 제외</a:t>
                      </a:r>
                      <a:r>
                        <a:rPr lang="en-US" altLang="ko-KR" sz="1200" dirty="0">
                          <a:solidFill>
                            <a:srgbClr val="FF0000"/>
                          </a:solidFill>
                          <a:effectLst/>
                          <a:latin typeface="+mn-ea"/>
                          <a:ea typeface="+mn-ea"/>
                        </a:rPr>
                        <a:t>)</a:t>
                      </a:r>
                      <a:endParaRPr lang="ko-KR" altLang="en-US" sz="1200" dirty="0">
                        <a:solidFill>
                          <a:srgbClr val="FF0000"/>
                        </a:solidFill>
                        <a:effectLst/>
                        <a:latin typeface="+mn-ea"/>
                        <a:ea typeface="+mn-ea"/>
                      </a:endParaRPr>
                    </a:p>
                  </a:txBody>
                  <a:tcPr marL="72000" marR="72000" marT="17907" marB="17907" anchor="ctr"/>
                </a:tc>
                <a:extLst>
                  <a:ext uri="{0D108BD9-81ED-4DB2-BD59-A6C34878D82A}">
                    <a16:rowId xmlns:a16="http://schemas.microsoft.com/office/drawing/2014/main" val="10007"/>
                  </a:ext>
                </a:extLst>
              </a:tr>
            </a:tbl>
          </a:graphicData>
        </a:graphic>
      </p:graphicFrame>
      <p:sp>
        <p:nvSpPr>
          <p:cNvPr id="4" name="슬라이드 번호 개체 틀 3"/>
          <p:cNvSpPr>
            <a:spLocks noGrp="1"/>
          </p:cNvSpPr>
          <p:nvPr>
            <p:ph type="sldNum" sz="quarter" idx="4294967295"/>
          </p:nvPr>
        </p:nvSpPr>
        <p:spPr>
          <a:xfrm>
            <a:off x="11125200" y="0"/>
            <a:ext cx="1066800" cy="711200"/>
          </a:xfrm>
        </p:spPr>
        <p:txBody>
          <a:bodyPr/>
          <a:lstStyle/>
          <a:p>
            <a:r>
              <a:rPr lang="en-US" altLang="ko-KR"/>
              <a:t>436</a:t>
            </a:r>
            <a:endParaRPr lang="ko-KR" altLang="en-US" dirty="0"/>
          </a:p>
        </p:txBody>
      </p:sp>
      <p:sp>
        <p:nvSpPr>
          <p:cNvPr id="8" name="TextBox 7">
            <a:extLst>
              <a:ext uri="{FF2B5EF4-FFF2-40B4-BE49-F238E27FC236}">
                <a16:creationId xmlns:a16="http://schemas.microsoft.com/office/drawing/2014/main" id="{6A45A292-EDD6-DCFB-E63B-83080F4D3851}"/>
              </a:ext>
            </a:extLst>
          </p:cNvPr>
          <p:cNvSpPr txBox="1"/>
          <p:nvPr/>
        </p:nvSpPr>
        <p:spPr>
          <a:xfrm>
            <a:off x="5513295" y="1595735"/>
            <a:ext cx="3236259" cy="612934"/>
          </a:xfrm>
          <a:prstGeom prst="wedgeRoundRectCallout">
            <a:avLst>
              <a:gd name="adj1" fmla="val -65985"/>
              <a:gd name="adj2" fmla="val 81514"/>
              <a:gd name="adj3" fmla="val 16667"/>
            </a:avLst>
          </a:prstGeom>
          <a:solidFill>
            <a:schemeClr val="bg1">
              <a:lumMod val="95000"/>
            </a:schemeClr>
          </a:solidFill>
          <a:ln>
            <a:solidFill>
              <a:schemeClr val="bg1">
                <a:lumMod val="50000"/>
              </a:schemeClr>
            </a:solidFill>
          </a:ln>
        </p:spPr>
        <p:txBody>
          <a:bodyPr wrap="square">
            <a:spAutoFit/>
          </a:bodyPr>
          <a:lstStyle/>
          <a:p>
            <a:r>
              <a:rPr lang="ko-KR" altLang="en-US" sz="1000" dirty="0"/>
              <a:t>당해 특허발명의 </a:t>
            </a:r>
            <a:r>
              <a:rPr lang="ko-KR" altLang="en-US" sz="1000" dirty="0" err="1"/>
              <a:t>권리존속으로</a:t>
            </a:r>
            <a:r>
              <a:rPr lang="ko-KR" altLang="en-US" sz="1000" dirty="0"/>
              <a:t> 인하여 법률상 어떠한 불이익을 받거나 받을 우려가 있어 그 소멸에 관하여 직접적이고도 현실적인 이해관계를 가진 사람</a:t>
            </a:r>
          </a:p>
        </p:txBody>
      </p:sp>
      <p:sp>
        <p:nvSpPr>
          <p:cNvPr id="9" name="TextBox 8">
            <a:extLst>
              <a:ext uri="{FF2B5EF4-FFF2-40B4-BE49-F238E27FC236}">
                <a16:creationId xmlns:a16="http://schemas.microsoft.com/office/drawing/2014/main" id="{2F2861BD-0EB2-66A2-30B7-BA7C69074271}"/>
              </a:ext>
            </a:extLst>
          </p:cNvPr>
          <p:cNvSpPr txBox="1"/>
          <p:nvPr/>
        </p:nvSpPr>
        <p:spPr>
          <a:xfrm>
            <a:off x="7440705" y="4160571"/>
            <a:ext cx="3236259" cy="442674"/>
          </a:xfrm>
          <a:prstGeom prst="wedgeRoundRectCallout">
            <a:avLst>
              <a:gd name="adj1" fmla="val -74573"/>
              <a:gd name="adj2" fmla="val 89164"/>
              <a:gd name="adj3" fmla="val 16667"/>
            </a:avLst>
          </a:prstGeom>
          <a:solidFill>
            <a:schemeClr val="bg1">
              <a:lumMod val="95000"/>
            </a:schemeClr>
          </a:solidFill>
          <a:ln>
            <a:solidFill>
              <a:schemeClr val="bg1">
                <a:lumMod val="50000"/>
              </a:schemeClr>
            </a:solidFill>
          </a:ln>
        </p:spPr>
        <p:txBody>
          <a:bodyPr wrap="square">
            <a:spAutoFit/>
          </a:bodyPr>
          <a:lstStyle/>
          <a:p>
            <a:r>
              <a:rPr lang="ko-KR" altLang="en-US" sz="1000" dirty="0"/>
              <a:t>특허권자 등으로부터 권리의 대항을 받아 업무상 손해를 받고 있거나 손해를 받을 염려가 있는 사람</a:t>
            </a:r>
          </a:p>
        </p:txBody>
      </p:sp>
    </p:spTree>
    <p:extLst>
      <p:ext uri="{BB962C8B-B14F-4D97-AF65-F5344CB8AC3E}">
        <p14:creationId xmlns:p14="http://schemas.microsoft.com/office/powerpoint/2010/main" val="2929362197"/>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139</a:t>
            </a:r>
            <a:r>
              <a:rPr lang="ko-KR" altLang="en-US" dirty="0"/>
              <a:t>조</a:t>
            </a:r>
          </a:p>
        </p:txBody>
      </p:sp>
      <p:sp>
        <p:nvSpPr>
          <p:cNvPr id="3" name="텍스트 개체 틀 2"/>
          <p:cNvSpPr>
            <a:spLocks noGrp="1"/>
          </p:cNvSpPr>
          <p:nvPr>
            <p:ph type="body" sz="quarter" idx="13"/>
          </p:nvPr>
        </p:nvSpPr>
        <p:spPr/>
        <p:txBody>
          <a:bodyPr/>
          <a:lstStyle/>
          <a:p>
            <a:r>
              <a:rPr lang="ko-KR" altLang="en-US" dirty="0" err="1"/>
              <a:t>실시권자의</a:t>
            </a:r>
            <a:r>
              <a:rPr lang="ko-KR" altLang="en-US" dirty="0"/>
              <a:t> 무효심판청구인 적격</a:t>
            </a:r>
          </a:p>
        </p:txBody>
      </p:sp>
      <p:sp>
        <p:nvSpPr>
          <p:cNvPr id="6" name="TextBox 5">
            <a:extLst>
              <a:ext uri="{FF2B5EF4-FFF2-40B4-BE49-F238E27FC236}">
                <a16:creationId xmlns:a16="http://schemas.microsoft.com/office/drawing/2014/main" id="{32633144-1F17-4C2E-8824-17E357746EC1}"/>
              </a:ext>
            </a:extLst>
          </p:cNvPr>
          <p:cNvSpPr txBox="1"/>
          <p:nvPr/>
        </p:nvSpPr>
        <p:spPr>
          <a:xfrm>
            <a:off x="77875" y="1341693"/>
            <a:ext cx="11936323" cy="2677656"/>
          </a:xfrm>
          <a:prstGeom prst="rect">
            <a:avLst/>
          </a:prstGeom>
          <a:noFill/>
        </p:spPr>
        <p:txBody>
          <a:bodyPr wrap="square" rtlCol="0">
            <a:spAutoFit/>
          </a:bodyPr>
          <a:lstStyle/>
          <a:p>
            <a:pPr fontAlgn="base"/>
            <a:r>
              <a:rPr lang="ko-KR" altLang="en-US" sz="1400" dirty="0"/>
              <a:t>구 특허법</a:t>
            </a:r>
            <a:r>
              <a:rPr lang="en-US" altLang="ko-KR" sz="1400" dirty="0"/>
              <a:t>(2013. 3. 22. </a:t>
            </a:r>
            <a:r>
              <a:rPr lang="ko-KR" altLang="en-US" sz="1400" dirty="0"/>
              <a:t>법률 제</a:t>
            </a:r>
            <a:r>
              <a:rPr lang="en-US" altLang="ko-KR" sz="1400" dirty="0"/>
              <a:t>11654</a:t>
            </a:r>
            <a:r>
              <a:rPr lang="ko-KR" altLang="en-US" sz="1400" dirty="0"/>
              <a:t>호로 개정되기 전의 것</a:t>
            </a:r>
            <a:r>
              <a:rPr lang="en-US" altLang="ko-KR" sz="1400" dirty="0"/>
              <a:t>, </a:t>
            </a:r>
            <a:r>
              <a:rPr lang="ko-KR" altLang="en-US" sz="1400" dirty="0"/>
              <a:t>이하 같다</a:t>
            </a:r>
            <a:r>
              <a:rPr lang="en-US" altLang="ko-KR" sz="1400" dirty="0"/>
              <a:t>) </a:t>
            </a:r>
            <a:r>
              <a:rPr lang="ko-KR" altLang="en-US" sz="1400" dirty="0"/>
              <a:t>제</a:t>
            </a:r>
            <a:r>
              <a:rPr lang="en-US" altLang="ko-KR" sz="1400" dirty="0"/>
              <a:t>133</a:t>
            </a:r>
            <a:r>
              <a:rPr lang="ko-KR" altLang="en-US" sz="1400" dirty="0"/>
              <a:t>조 제</a:t>
            </a:r>
            <a:r>
              <a:rPr lang="en-US" altLang="ko-KR" sz="1400" dirty="0"/>
              <a:t>1</a:t>
            </a:r>
            <a:r>
              <a:rPr lang="ko-KR" altLang="en-US" sz="1400" dirty="0"/>
              <a:t>항 전문은 “이해관계인 또는 심사관은 특허가 다음 각 호의 어느 하나에 해당하는 경우에는 무효심판을 청구할 수 있다</a:t>
            </a:r>
            <a:r>
              <a:rPr lang="en-US" altLang="ko-KR" sz="1400" dirty="0"/>
              <a:t>.”</a:t>
            </a:r>
            <a:r>
              <a:rPr lang="ko-KR" altLang="en-US" sz="1400" dirty="0"/>
              <a:t>라고 규정하고 있다</a:t>
            </a:r>
            <a:r>
              <a:rPr lang="en-US" altLang="ko-KR" sz="1400" dirty="0"/>
              <a:t>. </a:t>
            </a:r>
            <a:r>
              <a:rPr lang="ko-KR" altLang="en-US" sz="1400" dirty="0"/>
              <a:t>여기서 말하는 </a:t>
            </a:r>
            <a:r>
              <a:rPr lang="ko-KR" altLang="en-US" sz="1400" dirty="0" err="1"/>
              <a:t>이해관계인이란</a:t>
            </a:r>
            <a:r>
              <a:rPr lang="ko-KR" altLang="en-US" sz="1400" dirty="0"/>
              <a:t> 당해 특허발명의 </a:t>
            </a:r>
            <a:r>
              <a:rPr lang="ko-KR" altLang="en-US" sz="1400" dirty="0" err="1"/>
              <a:t>권리존속으로</a:t>
            </a:r>
            <a:r>
              <a:rPr lang="ko-KR" altLang="en-US" sz="1400" dirty="0"/>
              <a:t> 인하여 법률상 어떠한 불이익을 받거나 받을 우려가 있어 그 소멸에 관하여 직접적이고도 현실적인 이해관계를 가진 사람을 말하고</a:t>
            </a:r>
            <a:r>
              <a:rPr lang="en-US" altLang="ko-KR" sz="1400" dirty="0"/>
              <a:t>, </a:t>
            </a:r>
            <a:r>
              <a:rPr lang="ko-KR" altLang="en-US" sz="1400" dirty="0">
                <a:highlight>
                  <a:srgbClr val="FFFF00"/>
                </a:highlight>
              </a:rPr>
              <a:t>이에는 당해 특허발명과 같은 종류의 물품을 제조</a:t>
            </a:r>
            <a:r>
              <a:rPr lang="en-US" altLang="ko-KR" sz="1400" dirty="0">
                <a:highlight>
                  <a:srgbClr val="FFFF00"/>
                </a:highlight>
              </a:rPr>
              <a:t>·</a:t>
            </a:r>
            <a:r>
              <a:rPr lang="ko-KR" altLang="en-US" sz="1400" dirty="0">
                <a:highlight>
                  <a:srgbClr val="FFFF00"/>
                </a:highlight>
              </a:rPr>
              <a:t>판매하거나 제조</a:t>
            </a:r>
            <a:r>
              <a:rPr lang="en-US" altLang="ko-KR" sz="1400" dirty="0">
                <a:highlight>
                  <a:srgbClr val="FFFF00"/>
                </a:highlight>
              </a:rPr>
              <a:t>·</a:t>
            </a:r>
            <a:r>
              <a:rPr lang="ko-KR" altLang="en-US" sz="1400" dirty="0">
                <a:highlight>
                  <a:srgbClr val="FFFF00"/>
                </a:highlight>
              </a:rPr>
              <a:t>판매할 사람도 포함된다</a:t>
            </a:r>
            <a:r>
              <a:rPr lang="en-US" altLang="ko-KR" sz="1400" dirty="0">
                <a:highlight>
                  <a:srgbClr val="FFFF00"/>
                </a:highlight>
              </a:rPr>
              <a:t>. </a:t>
            </a:r>
            <a:r>
              <a:rPr lang="ko-KR" altLang="en-US" sz="1400" dirty="0">
                <a:highlight>
                  <a:srgbClr val="FFFF00"/>
                </a:highlight>
              </a:rPr>
              <a:t>이러한 법리에 의하면 특별한 사정이 없는 한 특허권의 </a:t>
            </a:r>
            <a:r>
              <a:rPr lang="ko-KR" altLang="en-US" sz="1400" dirty="0" err="1">
                <a:highlight>
                  <a:srgbClr val="FFFF00"/>
                </a:highlight>
              </a:rPr>
              <a:t>실시권자가</a:t>
            </a:r>
            <a:r>
              <a:rPr lang="ko-KR" altLang="en-US" sz="1400" dirty="0">
                <a:highlight>
                  <a:srgbClr val="FFFF00"/>
                </a:highlight>
              </a:rPr>
              <a:t> 특허권자로부터 권리의 대항을 받거나 받을 염려가 없다는 이유만으로 무효심판을 청구할 수 있는 이해관계가 소멸되었다고 볼 수 없다</a:t>
            </a:r>
            <a:r>
              <a:rPr lang="en-US" altLang="ko-KR" sz="1400" dirty="0">
                <a:highlight>
                  <a:srgbClr val="FFFF00"/>
                </a:highlight>
              </a:rPr>
              <a:t>. </a:t>
            </a:r>
          </a:p>
          <a:p>
            <a:pPr fontAlgn="base"/>
            <a:r>
              <a:rPr lang="ko-KR" altLang="en-US" sz="1400" dirty="0"/>
              <a:t>그 이유는 다음과 같다</a:t>
            </a:r>
            <a:r>
              <a:rPr lang="en-US" altLang="ko-KR" sz="1400" dirty="0"/>
              <a:t>. </a:t>
            </a:r>
            <a:r>
              <a:rPr lang="ko-KR" altLang="en-US" sz="1400" dirty="0">
                <a:highlight>
                  <a:srgbClr val="CCECFF"/>
                </a:highlight>
              </a:rPr>
              <a:t>특허권의 </a:t>
            </a:r>
            <a:r>
              <a:rPr lang="ko-KR" altLang="en-US" sz="1400" dirty="0" err="1">
                <a:highlight>
                  <a:srgbClr val="CCECFF"/>
                </a:highlight>
              </a:rPr>
              <a:t>실시권자에게는</a:t>
            </a:r>
            <a:r>
              <a:rPr lang="ko-KR" altLang="en-US" sz="1400" dirty="0">
                <a:highlight>
                  <a:srgbClr val="CCECFF"/>
                </a:highlight>
              </a:rPr>
              <a:t> </a:t>
            </a:r>
            <a:r>
              <a:rPr lang="ko-KR" altLang="en-US" sz="1400" dirty="0" err="1">
                <a:highlight>
                  <a:srgbClr val="CCECFF"/>
                </a:highlight>
              </a:rPr>
              <a:t>실시료</a:t>
            </a:r>
            <a:r>
              <a:rPr lang="ko-KR" altLang="en-US" sz="1400" dirty="0">
                <a:highlight>
                  <a:srgbClr val="CCECFF"/>
                </a:highlight>
              </a:rPr>
              <a:t> 지급이나 실시 범위 등 여러 제한 사항이 부가되는 것이 일반적이므로</a:t>
            </a:r>
            <a:r>
              <a:rPr lang="en-US" altLang="ko-KR" sz="1400" dirty="0">
                <a:highlight>
                  <a:srgbClr val="CCECFF"/>
                </a:highlight>
              </a:rPr>
              <a:t>, </a:t>
            </a:r>
            <a:r>
              <a:rPr lang="ko-KR" altLang="en-US" sz="1400" dirty="0" err="1">
                <a:highlight>
                  <a:srgbClr val="CCECFF"/>
                </a:highlight>
              </a:rPr>
              <a:t>실시권자는</a:t>
            </a:r>
            <a:r>
              <a:rPr lang="ko-KR" altLang="en-US" sz="1400" dirty="0">
                <a:highlight>
                  <a:srgbClr val="CCECFF"/>
                </a:highlight>
              </a:rPr>
              <a:t> 무효심판을 통해 특허에 대한 </a:t>
            </a:r>
            <a:r>
              <a:rPr lang="ko-KR" altLang="en-US" sz="1400" dirty="0" err="1">
                <a:highlight>
                  <a:srgbClr val="CCECFF"/>
                </a:highlight>
              </a:rPr>
              <a:t>무효심결을</a:t>
            </a:r>
            <a:r>
              <a:rPr lang="ko-KR" altLang="en-US" sz="1400" dirty="0">
                <a:highlight>
                  <a:srgbClr val="CCECFF"/>
                </a:highlight>
              </a:rPr>
              <a:t> 받음으로써 이러한 제약에서 벗어날 수 있다</a:t>
            </a:r>
            <a:r>
              <a:rPr lang="en-US" altLang="ko-KR" sz="1400" dirty="0">
                <a:highlight>
                  <a:srgbClr val="CCECFF"/>
                </a:highlight>
              </a:rPr>
              <a:t>.</a:t>
            </a:r>
            <a:r>
              <a:rPr lang="en-US" altLang="ko-KR" sz="1400" dirty="0"/>
              <a:t> </a:t>
            </a:r>
            <a:r>
              <a:rPr lang="ko-KR" altLang="en-US" sz="1400" dirty="0"/>
              <a:t>그리고 특허에 무효사유가 존재하더라도 그에 대한 </a:t>
            </a:r>
            <a:r>
              <a:rPr lang="ko-KR" altLang="en-US" sz="1400" dirty="0" err="1"/>
              <a:t>무효심결이</a:t>
            </a:r>
            <a:r>
              <a:rPr lang="ko-KR" altLang="en-US" sz="1400" dirty="0"/>
              <a:t> 확정되기까지는 그 특허권은 유효하게 존속하고 함부로 그 존재를 부정할 수 없으며</a:t>
            </a:r>
            <a:r>
              <a:rPr lang="en-US" altLang="ko-KR" sz="1400" dirty="0"/>
              <a:t>, </a:t>
            </a:r>
            <a:r>
              <a:rPr lang="ko-KR" altLang="en-US" sz="1400" dirty="0"/>
              <a:t>무효심판을 청구하더라도 </a:t>
            </a:r>
            <a:r>
              <a:rPr lang="ko-KR" altLang="en-US" sz="1400" dirty="0" err="1"/>
              <a:t>무효심결이</a:t>
            </a:r>
            <a:r>
              <a:rPr lang="ko-KR" altLang="en-US" sz="1400" dirty="0"/>
              <a:t> 확정되기까지는 상당한 시간과 비용이 소요된다</a:t>
            </a:r>
            <a:r>
              <a:rPr lang="en-US" altLang="ko-KR" sz="1400" dirty="0"/>
              <a:t>. </a:t>
            </a:r>
            <a:r>
              <a:rPr lang="ko-KR" altLang="en-US" sz="1400" dirty="0"/>
              <a:t>이러한 이유로 특허권에 대한 실시권을 </a:t>
            </a:r>
            <a:r>
              <a:rPr lang="ko-KR" altLang="en-US" sz="1400" dirty="0" err="1"/>
              <a:t>설정받지</a:t>
            </a:r>
            <a:r>
              <a:rPr lang="ko-KR" altLang="en-US" sz="1400" dirty="0"/>
              <a:t> 않고 실시하고 싶은 사람이라도 우선 특허권자로부터 실시권을 </a:t>
            </a:r>
            <a:r>
              <a:rPr lang="ko-KR" altLang="en-US" sz="1400" dirty="0" err="1"/>
              <a:t>설정받아</a:t>
            </a:r>
            <a:r>
              <a:rPr lang="ko-KR" altLang="en-US" sz="1400" dirty="0"/>
              <a:t> 특허발명을 실시하고 그 무효 여부에 대한 다툼을 추후로 미루어 둘 수 있으므로</a:t>
            </a:r>
            <a:r>
              <a:rPr lang="en-US" altLang="ko-KR" sz="1400" dirty="0"/>
              <a:t>, </a:t>
            </a:r>
            <a:r>
              <a:rPr lang="ko-KR" altLang="en-US" sz="1400" dirty="0">
                <a:highlight>
                  <a:srgbClr val="00FFFF"/>
                </a:highlight>
              </a:rPr>
              <a:t>실시권을 </a:t>
            </a:r>
            <a:r>
              <a:rPr lang="ko-KR" altLang="en-US" sz="1400" dirty="0" err="1">
                <a:highlight>
                  <a:srgbClr val="00FFFF"/>
                </a:highlight>
              </a:rPr>
              <a:t>설정받았다는</a:t>
            </a:r>
            <a:r>
              <a:rPr lang="ko-KR" altLang="en-US" sz="1400" dirty="0">
                <a:highlight>
                  <a:srgbClr val="00FFFF"/>
                </a:highlight>
              </a:rPr>
              <a:t> 이유로 특허의 무효 여부를 다투지 않겠다는 의사를 표시하였다고 단정할 수도 없다</a:t>
            </a:r>
            <a:r>
              <a:rPr lang="en-US" altLang="ko-KR" sz="1400" dirty="0">
                <a:highlight>
                  <a:srgbClr val="00FFFF"/>
                </a:highlight>
              </a:rPr>
              <a:t>.</a:t>
            </a:r>
          </a:p>
          <a:p>
            <a:pPr fontAlgn="base"/>
            <a:r>
              <a:rPr lang="ko-KR" altLang="en-US" sz="1400" dirty="0"/>
              <a:t>이와 달리 </a:t>
            </a:r>
            <a:r>
              <a:rPr lang="ko-KR" altLang="en-US" sz="1400" dirty="0" err="1"/>
              <a:t>실시권자라는</a:t>
            </a:r>
            <a:r>
              <a:rPr lang="ko-KR" altLang="en-US" sz="1400" dirty="0"/>
              <a:t> 이유만으로 무효심판을 청구할 수 있는 이해관계인에 해당하지 않는다는 취지로 판시한 대법원 </a:t>
            </a:r>
            <a:r>
              <a:rPr lang="en-US" altLang="ko-KR" sz="1400" dirty="0"/>
              <a:t>1977. 3. 22. </a:t>
            </a:r>
            <a:r>
              <a:rPr lang="ko-KR" altLang="en-US" sz="1400" dirty="0"/>
              <a:t>선고 </a:t>
            </a:r>
            <a:r>
              <a:rPr lang="en-US" altLang="ko-KR" sz="1400" dirty="0"/>
              <a:t>76</a:t>
            </a:r>
            <a:r>
              <a:rPr lang="ko-KR" altLang="en-US" sz="1400" dirty="0"/>
              <a:t>후</a:t>
            </a:r>
            <a:r>
              <a:rPr lang="en-US" altLang="ko-KR" sz="1400" dirty="0"/>
              <a:t>7 </a:t>
            </a:r>
            <a:r>
              <a:rPr lang="ko-KR" altLang="en-US" sz="1400" dirty="0"/>
              <a:t>판결</a:t>
            </a:r>
            <a:r>
              <a:rPr lang="en-US" altLang="ko-KR" sz="1400" dirty="0"/>
              <a:t>, </a:t>
            </a:r>
            <a:r>
              <a:rPr lang="ko-KR" altLang="en-US" sz="1400" dirty="0"/>
              <a:t>대법원 </a:t>
            </a:r>
            <a:r>
              <a:rPr lang="en-US" altLang="ko-KR" sz="1400" dirty="0"/>
              <a:t>1983. 12. 27. </a:t>
            </a:r>
            <a:r>
              <a:rPr lang="ko-KR" altLang="en-US" sz="1400" dirty="0"/>
              <a:t>선고 </a:t>
            </a:r>
            <a:r>
              <a:rPr lang="en-US" altLang="ko-KR" sz="1400" dirty="0"/>
              <a:t>82</a:t>
            </a:r>
            <a:r>
              <a:rPr lang="ko-KR" altLang="en-US" sz="1400" dirty="0"/>
              <a:t>후</a:t>
            </a:r>
            <a:r>
              <a:rPr lang="en-US" altLang="ko-KR" sz="1400" dirty="0"/>
              <a:t>58 </a:t>
            </a:r>
            <a:r>
              <a:rPr lang="ko-KR" altLang="en-US" sz="1400" dirty="0"/>
              <a:t>판결을 비롯한 같은 취지의 판결들은 이 판결의 견해에 배치되는 범위 내에서 이를 모두 변경하기로 한다</a:t>
            </a:r>
            <a:r>
              <a:rPr lang="en-US" altLang="ko-KR" sz="1400" dirty="0"/>
              <a:t>.</a:t>
            </a:r>
            <a:endParaRPr lang="ko-KR" altLang="en-US" sz="1400" dirty="0"/>
          </a:p>
        </p:txBody>
      </p:sp>
      <p:sp>
        <p:nvSpPr>
          <p:cNvPr id="7" name="사각형: 둥근 모서리 6">
            <a:extLst>
              <a:ext uri="{FF2B5EF4-FFF2-40B4-BE49-F238E27FC236}">
                <a16:creationId xmlns:a16="http://schemas.microsoft.com/office/drawing/2014/main" id="{B13051FA-C7B1-44EA-A927-EDC425AECEAE}"/>
              </a:ext>
            </a:extLst>
          </p:cNvPr>
          <p:cNvSpPr/>
          <p:nvPr/>
        </p:nvSpPr>
        <p:spPr>
          <a:xfrm>
            <a:off x="113937" y="964867"/>
            <a:ext cx="6586024" cy="346234"/>
          </a:xfrm>
          <a:prstGeom prst="roundRect">
            <a:avLst>
              <a:gd name="adj" fmla="val 50000"/>
            </a:avLst>
          </a:prstGeom>
          <a:solidFill>
            <a:schemeClr val="bg1">
              <a:lumMod val="85000"/>
            </a:schemeClr>
          </a:solidFill>
          <a:ln>
            <a:solidFill>
              <a:schemeClr val="bg1">
                <a:lumMod val="65000"/>
              </a:schemeClr>
            </a:solidFill>
          </a:ln>
        </p:spPr>
        <p:txBody>
          <a:bodyPr wrap="none" tIns="0" bIns="0">
            <a:spAutoFit/>
          </a:bodyPr>
          <a:lstStyle/>
          <a:p>
            <a:r>
              <a:rPr lang="ko-KR" altLang="en-US" sz="1600" dirty="0"/>
              <a:t>대법원 </a:t>
            </a:r>
            <a:r>
              <a:rPr lang="en-US" altLang="ko-KR" sz="1600" dirty="0"/>
              <a:t>2019. 2. 21. </a:t>
            </a:r>
            <a:r>
              <a:rPr lang="ko-KR" altLang="en-US" sz="1600" dirty="0"/>
              <a:t>선고 </a:t>
            </a:r>
            <a:r>
              <a:rPr lang="en-US" altLang="ko-KR" sz="1600" dirty="0"/>
              <a:t>2017</a:t>
            </a:r>
            <a:r>
              <a:rPr lang="ko-KR" altLang="en-US" sz="1600" dirty="0"/>
              <a:t>후</a:t>
            </a:r>
            <a:r>
              <a:rPr lang="en-US" altLang="ko-KR" sz="1600" dirty="0"/>
              <a:t>2819 </a:t>
            </a:r>
            <a:r>
              <a:rPr lang="ko-KR" altLang="en-US" sz="1600" dirty="0"/>
              <a:t>전원합의체 판결 </a:t>
            </a:r>
            <a:r>
              <a:rPr lang="en-US" altLang="ko-KR" sz="1600" dirty="0"/>
              <a:t>【</a:t>
            </a:r>
            <a:r>
              <a:rPr lang="ko-KR" altLang="en-US" sz="1600" dirty="0"/>
              <a:t>등록무효</a:t>
            </a:r>
            <a:r>
              <a:rPr lang="en-US" altLang="ko-KR" sz="1600" dirty="0"/>
              <a:t>(</a:t>
            </a:r>
            <a:r>
              <a:rPr lang="ko-KR" altLang="en-US" sz="1600" dirty="0" err="1"/>
              <a:t>특</a:t>
            </a:r>
            <a:r>
              <a:rPr lang="en-US" altLang="ko-KR" sz="1600" dirty="0"/>
              <a:t>)】</a:t>
            </a:r>
            <a:endParaRPr lang="ko-KR" altLang="en-US" sz="1600" dirty="0"/>
          </a:p>
        </p:txBody>
      </p:sp>
      <p:cxnSp>
        <p:nvCxnSpPr>
          <p:cNvPr id="8" name="직선 연결선 7">
            <a:extLst>
              <a:ext uri="{FF2B5EF4-FFF2-40B4-BE49-F238E27FC236}">
                <a16:creationId xmlns:a16="http://schemas.microsoft.com/office/drawing/2014/main" id="{6351D280-3160-4D5A-A51C-928A06A27310}"/>
              </a:ext>
            </a:extLst>
          </p:cNvPr>
          <p:cNvCxnSpPr/>
          <p:nvPr/>
        </p:nvCxnSpPr>
        <p:spPr>
          <a:xfrm>
            <a:off x="0" y="4019656"/>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직선 연결선 8">
            <a:extLst>
              <a:ext uri="{FF2B5EF4-FFF2-40B4-BE49-F238E27FC236}">
                <a16:creationId xmlns:a16="http://schemas.microsoft.com/office/drawing/2014/main" id="{06563C31-B4F3-4389-85CA-EB8B300B305A}"/>
              </a:ext>
            </a:extLst>
          </p:cNvPr>
          <p:cNvCxnSpPr>
            <a:cxnSpLocks/>
          </p:cNvCxnSpPr>
          <p:nvPr/>
        </p:nvCxnSpPr>
        <p:spPr>
          <a:xfrm>
            <a:off x="215660" y="5242801"/>
            <a:ext cx="1167154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Rectangle 14">
            <a:extLst>
              <a:ext uri="{FF2B5EF4-FFF2-40B4-BE49-F238E27FC236}">
                <a16:creationId xmlns:a16="http://schemas.microsoft.com/office/drawing/2014/main" id="{3CE609FF-1071-469C-9293-AF84D6347FAC}"/>
              </a:ext>
            </a:extLst>
          </p:cNvPr>
          <p:cNvSpPr>
            <a:spLocks noChangeArrowheads="1"/>
          </p:cNvSpPr>
          <p:nvPr/>
        </p:nvSpPr>
        <p:spPr bwMode="auto">
          <a:xfrm flipV="1">
            <a:off x="1426631" y="51662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1" name="TextBox 10">
            <a:extLst>
              <a:ext uri="{FF2B5EF4-FFF2-40B4-BE49-F238E27FC236}">
                <a16:creationId xmlns:a16="http://schemas.microsoft.com/office/drawing/2014/main" id="{7F1D522C-E29E-4724-9F6C-ABA1C6A91996}"/>
              </a:ext>
            </a:extLst>
          </p:cNvPr>
          <p:cNvSpPr txBox="1"/>
          <p:nvPr/>
        </p:nvSpPr>
        <p:spPr>
          <a:xfrm>
            <a:off x="1049372" y="4459402"/>
            <a:ext cx="891572"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endParaRPr lang="en-US" altLang="ko-KR" sz="1200" dirty="0"/>
          </a:p>
          <a:p>
            <a:pPr algn="ctr"/>
            <a:r>
              <a:rPr lang="ko-KR" altLang="en-US" sz="1200" dirty="0" err="1"/>
              <a:t>원출원</a:t>
            </a:r>
            <a:r>
              <a:rPr lang="en-US" altLang="ko-KR" sz="1200" dirty="0"/>
              <a:t>(X)</a:t>
            </a:r>
          </a:p>
          <a:p>
            <a:pPr algn="ctr"/>
            <a:r>
              <a:rPr lang="en-US" altLang="ko-KR" sz="1200" dirty="0"/>
              <a:t>2011.8.29</a:t>
            </a:r>
          </a:p>
          <a:p>
            <a:pPr algn="ctr"/>
            <a:endParaRPr lang="ko-KR" altLang="en-US" sz="1200" dirty="0"/>
          </a:p>
        </p:txBody>
      </p:sp>
      <p:cxnSp>
        <p:nvCxnSpPr>
          <p:cNvPr id="12" name="직선 연결선 11">
            <a:extLst>
              <a:ext uri="{FF2B5EF4-FFF2-40B4-BE49-F238E27FC236}">
                <a16:creationId xmlns:a16="http://schemas.microsoft.com/office/drawing/2014/main" id="{09A060BA-7C15-453B-8277-BAE2125E5D94}"/>
              </a:ext>
            </a:extLst>
          </p:cNvPr>
          <p:cNvCxnSpPr>
            <a:cxnSpLocks/>
            <a:stCxn id="11" idx="2"/>
            <a:endCxn id="10" idx="4"/>
          </p:cNvCxnSpPr>
          <p:nvPr/>
        </p:nvCxnSpPr>
        <p:spPr>
          <a:xfrm>
            <a:off x="1495158" y="4921067"/>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 name="Rectangle 14">
            <a:extLst>
              <a:ext uri="{FF2B5EF4-FFF2-40B4-BE49-F238E27FC236}">
                <a16:creationId xmlns:a16="http://schemas.microsoft.com/office/drawing/2014/main" id="{61E65B9D-80B0-4346-9F78-D6D3E4584134}"/>
              </a:ext>
            </a:extLst>
          </p:cNvPr>
          <p:cNvSpPr>
            <a:spLocks noChangeArrowheads="1"/>
          </p:cNvSpPr>
          <p:nvPr/>
        </p:nvSpPr>
        <p:spPr bwMode="auto">
          <a:xfrm flipV="1">
            <a:off x="2108539" y="51662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7" name="TextBox 16">
            <a:extLst>
              <a:ext uri="{FF2B5EF4-FFF2-40B4-BE49-F238E27FC236}">
                <a16:creationId xmlns:a16="http://schemas.microsoft.com/office/drawing/2014/main" id="{DB50E7E7-DD46-44CD-9A20-CC7AEEDBB1EA}"/>
              </a:ext>
            </a:extLst>
          </p:cNvPr>
          <p:cNvSpPr txBox="1"/>
          <p:nvPr/>
        </p:nvSpPr>
        <p:spPr>
          <a:xfrm>
            <a:off x="1680683" y="5564537"/>
            <a:ext cx="1011815" cy="269460"/>
          </a:xfrm>
          <a:prstGeom prst="rect">
            <a:avLst/>
          </a:prstGeom>
          <a:solidFill>
            <a:schemeClr val="accent4"/>
          </a:solidFill>
          <a:ln>
            <a:solidFill>
              <a:schemeClr val="bg1">
                <a:lumMod val="50000"/>
              </a:schemeClr>
            </a:solidFill>
          </a:ln>
        </p:spPr>
        <p:txBody>
          <a:bodyPr wrap="square" rtlCol="0" anchor="ctr">
            <a:noAutofit/>
          </a:bodyPr>
          <a:lstStyle/>
          <a:p>
            <a:pPr algn="ctr"/>
            <a:r>
              <a:rPr lang="ko-KR" altLang="en-US" sz="1400" dirty="0"/>
              <a:t>선행출원</a:t>
            </a:r>
          </a:p>
        </p:txBody>
      </p:sp>
      <p:cxnSp>
        <p:nvCxnSpPr>
          <p:cNvPr id="18" name="직선 연결선 17">
            <a:extLst>
              <a:ext uri="{FF2B5EF4-FFF2-40B4-BE49-F238E27FC236}">
                <a16:creationId xmlns:a16="http://schemas.microsoft.com/office/drawing/2014/main" id="{FA748A94-0B08-4719-AC43-70C57F2C326D}"/>
              </a:ext>
            </a:extLst>
          </p:cNvPr>
          <p:cNvCxnSpPr>
            <a:cxnSpLocks/>
            <a:stCxn id="17" idx="0"/>
            <a:endCxn id="16" idx="0"/>
          </p:cNvCxnSpPr>
          <p:nvPr/>
        </p:nvCxnSpPr>
        <p:spPr>
          <a:xfrm flipH="1" flipV="1">
            <a:off x="2179977" y="5319332"/>
            <a:ext cx="6614" cy="24520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 name="Rectangle 14">
            <a:extLst>
              <a:ext uri="{FF2B5EF4-FFF2-40B4-BE49-F238E27FC236}">
                <a16:creationId xmlns:a16="http://schemas.microsoft.com/office/drawing/2014/main" id="{8D053D61-F5E4-478B-AB55-4FCEBB189CAD}"/>
              </a:ext>
            </a:extLst>
          </p:cNvPr>
          <p:cNvSpPr>
            <a:spLocks noChangeArrowheads="1"/>
          </p:cNvSpPr>
          <p:nvPr/>
        </p:nvSpPr>
        <p:spPr bwMode="auto">
          <a:xfrm flipV="1">
            <a:off x="3132113" y="51662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22" name="TextBox 21">
            <a:extLst>
              <a:ext uri="{FF2B5EF4-FFF2-40B4-BE49-F238E27FC236}">
                <a16:creationId xmlns:a16="http://schemas.microsoft.com/office/drawing/2014/main" id="{37C235F1-667B-448A-8894-76C897C7DEFE}"/>
              </a:ext>
            </a:extLst>
          </p:cNvPr>
          <p:cNvSpPr txBox="1"/>
          <p:nvPr/>
        </p:nvSpPr>
        <p:spPr>
          <a:xfrm>
            <a:off x="2754854" y="4459402"/>
            <a:ext cx="891572"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endParaRPr lang="en-US" altLang="ko-KR" sz="1200" dirty="0"/>
          </a:p>
          <a:p>
            <a:pPr algn="ctr"/>
            <a:r>
              <a:rPr lang="en-US" altLang="ko-KR" sz="1200" dirty="0"/>
              <a:t>PCT</a:t>
            </a:r>
            <a:r>
              <a:rPr lang="ko-KR" altLang="en-US" sz="1200" dirty="0"/>
              <a:t>출원</a:t>
            </a:r>
            <a:r>
              <a:rPr lang="en-US" altLang="ko-KR" sz="1200" dirty="0"/>
              <a:t>(Y)</a:t>
            </a:r>
          </a:p>
          <a:p>
            <a:pPr algn="ctr"/>
            <a:r>
              <a:rPr lang="en-US" altLang="ko-KR" sz="1200" dirty="0"/>
              <a:t>2012.1.20</a:t>
            </a:r>
          </a:p>
          <a:p>
            <a:pPr algn="ctr"/>
            <a:endParaRPr lang="ko-KR" altLang="en-US" sz="1200" dirty="0"/>
          </a:p>
        </p:txBody>
      </p:sp>
      <p:cxnSp>
        <p:nvCxnSpPr>
          <p:cNvPr id="23" name="직선 연결선 22">
            <a:extLst>
              <a:ext uri="{FF2B5EF4-FFF2-40B4-BE49-F238E27FC236}">
                <a16:creationId xmlns:a16="http://schemas.microsoft.com/office/drawing/2014/main" id="{1CA5401D-ED08-4BF1-AAF7-90F9B9544DC4}"/>
              </a:ext>
            </a:extLst>
          </p:cNvPr>
          <p:cNvCxnSpPr>
            <a:cxnSpLocks/>
            <a:stCxn id="22" idx="2"/>
            <a:endCxn id="21" idx="4"/>
          </p:cNvCxnSpPr>
          <p:nvPr/>
        </p:nvCxnSpPr>
        <p:spPr>
          <a:xfrm>
            <a:off x="3200640" y="4921067"/>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8A6E0D9F-C629-48CB-83BB-C37397DD0B81}"/>
              </a:ext>
            </a:extLst>
          </p:cNvPr>
          <p:cNvSpPr txBox="1"/>
          <p:nvPr/>
        </p:nvSpPr>
        <p:spPr>
          <a:xfrm>
            <a:off x="2754854" y="4207508"/>
            <a:ext cx="891572" cy="25189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en-US" altLang="ko-KR" sz="1200" dirty="0"/>
              <a:t>X</a:t>
            </a:r>
            <a:r>
              <a:rPr lang="ko-KR" altLang="en-US" sz="1200" dirty="0"/>
              <a:t>기초 우주</a:t>
            </a:r>
          </a:p>
        </p:txBody>
      </p:sp>
      <p:sp>
        <p:nvSpPr>
          <p:cNvPr id="26" name="Rectangle 14">
            <a:extLst>
              <a:ext uri="{FF2B5EF4-FFF2-40B4-BE49-F238E27FC236}">
                <a16:creationId xmlns:a16="http://schemas.microsoft.com/office/drawing/2014/main" id="{12F6D2A0-F328-4859-9AB9-7D9FE3569549}"/>
              </a:ext>
            </a:extLst>
          </p:cNvPr>
          <p:cNvSpPr>
            <a:spLocks noChangeArrowheads="1"/>
          </p:cNvSpPr>
          <p:nvPr/>
        </p:nvSpPr>
        <p:spPr bwMode="auto">
          <a:xfrm flipV="1">
            <a:off x="5783794" y="51662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27" name="TextBox 26">
            <a:extLst>
              <a:ext uri="{FF2B5EF4-FFF2-40B4-BE49-F238E27FC236}">
                <a16:creationId xmlns:a16="http://schemas.microsoft.com/office/drawing/2014/main" id="{B5734BA0-7A3D-4E89-8616-B9ADFA3C942B}"/>
              </a:ext>
            </a:extLst>
          </p:cNvPr>
          <p:cNvSpPr txBox="1"/>
          <p:nvPr/>
        </p:nvSpPr>
        <p:spPr>
          <a:xfrm>
            <a:off x="5406535" y="4207508"/>
            <a:ext cx="891572" cy="713559"/>
          </a:xfrm>
          <a:prstGeom prst="rect">
            <a:avLst/>
          </a:prstGeom>
          <a:solidFill>
            <a:schemeClr val="accent6">
              <a:lumMod val="20000"/>
              <a:lumOff val="80000"/>
            </a:schemeClr>
          </a:solidFill>
          <a:ln>
            <a:solidFill>
              <a:schemeClr val="bg1">
                <a:lumMod val="50000"/>
              </a:schemeClr>
            </a:solidFill>
          </a:ln>
        </p:spPr>
        <p:txBody>
          <a:bodyPr wrap="square" rtlCol="0" anchor="ctr">
            <a:noAutofit/>
          </a:bodyPr>
          <a:lstStyle/>
          <a:p>
            <a:pPr algn="ctr"/>
            <a:endParaRPr lang="en-US" altLang="ko-KR" sz="1200" dirty="0"/>
          </a:p>
          <a:p>
            <a:pPr algn="ctr"/>
            <a:r>
              <a:rPr lang="en-US" altLang="ko-KR" sz="1200" dirty="0"/>
              <a:t>Y</a:t>
            </a:r>
            <a:r>
              <a:rPr lang="ko-KR" altLang="en-US" sz="1200" dirty="0"/>
              <a:t>기초</a:t>
            </a:r>
            <a:endParaRPr lang="en-US" altLang="ko-KR" sz="1200" dirty="0"/>
          </a:p>
          <a:p>
            <a:pPr algn="ctr"/>
            <a:r>
              <a:rPr lang="ko-KR" altLang="en-US" sz="1200" dirty="0"/>
              <a:t>분할출원</a:t>
            </a:r>
            <a:r>
              <a:rPr lang="en-US" altLang="ko-KR" sz="1200" dirty="0"/>
              <a:t>(Z)</a:t>
            </a:r>
          </a:p>
          <a:p>
            <a:pPr algn="ctr"/>
            <a:r>
              <a:rPr lang="en-US" altLang="ko-KR" sz="1200" dirty="0"/>
              <a:t>2012.3.16</a:t>
            </a:r>
          </a:p>
          <a:p>
            <a:pPr algn="ctr"/>
            <a:endParaRPr lang="ko-KR" altLang="en-US" sz="1200" dirty="0"/>
          </a:p>
        </p:txBody>
      </p:sp>
      <p:cxnSp>
        <p:nvCxnSpPr>
          <p:cNvPr id="28" name="직선 연결선 27">
            <a:extLst>
              <a:ext uri="{FF2B5EF4-FFF2-40B4-BE49-F238E27FC236}">
                <a16:creationId xmlns:a16="http://schemas.microsoft.com/office/drawing/2014/main" id="{4DA5A13C-2D6D-4FAC-A7E1-48C38153736B}"/>
              </a:ext>
            </a:extLst>
          </p:cNvPr>
          <p:cNvCxnSpPr>
            <a:cxnSpLocks/>
            <a:stCxn id="27" idx="2"/>
            <a:endCxn id="26" idx="4"/>
          </p:cNvCxnSpPr>
          <p:nvPr/>
        </p:nvCxnSpPr>
        <p:spPr>
          <a:xfrm>
            <a:off x="5852321" y="4921067"/>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Rectangle 14">
            <a:extLst>
              <a:ext uri="{FF2B5EF4-FFF2-40B4-BE49-F238E27FC236}">
                <a16:creationId xmlns:a16="http://schemas.microsoft.com/office/drawing/2014/main" id="{4EE1DF9C-B5C4-436C-B8AE-8D5CE5E41604}"/>
              </a:ext>
            </a:extLst>
          </p:cNvPr>
          <p:cNvSpPr>
            <a:spLocks noChangeArrowheads="1"/>
          </p:cNvSpPr>
          <p:nvPr/>
        </p:nvSpPr>
        <p:spPr bwMode="auto">
          <a:xfrm flipV="1">
            <a:off x="4503033" y="51662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2" name="TextBox 31">
            <a:extLst>
              <a:ext uri="{FF2B5EF4-FFF2-40B4-BE49-F238E27FC236}">
                <a16:creationId xmlns:a16="http://schemas.microsoft.com/office/drawing/2014/main" id="{2CE55449-6500-40BA-8AF7-7DAE9798EDB4}"/>
              </a:ext>
            </a:extLst>
          </p:cNvPr>
          <p:cNvSpPr txBox="1"/>
          <p:nvPr/>
        </p:nvSpPr>
        <p:spPr>
          <a:xfrm>
            <a:off x="4125774" y="4459402"/>
            <a:ext cx="891572"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endParaRPr lang="en-US" altLang="ko-KR" sz="1200" dirty="0"/>
          </a:p>
          <a:p>
            <a:pPr algn="ctr"/>
            <a:r>
              <a:rPr lang="ko-KR" altLang="en-US" sz="1200" dirty="0"/>
              <a:t>제</a:t>
            </a:r>
            <a:r>
              <a:rPr lang="en-US" altLang="ko-KR" sz="1200" dirty="0"/>
              <a:t>203</a:t>
            </a:r>
            <a:r>
              <a:rPr lang="ko-KR" altLang="en-US" sz="1200" dirty="0"/>
              <a:t>조</a:t>
            </a:r>
            <a:endParaRPr lang="en-US" altLang="ko-KR" sz="1200" dirty="0"/>
          </a:p>
          <a:p>
            <a:pPr algn="ctr"/>
            <a:r>
              <a:rPr lang="ko-KR" altLang="en-US" sz="1200" dirty="0"/>
              <a:t>서면제출</a:t>
            </a:r>
            <a:r>
              <a:rPr lang="en-US" altLang="ko-KR" sz="1200" dirty="0"/>
              <a:t>(Y)</a:t>
            </a:r>
          </a:p>
          <a:p>
            <a:pPr algn="ctr"/>
            <a:endParaRPr lang="ko-KR" altLang="en-US" sz="1200" dirty="0"/>
          </a:p>
        </p:txBody>
      </p:sp>
      <p:cxnSp>
        <p:nvCxnSpPr>
          <p:cNvPr id="33" name="직선 연결선 32">
            <a:extLst>
              <a:ext uri="{FF2B5EF4-FFF2-40B4-BE49-F238E27FC236}">
                <a16:creationId xmlns:a16="http://schemas.microsoft.com/office/drawing/2014/main" id="{E9BD0054-BCDF-4D79-A982-94EABC7C52DC}"/>
              </a:ext>
            </a:extLst>
          </p:cNvPr>
          <p:cNvCxnSpPr>
            <a:cxnSpLocks/>
            <a:stCxn id="32" idx="2"/>
            <a:endCxn id="31" idx="4"/>
          </p:cNvCxnSpPr>
          <p:nvPr/>
        </p:nvCxnSpPr>
        <p:spPr>
          <a:xfrm>
            <a:off x="4571560" y="4921067"/>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Rectangle 14">
            <a:extLst>
              <a:ext uri="{FF2B5EF4-FFF2-40B4-BE49-F238E27FC236}">
                <a16:creationId xmlns:a16="http://schemas.microsoft.com/office/drawing/2014/main" id="{B50E55E5-B56D-4301-9700-FD03AC1FEB20}"/>
              </a:ext>
            </a:extLst>
          </p:cNvPr>
          <p:cNvSpPr>
            <a:spLocks noChangeArrowheads="1"/>
          </p:cNvSpPr>
          <p:nvPr/>
        </p:nvSpPr>
        <p:spPr bwMode="auto">
          <a:xfrm flipV="1">
            <a:off x="8184193" y="51662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7" name="TextBox 36">
            <a:extLst>
              <a:ext uri="{FF2B5EF4-FFF2-40B4-BE49-F238E27FC236}">
                <a16:creationId xmlns:a16="http://schemas.microsoft.com/office/drawing/2014/main" id="{C684EA47-FD04-4EB6-8B03-1685684E4E5E}"/>
              </a:ext>
            </a:extLst>
          </p:cNvPr>
          <p:cNvSpPr txBox="1"/>
          <p:nvPr/>
        </p:nvSpPr>
        <p:spPr>
          <a:xfrm>
            <a:off x="7806934" y="4669430"/>
            <a:ext cx="891572" cy="251637"/>
          </a:xfrm>
          <a:prstGeom prst="rect">
            <a:avLst/>
          </a:prstGeom>
          <a:solidFill>
            <a:schemeClr val="bg2">
              <a:lumMod val="90000"/>
            </a:schemeClr>
          </a:solidFill>
          <a:ln>
            <a:solidFill>
              <a:schemeClr val="bg1">
                <a:lumMod val="50000"/>
              </a:schemeClr>
            </a:solidFill>
          </a:ln>
        </p:spPr>
        <p:txBody>
          <a:bodyPr wrap="square" rtlCol="0" anchor="ctr">
            <a:noAutofit/>
          </a:bodyPr>
          <a:lstStyle/>
          <a:p>
            <a:pPr algn="ctr"/>
            <a:r>
              <a:rPr lang="ko-KR" altLang="en-US" sz="1200" dirty="0"/>
              <a:t>등록</a:t>
            </a:r>
            <a:r>
              <a:rPr lang="en-US" altLang="ko-KR" sz="1200" dirty="0"/>
              <a:t>(W)</a:t>
            </a:r>
            <a:endParaRPr lang="ko-KR" altLang="en-US" sz="1200" dirty="0"/>
          </a:p>
        </p:txBody>
      </p:sp>
      <p:cxnSp>
        <p:nvCxnSpPr>
          <p:cNvPr id="38" name="직선 연결선 37">
            <a:extLst>
              <a:ext uri="{FF2B5EF4-FFF2-40B4-BE49-F238E27FC236}">
                <a16:creationId xmlns:a16="http://schemas.microsoft.com/office/drawing/2014/main" id="{EF58E34F-463F-41B5-88FF-B9C1C5A9D075}"/>
              </a:ext>
            </a:extLst>
          </p:cNvPr>
          <p:cNvCxnSpPr>
            <a:cxnSpLocks/>
            <a:stCxn id="37" idx="2"/>
            <a:endCxn id="36" idx="4"/>
          </p:cNvCxnSpPr>
          <p:nvPr/>
        </p:nvCxnSpPr>
        <p:spPr>
          <a:xfrm>
            <a:off x="8252720" y="4921067"/>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0" name="Rectangle 14">
            <a:extLst>
              <a:ext uri="{FF2B5EF4-FFF2-40B4-BE49-F238E27FC236}">
                <a16:creationId xmlns:a16="http://schemas.microsoft.com/office/drawing/2014/main" id="{29C62620-AFCB-4DB8-B709-87201C2971E0}"/>
              </a:ext>
            </a:extLst>
          </p:cNvPr>
          <p:cNvSpPr>
            <a:spLocks noChangeArrowheads="1"/>
          </p:cNvSpPr>
          <p:nvPr/>
        </p:nvSpPr>
        <p:spPr bwMode="auto">
          <a:xfrm flipV="1">
            <a:off x="9294091" y="51662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1" name="TextBox 40">
            <a:extLst>
              <a:ext uri="{FF2B5EF4-FFF2-40B4-BE49-F238E27FC236}">
                <a16:creationId xmlns:a16="http://schemas.microsoft.com/office/drawing/2014/main" id="{010F4126-FF7F-400B-8A53-E015BCB4373A}"/>
              </a:ext>
            </a:extLst>
          </p:cNvPr>
          <p:cNvSpPr txBox="1"/>
          <p:nvPr/>
        </p:nvSpPr>
        <p:spPr>
          <a:xfrm>
            <a:off x="8916832" y="4459402"/>
            <a:ext cx="891572" cy="461665"/>
          </a:xfrm>
          <a:prstGeom prst="rect">
            <a:avLst/>
          </a:prstGeom>
          <a:solidFill>
            <a:schemeClr val="bg2">
              <a:lumMod val="90000"/>
            </a:schemeClr>
          </a:solidFill>
          <a:ln>
            <a:solidFill>
              <a:schemeClr val="bg1">
                <a:lumMod val="50000"/>
              </a:schemeClr>
            </a:solidFill>
          </a:ln>
        </p:spPr>
        <p:txBody>
          <a:bodyPr wrap="square" rtlCol="0" anchor="ctr">
            <a:noAutofit/>
          </a:bodyPr>
          <a:lstStyle/>
          <a:p>
            <a:pPr algn="ctr"/>
            <a:r>
              <a:rPr lang="en-US" altLang="ko-KR" sz="1200" dirty="0"/>
              <a:t>MPEG LA</a:t>
            </a:r>
          </a:p>
          <a:p>
            <a:pPr algn="ctr"/>
            <a:r>
              <a:rPr lang="ko-KR" altLang="en-US" sz="1200" dirty="0"/>
              <a:t>등재</a:t>
            </a:r>
            <a:r>
              <a:rPr lang="en-US" altLang="ko-KR" sz="1200" dirty="0"/>
              <a:t>(W)</a:t>
            </a:r>
          </a:p>
        </p:txBody>
      </p:sp>
      <p:cxnSp>
        <p:nvCxnSpPr>
          <p:cNvPr id="42" name="직선 연결선 41">
            <a:extLst>
              <a:ext uri="{FF2B5EF4-FFF2-40B4-BE49-F238E27FC236}">
                <a16:creationId xmlns:a16="http://schemas.microsoft.com/office/drawing/2014/main" id="{8509CF33-4407-4446-9B73-C3D788335AFD}"/>
              </a:ext>
            </a:extLst>
          </p:cNvPr>
          <p:cNvCxnSpPr>
            <a:cxnSpLocks/>
            <a:stCxn id="41" idx="2"/>
            <a:endCxn id="40" idx="4"/>
          </p:cNvCxnSpPr>
          <p:nvPr/>
        </p:nvCxnSpPr>
        <p:spPr>
          <a:xfrm>
            <a:off x="9362618" y="4921067"/>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Rectangle 14">
            <a:extLst>
              <a:ext uri="{FF2B5EF4-FFF2-40B4-BE49-F238E27FC236}">
                <a16:creationId xmlns:a16="http://schemas.microsoft.com/office/drawing/2014/main" id="{114C4356-3C88-4108-8FD5-23AE8736DEFD}"/>
              </a:ext>
            </a:extLst>
          </p:cNvPr>
          <p:cNvSpPr>
            <a:spLocks noChangeArrowheads="1"/>
          </p:cNvSpPr>
          <p:nvPr/>
        </p:nvSpPr>
        <p:spPr bwMode="auto">
          <a:xfrm flipV="1">
            <a:off x="10008254" y="51662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6" name="TextBox 45">
            <a:extLst>
              <a:ext uri="{FF2B5EF4-FFF2-40B4-BE49-F238E27FC236}">
                <a16:creationId xmlns:a16="http://schemas.microsoft.com/office/drawing/2014/main" id="{EE37B632-9634-45C8-86EE-71A6703BA305}"/>
              </a:ext>
            </a:extLst>
          </p:cNvPr>
          <p:cNvSpPr txBox="1"/>
          <p:nvPr/>
        </p:nvSpPr>
        <p:spPr>
          <a:xfrm>
            <a:off x="9532213" y="5564537"/>
            <a:ext cx="1108186" cy="269460"/>
          </a:xfrm>
          <a:prstGeom prst="rect">
            <a:avLst/>
          </a:prstGeom>
          <a:solidFill>
            <a:schemeClr val="accent2"/>
          </a:solidFill>
          <a:ln>
            <a:solidFill>
              <a:schemeClr val="bg1">
                <a:lumMod val="50000"/>
              </a:schemeClr>
            </a:solidFill>
          </a:ln>
        </p:spPr>
        <p:txBody>
          <a:bodyPr wrap="square" rtlCol="0" anchor="ctr">
            <a:noAutofit/>
          </a:bodyPr>
          <a:lstStyle/>
          <a:p>
            <a:pPr algn="ctr"/>
            <a:r>
              <a:rPr lang="ko-KR" altLang="en-US" sz="1400" dirty="0" err="1"/>
              <a:t>실시권</a:t>
            </a:r>
            <a:r>
              <a:rPr lang="ko-KR" altLang="en-US" sz="1400" dirty="0"/>
              <a:t> 허락</a:t>
            </a:r>
          </a:p>
        </p:txBody>
      </p:sp>
      <p:cxnSp>
        <p:nvCxnSpPr>
          <p:cNvPr id="47" name="직선 연결선 46">
            <a:extLst>
              <a:ext uri="{FF2B5EF4-FFF2-40B4-BE49-F238E27FC236}">
                <a16:creationId xmlns:a16="http://schemas.microsoft.com/office/drawing/2014/main" id="{2CC8D034-8B33-4B78-94DB-77ED3083A8D4}"/>
              </a:ext>
            </a:extLst>
          </p:cNvPr>
          <p:cNvCxnSpPr>
            <a:cxnSpLocks/>
            <a:stCxn id="46" idx="0"/>
            <a:endCxn id="45" idx="0"/>
          </p:cNvCxnSpPr>
          <p:nvPr/>
        </p:nvCxnSpPr>
        <p:spPr>
          <a:xfrm flipH="1" flipV="1">
            <a:off x="10079692" y="5319332"/>
            <a:ext cx="6614" cy="24520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9" name="Rectangle 14">
            <a:extLst>
              <a:ext uri="{FF2B5EF4-FFF2-40B4-BE49-F238E27FC236}">
                <a16:creationId xmlns:a16="http://schemas.microsoft.com/office/drawing/2014/main" id="{684329BD-425F-4A82-B43B-7846B4A26A92}"/>
              </a:ext>
            </a:extLst>
          </p:cNvPr>
          <p:cNvSpPr>
            <a:spLocks noChangeArrowheads="1"/>
          </p:cNvSpPr>
          <p:nvPr/>
        </p:nvSpPr>
        <p:spPr bwMode="auto">
          <a:xfrm flipV="1">
            <a:off x="11275442" y="51662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0" name="TextBox 49">
            <a:extLst>
              <a:ext uri="{FF2B5EF4-FFF2-40B4-BE49-F238E27FC236}">
                <a16:creationId xmlns:a16="http://schemas.microsoft.com/office/drawing/2014/main" id="{623709A0-C09D-493A-9DA9-87D5B9D25BEC}"/>
              </a:ext>
            </a:extLst>
          </p:cNvPr>
          <p:cNvSpPr txBox="1"/>
          <p:nvPr/>
        </p:nvSpPr>
        <p:spPr>
          <a:xfrm>
            <a:off x="10710531" y="5564536"/>
            <a:ext cx="1285926" cy="538189"/>
          </a:xfrm>
          <a:prstGeom prst="rect">
            <a:avLst/>
          </a:prstGeom>
          <a:solidFill>
            <a:schemeClr val="accent2"/>
          </a:solidFill>
          <a:ln>
            <a:solidFill>
              <a:schemeClr val="bg1">
                <a:lumMod val="50000"/>
              </a:schemeClr>
            </a:solidFill>
          </a:ln>
        </p:spPr>
        <p:txBody>
          <a:bodyPr wrap="square" rtlCol="0" anchor="ctr">
            <a:noAutofit/>
          </a:bodyPr>
          <a:lstStyle/>
          <a:p>
            <a:pPr algn="ctr"/>
            <a:r>
              <a:rPr lang="ko-KR" altLang="en-US" sz="1400" dirty="0"/>
              <a:t>무효심판청구</a:t>
            </a:r>
            <a:endParaRPr lang="en-US" altLang="ko-KR" sz="1400" dirty="0"/>
          </a:p>
          <a:p>
            <a:pPr algn="ctr"/>
            <a:r>
              <a:rPr lang="en-US" altLang="ko-KR" sz="1400" dirty="0"/>
              <a:t>(</a:t>
            </a:r>
            <a:r>
              <a:rPr lang="ko-KR" altLang="en-US" sz="1400" dirty="0"/>
              <a:t>제</a:t>
            </a:r>
            <a:r>
              <a:rPr lang="en-US" altLang="ko-KR" sz="1400" dirty="0"/>
              <a:t>29</a:t>
            </a:r>
            <a:r>
              <a:rPr lang="ko-KR" altLang="en-US" sz="1400" dirty="0"/>
              <a:t>조제</a:t>
            </a:r>
            <a:r>
              <a:rPr lang="en-US" altLang="ko-KR" sz="1400" dirty="0"/>
              <a:t>3</a:t>
            </a:r>
            <a:r>
              <a:rPr lang="ko-KR" altLang="en-US" sz="1400" dirty="0"/>
              <a:t>항</a:t>
            </a:r>
            <a:r>
              <a:rPr lang="en-US" altLang="ko-KR" sz="1400" dirty="0"/>
              <a:t>)</a:t>
            </a:r>
            <a:endParaRPr lang="ko-KR" altLang="en-US" sz="1400" dirty="0"/>
          </a:p>
        </p:txBody>
      </p:sp>
      <p:cxnSp>
        <p:nvCxnSpPr>
          <p:cNvPr id="51" name="직선 연결선 50">
            <a:extLst>
              <a:ext uri="{FF2B5EF4-FFF2-40B4-BE49-F238E27FC236}">
                <a16:creationId xmlns:a16="http://schemas.microsoft.com/office/drawing/2014/main" id="{42CF6358-4EF3-483D-9D19-7C5FC6F14D80}"/>
              </a:ext>
            </a:extLst>
          </p:cNvPr>
          <p:cNvCxnSpPr>
            <a:cxnSpLocks/>
            <a:stCxn id="50" idx="0"/>
            <a:endCxn id="49" idx="0"/>
          </p:cNvCxnSpPr>
          <p:nvPr/>
        </p:nvCxnSpPr>
        <p:spPr>
          <a:xfrm flipH="1" flipV="1">
            <a:off x="11346880" y="5319332"/>
            <a:ext cx="6614" cy="2452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말풍선: 사각형 53">
            <a:extLst>
              <a:ext uri="{FF2B5EF4-FFF2-40B4-BE49-F238E27FC236}">
                <a16:creationId xmlns:a16="http://schemas.microsoft.com/office/drawing/2014/main" id="{D2D90C2E-DBA0-4838-A365-248C5348EB50}"/>
              </a:ext>
            </a:extLst>
          </p:cNvPr>
          <p:cNvSpPr/>
          <p:nvPr/>
        </p:nvSpPr>
        <p:spPr>
          <a:xfrm>
            <a:off x="2797061" y="5512779"/>
            <a:ext cx="6639668" cy="1015663"/>
          </a:xfrm>
          <a:prstGeom prst="wedgeRectCallout">
            <a:avLst>
              <a:gd name="adj1" fmla="val 14376"/>
              <a:gd name="adj2" fmla="val -69147"/>
            </a:avLst>
          </a:prstGeom>
          <a:ln>
            <a:solidFill>
              <a:schemeClr val="bg2">
                <a:lumMod val="90000"/>
              </a:schemeClr>
            </a:solidFill>
          </a:ln>
        </p:spPr>
        <p:txBody>
          <a:bodyPr wrap="square">
            <a:spAutoFit/>
          </a:bodyPr>
          <a:lstStyle/>
          <a:p>
            <a:r>
              <a:rPr lang="ko-KR" altLang="en-US" sz="1200" dirty="0" err="1"/>
              <a:t>자출원</a:t>
            </a:r>
            <a:r>
              <a:rPr lang="en-US" altLang="ko-KR" sz="1200" dirty="0"/>
              <a:t>(Z) </a:t>
            </a:r>
            <a:r>
              <a:rPr lang="ko-KR" altLang="en-US" sz="1200" dirty="0"/>
              <a:t>및 이 사건 출원</a:t>
            </a:r>
            <a:r>
              <a:rPr lang="en-US" altLang="ko-KR" sz="1200" dirty="0"/>
              <a:t>(W)</a:t>
            </a:r>
            <a:r>
              <a:rPr lang="ko-KR" altLang="en-US" sz="1200" dirty="0"/>
              <a:t>의 </a:t>
            </a:r>
            <a:r>
              <a:rPr lang="ko-KR" altLang="en-US" sz="1200" dirty="0" err="1"/>
              <a:t>특허출원서에</a:t>
            </a:r>
            <a:r>
              <a:rPr lang="ko-KR" altLang="en-US" sz="1200" dirty="0"/>
              <a:t> ‘우선권 주장의 취지 및 이 사건 선출원의 </a:t>
            </a:r>
            <a:r>
              <a:rPr lang="ko-KR" altLang="en-US" sz="1200" dirty="0" err="1"/>
              <a:t>표시’가</a:t>
            </a:r>
            <a:r>
              <a:rPr lang="ko-KR" altLang="en-US" sz="1200" dirty="0"/>
              <a:t> 기재되지 아니한 사실이 인정된다</a:t>
            </a:r>
            <a:r>
              <a:rPr lang="en-US" altLang="ko-KR" sz="1200" dirty="0"/>
              <a:t>. </a:t>
            </a:r>
            <a:r>
              <a:rPr lang="ko-KR" altLang="en-US" sz="1200" dirty="0"/>
              <a:t>이러한 인정사실을 위 법리에 비추어 보면</a:t>
            </a:r>
            <a:r>
              <a:rPr lang="en-US" altLang="ko-KR" sz="1200" dirty="0"/>
              <a:t>, </a:t>
            </a:r>
            <a:r>
              <a:rPr lang="ko-KR" altLang="en-US" sz="1200" dirty="0"/>
              <a:t>이 사건 특허발명에 대하여 구 특허법 제</a:t>
            </a:r>
            <a:r>
              <a:rPr lang="en-US" altLang="ko-KR" sz="1200" dirty="0"/>
              <a:t>55</a:t>
            </a:r>
            <a:r>
              <a:rPr lang="ko-KR" altLang="en-US" sz="1200" dirty="0"/>
              <a:t>조에 따른 우선권 주장의 효력이 인정될 수는 없으므로</a:t>
            </a:r>
            <a:r>
              <a:rPr lang="en-US" altLang="ko-KR" sz="1200" dirty="0"/>
              <a:t>, </a:t>
            </a:r>
            <a:r>
              <a:rPr lang="ko-KR" altLang="en-US" sz="1200" dirty="0"/>
              <a:t>결국 이 사건 특허발명에 대하여 구 특허법 제</a:t>
            </a:r>
            <a:r>
              <a:rPr lang="en-US" altLang="ko-KR" sz="1200" dirty="0"/>
              <a:t>29</a:t>
            </a:r>
            <a:r>
              <a:rPr lang="ko-KR" altLang="en-US" sz="1200" dirty="0"/>
              <a:t>조 제</a:t>
            </a:r>
            <a:r>
              <a:rPr lang="en-US" altLang="ko-KR" sz="1200" dirty="0"/>
              <a:t>2</a:t>
            </a:r>
            <a:r>
              <a:rPr lang="ko-KR" altLang="en-US" sz="1200" dirty="0"/>
              <a:t>항 또는 제</a:t>
            </a:r>
            <a:r>
              <a:rPr lang="en-US" altLang="ko-KR" sz="1200" dirty="0"/>
              <a:t>29</a:t>
            </a:r>
            <a:r>
              <a:rPr lang="ko-KR" altLang="en-US" sz="1200" dirty="0"/>
              <a:t>조 제</a:t>
            </a:r>
            <a:r>
              <a:rPr lang="en-US" altLang="ko-KR" sz="1200" dirty="0"/>
              <a:t>3</a:t>
            </a:r>
            <a:r>
              <a:rPr lang="ko-KR" altLang="en-US" sz="1200" dirty="0"/>
              <a:t>항 본문의 규정을 적용할 때에는 구 특허법 제</a:t>
            </a:r>
            <a:r>
              <a:rPr lang="en-US" altLang="ko-KR" sz="1200" dirty="0"/>
              <a:t>52</a:t>
            </a:r>
            <a:r>
              <a:rPr lang="ko-KR" altLang="en-US" sz="1200" dirty="0"/>
              <a:t>조 제</a:t>
            </a:r>
            <a:r>
              <a:rPr lang="en-US" altLang="ko-KR" sz="1200" dirty="0"/>
              <a:t>2</a:t>
            </a:r>
            <a:r>
              <a:rPr lang="ko-KR" altLang="en-US" sz="1200" dirty="0"/>
              <a:t>항 본문에 따라 모출원의 국제출원일인 </a:t>
            </a:r>
            <a:r>
              <a:rPr lang="en-US" altLang="ko-KR" sz="1200" dirty="0"/>
              <a:t>2012. 1. 20.</a:t>
            </a:r>
            <a:r>
              <a:rPr lang="ko-KR" altLang="en-US" sz="1200" dirty="0"/>
              <a:t>에 출원된 것으로 보아야 한다</a:t>
            </a:r>
            <a:r>
              <a:rPr lang="en-US" altLang="ko-KR" sz="1200" dirty="0"/>
              <a:t>.</a:t>
            </a:r>
            <a:endParaRPr lang="ko-KR" altLang="en-US" sz="1200" dirty="0"/>
          </a:p>
        </p:txBody>
      </p:sp>
      <p:sp>
        <p:nvSpPr>
          <p:cNvPr id="58" name="Rectangle 14">
            <a:extLst>
              <a:ext uri="{FF2B5EF4-FFF2-40B4-BE49-F238E27FC236}">
                <a16:creationId xmlns:a16="http://schemas.microsoft.com/office/drawing/2014/main" id="{6FBE3508-F2EE-4BC0-A6D3-7C47B97C9FD2}"/>
              </a:ext>
            </a:extLst>
          </p:cNvPr>
          <p:cNvSpPr>
            <a:spLocks noChangeArrowheads="1"/>
          </p:cNvSpPr>
          <p:nvPr/>
        </p:nvSpPr>
        <p:spPr bwMode="auto">
          <a:xfrm flipV="1">
            <a:off x="6971140" y="51662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9" name="TextBox 58">
            <a:extLst>
              <a:ext uri="{FF2B5EF4-FFF2-40B4-BE49-F238E27FC236}">
                <a16:creationId xmlns:a16="http://schemas.microsoft.com/office/drawing/2014/main" id="{D07D88BF-D93F-4979-9C30-E8515D70E564}"/>
              </a:ext>
            </a:extLst>
          </p:cNvPr>
          <p:cNvSpPr txBox="1"/>
          <p:nvPr/>
        </p:nvSpPr>
        <p:spPr>
          <a:xfrm>
            <a:off x="6503377" y="4207508"/>
            <a:ext cx="1072580" cy="713559"/>
          </a:xfrm>
          <a:prstGeom prst="rect">
            <a:avLst/>
          </a:prstGeom>
          <a:solidFill>
            <a:schemeClr val="bg2">
              <a:lumMod val="90000"/>
            </a:schemeClr>
          </a:solidFill>
          <a:ln>
            <a:solidFill>
              <a:schemeClr val="bg1">
                <a:lumMod val="50000"/>
              </a:schemeClr>
            </a:solidFill>
          </a:ln>
        </p:spPr>
        <p:txBody>
          <a:bodyPr wrap="square" rtlCol="0" anchor="ctr">
            <a:noAutofit/>
          </a:bodyPr>
          <a:lstStyle/>
          <a:p>
            <a:pPr algn="ctr"/>
            <a:endParaRPr lang="en-US" altLang="ko-KR" sz="1200" dirty="0"/>
          </a:p>
          <a:p>
            <a:pPr algn="ctr"/>
            <a:r>
              <a:rPr lang="en-US" altLang="ko-KR" sz="1200" dirty="0"/>
              <a:t>Z</a:t>
            </a:r>
            <a:r>
              <a:rPr lang="ko-KR" altLang="en-US" sz="1200" dirty="0"/>
              <a:t>기초</a:t>
            </a:r>
            <a:endParaRPr lang="en-US" altLang="ko-KR" sz="1200" dirty="0"/>
          </a:p>
          <a:p>
            <a:pPr algn="ctr"/>
            <a:r>
              <a:rPr lang="ko-KR" altLang="en-US" sz="1200" dirty="0"/>
              <a:t>분할출원</a:t>
            </a:r>
            <a:r>
              <a:rPr lang="en-US" altLang="ko-KR" sz="1200" dirty="0"/>
              <a:t>(W)</a:t>
            </a:r>
          </a:p>
          <a:p>
            <a:pPr algn="ctr"/>
            <a:r>
              <a:rPr lang="en-US" altLang="ko-KR" sz="1200" dirty="0"/>
              <a:t>2014.4.25</a:t>
            </a:r>
          </a:p>
          <a:p>
            <a:pPr algn="ctr"/>
            <a:endParaRPr lang="ko-KR" altLang="en-US" sz="1200" dirty="0"/>
          </a:p>
        </p:txBody>
      </p:sp>
      <p:cxnSp>
        <p:nvCxnSpPr>
          <p:cNvPr id="60" name="직선 연결선 59">
            <a:extLst>
              <a:ext uri="{FF2B5EF4-FFF2-40B4-BE49-F238E27FC236}">
                <a16:creationId xmlns:a16="http://schemas.microsoft.com/office/drawing/2014/main" id="{24D6B18B-B1A9-459B-9504-BC6D225463D2}"/>
              </a:ext>
            </a:extLst>
          </p:cNvPr>
          <p:cNvCxnSpPr>
            <a:cxnSpLocks/>
            <a:stCxn id="59" idx="2"/>
            <a:endCxn id="58" idx="4"/>
          </p:cNvCxnSpPr>
          <p:nvPr/>
        </p:nvCxnSpPr>
        <p:spPr>
          <a:xfrm>
            <a:off x="7039667" y="4921067"/>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F972C9AD-4B5F-4276-9491-89E78CD2CA95}"/>
              </a:ext>
            </a:extLst>
          </p:cNvPr>
          <p:cNvSpPr txBox="1"/>
          <p:nvPr/>
        </p:nvSpPr>
        <p:spPr>
          <a:xfrm>
            <a:off x="2754854" y="6521420"/>
            <a:ext cx="4581703" cy="276999"/>
          </a:xfrm>
          <a:prstGeom prst="rect">
            <a:avLst/>
          </a:prstGeom>
          <a:noFill/>
        </p:spPr>
        <p:txBody>
          <a:bodyPr wrap="none" rtlCol="0">
            <a:spAutoFit/>
          </a:bodyPr>
          <a:lstStyle/>
          <a:p>
            <a:r>
              <a:rPr lang="en-US" altLang="ko-KR" sz="1200" dirty="0">
                <a:solidFill>
                  <a:srgbClr val="FF0000"/>
                </a:solidFill>
              </a:rPr>
              <a:t>* </a:t>
            </a:r>
            <a:r>
              <a:rPr lang="ko-KR" altLang="en-US" sz="1200" dirty="0">
                <a:solidFill>
                  <a:srgbClr val="FF0000"/>
                </a:solidFill>
              </a:rPr>
              <a:t>단</a:t>
            </a:r>
            <a:r>
              <a:rPr lang="en-US" altLang="ko-KR" sz="1200" dirty="0">
                <a:solidFill>
                  <a:srgbClr val="FF0000"/>
                </a:solidFill>
              </a:rPr>
              <a:t>, 2022.4.20. </a:t>
            </a:r>
            <a:r>
              <a:rPr lang="ko-KR" altLang="en-US" sz="1200" dirty="0">
                <a:solidFill>
                  <a:srgbClr val="FF0000"/>
                </a:solidFill>
              </a:rPr>
              <a:t>시행되는 개정법</a:t>
            </a:r>
            <a:r>
              <a:rPr lang="en-US" altLang="ko-KR" sz="1200" dirty="0">
                <a:solidFill>
                  <a:srgbClr val="FF0000"/>
                </a:solidFill>
              </a:rPr>
              <a:t>(</a:t>
            </a:r>
            <a:r>
              <a:rPr lang="ko-KR" altLang="en-US" sz="1200" dirty="0">
                <a:solidFill>
                  <a:srgbClr val="FF0000"/>
                </a:solidFill>
              </a:rPr>
              <a:t>제</a:t>
            </a:r>
            <a:r>
              <a:rPr lang="en-US" altLang="ko-KR" sz="1200" dirty="0">
                <a:solidFill>
                  <a:srgbClr val="FF0000"/>
                </a:solidFill>
              </a:rPr>
              <a:t>18505</a:t>
            </a:r>
            <a:r>
              <a:rPr lang="ko-KR" altLang="en-US" sz="1200" dirty="0">
                <a:solidFill>
                  <a:srgbClr val="FF0000"/>
                </a:solidFill>
              </a:rPr>
              <a:t>호</a:t>
            </a:r>
            <a:r>
              <a:rPr lang="en-US" altLang="ko-KR" sz="1200" dirty="0">
                <a:solidFill>
                  <a:srgbClr val="FF0000"/>
                </a:solidFill>
              </a:rPr>
              <a:t>)</a:t>
            </a:r>
            <a:r>
              <a:rPr lang="ko-KR" altLang="en-US" sz="1200" dirty="0">
                <a:solidFill>
                  <a:srgbClr val="FF0000"/>
                </a:solidFill>
              </a:rPr>
              <a:t>에 의하면 자동주장간주</a:t>
            </a:r>
          </a:p>
        </p:txBody>
      </p:sp>
    </p:spTree>
    <p:extLst>
      <p:ext uri="{BB962C8B-B14F-4D97-AF65-F5344CB8AC3E}">
        <p14:creationId xmlns:p14="http://schemas.microsoft.com/office/powerpoint/2010/main" val="3537915135"/>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139</a:t>
            </a:r>
            <a:r>
              <a:rPr lang="ko-KR" altLang="en-US" dirty="0"/>
              <a:t>조</a:t>
            </a:r>
          </a:p>
        </p:txBody>
      </p:sp>
      <p:sp>
        <p:nvSpPr>
          <p:cNvPr id="3" name="텍스트 개체 틀 2"/>
          <p:cNvSpPr>
            <a:spLocks noGrp="1"/>
          </p:cNvSpPr>
          <p:nvPr>
            <p:ph type="body" sz="quarter" idx="13"/>
          </p:nvPr>
        </p:nvSpPr>
        <p:spPr/>
        <p:txBody>
          <a:bodyPr/>
          <a:lstStyle/>
          <a:p>
            <a:r>
              <a:rPr lang="ko-KR" altLang="en-US" dirty="0"/>
              <a:t>이해관계의 </a:t>
            </a:r>
            <a:r>
              <a:rPr lang="ko-KR" altLang="en-US" dirty="0" err="1"/>
              <a:t>판단시점</a:t>
            </a:r>
            <a:endParaRPr lang="ko-KR" altLang="en-US" dirty="0"/>
          </a:p>
        </p:txBody>
      </p:sp>
      <p:cxnSp>
        <p:nvCxnSpPr>
          <p:cNvPr id="5" name="직선 연결선 4"/>
          <p:cNvCxnSpPr/>
          <p:nvPr/>
        </p:nvCxnSpPr>
        <p:spPr>
          <a:xfrm>
            <a:off x="86840" y="468539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7875" y="976902"/>
            <a:ext cx="12027285" cy="3754874"/>
          </a:xfrm>
          <a:prstGeom prst="rect">
            <a:avLst/>
          </a:prstGeom>
          <a:noFill/>
        </p:spPr>
        <p:txBody>
          <a:bodyPr wrap="square" rtlCol="0">
            <a:spAutoFit/>
          </a:bodyPr>
          <a:lstStyle/>
          <a:p>
            <a:pPr algn="just" fontAlgn="base"/>
            <a:r>
              <a:rPr lang="ko-KR" altLang="en-US" sz="1400" dirty="0" err="1">
                <a:solidFill>
                  <a:schemeClr val="tx2"/>
                </a:solidFill>
                <a:highlight>
                  <a:srgbClr val="FFFF00"/>
                </a:highlight>
              </a:rPr>
              <a:t>심결</a:t>
            </a:r>
            <a:r>
              <a:rPr lang="ko-KR" altLang="en-US" sz="1400" dirty="0">
                <a:solidFill>
                  <a:schemeClr val="tx2"/>
                </a:solidFill>
                <a:highlight>
                  <a:srgbClr val="FFFF00"/>
                </a:highlight>
              </a:rPr>
              <a:t> 시</a:t>
            </a:r>
            <a:r>
              <a:rPr lang="en-US" altLang="ko-KR" sz="1400" dirty="0">
                <a:solidFill>
                  <a:schemeClr val="tx2"/>
                </a:solidFill>
                <a:highlight>
                  <a:srgbClr val="FFFF00"/>
                </a:highlight>
              </a:rPr>
              <a:t>*</a:t>
            </a:r>
            <a:r>
              <a:rPr lang="ko-KR" altLang="en-US" sz="1400" dirty="0">
                <a:solidFill>
                  <a:schemeClr val="tx2"/>
                </a:solidFill>
              </a:rPr>
              <a:t>를 기준으로 이해관계의 </a:t>
            </a:r>
            <a:r>
              <a:rPr lang="ko-KR" altLang="en-US" sz="1400" dirty="0" err="1">
                <a:solidFill>
                  <a:schemeClr val="tx2"/>
                </a:solidFill>
              </a:rPr>
              <a:t>존부를</a:t>
            </a:r>
            <a:r>
              <a:rPr lang="ko-KR" altLang="en-US" sz="1400" dirty="0">
                <a:solidFill>
                  <a:schemeClr val="tx2"/>
                </a:solidFill>
              </a:rPr>
              <a:t> 판단한다</a:t>
            </a:r>
            <a:r>
              <a:rPr lang="en-US" altLang="ko-KR" sz="1400" dirty="0">
                <a:solidFill>
                  <a:schemeClr val="tx2"/>
                </a:solidFill>
              </a:rPr>
              <a:t>. </a:t>
            </a:r>
            <a:r>
              <a:rPr lang="ko-KR" altLang="en-US" sz="1400" dirty="0">
                <a:solidFill>
                  <a:schemeClr val="tx2"/>
                </a:solidFill>
              </a:rPr>
              <a:t>따라서 심판청구 당시에는 이해관계가 없는 경우라도 </a:t>
            </a:r>
            <a:r>
              <a:rPr lang="ko-KR" altLang="en-US" sz="1400" dirty="0" err="1">
                <a:solidFill>
                  <a:schemeClr val="tx2"/>
                </a:solidFill>
              </a:rPr>
              <a:t>심결</a:t>
            </a:r>
            <a:r>
              <a:rPr lang="ko-KR" altLang="en-US" sz="1400" dirty="0">
                <a:solidFill>
                  <a:schemeClr val="tx2"/>
                </a:solidFill>
              </a:rPr>
              <a:t> 시에 이해관계가 있으면 적법한 심판청구로 인정되며</a:t>
            </a:r>
            <a:r>
              <a:rPr lang="en-US" altLang="ko-KR" sz="1400" dirty="0">
                <a:solidFill>
                  <a:schemeClr val="tx2"/>
                </a:solidFill>
              </a:rPr>
              <a:t>, </a:t>
            </a:r>
            <a:r>
              <a:rPr lang="ko-KR" altLang="en-US" sz="1400" dirty="0">
                <a:solidFill>
                  <a:schemeClr val="tx2"/>
                </a:solidFill>
              </a:rPr>
              <a:t>심판청구 시에는 이해관계가 성립되었던 심판청구도 그 </a:t>
            </a:r>
            <a:r>
              <a:rPr lang="ko-KR" altLang="en-US" sz="1400" dirty="0" err="1">
                <a:solidFill>
                  <a:schemeClr val="tx2"/>
                </a:solidFill>
              </a:rPr>
              <a:t>심결</a:t>
            </a:r>
            <a:r>
              <a:rPr lang="ko-KR" altLang="en-US" sz="1400" dirty="0">
                <a:solidFill>
                  <a:schemeClr val="tx2"/>
                </a:solidFill>
              </a:rPr>
              <a:t> 시에 이해관계가 소멸된 경우에는 </a:t>
            </a:r>
            <a:r>
              <a:rPr lang="ko-KR" altLang="en-US" sz="1400" dirty="0" err="1">
                <a:solidFill>
                  <a:schemeClr val="tx2"/>
                </a:solidFill>
              </a:rPr>
              <a:t>부적법한</a:t>
            </a:r>
            <a:r>
              <a:rPr lang="ko-KR" altLang="en-US" sz="1400" dirty="0">
                <a:solidFill>
                  <a:schemeClr val="tx2"/>
                </a:solidFill>
              </a:rPr>
              <a:t> 심판청구로서 </a:t>
            </a:r>
            <a:r>
              <a:rPr lang="ko-KR" altLang="en-US" sz="1400" dirty="0" err="1">
                <a:solidFill>
                  <a:schemeClr val="tx2"/>
                </a:solidFill>
              </a:rPr>
              <a:t>심결각하된다</a:t>
            </a:r>
            <a:r>
              <a:rPr lang="en-US" altLang="ko-KR" sz="1400" dirty="0">
                <a:solidFill>
                  <a:schemeClr val="tx2"/>
                </a:solidFill>
              </a:rPr>
              <a:t>. </a:t>
            </a:r>
            <a:r>
              <a:rPr lang="ko-KR" altLang="en-US" sz="1400" dirty="0">
                <a:solidFill>
                  <a:schemeClr val="tx2"/>
                </a:solidFill>
              </a:rPr>
              <a:t>예를 들어</a:t>
            </a:r>
            <a:r>
              <a:rPr lang="en-US" altLang="ko-KR" sz="1400" dirty="0">
                <a:solidFill>
                  <a:schemeClr val="tx2"/>
                </a:solidFill>
              </a:rPr>
              <a:t>, </a:t>
            </a:r>
            <a:r>
              <a:rPr lang="ko-KR" altLang="en-US" sz="1400" dirty="0" err="1">
                <a:solidFill>
                  <a:schemeClr val="tx2"/>
                </a:solidFill>
              </a:rPr>
              <a:t>심판계속</a:t>
            </a:r>
            <a:r>
              <a:rPr lang="ko-KR" altLang="en-US" sz="1400" dirty="0">
                <a:solidFill>
                  <a:schemeClr val="tx2"/>
                </a:solidFill>
              </a:rPr>
              <a:t> 중에 당사자의 합의가 있거나 화해를 한 경우 또는 청구인이 심판의 대상인 권리를 양도받음으로써 혼동이 있는 경우에는 이해관계가 소멸된 것으로 본다</a:t>
            </a:r>
            <a:r>
              <a:rPr lang="en-US" altLang="ko-KR" sz="1400" dirty="0">
                <a:solidFill>
                  <a:schemeClr val="tx2"/>
                </a:solidFill>
              </a:rPr>
              <a:t>. </a:t>
            </a:r>
            <a:r>
              <a:rPr lang="ko-KR" altLang="en-US" sz="1400" dirty="0">
                <a:solidFill>
                  <a:schemeClr val="tx2"/>
                </a:solidFill>
              </a:rPr>
              <a:t>다만 합의가 있었다는 사실만으로 곧바로 이해관계가 소멸하였다고 볼 수는 없고</a:t>
            </a:r>
            <a:r>
              <a:rPr lang="en-US" altLang="ko-KR" sz="1400" dirty="0">
                <a:solidFill>
                  <a:schemeClr val="tx2"/>
                </a:solidFill>
              </a:rPr>
              <a:t>, </a:t>
            </a:r>
            <a:r>
              <a:rPr lang="ko-KR" altLang="en-US" sz="1400" dirty="0">
                <a:solidFill>
                  <a:schemeClr val="tx2"/>
                </a:solidFill>
              </a:rPr>
              <a:t>각각의 심판별로 합의에 이르게 된 경위</a:t>
            </a:r>
            <a:r>
              <a:rPr lang="en-US" altLang="ko-KR" sz="1400" dirty="0">
                <a:solidFill>
                  <a:schemeClr val="tx2"/>
                </a:solidFill>
              </a:rPr>
              <a:t>, </a:t>
            </a:r>
            <a:r>
              <a:rPr lang="ko-KR" altLang="en-US" sz="1400" dirty="0">
                <a:solidFill>
                  <a:schemeClr val="tx2"/>
                </a:solidFill>
              </a:rPr>
              <a:t>합의의 내용</a:t>
            </a:r>
            <a:r>
              <a:rPr lang="en-US" altLang="ko-KR" sz="1400" dirty="0">
                <a:solidFill>
                  <a:schemeClr val="tx2"/>
                </a:solidFill>
              </a:rPr>
              <a:t>, </a:t>
            </a:r>
            <a:r>
              <a:rPr lang="ko-KR" altLang="en-US" sz="1400" dirty="0">
                <a:solidFill>
                  <a:schemeClr val="tx2"/>
                </a:solidFill>
              </a:rPr>
              <a:t>합의 후의 사정 등을 종합하여 이해관계의 소멸 여부를 판단하여야 한다</a:t>
            </a:r>
            <a:r>
              <a:rPr lang="en-US" altLang="ko-KR" sz="1400" dirty="0">
                <a:solidFill>
                  <a:schemeClr val="tx2"/>
                </a:solidFill>
              </a:rPr>
              <a:t>. </a:t>
            </a:r>
            <a:r>
              <a:rPr lang="ko-KR" altLang="en-US" sz="1400" dirty="0">
                <a:solidFill>
                  <a:schemeClr val="tx2"/>
                </a:solidFill>
              </a:rPr>
              <a:t>합의의 내용을 일례로 들면</a:t>
            </a:r>
            <a:r>
              <a:rPr lang="en-US" altLang="ko-KR" sz="1400" dirty="0">
                <a:solidFill>
                  <a:schemeClr val="tx2"/>
                </a:solidFill>
              </a:rPr>
              <a:t>, </a:t>
            </a:r>
            <a:r>
              <a:rPr lang="ko-KR" altLang="en-US" sz="1400" dirty="0">
                <a:solidFill>
                  <a:schemeClr val="tx2"/>
                </a:solidFill>
              </a:rPr>
              <a:t>대법원 </a:t>
            </a:r>
            <a:r>
              <a:rPr lang="en-US" altLang="ko-KR" sz="1400" dirty="0">
                <a:solidFill>
                  <a:schemeClr val="tx2"/>
                </a:solidFill>
              </a:rPr>
              <a:t>1979. 3. 13. </a:t>
            </a:r>
            <a:r>
              <a:rPr lang="ko-KR" altLang="en-US" sz="1400" dirty="0">
                <a:solidFill>
                  <a:schemeClr val="tx2"/>
                </a:solidFill>
              </a:rPr>
              <a:t>선고 </a:t>
            </a:r>
            <a:r>
              <a:rPr lang="en-US" altLang="ko-KR" sz="1400" dirty="0">
                <a:solidFill>
                  <a:schemeClr val="tx2"/>
                </a:solidFill>
              </a:rPr>
              <a:t>77</a:t>
            </a:r>
            <a:r>
              <a:rPr lang="ko-KR" altLang="en-US" sz="1400" dirty="0">
                <a:solidFill>
                  <a:schemeClr val="tx2"/>
                </a:solidFill>
              </a:rPr>
              <a:t>후</a:t>
            </a:r>
            <a:r>
              <a:rPr lang="en-US" altLang="ko-KR" sz="1400" dirty="0">
                <a:solidFill>
                  <a:schemeClr val="tx2"/>
                </a:solidFill>
              </a:rPr>
              <a:t>50 </a:t>
            </a:r>
            <a:r>
              <a:rPr lang="ko-KR" altLang="en-US" sz="1400" dirty="0">
                <a:solidFill>
                  <a:schemeClr val="tx2"/>
                </a:solidFill>
              </a:rPr>
              <a:t>판결에서는 </a:t>
            </a:r>
            <a:r>
              <a:rPr lang="ko-KR" altLang="en-US" sz="1400" dirty="0">
                <a:solidFill>
                  <a:schemeClr val="tx2"/>
                </a:solidFill>
                <a:highlight>
                  <a:srgbClr val="FFFF00"/>
                </a:highlight>
              </a:rPr>
              <a:t>“특정의 이해관계인이 특허권리자와 간에 특허에 관한 분쟁을 일체 아니하기로 화해한 경우에는 무효심판을 청구할 이해관계인의 지위를 상실한 결과가 </a:t>
            </a:r>
            <a:r>
              <a:rPr lang="ko-KR" altLang="en-US" sz="1400" dirty="0" err="1">
                <a:solidFill>
                  <a:schemeClr val="tx2"/>
                </a:solidFill>
                <a:highlight>
                  <a:srgbClr val="FFFF00"/>
                </a:highlight>
              </a:rPr>
              <a:t>된다”</a:t>
            </a:r>
            <a:r>
              <a:rPr lang="ko-KR" altLang="en-US" sz="1400" dirty="0" err="1">
                <a:solidFill>
                  <a:schemeClr val="tx2"/>
                </a:solidFill>
              </a:rPr>
              <a:t>라고</a:t>
            </a:r>
            <a:r>
              <a:rPr lang="ko-KR" altLang="en-US" sz="1400" dirty="0">
                <a:solidFill>
                  <a:schemeClr val="tx2"/>
                </a:solidFill>
              </a:rPr>
              <a:t> 판시하였고</a:t>
            </a:r>
            <a:r>
              <a:rPr lang="en-US" altLang="ko-KR" sz="1400" dirty="0">
                <a:solidFill>
                  <a:schemeClr val="tx2"/>
                </a:solidFill>
              </a:rPr>
              <a:t>, </a:t>
            </a:r>
            <a:r>
              <a:rPr lang="ko-KR" altLang="en-US" sz="1400" dirty="0">
                <a:solidFill>
                  <a:schemeClr val="tx2"/>
                </a:solidFill>
              </a:rPr>
              <a:t>대법원 </a:t>
            </a:r>
            <a:r>
              <a:rPr lang="en-US" altLang="ko-KR" sz="1400" dirty="0">
                <a:solidFill>
                  <a:schemeClr val="tx2"/>
                </a:solidFill>
              </a:rPr>
              <a:t>1996. 12. 6. </a:t>
            </a:r>
            <a:r>
              <a:rPr lang="ko-KR" altLang="en-US" sz="1400" dirty="0">
                <a:solidFill>
                  <a:schemeClr val="tx2"/>
                </a:solidFill>
              </a:rPr>
              <a:t>선고 </a:t>
            </a:r>
            <a:r>
              <a:rPr lang="en-US" altLang="ko-KR" sz="1400" dirty="0">
                <a:solidFill>
                  <a:schemeClr val="tx2"/>
                </a:solidFill>
              </a:rPr>
              <a:t>95</a:t>
            </a:r>
            <a:r>
              <a:rPr lang="ko-KR" altLang="en-US" sz="1400" dirty="0">
                <a:solidFill>
                  <a:schemeClr val="tx2"/>
                </a:solidFill>
              </a:rPr>
              <a:t>후</a:t>
            </a:r>
            <a:r>
              <a:rPr lang="en-US" altLang="ko-KR" sz="1400" dirty="0">
                <a:solidFill>
                  <a:schemeClr val="tx2"/>
                </a:solidFill>
              </a:rPr>
              <a:t>1050 </a:t>
            </a:r>
            <a:r>
              <a:rPr lang="ko-KR" altLang="en-US" sz="1400" dirty="0">
                <a:solidFill>
                  <a:schemeClr val="tx2"/>
                </a:solidFill>
              </a:rPr>
              <a:t>판결에서는 “</a:t>
            </a:r>
            <a:r>
              <a:rPr lang="ko-KR" altLang="en-US" sz="1400" dirty="0">
                <a:solidFill>
                  <a:schemeClr val="tx2"/>
                </a:solidFill>
                <a:highlight>
                  <a:srgbClr val="FFFF00"/>
                </a:highlight>
              </a:rPr>
              <a:t>등록고안의 </a:t>
            </a:r>
            <a:r>
              <a:rPr lang="ko-KR" altLang="en-US" sz="1400" dirty="0" err="1">
                <a:solidFill>
                  <a:schemeClr val="tx2"/>
                </a:solidFill>
                <a:highlight>
                  <a:srgbClr val="FFFF00"/>
                </a:highlight>
              </a:rPr>
              <a:t>실용신안권자</a:t>
            </a:r>
            <a:r>
              <a:rPr lang="ko-KR" altLang="en-US" sz="1400" dirty="0">
                <a:solidFill>
                  <a:schemeClr val="tx2"/>
                </a:solidFill>
                <a:highlight>
                  <a:srgbClr val="FFFF00"/>
                </a:highlight>
              </a:rPr>
              <a:t> 甲과 그로부터 실용신안권 침해의 고소를 당한 乙 사이에 乙이 </a:t>
            </a:r>
            <a:r>
              <a:rPr lang="ko-KR" altLang="en-US" sz="1400" dirty="0">
                <a:solidFill>
                  <a:srgbClr val="FF0000"/>
                </a:solidFill>
                <a:highlight>
                  <a:srgbClr val="FFFF00"/>
                </a:highlight>
              </a:rPr>
              <a:t>그 등록고안의 권리를 인정하고 그 권리에 위반되는 행위를 하지 않는다는 내용</a:t>
            </a:r>
            <a:r>
              <a:rPr lang="ko-KR" altLang="en-US" sz="1400" dirty="0">
                <a:solidFill>
                  <a:schemeClr val="tx2"/>
                </a:solidFill>
                <a:highlight>
                  <a:srgbClr val="FFFF00"/>
                </a:highlight>
              </a:rPr>
              <a:t>의 약정을 하였다 하더라도</a:t>
            </a:r>
            <a:r>
              <a:rPr lang="en-US" altLang="ko-KR" sz="1400" dirty="0">
                <a:solidFill>
                  <a:schemeClr val="tx2"/>
                </a:solidFill>
                <a:highlight>
                  <a:srgbClr val="FFFF00"/>
                </a:highlight>
              </a:rPr>
              <a:t>, </a:t>
            </a:r>
            <a:r>
              <a:rPr lang="ko-KR" altLang="en-US" sz="1400" dirty="0">
                <a:solidFill>
                  <a:schemeClr val="tx2"/>
                </a:solidFill>
                <a:highlight>
                  <a:srgbClr val="FFFF00"/>
                </a:highlight>
              </a:rPr>
              <a:t>문언상으로는 그 합의의 취지를 乙이 甲의 등록고안에 대한 정당한 권리를 인정하고 그 권리에 위반되는 행위를 하지 아니하기로 한 것으로 볼 수 있을 뿐이어서</a:t>
            </a:r>
            <a:r>
              <a:rPr lang="en-US" altLang="ko-KR" sz="1400" dirty="0">
                <a:solidFill>
                  <a:schemeClr val="tx2"/>
                </a:solidFill>
                <a:highlight>
                  <a:srgbClr val="FFFF00"/>
                </a:highlight>
              </a:rPr>
              <a:t>, </a:t>
            </a:r>
            <a:r>
              <a:rPr lang="ko-KR" altLang="en-US" sz="1400" dirty="0">
                <a:solidFill>
                  <a:schemeClr val="tx2"/>
                </a:solidFill>
                <a:highlight>
                  <a:srgbClr val="FFFF00"/>
                </a:highlight>
              </a:rPr>
              <a:t>그 합의로써 곧바로 乙이 자신이 실시했던 특정 고안이 그 등록고안의 권리범위에 속함을 </a:t>
            </a:r>
            <a:r>
              <a:rPr lang="ko-KR" altLang="en-US" sz="1400" dirty="0" err="1">
                <a:solidFill>
                  <a:schemeClr val="tx2"/>
                </a:solidFill>
                <a:highlight>
                  <a:srgbClr val="FFFF00"/>
                </a:highlight>
              </a:rPr>
              <a:t>인정하였다거나</a:t>
            </a:r>
            <a:r>
              <a:rPr lang="ko-KR" altLang="en-US" sz="1400" dirty="0">
                <a:solidFill>
                  <a:schemeClr val="tx2"/>
                </a:solidFill>
                <a:highlight>
                  <a:srgbClr val="FFFF00"/>
                </a:highlight>
              </a:rPr>
              <a:t> 그 등록고안의 권리범위를 확인하는 </a:t>
            </a:r>
            <a:r>
              <a:rPr lang="ko-KR" altLang="en-US" sz="1400" dirty="0" err="1">
                <a:solidFill>
                  <a:schemeClr val="tx2"/>
                </a:solidFill>
                <a:highlight>
                  <a:srgbClr val="FFFF00"/>
                </a:highlight>
              </a:rPr>
              <a:t>심판청구권까지를</a:t>
            </a:r>
            <a:r>
              <a:rPr lang="ko-KR" altLang="en-US" sz="1400" dirty="0">
                <a:solidFill>
                  <a:schemeClr val="tx2"/>
                </a:solidFill>
                <a:highlight>
                  <a:srgbClr val="FFFF00"/>
                </a:highlight>
              </a:rPr>
              <a:t> 포기하기로 한 것으로 볼 수 없으므로</a:t>
            </a:r>
            <a:r>
              <a:rPr lang="en-US" altLang="ko-KR" sz="1400" dirty="0">
                <a:solidFill>
                  <a:schemeClr val="tx2"/>
                </a:solidFill>
                <a:highlight>
                  <a:srgbClr val="FFFF00"/>
                </a:highlight>
              </a:rPr>
              <a:t>, </a:t>
            </a:r>
            <a:r>
              <a:rPr lang="ko-KR" altLang="en-US" sz="1400" dirty="0">
                <a:solidFill>
                  <a:schemeClr val="tx2"/>
                </a:solidFill>
                <a:highlight>
                  <a:srgbClr val="FFFF00"/>
                </a:highlight>
              </a:rPr>
              <a:t>그와 같은 합의가 있었다는 사정만으로 심판청구인의 권리범위확인심판에 관한 이해관계가 소멸하였다고 할 수는 </a:t>
            </a:r>
            <a:r>
              <a:rPr lang="ko-KR" altLang="en-US" sz="1400" dirty="0" err="1">
                <a:solidFill>
                  <a:schemeClr val="tx2"/>
                </a:solidFill>
                <a:highlight>
                  <a:srgbClr val="FFFF00"/>
                </a:highlight>
              </a:rPr>
              <a:t>없다</a:t>
            </a:r>
            <a:r>
              <a:rPr lang="ko-KR" altLang="en-US" sz="1400" dirty="0" err="1">
                <a:solidFill>
                  <a:schemeClr val="tx2"/>
                </a:solidFill>
              </a:rPr>
              <a:t>”라고</a:t>
            </a:r>
            <a:r>
              <a:rPr lang="ko-KR" altLang="en-US" sz="1400" dirty="0">
                <a:solidFill>
                  <a:schemeClr val="tx2"/>
                </a:solidFill>
              </a:rPr>
              <a:t> 하여 단순히 상대방의 권리를 인정하는 내용의 합의로는 권리범위확인심판청구의 이해관계가 소멸하지 않는다고 하였다</a:t>
            </a:r>
            <a:r>
              <a:rPr lang="en-US" altLang="ko-KR" sz="1400" dirty="0">
                <a:solidFill>
                  <a:schemeClr val="tx2"/>
                </a:solidFill>
              </a:rPr>
              <a:t>. </a:t>
            </a:r>
            <a:r>
              <a:rPr lang="ko-KR" altLang="en-US" sz="1400" dirty="0">
                <a:solidFill>
                  <a:schemeClr val="tx2"/>
                </a:solidFill>
              </a:rPr>
              <a:t>또한</a:t>
            </a:r>
            <a:r>
              <a:rPr lang="en-US" altLang="ko-KR" sz="1400" dirty="0">
                <a:solidFill>
                  <a:schemeClr val="tx2"/>
                </a:solidFill>
              </a:rPr>
              <a:t>, </a:t>
            </a:r>
            <a:r>
              <a:rPr lang="ko-KR" altLang="en-US" sz="1400" dirty="0">
                <a:solidFill>
                  <a:schemeClr val="tx2"/>
                </a:solidFill>
              </a:rPr>
              <a:t>대법원 </a:t>
            </a:r>
            <a:r>
              <a:rPr lang="en-US" altLang="ko-KR" sz="1400" dirty="0">
                <a:solidFill>
                  <a:schemeClr val="tx2"/>
                </a:solidFill>
              </a:rPr>
              <a:t>2001. 6. 29. </a:t>
            </a:r>
            <a:r>
              <a:rPr lang="ko-KR" altLang="en-US" sz="1400" dirty="0">
                <a:solidFill>
                  <a:schemeClr val="tx2"/>
                </a:solidFill>
              </a:rPr>
              <a:t>선고 </a:t>
            </a:r>
            <a:r>
              <a:rPr lang="en-US" altLang="ko-KR" sz="1400" dirty="0">
                <a:solidFill>
                  <a:schemeClr val="tx2"/>
                </a:solidFill>
              </a:rPr>
              <a:t>99</a:t>
            </a:r>
            <a:r>
              <a:rPr lang="ko-KR" altLang="en-US" sz="1400" dirty="0">
                <a:solidFill>
                  <a:schemeClr val="tx2"/>
                </a:solidFill>
              </a:rPr>
              <a:t>후</a:t>
            </a:r>
            <a:r>
              <a:rPr lang="en-US" altLang="ko-KR" sz="1400" dirty="0">
                <a:solidFill>
                  <a:schemeClr val="tx2"/>
                </a:solidFill>
              </a:rPr>
              <a:t>1331 </a:t>
            </a:r>
            <a:r>
              <a:rPr lang="ko-KR" altLang="en-US" sz="1400" dirty="0">
                <a:solidFill>
                  <a:schemeClr val="tx2"/>
                </a:solidFill>
              </a:rPr>
              <a:t>판결에서는 “</a:t>
            </a:r>
            <a:r>
              <a:rPr lang="ko-KR" altLang="en-US" sz="1400" dirty="0">
                <a:solidFill>
                  <a:srgbClr val="FF0000"/>
                </a:solidFill>
                <a:highlight>
                  <a:srgbClr val="FFFF00"/>
                </a:highlight>
              </a:rPr>
              <a:t>등록디자인의 </a:t>
            </a:r>
            <a:r>
              <a:rPr lang="ko-KR" altLang="en-US" sz="1400" dirty="0" err="1">
                <a:solidFill>
                  <a:srgbClr val="FF0000"/>
                </a:solidFill>
                <a:highlight>
                  <a:srgbClr val="FFFF00"/>
                </a:highlight>
              </a:rPr>
              <a:t>디자인권자</a:t>
            </a:r>
            <a:r>
              <a:rPr lang="ko-KR" altLang="en-US" sz="1400" dirty="0">
                <a:solidFill>
                  <a:srgbClr val="FF0000"/>
                </a:solidFill>
                <a:highlight>
                  <a:srgbClr val="FFFF00"/>
                </a:highlight>
              </a:rPr>
              <a:t> 甲과 그로부터 디자인권 침해의 고소를 당한 乙 사이의 합의서에 乙이 디자인등록 제품을 제작한 것에 대하여 사과하고</a:t>
            </a:r>
            <a:r>
              <a:rPr lang="en-US" altLang="ko-KR" sz="1400" dirty="0">
                <a:solidFill>
                  <a:srgbClr val="FF0000"/>
                </a:solidFill>
                <a:highlight>
                  <a:srgbClr val="FFFF00"/>
                </a:highlight>
              </a:rPr>
              <a:t>, </a:t>
            </a:r>
            <a:r>
              <a:rPr lang="ko-KR" altLang="en-US" sz="1400" dirty="0">
                <a:solidFill>
                  <a:srgbClr val="FF0000"/>
                </a:solidFill>
                <a:highlight>
                  <a:srgbClr val="FFFF00"/>
                </a:highlight>
              </a:rPr>
              <a:t>추후 디자인등록 제품을 제작하지 않겠으며</a:t>
            </a:r>
            <a:r>
              <a:rPr lang="en-US" altLang="ko-KR" sz="1400" dirty="0">
                <a:solidFill>
                  <a:srgbClr val="FF0000"/>
                </a:solidFill>
                <a:highlight>
                  <a:srgbClr val="FFFF00"/>
                </a:highlight>
              </a:rPr>
              <a:t>, </a:t>
            </a:r>
            <a:r>
              <a:rPr lang="ko-KR" altLang="en-US" sz="1400" dirty="0">
                <a:solidFill>
                  <a:srgbClr val="FF0000"/>
                </a:solidFill>
                <a:highlight>
                  <a:srgbClr val="FFFF00"/>
                </a:highlight>
              </a:rPr>
              <a:t>기존 디자인등록 제품을 폐기하겠다는 내용</a:t>
            </a:r>
            <a:r>
              <a:rPr lang="ko-KR" altLang="en-US" sz="1400" dirty="0">
                <a:solidFill>
                  <a:schemeClr val="tx2"/>
                </a:solidFill>
                <a:highlight>
                  <a:srgbClr val="FFFF00"/>
                </a:highlight>
              </a:rPr>
              <a:t>만 포함되어 있을 뿐 당시 </a:t>
            </a:r>
            <a:r>
              <a:rPr lang="ko-KR" altLang="en-US" sz="1400" dirty="0" err="1">
                <a:solidFill>
                  <a:schemeClr val="tx2"/>
                </a:solidFill>
                <a:highlight>
                  <a:srgbClr val="FFFF00"/>
                </a:highlight>
              </a:rPr>
              <a:t>계속중이던</a:t>
            </a:r>
            <a:r>
              <a:rPr lang="ko-KR" altLang="en-US" sz="1400" dirty="0">
                <a:solidFill>
                  <a:schemeClr val="tx2"/>
                </a:solidFill>
                <a:highlight>
                  <a:srgbClr val="FFFF00"/>
                </a:highlight>
              </a:rPr>
              <a:t> 디자인등록 무효심판청구사건의 처리에 관하여는 아무런 기재가 없는 경우</a:t>
            </a:r>
            <a:r>
              <a:rPr lang="en-US" altLang="ko-KR" sz="1400" dirty="0">
                <a:solidFill>
                  <a:schemeClr val="tx2"/>
                </a:solidFill>
                <a:highlight>
                  <a:srgbClr val="FFFF00"/>
                </a:highlight>
              </a:rPr>
              <a:t>, </a:t>
            </a:r>
            <a:r>
              <a:rPr lang="ko-KR" altLang="en-US" sz="1400" dirty="0">
                <a:solidFill>
                  <a:schemeClr val="tx2"/>
                </a:solidFill>
                <a:highlight>
                  <a:srgbClr val="FFFF00"/>
                </a:highlight>
              </a:rPr>
              <a:t>위 합의의 내용과 경위를 고려할 때</a:t>
            </a:r>
            <a:r>
              <a:rPr lang="en-US" altLang="ko-KR" sz="1400" dirty="0">
                <a:solidFill>
                  <a:schemeClr val="tx2"/>
                </a:solidFill>
                <a:highlight>
                  <a:srgbClr val="FFFF00"/>
                </a:highlight>
              </a:rPr>
              <a:t>, </a:t>
            </a:r>
            <a:r>
              <a:rPr lang="ko-KR" altLang="en-US" sz="1400" dirty="0">
                <a:solidFill>
                  <a:schemeClr val="tx2"/>
                </a:solidFill>
                <a:highlight>
                  <a:srgbClr val="FFFF00"/>
                </a:highlight>
              </a:rPr>
              <a:t>위 합의는 乙이 자신이 제작하였던 물품이 甲의 등록디자인권의 권리범위에 속한다는 사실을 인정한 것일 뿐 그 등록디자인권의 효력에 대하여도 무효심판절차를 통하여 일체 다투지 않겠다는 취지까지 포함된 것으로 보기 어렵고</a:t>
            </a:r>
            <a:r>
              <a:rPr lang="en-US" altLang="ko-KR" sz="1400" dirty="0">
                <a:solidFill>
                  <a:schemeClr val="tx2"/>
                </a:solidFill>
                <a:highlight>
                  <a:srgbClr val="FFFF00"/>
                </a:highlight>
              </a:rPr>
              <a:t>, </a:t>
            </a:r>
            <a:r>
              <a:rPr lang="ko-KR" altLang="en-US" sz="1400" dirty="0">
                <a:solidFill>
                  <a:schemeClr val="tx2"/>
                </a:solidFill>
                <a:highlight>
                  <a:srgbClr val="FFFF00"/>
                </a:highlight>
              </a:rPr>
              <a:t>디자인등록의 무효심판의 공익적 성격을 고려하여 위와 같은 합의만으로 그 무효심판을 유지할 이해관계가 소멸하였다고 단정할 수 </a:t>
            </a:r>
            <a:r>
              <a:rPr lang="ko-KR" altLang="en-US" sz="1400" dirty="0" err="1">
                <a:solidFill>
                  <a:schemeClr val="tx2"/>
                </a:solidFill>
                <a:highlight>
                  <a:srgbClr val="FFFF00"/>
                </a:highlight>
              </a:rPr>
              <a:t>없다</a:t>
            </a:r>
            <a:r>
              <a:rPr lang="ko-KR" altLang="en-US" sz="1400" dirty="0" err="1">
                <a:solidFill>
                  <a:schemeClr val="tx2"/>
                </a:solidFill>
              </a:rPr>
              <a:t>”라고</a:t>
            </a:r>
            <a:r>
              <a:rPr lang="ko-KR" altLang="en-US" sz="1400" dirty="0">
                <a:solidFill>
                  <a:schemeClr val="tx2"/>
                </a:solidFill>
              </a:rPr>
              <a:t> 하여 권리범위에 속함을 인정한다는 합의는 권리범위확인심판에서의 이해관계를 소멸시키지만</a:t>
            </a:r>
            <a:r>
              <a:rPr lang="en-US" altLang="ko-KR" sz="1400" dirty="0">
                <a:solidFill>
                  <a:schemeClr val="tx2"/>
                </a:solidFill>
              </a:rPr>
              <a:t>, </a:t>
            </a:r>
            <a:r>
              <a:rPr lang="ko-KR" altLang="en-US" sz="1400" dirty="0">
                <a:solidFill>
                  <a:schemeClr val="tx2"/>
                </a:solidFill>
              </a:rPr>
              <a:t>이것이 특허무효심판의 이해관계까지 소멸시킨다고 볼 수는 없다고 하였다</a:t>
            </a:r>
            <a:r>
              <a:rPr lang="en-US" altLang="ko-KR" sz="1400" dirty="0">
                <a:solidFill>
                  <a:schemeClr val="tx2"/>
                </a:solidFill>
              </a:rPr>
              <a:t>. </a:t>
            </a:r>
            <a:endParaRPr lang="ko-KR" altLang="en-US" sz="1400" dirty="0">
              <a:solidFill>
                <a:schemeClr val="tx2"/>
              </a:solidFill>
            </a:endParaRPr>
          </a:p>
        </p:txBody>
      </p:sp>
      <p:cxnSp>
        <p:nvCxnSpPr>
          <p:cNvPr id="7" name="직선 연결선 6"/>
          <p:cNvCxnSpPr/>
          <p:nvPr/>
        </p:nvCxnSpPr>
        <p:spPr>
          <a:xfrm>
            <a:off x="512670" y="5767101"/>
            <a:ext cx="1089660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 name="Rectangle 14"/>
          <p:cNvSpPr>
            <a:spLocks noChangeArrowheads="1"/>
          </p:cNvSpPr>
          <p:nvPr/>
        </p:nvSpPr>
        <p:spPr bwMode="auto">
          <a:xfrm flipV="1">
            <a:off x="1624364" y="56905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 name="TextBox 8"/>
          <p:cNvSpPr txBox="1"/>
          <p:nvPr/>
        </p:nvSpPr>
        <p:spPr>
          <a:xfrm>
            <a:off x="1186983" y="5064387"/>
            <a:ext cx="1011815"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심판청구</a:t>
            </a:r>
          </a:p>
        </p:txBody>
      </p:sp>
      <p:cxnSp>
        <p:nvCxnSpPr>
          <p:cNvPr id="10" name="직선 연결선 9"/>
          <p:cNvCxnSpPr>
            <a:cxnSpLocks/>
            <a:endCxn id="8" idx="4"/>
          </p:cNvCxnSpPr>
          <p:nvPr/>
        </p:nvCxnSpPr>
        <p:spPr>
          <a:xfrm>
            <a:off x="1692891" y="5445367"/>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Rectangle 14"/>
          <p:cNvSpPr>
            <a:spLocks noChangeArrowheads="1"/>
          </p:cNvSpPr>
          <p:nvPr/>
        </p:nvSpPr>
        <p:spPr bwMode="auto">
          <a:xfrm flipV="1">
            <a:off x="8984947" y="56905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9" name="TextBox 38"/>
          <p:cNvSpPr txBox="1"/>
          <p:nvPr/>
        </p:nvSpPr>
        <p:spPr>
          <a:xfrm>
            <a:off x="8547566" y="5064387"/>
            <a:ext cx="1011815"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err="1"/>
              <a:t>심결시</a:t>
            </a:r>
            <a:endParaRPr lang="ko-KR" altLang="en-US" sz="1400" dirty="0"/>
          </a:p>
        </p:txBody>
      </p:sp>
      <p:cxnSp>
        <p:nvCxnSpPr>
          <p:cNvPr id="40" name="직선 연결선 39"/>
          <p:cNvCxnSpPr>
            <a:cxnSpLocks/>
            <a:endCxn id="38" idx="4"/>
          </p:cNvCxnSpPr>
          <p:nvPr/>
        </p:nvCxnSpPr>
        <p:spPr>
          <a:xfrm>
            <a:off x="9053474" y="5445367"/>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1" name="Rectangle 14"/>
          <p:cNvSpPr>
            <a:spLocks noChangeArrowheads="1"/>
          </p:cNvSpPr>
          <p:nvPr/>
        </p:nvSpPr>
        <p:spPr bwMode="auto">
          <a:xfrm flipV="1">
            <a:off x="3918396" y="569057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2" name="TextBox 41"/>
          <p:cNvSpPr txBox="1"/>
          <p:nvPr/>
        </p:nvSpPr>
        <p:spPr>
          <a:xfrm>
            <a:off x="3490540" y="6088836"/>
            <a:ext cx="1011815" cy="461665"/>
          </a:xfrm>
          <a:prstGeom prst="rect">
            <a:avLst/>
          </a:prstGeom>
          <a:solidFill>
            <a:schemeClr val="accent4"/>
          </a:solidFill>
          <a:ln>
            <a:solidFill>
              <a:schemeClr val="bg1">
                <a:lumMod val="50000"/>
              </a:schemeClr>
            </a:solidFill>
          </a:ln>
        </p:spPr>
        <p:txBody>
          <a:bodyPr wrap="square" rtlCol="0" anchor="ctr">
            <a:noAutofit/>
          </a:bodyPr>
          <a:lstStyle/>
          <a:p>
            <a:pPr algn="ctr"/>
            <a:r>
              <a:rPr lang="ko-KR" altLang="en-US" sz="1400" dirty="0"/>
              <a:t>합의</a:t>
            </a:r>
          </a:p>
        </p:txBody>
      </p:sp>
      <p:cxnSp>
        <p:nvCxnSpPr>
          <p:cNvPr id="43" name="직선 연결선 42"/>
          <p:cNvCxnSpPr>
            <a:stCxn id="42" idx="0"/>
            <a:endCxn id="41" idx="0"/>
          </p:cNvCxnSpPr>
          <p:nvPr/>
        </p:nvCxnSpPr>
        <p:spPr>
          <a:xfrm flipH="1" flipV="1">
            <a:off x="3989834" y="5843632"/>
            <a:ext cx="6614" cy="2452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5211455" y="6042704"/>
            <a:ext cx="3916367" cy="548716"/>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400" dirty="0"/>
              <a:t>합의에 이르게 된 경위</a:t>
            </a:r>
            <a:r>
              <a:rPr lang="en-US" altLang="ko-KR" sz="1400" dirty="0"/>
              <a:t>, </a:t>
            </a:r>
            <a:r>
              <a:rPr lang="ko-KR" altLang="en-US" sz="1400" dirty="0"/>
              <a:t>합의의 내용</a:t>
            </a:r>
            <a:r>
              <a:rPr lang="en-US" altLang="ko-KR" sz="1400" dirty="0"/>
              <a:t>, </a:t>
            </a:r>
            <a:r>
              <a:rPr lang="ko-KR" altLang="en-US" sz="1400" dirty="0"/>
              <a:t>합의 후의 사정 등을 종합하여 이해관계의 소멸 여부를 판단</a:t>
            </a:r>
          </a:p>
        </p:txBody>
      </p:sp>
      <p:sp>
        <p:nvSpPr>
          <p:cNvPr id="11" name="TextBox 10">
            <a:extLst>
              <a:ext uri="{FF2B5EF4-FFF2-40B4-BE49-F238E27FC236}">
                <a16:creationId xmlns:a16="http://schemas.microsoft.com/office/drawing/2014/main" id="{F0DBE35D-415B-2F34-542E-D8003867701B}"/>
              </a:ext>
            </a:extLst>
          </p:cNvPr>
          <p:cNvSpPr txBox="1"/>
          <p:nvPr/>
        </p:nvSpPr>
        <p:spPr>
          <a:xfrm>
            <a:off x="8965" y="4697518"/>
            <a:ext cx="9144000" cy="246221"/>
          </a:xfrm>
          <a:prstGeom prst="rect">
            <a:avLst/>
          </a:prstGeom>
          <a:noFill/>
        </p:spPr>
        <p:txBody>
          <a:bodyPr wrap="square" rtlCol="0">
            <a:spAutoFit/>
          </a:bodyPr>
          <a:lstStyle/>
          <a:p>
            <a:r>
              <a:rPr lang="en-US" altLang="ko-KR" sz="1000" dirty="0">
                <a:latin typeface="+mn-ea"/>
              </a:rPr>
              <a:t>*</a:t>
            </a:r>
            <a:r>
              <a:rPr lang="ko-KR" altLang="en-US" sz="1000" dirty="0">
                <a:latin typeface="+mn-ea"/>
              </a:rPr>
              <a:t>제</a:t>
            </a:r>
            <a:r>
              <a:rPr lang="en-US" altLang="ko-KR" sz="1000" dirty="0">
                <a:latin typeface="+mn-ea"/>
              </a:rPr>
              <a:t>133</a:t>
            </a:r>
            <a:r>
              <a:rPr lang="ko-KR" altLang="en-US" sz="1000" dirty="0">
                <a:latin typeface="+mn-ea"/>
              </a:rPr>
              <a:t>조 특허무효심판의 특허를 받을 수 있는 권리를 가진 자인지 여부도 </a:t>
            </a:r>
            <a:r>
              <a:rPr lang="ko-KR" altLang="en-US" sz="1000" dirty="0" err="1">
                <a:latin typeface="+mn-ea"/>
              </a:rPr>
              <a:t>심결시</a:t>
            </a:r>
            <a:r>
              <a:rPr lang="ko-KR" altLang="en-US" sz="1000" dirty="0">
                <a:latin typeface="+mn-ea"/>
              </a:rPr>
              <a:t> 기준</a:t>
            </a:r>
            <a:r>
              <a:rPr lang="en-US" altLang="ko-KR" sz="1000" dirty="0">
                <a:latin typeface="+mn-ea"/>
              </a:rPr>
              <a:t>(</a:t>
            </a:r>
            <a:r>
              <a:rPr lang="ko-KR" altLang="en-US" sz="1000" kern="0" spc="-30" dirty="0">
                <a:solidFill>
                  <a:srgbClr val="000000"/>
                </a:solidFill>
                <a:effectLst/>
                <a:latin typeface="+mn-ea"/>
              </a:rPr>
              <a:t>대법원 </a:t>
            </a:r>
            <a:r>
              <a:rPr lang="en-US" altLang="ko-KR" sz="1000" kern="0" spc="-30" dirty="0">
                <a:solidFill>
                  <a:srgbClr val="000000"/>
                </a:solidFill>
                <a:effectLst/>
                <a:latin typeface="+mn-ea"/>
              </a:rPr>
              <a:t>2025. 1. 9. </a:t>
            </a:r>
            <a:r>
              <a:rPr lang="ko-KR" altLang="en-US" sz="1000" kern="0" spc="-30" dirty="0">
                <a:solidFill>
                  <a:srgbClr val="000000"/>
                </a:solidFill>
                <a:effectLst/>
                <a:latin typeface="+mn-ea"/>
              </a:rPr>
              <a:t>선고 </a:t>
            </a:r>
            <a:r>
              <a:rPr lang="en-US" altLang="ko-KR" sz="1000" kern="0" spc="-30" dirty="0">
                <a:solidFill>
                  <a:srgbClr val="000000"/>
                </a:solidFill>
                <a:effectLst/>
                <a:latin typeface="+mn-ea"/>
              </a:rPr>
              <a:t>2022</a:t>
            </a:r>
            <a:r>
              <a:rPr lang="ko-KR" altLang="en-US" sz="1000" kern="0" spc="-30" dirty="0">
                <a:solidFill>
                  <a:srgbClr val="000000"/>
                </a:solidFill>
                <a:effectLst/>
                <a:latin typeface="+mn-ea"/>
              </a:rPr>
              <a:t>후</a:t>
            </a:r>
            <a:r>
              <a:rPr lang="en-US" altLang="ko-KR" sz="1000" kern="0" spc="-30" dirty="0">
                <a:solidFill>
                  <a:srgbClr val="000000"/>
                </a:solidFill>
                <a:effectLst/>
                <a:latin typeface="+mn-ea"/>
              </a:rPr>
              <a:t>10814</a:t>
            </a:r>
            <a:r>
              <a:rPr lang="en-US" altLang="ko-KR" sz="1000" dirty="0">
                <a:latin typeface="+mn-ea"/>
              </a:rPr>
              <a:t>)</a:t>
            </a:r>
            <a:endParaRPr lang="ko-KR" altLang="en-US" sz="1000" dirty="0">
              <a:latin typeface="+mn-ea"/>
            </a:endParaRPr>
          </a:p>
        </p:txBody>
      </p:sp>
      <p:cxnSp>
        <p:nvCxnSpPr>
          <p:cNvPr id="15" name="연결선: 꺾임 14">
            <a:extLst>
              <a:ext uri="{FF2B5EF4-FFF2-40B4-BE49-F238E27FC236}">
                <a16:creationId xmlns:a16="http://schemas.microsoft.com/office/drawing/2014/main" id="{3FB804BD-65EF-52B8-ADAD-FCB66BB1BCCB}"/>
              </a:ext>
            </a:extLst>
          </p:cNvPr>
          <p:cNvCxnSpPr>
            <a:cxnSpLocks/>
            <a:stCxn id="42" idx="3"/>
            <a:endCxn id="48" idx="1"/>
          </p:cNvCxnSpPr>
          <p:nvPr/>
        </p:nvCxnSpPr>
        <p:spPr>
          <a:xfrm flipV="1">
            <a:off x="4502355" y="6317062"/>
            <a:ext cx="709100" cy="260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0666983"/>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solidFill>
                  <a:schemeClr val="tx1">
                    <a:lumMod val="65000"/>
                    <a:lumOff val="35000"/>
                  </a:schemeClr>
                </a:solidFill>
              </a:rPr>
              <a:t>이해관계의 판단시점</a:t>
            </a:r>
            <a:r>
              <a:rPr lang="en-US" altLang="ko-KR" dirty="0">
                <a:solidFill>
                  <a:schemeClr val="tx1">
                    <a:lumMod val="65000"/>
                    <a:lumOff val="35000"/>
                  </a:schemeClr>
                </a:solidFill>
              </a:rPr>
              <a:t>: </a:t>
            </a:r>
            <a:r>
              <a:rPr lang="ko-KR" altLang="en-US" dirty="0">
                <a:solidFill>
                  <a:schemeClr val="tx1">
                    <a:lumMod val="65000"/>
                    <a:lumOff val="35000"/>
                  </a:schemeClr>
                </a:solidFill>
              </a:rPr>
              <a:t>다툼이 없는 경우</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25" name="직선 연결선 24">
            <a:extLst>
              <a:ext uri="{FF2B5EF4-FFF2-40B4-BE49-F238E27FC236}">
                <a16:creationId xmlns:a16="http://schemas.microsoft.com/office/drawing/2014/main" id="{7672B6BB-2D77-4E43-8B42-06D030FA91F0}"/>
              </a:ext>
            </a:extLst>
          </p:cNvPr>
          <p:cNvCxnSpPr/>
          <p:nvPr/>
        </p:nvCxnSpPr>
        <p:spPr>
          <a:xfrm>
            <a:off x="0" y="2311114"/>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직사각형 25">
            <a:extLst>
              <a:ext uri="{FF2B5EF4-FFF2-40B4-BE49-F238E27FC236}">
                <a16:creationId xmlns:a16="http://schemas.microsoft.com/office/drawing/2014/main" id="{635ED18D-A35C-4094-A735-ACF778B95324}"/>
              </a:ext>
            </a:extLst>
          </p:cNvPr>
          <p:cNvSpPr/>
          <p:nvPr/>
        </p:nvSpPr>
        <p:spPr>
          <a:xfrm>
            <a:off x="232372" y="1357007"/>
            <a:ext cx="11681987" cy="954107"/>
          </a:xfrm>
          <a:prstGeom prst="rect">
            <a:avLst/>
          </a:prstGeom>
        </p:spPr>
        <p:txBody>
          <a:bodyPr wrap="square">
            <a:spAutoFit/>
          </a:bodyPr>
          <a:lstStyle/>
          <a:p>
            <a:pPr algn="just" fontAlgn="base"/>
            <a:r>
              <a:rPr lang="ko-KR" altLang="en-US" sz="1400" dirty="0"/>
              <a:t>소극적 권리범위확인심판에서는 현재 실시하는 것만이 아니라 장래 실시 예정인 것도 심판대상으로 삼을 수 있다</a:t>
            </a:r>
            <a:r>
              <a:rPr lang="en-US" altLang="ko-KR" sz="1400" dirty="0"/>
              <a:t>. </a:t>
            </a:r>
            <a:r>
              <a:rPr lang="ko-KR" altLang="en-US" sz="1400" dirty="0"/>
              <a:t>그러나 당사자 사이에 심판청구인이 현재 실시하고 있는 기술이 특허권의 권리범위에 속하는지에 관하여만 다툼이 있을 뿐이고</a:t>
            </a:r>
            <a:r>
              <a:rPr lang="en-US" altLang="ko-KR" sz="1400" dirty="0"/>
              <a:t>, </a:t>
            </a:r>
            <a:r>
              <a:rPr lang="ko-KR" altLang="en-US" sz="1400" dirty="0">
                <a:highlight>
                  <a:srgbClr val="FFFF00"/>
                </a:highlight>
              </a:rPr>
              <a:t>심판청구인이 장래 실시할 예정이라고 주장하면서 심판대상으로 특정한 확인대상발명이 특허권의 권리범위에 속하지 않는다는 점에 관하여는 아무런 다툼이 없는 경우라면</a:t>
            </a:r>
            <a:r>
              <a:rPr lang="en-US" altLang="ko-KR" sz="1400" dirty="0"/>
              <a:t>, </a:t>
            </a:r>
            <a:r>
              <a:rPr lang="ko-KR" altLang="en-US" sz="1400" dirty="0"/>
              <a:t>그러한 확인대상발명을 심판대상으로 하는 소극적 권리범위확인심판은 심판청구의 이익이 없어 허용되지 않는다</a:t>
            </a:r>
            <a:r>
              <a:rPr lang="en-US" altLang="ko-KR" sz="1400" dirty="0"/>
              <a:t>.</a:t>
            </a:r>
            <a:endParaRPr lang="ko-KR" altLang="en-US" sz="1400" dirty="0">
              <a:solidFill>
                <a:srgbClr val="FF0000"/>
              </a:solidFill>
            </a:endParaRPr>
          </a:p>
        </p:txBody>
      </p:sp>
      <p:sp>
        <p:nvSpPr>
          <p:cNvPr id="27" name="모서리가 둥근 직사각형 10">
            <a:extLst>
              <a:ext uri="{FF2B5EF4-FFF2-40B4-BE49-F238E27FC236}">
                <a16:creationId xmlns:a16="http://schemas.microsoft.com/office/drawing/2014/main" id="{45EA68D6-B151-4236-8FC3-05A69090F573}"/>
              </a:ext>
            </a:extLst>
          </p:cNvPr>
          <p:cNvSpPr/>
          <p:nvPr/>
        </p:nvSpPr>
        <p:spPr bwMode="auto">
          <a:xfrm>
            <a:off x="378418" y="1002199"/>
            <a:ext cx="5180410"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2016. 9. 30. </a:t>
            </a:r>
            <a:r>
              <a:rPr lang="ko-KR" altLang="en-US" sz="1400" dirty="0"/>
              <a:t>선고 </a:t>
            </a:r>
            <a:r>
              <a:rPr lang="en-US" altLang="ko-KR" sz="1400" dirty="0"/>
              <a:t>2014</a:t>
            </a:r>
            <a:r>
              <a:rPr lang="ko-KR" altLang="en-US" sz="1400" dirty="0"/>
              <a:t>후</a:t>
            </a:r>
            <a:r>
              <a:rPr lang="en-US" altLang="ko-KR" sz="1400" dirty="0"/>
              <a:t>2849 </a:t>
            </a:r>
            <a:r>
              <a:rPr lang="ko-KR" altLang="en-US" sz="1400" dirty="0"/>
              <a:t>판결</a:t>
            </a:r>
            <a:r>
              <a:rPr lang="en-US" altLang="ko-KR" sz="1400" dirty="0"/>
              <a:t>【</a:t>
            </a:r>
            <a:r>
              <a:rPr lang="ko-KR" altLang="en-US" sz="1400" dirty="0"/>
              <a:t>권리범위확인</a:t>
            </a:r>
            <a:r>
              <a:rPr lang="en-US" altLang="ko-KR" sz="1400" dirty="0"/>
              <a:t>(</a:t>
            </a:r>
            <a:r>
              <a:rPr lang="ko-KR" altLang="en-US" sz="1400" dirty="0" err="1"/>
              <a:t>특</a:t>
            </a:r>
            <a:r>
              <a:rPr lang="en-US" altLang="ko-KR" sz="1400" dirty="0"/>
              <a:t>)】</a:t>
            </a:r>
          </a:p>
        </p:txBody>
      </p:sp>
      <p:sp>
        <p:nvSpPr>
          <p:cNvPr id="109" name="말풍선: 사각형 108">
            <a:extLst>
              <a:ext uri="{FF2B5EF4-FFF2-40B4-BE49-F238E27FC236}">
                <a16:creationId xmlns:a16="http://schemas.microsoft.com/office/drawing/2014/main" id="{2437D58D-9EF6-4D64-94D7-37F9FDDEDBF2}"/>
              </a:ext>
            </a:extLst>
          </p:cNvPr>
          <p:cNvSpPr/>
          <p:nvPr/>
        </p:nvSpPr>
        <p:spPr>
          <a:xfrm>
            <a:off x="7539392" y="3497678"/>
            <a:ext cx="4474909" cy="1446550"/>
          </a:xfrm>
          <a:prstGeom prst="wedgeRectCallout">
            <a:avLst>
              <a:gd name="adj1" fmla="val -56111"/>
              <a:gd name="adj2" fmla="val 73234"/>
            </a:avLst>
          </a:prstGeom>
          <a:ln>
            <a:solidFill>
              <a:schemeClr val="bg1">
                <a:lumMod val="50000"/>
              </a:schemeClr>
            </a:solidFill>
          </a:ln>
        </p:spPr>
        <p:txBody>
          <a:bodyPr wrap="square">
            <a:spAutoFit/>
          </a:bodyPr>
          <a:lstStyle/>
          <a:p>
            <a:pPr algn="just"/>
            <a:r>
              <a:rPr lang="ko-KR" altLang="en-US" sz="1100" dirty="0"/>
              <a:t>대법원 </a:t>
            </a:r>
            <a:r>
              <a:rPr lang="en-US" altLang="ko-KR" sz="1100" dirty="0"/>
              <a:t>2016. 9. 30. </a:t>
            </a:r>
            <a:r>
              <a:rPr lang="ko-KR" altLang="en-US" sz="1100" dirty="0"/>
              <a:t>선고 </a:t>
            </a:r>
            <a:r>
              <a:rPr lang="en-US" altLang="ko-KR" sz="1100" dirty="0"/>
              <a:t>2014</a:t>
            </a:r>
            <a:r>
              <a:rPr lang="ko-KR" altLang="en-US" sz="1100" dirty="0"/>
              <a:t>후</a:t>
            </a:r>
            <a:r>
              <a:rPr lang="en-US" altLang="ko-KR" sz="1100" dirty="0"/>
              <a:t>2849 </a:t>
            </a:r>
            <a:r>
              <a:rPr lang="ko-KR" altLang="en-US" sz="1100" dirty="0">
                <a:solidFill>
                  <a:srgbClr val="FF0000"/>
                </a:solidFill>
              </a:rPr>
              <a:t>판결에서는 특허권자가 확인대상발명에 대해서는 특허권 침해를 주장한 적이 없고</a:t>
            </a:r>
            <a:r>
              <a:rPr lang="en-US" altLang="ko-KR" sz="1100" dirty="0">
                <a:solidFill>
                  <a:srgbClr val="FF0000"/>
                </a:solidFill>
              </a:rPr>
              <a:t>, </a:t>
            </a:r>
            <a:r>
              <a:rPr lang="ko-KR" altLang="en-US" sz="1100" dirty="0">
                <a:solidFill>
                  <a:srgbClr val="FF0000"/>
                </a:solidFill>
              </a:rPr>
              <a:t>향후에도 이를 주장할 의사가 없다고 진술한 점</a:t>
            </a:r>
            <a:r>
              <a:rPr lang="ko-KR" altLang="en-US" sz="1100" dirty="0"/>
              <a:t>을 들어 당사자 사이에 다툼이 없는 경우에 해당하기 때문에 심판청구의 이익이 없다고 판단하였다</a:t>
            </a:r>
            <a:r>
              <a:rPr lang="en-US" altLang="ko-KR" sz="1100" dirty="0"/>
              <a:t>. </a:t>
            </a:r>
            <a:r>
              <a:rPr lang="ko-KR" altLang="en-US" sz="1100" dirty="0"/>
              <a:t>그러나 심판실무는 다투지 않는 것이 명백한 경우를 제외하고는 본안심리를 하고 있다</a:t>
            </a:r>
            <a:r>
              <a:rPr lang="en-US" altLang="ko-KR" sz="1100" dirty="0"/>
              <a:t>. </a:t>
            </a:r>
            <a:r>
              <a:rPr lang="ko-KR" altLang="en-US" sz="1100" dirty="0"/>
              <a:t>예를 들어 </a:t>
            </a:r>
            <a:r>
              <a:rPr lang="en-US" altLang="ko-KR" sz="1100" dirty="0"/>
              <a:t>ⅰ) </a:t>
            </a:r>
            <a:r>
              <a:rPr lang="ko-KR" altLang="en-US" sz="1100" dirty="0"/>
              <a:t>과거 다툰 사실이 있으나 다투지 않는다는 의사표시를 한 경우</a:t>
            </a:r>
            <a:r>
              <a:rPr lang="en-US" altLang="ko-KR" sz="1100" dirty="0"/>
              <a:t>, ⅱ) </a:t>
            </a:r>
            <a:r>
              <a:rPr lang="ko-KR" altLang="en-US" sz="1100" dirty="0"/>
              <a:t>피청구인</a:t>
            </a:r>
            <a:r>
              <a:rPr lang="en-US" altLang="ko-KR" sz="1100" dirty="0"/>
              <a:t>(</a:t>
            </a:r>
            <a:r>
              <a:rPr lang="ko-KR" altLang="en-US" sz="1100" dirty="0"/>
              <a:t>권리자</a:t>
            </a:r>
            <a:r>
              <a:rPr lang="en-US" altLang="ko-KR" sz="1100" dirty="0"/>
              <a:t>)</a:t>
            </a:r>
            <a:r>
              <a:rPr lang="ko-KR" altLang="en-US" sz="1100" dirty="0"/>
              <a:t>으로부터 대응이 없는 경우</a:t>
            </a:r>
            <a:r>
              <a:rPr lang="en-US" altLang="ko-KR" sz="1100" dirty="0"/>
              <a:t>(</a:t>
            </a:r>
            <a:r>
              <a:rPr lang="ko-KR" altLang="en-US" sz="1100" dirty="0"/>
              <a:t>다투지 않는다는 의사를 확인할 수 없으면</a:t>
            </a:r>
            <a:r>
              <a:rPr lang="en-US" altLang="ko-KR" sz="1100" dirty="0"/>
              <a:t>, </a:t>
            </a:r>
            <a:r>
              <a:rPr lang="ko-KR" altLang="en-US" sz="1100" dirty="0"/>
              <a:t>심판에서는 자백 간주가 적용되지 않음</a:t>
            </a:r>
            <a:r>
              <a:rPr lang="en-US" altLang="ko-KR" sz="1100" dirty="0"/>
              <a:t>)</a:t>
            </a:r>
            <a:r>
              <a:rPr lang="ko-KR" altLang="en-US" sz="1100" dirty="0"/>
              <a:t>에는 본안심리를 한다</a:t>
            </a:r>
            <a:r>
              <a:rPr lang="en-US" altLang="ko-KR" sz="1100" dirty="0"/>
              <a:t>.</a:t>
            </a:r>
            <a:endParaRPr lang="ko-KR" altLang="en-US" sz="1100" dirty="0"/>
          </a:p>
        </p:txBody>
      </p:sp>
      <p:cxnSp>
        <p:nvCxnSpPr>
          <p:cNvPr id="49" name="직선 연결선 48">
            <a:extLst>
              <a:ext uri="{FF2B5EF4-FFF2-40B4-BE49-F238E27FC236}">
                <a16:creationId xmlns:a16="http://schemas.microsoft.com/office/drawing/2014/main" id="{CB1FBE08-E1D4-4EB3-B691-A93C51C9D4A3}"/>
              </a:ext>
            </a:extLst>
          </p:cNvPr>
          <p:cNvCxnSpPr/>
          <p:nvPr/>
        </p:nvCxnSpPr>
        <p:spPr>
          <a:xfrm>
            <a:off x="485775" y="3318044"/>
            <a:ext cx="1089660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Rectangle 14">
            <a:extLst>
              <a:ext uri="{FF2B5EF4-FFF2-40B4-BE49-F238E27FC236}">
                <a16:creationId xmlns:a16="http://schemas.microsoft.com/office/drawing/2014/main" id="{5E5AC403-C466-44FA-97FA-75A9643B3879}"/>
              </a:ext>
            </a:extLst>
          </p:cNvPr>
          <p:cNvSpPr>
            <a:spLocks noChangeArrowheads="1"/>
          </p:cNvSpPr>
          <p:nvPr/>
        </p:nvSpPr>
        <p:spPr bwMode="auto">
          <a:xfrm flipV="1">
            <a:off x="1185091" y="3241513"/>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1" name="TextBox 50">
            <a:extLst>
              <a:ext uri="{FF2B5EF4-FFF2-40B4-BE49-F238E27FC236}">
                <a16:creationId xmlns:a16="http://schemas.microsoft.com/office/drawing/2014/main" id="{8F134407-0272-409C-AC2B-1D794FDC8C0F}"/>
              </a:ext>
            </a:extLst>
          </p:cNvPr>
          <p:cNvSpPr txBox="1"/>
          <p:nvPr/>
        </p:nvSpPr>
        <p:spPr>
          <a:xfrm>
            <a:off x="747710" y="2534645"/>
            <a:ext cx="1011815" cy="309603"/>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심판청구</a:t>
            </a:r>
          </a:p>
        </p:txBody>
      </p:sp>
      <p:cxnSp>
        <p:nvCxnSpPr>
          <p:cNvPr id="52" name="직선 연결선 51">
            <a:extLst>
              <a:ext uri="{FF2B5EF4-FFF2-40B4-BE49-F238E27FC236}">
                <a16:creationId xmlns:a16="http://schemas.microsoft.com/office/drawing/2014/main" id="{B1A3A5B8-B50C-4DD0-A27C-431003EB6C98}"/>
              </a:ext>
            </a:extLst>
          </p:cNvPr>
          <p:cNvCxnSpPr>
            <a:cxnSpLocks/>
            <a:stCxn id="51" idx="2"/>
            <a:endCxn id="50" idx="4"/>
          </p:cNvCxnSpPr>
          <p:nvPr/>
        </p:nvCxnSpPr>
        <p:spPr>
          <a:xfrm>
            <a:off x="1253618" y="2844248"/>
            <a:ext cx="2911" cy="3972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 name="Rectangle 14">
            <a:extLst>
              <a:ext uri="{FF2B5EF4-FFF2-40B4-BE49-F238E27FC236}">
                <a16:creationId xmlns:a16="http://schemas.microsoft.com/office/drawing/2014/main" id="{B2869F5F-EA66-4E8C-9192-BCBD12B2313D}"/>
              </a:ext>
            </a:extLst>
          </p:cNvPr>
          <p:cNvSpPr>
            <a:spLocks noChangeArrowheads="1"/>
          </p:cNvSpPr>
          <p:nvPr/>
        </p:nvSpPr>
        <p:spPr bwMode="auto">
          <a:xfrm flipV="1">
            <a:off x="7290616" y="3241513"/>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4" name="TextBox 53">
            <a:extLst>
              <a:ext uri="{FF2B5EF4-FFF2-40B4-BE49-F238E27FC236}">
                <a16:creationId xmlns:a16="http://schemas.microsoft.com/office/drawing/2014/main" id="{6E1D9300-406B-43F2-AD77-4C1D0E6716BC}"/>
              </a:ext>
            </a:extLst>
          </p:cNvPr>
          <p:cNvSpPr txBox="1"/>
          <p:nvPr/>
        </p:nvSpPr>
        <p:spPr>
          <a:xfrm>
            <a:off x="6853235" y="2534645"/>
            <a:ext cx="1011815" cy="309603"/>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err="1"/>
              <a:t>심결시</a:t>
            </a:r>
            <a:endParaRPr lang="ko-KR" altLang="en-US" sz="1400" dirty="0"/>
          </a:p>
        </p:txBody>
      </p:sp>
      <p:cxnSp>
        <p:nvCxnSpPr>
          <p:cNvPr id="55" name="직선 연결선 54">
            <a:extLst>
              <a:ext uri="{FF2B5EF4-FFF2-40B4-BE49-F238E27FC236}">
                <a16:creationId xmlns:a16="http://schemas.microsoft.com/office/drawing/2014/main" id="{8B339828-E831-486C-8D06-BDF80C382157}"/>
              </a:ext>
            </a:extLst>
          </p:cNvPr>
          <p:cNvCxnSpPr>
            <a:cxnSpLocks/>
            <a:stCxn id="54" idx="2"/>
            <a:endCxn id="53" idx="4"/>
          </p:cNvCxnSpPr>
          <p:nvPr/>
        </p:nvCxnSpPr>
        <p:spPr>
          <a:xfrm>
            <a:off x="7359143" y="2844248"/>
            <a:ext cx="2911" cy="39726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 name="Rectangle 14">
            <a:extLst>
              <a:ext uri="{FF2B5EF4-FFF2-40B4-BE49-F238E27FC236}">
                <a16:creationId xmlns:a16="http://schemas.microsoft.com/office/drawing/2014/main" id="{E2D5E1F1-06F9-4818-950C-6FA64198DF08}"/>
              </a:ext>
            </a:extLst>
          </p:cNvPr>
          <p:cNvSpPr>
            <a:spLocks noChangeArrowheads="1"/>
          </p:cNvSpPr>
          <p:nvPr/>
        </p:nvSpPr>
        <p:spPr bwMode="auto">
          <a:xfrm flipV="1">
            <a:off x="3880539" y="3241513"/>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7" name="TextBox 56">
            <a:extLst>
              <a:ext uri="{FF2B5EF4-FFF2-40B4-BE49-F238E27FC236}">
                <a16:creationId xmlns:a16="http://schemas.microsoft.com/office/drawing/2014/main" id="{1BC76C7C-CB73-4C5A-9C53-564DCB8ACD84}"/>
              </a:ext>
            </a:extLst>
          </p:cNvPr>
          <p:cNvSpPr txBox="1"/>
          <p:nvPr/>
        </p:nvSpPr>
        <p:spPr>
          <a:xfrm>
            <a:off x="3192492" y="3639779"/>
            <a:ext cx="1532198" cy="309603"/>
          </a:xfrm>
          <a:prstGeom prst="rect">
            <a:avLst/>
          </a:prstGeom>
          <a:solidFill>
            <a:schemeClr val="accent4"/>
          </a:solidFill>
          <a:ln>
            <a:solidFill>
              <a:schemeClr val="bg1">
                <a:lumMod val="50000"/>
              </a:schemeClr>
            </a:solidFill>
          </a:ln>
        </p:spPr>
        <p:txBody>
          <a:bodyPr wrap="square" rtlCol="0" anchor="ctr">
            <a:noAutofit/>
          </a:bodyPr>
          <a:lstStyle/>
          <a:p>
            <a:pPr algn="ctr"/>
            <a:r>
              <a:rPr lang="ko-KR" altLang="en-US" sz="1400" dirty="0"/>
              <a:t>다툼이 없는 경우</a:t>
            </a:r>
          </a:p>
        </p:txBody>
      </p:sp>
      <p:cxnSp>
        <p:nvCxnSpPr>
          <p:cNvPr id="58" name="직선 연결선 57">
            <a:extLst>
              <a:ext uri="{FF2B5EF4-FFF2-40B4-BE49-F238E27FC236}">
                <a16:creationId xmlns:a16="http://schemas.microsoft.com/office/drawing/2014/main" id="{CD0B08AD-9D21-480D-9F45-57B0645E286C}"/>
              </a:ext>
            </a:extLst>
          </p:cNvPr>
          <p:cNvCxnSpPr>
            <a:cxnSpLocks/>
            <a:stCxn id="57" idx="0"/>
            <a:endCxn id="56" idx="0"/>
          </p:cNvCxnSpPr>
          <p:nvPr/>
        </p:nvCxnSpPr>
        <p:spPr>
          <a:xfrm flipH="1" flipV="1">
            <a:off x="3951977" y="3394575"/>
            <a:ext cx="6614" cy="2452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52F251E-F397-417F-901B-CF9AC0A452AB}"/>
              </a:ext>
            </a:extLst>
          </p:cNvPr>
          <p:cNvSpPr txBox="1"/>
          <p:nvPr/>
        </p:nvSpPr>
        <p:spPr>
          <a:xfrm>
            <a:off x="646982" y="4068051"/>
            <a:ext cx="6625087" cy="1432942"/>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just"/>
            <a:r>
              <a:rPr lang="ko-KR" altLang="en-US" sz="1200" b="0" i="0" dirty="0">
                <a:solidFill>
                  <a:srgbClr val="333333"/>
                </a:solidFill>
                <a:effectLst/>
                <a:latin typeface="+mn-ea"/>
              </a:rPr>
              <a:t>원심판결 이유와 원심이 적법하게 채택한 증거에 의하면</a:t>
            </a:r>
            <a:r>
              <a:rPr lang="en-US" altLang="ko-KR" sz="1200" b="0" i="0" dirty="0">
                <a:solidFill>
                  <a:srgbClr val="333333"/>
                </a:solidFill>
                <a:effectLst/>
                <a:latin typeface="+mn-ea"/>
              </a:rPr>
              <a:t>, ① </a:t>
            </a:r>
            <a:r>
              <a:rPr lang="ko-KR" altLang="en-US" sz="1200" b="0" i="0" dirty="0">
                <a:solidFill>
                  <a:srgbClr val="333333"/>
                </a:solidFill>
                <a:effectLst/>
                <a:latin typeface="+mn-ea"/>
              </a:rPr>
              <a:t>피고가 특정한 이 사건 확인대상발명은 약쑥 및 </a:t>
            </a:r>
            <a:r>
              <a:rPr lang="ko-KR" altLang="en-US" sz="1200" b="0" i="0" dirty="0" err="1">
                <a:solidFill>
                  <a:srgbClr val="333333"/>
                </a:solidFill>
                <a:effectLst/>
                <a:latin typeface="+mn-ea"/>
              </a:rPr>
              <a:t>참나무숯을</a:t>
            </a:r>
            <a:r>
              <a:rPr lang="ko-KR" altLang="en-US" sz="1200" b="0" i="0" dirty="0">
                <a:solidFill>
                  <a:srgbClr val="333333"/>
                </a:solidFill>
                <a:effectLst/>
                <a:latin typeface="+mn-ea"/>
              </a:rPr>
              <a:t> 사용하지 않고 부유물이 부착되지 않은 훈연제로서</a:t>
            </a:r>
            <a:r>
              <a:rPr lang="en-US" altLang="ko-KR" sz="1200" b="0" i="0" dirty="0">
                <a:solidFill>
                  <a:srgbClr val="333333"/>
                </a:solidFill>
                <a:effectLst/>
                <a:latin typeface="+mn-ea"/>
              </a:rPr>
              <a:t>, </a:t>
            </a:r>
            <a:r>
              <a:rPr lang="ko-KR" altLang="en-US" sz="1200" b="0" i="0" dirty="0">
                <a:solidFill>
                  <a:srgbClr val="333333"/>
                </a:solidFill>
                <a:effectLst/>
                <a:latin typeface="+mn-ea"/>
              </a:rPr>
              <a:t>원고가 주장하는 피고 실시제품과는 구성상 차이가 있는 점</a:t>
            </a:r>
            <a:r>
              <a:rPr lang="en-US" altLang="ko-KR" sz="1200" b="0" i="0" dirty="0">
                <a:solidFill>
                  <a:srgbClr val="333333"/>
                </a:solidFill>
                <a:effectLst/>
                <a:latin typeface="+mn-ea"/>
              </a:rPr>
              <a:t>, ② </a:t>
            </a:r>
            <a:r>
              <a:rPr lang="ko-KR" altLang="en-US" sz="1200" b="0" i="0" dirty="0">
                <a:solidFill>
                  <a:srgbClr val="333333"/>
                </a:solidFill>
                <a:effectLst/>
                <a:latin typeface="+mn-ea"/>
              </a:rPr>
              <a:t>피고는 현재 이 사건 확인대상발명을 실시하고 있지는 않지만 향후 이 사건 확인대상발명을 실시할 계획이라고 주장하는 점</a:t>
            </a:r>
            <a:r>
              <a:rPr lang="en-US" altLang="ko-KR" sz="1200" b="0" i="0" dirty="0">
                <a:solidFill>
                  <a:srgbClr val="333333"/>
                </a:solidFill>
                <a:effectLst/>
                <a:latin typeface="+mn-ea"/>
              </a:rPr>
              <a:t>, </a:t>
            </a:r>
            <a:r>
              <a:rPr lang="en-US" altLang="ko-KR" sz="1200" b="0" i="0" dirty="0">
                <a:solidFill>
                  <a:srgbClr val="FF0000"/>
                </a:solidFill>
                <a:effectLst/>
                <a:latin typeface="+mn-ea"/>
              </a:rPr>
              <a:t>③ </a:t>
            </a:r>
            <a:r>
              <a:rPr lang="ko-KR" altLang="en-US" sz="1200" b="0" i="0" dirty="0">
                <a:solidFill>
                  <a:srgbClr val="FF0000"/>
                </a:solidFill>
                <a:effectLst/>
                <a:latin typeface="+mn-ea"/>
              </a:rPr>
              <a:t>원고는 원고가 주장하는 피고 실시제품에 대해서는 피고에게 경고장을 보내고 형사고소를 하는 등 이 사건 특허발명</a:t>
            </a:r>
            <a:r>
              <a:rPr lang="en-US" altLang="ko-KR" sz="1200" b="0" i="0" dirty="0">
                <a:solidFill>
                  <a:srgbClr val="FF0000"/>
                </a:solidFill>
                <a:effectLst/>
                <a:latin typeface="+mn-ea"/>
              </a:rPr>
              <a:t>(</a:t>
            </a:r>
            <a:r>
              <a:rPr lang="ko-KR" altLang="en-US" sz="1200" b="0" i="0" dirty="0">
                <a:solidFill>
                  <a:srgbClr val="FF0000"/>
                </a:solidFill>
                <a:effectLst/>
                <a:latin typeface="+mn-ea"/>
              </a:rPr>
              <a:t>특허등록번호 생략</a:t>
            </a:r>
            <a:r>
              <a:rPr lang="en-US" altLang="ko-KR" sz="1200" b="0" i="0" dirty="0">
                <a:solidFill>
                  <a:srgbClr val="FF0000"/>
                </a:solidFill>
                <a:effectLst/>
                <a:latin typeface="+mn-ea"/>
              </a:rPr>
              <a:t>)</a:t>
            </a:r>
            <a:r>
              <a:rPr lang="ko-KR" altLang="en-US" sz="1200" b="0" i="0" dirty="0">
                <a:solidFill>
                  <a:srgbClr val="FF0000"/>
                </a:solidFill>
                <a:effectLst/>
                <a:latin typeface="+mn-ea"/>
              </a:rPr>
              <a:t>의 특허권 침해를 주장하면서 다투고 있는 반면</a:t>
            </a:r>
            <a:r>
              <a:rPr lang="en-US" altLang="ko-KR" sz="1200" b="0" i="0" dirty="0">
                <a:solidFill>
                  <a:srgbClr val="FF0000"/>
                </a:solidFill>
                <a:effectLst/>
                <a:latin typeface="+mn-ea"/>
              </a:rPr>
              <a:t>, </a:t>
            </a:r>
            <a:r>
              <a:rPr lang="ko-KR" altLang="en-US" sz="1200" b="0" i="0" dirty="0">
                <a:solidFill>
                  <a:srgbClr val="FF0000"/>
                </a:solidFill>
                <a:effectLst/>
                <a:latin typeface="+mn-ea"/>
              </a:rPr>
              <a:t>이 사건 확인대상발명에 대해서는 특허권 침해를 주장한 적이 없고</a:t>
            </a:r>
            <a:r>
              <a:rPr lang="en-US" altLang="ko-KR" sz="1200" b="0" i="0" dirty="0">
                <a:solidFill>
                  <a:srgbClr val="FF0000"/>
                </a:solidFill>
                <a:effectLst/>
                <a:latin typeface="+mn-ea"/>
              </a:rPr>
              <a:t>, </a:t>
            </a:r>
            <a:r>
              <a:rPr lang="ko-KR" altLang="en-US" sz="1200" b="0" i="0" dirty="0">
                <a:solidFill>
                  <a:srgbClr val="FF0000"/>
                </a:solidFill>
                <a:effectLst/>
                <a:latin typeface="+mn-ea"/>
              </a:rPr>
              <a:t>향후에도 이를 주장할 의사가 없다고 진술한 점</a:t>
            </a:r>
            <a:r>
              <a:rPr lang="ko-KR" altLang="en-US" sz="1200" b="0" i="0" dirty="0">
                <a:solidFill>
                  <a:srgbClr val="333333"/>
                </a:solidFill>
                <a:effectLst/>
                <a:latin typeface="+mn-ea"/>
              </a:rPr>
              <a:t> 등을 알 수 있다</a:t>
            </a:r>
            <a:r>
              <a:rPr lang="en-US" altLang="ko-KR" sz="1200" b="0" i="0" dirty="0">
                <a:solidFill>
                  <a:srgbClr val="333333"/>
                </a:solidFill>
                <a:effectLst/>
                <a:latin typeface="+mn-ea"/>
              </a:rPr>
              <a:t>.</a:t>
            </a:r>
            <a:endParaRPr lang="ko-KR" altLang="en-US" sz="1200" dirty="0">
              <a:latin typeface="+mn-ea"/>
            </a:endParaRPr>
          </a:p>
        </p:txBody>
      </p:sp>
      <p:cxnSp>
        <p:nvCxnSpPr>
          <p:cNvPr id="60" name="직선 연결선 59">
            <a:extLst>
              <a:ext uri="{FF2B5EF4-FFF2-40B4-BE49-F238E27FC236}">
                <a16:creationId xmlns:a16="http://schemas.microsoft.com/office/drawing/2014/main" id="{8089DB67-ECF8-404C-B5A1-9EA3ED2C72CA}"/>
              </a:ext>
            </a:extLst>
          </p:cNvPr>
          <p:cNvCxnSpPr>
            <a:cxnSpLocks/>
            <a:stCxn id="59" idx="0"/>
            <a:endCxn id="57" idx="2"/>
          </p:cNvCxnSpPr>
          <p:nvPr/>
        </p:nvCxnSpPr>
        <p:spPr>
          <a:xfrm flipH="1" flipV="1">
            <a:off x="3958591" y="3949382"/>
            <a:ext cx="935" cy="1186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2F607447-0FAD-5A2D-B355-46EFAC33185A}"/>
              </a:ext>
            </a:extLst>
          </p:cNvPr>
          <p:cNvSpPr txBox="1"/>
          <p:nvPr/>
        </p:nvSpPr>
        <p:spPr>
          <a:xfrm>
            <a:off x="178581" y="5673452"/>
            <a:ext cx="11835720" cy="1046440"/>
          </a:xfrm>
          <a:prstGeom prst="rect">
            <a:avLst/>
          </a:prstGeom>
          <a:noFill/>
        </p:spPr>
        <p:txBody>
          <a:bodyPr wrap="square">
            <a:spAutoFit/>
          </a:bodyPr>
          <a:lstStyle/>
          <a:p>
            <a:r>
              <a:rPr lang="en-US" altLang="ko-KR" sz="1400" dirty="0"/>
              <a:t>(</a:t>
            </a:r>
            <a:r>
              <a:rPr lang="ko-KR" altLang="en-US" sz="1400" dirty="0"/>
              <a:t>비판견해</a:t>
            </a:r>
            <a:r>
              <a:rPr lang="en-US" altLang="ko-KR" sz="1400" dirty="0"/>
              <a:t>)</a:t>
            </a:r>
            <a:r>
              <a:rPr lang="en-US" altLang="ko-KR" sz="1200" dirty="0"/>
              <a:t> </a:t>
            </a:r>
            <a:r>
              <a:rPr lang="ko-KR" altLang="en-US" sz="1200" dirty="0"/>
              <a:t>민사소송의 확인의 소에서는 피고가 원고의 청구 취지에 대한 주장을 그대로 인정하는 경우에는 인용 판결의 효력을 갖는 인낙조서를 작성하여 소를 </a:t>
            </a:r>
            <a:r>
              <a:rPr lang="ko-KR" altLang="en-US" sz="1200" dirty="0" err="1"/>
              <a:t>종결시키는데</a:t>
            </a:r>
            <a:r>
              <a:rPr lang="ko-KR" altLang="en-US" sz="1200" dirty="0"/>
              <a:t> 비해</a:t>
            </a:r>
            <a:r>
              <a:rPr lang="en-US" altLang="ko-KR" sz="1200" dirty="0"/>
              <a:t>, </a:t>
            </a:r>
            <a:r>
              <a:rPr lang="ko-KR" altLang="en-US" sz="1200" dirty="0"/>
              <a:t>특허법원 판결은 소극적 권리범위 확인심판에서 당사자 간 다툼이 없는 경우에는 심판 청구인의 법적 불안이 없는 것이어서 확인의 이익이 없다고 판단하였다</a:t>
            </a:r>
            <a:r>
              <a:rPr lang="en-US" altLang="ko-KR" sz="1200" dirty="0"/>
              <a:t>. </a:t>
            </a:r>
            <a:r>
              <a:rPr lang="ko-KR" altLang="en-US" sz="1200" dirty="0"/>
              <a:t>그러나</a:t>
            </a:r>
            <a:r>
              <a:rPr lang="en-US" altLang="ko-KR" sz="1200" dirty="0"/>
              <a:t>, </a:t>
            </a:r>
            <a:r>
              <a:rPr lang="ko-KR" altLang="en-US" sz="1200" dirty="0">
                <a:highlight>
                  <a:srgbClr val="FFFF00"/>
                </a:highlight>
              </a:rPr>
              <a:t>심판 피청구인이 심판 청구인의 주장을 그대로 인정한다고 하더라도 추후 심판 피청구인은 자신의 주장을 번복하여 적극적 권리범위확인심판을 청구할 수 있는데</a:t>
            </a:r>
            <a:r>
              <a:rPr lang="en-US" altLang="ko-KR" sz="1200" dirty="0">
                <a:highlight>
                  <a:srgbClr val="FFFF00"/>
                </a:highlight>
              </a:rPr>
              <a:t>, </a:t>
            </a:r>
            <a:r>
              <a:rPr lang="ko-KR" altLang="en-US" sz="1200" dirty="0">
                <a:highlight>
                  <a:srgbClr val="FFFF00"/>
                </a:highlight>
              </a:rPr>
              <a:t>일사부재리 효력을 갖지 아니한 </a:t>
            </a:r>
            <a:r>
              <a:rPr lang="ko-KR" altLang="en-US" sz="1200" dirty="0" err="1">
                <a:highlight>
                  <a:srgbClr val="FFFF00"/>
                </a:highlight>
              </a:rPr>
              <a:t>각하심결로는</a:t>
            </a:r>
            <a:r>
              <a:rPr lang="ko-KR" altLang="en-US" sz="1200" dirty="0">
                <a:highlight>
                  <a:srgbClr val="FFFF00"/>
                </a:highlight>
              </a:rPr>
              <a:t> 심판 피청구인의 심판 청구를 막을 수 없어 심판 청구인은 </a:t>
            </a:r>
            <a:r>
              <a:rPr lang="ko-KR" altLang="en-US" sz="1200" dirty="0" err="1">
                <a:highlight>
                  <a:srgbClr val="FFFF00"/>
                </a:highlight>
              </a:rPr>
              <a:t>불측의</a:t>
            </a:r>
            <a:r>
              <a:rPr lang="ko-KR" altLang="en-US" sz="1200" dirty="0">
                <a:highlight>
                  <a:srgbClr val="FFFF00"/>
                </a:highlight>
              </a:rPr>
              <a:t> 피해를 볼 수 있으므로</a:t>
            </a:r>
            <a:r>
              <a:rPr lang="ko-KR" altLang="en-US" sz="1200" dirty="0"/>
              <a:t> 당사자 간 다툼이 없다는 사실만으로는 심판 청구인의 법적 불안이 없다고 볼 수 없고</a:t>
            </a:r>
            <a:r>
              <a:rPr lang="en-US" altLang="ko-KR" sz="1200" dirty="0"/>
              <a:t>, </a:t>
            </a:r>
            <a:r>
              <a:rPr lang="ko-KR" altLang="en-US" sz="1200" dirty="0"/>
              <a:t>따라서 확인의 이익을 부정해서는 안된다</a:t>
            </a:r>
            <a:r>
              <a:rPr lang="en-US" altLang="ko-KR" sz="1200" dirty="0"/>
              <a:t>(</a:t>
            </a:r>
            <a:r>
              <a:rPr lang="ko-KR" altLang="en-US" sz="1200" dirty="0" err="1"/>
              <a:t>김병필</a:t>
            </a:r>
            <a:r>
              <a:rPr lang="en-US" altLang="ko-KR" sz="1200" dirty="0"/>
              <a:t>, “</a:t>
            </a:r>
            <a:r>
              <a:rPr lang="ko-KR" altLang="en-US" sz="1200" dirty="0"/>
              <a:t>특허심판에서 당사자 간 다툼이 없는 경우 확인의 이익</a:t>
            </a:r>
            <a:r>
              <a:rPr lang="en-US" altLang="ko-KR" sz="1200" dirty="0"/>
              <a:t>–</a:t>
            </a:r>
            <a:r>
              <a:rPr lang="ko-KR" altLang="en-US" sz="1200" dirty="0"/>
              <a:t>소극적 권리범위확인심판을 중심으로</a:t>
            </a:r>
            <a:r>
              <a:rPr lang="en-US" altLang="ko-KR" sz="1200" dirty="0"/>
              <a:t>-”, </a:t>
            </a:r>
            <a:r>
              <a:rPr lang="ko-KR" altLang="en-US" sz="1200" dirty="0" err="1"/>
              <a:t>지식과권리</a:t>
            </a:r>
            <a:r>
              <a:rPr lang="en-US" altLang="ko-KR" sz="1200" dirty="0"/>
              <a:t>(</a:t>
            </a:r>
            <a:r>
              <a:rPr lang="ko-KR" altLang="en-US" sz="1200" dirty="0"/>
              <a:t>제</a:t>
            </a:r>
            <a:r>
              <a:rPr lang="en-US" altLang="ko-KR" sz="1200" dirty="0"/>
              <a:t>16</a:t>
            </a:r>
            <a:r>
              <a:rPr lang="ko-KR" altLang="en-US" sz="1200" dirty="0"/>
              <a:t>호</a:t>
            </a:r>
            <a:r>
              <a:rPr lang="en-US" altLang="ko-KR" sz="1200" dirty="0"/>
              <a:t>), 2013, </a:t>
            </a:r>
            <a:r>
              <a:rPr lang="ko-KR" altLang="en-US" sz="1200" dirty="0" err="1"/>
              <a:t>대한변리사회</a:t>
            </a:r>
            <a:r>
              <a:rPr lang="en-US" altLang="ko-KR" sz="1200" dirty="0"/>
              <a:t>, 74-89</a:t>
            </a:r>
            <a:r>
              <a:rPr lang="ko-KR" altLang="en-US" sz="1200" dirty="0"/>
              <a:t>면 요약</a:t>
            </a:r>
            <a:r>
              <a:rPr lang="en-US" altLang="ko-KR" sz="1200" dirty="0"/>
              <a:t>). </a:t>
            </a:r>
            <a:endParaRPr lang="ko-KR" altLang="en-US" sz="1200" dirty="0"/>
          </a:p>
        </p:txBody>
      </p:sp>
    </p:spTree>
    <p:extLst>
      <p:ext uri="{BB962C8B-B14F-4D97-AF65-F5344CB8AC3E}">
        <p14:creationId xmlns:p14="http://schemas.microsoft.com/office/powerpoint/2010/main" val="251384362"/>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155</a:t>
            </a:r>
            <a:r>
              <a:rPr lang="ko-KR" altLang="en-US" dirty="0"/>
              <a:t>조</a:t>
            </a:r>
            <a:r>
              <a:rPr lang="en-US" altLang="ko-KR" dirty="0"/>
              <a:t>, </a:t>
            </a:r>
            <a:r>
              <a:rPr lang="ko-KR" altLang="en-US" dirty="0"/>
              <a:t>제</a:t>
            </a:r>
            <a:r>
              <a:rPr lang="en-US" altLang="ko-KR" dirty="0"/>
              <a:t>156</a:t>
            </a:r>
            <a:r>
              <a:rPr lang="ko-KR" altLang="en-US" dirty="0"/>
              <a:t>조</a:t>
            </a:r>
          </a:p>
        </p:txBody>
      </p:sp>
      <p:sp>
        <p:nvSpPr>
          <p:cNvPr id="3" name="텍스트 개체 틀 2"/>
          <p:cNvSpPr>
            <a:spLocks noGrp="1"/>
          </p:cNvSpPr>
          <p:nvPr>
            <p:ph type="body" sz="quarter" idx="13"/>
          </p:nvPr>
        </p:nvSpPr>
        <p:spPr/>
        <p:txBody>
          <a:bodyPr/>
          <a:lstStyle/>
          <a:p>
            <a:r>
              <a:rPr lang="ko-KR" altLang="en-US" dirty="0"/>
              <a:t>당사자 참가의 </a:t>
            </a:r>
            <a:r>
              <a:rPr lang="en-US" altLang="ko-KR" dirty="0"/>
              <a:t>CASE</a:t>
            </a:r>
            <a:endParaRPr lang="ko-KR" altLang="en-US" dirty="0"/>
          </a:p>
        </p:txBody>
      </p:sp>
      <p:cxnSp>
        <p:nvCxnSpPr>
          <p:cNvPr id="5" name="직선 연결선 4"/>
          <p:cNvCxnSpPr/>
          <p:nvPr/>
        </p:nvCxnSpPr>
        <p:spPr>
          <a:xfrm>
            <a:off x="77875" y="214464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7875" y="976902"/>
            <a:ext cx="11936323" cy="1169551"/>
          </a:xfrm>
          <a:prstGeom prst="rect">
            <a:avLst/>
          </a:prstGeom>
          <a:noFill/>
        </p:spPr>
        <p:txBody>
          <a:bodyPr wrap="square" rtlCol="0">
            <a:spAutoFit/>
          </a:bodyPr>
          <a:lstStyle/>
          <a:p>
            <a:pPr fontAlgn="base"/>
            <a:r>
              <a:rPr lang="ko-KR" altLang="en-US" sz="1400" dirty="0">
                <a:solidFill>
                  <a:schemeClr val="tx2"/>
                </a:solidFill>
              </a:rPr>
              <a:t>「당사자 </a:t>
            </a:r>
            <a:r>
              <a:rPr lang="ko-KR" altLang="en-US" sz="1400" dirty="0" err="1">
                <a:solidFill>
                  <a:schemeClr val="tx2"/>
                </a:solidFill>
              </a:rPr>
              <a:t>참가」란</a:t>
            </a:r>
            <a:r>
              <a:rPr lang="ko-KR" altLang="en-US" sz="1400" dirty="0">
                <a:solidFill>
                  <a:schemeClr val="tx2"/>
                </a:solidFill>
              </a:rPr>
              <a:t> 제</a:t>
            </a:r>
            <a:r>
              <a:rPr lang="en-US" altLang="ko-KR" sz="1400" dirty="0">
                <a:solidFill>
                  <a:schemeClr val="tx2"/>
                </a:solidFill>
              </a:rPr>
              <a:t>139</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따라 공동으로 심판을 청구할 수 있는 자가 타인간의 계속 중인 심판에 참가하는 것을 말하며</a:t>
            </a:r>
            <a:r>
              <a:rPr lang="en-US" altLang="ko-KR" sz="1400" dirty="0">
                <a:solidFill>
                  <a:schemeClr val="tx2"/>
                </a:solidFill>
              </a:rPr>
              <a:t>, </a:t>
            </a:r>
            <a:r>
              <a:rPr lang="ko-KR" altLang="en-US" sz="1400" dirty="0" err="1">
                <a:solidFill>
                  <a:schemeClr val="tx2"/>
                </a:solidFill>
              </a:rPr>
              <a:t>심판청구인</a:t>
            </a:r>
            <a:r>
              <a:rPr lang="ko-KR" altLang="en-US" sz="1400" dirty="0">
                <a:solidFill>
                  <a:schemeClr val="tx2"/>
                </a:solidFill>
              </a:rPr>
              <a:t> 측에만 참가할 수 있다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155①). </a:t>
            </a:r>
            <a:r>
              <a:rPr lang="ko-KR" altLang="en-US" sz="1400" dirty="0">
                <a:solidFill>
                  <a:schemeClr val="tx2"/>
                </a:solidFill>
              </a:rPr>
              <a:t>즉</a:t>
            </a:r>
            <a:r>
              <a:rPr lang="en-US" altLang="ko-KR" sz="1400" dirty="0">
                <a:solidFill>
                  <a:schemeClr val="tx2"/>
                </a:solidFill>
              </a:rPr>
              <a:t>, </a:t>
            </a:r>
            <a:r>
              <a:rPr lang="ko-KR" altLang="en-US" sz="1400" dirty="0">
                <a:solidFill>
                  <a:schemeClr val="tx2"/>
                </a:solidFill>
              </a:rPr>
              <a:t>특허무효심판</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133), </a:t>
            </a:r>
            <a:r>
              <a:rPr lang="ko-KR" altLang="en-US" sz="1400" dirty="0">
                <a:solidFill>
                  <a:schemeClr val="tx2"/>
                </a:solidFill>
              </a:rPr>
              <a:t>특허권의 </a:t>
            </a:r>
            <a:r>
              <a:rPr lang="ko-KR" altLang="en-US" sz="1400" dirty="0" err="1">
                <a:solidFill>
                  <a:schemeClr val="tx2"/>
                </a:solidFill>
              </a:rPr>
              <a:t>존속기간연장등록무효심판</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134), </a:t>
            </a:r>
            <a:r>
              <a:rPr lang="ko-KR" altLang="en-US" sz="1400" dirty="0">
                <a:solidFill>
                  <a:schemeClr val="tx2"/>
                </a:solidFill>
              </a:rPr>
              <a:t>정정무효심판</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137), </a:t>
            </a:r>
            <a:r>
              <a:rPr lang="ko-KR" altLang="en-US" sz="1400" dirty="0">
                <a:solidFill>
                  <a:schemeClr val="tx2"/>
                </a:solidFill>
              </a:rPr>
              <a:t>권리범위확인심판</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135)</a:t>
            </a:r>
            <a:r>
              <a:rPr lang="ko-KR" altLang="en-US" sz="1400" dirty="0">
                <a:solidFill>
                  <a:schemeClr val="tx2"/>
                </a:solidFill>
              </a:rPr>
              <a:t>을 청구하는 </a:t>
            </a:r>
            <a:r>
              <a:rPr lang="ko-KR" altLang="en-US" sz="1400" dirty="0"/>
              <a:t>자가</a:t>
            </a:r>
            <a:r>
              <a:rPr lang="ko-KR" altLang="en-US" sz="1400" dirty="0">
                <a:solidFill>
                  <a:srgbClr val="FF0000"/>
                </a:solidFill>
              </a:rPr>
              <a:t> </a:t>
            </a:r>
            <a:r>
              <a:rPr lang="en-US" altLang="ko-KR" sz="1400" dirty="0">
                <a:highlight>
                  <a:srgbClr val="FFFF00"/>
                </a:highlight>
              </a:rPr>
              <a:t>2</a:t>
            </a:r>
            <a:r>
              <a:rPr lang="ko-KR" altLang="en-US" sz="1400" dirty="0">
                <a:highlight>
                  <a:srgbClr val="FFFF00"/>
                </a:highlight>
              </a:rPr>
              <a:t>명 이상이면 모두가 공동으로 심판을 청구할 수도 있으나</a:t>
            </a:r>
            <a:r>
              <a:rPr lang="en-US" altLang="ko-KR" sz="1400" dirty="0">
                <a:highlight>
                  <a:srgbClr val="FFFF00"/>
                </a:highlight>
              </a:rPr>
              <a:t>, </a:t>
            </a:r>
            <a:r>
              <a:rPr lang="ko-KR" altLang="en-US" sz="1400" dirty="0">
                <a:highlight>
                  <a:srgbClr val="FFFF00"/>
                </a:highlight>
              </a:rPr>
              <a:t>일부만이 심판을 청구할 수도 있다</a:t>
            </a:r>
            <a:r>
              <a:rPr lang="en-US" altLang="ko-KR" sz="1400" dirty="0">
                <a:highlight>
                  <a:srgbClr val="FFFF00"/>
                </a:highlight>
              </a:rPr>
              <a:t>. </a:t>
            </a:r>
            <a:r>
              <a:rPr lang="ko-KR" altLang="en-US" sz="1400" dirty="0">
                <a:highlight>
                  <a:srgbClr val="FFFF00"/>
                </a:highlight>
              </a:rPr>
              <a:t>이 경우에 당사자적격이 있는 나머지 사람은 당사자로서 그 심판에 참가할 수 있다</a:t>
            </a:r>
            <a:r>
              <a:rPr lang="en-US" altLang="ko-KR" sz="1400" dirty="0">
                <a:highlight>
                  <a:srgbClr val="FFFF00"/>
                </a:highlight>
              </a:rPr>
              <a:t>. </a:t>
            </a:r>
            <a:r>
              <a:rPr lang="ko-KR" altLang="en-US" sz="1400" dirty="0">
                <a:solidFill>
                  <a:schemeClr val="tx2"/>
                </a:solidFill>
              </a:rPr>
              <a:t>아래의 예시에서 이해관계인 甲과 乙은 공동으로 심판을 청구할 수도 있고</a:t>
            </a:r>
            <a:r>
              <a:rPr lang="en-US" altLang="ko-KR" sz="1400" dirty="0">
                <a:solidFill>
                  <a:schemeClr val="tx2"/>
                </a:solidFill>
              </a:rPr>
              <a:t>(1), </a:t>
            </a:r>
            <a:r>
              <a:rPr lang="ko-KR" altLang="en-US" sz="1400" dirty="0">
                <a:solidFill>
                  <a:schemeClr val="tx2"/>
                </a:solidFill>
              </a:rPr>
              <a:t>각자가 심판을 청구할 수도 있다</a:t>
            </a:r>
            <a:r>
              <a:rPr lang="en-US" altLang="ko-KR" sz="1400" dirty="0">
                <a:solidFill>
                  <a:schemeClr val="tx2"/>
                </a:solidFill>
              </a:rPr>
              <a:t>(2, 3). </a:t>
            </a:r>
            <a:r>
              <a:rPr lang="ko-KR" altLang="en-US" sz="1400" dirty="0">
                <a:solidFill>
                  <a:schemeClr val="tx2"/>
                </a:solidFill>
              </a:rPr>
              <a:t>또한</a:t>
            </a:r>
            <a:r>
              <a:rPr lang="en-US" altLang="ko-KR" sz="1400" dirty="0">
                <a:solidFill>
                  <a:schemeClr val="tx2"/>
                </a:solidFill>
              </a:rPr>
              <a:t>, </a:t>
            </a:r>
            <a:r>
              <a:rPr lang="ko-KR" altLang="en-US" sz="1400" dirty="0">
                <a:solidFill>
                  <a:schemeClr val="tx2"/>
                </a:solidFill>
              </a:rPr>
              <a:t>일부만</a:t>
            </a:r>
            <a:r>
              <a:rPr lang="en-US" altLang="ko-KR" sz="1400" dirty="0">
                <a:solidFill>
                  <a:schemeClr val="tx2"/>
                </a:solidFill>
              </a:rPr>
              <a:t>(</a:t>
            </a:r>
            <a:r>
              <a:rPr lang="ko-KR" altLang="en-US" sz="1400" dirty="0">
                <a:solidFill>
                  <a:schemeClr val="tx2"/>
                </a:solidFill>
              </a:rPr>
              <a:t>甲</a:t>
            </a:r>
            <a:r>
              <a:rPr lang="en-US" altLang="ko-KR" sz="1400" dirty="0">
                <a:solidFill>
                  <a:schemeClr val="tx2"/>
                </a:solidFill>
              </a:rPr>
              <a:t>)</a:t>
            </a:r>
            <a:r>
              <a:rPr lang="ko-KR" altLang="en-US" sz="1400" dirty="0">
                <a:solidFill>
                  <a:schemeClr val="tx2"/>
                </a:solidFill>
              </a:rPr>
              <a:t>이 심판을 청구하고</a:t>
            </a:r>
            <a:r>
              <a:rPr lang="en-US" altLang="ko-KR" sz="1400" dirty="0">
                <a:solidFill>
                  <a:schemeClr val="tx2"/>
                </a:solidFill>
              </a:rPr>
              <a:t>, </a:t>
            </a:r>
            <a:r>
              <a:rPr lang="ko-KR" altLang="en-US" sz="1400" dirty="0">
                <a:solidFill>
                  <a:schemeClr val="tx2"/>
                </a:solidFill>
              </a:rPr>
              <a:t>심판을 청구하지 아니한 다른 당사자</a:t>
            </a:r>
            <a:r>
              <a:rPr lang="en-US" altLang="ko-KR" sz="1400" dirty="0">
                <a:solidFill>
                  <a:schemeClr val="tx2"/>
                </a:solidFill>
              </a:rPr>
              <a:t>(</a:t>
            </a:r>
            <a:r>
              <a:rPr lang="ko-KR" altLang="en-US" sz="1400" dirty="0">
                <a:solidFill>
                  <a:schemeClr val="tx2"/>
                </a:solidFill>
              </a:rPr>
              <a:t>乙</a:t>
            </a:r>
            <a:r>
              <a:rPr lang="en-US" altLang="ko-KR" sz="1400" dirty="0">
                <a:solidFill>
                  <a:schemeClr val="tx2"/>
                </a:solidFill>
              </a:rPr>
              <a:t>)</a:t>
            </a:r>
            <a:r>
              <a:rPr lang="ko-KR" altLang="en-US" sz="1400" dirty="0">
                <a:solidFill>
                  <a:schemeClr val="tx2"/>
                </a:solidFill>
              </a:rPr>
              <a:t>은 그 심판에 참가할 수 있다</a:t>
            </a:r>
            <a:r>
              <a:rPr lang="en-US" altLang="ko-KR" sz="1400" dirty="0">
                <a:solidFill>
                  <a:schemeClr val="tx2"/>
                </a:solidFill>
              </a:rPr>
              <a:t>(4). </a:t>
            </a:r>
            <a:endParaRPr lang="ko-KR" altLang="en-US" sz="1400" dirty="0">
              <a:solidFill>
                <a:schemeClr val="tx2"/>
              </a:solidFill>
            </a:endParaRPr>
          </a:p>
        </p:txBody>
      </p:sp>
      <p:sp>
        <p:nvSpPr>
          <p:cNvPr id="19" name="순서도: 처리 18"/>
          <p:cNvSpPr/>
          <p:nvPr/>
        </p:nvSpPr>
        <p:spPr>
          <a:xfrm>
            <a:off x="999936" y="3318304"/>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甲</a:t>
            </a:r>
            <a:r>
              <a:rPr lang="en-US" altLang="ko-KR" sz="1400" dirty="0">
                <a:solidFill>
                  <a:schemeClr val="tx1"/>
                </a:solidFill>
              </a:rPr>
              <a:t>, </a:t>
            </a:r>
            <a:r>
              <a:rPr lang="ko-KR" altLang="en-US" sz="1400" dirty="0">
                <a:solidFill>
                  <a:schemeClr val="tx1"/>
                </a:solidFill>
              </a:rPr>
              <a:t>乙</a:t>
            </a:r>
            <a:r>
              <a:rPr lang="en-US" altLang="ko-KR" sz="1400" dirty="0">
                <a:solidFill>
                  <a:schemeClr val="tx1"/>
                </a:solidFill>
              </a:rPr>
              <a:t>(</a:t>
            </a:r>
            <a:r>
              <a:rPr lang="ko-KR" altLang="en-US" sz="1400" dirty="0">
                <a:solidFill>
                  <a:schemeClr val="tx1"/>
                </a:solidFill>
              </a:rPr>
              <a:t>청구인</a:t>
            </a:r>
            <a:r>
              <a:rPr lang="en-US" altLang="ko-KR" sz="1400" dirty="0">
                <a:solidFill>
                  <a:schemeClr val="tx1"/>
                </a:solidFill>
              </a:rPr>
              <a:t>)</a:t>
            </a:r>
            <a:endParaRPr lang="ko-KR" altLang="en-US" sz="1400" dirty="0">
              <a:solidFill>
                <a:schemeClr val="tx1"/>
              </a:solidFill>
            </a:endParaRPr>
          </a:p>
        </p:txBody>
      </p:sp>
      <p:sp>
        <p:nvSpPr>
          <p:cNvPr id="20" name="순서도: 처리 19"/>
          <p:cNvSpPr/>
          <p:nvPr/>
        </p:nvSpPr>
        <p:spPr>
          <a:xfrm>
            <a:off x="3861332" y="3318304"/>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丙</a:t>
            </a:r>
            <a:r>
              <a:rPr lang="en-US" altLang="ko-KR" sz="1400" dirty="0">
                <a:solidFill>
                  <a:schemeClr val="tx1"/>
                </a:solidFill>
              </a:rPr>
              <a:t>(</a:t>
            </a:r>
            <a:r>
              <a:rPr lang="ko-KR" altLang="en-US" sz="1400" dirty="0">
                <a:solidFill>
                  <a:schemeClr val="tx1"/>
                </a:solidFill>
              </a:rPr>
              <a:t>피청구인</a:t>
            </a:r>
            <a:r>
              <a:rPr lang="en-US" altLang="ko-KR" sz="1400" dirty="0">
                <a:solidFill>
                  <a:schemeClr val="tx1"/>
                </a:solidFill>
              </a:rPr>
              <a:t>)</a:t>
            </a:r>
            <a:endParaRPr lang="ko-KR" altLang="en-US" sz="1400" dirty="0">
              <a:solidFill>
                <a:schemeClr val="tx1"/>
              </a:solidFill>
            </a:endParaRPr>
          </a:p>
        </p:txBody>
      </p:sp>
      <p:sp>
        <p:nvSpPr>
          <p:cNvPr id="21" name="순서도: 처리 20"/>
          <p:cNvSpPr/>
          <p:nvPr/>
        </p:nvSpPr>
        <p:spPr>
          <a:xfrm>
            <a:off x="2460354" y="3318304"/>
            <a:ext cx="1740204" cy="288032"/>
          </a:xfrm>
          <a:prstGeom prst="flowChartProcess">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tx1"/>
                </a:solidFill>
              </a:rPr>
              <a:t>vs</a:t>
            </a:r>
            <a:endParaRPr lang="ko-KR" altLang="en-US" sz="1400" dirty="0">
              <a:solidFill>
                <a:schemeClr val="tx1"/>
              </a:solidFill>
            </a:endParaRPr>
          </a:p>
        </p:txBody>
      </p:sp>
      <p:sp>
        <p:nvSpPr>
          <p:cNvPr id="22" name="순서도: 처리 21"/>
          <p:cNvSpPr/>
          <p:nvPr/>
        </p:nvSpPr>
        <p:spPr>
          <a:xfrm>
            <a:off x="999936" y="4012828"/>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甲</a:t>
            </a:r>
            <a:r>
              <a:rPr lang="en-US" altLang="ko-KR" sz="1400" dirty="0">
                <a:solidFill>
                  <a:schemeClr val="tx1"/>
                </a:solidFill>
              </a:rPr>
              <a:t>(</a:t>
            </a:r>
            <a:r>
              <a:rPr lang="ko-KR" altLang="en-US" sz="1400" dirty="0">
                <a:solidFill>
                  <a:schemeClr val="tx1"/>
                </a:solidFill>
              </a:rPr>
              <a:t>청구인</a:t>
            </a:r>
            <a:r>
              <a:rPr lang="en-US" altLang="ko-KR" sz="1400" dirty="0">
                <a:solidFill>
                  <a:schemeClr val="tx1"/>
                </a:solidFill>
              </a:rPr>
              <a:t>)</a:t>
            </a:r>
            <a:endParaRPr lang="ko-KR" altLang="en-US" sz="1400" dirty="0">
              <a:solidFill>
                <a:schemeClr val="tx1"/>
              </a:solidFill>
            </a:endParaRPr>
          </a:p>
        </p:txBody>
      </p:sp>
      <p:sp>
        <p:nvSpPr>
          <p:cNvPr id="23" name="순서도: 처리 22"/>
          <p:cNvSpPr/>
          <p:nvPr/>
        </p:nvSpPr>
        <p:spPr>
          <a:xfrm>
            <a:off x="3861332" y="4012828"/>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丙</a:t>
            </a:r>
            <a:r>
              <a:rPr lang="en-US" altLang="ko-KR" sz="1400" dirty="0">
                <a:solidFill>
                  <a:schemeClr val="tx1"/>
                </a:solidFill>
              </a:rPr>
              <a:t>(</a:t>
            </a:r>
            <a:r>
              <a:rPr lang="ko-KR" altLang="en-US" sz="1400" dirty="0">
                <a:solidFill>
                  <a:schemeClr val="tx1"/>
                </a:solidFill>
              </a:rPr>
              <a:t>피청구인</a:t>
            </a:r>
            <a:r>
              <a:rPr lang="en-US" altLang="ko-KR" sz="1400" dirty="0">
                <a:solidFill>
                  <a:schemeClr val="tx1"/>
                </a:solidFill>
              </a:rPr>
              <a:t>)</a:t>
            </a:r>
            <a:endParaRPr lang="ko-KR" altLang="en-US" sz="1400" dirty="0">
              <a:solidFill>
                <a:schemeClr val="tx1"/>
              </a:solidFill>
            </a:endParaRPr>
          </a:p>
        </p:txBody>
      </p:sp>
      <p:sp>
        <p:nvSpPr>
          <p:cNvPr id="24" name="순서도: 처리 23"/>
          <p:cNvSpPr/>
          <p:nvPr/>
        </p:nvSpPr>
        <p:spPr>
          <a:xfrm>
            <a:off x="2460354" y="4012828"/>
            <a:ext cx="1740204" cy="288032"/>
          </a:xfrm>
          <a:prstGeom prst="flowChartProcess">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tx1"/>
                </a:solidFill>
              </a:rPr>
              <a:t>vs</a:t>
            </a:r>
            <a:endParaRPr lang="ko-KR" altLang="en-US" sz="1400" dirty="0">
              <a:solidFill>
                <a:schemeClr val="tx1"/>
              </a:solidFill>
            </a:endParaRPr>
          </a:p>
        </p:txBody>
      </p:sp>
      <p:sp>
        <p:nvSpPr>
          <p:cNvPr id="25" name="순서도: 처리 24"/>
          <p:cNvSpPr/>
          <p:nvPr/>
        </p:nvSpPr>
        <p:spPr>
          <a:xfrm>
            <a:off x="999936" y="4444876"/>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乙</a:t>
            </a:r>
            <a:r>
              <a:rPr lang="en-US" altLang="ko-KR" sz="1400" dirty="0">
                <a:solidFill>
                  <a:schemeClr val="tx1"/>
                </a:solidFill>
              </a:rPr>
              <a:t>(</a:t>
            </a:r>
            <a:r>
              <a:rPr lang="ko-KR" altLang="en-US" sz="1400" dirty="0">
                <a:solidFill>
                  <a:schemeClr val="tx1"/>
                </a:solidFill>
              </a:rPr>
              <a:t>청구인</a:t>
            </a:r>
            <a:r>
              <a:rPr lang="en-US" altLang="ko-KR" sz="1400" dirty="0">
                <a:solidFill>
                  <a:schemeClr val="tx1"/>
                </a:solidFill>
              </a:rPr>
              <a:t>)</a:t>
            </a:r>
            <a:endParaRPr lang="ko-KR" altLang="en-US" sz="1400" dirty="0">
              <a:solidFill>
                <a:schemeClr val="tx1"/>
              </a:solidFill>
            </a:endParaRPr>
          </a:p>
        </p:txBody>
      </p:sp>
      <p:sp>
        <p:nvSpPr>
          <p:cNvPr id="26" name="순서도: 처리 25"/>
          <p:cNvSpPr/>
          <p:nvPr/>
        </p:nvSpPr>
        <p:spPr>
          <a:xfrm>
            <a:off x="3861332" y="4444876"/>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丙</a:t>
            </a:r>
            <a:r>
              <a:rPr lang="en-US" altLang="ko-KR" sz="1400" dirty="0">
                <a:solidFill>
                  <a:schemeClr val="tx1"/>
                </a:solidFill>
              </a:rPr>
              <a:t>(</a:t>
            </a:r>
            <a:r>
              <a:rPr lang="ko-KR" altLang="en-US" sz="1400" dirty="0">
                <a:solidFill>
                  <a:schemeClr val="tx1"/>
                </a:solidFill>
              </a:rPr>
              <a:t>피청구인</a:t>
            </a:r>
            <a:r>
              <a:rPr lang="en-US" altLang="ko-KR" sz="1400" dirty="0">
                <a:solidFill>
                  <a:schemeClr val="tx1"/>
                </a:solidFill>
              </a:rPr>
              <a:t>)</a:t>
            </a:r>
            <a:endParaRPr lang="ko-KR" altLang="en-US" sz="1400" dirty="0">
              <a:solidFill>
                <a:schemeClr val="tx1"/>
              </a:solidFill>
            </a:endParaRPr>
          </a:p>
        </p:txBody>
      </p:sp>
      <p:sp>
        <p:nvSpPr>
          <p:cNvPr id="27" name="순서도: 처리 26"/>
          <p:cNvSpPr/>
          <p:nvPr/>
        </p:nvSpPr>
        <p:spPr>
          <a:xfrm>
            <a:off x="2460354" y="4444876"/>
            <a:ext cx="1740204" cy="288032"/>
          </a:xfrm>
          <a:prstGeom prst="flowChartProcess">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tx1"/>
                </a:solidFill>
              </a:rPr>
              <a:t>vs</a:t>
            </a:r>
            <a:endParaRPr lang="ko-KR" altLang="en-US" sz="1400" dirty="0">
              <a:solidFill>
                <a:schemeClr val="tx1"/>
              </a:solidFill>
            </a:endParaRPr>
          </a:p>
        </p:txBody>
      </p:sp>
      <p:sp>
        <p:nvSpPr>
          <p:cNvPr id="28" name="순서도: 처리 27"/>
          <p:cNvSpPr/>
          <p:nvPr/>
        </p:nvSpPr>
        <p:spPr>
          <a:xfrm>
            <a:off x="999936" y="5173464"/>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甲</a:t>
            </a:r>
            <a:r>
              <a:rPr lang="en-US" altLang="ko-KR" sz="1400" dirty="0">
                <a:solidFill>
                  <a:schemeClr val="tx1"/>
                </a:solidFill>
              </a:rPr>
              <a:t>(</a:t>
            </a:r>
            <a:r>
              <a:rPr lang="ko-KR" altLang="en-US" sz="1400" dirty="0">
                <a:solidFill>
                  <a:schemeClr val="tx1"/>
                </a:solidFill>
              </a:rPr>
              <a:t>청구인</a:t>
            </a:r>
            <a:r>
              <a:rPr lang="en-US" altLang="ko-KR" sz="1400" dirty="0">
                <a:solidFill>
                  <a:schemeClr val="tx1"/>
                </a:solidFill>
              </a:rPr>
              <a:t>)</a:t>
            </a:r>
            <a:endParaRPr lang="ko-KR" altLang="en-US" sz="1400" dirty="0">
              <a:solidFill>
                <a:schemeClr val="tx1"/>
              </a:solidFill>
            </a:endParaRPr>
          </a:p>
        </p:txBody>
      </p:sp>
      <p:sp>
        <p:nvSpPr>
          <p:cNvPr id="29" name="순서도: 처리 28"/>
          <p:cNvSpPr/>
          <p:nvPr/>
        </p:nvSpPr>
        <p:spPr>
          <a:xfrm>
            <a:off x="3861332" y="5173464"/>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丙</a:t>
            </a:r>
            <a:r>
              <a:rPr lang="en-US" altLang="ko-KR" sz="1400" dirty="0">
                <a:solidFill>
                  <a:schemeClr val="tx1"/>
                </a:solidFill>
              </a:rPr>
              <a:t>(</a:t>
            </a:r>
            <a:r>
              <a:rPr lang="ko-KR" altLang="en-US" sz="1400" dirty="0">
                <a:solidFill>
                  <a:schemeClr val="tx1"/>
                </a:solidFill>
              </a:rPr>
              <a:t>피청구인</a:t>
            </a:r>
            <a:r>
              <a:rPr lang="en-US" altLang="ko-KR" sz="1400" dirty="0">
                <a:solidFill>
                  <a:schemeClr val="tx1"/>
                </a:solidFill>
              </a:rPr>
              <a:t>)</a:t>
            </a:r>
            <a:endParaRPr lang="ko-KR" altLang="en-US" sz="1400" dirty="0">
              <a:solidFill>
                <a:schemeClr val="tx1"/>
              </a:solidFill>
            </a:endParaRPr>
          </a:p>
        </p:txBody>
      </p:sp>
      <p:sp>
        <p:nvSpPr>
          <p:cNvPr id="30" name="순서도: 처리 29"/>
          <p:cNvSpPr/>
          <p:nvPr/>
        </p:nvSpPr>
        <p:spPr>
          <a:xfrm>
            <a:off x="2460354" y="5173464"/>
            <a:ext cx="1740204" cy="288032"/>
          </a:xfrm>
          <a:prstGeom prst="flowChartProcess">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tx1"/>
                </a:solidFill>
              </a:rPr>
              <a:t>vs</a:t>
            </a:r>
            <a:endParaRPr lang="ko-KR" altLang="en-US" sz="1400" dirty="0">
              <a:solidFill>
                <a:schemeClr val="tx1"/>
              </a:solidFill>
            </a:endParaRPr>
          </a:p>
        </p:txBody>
      </p:sp>
      <p:sp>
        <p:nvSpPr>
          <p:cNvPr id="31" name="순서도: 처리 30"/>
          <p:cNvSpPr/>
          <p:nvPr/>
        </p:nvSpPr>
        <p:spPr>
          <a:xfrm>
            <a:off x="999936" y="5779120"/>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乙</a:t>
            </a:r>
            <a:r>
              <a:rPr lang="en-US" altLang="ko-KR" sz="1400" dirty="0">
                <a:solidFill>
                  <a:schemeClr val="tx1"/>
                </a:solidFill>
              </a:rPr>
              <a:t>(</a:t>
            </a:r>
            <a:r>
              <a:rPr lang="ko-KR" altLang="en-US" sz="1400" dirty="0">
                <a:solidFill>
                  <a:schemeClr val="tx1"/>
                </a:solidFill>
              </a:rPr>
              <a:t>참가인</a:t>
            </a:r>
            <a:r>
              <a:rPr lang="en-US" altLang="ko-KR" sz="1400" dirty="0">
                <a:solidFill>
                  <a:schemeClr val="tx1"/>
                </a:solidFill>
              </a:rPr>
              <a:t>)</a:t>
            </a:r>
            <a:endParaRPr lang="ko-KR" altLang="en-US" sz="1400" dirty="0">
              <a:solidFill>
                <a:schemeClr val="tx1"/>
              </a:solidFill>
            </a:endParaRPr>
          </a:p>
        </p:txBody>
      </p:sp>
      <p:sp>
        <p:nvSpPr>
          <p:cNvPr id="32" name="순서도: 처리 31"/>
          <p:cNvSpPr/>
          <p:nvPr/>
        </p:nvSpPr>
        <p:spPr>
          <a:xfrm>
            <a:off x="477384" y="3315990"/>
            <a:ext cx="435051" cy="288032"/>
          </a:xfrm>
          <a:prstGeom prst="flowChartProcess">
            <a:avLst/>
          </a:prstGeom>
          <a:solidFill>
            <a:schemeClr val="accent3">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bg1"/>
                </a:solidFill>
              </a:rPr>
              <a:t>1</a:t>
            </a:r>
            <a:endParaRPr lang="ko-KR" altLang="en-US" sz="1400" dirty="0">
              <a:solidFill>
                <a:schemeClr val="bg1"/>
              </a:solidFill>
            </a:endParaRPr>
          </a:p>
        </p:txBody>
      </p:sp>
      <p:sp>
        <p:nvSpPr>
          <p:cNvPr id="33" name="순서도: 처리 32"/>
          <p:cNvSpPr/>
          <p:nvPr/>
        </p:nvSpPr>
        <p:spPr>
          <a:xfrm>
            <a:off x="477384" y="4012828"/>
            <a:ext cx="435051" cy="288032"/>
          </a:xfrm>
          <a:prstGeom prst="flowChartProcess">
            <a:avLst/>
          </a:prstGeom>
          <a:solidFill>
            <a:schemeClr val="accent3">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bg1"/>
                </a:solidFill>
              </a:rPr>
              <a:t>2</a:t>
            </a:r>
            <a:endParaRPr lang="ko-KR" altLang="en-US" sz="1400" dirty="0">
              <a:solidFill>
                <a:schemeClr val="bg1"/>
              </a:solidFill>
            </a:endParaRPr>
          </a:p>
        </p:txBody>
      </p:sp>
      <p:sp>
        <p:nvSpPr>
          <p:cNvPr id="34" name="순서도: 처리 33"/>
          <p:cNvSpPr/>
          <p:nvPr/>
        </p:nvSpPr>
        <p:spPr>
          <a:xfrm>
            <a:off x="477384" y="4444876"/>
            <a:ext cx="435051" cy="288032"/>
          </a:xfrm>
          <a:prstGeom prst="flowChartProcess">
            <a:avLst/>
          </a:prstGeom>
          <a:solidFill>
            <a:schemeClr val="accent3">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bg1"/>
                </a:solidFill>
              </a:rPr>
              <a:t>3</a:t>
            </a:r>
            <a:endParaRPr lang="ko-KR" altLang="en-US" sz="1400" dirty="0">
              <a:solidFill>
                <a:schemeClr val="bg1"/>
              </a:solidFill>
            </a:endParaRPr>
          </a:p>
        </p:txBody>
      </p:sp>
      <p:sp>
        <p:nvSpPr>
          <p:cNvPr id="35" name="순서도: 처리 34"/>
          <p:cNvSpPr/>
          <p:nvPr/>
        </p:nvSpPr>
        <p:spPr>
          <a:xfrm>
            <a:off x="477384" y="5187181"/>
            <a:ext cx="435051" cy="288032"/>
          </a:xfrm>
          <a:prstGeom prst="flowChartProcess">
            <a:avLst/>
          </a:prstGeom>
          <a:solidFill>
            <a:schemeClr val="accent3">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bg1"/>
                </a:solidFill>
              </a:rPr>
              <a:t>4</a:t>
            </a:r>
            <a:endParaRPr lang="ko-KR" altLang="en-US" sz="1400" dirty="0">
              <a:solidFill>
                <a:schemeClr val="bg1"/>
              </a:solidFill>
            </a:endParaRPr>
          </a:p>
        </p:txBody>
      </p:sp>
      <p:cxnSp>
        <p:nvCxnSpPr>
          <p:cNvPr id="36" name="직선 화살표 연결선 35"/>
          <p:cNvCxnSpPr>
            <a:stCxn id="31" idx="0"/>
            <a:endCxn id="28" idx="2"/>
          </p:cNvCxnSpPr>
          <p:nvPr/>
        </p:nvCxnSpPr>
        <p:spPr>
          <a:xfrm flipV="1">
            <a:off x="1870038" y="5461496"/>
            <a:ext cx="0" cy="317624"/>
          </a:xfrm>
          <a:prstGeom prst="straightConnector1">
            <a:avLst/>
          </a:prstGeom>
          <a:ln w="285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266700" y="2408541"/>
            <a:ext cx="5549900" cy="584775"/>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r>
              <a:rPr lang="ko-KR" altLang="en-US" sz="1600" dirty="0"/>
              <a:t>甲</a:t>
            </a:r>
            <a:r>
              <a:rPr lang="en-US" altLang="ko-KR" sz="1600" dirty="0"/>
              <a:t>, </a:t>
            </a:r>
            <a:r>
              <a:rPr lang="ko-KR" altLang="en-US" sz="1600" dirty="0"/>
              <a:t>乙 </a:t>
            </a:r>
            <a:r>
              <a:rPr lang="en-US" altLang="ko-KR" sz="1600" dirty="0"/>
              <a:t>: </a:t>
            </a:r>
            <a:r>
              <a:rPr lang="ko-KR" altLang="en-US" sz="1600" dirty="0"/>
              <a:t>이해관계인 </a:t>
            </a:r>
            <a:r>
              <a:rPr lang="en-US" altLang="ko-KR" sz="1600" dirty="0"/>
              <a:t>, </a:t>
            </a:r>
            <a:r>
              <a:rPr lang="ko-KR" altLang="en-US" sz="1600" dirty="0"/>
              <a:t>丙 </a:t>
            </a:r>
            <a:r>
              <a:rPr lang="en-US" altLang="ko-KR" sz="1600" dirty="0"/>
              <a:t>: </a:t>
            </a:r>
            <a:r>
              <a:rPr lang="ko-KR" altLang="en-US" sz="1600" dirty="0" err="1"/>
              <a:t>특허권자</a:t>
            </a:r>
            <a:r>
              <a:rPr lang="ko-KR" altLang="en-US" sz="1600" dirty="0"/>
              <a:t> 일 때 甲과 乙이 무효심판을 </a:t>
            </a:r>
            <a:endParaRPr lang="en-US" altLang="ko-KR" sz="1600" dirty="0"/>
          </a:p>
          <a:p>
            <a:r>
              <a:rPr lang="ko-KR" altLang="en-US" sz="1600" dirty="0"/>
              <a:t>청구할 수 있는 방법은</a:t>
            </a:r>
            <a:r>
              <a:rPr lang="en-US" altLang="ko-KR" sz="1600" dirty="0"/>
              <a:t>?</a:t>
            </a:r>
            <a:endParaRPr lang="ko-KR" altLang="en-US" sz="1600" dirty="0"/>
          </a:p>
        </p:txBody>
      </p:sp>
      <p:sp>
        <p:nvSpPr>
          <p:cNvPr id="11" name="직사각형 10"/>
          <p:cNvSpPr/>
          <p:nvPr/>
        </p:nvSpPr>
        <p:spPr>
          <a:xfrm>
            <a:off x="266700" y="3136900"/>
            <a:ext cx="5549900" cy="6604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직사각형 44"/>
          <p:cNvSpPr/>
          <p:nvPr/>
        </p:nvSpPr>
        <p:spPr>
          <a:xfrm>
            <a:off x="266700" y="3869492"/>
            <a:ext cx="5549900" cy="100730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직사각형 45"/>
          <p:cNvSpPr/>
          <p:nvPr/>
        </p:nvSpPr>
        <p:spPr>
          <a:xfrm>
            <a:off x="266700" y="4996190"/>
            <a:ext cx="5549900" cy="123950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7" name="직선 연결선 46"/>
          <p:cNvCxnSpPr/>
          <p:nvPr/>
        </p:nvCxnSpPr>
        <p:spPr>
          <a:xfrm>
            <a:off x="6076950" y="2383141"/>
            <a:ext cx="0" cy="4256756"/>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직선 연결선 13"/>
          <p:cNvCxnSpPr>
            <a:stCxn id="46" idx="3"/>
          </p:cNvCxnSpPr>
          <p:nvPr/>
        </p:nvCxnSpPr>
        <p:spPr>
          <a:xfrm flipV="1">
            <a:off x="5816600" y="3840710"/>
            <a:ext cx="762000" cy="1775235"/>
          </a:xfrm>
          <a:prstGeom prst="line">
            <a:avLst/>
          </a:prstGeom>
          <a:ln w="381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1" name="순서도: 처리 50"/>
          <p:cNvSpPr/>
          <p:nvPr/>
        </p:nvSpPr>
        <p:spPr>
          <a:xfrm>
            <a:off x="7070537" y="3318304"/>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甲</a:t>
            </a:r>
            <a:r>
              <a:rPr lang="en-US" altLang="ko-KR" sz="1400" dirty="0">
                <a:solidFill>
                  <a:schemeClr val="tx1"/>
                </a:solidFill>
              </a:rPr>
              <a:t>, </a:t>
            </a:r>
            <a:r>
              <a:rPr lang="ko-KR" altLang="en-US" sz="1400" dirty="0">
                <a:solidFill>
                  <a:schemeClr val="tx1"/>
                </a:solidFill>
              </a:rPr>
              <a:t>乙</a:t>
            </a:r>
            <a:r>
              <a:rPr lang="en-US" altLang="ko-KR" sz="1400" dirty="0">
                <a:solidFill>
                  <a:schemeClr val="tx1"/>
                </a:solidFill>
              </a:rPr>
              <a:t>(</a:t>
            </a:r>
            <a:r>
              <a:rPr lang="ko-KR" altLang="en-US" sz="1400" dirty="0">
                <a:solidFill>
                  <a:schemeClr val="tx1"/>
                </a:solidFill>
              </a:rPr>
              <a:t>청구인</a:t>
            </a:r>
            <a:r>
              <a:rPr lang="en-US" altLang="ko-KR" sz="1400" dirty="0">
                <a:solidFill>
                  <a:schemeClr val="tx1"/>
                </a:solidFill>
              </a:rPr>
              <a:t>)</a:t>
            </a:r>
            <a:endParaRPr lang="ko-KR" altLang="en-US" sz="1400" dirty="0">
              <a:solidFill>
                <a:schemeClr val="tx1"/>
              </a:solidFill>
            </a:endParaRPr>
          </a:p>
        </p:txBody>
      </p:sp>
      <p:sp>
        <p:nvSpPr>
          <p:cNvPr id="52" name="순서도: 처리 51"/>
          <p:cNvSpPr/>
          <p:nvPr/>
        </p:nvSpPr>
        <p:spPr>
          <a:xfrm>
            <a:off x="9931933" y="3318304"/>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丙</a:t>
            </a:r>
            <a:r>
              <a:rPr lang="en-US" altLang="ko-KR" sz="1400" dirty="0">
                <a:solidFill>
                  <a:schemeClr val="tx1"/>
                </a:solidFill>
              </a:rPr>
              <a:t>(</a:t>
            </a:r>
            <a:r>
              <a:rPr lang="ko-KR" altLang="en-US" sz="1400" dirty="0">
                <a:solidFill>
                  <a:schemeClr val="tx1"/>
                </a:solidFill>
              </a:rPr>
              <a:t>피청구인</a:t>
            </a:r>
            <a:r>
              <a:rPr lang="en-US" altLang="ko-KR" sz="1400" dirty="0">
                <a:solidFill>
                  <a:schemeClr val="tx1"/>
                </a:solidFill>
              </a:rPr>
              <a:t>)</a:t>
            </a:r>
            <a:endParaRPr lang="ko-KR" altLang="en-US" sz="1400" dirty="0">
              <a:solidFill>
                <a:schemeClr val="tx1"/>
              </a:solidFill>
            </a:endParaRPr>
          </a:p>
        </p:txBody>
      </p:sp>
      <p:sp>
        <p:nvSpPr>
          <p:cNvPr id="53" name="순서도: 처리 52"/>
          <p:cNvSpPr/>
          <p:nvPr/>
        </p:nvSpPr>
        <p:spPr>
          <a:xfrm>
            <a:off x="8530955" y="3318304"/>
            <a:ext cx="1740204" cy="288032"/>
          </a:xfrm>
          <a:prstGeom prst="flowChartProcess">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tx1"/>
                </a:solidFill>
              </a:rPr>
              <a:t>vs</a:t>
            </a:r>
            <a:endParaRPr lang="ko-KR" altLang="en-US" sz="1400" dirty="0">
              <a:solidFill>
                <a:schemeClr val="tx1"/>
              </a:solidFill>
            </a:endParaRPr>
          </a:p>
        </p:txBody>
      </p:sp>
      <p:sp>
        <p:nvSpPr>
          <p:cNvPr id="54" name="순서도: 처리 53"/>
          <p:cNvSpPr/>
          <p:nvPr/>
        </p:nvSpPr>
        <p:spPr>
          <a:xfrm>
            <a:off x="6547985" y="3315990"/>
            <a:ext cx="435051" cy="288032"/>
          </a:xfrm>
          <a:prstGeom prst="flowChartProcess">
            <a:avLst/>
          </a:prstGeom>
          <a:solidFill>
            <a:schemeClr val="accent3">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bg1"/>
                </a:solidFill>
              </a:rPr>
              <a:t>1</a:t>
            </a:r>
            <a:endParaRPr lang="ko-KR" altLang="en-US" sz="1400" dirty="0">
              <a:solidFill>
                <a:schemeClr val="bg1"/>
              </a:solidFill>
            </a:endParaRPr>
          </a:p>
        </p:txBody>
      </p:sp>
      <p:sp>
        <p:nvSpPr>
          <p:cNvPr id="55" name="직사각형 54"/>
          <p:cNvSpPr/>
          <p:nvPr/>
        </p:nvSpPr>
        <p:spPr>
          <a:xfrm>
            <a:off x="6337301" y="3136900"/>
            <a:ext cx="5549900" cy="6604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6" name="순서도: 처리 55"/>
          <p:cNvSpPr/>
          <p:nvPr/>
        </p:nvSpPr>
        <p:spPr>
          <a:xfrm>
            <a:off x="7070537" y="4969151"/>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乙</a:t>
            </a:r>
            <a:r>
              <a:rPr lang="en-US" altLang="ko-KR" sz="1400" dirty="0">
                <a:solidFill>
                  <a:schemeClr val="tx1"/>
                </a:solidFill>
              </a:rPr>
              <a:t>(</a:t>
            </a:r>
            <a:r>
              <a:rPr lang="ko-KR" altLang="en-US" sz="1400" dirty="0">
                <a:solidFill>
                  <a:schemeClr val="tx1"/>
                </a:solidFill>
              </a:rPr>
              <a:t>청구인</a:t>
            </a:r>
            <a:r>
              <a:rPr lang="en-US" altLang="ko-KR" sz="1400" dirty="0">
                <a:solidFill>
                  <a:schemeClr val="tx1"/>
                </a:solidFill>
              </a:rPr>
              <a:t>)</a:t>
            </a:r>
            <a:endParaRPr lang="ko-KR" altLang="en-US" sz="1400" dirty="0">
              <a:solidFill>
                <a:schemeClr val="tx1"/>
              </a:solidFill>
            </a:endParaRPr>
          </a:p>
        </p:txBody>
      </p:sp>
      <p:sp>
        <p:nvSpPr>
          <p:cNvPr id="57" name="순서도: 처리 56"/>
          <p:cNvSpPr/>
          <p:nvPr/>
        </p:nvSpPr>
        <p:spPr>
          <a:xfrm>
            <a:off x="9931933" y="4969151"/>
            <a:ext cx="1740204" cy="288032"/>
          </a:xfrm>
          <a:prstGeom prst="flowChartProcess">
            <a:avLst/>
          </a:prstGeom>
          <a:solidFill>
            <a:schemeClr val="accent1">
              <a:lumMod val="20000"/>
              <a:lumOff val="8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丙</a:t>
            </a:r>
            <a:r>
              <a:rPr lang="en-US" altLang="ko-KR" sz="1400" dirty="0">
                <a:solidFill>
                  <a:schemeClr val="tx1"/>
                </a:solidFill>
              </a:rPr>
              <a:t>(</a:t>
            </a:r>
            <a:r>
              <a:rPr lang="ko-KR" altLang="en-US" sz="1400" dirty="0">
                <a:solidFill>
                  <a:schemeClr val="tx1"/>
                </a:solidFill>
              </a:rPr>
              <a:t>피청구인</a:t>
            </a:r>
            <a:r>
              <a:rPr lang="en-US" altLang="ko-KR" sz="1400" dirty="0">
                <a:solidFill>
                  <a:schemeClr val="tx1"/>
                </a:solidFill>
              </a:rPr>
              <a:t>)</a:t>
            </a:r>
            <a:endParaRPr lang="ko-KR" altLang="en-US" sz="1400" dirty="0">
              <a:solidFill>
                <a:schemeClr val="tx1"/>
              </a:solidFill>
            </a:endParaRPr>
          </a:p>
        </p:txBody>
      </p:sp>
      <p:sp>
        <p:nvSpPr>
          <p:cNvPr id="58" name="순서도: 처리 57"/>
          <p:cNvSpPr/>
          <p:nvPr/>
        </p:nvSpPr>
        <p:spPr>
          <a:xfrm>
            <a:off x="8530955" y="4969151"/>
            <a:ext cx="1740204" cy="288032"/>
          </a:xfrm>
          <a:prstGeom prst="flowChartProcess">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tx1"/>
                </a:solidFill>
              </a:rPr>
              <a:t>vs</a:t>
            </a:r>
            <a:endParaRPr lang="ko-KR" altLang="en-US" sz="1400" dirty="0">
              <a:solidFill>
                <a:schemeClr val="tx1"/>
              </a:solidFill>
            </a:endParaRPr>
          </a:p>
        </p:txBody>
      </p:sp>
      <p:sp>
        <p:nvSpPr>
          <p:cNvPr id="60" name="직사각형 59"/>
          <p:cNvSpPr/>
          <p:nvPr/>
        </p:nvSpPr>
        <p:spPr>
          <a:xfrm>
            <a:off x="6337301" y="4787747"/>
            <a:ext cx="5549900" cy="6604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1" name="순서도: 처리 60"/>
          <p:cNvSpPr/>
          <p:nvPr/>
        </p:nvSpPr>
        <p:spPr>
          <a:xfrm>
            <a:off x="6559914" y="4966837"/>
            <a:ext cx="435051" cy="288032"/>
          </a:xfrm>
          <a:prstGeom prst="flowChartProcess">
            <a:avLst/>
          </a:prstGeom>
          <a:solidFill>
            <a:schemeClr val="accent3">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solidFill>
                  <a:schemeClr val="bg1"/>
                </a:solidFill>
              </a:rPr>
              <a:t>3</a:t>
            </a:r>
            <a:endParaRPr lang="ko-KR" altLang="en-US" sz="1400" dirty="0">
              <a:solidFill>
                <a:schemeClr val="bg1"/>
              </a:solidFill>
            </a:endParaRPr>
          </a:p>
        </p:txBody>
      </p:sp>
      <p:sp>
        <p:nvSpPr>
          <p:cNvPr id="62" name="순서도: 처리 61"/>
          <p:cNvSpPr/>
          <p:nvPr/>
        </p:nvSpPr>
        <p:spPr>
          <a:xfrm>
            <a:off x="1920314" y="5476726"/>
            <a:ext cx="1740204" cy="288032"/>
          </a:xfrm>
          <a:prstGeom prst="flowChartProcess">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400" dirty="0">
                <a:solidFill>
                  <a:schemeClr val="tx1"/>
                </a:solidFill>
              </a:rPr>
              <a:t>당사자 참가</a:t>
            </a:r>
          </a:p>
        </p:txBody>
      </p:sp>
      <p:sp>
        <p:nvSpPr>
          <p:cNvPr id="63" name="순서도: 처리 62"/>
          <p:cNvSpPr/>
          <p:nvPr/>
        </p:nvSpPr>
        <p:spPr>
          <a:xfrm>
            <a:off x="7575549" y="4140511"/>
            <a:ext cx="1740204" cy="288032"/>
          </a:xfrm>
          <a:prstGeom prst="flowChartProcess">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400" dirty="0">
                <a:solidFill>
                  <a:schemeClr val="tx1"/>
                </a:solidFill>
              </a:rPr>
              <a:t>甲 심판청구 취하</a:t>
            </a:r>
          </a:p>
        </p:txBody>
      </p:sp>
      <p:cxnSp>
        <p:nvCxnSpPr>
          <p:cNvPr id="64" name="직선 연결선 63"/>
          <p:cNvCxnSpPr/>
          <p:nvPr/>
        </p:nvCxnSpPr>
        <p:spPr>
          <a:xfrm flipH="1">
            <a:off x="7480864" y="3602217"/>
            <a:ext cx="808" cy="1364620"/>
          </a:xfrm>
          <a:prstGeom prst="line">
            <a:avLst/>
          </a:prstGeom>
          <a:ln w="381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 name="슬라이드 번호 개체 틀 3"/>
          <p:cNvSpPr>
            <a:spLocks noGrp="1"/>
          </p:cNvSpPr>
          <p:nvPr>
            <p:ph type="sldNum" sz="quarter" idx="4294967295"/>
          </p:nvPr>
        </p:nvSpPr>
        <p:spPr>
          <a:xfrm>
            <a:off x="11125200" y="0"/>
            <a:ext cx="1066800" cy="711200"/>
          </a:xfrm>
        </p:spPr>
        <p:txBody>
          <a:bodyPr/>
          <a:lstStyle/>
          <a:p>
            <a:r>
              <a:rPr lang="en-US" altLang="ko-KR"/>
              <a:t>440</a:t>
            </a:r>
            <a:endParaRPr lang="ko-KR" altLang="en-US" dirty="0"/>
          </a:p>
        </p:txBody>
      </p:sp>
    </p:spTree>
    <p:extLst>
      <p:ext uri="{BB962C8B-B14F-4D97-AF65-F5344CB8AC3E}">
        <p14:creationId xmlns:p14="http://schemas.microsoft.com/office/powerpoint/2010/main" val="1847406909"/>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z="2000" dirty="0"/>
              <a:t>제</a:t>
            </a:r>
            <a:r>
              <a:rPr lang="en-US" altLang="ko-KR" sz="2000" dirty="0"/>
              <a:t>140</a:t>
            </a:r>
            <a:r>
              <a:rPr lang="ko-KR" altLang="en-US" sz="2000" dirty="0"/>
              <a:t>조</a:t>
            </a:r>
            <a:r>
              <a:rPr lang="en-US" altLang="ko-KR" sz="2000" dirty="0"/>
              <a:t>, </a:t>
            </a:r>
            <a:r>
              <a:rPr lang="ko-KR" altLang="en-US" sz="2000" dirty="0"/>
              <a:t>제</a:t>
            </a:r>
            <a:r>
              <a:rPr lang="en-US" altLang="ko-KR" sz="2000" dirty="0"/>
              <a:t>140</a:t>
            </a:r>
            <a:r>
              <a:rPr lang="ko-KR" altLang="en-US" sz="2000" dirty="0"/>
              <a:t>조의</a:t>
            </a:r>
            <a:r>
              <a:rPr lang="en-US" altLang="ko-KR" sz="2000" dirty="0"/>
              <a:t>2</a:t>
            </a:r>
            <a:endParaRPr lang="ko-KR" altLang="en-US" sz="2000" dirty="0"/>
          </a:p>
        </p:txBody>
      </p:sp>
      <p:sp>
        <p:nvSpPr>
          <p:cNvPr id="3" name="텍스트 개체 틀 2"/>
          <p:cNvSpPr>
            <a:spLocks noGrp="1"/>
          </p:cNvSpPr>
          <p:nvPr>
            <p:ph type="body" sz="quarter" idx="13"/>
          </p:nvPr>
        </p:nvSpPr>
        <p:spPr/>
        <p:txBody>
          <a:bodyPr/>
          <a:lstStyle/>
          <a:p>
            <a:r>
              <a:rPr lang="ko-KR" altLang="en-US" dirty="0"/>
              <a:t>심판청구서의 기재사항과 보정</a:t>
            </a:r>
          </a:p>
        </p:txBody>
      </p:sp>
      <p:sp>
        <p:nvSpPr>
          <p:cNvPr id="7" name="슬라이드 번호 개체 틀 6"/>
          <p:cNvSpPr>
            <a:spLocks noGrp="1"/>
          </p:cNvSpPr>
          <p:nvPr>
            <p:ph type="sldNum" sz="quarter" idx="4294967295"/>
          </p:nvPr>
        </p:nvSpPr>
        <p:spPr>
          <a:xfrm>
            <a:off x="11125200" y="0"/>
            <a:ext cx="1066800" cy="711200"/>
          </a:xfrm>
        </p:spPr>
        <p:txBody>
          <a:bodyPr/>
          <a:lstStyle/>
          <a:p>
            <a:r>
              <a:rPr lang="en-US" altLang="ko-KR"/>
              <a:t>441</a:t>
            </a:r>
            <a:endParaRPr lang="ko-KR" altLang="en-US" dirty="0"/>
          </a:p>
        </p:txBody>
      </p:sp>
      <p:graphicFrame>
        <p:nvGraphicFramePr>
          <p:cNvPr id="8" name="표 7">
            <a:extLst>
              <a:ext uri="{FF2B5EF4-FFF2-40B4-BE49-F238E27FC236}">
                <a16:creationId xmlns:a16="http://schemas.microsoft.com/office/drawing/2014/main" id="{33CFA0B9-8640-1786-296B-E048D43B3109}"/>
              </a:ext>
            </a:extLst>
          </p:cNvPr>
          <p:cNvGraphicFramePr>
            <a:graphicFrameLocks noGrp="1"/>
          </p:cNvGraphicFramePr>
          <p:nvPr/>
        </p:nvGraphicFramePr>
        <p:xfrm>
          <a:off x="286871" y="1055538"/>
          <a:ext cx="11600331" cy="2723010"/>
        </p:xfrm>
        <a:graphic>
          <a:graphicData uri="http://schemas.openxmlformats.org/drawingml/2006/table">
            <a:tbl>
              <a:tblPr>
                <a:tableStyleId>{8799B23B-EC83-4686-B30A-512413B5E67A}</a:tableStyleId>
              </a:tblPr>
              <a:tblGrid>
                <a:gridCol w="595123">
                  <a:extLst>
                    <a:ext uri="{9D8B030D-6E8A-4147-A177-3AD203B41FA5}">
                      <a16:colId xmlns:a16="http://schemas.microsoft.com/office/drawing/2014/main" val="3795079333"/>
                    </a:ext>
                  </a:extLst>
                </a:gridCol>
                <a:gridCol w="1062066">
                  <a:extLst>
                    <a:ext uri="{9D8B030D-6E8A-4147-A177-3AD203B41FA5}">
                      <a16:colId xmlns:a16="http://schemas.microsoft.com/office/drawing/2014/main" val="515513968"/>
                    </a:ext>
                  </a:extLst>
                </a:gridCol>
                <a:gridCol w="3918858">
                  <a:extLst>
                    <a:ext uri="{9D8B030D-6E8A-4147-A177-3AD203B41FA5}">
                      <a16:colId xmlns:a16="http://schemas.microsoft.com/office/drawing/2014/main" val="840813719"/>
                    </a:ext>
                  </a:extLst>
                </a:gridCol>
                <a:gridCol w="6024284">
                  <a:extLst>
                    <a:ext uri="{9D8B030D-6E8A-4147-A177-3AD203B41FA5}">
                      <a16:colId xmlns:a16="http://schemas.microsoft.com/office/drawing/2014/main" val="3284973997"/>
                    </a:ext>
                  </a:extLst>
                </a:gridCol>
              </a:tblGrid>
              <a:tr h="113241">
                <a:tc gridSpan="2">
                  <a:txBody>
                    <a:bodyPr/>
                    <a:lstStyle/>
                    <a:p>
                      <a:pPr marL="0" marR="0" indent="0" algn="ctr" fontAlgn="base" latinLnBrk="0">
                        <a:lnSpc>
                          <a:spcPct val="130000"/>
                        </a:lnSpc>
                        <a:spcBef>
                          <a:spcPts val="0"/>
                        </a:spcBef>
                        <a:spcAft>
                          <a:spcPts val="0"/>
                        </a:spcAft>
                      </a:pPr>
                      <a:r>
                        <a:rPr lang="ko-KR" altLang="en-US" sz="1200" b="1" kern="0" spc="-100" dirty="0">
                          <a:solidFill>
                            <a:srgbClr val="000000"/>
                          </a:solidFill>
                          <a:effectLst/>
                          <a:latin typeface="+mn-ea"/>
                          <a:ea typeface="+mn-ea"/>
                        </a:rPr>
                        <a:t>심판의 분류</a:t>
                      </a:r>
                    </a:p>
                  </a:txBody>
                  <a:tcPr marL="64770" marR="64770" marT="17907" marB="17907" anchor="ctr">
                    <a:solidFill>
                      <a:schemeClr val="accent2">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30000"/>
                        </a:lnSpc>
                        <a:spcBef>
                          <a:spcPts val="0"/>
                        </a:spcBef>
                        <a:spcAft>
                          <a:spcPts val="0"/>
                        </a:spcAft>
                      </a:pPr>
                      <a:r>
                        <a:rPr lang="ko-KR" altLang="en-US" sz="1200" b="1" kern="0" spc="-100" dirty="0" err="1">
                          <a:solidFill>
                            <a:srgbClr val="000000"/>
                          </a:solidFill>
                          <a:effectLst/>
                          <a:latin typeface="+mn-ea"/>
                          <a:ea typeface="+mn-ea"/>
                        </a:rPr>
                        <a:t>공통기재사항</a:t>
                      </a:r>
                      <a:endParaRPr lang="ko-KR" altLang="en-US" sz="1200" b="1" kern="0" spc="-100" dirty="0">
                        <a:solidFill>
                          <a:srgbClr val="000000"/>
                        </a:solidFill>
                        <a:effectLst/>
                        <a:latin typeface="+mn-ea"/>
                        <a:ea typeface="+mn-ea"/>
                      </a:endParaRPr>
                    </a:p>
                  </a:txBody>
                  <a:tcPr marL="64770" marR="64770" marT="17907" marB="17907" anchor="ctr">
                    <a:solidFill>
                      <a:schemeClr val="accent2">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200" b="1" kern="0" spc="-100" dirty="0">
                          <a:solidFill>
                            <a:srgbClr val="000000"/>
                          </a:solidFill>
                          <a:effectLst/>
                          <a:latin typeface="+mn-ea"/>
                          <a:ea typeface="+mn-ea"/>
                        </a:rPr>
                        <a:t>추가 기재사항 및 첨부사항</a:t>
                      </a:r>
                    </a:p>
                  </a:txBody>
                  <a:tcPr marL="64770" marR="64770" marT="17907" marB="17907" anchor="ctr">
                    <a:solidFill>
                      <a:schemeClr val="accent2">
                        <a:lumMod val="20000"/>
                        <a:lumOff val="80000"/>
                      </a:schemeClr>
                    </a:solidFill>
                  </a:tcPr>
                </a:tc>
                <a:extLst>
                  <a:ext uri="{0D108BD9-81ED-4DB2-BD59-A6C34878D82A}">
                    <a16:rowId xmlns:a16="http://schemas.microsoft.com/office/drawing/2014/main" val="3635415782"/>
                  </a:ext>
                </a:extLst>
              </a:tr>
              <a:tr h="323807">
                <a:tc rowSpan="2">
                  <a:txBody>
                    <a:bodyPr/>
                    <a:lstStyle/>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결</a:t>
                      </a:r>
                    </a:p>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정</a:t>
                      </a:r>
                    </a:p>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계</a:t>
                      </a:r>
                    </a:p>
                  </a:txBody>
                  <a:tcPr marT="17907" marB="17907" anchor="ctr"/>
                </a:tc>
                <a:tc>
                  <a:txBody>
                    <a:bodyPr/>
                    <a:lstStyle/>
                    <a:p>
                      <a:pPr marL="0" marR="0" indent="0" algn="ctr" fontAlgn="base" latinLnBrk="0">
                        <a:lnSpc>
                          <a:spcPct val="130000"/>
                        </a:lnSpc>
                        <a:spcBef>
                          <a:spcPts val="0"/>
                        </a:spcBef>
                        <a:spcAft>
                          <a:spcPts val="0"/>
                        </a:spcAft>
                      </a:pPr>
                      <a:r>
                        <a:rPr lang="ko-KR" altLang="en-US" sz="1200" kern="0" spc="-100" dirty="0">
                          <a:solidFill>
                            <a:srgbClr val="000000"/>
                          </a:solidFill>
                          <a:effectLst/>
                          <a:latin typeface="+mn-ea"/>
                          <a:ea typeface="+mn-ea"/>
                        </a:rPr>
                        <a:t>거절결정</a:t>
                      </a:r>
                    </a:p>
                    <a:p>
                      <a:pPr marL="0" marR="0" indent="0" algn="ctr" fontAlgn="base" latinLnBrk="0">
                        <a:lnSpc>
                          <a:spcPct val="130000"/>
                        </a:lnSpc>
                        <a:spcBef>
                          <a:spcPts val="0"/>
                        </a:spcBef>
                        <a:spcAft>
                          <a:spcPts val="0"/>
                        </a:spcAft>
                      </a:pPr>
                      <a:r>
                        <a:rPr lang="ko-KR" altLang="en-US" sz="1200" kern="0" spc="-100" dirty="0">
                          <a:solidFill>
                            <a:srgbClr val="000000"/>
                          </a:solidFill>
                          <a:effectLst/>
                          <a:latin typeface="+mn-ea"/>
                          <a:ea typeface="+mn-ea"/>
                        </a:rPr>
                        <a:t>불복심판</a:t>
                      </a:r>
                    </a:p>
                  </a:txBody>
                  <a:tcPr marL="64770" marR="64770" marT="17907" marB="17907" anchor="ctr"/>
                </a:tc>
                <a:tc rowSpan="5">
                  <a:txBody>
                    <a:bodyPr/>
                    <a:lstStyle/>
                    <a:p>
                      <a:pPr marL="134938" marR="17780" indent="-134938" algn="just" fontAlgn="base" latinLnBrk="1">
                        <a:lnSpc>
                          <a:spcPct val="130000"/>
                        </a:lnSpc>
                        <a:spcBef>
                          <a:spcPts val="0"/>
                        </a:spcBef>
                        <a:spcAft>
                          <a:spcPts val="0"/>
                        </a:spcAft>
                      </a:pPr>
                      <a:r>
                        <a:rPr lang="en-US" altLang="ko-KR" sz="1200" kern="0" spc="-50" dirty="0">
                          <a:solidFill>
                            <a:srgbClr val="000000"/>
                          </a:solidFill>
                          <a:effectLst/>
                          <a:latin typeface="+mn-ea"/>
                          <a:ea typeface="+mn-ea"/>
                        </a:rPr>
                        <a:t>- </a:t>
                      </a:r>
                      <a:r>
                        <a:rPr lang="ko-KR" altLang="en-US" sz="1200" kern="0" spc="-50" dirty="0">
                          <a:solidFill>
                            <a:srgbClr val="000000"/>
                          </a:solidFill>
                          <a:effectLst/>
                          <a:latin typeface="+mn-ea"/>
                          <a:ea typeface="+mn-ea"/>
                        </a:rPr>
                        <a:t>당사자의 성명 및 주소</a:t>
                      </a:r>
                      <a:r>
                        <a:rPr lang="en-US" altLang="ko-KR" sz="1200" kern="0" spc="-50" dirty="0">
                          <a:solidFill>
                            <a:srgbClr val="000000"/>
                          </a:solidFill>
                          <a:effectLst/>
                          <a:latin typeface="+mn-ea"/>
                          <a:ea typeface="+mn-ea"/>
                        </a:rPr>
                        <a:t>(</a:t>
                      </a:r>
                      <a:r>
                        <a:rPr lang="ko-KR" altLang="en-US" sz="1200" kern="0" spc="-50" dirty="0">
                          <a:solidFill>
                            <a:srgbClr val="000000"/>
                          </a:solidFill>
                          <a:effectLst/>
                          <a:latin typeface="+mn-ea"/>
                          <a:ea typeface="+mn-ea"/>
                        </a:rPr>
                        <a:t>법인인 경우에는 그 명칭 및 영업소의 소재지</a:t>
                      </a:r>
                      <a:r>
                        <a:rPr lang="en-US" altLang="ko-KR" sz="1200" kern="0" spc="-50" dirty="0">
                          <a:solidFill>
                            <a:srgbClr val="000000"/>
                          </a:solidFill>
                          <a:effectLst/>
                          <a:latin typeface="+mn-ea"/>
                          <a:ea typeface="+mn-ea"/>
                        </a:rPr>
                        <a:t>)</a:t>
                      </a:r>
                    </a:p>
                    <a:p>
                      <a:pPr marL="134938" marR="17780" indent="-134938" algn="just" fontAlgn="base" latinLnBrk="1">
                        <a:lnSpc>
                          <a:spcPct val="130000"/>
                        </a:lnSpc>
                        <a:spcBef>
                          <a:spcPts val="0"/>
                        </a:spcBef>
                        <a:spcAft>
                          <a:spcPts val="0"/>
                        </a:spcAft>
                      </a:pPr>
                      <a:r>
                        <a:rPr lang="en-US" altLang="ko-KR" sz="1200" kern="0" spc="-50" dirty="0">
                          <a:solidFill>
                            <a:srgbClr val="000000"/>
                          </a:solidFill>
                          <a:effectLst/>
                          <a:latin typeface="+mn-ea"/>
                          <a:ea typeface="+mn-ea"/>
                        </a:rPr>
                        <a:t>-­ </a:t>
                      </a:r>
                      <a:r>
                        <a:rPr lang="ko-KR" altLang="en-US" sz="1200" kern="0" spc="-50" dirty="0">
                          <a:solidFill>
                            <a:srgbClr val="000000"/>
                          </a:solidFill>
                          <a:effectLst/>
                          <a:latin typeface="+mn-ea"/>
                          <a:ea typeface="+mn-ea"/>
                        </a:rPr>
                        <a:t>대리인이 있는 경우에는 그 대리인의 성명 및 주소나 영업소의 소재지</a:t>
                      </a:r>
                      <a:r>
                        <a:rPr lang="en-US" altLang="ko-KR" sz="1200" kern="0" spc="-50" dirty="0">
                          <a:solidFill>
                            <a:srgbClr val="000000"/>
                          </a:solidFill>
                          <a:effectLst/>
                          <a:latin typeface="+mn-ea"/>
                          <a:ea typeface="+mn-ea"/>
                        </a:rPr>
                        <a:t>(</a:t>
                      </a:r>
                      <a:r>
                        <a:rPr lang="ko-KR" altLang="en-US" sz="1200" kern="0" spc="-50" dirty="0">
                          <a:solidFill>
                            <a:srgbClr val="000000"/>
                          </a:solidFill>
                          <a:effectLst/>
                          <a:latin typeface="+mn-ea"/>
                          <a:ea typeface="+mn-ea"/>
                        </a:rPr>
                        <a:t>대리인이 특허법인</a:t>
                      </a:r>
                      <a:r>
                        <a:rPr lang="en-US" altLang="ko-KR" sz="1200" kern="0" spc="-50" dirty="0">
                          <a:solidFill>
                            <a:srgbClr val="000000"/>
                          </a:solidFill>
                          <a:effectLst/>
                          <a:latin typeface="+mn-ea"/>
                          <a:ea typeface="+mn-ea"/>
                        </a:rPr>
                        <a:t>·</a:t>
                      </a:r>
                      <a:r>
                        <a:rPr lang="ko-KR" altLang="en-US" sz="1200" kern="0" spc="-50" dirty="0">
                          <a:solidFill>
                            <a:srgbClr val="000000"/>
                          </a:solidFill>
                          <a:effectLst/>
                          <a:latin typeface="+mn-ea"/>
                          <a:ea typeface="+mn-ea"/>
                        </a:rPr>
                        <a:t>특허법인</a:t>
                      </a:r>
                      <a:r>
                        <a:rPr lang="en-US" altLang="ko-KR" sz="1200" kern="0" spc="-50" dirty="0">
                          <a:solidFill>
                            <a:srgbClr val="000000"/>
                          </a:solidFill>
                          <a:effectLst/>
                          <a:latin typeface="+mn-ea"/>
                          <a:ea typeface="+mn-ea"/>
                        </a:rPr>
                        <a:t>(</a:t>
                      </a:r>
                      <a:r>
                        <a:rPr lang="ko-KR" altLang="en-US" sz="1200" kern="0" spc="-50" dirty="0">
                          <a:solidFill>
                            <a:srgbClr val="000000"/>
                          </a:solidFill>
                          <a:effectLst/>
                          <a:latin typeface="+mn-ea"/>
                          <a:ea typeface="+mn-ea"/>
                        </a:rPr>
                        <a:t>유한</a:t>
                      </a:r>
                      <a:r>
                        <a:rPr lang="en-US" altLang="ko-KR" sz="1200" kern="0" spc="-50" dirty="0">
                          <a:solidFill>
                            <a:srgbClr val="000000"/>
                          </a:solidFill>
                          <a:effectLst/>
                          <a:latin typeface="+mn-ea"/>
                          <a:ea typeface="+mn-ea"/>
                        </a:rPr>
                        <a:t>)</a:t>
                      </a:r>
                      <a:r>
                        <a:rPr lang="ko-KR" altLang="en-US" sz="1200" kern="0" spc="-50" dirty="0">
                          <a:solidFill>
                            <a:srgbClr val="000000"/>
                          </a:solidFill>
                          <a:effectLst/>
                          <a:latin typeface="+mn-ea"/>
                          <a:ea typeface="+mn-ea"/>
                        </a:rPr>
                        <a:t>인 경우에는 그 명칭</a:t>
                      </a:r>
                      <a:r>
                        <a:rPr lang="en-US" altLang="ko-KR" sz="1200" kern="0" spc="-50" dirty="0">
                          <a:solidFill>
                            <a:srgbClr val="000000"/>
                          </a:solidFill>
                          <a:effectLst/>
                          <a:latin typeface="+mn-ea"/>
                          <a:ea typeface="+mn-ea"/>
                        </a:rPr>
                        <a:t>, </a:t>
                      </a:r>
                      <a:r>
                        <a:rPr lang="ko-KR" altLang="en-US" sz="1200" kern="0" spc="-50" dirty="0">
                          <a:solidFill>
                            <a:srgbClr val="000000"/>
                          </a:solidFill>
                          <a:effectLst/>
                          <a:latin typeface="+mn-ea"/>
                          <a:ea typeface="+mn-ea"/>
                        </a:rPr>
                        <a:t>사무소의 소재지 및 지정된 변리사의 성명</a:t>
                      </a:r>
                      <a:r>
                        <a:rPr lang="en-US" altLang="ko-KR" sz="1200" kern="0" spc="-50" dirty="0">
                          <a:solidFill>
                            <a:srgbClr val="000000"/>
                          </a:solidFill>
                          <a:effectLst/>
                          <a:latin typeface="+mn-ea"/>
                          <a:ea typeface="+mn-ea"/>
                        </a:rPr>
                        <a:t>)</a:t>
                      </a:r>
                    </a:p>
                    <a:p>
                      <a:pPr marL="134938" marR="17780" indent="-134938" algn="just" fontAlgn="base" latinLnBrk="1">
                        <a:lnSpc>
                          <a:spcPct val="130000"/>
                        </a:lnSpc>
                        <a:spcBef>
                          <a:spcPts val="0"/>
                        </a:spcBef>
                        <a:spcAft>
                          <a:spcPts val="0"/>
                        </a:spcAft>
                      </a:pPr>
                      <a:r>
                        <a:rPr lang="en-US" altLang="ko-KR" sz="1200" kern="0" spc="-50" dirty="0">
                          <a:solidFill>
                            <a:srgbClr val="000000"/>
                          </a:solidFill>
                          <a:effectLst/>
                          <a:latin typeface="+mn-ea"/>
                          <a:ea typeface="+mn-ea"/>
                        </a:rPr>
                        <a:t>-­ </a:t>
                      </a:r>
                      <a:r>
                        <a:rPr lang="ko-KR" altLang="en-US" sz="1200" kern="0" spc="-50" dirty="0">
                          <a:solidFill>
                            <a:srgbClr val="000000"/>
                          </a:solidFill>
                          <a:effectLst/>
                          <a:latin typeface="+mn-ea"/>
                          <a:ea typeface="+mn-ea"/>
                        </a:rPr>
                        <a:t>심판사건의 표시</a:t>
                      </a:r>
                      <a:endParaRPr lang="en-US" altLang="ko-KR" sz="1200" kern="0" spc="-50" dirty="0">
                        <a:solidFill>
                          <a:srgbClr val="000000"/>
                        </a:solidFill>
                        <a:effectLst/>
                        <a:latin typeface="+mn-ea"/>
                        <a:ea typeface="+mn-ea"/>
                      </a:endParaRPr>
                    </a:p>
                    <a:p>
                      <a:pPr marL="134938" marR="17780" indent="-134938" algn="just" fontAlgn="base" latinLnBrk="1">
                        <a:lnSpc>
                          <a:spcPct val="130000"/>
                        </a:lnSpc>
                        <a:spcBef>
                          <a:spcPts val="0"/>
                        </a:spcBef>
                        <a:spcAft>
                          <a:spcPts val="0"/>
                        </a:spcAft>
                      </a:pPr>
                      <a:r>
                        <a:rPr lang="en-US" altLang="ko-KR" sz="1200" kern="0" spc="-50" dirty="0">
                          <a:solidFill>
                            <a:srgbClr val="000000"/>
                          </a:solidFill>
                          <a:effectLst/>
                          <a:latin typeface="+mn-ea"/>
                          <a:ea typeface="+mn-ea"/>
                        </a:rPr>
                        <a:t>-­ </a:t>
                      </a:r>
                      <a:r>
                        <a:rPr lang="ko-KR" altLang="en-US" sz="1200" kern="0" spc="-50" dirty="0">
                          <a:solidFill>
                            <a:srgbClr val="000000"/>
                          </a:solidFill>
                          <a:effectLst/>
                          <a:latin typeface="+mn-ea"/>
                          <a:ea typeface="+mn-ea"/>
                        </a:rPr>
                        <a:t>청구의 취지 및 그 이유</a:t>
                      </a:r>
                    </a:p>
                  </a:txBody>
                  <a:tcPr marL="64770" marR="64770" marT="17907" marB="17907" anchor="ctr"/>
                </a:tc>
                <a:tc>
                  <a:txBody>
                    <a:bodyPr/>
                    <a:lstStyle/>
                    <a:p>
                      <a:pPr marL="99060" marR="17780" indent="-99060" algn="just" fontAlgn="base" latinLnBrk="1">
                        <a:lnSpc>
                          <a:spcPct val="130000"/>
                        </a:lnSpc>
                        <a:spcBef>
                          <a:spcPts val="0"/>
                        </a:spcBef>
                        <a:spcAft>
                          <a:spcPts val="0"/>
                        </a:spcAft>
                      </a:pPr>
                      <a:r>
                        <a:rPr lang="en-US" altLang="ko-KR" sz="1200" kern="0" spc="-50" dirty="0">
                          <a:solidFill>
                            <a:srgbClr val="000000"/>
                          </a:solidFill>
                          <a:effectLst/>
                          <a:latin typeface="+mn-ea"/>
                          <a:ea typeface="+mn-ea"/>
                        </a:rPr>
                        <a:t>- </a:t>
                      </a:r>
                      <a:r>
                        <a:rPr lang="ko-KR" altLang="en-US" sz="1200" kern="0" spc="-50" dirty="0">
                          <a:solidFill>
                            <a:srgbClr val="000000"/>
                          </a:solidFill>
                          <a:effectLst/>
                          <a:latin typeface="+mn-ea"/>
                          <a:ea typeface="+mn-ea"/>
                        </a:rPr>
                        <a:t>출원일 및 출원번호</a:t>
                      </a:r>
                    </a:p>
                    <a:p>
                      <a:pPr marL="99060" marR="17780" indent="-99060" algn="just" fontAlgn="base" latinLnBrk="1">
                        <a:lnSpc>
                          <a:spcPct val="130000"/>
                        </a:lnSpc>
                        <a:spcBef>
                          <a:spcPts val="0"/>
                        </a:spcBef>
                        <a:spcAft>
                          <a:spcPts val="0"/>
                        </a:spcAft>
                      </a:pPr>
                      <a:r>
                        <a:rPr lang="en-US" altLang="ko-KR" sz="1200" kern="0" spc="-50" dirty="0">
                          <a:solidFill>
                            <a:srgbClr val="000000"/>
                          </a:solidFill>
                          <a:effectLst/>
                          <a:latin typeface="+mn-ea"/>
                          <a:ea typeface="+mn-ea"/>
                        </a:rPr>
                        <a:t>- </a:t>
                      </a:r>
                      <a:r>
                        <a:rPr lang="ko-KR" altLang="en-US" sz="1200" kern="0" spc="-50" dirty="0">
                          <a:solidFill>
                            <a:srgbClr val="000000"/>
                          </a:solidFill>
                          <a:effectLst/>
                          <a:latin typeface="+mn-ea"/>
                          <a:ea typeface="+mn-ea"/>
                        </a:rPr>
                        <a:t>발명의 명칭</a:t>
                      </a:r>
                    </a:p>
                    <a:p>
                      <a:pPr marL="99060" marR="17780" indent="-99060" algn="just" fontAlgn="base" latinLnBrk="1">
                        <a:lnSpc>
                          <a:spcPct val="130000"/>
                        </a:lnSpc>
                        <a:spcBef>
                          <a:spcPts val="0"/>
                        </a:spcBef>
                        <a:spcAft>
                          <a:spcPts val="0"/>
                        </a:spcAft>
                      </a:pPr>
                      <a:r>
                        <a:rPr lang="en-US" altLang="ko-KR" sz="1200" kern="0" spc="-50" dirty="0">
                          <a:solidFill>
                            <a:srgbClr val="000000"/>
                          </a:solidFill>
                          <a:effectLst/>
                          <a:latin typeface="+mn-ea"/>
                          <a:ea typeface="+mn-ea"/>
                        </a:rPr>
                        <a:t>­- </a:t>
                      </a:r>
                      <a:r>
                        <a:rPr lang="ko-KR" altLang="en-US" sz="1200" kern="0" spc="-50" dirty="0" err="1">
                          <a:solidFill>
                            <a:srgbClr val="000000"/>
                          </a:solidFill>
                          <a:effectLst/>
                          <a:latin typeface="+mn-ea"/>
                          <a:ea typeface="+mn-ea"/>
                        </a:rPr>
                        <a:t>특허거절결정일</a:t>
                      </a:r>
                      <a:endParaRPr lang="ko-KR" altLang="en-US" sz="1200" kern="0" spc="-50" dirty="0">
                        <a:solidFill>
                          <a:srgbClr val="000000"/>
                        </a:solidFill>
                        <a:effectLst/>
                        <a:latin typeface="+mn-ea"/>
                        <a:ea typeface="+mn-ea"/>
                      </a:endParaRPr>
                    </a:p>
                  </a:txBody>
                  <a:tcPr marL="64770" marR="64770" marT="17907" marB="17907" anchor="ctr"/>
                </a:tc>
                <a:extLst>
                  <a:ext uri="{0D108BD9-81ED-4DB2-BD59-A6C34878D82A}">
                    <a16:rowId xmlns:a16="http://schemas.microsoft.com/office/drawing/2014/main" val="3764121341"/>
                  </a:ext>
                </a:extLst>
              </a:tr>
              <a:tr h="113241">
                <a:tc vMerge="1">
                  <a:txBody>
                    <a:bodyPr/>
                    <a:lstStyle/>
                    <a:p>
                      <a:pPr latinLnBrk="1"/>
                      <a:endParaRPr lang="ko-KR" altLang="en-US"/>
                    </a:p>
                  </a:txBody>
                  <a:tcPr/>
                </a:tc>
                <a:tc>
                  <a:txBody>
                    <a:bodyPr/>
                    <a:lstStyle/>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정정심판</a:t>
                      </a:r>
                    </a:p>
                  </a:txBody>
                  <a:tcPr marL="64770" marR="64770" marT="17907" marB="17907" anchor="ctr"/>
                </a:tc>
                <a:tc vMerge="1">
                  <a:txBody>
                    <a:bodyPr/>
                    <a:lstStyle/>
                    <a:p>
                      <a:pPr latinLnBrk="1"/>
                      <a:endParaRPr lang="ko-KR" altLang="en-US"/>
                    </a:p>
                  </a:txBody>
                  <a:tcPr/>
                </a:tc>
                <a:tc>
                  <a:txBody>
                    <a:bodyPr/>
                    <a:lstStyle/>
                    <a:p>
                      <a:pPr marL="99060" marR="17780" indent="-99060" algn="just" fontAlgn="base" latinLnBrk="1">
                        <a:lnSpc>
                          <a:spcPct val="130000"/>
                        </a:lnSpc>
                        <a:spcBef>
                          <a:spcPts val="0"/>
                        </a:spcBef>
                        <a:spcAft>
                          <a:spcPts val="0"/>
                        </a:spcAft>
                      </a:pPr>
                      <a:r>
                        <a:rPr lang="en-US" altLang="ko-KR" sz="1200" kern="0" spc="-50" dirty="0">
                          <a:solidFill>
                            <a:srgbClr val="000000"/>
                          </a:solidFill>
                          <a:effectLst/>
                          <a:latin typeface="+mn-ea"/>
                          <a:ea typeface="+mn-ea"/>
                        </a:rPr>
                        <a:t>­-  </a:t>
                      </a:r>
                      <a:r>
                        <a:rPr lang="ko-KR" altLang="en-US" sz="1200" kern="0" spc="-50" dirty="0">
                          <a:solidFill>
                            <a:srgbClr val="000000"/>
                          </a:solidFill>
                          <a:effectLst/>
                          <a:latin typeface="+mn-ea"/>
                          <a:ea typeface="+mn-ea"/>
                        </a:rPr>
                        <a:t>정정한 명세서 또는 도면을 첨부</a:t>
                      </a:r>
                    </a:p>
                  </a:txBody>
                  <a:tcPr marL="64770" marR="64770" marT="17907" marB="17907" anchor="ctr"/>
                </a:tc>
                <a:extLst>
                  <a:ext uri="{0D108BD9-81ED-4DB2-BD59-A6C34878D82A}">
                    <a16:rowId xmlns:a16="http://schemas.microsoft.com/office/drawing/2014/main" val="3233803339"/>
                  </a:ext>
                </a:extLst>
              </a:tr>
              <a:tr h="113241">
                <a:tc rowSpan="3">
                  <a:txBody>
                    <a:bodyPr/>
                    <a:lstStyle/>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당</a:t>
                      </a:r>
                    </a:p>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사</a:t>
                      </a:r>
                    </a:p>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자</a:t>
                      </a:r>
                    </a:p>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계</a:t>
                      </a:r>
                    </a:p>
                  </a:txBody>
                  <a:tcPr marT="17907" marB="17907" anchor="ctr"/>
                </a:tc>
                <a:tc>
                  <a:txBody>
                    <a:bodyPr/>
                    <a:lstStyle/>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무효심판</a:t>
                      </a:r>
                    </a:p>
                  </a:txBody>
                  <a:tcPr marL="64770" marR="64770" marT="17907" marB="17907" anchor="ctr"/>
                </a:tc>
                <a:tc vMerge="1">
                  <a:txBody>
                    <a:bodyPr/>
                    <a:lstStyle/>
                    <a:p>
                      <a:pPr latinLnBrk="1"/>
                      <a:endParaRPr lang="ko-KR" altLang="en-US"/>
                    </a:p>
                  </a:txBody>
                  <a:tcPr/>
                </a:tc>
                <a:tc>
                  <a:txBody>
                    <a:bodyPr/>
                    <a:lstStyle/>
                    <a:p>
                      <a:pPr marL="17780" marR="17780" indent="0" algn="just" fontAlgn="base" latinLnBrk="1">
                        <a:lnSpc>
                          <a:spcPct val="130000"/>
                        </a:lnSpc>
                        <a:spcBef>
                          <a:spcPts val="0"/>
                        </a:spcBef>
                        <a:spcAft>
                          <a:spcPts val="0"/>
                        </a:spcAft>
                      </a:pPr>
                      <a:r>
                        <a:rPr lang="en-US" sz="1200" kern="0" spc="-50" dirty="0">
                          <a:solidFill>
                            <a:srgbClr val="000000"/>
                          </a:solidFill>
                          <a:effectLst/>
                          <a:latin typeface="+mn-ea"/>
                          <a:ea typeface="+mn-ea"/>
                        </a:rPr>
                        <a:t>-</a:t>
                      </a:r>
                    </a:p>
                  </a:txBody>
                  <a:tcPr marL="64770" marR="64770" marT="17907" marB="17907" anchor="ctr"/>
                </a:tc>
                <a:extLst>
                  <a:ext uri="{0D108BD9-81ED-4DB2-BD59-A6C34878D82A}">
                    <a16:rowId xmlns:a16="http://schemas.microsoft.com/office/drawing/2014/main" val="508652994"/>
                  </a:ext>
                </a:extLst>
              </a:tr>
              <a:tr h="218524">
                <a:tc vMerge="1">
                  <a:txBody>
                    <a:bodyPr/>
                    <a:lstStyle/>
                    <a:p>
                      <a:pPr latinLnBrk="1"/>
                      <a:endParaRPr lang="ko-KR" altLang="en-US"/>
                    </a:p>
                  </a:txBody>
                  <a:tcPr/>
                </a:tc>
                <a:tc>
                  <a:txBody>
                    <a:bodyPr/>
                    <a:lstStyle/>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권리범위</a:t>
                      </a:r>
                    </a:p>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확인심판</a:t>
                      </a:r>
                    </a:p>
                  </a:txBody>
                  <a:tcPr marL="64770" marR="64770" marT="17907" marB="17907" anchor="ctr"/>
                </a:tc>
                <a:tc vMerge="1">
                  <a:txBody>
                    <a:bodyPr/>
                    <a:lstStyle/>
                    <a:p>
                      <a:pPr latinLnBrk="1"/>
                      <a:endParaRPr lang="ko-KR" altLang="en-US"/>
                    </a:p>
                  </a:txBody>
                  <a:tcPr/>
                </a:tc>
                <a:tc>
                  <a:txBody>
                    <a:bodyPr/>
                    <a:lstStyle/>
                    <a:p>
                      <a:pPr marL="99060" marR="17780" indent="-99060" algn="just" fontAlgn="base" latinLnBrk="1">
                        <a:lnSpc>
                          <a:spcPct val="130000"/>
                        </a:lnSpc>
                        <a:spcBef>
                          <a:spcPts val="0"/>
                        </a:spcBef>
                        <a:spcAft>
                          <a:spcPts val="0"/>
                        </a:spcAft>
                      </a:pPr>
                      <a:r>
                        <a:rPr lang="en-US" altLang="ko-KR" sz="1200" kern="0" spc="-50" dirty="0">
                          <a:solidFill>
                            <a:srgbClr val="000000"/>
                          </a:solidFill>
                          <a:effectLst/>
                          <a:latin typeface="+mn-ea"/>
                          <a:ea typeface="+mn-ea"/>
                        </a:rPr>
                        <a:t>­- </a:t>
                      </a:r>
                      <a:r>
                        <a:rPr lang="ko-KR" altLang="en-US" sz="1200" kern="0" spc="-50" dirty="0">
                          <a:solidFill>
                            <a:srgbClr val="000000"/>
                          </a:solidFill>
                          <a:effectLst/>
                          <a:latin typeface="+mn-ea"/>
                          <a:ea typeface="+mn-ea"/>
                        </a:rPr>
                        <a:t>확인대상발명의 설명서 및 필요한 도면을 첨부</a:t>
                      </a:r>
                    </a:p>
                  </a:txBody>
                  <a:tcPr marL="64770" marR="64770" marT="17907" marB="17907" anchor="ctr"/>
                </a:tc>
                <a:extLst>
                  <a:ext uri="{0D108BD9-81ED-4DB2-BD59-A6C34878D82A}">
                    <a16:rowId xmlns:a16="http://schemas.microsoft.com/office/drawing/2014/main" val="3520128057"/>
                  </a:ext>
                </a:extLst>
              </a:tr>
              <a:tr h="429090">
                <a:tc vMerge="1">
                  <a:txBody>
                    <a:bodyPr/>
                    <a:lstStyle/>
                    <a:p>
                      <a:pPr latinLnBrk="1"/>
                      <a:endParaRPr lang="ko-KR" altLang="en-US"/>
                    </a:p>
                  </a:txBody>
                  <a:tcPr/>
                </a:tc>
                <a:tc>
                  <a:txBody>
                    <a:bodyPr/>
                    <a:lstStyle/>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통상실시권</a:t>
                      </a:r>
                    </a:p>
                    <a:p>
                      <a:pPr marL="0" marR="0" indent="0" algn="ctr" fontAlgn="base" latinLnBrk="0">
                        <a:lnSpc>
                          <a:spcPct val="130000"/>
                        </a:lnSpc>
                        <a:spcBef>
                          <a:spcPts val="0"/>
                        </a:spcBef>
                        <a:spcAft>
                          <a:spcPts val="0"/>
                        </a:spcAft>
                      </a:pPr>
                      <a:r>
                        <a:rPr lang="ko-KR" altLang="en-US" sz="1200" kern="0" spc="-100">
                          <a:solidFill>
                            <a:srgbClr val="000000"/>
                          </a:solidFill>
                          <a:effectLst/>
                          <a:latin typeface="+mn-ea"/>
                          <a:ea typeface="+mn-ea"/>
                        </a:rPr>
                        <a:t>허락심판</a:t>
                      </a:r>
                    </a:p>
                  </a:txBody>
                  <a:tcPr marL="64770" marR="64770" marT="17907" marB="17907" anchor="ctr"/>
                </a:tc>
                <a:tc vMerge="1">
                  <a:txBody>
                    <a:bodyPr/>
                    <a:lstStyle/>
                    <a:p>
                      <a:pPr latinLnBrk="1"/>
                      <a:endParaRPr lang="ko-KR" altLang="en-US"/>
                    </a:p>
                  </a:txBody>
                  <a:tcPr/>
                </a:tc>
                <a:tc>
                  <a:txBody>
                    <a:bodyPr/>
                    <a:lstStyle/>
                    <a:p>
                      <a:pPr marL="99060" marR="17780" indent="-99060" algn="just" fontAlgn="base" latinLnBrk="1">
                        <a:lnSpc>
                          <a:spcPct val="130000"/>
                        </a:lnSpc>
                        <a:spcBef>
                          <a:spcPts val="0"/>
                        </a:spcBef>
                        <a:spcAft>
                          <a:spcPts val="0"/>
                        </a:spcAft>
                      </a:pPr>
                      <a:r>
                        <a:rPr lang="en-US" altLang="ko-KR" sz="1200" kern="0" spc="-50" dirty="0">
                          <a:solidFill>
                            <a:srgbClr val="000000"/>
                          </a:solidFill>
                          <a:effectLst/>
                          <a:latin typeface="+mn-ea"/>
                          <a:ea typeface="+mn-ea"/>
                        </a:rPr>
                        <a:t>­- </a:t>
                      </a:r>
                      <a:r>
                        <a:rPr lang="ko-KR" altLang="en-US" sz="1200" kern="0" spc="-50" dirty="0">
                          <a:solidFill>
                            <a:srgbClr val="000000"/>
                          </a:solidFill>
                          <a:effectLst/>
                          <a:latin typeface="+mn-ea"/>
                          <a:ea typeface="+mn-ea"/>
                        </a:rPr>
                        <a:t>실시하려는 자기의 특허의 번호 및 명칭</a:t>
                      </a:r>
                    </a:p>
                    <a:p>
                      <a:pPr marL="107950" marR="17780" indent="-107950" algn="just" fontAlgn="base" latinLnBrk="1">
                        <a:lnSpc>
                          <a:spcPct val="130000"/>
                        </a:lnSpc>
                        <a:spcBef>
                          <a:spcPts val="0"/>
                        </a:spcBef>
                        <a:spcAft>
                          <a:spcPts val="0"/>
                        </a:spcAft>
                      </a:pPr>
                      <a:r>
                        <a:rPr lang="en-US" altLang="ko-KR" sz="1200" kern="0" spc="-50" dirty="0">
                          <a:solidFill>
                            <a:srgbClr val="000000"/>
                          </a:solidFill>
                          <a:effectLst/>
                          <a:latin typeface="+mn-ea"/>
                          <a:ea typeface="+mn-ea"/>
                        </a:rPr>
                        <a:t>­- </a:t>
                      </a:r>
                      <a:r>
                        <a:rPr lang="ko-KR" altLang="en-US" sz="1200" kern="0" spc="-50" dirty="0">
                          <a:solidFill>
                            <a:srgbClr val="000000"/>
                          </a:solidFill>
                          <a:effectLst/>
                          <a:latin typeface="+mn-ea"/>
                          <a:ea typeface="+mn-ea"/>
                        </a:rPr>
                        <a:t>실시되어야 할 타인의 특허발명</a:t>
                      </a:r>
                      <a:r>
                        <a:rPr lang="en-US" altLang="ko-KR" sz="1200" kern="0" spc="-50" dirty="0">
                          <a:solidFill>
                            <a:srgbClr val="000000"/>
                          </a:solidFill>
                          <a:effectLst/>
                          <a:latin typeface="+mn-ea"/>
                          <a:ea typeface="+mn-ea"/>
                        </a:rPr>
                        <a:t>·</a:t>
                      </a:r>
                      <a:r>
                        <a:rPr lang="ko-KR" altLang="en-US" sz="1200" kern="0" spc="-50" dirty="0" err="1">
                          <a:solidFill>
                            <a:srgbClr val="000000"/>
                          </a:solidFill>
                          <a:effectLst/>
                          <a:latin typeface="+mn-ea"/>
                          <a:ea typeface="+mn-ea"/>
                        </a:rPr>
                        <a:t>등록실용신안</a:t>
                      </a:r>
                      <a:r>
                        <a:rPr lang="ko-KR" altLang="en-US" sz="1200" kern="0" spc="-50" dirty="0">
                          <a:solidFill>
                            <a:srgbClr val="000000"/>
                          </a:solidFill>
                          <a:effectLst/>
                          <a:latin typeface="+mn-ea"/>
                          <a:ea typeface="+mn-ea"/>
                        </a:rPr>
                        <a:t> 또는 등록디자인의 번호</a:t>
                      </a:r>
                      <a:r>
                        <a:rPr lang="en-US" altLang="ko-KR" sz="1200" kern="0" spc="-50" dirty="0">
                          <a:solidFill>
                            <a:srgbClr val="000000"/>
                          </a:solidFill>
                          <a:effectLst/>
                          <a:latin typeface="+mn-ea"/>
                          <a:ea typeface="+mn-ea"/>
                        </a:rPr>
                        <a:t>·</a:t>
                      </a:r>
                      <a:r>
                        <a:rPr lang="ko-KR" altLang="en-US" sz="1200" kern="0" spc="-50" dirty="0">
                          <a:solidFill>
                            <a:srgbClr val="000000"/>
                          </a:solidFill>
                          <a:effectLst/>
                          <a:latin typeface="+mn-ea"/>
                          <a:ea typeface="+mn-ea"/>
                        </a:rPr>
                        <a:t>명칭 및 특허나 등록 연월일</a:t>
                      </a:r>
                    </a:p>
                    <a:p>
                      <a:pPr marL="90170" marR="17780" indent="-90170" algn="just" fontAlgn="base" latinLnBrk="1">
                        <a:lnSpc>
                          <a:spcPct val="130000"/>
                        </a:lnSpc>
                        <a:spcBef>
                          <a:spcPts val="0"/>
                        </a:spcBef>
                        <a:spcAft>
                          <a:spcPts val="0"/>
                        </a:spcAft>
                      </a:pPr>
                      <a:r>
                        <a:rPr lang="en-US" altLang="ko-KR" sz="1200" kern="0" spc="-50" dirty="0">
                          <a:solidFill>
                            <a:srgbClr val="000000"/>
                          </a:solidFill>
                          <a:effectLst/>
                          <a:latin typeface="+mn-ea"/>
                          <a:ea typeface="+mn-ea"/>
                        </a:rPr>
                        <a:t>-­ </a:t>
                      </a:r>
                      <a:r>
                        <a:rPr lang="ko-KR" altLang="en-US" sz="1200" kern="0" spc="-50" dirty="0">
                          <a:solidFill>
                            <a:srgbClr val="000000"/>
                          </a:solidFill>
                          <a:effectLst/>
                          <a:latin typeface="+mn-ea"/>
                          <a:ea typeface="+mn-ea"/>
                        </a:rPr>
                        <a:t>특허발명</a:t>
                      </a:r>
                      <a:r>
                        <a:rPr lang="en-US" altLang="ko-KR" sz="1200" kern="0" spc="-50" dirty="0">
                          <a:solidFill>
                            <a:srgbClr val="000000"/>
                          </a:solidFill>
                          <a:effectLst/>
                          <a:latin typeface="+mn-ea"/>
                          <a:ea typeface="+mn-ea"/>
                        </a:rPr>
                        <a:t>·</a:t>
                      </a:r>
                      <a:r>
                        <a:rPr lang="ko-KR" altLang="en-US" sz="1200" kern="0" spc="-50" dirty="0" err="1">
                          <a:solidFill>
                            <a:srgbClr val="000000"/>
                          </a:solidFill>
                          <a:effectLst/>
                          <a:latin typeface="+mn-ea"/>
                          <a:ea typeface="+mn-ea"/>
                        </a:rPr>
                        <a:t>등록실용신안</a:t>
                      </a:r>
                      <a:r>
                        <a:rPr lang="ko-KR" altLang="en-US" sz="1200" kern="0" spc="-50" dirty="0">
                          <a:solidFill>
                            <a:srgbClr val="000000"/>
                          </a:solidFill>
                          <a:effectLst/>
                          <a:latin typeface="+mn-ea"/>
                          <a:ea typeface="+mn-ea"/>
                        </a:rPr>
                        <a:t> 또는 등록디자인의 통상실시권의 범위</a:t>
                      </a:r>
                      <a:r>
                        <a:rPr lang="en-US" altLang="ko-KR" sz="1200" kern="0" spc="-50" dirty="0">
                          <a:solidFill>
                            <a:srgbClr val="000000"/>
                          </a:solidFill>
                          <a:effectLst/>
                          <a:latin typeface="+mn-ea"/>
                          <a:ea typeface="+mn-ea"/>
                        </a:rPr>
                        <a:t>·</a:t>
                      </a:r>
                      <a:r>
                        <a:rPr lang="ko-KR" altLang="en-US" sz="1200" kern="0" spc="-50" dirty="0">
                          <a:solidFill>
                            <a:srgbClr val="000000"/>
                          </a:solidFill>
                          <a:effectLst/>
                          <a:latin typeface="+mn-ea"/>
                          <a:ea typeface="+mn-ea"/>
                        </a:rPr>
                        <a:t>기간 및 대가</a:t>
                      </a:r>
                    </a:p>
                  </a:txBody>
                  <a:tcPr marL="64770" marR="64770" marT="17907" marB="17907" anchor="ctr"/>
                </a:tc>
                <a:extLst>
                  <a:ext uri="{0D108BD9-81ED-4DB2-BD59-A6C34878D82A}">
                    <a16:rowId xmlns:a16="http://schemas.microsoft.com/office/drawing/2014/main" val="2937005409"/>
                  </a:ext>
                </a:extLst>
              </a:tr>
            </a:tbl>
          </a:graphicData>
        </a:graphic>
      </p:graphicFrame>
      <p:sp>
        <p:nvSpPr>
          <p:cNvPr id="18" name="TextBox 17">
            <a:extLst>
              <a:ext uri="{FF2B5EF4-FFF2-40B4-BE49-F238E27FC236}">
                <a16:creationId xmlns:a16="http://schemas.microsoft.com/office/drawing/2014/main" id="{9A0F6BC3-F588-AE75-C67E-79B2C3F1DF16}"/>
              </a:ext>
            </a:extLst>
          </p:cNvPr>
          <p:cNvSpPr txBox="1"/>
          <p:nvPr/>
        </p:nvSpPr>
        <p:spPr>
          <a:xfrm>
            <a:off x="1541932" y="3836831"/>
            <a:ext cx="5585011" cy="2970044"/>
          </a:xfrm>
          <a:prstGeom prst="rect">
            <a:avLst/>
          </a:prstGeom>
          <a:noFill/>
          <a:ln>
            <a:solidFill>
              <a:schemeClr val="bg1">
                <a:lumMod val="50000"/>
              </a:schemeClr>
            </a:solidFill>
          </a:ln>
        </p:spPr>
        <p:txBody>
          <a:bodyPr wrap="square">
            <a:spAutoFit/>
          </a:bodyPr>
          <a:lstStyle/>
          <a:p>
            <a:r>
              <a:rPr lang="en-US" altLang="ko-KR" sz="1100" dirty="0"/>
              <a:t>【</a:t>
            </a:r>
            <a:r>
              <a:rPr lang="ko-KR" altLang="en-US" sz="1100" dirty="0"/>
              <a:t>청구의 취지</a:t>
            </a:r>
            <a:r>
              <a:rPr lang="en-US" altLang="ko-KR" sz="1100" dirty="0"/>
              <a:t>】</a:t>
            </a:r>
          </a:p>
          <a:p>
            <a:r>
              <a:rPr lang="en-US" altLang="ko-KR" sz="1100" dirty="0"/>
              <a:t>1. </a:t>
            </a:r>
            <a:r>
              <a:rPr lang="ko-KR" altLang="en-US" sz="1100" dirty="0"/>
              <a:t>확인대상발명 </a:t>
            </a:r>
            <a:r>
              <a:rPr lang="en-US" altLang="ko-KR" sz="1100" dirty="0"/>
              <a:t>"</a:t>
            </a:r>
            <a:r>
              <a:rPr lang="ko-KR" altLang="en-US" sz="1100" dirty="0" err="1"/>
              <a:t>피사계</a:t>
            </a:r>
            <a:r>
              <a:rPr lang="ko-KR" altLang="en-US" sz="1100" dirty="0"/>
              <a:t> 심도 효과를 제공하는 아이폰 </a:t>
            </a:r>
            <a:r>
              <a:rPr lang="en-US" altLang="ko-KR" sz="1100" dirty="0"/>
              <a:t>12 </a:t>
            </a:r>
            <a:r>
              <a:rPr lang="ko-KR" altLang="en-US" sz="1100" dirty="0"/>
              <a:t>프로</a:t>
            </a:r>
            <a:r>
              <a:rPr lang="en-US" altLang="ko-KR" sz="1100" dirty="0"/>
              <a:t>"</a:t>
            </a:r>
            <a:r>
              <a:rPr lang="ko-KR" altLang="en-US" sz="1100" dirty="0"/>
              <a:t>는 특허등록 제</a:t>
            </a:r>
            <a:r>
              <a:rPr lang="en-US" altLang="ko-KR" sz="1100" dirty="0"/>
              <a:t>10-0822832</a:t>
            </a:r>
            <a:r>
              <a:rPr lang="ko-KR" altLang="en-US" sz="1100" dirty="0"/>
              <a:t>호의 제</a:t>
            </a:r>
            <a:r>
              <a:rPr lang="en-US" altLang="ko-KR" sz="1100" dirty="0"/>
              <a:t>1</a:t>
            </a:r>
            <a:r>
              <a:rPr lang="ko-KR" altLang="en-US" sz="1100" dirty="0"/>
              <a:t>항</a:t>
            </a:r>
            <a:r>
              <a:rPr lang="en-US" altLang="ko-KR" sz="1100" dirty="0"/>
              <a:t>, </a:t>
            </a:r>
            <a:r>
              <a:rPr lang="ko-KR" altLang="en-US" sz="1100" dirty="0"/>
              <a:t>제</a:t>
            </a:r>
            <a:r>
              <a:rPr lang="en-US" altLang="ko-KR" sz="1100" dirty="0"/>
              <a:t>3</a:t>
            </a:r>
            <a:r>
              <a:rPr lang="ko-KR" altLang="en-US" sz="1100" dirty="0"/>
              <a:t>항</a:t>
            </a:r>
            <a:r>
              <a:rPr lang="en-US" altLang="ko-KR" sz="1100" dirty="0"/>
              <a:t>, </a:t>
            </a:r>
            <a:r>
              <a:rPr lang="ko-KR" altLang="en-US" sz="1100" dirty="0"/>
              <a:t>제</a:t>
            </a:r>
            <a:r>
              <a:rPr lang="en-US" altLang="ko-KR" sz="1100" dirty="0"/>
              <a:t>6</a:t>
            </a:r>
            <a:r>
              <a:rPr lang="ko-KR" altLang="en-US" sz="1100" dirty="0"/>
              <a:t>항 및 제</a:t>
            </a:r>
            <a:r>
              <a:rPr lang="en-US" altLang="ko-KR" sz="1100" dirty="0"/>
              <a:t>7</a:t>
            </a:r>
            <a:r>
              <a:rPr lang="ko-KR" altLang="en-US" sz="1100" dirty="0"/>
              <a:t>항의 권리범위에 속한다</a:t>
            </a:r>
            <a:r>
              <a:rPr lang="en-US" altLang="ko-KR" sz="1100" dirty="0"/>
              <a:t>.</a:t>
            </a:r>
          </a:p>
          <a:p>
            <a:r>
              <a:rPr lang="en-US" altLang="ko-KR" sz="1100" dirty="0"/>
              <a:t>2. </a:t>
            </a:r>
            <a:r>
              <a:rPr lang="ko-KR" altLang="en-US" sz="1100" dirty="0"/>
              <a:t>심판비용은 피청구인의 부담으로 한다</a:t>
            </a:r>
            <a:r>
              <a:rPr lang="en-US" altLang="ko-KR" sz="1100" dirty="0"/>
              <a:t>.</a:t>
            </a:r>
          </a:p>
          <a:p>
            <a:r>
              <a:rPr lang="ko-KR" altLang="en-US" sz="1100" dirty="0"/>
              <a:t>라는 </a:t>
            </a:r>
            <a:r>
              <a:rPr lang="ko-KR" altLang="en-US" sz="1100" dirty="0" err="1"/>
              <a:t>심결을</a:t>
            </a:r>
            <a:r>
              <a:rPr lang="ko-KR" altLang="en-US" sz="1100" dirty="0"/>
              <a:t> 구합니다</a:t>
            </a:r>
            <a:r>
              <a:rPr lang="en-US" altLang="ko-KR" sz="1100" dirty="0"/>
              <a:t>. </a:t>
            </a:r>
          </a:p>
          <a:p>
            <a:r>
              <a:rPr lang="en-US" altLang="ko-KR" sz="1100" dirty="0"/>
              <a:t>【</a:t>
            </a:r>
            <a:r>
              <a:rPr lang="ko-KR" altLang="en-US" sz="1100" dirty="0"/>
              <a:t>청구의 이유</a:t>
            </a:r>
            <a:r>
              <a:rPr lang="en-US" altLang="ko-KR" sz="1100" dirty="0"/>
              <a:t>】</a:t>
            </a:r>
          </a:p>
          <a:p>
            <a:r>
              <a:rPr lang="en-US" altLang="ko-KR" sz="1100" dirty="0"/>
              <a:t>1. </a:t>
            </a:r>
            <a:r>
              <a:rPr lang="ko-KR" altLang="en-US" sz="1100" dirty="0"/>
              <a:t>심판청구의 적법성</a:t>
            </a:r>
            <a:r>
              <a:rPr lang="en-US" altLang="ko-KR" sz="1100" dirty="0"/>
              <a:t>(</a:t>
            </a:r>
            <a:r>
              <a:rPr lang="ko-KR" altLang="en-US" sz="1100" dirty="0"/>
              <a:t>이해관계 여부</a:t>
            </a:r>
            <a:r>
              <a:rPr lang="en-US" altLang="ko-KR" sz="1100" dirty="0"/>
              <a:t>)</a:t>
            </a:r>
            <a:endParaRPr lang="ko-KR" altLang="en-US" sz="1100" dirty="0"/>
          </a:p>
          <a:p>
            <a:r>
              <a:rPr lang="en-US" altLang="ko-KR" sz="1100" dirty="0"/>
              <a:t>2. </a:t>
            </a:r>
            <a:r>
              <a:rPr lang="ko-KR" altLang="en-US" sz="1100" dirty="0"/>
              <a:t>이 사건 특허의 요지</a:t>
            </a:r>
            <a:endParaRPr lang="en-US" altLang="ko-KR" sz="1100" dirty="0"/>
          </a:p>
          <a:p>
            <a:r>
              <a:rPr lang="en-US" altLang="ko-KR" sz="1100" dirty="0"/>
              <a:t>3. </a:t>
            </a:r>
            <a:r>
              <a:rPr lang="ko-KR" altLang="en-US" sz="1100" dirty="0"/>
              <a:t>확인대상발명의 요지</a:t>
            </a:r>
            <a:endParaRPr lang="en-US" altLang="ko-KR" sz="1100" dirty="0"/>
          </a:p>
          <a:p>
            <a:r>
              <a:rPr lang="en-US" altLang="ko-KR" sz="1100" dirty="0"/>
              <a:t>4. </a:t>
            </a:r>
            <a:r>
              <a:rPr lang="ko-KR" altLang="en-US" sz="1100" dirty="0"/>
              <a:t>권리범위에 속하는지 판단</a:t>
            </a:r>
            <a:endParaRPr lang="en-US" altLang="ko-KR" sz="1100" dirty="0"/>
          </a:p>
          <a:p>
            <a:r>
              <a:rPr lang="en-US" altLang="ko-KR" sz="1100" dirty="0"/>
              <a:t>  </a:t>
            </a:r>
            <a:r>
              <a:rPr lang="ko-KR" altLang="en-US" sz="1100" dirty="0"/>
              <a:t>가</a:t>
            </a:r>
            <a:r>
              <a:rPr lang="en-US" altLang="ko-KR" sz="1100" dirty="0"/>
              <a:t>. </a:t>
            </a:r>
            <a:r>
              <a:rPr lang="ko-KR" altLang="en-US" sz="1100" dirty="0"/>
              <a:t>청구항 제</a:t>
            </a:r>
            <a:r>
              <a:rPr lang="en-US" altLang="ko-KR" sz="1100" dirty="0"/>
              <a:t>1</a:t>
            </a:r>
            <a:r>
              <a:rPr lang="ko-KR" altLang="en-US" sz="1100" dirty="0"/>
              <a:t>항의 판단</a:t>
            </a:r>
            <a:endParaRPr lang="en-US" altLang="ko-KR" sz="1100" dirty="0"/>
          </a:p>
          <a:p>
            <a:r>
              <a:rPr lang="en-US" altLang="ko-KR" sz="1100" dirty="0"/>
              <a:t>  </a:t>
            </a:r>
            <a:r>
              <a:rPr lang="ko-KR" altLang="en-US" sz="1100" dirty="0"/>
              <a:t>나</a:t>
            </a:r>
            <a:r>
              <a:rPr lang="en-US" altLang="ko-KR" sz="1100" dirty="0"/>
              <a:t>. </a:t>
            </a:r>
            <a:r>
              <a:rPr lang="ko-KR" altLang="en-US" sz="1100" dirty="0"/>
              <a:t>청구항 제</a:t>
            </a:r>
            <a:r>
              <a:rPr lang="en-US" altLang="ko-KR" sz="1100" dirty="0"/>
              <a:t>3</a:t>
            </a:r>
            <a:r>
              <a:rPr lang="ko-KR" altLang="en-US" sz="1100" dirty="0"/>
              <a:t>항의 판단</a:t>
            </a:r>
            <a:endParaRPr lang="en-US" altLang="ko-KR" sz="1100" dirty="0"/>
          </a:p>
          <a:p>
            <a:r>
              <a:rPr lang="en-US" altLang="ko-KR" sz="1100" dirty="0"/>
              <a:t>  </a:t>
            </a:r>
            <a:r>
              <a:rPr lang="ko-KR" altLang="en-US" sz="1100" dirty="0"/>
              <a:t>다</a:t>
            </a:r>
            <a:r>
              <a:rPr lang="en-US" altLang="ko-KR" sz="1100" dirty="0"/>
              <a:t>. </a:t>
            </a:r>
            <a:r>
              <a:rPr lang="ko-KR" altLang="en-US" sz="1100" dirty="0"/>
              <a:t>청구항 제</a:t>
            </a:r>
            <a:r>
              <a:rPr lang="en-US" altLang="ko-KR" sz="1100" dirty="0"/>
              <a:t>6</a:t>
            </a:r>
            <a:r>
              <a:rPr lang="ko-KR" altLang="en-US" sz="1100" dirty="0"/>
              <a:t>항의 판단</a:t>
            </a:r>
            <a:endParaRPr lang="en-US" altLang="ko-KR" sz="1100" dirty="0"/>
          </a:p>
          <a:p>
            <a:r>
              <a:rPr lang="en-US" altLang="ko-KR" sz="1100" dirty="0"/>
              <a:t>  </a:t>
            </a:r>
            <a:r>
              <a:rPr lang="ko-KR" altLang="en-US" sz="1100" dirty="0"/>
              <a:t>라</a:t>
            </a:r>
            <a:r>
              <a:rPr lang="en-US" altLang="ko-KR" sz="1100" dirty="0"/>
              <a:t>. </a:t>
            </a:r>
            <a:r>
              <a:rPr lang="ko-KR" altLang="en-US" sz="1100" dirty="0"/>
              <a:t>청구항 제</a:t>
            </a:r>
            <a:r>
              <a:rPr lang="en-US" altLang="ko-KR" sz="1100" dirty="0"/>
              <a:t>7</a:t>
            </a:r>
            <a:r>
              <a:rPr lang="ko-KR" altLang="en-US" sz="1100" dirty="0"/>
              <a:t>항의 판단</a:t>
            </a:r>
            <a:endParaRPr lang="en-US" altLang="ko-KR" sz="1100" dirty="0"/>
          </a:p>
          <a:p>
            <a:r>
              <a:rPr lang="en-US" altLang="ko-KR" sz="1100" dirty="0"/>
              <a:t>5. </a:t>
            </a:r>
            <a:r>
              <a:rPr lang="ko-KR" altLang="en-US" sz="1100" dirty="0"/>
              <a:t>결론</a:t>
            </a:r>
            <a:endParaRPr lang="en-US" altLang="ko-KR" sz="1100" dirty="0"/>
          </a:p>
          <a:p>
            <a:r>
              <a:rPr lang="ko-KR" altLang="en-US" sz="1100" dirty="0"/>
              <a:t>이상에서 살펴본 바와 같이</a:t>
            </a:r>
            <a:r>
              <a:rPr lang="en-US" altLang="ko-KR" sz="1100" dirty="0"/>
              <a:t>, </a:t>
            </a:r>
            <a:r>
              <a:rPr lang="ko-KR" altLang="en-US" sz="1100" dirty="0"/>
              <a:t>확인대상발명은 이 건 특허의 권리범위에 속한다고 할 것입니다</a:t>
            </a:r>
            <a:r>
              <a:rPr lang="en-US" altLang="ko-KR" sz="1100" dirty="0"/>
              <a:t>. </a:t>
            </a:r>
            <a:r>
              <a:rPr lang="ko-KR" altLang="en-US" sz="1100" dirty="0"/>
              <a:t>따라서 심판관님께서는 부디 청구취지와 같은 </a:t>
            </a:r>
            <a:r>
              <a:rPr lang="ko-KR" altLang="en-US" sz="1100" dirty="0" err="1"/>
              <a:t>심결을</a:t>
            </a:r>
            <a:r>
              <a:rPr lang="ko-KR" altLang="en-US" sz="1100" dirty="0"/>
              <a:t> </a:t>
            </a:r>
            <a:r>
              <a:rPr lang="ko-KR" altLang="en-US" sz="1100" dirty="0" err="1"/>
              <a:t>내려주시기</a:t>
            </a:r>
            <a:r>
              <a:rPr lang="ko-KR" altLang="en-US" sz="1100" dirty="0"/>
              <a:t> 바랍니다</a:t>
            </a:r>
            <a:r>
              <a:rPr lang="en-US" altLang="ko-KR" sz="1100" dirty="0"/>
              <a:t>.</a:t>
            </a:r>
          </a:p>
        </p:txBody>
      </p:sp>
      <p:sp>
        <p:nvSpPr>
          <p:cNvPr id="19" name="직사각형 18">
            <a:extLst>
              <a:ext uri="{FF2B5EF4-FFF2-40B4-BE49-F238E27FC236}">
                <a16:creationId xmlns:a16="http://schemas.microsoft.com/office/drawing/2014/main" id="{F55AD877-2BCD-F051-0C5B-9ACA3C0DB1AE}"/>
              </a:ext>
            </a:extLst>
          </p:cNvPr>
          <p:cNvSpPr/>
          <p:nvPr/>
        </p:nvSpPr>
        <p:spPr>
          <a:xfrm>
            <a:off x="1757085" y="4052047"/>
            <a:ext cx="806823" cy="167475"/>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1" name="직선 연결선 20">
            <a:extLst>
              <a:ext uri="{FF2B5EF4-FFF2-40B4-BE49-F238E27FC236}">
                <a16:creationId xmlns:a16="http://schemas.microsoft.com/office/drawing/2014/main" id="{2CFFACB8-6FCA-9FD8-0812-62EFE68CB75E}"/>
              </a:ext>
            </a:extLst>
          </p:cNvPr>
          <p:cNvCxnSpPr>
            <a:stCxn id="19" idx="3"/>
          </p:cNvCxnSpPr>
          <p:nvPr/>
        </p:nvCxnSpPr>
        <p:spPr>
          <a:xfrm>
            <a:off x="2563908" y="4135785"/>
            <a:ext cx="4948518" cy="212098"/>
          </a:xfrm>
          <a:prstGeom prst="line">
            <a:avLst/>
          </a:prstGeom>
          <a:ln w="28575">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8981E95D-6AB7-0370-99F9-C94E9DC18C4F}"/>
              </a:ext>
            </a:extLst>
          </p:cNvPr>
          <p:cNvSpPr txBox="1"/>
          <p:nvPr/>
        </p:nvSpPr>
        <p:spPr>
          <a:xfrm>
            <a:off x="7512426" y="4171643"/>
            <a:ext cx="4414991" cy="954107"/>
          </a:xfrm>
          <a:prstGeom prst="rect">
            <a:avLst/>
          </a:prstGeom>
          <a:noFill/>
          <a:ln w="19050">
            <a:solidFill>
              <a:schemeClr val="accent2">
                <a:lumMod val="75000"/>
              </a:schemeClr>
            </a:solidFill>
          </a:ln>
        </p:spPr>
        <p:txBody>
          <a:bodyPr wrap="none" rtlCol="0">
            <a:spAutoFit/>
          </a:bodyPr>
          <a:lstStyle/>
          <a:p>
            <a:r>
              <a:rPr lang="ko-KR" altLang="en-US" sz="1400" dirty="0"/>
              <a:t>* 청구취지의 일부를 구성</a:t>
            </a:r>
            <a:endParaRPr lang="en-US" altLang="ko-KR" sz="1400" dirty="0"/>
          </a:p>
          <a:p>
            <a:r>
              <a:rPr lang="en-US" altLang="ko-KR" sz="1400" dirty="0"/>
              <a:t> - </a:t>
            </a:r>
            <a:r>
              <a:rPr lang="ko-KR" altLang="en-US" sz="1400" dirty="0"/>
              <a:t>확인대상발명의 보정은 요지변경 불가</a:t>
            </a:r>
            <a:endParaRPr lang="en-US" altLang="ko-KR" sz="1400" dirty="0"/>
          </a:p>
          <a:p>
            <a:r>
              <a:rPr lang="ko-KR" altLang="en-US" sz="1400" dirty="0"/>
              <a:t> </a:t>
            </a:r>
            <a:r>
              <a:rPr lang="en-US" altLang="ko-KR" sz="1400" dirty="0"/>
              <a:t>- </a:t>
            </a:r>
            <a:r>
              <a:rPr lang="ko-KR" altLang="en-US" sz="1400" dirty="0"/>
              <a:t>일사부재리의 효력이 미치는 영역을 명확히 하기 위하여 </a:t>
            </a:r>
            <a:endParaRPr lang="en-US" altLang="ko-KR" sz="1400" dirty="0"/>
          </a:p>
          <a:p>
            <a:r>
              <a:rPr lang="en-US" altLang="ko-KR" sz="1400" dirty="0"/>
              <a:t>   </a:t>
            </a:r>
            <a:r>
              <a:rPr lang="ko-KR" altLang="en-US" sz="1400" dirty="0"/>
              <a:t>사회통념상 다른 것과 구별될 수 있도록 특정 필요</a:t>
            </a:r>
          </a:p>
        </p:txBody>
      </p:sp>
      <p:sp>
        <p:nvSpPr>
          <p:cNvPr id="23" name="직사각형 22">
            <a:extLst>
              <a:ext uri="{FF2B5EF4-FFF2-40B4-BE49-F238E27FC236}">
                <a16:creationId xmlns:a16="http://schemas.microsoft.com/office/drawing/2014/main" id="{9E0427A4-4297-76E2-CEF3-3F6BB849274B}"/>
              </a:ext>
            </a:extLst>
          </p:cNvPr>
          <p:cNvSpPr/>
          <p:nvPr/>
        </p:nvSpPr>
        <p:spPr>
          <a:xfrm>
            <a:off x="1757085" y="5217362"/>
            <a:ext cx="806823" cy="167475"/>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24" name="직선 연결선 23">
            <a:extLst>
              <a:ext uri="{FF2B5EF4-FFF2-40B4-BE49-F238E27FC236}">
                <a16:creationId xmlns:a16="http://schemas.microsoft.com/office/drawing/2014/main" id="{587B128A-FA1D-2B54-B553-730E71D03264}"/>
              </a:ext>
            </a:extLst>
          </p:cNvPr>
          <p:cNvCxnSpPr/>
          <p:nvPr/>
        </p:nvCxnSpPr>
        <p:spPr>
          <a:xfrm>
            <a:off x="2563908" y="5365281"/>
            <a:ext cx="4948518" cy="212098"/>
          </a:xfrm>
          <a:prstGeom prst="line">
            <a:avLst/>
          </a:prstGeom>
          <a:ln w="28575">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BB9F340-C8FE-1E75-CC73-C4E6AC63E0E9}"/>
              </a:ext>
            </a:extLst>
          </p:cNvPr>
          <p:cNvSpPr txBox="1"/>
          <p:nvPr/>
        </p:nvSpPr>
        <p:spPr>
          <a:xfrm>
            <a:off x="7512426" y="5471330"/>
            <a:ext cx="4414991" cy="523220"/>
          </a:xfrm>
          <a:prstGeom prst="rect">
            <a:avLst/>
          </a:prstGeom>
          <a:noFill/>
          <a:ln w="28575">
            <a:solidFill>
              <a:schemeClr val="accent6"/>
            </a:solidFill>
          </a:ln>
        </p:spPr>
        <p:txBody>
          <a:bodyPr wrap="square" rtlCol="0">
            <a:spAutoFit/>
          </a:bodyPr>
          <a:lstStyle/>
          <a:p>
            <a:r>
              <a:rPr lang="ko-KR" altLang="en-US" sz="1400" dirty="0"/>
              <a:t>* 청구원인의 일부를 구성</a:t>
            </a:r>
            <a:endParaRPr lang="en-US" altLang="ko-KR" sz="1400" dirty="0"/>
          </a:p>
          <a:p>
            <a:r>
              <a:rPr lang="en-US" altLang="ko-KR" sz="1400" dirty="0"/>
              <a:t> - </a:t>
            </a:r>
            <a:r>
              <a:rPr lang="ko-KR" altLang="en-US" sz="1400" dirty="0"/>
              <a:t>특허발명과 서로 대비할 수 있을 정도로 특정 필요 </a:t>
            </a:r>
          </a:p>
        </p:txBody>
      </p:sp>
      <p:sp>
        <p:nvSpPr>
          <p:cNvPr id="26" name="사각형: 둥근 모서리 25">
            <a:extLst>
              <a:ext uri="{FF2B5EF4-FFF2-40B4-BE49-F238E27FC236}">
                <a16:creationId xmlns:a16="http://schemas.microsoft.com/office/drawing/2014/main" id="{A676D6E6-9F58-A84D-6EEB-8F7BC7CC91D5}"/>
              </a:ext>
            </a:extLst>
          </p:cNvPr>
          <p:cNvSpPr/>
          <p:nvPr/>
        </p:nvSpPr>
        <p:spPr>
          <a:xfrm>
            <a:off x="264583" y="4632395"/>
            <a:ext cx="1227917" cy="1295573"/>
          </a:xfrm>
          <a:prstGeom prst="roundRect">
            <a:avLst>
              <a:gd name="adj" fmla="val 24057"/>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600" dirty="0"/>
              <a:t>적극적 </a:t>
            </a:r>
            <a:endParaRPr lang="en-US" altLang="ko-KR" sz="1600" dirty="0"/>
          </a:p>
          <a:p>
            <a:pPr algn="ctr"/>
            <a:r>
              <a:rPr lang="ko-KR" altLang="en-US" sz="1600" dirty="0"/>
              <a:t>권리범위</a:t>
            </a:r>
            <a:endParaRPr lang="en-US" altLang="ko-KR" sz="1600" dirty="0"/>
          </a:p>
          <a:p>
            <a:pPr algn="ctr"/>
            <a:r>
              <a:rPr lang="ko-KR" altLang="en-US" sz="1600" dirty="0"/>
              <a:t>확인심판의 </a:t>
            </a:r>
            <a:endParaRPr lang="en-US" altLang="ko-KR" sz="1600" dirty="0"/>
          </a:p>
          <a:p>
            <a:pPr algn="ctr"/>
            <a:r>
              <a:rPr lang="ko-KR" altLang="en-US" sz="1600" dirty="0"/>
              <a:t>청구취지와 </a:t>
            </a:r>
            <a:endParaRPr lang="en-US" altLang="ko-KR" sz="1600" dirty="0"/>
          </a:p>
          <a:p>
            <a:pPr algn="ctr"/>
            <a:r>
              <a:rPr lang="ko-KR" altLang="en-US" sz="1600" dirty="0"/>
              <a:t>그 이유</a:t>
            </a:r>
          </a:p>
        </p:txBody>
      </p:sp>
    </p:spTree>
    <p:extLst>
      <p:ext uri="{BB962C8B-B14F-4D97-AF65-F5344CB8AC3E}">
        <p14:creationId xmlns:p14="http://schemas.microsoft.com/office/powerpoint/2010/main" val="4160397983"/>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z="2000" dirty="0"/>
              <a:t>제</a:t>
            </a:r>
            <a:r>
              <a:rPr lang="en-US" altLang="ko-KR" sz="2000" dirty="0"/>
              <a:t>140</a:t>
            </a:r>
            <a:r>
              <a:rPr lang="ko-KR" altLang="en-US" sz="2000" dirty="0"/>
              <a:t>조</a:t>
            </a:r>
            <a:r>
              <a:rPr lang="en-US" altLang="ko-KR" sz="2000" dirty="0"/>
              <a:t>, </a:t>
            </a:r>
            <a:r>
              <a:rPr lang="ko-KR" altLang="en-US" sz="2000" dirty="0"/>
              <a:t>제</a:t>
            </a:r>
            <a:r>
              <a:rPr lang="en-US" altLang="ko-KR" sz="2000" dirty="0"/>
              <a:t>140</a:t>
            </a:r>
            <a:r>
              <a:rPr lang="ko-KR" altLang="en-US" sz="2000" dirty="0"/>
              <a:t>조의</a:t>
            </a:r>
            <a:r>
              <a:rPr lang="en-US" altLang="ko-KR" sz="2000" dirty="0"/>
              <a:t>2</a:t>
            </a:r>
            <a:endParaRPr lang="ko-KR" altLang="en-US" sz="2000" dirty="0"/>
          </a:p>
        </p:txBody>
      </p:sp>
      <p:sp>
        <p:nvSpPr>
          <p:cNvPr id="3" name="텍스트 개체 틀 2"/>
          <p:cNvSpPr>
            <a:spLocks noGrp="1"/>
          </p:cNvSpPr>
          <p:nvPr>
            <p:ph type="body" sz="quarter" idx="13"/>
          </p:nvPr>
        </p:nvSpPr>
        <p:spPr/>
        <p:txBody>
          <a:bodyPr/>
          <a:lstStyle/>
          <a:p>
            <a:r>
              <a:rPr lang="ko-KR" altLang="en-US" dirty="0"/>
              <a:t>심판청구서의 보정</a:t>
            </a:r>
            <a:r>
              <a:rPr lang="en-US" altLang="ko-KR" dirty="0"/>
              <a:t>: </a:t>
            </a:r>
            <a:r>
              <a:rPr lang="ko-KR" altLang="en-US" dirty="0"/>
              <a:t>특허권자</a:t>
            </a:r>
            <a:r>
              <a:rPr lang="en-US" altLang="ko-KR" dirty="0"/>
              <a:t>(</a:t>
            </a:r>
            <a:r>
              <a:rPr lang="ko-KR" altLang="en-US" dirty="0"/>
              <a:t>출원인</a:t>
            </a:r>
            <a:r>
              <a:rPr lang="en-US" altLang="ko-KR" dirty="0"/>
              <a:t>)</a:t>
            </a:r>
            <a:r>
              <a:rPr lang="ko-KR" altLang="en-US" dirty="0"/>
              <a:t>의 추가</a:t>
            </a:r>
          </a:p>
        </p:txBody>
      </p:sp>
      <p:cxnSp>
        <p:nvCxnSpPr>
          <p:cNvPr id="5" name="직선 연결선 4"/>
          <p:cNvCxnSpPr/>
          <p:nvPr/>
        </p:nvCxnSpPr>
        <p:spPr>
          <a:xfrm>
            <a:off x="77875" y="172661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7875" y="976902"/>
            <a:ext cx="11936323" cy="738664"/>
          </a:xfrm>
          <a:prstGeom prst="rect">
            <a:avLst/>
          </a:prstGeom>
          <a:noFill/>
        </p:spPr>
        <p:txBody>
          <a:bodyPr wrap="square" rtlCol="0">
            <a:spAutoFit/>
          </a:bodyPr>
          <a:lstStyle/>
          <a:p>
            <a:pPr fontAlgn="base"/>
            <a:r>
              <a:rPr lang="ko-KR" altLang="en-US" sz="1400" dirty="0">
                <a:solidFill>
                  <a:schemeClr val="tx2"/>
                </a:solidFill>
              </a:rPr>
              <a:t>심판청구인의 실수로 인해 심판이 각하되는 사례를 방지하기 위해 심판의 당사자 중 특허권자나 거절결정불복심판의 청구인 기재에 대한 보정을 자유롭게 허용하고 있다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140②Ⅰ, 140</a:t>
            </a:r>
            <a:r>
              <a:rPr lang="ko-KR" altLang="en-US" sz="1400" dirty="0">
                <a:solidFill>
                  <a:schemeClr val="tx2"/>
                </a:solidFill>
              </a:rPr>
              <a:t>의②</a:t>
            </a:r>
            <a:r>
              <a:rPr lang="en-US" altLang="ko-KR" sz="1400" dirty="0">
                <a:solidFill>
                  <a:schemeClr val="tx2"/>
                </a:solidFill>
              </a:rPr>
              <a:t>Ⅰ). </a:t>
            </a:r>
            <a:r>
              <a:rPr lang="ko-KR" altLang="en-US" sz="1400" dirty="0">
                <a:solidFill>
                  <a:schemeClr val="tx2"/>
                </a:solidFill>
              </a:rPr>
              <a:t>다만</a:t>
            </a:r>
            <a:r>
              <a:rPr lang="en-US" altLang="ko-KR" sz="1400" dirty="0">
                <a:solidFill>
                  <a:schemeClr val="tx2"/>
                </a:solidFill>
              </a:rPr>
              <a:t>, </a:t>
            </a:r>
            <a:r>
              <a:rPr lang="ko-KR" altLang="en-US" sz="1400" dirty="0">
                <a:highlight>
                  <a:srgbClr val="FFFF00"/>
                </a:highlight>
              </a:rPr>
              <a:t>특허권 또는 특허를 받을 수 있는 권리의 공유자가 그 공유인 권리에 관하여 심판을 청구할 때에는 공유자 모두가 공동으로 청구하여야 하는데</a:t>
            </a:r>
            <a:r>
              <a:rPr lang="en-US" altLang="ko-KR" sz="1400" dirty="0">
                <a:highlight>
                  <a:srgbClr val="FFFF00"/>
                </a:highlight>
              </a:rPr>
              <a:t>(</a:t>
            </a:r>
            <a:r>
              <a:rPr lang="ko-KR" altLang="en-US" sz="1400" dirty="0">
                <a:highlight>
                  <a:srgbClr val="FFFF00"/>
                </a:highlight>
              </a:rPr>
              <a:t>法 </a:t>
            </a:r>
            <a:r>
              <a:rPr lang="en-US" altLang="ko-KR" sz="1400" dirty="0">
                <a:highlight>
                  <a:srgbClr val="FFFF00"/>
                </a:highlight>
              </a:rPr>
              <a:t>139③) </a:t>
            </a:r>
            <a:r>
              <a:rPr lang="ko-KR" altLang="en-US" sz="1400" dirty="0">
                <a:highlight>
                  <a:srgbClr val="FFFF00"/>
                </a:highlight>
              </a:rPr>
              <a:t>단독으로 심판을 청구했다면</a:t>
            </a:r>
            <a:r>
              <a:rPr lang="en-US" altLang="ko-KR" sz="1400" dirty="0">
                <a:highlight>
                  <a:srgbClr val="FFFF00"/>
                </a:highlight>
              </a:rPr>
              <a:t>, </a:t>
            </a:r>
            <a:r>
              <a:rPr lang="ko-KR" altLang="en-US" sz="1400" dirty="0" err="1">
                <a:solidFill>
                  <a:schemeClr val="tx2"/>
                </a:solidFill>
              </a:rPr>
              <a:t>사후적으로라도</a:t>
            </a:r>
            <a:r>
              <a:rPr lang="ko-KR" altLang="en-US" sz="1400" dirty="0">
                <a:solidFill>
                  <a:schemeClr val="tx2"/>
                </a:solidFill>
              </a:rPr>
              <a:t> 다른 공유자의 동의가 있는 경우에 한해 추가할 수 있도록 제한하고 있다</a:t>
            </a:r>
            <a:r>
              <a:rPr lang="en-US" altLang="ko-KR" sz="1400" dirty="0">
                <a:solidFill>
                  <a:schemeClr val="tx2"/>
                </a:solidFill>
              </a:rPr>
              <a:t>.</a:t>
            </a:r>
            <a:endParaRPr lang="ko-KR" altLang="en-US" sz="1400" dirty="0">
              <a:solidFill>
                <a:schemeClr val="tx2"/>
              </a:solidFill>
            </a:endParaRPr>
          </a:p>
        </p:txBody>
      </p:sp>
      <p:sp>
        <p:nvSpPr>
          <p:cNvPr id="4" name="Rectangle 1"/>
          <p:cNvSpPr>
            <a:spLocks noChangeArrowheads="1"/>
          </p:cNvSpPr>
          <p:nvPr/>
        </p:nvSpPr>
        <p:spPr bwMode="auto">
          <a:xfrm>
            <a:off x="114300" y="2073111"/>
            <a:ext cx="11899898" cy="116955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1" i="0" u="none" strike="noStrike" cap="none" normalizeH="0" baseline="0" dirty="0">
                <a:ln>
                  <a:noFill/>
                </a:ln>
                <a:solidFill>
                  <a:srgbClr val="151594"/>
                </a:solidFill>
                <a:effectLst/>
                <a:latin typeface="+mn-ea"/>
              </a:rPr>
              <a:t>제139조(</a:t>
            </a:r>
            <a:r>
              <a:rPr kumimoji="0" lang="ko-KR" altLang="ko-KR" sz="1400" b="1" i="0" u="none" strike="noStrike" cap="none" normalizeH="0" baseline="0" dirty="0" err="1">
                <a:ln>
                  <a:noFill/>
                </a:ln>
                <a:solidFill>
                  <a:srgbClr val="151594"/>
                </a:solidFill>
                <a:effectLst/>
                <a:latin typeface="+mn-ea"/>
              </a:rPr>
              <a:t>공동심판의</a:t>
            </a:r>
            <a:r>
              <a:rPr kumimoji="0" lang="ko-KR" altLang="ko-KR" sz="1400" b="1" i="0" u="none" strike="noStrike" cap="none" normalizeH="0" baseline="0" dirty="0">
                <a:ln>
                  <a:noFill/>
                </a:ln>
                <a:solidFill>
                  <a:srgbClr val="151594"/>
                </a:solidFill>
                <a:effectLst/>
                <a:latin typeface="+mn-ea"/>
              </a:rPr>
              <a:t> 청구 등)</a:t>
            </a:r>
            <a:r>
              <a:rPr kumimoji="0" lang="ko-KR" altLang="ko-KR" sz="1400" b="0" i="0" u="none" strike="noStrike" cap="none" normalizeH="0" baseline="0" dirty="0">
                <a:ln>
                  <a:noFill/>
                </a:ln>
                <a:solidFill>
                  <a:srgbClr val="444444"/>
                </a:solidFill>
                <a:effectLst/>
                <a:latin typeface="+mn-ea"/>
              </a:rPr>
              <a:t> ① 동일한 특허권에 관하여 제133조제1항, 제134조제1항ㆍ제2항 또는 제137조제1항의 무효심판이나 제135조제1항ㆍ제2항의 권리범위 </a:t>
            </a:r>
            <a:r>
              <a:rPr kumimoji="0" lang="ko-KR" altLang="ko-KR" sz="1400" b="0" i="0" u="none" strike="noStrike" cap="none" normalizeH="0" baseline="0" dirty="0" err="1">
                <a:ln>
                  <a:noFill/>
                </a:ln>
                <a:solidFill>
                  <a:srgbClr val="444444"/>
                </a:solidFill>
                <a:effectLst/>
                <a:latin typeface="+mn-ea"/>
              </a:rPr>
              <a:t>확인심판을</a:t>
            </a:r>
            <a:r>
              <a:rPr kumimoji="0" lang="ko-KR" altLang="ko-KR" sz="1400" b="0" i="0" u="none" strike="noStrike" cap="none" normalizeH="0" baseline="0" dirty="0">
                <a:ln>
                  <a:noFill/>
                </a:ln>
                <a:solidFill>
                  <a:srgbClr val="444444"/>
                </a:solidFill>
                <a:effectLst/>
                <a:latin typeface="+mn-ea"/>
              </a:rPr>
              <a:t> 청구하는 자가 2인 이상이면 모두가 공동으로 심판을 청구할 수 있다. </a:t>
            </a:r>
            <a:endParaRPr kumimoji="0" lang="en-US" altLang="ko-KR" sz="1400" b="0" i="0" u="none" strike="noStrike" cap="none" normalizeH="0" baseline="0" dirty="0">
              <a:ln>
                <a:noFill/>
              </a:ln>
              <a:solidFill>
                <a:srgbClr val="444444"/>
              </a:solidFill>
              <a:effectLst/>
              <a:latin typeface="+mn-ea"/>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rgbClr val="FF0000"/>
                </a:solidFill>
                <a:effectLst/>
                <a:latin typeface="+mn-ea"/>
              </a:rPr>
              <a:t>② 공유인 특허권의 </a:t>
            </a:r>
            <a:r>
              <a:rPr kumimoji="0" lang="ko-KR" altLang="ko-KR" sz="1400" b="0" i="0" u="none" strike="noStrike" cap="none" normalizeH="0" baseline="0" dirty="0" err="1">
                <a:ln>
                  <a:noFill/>
                </a:ln>
                <a:solidFill>
                  <a:srgbClr val="FF0000"/>
                </a:solidFill>
                <a:effectLst/>
                <a:latin typeface="+mn-ea"/>
              </a:rPr>
              <a:t>특허권자에</a:t>
            </a:r>
            <a:r>
              <a:rPr kumimoji="0" lang="ko-KR" altLang="ko-KR" sz="1400" b="0" i="0" u="none" strike="noStrike" cap="none" normalizeH="0" baseline="0" dirty="0">
                <a:ln>
                  <a:noFill/>
                </a:ln>
                <a:solidFill>
                  <a:srgbClr val="FF0000"/>
                </a:solidFill>
                <a:effectLst/>
                <a:latin typeface="+mn-ea"/>
              </a:rPr>
              <a:t> 대하여 심판을 청구할 때에는 공유자 모두를 피청구인으로 하여야 한다.</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rgbClr val="FF0000"/>
                </a:solidFill>
                <a:effectLst/>
                <a:latin typeface="+mn-ea"/>
              </a:rPr>
              <a:t>③ 특허권 또는 특허를 받을 수 있는 권리의 공유자가 그 공유인 권리에 관하여 심판을 청구할 때에는 공유자 모두가 공동으로 청구하여야 한다.</a:t>
            </a:r>
          </a:p>
          <a:p>
            <a:pPr marL="0" marR="0" lvl="0" indent="0" algn="l" defTabSz="914400" rtl="0" eaLnBrk="0" fontAlgn="base" latinLnBrk="0" hangingPunct="0">
              <a:lnSpc>
                <a:spcPct val="100000"/>
              </a:lnSpc>
              <a:spcBef>
                <a:spcPct val="0"/>
              </a:spcBef>
              <a:spcAft>
                <a:spcPct val="0"/>
              </a:spcAft>
              <a:buClrTx/>
              <a:buSzTx/>
              <a:buFontTx/>
              <a:buNone/>
              <a:tabLst/>
            </a:pPr>
            <a:r>
              <a:rPr kumimoji="0" lang="ko-KR" altLang="ko-KR" sz="1400" b="0" i="0" u="none" strike="noStrike" cap="none" normalizeH="0" baseline="0" dirty="0">
                <a:ln>
                  <a:noFill/>
                </a:ln>
                <a:solidFill>
                  <a:srgbClr val="444444"/>
                </a:solidFill>
                <a:effectLst/>
                <a:latin typeface="+mn-ea"/>
              </a:rPr>
              <a:t>④ 제1항 또는 제3항에 따른 청구인이나 제2항에 따른 피청구인 중 1인에게 </a:t>
            </a:r>
            <a:r>
              <a:rPr kumimoji="0" lang="ko-KR" altLang="ko-KR" sz="1400" b="0" i="0" u="none" strike="noStrike" cap="none" normalizeH="0" baseline="0" dirty="0" err="1">
                <a:ln>
                  <a:noFill/>
                </a:ln>
                <a:solidFill>
                  <a:srgbClr val="444444"/>
                </a:solidFill>
                <a:effectLst/>
                <a:latin typeface="+mn-ea"/>
              </a:rPr>
              <a:t>심판절차의</a:t>
            </a:r>
            <a:r>
              <a:rPr kumimoji="0" lang="ko-KR" altLang="ko-KR" sz="1400" b="0" i="0" u="none" strike="noStrike" cap="none" normalizeH="0" baseline="0" dirty="0">
                <a:ln>
                  <a:noFill/>
                </a:ln>
                <a:solidFill>
                  <a:srgbClr val="444444"/>
                </a:solidFill>
                <a:effectLst/>
                <a:latin typeface="+mn-ea"/>
              </a:rPr>
              <a:t> 중단 또는 중지의 원인이 있으면 모두에게 그 효력이 발생한다.</a:t>
            </a:r>
            <a:endParaRPr kumimoji="0" lang="ko-KR" altLang="ko-KR" sz="1400" b="0" i="0" u="none" strike="noStrike" cap="none" normalizeH="0" baseline="0" dirty="0">
              <a:ln>
                <a:noFill/>
              </a:ln>
              <a:solidFill>
                <a:schemeClr val="tx1"/>
              </a:solidFill>
              <a:effectLst/>
              <a:latin typeface="+mn-ea"/>
            </a:endParaRPr>
          </a:p>
        </p:txBody>
      </p:sp>
      <p:sp>
        <p:nvSpPr>
          <p:cNvPr id="48" name="TextBox 47"/>
          <p:cNvSpPr txBox="1"/>
          <p:nvPr/>
        </p:nvSpPr>
        <p:spPr>
          <a:xfrm>
            <a:off x="184150" y="3437241"/>
            <a:ext cx="3206750" cy="338554"/>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r>
              <a:rPr lang="ko-KR" altLang="en-US" sz="1600" dirty="0"/>
              <a:t>甲</a:t>
            </a:r>
            <a:r>
              <a:rPr lang="en-US" altLang="ko-KR" sz="1600" dirty="0"/>
              <a:t>, </a:t>
            </a:r>
            <a:r>
              <a:rPr lang="ko-KR" altLang="en-US" sz="1600" dirty="0"/>
              <a:t>乙 </a:t>
            </a:r>
            <a:r>
              <a:rPr lang="en-US" altLang="ko-KR" sz="1600" dirty="0"/>
              <a:t>: </a:t>
            </a:r>
            <a:r>
              <a:rPr lang="ko-KR" altLang="en-US" sz="1600" dirty="0" err="1"/>
              <a:t>특허권자</a:t>
            </a:r>
            <a:r>
              <a:rPr lang="ko-KR" altLang="en-US" sz="1600" dirty="0"/>
              <a:t> </a:t>
            </a:r>
            <a:r>
              <a:rPr lang="en-US" altLang="ko-KR" sz="1600" dirty="0"/>
              <a:t>, </a:t>
            </a:r>
            <a:r>
              <a:rPr lang="ko-KR" altLang="en-US" sz="1600" dirty="0"/>
              <a:t>丙 </a:t>
            </a:r>
            <a:r>
              <a:rPr lang="en-US" altLang="ko-KR" sz="1600" dirty="0"/>
              <a:t>: </a:t>
            </a:r>
            <a:r>
              <a:rPr lang="ko-KR" altLang="en-US" sz="1600" dirty="0"/>
              <a:t>이해관계인</a:t>
            </a:r>
          </a:p>
        </p:txBody>
      </p:sp>
      <p:cxnSp>
        <p:nvCxnSpPr>
          <p:cNvPr id="49" name="직선 연결선 48"/>
          <p:cNvCxnSpPr/>
          <p:nvPr/>
        </p:nvCxnSpPr>
        <p:spPr>
          <a:xfrm>
            <a:off x="485775" y="4773509"/>
            <a:ext cx="48863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Rectangle 14"/>
          <p:cNvSpPr>
            <a:spLocks noChangeArrowheads="1"/>
          </p:cNvSpPr>
          <p:nvPr/>
        </p:nvSpPr>
        <p:spPr bwMode="auto">
          <a:xfrm flipV="1">
            <a:off x="1185091" y="4696978"/>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9" name="TextBox 58"/>
          <p:cNvSpPr txBox="1"/>
          <p:nvPr/>
        </p:nvSpPr>
        <p:spPr>
          <a:xfrm>
            <a:off x="475236" y="3990110"/>
            <a:ext cx="1556764" cy="461665"/>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400" dirty="0"/>
              <a:t>甲</a:t>
            </a:r>
            <a:r>
              <a:rPr lang="en-US" altLang="ko-KR" sz="1400" dirty="0"/>
              <a:t>, </a:t>
            </a:r>
            <a:r>
              <a:rPr lang="ko-KR" altLang="en-US" sz="1400" dirty="0"/>
              <a:t>乙 사전합의</a:t>
            </a:r>
          </a:p>
        </p:txBody>
      </p:sp>
      <p:cxnSp>
        <p:nvCxnSpPr>
          <p:cNvPr id="65" name="직선 연결선 64"/>
          <p:cNvCxnSpPr>
            <a:stCxn id="59" idx="2"/>
            <a:endCxn id="50" idx="4"/>
          </p:cNvCxnSpPr>
          <p:nvPr/>
        </p:nvCxnSpPr>
        <p:spPr>
          <a:xfrm>
            <a:off x="1253618" y="4451775"/>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TextBox 72"/>
          <p:cNvSpPr txBox="1"/>
          <p:nvPr/>
        </p:nvSpPr>
        <p:spPr>
          <a:xfrm>
            <a:off x="2425700" y="3990110"/>
            <a:ext cx="2082800"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甲</a:t>
            </a:r>
            <a:r>
              <a:rPr lang="en-US" altLang="ko-KR" sz="1400" dirty="0"/>
              <a:t>, </a:t>
            </a:r>
            <a:r>
              <a:rPr lang="ko-KR" altLang="en-US" sz="1400" dirty="0"/>
              <a:t>乙 적극적권리범위</a:t>
            </a:r>
            <a:endParaRPr lang="en-US" altLang="ko-KR" sz="1400" dirty="0"/>
          </a:p>
          <a:p>
            <a:pPr algn="ctr"/>
            <a:r>
              <a:rPr lang="ko-KR" altLang="en-US" sz="1400" dirty="0"/>
              <a:t>확인심판청구</a:t>
            </a:r>
            <a:r>
              <a:rPr lang="en-US" altLang="ko-KR" sz="1400" dirty="0"/>
              <a:t>(</a:t>
            </a:r>
            <a:r>
              <a:rPr lang="ko-KR" altLang="en-US" sz="1400" dirty="0"/>
              <a:t>丙 피청구인</a:t>
            </a:r>
            <a:r>
              <a:rPr lang="en-US" altLang="ko-KR" sz="1400" dirty="0"/>
              <a:t>)</a:t>
            </a:r>
            <a:endParaRPr lang="ko-KR" altLang="en-US" sz="1400" dirty="0"/>
          </a:p>
        </p:txBody>
      </p:sp>
      <p:cxnSp>
        <p:nvCxnSpPr>
          <p:cNvPr id="74" name="직선 연결선 73"/>
          <p:cNvCxnSpPr>
            <a:stCxn id="73" idx="2"/>
          </p:cNvCxnSpPr>
          <p:nvPr/>
        </p:nvCxnSpPr>
        <p:spPr>
          <a:xfrm>
            <a:off x="3467100" y="4451775"/>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5" name="직선 연결선 74"/>
          <p:cNvCxnSpPr/>
          <p:nvPr/>
        </p:nvCxnSpPr>
        <p:spPr>
          <a:xfrm>
            <a:off x="485775" y="6323790"/>
            <a:ext cx="48863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6" name="Rectangle 14"/>
          <p:cNvSpPr>
            <a:spLocks noChangeArrowheads="1"/>
          </p:cNvSpPr>
          <p:nvPr/>
        </p:nvSpPr>
        <p:spPr bwMode="auto">
          <a:xfrm flipV="1">
            <a:off x="1524456" y="624725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78" name="직선 연결선 77"/>
          <p:cNvCxnSpPr>
            <a:endCxn id="76" idx="4"/>
          </p:cNvCxnSpPr>
          <p:nvPr/>
        </p:nvCxnSpPr>
        <p:spPr>
          <a:xfrm>
            <a:off x="1592983" y="6002056"/>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0" name="TextBox 79"/>
          <p:cNvSpPr txBox="1"/>
          <p:nvPr/>
        </p:nvSpPr>
        <p:spPr>
          <a:xfrm>
            <a:off x="469901" y="5540391"/>
            <a:ext cx="2295164"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甲 적극적권리범위</a:t>
            </a:r>
            <a:endParaRPr lang="en-US" altLang="ko-KR" sz="1400" dirty="0"/>
          </a:p>
          <a:p>
            <a:pPr algn="ctr"/>
            <a:r>
              <a:rPr lang="ko-KR" altLang="en-US" sz="1400" dirty="0"/>
              <a:t>확인심판청구</a:t>
            </a:r>
            <a:r>
              <a:rPr lang="en-US" altLang="ko-KR" sz="1400" dirty="0"/>
              <a:t> (</a:t>
            </a:r>
            <a:r>
              <a:rPr lang="ko-KR" altLang="en-US" sz="1400" dirty="0"/>
              <a:t>丙 피청구인</a:t>
            </a:r>
            <a:r>
              <a:rPr lang="en-US" altLang="ko-KR" sz="1400" dirty="0"/>
              <a:t>)</a:t>
            </a:r>
            <a:endParaRPr lang="ko-KR" altLang="en-US" sz="1400" dirty="0"/>
          </a:p>
        </p:txBody>
      </p:sp>
      <p:sp>
        <p:nvSpPr>
          <p:cNvPr id="82" name="Rectangle 14"/>
          <p:cNvSpPr>
            <a:spLocks noChangeArrowheads="1"/>
          </p:cNvSpPr>
          <p:nvPr/>
        </p:nvSpPr>
        <p:spPr bwMode="auto">
          <a:xfrm flipV="1">
            <a:off x="3400180" y="4696978"/>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3" name="Rectangle 14"/>
          <p:cNvSpPr>
            <a:spLocks noChangeArrowheads="1"/>
          </p:cNvSpPr>
          <p:nvPr/>
        </p:nvSpPr>
        <p:spPr bwMode="auto">
          <a:xfrm flipV="1">
            <a:off x="4063565" y="624725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84" name="직선 연결선 83"/>
          <p:cNvCxnSpPr>
            <a:endCxn id="83" idx="4"/>
          </p:cNvCxnSpPr>
          <p:nvPr/>
        </p:nvCxnSpPr>
        <p:spPr>
          <a:xfrm>
            <a:off x="4132092" y="6002056"/>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2987040" y="5540391"/>
            <a:ext cx="2339104" cy="461665"/>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400" dirty="0"/>
              <a:t>乙의 동의가 있는 경우에 甲이 乙을 추가하는 </a:t>
            </a:r>
            <a:r>
              <a:rPr lang="ko-KR" altLang="en-US" sz="1400" dirty="0" err="1"/>
              <a:t>보정가능</a:t>
            </a:r>
            <a:endParaRPr lang="ko-KR" altLang="en-US" sz="1400" dirty="0"/>
          </a:p>
        </p:txBody>
      </p:sp>
      <p:cxnSp>
        <p:nvCxnSpPr>
          <p:cNvPr id="86" name="직선 연결선 85"/>
          <p:cNvCxnSpPr/>
          <p:nvPr/>
        </p:nvCxnSpPr>
        <p:spPr>
          <a:xfrm>
            <a:off x="6076950" y="3775795"/>
            <a:ext cx="0" cy="286410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직선 연결선 86"/>
          <p:cNvCxnSpPr/>
          <p:nvPr/>
        </p:nvCxnSpPr>
        <p:spPr>
          <a:xfrm>
            <a:off x="6647633" y="4773509"/>
            <a:ext cx="48863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8" name="Rectangle 14"/>
          <p:cNvSpPr>
            <a:spLocks noChangeArrowheads="1"/>
          </p:cNvSpPr>
          <p:nvPr/>
        </p:nvSpPr>
        <p:spPr bwMode="auto">
          <a:xfrm flipV="1">
            <a:off x="7346949" y="4696978"/>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9" name="TextBox 88"/>
          <p:cNvSpPr txBox="1"/>
          <p:nvPr/>
        </p:nvSpPr>
        <p:spPr>
          <a:xfrm>
            <a:off x="6637094" y="3990110"/>
            <a:ext cx="1556764" cy="461665"/>
          </a:xfrm>
          <a:prstGeom prst="rect">
            <a:avLst/>
          </a:prstGeom>
          <a:solidFill>
            <a:schemeClr val="accent3">
              <a:lumMod val="40000"/>
              <a:lumOff val="60000"/>
            </a:schemeClr>
          </a:solidFill>
          <a:ln>
            <a:solidFill>
              <a:schemeClr val="bg1">
                <a:lumMod val="50000"/>
              </a:schemeClr>
            </a:solidFill>
          </a:ln>
        </p:spPr>
        <p:txBody>
          <a:bodyPr wrap="square" rtlCol="0" anchor="ctr">
            <a:noAutofit/>
          </a:bodyPr>
          <a:lstStyle/>
          <a:p>
            <a:pPr algn="ctr"/>
            <a:r>
              <a:rPr lang="ko-KR" altLang="en-US" sz="1400" dirty="0"/>
              <a:t>甲</a:t>
            </a:r>
            <a:r>
              <a:rPr lang="en-US" altLang="ko-KR" sz="1400" dirty="0"/>
              <a:t>, </a:t>
            </a:r>
            <a:r>
              <a:rPr lang="ko-KR" altLang="en-US" sz="1400" dirty="0"/>
              <a:t>乙 사전합의</a:t>
            </a:r>
            <a:endParaRPr lang="en-US" altLang="ko-KR" sz="1400" dirty="0"/>
          </a:p>
          <a:p>
            <a:pPr algn="ctr"/>
            <a:r>
              <a:rPr lang="ko-KR" altLang="en-US" sz="1400" dirty="0"/>
              <a:t>不要</a:t>
            </a:r>
          </a:p>
        </p:txBody>
      </p:sp>
      <p:cxnSp>
        <p:nvCxnSpPr>
          <p:cNvPr id="90" name="직선 연결선 89"/>
          <p:cNvCxnSpPr>
            <a:stCxn id="89" idx="2"/>
            <a:endCxn id="88" idx="4"/>
          </p:cNvCxnSpPr>
          <p:nvPr/>
        </p:nvCxnSpPr>
        <p:spPr>
          <a:xfrm>
            <a:off x="7415476" y="4451775"/>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1" name="TextBox 90"/>
          <p:cNvSpPr txBox="1"/>
          <p:nvPr/>
        </p:nvSpPr>
        <p:spPr>
          <a:xfrm>
            <a:off x="8431982" y="3990110"/>
            <a:ext cx="2393952"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丙 소극적권리범위</a:t>
            </a:r>
            <a:endParaRPr lang="en-US" altLang="ko-KR" sz="1400" dirty="0"/>
          </a:p>
          <a:p>
            <a:pPr algn="ctr"/>
            <a:r>
              <a:rPr lang="ko-KR" altLang="en-US" sz="1400" dirty="0"/>
              <a:t>확인심판청구</a:t>
            </a:r>
            <a:r>
              <a:rPr lang="en-US" altLang="ko-KR" sz="1400" dirty="0"/>
              <a:t>(</a:t>
            </a:r>
            <a:r>
              <a:rPr lang="ko-KR" altLang="en-US" sz="1400" dirty="0"/>
              <a:t>甲</a:t>
            </a:r>
            <a:r>
              <a:rPr lang="en-US" altLang="ko-KR" sz="1400" dirty="0"/>
              <a:t>, </a:t>
            </a:r>
            <a:r>
              <a:rPr lang="ko-KR" altLang="en-US" sz="1400" dirty="0"/>
              <a:t>乙 피청구인</a:t>
            </a:r>
            <a:r>
              <a:rPr lang="en-US" altLang="ko-KR" sz="1400" dirty="0"/>
              <a:t>)</a:t>
            </a:r>
            <a:endParaRPr lang="ko-KR" altLang="en-US" sz="1400" dirty="0"/>
          </a:p>
        </p:txBody>
      </p:sp>
      <p:cxnSp>
        <p:nvCxnSpPr>
          <p:cNvPr id="92" name="직선 연결선 91"/>
          <p:cNvCxnSpPr>
            <a:stCxn id="91" idx="2"/>
          </p:cNvCxnSpPr>
          <p:nvPr/>
        </p:nvCxnSpPr>
        <p:spPr>
          <a:xfrm>
            <a:off x="9628958" y="4451775"/>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Rectangle 14"/>
          <p:cNvSpPr>
            <a:spLocks noChangeArrowheads="1"/>
          </p:cNvSpPr>
          <p:nvPr/>
        </p:nvSpPr>
        <p:spPr bwMode="auto">
          <a:xfrm flipV="1">
            <a:off x="9562038" y="4696978"/>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94" name="직선 연결선 93"/>
          <p:cNvCxnSpPr/>
          <p:nvPr/>
        </p:nvCxnSpPr>
        <p:spPr>
          <a:xfrm>
            <a:off x="6659196" y="6323790"/>
            <a:ext cx="48863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5" name="Rectangle 14"/>
          <p:cNvSpPr>
            <a:spLocks noChangeArrowheads="1"/>
          </p:cNvSpPr>
          <p:nvPr/>
        </p:nvSpPr>
        <p:spPr bwMode="auto">
          <a:xfrm flipV="1">
            <a:off x="7697877" y="624725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96" name="직선 연결선 95"/>
          <p:cNvCxnSpPr>
            <a:endCxn id="95" idx="4"/>
          </p:cNvCxnSpPr>
          <p:nvPr/>
        </p:nvCxnSpPr>
        <p:spPr>
          <a:xfrm>
            <a:off x="7766404" y="6002056"/>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TextBox 96"/>
          <p:cNvSpPr txBox="1"/>
          <p:nvPr/>
        </p:nvSpPr>
        <p:spPr>
          <a:xfrm>
            <a:off x="6643322" y="5540391"/>
            <a:ext cx="2295164"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丙 소극적권리범위</a:t>
            </a:r>
            <a:endParaRPr lang="en-US" altLang="ko-KR" sz="1400" dirty="0"/>
          </a:p>
          <a:p>
            <a:pPr algn="ctr"/>
            <a:r>
              <a:rPr lang="ko-KR" altLang="en-US" sz="1400" dirty="0"/>
              <a:t>확인심판청구</a:t>
            </a:r>
            <a:r>
              <a:rPr lang="en-US" altLang="ko-KR" sz="1400" dirty="0"/>
              <a:t> (</a:t>
            </a:r>
            <a:r>
              <a:rPr lang="ko-KR" altLang="en-US" sz="1400" dirty="0"/>
              <a:t>甲 피청구인</a:t>
            </a:r>
            <a:r>
              <a:rPr lang="en-US" altLang="ko-KR" sz="1400" dirty="0"/>
              <a:t>)</a:t>
            </a:r>
            <a:endParaRPr lang="ko-KR" altLang="en-US" sz="1400" dirty="0"/>
          </a:p>
        </p:txBody>
      </p:sp>
      <p:sp>
        <p:nvSpPr>
          <p:cNvPr id="98" name="Rectangle 14"/>
          <p:cNvSpPr>
            <a:spLocks noChangeArrowheads="1"/>
          </p:cNvSpPr>
          <p:nvPr/>
        </p:nvSpPr>
        <p:spPr bwMode="auto">
          <a:xfrm flipV="1">
            <a:off x="10236986" y="624725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99" name="직선 연결선 98"/>
          <p:cNvCxnSpPr>
            <a:endCxn id="98" idx="4"/>
          </p:cNvCxnSpPr>
          <p:nvPr/>
        </p:nvCxnSpPr>
        <p:spPr>
          <a:xfrm>
            <a:off x="10305513" y="6002056"/>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0" name="TextBox 99"/>
          <p:cNvSpPr txBox="1"/>
          <p:nvPr/>
        </p:nvSpPr>
        <p:spPr>
          <a:xfrm>
            <a:off x="9160461" y="5540391"/>
            <a:ext cx="2339104" cy="461665"/>
          </a:xfrm>
          <a:prstGeom prst="rect">
            <a:avLst/>
          </a:prstGeom>
          <a:solidFill>
            <a:schemeClr val="accent3">
              <a:lumMod val="40000"/>
              <a:lumOff val="60000"/>
            </a:schemeClr>
          </a:solidFill>
          <a:ln>
            <a:solidFill>
              <a:schemeClr val="bg1">
                <a:lumMod val="50000"/>
              </a:schemeClr>
            </a:solidFill>
          </a:ln>
        </p:spPr>
        <p:txBody>
          <a:bodyPr wrap="square" rtlCol="0" anchor="ctr">
            <a:noAutofit/>
          </a:bodyPr>
          <a:lstStyle/>
          <a:p>
            <a:pPr algn="ctr"/>
            <a:r>
              <a:rPr lang="ko-KR" altLang="en-US" sz="1400" dirty="0"/>
              <a:t>乙의 동의없이 丙이 乙을 추가하는 </a:t>
            </a:r>
            <a:r>
              <a:rPr lang="ko-KR" altLang="en-US" sz="1400" dirty="0" err="1"/>
              <a:t>보정가능</a:t>
            </a:r>
            <a:endParaRPr lang="ko-KR" altLang="en-US" sz="1400" dirty="0"/>
          </a:p>
        </p:txBody>
      </p:sp>
      <p:sp>
        <p:nvSpPr>
          <p:cNvPr id="7" name="슬라이드 번호 개체 틀 6"/>
          <p:cNvSpPr>
            <a:spLocks noGrp="1"/>
          </p:cNvSpPr>
          <p:nvPr>
            <p:ph type="sldNum" sz="quarter" idx="4294967295"/>
          </p:nvPr>
        </p:nvSpPr>
        <p:spPr>
          <a:xfrm>
            <a:off x="11125200" y="0"/>
            <a:ext cx="1066800" cy="711200"/>
          </a:xfrm>
        </p:spPr>
        <p:txBody>
          <a:bodyPr/>
          <a:lstStyle/>
          <a:p>
            <a:r>
              <a:rPr lang="en-US" altLang="ko-KR"/>
              <a:t>442</a:t>
            </a:r>
            <a:endParaRPr lang="ko-KR" altLang="en-US" dirty="0"/>
          </a:p>
        </p:txBody>
      </p:sp>
    </p:spTree>
    <p:extLst>
      <p:ext uri="{BB962C8B-B14F-4D97-AF65-F5344CB8AC3E}">
        <p14:creationId xmlns:p14="http://schemas.microsoft.com/office/powerpoint/2010/main" val="75439133"/>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z="2000" dirty="0"/>
              <a:t>제</a:t>
            </a:r>
            <a:r>
              <a:rPr lang="en-US" altLang="ko-KR" sz="2000" dirty="0"/>
              <a:t>140</a:t>
            </a:r>
            <a:r>
              <a:rPr lang="ko-KR" altLang="en-US" sz="2000" dirty="0"/>
              <a:t>조</a:t>
            </a:r>
            <a:r>
              <a:rPr lang="en-US" altLang="ko-KR" sz="2000" dirty="0"/>
              <a:t>, </a:t>
            </a:r>
            <a:r>
              <a:rPr lang="ko-KR" altLang="en-US" sz="2000" dirty="0"/>
              <a:t>제</a:t>
            </a:r>
            <a:r>
              <a:rPr lang="en-US" altLang="ko-KR" sz="2000" dirty="0"/>
              <a:t>140</a:t>
            </a:r>
            <a:r>
              <a:rPr lang="ko-KR" altLang="en-US" sz="2000" dirty="0"/>
              <a:t>조의</a:t>
            </a:r>
            <a:r>
              <a:rPr lang="en-US" altLang="ko-KR" sz="2000" dirty="0"/>
              <a:t>2</a:t>
            </a:r>
            <a:endParaRPr lang="ko-KR" altLang="en-US" sz="2000" dirty="0"/>
          </a:p>
        </p:txBody>
      </p:sp>
      <p:sp>
        <p:nvSpPr>
          <p:cNvPr id="3" name="텍스트 개체 틀 2"/>
          <p:cNvSpPr>
            <a:spLocks noGrp="1"/>
          </p:cNvSpPr>
          <p:nvPr>
            <p:ph type="body" sz="quarter" idx="13"/>
          </p:nvPr>
        </p:nvSpPr>
        <p:spPr/>
        <p:txBody>
          <a:bodyPr/>
          <a:lstStyle/>
          <a:p>
            <a:r>
              <a:rPr lang="ko-KR" altLang="en-US" dirty="0"/>
              <a:t>확인대상발명의 보정 </a:t>
            </a:r>
            <a:r>
              <a:rPr lang="en-US" altLang="ko-KR" dirty="0"/>
              <a:t>CASE</a:t>
            </a:r>
            <a:endParaRPr lang="ko-KR" altLang="en-US" dirty="0"/>
          </a:p>
        </p:txBody>
      </p:sp>
      <p:sp>
        <p:nvSpPr>
          <p:cNvPr id="80" name="TextBox 79"/>
          <p:cNvSpPr txBox="1"/>
          <p:nvPr/>
        </p:nvSpPr>
        <p:spPr>
          <a:xfrm>
            <a:off x="469901" y="1402950"/>
            <a:ext cx="2295164" cy="368240"/>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a:t>적극적 권리범위확인심판</a:t>
            </a:r>
            <a:endParaRPr lang="ko-KR" altLang="en-US" sz="1400" dirty="0"/>
          </a:p>
        </p:txBody>
      </p:sp>
      <p:sp>
        <p:nvSpPr>
          <p:cNvPr id="38" name="TextBox 37">
            <a:extLst>
              <a:ext uri="{FF2B5EF4-FFF2-40B4-BE49-F238E27FC236}">
                <a16:creationId xmlns:a16="http://schemas.microsoft.com/office/drawing/2014/main" id="{2A2BED3F-4861-42BC-AF12-783D38E017BB}"/>
              </a:ext>
            </a:extLst>
          </p:cNvPr>
          <p:cNvSpPr txBox="1"/>
          <p:nvPr/>
        </p:nvSpPr>
        <p:spPr>
          <a:xfrm>
            <a:off x="469901" y="2211990"/>
            <a:ext cx="2295164" cy="368240"/>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소극적 권리범위확인심판</a:t>
            </a:r>
          </a:p>
        </p:txBody>
      </p:sp>
      <p:sp>
        <p:nvSpPr>
          <p:cNvPr id="39" name="TextBox 38">
            <a:extLst>
              <a:ext uri="{FF2B5EF4-FFF2-40B4-BE49-F238E27FC236}">
                <a16:creationId xmlns:a16="http://schemas.microsoft.com/office/drawing/2014/main" id="{8FCC403A-F7EF-4512-86AA-A4E0E28ABB0B}"/>
              </a:ext>
            </a:extLst>
          </p:cNvPr>
          <p:cNvSpPr txBox="1"/>
          <p:nvPr/>
        </p:nvSpPr>
        <p:spPr>
          <a:xfrm>
            <a:off x="3085303" y="1166590"/>
            <a:ext cx="662834" cy="301430"/>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a:t>원칙</a:t>
            </a:r>
            <a:endParaRPr lang="ko-KR" altLang="en-US" sz="1400" dirty="0"/>
          </a:p>
        </p:txBody>
      </p:sp>
      <p:sp>
        <p:nvSpPr>
          <p:cNvPr id="40" name="TextBox 39">
            <a:extLst>
              <a:ext uri="{FF2B5EF4-FFF2-40B4-BE49-F238E27FC236}">
                <a16:creationId xmlns:a16="http://schemas.microsoft.com/office/drawing/2014/main" id="{88B63623-5473-467D-8924-1507EAA1BC26}"/>
              </a:ext>
            </a:extLst>
          </p:cNvPr>
          <p:cNvSpPr txBox="1"/>
          <p:nvPr/>
        </p:nvSpPr>
        <p:spPr>
          <a:xfrm>
            <a:off x="3938395" y="1166590"/>
            <a:ext cx="3204786" cy="301430"/>
          </a:xfrm>
          <a:prstGeom prst="rect">
            <a:avLst/>
          </a:prstGeom>
          <a:noFill/>
          <a:ln>
            <a:solidFill>
              <a:schemeClr val="bg1">
                <a:lumMod val="50000"/>
              </a:schemeClr>
            </a:solidFill>
          </a:ln>
        </p:spPr>
        <p:txBody>
          <a:bodyPr wrap="square" rtlCol="0" anchor="ctr">
            <a:noAutofit/>
          </a:bodyPr>
          <a:lstStyle/>
          <a:p>
            <a:r>
              <a:rPr lang="ko-KR" altLang="en-US" sz="1400" dirty="0"/>
              <a:t>요지변경이 되지 아니한  범위 내에서 가능</a:t>
            </a:r>
          </a:p>
        </p:txBody>
      </p:sp>
      <p:sp>
        <p:nvSpPr>
          <p:cNvPr id="41" name="TextBox 40">
            <a:extLst>
              <a:ext uri="{FF2B5EF4-FFF2-40B4-BE49-F238E27FC236}">
                <a16:creationId xmlns:a16="http://schemas.microsoft.com/office/drawing/2014/main" id="{0C3143C1-BB4A-472A-9EC1-9CAEA1343677}"/>
              </a:ext>
            </a:extLst>
          </p:cNvPr>
          <p:cNvSpPr txBox="1"/>
          <p:nvPr/>
        </p:nvSpPr>
        <p:spPr>
          <a:xfrm>
            <a:off x="3085303" y="1675254"/>
            <a:ext cx="662834" cy="301430"/>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예외</a:t>
            </a:r>
          </a:p>
        </p:txBody>
      </p:sp>
      <p:sp>
        <p:nvSpPr>
          <p:cNvPr id="42" name="TextBox 41">
            <a:extLst>
              <a:ext uri="{FF2B5EF4-FFF2-40B4-BE49-F238E27FC236}">
                <a16:creationId xmlns:a16="http://schemas.microsoft.com/office/drawing/2014/main" id="{23C34B6E-9E6E-4128-AE45-12E290767ADE}"/>
              </a:ext>
            </a:extLst>
          </p:cNvPr>
          <p:cNvSpPr txBox="1"/>
          <p:nvPr/>
        </p:nvSpPr>
        <p:spPr>
          <a:xfrm>
            <a:off x="3938395" y="1676620"/>
            <a:ext cx="3204786" cy="301430"/>
          </a:xfrm>
          <a:prstGeom prst="rect">
            <a:avLst/>
          </a:prstGeom>
          <a:noFill/>
          <a:ln>
            <a:solidFill>
              <a:schemeClr val="bg1">
                <a:lumMod val="50000"/>
              </a:schemeClr>
            </a:solidFill>
          </a:ln>
        </p:spPr>
        <p:txBody>
          <a:bodyPr wrap="square" rtlCol="0" anchor="ctr">
            <a:noAutofit/>
          </a:bodyPr>
          <a:lstStyle/>
          <a:p>
            <a:r>
              <a:rPr lang="ko-KR" altLang="en-US" sz="1400" dirty="0"/>
              <a:t>실시주장발명과 일치시키기 위한 보정</a:t>
            </a:r>
          </a:p>
        </p:txBody>
      </p:sp>
      <p:sp>
        <p:nvSpPr>
          <p:cNvPr id="43" name="TextBox 42">
            <a:extLst>
              <a:ext uri="{FF2B5EF4-FFF2-40B4-BE49-F238E27FC236}">
                <a16:creationId xmlns:a16="http://schemas.microsoft.com/office/drawing/2014/main" id="{84B71E35-63CA-47DC-8018-D93A109C0EAA}"/>
              </a:ext>
            </a:extLst>
          </p:cNvPr>
          <p:cNvSpPr txBox="1"/>
          <p:nvPr/>
        </p:nvSpPr>
        <p:spPr>
          <a:xfrm>
            <a:off x="3938395" y="2252485"/>
            <a:ext cx="3204786" cy="301430"/>
          </a:xfrm>
          <a:prstGeom prst="rect">
            <a:avLst/>
          </a:prstGeom>
          <a:noFill/>
          <a:ln>
            <a:solidFill>
              <a:schemeClr val="bg1">
                <a:lumMod val="50000"/>
              </a:schemeClr>
            </a:solidFill>
          </a:ln>
        </p:spPr>
        <p:txBody>
          <a:bodyPr wrap="square" rtlCol="0" anchor="ctr">
            <a:noAutofit/>
          </a:bodyPr>
          <a:lstStyle/>
          <a:p>
            <a:r>
              <a:rPr lang="ko-KR" altLang="en-US" sz="1400" dirty="0"/>
              <a:t>요지변경이 되지 아니한  범위 내에서 가능</a:t>
            </a:r>
          </a:p>
        </p:txBody>
      </p:sp>
      <p:cxnSp>
        <p:nvCxnSpPr>
          <p:cNvPr id="9" name="연결선: 꺾임 8">
            <a:extLst>
              <a:ext uri="{FF2B5EF4-FFF2-40B4-BE49-F238E27FC236}">
                <a16:creationId xmlns:a16="http://schemas.microsoft.com/office/drawing/2014/main" id="{A78EAE65-59BE-4E20-A024-DA57EB262592}"/>
              </a:ext>
            </a:extLst>
          </p:cNvPr>
          <p:cNvCxnSpPr>
            <a:stCxn id="80" idx="3"/>
            <a:endCxn id="39" idx="1"/>
          </p:cNvCxnSpPr>
          <p:nvPr/>
        </p:nvCxnSpPr>
        <p:spPr>
          <a:xfrm flipV="1">
            <a:off x="2765065" y="1317305"/>
            <a:ext cx="320238" cy="26976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연결선: 꺾임 10">
            <a:extLst>
              <a:ext uri="{FF2B5EF4-FFF2-40B4-BE49-F238E27FC236}">
                <a16:creationId xmlns:a16="http://schemas.microsoft.com/office/drawing/2014/main" id="{967A1DF1-4DCE-4CE7-BDB0-27B33D5A467C}"/>
              </a:ext>
            </a:extLst>
          </p:cNvPr>
          <p:cNvCxnSpPr>
            <a:stCxn id="80" idx="3"/>
            <a:endCxn id="41" idx="1"/>
          </p:cNvCxnSpPr>
          <p:nvPr/>
        </p:nvCxnSpPr>
        <p:spPr>
          <a:xfrm>
            <a:off x="2765065" y="1587070"/>
            <a:ext cx="320238" cy="23889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직선 연결선 12">
            <a:extLst>
              <a:ext uri="{FF2B5EF4-FFF2-40B4-BE49-F238E27FC236}">
                <a16:creationId xmlns:a16="http://schemas.microsoft.com/office/drawing/2014/main" id="{AD348DF9-5056-404F-BC36-0F7D2FDF34F6}"/>
              </a:ext>
            </a:extLst>
          </p:cNvPr>
          <p:cNvCxnSpPr>
            <a:stCxn id="38" idx="3"/>
            <a:endCxn id="43" idx="1"/>
          </p:cNvCxnSpPr>
          <p:nvPr/>
        </p:nvCxnSpPr>
        <p:spPr>
          <a:xfrm>
            <a:off x="2765065" y="2396110"/>
            <a:ext cx="1173330" cy="709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직선 연결선 14">
            <a:extLst>
              <a:ext uri="{FF2B5EF4-FFF2-40B4-BE49-F238E27FC236}">
                <a16:creationId xmlns:a16="http://schemas.microsoft.com/office/drawing/2014/main" id="{DD789E96-CDDF-4FE8-B429-502EB3E995EA}"/>
              </a:ext>
            </a:extLst>
          </p:cNvPr>
          <p:cNvCxnSpPr>
            <a:stCxn id="39" idx="3"/>
            <a:endCxn id="40" idx="1"/>
          </p:cNvCxnSpPr>
          <p:nvPr/>
        </p:nvCxnSpPr>
        <p:spPr>
          <a:xfrm>
            <a:off x="3748137" y="1317305"/>
            <a:ext cx="190258"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52E0BAC8-CE7D-4703-8D19-2C46BBAE20ED}"/>
              </a:ext>
            </a:extLst>
          </p:cNvPr>
          <p:cNvCxnSpPr>
            <a:stCxn id="41" idx="3"/>
            <a:endCxn id="42" idx="1"/>
          </p:cNvCxnSpPr>
          <p:nvPr/>
        </p:nvCxnSpPr>
        <p:spPr>
          <a:xfrm>
            <a:off x="3748137" y="1825969"/>
            <a:ext cx="190258" cy="136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6E1193FF-BCE4-400A-A29E-26EC292DDE4E}"/>
              </a:ext>
            </a:extLst>
          </p:cNvPr>
          <p:cNvSpPr txBox="1"/>
          <p:nvPr/>
        </p:nvSpPr>
        <p:spPr>
          <a:xfrm>
            <a:off x="930149" y="3220457"/>
            <a:ext cx="662834" cy="301430"/>
          </a:xfrm>
          <a:prstGeom prst="rect">
            <a:avLst/>
          </a:prstGeom>
          <a:solidFill>
            <a:schemeClr val="accent1">
              <a:lumMod val="50000"/>
            </a:schemeClr>
          </a:solidFill>
          <a:ln>
            <a:solidFill>
              <a:schemeClr val="bg1">
                <a:lumMod val="50000"/>
              </a:schemeClr>
            </a:solidFill>
          </a:ln>
        </p:spPr>
        <p:txBody>
          <a:bodyPr wrap="square" rtlCol="0" anchor="ctr">
            <a:noAutofit/>
          </a:bodyPr>
          <a:lstStyle/>
          <a:p>
            <a:pPr algn="ctr"/>
            <a:r>
              <a:rPr lang="ko-KR" altLang="en-US" sz="1400" dirty="0">
                <a:solidFill>
                  <a:schemeClr val="bg1"/>
                </a:solidFill>
              </a:rPr>
              <a:t>판단</a:t>
            </a:r>
          </a:p>
        </p:txBody>
      </p:sp>
      <p:cxnSp>
        <p:nvCxnSpPr>
          <p:cNvPr id="23" name="연결선: 꺾임 22">
            <a:extLst>
              <a:ext uri="{FF2B5EF4-FFF2-40B4-BE49-F238E27FC236}">
                <a16:creationId xmlns:a16="http://schemas.microsoft.com/office/drawing/2014/main" id="{40F323A3-1C60-4C50-8322-30C27929A8E8}"/>
              </a:ext>
            </a:extLst>
          </p:cNvPr>
          <p:cNvCxnSpPr>
            <a:stCxn id="40" idx="3"/>
            <a:endCxn id="58" idx="0"/>
          </p:cNvCxnSpPr>
          <p:nvPr/>
        </p:nvCxnSpPr>
        <p:spPr>
          <a:xfrm flipH="1">
            <a:off x="1261566" y="1317305"/>
            <a:ext cx="5881615" cy="1903152"/>
          </a:xfrm>
          <a:prstGeom prst="bentConnector4">
            <a:avLst>
              <a:gd name="adj1" fmla="val -3887"/>
              <a:gd name="adj2" fmla="val 82027"/>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연결선: 꺾임 25">
            <a:extLst>
              <a:ext uri="{FF2B5EF4-FFF2-40B4-BE49-F238E27FC236}">
                <a16:creationId xmlns:a16="http://schemas.microsoft.com/office/drawing/2014/main" id="{571EF72B-EF53-4224-B076-AE87B2B81084}"/>
              </a:ext>
            </a:extLst>
          </p:cNvPr>
          <p:cNvCxnSpPr>
            <a:stCxn id="43" idx="3"/>
            <a:endCxn id="58" idx="0"/>
          </p:cNvCxnSpPr>
          <p:nvPr/>
        </p:nvCxnSpPr>
        <p:spPr>
          <a:xfrm flipH="1">
            <a:off x="1261566" y="2403200"/>
            <a:ext cx="5881615" cy="817257"/>
          </a:xfrm>
          <a:prstGeom prst="bentConnector4">
            <a:avLst>
              <a:gd name="adj1" fmla="val -3887"/>
              <a:gd name="adj2" fmla="val 5922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00061727-10E9-4474-AF10-71C20696FD9A}"/>
              </a:ext>
            </a:extLst>
          </p:cNvPr>
          <p:cNvSpPr/>
          <p:nvPr/>
        </p:nvSpPr>
        <p:spPr>
          <a:xfrm>
            <a:off x="316871" y="3521887"/>
            <a:ext cx="11588436" cy="2893100"/>
          </a:xfrm>
          <a:prstGeom prst="rect">
            <a:avLst/>
          </a:prstGeom>
          <a:ln>
            <a:solidFill>
              <a:schemeClr val="bg1">
                <a:lumMod val="50000"/>
              </a:schemeClr>
            </a:solidFill>
          </a:ln>
        </p:spPr>
        <p:txBody>
          <a:bodyPr wrap="square">
            <a:spAutoFit/>
          </a:bodyPr>
          <a:lstStyle/>
          <a:p>
            <a:pPr algn="just"/>
            <a:r>
              <a:rPr lang="ko-KR" altLang="en-US" sz="1400" dirty="0"/>
              <a:t>확인대상발명의 보정은 </a:t>
            </a:r>
            <a:r>
              <a:rPr lang="ko-KR" altLang="en-US" sz="1400" dirty="0">
                <a:highlight>
                  <a:srgbClr val="FFFF00"/>
                </a:highlight>
              </a:rPr>
              <a:t>심판절차의 지연을 초래하거나 피청구인의 </a:t>
            </a:r>
            <a:r>
              <a:rPr lang="ko-KR" altLang="en-US" sz="1400" dirty="0" err="1">
                <a:highlight>
                  <a:srgbClr val="FFFF00"/>
                </a:highlight>
              </a:rPr>
              <a:t>방어권행사를</a:t>
            </a:r>
            <a:r>
              <a:rPr lang="ko-KR" altLang="en-US" sz="1400" dirty="0">
                <a:highlight>
                  <a:srgbClr val="FFFF00"/>
                </a:highlight>
              </a:rPr>
              <a:t> 곤란케 할 염려가 없는 </a:t>
            </a:r>
            <a:r>
              <a:rPr lang="ko-KR" altLang="en-US" sz="1400" dirty="0"/>
              <a:t>경우로서 </a:t>
            </a:r>
            <a:r>
              <a:rPr lang="en-US" altLang="ko-KR" sz="1400" dirty="0">
                <a:solidFill>
                  <a:srgbClr val="FF0000"/>
                </a:solidFill>
              </a:rPr>
              <a:t>ⅰ) </a:t>
            </a:r>
            <a:r>
              <a:rPr lang="ko-KR" altLang="en-US" sz="1400" dirty="0">
                <a:solidFill>
                  <a:srgbClr val="FF0000"/>
                </a:solidFill>
              </a:rPr>
              <a:t>심판청구서에 첨부된 확인대상발명의 불명확한 부분을 구체화</a:t>
            </a:r>
            <a:r>
              <a:rPr lang="ko-KR" altLang="en-US" sz="1400" dirty="0"/>
              <a:t>하는 것이거나</a:t>
            </a:r>
            <a:r>
              <a:rPr lang="en-US" altLang="ko-KR" sz="1400" dirty="0"/>
              <a:t>, </a:t>
            </a:r>
            <a:r>
              <a:rPr lang="en-US" altLang="ko-KR" sz="1400" dirty="0">
                <a:solidFill>
                  <a:srgbClr val="FF0000"/>
                </a:solidFill>
              </a:rPr>
              <a:t>ⅱ) </a:t>
            </a:r>
            <a:r>
              <a:rPr lang="ko-KR" altLang="en-US" sz="1400" dirty="0">
                <a:solidFill>
                  <a:srgbClr val="FF0000"/>
                </a:solidFill>
              </a:rPr>
              <a:t>처음부터 당연히 있어야 할 구성부분을 부가한 것에 지나지 아니하여 </a:t>
            </a:r>
            <a:r>
              <a:rPr lang="ko-KR" altLang="en-US" sz="1400" dirty="0"/>
              <a:t>심판청구의 전체적인 취지에 비추어 볼 때 그 발명의 동일성이 유지되는 것이라면 요지변경에 해당되지 아니한다</a:t>
            </a:r>
            <a:r>
              <a:rPr lang="en-US" altLang="ko-KR" sz="1400" dirty="0"/>
              <a:t>. </a:t>
            </a:r>
            <a:r>
              <a:rPr lang="ko-KR" altLang="en-US" sz="1400" dirty="0"/>
              <a:t>확인대상발명의 보정의 한계를 정하는 기능을 하는 “동일성” 개념은 심판절차의 지연을 초래하거나 피청구인의 </a:t>
            </a:r>
            <a:r>
              <a:rPr lang="ko-KR" altLang="en-US" sz="1400" dirty="0" err="1"/>
              <a:t>방어권</a:t>
            </a:r>
            <a:r>
              <a:rPr lang="ko-KR" altLang="en-US" sz="1400" dirty="0"/>
              <a:t> 행사를 곤란케 할 염려가 있는가라고 하는 견지에서 파악되는 것으로서</a:t>
            </a:r>
            <a:r>
              <a:rPr lang="en-US" altLang="ko-KR" sz="1400" dirty="0"/>
              <a:t>, </a:t>
            </a:r>
            <a:r>
              <a:rPr lang="ko-KR" altLang="en-US" sz="1400" dirty="0"/>
              <a:t>신규성</a:t>
            </a:r>
            <a:r>
              <a:rPr lang="en-US" altLang="ko-KR" sz="1400" dirty="0"/>
              <a:t>, </a:t>
            </a:r>
            <a:r>
              <a:rPr lang="ko-KR" altLang="en-US" sz="1400" dirty="0"/>
              <a:t>선출원주의 등의 특허요건에서의 개념과는 그 고찰의 근거가 다르다</a:t>
            </a:r>
            <a:r>
              <a:rPr lang="en-US" altLang="ko-KR" sz="1400" dirty="0"/>
              <a:t>. </a:t>
            </a:r>
            <a:r>
              <a:rPr lang="ko-KR" altLang="en-US" sz="1400" dirty="0"/>
              <a:t>예를 들어</a:t>
            </a:r>
            <a:r>
              <a:rPr lang="en-US" altLang="ko-KR" sz="1400" dirty="0"/>
              <a:t>, </a:t>
            </a:r>
            <a:r>
              <a:rPr lang="ko-KR" altLang="en-US" sz="1400" dirty="0"/>
              <a:t>권리범위확인심판에서 심판청구서의 </a:t>
            </a:r>
            <a:r>
              <a:rPr lang="ko-KR" altLang="en-US" sz="1400" dirty="0" err="1"/>
              <a:t>설명란에</a:t>
            </a:r>
            <a:r>
              <a:rPr lang="ko-KR" altLang="en-US" sz="1400" dirty="0"/>
              <a:t> 확인대상발명의 작동에 중요한 부분을 이루는 구성에 관한 기재가 생략되었거나 확인대상발명과 대비되는 특허발명의 청구범위에 기재되어 있는 구성요소에 상응하는 구성에 대한 발명의 설명이 없었음에도</a:t>
            </a:r>
            <a:r>
              <a:rPr lang="en-US" altLang="ko-KR" sz="1400" dirty="0"/>
              <a:t>, </a:t>
            </a:r>
            <a:r>
              <a:rPr lang="ko-KR" altLang="en-US" sz="1400" dirty="0"/>
              <a:t>이러한 구성에 관한 기재를 추가하거나 변경하는 보정은</a:t>
            </a:r>
            <a:r>
              <a:rPr lang="en-US" altLang="ko-KR" sz="1400" dirty="0"/>
              <a:t>, </a:t>
            </a:r>
            <a:r>
              <a:rPr lang="ko-KR" altLang="en-US" sz="1400" dirty="0"/>
              <a:t>설사 특허요건에서의 발명의 동일성의 범위를 벗어나거나</a:t>
            </a:r>
            <a:r>
              <a:rPr lang="en-US" altLang="ko-KR" sz="1400" dirty="0"/>
              <a:t>, </a:t>
            </a:r>
            <a:r>
              <a:rPr lang="ko-KR" altLang="en-US" sz="1400" dirty="0"/>
              <a:t>보정이나 정정요건에서의 신규사항을 추가하는 것이라고 하더라도</a:t>
            </a:r>
            <a:r>
              <a:rPr lang="en-US" altLang="ko-KR" sz="1400" dirty="0"/>
              <a:t>, </a:t>
            </a:r>
            <a:r>
              <a:rPr lang="ko-KR" altLang="en-US" sz="1400" dirty="0"/>
              <a:t>심판절차의 지연을 초래하거나 피청구인의 </a:t>
            </a:r>
            <a:r>
              <a:rPr lang="ko-KR" altLang="en-US" sz="1400" dirty="0" err="1"/>
              <a:t>방어권</a:t>
            </a:r>
            <a:r>
              <a:rPr lang="ko-KR" altLang="en-US" sz="1400" dirty="0"/>
              <a:t> 행사를 곤란케 할 염려가 없는 경우에는 심판청구서에 첨부된 도면 및 설명서에 표현된 구조의 불명확한 부분을 구체화하는 것 또는 처음부터 당연히 있어야 할 구성부분을 부가한 것에 지나지 아니하여 심판청구의 전체적인 취지에 비추어 볼 때 그 발명의 동일성이 유지되는 것으로서 요지변경에 해당되지 아니한다고 할 것이다</a:t>
            </a:r>
            <a:r>
              <a:rPr lang="en-US" altLang="ko-KR" sz="1400" dirty="0"/>
              <a:t>(</a:t>
            </a:r>
            <a:r>
              <a:rPr lang="ko-KR" altLang="en-US" sz="1400" dirty="0"/>
              <a:t>특허법원 </a:t>
            </a:r>
            <a:r>
              <a:rPr lang="en-US" altLang="ko-KR" sz="1400" dirty="0"/>
              <a:t>2007. 6. 1. </a:t>
            </a:r>
            <a:r>
              <a:rPr lang="ko-KR" altLang="en-US" sz="1400" dirty="0"/>
              <a:t>선고 </a:t>
            </a:r>
            <a:r>
              <a:rPr lang="en-US" altLang="ko-KR" sz="1400" dirty="0"/>
              <a:t>2006</a:t>
            </a:r>
            <a:r>
              <a:rPr lang="ko-KR" altLang="en-US" sz="1400" dirty="0"/>
              <a:t>허</a:t>
            </a:r>
            <a:r>
              <a:rPr lang="en-US" altLang="ko-KR" sz="1400" dirty="0"/>
              <a:t>010661). </a:t>
            </a:r>
            <a:r>
              <a:rPr lang="ko-KR" altLang="en-US" sz="1400" dirty="0">
                <a:highlight>
                  <a:srgbClr val="FFFF00"/>
                </a:highlight>
              </a:rPr>
              <a:t>결국</a:t>
            </a:r>
            <a:r>
              <a:rPr lang="en-US" altLang="ko-KR" sz="1400" dirty="0">
                <a:highlight>
                  <a:srgbClr val="FFFF00"/>
                </a:highlight>
              </a:rPr>
              <a:t>, </a:t>
            </a:r>
            <a:r>
              <a:rPr lang="ko-KR" altLang="en-US" sz="1400" dirty="0">
                <a:highlight>
                  <a:srgbClr val="FFFF00"/>
                </a:highlight>
              </a:rPr>
              <a:t>심판단계에서 확인대상발명의 보정이 이루어진 경우</a:t>
            </a:r>
            <a:r>
              <a:rPr lang="en-US" altLang="ko-KR" sz="1400" dirty="0">
                <a:highlight>
                  <a:srgbClr val="FFFF00"/>
                </a:highlight>
              </a:rPr>
              <a:t>, </a:t>
            </a:r>
            <a:r>
              <a:rPr lang="ko-KR" altLang="en-US" sz="1400" dirty="0">
                <a:highlight>
                  <a:srgbClr val="FFFF00"/>
                </a:highlight>
              </a:rPr>
              <a:t>그 보정이 요지의 변경에 </a:t>
            </a:r>
            <a:r>
              <a:rPr lang="ko-KR" altLang="en-US" sz="1400" dirty="0" err="1">
                <a:highlight>
                  <a:srgbClr val="FFFF00"/>
                </a:highlight>
              </a:rPr>
              <a:t>해당하는지의</a:t>
            </a:r>
            <a:r>
              <a:rPr lang="ko-KR" altLang="en-US" sz="1400" dirty="0">
                <a:highlight>
                  <a:srgbClr val="FFFF00"/>
                </a:highlight>
              </a:rPr>
              <a:t> 여부는 보정 전후 확인대상발명에서 변경된 구성요소의 중요도</a:t>
            </a:r>
            <a:r>
              <a:rPr lang="en-US" altLang="ko-KR" sz="1400" dirty="0">
                <a:highlight>
                  <a:srgbClr val="FFFF00"/>
                </a:highlight>
              </a:rPr>
              <a:t>, </a:t>
            </a:r>
            <a:r>
              <a:rPr lang="ko-KR" altLang="en-US" sz="1400" dirty="0">
                <a:highlight>
                  <a:srgbClr val="FFFF00"/>
                </a:highlight>
              </a:rPr>
              <a:t>보정의 경위</a:t>
            </a:r>
            <a:r>
              <a:rPr lang="en-US" altLang="ko-KR" sz="1400" dirty="0">
                <a:highlight>
                  <a:srgbClr val="FFFF00"/>
                </a:highlight>
              </a:rPr>
              <a:t>(</a:t>
            </a:r>
            <a:r>
              <a:rPr lang="ko-KR" altLang="en-US" sz="1400" dirty="0">
                <a:highlight>
                  <a:srgbClr val="FFFF00"/>
                </a:highlight>
              </a:rPr>
              <a:t>보정의 시기</a:t>
            </a:r>
            <a:r>
              <a:rPr lang="en-US" altLang="ko-KR" sz="1400" dirty="0">
                <a:highlight>
                  <a:srgbClr val="FFFF00"/>
                </a:highlight>
              </a:rPr>
              <a:t>, </a:t>
            </a:r>
            <a:r>
              <a:rPr lang="ko-KR" altLang="en-US" sz="1400" dirty="0">
                <a:highlight>
                  <a:srgbClr val="FFFF00"/>
                </a:highlight>
              </a:rPr>
              <a:t>보정명령에 따른 것인지</a:t>
            </a:r>
            <a:r>
              <a:rPr lang="en-US" altLang="ko-KR" sz="1400" dirty="0">
                <a:highlight>
                  <a:srgbClr val="FFFF00"/>
                </a:highlight>
              </a:rPr>
              <a:t>), </a:t>
            </a:r>
            <a:r>
              <a:rPr lang="ko-KR" altLang="en-US" sz="1400" dirty="0">
                <a:highlight>
                  <a:srgbClr val="FFFF00"/>
                </a:highlight>
              </a:rPr>
              <a:t>보정 후 피심판청구인이 방어권을 행사하였는가 등의 여러 사정을 고려하여 규범적으로 판단하여야 할 것이다</a:t>
            </a:r>
            <a:r>
              <a:rPr lang="en-US" altLang="ko-KR" sz="1400" dirty="0"/>
              <a:t>(</a:t>
            </a:r>
            <a:r>
              <a:rPr lang="ko-KR" altLang="en-US" sz="1400" dirty="0"/>
              <a:t>한동수</a:t>
            </a:r>
            <a:r>
              <a:rPr lang="en-US" altLang="ko-KR" sz="1400" dirty="0"/>
              <a:t>, “</a:t>
            </a:r>
            <a:r>
              <a:rPr lang="ko-KR" altLang="en-US" sz="1400" dirty="0"/>
              <a:t>확인대상고안의 </a:t>
            </a:r>
            <a:r>
              <a:rPr lang="ko-KR" altLang="en-US" sz="1400" dirty="0" err="1"/>
              <a:t>보정시</a:t>
            </a:r>
            <a:r>
              <a:rPr lang="ko-KR" altLang="en-US" sz="1400" dirty="0"/>
              <a:t> 요지변경의 의미”</a:t>
            </a:r>
            <a:r>
              <a:rPr lang="en-US" altLang="ko-KR" sz="1400" dirty="0"/>
              <a:t>, </a:t>
            </a:r>
            <a:r>
              <a:rPr lang="ko-KR" altLang="en-US" sz="1400" dirty="0" err="1"/>
              <a:t>한국특허법학회</a:t>
            </a:r>
            <a:r>
              <a:rPr lang="ko-KR" altLang="en-US" sz="1400" dirty="0"/>
              <a:t> 편</a:t>
            </a:r>
            <a:r>
              <a:rPr lang="en-US" altLang="ko-KR" sz="1400" dirty="0"/>
              <a:t>, </a:t>
            </a:r>
            <a:r>
              <a:rPr lang="ko-KR" altLang="en-US" sz="1400" dirty="0"/>
              <a:t>「</a:t>
            </a:r>
            <a:r>
              <a:rPr lang="ko-KR" altLang="en-US" sz="1400" dirty="0" err="1"/>
              <a:t>특허판례연구</a:t>
            </a:r>
            <a:r>
              <a:rPr lang="ko-KR" altLang="en-US" sz="1400" dirty="0"/>
              <a:t>」</a:t>
            </a:r>
            <a:r>
              <a:rPr lang="en-US" altLang="ko-KR" sz="1400" dirty="0"/>
              <a:t>, </a:t>
            </a:r>
            <a:r>
              <a:rPr lang="ko-KR" altLang="en-US" sz="1400" dirty="0" err="1"/>
              <a:t>박영사</a:t>
            </a:r>
            <a:r>
              <a:rPr lang="en-US" altLang="ko-KR" sz="1400" dirty="0"/>
              <a:t>, 2009, 616</a:t>
            </a:r>
            <a:r>
              <a:rPr lang="ko-KR" altLang="en-US" sz="1400" dirty="0"/>
              <a:t>면</a:t>
            </a:r>
            <a:r>
              <a:rPr lang="en-US" altLang="ko-KR" sz="1400" dirty="0"/>
              <a:t>).</a:t>
            </a:r>
            <a:endParaRPr lang="ko-KR" altLang="en-US" sz="1400" dirty="0"/>
          </a:p>
        </p:txBody>
      </p:sp>
      <p:sp>
        <p:nvSpPr>
          <p:cNvPr id="30" name="말풍선: 모서리가 둥근 사각형 29">
            <a:extLst>
              <a:ext uri="{FF2B5EF4-FFF2-40B4-BE49-F238E27FC236}">
                <a16:creationId xmlns:a16="http://schemas.microsoft.com/office/drawing/2014/main" id="{213BD427-2632-4CB4-A6A4-D82BB5F6B255}"/>
              </a:ext>
            </a:extLst>
          </p:cNvPr>
          <p:cNvSpPr/>
          <p:nvPr/>
        </p:nvSpPr>
        <p:spPr>
          <a:xfrm>
            <a:off x="7568697" y="1260812"/>
            <a:ext cx="4089903" cy="1940957"/>
          </a:xfrm>
          <a:prstGeom prst="wedgeRoundRectCallout">
            <a:avLst>
              <a:gd name="adj1" fmla="val -8111"/>
              <a:gd name="adj2" fmla="val 67564"/>
              <a:gd name="adj3" fmla="val 16667"/>
            </a:avLst>
          </a:prstGeom>
        </p:spPr>
        <p:style>
          <a:lnRef idx="2">
            <a:schemeClr val="accent3"/>
          </a:lnRef>
          <a:fillRef idx="1">
            <a:schemeClr val="lt1"/>
          </a:fillRef>
          <a:effectRef idx="0">
            <a:schemeClr val="accent3"/>
          </a:effectRef>
          <a:fontRef idx="minor">
            <a:schemeClr val="dk1"/>
          </a:fontRef>
        </p:style>
        <p:txBody>
          <a:bodyPr wrap="square">
            <a:spAutoFit/>
          </a:bodyPr>
          <a:lstStyle/>
          <a:p>
            <a:pPr algn="just"/>
            <a:r>
              <a:rPr lang="en-US" altLang="ko-KR" sz="1200" dirty="0">
                <a:solidFill>
                  <a:schemeClr val="tx1"/>
                </a:solidFill>
              </a:rPr>
              <a:t>ⅰ) </a:t>
            </a:r>
            <a:r>
              <a:rPr lang="ko-KR" altLang="en-US" sz="1200" dirty="0">
                <a:solidFill>
                  <a:schemeClr val="tx1"/>
                </a:solidFill>
              </a:rPr>
              <a:t>도면에 도시된 구성을 설명서에 부가하는 경우</a:t>
            </a:r>
            <a:r>
              <a:rPr lang="en-US" altLang="ko-KR" sz="1200" dirty="0">
                <a:solidFill>
                  <a:schemeClr val="tx1"/>
                </a:solidFill>
              </a:rPr>
              <a:t>(</a:t>
            </a:r>
            <a:r>
              <a:rPr lang="ko-KR" altLang="en-US" sz="1200" dirty="0">
                <a:solidFill>
                  <a:schemeClr val="tx1"/>
                </a:solidFill>
              </a:rPr>
              <a:t>대법원 </a:t>
            </a:r>
            <a:r>
              <a:rPr lang="en-US" altLang="ko-KR" sz="1200" dirty="0">
                <a:solidFill>
                  <a:schemeClr val="tx1"/>
                </a:solidFill>
              </a:rPr>
              <a:t>2012. 5. 24. </a:t>
            </a:r>
            <a:r>
              <a:rPr lang="ko-KR" altLang="en-US" sz="1200" dirty="0">
                <a:solidFill>
                  <a:schemeClr val="tx1"/>
                </a:solidFill>
              </a:rPr>
              <a:t>선고 </a:t>
            </a:r>
            <a:r>
              <a:rPr lang="en-US" altLang="ko-KR" sz="1200" dirty="0">
                <a:solidFill>
                  <a:schemeClr val="tx1"/>
                </a:solidFill>
              </a:rPr>
              <a:t>2012</a:t>
            </a:r>
            <a:r>
              <a:rPr lang="ko-KR" altLang="en-US" sz="1200" dirty="0">
                <a:solidFill>
                  <a:schemeClr val="tx1"/>
                </a:solidFill>
              </a:rPr>
              <a:t>후</a:t>
            </a:r>
            <a:r>
              <a:rPr lang="en-US" altLang="ko-KR" sz="1200" dirty="0">
                <a:solidFill>
                  <a:schemeClr val="tx1"/>
                </a:solidFill>
              </a:rPr>
              <a:t>344), </a:t>
            </a:r>
          </a:p>
          <a:p>
            <a:pPr algn="just"/>
            <a:r>
              <a:rPr lang="en-US" altLang="ko-KR" sz="1200" dirty="0"/>
              <a:t>ⅱ) </a:t>
            </a:r>
            <a:r>
              <a:rPr lang="ko-KR" altLang="en-US" sz="1200" dirty="0"/>
              <a:t>특허발명과 대비될 수 있는 구성의 부가하는 경우</a:t>
            </a:r>
            <a:r>
              <a:rPr lang="en-US" altLang="ko-KR" sz="1200" dirty="0"/>
              <a:t>(</a:t>
            </a:r>
            <a:r>
              <a:rPr lang="ko-KR" altLang="en-US" sz="1200" dirty="0"/>
              <a:t>특허법원 </a:t>
            </a:r>
            <a:r>
              <a:rPr lang="en-US" altLang="ko-KR" sz="1200" dirty="0"/>
              <a:t>2008. 5. 2. </a:t>
            </a:r>
            <a:r>
              <a:rPr lang="ko-KR" altLang="en-US" sz="1200" dirty="0"/>
              <a:t>선고 </a:t>
            </a:r>
            <a:r>
              <a:rPr lang="en-US" altLang="ko-KR" sz="1200" dirty="0"/>
              <a:t>2007</a:t>
            </a:r>
            <a:r>
              <a:rPr lang="ko-KR" altLang="en-US" sz="1200" dirty="0"/>
              <a:t>허</a:t>
            </a:r>
            <a:r>
              <a:rPr lang="en-US" altLang="ko-KR" sz="1200" dirty="0"/>
              <a:t>8252), </a:t>
            </a:r>
          </a:p>
          <a:p>
            <a:pPr algn="just"/>
            <a:r>
              <a:rPr lang="en-US" altLang="ko-KR" sz="1200" dirty="0"/>
              <a:t>ⅲ) </a:t>
            </a:r>
            <a:r>
              <a:rPr lang="ko-KR" altLang="en-US" sz="1200" dirty="0"/>
              <a:t>확인대상발명에 상품명 </a:t>
            </a:r>
            <a:r>
              <a:rPr lang="ko-KR" altLang="en-US" sz="1200" dirty="0" err="1"/>
              <a:t>ㆍ</a:t>
            </a:r>
            <a:r>
              <a:rPr lang="ko-KR" altLang="en-US" sz="1200" dirty="0"/>
              <a:t> 제품번호 또는 실물사진이 제출되었는데 그와 동일하게 보정하는 경우</a:t>
            </a:r>
            <a:r>
              <a:rPr lang="en-US" altLang="ko-KR" sz="1200" dirty="0"/>
              <a:t>(</a:t>
            </a:r>
            <a:r>
              <a:rPr lang="ko-KR" altLang="en-US" sz="1200" dirty="0"/>
              <a:t>대법원 </a:t>
            </a:r>
            <a:r>
              <a:rPr lang="en-US" altLang="ko-KR" sz="1200" dirty="0"/>
              <a:t>2011. 9. 8. </a:t>
            </a:r>
            <a:r>
              <a:rPr lang="ko-KR" altLang="en-US" sz="1200" dirty="0"/>
              <a:t>선고 </a:t>
            </a:r>
            <a:r>
              <a:rPr lang="en-US" altLang="ko-KR" sz="1200" dirty="0"/>
              <a:t>2010</a:t>
            </a:r>
            <a:r>
              <a:rPr lang="ko-KR" altLang="en-US" sz="1200" dirty="0"/>
              <a:t>후</a:t>
            </a:r>
            <a:r>
              <a:rPr lang="en-US" altLang="ko-KR" sz="1200" dirty="0"/>
              <a:t>3356), </a:t>
            </a:r>
          </a:p>
          <a:p>
            <a:pPr algn="just"/>
            <a:r>
              <a:rPr lang="en-US" altLang="ko-KR" sz="1200" dirty="0"/>
              <a:t>ⅳ) </a:t>
            </a:r>
            <a:r>
              <a:rPr lang="ko-KR" altLang="en-US" sz="1200" dirty="0"/>
              <a:t>청구이유 및 심판청구서에 첨부된 증거자료에 기재된 구성의 부가하는 경우</a:t>
            </a:r>
            <a:r>
              <a:rPr lang="en-US" altLang="ko-KR" sz="1200" dirty="0"/>
              <a:t>(</a:t>
            </a:r>
            <a:r>
              <a:rPr lang="ko-KR" altLang="en-US" sz="1200" dirty="0"/>
              <a:t>대법원 </a:t>
            </a:r>
            <a:r>
              <a:rPr lang="en-US" altLang="ko-KR" sz="1200" dirty="0"/>
              <a:t>2014. 2. 13. </a:t>
            </a:r>
            <a:r>
              <a:rPr lang="ko-KR" altLang="en-US" sz="1200" dirty="0"/>
              <a:t>선고 </a:t>
            </a:r>
            <a:r>
              <a:rPr lang="en-US" altLang="ko-KR" sz="1200" dirty="0"/>
              <a:t>2012</a:t>
            </a:r>
            <a:r>
              <a:rPr lang="ko-KR" altLang="en-US" sz="1200" dirty="0"/>
              <a:t>후</a:t>
            </a:r>
            <a:r>
              <a:rPr lang="en-US" altLang="ko-KR" sz="1200" dirty="0"/>
              <a:t>61)</a:t>
            </a:r>
            <a:endParaRPr lang="ko-KR" altLang="en-US" sz="1200" dirty="0"/>
          </a:p>
        </p:txBody>
      </p:sp>
    </p:spTree>
    <p:extLst>
      <p:ext uri="{BB962C8B-B14F-4D97-AF65-F5344CB8AC3E}">
        <p14:creationId xmlns:p14="http://schemas.microsoft.com/office/powerpoint/2010/main" val="4249170441"/>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154</a:t>
            </a:r>
            <a:r>
              <a:rPr lang="ko-KR" altLang="en-US" dirty="0"/>
              <a:t>조</a:t>
            </a:r>
          </a:p>
        </p:txBody>
      </p:sp>
      <p:sp>
        <p:nvSpPr>
          <p:cNvPr id="3" name="텍스트 개체 틀 2"/>
          <p:cNvSpPr>
            <a:spLocks noGrp="1"/>
          </p:cNvSpPr>
          <p:nvPr>
            <p:ph type="body" sz="quarter" idx="13"/>
          </p:nvPr>
        </p:nvSpPr>
        <p:spPr/>
        <p:txBody>
          <a:bodyPr/>
          <a:lstStyle/>
          <a:p>
            <a:r>
              <a:rPr lang="ko-KR" altLang="en-US" dirty="0"/>
              <a:t>중복심판청구금지 원칙의</a:t>
            </a:r>
            <a:r>
              <a:rPr lang="en-US" altLang="ko-KR" dirty="0"/>
              <a:t> CASE</a:t>
            </a:r>
            <a:endParaRPr lang="ko-KR" altLang="en-US" dirty="0"/>
          </a:p>
        </p:txBody>
      </p:sp>
      <p:cxnSp>
        <p:nvCxnSpPr>
          <p:cNvPr id="5" name="직선 연결선 4"/>
          <p:cNvCxnSpPr/>
          <p:nvPr/>
        </p:nvCxnSpPr>
        <p:spPr>
          <a:xfrm>
            <a:off x="77875" y="172661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7875" y="976902"/>
            <a:ext cx="11936323" cy="738664"/>
          </a:xfrm>
          <a:prstGeom prst="rect">
            <a:avLst/>
          </a:prstGeom>
          <a:noFill/>
        </p:spPr>
        <p:txBody>
          <a:bodyPr wrap="square" rtlCol="0">
            <a:spAutoFit/>
          </a:bodyPr>
          <a:lstStyle/>
          <a:p>
            <a:pPr fontAlgn="base"/>
            <a:r>
              <a:rPr lang="ko-KR" altLang="en-US" sz="1400" dirty="0" err="1">
                <a:solidFill>
                  <a:schemeClr val="tx2"/>
                </a:solidFill>
              </a:rPr>
              <a:t>특허심판이</a:t>
            </a:r>
            <a:r>
              <a:rPr lang="ko-KR" altLang="en-US" sz="1400" dirty="0">
                <a:solidFill>
                  <a:schemeClr val="tx2"/>
                </a:solidFill>
              </a:rPr>
              <a:t> 계속 중인 사건에 대하여 당사자는 다시 심판을 청구하지 못한다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154⑧ </a:t>
            </a:r>
            <a:r>
              <a:rPr lang="ko-KR" altLang="en-US" sz="1400" dirty="0">
                <a:solidFill>
                  <a:schemeClr val="tx2"/>
                </a:solidFill>
              </a:rPr>
              <a:t>준용 民訴 </a:t>
            </a:r>
            <a:r>
              <a:rPr lang="en-US" altLang="ko-KR" sz="1400" dirty="0">
                <a:solidFill>
                  <a:schemeClr val="tx2"/>
                </a:solidFill>
              </a:rPr>
              <a:t>259). </a:t>
            </a:r>
            <a:r>
              <a:rPr lang="ko-KR" altLang="en-US" sz="1400" dirty="0">
                <a:solidFill>
                  <a:schemeClr val="tx2"/>
                </a:solidFill>
              </a:rPr>
              <a:t>이미 계속되고 있는 사건에 대하여 다시 심판 청구를 </a:t>
            </a:r>
            <a:r>
              <a:rPr lang="ko-KR" altLang="en-US" sz="1400" dirty="0" err="1">
                <a:solidFill>
                  <a:schemeClr val="tx2"/>
                </a:solidFill>
              </a:rPr>
              <a:t>허용함은</a:t>
            </a:r>
            <a:r>
              <a:rPr lang="ko-KR" altLang="en-US" sz="1400" dirty="0">
                <a:solidFill>
                  <a:schemeClr val="tx2"/>
                </a:solidFill>
              </a:rPr>
              <a:t> </a:t>
            </a:r>
            <a:r>
              <a:rPr lang="ko-KR" altLang="en-US" sz="1400" dirty="0" err="1">
                <a:solidFill>
                  <a:schemeClr val="tx2"/>
                </a:solidFill>
              </a:rPr>
              <a:t>심판제도의</a:t>
            </a:r>
            <a:r>
              <a:rPr lang="ko-KR" altLang="en-US" sz="1400" dirty="0">
                <a:solidFill>
                  <a:schemeClr val="tx2"/>
                </a:solidFill>
              </a:rPr>
              <a:t> 남용이고</a:t>
            </a:r>
            <a:r>
              <a:rPr lang="en-US" altLang="ko-KR" sz="1400" dirty="0">
                <a:solidFill>
                  <a:schemeClr val="tx2"/>
                </a:solidFill>
              </a:rPr>
              <a:t>, </a:t>
            </a:r>
            <a:r>
              <a:rPr lang="ko-KR" altLang="en-US" sz="1400" dirty="0">
                <a:solidFill>
                  <a:schemeClr val="tx2"/>
                </a:solidFill>
              </a:rPr>
              <a:t>심판원이나 당사자에게 </a:t>
            </a:r>
            <a:r>
              <a:rPr lang="ko-KR" altLang="en-US" sz="1400" dirty="0" err="1">
                <a:solidFill>
                  <a:schemeClr val="tx2"/>
                </a:solidFill>
              </a:rPr>
              <a:t>시간ㆍ노력ㆍ비용을</a:t>
            </a:r>
            <a:r>
              <a:rPr lang="ko-KR" altLang="en-US" sz="1400" dirty="0">
                <a:solidFill>
                  <a:schemeClr val="tx2"/>
                </a:solidFill>
              </a:rPr>
              <a:t> 이중으로 </a:t>
            </a:r>
            <a:r>
              <a:rPr lang="ko-KR" altLang="en-US" sz="1400" dirty="0" err="1">
                <a:solidFill>
                  <a:schemeClr val="tx2"/>
                </a:solidFill>
              </a:rPr>
              <a:t>낭비시키는</a:t>
            </a:r>
            <a:r>
              <a:rPr lang="ko-KR" altLang="en-US" sz="1400" dirty="0">
                <a:solidFill>
                  <a:schemeClr val="tx2"/>
                </a:solidFill>
              </a:rPr>
              <a:t> 것이어서 </a:t>
            </a:r>
            <a:r>
              <a:rPr lang="ko-KR" altLang="en-US" sz="1400" dirty="0" err="1">
                <a:solidFill>
                  <a:schemeClr val="tx2"/>
                </a:solidFill>
              </a:rPr>
              <a:t>심판경제상</a:t>
            </a:r>
            <a:r>
              <a:rPr lang="ko-KR" altLang="en-US" sz="1400" dirty="0">
                <a:solidFill>
                  <a:schemeClr val="tx2"/>
                </a:solidFill>
              </a:rPr>
              <a:t> 바람직하지 않고</a:t>
            </a:r>
            <a:r>
              <a:rPr lang="en-US" altLang="ko-KR" sz="1400" dirty="0">
                <a:solidFill>
                  <a:schemeClr val="tx2"/>
                </a:solidFill>
              </a:rPr>
              <a:t>, </a:t>
            </a:r>
            <a:r>
              <a:rPr lang="ko-KR" altLang="en-US" sz="1400" dirty="0" err="1">
                <a:solidFill>
                  <a:schemeClr val="tx2"/>
                </a:solidFill>
              </a:rPr>
              <a:t>심결이</a:t>
            </a:r>
            <a:r>
              <a:rPr lang="ko-KR" altLang="en-US" sz="1400" dirty="0">
                <a:solidFill>
                  <a:schemeClr val="tx2"/>
                </a:solidFill>
              </a:rPr>
              <a:t> 서로 </a:t>
            </a:r>
            <a:r>
              <a:rPr lang="ko-KR" altLang="en-US" sz="1400" dirty="0" err="1">
                <a:solidFill>
                  <a:schemeClr val="tx2"/>
                </a:solidFill>
              </a:rPr>
              <a:t>모순ㆍ저촉될</a:t>
            </a:r>
            <a:r>
              <a:rPr lang="ko-KR" altLang="en-US" sz="1400" dirty="0">
                <a:solidFill>
                  <a:schemeClr val="tx2"/>
                </a:solidFill>
              </a:rPr>
              <a:t> 염려가 있기 때문이다</a:t>
            </a:r>
            <a:r>
              <a:rPr lang="en-US" altLang="ko-KR" sz="1400" dirty="0">
                <a:solidFill>
                  <a:schemeClr val="tx2"/>
                </a:solidFill>
              </a:rPr>
              <a:t>.</a:t>
            </a:r>
            <a:endParaRPr lang="ko-KR" altLang="en-US" sz="1400" dirty="0">
              <a:solidFill>
                <a:schemeClr val="tx2"/>
              </a:solidFill>
            </a:endParaRPr>
          </a:p>
        </p:txBody>
      </p:sp>
      <p:cxnSp>
        <p:nvCxnSpPr>
          <p:cNvPr id="49" name="직선 연결선 48"/>
          <p:cNvCxnSpPr/>
          <p:nvPr/>
        </p:nvCxnSpPr>
        <p:spPr>
          <a:xfrm>
            <a:off x="513016" y="4736630"/>
            <a:ext cx="11358696"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Rectangle 14"/>
          <p:cNvSpPr>
            <a:spLocks noChangeArrowheads="1"/>
          </p:cNvSpPr>
          <p:nvPr/>
        </p:nvSpPr>
        <p:spPr bwMode="auto">
          <a:xfrm flipV="1">
            <a:off x="1420561" y="466009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9" name="TextBox 58"/>
          <p:cNvSpPr txBox="1"/>
          <p:nvPr/>
        </p:nvSpPr>
        <p:spPr>
          <a:xfrm>
            <a:off x="556879" y="3953231"/>
            <a:ext cx="2088506" cy="461665"/>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400" dirty="0"/>
              <a:t>甲 특허무효심판청구</a:t>
            </a:r>
            <a:r>
              <a:rPr lang="en-US" altLang="ko-KR" sz="1400" dirty="0"/>
              <a:t>(X)</a:t>
            </a:r>
          </a:p>
          <a:p>
            <a:pPr algn="ctr"/>
            <a:r>
              <a:rPr lang="en-US" altLang="ko-KR" sz="1400" dirty="0"/>
              <a:t>(</a:t>
            </a:r>
            <a:r>
              <a:rPr lang="ko-KR" altLang="en-US" sz="1400" dirty="0"/>
              <a:t>피청구인</a:t>
            </a:r>
            <a:r>
              <a:rPr lang="en-US" altLang="ko-KR" sz="1400" dirty="0"/>
              <a:t>: </a:t>
            </a:r>
            <a:r>
              <a:rPr lang="ko-KR" altLang="en-US" sz="1400" dirty="0"/>
              <a:t>乙</a:t>
            </a:r>
            <a:r>
              <a:rPr lang="en-US" altLang="ko-KR" sz="1400" dirty="0"/>
              <a:t>)</a:t>
            </a:r>
            <a:endParaRPr lang="ko-KR" altLang="en-US" sz="1400" dirty="0"/>
          </a:p>
        </p:txBody>
      </p:sp>
      <p:cxnSp>
        <p:nvCxnSpPr>
          <p:cNvPr id="65" name="직선 연결선 64"/>
          <p:cNvCxnSpPr>
            <a:stCxn id="59" idx="2"/>
            <a:endCxn id="50" idx="4"/>
          </p:cNvCxnSpPr>
          <p:nvPr/>
        </p:nvCxnSpPr>
        <p:spPr>
          <a:xfrm>
            <a:off x="1489088" y="4414896"/>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4" name="직선 연결선 73"/>
          <p:cNvCxnSpPr>
            <a:stCxn id="39" idx="0"/>
            <a:endCxn id="82" idx="0"/>
          </p:cNvCxnSpPr>
          <p:nvPr/>
        </p:nvCxnSpPr>
        <p:spPr>
          <a:xfrm flipH="1" flipV="1">
            <a:off x="3279784" y="4813161"/>
            <a:ext cx="5476" cy="59558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Rectangle 14"/>
          <p:cNvSpPr>
            <a:spLocks noChangeArrowheads="1"/>
          </p:cNvSpPr>
          <p:nvPr/>
        </p:nvSpPr>
        <p:spPr bwMode="auto">
          <a:xfrm flipV="1">
            <a:off x="3208346" y="466009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9" name="TextBox 38"/>
          <p:cNvSpPr txBox="1"/>
          <p:nvPr/>
        </p:nvSpPr>
        <p:spPr>
          <a:xfrm>
            <a:off x="2267264" y="5408743"/>
            <a:ext cx="2035992"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400" dirty="0"/>
              <a:t>丙 특허무효심판청구</a:t>
            </a:r>
            <a:r>
              <a:rPr lang="en-US" altLang="ko-KR" sz="1400" dirty="0"/>
              <a:t>(Y)</a:t>
            </a:r>
          </a:p>
          <a:p>
            <a:pPr algn="ctr"/>
            <a:r>
              <a:rPr lang="en-US" altLang="ko-KR" sz="1400" dirty="0"/>
              <a:t>(</a:t>
            </a:r>
            <a:r>
              <a:rPr lang="ko-KR" altLang="en-US" sz="1400" dirty="0"/>
              <a:t>피청구인</a:t>
            </a:r>
            <a:r>
              <a:rPr lang="en-US" altLang="ko-KR" sz="1400" dirty="0"/>
              <a:t>: </a:t>
            </a:r>
            <a:r>
              <a:rPr lang="ko-KR" altLang="en-US" sz="1400" dirty="0"/>
              <a:t>乙</a:t>
            </a:r>
            <a:r>
              <a:rPr lang="en-US" altLang="ko-KR" sz="1400" dirty="0"/>
              <a:t>)</a:t>
            </a:r>
            <a:endParaRPr lang="ko-KR" altLang="en-US" sz="1400" dirty="0"/>
          </a:p>
        </p:txBody>
      </p:sp>
      <p:sp>
        <p:nvSpPr>
          <p:cNvPr id="40" name="Rectangle 14"/>
          <p:cNvSpPr>
            <a:spLocks noChangeArrowheads="1"/>
          </p:cNvSpPr>
          <p:nvPr/>
        </p:nvSpPr>
        <p:spPr bwMode="auto">
          <a:xfrm flipV="1">
            <a:off x="4836903" y="466009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1" name="TextBox 40"/>
          <p:cNvSpPr txBox="1"/>
          <p:nvPr/>
        </p:nvSpPr>
        <p:spPr>
          <a:xfrm>
            <a:off x="3802307" y="3218289"/>
            <a:ext cx="2208146"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400" dirty="0"/>
              <a:t>甲 특허무효심판청구</a:t>
            </a:r>
            <a:r>
              <a:rPr lang="en-US" altLang="ko-KR" sz="1400" dirty="0"/>
              <a:t>(Z)</a:t>
            </a:r>
          </a:p>
          <a:p>
            <a:pPr algn="ctr"/>
            <a:r>
              <a:rPr lang="en-US" altLang="ko-KR" sz="1400" dirty="0"/>
              <a:t>(</a:t>
            </a:r>
            <a:r>
              <a:rPr lang="ko-KR" altLang="en-US" sz="1400" dirty="0"/>
              <a:t>피청구인</a:t>
            </a:r>
            <a:r>
              <a:rPr lang="en-US" altLang="ko-KR" sz="1400" dirty="0"/>
              <a:t>: </a:t>
            </a:r>
            <a:r>
              <a:rPr lang="ko-KR" altLang="en-US" sz="1400" dirty="0"/>
              <a:t>乙</a:t>
            </a:r>
            <a:r>
              <a:rPr lang="en-US" altLang="ko-KR" sz="1400" dirty="0"/>
              <a:t>)</a:t>
            </a:r>
            <a:endParaRPr lang="ko-KR" altLang="en-US" sz="1400" dirty="0"/>
          </a:p>
        </p:txBody>
      </p:sp>
      <p:cxnSp>
        <p:nvCxnSpPr>
          <p:cNvPr id="42" name="직선 연결선 41"/>
          <p:cNvCxnSpPr>
            <a:stCxn id="41" idx="2"/>
            <a:endCxn id="40" idx="4"/>
          </p:cNvCxnSpPr>
          <p:nvPr/>
        </p:nvCxnSpPr>
        <p:spPr>
          <a:xfrm>
            <a:off x="4906380" y="3679954"/>
            <a:ext cx="1961" cy="98014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Rectangle 14"/>
          <p:cNvSpPr>
            <a:spLocks noChangeArrowheads="1"/>
          </p:cNvSpPr>
          <p:nvPr/>
        </p:nvSpPr>
        <p:spPr bwMode="auto">
          <a:xfrm flipV="1">
            <a:off x="7118927" y="466009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5" name="TextBox 44"/>
          <p:cNvSpPr txBox="1"/>
          <p:nvPr/>
        </p:nvSpPr>
        <p:spPr>
          <a:xfrm>
            <a:off x="6255245" y="3953231"/>
            <a:ext cx="2088506" cy="461665"/>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400" dirty="0"/>
              <a:t>기각심결확정</a:t>
            </a:r>
            <a:r>
              <a:rPr lang="en-US" altLang="ko-KR" sz="1400" dirty="0"/>
              <a:t>(X)</a:t>
            </a:r>
            <a:endParaRPr lang="ko-KR" altLang="en-US" sz="1400" dirty="0"/>
          </a:p>
        </p:txBody>
      </p:sp>
      <p:cxnSp>
        <p:nvCxnSpPr>
          <p:cNvPr id="46" name="직선 연결선 45"/>
          <p:cNvCxnSpPr>
            <a:stCxn id="45" idx="2"/>
            <a:endCxn id="44" idx="4"/>
          </p:cNvCxnSpPr>
          <p:nvPr/>
        </p:nvCxnSpPr>
        <p:spPr>
          <a:xfrm>
            <a:off x="7187454" y="4414896"/>
            <a:ext cx="2911" cy="2452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1" name="Rectangle 14"/>
          <p:cNvSpPr>
            <a:spLocks noChangeArrowheads="1"/>
          </p:cNvSpPr>
          <p:nvPr/>
        </p:nvSpPr>
        <p:spPr bwMode="auto">
          <a:xfrm flipV="1">
            <a:off x="9557164" y="466009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2" name="TextBox 51"/>
          <p:cNvSpPr txBox="1"/>
          <p:nvPr/>
        </p:nvSpPr>
        <p:spPr>
          <a:xfrm>
            <a:off x="8522568" y="3218289"/>
            <a:ext cx="2208146"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400" dirty="0" err="1"/>
              <a:t>심결시</a:t>
            </a:r>
            <a:r>
              <a:rPr lang="en-US" altLang="ko-KR" sz="1400" dirty="0"/>
              <a:t>(Z)</a:t>
            </a:r>
          </a:p>
        </p:txBody>
      </p:sp>
      <p:cxnSp>
        <p:nvCxnSpPr>
          <p:cNvPr id="53" name="직선 연결선 52"/>
          <p:cNvCxnSpPr>
            <a:stCxn id="52" idx="2"/>
            <a:endCxn id="51" idx="4"/>
          </p:cNvCxnSpPr>
          <p:nvPr/>
        </p:nvCxnSpPr>
        <p:spPr>
          <a:xfrm>
            <a:off x="9626641" y="3679954"/>
            <a:ext cx="1961" cy="98014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모서리가 둥근 사각형 설명선 10"/>
          <p:cNvSpPr/>
          <p:nvPr/>
        </p:nvSpPr>
        <p:spPr>
          <a:xfrm>
            <a:off x="4991953" y="5727208"/>
            <a:ext cx="3351798" cy="695325"/>
          </a:xfrm>
          <a:prstGeom prst="wedgeRoundRectCallout">
            <a:avLst>
              <a:gd name="adj1" fmla="val -69113"/>
              <a:gd name="adj2" fmla="val -64311"/>
              <a:gd name="adj3" fmla="val 16667"/>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rgbClr val="FF0000"/>
                </a:solidFill>
              </a:rPr>
              <a:t>중복심판청구금지 원칙 </a:t>
            </a:r>
            <a:r>
              <a:rPr lang="ko-KR" altLang="en-US" dirty="0" err="1">
                <a:solidFill>
                  <a:srgbClr val="FF0000"/>
                </a:solidFill>
              </a:rPr>
              <a:t>부적용</a:t>
            </a:r>
            <a:endParaRPr lang="en-US" altLang="ko-KR" dirty="0">
              <a:solidFill>
                <a:srgbClr val="FF0000"/>
              </a:solidFill>
            </a:endParaRPr>
          </a:p>
          <a:p>
            <a:pPr algn="ctr"/>
            <a:r>
              <a:rPr lang="en-US" altLang="ko-KR" dirty="0">
                <a:solidFill>
                  <a:srgbClr val="FF0000"/>
                </a:solidFill>
              </a:rPr>
              <a:t>(</a:t>
            </a:r>
            <a:r>
              <a:rPr lang="ko-KR" altLang="en-US" dirty="0">
                <a:solidFill>
                  <a:srgbClr val="FF0000"/>
                </a:solidFill>
              </a:rPr>
              <a:t>동일 당사자</a:t>
            </a:r>
            <a:r>
              <a:rPr lang="en-US" altLang="ko-KR" dirty="0">
                <a:solidFill>
                  <a:srgbClr val="FF0000"/>
                </a:solidFill>
              </a:rPr>
              <a:t>×)</a:t>
            </a:r>
            <a:endParaRPr lang="ko-KR" altLang="en-US" dirty="0">
              <a:solidFill>
                <a:srgbClr val="FF0000"/>
              </a:solidFill>
            </a:endParaRPr>
          </a:p>
        </p:txBody>
      </p:sp>
      <p:sp>
        <p:nvSpPr>
          <p:cNvPr id="54" name="모서리가 둥근 사각형 설명선 53"/>
          <p:cNvSpPr/>
          <p:nvPr/>
        </p:nvSpPr>
        <p:spPr>
          <a:xfrm>
            <a:off x="5325782" y="2112915"/>
            <a:ext cx="3351798" cy="695325"/>
          </a:xfrm>
          <a:prstGeom prst="wedgeRoundRectCallout">
            <a:avLst>
              <a:gd name="adj1" fmla="val 50836"/>
              <a:gd name="adj2" fmla="val 108944"/>
              <a:gd name="adj3" fmla="val 16667"/>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rgbClr val="FF0000"/>
                </a:solidFill>
              </a:rPr>
              <a:t>중복심판청구금지 원칙 </a:t>
            </a:r>
            <a:r>
              <a:rPr lang="ko-KR" altLang="en-US" dirty="0" err="1">
                <a:solidFill>
                  <a:srgbClr val="FF0000"/>
                </a:solidFill>
              </a:rPr>
              <a:t>부적용</a:t>
            </a:r>
            <a:endParaRPr lang="en-US" altLang="ko-KR" dirty="0">
              <a:solidFill>
                <a:srgbClr val="FF0000"/>
              </a:solidFill>
            </a:endParaRPr>
          </a:p>
          <a:p>
            <a:pPr algn="ctr"/>
            <a:r>
              <a:rPr lang="en-US" altLang="ko-KR" dirty="0">
                <a:solidFill>
                  <a:srgbClr val="FF0000"/>
                </a:solidFill>
              </a:rPr>
              <a:t>(</a:t>
            </a:r>
            <a:r>
              <a:rPr lang="ko-KR" altLang="en-US" dirty="0" err="1">
                <a:solidFill>
                  <a:srgbClr val="FF0000"/>
                </a:solidFill>
              </a:rPr>
              <a:t>특허심판</a:t>
            </a:r>
            <a:r>
              <a:rPr lang="ko-KR" altLang="en-US" dirty="0">
                <a:solidFill>
                  <a:srgbClr val="FF0000"/>
                </a:solidFill>
              </a:rPr>
              <a:t> 계속 中</a:t>
            </a:r>
            <a:r>
              <a:rPr lang="en-US" altLang="ko-KR" dirty="0">
                <a:solidFill>
                  <a:srgbClr val="FF0000"/>
                </a:solidFill>
              </a:rPr>
              <a:t>×)</a:t>
            </a:r>
            <a:endParaRPr lang="ko-KR" altLang="en-US" dirty="0">
              <a:solidFill>
                <a:srgbClr val="FF0000"/>
              </a:solidFill>
            </a:endParaRPr>
          </a:p>
        </p:txBody>
      </p:sp>
      <p:sp>
        <p:nvSpPr>
          <p:cNvPr id="4" name="슬라이드 번호 개체 틀 3"/>
          <p:cNvSpPr>
            <a:spLocks noGrp="1"/>
          </p:cNvSpPr>
          <p:nvPr>
            <p:ph type="sldNum" sz="quarter" idx="4294967295"/>
          </p:nvPr>
        </p:nvSpPr>
        <p:spPr>
          <a:xfrm>
            <a:off x="11125200" y="0"/>
            <a:ext cx="1066800" cy="711200"/>
          </a:xfrm>
        </p:spPr>
        <p:txBody>
          <a:bodyPr/>
          <a:lstStyle/>
          <a:p>
            <a:r>
              <a:rPr lang="en-US" altLang="ko-KR"/>
              <a:t>444</a:t>
            </a:r>
            <a:endParaRPr lang="ko-KR" altLang="en-US" dirty="0"/>
          </a:p>
        </p:txBody>
      </p:sp>
    </p:spTree>
    <p:extLst>
      <p:ext uri="{BB962C8B-B14F-4D97-AF65-F5344CB8AC3E}">
        <p14:creationId xmlns:p14="http://schemas.microsoft.com/office/powerpoint/2010/main" val="3663028870"/>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154</a:t>
            </a:r>
            <a:r>
              <a:rPr lang="ko-KR" altLang="en-US" dirty="0"/>
              <a:t>조</a:t>
            </a:r>
          </a:p>
        </p:txBody>
      </p:sp>
      <p:sp>
        <p:nvSpPr>
          <p:cNvPr id="4" name="텍스트 개체 틀 3"/>
          <p:cNvSpPr>
            <a:spLocks noGrp="1"/>
          </p:cNvSpPr>
          <p:nvPr>
            <p:ph type="body" sz="quarter" idx="13"/>
          </p:nvPr>
        </p:nvSpPr>
        <p:spPr/>
        <p:txBody>
          <a:bodyPr/>
          <a:lstStyle/>
          <a:p>
            <a:r>
              <a:rPr lang="ko-KR" altLang="en-US" dirty="0"/>
              <a:t>중복심판청구금지 원칙의 </a:t>
            </a:r>
            <a:r>
              <a:rPr lang="en-US" altLang="ko-KR" dirty="0"/>
              <a:t>CASE</a:t>
            </a:r>
            <a:endParaRPr lang="ko-KR" altLang="en-US" dirty="0"/>
          </a:p>
        </p:txBody>
      </p:sp>
      <p:sp>
        <p:nvSpPr>
          <p:cNvPr id="31" name="모서리가 둥근 직사각형 10">
            <a:extLst>
              <a:ext uri="{FF2B5EF4-FFF2-40B4-BE49-F238E27FC236}">
                <a16:creationId xmlns:a16="http://schemas.microsoft.com/office/drawing/2014/main" id="{83E8DC17-A890-4A8F-8AF6-87049ACC89A5}"/>
              </a:ext>
            </a:extLst>
          </p:cNvPr>
          <p:cNvSpPr/>
          <p:nvPr/>
        </p:nvSpPr>
        <p:spPr bwMode="auto">
          <a:xfrm>
            <a:off x="378418" y="1002199"/>
            <a:ext cx="5714410"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2020. 4. 29. </a:t>
            </a:r>
            <a:r>
              <a:rPr lang="ko-KR" altLang="en-US" sz="1400" dirty="0"/>
              <a:t>선고 </a:t>
            </a:r>
            <a:r>
              <a:rPr lang="en-US" altLang="ko-KR" sz="1400" dirty="0"/>
              <a:t>2016</a:t>
            </a:r>
            <a:r>
              <a:rPr lang="ko-KR" altLang="en-US" sz="1400" dirty="0"/>
              <a:t>후</a:t>
            </a:r>
            <a:r>
              <a:rPr lang="en-US" altLang="ko-KR" sz="1400" dirty="0"/>
              <a:t>2317 </a:t>
            </a:r>
            <a:r>
              <a:rPr lang="ko-KR" altLang="en-US" sz="1400" dirty="0"/>
              <a:t>판결 </a:t>
            </a:r>
            <a:r>
              <a:rPr lang="en-US" altLang="ko-KR" sz="1400" dirty="0"/>
              <a:t>【</a:t>
            </a:r>
            <a:r>
              <a:rPr lang="ko-KR" altLang="en-US" sz="1400" dirty="0"/>
              <a:t>등록무효</a:t>
            </a:r>
            <a:r>
              <a:rPr lang="en-US" altLang="ko-KR" sz="1400" dirty="0"/>
              <a:t>(</a:t>
            </a:r>
            <a:r>
              <a:rPr lang="ko-KR" altLang="en-US" sz="1400" dirty="0" err="1"/>
              <a:t>특</a:t>
            </a:r>
            <a:r>
              <a:rPr lang="en-US" altLang="ko-KR" sz="1400" dirty="0"/>
              <a:t>)】</a:t>
            </a:r>
          </a:p>
        </p:txBody>
      </p:sp>
      <p:sp>
        <p:nvSpPr>
          <p:cNvPr id="32" name="직사각형 31">
            <a:extLst>
              <a:ext uri="{FF2B5EF4-FFF2-40B4-BE49-F238E27FC236}">
                <a16:creationId xmlns:a16="http://schemas.microsoft.com/office/drawing/2014/main" id="{AB016C75-8430-4388-9E51-7B3101DE3CF1}"/>
              </a:ext>
            </a:extLst>
          </p:cNvPr>
          <p:cNvSpPr/>
          <p:nvPr/>
        </p:nvSpPr>
        <p:spPr>
          <a:xfrm>
            <a:off x="232372" y="1333658"/>
            <a:ext cx="11681987" cy="3108543"/>
          </a:xfrm>
          <a:prstGeom prst="rect">
            <a:avLst/>
          </a:prstGeom>
        </p:spPr>
        <p:txBody>
          <a:bodyPr wrap="square">
            <a:spAutoFit/>
          </a:bodyPr>
          <a:lstStyle/>
          <a:p>
            <a:pPr algn="just"/>
            <a:r>
              <a:rPr lang="ko-KR" altLang="en-US" sz="1400" dirty="0"/>
              <a:t>민사소송법 제</a:t>
            </a:r>
            <a:r>
              <a:rPr lang="en-US" altLang="ko-KR" sz="1400" dirty="0"/>
              <a:t>259</a:t>
            </a:r>
            <a:r>
              <a:rPr lang="ko-KR" altLang="en-US" sz="1400" dirty="0"/>
              <a:t>조는 “법원에 계속되어 있는 사건에 대하여 당사자는 다시 소를 제기하지 못한다</a:t>
            </a:r>
            <a:r>
              <a:rPr lang="en-US" altLang="ko-KR" sz="1400" dirty="0"/>
              <a:t>.”</a:t>
            </a:r>
            <a:r>
              <a:rPr lang="ko-KR" altLang="en-US" sz="1400" dirty="0"/>
              <a:t>라고 규정하고</a:t>
            </a:r>
            <a:r>
              <a:rPr lang="en-US" altLang="ko-KR" sz="1400" dirty="0"/>
              <a:t>, 2006. 3. 3. </a:t>
            </a:r>
            <a:r>
              <a:rPr lang="ko-KR" altLang="en-US" sz="1400" dirty="0"/>
              <a:t>법률 제</a:t>
            </a:r>
            <a:r>
              <a:rPr lang="en-US" altLang="ko-KR" sz="1400" dirty="0"/>
              <a:t>7871</a:t>
            </a:r>
            <a:r>
              <a:rPr lang="ko-KR" altLang="en-US" sz="1400" dirty="0"/>
              <a:t>호로 개정된 특허법 제</a:t>
            </a:r>
            <a:r>
              <a:rPr lang="en-US" altLang="ko-KR" sz="1400" dirty="0"/>
              <a:t>154</a:t>
            </a:r>
            <a:r>
              <a:rPr lang="ko-KR" altLang="en-US" sz="1400" dirty="0"/>
              <a:t>조 제</a:t>
            </a:r>
            <a:r>
              <a:rPr lang="en-US" altLang="ko-KR" sz="1400" dirty="0"/>
              <a:t>8</a:t>
            </a:r>
            <a:r>
              <a:rPr lang="ko-KR" altLang="en-US" sz="1400" dirty="0"/>
              <a:t>항은 심판에 관하여 민사소송법 제</a:t>
            </a:r>
            <a:r>
              <a:rPr lang="en-US" altLang="ko-KR" sz="1400" dirty="0"/>
              <a:t>259</a:t>
            </a:r>
            <a:r>
              <a:rPr lang="ko-KR" altLang="en-US" sz="1400" dirty="0"/>
              <a:t>조를 준용하고 있다</a:t>
            </a:r>
            <a:r>
              <a:rPr lang="en-US" altLang="ko-KR" sz="1400" dirty="0"/>
              <a:t>. </a:t>
            </a:r>
            <a:r>
              <a:rPr lang="ko-KR" altLang="en-US" sz="1400" dirty="0"/>
              <a:t>이러한 관련 법령의 내용에 다음의 사정을 고려하면</a:t>
            </a:r>
            <a:r>
              <a:rPr lang="en-US" altLang="ko-KR" sz="1400" dirty="0"/>
              <a:t>, </a:t>
            </a:r>
            <a:r>
              <a:rPr lang="ko-KR" altLang="en-US" sz="1400" dirty="0"/>
              <a:t>특허심판원에 계속 중인 심판</a:t>
            </a:r>
            <a:r>
              <a:rPr lang="en-US" altLang="ko-KR" sz="1400" dirty="0"/>
              <a:t>(</a:t>
            </a:r>
            <a:r>
              <a:rPr lang="ko-KR" altLang="en-US" sz="1400" dirty="0"/>
              <a:t>이하 ‘</a:t>
            </a:r>
            <a:r>
              <a:rPr lang="ko-KR" altLang="en-US" sz="1400" dirty="0" err="1"/>
              <a:t>전심판’이라</a:t>
            </a:r>
            <a:r>
              <a:rPr lang="ko-KR" altLang="en-US" sz="1400" dirty="0"/>
              <a:t> 한다</a:t>
            </a:r>
            <a:r>
              <a:rPr lang="en-US" altLang="ko-KR" sz="1400" dirty="0"/>
              <a:t>)</a:t>
            </a:r>
            <a:r>
              <a:rPr lang="ko-KR" altLang="en-US" sz="1400" dirty="0"/>
              <a:t>에 대하여 동일한 당사자가 동일한 심판을 다시 청구한 경우</a:t>
            </a:r>
            <a:r>
              <a:rPr lang="en-US" altLang="ko-KR" sz="1400" dirty="0"/>
              <a:t>(</a:t>
            </a:r>
            <a:r>
              <a:rPr lang="ko-KR" altLang="en-US" sz="1400" dirty="0"/>
              <a:t>이하 ‘</a:t>
            </a:r>
            <a:r>
              <a:rPr lang="ko-KR" altLang="en-US" sz="1400" dirty="0" err="1"/>
              <a:t>후심판’이라</a:t>
            </a:r>
            <a:r>
              <a:rPr lang="ko-KR" altLang="en-US" sz="1400" dirty="0"/>
              <a:t> 한다</a:t>
            </a:r>
            <a:r>
              <a:rPr lang="en-US" altLang="ko-KR" sz="1400" dirty="0"/>
              <a:t>), </a:t>
            </a:r>
            <a:r>
              <a:rPr lang="ko-KR" altLang="en-US" sz="1400" dirty="0"/>
              <a:t>후심판의 </a:t>
            </a:r>
            <a:r>
              <a:rPr lang="ko-KR" altLang="en-US" sz="1400" dirty="0" err="1"/>
              <a:t>심결</a:t>
            </a:r>
            <a:r>
              <a:rPr lang="ko-KR" altLang="en-US" sz="1400" dirty="0"/>
              <a:t> 시를 기준으로 한 전심판의 </a:t>
            </a:r>
            <a:r>
              <a:rPr lang="ko-KR" altLang="en-US" sz="1400" dirty="0" err="1"/>
              <a:t>심판계속</a:t>
            </a:r>
            <a:r>
              <a:rPr lang="ko-KR" altLang="en-US" sz="1400" dirty="0"/>
              <a:t> 여부에 따라 후심판의 적법 여부를 판단하여야 한다</a:t>
            </a:r>
            <a:r>
              <a:rPr lang="en-US" altLang="ko-KR" sz="1400" dirty="0"/>
              <a:t>.</a:t>
            </a:r>
          </a:p>
          <a:p>
            <a:pPr algn="just"/>
            <a:r>
              <a:rPr lang="en-US" altLang="ko-KR" sz="1400" dirty="0"/>
              <a:t>  1) </a:t>
            </a:r>
            <a:r>
              <a:rPr lang="ko-KR" altLang="en-US" sz="1400" dirty="0"/>
              <a:t>민사소송에서 중복제소금지는 소송요건에 관한 것으로서 사실심의 변론종결시를 기준으로 판단하여야 하므로</a:t>
            </a:r>
            <a:r>
              <a:rPr lang="en-US" altLang="ko-KR" sz="1400" dirty="0"/>
              <a:t>, </a:t>
            </a:r>
            <a:r>
              <a:rPr lang="ko-KR" altLang="en-US" sz="1400" dirty="0"/>
              <a:t>전소가 </a:t>
            </a:r>
            <a:r>
              <a:rPr lang="ko-KR" altLang="en-US" sz="1400" dirty="0" err="1"/>
              <a:t>후소의</a:t>
            </a:r>
            <a:r>
              <a:rPr lang="ko-KR" altLang="en-US" sz="1400" dirty="0"/>
              <a:t> 변론종결시까지 취하</a:t>
            </a:r>
            <a:r>
              <a:rPr lang="en-US" altLang="ko-KR" sz="1400" dirty="0"/>
              <a:t>·</a:t>
            </a:r>
            <a:r>
              <a:rPr lang="ko-KR" altLang="en-US" sz="1400" dirty="0"/>
              <a:t>각하 등에 의하여 </a:t>
            </a:r>
            <a:r>
              <a:rPr lang="ko-KR" altLang="en-US" sz="1400" dirty="0" err="1"/>
              <a:t>소송계속이</a:t>
            </a:r>
            <a:r>
              <a:rPr lang="ko-KR" altLang="en-US" sz="1400" dirty="0"/>
              <a:t> 소멸되면 </a:t>
            </a:r>
            <a:r>
              <a:rPr lang="ko-KR" altLang="en-US" sz="1400" dirty="0" err="1"/>
              <a:t>후소는</a:t>
            </a:r>
            <a:r>
              <a:rPr lang="ko-KR" altLang="en-US" sz="1400" dirty="0"/>
              <a:t> 중복제소금지에 위반되지 않는다</a:t>
            </a:r>
            <a:r>
              <a:rPr lang="en-US" altLang="ko-KR" sz="1400" dirty="0"/>
              <a:t>(</a:t>
            </a:r>
            <a:r>
              <a:rPr lang="ko-KR" altLang="en-US" sz="1400" dirty="0"/>
              <a:t>대법원 </a:t>
            </a:r>
            <a:r>
              <a:rPr lang="en-US" altLang="ko-KR" sz="1400" dirty="0"/>
              <a:t>1998. 2. 27. </a:t>
            </a:r>
            <a:r>
              <a:rPr lang="ko-KR" altLang="en-US" sz="1400" dirty="0"/>
              <a:t>선고 </a:t>
            </a:r>
            <a:r>
              <a:rPr lang="en-US" altLang="ko-KR" sz="1400" dirty="0"/>
              <a:t>97</a:t>
            </a:r>
            <a:r>
              <a:rPr lang="ko-KR" altLang="en-US" sz="1400" dirty="0"/>
              <a:t>다</a:t>
            </a:r>
            <a:r>
              <a:rPr lang="en-US" altLang="ko-KR" sz="1400" dirty="0"/>
              <a:t>45532 </a:t>
            </a:r>
            <a:r>
              <a:rPr lang="ko-KR" altLang="en-US" sz="1400" dirty="0"/>
              <a:t>판결</a:t>
            </a:r>
            <a:r>
              <a:rPr lang="en-US" altLang="ko-KR" sz="1400" dirty="0"/>
              <a:t>, </a:t>
            </a:r>
            <a:r>
              <a:rPr lang="ko-KR" altLang="en-US" sz="1400" dirty="0"/>
              <a:t>대법원 </a:t>
            </a:r>
            <a:r>
              <a:rPr lang="en-US" altLang="ko-KR" sz="1400" dirty="0"/>
              <a:t>2017. 11. 14. </a:t>
            </a:r>
            <a:r>
              <a:rPr lang="ko-KR" altLang="en-US" sz="1400" dirty="0"/>
              <a:t>선고 </a:t>
            </a:r>
            <a:r>
              <a:rPr lang="en-US" altLang="ko-KR" sz="1400" dirty="0"/>
              <a:t>2017</a:t>
            </a:r>
            <a:r>
              <a:rPr lang="ko-KR" altLang="en-US" sz="1400" dirty="0"/>
              <a:t>다</a:t>
            </a:r>
            <a:r>
              <a:rPr lang="en-US" altLang="ko-KR" sz="1400" dirty="0"/>
              <a:t>23066 </a:t>
            </a:r>
            <a:r>
              <a:rPr lang="ko-KR" altLang="en-US" sz="1400" dirty="0"/>
              <a:t>판결 등 참조</a:t>
            </a:r>
            <a:r>
              <a:rPr lang="en-US" altLang="ko-KR" sz="1400" dirty="0"/>
              <a:t>). </a:t>
            </a:r>
            <a:r>
              <a:rPr lang="ko-KR" altLang="en-US" sz="1400" dirty="0"/>
              <a:t>마찬가지로 특허심판에서 중복심판청구 금지는 심판청구의 적법요건으로</a:t>
            </a:r>
            <a:r>
              <a:rPr lang="en-US" altLang="ko-KR" sz="1400" dirty="0"/>
              <a:t>, </a:t>
            </a:r>
            <a:r>
              <a:rPr lang="ko-KR" altLang="en-US" sz="1400" dirty="0" err="1"/>
              <a:t>심결</a:t>
            </a:r>
            <a:r>
              <a:rPr lang="ko-KR" altLang="en-US" sz="1400" dirty="0"/>
              <a:t> 시를 기준으로 전심판의 </a:t>
            </a:r>
            <a:r>
              <a:rPr lang="ko-KR" altLang="en-US" sz="1400" dirty="0" err="1"/>
              <a:t>심판계속이</a:t>
            </a:r>
            <a:r>
              <a:rPr lang="ko-KR" altLang="en-US" sz="1400" dirty="0"/>
              <a:t> 소멸되면 후심판은 중복심판청구 금지에 위반되지 않는다고 보아야 한다</a:t>
            </a:r>
            <a:r>
              <a:rPr lang="en-US" altLang="ko-KR" sz="1400" dirty="0"/>
              <a:t>.</a:t>
            </a:r>
          </a:p>
          <a:p>
            <a:pPr algn="just"/>
            <a:r>
              <a:rPr lang="en-US" altLang="ko-KR" sz="1400" dirty="0"/>
              <a:t>  2) </a:t>
            </a:r>
            <a:r>
              <a:rPr lang="ko-KR" altLang="en-US" sz="1400" dirty="0"/>
              <a:t>대법원 </a:t>
            </a:r>
            <a:r>
              <a:rPr lang="en-US" altLang="ko-KR" sz="1400" dirty="0"/>
              <a:t>2012. 1. 19. </a:t>
            </a:r>
            <a:r>
              <a:rPr lang="ko-KR" altLang="en-US" sz="1400" dirty="0"/>
              <a:t>선고 </a:t>
            </a:r>
            <a:r>
              <a:rPr lang="en-US" altLang="ko-KR" sz="1400" dirty="0"/>
              <a:t>2009</a:t>
            </a:r>
            <a:r>
              <a:rPr lang="ko-KR" altLang="en-US" sz="1400" dirty="0"/>
              <a:t>후</a:t>
            </a:r>
            <a:r>
              <a:rPr lang="en-US" altLang="ko-KR" sz="1400" dirty="0"/>
              <a:t>2234 </a:t>
            </a:r>
            <a:r>
              <a:rPr lang="ko-KR" altLang="en-US" sz="1400" dirty="0"/>
              <a:t>전원합의체 판결은 ‘특허법 제</a:t>
            </a:r>
            <a:r>
              <a:rPr lang="en-US" altLang="ko-KR" sz="1400" dirty="0"/>
              <a:t>163</a:t>
            </a:r>
            <a:r>
              <a:rPr lang="ko-KR" altLang="en-US" sz="1400" dirty="0"/>
              <a:t>조의 일사부재리의 원칙에 따라 심판청구가 </a:t>
            </a:r>
            <a:r>
              <a:rPr lang="ko-KR" altLang="en-US" sz="1400" dirty="0" err="1"/>
              <a:t>부적법하게</a:t>
            </a:r>
            <a:r>
              <a:rPr lang="ko-KR" altLang="en-US" sz="1400" dirty="0"/>
              <a:t> 되는지 여부를 판단하는 기준 시점은 심판청구를 제기하던 당시로 보아야 </a:t>
            </a:r>
            <a:r>
              <a:rPr lang="ko-KR" altLang="en-US" sz="1400" dirty="0" err="1"/>
              <a:t>한다’고</a:t>
            </a:r>
            <a:r>
              <a:rPr lang="ko-KR" altLang="en-US" sz="1400" dirty="0"/>
              <a:t> 하였는데</a:t>
            </a:r>
            <a:r>
              <a:rPr lang="en-US" altLang="ko-KR" sz="1400" dirty="0"/>
              <a:t>, </a:t>
            </a:r>
            <a:r>
              <a:rPr lang="ko-KR" altLang="en-US" sz="1400" dirty="0"/>
              <a:t>이는 선행 </a:t>
            </a:r>
            <a:r>
              <a:rPr lang="ko-KR" altLang="en-US" sz="1400" dirty="0" err="1"/>
              <a:t>심결의</a:t>
            </a:r>
            <a:r>
              <a:rPr lang="ko-KR" altLang="en-US" sz="1400" dirty="0"/>
              <a:t> 확정을 판단하는 기준 시점이 쟁점이 된 사안에서 특허법상 일사부재리 원칙의 대세효로 인한 제</a:t>
            </a:r>
            <a:r>
              <a:rPr lang="en-US" altLang="ko-KR" sz="1400" dirty="0"/>
              <a:t>3</a:t>
            </a:r>
            <a:r>
              <a:rPr lang="ko-KR" altLang="en-US" sz="1400" dirty="0"/>
              <a:t>자의 권리 제한을 최소화하기 위하여 부득이하게 일사부재리 원칙의 요건 중 선행 </a:t>
            </a:r>
            <a:r>
              <a:rPr lang="ko-KR" altLang="en-US" sz="1400" dirty="0" err="1"/>
              <a:t>심결의</a:t>
            </a:r>
            <a:r>
              <a:rPr lang="ko-KR" altLang="en-US" sz="1400" dirty="0"/>
              <a:t> 확정과 관련해서만 그 기준 시점을 </a:t>
            </a:r>
            <a:r>
              <a:rPr lang="ko-KR" altLang="en-US" sz="1400" dirty="0" err="1"/>
              <a:t>심결</a:t>
            </a:r>
            <a:r>
              <a:rPr lang="ko-KR" altLang="en-US" sz="1400" dirty="0"/>
              <a:t> 시에서 심판청구 시로 변경한 것이다</a:t>
            </a:r>
            <a:r>
              <a:rPr lang="en-US" altLang="ko-KR" sz="1400" dirty="0"/>
              <a:t>(</a:t>
            </a:r>
            <a:r>
              <a:rPr lang="ko-KR" altLang="en-US" sz="1400" dirty="0"/>
              <a:t>대법원 </a:t>
            </a:r>
            <a:r>
              <a:rPr lang="en-US" altLang="ko-KR" sz="1400" dirty="0"/>
              <a:t>2020. 4. 9. </a:t>
            </a:r>
            <a:r>
              <a:rPr lang="ko-KR" altLang="en-US" sz="1400" dirty="0"/>
              <a:t>선고 </a:t>
            </a:r>
            <a:r>
              <a:rPr lang="en-US" altLang="ko-KR" sz="1400" dirty="0"/>
              <a:t>2018</a:t>
            </a:r>
            <a:r>
              <a:rPr lang="ko-KR" altLang="en-US" sz="1400" dirty="0"/>
              <a:t>후</a:t>
            </a:r>
            <a:r>
              <a:rPr lang="en-US" altLang="ko-KR" sz="1400" dirty="0"/>
              <a:t>11360 </a:t>
            </a:r>
            <a:r>
              <a:rPr lang="ko-KR" altLang="en-US" sz="1400" dirty="0"/>
              <a:t>판결 참조</a:t>
            </a:r>
            <a:r>
              <a:rPr lang="en-US" altLang="ko-KR" sz="1400" dirty="0"/>
              <a:t>). </a:t>
            </a:r>
            <a:r>
              <a:rPr lang="ko-KR" altLang="en-US" sz="1400" dirty="0">
                <a:solidFill>
                  <a:srgbClr val="FF0000"/>
                </a:solidFill>
              </a:rPr>
              <a:t>중복심판청구 금지는 동일 당사자에 의한 심판청구권 남용을 방지함으로써 </a:t>
            </a:r>
            <a:r>
              <a:rPr lang="ko-KR" altLang="en-US" sz="1400" dirty="0" err="1">
                <a:solidFill>
                  <a:srgbClr val="FF0000"/>
                </a:solidFill>
              </a:rPr>
              <a:t>심결의</a:t>
            </a:r>
            <a:r>
              <a:rPr lang="ko-KR" altLang="en-US" sz="1400" dirty="0">
                <a:solidFill>
                  <a:srgbClr val="FF0000"/>
                </a:solidFill>
              </a:rPr>
              <a:t> 모순</a:t>
            </a:r>
            <a:r>
              <a:rPr lang="en-US" altLang="ko-KR" sz="1400" dirty="0">
                <a:solidFill>
                  <a:srgbClr val="FF0000"/>
                </a:solidFill>
              </a:rPr>
              <a:t>·</a:t>
            </a:r>
            <a:r>
              <a:rPr lang="ko-KR" altLang="en-US" sz="1400" dirty="0">
                <a:solidFill>
                  <a:srgbClr val="FF0000"/>
                </a:solidFill>
              </a:rPr>
              <a:t>저촉을 방지하고 심판절차의 경제를 꾀하기 위한 것이어서</a:t>
            </a:r>
            <a:r>
              <a:rPr lang="en-US" altLang="ko-KR" sz="1400" dirty="0">
                <a:solidFill>
                  <a:srgbClr val="FF0000"/>
                </a:solidFill>
              </a:rPr>
              <a:t>, </a:t>
            </a:r>
            <a:r>
              <a:rPr lang="ko-KR" altLang="en-US" sz="1400" dirty="0">
                <a:solidFill>
                  <a:srgbClr val="FF0000"/>
                </a:solidFill>
              </a:rPr>
              <a:t>일사부재리 원칙과 일부 취지를 같이 하지만 그 요건 및 적용범위에 차이가 있으므로</a:t>
            </a:r>
            <a:r>
              <a:rPr lang="en-US" altLang="ko-KR" sz="1400" dirty="0">
                <a:solidFill>
                  <a:srgbClr val="FF0000"/>
                </a:solidFill>
              </a:rPr>
              <a:t>, </a:t>
            </a:r>
            <a:r>
              <a:rPr lang="ko-KR" altLang="en-US" sz="1400" dirty="0">
                <a:solidFill>
                  <a:srgbClr val="FF0000"/>
                </a:solidFill>
              </a:rPr>
              <a:t>후심판이 중복심판청구에 해당하는지 여부까지 위 전원합의체 판결을 들어 후심판청구 시를 기준으로 판단할 것은 아니다</a:t>
            </a:r>
            <a:r>
              <a:rPr lang="en-US" altLang="ko-KR" sz="1400" dirty="0">
                <a:solidFill>
                  <a:srgbClr val="FF0000"/>
                </a:solidFill>
              </a:rPr>
              <a:t>.</a:t>
            </a:r>
          </a:p>
        </p:txBody>
      </p:sp>
      <p:sp>
        <p:nvSpPr>
          <p:cNvPr id="42" name="Line 5">
            <a:extLst>
              <a:ext uri="{FF2B5EF4-FFF2-40B4-BE49-F238E27FC236}">
                <a16:creationId xmlns:a16="http://schemas.microsoft.com/office/drawing/2014/main" id="{C3D521F3-C89A-4691-A233-1BC4F6DB64D3}"/>
              </a:ext>
            </a:extLst>
          </p:cNvPr>
          <p:cNvSpPr>
            <a:spLocks noChangeShapeType="1"/>
          </p:cNvSpPr>
          <p:nvPr/>
        </p:nvSpPr>
        <p:spPr bwMode="auto">
          <a:xfrm>
            <a:off x="514351" y="6169843"/>
            <a:ext cx="11530012"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4" name="TextBox 43">
            <a:extLst>
              <a:ext uri="{FF2B5EF4-FFF2-40B4-BE49-F238E27FC236}">
                <a16:creationId xmlns:a16="http://schemas.microsoft.com/office/drawing/2014/main" id="{890F57E0-0C93-429E-B52D-950B18A62824}"/>
              </a:ext>
            </a:extLst>
          </p:cNvPr>
          <p:cNvSpPr txBox="1"/>
          <p:nvPr/>
        </p:nvSpPr>
        <p:spPr>
          <a:xfrm>
            <a:off x="291912" y="6434650"/>
            <a:ext cx="1229454"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무효심판청구</a:t>
            </a:r>
          </a:p>
        </p:txBody>
      </p:sp>
      <p:sp>
        <p:nvSpPr>
          <p:cNvPr id="47" name="타원 46">
            <a:extLst>
              <a:ext uri="{FF2B5EF4-FFF2-40B4-BE49-F238E27FC236}">
                <a16:creationId xmlns:a16="http://schemas.microsoft.com/office/drawing/2014/main" id="{1E416A6A-17E0-4A3B-8C28-9560A00280A4}"/>
              </a:ext>
            </a:extLst>
          </p:cNvPr>
          <p:cNvSpPr/>
          <p:nvPr/>
        </p:nvSpPr>
        <p:spPr>
          <a:xfrm>
            <a:off x="829269" y="608454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8" name="직선 연결선 47">
            <a:extLst>
              <a:ext uri="{FF2B5EF4-FFF2-40B4-BE49-F238E27FC236}">
                <a16:creationId xmlns:a16="http://schemas.microsoft.com/office/drawing/2014/main" id="{94B9FD84-6472-4A38-96A7-0961D12BE1A4}"/>
              </a:ext>
            </a:extLst>
          </p:cNvPr>
          <p:cNvCxnSpPr>
            <a:cxnSpLocks/>
            <a:stCxn id="44" idx="0"/>
            <a:endCxn id="47" idx="4"/>
          </p:cNvCxnSpPr>
          <p:nvPr/>
        </p:nvCxnSpPr>
        <p:spPr>
          <a:xfrm flipH="1" flipV="1">
            <a:off x="906638" y="624587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B93DE314-156B-4AE0-A6A1-A3E38D2DAD5E}"/>
              </a:ext>
            </a:extLst>
          </p:cNvPr>
          <p:cNvSpPr txBox="1"/>
          <p:nvPr/>
        </p:nvSpPr>
        <p:spPr>
          <a:xfrm>
            <a:off x="1620234" y="6434650"/>
            <a:ext cx="803324"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29" name="타원 28">
            <a:extLst>
              <a:ext uri="{FF2B5EF4-FFF2-40B4-BE49-F238E27FC236}">
                <a16:creationId xmlns:a16="http://schemas.microsoft.com/office/drawing/2014/main" id="{BF25F9F4-5090-4DB9-9E09-63BBFFE26323}"/>
              </a:ext>
            </a:extLst>
          </p:cNvPr>
          <p:cNvSpPr/>
          <p:nvPr/>
        </p:nvSpPr>
        <p:spPr>
          <a:xfrm>
            <a:off x="1944526" y="608454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0" name="직선 연결선 29">
            <a:extLst>
              <a:ext uri="{FF2B5EF4-FFF2-40B4-BE49-F238E27FC236}">
                <a16:creationId xmlns:a16="http://schemas.microsoft.com/office/drawing/2014/main" id="{80124424-B4CE-4C83-9036-BBB347007F6C}"/>
              </a:ext>
            </a:extLst>
          </p:cNvPr>
          <p:cNvCxnSpPr>
            <a:cxnSpLocks/>
            <a:stCxn id="28" idx="0"/>
            <a:endCxn id="29" idx="4"/>
          </p:cNvCxnSpPr>
          <p:nvPr/>
        </p:nvCxnSpPr>
        <p:spPr>
          <a:xfrm flipH="1" flipV="1">
            <a:off x="2021895" y="624587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4E752647-CA77-4730-9828-80C4ADAC153D}"/>
              </a:ext>
            </a:extLst>
          </p:cNvPr>
          <p:cNvSpPr txBox="1"/>
          <p:nvPr/>
        </p:nvSpPr>
        <p:spPr>
          <a:xfrm>
            <a:off x="4123755" y="6434650"/>
            <a:ext cx="688012"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상고</a:t>
            </a:r>
          </a:p>
        </p:txBody>
      </p:sp>
      <p:sp>
        <p:nvSpPr>
          <p:cNvPr id="56" name="타원 55">
            <a:extLst>
              <a:ext uri="{FF2B5EF4-FFF2-40B4-BE49-F238E27FC236}">
                <a16:creationId xmlns:a16="http://schemas.microsoft.com/office/drawing/2014/main" id="{CA50C72E-8883-4BC0-9B5A-9B09990D79CD}"/>
              </a:ext>
            </a:extLst>
          </p:cNvPr>
          <p:cNvSpPr/>
          <p:nvPr/>
        </p:nvSpPr>
        <p:spPr>
          <a:xfrm>
            <a:off x="4390391" y="608454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7" name="직선 연결선 56">
            <a:extLst>
              <a:ext uri="{FF2B5EF4-FFF2-40B4-BE49-F238E27FC236}">
                <a16:creationId xmlns:a16="http://schemas.microsoft.com/office/drawing/2014/main" id="{52B3968F-EB0B-4EEB-88EC-8B7FF3F3AE32}"/>
              </a:ext>
            </a:extLst>
          </p:cNvPr>
          <p:cNvCxnSpPr>
            <a:cxnSpLocks/>
            <a:stCxn id="55" idx="0"/>
            <a:endCxn id="56" idx="4"/>
          </p:cNvCxnSpPr>
          <p:nvPr/>
        </p:nvCxnSpPr>
        <p:spPr>
          <a:xfrm flipH="1" flipV="1">
            <a:off x="4467760" y="624587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92870961-7113-44E7-A09D-EB1E428958DF}"/>
              </a:ext>
            </a:extLst>
          </p:cNvPr>
          <p:cNvSpPr txBox="1"/>
          <p:nvPr/>
        </p:nvSpPr>
        <p:spPr>
          <a:xfrm>
            <a:off x="2493708" y="6434650"/>
            <a:ext cx="655168"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 제기</a:t>
            </a:r>
          </a:p>
        </p:txBody>
      </p:sp>
      <p:sp>
        <p:nvSpPr>
          <p:cNvPr id="41" name="타원 40">
            <a:extLst>
              <a:ext uri="{FF2B5EF4-FFF2-40B4-BE49-F238E27FC236}">
                <a16:creationId xmlns:a16="http://schemas.microsoft.com/office/drawing/2014/main" id="{C4D937AA-A7B0-40AE-B45B-7C6574C2C3AA}"/>
              </a:ext>
            </a:extLst>
          </p:cNvPr>
          <p:cNvSpPr/>
          <p:nvPr/>
        </p:nvSpPr>
        <p:spPr>
          <a:xfrm>
            <a:off x="2743922" y="608454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3" name="직선 연결선 42">
            <a:extLst>
              <a:ext uri="{FF2B5EF4-FFF2-40B4-BE49-F238E27FC236}">
                <a16:creationId xmlns:a16="http://schemas.microsoft.com/office/drawing/2014/main" id="{A0D91A23-6C4C-4D4B-9AA8-C9707D9C82DF}"/>
              </a:ext>
            </a:extLst>
          </p:cNvPr>
          <p:cNvCxnSpPr>
            <a:cxnSpLocks/>
            <a:stCxn id="40" idx="0"/>
            <a:endCxn id="41" idx="4"/>
          </p:cNvCxnSpPr>
          <p:nvPr/>
        </p:nvCxnSpPr>
        <p:spPr>
          <a:xfrm flipH="1" flipV="1">
            <a:off x="2821291" y="624587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0A4CB4C9-0D8E-4EA5-A875-8F3EE3A47E86}"/>
              </a:ext>
            </a:extLst>
          </p:cNvPr>
          <p:cNvSpPr txBox="1"/>
          <p:nvPr/>
        </p:nvSpPr>
        <p:spPr>
          <a:xfrm>
            <a:off x="3249107" y="6434650"/>
            <a:ext cx="772178"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a:t>
            </a:r>
          </a:p>
        </p:txBody>
      </p:sp>
      <p:sp>
        <p:nvSpPr>
          <p:cNvPr id="65" name="타원 64">
            <a:extLst>
              <a:ext uri="{FF2B5EF4-FFF2-40B4-BE49-F238E27FC236}">
                <a16:creationId xmlns:a16="http://schemas.microsoft.com/office/drawing/2014/main" id="{4212CB8D-340A-4481-AD0F-E12545400930}"/>
              </a:ext>
            </a:extLst>
          </p:cNvPr>
          <p:cNvSpPr/>
          <p:nvPr/>
        </p:nvSpPr>
        <p:spPr>
          <a:xfrm>
            <a:off x="3557826" y="608454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6" name="직선 연결선 65">
            <a:extLst>
              <a:ext uri="{FF2B5EF4-FFF2-40B4-BE49-F238E27FC236}">
                <a16:creationId xmlns:a16="http://schemas.microsoft.com/office/drawing/2014/main" id="{6B69D885-7404-4F57-AE60-4ED6ED792BA7}"/>
              </a:ext>
            </a:extLst>
          </p:cNvPr>
          <p:cNvCxnSpPr>
            <a:cxnSpLocks/>
            <a:stCxn id="64" idx="0"/>
            <a:endCxn id="65" idx="4"/>
          </p:cNvCxnSpPr>
          <p:nvPr/>
        </p:nvCxnSpPr>
        <p:spPr>
          <a:xfrm flipH="1" flipV="1">
            <a:off x="3635195" y="624587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8DFFD9B4-DD50-4A0C-A73F-3AF78BD49A1A}"/>
              </a:ext>
            </a:extLst>
          </p:cNvPr>
          <p:cNvSpPr txBox="1"/>
          <p:nvPr/>
        </p:nvSpPr>
        <p:spPr>
          <a:xfrm>
            <a:off x="5082106" y="6434650"/>
            <a:ext cx="1139398"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기각판결선고</a:t>
            </a:r>
          </a:p>
        </p:txBody>
      </p:sp>
      <p:sp>
        <p:nvSpPr>
          <p:cNvPr id="75" name="타원 74">
            <a:extLst>
              <a:ext uri="{FF2B5EF4-FFF2-40B4-BE49-F238E27FC236}">
                <a16:creationId xmlns:a16="http://schemas.microsoft.com/office/drawing/2014/main" id="{3F6981AD-C0F2-4BBA-9AB4-2E780FD953DA}"/>
              </a:ext>
            </a:extLst>
          </p:cNvPr>
          <p:cNvSpPr/>
          <p:nvPr/>
        </p:nvSpPr>
        <p:spPr>
          <a:xfrm>
            <a:off x="5574435" y="608454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6" name="직선 연결선 75">
            <a:extLst>
              <a:ext uri="{FF2B5EF4-FFF2-40B4-BE49-F238E27FC236}">
                <a16:creationId xmlns:a16="http://schemas.microsoft.com/office/drawing/2014/main" id="{50F8C75E-9430-42C0-9132-FBDADFA56BD2}"/>
              </a:ext>
            </a:extLst>
          </p:cNvPr>
          <p:cNvCxnSpPr>
            <a:cxnSpLocks/>
            <a:stCxn id="73" idx="0"/>
            <a:endCxn id="75" idx="4"/>
          </p:cNvCxnSpPr>
          <p:nvPr/>
        </p:nvCxnSpPr>
        <p:spPr>
          <a:xfrm flipH="1" flipV="1">
            <a:off x="5651804" y="624587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직선 연결선 38">
            <a:extLst>
              <a:ext uri="{FF2B5EF4-FFF2-40B4-BE49-F238E27FC236}">
                <a16:creationId xmlns:a16="http://schemas.microsoft.com/office/drawing/2014/main" id="{8EBEB81B-2590-4C97-916A-77B3A16D975F}"/>
              </a:ext>
            </a:extLst>
          </p:cNvPr>
          <p:cNvCxnSpPr/>
          <p:nvPr/>
        </p:nvCxnSpPr>
        <p:spPr>
          <a:xfrm>
            <a:off x="0" y="4481362"/>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5EDAE12B-1A11-4CFB-8440-7897C4C97254}"/>
              </a:ext>
            </a:extLst>
          </p:cNvPr>
          <p:cNvSpPr txBox="1"/>
          <p:nvPr/>
        </p:nvSpPr>
        <p:spPr>
          <a:xfrm>
            <a:off x="3957882" y="4890170"/>
            <a:ext cx="1693922" cy="830997"/>
          </a:xfrm>
          <a:prstGeom prst="rect">
            <a:avLst/>
          </a:prstGeom>
          <a:solidFill>
            <a:schemeClr val="bg2">
              <a:lumMod val="9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甲으로부터 심판청구와 관련된 일체의 권리</a:t>
            </a:r>
            <a:r>
              <a:rPr lang="en-US" altLang="ko-KR" sz="1200" dirty="0">
                <a:solidFill>
                  <a:schemeClr val="tx1"/>
                </a:solidFill>
                <a:latin typeface="+mn-ea"/>
              </a:rPr>
              <a:t>, </a:t>
            </a:r>
            <a:r>
              <a:rPr lang="ko-KR" altLang="en-US" sz="1200" dirty="0">
                <a:solidFill>
                  <a:schemeClr val="tx1"/>
                </a:solidFill>
                <a:latin typeface="+mn-ea"/>
              </a:rPr>
              <a:t>의무를 양수한 乙이 </a:t>
            </a:r>
            <a:endParaRPr lang="en-US" altLang="ko-KR" sz="1200" dirty="0">
              <a:solidFill>
                <a:schemeClr val="tx1"/>
              </a:solidFill>
              <a:latin typeface="+mn-ea"/>
            </a:endParaRPr>
          </a:p>
          <a:p>
            <a:pPr algn="ctr"/>
            <a:r>
              <a:rPr lang="ko-KR" altLang="en-US" sz="1200" dirty="0">
                <a:solidFill>
                  <a:schemeClr val="tx1"/>
                </a:solidFill>
                <a:latin typeface="+mn-ea"/>
              </a:rPr>
              <a:t>무효심판청구</a:t>
            </a:r>
          </a:p>
        </p:txBody>
      </p:sp>
      <p:sp>
        <p:nvSpPr>
          <p:cNvPr id="50" name="타원 49">
            <a:extLst>
              <a:ext uri="{FF2B5EF4-FFF2-40B4-BE49-F238E27FC236}">
                <a16:creationId xmlns:a16="http://schemas.microsoft.com/office/drawing/2014/main" id="{690B849F-8937-47A8-B2B3-49AFD8C47749}"/>
              </a:ext>
            </a:extLst>
          </p:cNvPr>
          <p:cNvSpPr/>
          <p:nvPr/>
        </p:nvSpPr>
        <p:spPr>
          <a:xfrm>
            <a:off x="4727474" y="6097806"/>
            <a:ext cx="154738" cy="161338"/>
          </a:xfrm>
          <a:prstGeom prst="ellipse">
            <a:avLst/>
          </a:prstGeom>
          <a:solidFill>
            <a:schemeClr val="bg2">
              <a:lumMod val="1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4" name="직선 연결선 53">
            <a:extLst>
              <a:ext uri="{FF2B5EF4-FFF2-40B4-BE49-F238E27FC236}">
                <a16:creationId xmlns:a16="http://schemas.microsoft.com/office/drawing/2014/main" id="{4FBAC46A-2942-453E-91A7-4F468753B279}"/>
              </a:ext>
            </a:extLst>
          </p:cNvPr>
          <p:cNvCxnSpPr>
            <a:cxnSpLocks/>
            <a:stCxn id="38" idx="2"/>
            <a:endCxn id="50" idx="0"/>
          </p:cNvCxnSpPr>
          <p:nvPr/>
        </p:nvCxnSpPr>
        <p:spPr>
          <a:xfrm>
            <a:off x="4804843" y="5721167"/>
            <a:ext cx="0" cy="37663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3A39314E-FC3B-4289-9657-6304CD4CAA4E}"/>
              </a:ext>
            </a:extLst>
          </p:cNvPr>
          <p:cNvSpPr txBox="1"/>
          <p:nvPr/>
        </p:nvSpPr>
        <p:spPr>
          <a:xfrm>
            <a:off x="5960867" y="4579618"/>
            <a:ext cx="5798216" cy="1384995"/>
          </a:xfrm>
          <a:prstGeom prst="rect">
            <a:avLst/>
          </a:prstGeom>
          <a:solidFill>
            <a:schemeClr val="bg2">
              <a:lumMod val="9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➀ 이 사건과 같이 전심판의 계속 중 후심판이 청구되었는데 후심판의 </a:t>
            </a:r>
            <a:r>
              <a:rPr lang="ko-KR" altLang="en-US" sz="1200" dirty="0" err="1">
                <a:solidFill>
                  <a:schemeClr val="tx1"/>
                </a:solidFill>
                <a:latin typeface="+mn-ea"/>
              </a:rPr>
              <a:t>심결</a:t>
            </a:r>
            <a:r>
              <a:rPr lang="ko-KR" altLang="en-US" sz="1200" dirty="0">
                <a:solidFill>
                  <a:schemeClr val="tx1"/>
                </a:solidFill>
                <a:latin typeface="+mn-ea"/>
              </a:rPr>
              <a:t> 시에는 전심판이 확정되어 중복상태가 해소된 경우</a:t>
            </a:r>
            <a:r>
              <a:rPr lang="en-US" altLang="ko-KR" sz="1200" dirty="0">
                <a:solidFill>
                  <a:schemeClr val="tx1"/>
                </a:solidFill>
                <a:latin typeface="+mn-ea"/>
              </a:rPr>
              <a:t>, </a:t>
            </a:r>
            <a:r>
              <a:rPr lang="ko-KR" altLang="en-US" sz="1200" dirty="0">
                <a:solidFill>
                  <a:schemeClr val="tx1"/>
                </a:solidFill>
                <a:latin typeface="+mn-ea"/>
              </a:rPr>
              <a:t>중복심판청구에 해당하지 않고 일사부재리 원칙도 적용되지 않아 </a:t>
            </a:r>
            <a:r>
              <a:rPr lang="ko-KR" altLang="en-US" sz="1200" dirty="0" err="1">
                <a:solidFill>
                  <a:schemeClr val="tx1"/>
                </a:solidFill>
                <a:latin typeface="+mn-ea"/>
              </a:rPr>
              <a:t>심결의</a:t>
            </a:r>
            <a:r>
              <a:rPr lang="ko-KR" altLang="en-US" sz="1200" dirty="0">
                <a:solidFill>
                  <a:schemeClr val="tx1"/>
                </a:solidFill>
                <a:latin typeface="+mn-ea"/>
              </a:rPr>
              <a:t> 모순</a:t>
            </a:r>
            <a:r>
              <a:rPr lang="en-US" altLang="ko-KR" sz="1200" dirty="0">
                <a:solidFill>
                  <a:schemeClr val="tx1"/>
                </a:solidFill>
                <a:latin typeface="+mn-ea"/>
              </a:rPr>
              <a:t>, </a:t>
            </a:r>
            <a:r>
              <a:rPr lang="ko-KR" altLang="en-US" sz="1200" dirty="0">
                <a:solidFill>
                  <a:schemeClr val="tx1"/>
                </a:solidFill>
                <a:latin typeface="+mn-ea"/>
              </a:rPr>
              <a:t>저촉이 발생할 여지가 생기는 것은 일사부재리의 판단기준시를 심판청구 시로 보게 됨으로써 발생하는 불가피한 공백이다</a:t>
            </a:r>
            <a:r>
              <a:rPr lang="en-US" altLang="ko-KR" sz="1200" dirty="0">
                <a:solidFill>
                  <a:schemeClr val="tx1"/>
                </a:solidFill>
                <a:latin typeface="+mn-ea"/>
              </a:rPr>
              <a:t>. ➁ </a:t>
            </a:r>
            <a:r>
              <a:rPr lang="ko-KR" altLang="en-US" sz="1200" dirty="0">
                <a:solidFill>
                  <a:schemeClr val="tx1"/>
                </a:solidFill>
                <a:latin typeface="+mn-ea"/>
              </a:rPr>
              <a:t>이러한 공백을 메우기 위하여 중복심판청구의 판단기준 시점을 심판청구 시로 볼 이익이</a:t>
            </a:r>
            <a:r>
              <a:rPr lang="en-US" altLang="ko-KR" sz="1200" dirty="0">
                <a:solidFill>
                  <a:schemeClr val="tx1"/>
                </a:solidFill>
                <a:latin typeface="+mn-ea"/>
              </a:rPr>
              <a:t>, </a:t>
            </a:r>
            <a:r>
              <a:rPr lang="ko-KR" altLang="en-US" sz="1200" dirty="0">
                <a:solidFill>
                  <a:schemeClr val="tx1"/>
                </a:solidFill>
                <a:latin typeface="+mn-ea"/>
              </a:rPr>
              <a:t>그로 인해 </a:t>
            </a:r>
            <a:r>
              <a:rPr lang="ko-KR" altLang="en-US" sz="1200" dirty="0" err="1">
                <a:solidFill>
                  <a:schemeClr val="tx1"/>
                </a:solidFill>
                <a:latin typeface="+mn-ea"/>
              </a:rPr>
              <a:t>전심판</a:t>
            </a:r>
            <a:r>
              <a:rPr lang="ko-KR" altLang="en-US" sz="1200" dirty="0">
                <a:solidFill>
                  <a:schemeClr val="tx1"/>
                </a:solidFill>
                <a:latin typeface="+mn-ea"/>
              </a:rPr>
              <a:t> 계속 중 동일 당사자에 의한 </a:t>
            </a:r>
            <a:r>
              <a:rPr lang="ko-KR" altLang="en-US" sz="1200" dirty="0" err="1">
                <a:solidFill>
                  <a:schemeClr val="tx1"/>
                </a:solidFill>
                <a:latin typeface="+mn-ea"/>
              </a:rPr>
              <a:t>후심판</a:t>
            </a:r>
            <a:r>
              <a:rPr lang="ko-KR" altLang="en-US" sz="1200" dirty="0">
                <a:solidFill>
                  <a:schemeClr val="tx1"/>
                </a:solidFill>
                <a:latin typeface="+mn-ea"/>
              </a:rPr>
              <a:t> 청구가 </a:t>
            </a:r>
            <a:r>
              <a:rPr lang="ko-KR" altLang="en-US" sz="1200" dirty="0" err="1">
                <a:solidFill>
                  <a:schemeClr val="tx1"/>
                </a:solidFill>
                <a:latin typeface="+mn-ea"/>
              </a:rPr>
              <a:t>심결</a:t>
            </a:r>
            <a:r>
              <a:rPr lang="ko-KR" altLang="en-US" sz="1200" dirty="0">
                <a:solidFill>
                  <a:schemeClr val="tx1"/>
                </a:solidFill>
                <a:latin typeface="+mn-ea"/>
              </a:rPr>
              <a:t> 전에는 </a:t>
            </a:r>
            <a:r>
              <a:rPr lang="ko-KR" altLang="en-US" sz="1200" dirty="0" err="1">
                <a:solidFill>
                  <a:schemeClr val="tx1"/>
                </a:solidFill>
                <a:latin typeface="+mn-ea"/>
              </a:rPr>
              <a:t>전심판</a:t>
            </a:r>
            <a:r>
              <a:rPr lang="ko-KR" altLang="en-US" sz="1200" dirty="0">
                <a:solidFill>
                  <a:schemeClr val="tx1"/>
                </a:solidFill>
                <a:latin typeface="+mn-ea"/>
              </a:rPr>
              <a:t> 계속이 소멸될 여지가 있음에도 전면적으로 제한되는 문제보다 크다고 할 수 없다</a:t>
            </a:r>
            <a:r>
              <a:rPr lang="en-US" altLang="ko-KR" sz="1200" dirty="0">
                <a:solidFill>
                  <a:schemeClr val="tx1"/>
                </a:solidFill>
                <a:latin typeface="+mn-ea"/>
              </a:rPr>
              <a:t>. </a:t>
            </a:r>
            <a:endParaRPr lang="ko-KR" altLang="en-US" sz="1200" dirty="0">
              <a:solidFill>
                <a:schemeClr val="tx1"/>
              </a:solidFill>
              <a:latin typeface="+mn-ea"/>
            </a:endParaRPr>
          </a:p>
        </p:txBody>
      </p:sp>
      <p:sp>
        <p:nvSpPr>
          <p:cNvPr id="59" name="타원 58">
            <a:extLst>
              <a:ext uri="{FF2B5EF4-FFF2-40B4-BE49-F238E27FC236}">
                <a16:creationId xmlns:a16="http://schemas.microsoft.com/office/drawing/2014/main" id="{0009FD59-6146-4CA0-8F22-56CE7AB598C0}"/>
              </a:ext>
            </a:extLst>
          </p:cNvPr>
          <p:cNvSpPr/>
          <p:nvPr/>
        </p:nvSpPr>
        <p:spPr>
          <a:xfrm>
            <a:off x="9741507" y="6097806"/>
            <a:ext cx="154738" cy="161338"/>
          </a:xfrm>
          <a:prstGeom prst="ellipse">
            <a:avLst/>
          </a:prstGeom>
          <a:solidFill>
            <a:schemeClr val="bg2">
              <a:lumMod val="1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24" name="연결선: 꺾임 23">
            <a:extLst>
              <a:ext uri="{FF2B5EF4-FFF2-40B4-BE49-F238E27FC236}">
                <a16:creationId xmlns:a16="http://schemas.microsoft.com/office/drawing/2014/main" id="{44E2F0F8-8310-4A42-BE2C-785C7C078C0A}"/>
              </a:ext>
            </a:extLst>
          </p:cNvPr>
          <p:cNvCxnSpPr>
            <a:stCxn id="58" idx="2"/>
            <a:endCxn id="59" idx="0"/>
          </p:cNvCxnSpPr>
          <p:nvPr/>
        </p:nvCxnSpPr>
        <p:spPr>
          <a:xfrm rot="16200000" flipH="1">
            <a:off x="9272829" y="5551758"/>
            <a:ext cx="133193" cy="958901"/>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 name="직선 연결선 5">
            <a:extLst>
              <a:ext uri="{FF2B5EF4-FFF2-40B4-BE49-F238E27FC236}">
                <a16:creationId xmlns:a16="http://schemas.microsoft.com/office/drawing/2014/main" id="{FE68AC8F-2392-411A-94DD-1D69A7327AD5}"/>
              </a:ext>
            </a:extLst>
          </p:cNvPr>
          <p:cNvCxnSpPr/>
          <p:nvPr/>
        </p:nvCxnSpPr>
        <p:spPr>
          <a:xfrm>
            <a:off x="514351" y="5028191"/>
            <a:ext cx="2979347"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FDC1C46B-18CC-492C-989A-D110052B8516}"/>
              </a:ext>
            </a:extLst>
          </p:cNvPr>
          <p:cNvSpPr txBox="1"/>
          <p:nvPr/>
        </p:nvSpPr>
        <p:spPr>
          <a:xfrm>
            <a:off x="458931" y="5254977"/>
            <a:ext cx="895416" cy="246221"/>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전심판청구</a:t>
            </a:r>
          </a:p>
        </p:txBody>
      </p:sp>
      <p:sp>
        <p:nvSpPr>
          <p:cNvPr id="45" name="타원 44">
            <a:extLst>
              <a:ext uri="{FF2B5EF4-FFF2-40B4-BE49-F238E27FC236}">
                <a16:creationId xmlns:a16="http://schemas.microsoft.com/office/drawing/2014/main" id="{B38FBF64-5F19-4B39-8EF4-B31F1678E3C9}"/>
              </a:ext>
            </a:extLst>
          </p:cNvPr>
          <p:cNvSpPr/>
          <p:nvPr/>
        </p:nvSpPr>
        <p:spPr>
          <a:xfrm>
            <a:off x="829269" y="4947998"/>
            <a:ext cx="154738" cy="161338"/>
          </a:xfrm>
          <a:prstGeom prst="ellipse">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6" name="직선 연결선 45">
            <a:extLst>
              <a:ext uri="{FF2B5EF4-FFF2-40B4-BE49-F238E27FC236}">
                <a16:creationId xmlns:a16="http://schemas.microsoft.com/office/drawing/2014/main" id="{A2262894-2D59-4375-A267-7F7E68911BAF}"/>
              </a:ext>
            </a:extLst>
          </p:cNvPr>
          <p:cNvCxnSpPr>
            <a:cxnSpLocks/>
            <a:stCxn id="37" idx="0"/>
            <a:endCxn id="45" idx="4"/>
          </p:cNvCxnSpPr>
          <p:nvPr/>
        </p:nvCxnSpPr>
        <p:spPr>
          <a:xfrm flipH="1" flipV="1">
            <a:off x="906638" y="5109336"/>
            <a:ext cx="1" cy="14564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96D05EB6-E882-4B28-9E24-51D4A69DBB97}"/>
              </a:ext>
            </a:extLst>
          </p:cNvPr>
          <p:cNvSpPr txBox="1"/>
          <p:nvPr/>
        </p:nvSpPr>
        <p:spPr>
          <a:xfrm>
            <a:off x="1172526" y="4583896"/>
            <a:ext cx="895416" cy="246221"/>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후심판청구</a:t>
            </a:r>
          </a:p>
        </p:txBody>
      </p:sp>
      <p:sp>
        <p:nvSpPr>
          <p:cNvPr id="51" name="타원 50">
            <a:extLst>
              <a:ext uri="{FF2B5EF4-FFF2-40B4-BE49-F238E27FC236}">
                <a16:creationId xmlns:a16="http://schemas.microsoft.com/office/drawing/2014/main" id="{ED5FFE6E-8851-4C11-BC95-2F9A882FC8C9}"/>
              </a:ext>
            </a:extLst>
          </p:cNvPr>
          <p:cNvSpPr/>
          <p:nvPr/>
        </p:nvSpPr>
        <p:spPr>
          <a:xfrm>
            <a:off x="1542865" y="4947998"/>
            <a:ext cx="154738" cy="161338"/>
          </a:xfrm>
          <a:prstGeom prst="ellipse">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2" name="직선 연결선 51">
            <a:extLst>
              <a:ext uri="{FF2B5EF4-FFF2-40B4-BE49-F238E27FC236}">
                <a16:creationId xmlns:a16="http://schemas.microsoft.com/office/drawing/2014/main" id="{C3ABAB03-320A-430A-84C0-6384B5F19C02}"/>
              </a:ext>
            </a:extLst>
          </p:cNvPr>
          <p:cNvCxnSpPr>
            <a:cxnSpLocks/>
            <a:stCxn id="49" idx="2"/>
            <a:endCxn id="51" idx="0"/>
          </p:cNvCxnSpPr>
          <p:nvPr/>
        </p:nvCxnSpPr>
        <p:spPr>
          <a:xfrm>
            <a:off x="1620234" y="4830117"/>
            <a:ext cx="0" cy="11788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CA81192-035C-4292-82C7-6C65E229385B}"/>
              </a:ext>
            </a:extLst>
          </p:cNvPr>
          <p:cNvSpPr txBox="1"/>
          <p:nvPr/>
        </p:nvSpPr>
        <p:spPr>
          <a:xfrm>
            <a:off x="1848506" y="5254977"/>
            <a:ext cx="895416" cy="246221"/>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err="1">
                <a:solidFill>
                  <a:schemeClr val="tx1"/>
                </a:solidFill>
                <a:latin typeface="+mn-ea"/>
              </a:rPr>
              <a:t>심결확정</a:t>
            </a:r>
            <a:endParaRPr lang="ko-KR" altLang="en-US" sz="1000" dirty="0">
              <a:solidFill>
                <a:schemeClr val="tx1"/>
              </a:solidFill>
              <a:latin typeface="+mn-ea"/>
            </a:endParaRPr>
          </a:p>
        </p:txBody>
      </p:sp>
      <p:sp>
        <p:nvSpPr>
          <p:cNvPr id="60" name="타원 59">
            <a:extLst>
              <a:ext uri="{FF2B5EF4-FFF2-40B4-BE49-F238E27FC236}">
                <a16:creationId xmlns:a16="http://schemas.microsoft.com/office/drawing/2014/main" id="{2D99A7BE-E10C-4F43-A048-C0C2B009DE74}"/>
              </a:ext>
            </a:extLst>
          </p:cNvPr>
          <p:cNvSpPr/>
          <p:nvPr/>
        </p:nvSpPr>
        <p:spPr>
          <a:xfrm>
            <a:off x="2218844" y="4947998"/>
            <a:ext cx="154738" cy="161338"/>
          </a:xfrm>
          <a:prstGeom prst="ellipse">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1" name="직선 연결선 60">
            <a:extLst>
              <a:ext uri="{FF2B5EF4-FFF2-40B4-BE49-F238E27FC236}">
                <a16:creationId xmlns:a16="http://schemas.microsoft.com/office/drawing/2014/main" id="{AB2CFA75-73A6-4150-B502-3E1F2C6DB7CE}"/>
              </a:ext>
            </a:extLst>
          </p:cNvPr>
          <p:cNvCxnSpPr>
            <a:cxnSpLocks/>
            <a:stCxn id="53" idx="0"/>
            <a:endCxn id="60" idx="4"/>
          </p:cNvCxnSpPr>
          <p:nvPr/>
        </p:nvCxnSpPr>
        <p:spPr>
          <a:xfrm flipH="1" flipV="1">
            <a:off x="2296213" y="5109336"/>
            <a:ext cx="1" cy="14564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7136A165-26ED-47E2-B3A5-C9DD069777BE}"/>
              </a:ext>
            </a:extLst>
          </p:cNvPr>
          <p:cNvSpPr txBox="1"/>
          <p:nvPr/>
        </p:nvSpPr>
        <p:spPr>
          <a:xfrm>
            <a:off x="2535469" y="4583896"/>
            <a:ext cx="895416" cy="246221"/>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err="1">
                <a:solidFill>
                  <a:schemeClr val="tx1"/>
                </a:solidFill>
                <a:latin typeface="+mn-ea"/>
              </a:rPr>
              <a:t>심결시</a:t>
            </a:r>
            <a:endParaRPr lang="ko-KR" altLang="en-US" sz="1000" dirty="0">
              <a:solidFill>
                <a:schemeClr val="tx1"/>
              </a:solidFill>
              <a:latin typeface="+mn-ea"/>
            </a:endParaRPr>
          </a:p>
        </p:txBody>
      </p:sp>
      <p:sp>
        <p:nvSpPr>
          <p:cNvPr id="63" name="타원 62">
            <a:extLst>
              <a:ext uri="{FF2B5EF4-FFF2-40B4-BE49-F238E27FC236}">
                <a16:creationId xmlns:a16="http://schemas.microsoft.com/office/drawing/2014/main" id="{6B2A0977-4B59-4A82-B2DE-50E69897F928}"/>
              </a:ext>
            </a:extLst>
          </p:cNvPr>
          <p:cNvSpPr/>
          <p:nvPr/>
        </p:nvSpPr>
        <p:spPr>
          <a:xfrm>
            <a:off x="2905808" y="4947998"/>
            <a:ext cx="154738" cy="161338"/>
          </a:xfrm>
          <a:prstGeom prst="ellipse">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7" name="직선 연결선 66">
            <a:extLst>
              <a:ext uri="{FF2B5EF4-FFF2-40B4-BE49-F238E27FC236}">
                <a16:creationId xmlns:a16="http://schemas.microsoft.com/office/drawing/2014/main" id="{DB66E660-6826-4FFE-A3D8-CF7CE6E850D1}"/>
              </a:ext>
            </a:extLst>
          </p:cNvPr>
          <p:cNvCxnSpPr>
            <a:cxnSpLocks/>
            <a:stCxn id="62" idx="2"/>
            <a:endCxn id="63" idx="0"/>
          </p:cNvCxnSpPr>
          <p:nvPr/>
        </p:nvCxnSpPr>
        <p:spPr>
          <a:xfrm>
            <a:off x="2983177" y="4830117"/>
            <a:ext cx="0" cy="11788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직사각형 11">
            <a:extLst>
              <a:ext uri="{FF2B5EF4-FFF2-40B4-BE49-F238E27FC236}">
                <a16:creationId xmlns:a16="http://schemas.microsoft.com/office/drawing/2014/main" id="{75BB076A-D18A-468B-8245-96F319D0CC67}"/>
              </a:ext>
            </a:extLst>
          </p:cNvPr>
          <p:cNvSpPr/>
          <p:nvPr/>
        </p:nvSpPr>
        <p:spPr>
          <a:xfrm>
            <a:off x="291912" y="4514238"/>
            <a:ext cx="3343283" cy="1069614"/>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자유형: 도형 12">
            <a:extLst>
              <a:ext uri="{FF2B5EF4-FFF2-40B4-BE49-F238E27FC236}">
                <a16:creationId xmlns:a16="http://schemas.microsoft.com/office/drawing/2014/main" id="{895D426E-EAD6-4E5A-BD65-5B946A2425C8}"/>
              </a:ext>
            </a:extLst>
          </p:cNvPr>
          <p:cNvSpPr/>
          <p:nvPr/>
        </p:nvSpPr>
        <p:spPr>
          <a:xfrm>
            <a:off x="5874589" y="4528868"/>
            <a:ext cx="5978105" cy="828136"/>
          </a:xfrm>
          <a:custGeom>
            <a:avLst/>
            <a:gdLst>
              <a:gd name="connsiteX0" fmla="*/ 129396 w 5978105"/>
              <a:gd name="connsiteY0" fmla="*/ 0 h 828136"/>
              <a:gd name="connsiteX1" fmla="*/ 5978105 w 5978105"/>
              <a:gd name="connsiteY1" fmla="*/ 0 h 828136"/>
              <a:gd name="connsiteX2" fmla="*/ 5978105 w 5978105"/>
              <a:gd name="connsiteY2" fmla="*/ 603849 h 828136"/>
              <a:gd name="connsiteX3" fmla="*/ 5840083 w 5978105"/>
              <a:gd name="connsiteY3" fmla="*/ 629728 h 828136"/>
              <a:gd name="connsiteX4" fmla="*/ 3312543 w 5978105"/>
              <a:gd name="connsiteY4" fmla="*/ 629728 h 828136"/>
              <a:gd name="connsiteX5" fmla="*/ 3312543 w 5978105"/>
              <a:gd name="connsiteY5" fmla="*/ 828136 h 828136"/>
              <a:gd name="connsiteX6" fmla="*/ 0 w 5978105"/>
              <a:gd name="connsiteY6" fmla="*/ 828136 h 828136"/>
              <a:gd name="connsiteX7" fmla="*/ 0 w 5978105"/>
              <a:gd name="connsiteY7" fmla="*/ 0 h 828136"/>
              <a:gd name="connsiteX8" fmla="*/ 310551 w 5978105"/>
              <a:gd name="connsiteY8" fmla="*/ 0 h 828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78105" h="828136">
                <a:moveTo>
                  <a:pt x="129396" y="0"/>
                </a:moveTo>
                <a:lnTo>
                  <a:pt x="5978105" y="0"/>
                </a:lnTo>
                <a:lnTo>
                  <a:pt x="5978105" y="603849"/>
                </a:lnTo>
                <a:cubicBezTo>
                  <a:pt x="5857557" y="631668"/>
                  <a:pt x="5904325" y="629728"/>
                  <a:pt x="5840083" y="629728"/>
                </a:cubicBezTo>
                <a:lnTo>
                  <a:pt x="3312543" y="629728"/>
                </a:lnTo>
                <a:lnTo>
                  <a:pt x="3312543" y="828136"/>
                </a:lnTo>
                <a:lnTo>
                  <a:pt x="0" y="828136"/>
                </a:lnTo>
                <a:lnTo>
                  <a:pt x="0" y="0"/>
                </a:lnTo>
                <a:lnTo>
                  <a:pt x="310551" y="0"/>
                </a:lnTo>
              </a:path>
            </a:pathLst>
          </a:cu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n w="57150">
                <a:solidFill>
                  <a:srgbClr val="FF0000"/>
                </a:solidFill>
              </a:ln>
            </a:endParaRPr>
          </a:p>
        </p:txBody>
      </p:sp>
      <p:cxnSp>
        <p:nvCxnSpPr>
          <p:cNvPr id="15" name="직선 연결선 14">
            <a:extLst>
              <a:ext uri="{FF2B5EF4-FFF2-40B4-BE49-F238E27FC236}">
                <a16:creationId xmlns:a16="http://schemas.microsoft.com/office/drawing/2014/main" id="{FBCC1253-C3D9-4815-9A87-77AC338DEA32}"/>
              </a:ext>
            </a:extLst>
          </p:cNvPr>
          <p:cNvCxnSpPr/>
          <p:nvPr/>
        </p:nvCxnSpPr>
        <p:spPr>
          <a:xfrm flipH="1">
            <a:off x="3635195" y="4735902"/>
            <a:ext cx="2239394" cy="0"/>
          </a:xfrm>
          <a:prstGeom prst="line">
            <a:avLst/>
          </a:prstGeom>
          <a:ln w="12700">
            <a:solidFill>
              <a:schemeClr val="bg1">
                <a:lumMod val="50000"/>
              </a:schemeClr>
            </a:solidFill>
            <a:headEnd type="none" w="med" len="med"/>
            <a:tailEnd type="stealth"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3670239"/>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141</a:t>
            </a:r>
            <a:r>
              <a:rPr lang="ko-KR" altLang="en-US" dirty="0"/>
              <a:t>조</a:t>
            </a:r>
            <a:r>
              <a:rPr lang="en-US" altLang="ko-KR" dirty="0"/>
              <a:t>, </a:t>
            </a:r>
            <a:r>
              <a:rPr lang="ko-KR" altLang="en-US" dirty="0"/>
              <a:t>제</a:t>
            </a:r>
            <a:r>
              <a:rPr lang="en-US" altLang="ko-KR" dirty="0"/>
              <a:t>142</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심판의 진행</a:t>
            </a:r>
          </a:p>
        </p:txBody>
      </p:sp>
      <p:sp>
        <p:nvSpPr>
          <p:cNvPr id="4" name="슬라이드 번호 개체 틀 3"/>
          <p:cNvSpPr>
            <a:spLocks noGrp="1"/>
          </p:cNvSpPr>
          <p:nvPr>
            <p:ph type="sldNum" sz="quarter" idx="4294967295"/>
          </p:nvPr>
        </p:nvSpPr>
        <p:spPr>
          <a:xfrm>
            <a:off x="11125200" y="0"/>
            <a:ext cx="1066800" cy="711200"/>
          </a:xfrm>
        </p:spPr>
        <p:txBody>
          <a:bodyPr/>
          <a:lstStyle/>
          <a:p>
            <a:r>
              <a:rPr lang="en-US" altLang="ko-KR"/>
              <a:t>446</a:t>
            </a:r>
            <a:endParaRPr lang="ko-KR" altLang="en-US" dirty="0"/>
          </a:p>
        </p:txBody>
      </p:sp>
      <p:sp>
        <p:nvSpPr>
          <p:cNvPr id="51" name="모서리가 둥근 직사각형 3">
            <a:extLst>
              <a:ext uri="{FF2B5EF4-FFF2-40B4-BE49-F238E27FC236}">
                <a16:creationId xmlns:a16="http://schemas.microsoft.com/office/drawing/2014/main" id="{C6A52660-E50F-4327-BC75-66CAD5BD3C8B}"/>
              </a:ext>
            </a:extLst>
          </p:cNvPr>
          <p:cNvSpPr/>
          <p:nvPr/>
        </p:nvSpPr>
        <p:spPr>
          <a:xfrm>
            <a:off x="4729163" y="1123950"/>
            <a:ext cx="1200150"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95000"/>
                  </a:schemeClr>
                </a:solidFill>
              </a:rPr>
              <a:t>피청구인</a:t>
            </a:r>
          </a:p>
        </p:txBody>
      </p:sp>
      <p:cxnSp>
        <p:nvCxnSpPr>
          <p:cNvPr id="52" name="직선 연결선 51">
            <a:extLst>
              <a:ext uri="{FF2B5EF4-FFF2-40B4-BE49-F238E27FC236}">
                <a16:creationId xmlns:a16="http://schemas.microsoft.com/office/drawing/2014/main" id="{A3374DE8-C61B-4BAA-92B9-A67A843706CF}"/>
              </a:ext>
            </a:extLst>
          </p:cNvPr>
          <p:cNvCxnSpPr>
            <a:stCxn id="51" idx="2"/>
          </p:cNvCxnSpPr>
          <p:nvPr/>
        </p:nvCxnSpPr>
        <p:spPr>
          <a:xfrm>
            <a:off x="5329238" y="1447800"/>
            <a:ext cx="0" cy="50863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3" name="모서리가 둥근 직사각형 6">
            <a:extLst>
              <a:ext uri="{FF2B5EF4-FFF2-40B4-BE49-F238E27FC236}">
                <a16:creationId xmlns:a16="http://schemas.microsoft.com/office/drawing/2014/main" id="{01BB3979-5E2E-430F-8C59-18F74B3F1202}"/>
              </a:ext>
            </a:extLst>
          </p:cNvPr>
          <p:cNvSpPr/>
          <p:nvPr/>
        </p:nvSpPr>
        <p:spPr>
          <a:xfrm>
            <a:off x="2566988" y="1123950"/>
            <a:ext cx="1200150"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95000"/>
                  </a:schemeClr>
                </a:solidFill>
              </a:rPr>
              <a:t>심판원장</a:t>
            </a:r>
          </a:p>
        </p:txBody>
      </p:sp>
      <p:cxnSp>
        <p:nvCxnSpPr>
          <p:cNvPr id="54" name="직선 연결선 53">
            <a:extLst>
              <a:ext uri="{FF2B5EF4-FFF2-40B4-BE49-F238E27FC236}">
                <a16:creationId xmlns:a16="http://schemas.microsoft.com/office/drawing/2014/main" id="{45B9B0B5-020E-4975-A380-4E3E1EC990FA}"/>
              </a:ext>
            </a:extLst>
          </p:cNvPr>
          <p:cNvCxnSpPr>
            <a:stCxn id="53" idx="2"/>
          </p:cNvCxnSpPr>
          <p:nvPr/>
        </p:nvCxnSpPr>
        <p:spPr>
          <a:xfrm>
            <a:off x="3167063" y="1447800"/>
            <a:ext cx="0" cy="50863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모서리가 둥근 직사각형 8">
            <a:extLst>
              <a:ext uri="{FF2B5EF4-FFF2-40B4-BE49-F238E27FC236}">
                <a16:creationId xmlns:a16="http://schemas.microsoft.com/office/drawing/2014/main" id="{9D1F8D01-D1B9-438D-8AD7-B19543490687}"/>
              </a:ext>
            </a:extLst>
          </p:cNvPr>
          <p:cNvSpPr/>
          <p:nvPr/>
        </p:nvSpPr>
        <p:spPr>
          <a:xfrm>
            <a:off x="414338" y="1123950"/>
            <a:ext cx="1200150" cy="323850"/>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95000"/>
                  </a:schemeClr>
                </a:solidFill>
              </a:rPr>
              <a:t>청구인</a:t>
            </a:r>
          </a:p>
        </p:txBody>
      </p:sp>
      <p:cxnSp>
        <p:nvCxnSpPr>
          <p:cNvPr id="56" name="직선 연결선 55">
            <a:extLst>
              <a:ext uri="{FF2B5EF4-FFF2-40B4-BE49-F238E27FC236}">
                <a16:creationId xmlns:a16="http://schemas.microsoft.com/office/drawing/2014/main" id="{397BBF41-E3E0-469A-B377-D8730794467D}"/>
              </a:ext>
            </a:extLst>
          </p:cNvPr>
          <p:cNvCxnSpPr>
            <a:stCxn id="55" idx="2"/>
          </p:cNvCxnSpPr>
          <p:nvPr/>
        </p:nvCxnSpPr>
        <p:spPr>
          <a:xfrm>
            <a:off x="1014413" y="1447800"/>
            <a:ext cx="0" cy="50863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모서리가 둥근 직사각형 10">
            <a:extLst>
              <a:ext uri="{FF2B5EF4-FFF2-40B4-BE49-F238E27FC236}">
                <a16:creationId xmlns:a16="http://schemas.microsoft.com/office/drawing/2014/main" id="{32CA5353-C800-42E8-950A-C902533D3C69}"/>
              </a:ext>
            </a:extLst>
          </p:cNvPr>
          <p:cNvSpPr/>
          <p:nvPr/>
        </p:nvSpPr>
        <p:spPr>
          <a:xfrm>
            <a:off x="2566988" y="1876425"/>
            <a:ext cx="12001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방식심사</a:t>
            </a:r>
          </a:p>
        </p:txBody>
      </p:sp>
      <p:sp>
        <p:nvSpPr>
          <p:cNvPr id="58" name="모서리가 둥근 직사각형 11">
            <a:extLst>
              <a:ext uri="{FF2B5EF4-FFF2-40B4-BE49-F238E27FC236}">
                <a16:creationId xmlns:a16="http://schemas.microsoft.com/office/drawing/2014/main" id="{2B8D2324-9717-4C0F-BFA2-BAED5E42B63A}"/>
              </a:ext>
            </a:extLst>
          </p:cNvPr>
          <p:cNvSpPr/>
          <p:nvPr/>
        </p:nvSpPr>
        <p:spPr>
          <a:xfrm>
            <a:off x="2566988" y="5095878"/>
            <a:ext cx="1200150" cy="323850"/>
          </a:xfrm>
          <a:prstGeom prst="roundRect">
            <a:avLst>
              <a:gd name="adj" fmla="val 5882"/>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err="1">
                <a:solidFill>
                  <a:schemeClr val="accent1">
                    <a:lumMod val="20000"/>
                    <a:lumOff val="80000"/>
                  </a:schemeClr>
                </a:solidFill>
              </a:rPr>
              <a:t>본안심리</a:t>
            </a:r>
            <a:endParaRPr lang="ko-KR" altLang="en-US" sz="1600" dirty="0">
              <a:solidFill>
                <a:schemeClr val="accent1">
                  <a:lumMod val="20000"/>
                  <a:lumOff val="80000"/>
                </a:schemeClr>
              </a:solidFill>
            </a:endParaRPr>
          </a:p>
        </p:txBody>
      </p:sp>
      <p:sp>
        <p:nvSpPr>
          <p:cNvPr id="59" name="모서리가 둥근 직사각형 12">
            <a:extLst>
              <a:ext uri="{FF2B5EF4-FFF2-40B4-BE49-F238E27FC236}">
                <a16:creationId xmlns:a16="http://schemas.microsoft.com/office/drawing/2014/main" id="{10DD23CE-1D44-4C1B-A6EB-30F7EE97B657}"/>
              </a:ext>
            </a:extLst>
          </p:cNvPr>
          <p:cNvSpPr/>
          <p:nvPr/>
        </p:nvSpPr>
        <p:spPr>
          <a:xfrm>
            <a:off x="2566988" y="5610228"/>
            <a:ext cx="12001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심결</a:t>
            </a:r>
            <a:endParaRPr lang="ko-KR" altLang="en-US" sz="1200" dirty="0">
              <a:solidFill>
                <a:schemeClr val="tx1"/>
              </a:solidFill>
            </a:endParaRPr>
          </a:p>
        </p:txBody>
      </p:sp>
      <p:cxnSp>
        <p:nvCxnSpPr>
          <p:cNvPr id="60" name="직선 연결선 59">
            <a:extLst>
              <a:ext uri="{FF2B5EF4-FFF2-40B4-BE49-F238E27FC236}">
                <a16:creationId xmlns:a16="http://schemas.microsoft.com/office/drawing/2014/main" id="{C69D7F8A-7BD8-4852-B747-311C292F88BE}"/>
              </a:ext>
            </a:extLst>
          </p:cNvPr>
          <p:cNvCxnSpPr/>
          <p:nvPr/>
        </p:nvCxnSpPr>
        <p:spPr>
          <a:xfrm>
            <a:off x="1014413" y="1738889"/>
            <a:ext cx="2152650"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모서리가 둥근 직사각형 14">
            <a:extLst>
              <a:ext uri="{FF2B5EF4-FFF2-40B4-BE49-F238E27FC236}">
                <a16:creationId xmlns:a16="http://schemas.microsoft.com/office/drawing/2014/main" id="{AE035CA4-E543-48FB-ACAD-DEA198B477A4}"/>
              </a:ext>
            </a:extLst>
          </p:cNvPr>
          <p:cNvSpPr/>
          <p:nvPr/>
        </p:nvSpPr>
        <p:spPr>
          <a:xfrm>
            <a:off x="1462088" y="1419225"/>
            <a:ext cx="1047750"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심판청구</a:t>
            </a:r>
          </a:p>
        </p:txBody>
      </p:sp>
      <p:cxnSp>
        <p:nvCxnSpPr>
          <p:cNvPr id="62" name="직선 연결선 61">
            <a:extLst>
              <a:ext uri="{FF2B5EF4-FFF2-40B4-BE49-F238E27FC236}">
                <a16:creationId xmlns:a16="http://schemas.microsoft.com/office/drawing/2014/main" id="{97B03347-7878-41AF-A227-7A1CBE4496E3}"/>
              </a:ext>
            </a:extLst>
          </p:cNvPr>
          <p:cNvCxnSpPr/>
          <p:nvPr/>
        </p:nvCxnSpPr>
        <p:spPr>
          <a:xfrm>
            <a:off x="3167063" y="4000500"/>
            <a:ext cx="216217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모서리가 둥근 직사각형 16">
            <a:extLst>
              <a:ext uri="{FF2B5EF4-FFF2-40B4-BE49-F238E27FC236}">
                <a16:creationId xmlns:a16="http://schemas.microsoft.com/office/drawing/2014/main" id="{0AF99D10-D167-4A07-A0D0-46CA227387DB}"/>
              </a:ext>
            </a:extLst>
          </p:cNvPr>
          <p:cNvSpPr/>
          <p:nvPr/>
        </p:nvSpPr>
        <p:spPr>
          <a:xfrm>
            <a:off x="3024190" y="3467099"/>
            <a:ext cx="2371724" cy="485775"/>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청구서 부본 송달</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무효심판의 경우 등록권리자</a:t>
            </a:r>
            <a:endParaRPr lang="en-US" altLang="ko-KR" sz="1200" dirty="0">
              <a:solidFill>
                <a:schemeClr val="tx1"/>
              </a:solidFill>
            </a:endParaRPr>
          </a:p>
          <a:p>
            <a:pPr algn="ctr"/>
            <a:r>
              <a:rPr lang="ko-KR" altLang="en-US" sz="1200" dirty="0">
                <a:solidFill>
                  <a:schemeClr val="tx1"/>
                </a:solidFill>
              </a:rPr>
              <a:t>에게 취지통지</a:t>
            </a:r>
            <a:r>
              <a:rPr lang="en-US" altLang="ko-KR" sz="1200" dirty="0">
                <a:solidFill>
                  <a:schemeClr val="tx1"/>
                </a:solidFill>
              </a:rPr>
              <a:t>)</a:t>
            </a:r>
            <a:endParaRPr lang="ko-KR" altLang="en-US" sz="1200" dirty="0">
              <a:solidFill>
                <a:schemeClr val="tx1"/>
              </a:solidFill>
            </a:endParaRPr>
          </a:p>
        </p:txBody>
      </p:sp>
      <p:cxnSp>
        <p:nvCxnSpPr>
          <p:cNvPr id="64" name="직선 연결선 63">
            <a:extLst>
              <a:ext uri="{FF2B5EF4-FFF2-40B4-BE49-F238E27FC236}">
                <a16:creationId xmlns:a16="http://schemas.microsoft.com/office/drawing/2014/main" id="{E02073C7-2396-47C6-9D27-3A8212330CD9}"/>
              </a:ext>
            </a:extLst>
          </p:cNvPr>
          <p:cNvCxnSpPr/>
          <p:nvPr/>
        </p:nvCxnSpPr>
        <p:spPr>
          <a:xfrm>
            <a:off x="3167063" y="4333875"/>
            <a:ext cx="2162175" cy="0"/>
          </a:xfrm>
          <a:prstGeom prst="line">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모서리가 둥근 직사각형 18">
            <a:extLst>
              <a:ext uri="{FF2B5EF4-FFF2-40B4-BE49-F238E27FC236}">
                <a16:creationId xmlns:a16="http://schemas.microsoft.com/office/drawing/2014/main" id="{B42E2695-3773-4233-979B-B3D0745B0D15}"/>
              </a:ext>
            </a:extLst>
          </p:cNvPr>
          <p:cNvSpPr/>
          <p:nvPr/>
        </p:nvSpPr>
        <p:spPr>
          <a:xfrm>
            <a:off x="3433763" y="4343400"/>
            <a:ext cx="1390650"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답변서 제출</a:t>
            </a:r>
          </a:p>
        </p:txBody>
      </p:sp>
      <p:cxnSp>
        <p:nvCxnSpPr>
          <p:cNvPr id="66" name="직선 연결선 65">
            <a:extLst>
              <a:ext uri="{FF2B5EF4-FFF2-40B4-BE49-F238E27FC236}">
                <a16:creationId xmlns:a16="http://schemas.microsoft.com/office/drawing/2014/main" id="{71AE3843-4D45-435A-A7D6-029192C4FE77}"/>
              </a:ext>
            </a:extLst>
          </p:cNvPr>
          <p:cNvCxnSpPr/>
          <p:nvPr/>
        </p:nvCxnSpPr>
        <p:spPr>
          <a:xfrm>
            <a:off x="1014413" y="4457700"/>
            <a:ext cx="2152650" cy="0"/>
          </a:xfrm>
          <a:prstGeom prst="line">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모서리가 둥근 직사각형 20">
            <a:extLst>
              <a:ext uri="{FF2B5EF4-FFF2-40B4-BE49-F238E27FC236}">
                <a16:creationId xmlns:a16="http://schemas.microsoft.com/office/drawing/2014/main" id="{7C2C3861-BF58-4BAD-903D-114BBEA0293C}"/>
              </a:ext>
            </a:extLst>
          </p:cNvPr>
          <p:cNvSpPr/>
          <p:nvPr/>
        </p:nvSpPr>
        <p:spPr>
          <a:xfrm>
            <a:off x="1014413" y="4467224"/>
            <a:ext cx="1495425" cy="523875"/>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답변서 부본 송달</a:t>
            </a:r>
            <a:endParaRPr lang="en-US" altLang="ko-KR" sz="1200" dirty="0">
              <a:solidFill>
                <a:schemeClr val="tx1"/>
              </a:solidFill>
            </a:endParaRPr>
          </a:p>
          <a:p>
            <a:pPr algn="ctr"/>
            <a:r>
              <a:rPr lang="en-US" altLang="ko-KR" sz="1200" dirty="0">
                <a:solidFill>
                  <a:schemeClr val="tx1"/>
                </a:solidFill>
              </a:rPr>
              <a:t>(</a:t>
            </a:r>
            <a:r>
              <a:rPr lang="ko-KR" altLang="en-US" sz="1200" dirty="0">
                <a:solidFill>
                  <a:schemeClr val="tx1"/>
                </a:solidFill>
              </a:rPr>
              <a:t>당사자 심문</a:t>
            </a:r>
            <a:r>
              <a:rPr lang="en-US" altLang="ko-KR" sz="1200" dirty="0">
                <a:solidFill>
                  <a:schemeClr val="tx1"/>
                </a:solidFill>
              </a:rPr>
              <a:t>)</a:t>
            </a:r>
            <a:endParaRPr lang="ko-KR" altLang="en-US" sz="1200" dirty="0">
              <a:solidFill>
                <a:schemeClr val="tx1"/>
              </a:solidFill>
            </a:endParaRPr>
          </a:p>
        </p:txBody>
      </p:sp>
      <p:sp>
        <p:nvSpPr>
          <p:cNvPr id="68" name="모서리가 둥근 직사각형 89">
            <a:extLst>
              <a:ext uri="{FF2B5EF4-FFF2-40B4-BE49-F238E27FC236}">
                <a16:creationId xmlns:a16="http://schemas.microsoft.com/office/drawing/2014/main" id="{6929623E-FBE5-4114-A9FD-24105966107F}"/>
              </a:ext>
            </a:extLst>
          </p:cNvPr>
          <p:cNvSpPr/>
          <p:nvPr/>
        </p:nvSpPr>
        <p:spPr>
          <a:xfrm>
            <a:off x="2566988" y="2461386"/>
            <a:ext cx="1200150" cy="423639"/>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95000"/>
                  </a:schemeClr>
                </a:solidFill>
              </a:rPr>
              <a:t>심판관합의체</a:t>
            </a:r>
            <a:endParaRPr lang="en-US" altLang="ko-KR" sz="1200" dirty="0">
              <a:solidFill>
                <a:schemeClr val="bg1">
                  <a:lumMod val="95000"/>
                </a:schemeClr>
              </a:solidFill>
            </a:endParaRPr>
          </a:p>
          <a:p>
            <a:pPr algn="ctr"/>
            <a:r>
              <a:rPr lang="en-US" altLang="ko-KR" sz="1200" dirty="0">
                <a:solidFill>
                  <a:schemeClr val="bg1">
                    <a:lumMod val="95000"/>
                  </a:schemeClr>
                </a:solidFill>
              </a:rPr>
              <a:t>(</a:t>
            </a:r>
            <a:r>
              <a:rPr lang="ko-KR" altLang="en-US" sz="1200" dirty="0">
                <a:solidFill>
                  <a:schemeClr val="bg1">
                    <a:lumMod val="95000"/>
                  </a:schemeClr>
                </a:solidFill>
              </a:rPr>
              <a:t>심판장</a:t>
            </a:r>
            <a:r>
              <a:rPr lang="en-US" altLang="ko-KR" sz="1200" dirty="0">
                <a:solidFill>
                  <a:schemeClr val="bg1">
                    <a:lumMod val="95000"/>
                  </a:schemeClr>
                </a:solidFill>
              </a:rPr>
              <a:t>)</a:t>
            </a:r>
            <a:endParaRPr lang="ko-KR" altLang="en-US" sz="1200" dirty="0">
              <a:solidFill>
                <a:schemeClr val="bg1">
                  <a:lumMod val="95000"/>
                </a:schemeClr>
              </a:solidFill>
            </a:endParaRPr>
          </a:p>
        </p:txBody>
      </p:sp>
      <p:sp>
        <p:nvSpPr>
          <p:cNvPr id="69" name="모서리가 둥근 직사각형 93">
            <a:extLst>
              <a:ext uri="{FF2B5EF4-FFF2-40B4-BE49-F238E27FC236}">
                <a16:creationId xmlns:a16="http://schemas.microsoft.com/office/drawing/2014/main" id="{8117D8EA-65FE-41DD-B24C-191CBA557681}"/>
              </a:ext>
            </a:extLst>
          </p:cNvPr>
          <p:cNvSpPr/>
          <p:nvPr/>
        </p:nvSpPr>
        <p:spPr>
          <a:xfrm>
            <a:off x="3024189" y="2165182"/>
            <a:ext cx="685800" cy="323850"/>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지정</a:t>
            </a:r>
            <a:endParaRPr lang="ko-KR" altLang="en-US" sz="1200" dirty="0">
              <a:solidFill>
                <a:schemeClr val="tx1"/>
              </a:solidFill>
            </a:endParaRPr>
          </a:p>
        </p:txBody>
      </p:sp>
      <p:sp>
        <p:nvSpPr>
          <p:cNvPr id="70" name="모서리가 둥근 직사각형 94">
            <a:extLst>
              <a:ext uri="{FF2B5EF4-FFF2-40B4-BE49-F238E27FC236}">
                <a16:creationId xmlns:a16="http://schemas.microsoft.com/office/drawing/2014/main" id="{E0E5273F-8E08-4474-B76A-432D1D113533}"/>
              </a:ext>
            </a:extLst>
          </p:cNvPr>
          <p:cNvSpPr/>
          <p:nvPr/>
        </p:nvSpPr>
        <p:spPr>
          <a:xfrm>
            <a:off x="2566988" y="3059737"/>
            <a:ext cx="1200150" cy="323850"/>
          </a:xfrm>
          <a:prstGeom prst="roundRect">
            <a:avLst>
              <a:gd name="adj" fmla="val 5882"/>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accent1">
                    <a:lumMod val="20000"/>
                    <a:lumOff val="80000"/>
                  </a:schemeClr>
                </a:solidFill>
              </a:rPr>
              <a:t>방식심리</a:t>
            </a:r>
          </a:p>
        </p:txBody>
      </p:sp>
      <p:cxnSp>
        <p:nvCxnSpPr>
          <p:cNvPr id="71" name="직선 연결선 70">
            <a:extLst>
              <a:ext uri="{FF2B5EF4-FFF2-40B4-BE49-F238E27FC236}">
                <a16:creationId xmlns:a16="http://schemas.microsoft.com/office/drawing/2014/main" id="{0AF151E4-68B2-4990-A497-24BF8EB71097}"/>
              </a:ext>
            </a:extLst>
          </p:cNvPr>
          <p:cNvCxnSpPr/>
          <p:nvPr/>
        </p:nvCxnSpPr>
        <p:spPr>
          <a:xfrm>
            <a:off x="3167063" y="6305553"/>
            <a:ext cx="2162175"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2" name="직선 연결선 71">
            <a:extLst>
              <a:ext uri="{FF2B5EF4-FFF2-40B4-BE49-F238E27FC236}">
                <a16:creationId xmlns:a16="http://schemas.microsoft.com/office/drawing/2014/main" id="{4BBFF211-D35C-4120-8692-E2EC05D7839C}"/>
              </a:ext>
            </a:extLst>
          </p:cNvPr>
          <p:cNvCxnSpPr/>
          <p:nvPr/>
        </p:nvCxnSpPr>
        <p:spPr>
          <a:xfrm>
            <a:off x="1014413" y="6296028"/>
            <a:ext cx="2152650" cy="0"/>
          </a:xfrm>
          <a:prstGeom prst="line">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3" name="모서리가 둥근 직사각형 23">
            <a:extLst>
              <a:ext uri="{FF2B5EF4-FFF2-40B4-BE49-F238E27FC236}">
                <a16:creationId xmlns:a16="http://schemas.microsoft.com/office/drawing/2014/main" id="{C9061FD9-B995-475D-99C3-C92967BD1733}"/>
              </a:ext>
            </a:extLst>
          </p:cNvPr>
          <p:cNvSpPr/>
          <p:nvPr/>
        </p:nvSpPr>
        <p:spPr>
          <a:xfrm>
            <a:off x="2566988" y="6143628"/>
            <a:ext cx="12001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등본송달</a:t>
            </a:r>
          </a:p>
        </p:txBody>
      </p:sp>
      <p:sp>
        <p:nvSpPr>
          <p:cNvPr id="74" name="모서리가 둥근 직사각형 103">
            <a:extLst>
              <a:ext uri="{FF2B5EF4-FFF2-40B4-BE49-F238E27FC236}">
                <a16:creationId xmlns:a16="http://schemas.microsoft.com/office/drawing/2014/main" id="{34FFF81E-7817-4B40-9A40-7B62427B8C28}"/>
              </a:ext>
            </a:extLst>
          </p:cNvPr>
          <p:cNvSpPr/>
          <p:nvPr/>
        </p:nvSpPr>
        <p:spPr>
          <a:xfrm>
            <a:off x="1985963" y="3633730"/>
            <a:ext cx="838200" cy="538220"/>
          </a:xfrm>
          <a:prstGeom prst="roundRect">
            <a:avLst>
              <a:gd name="adj" fmla="val 5882"/>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accent1">
                    <a:lumMod val="20000"/>
                    <a:lumOff val="80000"/>
                  </a:schemeClr>
                </a:solidFill>
              </a:rPr>
              <a:t>적법성</a:t>
            </a:r>
            <a:endParaRPr lang="en-US" altLang="ko-KR" sz="1600" dirty="0">
              <a:solidFill>
                <a:schemeClr val="accent1">
                  <a:lumMod val="20000"/>
                  <a:lumOff val="80000"/>
                </a:schemeClr>
              </a:solidFill>
            </a:endParaRPr>
          </a:p>
          <a:p>
            <a:pPr algn="ctr"/>
            <a:r>
              <a:rPr lang="ko-KR" altLang="en-US" sz="1600" dirty="0">
                <a:solidFill>
                  <a:schemeClr val="accent1">
                    <a:lumMod val="20000"/>
                    <a:lumOff val="80000"/>
                  </a:schemeClr>
                </a:solidFill>
              </a:rPr>
              <a:t>심리</a:t>
            </a:r>
          </a:p>
        </p:txBody>
      </p:sp>
      <p:cxnSp>
        <p:nvCxnSpPr>
          <p:cNvPr id="75" name="꺾인 연결선 105">
            <a:extLst>
              <a:ext uri="{FF2B5EF4-FFF2-40B4-BE49-F238E27FC236}">
                <a16:creationId xmlns:a16="http://schemas.microsoft.com/office/drawing/2014/main" id="{35F4F519-D96A-4958-A640-483AA3AC3891}"/>
              </a:ext>
            </a:extLst>
          </p:cNvPr>
          <p:cNvCxnSpPr>
            <a:stCxn id="70" idx="1"/>
            <a:endCxn id="74" idx="0"/>
          </p:cNvCxnSpPr>
          <p:nvPr/>
        </p:nvCxnSpPr>
        <p:spPr>
          <a:xfrm rot="10800000" flipV="1">
            <a:off x="2405064" y="3221662"/>
            <a:ext cx="161925" cy="412068"/>
          </a:xfrm>
          <a:prstGeom prst="bentConnector2">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꺾인 연결선 107">
            <a:extLst>
              <a:ext uri="{FF2B5EF4-FFF2-40B4-BE49-F238E27FC236}">
                <a16:creationId xmlns:a16="http://schemas.microsoft.com/office/drawing/2014/main" id="{29C5397B-467A-4001-B617-CBCF8B1F9D4F}"/>
              </a:ext>
            </a:extLst>
          </p:cNvPr>
          <p:cNvCxnSpPr>
            <a:stCxn id="74" idx="2"/>
            <a:endCxn id="58" idx="1"/>
          </p:cNvCxnSpPr>
          <p:nvPr/>
        </p:nvCxnSpPr>
        <p:spPr>
          <a:xfrm rot="16200000" flipH="1">
            <a:off x="1943099" y="4633913"/>
            <a:ext cx="1085853" cy="161925"/>
          </a:xfrm>
          <a:prstGeom prst="bentConnector2">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7" name="모서리가 둥근 직사각형 109">
            <a:extLst>
              <a:ext uri="{FF2B5EF4-FFF2-40B4-BE49-F238E27FC236}">
                <a16:creationId xmlns:a16="http://schemas.microsoft.com/office/drawing/2014/main" id="{5C3C5029-F18F-45CC-AD59-BB381BB642FE}"/>
              </a:ext>
            </a:extLst>
          </p:cNvPr>
          <p:cNvSpPr/>
          <p:nvPr/>
        </p:nvSpPr>
        <p:spPr>
          <a:xfrm>
            <a:off x="414338" y="2031037"/>
            <a:ext cx="12001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p>
        </p:txBody>
      </p:sp>
      <p:sp>
        <p:nvSpPr>
          <p:cNvPr id="78" name="모서리가 둥근 직사각형 110">
            <a:extLst>
              <a:ext uri="{FF2B5EF4-FFF2-40B4-BE49-F238E27FC236}">
                <a16:creationId xmlns:a16="http://schemas.microsoft.com/office/drawing/2014/main" id="{0398F545-092D-4D66-8575-88D53449FA73}"/>
              </a:ext>
            </a:extLst>
          </p:cNvPr>
          <p:cNvSpPr/>
          <p:nvPr/>
        </p:nvSpPr>
        <p:spPr>
          <a:xfrm>
            <a:off x="414338" y="2670937"/>
            <a:ext cx="1200150" cy="323850"/>
          </a:xfrm>
          <a:prstGeom prst="roundRect">
            <a:avLst>
              <a:gd name="adj" fmla="val 5882"/>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취하</a:t>
            </a:r>
          </a:p>
        </p:txBody>
      </p:sp>
      <p:cxnSp>
        <p:nvCxnSpPr>
          <p:cNvPr id="79" name="직선 연결선 78">
            <a:extLst>
              <a:ext uri="{FF2B5EF4-FFF2-40B4-BE49-F238E27FC236}">
                <a16:creationId xmlns:a16="http://schemas.microsoft.com/office/drawing/2014/main" id="{8D462B16-2ECA-4033-9675-0AC5B66390F2}"/>
              </a:ext>
            </a:extLst>
          </p:cNvPr>
          <p:cNvCxnSpPr>
            <a:cxnSpLocks/>
          </p:cNvCxnSpPr>
          <p:nvPr/>
        </p:nvCxnSpPr>
        <p:spPr>
          <a:xfrm flipH="1">
            <a:off x="3167063" y="4833936"/>
            <a:ext cx="2162175" cy="0"/>
          </a:xfrm>
          <a:prstGeom prst="line">
            <a:avLst/>
          </a:prstGeom>
          <a:ln w="12700">
            <a:solidFill>
              <a:schemeClr val="bg1">
                <a:lumMod val="50000"/>
              </a:schemeClr>
            </a:solidFill>
            <a:prstDash val="sysDot"/>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모서리가 둥근 직사각형 20">
            <a:extLst>
              <a:ext uri="{FF2B5EF4-FFF2-40B4-BE49-F238E27FC236}">
                <a16:creationId xmlns:a16="http://schemas.microsoft.com/office/drawing/2014/main" id="{75E30072-C324-440D-917C-AF5394D5BE83}"/>
              </a:ext>
            </a:extLst>
          </p:cNvPr>
          <p:cNvSpPr/>
          <p:nvPr/>
        </p:nvSpPr>
        <p:spPr>
          <a:xfrm>
            <a:off x="3662364" y="4738683"/>
            <a:ext cx="1495425" cy="523875"/>
          </a:xfrm>
          <a:prstGeom prst="roundRect">
            <a:avLst>
              <a:gd name="adj" fmla="val 5882"/>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당사자 심문</a:t>
            </a:r>
          </a:p>
        </p:txBody>
      </p:sp>
      <p:sp>
        <p:nvSpPr>
          <p:cNvPr id="7" name="TextBox 6">
            <a:extLst>
              <a:ext uri="{FF2B5EF4-FFF2-40B4-BE49-F238E27FC236}">
                <a16:creationId xmlns:a16="http://schemas.microsoft.com/office/drawing/2014/main" id="{3475C2AB-478C-4512-870F-39612E2150D6}"/>
              </a:ext>
            </a:extLst>
          </p:cNvPr>
          <p:cNvSpPr txBox="1"/>
          <p:nvPr/>
        </p:nvSpPr>
        <p:spPr>
          <a:xfrm>
            <a:off x="6197600" y="1684369"/>
            <a:ext cx="5625116" cy="830997"/>
          </a:xfrm>
          <a:prstGeom prst="rect">
            <a:avLst/>
          </a:prstGeom>
          <a:solidFill>
            <a:schemeClr val="accent4">
              <a:lumMod val="20000"/>
              <a:lumOff val="80000"/>
            </a:schemeClr>
          </a:solidFill>
          <a:ln>
            <a:solidFill>
              <a:schemeClr val="bg1">
                <a:lumMod val="65000"/>
              </a:schemeClr>
            </a:solidFill>
          </a:ln>
        </p:spPr>
        <p:txBody>
          <a:bodyPr wrap="square" lIns="288000" rtlCol="0">
            <a:spAutoFit/>
          </a:bodyPr>
          <a:lstStyle/>
          <a:p>
            <a:pPr marL="285750" indent="-285750">
              <a:buFontTx/>
              <a:buChar char="-"/>
            </a:pPr>
            <a:r>
              <a:rPr lang="ko-KR" altLang="en-US" sz="1600" dirty="0"/>
              <a:t>심판장이 심판청구의 형식</a:t>
            </a:r>
            <a:r>
              <a:rPr lang="en-US" altLang="ko-KR" sz="1600" dirty="0"/>
              <a:t>(</a:t>
            </a:r>
            <a:r>
              <a:rPr lang="ko-KR" altLang="en-US" sz="1600" dirty="0"/>
              <a:t>심판청구서</a:t>
            </a:r>
            <a:r>
              <a:rPr lang="en-US" altLang="ko-KR" sz="1600" dirty="0"/>
              <a:t>)</a:t>
            </a:r>
            <a:r>
              <a:rPr lang="ko-KR" altLang="en-US" sz="1600" dirty="0"/>
              <a:t>이 본안심리 받기에 적절한지 여부를 검토</a:t>
            </a:r>
            <a:endParaRPr lang="en-US" altLang="ko-KR" sz="1600" dirty="0"/>
          </a:p>
          <a:p>
            <a:pPr marL="285750" indent="-285750">
              <a:buFontTx/>
              <a:buChar char="-"/>
            </a:pPr>
            <a:r>
              <a:rPr lang="ko-KR" altLang="en-US" sz="1600" dirty="0"/>
              <a:t>위반시 심판장이 심판청구서를 </a:t>
            </a:r>
            <a:r>
              <a:rPr lang="ko-KR" altLang="en-US" sz="1600" dirty="0" err="1"/>
              <a:t>결정각하</a:t>
            </a:r>
            <a:endParaRPr lang="ko-KR" altLang="en-US" sz="1600" dirty="0"/>
          </a:p>
        </p:txBody>
      </p:sp>
      <p:sp>
        <p:nvSpPr>
          <p:cNvPr id="81" name="TextBox 80">
            <a:extLst>
              <a:ext uri="{FF2B5EF4-FFF2-40B4-BE49-F238E27FC236}">
                <a16:creationId xmlns:a16="http://schemas.microsoft.com/office/drawing/2014/main" id="{C9396668-DCF1-4B8F-B182-0D114D626AA1}"/>
              </a:ext>
            </a:extLst>
          </p:cNvPr>
          <p:cNvSpPr txBox="1"/>
          <p:nvPr/>
        </p:nvSpPr>
        <p:spPr>
          <a:xfrm>
            <a:off x="6197600" y="2827158"/>
            <a:ext cx="5625117" cy="2062103"/>
          </a:xfrm>
          <a:prstGeom prst="rect">
            <a:avLst/>
          </a:prstGeom>
          <a:solidFill>
            <a:schemeClr val="accent4">
              <a:lumMod val="20000"/>
              <a:lumOff val="80000"/>
            </a:schemeClr>
          </a:solidFill>
          <a:ln>
            <a:solidFill>
              <a:schemeClr val="bg1">
                <a:lumMod val="65000"/>
              </a:schemeClr>
            </a:solidFill>
          </a:ln>
        </p:spPr>
        <p:txBody>
          <a:bodyPr wrap="square" lIns="288000" rtlCol="0">
            <a:spAutoFit/>
          </a:bodyPr>
          <a:lstStyle/>
          <a:p>
            <a:pPr marL="285750" indent="-285750">
              <a:buFontTx/>
              <a:buChar char="-"/>
            </a:pPr>
            <a:r>
              <a:rPr lang="ko-KR" altLang="en-US" sz="1600" dirty="0"/>
              <a:t>심판관합의체가 심판청구의 내용</a:t>
            </a:r>
            <a:r>
              <a:rPr lang="en-US" altLang="ko-KR" sz="1600" dirty="0"/>
              <a:t>(</a:t>
            </a:r>
            <a:r>
              <a:rPr lang="ko-KR" altLang="en-US" sz="1600" dirty="0"/>
              <a:t>심판청구</a:t>
            </a:r>
            <a:r>
              <a:rPr lang="en-US" altLang="ko-KR" sz="1600" dirty="0"/>
              <a:t>)</a:t>
            </a:r>
            <a:r>
              <a:rPr lang="ko-KR" altLang="en-US" sz="1600" dirty="0"/>
              <a:t>이 본안심리 받기에 적절한지 여부를 검토</a:t>
            </a:r>
            <a:endParaRPr lang="en-US" altLang="ko-KR" sz="1600" dirty="0"/>
          </a:p>
          <a:p>
            <a:pPr marL="285750" indent="-285750">
              <a:buFontTx/>
              <a:buChar char="-"/>
            </a:pPr>
            <a:r>
              <a:rPr lang="ko-KR" altLang="en-US" sz="1600" dirty="0"/>
              <a:t>위반시 심판관합의체가 심판청구를 </a:t>
            </a:r>
            <a:r>
              <a:rPr lang="ko-KR" altLang="en-US" sz="1600" dirty="0" err="1"/>
              <a:t>심결각하</a:t>
            </a:r>
            <a:endParaRPr lang="en-US" altLang="ko-KR" sz="1600" dirty="0"/>
          </a:p>
          <a:p>
            <a:pPr marL="285750" indent="-285750">
              <a:buFontTx/>
              <a:buChar char="-"/>
            </a:pPr>
            <a:r>
              <a:rPr lang="ko-KR" altLang="en-US" sz="1600" dirty="0"/>
              <a:t>방식심리에서 </a:t>
            </a:r>
            <a:r>
              <a:rPr lang="ko-KR" altLang="en-US" sz="1600" dirty="0" err="1"/>
              <a:t>본안심리하는</a:t>
            </a:r>
            <a:r>
              <a:rPr lang="ko-KR" altLang="en-US" sz="1600" dirty="0"/>
              <a:t> 과정에서 적법성 심리를 함</a:t>
            </a:r>
            <a:endParaRPr lang="en-US" altLang="ko-KR" sz="1600" dirty="0"/>
          </a:p>
          <a:p>
            <a:pPr marL="261938" indent="-261938"/>
            <a:r>
              <a:rPr lang="en-US" altLang="ko-KR" sz="1600" dirty="0"/>
              <a:t>     (</a:t>
            </a:r>
            <a:r>
              <a:rPr lang="ko-KR" altLang="en-US" sz="1600" dirty="0"/>
              <a:t>일반적으로 피청구인에게 </a:t>
            </a:r>
            <a:r>
              <a:rPr lang="ko-KR" altLang="en-US" sz="1600" dirty="0" err="1"/>
              <a:t>부본송달하여</a:t>
            </a:r>
            <a:r>
              <a:rPr lang="ko-KR" altLang="en-US" sz="1600" dirty="0"/>
              <a:t> 답변서 제출기회를 준 후 </a:t>
            </a:r>
            <a:r>
              <a:rPr lang="ko-KR" altLang="en-US" sz="1600" dirty="0" err="1"/>
              <a:t>본안심리하는</a:t>
            </a:r>
            <a:r>
              <a:rPr lang="ko-KR" altLang="en-US" sz="1600" dirty="0"/>
              <a:t> 과정에서 적법성 심리를 하여 </a:t>
            </a:r>
            <a:r>
              <a:rPr lang="ko-KR" altLang="en-US" sz="1600" dirty="0" err="1"/>
              <a:t>심결각하하나</a:t>
            </a:r>
            <a:r>
              <a:rPr lang="en-US" altLang="ko-KR" sz="1600" dirty="0"/>
              <a:t>, </a:t>
            </a:r>
            <a:r>
              <a:rPr lang="ko-KR" altLang="en-US" sz="1600" dirty="0"/>
              <a:t>피청구인에게 답변서 제출기회를 주지 않고 </a:t>
            </a:r>
            <a:r>
              <a:rPr lang="ko-KR" altLang="en-US" sz="1600" dirty="0" err="1"/>
              <a:t>방식심리하는</a:t>
            </a:r>
            <a:r>
              <a:rPr lang="ko-KR" altLang="en-US" sz="1600" dirty="0"/>
              <a:t> 과정에서 적법성 심리를 하여 </a:t>
            </a:r>
            <a:r>
              <a:rPr lang="ko-KR" altLang="en-US" sz="1600" dirty="0" err="1"/>
              <a:t>심결각하할</a:t>
            </a:r>
            <a:r>
              <a:rPr lang="ko-KR" altLang="en-US" sz="1600" dirty="0"/>
              <a:t> 수 있음</a:t>
            </a:r>
            <a:r>
              <a:rPr lang="en-US" altLang="ko-KR" sz="1600" dirty="0"/>
              <a:t>)</a:t>
            </a:r>
            <a:r>
              <a:rPr lang="ko-KR" altLang="en-US" sz="1600" dirty="0"/>
              <a:t> </a:t>
            </a:r>
          </a:p>
        </p:txBody>
      </p:sp>
      <p:sp>
        <p:nvSpPr>
          <p:cNvPr id="82" name="TextBox 81">
            <a:extLst>
              <a:ext uri="{FF2B5EF4-FFF2-40B4-BE49-F238E27FC236}">
                <a16:creationId xmlns:a16="http://schemas.microsoft.com/office/drawing/2014/main" id="{5A6F1629-EE2B-4E00-A58C-BBC9103F9DC8}"/>
              </a:ext>
            </a:extLst>
          </p:cNvPr>
          <p:cNvSpPr txBox="1"/>
          <p:nvPr/>
        </p:nvSpPr>
        <p:spPr>
          <a:xfrm>
            <a:off x="6197600" y="5238698"/>
            <a:ext cx="5625117" cy="1077218"/>
          </a:xfrm>
          <a:prstGeom prst="rect">
            <a:avLst/>
          </a:prstGeom>
          <a:solidFill>
            <a:schemeClr val="accent4">
              <a:lumMod val="20000"/>
              <a:lumOff val="80000"/>
            </a:schemeClr>
          </a:solidFill>
          <a:ln>
            <a:solidFill>
              <a:schemeClr val="bg1">
                <a:lumMod val="65000"/>
              </a:schemeClr>
            </a:solidFill>
          </a:ln>
        </p:spPr>
        <p:txBody>
          <a:bodyPr wrap="square" lIns="288000" rtlCol="0">
            <a:spAutoFit/>
          </a:bodyPr>
          <a:lstStyle/>
          <a:p>
            <a:pPr marL="285750" indent="-285750">
              <a:buFontTx/>
              <a:buChar char="-"/>
            </a:pPr>
            <a:r>
              <a:rPr lang="ko-KR" altLang="en-US" sz="1600" dirty="0"/>
              <a:t>심판관합의체가 심판청구의 내용</a:t>
            </a:r>
            <a:r>
              <a:rPr lang="en-US" altLang="ko-KR" sz="1600" dirty="0"/>
              <a:t>(</a:t>
            </a:r>
            <a:r>
              <a:rPr lang="ko-KR" altLang="en-US" sz="1600" dirty="0"/>
              <a:t>심판청구</a:t>
            </a:r>
            <a:r>
              <a:rPr lang="en-US" altLang="ko-KR" sz="1600" dirty="0"/>
              <a:t>)</a:t>
            </a:r>
            <a:r>
              <a:rPr lang="ko-KR" altLang="en-US" sz="1600" dirty="0"/>
              <a:t>이 타당한지</a:t>
            </a:r>
            <a:r>
              <a:rPr lang="en-US" altLang="ko-KR" sz="1600" dirty="0"/>
              <a:t>(</a:t>
            </a:r>
            <a:r>
              <a:rPr lang="ko-KR" altLang="en-US" sz="1600" dirty="0" err="1"/>
              <a:t>이유있는지</a:t>
            </a:r>
            <a:r>
              <a:rPr lang="en-US" altLang="ko-KR" sz="1600" dirty="0"/>
              <a:t>)</a:t>
            </a:r>
            <a:r>
              <a:rPr lang="ko-KR" altLang="en-US" sz="1600" dirty="0"/>
              <a:t> 여부를 검토</a:t>
            </a:r>
            <a:endParaRPr lang="en-US" altLang="ko-KR" sz="1600" dirty="0"/>
          </a:p>
          <a:p>
            <a:pPr marL="285750" indent="-285750">
              <a:buFontTx/>
              <a:buChar char="-"/>
            </a:pPr>
            <a:r>
              <a:rPr lang="ko-KR" altLang="en-US" sz="1600" dirty="0"/>
              <a:t>심판관합의체는 심판청구를 </a:t>
            </a:r>
            <a:r>
              <a:rPr lang="ko-KR" altLang="en-US" sz="1600" dirty="0" err="1"/>
              <a:t>인용심결</a:t>
            </a:r>
            <a:r>
              <a:rPr lang="en-US" altLang="ko-KR" sz="1600" dirty="0"/>
              <a:t>(</a:t>
            </a:r>
            <a:r>
              <a:rPr lang="ko-KR" altLang="en-US" sz="1600" dirty="0"/>
              <a:t>타당</a:t>
            </a:r>
            <a:r>
              <a:rPr lang="en-US" altLang="ko-KR" sz="1600" dirty="0"/>
              <a:t>O)</a:t>
            </a:r>
            <a:r>
              <a:rPr lang="ko-KR" altLang="en-US" sz="1600" dirty="0"/>
              <a:t> 또는 </a:t>
            </a:r>
            <a:r>
              <a:rPr lang="ko-KR" altLang="en-US" sz="1600" dirty="0" err="1"/>
              <a:t>기각심결</a:t>
            </a:r>
            <a:r>
              <a:rPr lang="en-US" altLang="ko-KR" sz="1600" dirty="0"/>
              <a:t>(</a:t>
            </a:r>
            <a:r>
              <a:rPr lang="ko-KR" altLang="en-US" sz="1600" dirty="0"/>
              <a:t>타당</a:t>
            </a:r>
            <a:r>
              <a:rPr lang="en-US" altLang="ko-KR" sz="1600" dirty="0"/>
              <a:t>X)</a:t>
            </a:r>
            <a:endParaRPr lang="ko-KR" altLang="en-US" sz="1600" dirty="0"/>
          </a:p>
        </p:txBody>
      </p:sp>
      <p:sp>
        <p:nvSpPr>
          <p:cNvPr id="86" name="사각형: 둥근 모서리 85">
            <a:extLst>
              <a:ext uri="{FF2B5EF4-FFF2-40B4-BE49-F238E27FC236}">
                <a16:creationId xmlns:a16="http://schemas.microsoft.com/office/drawing/2014/main" id="{0E529F63-42A2-40DB-AC7F-E854A4017041}"/>
              </a:ext>
            </a:extLst>
          </p:cNvPr>
          <p:cNvSpPr/>
          <p:nvPr/>
        </p:nvSpPr>
        <p:spPr>
          <a:xfrm>
            <a:off x="5653317" y="1797971"/>
            <a:ext cx="682168" cy="603791"/>
          </a:xfrm>
          <a:prstGeom prst="roundRect">
            <a:avLst>
              <a:gd name="adj" fmla="val 9455"/>
            </a:avLst>
          </a:prstGeom>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t>방식</a:t>
            </a:r>
            <a:endParaRPr lang="en-US" altLang="ko-KR" dirty="0"/>
          </a:p>
          <a:p>
            <a:pPr algn="ctr"/>
            <a:r>
              <a:rPr lang="ko-KR" altLang="en-US" dirty="0"/>
              <a:t>심리</a:t>
            </a:r>
          </a:p>
        </p:txBody>
      </p:sp>
      <p:sp>
        <p:nvSpPr>
          <p:cNvPr id="87" name="사각형: 둥근 모서리 86">
            <a:extLst>
              <a:ext uri="{FF2B5EF4-FFF2-40B4-BE49-F238E27FC236}">
                <a16:creationId xmlns:a16="http://schemas.microsoft.com/office/drawing/2014/main" id="{B582EB0E-0A4F-4CFB-86A3-00EB3236E6DB}"/>
              </a:ext>
            </a:extLst>
          </p:cNvPr>
          <p:cNvSpPr/>
          <p:nvPr/>
        </p:nvSpPr>
        <p:spPr>
          <a:xfrm>
            <a:off x="5653317" y="3532064"/>
            <a:ext cx="682168" cy="603791"/>
          </a:xfrm>
          <a:prstGeom prst="roundRect">
            <a:avLst>
              <a:gd name="adj" fmla="val 9455"/>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t>적법성</a:t>
            </a:r>
            <a:endParaRPr lang="en-US" altLang="ko-KR" dirty="0"/>
          </a:p>
          <a:p>
            <a:pPr algn="ctr"/>
            <a:r>
              <a:rPr lang="ko-KR" altLang="en-US" dirty="0"/>
              <a:t>심리</a:t>
            </a:r>
          </a:p>
        </p:txBody>
      </p:sp>
      <p:sp>
        <p:nvSpPr>
          <p:cNvPr id="88" name="사각형: 둥근 모서리 87">
            <a:extLst>
              <a:ext uri="{FF2B5EF4-FFF2-40B4-BE49-F238E27FC236}">
                <a16:creationId xmlns:a16="http://schemas.microsoft.com/office/drawing/2014/main" id="{35A5B89E-A118-4EC0-B562-62935F6C1635}"/>
              </a:ext>
            </a:extLst>
          </p:cNvPr>
          <p:cNvSpPr/>
          <p:nvPr/>
        </p:nvSpPr>
        <p:spPr>
          <a:xfrm>
            <a:off x="5653317" y="5475411"/>
            <a:ext cx="682168" cy="603791"/>
          </a:xfrm>
          <a:prstGeom prst="roundRect">
            <a:avLst>
              <a:gd name="adj" fmla="val 9455"/>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dirty="0"/>
              <a:t>본안</a:t>
            </a:r>
            <a:endParaRPr lang="en-US" altLang="ko-KR" dirty="0"/>
          </a:p>
          <a:p>
            <a:pPr algn="ctr"/>
            <a:r>
              <a:rPr lang="ko-KR" altLang="en-US" dirty="0"/>
              <a:t>심리</a:t>
            </a:r>
          </a:p>
        </p:txBody>
      </p:sp>
    </p:spTree>
    <p:extLst>
      <p:ext uri="{BB962C8B-B14F-4D97-AF65-F5344CB8AC3E}">
        <p14:creationId xmlns:p14="http://schemas.microsoft.com/office/powerpoint/2010/main" val="352423588"/>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슬라이드 번호 개체 틀 3"/>
          <p:cNvSpPr>
            <a:spLocks noGrp="1"/>
          </p:cNvSpPr>
          <p:nvPr>
            <p:ph type="sldNum" sz="quarter" idx="4294967295"/>
          </p:nvPr>
        </p:nvSpPr>
        <p:spPr>
          <a:xfrm>
            <a:off x="11125200" y="0"/>
            <a:ext cx="1066800" cy="711200"/>
          </a:xfrm>
        </p:spPr>
        <p:txBody>
          <a:bodyPr/>
          <a:lstStyle/>
          <a:p>
            <a:r>
              <a:rPr lang="en-US" altLang="ko-KR"/>
              <a:t>447</a:t>
            </a:r>
            <a:endParaRPr lang="ko-KR" altLang="en-US" dirty="0"/>
          </a:p>
        </p:txBody>
      </p:sp>
      <p:sp>
        <p:nvSpPr>
          <p:cNvPr id="2" name="제목 1"/>
          <p:cNvSpPr>
            <a:spLocks noGrp="1"/>
          </p:cNvSpPr>
          <p:nvPr>
            <p:ph type="title"/>
          </p:nvPr>
        </p:nvSpPr>
        <p:spPr/>
        <p:txBody>
          <a:bodyPr/>
          <a:lstStyle/>
          <a:p>
            <a:r>
              <a:rPr lang="ko-KR" altLang="en-US" dirty="0"/>
              <a:t>제</a:t>
            </a:r>
            <a:r>
              <a:rPr lang="en-US" altLang="ko-KR" dirty="0"/>
              <a:t>141</a:t>
            </a:r>
            <a:r>
              <a:rPr lang="ko-KR" altLang="en-US" dirty="0"/>
              <a:t>조</a:t>
            </a:r>
          </a:p>
        </p:txBody>
      </p:sp>
      <p:sp>
        <p:nvSpPr>
          <p:cNvPr id="3" name="텍스트 개체 틀 2"/>
          <p:cNvSpPr>
            <a:spLocks noGrp="1"/>
          </p:cNvSpPr>
          <p:nvPr>
            <p:ph type="body" sz="quarter" idx="13"/>
          </p:nvPr>
        </p:nvSpPr>
        <p:spPr/>
        <p:txBody>
          <a:bodyPr/>
          <a:lstStyle/>
          <a:p>
            <a:r>
              <a:rPr lang="ko-KR" altLang="en-US" dirty="0"/>
              <a:t>직권보정의 비교</a:t>
            </a:r>
          </a:p>
        </p:txBody>
      </p:sp>
      <p:graphicFrame>
        <p:nvGraphicFramePr>
          <p:cNvPr id="7" name="표 6">
            <a:extLst>
              <a:ext uri="{FF2B5EF4-FFF2-40B4-BE49-F238E27FC236}">
                <a16:creationId xmlns:a16="http://schemas.microsoft.com/office/drawing/2014/main" id="{860B343E-4BE8-EDF0-6F94-B280E7CD5360}"/>
              </a:ext>
            </a:extLst>
          </p:cNvPr>
          <p:cNvGraphicFramePr>
            <a:graphicFrameLocks noGrp="1"/>
          </p:cNvGraphicFramePr>
          <p:nvPr/>
        </p:nvGraphicFramePr>
        <p:xfrm>
          <a:off x="184728" y="973051"/>
          <a:ext cx="11810047" cy="3535680"/>
        </p:xfrm>
        <a:graphic>
          <a:graphicData uri="http://schemas.openxmlformats.org/drawingml/2006/table">
            <a:tbl>
              <a:tblPr>
                <a:tableStyleId>{8799B23B-EC83-4686-B30A-512413B5E67A}</a:tableStyleId>
              </a:tblPr>
              <a:tblGrid>
                <a:gridCol w="5942320">
                  <a:extLst>
                    <a:ext uri="{9D8B030D-6E8A-4147-A177-3AD203B41FA5}">
                      <a16:colId xmlns:a16="http://schemas.microsoft.com/office/drawing/2014/main" val="3715525229"/>
                    </a:ext>
                  </a:extLst>
                </a:gridCol>
                <a:gridCol w="5867727">
                  <a:extLst>
                    <a:ext uri="{9D8B030D-6E8A-4147-A177-3AD203B41FA5}">
                      <a16:colId xmlns:a16="http://schemas.microsoft.com/office/drawing/2014/main" val="141959867"/>
                    </a:ext>
                  </a:extLst>
                </a:gridCol>
              </a:tblGrid>
              <a:tr h="203754">
                <a:tc>
                  <a:txBody>
                    <a:bodyPr/>
                    <a:lstStyle/>
                    <a:p>
                      <a:pPr algn="ctr" latinLnBrk="1"/>
                      <a:r>
                        <a:rPr lang="ko-KR" altLang="en-US" sz="1000" dirty="0"/>
                        <a:t>심사단계에서의 직권보정</a:t>
                      </a:r>
                      <a:r>
                        <a:rPr lang="en-US" altLang="ko-KR" sz="1000" kern="0" spc="-100" dirty="0">
                          <a:solidFill>
                            <a:schemeClr val="accent3">
                              <a:lumMod val="50000"/>
                            </a:schemeClr>
                          </a:solidFill>
                          <a:effectLst/>
                          <a:latin typeface="+mn-ea"/>
                          <a:ea typeface="+mn-ea"/>
                        </a:rPr>
                        <a:t>(</a:t>
                      </a:r>
                      <a:r>
                        <a:rPr lang="ko-KR" altLang="en-US" sz="1000" kern="0" spc="-100" dirty="0">
                          <a:solidFill>
                            <a:schemeClr val="accent3">
                              <a:lumMod val="50000"/>
                            </a:schemeClr>
                          </a:solidFill>
                          <a:effectLst/>
                          <a:latin typeface="+mn-ea"/>
                          <a:ea typeface="+mn-ea"/>
                        </a:rPr>
                        <a:t>제</a:t>
                      </a:r>
                      <a:r>
                        <a:rPr lang="en-US" altLang="ko-KR" sz="1000" kern="0" spc="-100" dirty="0">
                          <a:solidFill>
                            <a:schemeClr val="accent3">
                              <a:lumMod val="50000"/>
                            </a:schemeClr>
                          </a:solidFill>
                          <a:effectLst/>
                          <a:latin typeface="+mn-ea"/>
                          <a:ea typeface="+mn-ea"/>
                        </a:rPr>
                        <a:t>66</a:t>
                      </a:r>
                      <a:r>
                        <a:rPr lang="ko-KR" altLang="en-US" sz="1000" kern="0" spc="-100" dirty="0">
                          <a:solidFill>
                            <a:schemeClr val="accent3">
                              <a:lumMod val="50000"/>
                            </a:schemeClr>
                          </a:solidFill>
                          <a:effectLst/>
                          <a:latin typeface="+mn-ea"/>
                          <a:ea typeface="+mn-ea"/>
                        </a:rPr>
                        <a:t>조의</a:t>
                      </a:r>
                      <a:r>
                        <a:rPr lang="en-US" altLang="ko-KR" sz="1000" kern="0" spc="-100" dirty="0">
                          <a:solidFill>
                            <a:schemeClr val="accent3">
                              <a:lumMod val="50000"/>
                            </a:schemeClr>
                          </a:solidFill>
                          <a:effectLst/>
                          <a:latin typeface="+mn-ea"/>
                          <a:ea typeface="+mn-ea"/>
                        </a:rPr>
                        <a:t>2)</a:t>
                      </a:r>
                      <a:endParaRPr lang="ko-KR" altLang="en-US" sz="1000" dirty="0"/>
                    </a:p>
                  </a:txBody>
                  <a:tcPr anchor="ctr">
                    <a:solidFill>
                      <a:schemeClr val="accent1">
                        <a:lumMod val="20000"/>
                        <a:lumOff val="80000"/>
                      </a:schemeClr>
                    </a:solidFill>
                  </a:tcPr>
                </a:tc>
                <a:tc>
                  <a:txBody>
                    <a:bodyPr/>
                    <a:lstStyle/>
                    <a:p>
                      <a:pPr algn="ctr" latinLnBrk="1"/>
                      <a:r>
                        <a:rPr lang="ko-KR" altLang="en-US" sz="1000" dirty="0"/>
                        <a:t>심판단계에서의 직권보정</a:t>
                      </a:r>
                      <a:r>
                        <a:rPr lang="en-US" altLang="ko-KR" sz="1000" kern="0" spc="-100" dirty="0">
                          <a:solidFill>
                            <a:schemeClr val="accent3">
                              <a:lumMod val="50000"/>
                            </a:schemeClr>
                          </a:solidFill>
                          <a:effectLst/>
                          <a:latin typeface="+mn-ea"/>
                          <a:ea typeface="+mn-ea"/>
                        </a:rPr>
                        <a:t>(</a:t>
                      </a:r>
                      <a:r>
                        <a:rPr lang="ko-KR" altLang="en-US" sz="1000" kern="0" spc="-100" dirty="0">
                          <a:solidFill>
                            <a:schemeClr val="accent3">
                              <a:lumMod val="50000"/>
                            </a:schemeClr>
                          </a:solidFill>
                          <a:effectLst/>
                          <a:latin typeface="+mn-ea"/>
                          <a:ea typeface="+mn-ea"/>
                        </a:rPr>
                        <a:t>제</a:t>
                      </a:r>
                      <a:r>
                        <a:rPr lang="en-US" altLang="ko-KR" sz="1000" kern="0" spc="-100" dirty="0">
                          <a:solidFill>
                            <a:schemeClr val="accent3">
                              <a:lumMod val="50000"/>
                            </a:schemeClr>
                          </a:solidFill>
                          <a:effectLst/>
                          <a:latin typeface="+mn-ea"/>
                          <a:ea typeface="+mn-ea"/>
                        </a:rPr>
                        <a:t>141</a:t>
                      </a:r>
                      <a:r>
                        <a:rPr lang="ko-KR" altLang="en-US" sz="1000" kern="0" spc="-100" dirty="0">
                          <a:solidFill>
                            <a:schemeClr val="accent3">
                              <a:lumMod val="50000"/>
                            </a:schemeClr>
                          </a:solidFill>
                          <a:effectLst/>
                          <a:latin typeface="+mn-ea"/>
                          <a:ea typeface="+mn-ea"/>
                        </a:rPr>
                        <a:t>조</a:t>
                      </a:r>
                      <a:r>
                        <a:rPr lang="en-US" altLang="ko-KR" sz="1000" kern="0" spc="-100" dirty="0">
                          <a:solidFill>
                            <a:schemeClr val="accent3">
                              <a:lumMod val="50000"/>
                            </a:schemeClr>
                          </a:solidFill>
                          <a:effectLst/>
                          <a:latin typeface="+mn-ea"/>
                          <a:ea typeface="+mn-ea"/>
                        </a:rPr>
                        <a:t>)</a:t>
                      </a:r>
                      <a:endParaRPr lang="ko-KR" altLang="en-US" sz="1000" dirty="0"/>
                    </a:p>
                  </a:txBody>
                  <a:tcPr anchor="ctr">
                    <a:solidFill>
                      <a:schemeClr val="accent1">
                        <a:lumMod val="20000"/>
                        <a:lumOff val="80000"/>
                      </a:schemeClr>
                    </a:solidFill>
                  </a:tcPr>
                </a:tc>
                <a:extLst>
                  <a:ext uri="{0D108BD9-81ED-4DB2-BD59-A6C34878D82A}">
                    <a16:rowId xmlns:a16="http://schemas.microsoft.com/office/drawing/2014/main" val="2785733114"/>
                  </a:ext>
                </a:extLst>
              </a:tr>
              <a:tr h="3064689">
                <a:tc>
                  <a:txBody>
                    <a:bodyPr/>
                    <a:lstStyle/>
                    <a:p>
                      <a:pPr algn="just" fontAlgn="base" latinLnBrk="0"/>
                      <a:r>
                        <a:rPr lang="ko-KR" altLang="en-US" sz="1000" kern="1200" dirty="0">
                          <a:solidFill>
                            <a:schemeClr val="tx1"/>
                          </a:solidFill>
                          <a:effectLst/>
                          <a:latin typeface="+mn-lt"/>
                          <a:ea typeface="+mn-ea"/>
                          <a:cs typeface="+mn-cs"/>
                        </a:rPr>
                        <a:t>제</a:t>
                      </a:r>
                      <a:r>
                        <a:rPr lang="en-US" altLang="ko-KR" sz="1000" kern="1200" dirty="0">
                          <a:solidFill>
                            <a:schemeClr val="tx1"/>
                          </a:solidFill>
                          <a:effectLst/>
                          <a:latin typeface="+mn-lt"/>
                          <a:ea typeface="+mn-ea"/>
                          <a:cs typeface="+mn-cs"/>
                        </a:rPr>
                        <a:t>66</a:t>
                      </a:r>
                      <a:r>
                        <a:rPr lang="ko-KR" altLang="en-US" sz="1000" kern="1200" dirty="0">
                          <a:solidFill>
                            <a:schemeClr val="tx1"/>
                          </a:solidFill>
                          <a:effectLst/>
                          <a:latin typeface="+mn-lt"/>
                          <a:ea typeface="+mn-ea"/>
                          <a:cs typeface="+mn-cs"/>
                        </a:rPr>
                        <a:t>조의</a:t>
                      </a:r>
                      <a:r>
                        <a:rPr lang="en-US" altLang="ko-KR" sz="1000" kern="1200" dirty="0">
                          <a:solidFill>
                            <a:schemeClr val="tx1"/>
                          </a:solidFill>
                          <a:effectLst/>
                          <a:latin typeface="+mn-lt"/>
                          <a:ea typeface="+mn-ea"/>
                          <a:cs typeface="+mn-cs"/>
                        </a:rPr>
                        <a:t>2(</a:t>
                      </a:r>
                      <a:r>
                        <a:rPr lang="ko-KR" altLang="en-US" sz="1000" kern="1200" dirty="0">
                          <a:solidFill>
                            <a:schemeClr val="tx1"/>
                          </a:solidFill>
                          <a:effectLst/>
                          <a:latin typeface="+mn-lt"/>
                          <a:ea typeface="+mn-ea"/>
                          <a:cs typeface="+mn-cs"/>
                        </a:rPr>
                        <a:t>직권보정 등</a:t>
                      </a:r>
                      <a:r>
                        <a:rPr lang="en-US" altLang="ko-KR" sz="1000" kern="1200" dirty="0">
                          <a:solidFill>
                            <a:schemeClr val="tx1"/>
                          </a:solidFill>
                          <a:effectLst/>
                          <a:latin typeface="+mn-lt"/>
                          <a:ea typeface="+mn-ea"/>
                          <a:cs typeface="+mn-cs"/>
                        </a:rPr>
                        <a:t>) ① </a:t>
                      </a:r>
                      <a:r>
                        <a:rPr lang="ko-KR" altLang="en-US" sz="1000" kern="1200" dirty="0">
                          <a:solidFill>
                            <a:schemeClr val="tx1"/>
                          </a:solidFill>
                          <a:effectLst/>
                          <a:latin typeface="+mn-lt"/>
                          <a:ea typeface="+mn-ea"/>
                          <a:cs typeface="+mn-cs"/>
                        </a:rPr>
                        <a:t>심사관은 제</a:t>
                      </a:r>
                      <a:r>
                        <a:rPr lang="en-US" altLang="ko-KR" sz="1000" kern="1200" dirty="0">
                          <a:solidFill>
                            <a:schemeClr val="tx1"/>
                          </a:solidFill>
                          <a:effectLst/>
                          <a:latin typeface="+mn-lt"/>
                          <a:ea typeface="+mn-ea"/>
                          <a:cs typeface="+mn-cs"/>
                        </a:rPr>
                        <a:t>66</a:t>
                      </a:r>
                      <a:r>
                        <a:rPr lang="ko-KR" altLang="en-US" sz="1000" kern="1200" dirty="0">
                          <a:solidFill>
                            <a:schemeClr val="tx1"/>
                          </a:solidFill>
                          <a:effectLst/>
                          <a:latin typeface="+mn-lt"/>
                          <a:ea typeface="+mn-ea"/>
                          <a:cs typeface="+mn-cs"/>
                        </a:rPr>
                        <a:t>조에 따른 특허결정을 할 때에 </a:t>
                      </a:r>
                      <a:r>
                        <a:rPr lang="ko-KR" altLang="en-US" sz="1000" kern="1200" dirty="0" err="1">
                          <a:solidFill>
                            <a:schemeClr val="tx1"/>
                          </a:solidFill>
                          <a:effectLst/>
                          <a:latin typeface="+mn-lt"/>
                          <a:ea typeface="+mn-ea"/>
                          <a:cs typeface="+mn-cs"/>
                        </a:rPr>
                        <a:t>특허출원서에</a:t>
                      </a:r>
                      <a:r>
                        <a:rPr lang="ko-KR" altLang="en-US" sz="1000" kern="1200" dirty="0">
                          <a:solidFill>
                            <a:schemeClr val="tx1"/>
                          </a:solidFill>
                          <a:effectLst/>
                          <a:latin typeface="+mn-lt"/>
                          <a:ea typeface="+mn-ea"/>
                          <a:cs typeface="+mn-cs"/>
                        </a:rPr>
                        <a:t> 첨부된 명세서</a:t>
                      </a:r>
                      <a:r>
                        <a:rPr lang="en-US" altLang="ko-KR" sz="1000" kern="1200" dirty="0">
                          <a:solidFill>
                            <a:schemeClr val="tx1"/>
                          </a:solidFill>
                          <a:effectLst/>
                          <a:latin typeface="+mn-lt"/>
                          <a:ea typeface="+mn-ea"/>
                          <a:cs typeface="+mn-cs"/>
                        </a:rPr>
                        <a:t>, </a:t>
                      </a:r>
                      <a:r>
                        <a:rPr lang="ko-KR" altLang="en-US" sz="1000" kern="1200" dirty="0">
                          <a:solidFill>
                            <a:schemeClr val="tx1"/>
                          </a:solidFill>
                          <a:effectLst/>
                          <a:latin typeface="+mn-lt"/>
                          <a:ea typeface="+mn-ea"/>
                          <a:cs typeface="+mn-cs"/>
                        </a:rPr>
                        <a:t>도면 또는 요약서에 적힌 사항이 명백히 잘못된 경우에는 직권으로 보정</a:t>
                      </a:r>
                      <a:r>
                        <a:rPr lang="en-US" altLang="ko-KR" sz="1000" kern="1200" dirty="0">
                          <a:solidFill>
                            <a:schemeClr val="tx1"/>
                          </a:solidFill>
                          <a:effectLst/>
                          <a:latin typeface="+mn-lt"/>
                          <a:ea typeface="+mn-ea"/>
                          <a:cs typeface="+mn-cs"/>
                        </a:rPr>
                        <a:t>(</a:t>
                      </a:r>
                      <a:r>
                        <a:rPr lang="ko-KR" altLang="en-US" sz="1000" kern="1200" dirty="0">
                          <a:solidFill>
                            <a:schemeClr val="tx1"/>
                          </a:solidFill>
                          <a:effectLst/>
                          <a:latin typeface="+mn-lt"/>
                          <a:ea typeface="+mn-ea"/>
                          <a:cs typeface="+mn-cs"/>
                        </a:rPr>
                        <a:t>이하 “</a:t>
                      </a:r>
                      <a:r>
                        <a:rPr lang="ko-KR" altLang="en-US" sz="1000" kern="1200" dirty="0" err="1">
                          <a:solidFill>
                            <a:schemeClr val="tx1"/>
                          </a:solidFill>
                          <a:effectLst/>
                          <a:latin typeface="+mn-lt"/>
                          <a:ea typeface="+mn-ea"/>
                          <a:cs typeface="+mn-cs"/>
                        </a:rPr>
                        <a:t>직권보정”이라</a:t>
                      </a:r>
                      <a:r>
                        <a:rPr lang="ko-KR" altLang="en-US" sz="1000" kern="1200" dirty="0">
                          <a:solidFill>
                            <a:schemeClr val="tx1"/>
                          </a:solidFill>
                          <a:effectLst/>
                          <a:latin typeface="+mn-lt"/>
                          <a:ea typeface="+mn-ea"/>
                          <a:cs typeface="+mn-cs"/>
                        </a:rPr>
                        <a:t> 한다</a:t>
                      </a:r>
                      <a:r>
                        <a:rPr lang="en-US" altLang="ko-KR" sz="1000" kern="1200" dirty="0">
                          <a:solidFill>
                            <a:schemeClr val="tx1"/>
                          </a:solidFill>
                          <a:effectLst/>
                          <a:latin typeface="+mn-lt"/>
                          <a:ea typeface="+mn-ea"/>
                          <a:cs typeface="+mn-cs"/>
                        </a:rPr>
                        <a:t>)</a:t>
                      </a:r>
                      <a:r>
                        <a:rPr lang="ko-KR" altLang="en-US" sz="1000" kern="1200" dirty="0">
                          <a:solidFill>
                            <a:schemeClr val="tx1"/>
                          </a:solidFill>
                          <a:effectLst/>
                          <a:latin typeface="+mn-lt"/>
                          <a:ea typeface="+mn-ea"/>
                          <a:cs typeface="+mn-cs"/>
                        </a:rPr>
                        <a:t>할 수 있다</a:t>
                      </a:r>
                      <a:r>
                        <a:rPr lang="en-US" altLang="ko-KR" sz="1000" kern="1200" dirty="0">
                          <a:solidFill>
                            <a:schemeClr val="tx1"/>
                          </a:solidFill>
                          <a:effectLst/>
                          <a:latin typeface="+mn-lt"/>
                          <a:ea typeface="+mn-ea"/>
                          <a:cs typeface="+mn-cs"/>
                        </a:rPr>
                        <a:t>. </a:t>
                      </a:r>
                      <a:r>
                        <a:rPr lang="ko-KR" altLang="en-US" sz="1000" kern="1200" dirty="0">
                          <a:solidFill>
                            <a:schemeClr val="tx1"/>
                          </a:solidFill>
                          <a:effectLst/>
                          <a:latin typeface="+mn-lt"/>
                          <a:ea typeface="+mn-ea"/>
                          <a:cs typeface="+mn-cs"/>
                        </a:rPr>
                        <a:t>이 경우 직권보정은 제</a:t>
                      </a:r>
                      <a:r>
                        <a:rPr lang="en-US" altLang="ko-KR" sz="1000" kern="1200" dirty="0">
                          <a:solidFill>
                            <a:schemeClr val="tx1"/>
                          </a:solidFill>
                          <a:effectLst/>
                          <a:latin typeface="+mn-lt"/>
                          <a:ea typeface="+mn-ea"/>
                          <a:cs typeface="+mn-cs"/>
                        </a:rPr>
                        <a:t>47</a:t>
                      </a:r>
                      <a:r>
                        <a:rPr lang="ko-KR" altLang="en-US" sz="1000" kern="1200" dirty="0">
                          <a:solidFill>
                            <a:schemeClr val="tx1"/>
                          </a:solidFill>
                          <a:effectLst/>
                          <a:latin typeface="+mn-lt"/>
                          <a:ea typeface="+mn-ea"/>
                          <a:cs typeface="+mn-cs"/>
                        </a:rPr>
                        <a:t>조제</a:t>
                      </a:r>
                      <a:r>
                        <a:rPr lang="en-US" altLang="ko-KR" sz="1000" kern="1200" dirty="0">
                          <a:solidFill>
                            <a:schemeClr val="tx1"/>
                          </a:solidFill>
                          <a:effectLst/>
                          <a:latin typeface="+mn-lt"/>
                          <a:ea typeface="+mn-ea"/>
                          <a:cs typeface="+mn-cs"/>
                        </a:rPr>
                        <a:t>2</a:t>
                      </a:r>
                      <a:r>
                        <a:rPr lang="ko-KR" altLang="en-US" sz="1000" kern="1200" dirty="0">
                          <a:solidFill>
                            <a:schemeClr val="tx1"/>
                          </a:solidFill>
                          <a:effectLst/>
                          <a:latin typeface="+mn-lt"/>
                          <a:ea typeface="+mn-ea"/>
                          <a:cs typeface="+mn-cs"/>
                        </a:rPr>
                        <a:t>항에 따른 범위에서 하여야 한다</a:t>
                      </a:r>
                      <a:r>
                        <a:rPr lang="en-US" altLang="ko-KR" sz="1000" kern="1200" dirty="0">
                          <a:solidFill>
                            <a:schemeClr val="tx1"/>
                          </a:solidFill>
                          <a:effectLst/>
                          <a:latin typeface="+mn-lt"/>
                          <a:ea typeface="+mn-ea"/>
                          <a:cs typeface="+mn-cs"/>
                        </a:rPr>
                        <a:t>.</a:t>
                      </a:r>
                    </a:p>
                    <a:p>
                      <a:pPr algn="just" fontAlgn="base" latinLnBrk="0"/>
                      <a:endParaRPr lang="en-US" altLang="ko-KR" sz="1000" kern="1200" dirty="0">
                        <a:solidFill>
                          <a:schemeClr val="tx1"/>
                        </a:solidFill>
                        <a:effectLst/>
                        <a:latin typeface="+mn-lt"/>
                        <a:ea typeface="+mn-ea"/>
                        <a:cs typeface="+mn-cs"/>
                      </a:endParaRPr>
                    </a:p>
                    <a:p>
                      <a:pPr algn="just" fontAlgn="base" latinLnBrk="0"/>
                      <a:endParaRPr lang="en-US" altLang="ko-KR" sz="1000" kern="1200" dirty="0">
                        <a:solidFill>
                          <a:schemeClr val="tx1"/>
                        </a:solidFill>
                        <a:effectLst/>
                        <a:latin typeface="+mn-lt"/>
                        <a:ea typeface="+mn-ea"/>
                        <a:cs typeface="+mn-cs"/>
                      </a:endParaRPr>
                    </a:p>
                    <a:p>
                      <a:pPr algn="just" fontAlgn="base" latinLnBrk="0"/>
                      <a:endParaRPr lang="en-US" altLang="ko-KR" sz="1000" kern="1200" dirty="0">
                        <a:solidFill>
                          <a:schemeClr val="tx1"/>
                        </a:solidFill>
                        <a:effectLst/>
                        <a:latin typeface="+mn-lt"/>
                        <a:ea typeface="+mn-ea"/>
                        <a:cs typeface="+mn-cs"/>
                      </a:endParaRPr>
                    </a:p>
                    <a:p>
                      <a:pPr algn="just" fontAlgn="base" latinLnBrk="0"/>
                      <a:endParaRPr lang="en-US" altLang="ko-KR" sz="1000" kern="1200" dirty="0">
                        <a:solidFill>
                          <a:schemeClr val="tx1"/>
                        </a:solidFill>
                        <a:effectLst/>
                        <a:latin typeface="+mn-lt"/>
                        <a:ea typeface="+mn-ea"/>
                        <a:cs typeface="+mn-cs"/>
                      </a:endParaRPr>
                    </a:p>
                    <a:p>
                      <a:pPr algn="just" fontAlgn="base" latinLnBrk="0"/>
                      <a:endParaRPr lang="en-US" altLang="ko-KR" sz="1000" kern="1200" dirty="0">
                        <a:solidFill>
                          <a:schemeClr val="tx1"/>
                        </a:solidFill>
                        <a:effectLst/>
                        <a:latin typeface="+mn-lt"/>
                        <a:ea typeface="+mn-ea"/>
                        <a:cs typeface="+mn-cs"/>
                      </a:endParaRPr>
                    </a:p>
                    <a:p>
                      <a:pPr algn="just" fontAlgn="base" latinLnBrk="0"/>
                      <a:endParaRPr lang="en-US" altLang="ko-KR" sz="1000" kern="1200" dirty="0">
                        <a:solidFill>
                          <a:schemeClr val="tx1"/>
                        </a:solidFill>
                        <a:effectLst/>
                        <a:latin typeface="+mn-lt"/>
                        <a:ea typeface="+mn-ea"/>
                        <a:cs typeface="+mn-cs"/>
                      </a:endParaRPr>
                    </a:p>
                    <a:p>
                      <a:pPr algn="just" fontAlgn="base" latinLnBrk="0"/>
                      <a:endParaRPr lang="en-US" altLang="ko-KR" sz="1000" kern="1200" dirty="0">
                        <a:solidFill>
                          <a:schemeClr val="tx1"/>
                        </a:solidFill>
                        <a:effectLst/>
                        <a:latin typeface="+mn-lt"/>
                        <a:ea typeface="+mn-ea"/>
                        <a:cs typeface="+mn-cs"/>
                      </a:endParaRPr>
                    </a:p>
                    <a:p>
                      <a:pPr algn="just" fontAlgn="base" latinLnBrk="0"/>
                      <a:endParaRPr lang="en-US" altLang="ko-KR" sz="1000" kern="1200" dirty="0">
                        <a:solidFill>
                          <a:schemeClr val="tx1"/>
                        </a:solidFill>
                        <a:effectLst/>
                        <a:latin typeface="+mn-lt"/>
                        <a:ea typeface="+mn-ea"/>
                        <a:cs typeface="+mn-cs"/>
                      </a:endParaRPr>
                    </a:p>
                    <a:p>
                      <a:pPr algn="just" fontAlgn="base" latinLnBrk="0"/>
                      <a:r>
                        <a:rPr lang="en-US" altLang="ko-KR" sz="1000" kern="1200" dirty="0">
                          <a:solidFill>
                            <a:schemeClr val="tx1"/>
                          </a:solidFill>
                          <a:effectLst/>
                          <a:latin typeface="+mn-lt"/>
                          <a:ea typeface="+mn-ea"/>
                          <a:cs typeface="+mn-cs"/>
                        </a:rPr>
                        <a:t>② </a:t>
                      </a:r>
                      <a:r>
                        <a:rPr lang="ko-KR" altLang="en-US" sz="1000" kern="1200" dirty="0">
                          <a:solidFill>
                            <a:schemeClr val="tx1"/>
                          </a:solidFill>
                          <a:effectLst/>
                          <a:latin typeface="+mn-lt"/>
                          <a:ea typeface="+mn-ea"/>
                          <a:cs typeface="+mn-cs"/>
                        </a:rPr>
                        <a:t>제</a:t>
                      </a:r>
                      <a:r>
                        <a:rPr lang="en-US" altLang="ko-KR" sz="1000" kern="1200" dirty="0">
                          <a:solidFill>
                            <a:schemeClr val="tx1"/>
                          </a:solidFill>
                          <a:effectLst/>
                          <a:latin typeface="+mn-lt"/>
                          <a:ea typeface="+mn-ea"/>
                          <a:cs typeface="+mn-cs"/>
                        </a:rPr>
                        <a:t>1</a:t>
                      </a:r>
                      <a:r>
                        <a:rPr lang="ko-KR" altLang="en-US" sz="1000" kern="1200" dirty="0">
                          <a:solidFill>
                            <a:schemeClr val="tx1"/>
                          </a:solidFill>
                          <a:effectLst/>
                          <a:latin typeface="+mn-lt"/>
                          <a:ea typeface="+mn-ea"/>
                          <a:cs typeface="+mn-cs"/>
                        </a:rPr>
                        <a:t>항에 따라 심사관이 직권보정을 하려면 제</a:t>
                      </a:r>
                      <a:r>
                        <a:rPr lang="en-US" altLang="ko-KR" sz="1000" kern="1200" dirty="0">
                          <a:solidFill>
                            <a:schemeClr val="tx1"/>
                          </a:solidFill>
                          <a:effectLst/>
                          <a:latin typeface="+mn-lt"/>
                          <a:ea typeface="+mn-ea"/>
                          <a:cs typeface="+mn-cs"/>
                        </a:rPr>
                        <a:t>67</a:t>
                      </a:r>
                      <a:r>
                        <a:rPr lang="ko-KR" altLang="en-US" sz="1000" kern="1200" dirty="0">
                          <a:solidFill>
                            <a:schemeClr val="tx1"/>
                          </a:solidFill>
                          <a:effectLst/>
                          <a:latin typeface="+mn-lt"/>
                          <a:ea typeface="+mn-ea"/>
                          <a:cs typeface="+mn-cs"/>
                        </a:rPr>
                        <a:t>조제</a:t>
                      </a:r>
                      <a:r>
                        <a:rPr lang="en-US" altLang="ko-KR" sz="1000" kern="1200" dirty="0">
                          <a:solidFill>
                            <a:schemeClr val="tx1"/>
                          </a:solidFill>
                          <a:effectLst/>
                          <a:latin typeface="+mn-lt"/>
                          <a:ea typeface="+mn-ea"/>
                          <a:cs typeface="+mn-cs"/>
                        </a:rPr>
                        <a:t>2</a:t>
                      </a:r>
                      <a:r>
                        <a:rPr lang="ko-KR" altLang="en-US" sz="1000" kern="1200" dirty="0">
                          <a:solidFill>
                            <a:schemeClr val="tx1"/>
                          </a:solidFill>
                          <a:effectLst/>
                          <a:latin typeface="+mn-lt"/>
                          <a:ea typeface="+mn-ea"/>
                          <a:cs typeface="+mn-cs"/>
                        </a:rPr>
                        <a:t>항에 따른 특허결정의 등본 송달과 함께 그 직권보정 사항을 </a:t>
                      </a:r>
                      <a:r>
                        <a:rPr lang="ko-KR" altLang="en-US" sz="1000" kern="1200" dirty="0" err="1">
                          <a:solidFill>
                            <a:schemeClr val="tx1"/>
                          </a:solidFill>
                          <a:effectLst/>
                          <a:latin typeface="+mn-lt"/>
                          <a:ea typeface="+mn-ea"/>
                          <a:cs typeface="+mn-cs"/>
                        </a:rPr>
                        <a:t>특허출원인에게</a:t>
                      </a:r>
                      <a:r>
                        <a:rPr lang="ko-KR" altLang="en-US" sz="1000" kern="1200" dirty="0">
                          <a:solidFill>
                            <a:schemeClr val="tx1"/>
                          </a:solidFill>
                          <a:effectLst/>
                          <a:latin typeface="+mn-lt"/>
                          <a:ea typeface="+mn-ea"/>
                          <a:cs typeface="+mn-cs"/>
                        </a:rPr>
                        <a:t> 알려야 한다</a:t>
                      </a:r>
                      <a:r>
                        <a:rPr lang="en-US" altLang="ko-KR" sz="1000" kern="1200" dirty="0">
                          <a:solidFill>
                            <a:schemeClr val="tx1"/>
                          </a:solidFill>
                          <a:effectLst/>
                          <a:latin typeface="+mn-lt"/>
                          <a:ea typeface="+mn-ea"/>
                          <a:cs typeface="+mn-cs"/>
                        </a:rPr>
                        <a:t>.</a:t>
                      </a:r>
                    </a:p>
                    <a:p>
                      <a:pPr algn="just" fontAlgn="base" latinLnBrk="0"/>
                      <a:r>
                        <a:rPr lang="en-US" altLang="ko-KR" sz="1000" kern="1200" dirty="0">
                          <a:solidFill>
                            <a:schemeClr val="tx1"/>
                          </a:solidFill>
                          <a:effectLst/>
                          <a:latin typeface="+mn-lt"/>
                          <a:ea typeface="+mn-ea"/>
                          <a:cs typeface="+mn-cs"/>
                        </a:rPr>
                        <a:t>③ </a:t>
                      </a:r>
                      <a:r>
                        <a:rPr lang="ko-KR" altLang="en-US" sz="1000" kern="1200" dirty="0" err="1">
                          <a:solidFill>
                            <a:schemeClr val="tx1"/>
                          </a:solidFill>
                          <a:effectLst/>
                          <a:latin typeface="+mn-lt"/>
                          <a:ea typeface="+mn-ea"/>
                          <a:cs typeface="+mn-cs"/>
                        </a:rPr>
                        <a:t>특허출원인은</a:t>
                      </a:r>
                      <a:r>
                        <a:rPr lang="ko-KR" altLang="en-US" sz="1000" kern="1200" dirty="0">
                          <a:solidFill>
                            <a:schemeClr val="tx1"/>
                          </a:solidFill>
                          <a:effectLst/>
                          <a:latin typeface="+mn-lt"/>
                          <a:ea typeface="+mn-ea"/>
                          <a:cs typeface="+mn-cs"/>
                        </a:rPr>
                        <a:t> 직권보정 사항의 전부 또는 일부를 받아들일 수 없으면 제</a:t>
                      </a:r>
                      <a:r>
                        <a:rPr lang="en-US" altLang="ko-KR" sz="1000" kern="1200" dirty="0">
                          <a:solidFill>
                            <a:schemeClr val="tx1"/>
                          </a:solidFill>
                          <a:effectLst/>
                          <a:latin typeface="+mn-lt"/>
                          <a:ea typeface="+mn-ea"/>
                          <a:cs typeface="+mn-cs"/>
                        </a:rPr>
                        <a:t>79</a:t>
                      </a:r>
                      <a:r>
                        <a:rPr lang="ko-KR" altLang="en-US" sz="1000" kern="1200" dirty="0">
                          <a:solidFill>
                            <a:schemeClr val="tx1"/>
                          </a:solidFill>
                          <a:effectLst/>
                          <a:latin typeface="+mn-lt"/>
                          <a:ea typeface="+mn-ea"/>
                          <a:cs typeface="+mn-cs"/>
                        </a:rPr>
                        <a:t>조제</a:t>
                      </a:r>
                      <a:r>
                        <a:rPr lang="en-US" altLang="ko-KR" sz="1000" kern="1200" dirty="0">
                          <a:solidFill>
                            <a:schemeClr val="tx1"/>
                          </a:solidFill>
                          <a:effectLst/>
                          <a:latin typeface="+mn-lt"/>
                          <a:ea typeface="+mn-ea"/>
                          <a:cs typeface="+mn-cs"/>
                        </a:rPr>
                        <a:t>1</a:t>
                      </a:r>
                      <a:r>
                        <a:rPr lang="ko-KR" altLang="en-US" sz="1000" kern="1200" dirty="0">
                          <a:solidFill>
                            <a:schemeClr val="tx1"/>
                          </a:solidFill>
                          <a:effectLst/>
                          <a:latin typeface="+mn-lt"/>
                          <a:ea typeface="+mn-ea"/>
                          <a:cs typeface="+mn-cs"/>
                        </a:rPr>
                        <a:t>항에 따라 특허료를 낼 때까지 그 직권보정 사항에 대한 의견서를 지식재산처장에게 제출하여야 한다</a:t>
                      </a:r>
                      <a:r>
                        <a:rPr lang="en-US" altLang="ko-KR" sz="1000" kern="1200" dirty="0">
                          <a:solidFill>
                            <a:schemeClr val="tx1"/>
                          </a:solidFill>
                          <a:effectLst/>
                          <a:latin typeface="+mn-lt"/>
                          <a:ea typeface="+mn-ea"/>
                          <a:cs typeface="+mn-cs"/>
                        </a:rPr>
                        <a:t>.</a:t>
                      </a:r>
                    </a:p>
                    <a:p>
                      <a:pPr algn="just" fontAlgn="base" latinLnBrk="0"/>
                      <a:r>
                        <a:rPr lang="en-US" altLang="ko-KR" sz="1000" kern="1200" dirty="0">
                          <a:solidFill>
                            <a:schemeClr val="tx1"/>
                          </a:solidFill>
                          <a:effectLst/>
                          <a:latin typeface="+mn-lt"/>
                          <a:ea typeface="+mn-ea"/>
                          <a:cs typeface="+mn-cs"/>
                        </a:rPr>
                        <a:t>④ </a:t>
                      </a:r>
                      <a:r>
                        <a:rPr lang="ko-KR" altLang="en-US" sz="1000" kern="1200" dirty="0" err="1">
                          <a:solidFill>
                            <a:schemeClr val="tx1"/>
                          </a:solidFill>
                          <a:effectLst/>
                          <a:latin typeface="+mn-lt"/>
                          <a:ea typeface="+mn-ea"/>
                          <a:cs typeface="+mn-cs"/>
                        </a:rPr>
                        <a:t>특허출원인이</a:t>
                      </a:r>
                      <a:r>
                        <a:rPr lang="ko-KR" altLang="en-US" sz="1000" kern="1200" dirty="0">
                          <a:solidFill>
                            <a:schemeClr val="tx1"/>
                          </a:solidFill>
                          <a:effectLst/>
                          <a:latin typeface="+mn-lt"/>
                          <a:ea typeface="+mn-ea"/>
                          <a:cs typeface="+mn-cs"/>
                        </a:rPr>
                        <a:t> 제</a:t>
                      </a:r>
                      <a:r>
                        <a:rPr lang="en-US" altLang="ko-KR" sz="1000" kern="1200" dirty="0">
                          <a:solidFill>
                            <a:schemeClr val="tx1"/>
                          </a:solidFill>
                          <a:effectLst/>
                          <a:latin typeface="+mn-lt"/>
                          <a:ea typeface="+mn-ea"/>
                          <a:cs typeface="+mn-cs"/>
                        </a:rPr>
                        <a:t>3</a:t>
                      </a:r>
                      <a:r>
                        <a:rPr lang="ko-KR" altLang="en-US" sz="1000" kern="1200" dirty="0">
                          <a:solidFill>
                            <a:schemeClr val="tx1"/>
                          </a:solidFill>
                          <a:effectLst/>
                          <a:latin typeface="+mn-lt"/>
                          <a:ea typeface="+mn-ea"/>
                          <a:cs typeface="+mn-cs"/>
                        </a:rPr>
                        <a:t>항에 따라 의견서를 제출한 경우 해당 직권보정 사항의 전부 또는 일부는 처음부터 없었던 것으로 본다</a:t>
                      </a:r>
                      <a:r>
                        <a:rPr lang="en-US" altLang="ko-KR" sz="1000" kern="1200" dirty="0">
                          <a:solidFill>
                            <a:schemeClr val="tx1"/>
                          </a:solidFill>
                          <a:effectLst/>
                          <a:latin typeface="+mn-lt"/>
                          <a:ea typeface="+mn-ea"/>
                          <a:cs typeface="+mn-cs"/>
                        </a:rPr>
                        <a:t>. </a:t>
                      </a:r>
                      <a:r>
                        <a:rPr lang="ko-KR" altLang="en-US" sz="1000" kern="1200" dirty="0">
                          <a:solidFill>
                            <a:schemeClr val="tx1"/>
                          </a:solidFill>
                          <a:effectLst/>
                          <a:latin typeface="+mn-lt"/>
                          <a:ea typeface="+mn-ea"/>
                          <a:cs typeface="+mn-cs"/>
                        </a:rPr>
                        <a:t>이 경우 그 특허결정도 함께 취소된 것으로 본다</a:t>
                      </a:r>
                      <a:r>
                        <a:rPr lang="en-US" altLang="ko-KR" sz="1000" kern="1200" dirty="0">
                          <a:solidFill>
                            <a:schemeClr val="tx1"/>
                          </a:solidFill>
                          <a:effectLst/>
                          <a:latin typeface="+mn-lt"/>
                          <a:ea typeface="+mn-ea"/>
                          <a:cs typeface="+mn-cs"/>
                        </a:rPr>
                        <a:t>. </a:t>
                      </a:r>
                      <a:r>
                        <a:rPr lang="ko-KR" altLang="en-US" sz="1000" kern="1200" dirty="0">
                          <a:solidFill>
                            <a:schemeClr val="tx1"/>
                          </a:solidFill>
                          <a:effectLst/>
                          <a:latin typeface="+mn-lt"/>
                          <a:ea typeface="+mn-ea"/>
                          <a:cs typeface="+mn-cs"/>
                        </a:rPr>
                        <a:t>다만</a:t>
                      </a:r>
                      <a:r>
                        <a:rPr lang="en-US" altLang="ko-KR" sz="1000" kern="1200" dirty="0">
                          <a:solidFill>
                            <a:schemeClr val="tx1"/>
                          </a:solidFill>
                          <a:effectLst/>
                          <a:latin typeface="+mn-lt"/>
                          <a:ea typeface="+mn-ea"/>
                          <a:cs typeface="+mn-cs"/>
                        </a:rPr>
                        <a:t>, </a:t>
                      </a:r>
                      <a:r>
                        <a:rPr lang="ko-KR" altLang="en-US" sz="1000" kern="1200" dirty="0" err="1">
                          <a:solidFill>
                            <a:schemeClr val="tx1"/>
                          </a:solidFill>
                          <a:effectLst/>
                          <a:latin typeface="+mn-lt"/>
                          <a:ea typeface="+mn-ea"/>
                          <a:cs typeface="+mn-cs"/>
                        </a:rPr>
                        <a:t>특허출원서에</a:t>
                      </a:r>
                      <a:r>
                        <a:rPr lang="ko-KR" altLang="en-US" sz="1000" kern="1200" dirty="0">
                          <a:solidFill>
                            <a:schemeClr val="tx1"/>
                          </a:solidFill>
                          <a:effectLst/>
                          <a:latin typeface="+mn-lt"/>
                          <a:ea typeface="+mn-ea"/>
                          <a:cs typeface="+mn-cs"/>
                        </a:rPr>
                        <a:t> 첨부된 요약서에 관한 직권보정 사항의 전부 또는 일부만 처음부터 없었던 것으로 보는 경우에는 그러하지 아니하다</a:t>
                      </a:r>
                      <a:r>
                        <a:rPr lang="en-US" altLang="ko-KR" sz="1000" kern="1200" dirty="0">
                          <a:solidFill>
                            <a:schemeClr val="tx1"/>
                          </a:solidFill>
                          <a:effectLst/>
                          <a:latin typeface="+mn-lt"/>
                          <a:ea typeface="+mn-ea"/>
                          <a:cs typeface="+mn-cs"/>
                        </a:rPr>
                        <a:t>.</a:t>
                      </a:r>
                    </a:p>
                    <a:p>
                      <a:pPr algn="just" fontAlgn="base" latinLnBrk="0"/>
                      <a:r>
                        <a:rPr lang="en-US" altLang="ko-KR" sz="1000" kern="1200" dirty="0">
                          <a:solidFill>
                            <a:schemeClr val="tx1"/>
                          </a:solidFill>
                          <a:effectLst/>
                          <a:latin typeface="+mn-lt"/>
                          <a:ea typeface="+mn-ea"/>
                          <a:cs typeface="+mn-cs"/>
                        </a:rPr>
                        <a:t>⑤ </a:t>
                      </a:r>
                      <a:r>
                        <a:rPr lang="ko-KR" altLang="en-US" sz="1000" kern="1200" dirty="0">
                          <a:solidFill>
                            <a:schemeClr val="tx1"/>
                          </a:solidFill>
                          <a:effectLst/>
                          <a:latin typeface="+mn-lt"/>
                          <a:ea typeface="+mn-ea"/>
                          <a:cs typeface="+mn-cs"/>
                        </a:rPr>
                        <a:t>삭제</a:t>
                      </a:r>
                      <a:endParaRPr lang="en-US" altLang="ko-KR" sz="1000" kern="1200" dirty="0">
                        <a:solidFill>
                          <a:schemeClr val="tx1"/>
                        </a:solidFill>
                        <a:effectLst/>
                        <a:latin typeface="+mn-lt"/>
                        <a:ea typeface="+mn-ea"/>
                        <a:cs typeface="+mn-cs"/>
                      </a:endParaRPr>
                    </a:p>
                    <a:p>
                      <a:pPr algn="just" fontAlgn="base" latinLnBrk="0"/>
                      <a:r>
                        <a:rPr lang="en-US" altLang="ko-KR" sz="1000" kern="1200" dirty="0">
                          <a:solidFill>
                            <a:schemeClr val="tx1"/>
                          </a:solidFill>
                          <a:effectLst/>
                          <a:latin typeface="+mn-lt"/>
                          <a:ea typeface="+mn-ea"/>
                          <a:cs typeface="+mn-cs"/>
                        </a:rPr>
                        <a:t>⑥ </a:t>
                      </a:r>
                      <a:r>
                        <a:rPr lang="ko-KR" altLang="en-US" sz="1000" kern="1200" dirty="0">
                          <a:solidFill>
                            <a:schemeClr val="tx1"/>
                          </a:solidFill>
                          <a:effectLst/>
                          <a:latin typeface="+mn-lt"/>
                          <a:ea typeface="+mn-ea"/>
                          <a:cs typeface="+mn-cs"/>
                        </a:rPr>
                        <a:t>직권보정이 제</a:t>
                      </a:r>
                      <a:r>
                        <a:rPr lang="en-US" altLang="ko-KR" sz="1000" kern="1200" dirty="0">
                          <a:solidFill>
                            <a:schemeClr val="tx1"/>
                          </a:solidFill>
                          <a:effectLst/>
                          <a:latin typeface="+mn-lt"/>
                          <a:ea typeface="+mn-ea"/>
                          <a:cs typeface="+mn-cs"/>
                        </a:rPr>
                        <a:t>47</a:t>
                      </a:r>
                      <a:r>
                        <a:rPr lang="ko-KR" altLang="en-US" sz="1000" kern="1200" dirty="0">
                          <a:solidFill>
                            <a:schemeClr val="tx1"/>
                          </a:solidFill>
                          <a:effectLst/>
                          <a:latin typeface="+mn-lt"/>
                          <a:ea typeface="+mn-ea"/>
                          <a:cs typeface="+mn-cs"/>
                        </a:rPr>
                        <a:t>조제</a:t>
                      </a:r>
                      <a:r>
                        <a:rPr lang="en-US" altLang="ko-KR" sz="1000" kern="1200" dirty="0">
                          <a:solidFill>
                            <a:schemeClr val="tx1"/>
                          </a:solidFill>
                          <a:effectLst/>
                          <a:latin typeface="+mn-lt"/>
                          <a:ea typeface="+mn-ea"/>
                          <a:cs typeface="+mn-cs"/>
                        </a:rPr>
                        <a:t>2</a:t>
                      </a:r>
                      <a:r>
                        <a:rPr lang="ko-KR" altLang="en-US" sz="1000" kern="1200" dirty="0">
                          <a:solidFill>
                            <a:schemeClr val="tx1"/>
                          </a:solidFill>
                          <a:effectLst/>
                          <a:latin typeface="+mn-lt"/>
                          <a:ea typeface="+mn-ea"/>
                          <a:cs typeface="+mn-cs"/>
                        </a:rPr>
                        <a:t>항에 따른 범위를 벗어나거나 명백히 잘못되지 아니한 사항을 직권보정한 경우 그 직권보정은 처음부터 없었던 것으로 본다</a:t>
                      </a:r>
                      <a:r>
                        <a:rPr lang="en-US" altLang="ko-KR" sz="1000" kern="1200" dirty="0">
                          <a:solidFill>
                            <a:schemeClr val="tx1"/>
                          </a:solidFill>
                          <a:effectLst/>
                          <a:latin typeface="+mn-lt"/>
                          <a:ea typeface="+mn-ea"/>
                          <a:cs typeface="+mn-cs"/>
                        </a:rPr>
                        <a:t>. </a:t>
                      </a:r>
                      <a:endParaRPr lang="ko-KR" altLang="en-US" sz="1000" kern="1200" dirty="0">
                        <a:solidFill>
                          <a:schemeClr val="tx1"/>
                        </a:solidFill>
                        <a:effectLst/>
                        <a:latin typeface="+mn-lt"/>
                        <a:ea typeface="+mn-ea"/>
                        <a:cs typeface="+mn-cs"/>
                      </a:endParaRPr>
                    </a:p>
                  </a:txBody>
                  <a:tcPr/>
                </a:tc>
                <a:tc>
                  <a:txBody>
                    <a:bodyPr/>
                    <a:lstStyle/>
                    <a:p>
                      <a:pPr algn="just" fontAlgn="base" latinLnBrk="0"/>
                      <a:r>
                        <a:rPr lang="ko-KR" altLang="en-US" sz="1000" kern="1200" dirty="0">
                          <a:solidFill>
                            <a:schemeClr val="tx1"/>
                          </a:solidFill>
                          <a:effectLst/>
                          <a:latin typeface="+mn-lt"/>
                          <a:ea typeface="+mn-ea"/>
                          <a:cs typeface="+mn-cs"/>
                        </a:rPr>
                        <a:t>제</a:t>
                      </a:r>
                      <a:r>
                        <a:rPr lang="en-US" altLang="ko-KR" sz="1000" kern="1200" dirty="0">
                          <a:solidFill>
                            <a:schemeClr val="tx1"/>
                          </a:solidFill>
                          <a:effectLst/>
                          <a:latin typeface="+mn-lt"/>
                          <a:ea typeface="+mn-ea"/>
                          <a:cs typeface="+mn-cs"/>
                        </a:rPr>
                        <a:t>141</a:t>
                      </a:r>
                      <a:r>
                        <a:rPr lang="ko-KR" altLang="en-US" sz="1000" kern="1200" dirty="0">
                          <a:solidFill>
                            <a:schemeClr val="tx1"/>
                          </a:solidFill>
                          <a:effectLst/>
                          <a:latin typeface="+mn-lt"/>
                          <a:ea typeface="+mn-ea"/>
                          <a:cs typeface="+mn-cs"/>
                        </a:rPr>
                        <a:t>조</a:t>
                      </a:r>
                      <a:r>
                        <a:rPr lang="en-US" altLang="ko-KR" sz="1000" kern="1200" dirty="0">
                          <a:solidFill>
                            <a:schemeClr val="tx1"/>
                          </a:solidFill>
                          <a:effectLst/>
                          <a:latin typeface="+mn-lt"/>
                          <a:ea typeface="+mn-ea"/>
                          <a:cs typeface="+mn-cs"/>
                        </a:rPr>
                        <a:t>(</a:t>
                      </a:r>
                      <a:r>
                        <a:rPr lang="ko-KR" altLang="en-US" sz="1000" kern="1200" dirty="0">
                          <a:solidFill>
                            <a:schemeClr val="tx1"/>
                          </a:solidFill>
                          <a:effectLst/>
                          <a:latin typeface="+mn-lt"/>
                          <a:ea typeface="+mn-ea"/>
                          <a:cs typeface="+mn-cs"/>
                        </a:rPr>
                        <a:t>심판청구서 등의 각하</a:t>
                      </a:r>
                      <a:r>
                        <a:rPr lang="en-US" altLang="ko-KR" sz="1000" kern="1200" dirty="0">
                          <a:solidFill>
                            <a:schemeClr val="tx1"/>
                          </a:solidFill>
                          <a:effectLst/>
                          <a:latin typeface="+mn-lt"/>
                          <a:ea typeface="+mn-ea"/>
                          <a:cs typeface="+mn-cs"/>
                        </a:rPr>
                        <a:t>) ① </a:t>
                      </a:r>
                      <a:r>
                        <a:rPr lang="ko-KR" altLang="en-US" sz="1000" kern="1200" dirty="0">
                          <a:solidFill>
                            <a:schemeClr val="tx1"/>
                          </a:solidFill>
                          <a:effectLst/>
                          <a:latin typeface="+mn-lt"/>
                          <a:ea typeface="+mn-ea"/>
                          <a:cs typeface="+mn-cs"/>
                        </a:rPr>
                        <a:t>심판장은 다음 각 호의 어느 하나에 해당하는 경우에는 기간을 정하여 그 보정을 명하여야 한다</a:t>
                      </a:r>
                      <a:r>
                        <a:rPr lang="en-US" altLang="ko-KR" sz="1000" kern="1200" dirty="0">
                          <a:solidFill>
                            <a:schemeClr val="tx1"/>
                          </a:solidFill>
                          <a:effectLst/>
                          <a:latin typeface="+mn-lt"/>
                          <a:ea typeface="+mn-ea"/>
                          <a:cs typeface="+mn-cs"/>
                        </a:rPr>
                        <a:t>. </a:t>
                      </a:r>
                      <a:r>
                        <a:rPr lang="ko-KR" altLang="en-US" sz="1000" kern="1200" dirty="0">
                          <a:solidFill>
                            <a:schemeClr val="tx1"/>
                          </a:solidFill>
                          <a:effectLst/>
                          <a:latin typeface="+mn-lt"/>
                          <a:ea typeface="+mn-ea"/>
                          <a:cs typeface="+mn-cs"/>
                        </a:rPr>
                        <a:t>다만</a:t>
                      </a:r>
                      <a:r>
                        <a:rPr lang="en-US" altLang="ko-KR" sz="1000" kern="1200" dirty="0">
                          <a:solidFill>
                            <a:schemeClr val="tx1"/>
                          </a:solidFill>
                          <a:effectLst/>
                          <a:latin typeface="+mn-lt"/>
                          <a:ea typeface="+mn-ea"/>
                          <a:cs typeface="+mn-cs"/>
                        </a:rPr>
                        <a:t>, </a:t>
                      </a:r>
                      <a:r>
                        <a:rPr lang="ko-KR" altLang="en-US" sz="1000" kern="1200" dirty="0">
                          <a:solidFill>
                            <a:schemeClr val="tx1"/>
                          </a:solidFill>
                          <a:effectLst/>
                          <a:latin typeface="+mn-lt"/>
                          <a:ea typeface="+mn-ea"/>
                          <a:cs typeface="+mn-cs"/>
                        </a:rPr>
                        <a:t>보정할 사항이 경미하고 명확한 경우에는 직권으로 보정할 수 있다</a:t>
                      </a:r>
                      <a:r>
                        <a:rPr lang="en-US" altLang="ko-KR" sz="1000" kern="1200" dirty="0">
                          <a:solidFill>
                            <a:schemeClr val="tx1"/>
                          </a:solidFill>
                          <a:effectLst/>
                          <a:latin typeface="+mn-lt"/>
                          <a:ea typeface="+mn-ea"/>
                          <a:cs typeface="+mn-cs"/>
                        </a:rPr>
                        <a:t>. </a:t>
                      </a:r>
                    </a:p>
                    <a:p>
                      <a:pPr algn="just" fontAlgn="base" latinLnBrk="0"/>
                      <a:r>
                        <a:rPr lang="en-US" altLang="ko-KR" sz="1000" kern="1200" dirty="0">
                          <a:solidFill>
                            <a:schemeClr val="tx1"/>
                          </a:solidFill>
                          <a:effectLst/>
                          <a:latin typeface="+mn-lt"/>
                          <a:ea typeface="+mn-ea"/>
                          <a:cs typeface="+mn-cs"/>
                        </a:rPr>
                        <a:t>1. </a:t>
                      </a:r>
                      <a:r>
                        <a:rPr lang="ko-KR" altLang="en-US" sz="1000" kern="1200" dirty="0">
                          <a:solidFill>
                            <a:schemeClr val="tx1"/>
                          </a:solidFill>
                          <a:effectLst/>
                          <a:latin typeface="+mn-lt"/>
                          <a:ea typeface="+mn-ea"/>
                          <a:cs typeface="+mn-cs"/>
                        </a:rPr>
                        <a:t>심판청구서가 제</a:t>
                      </a:r>
                      <a:r>
                        <a:rPr lang="en-US" altLang="ko-KR" sz="1000" kern="1200" dirty="0">
                          <a:solidFill>
                            <a:schemeClr val="tx1"/>
                          </a:solidFill>
                          <a:effectLst/>
                          <a:latin typeface="+mn-lt"/>
                          <a:ea typeface="+mn-ea"/>
                          <a:cs typeface="+mn-cs"/>
                        </a:rPr>
                        <a:t>140</a:t>
                      </a:r>
                      <a:r>
                        <a:rPr lang="ko-KR" altLang="en-US" sz="1000" kern="1200" dirty="0">
                          <a:solidFill>
                            <a:schemeClr val="tx1"/>
                          </a:solidFill>
                          <a:effectLst/>
                          <a:latin typeface="+mn-lt"/>
                          <a:ea typeface="+mn-ea"/>
                          <a:cs typeface="+mn-cs"/>
                        </a:rPr>
                        <a:t>조제</a:t>
                      </a:r>
                      <a:r>
                        <a:rPr lang="en-US" altLang="ko-KR" sz="1000" kern="1200" dirty="0">
                          <a:solidFill>
                            <a:schemeClr val="tx1"/>
                          </a:solidFill>
                          <a:effectLst/>
                          <a:latin typeface="+mn-lt"/>
                          <a:ea typeface="+mn-ea"/>
                          <a:cs typeface="+mn-cs"/>
                        </a:rPr>
                        <a:t>1</a:t>
                      </a:r>
                      <a:r>
                        <a:rPr lang="ko-KR" altLang="en-US" sz="1000" kern="1200" dirty="0">
                          <a:solidFill>
                            <a:schemeClr val="tx1"/>
                          </a:solidFill>
                          <a:effectLst/>
                          <a:latin typeface="+mn-lt"/>
                          <a:ea typeface="+mn-ea"/>
                          <a:cs typeface="+mn-cs"/>
                        </a:rPr>
                        <a:t>항 및 제</a:t>
                      </a:r>
                      <a:r>
                        <a:rPr lang="en-US" altLang="ko-KR" sz="1000" kern="1200" dirty="0">
                          <a:solidFill>
                            <a:schemeClr val="tx1"/>
                          </a:solidFill>
                          <a:effectLst/>
                          <a:latin typeface="+mn-lt"/>
                          <a:ea typeface="+mn-ea"/>
                          <a:cs typeface="+mn-cs"/>
                        </a:rPr>
                        <a:t>3</a:t>
                      </a:r>
                      <a:r>
                        <a:rPr lang="ko-KR" altLang="en-US" sz="1000" kern="1200" dirty="0">
                          <a:solidFill>
                            <a:schemeClr val="tx1"/>
                          </a:solidFill>
                          <a:effectLst/>
                          <a:latin typeface="+mn-lt"/>
                          <a:ea typeface="+mn-ea"/>
                          <a:cs typeface="+mn-cs"/>
                        </a:rPr>
                        <a:t>항부터 제</a:t>
                      </a:r>
                      <a:r>
                        <a:rPr lang="en-US" altLang="ko-KR" sz="1000" kern="1200" dirty="0">
                          <a:solidFill>
                            <a:schemeClr val="tx1"/>
                          </a:solidFill>
                          <a:effectLst/>
                          <a:latin typeface="+mn-lt"/>
                          <a:ea typeface="+mn-ea"/>
                          <a:cs typeface="+mn-cs"/>
                        </a:rPr>
                        <a:t>5</a:t>
                      </a:r>
                      <a:r>
                        <a:rPr lang="ko-KR" altLang="en-US" sz="1000" kern="1200" dirty="0">
                          <a:solidFill>
                            <a:schemeClr val="tx1"/>
                          </a:solidFill>
                          <a:effectLst/>
                          <a:latin typeface="+mn-lt"/>
                          <a:ea typeface="+mn-ea"/>
                          <a:cs typeface="+mn-cs"/>
                        </a:rPr>
                        <a:t>항까지 또는 제</a:t>
                      </a:r>
                      <a:r>
                        <a:rPr lang="en-US" altLang="ko-KR" sz="1000" kern="1200" dirty="0">
                          <a:solidFill>
                            <a:schemeClr val="tx1"/>
                          </a:solidFill>
                          <a:effectLst/>
                          <a:latin typeface="+mn-lt"/>
                          <a:ea typeface="+mn-ea"/>
                          <a:cs typeface="+mn-cs"/>
                        </a:rPr>
                        <a:t>140</a:t>
                      </a:r>
                      <a:r>
                        <a:rPr lang="ko-KR" altLang="en-US" sz="1000" kern="1200" dirty="0">
                          <a:solidFill>
                            <a:schemeClr val="tx1"/>
                          </a:solidFill>
                          <a:effectLst/>
                          <a:latin typeface="+mn-lt"/>
                          <a:ea typeface="+mn-ea"/>
                          <a:cs typeface="+mn-cs"/>
                        </a:rPr>
                        <a:t>조의</a:t>
                      </a:r>
                      <a:r>
                        <a:rPr lang="en-US" altLang="ko-KR" sz="1000" kern="1200" dirty="0">
                          <a:solidFill>
                            <a:schemeClr val="tx1"/>
                          </a:solidFill>
                          <a:effectLst/>
                          <a:latin typeface="+mn-lt"/>
                          <a:ea typeface="+mn-ea"/>
                          <a:cs typeface="+mn-cs"/>
                        </a:rPr>
                        <a:t>2</a:t>
                      </a:r>
                      <a:r>
                        <a:rPr lang="ko-KR" altLang="en-US" sz="1000" kern="1200" dirty="0">
                          <a:solidFill>
                            <a:schemeClr val="tx1"/>
                          </a:solidFill>
                          <a:effectLst/>
                          <a:latin typeface="+mn-lt"/>
                          <a:ea typeface="+mn-ea"/>
                          <a:cs typeface="+mn-cs"/>
                        </a:rPr>
                        <a:t>제</a:t>
                      </a:r>
                      <a:r>
                        <a:rPr lang="en-US" altLang="ko-KR" sz="1000" kern="1200" dirty="0">
                          <a:solidFill>
                            <a:schemeClr val="tx1"/>
                          </a:solidFill>
                          <a:effectLst/>
                          <a:latin typeface="+mn-lt"/>
                          <a:ea typeface="+mn-ea"/>
                          <a:cs typeface="+mn-cs"/>
                        </a:rPr>
                        <a:t>1</a:t>
                      </a:r>
                      <a:r>
                        <a:rPr lang="ko-KR" altLang="en-US" sz="1000" kern="1200" dirty="0">
                          <a:solidFill>
                            <a:schemeClr val="tx1"/>
                          </a:solidFill>
                          <a:effectLst/>
                          <a:latin typeface="+mn-lt"/>
                          <a:ea typeface="+mn-ea"/>
                          <a:cs typeface="+mn-cs"/>
                        </a:rPr>
                        <a:t>항을 위반한 경우</a:t>
                      </a:r>
                    </a:p>
                    <a:p>
                      <a:pPr algn="just" fontAlgn="base" latinLnBrk="0"/>
                      <a:r>
                        <a:rPr lang="en-US" altLang="ko-KR" sz="1000" kern="1200" dirty="0">
                          <a:solidFill>
                            <a:schemeClr val="tx1"/>
                          </a:solidFill>
                          <a:effectLst/>
                          <a:latin typeface="+mn-lt"/>
                          <a:ea typeface="+mn-ea"/>
                          <a:cs typeface="+mn-cs"/>
                        </a:rPr>
                        <a:t>2. </a:t>
                      </a:r>
                      <a:r>
                        <a:rPr lang="ko-KR" altLang="en-US" sz="1000" kern="1200" dirty="0">
                          <a:solidFill>
                            <a:schemeClr val="tx1"/>
                          </a:solidFill>
                          <a:effectLst/>
                          <a:latin typeface="+mn-lt"/>
                          <a:ea typeface="+mn-ea"/>
                          <a:cs typeface="+mn-cs"/>
                        </a:rPr>
                        <a:t>심판에 관한 절차가 다음 각 목의 어느 하나에 해당하는 경우</a:t>
                      </a:r>
                    </a:p>
                    <a:p>
                      <a:pPr algn="just" fontAlgn="base" latinLnBrk="0"/>
                      <a:r>
                        <a:rPr lang="ko-KR" altLang="en-US" sz="1000" kern="1200" dirty="0">
                          <a:solidFill>
                            <a:schemeClr val="tx1"/>
                          </a:solidFill>
                          <a:effectLst/>
                          <a:latin typeface="+mn-lt"/>
                          <a:ea typeface="+mn-ea"/>
                          <a:cs typeface="+mn-cs"/>
                        </a:rPr>
                        <a:t>  가</a:t>
                      </a:r>
                      <a:r>
                        <a:rPr lang="en-US" altLang="ko-KR" sz="1000" kern="1200" dirty="0">
                          <a:solidFill>
                            <a:schemeClr val="tx1"/>
                          </a:solidFill>
                          <a:effectLst/>
                          <a:latin typeface="+mn-lt"/>
                          <a:ea typeface="+mn-ea"/>
                          <a:cs typeface="+mn-cs"/>
                        </a:rPr>
                        <a:t>. </a:t>
                      </a:r>
                      <a:r>
                        <a:rPr lang="ko-KR" altLang="en-US" sz="1000" kern="1200" dirty="0">
                          <a:solidFill>
                            <a:schemeClr val="tx1"/>
                          </a:solidFill>
                          <a:effectLst/>
                          <a:latin typeface="+mn-lt"/>
                          <a:ea typeface="+mn-ea"/>
                          <a:cs typeface="+mn-cs"/>
                        </a:rPr>
                        <a:t>제</a:t>
                      </a:r>
                      <a:r>
                        <a:rPr lang="en-US" altLang="ko-KR" sz="1000" kern="1200" dirty="0">
                          <a:solidFill>
                            <a:schemeClr val="tx1"/>
                          </a:solidFill>
                          <a:effectLst/>
                          <a:latin typeface="+mn-lt"/>
                          <a:ea typeface="+mn-ea"/>
                          <a:cs typeface="+mn-cs"/>
                        </a:rPr>
                        <a:t>3</a:t>
                      </a:r>
                      <a:r>
                        <a:rPr lang="ko-KR" altLang="en-US" sz="1000" kern="1200" dirty="0">
                          <a:solidFill>
                            <a:schemeClr val="tx1"/>
                          </a:solidFill>
                          <a:effectLst/>
                          <a:latin typeface="+mn-lt"/>
                          <a:ea typeface="+mn-ea"/>
                          <a:cs typeface="+mn-cs"/>
                        </a:rPr>
                        <a:t>조제</a:t>
                      </a:r>
                      <a:r>
                        <a:rPr lang="en-US" altLang="ko-KR" sz="1000" kern="1200" dirty="0">
                          <a:solidFill>
                            <a:schemeClr val="tx1"/>
                          </a:solidFill>
                          <a:effectLst/>
                          <a:latin typeface="+mn-lt"/>
                          <a:ea typeface="+mn-ea"/>
                          <a:cs typeface="+mn-cs"/>
                        </a:rPr>
                        <a:t>1</a:t>
                      </a:r>
                      <a:r>
                        <a:rPr lang="ko-KR" altLang="en-US" sz="1000" kern="1200" dirty="0">
                          <a:solidFill>
                            <a:schemeClr val="tx1"/>
                          </a:solidFill>
                          <a:effectLst/>
                          <a:latin typeface="+mn-lt"/>
                          <a:ea typeface="+mn-ea"/>
                          <a:cs typeface="+mn-cs"/>
                        </a:rPr>
                        <a:t>항 또는 제</a:t>
                      </a:r>
                      <a:r>
                        <a:rPr lang="en-US" altLang="ko-KR" sz="1000" kern="1200" dirty="0">
                          <a:solidFill>
                            <a:schemeClr val="tx1"/>
                          </a:solidFill>
                          <a:effectLst/>
                          <a:latin typeface="+mn-lt"/>
                          <a:ea typeface="+mn-ea"/>
                          <a:cs typeface="+mn-cs"/>
                        </a:rPr>
                        <a:t>6</a:t>
                      </a:r>
                      <a:r>
                        <a:rPr lang="ko-KR" altLang="en-US" sz="1000" kern="1200" dirty="0">
                          <a:solidFill>
                            <a:schemeClr val="tx1"/>
                          </a:solidFill>
                          <a:effectLst/>
                          <a:latin typeface="+mn-lt"/>
                          <a:ea typeface="+mn-ea"/>
                          <a:cs typeface="+mn-cs"/>
                        </a:rPr>
                        <a:t>조를 위반한 경우</a:t>
                      </a:r>
                    </a:p>
                    <a:p>
                      <a:pPr algn="just" fontAlgn="base" latinLnBrk="0"/>
                      <a:r>
                        <a:rPr lang="ko-KR" altLang="en-US" sz="1000" kern="1200" dirty="0">
                          <a:solidFill>
                            <a:schemeClr val="tx1"/>
                          </a:solidFill>
                          <a:effectLst/>
                          <a:latin typeface="+mn-lt"/>
                          <a:ea typeface="+mn-ea"/>
                          <a:cs typeface="+mn-cs"/>
                        </a:rPr>
                        <a:t>  나</a:t>
                      </a:r>
                      <a:r>
                        <a:rPr lang="en-US" altLang="ko-KR" sz="1000" kern="1200" dirty="0">
                          <a:solidFill>
                            <a:schemeClr val="tx1"/>
                          </a:solidFill>
                          <a:effectLst/>
                          <a:latin typeface="+mn-lt"/>
                          <a:ea typeface="+mn-ea"/>
                          <a:cs typeface="+mn-cs"/>
                        </a:rPr>
                        <a:t>. </a:t>
                      </a:r>
                      <a:r>
                        <a:rPr lang="ko-KR" altLang="en-US" sz="1000" kern="1200" dirty="0">
                          <a:solidFill>
                            <a:schemeClr val="tx1"/>
                          </a:solidFill>
                          <a:effectLst/>
                          <a:latin typeface="+mn-lt"/>
                          <a:ea typeface="+mn-ea"/>
                          <a:cs typeface="+mn-cs"/>
                        </a:rPr>
                        <a:t>제</a:t>
                      </a:r>
                      <a:r>
                        <a:rPr lang="en-US" altLang="ko-KR" sz="1000" kern="1200" dirty="0">
                          <a:solidFill>
                            <a:schemeClr val="tx1"/>
                          </a:solidFill>
                          <a:effectLst/>
                          <a:latin typeface="+mn-lt"/>
                          <a:ea typeface="+mn-ea"/>
                          <a:cs typeface="+mn-cs"/>
                        </a:rPr>
                        <a:t>82</a:t>
                      </a:r>
                      <a:r>
                        <a:rPr lang="ko-KR" altLang="en-US" sz="1000" kern="1200" dirty="0">
                          <a:solidFill>
                            <a:schemeClr val="tx1"/>
                          </a:solidFill>
                          <a:effectLst/>
                          <a:latin typeface="+mn-lt"/>
                          <a:ea typeface="+mn-ea"/>
                          <a:cs typeface="+mn-cs"/>
                        </a:rPr>
                        <a:t>조에 따라 내야 할 수수료를 내지 아니한 경우</a:t>
                      </a:r>
                    </a:p>
                    <a:p>
                      <a:pPr algn="just" fontAlgn="base" latinLnBrk="0"/>
                      <a:r>
                        <a:rPr lang="ko-KR" altLang="en-US" sz="1000" kern="1200" dirty="0">
                          <a:solidFill>
                            <a:schemeClr val="tx1"/>
                          </a:solidFill>
                          <a:effectLst/>
                          <a:latin typeface="+mn-lt"/>
                          <a:ea typeface="+mn-ea"/>
                          <a:cs typeface="+mn-cs"/>
                        </a:rPr>
                        <a:t>  다</a:t>
                      </a:r>
                      <a:r>
                        <a:rPr lang="en-US" altLang="ko-KR" sz="1000" kern="1200" dirty="0">
                          <a:solidFill>
                            <a:schemeClr val="tx1"/>
                          </a:solidFill>
                          <a:effectLst/>
                          <a:latin typeface="+mn-lt"/>
                          <a:ea typeface="+mn-ea"/>
                          <a:cs typeface="+mn-cs"/>
                        </a:rPr>
                        <a:t>. </a:t>
                      </a:r>
                      <a:r>
                        <a:rPr lang="ko-KR" altLang="en-US" sz="1000" kern="1200" dirty="0">
                          <a:solidFill>
                            <a:schemeClr val="tx1"/>
                          </a:solidFill>
                          <a:effectLst/>
                          <a:latin typeface="+mn-lt"/>
                          <a:ea typeface="+mn-ea"/>
                          <a:cs typeface="+mn-cs"/>
                        </a:rPr>
                        <a:t>이 법 또는 이 법에 따른 명령으로 정하는 방식을 위반한 경우</a:t>
                      </a:r>
                    </a:p>
                    <a:p>
                      <a:pPr algn="just" fontAlgn="base" latinLnBrk="0"/>
                      <a:r>
                        <a:rPr lang="ko-KR" altLang="en-US" sz="1000" kern="1200" dirty="0">
                          <a:solidFill>
                            <a:schemeClr val="tx1"/>
                          </a:solidFill>
                          <a:effectLst/>
                          <a:latin typeface="+mn-lt"/>
                          <a:ea typeface="+mn-ea"/>
                          <a:cs typeface="+mn-cs"/>
                        </a:rPr>
                        <a:t>② 심판장은 제</a:t>
                      </a:r>
                      <a:r>
                        <a:rPr lang="en-US" altLang="ko-KR" sz="1000" kern="1200" dirty="0">
                          <a:solidFill>
                            <a:schemeClr val="tx1"/>
                          </a:solidFill>
                          <a:effectLst/>
                          <a:latin typeface="+mn-lt"/>
                          <a:ea typeface="+mn-ea"/>
                          <a:cs typeface="+mn-cs"/>
                        </a:rPr>
                        <a:t>1</a:t>
                      </a:r>
                      <a:r>
                        <a:rPr lang="ko-KR" altLang="en-US" sz="1000" kern="1200" dirty="0">
                          <a:solidFill>
                            <a:schemeClr val="tx1"/>
                          </a:solidFill>
                          <a:effectLst/>
                          <a:latin typeface="+mn-lt"/>
                          <a:ea typeface="+mn-ea"/>
                          <a:cs typeface="+mn-cs"/>
                        </a:rPr>
                        <a:t>항 본문에 따른 보정명령을 받은 자가 지정된 기간에 보정을 하지 아니하거나 보정한 사항이 제</a:t>
                      </a:r>
                      <a:r>
                        <a:rPr lang="en-US" altLang="ko-KR" sz="1000" kern="1200" dirty="0">
                          <a:solidFill>
                            <a:schemeClr val="tx1"/>
                          </a:solidFill>
                          <a:effectLst/>
                          <a:latin typeface="+mn-lt"/>
                          <a:ea typeface="+mn-ea"/>
                          <a:cs typeface="+mn-cs"/>
                        </a:rPr>
                        <a:t>140</a:t>
                      </a:r>
                      <a:r>
                        <a:rPr lang="ko-KR" altLang="en-US" sz="1000" kern="1200" dirty="0">
                          <a:solidFill>
                            <a:schemeClr val="tx1"/>
                          </a:solidFill>
                          <a:effectLst/>
                          <a:latin typeface="+mn-lt"/>
                          <a:ea typeface="+mn-ea"/>
                          <a:cs typeface="+mn-cs"/>
                        </a:rPr>
                        <a:t>조제</a:t>
                      </a:r>
                      <a:r>
                        <a:rPr lang="en-US" altLang="ko-KR" sz="1000" kern="1200" dirty="0">
                          <a:solidFill>
                            <a:schemeClr val="tx1"/>
                          </a:solidFill>
                          <a:effectLst/>
                          <a:latin typeface="+mn-lt"/>
                          <a:ea typeface="+mn-ea"/>
                          <a:cs typeface="+mn-cs"/>
                        </a:rPr>
                        <a:t>2</a:t>
                      </a:r>
                      <a:r>
                        <a:rPr lang="ko-KR" altLang="en-US" sz="1000" kern="1200" dirty="0">
                          <a:solidFill>
                            <a:schemeClr val="tx1"/>
                          </a:solidFill>
                          <a:effectLst/>
                          <a:latin typeface="+mn-lt"/>
                          <a:ea typeface="+mn-ea"/>
                          <a:cs typeface="+mn-cs"/>
                        </a:rPr>
                        <a:t>항 또는 제</a:t>
                      </a:r>
                      <a:r>
                        <a:rPr lang="en-US" altLang="ko-KR" sz="1000" kern="1200" dirty="0">
                          <a:solidFill>
                            <a:schemeClr val="tx1"/>
                          </a:solidFill>
                          <a:effectLst/>
                          <a:latin typeface="+mn-lt"/>
                          <a:ea typeface="+mn-ea"/>
                          <a:cs typeface="+mn-cs"/>
                        </a:rPr>
                        <a:t>140</a:t>
                      </a:r>
                      <a:r>
                        <a:rPr lang="ko-KR" altLang="en-US" sz="1000" kern="1200" dirty="0">
                          <a:solidFill>
                            <a:schemeClr val="tx1"/>
                          </a:solidFill>
                          <a:effectLst/>
                          <a:latin typeface="+mn-lt"/>
                          <a:ea typeface="+mn-ea"/>
                          <a:cs typeface="+mn-cs"/>
                        </a:rPr>
                        <a:t>조의</a:t>
                      </a:r>
                      <a:r>
                        <a:rPr lang="en-US" altLang="ko-KR" sz="1000" kern="1200" dirty="0">
                          <a:solidFill>
                            <a:schemeClr val="tx1"/>
                          </a:solidFill>
                          <a:effectLst/>
                          <a:latin typeface="+mn-lt"/>
                          <a:ea typeface="+mn-ea"/>
                          <a:cs typeface="+mn-cs"/>
                        </a:rPr>
                        <a:t>2</a:t>
                      </a:r>
                      <a:r>
                        <a:rPr lang="ko-KR" altLang="en-US" sz="1000" kern="1200" dirty="0">
                          <a:solidFill>
                            <a:schemeClr val="tx1"/>
                          </a:solidFill>
                          <a:effectLst/>
                          <a:latin typeface="+mn-lt"/>
                          <a:ea typeface="+mn-ea"/>
                          <a:cs typeface="+mn-cs"/>
                        </a:rPr>
                        <a:t>제</a:t>
                      </a:r>
                      <a:r>
                        <a:rPr lang="en-US" altLang="ko-KR" sz="1000" kern="1200" dirty="0">
                          <a:solidFill>
                            <a:schemeClr val="tx1"/>
                          </a:solidFill>
                          <a:effectLst/>
                          <a:latin typeface="+mn-lt"/>
                          <a:ea typeface="+mn-ea"/>
                          <a:cs typeface="+mn-cs"/>
                        </a:rPr>
                        <a:t>2</a:t>
                      </a:r>
                      <a:r>
                        <a:rPr lang="ko-KR" altLang="en-US" sz="1000" kern="1200" dirty="0">
                          <a:solidFill>
                            <a:schemeClr val="tx1"/>
                          </a:solidFill>
                          <a:effectLst/>
                          <a:latin typeface="+mn-lt"/>
                          <a:ea typeface="+mn-ea"/>
                          <a:cs typeface="+mn-cs"/>
                        </a:rPr>
                        <a:t>항을 위반한 경우에는 심판청구서 또는 해당 절차와 관련된 청구나 신청 등을 결정으로 각하하여야 한다</a:t>
                      </a:r>
                      <a:r>
                        <a:rPr lang="en-US" altLang="ko-KR" sz="1000" kern="1200" dirty="0">
                          <a:solidFill>
                            <a:schemeClr val="tx1"/>
                          </a:solidFill>
                          <a:effectLst/>
                          <a:latin typeface="+mn-lt"/>
                          <a:ea typeface="+mn-ea"/>
                          <a:cs typeface="+mn-cs"/>
                        </a:rPr>
                        <a:t>. </a:t>
                      </a:r>
                    </a:p>
                    <a:p>
                      <a:pPr algn="just" fontAlgn="base" latinLnBrk="0"/>
                      <a:r>
                        <a:rPr lang="en-US" altLang="ko-KR" sz="1000" kern="1200" dirty="0">
                          <a:solidFill>
                            <a:schemeClr val="tx1"/>
                          </a:solidFill>
                          <a:effectLst/>
                          <a:latin typeface="+mn-lt"/>
                          <a:ea typeface="+mn-ea"/>
                          <a:cs typeface="+mn-cs"/>
                        </a:rPr>
                        <a:t>③ </a:t>
                      </a:r>
                      <a:r>
                        <a:rPr lang="ko-KR" altLang="en-US" sz="1000" kern="1200" dirty="0">
                          <a:solidFill>
                            <a:schemeClr val="tx1"/>
                          </a:solidFill>
                          <a:effectLst/>
                          <a:latin typeface="+mn-lt"/>
                          <a:ea typeface="+mn-ea"/>
                          <a:cs typeface="+mn-cs"/>
                        </a:rPr>
                        <a:t>제</a:t>
                      </a:r>
                      <a:r>
                        <a:rPr lang="en-US" altLang="ko-KR" sz="1000" kern="1200" dirty="0">
                          <a:solidFill>
                            <a:schemeClr val="tx1"/>
                          </a:solidFill>
                          <a:effectLst/>
                          <a:latin typeface="+mn-lt"/>
                          <a:ea typeface="+mn-ea"/>
                          <a:cs typeface="+mn-cs"/>
                        </a:rPr>
                        <a:t>2</a:t>
                      </a:r>
                      <a:r>
                        <a:rPr lang="ko-KR" altLang="en-US" sz="1000" kern="1200" dirty="0">
                          <a:solidFill>
                            <a:schemeClr val="tx1"/>
                          </a:solidFill>
                          <a:effectLst/>
                          <a:latin typeface="+mn-lt"/>
                          <a:ea typeface="+mn-ea"/>
                          <a:cs typeface="+mn-cs"/>
                        </a:rPr>
                        <a:t>항에 따른 결정은 서면으로 하여야 하며</a:t>
                      </a:r>
                      <a:r>
                        <a:rPr lang="en-US" altLang="ko-KR" sz="1000" kern="1200" dirty="0">
                          <a:solidFill>
                            <a:schemeClr val="tx1"/>
                          </a:solidFill>
                          <a:effectLst/>
                          <a:latin typeface="+mn-lt"/>
                          <a:ea typeface="+mn-ea"/>
                          <a:cs typeface="+mn-cs"/>
                        </a:rPr>
                        <a:t>, </a:t>
                      </a:r>
                      <a:r>
                        <a:rPr lang="ko-KR" altLang="en-US" sz="1000" kern="1200" dirty="0">
                          <a:solidFill>
                            <a:schemeClr val="tx1"/>
                          </a:solidFill>
                          <a:effectLst/>
                          <a:latin typeface="+mn-lt"/>
                          <a:ea typeface="+mn-ea"/>
                          <a:cs typeface="+mn-cs"/>
                        </a:rPr>
                        <a:t>그 이유를 붙여야 한다</a:t>
                      </a:r>
                      <a:r>
                        <a:rPr lang="en-US" altLang="ko-KR" sz="1000" kern="1200" dirty="0">
                          <a:solidFill>
                            <a:schemeClr val="tx1"/>
                          </a:solidFill>
                          <a:effectLst/>
                          <a:latin typeface="+mn-lt"/>
                          <a:ea typeface="+mn-ea"/>
                          <a:cs typeface="+mn-cs"/>
                        </a:rPr>
                        <a:t>.</a:t>
                      </a:r>
                    </a:p>
                    <a:p>
                      <a:pPr algn="just" fontAlgn="base" latinLnBrk="0"/>
                      <a:r>
                        <a:rPr lang="en-US" altLang="ko-KR" sz="1000" kern="1200" dirty="0">
                          <a:solidFill>
                            <a:schemeClr val="tx1"/>
                          </a:solidFill>
                          <a:effectLst/>
                          <a:latin typeface="+mn-lt"/>
                          <a:ea typeface="+mn-ea"/>
                          <a:cs typeface="+mn-cs"/>
                        </a:rPr>
                        <a:t>④ </a:t>
                      </a:r>
                      <a:r>
                        <a:rPr lang="ko-KR" altLang="en-US" sz="1000" kern="1200" dirty="0">
                          <a:solidFill>
                            <a:schemeClr val="tx1"/>
                          </a:solidFill>
                          <a:effectLst/>
                          <a:latin typeface="+mn-lt"/>
                          <a:ea typeface="+mn-ea"/>
                          <a:cs typeface="+mn-cs"/>
                        </a:rPr>
                        <a:t>심판장은 제</a:t>
                      </a:r>
                      <a:r>
                        <a:rPr lang="en-US" altLang="ko-KR" sz="1000" kern="1200" dirty="0">
                          <a:solidFill>
                            <a:schemeClr val="tx1"/>
                          </a:solidFill>
                          <a:effectLst/>
                          <a:latin typeface="+mn-lt"/>
                          <a:ea typeface="+mn-ea"/>
                          <a:cs typeface="+mn-cs"/>
                        </a:rPr>
                        <a:t>1</a:t>
                      </a:r>
                      <a:r>
                        <a:rPr lang="ko-KR" altLang="en-US" sz="1000" kern="1200" dirty="0">
                          <a:solidFill>
                            <a:schemeClr val="tx1"/>
                          </a:solidFill>
                          <a:effectLst/>
                          <a:latin typeface="+mn-lt"/>
                          <a:ea typeface="+mn-ea"/>
                          <a:cs typeface="+mn-cs"/>
                        </a:rPr>
                        <a:t>항 단서에 따라 직권보정을 하려면 그 직권보정 사항을 청구인에게 통지하여야 한다</a:t>
                      </a:r>
                      <a:r>
                        <a:rPr lang="en-US" altLang="ko-KR" sz="1000" kern="1200" dirty="0">
                          <a:solidFill>
                            <a:schemeClr val="tx1"/>
                          </a:solidFill>
                          <a:effectLst/>
                          <a:latin typeface="+mn-lt"/>
                          <a:ea typeface="+mn-ea"/>
                          <a:cs typeface="+mn-cs"/>
                        </a:rPr>
                        <a:t>. </a:t>
                      </a:r>
                    </a:p>
                    <a:p>
                      <a:pPr algn="just" fontAlgn="base" latinLnBrk="0"/>
                      <a:endParaRPr lang="en-US" altLang="ko-KR" sz="1000" kern="1200" dirty="0">
                        <a:solidFill>
                          <a:schemeClr val="tx1"/>
                        </a:solidFill>
                        <a:effectLst/>
                        <a:latin typeface="+mn-lt"/>
                        <a:ea typeface="+mn-ea"/>
                        <a:cs typeface="+mn-cs"/>
                      </a:endParaRPr>
                    </a:p>
                    <a:p>
                      <a:pPr algn="just" fontAlgn="base" latinLnBrk="0"/>
                      <a:r>
                        <a:rPr lang="en-US" altLang="ko-KR" sz="1000" kern="1200" dirty="0">
                          <a:solidFill>
                            <a:schemeClr val="tx1"/>
                          </a:solidFill>
                          <a:effectLst/>
                          <a:latin typeface="+mn-lt"/>
                          <a:ea typeface="+mn-ea"/>
                          <a:cs typeface="+mn-cs"/>
                        </a:rPr>
                        <a:t>⑤ </a:t>
                      </a:r>
                      <a:r>
                        <a:rPr lang="ko-KR" altLang="en-US" sz="1000" kern="1200" dirty="0">
                          <a:solidFill>
                            <a:schemeClr val="tx1"/>
                          </a:solidFill>
                          <a:effectLst/>
                          <a:latin typeface="+mn-lt"/>
                          <a:ea typeface="+mn-ea"/>
                          <a:cs typeface="+mn-cs"/>
                        </a:rPr>
                        <a:t>청구인은 제</a:t>
                      </a:r>
                      <a:r>
                        <a:rPr lang="en-US" altLang="ko-KR" sz="1000" kern="1200" dirty="0">
                          <a:solidFill>
                            <a:schemeClr val="tx1"/>
                          </a:solidFill>
                          <a:effectLst/>
                          <a:latin typeface="+mn-lt"/>
                          <a:ea typeface="+mn-ea"/>
                          <a:cs typeface="+mn-cs"/>
                        </a:rPr>
                        <a:t>1</a:t>
                      </a:r>
                      <a:r>
                        <a:rPr lang="ko-KR" altLang="en-US" sz="1000" kern="1200" dirty="0">
                          <a:solidFill>
                            <a:schemeClr val="tx1"/>
                          </a:solidFill>
                          <a:effectLst/>
                          <a:latin typeface="+mn-lt"/>
                          <a:ea typeface="+mn-ea"/>
                          <a:cs typeface="+mn-cs"/>
                        </a:rPr>
                        <a:t>항 단서에 따른 직권보정 사항을 받아들일 수 없으면 직권보정 사항의 통지를 받은 날부터 </a:t>
                      </a:r>
                      <a:r>
                        <a:rPr lang="en-US" altLang="ko-KR" sz="1000" kern="1200" dirty="0">
                          <a:solidFill>
                            <a:schemeClr val="tx1"/>
                          </a:solidFill>
                          <a:effectLst/>
                          <a:latin typeface="+mn-lt"/>
                          <a:ea typeface="+mn-ea"/>
                          <a:cs typeface="+mn-cs"/>
                        </a:rPr>
                        <a:t>7</a:t>
                      </a:r>
                      <a:r>
                        <a:rPr lang="ko-KR" altLang="en-US" sz="1000" kern="1200" dirty="0">
                          <a:solidFill>
                            <a:schemeClr val="tx1"/>
                          </a:solidFill>
                          <a:effectLst/>
                          <a:latin typeface="+mn-lt"/>
                          <a:ea typeface="+mn-ea"/>
                          <a:cs typeface="+mn-cs"/>
                        </a:rPr>
                        <a:t>일 이내에 그 직권보정 사항에 대한 의견서를 심판장에게 제출하여야 한다</a:t>
                      </a:r>
                      <a:r>
                        <a:rPr lang="en-US" altLang="ko-KR" sz="1000" kern="1200" dirty="0">
                          <a:solidFill>
                            <a:schemeClr val="tx1"/>
                          </a:solidFill>
                          <a:effectLst/>
                          <a:latin typeface="+mn-lt"/>
                          <a:ea typeface="+mn-ea"/>
                          <a:cs typeface="+mn-cs"/>
                        </a:rPr>
                        <a:t>. </a:t>
                      </a:r>
                    </a:p>
                    <a:p>
                      <a:pPr algn="just" fontAlgn="base" latinLnBrk="0"/>
                      <a:r>
                        <a:rPr lang="en-US" altLang="ko-KR" sz="1000" kern="1200" dirty="0">
                          <a:solidFill>
                            <a:schemeClr val="tx1"/>
                          </a:solidFill>
                          <a:effectLst/>
                          <a:latin typeface="+mn-lt"/>
                          <a:ea typeface="+mn-ea"/>
                          <a:cs typeface="+mn-cs"/>
                        </a:rPr>
                        <a:t>⑥ </a:t>
                      </a:r>
                      <a:r>
                        <a:rPr lang="ko-KR" altLang="en-US" sz="1000" kern="1200" dirty="0">
                          <a:solidFill>
                            <a:schemeClr val="tx1"/>
                          </a:solidFill>
                          <a:effectLst/>
                          <a:latin typeface="+mn-lt"/>
                          <a:ea typeface="+mn-ea"/>
                          <a:cs typeface="+mn-cs"/>
                        </a:rPr>
                        <a:t>청구인이 제</a:t>
                      </a:r>
                      <a:r>
                        <a:rPr lang="en-US" altLang="ko-KR" sz="1000" kern="1200" dirty="0">
                          <a:solidFill>
                            <a:schemeClr val="tx1"/>
                          </a:solidFill>
                          <a:effectLst/>
                          <a:latin typeface="+mn-lt"/>
                          <a:ea typeface="+mn-ea"/>
                          <a:cs typeface="+mn-cs"/>
                        </a:rPr>
                        <a:t>5</a:t>
                      </a:r>
                      <a:r>
                        <a:rPr lang="ko-KR" altLang="en-US" sz="1000" kern="1200" dirty="0">
                          <a:solidFill>
                            <a:schemeClr val="tx1"/>
                          </a:solidFill>
                          <a:effectLst/>
                          <a:latin typeface="+mn-lt"/>
                          <a:ea typeface="+mn-ea"/>
                          <a:cs typeface="+mn-cs"/>
                        </a:rPr>
                        <a:t>항에 따라 의견서를 제출한 경우에는 해당 직권보정 사항은 처음부터 없었던 것으로 본다</a:t>
                      </a:r>
                      <a:r>
                        <a:rPr lang="en-US" altLang="ko-KR" sz="1000" kern="1200" dirty="0">
                          <a:solidFill>
                            <a:schemeClr val="tx1"/>
                          </a:solidFill>
                          <a:effectLst/>
                          <a:latin typeface="+mn-lt"/>
                          <a:ea typeface="+mn-ea"/>
                          <a:cs typeface="+mn-cs"/>
                        </a:rPr>
                        <a:t>. </a:t>
                      </a:r>
                    </a:p>
                    <a:p>
                      <a:pPr algn="just" fontAlgn="base" latinLnBrk="0"/>
                      <a:endParaRPr lang="en-US" altLang="ko-KR" sz="1000" kern="1200" dirty="0">
                        <a:solidFill>
                          <a:schemeClr val="tx1"/>
                        </a:solidFill>
                        <a:effectLst/>
                        <a:latin typeface="+mn-lt"/>
                        <a:ea typeface="+mn-ea"/>
                        <a:cs typeface="+mn-cs"/>
                      </a:endParaRPr>
                    </a:p>
                    <a:p>
                      <a:pPr algn="just" fontAlgn="base" latinLnBrk="0"/>
                      <a:endParaRPr lang="en-US" altLang="ko-KR" sz="1000" kern="1200" dirty="0">
                        <a:solidFill>
                          <a:schemeClr val="tx1"/>
                        </a:solidFill>
                        <a:effectLst/>
                        <a:latin typeface="+mn-lt"/>
                        <a:ea typeface="+mn-ea"/>
                        <a:cs typeface="+mn-cs"/>
                      </a:endParaRPr>
                    </a:p>
                    <a:p>
                      <a:pPr algn="just" fontAlgn="base" latinLnBrk="0"/>
                      <a:endParaRPr lang="en-US" altLang="ko-KR" sz="1000" kern="1200" dirty="0">
                        <a:solidFill>
                          <a:schemeClr val="tx1"/>
                        </a:solidFill>
                        <a:effectLst/>
                        <a:latin typeface="+mn-lt"/>
                        <a:ea typeface="+mn-ea"/>
                        <a:cs typeface="+mn-cs"/>
                      </a:endParaRPr>
                    </a:p>
                    <a:p>
                      <a:pPr algn="just" fontAlgn="base" latinLnBrk="0"/>
                      <a:r>
                        <a:rPr lang="en-US" altLang="ko-KR" sz="1000" kern="1200" dirty="0">
                          <a:solidFill>
                            <a:schemeClr val="tx1"/>
                          </a:solidFill>
                          <a:effectLst/>
                          <a:latin typeface="+mn-lt"/>
                          <a:ea typeface="+mn-ea"/>
                          <a:cs typeface="+mn-cs"/>
                        </a:rPr>
                        <a:t>⑦ </a:t>
                      </a:r>
                      <a:r>
                        <a:rPr lang="ko-KR" altLang="en-US" sz="1000" kern="1200" dirty="0">
                          <a:solidFill>
                            <a:schemeClr val="tx1"/>
                          </a:solidFill>
                          <a:effectLst/>
                          <a:latin typeface="+mn-lt"/>
                          <a:ea typeface="+mn-ea"/>
                          <a:cs typeface="+mn-cs"/>
                        </a:rPr>
                        <a:t>제</a:t>
                      </a:r>
                      <a:r>
                        <a:rPr lang="en-US" altLang="ko-KR" sz="1000" kern="1200" dirty="0">
                          <a:solidFill>
                            <a:schemeClr val="tx1"/>
                          </a:solidFill>
                          <a:effectLst/>
                          <a:latin typeface="+mn-lt"/>
                          <a:ea typeface="+mn-ea"/>
                          <a:cs typeface="+mn-cs"/>
                        </a:rPr>
                        <a:t>1</a:t>
                      </a:r>
                      <a:r>
                        <a:rPr lang="ko-KR" altLang="en-US" sz="1000" kern="1200" dirty="0">
                          <a:solidFill>
                            <a:schemeClr val="tx1"/>
                          </a:solidFill>
                          <a:effectLst/>
                          <a:latin typeface="+mn-lt"/>
                          <a:ea typeface="+mn-ea"/>
                          <a:cs typeface="+mn-cs"/>
                        </a:rPr>
                        <a:t>항 단서에 따른 직권보정이 명백히 잘못된 경우 그 직권보정은 처음부터 없었던 것으로 본다</a:t>
                      </a:r>
                      <a:r>
                        <a:rPr lang="en-US" altLang="ko-KR" sz="1000" kern="1200" dirty="0">
                          <a:solidFill>
                            <a:schemeClr val="tx1"/>
                          </a:solidFill>
                          <a:effectLst/>
                          <a:latin typeface="+mn-lt"/>
                          <a:ea typeface="+mn-ea"/>
                          <a:cs typeface="+mn-cs"/>
                        </a:rPr>
                        <a:t>. </a:t>
                      </a:r>
                      <a:endParaRPr lang="ko-KR" altLang="en-US" sz="1000" dirty="0"/>
                    </a:p>
                  </a:txBody>
                  <a:tcPr/>
                </a:tc>
                <a:extLst>
                  <a:ext uri="{0D108BD9-81ED-4DB2-BD59-A6C34878D82A}">
                    <a16:rowId xmlns:a16="http://schemas.microsoft.com/office/drawing/2014/main" val="3986305079"/>
                  </a:ext>
                </a:extLst>
              </a:tr>
            </a:tbl>
          </a:graphicData>
        </a:graphic>
      </p:graphicFrame>
      <p:graphicFrame>
        <p:nvGraphicFramePr>
          <p:cNvPr id="8" name="표 7">
            <a:extLst>
              <a:ext uri="{FF2B5EF4-FFF2-40B4-BE49-F238E27FC236}">
                <a16:creationId xmlns:a16="http://schemas.microsoft.com/office/drawing/2014/main" id="{F7670EB8-03FB-359B-E97C-F983FB7CA619}"/>
              </a:ext>
            </a:extLst>
          </p:cNvPr>
          <p:cNvGraphicFramePr>
            <a:graphicFrameLocks noGrp="1"/>
          </p:cNvGraphicFramePr>
          <p:nvPr/>
        </p:nvGraphicFramePr>
        <p:xfrm>
          <a:off x="184729" y="4615415"/>
          <a:ext cx="11810046" cy="2124456"/>
        </p:xfrm>
        <a:graphic>
          <a:graphicData uri="http://schemas.openxmlformats.org/drawingml/2006/table">
            <a:tbl>
              <a:tblPr/>
              <a:tblGrid>
                <a:gridCol w="722144">
                  <a:extLst>
                    <a:ext uri="{9D8B030D-6E8A-4147-A177-3AD203B41FA5}">
                      <a16:colId xmlns:a16="http://schemas.microsoft.com/office/drawing/2014/main" val="2108517430"/>
                    </a:ext>
                  </a:extLst>
                </a:gridCol>
                <a:gridCol w="5216021">
                  <a:extLst>
                    <a:ext uri="{9D8B030D-6E8A-4147-A177-3AD203B41FA5}">
                      <a16:colId xmlns:a16="http://schemas.microsoft.com/office/drawing/2014/main" val="2127402726"/>
                    </a:ext>
                  </a:extLst>
                </a:gridCol>
                <a:gridCol w="5871881">
                  <a:extLst>
                    <a:ext uri="{9D8B030D-6E8A-4147-A177-3AD203B41FA5}">
                      <a16:colId xmlns:a16="http://schemas.microsoft.com/office/drawing/2014/main" val="4078270188"/>
                    </a:ext>
                  </a:extLst>
                </a:gridCol>
              </a:tblGrid>
              <a:tr h="173482">
                <a:tc>
                  <a:txBody>
                    <a:bodyPr/>
                    <a:lstStyle/>
                    <a:p>
                      <a:pPr marL="0" marR="0" indent="0" algn="ctr" fontAlgn="base" latinLnBrk="0">
                        <a:lnSpc>
                          <a:spcPct val="100000"/>
                        </a:lnSpc>
                        <a:spcBef>
                          <a:spcPts val="0"/>
                        </a:spcBef>
                        <a:spcAft>
                          <a:spcPts val="0"/>
                        </a:spcAft>
                      </a:pPr>
                      <a:r>
                        <a:rPr lang="ko-KR" altLang="en-US" sz="1000" kern="1200" dirty="0">
                          <a:solidFill>
                            <a:schemeClr val="tx1"/>
                          </a:solidFill>
                          <a:latin typeface="+mn-lt"/>
                          <a:ea typeface="+mn-ea"/>
                          <a:cs typeface="+mn-cs"/>
                        </a:rPr>
                        <a:t>제도</a:t>
                      </a:r>
                    </a:p>
                  </a:txBody>
                  <a:tcPr marL="17907" marR="17907" marT="17907" marB="17907" anchor="ctr">
                    <a:lnL w="10795"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10795"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E4E4E4"/>
                    </a:solidFill>
                  </a:tcPr>
                </a:tc>
                <a:tc>
                  <a:txBody>
                    <a:bodyPr/>
                    <a:lstStyle/>
                    <a:p>
                      <a:pPr marL="0" marR="0" indent="0" algn="ctr" fontAlgn="base" latinLnBrk="0">
                        <a:lnSpc>
                          <a:spcPct val="100000"/>
                        </a:lnSpc>
                        <a:spcBef>
                          <a:spcPts val="0"/>
                        </a:spcBef>
                        <a:spcAft>
                          <a:spcPts val="0"/>
                        </a:spcAft>
                      </a:pPr>
                      <a:r>
                        <a:rPr lang="ko-KR" altLang="en-US" sz="1000" kern="1200" dirty="0">
                          <a:solidFill>
                            <a:schemeClr val="tx1"/>
                          </a:solidFill>
                          <a:latin typeface="+mn-lt"/>
                          <a:ea typeface="+mn-ea"/>
                          <a:cs typeface="+mn-cs"/>
                        </a:rPr>
                        <a:t>심사단계에서의 직권보정</a:t>
                      </a:r>
                      <a:r>
                        <a:rPr lang="en-US" altLang="ko-KR" sz="1000" kern="1200" dirty="0">
                          <a:solidFill>
                            <a:schemeClr val="tx1"/>
                          </a:solidFill>
                          <a:latin typeface="+mn-lt"/>
                          <a:ea typeface="+mn-ea"/>
                          <a:cs typeface="+mn-cs"/>
                        </a:rPr>
                        <a:t>(</a:t>
                      </a:r>
                      <a:r>
                        <a:rPr lang="ko-KR" altLang="en-US" sz="1000" kern="1200" dirty="0">
                          <a:solidFill>
                            <a:schemeClr val="tx1"/>
                          </a:solidFill>
                          <a:latin typeface="+mn-lt"/>
                          <a:ea typeface="+mn-ea"/>
                          <a:cs typeface="+mn-cs"/>
                        </a:rPr>
                        <a:t>제</a:t>
                      </a:r>
                      <a:r>
                        <a:rPr lang="en-US" altLang="ko-KR" sz="1000" kern="1200" dirty="0">
                          <a:solidFill>
                            <a:schemeClr val="tx1"/>
                          </a:solidFill>
                          <a:latin typeface="+mn-lt"/>
                          <a:ea typeface="+mn-ea"/>
                          <a:cs typeface="+mn-cs"/>
                        </a:rPr>
                        <a:t>66</a:t>
                      </a:r>
                      <a:r>
                        <a:rPr lang="ko-KR" altLang="en-US" sz="1000" kern="1200" dirty="0">
                          <a:solidFill>
                            <a:schemeClr val="tx1"/>
                          </a:solidFill>
                          <a:latin typeface="+mn-lt"/>
                          <a:ea typeface="+mn-ea"/>
                          <a:cs typeface="+mn-cs"/>
                        </a:rPr>
                        <a:t>조의</a:t>
                      </a:r>
                      <a:r>
                        <a:rPr lang="en-US" altLang="ko-KR" sz="1000" kern="1200" dirty="0">
                          <a:solidFill>
                            <a:schemeClr val="tx1"/>
                          </a:solidFill>
                          <a:latin typeface="+mn-lt"/>
                          <a:ea typeface="+mn-ea"/>
                          <a:cs typeface="+mn-cs"/>
                        </a:rPr>
                        <a:t>2)</a:t>
                      </a:r>
                      <a:endParaRPr lang="ko-KR" altLang="en-US" sz="1000" kern="1200" dirty="0">
                        <a:solidFill>
                          <a:schemeClr val="tx1"/>
                        </a:solidFill>
                        <a:latin typeface="+mn-lt"/>
                        <a:ea typeface="+mn-ea"/>
                        <a:cs typeface="+mn-cs"/>
                      </a:endParaRP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10795"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E4E4E4"/>
                    </a:solidFill>
                  </a:tcPr>
                </a:tc>
                <a:tc>
                  <a:txBody>
                    <a:bodyPr/>
                    <a:lstStyle/>
                    <a:p>
                      <a:pPr marL="0" marR="0" indent="0" algn="ctr" fontAlgn="base" latinLnBrk="0">
                        <a:lnSpc>
                          <a:spcPct val="100000"/>
                        </a:lnSpc>
                        <a:spcBef>
                          <a:spcPts val="0"/>
                        </a:spcBef>
                        <a:spcAft>
                          <a:spcPts val="0"/>
                        </a:spcAft>
                      </a:pPr>
                      <a:r>
                        <a:rPr lang="ko-KR" altLang="en-US" sz="1000" kern="1200" dirty="0">
                          <a:solidFill>
                            <a:schemeClr val="tx1"/>
                          </a:solidFill>
                          <a:latin typeface="+mn-lt"/>
                          <a:ea typeface="+mn-ea"/>
                          <a:cs typeface="+mn-cs"/>
                        </a:rPr>
                        <a:t>심판단계에서의 직권보정</a:t>
                      </a:r>
                      <a:r>
                        <a:rPr lang="en-US" altLang="ko-KR" sz="1000" kern="1200" dirty="0">
                          <a:solidFill>
                            <a:schemeClr val="tx1"/>
                          </a:solidFill>
                          <a:latin typeface="+mn-lt"/>
                          <a:ea typeface="+mn-ea"/>
                          <a:cs typeface="+mn-cs"/>
                        </a:rPr>
                        <a:t>(</a:t>
                      </a:r>
                      <a:r>
                        <a:rPr lang="ko-KR" altLang="en-US" sz="1000" kern="1200" dirty="0">
                          <a:solidFill>
                            <a:schemeClr val="tx1"/>
                          </a:solidFill>
                          <a:latin typeface="+mn-lt"/>
                          <a:ea typeface="+mn-ea"/>
                          <a:cs typeface="+mn-cs"/>
                        </a:rPr>
                        <a:t>제</a:t>
                      </a:r>
                      <a:r>
                        <a:rPr lang="en-US" altLang="ko-KR" sz="1000" kern="1200" dirty="0">
                          <a:solidFill>
                            <a:schemeClr val="tx1"/>
                          </a:solidFill>
                          <a:latin typeface="+mn-lt"/>
                          <a:ea typeface="+mn-ea"/>
                          <a:cs typeface="+mn-cs"/>
                        </a:rPr>
                        <a:t>141</a:t>
                      </a:r>
                      <a:r>
                        <a:rPr lang="ko-KR" altLang="en-US" sz="1000" kern="1200" dirty="0">
                          <a:solidFill>
                            <a:schemeClr val="tx1"/>
                          </a:solidFill>
                          <a:latin typeface="+mn-lt"/>
                          <a:ea typeface="+mn-ea"/>
                          <a:cs typeface="+mn-cs"/>
                        </a:rPr>
                        <a:t>조</a:t>
                      </a:r>
                      <a:r>
                        <a:rPr lang="en-US" altLang="ko-KR" sz="1000" kern="1200" dirty="0">
                          <a:solidFill>
                            <a:schemeClr val="tx1"/>
                          </a:solidFill>
                          <a:latin typeface="+mn-lt"/>
                          <a:ea typeface="+mn-ea"/>
                          <a:cs typeface="+mn-cs"/>
                        </a:rPr>
                        <a:t>)</a:t>
                      </a:r>
                      <a:endParaRPr lang="ko-KR" altLang="en-US" sz="1000" kern="1200" dirty="0">
                        <a:solidFill>
                          <a:schemeClr val="tx1"/>
                        </a:solidFill>
                        <a:latin typeface="+mn-lt"/>
                        <a:ea typeface="+mn-ea"/>
                        <a:cs typeface="+mn-cs"/>
                      </a:endParaRPr>
                    </a:p>
                  </a:txBody>
                  <a:tcPr marL="17907" marR="17907" marT="17907" marB="17907" anchor="ctr">
                    <a:lnL w="3556" cap="flat" cmpd="sng" algn="ctr">
                      <a:solidFill>
                        <a:srgbClr val="000000"/>
                      </a:solidFill>
                      <a:prstDash val="solid"/>
                      <a:round/>
                      <a:headEnd type="none" w="med" len="med"/>
                      <a:tailEnd type="none" w="med" len="med"/>
                    </a:lnL>
                    <a:lnR w="10795" cap="flat" cmpd="sng" algn="ctr">
                      <a:solidFill>
                        <a:srgbClr val="000000"/>
                      </a:solidFill>
                      <a:prstDash val="solid"/>
                      <a:round/>
                      <a:headEnd type="none" w="med" len="med"/>
                      <a:tailEnd type="none" w="med" len="med"/>
                    </a:lnR>
                    <a:lnT w="10795"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E4E4E4"/>
                    </a:solidFill>
                  </a:tcPr>
                </a:tc>
                <a:extLst>
                  <a:ext uri="{0D108BD9-81ED-4DB2-BD59-A6C34878D82A}">
                    <a16:rowId xmlns:a16="http://schemas.microsoft.com/office/drawing/2014/main" val="3867778266"/>
                  </a:ext>
                </a:extLst>
              </a:tr>
              <a:tr h="173482">
                <a:tc>
                  <a:txBody>
                    <a:bodyPr/>
                    <a:lstStyle/>
                    <a:p>
                      <a:pPr marL="0" marR="0" indent="0" algn="ctr" fontAlgn="base" latinLnBrk="0">
                        <a:lnSpc>
                          <a:spcPct val="100000"/>
                        </a:lnSpc>
                        <a:spcBef>
                          <a:spcPts val="0"/>
                        </a:spcBef>
                        <a:spcAft>
                          <a:spcPts val="0"/>
                        </a:spcAft>
                      </a:pPr>
                      <a:r>
                        <a:rPr lang="ko-KR" altLang="en-US" sz="1000" kern="1200">
                          <a:solidFill>
                            <a:schemeClr val="tx1"/>
                          </a:solidFill>
                          <a:latin typeface="+mn-lt"/>
                          <a:ea typeface="+mn-ea"/>
                          <a:cs typeface="+mn-cs"/>
                        </a:rPr>
                        <a:t>요건</a:t>
                      </a:r>
                    </a:p>
                  </a:txBody>
                  <a:tcPr marL="17907" marR="17907" marT="17907" marB="17907" anchor="ctr">
                    <a:lnL w="10795"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E4E4E4"/>
                    </a:solidFill>
                  </a:tcPr>
                </a:tc>
                <a:tc>
                  <a:txBody>
                    <a:bodyPr/>
                    <a:lstStyle/>
                    <a:p>
                      <a:pPr marL="17780" marR="17780" indent="0" algn="just" fontAlgn="base" latinLnBrk="1">
                        <a:lnSpc>
                          <a:spcPct val="100000"/>
                        </a:lnSpc>
                        <a:spcBef>
                          <a:spcPts val="0"/>
                        </a:spcBef>
                        <a:spcAft>
                          <a:spcPts val="0"/>
                        </a:spcAft>
                      </a:pPr>
                      <a:r>
                        <a:rPr lang="ko-KR" altLang="en-US" sz="1000" kern="1200" dirty="0">
                          <a:solidFill>
                            <a:schemeClr val="tx1"/>
                          </a:solidFill>
                          <a:latin typeface="+mn-lt"/>
                          <a:ea typeface="+mn-ea"/>
                          <a:cs typeface="+mn-cs"/>
                        </a:rPr>
                        <a:t>특허결정을 할 때에 </a:t>
                      </a:r>
                      <a:r>
                        <a:rPr lang="ko-KR" altLang="en-US" sz="1000" kern="1200" dirty="0" err="1">
                          <a:solidFill>
                            <a:schemeClr val="tx1"/>
                          </a:solidFill>
                          <a:latin typeface="+mn-lt"/>
                          <a:ea typeface="+mn-ea"/>
                          <a:cs typeface="+mn-cs"/>
                        </a:rPr>
                        <a:t>특허출원서에</a:t>
                      </a:r>
                      <a:r>
                        <a:rPr lang="ko-KR" altLang="en-US" sz="1000" kern="1200" dirty="0">
                          <a:solidFill>
                            <a:schemeClr val="tx1"/>
                          </a:solidFill>
                          <a:latin typeface="+mn-lt"/>
                          <a:ea typeface="+mn-ea"/>
                          <a:cs typeface="+mn-cs"/>
                        </a:rPr>
                        <a:t> 첨부된 명세서</a:t>
                      </a:r>
                      <a:r>
                        <a:rPr lang="en-US" altLang="ko-KR" sz="1000" kern="1200" dirty="0">
                          <a:solidFill>
                            <a:schemeClr val="tx1"/>
                          </a:solidFill>
                          <a:latin typeface="+mn-lt"/>
                          <a:ea typeface="+mn-ea"/>
                          <a:cs typeface="+mn-cs"/>
                        </a:rPr>
                        <a:t>, </a:t>
                      </a:r>
                      <a:r>
                        <a:rPr lang="ko-KR" altLang="en-US" sz="1000" kern="1200" dirty="0">
                          <a:solidFill>
                            <a:schemeClr val="tx1"/>
                          </a:solidFill>
                          <a:latin typeface="+mn-lt"/>
                          <a:ea typeface="+mn-ea"/>
                          <a:cs typeface="+mn-cs"/>
                        </a:rPr>
                        <a:t>도면 또는 요약서에 적힌 사항이 명백히 잘못된 경우</a:t>
                      </a:r>
                      <a:r>
                        <a:rPr lang="en-US" altLang="ko-KR" sz="1000" kern="1200" dirty="0">
                          <a:solidFill>
                            <a:schemeClr val="tx1"/>
                          </a:solidFill>
                          <a:latin typeface="+mn-lt"/>
                          <a:ea typeface="+mn-ea"/>
                          <a:cs typeface="+mn-cs"/>
                        </a:rPr>
                        <a:t>. </a:t>
                      </a:r>
                      <a:r>
                        <a:rPr lang="ko-KR" altLang="en-US" sz="1000" kern="1200" dirty="0">
                          <a:solidFill>
                            <a:schemeClr val="tx1"/>
                          </a:solidFill>
                          <a:latin typeface="+mn-lt"/>
                          <a:ea typeface="+mn-ea"/>
                          <a:cs typeface="+mn-cs"/>
                        </a:rPr>
                        <a:t>단</a:t>
                      </a:r>
                      <a:r>
                        <a:rPr lang="en-US" altLang="ko-KR" sz="1000" kern="1200" dirty="0">
                          <a:solidFill>
                            <a:schemeClr val="tx1"/>
                          </a:solidFill>
                          <a:latin typeface="+mn-lt"/>
                          <a:ea typeface="+mn-ea"/>
                          <a:cs typeface="+mn-cs"/>
                        </a:rPr>
                        <a:t>, </a:t>
                      </a:r>
                      <a:r>
                        <a:rPr lang="ko-KR" altLang="en-US" sz="1000" kern="1200" dirty="0">
                          <a:solidFill>
                            <a:schemeClr val="tx1"/>
                          </a:solidFill>
                          <a:latin typeface="+mn-lt"/>
                          <a:ea typeface="+mn-ea"/>
                          <a:cs typeface="+mn-cs"/>
                        </a:rPr>
                        <a:t>신규사항이 추가되지 아니한 범위에서 가능</a:t>
                      </a: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noFill/>
                  </a:tcPr>
                </a:tc>
                <a:tc>
                  <a:txBody>
                    <a:bodyPr/>
                    <a:lstStyle/>
                    <a:p>
                      <a:pPr marL="17780" marR="17780" indent="0" algn="just" fontAlgn="base" latinLnBrk="1">
                        <a:lnSpc>
                          <a:spcPct val="100000"/>
                        </a:lnSpc>
                        <a:spcBef>
                          <a:spcPts val="0"/>
                        </a:spcBef>
                        <a:spcAft>
                          <a:spcPts val="0"/>
                        </a:spcAft>
                      </a:pPr>
                      <a:r>
                        <a:rPr lang="ko-KR" altLang="en-US" sz="1000" kern="1200" dirty="0">
                          <a:solidFill>
                            <a:schemeClr val="tx1"/>
                          </a:solidFill>
                          <a:latin typeface="+mn-lt"/>
                          <a:ea typeface="+mn-ea"/>
                          <a:cs typeface="+mn-cs"/>
                        </a:rPr>
                        <a:t>심판청구서의 보정할 사항이 경미하고 명확한 경우</a:t>
                      </a:r>
                    </a:p>
                  </a:txBody>
                  <a:tcPr marL="17907" marR="17907" marT="17907" marB="17907">
                    <a:lnL w="3556" cap="flat" cmpd="sng" algn="ctr">
                      <a:solidFill>
                        <a:srgbClr val="000000"/>
                      </a:solidFill>
                      <a:prstDash val="solid"/>
                      <a:round/>
                      <a:headEnd type="none" w="med" len="med"/>
                      <a:tailEnd type="none" w="med" len="med"/>
                    </a:lnL>
                    <a:lnR w="10795"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07116586"/>
                  </a:ext>
                </a:extLst>
              </a:tr>
              <a:tr h="173482">
                <a:tc>
                  <a:txBody>
                    <a:bodyPr/>
                    <a:lstStyle/>
                    <a:p>
                      <a:pPr marL="0" marR="0" indent="0" algn="ctr" fontAlgn="base" latinLnBrk="0">
                        <a:lnSpc>
                          <a:spcPct val="100000"/>
                        </a:lnSpc>
                        <a:spcBef>
                          <a:spcPts val="0"/>
                        </a:spcBef>
                        <a:spcAft>
                          <a:spcPts val="0"/>
                        </a:spcAft>
                      </a:pPr>
                      <a:r>
                        <a:rPr lang="ko-KR" altLang="en-US" sz="1000" kern="1200">
                          <a:solidFill>
                            <a:schemeClr val="tx1"/>
                          </a:solidFill>
                          <a:latin typeface="+mn-lt"/>
                          <a:ea typeface="+mn-ea"/>
                          <a:cs typeface="+mn-cs"/>
                        </a:rPr>
                        <a:t>절차</a:t>
                      </a:r>
                    </a:p>
                  </a:txBody>
                  <a:tcPr marL="17907" marR="17907" marT="17907" marB="17907" anchor="ctr">
                    <a:lnL w="10795"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E4E4E4"/>
                    </a:solidFill>
                  </a:tcPr>
                </a:tc>
                <a:tc>
                  <a:txBody>
                    <a:bodyPr/>
                    <a:lstStyle/>
                    <a:p>
                      <a:pPr marL="125730" marR="17780" indent="-125730" algn="just" fontAlgn="base" latinLnBrk="1">
                        <a:lnSpc>
                          <a:spcPct val="100000"/>
                        </a:lnSpc>
                        <a:spcBef>
                          <a:spcPts val="0"/>
                        </a:spcBef>
                        <a:spcAft>
                          <a:spcPts val="0"/>
                        </a:spcAft>
                      </a:pPr>
                      <a:r>
                        <a:rPr lang="en-US" altLang="ko-KR" sz="1000" kern="1200" dirty="0">
                          <a:solidFill>
                            <a:schemeClr val="tx1"/>
                          </a:solidFill>
                          <a:latin typeface="+mn-lt"/>
                          <a:ea typeface="+mn-ea"/>
                          <a:cs typeface="+mn-cs"/>
                        </a:rPr>
                        <a:t>1. </a:t>
                      </a:r>
                      <a:r>
                        <a:rPr lang="ko-KR" altLang="en-US" sz="1000" kern="1200" dirty="0">
                          <a:solidFill>
                            <a:schemeClr val="tx1"/>
                          </a:solidFill>
                          <a:latin typeface="+mn-lt"/>
                          <a:ea typeface="+mn-ea"/>
                          <a:cs typeface="+mn-cs"/>
                        </a:rPr>
                        <a:t>심사관이 직권보정을 하려면 특허결정의 등본 송달과 함께 출원인에게 통지</a:t>
                      </a:r>
                    </a:p>
                    <a:p>
                      <a:pPr marL="115570" marR="17780" indent="-115570" algn="just" fontAlgn="base" latinLnBrk="1">
                        <a:lnSpc>
                          <a:spcPct val="100000"/>
                        </a:lnSpc>
                        <a:spcBef>
                          <a:spcPts val="0"/>
                        </a:spcBef>
                        <a:spcAft>
                          <a:spcPts val="0"/>
                        </a:spcAft>
                      </a:pPr>
                      <a:r>
                        <a:rPr lang="en-US" altLang="ko-KR" sz="1000" kern="1200" dirty="0">
                          <a:solidFill>
                            <a:schemeClr val="tx1"/>
                          </a:solidFill>
                          <a:latin typeface="+mn-lt"/>
                          <a:ea typeface="+mn-ea"/>
                          <a:cs typeface="+mn-cs"/>
                        </a:rPr>
                        <a:t>2. </a:t>
                      </a:r>
                      <a:r>
                        <a:rPr lang="ko-KR" altLang="en-US" sz="1000" kern="1200" dirty="0" err="1">
                          <a:solidFill>
                            <a:schemeClr val="tx1"/>
                          </a:solidFill>
                          <a:latin typeface="+mn-lt"/>
                          <a:ea typeface="+mn-ea"/>
                          <a:cs typeface="+mn-cs"/>
                        </a:rPr>
                        <a:t>특허출원인은</a:t>
                      </a:r>
                      <a:r>
                        <a:rPr lang="ko-KR" altLang="en-US" sz="1000" kern="1200" dirty="0">
                          <a:solidFill>
                            <a:schemeClr val="tx1"/>
                          </a:solidFill>
                          <a:latin typeface="+mn-lt"/>
                          <a:ea typeface="+mn-ea"/>
                          <a:cs typeface="+mn-cs"/>
                        </a:rPr>
                        <a:t> 직권보정 사항의 일부 또는 전부를 받아들일 수 없으면 특허료를 낼 때까지 그 직권보정 사항에 대한 의견서를 지식재산처장에게 제출</a:t>
                      </a: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noFill/>
                  </a:tcPr>
                </a:tc>
                <a:tc>
                  <a:txBody>
                    <a:bodyPr/>
                    <a:lstStyle/>
                    <a:p>
                      <a:pPr marL="17780" marR="17780" indent="0" algn="just" fontAlgn="base" latinLnBrk="1">
                        <a:lnSpc>
                          <a:spcPct val="100000"/>
                        </a:lnSpc>
                        <a:spcBef>
                          <a:spcPts val="0"/>
                        </a:spcBef>
                        <a:spcAft>
                          <a:spcPts val="0"/>
                        </a:spcAft>
                      </a:pPr>
                      <a:r>
                        <a:rPr lang="en-US" altLang="ko-KR" sz="1000" kern="1200" dirty="0">
                          <a:solidFill>
                            <a:schemeClr val="tx1"/>
                          </a:solidFill>
                          <a:latin typeface="+mn-lt"/>
                          <a:ea typeface="+mn-ea"/>
                          <a:cs typeface="+mn-cs"/>
                        </a:rPr>
                        <a:t>1. </a:t>
                      </a:r>
                      <a:r>
                        <a:rPr lang="ko-KR" altLang="en-US" sz="1000" kern="1200" dirty="0">
                          <a:solidFill>
                            <a:schemeClr val="tx1"/>
                          </a:solidFill>
                          <a:latin typeface="+mn-lt"/>
                          <a:ea typeface="+mn-ea"/>
                          <a:cs typeface="+mn-cs"/>
                        </a:rPr>
                        <a:t>심판장이 청구인에게 통지</a:t>
                      </a:r>
                    </a:p>
                    <a:p>
                      <a:pPr marL="134620" marR="17780" indent="-134620" algn="just" fontAlgn="base" latinLnBrk="1">
                        <a:lnSpc>
                          <a:spcPct val="100000"/>
                        </a:lnSpc>
                        <a:spcBef>
                          <a:spcPts val="0"/>
                        </a:spcBef>
                        <a:spcAft>
                          <a:spcPts val="0"/>
                        </a:spcAft>
                      </a:pPr>
                      <a:r>
                        <a:rPr lang="en-US" altLang="ko-KR" sz="1000" kern="1200" dirty="0">
                          <a:solidFill>
                            <a:schemeClr val="tx1"/>
                          </a:solidFill>
                          <a:latin typeface="+mn-lt"/>
                          <a:ea typeface="+mn-ea"/>
                          <a:cs typeface="+mn-cs"/>
                        </a:rPr>
                        <a:t>2. </a:t>
                      </a:r>
                      <a:r>
                        <a:rPr lang="ko-KR" altLang="en-US" sz="1000" kern="1200" dirty="0">
                          <a:solidFill>
                            <a:schemeClr val="tx1"/>
                          </a:solidFill>
                          <a:latin typeface="+mn-lt"/>
                          <a:ea typeface="+mn-ea"/>
                          <a:cs typeface="+mn-cs"/>
                        </a:rPr>
                        <a:t>청구인이 받아들일 수 없으면 통지를 받은 날로부터 </a:t>
                      </a:r>
                      <a:r>
                        <a:rPr lang="en-US" altLang="ko-KR" sz="1000" kern="1200" dirty="0">
                          <a:solidFill>
                            <a:schemeClr val="tx1"/>
                          </a:solidFill>
                          <a:latin typeface="+mn-lt"/>
                          <a:ea typeface="+mn-ea"/>
                          <a:cs typeface="+mn-cs"/>
                        </a:rPr>
                        <a:t>7</a:t>
                      </a:r>
                      <a:r>
                        <a:rPr lang="ko-KR" altLang="en-US" sz="1000" kern="1200" dirty="0">
                          <a:solidFill>
                            <a:schemeClr val="tx1"/>
                          </a:solidFill>
                          <a:latin typeface="+mn-lt"/>
                          <a:ea typeface="+mn-ea"/>
                          <a:cs typeface="+mn-cs"/>
                        </a:rPr>
                        <a:t>일 이내 의견서를 심판장에게 제출</a:t>
                      </a:r>
                    </a:p>
                  </a:txBody>
                  <a:tcPr marL="17907" marR="17907" marT="17907" marB="17907">
                    <a:lnL w="3556" cap="flat" cmpd="sng" algn="ctr">
                      <a:solidFill>
                        <a:srgbClr val="000000"/>
                      </a:solidFill>
                      <a:prstDash val="solid"/>
                      <a:round/>
                      <a:headEnd type="none" w="med" len="med"/>
                      <a:tailEnd type="none" w="med" len="med"/>
                    </a:lnL>
                    <a:lnR w="10795"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5811015"/>
                  </a:ext>
                </a:extLst>
              </a:tr>
              <a:tr h="173482">
                <a:tc>
                  <a:txBody>
                    <a:bodyPr/>
                    <a:lstStyle/>
                    <a:p>
                      <a:pPr marL="0" marR="0" indent="0" algn="ctr" fontAlgn="base" latinLnBrk="0">
                        <a:lnSpc>
                          <a:spcPct val="100000"/>
                        </a:lnSpc>
                        <a:spcBef>
                          <a:spcPts val="0"/>
                        </a:spcBef>
                        <a:spcAft>
                          <a:spcPts val="0"/>
                        </a:spcAft>
                      </a:pPr>
                      <a:r>
                        <a:rPr lang="ko-KR" altLang="en-US" sz="1000" kern="1200">
                          <a:solidFill>
                            <a:schemeClr val="tx1"/>
                          </a:solidFill>
                          <a:latin typeface="+mn-lt"/>
                          <a:ea typeface="+mn-ea"/>
                          <a:cs typeface="+mn-cs"/>
                        </a:rPr>
                        <a:t>효과</a:t>
                      </a:r>
                    </a:p>
                  </a:txBody>
                  <a:tcPr marL="17907" marR="17907" marT="17907" marB="17907" anchor="ctr">
                    <a:lnL w="10795"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10795" cap="flat" cmpd="sng" algn="ctr">
                      <a:solidFill>
                        <a:srgbClr val="000000"/>
                      </a:solidFill>
                      <a:prstDash val="solid"/>
                      <a:round/>
                      <a:headEnd type="none" w="med" len="med"/>
                      <a:tailEnd type="none" w="med" len="med"/>
                    </a:lnB>
                    <a:solidFill>
                      <a:srgbClr val="E4E4E4"/>
                    </a:solidFill>
                  </a:tcPr>
                </a:tc>
                <a:tc>
                  <a:txBody>
                    <a:bodyPr/>
                    <a:lstStyle/>
                    <a:p>
                      <a:pPr marL="17780" marR="17780" indent="0" algn="just" fontAlgn="base" latinLnBrk="1">
                        <a:lnSpc>
                          <a:spcPct val="100000"/>
                        </a:lnSpc>
                        <a:spcBef>
                          <a:spcPts val="0"/>
                        </a:spcBef>
                        <a:spcAft>
                          <a:spcPts val="0"/>
                        </a:spcAft>
                      </a:pPr>
                      <a:r>
                        <a:rPr lang="en-US" altLang="ko-KR" sz="1000" kern="1200" dirty="0">
                          <a:solidFill>
                            <a:schemeClr val="tx1"/>
                          </a:solidFill>
                          <a:latin typeface="+mn-lt"/>
                          <a:ea typeface="+mn-ea"/>
                          <a:cs typeface="+mn-cs"/>
                        </a:rPr>
                        <a:t>1. </a:t>
                      </a:r>
                      <a:r>
                        <a:rPr lang="ko-KR" altLang="en-US" sz="1000" kern="1200" dirty="0">
                          <a:solidFill>
                            <a:schemeClr val="tx1"/>
                          </a:solidFill>
                          <a:latin typeface="+mn-lt"/>
                          <a:ea typeface="+mn-ea"/>
                          <a:cs typeface="+mn-cs"/>
                        </a:rPr>
                        <a:t>의견서 제출한 경우 </a:t>
                      </a:r>
                    </a:p>
                    <a:p>
                      <a:pPr marL="199390" marR="17780" indent="-199390" algn="just" fontAlgn="base" latinLnBrk="1">
                        <a:lnSpc>
                          <a:spcPct val="100000"/>
                        </a:lnSpc>
                        <a:spcBef>
                          <a:spcPts val="0"/>
                        </a:spcBef>
                        <a:spcAft>
                          <a:spcPts val="0"/>
                        </a:spcAft>
                      </a:pPr>
                      <a:r>
                        <a:rPr lang="ko-KR" altLang="en-US" sz="1000" kern="1200" dirty="0">
                          <a:solidFill>
                            <a:schemeClr val="tx1"/>
                          </a:solidFill>
                          <a:latin typeface="+mn-lt"/>
                          <a:ea typeface="+mn-ea"/>
                          <a:cs typeface="+mn-cs"/>
                        </a:rPr>
                        <a:t>① 해당 직권보정사항은 처음부터 없었던 것으로 간주 </a:t>
                      </a:r>
                    </a:p>
                    <a:p>
                      <a:pPr marL="134938" marR="17780" indent="-134938" algn="just" fontAlgn="base" latinLnBrk="1">
                        <a:lnSpc>
                          <a:spcPct val="100000"/>
                        </a:lnSpc>
                        <a:spcBef>
                          <a:spcPts val="0"/>
                        </a:spcBef>
                        <a:spcAft>
                          <a:spcPts val="0"/>
                        </a:spcAft>
                      </a:pPr>
                      <a:r>
                        <a:rPr lang="ko-KR" altLang="en-US" sz="1000" kern="1200" dirty="0">
                          <a:solidFill>
                            <a:schemeClr val="tx1"/>
                          </a:solidFill>
                          <a:latin typeface="+mn-lt"/>
                          <a:ea typeface="+mn-ea"/>
                          <a:cs typeface="+mn-cs"/>
                        </a:rPr>
                        <a:t>② 그 특허결정도 함께 취소된 것으로 간주</a:t>
                      </a:r>
                      <a:r>
                        <a:rPr lang="en-US" altLang="ko-KR" sz="1000" kern="1200" dirty="0">
                          <a:solidFill>
                            <a:schemeClr val="tx1"/>
                          </a:solidFill>
                          <a:latin typeface="+mn-lt"/>
                          <a:ea typeface="+mn-ea"/>
                          <a:cs typeface="+mn-cs"/>
                        </a:rPr>
                        <a:t>. </a:t>
                      </a:r>
                      <a:r>
                        <a:rPr lang="ko-KR" altLang="en-US" sz="1000" kern="1200" dirty="0">
                          <a:solidFill>
                            <a:schemeClr val="tx1"/>
                          </a:solidFill>
                          <a:latin typeface="+mn-lt"/>
                          <a:ea typeface="+mn-ea"/>
                          <a:cs typeface="+mn-cs"/>
                        </a:rPr>
                        <a:t>다만</a:t>
                      </a:r>
                      <a:r>
                        <a:rPr lang="en-US" altLang="ko-KR" sz="1000" kern="1200" dirty="0">
                          <a:solidFill>
                            <a:schemeClr val="tx1"/>
                          </a:solidFill>
                          <a:latin typeface="+mn-lt"/>
                          <a:ea typeface="+mn-ea"/>
                          <a:cs typeface="+mn-cs"/>
                        </a:rPr>
                        <a:t>, </a:t>
                      </a:r>
                      <a:r>
                        <a:rPr lang="ko-KR" altLang="en-US" sz="1000" kern="1200" dirty="0">
                          <a:solidFill>
                            <a:schemeClr val="tx1"/>
                          </a:solidFill>
                          <a:latin typeface="+mn-lt"/>
                          <a:ea typeface="+mn-ea"/>
                          <a:cs typeface="+mn-cs"/>
                        </a:rPr>
                        <a:t>요약서에 관한 직권보정 사항만 처음부터 없었던 것으로 보는 경우는 제외</a:t>
                      </a:r>
                    </a:p>
                    <a:p>
                      <a:pPr marL="17780" marR="17780" indent="0" algn="just" fontAlgn="base" latinLnBrk="1">
                        <a:lnSpc>
                          <a:spcPct val="100000"/>
                        </a:lnSpc>
                        <a:spcBef>
                          <a:spcPts val="0"/>
                        </a:spcBef>
                        <a:spcAft>
                          <a:spcPts val="0"/>
                        </a:spcAft>
                      </a:pPr>
                      <a:r>
                        <a:rPr lang="en-US" altLang="ko-KR" sz="1000" kern="1200" dirty="0">
                          <a:solidFill>
                            <a:schemeClr val="tx1"/>
                          </a:solidFill>
                          <a:latin typeface="+mn-lt"/>
                          <a:ea typeface="+mn-ea"/>
                          <a:cs typeface="+mn-cs"/>
                        </a:rPr>
                        <a:t>2. </a:t>
                      </a:r>
                      <a:r>
                        <a:rPr lang="ko-KR" altLang="en-US" sz="1000" kern="1200" dirty="0">
                          <a:solidFill>
                            <a:schemeClr val="tx1"/>
                          </a:solidFill>
                          <a:latin typeface="+mn-lt"/>
                          <a:ea typeface="+mn-ea"/>
                          <a:cs typeface="+mn-cs"/>
                        </a:rPr>
                        <a:t>의견서를 제출하지 않은 경우 </a:t>
                      </a:r>
                    </a:p>
                    <a:p>
                      <a:pPr marL="17780" marR="17780" indent="0" algn="just" fontAlgn="base" latinLnBrk="1">
                        <a:lnSpc>
                          <a:spcPct val="100000"/>
                        </a:lnSpc>
                        <a:spcBef>
                          <a:spcPts val="0"/>
                        </a:spcBef>
                        <a:spcAft>
                          <a:spcPts val="0"/>
                        </a:spcAft>
                      </a:pPr>
                      <a:r>
                        <a:rPr lang="ko-KR" altLang="en-US" sz="1000" kern="1200" dirty="0">
                          <a:solidFill>
                            <a:schemeClr val="tx1"/>
                          </a:solidFill>
                          <a:latin typeface="+mn-lt"/>
                          <a:ea typeface="+mn-ea"/>
                          <a:cs typeface="+mn-cs"/>
                        </a:rPr>
                        <a:t>직권보정 수용한 것으로 취급</a:t>
                      </a:r>
                      <a:r>
                        <a:rPr lang="en-US" altLang="ko-KR" sz="1000" kern="1200" dirty="0">
                          <a:solidFill>
                            <a:schemeClr val="tx1"/>
                          </a:solidFill>
                          <a:latin typeface="+mn-lt"/>
                          <a:ea typeface="+mn-ea"/>
                          <a:cs typeface="+mn-cs"/>
                        </a:rPr>
                        <a:t>. </a:t>
                      </a:r>
                      <a:r>
                        <a:rPr lang="ko-KR" altLang="en-US" sz="1000" kern="1200" dirty="0">
                          <a:solidFill>
                            <a:schemeClr val="tx1"/>
                          </a:solidFill>
                          <a:latin typeface="+mn-lt"/>
                          <a:ea typeface="+mn-ea"/>
                          <a:cs typeface="+mn-cs"/>
                        </a:rPr>
                        <a:t>단</a:t>
                      </a:r>
                      <a:r>
                        <a:rPr lang="en-US" altLang="ko-KR" sz="1000" kern="1200" dirty="0">
                          <a:solidFill>
                            <a:schemeClr val="tx1"/>
                          </a:solidFill>
                          <a:latin typeface="+mn-lt"/>
                          <a:ea typeface="+mn-ea"/>
                          <a:cs typeface="+mn-cs"/>
                        </a:rPr>
                        <a:t>, </a:t>
                      </a:r>
                      <a:r>
                        <a:rPr lang="ko-KR" altLang="en-US" sz="1000" kern="1200" dirty="0">
                          <a:solidFill>
                            <a:schemeClr val="tx1"/>
                          </a:solidFill>
                          <a:latin typeface="+mn-lt"/>
                          <a:ea typeface="+mn-ea"/>
                          <a:cs typeface="+mn-cs"/>
                        </a:rPr>
                        <a:t>직권보정사항이 신규사항을 추가하거나 명백히 잘못되지 아니한 사항을 직권보정한 경우 처음부터 없었던 것으로 간주</a:t>
                      </a:r>
                    </a:p>
                  </a:txBody>
                  <a:tcPr marL="17907" marR="17907"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10795" cap="flat" cmpd="sng" algn="ctr">
                      <a:solidFill>
                        <a:srgbClr val="000000"/>
                      </a:solidFill>
                      <a:prstDash val="solid"/>
                      <a:round/>
                      <a:headEnd type="none" w="med" len="med"/>
                      <a:tailEnd type="none" w="med" len="med"/>
                    </a:lnB>
                    <a:noFill/>
                  </a:tcPr>
                </a:tc>
                <a:tc>
                  <a:txBody>
                    <a:bodyPr/>
                    <a:lstStyle/>
                    <a:p>
                      <a:pPr marL="17780" marR="17780" indent="0" algn="just" fontAlgn="base" latinLnBrk="1">
                        <a:lnSpc>
                          <a:spcPct val="100000"/>
                        </a:lnSpc>
                        <a:spcBef>
                          <a:spcPts val="0"/>
                        </a:spcBef>
                        <a:spcAft>
                          <a:spcPts val="0"/>
                        </a:spcAft>
                      </a:pPr>
                      <a:r>
                        <a:rPr lang="en-US" altLang="ko-KR" sz="1000" kern="1200" dirty="0">
                          <a:solidFill>
                            <a:schemeClr val="tx1"/>
                          </a:solidFill>
                          <a:latin typeface="+mn-lt"/>
                          <a:ea typeface="+mn-ea"/>
                          <a:cs typeface="+mn-cs"/>
                        </a:rPr>
                        <a:t>1. </a:t>
                      </a:r>
                      <a:r>
                        <a:rPr lang="ko-KR" altLang="en-US" sz="1000" kern="1200" dirty="0">
                          <a:solidFill>
                            <a:schemeClr val="tx1"/>
                          </a:solidFill>
                          <a:latin typeface="+mn-lt"/>
                          <a:ea typeface="+mn-ea"/>
                          <a:cs typeface="+mn-cs"/>
                        </a:rPr>
                        <a:t>의견서 제출한 경우 </a:t>
                      </a:r>
                    </a:p>
                    <a:p>
                      <a:pPr marL="17780" marR="17780" indent="0" algn="just" fontAlgn="base" latinLnBrk="1">
                        <a:lnSpc>
                          <a:spcPct val="100000"/>
                        </a:lnSpc>
                        <a:spcBef>
                          <a:spcPts val="0"/>
                        </a:spcBef>
                        <a:spcAft>
                          <a:spcPts val="0"/>
                        </a:spcAft>
                      </a:pPr>
                      <a:r>
                        <a:rPr lang="ko-KR" altLang="en-US" sz="1000" kern="1200" dirty="0">
                          <a:solidFill>
                            <a:schemeClr val="tx1"/>
                          </a:solidFill>
                          <a:latin typeface="+mn-lt"/>
                          <a:ea typeface="+mn-ea"/>
                          <a:cs typeface="+mn-cs"/>
                        </a:rPr>
                        <a:t>해당 직권보정사항은 처음부터 없었던 것으로 간주 </a:t>
                      </a:r>
                      <a:endParaRPr lang="en-US" altLang="ko-KR" sz="1000" kern="1200" dirty="0">
                        <a:solidFill>
                          <a:schemeClr val="tx1"/>
                        </a:solidFill>
                        <a:latin typeface="+mn-lt"/>
                        <a:ea typeface="+mn-ea"/>
                        <a:cs typeface="+mn-cs"/>
                      </a:endParaRPr>
                    </a:p>
                    <a:p>
                      <a:pPr marL="17780" marR="17780" indent="0" algn="just" fontAlgn="base" latinLnBrk="1">
                        <a:lnSpc>
                          <a:spcPct val="100000"/>
                        </a:lnSpc>
                        <a:spcBef>
                          <a:spcPts val="0"/>
                        </a:spcBef>
                        <a:spcAft>
                          <a:spcPts val="0"/>
                        </a:spcAft>
                      </a:pPr>
                      <a:endParaRPr lang="en-US" altLang="ko-KR" sz="1000" kern="1200" dirty="0">
                        <a:solidFill>
                          <a:schemeClr val="tx1"/>
                        </a:solidFill>
                        <a:latin typeface="+mn-lt"/>
                        <a:ea typeface="+mn-ea"/>
                        <a:cs typeface="+mn-cs"/>
                      </a:endParaRPr>
                    </a:p>
                    <a:p>
                      <a:pPr marL="17780" marR="17780" indent="0" algn="just" fontAlgn="base" latinLnBrk="1">
                        <a:lnSpc>
                          <a:spcPct val="100000"/>
                        </a:lnSpc>
                        <a:spcBef>
                          <a:spcPts val="0"/>
                        </a:spcBef>
                        <a:spcAft>
                          <a:spcPts val="0"/>
                        </a:spcAft>
                      </a:pPr>
                      <a:endParaRPr lang="ko-KR" altLang="en-US" sz="1000" kern="1200" dirty="0">
                        <a:solidFill>
                          <a:schemeClr val="tx1"/>
                        </a:solidFill>
                        <a:latin typeface="+mn-lt"/>
                        <a:ea typeface="+mn-ea"/>
                        <a:cs typeface="+mn-cs"/>
                      </a:endParaRPr>
                    </a:p>
                    <a:p>
                      <a:pPr marL="17780" marR="17780" indent="0" algn="just" fontAlgn="base" latinLnBrk="1">
                        <a:lnSpc>
                          <a:spcPct val="100000"/>
                        </a:lnSpc>
                        <a:spcBef>
                          <a:spcPts val="0"/>
                        </a:spcBef>
                        <a:spcAft>
                          <a:spcPts val="0"/>
                        </a:spcAft>
                      </a:pPr>
                      <a:r>
                        <a:rPr lang="en-US" altLang="ko-KR" sz="1000" kern="1200" dirty="0">
                          <a:solidFill>
                            <a:schemeClr val="tx1"/>
                          </a:solidFill>
                          <a:latin typeface="+mn-lt"/>
                          <a:ea typeface="+mn-ea"/>
                          <a:cs typeface="+mn-cs"/>
                        </a:rPr>
                        <a:t>2. </a:t>
                      </a:r>
                      <a:r>
                        <a:rPr lang="ko-KR" altLang="en-US" sz="1000" kern="1200" dirty="0">
                          <a:solidFill>
                            <a:schemeClr val="tx1"/>
                          </a:solidFill>
                          <a:latin typeface="+mn-lt"/>
                          <a:ea typeface="+mn-ea"/>
                          <a:cs typeface="+mn-cs"/>
                        </a:rPr>
                        <a:t>의견서를 제출하지 않은 경우 </a:t>
                      </a:r>
                    </a:p>
                    <a:p>
                      <a:pPr marL="17780" marR="17780" indent="0" algn="just" fontAlgn="base" latinLnBrk="1">
                        <a:lnSpc>
                          <a:spcPct val="100000"/>
                        </a:lnSpc>
                        <a:spcBef>
                          <a:spcPts val="0"/>
                        </a:spcBef>
                        <a:spcAft>
                          <a:spcPts val="0"/>
                        </a:spcAft>
                      </a:pPr>
                      <a:r>
                        <a:rPr lang="ko-KR" altLang="en-US" sz="1000" kern="1200" dirty="0">
                          <a:solidFill>
                            <a:schemeClr val="tx1"/>
                          </a:solidFill>
                          <a:latin typeface="+mn-lt"/>
                          <a:ea typeface="+mn-ea"/>
                          <a:cs typeface="+mn-cs"/>
                        </a:rPr>
                        <a:t>직권보정 수용한 것으로 취급</a:t>
                      </a:r>
                      <a:r>
                        <a:rPr lang="en-US" altLang="ko-KR" sz="1000" kern="1200" dirty="0">
                          <a:solidFill>
                            <a:schemeClr val="tx1"/>
                          </a:solidFill>
                          <a:latin typeface="+mn-lt"/>
                          <a:ea typeface="+mn-ea"/>
                          <a:cs typeface="+mn-cs"/>
                        </a:rPr>
                        <a:t>. </a:t>
                      </a:r>
                      <a:r>
                        <a:rPr lang="ko-KR" altLang="en-US" sz="1000" kern="1200" dirty="0">
                          <a:solidFill>
                            <a:schemeClr val="tx1"/>
                          </a:solidFill>
                          <a:latin typeface="+mn-lt"/>
                          <a:ea typeface="+mn-ea"/>
                          <a:cs typeface="+mn-cs"/>
                        </a:rPr>
                        <a:t>단</a:t>
                      </a:r>
                      <a:r>
                        <a:rPr lang="en-US" altLang="ko-KR" sz="1000" kern="1200" dirty="0">
                          <a:solidFill>
                            <a:schemeClr val="tx1"/>
                          </a:solidFill>
                          <a:latin typeface="+mn-lt"/>
                          <a:ea typeface="+mn-ea"/>
                          <a:cs typeface="+mn-cs"/>
                        </a:rPr>
                        <a:t>, </a:t>
                      </a:r>
                      <a:r>
                        <a:rPr lang="ko-KR" altLang="en-US" sz="1000" kern="1200" dirty="0">
                          <a:solidFill>
                            <a:schemeClr val="tx1"/>
                          </a:solidFill>
                          <a:latin typeface="+mn-lt"/>
                          <a:ea typeface="+mn-ea"/>
                          <a:cs typeface="+mn-cs"/>
                        </a:rPr>
                        <a:t>직권보정사항이 명백히 잘못된 경우 처음부터 없었던 것으로 간주</a:t>
                      </a:r>
                    </a:p>
                  </a:txBody>
                  <a:tcPr marL="17907" marR="17907" marT="17907" marB="17907">
                    <a:lnL w="3556" cap="flat" cmpd="sng" algn="ctr">
                      <a:solidFill>
                        <a:srgbClr val="000000"/>
                      </a:solidFill>
                      <a:prstDash val="solid"/>
                      <a:round/>
                      <a:headEnd type="none" w="med" len="med"/>
                      <a:tailEnd type="none" w="med" len="med"/>
                    </a:lnL>
                    <a:lnR w="10795"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10795"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94597531"/>
                  </a:ext>
                </a:extLst>
              </a:tr>
            </a:tbl>
          </a:graphicData>
        </a:graphic>
      </p:graphicFrame>
    </p:spTree>
    <p:extLst>
      <p:ext uri="{BB962C8B-B14F-4D97-AF65-F5344CB8AC3E}">
        <p14:creationId xmlns:p14="http://schemas.microsoft.com/office/powerpoint/2010/main" val="4215660295"/>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154</a:t>
            </a:r>
            <a:r>
              <a:rPr lang="ko-KR" altLang="en-US" dirty="0"/>
              <a:t>조</a:t>
            </a:r>
          </a:p>
        </p:txBody>
      </p:sp>
      <p:sp>
        <p:nvSpPr>
          <p:cNvPr id="3" name="텍스트 개체 틀 2"/>
          <p:cNvSpPr>
            <a:spLocks noGrp="1"/>
          </p:cNvSpPr>
          <p:nvPr>
            <p:ph type="body" sz="quarter" idx="13"/>
          </p:nvPr>
        </p:nvSpPr>
        <p:spPr/>
        <p:txBody>
          <a:bodyPr/>
          <a:lstStyle/>
          <a:p>
            <a:r>
              <a:rPr lang="ko-KR" altLang="en-US" dirty="0" err="1"/>
              <a:t>심리방식의</a:t>
            </a:r>
            <a:r>
              <a:rPr lang="ko-KR" altLang="en-US" dirty="0"/>
              <a:t> 선택</a:t>
            </a:r>
          </a:p>
        </p:txBody>
      </p:sp>
      <p:cxnSp>
        <p:nvCxnSpPr>
          <p:cNvPr id="5" name="직선 연결선 4"/>
          <p:cNvCxnSpPr/>
          <p:nvPr/>
        </p:nvCxnSpPr>
        <p:spPr>
          <a:xfrm>
            <a:off x="77875" y="367153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7875" y="976902"/>
            <a:ext cx="11936323" cy="2677656"/>
          </a:xfrm>
          <a:prstGeom prst="rect">
            <a:avLst/>
          </a:prstGeom>
          <a:noFill/>
        </p:spPr>
        <p:txBody>
          <a:bodyPr wrap="square" rtlCol="0">
            <a:spAutoFit/>
          </a:bodyPr>
          <a:lstStyle/>
          <a:p>
            <a:pPr lvl="0" eaLnBrk="0" fontAlgn="base" latinLnBrk="0" hangingPunct="0">
              <a:spcBef>
                <a:spcPct val="0"/>
              </a:spcBef>
              <a:spcAft>
                <a:spcPct val="0"/>
              </a:spcAft>
            </a:pPr>
            <a:r>
              <a:rPr lang="ko-KR" altLang="ko-KR" sz="1400" b="1" dirty="0">
                <a:solidFill>
                  <a:srgbClr val="151594"/>
                </a:solidFill>
                <a:latin typeface="+mn-ea"/>
              </a:rPr>
              <a:t>제154조(심리 등)</a:t>
            </a:r>
            <a:r>
              <a:rPr lang="ko-KR" altLang="ko-KR" sz="1400" dirty="0">
                <a:solidFill>
                  <a:srgbClr val="444444"/>
                </a:solidFill>
                <a:latin typeface="+mn-ea"/>
              </a:rPr>
              <a:t> ① 심판은 구술심리 또는 </a:t>
            </a:r>
            <a:r>
              <a:rPr lang="ko-KR" altLang="ko-KR" sz="1400" dirty="0" err="1">
                <a:solidFill>
                  <a:srgbClr val="444444"/>
                </a:solidFill>
                <a:latin typeface="+mn-ea"/>
              </a:rPr>
              <a:t>서면심리로</a:t>
            </a:r>
            <a:r>
              <a:rPr lang="ko-KR" altLang="ko-KR" sz="1400" dirty="0">
                <a:solidFill>
                  <a:srgbClr val="444444"/>
                </a:solidFill>
                <a:latin typeface="+mn-ea"/>
              </a:rPr>
              <a:t> 한다. 다만, 당사자가 구술심리를 신청하였을 때에는 서면심리만으로 결정할 수 있다고 인정되는 경우 외에는 구술심리를 하여야 한다. </a:t>
            </a:r>
            <a:endParaRPr lang="ko-KR" altLang="ko-KR" sz="1200" dirty="0">
              <a:latin typeface="+mn-ea"/>
            </a:endParaRPr>
          </a:p>
          <a:p>
            <a:pPr lvl="0" eaLnBrk="0" fontAlgn="base" latinLnBrk="0" hangingPunct="0">
              <a:spcBef>
                <a:spcPct val="0"/>
              </a:spcBef>
              <a:spcAft>
                <a:spcPct val="0"/>
              </a:spcAft>
            </a:pPr>
            <a:r>
              <a:rPr lang="ko-KR" altLang="ko-KR" sz="1400" dirty="0">
                <a:solidFill>
                  <a:srgbClr val="444444"/>
                </a:solidFill>
                <a:latin typeface="+mn-ea"/>
              </a:rPr>
              <a:t>② 삭제  </a:t>
            </a:r>
            <a:endParaRPr lang="ko-KR" altLang="ko-KR" sz="1200" dirty="0">
              <a:latin typeface="+mn-ea"/>
            </a:endParaRPr>
          </a:p>
          <a:p>
            <a:pPr lvl="0" eaLnBrk="0" fontAlgn="base" latinLnBrk="0" hangingPunct="0">
              <a:spcBef>
                <a:spcPct val="0"/>
              </a:spcBef>
              <a:spcAft>
                <a:spcPct val="0"/>
              </a:spcAft>
            </a:pPr>
            <a:r>
              <a:rPr lang="ko-KR" altLang="ko-KR" sz="1400" dirty="0">
                <a:solidFill>
                  <a:srgbClr val="444444"/>
                </a:solidFill>
                <a:latin typeface="+mn-ea"/>
              </a:rPr>
              <a:t>③ </a:t>
            </a:r>
            <a:r>
              <a:rPr lang="ko-KR" altLang="ko-KR" sz="1400" dirty="0" err="1">
                <a:solidFill>
                  <a:srgbClr val="444444"/>
                </a:solidFill>
                <a:latin typeface="+mn-ea"/>
              </a:rPr>
              <a:t>구술심리는</a:t>
            </a:r>
            <a:r>
              <a:rPr lang="ko-KR" altLang="ko-KR" sz="1400" dirty="0">
                <a:solidFill>
                  <a:srgbClr val="444444"/>
                </a:solidFill>
                <a:latin typeface="+mn-ea"/>
              </a:rPr>
              <a:t> 공개하여야 한다. 다만, 공공의 질서 또는 선량한 풍속에 어긋날 우려가 있으면 그러하지 아니하다. </a:t>
            </a:r>
            <a:endParaRPr lang="en-US" altLang="ko-KR" sz="1400" dirty="0">
              <a:solidFill>
                <a:srgbClr val="444444"/>
              </a:solidFill>
              <a:latin typeface="+mn-ea"/>
            </a:endParaRPr>
          </a:p>
          <a:p>
            <a:pPr lvl="0" eaLnBrk="0" fontAlgn="base" latinLnBrk="0" hangingPunct="0">
              <a:spcBef>
                <a:spcPct val="0"/>
              </a:spcBef>
              <a:spcAft>
                <a:spcPct val="0"/>
              </a:spcAft>
            </a:pPr>
            <a:r>
              <a:rPr lang="ko-KR" altLang="ko-KR" sz="1400" dirty="0">
                <a:solidFill>
                  <a:srgbClr val="444444"/>
                </a:solidFill>
                <a:latin typeface="+mn-ea"/>
              </a:rPr>
              <a:t>④ 심판장은 제1항에 따라 </a:t>
            </a:r>
            <a:r>
              <a:rPr lang="ko-KR" altLang="ko-KR" sz="1400" dirty="0" err="1">
                <a:solidFill>
                  <a:srgbClr val="444444"/>
                </a:solidFill>
                <a:latin typeface="+mn-ea"/>
              </a:rPr>
              <a:t>구술심리로</a:t>
            </a:r>
            <a:r>
              <a:rPr lang="ko-KR" altLang="ko-KR" sz="1400" dirty="0">
                <a:solidFill>
                  <a:srgbClr val="444444"/>
                </a:solidFill>
                <a:latin typeface="+mn-ea"/>
              </a:rPr>
              <a:t> 심판을 할 경우에는 그 기일 및 장소를 정하고, 그 취지를 적은 서면을 당사자 및 참가인에게 송달하여야 한다. 다만, 해당 사건의 이전 심리에 출석한 당사자 및 참가인에게 알렸을 때에는 그러하지 아니하다.</a:t>
            </a:r>
            <a:endParaRPr lang="ko-KR" altLang="ko-KR" sz="1200" dirty="0">
              <a:latin typeface="+mn-ea"/>
            </a:endParaRPr>
          </a:p>
          <a:p>
            <a:pPr lvl="0" eaLnBrk="0" fontAlgn="base" latinLnBrk="0" hangingPunct="0">
              <a:spcBef>
                <a:spcPct val="0"/>
              </a:spcBef>
              <a:spcAft>
                <a:spcPct val="0"/>
              </a:spcAft>
            </a:pPr>
            <a:r>
              <a:rPr lang="ko-KR" altLang="ko-KR" sz="1400" dirty="0">
                <a:solidFill>
                  <a:srgbClr val="444444"/>
                </a:solidFill>
                <a:latin typeface="+mn-ea"/>
              </a:rPr>
              <a:t>⑤ 심판장은 제1항에 따라 </a:t>
            </a:r>
            <a:r>
              <a:rPr lang="ko-KR" altLang="ko-KR" sz="1400" dirty="0" err="1">
                <a:solidFill>
                  <a:srgbClr val="444444"/>
                </a:solidFill>
                <a:latin typeface="+mn-ea"/>
              </a:rPr>
              <a:t>구술심리로</a:t>
            </a:r>
            <a:r>
              <a:rPr lang="ko-KR" altLang="ko-KR" sz="1400" dirty="0">
                <a:solidFill>
                  <a:srgbClr val="444444"/>
                </a:solidFill>
                <a:latin typeface="+mn-ea"/>
              </a:rPr>
              <a:t> 심판을 할 경우에는 특허심판원장이 지정한 직원에게 기일마다 심리의 요지와 그 밖에 필요한 사항을 적은 조서를 작성하게 하여야 한다.  </a:t>
            </a:r>
            <a:endParaRPr lang="ko-KR" altLang="ko-KR" sz="1200" dirty="0">
              <a:latin typeface="+mn-ea"/>
            </a:endParaRPr>
          </a:p>
          <a:p>
            <a:pPr lvl="0" eaLnBrk="0" fontAlgn="base" latinLnBrk="0" hangingPunct="0">
              <a:spcBef>
                <a:spcPct val="0"/>
              </a:spcBef>
              <a:spcAft>
                <a:spcPct val="0"/>
              </a:spcAft>
            </a:pPr>
            <a:r>
              <a:rPr lang="ko-KR" altLang="ko-KR" sz="1400" dirty="0">
                <a:solidFill>
                  <a:srgbClr val="444444"/>
                </a:solidFill>
                <a:latin typeface="+mn-ea"/>
              </a:rPr>
              <a:t>⑥ 제5항의 조서에는 심판의 심판장 및 조서를 작성한 직원이 기명날인하여야 한다.</a:t>
            </a:r>
            <a:endParaRPr lang="ko-KR" altLang="ko-KR" sz="1200" dirty="0">
              <a:latin typeface="+mn-ea"/>
            </a:endParaRPr>
          </a:p>
          <a:p>
            <a:pPr lvl="0" eaLnBrk="0" fontAlgn="base" latinLnBrk="0" hangingPunct="0">
              <a:spcBef>
                <a:spcPct val="0"/>
              </a:spcBef>
              <a:spcAft>
                <a:spcPct val="0"/>
              </a:spcAft>
            </a:pPr>
            <a:r>
              <a:rPr lang="ko-KR" altLang="ko-KR" sz="1400" dirty="0">
                <a:solidFill>
                  <a:srgbClr val="444444"/>
                </a:solidFill>
                <a:latin typeface="+mn-ea"/>
              </a:rPr>
              <a:t>⑦ 제5항의 조서에 관하여는 「민사소송법」 제153조ㆍ제154조 및 제156조부터 제160조까지의 규정을 준용한다</a:t>
            </a:r>
            <a:endParaRPr lang="ko-KR" altLang="ko-KR" sz="1200" dirty="0">
              <a:latin typeface="+mn-ea"/>
            </a:endParaRPr>
          </a:p>
          <a:p>
            <a:pPr lvl="0" eaLnBrk="0" fontAlgn="base" latinLnBrk="0" hangingPunct="0">
              <a:spcBef>
                <a:spcPct val="0"/>
              </a:spcBef>
              <a:spcAft>
                <a:spcPct val="0"/>
              </a:spcAft>
            </a:pPr>
            <a:r>
              <a:rPr lang="ko-KR" altLang="ko-KR" sz="1400" dirty="0">
                <a:solidFill>
                  <a:srgbClr val="444444"/>
                </a:solidFill>
                <a:latin typeface="+mn-ea"/>
              </a:rPr>
              <a:t>⑧ 심판에 관하여는 「민사소송법」 제143조ㆍ</a:t>
            </a:r>
            <a:r>
              <a:rPr lang="ko-KR" altLang="ko-KR" sz="1400" dirty="0">
                <a:solidFill>
                  <a:srgbClr val="FF0000"/>
                </a:solidFill>
                <a:latin typeface="+mn-ea"/>
              </a:rPr>
              <a:t>제259조</a:t>
            </a:r>
            <a:r>
              <a:rPr lang="ko-KR" altLang="ko-KR" sz="1400" dirty="0">
                <a:solidFill>
                  <a:srgbClr val="444444"/>
                </a:solidFill>
                <a:latin typeface="+mn-ea"/>
              </a:rPr>
              <a:t>ㆍ제299조 및 제367조를 준용한다.</a:t>
            </a:r>
            <a:endParaRPr lang="ko-KR" altLang="ko-KR" sz="1200" dirty="0">
              <a:latin typeface="+mn-ea"/>
            </a:endParaRPr>
          </a:p>
          <a:p>
            <a:pPr lvl="0" eaLnBrk="0" fontAlgn="base" latinLnBrk="0" hangingPunct="0">
              <a:spcBef>
                <a:spcPct val="0"/>
              </a:spcBef>
              <a:spcAft>
                <a:spcPct val="0"/>
              </a:spcAft>
            </a:pPr>
            <a:r>
              <a:rPr lang="ko-KR" altLang="ko-KR" sz="1400" dirty="0">
                <a:solidFill>
                  <a:srgbClr val="444444"/>
                </a:solidFill>
                <a:latin typeface="+mn-ea"/>
              </a:rPr>
              <a:t>⑨ 심판장은 구술심리 중 </a:t>
            </a:r>
            <a:r>
              <a:rPr lang="ko-KR" altLang="ko-KR" sz="1400" dirty="0" err="1">
                <a:solidFill>
                  <a:srgbClr val="444444"/>
                </a:solidFill>
                <a:latin typeface="+mn-ea"/>
              </a:rPr>
              <a:t>심판정</a:t>
            </a:r>
            <a:r>
              <a:rPr lang="ko-KR" altLang="ko-KR" sz="1400" dirty="0">
                <a:solidFill>
                  <a:srgbClr val="444444"/>
                </a:solidFill>
                <a:latin typeface="+mn-ea"/>
              </a:rPr>
              <a:t> 내의 질서를 유지한다.  </a:t>
            </a:r>
            <a:endParaRPr lang="ko-KR" altLang="ko-KR" sz="3600" dirty="0">
              <a:latin typeface="+mn-ea"/>
            </a:endParaRPr>
          </a:p>
        </p:txBody>
      </p:sp>
      <p:sp>
        <p:nvSpPr>
          <p:cNvPr id="28" name="직사각형 27"/>
          <p:cNvSpPr/>
          <p:nvPr/>
        </p:nvSpPr>
        <p:spPr bwMode="auto">
          <a:xfrm>
            <a:off x="244474" y="4066837"/>
            <a:ext cx="5429251" cy="2580706"/>
          </a:xfrm>
          <a:prstGeom prst="rect">
            <a:avLst/>
          </a:prstGeom>
          <a:ln>
            <a:solidFill>
              <a:schemeClr val="bg1">
                <a:lumMod val="50000"/>
              </a:schemeClr>
            </a:solidFill>
            <a:headEnd type="none" w="med" len="med"/>
            <a:tailEnd type="none" w="med" len="med"/>
          </a:ln>
        </p:spPr>
        <p:style>
          <a:lnRef idx="2">
            <a:schemeClr val="accent5"/>
          </a:lnRef>
          <a:fillRef idx="1">
            <a:schemeClr val="lt1"/>
          </a:fillRef>
          <a:effectRef idx="0">
            <a:schemeClr val="accent5"/>
          </a:effectRef>
          <a:fontRef idx="minor">
            <a:schemeClr val="dk1"/>
          </a:fontRef>
        </p:style>
        <p:txBody>
          <a:bodyPr lIns="90000" tIns="46800" rIns="90000" bIns="46800"/>
          <a:lstStyle/>
          <a:p>
            <a:pPr algn="ctr">
              <a:buFont typeface="Wingdings" pitchFamily="2" charset="2"/>
              <a:buNone/>
              <a:defRPr/>
            </a:pPr>
            <a:endParaRPr lang="ko-KR" altLang="en-US" sz="3600">
              <a:solidFill>
                <a:srgbClr val="1C1C1C"/>
              </a:solidFill>
              <a:latin typeface="+mn-ea"/>
            </a:endParaRPr>
          </a:p>
        </p:txBody>
      </p:sp>
      <p:sp>
        <p:nvSpPr>
          <p:cNvPr id="29" name="모서리가 둥근 직사각형 28"/>
          <p:cNvSpPr/>
          <p:nvPr/>
        </p:nvSpPr>
        <p:spPr bwMode="auto">
          <a:xfrm>
            <a:off x="388709" y="3913902"/>
            <a:ext cx="1333500" cy="354434"/>
          </a:xfrm>
          <a:prstGeom prst="roundRect">
            <a:avLst>
              <a:gd name="adj" fmla="val 50000"/>
            </a:avLst>
          </a:prstGeom>
          <a:solidFill>
            <a:schemeClr val="accent1">
              <a:lumMod val="75000"/>
            </a:schemeClr>
          </a:solidFill>
          <a:ln w="28575">
            <a:solidFill>
              <a:schemeClr val="bg1">
                <a:lumMod val="50000"/>
              </a:schemeClr>
            </a:solidFill>
            <a:headEnd type="none" w="med" len="med"/>
            <a:tailEnd type="none" w="med" len="med"/>
          </a:ln>
        </p:spPr>
        <p:style>
          <a:lnRef idx="1">
            <a:schemeClr val="accent5"/>
          </a:lnRef>
          <a:fillRef idx="3">
            <a:schemeClr val="accent5"/>
          </a:fillRef>
          <a:effectRef idx="2">
            <a:schemeClr val="accent5"/>
          </a:effectRef>
          <a:fontRef idx="minor">
            <a:schemeClr val="lt1"/>
          </a:fontRef>
        </p:style>
        <p:txBody>
          <a:bodyPr lIns="90000" tIns="46800" rIns="90000" bIns="46800" anchor="ctr"/>
          <a:lstStyle/>
          <a:p>
            <a:pPr algn="ctr">
              <a:buFont typeface="Wingdings" pitchFamily="2" charset="2"/>
              <a:buNone/>
              <a:defRPr/>
            </a:pPr>
            <a:r>
              <a:rPr lang="ko-KR" altLang="en-US" sz="2000" dirty="0" err="1">
                <a:solidFill>
                  <a:schemeClr val="bg1"/>
                </a:solidFill>
                <a:latin typeface="+mn-ea"/>
              </a:rPr>
              <a:t>심판정</a:t>
            </a:r>
            <a:endParaRPr lang="ko-KR" altLang="en-US" sz="2000" dirty="0">
              <a:solidFill>
                <a:schemeClr val="bg1"/>
              </a:solidFill>
              <a:latin typeface="+mn-ea"/>
            </a:endParaRPr>
          </a:p>
        </p:txBody>
      </p:sp>
      <p:sp>
        <p:nvSpPr>
          <p:cNvPr id="30" name="직사각형 29"/>
          <p:cNvSpPr/>
          <p:nvPr/>
        </p:nvSpPr>
        <p:spPr bwMode="auto">
          <a:xfrm>
            <a:off x="1482725" y="4374857"/>
            <a:ext cx="952500" cy="231906"/>
          </a:xfrm>
          <a:prstGeom prst="rect">
            <a:avLst/>
          </a:prstGeom>
          <a:ln>
            <a:solidFill>
              <a:schemeClr val="bg1">
                <a:lumMod val="50000"/>
              </a:schemeClr>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lIns="90000" tIns="46800" rIns="90000" bIns="46800" anchor="ctr"/>
          <a:lstStyle/>
          <a:p>
            <a:pPr algn="ctr">
              <a:buFont typeface="Wingdings" pitchFamily="2" charset="2"/>
              <a:buNone/>
              <a:defRPr/>
            </a:pPr>
            <a:r>
              <a:rPr lang="ko-KR" altLang="en-US" sz="1400" dirty="0">
                <a:solidFill>
                  <a:schemeClr val="tx1"/>
                </a:solidFill>
                <a:latin typeface="+mn-ea"/>
              </a:rPr>
              <a:t>심판관</a:t>
            </a:r>
          </a:p>
        </p:txBody>
      </p:sp>
      <p:sp>
        <p:nvSpPr>
          <p:cNvPr id="31" name="직사각형 30"/>
          <p:cNvSpPr/>
          <p:nvPr/>
        </p:nvSpPr>
        <p:spPr bwMode="auto">
          <a:xfrm>
            <a:off x="2435225" y="4374857"/>
            <a:ext cx="952500" cy="231906"/>
          </a:xfrm>
          <a:prstGeom prst="rect">
            <a:avLst/>
          </a:prstGeom>
          <a:ln>
            <a:solidFill>
              <a:schemeClr val="bg1">
                <a:lumMod val="50000"/>
              </a:schemeClr>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lIns="90000" tIns="46800" rIns="90000" bIns="46800" anchor="ctr"/>
          <a:lstStyle/>
          <a:p>
            <a:pPr algn="ctr">
              <a:buFont typeface="Wingdings" pitchFamily="2" charset="2"/>
              <a:buNone/>
              <a:defRPr/>
            </a:pPr>
            <a:r>
              <a:rPr lang="ko-KR" altLang="en-US" sz="1400" dirty="0">
                <a:solidFill>
                  <a:schemeClr val="tx1"/>
                </a:solidFill>
                <a:latin typeface="+mn-ea"/>
              </a:rPr>
              <a:t>심판장</a:t>
            </a:r>
          </a:p>
        </p:txBody>
      </p:sp>
      <p:sp>
        <p:nvSpPr>
          <p:cNvPr id="32" name="직사각형 31"/>
          <p:cNvSpPr/>
          <p:nvPr/>
        </p:nvSpPr>
        <p:spPr bwMode="auto">
          <a:xfrm>
            <a:off x="3387725" y="4374857"/>
            <a:ext cx="952500" cy="231906"/>
          </a:xfrm>
          <a:prstGeom prst="rect">
            <a:avLst/>
          </a:prstGeom>
          <a:ln>
            <a:solidFill>
              <a:schemeClr val="bg1">
                <a:lumMod val="50000"/>
              </a:schemeClr>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lIns="90000" tIns="46800" rIns="90000" bIns="46800" anchor="ctr"/>
          <a:lstStyle/>
          <a:p>
            <a:pPr algn="ctr">
              <a:buFont typeface="Wingdings" pitchFamily="2" charset="2"/>
              <a:buNone/>
              <a:defRPr/>
            </a:pPr>
            <a:r>
              <a:rPr lang="ko-KR" altLang="en-US" sz="1400" dirty="0">
                <a:solidFill>
                  <a:schemeClr val="tx1"/>
                </a:solidFill>
                <a:latin typeface="+mn-ea"/>
              </a:rPr>
              <a:t>심판관</a:t>
            </a:r>
          </a:p>
        </p:txBody>
      </p:sp>
      <p:sp>
        <p:nvSpPr>
          <p:cNvPr id="33" name="직사각형 32"/>
          <p:cNvSpPr/>
          <p:nvPr/>
        </p:nvSpPr>
        <p:spPr bwMode="auto">
          <a:xfrm>
            <a:off x="1646050" y="5373300"/>
            <a:ext cx="1103488" cy="231907"/>
          </a:xfrm>
          <a:prstGeom prst="rect">
            <a:avLst/>
          </a:prstGeom>
          <a:ln>
            <a:solidFill>
              <a:schemeClr val="bg1">
                <a:lumMod val="50000"/>
              </a:schemeClr>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lIns="90000" tIns="46800" rIns="90000" bIns="46800" anchor="ctr"/>
          <a:lstStyle/>
          <a:p>
            <a:pPr algn="ctr">
              <a:buFont typeface="Wingdings" pitchFamily="2" charset="2"/>
              <a:buNone/>
              <a:defRPr/>
            </a:pPr>
            <a:r>
              <a:rPr lang="ko-KR" altLang="en-US" sz="1400">
                <a:solidFill>
                  <a:schemeClr val="tx1"/>
                </a:solidFill>
                <a:latin typeface="+mn-ea"/>
              </a:rPr>
              <a:t>대리인</a:t>
            </a:r>
            <a:endParaRPr lang="ko-KR" altLang="en-US" sz="1400" dirty="0">
              <a:solidFill>
                <a:schemeClr val="tx1"/>
              </a:solidFill>
              <a:latin typeface="+mn-ea"/>
            </a:endParaRPr>
          </a:p>
        </p:txBody>
      </p:sp>
      <p:sp>
        <p:nvSpPr>
          <p:cNvPr id="34" name="직사각형 33"/>
          <p:cNvSpPr/>
          <p:nvPr/>
        </p:nvSpPr>
        <p:spPr bwMode="auto">
          <a:xfrm>
            <a:off x="720725" y="4842692"/>
            <a:ext cx="952500" cy="231907"/>
          </a:xfrm>
          <a:prstGeom prst="rect">
            <a:avLst/>
          </a:prstGeom>
          <a:ln>
            <a:solidFill>
              <a:schemeClr val="bg1">
                <a:lumMod val="50000"/>
              </a:schemeClr>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lIns="90000" tIns="46800" rIns="90000" bIns="46800" anchor="ctr"/>
          <a:lstStyle/>
          <a:p>
            <a:pPr algn="ctr">
              <a:buFont typeface="Wingdings" pitchFamily="2" charset="2"/>
              <a:buNone/>
              <a:defRPr/>
            </a:pPr>
            <a:r>
              <a:rPr lang="ko-KR" altLang="en-US" sz="1400">
                <a:solidFill>
                  <a:schemeClr val="tx1"/>
                </a:solidFill>
                <a:latin typeface="+mn-ea"/>
              </a:rPr>
              <a:t>직원</a:t>
            </a:r>
            <a:endParaRPr lang="ko-KR" altLang="en-US" sz="1400" dirty="0">
              <a:solidFill>
                <a:schemeClr val="tx1"/>
              </a:solidFill>
              <a:latin typeface="+mn-ea"/>
            </a:endParaRPr>
          </a:p>
        </p:txBody>
      </p:sp>
      <p:sp>
        <p:nvSpPr>
          <p:cNvPr id="35" name="직사각형 34"/>
          <p:cNvSpPr/>
          <p:nvPr/>
        </p:nvSpPr>
        <p:spPr bwMode="auto">
          <a:xfrm>
            <a:off x="2435225" y="5902428"/>
            <a:ext cx="952500" cy="231907"/>
          </a:xfrm>
          <a:prstGeom prst="rect">
            <a:avLst/>
          </a:prstGeom>
          <a:ln>
            <a:solidFill>
              <a:schemeClr val="bg1">
                <a:lumMod val="50000"/>
              </a:schemeClr>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lIns="90000" tIns="46800" rIns="90000" bIns="46800" anchor="ctr"/>
          <a:lstStyle/>
          <a:p>
            <a:pPr algn="ctr">
              <a:buFont typeface="Wingdings" pitchFamily="2" charset="2"/>
              <a:buNone/>
              <a:defRPr/>
            </a:pPr>
            <a:r>
              <a:rPr lang="ko-KR" altLang="en-US" sz="1400">
                <a:solidFill>
                  <a:schemeClr val="tx1"/>
                </a:solidFill>
                <a:latin typeface="+mn-ea"/>
              </a:rPr>
              <a:t>증언대</a:t>
            </a:r>
            <a:endParaRPr lang="ko-KR" altLang="en-US" sz="1400" dirty="0">
              <a:solidFill>
                <a:schemeClr val="tx1"/>
              </a:solidFill>
              <a:latin typeface="+mn-ea"/>
            </a:endParaRPr>
          </a:p>
        </p:txBody>
      </p:sp>
      <p:sp>
        <p:nvSpPr>
          <p:cNvPr id="36" name="직사각형 35"/>
          <p:cNvSpPr/>
          <p:nvPr/>
        </p:nvSpPr>
        <p:spPr bwMode="auto">
          <a:xfrm>
            <a:off x="1387474" y="6227099"/>
            <a:ext cx="3048000" cy="231906"/>
          </a:xfrm>
          <a:prstGeom prst="rect">
            <a:avLst/>
          </a:prstGeom>
          <a:ln>
            <a:solidFill>
              <a:schemeClr val="bg1">
                <a:lumMod val="50000"/>
              </a:schemeClr>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lIns="90000" tIns="46800" rIns="90000" bIns="46800" anchor="ctr"/>
          <a:lstStyle/>
          <a:p>
            <a:pPr algn="ctr">
              <a:buFont typeface="Wingdings" pitchFamily="2" charset="2"/>
              <a:buNone/>
              <a:defRPr/>
            </a:pPr>
            <a:r>
              <a:rPr lang="ko-KR" altLang="en-US" sz="1400" dirty="0">
                <a:solidFill>
                  <a:schemeClr val="tx1"/>
                </a:solidFill>
                <a:latin typeface="+mn-ea"/>
              </a:rPr>
              <a:t>방청석</a:t>
            </a:r>
          </a:p>
        </p:txBody>
      </p:sp>
      <p:sp>
        <p:nvSpPr>
          <p:cNvPr id="37" name="직사각형 36"/>
          <p:cNvSpPr/>
          <p:nvPr/>
        </p:nvSpPr>
        <p:spPr bwMode="auto">
          <a:xfrm>
            <a:off x="527874" y="5373300"/>
            <a:ext cx="1103488" cy="231907"/>
          </a:xfrm>
          <a:prstGeom prst="rect">
            <a:avLst/>
          </a:prstGeom>
          <a:ln>
            <a:solidFill>
              <a:schemeClr val="bg1">
                <a:lumMod val="50000"/>
              </a:schemeClr>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lIns="90000" tIns="46800" rIns="90000" bIns="46800" anchor="ctr"/>
          <a:lstStyle/>
          <a:p>
            <a:pPr algn="ctr">
              <a:buFont typeface="Wingdings" pitchFamily="2" charset="2"/>
              <a:buNone/>
              <a:defRPr/>
            </a:pPr>
            <a:r>
              <a:rPr lang="ko-KR" altLang="en-US" sz="1400" dirty="0">
                <a:solidFill>
                  <a:schemeClr val="tx1"/>
                </a:solidFill>
                <a:latin typeface="+mn-ea"/>
              </a:rPr>
              <a:t>청구인</a:t>
            </a:r>
          </a:p>
        </p:txBody>
      </p:sp>
      <p:sp>
        <p:nvSpPr>
          <p:cNvPr id="38" name="직사각형 37"/>
          <p:cNvSpPr/>
          <p:nvPr/>
        </p:nvSpPr>
        <p:spPr bwMode="auto">
          <a:xfrm>
            <a:off x="4241050" y="5373300"/>
            <a:ext cx="1103488" cy="231907"/>
          </a:xfrm>
          <a:prstGeom prst="rect">
            <a:avLst/>
          </a:prstGeom>
          <a:ln>
            <a:solidFill>
              <a:schemeClr val="bg1">
                <a:lumMod val="50000"/>
              </a:schemeClr>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lIns="90000" tIns="46800" rIns="90000" bIns="46800" anchor="ctr"/>
          <a:lstStyle/>
          <a:p>
            <a:pPr algn="ctr">
              <a:buFont typeface="Wingdings" pitchFamily="2" charset="2"/>
              <a:buNone/>
              <a:defRPr/>
            </a:pPr>
            <a:r>
              <a:rPr lang="ko-KR" altLang="en-US" sz="1400" dirty="0">
                <a:solidFill>
                  <a:schemeClr val="tx1"/>
                </a:solidFill>
                <a:latin typeface="+mn-ea"/>
              </a:rPr>
              <a:t>피청구인</a:t>
            </a:r>
          </a:p>
        </p:txBody>
      </p:sp>
      <p:sp>
        <p:nvSpPr>
          <p:cNvPr id="43" name="직사각형 42"/>
          <p:cNvSpPr/>
          <p:nvPr/>
        </p:nvSpPr>
        <p:spPr bwMode="auto">
          <a:xfrm>
            <a:off x="3113821" y="5373300"/>
            <a:ext cx="1103488" cy="231907"/>
          </a:xfrm>
          <a:prstGeom prst="rect">
            <a:avLst/>
          </a:prstGeom>
          <a:ln>
            <a:solidFill>
              <a:schemeClr val="bg1">
                <a:lumMod val="50000"/>
              </a:schemeClr>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lIns="90000" tIns="46800" rIns="90000" bIns="46800" anchor="ctr"/>
          <a:lstStyle/>
          <a:p>
            <a:pPr algn="ctr">
              <a:buFont typeface="Wingdings" pitchFamily="2" charset="2"/>
              <a:buNone/>
              <a:defRPr/>
            </a:pPr>
            <a:r>
              <a:rPr lang="ko-KR" altLang="en-US" sz="1400" dirty="0">
                <a:solidFill>
                  <a:schemeClr val="tx1"/>
                </a:solidFill>
                <a:latin typeface="+mn-ea"/>
              </a:rPr>
              <a:t>대리인</a:t>
            </a:r>
          </a:p>
        </p:txBody>
      </p:sp>
      <p:graphicFrame>
        <p:nvGraphicFramePr>
          <p:cNvPr id="8" name="표 7"/>
          <p:cNvGraphicFramePr>
            <a:graphicFrameLocks noGrp="1"/>
          </p:cNvGraphicFramePr>
          <p:nvPr/>
        </p:nvGraphicFramePr>
        <p:xfrm>
          <a:off x="6255657" y="4066837"/>
          <a:ext cx="5631543" cy="2580706"/>
        </p:xfrm>
        <a:graphic>
          <a:graphicData uri="http://schemas.openxmlformats.org/drawingml/2006/table">
            <a:tbl>
              <a:tblPr>
                <a:tableStyleId>{8799B23B-EC83-4686-B30A-512413B5E67A}</a:tableStyleId>
              </a:tblPr>
              <a:tblGrid>
                <a:gridCol w="745900">
                  <a:extLst>
                    <a:ext uri="{9D8B030D-6E8A-4147-A177-3AD203B41FA5}">
                      <a16:colId xmlns:a16="http://schemas.microsoft.com/office/drawing/2014/main" val="4263390905"/>
                    </a:ext>
                  </a:extLst>
                </a:gridCol>
                <a:gridCol w="2579884">
                  <a:extLst>
                    <a:ext uri="{9D8B030D-6E8A-4147-A177-3AD203B41FA5}">
                      <a16:colId xmlns:a16="http://schemas.microsoft.com/office/drawing/2014/main" val="20485101"/>
                    </a:ext>
                  </a:extLst>
                </a:gridCol>
                <a:gridCol w="2305759">
                  <a:extLst>
                    <a:ext uri="{9D8B030D-6E8A-4147-A177-3AD203B41FA5}">
                      <a16:colId xmlns:a16="http://schemas.microsoft.com/office/drawing/2014/main" val="2463989972"/>
                    </a:ext>
                  </a:extLst>
                </a:gridCol>
              </a:tblGrid>
              <a:tr h="506021">
                <a:tc>
                  <a:txBody>
                    <a:bodyPr/>
                    <a:lstStyle/>
                    <a:p>
                      <a:pPr algn="ctr" latinLnBrk="1"/>
                      <a:endParaRPr lang="ko-KR" altLang="en-US" sz="1400" dirty="0"/>
                    </a:p>
                  </a:txBody>
                  <a:tcPr anchor="ctr">
                    <a:solidFill>
                      <a:schemeClr val="accent1">
                        <a:lumMod val="20000"/>
                        <a:lumOff val="80000"/>
                      </a:schemeClr>
                    </a:solidFill>
                  </a:tcPr>
                </a:tc>
                <a:tc>
                  <a:txBody>
                    <a:bodyPr/>
                    <a:lstStyle/>
                    <a:p>
                      <a:pPr algn="ctr" latinLnBrk="1"/>
                      <a:r>
                        <a:rPr lang="ko-KR" altLang="en-US" sz="1400" dirty="0"/>
                        <a:t>구술심리</a:t>
                      </a:r>
                    </a:p>
                  </a:txBody>
                  <a:tcPr anchor="ctr">
                    <a:solidFill>
                      <a:schemeClr val="accent1">
                        <a:lumMod val="20000"/>
                        <a:lumOff val="80000"/>
                      </a:schemeClr>
                    </a:solidFill>
                  </a:tcPr>
                </a:tc>
                <a:tc>
                  <a:txBody>
                    <a:bodyPr/>
                    <a:lstStyle/>
                    <a:p>
                      <a:pPr algn="ctr" latinLnBrk="1"/>
                      <a:r>
                        <a:rPr lang="ko-KR" altLang="en-US" sz="1400" dirty="0" err="1"/>
                        <a:t>기술설명회</a:t>
                      </a:r>
                      <a:endParaRPr lang="ko-KR" altLang="en-US" sz="1400" dirty="0"/>
                    </a:p>
                  </a:txBody>
                  <a:tcPr anchor="ctr">
                    <a:solidFill>
                      <a:schemeClr val="accent1">
                        <a:lumMod val="20000"/>
                        <a:lumOff val="80000"/>
                      </a:schemeClr>
                    </a:solidFill>
                  </a:tcPr>
                </a:tc>
                <a:extLst>
                  <a:ext uri="{0D108BD9-81ED-4DB2-BD59-A6C34878D82A}">
                    <a16:rowId xmlns:a16="http://schemas.microsoft.com/office/drawing/2014/main" val="752178946"/>
                  </a:ext>
                </a:extLst>
              </a:tr>
              <a:tr h="506021">
                <a:tc>
                  <a:txBody>
                    <a:bodyPr/>
                    <a:lstStyle/>
                    <a:p>
                      <a:pPr algn="ctr" latinLnBrk="1"/>
                      <a:r>
                        <a:rPr lang="ko-KR" altLang="en-US" sz="1400" dirty="0"/>
                        <a:t>대상</a:t>
                      </a:r>
                    </a:p>
                  </a:txBody>
                  <a:tcPr anchor="ctr"/>
                </a:tc>
                <a:tc>
                  <a:txBody>
                    <a:bodyPr/>
                    <a:lstStyle/>
                    <a:p>
                      <a:pPr marL="0" marR="0" lvl="1" indent="0" algn="l" defTabSz="914400" rtl="0" eaLnBrk="1" fontAlgn="auto" latinLnBrk="1" hangingPunct="1">
                        <a:lnSpc>
                          <a:spcPct val="100000"/>
                        </a:lnSpc>
                        <a:spcBef>
                          <a:spcPts val="0"/>
                        </a:spcBef>
                        <a:spcAft>
                          <a:spcPts val="0"/>
                        </a:spcAft>
                        <a:buClrTx/>
                        <a:buSzTx/>
                        <a:buFontTx/>
                        <a:buNone/>
                        <a:tabLst/>
                        <a:defRPr/>
                      </a:pPr>
                      <a:r>
                        <a:rPr lang="en-US" altLang="ko-KR" sz="1400" dirty="0"/>
                        <a:t>- </a:t>
                      </a:r>
                      <a:r>
                        <a:rPr lang="ko-KR" altLang="en-US" sz="1400" dirty="0"/>
                        <a:t>무효심판</a:t>
                      </a:r>
                      <a:r>
                        <a:rPr lang="en-US" altLang="ko-KR" sz="1400" dirty="0"/>
                        <a:t>, </a:t>
                      </a:r>
                      <a:r>
                        <a:rPr lang="ko-KR" altLang="en-US" sz="1400" dirty="0"/>
                        <a:t>권리범위확인심판 등</a:t>
                      </a:r>
                      <a:endParaRPr lang="en-US" altLang="ko-KR" sz="1400" dirty="0"/>
                    </a:p>
                  </a:txBody>
                  <a:tcPr anchor="ctr"/>
                </a:tc>
                <a:tc>
                  <a:txBody>
                    <a:bodyPr/>
                    <a:lstStyle/>
                    <a:p>
                      <a:pPr marL="0" marR="0" lvl="1" indent="0" algn="l" defTabSz="914400" rtl="0" eaLnBrk="1" fontAlgn="auto" latinLnBrk="1" hangingPunct="1">
                        <a:lnSpc>
                          <a:spcPct val="100000"/>
                        </a:lnSpc>
                        <a:spcBef>
                          <a:spcPts val="0"/>
                        </a:spcBef>
                        <a:spcAft>
                          <a:spcPts val="0"/>
                        </a:spcAft>
                        <a:buClrTx/>
                        <a:buSzTx/>
                        <a:buFontTx/>
                        <a:buNone/>
                        <a:tabLst/>
                        <a:defRPr/>
                      </a:pPr>
                      <a:r>
                        <a:rPr lang="en-US" altLang="ko-KR" sz="1400" dirty="0"/>
                        <a:t>- </a:t>
                      </a:r>
                      <a:r>
                        <a:rPr lang="ko-KR" altLang="en-US" sz="1400" dirty="0"/>
                        <a:t>주로 기술분야 </a:t>
                      </a:r>
                      <a:r>
                        <a:rPr lang="ko-KR" altLang="en-US" sz="1400" dirty="0" err="1"/>
                        <a:t>특허사건</a:t>
                      </a:r>
                      <a:endParaRPr lang="en-US" altLang="ko-KR" sz="1400" dirty="0"/>
                    </a:p>
                  </a:txBody>
                  <a:tcPr anchor="ctr"/>
                </a:tc>
                <a:extLst>
                  <a:ext uri="{0D108BD9-81ED-4DB2-BD59-A6C34878D82A}">
                    <a16:rowId xmlns:a16="http://schemas.microsoft.com/office/drawing/2014/main" val="1041833196"/>
                  </a:ext>
                </a:extLst>
              </a:tr>
              <a:tr h="1568664">
                <a:tc>
                  <a:txBody>
                    <a:bodyPr/>
                    <a:lstStyle/>
                    <a:p>
                      <a:pPr algn="ctr" latinLnBrk="1"/>
                      <a:r>
                        <a:rPr lang="ko-KR" altLang="en-US" sz="1400" dirty="0"/>
                        <a:t>절차</a:t>
                      </a:r>
                    </a:p>
                  </a:txBody>
                  <a:tcPr anchor="ctr"/>
                </a:tc>
                <a:tc>
                  <a:txBody>
                    <a:bodyPr/>
                    <a:lstStyle/>
                    <a:p>
                      <a:pPr marL="0" lvl="2" indent="0" algn="l">
                        <a:defRPr/>
                      </a:pPr>
                      <a:r>
                        <a:rPr lang="en-US" altLang="ko-KR" sz="1400" dirty="0"/>
                        <a:t>- </a:t>
                      </a:r>
                      <a:r>
                        <a:rPr lang="ko-KR" altLang="en-US" sz="1400" dirty="0"/>
                        <a:t>공개주의</a:t>
                      </a:r>
                      <a:endParaRPr lang="en-US" altLang="ko-KR" sz="1400" dirty="0"/>
                    </a:p>
                    <a:p>
                      <a:pPr marL="0" lvl="2" indent="0" algn="l">
                        <a:defRPr/>
                      </a:pPr>
                      <a:r>
                        <a:rPr lang="en-US" altLang="ko-KR" sz="1400" dirty="0"/>
                        <a:t>- </a:t>
                      </a:r>
                      <a:r>
                        <a:rPr lang="ko-KR" altLang="en-US" sz="1400" dirty="0"/>
                        <a:t>기일</a:t>
                      </a:r>
                      <a:r>
                        <a:rPr lang="en-US" altLang="ko-KR" sz="1400" dirty="0"/>
                        <a:t>, </a:t>
                      </a:r>
                      <a:r>
                        <a:rPr lang="ko-KR" altLang="en-US" sz="1400" dirty="0"/>
                        <a:t>장소 통지</a:t>
                      </a:r>
                      <a:endParaRPr lang="en-US" altLang="ko-KR" sz="1400" dirty="0"/>
                    </a:p>
                    <a:p>
                      <a:pPr marL="0" lvl="2" indent="0" algn="l">
                        <a:defRPr/>
                      </a:pPr>
                      <a:r>
                        <a:rPr lang="en-US" altLang="ko-KR" sz="1400" dirty="0"/>
                        <a:t>- </a:t>
                      </a:r>
                      <a:r>
                        <a:rPr lang="ko-KR" altLang="en-US" sz="1400" dirty="0"/>
                        <a:t>조서 작성</a:t>
                      </a:r>
                      <a:r>
                        <a:rPr lang="en-US" altLang="ko-KR" sz="1400" dirty="0"/>
                        <a:t>(</a:t>
                      </a:r>
                      <a:r>
                        <a:rPr lang="ko-KR" altLang="en-US" sz="1400" dirty="0"/>
                        <a:t>기명날인</a:t>
                      </a:r>
                      <a:r>
                        <a:rPr lang="en-US" altLang="ko-KR" sz="1400" dirty="0"/>
                        <a:t>)</a:t>
                      </a:r>
                    </a:p>
                    <a:p>
                      <a:pPr marL="0" lvl="2" indent="0" algn="l">
                        <a:defRPr/>
                      </a:pPr>
                      <a:r>
                        <a:rPr lang="en-US" altLang="ko-KR" sz="1400" dirty="0"/>
                        <a:t>- </a:t>
                      </a:r>
                      <a:r>
                        <a:rPr lang="ko-KR" altLang="en-US" sz="1400" dirty="0"/>
                        <a:t>속기 또는 </a:t>
                      </a:r>
                      <a:r>
                        <a:rPr lang="ko-KR" altLang="en-US" sz="1400" dirty="0" err="1"/>
                        <a:t>녹취</a:t>
                      </a:r>
                      <a:r>
                        <a:rPr lang="en-US" altLang="ko-KR" sz="1400" dirty="0"/>
                        <a:t>(</a:t>
                      </a:r>
                      <a:r>
                        <a:rPr lang="ko-KR" altLang="en-US" sz="1400" dirty="0"/>
                        <a:t>조서의 일부</a:t>
                      </a:r>
                      <a:r>
                        <a:rPr lang="en-US" altLang="ko-KR" sz="1400" dirty="0"/>
                        <a:t>)</a:t>
                      </a:r>
                    </a:p>
                  </a:txBody>
                  <a:tcPr anchor="ctr"/>
                </a:tc>
                <a:tc>
                  <a:txBody>
                    <a:bodyPr/>
                    <a:lstStyle/>
                    <a:p>
                      <a:pPr marL="0" lvl="2" indent="0" algn="l">
                        <a:defRPr/>
                      </a:pPr>
                      <a:r>
                        <a:rPr lang="en-US" altLang="ko-KR" sz="1400" dirty="0"/>
                        <a:t>- </a:t>
                      </a:r>
                      <a:r>
                        <a:rPr lang="ko-KR" altLang="en-US" sz="1400" dirty="0" err="1"/>
                        <a:t>비공개원칙</a:t>
                      </a:r>
                      <a:endParaRPr lang="en-US" altLang="ko-KR" sz="1400" dirty="0"/>
                    </a:p>
                    <a:p>
                      <a:pPr marL="0" lvl="2" indent="0" algn="l">
                        <a:defRPr/>
                      </a:pPr>
                      <a:r>
                        <a:rPr lang="en-US" altLang="ko-KR" sz="1400" dirty="0"/>
                        <a:t>- </a:t>
                      </a:r>
                      <a:r>
                        <a:rPr lang="ko-KR" altLang="en-US" sz="1400" dirty="0" err="1"/>
                        <a:t>쟁점정리</a:t>
                      </a:r>
                      <a:endParaRPr lang="en-US" altLang="ko-KR" sz="1400" dirty="0"/>
                    </a:p>
                    <a:p>
                      <a:pPr algn="l" latinLnBrk="1"/>
                      <a:endParaRPr lang="ko-KR" altLang="en-US" sz="1400" dirty="0"/>
                    </a:p>
                  </a:txBody>
                  <a:tcPr anchor="ctr"/>
                </a:tc>
                <a:extLst>
                  <a:ext uri="{0D108BD9-81ED-4DB2-BD59-A6C34878D82A}">
                    <a16:rowId xmlns:a16="http://schemas.microsoft.com/office/drawing/2014/main" val="899765590"/>
                  </a:ext>
                </a:extLst>
              </a:tr>
            </a:tbl>
          </a:graphicData>
        </a:graphic>
      </p:graphicFrame>
      <p:sp>
        <p:nvSpPr>
          <p:cNvPr id="4" name="슬라이드 번호 개체 틀 3"/>
          <p:cNvSpPr>
            <a:spLocks noGrp="1"/>
          </p:cNvSpPr>
          <p:nvPr>
            <p:ph type="sldNum" sz="quarter" idx="4294967295"/>
          </p:nvPr>
        </p:nvSpPr>
        <p:spPr>
          <a:xfrm>
            <a:off x="11125200" y="0"/>
            <a:ext cx="1066800" cy="711200"/>
          </a:xfrm>
        </p:spPr>
        <p:txBody>
          <a:bodyPr/>
          <a:lstStyle/>
          <a:p>
            <a:r>
              <a:rPr lang="en-US" altLang="ko-KR"/>
              <a:t>448</a:t>
            </a:r>
            <a:endParaRPr lang="ko-KR" altLang="en-US" dirty="0"/>
          </a:p>
        </p:txBody>
      </p:sp>
    </p:spTree>
    <p:extLst>
      <p:ext uri="{BB962C8B-B14F-4D97-AF65-F5344CB8AC3E}">
        <p14:creationId xmlns:p14="http://schemas.microsoft.com/office/powerpoint/2010/main" val="2532148168"/>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157</a:t>
            </a:r>
            <a:r>
              <a:rPr lang="ko-KR" altLang="en-US" dirty="0"/>
              <a:t>조</a:t>
            </a:r>
            <a:r>
              <a:rPr lang="en-US" altLang="ko-KR" dirty="0"/>
              <a:t>~</a:t>
            </a:r>
            <a:r>
              <a:rPr lang="ko-KR" altLang="en-US" dirty="0"/>
              <a:t>제</a:t>
            </a:r>
            <a:r>
              <a:rPr lang="en-US" altLang="ko-KR" dirty="0"/>
              <a:t>160</a:t>
            </a:r>
            <a:r>
              <a:rPr lang="ko-KR" altLang="en-US" dirty="0"/>
              <a:t>조</a:t>
            </a:r>
          </a:p>
        </p:txBody>
      </p:sp>
      <p:sp>
        <p:nvSpPr>
          <p:cNvPr id="3" name="텍스트 개체 틀 2"/>
          <p:cNvSpPr>
            <a:spLocks noGrp="1"/>
          </p:cNvSpPr>
          <p:nvPr>
            <p:ph type="body" sz="quarter" idx="13"/>
          </p:nvPr>
        </p:nvSpPr>
        <p:spPr/>
        <p:txBody>
          <a:bodyPr/>
          <a:lstStyle/>
          <a:p>
            <a:r>
              <a:rPr lang="ko-KR" altLang="en-US" dirty="0"/>
              <a:t>직권주의에 의한 심리</a:t>
            </a:r>
          </a:p>
        </p:txBody>
      </p:sp>
      <p:sp>
        <p:nvSpPr>
          <p:cNvPr id="24" name="직사각형 23"/>
          <p:cNvSpPr/>
          <p:nvPr/>
        </p:nvSpPr>
        <p:spPr>
          <a:xfrm>
            <a:off x="438596" y="2499624"/>
            <a:ext cx="788336" cy="688636"/>
          </a:xfrm>
          <a:prstGeom prst="rect">
            <a:avLst/>
          </a:prstGeom>
          <a:solidFill>
            <a:schemeClr val="accent2">
              <a:lumMod val="50000"/>
            </a:schemeClr>
          </a:solidFill>
          <a:ln w="285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400" dirty="0">
                <a:solidFill>
                  <a:schemeClr val="accent4">
                    <a:lumMod val="20000"/>
                    <a:lumOff val="80000"/>
                  </a:schemeClr>
                </a:solidFill>
              </a:rPr>
              <a:t>직권</a:t>
            </a:r>
            <a:endParaRPr lang="en-US" altLang="ko-KR" sz="1400" dirty="0">
              <a:solidFill>
                <a:schemeClr val="accent4">
                  <a:lumMod val="20000"/>
                  <a:lumOff val="80000"/>
                </a:schemeClr>
              </a:solidFill>
            </a:endParaRPr>
          </a:p>
          <a:p>
            <a:pPr algn="ctr"/>
            <a:r>
              <a:rPr lang="ko-KR" altLang="en-US" sz="1400" dirty="0">
                <a:solidFill>
                  <a:schemeClr val="accent4">
                    <a:lumMod val="20000"/>
                    <a:lumOff val="80000"/>
                  </a:schemeClr>
                </a:solidFill>
              </a:rPr>
              <a:t>주의</a:t>
            </a:r>
            <a:endParaRPr lang="en-US" altLang="ko-KR" sz="1400" dirty="0">
              <a:solidFill>
                <a:schemeClr val="accent4">
                  <a:lumMod val="20000"/>
                  <a:lumOff val="80000"/>
                </a:schemeClr>
              </a:solidFill>
            </a:endParaRPr>
          </a:p>
        </p:txBody>
      </p:sp>
      <p:sp>
        <p:nvSpPr>
          <p:cNvPr id="39" name="직사각형 38"/>
          <p:cNvSpPr/>
          <p:nvPr/>
        </p:nvSpPr>
        <p:spPr>
          <a:xfrm>
            <a:off x="1709357" y="1328850"/>
            <a:ext cx="1249743" cy="414492"/>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200" dirty="0">
                <a:solidFill>
                  <a:schemeClr val="tx1"/>
                </a:solidFill>
              </a:rPr>
              <a:t>직권진행주의</a:t>
            </a:r>
            <a:endParaRPr lang="en-US" altLang="ko-KR" sz="1200" dirty="0">
              <a:solidFill>
                <a:schemeClr val="tx1"/>
              </a:solidFill>
            </a:endParaRPr>
          </a:p>
        </p:txBody>
      </p:sp>
      <p:sp>
        <p:nvSpPr>
          <p:cNvPr id="41" name="직사각형 40"/>
          <p:cNvSpPr/>
          <p:nvPr/>
        </p:nvSpPr>
        <p:spPr>
          <a:xfrm>
            <a:off x="1709357" y="4758302"/>
            <a:ext cx="1249743" cy="414492"/>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200" dirty="0">
                <a:solidFill>
                  <a:schemeClr val="tx1"/>
                </a:solidFill>
              </a:rPr>
              <a:t>직권탐지주의</a:t>
            </a:r>
            <a:endParaRPr lang="en-US" altLang="ko-KR" sz="1200" dirty="0">
              <a:solidFill>
                <a:schemeClr val="tx1"/>
              </a:solidFill>
            </a:endParaRPr>
          </a:p>
        </p:txBody>
      </p:sp>
      <p:sp>
        <p:nvSpPr>
          <p:cNvPr id="17" name="Rectangle 1"/>
          <p:cNvSpPr>
            <a:spLocks noChangeArrowheads="1"/>
          </p:cNvSpPr>
          <p:nvPr/>
        </p:nvSpPr>
        <p:spPr bwMode="auto">
          <a:xfrm>
            <a:off x="3233357" y="4271039"/>
            <a:ext cx="8628443" cy="2515286"/>
          </a:xfrm>
          <a:prstGeom prst="rect">
            <a:avLst/>
          </a:prstGeom>
          <a:solidFill>
            <a:srgbClr val="FF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72000" rIns="72000" bIns="7200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100" b="1" i="0" u="none" strike="noStrike" cap="none" normalizeH="0" baseline="0" dirty="0">
                <a:ln>
                  <a:noFill/>
                </a:ln>
                <a:solidFill>
                  <a:srgbClr val="151594"/>
                </a:solidFill>
                <a:effectLst/>
                <a:latin typeface="+mn-ea"/>
              </a:rPr>
              <a:t>제157조(증거조사 및 증거보전)</a:t>
            </a:r>
            <a:r>
              <a:rPr kumimoji="0" lang="ko-KR" altLang="ko-KR" sz="1100" b="0" i="0" u="none" strike="noStrike" cap="none" normalizeH="0" baseline="0" dirty="0">
                <a:ln>
                  <a:noFill/>
                </a:ln>
                <a:solidFill>
                  <a:srgbClr val="444444"/>
                </a:solidFill>
                <a:effectLst/>
                <a:latin typeface="+mn-ea"/>
              </a:rPr>
              <a:t> ① 심판에서는 당사자, 참가인 또는 이해관계인의 신청에 의하여 또는 직권으로 </a:t>
            </a:r>
            <a:r>
              <a:rPr kumimoji="0" lang="ko-KR" altLang="ko-KR" sz="1100" b="0" i="0" u="none" strike="noStrike" cap="none" normalizeH="0" baseline="0" dirty="0" err="1">
                <a:ln>
                  <a:noFill/>
                </a:ln>
                <a:solidFill>
                  <a:srgbClr val="444444"/>
                </a:solidFill>
                <a:effectLst/>
                <a:latin typeface="+mn-ea"/>
              </a:rPr>
              <a:t>증거조사나</a:t>
            </a:r>
            <a:r>
              <a:rPr kumimoji="0" lang="ko-KR" altLang="ko-KR" sz="1100" b="0" i="0" u="none" strike="noStrike" cap="none" normalizeH="0" baseline="0" dirty="0">
                <a:ln>
                  <a:noFill/>
                </a:ln>
                <a:solidFill>
                  <a:srgbClr val="444444"/>
                </a:solidFill>
                <a:effectLst/>
                <a:latin typeface="+mn-ea"/>
              </a:rPr>
              <a:t> 증거보전을 할 수 있다.</a:t>
            </a:r>
          </a:p>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rgbClr val="444444"/>
                </a:solidFill>
                <a:effectLst/>
                <a:latin typeface="+mn-ea"/>
              </a:rPr>
              <a:t>② 제1항에 따른 증거조사 및 </a:t>
            </a:r>
            <a:r>
              <a:rPr kumimoji="0" lang="ko-KR" altLang="ko-KR" sz="1100" b="0" i="0" u="none" strike="noStrike" cap="none" normalizeH="0" baseline="0" dirty="0" err="1">
                <a:ln>
                  <a:noFill/>
                </a:ln>
                <a:solidFill>
                  <a:srgbClr val="444444"/>
                </a:solidFill>
                <a:effectLst/>
                <a:latin typeface="+mn-ea"/>
              </a:rPr>
              <a:t>증거보전에</a:t>
            </a:r>
            <a:r>
              <a:rPr kumimoji="0" lang="ko-KR" altLang="ko-KR" sz="1100" b="0" i="0" u="none" strike="noStrike" cap="none" normalizeH="0" baseline="0" dirty="0">
                <a:ln>
                  <a:noFill/>
                </a:ln>
                <a:solidFill>
                  <a:srgbClr val="444444"/>
                </a:solidFill>
                <a:effectLst/>
                <a:latin typeface="+mn-ea"/>
              </a:rPr>
              <a:t> 관하여는 「민사소송법」 중 증거조사 및 </a:t>
            </a:r>
            <a:r>
              <a:rPr kumimoji="0" lang="ko-KR" altLang="ko-KR" sz="1100" b="0" i="0" u="none" strike="noStrike" cap="none" normalizeH="0" baseline="0" dirty="0" err="1">
                <a:ln>
                  <a:noFill/>
                </a:ln>
                <a:solidFill>
                  <a:srgbClr val="444444"/>
                </a:solidFill>
                <a:effectLst/>
                <a:latin typeface="+mn-ea"/>
              </a:rPr>
              <a:t>증거보전에</a:t>
            </a:r>
            <a:r>
              <a:rPr kumimoji="0" lang="ko-KR" altLang="ko-KR" sz="1100" b="0" i="0" u="none" strike="noStrike" cap="none" normalizeH="0" baseline="0" dirty="0">
                <a:ln>
                  <a:noFill/>
                </a:ln>
                <a:solidFill>
                  <a:srgbClr val="444444"/>
                </a:solidFill>
                <a:effectLst/>
                <a:latin typeface="+mn-ea"/>
              </a:rPr>
              <a:t> 관한 규정을 준용한다. 다만, 심판관은 다음 각 호의 행위는 하지 못한다.</a:t>
            </a:r>
          </a:p>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rgbClr val="444444"/>
                </a:solidFill>
                <a:effectLst/>
                <a:latin typeface="+mn-ea"/>
              </a:rPr>
              <a:t>1. 과태료의 결정</a:t>
            </a:r>
          </a:p>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rgbClr val="444444"/>
                </a:solidFill>
                <a:effectLst/>
                <a:latin typeface="+mn-ea"/>
              </a:rPr>
              <a:t>2. 구인(拘引)을 명하는 행위</a:t>
            </a:r>
          </a:p>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rgbClr val="444444"/>
                </a:solidFill>
                <a:effectLst/>
                <a:latin typeface="+mn-ea"/>
              </a:rPr>
              <a:t>3. 보증금을 공탁하게 하는 행위</a:t>
            </a:r>
          </a:p>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rgbClr val="444444"/>
                </a:solidFill>
                <a:effectLst/>
                <a:latin typeface="+mn-ea"/>
              </a:rPr>
              <a:t>③ 증거보전신청은 심판청구 전에는 특허심판원장에게 하고, </a:t>
            </a:r>
            <a:r>
              <a:rPr kumimoji="0" lang="ko-KR" altLang="ko-KR" sz="1100" b="0" i="0" u="none" strike="noStrike" cap="none" normalizeH="0" baseline="0" dirty="0" err="1">
                <a:ln>
                  <a:noFill/>
                </a:ln>
                <a:solidFill>
                  <a:srgbClr val="444444"/>
                </a:solidFill>
                <a:effectLst/>
                <a:latin typeface="+mn-ea"/>
              </a:rPr>
              <a:t>심판계속</a:t>
            </a:r>
            <a:r>
              <a:rPr kumimoji="0" lang="ko-KR" altLang="ko-KR" sz="1100" b="0" i="0" u="none" strike="noStrike" cap="none" normalizeH="0" baseline="0" dirty="0">
                <a:ln>
                  <a:noFill/>
                </a:ln>
                <a:solidFill>
                  <a:srgbClr val="444444"/>
                </a:solidFill>
                <a:effectLst/>
                <a:latin typeface="+mn-ea"/>
              </a:rPr>
              <a:t> 중에는 그 사건의 심판장에게 하여야 한다.</a:t>
            </a:r>
          </a:p>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rgbClr val="444444"/>
                </a:solidFill>
                <a:effectLst/>
                <a:latin typeface="+mn-ea"/>
              </a:rPr>
              <a:t>④ 특허심판원장은 심판청구 전에 제1항에 따른 증거보전신청이 있으면 그 신청에 관여할 심판관을 지정한다.</a:t>
            </a:r>
          </a:p>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rgbClr val="444444"/>
                </a:solidFill>
                <a:effectLst/>
                <a:latin typeface="+mn-ea"/>
              </a:rPr>
              <a:t>⑤ 심판장은 제1항에 따라 직권으로 </a:t>
            </a:r>
            <a:r>
              <a:rPr kumimoji="0" lang="ko-KR" altLang="ko-KR" sz="1100" b="0" i="0" u="none" strike="noStrike" cap="none" normalizeH="0" baseline="0" dirty="0" err="1">
                <a:ln>
                  <a:noFill/>
                </a:ln>
                <a:solidFill>
                  <a:srgbClr val="444444"/>
                </a:solidFill>
                <a:effectLst/>
                <a:latin typeface="+mn-ea"/>
              </a:rPr>
              <a:t>증거조사나</a:t>
            </a:r>
            <a:r>
              <a:rPr kumimoji="0" lang="ko-KR" altLang="ko-KR" sz="1100" b="0" i="0" u="none" strike="noStrike" cap="none" normalizeH="0" baseline="0" dirty="0">
                <a:ln>
                  <a:noFill/>
                </a:ln>
                <a:solidFill>
                  <a:srgbClr val="444444"/>
                </a:solidFill>
                <a:effectLst/>
                <a:latin typeface="+mn-ea"/>
              </a:rPr>
              <a:t> 증거보전을 하였을 때에는 그 결과를 당사자, 참가인 또는 이해관계인에게 통지하고, 기간을 정하여 의견서를 제출할 수 있는 기회를 주어야 한다.</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altLang="ko-KR" sz="1100" b="0" i="0" u="none" strike="noStrike" cap="none" normalizeH="0" baseline="0" dirty="0">
              <a:ln>
                <a:noFill/>
              </a:ln>
              <a:solidFill>
                <a:srgbClr val="444444"/>
              </a:solidFill>
              <a:effectLst/>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100" b="1" i="0" u="none" strike="noStrike" cap="none" normalizeH="0" baseline="0" dirty="0">
                <a:ln>
                  <a:noFill/>
                </a:ln>
                <a:solidFill>
                  <a:srgbClr val="151594"/>
                </a:solidFill>
                <a:effectLst/>
                <a:latin typeface="+mn-ea"/>
              </a:rPr>
              <a:t>제159조(</a:t>
            </a:r>
            <a:r>
              <a:rPr kumimoji="0" lang="ko-KR" altLang="ko-KR" sz="1100" b="1" i="0" u="none" strike="noStrike" cap="none" normalizeH="0" baseline="0" dirty="0" err="1">
                <a:ln>
                  <a:noFill/>
                </a:ln>
                <a:solidFill>
                  <a:srgbClr val="151594"/>
                </a:solidFill>
                <a:effectLst/>
                <a:latin typeface="+mn-ea"/>
              </a:rPr>
              <a:t>직권심리</a:t>
            </a:r>
            <a:r>
              <a:rPr kumimoji="0" lang="ko-KR" altLang="ko-KR" sz="1100" b="1" i="0" u="none" strike="noStrike" cap="none" normalizeH="0" baseline="0" dirty="0">
                <a:ln>
                  <a:noFill/>
                </a:ln>
                <a:solidFill>
                  <a:srgbClr val="151594"/>
                </a:solidFill>
                <a:effectLst/>
                <a:latin typeface="+mn-ea"/>
              </a:rPr>
              <a:t>)</a:t>
            </a:r>
            <a:r>
              <a:rPr kumimoji="0" lang="ko-KR" altLang="ko-KR" sz="1100" b="0" i="0" u="none" strike="noStrike" cap="none" normalizeH="0" baseline="0" dirty="0">
                <a:ln>
                  <a:noFill/>
                </a:ln>
                <a:solidFill>
                  <a:srgbClr val="444444"/>
                </a:solidFill>
                <a:effectLst/>
                <a:latin typeface="+mn-ea"/>
              </a:rPr>
              <a:t> ① 심판에서는 당사자 또는 참가인이 신청하지 아니한 이유에 대해서도 심리할 수 있다. 이 경우 당사자 및 참가인에게 기간을 정하여 그 이유에 대하여 의견을 진술할 수 있는 기회를 주어야 한다.</a:t>
            </a:r>
          </a:p>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100" b="0" i="0" u="none" strike="noStrike" cap="none" normalizeH="0" baseline="0" dirty="0">
                <a:ln>
                  <a:noFill/>
                </a:ln>
                <a:solidFill>
                  <a:srgbClr val="444444"/>
                </a:solidFill>
                <a:effectLst/>
                <a:latin typeface="+mn-ea"/>
              </a:rPr>
              <a:t>② 심판에서는 청구인이 신청하지 아니한 청구의 취지에 대해서는 심리할 수 없다.</a:t>
            </a:r>
          </a:p>
        </p:txBody>
      </p:sp>
      <p:sp>
        <p:nvSpPr>
          <p:cNvPr id="50" name="Rectangle 1"/>
          <p:cNvSpPr>
            <a:spLocks noChangeArrowheads="1"/>
          </p:cNvSpPr>
          <p:nvPr/>
        </p:nvSpPr>
        <p:spPr bwMode="auto">
          <a:xfrm>
            <a:off x="3233357" y="711201"/>
            <a:ext cx="8628443" cy="3521012"/>
          </a:xfrm>
          <a:prstGeom prst="rect">
            <a:avLst/>
          </a:prstGeom>
          <a:noFill/>
          <a:ln>
            <a:solidFill>
              <a:schemeClr val="bg1">
                <a:lumMod val="50000"/>
              </a:schemeClr>
            </a:solidFill>
          </a:ln>
          <a:effectLst/>
        </p:spPr>
        <p:txBody>
          <a:bodyPr vert="horz" wrap="square" lIns="72000" tIns="72000" rIns="72000" bIns="72000" numCol="1" anchor="t"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100" b="1" i="0" u="none" strike="noStrike" cap="none" normalizeH="0" baseline="0" dirty="0">
                <a:ln>
                  <a:noFill/>
                </a:ln>
                <a:solidFill>
                  <a:srgbClr val="151594"/>
                </a:solidFill>
                <a:effectLst/>
                <a:latin typeface="+mn-ea"/>
              </a:rPr>
              <a:t>제158조(심판의 진행)</a:t>
            </a:r>
            <a:r>
              <a:rPr kumimoji="0" lang="ko-KR" altLang="ko-KR" sz="1100" b="0" i="0" u="none" strike="noStrike" cap="none" normalizeH="0" baseline="0" dirty="0">
                <a:ln>
                  <a:noFill/>
                </a:ln>
                <a:solidFill>
                  <a:srgbClr val="444444"/>
                </a:solidFill>
                <a:effectLst/>
                <a:latin typeface="+mn-ea"/>
              </a:rPr>
              <a:t> 심판장은 당사자 또는 참가인이 법정기간 또는 지정기간에 절차를 밟지 아니하거나 제154조제4항에 따른 기일에 출석하지 아니하여도 심판을 진행할 수 있다.</a:t>
            </a:r>
            <a:r>
              <a:rPr kumimoji="0" lang="ko-KR" altLang="en-US" sz="1100" b="0" i="0" u="none" strike="noStrike" cap="none" normalizeH="0" baseline="0" dirty="0">
                <a:ln>
                  <a:noFill/>
                </a:ln>
                <a:solidFill>
                  <a:srgbClr val="444444"/>
                </a:solidFill>
                <a:effectLst/>
                <a:latin typeface="+mn-ea"/>
              </a:rPr>
              <a:t> </a:t>
            </a:r>
            <a:endParaRPr kumimoji="0" lang="en-US" altLang="ko-KR" sz="1100" b="0" i="0" u="none" strike="noStrike" cap="none" normalizeH="0" baseline="0" dirty="0">
              <a:ln>
                <a:noFill/>
              </a:ln>
              <a:solidFill>
                <a:srgbClr val="444444"/>
              </a:solidFill>
              <a:effectLst/>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lang="en-US" altLang="ko-KR" sz="1100" dirty="0">
              <a:solidFill>
                <a:srgbClr val="000099"/>
              </a:solidFill>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en-US" sz="1100" b="1" i="0" u="none" strike="noStrike" cap="none" normalizeH="0" baseline="0" dirty="0">
                <a:ln>
                  <a:noFill/>
                </a:ln>
                <a:solidFill>
                  <a:srgbClr val="000099"/>
                </a:solidFill>
                <a:effectLst/>
                <a:latin typeface="+mn-ea"/>
              </a:rPr>
              <a:t>제</a:t>
            </a:r>
            <a:r>
              <a:rPr kumimoji="0" lang="en-US" altLang="ko-KR" sz="1100" b="1" i="0" u="none" strike="noStrike" cap="none" normalizeH="0" baseline="0" dirty="0">
                <a:ln>
                  <a:noFill/>
                </a:ln>
                <a:solidFill>
                  <a:srgbClr val="000099"/>
                </a:solidFill>
                <a:effectLst/>
                <a:latin typeface="+mn-ea"/>
              </a:rPr>
              <a:t>158</a:t>
            </a:r>
            <a:r>
              <a:rPr kumimoji="0" lang="ko-KR" altLang="en-US" sz="1100" b="1" i="0" u="none" strike="noStrike" cap="none" normalizeH="0" baseline="0" dirty="0">
                <a:ln>
                  <a:noFill/>
                </a:ln>
                <a:solidFill>
                  <a:srgbClr val="000099"/>
                </a:solidFill>
                <a:effectLst/>
                <a:latin typeface="+mn-ea"/>
              </a:rPr>
              <a:t>조의</a:t>
            </a:r>
            <a:r>
              <a:rPr kumimoji="0" lang="en-US" altLang="ko-KR" sz="1100" b="1" i="0" u="none" strike="noStrike" cap="none" normalizeH="0" baseline="0" dirty="0">
                <a:ln>
                  <a:noFill/>
                </a:ln>
                <a:solidFill>
                  <a:srgbClr val="000099"/>
                </a:solidFill>
                <a:effectLst/>
                <a:latin typeface="+mn-ea"/>
              </a:rPr>
              <a:t>2(</a:t>
            </a:r>
            <a:r>
              <a:rPr kumimoji="0" lang="ko-KR" altLang="en-US" sz="1100" b="1" i="0" u="none" strike="noStrike" cap="none" normalizeH="0" baseline="0" dirty="0">
                <a:ln>
                  <a:noFill/>
                </a:ln>
                <a:solidFill>
                  <a:srgbClr val="000099"/>
                </a:solidFill>
                <a:effectLst/>
                <a:latin typeface="+mn-ea"/>
              </a:rPr>
              <a:t>적시제출주의</a:t>
            </a:r>
            <a:r>
              <a:rPr kumimoji="0" lang="en-US" altLang="ko-KR" sz="1100" b="1" i="0" u="none" strike="noStrike" cap="none" normalizeH="0" baseline="0" dirty="0">
                <a:ln>
                  <a:noFill/>
                </a:ln>
                <a:solidFill>
                  <a:srgbClr val="000099"/>
                </a:solidFill>
                <a:effectLst/>
                <a:latin typeface="+mn-ea"/>
              </a:rPr>
              <a:t>) </a:t>
            </a:r>
            <a:r>
              <a:rPr kumimoji="0" lang="ko-KR" altLang="en-US" sz="1100" b="0" i="0" u="none" strike="noStrike" cap="none" normalizeH="0" baseline="0" dirty="0">
                <a:ln>
                  <a:noFill/>
                </a:ln>
                <a:effectLst/>
                <a:latin typeface="+mn-ea"/>
              </a:rPr>
              <a:t>심판절차에서의 주장이나 증거의 제출에 관하여는 「민사소송법」 제</a:t>
            </a:r>
            <a:r>
              <a:rPr kumimoji="0" lang="en-US" altLang="ko-KR" sz="1100" b="0" i="0" u="none" strike="noStrike" cap="none" normalizeH="0" baseline="0" dirty="0">
                <a:ln>
                  <a:noFill/>
                </a:ln>
                <a:effectLst/>
                <a:latin typeface="+mn-ea"/>
              </a:rPr>
              <a:t>146</a:t>
            </a:r>
            <a:r>
              <a:rPr kumimoji="0" lang="ko-KR" altLang="en-US" sz="1100" b="0" i="0" u="none" strike="noStrike" cap="none" normalizeH="0" baseline="0" dirty="0">
                <a:ln>
                  <a:noFill/>
                </a:ln>
                <a:effectLst/>
                <a:latin typeface="+mn-ea"/>
              </a:rPr>
              <a:t>조</a:t>
            </a:r>
            <a:r>
              <a:rPr kumimoji="0" lang="en-US" altLang="ko-KR" sz="1100" b="0" i="0" u="none" strike="noStrike" cap="none" normalizeH="0" baseline="0" dirty="0">
                <a:ln>
                  <a:noFill/>
                </a:ln>
                <a:effectLst/>
                <a:latin typeface="+mn-ea"/>
              </a:rPr>
              <a:t>, </a:t>
            </a:r>
            <a:r>
              <a:rPr kumimoji="0" lang="ko-KR" altLang="en-US" sz="1100" b="0" i="0" u="none" strike="noStrike" cap="none" normalizeH="0" baseline="0" dirty="0">
                <a:ln>
                  <a:noFill/>
                </a:ln>
                <a:effectLst/>
                <a:latin typeface="+mn-ea"/>
              </a:rPr>
              <a:t>제</a:t>
            </a:r>
            <a:r>
              <a:rPr kumimoji="0" lang="en-US" altLang="ko-KR" sz="1100" b="0" i="0" u="none" strike="noStrike" cap="none" normalizeH="0" baseline="0" dirty="0">
                <a:ln>
                  <a:noFill/>
                </a:ln>
                <a:effectLst/>
                <a:latin typeface="+mn-ea"/>
              </a:rPr>
              <a:t>147</a:t>
            </a:r>
            <a:r>
              <a:rPr kumimoji="0" lang="ko-KR" altLang="en-US" sz="1100" b="0" i="0" u="none" strike="noStrike" cap="none" normalizeH="0" baseline="0" dirty="0">
                <a:ln>
                  <a:noFill/>
                </a:ln>
                <a:effectLst/>
                <a:latin typeface="+mn-ea"/>
              </a:rPr>
              <a:t>조 및 제</a:t>
            </a:r>
            <a:r>
              <a:rPr kumimoji="0" lang="en-US" altLang="ko-KR" sz="1100" b="0" i="0" u="none" strike="noStrike" cap="none" normalizeH="0" baseline="0" dirty="0">
                <a:ln>
                  <a:noFill/>
                </a:ln>
                <a:effectLst/>
                <a:latin typeface="+mn-ea"/>
              </a:rPr>
              <a:t>149</a:t>
            </a:r>
            <a:r>
              <a:rPr kumimoji="0" lang="ko-KR" altLang="en-US" sz="1100" b="0" i="0" u="none" strike="noStrike" cap="none" normalizeH="0" baseline="0" dirty="0">
                <a:ln>
                  <a:noFill/>
                </a:ln>
                <a:effectLst/>
                <a:latin typeface="+mn-ea"/>
              </a:rPr>
              <a:t>조를 준용한다</a:t>
            </a:r>
            <a:r>
              <a:rPr kumimoji="0" lang="en-US" altLang="ko-KR" sz="1100" b="0" i="0" u="none" strike="noStrike" cap="none" normalizeH="0" baseline="0" dirty="0">
                <a:ln>
                  <a:noFill/>
                </a:ln>
                <a:effectLst/>
                <a:latin typeface="+mn-ea"/>
              </a:rPr>
              <a:t>.</a:t>
            </a:r>
          </a:p>
          <a:p>
            <a:pPr marL="0" marR="0" lvl="0" indent="0" algn="just" defTabSz="914400" rtl="0" eaLnBrk="0" fontAlgn="base" latinLnBrk="0" hangingPunct="0">
              <a:lnSpc>
                <a:spcPct val="100000"/>
              </a:lnSpc>
              <a:spcBef>
                <a:spcPct val="0"/>
              </a:spcBef>
              <a:spcAft>
                <a:spcPct val="0"/>
              </a:spcAft>
              <a:buClrTx/>
              <a:buSzTx/>
              <a:buFontTx/>
              <a:buNone/>
              <a:tabLst/>
            </a:pPr>
            <a:endParaRPr lang="en-US" altLang="ko-KR" sz="1100" dirty="0">
              <a:solidFill>
                <a:srgbClr val="FF0000"/>
              </a:solidFill>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lang="en-US" altLang="ko-KR" sz="1100" dirty="0">
              <a:solidFill>
                <a:srgbClr val="FF0000"/>
              </a:solidFill>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lang="en-US" altLang="ko-KR" sz="1100" dirty="0">
              <a:solidFill>
                <a:srgbClr val="FF0000"/>
              </a:solidFill>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lang="en-US" altLang="ko-KR" sz="1100" dirty="0">
              <a:solidFill>
                <a:srgbClr val="FF0000"/>
              </a:solidFill>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altLang="ko-KR" sz="1100" b="0" i="0" u="none" strike="noStrike" cap="none" normalizeH="0" baseline="0" dirty="0">
              <a:ln>
                <a:noFill/>
              </a:ln>
              <a:solidFill>
                <a:srgbClr val="FF0000"/>
              </a:solidFill>
              <a:effectLst/>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lang="en-US" altLang="ko-KR" sz="1100" dirty="0">
              <a:solidFill>
                <a:srgbClr val="FF0000"/>
              </a:solidFill>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altLang="ko-KR" sz="1100" b="0" i="0" u="none" strike="noStrike" cap="none" normalizeH="0" baseline="0" dirty="0">
              <a:ln>
                <a:noFill/>
              </a:ln>
              <a:solidFill>
                <a:srgbClr val="FF0000"/>
              </a:solidFill>
              <a:effectLst/>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lang="en-US" altLang="ko-KR" sz="1100" dirty="0">
              <a:solidFill>
                <a:srgbClr val="FF0000"/>
              </a:solidFill>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altLang="ko-KR" sz="1100" b="0" i="0" u="none" strike="noStrike" cap="none" normalizeH="0" baseline="0" dirty="0">
              <a:ln>
                <a:noFill/>
              </a:ln>
              <a:solidFill>
                <a:srgbClr val="FF0000"/>
              </a:solidFill>
              <a:effectLst/>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lang="en-US" altLang="ko-KR" sz="1100" dirty="0">
              <a:solidFill>
                <a:srgbClr val="FF0000"/>
              </a:solidFill>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altLang="ko-KR" sz="1100" b="0" i="0" u="none" strike="noStrike" cap="none" normalizeH="0" baseline="0" dirty="0">
              <a:ln>
                <a:noFill/>
              </a:ln>
              <a:solidFill>
                <a:srgbClr val="FF0000"/>
              </a:solidFill>
              <a:effectLst/>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lang="en-US" altLang="ko-KR" sz="1100" dirty="0">
              <a:solidFill>
                <a:srgbClr val="FF0000"/>
              </a:solidFill>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altLang="ko-KR" sz="1100" b="0" i="0" u="none" strike="noStrike" cap="none" normalizeH="0" baseline="0" dirty="0">
              <a:ln>
                <a:noFill/>
              </a:ln>
              <a:solidFill>
                <a:srgbClr val="FF0000"/>
              </a:solidFill>
              <a:effectLst/>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ko-KR" altLang="ko-KR" sz="1100" b="0" i="0" u="none" strike="noStrike" cap="none" normalizeH="0" baseline="0" dirty="0">
              <a:ln>
                <a:noFill/>
              </a:ln>
              <a:solidFill>
                <a:srgbClr val="444444"/>
              </a:solidFill>
              <a:effectLst/>
              <a:latin typeface="+mn-ea"/>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ko-KR" altLang="ko-KR" sz="1100" b="1" i="0" u="none" strike="noStrike" cap="none" normalizeH="0" baseline="0" dirty="0">
                <a:ln>
                  <a:noFill/>
                </a:ln>
                <a:solidFill>
                  <a:srgbClr val="151594"/>
                </a:solidFill>
                <a:effectLst/>
                <a:latin typeface="+mn-ea"/>
              </a:rPr>
              <a:t>제160조(</a:t>
            </a:r>
            <a:r>
              <a:rPr kumimoji="0" lang="ko-KR" altLang="ko-KR" sz="1100" b="1" i="0" u="none" strike="noStrike" cap="none" normalizeH="0" baseline="0" dirty="0" err="1">
                <a:ln>
                  <a:noFill/>
                </a:ln>
                <a:solidFill>
                  <a:srgbClr val="151594"/>
                </a:solidFill>
                <a:effectLst/>
                <a:latin typeface="+mn-ea"/>
              </a:rPr>
              <a:t>심리ㆍ심결의</a:t>
            </a:r>
            <a:r>
              <a:rPr kumimoji="0" lang="ko-KR" altLang="ko-KR" sz="1100" b="1" i="0" u="none" strike="noStrike" cap="none" normalizeH="0" baseline="0" dirty="0">
                <a:ln>
                  <a:noFill/>
                </a:ln>
                <a:solidFill>
                  <a:srgbClr val="151594"/>
                </a:solidFill>
                <a:effectLst/>
                <a:latin typeface="+mn-ea"/>
              </a:rPr>
              <a:t> 병합 또는 분리)</a:t>
            </a:r>
            <a:r>
              <a:rPr kumimoji="0" lang="ko-KR" altLang="ko-KR" sz="1100" b="0" i="0" u="none" strike="noStrike" cap="none" normalizeH="0" baseline="0" dirty="0">
                <a:ln>
                  <a:noFill/>
                </a:ln>
                <a:solidFill>
                  <a:srgbClr val="444444"/>
                </a:solidFill>
                <a:effectLst/>
                <a:latin typeface="+mn-ea"/>
              </a:rPr>
              <a:t> 심판관은 당사자 양쪽 또는 어느 한쪽이 동일한 둘 이상의 심판에 대하여 심리 또는 </a:t>
            </a:r>
            <a:r>
              <a:rPr kumimoji="0" lang="ko-KR" altLang="ko-KR" sz="1100" b="0" i="0" u="none" strike="noStrike" cap="none" normalizeH="0" baseline="0" dirty="0" err="1">
                <a:ln>
                  <a:noFill/>
                </a:ln>
                <a:solidFill>
                  <a:srgbClr val="444444"/>
                </a:solidFill>
                <a:effectLst/>
                <a:latin typeface="+mn-ea"/>
              </a:rPr>
              <a:t>심결을</a:t>
            </a:r>
            <a:r>
              <a:rPr kumimoji="0" lang="ko-KR" altLang="ko-KR" sz="1100" b="0" i="0" u="none" strike="noStrike" cap="none" normalizeH="0" baseline="0" dirty="0">
                <a:ln>
                  <a:noFill/>
                </a:ln>
                <a:solidFill>
                  <a:srgbClr val="444444"/>
                </a:solidFill>
                <a:effectLst/>
                <a:latin typeface="+mn-ea"/>
              </a:rPr>
              <a:t> 병합하거나 분리할 수 있다.</a:t>
            </a:r>
          </a:p>
        </p:txBody>
      </p:sp>
      <p:cxnSp>
        <p:nvCxnSpPr>
          <p:cNvPr id="45" name="직선 연결선 44"/>
          <p:cNvCxnSpPr>
            <a:stCxn id="39" idx="3"/>
          </p:cNvCxnSpPr>
          <p:nvPr/>
        </p:nvCxnSpPr>
        <p:spPr>
          <a:xfrm>
            <a:off x="2959100" y="1536096"/>
            <a:ext cx="274257" cy="47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직선 연결선 46"/>
          <p:cNvCxnSpPr>
            <a:stCxn id="41" idx="3"/>
          </p:cNvCxnSpPr>
          <p:nvPr/>
        </p:nvCxnSpPr>
        <p:spPr>
          <a:xfrm>
            <a:off x="2959100" y="4965548"/>
            <a:ext cx="274257"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꺾인 연결선 50"/>
          <p:cNvCxnSpPr>
            <a:stCxn id="24" idx="3"/>
            <a:endCxn id="39" idx="1"/>
          </p:cNvCxnSpPr>
          <p:nvPr/>
        </p:nvCxnSpPr>
        <p:spPr>
          <a:xfrm flipV="1">
            <a:off x="1226932" y="1536096"/>
            <a:ext cx="482425" cy="130784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꺾인 연결선 52"/>
          <p:cNvCxnSpPr>
            <a:stCxn id="24" idx="3"/>
            <a:endCxn id="41" idx="1"/>
          </p:cNvCxnSpPr>
          <p:nvPr/>
        </p:nvCxnSpPr>
        <p:spPr>
          <a:xfrm>
            <a:off x="1226932" y="2843942"/>
            <a:ext cx="482425" cy="212160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슬라이드 번호 개체 틀 3"/>
          <p:cNvSpPr>
            <a:spLocks noGrp="1"/>
          </p:cNvSpPr>
          <p:nvPr>
            <p:ph type="sldNum" sz="quarter" idx="4294967295"/>
          </p:nvPr>
        </p:nvSpPr>
        <p:spPr>
          <a:xfrm>
            <a:off x="11125200" y="0"/>
            <a:ext cx="1066800" cy="711200"/>
          </a:xfrm>
        </p:spPr>
        <p:txBody>
          <a:bodyPr/>
          <a:lstStyle/>
          <a:p>
            <a:r>
              <a:rPr lang="en-US" altLang="ko-KR"/>
              <a:t>449</a:t>
            </a:r>
            <a:endParaRPr lang="ko-KR" altLang="en-US" dirty="0"/>
          </a:p>
        </p:txBody>
      </p:sp>
      <p:graphicFrame>
        <p:nvGraphicFramePr>
          <p:cNvPr id="5" name="표 4">
            <a:extLst>
              <a:ext uri="{FF2B5EF4-FFF2-40B4-BE49-F238E27FC236}">
                <a16:creationId xmlns:a16="http://schemas.microsoft.com/office/drawing/2014/main" id="{663A850E-EF34-41AF-AF9A-14107C9F1E5B}"/>
              </a:ext>
            </a:extLst>
          </p:cNvPr>
          <p:cNvGraphicFramePr>
            <a:graphicFrameLocks noGrp="1"/>
          </p:cNvGraphicFramePr>
          <p:nvPr/>
        </p:nvGraphicFramePr>
        <p:xfrm>
          <a:off x="3326084" y="1602960"/>
          <a:ext cx="8427320" cy="2078228"/>
        </p:xfrm>
        <a:graphic>
          <a:graphicData uri="http://schemas.openxmlformats.org/drawingml/2006/table">
            <a:tbl>
              <a:tblPr/>
              <a:tblGrid>
                <a:gridCol w="4381920">
                  <a:extLst>
                    <a:ext uri="{9D8B030D-6E8A-4147-A177-3AD203B41FA5}">
                      <a16:colId xmlns:a16="http://schemas.microsoft.com/office/drawing/2014/main" val="755012989"/>
                    </a:ext>
                  </a:extLst>
                </a:gridCol>
                <a:gridCol w="4045400">
                  <a:extLst>
                    <a:ext uri="{9D8B030D-6E8A-4147-A177-3AD203B41FA5}">
                      <a16:colId xmlns:a16="http://schemas.microsoft.com/office/drawing/2014/main" val="1700793237"/>
                    </a:ext>
                  </a:extLst>
                </a:gridCol>
              </a:tblGrid>
              <a:tr h="113310">
                <a:tc>
                  <a:txBody>
                    <a:bodyPr/>
                    <a:lstStyle/>
                    <a:p>
                      <a:pPr marL="0" marR="0" indent="0" algn="ctr" fontAlgn="base" latinLnBrk="0">
                        <a:lnSpc>
                          <a:spcPct val="100000"/>
                        </a:lnSpc>
                        <a:spcBef>
                          <a:spcPts val="0"/>
                        </a:spcBef>
                        <a:spcAft>
                          <a:spcPts val="200"/>
                        </a:spcAft>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pPr>
                      <a:r>
                        <a:rPr kumimoji="0" lang="ko-KR" altLang="en-US" sz="1000" b="0" i="0" u="none" strike="noStrike" kern="1200" cap="none" normalizeH="0" baseline="0" dirty="0">
                          <a:ln>
                            <a:noFill/>
                          </a:ln>
                          <a:solidFill>
                            <a:srgbClr val="444444"/>
                          </a:solidFill>
                          <a:effectLst/>
                          <a:latin typeface="+mn-ea"/>
                          <a:ea typeface="+mn-ea"/>
                          <a:cs typeface="+mn-cs"/>
                        </a:rPr>
                        <a:t>민사소송법 제</a:t>
                      </a:r>
                      <a:r>
                        <a:rPr kumimoji="0" lang="en-US" altLang="ko-KR" sz="1000" b="0" i="0" u="none" strike="noStrike" kern="1200" cap="none" normalizeH="0" baseline="0" dirty="0">
                          <a:ln>
                            <a:noFill/>
                          </a:ln>
                          <a:solidFill>
                            <a:srgbClr val="444444"/>
                          </a:solidFill>
                          <a:effectLst/>
                          <a:latin typeface="+mn-ea"/>
                          <a:ea typeface="+mn-ea"/>
                          <a:cs typeface="+mn-cs"/>
                        </a:rPr>
                        <a:t>146</a:t>
                      </a:r>
                      <a:r>
                        <a:rPr kumimoji="0" lang="ko-KR" altLang="en-US" sz="1000" b="0" i="0" u="none" strike="noStrike" kern="1200" cap="none" normalizeH="0" baseline="0" dirty="0">
                          <a:ln>
                            <a:noFill/>
                          </a:ln>
                          <a:solidFill>
                            <a:srgbClr val="444444"/>
                          </a:solidFill>
                          <a:effectLst/>
                          <a:latin typeface="+mn-ea"/>
                          <a:ea typeface="+mn-ea"/>
                          <a:cs typeface="+mn-cs"/>
                        </a:rPr>
                        <a:t>조</a:t>
                      </a:r>
                      <a:r>
                        <a:rPr kumimoji="0" lang="en-US" altLang="ko-KR" sz="1000" b="0" i="0" u="none" strike="noStrike" kern="1200" cap="none" normalizeH="0" baseline="0" dirty="0">
                          <a:ln>
                            <a:noFill/>
                          </a:ln>
                          <a:solidFill>
                            <a:srgbClr val="444444"/>
                          </a:solidFill>
                          <a:effectLst/>
                          <a:latin typeface="+mn-ea"/>
                          <a:ea typeface="+mn-ea"/>
                          <a:cs typeface="+mn-cs"/>
                        </a:rPr>
                        <a:t>,  </a:t>
                      </a:r>
                      <a:r>
                        <a:rPr kumimoji="0" lang="ko-KR" altLang="en-US" sz="1000" b="0" i="0" u="none" strike="noStrike" kern="1200" cap="none" normalizeH="0" baseline="0" dirty="0">
                          <a:ln>
                            <a:noFill/>
                          </a:ln>
                          <a:solidFill>
                            <a:srgbClr val="444444"/>
                          </a:solidFill>
                          <a:effectLst/>
                          <a:latin typeface="+mn-ea"/>
                          <a:ea typeface="+mn-ea"/>
                          <a:cs typeface="+mn-cs"/>
                        </a:rPr>
                        <a:t>제</a:t>
                      </a:r>
                      <a:r>
                        <a:rPr kumimoji="0" lang="en-US" altLang="ko-KR" sz="1000" b="0" i="0" u="none" strike="noStrike" kern="1200" cap="none" normalizeH="0" baseline="0" dirty="0">
                          <a:ln>
                            <a:noFill/>
                          </a:ln>
                          <a:solidFill>
                            <a:srgbClr val="444444"/>
                          </a:solidFill>
                          <a:effectLst/>
                          <a:latin typeface="+mn-ea"/>
                          <a:ea typeface="+mn-ea"/>
                          <a:cs typeface="+mn-cs"/>
                        </a:rPr>
                        <a:t>147</a:t>
                      </a:r>
                      <a:r>
                        <a:rPr kumimoji="0" lang="ko-KR" altLang="en-US" sz="1000" b="0" i="0" u="none" strike="noStrike" kern="1200" cap="none" normalizeH="0" baseline="0" dirty="0">
                          <a:ln>
                            <a:noFill/>
                          </a:ln>
                          <a:solidFill>
                            <a:srgbClr val="444444"/>
                          </a:solidFill>
                          <a:effectLst/>
                          <a:latin typeface="+mn-ea"/>
                          <a:ea typeface="+mn-ea"/>
                          <a:cs typeface="+mn-cs"/>
                        </a:rPr>
                        <a:t>조</a:t>
                      </a:r>
                      <a:r>
                        <a:rPr kumimoji="0" lang="en-US" altLang="ko-KR" sz="1000" b="0" i="0" u="none" strike="noStrike" kern="1200" cap="none" normalizeH="0" baseline="0" dirty="0">
                          <a:ln>
                            <a:noFill/>
                          </a:ln>
                          <a:solidFill>
                            <a:srgbClr val="444444"/>
                          </a:solidFill>
                          <a:effectLst/>
                          <a:latin typeface="+mn-ea"/>
                          <a:ea typeface="+mn-ea"/>
                          <a:cs typeface="+mn-cs"/>
                        </a:rPr>
                        <a:t> </a:t>
                      </a:r>
                      <a:r>
                        <a:rPr kumimoji="0" lang="ko-KR" altLang="en-US" sz="1000" b="0" i="0" u="none" strike="noStrike" kern="1200" cap="none" normalizeH="0" baseline="0" dirty="0">
                          <a:ln>
                            <a:noFill/>
                          </a:ln>
                          <a:solidFill>
                            <a:srgbClr val="444444"/>
                          </a:solidFill>
                          <a:effectLst/>
                          <a:latin typeface="+mn-ea"/>
                          <a:ea typeface="+mn-ea"/>
                          <a:cs typeface="+mn-cs"/>
                        </a:rPr>
                        <a:t>및 제</a:t>
                      </a:r>
                      <a:r>
                        <a:rPr kumimoji="0" lang="en-US" altLang="ko-KR" sz="1000" b="0" i="0" u="none" strike="noStrike" kern="1200" cap="none" normalizeH="0" baseline="0" dirty="0">
                          <a:ln>
                            <a:noFill/>
                          </a:ln>
                          <a:solidFill>
                            <a:srgbClr val="444444"/>
                          </a:solidFill>
                          <a:effectLst/>
                          <a:latin typeface="+mn-ea"/>
                          <a:ea typeface="+mn-ea"/>
                          <a:cs typeface="+mn-cs"/>
                        </a:rPr>
                        <a:t>149</a:t>
                      </a:r>
                      <a:r>
                        <a:rPr kumimoji="0" lang="ko-KR" altLang="en-US" sz="1000" b="0" i="0" u="none" strike="noStrike" kern="1200" cap="none" normalizeH="0" baseline="0" dirty="0">
                          <a:ln>
                            <a:noFill/>
                          </a:ln>
                          <a:solidFill>
                            <a:srgbClr val="444444"/>
                          </a:solidFill>
                          <a:effectLst/>
                          <a:latin typeface="+mn-ea"/>
                          <a:ea typeface="+mn-ea"/>
                          <a:cs typeface="+mn-cs"/>
                        </a:rPr>
                        <a:t>조 </a:t>
                      </a: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E5E5E5"/>
                    </a:solidFill>
                  </a:tcPr>
                </a:tc>
                <a:tc>
                  <a:txBody>
                    <a:bodyPr/>
                    <a:lstStyle/>
                    <a:p>
                      <a:pPr marL="0" marR="0" indent="0" algn="just" fontAlgn="base" latinLnBrk="1">
                        <a:lnSpc>
                          <a:spcPct val="100000"/>
                        </a:lnSpc>
                        <a:spcBef>
                          <a:spcPts val="0"/>
                        </a:spcBef>
                        <a:spcAft>
                          <a:spcPts val="200"/>
                        </a:spcAft>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pPr>
                      <a:endParaRPr lang="ko-KR" altLang="en-US" sz="1000" kern="0" spc="-50" dirty="0">
                        <a:solidFill>
                          <a:srgbClr val="000000"/>
                        </a:solidFill>
                        <a:effectLst/>
                        <a:latin typeface="+mn-ea"/>
                        <a:ea typeface="+mn-ea"/>
                      </a:endParaRPr>
                    </a:p>
                  </a:txBody>
                  <a:tcPr marL="64770" marR="64770" marT="17907" marB="17907" anchor="ctr">
                    <a:lnL w="3556" cap="flat" cmpd="sng" algn="ctr">
                      <a:solidFill>
                        <a:srgbClr val="000000"/>
                      </a:solidFill>
                      <a:prstDash val="solid"/>
                      <a:round/>
                      <a:headEnd type="none" w="med" len="med"/>
                      <a:tailEnd type="none" w="med" len="med"/>
                    </a:lnL>
                    <a:lnR>
                      <a:noFill/>
                    </a:lnR>
                    <a:lnT>
                      <a:noFill/>
                    </a:lnT>
                    <a:lnB w="3556"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43376906"/>
                  </a:ext>
                </a:extLst>
              </a:tr>
              <a:tr h="0">
                <a:tc gridSpan="2">
                  <a:txBody>
                    <a:bodyPr/>
                    <a:lstStyle/>
                    <a:p>
                      <a:pPr marL="0" marR="0" indent="0" algn="just" fontAlgn="base" latinLnBrk="1">
                        <a:lnSpc>
                          <a:spcPct val="100000"/>
                        </a:lnSpc>
                        <a:spcBef>
                          <a:spcPts val="0"/>
                        </a:spcBef>
                        <a:spcAft>
                          <a:spcPts val="200"/>
                        </a:spcAft>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pPr>
                      <a:r>
                        <a:rPr kumimoji="0" lang="ko-KR" altLang="en-US" sz="1000" b="0" i="0" u="none" strike="noStrike" kern="1200" cap="none" normalizeH="0" baseline="0" dirty="0">
                          <a:ln>
                            <a:noFill/>
                          </a:ln>
                          <a:solidFill>
                            <a:srgbClr val="444444"/>
                          </a:solidFill>
                          <a:effectLst/>
                          <a:latin typeface="+mn-ea"/>
                          <a:ea typeface="+mn-ea"/>
                          <a:cs typeface="+mn-cs"/>
                        </a:rPr>
                        <a:t>제</a:t>
                      </a:r>
                      <a:r>
                        <a:rPr kumimoji="0" lang="en-US" altLang="ko-KR" sz="1000" b="0" i="0" u="none" strike="noStrike" kern="1200" cap="none" normalizeH="0" baseline="0" dirty="0">
                          <a:ln>
                            <a:noFill/>
                          </a:ln>
                          <a:solidFill>
                            <a:srgbClr val="444444"/>
                          </a:solidFill>
                          <a:effectLst/>
                          <a:latin typeface="+mn-ea"/>
                          <a:ea typeface="+mn-ea"/>
                          <a:cs typeface="+mn-cs"/>
                        </a:rPr>
                        <a:t>146</a:t>
                      </a:r>
                      <a:r>
                        <a:rPr kumimoji="0" lang="ko-KR" altLang="en-US" sz="1000" b="0" i="0" u="none" strike="noStrike" kern="1200" cap="none" normalizeH="0" baseline="0" dirty="0">
                          <a:ln>
                            <a:noFill/>
                          </a:ln>
                          <a:solidFill>
                            <a:srgbClr val="444444"/>
                          </a:solidFill>
                          <a:effectLst/>
                          <a:latin typeface="+mn-ea"/>
                          <a:ea typeface="+mn-ea"/>
                          <a:cs typeface="+mn-cs"/>
                        </a:rPr>
                        <a:t>조</a:t>
                      </a:r>
                      <a:r>
                        <a:rPr kumimoji="0" lang="en-US" altLang="ko-KR" sz="1000" b="0" i="0" u="none" strike="noStrike" kern="1200" cap="none" normalizeH="0" baseline="0" dirty="0">
                          <a:ln>
                            <a:noFill/>
                          </a:ln>
                          <a:solidFill>
                            <a:srgbClr val="444444"/>
                          </a:solidFill>
                          <a:effectLst/>
                          <a:latin typeface="+mn-ea"/>
                          <a:ea typeface="+mn-ea"/>
                          <a:cs typeface="+mn-cs"/>
                        </a:rPr>
                        <a:t>(</a:t>
                      </a:r>
                      <a:r>
                        <a:rPr kumimoji="0" lang="ko-KR" altLang="en-US" sz="1000" b="0" i="0" u="none" strike="noStrike" kern="1200" cap="none" normalizeH="0" baseline="0" dirty="0">
                          <a:ln>
                            <a:noFill/>
                          </a:ln>
                          <a:solidFill>
                            <a:srgbClr val="444444"/>
                          </a:solidFill>
                          <a:effectLst/>
                          <a:latin typeface="+mn-ea"/>
                          <a:ea typeface="+mn-ea"/>
                          <a:cs typeface="+mn-cs"/>
                        </a:rPr>
                        <a:t>적시제출주의</a:t>
                      </a:r>
                      <a:r>
                        <a:rPr kumimoji="0" lang="en-US" altLang="ko-KR" sz="1000" b="0" i="0" u="none" strike="noStrike" kern="1200" cap="none" normalizeH="0" baseline="0" dirty="0">
                          <a:ln>
                            <a:noFill/>
                          </a:ln>
                          <a:solidFill>
                            <a:srgbClr val="444444"/>
                          </a:solidFill>
                          <a:effectLst/>
                          <a:latin typeface="+mn-ea"/>
                          <a:ea typeface="+mn-ea"/>
                          <a:cs typeface="+mn-cs"/>
                        </a:rPr>
                        <a:t>) </a:t>
                      </a:r>
                      <a:endParaRPr kumimoji="0" lang="ko-KR" altLang="en-US" sz="1000" b="0" i="0" u="none" strike="noStrike" kern="1200" cap="none" normalizeH="0" baseline="0" dirty="0">
                        <a:ln>
                          <a:noFill/>
                        </a:ln>
                        <a:solidFill>
                          <a:srgbClr val="444444"/>
                        </a:solidFill>
                        <a:effectLst/>
                        <a:latin typeface="+mn-ea"/>
                        <a:ea typeface="+mn-ea"/>
                        <a:cs typeface="+mn-cs"/>
                      </a:endParaRPr>
                    </a:p>
                    <a:p>
                      <a:pPr marL="0" marR="0" indent="0" algn="just" fontAlgn="base" latinLnBrk="1">
                        <a:lnSpc>
                          <a:spcPct val="100000"/>
                        </a:lnSpc>
                        <a:spcBef>
                          <a:spcPts val="0"/>
                        </a:spcBef>
                        <a:spcAft>
                          <a:spcPts val="200"/>
                        </a:spcAft>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pPr>
                      <a:r>
                        <a:rPr kumimoji="0" lang="ko-KR" altLang="en-US" sz="1000" b="0" i="0" u="none" strike="noStrike" kern="1200" cap="none" normalizeH="0" baseline="0" dirty="0">
                          <a:ln>
                            <a:noFill/>
                          </a:ln>
                          <a:solidFill>
                            <a:srgbClr val="444444"/>
                          </a:solidFill>
                          <a:effectLst/>
                          <a:latin typeface="+mn-ea"/>
                          <a:ea typeface="+mn-ea"/>
                          <a:cs typeface="+mn-cs"/>
                        </a:rPr>
                        <a:t>공격 또는 방어의 방법은 소송의 정도에 따라 적절한 시기에 제출하여야 한다</a:t>
                      </a:r>
                      <a:r>
                        <a:rPr kumimoji="0" lang="en-US" altLang="ko-KR" sz="1000" b="0" i="0" u="none" strike="noStrike" kern="1200" cap="none" normalizeH="0" baseline="0" dirty="0">
                          <a:ln>
                            <a:noFill/>
                          </a:ln>
                          <a:solidFill>
                            <a:srgbClr val="444444"/>
                          </a:solidFill>
                          <a:effectLst/>
                          <a:latin typeface="+mn-ea"/>
                          <a:ea typeface="+mn-ea"/>
                          <a:cs typeface="+mn-cs"/>
                        </a:rPr>
                        <a:t>.</a:t>
                      </a:r>
                      <a:endParaRPr kumimoji="0" lang="ko-KR" altLang="en-US" sz="1000" b="0" i="0" u="none" strike="noStrike" kern="1200" cap="none" normalizeH="0" baseline="0" dirty="0">
                        <a:ln>
                          <a:noFill/>
                        </a:ln>
                        <a:solidFill>
                          <a:srgbClr val="444444"/>
                        </a:solidFill>
                        <a:effectLst/>
                        <a:latin typeface="+mn-ea"/>
                        <a:ea typeface="+mn-ea"/>
                        <a:cs typeface="+mn-cs"/>
                      </a:endParaRPr>
                    </a:p>
                    <a:p>
                      <a:pPr marL="0" marR="0" indent="0" algn="just" fontAlgn="base" latinLnBrk="1">
                        <a:lnSpc>
                          <a:spcPct val="100000"/>
                        </a:lnSpc>
                        <a:spcBef>
                          <a:spcPts val="0"/>
                        </a:spcBef>
                        <a:spcAft>
                          <a:spcPts val="200"/>
                        </a:spcAft>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pPr>
                      <a:r>
                        <a:rPr kumimoji="0" lang="ko-KR" altLang="en-US" sz="1000" b="0" i="0" u="none" strike="noStrike" kern="1200" cap="none" normalizeH="0" baseline="0" dirty="0">
                          <a:ln>
                            <a:noFill/>
                          </a:ln>
                          <a:solidFill>
                            <a:srgbClr val="444444"/>
                          </a:solidFill>
                          <a:effectLst/>
                          <a:latin typeface="+mn-ea"/>
                          <a:ea typeface="+mn-ea"/>
                          <a:cs typeface="+mn-cs"/>
                        </a:rPr>
                        <a:t>제</a:t>
                      </a:r>
                      <a:r>
                        <a:rPr kumimoji="0" lang="en-US" altLang="ko-KR" sz="1000" b="0" i="0" u="none" strike="noStrike" kern="1200" cap="none" normalizeH="0" baseline="0" dirty="0">
                          <a:ln>
                            <a:noFill/>
                          </a:ln>
                          <a:solidFill>
                            <a:srgbClr val="444444"/>
                          </a:solidFill>
                          <a:effectLst/>
                          <a:latin typeface="+mn-ea"/>
                          <a:ea typeface="+mn-ea"/>
                          <a:cs typeface="+mn-cs"/>
                        </a:rPr>
                        <a:t>147</a:t>
                      </a:r>
                      <a:r>
                        <a:rPr kumimoji="0" lang="ko-KR" altLang="en-US" sz="1000" b="0" i="0" u="none" strike="noStrike" kern="1200" cap="none" normalizeH="0" baseline="0" dirty="0">
                          <a:ln>
                            <a:noFill/>
                          </a:ln>
                          <a:solidFill>
                            <a:srgbClr val="444444"/>
                          </a:solidFill>
                          <a:effectLst/>
                          <a:latin typeface="+mn-ea"/>
                          <a:ea typeface="+mn-ea"/>
                          <a:cs typeface="+mn-cs"/>
                        </a:rPr>
                        <a:t>조</a:t>
                      </a:r>
                      <a:r>
                        <a:rPr kumimoji="0" lang="en-US" altLang="ko-KR" sz="1000" b="0" i="0" u="none" strike="noStrike" kern="1200" cap="none" normalizeH="0" baseline="0" dirty="0">
                          <a:ln>
                            <a:noFill/>
                          </a:ln>
                          <a:solidFill>
                            <a:srgbClr val="444444"/>
                          </a:solidFill>
                          <a:effectLst/>
                          <a:latin typeface="+mn-ea"/>
                          <a:ea typeface="+mn-ea"/>
                          <a:cs typeface="+mn-cs"/>
                        </a:rPr>
                        <a:t>(</a:t>
                      </a:r>
                      <a:r>
                        <a:rPr kumimoji="0" lang="ko-KR" altLang="en-US" sz="1000" b="0" i="0" u="none" strike="noStrike" kern="1200" cap="none" normalizeH="0" baseline="0" dirty="0">
                          <a:ln>
                            <a:noFill/>
                          </a:ln>
                          <a:solidFill>
                            <a:srgbClr val="444444"/>
                          </a:solidFill>
                          <a:effectLst/>
                          <a:latin typeface="+mn-ea"/>
                          <a:ea typeface="+mn-ea"/>
                          <a:cs typeface="+mn-cs"/>
                        </a:rPr>
                        <a:t>제출기간의 제한</a:t>
                      </a:r>
                      <a:r>
                        <a:rPr kumimoji="0" lang="en-US" altLang="ko-KR" sz="1000" b="0" i="0" u="none" strike="noStrike" kern="1200" cap="none" normalizeH="0" baseline="0" dirty="0">
                          <a:ln>
                            <a:noFill/>
                          </a:ln>
                          <a:solidFill>
                            <a:srgbClr val="444444"/>
                          </a:solidFill>
                          <a:effectLst/>
                          <a:latin typeface="+mn-ea"/>
                          <a:ea typeface="+mn-ea"/>
                          <a:cs typeface="+mn-cs"/>
                        </a:rPr>
                        <a:t>) </a:t>
                      </a:r>
                      <a:endParaRPr kumimoji="0" lang="ko-KR" altLang="en-US" sz="1000" b="0" i="0" u="none" strike="noStrike" kern="1200" cap="none" normalizeH="0" baseline="0" dirty="0">
                        <a:ln>
                          <a:noFill/>
                        </a:ln>
                        <a:solidFill>
                          <a:srgbClr val="444444"/>
                        </a:solidFill>
                        <a:effectLst/>
                        <a:latin typeface="+mn-ea"/>
                        <a:ea typeface="+mn-ea"/>
                        <a:cs typeface="+mn-cs"/>
                      </a:endParaRPr>
                    </a:p>
                    <a:p>
                      <a:pPr marL="148590" marR="0" indent="-148590" algn="just" fontAlgn="base" latinLnBrk="1">
                        <a:lnSpc>
                          <a:spcPct val="100000"/>
                        </a:lnSpc>
                        <a:spcBef>
                          <a:spcPts val="0"/>
                        </a:spcBef>
                        <a:spcAft>
                          <a:spcPts val="200"/>
                        </a:spcAft>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pPr>
                      <a:r>
                        <a:rPr kumimoji="0" lang="ko-KR" altLang="en-US" sz="1000" b="0" i="0" u="none" strike="noStrike" kern="1200" cap="none" normalizeH="0" baseline="0" dirty="0">
                          <a:ln>
                            <a:noFill/>
                          </a:ln>
                          <a:solidFill>
                            <a:srgbClr val="444444"/>
                          </a:solidFill>
                          <a:effectLst/>
                          <a:latin typeface="+mn-ea"/>
                          <a:ea typeface="+mn-ea"/>
                          <a:cs typeface="+mn-cs"/>
                        </a:rPr>
                        <a:t>① 재판장은 당사자의 의견을 들어 한 쪽 또는 양 쪽 당사자에 대하여 특정한 사항에 관하여 주장을 제출하거나 증거를 신청할 기간을 정할 수 있다</a:t>
                      </a:r>
                      <a:r>
                        <a:rPr kumimoji="0" lang="en-US" altLang="ko-KR" sz="1000" b="0" i="0" u="none" strike="noStrike" kern="1200" cap="none" normalizeH="0" baseline="0" dirty="0">
                          <a:ln>
                            <a:noFill/>
                          </a:ln>
                          <a:solidFill>
                            <a:srgbClr val="444444"/>
                          </a:solidFill>
                          <a:effectLst/>
                          <a:latin typeface="+mn-ea"/>
                          <a:ea typeface="+mn-ea"/>
                          <a:cs typeface="+mn-cs"/>
                        </a:rPr>
                        <a:t>.</a:t>
                      </a:r>
                      <a:endParaRPr kumimoji="0" lang="ko-KR" altLang="en-US" sz="1000" b="0" i="0" u="none" strike="noStrike" kern="1200" cap="none" normalizeH="0" baseline="0" dirty="0">
                        <a:ln>
                          <a:noFill/>
                        </a:ln>
                        <a:solidFill>
                          <a:srgbClr val="444444"/>
                        </a:solidFill>
                        <a:effectLst/>
                        <a:latin typeface="+mn-ea"/>
                        <a:ea typeface="+mn-ea"/>
                        <a:cs typeface="+mn-cs"/>
                      </a:endParaRPr>
                    </a:p>
                    <a:p>
                      <a:pPr marL="144780" marR="0" indent="-144780" algn="just" fontAlgn="base" latinLnBrk="1">
                        <a:lnSpc>
                          <a:spcPct val="100000"/>
                        </a:lnSpc>
                        <a:spcBef>
                          <a:spcPts val="0"/>
                        </a:spcBef>
                        <a:spcAft>
                          <a:spcPts val="200"/>
                        </a:spcAft>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pPr>
                      <a:r>
                        <a:rPr kumimoji="0" lang="ko-KR" altLang="en-US" sz="1000" b="0" i="0" u="none" strike="noStrike" kern="1200" cap="none" normalizeH="0" baseline="0" dirty="0">
                          <a:ln>
                            <a:noFill/>
                          </a:ln>
                          <a:solidFill>
                            <a:srgbClr val="444444"/>
                          </a:solidFill>
                          <a:effectLst/>
                          <a:latin typeface="+mn-ea"/>
                          <a:ea typeface="+mn-ea"/>
                          <a:cs typeface="+mn-cs"/>
                        </a:rPr>
                        <a:t>② 당사자가 제</a:t>
                      </a:r>
                      <a:r>
                        <a:rPr kumimoji="0" lang="en-US" altLang="ko-KR" sz="1000" b="0" i="0" u="none" strike="noStrike" kern="1200" cap="none" normalizeH="0" baseline="0" dirty="0">
                          <a:ln>
                            <a:noFill/>
                          </a:ln>
                          <a:solidFill>
                            <a:srgbClr val="444444"/>
                          </a:solidFill>
                          <a:effectLst/>
                          <a:latin typeface="+mn-ea"/>
                          <a:ea typeface="+mn-ea"/>
                          <a:cs typeface="+mn-cs"/>
                        </a:rPr>
                        <a:t>1</a:t>
                      </a:r>
                      <a:r>
                        <a:rPr kumimoji="0" lang="ko-KR" altLang="en-US" sz="1000" b="0" i="0" u="none" strike="noStrike" kern="1200" cap="none" normalizeH="0" baseline="0" dirty="0">
                          <a:ln>
                            <a:noFill/>
                          </a:ln>
                          <a:solidFill>
                            <a:srgbClr val="444444"/>
                          </a:solidFill>
                          <a:effectLst/>
                          <a:latin typeface="+mn-ea"/>
                          <a:ea typeface="+mn-ea"/>
                          <a:cs typeface="+mn-cs"/>
                        </a:rPr>
                        <a:t>항의 기간을 넘긴 때에는 주장을 제출하거나 증거를 신청할 수 없다</a:t>
                      </a:r>
                      <a:r>
                        <a:rPr kumimoji="0" lang="en-US" altLang="ko-KR" sz="1000" b="0" i="0" u="none" strike="noStrike" kern="1200" cap="none" normalizeH="0" baseline="0" dirty="0">
                          <a:ln>
                            <a:noFill/>
                          </a:ln>
                          <a:solidFill>
                            <a:srgbClr val="444444"/>
                          </a:solidFill>
                          <a:effectLst/>
                          <a:latin typeface="+mn-ea"/>
                          <a:ea typeface="+mn-ea"/>
                          <a:cs typeface="+mn-cs"/>
                        </a:rPr>
                        <a:t>. </a:t>
                      </a:r>
                      <a:r>
                        <a:rPr kumimoji="0" lang="ko-KR" altLang="en-US" sz="1000" b="0" i="0" u="none" strike="noStrike" kern="1200" cap="none" normalizeH="0" baseline="0" dirty="0">
                          <a:ln>
                            <a:noFill/>
                          </a:ln>
                          <a:solidFill>
                            <a:srgbClr val="444444"/>
                          </a:solidFill>
                          <a:effectLst/>
                          <a:latin typeface="+mn-ea"/>
                          <a:ea typeface="+mn-ea"/>
                          <a:cs typeface="+mn-cs"/>
                        </a:rPr>
                        <a:t>다만</a:t>
                      </a:r>
                      <a:r>
                        <a:rPr kumimoji="0" lang="en-US" altLang="ko-KR" sz="1000" b="0" i="0" u="none" strike="noStrike" kern="1200" cap="none" normalizeH="0" baseline="0" dirty="0">
                          <a:ln>
                            <a:noFill/>
                          </a:ln>
                          <a:solidFill>
                            <a:srgbClr val="444444"/>
                          </a:solidFill>
                          <a:effectLst/>
                          <a:latin typeface="+mn-ea"/>
                          <a:ea typeface="+mn-ea"/>
                          <a:cs typeface="+mn-cs"/>
                        </a:rPr>
                        <a:t>, </a:t>
                      </a:r>
                      <a:r>
                        <a:rPr kumimoji="0" lang="ko-KR" altLang="en-US" sz="1000" b="0" i="0" u="none" strike="noStrike" kern="1200" cap="none" normalizeH="0" baseline="0" dirty="0">
                          <a:ln>
                            <a:noFill/>
                          </a:ln>
                          <a:solidFill>
                            <a:srgbClr val="444444"/>
                          </a:solidFill>
                          <a:effectLst/>
                          <a:latin typeface="+mn-ea"/>
                          <a:ea typeface="+mn-ea"/>
                          <a:cs typeface="+mn-cs"/>
                        </a:rPr>
                        <a:t>당사자가 정당한 사유로 그 기간 이내에 제출 또는 신청하지 못하였다는 것을 소명한 경우에는 그러하지 아니하다</a:t>
                      </a:r>
                      <a:r>
                        <a:rPr kumimoji="0" lang="en-US" altLang="ko-KR" sz="1000" b="0" i="0" u="none" strike="noStrike" kern="1200" cap="none" normalizeH="0" baseline="0" dirty="0">
                          <a:ln>
                            <a:noFill/>
                          </a:ln>
                          <a:solidFill>
                            <a:srgbClr val="444444"/>
                          </a:solidFill>
                          <a:effectLst/>
                          <a:latin typeface="+mn-ea"/>
                          <a:ea typeface="+mn-ea"/>
                          <a:cs typeface="+mn-cs"/>
                        </a:rPr>
                        <a:t>.</a:t>
                      </a:r>
                      <a:endParaRPr kumimoji="0" lang="ko-KR" altLang="en-US" sz="1000" b="0" i="0" u="none" strike="noStrike" kern="1200" cap="none" normalizeH="0" baseline="0" dirty="0">
                        <a:ln>
                          <a:noFill/>
                        </a:ln>
                        <a:solidFill>
                          <a:srgbClr val="444444"/>
                        </a:solidFill>
                        <a:effectLst/>
                        <a:latin typeface="+mn-ea"/>
                        <a:ea typeface="+mn-ea"/>
                        <a:cs typeface="+mn-cs"/>
                      </a:endParaRPr>
                    </a:p>
                    <a:p>
                      <a:pPr marL="0" marR="0" indent="0" algn="just" fontAlgn="base" latinLnBrk="1">
                        <a:lnSpc>
                          <a:spcPct val="100000"/>
                        </a:lnSpc>
                        <a:spcBef>
                          <a:spcPts val="0"/>
                        </a:spcBef>
                        <a:spcAft>
                          <a:spcPts val="200"/>
                        </a:spcAft>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pPr>
                      <a:r>
                        <a:rPr kumimoji="0" lang="ko-KR" altLang="en-US" sz="1000" b="0" i="0" u="none" strike="noStrike" kern="1200" cap="none" normalizeH="0" baseline="0" dirty="0">
                          <a:ln>
                            <a:noFill/>
                          </a:ln>
                          <a:solidFill>
                            <a:srgbClr val="444444"/>
                          </a:solidFill>
                          <a:effectLst/>
                          <a:latin typeface="+mn-ea"/>
                          <a:ea typeface="+mn-ea"/>
                          <a:cs typeface="+mn-cs"/>
                        </a:rPr>
                        <a:t>제</a:t>
                      </a:r>
                      <a:r>
                        <a:rPr kumimoji="0" lang="en-US" altLang="ko-KR" sz="1000" b="0" i="0" u="none" strike="noStrike" kern="1200" cap="none" normalizeH="0" baseline="0" dirty="0">
                          <a:ln>
                            <a:noFill/>
                          </a:ln>
                          <a:solidFill>
                            <a:srgbClr val="444444"/>
                          </a:solidFill>
                          <a:effectLst/>
                          <a:latin typeface="+mn-ea"/>
                          <a:ea typeface="+mn-ea"/>
                          <a:cs typeface="+mn-cs"/>
                        </a:rPr>
                        <a:t>149</a:t>
                      </a:r>
                      <a:r>
                        <a:rPr kumimoji="0" lang="ko-KR" altLang="en-US" sz="1000" b="0" i="0" u="none" strike="noStrike" kern="1200" cap="none" normalizeH="0" baseline="0" dirty="0">
                          <a:ln>
                            <a:noFill/>
                          </a:ln>
                          <a:solidFill>
                            <a:srgbClr val="444444"/>
                          </a:solidFill>
                          <a:effectLst/>
                          <a:latin typeface="+mn-ea"/>
                          <a:ea typeface="+mn-ea"/>
                          <a:cs typeface="+mn-cs"/>
                        </a:rPr>
                        <a:t>조</a:t>
                      </a:r>
                      <a:r>
                        <a:rPr kumimoji="0" lang="en-US" altLang="ko-KR" sz="1000" b="0" i="0" u="none" strike="noStrike" kern="1200" cap="none" normalizeH="0" baseline="0" dirty="0">
                          <a:ln>
                            <a:noFill/>
                          </a:ln>
                          <a:solidFill>
                            <a:srgbClr val="444444"/>
                          </a:solidFill>
                          <a:effectLst/>
                          <a:latin typeface="+mn-ea"/>
                          <a:ea typeface="+mn-ea"/>
                          <a:cs typeface="+mn-cs"/>
                        </a:rPr>
                        <a:t>(</a:t>
                      </a:r>
                      <a:r>
                        <a:rPr kumimoji="0" lang="ko-KR" altLang="en-US" sz="1000" b="0" i="0" u="none" strike="noStrike" kern="1200" cap="none" normalizeH="0" baseline="0" dirty="0" err="1">
                          <a:ln>
                            <a:noFill/>
                          </a:ln>
                          <a:solidFill>
                            <a:srgbClr val="444444"/>
                          </a:solidFill>
                          <a:effectLst/>
                          <a:latin typeface="+mn-ea"/>
                          <a:ea typeface="+mn-ea"/>
                          <a:cs typeface="+mn-cs"/>
                        </a:rPr>
                        <a:t>실기한</a:t>
                      </a:r>
                      <a:r>
                        <a:rPr kumimoji="0" lang="ko-KR" altLang="en-US" sz="1000" b="0" i="0" u="none" strike="noStrike" kern="1200" cap="none" normalizeH="0" baseline="0" dirty="0">
                          <a:ln>
                            <a:noFill/>
                          </a:ln>
                          <a:solidFill>
                            <a:srgbClr val="444444"/>
                          </a:solidFill>
                          <a:effectLst/>
                          <a:latin typeface="+mn-ea"/>
                          <a:ea typeface="+mn-ea"/>
                          <a:cs typeface="+mn-cs"/>
                        </a:rPr>
                        <a:t> </a:t>
                      </a:r>
                      <a:r>
                        <a:rPr kumimoji="0" lang="ko-KR" altLang="en-US" sz="1000" b="0" i="0" u="none" strike="noStrike" kern="1200" cap="none" normalizeH="0" baseline="0" dirty="0" err="1">
                          <a:ln>
                            <a:noFill/>
                          </a:ln>
                          <a:solidFill>
                            <a:srgbClr val="444444"/>
                          </a:solidFill>
                          <a:effectLst/>
                          <a:latin typeface="+mn-ea"/>
                          <a:ea typeface="+mn-ea"/>
                          <a:cs typeface="+mn-cs"/>
                        </a:rPr>
                        <a:t>공격ㆍ방어방법의</a:t>
                      </a:r>
                      <a:r>
                        <a:rPr kumimoji="0" lang="ko-KR" altLang="en-US" sz="1000" b="0" i="0" u="none" strike="noStrike" kern="1200" cap="none" normalizeH="0" baseline="0" dirty="0">
                          <a:ln>
                            <a:noFill/>
                          </a:ln>
                          <a:solidFill>
                            <a:srgbClr val="444444"/>
                          </a:solidFill>
                          <a:effectLst/>
                          <a:latin typeface="+mn-ea"/>
                          <a:ea typeface="+mn-ea"/>
                          <a:cs typeface="+mn-cs"/>
                        </a:rPr>
                        <a:t> 각하</a:t>
                      </a:r>
                      <a:r>
                        <a:rPr kumimoji="0" lang="en-US" altLang="ko-KR" sz="1000" b="0" i="0" u="none" strike="noStrike" kern="1200" cap="none" normalizeH="0" baseline="0" dirty="0">
                          <a:ln>
                            <a:noFill/>
                          </a:ln>
                          <a:solidFill>
                            <a:srgbClr val="444444"/>
                          </a:solidFill>
                          <a:effectLst/>
                          <a:latin typeface="+mn-ea"/>
                          <a:ea typeface="+mn-ea"/>
                          <a:cs typeface="+mn-cs"/>
                        </a:rPr>
                        <a:t>) </a:t>
                      </a:r>
                      <a:endParaRPr kumimoji="0" lang="ko-KR" altLang="en-US" sz="1000" b="0" i="0" u="none" strike="noStrike" kern="1200" cap="none" normalizeH="0" baseline="0" dirty="0">
                        <a:ln>
                          <a:noFill/>
                        </a:ln>
                        <a:solidFill>
                          <a:srgbClr val="444444"/>
                        </a:solidFill>
                        <a:effectLst/>
                        <a:latin typeface="+mn-ea"/>
                        <a:ea typeface="+mn-ea"/>
                        <a:cs typeface="+mn-cs"/>
                      </a:endParaRPr>
                    </a:p>
                    <a:p>
                      <a:pPr marL="147320" marR="0" indent="-147320" algn="just" fontAlgn="base" latinLnBrk="1">
                        <a:lnSpc>
                          <a:spcPct val="100000"/>
                        </a:lnSpc>
                        <a:spcBef>
                          <a:spcPts val="0"/>
                        </a:spcBef>
                        <a:spcAft>
                          <a:spcPts val="200"/>
                        </a:spcAft>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pPr>
                      <a:r>
                        <a:rPr kumimoji="0" lang="ko-KR" altLang="en-US" sz="1000" b="0" i="0" u="none" strike="noStrike" kern="1200" cap="none" normalizeH="0" baseline="0" dirty="0">
                          <a:ln>
                            <a:noFill/>
                          </a:ln>
                          <a:solidFill>
                            <a:srgbClr val="444444"/>
                          </a:solidFill>
                          <a:effectLst/>
                          <a:latin typeface="+mn-ea"/>
                          <a:ea typeface="+mn-ea"/>
                          <a:cs typeface="+mn-cs"/>
                        </a:rPr>
                        <a:t>① 당사자가 제</a:t>
                      </a:r>
                      <a:r>
                        <a:rPr kumimoji="0" lang="en-US" altLang="ko-KR" sz="1000" b="0" i="0" u="none" strike="noStrike" kern="1200" cap="none" normalizeH="0" baseline="0" dirty="0">
                          <a:ln>
                            <a:noFill/>
                          </a:ln>
                          <a:solidFill>
                            <a:srgbClr val="444444"/>
                          </a:solidFill>
                          <a:effectLst/>
                          <a:latin typeface="+mn-ea"/>
                          <a:ea typeface="+mn-ea"/>
                          <a:cs typeface="+mn-cs"/>
                        </a:rPr>
                        <a:t>146</a:t>
                      </a:r>
                      <a:r>
                        <a:rPr kumimoji="0" lang="ko-KR" altLang="en-US" sz="1000" b="0" i="0" u="none" strike="noStrike" kern="1200" cap="none" normalizeH="0" baseline="0" dirty="0">
                          <a:ln>
                            <a:noFill/>
                          </a:ln>
                          <a:solidFill>
                            <a:srgbClr val="444444"/>
                          </a:solidFill>
                          <a:effectLst/>
                          <a:latin typeface="+mn-ea"/>
                          <a:ea typeface="+mn-ea"/>
                          <a:cs typeface="+mn-cs"/>
                        </a:rPr>
                        <a:t>조의 규정을 어기어 고의 또는 중대한 과실로 공격 또는 방어방법을 뒤늦게 제출함으로써 소송의 완결을 지연시키게 하는 것으로 인정할 때에는 법원은 직권으로 또는 상대방의 신청에 따라 결정으로 이를 각하할 수 있다</a:t>
                      </a:r>
                      <a:r>
                        <a:rPr kumimoji="0" lang="en-US" altLang="ko-KR" sz="1000" b="0" i="0" u="none" strike="noStrike" kern="1200" cap="none" normalizeH="0" baseline="0" dirty="0">
                          <a:ln>
                            <a:noFill/>
                          </a:ln>
                          <a:solidFill>
                            <a:srgbClr val="444444"/>
                          </a:solidFill>
                          <a:effectLst/>
                          <a:latin typeface="+mn-ea"/>
                          <a:ea typeface="+mn-ea"/>
                          <a:cs typeface="+mn-cs"/>
                        </a:rPr>
                        <a:t>.</a:t>
                      </a:r>
                      <a:endParaRPr kumimoji="0" lang="ko-KR" altLang="en-US" sz="1000" b="0" i="0" u="none" strike="noStrike" kern="1200" cap="none" normalizeH="0" baseline="0" dirty="0">
                        <a:ln>
                          <a:noFill/>
                        </a:ln>
                        <a:solidFill>
                          <a:srgbClr val="444444"/>
                        </a:solidFill>
                        <a:effectLst/>
                        <a:latin typeface="+mn-ea"/>
                        <a:ea typeface="+mn-ea"/>
                        <a:cs typeface="+mn-cs"/>
                      </a:endParaRPr>
                    </a:p>
                    <a:p>
                      <a:pPr marL="147320" marR="0" indent="-147320" algn="just" fontAlgn="base" latinLnBrk="1">
                        <a:lnSpc>
                          <a:spcPct val="100000"/>
                        </a:lnSpc>
                        <a:spcBef>
                          <a:spcPts val="0"/>
                        </a:spcBef>
                        <a:spcAft>
                          <a:spcPts val="200"/>
                        </a:spcAft>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pPr>
                      <a:r>
                        <a:rPr kumimoji="0" lang="ko-KR" altLang="en-US" sz="1000" b="0" i="0" u="none" strike="noStrike" kern="1200" cap="none" normalizeH="0" baseline="0" dirty="0">
                          <a:ln>
                            <a:noFill/>
                          </a:ln>
                          <a:solidFill>
                            <a:srgbClr val="444444"/>
                          </a:solidFill>
                          <a:effectLst/>
                          <a:latin typeface="+mn-ea"/>
                          <a:ea typeface="+mn-ea"/>
                          <a:cs typeface="+mn-cs"/>
                        </a:rPr>
                        <a:t>② 당사자가 제출한 공격 또는 방어방법의 취지가 분명하지 아니한 경우에</a:t>
                      </a:r>
                      <a:r>
                        <a:rPr kumimoji="0" lang="en-US" altLang="ko-KR" sz="1000" b="0" i="0" u="none" strike="noStrike" kern="1200" cap="none" normalizeH="0" baseline="0" dirty="0">
                          <a:ln>
                            <a:noFill/>
                          </a:ln>
                          <a:solidFill>
                            <a:srgbClr val="444444"/>
                          </a:solidFill>
                          <a:effectLst/>
                          <a:latin typeface="+mn-ea"/>
                          <a:ea typeface="+mn-ea"/>
                          <a:cs typeface="+mn-cs"/>
                        </a:rPr>
                        <a:t>, </a:t>
                      </a:r>
                      <a:r>
                        <a:rPr kumimoji="0" lang="ko-KR" altLang="en-US" sz="1000" b="0" i="0" u="none" strike="noStrike" kern="1200" cap="none" normalizeH="0" baseline="0" dirty="0">
                          <a:ln>
                            <a:noFill/>
                          </a:ln>
                          <a:solidFill>
                            <a:srgbClr val="444444"/>
                          </a:solidFill>
                          <a:effectLst/>
                          <a:latin typeface="+mn-ea"/>
                          <a:ea typeface="+mn-ea"/>
                          <a:cs typeface="+mn-cs"/>
                        </a:rPr>
                        <a:t>당사자가 필요한 설명을 하지 아니하거나 설명할 기일에 출석하지 아니한 때에는 법원은 직권으로 또는 상대방의 신청에 따라 결정으로 이를 각하할 수 있다</a:t>
                      </a:r>
                      <a:r>
                        <a:rPr kumimoji="0" lang="en-US" altLang="ko-KR" sz="1000" b="0" i="0" u="none" strike="noStrike" kern="1200" cap="none" normalizeH="0" baseline="0" dirty="0">
                          <a:ln>
                            <a:noFill/>
                          </a:ln>
                          <a:solidFill>
                            <a:srgbClr val="444444"/>
                          </a:solidFill>
                          <a:effectLst/>
                          <a:latin typeface="+mn-ea"/>
                          <a:ea typeface="+mn-ea"/>
                          <a:cs typeface="+mn-cs"/>
                        </a:rPr>
                        <a:t>.</a:t>
                      </a:r>
                      <a:endParaRPr kumimoji="0" lang="ko-KR" altLang="en-US" sz="1000" b="0" i="0" u="none" strike="noStrike" kern="1200" cap="none" normalizeH="0" baseline="0" dirty="0">
                        <a:ln>
                          <a:noFill/>
                        </a:ln>
                        <a:solidFill>
                          <a:srgbClr val="444444"/>
                        </a:solidFill>
                        <a:effectLst/>
                        <a:latin typeface="+mn-ea"/>
                        <a:ea typeface="+mn-ea"/>
                        <a:cs typeface="+mn-cs"/>
                      </a:endParaRPr>
                    </a:p>
                  </a:txBody>
                  <a:tcPr marL="64770" marR="64770" marT="17907" marB="17907"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tcPr>
                </a:tc>
                <a:tc hMerge="1">
                  <a:txBody>
                    <a:bodyPr/>
                    <a:lstStyle/>
                    <a:p>
                      <a:pPr latinLnBrk="1"/>
                      <a:endParaRPr lang="ko-KR" altLang="en-US"/>
                    </a:p>
                  </a:txBody>
                  <a:tcPr/>
                </a:tc>
                <a:extLst>
                  <a:ext uri="{0D108BD9-81ED-4DB2-BD59-A6C34878D82A}">
                    <a16:rowId xmlns:a16="http://schemas.microsoft.com/office/drawing/2014/main" val="2685720226"/>
                  </a:ext>
                </a:extLst>
              </a:tr>
            </a:tbl>
          </a:graphicData>
        </a:graphic>
      </p:graphicFrame>
    </p:spTree>
    <p:extLst>
      <p:ext uri="{BB962C8B-B14F-4D97-AF65-F5344CB8AC3E}">
        <p14:creationId xmlns:p14="http://schemas.microsoft.com/office/powerpoint/2010/main" val="804029816"/>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159</a:t>
            </a:r>
            <a:r>
              <a:rPr lang="ko-KR" altLang="en-US" dirty="0"/>
              <a:t>조</a:t>
            </a:r>
          </a:p>
        </p:txBody>
      </p:sp>
      <p:sp>
        <p:nvSpPr>
          <p:cNvPr id="3" name="텍스트 개체 틀 2"/>
          <p:cNvSpPr>
            <a:spLocks noGrp="1"/>
          </p:cNvSpPr>
          <p:nvPr>
            <p:ph type="body" sz="quarter" idx="13"/>
          </p:nvPr>
        </p:nvSpPr>
        <p:spPr/>
        <p:txBody>
          <a:bodyPr/>
          <a:lstStyle/>
          <a:p>
            <a:r>
              <a:rPr lang="ko-KR" altLang="en-US" dirty="0" err="1"/>
              <a:t>직권심리의</a:t>
            </a:r>
            <a:r>
              <a:rPr lang="ko-KR" altLang="en-US" dirty="0"/>
              <a:t> </a:t>
            </a:r>
            <a:r>
              <a:rPr lang="en-US" altLang="ko-KR" dirty="0"/>
              <a:t>CASE</a:t>
            </a:r>
            <a:endParaRPr lang="ko-KR" altLang="en-US" dirty="0"/>
          </a:p>
        </p:txBody>
      </p:sp>
      <p:cxnSp>
        <p:nvCxnSpPr>
          <p:cNvPr id="14" name="직선 연결선 13"/>
          <p:cNvCxnSpPr/>
          <p:nvPr/>
        </p:nvCxnSpPr>
        <p:spPr>
          <a:xfrm>
            <a:off x="77875" y="257502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77875" y="976902"/>
            <a:ext cx="11936323" cy="1600438"/>
          </a:xfrm>
          <a:prstGeom prst="rect">
            <a:avLst/>
          </a:prstGeom>
          <a:noFill/>
        </p:spPr>
        <p:txBody>
          <a:bodyPr wrap="square" rtlCol="0">
            <a:spAutoFit/>
          </a:bodyPr>
          <a:lstStyle/>
          <a:p>
            <a:pPr fontAlgn="base"/>
            <a:r>
              <a:rPr lang="ko-KR" altLang="en-US" sz="1400" dirty="0">
                <a:solidFill>
                  <a:schemeClr val="tx2"/>
                </a:solidFill>
              </a:rPr>
              <a:t>심판에서는 청구인이 신청하지 아니한 청구의 취지에 대해서는 심리할 수 없다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159②). </a:t>
            </a:r>
            <a:r>
              <a:rPr lang="ko-KR" altLang="en-US" sz="1400" dirty="0">
                <a:solidFill>
                  <a:schemeClr val="tx2"/>
                </a:solidFill>
              </a:rPr>
              <a:t>청구인이 신청하지 아니한 청구의 취지에 관하여 심리를 하는 것은 청구인의 의사에 반하여 청구의 취지를 변경하는 것으로서</a:t>
            </a:r>
            <a:r>
              <a:rPr lang="en-US" altLang="ko-KR" sz="1400" dirty="0">
                <a:solidFill>
                  <a:schemeClr val="tx2"/>
                </a:solidFill>
              </a:rPr>
              <a:t>, </a:t>
            </a:r>
            <a:r>
              <a:rPr lang="ko-KR" altLang="en-US" sz="1400" dirty="0">
                <a:solidFill>
                  <a:schemeClr val="tx2"/>
                </a:solidFill>
              </a:rPr>
              <a:t>민사소송법상의 처분권주의에 반하는 것이기 때문이다</a:t>
            </a:r>
            <a:r>
              <a:rPr lang="en-US" altLang="ko-KR" sz="1400" dirty="0">
                <a:solidFill>
                  <a:schemeClr val="tx2"/>
                </a:solidFill>
              </a:rPr>
              <a:t>. </a:t>
            </a:r>
            <a:r>
              <a:rPr lang="ko-KR" altLang="en-US" sz="1400" dirty="0">
                <a:solidFill>
                  <a:schemeClr val="tx2"/>
                </a:solidFill>
              </a:rPr>
              <a:t>예를 들어</a:t>
            </a:r>
            <a:r>
              <a:rPr lang="en-US" altLang="ko-KR" sz="1400" dirty="0">
                <a:solidFill>
                  <a:schemeClr val="tx2"/>
                </a:solidFill>
              </a:rPr>
              <a:t>, </a:t>
            </a:r>
            <a:r>
              <a:rPr lang="ko-KR" altLang="en-US" sz="1400" dirty="0">
                <a:highlight>
                  <a:srgbClr val="FFFF00"/>
                </a:highlight>
              </a:rPr>
              <a:t>소극적 </a:t>
            </a:r>
            <a:r>
              <a:rPr lang="ko-KR" altLang="en-US" sz="1400" dirty="0" err="1">
                <a:highlight>
                  <a:srgbClr val="FFFF00"/>
                </a:highlight>
              </a:rPr>
              <a:t>권리범위확인심판청구가</a:t>
            </a:r>
            <a:r>
              <a:rPr lang="ko-KR" altLang="en-US" sz="1400" dirty="0">
                <a:highlight>
                  <a:srgbClr val="FFFF00"/>
                </a:highlight>
              </a:rPr>
              <a:t> 이유가 없으면 그 청구를 배척함에 그쳐야 하고 나아가 적극적으로 그것이 권리범위에 속한다는 내용의 </a:t>
            </a:r>
            <a:r>
              <a:rPr lang="ko-KR" altLang="en-US" sz="1400" dirty="0" err="1">
                <a:highlight>
                  <a:srgbClr val="FFFF00"/>
                </a:highlight>
              </a:rPr>
              <a:t>심결을</a:t>
            </a:r>
            <a:r>
              <a:rPr lang="ko-KR" altLang="en-US" sz="1400" dirty="0">
                <a:highlight>
                  <a:srgbClr val="FFFF00"/>
                </a:highlight>
              </a:rPr>
              <a:t> 한 것은 위법이다</a:t>
            </a:r>
            <a:r>
              <a:rPr lang="en-US" altLang="ko-KR" sz="1400" dirty="0">
                <a:highlight>
                  <a:srgbClr val="FFFF00"/>
                </a:highlight>
              </a:rPr>
              <a:t>.</a:t>
            </a:r>
            <a:r>
              <a:rPr lang="en-US" altLang="ko-KR" sz="1400" dirty="0">
                <a:solidFill>
                  <a:schemeClr val="tx2"/>
                </a:solidFill>
              </a:rPr>
              <a:t> </a:t>
            </a:r>
            <a:r>
              <a:rPr lang="ko-KR" altLang="en-US" sz="1400" dirty="0">
                <a:solidFill>
                  <a:schemeClr val="tx2"/>
                </a:solidFill>
              </a:rPr>
              <a:t>또한</a:t>
            </a:r>
            <a:r>
              <a:rPr lang="en-US" altLang="ko-KR" sz="1400" dirty="0">
                <a:solidFill>
                  <a:schemeClr val="tx2"/>
                </a:solidFill>
              </a:rPr>
              <a:t>, </a:t>
            </a:r>
            <a:r>
              <a:rPr lang="ko-KR" altLang="en-US" sz="1400" dirty="0">
                <a:highlight>
                  <a:srgbClr val="FFFF00"/>
                </a:highlight>
              </a:rPr>
              <a:t>다항의 </a:t>
            </a:r>
            <a:r>
              <a:rPr lang="ko-KR" altLang="en-US" sz="1400" dirty="0" err="1">
                <a:highlight>
                  <a:srgbClr val="FFFF00"/>
                </a:highlight>
              </a:rPr>
              <a:t>청구항</a:t>
            </a:r>
            <a:r>
              <a:rPr lang="ko-KR" altLang="en-US" sz="1400" dirty="0">
                <a:highlight>
                  <a:srgbClr val="FFFF00"/>
                </a:highlight>
              </a:rPr>
              <a:t> 중 하나의 </a:t>
            </a:r>
            <a:r>
              <a:rPr lang="ko-KR" altLang="en-US" sz="1400" dirty="0" err="1">
                <a:highlight>
                  <a:srgbClr val="FFFF00"/>
                </a:highlight>
              </a:rPr>
              <a:t>청구항에</a:t>
            </a:r>
            <a:r>
              <a:rPr lang="ko-KR" altLang="en-US" sz="1400" dirty="0">
                <a:highlight>
                  <a:srgbClr val="FFFF00"/>
                </a:highlight>
              </a:rPr>
              <a:t> 대해서 특허무효심판이 청구된 경우 다른 </a:t>
            </a:r>
            <a:r>
              <a:rPr lang="ko-KR" altLang="en-US" sz="1400" dirty="0" err="1">
                <a:highlight>
                  <a:srgbClr val="FFFF00"/>
                </a:highlight>
              </a:rPr>
              <a:t>청구항에</a:t>
            </a:r>
            <a:r>
              <a:rPr lang="ko-KR" altLang="en-US" sz="1400" dirty="0">
                <a:highlight>
                  <a:srgbClr val="FFFF00"/>
                </a:highlight>
              </a:rPr>
              <a:t> 대해서 </a:t>
            </a:r>
            <a:r>
              <a:rPr lang="ko-KR" altLang="en-US" sz="1400" dirty="0" err="1">
                <a:highlight>
                  <a:srgbClr val="FFFF00"/>
                </a:highlight>
              </a:rPr>
              <a:t>특허무효의</a:t>
            </a:r>
            <a:r>
              <a:rPr lang="ko-KR" altLang="en-US" sz="1400" dirty="0">
                <a:highlight>
                  <a:srgbClr val="FFFF00"/>
                </a:highlight>
              </a:rPr>
              <a:t> 이유가 발견되었다고 하더라도 심판관이 이를 심리할 수는 없다</a:t>
            </a:r>
            <a:r>
              <a:rPr lang="en-US" altLang="ko-KR" sz="1400" dirty="0">
                <a:highlight>
                  <a:srgbClr val="FFFF00"/>
                </a:highlight>
              </a:rPr>
              <a:t>. </a:t>
            </a:r>
            <a:r>
              <a:rPr lang="ko-KR" altLang="en-US" sz="1400" dirty="0">
                <a:solidFill>
                  <a:schemeClr val="tx2"/>
                </a:solidFill>
              </a:rPr>
              <a:t>특허무효심판의 경우 </a:t>
            </a:r>
            <a:r>
              <a:rPr lang="ko-KR" altLang="en-US" sz="1400" dirty="0" err="1">
                <a:solidFill>
                  <a:schemeClr val="tx2"/>
                </a:solidFill>
              </a:rPr>
              <a:t>청구항을</a:t>
            </a:r>
            <a:r>
              <a:rPr lang="ko-KR" altLang="en-US" sz="1400" dirty="0">
                <a:solidFill>
                  <a:schemeClr val="tx2"/>
                </a:solidFill>
              </a:rPr>
              <a:t> 달리 하면 청구취지를 달리 하기 때문이다</a:t>
            </a:r>
            <a:r>
              <a:rPr lang="en-US" altLang="ko-KR" sz="1400" dirty="0">
                <a:solidFill>
                  <a:schemeClr val="tx2"/>
                </a:solidFill>
              </a:rPr>
              <a:t>. </a:t>
            </a:r>
            <a:r>
              <a:rPr lang="ko-KR" altLang="en-US" sz="1400" dirty="0">
                <a:solidFill>
                  <a:schemeClr val="tx2"/>
                </a:solidFill>
              </a:rPr>
              <a:t>이는 소송법이 강조하는 「訴 없으면 裁判없다」는 不告不理의 원칙과 일맥상통한다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t>
            </a:r>
            <a:r>
              <a:rPr lang="ko-KR" altLang="en-US" sz="1400" dirty="0" err="1">
                <a:solidFill>
                  <a:schemeClr val="tx2"/>
                </a:solidFill>
              </a:rPr>
              <a:t>정정심판을</a:t>
            </a:r>
            <a:r>
              <a:rPr lang="ko-KR" altLang="en-US" sz="1400" dirty="0">
                <a:solidFill>
                  <a:schemeClr val="tx2"/>
                </a:solidFill>
              </a:rPr>
              <a:t> 청구한 것은 일체불가분의 </a:t>
            </a:r>
            <a:r>
              <a:rPr lang="en-US" altLang="ko-KR" sz="1400" dirty="0">
                <a:solidFill>
                  <a:schemeClr val="tx2"/>
                </a:solidFill>
              </a:rPr>
              <a:t>1</a:t>
            </a:r>
            <a:r>
              <a:rPr lang="ko-KR" altLang="en-US" sz="1400" dirty="0">
                <a:solidFill>
                  <a:schemeClr val="tx2"/>
                </a:solidFill>
              </a:rPr>
              <a:t>개의 정정사항으로 하여 </a:t>
            </a:r>
            <a:r>
              <a:rPr lang="ko-KR" altLang="en-US" sz="1400" dirty="0" err="1">
                <a:solidFill>
                  <a:schemeClr val="tx2"/>
                </a:solidFill>
              </a:rPr>
              <a:t>정정심판을</a:t>
            </a:r>
            <a:r>
              <a:rPr lang="ko-KR" altLang="en-US" sz="1400" dirty="0">
                <a:solidFill>
                  <a:schemeClr val="tx2"/>
                </a:solidFill>
              </a:rPr>
              <a:t> 청구한 것으로 본다</a:t>
            </a:r>
            <a:r>
              <a:rPr lang="en-US" altLang="ko-KR" sz="1400" dirty="0">
                <a:solidFill>
                  <a:schemeClr val="tx2"/>
                </a:solidFill>
              </a:rPr>
              <a:t>. </a:t>
            </a:r>
            <a:r>
              <a:rPr lang="ko-KR" altLang="en-US" sz="1400" dirty="0">
                <a:solidFill>
                  <a:schemeClr val="tx2"/>
                </a:solidFill>
              </a:rPr>
              <a:t>그러므로 </a:t>
            </a:r>
            <a:r>
              <a:rPr lang="ko-KR" altLang="en-US" sz="1400" dirty="0">
                <a:highlight>
                  <a:srgbClr val="FFFF00"/>
                </a:highlight>
              </a:rPr>
              <a:t>명세서의 일부에 대하여 정정을 인정 또는 </a:t>
            </a:r>
            <a:r>
              <a:rPr lang="ko-KR" altLang="en-US" sz="1400" dirty="0" err="1">
                <a:highlight>
                  <a:srgbClr val="FFFF00"/>
                </a:highlight>
              </a:rPr>
              <a:t>불인정하는</a:t>
            </a:r>
            <a:r>
              <a:rPr lang="ko-KR" altLang="en-US" sz="1400" dirty="0">
                <a:highlight>
                  <a:srgbClr val="FFFF00"/>
                </a:highlight>
              </a:rPr>
              <a:t> 것은 결국 </a:t>
            </a:r>
            <a:r>
              <a:rPr lang="en-US" altLang="ko-KR" sz="1400" dirty="0">
                <a:highlight>
                  <a:srgbClr val="FFFF00"/>
                </a:highlight>
              </a:rPr>
              <a:t>1</a:t>
            </a:r>
            <a:r>
              <a:rPr lang="ko-KR" altLang="en-US" sz="1400" dirty="0">
                <a:highlight>
                  <a:srgbClr val="FFFF00"/>
                </a:highlight>
              </a:rPr>
              <a:t>개의 기술적 사상인 발명을 분리하여 판단하는 것이 되며</a:t>
            </a:r>
            <a:r>
              <a:rPr lang="en-US" altLang="ko-KR" sz="1400" dirty="0">
                <a:highlight>
                  <a:srgbClr val="FFFF00"/>
                </a:highlight>
              </a:rPr>
              <a:t>, </a:t>
            </a:r>
            <a:r>
              <a:rPr lang="ko-KR" altLang="en-US" sz="1400" dirty="0">
                <a:highlight>
                  <a:srgbClr val="FFFF00"/>
                </a:highlight>
              </a:rPr>
              <a:t>청구인이 신청하지 아니한 취지에 대하여 심리하는 것이 되므로 </a:t>
            </a:r>
            <a:r>
              <a:rPr lang="ko-KR" altLang="en-US" sz="1400" dirty="0" err="1">
                <a:highlight>
                  <a:srgbClr val="FFFF00"/>
                </a:highlight>
              </a:rPr>
              <a:t>일부인용</a:t>
            </a:r>
            <a:r>
              <a:rPr lang="ko-KR" altLang="en-US" sz="1400" dirty="0">
                <a:highlight>
                  <a:srgbClr val="FFFF00"/>
                </a:highlight>
              </a:rPr>
              <a:t> 또는 일부기각심결은 인정되지 아니한다고 할 것이다</a:t>
            </a:r>
            <a:r>
              <a:rPr lang="en-US" altLang="ko-KR" sz="1400" dirty="0">
                <a:highlight>
                  <a:srgbClr val="FFFF00"/>
                </a:highlight>
              </a:rPr>
              <a:t>.</a:t>
            </a:r>
          </a:p>
        </p:txBody>
      </p:sp>
      <p:sp>
        <p:nvSpPr>
          <p:cNvPr id="5" name="TextBox 4"/>
          <p:cNvSpPr txBox="1"/>
          <p:nvPr/>
        </p:nvSpPr>
        <p:spPr>
          <a:xfrm>
            <a:off x="301658" y="3351156"/>
            <a:ext cx="4007828" cy="3000821"/>
          </a:xfrm>
          <a:prstGeom prst="rect">
            <a:avLst/>
          </a:prstGeom>
          <a:noFill/>
          <a:ln>
            <a:solidFill>
              <a:schemeClr val="bg1">
                <a:lumMod val="50000"/>
              </a:schemeClr>
            </a:solidFill>
          </a:ln>
        </p:spPr>
        <p:txBody>
          <a:bodyPr wrap="none" rtlCol="0" anchor="ctr">
            <a:spAutoFit/>
          </a:bodyPr>
          <a:lstStyle/>
          <a:p>
            <a:pPr marL="285750" indent="-285750">
              <a:lnSpc>
                <a:spcPct val="150000"/>
              </a:lnSpc>
              <a:buFontTx/>
              <a:buChar char="-"/>
            </a:pPr>
            <a:r>
              <a:rPr lang="ko-KR" altLang="en-US" sz="1400" dirty="0"/>
              <a:t>청구인 성명 및 주소</a:t>
            </a:r>
            <a:endParaRPr lang="en-US" altLang="ko-KR" sz="1400" dirty="0"/>
          </a:p>
          <a:p>
            <a:pPr marL="285750" indent="-285750">
              <a:lnSpc>
                <a:spcPct val="150000"/>
              </a:lnSpc>
              <a:buFontTx/>
              <a:buChar char="-"/>
            </a:pPr>
            <a:r>
              <a:rPr lang="ko-KR" altLang="en-US" sz="1400" dirty="0"/>
              <a:t>피청구인 성명 및 주소</a:t>
            </a:r>
            <a:endParaRPr lang="en-US" altLang="ko-KR" sz="1400" dirty="0"/>
          </a:p>
          <a:p>
            <a:pPr marL="285750" indent="-285750">
              <a:lnSpc>
                <a:spcPct val="150000"/>
              </a:lnSpc>
              <a:buFontTx/>
              <a:buChar char="-"/>
            </a:pPr>
            <a:r>
              <a:rPr lang="ko-KR" altLang="en-US" sz="1400" dirty="0" err="1"/>
              <a:t>심판사건의</a:t>
            </a:r>
            <a:r>
              <a:rPr lang="ko-KR" altLang="en-US" sz="1400" dirty="0"/>
              <a:t> 표시</a:t>
            </a:r>
            <a:r>
              <a:rPr lang="en-US" altLang="ko-KR" sz="1400" dirty="0"/>
              <a:t>: </a:t>
            </a:r>
            <a:r>
              <a:rPr lang="ko-KR" altLang="en-US" sz="1400" dirty="0"/>
              <a:t>특허 제</a:t>
            </a:r>
            <a:r>
              <a:rPr lang="en-US" altLang="ko-KR" sz="1400" dirty="0"/>
              <a:t>1234567</a:t>
            </a:r>
            <a:r>
              <a:rPr lang="ko-KR" altLang="en-US" sz="1400" dirty="0"/>
              <a:t>호의 무효심판</a:t>
            </a:r>
            <a:endParaRPr lang="en-US" altLang="ko-KR" sz="1400" dirty="0"/>
          </a:p>
          <a:p>
            <a:pPr marL="285750" indent="-285750">
              <a:lnSpc>
                <a:spcPct val="150000"/>
              </a:lnSpc>
              <a:buFontTx/>
              <a:buChar char="-"/>
            </a:pPr>
            <a:r>
              <a:rPr lang="ko-KR" altLang="en-US" sz="1400" dirty="0"/>
              <a:t>청구의 취지</a:t>
            </a:r>
            <a:r>
              <a:rPr lang="en-US" altLang="ko-KR" sz="1400" dirty="0"/>
              <a:t>: </a:t>
            </a:r>
          </a:p>
          <a:p>
            <a:pPr>
              <a:lnSpc>
                <a:spcPct val="150000"/>
              </a:lnSpc>
            </a:pPr>
            <a:r>
              <a:rPr lang="en-US" altLang="ko-KR" sz="1400" dirty="0"/>
              <a:t>      - </a:t>
            </a:r>
            <a:r>
              <a:rPr lang="ko-KR" altLang="en-US" sz="1400" dirty="0"/>
              <a:t>제</a:t>
            </a:r>
            <a:r>
              <a:rPr lang="en-US" altLang="ko-KR" sz="1400" dirty="0"/>
              <a:t>1</a:t>
            </a:r>
            <a:r>
              <a:rPr lang="ko-KR" altLang="en-US" sz="1400" dirty="0"/>
              <a:t>항 내지 제</a:t>
            </a:r>
            <a:r>
              <a:rPr lang="en-US" altLang="ko-KR" sz="1400" dirty="0"/>
              <a:t>3</a:t>
            </a:r>
            <a:r>
              <a:rPr lang="ko-KR" altLang="en-US" sz="1400" dirty="0"/>
              <a:t>항은 무효이다</a:t>
            </a:r>
            <a:r>
              <a:rPr lang="en-US" altLang="ko-KR" sz="1400" dirty="0"/>
              <a:t>.</a:t>
            </a:r>
          </a:p>
          <a:p>
            <a:pPr>
              <a:lnSpc>
                <a:spcPct val="150000"/>
              </a:lnSpc>
            </a:pPr>
            <a:r>
              <a:rPr lang="en-US" altLang="ko-KR" sz="1400" dirty="0"/>
              <a:t>      - </a:t>
            </a:r>
            <a:r>
              <a:rPr lang="ko-KR" altLang="en-US" sz="1400" dirty="0" err="1"/>
              <a:t>심판비용은</a:t>
            </a:r>
            <a:r>
              <a:rPr lang="ko-KR" altLang="en-US" sz="1400" dirty="0"/>
              <a:t> 피청구인이 부담한다</a:t>
            </a:r>
            <a:r>
              <a:rPr lang="en-US" altLang="ko-KR" sz="1400" dirty="0"/>
              <a:t>.</a:t>
            </a:r>
          </a:p>
          <a:p>
            <a:pPr marL="285750" indent="-285750">
              <a:lnSpc>
                <a:spcPct val="150000"/>
              </a:lnSpc>
              <a:buFontTx/>
              <a:buChar char="-"/>
            </a:pPr>
            <a:r>
              <a:rPr lang="ko-KR" altLang="en-US" sz="1400" dirty="0"/>
              <a:t>청구의 이유</a:t>
            </a:r>
            <a:endParaRPr lang="en-US" altLang="ko-KR" sz="1400" dirty="0"/>
          </a:p>
          <a:p>
            <a:pPr>
              <a:lnSpc>
                <a:spcPct val="150000"/>
              </a:lnSpc>
            </a:pPr>
            <a:r>
              <a:rPr lang="en-US" altLang="ko-KR" sz="1400" dirty="0"/>
              <a:t>      - </a:t>
            </a:r>
            <a:r>
              <a:rPr lang="ko-KR" altLang="en-US" sz="1400" dirty="0"/>
              <a:t>제</a:t>
            </a:r>
            <a:r>
              <a:rPr lang="en-US" altLang="ko-KR" sz="1400" dirty="0"/>
              <a:t>1</a:t>
            </a:r>
            <a:r>
              <a:rPr lang="ko-KR" altLang="en-US" sz="1400" dirty="0"/>
              <a:t>항</a:t>
            </a:r>
            <a:r>
              <a:rPr lang="en-US" altLang="ko-KR" sz="1400" dirty="0"/>
              <a:t>: </a:t>
            </a:r>
            <a:r>
              <a:rPr lang="ko-KR" altLang="en-US" sz="1400" dirty="0"/>
              <a:t>제</a:t>
            </a:r>
            <a:r>
              <a:rPr lang="en-US" altLang="ko-KR" sz="1400" dirty="0"/>
              <a:t>42</a:t>
            </a:r>
            <a:r>
              <a:rPr lang="ko-KR" altLang="en-US" sz="1400" dirty="0"/>
              <a:t>조제</a:t>
            </a:r>
            <a:r>
              <a:rPr lang="en-US" altLang="ko-KR" sz="1400" dirty="0"/>
              <a:t>4</a:t>
            </a:r>
            <a:r>
              <a:rPr lang="ko-KR" altLang="en-US" sz="1400" dirty="0" err="1"/>
              <a:t>항제</a:t>
            </a:r>
            <a:r>
              <a:rPr lang="en-US" altLang="ko-KR" sz="1400" dirty="0"/>
              <a:t>2</a:t>
            </a:r>
            <a:r>
              <a:rPr lang="ko-KR" altLang="en-US" sz="1400" dirty="0"/>
              <a:t>호 위반</a:t>
            </a:r>
            <a:endParaRPr lang="en-US" altLang="ko-KR" sz="1400" dirty="0"/>
          </a:p>
          <a:p>
            <a:pPr>
              <a:lnSpc>
                <a:spcPct val="150000"/>
              </a:lnSpc>
            </a:pPr>
            <a:r>
              <a:rPr lang="en-US" altLang="ko-KR" sz="1400" dirty="0"/>
              <a:t>      - </a:t>
            </a:r>
            <a:r>
              <a:rPr lang="ko-KR" altLang="en-US" sz="1400" dirty="0"/>
              <a:t>제</a:t>
            </a:r>
            <a:r>
              <a:rPr lang="en-US" altLang="ko-KR" sz="1400" dirty="0"/>
              <a:t>2</a:t>
            </a:r>
            <a:r>
              <a:rPr lang="ko-KR" altLang="en-US" sz="1400" dirty="0"/>
              <a:t>항 및 제</a:t>
            </a:r>
            <a:r>
              <a:rPr lang="en-US" altLang="ko-KR" sz="1400" dirty="0"/>
              <a:t>3</a:t>
            </a:r>
            <a:r>
              <a:rPr lang="ko-KR" altLang="en-US" sz="1400" dirty="0"/>
              <a:t>항</a:t>
            </a:r>
            <a:r>
              <a:rPr lang="en-US" altLang="ko-KR" sz="1400" dirty="0"/>
              <a:t>: </a:t>
            </a:r>
            <a:r>
              <a:rPr lang="ko-KR" altLang="en-US" sz="1400" dirty="0"/>
              <a:t>제</a:t>
            </a:r>
            <a:r>
              <a:rPr lang="en-US" altLang="ko-KR" sz="1400" dirty="0"/>
              <a:t>29</a:t>
            </a:r>
            <a:r>
              <a:rPr lang="ko-KR" altLang="en-US" sz="1400" dirty="0"/>
              <a:t>조제</a:t>
            </a:r>
            <a:r>
              <a:rPr lang="en-US" altLang="ko-KR" sz="1400" dirty="0"/>
              <a:t>1</a:t>
            </a:r>
            <a:r>
              <a:rPr lang="ko-KR" altLang="en-US" sz="1400" dirty="0"/>
              <a:t>항 위반</a:t>
            </a:r>
          </a:p>
        </p:txBody>
      </p:sp>
      <p:sp>
        <p:nvSpPr>
          <p:cNvPr id="6" name="직사각형 5"/>
          <p:cNvSpPr/>
          <p:nvPr/>
        </p:nvSpPr>
        <p:spPr>
          <a:xfrm>
            <a:off x="301658" y="3026004"/>
            <a:ext cx="2003914" cy="325152"/>
          </a:xfrm>
          <a:prstGeom prst="rect">
            <a:avLst/>
          </a:prstGeom>
          <a:solidFill>
            <a:schemeClr val="accent3">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err="1"/>
              <a:t>심판청구서</a:t>
            </a:r>
            <a:endParaRPr lang="ko-KR" altLang="en-US" dirty="0"/>
          </a:p>
        </p:txBody>
      </p:sp>
      <p:sp>
        <p:nvSpPr>
          <p:cNvPr id="7" name="오른쪽 화살표 6"/>
          <p:cNvSpPr/>
          <p:nvPr/>
        </p:nvSpPr>
        <p:spPr>
          <a:xfrm>
            <a:off x="4838411" y="3657599"/>
            <a:ext cx="1053341" cy="2215299"/>
          </a:xfrm>
          <a:prstGeom prst="rightArrow">
            <a:avLst>
              <a:gd name="adj1" fmla="val 67872"/>
              <a:gd name="adj2" fmla="val 50000"/>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직권</a:t>
            </a:r>
            <a:endParaRPr lang="en-US" altLang="ko-KR" dirty="0">
              <a:solidFill>
                <a:schemeClr val="tx1"/>
              </a:solidFill>
            </a:endParaRPr>
          </a:p>
          <a:p>
            <a:pPr algn="ctr"/>
            <a:r>
              <a:rPr lang="ko-KR" altLang="en-US" dirty="0">
                <a:solidFill>
                  <a:schemeClr val="tx1"/>
                </a:solidFill>
              </a:rPr>
              <a:t>심리</a:t>
            </a:r>
          </a:p>
        </p:txBody>
      </p:sp>
      <p:sp>
        <p:nvSpPr>
          <p:cNvPr id="8" name="TextBox 7"/>
          <p:cNvSpPr txBox="1"/>
          <p:nvPr/>
        </p:nvSpPr>
        <p:spPr>
          <a:xfrm>
            <a:off x="6655324" y="4015818"/>
            <a:ext cx="3182281" cy="369332"/>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pPr algn="ctr"/>
            <a:r>
              <a:rPr lang="ko-KR" altLang="en-US" dirty="0"/>
              <a:t>제</a:t>
            </a:r>
            <a:r>
              <a:rPr lang="en-US" altLang="ko-KR" dirty="0"/>
              <a:t>1</a:t>
            </a:r>
            <a:r>
              <a:rPr lang="ko-KR" altLang="en-US" dirty="0"/>
              <a:t>항이 제</a:t>
            </a:r>
            <a:r>
              <a:rPr lang="en-US" altLang="ko-KR" dirty="0"/>
              <a:t>42</a:t>
            </a:r>
            <a:r>
              <a:rPr lang="ko-KR" altLang="en-US" dirty="0"/>
              <a:t>조제</a:t>
            </a:r>
            <a:r>
              <a:rPr lang="en-US" altLang="ko-KR" dirty="0"/>
              <a:t>8</a:t>
            </a:r>
            <a:r>
              <a:rPr lang="ko-KR" altLang="en-US" dirty="0"/>
              <a:t>항 위반이다</a:t>
            </a:r>
            <a:r>
              <a:rPr lang="en-US" altLang="ko-KR" dirty="0"/>
              <a:t>.</a:t>
            </a:r>
          </a:p>
        </p:txBody>
      </p:sp>
      <p:sp>
        <p:nvSpPr>
          <p:cNvPr id="20" name="TextBox 19"/>
          <p:cNvSpPr txBox="1"/>
          <p:nvPr/>
        </p:nvSpPr>
        <p:spPr>
          <a:xfrm>
            <a:off x="6655324" y="4572946"/>
            <a:ext cx="3182281" cy="369332"/>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pPr algn="ctr"/>
            <a:r>
              <a:rPr lang="ko-KR" altLang="en-US" dirty="0"/>
              <a:t>제</a:t>
            </a:r>
            <a:r>
              <a:rPr lang="en-US" altLang="ko-KR" dirty="0"/>
              <a:t>2</a:t>
            </a:r>
            <a:r>
              <a:rPr lang="ko-KR" altLang="en-US" dirty="0"/>
              <a:t>항이 제</a:t>
            </a:r>
            <a:r>
              <a:rPr lang="en-US" altLang="ko-KR" dirty="0"/>
              <a:t>29</a:t>
            </a:r>
            <a:r>
              <a:rPr lang="ko-KR" altLang="en-US" dirty="0"/>
              <a:t>조제</a:t>
            </a:r>
            <a:r>
              <a:rPr lang="en-US" altLang="ko-KR" dirty="0"/>
              <a:t>2</a:t>
            </a:r>
            <a:r>
              <a:rPr lang="ko-KR" altLang="en-US" dirty="0"/>
              <a:t>항 위반이다</a:t>
            </a:r>
            <a:r>
              <a:rPr lang="en-US" altLang="ko-KR" dirty="0"/>
              <a:t>.</a:t>
            </a:r>
          </a:p>
        </p:txBody>
      </p:sp>
      <p:sp>
        <p:nvSpPr>
          <p:cNvPr id="21" name="TextBox 20"/>
          <p:cNvSpPr txBox="1"/>
          <p:nvPr/>
        </p:nvSpPr>
        <p:spPr>
          <a:xfrm>
            <a:off x="6655324" y="5158353"/>
            <a:ext cx="3182282" cy="369332"/>
          </a:xfrm>
          <a:prstGeom prst="rect">
            <a:avLst/>
          </a:prstGeom>
          <a:solidFill>
            <a:schemeClr val="accent4">
              <a:lumMod val="20000"/>
              <a:lumOff val="80000"/>
            </a:schemeClr>
          </a:solidFill>
          <a:ln>
            <a:solidFill>
              <a:schemeClr val="bg1">
                <a:lumMod val="50000"/>
              </a:schemeClr>
            </a:solidFill>
          </a:ln>
        </p:spPr>
        <p:txBody>
          <a:bodyPr wrap="none" rtlCol="0">
            <a:spAutoFit/>
          </a:bodyPr>
          <a:lstStyle/>
          <a:p>
            <a:pPr algn="ctr"/>
            <a:r>
              <a:rPr lang="ko-KR" altLang="en-US" dirty="0"/>
              <a:t>제</a:t>
            </a:r>
            <a:r>
              <a:rPr lang="en-US" altLang="ko-KR" dirty="0"/>
              <a:t>4</a:t>
            </a:r>
            <a:r>
              <a:rPr lang="ko-KR" altLang="en-US" dirty="0"/>
              <a:t>항이 제</a:t>
            </a:r>
            <a:r>
              <a:rPr lang="en-US" altLang="ko-KR" dirty="0"/>
              <a:t>29</a:t>
            </a:r>
            <a:r>
              <a:rPr lang="ko-KR" altLang="en-US" dirty="0"/>
              <a:t>조제</a:t>
            </a:r>
            <a:r>
              <a:rPr lang="en-US" altLang="ko-KR" dirty="0"/>
              <a:t>2</a:t>
            </a:r>
            <a:r>
              <a:rPr lang="ko-KR" altLang="en-US" dirty="0"/>
              <a:t>항 위반이다</a:t>
            </a:r>
            <a:r>
              <a:rPr lang="en-US" altLang="ko-KR" dirty="0"/>
              <a:t>.</a:t>
            </a:r>
          </a:p>
        </p:txBody>
      </p:sp>
      <p:sp>
        <p:nvSpPr>
          <p:cNvPr id="22" name="도넛 21"/>
          <p:cNvSpPr/>
          <p:nvPr/>
        </p:nvSpPr>
        <p:spPr>
          <a:xfrm>
            <a:off x="9762043" y="4590622"/>
            <a:ext cx="368116" cy="351656"/>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26" name="곱셈 기호 25"/>
          <p:cNvSpPr/>
          <p:nvPr/>
        </p:nvSpPr>
        <p:spPr>
          <a:xfrm>
            <a:off x="9640757" y="3906434"/>
            <a:ext cx="573921" cy="602794"/>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7" name="곱셈 기호 26"/>
          <p:cNvSpPr/>
          <p:nvPr/>
        </p:nvSpPr>
        <p:spPr>
          <a:xfrm>
            <a:off x="9640757" y="5041622"/>
            <a:ext cx="573921" cy="602794"/>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모서리가 둥근 사각형 설명선 8"/>
          <p:cNvSpPr/>
          <p:nvPr/>
        </p:nvSpPr>
        <p:spPr>
          <a:xfrm>
            <a:off x="9287863" y="3357446"/>
            <a:ext cx="2247236" cy="376316"/>
          </a:xfrm>
          <a:prstGeom prst="wedgeRoundRectCallout">
            <a:avLst>
              <a:gd name="adj1" fmla="val -21387"/>
              <a:gd name="adj2" fmla="val 105357"/>
              <a:gd name="adj3" fmla="val 16667"/>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solidFill>
                  <a:schemeClr val="tx1"/>
                </a:solidFill>
              </a:rPr>
              <a:t>특허무효사유 제외</a:t>
            </a:r>
          </a:p>
        </p:txBody>
      </p:sp>
      <p:sp>
        <p:nvSpPr>
          <p:cNvPr id="28" name="모서리가 둥근 사각형 설명선 27"/>
          <p:cNvSpPr/>
          <p:nvPr/>
        </p:nvSpPr>
        <p:spPr>
          <a:xfrm>
            <a:off x="7514807" y="5947706"/>
            <a:ext cx="2247236" cy="376316"/>
          </a:xfrm>
          <a:prstGeom prst="wedgeRoundRectCallout">
            <a:avLst>
              <a:gd name="adj1" fmla="val 50764"/>
              <a:gd name="adj2" fmla="val -145146"/>
              <a:gd name="adj3" fmla="val 16667"/>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1"/>
                </a:solidFill>
              </a:rPr>
              <a:t>신청하지 아니한 취지</a:t>
            </a:r>
          </a:p>
        </p:txBody>
      </p:sp>
    </p:spTree>
    <p:extLst>
      <p:ext uri="{BB962C8B-B14F-4D97-AF65-F5344CB8AC3E}">
        <p14:creationId xmlns:p14="http://schemas.microsoft.com/office/powerpoint/2010/main" val="3989618561"/>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D76711-FC5E-0265-01C8-5FEB1472C224}"/>
            </a:ext>
          </a:extLst>
        </p:cNvPr>
        <p:cNvGrpSpPr/>
        <p:nvPr/>
      </p:nvGrpSpPr>
      <p:grpSpPr>
        <a:xfrm>
          <a:off x="0" y="0"/>
          <a:ext cx="0" cy="0"/>
          <a:chOff x="0" y="0"/>
          <a:chExt cx="0" cy="0"/>
        </a:xfrm>
      </p:grpSpPr>
      <p:cxnSp>
        <p:nvCxnSpPr>
          <p:cNvPr id="5" name="직선 연결선 4">
            <a:extLst>
              <a:ext uri="{FF2B5EF4-FFF2-40B4-BE49-F238E27FC236}">
                <a16:creationId xmlns:a16="http://schemas.microsoft.com/office/drawing/2014/main" id="{6B3B6E78-6751-81DD-E6F0-873FC2B8CC90}"/>
              </a:ext>
            </a:extLst>
          </p:cNvPr>
          <p:cNvCxnSpPr/>
          <p:nvPr/>
        </p:nvCxnSpPr>
        <p:spPr>
          <a:xfrm>
            <a:off x="417766" y="2481446"/>
            <a:ext cx="11358696"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3A724BF9-8A66-6A6E-1CFC-0E088D07BE46}"/>
              </a:ext>
            </a:extLst>
          </p:cNvPr>
          <p:cNvSpPr txBox="1"/>
          <p:nvPr/>
        </p:nvSpPr>
        <p:spPr>
          <a:xfrm>
            <a:off x="2516065" y="2250613"/>
            <a:ext cx="923706" cy="461665"/>
          </a:xfrm>
          <a:prstGeom prst="roundRect">
            <a:avLst>
              <a:gd name="adj" fmla="val 50000"/>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400" dirty="0" err="1"/>
              <a:t>심결</a:t>
            </a:r>
            <a:endParaRPr lang="ko-KR" altLang="en-US" sz="1400" dirty="0"/>
          </a:p>
        </p:txBody>
      </p:sp>
      <p:sp>
        <p:nvSpPr>
          <p:cNvPr id="22" name="TextBox 21">
            <a:extLst>
              <a:ext uri="{FF2B5EF4-FFF2-40B4-BE49-F238E27FC236}">
                <a16:creationId xmlns:a16="http://schemas.microsoft.com/office/drawing/2014/main" id="{366A28B1-3B07-DCF3-F23D-C00C926D894B}"/>
              </a:ext>
            </a:extLst>
          </p:cNvPr>
          <p:cNvSpPr txBox="1"/>
          <p:nvPr/>
        </p:nvSpPr>
        <p:spPr>
          <a:xfrm>
            <a:off x="4284707" y="2250613"/>
            <a:ext cx="1019748" cy="461665"/>
          </a:xfrm>
          <a:prstGeom prst="roundRect">
            <a:avLst>
              <a:gd name="adj" fmla="val 50000"/>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400" dirty="0"/>
              <a:t>등본송달</a:t>
            </a:r>
          </a:p>
        </p:txBody>
      </p:sp>
      <p:sp>
        <p:nvSpPr>
          <p:cNvPr id="23" name="TextBox 22">
            <a:extLst>
              <a:ext uri="{FF2B5EF4-FFF2-40B4-BE49-F238E27FC236}">
                <a16:creationId xmlns:a16="http://schemas.microsoft.com/office/drawing/2014/main" id="{AD4AF879-C081-F71D-8AB4-2874E8C2660F}"/>
              </a:ext>
            </a:extLst>
          </p:cNvPr>
          <p:cNvSpPr txBox="1"/>
          <p:nvPr/>
        </p:nvSpPr>
        <p:spPr>
          <a:xfrm>
            <a:off x="9537614" y="2250613"/>
            <a:ext cx="1492336" cy="461665"/>
          </a:xfrm>
          <a:prstGeom prst="roundRect">
            <a:avLst>
              <a:gd name="adj" fmla="val 50000"/>
            </a:avLst>
          </a:prstGeom>
          <a:solidFill>
            <a:schemeClr val="bg2">
              <a:lumMod val="10000"/>
            </a:schemeClr>
          </a:solidFill>
          <a:ln>
            <a:solidFill>
              <a:schemeClr val="bg1">
                <a:lumMod val="50000"/>
              </a:schemeClr>
            </a:solidFill>
          </a:ln>
        </p:spPr>
        <p:txBody>
          <a:bodyPr wrap="square" rtlCol="0" anchor="ctr">
            <a:noAutofit/>
          </a:bodyPr>
          <a:lstStyle/>
          <a:p>
            <a:pPr algn="ctr"/>
            <a:r>
              <a:rPr lang="ko-KR" altLang="en-US" sz="1400" dirty="0">
                <a:solidFill>
                  <a:srgbClr val="FFFF00"/>
                </a:solidFill>
              </a:rPr>
              <a:t>동일심판청구</a:t>
            </a:r>
            <a:r>
              <a:rPr lang="en-US" altLang="ko-KR" sz="1400" dirty="0">
                <a:solidFill>
                  <a:srgbClr val="FFFF00"/>
                </a:solidFill>
              </a:rPr>
              <a:t>X</a:t>
            </a:r>
            <a:endParaRPr lang="ko-KR" altLang="en-US" sz="1400" dirty="0">
              <a:solidFill>
                <a:srgbClr val="FFFF00"/>
              </a:solidFill>
            </a:endParaRPr>
          </a:p>
        </p:txBody>
      </p:sp>
      <p:sp>
        <p:nvSpPr>
          <p:cNvPr id="4" name="슬라이드 번호 개체 틀 3">
            <a:extLst>
              <a:ext uri="{FF2B5EF4-FFF2-40B4-BE49-F238E27FC236}">
                <a16:creationId xmlns:a16="http://schemas.microsoft.com/office/drawing/2014/main" id="{F1C780F3-6D5E-7E9E-2B0E-540E4960F672}"/>
              </a:ext>
            </a:extLst>
          </p:cNvPr>
          <p:cNvSpPr>
            <a:spLocks noGrp="1"/>
          </p:cNvSpPr>
          <p:nvPr>
            <p:ph type="sldNum" sz="quarter" idx="4294967295"/>
          </p:nvPr>
        </p:nvSpPr>
        <p:spPr>
          <a:xfrm>
            <a:off x="11125200" y="0"/>
            <a:ext cx="1066800" cy="711200"/>
          </a:xfrm>
        </p:spPr>
        <p:txBody>
          <a:bodyPr/>
          <a:lstStyle/>
          <a:p>
            <a:r>
              <a:rPr lang="en-US" altLang="ko-KR"/>
              <a:t>451</a:t>
            </a:r>
            <a:endParaRPr lang="ko-KR" altLang="en-US" dirty="0"/>
          </a:p>
        </p:txBody>
      </p:sp>
      <p:sp>
        <p:nvSpPr>
          <p:cNvPr id="2" name="제목 1">
            <a:extLst>
              <a:ext uri="{FF2B5EF4-FFF2-40B4-BE49-F238E27FC236}">
                <a16:creationId xmlns:a16="http://schemas.microsoft.com/office/drawing/2014/main" id="{63B92621-1527-0AA4-A7B9-0FEAEE530AED}"/>
              </a:ext>
            </a:extLst>
          </p:cNvPr>
          <p:cNvSpPr>
            <a:spLocks noGrp="1"/>
          </p:cNvSpPr>
          <p:nvPr>
            <p:ph type="title"/>
          </p:nvPr>
        </p:nvSpPr>
        <p:spPr/>
        <p:txBody>
          <a:bodyPr/>
          <a:lstStyle/>
          <a:p>
            <a:r>
              <a:rPr lang="ko-KR" altLang="en-US" dirty="0"/>
              <a:t>제</a:t>
            </a:r>
            <a:r>
              <a:rPr lang="en-US" altLang="ko-KR" dirty="0"/>
              <a:t>163</a:t>
            </a:r>
            <a:r>
              <a:rPr lang="ko-KR" altLang="en-US" dirty="0"/>
              <a:t>조</a:t>
            </a:r>
          </a:p>
        </p:txBody>
      </p:sp>
      <p:sp>
        <p:nvSpPr>
          <p:cNvPr id="3" name="텍스트 개체 틀 2">
            <a:extLst>
              <a:ext uri="{FF2B5EF4-FFF2-40B4-BE49-F238E27FC236}">
                <a16:creationId xmlns:a16="http://schemas.microsoft.com/office/drawing/2014/main" id="{5AEB55F4-069A-15CF-7A81-A905B1DC64EB}"/>
              </a:ext>
            </a:extLst>
          </p:cNvPr>
          <p:cNvSpPr>
            <a:spLocks noGrp="1"/>
          </p:cNvSpPr>
          <p:nvPr>
            <p:ph type="body" sz="quarter" idx="13"/>
          </p:nvPr>
        </p:nvSpPr>
        <p:spPr/>
        <p:txBody>
          <a:bodyPr/>
          <a:lstStyle/>
          <a:p>
            <a:r>
              <a:rPr lang="ko-KR" altLang="en-US" dirty="0" err="1"/>
              <a:t>심결의</a:t>
            </a:r>
            <a:r>
              <a:rPr lang="ko-KR" altLang="en-US" dirty="0"/>
              <a:t> 효력</a:t>
            </a:r>
          </a:p>
        </p:txBody>
      </p:sp>
      <p:cxnSp>
        <p:nvCxnSpPr>
          <p:cNvPr id="25" name="연결선: 꺾임 24">
            <a:extLst>
              <a:ext uri="{FF2B5EF4-FFF2-40B4-BE49-F238E27FC236}">
                <a16:creationId xmlns:a16="http://schemas.microsoft.com/office/drawing/2014/main" id="{D3BD0B1A-46D0-B530-C476-3DA7F0CF344F}"/>
              </a:ext>
            </a:extLst>
          </p:cNvPr>
          <p:cNvCxnSpPr>
            <a:cxnSpLocks/>
            <a:stCxn id="22" idx="0"/>
            <a:endCxn id="44" idx="0"/>
          </p:cNvCxnSpPr>
          <p:nvPr/>
        </p:nvCxnSpPr>
        <p:spPr>
          <a:xfrm rot="5400000" flipH="1" flipV="1">
            <a:off x="6222927" y="822267"/>
            <a:ext cx="12700" cy="2856692"/>
          </a:xfrm>
          <a:prstGeom prst="bentConnector3">
            <a:avLst>
              <a:gd name="adj1" fmla="val 300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CC2FFA2E-3612-C524-7210-888902DE7824}"/>
              </a:ext>
            </a:extLst>
          </p:cNvPr>
          <p:cNvSpPr txBox="1"/>
          <p:nvPr/>
        </p:nvSpPr>
        <p:spPr>
          <a:xfrm>
            <a:off x="5806674" y="1483037"/>
            <a:ext cx="923706" cy="461665"/>
          </a:xfrm>
          <a:prstGeom prst="roundRect">
            <a:avLst>
              <a:gd name="adj" fmla="val 50000"/>
            </a:avLst>
          </a:prstGeom>
          <a:noFill/>
          <a:ln>
            <a:noFill/>
          </a:ln>
        </p:spPr>
        <p:txBody>
          <a:bodyPr wrap="square" rtlCol="0" anchor="ctr">
            <a:noAutofit/>
          </a:bodyPr>
          <a:lstStyle/>
          <a:p>
            <a:pPr algn="ctr"/>
            <a:r>
              <a:rPr lang="en-US" altLang="ko-KR" sz="1400" dirty="0"/>
              <a:t>30</a:t>
            </a:r>
            <a:r>
              <a:rPr lang="ko-KR" altLang="en-US" sz="1400" dirty="0"/>
              <a:t>일</a:t>
            </a:r>
          </a:p>
        </p:txBody>
      </p:sp>
      <p:sp>
        <p:nvSpPr>
          <p:cNvPr id="30" name="직사각형 29">
            <a:extLst>
              <a:ext uri="{FF2B5EF4-FFF2-40B4-BE49-F238E27FC236}">
                <a16:creationId xmlns:a16="http://schemas.microsoft.com/office/drawing/2014/main" id="{CF477105-BC63-74FF-C3A7-59A9EA51234B}"/>
              </a:ext>
            </a:extLst>
          </p:cNvPr>
          <p:cNvSpPr/>
          <p:nvPr/>
        </p:nvSpPr>
        <p:spPr>
          <a:xfrm>
            <a:off x="2708606" y="3267075"/>
            <a:ext cx="1104900" cy="316184"/>
          </a:xfrm>
          <a:prstGeom prst="rect">
            <a:avLst/>
          </a:prstGeom>
          <a:solidFill>
            <a:schemeClr val="accent1">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400" dirty="0"/>
              <a:t>기속력</a:t>
            </a:r>
          </a:p>
        </p:txBody>
      </p:sp>
      <p:cxnSp>
        <p:nvCxnSpPr>
          <p:cNvPr id="32" name="연결선: 꺾임 31">
            <a:extLst>
              <a:ext uri="{FF2B5EF4-FFF2-40B4-BE49-F238E27FC236}">
                <a16:creationId xmlns:a16="http://schemas.microsoft.com/office/drawing/2014/main" id="{C923437F-5963-8507-E4FE-C33177CB83C6}"/>
              </a:ext>
            </a:extLst>
          </p:cNvPr>
          <p:cNvCxnSpPr>
            <a:cxnSpLocks/>
            <a:stCxn id="30" idx="0"/>
            <a:endCxn id="22" idx="2"/>
          </p:cNvCxnSpPr>
          <p:nvPr/>
        </p:nvCxnSpPr>
        <p:spPr>
          <a:xfrm rot="5400000" flipH="1" flipV="1">
            <a:off x="3750420" y="2222915"/>
            <a:ext cx="554797" cy="1533525"/>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3" name="직사각형 32">
            <a:extLst>
              <a:ext uri="{FF2B5EF4-FFF2-40B4-BE49-F238E27FC236}">
                <a16:creationId xmlns:a16="http://schemas.microsoft.com/office/drawing/2014/main" id="{DC15220A-7216-023F-20AD-79A75483BAB7}"/>
              </a:ext>
            </a:extLst>
          </p:cNvPr>
          <p:cNvSpPr/>
          <p:nvPr/>
        </p:nvSpPr>
        <p:spPr>
          <a:xfrm>
            <a:off x="1679154" y="3583260"/>
            <a:ext cx="3197646" cy="867259"/>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ko-KR" altLang="en-US" sz="1200" dirty="0" err="1">
                <a:solidFill>
                  <a:schemeClr val="tx1">
                    <a:lumMod val="95000"/>
                    <a:lumOff val="5000"/>
                  </a:schemeClr>
                </a:solidFill>
              </a:rPr>
              <a:t>심결등본이</a:t>
            </a:r>
            <a:r>
              <a:rPr lang="ko-KR" altLang="en-US" sz="1200" dirty="0">
                <a:solidFill>
                  <a:schemeClr val="tx1">
                    <a:lumMod val="95000"/>
                    <a:lumOff val="5000"/>
                  </a:schemeClr>
                </a:solidFill>
              </a:rPr>
              <a:t> 당사자 등에게 송달되어 </a:t>
            </a:r>
            <a:r>
              <a:rPr lang="ko-KR" altLang="en-US" sz="1200" dirty="0" err="1">
                <a:solidFill>
                  <a:schemeClr val="tx1">
                    <a:lumMod val="95000"/>
                    <a:lumOff val="5000"/>
                  </a:schemeClr>
                </a:solidFill>
              </a:rPr>
              <a:t>심결이</a:t>
            </a:r>
            <a:r>
              <a:rPr lang="ko-KR" altLang="en-US" sz="1200" dirty="0">
                <a:solidFill>
                  <a:schemeClr val="tx1">
                    <a:lumMod val="95000"/>
                    <a:lumOff val="5000"/>
                  </a:schemeClr>
                </a:solidFill>
              </a:rPr>
              <a:t> 성립하면</a:t>
            </a:r>
            <a:r>
              <a:rPr lang="en-US" altLang="ko-KR" sz="1200" dirty="0">
                <a:solidFill>
                  <a:schemeClr val="tx1">
                    <a:lumMod val="95000"/>
                    <a:lumOff val="5000"/>
                  </a:schemeClr>
                </a:solidFill>
              </a:rPr>
              <a:t>, </a:t>
            </a:r>
            <a:r>
              <a:rPr lang="ko-KR" altLang="en-US" sz="1200" dirty="0" err="1">
                <a:solidFill>
                  <a:schemeClr val="tx1">
                    <a:lumMod val="95000"/>
                    <a:lumOff val="5000"/>
                  </a:schemeClr>
                </a:solidFill>
              </a:rPr>
              <a:t>심결한</a:t>
            </a:r>
            <a:r>
              <a:rPr lang="ko-KR" altLang="en-US" sz="1200" dirty="0">
                <a:solidFill>
                  <a:schemeClr val="tx1">
                    <a:lumMod val="95000"/>
                    <a:lumOff val="5000"/>
                  </a:schemeClr>
                </a:solidFill>
              </a:rPr>
              <a:t> 심판기관 자신도 그 내용을 철회하거나 변경하는 것이 허용되지 않은 것</a:t>
            </a:r>
          </a:p>
        </p:txBody>
      </p:sp>
      <p:sp>
        <p:nvSpPr>
          <p:cNvPr id="34" name="직사각형 33">
            <a:extLst>
              <a:ext uri="{FF2B5EF4-FFF2-40B4-BE49-F238E27FC236}">
                <a16:creationId xmlns:a16="http://schemas.microsoft.com/office/drawing/2014/main" id="{DA391666-A2B5-C68F-F4CA-40849B4D50B6}"/>
              </a:ext>
            </a:extLst>
          </p:cNvPr>
          <p:cNvSpPr/>
          <p:nvPr/>
        </p:nvSpPr>
        <p:spPr>
          <a:xfrm>
            <a:off x="5988712" y="3914775"/>
            <a:ext cx="1497938" cy="347537"/>
          </a:xfrm>
          <a:prstGeom prst="rect">
            <a:avLst/>
          </a:prstGeom>
          <a:solidFill>
            <a:schemeClr val="accent1">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400" dirty="0"/>
              <a:t>형식적 </a:t>
            </a:r>
            <a:r>
              <a:rPr lang="ko-KR" altLang="en-US" sz="1400" dirty="0" err="1"/>
              <a:t>확정력</a:t>
            </a:r>
            <a:endParaRPr lang="ko-KR" altLang="en-US" sz="1400" dirty="0"/>
          </a:p>
        </p:txBody>
      </p:sp>
      <p:cxnSp>
        <p:nvCxnSpPr>
          <p:cNvPr id="35" name="연결선: 꺾임 34">
            <a:extLst>
              <a:ext uri="{FF2B5EF4-FFF2-40B4-BE49-F238E27FC236}">
                <a16:creationId xmlns:a16="http://schemas.microsoft.com/office/drawing/2014/main" id="{C8819E07-9E3A-C9FC-9B1B-C50F5C783479}"/>
              </a:ext>
            </a:extLst>
          </p:cNvPr>
          <p:cNvCxnSpPr>
            <a:cxnSpLocks/>
            <a:stCxn id="34" idx="0"/>
            <a:endCxn id="44" idx="2"/>
          </p:cNvCxnSpPr>
          <p:nvPr/>
        </p:nvCxnSpPr>
        <p:spPr>
          <a:xfrm rot="5400000" flipH="1" flipV="1">
            <a:off x="6593229" y="2856731"/>
            <a:ext cx="1202497" cy="913592"/>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6" name="직사각형 35">
            <a:extLst>
              <a:ext uri="{FF2B5EF4-FFF2-40B4-BE49-F238E27FC236}">
                <a16:creationId xmlns:a16="http://schemas.microsoft.com/office/drawing/2014/main" id="{ECD49F81-E628-F7FA-4347-6EAEE752ACDB}"/>
              </a:ext>
            </a:extLst>
          </p:cNvPr>
          <p:cNvSpPr/>
          <p:nvPr/>
        </p:nvSpPr>
        <p:spPr>
          <a:xfrm>
            <a:off x="5261306" y="4262313"/>
            <a:ext cx="2959884" cy="604961"/>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lumMod val="95000"/>
                    <a:lumOff val="5000"/>
                  </a:schemeClr>
                </a:solidFill>
              </a:rPr>
              <a:t> 그 </a:t>
            </a:r>
            <a:r>
              <a:rPr lang="ko-KR" altLang="en-US" sz="1200" dirty="0" err="1">
                <a:solidFill>
                  <a:schemeClr val="tx1">
                    <a:lumMod val="95000"/>
                    <a:lumOff val="5000"/>
                  </a:schemeClr>
                </a:solidFill>
              </a:rPr>
              <a:t>심결이</a:t>
            </a:r>
            <a:r>
              <a:rPr lang="ko-KR" altLang="en-US" sz="1200" dirty="0">
                <a:solidFill>
                  <a:schemeClr val="tx1">
                    <a:lumMod val="95000"/>
                    <a:lumOff val="5000"/>
                  </a:schemeClr>
                </a:solidFill>
              </a:rPr>
              <a:t> 확정되어 재심사유가 없는 한 그 </a:t>
            </a:r>
            <a:r>
              <a:rPr lang="ko-KR" altLang="en-US" sz="1200" dirty="0" err="1">
                <a:solidFill>
                  <a:schemeClr val="tx1">
                    <a:lumMod val="95000"/>
                    <a:lumOff val="5000"/>
                  </a:schemeClr>
                </a:solidFill>
              </a:rPr>
              <a:t>심결을</a:t>
            </a:r>
            <a:r>
              <a:rPr lang="ko-KR" altLang="en-US" sz="1200" dirty="0">
                <a:solidFill>
                  <a:schemeClr val="tx1">
                    <a:lumMod val="95000"/>
                    <a:lumOff val="5000"/>
                  </a:schemeClr>
                </a:solidFill>
              </a:rPr>
              <a:t> </a:t>
            </a:r>
            <a:r>
              <a:rPr lang="ko-KR" altLang="en-US" sz="1200" dirty="0" err="1">
                <a:solidFill>
                  <a:schemeClr val="tx1">
                    <a:lumMod val="95000"/>
                    <a:lumOff val="5000"/>
                  </a:schemeClr>
                </a:solidFill>
              </a:rPr>
              <a:t>취소ㆍ변경할</a:t>
            </a:r>
            <a:r>
              <a:rPr lang="ko-KR" altLang="en-US" sz="1200" dirty="0">
                <a:solidFill>
                  <a:schemeClr val="tx1">
                    <a:lumMod val="95000"/>
                    <a:lumOff val="5000"/>
                  </a:schemeClr>
                </a:solidFill>
              </a:rPr>
              <a:t> 수 없는 것</a:t>
            </a:r>
          </a:p>
        </p:txBody>
      </p:sp>
      <p:sp>
        <p:nvSpPr>
          <p:cNvPr id="39" name="직사각형 38">
            <a:extLst>
              <a:ext uri="{FF2B5EF4-FFF2-40B4-BE49-F238E27FC236}">
                <a16:creationId xmlns:a16="http://schemas.microsoft.com/office/drawing/2014/main" id="{C81DF44E-D216-FC46-3BF3-D6314BBE4046}"/>
              </a:ext>
            </a:extLst>
          </p:cNvPr>
          <p:cNvSpPr/>
          <p:nvPr/>
        </p:nvSpPr>
        <p:spPr>
          <a:xfrm>
            <a:off x="9234346" y="4494885"/>
            <a:ext cx="1497938" cy="347537"/>
          </a:xfrm>
          <a:prstGeom prst="rect">
            <a:avLst/>
          </a:prstGeom>
          <a:solidFill>
            <a:schemeClr val="accent1">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400" dirty="0"/>
              <a:t>실질적 </a:t>
            </a:r>
            <a:r>
              <a:rPr lang="ko-KR" altLang="en-US" sz="1400" dirty="0" err="1"/>
              <a:t>확정력</a:t>
            </a:r>
            <a:endParaRPr lang="ko-KR" altLang="en-US" sz="1400" dirty="0"/>
          </a:p>
        </p:txBody>
      </p:sp>
      <p:cxnSp>
        <p:nvCxnSpPr>
          <p:cNvPr id="40" name="연결선: 꺾임 39">
            <a:extLst>
              <a:ext uri="{FF2B5EF4-FFF2-40B4-BE49-F238E27FC236}">
                <a16:creationId xmlns:a16="http://schemas.microsoft.com/office/drawing/2014/main" id="{74DE92F8-9137-3360-EABE-8D0C6ED4C1FF}"/>
              </a:ext>
            </a:extLst>
          </p:cNvPr>
          <p:cNvCxnSpPr>
            <a:cxnSpLocks/>
            <a:stCxn id="39" idx="0"/>
            <a:endCxn id="23" idx="2"/>
          </p:cNvCxnSpPr>
          <p:nvPr/>
        </p:nvCxnSpPr>
        <p:spPr>
          <a:xfrm rot="5400000" flipH="1" flipV="1">
            <a:off x="9242245" y="3453349"/>
            <a:ext cx="1782607" cy="300467"/>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1" name="직사각형 40">
            <a:extLst>
              <a:ext uri="{FF2B5EF4-FFF2-40B4-BE49-F238E27FC236}">
                <a16:creationId xmlns:a16="http://schemas.microsoft.com/office/drawing/2014/main" id="{6FE1A622-07E3-B927-3B12-50499C1118E3}"/>
              </a:ext>
            </a:extLst>
          </p:cNvPr>
          <p:cNvSpPr/>
          <p:nvPr/>
        </p:nvSpPr>
        <p:spPr>
          <a:xfrm>
            <a:off x="8611715" y="4842423"/>
            <a:ext cx="2732560" cy="68207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1">
                    <a:lumMod val="95000"/>
                    <a:lumOff val="5000"/>
                  </a:schemeClr>
                </a:solidFill>
              </a:rPr>
              <a:t>형식적 </a:t>
            </a:r>
            <a:r>
              <a:rPr lang="ko-KR" altLang="en-US" sz="1200" dirty="0" err="1">
                <a:solidFill>
                  <a:schemeClr val="tx1">
                    <a:lumMod val="95000"/>
                    <a:lumOff val="5000"/>
                  </a:schemeClr>
                </a:solidFill>
              </a:rPr>
              <a:t>확정력이</a:t>
            </a:r>
            <a:r>
              <a:rPr lang="ko-KR" altLang="en-US" sz="1200" dirty="0">
                <a:solidFill>
                  <a:schemeClr val="tx1">
                    <a:lumMod val="95000"/>
                    <a:lumOff val="5000"/>
                  </a:schemeClr>
                </a:solidFill>
              </a:rPr>
              <a:t> 생긴 이후에 그 </a:t>
            </a:r>
            <a:r>
              <a:rPr lang="ko-KR" altLang="en-US" sz="1200" dirty="0" err="1">
                <a:solidFill>
                  <a:schemeClr val="tx1">
                    <a:lumMod val="95000"/>
                    <a:lumOff val="5000"/>
                  </a:schemeClr>
                </a:solidFill>
              </a:rPr>
              <a:t>심결의</a:t>
            </a:r>
            <a:r>
              <a:rPr lang="ko-KR" altLang="en-US" sz="1200" dirty="0">
                <a:solidFill>
                  <a:schemeClr val="tx1">
                    <a:lumMod val="95000"/>
                    <a:lumOff val="5000"/>
                  </a:schemeClr>
                </a:solidFill>
              </a:rPr>
              <a:t> 내용에 대해서도 더 이상 다툴 수 없는 것</a:t>
            </a:r>
          </a:p>
        </p:txBody>
      </p:sp>
      <p:sp>
        <p:nvSpPr>
          <p:cNvPr id="44" name="TextBox 43">
            <a:extLst>
              <a:ext uri="{FF2B5EF4-FFF2-40B4-BE49-F238E27FC236}">
                <a16:creationId xmlns:a16="http://schemas.microsoft.com/office/drawing/2014/main" id="{309C17F1-F7DF-1B4E-00AA-8ACBFA747DA2}"/>
              </a:ext>
            </a:extLst>
          </p:cNvPr>
          <p:cNvSpPr txBox="1"/>
          <p:nvPr/>
        </p:nvSpPr>
        <p:spPr>
          <a:xfrm>
            <a:off x="7189420" y="2250613"/>
            <a:ext cx="923706" cy="461665"/>
          </a:xfrm>
          <a:prstGeom prst="roundRect">
            <a:avLst>
              <a:gd name="adj" fmla="val 50000"/>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400" dirty="0"/>
              <a:t>확정</a:t>
            </a:r>
          </a:p>
        </p:txBody>
      </p:sp>
      <p:sp>
        <p:nvSpPr>
          <p:cNvPr id="52" name="TextBox 51">
            <a:extLst>
              <a:ext uri="{FF2B5EF4-FFF2-40B4-BE49-F238E27FC236}">
                <a16:creationId xmlns:a16="http://schemas.microsoft.com/office/drawing/2014/main" id="{9D5BBB81-21E3-C376-AA80-A3F6AEA84108}"/>
              </a:ext>
            </a:extLst>
          </p:cNvPr>
          <p:cNvSpPr txBox="1"/>
          <p:nvPr/>
        </p:nvSpPr>
        <p:spPr>
          <a:xfrm>
            <a:off x="713801" y="2250613"/>
            <a:ext cx="1019748" cy="461665"/>
          </a:xfrm>
          <a:prstGeom prst="roundRect">
            <a:avLst>
              <a:gd name="adj" fmla="val 50000"/>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400" dirty="0"/>
              <a:t>심판청구</a:t>
            </a:r>
          </a:p>
        </p:txBody>
      </p:sp>
      <p:sp>
        <p:nvSpPr>
          <p:cNvPr id="6" name="타원 5">
            <a:extLst>
              <a:ext uri="{FF2B5EF4-FFF2-40B4-BE49-F238E27FC236}">
                <a16:creationId xmlns:a16="http://schemas.microsoft.com/office/drawing/2014/main" id="{CBDA99CE-EC79-E96E-87D2-B790A4FD38D0}"/>
              </a:ext>
            </a:extLst>
          </p:cNvPr>
          <p:cNvSpPr/>
          <p:nvPr/>
        </p:nvSpPr>
        <p:spPr>
          <a:xfrm>
            <a:off x="2066925" y="2438404"/>
            <a:ext cx="76381" cy="76381"/>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타원 7">
            <a:extLst>
              <a:ext uri="{FF2B5EF4-FFF2-40B4-BE49-F238E27FC236}">
                <a16:creationId xmlns:a16="http://schemas.microsoft.com/office/drawing/2014/main" id="{DDDF35C1-8F17-6EDE-1897-78D156EC69F8}"/>
              </a:ext>
            </a:extLst>
          </p:cNvPr>
          <p:cNvSpPr/>
          <p:nvPr/>
        </p:nvSpPr>
        <p:spPr>
          <a:xfrm>
            <a:off x="3853319" y="2438404"/>
            <a:ext cx="76381" cy="76381"/>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 name="연결선: 꺾임 9">
            <a:extLst>
              <a:ext uri="{FF2B5EF4-FFF2-40B4-BE49-F238E27FC236}">
                <a16:creationId xmlns:a16="http://schemas.microsoft.com/office/drawing/2014/main" id="{1FBC57B6-4B57-5157-F393-86A1BA3D0BED}"/>
              </a:ext>
            </a:extLst>
          </p:cNvPr>
          <p:cNvCxnSpPr>
            <a:stCxn id="6" idx="7"/>
            <a:endCxn id="8" idx="0"/>
          </p:cNvCxnSpPr>
          <p:nvPr/>
        </p:nvCxnSpPr>
        <p:spPr>
          <a:xfrm rot="5400000" flipH="1" flipV="1">
            <a:off x="3006222" y="1564302"/>
            <a:ext cx="11186" cy="1759390"/>
          </a:xfrm>
          <a:prstGeom prst="bentConnector3">
            <a:avLst>
              <a:gd name="adj1" fmla="val 509837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F7A6CF7A-ABC7-151C-AF71-6D3694459E08}"/>
              </a:ext>
            </a:extLst>
          </p:cNvPr>
          <p:cNvSpPr txBox="1"/>
          <p:nvPr/>
        </p:nvSpPr>
        <p:spPr>
          <a:xfrm>
            <a:off x="1536700" y="1483037"/>
            <a:ext cx="2844800" cy="461665"/>
          </a:xfrm>
          <a:prstGeom prst="roundRect">
            <a:avLst>
              <a:gd name="adj" fmla="val 50000"/>
            </a:avLst>
          </a:prstGeom>
          <a:noFill/>
          <a:ln>
            <a:noFill/>
          </a:ln>
        </p:spPr>
        <p:txBody>
          <a:bodyPr wrap="square" rtlCol="0" anchor="ctr">
            <a:noAutofit/>
          </a:bodyPr>
          <a:lstStyle/>
          <a:p>
            <a:pPr algn="ctr"/>
            <a:r>
              <a:rPr lang="ko-KR" altLang="en-US" sz="1400" dirty="0"/>
              <a:t>심리종결통지일로부터 </a:t>
            </a:r>
            <a:r>
              <a:rPr lang="en-US" altLang="ko-KR" sz="1400" dirty="0"/>
              <a:t>20</a:t>
            </a:r>
            <a:r>
              <a:rPr lang="ko-KR" altLang="en-US" sz="1400" dirty="0"/>
              <a:t>일 이내</a:t>
            </a:r>
          </a:p>
        </p:txBody>
      </p:sp>
    </p:spTree>
    <p:extLst>
      <p:ext uri="{BB962C8B-B14F-4D97-AF65-F5344CB8AC3E}">
        <p14:creationId xmlns:p14="http://schemas.microsoft.com/office/powerpoint/2010/main" val="3430716480"/>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163</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chemeClr val="tx1">
                    <a:lumMod val="65000"/>
                    <a:lumOff val="35000"/>
                  </a:schemeClr>
                </a:solidFill>
              </a:rPr>
              <a:t>중복심판청구금지의 원칙 </a:t>
            </a:r>
            <a:r>
              <a:rPr lang="en-US" altLang="ko-KR" dirty="0">
                <a:solidFill>
                  <a:schemeClr val="tx1">
                    <a:lumMod val="65000"/>
                    <a:lumOff val="35000"/>
                  </a:schemeClr>
                </a:solidFill>
              </a:rPr>
              <a:t>vs </a:t>
            </a:r>
            <a:r>
              <a:rPr lang="ko-KR" altLang="en-US" dirty="0">
                <a:solidFill>
                  <a:schemeClr val="tx1">
                    <a:lumMod val="65000"/>
                    <a:lumOff val="35000"/>
                  </a:schemeClr>
                </a:solidFill>
              </a:rPr>
              <a:t>일사부재리의 원칙</a:t>
            </a:r>
          </a:p>
        </p:txBody>
      </p:sp>
      <p:graphicFrame>
        <p:nvGraphicFramePr>
          <p:cNvPr id="10" name="표 9">
            <a:extLst>
              <a:ext uri="{FF2B5EF4-FFF2-40B4-BE49-F238E27FC236}">
                <a16:creationId xmlns:a16="http://schemas.microsoft.com/office/drawing/2014/main" id="{889D524D-8A5A-4384-929E-76597B7EDA40}"/>
              </a:ext>
            </a:extLst>
          </p:cNvPr>
          <p:cNvGraphicFramePr>
            <a:graphicFrameLocks noGrp="1"/>
          </p:cNvGraphicFramePr>
          <p:nvPr/>
        </p:nvGraphicFramePr>
        <p:xfrm>
          <a:off x="655874" y="1216659"/>
          <a:ext cx="10597584" cy="5183922"/>
        </p:xfrm>
        <a:graphic>
          <a:graphicData uri="http://schemas.openxmlformats.org/drawingml/2006/table">
            <a:tbl>
              <a:tblPr>
                <a:tableStyleId>{8799B23B-EC83-4686-B30A-512413B5E67A}</a:tableStyleId>
              </a:tblPr>
              <a:tblGrid>
                <a:gridCol w="865109">
                  <a:extLst>
                    <a:ext uri="{9D8B030D-6E8A-4147-A177-3AD203B41FA5}">
                      <a16:colId xmlns:a16="http://schemas.microsoft.com/office/drawing/2014/main" val="3694901525"/>
                    </a:ext>
                  </a:extLst>
                </a:gridCol>
                <a:gridCol w="679009">
                  <a:extLst>
                    <a:ext uri="{9D8B030D-6E8A-4147-A177-3AD203B41FA5}">
                      <a16:colId xmlns:a16="http://schemas.microsoft.com/office/drawing/2014/main" val="3637794640"/>
                    </a:ext>
                  </a:extLst>
                </a:gridCol>
                <a:gridCol w="4227969">
                  <a:extLst>
                    <a:ext uri="{9D8B030D-6E8A-4147-A177-3AD203B41FA5}">
                      <a16:colId xmlns:a16="http://schemas.microsoft.com/office/drawing/2014/main" val="4184471878"/>
                    </a:ext>
                  </a:extLst>
                </a:gridCol>
                <a:gridCol w="4825497">
                  <a:extLst>
                    <a:ext uri="{9D8B030D-6E8A-4147-A177-3AD203B41FA5}">
                      <a16:colId xmlns:a16="http://schemas.microsoft.com/office/drawing/2014/main" val="3985388281"/>
                    </a:ext>
                  </a:extLst>
                </a:gridCol>
              </a:tblGrid>
              <a:tr h="468515">
                <a:tc gridSpan="2">
                  <a:txBody>
                    <a:bodyPr/>
                    <a:lstStyle/>
                    <a:p>
                      <a:pPr algn="ctr" latinLnBrk="1"/>
                      <a:r>
                        <a:rPr lang="ko-KR" altLang="en-US" sz="1400" dirty="0"/>
                        <a:t>요건</a:t>
                      </a:r>
                    </a:p>
                  </a:txBody>
                  <a:tcPr anchor="ctr">
                    <a:solidFill>
                      <a:schemeClr val="accent1">
                        <a:lumMod val="20000"/>
                        <a:lumOff val="80000"/>
                      </a:schemeClr>
                    </a:solidFill>
                  </a:tcPr>
                </a:tc>
                <a:tc hMerge="1">
                  <a:txBody>
                    <a:bodyPr/>
                    <a:lstStyle/>
                    <a:p>
                      <a:pPr latinLnBrk="1"/>
                      <a:endParaRPr lang="ko-KR" altLang="en-US" dirty="0"/>
                    </a:p>
                  </a:txBody>
                  <a:tcPr/>
                </a:tc>
                <a:tc>
                  <a:txBody>
                    <a:bodyPr/>
                    <a:lstStyle/>
                    <a:p>
                      <a:pPr algn="ctr" latinLnBrk="1"/>
                      <a:r>
                        <a:rPr lang="ko-KR" altLang="en-US" sz="1400" dirty="0"/>
                        <a:t>일사부재리</a:t>
                      </a:r>
                    </a:p>
                  </a:txBody>
                  <a:tcPr anchor="ctr">
                    <a:solidFill>
                      <a:schemeClr val="accent1">
                        <a:lumMod val="20000"/>
                        <a:lumOff val="80000"/>
                      </a:schemeClr>
                    </a:solidFill>
                  </a:tcPr>
                </a:tc>
                <a:tc>
                  <a:txBody>
                    <a:bodyPr/>
                    <a:lstStyle/>
                    <a:p>
                      <a:pPr algn="ctr" latinLnBrk="1"/>
                      <a:r>
                        <a:rPr lang="ko-KR" altLang="en-US" sz="1400" dirty="0"/>
                        <a:t>중복심판청구</a:t>
                      </a:r>
                    </a:p>
                  </a:txBody>
                  <a:tcPr anchor="ctr">
                    <a:solidFill>
                      <a:schemeClr val="accent1">
                        <a:lumMod val="20000"/>
                        <a:lumOff val="80000"/>
                      </a:schemeClr>
                    </a:solidFill>
                  </a:tcPr>
                </a:tc>
                <a:extLst>
                  <a:ext uri="{0D108BD9-81ED-4DB2-BD59-A6C34878D82A}">
                    <a16:rowId xmlns:a16="http://schemas.microsoft.com/office/drawing/2014/main" val="1076970672"/>
                  </a:ext>
                </a:extLst>
              </a:tr>
              <a:tr h="654637">
                <a:tc rowSpan="4" gridSpan="2">
                  <a:txBody>
                    <a:bodyPr/>
                    <a:lstStyle/>
                    <a:p>
                      <a:pPr algn="ctr" latinLnBrk="1"/>
                      <a:r>
                        <a:rPr lang="ko-KR" altLang="en-US" sz="1400" dirty="0"/>
                        <a:t>내용</a:t>
                      </a:r>
                    </a:p>
                  </a:txBody>
                  <a:tcPr anchor="ctr"/>
                </a:tc>
                <a:tc rowSpan="4" hMerge="1">
                  <a:txBody>
                    <a:bodyPr/>
                    <a:lstStyle/>
                    <a:p>
                      <a:pPr latinLnBrk="1"/>
                      <a:endParaRPr lang="ko-KR" altLang="en-US" dirty="0"/>
                    </a:p>
                  </a:txBody>
                  <a:tcPr/>
                </a:tc>
                <a:tc>
                  <a:txBody>
                    <a:bodyPr/>
                    <a:lstStyle/>
                    <a:p>
                      <a:pPr algn="ctr" latinLnBrk="1"/>
                      <a:r>
                        <a:rPr lang="ko-KR" altLang="en-US" sz="1400" dirty="0" err="1"/>
                        <a:t>본안심결</a:t>
                      </a:r>
                      <a:r>
                        <a:rPr lang="ko-KR" altLang="en-US" sz="1400" dirty="0"/>
                        <a:t> 확정</a:t>
                      </a:r>
                    </a:p>
                  </a:txBody>
                  <a:tcPr anchor="ctr"/>
                </a:tc>
                <a:tc>
                  <a:txBody>
                    <a:bodyPr/>
                    <a:lstStyle/>
                    <a:p>
                      <a:pPr algn="ctr" latinLnBrk="1"/>
                      <a:r>
                        <a:rPr lang="ko-KR" altLang="en-US" sz="1400" dirty="0"/>
                        <a:t>특허심판이 계속 중</a:t>
                      </a:r>
                      <a:endParaRPr lang="en-US" altLang="ko-KR" sz="1400" dirty="0"/>
                    </a:p>
                    <a:p>
                      <a:pPr algn="ctr" latinLnBrk="1"/>
                      <a:r>
                        <a:rPr lang="en-US" altLang="ko-KR" sz="1400" dirty="0"/>
                        <a:t>(</a:t>
                      </a:r>
                      <a:r>
                        <a:rPr lang="ko-KR" altLang="en-US" sz="1400" dirty="0"/>
                        <a:t>특허법원</a:t>
                      </a:r>
                      <a:r>
                        <a:rPr lang="en-US" altLang="ko-KR" sz="1400" dirty="0"/>
                        <a:t>, </a:t>
                      </a:r>
                      <a:r>
                        <a:rPr lang="ko-KR" altLang="en-US" sz="1400" dirty="0"/>
                        <a:t>대법원 계속 중도 포함</a:t>
                      </a:r>
                      <a:r>
                        <a:rPr lang="en-US" altLang="ko-KR" sz="1400" dirty="0"/>
                        <a:t>(2013</a:t>
                      </a:r>
                      <a:r>
                        <a:rPr lang="ko-KR" altLang="en-US" sz="1400" dirty="0"/>
                        <a:t>허</a:t>
                      </a:r>
                      <a:r>
                        <a:rPr lang="en-US" altLang="ko-KR" sz="1400" dirty="0"/>
                        <a:t>9805))</a:t>
                      </a:r>
                      <a:endParaRPr lang="ko-KR" altLang="en-US" sz="1400" dirty="0"/>
                    </a:p>
                  </a:txBody>
                  <a:tcPr anchor="ctr"/>
                </a:tc>
                <a:extLst>
                  <a:ext uri="{0D108BD9-81ED-4DB2-BD59-A6C34878D82A}">
                    <a16:rowId xmlns:a16="http://schemas.microsoft.com/office/drawing/2014/main" val="752781965"/>
                  </a:ext>
                </a:extLst>
              </a:tr>
              <a:tr h="468515">
                <a:tc gridSpan="2" vMerge="1">
                  <a:txBody>
                    <a:bodyPr/>
                    <a:lstStyle/>
                    <a:p>
                      <a:pPr latinLnBrk="1"/>
                      <a:endParaRPr lang="ko-KR" altLang="en-US"/>
                    </a:p>
                  </a:txBody>
                  <a:tcPr/>
                </a:tc>
                <a:tc hMerge="1" vMerge="1">
                  <a:txBody>
                    <a:bodyPr/>
                    <a:lstStyle/>
                    <a:p>
                      <a:pPr latinLnBrk="1"/>
                      <a:endParaRPr lang="ko-KR" altLang="en-US" dirty="0"/>
                    </a:p>
                  </a:txBody>
                  <a:tcPr/>
                </a:tc>
                <a:tc>
                  <a:txBody>
                    <a:bodyPr/>
                    <a:lstStyle/>
                    <a:p>
                      <a:pPr algn="ctr" latinLnBrk="1"/>
                      <a:r>
                        <a:rPr lang="ko-KR" altLang="en-US" sz="1400" dirty="0"/>
                        <a:t>누구든지</a:t>
                      </a:r>
                    </a:p>
                  </a:txBody>
                  <a:tcPr anchor="ctr"/>
                </a:tc>
                <a:tc>
                  <a:txBody>
                    <a:bodyPr/>
                    <a:lstStyle/>
                    <a:p>
                      <a:pPr algn="ctr" latinLnBrk="1"/>
                      <a:r>
                        <a:rPr lang="ko-KR" altLang="en-US" sz="1400" dirty="0"/>
                        <a:t>동일 당사자</a:t>
                      </a:r>
                    </a:p>
                  </a:txBody>
                  <a:tcPr anchor="ctr"/>
                </a:tc>
                <a:extLst>
                  <a:ext uri="{0D108BD9-81ED-4DB2-BD59-A6C34878D82A}">
                    <a16:rowId xmlns:a16="http://schemas.microsoft.com/office/drawing/2014/main" val="1816217390"/>
                  </a:ext>
                </a:extLst>
              </a:tr>
              <a:tr h="468515">
                <a:tc gridSpan="2" vMerge="1">
                  <a:txBody>
                    <a:bodyPr/>
                    <a:lstStyle/>
                    <a:p>
                      <a:pPr latinLnBrk="1"/>
                      <a:endParaRPr lang="ko-KR" altLang="en-US"/>
                    </a:p>
                  </a:txBody>
                  <a:tcPr/>
                </a:tc>
                <a:tc hMerge="1" vMerge="1">
                  <a:txBody>
                    <a:bodyPr/>
                    <a:lstStyle/>
                    <a:p>
                      <a:pPr latinLnBrk="1"/>
                      <a:endParaRPr lang="ko-KR" altLang="en-US" dirty="0"/>
                    </a:p>
                  </a:txBody>
                  <a:tcPr/>
                </a:tc>
                <a:tc>
                  <a:txBody>
                    <a:bodyPr/>
                    <a:lstStyle/>
                    <a:p>
                      <a:pPr algn="ctr" latinLnBrk="1"/>
                      <a:r>
                        <a:rPr lang="ko-KR" altLang="en-US" sz="1400" dirty="0"/>
                        <a:t>동일사실 및 동일증거</a:t>
                      </a:r>
                    </a:p>
                  </a:txBody>
                  <a:tcPr anchor="ctr"/>
                </a:tc>
                <a:tc>
                  <a:txBody>
                    <a:bodyPr/>
                    <a:lstStyle/>
                    <a:p>
                      <a:pPr algn="ctr" latinLnBrk="1"/>
                      <a:r>
                        <a:rPr lang="en-US" altLang="ko-KR" sz="1400" dirty="0"/>
                        <a:t>-</a:t>
                      </a:r>
                      <a:endParaRPr lang="ko-KR" altLang="en-US" sz="1400" dirty="0"/>
                    </a:p>
                  </a:txBody>
                  <a:tcPr anchor="ctr"/>
                </a:tc>
                <a:extLst>
                  <a:ext uri="{0D108BD9-81ED-4DB2-BD59-A6C34878D82A}">
                    <a16:rowId xmlns:a16="http://schemas.microsoft.com/office/drawing/2014/main" val="2521390536"/>
                  </a:ext>
                </a:extLst>
              </a:tr>
              <a:tr h="654637">
                <a:tc gridSpan="2" vMerge="1">
                  <a:txBody>
                    <a:bodyPr/>
                    <a:lstStyle/>
                    <a:p>
                      <a:pPr latinLnBrk="1"/>
                      <a:endParaRPr lang="ko-KR" altLang="en-US"/>
                    </a:p>
                  </a:txBody>
                  <a:tcPr/>
                </a:tc>
                <a:tc hMerge="1" vMerge="1">
                  <a:txBody>
                    <a:bodyPr/>
                    <a:lstStyle/>
                    <a:p>
                      <a:pPr latinLnBrk="1"/>
                      <a:endParaRPr lang="ko-KR" altLang="en-US" dirty="0"/>
                    </a:p>
                  </a:txBody>
                  <a:tcPr/>
                </a:tc>
                <a:tc>
                  <a:txBody>
                    <a:bodyPr/>
                    <a:lstStyle/>
                    <a:p>
                      <a:pPr algn="ctr" latinLnBrk="1"/>
                      <a:r>
                        <a:rPr lang="ko-KR" altLang="en-US" sz="1400" dirty="0"/>
                        <a:t>동일심판</a:t>
                      </a:r>
                      <a:endParaRPr lang="en-US" altLang="ko-KR" sz="1400" dirty="0"/>
                    </a:p>
                    <a:p>
                      <a:pPr algn="ctr" latinLnBrk="1"/>
                      <a:r>
                        <a:rPr lang="en-US" altLang="ko-KR" sz="1400" dirty="0">
                          <a:solidFill>
                            <a:srgbClr val="FF0000"/>
                          </a:solidFill>
                        </a:rPr>
                        <a:t>(</a:t>
                      </a:r>
                      <a:r>
                        <a:rPr lang="ko-KR" altLang="en-US" sz="1400" dirty="0">
                          <a:solidFill>
                            <a:srgbClr val="FF0000"/>
                          </a:solidFill>
                        </a:rPr>
                        <a:t>적극적 </a:t>
                      </a:r>
                      <a:r>
                        <a:rPr lang="en-US" altLang="ko-KR" sz="1400" dirty="0">
                          <a:solidFill>
                            <a:srgbClr val="FF0000"/>
                          </a:solidFill>
                        </a:rPr>
                        <a:t>vs </a:t>
                      </a:r>
                      <a:r>
                        <a:rPr lang="ko-KR" altLang="en-US" sz="1400" dirty="0">
                          <a:solidFill>
                            <a:srgbClr val="FF0000"/>
                          </a:solidFill>
                        </a:rPr>
                        <a:t>소극적 권리범위확인심판을 </a:t>
                      </a:r>
                      <a:endParaRPr lang="en-US" altLang="ko-KR" sz="1400" dirty="0">
                        <a:solidFill>
                          <a:srgbClr val="FF0000"/>
                        </a:solidFill>
                      </a:endParaRPr>
                    </a:p>
                    <a:p>
                      <a:pPr algn="ctr" latinLnBrk="1"/>
                      <a:r>
                        <a:rPr lang="ko-KR" altLang="en-US" sz="1400" dirty="0">
                          <a:solidFill>
                            <a:srgbClr val="FF0000"/>
                          </a:solidFill>
                        </a:rPr>
                        <a:t>동일심판으로 인정</a:t>
                      </a:r>
                      <a:r>
                        <a:rPr lang="en-US" altLang="ko-KR" sz="1400" dirty="0">
                          <a:solidFill>
                            <a:srgbClr val="FF0000"/>
                          </a:solidFill>
                        </a:rPr>
                        <a:t>(75</a:t>
                      </a:r>
                      <a:r>
                        <a:rPr lang="ko-KR" altLang="en-US" sz="1400" dirty="0">
                          <a:solidFill>
                            <a:srgbClr val="FF0000"/>
                          </a:solidFill>
                        </a:rPr>
                        <a:t>후</a:t>
                      </a:r>
                      <a:r>
                        <a:rPr lang="en-US" altLang="ko-KR" sz="1400" dirty="0">
                          <a:solidFill>
                            <a:srgbClr val="FF0000"/>
                          </a:solidFill>
                        </a:rPr>
                        <a:t>18))</a:t>
                      </a:r>
                      <a:endParaRPr lang="ko-KR" altLang="en-US" sz="1400" dirty="0">
                        <a:solidFill>
                          <a:srgbClr val="FF0000"/>
                        </a:solidFill>
                      </a:endParaRPr>
                    </a:p>
                  </a:txBody>
                  <a:tcPr anchor="ctr"/>
                </a:tc>
                <a:tc>
                  <a:txBody>
                    <a:bodyPr/>
                    <a:lstStyle/>
                    <a:p>
                      <a:pPr algn="ctr" latinLnBrk="1"/>
                      <a:r>
                        <a:rPr lang="ko-KR" altLang="en-US" sz="1400" dirty="0"/>
                        <a:t>동일심판</a:t>
                      </a:r>
                      <a:endParaRPr lang="en-US" altLang="ko-KR" sz="1400" dirty="0"/>
                    </a:p>
                    <a:p>
                      <a:pPr marL="0" marR="0" lvl="0" indent="0" algn="ctr" defTabSz="914400" rtl="0" eaLnBrk="1" fontAlgn="auto" latinLnBrk="1" hangingPunct="1">
                        <a:lnSpc>
                          <a:spcPct val="100000"/>
                        </a:lnSpc>
                        <a:spcBef>
                          <a:spcPts val="0"/>
                        </a:spcBef>
                        <a:spcAft>
                          <a:spcPts val="0"/>
                        </a:spcAft>
                        <a:buClrTx/>
                        <a:buSzTx/>
                        <a:buFontTx/>
                        <a:buNone/>
                        <a:tabLst/>
                        <a:defRPr/>
                      </a:pPr>
                      <a:r>
                        <a:rPr lang="en-US" altLang="ko-KR" sz="1400" dirty="0">
                          <a:solidFill>
                            <a:srgbClr val="FF0000"/>
                          </a:solidFill>
                        </a:rPr>
                        <a:t>(</a:t>
                      </a:r>
                      <a:r>
                        <a:rPr lang="ko-KR" altLang="en-US" sz="1400" dirty="0">
                          <a:solidFill>
                            <a:srgbClr val="FF0000"/>
                          </a:solidFill>
                        </a:rPr>
                        <a:t>적극적 </a:t>
                      </a:r>
                      <a:r>
                        <a:rPr lang="en-US" altLang="ko-KR" sz="1400" dirty="0">
                          <a:solidFill>
                            <a:srgbClr val="FF0000"/>
                          </a:solidFill>
                        </a:rPr>
                        <a:t>vs </a:t>
                      </a:r>
                      <a:r>
                        <a:rPr lang="ko-KR" altLang="en-US" sz="1400" dirty="0">
                          <a:solidFill>
                            <a:srgbClr val="FF0000"/>
                          </a:solidFill>
                        </a:rPr>
                        <a:t>소극적 권리범위확인심판이 동일심판인지에 대하여 판례 나뉨</a:t>
                      </a:r>
                      <a:r>
                        <a:rPr lang="en-US" altLang="ko-KR" sz="1400" dirty="0">
                          <a:solidFill>
                            <a:srgbClr val="FF0000"/>
                          </a:solidFill>
                        </a:rPr>
                        <a:t>(2008</a:t>
                      </a:r>
                      <a:r>
                        <a:rPr lang="ko-KR" altLang="en-US" sz="1400" dirty="0">
                          <a:solidFill>
                            <a:srgbClr val="FF0000"/>
                          </a:solidFill>
                        </a:rPr>
                        <a:t>허</a:t>
                      </a:r>
                      <a:r>
                        <a:rPr lang="en-US" altLang="ko-KR" sz="1400" dirty="0">
                          <a:solidFill>
                            <a:srgbClr val="FF0000"/>
                          </a:solidFill>
                        </a:rPr>
                        <a:t>12289, 2016</a:t>
                      </a:r>
                      <a:r>
                        <a:rPr lang="ko-KR" altLang="en-US" sz="1400" dirty="0">
                          <a:solidFill>
                            <a:srgbClr val="FF0000"/>
                          </a:solidFill>
                        </a:rPr>
                        <a:t>허</a:t>
                      </a:r>
                      <a:r>
                        <a:rPr lang="en-US" altLang="ko-KR" sz="1400" dirty="0">
                          <a:solidFill>
                            <a:srgbClr val="FF0000"/>
                          </a:solidFill>
                        </a:rPr>
                        <a:t>2249))</a:t>
                      </a:r>
                      <a:endParaRPr lang="ko-KR" altLang="en-US" sz="1400" dirty="0">
                        <a:solidFill>
                          <a:srgbClr val="FF0000"/>
                        </a:solidFill>
                      </a:endParaRPr>
                    </a:p>
                  </a:txBody>
                  <a:tcPr anchor="ctr"/>
                </a:tc>
                <a:extLst>
                  <a:ext uri="{0D108BD9-81ED-4DB2-BD59-A6C34878D82A}">
                    <a16:rowId xmlns:a16="http://schemas.microsoft.com/office/drawing/2014/main" val="4187542189"/>
                  </a:ext>
                </a:extLst>
              </a:tr>
              <a:tr h="468515">
                <a:tc rowSpan="4">
                  <a:txBody>
                    <a:bodyPr/>
                    <a:lstStyle/>
                    <a:p>
                      <a:pPr algn="ctr" latinLnBrk="1"/>
                      <a:r>
                        <a:rPr lang="ko-KR" altLang="en-US" sz="1400" dirty="0"/>
                        <a:t>판단</a:t>
                      </a:r>
                    </a:p>
                  </a:txBody>
                  <a:tcPr anchor="ctr"/>
                </a:tc>
                <a:tc>
                  <a:txBody>
                    <a:bodyPr/>
                    <a:lstStyle/>
                    <a:p>
                      <a:pPr algn="ctr" latinLnBrk="1"/>
                      <a:r>
                        <a:rPr lang="ko-KR" altLang="en-US" sz="1400" dirty="0"/>
                        <a:t>주체</a:t>
                      </a:r>
                    </a:p>
                  </a:txBody>
                  <a:tcPr anchor="ctr"/>
                </a:tc>
                <a:tc gridSpan="2">
                  <a:txBody>
                    <a:bodyPr/>
                    <a:lstStyle/>
                    <a:p>
                      <a:pPr algn="ctr" latinLnBrk="1"/>
                      <a:r>
                        <a:rPr lang="ko-KR" altLang="en-US" sz="1400" dirty="0"/>
                        <a:t>심판관합의체</a:t>
                      </a:r>
                    </a:p>
                  </a:txBody>
                  <a:tcPr anchor="ctr"/>
                </a:tc>
                <a:tc hMerge="1">
                  <a:txBody>
                    <a:bodyPr/>
                    <a:lstStyle/>
                    <a:p>
                      <a:pPr algn="ctr" latinLnBrk="1"/>
                      <a:endParaRPr lang="ko-KR" altLang="en-US" sz="1400" dirty="0"/>
                    </a:p>
                  </a:txBody>
                  <a:tcPr anchor="ctr"/>
                </a:tc>
                <a:extLst>
                  <a:ext uri="{0D108BD9-81ED-4DB2-BD59-A6C34878D82A}">
                    <a16:rowId xmlns:a16="http://schemas.microsoft.com/office/drawing/2014/main" val="2225173183"/>
                  </a:ext>
                </a:extLst>
              </a:tr>
              <a:tr h="468515">
                <a:tc vMerge="1">
                  <a:txBody>
                    <a:bodyPr/>
                    <a:lstStyle/>
                    <a:p>
                      <a:pPr latinLnBrk="1"/>
                      <a:endParaRPr lang="ko-KR" altLang="en-US" dirty="0"/>
                    </a:p>
                  </a:txBody>
                  <a:tcPr/>
                </a:tc>
                <a:tc>
                  <a:txBody>
                    <a:bodyPr/>
                    <a:lstStyle/>
                    <a:p>
                      <a:pPr algn="ctr" latinLnBrk="1"/>
                      <a:r>
                        <a:rPr lang="ko-KR" altLang="en-US" sz="1400" dirty="0"/>
                        <a:t>객체</a:t>
                      </a:r>
                    </a:p>
                  </a:txBody>
                  <a:tcPr anchor="ctr"/>
                </a:tc>
                <a:tc>
                  <a:txBody>
                    <a:bodyPr/>
                    <a:lstStyle/>
                    <a:p>
                      <a:pPr algn="ctr" latinLnBrk="1"/>
                      <a:r>
                        <a:rPr lang="ko-KR" altLang="en-US" sz="1400" dirty="0"/>
                        <a:t>당사자계 심판</a:t>
                      </a:r>
                    </a:p>
                  </a:txBody>
                  <a:tcPr anchor="ctr"/>
                </a:tc>
                <a:tc>
                  <a:txBody>
                    <a:bodyPr/>
                    <a:lstStyle/>
                    <a:p>
                      <a:pPr algn="ctr" latinLnBrk="1"/>
                      <a:r>
                        <a:rPr lang="ko-KR" altLang="en-US" sz="1400" dirty="0"/>
                        <a:t>당사자계 심판</a:t>
                      </a:r>
                      <a:r>
                        <a:rPr lang="en-US" altLang="ko-KR" sz="1400" dirty="0"/>
                        <a:t>+</a:t>
                      </a:r>
                      <a:r>
                        <a:rPr lang="ko-KR" altLang="en-US" sz="1400" dirty="0" err="1"/>
                        <a:t>결정계</a:t>
                      </a:r>
                      <a:r>
                        <a:rPr lang="ko-KR" altLang="en-US" sz="1400" dirty="0"/>
                        <a:t> 심판</a:t>
                      </a:r>
                    </a:p>
                  </a:txBody>
                  <a:tcPr anchor="ctr"/>
                </a:tc>
                <a:extLst>
                  <a:ext uri="{0D108BD9-81ED-4DB2-BD59-A6C34878D82A}">
                    <a16:rowId xmlns:a16="http://schemas.microsoft.com/office/drawing/2014/main" val="2442062868"/>
                  </a:ext>
                </a:extLst>
              </a:tr>
              <a:tr h="468515">
                <a:tc vMerge="1">
                  <a:txBody>
                    <a:bodyPr/>
                    <a:lstStyle/>
                    <a:p>
                      <a:pPr latinLnBrk="1"/>
                      <a:endParaRPr lang="ko-KR" altLang="en-US" dirty="0"/>
                    </a:p>
                  </a:txBody>
                  <a:tcPr/>
                </a:tc>
                <a:tc>
                  <a:txBody>
                    <a:bodyPr/>
                    <a:lstStyle/>
                    <a:p>
                      <a:pPr algn="ctr" latinLnBrk="1"/>
                      <a:r>
                        <a:rPr lang="ko-KR" altLang="en-US" sz="1400" dirty="0"/>
                        <a:t>시기</a:t>
                      </a:r>
                    </a:p>
                  </a:txBody>
                  <a:tcPr anchor="ctr"/>
                </a:tc>
                <a:tc>
                  <a:txBody>
                    <a:bodyPr/>
                    <a:lstStyle/>
                    <a:p>
                      <a:pPr algn="ctr" latinLnBrk="1"/>
                      <a:r>
                        <a:rPr lang="ko-KR" altLang="en-US" sz="1400" dirty="0" err="1">
                          <a:solidFill>
                            <a:srgbClr val="FF0000"/>
                          </a:solidFill>
                        </a:rPr>
                        <a:t>심결시</a:t>
                      </a:r>
                      <a:r>
                        <a:rPr lang="en-US" altLang="ko-KR" sz="1400" dirty="0">
                          <a:solidFill>
                            <a:srgbClr val="FF0000"/>
                          </a:solidFill>
                        </a:rPr>
                        <a:t>(2018</a:t>
                      </a:r>
                      <a:r>
                        <a:rPr lang="ko-KR" altLang="en-US" sz="1400" dirty="0">
                          <a:solidFill>
                            <a:srgbClr val="FF0000"/>
                          </a:solidFill>
                        </a:rPr>
                        <a:t>후</a:t>
                      </a:r>
                      <a:r>
                        <a:rPr lang="en-US" altLang="ko-KR" sz="1400" dirty="0">
                          <a:solidFill>
                            <a:srgbClr val="FF0000"/>
                          </a:solidFill>
                        </a:rPr>
                        <a:t>11360)</a:t>
                      </a:r>
                    </a:p>
                    <a:p>
                      <a:pPr algn="ctr" latinLnBrk="1"/>
                      <a:r>
                        <a:rPr lang="ko-KR" altLang="en-US" sz="1400" dirty="0"/>
                        <a:t>단</a:t>
                      </a:r>
                      <a:r>
                        <a:rPr lang="en-US" altLang="ko-KR" sz="1400" dirty="0"/>
                        <a:t>, </a:t>
                      </a:r>
                      <a:r>
                        <a:rPr lang="ko-KR" altLang="en-US" sz="1400" dirty="0" err="1"/>
                        <a:t>선행심결의</a:t>
                      </a:r>
                      <a:r>
                        <a:rPr lang="ko-KR" altLang="en-US" sz="1400" dirty="0"/>
                        <a:t> 확정시점은 심판청구시</a:t>
                      </a:r>
                      <a:r>
                        <a:rPr lang="en-US" altLang="ko-KR" sz="1400" dirty="0"/>
                        <a:t>(2009</a:t>
                      </a:r>
                      <a:r>
                        <a:rPr lang="ko-KR" altLang="en-US" sz="1400" dirty="0"/>
                        <a:t>후</a:t>
                      </a:r>
                      <a:r>
                        <a:rPr lang="en-US" altLang="ko-KR" sz="1400" dirty="0"/>
                        <a:t>2234)</a:t>
                      </a:r>
                      <a:endParaRPr lang="ko-KR" altLang="en-US" sz="1400" dirty="0"/>
                    </a:p>
                  </a:txBody>
                  <a:tcPr anchor="ctr"/>
                </a:tc>
                <a:tc>
                  <a:txBody>
                    <a:bodyPr/>
                    <a:lstStyle/>
                    <a:p>
                      <a:pPr algn="ctr" latinLnBrk="1"/>
                      <a:r>
                        <a:rPr lang="ko-KR" altLang="en-US" sz="1400" dirty="0" err="1">
                          <a:solidFill>
                            <a:srgbClr val="FF0000"/>
                          </a:solidFill>
                        </a:rPr>
                        <a:t>심결시</a:t>
                      </a:r>
                      <a:r>
                        <a:rPr lang="en-US" altLang="ko-KR" sz="1400" dirty="0">
                          <a:solidFill>
                            <a:srgbClr val="FF0000"/>
                          </a:solidFill>
                        </a:rPr>
                        <a:t>(2016</a:t>
                      </a:r>
                      <a:r>
                        <a:rPr lang="ko-KR" altLang="en-US" sz="1400" dirty="0">
                          <a:solidFill>
                            <a:srgbClr val="FF0000"/>
                          </a:solidFill>
                        </a:rPr>
                        <a:t>후</a:t>
                      </a:r>
                      <a:r>
                        <a:rPr lang="en-US" altLang="ko-KR" sz="1400" dirty="0">
                          <a:solidFill>
                            <a:srgbClr val="FF0000"/>
                          </a:solidFill>
                        </a:rPr>
                        <a:t>2317)</a:t>
                      </a:r>
                      <a:endParaRPr lang="ko-KR" altLang="en-US" sz="1400" dirty="0">
                        <a:solidFill>
                          <a:srgbClr val="FF0000"/>
                        </a:solidFill>
                      </a:endParaRPr>
                    </a:p>
                  </a:txBody>
                  <a:tcPr anchor="ctr"/>
                </a:tc>
                <a:extLst>
                  <a:ext uri="{0D108BD9-81ED-4DB2-BD59-A6C34878D82A}">
                    <a16:rowId xmlns:a16="http://schemas.microsoft.com/office/drawing/2014/main" val="1539332916"/>
                  </a:ext>
                </a:extLst>
              </a:tr>
              <a:tr h="468515">
                <a:tc vMerge="1">
                  <a:txBody>
                    <a:bodyPr/>
                    <a:lstStyle/>
                    <a:p>
                      <a:pPr latinLnBrk="1"/>
                      <a:endParaRPr lang="ko-KR" altLang="en-US" dirty="0"/>
                    </a:p>
                  </a:txBody>
                  <a:tcPr/>
                </a:tc>
                <a:tc>
                  <a:txBody>
                    <a:bodyPr/>
                    <a:lstStyle/>
                    <a:p>
                      <a:pPr algn="ctr" latinLnBrk="1"/>
                      <a:r>
                        <a:rPr lang="ko-KR" altLang="en-US" sz="1400" dirty="0"/>
                        <a:t>방법</a:t>
                      </a:r>
                    </a:p>
                  </a:txBody>
                  <a:tcPr anchor="ctr"/>
                </a:tc>
                <a:tc gridSpan="2">
                  <a:txBody>
                    <a:bodyPr/>
                    <a:lstStyle/>
                    <a:p>
                      <a:pPr algn="ctr" latinLnBrk="1"/>
                      <a:r>
                        <a:rPr lang="ko-KR" altLang="en-US" sz="1400" dirty="0"/>
                        <a:t>직권조사사항</a:t>
                      </a:r>
                    </a:p>
                  </a:txBody>
                  <a:tcPr anchor="ctr"/>
                </a:tc>
                <a:tc hMerge="1">
                  <a:txBody>
                    <a:bodyPr/>
                    <a:lstStyle/>
                    <a:p>
                      <a:pPr algn="ctr" latinLnBrk="1"/>
                      <a:endParaRPr lang="ko-KR" altLang="en-US" sz="1400" dirty="0"/>
                    </a:p>
                  </a:txBody>
                  <a:tcPr anchor="ctr"/>
                </a:tc>
                <a:extLst>
                  <a:ext uri="{0D108BD9-81ED-4DB2-BD59-A6C34878D82A}">
                    <a16:rowId xmlns:a16="http://schemas.microsoft.com/office/drawing/2014/main" val="67002294"/>
                  </a:ext>
                </a:extLst>
              </a:tr>
              <a:tr h="468515">
                <a:tc gridSpan="2">
                  <a:txBody>
                    <a:bodyPr/>
                    <a:lstStyle/>
                    <a:p>
                      <a:pPr algn="ctr" latinLnBrk="1"/>
                      <a:r>
                        <a:rPr lang="ko-KR" altLang="en-US" sz="1400" dirty="0"/>
                        <a:t>조치</a:t>
                      </a:r>
                    </a:p>
                  </a:txBody>
                  <a:tcPr anchor="ctr"/>
                </a:tc>
                <a:tc hMerge="1">
                  <a:txBody>
                    <a:bodyPr/>
                    <a:lstStyle/>
                    <a:p>
                      <a:pPr latinLnBrk="1"/>
                      <a:endParaRPr lang="ko-KR" altLang="en-US" dirty="0"/>
                    </a:p>
                  </a:txBody>
                  <a:tcPr/>
                </a:tc>
                <a:tc gridSpan="2">
                  <a:txBody>
                    <a:bodyPr/>
                    <a:lstStyle/>
                    <a:p>
                      <a:pPr algn="ctr" latinLnBrk="1"/>
                      <a:r>
                        <a:rPr lang="ko-KR" altLang="en-US" sz="1400" dirty="0" err="1"/>
                        <a:t>심결각하</a:t>
                      </a:r>
                      <a:endParaRPr lang="ko-KR" altLang="en-US" sz="1400" dirty="0"/>
                    </a:p>
                  </a:txBody>
                  <a:tcPr anchor="ctr"/>
                </a:tc>
                <a:tc hMerge="1">
                  <a:txBody>
                    <a:bodyPr/>
                    <a:lstStyle/>
                    <a:p>
                      <a:pPr algn="ctr" latinLnBrk="1"/>
                      <a:endParaRPr lang="ko-KR" altLang="en-US" sz="1400" dirty="0"/>
                    </a:p>
                  </a:txBody>
                  <a:tcPr anchor="ctr"/>
                </a:tc>
                <a:extLst>
                  <a:ext uri="{0D108BD9-81ED-4DB2-BD59-A6C34878D82A}">
                    <a16:rowId xmlns:a16="http://schemas.microsoft.com/office/drawing/2014/main" val="953789093"/>
                  </a:ext>
                </a:extLst>
              </a:tr>
            </a:tbl>
          </a:graphicData>
        </a:graphic>
      </p:graphicFrame>
    </p:spTree>
    <p:extLst>
      <p:ext uri="{BB962C8B-B14F-4D97-AF65-F5344CB8AC3E}">
        <p14:creationId xmlns:p14="http://schemas.microsoft.com/office/powerpoint/2010/main" val="3373007922"/>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4" name="직선 연결선 73">
            <a:extLst>
              <a:ext uri="{FF2B5EF4-FFF2-40B4-BE49-F238E27FC236}">
                <a16:creationId xmlns:a16="http://schemas.microsoft.com/office/drawing/2014/main" id="{B91AB5BC-E387-494B-934F-5C4DE8E3B4B9}"/>
              </a:ext>
            </a:extLst>
          </p:cNvPr>
          <p:cNvCxnSpPr>
            <a:cxnSpLocks/>
            <a:stCxn id="77" idx="2"/>
            <a:endCxn id="47" idx="0"/>
          </p:cNvCxnSpPr>
          <p:nvPr/>
        </p:nvCxnSpPr>
        <p:spPr>
          <a:xfrm>
            <a:off x="1634936" y="4164410"/>
            <a:ext cx="4945" cy="76673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163</a:t>
            </a:r>
            <a:r>
              <a:rPr lang="ko-KR" altLang="en-US" dirty="0"/>
              <a:t>조</a:t>
            </a:r>
          </a:p>
        </p:txBody>
      </p:sp>
      <p:sp>
        <p:nvSpPr>
          <p:cNvPr id="4" name="텍스트 개체 틀 3"/>
          <p:cNvSpPr>
            <a:spLocks noGrp="1"/>
          </p:cNvSpPr>
          <p:nvPr>
            <p:ph type="body" sz="quarter" idx="13"/>
          </p:nvPr>
        </p:nvSpPr>
        <p:spPr/>
        <p:txBody>
          <a:bodyPr/>
          <a:lstStyle/>
          <a:p>
            <a:r>
              <a:rPr lang="ko-KR" altLang="en-US" dirty="0"/>
              <a:t>일사부재리 적용 </a:t>
            </a:r>
            <a:r>
              <a:rPr lang="en-US" altLang="ko-KR" dirty="0"/>
              <a:t>CASE: </a:t>
            </a:r>
            <a:r>
              <a:rPr lang="ko-KR" altLang="en-US" dirty="0"/>
              <a:t>본안심결의 확정 판단시점</a:t>
            </a:r>
          </a:p>
        </p:txBody>
      </p:sp>
      <p:sp>
        <p:nvSpPr>
          <p:cNvPr id="31" name="모서리가 둥근 직사각형 10">
            <a:extLst>
              <a:ext uri="{FF2B5EF4-FFF2-40B4-BE49-F238E27FC236}">
                <a16:creationId xmlns:a16="http://schemas.microsoft.com/office/drawing/2014/main" id="{83E8DC17-A890-4A8F-8AF6-87049ACC89A5}"/>
              </a:ext>
            </a:extLst>
          </p:cNvPr>
          <p:cNvSpPr/>
          <p:nvPr/>
        </p:nvSpPr>
        <p:spPr bwMode="auto">
          <a:xfrm>
            <a:off x="154300" y="1002199"/>
            <a:ext cx="5714410" cy="313998"/>
          </a:xfrm>
          <a:prstGeom prst="roundRect">
            <a:avLst>
              <a:gd name="adj" fmla="val 50000"/>
            </a:avLst>
          </a:prstGeom>
          <a:solidFill>
            <a:schemeClr val="bg1">
              <a:lumMod val="50000"/>
            </a:schemeClr>
          </a:solidFill>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2012. 1. 19. </a:t>
            </a:r>
            <a:r>
              <a:rPr lang="ko-KR" altLang="en-US" sz="1400" dirty="0"/>
              <a:t>선고 </a:t>
            </a:r>
            <a:r>
              <a:rPr lang="en-US" altLang="ko-KR" sz="1400" dirty="0"/>
              <a:t>2009</a:t>
            </a:r>
            <a:r>
              <a:rPr lang="ko-KR" altLang="en-US" sz="1400" dirty="0"/>
              <a:t>후</a:t>
            </a:r>
            <a:r>
              <a:rPr lang="en-US" altLang="ko-KR" sz="1400" dirty="0"/>
              <a:t>2234 </a:t>
            </a:r>
            <a:r>
              <a:rPr lang="ko-KR" altLang="en-US" sz="1400" dirty="0"/>
              <a:t>전원합의체 판결 </a:t>
            </a:r>
            <a:r>
              <a:rPr lang="en-US" altLang="ko-KR" sz="1400" dirty="0"/>
              <a:t>【</a:t>
            </a:r>
            <a:r>
              <a:rPr lang="ko-KR" altLang="en-US" sz="1400" dirty="0"/>
              <a:t>등록무효</a:t>
            </a:r>
            <a:r>
              <a:rPr lang="en-US" altLang="ko-KR" sz="1400" dirty="0"/>
              <a:t>(</a:t>
            </a:r>
            <a:r>
              <a:rPr lang="ko-KR" altLang="en-US" sz="1400" dirty="0" err="1"/>
              <a:t>특</a:t>
            </a:r>
            <a:r>
              <a:rPr lang="en-US" altLang="ko-KR" sz="1400" dirty="0"/>
              <a:t>)】</a:t>
            </a:r>
          </a:p>
        </p:txBody>
      </p:sp>
      <p:sp>
        <p:nvSpPr>
          <p:cNvPr id="32" name="직사각형 31">
            <a:extLst>
              <a:ext uri="{FF2B5EF4-FFF2-40B4-BE49-F238E27FC236}">
                <a16:creationId xmlns:a16="http://schemas.microsoft.com/office/drawing/2014/main" id="{AB016C75-8430-4388-9E51-7B3101DE3CF1}"/>
              </a:ext>
            </a:extLst>
          </p:cNvPr>
          <p:cNvSpPr/>
          <p:nvPr/>
        </p:nvSpPr>
        <p:spPr>
          <a:xfrm>
            <a:off x="232372" y="1333658"/>
            <a:ext cx="11681987" cy="2246769"/>
          </a:xfrm>
          <a:prstGeom prst="rect">
            <a:avLst/>
          </a:prstGeom>
        </p:spPr>
        <p:txBody>
          <a:bodyPr wrap="square">
            <a:spAutoFit/>
          </a:bodyPr>
          <a:lstStyle/>
          <a:p>
            <a:pPr algn="just"/>
            <a:r>
              <a:rPr lang="en-US" altLang="ko-KR" sz="1400" dirty="0"/>
              <a:t>1) </a:t>
            </a:r>
            <a:r>
              <a:rPr lang="ko-KR" altLang="en-US" sz="1400" dirty="0"/>
              <a:t>이는 관련 확정 </a:t>
            </a:r>
            <a:r>
              <a:rPr lang="ko-KR" altLang="en-US" sz="1400" dirty="0" err="1"/>
              <a:t>심결의</a:t>
            </a:r>
            <a:r>
              <a:rPr lang="ko-KR" altLang="en-US" sz="1400" dirty="0"/>
              <a:t> 등록</a:t>
            </a:r>
            <a:r>
              <a:rPr lang="en-US" altLang="ko-KR" sz="1400" dirty="0"/>
              <a:t>*</a:t>
            </a:r>
            <a:r>
              <a:rPr lang="ko-KR" altLang="en-US" sz="1400" dirty="0"/>
              <a:t>이라는 우연한 사정에 의하여 심판청구인이 자신의 고유한 이익을 위하여 진행하던 절차가 소급적으로 </a:t>
            </a:r>
            <a:r>
              <a:rPr lang="ko-KR" altLang="en-US" sz="1400" dirty="0" err="1"/>
              <a:t>부적법하게</a:t>
            </a:r>
            <a:r>
              <a:rPr lang="ko-KR" altLang="en-US" sz="1400" dirty="0"/>
              <a:t> 되는 것으로 헌법상 보장된 </a:t>
            </a:r>
            <a:r>
              <a:rPr lang="ko-KR" altLang="en-US" sz="1400" dirty="0">
                <a:highlight>
                  <a:srgbClr val="FFFF00"/>
                </a:highlight>
              </a:rPr>
              <a:t>국민의 재판청구권을 과도하게 침해</a:t>
            </a:r>
            <a:r>
              <a:rPr lang="ko-KR" altLang="en-US" sz="1400" dirty="0"/>
              <a:t>할 우려가 있고</a:t>
            </a:r>
            <a:r>
              <a:rPr lang="en-US" altLang="ko-KR" sz="1400" dirty="0"/>
              <a:t>, 2) </a:t>
            </a:r>
            <a:r>
              <a:rPr lang="ko-KR" altLang="en-US" sz="1400" dirty="0"/>
              <a:t>그 심판에 대한 특허심판원의 </a:t>
            </a:r>
            <a:r>
              <a:rPr lang="ko-KR" altLang="en-US" sz="1400" dirty="0" err="1"/>
              <a:t>심결을</a:t>
            </a:r>
            <a:r>
              <a:rPr lang="ko-KR" altLang="en-US" sz="1400" dirty="0"/>
              <a:t> 취소한 </a:t>
            </a:r>
            <a:r>
              <a:rPr lang="ko-KR" altLang="en-US" sz="1400" dirty="0">
                <a:highlight>
                  <a:srgbClr val="FFFF00"/>
                </a:highlight>
              </a:rPr>
              <a:t>법원의 판결을 무의미</a:t>
            </a:r>
            <a:r>
              <a:rPr lang="ko-KR" altLang="en-US" sz="1400" dirty="0"/>
              <a:t>하게 하는 불합리가 발생하게 된다</a:t>
            </a:r>
            <a:r>
              <a:rPr lang="en-US" altLang="ko-KR" sz="1400" dirty="0"/>
              <a:t>. 3) </a:t>
            </a:r>
            <a:r>
              <a:rPr lang="ko-KR" altLang="en-US" sz="1400" dirty="0"/>
              <a:t>나아가 구 특허법 제</a:t>
            </a:r>
            <a:r>
              <a:rPr lang="en-US" altLang="ko-KR" sz="1400" dirty="0"/>
              <a:t>163</a:t>
            </a:r>
            <a:r>
              <a:rPr lang="ko-KR" altLang="en-US" sz="1400" dirty="0"/>
              <a:t>조의 취지는 심판청구의 남용을 방지하여 심판절차의 경제성을 도모하고 동일한 심판에 대하여 상대방이 반복적으로 심판에 응하여야 하는 번거로움을 면하도록 하는 데에 있다</a:t>
            </a:r>
            <a:r>
              <a:rPr lang="en-US" altLang="ko-KR" sz="1400" dirty="0"/>
              <a:t>. </a:t>
            </a:r>
            <a:r>
              <a:rPr lang="ko-KR" altLang="en-US" sz="1400" dirty="0"/>
              <a:t>그러나 위 규정은 일사부재리의 효력이 미치는 인적범위에 관하여 “</a:t>
            </a:r>
            <a:r>
              <a:rPr lang="ko-KR" altLang="en-US" sz="1400" dirty="0" err="1"/>
              <a:t>누구든지”라고</a:t>
            </a:r>
            <a:r>
              <a:rPr lang="ko-KR" altLang="en-US" sz="1400" dirty="0"/>
              <a:t> 정하고 있어서 확정 등록된 </a:t>
            </a:r>
            <a:r>
              <a:rPr lang="ko-KR" altLang="en-US" sz="1400" dirty="0" err="1"/>
              <a:t>심결의</a:t>
            </a:r>
            <a:r>
              <a:rPr lang="ko-KR" altLang="en-US" sz="1400" dirty="0"/>
              <a:t> 당사자나 그 승계인이외의 사람이라도 동일사실 및 동일증거에 의하여 동일심판을 청구할 수 없으므로</a:t>
            </a:r>
            <a:r>
              <a:rPr lang="en-US" altLang="ko-KR" sz="1400" dirty="0"/>
              <a:t>, </a:t>
            </a:r>
            <a:r>
              <a:rPr lang="ko-KR" altLang="en-US" sz="1400" dirty="0">
                <a:highlight>
                  <a:srgbClr val="FFFF00"/>
                </a:highlight>
              </a:rPr>
              <a:t>함부로 그 적용의 범위를 넓히는 것은 위와 같이 국민의 재판청구권의 행사를 제한하는 결과</a:t>
            </a:r>
            <a:r>
              <a:rPr lang="ko-KR" altLang="en-US" sz="1400" dirty="0"/>
              <a:t>가 될 것이다</a:t>
            </a:r>
            <a:r>
              <a:rPr lang="en-US" altLang="ko-KR" sz="1400" dirty="0"/>
              <a:t>. </a:t>
            </a:r>
            <a:r>
              <a:rPr lang="ko-KR" altLang="en-US" sz="1400" dirty="0"/>
              <a:t>그런데 구 특허법 제</a:t>
            </a:r>
            <a:r>
              <a:rPr lang="en-US" altLang="ko-KR" sz="1400" dirty="0"/>
              <a:t>163</a:t>
            </a:r>
            <a:r>
              <a:rPr lang="ko-KR" altLang="en-US" sz="1400" dirty="0"/>
              <a:t>조는 위와 같이 ‘그 심판을 청구할 수 </a:t>
            </a:r>
            <a:r>
              <a:rPr lang="ko-KR" altLang="en-US" sz="1400" dirty="0" err="1"/>
              <a:t>없다’라고</a:t>
            </a:r>
            <a:r>
              <a:rPr lang="ko-KR" altLang="en-US" sz="1400" dirty="0"/>
              <a:t> 규정하고 있어서</a:t>
            </a:r>
            <a:r>
              <a:rPr lang="en-US" altLang="ko-KR" sz="1400" dirty="0"/>
              <a:t>, </a:t>
            </a:r>
            <a:r>
              <a:rPr lang="ko-KR" altLang="en-US" sz="1400" dirty="0"/>
              <a:t>위 규정의 문언에 따르면 심판의 </a:t>
            </a:r>
            <a:r>
              <a:rPr lang="ko-KR" altLang="en-US" sz="1400" dirty="0" err="1"/>
              <a:t>심결이</a:t>
            </a:r>
            <a:r>
              <a:rPr lang="ko-KR" altLang="en-US" sz="1400" dirty="0"/>
              <a:t> 확정 등록된 후에는 앞선 심판청구와 동일사실 및 동일증거에 기초하여 새로운 심판을 청구하는 것이 허용되지 아니한다고 해석될 뿐이다</a:t>
            </a:r>
            <a:r>
              <a:rPr lang="en-US" altLang="ko-KR" sz="1400" dirty="0"/>
              <a:t>. </a:t>
            </a:r>
            <a:r>
              <a:rPr lang="ko-KR" altLang="en-US" sz="1400" dirty="0"/>
              <a:t>그러함에도 이를 넘어서 심판청구를 제기하던 당시에 다른 심판의 </a:t>
            </a:r>
            <a:r>
              <a:rPr lang="ko-KR" altLang="en-US" sz="1400" dirty="0" err="1"/>
              <a:t>심결이</a:t>
            </a:r>
            <a:r>
              <a:rPr lang="ko-KR" altLang="en-US" sz="1400" dirty="0"/>
              <a:t> 확정 등록되지 아니하였는데 그 심판청구에 관한 </a:t>
            </a:r>
            <a:r>
              <a:rPr lang="ko-KR" altLang="en-US" sz="1400" dirty="0" err="1"/>
              <a:t>심결을</a:t>
            </a:r>
            <a:r>
              <a:rPr lang="ko-KR" altLang="en-US" sz="1400" dirty="0"/>
              <a:t> 할 때에 이미 다른 심판의 </a:t>
            </a:r>
            <a:r>
              <a:rPr lang="ko-KR" altLang="en-US" sz="1400" dirty="0" err="1"/>
              <a:t>심결이</a:t>
            </a:r>
            <a:r>
              <a:rPr lang="ko-KR" altLang="en-US" sz="1400" dirty="0"/>
              <a:t> 확정 등록된 경우에까지 그 심판청구가 일사부재리의 원칙에 의하여 소급적으로 </a:t>
            </a:r>
            <a:r>
              <a:rPr lang="ko-KR" altLang="en-US" sz="1400" dirty="0" err="1"/>
              <a:t>부적법하게</a:t>
            </a:r>
            <a:r>
              <a:rPr lang="ko-KR" altLang="en-US" sz="1400" dirty="0"/>
              <a:t> 될 수 있다고 하는 것은 합리적인 해석이라고 할 수 없다</a:t>
            </a:r>
            <a:r>
              <a:rPr lang="en-US" altLang="ko-KR" sz="1400" dirty="0"/>
              <a:t>.</a:t>
            </a:r>
            <a:endParaRPr lang="en-US" altLang="ko-KR" sz="1400" dirty="0">
              <a:solidFill>
                <a:srgbClr val="FF0000"/>
              </a:solidFill>
            </a:endParaRPr>
          </a:p>
        </p:txBody>
      </p:sp>
      <p:cxnSp>
        <p:nvCxnSpPr>
          <p:cNvPr id="33" name="직선 연결선 32">
            <a:extLst>
              <a:ext uri="{FF2B5EF4-FFF2-40B4-BE49-F238E27FC236}">
                <a16:creationId xmlns:a16="http://schemas.microsoft.com/office/drawing/2014/main" id="{3B7D8B57-08E9-4752-8D90-0D1D0602B6B2}"/>
              </a:ext>
            </a:extLst>
          </p:cNvPr>
          <p:cNvCxnSpPr/>
          <p:nvPr/>
        </p:nvCxnSpPr>
        <p:spPr>
          <a:xfrm>
            <a:off x="0" y="3580974"/>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Line 5">
            <a:extLst>
              <a:ext uri="{FF2B5EF4-FFF2-40B4-BE49-F238E27FC236}">
                <a16:creationId xmlns:a16="http://schemas.microsoft.com/office/drawing/2014/main" id="{C3D521F3-C89A-4691-A233-1BC4F6DB64D3}"/>
              </a:ext>
            </a:extLst>
          </p:cNvPr>
          <p:cNvSpPr>
            <a:spLocks noChangeShapeType="1"/>
          </p:cNvSpPr>
          <p:nvPr/>
        </p:nvSpPr>
        <p:spPr bwMode="auto">
          <a:xfrm>
            <a:off x="514351" y="5025078"/>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4" name="TextBox 43">
            <a:extLst>
              <a:ext uri="{FF2B5EF4-FFF2-40B4-BE49-F238E27FC236}">
                <a16:creationId xmlns:a16="http://schemas.microsoft.com/office/drawing/2014/main" id="{890F57E0-0C93-429E-B52D-950B18A62824}"/>
              </a:ext>
            </a:extLst>
          </p:cNvPr>
          <p:cNvSpPr txBox="1"/>
          <p:nvPr/>
        </p:nvSpPr>
        <p:spPr>
          <a:xfrm>
            <a:off x="905348" y="5281253"/>
            <a:ext cx="1469068" cy="523220"/>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甲 무효심판청구</a:t>
            </a:r>
            <a:endParaRPr lang="en-US" altLang="ko-KR" sz="1400" dirty="0">
              <a:solidFill>
                <a:schemeClr val="tx1"/>
              </a:solidFill>
              <a:latin typeface="+mn-ea"/>
            </a:endParaRPr>
          </a:p>
          <a:p>
            <a:pPr algn="ctr"/>
            <a:r>
              <a:rPr lang="en-US" altLang="ko-KR" sz="1400" dirty="0">
                <a:solidFill>
                  <a:schemeClr val="tx1"/>
                </a:solidFill>
                <a:latin typeface="+mn-ea"/>
              </a:rPr>
              <a:t>(</a:t>
            </a:r>
            <a:r>
              <a:rPr lang="ko-KR" altLang="en-US" sz="1400" dirty="0">
                <a:solidFill>
                  <a:schemeClr val="tx1"/>
                </a:solidFill>
                <a:latin typeface="+mn-ea"/>
              </a:rPr>
              <a:t>乙 피청구인</a:t>
            </a:r>
            <a:r>
              <a:rPr lang="en-US" altLang="ko-KR" sz="1400" dirty="0">
                <a:solidFill>
                  <a:schemeClr val="tx1"/>
                </a:solidFill>
                <a:latin typeface="+mn-ea"/>
              </a:rPr>
              <a:t>)</a:t>
            </a:r>
            <a:endParaRPr lang="ko-KR" altLang="en-US" sz="1400" dirty="0">
              <a:solidFill>
                <a:schemeClr val="tx1"/>
              </a:solidFill>
              <a:latin typeface="+mn-ea"/>
            </a:endParaRPr>
          </a:p>
        </p:txBody>
      </p:sp>
      <p:sp>
        <p:nvSpPr>
          <p:cNvPr id="47" name="타원 46">
            <a:extLst>
              <a:ext uri="{FF2B5EF4-FFF2-40B4-BE49-F238E27FC236}">
                <a16:creationId xmlns:a16="http://schemas.microsoft.com/office/drawing/2014/main" id="{1E416A6A-17E0-4A3B-8C28-9560A00280A4}"/>
              </a:ext>
            </a:extLst>
          </p:cNvPr>
          <p:cNvSpPr/>
          <p:nvPr/>
        </p:nvSpPr>
        <p:spPr>
          <a:xfrm>
            <a:off x="1562512" y="493114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8" name="직선 연결선 47">
            <a:extLst>
              <a:ext uri="{FF2B5EF4-FFF2-40B4-BE49-F238E27FC236}">
                <a16:creationId xmlns:a16="http://schemas.microsoft.com/office/drawing/2014/main" id="{94B9FD84-6472-4A38-96A7-0961D12BE1A4}"/>
              </a:ext>
            </a:extLst>
          </p:cNvPr>
          <p:cNvCxnSpPr>
            <a:cxnSpLocks/>
            <a:stCxn id="44" idx="0"/>
            <a:endCxn id="47" idx="4"/>
          </p:cNvCxnSpPr>
          <p:nvPr/>
        </p:nvCxnSpPr>
        <p:spPr>
          <a:xfrm flipH="1" flipV="1">
            <a:off x="1639881" y="509248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B93DE314-156B-4AE0-A6A1-A3E38D2DAD5E}"/>
              </a:ext>
            </a:extLst>
          </p:cNvPr>
          <p:cNvSpPr txBox="1"/>
          <p:nvPr/>
        </p:nvSpPr>
        <p:spPr>
          <a:xfrm>
            <a:off x="2645012" y="5281253"/>
            <a:ext cx="996614" cy="307777"/>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err="1">
                <a:solidFill>
                  <a:schemeClr val="tx1"/>
                </a:solidFill>
                <a:latin typeface="+mn-ea"/>
              </a:rPr>
              <a:t>기각심결</a:t>
            </a:r>
            <a:endParaRPr lang="ko-KR" altLang="en-US" sz="1400" dirty="0">
              <a:solidFill>
                <a:schemeClr val="tx1"/>
              </a:solidFill>
              <a:latin typeface="+mn-ea"/>
            </a:endParaRPr>
          </a:p>
        </p:txBody>
      </p:sp>
      <p:sp>
        <p:nvSpPr>
          <p:cNvPr id="29" name="타원 28">
            <a:extLst>
              <a:ext uri="{FF2B5EF4-FFF2-40B4-BE49-F238E27FC236}">
                <a16:creationId xmlns:a16="http://schemas.microsoft.com/office/drawing/2014/main" id="{BF25F9F4-5090-4DB9-9E09-63BBFFE26323}"/>
              </a:ext>
            </a:extLst>
          </p:cNvPr>
          <p:cNvSpPr/>
          <p:nvPr/>
        </p:nvSpPr>
        <p:spPr>
          <a:xfrm>
            <a:off x="3065949" y="493114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0" name="직선 연결선 29">
            <a:extLst>
              <a:ext uri="{FF2B5EF4-FFF2-40B4-BE49-F238E27FC236}">
                <a16:creationId xmlns:a16="http://schemas.microsoft.com/office/drawing/2014/main" id="{80124424-B4CE-4C83-9036-BBB347007F6C}"/>
              </a:ext>
            </a:extLst>
          </p:cNvPr>
          <p:cNvCxnSpPr>
            <a:cxnSpLocks/>
            <a:stCxn id="28" idx="0"/>
            <a:endCxn id="29" idx="4"/>
          </p:cNvCxnSpPr>
          <p:nvPr/>
        </p:nvCxnSpPr>
        <p:spPr>
          <a:xfrm flipH="1" flipV="1">
            <a:off x="3143318" y="509248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D9F658C6-E47F-4293-9C2D-C2D845BDDFD4}"/>
              </a:ext>
            </a:extLst>
          </p:cNvPr>
          <p:cNvSpPr txBox="1"/>
          <p:nvPr/>
        </p:nvSpPr>
        <p:spPr>
          <a:xfrm>
            <a:off x="3849693" y="5281253"/>
            <a:ext cx="996614" cy="523220"/>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甲 소 제기</a:t>
            </a:r>
            <a:endParaRPr lang="en-US" altLang="ko-KR" sz="1400" dirty="0">
              <a:solidFill>
                <a:schemeClr val="tx1"/>
              </a:solidFill>
              <a:latin typeface="+mn-ea"/>
            </a:endParaRPr>
          </a:p>
          <a:p>
            <a:pPr algn="ctr"/>
            <a:r>
              <a:rPr lang="en-US" altLang="ko-KR" sz="1400" dirty="0">
                <a:solidFill>
                  <a:schemeClr val="tx1"/>
                </a:solidFill>
                <a:latin typeface="+mn-ea"/>
              </a:rPr>
              <a:t>(</a:t>
            </a:r>
            <a:r>
              <a:rPr lang="ko-KR" altLang="en-US" sz="1400" dirty="0">
                <a:solidFill>
                  <a:schemeClr val="tx1"/>
                </a:solidFill>
                <a:latin typeface="+mn-ea"/>
              </a:rPr>
              <a:t>乙 피고</a:t>
            </a:r>
            <a:r>
              <a:rPr lang="en-US" altLang="ko-KR" sz="1400" dirty="0">
                <a:solidFill>
                  <a:schemeClr val="tx1"/>
                </a:solidFill>
                <a:latin typeface="+mn-ea"/>
              </a:rPr>
              <a:t>)</a:t>
            </a:r>
            <a:endParaRPr lang="ko-KR" altLang="en-US" sz="1400" dirty="0">
              <a:solidFill>
                <a:schemeClr val="tx1"/>
              </a:solidFill>
              <a:latin typeface="+mn-ea"/>
            </a:endParaRPr>
          </a:p>
        </p:txBody>
      </p:sp>
      <p:sp>
        <p:nvSpPr>
          <p:cNvPr id="46" name="타원 45">
            <a:extLst>
              <a:ext uri="{FF2B5EF4-FFF2-40B4-BE49-F238E27FC236}">
                <a16:creationId xmlns:a16="http://schemas.microsoft.com/office/drawing/2014/main" id="{02E40390-9F8C-4253-90F9-D928F2C63176}"/>
              </a:ext>
            </a:extLst>
          </p:cNvPr>
          <p:cNvSpPr/>
          <p:nvPr/>
        </p:nvSpPr>
        <p:spPr>
          <a:xfrm>
            <a:off x="4270630" y="493114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9" name="직선 연결선 48">
            <a:extLst>
              <a:ext uri="{FF2B5EF4-FFF2-40B4-BE49-F238E27FC236}">
                <a16:creationId xmlns:a16="http://schemas.microsoft.com/office/drawing/2014/main" id="{05A41FC0-CB04-4238-BDBA-4FF3F11A51ED}"/>
              </a:ext>
            </a:extLst>
          </p:cNvPr>
          <p:cNvCxnSpPr>
            <a:cxnSpLocks/>
            <a:stCxn id="45" idx="0"/>
            <a:endCxn id="46" idx="4"/>
          </p:cNvCxnSpPr>
          <p:nvPr/>
        </p:nvCxnSpPr>
        <p:spPr>
          <a:xfrm flipH="1" flipV="1">
            <a:off x="4347999" y="509248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354DBD03-D014-420A-898B-983F6D385271}"/>
              </a:ext>
            </a:extLst>
          </p:cNvPr>
          <p:cNvSpPr txBox="1"/>
          <p:nvPr/>
        </p:nvSpPr>
        <p:spPr>
          <a:xfrm>
            <a:off x="8563502" y="5281253"/>
            <a:ext cx="996614" cy="523220"/>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인용판결</a:t>
            </a:r>
            <a:endParaRPr lang="en-US" altLang="ko-KR" sz="1400" dirty="0">
              <a:solidFill>
                <a:schemeClr val="tx1"/>
              </a:solidFill>
              <a:latin typeface="+mn-ea"/>
            </a:endParaRPr>
          </a:p>
          <a:p>
            <a:pPr algn="ctr"/>
            <a:r>
              <a:rPr lang="en-US" altLang="ko-KR" sz="1400" dirty="0">
                <a:solidFill>
                  <a:schemeClr val="tx1"/>
                </a:solidFill>
                <a:latin typeface="+mn-ea"/>
              </a:rPr>
              <a:t>(</a:t>
            </a:r>
            <a:r>
              <a:rPr lang="ko-KR" altLang="en-US" sz="1400" dirty="0" err="1">
                <a:solidFill>
                  <a:schemeClr val="tx1"/>
                </a:solidFill>
                <a:latin typeface="+mn-ea"/>
              </a:rPr>
              <a:t>취소환송</a:t>
            </a:r>
            <a:r>
              <a:rPr lang="en-US" altLang="ko-KR" sz="1400" dirty="0">
                <a:solidFill>
                  <a:schemeClr val="tx1"/>
                </a:solidFill>
                <a:latin typeface="+mn-ea"/>
              </a:rPr>
              <a:t>)</a:t>
            </a:r>
            <a:endParaRPr lang="ko-KR" altLang="en-US" sz="1400" dirty="0">
              <a:solidFill>
                <a:schemeClr val="tx1"/>
              </a:solidFill>
              <a:latin typeface="+mn-ea"/>
            </a:endParaRPr>
          </a:p>
        </p:txBody>
      </p:sp>
      <p:sp>
        <p:nvSpPr>
          <p:cNvPr id="53" name="타원 52">
            <a:extLst>
              <a:ext uri="{FF2B5EF4-FFF2-40B4-BE49-F238E27FC236}">
                <a16:creationId xmlns:a16="http://schemas.microsoft.com/office/drawing/2014/main" id="{84A23F3C-CF39-4A22-A9D4-EF52A1D4B252}"/>
              </a:ext>
            </a:extLst>
          </p:cNvPr>
          <p:cNvSpPr/>
          <p:nvPr/>
        </p:nvSpPr>
        <p:spPr>
          <a:xfrm>
            <a:off x="8984439" y="493114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4" name="직선 연결선 53">
            <a:extLst>
              <a:ext uri="{FF2B5EF4-FFF2-40B4-BE49-F238E27FC236}">
                <a16:creationId xmlns:a16="http://schemas.microsoft.com/office/drawing/2014/main" id="{C8BA752E-4FCF-4EBF-BDCD-1ADEE985BF62}"/>
              </a:ext>
            </a:extLst>
          </p:cNvPr>
          <p:cNvCxnSpPr>
            <a:cxnSpLocks/>
            <a:stCxn id="52" idx="0"/>
            <a:endCxn id="53" idx="4"/>
          </p:cNvCxnSpPr>
          <p:nvPr/>
        </p:nvCxnSpPr>
        <p:spPr>
          <a:xfrm flipH="1" flipV="1">
            <a:off x="9061808" y="509248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4E752647-CA77-4730-9828-80C4ADAC153D}"/>
              </a:ext>
            </a:extLst>
          </p:cNvPr>
          <p:cNvSpPr txBox="1"/>
          <p:nvPr/>
        </p:nvSpPr>
        <p:spPr>
          <a:xfrm>
            <a:off x="9957359" y="5281253"/>
            <a:ext cx="688012" cy="307777"/>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err="1">
                <a:solidFill>
                  <a:schemeClr val="tx1"/>
                </a:solidFill>
                <a:latin typeface="+mn-ea"/>
              </a:rPr>
              <a:t>심결</a:t>
            </a:r>
            <a:endParaRPr lang="ko-KR" altLang="en-US" sz="1400" dirty="0">
              <a:solidFill>
                <a:schemeClr val="tx1"/>
              </a:solidFill>
              <a:latin typeface="+mn-ea"/>
            </a:endParaRPr>
          </a:p>
        </p:txBody>
      </p:sp>
      <p:sp>
        <p:nvSpPr>
          <p:cNvPr id="56" name="타원 55">
            <a:extLst>
              <a:ext uri="{FF2B5EF4-FFF2-40B4-BE49-F238E27FC236}">
                <a16:creationId xmlns:a16="http://schemas.microsoft.com/office/drawing/2014/main" id="{CA50C72E-8883-4BC0-9B5A-9B09990D79CD}"/>
              </a:ext>
            </a:extLst>
          </p:cNvPr>
          <p:cNvSpPr/>
          <p:nvPr/>
        </p:nvSpPr>
        <p:spPr>
          <a:xfrm>
            <a:off x="10223995" y="493114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7" name="직선 연결선 56">
            <a:extLst>
              <a:ext uri="{FF2B5EF4-FFF2-40B4-BE49-F238E27FC236}">
                <a16:creationId xmlns:a16="http://schemas.microsoft.com/office/drawing/2014/main" id="{52B3968F-EB0B-4EEB-88EC-8B7FF3F3AE32}"/>
              </a:ext>
            </a:extLst>
          </p:cNvPr>
          <p:cNvCxnSpPr>
            <a:cxnSpLocks/>
            <a:stCxn id="55" idx="0"/>
            <a:endCxn id="56" idx="4"/>
          </p:cNvCxnSpPr>
          <p:nvPr/>
        </p:nvCxnSpPr>
        <p:spPr>
          <a:xfrm flipH="1" flipV="1">
            <a:off x="10301364" y="509248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ABA782B4-8A98-4F18-AACB-6249BAE600DE}"/>
              </a:ext>
            </a:extLst>
          </p:cNvPr>
          <p:cNvSpPr txBox="1"/>
          <p:nvPr/>
        </p:nvSpPr>
        <p:spPr>
          <a:xfrm>
            <a:off x="4789627" y="4215027"/>
            <a:ext cx="1469068" cy="52322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a:solidFill>
                  <a:schemeClr val="tx1"/>
                </a:solidFill>
                <a:latin typeface="+mn-ea"/>
              </a:rPr>
              <a:t>丙 무효심판청구</a:t>
            </a:r>
            <a:endParaRPr lang="en-US" altLang="ko-KR" sz="1400" dirty="0">
              <a:solidFill>
                <a:schemeClr val="tx1"/>
              </a:solidFill>
              <a:latin typeface="+mn-ea"/>
            </a:endParaRPr>
          </a:p>
          <a:p>
            <a:pPr algn="ctr"/>
            <a:r>
              <a:rPr lang="en-US" altLang="ko-KR" sz="1400" dirty="0">
                <a:solidFill>
                  <a:schemeClr val="tx1"/>
                </a:solidFill>
                <a:latin typeface="+mn-ea"/>
              </a:rPr>
              <a:t>(</a:t>
            </a:r>
            <a:r>
              <a:rPr lang="ko-KR" altLang="en-US" sz="1400" dirty="0">
                <a:solidFill>
                  <a:schemeClr val="tx1"/>
                </a:solidFill>
                <a:latin typeface="+mn-ea"/>
              </a:rPr>
              <a:t>乙 피청구인</a:t>
            </a:r>
            <a:r>
              <a:rPr lang="en-US" altLang="ko-KR" sz="1400" dirty="0">
                <a:solidFill>
                  <a:schemeClr val="tx1"/>
                </a:solidFill>
                <a:latin typeface="+mn-ea"/>
              </a:rPr>
              <a:t>)</a:t>
            </a:r>
            <a:endParaRPr lang="ko-KR" altLang="en-US" sz="1400" dirty="0">
              <a:solidFill>
                <a:schemeClr val="tx1"/>
              </a:solidFill>
              <a:latin typeface="+mn-ea"/>
            </a:endParaRPr>
          </a:p>
        </p:txBody>
      </p:sp>
      <p:sp>
        <p:nvSpPr>
          <p:cNvPr id="59" name="타원 58">
            <a:extLst>
              <a:ext uri="{FF2B5EF4-FFF2-40B4-BE49-F238E27FC236}">
                <a16:creationId xmlns:a16="http://schemas.microsoft.com/office/drawing/2014/main" id="{281FAA11-A73B-4B3D-9078-563DA516B843}"/>
              </a:ext>
            </a:extLst>
          </p:cNvPr>
          <p:cNvSpPr/>
          <p:nvPr/>
        </p:nvSpPr>
        <p:spPr>
          <a:xfrm>
            <a:off x="5446791" y="4931144"/>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0" name="직선 연결선 59">
            <a:extLst>
              <a:ext uri="{FF2B5EF4-FFF2-40B4-BE49-F238E27FC236}">
                <a16:creationId xmlns:a16="http://schemas.microsoft.com/office/drawing/2014/main" id="{0A4B9DF1-B898-4075-8C7A-D767F76116BD}"/>
              </a:ext>
            </a:extLst>
          </p:cNvPr>
          <p:cNvCxnSpPr>
            <a:cxnSpLocks/>
            <a:stCxn id="58" idx="2"/>
            <a:endCxn id="59" idx="0"/>
          </p:cNvCxnSpPr>
          <p:nvPr/>
        </p:nvCxnSpPr>
        <p:spPr>
          <a:xfrm flipH="1">
            <a:off x="5524160" y="4738247"/>
            <a:ext cx="1" cy="19289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3D54AA36-D66D-4E52-81F3-5D57B918CD3B}"/>
              </a:ext>
            </a:extLst>
          </p:cNvPr>
          <p:cNvSpPr txBox="1"/>
          <p:nvPr/>
        </p:nvSpPr>
        <p:spPr>
          <a:xfrm>
            <a:off x="6749336" y="4215027"/>
            <a:ext cx="1224724" cy="307777"/>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400" dirty="0" err="1">
                <a:solidFill>
                  <a:schemeClr val="tx1"/>
                </a:solidFill>
                <a:latin typeface="+mn-ea"/>
              </a:rPr>
              <a:t>기각심결확정</a:t>
            </a:r>
            <a:endParaRPr lang="ko-KR" altLang="en-US" sz="1400" dirty="0">
              <a:solidFill>
                <a:schemeClr val="tx1"/>
              </a:solidFill>
              <a:latin typeface="+mn-ea"/>
            </a:endParaRPr>
          </a:p>
        </p:txBody>
      </p:sp>
      <p:sp>
        <p:nvSpPr>
          <p:cNvPr id="68" name="타원 67">
            <a:extLst>
              <a:ext uri="{FF2B5EF4-FFF2-40B4-BE49-F238E27FC236}">
                <a16:creationId xmlns:a16="http://schemas.microsoft.com/office/drawing/2014/main" id="{A826EA93-3CE6-442F-AC6A-613975BBE8A8}"/>
              </a:ext>
            </a:extLst>
          </p:cNvPr>
          <p:cNvSpPr/>
          <p:nvPr/>
        </p:nvSpPr>
        <p:spPr>
          <a:xfrm>
            <a:off x="7284328" y="4931144"/>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9" name="직선 연결선 68">
            <a:extLst>
              <a:ext uri="{FF2B5EF4-FFF2-40B4-BE49-F238E27FC236}">
                <a16:creationId xmlns:a16="http://schemas.microsoft.com/office/drawing/2014/main" id="{4356EE60-9B34-4B83-8AF1-D03E1EABE9B9}"/>
              </a:ext>
            </a:extLst>
          </p:cNvPr>
          <p:cNvCxnSpPr>
            <a:cxnSpLocks/>
            <a:stCxn id="61" idx="2"/>
            <a:endCxn id="68" idx="0"/>
          </p:cNvCxnSpPr>
          <p:nvPr/>
        </p:nvCxnSpPr>
        <p:spPr>
          <a:xfrm flipH="1">
            <a:off x="7361697" y="4522804"/>
            <a:ext cx="1" cy="40834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말풍선: 모서리가 둥근 사각형 70">
            <a:extLst>
              <a:ext uri="{FF2B5EF4-FFF2-40B4-BE49-F238E27FC236}">
                <a16:creationId xmlns:a16="http://schemas.microsoft.com/office/drawing/2014/main" id="{1243CB5D-329C-4EB5-93EB-64BC3637715F}"/>
              </a:ext>
            </a:extLst>
          </p:cNvPr>
          <p:cNvSpPr/>
          <p:nvPr/>
        </p:nvSpPr>
        <p:spPr>
          <a:xfrm>
            <a:off x="4977359" y="3715331"/>
            <a:ext cx="1013988" cy="385860"/>
          </a:xfrm>
          <a:prstGeom prst="wedgeRoundRectCallout">
            <a:avLst>
              <a:gd name="adj1" fmla="val -36012"/>
              <a:gd name="adj2" fmla="val 67193"/>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乙과 공모</a:t>
            </a:r>
          </a:p>
        </p:txBody>
      </p:sp>
      <p:sp>
        <p:nvSpPr>
          <p:cNvPr id="77" name="TextBox 76">
            <a:extLst>
              <a:ext uri="{FF2B5EF4-FFF2-40B4-BE49-F238E27FC236}">
                <a16:creationId xmlns:a16="http://schemas.microsoft.com/office/drawing/2014/main" id="{49CA6502-FC85-461F-A6FC-C0B8A6E9580A}"/>
              </a:ext>
            </a:extLst>
          </p:cNvPr>
          <p:cNvSpPr txBox="1"/>
          <p:nvPr/>
        </p:nvSpPr>
        <p:spPr>
          <a:xfrm>
            <a:off x="1021627" y="3795078"/>
            <a:ext cx="1226618" cy="369332"/>
          </a:xfrm>
          <a:prstGeom prst="rect">
            <a:avLst/>
          </a:prstGeom>
          <a:noFill/>
        </p:spPr>
        <p:txBody>
          <a:bodyPr wrap="none" rtlCol="0">
            <a:spAutoFit/>
          </a:bodyPr>
          <a:lstStyle/>
          <a:p>
            <a:r>
              <a:rPr lang="ko-KR" altLang="en-US" dirty="0">
                <a:solidFill>
                  <a:srgbClr val="FF0000"/>
                </a:solidFill>
              </a:rPr>
              <a:t>심판청구시</a:t>
            </a:r>
          </a:p>
        </p:txBody>
      </p:sp>
      <p:cxnSp>
        <p:nvCxnSpPr>
          <p:cNvPr id="78" name="직선 연결선 77">
            <a:extLst>
              <a:ext uri="{FF2B5EF4-FFF2-40B4-BE49-F238E27FC236}">
                <a16:creationId xmlns:a16="http://schemas.microsoft.com/office/drawing/2014/main" id="{0B279D90-9129-4B77-9781-7BAA0131768E}"/>
              </a:ext>
            </a:extLst>
          </p:cNvPr>
          <p:cNvCxnSpPr>
            <a:cxnSpLocks/>
            <a:stCxn id="79" idx="2"/>
          </p:cNvCxnSpPr>
          <p:nvPr/>
        </p:nvCxnSpPr>
        <p:spPr>
          <a:xfrm>
            <a:off x="10294048" y="4128551"/>
            <a:ext cx="5111" cy="80259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EA68C698-9289-471C-9843-B4467A86B4EB}"/>
              </a:ext>
            </a:extLst>
          </p:cNvPr>
          <p:cNvSpPr txBox="1"/>
          <p:nvPr/>
        </p:nvSpPr>
        <p:spPr>
          <a:xfrm>
            <a:off x="9889129" y="3759219"/>
            <a:ext cx="809837" cy="369332"/>
          </a:xfrm>
          <a:prstGeom prst="rect">
            <a:avLst/>
          </a:prstGeom>
          <a:noFill/>
        </p:spPr>
        <p:txBody>
          <a:bodyPr wrap="none" rtlCol="0">
            <a:spAutoFit/>
          </a:bodyPr>
          <a:lstStyle/>
          <a:p>
            <a:r>
              <a:rPr lang="ko-KR" altLang="en-US" dirty="0" err="1">
                <a:solidFill>
                  <a:srgbClr val="FF0000"/>
                </a:solidFill>
              </a:rPr>
              <a:t>심결시</a:t>
            </a:r>
            <a:endParaRPr lang="ko-KR" altLang="en-US" dirty="0">
              <a:solidFill>
                <a:srgbClr val="FF0000"/>
              </a:solidFill>
            </a:endParaRPr>
          </a:p>
        </p:txBody>
      </p:sp>
      <p:sp>
        <p:nvSpPr>
          <p:cNvPr id="8" name="TextBox 7">
            <a:extLst>
              <a:ext uri="{FF2B5EF4-FFF2-40B4-BE49-F238E27FC236}">
                <a16:creationId xmlns:a16="http://schemas.microsoft.com/office/drawing/2014/main" id="{CF27FBE3-AB1C-FF09-D27C-6DCC8387CBB9}"/>
              </a:ext>
            </a:extLst>
          </p:cNvPr>
          <p:cNvSpPr txBox="1"/>
          <p:nvPr/>
        </p:nvSpPr>
        <p:spPr>
          <a:xfrm>
            <a:off x="126836" y="5997895"/>
            <a:ext cx="11966551" cy="830997"/>
          </a:xfrm>
          <a:prstGeom prst="rect">
            <a:avLst/>
          </a:prstGeom>
          <a:noFill/>
        </p:spPr>
        <p:txBody>
          <a:bodyPr wrap="square">
            <a:spAutoFit/>
          </a:bodyPr>
          <a:lstStyle/>
          <a:p>
            <a:r>
              <a:rPr lang="en-US" altLang="ko-KR" sz="1200" dirty="0"/>
              <a:t>* </a:t>
            </a:r>
            <a:r>
              <a:rPr lang="ko-KR" altLang="en-US" sz="1200" dirty="0"/>
              <a:t>구 특허법</a:t>
            </a:r>
            <a:r>
              <a:rPr lang="en-US" altLang="ko-KR" sz="1200" dirty="0"/>
              <a:t>(2001. 2. 3. </a:t>
            </a:r>
            <a:r>
              <a:rPr lang="ko-KR" altLang="en-US" sz="1200" dirty="0"/>
              <a:t>법률 제</a:t>
            </a:r>
            <a:r>
              <a:rPr lang="en-US" altLang="ko-KR" sz="1200" dirty="0"/>
              <a:t>6411</a:t>
            </a:r>
            <a:r>
              <a:rPr lang="ko-KR" altLang="en-US" sz="1200" dirty="0"/>
              <a:t>호로 개정되기 전의 것</a:t>
            </a:r>
            <a:r>
              <a:rPr lang="en-US" altLang="ko-KR" sz="1200" dirty="0"/>
              <a:t>) </a:t>
            </a:r>
            <a:r>
              <a:rPr lang="ko-KR" altLang="en-US" sz="1200" dirty="0"/>
              <a:t>제</a:t>
            </a:r>
            <a:r>
              <a:rPr lang="en-US" altLang="ko-KR" sz="1200" dirty="0"/>
              <a:t>163</a:t>
            </a:r>
            <a:r>
              <a:rPr lang="ko-KR" altLang="en-US" sz="1200" dirty="0"/>
              <a:t>조는 “이 법에 의한 심판의 </a:t>
            </a:r>
            <a:r>
              <a:rPr lang="ko-KR" altLang="en-US" sz="1200" dirty="0" err="1"/>
              <a:t>심결이</a:t>
            </a:r>
            <a:r>
              <a:rPr lang="ko-KR" altLang="en-US" sz="1200" dirty="0"/>
              <a:t> 확정 등록되거나 판결이 확정된 때에는 누구든지 동일사실 및 동일증거에 의하여 그 심판을 청구할 수 없다</a:t>
            </a:r>
            <a:r>
              <a:rPr lang="en-US" altLang="ko-KR" sz="1200" dirty="0"/>
              <a:t>.”</a:t>
            </a:r>
            <a:r>
              <a:rPr lang="ko-KR" altLang="en-US" sz="1200" dirty="0"/>
              <a:t>라고 규정하고 있었는데</a:t>
            </a:r>
            <a:r>
              <a:rPr lang="en-US" altLang="ko-KR" sz="1200" dirty="0"/>
              <a:t>, </a:t>
            </a:r>
            <a:r>
              <a:rPr lang="ko-KR" altLang="en-US" sz="1200" dirty="0"/>
              <a:t>개정법은 등록되지 않은 </a:t>
            </a:r>
            <a:r>
              <a:rPr lang="ko-KR" altLang="en-US" sz="1200" dirty="0" err="1"/>
              <a:t>심결에도</a:t>
            </a:r>
            <a:r>
              <a:rPr lang="ko-KR" altLang="en-US" sz="1200" dirty="0"/>
              <a:t> 일사부재리가 적용되는 것으로 변경하였고</a:t>
            </a:r>
            <a:r>
              <a:rPr lang="en-US" altLang="ko-KR" sz="1200" dirty="0"/>
              <a:t>, 1998. 3. 1. </a:t>
            </a:r>
            <a:r>
              <a:rPr lang="ko-KR" altLang="en-US" sz="1200" dirty="0"/>
              <a:t>특허법원 설립 이후의 특허법원 판결이나 대법원 판결 및 실체 심리가 없는 </a:t>
            </a:r>
            <a:r>
              <a:rPr lang="ko-KR" altLang="en-US" sz="1200" dirty="0" err="1"/>
              <a:t>각하심결에도</a:t>
            </a:r>
            <a:r>
              <a:rPr lang="ko-KR" altLang="en-US" sz="1200" dirty="0"/>
              <a:t> 일사부재리가 적용되는지에 관한 해석상의 다툼에 대하여 ‘판결이 확정된 때’ 부분을 삭제하고</a:t>
            </a:r>
            <a:r>
              <a:rPr lang="en-US" altLang="ko-KR" sz="1200" dirty="0"/>
              <a:t>, </a:t>
            </a:r>
            <a:r>
              <a:rPr lang="ko-KR" altLang="en-US" sz="1200" dirty="0"/>
              <a:t>단서 규정을 신설함으로써 다툼의 여지가 없게 하였다</a:t>
            </a:r>
            <a:r>
              <a:rPr lang="en-US" altLang="ko-KR" sz="1200" dirty="0"/>
              <a:t>(</a:t>
            </a:r>
            <a:r>
              <a:rPr lang="ko-KR" altLang="en-US" sz="1200" dirty="0" err="1"/>
              <a:t>김신</a:t>
            </a:r>
            <a:r>
              <a:rPr lang="en-US" altLang="ko-KR" sz="1200" dirty="0"/>
              <a:t>, “</a:t>
            </a:r>
            <a:r>
              <a:rPr lang="ko-KR" altLang="en-US" sz="1200" dirty="0" err="1"/>
              <a:t>확정심결의</a:t>
            </a:r>
            <a:r>
              <a:rPr lang="ko-KR" altLang="en-US" sz="1200" dirty="0"/>
              <a:t> 일사부재리”</a:t>
            </a:r>
            <a:r>
              <a:rPr lang="en-US" altLang="ko-KR" sz="1200" dirty="0"/>
              <a:t>, </a:t>
            </a:r>
            <a:r>
              <a:rPr lang="ko-KR" altLang="en-US" sz="1200" dirty="0"/>
              <a:t>「특허소송연구」 제</a:t>
            </a:r>
            <a:r>
              <a:rPr lang="en-US" altLang="ko-KR" sz="1200" dirty="0"/>
              <a:t>7</a:t>
            </a:r>
            <a:r>
              <a:rPr lang="ko-KR" altLang="en-US" sz="1200" dirty="0"/>
              <a:t>집</a:t>
            </a:r>
            <a:r>
              <a:rPr lang="en-US" altLang="ko-KR" sz="1200" dirty="0"/>
              <a:t>, </a:t>
            </a:r>
            <a:r>
              <a:rPr lang="ko-KR" altLang="en-US" sz="1200" dirty="0"/>
              <a:t>특허법원</a:t>
            </a:r>
            <a:r>
              <a:rPr lang="en-US" altLang="ko-KR" sz="1200" dirty="0"/>
              <a:t>, 2017, 154</a:t>
            </a:r>
            <a:r>
              <a:rPr lang="ko-KR" altLang="en-US" sz="1200" dirty="0"/>
              <a:t>면</a:t>
            </a:r>
            <a:r>
              <a:rPr lang="en-US" altLang="ko-KR" sz="1200" dirty="0"/>
              <a:t>). </a:t>
            </a:r>
            <a:endParaRPr lang="ko-KR" altLang="en-US" sz="1200" dirty="0"/>
          </a:p>
        </p:txBody>
      </p:sp>
    </p:spTree>
    <p:extLst>
      <p:ext uri="{BB962C8B-B14F-4D97-AF65-F5344CB8AC3E}">
        <p14:creationId xmlns:p14="http://schemas.microsoft.com/office/powerpoint/2010/main" val="4227982904"/>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163</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일사부재리 적용 </a:t>
            </a:r>
            <a:r>
              <a:rPr lang="en-US" altLang="ko-KR" dirty="0">
                <a:solidFill>
                  <a:srgbClr val="525252"/>
                </a:solidFill>
              </a:rPr>
              <a:t>CASE: </a:t>
            </a:r>
            <a:r>
              <a:rPr lang="ko-KR" altLang="en-US" dirty="0">
                <a:solidFill>
                  <a:srgbClr val="525252"/>
                </a:solidFill>
              </a:rPr>
              <a:t>동일증거</a:t>
            </a:r>
          </a:p>
        </p:txBody>
      </p:sp>
      <p:sp>
        <p:nvSpPr>
          <p:cNvPr id="6" name="TextBox 5"/>
          <p:cNvSpPr txBox="1"/>
          <p:nvPr/>
        </p:nvSpPr>
        <p:spPr>
          <a:xfrm>
            <a:off x="77875" y="1341693"/>
            <a:ext cx="11936323" cy="1815882"/>
          </a:xfrm>
          <a:prstGeom prst="rect">
            <a:avLst/>
          </a:prstGeom>
          <a:noFill/>
        </p:spPr>
        <p:txBody>
          <a:bodyPr wrap="square" rtlCol="0">
            <a:spAutoFit/>
          </a:bodyPr>
          <a:lstStyle/>
          <a:p>
            <a:pPr fontAlgn="base"/>
            <a:r>
              <a:rPr lang="en-US" altLang="ko-KR" sz="1400" dirty="0"/>
              <a:t>[1] </a:t>
            </a:r>
            <a:r>
              <a:rPr lang="ko-KR" altLang="en-US" sz="1400" dirty="0"/>
              <a:t>일사부재리의 원칙을 정한 구 특허법</a:t>
            </a:r>
            <a:r>
              <a:rPr lang="en-US" altLang="ko-KR" sz="1400" dirty="0"/>
              <a:t>(2001. 2. 3. </a:t>
            </a:r>
            <a:r>
              <a:rPr lang="ko-KR" altLang="en-US" sz="1400" dirty="0"/>
              <a:t>법률 제</a:t>
            </a:r>
            <a:r>
              <a:rPr lang="en-US" altLang="ko-KR" sz="1400" dirty="0"/>
              <a:t>6411</a:t>
            </a:r>
            <a:r>
              <a:rPr lang="ko-KR" altLang="en-US" sz="1400" dirty="0"/>
              <a:t>호로 개정되기 전의 것</a:t>
            </a:r>
            <a:r>
              <a:rPr lang="en-US" altLang="ko-KR" sz="1400" dirty="0"/>
              <a:t>) </a:t>
            </a:r>
            <a:r>
              <a:rPr lang="ko-KR" altLang="en-US" sz="1400" dirty="0"/>
              <a:t>제</a:t>
            </a:r>
            <a:r>
              <a:rPr lang="en-US" altLang="ko-KR" sz="1400" dirty="0"/>
              <a:t>163</a:t>
            </a:r>
            <a:r>
              <a:rPr lang="ko-KR" altLang="en-US" sz="1400" dirty="0"/>
              <a:t>조는 “심판의 </a:t>
            </a:r>
            <a:r>
              <a:rPr lang="ko-KR" altLang="en-US" sz="1400" dirty="0" err="1"/>
              <a:t>심결이</a:t>
            </a:r>
            <a:r>
              <a:rPr lang="ko-KR" altLang="en-US" sz="1400" dirty="0"/>
              <a:t> 확정 등록되거나 판결이 확정된 때에는 누구든지 동일사실 및 동일증거에 의하여 그 심판을 청구할 수 없다</a:t>
            </a:r>
            <a:r>
              <a:rPr lang="en-US" altLang="ko-KR" sz="1400" dirty="0"/>
              <a:t>.”</a:t>
            </a:r>
            <a:r>
              <a:rPr lang="ko-KR" altLang="en-US" sz="1400" dirty="0"/>
              <a:t>고 하여 일사부재리의 원칙을 규정하고 있으나</a:t>
            </a:r>
            <a:r>
              <a:rPr lang="en-US" altLang="ko-KR" sz="1400" dirty="0">
                <a:highlight>
                  <a:srgbClr val="FFFF00"/>
                </a:highlight>
              </a:rPr>
              <a:t>, </a:t>
            </a:r>
            <a:r>
              <a:rPr lang="ko-KR" altLang="en-US" sz="1400" dirty="0">
                <a:highlight>
                  <a:srgbClr val="FFFF00"/>
                </a:highlight>
              </a:rPr>
              <a:t>확정된 </a:t>
            </a:r>
            <a:r>
              <a:rPr lang="ko-KR" altLang="en-US" sz="1400" dirty="0" err="1">
                <a:highlight>
                  <a:srgbClr val="FFFF00"/>
                </a:highlight>
              </a:rPr>
              <a:t>심결의</a:t>
            </a:r>
            <a:r>
              <a:rPr lang="ko-KR" altLang="en-US" sz="1400" dirty="0">
                <a:highlight>
                  <a:srgbClr val="FFFF00"/>
                </a:highlight>
              </a:rPr>
              <a:t> 결론을 번복할 만한 유력한 증거가 새로이 제출된 경우</a:t>
            </a:r>
            <a:r>
              <a:rPr lang="ko-KR" altLang="en-US" sz="1400" dirty="0"/>
              <a:t>에는 위와 같은 일사부재리의 원칙에 저촉되지 아니한다</a:t>
            </a:r>
            <a:r>
              <a:rPr lang="en-US" altLang="ko-KR" sz="1400" dirty="0"/>
              <a:t>.</a:t>
            </a:r>
          </a:p>
          <a:p>
            <a:pPr fontAlgn="base"/>
            <a:r>
              <a:rPr lang="en-US" altLang="ko-KR" sz="1400" dirty="0"/>
              <a:t>[2] </a:t>
            </a:r>
            <a:r>
              <a:rPr lang="ko-KR" altLang="en-US" sz="1400" dirty="0"/>
              <a:t>동일사실에 의한 동일한 심판청구에 대하여 </a:t>
            </a:r>
            <a:r>
              <a:rPr lang="ko-KR" altLang="en-US" sz="1400" dirty="0">
                <a:solidFill>
                  <a:srgbClr val="FF0000"/>
                </a:solidFill>
              </a:rPr>
              <a:t>전에 확정된 </a:t>
            </a:r>
            <a:r>
              <a:rPr lang="ko-KR" altLang="en-US" sz="1400" dirty="0" err="1">
                <a:solidFill>
                  <a:srgbClr val="FF0000"/>
                </a:solidFill>
              </a:rPr>
              <a:t>심결의</a:t>
            </a:r>
            <a:r>
              <a:rPr lang="ko-KR" altLang="en-US" sz="1400" dirty="0">
                <a:solidFill>
                  <a:srgbClr val="FF0000"/>
                </a:solidFill>
              </a:rPr>
              <a:t> 증거에 대한 해석을 다르게 하는 등으로 그 </a:t>
            </a:r>
            <a:r>
              <a:rPr lang="ko-KR" altLang="en-US" sz="1400" dirty="0" err="1">
                <a:solidFill>
                  <a:srgbClr val="FF0000"/>
                </a:solidFill>
              </a:rPr>
              <a:t>심결의</a:t>
            </a:r>
            <a:r>
              <a:rPr lang="ko-KR" altLang="en-US" sz="1400" dirty="0">
                <a:solidFill>
                  <a:srgbClr val="FF0000"/>
                </a:solidFill>
              </a:rPr>
              <a:t> 기본이 된 이유와 실질적으로 저촉되는 판단을 하는 것</a:t>
            </a:r>
            <a:r>
              <a:rPr lang="ko-KR" altLang="en-US" sz="1400" dirty="0"/>
              <a:t>은 구 특허법</a:t>
            </a:r>
            <a:r>
              <a:rPr lang="en-US" altLang="ko-KR" sz="1400" dirty="0"/>
              <a:t>(2001. 2. 3. </a:t>
            </a:r>
            <a:r>
              <a:rPr lang="ko-KR" altLang="en-US" sz="1400" dirty="0"/>
              <a:t>법률 제</a:t>
            </a:r>
            <a:r>
              <a:rPr lang="en-US" altLang="ko-KR" sz="1400" dirty="0"/>
              <a:t>6411</a:t>
            </a:r>
            <a:r>
              <a:rPr lang="ko-KR" altLang="en-US" sz="1400" dirty="0"/>
              <a:t>호로 개정되기 전의 것</a:t>
            </a:r>
            <a:r>
              <a:rPr lang="en-US" altLang="ko-KR" sz="1400" dirty="0"/>
              <a:t>) </a:t>
            </a:r>
            <a:r>
              <a:rPr lang="ko-KR" altLang="en-US" sz="1400" dirty="0"/>
              <a:t>제</a:t>
            </a:r>
            <a:r>
              <a:rPr lang="en-US" altLang="ko-KR" sz="1400" dirty="0"/>
              <a:t>163</a:t>
            </a:r>
            <a:r>
              <a:rPr lang="ko-KR" altLang="en-US" sz="1400" dirty="0"/>
              <a:t>조가 정한 일사부재리 원칙의 취지에 비추어 허용되지 않으나</a:t>
            </a:r>
            <a:r>
              <a:rPr lang="en-US" altLang="ko-KR" sz="1400" dirty="0"/>
              <a:t>,</a:t>
            </a:r>
            <a:r>
              <a:rPr lang="en-US" altLang="ko-KR" sz="1400" dirty="0">
                <a:solidFill>
                  <a:srgbClr val="FF0000"/>
                </a:solidFill>
              </a:rPr>
              <a:t> 1) </a:t>
            </a:r>
            <a:r>
              <a:rPr lang="ko-KR" altLang="en-US" sz="1400" dirty="0">
                <a:solidFill>
                  <a:srgbClr val="FF0000"/>
                </a:solidFill>
              </a:rPr>
              <a:t>전에 확정된 </a:t>
            </a:r>
            <a:r>
              <a:rPr lang="ko-KR" altLang="en-US" sz="1400" dirty="0" err="1">
                <a:solidFill>
                  <a:srgbClr val="FF0000"/>
                </a:solidFill>
              </a:rPr>
              <a:t>심결의</a:t>
            </a:r>
            <a:r>
              <a:rPr lang="ko-KR" altLang="en-US" sz="1400" dirty="0">
                <a:solidFill>
                  <a:srgbClr val="FF0000"/>
                </a:solidFill>
              </a:rPr>
              <a:t> 증거를 그 </a:t>
            </a:r>
            <a:r>
              <a:rPr lang="ko-KR" altLang="en-US" sz="1400" dirty="0" err="1">
                <a:solidFill>
                  <a:srgbClr val="FF0000"/>
                </a:solidFill>
              </a:rPr>
              <a:t>심결에서</a:t>
            </a:r>
            <a:r>
              <a:rPr lang="ko-KR" altLang="en-US" sz="1400" dirty="0">
                <a:solidFill>
                  <a:srgbClr val="FF0000"/>
                </a:solidFill>
              </a:rPr>
              <a:t> 판단하지 않았던 사항에 관한 증거로 들어 판단하거나 </a:t>
            </a:r>
            <a:r>
              <a:rPr lang="en-US" altLang="ko-KR" sz="1400" dirty="0">
                <a:solidFill>
                  <a:srgbClr val="FF0000"/>
                </a:solidFill>
              </a:rPr>
              <a:t>2) </a:t>
            </a:r>
            <a:r>
              <a:rPr lang="ko-KR" altLang="en-US" sz="1400" dirty="0">
                <a:solidFill>
                  <a:srgbClr val="FF0000"/>
                </a:solidFill>
              </a:rPr>
              <a:t>그 증거의 선행기술을 확정된 </a:t>
            </a:r>
            <a:r>
              <a:rPr lang="ko-KR" altLang="en-US" sz="1400" dirty="0" err="1">
                <a:solidFill>
                  <a:srgbClr val="FF0000"/>
                </a:solidFill>
              </a:rPr>
              <a:t>심결의</a:t>
            </a:r>
            <a:r>
              <a:rPr lang="ko-KR" altLang="en-US" sz="1400" dirty="0">
                <a:solidFill>
                  <a:srgbClr val="FF0000"/>
                </a:solidFill>
              </a:rPr>
              <a:t> 결론을 번복할 만한 유력한 증거의 선행기술에 추가적</a:t>
            </a:r>
            <a:r>
              <a:rPr lang="en-US" altLang="ko-KR" sz="1400" dirty="0">
                <a:solidFill>
                  <a:srgbClr val="FF0000"/>
                </a:solidFill>
              </a:rPr>
              <a:t>, </a:t>
            </a:r>
            <a:r>
              <a:rPr lang="ko-KR" altLang="en-US" sz="1400" dirty="0">
                <a:solidFill>
                  <a:srgbClr val="FF0000"/>
                </a:solidFill>
              </a:rPr>
              <a:t>보충적으로 결합하여 판단하는 경우 </a:t>
            </a:r>
            <a:r>
              <a:rPr lang="en-US" altLang="ko-KR" sz="1400" dirty="0">
                <a:solidFill>
                  <a:srgbClr val="FF0000"/>
                </a:solidFill>
              </a:rPr>
              <a:t>3) </a:t>
            </a:r>
            <a:r>
              <a:rPr lang="ko-KR" altLang="en-US" sz="1400" dirty="0">
                <a:solidFill>
                  <a:srgbClr val="FF0000"/>
                </a:solidFill>
              </a:rPr>
              <a:t>등과 같이 </a:t>
            </a:r>
            <a:r>
              <a:rPr lang="en-US" altLang="ko-KR" sz="1400" dirty="0">
                <a:highlight>
                  <a:srgbClr val="FFFF00"/>
                </a:highlight>
              </a:rPr>
              <a:t>4) </a:t>
            </a:r>
            <a:r>
              <a:rPr lang="ko-KR" altLang="en-US" sz="1400" dirty="0">
                <a:highlight>
                  <a:srgbClr val="FFFF00"/>
                </a:highlight>
              </a:rPr>
              <a:t>후행 심판청구에 대한 판단 내용이 확정된 </a:t>
            </a:r>
            <a:r>
              <a:rPr lang="ko-KR" altLang="en-US" sz="1400" dirty="0" err="1">
                <a:highlight>
                  <a:srgbClr val="FFFF00"/>
                </a:highlight>
              </a:rPr>
              <a:t>심결의</a:t>
            </a:r>
            <a:r>
              <a:rPr lang="ko-KR" altLang="en-US" sz="1400" dirty="0">
                <a:highlight>
                  <a:srgbClr val="FFFF00"/>
                </a:highlight>
              </a:rPr>
              <a:t> 기본이 된 이유와 실질적으로 저촉된다고 할 수 없는 경</a:t>
            </a:r>
            <a:r>
              <a:rPr lang="ko-KR" altLang="en-US" sz="1400" dirty="0">
                <a:solidFill>
                  <a:srgbClr val="FF0000"/>
                </a:solidFill>
              </a:rPr>
              <a:t>우</a:t>
            </a:r>
            <a:r>
              <a:rPr lang="ko-KR" altLang="en-US" sz="1400" dirty="0"/>
              <a:t>에는</a:t>
            </a:r>
            <a:r>
              <a:rPr lang="en-US" altLang="ko-KR" sz="1400" dirty="0"/>
              <a:t>, </a:t>
            </a:r>
            <a:r>
              <a:rPr lang="ko-KR" altLang="en-US" sz="1400" dirty="0"/>
              <a:t>확정된 </a:t>
            </a:r>
            <a:r>
              <a:rPr lang="ko-KR" altLang="en-US" sz="1400" dirty="0" err="1"/>
              <a:t>심결과</a:t>
            </a:r>
            <a:r>
              <a:rPr lang="ko-KR" altLang="en-US" sz="1400" dirty="0"/>
              <a:t> 그 결론이 결과적으로 달라졌다고 하더라도 일사부재리 원칙에 반한다고 할 수 없다</a:t>
            </a:r>
            <a:r>
              <a:rPr lang="en-US" altLang="ko-KR" sz="1400" dirty="0"/>
              <a:t>.</a:t>
            </a:r>
            <a:endParaRPr lang="ko-KR" altLang="en-US" sz="1400" dirty="0"/>
          </a:p>
        </p:txBody>
      </p:sp>
      <p:sp>
        <p:nvSpPr>
          <p:cNvPr id="20" name="Line 5">
            <a:extLst>
              <a:ext uri="{FF2B5EF4-FFF2-40B4-BE49-F238E27FC236}">
                <a16:creationId xmlns:a16="http://schemas.microsoft.com/office/drawing/2014/main" id="{ACCDA59F-2AF7-4FC8-9236-82288B8FB7B1}"/>
              </a:ext>
            </a:extLst>
          </p:cNvPr>
          <p:cNvSpPr>
            <a:spLocks noChangeShapeType="1"/>
          </p:cNvSpPr>
          <p:nvPr/>
        </p:nvSpPr>
        <p:spPr bwMode="auto">
          <a:xfrm>
            <a:off x="447860" y="3753945"/>
            <a:ext cx="7544591"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1" name="TextBox 20">
            <a:extLst>
              <a:ext uri="{FF2B5EF4-FFF2-40B4-BE49-F238E27FC236}">
                <a16:creationId xmlns:a16="http://schemas.microsoft.com/office/drawing/2014/main" id="{984A9B38-9CBF-428C-922A-DB33022A9147}"/>
              </a:ext>
            </a:extLst>
          </p:cNvPr>
          <p:cNvSpPr txBox="1"/>
          <p:nvPr/>
        </p:nvSpPr>
        <p:spPr>
          <a:xfrm>
            <a:off x="2634633" y="3206163"/>
            <a:ext cx="708924"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출원</a:t>
            </a:r>
          </a:p>
        </p:txBody>
      </p:sp>
      <p:sp>
        <p:nvSpPr>
          <p:cNvPr id="22" name="타원 21">
            <a:extLst>
              <a:ext uri="{FF2B5EF4-FFF2-40B4-BE49-F238E27FC236}">
                <a16:creationId xmlns:a16="http://schemas.microsoft.com/office/drawing/2014/main" id="{D7DE53CC-C4D9-422B-AF3A-7B30A9EA5F60}"/>
              </a:ext>
            </a:extLst>
          </p:cNvPr>
          <p:cNvSpPr/>
          <p:nvPr/>
        </p:nvSpPr>
        <p:spPr>
          <a:xfrm>
            <a:off x="2918520" y="3667096"/>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23" name="직선 연결선 22">
            <a:extLst>
              <a:ext uri="{FF2B5EF4-FFF2-40B4-BE49-F238E27FC236}">
                <a16:creationId xmlns:a16="http://schemas.microsoft.com/office/drawing/2014/main" id="{408FCD3A-E182-4831-A770-42918078B18B}"/>
              </a:ext>
            </a:extLst>
          </p:cNvPr>
          <p:cNvCxnSpPr>
            <a:cxnSpLocks/>
            <a:stCxn id="21" idx="2"/>
            <a:endCxn id="22" idx="0"/>
          </p:cNvCxnSpPr>
          <p:nvPr/>
        </p:nvCxnSpPr>
        <p:spPr>
          <a:xfrm flipH="1">
            <a:off x="2989094" y="3483162"/>
            <a:ext cx="1" cy="1839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 name="사각형: 둥근 모서리 18">
            <a:extLst>
              <a:ext uri="{FF2B5EF4-FFF2-40B4-BE49-F238E27FC236}">
                <a16:creationId xmlns:a16="http://schemas.microsoft.com/office/drawing/2014/main" id="{A83D1C3A-9892-4861-9E7D-128450D07D78}"/>
              </a:ext>
            </a:extLst>
          </p:cNvPr>
          <p:cNvSpPr/>
          <p:nvPr/>
        </p:nvSpPr>
        <p:spPr>
          <a:xfrm>
            <a:off x="113937" y="991762"/>
            <a:ext cx="4765205" cy="302955"/>
          </a:xfrm>
          <a:prstGeom prst="roundRect">
            <a:avLst>
              <a:gd name="adj" fmla="val 50000"/>
            </a:avLst>
          </a:prstGeom>
          <a:solidFill>
            <a:schemeClr val="bg1">
              <a:lumMod val="50000"/>
            </a:schemeClr>
          </a:solidFill>
          <a:ln>
            <a:solidFill>
              <a:schemeClr val="bg1">
                <a:lumMod val="65000"/>
              </a:schemeClr>
            </a:solidFill>
          </a:ln>
        </p:spPr>
        <p:txBody>
          <a:bodyPr wrap="none" tIns="0" bIns="0">
            <a:spAutoFit/>
          </a:bodyPr>
          <a:lstStyle/>
          <a:p>
            <a:r>
              <a:rPr lang="ko-KR" altLang="en-US" sz="1400" dirty="0">
                <a:solidFill>
                  <a:schemeClr val="bg1"/>
                </a:solidFill>
              </a:rPr>
              <a:t>대법원 </a:t>
            </a:r>
            <a:r>
              <a:rPr lang="en-US" altLang="ko-KR" sz="1400" dirty="0">
                <a:solidFill>
                  <a:schemeClr val="bg1"/>
                </a:solidFill>
              </a:rPr>
              <a:t>2013. 9. 13. </a:t>
            </a:r>
            <a:r>
              <a:rPr lang="ko-KR" altLang="en-US" sz="1400" dirty="0">
                <a:solidFill>
                  <a:schemeClr val="bg1"/>
                </a:solidFill>
              </a:rPr>
              <a:t>선고 </a:t>
            </a:r>
            <a:r>
              <a:rPr lang="en-US" altLang="ko-KR" sz="1400" dirty="0">
                <a:solidFill>
                  <a:schemeClr val="bg1"/>
                </a:solidFill>
              </a:rPr>
              <a:t>2012</a:t>
            </a:r>
            <a:r>
              <a:rPr lang="ko-KR" altLang="en-US" sz="1400" dirty="0">
                <a:solidFill>
                  <a:schemeClr val="bg1"/>
                </a:solidFill>
              </a:rPr>
              <a:t>후</a:t>
            </a:r>
            <a:r>
              <a:rPr lang="en-US" altLang="ko-KR" sz="1400" dirty="0">
                <a:solidFill>
                  <a:schemeClr val="bg1"/>
                </a:solidFill>
              </a:rPr>
              <a:t>1057 </a:t>
            </a:r>
            <a:r>
              <a:rPr lang="ko-KR" altLang="en-US" sz="1400" dirty="0">
                <a:solidFill>
                  <a:schemeClr val="bg1"/>
                </a:solidFill>
              </a:rPr>
              <a:t>판결 </a:t>
            </a:r>
            <a:r>
              <a:rPr lang="en-US" altLang="ko-KR" sz="1400" dirty="0">
                <a:solidFill>
                  <a:schemeClr val="bg1"/>
                </a:solidFill>
              </a:rPr>
              <a:t>【</a:t>
            </a:r>
            <a:r>
              <a:rPr lang="ko-KR" altLang="en-US" sz="1400" dirty="0">
                <a:solidFill>
                  <a:schemeClr val="bg1"/>
                </a:solidFill>
              </a:rPr>
              <a:t>등록무효</a:t>
            </a:r>
            <a:r>
              <a:rPr lang="en-US" altLang="ko-KR" sz="1400" dirty="0">
                <a:solidFill>
                  <a:schemeClr val="bg1"/>
                </a:solidFill>
              </a:rPr>
              <a:t>(</a:t>
            </a:r>
            <a:r>
              <a:rPr lang="ko-KR" altLang="en-US" sz="1400" dirty="0" err="1">
                <a:solidFill>
                  <a:schemeClr val="bg1"/>
                </a:solidFill>
              </a:rPr>
              <a:t>특</a:t>
            </a:r>
            <a:r>
              <a:rPr lang="en-US" altLang="ko-KR" sz="1400" dirty="0">
                <a:solidFill>
                  <a:schemeClr val="bg1"/>
                </a:solidFill>
              </a:rPr>
              <a:t>)】</a:t>
            </a:r>
            <a:endParaRPr lang="ko-KR" altLang="en-US" sz="1400" dirty="0">
              <a:solidFill>
                <a:schemeClr val="bg1"/>
              </a:solidFill>
            </a:endParaRPr>
          </a:p>
        </p:txBody>
      </p:sp>
      <p:cxnSp>
        <p:nvCxnSpPr>
          <p:cNvPr id="83" name="직선 연결선 82">
            <a:extLst>
              <a:ext uri="{FF2B5EF4-FFF2-40B4-BE49-F238E27FC236}">
                <a16:creationId xmlns:a16="http://schemas.microsoft.com/office/drawing/2014/main" id="{85DA65B5-3277-4ADF-95AF-47AB4FD658B7}"/>
              </a:ext>
            </a:extLst>
          </p:cNvPr>
          <p:cNvCxnSpPr/>
          <p:nvPr/>
        </p:nvCxnSpPr>
        <p:spPr>
          <a:xfrm>
            <a:off x="0" y="3157575"/>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6999B311-108C-4360-B404-112176F90F45}"/>
              </a:ext>
            </a:extLst>
          </p:cNvPr>
          <p:cNvSpPr txBox="1"/>
          <p:nvPr/>
        </p:nvSpPr>
        <p:spPr>
          <a:xfrm>
            <a:off x="4031425" y="3949734"/>
            <a:ext cx="122460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무효심판청구</a:t>
            </a:r>
          </a:p>
        </p:txBody>
      </p:sp>
      <p:sp>
        <p:nvSpPr>
          <p:cNvPr id="61" name="타원 60">
            <a:extLst>
              <a:ext uri="{FF2B5EF4-FFF2-40B4-BE49-F238E27FC236}">
                <a16:creationId xmlns:a16="http://schemas.microsoft.com/office/drawing/2014/main" id="{79A5A288-5FA6-46E6-BC75-43B7FB32100D}"/>
              </a:ext>
            </a:extLst>
          </p:cNvPr>
          <p:cNvSpPr/>
          <p:nvPr/>
        </p:nvSpPr>
        <p:spPr>
          <a:xfrm>
            <a:off x="4573152" y="3667096"/>
            <a:ext cx="141148" cy="14716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2" name="직선 연결선 61">
            <a:extLst>
              <a:ext uri="{FF2B5EF4-FFF2-40B4-BE49-F238E27FC236}">
                <a16:creationId xmlns:a16="http://schemas.microsoft.com/office/drawing/2014/main" id="{DA0317E4-1917-4596-8F89-DE15A2F8693F}"/>
              </a:ext>
            </a:extLst>
          </p:cNvPr>
          <p:cNvCxnSpPr>
            <a:cxnSpLocks/>
            <a:stCxn id="60" idx="0"/>
            <a:endCxn id="61" idx="4"/>
          </p:cNvCxnSpPr>
          <p:nvPr/>
        </p:nvCxnSpPr>
        <p:spPr>
          <a:xfrm flipH="1" flipV="1">
            <a:off x="4643726" y="3814264"/>
            <a:ext cx="1" cy="13547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027E8602-5FD6-445A-9382-F576B31998A0}"/>
              </a:ext>
            </a:extLst>
          </p:cNvPr>
          <p:cNvSpPr txBox="1"/>
          <p:nvPr/>
        </p:nvSpPr>
        <p:spPr>
          <a:xfrm>
            <a:off x="185497" y="3510062"/>
            <a:ext cx="733005"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비교대상발명 </a:t>
            </a:r>
            <a:r>
              <a:rPr lang="en-US" altLang="ko-KR" sz="1200" dirty="0">
                <a:solidFill>
                  <a:schemeClr val="tx1"/>
                </a:solidFill>
                <a:latin typeface="+mn-ea"/>
              </a:rPr>
              <a:t>3</a:t>
            </a:r>
          </a:p>
        </p:txBody>
      </p:sp>
      <p:sp>
        <p:nvSpPr>
          <p:cNvPr id="36" name="TextBox 35">
            <a:extLst>
              <a:ext uri="{FF2B5EF4-FFF2-40B4-BE49-F238E27FC236}">
                <a16:creationId xmlns:a16="http://schemas.microsoft.com/office/drawing/2014/main" id="{605F3A02-46AD-46FF-8F22-98E36D373440}"/>
              </a:ext>
            </a:extLst>
          </p:cNvPr>
          <p:cNvSpPr txBox="1"/>
          <p:nvPr/>
        </p:nvSpPr>
        <p:spPr>
          <a:xfrm>
            <a:off x="997838" y="3510062"/>
            <a:ext cx="733005"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비교대상발명</a:t>
            </a:r>
            <a:r>
              <a:rPr lang="en-US" altLang="ko-KR" sz="1200" dirty="0">
                <a:solidFill>
                  <a:schemeClr val="tx1"/>
                </a:solidFill>
                <a:latin typeface="+mn-ea"/>
              </a:rPr>
              <a:t>2</a:t>
            </a:r>
          </a:p>
        </p:txBody>
      </p:sp>
      <p:sp>
        <p:nvSpPr>
          <p:cNvPr id="37" name="TextBox 36">
            <a:extLst>
              <a:ext uri="{FF2B5EF4-FFF2-40B4-BE49-F238E27FC236}">
                <a16:creationId xmlns:a16="http://schemas.microsoft.com/office/drawing/2014/main" id="{2BCC7AAA-9840-496F-860A-18FC1C09B707}"/>
              </a:ext>
            </a:extLst>
          </p:cNvPr>
          <p:cNvSpPr txBox="1"/>
          <p:nvPr/>
        </p:nvSpPr>
        <p:spPr>
          <a:xfrm>
            <a:off x="1806326" y="3510062"/>
            <a:ext cx="733005"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비교대상발명</a:t>
            </a:r>
            <a:r>
              <a:rPr lang="en-US" altLang="ko-KR" sz="1200" dirty="0">
                <a:solidFill>
                  <a:schemeClr val="tx1"/>
                </a:solidFill>
                <a:latin typeface="+mn-ea"/>
              </a:rPr>
              <a:t>1</a:t>
            </a:r>
          </a:p>
        </p:txBody>
      </p:sp>
      <p:sp>
        <p:nvSpPr>
          <p:cNvPr id="38" name="TextBox 37">
            <a:extLst>
              <a:ext uri="{FF2B5EF4-FFF2-40B4-BE49-F238E27FC236}">
                <a16:creationId xmlns:a16="http://schemas.microsoft.com/office/drawing/2014/main" id="{4C0D74F3-027F-43DF-BCF9-7D0796E1000A}"/>
              </a:ext>
            </a:extLst>
          </p:cNvPr>
          <p:cNvSpPr txBox="1"/>
          <p:nvPr/>
        </p:nvSpPr>
        <p:spPr>
          <a:xfrm>
            <a:off x="3391375" y="3206163"/>
            <a:ext cx="708924"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등록</a:t>
            </a:r>
          </a:p>
        </p:txBody>
      </p:sp>
      <p:sp>
        <p:nvSpPr>
          <p:cNvPr id="42" name="타원 41">
            <a:extLst>
              <a:ext uri="{FF2B5EF4-FFF2-40B4-BE49-F238E27FC236}">
                <a16:creationId xmlns:a16="http://schemas.microsoft.com/office/drawing/2014/main" id="{99BFB1EE-1D1C-44AF-A983-973FBD1AE7F7}"/>
              </a:ext>
            </a:extLst>
          </p:cNvPr>
          <p:cNvSpPr/>
          <p:nvPr/>
        </p:nvSpPr>
        <p:spPr>
          <a:xfrm>
            <a:off x="3675262" y="3667096"/>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3" name="직선 연결선 42">
            <a:extLst>
              <a:ext uri="{FF2B5EF4-FFF2-40B4-BE49-F238E27FC236}">
                <a16:creationId xmlns:a16="http://schemas.microsoft.com/office/drawing/2014/main" id="{B3C9DB5B-3B20-4553-B89B-1037F9A9881F}"/>
              </a:ext>
            </a:extLst>
          </p:cNvPr>
          <p:cNvCxnSpPr>
            <a:cxnSpLocks/>
            <a:stCxn id="38" idx="2"/>
            <a:endCxn id="42" idx="0"/>
          </p:cNvCxnSpPr>
          <p:nvPr/>
        </p:nvCxnSpPr>
        <p:spPr>
          <a:xfrm flipH="1">
            <a:off x="3745836" y="3483162"/>
            <a:ext cx="1" cy="1839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8EB692F9-C097-4C4B-822F-6D460DA60132}"/>
              </a:ext>
            </a:extLst>
          </p:cNvPr>
          <p:cNvSpPr txBox="1"/>
          <p:nvPr/>
        </p:nvSpPr>
        <p:spPr>
          <a:xfrm>
            <a:off x="4031425" y="4363189"/>
            <a:ext cx="1224604"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진보성 위반</a:t>
            </a:r>
          </a:p>
        </p:txBody>
      </p:sp>
      <p:cxnSp>
        <p:nvCxnSpPr>
          <p:cNvPr id="10" name="직선 연결선 9">
            <a:extLst>
              <a:ext uri="{FF2B5EF4-FFF2-40B4-BE49-F238E27FC236}">
                <a16:creationId xmlns:a16="http://schemas.microsoft.com/office/drawing/2014/main" id="{DC636D52-107B-4196-AFD4-3B159724C0B5}"/>
              </a:ext>
            </a:extLst>
          </p:cNvPr>
          <p:cNvCxnSpPr>
            <a:stCxn id="53" idx="0"/>
            <a:endCxn id="60" idx="2"/>
          </p:cNvCxnSpPr>
          <p:nvPr/>
        </p:nvCxnSpPr>
        <p:spPr>
          <a:xfrm flipV="1">
            <a:off x="4643727" y="4226733"/>
            <a:ext cx="0" cy="13645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연결선: 꺾임 11">
            <a:extLst>
              <a:ext uri="{FF2B5EF4-FFF2-40B4-BE49-F238E27FC236}">
                <a16:creationId xmlns:a16="http://schemas.microsoft.com/office/drawing/2014/main" id="{D28C2B59-4DCA-495E-9EEA-BDFEA7505C17}"/>
              </a:ext>
            </a:extLst>
          </p:cNvPr>
          <p:cNvCxnSpPr>
            <a:stCxn id="35" idx="2"/>
            <a:endCxn id="53" idx="1"/>
          </p:cNvCxnSpPr>
          <p:nvPr/>
        </p:nvCxnSpPr>
        <p:spPr>
          <a:xfrm rot="16200000" flipH="1">
            <a:off x="2026731" y="2496995"/>
            <a:ext cx="529962" cy="3479425"/>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연결선: 꺾임 13">
            <a:extLst>
              <a:ext uri="{FF2B5EF4-FFF2-40B4-BE49-F238E27FC236}">
                <a16:creationId xmlns:a16="http://schemas.microsoft.com/office/drawing/2014/main" id="{DC110CCC-B60A-4C4B-A4AD-655605DE2AA3}"/>
              </a:ext>
            </a:extLst>
          </p:cNvPr>
          <p:cNvCxnSpPr>
            <a:stCxn id="36" idx="2"/>
            <a:endCxn id="53" idx="1"/>
          </p:cNvCxnSpPr>
          <p:nvPr/>
        </p:nvCxnSpPr>
        <p:spPr>
          <a:xfrm rot="16200000" flipH="1">
            <a:off x="2432902" y="2903166"/>
            <a:ext cx="529962" cy="2667084"/>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DD723F5E-F235-488B-9F16-8EFB183A0DCA}"/>
              </a:ext>
            </a:extLst>
          </p:cNvPr>
          <p:cNvSpPr txBox="1"/>
          <p:nvPr/>
        </p:nvSpPr>
        <p:spPr>
          <a:xfrm>
            <a:off x="5352307" y="3949734"/>
            <a:ext cx="122460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a:t>
            </a:r>
            <a:r>
              <a:rPr lang="ko-KR" altLang="en-US" sz="1200" dirty="0" err="1">
                <a:solidFill>
                  <a:schemeClr val="tx1"/>
                </a:solidFill>
                <a:latin typeface="+mn-ea"/>
              </a:rPr>
              <a:t>기각심결확정</a:t>
            </a:r>
            <a:endParaRPr lang="ko-KR" altLang="en-US" sz="1200" dirty="0">
              <a:solidFill>
                <a:schemeClr val="tx1"/>
              </a:solidFill>
              <a:latin typeface="+mn-ea"/>
            </a:endParaRPr>
          </a:p>
        </p:txBody>
      </p:sp>
      <p:sp>
        <p:nvSpPr>
          <p:cNvPr id="55" name="타원 54">
            <a:extLst>
              <a:ext uri="{FF2B5EF4-FFF2-40B4-BE49-F238E27FC236}">
                <a16:creationId xmlns:a16="http://schemas.microsoft.com/office/drawing/2014/main" id="{EE940003-2335-4EF2-9AEE-17855FEAC9ED}"/>
              </a:ext>
            </a:extLst>
          </p:cNvPr>
          <p:cNvSpPr/>
          <p:nvPr/>
        </p:nvSpPr>
        <p:spPr>
          <a:xfrm>
            <a:off x="5894034" y="3667096"/>
            <a:ext cx="141148" cy="14716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6" name="직선 연결선 55">
            <a:extLst>
              <a:ext uri="{FF2B5EF4-FFF2-40B4-BE49-F238E27FC236}">
                <a16:creationId xmlns:a16="http://schemas.microsoft.com/office/drawing/2014/main" id="{3796918B-282A-4045-A139-DF6AAA644CA5}"/>
              </a:ext>
            </a:extLst>
          </p:cNvPr>
          <p:cNvCxnSpPr>
            <a:cxnSpLocks/>
            <a:stCxn id="54" idx="0"/>
            <a:endCxn id="55" idx="4"/>
          </p:cNvCxnSpPr>
          <p:nvPr/>
        </p:nvCxnSpPr>
        <p:spPr>
          <a:xfrm flipH="1" flipV="1">
            <a:off x="5964608" y="3814264"/>
            <a:ext cx="1" cy="13547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F29A92B7-65CE-4803-B5D1-8C65B4E25227}"/>
              </a:ext>
            </a:extLst>
          </p:cNvPr>
          <p:cNvSpPr txBox="1"/>
          <p:nvPr/>
        </p:nvSpPr>
        <p:spPr>
          <a:xfrm>
            <a:off x="6721806" y="3949734"/>
            <a:ext cx="1224604"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무효심판청구</a:t>
            </a:r>
          </a:p>
        </p:txBody>
      </p:sp>
      <p:sp>
        <p:nvSpPr>
          <p:cNvPr id="58" name="타원 57">
            <a:extLst>
              <a:ext uri="{FF2B5EF4-FFF2-40B4-BE49-F238E27FC236}">
                <a16:creationId xmlns:a16="http://schemas.microsoft.com/office/drawing/2014/main" id="{C80964AF-4E4F-4E96-8438-50EFA8FF1439}"/>
              </a:ext>
            </a:extLst>
          </p:cNvPr>
          <p:cNvSpPr/>
          <p:nvPr/>
        </p:nvSpPr>
        <p:spPr>
          <a:xfrm>
            <a:off x="7263533" y="3667096"/>
            <a:ext cx="141148" cy="14716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9" name="직선 연결선 58">
            <a:extLst>
              <a:ext uri="{FF2B5EF4-FFF2-40B4-BE49-F238E27FC236}">
                <a16:creationId xmlns:a16="http://schemas.microsoft.com/office/drawing/2014/main" id="{0135B740-D10A-4526-AEBB-C8A72EEDA3A6}"/>
              </a:ext>
            </a:extLst>
          </p:cNvPr>
          <p:cNvCxnSpPr>
            <a:cxnSpLocks/>
            <a:stCxn id="57" idx="0"/>
            <a:endCxn id="58" idx="4"/>
          </p:cNvCxnSpPr>
          <p:nvPr/>
        </p:nvCxnSpPr>
        <p:spPr>
          <a:xfrm flipH="1" flipV="1">
            <a:off x="7334107" y="3814264"/>
            <a:ext cx="1" cy="13547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8D5746F4-8465-42A6-B8CD-900A71FABB81}"/>
              </a:ext>
            </a:extLst>
          </p:cNvPr>
          <p:cNvSpPr txBox="1"/>
          <p:nvPr/>
        </p:nvSpPr>
        <p:spPr>
          <a:xfrm>
            <a:off x="6721806" y="4363189"/>
            <a:ext cx="1224604"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진보성 위반</a:t>
            </a:r>
          </a:p>
        </p:txBody>
      </p:sp>
      <p:cxnSp>
        <p:nvCxnSpPr>
          <p:cNvPr id="65" name="직선 연결선 64">
            <a:extLst>
              <a:ext uri="{FF2B5EF4-FFF2-40B4-BE49-F238E27FC236}">
                <a16:creationId xmlns:a16="http://schemas.microsoft.com/office/drawing/2014/main" id="{1C7193A8-FA24-42D3-A19A-D863ED40012F}"/>
              </a:ext>
            </a:extLst>
          </p:cNvPr>
          <p:cNvCxnSpPr>
            <a:stCxn id="64" idx="0"/>
            <a:endCxn id="57" idx="2"/>
          </p:cNvCxnSpPr>
          <p:nvPr/>
        </p:nvCxnSpPr>
        <p:spPr>
          <a:xfrm flipV="1">
            <a:off x="7334108" y="4226733"/>
            <a:ext cx="0" cy="13645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연결선: 꺾임 23">
            <a:extLst>
              <a:ext uri="{FF2B5EF4-FFF2-40B4-BE49-F238E27FC236}">
                <a16:creationId xmlns:a16="http://schemas.microsoft.com/office/drawing/2014/main" id="{B6534E1A-D1CB-411F-8508-885358669ACF}"/>
              </a:ext>
            </a:extLst>
          </p:cNvPr>
          <p:cNvCxnSpPr>
            <a:stCxn id="37" idx="2"/>
            <a:endCxn id="64" idx="2"/>
          </p:cNvCxnSpPr>
          <p:nvPr/>
        </p:nvCxnSpPr>
        <p:spPr>
          <a:xfrm rot="16200000" flipH="1">
            <a:off x="4419238" y="1725317"/>
            <a:ext cx="668461" cy="5161279"/>
          </a:xfrm>
          <a:prstGeom prst="bentConnector3">
            <a:avLst>
              <a:gd name="adj1" fmla="val 134198"/>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연결선: 꺾임 25">
            <a:extLst>
              <a:ext uri="{FF2B5EF4-FFF2-40B4-BE49-F238E27FC236}">
                <a16:creationId xmlns:a16="http://schemas.microsoft.com/office/drawing/2014/main" id="{3135B4B8-2B71-421F-A118-91D72B0B2290}"/>
              </a:ext>
            </a:extLst>
          </p:cNvPr>
          <p:cNvCxnSpPr>
            <a:cxnSpLocks/>
            <a:stCxn id="8" idx="4"/>
            <a:endCxn id="64" idx="2"/>
          </p:cNvCxnSpPr>
          <p:nvPr/>
        </p:nvCxnSpPr>
        <p:spPr>
          <a:xfrm rot="16200000" flipH="1">
            <a:off x="4076284" y="1382363"/>
            <a:ext cx="642359" cy="5873289"/>
          </a:xfrm>
          <a:prstGeom prst="bentConnector3">
            <a:avLst>
              <a:gd name="adj1" fmla="val 135588"/>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직사각형 28">
            <a:extLst>
              <a:ext uri="{FF2B5EF4-FFF2-40B4-BE49-F238E27FC236}">
                <a16:creationId xmlns:a16="http://schemas.microsoft.com/office/drawing/2014/main" id="{28F3C2A8-DAFE-477E-837F-565230B6D380}"/>
              </a:ext>
            </a:extLst>
          </p:cNvPr>
          <p:cNvSpPr/>
          <p:nvPr/>
        </p:nvSpPr>
        <p:spPr>
          <a:xfrm>
            <a:off x="8152249" y="3195929"/>
            <a:ext cx="3974645" cy="3600986"/>
          </a:xfrm>
          <a:prstGeom prst="rect">
            <a:avLst/>
          </a:prstGeom>
          <a:solidFill>
            <a:schemeClr val="bg1"/>
          </a:solidFill>
          <a:ln>
            <a:solidFill>
              <a:schemeClr val="bg1">
                <a:lumMod val="50000"/>
              </a:schemeClr>
            </a:solidFill>
          </a:ln>
        </p:spPr>
        <p:txBody>
          <a:bodyPr wrap="square">
            <a:spAutoFit/>
          </a:bodyPr>
          <a:lstStyle/>
          <a:p>
            <a:r>
              <a:rPr lang="ko-KR" altLang="en-US" sz="1200" dirty="0"/>
              <a:t>원심은 이 사건 특허발명의 진보성이 비교대상발명 </a:t>
            </a:r>
            <a:r>
              <a:rPr lang="en-US" altLang="ko-KR" sz="1200" dirty="0"/>
              <a:t>1</a:t>
            </a:r>
            <a:r>
              <a:rPr lang="ko-KR" altLang="en-US" sz="1200" dirty="0"/>
              <a:t>에 의해서 부정된다고 판단하고</a:t>
            </a:r>
            <a:r>
              <a:rPr lang="en-US" altLang="ko-KR" sz="1200" dirty="0"/>
              <a:t>, </a:t>
            </a:r>
            <a:r>
              <a:rPr lang="ko-KR" altLang="en-US" sz="1200" dirty="0"/>
              <a:t>부가적으로 비교대상발명 </a:t>
            </a:r>
            <a:r>
              <a:rPr lang="en-US" altLang="ko-KR" sz="1200" dirty="0"/>
              <a:t>1</a:t>
            </a:r>
            <a:r>
              <a:rPr lang="ko-KR" altLang="en-US" sz="1200" dirty="0"/>
              <a:t>과 이전 </a:t>
            </a:r>
            <a:r>
              <a:rPr lang="ko-KR" altLang="en-US" sz="1200" dirty="0" err="1"/>
              <a:t>확정심결의</a:t>
            </a:r>
            <a:r>
              <a:rPr lang="ko-KR" altLang="en-US" sz="1200" dirty="0"/>
              <a:t> </a:t>
            </a:r>
            <a:r>
              <a:rPr lang="ko-KR" altLang="en-US" sz="1200" dirty="0" err="1"/>
              <a:t>선행기술이었던</a:t>
            </a:r>
            <a:r>
              <a:rPr lang="ko-KR" altLang="en-US" sz="1200" dirty="0"/>
              <a:t> 비교대상발명 </a:t>
            </a:r>
            <a:r>
              <a:rPr lang="en-US" altLang="ko-KR" sz="1200" dirty="0"/>
              <a:t>2(</a:t>
            </a:r>
            <a:r>
              <a:rPr lang="ko-KR" altLang="en-US" sz="1200" dirty="0"/>
              <a:t>원심 절차에서 추가되었다</a:t>
            </a:r>
            <a:r>
              <a:rPr lang="en-US" altLang="ko-KR" sz="1200" dirty="0"/>
              <a:t>)</a:t>
            </a:r>
            <a:r>
              <a:rPr lang="ko-KR" altLang="en-US" sz="1200" dirty="0"/>
              <a:t>의 결합에 의해서도 그 진보성이 부정된다고 판단하였다</a:t>
            </a:r>
            <a:r>
              <a:rPr lang="en-US" altLang="ko-KR" sz="1200" dirty="0"/>
              <a:t>. </a:t>
            </a:r>
            <a:r>
              <a:rPr lang="ko-KR" altLang="en-US" sz="1200" dirty="0"/>
              <a:t>그런데 원심의 위 부가적 판단은 전체적으로</a:t>
            </a:r>
            <a:r>
              <a:rPr lang="en-US" altLang="ko-KR" sz="1200" dirty="0"/>
              <a:t>, </a:t>
            </a:r>
            <a:r>
              <a:rPr lang="ko-KR" altLang="en-US" sz="1200" dirty="0"/>
              <a:t>그 발명이 속하는 기술분야에서 통상의 지식을 가진 사람</a:t>
            </a:r>
            <a:r>
              <a:rPr lang="en-US" altLang="ko-KR" sz="1200" dirty="0"/>
              <a:t>(</a:t>
            </a:r>
            <a:r>
              <a:rPr lang="ko-KR" altLang="en-US" sz="1200" dirty="0"/>
              <a:t>이하 ‘통상의 </a:t>
            </a:r>
            <a:r>
              <a:rPr lang="ko-KR" altLang="en-US" sz="1200" dirty="0" err="1"/>
              <a:t>기술자’라고</a:t>
            </a:r>
            <a:r>
              <a:rPr lang="ko-KR" altLang="en-US" sz="1200" dirty="0"/>
              <a:t> 한다</a:t>
            </a:r>
            <a:r>
              <a:rPr lang="en-US" altLang="ko-KR" sz="1200" dirty="0"/>
              <a:t>)</a:t>
            </a:r>
            <a:r>
              <a:rPr lang="ko-KR" altLang="en-US" sz="1200" dirty="0"/>
              <a:t>이 이전 비교대상발명과는 달리 비교대상발명 </a:t>
            </a:r>
            <a:r>
              <a:rPr lang="en-US" altLang="ko-KR" sz="1200" dirty="0"/>
              <a:t>1</a:t>
            </a:r>
            <a:r>
              <a:rPr lang="ko-KR" altLang="en-US" sz="1200" dirty="0"/>
              <a:t>에 추가로 구비되어 있는 ‘보조인출체</a:t>
            </a:r>
            <a:r>
              <a:rPr lang="en-US" altLang="ko-KR" sz="1200" dirty="0"/>
              <a:t>(8)</a:t>
            </a:r>
            <a:r>
              <a:rPr lang="ko-KR" altLang="en-US" sz="1200" dirty="0"/>
              <a:t>에 설치된 </a:t>
            </a:r>
            <a:r>
              <a:rPr lang="ko-KR" altLang="en-US" sz="1200" dirty="0" err="1"/>
              <a:t>보조피이더</a:t>
            </a:r>
            <a:r>
              <a:rPr lang="en-US" altLang="ko-KR" sz="1200" dirty="0"/>
              <a:t>(9)’</a:t>
            </a:r>
            <a:r>
              <a:rPr lang="ko-KR" altLang="en-US" sz="1200" dirty="0"/>
              <a:t>구성으로부터 </a:t>
            </a:r>
            <a:r>
              <a:rPr lang="ko-KR" altLang="en-US" sz="1200" dirty="0" err="1"/>
              <a:t>이사건</a:t>
            </a:r>
            <a:r>
              <a:rPr lang="ko-KR" altLang="en-US" sz="1200" dirty="0"/>
              <a:t> 특허발명의 기술적 특징을 이루는 구성 </a:t>
            </a:r>
            <a:r>
              <a:rPr lang="en-US" altLang="ko-KR" sz="1200" dirty="0"/>
              <a:t>2</a:t>
            </a:r>
            <a:r>
              <a:rPr lang="ko-KR" altLang="en-US" sz="1200" dirty="0"/>
              <a:t>의 ‘</a:t>
            </a:r>
            <a:r>
              <a:rPr lang="ko-KR" altLang="en-US" sz="1200" dirty="0" err="1"/>
              <a:t>부정제피이더</a:t>
            </a:r>
            <a:r>
              <a:rPr lang="en-US" altLang="ko-KR" sz="1200" dirty="0"/>
              <a:t>(72)’</a:t>
            </a:r>
            <a:r>
              <a:rPr lang="ko-KR" altLang="en-US" sz="1200" dirty="0"/>
              <a:t>구성을 용이하게 도출할 수 있다는 전제 아래</a:t>
            </a:r>
            <a:r>
              <a:rPr lang="en-US" altLang="ko-KR" sz="1200" dirty="0"/>
              <a:t>, </a:t>
            </a:r>
            <a:r>
              <a:rPr lang="ko-KR" altLang="en-US" sz="1200" dirty="0">
                <a:solidFill>
                  <a:srgbClr val="FF0000"/>
                </a:solidFill>
              </a:rPr>
              <a:t>통상의 기술자라면 여기에 비교대상발명 </a:t>
            </a:r>
            <a:r>
              <a:rPr lang="en-US" altLang="ko-KR" sz="1200" dirty="0">
                <a:solidFill>
                  <a:srgbClr val="FF0000"/>
                </a:solidFill>
              </a:rPr>
              <a:t>2</a:t>
            </a:r>
            <a:r>
              <a:rPr lang="ko-KR" altLang="en-US" sz="1200" dirty="0">
                <a:solidFill>
                  <a:srgbClr val="FF0000"/>
                </a:solidFill>
              </a:rPr>
              <a:t>를 추가적</a:t>
            </a:r>
            <a:r>
              <a:rPr lang="en-US" altLang="ko-KR" sz="1200" dirty="0">
                <a:solidFill>
                  <a:srgbClr val="FF0000"/>
                </a:solidFill>
              </a:rPr>
              <a:t>, </a:t>
            </a:r>
            <a:r>
              <a:rPr lang="ko-KR" altLang="en-US" sz="1200" dirty="0">
                <a:solidFill>
                  <a:srgbClr val="FF0000"/>
                </a:solidFill>
              </a:rPr>
              <a:t>보충적으로 결합함으로써 이 사건 특허발명을 용이하게 발명할 수 있으므로 그 진보성이 부정된다는 취지</a:t>
            </a:r>
            <a:r>
              <a:rPr lang="ko-KR" altLang="en-US" sz="1200" dirty="0"/>
              <a:t>라고 할 것이다</a:t>
            </a:r>
            <a:r>
              <a:rPr lang="en-US" altLang="ko-KR" sz="1200" dirty="0"/>
              <a:t>. </a:t>
            </a:r>
            <a:r>
              <a:rPr lang="ko-KR" altLang="en-US" sz="1200" dirty="0">
                <a:solidFill>
                  <a:srgbClr val="FF0000"/>
                </a:solidFill>
              </a:rPr>
              <a:t>따라서 원심의 이 부분 판단 내용은 앞서 본 바와 같은 이전 </a:t>
            </a:r>
            <a:r>
              <a:rPr lang="ko-KR" altLang="en-US" sz="1200" dirty="0" err="1">
                <a:solidFill>
                  <a:srgbClr val="FF0000"/>
                </a:solidFill>
              </a:rPr>
              <a:t>확정심결의</a:t>
            </a:r>
            <a:r>
              <a:rPr lang="ko-KR" altLang="en-US" sz="1200" dirty="0">
                <a:solidFill>
                  <a:srgbClr val="FF0000"/>
                </a:solidFill>
              </a:rPr>
              <a:t> 기본이 된 이유와 실질적으로 저촉된다고 할 수 없으므로</a:t>
            </a:r>
            <a:r>
              <a:rPr lang="en-US" altLang="ko-KR" sz="1200" dirty="0"/>
              <a:t>, </a:t>
            </a:r>
            <a:r>
              <a:rPr lang="ko-KR" altLang="en-US" sz="1200" dirty="0"/>
              <a:t>비록 비교대상발명 </a:t>
            </a:r>
            <a:r>
              <a:rPr lang="en-US" altLang="ko-KR" sz="1200" dirty="0"/>
              <a:t>2</a:t>
            </a:r>
            <a:r>
              <a:rPr lang="ko-KR" altLang="en-US" sz="1200" dirty="0"/>
              <a:t>에 의하여 이 사건 특허발명의 진보성이 부정되지 아니한다고 판단한 이전 </a:t>
            </a:r>
            <a:r>
              <a:rPr lang="ko-KR" altLang="en-US" sz="1200" dirty="0" err="1"/>
              <a:t>확정심결과는</a:t>
            </a:r>
            <a:r>
              <a:rPr lang="ko-KR" altLang="en-US" sz="1200" dirty="0"/>
              <a:t> 그 결론이 결과적으로 달라졌다고 하더라도 일사부재리 원칙에 반한다고 할 수 없다</a:t>
            </a:r>
            <a:r>
              <a:rPr lang="en-US" altLang="ko-KR" sz="1200" dirty="0"/>
              <a:t>. </a:t>
            </a:r>
            <a:endParaRPr lang="ko-KR" altLang="en-US" sz="1200" dirty="0"/>
          </a:p>
        </p:txBody>
      </p:sp>
      <p:sp>
        <p:nvSpPr>
          <p:cNvPr id="16" name="타원 15">
            <a:extLst>
              <a:ext uri="{FF2B5EF4-FFF2-40B4-BE49-F238E27FC236}">
                <a16:creationId xmlns:a16="http://schemas.microsoft.com/office/drawing/2014/main" id="{9885F3E1-B530-452A-9A3E-8CF405940A00}"/>
              </a:ext>
            </a:extLst>
          </p:cNvPr>
          <p:cNvSpPr/>
          <p:nvPr/>
        </p:nvSpPr>
        <p:spPr>
          <a:xfrm>
            <a:off x="651875" y="3923766"/>
            <a:ext cx="95918" cy="9591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직사각형 24">
            <a:extLst>
              <a:ext uri="{FF2B5EF4-FFF2-40B4-BE49-F238E27FC236}">
                <a16:creationId xmlns:a16="http://schemas.microsoft.com/office/drawing/2014/main" id="{F48AF98E-701F-4E6A-B793-BA7281EF12D1}"/>
              </a:ext>
            </a:extLst>
          </p:cNvPr>
          <p:cNvSpPr/>
          <p:nvPr/>
        </p:nvSpPr>
        <p:spPr>
          <a:xfrm>
            <a:off x="17252" y="4904051"/>
            <a:ext cx="8057073" cy="1938992"/>
          </a:xfrm>
          <a:prstGeom prst="rect">
            <a:avLst/>
          </a:prstGeom>
          <a:ln>
            <a:solidFill>
              <a:schemeClr val="bg1">
                <a:lumMod val="50000"/>
              </a:schemeClr>
            </a:solidFill>
          </a:ln>
        </p:spPr>
        <p:txBody>
          <a:bodyPr wrap="square">
            <a:spAutoFit/>
          </a:bodyPr>
          <a:lstStyle/>
          <a:p>
            <a:r>
              <a:rPr lang="ko-KR" altLang="en-US" sz="1200" b="1" dirty="0">
                <a:solidFill>
                  <a:schemeClr val="accent1">
                    <a:lumMod val="50000"/>
                  </a:schemeClr>
                </a:solidFill>
              </a:rPr>
              <a:t>다른 </a:t>
            </a:r>
            <a:r>
              <a:rPr lang="en-US" altLang="ko-KR" sz="1200" b="1" dirty="0">
                <a:solidFill>
                  <a:schemeClr val="accent1">
                    <a:lumMod val="50000"/>
                  </a:schemeClr>
                </a:solidFill>
              </a:rPr>
              <a:t>CASE(</a:t>
            </a:r>
            <a:r>
              <a:rPr lang="ko-KR" altLang="en-US" sz="1200" b="1" dirty="0">
                <a:solidFill>
                  <a:schemeClr val="accent1">
                    <a:lumMod val="50000"/>
                  </a:schemeClr>
                </a:solidFill>
              </a:rPr>
              <a:t>특허법원 </a:t>
            </a:r>
            <a:r>
              <a:rPr lang="en-US" altLang="ko-KR" sz="1200" b="1" dirty="0">
                <a:solidFill>
                  <a:schemeClr val="accent1">
                    <a:lumMod val="50000"/>
                  </a:schemeClr>
                </a:solidFill>
              </a:rPr>
              <a:t>2018. 7. 5. </a:t>
            </a:r>
            <a:r>
              <a:rPr lang="ko-KR" altLang="en-US" sz="1200" b="1" dirty="0">
                <a:solidFill>
                  <a:schemeClr val="accent1">
                    <a:lumMod val="50000"/>
                  </a:schemeClr>
                </a:solidFill>
              </a:rPr>
              <a:t>선고 </a:t>
            </a:r>
            <a:r>
              <a:rPr lang="en-US" altLang="ko-KR" sz="1200" b="1" dirty="0">
                <a:solidFill>
                  <a:schemeClr val="accent1">
                    <a:lumMod val="50000"/>
                  </a:schemeClr>
                </a:solidFill>
              </a:rPr>
              <a:t>2017</a:t>
            </a:r>
            <a:r>
              <a:rPr lang="ko-KR" altLang="en-US" sz="1200" b="1" dirty="0">
                <a:solidFill>
                  <a:schemeClr val="accent1">
                    <a:lumMod val="50000"/>
                  </a:schemeClr>
                </a:solidFill>
              </a:rPr>
              <a:t>허</a:t>
            </a:r>
            <a:r>
              <a:rPr lang="en-US" altLang="ko-KR" sz="1200" b="1" dirty="0">
                <a:solidFill>
                  <a:schemeClr val="accent1">
                    <a:lumMod val="50000"/>
                  </a:schemeClr>
                </a:solidFill>
              </a:rPr>
              <a:t>5207): </a:t>
            </a:r>
            <a:r>
              <a:rPr lang="ko-KR" altLang="en-US" sz="1200" dirty="0"/>
              <a:t>원고는 </a:t>
            </a:r>
            <a:r>
              <a:rPr lang="en-US" altLang="ko-KR" sz="1200" dirty="0"/>
              <a:t>2012</a:t>
            </a:r>
            <a:r>
              <a:rPr lang="ko-KR" altLang="en-US" sz="1200" dirty="0"/>
              <a:t>년경 피고들의 특허가 </a:t>
            </a:r>
            <a:r>
              <a:rPr lang="ko-KR" altLang="en-US" sz="1200" dirty="0">
                <a:solidFill>
                  <a:srgbClr val="FF0000"/>
                </a:solidFill>
              </a:rPr>
              <a:t>선행발명 </a:t>
            </a:r>
            <a:r>
              <a:rPr lang="en-US" altLang="ko-KR" sz="1200" dirty="0">
                <a:solidFill>
                  <a:srgbClr val="FF0000"/>
                </a:solidFill>
              </a:rPr>
              <a:t>3, 4</a:t>
            </a:r>
            <a:r>
              <a:rPr lang="ko-KR" altLang="en-US" sz="1200" dirty="0"/>
              <a:t>에 의하여 진보성이 부정된다는 이유로 등록무효심판을 청구하였으나</a:t>
            </a:r>
            <a:r>
              <a:rPr lang="en-US" altLang="ko-KR" sz="1200" dirty="0"/>
              <a:t>, </a:t>
            </a:r>
            <a:r>
              <a:rPr lang="ko-KR" altLang="en-US" sz="1200" dirty="0"/>
              <a:t>특허심판원은 이를 기각하고 그 </a:t>
            </a:r>
            <a:r>
              <a:rPr lang="ko-KR" altLang="en-US" sz="1200" dirty="0" err="1"/>
              <a:t>심결은</a:t>
            </a:r>
            <a:r>
              <a:rPr lang="ko-KR" altLang="en-US" sz="1200" dirty="0"/>
              <a:t> 확정되었다</a:t>
            </a:r>
            <a:r>
              <a:rPr lang="en-US" altLang="ko-KR" sz="1200" dirty="0"/>
              <a:t>. </a:t>
            </a:r>
            <a:r>
              <a:rPr lang="ko-KR" altLang="en-US" sz="1200" dirty="0"/>
              <a:t>원고는 </a:t>
            </a:r>
            <a:r>
              <a:rPr lang="en-US" altLang="ko-KR" sz="1200" dirty="0"/>
              <a:t>2016</a:t>
            </a:r>
            <a:r>
              <a:rPr lang="ko-KR" altLang="en-US" sz="1200" dirty="0"/>
              <a:t>년에 이르러 다시 피고들을 상대로 </a:t>
            </a:r>
            <a:r>
              <a:rPr lang="ko-KR" altLang="en-US" sz="1200" dirty="0">
                <a:solidFill>
                  <a:srgbClr val="FF0000"/>
                </a:solidFill>
              </a:rPr>
              <a:t>선행발명 </a:t>
            </a:r>
            <a:r>
              <a:rPr lang="en-US" altLang="ko-KR" sz="1200" dirty="0">
                <a:solidFill>
                  <a:srgbClr val="FF0000"/>
                </a:solidFill>
              </a:rPr>
              <a:t>1</a:t>
            </a:r>
            <a:r>
              <a:rPr lang="ko-KR" altLang="en-US" sz="1200" dirty="0">
                <a:solidFill>
                  <a:srgbClr val="FF0000"/>
                </a:solidFill>
              </a:rPr>
              <a:t>내지 </a:t>
            </a:r>
            <a:r>
              <a:rPr lang="en-US" altLang="ko-KR" sz="1200" dirty="0">
                <a:solidFill>
                  <a:srgbClr val="FF0000"/>
                </a:solidFill>
              </a:rPr>
              <a:t>5</a:t>
            </a:r>
            <a:r>
              <a:rPr lang="ko-KR" altLang="en-US" sz="1200" dirty="0"/>
              <a:t>에 의하여 진보성이 부정된다는 이유로 등록무효심판을 청구하였는데</a:t>
            </a:r>
            <a:r>
              <a:rPr lang="en-US" altLang="ko-KR" sz="1200" dirty="0"/>
              <a:t>, </a:t>
            </a:r>
            <a:r>
              <a:rPr lang="ko-KR" altLang="en-US" sz="1200" dirty="0"/>
              <a:t>선행발명 </a:t>
            </a:r>
            <a:r>
              <a:rPr lang="en-US" altLang="ko-KR" sz="1200" dirty="0"/>
              <a:t>1, 2, 5</a:t>
            </a:r>
            <a:r>
              <a:rPr lang="ko-KR" altLang="en-US" sz="1200" dirty="0"/>
              <a:t>는 새로운 증거이므로 심판청구가 일사부재리의 원칙에 저촉되는 것은 아니지만</a:t>
            </a:r>
            <a:r>
              <a:rPr lang="en-US" altLang="ko-KR" sz="1200" dirty="0"/>
              <a:t>, </a:t>
            </a:r>
            <a:r>
              <a:rPr lang="ko-KR" altLang="en-US" sz="1200" dirty="0"/>
              <a:t>선행발명 </a:t>
            </a:r>
            <a:r>
              <a:rPr lang="en-US" altLang="ko-KR" sz="1200" dirty="0"/>
              <a:t>1 </a:t>
            </a:r>
            <a:r>
              <a:rPr lang="ko-KR" altLang="en-US" sz="1200" dirty="0"/>
              <a:t>내지 </a:t>
            </a:r>
            <a:r>
              <a:rPr lang="en-US" altLang="ko-KR" sz="1200" dirty="0"/>
              <a:t>5</a:t>
            </a:r>
            <a:r>
              <a:rPr lang="ko-KR" altLang="en-US" sz="1200" dirty="0"/>
              <a:t>에 의하더라도 진보성이 부정되지 않는다고 기각하는 이 사건 </a:t>
            </a:r>
            <a:r>
              <a:rPr lang="ko-KR" altLang="en-US" sz="1200" dirty="0" err="1"/>
              <a:t>심결을</a:t>
            </a:r>
            <a:r>
              <a:rPr lang="ko-KR" altLang="en-US" sz="1200" dirty="0"/>
              <a:t> 하였다</a:t>
            </a:r>
            <a:r>
              <a:rPr lang="en-US" altLang="ko-KR" sz="1200" dirty="0"/>
              <a:t>. </a:t>
            </a:r>
            <a:r>
              <a:rPr lang="ko-KR" altLang="en-US" sz="1200" dirty="0"/>
              <a:t>그런데 원고가 제출한 위 증거들 중 선행발명 </a:t>
            </a:r>
            <a:r>
              <a:rPr lang="en-US" altLang="ko-KR" sz="1200" dirty="0"/>
              <a:t>3, 4</a:t>
            </a:r>
            <a:r>
              <a:rPr lang="ko-KR" altLang="en-US" sz="1200" dirty="0"/>
              <a:t>는 확정된 종전 </a:t>
            </a:r>
            <a:r>
              <a:rPr lang="ko-KR" altLang="en-US" sz="1200" dirty="0" err="1"/>
              <a:t>심결의</a:t>
            </a:r>
            <a:r>
              <a:rPr lang="ko-KR" altLang="en-US" sz="1200" dirty="0"/>
              <a:t> 심판과정에서 제출되어 이미 판단되었던 것으로서 동일 증거에 해당한다</a:t>
            </a:r>
            <a:r>
              <a:rPr lang="en-US" altLang="ko-KR" sz="1200" dirty="0"/>
              <a:t>. </a:t>
            </a:r>
            <a:r>
              <a:rPr lang="ko-KR" altLang="en-US" sz="1200" dirty="0"/>
              <a:t>나아가 </a:t>
            </a:r>
            <a:r>
              <a:rPr lang="ko-KR" altLang="en-US" sz="1200" dirty="0">
                <a:solidFill>
                  <a:srgbClr val="FF0000"/>
                </a:solidFill>
              </a:rPr>
              <a:t>선행발명 </a:t>
            </a:r>
            <a:r>
              <a:rPr lang="en-US" altLang="ko-KR" sz="1200" dirty="0">
                <a:solidFill>
                  <a:srgbClr val="FF0000"/>
                </a:solidFill>
              </a:rPr>
              <a:t>1, 2, 5 </a:t>
            </a:r>
            <a:r>
              <a:rPr lang="ko-KR" altLang="en-US" sz="1200" dirty="0">
                <a:solidFill>
                  <a:srgbClr val="FF0000"/>
                </a:solidFill>
              </a:rPr>
              <a:t>내지 </a:t>
            </a:r>
            <a:r>
              <a:rPr lang="en-US" altLang="ko-KR" sz="1200" dirty="0">
                <a:solidFill>
                  <a:srgbClr val="FF0000"/>
                </a:solidFill>
              </a:rPr>
              <a:t>8</a:t>
            </a:r>
            <a:r>
              <a:rPr lang="ko-KR" altLang="en-US" sz="1200" dirty="0">
                <a:solidFill>
                  <a:srgbClr val="FF0000"/>
                </a:solidFill>
              </a:rPr>
              <a:t>도 확정된 종전 </a:t>
            </a:r>
            <a:r>
              <a:rPr lang="ko-KR" altLang="en-US" sz="1200" dirty="0" err="1">
                <a:solidFill>
                  <a:srgbClr val="FF0000"/>
                </a:solidFill>
              </a:rPr>
              <a:t>심결을</a:t>
            </a:r>
            <a:r>
              <a:rPr lang="ko-KR" altLang="en-US" sz="1200" dirty="0">
                <a:solidFill>
                  <a:srgbClr val="FF0000"/>
                </a:solidFill>
              </a:rPr>
              <a:t> 번복할 수 있을 정도로 유력한 증거라고 할 수 없으므로 확정된 종전 </a:t>
            </a:r>
            <a:r>
              <a:rPr lang="ko-KR" altLang="en-US" sz="1200" dirty="0" err="1">
                <a:solidFill>
                  <a:srgbClr val="FF0000"/>
                </a:solidFill>
              </a:rPr>
              <a:t>심결에서의</a:t>
            </a:r>
            <a:r>
              <a:rPr lang="ko-KR" altLang="en-US" sz="1200" dirty="0">
                <a:solidFill>
                  <a:srgbClr val="FF0000"/>
                </a:solidFill>
              </a:rPr>
              <a:t> 증거와 실질적으로 동일한 증거에 해당한다</a:t>
            </a:r>
            <a:r>
              <a:rPr lang="en-US" altLang="ko-KR" sz="1200" dirty="0">
                <a:solidFill>
                  <a:srgbClr val="FF0000"/>
                </a:solidFill>
              </a:rPr>
              <a:t>. </a:t>
            </a:r>
            <a:r>
              <a:rPr lang="en-US" altLang="ko-KR" sz="1200" dirty="0"/>
              <a:t> </a:t>
            </a:r>
            <a:r>
              <a:rPr lang="ko-KR" altLang="en-US" sz="1200" dirty="0"/>
              <a:t>결국 이 사건 심판청구는 확정된 종전 </a:t>
            </a:r>
            <a:r>
              <a:rPr lang="ko-KR" altLang="en-US" sz="1200" dirty="0" err="1"/>
              <a:t>심결과</a:t>
            </a:r>
            <a:r>
              <a:rPr lang="ko-KR" altLang="en-US" sz="1200" dirty="0"/>
              <a:t> 동일 사실 및 동일 증거에 의한 심판청구에 해당하므로 특허법 제</a:t>
            </a:r>
            <a:r>
              <a:rPr lang="en-US" altLang="ko-KR" sz="1200" dirty="0"/>
              <a:t>163</a:t>
            </a:r>
            <a:r>
              <a:rPr lang="ko-KR" altLang="en-US" sz="1200" dirty="0"/>
              <a:t>조의 일사부재리 원칙에 위배되어 허용될 수 없는 것이다</a:t>
            </a:r>
            <a:r>
              <a:rPr lang="en-US" altLang="ko-KR" sz="1200" dirty="0"/>
              <a:t>. </a:t>
            </a:r>
            <a:r>
              <a:rPr lang="ko-KR" altLang="en-US" sz="1200" dirty="0"/>
              <a:t>따라서 이 사건 심판청구가 일사부재리의 원칙에 위배되지 않은 것으로 보아 이를 각하하지 않고 본안으로 나아가 판단한 나머지 이를 기각한 이 사건 </a:t>
            </a:r>
            <a:r>
              <a:rPr lang="ko-KR" altLang="en-US" sz="1200" dirty="0" err="1"/>
              <a:t>심결은</a:t>
            </a:r>
            <a:r>
              <a:rPr lang="ko-KR" altLang="en-US" sz="1200" dirty="0"/>
              <a:t> 위법하다</a:t>
            </a:r>
            <a:r>
              <a:rPr lang="en-US" altLang="ko-KR" sz="1200" dirty="0"/>
              <a:t>.</a:t>
            </a:r>
            <a:endParaRPr lang="ko-KR" altLang="en-US" sz="1200" dirty="0"/>
          </a:p>
        </p:txBody>
      </p:sp>
      <p:sp>
        <p:nvSpPr>
          <p:cNvPr id="8" name="타원 7">
            <a:extLst>
              <a:ext uri="{FF2B5EF4-FFF2-40B4-BE49-F238E27FC236}">
                <a16:creationId xmlns:a16="http://schemas.microsoft.com/office/drawing/2014/main" id="{12295DCC-BEDD-4044-BC0F-1C2A60CB0B1A}"/>
              </a:ext>
            </a:extLst>
          </p:cNvPr>
          <p:cNvSpPr/>
          <p:nvPr/>
        </p:nvSpPr>
        <p:spPr>
          <a:xfrm>
            <a:off x="1437777" y="3951746"/>
            <a:ext cx="46083" cy="46083"/>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TextBox 14">
            <a:extLst>
              <a:ext uri="{FF2B5EF4-FFF2-40B4-BE49-F238E27FC236}">
                <a16:creationId xmlns:a16="http://schemas.microsoft.com/office/drawing/2014/main" id="{CB0EADB4-F0A5-4914-B618-F6E0B5F6D8BC}"/>
              </a:ext>
            </a:extLst>
          </p:cNvPr>
          <p:cNvSpPr txBox="1"/>
          <p:nvPr/>
        </p:nvSpPr>
        <p:spPr>
          <a:xfrm>
            <a:off x="2686504" y="4057482"/>
            <a:ext cx="1018227" cy="369332"/>
          </a:xfrm>
          <a:prstGeom prst="rect">
            <a:avLst/>
          </a:prstGeom>
          <a:noFill/>
        </p:spPr>
        <p:txBody>
          <a:bodyPr wrap="none" rtlCol="0">
            <a:spAutoFit/>
          </a:bodyPr>
          <a:lstStyle/>
          <a:p>
            <a:r>
              <a:rPr lang="ko-KR" altLang="en-US" dirty="0">
                <a:solidFill>
                  <a:srgbClr val="FF0000"/>
                </a:solidFill>
              </a:rPr>
              <a:t>유력증거</a:t>
            </a:r>
          </a:p>
        </p:txBody>
      </p:sp>
      <p:cxnSp>
        <p:nvCxnSpPr>
          <p:cNvPr id="18" name="직선 화살표 연결선 17">
            <a:extLst>
              <a:ext uri="{FF2B5EF4-FFF2-40B4-BE49-F238E27FC236}">
                <a16:creationId xmlns:a16="http://schemas.microsoft.com/office/drawing/2014/main" id="{92D8835D-FBFB-4A1D-9AA5-FF7B8D7E092D}"/>
              </a:ext>
            </a:extLst>
          </p:cNvPr>
          <p:cNvCxnSpPr>
            <a:stCxn id="15" idx="1"/>
          </p:cNvCxnSpPr>
          <p:nvPr/>
        </p:nvCxnSpPr>
        <p:spPr>
          <a:xfrm flipH="1" flipV="1">
            <a:off x="2483272" y="4017809"/>
            <a:ext cx="203232" cy="224339"/>
          </a:xfrm>
          <a:prstGeom prst="straightConnector1">
            <a:avLst/>
          </a:prstGeom>
          <a:ln w="127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2278050"/>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163</a:t>
            </a:r>
            <a:r>
              <a:rPr lang="ko-KR" altLang="en-US" dirty="0"/>
              <a:t>조</a:t>
            </a:r>
          </a:p>
        </p:txBody>
      </p:sp>
      <p:sp>
        <p:nvSpPr>
          <p:cNvPr id="4" name="텍스트 개체 틀 3"/>
          <p:cNvSpPr>
            <a:spLocks noGrp="1"/>
          </p:cNvSpPr>
          <p:nvPr>
            <p:ph type="body" sz="quarter" idx="13"/>
          </p:nvPr>
        </p:nvSpPr>
        <p:spPr/>
        <p:txBody>
          <a:bodyPr/>
          <a:lstStyle/>
          <a:p>
            <a:r>
              <a:rPr lang="ko-KR" altLang="en-US" dirty="0"/>
              <a:t>일사부재리 적용 </a:t>
            </a:r>
            <a:r>
              <a:rPr lang="en-US" altLang="ko-KR" dirty="0"/>
              <a:t>CASE: </a:t>
            </a:r>
            <a:r>
              <a:rPr lang="ko-KR" altLang="en-US" dirty="0"/>
              <a:t>동일사실</a:t>
            </a:r>
          </a:p>
        </p:txBody>
      </p:sp>
      <p:sp>
        <p:nvSpPr>
          <p:cNvPr id="31" name="모서리가 둥근 직사각형 10">
            <a:extLst>
              <a:ext uri="{FF2B5EF4-FFF2-40B4-BE49-F238E27FC236}">
                <a16:creationId xmlns:a16="http://schemas.microsoft.com/office/drawing/2014/main" id="{83E8DC17-A890-4A8F-8AF6-87049ACC89A5}"/>
              </a:ext>
            </a:extLst>
          </p:cNvPr>
          <p:cNvSpPr/>
          <p:nvPr/>
        </p:nvSpPr>
        <p:spPr bwMode="auto">
          <a:xfrm>
            <a:off x="109477" y="1002199"/>
            <a:ext cx="5287296" cy="313998"/>
          </a:xfrm>
          <a:prstGeom prst="roundRect">
            <a:avLst>
              <a:gd name="adj" fmla="val 50000"/>
            </a:avLst>
          </a:prstGeom>
          <a:solidFill>
            <a:schemeClr val="bg1">
              <a:lumMod val="50000"/>
            </a:schemeClr>
          </a:solidFill>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2017. 1. 19. </a:t>
            </a:r>
            <a:r>
              <a:rPr lang="ko-KR" altLang="en-US" sz="1400" dirty="0"/>
              <a:t>선고 </a:t>
            </a:r>
            <a:r>
              <a:rPr lang="en-US" altLang="ko-KR" sz="1400" dirty="0"/>
              <a:t>2013</a:t>
            </a:r>
            <a:r>
              <a:rPr lang="ko-KR" altLang="en-US" sz="1400" dirty="0"/>
              <a:t>후</a:t>
            </a:r>
            <a:r>
              <a:rPr lang="en-US" altLang="ko-KR" sz="1400" dirty="0"/>
              <a:t>37 </a:t>
            </a:r>
            <a:r>
              <a:rPr lang="ko-KR" altLang="en-US" sz="1400" dirty="0"/>
              <a:t>전원합의체 판결 </a:t>
            </a:r>
            <a:r>
              <a:rPr lang="en-US" altLang="ko-KR" sz="1400" dirty="0"/>
              <a:t>[</a:t>
            </a:r>
            <a:r>
              <a:rPr lang="ko-KR" altLang="en-US" sz="1400" dirty="0"/>
              <a:t>등록무효</a:t>
            </a:r>
            <a:r>
              <a:rPr lang="en-US" altLang="ko-KR" sz="1400" dirty="0"/>
              <a:t>(</a:t>
            </a:r>
            <a:r>
              <a:rPr lang="ko-KR" altLang="en-US" sz="1400" dirty="0"/>
              <a:t>실</a:t>
            </a:r>
            <a:r>
              <a:rPr lang="en-US" altLang="ko-KR" sz="1400" dirty="0"/>
              <a:t>)]</a:t>
            </a:r>
          </a:p>
        </p:txBody>
      </p:sp>
      <p:sp>
        <p:nvSpPr>
          <p:cNvPr id="32" name="직사각형 31">
            <a:extLst>
              <a:ext uri="{FF2B5EF4-FFF2-40B4-BE49-F238E27FC236}">
                <a16:creationId xmlns:a16="http://schemas.microsoft.com/office/drawing/2014/main" id="{AB016C75-8430-4388-9E51-7B3101DE3CF1}"/>
              </a:ext>
            </a:extLst>
          </p:cNvPr>
          <p:cNvSpPr/>
          <p:nvPr/>
        </p:nvSpPr>
        <p:spPr>
          <a:xfrm>
            <a:off x="0" y="1406922"/>
            <a:ext cx="12192000" cy="2862322"/>
          </a:xfrm>
          <a:prstGeom prst="rect">
            <a:avLst/>
          </a:prstGeom>
        </p:spPr>
        <p:txBody>
          <a:bodyPr wrap="square">
            <a:spAutoFit/>
          </a:bodyPr>
          <a:lstStyle/>
          <a:p>
            <a:pPr algn="just"/>
            <a:r>
              <a:rPr lang="en-US" altLang="ko-KR" sz="1200" dirty="0"/>
              <a:t>[1] </a:t>
            </a:r>
            <a:r>
              <a:rPr lang="ko-KR" altLang="en-US" sz="1200" dirty="0"/>
              <a:t>특허발명의 신규성 또는 진보성 판단과 관련하여 특허발명의 구성요소가 출원 전에 공지된 것인지는 사실인정의 문제이고</a:t>
            </a:r>
            <a:r>
              <a:rPr lang="en-US" altLang="ko-KR" sz="1200" dirty="0"/>
              <a:t>, </a:t>
            </a:r>
            <a:r>
              <a:rPr lang="ko-KR" altLang="en-US" sz="1200" dirty="0"/>
              <a:t>공지사실에 관한 증명책임은 신규성 또는 진보성이 부정된다고 주장하는 당사자에게 있다</a:t>
            </a:r>
            <a:r>
              <a:rPr lang="en-US" altLang="ko-KR" sz="1200" dirty="0"/>
              <a:t>. </a:t>
            </a:r>
            <a:r>
              <a:rPr lang="ko-KR" altLang="en-US" sz="1200" dirty="0"/>
              <a:t>따라서 권리자가 자백하거나 법원에 현저한 사실로서 증명을 필요로 하지 않는 경우가 아니라면</a:t>
            </a:r>
            <a:r>
              <a:rPr lang="en-US" altLang="ko-KR" sz="1200" dirty="0"/>
              <a:t>, </a:t>
            </a:r>
            <a:r>
              <a:rPr lang="ko-KR" altLang="en-US" sz="1200" dirty="0"/>
              <a:t>공지사실은 증거에 의하여 증명되어야 하는 것이 원칙이다</a:t>
            </a:r>
            <a:r>
              <a:rPr lang="en-US" altLang="ko-KR" sz="1200" dirty="0"/>
              <a:t>. </a:t>
            </a:r>
            <a:r>
              <a:rPr lang="ko-KR" altLang="en-US" sz="1200" dirty="0"/>
              <a:t>그리고 </a:t>
            </a:r>
            <a:r>
              <a:rPr lang="ko-KR" altLang="en-US" sz="1200" dirty="0">
                <a:highlight>
                  <a:srgbClr val="FFFF00"/>
                </a:highlight>
              </a:rPr>
              <a:t>청구범위의 </a:t>
            </a:r>
            <a:r>
              <a:rPr lang="ko-KR" altLang="en-US" sz="1200" dirty="0" err="1">
                <a:highlight>
                  <a:srgbClr val="FFFF00"/>
                </a:highlight>
              </a:rPr>
              <a:t>전제부</a:t>
            </a:r>
            <a:r>
              <a:rPr lang="ko-KR" altLang="en-US" sz="1200" dirty="0">
                <a:highlight>
                  <a:srgbClr val="FFFF00"/>
                </a:highlight>
              </a:rPr>
              <a:t> 기재는 청구항의 문맥을 매끄럽게 하는 의미에서 발명을 요약하거나 기술분야를 기재하거나 발명이 적용되는 대상물품을 한정하는 등 목적이나 내용이 다양하므로</a:t>
            </a:r>
            <a:r>
              <a:rPr lang="en-US" altLang="ko-KR" sz="1200" dirty="0">
                <a:highlight>
                  <a:srgbClr val="FFFF00"/>
                </a:highlight>
              </a:rPr>
              <a:t>, </a:t>
            </a:r>
            <a:r>
              <a:rPr lang="ko-KR" altLang="en-US" sz="1200" dirty="0">
                <a:highlight>
                  <a:srgbClr val="FFFF00"/>
                </a:highlight>
              </a:rPr>
              <a:t>어떠한 구성요소가 전제부에 기재되었다는 사정만으로 공지성을 인정할 근거는 되지 못한다</a:t>
            </a:r>
            <a:r>
              <a:rPr lang="en-US" altLang="ko-KR" sz="1200" dirty="0">
                <a:highlight>
                  <a:srgbClr val="FFFF00"/>
                </a:highlight>
              </a:rPr>
              <a:t>.</a:t>
            </a:r>
            <a:r>
              <a:rPr lang="en-US" altLang="ko-KR" sz="1200" dirty="0"/>
              <a:t> </a:t>
            </a:r>
            <a:r>
              <a:rPr lang="ko-KR" altLang="en-US" sz="1200" dirty="0"/>
              <a:t>또한 </a:t>
            </a:r>
            <a:r>
              <a:rPr lang="ko-KR" altLang="en-US" sz="1200" dirty="0" err="1"/>
              <a:t>전제부</a:t>
            </a:r>
            <a:r>
              <a:rPr lang="ko-KR" altLang="en-US" sz="1200" dirty="0"/>
              <a:t> 기재 구성요소가 명세서에 배경기술 또는 종래기술로 기재될 수도 있는데</a:t>
            </a:r>
            <a:r>
              <a:rPr lang="en-US" altLang="ko-KR" sz="1200" dirty="0"/>
              <a:t>, </a:t>
            </a:r>
            <a:r>
              <a:rPr lang="ko-KR" altLang="en-US" sz="1200" dirty="0"/>
              <a:t>출원인이 명세서에 기재하는 배경기술 또는 종래기술은 출원발명의 기술적 의의를 이해하는 데 도움이 되고 선행기술 조사 및 심사에 유용한 기존의 기술이기는 하나 출원 전 공지되었음을 요건으로 하는 개념은 아니다</a:t>
            </a:r>
            <a:r>
              <a:rPr lang="en-US" altLang="ko-KR" sz="1200" dirty="0"/>
              <a:t>. </a:t>
            </a:r>
            <a:r>
              <a:rPr lang="ko-KR" altLang="en-US" sz="1200" dirty="0"/>
              <a:t>따라서 </a:t>
            </a:r>
            <a:r>
              <a:rPr lang="ko-KR" altLang="en-US" sz="1200" dirty="0">
                <a:highlight>
                  <a:srgbClr val="FFFF00"/>
                </a:highlight>
              </a:rPr>
              <a:t>명세서에 배경기술 또는 종래기술로 기재되어 있다고 하여 그 자체로 공지기술로 볼 수도 없다</a:t>
            </a:r>
            <a:r>
              <a:rPr lang="en-US" altLang="ko-KR" sz="1200" dirty="0">
                <a:highlight>
                  <a:srgbClr val="FFFF00"/>
                </a:highlight>
              </a:rPr>
              <a:t>.</a:t>
            </a:r>
            <a:r>
              <a:rPr lang="en-US" altLang="ko-KR" sz="1200" dirty="0"/>
              <a:t> </a:t>
            </a:r>
            <a:r>
              <a:rPr lang="ko-KR" altLang="en-US" sz="1200" dirty="0"/>
              <a:t>다만 특허심사는 지식재산처 심사관에 의한 </a:t>
            </a:r>
            <a:r>
              <a:rPr lang="ko-KR" altLang="en-US" sz="1200" dirty="0" err="1"/>
              <a:t>거절이유통지와</a:t>
            </a:r>
            <a:r>
              <a:rPr lang="ko-KR" altLang="en-US" sz="1200" dirty="0"/>
              <a:t> 출원인의 대응에 의하여 서로 의견을 교환하는 과정을 통해 이루어지는 절차인 점에 비추어 보면</a:t>
            </a:r>
            <a:r>
              <a:rPr lang="en-US" altLang="ko-KR" sz="1200" dirty="0"/>
              <a:t>, </a:t>
            </a:r>
            <a:r>
              <a:rPr lang="ko-KR" altLang="en-US" sz="1200" dirty="0"/>
              <a:t>출원과정에서 명세서나 보정서 또는 의견서 등에 의하여 출원된 발명의 일부 구성요소가 출원 전에 공지된 것이라는 취지가 드러나는 경우에는 이를 토대로 하여 이후의 심사절차가 진행될 수 있도록 할 필요가 있다</a:t>
            </a:r>
            <a:r>
              <a:rPr lang="en-US" altLang="ko-KR" sz="1200" dirty="0"/>
              <a:t>. </a:t>
            </a:r>
            <a:r>
              <a:rPr lang="ko-KR" altLang="en-US" sz="1200" dirty="0"/>
              <a:t>그렇다면 </a:t>
            </a:r>
            <a:r>
              <a:rPr lang="ko-KR" altLang="en-US" sz="1200" dirty="0">
                <a:highlight>
                  <a:srgbClr val="FFFF00"/>
                </a:highlight>
              </a:rPr>
              <a:t>명세서의 전체적인 기재와 출원경과를 종합적으로 고려하여 출원인이 일정한 구성요소는 단순히 배경기술 또는 종래기술인 정도를 넘어서 공지기술이라는 취지로 청구범위의 전제부에 기재하였음을 인정할 수 있는 경우에만 별도의 증거 없이도 </a:t>
            </a:r>
            <a:r>
              <a:rPr lang="ko-KR" altLang="en-US" sz="1200" dirty="0" err="1">
                <a:highlight>
                  <a:srgbClr val="FFFF00"/>
                </a:highlight>
              </a:rPr>
              <a:t>전제부</a:t>
            </a:r>
            <a:r>
              <a:rPr lang="ko-KR" altLang="en-US" sz="1200" dirty="0">
                <a:highlight>
                  <a:srgbClr val="FFFF00"/>
                </a:highlight>
              </a:rPr>
              <a:t> 기재 구성요소를 출원 전 공지된 것이라고 사실상 </a:t>
            </a:r>
            <a:r>
              <a:rPr lang="ko-KR" altLang="en-US" sz="1200" dirty="0">
                <a:solidFill>
                  <a:srgbClr val="FF0000"/>
                </a:solidFill>
                <a:highlight>
                  <a:srgbClr val="FFFF00"/>
                </a:highlight>
              </a:rPr>
              <a:t>추정</a:t>
            </a:r>
            <a:r>
              <a:rPr lang="ko-KR" altLang="en-US" sz="1200" dirty="0"/>
              <a:t>함이 타당하다</a:t>
            </a:r>
            <a:r>
              <a:rPr lang="en-US" altLang="ko-KR" sz="1200" dirty="0"/>
              <a:t>. </a:t>
            </a:r>
            <a:r>
              <a:rPr lang="ko-KR" altLang="en-US" sz="1200" dirty="0"/>
              <a:t>그러나 이러한 추정이 절대적인 것은 아니므로 출원인이 </a:t>
            </a:r>
            <a:r>
              <a:rPr lang="ko-KR" altLang="en-US" sz="1200" dirty="0">
                <a:highlight>
                  <a:srgbClr val="FFFF00"/>
                </a:highlight>
              </a:rPr>
              <a:t>실제로는 출원 당시 아직 공개되지 아니한 선출원발명이나 출원인의 회사 내부에만 알려져 있었던 기술을 착오로 공지된 것으로 잘못 기재하였음이 밝혀지는 경우와 같이 특별한 사정이 있는 때에는 추정이 번복</a:t>
            </a:r>
            <a:r>
              <a:rPr lang="ko-KR" altLang="en-US" sz="1200" dirty="0"/>
              <a:t>될 수 있다</a:t>
            </a:r>
            <a:r>
              <a:rPr lang="en-US" altLang="ko-KR" sz="1200" dirty="0"/>
              <a:t>. </a:t>
            </a:r>
            <a:r>
              <a:rPr lang="ko-KR" altLang="en-US" sz="1200" dirty="0"/>
              <a:t>그리고 위와 같은 법리는 실용신안의 경우에도 마찬가지로 적용된다</a:t>
            </a:r>
            <a:r>
              <a:rPr lang="en-US" altLang="ko-KR" sz="1200" dirty="0"/>
              <a:t>. </a:t>
            </a:r>
          </a:p>
          <a:p>
            <a:pPr algn="just"/>
            <a:r>
              <a:rPr lang="en-US" altLang="ko-KR" sz="1200" dirty="0"/>
              <a:t>[2] </a:t>
            </a:r>
            <a:r>
              <a:rPr lang="ko-KR" altLang="en-US" sz="1200" dirty="0"/>
              <a:t>특허나 실용신안의 등록무효심판청구에 관하여 종전에 확정된 </a:t>
            </a:r>
            <a:r>
              <a:rPr lang="ko-KR" altLang="en-US" sz="1200" dirty="0" err="1"/>
              <a:t>심결이</a:t>
            </a:r>
            <a:r>
              <a:rPr lang="ko-KR" altLang="en-US" sz="1200" dirty="0"/>
              <a:t> 있더라도 종전 심판에서 </a:t>
            </a:r>
            <a:r>
              <a:rPr lang="ko-KR" altLang="en-US" sz="1200" dirty="0">
                <a:highlight>
                  <a:srgbClr val="FFFF00"/>
                </a:highlight>
              </a:rPr>
              <a:t>청구원인이 된 무효사유 외에 다른 무효사유가 추가된 경우에는 새로운 심판청구는 그 자체로 동일사실에 의한 것이 아니어서 일사부재리의 원칙에 위배되지는 아니한다</a:t>
            </a:r>
            <a:r>
              <a:rPr lang="en-US" altLang="ko-KR" sz="1200" dirty="0">
                <a:highlight>
                  <a:srgbClr val="FFFF00"/>
                </a:highlight>
              </a:rPr>
              <a:t>.</a:t>
            </a:r>
            <a:r>
              <a:rPr lang="en-US" altLang="ko-KR" sz="1200" dirty="0"/>
              <a:t> </a:t>
            </a:r>
            <a:r>
              <a:rPr lang="ko-KR" altLang="en-US" sz="1200" dirty="0"/>
              <a:t>그러나 모순</a:t>
            </a:r>
            <a:r>
              <a:rPr lang="en-US" altLang="ko-KR" sz="1200" dirty="0"/>
              <a:t>·</a:t>
            </a:r>
            <a:r>
              <a:rPr lang="ko-KR" altLang="en-US" sz="1200" dirty="0"/>
              <a:t>저촉되는 복수의 </a:t>
            </a:r>
            <a:r>
              <a:rPr lang="ko-KR" altLang="en-US" sz="1200" dirty="0" err="1"/>
              <a:t>심결이</a:t>
            </a:r>
            <a:r>
              <a:rPr lang="ko-KR" altLang="en-US" sz="1200" dirty="0"/>
              <a:t> 발생하는 것을 방지하고자 하는 일사부재리 제도의 취지를 고려하면</a:t>
            </a:r>
            <a:r>
              <a:rPr lang="en-US" altLang="ko-KR" sz="1200" dirty="0"/>
              <a:t>, </a:t>
            </a:r>
            <a:r>
              <a:rPr lang="ko-KR" altLang="en-US" sz="1200" dirty="0"/>
              <a:t>위와 같은 경우에도 종전에 확정된 </a:t>
            </a:r>
            <a:r>
              <a:rPr lang="ko-KR" altLang="en-US" sz="1200" dirty="0" err="1"/>
              <a:t>심결에서</a:t>
            </a:r>
            <a:r>
              <a:rPr lang="ko-KR" altLang="en-US" sz="1200" dirty="0"/>
              <a:t> 판단이 이루어진 </a:t>
            </a:r>
            <a:r>
              <a:rPr lang="ko-KR" altLang="en-US" sz="1200" dirty="0">
                <a:highlight>
                  <a:srgbClr val="FFFF00"/>
                </a:highlight>
              </a:rPr>
              <a:t>청구원인과 공통되는 부분에 대해서는 일사부재리의 원칙 위배 여부의 관점에서 확정된 </a:t>
            </a:r>
            <a:r>
              <a:rPr lang="ko-KR" altLang="en-US" sz="1200" dirty="0" err="1">
                <a:highlight>
                  <a:srgbClr val="FFFF00"/>
                </a:highlight>
              </a:rPr>
              <a:t>심결을</a:t>
            </a:r>
            <a:r>
              <a:rPr lang="ko-KR" altLang="en-US" sz="1200" dirty="0">
                <a:highlight>
                  <a:srgbClr val="FFFF00"/>
                </a:highlight>
              </a:rPr>
              <a:t> 번복할 수 있을 정도로 유력한 증거가 새로이 제출되었는지를 따져 종전 </a:t>
            </a:r>
            <a:r>
              <a:rPr lang="ko-KR" altLang="en-US" sz="1200" dirty="0" err="1">
                <a:highlight>
                  <a:srgbClr val="FFFF00"/>
                </a:highlight>
              </a:rPr>
              <a:t>심결에서와</a:t>
            </a:r>
            <a:r>
              <a:rPr lang="ko-KR" altLang="en-US" sz="1200" dirty="0">
                <a:highlight>
                  <a:srgbClr val="FFFF00"/>
                </a:highlight>
              </a:rPr>
              <a:t> 다른 결론을 내릴 것인지를 판단</a:t>
            </a:r>
            <a:r>
              <a:rPr lang="ko-KR" altLang="en-US" sz="1200" dirty="0"/>
              <a:t>하여야 한다</a:t>
            </a:r>
            <a:r>
              <a:rPr lang="en-US" altLang="ko-KR" sz="1200" dirty="0"/>
              <a:t>.</a:t>
            </a:r>
            <a:endParaRPr lang="en-US" altLang="ko-KR" sz="1200" dirty="0">
              <a:solidFill>
                <a:srgbClr val="FF0000"/>
              </a:solidFill>
            </a:endParaRPr>
          </a:p>
        </p:txBody>
      </p:sp>
      <p:sp>
        <p:nvSpPr>
          <p:cNvPr id="42" name="Line 5">
            <a:extLst>
              <a:ext uri="{FF2B5EF4-FFF2-40B4-BE49-F238E27FC236}">
                <a16:creationId xmlns:a16="http://schemas.microsoft.com/office/drawing/2014/main" id="{C3D521F3-C89A-4691-A233-1BC4F6DB64D3}"/>
              </a:ext>
            </a:extLst>
          </p:cNvPr>
          <p:cNvSpPr>
            <a:spLocks noChangeShapeType="1"/>
          </p:cNvSpPr>
          <p:nvPr/>
        </p:nvSpPr>
        <p:spPr bwMode="auto">
          <a:xfrm>
            <a:off x="514351" y="5445235"/>
            <a:ext cx="11530012"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4" name="TextBox 43">
            <a:extLst>
              <a:ext uri="{FF2B5EF4-FFF2-40B4-BE49-F238E27FC236}">
                <a16:creationId xmlns:a16="http://schemas.microsoft.com/office/drawing/2014/main" id="{890F57E0-0C93-429E-B52D-950B18A62824}"/>
              </a:ext>
            </a:extLst>
          </p:cNvPr>
          <p:cNvSpPr txBox="1"/>
          <p:nvPr/>
        </p:nvSpPr>
        <p:spPr>
          <a:xfrm>
            <a:off x="905348" y="5701410"/>
            <a:ext cx="146906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무효심판청구</a:t>
            </a:r>
          </a:p>
        </p:txBody>
      </p:sp>
      <p:sp>
        <p:nvSpPr>
          <p:cNvPr id="47" name="타원 46">
            <a:extLst>
              <a:ext uri="{FF2B5EF4-FFF2-40B4-BE49-F238E27FC236}">
                <a16:creationId xmlns:a16="http://schemas.microsoft.com/office/drawing/2014/main" id="{1E416A6A-17E0-4A3B-8C28-9560A00280A4}"/>
              </a:ext>
            </a:extLst>
          </p:cNvPr>
          <p:cNvSpPr/>
          <p:nvPr/>
        </p:nvSpPr>
        <p:spPr>
          <a:xfrm>
            <a:off x="1562512" y="535130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8" name="직선 연결선 47">
            <a:extLst>
              <a:ext uri="{FF2B5EF4-FFF2-40B4-BE49-F238E27FC236}">
                <a16:creationId xmlns:a16="http://schemas.microsoft.com/office/drawing/2014/main" id="{94B9FD84-6472-4A38-96A7-0961D12BE1A4}"/>
              </a:ext>
            </a:extLst>
          </p:cNvPr>
          <p:cNvCxnSpPr>
            <a:cxnSpLocks/>
            <a:stCxn id="44" idx="0"/>
            <a:endCxn id="47" idx="4"/>
          </p:cNvCxnSpPr>
          <p:nvPr/>
        </p:nvCxnSpPr>
        <p:spPr>
          <a:xfrm flipH="1" flipV="1">
            <a:off x="1639881" y="551263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B93DE314-156B-4AE0-A6A1-A3E38D2DAD5E}"/>
              </a:ext>
            </a:extLst>
          </p:cNvPr>
          <p:cNvSpPr txBox="1"/>
          <p:nvPr/>
        </p:nvSpPr>
        <p:spPr>
          <a:xfrm>
            <a:off x="2573620" y="5701410"/>
            <a:ext cx="113939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기각심결확정</a:t>
            </a:r>
            <a:endParaRPr lang="ko-KR" altLang="en-US" sz="1200" dirty="0">
              <a:solidFill>
                <a:schemeClr val="tx1"/>
              </a:solidFill>
              <a:latin typeface="+mn-ea"/>
            </a:endParaRPr>
          </a:p>
        </p:txBody>
      </p:sp>
      <p:sp>
        <p:nvSpPr>
          <p:cNvPr id="29" name="타원 28">
            <a:extLst>
              <a:ext uri="{FF2B5EF4-FFF2-40B4-BE49-F238E27FC236}">
                <a16:creationId xmlns:a16="http://schemas.microsoft.com/office/drawing/2014/main" id="{BF25F9F4-5090-4DB9-9E09-63BBFFE26323}"/>
              </a:ext>
            </a:extLst>
          </p:cNvPr>
          <p:cNvSpPr/>
          <p:nvPr/>
        </p:nvSpPr>
        <p:spPr>
          <a:xfrm>
            <a:off x="3065949" y="535130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0" name="직선 연결선 29">
            <a:extLst>
              <a:ext uri="{FF2B5EF4-FFF2-40B4-BE49-F238E27FC236}">
                <a16:creationId xmlns:a16="http://schemas.microsoft.com/office/drawing/2014/main" id="{80124424-B4CE-4C83-9036-BBB347007F6C}"/>
              </a:ext>
            </a:extLst>
          </p:cNvPr>
          <p:cNvCxnSpPr>
            <a:cxnSpLocks/>
            <a:stCxn id="28" idx="0"/>
            <a:endCxn id="29" idx="4"/>
          </p:cNvCxnSpPr>
          <p:nvPr/>
        </p:nvCxnSpPr>
        <p:spPr>
          <a:xfrm flipH="1" flipV="1">
            <a:off x="3143318" y="551263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4E752647-CA77-4730-9828-80C4ADAC153D}"/>
              </a:ext>
            </a:extLst>
          </p:cNvPr>
          <p:cNvSpPr txBox="1"/>
          <p:nvPr/>
        </p:nvSpPr>
        <p:spPr>
          <a:xfrm>
            <a:off x="8929893" y="5701410"/>
            <a:ext cx="688012"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소제기</a:t>
            </a:r>
          </a:p>
        </p:txBody>
      </p:sp>
      <p:sp>
        <p:nvSpPr>
          <p:cNvPr id="56" name="타원 55">
            <a:extLst>
              <a:ext uri="{FF2B5EF4-FFF2-40B4-BE49-F238E27FC236}">
                <a16:creationId xmlns:a16="http://schemas.microsoft.com/office/drawing/2014/main" id="{CA50C72E-8883-4BC0-9B5A-9B09990D79CD}"/>
              </a:ext>
            </a:extLst>
          </p:cNvPr>
          <p:cNvSpPr/>
          <p:nvPr/>
        </p:nvSpPr>
        <p:spPr>
          <a:xfrm>
            <a:off x="9196529" y="535130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7" name="직선 연결선 56">
            <a:extLst>
              <a:ext uri="{FF2B5EF4-FFF2-40B4-BE49-F238E27FC236}">
                <a16:creationId xmlns:a16="http://schemas.microsoft.com/office/drawing/2014/main" id="{52B3968F-EB0B-4EEB-88EC-8B7FF3F3AE32}"/>
              </a:ext>
            </a:extLst>
          </p:cNvPr>
          <p:cNvCxnSpPr>
            <a:cxnSpLocks/>
            <a:stCxn id="55" idx="0"/>
            <a:endCxn id="56" idx="4"/>
          </p:cNvCxnSpPr>
          <p:nvPr/>
        </p:nvCxnSpPr>
        <p:spPr>
          <a:xfrm flipH="1" flipV="1">
            <a:off x="9273898" y="551263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573B864B-59F2-4BA5-BF6F-47FFC60441B2}"/>
              </a:ext>
            </a:extLst>
          </p:cNvPr>
          <p:cNvSpPr txBox="1"/>
          <p:nvPr/>
        </p:nvSpPr>
        <p:spPr>
          <a:xfrm>
            <a:off x="736589" y="6163075"/>
            <a:ext cx="1806586"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진보성 위반 </a:t>
            </a:r>
            <a:r>
              <a:rPr lang="en-US" altLang="ko-KR" sz="1200" dirty="0">
                <a:solidFill>
                  <a:schemeClr val="tx1"/>
                </a:solidFill>
                <a:latin typeface="+mn-ea"/>
              </a:rPr>
              <a:t>by </a:t>
            </a:r>
            <a:r>
              <a:rPr lang="ko-KR" altLang="en-US" sz="1200" dirty="0">
                <a:solidFill>
                  <a:schemeClr val="tx1"/>
                </a:solidFill>
                <a:latin typeface="+mn-ea"/>
              </a:rPr>
              <a:t>공지</a:t>
            </a:r>
            <a:r>
              <a:rPr lang="en-US" altLang="ko-KR" sz="1200" dirty="0">
                <a:solidFill>
                  <a:schemeClr val="tx1"/>
                </a:solidFill>
                <a:latin typeface="+mn-ea"/>
              </a:rPr>
              <a:t>1</a:t>
            </a:r>
            <a:endParaRPr lang="ko-KR" altLang="en-US" sz="1200" dirty="0">
              <a:solidFill>
                <a:schemeClr val="tx1"/>
              </a:solidFill>
              <a:latin typeface="+mn-ea"/>
            </a:endParaRPr>
          </a:p>
        </p:txBody>
      </p:sp>
      <p:cxnSp>
        <p:nvCxnSpPr>
          <p:cNvPr id="8" name="직선 연결선 7">
            <a:extLst>
              <a:ext uri="{FF2B5EF4-FFF2-40B4-BE49-F238E27FC236}">
                <a16:creationId xmlns:a16="http://schemas.microsoft.com/office/drawing/2014/main" id="{78FA4ACE-01F8-4A17-B306-7D24424AE20E}"/>
              </a:ext>
            </a:extLst>
          </p:cNvPr>
          <p:cNvCxnSpPr>
            <a:stCxn id="36" idx="0"/>
            <a:endCxn id="44" idx="2"/>
          </p:cNvCxnSpPr>
          <p:nvPr/>
        </p:nvCxnSpPr>
        <p:spPr>
          <a:xfrm flipV="1">
            <a:off x="1639882" y="5978409"/>
            <a:ext cx="0" cy="18466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92870961-7113-44E7-A09D-EB1E428958DF}"/>
              </a:ext>
            </a:extLst>
          </p:cNvPr>
          <p:cNvSpPr txBox="1"/>
          <p:nvPr/>
        </p:nvSpPr>
        <p:spPr>
          <a:xfrm>
            <a:off x="3924175" y="5701410"/>
            <a:ext cx="1469068"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丙 무효심판청구</a:t>
            </a:r>
          </a:p>
        </p:txBody>
      </p:sp>
      <p:sp>
        <p:nvSpPr>
          <p:cNvPr id="41" name="타원 40">
            <a:extLst>
              <a:ext uri="{FF2B5EF4-FFF2-40B4-BE49-F238E27FC236}">
                <a16:creationId xmlns:a16="http://schemas.microsoft.com/office/drawing/2014/main" id="{C4D937AA-A7B0-40AE-B45B-7C6574C2C3AA}"/>
              </a:ext>
            </a:extLst>
          </p:cNvPr>
          <p:cNvSpPr/>
          <p:nvPr/>
        </p:nvSpPr>
        <p:spPr>
          <a:xfrm>
            <a:off x="4581339" y="535130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3" name="직선 연결선 42">
            <a:extLst>
              <a:ext uri="{FF2B5EF4-FFF2-40B4-BE49-F238E27FC236}">
                <a16:creationId xmlns:a16="http://schemas.microsoft.com/office/drawing/2014/main" id="{A0D91A23-6C4C-4D4B-9AA8-C9707D9C82DF}"/>
              </a:ext>
            </a:extLst>
          </p:cNvPr>
          <p:cNvCxnSpPr>
            <a:cxnSpLocks/>
            <a:stCxn id="40" idx="0"/>
            <a:endCxn id="41" idx="4"/>
          </p:cNvCxnSpPr>
          <p:nvPr/>
        </p:nvCxnSpPr>
        <p:spPr>
          <a:xfrm flipH="1" flipV="1">
            <a:off x="4658708" y="551263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B39100C4-75AC-4975-B99E-854B0B95D065}"/>
              </a:ext>
            </a:extLst>
          </p:cNvPr>
          <p:cNvSpPr txBox="1"/>
          <p:nvPr/>
        </p:nvSpPr>
        <p:spPr>
          <a:xfrm>
            <a:off x="5665714" y="5564921"/>
            <a:ext cx="1806586" cy="276999"/>
          </a:xfrm>
          <a:prstGeom prst="rect">
            <a:avLst/>
          </a:prstGeom>
          <a:solidFill>
            <a:schemeClr val="accent5">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rgbClr val="FFFF00"/>
                </a:solidFill>
                <a:latin typeface="+mn-ea"/>
              </a:rPr>
              <a:t>진보성 위반 </a:t>
            </a:r>
            <a:r>
              <a:rPr lang="en-US" altLang="ko-KR" sz="1200" dirty="0">
                <a:solidFill>
                  <a:srgbClr val="FFFF00"/>
                </a:solidFill>
                <a:latin typeface="+mn-ea"/>
              </a:rPr>
              <a:t>by </a:t>
            </a:r>
            <a:r>
              <a:rPr lang="ko-KR" altLang="en-US" sz="1200" dirty="0">
                <a:solidFill>
                  <a:srgbClr val="FFFF00"/>
                </a:solidFill>
                <a:latin typeface="+mn-ea"/>
              </a:rPr>
              <a:t>공지</a:t>
            </a:r>
            <a:r>
              <a:rPr lang="en-US" altLang="ko-KR" sz="1200" dirty="0">
                <a:solidFill>
                  <a:srgbClr val="FFFF00"/>
                </a:solidFill>
                <a:latin typeface="+mn-ea"/>
              </a:rPr>
              <a:t>1-3</a:t>
            </a:r>
            <a:endParaRPr lang="ko-KR" altLang="en-US" sz="1200" dirty="0">
              <a:solidFill>
                <a:srgbClr val="FFFF00"/>
              </a:solidFill>
              <a:latin typeface="+mn-ea"/>
            </a:endParaRPr>
          </a:p>
        </p:txBody>
      </p:sp>
      <p:sp>
        <p:nvSpPr>
          <p:cNvPr id="62" name="TextBox 61">
            <a:extLst>
              <a:ext uri="{FF2B5EF4-FFF2-40B4-BE49-F238E27FC236}">
                <a16:creationId xmlns:a16="http://schemas.microsoft.com/office/drawing/2014/main" id="{6D572E1D-2387-4320-911F-93123698065D}"/>
              </a:ext>
            </a:extLst>
          </p:cNvPr>
          <p:cNvSpPr txBox="1"/>
          <p:nvPr/>
        </p:nvSpPr>
        <p:spPr>
          <a:xfrm>
            <a:off x="5665714" y="5888086"/>
            <a:ext cx="1806586"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신규성 위반 </a:t>
            </a:r>
            <a:r>
              <a:rPr lang="en-US" altLang="ko-KR" sz="1200" dirty="0">
                <a:solidFill>
                  <a:schemeClr val="tx1"/>
                </a:solidFill>
                <a:latin typeface="+mn-ea"/>
              </a:rPr>
              <a:t>by </a:t>
            </a:r>
            <a:r>
              <a:rPr lang="ko-KR" altLang="en-US" sz="1200" dirty="0">
                <a:solidFill>
                  <a:schemeClr val="tx1"/>
                </a:solidFill>
                <a:latin typeface="+mn-ea"/>
              </a:rPr>
              <a:t>공지</a:t>
            </a:r>
            <a:r>
              <a:rPr lang="en-US" altLang="ko-KR" sz="1200" dirty="0">
                <a:solidFill>
                  <a:schemeClr val="tx1"/>
                </a:solidFill>
                <a:latin typeface="+mn-ea"/>
              </a:rPr>
              <a:t>3</a:t>
            </a:r>
            <a:endParaRPr lang="ko-KR" altLang="en-US" sz="1200" dirty="0">
              <a:solidFill>
                <a:schemeClr val="tx1"/>
              </a:solidFill>
              <a:latin typeface="+mn-ea"/>
            </a:endParaRPr>
          </a:p>
        </p:txBody>
      </p:sp>
      <p:sp>
        <p:nvSpPr>
          <p:cNvPr id="63" name="TextBox 62">
            <a:extLst>
              <a:ext uri="{FF2B5EF4-FFF2-40B4-BE49-F238E27FC236}">
                <a16:creationId xmlns:a16="http://schemas.microsoft.com/office/drawing/2014/main" id="{70641A8E-3C41-4AEE-B4DA-8EE0A079A323}"/>
              </a:ext>
            </a:extLst>
          </p:cNvPr>
          <p:cNvSpPr txBox="1"/>
          <p:nvPr/>
        </p:nvSpPr>
        <p:spPr>
          <a:xfrm>
            <a:off x="5665714" y="6217071"/>
            <a:ext cx="1806586"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확선</a:t>
            </a:r>
            <a:r>
              <a:rPr lang="ko-KR" altLang="en-US" sz="1200" dirty="0">
                <a:solidFill>
                  <a:schemeClr val="tx1"/>
                </a:solidFill>
                <a:latin typeface="+mn-ea"/>
              </a:rPr>
              <a:t> 위반 </a:t>
            </a:r>
            <a:r>
              <a:rPr lang="en-US" altLang="ko-KR" sz="1200" dirty="0">
                <a:solidFill>
                  <a:schemeClr val="tx1"/>
                </a:solidFill>
                <a:latin typeface="+mn-ea"/>
              </a:rPr>
              <a:t>by </a:t>
            </a:r>
            <a:r>
              <a:rPr lang="ko-KR" altLang="en-US" sz="1200" dirty="0">
                <a:solidFill>
                  <a:schemeClr val="tx1"/>
                </a:solidFill>
                <a:latin typeface="+mn-ea"/>
              </a:rPr>
              <a:t>공지</a:t>
            </a:r>
            <a:r>
              <a:rPr lang="en-US" altLang="ko-KR" sz="1200" dirty="0">
                <a:solidFill>
                  <a:schemeClr val="tx1"/>
                </a:solidFill>
                <a:latin typeface="+mn-ea"/>
              </a:rPr>
              <a:t>4</a:t>
            </a:r>
            <a:endParaRPr lang="ko-KR" altLang="en-US" sz="1200" dirty="0">
              <a:solidFill>
                <a:schemeClr val="tx1"/>
              </a:solidFill>
              <a:latin typeface="+mn-ea"/>
            </a:endParaRPr>
          </a:p>
        </p:txBody>
      </p:sp>
      <p:cxnSp>
        <p:nvCxnSpPr>
          <p:cNvPr id="11" name="연결선: 꺾임 10">
            <a:extLst>
              <a:ext uri="{FF2B5EF4-FFF2-40B4-BE49-F238E27FC236}">
                <a16:creationId xmlns:a16="http://schemas.microsoft.com/office/drawing/2014/main" id="{689312F4-4D38-4BE6-8DB0-7BCAC39B233C}"/>
              </a:ext>
            </a:extLst>
          </p:cNvPr>
          <p:cNvCxnSpPr>
            <a:stCxn id="50" idx="1"/>
            <a:endCxn id="40" idx="3"/>
          </p:cNvCxnSpPr>
          <p:nvPr/>
        </p:nvCxnSpPr>
        <p:spPr>
          <a:xfrm rot="10800000" flipV="1">
            <a:off x="5393244" y="5703420"/>
            <a:ext cx="272471" cy="13648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연결선: 꺾임 12">
            <a:extLst>
              <a:ext uri="{FF2B5EF4-FFF2-40B4-BE49-F238E27FC236}">
                <a16:creationId xmlns:a16="http://schemas.microsoft.com/office/drawing/2014/main" id="{B9D9FA01-D9C4-453D-AEBC-9CA3DD2F342C}"/>
              </a:ext>
            </a:extLst>
          </p:cNvPr>
          <p:cNvCxnSpPr>
            <a:stCxn id="62" idx="1"/>
            <a:endCxn id="40" idx="3"/>
          </p:cNvCxnSpPr>
          <p:nvPr/>
        </p:nvCxnSpPr>
        <p:spPr>
          <a:xfrm rot="10800000">
            <a:off x="5393244" y="5839910"/>
            <a:ext cx="272471" cy="18667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연결선: 꺾임 14">
            <a:extLst>
              <a:ext uri="{FF2B5EF4-FFF2-40B4-BE49-F238E27FC236}">
                <a16:creationId xmlns:a16="http://schemas.microsoft.com/office/drawing/2014/main" id="{CC8DE744-BDBD-4F3A-B29C-E7E92B1E4C8E}"/>
              </a:ext>
            </a:extLst>
          </p:cNvPr>
          <p:cNvCxnSpPr>
            <a:stCxn id="63" idx="1"/>
            <a:endCxn id="40" idx="3"/>
          </p:cNvCxnSpPr>
          <p:nvPr/>
        </p:nvCxnSpPr>
        <p:spPr>
          <a:xfrm rot="10800000">
            <a:off x="5393244" y="5839911"/>
            <a:ext cx="272471" cy="51566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0A4CB4C9-0D8E-4EA5-A875-8F3EE3A47E86}"/>
              </a:ext>
            </a:extLst>
          </p:cNvPr>
          <p:cNvSpPr txBox="1"/>
          <p:nvPr/>
        </p:nvSpPr>
        <p:spPr>
          <a:xfrm>
            <a:off x="7660585" y="5701410"/>
            <a:ext cx="1139398"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65" name="타원 64">
            <a:extLst>
              <a:ext uri="{FF2B5EF4-FFF2-40B4-BE49-F238E27FC236}">
                <a16:creationId xmlns:a16="http://schemas.microsoft.com/office/drawing/2014/main" id="{4212CB8D-340A-4481-AD0F-E12545400930}"/>
              </a:ext>
            </a:extLst>
          </p:cNvPr>
          <p:cNvSpPr/>
          <p:nvPr/>
        </p:nvSpPr>
        <p:spPr>
          <a:xfrm>
            <a:off x="8152914" y="535130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6" name="직선 연결선 65">
            <a:extLst>
              <a:ext uri="{FF2B5EF4-FFF2-40B4-BE49-F238E27FC236}">
                <a16:creationId xmlns:a16="http://schemas.microsoft.com/office/drawing/2014/main" id="{6B69D885-7404-4F57-AE60-4ED6ED792BA7}"/>
              </a:ext>
            </a:extLst>
          </p:cNvPr>
          <p:cNvCxnSpPr>
            <a:cxnSpLocks/>
            <a:stCxn id="64" idx="0"/>
            <a:endCxn id="65" idx="4"/>
          </p:cNvCxnSpPr>
          <p:nvPr/>
        </p:nvCxnSpPr>
        <p:spPr>
          <a:xfrm flipH="1" flipV="1">
            <a:off x="8230283" y="551263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6997D16D-B448-4502-B2FA-DCEE5C4DCAC9}"/>
              </a:ext>
            </a:extLst>
          </p:cNvPr>
          <p:cNvSpPr txBox="1"/>
          <p:nvPr/>
        </p:nvSpPr>
        <p:spPr>
          <a:xfrm>
            <a:off x="11049825" y="5701410"/>
            <a:ext cx="688012"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상고</a:t>
            </a:r>
          </a:p>
        </p:txBody>
      </p:sp>
      <p:sp>
        <p:nvSpPr>
          <p:cNvPr id="70" name="타원 69">
            <a:extLst>
              <a:ext uri="{FF2B5EF4-FFF2-40B4-BE49-F238E27FC236}">
                <a16:creationId xmlns:a16="http://schemas.microsoft.com/office/drawing/2014/main" id="{4C8B9C16-03FC-4FF4-B271-2B60C3CD4D98}"/>
              </a:ext>
            </a:extLst>
          </p:cNvPr>
          <p:cNvSpPr/>
          <p:nvPr/>
        </p:nvSpPr>
        <p:spPr>
          <a:xfrm>
            <a:off x="11316461" y="535130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2" name="직선 연결선 71">
            <a:extLst>
              <a:ext uri="{FF2B5EF4-FFF2-40B4-BE49-F238E27FC236}">
                <a16:creationId xmlns:a16="http://schemas.microsoft.com/office/drawing/2014/main" id="{429EDA52-7095-451A-8428-1522330C4E39}"/>
              </a:ext>
            </a:extLst>
          </p:cNvPr>
          <p:cNvCxnSpPr>
            <a:cxnSpLocks/>
            <a:stCxn id="67" idx="0"/>
            <a:endCxn id="70" idx="4"/>
          </p:cNvCxnSpPr>
          <p:nvPr/>
        </p:nvCxnSpPr>
        <p:spPr>
          <a:xfrm flipH="1" flipV="1">
            <a:off x="11393830" y="551263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8DFFD9B4-DD50-4A0C-A73F-3AF78BD49A1A}"/>
              </a:ext>
            </a:extLst>
          </p:cNvPr>
          <p:cNvSpPr txBox="1"/>
          <p:nvPr/>
        </p:nvSpPr>
        <p:spPr>
          <a:xfrm>
            <a:off x="9766229" y="5701410"/>
            <a:ext cx="1139398"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a:t>
            </a:r>
          </a:p>
        </p:txBody>
      </p:sp>
      <p:sp>
        <p:nvSpPr>
          <p:cNvPr id="75" name="타원 74">
            <a:extLst>
              <a:ext uri="{FF2B5EF4-FFF2-40B4-BE49-F238E27FC236}">
                <a16:creationId xmlns:a16="http://schemas.microsoft.com/office/drawing/2014/main" id="{3F6981AD-C0F2-4BBA-9AB4-2E780FD953DA}"/>
              </a:ext>
            </a:extLst>
          </p:cNvPr>
          <p:cNvSpPr/>
          <p:nvPr/>
        </p:nvSpPr>
        <p:spPr>
          <a:xfrm>
            <a:off x="10258558" y="535130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6" name="직선 연결선 75">
            <a:extLst>
              <a:ext uri="{FF2B5EF4-FFF2-40B4-BE49-F238E27FC236}">
                <a16:creationId xmlns:a16="http://schemas.microsoft.com/office/drawing/2014/main" id="{50F8C75E-9430-42C0-9132-FBDADFA56BD2}"/>
              </a:ext>
            </a:extLst>
          </p:cNvPr>
          <p:cNvCxnSpPr>
            <a:cxnSpLocks/>
            <a:stCxn id="73" idx="0"/>
            <a:endCxn id="75" idx="4"/>
          </p:cNvCxnSpPr>
          <p:nvPr/>
        </p:nvCxnSpPr>
        <p:spPr>
          <a:xfrm flipH="1" flipV="1">
            <a:off x="10335927" y="551263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2627F458-3528-4608-9758-64FEFD780200}"/>
              </a:ext>
            </a:extLst>
          </p:cNvPr>
          <p:cNvSpPr txBox="1"/>
          <p:nvPr/>
        </p:nvSpPr>
        <p:spPr>
          <a:xfrm>
            <a:off x="4581339" y="4656703"/>
            <a:ext cx="7333020" cy="369332"/>
          </a:xfrm>
          <a:prstGeom prst="rect">
            <a:avLst/>
          </a:prstGeom>
          <a:noFill/>
          <a:ln>
            <a:solidFill>
              <a:schemeClr val="bg1">
                <a:lumMod val="50000"/>
              </a:schemeClr>
            </a:solidFill>
          </a:ln>
        </p:spPr>
        <p:txBody>
          <a:bodyPr wrap="square" rtlCol="0">
            <a:spAutoFit/>
          </a:bodyPr>
          <a:lstStyle/>
          <a:p>
            <a:r>
              <a:rPr lang="ko-KR" altLang="en-US" dirty="0">
                <a:solidFill>
                  <a:srgbClr val="FF0000"/>
                </a:solidFill>
              </a:rPr>
              <a:t>심판을 각하하지 않고 진보성 위반에 대해서는 실권효를 인정하여 본안심리</a:t>
            </a:r>
            <a:r>
              <a:rPr lang="en-US" altLang="ko-KR" dirty="0">
                <a:solidFill>
                  <a:srgbClr val="FF0000"/>
                </a:solidFill>
              </a:rPr>
              <a:t>x</a:t>
            </a:r>
            <a:endParaRPr lang="ko-KR" altLang="en-US" dirty="0">
              <a:solidFill>
                <a:srgbClr val="FF0000"/>
              </a:solidFill>
            </a:endParaRPr>
          </a:p>
        </p:txBody>
      </p:sp>
      <p:cxnSp>
        <p:nvCxnSpPr>
          <p:cNvPr id="18" name="직선 화살표 연결선 17">
            <a:extLst>
              <a:ext uri="{FF2B5EF4-FFF2-40B4-BE49-F238E27FC236}">
                <a16:creationId xmlns:a16="http://schemas.microsoft.com/office/drawing/2014/main" id="{D693865B-0ED0-403C-AB49-966CA8F6EE29}"/>
              </a:ext>
            </a:extLst>
          </p:cNvPr>
          <p:cNvCxnSpPr>
            <a:cxnSpLocks/>
          </p:cNvCxnSpPr>
          <p:nvPr/>
        </p:nvCxnSpPr>
        <p:spPr>
          <a:xfrm flipH="1">
            <a:off x="6970143" y="5008326"/>
            <a:ext cx="2303755" cy="520858"/>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5" name="직선 연결선 44">
            <a:extLst>
              <a:ext uri="{FF2B5EF4-FFF2-40B4-BE49-F238E27FC236}">
                <a16:creationId xmlns:a16="http://schemas.microsoft.com/office/drawing/2014/main" id="{BDF04A38-360D-42FF-88F8-83CC6A55F4E8}"/>
              </a:ext>
            </a:extLst>
          </p:cNvPr>
          <p:cNvCxnSpPr/>
          <p:nvPr/>
        </p:nvCxnSpPr>
        <p:spPr>
          <a:xfrm>
            <a:off x="0" y="4294083"/>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8406675"/>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163</a:t>
            </a:r>
            <a:r>
              <a:rPr lang="ko-KR" altLang="en-US" dirty="0"/>
              <a:t>조</a:t>
            </a:r>
          </a:p>
        </p:txBody>
      </p:sp>
      <p:sp>
        <p:nvSpPr>
          <p:cNvPr id="4" name="텍스트 개체 틀 3"/>
          <p:cNvSpPr>
            <a:spLocks noGrp="1"/>
          </p:cNvSpPr>
          <p:nvPr>
            <p:ph type="body" sz="quarter" idx="13"/>
          </p:nvPr>
        </p:nvSpPr>
        <p:spPr/>
        <p:txBody>
          <a:bodyPr/>
          <a:lstStyle/>
          <a:p>
            <a:r>
              <a:rPr lang="ko-KR" altLang="en-US" dirty="0">
                <a:solidFill>
                  <a:schemeClr val="tx1">
                    <a:lumMod val="65000"/>
                    <a:lumOff val="35000"/>
                  </a:schemeClr>
                </a:solidFill>
              </a:rPr>
              <a:t>일사부재리 적용 </a:t>
            </a:r>
            <a:r>
              <a:rPr lang="en-US" altLang="ko-KR" dirty="0">
                <a:solidFill>
                  <a:schemeClr val="tx1">
                    <a:lumMod val="65000"/>
                    <a:lumOff val="35000"/>
                  </a:schemeClr>
                </a:solidFill>
              </a:rPr>
              <a:t>CASE: </a:t>
            </a:r>
            <a:r>
              <a:rPr lang="ko-KR" altLang="en-US" dirty="0">
                <a:solidFill>
                  <a:schemeClr val="tx1">
                    <a:lumMod val="65000"/>
                    <a:lumOff val="35000"/>
                  </a:schemeClr>
                </a:solidFill>
              </a:rPr>
              <a:t>동일사실 및 증거의 판단시점</a:t>
            </a:r>
          </a:p>
        </p:txBody>
      </p:sp>
      <p:sp>
        <p:nvSpPr>
          <p:cNvPr id="31" name="모서리가 둥근 직사각형 10">
            <a:extLst>
              <a:ext uri="{FF2B5EF4-FFF2-40B4-BE49-F238E27FC236}">
                <a16:creationId xmlns:a16="http://schemas.microsoft.com/office/drawing/2014/main" id="{83E8DC17-A890-4A8F-8AF6-87049ACC89A5}"/>
              </a:ext>
            </a:extLst>
          </p:cNvPr>
          <p:cNvSpPr/>
          <p:nvPr/>
        </p:nvSpPr>
        <p:spPr bwMode="auto">
          <a:xfrm>
            <a:off x="208089" y="1002199"/>
            <a:ext cx="4641817" cy="313998"/>
          </a:xfrm>
          <a:prstGeom prst="roundRect">
            <a:avLst>
              <a:gd name="adj" fmla="val 50000"/>
            </a:avLst>
          </a:prstGeom>
          <a:solidFill>
            <a:schemeClr val="bg1">
              <a:lumMod val="50000"/>
            </a:schemeClr>
          </a:solidFill>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2020. 4. 9. </a:t>
            </a:r>
            <a:r>
              <a:rPr lang="ko-KR" altLang="en-US" sz="1400" dirty="0"/>
              <a:t>선고 </a:t>
            </a:r>
            <a:r>
              <a:rPr lang="en-US" altLang="ko-KR" sz="1400" dirty="0"/>
              <a:t>2018</a:t>
            </a:r>
            <a:r>
              <a:rPr lang="ko-KR" altLang="en-US" sz="1400" dirty="0"/>
              <a:t>후</a:t>
            </a:r>
            <a:r>
              <a:rPr lang="en-US" altLang="ko-KR" sz="1400" dirty="0"/>
              <a:t>11360 </a:t>
            </a:r>
            <a:r>
              <a:rPr lang="ko-KR" altLang="en-US" sz="1400" dirty="0"/>
              <a:t>판결 </a:t>
            </a:r>
            <a:r>
              <a:rPr lang="en-US" altLang="ko-KR" sz="1400" dirty="0"/>
              <a:t>【</a:t>
            </a:r>
            <a:r>
              <a:rPr lang="ko-KR" altLang="en-US" sz="1400" dirty="0"/>
              <a:t>등록무효</a:t>
            </a:r>
            <a:r>
              <a:rPr lang="en-US" altLang="ko-KR" sz="1400" dirty="0"/>
              <a:t>(</a:t>
            </a:r>
            <a:r>
              <a:rPr lang="ko-KR" altLang="en-US" sz="1400" dirty="0" err="1"/>
              <a:t>특</a:t>
            </a:r>
            <a:r>
              <a:rPr lang="en-US" altLang="ko-KR" sz="1400" dirty="0"/>
              <a:t>)】</a:t>
            </a:r>
          </a:p>
        </p:txBody>
      </p:sp>
      <p:sp>
        <p:nvSpPr>
          <p:cNvPr id="32" name="직사각형 31">
            <a:extLst>
              <a:ext uri="{FF2B5EF4-FFF2-40B4-BE49-F238E27FC236}">
                <a16:creationId xmlns:a16="http://schemas.microsoft.com/office/drawing/2014/main" id="{AB016C75-8430-4388-9E51-7B3101DE3CF1}"/>
              </a:ext>
            </a:extLst>
          </p:cNvPr>
          <p:cNvSpPr/>
          <p:nvPr/>
        </p:nvSpPr>
        <p:spPr>
          <a:xfrm>
            <a:off x="232372" y="1333658"/>
            <a:ext cx="11681987" cy="2677656"/>
          </a:xfrm>
          <a:prstGeom prst="rect">
            <a:avLst/>
          </a:prstGeom>
        </p:spPr>
        <p:txBody>
          <a:bodyPr wrap="square">
            <a:spAutoFit/>
          </a:bodyPr>
          <a:lstStyle/>
          <a:p>
            <a:pPr algn="just"/>
            <a:r>
              <a:rPr lang="en-US" altLang="ko-KR" sz="1400" dirty="0"/>
              <a:t>[1] </a:t>
            </a:r>
            <a:r>
              <a:rPr lang="ko-KR" altLang="en-US" sz="1400" dirty="0"/>
              <a:t>특허법 제</a:t>
            </a:r>
            <a:r>
              <a:rPr lang="en-US" altLang="ko-KR" sz="1400" dirty="0"/>
              <a:t>163</a:t>
            </a:r>
            <a:r>
              <a:rPr lang="ko-KR" altLang="en-US" sz="1400" dirty="0"/>
              <a:t>조는 “이 법에 따른 심판의 </a:t>
            </a:r>
            <a:r>
              <a:rPr lang="ko-KR" altLang="en-US" sz="1400" dirty="0" err="1"/>
              <a:t>심결이</a:t>
            </a:r>
            <a:r>
              <a:rPr lang="ko-KR" altLang="en-US" sz="1400" dirty="0"/>
              <a:t> 확정되었을 때에는 그 사건에 대해서는 누구든지 동일 사실 및 동일 증거에 의하여 다시 심판을 청구할 수 없다</a:t>
            </a:r>
            <a:r>
              <a:rPr lang="en-US" altLang="ko-KR" sz="1400" dirty="0"/>
              <a:t>. </a:t>
            </a:r>
            <a:r>
              <a:rPr lang="ko-KR" altLang="en-US" sz="1400" dirty="0"/>
              <a:t>다만 확정된 </a:t>
            </a:r>
            <a:r>
              <a:rPr lang="ko-KR" altLang="en-US" sz="1400" dirty="0" err="1"/>
              <a:t>심결이</a:t>
            </a:r>
            <a:r>
              <a:rPr lang="ko-KR" altLang="en-US" sz="1400" dirty="0"/>
              <a:t> </a:t>
            </a:r>
            <a:r>
              <a:rPr lang="ko-KR" altLang="en-US" sz="1400" dirty="0" err="1"/>
              <a:t>각하심결인</a:t>
            </a:r>
            <a:r>
              <a:rPr lang="ko-KR" altLang="en-US" sz="1400" dirty="0"/>
              <a:t> 경우에는 그러하지 아니하다</a:t>
            </a:r>
            <a:r>
              <a:rPr lang="en-US" altLang="ko-KR" sz="1400" dirty="0"/>
              <a:t>.”</a:t>
            </a:r>
            <a:r>
              <a:rPr lang="ko-KR" altLang="en-US" sz="1400" dirty="0"/>
              <a:t>라고 확정 </a:t>
            </a:r>
            <a:r>
              <a:rPr lang="ko-KR" altLang="en-US" sz="1400" dirty="0" err="1"/>
              <a:t>심결의</a:t>
            </a:r>
            <a:r>
              <a:rPr lang="ko-KR" altLang="en-US" sz="1400" dirty="0"/>
              <a:t> 일사부재리 효력을 정하고 있다</a:t>
            </a:r>
            <a:r>
              <a:rPr lang="en-US" altLang="ko-KR" sz="1400" dirty="0"/>
              <a:t>. </a:t>
            </a:r>
            <a:r>
              <a:rPr lang="ko-KR" altLang="en-US" sz="1400" dirty="0"/>
              <a:t>따라서 위 규정을 위반한 심판청구는 누가 청구한 것이든 </a:t>
            </a:r>
            <a:r>
              <a:rPr lang="ko-KR" altLang="en-US" sz="1400" dirty="0" err="1"/>
              <a:t>부적법하여</a:t>
            </a:r>
            <a:r>
              <a:rPr lang="ko-KR" altLang="en-US" sz="1400" dirty="0"/>
              <a:t> 각하하여야 한다</a:t>
            </a:r>
            <a:r>
              <a:rPr lang="en-US" altLang="ko-KR" sz="1400" dirty="0"/>
              <a:t>. </a:t>
            </a:r>
            <a:r>
              <a:rPr lang="ko-KR" altLang="en-US" sz="1400" dirty="0"/>
              <a:t>심판청구인은 심판청구서를 제출한 후 그 요지를 변경할 수 없으나 청구의 이유를 보정하는 것은 허용된다</a:t>
            </a:r>
            <a:r>
              <a:rPr lang="en-US" altLang="ko-KR" sz="1400" dirty="0"/>
              <a:t>(</a:t>
            </a:r>
            <a:r>
              <a:rPr lang="ko-KR" altLang="en-US" sz="1400" dirty="0"/>
              <a:t>특허법 제</a:t>
            </a:r>
            <a:r>
              <a:rPr lang="en-US" altLang="ko-KR" sz="1400" dirty="0"/>
              <a:t>140</a:t>
            </a:r>
            <a:r>
              <a:rPr lang="ko-KR" altLang="en-US" sz="1400" dirty="0"/>
              <a:t>조 제</a:t>
            </a:r>
            <a:r>
              <a:rPr lang="en-US" altLang="ko-KR" sz="1400" dirty="0"/>
              <a:t>2</a:t>
            </a:r>
            <a:r>
              <a:rPr lang="ko-KR" altLang="en-US" sz="1400" dirty="0"/>
              <a:t>항 참조</a:t>
            </a:r>
            <a:r>
              <a:rPr lang="en-US" altLang="ko-KR" sz="1400" dirty="0"/>
              <a:t>). </a:t>
            </a:r>
            <a:r>
              <a:rPr lang="ko-KR" altLang="en-US" sz="1400" dirty="0"/>
              <a:t>따라서 </a:t>
            </a:r>
            <a:r>
              <a:rPr lang="ko-KR" altLang="en-US" sz="1400" dirty="0">
                <a:highlight>
                  <a:srgbClr val="FFFF00"/>
                </a:highlight>
              </a:rPr>
              <a:t>특허심판원은 심판청구 후 </a:t>
            </a:r>
            <a:r>
              <a:rPr lang="ko-KR" altLang="en-US" sz="1400" dirty="0" err="1">
                <a:highlight>
                  <a:srgbClr val="FFFF00"/>
                </a:highlight>
              </a:rPr>
              <a:t>심결</a:t>
            </a:r>
            <a:r>
              <a:rPr lang="ko-KR" altLang="en-US" sz="1400" dirty="0">
                <a:highlight>
                  <a:srgbClr val="FFFF00"/>
                </a:highlight>
              </a:rPr>
              <a:t> 시까지 보정된 사실과 이에 대한 증거를 모두 고려하여 </a:t>
            </a:r>
            <a:r>
              <a:rPr lang="ko-KR" altLang="en-US" sz="1400" dirty="0" err="1">
                <a:highlight>
                  <a:srgbClr val="FFFF00"/>
                </a:highlight>
              </a:rPr>
              <a:t>심결</a:t>
            </a:r>
            <a:r>
              <a:rPr lang="ko-KR" altLang="en-US" sz="1400" dirty="0">
                <a:highlight>
                  <a:srgbClr val="FFFF00"/>
                </a:highlight>
              </a:rPr>
              <a:t> 시를 기준으로 심판청구가 선행 확정 </a:t>
            </a:r>
            <a:r>
              <a:rPr lang="ko-KR" altLang="en-US" sz="1400" dirty="0" err="1">
                <a:highlight>
                  <a:srgbClr val="FFFF00"/>
                </a:highlight>
              </a:rPr>
              <a:t>심결과</a:t>
            </a:r>
            <a:r>
              <a:rPr lang="ko-KR" altLang="en-US" sz="1400" dirty="0">
                <a:highlight>
                  <a:srgbClr val="FFFF00"/>
                </a:highlight>
              </a:rPr>
              <a:t> 동일한 사실</a:t>
            </a:r>
            <a:r>
              <a:rPr lang="en-US" altLang="ko-KR" sz="1400" dirty="0">
                <a:highlight>
                  <a:srgbClr val="FFFF00"/>
                </a:highlight>
              </a:rPr>
              <a:t>·</a:t>
            </a:r>
            <a:r>
              <a:rPr lang="ko-KR" altLang="en-US" sz="1400" dirty="0">
                <a:highlight>
                  <a:srgbClr val="FFFF00"/>
                </a:highlight>
              </a:rPr>
              <a:t>증거에 기초한 것이라서 일사부재리 원칙에 위반되는지 여부를 판단하여야 한다</a:t>
            </a:r>
            <a:r>
              <a:rPr lang="en-US" altLang="ko-KR" sz="1400" dirty="0">
                <a:solidFill>
                  <a:srgbClr val="FF0000"/>
                </a:solidFill>
              </a:rPr>
              <a:t>. </a:t>
            </a:r>
            <a:r>
              <a:rPr lang="ko-KR" altLang="en-US" sz="1400" dirty="0"/>
              <a:t>대법원 </a:t>
            </a:r>
            <a:r>
              <a:rPr lang="en-US" altLang="ko-KR" sz="1400" dirty="0"/>
              <a:t>2012. 1. 19. </a:t>
            </a:r>
            <a:r>
              <a:rPr lang="ko-KR" altLang="en-US" sz="1400" dirty="0"/>
              <a:t>선고 </a:t>
            </a:r>
            <a:r>
              <a:rPr lang="en-US" altLang="ko-KR" sz="1400" dirty="0"/>
              <a:t>2009</a:t>
            </a:r>
            <a:r>
              <a:rPr lang="ko-KR" altLang="en-US" sz="1400" dirty="0"/>
              <a:t>후</a:t>
            </a:r>
            <a:r>
              <a:rPr lang="en-US" altLang="ko-KR" sz="1400" dirty="0"/>
              <a:t>2234 </a:t>
            </a:r>
            <a:r>
              <a:rPr lang="ko-KR" altLang="en-US" sz="1400" dirty="0"/>
              <a:t>전원합의체 판결은 ‘일사부재리의 원칙에 따라 심판청구가 </a:t>
            </a:r>
            <a:r>
              <a:rPr lang="ko-KR" altLang="en-US" sz="1400" dirty="0" err="1"/>
              <a:t>부적법하게</a:t>
            </a:r>
            <a:r>
              <a:rPr lang="ko-KR" altLang="en-US" sz="1400" dirty="0"/>
              <a:t> 되는지 여부를 판단하는 기준 시점은 심판청구를 제기하던 당시로 보아야 한다</a:t>
            </a:r>
            <a:r>
              <a:rPr lang="en-US" altLang="ko-KR" sz="1400" dirty="0"/>
              <a:t>.’</a:t>
            </a:r>
            <a:r>
              <a:rPr lang="ko-KR" altLang="en-US" sz="1400" dirty="0"/>
              <a:t>고 하였는데</a:t>
            </a:r>
            <a:r>
              <a:rPr lang="en-US" altLang="ko-KR" sz="1400" dirty="0"/>
              <a:t>, </a:t>
            </a:r>
            <a:r>
              <a:rPr lang="ko-KR" altLang="en-US" sz="1400" dirty="0"/>
              <a:t>이는 선행 </a:t>
            </a:r>
            <a:r>
              <a:rPr lang="ko-KR" altLang="en-US" sz="1400" dirty="0" err="1"/>
              <a:t>심결의</a:t>
            </a:r>
            <a:r>
              <a:rPr lang="ko-KR" altLang="en-US" sz="1400" dirty="0"/>
              <a:t> 확정을 판단하는 기준 시점이 쟁점이 된 사안에서 특허법상 일사부재리 원칙의 대세효로 제</a:t>
            </a:r>
            <a:r>
              <a:rPr lang="en-US" altLang="ko-KR" sz="1400" dirty="0"/>
              <a:t>3</a:t>
            </a:r>
            <a:r>
              <a:rPr lang="ko-KR" altLang="en-US" sz="1400" dirty="0"/>
              <a:t>자의 권리 제한을 최소화하기 위하여 부득이하게 선행 </a:t>
            </a:r>
            <a:r>
              <a:rPr lang="ko-KR" altLang="en-US" sz="1400" dirty="0" err="1"/>
              <a:t>심결의</a:t>
            </a:r>
            <a:r>
              <a:rPr lang="ko-KR" altLang="en-US" sz="1400" dirty="0"/>
              <a:t> 확정과 관련해서만 그 기준 시점을 </a:t>
            </a:r>
            <a:r>
              <a:rPr lang="ko-KR" altLang="en-US" sz="1400" dirty="0" err="1"/>
              <a:t>심결</a:t>
            </a:r>
            <a:r>
              <a:rPr lang="ko-KR" altLang="en-US" sz="1400" dirty="0"/>
              <a:t> 시에서 심판청구 시로 변경한 것이다</a:t>
            </a:r>
            <a:r>
              <a:rPr lang="en-US" altLang="ko-KR" sz="1400" dirty="0"/>
              <a:t>.</a:t>
            </a:r>
          </a:p>
          <a:p>
            <a:pPr algn="just"/>
            <a:r>
              <a:rPr lang="en-US" altLang="ko-KR" sz="1400" dirty="0"/>
              <a:t>[2] </a:t>
            </a:r>
            <a:r>
              <a:rPr lang="ko-KR" altLang="en-US" sz="1400" dirty="0"/>
              <a:t>심판은 특허심판원에서 진행하는 행정절차로서 </a:t>
            </a:r>
            <a:r>
              <a:rPr lang="ko-KR" altLang="en-US" sz="1400" dirty="0" err="1"/>
              <a:t>심결은</a:t>
            </a:r>
            <a:r>
              <a:rPr lang="ko-KR" altLang="en-US" sz="1400" dirty="0"/>
              <a:t> 행정처분에 해당한다</a:t>
            </a:r>
            <a:r>
              <a:rPr lang="en-US" altLang="ko-KR" sz="1400" dirty="0"/>
              <a:t>. </a:t>
            </a:r>
            <a:r>
              <a:rPr lang="ko-KR" altLang="en-US" sz="1400" dirty="0"/>
              <a:t>그에 대한 불복 소송인 </a:t>
            </a:r>
            <a:r>
              <a:rPr lang="ko-KR" altLang="en-US" sz="1400" dirty="0" err="1">
                <a:highlight>
                  <a:srgbClr val="FFFF00"/>
                </a:highlight>
              </a:rPr>
              <a:t>심결</a:t>
            </a:r>
            <a:r>
              <a:rPr lang="ko-KR" altLang="en-US" sz="1400" dirty="0">
                <a:highlight>
                  <a:srgbClr val="FFFF00"/>
                </a:highlight>
              </a:rPr>
              <a:t> 취소소송은 항고소송에 해당하여 그 소송물은 </a:t>
            </a:r>
            <a:r>
              <a:rPr lang="ko-KR" altLang="en-US" sz="1400" dirty="0" err="1">
                <a:highlight>
                  <a:srgbClr val="FFFF00"/>
                </a:highlight>
              </a:rPr>
              <a:t>심결의</a:t>
            </a:r>
            <a:r>
              <a:rPr lang="ko-KR" altLang="en-US" sz="1400" dirty="0">
                <a:highlight>
                  <a:srgbClr val="FFFF00"/>
                </a:highlight>
              </a:rPr>
              <a:t> 실체적</a:t>
            </a:r>
            <a:r>
              <a:rPr lang="en-US" altLang="ko-KR" sz="1400" dirty="0">
                <a:highlight>
                  <a:srgbClr val="FFFF00"/>
                </a:highlight>
              </a:rPr>
              <a:t>·</a:t>
            </a:r>
            <a:r>
              <a:rPr lang="ko-KR" altLang="en-US" sz="1400" dirty="0">
                <a:highlight>
                  <a:srgbClr val="FFFF00"/>
                </a:highlight>
              </a:rPr>
              <a:t>절차적 위법성 여부이므로</a:t>
            </a:r>
            <a:r>
              <a:rPr lang="en-US" altLang="ko-KR" sz="1400" dirty="0">
                <a:highlight>
                  <a:srgbClr val="FFFF00"/>
                </a:highlight>
              </a:rPr>
              <a:t>, </a:t>
            </a:r>
            <a:r>
              <a:rPr lang="ko-KR" altLang="en-US" sz="1400" dirty="0">
                <a:highlight>
                  <a:srgbClr val="FFFF00"/>
                </a:highlight>
              </a:rPr>
              <a:t>당사자는 </a:t>
            </a:r>
            <a:r>
              <a:rPr lang="ko-KR" altLang="en-US" sz="1400" dirty="0" err="1">
                <a:highlight>
                  <a:srgbClr val="FFFF00"/>
                </a:highlight>
              </a:rPr>
              <a:t>심결에서</a:t>
            </a:r>
            <a:r>
              <a:rPr lang="ko-KR" altLang="en-US" sz="1400" dirty="0">
                <a:highlight>
                  <a:srgbClr val="FFFF00"/>
                </a:highlight>
              </a:rPr>
              <a:t> 판단되지 않은 처분의 위법사유도 </a:t>
            </a:r>
            <a:r>
              <a:rPr lang="ko-KR" altLang="en-US" sz="1400" dirty="0" err="1">
                <a:highlight>
                  <a:srgbClr val="FFFF00"/>
                </a:highlight>
              </a:rPr>
              <a:t>심결</a:t>
            </a:r>
            <a:r>
              <a:rPr lang="ko-KR" altLang="en-US" sz="1400" dirty="0">
                <a:highlight>
                  <a:srgbClr val="FFFF00"/>
                </a:highlight>
              </a:rPr>
              <a:t> 취소소송 단계에서 주장</a:t>
            </a:r>
            <a:r>
              <a:rPr lang="en-US" altLang="ko-KR" sz="1400" dirty="0">
                <a:highlight>
                  <a:srgbClr val="FFFF00"/>
                </a:highlight>
              </a:rPr>
              <a:t>·</a:t>
            </a:r>
            <a:r>
              <a:rPr lang="ko-KR" altLang="en-US" sz="1400" dirty="0">
                <a:highlight>
                  <a:srgbClr val="FFFF00"/>
                </a:highlight>
              </a:rPr>
              <a:t>증명할 수 있고</a:t>
            </a:r>
            <a:r>
              <a:rPr lang="en-US" altLang="ko-KR" sz="1400" dirty="0">
                <a:highlight>
                  <a:srgbClr val="FFFF00"/>
                </a:highlight>
              </a:rPr>
              <a:t>, </a:t>
            </a:r>
            <a:r>
              <a:rPr lang="ko-KR" altLang="en-US" sz="1400" dirty="0" err="1">
                <a:highlight>
                  <a:srgbClr val="FFFF00"/>
                </a:highlight>
              </a:rPr>
              <a:t>심결</a:t>
            </a:r>
            <a:r>
              <a:rPr lang="ko-KR" altLang="en-US" sz="1400" dirty="0">
                <a:highlight>
                  <a:srgbClr val="FFFF00"/>
                </a:highlight>
              </a:rPr>
              <a:t> 취소소송의 법원은 특별한 사정이 없는 한 제한 없이 이를 심리</a:t>
            </a:r>
            <a:r>
              <a:rPr lang="en-US" altLang="ko-KR" sz="1400" dirty="0">
                <a:highlight>
                  <a:srgbClr val="FFFF00"/>
                </a:highlight>
              </a:rPr>
              <a:t>·</a:t>
            </a:r>
            <a:r>
              <a:rPr lang="ko-KR" altLang="en-US" sz="1400" dirty="0">
                <a:highlight>
                  <a:srgbClr val="FFFF00"/>
                </a:highlight>
              </a:rPr>
              <a:t>판단하여 판결의 기초로 삼을 수 있다</a:t>
            </a:r>
            <a:r>
              <a:rPr lang="en-US" altLang="ko-KR" sz="1400" dirty="0">
                <a:highlight>
                  <a:srgbClr val="FFFF00"/>
                </a:highlight>
              </a:rPr>
              <a:t>.</a:t>
            </a:r>
            <a:r>
              <a:rPr lang="en-US" altLang="ko-KR" sz="1400" dirty="0">
                <a:solidFill>
                  <a:srgbClr val="FF0000"/>
                </a:solidFill>
              </a:rPr>
              <a:t> </a:t>
            </a:r>
            <a:r>
              <a:rPr lang="ko-KR" altLang="en-US" sz="1400" dirty="0"/>
              <a:t>이와 같이 본다고 해서 심급의 이익을 </a:t>
            </a:r>
            <a:r>
              <a:rPr lang="ko-KR" altLang="en-US" sz="1400" dirty="0" err="1"/>
              <a:t>해친다거나</a:t>
            </a:r>
            <a:r>
              <a:rPr lang="ko-KR" altLang="en-US" sz="1400" dirty="0"/>
              <a:t> 당사자에게 예측하지 못한 불의의 손해를 입히는 것이 아니다</a:t>
            </a:r>
            <a:r>
              <a:rPr lang="en-US" altLang="ko-KR" sz="1400" dirty="0"/>
              <a:t>(</a:t>
            </a:r>
            <a:r>
              <a:rPr lang="ko-KR" altLang="en-US" sz="1400" dirty="0"/>
              <a:t>대법원 </a:t>
            </a:r>
            <a:r>
              <a:rPr lang="en-US" altLang="ko-KR" sz="1400" dirty="0"/>
              <a:t>2002. 6. 25. </a:t>
            </a:r>
            <a:r>
              <a:rPr lang="ko-KR" altLang="en-US" sz="1400" dirty="0"/>
              <a:t>선고 </a:t>
            </a:r>
            <a:r>
              <a:rPr lang="en-US" altLang="ko-KR" sz="1400" dirty="0"/>
              <a:t>2000</a:t>
            </a:r>
            <a:r>
              <a:rPr lang="ko-KR" altLang="en-US" sz="1400" dirty="0"/>
              <a:t>후</a:t>
            </a:r>
            <a:r>
              <a:rPr lang="en-US" altLang="ko-KR" sz="1400" dirty="0"/>
              <a:t>1290 </a:t>
            </a:r>
            <a:r>
              <a:rPr lang="ko-KR" altLang="en-US" sz="1400" dirty="0"/>
              <a:t>판결</a:t>
            </a:r>
            <a:r>
              <a:rPr lang="en-US" altLang="ko-KR" sz="1400" dirty="0"/>
              <a:t>, </a:t>
            </a:r>
            <a:r>
              <a:rPr lang="ko-KR" altLang="en-US" sz="1400" dirty="0"/>
              <a:t>대법원 </a:t>
            </a:r>
            <a:r>
              <a:rPr lang="en-US" altLang="ko-KR" sz="1400" dirty="0"/>
              <a:t>2009. 5. 28. </a:t>
            </a:r>
            <a:r>
              <a:rPr lang="ko-KR" altLang="en-US" sz="1400" dirty="0"/>
              <a:t>선고 </a:t>
            </a:r>
            <a:r>
              <a:rPr lang="en-US" altLang="ko-KR" sz="1400" dirty="0"/>
              <a:t>2007</a:t>
            </a:r>
            <a:r>
              <a:rPr lang="ko-KR" altLang="en-US" sz="1400" dirty="0"/>
              <a:t>후</a:t>
            </a:r>
            <a:r>
              <a:rPr lang="en-US" altLang="ko-KR" sz="1400" dirty="0"/>
              <a:t>4410 </a:t>
            </a:r>
            <a:r>
              <a:rPr lang="ko-KR" altLang="en-US" sz="1400" dirty="0"/>
              <a:t>판결 등 참조</a:t>
            </a:r>
            <a:r>
              <a:rPr lang="en-US" altLang="ko-KR" sz="1400" dirty="0"/>
              <a:t>).</a:t>
            </a:r>
            <a:endParaRPr lang="en-US" altLang="ko-KR" sz="1400" dirty="0">
              <a:solidFill>
                <a:srgbClr val="FF0000"/>
              </a:solidFill>
            </a:endParaRPr>
          </a:p>
        </p:txBody>
      </p:sp>
      <p:sp>
        <p:nvSpPr>
          <p:cNvPr id="42" name="Line 5">
            <a:extLst>
              <a:ext uri="{FF2B5EF4-FFF2-40B4-BE49-F238E27FC236}">
                <a16:creationId xmlns:a16="http://schemas.microsoft.com/office/drawing/2014/main" id="{C3D521F3-C89A-4691-A233-1BC4F6DB64D3}"/>
              </a:ext>
            </a:extLst>
          </p:cNvPr>
          <p:cNvSpPr>
            <a:spLocks noChangeShapeType="1"/>
          </p:cNvSpPr>
          <p:nvPr/>
        </p:nvSpPr>
        <p:spPr bwMode="auto">
          <a:xfrm>
            <a:off x="514351" y="4344837"/>
            <a:ext cx="11530012"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4" name="TextBox 43">
            <a:extLst>
              <a:ext uri="{FF2B5EF4-FFF2-40B4-BE49-F238E27FC236}">
                <a16:creationId xmlns:a16="http://schemas.microsoft.com/office/drawing/2014/main" id="{890F57E0-0C93-429E-B52D-950B18A62824}"/>
              </a:ext>
            </a:extLst>
          </p:cNvPr>
          <p:cNvSpPr txBox="1"/>
          <p:nvPr/>
        </p:nvSpPr>
        <p:spPr>
          <a:xfrm>
            <a:off x="905348" y="4601012"/>
            <a:ext cx="146906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무효심판청구</a:t>
            </a:r>
          </a:p>
        </p:txBody>
      </p:sp>
      <p:sp>
        <p:nvSpPr>
          <p:cNvPr id="47" name="타원 46">
            <a:extLst>
              <a:ext uri="{FF2B5EF4-FFF2-40B4-BE49-F238E27FC236}">
                <a16:creationId xmlns:a16="http://schemas.microsoft.com/office/drawing/2014/main" id="{1E416A6A-17E0-4A3B-8C28-9560A00280A4}"/>
              </a:ext>
            </a:extLst>
          </p:cNvPr>
          <p:cNvSpPr/>
          <p:nvPr/>
        </p:nvSpPr>
        <p:spPr>
          <a:xfrm>
            <a:off x="1562512" y="4250903"/>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8" name="직선 연결선 47">
            <a:extLst>
              <a:ext uri="{FF2B5EF4-FFF2-40B4-BE49-F238E27FC236}">
                <a16:creationId xmlns:a16="http://schemas.microsoft.com/office/drawing/2014/main" id="{94B9FD84-6472-4A38-96A7-0961D12BE1A4}"/>
              </a:ext>
            </a:extLst>
          </p:cNvPr>
          <p:cNvCxnSpPr>
            <a:cxnSpLocks/>
            <a:stCxn id="44" idx="0"/>
            <a:endCxn id="47" idx="4"/>
          </p:cNvCxnSpPr>
          <p:nvPr/>
        </p:nvCxnSpPr>
        <p:spPr>
          <a:xfrm flipH="1" flipV="1">
            <a:off x="1639881" y="4412241"/>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B93DE314-156B-4AE0-A6A1-A3E38D2DAD5E}"/>
              </a:ext>
            </a:extLst>
          </p:cNvPr>
          <p:cNvSpPr txBox="1"/>
          <p:nvPr/>
        </p:nvSpPr>
        <p:spPr>
          <a:xfrm>
            <a:off x="2573620" y="4601012"/>
            <a:ext cx="113939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기각심결확정</a:t>
            </a:r>
            <a:endParaRPr lang="ko-KR" altLang="en-US" sz="1200" dirty="0">
              <a:solidFill>
                <a:schemeClr val="tx1"/>
              </a:solidFill>
              <a:latin typeface="+mn-ea"/>
            </a:endParaRPr>
          </a:p>
        </p:txBody>
      </p:sp>
      <p:sp>
        <p:nvSpPr>
          <p:cNvPr id="29" name="타원 28">
            <a:extLst>
              <a:ext uri="{FF2B5EF4-FFF2-40B4-BE49-F238E27FC236}">
                <a16:creationId xmlns:a16="http://schemas.microsoft.com/office/drawing/2014/main" id="{BF25F9F4-5090-4DB9-9E09-63BBFFE26323}"/>
              </a:ext>
            </a:extLst>
          </p:cNvPr>
          <p:cNvSpPr/>
          <p:nvPr/>
        </p:nvSpPr>
        <p:spPr>
          <a:xfrm>
            <a:off x="3065949" y="4250903"/>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0" name="직선 연결선 29">
            <a:extLst>
              <a:ext uri="{FF2B5EF4-FFF2-40B4-BE49-F238E27FC236}">
                <a16:creationId xmlns:a16="http://schemas.microsoft.com/office/drawing/2014/main" id="{80124424-B4CE-4C83-9036-BBB347007F6C}"/>
              </a:ext>
            </a:extLst>
          </p:cNvPr>
          <p:cNvCxnSpPr>
            <a:cxnSpLocks/>
            <a:stCxn id="28" idx="0"/>
            <a:endCxn id="29" idx="4"/>
          </p:cNvCxnSpPr>
          <p:nvPr/>
        </p:nvCxnSpPr>
        <p:spPr>
          <a:xfrm flipH="1" flipV="1">
            <a:off x="3143318" y="4412241"/>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4E752647-CA77-4730-9828-80C4ADAC153D}"/>
              </a:ext>
            </a:extLst>
          </p:cNvPr>
          <p:cNvSpPr txBox="1"/>
          <p:nvPr/>
        </p:nvSpPr>
        <p:spPr>
          <a:xfrm>
            <a:off x="8143646" y="4601012"/>
            <a:ext cx="688012"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소제기</a:t>
            </a:r>
          </a:p>
        </p:txBody>
      </p:sp>
      <p:sp>
        <p:nvSpPr>
          <p:cNvPr id="56" name="타원 55">
            <a:extLst>
              <a:ext uri="{FF2B5EF4-FFF2-40B4-BE49-F238E27FC236}">
                <a16:creationId xmlns:a16="http://schemas.microsoft.com/office/drawing/2014/main" id="{CA50C72E-8883-4BC0-9B5A-9B09990D79CD}"/>
              </a:ext>
            </a:extLst>
          </p:cNvPr>
          <p:cNvSpPr/>
          <p:nvPr/>
        </p:nvSpPr>
        <p:spPr>
          <a:xfrm>
            <a:off x="8410282" y="4250903"/>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7" name="직선 연결선 56">
            <a:extLst>
              <a:ext uri="{FF2B5EF4-FFF2-40B4-BE49-F238E27FC236}">
                <a16:creationId xmlns:a16="http://schemas.microsoft.com/office/drawing/2014/main" id="{52B3968F-EB0B-4EEB-88EC-8B7FF3F3AE32}"/>
              </a:ext>
            </a:extLst>
          </p:cNvPr>
          <p:cNvCxnSpPr>
            <a:cxnSpLocks/>
            <a:stCxn id="55" idx="0"/>
            <a:endCxn id="56" idx="4"/>
          </p:cNvCxnSpPr>
          <p:nvPr/>
        </p:nvCxnSpPr>
        <p:spPr>
          <a:xfrm flipH="1" flipV="1">
            <a:off x="8487651" y="4412241"/>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573B864B-59F2-4BA5-BF6F-47FFC60441B2}"/>
              </a:ext>
            </a:extLst>
          </p:cNvPr>
          <p:cNvSpPr txBox="1"/>
          <p:nvPr/>
        </p:nvSpPr>
        <p:spPr>
          <a:xfrm>
            <a:off x="736589" y="5062677"/>
            <a:ext cx="1806586"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진보성 위반 </a:t>
            </a:r>
            <a:r>
              <a:rPr lang="en-US" altLang="ko-KR" sz="1200" dirty="0">
                <a:solidFill>
                  <a:schemeClr val="tx1"/>
                </a:solidFill>
                <a:latin typeface="+mn-ea"/>
              </a:rPr>
              <a:t>by </a:t>
            </a:r>
            <a:r>
              <a:rPr lang="ko-KR" altLang="en-US" sz="1200" dirty="0">
                <a:solidFill>
                  <a:schemeClr val="tx1"/>
                </a:solidFill>
                <a:latin typeface="+mn-ea"/>
              </a:rPr>
              <a:t>공지</a:t>
            </a:r>
            <a:r>
              <a:rPr lang="en-US" altLang="ko-KR" sz="1200" dirty="0">
                <a:solidFill>
                  <a:schemeClr val="tx1"/>
                </a:solidFill>
                <a:latin typeface="+mn-ea"/>
              </a:rPr>
              <a:t>1</a:t>
            </a:r>
            <a:endParaRPr lang="ko-KR" altLang="en-US" sz="1200" dirty="0">
              <a:solidFill>
                <a:schemeClr val="tx1"/>
              </a:solidFill>
              <a:latin typeface="+mn-ea"/>
            </a:endParaRPr>
          </a:p>
        </p:txBody>
      </p:sp>
      <p:cxnSp>
        <p:nvCxnSpPr>
          <p:cNvPr id="8" name="직선 연결선 7">
            <a:extLst>
              <a:ext uri="{FF2B5EF4-FFF2-40B4-BE49-F238E27FC236}">
                <a16:creationId xmlns:a16="http://schemas.microsoft.com/office/drawing/2014/main" id="{78FA4ACE-01F8-4A17-B306-7D24424AE20E}"/>
              </a:ext>
            </a:extLst>
          </p:cNvPr>
          <p:cNvCxnSpPr>
            <a:stCxn id="36" idx="0"/>
            <a:endCxn id="44" idx="2"/>
          </p:cNvCxnSpPr>
          <p:nvPr/>
        </p:nvCxnSpPr>
        <p:spPr>
          <a:xfrm flipV="1">
            <a:off x="1639882" y="4878011"/>
            <a:ext cx="0" cy="18466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92870961-7113-44E7-A09D-EB1E428958DF}"/>
              </a:ext>
            </a:extLst>
          </p:cNvPr>
          <p:cNvSpPr txBox="1"/>
          <p:nvPr/>
        </p:nvSpPr>
        <p:spPr>
          <a:xfrm>
            <a:off x="3924175" y="4601012"/>
            <a:ext cx="1469068"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丙 무효심판청구</a:t>
            </a:r>
          </a:p>
        </p:txBody>
      </p:sp>
      <p:sp>
        <p:nvSpPr>
          <p:cNvPr id="41" name="타원 40">
            <a:extLst>
              <a:ext uri="{FF2B5EF4-FFF2-40B4-BE49-F238E27FC236}">
                <a16:creationId xmlns:a16="http://schemas.microsoft.com/office/drawing/2014/main" id="{C4D937AA-A7B0-40AE-B45B-7C6574C2C3AA}"/>
              </a:ext>
            </a:extLst>
          </p:cNvPr>
          <p:cNvSpPr/>
          <p:nvPr/>
        </p:nvSpPr>
        <p:spPr>
          <a:xfrm>
            <a:off x="4581339" y="4250903"/>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3" name="직선 연결선 42">
            <a:extLst>
              <a:ext uri="{FF2B5EF4-FFF2-40B4-BE49-F238E27FC236}">
                <a16:creationId xmlns:a16="http://schemas.microsoft.com/office/drawing/2014/main" id="{A0D91A23-6C4C-4D4B-9AA8-C9707D9C82DF}"/>
              </a:ext>
            </a:extLst>
          </p:cNvPr>
          <p:cNvCxnSpPr>
            <a:cxnSpLocks/>
            <a:stCxn id="40" idx="0"/>
            <a:endCxn id="41" idx="4"/>
          </p:cNvCxnSpPr>
          <p:nvPr/>
        </p:nvCxnSpPr>
        <p:spPr>
          <a:xfrm flipH="1" flipV="1">
            <a:off x="4658708" y="4412241"/>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0A4CB4C9-0D8E-4EA5-A875-8F3EE3A47E86}"/>
              </a:ext>
            </a:extLst>
          </p:cNvPr>
          <p:cNvSpPr txBox="1"/>
          <p:nvPr/>
        </p:nvSpPr>
        <p:spPr>
          <a:xfrm>
            <a:off x="5998464" y="4601012"/>
            <a:ext cx="1139398"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각하심결</a:t>
            </a:r>
            <a:endParaRPr lang="ko-KR" altLang="en-US" sz="1200" dirty="0">
              <a:solidFill>
                <a:schemeClr val="tx1"/>
              </a:solidFill>
              <a:latin typeface="+mn-ea"/>
            </a:endParaRPr>
          </a:p>
        </p:txBody>
      </p:sp>
      <p:sp>
        <p:nvSpPr>
          <p:cNvPr id="65" name="타원 64">
            <a:extLst>
              <a:ext uri="{FF2B5EF4-FFF2-40B4-BE49-F238E27FC236}">
                <a16:creationId xmlns:a16="http://schemas.microsoft.com/office/drawing/2014/main" id="{4212CB8D-340A-4481-AD0F-E12545400930}"/>
              </a:ext>
            </a:extLst>
          </p:cNvPr>
          <p:cNvSpPr/>
          <p:nvPr/>
        </p:nvSpPr>
        <p:spPr>
          <a:xfrm>
            <a:off x="6490793" y="4250903"/>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6" name="직선 연결선 65">
            <a:extLst>
              <a:ext uri="{FF2B5EF4-FFF2-40B4-BE49-F238E27FC236}">
                <a16:creationId xmlns:a16="http://schemas.microsoft.com/office/drawing/2014/main" id="{6B69D885-7404-4F57-AE60-4ED6ED792BA7}"/>
              </a:ext>
            </a:extLst>
          </p:cNvPr>
          <p:cNvCxnSpPr>
            <a:cxnSpLocks/>
            <a:stCxn id="64" idx="0"/>
            <a:endCxn id="65" idx="4"/>
          </p:cNvCxnSpPr>
          <p:nvPr/>
        </p:nvCxnSpPr>
        <p:spPr>
          <a:xfrm flipH="1" flipV="1">
            <a:off x="6568162" y="4412241"/>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6997D16D-B448-4502-B2FA-DCEE5C4DCAC9}"/>
              </a:ext>
            </a:extLst>
          </p:cNvPr>
          <p:cNvSpPr txBox="1"/>
          <p:nvPr/>
        </p:nvSpPr>
        <p:spPr>
          <a:xfrm>
            <a:off x="10791033" y="4601012"/>
            <a:ext cx="688012"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상고</a:t>
            </a:r>
          </a:p>
        </p:txBody>
      </p:sp>
      <p:sp>
        <p:nvSpPr>
          <p:cNvPr id="70" name="타원 69">
            <a:extLst>
              <a:ext uri="{FF2B5EF4-FFF2-40B4-BE49-F238E27FC236}">
                <a16:creationId xmlns:a16="http://schemas.microsoft.com/office/drawing/2014/main" id="{4C8B9C16-03FC-4FF4-B271-2B60C3CD4D98}"/>
              </a:ext>
            </a:extLst>
          </p:cNvPr>
          <p:cNvSpPr/>
          <p:nvPr/>
        </p:nvSpPr>
        <p:spPr>
          <a:xfrm>
            <a:off x="11057669" y="4250903"/>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2" name="직선 연결선 71">
            <a:extLst>
              <a:ext uri="{FF2B5EF4-FFF2-40B4-BE49-F238E27FC236}">
                <a16:creationId xmlns:a16="http://schemas.microsoft.com/office/drawing/2014/main" id="{429EDA52-7095-451A-8428-1522330C4E39}"/>
              </a:ext>
            </a:extLst>
          </p:cNvPr>
          <p:cNvCxnSpPr>
            <a:cxnSpLocks/>
            <a:stCxn id="67" idx="0"/>
            <a:endCxn id="70" idx="4"/>
          </p:cNvCxnSpPr>
          <p:nvPr/>
        </p:nvCxnSpPr>
        <p:spPr>
          <a:xfrm flipH="1" flipV="1">
            <a:off x="11135038" y="4412241"/>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8DFFD9B4-DD50-4A0C-A73F-3AF78BD49A1A}"/>
              </a:ext>
            </a:extLst>
          </p:cNvPr>
          <p:cNvSpPr txBox="1"/>
          <p:nvPr/>
        </p:nvSpPr>
        <p:spPr>
          <a:xfrm>
            <a:off x="9248648" y="4601012"/>
            <a:ext cx="1139398"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a:t>
            </a:r>
          </a:p>
        </p:txBody>
      </p:sp>
      <p:sp>
        <p:nvSpPr>
          <p:cNvPr id="75" name="타원 74">
            <a:extLst>
              <a:ext uri="{FF2B5EF4-FFF2-40B4-BE49-F238E27FC236}">
                <a16:creationId xmlns:a16="http://schemas.microsoft.com/office/drawing/2014/main" id="{3F6981AD-C0F2-4BBA-9AB4-2E780FD953DA}"/>
              </a:ext>
            </a:extLst>
          </p:cNvPr>
          <p:cNvSpPr/>
          <p:nvPr/>
        </p:nvSpPr>
        <p:spPr>
          <a:xfrm>
            <a:off x="9740977" y="4250903"/>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6" name="직선 연결선 75">
            <a:extLst>
              <a:ext uri="{FF2B5EF4-FFF2-40B4-BE49-F238E27FC236}">
                <a16:creationId xmlns:a16="http://schemas.microsoft.com/office/drawing/2014/main" id="{50F8C75E-9430-42C0-9132-FBDADFA56BD2}"/>
              </a:ext>
            </a:extLst>
          </p:cNvPr>
          <p:cNvCxnSpPr>
            <a:cxnSpLocks/>
            <a:stCxn id="73" idx="0"/>
            <a:endCxn id="75" idx="4"/>
          </p:cNvCxnSpPr>
          <p:nvPr/>
        </p:nvCxnSpPr>
        <p:spPr>
          <a:xfrm flipH="1" flipV="1">
            <a:off x="9818346" y="4412241"/>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직선 연결선 38">
            <a:extLst>
              <a:ext uri="{FF2B5EF4-FFF2-40B4-BE49-F238E27FC236}">
                <a16:creationId xmlns:a16="http://schemas.microsoft.com/office/drawing/2014/main" id="{8EBEB81B-2590-4C97-916A-77B3A16D975F}"/>
              </a:ext>
            </a:extLst>
          </p:cNvPr>
          <p:cNvCxnSpPr/>
          <p:nvPr/>
        </p:nvCxnSpPr>
        <p:spPr>
          <a:xfrm>
            <a:off x="0" y="4041414"/>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79A1F156-269C-4C74-B49F-E39488B2FBEC}"/>
              </a:ext>
            </a:extLst>
          </p:cNvPr>
          <p:cNvSpPr txBox="1"/>
          <p:nvPr/>
        </p:nvSpPr>
        <p:spPr>
          <a:xfrm>
            <a:off x="3755415" y="5062677"/>
            <a:ext cx="1806586"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진보성 위반 </a:t>
            </a:r>
            <a:r>
              <a:rPr lang="en-US" altLang="ko-KR" sz="1200" dirty="0">
                <a:solidFill>
                  <a:schemeClr val="tx1"/>
                </a:solidFill>
                <a:latin typeface="+mn-ea"/>
              </a:rPr>
              <a:t>by </a:t>
            </a:r>
            <a:r>
              <a:rPr lang="ko-KR" altLang="en-US" sz="1200" dirty="0">
                <a:solidFill>
                  <a:schemeClr val="tx1"/>
                </a:solidFill>
                <a:latin typeface="+mn-ea"/>
              </a:rPr>
              <a:t>공지 </a:t>
            </a:r>
            <a:r>
              <a:rPr lang="en-US" altLang="ko-KR" sz="1200" dirty="0">
                <a:solidFill>
                  <a:schemeClr val="tx1"/>
                </a:solidFill>
                <a:latin typeface="+mn-ea"/>
              </a:rPr>
              <a:t>2,3</a:t>
            </a:r>
            <a:endParaRPr lang="ko-KR" altLang="en-US" sz="1200" dirty="0">
              <a:solidFill>
                <a:schemeClr val="tx1"/>
              </a:solidFill>
              <a:latin typeface="+mn-ea"/>
            </a:endParaRPr>
          </a:p>
        </p:txBody>
      </p:sp>
      <p:cxnSp>
        <p:nvCxnSpPr>
          <p:cNvPr id="46" name="직선 연결선 45">
            <a:extLst>
              <a:ext uri="{FF2B5EF4-FFF2-40B4-BE49-F238E27FC236}">
                <a16:creationId xmlns:a16="http://schemas.microsoft.com/office/drawing/2014/main" id="{28D06206-6EC7-4EC7-B2CF-CF27002DD058}"/>
              </a:ext>
            </a:extLst>
          </p:cNvPr>
          <p:cNvCxnSpPr>
            <a:stCxn id="45" idx="0"/>
          </p:cNvCxnSpPr>
          <p:nvPr/>
        </p:nvCxnSpPr>
        <p:spPr>
          <a:xfrm flipV="1">
            <a:off x="4658708" y="4878011"/>
            <a:ext cx="0" cy="18466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3FAB0E16-0C31-41C3-A23F-20564F359DF3}"/>
              </a:ext>
            </a:extLst>
          </p:cNvPr>
          <p:cNvSpPr txBox="1"/>
          <p:nvPr/>
        </p:nvSpPr>
        <p:spPr>
          <a:xfrm>
            <a:off x="5664869" y="5062677"/>
            <a:ext cx="1806586"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유력하지 아니한 증거가 </a:t>
            </a:r>
            <a:endParaRPr lang="en-US" altLang="ko-KR" sz="1200" dirty="0">
              <a:solidFill>
                <a:schemeClr val="tx1"/>
              </a:solidFill>
              <a:latin typeface="+mn-ea"/>
            </a:endParaRPr>
          </a:p>
          <a:p>
            <a:pPr algn="ctr"/>
            <a:r>
              <a:rPr lang="ko-KR" altLang="en-US" sz="1200" dirty="0">
                <a:solidFill>
                  <a:schemeClr val="tx1"/>
                </a:solidFill>
                <a:latin typeface="+mn-ea"/>
              </a:rPr>
              <a:t>부가되어 일사부재리 위반</a:t>
            </a:r>
          </a:p>
        </p:txBody>
      </p:sp>
      <p:cxnSp>
        <p:nvCxnSpPr>
          <p:cNvPr id="51" name="직선 연결선 50">
            <a:extLst>
              <a:ext uri="{FF2B5EF4-FFF2-40B4-BE49-F238E27FC236}">
                <a16:creationId xmlns:a16="http://schemas.microsoft.com/office/drawing/2014/main" id="{9E2E8D18-1791-430D-98B9-F793D9D340A2}"/>
              </a:ext>
            </a:extLst>
          </p:cNvPr>
          <p:cNvCxnSpPr>
            <a:stCxn id="49" idx="0"/>
          </p:cNvCxnSpPr>
          <p:nvPr/>
        </p:nvCxnSpPr>
        <p:spPr>
          <a:xfrm flipV="1">
            <a:off x="6568162" y="4878011"/>
            <a:ext cx="0" cy="18466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6492C761-B057-4699-90E1-E85E5E87D2CB}"/>
              </a:ext>
            </a:extLst>
          </p:cNvPr>
          <p:cNvSpPr txBox="1"/>
          <p:nvPr/>
        </p:nvSpPr>
        <p:spPr>
          <a:xfrm>
            <a:off x="7584358" y="5062677"/>
            <a:ext cx="1806586"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기재불비</a:t>
            </a:r>
            <a:r>
              <a:rPr lang="en-US" altLang="ko-KR" sz="1200" dirty="0">
                <a:solidFill>
                  <a:schemeClr val="tx1"/>
                </a:solidFill>
                <a:latin typeface="+mn-ea"/>
              </a:rPr>
              <a:t>, </a:t>
            </a:r>
            <a:r>
              <a:rPr lang="ko-KR" altLang="en-US" sz="1200" dirty="0">
                <a:solidFill>
                  <a:schemeClr val="tx1"/>
                </a:solidFill>
                <a:latin typeface="+mn-ea"/>
              </a:rPr>
              <a:t>신규성 등 새로운 무효사유의 주장</a:t>
            </a:r>
          </a:p>
        </p:txBody>
      </p:sp>
      <p:cxnSp>
        <p:nvCxnSpPr>
          <p:cNvPr id="53" name="직선 연결선 52">
            <a:extLst>
              <a:ext uri="{FF2B5EF4-FFF2-40B4-BE49-F238E27FC236}">
                <a16:creationId xmlns:a16="http://schemas.microsoft.com/office/drawing/2014/main" id="{2B381A6D-C0D4-42CA-A3F2-759F3537A5E0}"/>
              </a:ext>
            </a:extLst>
          </p:cNvPr>
          <p:cNvCxnSpPr>
            <a:stCxn id="52" idx="0"/>
          </p:cNvCxnSpPr>
          <p:nvPr/>
        </p:nvCxnSpPr>
        <p:spPr>
          <a:xfrm flipV="1">
            <a:off x="8487651" y="4878011"/>
            <a:ext cx="0" cy="18466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564DC70E-352E-4CA6-834E-040B382B916C}"/>
              </a:ext>
            </a:extLst>
          </p:cNvPr>
          <p:cNvSpPr txBox="1"/>
          <p:nvPr/>
        </p:nvSpPr>
        <p:spPr>
          <a:xfrm>
            <a:off x="232372" y="5728025"/>
            <a:ext cx="11811991" cy="911532"/>
          </a:xfrm>
          <a:prstGeom prst="rect">
            <a:avLst/>
          </a:prstGeom>
          <a:noFill/>
          <a:ln>
            <a:solidFill>
              <a:schemeClr val="bg1">
                <a:lumMod val="50000"/>
              </a:schemeClr>
            </a:solidFill>
          </a:ln>
        </p:spPr>
        <p:txBody>
          <a:bodyPr wrap="square">
            <a:spAutoFit/>
          </a:bodyPr>
          <a:lstStyle/>
          <a:p>
            <a:pPr marR="0" algn="just" fontAlgn="base" latinLnBrk="1">
              <a:lnSpc>
                <a:spcPct val="130000"/>
              </a:lnSpc>
              <a:spcBef>
                <a:spcPts val="0"/>
              </a:spcBef>
              <a:spcAft>
                <a:spcPts val="0"/>
              </a:spcAft>
              <a:tabLst>
                <a:tab pos="185738" algn="l"/>
                <a:tab pos="185738" algn="l"/>
              </a:tabLst>
            </a:pPr>
            <a:r>
              <a:rPr lang="ko-KR" altLang="en-US" sz="1400" kern="0" spc="0" dirty="0">
                <a:solidFill>
                  <a:srgbClr val="FF0000"/>
                </a:solidFill>
                <a:effectLst/>
                <a:highlight>
                  <a:srgbClr val="CCECFF"/>
                </a:highlight>
                <a:latin typeface="+mn-ea"/>
              </a:rPr>
              <a:t>일사부재리 원칙 위반을 이유로 한 각하 </a:t>
            </a:r>
            <a:r>
              <a:rPr lang="ko-KR" altLang="en-US" sz="1400" kern="0" spc="0" dirty="0" err="1">
                <a:solidFill>
                  <a:srgbClr val="FF0000"/>
                </a:solidFill>
                <a:effectLst/>
                <a:highlight>
                  <a:srgbClr val="CCECFF"/>
                </a:highlight>
                <a:latin typeface="+mn-ea"/>
              </a:rPr>
              <a:t>심결에</a:t>
            </a:r>
            <a:r>
              <a:rPr lang="ko-KR" altLang="en-US" sz="1400" kern="0" spc="0" dirty="0">
                <a:solidFill>
                  <a:srgbClr val="FF0000"/>
                </a:solidFill>
                <a:effectLst/>
                <a:highlight>
                  <a:srgbClr val="CCECFF"/>
                </a:highlight>
                <a:latin typeface="+mn-ea"/>
              </a:rPr>
              <a:t> 대한 </a:t>
            </a:r>
            <a:r>
              <a:rPr lang="ko-KR" altLang="en-US" sz="1400" kern="0" spc="0" dirty="0" err="1">
                <a:solidFill>
                  <a:srgbClr val="FF0000"/>
                </a:solidFill>
                <a:effectLst/>
                <a:highlight>
                  <a:srgbClr val="CCECFF"/>
                </a:highlight>
                <a:latin typeface="+mn-ea"/>
              </a:rPr>
              <a:t>심결취소소송에서</a:t>
            </a:r>
            <a:r>
              <a:rPr lang="ko-KR" altLang="en-US" sz="1400" kern="0" spc="0" dirty="0">
                <a:solidFill>
                  <a:srgbClr val="FF0000"/>
                </a:solidFill>
                <a:effectLst/>
                <a:highlight>
                  <a:srgbClr val="CCECFF"/>
                </a:highlight>
                <a:latin typeface="+mn-ea"/>
              </a:rPr>
              <a:t> 심판청구인이 동일사실 및 동일증거가 아님을 주장하는 새로운 주장 및 증거제출은 허용되나</a:t>
            </a:r>
            <a:r>
              <a:rPr lang="en-US" altLang="ko-KR" sz="1400" kern="0" spc="0" dirty="0">
                <a:solidFill>
                  <a:srgbClr val="FF0000"/>
                </a:solidFill>
                <a:effectLst/>
                <a:highlight>
                  <a:srgbClr val="CCECFF"/>
                </a:highlight>
                <a:latin typeface="+mn-ea"/>
              </a:rPr>
              <a:t>,</a:t>
            </a:r>
            <a:r>
              <a:rPr lang="ko-KR" altLang="en-US" sz="1400" kern="0" spc="0" dirty="0">
                <a:solidFill>
                  <a:srgbClr val="FF0000"/>
                </a:solidFill>
                <a:effectLst/>
                <a:highlight>
                  <a:srgbClr val="CCECFF"/>
                </a:highlight>
                <a:latin typeface="+mn-ea"/>
              </a:rPr>
              <a:t> 심판절차에서 </a:t>
            </a:r>
            <a:r>
              <a:rPr lang="ko-KR" altLang="en-US" sz="1400" kern="0" spc="0" dirty="0" err="1">
                <a:solidFill>
                  <a:srgbClr val="FF0000"/>
                </a:solidFill>
                <a:effectLst/>
                <a:highlight>
                  <a:srgbClr val="CCECFF"/>
                </a:highlight>
                <a:latin typeface="+mn-ea"/>
              </a:rPr>
              <a:t>심결시까지</a:t>
            </a:r>
            <a:r>
              <a:rPr lang="ko-KR" altLang="en-US" sz="1400" kern="0" spc="0" dirty="0">
                <a:solidFill>
                  <a:srgbClr val="FF0000"/>
                </a:solidFill>
                <a:effectLst/>
                <a:highlight>
                  <a:srgbClr val="CCECFF"/>
                </a:highlight>
                <a:latin typeface="+mn-ea"/>
              </a:rPr>
              <a:t> 주장하지 않은 새로운 등록무효 사유를 주장하는 것은 허용되지 않고</a:t>
            </a:r>
            <a:r>
              <a:rPr lang="en-US" altLang="ko-KR" sz="1400" kern="0" spc="-30" dirty="0">
                <a:solidFill>
                  <a:srgbClr val="FF0000"/>
                </a:solidFill>
                <a:effectLst/>
                <a:highlight>
                  <a:srgbClr val="CCECFF"/>
                </a:highlight>
                <a:latin typeface="+mn-ea"/>
              </a:rPr>
              <a:t>, </a:t>
            </a:r>
            <a:r>
              <a:rPr lang="ko-KR" altLang="en-US" sz="1400" kern="0" spc="0" dirty="0">
                <a:solidFill>
                  <a:srgbClr val="FF0000"/>
                </a:solidFill>
                <a:effectLst/>
                <a:highlight>
                  <a:srgbClr val="CCECFF"/>
                </a:highlight>
                <a:latin typeface="+mn-ea"/>
              </a:rPr>
              <a:t>이러한 새로운 등록무효 사유의 주장을 이유로 각하 </a:t>
            </a:r>
            <a:r>
              <a:rPr lang="ko-KR" altLang="en-US" sz="1400" kern="0" spc="0" dirty="0" err="1">
                <a:solidFill>
                  <a:srgbClr val="FF0000"/>
                </a:solidFill>
                <a:effectLst/>
                <a:highlight>
                  <a:srgbClr val="CCECFF"/>
                </a:highlight>
                <a:latin typeface="+mn-ea"/>
              </a:rPr>
              <a:t>심결을</a:t>
            </a:r>
            <a:r>
              <a:rPr lang="ko-KR" altLang="en-US" sz="1400" kern="0" spc="0" dirty="0">
                <a:solidFill>
                  <a:srgbClr val="FF0000"/>
                </a:solidFill>
                <a:effectLst/>
                <a:highlight>
                  <a:srgbClr val="CCECFF"/>
                </a:highlight>
                <a:latin typeface="+mn-ea"/>
              </a:rPr>
              <a:t> 취소할 수 없으며</a:t>
            </a:r>
            <a:r>
              <a:rPr lang="en-US" altLang="ko-KR" sz="1400" kern="0" spc="-30" dirty="0">
                <a:solidFill>
                  <a:srgbClr val="FF0000"/>
                </a:solidFill>
                <a:effectLst/>
                <a:highlight>
                  <a:srgbClr val="CCECFF"/>
                </a:highlight>
                <a:latin typeface="+mn-ea"/>
              </a:rPr>
              <a:t>, </a:t>
            </a:r>
            <a:r>
              <a:rPr lang="ko-KR" altLang="en-US" sz="1400" kern="0" spc="0" dirty="0">
                <a:solidFill>
                  <a:srgbClr val="FF0000"/>
                </a:solidFill>
                <a:effectLst/>
                <a:highlight>
                  <a:srgbClr val="CCECFF"/>
                </a:highlight>
                <a:latin typeface="+mn-ea"/>
              </a:rPr>
              <a:t>새로운 등록무효 사유에 대하여 판단할 수도 없다</a:t>
            </a:r>
            <a:r>
              <a:rPr lang="en-US" altLang="ko-KR" sz="1400" kern="0" spc="0" dirty="0">
                <a:solidFill>
                  <a:srgbClr val="FF0000"/>
                </a:solidFill>
                <a:effectLst/>
                <a:highlight>
                  <a:srgbClr val="CCECFF"/>
                </a:highlight>
                <a:latin typeface="+mn-ea"/>
              </a:rPr>
              <a:t>.</a:t>
            </a:r>
            <a:endParaRPr lang="ko-KR" altLang="en-US" sz="1400" kern="0" spc="0" dirty="0">
              <a:solidFill>
                <a:srgbClr val="000000"/>
              </a:solidFill>
              <a:effectLst/>
              <a:highlight>
                <a:srgbClr val="CCECFF"/>
              </a:highlight>
              <a:latin typeface="+mn-ea"/>
            </a:endParaRPr>
          </a:p>
        </p:txBody>
      </p:sp>
    </p:spTree>
    <p:extLst>
      <p:ext uri="{BB962C8B-B14F-4D97-AF65-F5344CB8AC3E}">
        <p14:creationId xmlns:p14="http://schemas.microsoft.com/office/powerpoint/2010/main" val="2578347828"/>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163</a:t>
            </a:r>
            <a:r>
              <a:rPr lang="ko-KR" altLang="en-US" dirty="0"/>
              <a:t>조</a:t>
            </a:r>
          </a:p>
        </p:txBody>
      </p:sp>
      <p:sp>
        <p:nvSpPr>
          <p:cNvPr id="4" name="텍스트 개체 틀 3"/>
          <p:cNvSpPr>
            <a:spLocks noGrp="1"/>
          </p:cNvSpPr>
          <p:nvPr>
            <p:ph type="body" sz="quarter" idx="13"/>
          </p:nvPr>
        </p:nvSpPr>
        <p:spPr/>
        <p:txBody>
          <a:bodyPr/>
          <a:lstStyle/>
          <a:p>
            <a:r>
              <a:rPr lang="ko-KR" altLang="en-US" dirty="0"/>
              <a:t>일사부재리 적용 </a:t>
            </a:r>
            <a:r>
              <a:rPr lang="en-US" altLang="ko-KR" dirty="0"/>
              <a:t>CASE: </a:t>
            </a:r>
            <a:r>
              <a:rPr lang="ko-KR" altLang="en-US" dirty="0"/>
              <a:t>제</a:t>
            </a:r>
            <a:r>
              <a:rPr lang="en-US" altLang="ko-KR" dirty="0"/>
              <a:t>163</a:t>
            </a:r>
            <a:r>
              <a:rPr lang="ko-KR" altLang="en-US" dirty="0"/>
              <a:t>조 단서의 해석</a:t>
            </a:r>
          </a:p>
        </p:txBody>
      </p:sp>
      <p:sp>
        <p:nvSpPr>
          <p:cNvPr id="31" name="모서리가 둥근 직사각형 10">
            <a:extLst>
              <a:ext uri="{FF2B5EF4-FFF2-40B4-BE49-F238E27FC236}">
                <a16:creationId xmlns:a16="http://schemas.microsoft.com/office/drawing/2014/main" id="{83E8DC17-A890-4A8F-8AF6-87049ACC89A5}"/>
              </a:ext>
            </a:extLst>
          </p:cNvPr>
          <p:cNvSpPr/>
          <p:nvPr/>
        </p:nvSpPr>
        <p:spPr bwMode="auto">
          <a:xfrm>
            <a:off x="378418" y="1002199"/>
            <a:ext cx="4797431"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2021. 6. 3. </a:t>
            </a:r>
            <a:r>
              <a:rPr lang="ko-KR" altLang="en-US" sz="1400" dirty="0"/>
              <a:t>선고 </a:t>
            </a:r>
            <a:r>
              <a:rPr lang="en-US" altLang="ko-KR" sz="1400" dirty="0"/>
              <a:t>2021</a:t>
            </a:r>
            <a:r>
              <a:rPr lang="ko-KR" altLang="en-US" sz="1400" dirty="0"/>
              <a:t>후</a:t>
            </a:r>
            <a:r>
              <a:rPr lang="en-US" altLang="ko-KR" sz="1400" dirty="0"/>
              <a:t>10077 </a:t>
            </a:r>
            <a:r>
              <a:rPr lang="ko-KR" altLang="en-US" sz="1400" dirty="0"/>
              <a:t>판결 </a:t>
            </a:r>
            <a:r>
              <a:rPr lang="en-US" altLang="ko-KR" sz="1400" dirty="0"/>
              <a:t>【</a:t>
            </a:r>
            <a:r>
              <a:rPr lang="ko-KR" altLang="en-US" sz="1400" dirty="0"/>
              <a:t>등록무효</a:t>
            </a:r>
            <a:r>
              <a:rPr lang="en-US" altLang="ko-KR" sz="1400" dirty="0"/>
              <a:t>(</a:t>
            </a:r>
            <a:r>
              <a:rPr lang="ko-KR" altLang="en-US" sz="1400" dirty="0" err="1"/>
              <a:t>특</a:t>
            </a:r>
            <a:r>
              <a:rPr lang="en-US" altLang="ko-KR" sz="1400" dirty="0"/>
              <a:t>)】</a:t>
            </a:r>
          </a:p>
        </p:txBody>
      </p:sp>
      <p:sp>
        <p:nvSpPr>
          <p:cNvPr id="32" name="직사각형 31">
            <a:extLst>
              <a:ext uri="{FF2B5EF4-FFF2-40B4-BE49-F238E27FC236}">
                <a16:creationId xmlns:a16="http://schemas.microsoft.com/office/drawing/2014/main" id="{AB016C75-8430-4388-9E51-7B3101DE3CF1}"/>
              </a:ext>
            </a:extLst>
          </p:cNvPr>
          <p:cNvSpPr/>
          <p:nvPr/>
        </p:nvSpPr>
        <p:spPr>
          <a:xfrm>
            <a:off x="232372" y="1333658"/>
            <a:ext cx="11681987" cy="2308324"/>
          </a:xfrm>
          <a:prstGeom prst="rect">
            <a:avLst/>
          </a:prstGeom>
        </p:spPr>
        <p:txBody>
          <a:bodyPr wrap="square">
            <a:spAutoFit/>
          </a:bodyPr>
          <a:lstStyle/>
          <a:p>
            <a:pPr algn="just"/>
            <a:r>
              <a:rPr lang="ko-KR" altLang="en-US" sz="1200" dirty="0"/>
              <a:t>일사부재리 원칙에 관한 특허법 제</a:t>
            </a:r>
            <a:r>
              <a:rPr lang="en-US" altLang="ko-KR" sz="1200" dirty="0"/>
              <a:t>163</a:t>
            </a:r>
            <a:r>
              <a:rPr lang="ko-KR" altLang="en-US" sz="1200" dirty="0"/>
              <a:t>조는 “이 법에 따른 심판의 </a:t>
            </a:r>
            <a:r>
              <a:rPr lang="ko-KR" altLang="en-US" sz="1200" dirty="0" err="1"/>
              <a:t>심결이</a:t>
            </a:r>
            <a:r>
              <a:rPr lang="ko-KR" altLang="en-US" sz="1200" dirty="0"/>
              <a:t> 확정되었을 때에는 그 사건에 대해서는 누구든지 동일 사실 및 동일 증거에 의하여 다시 심판을 청구할 수 없다</a:t>
            </a:r>
            <a:r>
              <a:rPr lang="en-US" altLang="ko-KR" sz="1200" dirty="0"/>
              <a:t>. </a:t>
            </a:r>
            <a:r>
              <a:rPr lang="ko-KR" altLang="en-US" sz="1200" dirty="0"/>
              <a:t>다만</a:t>
            </a:r>
            <a:r>
              <a:rPr lang="en-US" altLang="ko-KR" sz="1200" dirty="0"/>
              <a:t>, </a:t>
            </a:r>
            <a:r>
              <a:rPr lang="ko-KR" altLang="en-US" sz="1200" dirty="0"/>
              <a:t>확정된 </a:t>
            </a:r>
            <a:r>
              <a:rPr lang="ko-KR" altLang="en-US" sz="1200" dirty="0" err="1"/>
              <a:t>심결이</a:t>
            </a:r>
            <a:r>
              <a:rPr lang="ko-KR" altLang="en-US" sz="1200" dirty="0"/>
              <a:t> </a:t>
            </a:r>
            <a:r>
              <a:rPr lang="ko-KR" altLang="en-US" sz="1200" dirty="0" err="1"/>
              <a:t>각하심결인</a:t>
            </a:r>
            <a:r>
              <a:rPr lang="ko-KR" altLang="en-US" sz="1200" dirty="0"/>
              <a:t> 경우에는 그러하지 아니하다</a:t>
            </a:r>
            <a:r>
              <a:rPr lang="en-US" altLang="ko-KR" sz="1200" dirty="0"/>
              <a:t>.”</a:t>
            </a:r>
            <a:r>
              <a:rPr lang="ko-KR" altLang="en-US" sz="1200" dirty="0"/>
              <a:t>라고 규정하고 있다</a:t>
            </a:r>
            <a:r>
              <a:rPr lang="en-US" altLang="ko-KR" sz="1200" dirty="0"/>
              <a:t>. </a:t>
            </a:r>
            <a:r>
              <a:rPr lang="ko-KR" altLang="en-US" sz="1200" dirty="0"/>
              <a:t>따라서</a:t>
            </a:r>
            <a:r>
              <a:rPr lang="en-US" altLang="ko-KR" sz="1200" dirty="0"/>
              <a:t>, </a:t>
            </a:r>
            <a:r>
              <a:rPr lang="ko-KR" altLang="en-US" sz="1200" dirty="0"/>
              <a:t>확정된 </a:t>
            </a:r>
            <a:r>
              <a:rPr lang="ko-KR" altLang="en-US" sz="1200" dirty="0" err="1"/>
              <a:t>심결이</a:t>
            </a:r>
            <a:r>
              <a:rPr lang="ko-KR" altLang="en-US" sz="1200" dirty="0"/>
              <a:t> 심판 청구의 적법요건을 갖추지 못하여 각하된 </a:t>
            </a:r>
            <a:r>
              <a:rPr lang="ko-KR" altLang="en-US" sz="1200" dirty="0" err="1"/>
              <a:t>심결인</a:t>
            </a:r>
            <a:r>
              <a:rPr lang="ko-KR" altLang="en-US" sz="1200" dirty="0"/>
              <a:t> 경우에는 특허법 제</a:t>
            </a:r>
            <a:r>
              <a:rPr lang="en-US" altLang="ko-KR" sz="1200" dirty="0"/>
              <a:t>163</a:t>
            </a:r>
            <a:r>
              <a:rPr lang="ko-KR" altLang="en-US" sz="1200" dirty="0"/>
              <a:t>조 단서에 따라 일사부재리의 효력이 없다</a:t>
            </a:r>
            <a:r>
              <a:rPr lang="en-US" altLang="ko-KR" sz="1200" dirty="0"/>
              <a:t>. </a:t>
            </a:r>
            <a:r>
              <a:rPr lang="ko-KR" altLang="en-US" sz="1200" dirty="0"/>
              <a:t>다음과 같은 점을 고려하면</a:t>
            </a:r>
            <a:r>
              <a:rPr lang="en-US" altLang="ko-KR" sz="1200" dirty="0"/>
              <a:t>, </a:t>
            </a:r>
            <a:r>
              <a:rPr lang="ko-KR" altLang="en-US" sz="1200" dirty="0">
                <a:highlight>
                  <a:srgbClr val="FFFF00"/>
                </a:highlight>
              </a:rPr>
              <a:t>위 단서 규정은 새로 제출된 증거가 선행 확정 </a:t>
            </a:r>
            <a:r>
              <a:rPr lang="ko-KR" altLang="en-US" sz="1200" dirty="0" err="1">
                <a:highlight>
                  <a:srgbClr val="FFFF00"/>
                </a:highlight>
              </a:rPr>
              <a:t>심결을</a:t>
            </a:r>
            <a:r>
              <a:rPr lang="ko-KR" altLang="en-US" sz="1200" dirty="0">
                <a:highlight>
                  <a:srgbClr val="FFFF00"/>
                </a:highlight>
              </a:rPr>
              <a:t> 번복할 수 있을 만큼 유력한 증거인지에 관한 심리판단이 이루어진 후 선행 확정 </a:t>
            </a:r>
            <a:r>
              <a:rPr lang="ko-KR" altLang="en-US" sz="1200" dirty="0" err="1">
                <a:highlight>
                  <a:srgbClr val="FFFF00"/>
                </a:highlight>
              </a:rPr>
              <a:t>심결과</a:t>
            </a:r>
            <a:r>
              <a:rPr lang="ko-KR" altLang="en-US" sz="1200" dirty="0">
                <a:highlight>
                  <a:srgbClr val="FFFF00"/>
                </a:highlight>
              </a:rPr>
              <a:t> 동일 증거에 의한 심판청구라는 이유로 각하된 </a:t>
            </a:r>
            <a:r>
              <a:rPr lang="ko-KR" altLang="en-US" sz="1200" dirty="0" err="1">
                <a:highlight>
                  <a:srgbClr val="FFFF00"/>
                </a:highlight>
              </a:rPr>
              <a:t>심결인</a:t>
            </a:r>
            <a:r>
              <a:rPr lang="ko-KR" altLang="en-US" sz="1200" dirty="0">
                <a:highlight>
                  <a:srgbClr val="FFFF00"/>
                </a:highlight>
              </a:rPr>
              <a:t> 경우에도 동일하게 적용된다고 보아야 한다</a:t>
            </a:r>
            <a:r>
              <a:rPr lang="en-US" altLang="ko-KR" sz="1200" dirty="0">
                <a:highlight>
                  <a:srgbClr val="FFFF00"/>
                </a:highlight>
              </a:rPr>
              <a:t>.</a:t>
            </a:r>
          </a:p>
          <a:p>
            <a:pPr marL="223838" indent="-223838" algn="just"/>
            <a:r>
              <a:rPr lang="ko-KR" altLang="en-US" sz="1200" dirty="0"/>
              <a:t>가</a:t>
            </a:r>
            <a:r>
              <a:rPr lang="en-US" altLang="ko-KR" sz="1200" dirty="0"/>
              <a:t>. </a:t>
            </a:r>
            <a:r>
              <a:rPr lang="ko-KR" altLang="en-US" sz="1200" dirty="0"/>
              <a:t>종래 심판청구의 적법요건을 갖추지 못해 각하된 </a:t>
            </a:r>
            <a:r>
              <a:rPr lang="ko-KR" altLang="en-US" sz="1200" dirty="0" err="1"/>
              <a:t>심결이</a:t>
            </a:r>
            <a:r>
              <a:rPr lang="ko-KR" altLang="en-US" sz="1200" dirty="0"/>
              <a:t> 확정된 경우에 일사부재리의 효력이 있는지에 관하여 견해대립이 있었으나</a:t>
            </a:r>
            <a:r>
              <a:rPr lang="en-US" altLang="ko-KR" sz="1200" dirty="0"/>
              <a:t>, </a:t>
            </a:r>
            <a:r>
              <a:rPr lang="en-US" altLang="ko-KR" sz="1200" dirty="0">
                <a:highlight>
                  <a:srgbClr val="CCECFF"/>
                </a:highlight>
              </a:rPr>
              <a:t>2001. 2. 3. </a:t>
            </a:r>
            <a:r>
              <a:rPr lang="ko-KR" altLang="en-US" sz="1200" dirty="0">
                <a:highlight>
                  <a:srgbClr val="CCECFF"/>
                </a:highlight>
              </a:rPr>
              <a:t>법률 제</a:t>
            </a:r>
            <a:r>
              <a:rPr lang="en-US" altLang="ko-KR" sz="1200" dirty="0">
                <a:highlight>
                  <a:srgbClr val="CCECFF"/>
                </a:highlight>
              </a:rPr>
              <a:t>6411</a:t>
            </a:r>
            <a:r>
              <a:rPr lang="ko-KR" altLang="en-US" sz="1200" dirty="0">
                <a:highlight>
                  <a:srgbClr val="CCECFF"/>
                </a:highlight>
              </a:rPr>
              <a:t>호로 일부 개정된 특허법에서 위 단서 규정을 신설함으로써</a:t>
            </a:r>
            <a:r>
              <a:rPr lang="en-US" altLang="ko-KR" sz="1200" dirty="0">
                <a:highlight>
                  <a:srgbClr val="CCECFF"/>
                </a:highlight>
              </a:rPr>
              <a:t>, </a:t>
            </a:r>
            <a:r>
              <a:rPr lang="ko-KR" altLang="en-US" sz="1200" dirty="0" err="1">
                <a:highlight>
                  <a:srgbClr val="CCECFF"/>
                </a:highlight>
              </a:rPr>
              <a:t>각하심결에</a:t>
            </a:r>
            <a:r>
              <a:rPr lang="ko-KR" altLang="en-US" sz="1200" dirty="0">
                <a:highlight>
                  <a:srgbClr val="CCECFF"/>
                </a:highlight>
              </a:rPr>
              <a:t> 대하여는 일사부재리의 효력이 없음을 명확히 하였다</a:t>
            </a:r>
            <a:r>
              <a:rPr lang="en-US" altLang="ko-KR" sz="1200" dirty="0">
                <a:highlight>
                  <a:srgbClr val="CCECFF"/>
                </a:highlight>
              </a:rPr>
              <a:t>.</a:t>
            </a:r>
          </a:p>
          <a:p>
            <a:pPr marL="223838" indent="-223838" algn="just"/>
            <a:r>
              <a:rPr lang="ko-KR" altLang="en-US" sz="1200" dirty="0"/>
              <a:t>나</a:t>
            </a:r>
            <a:r>
              <a:rPr lang="en-US" altLang="ko-KR" sz="1200" dirty="0"/>
              <a:t>. </a:t>
            </a:r>
            <a:r>
              <a:rPr lang="ko-KR" altLang="en-US" sz="1200" dirty="0"/>
              <a:t>특허법 제</a:t>
            </a:r>
            <a:r>
              <a:rPr lang="en-US" altLang="ko-KR" sz="1200" dirty="0"/>
              <a:t>163</a:t>
            </a:r>
            <a:r>
              <a:rPr lang="ko-KR" altLang="en-US" sz="1200" dirty="0"/>
              <a:t>조의 ‘동일 </a:t>
            </a:r>
            <a:r>
              <a:rPr lang="ko-KR" altLang="en-US" sz="1200" dirty="0" err="1"/>
              <a:t>증거’라</a:t>
            </a:r>
            <a:r>
              <a:rPr lang="ko-KR" altLang="en-US" sz="1200" dirty="0"/>
              <a:t> 함은 전에 확정된 </a:t>
            </a:r>
            <a:r>
              <a:rPr lang="ko-KR" altLang="en-US" sz="1200" dirty="0" err="1"/>
              <a:t>심결의</a:t>
            </a:r>
            <a:r>
              <a:rPr lang="ko-KR" altLang="en-US" sz="1200" dirty="0"/>
              <a:t> 증거와 동일한 증거만이 아니라 그 </a:t>
            </a:r>
            <a:r>
              <a:rPr lang="ko-KR" altLang="en-US" sz="1200" dirty="0" err="1"/>
              <a:t>심결을</a:t>
            </a:r>
            <a:r>
              <a:rPr lang="ko-KR" altLang="en-US" sz="1200" dirty="0"/>
              <a:t> 번복할 수 있을 정도로 유력하지 않은 증거가 부가되는 것도 포함한다</a:t>
            </a:r>
            <a:r>
              <a:rPr lang="en-US" altLang="ko-KR" sz="1200" dirty="0"/>
              <a:t>(</a:t>
            </a:r>
            <a:r>
              <a:rPr lang="ko-KR" altLang="en-US" sz="1200" dirty="0"/>
              <a:t>대법원 </a:t>
            </a:r>
            <a:r>
              <a:rPr lang="en-US" altLang="ko-KR" sz="1200" dirty="0"/>
              <a:t>2005. 3. 11. </a:t>
            </a:r>
            <a:r>
              <a:rPr lang="ko-KR" altLang="en-US" sz="1200" dirty="0"/>
              <a:t>선고 </a:t>
            </a:r>
            <a:r>
              <a:rPr lang="en-US" altLang="ko-KR" sz="1200" dirty="0"/>
              <a:t>2004</a:t>
            </a:r>
            <a:r>
              <a:rPr lang="ko-KR" altLang="en-US" sz="1200" dirty="0"/>
              <a:t>후</a:t>
            </a:r>
            <a:r>
              <a:rPr lang="en-US" altLang="ko-KR" sz="1200" dirty="0"/>
              <a:t>42 </a:t>
            </a:r>
            <a:r>
              <a:rPr lang="ko-KR" altLang="en-US" sz="1200" dirty="0"/>
              <a:t>판결 등 참조</a:t>
            </a:r>
            <a:r>
              <a:rPr lang="en-US" altLang="ko-KR" sz="1200" dirty="0"/>
              <a:t>). </a:t>
            </a:r>
            <a:r>
              <a:rPr lang="ko-KR" altLang="en-US" sz="1200" dirty="0"/>
              <a:t>이에 따라</a:t>
            </a:r>
            <a:r>
              <a:rPr lang="en-US" altLang="ko-KR" sz="1200" dirty="0"/>
              <a:t>, </a:t>
            </a:r>
            <a:r>
              <a:rPr lang="ko-KR" altLang="en-US" sz="1200" dirty="0">
                <a:highlight>
                  <a:srgbClr val="CCECFF"/>
                </a:highlight>
              </a:rPr>
              <a:t>후행 심판에서 새로 제출된 증거가 확정된 </a:t>
            </a:r>
            <a:r>
              <a:rPr lang="ko-KR" altLang="en-US" sz="1200" dirty="0" err="1">
                <a:highlight>
                  <a:srgbClr val="CCECFF"/>
                </a:highlight>
              </a:rPr>
              <a:t>심결의</a:t>
            </a:r>
            <a:r>
              <a:rPr lang="ko-KR" altLang="en-US" sz="1200" dirty="0">
                <a:highlight>
                  <a:srgbClr val="CCECFF"/>
                </a:highlight>
              </a:rPr>
              <a:t> 증거와 동일 증거인지 판단하기 위해서는 선행 확정 </a:t>
            </a:r>
            <a:r>
              <a:rPr lang="ko-KR" altLang="en-US" sz="1200" dirty="0" err="1">
                <a:highlight>
                  <a:srgbClr val="CCECFF"/>
                </a:highlight>
              </a:rPr>
              <a:t>심결을</a:t>
            </a:r>
            <a:r>
              <a:rPr lang="ko-KR" altLang="en-US" sz="1200" dirty="0">
                <a:highlight>
                  <a:srgbClr val="CCECFF"/>
                </a:highlight>
              </a:rPr>
              <a:t> 번복할 수 있을지를 심리</a:t>
            </a:r>
            <a:r>
              <a:rPr lang="en-US" altLang="ko-KR" sz="1200" dirty="0">
                <a:highlight>
                  <a:srgbClr val="CCECFF"/>
                </a:highlight>
              </a:rPr>
              <a:t>, </a:t>
            </a:r>
            <a:r>
              <a:rPr lang="ko-KR" altLang="en-US" sz="1200" dirty="0">
                <a:highlight>
                  <a:srgbClr val="CCECFF"/>
                </a:highlight>
              </a:rPr>
              <a:t>판단하게 되고</a:t>
            </a:r>
            <a:r>
              <a:rPr lang="en-US" altLang="ko-KR" sz="1200" dirty="0">
                <a:highlight>
                  <a:srgbClr val="CCECFF"/>
                </a:highlight>
              </a:rPr>
              <a:t>, </a:t>
            </a:r>
            <a:r>
              <a:rPr lang="ko-KR" altLang="en-US" sz="1200" dirty="0">
                <a:highlight>
                  <a:srgbClr val="CCECFF"/>
                </a:highlight>
              </a:rPr>
              <a:t>그 과정에서 본안에 관한 판단이 선행되는 것과 같은 결과가 발생하기도 한다</a:t>
            </a:r>
            <a:r>
              <a:rPr lang="en-US" altLang="ko-KR" sz="1200" dirty="0">
                <a:highlight>
                  <a:srgbClr val="CCECFF"/>
                </a:highlight>
              </a:rPr>
              <a:t>. </a:t>
            </a:r>
            <a:r>
              <a:rPr lang="ko-KR" altLang="en-US" sz="1200" dirty="0">
                <a:highlight>
                  <a:srgbClr val="CCECFF"/>
                </a:highlight>
              </a:rPr>
              <a:t>하지만</a:t>
            </a:r>
            <a:r>
              <a:rPr lang="en-US" altLang="ko-KR" sz="1200" dirty="0">
                <a:highlight>
                  <a:srgbClr val="CCECFF"/>
                </a:highlight>
              </a:rPr>
              <a:t>, </a:t>
            </a:r>
            <a:r>
              <a:rPr lang="ko-KR" altLang="en-US" sz="1200" dirty="0">
                <a:highlight>
                  <a:srgbClr val="CCECFF"/>
                </a:highlight>
              </a:rPr>
              <a:t>일사부재리 원칙은 심판청구의 적법요건일 뿐이어서</a:t>
            </a:r>
            <a:r>
              <a:rPr lang="en-US" altLang="ko-KR" sz="1200" dirty="0">
                <a:highlight>
                  <a:srgbClr val="CCECFF"/>
                </a:highlight>
              </a:rPr>
              <a:t>, </a:t>
            </a:r>
            <a:r>
              <a:rPr lang="ko-KR" altLang="en-US" sz="1200" dirty="0">
                <a:highlight>
                  <a:srgbClr val="CCECFF"/>
                </a:highlight>
              </a:rPr>
              <a:t>위와 같은 경우라도 일사부재리 원칙을 위반하여 심판청구가 </a:t>
            </a:r>
            <a:r>
              <a:rPr lang="ko-KR" altLang="en-US" sz="1200" dirty="0" err="1">
                <a:highlight>
                  <a:srgbClr val="CCECFF"/>
                </a:highlight>
              </a:rPr>
              <a:t>부적법하다고</a:t>
            </a:r>
            <a:r>
              <a:rPr lang="ko-KR" altLang="en-US" sz="1200" dirty="0">
                <a:highlight>
                  <a:srgbClr val="CCECFF"/>
                </a:highlight>
              </a:rPr>
              <a:t> 한 </a:t>
            </a:r>
            <a:r>
              <a:rPr lang="ko-KR" altLang="en-US" sz="1200" dirty="0" err="1">
                <a:highlight>
                  <a:srgbClr val="CCECFF"/>
                </a:highlight>
              </a:rPr>
              <a:t>각하심결을</a:t>
            </a:r>
            <a:r>
              <a:rPr lang="ko-KR" altLang="en-US" sz="1200" dirty="0">
                <a:highlight>
                  <a:srgbClr val="CCECFF"/>
                </a:highlight>
              </a:rPr>
              <a:t> 본안에 관한 실체심리가 이루어진 </a:t>
            </a:r>
            <a:r>
              <a:rPr lang="ko-KR" altLang="en-US" sz="1200" dirty="0" err="1">
                <a:highlight>
                  <a:srgbClr val="CCECFF"/>
                </a:highlight>
              </a:rPr>
              <a:t>기각심결과</a:t>
            </a:r>
            <a:r>
              <a:rPr lang="ko-KR" altLang="en-US" sz="1200" dirty="0">
                <a:highlight>
                  <a:srgbClr val="CCECFF"/>
                </a:highlight>
              </a:rPr>
              <a:t> 동일하게 취급하는 것은 문언의 가능한 해석 범위를 넘어선다</a:t>
            </a:r>
            <a:r>
              <a:rPr lang="en-US" altLang="ko-KR" sz="1200" dirty="0">
                <a:highlight>
                  <a:srgbClr val="CCECFF"/>
                </a:highlight>
              </a:rPr>
              <a:t>.</a:t>
            </a:r>
          </a:p>
          <a:p>
            <a:pPr marL="223838" indent="-223838" algn="just"/>
            <a:r>
              <a:rPr lang="ko-KR" altLang="en-US" sz="1200" dirty="0"/>
              <a:t>다</a:t>
            </a:r>
            <a:r>
              <a:rPr lang="en-US" altLang="ko-KR" sz="1200" dirty="0"/>
              <a:t>. </a:t>
            </a:r>
            <a:r>
              <a:rPr lang="ko-KR" altLang="en-US" sz="1200" dirty="0"/>
              <a:t>심판청구의 남용을 막고</a:t>
            </a:r>
            <a:r>
              <a:rPr lang="en-US" altLang="ko-KR" sz="1200" dirty="0"/>
              <a:t>, </a:t>
            </a:r>
            <a:r>
              <a:rPr lang="ko-KR" altLang="en-US" sz="1200" dirty="0" err="1"/>
              <a:t>모순저촉되는</a:t>
            </a:r>
            <a:r>
              <a:rPr lang="ko-KR" altLang="en-US" sz="1200" dirty="0"/>
              <a:t> 복수의 </a:t>
            </a:r>
            <a:r>
              <a:rPr lang="ko-KR" altLang="en-US" sz="1200" dirty="0" err="1"/>
              <a:t>심결이</a:t>
            </a:r>
            <a:r>
              <a:rPr lang="ko-KR" altLang="en-US" sz="1200" dirty="0"/>
              <a:t> 발생하는 것을 방지하고자 하는 일</a:t>
            </a:r>
            <a:r>
              <a:rPr lang="ko-KR" altLang="en-US" sz="1200" dirty="0">
                <a:highlight>
                  <a:srgbClr val="CCECFF"/>
                </a:highlight>
              </a:rPr>
              <a:t>사부재리 제도의 취지를 고려하더라도</a:t>
            </a:r>
            <a:r>
              <a:rPr lang="en-US" altLang="ko-KR" sz="1200" dirty="0">
                <a:highlight>
                  <a:srgbClr val="CCECFF"/>
                </a:highlight>
              </a:rPr>
              <a:t>, 1) </a:t>
            </a:r>
            <a:r>
              <a:rPr lang="ko-KR" altLang="en-US" sz="1200" dirty="0">
                <a:highlight>
                  <a:srgbClr val="CCECFF"/>
                </a:highlight>
              </a:rPr>
              <a:t>심판청구권 보장 역시 중요한 가치인 점</a:t>
            </a:r>
            <a:r>
              <a:rPr lang="en-US" altLang="ko-KR" sz="1200" dirty="0">
                <a:highlight>
                  <a:srgbClr val="CCECFF"/>
                </a:highlight>
              </a:rPr>
              <a:t>, 2) </a:t>
            </a:r>
            <a:r>
              <a:rPr lang="ko-KR" altLang="en-US" sz="1200" dirty="0">
                <a:highlight>
                  <a:srgbClr val="CCECFF"/>
                </a:highlight>
              </a:rPr>
              <a:t>현행 특허법 제</a:t>
            </a:r>
            <a:r>
              <a:rPr lang="en-US" altLang="ko-KR" sz="1200" dirty="0">
                <a:highlight>
                  <a:srgbClr val="CCECFF"/>
                </a:highlight>
              </a:rPr>
              <a:t>163</a:t>
            </a:r>
            <a:r>
              <a:rPr lang="ko-KR" altLang="en-US" sz="1200" dirty="0">
                <a:highlight>
                  <a:srgbClr val="CCECFF"/>
                </a:highlight>
              </a:rPr>
              <a:t>조는 일사부재리 효력이 제</a:t>
            </a:r>
            <a:r>
              <a:rPr lang="en-US" altLang="ko-KR" sz="1200" dirty="0">
                <a:highlight>
                  <a:srgbClr val="CCECFF"/>
                </a:highlight>
              </a:rPr>
              <a:t>3</a:t>
            </a:r>
            <a:r>
              <a:rPr lang="ko-KR" altLang="en-US" sz="1200" dirty="0" err="1">
                <a:highlight>
                  <a:srgbClr val="CCECFF"/>
                </a:highlight>
              </a:rPr>
              <a:t>자에게까지</a:t>
            </a:r>
            <a:r>
              <a:rPr lang="ko-KR" altLang="en-US" sz="1200" dirty="0">
                <a:highlight>
                  <a:srgbClr val="CCECFF"/>
                </a:highlight>
              </a:rPr>
              <a:t> 미치도록 하고 있다는 점</a:t>
            </a:r>
            <a:r>
              <a:rPr lang="ko-KR" altLang="en-US" sz="1200" dirty="0"/>
              <a:t>에서 특허법 제</a:t>
            </a:r>
            <a:r>
              <a:rPr lang="en-US" altLang="ko-KR" sz="1200" dirty="0"/>
              <a:t>163</a:t>
            </a:r>
            <a:r>
              <a:rPr lang="ko-KR" altLang="en-US" sz="1200" dirty="0"/>
              <a:t>조 단서의 예외를 인정하여 그 적용 범위를 확대하는 것은 정당화되기 어렵다</a:t>
            </a:r>
            <a:r>
              <a:rPr lang="en-US" altLang="ko-KR" sz="1200" dirty="0"/>
              <a:t>.</a:t>
            </a:r>
            <a:endParaRPr lang="en-US" altLang="ko-KR" sz="1200" dirty="0">
              <a:solidFill>
                <a:srgbClr val="FF0000"/>
              </a:solidFill>
            </a:endParaRPr>
          </a:p>
        </p:txBody>
      </p:sp>
      <p:sp>
        <p:nvSpPr>
          <p:cNvPr id="42" name="Line 5">
            <a:extLst>
              <a:ext uri="{FF2B5EF4-FFF2-40B4-BE49-F238E27FC236}">
                <a16:creationId xmlns:a16="http://schemas.microsoft.com/office/drawing/2014/main" id="{C3D521F3-C89A-4691-A233-1BC4F6DB64D3}"/>
              </a:ext>
            </a:extLst>
          </p:cNvPr>
          <p:cNvSpPr>
            <a:spLocks noChangeShapeType="1"/>
          </p:cNvSpPr>
          <p:nvPr/>
        </p:nvSpPr>
        <p:spPr bwMode="auto">
          <a:xfrm>
            <a:off x="514351" y="4146439"/>
            <a:ext cx="11530012" cy="0"/>
          </a:xfrm>
          <a:prstGeom prst="line">
            <a:avLst/>
          </a:prstGeom>
          <a:noFill/>
          <a:ln w="57150">
            <a:solidFill>
              <a:schemeClr val="bg1">
                <a:lumMod val="50000"/>
              </a:schemeClr>
            </a:solidFill>
            <a:round/>
            <a:headEnd/>
            <a:tailEnd type="stealth" w="med" len="med"/>
          </a:ln>
        </p:spPr>
        <p:txBody>
          <a:bodyPr/>
          <a:lstStyle/>
          <a:p>
            <a:endParaRPr lang="ko-KR" altLang="en-US" sz="1100">
              <a:latin typeface="+mn-ea"/>
            </a:endParaRPr>
          </a:p>
        </p:txBody>
      </p:sp>
      <p:sp>
        <p:nvSpPr>
          <p:cNvPr id="44" name="TextBox 43">
            <a:extLst>
              <a:ext uri="{FF2B5EF4-FFF2-40B4-BE49-F238E27FC236}">
                <a16:creationId xmlns:a16="http://schemas.microsoft.com/office/drawing/2014/main" id="{890F57E0-0C93-429E-B52D-950B18A62824}"/>
              </a:ext>
            </a:extLst>
          </p:cNvPr>
          <p:cNvSpPr txBox="1"/>
          <p:nvPr/>
        </p:nvSpPr>
        <p:spPr>
          <a:xfrm>
            <a:off x="660560" y="4402614"/>
            <a:ext cx="1061500" cy="430887"/>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甲 무효심판</a:t>
            </a:r>
            <a:endParaRPr lang="en-US" altLang="ko-KR" sz="1100" dirty="0">
              <a:solidFill>
                <a:schemeClr val="tx1"/>
              </a:solidFill>
              <a:latin typeface="+mn-ea"/>
            </a:endParaRPr>
          </a:p>
          <a:p>
            <a:pPr algn="ctr"/>
            <a:r>
              <a:rPr lang="en-US" altLang="ko-KR" sz="1100" dirty="0">
                <a:solidFill>
                  <a:schemeClr val="tx1"/>
                </a:solidFill>
                <a:latin typeface="+mn-ea"/>
              </a:rPr>
              <a:t>(</a:t>
            </a:r>
            <a:r>
              <a:rPr lang="ko-KR" altLang="en-US" sz="1100" dirty="0" err="1">
                <a:solidFill>
                  <a:schemeClr val="tx1"/>
                </a:solidFill>
                <a:latin typeface="+mn-ea"/>
              </a:rPr>
              <a:t>기각심결확정</a:t>
            </a:r>
            <a:r>
              <a:rPr lang="en-US" altLang="ko-KR" sz="1100" dirty="0">
                <a:solidFill>
                  <a:schemeClr val="tx1"/>
                </a:solidFill>
                <a:latin typeface="+mn-ea"/>
              </a:rPr>
              <a:t>)</a:t>
            </a:r>
            <a:endParaRPr lang="ko-KR" altLang="en-US" sz="1100" dirty="0">
              <a:solidFill>
                <a:schemeClr val="tx1"/>
              </a:solidFill>
              <a:latin typeface="+mn-ea"/>
            </a:endParaRPr>
          </a:p>
        </p:txBody>
      </p:sp>
      <p:sp>
        <p:nvSpPr>
          <p:cNvPr id="47" name="타원 46">
            <a:extLst>
              <a:ext uri="{FF2B5EF4-FFF2-40B4-BE49-F238E27FC236}">
                <a16:creationId xmlns:a16="http://schemas.microsoft.com/office/drawing/2014/main" id="{1E416A6A-17E0-4A3B-8C28-9560A00280A4}"/>
              </a:ext>
            </a:extLst>
          </p:cNvPr>
          <p:cNvSpPr/>
          <p:nvPr/>
        </p:nvSpPr>
        <p:spPr>
          <a:xfrm>
            <a:off x="1113940" y="405250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48" name="직선 연결선 47">
            <a:extLst>
              <a:ext uri="{FF2B5EF4-FFF2-40B4-BE49-F238E27FC236}">
                <a16:creationId xmlns:a16="http://schemas.microsoft.com/office/drawing/2014/main" id="{94B9FD84-6472-4A38-96A7-0961D12BE1A4}"/>
              </a:ext>
            </a:extLst>
          </p:cNvPr>
          <p:cNvCxnSpPr>
            <a:cxnSpLocks/>
            <a:stCxn id="44" idx="0"/>
            <a:endCxn id="47" idx="4"/>
          </p:cNvCxnSpPr>
          <p:nvPr/>
        </p:nvCxnSpPr>
        <p:spPr>
          <a:xfrm flipH="1" flipV="1">
            <a:off x="1191309" y="421384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4E752647-CA77-4730-9828-80C4ADAC153D}"/>
              </a:ext>
            </a:extLst>
          </p:cNvPr>
          <p:cNvSpPr txBox="1"/>
          <p:nvPr/>
        </p:nvSpPr>
        <p:spPr>
          <a:xfrm>
            <a:off x="7699303" y="4402613"/>
            <a:ext cx="903844" cy="430883"/>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nchor="ctr">
            <a:noAutofit/>
          </a:bodyPr>
          <a:lstStyle/>
          <a:p>
            <a:pPr algn="ctr"/>
            <a:r>
              <a:rPr lang="en-US" altLang="ko-KR" sz="1100" dirty="0">
                <a:solidFill>
                  <a:schemeClr val="tx1"/>
                </a:solidFill>
                <a:latin typeface="+mn-ea"/>
              </a:rPr>
              <a:t>(</a:t>
            </a:r>
            <a:r>
              <a:rPr lang="ko-KR" altLang="en-US" sz="1100" dirty="0" err="1">
                <a:solidFill>
                  <a:schemeClr val="tx1"/>
                </a:solidFill>
                <a:latin typeface="+mn-ea"/>
              </a:rPr>
              <a:t>특</a:t>
            </a:r>
            <a:r>
              <a:rPr lang="en-US" altLang="ko-KR" sz="1100" dirty="0">
                <a:solidFill>
                  <a:schemeClr val="tx1"/>
                </a:solidFill>
                <a:latin typeface="+mn-ea"/>
              </a:rPr>
              <a:t>) </a:t>
            </a:r>
            <a:r>
              <a:rPr lang="ko-KR" altLang="en-US" sz="1100" dirty="0">
                <a:solidFill>
                  <a:schemeClr val="tx1"/>
                </a:solidFill>
                <a:latin typeface="+mn-ea"/>
              </a:rPr>
              <a:t>소제기</a:t>
            </a:r>
          </a:p>
        </p:txBody>
      </p:sp>
      <p:sp>
        <p:nvSpPr>
          <p:cNvPr id="56" name="타원 55">
            <a:extLst>
              <a:ext uri="{FF2B5EF4-FFF2-40B4-BE49-F238E27FC236}">
                <a16:creationId xmlns:a16="http://schemas.microsoft.com/office/drawing/2014/main" id="{CA50C72E-8883-4BC0-9B5A-9B09990D79CD}"/>
              </a:ext>
            </a:extLst>
          </p:cNvPr>
          <p:cNvSpPr/>
          <p:nvPr/>
        </p:nvSpPr>
        <p:spPr>
          <a:xfrm>
            <a:off x="8073855" y="4052505"/>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57" name="직선 연결선 56">
            <a:extLst>
              <a:ext uri="{FF2B5EF4-FFF2-40B4-BE49-F238E27FC236}">
                <a16:creationId xmlns:a16="http://schemas.microsoft.com/office/drawing/2014/main" id="{52B3968F-EB0B-4EEB-88EC-8B7FF3F3AE32}"/>
              </a:ext>
            </a:extLst>
          </p:cNvPr>
          <p:cNvCxnSpPr>
            <a:cxnSpLocks/>
            <a:stCxn id="55" idx="0"/>
            <a:endCxn id="56" idx="4"/>
          </p:cNvCxnSpPr>
          <p:nvPr/>
        </p:nvCxnSpPr>
        <p:spPr>
          <a:xfrm flipH="1" flipV="1">
            <a:off x="8151224" y="4213843"/>
            <a:ext cx="1" cy="18877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573B864B-59F2-4BA5-BF6F-47FFC60441B2}"/>
              </a:ext>
            </a:extLst>
          </p:cNvPr>
          <p:cNvSpPr txBox="1"/>
          <p:nvPr/>
        </p:nvSpPr>
        <p:spPr>
          <a:xfrm>
            <a:off x="407821" y="4950547"/>
            <a:ext cx="1566978" cy="26161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진보성 위반 </a:t>
            </a:r>
            <a:r>
              <a:rPr lang="en-US" altLang="ko-KR" sz="1100" dirty="0">
                <a:solidFill>
                  <a:schemeClr val="tx1"/>
                </a:solidFill>
                <a:latin typeface="+mn-ea"/>
              </a:rPr>
              <a:t>by </a:t>
            </a:r>
            <a:r>
              <a:rPr lang="ko-KR" altLang="en-US" sz="1100" dirty="0">
                <a:solidFill>
                  <a:schemeClr val="tx1"/>
                </a:solidFill>
                <a:latin typeface="+mn-ea"/>
              </a:rPr>
              <a:t>선행 </a:t>
            </a:r>
            <a:r>
              <a:rPr lang="en-US" altLang="ko-KR" sz="1100" dirty="0">
                <a:solidFill>
                  <a:schemeClr val="tx1"/>
                </a:solidFill>
                <a:latin typeface="+mn-ea"/>
              </a:rPr>
              <a:t>3</a:t>
            </a:r>
            <a:endParaRPr lang="ko-KR" altLang="en-US" sz="1100" dirty="0">
              <a:solidFill>
                <a:schemeClr val="tx1"/>
              </a:solidFill>
              <a:latin typeface="+mn-ea"/>
            </a:endParaRPr>
          </a:p>
        </p:txBody>
      </p:sp>
      <p:cxnSp>
        <p:nvCxnSpPr>
          <p:cNvPr id="8" name="직선 연결선 7">
            <a:extLst>
              <a:ext uri="{FF2B5EF4-FFF2-40B4-BE49-F238E27FC236}">
                <a16:creationId xmlns:a16="http://schemas.microsoft.com/office/drawing/2014/main" id="{78FA4ACE-01F8-4A17-B306-7D24424AE20E}"/>
              </a:ext>
            </a:extLst>
          </p:cNvPr>
          <p:cNvCxnSpPr>
            <a:cxnSpLocks/>
            <a:stCxn id="36" idx="0"/>
            <a:endCxn id="44" idx="2"/>
          </p:cNvCxnSpPr>
          <p:nvPr/>
        </p:nvCxnSpPr>
        <p:spPr>
          <a:xfrm flipV="1">
            <a:off x="1191310" y="4833501"/>
            <a:ext cx="0" cy="11704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92870961-7113-44E7-A09D-EB1E428958DF}"/>
              </a:ext>
            </a:extLst>
          </p:cNvPr>
          <p:cNvSpPr txBox="1"/>
          <p:nvPr/>
        </p:nvSpPr>
        <p:spPr>
          <a:xfrm>
            <a:off x="4219208" y="4402613"/>
            <a:ext cx="879002" cy="430883"/>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nchor="ctr">
            <a:noAutofit/>
          </a:bodyPr>
          <a:lstStyle/>
          <a:p>
            <a:pPr algn="ctr"/>
            <a:r>
              <a:rPr lang="ko-KR" altLang="en-US" sz="1100" dirty="0">
                <a:solidFill>
                  <a:schemeClr val="tx1"/>
                </a:solidFill>
                <a:latin typeface="+mn-ea"/>
              </a:rPr>
              <a:t>丙 무효심판</a:t>
            </a:r>
          </a:p>
        </p:txBody>
      </p:sp>
      <p:sp>
        <p:nvSpPr>
          <p:cNvPr id="41" name="타원 40">
            <a:extLst>
              <a:ext uri="{FF2B5EF4-FFF2-40B4-BE49-F238E27FC236}">
                <a16:creationId xmlns:a16="http://schemas.microsoft.com/office/drawing/2014/main" id="{C4D937AA-A7B0-40AE-B45B-7C6574C2C3AA}"/>
              </a:ext>
            </a:extLst>
          </p:cNvPr>
          <p:cNvSpPr/>
          <p:nvPr/>
        </p:nvSpPr>
        <p:spPr>
          <a:xfrm>
            <a:off x="4581339" y="4052505"/>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43" name="직선 연결선 42">
            <a:extLst>
              <a:ext uri="{FF2B5EF4-FFF2-40B4-BE49-F238E27FC236}">
                <a16:creationId xmlns:a16="http://schemas.microsoft.com/office/drawing/2014/main" id="{A0D91A23-6C4C-4D4B-9AA8-C9707D9C82DF}"/>
              </a:ext>
            </a:extLst>
          </p:cNvPr>
          <p:cNvCxnSpPr>
            <a:cxnSpLocks/>
            <a:stCxn id="40" idx="0"/>
            <a:endCxn id="41" idx="4"/>
          </p:cNvCxnSpPr>
          <p:nvPr/>
        </p:nvCxnSpPr>
        <p:spPr>
          <a:xfrm flipH="1" flipV="1">
            <a:off x="4658708" y="4213843"/>
            <a:ext cx="1" cy="18877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0A4CB4C9-0D8E-4EA5-A875-8F3EE3A47E86}"/>
              </a:ext>
            </a:extLst>
          </p:cNvPr>
          <p:cNvSpPr txBox="1"/>
          <p:nvPr/>
        </p:nvSpPr>
        <p:spPr>
          <a:xfrm>
            <a:off x="5309293" y="4402613"/>
            <a:ext cx="1051254" cy="430883"/>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nchor="ctr">
            <a:noAutofit/>
          </a:bodyPr>
          <a:lstStyle/>
          <a:p>
            <a:pPr algn="ctr"/>
            <a:r>
              <a:rPr lang="ko-KR" altLang="en-US" sz="1100" dirty="0">
                <a:solidFill>
                  <a:schemeClr val="tx1"/>
                </a:solidFill>
                <a:latin typeface="+mn-ea"/>
              </a:rPr>
              <a:t> </a:t>
            </a:r>
            <a:r>
              <a:rPr lang="en-US" altLang="ko-KR" sz="1100" dirty="0">
                <a:solidFill>
                  <a:schemeClr val="tx1"/>
                </a:solidFill>
                <a:latin typeface="+mn-ea"/>
              </a:rPr>
              <a:t>(</a:t>
            </a:r>
            <a:r>
              <a:rPr lang="ko-KR" altLang="en-US" sz="1100" dirty="0" err="1">
                <a:solidFill>
                  <a:schemeClr val="tx1"/>
                </a:solidFill>
                <a:latin typeface="+mn-ea"/>
              </a:rPr>
              <a:t>특</a:t>
            </a:r>
            <a:r>
              <a:rPr lang="en-US" altLang="ko-KR" sz="1100" dirty="0">
                <a:solidFill>
                  <a:schemeClr val="tx1"/>
                </a:solidFill>
                <a:latin typeface="+mn-ea"/>
              </a:rPr>
              <a:t>)</a:t>
            </a:r>
            <a:r>
              <a:rPr lang="ko-KR" altLang="en-US" sz="1100" dirty="0">
                <a:solidFill>
                  <a:schemeClr val="tx1"/>
                </a:solidFill>
                <a:latin typeface="+mn-ea"/>
              </a:rPr>
              <a:t> 정정청구</a:t>
            </a:r>
          </a:p>
        </p:txBody>
      </p:sp>
      <p:sp>
        <p:nvSpPr>
          <p:cNvPr id="65" name="타원 64">
            <a:extLst>
              <a:ext uri="{FF2B5EF4-FFF2-40B4-BE49-F238E27FC236}">
                <a16:creationId xmlns:a16="http://schemas.microsoft.com/office/drawing/2014/main" id="{4212CB8D-340A-4481-AD0F-E12545400930}"/>
              </a:ext>
            </a:extLst>
          </p:cNvPr>
          <p:cNvSpPr/>
          <p:nvPr/>
        </p:nvSpPr>
        <p:spPr>
          <a:xfrm>
            <a:off x="5757550" y="4052505"/>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66" name="직선 연결선 65">
            <a:extLst>
              <a:ext uri="{FF2B5EF4-FFF2-40B4-BE49-F238E27FC236}">
                <a16:creationId xmlns:a16="http://schemas.microsoft.com/office/drawing/2014/main" id="{6B69D885-7404-4F57-AE60-4ED6ED792BA7}"/>
              </a:ext>
            </a:extLst>
          </p:cNvPr>
          <p:cNvCxnSpPr>
            <a:cxnSpLocks/>
            <a:stCxn id="64" idx="0"/>
            <a:endCxn id="65" idx="4"/>
          </p:cNvCxnSpPr>
          <p:nvPr/>
        </p:nvCxnSpPr>
        <p:spPr>
          <a:xfrm flipH="1" flipV="1">
            <a:off x="5834919" y="4213843"/>
            <a:ext cx="1" cy="18877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8DFFD9B4-DD50-4A0C-A73F-3AF78BD49A1A}"/>
              </a:ext>
            </a:extLst>
          </p:cNvPr>
          <p:cNvSpPr txBox="1"/>
          <p:nvPr/>
        </p:nvSpPr>
        <p:spPr>
          <a:xfrm>
            <a:off x="8788152" y="4402614"/>
            <a:ext cx="749194" cy="430887"/>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인용판결</a:t>
            </a:r>
            <a:endParaRPr lang="en-US" altLang="ko-KR" sz="1100" dirty="0">
              <a:solidFill>
                <a:schemeClr val="tx1"/>
              </a:solidFill>
              <a:latin typeface="+mn-ea"/>
            </a:endParaRPr>
          </a:p>
          <a:p>
            <a:pPr algn="ctr"/>
            <a:r>
              <a:rPr lang="en-US" altLang="ko-KR" sz="1100" dirty="0">
                <a:solidFill>
                  <a:schemeClr val="tx1"/>
                </a:solidFill>
                <a:latin typeface="+mn-ea"/>
              </a:rPr>
              <a:t>(</a:t>
            </a:r>
            <a:r>
              <a:rPr lang="ko-KR" altLang="en-US" sz="1100" dirty="0" err="1">
                <a:solidFill>
                  <a:schemeClr val="tx1"/>
                </a:solidFill>
                <a:latin typeface="+mn-ea"/>
              </a:rPr>
              <a:t>취소환송</a:t>
            </a:r>
            <a:r>
              <a:rPr lang="en-US" altLang="ko-KR" sz="1100" dirty="0">
                <a:solidFill>
                  <a:schemeClr val="tx1"/>
                </a:solidFill>
                <a:latin typeface="+mn-ea"/>
              </a:rPr>
              <a:t>)</a:t>
            </a:r>
            <a:endParaRPr lang="ko-KR" altLang="en-US" sz="1100" dirty="0">
              <a:solidFill>
                <a:schemeClr val="tx1"/>
              </a:solidFill>
              <a:latin typeface="+mn-ea"/>
            </a:endParaRPr>
          </a:p>
        </p:txBody>
      </p:sp>
      <p:sp>
        <p:nvSpPr>
          <p:cNvPr id="75" name="타원 74">
            <a:extLst>
              <a:ext uri="{FF2B5EF4-FFF2-40B4-BE49-F238E27FC236}">
                <a16:creationId xmlns:a16="http://schemas.microsoft.com/office/drawing/2014/main" id="{3F6981AD-C0F2-4BBA-9AB4-2E780FD953DA}"/>
              </a:ext>
            </a:extLst>
          </p:cNvPr>
          <p:cNvSpPr/>
          <p:nvPr/>
        </p:nvSpPr>
        <p:spPr>
          <a:xfrm>
            <a:off x="9085379" y="4052505"/>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76" name="직선 연결선 75">
            <a:extLst>
              <a:ext uri="{FF2B5EF4-FFF2-40B4-BE49-F238E27FC236}">
                <a16:creationId xmlns:a16="http://schemas.microsoft.com/office/drawing/2014/main" id="{50F8C75E-9430-42C0-9132-FBDADFA56BD2}"/>
              </a:ext>
            </a:extLst>
          </p:cNvPr>
          <p:cNvCxnSpPr>
            <a:cxnSpLocks/>
            <a:stCxn id="73" idx="0"/>
            <a:endCxn id="75" idx="4"/>
          </p:cNvCxnSpPr>
          <p:nvPr/>
        </p:nvCxnSpPr>
        <p:spPr>
          <a:xfrm flipH="1" flipV="1">
            <a:off x="9162748" y="421384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직선 연결선 38">
            <a:extLst>
              <a:ext uri="{FF2B5EF4-FFF2-40B4-BE49-F238E27FC236}">
                <a16:creationId xmlns:a16="http://schemas.microsoft.com/office/drawing/2014/main" id="{8EBEB81B-2590-4C97-916A-77B3A16D975F}"/>
              </a:ext>
            </a:extLst>
          </p:cNvPr>
          <p:cNvCxnSpPr/>
          <p:nvPr/>
        </p:nvCxnSpPr>
        <p:spPr>
          <a:xfrm>
            <a:off x="0" y="3663487"/>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79A1F156-269C-4C74-B49F-E39488B2FBEC}"/>
              </a:ext>
            </a:extLst>
          </p:cNvPr>
          <p:cNvSpPr txBox="1"/>
          <p:nvPr/>
        </p:nvSpPr>
        <p:spPr>
          <a:xfrm>
            <a:off x="3755415" y="4959165"/>
            <a:ext cx="1806586" cy="26161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진보성 위반 </a:t>
            </a:r>
            <a:r>
              <a:rPr lang="en-US" altLang="ko-KR" sz="1100" dirty="0">
                <a:solidFill>
                  <a:schemeClr val="tx1"/>
                </a:solidFill>
                <a:latin typeface="+mn-ea"/>
              </a:rPr>
              <a:t>by </a:t>
            </a:r>
            <a:r>
              <a:rPr lang="ko-KR" altLang="en-US" sz="1100" dirty="0">
                <a:solidFill>
                  <a:schemeClr val="tx1"/>
                </a:solidFill>
                <a:latin typeface="+mn-ea"/>
              </a:rPr>
              <a:t>선행</a:t>
            </a:r>
            <a:r>
              <a:rPr lang="en-US" altLang="ko-KR" sz="1100" dirty="0">
                <a:solidFill>
                  <a:schemeClr val="tx1"/>
                </a:solidFill>
                <a:latin typeface="+mn-ea"/>
              </a:rPr>
              <a:t> 1, 2, 5</a:t>
            </a:r>
            <a:endParaRPr lang="ko-KR" altLang="en-US" sz="1100" dirty="0">
              <a:solidFill>
                <a:schemeClr val="tx1"/>
              </a:solidFill>
              <a:latin typeface="+mn-ea"/>
            </a:endParaRPr>
          </a:p>
        </p:txBody>
      </p:sp>
      <p:cxnSp>
        <p:nvCxnSpPr>
          <p:cNvPr id="46" name="직선 연결선 45">
            <a:extLst>
              <a:ext uri="{FF2B5EF4-FFF2-40B4-BE49-F238E27FC236}">
                <a16:creationId xmlns:a16="http://schemas.microsoft.com/office/drawing/2014/main" id="{28D06206-6EC7-4EC7-B2CF-CF27002DD058}"/>
              </a:ext>
            </a:extLst>
          </p:cNvPr>
          <p:cNvCxnSpPr>
            <a:cxnSpLocks/>
            <a:stCxn id="45" idx="0"/>
            <a:endCxn id="40" idx="2"/>
          </p:cNvCxnSpPr>
          <p:nvPr/>
        </p:nvCxnSpPr>
        <p:spPr>
          <a:xfrm flipV="1">
            <a:off x="4658708" y="4833496"/>
            <a:ext cx="1" cy="1256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6492C761-B057-4699-90E1-E85E5E87D2CB}"/>
              </a:ext>
            </a:extLst>
          </p:cNvPr>
          <p:cNvSpPr txBox="1"/>
          <p:nvPr/>
        </p:nvSpPr>
        <p:spPr>
          <a:xfrm>
            <a:off x="5834919" y="4959913"/>
            <a:ext cx="2364202" cy="26161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선행 </a:t>
            </a:r>
            <a:r>
              <a:rPr lang="en-US" altLang="ko-KR" sz="1100" dirty="0">
                <a:solidFill>
                  <a:schemeClr val="tx1"/>
                </a:solidFill>
                <a:latin typeface="+mn-ea"/>
              </a:rPr>
              <a:t>1, 2</a:t>
            </a:r>
            <a:r>
              <a:rPr lang="ko-KR" altLang="en-US" sz="1100" dirty="0">
                <a:solidFill>
                  <a:schemeClr val="tx1"/>
                </a:solidFill>
                <a:latin typeface="+mn-ea"/>
              </a:rPr>
              <a:t>에 의하여 진보성 위반</a:t>
            </a:r>
          </a:p>
        </p:txBody>
      </p:sp>
      <p:cxnSp>
        <p:nvCxnSpPr>
          <p:cNvPr id="53" name="직선 연결선 52">
            <a:extLst>
              <a:ext uri="{FF2B5EF4-FFF2-40B4-BE49-F238E27FC236}">
                <a16:creationId xmlns:a16="http://schemas.microsoft.com/office/drawing/2014/main" id="{2B381A6D-C0D4-42CA-A3F2-759F3537A5E0}"/>
              </a:ext>
            </a:extLst>
          </p:cNvPr>
          <p:cNvCxnSpPr>
            <a:cxnSpLocks/>
            <a:stCxn id="52" idx="0"/>
            <a:endCxn id="68" idx="2"/>
          </p:cNvCxnSpPr>
          <p:nvPr/>
        </p:nvCxnSpPr>
        <p:spPr>
          <a:xfrm flipV="1">
            <a:off x="7017020" y="4833501"/>
            <a:ext cx="1872" cy="12641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9D0FA5CC-50FC-4A0D-B49E-FB2C7E09771B}"/>
              </a:ext>
            </a:extLst>
          </p:cNvPr>
          <p:cNvSpPr txBox="1"/>
          <p:nvPr/>
        </p:nvSpPr>
        <p:spPr>
          <a:xfrm>
            <a:off x="2316357" y="4402614"/>
            <a:ext cx="1061500" cy="430887"/>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乙 무효심판</a:t>
            </a:r>
            <a:endParaRPr lang="en-US" altLang="ko-KR" sz="1100" dirty="0">
              <a:solidFill>
                <a:schemeClr val="tx1"/>
              </a:solidFill>
              <a:latin typeface="+mn-ea"/>
            </a:endParaRPr>
          </a:p>
          <a:p>
            <a:pPr algn="ctr"/>
            <a:r>
              <a:rPr lang="en-US" altLang="ko-KR" sz="1100" dirty="0">
                <a:solidFill>
                  <a:schemeClr val="tx1"/>
                </a:solidFill>
                <a:latin typeface="+mn-ea"/>
              </a:rPr>
              <a:t>(</a:t>
            </a:r>
            <a:r>
              <a:rPr lang="ko-KR" altLang="en-US" sz="1100" dirty="0" err="1">
                <a:solidFill>
                  <a:schemeClr val="tx1"/>
                </a:solidFill>
                <a:latin typeface="+mn-ea"/>
              </a:rPr>
              <a:t>각하심결확정</a:t>
            </a:r>
            <a:r>
              <a:rPr lang="en-US" altLang="ko-KR" sz="1100" dirty="0">
                <a:solidFill>
                  <a:schemeClr val="tx1"/>
                </a:solidFill>
                <a:latin typeface="+mn-ea"/>
              </a:rPr>
              <a:t>)</a:t>
            </a:r>
            <a:endParaRPr lang="ko-KR" altLang="en-US" sz="1100" dirty="0">
              <a:solidFill>
                <a:schemeClr val="tx1"/>
              </a:solidFill>
              <a:latin typeface="+mn-ea"/>
            </a:endParaRPr>
          </a:p>
        </p:txBody>
      </p:sp>
      <p:sp>
        <p:nvSpPr>
          <p:cNvPr id="58" name="타원 57">
            <a:extLst>
              <a:ext uri="{FF2B5EF4-FFF2-40B4-BE49-F238E27FC236}">
                <a16:creationId xmlns:a16="http://schemas.microsoft.com/office/drawing/2014/main" id="{D432ADF0-FFC4-4853-9529-F0F4BAABA6CD}"/>
              </a:ext>
            </a:extLst>
          </p:cNvPr>
          <p:cNvSpPr/>
          <p:nvPr/>
        </p:nvSpPr>
        <p:spPr>
          <a:xfrm>
            <a:off x="2769737" y="405250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59" name="직선 연결선 58">
            <a:extLst>
              <a:ext uri="{FF2B5EF4-FFF2-40B4-BE49-F238E27FC236}">
                <a16:creationId xmlns:a16="http://schemas.microsoft.com/office/drawing/2014/main" id="{D6B096C4-543C-4860-9CFC-F5E2E9411AAF}"/>
              </a:ext>
            </a:extLst>
          </p:cNvPr>
          <p:cNvCxnSpPr>
            <a:cxnSpLocks/>
            <a:stCxn id="54" idx="0"/>
            <a:endCxn id="58" idx="4"/>
          </p:cNvCxnSpPr>
          <p:nvPr/>
        </p:nvCxnSpPr>
        <p:spPr>
          <a:xfrm flipH="1" flipV="1">
            <a:off x="2847106" y="421384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B356792B-64B4-403D-BECE-69CC68B0B59D}"/>
              </a:ext>
            </a:extLst>
          </p:cNvPr>
          <p:cNvSpPr txBox="1"/>
          <p:nvPr/>
        </p:nvSpPr>
        <p:spPr>
          <a:xfrm>
            <a:off x="2063618" y="4950547"/>
            <a:ext cx="1566978" cy="26161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진보성 위반 </a:t>
            </a:r>
            <a:r>
              <a:rPr lang="en-US" altLang="ko-KR" sz="1100" dirty="0">
                <a:solidFill>
                  <a:schemeClr val="tx1"/>
                </a:solidFill>
                <a:latin typeface="+mn-ea"/>
              </a:rPr>
              <a:t>by </a:t>
            </a:r>
            <a:r>
              <a:rPr lang="ko-KR" altLang="en-US" sz="1100" dirty="0">
                <a:solidFill>
                  <a:schemeClr val="tx1"/>
                </a:solidFill>
                <a:latin typeface="+mn-ea"/>
              </a:rPr>
              <a:t>선행 </a:t>
            </a:r>
            <a:r>
              <a:rPr lang="en-US" altLang="ko-KR" sz="1100" dirty="0">
                <a:solidFill>
                  <a:schemeClr val="tx1"/>
                </a:solidFill>
                <a:latin typeface="+mn-ea"/>
              </a:rPr>
              <a:t>1</a:t>
            </a:r>
            <a:endParaRPr lang="ko-KR" altLang="en-US" sz="1100" dirty="0">
              <a:solidFill>
                <a:schemeClr val="tx1"/>
              </a:solidFill>
              <a:latin typeface="+mn-ea"/>
            </a:endParaRPr>
          </a:p>
        </p:txBody>
      </p:sp>
      <p:cxnSp>
        <p:nvCxnSpPr>
          <p:cNvPr id="61" name="직선 연결선 60">
            <a:extLst>
              <a:ext uri="{FF2B5EF4-FFF2-40B4-BE49-F238E27FC236}">
                <a16:creationId xmlns:a16="http://schemas.microsoft.com/office/drawing/2014/main" id="{FFA3AA62-C0E8-4BBA-8E24-04F22074090F}"/>
              </a:ext>
            </a:extLst>
          </p:cNvPr>
          <p:cNvCxnSpPr>
            <a:cxnSpLocks/>
            <a:stCxn id="60" idx="0"/>
            <a:endCxn id="54" idx="2"/>
          </p:cNvCxnSpPr>
          <p:nvPr/>
        </p:nvCxnSpPr>
        <p:spPr>
          <a:xfrm flipV="1">
            <a:off x="2847107" y="4833501"/>
            <a:ext cx="0" cy="11704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FB8F5903-318A-4937-9375-C3F2880C0340}"/>
              </a:ext>
            </a:extLst>
          </p:cNvPr>
          <p:cNvSpPr txBox="1"/>
          <p:nvPr/>
        </p:nvSpPr>
        <p:spPr>
          <a:xfrm>
            <a:off x="2063619" y="5354362"/>
            <a:ext cx="1566976" cy="1107996"/>
          </a:xfrm>
          <a:prstGeom prst="rect">
            <a:avLst/>
          </a:prstGeom>
          <a:noFill/>
          <a:ln w="38100">
            <a:solidFill>
              <a:srgbClr val="FF0000"/>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t>선행 </a:t>
            </a:r>
            <a:r>
              <a:rPr lang="en-US" altLang="ko-KR" sz="1100" dirty="0"/>
              <a:t>1</a:t>
            </a:r>
            <a:r>
              <a:rPr lang="ko-KR" altLang="en-US" sz="1100" dirty="0"/>
              <a:t>은 선행 </a:t>
            </a:r>
            <a:r>
              <a:rPr lang="en-US" altLang="ko-KR" sz="1100" dirty="0"/>
              <a:t>3</a:t>
            </a:r>
            <a:r>
              <a:rPr lang="ko-KR" altLang="en-US" sz="1100" dirty="0"/>
              <a:t>의 확정된 기각 </a:t>
            </a:r>
            <a:r>
              <a:rPr lang="ko-KR" altLang="en-US" sz="1100" dirty="0" err="1"/>
              <a:t>심결을</a:t>
            </a:r>
            <a:r>
              <a:rPr lang="ko-KR" altLang="en-US" sz="1100" dirty="0"/>
              <a:t> 번복할 수 있을 정도로 유력한 증거라고 볼 수 없어 동일증거에 해당하여 </a:t>
            </a:r>
            <a:endParaRPr lang="en-US" altLang="ko-KR" sz="1100" dirty="0"/>
          </a:p>
          <a:p>
            <a:pPr algn="ctr"/>
            <a:r>
              <a:rPr lang="ko-KR" altLang="en-US" sz="1100" dirty="0"/>
              <a:t>일사부재리 위반</a:t>
            </a:r>
            <a:endParaRPr lang="ko-KR" altLang="en-US" sz="1100" dirty="0">
              <a:solidFill>
                <a:schemeClr val="tx1"/>
              </a:solidFill>
              <a:latin typeface="+mn-ea"/>
            </a:endParaRPr>
          </a:p>
        </p:txBody>
      </p:sp>
      <p:cxnSp>
        <p:nvCxnSpPr>
          <p:cNvPr id="63" name="직선 연결선 62">
            <a:extLst>
              <a:ext uri="{FF2B5EF4-FFF2-40B4-BE49-F238E27FC236}">
                <a16:creationId xmlns:a16="http://schemas.microsoft.com/office/drawing/2014/main" id="{AC3D68EA-CB3B-47E5-BEBE-04B080675248}"/>
              </a:ext>
            </a:extLst>
          </p:cNvPr>
          <p:cNvCxnSpPr>
            <a:cxnSpLocks/>
            <a:stCxn id="62" idx="0"/>
            <a:endCxn id="60" idx="2"/>
          </p:cNvCxnSpPr>
          <p:nvPr/>
        </p:nvCxnSpPr>
        <p:spPr>
          <a:xfrm flipV="1">
            <a:off x="2847107" y="5212157"/>
            <a:ext cx="0" cy="14220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903C8F18-EAFE-4B27-A801-AFF097D6DB55}"/>
              </a:ext>
            </a:extLst>
          </p:cNvPr>
          <p:cNvSpPr txBox="1"/>
          <p:nvPr/>
        </p:nvSpPr>
        <p:spPr>
          <a:xfrm>
            <a:off x="6493265" y="4402614"/>
            <a:ext cx="1051254" cy="430887"/>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정정인정</a:t>
            </a:r>
            <a:endParaRPr lang="en-US" altLang="ko-KR" sz="1100" dirty="0">
              <a:solidFill>
                <a:schemeClr val="tx1"/>
              </a:solidFill>
              <a:latin typeface="+mn-ea"/>
            </a:endParaRPr>
          </a:p>
          <a:p>
            <a:pPr algn="ctr"/>
            <a:r>
              <a:rPr lang="ko-KR" altLang="en-US" sz="1100" dirty="0" err="1">
                <a:solidFill>
                  <a:schemeClr val="tx1"/>
                </a:solidFill>
                <a:latin typeface="+mn-ea"/>
              </a:rPr>
              <a:t>무효심결</a:t>
            </a:r>
            <a:endParaRPr lang="ko-KR" altLang="en-US" sz="1100" dirty="0">
              <a:solidFill>
                <a:schemeClr val="tx1"/>
              </a:solidFill>
              <a:latin typeface="+mn-ea"/>
            </a:endParaRPr>
          </a:p>
        </p:txBody>
      </p:sp>
      <p:sp>
        <p:nvSpPr>
          <p:cNvPr id="69" name="타원 68">
            <a:extLst>
              <a:ext uri="{FF2B5EF4-FFF2-40B4-BE49-F238E27FC236}">
                <a16:creationId xmlns:a16="http://schemas.microsoft.com/office/drawing/2014/main" id="{4EBBC1BF-94B7-4E06-B145-721DF5E5FA17}"/>
              </a:ext>
            </a:extLst>
          </p:cNvPr>
          <p:cNvSpPr/>
          <p:nvPr/>
        </p:nvSpPr>
        <p:spPr>
          <a:xfrm>
            <a:off x="6941522" y="4052505"/>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71" name="직선 연결선 70">
            <a:extLst>
              <a:ext uri="{FF2B5EF4-FFF2-40B4-BE49-F238E27FC236}">
                <a16:creationId xmlns:a16="http://schemas.microsoft.com/office/drawing/2014/main" id="{D859793D-09C8-4904-9405-D19721F6CF47}"/>
              </a:ext>
            </a:extLst>
          </p:cNvPr>
          <p:cNvCxnSpPr>
            <a:cxnSpLocks/>
            <a:stCxn id="68" idx="0"/>
            <a:endCxn id="69" idx="4"/>
          </p:cNvCxnSpPr>
          <p:nvPr/>
        </p:nvCxnSpPr>
        <p:spPr>
          <a:xfrm flipH="1" flipV="1">
            <a:off x="7018891" y="421384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7" name="TextBox 76">
            <a:extLst>
              <a:ext uri="{FF2B5EF4-FFF2-40B4-BE49-F238E27FC236}">
                <a16:creationId xmlns:a16="http://schemas.microsoft.com/office/drawing/2014/main" id="{3B4A9CB5-A401-4412-97DE-A74D08DE183C}"/>
              </a:ext>
            </a:extLst>
          </p:cNvPr>
          <p:cNvSpPr txBox="1"/>
          <p:nvPr/>
        </p:nvSpPr>
        <p:spPr>
          <a:xfrm>
            <a:off x="8379259" y="4950547"/>
            <a:ext cx="1566978" cy="26161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일사부재리 위반</a:t>
            </a:r>
          </a:p>
        </p:txBody>
      </p:sp>
      <p:cxnSp>
        <p:nvCxnSpPr>
          <p:cNvPr id="78" name="직선 연결선 77">
            <a:extLst>
              <a:ext uri="{FF2B5EF4-FFF2-40B4-BE49-F238E27FC236}">
                <a16:creationId xmlns:a16="http://schemas.microsoft.com/office/drawing/2014/main" id="{5C3249BA-439A-4694-8351-99CABE54FB61}"/>
              </a:ext>
            </a:extLst>
          </p:cNvPr>
          <p:cNvCxnSpPr>
            <a:cxnSpLocks/>
            <a:stCxn id="77" idx="0"/>
          </p:cNvCxnSpPr>
          <p:nvPr/>
        </p:nvCxnSpPr>
        <p:spPr>
          <a:xfrm flipV="1">
            <a:off x="9162748" y="4833501"/>
            <a:ext cx="0" cy="11704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0E573731-1A78-4857-AADF-A34DF4EEA460}"/>
              </a:ext>
            </a:extLst>
          </p:cNvPr>
          <p:cNvSpPr txBox="1"/>
          <p:nvPr/>
        </p:nvSpPr>
        <p:spPr>
          <a:xfrm>
            <a:off x="7414268" y="5354362"/>
            <a:ext cx="3512506" cy="1107996"/>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t>선행 확정 </a:t>
            </a:r>
            <a:r>
              <a:rPr lang="ko-KR" altLang="en-US" sz="1100" dirty="0" err="1"/>
              <a:t>심결에서</a:t>
            </a:r>
            <a:r>
              <a:rPr lang="ko-KR" altLang="en-US" sz="1100" dirty="0"/>
              <a:t> 제출된 동일 증거인 선행발명 </a:t>
            </a:r>
            <a:r>
              <a:rPr lang="en-US" altLang="ko-KR" sz="1100" dirty="0"/>
              <a:t>1</a:t>
            </a:r>
            <a:r>
              <a:rPr lang="ko-KR" altLang="en-US" sz="1100" dirty="0"/>
              <a:t>에 이 사건 </a:t>
            </a:r>
            <a:r>
              <a:rPr lang="ko-KR" altLang="en-US" sz="1100" dirty="0" err="1"/>
              <a:t>심결에서</a:t>
            </a:r>
            <a:r>
              <a:rPr lang="ko-KR" altLang="en-US" sz="1100" dirty="0"/>
              <a:t> 새롭게 제출된 선행발명 </a:t>
            </a:r>
            <a:r>
              <a:rPr lang="en-US" altLang="ko-KR" sz="1100" dirty="0"/>
              <a:t>2 </a:t>
            </a:r>
            <a:r>
              <a:rPr lang="ko-KR" altLang="en-US" sz="1100" dirty="0"/>
              <a:t>를 결합하더라도 제</a:t>
            </a:r>
            <a:r>
              <a:rPr lang="en-US" altLang="ko-KR" sz="1100" dirty="0"/>
              <a:t>1</a:t>
            </a:r>
            <a:r>
              <a:rPr lang="ko-KR" altLang="en-US" sz="1100" dirty="0"/>
              <a:t>항 정정발명의 진보성이 부정된다고 볼 수 없으므로</a:t>
            </a:r>
            <a:r>
              <a:rPr lang="en-US" altLang="ko-KR" sz="1100" dirty="0"/>
              <a:t>, </a:t>
            </a:r>
            <a:r>
              <a:rPr lang="ko-KR" altLang="en-US" sz="1100" dirty="0"/>
              <a:t>선행발명 </a:t>
            </a:r>
            <a:r>
              <a:rPr lang="en-US" altLang="ko-KR" sz="1100" dirty="0"/>
              <a:t>2</a:t>
            </a:r>
            <a:r>
              <a:rPr lang="ko-KR" altLang="en-US" sz="1100" dirty="0"/>
              <a:t>는 선행 확정 </a:t>
            </a:r>
            <a:r>
              <a:rPr lang="ko-KR" altLang="en-US" sz="1100" dirty="0" err="1"/>
              <a:t>심결을</a:t>
            </a:r>
            <a:r>
              <a:rPr lang="ko-KR" altLang="en-US" sz="1100" dirty="0"/>
              <a:t> 번복할 수 있는 유력한 증거라고 할 수 없어</a:t>
            </a:r>
            <a:r>
              <a:rPr lang="en-US" altLang="ko-KR" sz="1100" dirty="0"/>
              <a:t>, </a:t>
            </a:r>
            <a:r>
              <a:rPr lang="ko-KR" altLang="en-US" sz="1100" dirty="0"/>
              <a:t>선행 확정 </a:t>
            </a:r>
            <a:r>
              <a:rPr lang="ko-KR" altLang="en-US" sz="1100" dirty="0" err="1"/>
              <a:t>심결에서의</a:t>
            </a:r>
            <a:r>
              <a:rPr lang="ko-KR" altLang="en-US" sz="1100" dirty="0"/>
              <a:t> 증거와 실질적으로 동일한 증거에 해당하여 일사부재리 위반</a:t>
            </a:r>
            <a:endParaRPr lang="ko-KR" altLang="en-US" sz="1100" dirty="0">
              <a:solidFill>
                <a:schemeClr val="tx1"/>
              </a:solidFill>
              <a:latin typeface="+mn-ea"/>
            </a:endParaRPr>
          </a:p>
        </p:txBody>
      </p:sp>
      <p:cxnSp>
        <p:nvCxnSpPr>
          <p:cNvPr id="80" name="직선 연결선 79">
            <a:extLst>
              <a:ext uri="{FF2B5EF4-FFF2-40B4-BE49-F238E27FC236}">
                <a16:creationId xmlns:a16="http://schemas.microsoft.com/office/drawing/2014/main" id="{347B4AE8-F200-46C0-9109-A2883025162E}"/>
              </a:ext>
            </a:extLst>
          </p:cNvPr>
          <p:cNvCxnSpPr>
            <a:cxnSpLocks/>
            <a:stCxn id="79" idx="0"/>
            <a:endCxn id="77" idx="2"/>
          </p:cNvCxnSpPr>
          <p:nvPr/>
        </p:nvCxnSpPr>
        <p:spPr>
          <a:xfrm flipH="1" flipV="1">
            <a:off x="9162748" y="5212157"/>
            <a:ext cx="7773" cy="14220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1D2B5D1C-C2CC-4FC6-BFEF-2DAF720EFC1E}"/>
              </a:ext>
            </a:extLst>
          </p:cNvPr>
          <p:cNvSpPr txBox="1"/>
          <p:nvPr/>
        </p:nvSpPr>
        <p:spPr>
          <a:xfrm>
            <a:off x="9776386" y="4402613"/>
            <a:ext cx="903844" cy="430883"/>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none" rtlCol="0" anchor="ctr">
            <a:noAutofit/>
          </a:bodyPr>
          <a:lstStyle/>
          <a:p>
            <a:pPr algn="ctr"/>
            <a:r>
              <a:rPr lang="ko-KR" altLang="en-US" sz="1100" dirty="0">
                <a:solidFill>
                  <a:schemeClr val="tx1"/>
                </a:solidFill>
                <a:latin typeface="+mn-ea"/>
              </a:rPr>
              <a:t>丙</a:t>
            </a:r>
            <a:r>
              <a:rPr lang="en-US" altLang="ko-KR" sz="1100" dirty="0">
                <a:solidFill>
                  <a:schemeClr val="tx1"/>
                </a:solidFill>
                <a:latin typeface="+mn-ea"/>
              </a:rPr>
              <a:t> </a:t>
            </a:r>
            <a:r>
              <a:rPr lang="ko-KR" altLang="en-US" sz="1100" dirty="0">
                <a:solidFill>
                  <a:schemeClr val="tx1"/>
                </a:solidFill>
                <a:latin typeface="+mn-ea"/>
              </a:rPr>
              <a:t>상고</a:t>
            </a:r>
          </a:p>
        </p:txBody>
      </p:sp>
      <p:sp>
        <p:nvSpPr>
          <p:cNvPr id="88" name="타원 87">
            <a:extLst>
              <a:ext uri="{FF2B5EF4-FFF2-40B4-BE49-F238E27FC236}">
                <a16:creationId xmlns:a16="http://schemas.microsoft.com/office/drawing/2014/main" id="{89FE69DC-71D5-4A59-853F-C42AD67E88F5}"/>
              </a:ext>
            </a:extLst>
          </p:cNvPr>
          <p:cNvSpPr/>
          <p:nvPr/>
        </p:nvSpPr>
        <p:spPr>
          <a:xfrm>
            <a:off x="10150938" y="4052505"/>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89" name="직선 연결선 88">
            <a:extLst>
              <a:ext uri="{FF2B5EF4-FFF2-40B4-BE49-F238E27FC236}">
                <a16:creationId xmlns:a16="http://schemas.microsoft.com/office/drawing/2014/main" id="{4BD525DE-172C-4CA0-8BE4-43D8DE03E2C7}"/>
              </a:ext>
            </a:extLst>
          </p:cNvPr>
          <p:cNvCxnSpPr>
            <a:cxnSpLocks/>
            <a:stCxn id="87" idx="0"/>
            <a:endCxn id="88" idx="4"/>
          </p:cNvCxnSpPr>
          <p:nvPr/>
        </p:nvCxnSpPr>
        <p:spPr>
          <a:xfrm flipH="1" flipV="1">
            <a:off x="10228307" y="4213843"/>
            <a:ext cx="1" cy="18877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TextBox 89">
            <a:extLst>
              <a:ext uri="{FF2B5EF4-FFF2-40B4-BE49-F238E27FC236}">
                <a16:creationId xmlns:a16="http://schemas.microsoft.com/office/drawing/2014/main" id="{CD2F7DC8-6A71-4BD8-A1C1-691FEE6EBC9A}"/>
              </a:ext>
            </a:extLst>
          </p:cNvPr>
          <p:cNvSpPr txBox="1"/>
          <p:nvPr/>
        </p:nvSpPr>
        <p:spPr>
          <a:xfrm>
            <a:off x="10865235" y="4402614"/>
            <a:ext cx="749194" cy="430887"/>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100" dirty="0">
                <a:solidFill>
                  <a:schemeClr val="tx1"/>
                </a:solidFill>
                <a:latin typeface="+mn-ea"/>
              </a:rPr>
              <a:t>인용판결</a:t>
            </a:r>
            <a:endParaRPr lang="en-US" altLang="ko-KR" sz="1100" dirty="0">
              <a:solidFill>
                <a:schemeClr val="tx1"/>
              </a:solidFill>
              <a:latin typeface="+mn-ea"/>
            </a:endParaRPr>
          </a:p>
          <a:p>
            <a:pPr algn="ctr"/>
            <a:r>
              <a:rPr lang="en-US" altLang="ko-KR" sz="1100" dirty="0">
                <a:solidFill>
                  <a:schemeClr val="tx1"/>
                </a:solidFill>
                <a:latin typeface="+mn-ea"/>
              </a:rPr>
              <a:t>(</a:t>
            </a:r>
            <a:r>
              <a:rPr lang="ko-KR" altLang="en-US" sz="1100" dirty="0" err="1">
                <a:solidFill>
                  <a:schemeClr val="tx1"/>
                </a:solidFill>
                <a:latin typeface="+mn-ea"/>
              </a:rPr>
              <a:t>파기환송</a:t>
            </a:r>
            <a:r>
              <a:rPr lang="en-US" altLang="ko-KR" sz="1100" dirty="0">
                <a:solidFill>
                  <a:schemeClr val="tx1"/>
                </a:solidFill>
                <a:latin typeface="+mn-ea"/>
              </a:rPr>
              <a:t>)</a:t>
            </a:r>
            <a:endParaRPr lang="ko-KR" altLang="en-US" sz="1100" dirty="0">
              <a:solidFill>
                <a:schemeClr val="tx1"/>
              </a:solidFill>
              <a:latin typeface="+mn-ea"/>
            </a:endParaRPr>
          </a:p>
        </p:txBody>
      </p:sp>
      <p:sp>
        <p:nvSpPr>
          <p:cNvPr id="91" name="타원 90">
            <a:extLst>
              <a:ext uri="{FF2B5EF4-FFF2-40B4-BE49-F238E27FC236}">
                <a16:creationId xmlns:a16="http://schemas.microsoft.com/office/drawing/2014/main" id="{D86CA273-A2B8-4B4E-9A35-B0F5A63B4893}"/>
              </a:ext>
            </a:extLst>
          </p:cNvPr>
          <p:cNvSpPr/>
          <p:nvPr/>
        </p:nvSpPr>
        <p:spPr>
          <a:xfrm>
            <a:off x="11162462" y="4052505"/>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100">
              <a:latin typeface="+mn-ea"/>
            </a:endParaRPr>
          </a:p>
        </p:txBody>
      </p:sp>
      <p:cxnSp>
        <p:nvCxnSpPr>
          <p:cNvPr id="92" name="직선 연결선 91">
            <a:extLst>
              <a:ext uri="{FF2B5EF4-FFF2-40B4-BE49-F238E27FC236}">
                <a16:creationId xmlns:a16="http://schemas.microsoft.com/office/drawing/2014/main" id="{7B343BEE-7DD6-4C1A-A787-C3A04DFD274F}"/>
              </a:ext>
            </a:extLst>
          </p:cNvPr>
          <p:cNvCxnSpPr>
            <a:cxnSpLocks/>
            <a:stCxn id="90" idx="0"/>
            <a:endCxn id="91" idx="4"/>
          </p:cNvCxnSpPr>
          <p:nvPr/>
        </p:nvCxnSpPr>
        <p:spPr>
          <a:xfrm flipH="1" flipV="1">
            <a:off x="11239831" y="421384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직사각형 92">
            <a:extLst>
              <a:ext uri="{FF2B5EF4-FFF2-40B4-BE49-F238E27FC236}">
                <a16:creationId xmlns:a16="http://schemas.microsoft.com/office/drawing/2014/main" id="{4B67B3A1-67D0-45A6-A3F1-C98F98CEDFFD}"/>
              </a:ext>
            </a:extLst>
          </p:cNvPr>
          <p:cNvSpPr/>
          <p:nvPr/>
        </p:nvSpPr>
        <p:spPr>
          <a:xfrm>
            <a:off x="232372" y="1759789"/>
            <a:ext cx="11727256" cy="36051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5" name="연결선: 꺾임 94">
            <a:extLst>
              <a:ext uri="{FF2B5EF4-FFF2-40B4-BE49-F238E27FC236}">
                <a16:creationId xmlns:a16="http://schemas.microsoft.com/office/drawing/2014/main" id="{8AE29F49-AE90-426D-A2BC-76079750B0D4}"/>
              </a:ext>
            </a:extLst>
          </p:cNvPr>
          <p:cNvCxnSpPr>
            <a:stCxn id="93" idx="1"/>
            <a:endCxn id="62" idx="1"/>
          </p:cNvCxnSpPr>
          <p:nvPr/>
        </p:nvCxnSpPr>
        <p:spPr>
          <a:xfrm rot="10800000" flipH="1" flipV="1">
            <a:off x="232371" y="1940046"/>
            <a:ext cx="1831247" cy="3968313"/>
          </a:xfrm>
          <a:prstGeom prst="bentConnector3">
            <a:avLst>
              <a:gd name="adj1" fmla="val -6359"/>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6897325"/>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위쪽 화살표 설명선 28"/>
          <p:cNvSpPr/>
          <p:nvPr/>
        </p:nvSpPr>
        <p:spPr>
          <a:xfrm>
            <a:off x="8601958" y="3792248"/>
            <a:ext cx="1517715" cy="1904215"/>
          </a:xfrm>
          <a:prstGeom prst="upArrowCallout">
            <a:avLst>
              <a:gd name="adj1" fmla="val 50000"/>
              <a:gd name="adj2" fmla="val 47981"/>
              <a:gd name="adj3" fmla="val 25000"/>
              <a:gd name="adj4" fmla="val 73393"/>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제목 1"/>
          <p:cNvSpPr>
            <a:spLocks noGrp="1"/>
          </p:cNvSpPr>
          <p:nvPr>
            <p:ph type="title"/>
          </p:nvPr>
        </p:nvSpPr>
        <p:spPr/>
        <p:txBody>
          <a:bodyPr/>
          <a:lstStyle/>
          <a:p>
            <a:r>
              <a:rPr lang="ko-KR" altLang="en-US" dirty="0"/>
              <a:t>제</a:t>
            </a:r>
            <a:r>
              <a:rPr lang="en-US" altLang="ko-KR" dirty="0"/>
              <a:t>170</a:t>
            </a:r>
            <a:r>
              <a:rPr lang="ko-KR" altLang="en-US" dirty="0"/>
              <a:t>조</a:t>
            </a:r>
          </a:p>
        </p:txBody>
      </p:sp>
      <p:sp>
        <p:nvSpPr>
          <p:cNvPr id="3" name="텍스트 개체 틀 2"/>
          <p:cNvSpPr>
            <a:spLocks noGrp="1"/>
          </p:cNvSpPr>
          <p:nvPr>
            <p:ph type="body" sz="quarter" idx="13"/>
          </p:nvPr>
        </p:nvSpPr>
        <p:spPr/>
        <p:txBody>
          <a:bodyPr/>
          <a:lstStyle/>
          <a:p>
            <a:r>
              <a:rPr lang="ko-KR" altLang="en-US" dirty="0" err="1"/>
              <a:t>거절결정불복심판단계에서</a:t>
            </a:r>
            <a:r>
              <a:rPr lang="ko-KR" altLang="en-US" dirty="0"/>
              <a:t> </a:t>
            </a:r>
            <a:r>
              <a:rPr lang="ko-KR" altLang="en-US" dirty="0" err="1"/>
              <a:t>보정각하</a:t>
            </a:r>
            <a:endParaRPr lang="ko-KR" altLang="en-US" dirty="0"/>
          </a:p>
        </p:txBody>
      </p:sp>
      <p:cxnSp>
        <p:nvCxnSpPr>
          <p:cNvPr id="14" name="직선 연결선 13"/>
          <p:cNvCxnSpPr/>
          <p:nvPr/>
        </p:nvCxnSpPr>
        <p:spPr>
          <a:xfrm>
            <a:off x="77875" y="192457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77875" y="976902"/>
            <a:ext cx="11936323" cy="954107"/>
          </a:xfrm>
          <a:prstGeom prst="rect">
            <a:avLst/>
          </a:prstGeom>
          <a:noFill/>
        </p:spPr>
        <p:txBody>
          <a:bodyPr wrap="square" rtlCol="0">
            <a:spAutoFit/>
          </a:bodyPr>
          <a:lstStyle/>
          <a:p>
            <a:pPr fontAlgn="base"/>
            <a:r>
              <a:rPr lang="ko-KR" altLang="en-US" sz="1400" b="1" dirty="0">
                <a:solidFill>
                  <a:schemeClr val="accent5"/>
                </a:solidFill>
              </a:rPr>
              <a:t>제</a:t>
            </a:r>
            <a:r>
              <a:rPr lang="en-US" altLang="ko-KR" sz="1400" b="1" dirty="0">
                <a:solidFill>
                  <a:schemeClr val="accent5"/>
                </a:solidFill>
              </a:rPr>
              <a:t>170</a:t>
            </a:r>
            <a:r>
              <a:rPr lang="ko-KR" altLang="en-US" sz="1400" b="1" dirty="0">
                <a:solidFill>
                  <a:schemeClr val="accent5"/>
                </a:solidFill>
              </a:rPr>
              <a:t>조</a:t>
            </a:r>
            <a:r>
              <a:rPr lang="en-US" altLang="ko-KR" sz="1400" b="1" dirty="0">
                <a:solidFill>
                  <a:schemeClr val="accent5"/>
                </a:solidFill>
              </a:rPr>
              <a:t>(</a:t>
            </a:r>
            <a:r>
              <a:rPr lang="ko-KR" altLang="en-US" sz="1400" b="1" dirty="0" err="1">
                <a:solidFill>
                  <a:schemeClr val="accent5"/>
                </a:solidFill>
              </a:rPr>
              <a:t>심사규정의</a:t>
            </a:r>
            <a:r>
              <a:rPr lang="ko-KR" altLang="en-US" sz="1400" b="1" dirty="0">
                <a:solidFill>
                  <a:schemeClr val="accent5"/>
                </a:solidFill>
              </a:rPr>
              <a:t> 특허거절결정에 대한 심판에의 준용</a:t>
            </a:r>
            <a:r>
              <a:rPr lang="en-US" altLang="ko-KR" sz="1400" b="1" dirty="0">
                <a:solidFill>
                  <a:schemeClr val="accent5"/>
                </a:solidFill>
              </a:rPr>
              <a:t>)</a:t>
            </a:r>
            <a:r>
              <a:rPr lang="en-US" altLang="ko-KR" sz="1400" dirty="0">
                <a:solidFill>
                  <a:schemeClr val="tx2"/>
                </a:solidFill>
              </a:rPr>
              <a:t> ① </a:t>
            </a:r>
            <a:r>
              <a:rPr lang="ko-KR" altLang="en-US" sz="1400" dirty="0">
                <a:solidFill>
                  <a:schemeClr val="tx2"/>
                </a:solidFill>
              </a:rPr>
              <a:t>특허거절결정에 대한 심판에 관하여는 제</a:t>
            </a:r>
            <a:r>
              <a:rPr lang="en-US" altLang="ko-KR" sz="1400" dirty="0">
                <a:solidFill>
                  <a:schemeClr val="tx2"/>
                </a:solidFill>
              </a:rPr>
              <a:t>47</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1</a:t>
            </a:r>
            <a:r>
              <a:rPr lang="ko-KR" altLang="en-US" sz="1400" dirty="0" err="1">
                <a:solidFill>
                  <a:schemeClr val="tx2"/>
                </a:solidFill>
              </a:rPr>
              <a:t>호ㆍ제</a:t>
            </a:r>
            <a:r>
              <a:rPr lang="en-US" altLang="ko-KR" sz="1400" dirty="0">
                <a:solidFill>
                  <a:schemeClr val="tx2"/>
                </a:solidFill>
              </a:rPr>
              <a:t>2</a:t>
            </a:r>
            <a:r>
              <a:rPr lang="ko-KR" altLang="en-US" sz="1400" dirty="0">
                <a:solidFill>
                  <a:schemeClr val="tx2"/>
                </a:solidFill>
              </a:rPr>
              <a:t>호</a:t>
            </a:r>
            <a:r>
              <a:rPr lang="en-US" altLang="ko-KR" sz="1400" dirty="0">
                <a:solidFill>
                  <a:schemeClr val="tx2"/>
                </a:solidFill>
              </a:rPr>
              <a:t>, </a:t>
            </a:r>
            <a:r>
              <a:rPr lang="ko-KR" altLang="en-US" sz="1400" dirty="0">
                <a:solidFill>
                  <a:schemeClr val="tx2"/>
                </a:solidFill>
              </a:rPr>
              <a:t>같은 조 제</a:t>
            </a:r>
            <a:r>
              <a:rPr lang="en-US" altLang="ko-KR" sz="1400" dirty="0">
                <a:solidFill>
                  <a:schemeClr val="tx2"/>
                </a:solidFill>
              </a:rPr>
              <a:t>4</a:t>
            </a:r>
            <a:r>
              <a:rPr lang="ko-KR" altLang="en-US" sz="1400" dirty="0">
                <a:solidFill>
                  <a:schemeClr val="tx2"/>
                </a:solidFill>
              </a:rPr>
              <a:t>항</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51</a:t>
            </a:r>
            <a:r>
              <a:rPr lang="ko-KR" altLang="en-US" sz="1400" dirty="0">
                <a:solidFill>
                  <a:schemeClr val="tx2"/>
                </a:solidFill>
              </a:rPr>
              <a:t>조</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63</a:t>
            </a:r>
            <a:r>
              <a:rPr lang="ko-KR" altLang="en-US" sz="1400" dirty="0">
                <a:solidFill>
                  <a:schemeClr val="tx2"/>
                </a:solidFill>
              </a:rPr>
              <a:t>조</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63</a:t>
            </a:r>
            <a:r>
              <a:rPr lang="ko-KR" altLang="en-US" sz="1400" dirty="0">
                <a:solidFill>
                  <a:schemeClr val="tx2"/>
                </a:solidFill>
              </a:rPr>
              <a:t>조의</a:t>
            </a:r>
            <a:r>
              <a:rPr lang="en-US" altLang="ko-KR" sz="1400" dirty="0">
                <a:solidFill>
                  <a:schemeClr val="tx2"/>
                </a:solidFill>
              </a:rPr>
              <a:t>2 </a:t>
            </a:r>
            <a:r>
              <a:rPr lang="ko-KR" altLang="en-US" sz="1400" dirty="0">
                <a:solidFill>
                  <a:schemeClr val="tx2"/>
                </a:solidFill>
              </a:rPr>
              <a:t>및 제</a:t>
            </a:r>
            <a:r>
              <a:rPr lang="en-US" altLang="ko-KR" sz="1400" dirty="0">
                <a:solidFill>
                  <a:schemeClr val="tx2"/>
                </a:solidFill>
              </a:rPr>
              <a:t>66</a:t>
            </a:r>
            <a:r>
              <a:rPr lang="ko-KR" altLang="en-US" sz="1400" dirty="0">
                <a:solidFill>
                  <a:schemeClr val="tx2"/>
                </a:solidFill>
              </a:rPr>
              <a:t>조를 준용한다</a:t>
            </a:r>
            <a:r>
              <a:rPr lang="en-US" altLang="ko-KR" sz="1400" dirty="0">
                <a:solidFill>
                  <a:schemeClr val="tx2"/>
                </a:solidFill>
              </a:rPr>
              <a:t>. </a:t>
            </a:r>
            <a:r>
              <a:rPr lang="ko-KR" altLang="en-US" sz="1400" dirty="0">
                <a:solidFill>
                  <a:schemeClr val="tx2"/>
                </a:solidFill>
              </a:rPr>
              <a:t>이 경우 제</a:t>
            </a:r>
            <a:r>
              <a:rPr lang="en-US" altLang="ko-KR" sz="1400" dirty="0">
                <a:solidFill>
                  <a:schemeClr val="tx2"/>
                </a:solidFill>
              </a:rPr>
              <a:t>51</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본문 중 </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47</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2</a:t>
            </a:r>
            <a:r>
              <a:rPr lang="ko-KR" altLang="en-US" sz="1400" dirty="0">
                <a:solidFill>
                  <a:schemeClr val="tx2"/>
                </a:solidFill>
              </a:rPr>
              <a:t>호 및 제</a:t>
            </a:r>
            <a:r>
              <a:rPr lang="en-US" altLang="ko-KR" sz="1400" dirty="0">
                <a:solidFill>
                  <a:schemeClr val="tx2"/>
                </a:solidFill>
              </a:rPr>
              <a:t>3</a:t>
            </a:r>
            <a:r>
              <a:rPr lang="ko-KR" altLang="en-US" sz="1400" dirty="0">
                <a:solidFill>
                  <a:schemeClr val="tx2"/>
                </a:solidFill>
              </a:rPr>
              <a:t>호에 따른 보정</a:t>
            </a:r>
            <a:r>
              <a:rPr lang="en-US" altLang="ko-KR" sz="1400" dirty="0">
                <a:solidFill>
                  <a:schemeClr val="tx2"/>
                </a:solidFill>
              </a:rPr>
              <a:t>"</a:t>
            </a:r>
            <a:r>
              <a:rPr lang="ko-KR" altLang="en-US" sz="1400" dirty="0">
                <a:solidFill>
                  <a:schemeClr val="tx2"/>
                </a:solidFill>
              </a:rPr>
              <a:t>은 </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47</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항제</a:t>
            </a:r>
            <a:r>
              <a:rPr lang="en-US" altLang="ko-KR" sz="1400" dirty="0">
                <a:solidFill>
                  <a:schemeClr val="tx2"/>
                </a:solidFill>
              </a:rPr>
              <a:t>2</a:t>
            </a:r>
            <a:r>
              <a:rPr lang="ko-KR" altLang="en-US" sz="1400" dirty="0">
                <a:solidFill>
                  <a:schemeClr val="tx2"/>
                </a:solidFill>
              </a:rPr>
              <a:t>호에 따른 보정</a:t>
            </a:r>
            <a:r>
              <a:rPr lang="en-US" altLang="ko-KR" sz="1400" dirty="0">
                <a:solidFill>
                  <a:schemeClr val="tx2"/>
                </a:solidFill>
              </a:rPr>
              <a:t>(</a:t>
            </a:r>
            <a:r>
              <a:rPr lang="ko-KR" altLang="en-US" sz="1400" dirty="0">
                <a:solidFill>
                  <a:schemeClr val="tx2"/>
                </a:solidFill>
              </a:rPr>
              <a:t>제</a:t>
            </a:r>
            <a:r>
              <a:rPr lang="en-US" altLang="ko-KR" sz="1400" dirty="0">
                <a:solidFill>
                  <a:schemeClr val="tx2"/>
                </a:solidFill>
              </a:rPr>
              <a:t>132</a:t>
            </a:r>
            <a:r>
              <a:rPr lang="ko-KR" altLang="en-US" sz="1400" dirty="0">
                <a:solidFill>
                  <a:schemeClr val="tx2"/>
                </a:solidFill>
              </a:rPr>
              <a:t>조의</a:t>
            </a:r>
            <a:r>
              <a:rPr lang="en-US" altLang="ko-KR" sz="1400" dirty="0">
                <a:solidFill>
                  <a:schemeClr val="tx2"/>
                </a:solidFill>
              </a:rPr>
              <a:t>17</a:t>
            </a:r>
            <a:r>
              <a:rPr lang="ko-KR" altLang="en-US" sz="1400" dirty="0">
                <a:solidFill>
                  <a:schemeClr val="tx2"/>
                </a:solidFill>
              </a:rPr>
              <a:t>의 특허거절결정에 대한 심판청구 전에 한 것은 제외한다</a:t>
            </a:r>
            <a:r>
              <a:rPr lang="en-US" altLang="ko-KR" sz="1400" dirty="0">
                <a:solidFill>
                  <a:schemeClr val="tx2"/>
                </a:solidFill>
              </a:rPr>
              <a:t>)"</a:t>
            </a:r>
            <a:r>
              <a:rPr lang="ko-KR" altLang="en-US" sz="1400" dirty="0">
                <a:solidFill>
                  <a:schemeClr val="tx2"/>
                </a:solidFill>
              </a:rPr>
              <a:t>으로</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63</a:t>
            </a:r>
            <a:r>
              <a:rPr lang="ko-KR" altLang="en-US" sz="1400" dirty="0">
                <a:solidFill>
                  <a:schemeClr val="tx2"/>
                </a:solidFill>
              </a:rPr>
              <a:t>조의</a:t>
            </a:r>
            <a:r>
              <a:rPr lang="en-US" altLang="ko-KR" sz="1400" dirty="0">
                <a:solidFill>
                  <a:schemeClr val="tx2"/>
                </a:solidFill>
              </a:rPr>
              <a:t>2 </a:t>
            </a:r>
            <a:r>
              <a:rPr lang="ko-KR" altLang="en-US" sz="1400" dirty="0">
                <a:solidFill>
                  <a:schemeClr val="tx2"/>
                </a:solidFill>
              </a:rPr>
              <a:t>본문 중 </a:t>
            </a:r>
            <a:r>
              <a:rPr lang="en-US" altLang="ko-KR" sz="1400" dirty="0">
                <a:solidFill>
                  <a:schemeClr val="tx2"/>
                </a:solidFill>
              </a:rPr>
              <a:t>"</a:t>
            </a:r>
            <a:r>
              <a:rPr lang="ko-KR" altLang="en-US" sz="1400" dirty="0">
                <a:solidFill>
                  <a:schemeClr val="tx2"/>
                </a:solidFill>
              </a:rPr>
              <a:t>지식재산처장</a:t>
            </a:r>
            <a:r>
              <a:rPr lang="en-US" altLang="ko-KR" sz="1400" dirty="0">
                <a:solidFill>
                  <a:schemeClr val="tx2"/>
                </a:solidFill>
              </a:rPr>
              <a:t>"</a:t>
            </a:r>
            <a:r>
              <a:rPr lang="ko-KR" altLang="en-US" sz="1400" dirty="0">
                <a:solidFill>
                  <a:schemeClr val="tx2"/>
                </a:solidFill>
              </a:rPr>
              <a:t>은 </a:t>
            </a:r>
            <a:r>
              <a:rPr lang="en-US" altLang="ko-KR" sz="1400" dirty="0">
                <a:solidFill>
                  <a:schemeClr val="tx2"/>
                </a:solidFill>
              </a:rPr>
              <a:t>"</a:t>
            </a:r>
            <a:r>
              <a:rPr lang="ko-KR" altLang="en-US" sz="1400" dirty="0">
                <a:solidFill>
                  <a:schemeClr val="tx2"/>
                </a:solidFill>
              </a:rPr>
              <a:t>특허심판원장</a:t>
            </a:r>
            <a:r>
              <a:rPr lang="en-US" altLang="ko-KR" sz="1400" dirty="0">
                <a:solidFill>
                  <a:schemeClr val="tx2"/>
                </a:solidFill>
              </a:rPr>
              <a:t>"</a:t>
            </a:r>
            <a:r>
              <a:rPr lang="ko-KR" altLang="en-US" sz="1400" dirty="0">
                <a:solidFill>
                  <a:schemeClr val="tx2"/>
                </a:solidFill>
              </a:rPr>
              <a:t>으로 본다</a:t>
            </a:r>
            <a:r>
              <a:rPr lang="en-US" altLang="ko-KR" sz="1400" dirty="0">
                <a:solidFill>
                  <a:schemeClr val="tx2"/>
                </a:solidFill>
              </a:rPr>
              <a:t>.  </a:t>
            </a:r>
          </a:p>
          <a:p>
            <a:pPr fontAlgn="base"/>
            <a:r>
              <a:rPr lang="en-US" altLang="ko-KR" sz="1400" dirty="0">
                <a:solidFill>
                  <a:schemeClr val="tx2"/>
                </a:solidFill>
              </a:rPr>
              <a:t>②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따라 준용되는 제</a:t>
            </a:r>
            <a:r>
              <a:rPr lang="en-US" altLang="ko-KR" sz="1400" dirty="0">
                <a:solidFill>
                  <a:schemeClr val="tx2"/>
                </a:solidFill>
              </a:rPr>
              <a:t>63</a:t>
            </a:r>
            <a:r>
              <a:rPr lang="ko-KR" altLang="en-US" sz="1400" dirty="0">
                <a:solidFill>
                  <a:schemeClr val="tx2"/>
                </a:solidFill>
              </a:rPr>
              <a:t>조는 특허거절결정의 이유와 다른 거절이유를 발견한 경우에만 적용한다</a:t>
            </a:r>
            <a:r>
              <a:rPr lang="en-US" altLang="ko-KR" sz="1400" dirty="0">
                <a:solidFill>
                  <a:schemeClr val="tx2"/>
                </a:solidFill>
              </a:rPr>
              <a:t>.</a:t>
            </a:r>
          </a:p>
        </p:txBody>
      </p:sp>
      <p:sp>
        <p:nvSpPr>
          <p:cNvPr id="5" name="직사각형 4"/>
          <p:cNvSpPr/>
          <p:nvPr/>
        </p:nvSpPr>
        <p:spPr>
          <a:xfrm>
            <a:off x="669304" y="2431583"/>
            <a:ext cx="3349496" cy="745250"/>
          </a:xfrm>
          <a:prstGeom prst="rect">
            <a:avLst/>
          </a:prstGeom>
          <a:solidFill>
            <a:schemeClr val="accent4">
              <a:lumMod val="20000"/>
              <a:lumOff val="80000"/>
            </a:schemeClr>
          </a:solidFill>
          <a:ln>
            <a:solidFill>
              <a:schemeClr val="bg1">
                <a:lumMod val="50000"/>
              </a:schemeClr>
            </a:solidFill>
          </a:ln>
        </p:spPr>
        <p:txBody>
          <a:bodyPr wrap="square" anchor="ctr">
            <a:noAutofit/>
          </a:bodyPr>
          <a:lstStyle/>
          <a:p>
            <a:pPr algn="ctr"/>
            <a:r>
              <a:rPr lang="ko-KR" altLang="en-US" dirty="0">
                <a:solidFill>
                  <a:schemeClr val="tx2"/>
                </a:solidFill>
              </a:rPr>
              <a:t>제</a:t>
            </a:r>
            <a:r>
              <a:rPr lang="en-US" altLang="ko-KR" dirty="0">
                <a:solidFill>
                  <a:schemeClr val="tx2"/>
                </a:solidFill>
              </a:rPr>
              <a:t>47</a:t>
            </a:r>
            <a:r>
              <a:rPr lang="ko-KR" altLang="en-US" dirty="0">
                <a:solidFill>
                  <a:schemeClr val="tx2"/>
                </a:solidFill>
              </a:rPr>
              <a:t>조제</a:t>
            </a:r>
            <a:r>
              <a:rPr lang="en-US" altLang="ko-KR" dirty="0">
                <a:solidFill>
                  <a:schemeClr val="tx2"/>
                </a:solidFill>
              </a:rPr>
              <a:t>1</a:t>
            </a:r>
            <a:r>
              <a:rPr lang="ko-KR" altLang="en-US" dirty="0" err="1">
                <a:solidFill>
                  <a:schemeClr val="tx2"/>
                </a:solidFill>
              </a:rPr>
              <a:t>항제</a:t>
            </a:r>
            <a:r>
              <a:rPr lang="en-US" altLang="ko-KR" dirty="0">
                <a:solidFill>
                  <a:schemeClr val="tx2"/>
                </a:solidFill>
              </a:rPr>
              <a:t>2</a:t>
            </a:r>
            <a:r>
              <a:rPr lang="ko-KR" altLang="en-US" dirty="0">
                <a:solidFill>
                  <a:schemeClr val="tx2"/>
                </a:solidFill>
              </a:rPr>
              <a:t>호 및 제</a:t>
            </a:r>
            <a:r>
              <a:rPr lang="en-US" altLang="ko-KR" dirty="0">
                <a:solidFill>
                  <a:schemeClr val="tx2"/>
                </a:solidFill>
              </a:rPr>
              <a:t>3</a:t>
            </a:r>
            <a:r>
              <a:rPr lang="ko-KR" altLang="en-US" dirty="0">
                <a:solidFill>
                  <a:schemeClr val="tx2"/>
                </a:solidFill>
              </a:rPr>
              <a:t>호에 </a:t>
            </a:r>
            <a:endParaRPr lang="en-US" altLang="ko-KR" dirty="0">
              <a:solidFill>
                <a:schemeClr val="tx2"/>
              </a:solidFill>
            </a:endParaRPr>
          </a:p>
          <a:p>
            <a:pPr algn="ctr"/>
            <a:r>
              <a:rPr lang="ko-KR" altLang="en-US" dirty="0">
                <a:solidFill>
                  <a:schemeClr val="tx2"/>
                </a:solidFill>
              </a:rPr>
              <a:t>따른 보정</a:t>
            </a:r>
            <a:endParaRPr lang="ko-KR" altLang="en-US" dirty="0"/>
          </a:p>
        </p:txBody>
      </p:sp>
      <p:sp>
        <p:nvSpPr>
          <p:cNvPr id="6" name="직사각형 5"/>
          <p:cNvSpPr/>
          <p:nvPr/>
        </p:nvSpPr>
        <p:spPr>
          <a:xfrm>
            <a:off x="654573" y="4925209"/>
            <a:ext cx="3364227" cy="1200329"/>
          </a:xfrm>
          <a:prstGeom prst="rect">
            <a:avLst/>
          </a:prstGeom>
          <a:solidFill>
            <a:schemeClr val="accent1">
              <a:lumMod val="20000"/>
              <a:lumOff val="80000"/>
            </a:schemeClr>
          </a:solidFill>
          <a:ln>
            <a:solidFill>
              <a:schemeClr val="bg1">
                <a:lumMod val="50000"/>
              </a:schemeClr>
            </a:solidFill>
          </a:ln>
        </p:spPr>
        <p:txBody>
          <a:bodyPr wrap="square">
            <a:spAutoFit/>
          </a:bodyPr>
          <a:lstStyle/>
          <a:p>
            <a:pPr algn="ctr"/>
            <a:r>
              <a:rPr lang="ko-KR" altLang="en-US" dirty="0">
                <a:solidFill>
                  <a:schemeClr val="tx2"/>
                </a:solidFill>
              </a:rPr>
              <a:t>제</a:t>
            </a:r>
            <a:r>
              <a:rPr lang="en-US" altLang="ko-KR" dirty="0">
                <a:solidFill>
                  <a:schemeClr val="tx2"/>
                </a:solidFill>
              </a:rPr>
              <a:t>47</a:t>
            </a:r>
            <a:r>
              <a:rPr lang="ko-KR" altLang="en-US" dirty="0">
                <a:solidFill>
                  <a:schemeClr val="tx2"/>
                </a:solidFill>
              </a:rPr>
              <a:t>조제</a:t>
            </a:r>
            <a:r>
              <a:rPr lang="en-US" altLang="ko-KR" dirty="0">
                <a:solidFill>
                  <a:schemeClr val="tx2"/>
                </a:solidFill>
              </a:rPr>
              <a:t>1</a:t>
            </a:r>
            <a:r>
              <a:rPr lang="ko-KR" altLang="en-US" dirty="0" err="1">
                <a:solidFill>
                  <a:schemeClr val="tx2"/>
                </a:solidFill>
              </a:rPr>
              <a:t>항제</a:t>
            </a:r>
            <a:r>
              <a:rPr lang="en-US" altLang="ko-KR" dirty="0">
                <a:solidFill>
                  <a:schemeClr val="tx2"/>
                </a:solidFill>
              </a:rPr>
              <a:t>2</a:t>
            </a:r>
            <a:r>
              <a:rPr lang="ko-KR" altLang="en-US" dirty="0">
                <a:solidFill>
                  <a:schemeClr val="tx2"/>
                </a:solidFill>
              </a:rPr>
              <a:t>호에 따른 보정</a:t>
            </a:r>
            <a:r>
              <a:rPr lang="en-US" altLang="ko-KR" dirty="0">
                <a:solidFill>
                  <a:schemeClr val="tx2"/>
                </a:solidFill>
              </a:rPr>
              <a:t>(</a:t>
            </a:r>
            <a:r>
              <a:rPr lang="ko-KR" altLang="en-US" dirty="0">
                <a:solidFill>
                  <a:schemeClr val="tx2"/>
                </a:solidFill>
              </a:rPr>
              <a:t>제</a:t>
            </a:r>
            <a:r>
              <a:rPr lang="en-US" altLang="ko-KR" dirty="0">
                <a:solidFill>
                  <a:schemeClr val="tx2"/>
                </a:solidFill>
              </a:rPr>
              <a:t>132</a:t>
            </a:r>
            <a:r>
              <a:rPr lang="ko-KR" altLang="en-US" dirty="0">
                <a:solidFill>
                  <a:schemeClr val="tx2"/>
                </a:solidFill>
              </a:rPr>
              <a:t>조의</a:t>
            </a:r>
            <a:r>
              <a:rPr lang="en-US" altLang="ko-KR" dirty="0">
                <a:solidFill>
                  <a:schemeClr val="tx2"/>
                </a:solidFill>
              </a:rPr>
              <a:t>17</a:t>
            </a:r>
            <a:r>
              <a:rPr lang="ko-KR" altLang="en-US" dirty="0">
                <a:solidFill>
                  <a:schemeClr val="tx2"/>
                </a:solidFill>
              </a:rPr>
              <a:t>의 특허거절결정에 대한 심판청구 전에 한 것은 제외한다</a:t>
            </a:r>
            <a:r>
              <a:rPr lang="en-US" altLang="ko-KR" dirty="0">
                <a:solidFill>
                  <a:schemeClr val="tx2"/>
                </a:solidFill>
              </a:rPr>
              <a:t>)</a:t>
            </a:r>
            <a:endParaRPr lang="ko-KR" altLang="en-US" dirty="0"/>
          </a:p>
        </p:txBody>
      </p:sp>
      <p:sp>
        <p:nvSpPr>
          <p:cNvPr id="7" name="오른쪽 화살표 6"/>
          <p:cNvSpPr/>
          <p:nvPr/>
        </p:nvSpPr>
        <p:spPr>
          <a:xfrm rot="5400000">
            <a:off x="1760916" y="3511238"/>
            <a:ext cx="1046375" cy="1099142"/>
          </a:xfrm>
          <a:prstGeom prst="rightArrow">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 name="직사각형 7"/>
          <p:cNvSpPr/>
          <p:nvPr/>
        </p:nvSpPr>
        <p:spPr>
          <a:xfrm>
            <a:off x="4364610" y="4487159"/>
            <a:ext cx="4100661" cy="46395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제</a:t>
            </a:r>
            <a:r>
              <a:rPr lang="en-US" altLang="ko-KR" sz="1400" dirty="0">
                <a:solidFill>
                  <a:schemeClr val="tx1"/>
                </a:solidFill>
              </a:rPr>
              <a:t>47</a:t>
            </a:r>
            <a:r>
              <a:rPr lang="ko-KR" altLang="en-US" sz="1400" dirty="0">
                <a:solidFill>
                  <a:schemeClr val="tx1"/>
                </a:solidFill>
              </a:rPr>
              <a:t>조제</a:t>
            </a:r>
            <a:r>
              <a:rPr lang="en-US" altLang="ko-KR" sz="1400" dirty="0">
                <a:solidFill>
                  <a:schemeClr val="tx1"/>
                </a:solidFill>
              </a:rPr>
              <a:t>1</a:t>
            </a:r>
            <a:r>
              <a:rPr lang="ko-KR" altLang="en-US" sz="1400" dirty="0" err="1">
                <a:solidFill>
                  <a:schemeClr val="tx1"/>
                </a:solidFill>
              </a:rPr>
              <a:t>항제</a:t>
            </a:r>
            <a:r>
              <a:rPr lang="en-US" altLang="ko-KR" sz="1400" dirty="0">
                <a:solidFill>
                  <a:schemeClr val="tx1"/>
                </a:solidFill>
              </a:rPr>
              <a:t>3</a:t>
            </a:r>
            <a:r>
              <a:rPr lang="ko-KR" altLang="en-US" sz="1400" dirty="0">
                <a:solidFill>
                  <a:schemeClr val="tx1"/>
                </a:solidFill>
              </a:rPr>
              <a:t>호 시기에 보정 범위 위반</a:t>
            </a:r>
          </a:p>
        </p:txBody>
      </p:sp>
      <p:sp>
        <p:nvSpPr>
          <p:cNvPr id="20" name="직사각형 19"/>
          <p:cNvSpPr/>
          <p:nvPr/>
        </p:nvSpPr>
        <p:spPr>
          <a:xfrm>
            <a:off x="4364610" y="4994167"/>
            <a:ext cx="4100661" cy="46395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심판청구 전 제</a:t>
            </a:r>
            <a:r>
              <a:rPr lang="en-US" altLang="ko-KR" sz="1400" dirty="0">
                <a:solidFill>
                  <a:schemeClr val="tx1"/>
                </a:solidFill>
              </a:rPr>
              <a:t>47</a:t>
            </a:r>
            <a:r>
              <a:rPr lang="ko-KR" altLang="en-US" sz="1400" dirty="0">
                <a:solidFill>
                  <a:schemeClr val="tx1"/>
                </a:solidFill>
              </a:rPr>
              <a:t>조제</a:t>
            </a:r>
            <a:r>
              <a:rPr lang="en-US" altLang="ko-KR" sz="1400" dirty="0">
                <a:solidFill>
                  <a:schemeClr val="tx1"/>
                </a:solidFill>
              </a:rPr>
              <a:t>1</a:t>
            </a:r>
            <a:r>
              <a:rPr lang="ko-KR" altLang="en-US" sz="1400" dirty="0" err="1">
                <a:solidFill>
                  <a:schemeClr val="tx1"/>
                </a:solidFill>
              </a:rPr>
              <a:t>항제</a:t>
            </a:r>
            <a:r>
              <a:rPr lang="en-US" altLang="ko-KR" sz="1400" dirty="0">
                <a:solidFill>
                  <a:schemeClr val="tx1"/>
                </a:solidFill>
              </a:rPr>
              <a:t>2</a:t>
            </a:r>
            <a:r>
              <a:rPr lang="ko-KR" altLang="en-US" sz="1400" dirty="0">
                <a:solidFill>
                  <a:schemeClr val="tx1"/>
                </a:solidFill>
              </a:rPr>
              <a:t>호 시기에 보정 범위 위반</a:t>
            </a:r>
          </a:p>
        </p:txBody>
      </p:sp>
      <p:sp>
        <p:nvSpPr>
          <p:cNvPr id="21" name="직사각형 20"/>
          <p:cNvSpPr/>
          <p:nvPr/>
        </p:nvSpPr>
        <p:spPr>
          <a:xfrm>
            <a:off x="4364610" y="5934808"/>
            <a:ext cx="4100661" cy="463952"/>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심판청구 후 제</a:t>
            </a:r>
            <a:r>
              <a:rPr lang="en-US" altLang="ko-KR" sz="1400" dirty="0">
                <a:solidFill>
                  <a:schemeClr val="tx1"/>
                </a:solidFill>
              </a:rPr>
              <a:t>47</a:t>
            </a:r>
            <a:r>
              <a:rPr lang="ko-KR" altLang="en-US" sz="1400" dirty="0">
                <a:solidFill>
                  <a:schemeClr val="tx1"/>
                </a:solidFill>
              </a:rPr>
              <a:t>조제</a:t>
            </a:r>
            <a:r>
              <a:rPr lang="en-US" altLang="ko-KR" sz="1400" dirty="0">
                <a:solidFill>
                  <a:schemeClr val="tx1"/>
                </a:solidFill>
              </a:rPr>
              <a:t>1</a:t>
            </a:r>
            <a:r>
              <a:rPr lang="ko-KR" altLang="en-US" sz="1400" dirty="0" err="1">
                <a:solidFill>
                  <a:schemeClr val="tx1"/>
                </a:solidFill>
              </a:rPr>
              <a:t>항제</a:t>
            </a:r>
            <a:r>
              <a:rPr lang="en-US" altLang="ko-KR" sz="1400" dirty="0">
                <a:solidFill>
                  <a:schemeClr val="tx1"/>
                </a:solidFill>
              </a:rPr>
              <a:t>2</a:t>
            </a:r>
            <a:r>
              <a:rPr lang="ko-KR" altLang="en-US" sz="1400" dirty="0">
                <a:solidFill>
                  <a:schemeClr val="tx1"/>
                </a:solidFill>
              </a:rPr>
              <a:t>호 시기에 보정 범위 위반</a:t>
            </a:r>
          </a:p>
        </p:txBody>
      </p:sp>
      <p:cxnSp>
        <p:nvCxnSpPr>
          <p:cNvPr id="10" name="꺾인 연결선 9"/>
          <p:cNvCxnSpPr>
            <a:stCxn id="6" idx="3"/>
            <a:endCxn id="8" idx="1"/>
          </p:cNvCxnSpPr>
          <p:nvPr/>
        </p:nvCxnSpPr>
        <p:spPr>
          <a:xfrm flipV="1">
            <a:off x="4018800" y="4719135"/>
            <a:ext cx="345810" cy="115918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꺾인 연결선 11"/>
          <p:cNvCxnSpPr>
            <a:stCxn id="6" idx="3"/>
            <a:endCxn id="21" idx="1"/>
          </p:cNvCxnSpPr>
          <p:nvPr/>
        </p:nvCxnSpPr>
        <p:spPr>
          <a:xfrm>
            <a:off x="4018800" y="5525374"/>
            <a:ext cx="345810" cy="641410"/>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꺾인 연결선 17"/>
          <p:cNvCxnSpPr>
            <a:stCxn id="6" idx="3"/>
            <a:endCxn id="20" idx="1"/>
          </p:cNvCxnSpPr>
          <p:nvPr/>
        </p:nvCxnSpPr>
        <p:spPr>
          <a:xfrm flipV="1">
            <a:off x="4018800" y="5226143"/>
            <a:ext cx="345810" cy="65217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 name="모서리가 둥근 직사각형 27"/>
          <p:cNvSpPr/>
          <p:nvPr/>
        </p:nvSpPr>
        <p:spPr>
          <a:xfrm>
            <a:off x="8908329" y="4487159"/>
            <a:ext cx="904974" cy="463952"/>
          </a:xfrm>
          <a:prstGeom prst="roundRect">
            <a:avLst>
              <a:gd name="adj" fmla="val 3901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t>제외</a:t>
            </a:r>
          </a:p>
        </p:txBody>
      </p:sp>
      <p:sp>
        <p:nvSpPr>
          <p:cNvPr id="36" name="모서리가 둥근 직사각형 35"/>
          <p:cNvSpPr/>
          <p:nvPr/>
        </p:nvSpPr>
        <p:spPr>
          <a:xfrm>
            <a:off x="8908329" y="4994167"/>
            <a:ext cx="904974" cy="463952"/>
          </a:xfrm>
          <a:prstGeom prst="roundRect">
            <a:avLst>
              <a:gd name="adj" fmla="val 3901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t>제외</a:t>
            </a:r>
          </a:p>
        </p:txBody>
      </p:sp>
      <p:sp>
        <p:nvSpPr>
          <p:cNvPr id="37" name="모서리가 둥근 직사각형 36"/>
          <p:cNvSpPr/>
          <p:nvPr/>
        </p:nvSpPr>
        <p:spPr>
          <a:xfrm>
            <a:off x="8908329" y="5934808"/>
            <a:ext cx="904974" cy="463952"/>
          </a:xfrm>
          <a:prstGeom prst="roundRect">
            <a:avLst>
              <a:gd name="adj" fmla="val 39017"/>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포함</a:t>
            </a:r>
          </a:p>
        </p:txBody>
      </p:sp>
      <p:sp>
        <p:nvSpPr>
          <p:cNvPr id="40" name="직사각형 39"/>
          <p:cNvSpPr/>
          <p:nvPr/>
        </p:nvSpPr>
        <p:spPr>
          <a:xfrm>
            <a:off x="4087906" y="3872234"/>
            <a:ext cx="4514052" cy="4639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rgbClr val="FF0000"/>
                </a:solidFill>
              </a:rPr>
              <a:t>심판청구 전 </a:t>
            </a:r>
            <a:r>
              <a:rPr lang="ko-KR" altLang="en-US" sz="1600" dirty="0" err="1">
                <a:solidFill>
                  <a:srgbClr val="FF0000"/>
                </a:solidFill>
              </a:rPr>
              <a:t>부적법한</a:t>
            </a:r>
            <a:r>
              <a:rPr lang="ko-KR" altLang="en-US" sz="1600" dirty="0">
                <a:solidFill>
                  <a:srgbClr val="FF0000"/>
                </a:solidFill>
              </a:rPr>
              <a:t> 보정이 심판청구 후 발견</a:t>
            </a:r>
          </a:p>
        </p:txBody>
      </p:sp>
      <p:sp>
        <p:nvSpPr>
          <p:cNvPr id="4" name="슬라이드 번호 개체 틀 3"/>
          <p:cNvSpPr>
            <a:spLocks noGrp="1"/>
          </p:cNvSpPr>
          <p:nvPr>
            <p:ph type="sldNum" sz="quarter" idx="4294967295"/>
          </p:nvPr>
        </p:nvSpPr>
        <p:spPr>
          <a:xfrm>
            <a:off x="11125200" y="0"/>
            <a:ext cx="1066800" cy="711200"/>
          </a:xfrm>
        </p:spPr>
        <p:txBody>
          <a:bodyPr/>
          <a:lstStyle/>
          <a:p>
            <a:r>
              <a:rPr lang="en-US" altLang="ko-KR"/>
              <a:t>458</a:t>
            </a:r>
            <a:endParaRPr lang="ko-KR" altLang="en-US" dirty="0"/>
          </a:p>
        </p:txBody>
      </p:sp>
      <p:sp>
        <p:nvSpPr>
          <p:cNvPr id="9" name="사각형: 둥근 모서리 8">
            <a:extLst>
              <a:ext uri="{FF2B5EF4-FFF2-40B4-BE49-F238E27FC236}">
                <a16:creationId xmlns:a16="http://schemas.microsoft.com/office/drawing/2014/main" id="{42907FE0-4BAC-FAD4-6A7B-7CCF91F4FA4E}"/>
              </a:ext>
            </a:extLst>
          </p:cNvPr>
          <p:cNvSpPr/>
          <p:nvPr/>
        </p:nvSpPr>
        <p:spPr>
          <a:xfrm>
            <a:off x="8247538" y="3179045"/>
            <a:ext cx="2209930" cy="463952"/>
          </a:xfrm>
          <a:prstGeom prst="roundRect">
            <a:avLst>
              <a:gd name="adj" fmla="val 50000"/>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2000">
                <a:solidFill>
                  <a:schemeClr val="bg1"/>
                </a:solidFill>
              </a:rPr>
              <a:t>최후거절이유통지</a:t>
            </a:r>
            <a:endParaRPr lang="ko-KR" altLang="en-US" sz="2000" dirty="0">
              <a:solidFill>
                <a:schemeClr val="bg1"/>
              </a:solidFill>
            </a:endParaRPr>
          </a:p>
        </p:txBody>
      </p:sp>
      <p:sp>
        <p:nvSpPr>
          <p:cNvPr id="11" name="직사각형 10">
            <a:extLst>
              <a:ext uri="{FF2B5EF4-FFF2-40B4-BE49-F238E27FC236}">
                <a16:creationId xmlns:a16="http://schemas.microsoft.com/office/drawing/2014/main" id="{2CAE7194-340F-D6F0-84D0-423550160D31}"/>
              </a:ext>
            </a:extLst>
          </p:cNvPr>
          <p:cNvSpPr/>
          <p:nvPr/>
        </p:nvSpPr>
        <p:spPr>
          <a:xfrm>
            <a:off x="4258235" y="4376545"/>
            <a:ext cx="4274617" cy="1180781"/>
          </a:xfrm>
          <a:prstGeom prst="rect">
            <a:avLst/>
          </a:prstGeom>
          <a:noFill/>
          <a:ln w="38100">
            <a:solidFill>
              <a:srgbClr val="FF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319791932"/>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 name="말풍선: 모서리가 둥근 사각형 100">
            <a:extLst>
              <a:ext uri="{FF2B5EF4-FFF2-40B4-BE49-F238E27FC236}">
                <a16:creationId xmlns:a16="http://schemas.microsoft.com/office/drawing/2014/main" id="{0AF7BF0A-22C7-4BE6-BC10-E579C1C046EC}"/>
              </a:ext>
            </a:extLst>
          </p:cNvPr>
          <p:cNvSpPr/>
          <p:nvPr/>
        </p:nvSpPr>
        <p:spPr>
          <a:xfrm>
            <a:off x="9087440" y="5783591"/>
            <a:ext cx="2743200" cy="883070"/>
          </a:xfrm>
          <a:prstGeom prst="wedgeRoundRectCallout">
            <a:avLst>
              <a:gd name="adj1" fmla="val 25256"/>
              <a:gd name="adj2" fmla="val -121646"/>
              <a:gd name="adj3" fmla="val 16667"/>
            </a:avLst>
          </a:prstGeom>
          <a:solidFill>
            <a:schemeClr val="accent4">
              <a:lumMod val="20000"/>
              <a:lumOff val="8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tx2"/>
                </a:solidFill>
              </a:rPr>
              <a:t>법원이 행정권을 행사하는 것은 삼권분립의 원칙에 반하고</a:t>
            </a:r>
            <a:r>
              <a:rPr lang="en-US" altLang="ko-KR" sz="1200" dirty="0">
                <a:solidFill>
                  <a:schemeClr val="tx2"/>
                </a:solidFill>
              </a:rPr>
              <a:t>, </a:t>
            </a:r>
            <a:r>
              <a:rPr lang="ko-KR" altLang="en-US" sz="1200" dirty="0">
                <a:solidFill>
                  <a:schemeClr val="tx2"/>
                </a:solidFill>
              </a:rPr>
              <a:t>보정 후 명세서 또는 도면에 대해서 출원인의 의견서</a:t>
            </a:r>
            <a:r>
              <a:rPr lang="en-US" altLang="ko-KR" sz="1200" dirty="0">
                <a:solidFill>
                  <a:schemeClr val="tx2"/>
                </a:solidFill>
              </a:rPr>
              <a:t>/</a:t>
            </a:r>
            <a:r>
              <a:rPr lang="ko-KR" altLang="en-US" sz="1200" dirty="0">
                <a:solidFill>
                  <a:schemeClr val="tx2"/>
                </a:solidFill>
              </a:rPr>
              <a:t>보정서 제출기회를 박탈하지 않아야 함</a:t>
            </a:r>
          </a:p>
        </p:txBody>
      </p:sp>
      <p:sp>
        <p:nvSpPr>
          <p:cNvPr id="2" name="제목 1"/>
          <p:cNvSpPr>
            <a:spLocks noGrp="1"/>
          </p:cNvSpPr>
          <p:nvPr>
            <p:ph type="title"/>
          </p:nvPr>
        </p:nvSpPr>
        <p:spPr/>
        <p:txBody>
          <a:bodyPr/>
          <a:lstStyle/>
          <a:p>
            <a:r>
              <a:rPr lang="ko-KR" altLang="en-US" dirty="0"/>
              <a:t>제</a:t>
            </a:r>
            <a:r>
              <a:rPr lang="en-US" altLang="ko-KR" dirty="0"/>
              <a:t>170</a:t>
            </a:r>
            <a:r>
              <a:rPr lang="ko-KR" altLang="en-US" dirty="0"/>
              <a:t>조</a:t>
            </a:r>
          </a:p>
        </p:txBody>
      </p:sp>
      <p:sp>
        <p:nvSpPr>
          <p:cNvPr id="3" name="텍스트 개체 틀 2"/>
          <p:cNvSpPr>
            <a:spLocks noGrp="1"/>
          </p:cNvSpPr>
          <p:nvPr>
            <p:ph type="body" sz="quarter" idx="13"/>
          </p:nvPr>
        </p:nvSpPr>
        <p:spPr/>
        <p:txBody>
          <a:bodyPr/>
          <a:lstStyle/>
          <a:p>
            <a:r>
              <a:rPr lang="ko-KR" altLang="en-US" dirty="0" err="1">
                <a:solidFill>
                  <a:srgbClr val="525252"/>
                </a:solidFill>
              </a:rPr>
              <a:t>보정각하의</a:t>
            </a:r>
            <a:r>
              <a:rPr lang="ko-KR" altLang="en-US" dirty="0">
                <a:solidFill>
                  <a:srgbClr val="525252"/>
                </a:solidFill>
              </a:rPr>
              <a:t> 타당성에 대한 심리</a:t>
            </a:r>
          </a:p>
        </p:txBody>
      </p:sp>
      <p:cxnSp>
        <p:nvCxnSpPr>
          <p:cNvPr id="23" name="직선 연결선 22">
            <a:extLst>
              <a:ext uri="{FF2B5EF4-FFF2-40B4-BE49-F238E27FC236}">
                <a16:creationId xmlns:a16="http://schemas.microsoft.com/office/drawing/2014/main" id="{BC744699-A9D8-41E8-AC09-E31EE1EB6442}"/>
              </a:ext>
            </a:extLst>
          </p:cNvPr>
          <p:cNvCxnSpPr/>
          <p:nvPr/>
        </p:nvCxnSpPr>
        <p:spPr>
          <a:xfrm>
            <a:off x="0" y="2998699"/>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Line 5">
            <a:extLst>
              <a:ext uri="{FF2B5EF4-FFF2-40B4-BE49-F238E27FC236}">
                <a16:creationId xmlns:a16="http://schemas.microsoft.com/office/drawing/2014/main" id="{794B9111-CC3E-4267-819A-BCBE59AE3EB4}"/>
              </a:ext>
            </a:extLst>
          </p:cNvPr>
          <p:cNvSpPr>
            <a:spLocks noChangeShapeType="1"/>
          </p:cNvSpPr>
          <p:nvPr/>
        </p:nvSpPr>
        <p:spPr bwMode="auto">
          <a:xfrm>
            <a:off x="514351" y="3475072"/>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5" name="TextBox 24">
            <a:extLst>
              <a:ext uri="{FF2B5EF4-FFF2-40B4-BE49-F238E27FC236}">
                <a16:creationId xmlns:a16="http://schemas.microsoft.com/office/drawing/2014/main" id="{23DA4D5B-4814-4B17-A30D-17CD648D86D8}"/>
              </a:ext>
            </a:extLst>
          </p:cNvPr>
          <p:cNvSpPr txBox="1"/>
          <p:nvPr/>
        </p:nvSpPr>
        <p:spPr>
          <a:xfrm>
            <a:off x="656548" y="3731247"/>
            <a:ext cx="80499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a:solidFill>
                  <a:schemeClr val="tx1"/>
                </a:solidFill>
                <a:latin typeface="+mn-ea"/>
              </a:rPr>
              <a:t>출원</a:t>
            </a:r>
            <a:endParaRPr lang="ko-KR" altLang="en-US" sz="1200" dirty="0">
              <a:solidFill>
                <a:schemeClr val="tx1"/>
              </a:solidFill>
              <a:latin typeface="+mn-ea"/>
            </a:endParaRPr>
          </a:p>
        </p:txBody>
      </p:sp>
      <p:sp>
        <p:nvSpPr>
          <p:cNvPr id="26" name="타원 25">
            <a:extLst>
              <a:ext uri="{FF2B5EF4-FFF2-40B4-BE49-F238E27FC236}">
                <a16:creationId xmlns:a16="http://schemas.microsoft.com/office/drawing/2014/main" id="{1AD46315-FFAD-4F0C-B8F7-F1CDA31EFAA1}"/>
              </a:ext>
            </a:extLst>
          </p:cNvPr>
          <p:cNvSpPr/>
          <p:nvPr/>
        </p:nvSpPr>
        <p:spPr>
          <a:xfrm>
            <a:off x="981677" y="338113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27" name="직선 연결선 26">
            <a:extLst>
              <a:ext uri="{FF2B5EF4-FFF2-40B4-BE49-F238E27FC236}">
                <a16:creationId xmlns:a16="http://schemas.microsoft.com/office/drawing/2014/main" id="{EA5D4E93-967A-45F1-9F4B-EE501C5F5FFD}"/>
              </a:ext>
            </a:extLst>
          </p:cNvPr>
          <p:cNvCxnSpPr>
            <a:cxnSpLocks/>
            <a:stCxn id="25" idx="0"/>
            <a:endCxn id="26" idx="4"/>
          </p:cNvCxnSpPr>
          <p:nvPr/>
        </p:nvCxnSpPr>
        <p:spPr>
          <a:xfrm flipH="1" flipV="1">
            <a:off x="1059046" y="354247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A6DC7CD5-8ABF-4E0C-8F10-B5A2A68A1C46}"/>
              </a:ext>
            </a:extLst>
          </p:cNvPr>
          <p:cNvSpPr txBox="1"/>
          <p:nvPr/>
        </p:nvSpPr>
        <p:spPr>
          <a:xfrm>
            <a:off x="2710329" y="3731247"/>
            <a:ext cx="99661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보정각하</a:t>
            </a:r>
            <a:endParaRPr lang="ko-KR" altLang="en-US" sz="1200" dirty="0">
              <a:solidFill>
                <a:schemeClr val="tx1"/>
              </a:solidFill>
              <a:latin typeface="+mn-ea"/>
            </a:endParaRPr>
          </a:p>
        </p:txBody>
      </p:sp>
      <p:sp>
        <p:nvSpPr>
          <p:cNvPr id="31" name="타원 30">
            <a:extLst>
              <a:ext uri="{FF2B5EF4-FFF2-40B4-BE49-F238E27FC236}">
                <a16:creationId xmlns:a16="http://schemas.microsoft.com/office/drawing/2014/main" id="{426E2997-97A9-4ACA-B6B7-014946ACBEB4}"/>
              </a:ext>
            </a:extLst>
          </p:cNvPr>
          <p:cNvSpPr/>
          <p:nvPr/>
        </p:nvSpPr>
        <p:spPr>
          <a:xfrm>
            <a:off x="3131266" y="338113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2" name="직선 연결선 31">
            <a:extLst>
              <a:ext uri="{FF2B5EF4-FFF2-40B4-BE49-F238E27FC236}">
                <a16:creationId xmlns:a16="http://schemas.microsoft.com/office/drawing/2014/main" id="{58F98D89-25BB-445D-B43B-0204E8AE51A9}"/>
              </a:ext>
            </a:extLst>
          </p:cNvPr>
          <p:cNvCxnSpPr>
            <a:cxnSpLocks/>
            <a:stCxn id="30" idx="0"/>
            <a:endCxn id="31" idx="4"/>
          </p:cNvCxnSpPr>
          <p:nvPr/>
        </p:nvCxnSpPr>
        <p:spPr>
          <a:xfrm flipH="1" flipV="1">
            <a:off x="3208635" y="354247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직사각형 54">
            <a:extLst>
              <a:ext uri="{FF2B5EF4-FFF2-40B4-BE49-F238E27FC236}">
                <a16:creationId xmlns:a16="http://schemas.microsoft.com/office/drawing/2014/main" id="{88F9BA11-776F-458B-AEBF-785908167EF1}"/>
              </a:ext>
            </a:extLst>
          </p:cNvPr>
          <p:cNvSpPr/>
          <p:nvPr/>
        </p:nvSpPr>
        <p:spPr>
          <a:xfrm>
            <a:off x="232372" y="967374"/>
            <a:ext cx="11681987" cy="2031325"/>
          </a:xfrm>
          <a:prstGeom prst="rect">
            <a:avLst/>
          </a:prstGeom>
        </p:spPr>
        <p:txBody>
          <a:bodyPr wrap="square">
            <a:spAutoFit/>
          </a:bodyPr>
          <a:lstStyle/>
          <a:p>
            <a:pPr algn="just"/>
            <a:r>
              <a:rPr lang="ko-KR" altLang="en-US" sz="1400" dirty="0"/>
              <a:t>지식재산처는 거절결정에 대한 </a:t>
            </a:r>
            <a:r>
              <a:rPr lang="ko-KR" altLang="en-US" sz="1400" dirty="0" err="1"/>
              <a:t>심결취소소송</a:t>
            </a:r>
            <a:r>
              <a:rPr lang="ko-KR" altLang="en-US" sz="1400" dirty="0"/>
              <a:t> 단계에서 심판절차에서 다루어지지 아니한 새로운 이유를 추가하여 보정의 부적법을 주장할 수 있다고 보아야 한다</a:t>
            </a:r>
            <a:r>
              <a:rPr lang="en-US" altLang="ko-KR" sz="1400" dirty="0"/>
              <a:t>. </a:t>
            </a:r>
            <a:r>
              <a:rPr lang="ko-KR" altLang="en-US" sz="1400" dirty="0"/>
              <a:t>그리고 이러한 법리는 거절결정불복심판 단계에도 적용되어 특허심판원이 </a:t>
            </a:r>
            <a:r>
              <a:rPr lang="ko-KR" altLang="en-US" sz="1400" dirty="0" err="1"/>
              <a:t>출원인인</a:t>
            </a:r>
            <a:r>
              <a:rPr lang="ko-KR" altLang="en-US" sz="1400" dirty="0"/>
              <a:t> 심판청구인에게 의견진술의 기회를 주지 아니한 채 </a:t>
            </a:r>
            <a:r>
              <a:rPr lang="ko-KR" altLang="en-US" sz="1400" dirty="0" err="1"/>
              <a:t>보정각하결정에</a:t>
            </a:r>
            <a:r>
              <a:rPr lang="ko-KR" altLang="en-US" sz="1400" dirty="0"/>
              <a:t> 기재되지 아니한 새로운 </a:t>
            </a:r>
            <a:r>
              <a:rPr lang="ko-KR" altLang="en-US" sz="1400" dirty="0" err="1"/>
              <a:t>보정각하사유를</a:t>
            </a:r>
            <a:r>
              <a:rPr lang="ko-KR" altLang="en-US" sz="1400" dirty="0"/>
              <a:t> 들어 </a:t>
            </a:r>
            <a:r>
              <a:rPr lang="ko-KR" altLang="en-US" sz="1400" dirty="0" err="1"/>
              <a:t>보정각하결정이</a:t>
            </a:r>
            <a:r>
              <a:rPr lang="ko-KR" altLang="en-US" sz="1400" dirty="0"/>
              <a:t> 정당한 것으로 판단하였다고 할지라도 그 </a:t>
            </a:r>
            <a:r>
              <a:rPr lang="ko-KR" altLang="en-US" sz="1400" dirty="0" err="1"/>
              <a:t>심결을</a:t>
            </a:r>
            <a:r>
              <a:rPr lang="ko-KR" altLang="en-US" sz="1400" dirty="0"/>
              <a:t> 취소하여야 할 위법이 있다고 할 수 없다</a:t>
            </a:r>
            <a:r>
              <a:rPr lang="en-US" altLang="ko-KR" sz="1400" dirty="0"/>
              <a:t>(</a:t>
            </a:r>
            <a:r>
              <a:rPr lang="ko-KR" altLang="en-US" sz="1400" dirty="0"/>
              <a:t>특허법원 </a:t>
            </a:r>
            <a:r>
              <a:rPr lang="en-US" altLang="ko-KR" sz="1400" dirty="0"/>
              <a:t>2009. 7. 10. </a:t>
            </a:r>
            <a:r>
              <a:rPr lang="ko-KR" altLang="en-US" sz="1400" dirty="0"/>
              <a:t>선고 </a:t>
            </a:r>
            <a:r>
              <a:rPr lang="en-US" altLang="ko-KR" sz="1400" dirty="0"/>
              <a:t>2008</a:t>
            </a:r>
            <a:r>
              <a:rPr lang="ko-KR" altLang="en-US" sz="1400" dirty="0"/>
              <a:t>허</a:t>
            </a:r>
            <a:r>
              <a:rPr lang="en-US" altLang="ko-KR" sz="1400" dirty="0"/>
              <a:t>10764).</a:t>
            </a:r>
          </a:p>
          <a:p>
            <a:pPr algn="just"/>
            <a:r>
              <a:rPr lang="ko-KR" altLang="en-US" sz="1400" dirty="0" err="1"/>
              <a:t>특허거절결정에</a:t>
            </a:r>
            <a:r>
              <a:rPr lang="ko-KR" altLang="en-US" sz="1400" dirty="0"/>
              <a:t> 대한 불복심판청구를 기각한 </a:t>
            </a:r>
            <a:r>
              <a:rPr lang="ko-KR" altLang="en-US" sz="1400" dirty="0" err="1"/>
              <a:t>심결의</a:t>
            </a:r>
            <a:r>
              <a:rPr lang="ko-KR" altLang="en-US" sz="1400" dirty="0"/>
              <a:t> 취소소송에서 </a:t>
            </a:r>
            <a:r>
              <a:rPr lang="ko-KR" altLang="en-US" sz="1400" dirty="0">
                <a:highlight>
                  <a:srgbClr val="FFFF00"/>
                </a:highlight>
              </a:rPr>
              <a:t>법원은 </a:t>
            </a:r>
            <a:r>
              <a:rPr lang="ko-KR" altLang="en-US" sz="1400" dirty="0" err="1">
                <a:highlight>
                  <a:srgbClr val="FFFF00"/>
                </a:highlight>
              </a:rPr>
              <a:t>특허거절결정을</a:t>
            </a:r>
            <a:r>
              <a:rPr lang="ko-KR" altLang="en-US" sz="1400" dirty="0">
                <a:highlight>
                  <a:srgbClr val="FFFF00"/>
                </a:highlight>
              </a:rPr>
              <a:t> 유지한 </a:t>
            </a:r>
            <a:r>
              <a:rPr lang="ko-KR" altLang="en-US" sz="1400" dirty="0" err="1">
                <a:highlight>
                  <a:srgbClr val="FFFF00"/>
                </a:highlight>
              </a:rPr>
              <a:t>심결의</a:t>
            </a:r>
            <a:r>
              <a:rPr lang="ko-KR" altLang="en-US" sz="1400" dirty="0">
                <a:highlight>
                  <a:srgbClr val="FFFF00"/>
                </a:highlight>
              </a:rPr>
              <a:t> 위법성 여부를 판단하는 것일 뿐 특허출원에 대하여 직접 특허결정 또는 </a:t>
            </a:r>
            <a:r>
              <a:rPr lang="ko-KR" altLang="en-US" sz="1400" dirty="0" err="1">
                <a:highlight>
                  <a:srgbClr val="FFFF00"/>
                </a:highlight>
              </a:rPr>
              <a:t>특허거절결정을</a:t>
            </a:r>
            <a:r>
              <a:rPr lang="ko-KR" altLang="en-US" sz="1400" dirty="0">
                <a:highlight>
                  <a:srgbClr val="FFFF00"/>
                </a:highlight>
              </a:rPr>
              <a:t> 하는 것은 아니다</a:t>
            </a:r>
            <a:r>
              <a:rPr lang="en-US" altLang="ko-KR" sz="1400" dirty="0">
                <a:highlight>
                  <a:srgbClr val="FFFF00"/>
                </a:highlight>
              </a:rPr>
              <a:t>.</a:t>
            </a:r>
            <a:r>
              <a:rPr lang="en-US" altLang="ko-KR" sz="1400" dirty="0">
                <a:solidFill>
                  <a:srgbClr val="FF0000"/>
                </a:solidFill>
              </a:rPr>
              <a:t> </a:t>
            </a:r>
            <a:r>
              <a:rPr lang="ko-KR" altLang="en-US" sz="1400" dirty="0"/>
              <a:t>따라서 심사관이 특허출원의 보정에 대한 각하결정을 한 후 ‘보정 전의 </a:t>
            </a:r>
            <a:r>
              <a:rPr lang="ko-KR" altLang="en-US" sz="1400" dirty="0" err="1"/>
              <a:t>특허출원’에</a:t>
            </a:r>
            <a:r>
              <a:rPr lang="ko-KR" altLang="en-US" sz="1400" dirty="0"/>
              <a:t> 대하여 거절결정을 하였고</a:t>
            </a:r>
            <a:r>
              <a:rPr lang="en-US" altLang="ko-KR" sz="1400" dirty="0"/>
              <a:t>, </a:t>
            </a:r>
            <a:r>
              <a:rPr lang="ko-KR" altLang="en-US" sz="1400" dirty="0"/>
              <a:t>그에 대한 불복심판 절차에서 위 </a:t>
            </a:r>
            <a:r>
              <a:rPr lang="ko-KR" altLang="en-US" sz="1400" dirty="0" err="1"/>
              <a:t>보정각하결정</a:t>
            </a:r>
            <a:r>
              <a:rPr lang="ko-KR" altLang="en-US" sz="1400" dirty="0"/>
              <a:t> 및 거절결정이 적법하다는 이유로 심판청구를 기각하는 특허심판원의 </a:t>
            </a:r>
            <a:r>
              <a:rPr lang="ko-KR" altLang="en-US" sz="1400" dirty="0" err="1"/>
              <a:t>심결이</a:t>
            </a:r>
            <a:r>
              <a:rPr lang="ko-KR" altLang="en-US" sz="1400" dirty="0"/>
              <a:t> 있었던 경우</a:t>
            </a:r>
            <a:r>
              <a:rPr lang="en-US" altLang="ko-KR" sz="1400" dirty="0"/>
              <a:t>,</a:t>
            </a:r>
            <a:r>
              <a:rPr lang="en-US" altLang="ko-KR" sz="1400" dirty="0">
                <a:solidFill>
                  <a:srgbClr val="FF0000"/>
                </a:solidFill>
              </a:rPr>
              <a:t> </a:t>
            </a:r>
            <a:r>
              <a:rPr lang="ko-KR" altLang="en-US" sz="1400" dirty="0">
                <a:highlight>
                  <a:srgbClr val="FFFF00"/>
                </a:highlight>
              </a:rPr>
              <a:t>그 </a:t>
            </a:r>
            <a:r>
              <a:rPr lang="ko-KR" altLang="en-US" sz="1400" dirty="0" err="1">
                <a:highlight>
                  <a:srgbClr val="FFFF00"/>
                </a:highlight>
              </a:rPr>
              <a:t>심결취소소송에서</a:t>
            </a:r>
            <a:r>
              <a:rPr lang="ko-KR" altLang="en-US" sz="1400" dirty="0">
                <a:highlight>
                  <a:srgbClr val="FFFF00"/>
                </a:highlight>
              </a:rPr>
              <a:t> 법원은 위 </a:t>
            </a:r>
            <a:r>
              <a:rPr lang="ko-KR" altLang="en-US" sz="1400" dirty="0" err="1">
                <a:highlight>
                  <a:srgbClr val="FFFF00"/>
                </a:highlight>
              </a:rPr>
              <a:t>보정각하결정이</a:t>
            </a:r>
            <a:r>
              <a:rPr lang="ko-KR" altLang="en-US" sz="1400" dirty="0">
                <a:highlight>
                  <a:srgbClr val="FFFF00"/>
                </a:highlight>
              </a:rPr>
              <a:t> </a:t>
            </a:r>
            <a:r>
              <a:rPr lang="ko-KR" altLang="en-US" sz="1400" dirty="0" err="1">
                <a:highlight>
                  <a:srgbClr val="FFFF00"/>
                </a:highlight>
              </a:rPr>
              <a:t>위법하다면</a:t>
            </a:r>
            <a:r>
              <a:rPr lang="ko-KR" altLang="en-US" sz="1400" dirty="0">
                <a:highlight>
                  <a:srgbClr val="FFFF00"/>
                </a:highlight>
              </a:rPr>
              <a:t> </a:t>
            </a:r>
            <a:r>
              <a:rPr lang="ko-KR" altLang="en-US" sz="1400" dirty="0" err="1">
                <a:highlight>
                  <a:srgbClr val="FFFF00"/>
                </a:highlight>
              </a:rPr>
              <a:t>그것만을</a:t>
            </a:r>
            <a:r>
              <a:rPr lang="ko-KR" altLang="en-US" sz="1400" dirty="0">
                <a:highlight>
                  <a:srgbClr val="FFFF00"/>
                </a:highlight>
              </a:rPr>
              <a:t> 이유로 곧바로 </a:t>
            </a:r>
            <a:r>
              <a:rPr lang="ko-KR" altLang="en-US" sz="1400" dirty="0" err="1">
                <a:highlight>
                  <a:srgbClr val="FFFF00"/>
                </a:highlight>
              </a:rPr>
              <a:t>심결을</a:t>
            </a:r>
            <a:r>
              <a:rPr lang="ko-KR" altLang="en-US" sz="1400" dirty="0">
                <a:highlight>
                  <a:srgbClr val="FFFF00"/>
                </a:highlight>
              </a:rPr>
              <a:t> 취소하여야 하는 것이지</a:t>
            </a:r>
            <a:r>
              <a:rPr lang="en-US" altLang="ko-KR" sz="1400" dirty="0">
                <a:highlight>
                  <a:srgbClr val="FFFF00"/>
                </a:highlight>
              </a:rPr>
              <a:t>, </a:t>
            </a:r>
            <a:r>
              <a:rPr lang="ko-KR" altLang="en-US" sz="1400" dirty="0">
                <a:highlight>
                  <a:srgbClr val="FFFF00"/>
                </a:highlight>
              </a:rPr>
              <a:t>심사관 또는 특허심판원이 하지도 아니한 ‘보정 이후의 </a:t>
            </a:r>
            <a:r>
              <a:rPr lang="ko-KR" altLang="en-US" sz="1400" dirty="0" err="1">
                <a:highlight>
                  <a:srgbClr val="FFFF00"/>
                </a:highlight>
              </a:rPr>
              <a:t>특허출원’에</a:t>
            </a:r>
            <a:r>
              <a:rPr lang="ko-KR" altLang="en-US" sz="1400" dirty="0">
                <a:highlight>
                  <a:srgbClr val="FFFF00"/>
                </a:highlight>
              </a:rPr>
              <a:t> 대한 거절결정의 위법성 여부까지 스스로 심리하여 이 역시 위법한 경우에만 </a:t>
            </a:r>
            <a:r>
              <a:rPr lang="ko-KR" altLang="en-US" sz="1400" dirty="0" err="1">
                <a:highlight>
                  <a:srgbClr val="FFFF00"/>
                </a:highlight>
              </a:rPr>
              <a:t>심결을</a:t>
            </a:r>
            <a:r>
              <a:rPr lang="ko-KR" altLang="en-US" sz="1400" dirty="0">
                <a:highlight>
                  <a:srgbClr val="FFFF00"/>
                </a:highlight>
              </a:rPr>
              <a:t> 취소할 것은 아니다</a:t>
            </a:r>
            <a:r>
              <a:rPr lang="en-US" altLang="ko-KR" sz="1400" dirty="0"/>
              <a:t>(</a:t>
            </a:r>
            <a:r>
              <a:rPr lang="ko-KR" altLang="en-US" sz="1400" dirty="0"/>
              <a:t>대법원 </a:t>
            </a:r>
            <a:r>
              <a:rPr lang="en-US" altLang="ko-KR" sz="1400" dirty="0"/>
              <a:t>2014. 7. 10. </a:t>
            </a:r>
            <a:r>
              <a:rPr lang="ko-KR" altLang="en-US" sz="1400" dirty="0"/>
              <a:t>선고 </a:t>
            </a:r>
            <a:r>
              <a:rPr lang="en-US" altLang="ko-KR" sz="1400" dirty="0"/>
              <a:t>2012</a:t>
            </a:r>
            <a:r>
              <a:rPr lang="ko-KR" altLang="en-US" sz="1400" dirty="0"/>
              <a:t>후</a:t>
            </a:r>
            <a:r>
              <a:rPr lang="en-US" altLang="ko-KR" sz="1400" dirty="0"/>
              <a:t>3121).</a:t>
            </a:r>
          </a:p>
        </p:txBody>
      </p:sp>
      <p:sp>
        <p:nvSpPr>
          <p:cNvPr id="56" name="TextBox 55">
            <a:extLst>
              <a:ext uri="{FF2B5EF4-FFF2-40B4-BE49-F238E27FC236}">
                <a16:creationId xmlns:a16="http://schemas.microsoft.com/office/drawing/2014/main" id="{CEC64650-FA1A-42F5-9E63-57C007D9A74A}"/>
              </a:ext>
            </a:extLst>
          </p:cNvPr>
          <p:cNvSpPr txBox="1"/>
          <p:nvPr/>
        </p:nvSpPr>
        <p:spPr>
          <a:xfrm>
            <a:off x="1639882" y="3731247"/>
            <a:ext cx="80499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보정</a:t>
            </a:r>
          </a:p>
        </p:txBody>
      </p:sp>
      <p:sp>
        <p:nvSpPr>
          <p:cNvPr id="57" name="타원 56">
            <a:extLst>
              <a:ext uri="{FF2B5EF4-FFF2-40B4-BE49-F238E27FC236}">
                <a16:creationId xmlns:a16="http://schemas.microsoft.com/office/drawing/2014/main" id="{D4AE4696-869C-4C58-9353-2D84D978F12E}"/>
              </a:ext>
            </a:extLst>
          </p:cNvPr>
          <p:cNvSpPr/>
          <p:nvPr/>
        </p:nvSpPr>
        <p:spPr>
          <a:xfrm>
            <a:off x="1965011" y="338113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8" name="직선 연결선 57">
            <a:extLst>
              <a:ext uri="{FF2B5EF4-FFF2-40B4-BE49-F238E27FC236}">
                <a16:creationId xmlns:a16="http://schemas.microsoft.com/office/drawing/2014/main" id="{C2F50CDB-7D92-4913-94E3-9894F6D59D3E}"/>
              </a:ext>
            </a:extLst>
          </p:cNvPr>
          <p:cNvCxnSpPr>
            <a:cxnSpLocks/>
            <a:stCxn id="56" idx="0"/>
            <a:endCxn id="57" idx="4"/>
          </p:cNvCxnSpPr>
          <p:nvPr/>
        </p:nvCxnSpPr>
        <p:spPr>
          <a:xfrm flipH="1" flipV="1">
            <a:off x="2042380" y="354247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C27012D4-CD7A-4107-9185-8E2207B3CF1A}"/>
              </a:ext>
            </a:extLst>
          </p:cNvPr>
          <p:cNvSpPr txBox="1"/>
          <p:nvPr/>
        </p:nvSpPr>
        <p:spPr>
          <a:xfrm>
            <a:off x="2710329" y="4039024"/>
            <a:ext cx="99661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거절결정</a:t>
            </a:r>
          </a:p>
        </p:txBody>
      </p:sp>
      <p:sp>
        <p:nvSpPr>
          <p:cNvPr id="60" name="TextBox 59">
            <a:extLst>
              <a:ext uri="{FF2B5EF4-FFF2-40B4-BE49-F238E27FC236}">
                <a16:creationId xmlns:a16="http://schemas.microsoft.com/office/drawing/2014/main" id="{9FB043EF-1FDC-4517-9865-8BC1F76A326F}"/>
              </a:ext>
            </a:extLst>
          </p:cNvPr>
          <p:cNvSpPr txBox="1"/>
          <p:nvPr/>
        </p:nvSpPr>
        <p:spPr>
          <a:xfrm>
            <a:off x="3886322" y="3731247"/>
            <a:ext cx="896560"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심판청구</a:t>
            </a:r>
          </a:p>
        </p:txBody>
      </p:sp>
      <p:sp>
        <p:nvSpPr>
          <p:cNvPr id="61" name="타원 60">
            <a:extLst>
              <a:ext uri="{FF2B5EF4-FFF2-40B4-BE49-F238E27FC236}">
                <a16:creationId xmlns:a16="http://schemas.microsoft.com/office/drawing/2014/main" id="{53F25411-FD00-41BB-BBEC-40828DD5A7B0}"/>
              </a:ext>
            </a:extLst>
          </p:cNvPr>
          <p:cNvSpPr/>
          <p:nvPr/>
        </p:nvSpPr>
        <p:spPr>
          <a:xfrm>
            <a:off x="4257232" y="338113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2" name="직선 연결선 61">
            <a:extLst>
              <a:ext uri="{FF2B5EF4-FFF2-40B4-BE49-F238E27FC236}">
                <a16:creationId xmlns:a16="http://schemas.microsoft.com/office/drawing/2014/main" id="{979E3403-888A-420E-B827-E2CF68922C2E}"/>
              </a:ext>
            </a:extLst>
          </p:cNvPr>
          <p:cNvCxnSpPr>
            <a:cxnSpLocks/>
            <a:stCxn id="60" idx="0"/>
            <a:endCxn id="61" idx="4"/>
          </p:cNvCxnSpPr>
          <p:nvPr/>
        </p:nvCxnSpPr>
        <p:spPr>
          <a:xfrm flipH="1" flipV="1">
            <a:off x="4334601" y="354247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3C1958BA-4E3A-4732-AA66-D30ABBCD8CB5}"/>
              </a:ext>
            </a:extLst>
          </p:cNvPr>
          <p:cNvSpPr txBox="1"/>
          <p:nvPr/>
        </p:nvSpPr>
        <p:spPr>
          <a:xfrm>
            <a:off x="5067961" y="3731247"/>
            <a:ext cx="99661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심리</a:t>
            </a:r>
          </a:p>
        </p:txBody>
      </p:sp>
      <p:sp>
        <p:nvSpPr>
          <p:cNvPr id="64" name="타원 63">
            <a:extLst>
              <a:ext uri="{FF2B5EF4-FFF2-40B4-BE49-F238E27FC236}">
                <a16:creationId xmlns:a16="http://schemas.microsoft.com/office/drawing/2014/main" id="{9DB82E8D-5509-4311-BD36-038E86CC01B8}"/>
              </a:ext>
            </a:extLst>
          </p:cNvPr>
          <p:cNvSpPr/>
          <p:nvPr/>
        </p:nvSpPr>
        <p:spPr>
          <a:xfrm>
            <a:off x="5488898" y="338113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5" name="직선 연결선 64">
            <a:extLst>
              <a:ext uri="{FF2B5EF4-FFF2-40B4-BE49-F238E27FC236}">
                <a16:creationId xmlns:a16="http://schemas.microsoft.com/office/drawing/2014/main" id="{F2476A6A-9B3B-4095-A8A4-674B83A6FE17}"/>
              </a:ext>
            </a:extLst>
          </p:cNvPr>
          <p:cNvCxnSpPr>
            <a:cxnSpLocks/>
            <a:stCxn id="63" idx="0"/>
            <a:endCxn id="64" idx="4"/>
          </p:cNvCxnSpPr>
          <p:nvPr/>
        </p:nvCxnSpPr>
        <p:spPr>
          <a:xfrm flipH="1" flipV="1">
            <a:off x="5566267" y="354247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63F62A0-8F06-4FDB-A70D-682D80BFCD9C}"/>
              </a:ext>
            </a:extLst>
          </p:cNvPr>
          <p:cNvSpPr txBox="1"/>
          <p:nvPr/>
        </p:nvSpPr>
        <p:spPr>
          <a:xfrm>
            <a:off x="3886322" y="4192981"/>
            <a:ext cx="896560"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보정각하</a:t>
            </a:r>
            <a:r>
              <a:rPr lang="ko-KR" altLang="en-US" sz="1200" dirty="0">
                <a:solidFill>
                  <a:schemeClr val="tx1"/>
                </a:solidFill>
                <a:latin typeface="+mn-ea"/>
              </a:rPr>
              <a:t> 함께 불복</a:t>
            </a:r>
          </a:p>
        </p:txBody>
      </p:sp>
      <p:cxnSp>
        <p:nvCxnSpPr>
          <p:cNvPr id="19" name="직선 연결선 18">
            <a:extLst>
              <a:ext uri="{FF2B5EF4-FFF2-40B4-BE49-F238E27FC236}">
                <a16:creationId xmlns:a16="http://schemas.microsoft.com/office/drawing/2014/main" id="{FCED3B56-E4D3-4F77-8889-67B40FD78172}"/>
              </a:ext>
            </a:extLst>
          </p:cNvPr>
          <p:cNvCxnSpPr>
            <a:stCxn id="67" idx="0"/>
            <a:endCxn id="60" idx="2"/>
          </p:cNvCxnSpPr>
          <p:nvPr/>
        </p:nvCxnSpPr>
        <p:spPr>
          <a:xfrm flipV="1">
            <a:off x="4334602" y="4008246"/>
            <a:ext cx="0" cy="18473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A2C5E23A-D3B7-4FE3-A026-343C1B674F49}"/>
              </a:ext>
            </a:extLst>
          </p:cNvPr>
          <p:cNvSpPr txBox="1"/>
          <p:nvPr/>
        </p:nvSpPr>
        <p:spPr>
          <a:xfrm>
            <a:off x="3395770" y="5105093"/>
            <a:ext cx="917239" cy="461665"/>
          </a:xfrm>
          <a:prstGeom prst="rect">
            <a:avLst/>
          </a:prstGeom>
          <a:noFill/>
          <a:ln>
            <a:solidFill>
              <a:schemeClr val="bg1">
                <a:lumMod val="50000"/>
              </a:schemeClr>
            </a:solidFill>
          </a:ln>
        </p:spPr>
        <p:txBody>
          <a:bodyPr wrap="none" rtlCol="0">
            <a:spAutoFit/>
          </a:bodyPr>
          <a:lstStyle/>
          <a:p>
            <a:pPr algn="ctr"/>
            <a:r>
              <a:rPr lang="ko-KR" altLang="en-US" sz="1200" dirty="0" err="1"/>
              <a:t>보정각하의</a:t>
            </a:r>
            <a:r>
              <a:rPr lang="ko-KR" altLang="en-US" sz="1200" dirty="0"/>
              <a:t> </a:t>
            </a:r>
            <a:endParaRPr lang="en-US" altLang="ko-KR" sz="1200" dirty="0"/>
          </a:p>
          <a:p>
            <a:pPr algn="ctr"/>
            <a:r>
              <a:rPr lang="ko-KR" altLang="en-US" sz="1200" dirty="0"/>
              <a:t>적법성</a:t>
            </a:r>
          </a:p>
        </p:txBody>
      </p:sp>
      <p:sp>
        <p:nvSpPr>
          <p:cNvPr id="69" name="TextBox 68">
            <a:extLst>
              <a:ext uri="{FF2B5EF4-FFF2-40B4-BE49-F238E27FC236}">
                <a16:creationId xmlns:a16="http://schemas.microsoft.com/office/drawing/2014/main" id="{A29D8358-253C-481A-9C0F-86D82DF2C1CE}"/>
              </a:ext>
            </a:extLst>
          </p:cNvPr>
          <p:cNvSpPr txBox="1"/>
          <p:nvPr/>
        </p:nvSpPr>
        <p:spPr>
          <a:xfrm>
            <a:off x="4717577" y="5004258"/>
            <a:ext cx="2460926" cy="276999"/>
          </a:xfrm>
          <a:prstGeom prst="rect">
            <a:avLst/>
          </a:prstGeom>
          <a:noFill/>
          <a:ln>
            <a:solidFill>
              <a:schemeClr val="bg1">
                <a:lumMod val="50000"/>
              </a:schemeClr>
            </a:solidFill>
          </a:ln>
        </p:spPr>
        <p:txBody>
          <a:bodyPr wrap="none" rtlCol="0">
            <a:noAutofit/>
          </a:bodyPr>
          <a:lstStyle/>
          <a:p>
            <a:r>
              <a:rPr lang="en-US" altLang="ko-KR" sz="1200" dirty="0"/>
              <a:t>×: </a:t>
            </a:r>
            <a:r>
              <a:rPr lang="ko-KR" altLang="en-US" sz="1200" dirty="0"/>
              <a:t>보정 후 명세서</a:t>
            </a:r>
            <a:r>
              <a:rPr lang="en-US" altLang="ko-KR" sz="1200" dirty="0"/>
              <a:t>,</a:t>
            </a:r>
            <a:r>
              <a:rPr lang="ko-KR" altLang="en-US" sz="1200" dirty="0"/>
              <a:t>도면 의하여 심리</a:t>
            </a:r>
          </a:p>
        </p:txBody>
      </p:sp>
      <p:sp>
        <p:nvSpPr>
          <p:cNvPr id="70" name="TextBox 69">
            <a:extLst>
              <a:ext uri="{FF2B5EF4-FFF2-40B4-BE49-F238E27FC236}">
                <a16:creationId xmlns:a16="http://schemas.microsoft.com/office/drawing/2014/main" id="{FC746BD7-D94D-4CE7-99FE-5ACEDB487371}"/>
              </a:ext>
            </a:extLst>
          </p:cNvPr>
          <p:cNvSpPr txBox="1"/>
          <p:nvPr/>
        </p:nvSpPr>
        <p:spPr>
          <a:xfrm>
            <a:off x="4717577" y="5393924"/>
            <a:ext cx="2460930" cy="276999"/>
          </a:xfrm>
          <a:prstGeom prst="rect">
            <a:avLst/>
          </a:prstGeom>
          <a:noFill/>
          <a:ln>
            <a:solidFill>
              <a:schemeClr val="bg1">
                <a:lumMod val="50000"/>
              </a:schemeClr>
            </a:solidFill>
          </a:ln>
        </p:spPr>
        <p:txBody>
          <a:bodyPr wrap="none" rtlCol="0">
            <a:spAutoFit/>
          </a:bodyPr>
          <a:lstStyle/>
          <a:p>
            <a:r>
              <a:rPr lang="ko-KR" altLang="en-US" sz="1200" dirty="0"/>
              <a:t>○</a:t>
            </a:r>
            <a:r>
              <a:rPr lang="en-US" altLang="ko-KR" sz="1200" dirty="0"/>
              <a:t>: </a:t>
            </a:r>
            <a:r>
              <a:rPr lang="ko-KR" altLang="en-US" sz="1200" dirty="0"/>
              <a:t>보정 전 명세서</a:t>
            </a:r>
            <a:r>
              <a:rPr lang="en-US" altLang="ko-KR" sz="1200" dirty="0"/>
              <a:t>, </a:t>
            </a:r>
            <a:r>
              <a:rPr lang="ko-KR" altLang="en-US" sz="1200" dirty="0"/>
              <a:t>도면 의하여 심리</a:t>
            </a:r>
          </a:p>
        </p:txBody>
      </p:sp>
      <p:cxnSp>
        <p:nvCxnSpPr>
          <p:cNvPr id="74" name="연결선: 꺾임 73">
            <a:extLst>
              <a:ext uri="{FF2B5EF4-FFF2-40B4-BE49-F238E27FC236}">
                <a16:creationId xmlns:a16="http://schemas.microsoft.com/office/drawing/2014/main" id="{156FA423-8313-41FE-90F9-430A867B337B}"/>
              </a:ext>
            </a:extLst>
          </p:cNvPr>
          <p:cNvCxnSpPr>
            <a:cxnSpLocks/>
            <a:stCxn id="68" idx="3"/>
            <a:endCxn id="69" idx="1"/>
          </p:cNvCxnSpPr>
          <p:nvPr/>
        </p:nvCxnSpPr>
        <p:spPr>
          <a:xfrm flipV="1">
            <a:off x="4313009" y="5142758"/>
            <a:ext cx="404568" cy="193168"/>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연결선: 꺾임 75">
            <a:extLst>
              <a:ext uri="{FF2B5EF4-FFF2-40B4-BE49-F238E27FC236}">
                <a16:creationId xmlns:a16="http://schemas.microsoft.com/office/drawing/2014/main" id="{05082E3B-B4A9-4569-9D7F-370D72150D17}"/>
              </a:ext>
            </a:extLst>
          </p:cNvPr>
          <p:cNvCxnSpPr>
            <a:stCxn id="68" idx="3"/>
            <a:endCxn id="70" idx="1"/>
          </p:cNvCxnSpPr>
          <p:nvPr/>
        </p:nvCxnSpPr>
        <p:spPr>
          <a:xfrm>
            <a:off x="4313009" y="5335926"/>
            <a:ext cx="404568" cy="196498"/>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연결선: 꺾임 77">
            <a:extLst>
              <a:ext uri="{FF2B5EF4-FFF2-40B4-BE49-F238E27FC236}">
                <a16:creationId xmlns:a16="http://schemas.microsoft.com/office/drawing/2014/main" id="{C3CE758C-87CA-4E05-8D00-E41B6A129F29}"/>
              </a:ext>
            </a:extLst>
          </p:cNvPr>
          <p:cNvCxnSpPr>
            <a:stCxn id="63" idx="2"/>
            <a:endCxn id="68" idx="1"/>
          </p:cNvCxnSpPr>
          <p:nvPr/>
        </p:nvCxnSpPr>
        <p:spPr>
          <a:xfrm rot="5400000">
            <a:off x="3817179" y="3586837"/>
            <a:ext cx="1327680" cy="2170498"/>
          </a:xfrm>
          <a:prstGeom prst="bentConnector4">
            <a:avLst>
              <a:gd name="adj1" fmla="val 64698"/>
              <a:gd name="adj2" fmla="val 11053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직사각형 78">
            <a:extLst>
              <a:ext uri="{FF2B5EF4-FFF2-40B4-BE49-F238E27FC236}">
                <a16:creationId xmlns:a16="http://schemas.microsoft.com/office/drawing/2014/main" id="{EFD11D1D-B54C-433B-A42B-DD08E8E6C6E1}"/>
              </a:ext>
            </a:extLst>
          </p:cNvPr>
          <p:cNvSpPr/>
          <p:nvPr/>
        </p:nvSpPr>
        <p:spPr>
          <a:xfrm>
            <a:off x="308654" y="4664424"/>
            <a:ext cx="2743200" cy="1848340"/>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lIns="36000" tIns="0" rIns="36000" bIns="0" rtlCol="0" anchor="ctr"/>
          <a:lstStyle/>
          <a:p>
            <a:r>
              <a:rPr lang="ko-KR" altLang="en-US" sz="1200" dirty="0" err="1">
                <a:solidFill>
                  <a:schemeClr val="accent2"/>
                </a:solidFill>
              </a:rPr>
              <a:t>기재불비를</a:t>
            </a:r>
            <a:r>
              <a:rPr lang="ko-KR" altLang="en-US" sz="1200" dirty="0">
                <a:solidFill>
                  <a:schemeClr val="accent2"/>
                </a:solidFill>
              </a:rPr>
              <a:t> 해소하기 위한 보정 이후 발명에 대한 심사 결과 신규성이나 진보성 부정의 거절이유가 발견된다고 하더라도</a:t>
            </a:r>
            <a:r>
              <a:rPr lang="en-US" altLang="ko-KR" sz="1200" dirty="0">
                <a:solidFill>
                  <a:schemeClr val="accent2"/>
                </a:solidFill>
              </a:rPr>
              <a:t>, </a:t>
            </a:r>
            <a:r>
              <a:rPr lang="ko-KR" altLang="en-US" sz="1200" dirty="0">
                <a:solidFill>
                  <a:schemeClr val="accent2"/>
                </a:solidFill>
              </a:rPr>
              <a:t>그러한 거절이유는 보정으로 청구항이 신설되거나 실질적으로 신설에 준하는 정도로 변경됨에 따라 비로소 발생한 경우와 같은 특별한 사정이 없는 한 보정으로 새롭게 발생한 것이라고 할 수 없으므로</a:t>
            </a:r>
            <a:r>
              <a:rPr lang="en-US" altLang="ko-KR" sz="1200" dirty="0">
                <a:solidFill>
                  <a:schemeClr val="accent2"/>
                </a:solidFill>
              </a:rPr>
              <a:t>, </a:t>
            </a:r>
            <a:r>
              <a:rPr lang="ko-KR" altLang="en-US" sz="1200" dirty="0" err="1">
                <a:solidFill>
                  <a:schemeClr val="accent2"/>
                </a:solidFill>
              </a:rPr>
              <a:t>보정각하결정을</a:t>
            </a:r>
            <a:r>
              <a:rPr lang="ko-KR" altLang="en-US" sz="1200" dirty="0">
                <a:solidFill>
                  <a:schemeClr val="accent2"/>
                </a:solidFill>
              </a:rPr>
              <a:t> 하여서는 아니됨</a:t>
            </a:r>
            <a:r>
              <a:rPr lang="en-US" altLang="ko-KR" sz="1200" dirty="0">
                <a:solidFill>
                  <a:srgbClr val="FF0000"/>
                </a:solidFill>
              </a:rPr>
              <a:t>(2012</a:t>
            </a:r>
            <a:r>
              <a:rPr lang="ko-KR" altLang="en-US" sz="1200" dirty="0">
                <a:solidFill>
                  <a:srgbClr val="FF0000"/>
                </a:solidFill>
              </a:rPr>
              <a:t>후</a:t>
            </a:r>
            <a:r>
              <a:rPr lang="en-US" altLang="ko-KR" sz="1200" dirty="0">
                <a:solidFill>
                  <a:srgbClr val="FF0000"/>
                </a:solidFill>
              </a:rPr>
              <a:t>3121)</a:t>
            </a:r>
            <a:endParaRPr lang="ko-KR" altLang="en-US" sz="1200" dirty="0">
              <a:solidFill>
                <a:srgbClr val="FF0000"/>
              </a:solidFill>
            </a:endParaRPr>
          </a:p>
        </p:txBody>
      </p:sp>
      <p:sp>
        <p:nvSpPr>
          <p:cNvPr id="82" name="TextBox 81">
            <a:extLst>
              <a:ext uri="{FF2B5EF4-FFF2-40B4-BE49-F238E27FC236}">
                <a16:creationId xmlns:a16="http://schemas.microsoft.com/office/drawing/2014/main" id="{23D55A74-971E-4F20-B190-E68B856DE260}"/>
              </a:ext>
            </a:extLst>
          </p:cNvPr>
          <p:cNvSpPr txBox="1"/>
          <p:nvPr/>
        </p:nvSpPr>
        <p:spPr>
          <a:xfrm>
            <a:off x="6281943" y="3731247"/>
            <a:ext cx="896560"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83" name="타원 82">
            <a:extLst>
              <a:ext uri="{FF2B5EF4-FFF2-40B4-BE49-F238E27FC236}">
                <a16:creationId xmlns:a16="http://schemas.microsoft.com/office/drawing/2014/main" id="{9C630984-F118-4AF6-9E6F-51D34B23E346}"/>
              </a:ext>
            </a:extLst>
          </p:cNvPr>
          <p:cNvSpPr/>
          <p:nvPr/>
        </p:nvSpPr>
        <p:spPr>
          <a:xfrm>
            <a:off x="6652853" y="338113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4" name="직선 연결선 83">
            <a:extLst>
              <a:ext uri="{FF2B5EF4-FFF2-40B4-BE49-F238E27FC236}">
                <a16:creationId xmlns:a16="http://schemas.microsoft.com/office/drawing/2014/main" id="{81675F51-C88A-4155-B0F1-1787B5D32B80}"/>
              </a:ext>
            </a:extLst>
          </p:cNvPr>
          <p:cNvCxnSpPr>
            <a:cxnSpLocks/>
            <a:stCxn id="82" idx="0"/>
            <a:endCxn id="83" idx="4"/>
          </p:cNvCxnSpPr>
          <p:nvPr/>
        </p:nvCxnSpPr>
        <p:spPr>
          <a:xfrm flipH="1" flipV="1">
            <a:off x="6730222" y="354247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C221EA9E-7F08-4B4F-9D2A-E797904113D9}"/>
              </a:ext>
            </a:extLst>
          </p:cNvPr>
          <p:cNvSpPr txBox="1"/>
          <p:nvPr/>
        </p:nvSpPr>
        <p:spPr>
          <a:xfrm>
            <a:off x="6281943" y="4192981"/>
            <a:ext cx="896560" cy="646331"/>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보정각하와</a:t>
            </a:r>
            <a:endParaRPr lang="en-US" altLang="ko-KR" sz="1200" dirty="0">
              <a:solidFill>
                <a:schemeClr val="tx1"/>
              </a:solidFill>
              <a:latin typeface="+mn-ea"/>
            </a:endParaRPr>
          </a:p>
          <a:p>
            <a:pPr algn="ctr"/>
            <a:r>
              <a:rPr lang="ko-KR" altLang="en-US" sz="1200" dirty="0">
                <a:solidFill>
                  <a:schemeClr val="tx1"/>
                </a:solidFill>
                <a:latin typeface="+mn-ea"/>
              </a:rPr>
              <a:t>거절결정의</a:t>
            </a:r>
            <a:endParaRPr lang="en-US" altLang="ko-KR" sz="1200" dirty="0">
              <a:solidFill>
                <a:schemeClr val="tx1"/>
              </a:solidFill>
              <a:latin typeface="+mn-ea"/>
            </a:endParaRPr>
          </a:p>
          <a:p>
            <a:pPr algn="ctr"/>
            <a:r>
              <a:rPr lang="ko-KR" altLang="en-US" sz="1200" dirty="0">
                <a:solidFill>
                  <a:schemeClr val="tx1"/>
                </a:solidFill>
                <a:latin typeface="+mn-ea"/>
              </a:rPr>
              <a:t>유지</a:t>
            </a:r>
          </a:p>
        </p:txBody>
      </p:sp>
      <p:cxnSp>
        <p:nvCxnSpPr>
          <p:cNvPr id="86" name="직선 연결선 85">
            <a:extLst>
              <a:ext uri="{FF2B5EF4-FFF2-40B4-BE49-F238E27FC236}">
                <a16:creationId xmlns:a16="http://schemas.microsoft.com/office/drawing/2014/main" id="{B7B2C7C9-E1D8-4CE4-8F7E-C67E490C0558}"/>
              </a:ext>
            </a:extLst>
          </p:cNvPr>
          <p:cNvCxnSpPr>
            <a:stCxn id="85" idx="0"/>
            <a:endCxn id="82" idx="2"/>
          </p:cNvCxnSpPr>
          <p:nvPr/>
        </p:nvCxnSpPr>
        <p:spPr>
          <a:xfrm flipV="1">
            <a:off x="6730223" y="4008246"/>
            <a:ext cx="0" cy="18473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8" name="TextBox 87">
            <a:extLst>
              <a:ext uri="{FF2B5EF4-FFF2-40B4-BE49-F238E27FC236}">
                <a16:creationId xmlns:a16="http://schemas.microsoft.com/office/drawing/2014/main" id="{F3562B09-C440-407A-9BD6-4E9DEE8B338C}"/>
              </a:ext>
            </a:extLst>
          </p:cNvPr>
          <p:cNvSpPr txBox="1"/>
          <p:nvPr/>
        </p:nvSpPr>
        <p:spPr>
          <a:xfrm>
            <a:off x="7437545" y="3731247"/>
            <a:ext cx="896560"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 제기</a:t>
            </a:r>
          </a:p>
        </p:txBody>
      </p:sp>
      <p:sp>
        <p:nvSpPr>
          <p:cNvPr id="89" name="타원 88">
            <a:extLst>
              <a:ext uri="{FF2B5EF4-FFF2-40B4-BE49-F238E27FC236}">
                <a16:creationId xmlns:a16="http://schemas.microsoft.com/office/drawing/2014/main" id="{91F9B9CA-4787-467C-B9F8-654A2F593612}"/>
              </a:ext>
            </a:extLst>
          </p:cNvPr>
          <p:cNvSpPr/>
          <p:nvPr/>
        </p:nvSpPr>
        <p:spPr>
          <a:xfrm>
            <a:off x="7808455" y="338113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0" name="직선 연결선 89">
            <a:extLst>
              <a:ext uri="{FF2B5EF4-FFF2-40B4-BE49-F238E27FC236}">
                <a16:creationId xmlns:a16="http://schemas.microsoft.com/office/drawing/2014/main" id="{5808855A-8AC6-4FBA-B000-C0ADE130BAA4}"/>
              </a:ext>
            </a:extLst>
          </p:cNvPr>
          <p:cNvCxnSpPr>
            <a:cxnSpLocks/>
            <a:stCxn id="88" idx="0"/>
            <a:endCxn id="89" idx="4"/>
          </p:cNvCxnSpPr>
          <p:nvPr/>
        </p:nvCxnSpPr>
        <p:spPr>
          <a:xfrm flipH="1" flipV="1">
            <a:off x="7885824" y="354247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1" name="TextBox 90">
            <a:extLst>
              <a:ext uri="{FF2B5EF4-FFF2-40B4-BE49-F238E27FC236}">
                <a16:creationId xmlns:a16="http://schemas.microsoft.com/office/drawing/2014/main" id="{30B9CCF6-90F3-4F7B-9241-7DABBDAEF6B7}"/>
              </a:ext>
            </a:extLst>
          </p:cNvPr>
          <p:cNvSpPr txBox="1"/>
          <p:nvPr/>
        </p:nvSpPr>
        <p:spPr>
          <a:xfrm>
            <a:off x="9973007" y="3731247"/>
            <a:ext cx="99661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심리</a:t>
            </a:r>
          </a:p>
        </p:txBody>
      </p:sp>
      <p:sp>
        <p:nvSpPr>
          <p:cNvPr id="92" name="타원 91">
            <a:extLst>
              <a:ext uri="{FF2B5EF4-FFF2-40B4-BE49-F238E27FC236}">
                <a16:creationId xmlns:a16="http://schemas.microsoft.com/office/drawing/2014/main" id="{76A2E54B-C563-46CC-9A53-B801C85F6086}"/>
              </a:ext>
            </a:extLst>
          </p:cNvPr>
          <p:cNvSpPr/>
          <p:nvPr/>
        </p:nvSpPr>
        <p:spPr>
          <a:xfrm>
            <a:off x="10393944" y="338113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3" name="직선 연결선 92">
            <a:extLst>
              <a:ext uri="{FF2B5EF4-FFF2-40B4-BE49-F238E27FC236}">
                <a16:creationId xmlns:a16="http://schemas.microsoft.com/office/drawing/2014/main" id="{49C9C9FE-84A8-473A-A333-01832D726EDC}"/>
              </a:ext>
            </a:extLst>
          </p:cNvPr>
          <p:cNvCxnSpPr>
            <a:cxnSpLocks/>
            <a:stCxn id="91" idx="0"/>
            <a:endCxn id="92" idx="4"/>
          </p:cNvCxnSpPr>
          <p:nvPr/>
        </p:nvCxnSpPr>
        <p:spPr>
          <a:xfrm flipH="1" flipV="1">
            <a:off x="10471313" y="354247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4" name="TextBox 93">
            <a:extLst>
              <a:ext uri="{FF2B5EF4-FFF2-40B4-BE49-F238E27FC236}">
                <a16:creationId xmlns:a16="http://schemas.microsoft.com/office/drawing/2014/main" id="{C64C2DD2-9218-45C6-87FC-4298C3C200AF}"/>
              </a:ext>
            </a:extLst>
          </p:cNvPr>
          <p:cNvSpPr txBox="1"/>
          <p:nvPr/>
        </p:nvSpPr>
        <p:spPr>
          <a:xfrm>
            <a:off x="7593451" y="5113721"/>
            <a:ext cx="917239" cy="461665"/>
          </a:xfrm>
          <a:prstGeom prst="rect">
            <a:avLst/>
          </a:prstGeom>
          <a:noFill/>
          <a:ln>
            <a:solidFill>
              <a:schemeClr val="bg1">
                <a:lumMod val="50000"/>
              </a:schemeClr>
            </a:solidFill>
          </a:ln>
        </p:spPr>
        <p:txBody>
          <a:bodyPr wrap="none" rtlCol="0">
            <a:spAutoFit/>
          </a:bodyPr>
          <a:lstStyle/>
          <a:p>
            <a:pPr algn="ctr"/>
            <a:r>
              <a:rPr lang="ko-KR" altLang="en-US" sz="1200" dirty="0" err="1"/>
              <a:t>보정각하의</a:t>
            </a:r>
            <a:r>
              <a:rPr lang="ko-KR" altLang="en-US" sz="1200" dirty="0"/>
              <a:t> </a:t>
            </a:r>
            <a:endParaRPr lang="en-US" altLang="ko-KR" sz="1200" dirty="0"/>
          </a:p>
          <a:p>
            <a:pPr algn="ctr"/>
            <a:r>
              <a:rPr lang="ko-KR" altLang="en-US" sz="1200" dirty="0"/>
              <a:t>적법성</a:t>
            </a:r>
          </a:p>
        </p:txBody>
      </p:sp>
      <p:sp>
        <p:nvSpPr>
          <p:cNvPr id="95" name="TextBox 94">
            <a:extLst>
              <a:ext uri="{FF2B5EF4-FFF2-40B4-BE49-F238E27FC236}">
                <a16:creationId xmlns:a16="http://schemas.microsoft.com/office/drawing/2014/main" id="{0F84A6FB-9A97-4DD8-B242-D8F64702EB02}"/>
              </a:ext>
            </a:extLst>
          </p:cNvPr>
          <p:cNvSpPr txBox="1"/>
          <p:nvPr/>
        </p:nvSpPr>
        <p:spPr>
          <a:xfrm>
            <a:off x="8915258" y="5004258"/>
            <a:ext cx="2531994" cy="276999"/>
          </a:xfrm>
          <a:prstGeom prst="rect">
            <a:avLst/>
          </a:prstGeom>
          <a:noFill/>
          <a:ln>
            <a:solidFill>
              <a:schemeClr val="bg1">
                <a:lumMod val="50000"/>
              </a:schemeClr>
            </a:solidFill>
          </a:ln>
        </p:spPr>
        <p:txBody>
          <a:bodyPr wrap="none" rtlCol="0">
            <a:noAutofit/>
          </a:bodyPr>
          <a:lstStyle/>
          <a:p>
            <a:r>
              <a:rPr lang="en-US" altLang="ko-KR" sz="1200" dirty="0"/>
              <a:t>×: </a:t>
            </a:r>
            <a:r>
              <a:rPr lang="ko-KR" altLang="en-US" sz="1200" dirty="0" err="1"/>
              <a:t>취소환송</a:t>
            </a:r>
            <a:r>
              <a:rPr lang="en-US" altLang="ko-KR" sz="1200" dirty="0">
                <a:solidFill>
                  <a:srgbClr val="FF0000"/>
                </a:solidFill>
              </a:rPr>
              <a:t>(2012</a:t>
            </a:r>
            <a:r>
              <a:rPr lang="ko-KR" altLang="en-US" sz="1200" dirty="0">
                <a:solidFill>
                  <a:srgbClr val="FF0000"/>
                </a:solidFill>
              </a:rPr>
              <a:t>후</a:t>
            </a:r>
            <a:r>
              <a:rPr lang="en-US" altLang="ko-KR" sz="1200" dirty="0">
                <a:solidFill>
                  <a:srgbClr val="FF0000"/>
                </a:solidFill>
              </a:rPr>
              <a:t>3121)</a:t>
            </a:r>
            <a:endParaRPr lang="ko-KR" altLang="en-US" sz="1200" dirty="0"/>
          </a:p>
        </p:txBody>
      </p:sp>
      <p:sp>
        <p:nvSpPr>
          <p:cNvPr id="96" name="TextBox 95">
            <a:extLst>
              <a:ext uri="{FF2B5EF4-FFF2-40B4-BE49-F238E27FC236}">
                <a16:creationId xmlns:a16="http://schemas.microsoft.com/office/drawing/2014/main" id="{D74EBE4A-29DC-479F-9C42-E76D21D9F546}"/>
              </a:ext>
            </a:extLst>
          </p:cNvPr>
          <p:cNvSpPr txBox="1"/>
          <p:nvPr/>
        </p:nvSpPr>
        <p:spPr>
          <a:xfrm>
            <a:off x="8915258" y="5393924"/>
            <a:ext cx="2531995" cy="276999"/>
          </a:xfrm>
          <a:prstGeom prst="rect">
            <a:avLst/>
          </a:prstGeom>
          <a:noFill/>
          <a:ln>
            <a:solidFill>
              <a:schemeClr val="bg1">
                <a:lumMod val="50000"/>
              </a:schemeClr>
            </a:solidFill>
          </a:ln>
        </p:spPr>
        <p:txBody>
          <a:bodyPr wrap="square" rtlCol="0">
            <a:spAutoFit/>
          </a:bodyPr>
          <a:lstStyle/>
          <a:p>
            <a:r>
              <a:rPr lang="ko-KR" altLang="en-US" sz="1200" dirty="0"/>
              <a:t>○ </a:t>
            </a:r>
            <a:r>
              <a:rPr lang="en-US" altLang="ko-KR" sz="1200" dirty="0"/>
              <a:t>: </a:t>
            </a:r>
            <a:r>
              <a:rPr lang="ko-KR" altLang="en-US" sz="1200" dirty="0"/>
              <a:t>보정 전 명세서</a:t>
            </a:r>
            <a:r>
              <a:rPr lang="en-US" altLang="ko-KR" sz="1200" dirty="0"/>
              <a:t>, </a:t>
            </a:r>
            <a:r>
              <a:rPr lang="ko-KR" altLang="en-US" sz="1200" dirty="0"/>
              <a:t>도면 의하여 심리</a:t>
            </a:r>
          </a:p>
        </p:txBody>
      </p:sp>
      <p:cxnSp>
        <p:nvCxnSpPr>
          <p:cNvPr id="97" name="연결선: 꺾임 96">
            <a:extLst>
              <a:ext uri="{FF2B5EF4-FFF2-40B4-BE49-F238E27FC236}">
                <a16:creationId xmlns:a16="http://schemas.microsoft.com/office/drawing/2014/main" id="{716DA1F7-6216-4F8A-A6C4-AC9148979D76}"/>
              </a:ext>
            </a:extLst>
          </p:cNvPr>
          <p:cNvCxnSpPr>
            <a:cxnSpLocks/>
            <a:stCxn id="94" idx="3"/>
            <a:endCxn id="95" idx="1"/>
          </p:cNvCxnSpPr>
          <p:nvPr/>
        </p:nvCxnSpPr>
        <p:spPr>
          <a:xfrm flipV="1">
            <a:off x="8510690" y="5142758"/>
            <a:ext cx="404568" cy="201796"/>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연결선: 꺾임 97">
            <a:extLst>
              <a:ext uri="{FF2B5EF4-FFF2-40B4-BE49-F238E27FC236}">
                <a16:creationId xmlns:a16="http://schemas.microsoft.com/office/drawing/2014/main" id="{0BE2421F-D057-4528-9FFD-928FA0FC4982}"/>
              </a:ext>
            </a:extLst>
          </p:cNvPr>
          <p:cNvCxnSpPr>
            <a:cxnSpLocks/>
            <a:stCxn id="94" idx="3"/>
            <a:endCxn id="96" idx="1"/>
          </p:cNvCxnSpPr>
          <p:nvPr/>
        </p:nvCxnSpPr>
        <p:spPr>
          <a:xfrm>
            <a:off x="8510690" y="5344554"/>
            <a:ext cx="404568" cy="187870"/>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연결선: 꺾임 98">
            <a:extLst>
              <a:ext uri="{FF2B5EF4-FFF2-40B4-BE49-F238E27FC236}">
                <a16:creationId xmlns:a16="http://schemas.microsoft.com/office/drawing/2014/main" id="{5701DE1A-A690-4F0F-9F30-DB10452EEF71}"/>
              </a:ext>
            </a:extLst>
          </p:cNvPr>
          <p:cNvCxnSpPr>
            <a:stCxn id="91" idx="2"/>
            <a:endCxn id="94" idx="1"/>
          </p:cNvCxnSpPr>
          <p:nvPr/>
        </p:nvCxnSpPr>
        <p:spPr>
          <a:xfrm rot="5400000">
            <a:off x="8364229" y="3237469"/>
            <a:ext cx="1336308" cy="2877863"/>
          </a:xfrm>
          <a:prstGeom prst="bentConnector4">
            <a:avLst>
              <a:gd name="adj1" fmla="val 63957"/>
              <a:gd name="adj2" fmla="val 10794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0B58DBA7-0AFB-44F6-9640-0FFE26F217F3}"/>
              </a:ext>
            </a:extLst>
          </p:cNvPr>
          <p:cNvSpPr/>
          <p:nvPr/>
        </p:nvSpPr>
        <p:spPr>
          <a:xfrm>
            <a:off x="4313010" y="6009322"/>
            <a:ext cx="3637228" cy="718350"/>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ko-KR" altLang="en-US" sz="1200" dirty="0">
                <a:solidFill>
                  <a:schemeClr val="accent2"/>
                </a:solidFill>
              </a:rPr>
              <a:t>심사단계에서의 </a:t>
            </a:r>
            <a:r>
              <a:rPr lang="ko-KR" altLang="en-US" sz="1200" dirty="0" err="1">
                <a:solidFill>
                  <a:schemeClr val="accent2"/>
                </a:solidFill>
              </a:rPr>
              <a:t>보정각하사유가</a:t>
            </a:r>
            <a:r>
              <a:rPr lang="ko-KR" altLang="en-US" sz="1200" dirty="0">
                <a:solidFill>
                  <a:schemeClr val="accent2"/>
                </a:solidFill>
              </a:rPr>
              <a:t> 아닌 다른 사유에 의하여 판단될 수 있으며</a:t>
            </a:r>
            <a:r>
              <a:rPr lang="en-US" altLang="ko-KR" sz="1200" dirty="0">
                <a:solidFill>
                  <a:schemeClr val="accent2"/>
                </a:solidFill>
              </a:rPr>
              <a:t>, </a:t>
            </a:r>
            <a:r>
              <a:rPr lang="ko-KR" altLang="en-US" sz="1200" dirty="0">
                <a:solidFill>
                  <a:schemeClr val="accent2"/>
                </a:solidFill>
              </a:rPr>
              <a:t>이 경우 청구인에게 의견서를 제출할 수 있는 기회를 주지 아니하여도 됨</a:t>
            </a:r>
            <a:r>
              <a:rPr lang="en-US" altLang="ko-KR" sz="1200" dirty="0">
                <a:solidFill>
                  <a:srgbClr val="FF0000"/>
                </a:solidFill>
              </a:rPr>
              <a:t>(2008</a:t>
            </a:r>
            <a:r>
              <a:rPr lang="ko-KR" altLang="en-US" sz="1200" dirty="0">
                <a:solidFill>
                  <a:srgbClr val="FF0000"/>
                </a:solidFill>
              </a:rPr>
              <a:t>허</a:t>
            </a:r>
            <a:r>
              <a:rPr lang="en-US" altLang="ko-KR" sz="1200" dirty="0">
                <a:solidFill>
                  <a:srgbClr val="FF0000"/>
                </a:solidFill>
              </a:rPr>
              <a:t>10764)</a:t>
            </a:r>
            <a:endParaRPr lang="ko-KR" altLang="en-US" sz="1200" dirty="0">
              <a:solidFill>
                <a:srgbClr val="FF0000"/>
              </a:solidFill>
            </a:endParaRPr>
          </a:p>
        </p:txBody>
      </p:sp>
      <p:cxnSp>
        <p:nvCxnSpPr>
          <p:cNvPr id="21" name="직선 연결선 20">
            <a:extLst>
              <a:ext uri="{FF2B5EF4-FFF2-40B4-BE49-F238E27FC236}">
                <a16:creationId xmlns:a16="http://schemas.microsoft.com/office/drawing/2014/main" id="{7257F015-B7C2-436C-A257-92CC58F3F7BB}"/>
              </a:ext>
            </a:extLst>
          </p:cNvPr>
          <p:cNvCxnSpPr>
            <a:cxnSpLocks/>
            <a:stCxn id="100" idx="0"/>
            <a:endCxn id="68" idx="2"/>
          </p:cNvCxnSpPr>
          <p:nvPr/>
        </p:nvCxnSpPr>
        <p:spPr>
          <a:xfrm flipH="1" flipV="1">
            <a:off x="3854390" y="5566758"/>
            <a:ext cx="2277234" cy="44256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직선 연결선 27">
            <a:extLst>
              <a:ext uri="{FF2B5EF4-FFF2-40B4-BE49-F238E27FC236}">
                <a16:creationId xmlns:a16="http://schemas.microsoft.com/office/drawing/2014/main" id="{60D4E8F7-0D1F-434E-8763-CC941916335B}"/>
              </a:ext>
            </a:extLst>
          </p:cNvPr>
          <p:cNvCxnSpPr>
            <a:cxnSpLocks/>
            <a:stCxn id="100" idx="0"/>
            <a:endCxn id="94" idx="2"/>
          </p:cNvCxnSpPr>
          <p:nvPr/>
        </p:nvCxnSpPr>
        <p:spPr>
          <a:xfrm flipV="1">
            <a:off x="6131624" y="5575386"/>
            <a:ext cx="1920447" cy="43393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C54A5C7B-0274-4186-BE04-ED093579F027}"/>
              </a:ext>
            </a:extLst>
          </p:cNvPr>
          <p:cNvCxnSpPr>
            <a:stCxn id="79" idx="0"/>
            <a:endCxn id="30" idx="1"/>
          </p:cNvCxnSpPr>
          <p:nvPr/>
        </p:nvCxnSpPr>
        <p:spPr>
          <a:xfrm flipV="1">
            <a:off x="1680254" y="3869747"/>
            <a:ext cx="1030075" cy="79467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078495"/>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170</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chemeClr val="tx1">
                    <a:lumMod val="65000"/>
                    <a:lumOff val="35000"/>
                  </a:schemeClr>
                </a:solidFill>
              </a:rPr>
              <a:t>제</a:t>
            </a:r>
            <a:r>
              <a:rPr lang="en-US" altLang="ko-KR" dirty="0">
                <a:solidFill>
                  <a:schemeClr val="tx1">
                    <a:lumMod val="65000"/>
                    <a:lumOff val="35000"/>
                  </a:schemeClr>
                </a:solidFill>
              </a:rPr>
              <a:t>170</a:t>
            </a:r>
            <a:r>
              <a:rPr lang="ko-KR" altLang="en-US" dirty="0">
                <a:solidFill>
                  <a:schemeClr val="tx1">
                    <a:lumMod val="65000"/>
                    <a:lumOff val="35000"/>
                  </a:schemeClr>
                </a:solidFill>
              </a:rPr>
              <a:t>조제</a:t>
            </a:r>
            <a:r>
              <a:rPr lang="en-US" altLang="ko-KR" dirty="0">
                <a:solidFill>
                  <a:schemeClr val="tx1">
                    <a:lumMod val="65000"/>
                    <a:lumOff val="35000"/>
                  </a:schemeClr>
                </a:solidFill>
              </a:rPr>
              <a:t>2</a:t>
            </a:r>
            <a:r>
              <a:rPr lang="ko-KR" altLang="en-US" dirty="0">
                <a:solidFill>
                  <a:schemeClr val="tx1">
                    <a:lumMod val="65000"/>
                    <a:lumOff val="35000"/>
                  </a:schemeClr>
                </a:solidFill>
              </a:rPr>
              <a:t>항의 해석</a:t>
            </a:r>
          </a:p>
        </p:txBody>
      </p:sp>
      <p:sp>
        <p:nvSpPr>
          <p:cNvPr id="24" name="Line 5">
            <a:extLst>
              <a:ext uri="{FF2B5EF4-FFF2-40B4-BE49-F238E27FC236}">
                <a16:creationId xmlns:a16="http://schemas.microsoft.com/office/drawing/2014/main" id="{794B9111-CC3E-4267-819A-BCBE59AE3EB4}"/>
              </a:ext>
            </a:extLst>
          </p:cNvPr>
          <p:cNvSpPr>
            <a:spLocks noChangeShapeType="1"/>
          </p:cNvSpPr>
          <p:nvPr/>
        </p:nvSpPr>
        <p:spPr bwMode="auto">
          <a:xfrm>
            <a:off x="157297" y="4915079"/>
            <a:ext cx="11757062"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5" name="TextBox 24">
            <a:extLst>
              <a:ext uri="{FF2B5EF4-FFF2-40B4-BE49-F238E27FC236}">
                <a16:creationId xmlns:a16="http://schemas.microsoft.com/office/drawing/2014/main" id="{23DA4D5B-4814-4B17-A30D-17CD648D86D8}"/>
              </a:ext>
            </a:extLst>
          </p:cNvPr>
          <p:cNvSpPr txBox="1"/>
          <p:nvPr/>
        </p:nvSpPr>
        <p:spPr>
          <a:xfrm>
            <a:off x="656548" y="5171254"/>
            <a:ext cx="80499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a:solidFill>
                  <a:schemeClr val="tx1"/>
                </a:solidFill>
                <a:latin typeface="+mn-ea"/>
              </a:rPr>
              <a:t>출원</a:t>
            </a:r>
            <a:endParaRPr lang="ko-KR" altLang="en-US" sz="1200" dirty="0">
              <a:solidFill>
                <a:schemeClr val="tx1"/>
              </a:solidFill>
              <a:latin typeface="+mn-ea"/>
            </a:endParaRPr>
          </a:p>
        </p:txBody>
      </p:sp>
      <p:sp>
        <p:nvSpPr>
          <p:cNvPr id="26" name="타원 25">
            <a:extLst>
              <a:ext uri="{FF2B5EF4-FFF2-40B4-BE49-F238E27FC236}">
                <a16:creationId xmlns:a16="http://schemas.microsoft.com/office/drawing/2014/main" id="{1AD46315-FFAD-4F0C-B8F7-F1CDA31EFAA1}"/>
              </a:ext>
            </a:extLst>
          </p:cNvPr>
          <p:cNvSpPr/>
          <p:nvPr/>
        </p:nvSpPr>
        <p:spPr>
          <a:xfrm>
            <a:off x="981677" y="482114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27" name="직선 연결선 26">
            <a:extLst>
              <a:ext uri="{FF2B5EF4-FFF2-40B4-BE49-F238E27FC236}">
                <a16:creationId xmlns:a16="http://schemas.microsoft.com/office/drawing/2014/main" id="{EA5D4E93-967A-45F1-9F4B-EE501C5F5FFD}"/>
              </a:ext>
            </a:extLst>
          </p:cNvPr>
          <p:cNvCxnSpPr>
            <a:cxnSpLocks/>
            <a:stCxn id="25" idx="0"/>
            <a:endCxn id="26" idx="4"/>
          </p:cNvCxnSpPr>
          <p:nvPr/>
        </p:nvCxnSpPr>
        <p:spPr>
          <a:xfrm flipH="1" flipV="1">
            <a:off x="1059046" y="498248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A6DC7CD5-8ABF-4E0C-8F10-B5A2A68A1C46}"/>
              </a:ext>
            </a:extLst>
          </p:cNvPr>
          <p:cNvSpPr txBox="1"/>
          <p:nvPr/>
        </p:nvSpPr>
        <p:spPr>
          <a:xfrm>
            <a:off x="1775075" y="5171254"/>
            <a:ext cx="1273650"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a:t>
            </a:r>
            <a:endParaRPr lang="ko-KR" altLang="en-US" sz="1200" dirty="0">
              <a:solidFill>
                <a:schemeClr val="tx1"/>
              </a:solidFill>
              <a:latin typeface="+mn-ea"/>
            </a:endParaRPr>
          </a:p>
        </p:txBody>
      </p:sp>
      <p:sp>
        <p:nvSpPr>
          <p:cNvPr id="31" name="타원 30">
            <a:extLst>
              <a:ext uri="{FF2B5EF4-FFF2-40B4-BE49-F238E27FC236}">
                <a16:creationId xmlns:a16="http://schemas.microsoft.com/office/drawing/2014/main" id="{426E2997-97A9-4ACA-B6B7-014946ACBEB4}"/>
              </a:ext>
            </a:extLst>
          </p:cNvPr>
          <p:cNvSpPr/>
          <p:nvPr/>
        </p:nvSpPr>
        <p:spPr>
          <a:xfrm>
            <a:off x="2334530" y="4821145"/>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2" name="직선 연결선 31">
            <a:extLst>
              <a:ext uri="{FF2B5EF4-FFF2-40B4-BE49-F238E27FC236}">
                <a16:creationId xmlns:a16="http://schemas.microsoft.com/office/drawing/2014/main" id="{58F98D89-25BB-445D-B43B-0204E8AE51A9}"/>
              </a:ext>
            </a:extLst>
          </p:cNvPr>
          <p:cNvCxnSpPr>
            <a:cxnSpLocks/>
            <a:stCxn id="30" idx="0"/>
            <a:endCxn id="31" idx="4"/>
          </p:cNvCxnSpPr>
          <p:nvPr/>
        </p:nvCxnSpPr>
        <p:spPr>
          <a:xfrm flipH="1" flipV="1">
            <a:off x="2411899" y="498248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직사각형 54">
            <a:extLst>
              <a:ext uri="{FF2B5EF4-FFF2-40B4-BE49-F238E27FC236}">
                <a16:creationId xmlns:a16="http://schemas.microsoft.com/office/drawing/2014/main" id="{88F9BA11-776F-458B-AEBF-785908167EF1}"/>
              </a:ext>
            </a:extLst>
          </p:cNvPr>
          <p:cNvSpPr/>
          <p:nvPr/>
        </p:nvSpPr>
        <p:spPr>
          <a:xfrm>
            <a:off x="232372" y="967374"/>
            <a:ext cx="11681987" cy="954107"/>
          </a:xfrm>
          <a:prstGeom prst="rect">
            <a:avLst/>
          </a:prstGeom>
        </p:spPr>
        <p:txBody>
          <a:bodyPr wrap="square">
            <a:spAutoFit/>
          </a:bodyPr>
          <a:lstStyle/>
          <a:p>
            <a:pPr algn="just"/>
            <a:r>
              <a:rPr lang="ko-KR" altLang="en-US" sz="1400" dirty="0"/>
              <a:t>거절이유 통지를 하지 아니한 채 거절결정의 이유와 다른 거절이유를 들어서 거절결정이 결과에 있어 정당하다는 이유로 거절결정불복심판청구를 기각한 </a:t>
            </a:r>
            <a:r>
              <a:rPr lang="ko-KR" altLang="en-US" sz="1400" dirty="0" err="1"/>
              <a:t>심결은</a:t>
            </a:r>
            <a:r>
              <a:rPr lang="ko-KR" altLang="en-US" sz="1400" dirty="0"/>
              <a:t> 위법하다</a:t>
            </a:r>
            <a:r>
              <a:rPr lang="en-US" altLang="ko-KR" sz="1400" dirty="0"/>
              <a:t>. </a:t>
            </a:r>
            <a:r>
              <a:rPr lang="ko-KR" altLang="en-US" sz="1400" dirty="0"/>
              <a:t>예를 들어</a:t>
            </a:r>
            <a:r>
              <a:rPr lang="en-US" altLang="ko-KR" sz="1400" dirty="0"/>
              <a:t>, </a:t>
            </a:r>
            <a:r>
              <a:rPr lang="ko-KR" altLang="en-US" sz="1400" dirty="0"/>
              <a:t>심사 단계에서 미리 거절이유를 통지한 사유라고 하더라도 그 사유를 거절결정에서 거절이유로 삼지 않았다면 이와 같은 사유는 거절결정에 대한 심판절차에서는 ‘거절결정의 이유와 다른 </a:t>
            </a:r>
            <a:r>
              <a:rPr lang="ko-KR" altLang="en-US" sz="1400" dirty="0" err="1"/>
              <a:t>거절이유’에</a:t>
            </a:r>
            <a:r>
              <a:rPr lang="ko-KR" altLang="en-US" sz="1400" dirty="0"/>
              <a:t> 해당하므로</a:t>
            </a:r>
            <a:r>
              <a:rPr lang="en-US" altLang="ko-KR" sz="1400" dirty="0"/>
              <a:t>, </a:t>
            </a:r>
            <a:r>
              <a:rPr lang="ko-KR" altLang="en-US" sz="1400" dirty="0"/>
              <a:t>심판 단계에서 심판청구인이 위 사유에 대해 실질적으로 의견서 제출 및 보정의 기회를 </a:t>
            </a:r>
            <a:r>
              <a:rPr lang="ko-KR" altLang="en-US" sz="1400" dirty="0" err="1"/>
              <a:t>부여받았다고</a:t>
            </a:r>
            <a:r>
              <a:rPr lang="ko-KR" altLang="en-US" sz="1400" dirty="0"/>
              <a:t> 볼만한 특별한 사정이 없는 한 이를 </a:t>
            </a:r>
            <a:r>
              <a:rPr lang="ko-KR" altLang="en-US" sz="1400" dirty="0" err="1"/>
              <a:t>심결의</a:t>
            </a:r>
            <a:r>
              <a:rPr lang="ko-KR" altLang="en-US" sz="1400" dirty="0"/>
              <a:t> 이유로 하기 위해서는 다시 그 사유에 대해 거절이유를 통지하여야 한다</a:t>
            </a:r>
            <a:r>
              <a:rPr lang="en-US" altLang="ko-KR" sz="1400" dirty="0"/>
              <a:t>(</a:t>
            </a:r>
            <a:r>
              <a:rPr lang="ko-KR" altLang="en-US" sz="1400" dirty="0"/>
              <a:t>대법원 </a:t>
            </a:r>
            <a:r>
              <a:rPr lang="en-US" altLang="ko-KR" sz="1400" dirty="0"/>
              <a:t>2020. 11. 12. </a:t>
            </a:r>
            <a:r>
              <a:rPr lang="ko-KR" altLang="en-US" sz="1400" dirty="0"/>
              <a:t>선고 </a:t>
            </a:r>
            <a:r>
              <a:rPr lang="en-US" altLang="ko-KR" sz="1400" dirty="0"/>
              <a:t>2017</a:t>
            </a:r>
            <a:r>
              <a:rPr lang="ko-KR" altLang="en-US" sz="1400" dirty="0"/>
              <a:t>후</a:t>
            </a:r>
            <a:r>
              <a:rPr lang="en-US" altLang="ko-KR" sz="1400" dirty="0"/>
              <a:t>1779). </a:t>
            </a:r>
          </a:p>
        </p:txBody>
      </p:sp>
      <p:sp>
        <p:nvSpPr>
          <p:cNvPr id="59" name="TextBox 58">
            <a:extLst>
              <a:ext uri="{FF2B5EF4-FFF2-40B4-BE49-F238E27FC236}">
                <a16:creationId xmlns:a16="http://schemas.microsoft.com/office/drawing/2014/main" id="{C27012D4-CD7A-4107-9185-8E2207B3CF1A}"/>
              </a:ext>
            </a:extLst>
          </p:cNvPr>
          <p:cNvSpPr txBox="1"/>
          <p:nvPr/>
        </p:nvSpPr>
        <p:spPr>
          <a:xfrm>
            <a:off x="1709084" y="5665898"/>
            <a:ext cx="140563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1</a:t>
            </a:r>
            <a:r>
              <a:rPr lang="ko-KR" altLang="en-US" sz="1200" dirty="0">
                <a:solidFill>
                  <a:schemeClr val="tx1"/>
                </a:solidFill>
                <a:latin typeface="+mn-ea"/>
              </a:rPr>
              <a:t>항이 진보성 위반</a:t>
            </a:r>
          </a:p>
        </p:txBody>
      </p:sp>
      <p:cxnSp>
        <p:nvCxnSpPr>
          <p:cNvPr id="7" name="직선 연결선 6">
            <a:extLst>
              <a:ext uri="{FF2B5EF4-FFF2-40B4-BE49-F238E27FC236}">
                <a16:creationId xmlns:a16="http://schemas.microsoft.com/office/drawing/2014/main" id="{52F4D2DF-90CE-42E9-990F-D5830ADE2079}"/>
              </a:ext>
            </a:extLst>
          </p:cNvPr>
          <p:cNvCxnSpPr>
            <a:cxnSpLocks/>
            <a:stCxn id="59" idx="0"/>
            <a:endCxn id="30" idx="2"/>
          </p:cNvCxnSpPr>
          <p:nvPr/>
        </p:nvCxnSpPr>
        <p:spPr>
          <a:xfrm flipV="1">
            <a:off x="2411900" y="5448253"/>
            <a:ext cx="0" cy="21764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BFACFF7B-F84B-4A50-847A-F6A8759B30BF}"/>
              </a:ext>
            </a:extLst>
          </p:cNvPr>
          <p:cNvSpPr txBox="1"/>
          <p:nvPr/>
        </p:nvSpPr>
        <p:spPr>
          <a:xfrm>
            <a:off x="3533541" y="5171254"/>
            <a:ext cx="1273650"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거절결정</a:t>
            </a:r>
          </a:p>
        </p:txBody>
      </p:sp>
      <p:sp>
        <p:nvSpPr>
          <p:cNvPr id="71" name="타원 70">
            <a:extLst>
              <a:ext uri="{FF2B5EF4-FFF2-40B4-BE49-F238E27FC236}">
                <a16:creationId xmlns:a16="http://schemas.microsoft.com/office/drawing/2014/main" id="{6BA1656D-0078-486D-8950-EC3707C4A3EA}"/>
              </a:ext>
            </a:extLst>
          </p:cNvPr>
          <p:cNvSpPr/>
          <p:nvPr/>
        </p:nvSpPr>
        <p:spPr>
          <a:xfrm>
            <a:off x="4092996" y="4821145"/>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2" name="직선 연결선 71">
            <a:extLst>
              <a:ext uri="{FF2B5EF4-FFF2-40B4-BE49-F238E27FC236}">
                <a16:creationId xmlns:a16="http://schemas.microsoft.com/office/drawing/2014/main" id="{D33C4752-5365-4932-AEB9-4CA342091BCF}"/>
              </a:ext>
            </a:extLst>
          </p:cNvPr>
          <p:cNvCxnSpPr>
            <a:cxnSpLocks/>
            <a:stCxn id="66" idx="0"/>
            <a:endCxn id="71" idx="4"/>
          </p:cNvCxnSpPr>
          <p:nvPr/>
        </p:nvCxnSpPr>
        <p:spPr>
          <a:xfrm flipH="1" flipV="1">
            <a:off x="4170365" y="498248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482BEDC2-13A0-4E97-9396-0D57E34962DB}"/>
              </a:ext>
            </a:extLst>
          </p:cNvPr>
          <p:cNvSpPr txBox="1"/>
          <p:nvPr/>
        </p:nvSpPr>
        <p:spPr>
          <a:xfrm>
            <a:off x="3391122" y="5665898"/>
            <a:ext cx="1558488"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1</a:t>
            </a:r>
            <a:r>
              <a:rPr lang="ko-KR" altLang="en-US" sz="1200" dirty="0">
                <a:solidFill>
                  <a:schemeClr val="tx1"/>
                </a:solidFill>
                <a:latin typeface="+mn-ea"/>
              </a:rPr>
              <a:t>항이 진보성 위반</a:t>
            </a:r>
            <a:endParaRPr lang="en-US" altLang="ko-KR" sz="1200" dirty="0">
              <a:solidFill>
                <a:schemeClr val="tx1"/>
              </a:solidFill>
              <a:latin typeface="+mn-ea"/>
            </a:endParaRPr>
          </a:p>
          <a:p>
            <a:pPr algn="ctr"/>
            <a:r>
              <a:rPr lang="en-US" altLang="ko-KR" sz="1200" dirty="0">
                <a:solidFill>
                  <a:schemeClr val="tx1"/>
                </a:solidFill>
                <a:latin typeface="+mn-ea"/>
              </a:rPr>
              <a:t>27-29</a:t>
            </a:r>
            <a:r>
              <a:rPr lang="ko-KR" altLang="en-US" sz="1200" dirty="0">
                <a:solidFill>
                  <a:schemeClr val="tx1"/>
                </a:solidFill>
                <a:latin typeface="+mn-ea"/>
              </a:rPr>
              <a:t>항이 </a:t>
            </a:r>
            <a:r>
              <a:rPr lang="ko-KR" altLang="en-US" sz="1200" dirty="0" err="1">
                <a:solidFill>
                  <a:schemeClr val="tx1"/>
                </a:solidFill>
                <a:latin typeface="+mn-ea"/>
              </a:rPr>
              <a:t>기재불비</a:t>
            </a:r>
            <a:endParaRPr lang="ko-KR" altLang="en-US" sz="1200" dirty="0">
              <a:solidFill>
                <a:schemeClr val="tx1"/>
              </a:solidFill>
              <a:latin typeface="+mn-ea"/>
            </a:endParaRPr>
          </a:p>
        </p:txBody>
      </p:sp>
      <p:cxnSp>
        <p:nvCxnSpPr>
          <p:cNvPr id="75" name="직선 연결선 74">
            <a:extLst>
              <a:ext uri="{FF2B5EF4-FFF2-40B4-BE49-F238E27FC236}">
                <a16:creationId xmlns:a16="http://schemas.microsoft.com/office/drawing/2014/main" id="{889F22E6-EBC0-45A3-8BA4-1BE415D43D9B}"/>
              </a:ext>
            </a:extLst>
          </p:cNvPr>
          <p:cNvCxnSpPr>
            <a:cxnSpLocks/>
            <a:stCxn id="73" idx="0"/>
            <a:endCxn id="66" idx="2"/>
          </p:cNvCxnSpPr>
          <p:nvPr/>
        </p:nvCxnSpPr>
        <p:spPr>
          <a:xfrm flipV="1">
            <a:off x="4170366" y="5448253"/>
            <a:ext cx="0" cy="21764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7" name="TextBox 76">
            <a:extLst>
              <a:ext uri="{FF2B5EF4-FFF2-40B4-BE49-F238E27FC236}">
                <a16:creationId xmlns:a16="http://schemas.microsoft.com/office/drawing/2014/main" id="{0578A800-861F-4DC9-A5C5-FFAC3C760488}"/>
              </a:ext>
            </a:extLst>
          </p:cNvPr>
          <p:cNvSpPr txBox="1"/>
          <p:nvPr/>
        </p:nvSpPr>
        <p:spPr>
          <a:xfrm>
            <a:off x="5266521" y="5171254"/>
            <a:ext cx="80499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심판청구</a:t>
            </a:r>
          </a:p>
        </p:txBody>
      </p:sp>
      <p:sp>
        <p:nvSpPr>
          <p:cNvPr id="80" name="타원 79">
            <a:extLst>
              <a:ext uri="{FF2B5EF4-FFF2-40B4-BE49-F238E27FC236}">
                <a16:creationId xmlns:a16="http://schemas.microsoft.com/office/drawing/2014/main" id="{E672861E-DDC1-497F-A424-A5FA34F70DD6}"/>
              </a:ext>
            </a:extLst>
          </p:cNvPr>
          <p:cNvSpPr/>
          <p:nvPr/>
        </p:nvSpPr>
        <p:spPr>
          <a:xfrm>
            <a:off x="5591650" y="482114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1" name="직선 연결선 80">
            <a:extLst>
              <a:ext uri="{FF2B5EF4-FFF2-40B4-BE49-F238E27FC236}">
                <a16:creationId xmlns:a16="http://schemas.microsoft.com/office/drawing/2014/main" id="{4DC1CAE0-34EC-4E8A-9830-D8837653650B}"/>
              </a:ext>
            </a:extLst>
          </p:cNvPr>
          <p:cNvCxnSpPr>
            <a:cxnSpLocks/>
            <a:stCxn id="77" idx="0"/>
            <a:endCxn id="80" idx="4"/>
          </p:cNvCxnSpPr>
          <p:nvPr/>
        </p:nvCxnSpPr>
        <p:spPr>
          <a:xfrm flipH="1" flipV="1">
            <a:off x="5669019" y="498248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0ED681D9-FE2C-44AA-AFB5-6D267C277F1F}"/>
              </a:ext>
            </a:extLst>
          </p:cNvPr>
          <p:cNvSpPr txBox="1"/>
          <p:nvPr/>
        </p:nvSpPr>
        <p:spPr>
          <a:xfrm>
            <a:off x="7764946" y="5171254"/>
            <a:ext cx="1273650"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102" name="타원 101">
            <a:extLst>
              <a:ext uri="{FF2B5EF4-FFF2-40B4-BE49-F238E27FC236}">
                <a16:creationId xmlns:a16="http://schemas.microsoft.com/office/drawing/2014/main" id="{9362F24B-4599-44F1-97B1-DF565D5D0D8E}"/>
              </a:ext>
            </a:extLst>
          </p:cNvPr>
          <p:cNvSpPr/>
          <p:nvPr/>
        </p:nvSpPr>
        <p:spPr>
          <a:xfrm>
            <a:off x="8324401" y="4821145"/>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3" name="직선 연결선 102">
            <a:extLst>
              <a:ext uri="{FF2B5EF4-FFF2-40B4-BE49-F238E27FC236}">
                <a16:creationId xmlns:a16="http://schemas.microsoft.com/office/drawing/2014/main" id="{0B68462B-2302-4238-9744-8439D7990DB2}"/>
              </a:ext>
            </a:extLst>
          </p:cNvPr>
          <p:cNvCxnSpPr>
            <a:cxnSpLocks/>
            <a:stCxn id="87" idx="0"/>
            <a:endCxn id="102" idx="4"/>
          </p:cNvCxnSpPr>
          <p:nvPr/>
        </p:nvCxnSpPr>
        <p:spPr>
          <a:xfrm flipH="1" flipV="1">
            <a:off x="8401770" y="498248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4" name="TextBox 103">
            <a:extLst>
              <a:ext uri="{FF2B5EF4-FFF2-40B4-BE49-F238E27FC236}">
                <a16:creationId xmlns:a16="http://schemas.microsoft.com/office/drawing/2014/main" id="{643D96D5-7D72-49D3-ACD5-ABF9316772CF}"/>
              </a:ext>
            </a:extLst>
          </p:cNvPr>
          <p:cNvSpPr txBox="1"/>
          <p:nvPr/>
        </p:nvSpPr>
        <p:spPr>
          <a:xfrm>
            <a:off x="7622527" y="5665898"/>
            <a:ext cx="1558488"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1</a:t>
            </a:r>
            <a:r>
              <a:rPr lang="ko-KR" altLang="en-US" sz="1200" dirty="0">
                <a:solidFill>
                  <a:schemeClr val="tx1"/>
                </a:solidFill>
                <a:latin typeface="+mn-ea"/>
              </a:rPr>
              <a:t>항이 진보성 위반</a:t>
            </a:r>
          </a:p>
        </p:txBody>
      </p:sp>
      <p:cxnSp>
        <p:nvCxnSpPr>
          <p:cNvPr id="105" name="직선 연결선 104">
            <a:extLst>
              <a:ext uri="{FF2B5EF4-FFF2-40B4-BE49-F238E27FC236}">
                <a16:creationId xmlns:a16="http://schemas.microsoft.com/office/drawing/2014/main" id="{6D7C6C42-FA4F-42C2-9A27-C4A73DDBA134}"/>
              </a:ext>
            </a:extLst>
          </p:cNvPr>
          <p:cNvCxnSpPr>
            <a:cxnSpLocks/>
            <a:stCxn id="104" idx="0"/>
            <a:endCxn id="87" idx="2"/>
          </p:cNvCxnSpPr>
          <p:nvPr/>
        </p:nvCxnSpPr>
        <p:spPr>
          <a:xfrm flipV="1">
            <a:off x="8401771" y="5448253"/>
            <a:ext cx="0" cy="21764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6" name="TextBox 105">
            <a:extLst>
              <a:ext uri="{FF2B5EF4-FFF2-40B4-BE49-F238E27FC236}">
                <a16:creationId xmlns:a16="http://schemas.microsoft.com/office/drawing/2014/main" id="{66DF07FC-BEF8-4D93-B6A4-3A8B5D127257}"/>
              </a:ext>
            </a:extLst>
          </p:cNvPr>
          <p:cNvSpPr txBox="1"/>
          <p:nvPr/>
        </p:nvSpPr>
        <p:spPr>
          <a:xfrm>
            <a:off x="9480739" y="5171254"/>
            <a:ext cx="804998"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소제기</a:t>
            </a:r>
          </a:p>
        </p:txBody>
      </p:sp>
      <p:sp>
        <p:nvSpPr>
          <p:cNvPr id="107" name="타원 106">
            <a:extLst>
              <a:ext uri="{FF2B5EF4-FFF2-40B4-BE49-F238E27FC236}">
                <a16:creationId xmlns:a16="http://schemas.microsoft.com/office/drawing/2014/main" id="{A31EA17B-7406-46BF-B485-87EE1DF0F206}"/>
              </a:ext>
            </a:extLst>
          </p:cNvPr>
          <p:cNvSpPr/>
          <p:nvPr/>
        </p:nvSpPr>
        <p:spPr>
          <a:xfrm>
            <a:off x="9805868" y="482114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8" name="직선 연결선 107">
            <a:extLst>
              <a:ext uri="{FF2B5EF4-FFF2-40B4-BE49-F238E27FC236}">
                <a16:creationId xmlns:a16="http://schemas.microsoft.com/office/drawing/2014/main" id="{BD5DFAAE-4272-45E8-B0E1-48A30E92DB58}"/>
              </a:ext>
            </a:extLst>
          </p:cNvPr>
          <p:cNvCxnSpPr>
            <a:cxnSpLocks/>
            <a:stCxn id="106" idx="0"/>
            <a:endCxn id="107" idx="4"/>
          </p:cNvCxnSpPr>
          <p:nvPr/>
        </p:nvCxnSpPr>
        <p:spPr>
          <a:xfrm flipH="1" flipV="1">
            <a:off x="9883237" y="498248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말풍선: 모서리가 둥근 사각형 9">
            <a:extLst>
              <a:ext uri="{FF2B5EF4-FFF2-40B4-BE49-F238E27FC236}">
                <a16:creationId xmlns:a16="http://schemas.microsoft.com/office/drawing/2014/main" id="{B8D4E0F0-EFDE-4BAA-88E3-BF3EDAC611F6}"/>
              </a:ext>
            </a:extLst>
          </p:cNvPr>
          <p:cNvSpPr/>
          <p:nvPr/>
        </p:nvSpPr>
        <p:spPr>
          <a:xfrm>
            <a:off x="9315450" y="5712936"/>
            <a:ext cx="2538482" cy="914399"/>
          </a:xfrm>
          <a:prstGeom prst="wedgeRoundRectCallout">
            <a:avLst>
              <a:gd name="adj1" fmla="val -17171"/>
              <a:gd name="adj2" fmla="val -73297"/>
              <a:gd name="adj3" fmla="val 16667"/>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rPr>
              <a:t>출원인의 주장</a:t>
            </a:r>
            <a:r>
              <a:rPr lang="en-US" altLang="ko-KR" sz="1200" dirty="0">
                <a:solidFill>
                  <a:schemeClr val="tx1"/>
                </a:solidFill>
              </a:rPr>
              <a:t>: 27-29</a:t>
            </a:r>
            <a:r>
              <a:rPr lang="ko-KR" altLang="en-US" sz="1200" dirty="0">
                <a:solidFill>
                  <a:schemeClr val="tx1"/>
                </a:solidFill>
              </a:rPr>
              <a:t>항에 대해서는 </a:t>
            </a:r>
            <a:r>
              <a:rPr lang="ko-KR" altLang="en-US" sz="1200" dirty="0" err="1">
                <a:solidFill>
                  <a:schemeClr val="tx1"/>
                </a:solidFill>
              </a:rPr>
              <a:t>거절이유통지하고</a:t>
            </a:r>
            <a:r>
              <a:rPr lang="ko-KR" altLang="en-US" sz="1200" dirty="0">
                <a:solidFill>
                  <a:schemeClr val="tx1"/>
                </a:solidFill>
              </a:rPr>
              <a:t> 의견서</a:t>
            </a:r>
            <a:r>
              <a:rPr lang="en-US" altLang="ko-KR" sz="1200" dirty="0">
                <a:solidFill>
                  <a:schemeClr val="tx1"/>
                </a:solidFill>
              </a:rPr>
              <a:t>/</a:t>
            </a:r>
            <a:r>
              <a:rPr lang="ko-KR" altLang="en-US" sz="1200" dirty="0">
                <a:solidFill>
                  <a:schemeClr val="tx1"/>
                </a:solidFill>
              </a:rPr>
              <a:t>보정서 제출기회를 주지 않았기 때문에 </a:t>
            </a:r>
            <a:r>
              <a:rPr lang="ko-KR" altLang="en-US" sz="1200" dirty="0" err="1">
                <a:solidFill>
                  <a:schemeClr val="tx1"/>
                </a:solidFill>
              </a:rPr>
              <a:t>심결이</a:t>
            </a:r>
            <a:r>
              <a:rPr lang="ko-KR" altLang="en-US" sz="1200" dirty="0">
                <a:solidFill>
                  <a:schemeClr val="tx1"/>
                </a:solidFill>
              </a:rPr>
              <a:t> 위법하다</a:t>
            </a:r>
            <a:r>
              <a:rPr lang="en-US" altLang="ko-KR" sz="1200" dirty="0">
                <a:solidFill>
                  <a:schemeClr val="tx1"/>
                </a:solidFill>
              </a:rPr>
              <a:t>.</a:t>
            </a:r>
            <a:endParaRPr lang="ko-KR" altLang="en-US" sz="1200" dirty="0">
              <a:solidFill>
                <a:schemeClr val="tx1"/>
              </a:solidFill>
            </a:endParaRPr>
          </a:p>
        </p:txBody>
      </p:sp>
      <p:sp>
        <p:nvSpPr>
          <p:cNvPr id="34" name="TextBox 33">
            <a:extLst>
              <a:ext uri="{FF2B5EF4-FFF2-40B4-BE49-F238E27FC236}">
                <a16:creationId xmlns:a16="http://schemas.microsoft.com/office/drawing/2014/main" id="{56828CC4-827D-4AAD-B62E-679B115A65C0}"/>
              </a:ext>
            </a:extLst>
          </p:cNvPr>
          <p:cNvSpPr txBox="1"/>
          <p:nvPr/>
        </p:nvSpPr>
        <p:spPr>
          <a:xfrm>
            <a:off x="6348702" y="5171254"/>
            <a:ext cx="1273650"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 ×</a:t>
            </a:r>
            <a:endParaRPr lang="ko-KR" altLang="en-US" sz="1200" dirty="0">
              <a:solidFill>
                <a:schemeClr val="tx1"/>
              </a:solidFill>
              <a:latin typeface="+mn-ea"/>
            </a:endParaRPr>
          </a:p>
        </p:txBody>
      </p:sp>
      <p:sp>
        <p:nvSpPr>
          <p:cNvPr id="35" name="타원 34">
            <a:extLst>
              <a:ext uri="{FF2B5EF4-FFF2-40B4-BE49-F238E27FC236}">
                <a16:creationId xmlns:a16="http://schemas.microsoft.com/office/drawing/2014/main" id="{3B89343F-CC00-4582-8276-2EEF5A9E7769}"/>
              </a:ext>
            </a:extLst>
          </p:cNvPr>
          <p:cNvSpPr/>
          <p:nvPr/>
        </p:nvSpPr>
        <p:spPr>
          <a:xfrm>
            <a:off x="6908157" y="4821145"/>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6" name="직선 연결선 35">
            <a:extLst>
              <a:ext uri="{FF2B5EF4-FFF2-40B4-BE49-F238E27FC236}">
                <a16:creationId xmlns:a16="http://schemas.microsoft.com/office/drawing/2014/main" id="{9B6EAB3B-9C1F-4035-9A50-9D10AB6A4533}"/>
              </a:ext>
            </a:extLst>
          </p:cNvPr>
          <p:cNvCxnSpPr>
            <a:cxnSpLocks/>
            <a:stCxn id="34" idx="0"/>
            <a:endCxn id="35" idx="4"/>
          </p:cNvCxnSpPr>
          <p:nvPr/>
        </p:nvCxnSpPr>
        <p:spPr>
          <a:xfrm flipH="1" flipV="1">
            <a:off x="6985526" y="498248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01BC1220-3DCE-4B82-AC35-91B24E5244BB}"/>
              </a:ext>
            </a:extLst>
          </p:cNvPr>
          <p:cNvSpPr txBox="1"/>
          <p:nvPr/>
        </p:nvSpPr>
        <p:spPr>
          <a:xfrm>
            <a:off x="232372" y="3779279"/>
            <a:ext cx="11727255" cy="738664"/>
          </a:xfrm>
          <a:prstGeom prst="rect">
            <a:avLst/>
          </a:prstGeom>
          <a:noFill/>
        </p:spPr>
        <p:txBody>
          <a:bodyPr wrap="square">
            <a:spAutoFit/>
          </a:bodyPr>
          <a:lstStyle/>
          <a:p>
            <a:r>
              <a:rPr lang="ko-KR" altLang="en-US" sz="1400" dirty="0" err="1"/>
              <a:t>특허거절결정의</a:t>
            </a:r>
            <a:r>
              <a:rPr lang="ko-KR" altLang="en-US" sz="1400" dirty="0"/>
              <a:t> 이유 중에 심사관이 통지하지 아니한 거절이유가 일부 포함되어 있다 하더라도</a:t>
            </a:r>
            <a:r>
              <a:rPr lang="en-US" altLang="ko-KR" sz="1400" dirty="0"/>
              <a:t>, </a:t>
            </a:r>
            <a:r>
              <a:rPr lang="ko-KR" altLang="en-US" sz="1400" dirty="0" err="1"/>
              <a:t>특허거절결정에</a:t>
            </a:r>
            <a:r>
              <a:rPr lang="ko-KR" altLang="en-US" sz="1400" dirty="0"/>
              <a:t> 대한 심판청구를 기각하는 </a:t>
            </a:r>
            <a:r>
              <a:rPr lang="ko-KR" altLang="en-US" sz="1400" dirty="0" err="1"/>
              <a:t>심결이유가</a:t>
            </a:r>
            <a:r>
              <a:rPr lang="ko-KR" altLang="en-US" sz="1400" dirty="0"/>
              <a:t> 심사관이 통지하지 아니한 거절이유를 들어 </a:t>
            </a:r>
            <a:r>
              <a:rPr lang="ko-KR" altLang="en-US" sz="1400" dirty="0" err="1"/>
              <a:t>특허거절결정을</a:t>
            </a:r>
            <a:r>
              <a:rPr lang="ko-KR" altLang="en-US" sz="1400" dirty="0"/>
              <a:t> 유지하는 경우가 아니라면</a:t>
            </a:r>
            <a:r>
              <a:rPr lang="en-US" altLang="ko-KR" sz="1400" dirty="0"/>
              <a:t>, </a:t>
            </a:r>
            <a:r>
              <a:rPr lang="ko-KR" altLang="en-US" sz="1400" dirty="0"/>
              <a:t>그와 같은 사유만으로 </a:t>
            </a:r>
            <a:r>
              <a:rPr lang="ko-KR" altLang="en-US" sz="1400" dirty="0" err="1"/>
              <a:t>거절이유통지를</a:t>
            </a:r>
            <a:r>
              <a:rPr lang="ko-KR" altLang="en-US" sz="1400" dirty="0"/>
              <a:t> 하지 않고 한 </a:t>
            </a:r>
            <a:r>
              <a:rPr lang="ko-KR" altLang="en-US" sz="1400" dirty="0" err="1"/>
              <a:t>심결을</a:t>
            </a:r>
            <a:r>
              <a:rPr lang="ko-KR" altLang="en-US" sz="1400" dirty="0"/>
              <a:t> 위법하다고 할 수 없다</a:t>
            </a:r>
            <a:r>
              <a:rPr lang="en-US" altLang="ko-KR" sz="1400" dirty="0"/>
              <a:t>.(</a:t>
            </a:r>
            <a:r>
              <a:rPr lang="ko-KR" altLang="en-US" sz="1400" dirty="0"/>
              <a:t>대법원 </a:t>
            </a:r>
            <a:r>
              <a:rPr lang="en-US" altLang="ko-KR" sz="1400" dirty="0"/>
              <a:t>2009. 12. 10. </a:t>
            </a:r>
            <a:r>
              <a:rPr lang="ko-KR" altLang="en-US" sz="1400" dirty="0"/>
              <a:t>선고 </a:t>
            </a:r>
            <a:r>
              <a:rPr lang="en-US" altLang="ko-KR" sz="1400" dirty="0"/>
              <a:t>2007</a:t>
            </a:r>
            <a:r>
              <a:rPr lang="ko-KR" altLang="en-US" sz="1400" dirty="0"/>
              <a:t>후</a:t>
            </a:r>
            <a:r>
              <a:rPr lang="en-US" altLang="ko-KR" sz="1400" dirty="0"/>
              <a:t>3820). </a:t>
            </a:r>
          </a:p>
        </p:txBody>
      </p:sp>
      <p:cxnSp>
        <p:nvCxnSpPr>
          <p:cNvPr id="40" name="직선 연결선 39">
            <a:extLst>
              <a:ext uri="{FF2B5EF4-FFF2-40B4-BE49-F238E27FC236}">
                <a16:creationId xmlns:a16="http://schemas.microsoft.com/office/drawing/2014/main" id="{64DB2771-E823-412C-89D9-F7DC5C9DBE87}"/>
              </a:ext>
            </a:extLst>
          </p:cNvPr>
          <p:cNvCxnSpPr/>
          <p:nvPr/>
        </p:nvCxnSpPr>
        <p:spPr>
          <a:xfrm>
            <a:off x="0" y="3696366"/>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Line 5">
            <a:extLst>
              <a:ext uri="{FF2B5EF4-FFF2-40B4-BE49-F238E27FC236}">
                <a16:creationId xmlns:a16="http://schemas.microsoft.com/office/drawing/2014/main" id="{AE989725-607C-4982-8C97-92D51248275D}"/>
              </a:ext>
            </a:extLst>
          </p:cNvPr>
          <p:cNvSpPr>
            <a:spLocks noChangeShapeType="1"/>
          </p:cNvSpPr>
          <p:nvPr/>
        </p:nvSpPr>
        <p:spPr bwMode="auto">
          <a:xfrm>
            <a:off x="157297" y="2489304"/>
            <a:ext cx="1180233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2" name="TextBox 41">
            <a:extLst>
              <a:ext uri="{FF2B5EF4-FFF2-40B4-BE49-F238E27FC236}">
                <a16:creationId xmlns:a16="http://schemas.microsoft.com/office/drawing/2014/main" id="{507FCF92-3936-4728-A2F1-FB2890081056}"/>
              </a:ext>
            </a:extLst>
          </p:cNvPr>
          <p:cNvSpPr txBox="1"/>
          <p:nvPr/>
        </p:nvSpPr>
        <p:spPr>
          <a:xfrm>
            <a:off x="281334" y="2745479"/>
            <a:ext cx="702185"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a:solidFill>
                  <a:schemeClr val="tx1"/>
                </a:solidFill>
                <a:latin typeface="+mn-ea"/>
              </a:rPr>
              <a:t>출원</a:t>
            </a:r>
            <a:endParaRPr lang="ko-KR" altLang="en-US" sz="1200" dirty="0">
              <a:solidFill>
                <a:schemeClr val="tx1"/>
              </a:solidFill>
              <a:latin typeface="+mn-ea"/>
            </a:endParaRPr>
          </a:p>
        </p:txBody>
      </p:sp>
      <p:sp>
        <p:nvSpPr>
          <p:cNvPr id="43" name="타원 42">
            <a:extLst>
              <a:ext uri="{FF2B5EF4-FFF2-40B4-BE49-F238E27FC236}">
                <a16:creationId xmlns:a16="http://schemas.microsoft.com/office/drawing/2014/main" id="{9CA4311A-BBAA-4FE4-8D20-7D906655DA2F}"/>
              </a:ext>
            </a:extLst>
          </p:cNvPr>
          <p:cNvSpPr/>
          <p:nvPr/>
        </p:nvSpPr>
        <p:spPr>
          <a:xfrm>
            <a:off x="564938" y="2395370"/>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4" name="직선 연결선 43">
            <a:extLst>
              <a:ext uri="{FF2B5EF4-FFF2-40B4-BE49-F238E27FC236}">
                <a16:creationId xmlns:a16="http://schemas.microsoft.com/office/drawing/2014/main" id="{4F1C022E-F441-41F3-9477-A2C2636A63CD}"/>
              </a:ext>
            </a:extLst>
          </p:cNvPr>
          <p:cNvCxnSpPr>
            <a:cxnSpLocks/>
            <a:stCxn id="42" idx="0"/>
            <a:endCxn id="43" idx="4"/>
          </p:cNvCxnSpPr>
          <p:nvPr/>
        </p:nvCxnSpPr>
        <p:spPr>
          <a:xfrm flipH="1" flipV="1">
            <a:off x="632426" y="255670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1308DFB9-5FB4-451C-89CE-D6F0AF702FA1}"/>
              </a:ext>
            </a:extLst>
          </p:cNvPr>
          <p:cNvSpPr txBox="1"/>
          <p:nvPr/>
        </p:nvSpPr>
        <p:spPr>
          <a:xfrm>
            <a:off x="1281904" y="2745181"/>
            <a:ext cx="662376"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a:t>
            </a:r>
            <a:endParaRPr lang="ko-KR" altLang="en-US" sz="1200" dirty="0">
              <a:solidFill>
                <a:schemeClr val="tx1"/>
              </a:solidFill>
              <a:latin typeface="+mn-ea"/>
            </a:endParaRPr>
          </a:p>
        </p:txBody>
      </p:sp>
      <p:sp>
        <p:nvSpPr>
          <p:cNvPr id="46" name="타원 45">
            <a:extLst>
              <a:ext uri="{FF2B5EF4-FFF2-40B4-BE49-F238E27FC236}">
                <a16:creationId xmlns:a16="http://schemas.microsoft.com/office/drawing/2014/main" id="{BB3A5C2C-A17C-4BD5-811F-C929467A6B4E}"/>
              </a:ext>
            </a:extLst>
          </p:cNvPr>
          <p:cNvSpPr/>
          <p:nvPr/>
        </p:nvSpPr>
        <p:spPr>
          <a:xfrm>
            <a:off x="1545604" y="2395370"/>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7" name="직선 연결선 46">
            <a:extLst>
              <a:ext uri="{FF2B5EF4-FFF2-40B4-BE49-F238E27FC236}">
                <a16:creationId xmlns:a16="http://schemas.microsoft.com/office/drawing/2014/main" id="{ADD9B19E-B138-4B07-96EF-C8529DD9D0C7}"/>
              </a:ext>
            </a:extLst>
          </p:cNvPr>
          <p:cNvCxnSpPr>
            <a:cxnSpLocks/>
            <a:stCxn id="45" idx="0"/>
            <a:endCxn id="46" idx="4"/>
          </p:cNvCxnSpPr>
          <p:nvPr/>
        </p:nvCxnSpPr>
        <p:spPr>
          <a:xfrm flipH="1" flipV="1">
            <a:off x="1613091" y="2556708"/>
            <a:ext cx="1"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E489B7A6-73C4-4C1F-BDA4-F63CD682A2EC}"/>
              </a:ext>
            </a:extLst>
          </p:cNvPr>
          <p:cNvSpPr txBox="1"/>
          <p:nvPr/>
        </p:nvSpPr>
        <p:spPr>
          <a:xfrm>
            <a:off x="1135781" y="3211249"/>
            <a:ext cx="95462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선출원위반</a:t>
            </a:r>
          </a:p>
        </p:txBody>
      </p:sp>
      <p:cxnSp>
        <p:nvCxnSpPr>
          <p:cNvPr id="49" name="직선 연결선 48">
            <a:extLst>
              <a:ext uri="{FF2B5EF4-FFF2-40B4-BE49-F238E27FC236}">
                <a16:creationId xmlns:a16="http://schemas.microsoft.com/office/drawing/2014/main" id="{54B08005-44F6-46BC-A4F8-9CA794E946A5}"/>
              </a:ext>
            </a:extLst>
          </p:cNvPr>
          <p:cNvCxnSpPr>
            <a:cxnSpLocks/>
            <a:stCxn id="48" idx="0"/>
            <a:endCxn id="45" idx="2"/>
          </p:cNvCxnSpPr>
          <p:nvPr/>
        </p:nvCxnSpPr>
        <p:spPr>
          <a:xfrm flipV="1">
            <a:off x="1613092" y="3022180"/>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BABAEDD4-897F-46BC-AABF-83DF833E380C}"/>
              </a:ext>
            </a:extLst>
          </p:cNvPr>
          <p:cNvSpPr txBox="1"/>
          <p:nvPr/>
        </p:nvSpPr>
        <p:spPr>
          <a:xfrm>
            <a:off x="2208131" y="2745479"/>
            <a:ext cx="702185"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보정</a:t>
            </a:r>
          </a:p>
        </p:txBody>
      </p:sp>
      <p:sp>
        <p:nvSpPr>
          <p:cNvPr id="57" name="타원 56">
            <a:extLst>
              <a:ext uri="{FF2B5EF4-FFF2-40B4-BE49-F238E27FC236}">
                <a16:creationId xmlns:a16="http://schemas.microsoft.com/office/drawing/2014/main" id="{DEAEC39D-66DF-4453-BFED-AD8FA77979B5}"/>
              </a:ext>
            </a:extLst>
          </p:cNvPr>
          <p:cNvSpPr/>
          <p:nvPr/>
        </p:nvSpPr>
        <p:spPr>
          <a:xfrm>
            <a:off x="2491736" y="2395370"/>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8" name="직선 연결선 57">
            <a:extLst>
              <a:ext uri="{FF2B5EF4-FFF2-40B4-BE49-F238E27FC236}">
                <a16:creationId xmlns:a16="http://schemas.microsoft.com/office/drawing/2014/main" id="{74A3789E-09D7-4DE8-912B-E6AF9CB48990}"/>
              </a:ext>
            </a:extLst>
          </p:cNvPr>
          <p:cNvCxnSpPr>
            <a:cxnSpLocks/>
            <a:stCxn id="56" idx="0"/>
            <a:endCxn id="57" idx="4"/>
          </p:cNvCxnSpPr>
          <p:nvPr/>
        </p:nvCxnSpPr>
        <p:spPr>
          <a:xfrm flipH="1" flipV="1">
            <a:off x="2559223" y="255670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DCA0F548-72F3-4FCE-B8E9-4B89FA8E9300}"/>
              </a:ext>
            </a:extLst>
          </p:cNvPr>
          <p:cNvSpPr txBox="1"/>
          <p:nvPr/>
        </p:nvSpPr>
        <p:spPr>
          <a:xfrm>
            <a:off x="8863580" y="2745479"/>
            <a:ext cx="702185"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소제기</a:t>
            </a:r>
          </a:p>
        </p:txBody>
      </p:sp>
      <p:sp>
        <p:nvSpPr>
          <p:cNvPr id="67" name="타원 66">
            <a:extLst>
              <a:ext uri="{FF2B5EF4-FFF2-40B4-BE49-F238E27FC236}">
                <a16:creationId xmlns:a16="http://schemas.microsoft.com/office/drawing/2014/main" id="{2F641264-EBFC-49D4-9698-D54E4E9579AA}"/>
              </a:ext>
            </a:extLst>
          </p:cNvPr>
          <p:cNvSpPr/>
          <p:nvPr/>
        </p:nvSpPr>
        <p:spPr>
          <a:xfrm>
            <a:off x="9147184" y="2395370"/>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8" name="직선 연결선 67">
            <a:extLst>
              <a:ext uri="{FF2B5EF4-FFF2-40B4-BE49-F238E27FC236}">
                <a16:creationId xmlns:a16="http://schemas.microsoft.com/office/drawing/2014/main" id="{03834C4B-4586-4F4C-8985-C5073D27EF29}"/>
              </a:ext>
            </a:extLst>
          </p:cNvPr>
          <p:cNvCxnSpPr>
            <a:cxnSpLocks/>
            <a:stCxn id="65" idx="0"/>
            <a:endCxn id="67" idx="4"/>
          </p:cNvCxnSpPr>
          <p:nvPr/>
        </p:nvCxnSpPr>
        <p:spPr>
          <a:xfrm flipH="1" flipV="1">
            <a:off x="9214672" y="255670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D1EDEF8E-CA75-414C-98AB-89729C9A3160}"/>
              </a:ext>
            </a:extLst>
          </p:cNvPr>
          <p:cNvSpPr txBox="1"/>
          <p:nvPr/>
        </p:nvSpPr>
        <p:spPr>
          <a:xfrm>
            <a:off x="3211488" y="2745181"/>
            <a:ext cx="662376"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a:t>
            </a:r>
            <a:endParaRPr lang="ko-KR" altLang="en-US" sz="1200" dirty="0">
              <a:solidFill>
                <a:schemeClr val="tx1"/>
              </a:solidFill>
              <a:latin typeface="+mn-ea"/>
            </a:endParaRPr>
          </a:p>
        </p:txBody>
      </p:sp>
      <p:sp>
        <p:nvSpPr>
          <p:cNvPr id="90" name="타원 89">
            <a:extLst>
              <a:ext uri="{FF2B5EF4-FFF2-40B4-BE49-F238E27FC236}">
                <a16:creationId xmlns:a16="http://schemas.microsoft.com/office/drawing/2014/main" id="{FA7C18CD-ED8D-420A-B649-13612075E775}"/>
              </a:ext>
            </a:extLst>
          </p:cNvPr>
          <p:cNvSpPr/>
          <p:nvPr/>
        </p:nvSpPr>
        <p:spPr>
          <a:xfrm>
            <a:off x="3475187" y="2395370"/>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1" name="직선 연결선 90">
            <a:extLst>
              <a:ext uri="{FF2B5EF4-FFF2-40B4-BE49-F238E27FC236}">
                <a16:creationId xmlns:a16="http://schemas.microsoft.com/office/drawing/2014/main" id="{C3A9C4AD-8C9C-4E76-9AAF-1C33547FB4F3}"/>
              </a:ext>
            </a:extLst>
          </p:cNvPr>
          <p:cNvCxnSpPr>
            <a:cxnSpLocks/>
            <a:stCxn id="89" idx="0"/>
            <a:endCxn id="90" idx="4"/>
          </p:cNvCxnSpPr>
          <p:nvPr/>
        </p:nvCxnSpPr>
        <p:spPr>
          <a:xfrm flipH="1" flipV="1">
            <a:off x="3542675" y="2556708"/>
            <a:ext cx="1"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25D01647-94C0-47D6-B554-28020A6EC9A9}"/>
              </a:ext>
            </a:extLst>
          </p:cNvPr>
          <p:cNvSpPr txBox="1"/>
          <p:nvPr/>
        </p:nvSpPr>
        <p:spPr>
          <a:xfrm>
            <a:off x="3065365" y="3211249"/>
            <a:ext cx="95462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진보성위반</a:t>
            </a:r>
          </a:p>
        </p:txBody>
      </p:sp>
      <p:cxnSp>
        <p:nvCxnSpPr>
          <p:cNvPr id="93" name="직선 연결선 92">
            <a:extLst>
              <a:ext uri="{FF2B5EF4-FFF2-40B4-BE49-F238E27FC236}">
                <a16:creationId xmlns:a16="http://schemas.microsoft.com/office/drawing/2014/main" id="{96D69AA0-1FE9-459B-B0BF-97DEBBA5E769}"/>
              </a:ext>
            </a:extLst>
          </p:cNvPr>
          <p:cNvCxnSpPr>
            <a:cxnSpLocks/>
            <a:stCxn id="92" idx="0"/>
            <a:endCxn id="89" idx="2"/>
          </p:cNvCxnSpPr>
          <p:nvPr/>
        </p:nvCxnSpPr>
        <p:spPr>
          <a:xfrm flipV="1">
            <a:off x="3542676" y="3022180"/>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4" name="TextBox 93">
            <a:extLst>
              <a:ext uri="{FF2B5EF4-FFF2-40B4-BE49-F238E27FC236}">
                <a16:creationId xmlns:a16="http://schemas.microsoft.com/office/drawing/2014/main" id="{D39E0084-8D0F-4A16-BD95-FF0454F38322}"/>
              </a:ext>
            </a:extLst>
          </p:cNvPr>
          <p:cNvSpPr txBox="1"/>
          <p:nvPr/>
        </p:nvSpPr>
        <p:spPr>
          <a:xfrm>
            <a:off x="4137715" y="2745479"/>
            <a:ext cx="702185"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보정</a:t>
            </a:r>
          </a:p>
        </p:txBody>
      </p:sp>
      <p:sp>
        <p:nvSpPr>
          <p:cNvPr id="95" name="타원 94">
            <a:extLst>
              <a:ext uri="{FF2B5EF4-FFF2-40B4-BE49-F238E27FC236}">
                <a16:creationId xmlns:a16="http://schemas.microsoft.com/office/drawing/2014/main" id="{FA2A37D6-CAF3-46A4-8B40-6C0DA60C89DD}"/>
              </a:ext>
            </a:extLst>
          </p:cNvPr>
          <p:cNvSpPr/>
          <p:nvPr/>
        </p:nvSpPr>
        <p:spPr>
          <a:xfrm>
            <a:off x="4421319" y="2395370"/>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6" name="직선 연결선 95">
            <a:extLst>
              <a:ext uri="{FF2B5EF4-FFF2-40B4-BE49-F238E27FC236}">
                <a16:creationId xmlns:a16="http://schemas.microsoft.com/office/drawing/2014/main" id="{4CA4F4BC-8B01-4201-B8E6-F935291D1A3C}"/>
              </a:ext>
            </a:extLst>
          </p:cNvPr>
          <p:cNvCxnSpPr>
            <a:cxnSpLocks/>
            <a:stCxn id="94" idx="0"/>
            <a:endCxn id="95" idx="4"/>
          </p:cNvCxnSpPr>
          <p:nvPr/>
        </p:nvCxnSpPr>
        <p:spPr>
          <a:xfrm flipH="1" flipV="1">
            <a:off x="4488807" y="255670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398B6280-4C7D-4EA4-A378-6E7D6F0C77D1}"/>
              </a:ext>
            </a:extLst>
          </p:cNvPr>
          <p:cNvSpPr txBox="1"/>
          <p:nvPr/>
        </p:nvSpPr>
        <p:spPr>
          <a:xfrm>
            <a:off x="5095960" y="2745181"/>
            <a:ext cx="781562"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거절결정</a:t>
            </a:r>
          </a:p>
        </p:txBody>
      </p:sp>
      <p:sp>
        <p:nvSpPr>
          <p:cNvPr id="98" name="타원 97">
            <a:extLst>
              <a:ext uri="{FF2B5EF4-FFF2-40B4-BE49-F238E27FC236}">
                <a16:creationId xmlns:a16="http://schemas.microsoft.com/office/drawing/2014/main" id="{CD7A816E-DCBF-4AC8-982B-ADE2EC39E72B}"/>
              </a:ext>
            </a:extLst>
          </p:cNvPr>
          <p:cNvSpPr/>
          <p:nvPr/>
        </p:nvSpPr>
        <p:spPr>
          <a:xfrm>
            <a:off x="5419253" y="2395370"/>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9" name="직선 연결선 98">
            <a:extLst>
              <a:ext uri="{FF2B5EF4-FFF2-40B4-BE49-F238E27FC236}">
                <a16:creationId xmlns:a16="http://schemas.microsoft.com/office/drawing/2014/main" id="{88BF86C2-D635-4E4B-863E-29BF59A1CBE8}"/>
              </a:ext>
            </a:extLst>
          </p:cNvPr>
          <p:cNvCxnSpPr>
            <a:cxnSpLocks/>
            <a:stCxn id="97" idx="0"/>
            <a:endCxn id="98" idx="4"/>
          </p:cNvCxnSpPr>
          <p:nvPr/>
        </p:nvCxnSpPr>
        <p:spPr>
          <a:xfrm flipV="1">
            <a:off x="5486741" y="2556708"/>
            <a:ext cx="0"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0" name="TextBox 99">
            <a:extLst>
              <a:ext uri="{FF2B5EF4-FFF2-40B4-BE49-F238E27FC236}">
                <a16:creationId xmlns:a16="http://schemas.microsoft.com/office/drawing/2014/main" id="{AA5957A7-0682-429B-BD86-199695770B51}"/>
              </a:ext>
            </a:extLst>
          </p:cNvPr>
          <p:cNvSpPr txBox="1"/>
          <p:nvPr/>
        </p:nvSpPr>
        <p:spPr>
          <a:xfrm>
            <a:off x="5009430" y="3211249"/>
            <a:ext cx="954622"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rgbClr val="FFFF00"/>
                </a:solidFill>
                <a:latin typeface="+mn-ea"/>
              </a:rPr>
              <a:t>진보성위반</a:t>
            </a:r>
          </a:p>
        </p:txBody>
      </p:sp>
      <p:cxnSp>
        <p:nvCxnSpPr>
          <p:cNvPr id="101" name="직선 연결선 100">
            <a:extLst>
              <a:ext uri="{FF2B5EF4-FFF2-40B4-BE49-F238E27FC236}">
                <a16:creationId xmlns:a16="http://schemas.microsoft.com/office/drawing/2014/main" id="{1DCA5BB5-FEEB-4FAE-8567-95F53B578815}"/>
              </a:ext>
            </a:extLst>
          </p:cNvPr>
          <p:cNvCxnSpPr>
            <a:cxnSpLocks/>
            <a:stCxn id="100" idx="0"/>
            <a:endCxn id="97" idx="2"/>
          </p:cNvCxnSpPr>
          <p:nvPr/>
        </p:nvCxnSpPr>
        <p:spPr>
          <a:xfrm flipV="1">
            <a:off x="5486741" y="3022180"/>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9" name="TextBox 108">
            <a:extLst>
              <a:ext uri="{FF2B5EF4-FFF2-40B4-BE49-F238E27FC236}">
                <a16:creationId xmlns:a16="http://schemas.microsoft.com/office/drawing/2014/main" id="{01EE37C0-7DFA-4A79-BBEF-BF346E4D5288}"/>
              </a:ext>
            </a:extLst>
          </p:cNvPr>
          <p:cNvSpPr txBox="1"/>
          <p:nvPr/>
        </p:nvSpPr>
        <p:spPr>
          <a:xfrm>
            <a:off x="6017620" y="2745479"/>
            <a:ext cx="75488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심판청구</a:t>
            </a:r>
          </a:p>
        </p:txBody>
      </p:sp>
      <p:sp>
        <p:nvSpPr>
          <p:cNvPr id="110" name="타원 109">
            <a:extLst>
              <a:ext uri="{FF2B5EF4-FFF2-40B4-BE49-F238E27FC236}">
                <a16:creationId xmlns:a16="http://schemas.microsoft.com/office/drawing/2014/main" id="{254B01F7-FFD1-4181-B99E-E5A1F0765A4C}"/>
              </a:ext>
            </a:extLst>
          </p:cNvPr>
          <p:cNvSpPr/>
          <p:nvPr/>
        </p:nvSpPr>
        <p:spPr>
          <a:xfrm>
            <a:off x="6327575" y="2395370"/>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1" name="직선 연결선 110">
            <a:extLst>
              <a:ext uri="{FF2B5EF4-FFF2-40B4-BE49-F238E27FC236}">
                <a16:creationId xmlns:a16="http://schemas.microsoft.com/office/drawing/2014/main" id="{A1BAF932-87B6-46F9-9F3A-1E9EEE4D98B8}"/>
              </a:ext>
            </a:extLst>
          </p:cNvPr>
          <p:cNvCxnSpPr>
            <a:cxnSpLocks/>
            <a:stCxn id="109" idx="0"/>
            <a:endCxn id="110" idx="4"/>
          </p:cNvCxnSpPr>
          <p:nvPr/>
        </p:nvCxnSpPr>
        <p:spPr>
          <a:xfrm flipH="1" flipV="1">
            <a:off x="6395063" y="2556708"/>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TextBox 111">
            <a:extLst>
              <a:ext uri="{FF2B5EF4-FFF2-40B4-BE49-F238E27FC236}">
                <a16:creationId xmlns:a16="http://schemas.microsoft.com/office/drawing/2014/main" id="{C254BB49-281D-4905-BC90-AA74A0E70F37}"/>
              </a:ext>
            </a:extLst>
          </p:cNvPr>
          <p:cNvSpPr txBox="1"/>
          <p:nvPr/>
        </p:nvSpPr>
        <p:spPr>
          <a:xfrm>
            <a:off x="7839846" y="2745181"/>
            <a:ext cx="781562"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113" name="타원 112">
            <a:extLst>
              <a:ext uri="{FF2B5EF4-FFF2-40B4-BE49-F238E27FC236}">
                <a16:creationId xmlns:a16="http://schemas.microsoft.com/office/drawing/2014/main" id="{1B5AC745-41B7-47E1-8E7F-E8423539DD54}"/>
              </a:ext>
            </a:extLst>
          </p:cNvPr>
          <p:cNvSpPr/>
          <p:nvPr/>
        </p:nvSpPr>
        <p:spPr>
          <a:xfrm>
            <a:off x="8163138" y="2395370"/>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4" name="직선 연결선 113">
            <a:extLst>
              <a:ext uri="{FF2B5EF4-FFF2-40B4-BE49-F238E27FC236}">
                <a16:creationId xmlns:a16="http://schemas.microsoft.com/office/drawing/2014/main" id="{EFD53509-4079-4CA9-9D55-97C979276008}"/>
              </a:ext>
            </a:extLst>
          </p:cNvPr>
          <p:cNvCxnSpPr>
            <a:cxnSpLocks/>
            <a:stCxn id="112" idx="0"/>
            <a:endCxn id="113" idx="4"/>
          </p:cNvCxnSpPr>
          <p:nvPr/>
        </p:nvCxnSpPr>
        <p:spPr>
          <a:xfrm flipH="1" flipV="1">
            <a:off x="8230626" y="2556708"/>
            <a:ext cx="1"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5" name="TextBox 114">
            <a:extLst>
              <a:ext uri="{FF2B5EF4-FFF2-40B4-BE49-F238E27FC236}">
                <a16:creationId xmlns:a16="http://schemas.microsoft.com/office/drawing/2014/main" id="{D6CA94BC-DDED-4446-BACB-56774D703105}"/>
              </a:ext>
            </a:extLst>
          </p:cNvPr>
          <p:cNvSpPr txBox="1"/>
          <p:nvPr/>
        </p:nvSpPr>
        <p:spPr>
          <a:xfrm>
            <a:off x="7753316" y="3211249"/>
            <a:ext cx="954622"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rgbClr val="FFFF00"/>
                </a:solidFill>
                <a:latin typeface="+mn-ea"/>
              </a:rPr>
              <a:t>선출원위반</a:t>
            </a:r>
          </a:p>
        </p:txBody>
      </p:sp>
      <p:cxnSp>
        <p:nvCxnSpPr>
          <p:cNvPr id="116" name="직선 연결선 115">
            <a:extLst>
              <a:ext uri="{FF2B5EF4-FFF2-40B4-BE49-F238E27FC236}">
                <a16:creationId xmlns:a16="http://schemas.microsoft.com/office/drawing/2014/main" id="{4BE137E1-4C69-4289-99FC-DB702D812BC4}"/>
              </a:ext>
            </a:extLst>
          </p:cNvPr>
          <p:cNvCxnSpPr>
            <a:cxnSpLocks/>
            <a:stCxn id="115" idx="0"/>
            <a:endCxn id="112" idx="2"/>
          </p:cNvCxnSpPr>
          <p:nvPr/>
        </p:nvCxnSpPr>
        <p:spPr>
          <a:xfrm flipV="1">
            <a:off x="8230627" y="3022180"/>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7" name="TextBox 116">
            <a:extLst>
              <a:ext uri="{FF2B5EF4-FFF2-40B4-BE49-F238E27FC236}">
                <a16:creationId xmlns:a16="http://schemas.microsoft.com/office/drawing/2014/main" id="{715F452D-F0C1-4846-9431-8FAD590BBC6F}"/>
              </a:ext>
            </a:extLst>
          </p:cNvPr>
          <p:cNvSpPr txBox="1"/>
          <p:nvPr/>
        </p:nvSpPr>
        <p:spPr>
          <a:xfrm>
            <a:off x="6974989" y="2745181"/>
            <a:ext cx="662376"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 × </a:t>
            </a:r>
            <a:endParaRPr lang="ko-KR" altLang="en-US" sz="1200" dirty="0">
              <a:solidFill>
                <a:schemeClr val="tx1"/>
              </a:solidFill>
              <a:latin typeface="+mn-ea"/>
            </a:endParaRPr>
          </a:p>
        </p:txBody>
      </p:sp>
      <p:sp>
        <p:nvSpPr>
          <p:cNvPr id="118" name="타원 117">
            <a:extLst>
              <a:ext uri="{FF2B5EF4-FFF2-40B4-BE49-F238E27FC236}">
                <a16:creationId xmlns:a16="http://schemas.microsoft.com/office/drawing/2014/main" id="{61E1F060-1359-4E82-8DC3-899C603C1C03}"/>
              </a:ext>
            </a:extLst>
          </p:cNvPr>
          <p:cNvSpPr/>
          <p:nvPr/>
        </p:nvSpPr>
        <p:spPr>
          <a:xfrm>
            <a:off x="7238689" y="2395370"/>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9" name="직선 연결선 118">
            <a:extLst>
              <a:ext uri="{FF2B5EF4-FFF2-40B4-BE49-F238E27FC236}">
                <a16:creationId xmlns:a16="http://schemas.microsoft.com/office/drawing/2014/main" id="{CAF2E457-6FAF-4F13-A1B2-D01534C8358B}"/>
              </a:ext>
            </a:extLst>
          </p:cNvPr>
          <p:cNvCxnSpPr>
            <a:cxnSpLocks/>
            <a:stCxn id="117" idx="0"/>
            <a:endCxn id="118" idx="4"/>
          </p:cNvCxnSpPr>
          <p:nvPr/>
        </p:nvCxnSpPr>
        <p:spPr>
          <a:xfrm flipH="1" flipV="1">
            <a:off x="7306176" y="2556708"/>
            <a:ext cx="1"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3" name="말풍선: 모서리가 둥근 사각형 82">
            <a:extLst>
              <a:ext uri="{FF2B5EF4-FFF2-40B4-BE49-F238E27FC236}">
                <a16:creationId xmlns:a16="http://schemas.microsoft.com/office/drawing/2014/main" id="{19BE8C6E-2B02-4F93-8B54-757FA924CF36}"/>
              </a:ext>
            </a:extLst>
          </p:cNvPr>
          <p:cNvSpPr/>
          <p:nvPr/>
        </p:nvSpPr>
        <p:spPr>
          <a:xfrm>
            <a:off x="9703385" y="2742914"/>
            <a:ext cx="2386871" cy="886047"/>
          </a:xfrm>
          <a:prstGeom prst="wedgeRoundRectCallout">
            <a:avLst>
              <a:gd name="adj1" fmla="val -41871"/>
              <a:gd name="adj2" fmla="val -72345"/>
              <a:gd name="adj3" fmla="val 16667"/>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rPr>
              <a:t>지식재산처장의 주장</a:t>
            </a:r>
            <a:r>
              <a:rPr lang="en-US" altLang="ko-KR" sz="1200" dirty="0">
                <a:solidFill>
                  <a:schemeClr val="tx1"/>
                </a:solidFill>
              </a:rPr>
              <a:t>: </a:t>
            </a:r>
            <a:r>
              <a:rPr lang="ko-KR" altLang="en-US" sz="1200" dirty="0" err="1">
                <a:solidFill>
                  <a:schemeClr val="tx1"/>
                </a:solidFill>
              </a:rPr>
              <a:t>선출원</a:t>
            </a:r>
            <a:r>
              <a:rPr lang="ko-KR" altLang="en-US" sz="1200" dirty="0">
                <a:solidFill>
                  <a:schemeClr val="tx1"/>
                </a:solidFill>
              </a:rPr>
              <a:t> 위반은 이미 심사단계에서 출원인에게 대응기회를 부여했기 때문에 </a:t>
            </a:r>
            <a:r>
              <a:rPr lang="ko-KR" altLang="en-US" sz="1200" dirty="0" err="1">
                <a:solidFill>
                  <a:schemeClr val="tx1"/>
                </a:solidFill>
              </a:rPr>
              <a:t>기각심결이</a:t>
            </a:r>
            <a:r>
              <a:rPr lang="ko-KR" altLang="en-US" sz="1200" dirty="0">
                <a:solidFill>
                  <a:schemeClr val="tx1"/>
                </a:solidFill>
              </a:rPr>
              <a:t> 타당하다</a:t>
            </a:r>
          </a:p>
        </p:txBody>
      </p:sp>
      <p:sp>
        <p:nvSpPr>
          <p:cNvPr id="84" name="TextBox 83">
            <a:extLst>
              <a:ext uri="{FF2B5EF4-FFF2-40B4-BE49-F238E27FC236}">
                <a16:creationId xmlns:a16="http://schemas.microsoft.com/office/drawing/2014/main" id="{54C7EA0D-CDE6-44E0-9C50-9196B0FF3DB1}"/>
              </a:ext>
            </a:extLst>
          </p:cNvPr>
          <p:cNvSpPr txBox="1"/>
          <p:nvPr/>
        </p:nvSpPr>
        <p:spPr>
          <a:xfrm>
            <a:off x="9474509" y="1926783"/>
            <a:ext cx="2457383"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rgbClr val="FF0000"/>
                </a:solidFill>
                <a:latin typeface="+mn-ea"/>
              </a:rPr>
              <a:t>법원의 판단</a:t>
            </a:r>
            <a:r>
              <a:rPr lang="en-US" altLang="ko-KR" sz="1200" dirty="0">
                <a:solidFill>
                  <a:schemeClr val="tx1"/>
                </a:solidFill>
                <a:latin typeface="+mn-ea"/>
              </a:rPr>
              <a:t>: </a:t>
            </a:r>
            <a:r>
              <a:rPr lang="ko-KR" altLang="en-US" sz="1200" dirty="0">
                <a:solidFill>
                  <a:schemeClr val="tx1"/>
                </a:solidFill>
                <a:latin typeface="+mn-ea"/>
              </a:rPr>
              <a:t>제</a:t>
            </a:r>
            <a:r>
              <a:rPr lang="en-US" altLang="ko-KR" sz="1200" dirty="0">
                <a:solidFill>
                  <a:schemeClr val="tx1"/>
                </a:solidFill>
                <a:latin typeface="+mn-ea"/>
              </a:rPr>
              <a:t>170</a:t>
            </a:r>
            <a:r>
              <a:rPr lang="ko-KR" altLang="en-US" sz="1200" dirty="0">
                <a:solidFill>
                  <a:schemeClr val="tx1"/>
                </a:solidFill>
                <a:latin typeface="+mn-ea"/>
              </a:rPr>
              <a:t>조제</a:t>
            </a:r>
            <a:r>
              <a:rPr lang="en-US" altLang="ko-KR" sz="1200" dirty="0">
                <a:solidFill>
                  <a:schemeClr val="tx1"/>
                </a:solidFill>
                <a:latin typeface="+mn-ea"/>
              </a:rPr>
              <a:t>2</a:t>
            </a:r>
            <a:r>
              <a:rPr lang="ko-KR" altLang="en-US" sz="1200" dirty="0">
                <a:solidFill>
                  <a:schemeClr val="tx1"/>
                </a:solidFill>
                <a:latin typeface="+mn-ea"/>
              </a:rPr>
              <a:t>항 위반</a:t>
            </a:r>
          </a:p>
        </p:txBody>
      </p:sp>
      <p:sp>
        <p:nvSpPr>
          <p:cNvPr id="85" name="타원 84">
            <a:extLst>
              <a:ext uri="{FF2B5EF4-FFF2-40B4-BE49-F238E27FC236}">
                <a16:creationId xmlns:a16="http://schemas.microsoft.com/office/drawing/2014/main" id="{F2BC48A6-9527-49F2-BC78-57D28E5ACB2A}"/>
              </a:ext>
            </a:extLst>
          </p:cNvPr>
          <p:cNvSpPr/>
          <p:nvPr/>
        </p:nvSpPr>
        <p:spPr>
          <a:xfrm>
            <a:off x="10635714" y="2395370"/>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8" name="연결선: 꺾임 17">
            <a:extLst>
              <a:ext uri="{FF2B5EF4-FFF2-40B4-BE49-F238E27FC236}">
                <a16:creationId xmlns:a16="http://schemas.microsoft.com/office/drawing/2014/main" id="{A4F32CEC-7A77-4456-BC27-3BD378BB123E}"/>
              </a:ext>
            </a:extLst>
          </p:cNvPr>
          <p:cNvCxnSpPr>
            <a:stCxn id="84" idx="2"/>
            <a:endCxn id="85" idx="0"/>
          </p:cNvCxnSpPr>
          <p:nvPr/>
        </p:nvCxnSpPr>
        <p:spPr>
          <a:xfrm rot="16200000" flipH="1">
            <a:off x="10607407" y="2299575"/>
            <a:ext cx="191588" cy="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05928898"/>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5" name="직선 화살표 연결선 124"/>
          <p:cNvCxnSpPr/>
          <p:nvPr/>
        </p:nvCxnSpPr>
        <p:spPr>
          <a:xfrm>
            <a:off x="1003596" y="3228015"/>
            <a:ext cx="965835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176</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t>인용심결</a:t>
            </a:r>
            <a:r>
              <a:rPr lang="ko-KR" altLang="en-US" dirty="0"/>
              <a:t> 후 </a:t>
            </a:r>
            <a:r>
              <a:rPr lang="ko-KR" altLang="en-US" dirty="0" err="1"/>
              <a:t>절차진행</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91" name="직사각형 90"/>
          <p:cNvSpPr/>
          <p:nvPr/>
        </p:nvSpPr>
        <p:spPr>
          <a:xfrm>
            <a:off x="772664" y="2975602"/>
            <a:ext cx="767463" cy="504825"/>
          </a:xfrm>
          <a:prstGeom prst="rect">
            <a:avLst/>
          </a:prstGeom>
          <a:solidFill>
            <a:schemeClr val="tx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출원</a:t>
            </a:r>
          </a:p>
        </p:txBody>
      </p:sp>
      <p:sp>
        <p:nvSpPr>
          <p:cNvPr id="93" name="직사각형 92"/>
          <p:cNvSpPr/>
          <p:nvPr/>
        </p:nvSpPr>
        <p:spPr>
          <a:xfrm>
            <a:off x="2115870" y="2647379"/>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1</a:t>
            </a:r>
            <a:endParaRPr lang="ko-KR" altLang="en-US" sz="1200" dirty="0">
              <a:solidFill>
                <a:schemeClr val="tx1"/>
              </a:solidFill>
            </a:endParaRPr>
          </a:p>
        </p:txBody>
      </p:sp>
      <p:cxnSp>
        <p:nvCxnSpPr>
          <p:cNvPr id="94" name="직선 화살표 연결선 93"/>
          <p:cNvCxnSpPr>
            <a:stCxn id="93" idx="2"/>
          </p:cNvCxnSpPr>
          <p:nvPr/>
        </p:nvCxnSpPr>
        <p:spPr>
          <a:xfrm>
            <a:off x="2438890" y="2899792"/>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5" name="직사각형 94"/>
          <p:cNvSpPr/>
          <p:nvPr/>
        </p:nvSpPr>
        <p:spPr>
          <a:xfrm>
            <a:off x="2584877" y="3098242"/>
            <a:ext cx="693430"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최초</a:t>
            </a:r>
          </a:p>
        </p:txBody>
      </p:sp>
      <p:sp>
        <p:nvSpPr>
          <p:cNvPr id="96" name="직사각형 95"/>
          <p:cNvSpPr/>
          <p:nvPr/>
        </p:nvSpPr>
        <p:spPr>
          <a:xfrm>
            <a:off x="3194081" y="3647114"/>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2</a:t>
            </a:r>
            <a:endParaRPr lang="ko-KR" altLang="en-US" sz="1200" dirty="0">
              <a:solidFill>
                <a:schemeClr val="tx1"/>
              </a:solidFill>
            </a:endParaRPr>
          </a:p>
        </p:txBody>
      </p:sp>
      <p:cxnSp>
        <p:nvCxnSpPr>
          <p:cNvPr id="97" name="직선 화살표 연결선 96"/>
          <p:cNvCxnSpPr>
            <a:stCxn id="96" idx="0"/>
          </p:cNvCxnSpPr>
          <p:nvPr/>
        </p:nvCxnSpPr>
        <p:spPr>
          <a:xfrm flipH="1" flipV="1">
            <a:off x="3565815" y="3224449"/>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8" name="직사각형 97"/>
          <p:cNvSpPr/>
          <p:nvPr/>
        </p:nvSpPr>
        <p:spPr>
          <a:xfrm>
            <a:off x="3679986" y="2647379"/>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2</a:t>
            </a:r>
            <a:endParaRPr lang="ko-KR" altLang="en-US" sz="1200" dirty="0">
              <a:solidFill>
                <a:schemeClr val="tx1"/>
              </a:solidFill>
            </a:endParaRPr>
          </a:p>
        </p:txBody>
      </p:sp>
      <p:cxnSp>
        <p:nvCxnSpPr>
          <p:cNvPr id="99" name="직선 화살표 연결선 98"/>
          <p:cNvCxnSpPr>
            <a:stCxn id="98" idx="2"/>
          </p:cNvCxnSpPr>
          <p:nvPr/>
        </p:nvCxnSpPr>
        <p:spPr>
          <a:xfrm>
            <a:off x="4003006" y="2899792"/>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0" name="직사각형 99"/>
          <p:cNvSpPr/>
          <p:nvPr/>
        </p:nvSpPr>
        <p:spPr>
          <a:xfrm>
            <a:off x="4164410" y="3098242"/>
            <a:ext cx="783810" cy="252413"/>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최후</a:t>
            </a:r>
          </a:p>
        </p:txBody>
      </p:sp>
      <p:sp>
        <p:nvSpPr>
          <p:cNvPr id="103" name="직사각형 102"/>
          <p:cNvSpPr/>
          <p:nvPr/>
        </p:nvSpPr>
        <p:spPr>
          <a:xfrm>
            <a:off x="5007637" y="3647114"/>
            <a:ext cx="746998" cy="252413"/>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3</a:t>
            </a:r>
            <a:endParaRPr lang="ko-KR" altLang="en-US" sz="1200" dirty="0">
              <a:solidFill>
                <a:schemeClr val="tx1"/>
              </a:solidFill>
            </a:endParaRPr>
          </a:p>
        </p:txBody>
      </p:sp>
      <p:cxnSp>
        <p:nvCxnSpPr>
          <p:cNvPr id="106" name="직선 화살표 연결선 105"/>
          <p:cNvCxnSpPr>
            <a:stCxn id="103" idx="0"/>
          </p:cNvCxnSpPr>
          <p:nvPr/>
        </p:nvCxnSpPr>
        <p:spPr>
          <a:xfrm flipH="1" flipV="1">
            <a:off x="5379371" y="3224449"/>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8" name="직사각형 107"/>
          <p:cNvSpPr/>
          <p:nvPr/>
        </p:nvSpPr>
        <p:spPr>
          <a:xfrm>
            <a:off x="1569706" y="3647114"/>
            <a:ext cx="746998"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보정</a:t>
            </a:r>
            <a:r>
              <a:rPr lang="en-US" altLang="ko-KR" sz="1200" dirty="0">
                <a:solidFill>
                  <a:schemeClr val="tx1"/>
                </a:solidFill>
              </a:rPr>
              <a:t>1</a:t>
            </a:r>
            <a:endParaRPr lang="ko-KR" altLang="en-US" sz="1200" dirty="0">
              <a:solidFill>
                <a:schemeClr val="tx1"/>
              </a:solidFill>
            </a:endParaRPr>
          </a:p>
        </p:txBody>
      </p:sp>
      <p:cxnSp>
        <p:nvCxnSpPr>
          <p:cNvPr id="109" name="직선 화살표 연결선 108"/>
          <p:cNvCxnSpPr>
            <a:stCxn id="108" idx="0"/>
          </p:cNvCxnSpPr>
          <p:nvPr/>
        </p:nvCxnSpPr>
        <p:spPr>
          <a:xfrm flipH="1" flipV="1">
            <a:off x="1941440" y="3224449"/>
            <a:ext cx="1765" cy="42266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3" name="직사각형 112"/>
          <p:cNvSpPr/>
          <p:nvPr/>
        </p:nvSpPr>
        <p:spPr>
          <a:xfrm>
            <a:off x="1549240" y="4310830"/>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rPr>
              <a:t>法 </a:t>
            </a:r>
            <a:r>
              <a:rPr lang="en-US" altLang="ko-KR" sz="1050" dirty="0">
                <a:solidFill>
                  <a:schemeClr val="tx1"/>
                </a:solidFill>
              </a:rPr>
              <a:t>42③Ⅰ</a:t>
            </a:r>
            <a:endParaRPr lang="ko-KR" altLang="en-US" sz="1050" dirty="0">
              <a:solidFill>
                <a:schemeClr val="tx1"/>
              </a:solidFill>
            </a:endParaRPr>
          </a:p>
        </p:txBody>
      </p:sp>
      <p:sp>
        <p:nvSpPr>
          <p:cNvPr id="114" name="직사각형 113"/>
          <p:cNvSpPr/>
          <p:nvPr/>
        </p:nvSpPr>
        <p:spPr>
          <a:xfrm>
            <a:off x="3194081" y="4313601"/>
            <a:ext cx="746998" cy="2524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해소</a:t>
            </a:r>
          </a:p>
        </p:txBody>
      </p:sp>
      <p:sp>
        <p:nvSpPr>
          <p:cNvPr id="115" name="직사각형 114"/>
          <p:cNvSpPr/>
          <p:nvPr/>
        </p:nvSpPr>
        <p:spPr>
          <a:xfrm>
            <a:off x="3173615" y="4739455"/>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29②</a:t>
            </a:r>
            <a:endParaRPr lang="ko-KR" altLang="en-US" sz="1050" dirty="0">
              <a:solidFill>
                <a:schemeClr val="tx1"/>
              </a:solidFill>
              <a:latin typeface="+mn-ea"/>
            </a:endParaRPr>
          </a:p>
        </p:txBody>
      </p:sp>
      <p:cxnSp>
        <p:nvCxnSpPr>
          <p:cNvPr id="116" name="꺾인 연결선 115"/>
          <p:cNvCxnSpPr>
            <a:stCxn id="113" idx="3"/>
            <a:endCxn id="95" idx="2"/>
          </p:cNvCxnSpPr>
          <p:nvPr/>
        </p:nvCxnSpPr>
        <p:spPr>
          <a:xfrm flipV="1">
            <a:off x="2316704" y="3350655"/>
            <a:ext cx="614888" cy="1086382"/>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꺾인 연결선 116"/>
          <p:cNvCxnSpPr>
            <a:stCxn id="115" idx="3"/>
            <a:endCxn id="100" idx="2"/>
          </p:cNvCxnSpPr>
          <p:nvPr/>
        </p:nvCxnSpPr>
        <p:spPr>
          <a:xfrm flipV="1">
            <a:off x="3941079" y="3350655"/>
            <a:ext cx="615236" cy="1515007"/>
          </a:xfrm>
          <a:prstGeom prst="bentConnector2">
            <a:avLst/>
          </a:prstGeom>
          <a:ln w="12700">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8" name="직사각형 117"/>
          <p:cNvSpPr/>
          <p:nvPr/>
        </p:nvSpPr>
        <p:spPr>
          <a:xfrm>
            <a:off x="5020109" y="5688312"/>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36</a:t>
            </a:r>
            <a:endParaRPr lang="ko-KR" altLang="en-US" sz="1050" dirty="0">
              <a:solidFill>
                <a:schemeClr val="tx1"/>
              </a:solidFill>
              <a:latin typeface="+mn-ea"/>
            </a:endParaRPr>
          </a:p>
        </p:txBody>
      </p:sp>
      <p:sp>
        <p:nvSpPr>
          <p:cNvPr id="119" name="직사각형 118"/>
          <p:cNvSpPr/>
          <p:nvPr/>
        </p:nvSpPr>
        <p:spPr>
          <a:xfrm>
            <a:off x="1549240" y="4691552"/>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29①</a:t>
            </a:r>
            <a:endParaRPr lang="ko-KR" altLang="en-US" sz="1050" dirty="0">
              <a:solidFill>
                <a:schemeClr val="tx1"/>
              </a:solidFill>
              <a:latin typeface="+mn-ea"/>
            </a:endParaRPr>
          </a:p>
        </p:txBody>
      </p:sp>
      <p:sp>
        <p:nvSpPr>
          <p:cNvPr id="120" name="직사각형 119"/>
          <p:cNvSpPr/>
          <p:nvPr/>
        </p:nvSpPr>
        <p:spPr>
          <a:xfrm>
            <a:off x="3182621" y="5115429"/>
            <a:ext cx="767464" cy="25241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50" dirty="0">
                <a:solidFill>
                  <a:schemeClr val="tx1"/>
                </a:solidFill>
                <a:latin typeface="+mn-ea"/>
              </a:rPr>
              <a:t>法 </a:t>
            </a:r>
            <a:r>
              <a:rPr lang="en-US" altLang="ko-KR" sz="1050" dirty="0">
                <a:solidFill>
                  <a:schemeClr val="tx1"/>
                </a:solidFill>
                <a:latin typeface="+mn-ea"/>
              </a:rPr>
              <a:t>42⑧</a:t>
            </a:r>
            <a:endParaRPr lang="ko-KR" altLang="en-US" sz="1050" dirty="0">
              <a:solidFill>
                <a:schemeClr val="tx1"/>
              </a:solidFill>
              <a:latin typeface="+mn-ea"/>
            </a:endParaRPr>
          </a:p>
        </p:txBody>
      </p:sp>
      <p:sp>
        <p:nvSpPr>
          <p:cNvPr id="121" name="직사각형 120"/>
          <p:cNvSpPr/>
          <p:nvPr/>
        </p:nvSpPr>
        <p:spPr>
          <a:xfrm>
            <a:off x="4824009" y="5666801"/>
            <a:ext cx="392200"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❹</a:t>
            </a:r>
          </a:p>
        </p:txBody>
      </p:sp>
      <p:sp>
        <p:nvSpPr>
          <p:cNvPr id="122" name="직사각형 121"/>
          <p:cNvSpPr/>
          <p:nvPr/>
        </p:nvSpPr>
        <p:spPr>
          <a:xfrm>
            <a:off x="1335024" y="4634207"/>
            <a:ext cx="415969"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❶</a:t>
            </a:r>
          </a:p>
        </p:txBody>
      </p:sp>
      <p:sp>
        <p:nvSpPr>
          <p:cNvPr id="123" name="직사각형 122"/>
          <p:cNvSpPr/>
          <p:nvPr/>
        </p:nvSpPr>
        <p:spPr>
          <a:xfrm>
            <a:off x="2987552" y="4452555"/>
            <a:ext cx="364983" cy="535531"/>
          </a:xfrm>
          <a:prstGeom prst="rect">
            <a:avLst/>
          </a:prstGeom>
        </p:spPr>
        <p:txBody>
          <a:bodyPr wrap="square">
            <a:spAutoFit/>
          </a:bodyPr>
          <a:lstStyle/>
          <a:p>
            <a:pPr algn="just" fontAlgn="base">
              <a:lnSpc>
                <a:spcPct val="160000"/>
              </a:lnSpc>
            </a:pPr>
            <a:r>
              <a:rPr lang="ko-KR" altLang="en-US" kern="0" dirty="0">
                <a:solidFill>
                  <a:schemeClr val="accent2">
                    <a:lumMod val="50000"/>
                  </a:schemeClr>
                </a:solidFill>
                <a:latin typeface="+mn-ea"/>
              </a:rPr>
              <a:t>❷</a:t>
            </a:r>
          </a:p>
        </p:txBody>
      </p:sp>
      <p:sp>
        <p:nvSpPr>
          <p:cNvPr id="124" name="직사각형 123"/>
          <p:cNvSpPr/>
          <p:nvPr/>
        </p:nvSpPr>
        <p:spPr>
          <a:xfrm>
            <a:off x="2987552" y="4640790"/>
            <a:ext cx="364983" cy="978729"/>
          </a:xfrm>
          <a:prstGeom prst="rect">
            <a:avLst/>
          </a:prstGeom>
        </p:spPr>
        <p:txBody>
          <a:bodyPr wrap="square">
            <a:spAutoFit/>
          </a:bodyPr>
          <a:lstStyle/>
          <a:p>
            <a:pPr algn="just" fontAlgn="base">
              <a:lnSpc>
                <a:spcPct val="160000"/>
              </a:lnSpc>
            </a:pPr>
            <a:endParaRPr lang="ko-KR" altLang="en-US" kern="0" dirty="0">
              <a:solidFill>
                <a:schemeClr val="accent2">
                  <a:lumMod val="50000"/>
                </a:schemeClr>
              </a:solidFill>
              <a:latin typeface="+mn-ea"/>
            </a:endParaRPr>
          </a:p>
          <a:p>
            <a:pPr algn="just" fontAlgn="base">
              <a:lnSpc>
                <a:spcPct val="160000"/>
              </a:lnSpc>
            </a:pPr>
            <a:r>
              <a:rPr lang="ko-KR" altLang="en-US" kern="0" dirty="0">
                <a:solidFill>
                  <a:schemeClr val="accent2">
                    <a:lumMod val="50000"/>
                  </a:schemeClr>
                </a:solidFill>
                <a:latin typeface="+mn-ea"/>
              </a:rPr>
              <a:t>❸</a:t>
            </a:r>
          </a:p>
        </p:txBody>
      </p:sp>
      <p:sp>
        <p:nvSpPr>
          <p:cNvPr id="126" name="직사각형 125"/>
          <p:cNvSpPr/>
          <p:nvPr/>
        </p:nvSpPr>
        <p:spPr>
          <a:xfrm>
            <a:off x="6567802" y="3098243"/>
            <a:ext cx="807218" cy="252412"/>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bg1"/>
                </a:solidFill>
              </a:rPr>
              <a:t>거절결정</a:t>
            </a:r>
            <a:endParaRPr lang="ko-KR" altLang="en-US" sz="1200" dirty="0">
              <a:solidFill>
                <a:schemeClr val="bg1"/>
              </a:solidFill>
            </a:endParaRPr>
          </a:p>
        </p:txBody>
      </p:sp>
      <p:sp>
        <p:nvSpPr>
          <p:cNvPr id="137" name="직사각형 136"/>
          <p:cNvSpPr/>
          <p:nvPr/>
        </p:nvSpPr>
        <p:spPr>
          <a:xfrm>
            <a:off x="8063378" y="3098243"/>
            <a:ext cx="1121260" cy="252412"/>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bg1"/>
                </a:solidFill>
              </a:rPr>
              <a:t>인용심결</a:t>
            </a:r>
            <a:endParaRPr lang="ko-KR" altLang="en-US" sz="1200" dirty="0">
              <a:solidFill>
                <a:schemeClr val="bg1"/>
              </a:solidFill>
            </a:endParaRPr>
          </a:p>
        </p:txBody>
      </p:sp>
      <p:sp>
        <p:nvSpPr>
          <p:cNvPr id="144" name="직사각형 143"/>
          <p:cNvSpPr/>
          <p:nvPr/>
        </p:nvSpPr>
        <p:spPr>
          <a:xfrm>
            <a:off x="7389073" y="3767715"/>
            <a:ext cx="746998" cy="435787"/>
          </a:xfrm>
          <a:prstGeom prst="rect">
            <a:avLst/>
          </a:prstGeom>
          <a:solidFill>
            <a:schemeClr val="bg1">
              <a:lumMod val="6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심판청구</a:t>
            </a:r>
          </a:p>
        </p:txBody>
      </p:sp>
      <p:cxnSp>
        <p:nvCxnSpPr>
          <p:cNvPr id="145" name="직선 화살표 연결선 144"/>
          <p:cNvCxnSpPr>
            <a:stCxn id="144" idx="0"/>
          </p:cNvCxnSpPr>
          <p:nvPr/>
        </p:nvCxnSpPr>
        <p:spPr>
          <a:xfrm flipH="1" flipV="1">
            <a:off x="7760807" y="3244584"/>
            <a:ext cx="1765" cy="52313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8" name="직사각형 147"/>
          <p:cNvSpPr/>
          <p:nvPr/>
        </p:nvSpPr>
        <p:spPr>
          <a:xfrm>
            <a:off x="5726758" y="2647379"/>
            <a:ext cx="646040" cy="25241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심사</a:t>
            </a:r>
            <a:r>
              <a:rPr lang="en-US" altLang="ko-KR" sz="1200" dirty="0">
                <a:solidFill>
                  <a:schemeClr val="tx1"/>
                </a:solidFill>
              </a:rPr>
              <a:t>3</a:t>
            </a:r>
            <a:endParaRPr lang="ko-KR" altLang="en-US" sz="1200" dirty="0">
              <a:solidFill>
                <a:schemeClr val="tx1"/>
              </a:solidFill>
            </a:endParaRPr>
          </a:p>
        </p:txBody>
      </p:sp>
      <p:cxnSp>
        <p:nvCxnSpPr>
          <p:cNvPr id="153" name="직선 화살표 연결선 152"/>
          <p:cNvCxnSpPr>
            <a:stCxn id="148" idx="2"/>
          </p:cNvCxnSpPr>
          <p:nvPr/>
        </p:nvCxnSpPr>
        <p:spPr>
          <a:xfrm>
            <a:off x="6049778" y="2899792"/>
            <a:ext cx="7428" cy="3116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0" name="직사각형 159"/>
          <p:cNvSpPr/>
          <p:nvPr/>
        </p:nvSpPr>
        <p:spPr>
          <a:xfrm>
            <a:off x="8980215" y="3626647"/>
            <a:ext cx="1000384" cy="252413"/>
          </a:xfrm>
          <a:prstGeom prst="rect">
            <a:avLst/>
          </a:prstGeom>
          <a:solidFill>
            <a:schemeClr val="tx1">
              <a:lumMod val="95000"/>
              <a:lumOff val="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재심사</a:t>
            </a:r>
            <a:r>
              <a:rPr lang="en-US" altLang="ko-KR" sz="1200" dirty="0">
                <a:solidFill>
                  <a:schemeClr val="bg1"/>
                </a:solidFill>
              </a:rPr>
              <a:t>4</a:t>
            </a:r>
            <a:endParaRPr lang="ko-KR" altLang="en-US" sz="1200" dirty="0">
              <a:solidFill>
                <a:schemeClr val="bg1"/>
              </a:solidFill>
            </a:endParaRPr>
          </a:p>
        </p:txBody>
      </p:sp>
      <p:cxnSp>
        <p:nvCxnSpPr>
          <p:cNvPr id="164" name="직선 화살표 연결선 163"/>
          <p:cNvCxnSpPr>
            <a:stCxn id="160" idx="0"/>
          </p:cNvCxnSpPr>
          <p:nvPr/>
        </p:nvCxnSpPr>
        <p:spPr>
          <a:xfrm flipV="1">
            <a:off x="9488953" y="3224448"/>
            <a:ext cx="0" cy="40219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5" name="직사각형 164"/>
          <p:cNvSpPr/>
          <p:nvPr/>
        </p:nvSpPr>
        <p:spPr>
          <a:xfrm>
            <a:off x="8953678" y="5145960"/>
            <a:ext cx="2183611" cy="954107"/>
          </a:xfrm>
          <a:prstGeom prst="rect">
            <a:avLst/>
          </a:prstGeom>
          <a:ln>
            <a:solidFill>
              <a:schemeClr val="bg1">
                <a:lumMod val="50000"/>
              </a:schemeClr>
            </a:solidFill>
          </a:ln>
        </p:spPr>
        <p:txBody>
          <a:bodyPr wrap="none">
            <a:spAutoFit/>
          </a:bodyPr>
          <a:lstStyle/>
          <a:p>
            <a:pPr fontAlgn="base"/>
            <a:r>
              <a:rPr lang="ko-KR" altLang="en-US" sz="1400" kern="0" dirty="0">
                <a:solidFill>
                  <a:srgbClr val="FF0000"/>
                </a:solidFill>
                <a:latin typeface="+mn-ea"/>
              </a:rPr>
              <a:t>❶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r>
              <a:rPr lang="en-US" altLang="ko-KR" sz="1400" kern="0" dirty="0">
                <a:solidFill>
                  <a:srgbClr val="FF0000"/>
                </a:solidFill>
                <a:latin typeface="+mn-ea"/>
              </a:rPr>
              <a:t> </a:t>
            </a:r>
          </a:p>
          <a:p>
            <a:pPr fontAlgn="base"/>
            <a:r>
              <a:rPr lang="ko-KR" altLang="en-US" sz="1400" kern="0" dirty="0">
                <a:solidFill>
                  <a:srgbClr val="FF0000"/>
                </a:solidFill>
                <a:latin typeface="+mn-ea"/>
              </a:rPr>
              <a:t>❷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endParaRPr lang="en-US" altLang="ko-KR" sz="1400" kern="0" dirty="0">
              <a:solidFill>
                <a:srgbClr val="FF0000"/>
              </a:solidFill>
              <a:latin typeface="+mn-ea"/>
            </a:endParaRPr>
          </a:p>
          <a:p>
            <a:pPr fontAlgn="base"/>
            <a:r>
              <a:rPr lang="ko-KR" altLang="en-US" sz="1400" kern="0" dirty="0">
                <a:solidFill>
                  <a:srgbClr val="FF0000"/>
                </a:solidFill>
                <a:latin typeface="+mn-ea"/>
              </a:rPr>
              <a:t>❸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endParaRPr lang="en-US" altLang="ko-KR" sz="1400" kern="0" dirty="0">
              <a:solidFill>
                <a:srgbClr val="FF0000"/>
              </a:solidFill>
              <a:latin typeface="+mn-ea"/>
            </a:endParaRPr>
          </a:p>
          <a:p>
            <a:pPr fontAlgn="base"/>
            <a:r>
              <a:rPr lang="ko-KR" altLang="en-US" sz="1400" kern="0" dirty="0">
                <a:solidFill>
                  <a:srgbClr val="FF0000"/>
                </a:solidFill>
                <a:latin typeface="+mn-ea"/>
              </a:rPr>
              <a:t>❹ 발견</a:t>
            </a:r>
            <a:r>
              <a:rPr lang="en-US" altLang="ko-KR" sz="1400" kern="0" dirty="0">
                <a:solidFill>
                  <a:srgbClr val="FF0000"/>
                </a:solidFill>
                <a:latin typeface="+mn-ea"/>
              </a:rPr>
              <a:t>: </a:t>
            </a:r>
            <a:r>
              <a:rPr lang="ko-KR" altLang="en-US" sz="1400" kern="0" dirty="0">
                <a:solidFill>
                  <a:srgbClr val="FF0000"/>
                </a:solidFill>
                <a:latin typeface="+mn-ea"/>
              </a:rPr>
              <a:t>최초거절이유통지</a:t>
            </a:r>
            <a:endParaRPr lang="en-US" altLang="ko-KR" sz="1400" kern="0" dirty="0">
              <a:solidFill>
                <a:srgbClr val="FF0000"/>
              </a:solidFill>
              <a:latin typeface="+mn-ea"/>
            </a:endParaRPr>
          </a:p>
        </p:txBody>
      </p:sp>
      <p:sp>
        <p:nvSpPr>
          <p:cNvPr id="44" name="TextBox 43"/>
          <p:cNvSpPr txBox="1"/>
          <p:nvPr/>
        </p:nvSpPr>
        <p:spPr>
          <a:xfrm>
            <a:off x="8983365" y="4237139"/>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1. </a:t>
            </a:r>
            <a:r>
              <a:rPr lang="ko-KR" altLang="en-US" sz="1100" dirty="0"/>
              <a:t>원거절이유의 </a:t>
            </a:r>
            <a:r>
              <a:rPr lang="ko-KR" altLang="en-US" sz="1100" dirty="0" err="1"/>
              <a:t>해소여부</a:t>
            </a:r>
            <a:endParaRPr lang="ko-KR" altLang="en-US" dirty="0"/>
          </a:p>
        </p:txBody>
      </p:sp>
      <p:sp>
        <p:nvSpPr>
          <p:cNvPr id="45" name="TextBox 44"/>
          <p:cNvSpPr txBox="1"/>
          <p:nvPr/>
        </p:nvSpPr>
        <p:spPr>
          <a:xfrm>
            <a:off x="8983365" y="4524150"/>
            <a:ext cx="2390207"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2. </a:t>
            </a:r>
            <a:r>
              <a:rPr lang="ko-KR" altLang="en-US" sz="1100" dirty="0"/>
              <a:t>새로운 </a:t>
            </a:r>
            <a:r>
              <a:rPr lang="ko-KR" altLang="en-US" sz="1100" dirty="0" err="1"/>
              <a:t>거절이유의</a:t>
            </a:r>
            <a:r>
              <a:rPr lang="ko-KR" altLang="en-US" sz="1100" dirty="0"/>
              <a:t> </a:t>
            </a:r>
            <a:r>
              <a:rPr lang="ko-KR" altLang="en-US" sz="1100" dirty="0" err="1"/>
              <a:t>발견여부</a:t>
            </a:r>
            <a:endParaRPr lang="ko-KR" altLang="en-US" sz="1100" dirty="0"/>
          </a:p>
        </p:txBody>
      </p:sp>
      <p:sp>
        <p:nvSpPr>
          <p:cNvPr id="46" name="TextBox 45"/>
          <p:cNvSpPr txBox="1"/>
          <p:nvPr/>
        </p:nvSpPr>
        <p:spPr>
          <a:xfrm>
            <a:off x="8983366" y="4822476"/>
            <a:ext cx="2397889" cy="261610"/>
          </a:xfrm>
          <a:prstGeom prst="rect">
            <a:avLst/>
          </a:prstGeom>
          <a:solidFill>
            <a:schemeClr val="bg1"/>
          </a:solidFill>
          <a:ln>
            <a:solidFill>
              <a:schemeClr val="bg1">
                <a:lumMod val="50000"/>
              </a:schemeClr>
            </a:solidFill>
          </a:ln>
        </p:spPr>
        <p:txBody>
          <a:bodyPr wrap="square" rtlCol="0">
            <a:spAutoFit/>
          </a:bodyPr>
          <a:lstStyle/>
          <a:p>
            <a:r>
              <a:rPr lang="en-US" altLang="ko-KR" sz="1100" dirty="0"/>
              <a:t>3. </a:t>
            </a:r>
            <a:r>
              <a:rPr lang="ko-KR" altLang="en-US" sz="1100" dirty="0"/>
              <a:t>새로운 거절이유의 발생시점</a:t>
            </a:r>
          </a:p>
        </p:txBody>
      </p:sp>
      <p:sp>
        <p:nvSpPr>
          <p:cNvPr id="47" name="TextBox 46"/>
          <p:cNvSpPr txBox="1"/>
          <p:nvPr/>
        </p:nvSpPr>
        <p:spPr>
          <a:xfrm>
            <a:off x="8983365" y="3941892"/>
            <a:ext cx="2390209" cy="261610"/>
          </a:xfrm>
          <a:prstGeom prst="rect">
            <a:avLst/>
          </a:prstGeom>
          <a:solidFill>
            <a:schemeClr val="bg1"/>
          </a:solidFill>
          <a:ln>
            <a:solidFill>
              <a:schemeClr val="bg1">
                <a:lumMod val="50000"/>
              </a:schemeClr>
            </a:solidFill>
          </a:ln>
        </p:spPr>
        <p:txBody>
          <a:bodyPr wrap="square" rtlCol="0">
            <a:noAutofit/>
          </a:bodyPr>
          <a:lstStyle/>
          <a:p>
            <a:r>
              <a:rPr lang="en-US" altLang="ko-KR" sz="1100" dirty="0"/>
              <a:t>0. </a:t>
            </a:r>
            <a:r>
              <a:rPr lang="ko-KR" altLang="en-US" sz="1100" dirty="0"/>
              <a:t>보정의 적법성</a:t>
            </a:r>
          </a:p>
        </p:txBody>
      </p:sp>
      <p:cxnSp>
        <p:nvCxnSpPr>
          <p:cNvPr id="48" name="직선 연결선 47"/>
          <p:cNvCxnSpPr/>
          <p:nvPr/>
        </p:nvCxnSpPr>
        <p:spPr>
          <a:xfrm>
            <a:off x="77875" y="213196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77875" y="976902"/>
            <a:ext cx="11936323" cy="1169551"/>
          </a:xfrm>
          <a:prstGeom prst="rect">
            <a:avLst/>
          </a:prstGeom>
          <a:noFill/>
        </p:spPr>
        <p:txBody>
          <a:bodyPr wrap="square" rtlCol="0">
            <a:spAutoFit/>
          </a:bodyPr>
          <a:lstStyle/>
          <a:p>
            <a:pPr fontAlgn="base"/>
            <a:r>
              <a:rPr lang="ko-KR" altLang="en-US" sz="1400" dirty="0" err="1">
                <a:solidFill>
                  <a:schemeClr val="tx2"/>
                </a:solidFill>
              </a:rPr>
              <a:t>취소환송된</a:t>
            </a:r>
            <a:r>
              <a:rPr lang="ko-KR" altLang="en-US" sz="1400" dirty="0">
                <a:solidFill>
                  <a:schemeClr val="tx2"/>
                </a:solidFill>
              </a:rPr>
              <a:t> 출원은 </a:t>
            </a:r>
            <a:r>
              <a:rPr lang="ko-KR" altLang="en-US" sz="1400" dirty="0" err="1">
                <a:solidFill>
                  <a:schemeClr val="tx2"/>
                </a:solidFill>
              </a:rPr>
              <a:t>거절결정</a:t>
            </a:r>
            <a:r>
              <a:rPr lang="ko-KR" altLang="en-US" sz="1400" dirty="0">
                <a:solidFill>
                  <a:schemeClr val="tx2"/>
                </a:solidFill>
              </a:rPr>
              <a:t> 또는 보정각하결정만 취소되었을 뿐 그 결정에 앞서 행해진 심사에서 밟은 특허에 관한 절차 및 심사관이 행한 절차는 모두 유효하므로 거절결정이나 보정각하결정만 없던 것으로 보고 통상의 심사와 동일하게 심사한다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err="1">
                <a:solidFill>
                  <a:schemeClr val="tx2"/>
                </a:solidFill>
              </a:rPr>
              <a:t>취소환송</a:t>
            </a:r>
            <a:r>
              <a:rPr lang="ko-KR" altLang="en-US" sz="1400" dirty="0">
                <a:solidFill>
                  <a:schemeClr val="tx2"/>
                </a:solidFill>
              </a:rPr>
              <a:t> 전의 거절이유통지에 대한 보정에 따라 발생한 거절이유를 통지하는 경우에는</a:t>
            </a:r>
            <a:r>
              <a:rPr lang="en-US" altLang="ko-KR" sz="1400" dirty="0">
                <a:solidFill>
                  <a:schemeClr val="tx2"/>
                </a:solidFill>
              </a:rPr>
              <a:t>, </a:t>
            </a:r>
            <a:r>
              <a:rPr lang="ko-KR" altLang="en-US" sz="1400" dirty="0">
                <a:solidFill>
                  <a:schemeClr val="tx2"/>
                </a:solidFill>
              </a:rPr>
              <a:t>심사관의 잘못된 거절결정으로 절차의 지연이라는 불이익을 감수하였던 </a:t>
            </a:r>
            <a:r>
              <a:rPr lang="ko-KR" altLang="en-US" sz="1400" dirty="0" err="1">
                <a:solidFill>
                  <a:schemeClr val="tx2"/>
                </a:solidFill>
              </a:rPr>
              <a:t>출원인에게</a:t>
            </a:r>
            <a:r>
              <a:rPr lang="ko-KR" altLang="en-US" sz="1400" dirty="0">
                <a:solidFill>
                  <a:schemeClr val="tx2"/>
                </a:solidFill>
              </a:rPr>
              <a:t> 다시 보정의 범위를 제한하는 것이 가혹하다는 점</a:t>
            </a:r>
            <a:r>
              <a:rPr lang="en-US" altLang="ko-KR" sz="1400" dirty="0">
                <a:solidFill>
                  <a:schemeClr val="tx2"/>
                </a:solidFill>
              </a:rPr>
              <a:t>, </a:t>
            </a:r>
            <a:r>
              <a:rPr lang="ko-KR" altLang="en-US" sz="1400" dirty="0">
                <a:solidFill>
                  <a:schemeClr val="tx2"/>
                </a:solidFill>
              </a:rPr>
              <a:t>특허법 제</a:t>
            </a:r>
            <a:r>
              <a:rPr lang="en-US" altLang="ko-KR" sz="1400" dirty="0">
                <a:solidFill>
                  <a:schemeClr val="tx2"/>
                </a:solidFill>
              </a:rPr>
              <a:t>66</a:t>
            </a:r>
            <a:r>
              <a:rPr lang="ko-KR" altLang="en-US" sz="1400" dirty="0">
                <a:solidFill>
                  <a:schemeClr val="tx2"/>
                </a:solidFill>
              </a:rPr>
              <a:t>조의</a:t>
            </a:r>
            <a:r>
              <a:rPr lang="en-US" altLang="ko-KR" sz="1400" dirty="0">
                <a:solidFill>
                  <a:schemeClr val="tx2"/>
                </a:solidFill>
              </a:rPr>
              <a:t>3</a:t>
            </a:r>
            <a:r>
              <a:rPr lang="ko-KR" altLang="en-US" sz="1400" dirty="0">
                <a:solidFill>
                  <a:schemeClr val="tx2"/>
                </a:solidFill>
              </a:rPr>
              <a:t>에 따른 직권 재심사에서도 </a:t>
            </a:r>
            <a:r>
              <a:rPr lang="ko-KR" altLang="en-US" sz="1400" dirty="0" err="1">
                <a:solidFill>
                  <a:schemeClr val="tx2"/>
                </a:solidFill>
              </a:rPr>
              <a:t>취소통지</a:t>
            </a:r>
            <a:r>
              <a:rPr lang="ko-KR" altLang="en-US" sz="1400" dirty="0">
                <a:solidFill>
                  <a:schemeClr val="tx2"/>
                </a:solidFill>
              </a:rPr>
              <a:t> 전의 거절이유통지에 대한 보정에 따라 발생한 거절이유를 통지하는 경우에 최초거절이유를 통지한다는 점을 고려하여</a:t>
            </a:r>
            <a:r>
              <a:rPr lang="en-US" altLang="ko-KR" sz="1400" dirty="0">
                <a:solidFill>
                  <a:schemeClr val="tx2"/>
                </a:solidFill>
              </a:rPr>
              <a:t>, </a:t>
            </a:r>
            <a:r>
              <a:rPr lang="ko-KR" altLang="en-US" sz="1400" dirty="0">
                <a:solidFill>
                  <a:schemeClr val="tx2"/>
                </a:solidFill>
              </a:rPr>
              <a:t>통지하는 거절이유를 </a:t>
            </a:r>
            <a:r>
              <a:rPr lang="ko-KR" altLang="en-US" sz="1400" dirty="0">
                <a:highlight>
                  <a:srgbClr val="FFFF00"/>
                </a:highlight>
              </a:rPr>
              <a:t>최초거절이유</a:t>
            </a:r>
            <a:r>
              <a:rPr lang="ko-KR" altLang="en-US" sz="1400" dirty="0">
                <a:solidFill>
                  <a:schemeClr val="tx2"/>
                </a:solidFill>
              </a:rPr>
              <a:t>로 한다</a:t>
            </a:r>
            <a:r>
              <a:rPr lang="en-US" altLang="ko-KR" sz="1400" dirty="0">
                <a:solidFill>
                  <a:schemeClr val="tx2"/>
                </a:solidFill>
              </a:rPr>
              <a:t>.</a:t>
            </a:r>
          </a:p>
        </p:txBody>
      </p:sp>
      <p:sp>
        <p:nvSpPr>
          <p:cNvPr id="50" name="직사각형 49"/>
          <p:cNvSpPr/>
          <p:nvPr/>
        </p:nvSpPr>
        <p:spPr>
          <a:xfrm>
            <a:off x="7642103" y="2625549"/>
            <a:ext cx="1963810" cy="252412"/>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2"/>
                </a:solidFill>
              </a:rPr>
              <a:t>거절결정취소 및 환송</a:t>
            </a:r>
          </a:p>
        </p:txBody>
      </p:sp>
      <p:cxnSp>
        <p:nvCxnSpPr>
          <p:cNvPr id="51" name="직선 화살표 연결선 50"/>
          <p:cNvCxnSpPr>
            <a:stCxn id="50" idx="2"/>
            <a:endCxn id="137" idx="0"/>
          </p:cNvCxnSpPr>
          <p:nvPr/>
        </p:nvCxnSpPr>
        <p:spPr>
          <a:xfrm>
            <a:off x="8624008" y="2877961"/>
            <a:ext cx="0" cy="22028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461</a:t>
            </a:r>
            <a:endParaRPr lang="ko-KR" altLang="en-US" dirty="0"/>
          </a:p>
        </p:txBody>
      </p:sp>
    </p:spTree>
    <p:extLst>
      <p:ext uri="{BB962C8B-B14F-4D97-AF65-F5344CB8AC3E}">
        <p14:creationId xmlns:p14="http://schemas.microsoft.com/office/powerpoint/2010/main" val="2960903322"/>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133</a:t>
            </a:r>
            <a:r>
              <a:rPr lang="ko-KR" altLang="en-US" dirty="0"/>
              <a:t>조</a:t>
            </a:r>
          </a:p>
        </p:txBody>
      </p:sp>
      <p:sp>
        <p:nvSpPr>
          <p:cNvPr id="3" name="텍스트 개체 틀 2"/>
          <p:cNvSpPr>
            <a:spLocks noGrp="1"/>
          </p:cNvSpPr>
          <p:nvPr>
            <p:ph type="body" sz="quarter" idx="13"/>
          </p:nvPr>
        </p:nvSpPr>
        <p:spPr/>
        <p:txBody>
          <a:bodyPr/>
          <a:lstStyle/>
          <a:p>
            <a:r>
              <a:rPr lang="ko-KR" altLang="en-US" dirty="0"/>
              <a:t>지분에 대한 무효심판청구 불가</a:t>
            </a:r>
          </a:p>
        </p:txBody>
      </p:sp>
      <p:cxnSp>
        <p:nvCxnSpPr>
          <p:cNvPr id="23" name="직선 연결선 22">
            <a:extLst>
              <a:ext uri="{FF2B5EF4-FFF2-40B4-BE49-F238E27FC236}">
                <a16:creationId xmlns:a16="http://schemas.microsoft.com/office/drawing/2014/main" id="{BC744699-A9D8-41E8-AC09-E31EE1EB6442}"/>
              </a:ext>
            </a:extLst>
          </p:cNvPr>
          <p:cNvCxnSpPr/>
          <p:nvPr/>
        </p:nvCxnSpPr>
        <p:spPr>
          <a:xfrm>
            <a:off x="0" y="3637207"/>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직사각형 54">
            <a:extLst>
              <a:ext uri="{FF2B5EF4-FFF2-40B4-BE49-F238E27FC236}">
                <a16:creationId xmlns:a16="http://schemas.microsoft.com/office/drawing/2014/main" id="{88F9BA11-776F-458B-AEBF-785908167EF1}"/>
              </a:ext>
            </a:extLst>
          </p:cNvPr>
          <p:cNvSpPr/>
          <p:nvPr/>
        </p:nvSpPr>
        <p:spPr>
          <a:xfrm>
            <a:off x="232372" y="967374"/>
            <a:ext cx="11681987" cy="2677656"/>
          </a:xfrm>
          <a:prstGeom prst="rect">
            <a:avLst/>
          </a:prstGeom>
        </p:spPr>
        <p:txBody>
          <a:bodyPr wrap="square">
            <a:spAutoFit/>
          </a:bodyPr>
          <a:lstStyle/>
          <a:p>
            <a:pPr fontAlgn="base"/>
            <a:r>
              <a:rPr lang="ko-KR" altLang="en-US" sz="1400" dirty="0"/>
              <a:t>특허처분은 하나의 특허출원에 대하여 하나의 특허권을 부여하는 단일한 </a:t>
            </a:r>
            <a:r>
              <a:rPr lang="ko-KR" altLang="en-US" sz="1400" dirty="0" err="1"/>
              <a:t>행정행위이므로</a:t>
            </a:r>
            <a:r>
              <a:rPr lang="en-US" altLang="ko-KR" sz="1400" dirty="0"/>
              <a:t>, </a:t>
            </a:r>
            <a:r>
              <a:rPr lang="ko-KR" altLang="en-US" sz="1400" dirty="0"/>
              <a:t>설령 그러한 특허처분에 의하여 수인을 공유자로 하는 특허등록이 이루어졌다고 하더라도</a:t>
            </a:r>
            <a:r>
              <a:rPr lang="en-US" altLang="ko-KR" sz="1400" dirty="0"/>
              <a:t>, </a:t>
            </a:r>
            <a:r>
              <a:rPr lang="ko-KR" altLang="en-US" sz="1400" dirty="0"/>
              <a:t>그 특허처분 자체에 대한 무효를 청구하는 제도인 </a:t>
            </a:r>
            <a:r>
              <a:rPr lang="ko-KR" altLang="en-US" sz="1400" dirty="0">
                <a:highlight>
                  <a:srgbClr val="FFFF00"/>
                </a:highlight>
              </a:rPr>
              <a:t>특허무효심판에서 그 공유자 지분에 따라 특허를 분할하여 일부 지분만의 무효심판을 청구하는 것은 허용할 수 없다</a:t>
            </a:r>
            <a:r>
              <a:rPr lang="en-US" altLang="ko-KR" sz="1400" dirty="0">
                <a:highlight>
                  <a:srgbClr val="FFFF00"/>
                </a:highlight>
              </a:rPr>
              <a:t>(</a:t>
            </a:r>
            <a:r>
              <a:rPr lang="ko-KR" altLang="en-US" sz="1400" dirty="0">
                <a:highlight>
                  <a:srgbClr val="FFFF00"/>
                </a:highlight>
              </a:rPr>
              <a:t>대법원 </a:t>
            </a:r>
            <a:r>
              <a:rPr lang="en-US" altLang="ko-KR" sz="1400" dirty="0">
                <a:highlight>
                  <a:srgbClr val="FFFF00"/>
                </a:highlight>
              </a:rPr>
              <a:t>2015. 1. 15. </a:t>
            </a:r>
            <a:r>
              <a:rPr lang="ko-KR" altLang="en-US" sz="1400" dirty="0">
                <a:highlight>
                  <a:srgbClr val="FFFF00"/>
                </a:highlight>
              </a:rPr>
              <a:t>선고 </a:t>
            </a:r>
            <a:r>
              <a:rPr lang="en-US" altLang="ko-KR" sz="1400" dirty="0">
                <a:highlight>
                  <a:srgbClr val="FFFF00"/>
                </a:highlight>
              </a:rPr>
              <a:t>2012</a:t>
            </a:r>
            <a:r>
              <a:rPr lang="ko-KR" altLang="en-US" sz="1400" dirty="0">
                <a:highlight>
                  <a:srgbClr val="FFFF00"/>
                </a:highlight>
              </a:rPr>
              <a:t>후</a:t>
            </a:r>
            <a:r>
              <a:rPr lang="en-US" altLang="ko-KR" sz="1400" dirty="0">
                <a:highlight>
                  <a:srgbClr val="FFFF00"/>
                </a:highlight>
              </a:rPr>
              <a:t>2432 ). </a:t>
            </a:r>
            <a:r>
              <a:rPr lang="ko-KR" altLang="en-US" sz="1400" dirty="0">
                <a:highlight>
                  <a:srgbClr val="FFFF00"/>
                </a:highlight>
              </a:rPr>
              <a:t>이 경우 특허를 받을 수 있는 권리를 가진 자는 무효심판을 청구하지 않고 무권리자를 상대로 공유 특허권의 지분을 이전을 직접 청구할 수 있다</a:t>
            </a:r>
            <a:r>
              <a:rPr lang="en-US" altLang="ko-KR" sz="1400" dirty="0">
                <a:highlight>
                  <a:srgbClr val="FFFF00"/>
                </a:highlight>
              </a:rPr>
              <a:t>(</a:t>
            </a:r>
            <a:r>
              <a:rPr lang="ko-KR" altLang="en-US" sz="1400" dirty="0">
                <a:highlight>
                  <a:srgbClr val="FFFF00"/>
                </a:highlight>
              </a:rPr>
              <a:t>法 </a:t>
            </a:r>
            <a:r>
              <a:rPr lang="en-US" altLang="ko-KR" sz="1400" dirty="0">
                <a:highlight>
                  <a:srgbClr val="FFFF00"/>
                </a:highlight>
              </a:rPr>
              <a:t>99</a:t>
            </a:r>
            <a:r>
              <a:rPr lang="ko-KR" altLang="en-US" sz="1400" dirty="0">
                <a:highlight>
                  <a:srgbClr val="FFFF00"/>
                </a:highlight>
              </a:rPr>
              <a:t>의</a:t>
            </a:r>
            <a:r>
              <a:rPr lang="en-US" altLang="ko-KR" sz="1400" dirty="0">
                <a:highlight>
                  <a:srgbClr val="FFFF00"/>
                </a:highlight>
              </a:rPr>
              <a:t>2). </a:t>
            </a:r>
            <a:r>
              <a:rPr lang="ko-KR" altLang="en-US" sz="1400" dirty="0"/>
              <a:t>원심판결인 특허법원 </a:t>
            </a:r>
            <a:r>
              <a:rPr lang="en-US" altLang="ko-KR" sz="1400" dirty="0"/>
              <a:t>2012. 6. 22. </a:t>
            </a:r>
            <a:r>
              <a:rPr lang="ko-KR" altLang="en-US" sz="1400" dirty="0"/>
              <a:t>선고 </a:t>
            </a:r>
            <a:r>
              <a:rPr lang="en-US" altLang="ko-KR" sz="1400" dirty="0"/>
              <a:t>2011</a:t>
            </a:r>
            <a:r>
              <a:rPr lang="ko-KR" altLang="en-US" sz="1400" dirty="0"/>
              <a:t>허</a:t>
            </a:r>
            <a:r>
              <a:rPr lang="en-US" altLang="ko-KR" sz="1400" dirty="0"/>
              <a:t>11750 </a:t>
            </a:r>
            <a:r>
              <a:rPr lang="ko-KR" altLang="en-US" sz="1400" dirty="0"/>
              <a:t>판결에서는 </a:t>
            </a:r>
            <a:r>
              <a:rPr lang="en-US" altLang="ko-KR" sz="1400" dirty="0"/>
              <a:t>ⅰ) </a:t>
            </a:r>
            <a:r>
              <a:rPr lang="ko-KR" altLang="en-US" sz="1400" dirty="0"/>
              <a:t>특허법은 </a:t>
            </a:r>
            <a:r>
              <a:rPr lang="ko-KR" altLang="en-US" sz="1400" dirty="0">
                <a:highlight>
                  <a:srgbClr val="FFFF00"/>
                </a:highlight>
              </a:rPr>
              <a:t>제</a:t>
            </a:r>
            <a:r>
              <a:rPr lang="en-US" altLang="ko-KR" sz="1400" dirty="0">
                <a:highlight>
                  <a:srgbClr val="FFFF00"/>
                </a:highlight>
              </a:rPr>
              <a:t>133</a:t>
            </a:r>
            <a:r>
              <a:rPr lang="ko-KR" altLang="en-US" sz="1400" dirty="0">
                <a:highlight>
                  <a:srgbClr val="FFFF00"/>
                </a:highlight>
              </a:rPr>
              <a:t>조제</a:t>
            </a:r>
            <a:r>
              <a:rPr lang="en-US" altLang="ko-KR" sz="1400" dirty="0">
                <a:highlight>
                  <a:srgbClr val="FFFF00"/>
                </a:highlight>
              </a:rPr>
              <a:t>1</a:t>
            </a:r>
            <a:r>
              <a:rPr lang="ko-KR" altLang="en-US" sz="1400" dirty="0">
                <a:highlight>
                  <a:srgbClr val="FFFF00"/>
                </a:highlight>
              </a:rPr>
              <a:t>항</a:t>
            </a:r>
            <a:r>
              <a:rPr lang="ko-KR" altLang="en-US" sz="1400" dirty="0"/>
              <a:t>에서 ‘청구범위의 청구항이 </a:t>
            </a:r>
            <a:r>
              <a:rPr lang="en-US" altLang="ko-KR" sz="1400" dirty="0"/>
              <a:t>2</a:t>
            </a:r>
            <a:r>
              <a:rPr lang="ko-KR" altLang="en-US" sz="1400" dirty="0"/>
              <a:t>이상인 때에는 청구항마다 무효심판을 청구할 수 있다’고 규정하면서도</a:t>
            </a:r>
            <a:r>
              <a:rPr lang="en-US" altLang="ko-KR" sz="1400" dirty="0"/>
              <a:t>, </a:t>
            </a:r>
            <a:r>
              <a:rPr lang="ko-KR" altLang="en-US" sz="1400" dirty="0"/>
              <a:t>공유인 특허권의 일부 지분권에 대하여는 무효심판청구가 가능하다는 취지의 규정을 두고 있지 않고 있는 점</a:t>
            </a:r>
            <a:r>
              <a:rPr lang="en-US" altLang="ko-KR" sz="1400" dirty="0"/>
              <a:t>, ⅱ) </a:t>
            </a:r>
            <a:r>
              <a:rPr lang="ko-KR" altLang="en-US" sz="1400" dirty="0"/>
              <a:t>특허법 </a:t>
            </a:r>
            <a:r>
              <a:rPr lang="ko-KR" altLang="en-US" sz="1400" dirty="0">
                <a:highlight>
                  <a:srgbClr val="FFFF00"/>
                </a:highlight>
              </a:rPr>
              <a:t>제</a:t>
            </a:r>
            <a:r>
              <a:rPr lang="en-US" altLang="ko-KR" sz="1400" dirty="0">
                <a:highlight>
                  <a:srgbClr val="FFFF00"/>
                </a:highlight>
              </a:rPr>
              <a:t>139</a:t>
            </a:r>
            <a:r>
              <a:rPr lang="ko-KR" altLang="en-US" sz="1400" dirty="0">
                <a:highlight>
                  <a:srgbClr val="FFFF00"/>
                </a:highlight>
              </a:rPr>
              <a:t>조제</a:t>
            </a:r>
            <a:r>
              <a:rPr lang="en-US" altLang="ko-KR" sz="1400" dirty="0">
                <a:highlight>
                  <a:srgbClr val="FFFF00"/>
                </a:highlight>
              </a:rPr>
              <a:t>2</a:t>
            </a:r>
            <a:r>
              <a:rPr lang="ko-KR" altLang="en-US" sz="1400" dirty="0">
                <a:highlight>
                  <a:srgbClr val="FFFF00"/>
                </a:highlight>
              </a:rPr>
              <a:t>항</a:t>
            </a:r>
            <a:r>
              <a:rPr lang="ko-KR" altLang="en-US" sz="1400" dirty="0"/>
              <a:t>은 ‘공유인 특허권의 특허권자에 대하여 심판을 청구하는 때에는 공유자 전원을 피심판청구인으로 하여 청구하여야 한다</a:t>
            </a:r>
            <a:r>
              <a:rPr lang="en-US" altLang="ko-KR" sz="1400" dirty="0"/>
              <a:t>.</a:t>
            </a:r>
            <a:r>
              <a:rPr lang="ko-KR" altLang="en-US" sz="1400" dirty="0"/>
              <a:t>’고 규정하는 있는 점</a:t>
            </a:r>
            <a:r>
              <a:rPr lang="en-US" altLang="ko-KR" sz="1400" dirty="0"/>
              <a:t>, ⅲ) </a:t>
            </a:r>
            <a:r>
              <a:rPr lang="ko-KR" altLang="en-US" sz="1400" dirty="0"/>
              <a:t>특허법 제</a:t>
            </a:r>
            <a:r>
              <a:rPr lang="en-US" altLang="ko-KR" sz="1400" dirty="0"/>
              <a:t>44</a:t>
            </a:r>
            <a:r>
              <a:rPr lang="ko-KR" altLang="en-US" sz="1400" dirty="0"/>
              <a:t>조</a:t>
            </a:r>
            <a:r>
              <a:rPr lang="en-US" altLang="ko-KR" sz="1400" dirty="0"/>
              <a:t>, </a:t>
            </a:r>
            <a:r>
              <a:rPr lang="ko-KR" altLang="en-US" sz="1400" dirty="0"/>
              <a:t>제</a:t>
            </a:r>
            <a:r>
              <a:rPr lang="en-US" altLang="ko-KR" sz="1400" dirty="0"/>
              <a:t>62</a:t>
            </a:r>
            <a:r>
              <a:rPr lang="ko-KR" altLang="en-US" sz="1400" dirty="0"/>
              <a:t>조제</a:t>
            </a:r>
            <a:r>
              <a:rPr lang="en-US" altLang="ko-KR" sz="1400" dirty="0"/>
              <a:t>1</a:t>
            </a:r>
            <a:r>
              <a:rPr lang="ko-KR" altLang="en-US" sz="1400" dirty="0"/>
              <a:t>호</a:t>
            </a:r>
            <a:r>
              <a:rPr lang="en-US" altLang="ko-KR" sz="1400" dirty="0"/>
              <a:t>, </a:t>
            </a:r>
            <a:r>
              <a:rPr lang="ko-KR" altLang="en-US" sz="1400" dirty="0"/>
              <a:t>제</a:t>
            </a:r>
            <a:r>
              <a:rPr lang="en-US" altLang="ko-KR" sz="1400" dirty="0"/>
              <a:t>133</a:t>
            </a:r>
            <a:r>
              <a:rPr lang="ko-KR" altLang="en-US" sz="1400" dirty="0"/>
              <a:t>조제</a:t>
            </a:r>
            <a:r>
              <a:rPr lang="en-US" altLang="ko-KR" sz="1400" dirty="0"/>
              <a:t>1</a:t>
            </a:r>
            <a:r>
              <a:rPr lang="ko-KR" altLang="en-US" sz="1400" dirty="0" err="1"/>
              <a:t>항제</a:t>
            </a:r>
            <a:r>
              <a:rPr lang="en-US" altLang="ko-KR" sz="1400" dirty="0"/>
              <a:t>2</a:t>
            </a:r>
            <a:r>
              <a:rPr lang="ko-KR" altLang="en-US" sz="1400" dirty="0"/>
              <a:t>호 등의 규정에 의하면</a:t>
            </a:r>
            <a:r>
              <a:rPr lang="en-US" altLang="ko-KR" sz="1400" dirty="0"/>
              <a:t>, </a:t>
            </a:r>
            <a:r>
              <a:rPr lang="ko-KR" altLang="en-US" sz="1400" dirty="0">
                <a:highlight>
                  <a:srgbClr val="FFFF00"/>
                </a:highlight>
              </a:rPr>
              <a:t>특허법은 다수가 특허권을 공유하는 경우에도 그 특허권이 일체로서 발생</a:t>
            </a:r>
            <a:r>
              <a:rPr lang="en-US" altLang="ko-KR" sz="1400" dirty="0">
                <a:highlight>
                  <a:srgbClr val="FFFF00"/>
                </a:highlight>
              </a:rPr>
              <a:t>, </a:t>
            </a:r>
            <a:r>
              <a:rPr lang="ko-KR" altLang="en-US" sz="1400" dirty="0">
                <a:highlight>
                  <a:srgbClr val="FFFF00"/>
                </a:highlight>
              </a:rPr>
              <a:t>소멸하는 것을 전제로 권리관계를 규정하고 있다</a:t>
            </a:r>
            <a:r>
              <a:rPr lang="ko-KR" altLang="en-US" sz="1400" dirty="0"/>
              <a:t>고 볼 수 있는 점</a:t>
            </a:r>
            <a:r>
              <a:rPr lang="en-US" altLang="ko-KR" sz="1400" dirty="0"/>
              <a:t>, ⅳ) </a:t>
            </a:r>
            <a:r>
              <a:rPr lang="ko-KR" altLang="en-US" sz="1400" dirty="0"/>
              <a:t>특허법 제</a:t>
            </a:r>
            <a:r>
              <a:rPr lang="en-US" altLang="ko-KR" sz="1400" dirty="0"/>
              <a:t>139</a:t>
            </a:r>
            <a:r>
              <a:rPr lang="ko-KR" altLang="en-US" sz="1400" dirty="0"/>
              <a:t>조제</a:t>
            </a:r>
            <a:r>
              <a:rPr lang="en-US" altLang="ko-KR" sz="1400" dirty="0"/>
              <a:t>2</a:t>
            </a:r>
            <a:r>
              <a:rPr lang="ko-KR" altLang="en-US" sz="1400" dirty="0"/>
              <a:t>항에도 불구하고 공유자 중 일부가 나머지 공유자를 상대로 하는 특허권의 지분권에 대한 무효심판청구를 허용할 경우</a:t>
            </a:r>
            <a:r>
              <a:rPr lang="en-US" altLang="ko-KR" sz="1400" dirty="0"/>
              <a:t>, </a:t>
            </a:r>
            <a:r>
              <a:rPr lang="ko-KR" altLang="en-US" sz="1400" dirty="0"/>
              <a:t>무효심판이 확정된 지분권은 소급적으로 그 효력이 소멸될 뿐이고 무효심판이 확정되지 아니한 다른 지분권의 권리자에게 그 소멸된 지분권이 귀속된다고 보기 어려우며</a:t>
            </a:r>
            <a:r>
              <a:rPr lang="en-US" altLang="ko-KR" sz="1400" dirty="0"/>
              <a:t>, </a:t>
            </a:r>
            <a:r>
              <a:rPr lang="ko-KR" altLang="en-US" sz="1400" dirty="0"/>
              <a:t>소멸된 지분권에 대해서는 권리자가 새로이 특허출원을 하더라도 특허법 제</a:t>
            </a:r>
            <a:r>
              <a:rPr lang="en-US" altLang="ko-KR" sz="1400" dirty="0"/>
              <a:t>44</a:t>
            </a:r>
            <a:r>
              <a:rPr lang="ko-KR" altLang="en-US" sz="1400" dirty="0"/>
              <a:t>조를 위배한 것이어서 거절결정이 될 수밖에 없게 되는 등 </a:t>
            </a:r>
            <a:r>
              <a:rPr lang="ko-KR" altLang="en-US" sz="1400" dirty="0">
                <a:highlight>
                  <a:srgbClr val="FFFF00"/>
                </a:highlight>
              </a:rPr>
              <a:t>복잡한 문제가 발생하는 점 </a:t>
            </a:r>
            <a:r>
              <a:rPr lang="ko-KR" altLang="en-US" sz="1400" dirty="0"/>
              <a:t>등에 비추어 특허권의 공유자 중 일부를 상대로 그 지분권만의 무효심판을 청구하는 것을 허용될 수 없다고 판시하였다</a:t>
            </a:r>
            <a:r>
              <a:rPr lang="en-US" altLang="ko-KR" sz="1400" dirty="0"/>
              <a:t>.</a:t>
            </a:r>
            <a:endParaRPr lang="ko-KR" altLang="en-US" sz="1400" dirty="0"/>
          </a:p>
        </p:txBody>
      </p:sp>
      <p:sp>
        <p:nvSpPr>
          <p:cNvPr id="38" name="Rectangle 14">
            <a:extLst>
              <a:ext uri="{FF2B5EF4-FFF2-40B4-BE49-F238E27FC236}">
                <a16:creationId xmlns:a16="http://schemas.microsoft.com/office/drawing/2014/main" id="{DFBBDC2E-82A7-4C31-8D14-E73D94DDBECC}"/>
              </a:ext>
            </a:extLst>
          </p:cNvPr>
          <p:cNvSpPr>
            <a:spLocks noChangeArrowheads="1"/>
          </p:cNvSpPr>
          <p:nvPr/>
        </p:nvSpPr>
        <p:spPr bwMode="auto">
          <a:xfrm>
            <a:off x="6332820" y="5366348"/>
            <a:ext cx="746662"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출원</a:t>
            </a:r>
            <a:endParaRPr lang="en-US" altLang="ko-KR" sz="1400" dirty="0">
              <a:latin typeface="+mn-ea"/>
            </a:endParaRPr>
          </a:p>
          <a:p>
            <a:pPr algn="ctr"/>
            <a:r>
              <a:rPr lang="en-US" altLang="ko-KR" sz="1400" b="0" dirty="0">
                <a:latin typeface="+mn-ea"/>
              </a:rPr>
              <a:t>(</a:t>
            </a:r>
            <a:r>
              <a:rPr lang="ko-KR" altLang="en-US" sz="1400" b="0" dirty="0">
                <a:latin typeface="+mn-ea"/>
              </a:rPr>
              <a:t>乙</a:t>
            </a:r>
            <a:r>
              <a:rPr lang="en-US" altLang="ko-KR" sz="1400" dirty="0">
                <a:latin typeface="+mn-ea"/>
              </a:rPr>
              <a:t>, </a:t>
            </a:r>
            <a:r>
              <a:rPr lang="ko-KR" altLang="en-US" sz="1400" dirty="0">
                <a:latin typeface="+mn-ea"/>
              </a:rPr>
              <a:t>丙</a:t>
            </a:r>
            <a:r>
              <a:rPr lang="en-US" altLang="ko-KR" sz="1400" b="0" dirty="0">
                <a:latin typeface="+mn-ea"/>
              </a:rPr>
              <a:t>)</a:t>
            </a:r>
            <a:endParaRPr lang="ko-KR" altLang="en-US" sz="1400" b="0" dirty="0">
              <a:latin typeface="+mn-ea"/>
            </a:endParaRPr>
          </a:p>
        </p:txBody>
      </p:sp>
      <p:cxnSp>
        <p:nvCxnSpPr>
          <p:cNvPr id="39" name="직선 화살표 연결선 38">
            <a:extLst>
              <a:ext uri="{FF2B5EF4-FFF2-40B4-BE49-F238E27FC236}">
                <a16:creationId xmlns:a16="http://schemas.microsoft.com/office/drawing/2014/main" id="{C2D41C85-5487-4C99-BC81-DE839460EE96}"/>
              </a:ext>
            </a:extLst>
          </p:cNvPr>
          <p:cNvCxnSpPr>
            <a:cxnSpLocks/>
            <a:stCxn id="38" idx="0"/>
          </p:cNvCxnSpPr>
          <p:nvPr/>
        </p:nvCxnSpPr>
        <p:spPr>
          <a:xfrm flipV="1">
            <a:off x="6706151" y="5155230"/>
            <a:ext cx="0" cy="21111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0" name="Rectangle 14">
            <a:extLst>
              <a:ext uri="{FF2B5EF4-FFF2-40B4-BE49-F238E27FC236}">
                <a16:creationId xmlns:a16="http://schemas.microsoft.com/office/drawing/2014/main" id="{5813B8F7-9F1F-4AEA-878F-AA0DA0FBF2C3}"/>
              </a:ext>
            </a:extLst>
          </p:cNvPr>
          <p:cNvSpPr>
            <a:spLocks noChangeArrowheads="1"/>
          </p:cNvSpPr>
          <p:nvPr/>
        </p:nvSpPr>
        <p:spPr bwMode="auto">
          <a:xfrm>
            <a:off x="7180622" y="5366348"/>
            <a:ext cx="746662"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err="1">
                <a:latin typeface="+mn-ea"/>
              </a:rPr>
              <a:t>설정등록</a:t>
            </a:r>
            <a:endParaRPr lang="en-US" altLang="ko-KR" sz="1400" dirty="0">
              <a:latin typeface="+mn-ea"/>
            </a:endParaRPr>
          </a:p>
          <a:p>
            <a:pPr algn="ctr"/>
            <a:r>
              <a:rPr lang="en-US" altLang="ko-KR" sz="1400" dirty="0">
                <a:latin typeface="+mn-ea"/>
              </a:rPr>
              <a:t>(</a:t>
            </a:r>
            <a:r>
              <a:rPr lang="ko-KR" altLang="en-US" sz="1400" dirty="0">
                <a:latin typeface="+mn-ea"/>
              </a:rPr>
              <a:t>乙</a:t>
            </a:r>
            <a:r>
              <a:rPr lang="en-US" altLang="ko-KR" sz="1400" dirty="0">
                <a:latin typeface="+mn-ea"/>
              </a:rPr>
              <a:t>, </a:t>
            </a:r>
            <a:r>
              <a:rPr lang="ko-KR" altLang="en-US" sz="1400" dirty="0">
                <a:latin typeface="+mn-ea"/>
              </a:rPr>
              <a:t>丙</a:t>
            </a:r>
            <a:r>
              <a:rPr lang="en-US" altLang="ko-KR" sz="1400" dirty="0">
                <a:latin typeface="+mn-ea"/>
              </a:rPr>
              <a:t>)</a:t>
            </a:r>
            <a:endParaRPr lang="ko-KR" altLang="en-US" sz="1400" dirty="0">
              <a:latin typeface="+mn-ea"/>
            </a:endParaRPr>
          </a:p>
        </p:txBody>
      </p:sp>
      <p:cxnSp>
        <p:nvCxnSpPr>
          <p:cNvPr id="41" name="직선 화살표 연결선 40">
            <a:extLst>
              <a:ext uri="{FF2B5EF4-FFF2-40B4-BE49-F238E27FC236}">
                <a16:creationId xmlns:a16="http://schemas.microsoft.com/office/drawing/2014/main" id="{9573D840-8006-4BC6-8C46-843C5FD55A7F}"/>
              </a:ext>
            </a:extLst>
          </p:cNvPr>
          <p:cNvCxnSpPr>
            <a:cxnSpLocks/>
            <a:stCxn id="40" idx="0"/>
          </p:cNvCxnSpPr>
          <p:nvPr/>
        </p:nvCxnSpPr>
        <p:spPr>
          <a:xfrm flipV="1">
            <a:off x="7553953" y="5128684"/>
            <a:ext cx="1" cy="23766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자유형 37">
            <a:extLst>
              <a:ext uri="{FF2B5EF4-FFF2-40B4-BE49-F238E27FC236}">
                <a16:creationId xmlns:a16="http://schemas.microsoft.com/office/drawing/2014/main" id="{EE886F15-EA20-4A02-8CEB-11A61E73BA86}"/>
              </a:ext>
            </a:extLst>
          </p:cNvPr>
          <p:cNvSpPr/>
          <p:nvPr/>
        </p:nvSpPr>
        <p:spPr>
          <a:xfrm>
            <a:off x="8748865" y="5098435"/>
            <a:ext cx="2853920" cy="1218923"/>
          </a:xfrm>
          <a:custGeom>
            <a:avLst/>
            <a:gdLst>
              <a:gd name="connsiteX0" fmla="*/ 0 w 7879222"/>
              <a:gd name="connsiteY0" fmla="*/ 0 h 743484"/>
              <a:gd name="connsiteX1" fmla="*/ 0 w 7879222"/>
              <a:gd name="connsiteY1" fmla="*/ 743484 h 743484"/>
              <a:gd name="connsiteX2" fmla="*/ 7879222 w 7879222"/>
              <a:gd name="connsiteY2" fmla="*/ 743484 h 743484"/>
            </a:gdLst>
            <a:ahLst/>
            <a:cxnLst>
              <a:cxn ang="0">
                <a:pos x="connsiteX0" y="connsiteY0"/>
              </a:cxn>
              <a:cxn ang="0">
                <a:pos x="connsiteX1" y="connsiteY1"/>
              </a:cxn>
              <a:cxn ang="0">
                <a:pos x="connsiteX2" y="connsiteY2"/>
              </a:cxn>
            </a:cxnLst>
            <a:rect l="l" t="t" r="r" b="b"/>
            <a:pathLst>
              <a:path w="7879222" h="743484">
                <a:moveTo>
                  <a:pt x="0" y="0"/>
                </a:moveTo>
                <a:lnTo>
                  <a:pt x="0" y="743484"/>
                </a:lnTo>
                <a:lnTo>
                  <a:pt x="7879222" y="743484"/>
                </a:lnTo>
              </a:path>
            </a:pathLst>
          </a:custGeom>
          <a:noFill/>
          <a:ln w="571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TextBox 42">
            <a:extLst>
              <a:ext uri="{FF2B5EF4-FFF2-40B4-BE49-F238E27FC236}">
                <a16:creationId xmlns:a16="http://schemas.microsoft.com/office/drawing/2014/main" id="{3D02DD58-03E6-491D-A43F-F8C9D751B60C}"/>
              </a:ext>
            </a:extLst>
          </p:cNvPr>
          <p:cNvSpPr txBox="1"/>
          <p:nvPr/>
        </p:nvSpPr>
        <p:spPr>
          <a:xfrm>
            <a:off x="9179330" y="6090234"/>
            <a:ext cx="1992989" cy="523220"/>
          </a:xfrm>
          <a:prstGeom prst="rect">
            <a:avLst/>
          </a:prstGeom>
          <a:solidFill>
            <a:schemeClr val="bg1"/>
          </a:solidFill>
        </p:spPr>
        <p:txBody>
          <a:bodyPr wrap="square" rtlCol="0">
            <a:spAutoFit/>
          </a:bodyPr>
          <a:lstStyle/>
          <a:p>
            <a:pPr algn="ctr"/>
            <a:r>
              <a:rPr lang="ko-KR" altLang="en-US" sz="1400" dirty="0"/>
              <a:t>선의의 丁이 국내에서 </a:t>
            </a:r>
            <a:endParaRPr lang="en-US" altLang="ko-KR" sz="1400" dirty="0"/>
          </a:p>
          <a:p>
            <a:pPr algn="ctr"/>
            <a:r>
              <a:rPr lang="ko-KR" altLang="en-US" sz="1400" dirty="0"/>
              <a:t>실시사업 또는 사업준비</a:t>
            </a:r>
          </a:p>
        </p:txBody>
      </p:sp>
      <p:sp>
        <p:nvSpPr>
          <p:cNvPr id="44" name="Rectangle 14">
            <a:extLst>
              <a:ext uri="{FF2B5EF4-FFF2-40B4-BE49-F238E27FC236}">
                <a16:creationId xmlns:a16="http://schemas.microsoft.com/office/drawing/2014/main" id="{4E0A0B43-6EFB-4D9A-AFFA-F95CFEC2310D}"/>
              </a:ext>
            </a:extLst>
          </p:cNvPr>
          <p:cNvSpPr>
            <a:spLocks noChangeArrowheads="1"/>
          </p:cNvSpPr>
          <p:nvPr/>
        </p:nvSpPr>
        <p:spPr bwMode="auto">
          <a:xfrm>
            <a:off x="7652458" y="6056004"/>
            <a:ext cx="1021280" cy="44874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algn="ctr"/>
            <a:r>
              <a:rPr lang="ko-KR" altLang="en-US" sz="1400" dirty="0">
                <a:latin typeface="+mn-ea"/>
              </a:rPr>
              <a:t>지분이전등록</a:t>
            </a:r>
            <a:endParaRPr lang="en-US" altLang="ko-KR" sz="1400" dirty="0">
              <a:latin typeface="+mn-ea"/>
            </a:endParaRPr>
          </a:p>
          <a:p>
            <a:pPr algn="ctr"/>
            <a:r>
              <a:rPr lang="en-US" altLang="ko-KR" sz="1400" dirty="0">
                <a:latin typeface="+mn-ea"/>
              </a:rPr>
              <a:t>(</a:t>
            </a:r>
            <a:r>
              <a:rPr lang="ko-KR" altLang="en-US" sz="1400" dirty="0">
                <a:latin typeface="+mn-ea"/>
              </a:rPr>
              <a:t>丙 </a:t>
            </a:r>
            <a:r>
              <a:rPr lang="en-US" altLang="ko-KR" sz="1400" dirty="0">
                <a:latin typeface="+mn-ea"/>
                <a:sym typeface="Wingdings" panose="05000000000000000000" pitchFamily="2" charset="2"/>
              </a:rPr>
              <a:t> </a:t>
            </a:r>
            <a:r>
              <a:rPr lang="ko-KR" altLang="en-US" sz="1400" dirty="0">
                <a:latin typeface="+mn-ea"/>
                <a:sym typeface="Wingdings" panose="05000000000000000000" pitchFamily="2" charset="2"/>
              </a:rPr>
              <a:t>丁</a:t>
            </a:r>
            <a:r>
              <a:rPr lang="en-US" altLang="ko-KR" sz="1400" dirty="0">
                <a:latin typeface="+mn-ea"/>
                <a:sym typeface="Wingdings" panose="05000000000000000000" pitchFamily="2" charset="2"/>
              </a:rPr>
              <a:t>)</a:t>
            </a:r>
            <a:endParaRPr lang="en-US" altLang="ko-KR" sz="1400" dirty="0">
              <a:latin typeface="+mn-ea"/>
            </a:endParaRPr>
          </a:p>
        </p:txBody>
      </p:sp>
      <p:cxnSp>
        <p:nvCxnSpPr>
          <p:cNvPr id="45" name="직선 화살표 연결선 44">
            <a:extLst>
              <a:ext uri="{FF2B5EF4-FFF2-40B4-BE49-F238E27FC236}">
                <a16:creationId xmlns:a16="http://schemas.microsoft.com/office/drawing/2014/main" id="{68892D4D-E47C-4069-B73A-544F022545AC}"/>
              </a:ext>
            </a:extLst>
          </p:cNvPr>
          <p:cNvCxnSpPr>
            <a:cxnSpLocks/>
            <a:stCxn id="44" idx="0"/>
          </p:cNvCxnSpPr>
          <p:nvPr/>
        </p:nvCxnSpPr>
        <p:spPr>
          <a:xfrm flipV="1">
            <a:off x="8163098" y="5104042"/>
            <a:ext cx="0" cy="95196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6" name="Rectangle 14">
            <a:extLst>
              <a:ext uri="{FF2B5EF4-FFF2-40B4-BE49-F238E27FC236}">
                <a16:creationId xmlns:a16="http://schemas.microsoft.com/office/drawing/2014/main" id="{FD2575B7-58B3-4808-B44A-DE354F55C65E}"/>
              </a:ext>
            </a:extLst>
          </p:cNvPr>
          <p:cNvSpPr>
            <a:spLocks noChangeArrowheads="1"/>
          </p:cNvSpPr>
          <p:nvPr/>
        </p:nvSpPr>
        <p:spPr bwMode="auto">
          <a:xfrm>
            <a:off x="6075649" y="4354658"/>
            <a:ext cx="876270"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accent2">
                    <a:lumMod val="50000"/>
                  </a:schemeClr>
                </a:solidFill>
                <a:latin typeface="+mn-ea"/>
              </a:rPr>
              <a:t>발명</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b="0" dirty="0">
                <a:solidFill>
                  <a:schemeClr val="accent2">
                    <a:lumMod val="50000"/>
                  </a:schemeClr>
                </a:solidFill>
                <a:latin typeface="+mn-ea"/>
              </a:rPr>
              <a:t>甲</a:t>
            </a:r>
            <a:r>
              <a:rPr lang="en-US" altLang="ko-KR" sz="1400" b="0" dirty="0">
                <a:solidFill>
                  <a:schemeClr val="accent2">
                    <a:lumMod val="50000"/>
                  </a:schemeClr>
                </a:solidFill>
                <a:latin typeface="+mn-ea"/>
              </a:rPr>
              <a:t>, </a:t>
            </a:r>
            <a:r>
              <a:rPr lang="ko-KR" altLang="en-US" sz="1400" b="0" dirty="0">
                <a:solidFill>
                  <a:schemeClr val="accent2">
                    <a:lumMod val="50000"/>
                  </a:schemeClr>
                </a:solidFill>
                <a:latin typeface="+mn-ea"/>
              </a:rPr>
              <a:t>乙</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sp>
        <p:nvSpPr>
          <p:cNvPr id="47" name="Rectangle 14">
            <a:extLst>
              <a:ext uri="{FF2B5EF4-FFF2-40B4-BE49-F238E27FC236}">
                <a16:creationId xmlns:a16="http://schemas.microsoft.com/office/drawing/2014/main" id="{1E7A1BE8-1A58-41A1-8C19-22C8DBDF5EFF}"/>
              </a:ext>
            </a:extLst>
          </p:cNvPr>
          <p:cNvSpPr>
            <a:spLocks noChangeArrowheads="1"/>
          </p:cNvSpPr>
          <p:nvPr/>
        </p:nvSpPr>
        <p:spPr bwMode="auto">
          <a:xfrm>
            <a:off x="8945682" y="4366059"/>
            <a:ext cx="1036874"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accent2">
                    <a:lumMod val="50000"/>
                  </a:schemeClr>
                </a:solidFill>
                <a:latin typeface="+mn-ea"/>
              </a:rPr>
              <a:t>지분이전청구</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dirty="0">
                <a:solidFill>
                  <a:schemeClr val="accent2">
                    <a:lumMod val="50000"/>
                  </a:schemeClr>
                </a:solidFill>
                <a:latin typeface="+mn-ea"/>
              </a:rPr>
              <a:t>甲</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sp>
        <p:nvSpPr>
          <p:cNvPr id="48" name="Rectangle 14">
            <a:extLst>
              <a:ext uri="{FF2B5EF4-FFF2-40B4-BE49-F238E27FC236}">
                <a16:creationId xmlns:a16="http://schemas.microsoft.com/office/drawing/2014/main" id="{1E56DE56-89E8-43C8-82F8-EC6041C42E31}"/>
              </a:ext>
            </a:extLst>
          </p:cNvPr>
          <p:cNvSpPr>
            <a:spLocks noChangeArrowheads="1"/>
          </p:cNvSpPr>
          <p:nvPr/>
        </p:nvSpPr>
        <p:spPr bwMode="auto">
          <a:xfrm>
            <a:off x="10075177" y="4366059"/>
            <a:ext cx="1036874" cy="461988"/>
          </a:xfrm>
          <a:prstGeom prst="rect">
            <a:avLst/>
          </a:prstGeom>
          <a:solidFill>
            <a:schemeClr val="accent2">
              <a:lumMod val="20000"/>
              <a:lumOff val="80000"/>
            </a:schemeClr>
          </a:solidFill>
          <a:ln w="9525" algn="ctr">
            <a:solidFill>
              <a:schemeClr val="bg1">
                <a:lumMod val="50000"/>
              </a:schemeClr>
            </a:solidFill>
            <a:prstDash val="sysDot"/>
            <a:miter lim="800000"/>
            <a:headEnd/>
            <a:tailEnd/>
          </a:ln>
        </p:spPr>
        <p:txBody>
          <a:bodyPr wrap="none" anchor="ctr"/>
          <a:lstStyle/>
          <a:p>
            <a:pPr algn="ctr"/>
            <a:r>
              <a:rPr lang="ko-KR" altLang="en-US" sz="1400" dirty="0">
                <a:solidFill>
                  <a:schemeClr val="accent2">
                    <a:lumMod val="50000"/>
                  </a:schemeClr>
                </a:solidFill>
                <a:latin typeface="+mn-ea"/>
              </a:rPr>
              <a:t>지분이전등록</a:t>
            </a:r>
            <a:endParaRPr lang="en-US" altLang="ko-KR" sz="1400" dirty="0">
              <a:solidFill>
                <a:schemeClr val="accent2">
                  <a:lumMod val="50000"/>
                </a:schemeClr>
              </a:solidFill>
              <a:latin typeface="+mn-ea"/>
            </a:endParaRPr>
          </a:p>
          <a:p>
            <a:pPr algn="ctr"/>
            <a:r>
              <a:rPr lang="en-US" altLang="ko-KR" sz="1400" b="0" dirty="0">
                <a:solidFill>
                  <a:schemeClr val="accent2">
                    <a:lumMod val="50000"/>
                  </a:schemeClr>
                </a:solidFill>
                <a:latin typeface="+mn-ea"/>
              </a:rPr>
              <a:t>(</a:t>
            </a:r>
            <a:r>
              <a:rPr lang="ko-KR" altLang="en-US" sz="1400" dirty="0">
                <a:solidFill>
                  <a:schemeClr val="accent2">
                    <a:lumMod val="50000"/>
                  </a:schemeClr>
                </a:solidFill>
                <a:latin typeface="+mn-ea"/>
              </a:rPr>
              <a:t>丁</a:t>
            </a:r>
            <a:r>
              <a:rPr lang="ko-KR" altLang="en-US" sz="1400" b="0" dirty="0">
                <a:solidFill>
                  <a:schemeClr val="accent2">
                    <a:lumMod val="50000"/>
                  </a:schemeClr>
                </a:solidFill>
                <a:latin typeface="+mn-ea"/>
              </a:rPr>
              <a:t> </a:t>
            </a:r>
            <a:r>
              <a:rPr lang="en-US" altLang="ko-KR" sz="1400" b="0" dirty="0">
                <a:solidFill>
                  <a:schemeClr val="accent2">
                    <a:lumMod val="50000"/>
                  </a:schemeClr>
                </a:solidFill>
                <a:latin typeface="+mn-ea"/>
                <a:sym typeface="Wingdings" panose="05000000000000000000" pitchFamily="2" charset="2"/>
              </a:rPr>
              <a:t> </a:t>
            </a:r>
            <a:r>
              <a:rPr lang="ko-KR" altLang="en-US" sz="1400" b="0" dirty="0">
                <a:solidFill>
                  <a:schemeClr val="accent2">
                    <a:lumMod val="50000"/>
                  </a:schemeClr>
                </a:solidFill>
                <a:latin typeface="+mn-ea"/>
              </a:rPr>
              <a:t>甲</a:t>
            </a:r>
            <a:r>
              <a:rPr lang="en-US" altLang="ko-KR" sz="1400" b="0" dirty="0">
                <a:solidFill>
                  <a:schemeClr val="accent2">
                    <a:lumMod val="50000"/>
                  </a:schemeClr>
                </a:solidFill>
                <a:latin typeface="+mn-ea"/>
              </a:rPr>
              <a:t>)</a:t>
            </a:r>
            <a:endParaRPr lang="ko-KR" altLang="en-US" sz="1400" b="0" dirty="0">
              <a:solidFill>
                <a:schemeClr val="accent2">
                  <a:lumMod val="50000"/>
                </a:schemeClr>
              </a:solidFill>
              <a:latin typeface="+mn-ea"/>
            </a:endParaRPr>
          </a:p>
        </p:txBody>
      </p:sp>
      <p:cxnSp>
        <p:nvCxnSpPr>
          <p:cNvPr id="49" name="직선 화살표 연결선 48">
            <a:extLst>
              <a:ext uri="{FF2B5EF4-FFF2-40B4-BE49-F238E27FC236}">
                <a16:creationId xmlns:a16="http://schemas.microsoft.com/office/drawing/2014/main" id="{FF8D2CED-5E93-44E2-8FA0-BD487F739E26}"/>
              </a:ext>
            </a:extLst>
          </p:cNvPr>
          <p:cNvCxnSpPr>
            <a:cxnSpLocks/>
            <a:stCxn id="46" idx="2"/>
          </p:cNvCxnSpPr>
          <p:nvPr/>
        </p:nvCxnSpPr>
        <p:spPr>
          <a:xfrm flipH="1">
            <a:off x="6510802" y="4816646"/>
            <a:ext cx="2982" cy="2701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0" name="직선 화살표 연결선 49">
            <a:extLst>
              <a:ext uri="{FF2B5EF4-FFF2-40B4-BE49-F238E27FC236}">
                <a16:creationId xmlns:a16="http://schemas.microsoft.com/office/drawing/2014/main" id="{2D560D71-9B29-4A06-893F-C79EF2EF0B5D}"/>
              </a:ext>
            </a:extLst>
          </p:cNvPr>
          <p:cNvCxnSpPr>
            <a:cxnSpLocks/>
            <a:stCxn id="47" idx="2"/>
          </p:cNvCxnSpPr>
          <p:nvPr/>
        </p:nvCxnSpPr>
        <p:spPr>
          <a:xfrm flipH="1">
            <a:off x="9462603" y="4828047"/>
            <a:ext cx="1516" cy="27036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1" name="직선 화살표 연결선 50">
            <a:extLst>
              <a:ext uri="{FF2B5EF4-FFF2-40B4-BE49-F238E27FC236}">
                <a16:creationId xmlns:a16="http://schemas.microsoft.com/office/drawing/2014/main" id="{3F25D26E-55DD-427D-90E8-20AB06BEDFE0}"/>
              </a:ext>
            </a:extLst>
          </p:cNvPr>
          <p:cNvCxnSpPr>
            <a:cxnSpLocks/>
            <a:stCxn id="48" idx="2"/>
          </p:cNvCxnSpPr>
          <p:nvPr/>
        </p:nvCxnSpPr>
        <p:spPr>
          <a:xfrm>
            <a:off x="10593614" y="4828047"/>
            <a:ext cx="56" cy="27599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 name="직선 화살표 연결선 51">
            <a:extLst>
              <a:ext uri="{FF2B5EF4-FFF2-40B4-BE49-F238E27FC236}">
                <a16:creationId xmlns:a16="http://schemas.microsoft.com/office/drawing/2014/main" id="{750729EB-4254-40DB-9400-D75BD3B9AEF3}"/>
              </a:ext>
            </a:extLst>
          </p:cNvPr>
          <p:cNvCxnSpPr/>
          <p:nvPr/>
        </p:nvCxnSpPr>
        <p:spPr>
          <a:xfrm>
            <a:off x="6051909" y="5090286"/>
            <a:ext cx="5574070" cy="0"/>
          </a:xfrm>
          <a:prstGeom prst="straightConnector1">
            <a:avLst/>
          </a:prstGeom>
          <a:ln w="5715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graphicFrame>
        <p:nvGraphicFramePr>
          <p:cNvPr id="53" name="표 52">
            <a:extLst>
              <a:ext uri="{FF2B5EF4-FFF2-40B4-BE49-F238E27FC236}">
                <a16:creationId xmlns:a16="http://schemas.microsoft.com/office/drawing/2014/main" id="{8513A409-97AB-4A03-AC31-120A5B63F2E9}"/>
              </a:ext>
            </a:extLst>
          </p:cNvPr>
          <p:cNvGraphicFramePr>
            <a:graphicFrameLocks noGrp="1"/>
          </p:cNvGraphicFramePr>
          <p:nvPr/>
        </p:nvGraphicFramePr>
        <p:xfrm>
          <a:off x="323032" y="4145410"/>
          <a:ext cx="4969983" cy="2107348"/>
        </p:xfrm>
        <a:graphic>
          <a:graphicData uri="http://schemas.openxmlformats.org/drawingml/2006/table">
            <a:tbl>
              <a:tblPr/>
              <a:tblGrid>
                <a:gridCol w="869906">
                  <a:extLst>
                    <a:ext uri="{9D8B030D-6E8A-4147-A177-3AD203B41FA5}">
                      <a16:colId xmlns:a16="http://schemas.microsoft.com/office/drawing/2014/main" val="3388704944"/>
                    </a:ext>
                  </a:extLst>
                </a:gridCol>
                <a:gridCol w="1241439">
                  <a:extLst>
                    <a:ext uri="{9D8B030D-6E8A-4147-A177-3AD203B41FA5}">
                      <a16:colId xmlns:a16="http://schemas.microsoft.com/office/drawing/2014/main" val="537560535"/>
                    </a:ext>
                  </a:extLst>
                </a:gridCol>
                <a:gridCol w="2858638">
                  <a:extLst>
                    <a:ext uri="{9D8B030D-6E8A-4147-A177-3AD203B41FA5}">
                      <a16:colId xmlns:a16="http://schemas.microsoft.com/office/drawing/2014/main" val="1647611734"/>
                    </a:ext>
                  </a:extLst>
                </a:gridCol>
              </a:tblGrid>
              <a:tr h="593911">
                <a:tc>
                  <a:txBody>
                    <a:bodyPr/>
                    <a:lstStyle/>
                    <a:p>
                      <a:pPr marL="0" marR="0" indent="0" algn="ctr" fontAlgn="base" latinLnBrk="0">
                        <a:lnSpc>
                          <a:spcPct val="100000"/>
                        </a:lnSpc>
                        <a:spcBef>
                          <a:spcPts val="0"/>
                        </a:spcBef>
                        <a:spcAft>
                          <a:spcPts val="0"/>
                        </a:spcAft>
                      </a:pPr>
                      <a:r>
                        <a:rPr lang="ko-KR" altLang="en-US" sz="1200" kern="0" spc="-100" dirty="0">
                          <a:solidFill>
                            <a:srgbClr val="000000"/>
                          </a:solidFill>
                          <a:effectLst/>
                          <a:latin typeface="+mn-ea"/>
                          <a:ea typeface="+mn-ea"/>
                        </a:rPr>
                        <a:t>제</a:t>
                      </a:r>
                      <a:r>
                        <a:rPr lang="en-US" altLang="ko-KR" sz="1200" kern="0" spc="-100" dirty="0">
                          <a:solidFill>
                            <a:srgbClr val="000000"/>
                          </a:solidFill>
                          <a:effectLst/>
                          <a:latin typeface="+mn-ea"/>
                          <a:ea typeface="+mn-ea"/>
                        </a:rPr>
                        <a:t>44</a:t>
                      </a:r>
                      <a:r>
                        <a:rPr lang="ko-KR" altLang="en-US" sz="1200" kern="0" spc="-100" dirty="0">
                          <a:solidFill>
                            <a:srgbClr val="000000"/>
                          </a:solidFill>
                          <a:effectLst/>
                          <a:latin typeface="+mn-ea"/>
                          <a:ea typeface="+mn-ea"/>
                        </a:rPr>
                        <a:t>조 위반</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solidFill>
                            <a:srgbClr val="000000"/>
                          </a:solidFill>
                          <a:effectLst/>
                          <a:latin typeface="+mn-ea"/>
                          <a:ea typeface="+mn-ea"/>
                        </a:rPr>
                        <a:t>출원일의 소급효</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a:solidFill>
                            <a:srgbClr val="000000"/>
                          </a:solidFill>
                          <a:effectLst/>
                          <a:latin typeface="+mn-ea"/>
                          <a:ea typeface="+mn-ea"/>
                        </a:rPr>
                        <a:t>특허권</a:t>
                      </a:r>
                      <a:r>
                        <a:rPr lang="en-US" altLang="ko-KR" sz="1200" kern="0" spc="-100" dirty="0">
                          <a:solidFill>
                            <a:srgbClr val="000000"/>
                          </a:solidFill>
                          <a:effectLst/>
                          <a:latin typeface="+mn-ea"/>
                          <a:ea typeface="+mn-ea"/>
                        </a:rPr>
                        <a:t>(</a:t>
                      </a:r>
                      <a:r>
                        <a:rPr lang="ko-KR" altLang="en-US" sz="1200" kern="0" spc="-100" dirty="0">
                          <a:solidFill>
                            <a:srgbClr val="000000"/>
                          </a:solidFill>
                          <a:effectLst/>
                          <a:latin typeface="+mn-ea"/>
                          <a:ea typeface="+mn-ea"/>
                        </a:rPr>
                        <a:t>특허출원</a:t>
                      </a:r>
                      <a:r>
                        <a:rPr lang="en-US" altLang="ko-KR" sz="1200" kern="0" spc="-100" dirty="0">
                          <a:solidFill>
                            <a:srgbClr val="000000"/>
                          </a:solidFill>
                          <a:effectLst/>
                          <a:latin typeface="+mn-ea"/>
                          <a:ea typeface="+mn-ea"/>
                        </a:rPr>
                        <a:t>)</a:t>
                      </a:r>
                      <a:r>
                        <a:rPr lang="ko-KR" altLang="en-US" sz="1200" kern="0" spc="-100" dirty="0">
                          <a:solidFill>
                            <a:srgbClr val="000000"/>
                          </a:solidFill>
                          <a:effectLst/>
                          <a:latin typeface="+mn-ea"/>
                          <a:ea typeface="+mn-ea"/>
                        </a:rPr>
                        <a:t>의 이전청구</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826539625"/>
                  </a:ext>
                </a:extLst>
              </a:tr>
              <a:tr h="325615">
                <a:tc>
                  <a:txBody>
                    <a:bodyPr/>
                    <a:lstStyle/>
                    <a:p>
                      <a:pPr marL="17780" marR="17780" indent="0" algn="ctr" fontAlgn="base" latinLnBrk="0">
                        <a:lnSpc>
                          <a:spcPct val="100000"/>
                        </a:lnSpc>
                        <a:spcBef>
                          <a:spcPts val="0"/>
                        </a:spcBef>
                        <a:spcAft>
                          <a:spcPts val="0"/>
                        </a:spcAft>
                      </a:pPr>
                      <a:r>
                        <a:rPr lang="ko-KR" altLang="en-US" sz="1200" kern="0" spc="-50" dirty="0">
                          <a:solidFill>
                            <a:srgbClr val="000000"/>
                          </a:solidFill>
                          <a:effectLst/>
                          <a:latin typeface="+mn-ea"/>
                          <a:ea typeface="+mn-ea"/>
                        </a:rPr>
                        <a:t>출원</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ase" latinLnBrk="1">
                        <a:lnSpc>
                          <a:spcPct val="100000"/>
                        </a:lnSpc>
                      </a:pPr>
                      <a:r>
                        <a:rPr lang="en-US" altLang="ko-KR" sz="1200" kern="1200" dirty="0">
                          <a:solidFill>
                            <a:schemeClr val="tx1"/>
                          </a:solidFill>
                          <a:effectLst/>
                          <a:latin typeface="+mn-lt"/>
                          <a:ea typeface="+mn-ea"/>
                          <a:cs typeface="+mn-cs"/>
                        </a:rPr>
                        <a:t>×</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200" kern="0" spc="-50" dirty="0">
                          <a:solidFill>
                            <a:srgbClr val="000000"/>
                          </a:solidFill>
                          <a:effectLst/>
                          <a:latin typeface="+mn-ea"/>
                          <a:ea typeface="+mn-ea"/>
                        </a:rPr>
                        <a:t>○</a:t>
                      </a:r>
                      <a:r>
                        <a:rPr lang="en-US" altLang="ko-KR" sz="1200" kern="0" spc="-50" dirty="0">
                          <a:solidFill>
                            <a:srgbClr val="000000"/>
                          </a:solidFill>
                          <a:effectLst/>
                          <a:latin typeface="+mn-ea"/>
                          <a:ea typeface="+mn-ea"/>
                        </a:rPr>
                        <a:t>(</a:t>
                      </a:r>
                      <a:r>
                        <a:rPr lang="ko-KR" altLang="en-US" sz="1200" kern="0" spc="-50" dirty="0">
                          <a:solidFill>
                            <a:srgbClr val="000000"/>
                          </a:solidFill>
                          <a:effectLst/>
                          <a:latin typeface="+mn-ea"/>
                          <a:ea typeface="+mn-ea"/>
                        </a:rPr>
                        <a:t>해석상</a:t>
                      </a:r>
                      <a:r>
                        <a:rPr lang="en-US" altLang="ko-KR" sz="1200" kern="0" spc="-50" dirty="0">
                          <a:solidFill>
                            <a:srgbClr val="000000"/>
                          </a:solidFill>
                          <a:effectLst/>
                          <a:latin typeface="+mn-ea"/>
                          <a:ea typeface="+mn-ea"/>
                        </a:rPr>
                        <a:t>)</a:t>
                      </a:r>
                      <a:endParaRPr lang="ko-KR" altLang="en-US" sz="12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4066344619"/>
                  </a:ext>
                </a:extLst>
              </a:tr>
              <a:tr h="325615">
                <a:tc rowSpan="2">
                  <a:txBody>
                    <a:bodyPr/>
                    <a:lstStyle/>
                    <a:p>
                      <a:pPr marL="17780" marR="17780" indent="0" algn="ctr" fontAlgn="base" latinLnBrk="0">
                        <a:lnSpc>
                          <a:spcPct val="100000"/>
                        </a:lnSpc>
                        <a:spcBef>
                          <a:spcPts val="0"/>
                        </a:spcBef>
                        <a:spcAft>
                          <a:spcPts val="0"/>
                        </a:spcAft>
                      </a:pPr>
                      <a:r>
                        <a:rPr lang="ko-KR" altLang="en-US" sz="1200" kern="0" spc="-50" dirty="0">
                          <a:solidFill>
                            <a:srgbClr val="000000"/>
                          </a:solidFill>
                          <a:effectLst/>
                          <a:latin typeface="+mn-ea"/>
                          <a:ea typeface="+mn-ea"/>
                        </a:rPr>
                        <a:t>특허</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fontAlgn="base" latinLnBrk="1">
                        <a:lnSpc>
                          <a:spcPct val="100000"/>
                        </a:lnSpc>
                      </a:pPr>
                      <a:r>
                        <a:rPr lang="en-US" altLang="ko-KR" sz="1200" kern="1200" dirty="0">
                          <a:solidFill>
                            <a:schemeClr val="tx1"/>
                          </a:solidFill>
                          <a:effectLst/>
                          <a:latin typeface="+mn-lt"/>
                          <a:ea typeface="+mn-ea"/>
                          <a:cs typeface="+mn-cs"/>
                        </a:rPr>
                        <a:t>×</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17780" marR="17780" indent="0" algn="ctr" fontAlgn="base" latinLnBrk="0">
                        <a:lnSpc>
                          <a:spcPct val="100000"/>
                        </a:lnSpc>
                        <a:spcBef>
                          <a:spcPts val="0"/>
                        </a:spcBef>
                        <a:spcAft>
                          <a:spcPts val="0"/>
                        </a:spcAft>
                      </a:pPr>
                      <a:r>
                        <a:rPr lang="ko-KR" altLang="en-US" sz="1200" kern="0" spc="-50" dirty="0">
                          <a:solidFill>
                            <a:srgbClr val="000000"/>
                          </a:solidFill>
                          <a:effectLst/>
                          <a:latin typeface="+mn-ea"/>
                          <a:ea typeface="+mn-ea"/>
                        </a:rPr>
                        <a:t>○</a:t>
                      </a:r>
                      <a:r>
                        <a:rPr lang="en-US" altLang="ko-KR" sz="1200" kern="0" spc="-50" dirty="0">
                          <a:solidFill>
                            <a:srgbClr val="000000"/>
                          </a:solidFill>
                          <a:effectLst/>
                          <a:latin typeface="+mn-ea"/>
                          <a:ea typeface="+mn-ea"/>
                        </a:rPr>
                        <a:t>(</a:t>
                      </a:r>
                      <a:r>
                        <a:rPr lang="ko-KR" altLang="en-US" sz="1200" kern="0" spc="-50" dirty="0">
                          <a:solidFill>
                            <a:srgbClr val="000000"/>
                          </a:solidFill>
                          <a:effectLst/>
                          <a:latin typeface="+mn-ea"/>
                          <a:ea typeface="+mn-ea"/>
                        </a:rPr>
                        <a:t>法 </a:t>
                      </a:r>
                      <a:r>
                        <a:rPr lang="en-US" altLang="ko-KR" sz="1200" kern="0" spc="-50" dirty="0">
                          <a:solidFill>
                            <a:srgbClr val="000000"/>
                          </a:solidFill>
                          <a:effectLst/>
                          <a:latin typeface="+mn-ea"/>
                          <a:ea typeface="+mn-ea"/>
                        </a:rPr>
                        <a:t>99</a:t>
                      </a:r>
                      <a:r>
                        <a:rPr lang="ko-KR" altLang="en-US" sz="1200" kern="0" spc="-50" dirty="0">
                          <a:solidFill>
                            <a:srgbClr val="000000"/>
                          </a:solidFill>
                          <a:effectLst/>
                          <a:latin typeface="+mn-ea"/>
                          <a:ea typeface="+mn-ea"/>
                        </a:rPr>
                        <a:t>의</a:t>
                      </a:r>
                      <a:r>
                        <a:rPr lang="en-US" altLang="ko-KR" sz="1200" kern="0" spc="-50" dirty="0">
                          <a:solidFill>
                            <a:srgbClr val="000000"/>
                          </a:solidFill>
                          <a:effectLst/>
                          <a:latin typeface="+mn-ea"/>
                          <a:ea typeface="+mn-ea"/>
                        </a:rPr>
                        <a:t>2)</a:t>
                      </a:r>
                      <a:endParaRPr lang="ko-KR" altLang="en-US" sz="12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935683434"/>
                  </a:ext>
                </a:extLst>
              </a:tr>
              <a:tr h="862207">
                <a:tc vMerge="1">
                  <a:txBody>
                    <a:bodyPr/>
                    <a:lstStyle/>
                    <a:p>
                      <a:pPr latinLnBrk="1"/>
                      <a:endParaRPr lang="ko-KR" altLang="en-US"/>
                    </a:p>
                  </a:txBody>
                  <a:tcPr/>
                </a:tc>
                <a:tc>
                  <a:txBody>
                    <a:bodyPr/>
                    <a:lstStyle/>
                    <a:p>
                      <a:pPr marL="17780" marR="17780" indent="0" algn="l" fontAlgn="base" latinLnBrk="0">
                        <a:lnSpc>
                          <a:spcPct val="100000"/>
                        </a:lnSpc>
                        <a:spcBef>
                          <a:spcPts val="0"/>
                        </a:spcBef>
                        <a:spcAft>
                          <a:spcPts val="0"/>
                        </a:spcAft>
                        <a:buFontTx/>
                        <a:buNone/>
                      </a:pPr>
                      <a:r>
                        <a:rPr lang="en-US" altLang="ko-KR" sz="1200" kern="0" spc="-50" dirty="0">
                          <a:solidFill>
                            <a:srgbClr val="000000"/>
                          </a:solidFill>
                          <a:effectLst/>
                          <a:latin typeface="+mn-ea"/>
                          <a:ea typeface="+mn-ea"/>
                        </a:rPr>
                        <a:t>-</a:t>
                      </a:r>
                      <a:r>
                        <a:rPr lang="ko-KR" altLang="en-US" sz="1200" kern="0" spc="-50" dirty="0">
                          <a:solidFill>
                            <a:srgbClr val="000000"/>
                          </a:solidFill>
                          <a:effectLst/>
                          <a:latin typeface="+mn-ea"/>
                          <a:ea typeface="+mn-ea"/>
                        </a:rPr>
                        <a:t>지분에 대한  </a:t>
                      </a:r>
                      <a:endParaRPr lang="en-US" altLang="ko-KR" sz="1200" kern="0" spc="-50" dirty="0">
                        <a:solidFill>
                          <a:srgbClr val="000000"/>
                        </a:solidFill>
                        <a:effectLst/>
                        <a:latin typeface="+mn-ea"/>
                        <a:ea typeface="+mn-ea"/>
                      </a:endParaRPr>
                    </a:p>
                    <a:p>
                      <a:pPr marL="17780" marR="17780" indent="0" algn="l" fontAlgn="base" latinLnBrk="0">
                        <a:lnSpc>
                          <a:spcPct val="100000"/>
                        </a:lnSpc>
                        <a:spcBef>
                          <a:spcPts val="0"/>
                        </a:spcBef>
                        <a:spcAft>
                          <a:spcPts val="0"/>
                        </a:spcAft>
                        <a:buFontTx/>
                        <a:buNone/>
                      </a:pPr>
                      <a:r>
                        <a:rPr lang="ko-KR" altLang="en-US" sz="1200" kern="0" spc="-50" dirty="0">
                          <a:solidFill>
                            <a:srgbClr val="000000"/>
                          </a:solidFill>
                          <a:effectLst/>
                          <a:latin typeface="+mn-ea"/>
                          <a:ea typeface="+mn-ea"/>
                        </a:rPr>
                        <a:t>무효심판청구불가</a:t>
                      </a: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fontAlgn="base" latinLnBrk="1">
                        <a:lnSpc>
                          <a:spcPct val="100000"/>
                        </a:lnSpc>
                      </a:pPr>
                      <a:r>
                        <a:rPr lang="en-US" altLang="ko-KR" sz="1200" kern="0" spc="-80" dirty="0">
                          <a:solidFill>
                            <a:srgbClr val="000000"/>
                          </a:solidFill>
                          <a:effectLst/>
                          <a:latin typeface="+mn-ea"/>
                          <a:ea typeface="+mn-ea"/>
                        </a:rPr>
                        <a:t>- </a:t>
                      </a:r>
                      <a:r>
                        <a:rPr lang="ko-KR" altLang="en-US" sz="1200" kern="0" spc="-80" dirty="0">
                          <a:solidFill>
                            <a:srgbClr val="000000"/>
                          </a:solidFill>
                          <a:effectLst/>
                          <a:latin typeface="+mn-ea"/>
                          <a:ea typeface="+mn-ea"/>
                        </a:rPr>
                        <a:t>무효사유에서 제외</a:t>
                      </a:r>
                      <a:r>
                        <a:rPr lang="en-US" altLang="ko-KR" sz="1200" kern="0" spc="-80" dirty="0">
                          <a:solidFill>
                            <a:srgbClr val="000000"/>
                          </a:solidFill>
                          <a:effectLst/>
                          <a:latin typeface="+mn-ea"/>
                          <a:ea typeface="+mn-ea"/>
                        </a:rPr>
                        <a:t>(</a:t>
                      </a:r>
                      <a:r>
                        <a:rPr lang="ko-KR" altLang="en-US" sz="1200" kern="0" spc="-50" dirty="0">
                          <a:solidFill>
                            <a:srgbClr val="000000"/>
                          </a:solidFill>
                          <a:effectLst/>
                          <a:latin typeface="+mn-ea"/>
                          <a:ea typeface="+mn-ea"/>
                        </a:rPr>
                        <a:t>法 </a:t>
                      </a:r>
                      <a:r>
                        <a:rPr lang="en-US" altLang="ko-KR" sz="1200" kern="1200" dirty="0">
                          <a:solidFill>
                            <a:schemeClr val="tx1"/>
                          </a:solidFill>
                          <a:effectLst/>
                          <a:latin typeface="+mn-lt"/>
                          <a:ea typeface="+mn-ea"/>
                          <a:cs typeface="+mn-cs"/>
                        </a:rPr>
                        <a:t>133①Ⅱ</a:t>
                      </a:r>
                      <a:r>
                        <a:rPr lang="ko-KR" altLang="en-US" sz="1200" kern="1200" dirty="0">
                          <a:solidFill>
                            <a:schemeClr val="tx1"/>
                          </a:solidFill>
                          <a:effectLst/>
                          <a:latin typeface="+mn-lt"/>
                          <a:ea typeface="+mn-ea"/>
                          <a:cs typeface="+mn-cs"/>
                        </a:rPr>
                        <a:t>단서</a:t>
                      </a:r>
                      <a:r>
                        <a:rPr lang="en-US" altLang="ko-KR" sz="1200" kern="1200" dirty="0">
                          <a:solidFill>
                            <a:schemeClr val="tx1"/>
                          </a:solidFill>
                          <a:effectLst/>
                          <a:latin typeface="+mn-lt"/>
                          <a:ea typeface="+mn-ea"/>
                          <a:cs typeface="+mn-cs"/>
                        </a:rPr>
                        <a:t>)</a:t>
                      </a:r>
                    </a:p>
                    <a:p>
                      <a:pPr marL="85725" marR="17780" lvl="0" indent="-68263" algn="l" defTabSz="914400" rtl="0" eaLnBrk="1" fontAlgn="base" latinLnBrk="0" hangingPunct="1">
                        <a:lnSpc>
                          <a:spcPct val="100000"/>
                        </a:lnSpc>
                        <a:spcBef>
                          <a:spcPts val="0"/>
                        </a:spcBef>
                        <a:spcAft>
                          <a:spcPts val="0"/>
                        </a:spcAft>
                        <a:buClrTx/>
                        <a:buSzTx/>
                        <a:buFontTx/>
                        <a:buNone/>
                        <a:tabLst/>
                        <a:defRPr/>
                      </a:pPr>
                      <a:r>
                        <a:rPr lang="en-US" altLang="ko-KR" sz="1200" kern="0" spc="-80" dirty="0">
                          <a:solidFill>
                            <a:srgbClr val="000000"/>
                          </a:solidFill>
                          <a:effectLst/>
                          <a:latin typeface="+mn-ea"/>
                          <a:ea typeface="+mn-ea"/>
                        </a:rPr>
                        <a:t>- </a:t>
                      </a:r>
                      <a:r>
                        <a:rPr lang="ko-KR" altLang="en-US" sz="1200" kern="0" spc="-80" dirty="0">
                          <a:solidFill>
                            <a:srgbClr val="000000"/>
                          </a:solidFill>
                          <a:effectLst/>
                          <a:latin typeface="+mn-ea"/>
                          <a:ea typeface="+mn-ea"/>
                        </a:rPr>
                        <a:t>특허권의 이전청구에 따른 이전등록 전의 실시에 의한 통상실시권</a:t>
                      </a:r>
                      <a:r>
                        <a:rPr lang="en-US" altLang="ko-KR" sz="1200" kern="0" spc="-80" dirty="0">
                          <a:solidFill>
                            <a:srgbClr val="000000"/>
                          </a:solidFill>
                          <a:effectLst/>
                          <a:latin typeface="+mn-ea"/>
                          <a:ea typeface="+mn-ea"/>
                        </a:rPr>
                        <a:t>(</a:t>
                      </a:r>
                      <a:r>
                        <a:rPr lang="ko-KR" altLang="en-US" sz="1200" kern="0" spc="-80" dirty="0">
                          <a:solidFill>
                            <a:srgbClr val="000000"/>
                          </a:solidFill>
                          <a:effectLst/>
                          <a:latin typeface="+mn-ea"/>
                          <a:ea typeface="+mn-ea"/>
                        </a:rPr>
                        <a:t>法 </a:t>
                      </a:r>
                      <a:r>
                        <a:rPr lang="en-US" altLang="ko-KR" sz="1200" kern="0" spc="-80" dirty="0">
                          <a:solidFill>
                            <a:srgbClr val="000000"/>
                          </a:solidFill>
                          <a:effectLst/>
                          <a:latin typeface="+mn-ea"/>
                          <a:ea typeface="+mn-ea"/>
                        </a:rPr>
                        <a:t>103</a:t>
                      </a:r>
                      <a:r>
                        <a:rPr lang="ko-KR" altLang="en-US" sz="1200" kern="0" spc="-80" dirty="0">
                          <a:solidFill>
                            <a:srgbClr val="000000"/>
                          </a:solidFill>
                          <a:effectLst/>
                          <a:latin typeface="+mn-ea"/>
                          <a:ea typeface="+mn-ea"/>
                        </a:rPr>
                        <a:t>의</a:t>
                      </a:r>
                      <a:r>
                        <a:rPr lang="en-US" altLang="ko-KR" sz="1200" kern="0" spc="-80" dirty="0">
                          <a:solidFill>
                            <a:srgbClr val="000000"/>
                          </a:solidFill>
                          <a:effectLst/>
                          <a:latin typeface="+mn-ea"/>
                          <a:ea typeface="+mn-ea"/>
                        </a:rPr>
                        <a:t>2) </a:t>
                      </a:r>
                      <a:r>
                        <a:rPr lang="ko-KR" altLang="en-US" sz="1200" kern="0" spc="-80" dirty="0">
                          <a:solidFill>
                            <a:srgbClr val="000000"/>
                          </a:solidFill>
                          <a:effectLst/>
                          <a:latin typeface="+mn-ea"/>
                          <a:ea typeface="+mn-ea"/>
                        </a:rPr>
                        <a:t>인정가능</a:t>
                      </a:r>
                      <a:endParaRPr lang="en-US" altLang="ko-KR" sz="1200" kern="0" spc="-50" dirty="0">
                        <a:solidFill>
                          <a:srgbClr val="000000"/>
                        </a:solidFill>
                        <a:effectLst/>
                        <a:latin typeface="+mn-ea"/>
                        <a:ea typeface="+mn-ea"/>
                      </a:endParaRPr>
                    </a:p>
                  </a:txBody>
                  <a:tcPr marL="64770" marR="64770" marT="17907" marB="17907"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917325709"/>
                  </a:ext>
                </a:extLst>
              </a:tr>
            </a:tbl>
          </a:graphicData>
        </a:graphic>
      </p:graphicFrame>
      <p:sp>
        <p:nvSpPr>
          <p:cNvPr id="6" name="말풍선: 모서리가 둥근 사각형 5">
            <a:extLst>
              <a:ext uri="{FF2B5EF4-FFF2-40B4-BE49-F238E27FC236}">
                <a16:creationId xmlns:a16="http://schemas.microsoft.com/office/drawing/2014/main" id="{DCCF5E88-B53A-48F9-9844-A608119A07EE}"/>
              </a:ext>
            </a:extLst>
          </p:cNvPr>
          <p:cNvSpPr/>
          <p:nvPr/>
        </p:nvSpPr>
        <p:spPr>
          <a:xfrm>
            <a:off x="8945682" y="3735671"/>
            <a:ext cx="1731027" cy="461988"/>
          </a:xfrm>
          <a:prstGeom prst="wedgeRoundRectCallout">
            <a:avLst>
              <a:gd name="adj1" fmla="val -22107"/>
              <a:gd name="adj2" fmla="val 78637"/>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甲이 丁의 지분에 대한 무효심판청구는 불가</a:t>
            </a:r>
          </a:p>
        </p:txBody>
      </p:sp>
      <p:sp>
        <p:nvSpPr>
          <p:cNvPr id="56" name="말풍선: 모서리가 둥근 사각형 55">
            <a:extLst>
              <a:ext uri="{FF2B5EF4-FFF2-40B4-BE49-F238E27FC236}">
                <a16:creationId xmlns:a16="http://schemas.microsoft.com/office/drawing/2014/main" id="{D462F69C-F98B-4B16-BC1A-A3E57B72A431}"/>
              </a:ext>
            </a:extLst>
          </p:cNvPr>
          <p:cNvSpPr/>
          <p:nvPr/>
        </p:nvSpPr>
        <p:spPr>
          <a:xfrm>
            <a:off x="9462603" y="5520926"/>
            <a:ext cx="1731027" cy="461988"/>
          </a:xfrm>
          <a:prstGeom prst="wedgeRoundRectCallout">
            <a:avLst>
              <a:gd name="adj1" fmla="val -22107"/>
              <a:gd name="adj2" fmla="val 78637"/>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제</a:t>
            </a:r>
            <a:r>
              <a:rPr lang="en-US" altLang="ko-KR" sz="1200" dirty="0">
                <a:solidFill>
                  <a:schemeClr val="tx1"/>
                </a:solidFill>
              </a:rPr>
              <a:t>103</a:t>
            </a:r>
            <a:r>
              <a:rPr lang="ko-KR" altLang="en-US" sz="1200" dirty="0">
                <a:solidFill>
                  <a:schemeClr val="tx1"/>
                </a:solidFill>
              </a:rPr>
              <a:t>조의</a:t>
            </a:r>
            <a:r>
              <a:rPr lang="en-US" altLang="ko-KR" sz="1200" dirty="0">
                <a:solidFill>
                  <a:schemeClr val="tx1"/>
                </a:solidFill>
              </a:rPr>
              <a:t>2</a:t>
            </a:r>
            <a:r>
              <a:rPr lang="ko-KR" altLang="en-US" sz="1200" dirty="0">
                <a:solidFill>
                  <a:schemeClr val="tx1"/>
                </a:solidFill>
              </a:rPr>
              <a:t>에 의한</a:t>
            </a:r>
            <a:endParaRPr lang="en-US" altLang="ko-KR" sz="1200" dirty="0">
              <a:solidFill>
                <a:schemeClr val="tx1"/>
              </a:solidFill>
            </a:endParaRPr>
          </a:p>
          <a:p>
            <a:pPr algn="ctr"/>
            <a:r>
              <a:rPr lang="ko-KR" altLang="en-US" sz="1200" dirty="0">
                <a:solidFill>
                  <a:schemeClr val="tx1"/>
                </a:solidFill>
              </a:rPr>
              <a:t>법정실시권 발생</a:t>
            </a:r>
          </a:p>
        </p:txBody>
      </p:sp>
    </p:spTree>
    <p:extLst>
      <p:ext uri="{BB962C8B-B14F-4D97-AF65-F5344CB8AC3E}">
        <p14:creationId xmlns:p14="http://schemas.microsoft.com/office/powerpoint/2010/main" val="1605828477"/>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5" name="연결선: 꺾임 34">
            <a:extLst>
              <a:ext uri="{FF2B5EF4-FFF2-40B4-BE49-F238E27FC236}">
                <a16:creationId xmlns:a16="http://schemas.microsoft.com/office/drawing/2014/main" id="{C850324D-FBE1-8D52-ED11-8171CF25E7E7}"/>
              </a:ext>
            </a:extLst>
          </p:cNvPr>
          <p:cNvCxnSpPr>
            <a:stCxn id="33" idx="2"/>
          </p:cNvCxnSpPr>
          <p:nvPr/>
        </p:nvCxnSpPr>
        <p:spPr>
          <a:xfrm rot="16200000" flipH="1">
            <a:off x="9063832" y="2843132"/>
            <a:ext cx="1526352" cy="4337050"/>
          </a:xfrm>
          <a:prstGeom prst="bentConnector2">
            <a:avLst/>
          </a:prstGeom>
          <a:ln w="571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제목 2"/>
          <p:cNvSpPr>
            <a:spLocks noGrp="1"/>
          </p:cNvSpPr>
          <p:nvPr>
            <p:ph type="title"/>
          </p:nvPr>
        </p:nvSpPr>
        <p:spPr/>
        <p:txBody>
          <a:bodyPr/>
          <a:lstStyle/>
          <a:p>
            <a:r>
              <a:rPr lang="ko-KR" altLang="en-US" dirty="0"/>
              <a:t>제</a:t>
            </a:r>
            <a:r>
              <a:rPr lang="en-US" altLang="ko-KR" dirty="0"/>
              <a:t>133</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청구기간</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48" name="직선 연결선 47"/>
          <p:cNvCxnSpPr/>
          <p:nvPr/>
        </p:nvCxnSpPr>
        <p:spPr>
          <a:xfrm>
            <a:off x="77875" y="193399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77875" y="976902"/>
            <a:ext cx="11936323" cy="954107"/>
          </a:xfrm>
          <a:prstGeom prst="rect">
            <a:avLst/>
          </a:prstGeom>
          <a:noFill/>
        </p:spPr>
        <p:txBody>
          <a:bodyPr wrap="square" rtlCol="0">
            <a:spAutoFit/>
          </a:bodyPr>
          <a:lstStyle/>
          <a:p>
            <a:pPr fontAlgn="base"/>
            <a:r>
              <a:rPr lang="ko-KR" altLang="en-US" sz="1400" dirty="0">
                <a:solidFill>
                  <a:schemeClr val="tx2"/>
                </a:solidFill>
              </a:rPr>
              <a:t>특허권의 존속기간 중에는 물론 특허권이 소멸된 후에도 청구의 이익이 있는 한 특허무효심판을 청구할 수 있다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133</a:t>
            </a:r>
            <a:r>
              <a:rPr lang="ko-KR" altLang="en-US" sz="1400" dirty="0">
                <a:solidFill>
                  <a:schemeClr val="tx2"/>
                </a:solidFill>
              </a:rPr>
              <a:t>②</a:t>
            </a:r>
            <a:r>
              <a:rPr lang="en-US" altLang="ko-KR" sz="1400" dirty="0">
                <a:solidFill>
                  <a:schemeClr val="tx2"/>
                </a:solidFill>
              </a:rPr>
              <a:t>). </a:t>
            </a:r>
            <a:r>
              <a:rPr lang="ko-KR" altLang="en-US" sz="1400" dirty="0">
                <a:solidFill>
                  <a:schemeClr val="tx2"/>
                </a:solidFill>
              </a:rPr>
              <a:t>특허권이 소멸된 후라도 소멸되기 전의 제</a:t>
            </a:r>
            <a:r>
              <a:rPr lang="en-US" altLang="ko-KR" sz="1400" dirty="0">
                <a:solidFill>
                  <a:schemeClr val="tx2"/>
                </a:solidFill>
              </a:rPr>
              <a:t>3</a:t>
            </a:r>
            <a:r>
              <a:rPr lang="ko-KR" altLang="en-US" sz="1400" dirty="0">
                <a:solidFill>
                  <a:schemeClr val="tx2"/>
                </a:solidFill>
              </a:rPr>
              <a:t>자의 실시에 대해서는 특허권자가 손해배상청구를 할 수 있기 때문에 특허를 무효 시킬 실익이 있다</a:t>
            </a:r>
            <a:r>
              <a:rPr lang="en-US" altLang="ko-KR" sz="1400" dirty="0">
                <a:solidFill>
                  <a:schemeClr val="tx2"/>
                </a:solidFill>
              </a:rPr>
              <a:t>. </a:t>
            </a:r>
            <a:r>
              <a:rPr lang="ko-KR" altLang="en-US" sz="1400" dirty="0">
                <a:solidFill>
                  <a:schemeClr val="tx2"/>
                </a:solidFill>
              </a:rPr>
              <a:t>이 때 제</a:t>
            </a:r>
            <a:r>
              <a:rPr lang="en-US" altLang="ko-KR" sz="1400" dirty="0">
                <a:solidFill>
                  <a:schemeClr val="tx2"/>
                </a:solidFill>
              </a:rPr>
              <a:t>3</a:t>
            </a:r>
            <a:r>
              <a:rPr lang="ko-KR" altLang="en-US" sz="1400" dirty="0">
                <a:solidFill>
                  <a:schemeClr val="tx2"/>
                </a:solidFill>
              </a:rPr>
              <a:t>자가 특허무효심판청구에 의하여 </a:t>
            </a:r>
            <a:r>
              <a:rPr lang="ko-KR" altLang="en-US" sz="1400" dirty="0" err="1">
                <a:solidFill>
                  <a:schemeClr val="tx2"/>
                </a:solidFill>
              </a:rPr>
              <a:t>무효심결이</a:t>
            </a:r>
            <a:r>
              <a:rPr lang="ko-KR" altLang="en-US" sz="1400" dirty="0">
                <a:solidFill>
                  <a:schemeClr val="tx2"/>
                </a:solidFill>
              </a:rPr>
              <a:t> 확정되면 손해배상을 할 필요가 없어진다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특허권이 무효심결확정에 의하여 소급하여 소멸한 경우에는 특허무효심판을 청구할 실익이 없으며 청구한 </a:t>
            </a:r>
            <a:r>
              <a:rPr lang="ko-KR" altLang="en-US" sz="1400" dirty="0" err="1">
                <a:solidFill>
                  <a:schemeClr val="tx2"/>
                </a:solidFill>
              </a:rPr>
              <a:t>무효심판은</a:t>
            </a:r>
            <a:r>
              <a:rPr lang="ko-KR" altLang="en-US" sz="1400" dirty="0">
                <a:solidFill>
                  <a:schemeClr val="tx2"/>
                </a:solidFill>
              </a:rPr>
              <a:t> </a:t>
            </a:r>
            <a:r>
              <a:rPr lang="ko-KR" altLang="en-US" sz="1400" dirty="0" err="1">
                <a:solidFill>
                  <a:schemeClr val="tx2"/>
                </a:solidFill>
              </a:rPr>
              <a:t>심결각하된다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후발적 사유에 의하여 무효가 된 경우에는 그 이전의 것에 대해서는 무효심판을 청구할 수 있다</a:t>
            </a:r>
            <a:r>
              <a:rPr lang="en-US" altLang="ko-KR" sz="1400" dirty="0">
                <a:solidFill>
                  <a:schemeClr val="tx2"/>
                </a:solidFill>
              </a:rPr>
              <a:t>.</a:t>
            </a:r>
            <a:endParaRPr lang="ko-KR" altLang="en-US" sz="1400" dirty="0">
              <a:solidFill>
                <a:schemeClr val="tx2"/>
              </a:solidFill>
            </a:endParaRPr>
          </a:p>
        </p:txBody>
      </p:sp>
      <p:sp>
        <p:nvSpPr>
          <p:cNvPr id="52" name="양쪽 모서리가 둥근 사각형 51"/>
          <p:cNvSpPr/>
          <p:nvPr/>
        </p:nvSpPr>
        <p:spPr>
          <a:xfrm>
            <a:off x="1684275" y="4011354"/>
            <a:ext cx="2758790" cy="671279"/>
          </a:xfrm>
          <a:prstGeom prst="round2SameRect">
            <a:avLst>
              <a:gd name="adj1" fmla="val 0"/>
              <a:gd name="adj2" fmla="val 50000"/>
            </a:avLst>
          </a:prstGeom>
          <a:pattFill prst="smConfetti">
            <a:fgClr>
              <a:schemeClr val="accent2"/>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53" name="양쪽 모서리가 둥근 사각형 52"/>
          <p:cNvSpPr/>
          <p:nvPr/>
        </p:nvSpPr>
        <p:spPr>
          <a:xfrm>
            <a:off x="852643" y="3349133"/>
            <a:ext cx="2556497" cy="654320"/>
          </a:xfrm>
          <a:prstGeom prst="round2SameRect">
            <a:avLst>
              <a:gd name="adj1" fmla="val 50000"/>
              <a:gd name="adj2" fmla="val 0"/>
            </a:avLst>
          </a:prstGeom>
          <a:pattFill prst="lg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54" name="Line 5"/>
          <p:cNvSpPr>
            <a:spLocks noChangeShapeType="1"/>
          </p:cNvSpPr>
          <p:nvPr/>
        </p:nvSpPr>
        <p:spPr bwMode="auto">
          <a:xfrm>
            <a:off x="155345" y="4003453"/>
            <a:ext cx="11840188" cy="0"/>
          </a:xfrm>
          <a:prstGeom prst="line">
            <a:avLst/>
          </a:prstGeom>
          <a:noFill/>
          <a:ln w="57150">
            <a:solidFill>
              <a:schemeClr val="bg1">
                <a:lumMod val="50000"/>
              </a:schemeClr>
            </a:solidFill>
            <a:round/>
            <a:headEnd type="none" w="med" len="med"/>
            <a:tailEnd type="none" w="med" len="med"/>
          </a:ln>
        </p:spPr>
        <p:txBody>
          <a:bodyPr/>
          <a:lstStyle/>
          <a:p>
            <a:endParaRPr lang="ko-KR" altLang="en-US" sz="1200" dirty="0">
              <a:latin typeface="+mn-ea"/>
            </a:endParaRPr>
          </a:p>
        </p:txBody>
      </p:sp>
      <p:sp>
        <p:nvSpPr>
          <p:cNvPr id="55" name="TextBox 54"/>
          <p:cNvSpPr txBox="1"/>
          <p:nvPr/>
        </p:nvSpPr>
        <p:spPr>
          <a:xfrm>
            <a:off x="311872" y="3848075"/>
            <a:ext cx="1081544" cy="326558"/>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甲  </a:t>
            </a:r>
            <a:r>
              <a:rPr lang="ko-KR" altLang="en-US" sz="1200" dirty="0" err="1">
                <a:solidFill>
                  <a:schemeClr val="tx1"/>
                </a:solidFill>
                <a:latin typeface="+mn-ea"/>
              </a:rPr>
              <a:t>설정등록</a:t>
            </a:r>
            <a:endParaRPr lang="en-US" altLang="ko-KR" sz="1200" dirty="0">
              <a:solidFill>
                <a:schemeClr val="tx1"/>
              </a:solidFill>
              <a:latin typeface="+mn-ea"/>
            </a:endParaRPr>
          </a:p>
        </p:txBody>
      </p:sp>
      <p:sp>
        <p:nvSpPr>
          <p:cNvPr id="57" name="TextBox 56"/>
          <p:cNvSpPr txBox="1"/>
          <p:nvPr/>
        </p:nvSpPr>
        <p:spPr>
          <a:xfrm>
            <a:off x="1501251" y="3022575"/>
            <a:ext cx="1420542" cy="32655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존속</a:t>
            </a:r>
            <a:r>
              <a:rPr lang="en-US" altLang="ko-KR" sz="1200" dirty="0">
                <a:solidFill>
                  <a:schemeClr val="tx1"/>
                </a:solidFill>
                <a:latin typeface="+mn-ea"/>
              </a:rPr>
              <a:t> </a:t>
            </a:r>
            <a:r>
              <a:rPr lang="ko-KR" altLang="en-US" sz="1200" dirty="0">
                <a:solidFill>
                  <a:schemeClr val="tx1"/>
                </a:solidFill>
                <a:latin typeface="+mn-ea"/>
              </a:rPr>
              <a:t>中</a:t>
            </a:r>
            <a:endParaRPr lang="en-US" altLang="ko-KR" sz="1200" dirty="0">
              <a:solidFill>
                <a:schemeClr val="tx1"/>
              </a:solidFill>
              <a:latin typeface="+mn-ea"/>
            </a:endParaRPr>
          </a:p>
        </p:txBody>
      </p:sp>
      <p:sp>
        <p:nvSpPr>
          <p:cNvPr id="58" name="TextBox 57"/>
          <p:cNvSpPr txBox="1"/>
          <p:nvPr/>
        </p:nvSpPr>
        <p:spPr>
          <a:xfrm>
            <a:off x="2463009" y="4371227"/>
            <a:ext cx="1420542" cy="32655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b="1" dirty="0">
                <a:solidFill>
                  <a:schemeClr val="tx1"/>
                </a:solidFill>
                <a:latin typeface="+mn-ea"/>
              </a:rPr>
              <a:t>乙 </a:t>
            </a:r>
            <a:r>
              <a:rPr lang="en-US" altLang="ko-KR" sz="1400" b="1" dirty="0">
                <a:solidFill>
                  <a:schemeClr val="tx1"/>
                </a:solidFill>
                <a:latin typeface="+mn-ea"/>
              </a:rPr>
              <a:t>A </a:t>
            </a:r>
            <a:r>
              <a:rPr lang="ko-KR" altLang="en-US" sz="1400" b="1" dirty="0">
                <a:solidFill>
                  <a:schemeClr val="tx1"/>
                </a:solidFill>
                <a:latin typeface="+mn-ea"/>
              </a:rPr>
              <a:t>실시</a:t>
            </a:r>
            <a:endParaRPr lang="en-US" altLang="ko-KR" sz="1400" b="1" dirty="0">
              <a:solidFill>
                <a:schemeClr val="tx1"/>
              </a:solidFill>
              <a:latin typeface="+mn-ea"/>
            </a:endParaRPr>
          </a:p>
        </p:txBody>
      </p:sp>
      <p:cxnSp>
        <p:nvCxnSpPr>
          <p:cNvPr id="60" name="직선 연결선 59"/>
          <p:cNvCxnSpPr/>
          <p:nvPr/>
        </p:nvCxnSpPr>
        <p:spPr>
          <a:xfrm>
            <a:off x="3409141" y="4011354"/>
            <a:ext cx="0" cy="1763479"/>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직선 연결선 61"/>
          <p:cNvCxnSpPr/>
          <p:nvPr/>
        </p:nvCxnSpPr>
        <p:spPr>
          <a:xfrm>
            <a:off x="1686565" y="4011354"/>
            <a:ext cx="0" cy="1763479"/>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직선 연결선 62"/>
          <p:cNvCxnSpPr/>
          <p:nvPr/>
        </p:nvCxnSpPr>
        <p:spPr>
          <a:xfrm>
            <a:off x="4443065" y="4011354"/>
            <a:ext cx="0" cy="1763479"/>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직선 화살표 연결선 63"/>
          <p:cNvCxnSpPr/>
          <p:nvPr/>
        </p:nvCxnSpPr>
        <p:spPr>
          <a:xfrm>
            <a:off x="1694147" y="5279533"/>
            <a:ext cx="1714994" cy="1"/>
          </a:xfrm>
          <a:prstGeom prst="straightConnector1">
            <a:avLst/>
          </a:prstGeom>
          <a:ln w="381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5" name="직선 화살표 연결선 64"/>
          <p:cNvCxnSpPr>
            <a:cxnSpLocks/>
          </p:cNvCxnSpPr>
          <p:nvPr/>
        </p:nvCxnSpPr>
        <p:spPr>
          <a:xfrm>
            <a:off x="3409141" y="5279533"/>
            <a:ext cx="1033924" cy="0"/>
          </a:xfrm>
          <a:prstGeom prst="straightConnector1">
            <a:avLst/>
          </a:prstGeom>
          <a:ln w="381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1926043" y="5300697"/>
            <a:ext cx="1420542" cy="32655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침해</a:t>
            </a:r>
            <a:endParaRPr lang="en-US" altLang="ko-KR" sz="1400" dirty="0">
              <a:solidFill>
                <a:schemeClr val="tx1"/>
              </a:solidFill>
              <a:latin typeface="+mn-ea"/>
            </a:endParaRPr>
          </a:p>
        </p:txBody>
      </p:sp>
      <p:sp>
        <p:nvSpPr>
          <p:cNvPr id="67" name="TextBox 66"/>
          <p:cNvSpPr txBox="1"/>
          <p:nvPr/>
        </p:nvSpPr>
        <p:spPr>
          <a:xfrm>
            <a:off x="3561030" y="5300697"/>
            <a:ext cx="841476" cy="32655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비침해</a:t>
            </a:r>
            <a:endParaRPr lang="en-US" altLang="ko-KR" sz="1400" dirty="0">
              <a:solidFill>
                <a:schemeClr val="tx1"/>
              </a:solidFill>
              <a:latin typeface="+mn-ea"/>
            </a:endParaRPr>
          </a:p>
        </p:txBody>
      </p:sp>
      <p:sp>
        <p:nvSpPr>
          <p:cNvPr id="68" name="TextBox 67"/>
          <p:cNvSpPr txBox="1"/>
          <p:nvPr/>
        </p:nvSpPr>
        <p:spPr>
          <a:xfrm>
            <a:off x="4667133" y="3848075"/>
            <a:ext cx="1668809" cy="318811"/>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민사법원 침해소송제기</a:t>
            </a:r>
            <a:endParaRPr lang="en-US" altLang="ko-KR" sz="1200" dirty="0">
              <a:solidFill>
                <a:schemeClr val="tx1"/>
              </a:solidFill>
              <a:latin typeface="+mn-ea"/>
            </a:endParaRPr>
          </a:p>
        </p:txBody>
      </p:sp>
      <p:sp>
        <p:nvSpPr>
          <p:cNvPr id="69" name="타원 68"/>
          <p:cNvSpPr/>
          <p:nvPr/>
        </p:nvSpPr>
        <p:spPr>
          <a:xfrm>
            <a:off x="2108353" y="4925136"/>
            <a:ext cx="1055921" cy="1055921"/>
          </a:xfrm>
          <a:prstGeom prst="ellipse">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70" name="직선 화살표 연결선 69"/>
          <p:cNvCxnSpPr>
            <a:cxnSpLocks/>
            <a:stCxn id="69" idx="6"/>
            <a:endCxn id="68" idx="1"/>
          </p:cNvCxnSpPr>
          <p:nvPr/>
        </p:nvCxnSpPr>
        <p:spPr>
          <a:xfrm flipV="1">
            <a:off x="3164274" y="4007481"/>
            <a:ext cx="1502859" cy="1445616"/>
          </a:xfrm>
          <a:prstGeom prst="straightConnector1">
            <a:avLst/>
          </a:prstGeom>
          <a:ln w="28575">
            <a:solidFill>
              <a:srgbClr val="FF0000"/>
            </a:solidFill>
            <a:prstDash val="sysDot"/>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8" name="TextBox 87"/>
          <p:cNvSpPr txBox="1"/>
          <p:nvPr/>
        </p:nvSpPr>
        <p:spPr>
          <a:xfrm>
            <a:off x="5794609" y="2865771"/>
            <a:ext cx="1082668" cy="429813"/>
          </a:xfrm>
          <a:prstGeom prst="roundRect">
            <a:avLst>
              <a:gd name="adj" fmla="val 31267"/>
            </a:avLst>
          </a:prstGeom>
          <a:solidFill>
            <a:schemeClr val="accent1">
              <a:lumMod val="75000"/>
            </a:schemeClr>
          </a:solidFill>
          <a:ln w="285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bg1"/>
                </a:solidFill>
                <a:latin typeface="+mn-ea"/>
              </a:rPr>
              <a:t>무효심판청구</a:t>
            </a:r>
            <a:endParaRPr lang="en-US" altLang="ko-KR" sz="1200" dirty="0">
              <a:solidFill>
                <a:schemeClr val="bg1"/>
              </a:solidFill>
              <a:latin typeface="+mn-ea"/>
            </a:endParaRPr>
          </a:p>
          <a:p>
            <a:pPr algn="ctr"/>
            <a:r>
              <a:rPr lang="en-US" altLang="ko-KR" sz="1200" dirty="0">
                <a:solidFill>
                  <a:schemeClr val="bg1"/>
                </a:solidFill>
                <a:latin typeface="+mn-ea"/>
              </a:rPr>
              <a:t>(</a:t>
            </a:r>
            <a:r>
              <a:rPr lang="ko-KR" altLang="en-US" sz="1200" dirty="0">
                <a:solidFill>
                  <a:schemeClr val="bg1"/>
                </a:solidFill>
                <a:latin typeface="+mn-ea"/>
              </a:rPr>
              <a:t>특허심판원</a:t>
            </a:r>
            <a:r>
              <a:rPr lang="en-US" altLang="ko-KR" sz="1200" dirty="0">
                <a:solidFill>
                  <a:schemeClr val="bg1"/>
                </a:solidFill>
                <a:latin typeface="+mn-ea"/>
              </a:rPr>
              <a:t>)</a:t>
            </a:r>
          </a:p>
        </p:txBody>
      </p:sp>
      <p:sp>
        <p:nvSpPr>
          <p:cNvPr id="89" name="TextBox 88"/>
          <p:cNvSpPr txBox="1"/>
          <p:nvPr/>
        </p:nvSpPr>
        <p:spPr>
          <a:xfrm>
            <a:off x="8512321" y="2865771"/>
            <a:ext cx="1056150" cy="429813"/>
          </a:xfrm>
          <a:prstGeom prst="roundRect">
            <a:avLst>
              <a:gd name="adj" fmla="val 20838"/>
            </a:avLst>
          </a:prstGeom>
          <a:solidFill>
            <a:schemeClr val="accent1">
              <a:lumMod val="75000"/>
            </a:schemeClr>
          </a:solidFill>
          <a:ln w="285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bg1"/>
                </a:solidFill>
                <a:latin typeface="+mn-ea"/>
              </a:rPr>
              <a:t>무효심결확정</a:t>
            </a:r>
            <a:endParaRPr lang="en-US" altLang="ko-KR" sz="1200" dirty="0">
              <a:solidFill>
                <a:schemeClr val="bg1"/>
              </a:solidFill>
              <a:latin typeface="+mn-ea"/>
            </a:endParaRPr>
          </a:p>
        </p:txBody>
      </p:sp>
      <p:cxnSp>
        <p:nvCxnSpPr>
          <p:cNvPr id="90" name="직선 화살표 연결선 89"/>
          <p:cNvCxnSpPr>
            <a:cxnSpLocks/>
          </p:cNvCxnSpPr>
          <p:nvPr/>
        </p:nvCxnSpPr>
        <p:spPr>
          <a:xfrm>
            <a:off x="9040396" y="3295584"/>
            <a:ext cx="0" cy="63970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2864613" y="3848075"/>
            <a:ext cx="1081544" cy="326558"/>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존속기간 만료</a:t>
            </a:r>
            <a:endParaRPr lang="en-US" altLang="ko-KR" sz="1200" dirty="0">
              <a:solidFill>
                <a:schemeClr val="tx1"/>
              </a:solidFill>
              <a:latin typeface="+mn-ea"/>
            </a:endParaRPr>
          </a:p>
        </p:txBody>
      </p:sp>
      <p:sp>
        <p:nvSpPr>
          <p:cNvPr id="92" name="TextBox 91"/>
          <p:cNvSpPr txBox="1"/>
          <p:nvPr/>
        </p:nvSpPr>
        <p:spPr>
          <a:xfrm>
            <a:off x="10656901" y="3848075"/>
            <a:ext cx="1125524" cy="326558"/>
          </a:xfrm>
          <a:prstGeom prst="rect">
            <a:avLst/>
          </a:prstGeom>
          <a:solidFill>
            <a:schemeClr val="accent3">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bg1"/>
                </a:solidFill>
                <a:latin typeface="+mn-ea"/>
              </a:rPr>
              <a:t>패소판결확정</a:t>
            </a:r>
            <a:endParaRPr lang="en-US" altLang="ko-KR" sz="1200" dirty="0">
              <a:solidFill>
                <a:schemeClr val="bg1"/>
              </a:solidFill>
              <a:latin typeface="+mn-ea"/>
            </a:endParaRPr>
          </a:p>
        </p:txBody>
      </p:sp>
      <p:sp>
        <p:nvSpPr>
          <p:cNvPr id="14" name="모서리가 둥근 사각형 설명선 13"/>
          <p:cNvSpPr/>
          <p:nvPr/>
        </p:nvSpPr>
        <p:spPr>
          <a:xfrm>
            <a:off x="6216507" y="2174167"/>
            <a:ext cx="1413665" cy="477753"/>
          </a:xfrm>
          <a:prstGeom prst="wedgeRoundRectCallout">
            <a:avLst>
              <a:gd name="adj1" fmla="val 4579"/>
              <a:gd name="adj2" fmla="val 321239"/>
              <a:gd name="adj3" fmla="val 16667"/>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소송절차 중지 신청</a:t>
            </a:r>
            <a:r>
              <a:rPr lang="en-US" altLang="ko-KR" sz="1200" dirty="0">
                <a:solidFill>
                  <a:schemeClr val="tx1"/>
                </a:solidFill>
              </a:rPr>
              <a:t>, but </a:t>
            </a:r>
            <a:r>
              <a:rPr lang="ko-KR" altLang="en-US" sz="1200" dirty="0">
                <a:solidFill>
                  <a:schemeClr val="tx1"/>
                </a:solidFill>
              </a:rPr>
              <a:t>재량</a:t>
            </a:r>
          </a:p>
        </p:txBody>
      </p:sp>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463</a:t>
            </a:r>
            <a:endParaRPr lang="ko-KR" altLang="en-US" dirty="0"/>
          </a:p>
        </p:txBody>
      </p:sp>
      <p:sp>
        <p:nvSpPr>
          <p:cNvPr id="83" name="도넛 82"/>
          <p:cNvSpPr/>
          <p:nvPr/>
        </p:nvSpPr>
        <p:spPr>
          <a:xfrm>
            <a:off x="7136288" y="5010820"/>
            <a:ext cx="368116" cy="351656"/>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84" name="도넛 83"/>
          <p:cNvSpPr/>
          <p:nvPr/>
        </p:nvSpPr>
        <p:spPr>
          <a:xfrm>
            <a:off x="7136288" y="5435404"/>
            <a:ext cx="368116" cy="351656"/>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85" name="도넛 84"/>
          <p:cNvSpPr/>
          <p:nvPr/>
        </p:nvSpPr>
        <p:spPr>
          <a:xfrm>
            <a:off x="7136288" y="5905930"/>
            <a:ext cx="368116" cy="351656"/>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86" name="곱셈 기호 85"/>
          <p:cNvSpPr/>
          <p:nvPr/>
        </p:nvSpPr>
        <p:spPr>
          <a:xfrm>
            <a:off x="7033385" y="4433994"/>
            <a:ext cx="573921" cy="602794"/>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47" name="TextBox 46"/>
          <p:cNvSpPr txBox="1"/>
          <p:nvPr/>
        </p:nvSpPr>
        <p:spPr>
          <a:xfrm>
            <a:off x="7866006" y="5618026"/>
            <a:ext cx="1070358" cy="326558"/>
          </a:xfrm>
          <a:prstGeom prst="rect">
            <a:avLst/>
          </a:prstGeom>
          <a:solidFill>
            <a:srgbClr val="FF0000"/>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a:solidFill>
                  <a:schemeClr val="bg1"/>
                </a:solidFill>
                <a:latin typeface="+mn-ea"/>
              </a:rPr>
              <a:t>승소판결확정</a:t>
            </a:r>
            <a:endParaRPr lang="en-US" altLang="ko-KR" sz="1200" dirty="0">
              <a:solidFill>
                <a:schemeClr val="bg1"/>
              </a:solidFill>
              <a:latin typeface="+mn-ea"/>
            </a:endParaRPr>
          </a:p>
        </p:txBody>
      </p:sp>
      <p:sp>
        <p:nvSpPr>
          <p:cNvPr id="13" name="모서리가 둥근 직사각형 49">
            <a:extLst>
              <a:ext uri="{FF2B5EF4-FFF2-40B4-BE49-F238E27FC236}">
                <a16:creationId xmlns:a16="http://schemas.microsoft.com/office/drawing/2014/main" id="{59FD8EC5-BE21-A8A2-BBBC-E97974CD56A0}"/>
              </a:ext>
            </a:extLst>
          </p:cNvPr>
          <p:cNvSpPr/>
          <p:nvPr/>
        </p:nvSpPr>
        <p:spPr>
          <a:xfrm>
            <a:off x="4899414" y="4551917"/>
            <a:ext cx="2166674" cy="318812"/>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침해금지예방청구</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126)</a:t>
            </a:r>
            <a:endParaRPr lang="ko-KR" altLang="en-US" sz="1200" dirty="0">
              <a:solidFill>
                <a:schemeClr val="tx1">
                  <a:lumMod val="50000"/>
                  <a:lumOff val="50000"/>
                </a:schemeClr>
              </a:solidFill>
            </a:endParaRPr>
          </a:p>
        </p:txBody>
      </p:sp>
      <p:cxnSp>
        <p:nvCxnSpPr>
          <p:cNvPr id="31" name="연결선: 꺾임 30">
            <a:extLst>
              <a:ext uri="{FF2B5EF4-FFF2-40B4-BE49-F238E27FC236}">
                <a16:creationId xmlns:a16="http://schemas.microsoft.com/office/drawing/2014/main" id="{5917650E-AB56-0D20-34F0-A2A902EF858F}"/>
              </a:ext>
            </a:extLst>
          </p:cNvPr>
          <p:cNvCxnSpPr/>
          <p:nvPr/>
        </p:nvCxnSpPr>
        <p:spPr>
          <a:xfrm rot="16200000" flipH="1">
            <a:off x="6082814" y="3548713"/>
            <a:ext cx="679972" cy="173714"/>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3" name="순서도: 판단 32">
            <a:extLst>
              <a:ext uri="{FF2B5EF4-FFF2-40B4-BE49-F238E27FC236}">
                <a16:creationId xmlns:a16="http://schemas.microsoft.com/office/drawing/2014/main" id="{93958C14-CB28-744F-C601-F803F42B75F8}"/>
              </a:ext>
            </a:extLst>
          </p:cNvPr>
          <p:cNvSpPr/>
          <p:nvPr/>
        </p:nvSpPr>
        <p:spPr>
          <a:xfrm>
            <a:off x="7174476" y="3774227"/>
            <a:ext cx="968014" cy="474254"/>
          </a:xfrm>
          <a:prstGeom prst="flowChartDecision">
            <a:avLst/>
          </a:prstGeom>
          <a:solidFill>
            <a:schemeClr val="tx1">
              <a:lumMod val="95000"/>
              <a:lumOff val="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200" dirty="0"/>
              <a:t>중지</a:t>
            </a:r>
            <a:endParaRPr lang="en-US" altLang="ko-KR" sz="1200" dirty="0"/>
          </a:p>
          <a:p>
            <a:pPr algn="ctr"/>
            <a:r>
              <a:rPr lang="ko-KR" altLang="en-US" sz="1200" dirty="0"/>
              <a:t>여부</a:t>
            </a:r>
          </a:p>
        </p:txBody>
      </p:sp>
      <p:sp>
        <p:nvSpPr>
          <p:cNvPr id="36" name="TextBox 35">
            <a:extLst>
              <a:ext uri="{FF2B5EF4-FFF2-40B4-BE49-F238E27FC236}">
                <a16:creationId xmlns:a16="http://schemas.microsoft.com/office/drawing/2014/main" id="{D09FB581-1DBB-1FBD-FEE4-7B4141430D1D}"/>
              </a:ext>
            </a:extLst>
          </p:cNvPr>
          <p:cNvSpPr txBox="1"/>
          <p:nvPr/>
        </p:nvSpPr>
        <p:spPr>
          <a:xfrm>
            <a:off x="9691706" y="5618026"/>
            <a:ext cx="731464" cy="326558"/>
          </a:xfrm>
          <a:prstGeom prst="rect">
            <a:avLst/>
          </a:prstGeom>
          <a:solidFill>
            <a:srgbClr val="FF0000"/>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a:solidFill>
                  <a:schemeClr val="bg1"/>
                </a:solidFill>
                <a:latin typeface="+mn-ea"/>
              </a:rPr>
              <a:t>재심청구</a:t>
            </a:r>
            <a:endParaRPr lang="en-US" altLang="ko-KR" sz="1200" dirty="0">
              <a:solidFill>
                <a:schemeClr val="bg1"/>
              </a:solidFill>
              <a:latin typeface="+mn-ea"/>
            </a:endParaRPr>
          </a:p>
        </p:txBody>
      </p:sp>
      <p:sp>
        <p:nvSpPr>
          <p:cNvPr id="37" name="TextBox 36">
            <a:extLst>
              <a:ext uri="{FF2B5EF4-FFF2-40B4-BE49-F238E27FC236}">
                <a16:creationId xmlns:a16="http://schemas.microsoft.com/office/drawing/2014/main" id="{A9883F75-7B2D-C8B8-D144-C7CD6A38CD18}"/>
              </a:ext>
            </a:extLst>
          </p:cNvPr>
          <p:cNvSpPr txBox="1"/>
          <p:nvPr/>
        </p:nvSpPr>
        <p:spPr>
          <a:xfrm>
            <a:off x="10656901" y="5618026"/>
            <a:ext cx="1125524" cy="326558"/>
          </a:xfrm>
          <a:prstGeom prst="rect">
            <a:avLst/>
          </a:prstGeom>
          <a:solidFill>
            <a:srgbClr val="FF0000"/>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bg1"/>
                </a:solidFill>
                <a:latin typeface="+mn-ea"/>
              </a:rPr>
              <a:t>패소판결확정</a:t>
            </a:r>
            <a:endParaRPr lang="en-US" altLang="ko-KR" sz="1200" dirty="0">
              <a:solidFill>
                <a:schemeClr val="bg1"/>
              </a:solidFill>
              <a:latin typeface="+mn-ea"/>
            </a:endParaRPr>
          </a:p>
        </p:txBody>
      </p:sp>
      <p:cxnSp>
        <p:nvCxnSpPr>
          <p:cNvPr id="39" name="연결선: 꺾임 38">
            <a:extLst>
              <a:ext uri="{FF2B5EF4-FFF2-40B4-BE49-F238E27FC236}">
                <a16:creationId xmlns:a16="http://schemas.microsoft.com/office/drawing/2014/main" id="{AF81323D-C13A-B026-1A91-B4361EB5EDEB}"/>
              </a:ext>
            </a:extLst>
          </p:cNvPr>
          <p:cNvCxnSpPr>
            <a:cxnSpLocks/>
            <a:stCxn id="13" idx="2"/>
            <a:endCxn id="47" idx="2"/>
          </p:cNvCxnSpPr>
          <p:nvPr/>
        </p:nvCxnSpPr>
        <p:spPr>
          <a:xfrm rot="16200000" flipH="1">
            <a:off x="6655041" y="4198439"/>
            <a:ext cx="1073855" cy="2418434"/>
          </a:xfrm>
          <a:prstGeom prst="bentConnector3">
            <a:avLst>
              <a:gd name="adj1" fmla="val 121288"/>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 name="모서리가 둥근 직사각형 50">
            <a:extLst>
              <a:ext uri="{FF2B5EF4-FFF2-40B4-BE49-F238E27FC236}">
                <a16:creationId xmlns:a16="http://schemas.microsoft.com/office/drawing/2014/main" id="{CB44AA3E-A3C5-8236-8071-2FA11033A183}"/>
              </a:ext>
            </a:extLst>
          </p:cNvPr>
          <p:cNvSpPr/>
          <p:nvPr/>
        </p:nvSpPr>
        <p:spPr>
          <a:xfrm>
            <a:off x="4899414" y="5013471"/>
            <a:ext cx="2166674" cy="318812"/>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손해배상청구</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128)</a:t>
            </a:r>
            <a:endParaRPr lang="ko-KR" altLang="en-US" sz="1200" dirty="0">
              <a:solidFill>
                <a:schemeClr val="tx1">
                  <a:lumMod val="50000"/>
                  <a:lumOff val="50000"/>
                </a:schemeClr>
              </a:solidFill>
            </a:endParaRPr>
          </a:p>
        </p:txBody>
      </p:sp>
      <p:sp>
        <p:nvSpPr>
          <p:cNvPr id="16" name="모서리가 둥근 직사각형 70">
            <a:extLst>
              <a:ext uri="{FF2B5EF4-FFF2-40B4-BE49-F238E27FC236}">
                <a16:creationId xmlns:a16="http://schemas.microsoft.com/office/drawing/2014/main" id="{037E4D99-299A-2AFF-7B8C-B9A9A5427CCD}"/>
              </a:ext>
            </a:extLst>
          </p:cNvPr>
          <p:cNvSpPr/>
          <p:nvPr/>
        </p:nvSpPr>
        <p:spPr>
          <a:xfrm>
            <a:off x="4899414" y="5475982"/>
            <a:ext cx="2166674" cy="318812"/>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신용회복청구</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法 </a:t>
            </a:r>
            <a:r>
              <a:rPr lang="en-US" altLang="ko-KR" sz="1200" dirty="0">
                <a:solidFill>
                  <a:schemeClr val="tx1">
                    <a:lumMod val="50000"/>
                    <a:lumOff val="50000"/>
                  </a:schemeClr>
                </a:solidFill>
              </a:rPr>
              <a:t>131)</a:t>
            </a:r>
            <a:endParaRPr lang="ko-KR" altLang="en-US" sz="1200" dirty="0">
              <a:solidFill>
                <a:schemeClr val="tx1">
                  <a:lumMod val="50000"/>
                  <a:lumOff val="50000"/>
                </a:schemeClr>
              </a:solidFill>
            </a:endParaRPr>
          </a:p>
        </p:txBody>
      </p:sp>
      <p:sp>
        <p:nvSpPr>
          <p:cNvPr id="17" name="모서리가 둥근 직사각형 71">
            <a:extLst>
              <a:ext uri="{FF2B5EF4-FFF2-40B4-BE49-F238E27FC236}">
                <a16:creationId xmlns:a16="http://schemas.microsoft.com/office/drawing/2014/main" id="{3F363DC7-B1EC-31B2-C124-C7974BCAA93C}"/>
              </a:ext>
            </a:extLst>
          </p:cNvPr>
          <p:cNvSpPr/>
          <p:nvPr/>
        </p:nvSpPr>
        <p:spPr>
          <a:xfrm>
            <a:off x="4899414" y="5923180"/>
            <a:ext cx="2166674" cy="318812"/>
          </a:xfrm>
          <a:prstGeom prst="roundRect">
            <a:avLst/>
          </a:prstGeom>
          <a:solidFill>
            <a:schemeClr val="bg1">
              <a:lumMod val="95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lumMod val="50000"/>
                    <a:lumOff val="50000"/>
                  </a:schemeClr>
                </a:solidFill>
              </a:rPr>
              <a:t>부당이득반환청구</a:t>
            </a:r>
            <a:r>
              <a:rPr lang="en-US" altLang="ko-KR" sz="1200" dirty="0">
                <a:solidFill>
                  <a:schemeClr val="tx1">
                    <a:lumMod val="50000"/>
                    <a:lumOff val="50000"/>
                  </a:schemeClr>
                </a:solidFill>
              </a:rPr>
              <a:t>(</a:t>
            </a:r>
            <a:r>
              <a:rPr lang="ko-KR" altLang="en-US" sz="1200" dirty="0">
                <a:solidFill>
                  <a:schemeClr val="tx1">
                    <a:lumMod val="50000"/>
                    <a:lumOff val="50000"/>
                  </a:schemeClr>
                </a:solidFill>
              </a:rPr>
              <a:t>民法 </a:t>
            </a:r>
            <a:r>
              <a:rPr lang="en-US" altLang="ko-KR" sz="1200" dirty="0">
                <a:solidFill>
                  <a:schemeClr val="tx1">
                    <a:lumMod val="50000"/>
                    <a:lumOff val="50000"/>
                  </a:schemeClr>
                </a:solidFill>
              </a:rPr>
              <a:t>741)</a:t>
            </a:r>
            <a:endParaRPr lang="ko-KR" altLang="en-US" sz="1200" dirty="0">
              <a:solidFill>
                <a:schemeClr val="tx1">
                  <a:lumMod val="50000"/>
                  <a:lumOff val="50000"/>
                </a:schemeClr>
              </a:solidFill>
            </a:endParaRPr>
          </a:p>
        </p:txBody>
      </p:sp>
      <p:cxnSp>
        <p:nvCxnSpPr>
          <p:cNvPr id="42" name="직선 연결선 41">
            <a:extLst>
              <a:ext uri="{FF2B5EF4-FFF2-40B4-BE49-F238E27FC236}">
                <a16:creationId xmlns:a16="http://schemas.microsoft.com/office/drawing/2014/main" id="{C9B92DB0-0E1E-B17B-CEDA-20C6DD8A33D8}"/>
              </a:ext>
            </a:extLst>
          </p:cNvPr>
          <p:cNvCxnSpPr/>
          <p:nvPr/>
        </p:nvCxnSpPr>
        <p:spPr>
          <a:xfrm>
            <a:off x="9040396" y="4011354"/>
            <a:ext cx="0" cy="2694246"/>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17AA885F-F269-86E2-6EFA-D185A322F48E}"/>
              </a:ext>
            </a:extLst>
          </p:cNvPr>
          <p:cNvSpPr txBox="1"/>
          <p:nvPr/>
        </p:nvSpPr>
        <p:spPr>
          <a:xfrm>
            <a:off x="7978303" y="3677003"/>
            <a:ext cx="287258" cy="276999"/>
          </a:xfrm>
          <a:prstGeom prst="rect">
            <a:avLst/>
          </a:prstGeom>
          <a:noFill/>
        </p:spPr>
        <p:txBody>
          <a:bodyPr wrap="none" rtlCol="0">
            <a:spAutoFit/>
          </a:bodyPr>
          <a:lstStyle/>
          <a:p>
            <a:r>
              <a:rPr lang="en-US" altLang="ko-KR" sz="1200" dirty="0"/>
              <a:t>Y</a:t>
            </a:r>
            <a:endParaRPr lang="ko-KR" altLang="en-US" sz="1200" dirty="0"/>
          </a:p>
        </p:txBody>
      </p:sp>
      <p:sp>
        <p:nvSpPr>
          <p:cNvPr id="44" name="TextBox 43">
            <a:extLst>
              <a:ext uri="{FF2B5EF4-FFF2-40B4-BE49-F238E27FC236}">
                <a16:creationId xmlns:a16="http://schemas.microsoft.com/office/drawing/2014/main" id="{BEC4E259-721F-2922-F59D-C94AC6BDF5F6}"/>
              </a:ext>
            </a:extLst>
          </p:cNvPr>
          <p:cNvSpPr txBox="1"/>
          <p:nvPr/>
        </p:nvSpPr>
        <p:spPr>
          <a:xfrm>
            <a:off x="7699185" y="4282605"/>
            <a:ext cx="295274" cy="276999"/>
          </a:xfrm>
          <a:prstGeom prst="rect">
            <a:avLst/>
          </a:prstGeom>
          <a:noFill/>
        </p:spPr>
        <p:txBody>
          <a:bodyPr wrap="none" rtlCol="0">
            <a:spAutoFit/>
          </a:bodyPr>
          <a:lstStyle/>
          <a:p>
            <a:r>
              <a:rPr lang="en-US" altLang="ko-KR" sz="1200" dirty="0"/>
              <a:t>N</a:t>
            </a:r>
            <a:endParaRPr lang="ko-KR" altLang="en-US" sz="1200" dirty="0"/>
          </a:p>
        </p:txBody>
      </p:sp>
      <p:sp>
        <p:nvSpPr>
          <p:cNvPr id="45" name="TextBox 44">
            <a:extLst>
              <a:ext uri="{FF2B5EF4-FFF2-40B4-BE49-F238E27FC236}">
                <a16:creationId xmlns:a16="http://schemas.microsoft.com/office/drawing/2014/main" id="{52AEE407-244C-3547-AD3E-9148CC54B508}"/>
              </a:ext>
            </a:extLst>
          </p:cNvPr>
          <p:cNvSpPr txBox="1"/>
          <p:nvPr/>
        </p:nvSpPr>
        <p:spPr>
          <a:xfrm>
            <a:off x="8624507" y="4746230"/>
            <a:ext cx="832279" cy="523220"/>
          </a:xfrm>
          <a:prstGeom prst="rect">
            <a:avLst/>
          </a:prstGeom>
          <a:solidFill>
            <a:schemeClr val="bg1"/>
          </a:solidFill>
          <a:ln>
            <a:solidFill>
              <a:schemeClr val="bg1">
                <a:lumMod val="50000"/>
              </a:schemeClr>
            </a:solidFill>
          </a:ln>
        </p:spPr>
        <p:txBody>
          <a:bodyPr wrap="none" rtlCol="0">
            <a:spAutoFit/>
          </a:bodyPr>
          <a:lstStyle/>
          <a:p>
            <a:pPr algn="ctr"/>
            <a:r>
              <a:rPr lang="ko-KR" altLang="en-US" sz="1400" dirty="0"/>
              <a:t>특허권</a:t>
            </a:r>
            <a:endParaRPr lang="en-US" altLang="ko-KR" sz="1400" dirty="0"/>
          </a:p>
          <a:p>
            <a:pPr algn="ctr"/>
            <a:r>
              <a:rPr lang="ko-KR" altLang="en-US" sz="1400" dirty="0"/>
              <a:t>소급소멸</a:t>
            </a:r>
          </a:p>
        </p:txBody>
      </p:sp>
    </p:spTree>
    <p:extLst>
      <p:ext uri="{BB962C8B-B14F-4D97-AF65-F5344CB8AC3E}">
        <p14:creationId xmlns:p14="http://schemas.microsoft.com/office/powerpoint/2010/main" val="3988083410"/>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Line 5">
            <a:extLst>
              <a:ext uri="{FF2B5EF4-FFF2-40B4-BE49-F238E27FC236}">
                <a16:creationId xmlns:a16="http://schemas.microsoft.com/office/drawing/2014/main" id="{70A91388-ED13-53FC-6BE3-669C9A1CD547}"/>
              </a:ext>
            </a:extLst>
          </p:cNvPr>
          <p:cNvSpPr>
            <a:spLocks noChangeShapeType="1"/>
          </p:cNvSpPr>
          <p:nvPr/>
        </p:nvSpPr>
        <p:spPr bwMode="auto">
          <a:xfrm>
            <a:off x="7532756" y="4735195"/>
            <a:ext cx="4260175"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3" name="제목 2"/>
          <p:cNvSpPr>
            <a:spLocks noGrp="1"/>
          </p:cNvSpPr>
          <p:nvPr>
            <p:ph type="title"/>
          </p:nvPr>
        </p:nvSpPr>
        <p:spPr/>
        <p:txBody>
          <a:bodyPr/>
          <a:lstStyle/>
          <a:p>
            <a:r>
              <a:rPr lang="ko-KR" altLang="en-US" dirty="0"/>
              <a:t>제</a:t>
            </a:r>
            <a:r>
              <a:rPr lang="en-US" altLang="ko-KR" dirty="0"/>
              <a:t>133</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t>심결내용</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48" name="직선 연결선 47"/>
          <p:cNvCxnSpPr/>
          <p:nvPr/>
        </p:nvCxnSpPr>
        <p:spPr>
          <a:xfrm>
            <a:off x="77875" y="193399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77875" y="976902"/>
            <a:ext cx="11936323" cy="954107"/>
          </a:xfrm>
          <a:prstGeom prst="rect">
            <a:avLst/>
          </a:prstGeom>
          <a:noFill/>
        </p:spPr>
        <p:txBody>
          <a:bodyPr wrap="square" rtlCol="0">
            <a:spAutoFit/>
          </a:bodyPr>
          <a:lstStyle/>
          <a:p>
            <a:pPr fontAlgn="base"/>
            <a:r>
              <a:rPr lang="ko-KR" altLang="en-US" sz="1400" dirty="0">
                <a:solidFill>
                  <a:schemeClr val="tx2"/>
                </a:solidFill>
              </a:rPr>
              <a:t>심판관은 </a:t>
            </a:r>
            <a:r>
              <a:rPr lang="en-US" altLang="ko-KR" sz="1400" dirty="0">
                <a:solidFill>
                  <a:schemeClr val="tx2"/>
                </a:solidFill>
              </a:rPr>
              <a:t>ⅰ) </a:t>
            </a:r>
            <a:r>
              <a:rPr lang="ko-KR" altLang="en-US" sz="1400" dirty="0">
                <a:solidFill>
                  <a:schemeClr val="tx2"/>
                </a:solidFill>
              </a:rPr>
              <a:t>특허무효사유에 해당되지 아니하여 심판청구의 이유가 타당하지 않다고 인정된 때에는 </a:t>
            </a:r>
            <a:r>
              <a:rPr lang="ko-KR" altLang="en-US" sz="1400" dirty="0" err="1">
                <a:solidFill>
                  <a:schemeClr val="tx2"/>
                </a:solidFill>
              </a:rPr>
              <a:t>기각심결을</a:t>
            </a:r>
            <a:r>
              <a:rPr lang="ko-KR" altLang="en-US" sz="1400" dirty="0">
                <a:solidFill>
                  <a:schemeClr val="tx2"/>
                </a:solidFill>
              </a:rPr>
              <a:t> 하며</a:t>
            </a:r>
            <a:r>
              <a:rPr lang="en-US" altLang="ko-KR" sz="1400" dirty="0">
                <a:solidFill>
                  <a:schemeClr val="tx2"/>
                </a:solidFill>
              </a:rPr>
              <a:t>, ⅱ) </a:t>
            </a:r>
            <a:r>
              <a:rPr lang="ko-KR" altLang="en-US" sz="1400" dirty="0">
                <a:solidFill>
                  <a:schemeClr val="tx2"/>
                </a:solidFill>
              </a:rPr>
              <a:t>특허무효사유에 해당되어 심판청구의 이유가 타당하다고 인정된 때에는 </a:t>
            </a:r>
            <a:r>
              <a:rPr lang="ko-KR" altLang="en-US" sz="1400" dirty="0" err="1">
                <a:solidFill>
                  <a:schemeClr val="tx2"/>
                </a:solidFill>
              </a:rPr>
              <a:t>인용심결을</a:t>
            </a:r>
            <a:r>
              <a:rPr lang="ko-KR" altLang="en-US" sz="1400" dirty="0">
                <a:solidFill>
                  <a:schemeClr val="tx2"/>
                </a:solidFill>
              </a:rPr>
              <a:t> 하여야 한다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t>
            </a:r>
            <a:r>
              <a:rPr lang="ko-KR" altLang="en-US" sz="1400" dirty="0">
                <a:solidFill>
                  <a:schemeClr val="tx2"/>
                </a:solidFill>
              </a:rPr>
              <a:t>심판관은 특허무효심판을 청구한 여러 </a:t>
            </a:r>
            <a:r>
              <a:rPr lang="ko-KR" altLang="en-US" sz="1400" dirty="0" err="1">
                <a:solidFill>
                  <a:schemeClr val="tx2"/>
                </a:solidFill>
              </a:rPr>
              <a:t>청구항</a:t>
            </a:r>
            <a:r>
              <a:rPr lang="ko-KR" altLang="en-US" sz="1400" dirty="0">
                <a:solidFill>
                  <a:schemeClr val="tx2"/>
                </a:solidFill>
              </a:rPr>
              <a:t> 중 일부 </a:t>
            </a:r>
            <a:r>
              <a:rPr lang="ko-KR" altLang="en-US" sz="1400" dirty="0" err="1">
                <a:solidFill>
                  <a:schemeClr val="tx2"/>
                </a:solidFill>
              </a:rPr>
              <a:t>청구항에</a:t>
            </a:r>
            <a:r>
              <a:rPr lang="ko-KR" altLang="en-US" sz="1400" dirty="0">
                <a:solidFill>
                  <a:schemeClr val="tx2"/>
                </a:solidFill>
              </a:rPr>
              <a:t> 대해서만 특허무효사유가 있는 경우 </a:t>
            </a:r>
            <a:r>
              <a:rPr lang="ko-KR" altLang="en-US" sz="1400" dirty="0" err="1">
                <a:highlight>
                  <a:srgbClr val="FFFF00"/>
                </a:highlight>
              </a:rPr>
              <a:t>일부인용ㆍ일부기각</a:t>
            </a:r>
            <a:r>
              <a:rPr lang="ko-KR" altLang="en-US" sz="1400" dirty="0" err="1">
                <a:solidFill>
                  <a:schemeClr val="tx2"/>
                </a:solidFill>
              </a:rPr>
              <a:t>심결을</a:t>
            </a:r>
            <a:r>
              <a:rPr lang="ko-KR" altLang="en-US" sz="1400" dirty="0">
                <a:solidFill>
                  <a:schemeClr val="tx2"/>
                </a:solidFill>
              </a:rPr>
              <a:t> 할 수 있다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하나의 </a:t>
            </a:r>
            <a:r>
              <a:rPr lang="ko-KR" altLang="en-US" sz="1400" dirty="0" err="1">
                <a:solidFill>
                  <a:schemeClr val="tx2"/>
                </a:solidFill>
              </a:rPr>
              <a:t>청구항에</a:t>
            </a:r>
            <a:r>
              <a:rPr lang="ko-KR" altLang="en-US" sz="1400" dirty="0">
                <a:solidFill>
                  <a:schemeClr val="tx2"/>
                </a:solidFill>
              </a:rPr>
              <a:t> 여러 개의 발명이 포함되어 있고 그 중 일부가 무효라면 </a:t>
            </a:r>
            <a:r>
              <a:rPr lang="ko-KR" altLang="en-US" sz="1400" dirty="0">
                <a:highlight>
                  <a:srgbClr val="FFFF00"/>
                </a:highlight>
              </a:rPr>
              <a:t>그 </a:t>
            </a:r>
            <a:r>
              <a:rPr lang="ko-KR" altLang="en-US" sz="1400" dirty="0" err="1">
                <a:highlight>
                  <a:srgbClr val="FFFF00"/>
                </a:highlight>
              </a:rPr>
              <a:t>청구항</a:t>
            </a:r>
            <a:r>
              <a:rPr lang="ko-KR" altLang="en-US" sz="1400" dirty="0">
                <a:highlight>
                  <a:srgbClr val="FFFF00"/>
                </a:highlight>
              </a:rPr>
              <a:t> 전체를 무효</a:t>
            </a:r>
            <a:r>
              <a:rPr lang="ko-KR" altLang="en-US" sz="1400" dirty="0">
                <a:solidFill>
                  <a:schemeClr val="tx2"/>
                </a:solidFill>
              </a:rPr>
              <a:t>로 하여야 하는 것이지 </a:t>
            </a:r>
            <a:r>
              <a:rPr lang="ko-KR" altLang="en-US" sz="1400" dirty="0" err="1">
                <a:solidFill>
                  <a:schemeClr val="tx2"/>
                </a:solidFill>
              </a:rPr>
              <a:t>청구항에</a:t>
            </a:r>
            <a:r>
              <a:rPr lang="ko-KR" altLang="en-US" sz="1400" dirty="0">
                <a:solidFill>
                  <a:schemeClr val="tx2"/>
                </a:solidFill>
              </a:rPr>
              <a:t> 포함된 일부 발명만을 무효로 할 수는 없다</a:t>
            </a:r>
            <a:r>
              <a:rPr lang="en-US" altLang="ko-KR" sz="1400" dirty="0">
                <a:solidFill>
                  <a:schemeClr val="tx2"/>
                </a:solidFill>
              </a:rPr>
              <a:t>.</a:t>
            </a:r>
            <a:endParaRPr lang="ko-KR" altLang="en-US" sz="1400" dirty="0">
              <a:solidFill>
                <a:schemeClr val="tx2"/>
              </a:solidFill>
            </a:endParaRPr>
          </a:p>
        </p:txBody>
      </p:sp>
      <p:sp>
        <p:nvSpPr>
          <p:cNvPr id="54" name="Line 5"/>
          <p:cNvSpPr>
            <a:spLocks noChangeShapeType="1"/>
          </p:cNvSpPr>
          <p:nvPr/>
        </p:nvSpPr>
        <p:spPr bwMode="auto">
          <a:xfrm>
            <a:off x="328662" y="2796894"/>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55" name="TextBox 54"/>
          <p:cNvSpPr txBox="1"/>
          <p:nvPr/>
        </p:nvSpPr>
        <p:spPr>
          <a:xfrm>
            <a:off x="485189" y="2641516"/>
            <a:ext cx="1326678" cy="326558"/>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공지기술</a:t>
            </a:r>
            <a:endParaRPr lang="en-US" altLang="ko-KR" sz="1400" dirty="0">
              <a:solidFill>
                <a:schemeClr val="tx1"/>
              </a:solidFill>
              <a:latin typeface="+mn-ea"/>
            </a:endParaRPr>
          </a:p>
        </p:txBody>
      </p:sp>
      <p:sp>
        <p:nvSpPr>
          <p:cNvPr id="94" name="TextBox 93"/>
          <p:cNvSpPr txBox="1"/>
          <p:nvPr/>
        </p:nvSpPr>
        <p:spPr>
          <a:xfrm>
            <a:off x="2551055" y="2641516"/>
            <a:ext cx="1326678"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a:solidFill>
                  <a:schemeClr val="tx1"/>
                </a:solidFill>
                <a:latin typeface="+mn-ea"/>
              </a:rPr>
              <a:t>특허출원</a:t>
            </a:r>
            <a:endParaRPr lang="en-US" altLang="ko-KR" sz="1400" dirty="0">
              <a:solidFill>
                <a:schemeClr val="tx1"/>
              </a:solidFill>
              <a:latin typeface="+mn-ea"/>
            </a:endParaRPr>
          </a:p>
        </p:txBody>
      </p:sp>
      <p:sp>
        <p:nvSpPr>
          <p:cNvPr id="95" name="TextBox 94"/>
          <p:cNvSpPr txBox="1"/>
          <p:nvPr/>
        </p:nvSpPr>
        <p:spPr>
          <a:xfrm>
            <a:off x="4879401" y="2641516"/>
            <a:ext cx="1326678"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a:solidFill>
                  <a:schemeClr val="tx1"/>
                </a:solidFill>
                <a:latin typeface="+mn-ea"/>
              </a:rPr>
              <a:t>설정등록</a:t>
            </a:r>
            <a:endParaRPr lang="en-US" altLang="ko-KR" sz="1400" dirty="0">
              <a:solidFill>
                <a:schemeClr val="tx1"/>
              </a:solidFill>
              <a:latin typeface="+mn-ea"/>
            </a:endParaRPr>
          </a:p>
        </p:txBody>
      </p:sp>
      <p:sp>
        <p:nvSpPr>
          <p:cNvPr id="96" name="TextBox 95"/>
          <p:cNvSpPr txBox="1"/>
          <p:nvPr/>
        </p:nvSpPr>
        <p:spPr>
          <a:xfrm>
            <a:off x="6792868" y="2641516"/>
            <a:ext cx="1326678" cy="326558"/>
          </a:xfrm>
          <a:prstGeom prst="rect">
            <a:avLst/>
          </a:prstGeom>
          <a:solidFill>
            <a:schemeClr val="accent2"/>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무효심판청구</a:t>
            </a:r>
            <a:endParaRPr lang="en-US" altLang="ko-KR" sz="1400" dirty="0">
              <a:solidFill>
                <a:schemeClr val="tx1"/>
              </a:solidFill>
              <a:latin typeface="+mn-ea"/>
            </a:endParaRPr>
          </a:p>
        </p:txBody>
      </p:sp>
      <p:sp>
        <p:nvSpPr>
          <p:cNvPr id="97" name="TextBox 96"/>
          <p:cNvSpPr txBox="1"/>
          <p:nvPr/>
        </p:nvSpPr>
        <p:spPr>
          <a:xfrm>
            <a:off x="8880282" y="2641516"/>
            <a:ext cx="1326678" cy="326558"/>
          </a:xfrm>
          <a:prstGeom prst="rect">
            <a:avLst/>
          </a:prstGeom>
          <a:solidFill>
            <a:schemeClr val="accent2"/>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심결</a:t>
            </a:r>
            <a:endParaRPr lang="en-US" altLang="ko-KR" sz="1400" dirty="0">
              <a:solidFill>
                <a:schemeClr val="tx1"/>
              </a:solidFill>
              <a:latin typeface="+mn-ea"/>
            </a:endParaRPr>
          </a:p>
        </p:txBody>
      </p:sp>
      <p:sp>
        <p:nvSpPr>
          <p:cNvPr id="15" name="TextBox 14"/>
          <p:cNvSpPr txBox="1"/>
          <p:nvPr/>
        </p:nvSpPr>
        <p:spPr>
          <a:xfrm>
            <a:off x="485189" y="3242711"/>
            <a:ext cx="1326678" cy="338554"/>
          </a:xfrm>
          <a:prstGeom prst="rect">
            <a:avLst/>
          </a:prstGeom>
          <a:noFill/>
          <a:ln>
            <a:solidFill>
              <a:schemeClr val="bg1">
                <a:lumMod val="50000"/>
              </a:schemeClr>
            </a:solidFill>
          </a:ln>
        </p:spPr>
        <p:txBody>
          <a:bodyPr wrap="square" rtlCol="0">
            <a:spAutoFit/>
          </a:bodyPr>
          <a:lstStyle/>
          <a:p>
            <a:pPr algn="ctr"/>
            <a:r>
              <a:rPr lang="en-US" altLang="ko-KR" sz="1600" dirty="0" err="1"/>
              <a:t>abc</a:t>
            </a:r>
            <a:endParaRPr lang="ko-KR" altLang="en-US" sz="1600" dirty="0"/>
          </a:p>
        </p:txBody>
      </p:sp>
      <p:sp>
        <p:nvSpPr>
          <p:cNvPr id="98" name="TextBox 97"/>
          <p:cNvSpPr txBox="1"/>
          <p:nvPr/>
        </p:nvSpPr>
        <p:spPr>
          <a:xfrm>
            <a:off x="2551055" y="3242711"/>
            <a:ext cx="2866490" cy="830997"/>
          </a:xfrm>
          <a:prstGeom prst="rect">
            <a:avLst/>
          </a:prstGeom>
          <a:noFill/>
          <a:ln>
            <a:solidFill>
              <a:schemeClr val="bg1">
                <a:lumMod val="50000"/>
              </a:schemeClr>
            </a:solidFill>
          </a:ln>
        </p:spPr>
        <p:txBody>
          <a:bodyPr wrap="none" rtlCol="0">
            <a:spAutoFit/>
          </a:bodyPr>
          <a:lstStyle/>
          <a:p>
            <a:pPr marL="342900" indent="-342900">
              <a:buAutoNum type="arabicPeriod"/>
            </a:pPr>
            <a:r>
              <a:rPr lang="en-US" altLang="ko-KR" sz="1600" dirty="0" err="1"/>
              <a:t>ab</a:t>
            </a:r>
            <a:endParaRPr lang="en-US" altLang="ko-KR" sz="1600" dirty="0"/>
          </a:p>
          <a:p>
            <a:pPr marL="342900" indent="-342900">
              <a:buAutoNum type="arabicPeriod"/>
            </a:pPr>
            <a:r>
              <a:rPr lang="en-US" altLang="ko-KR" sz="1600" dirty="0"/>
              <a:t>1</a:t>
            </a:r>
            <a:r>
              <a:rPr lang="ko-KR" altLang="en-US" sz="1600" dirty="0"/>
              <a:t>항에 있어서</a:t>
            </a:r>
            <a:r>
              <a:rPr lang="en-US" altLang="ko-KR" sz="1600" dirty="0"/>
              <a:t>, c </a:t>
            </a:r>
            <a:r>
              <a:rPr lang="ko-KR" altLang="en-US" sz="1600" dirty="0"/>
              <a:t>또는 </a:t>
            </a:r>
            <a:r>
              <a:rPr lang="en-US" altLang="ko-KR" sz="1600" dirty="0"/>
              <a:t>d </a:t>
            </a:r>
            <a:r>
              <a:rPr lang="ko-KR" altLang="en-US" sz="1600" dirty="0"/>
              <a:t>추가</a:t>
            </a:r>
            <a:endParaRPr lang="en-US" altLang="ko-KR" sz="1600" dirty="0"/>
          </a:p>
          <a:p>
            <a:pPr marL="342900" indent="-342900">
              <a:buAutoNum type="arabicPeriod"/>
            </a:pPr>
            <a:r>
              <a:rPr lang="en-US" altLang="ko-KR" sz="1600" dirty="0" err="1"/>
              <a:t>abe</a:t>
            </a:r>
            <a:endParaRPr lang="en-US" altLang="ko-KR" sz="1600" dirty="0"/>
          </a:p>
        </p:txBody>
      </p:sp>
      <p:cxnSp>
        <p:nvCxnSpPr>
          <p:cNvPr id="17" name="직선 화살표 연결선 16"/>
          <p:cNvCxnSpPr>
            <a:stCxn id="15" idx="0"/>
            <a:endCxn id="55" idx="2"/>
          </p:cNvCxnSpPr>
          <p:nvPr/>
        </p:nvCxnSpPr>
        <p:spPr>
          <a:xfrm flipV="1">
            <a:off x="1148528" y="2968074"/>
            <a:ext cx="0" cy="274637"/>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9" name="직선 화살표 연결선 98"/>
          <p:cNvCxnSpPr/>
          <p:nvPr/>
        </p:nvCxnSpPr>
        <p:spPr>
          <a:xfrm flipV="1">
            <a:off x="3214394" y="2968074"/>
            <a:ext cx="0" cy="274637"/>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0" name="TextBox 99"/>
          <p:cNvSpPr txBox="1"/>
          <p:nvPr/>
        </p:nvSpPr>
        <p:spPr>
          <a:xfrm>
            <a:off x="9100424" y="3242711"/>
            <a:ext cx="899605" cy="830997"/>
          </a:xfrm>
          <a:prstGeom prst="rect">
            <a:avLst/>
          </a:prstGeom>
          <a:noFill/>
          <a:ln>
            <a:solidFill>
              <a:schemeClr val="bg1">
                <a:lumMod val="50000"/>
              </a:schemeClr>
            </a:solidFill>
          </a:ln>
        </p:spPr>
        <p:txBody>
          <a:bodyPr wrap="none" rtlCol="0">
            <a:spAutoFit/>
          </a:bodyPr>
          <a:lstStyle/>
          <a:p>
            <a:pPr marL="342900" indent="-342900">
              <a:buAutoNum type="arabicPeriod"/>
            </a:pPr>
            <a:r>
              <a:rPr lang="ko-KR" altLang="en-US" sz="1600" dirty="0"/>
              <a:t>무효</a:t>
            </a:r>
            <a:endParaRPr lang="en-US" altLang="ko-KR" sz="1600" dirty="0"/>
          </a:p>
          <a:p>
            <a:pPr marL="342900" indent="-342900">
              <a:buAutoNum type="arabicPeriod"/>
            </a:pPr>
            <a:r>
              <a:rPr lang="ko-KR" altLang="en-US" sz="1600" dirty="0"/>
              <a:t>무효</a:t>
            </a:r>
            <a:endParaRPr lang="en-US" altLang="ko-KR" sz="1600" dirty="0"/>
          </a:p>
          <a:p>
            <a:pPr marL="342900" indent="-342900">
              <a:buAutoNum type="arabicPeriod"/>
            </a:pPr>
            <a:r>
              <a:rPr lang="ko-KR" altLang="en-US" sz="1600" dirty="0"/>
              <a:t>기각</a:t>
            </a:r>
            <a:endParaRPr lang="en-US" altLang="ko-KR" sz="1600" dirty="0"/>
          </a:p>
        </p:txBody>
      </p:sp>
      <p:cxnSp>
        <p:nvCxnSpPr>
          <p:cNvPr id="103" name="직선 화살표 연결선 102"/>
          <p:cNvCxnSpPr/>
          <p:nvPr/>
        </p:nvCxnSpPr>
        <p:spPr>
          <a:xfrm flipV="1">
            <a:off x="9543621" y="2968074"/>
            <a:ext cx="0" cy="274637"/>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6" name="TextBox 105"/>
          <p:cNvSpPr txBox="1"/>
          <p:nvPr/>
        </p:nvSpPr>
        <p:spPr>
          <a:xfrm>
            <a:off x="6206079" y="4571916"/>
            <a:ext cx="1326678" cy="326558"/>
          </a:xfrm>
          <a:prstGeom prst="rect">
            <a:avLst/>
          </a:prstGeom>
          <a:solidFill>
            <a:schemeClr val="bg2"/>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정정청구</a:t>
            </a:r>
            <a:endParaRPr lang="en-US" altLang="ko-KR" sz="1400" dirty="0">
              <a:solidFill>
                <a:schemeClr val="tx1"/>
              </a:solidFill>
              <a:latin typeface="+mn-ea"/>
            </a:endParaRPr>
          </a:p>
        </p:txBody>
      </p:sp>
      <p:sp>
        <p:nvSpPr>
          <p:cNvPr id="107" name="TextBox 106"/>
          <p:cNvSpPr txBox="1"/>
          <p:nvPr/>
        </p:nvSpPr>
        <p:spPr>
          <a:xfrm>
            <a:off x="6392353" y="5164644"/>
            <a:ext cx="952505" cy="830997"/>
          </a:xfrm>
          <a:prstGeom prst="rect">
            <a:avLst/>
          </a:prstGeom>
          <a:noFill/>
          <a:ln>
            <a:solidFill>
              <a:schemeClr val="bg1">
                <a:lumMod val="50000"/>
              </a:schemeClr>
            </a:solidFill>
          </a:ln>
        </p:spPr>
        <p:txBody>
          <a:bodyPr wrap="none" rtlCol="0">
            <a:spAutoFit/>
          </a:bodyPr>
          <a:lstStyle/>
          <a:p>
            <a:pPr marL="342900" indent="-342900">
              <a:buAutoNum type="arabicPeriod"/>
            </a:pPr>
            <a:r>
              <a:rPr lang="en-US" altLang="ko-KR" sz="1600" dirty="0" err="1"/>
              <a:t>ab</a:t>
            </a:r>
            <a:endParaRPr lang="en-US" altLang="ko-KR" sz="1600" dirty="0"/>
          </a:p>
          <a:p>
            <a:pPr marL="342900" indent="-342900">
              <a:buAutoNum type="arabicPeriod"/>
            </a:pPr>
            <a:r>
              <a:rPr lang="en-US" altLang="ko-KR" sz="1600" dirty="0" err="1"/>
              <a:t>abd</a:t>
            </a:r>
            <a:r>
              <a:rPr lang="en-US" altLang="ko-KR" sz="1600" dirty="0"/>
              <a:t> </a:t>
            </a:r>
          </a:p>
          <a:p>
            <a:pPr marL="342900" indent="-342900">
              <a:buAutoNum type="arabicPeriod"/>
            </a:pPr>
            <a:r>
              <a:rPr lang="en-US" altLang="ko-KR" sz="1600" dirty="0" err="1"/>
              <a:t>abe</a:t>
            </a:r>
            <a:endParaRPr lang="en-US" altLang="ko-KR" sz="1600" dirty="0"/>
          </a:p>
        </p:txBody>
      </p:sp>
      <p:cxnSp>
        <p:nvCxnSpPr>
          <p:cNvPr id="108" name="직선 화살표 연결선 107"/>
          <p:cNvCxnSpPr/>
          <p:nvPr/>
        </p:nvCxnSpPr>
        <p:spPr>
          <a:xfrm flipV="1">
            <a:off x="6869418" y="4890007"/>
            <a:ext cx="0" cy="274637"/>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106" idx="0"/>
          </p:cNvCxnSpPr>
          <p:nvPr/>
        </p:nvCxnSpPr>
        <p:spPr>
          <a:xfrm rot="5400000" flipH="1" flipV="1">
            <a:off x="6801698" y="2864614"/>
            <a:ext cx="1775022" cy="1639582"/>
          </a:xfrm>
          <a:prstGeom prst="bentConnector3">
            <a:avLst/>
          </a:prstGeom>
          <a:ln w="38100">
            <a:solidFill>
              <a:schemeClr val="accent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9" name="TextBox 108"/>
          <p:cNvSpPr txBox="1"/>
          <p:nvPr/>
        </p:nvSpPr>
        <p:spPr>
          <a:xfrm>
            <a:off x="8880282" y="4571916"/>
            <a:ext cx="1326678" cy="326558"/>
          </a:xfrm>
          <a:prstGeom prst="rect">
            <a:avLst/>
          </a:prstGeom>
          <a:solidFill>
            <a:schemeClr val="accent2"/>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심결</a:t>
            </a:r>
            <a:endParaRPr lang="en-US" altLang="ko-KR" sz="1400" dirty="0">
              <a:solidFill>
                <a:schemeClr val="tx1"/>
              </a:solidFill>
              <a:latin typeface="+mn-ea"/>
            </a:endParaRPr>
          </a:p>
        </p:txBody>
      </p:sp>
      <p:sp>
        <p:nvSpPr>
          <p:cNvPr id="110" name="TextBox 109"/>
          <p:cNvSpPr txBox="1"/>
          <p:nvPr/>
        </p:nvSpPr>
        <p:spPr>
          <a:xfrm>
            <a:off x="9100424" y="5173111"/>
            <a:ext cx="899605" cy="830997"/>
          </a:xfrm>
          <a:prstGeom prst="rect">
            <a:avLst/>
          </a:prstGeom>
          <a:noFill/>
          <a:ln>
            <a:solidFill>
              <a:schemeClr val="bg1">
                <a:lumMod val="50000"/>
              </a:schemeClr>
            </a:solidFill>
          </a:ln>
        </p:spPr>
        <p:txBody>
          <a:bodyPr wrap="none" rtlCol="0">
            <a:spAutoFit/>
          </a:bodyPr>
          <a:lstStyle/>
          <a:p>
            <a:pPr marL="342900" indent="-342900">
              <a:buAutoNum type="arabicPeriod"/>
            </a:pPr>
            <a:r>
              <a:rPr lang="ko-KR" altLang="en-US" sz="1600" dirty="0"/>
              <a:t>무효</a:t>
            </a:r>
            <a:endParaRPr lang="en-US" altLang="ko-KR" sz="1600" dirty="0"/>
          </a:p>
          <a:p>
            <a:pPr marL="342900" indent="-342900">
              <a:buAutoNum type="arabicPeriod"/>
            </a:pPr>
            <a:r>
              <a:rPr lang="ko-KR" altLang="en-US" sz="1600" dirty="0"/>
              <a:t>기각</a:t>
            </a:r>
            <a:endParaRPr lang="en-US" altLang="ko-KR" sz="1600" dirty="0"/>
          </a:p>
          <a:p>
            <a:pPr marL="342900" indent="-342900">
              <a:buAutoNum type="arabicPeriod"/>
            </a:pPr>
            <a:r>
              <a:rPr lang="ko-KR" altLang="en-US" sz="1600" dirty="0"/>
              <a:t>기각</a:t>
            </a:r>
            <a:endParaRPr lang="en-US" altLang="ko-KR" sz="1600" dirty="0"/>
          </a:p>
        </p:txBody>
      </p:sp>
      <p:cxnSp>
        <p:nvCxnSpPr>
          <p:cNvPr id="111" name="직선 화살표 연결선 110"/>
          <p:cNvCxnSpPr/>
          <p:nvPr/>
        </p:nvCxnSpPr>
        <p:spPr>
          <a:xfrm flipV="1">
            <a:off x="9543621" y="4898474"/>
            <a:ext cx="0" cy="274637"/>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2" name="직선 연결선 111"/>
          <p:cNvCxnSpPr/>
          <p:nvPr/>
        </p:nvCxnSpPr>
        <p:spPr>
          <a:xfrm flipH="1">
            <a:off x="5689600" y="4318961"/>
            <a:ext cx="6145843"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88AE4795-3F34-4FC5-B899-C7CDB2097D63}"/>
              </a:ext>
            </a:extLst>
          </p:cNvPr>
          <p:cNvSpPr txBox="1"/>
          <p:nvPr/>
        </p:nvSpPr>
        <p:spPr>
          <a:xfrm>
            <a:off x="328662" y="5938486"/>
            <a:ext cx="3316934" cy="369332"/>
          </a:xfrm>
          <a:prstGeom prst="rect">
            <a:avLst/>
          </a:prstGeom>
          <a:noFill/>
        </p:spPr>
        <p:txBody>
          <a:bodyPr wrap="none" rtlCol="0">
            <a:spAutoFit/>
          </a:bodyPr>
          <a:lstStyle/>
          <a:p>
            <a:r>
              <a:rPr lang="en-US" altLang="ko-KR" dirty="0"/>
              <a:t>* </a:t>
            </a:r>
            <a:r>
              <a:rPr lang="en-US" altLang="ko-KR" dirty="0" err="1"/>
              <a:t>abd</a:t>
            </a:r>
            <a:r>
              <a:rPr lang="en-US" altLang="ko-KR" dirty="0"/>
              <a:t>, </a:t>
            </a:r>
            <a:r>
              <a:rPr lang="en-US" altLang="ko-KR" dirty="0" err="1"/>
              <a:t>abe</a:t>
            </a:r>
            <a:r>
              <a:rPr lang="ko-KR" altLang="en-US" dirty="0"/>
              <a:t>는 무효사유가 </a:t>
            </a:r>
            <a:r>
              <a:rPr lang="ko-KR" altLang="en-US" dirty="0" err="1"/>
              <a:t>부존재</a:t>
            </a:r>
            <a:endParaRPr lang="ko-KR" altLang="en-US" dirty="0"/>
          </a:p>
        </p:txBody>
      </p:sp>
    </p:spTree>
    <p:extLst>
      <p:ext uri="{BB962C8B-B14F-4D97-AF65-F5344CB8AC3E}">
        <p14:creationId xmlns:p14="http://schemas.microsoft.com/office/powerpoint/2010/main" val="54913456"/>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133</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t>인용심결확정의</a:t>
            </a:r>
            <a:r>
              <a:rPr lang="ko-KR" altLang="en-US" dirty="0"/>
              <a:t> 효과</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48" name="직선 연결선 47"/>
          <p:cNvCxnSpPr/>
          <p:nvPr/>
        </p:nvCxnSpPr>
        <p:spPr>
          <a:xfrm>
            <a:off x="77875" y="171556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77875" y="976902"/>
            <a:ext cx="11936323" cy="738664"/>
          </a:xfrm>
          <a:prstGeom prst="rect">
            <a:avLst/>
          </a:prstGeom>
          <a:noFill/>
        </p:spPr>
        <p:txBody>
          <a:bodyPr wrap="square" rtlCol="0">
            <a:spAutoFit/>
          </a:bodyPr>
          <a:lstStyle/>
          <a:p>
            <a:pPr fontAlgn="base"/>
            <a:r>
              <a:rPr lang="ko-KR" altLang="en-US" sz="1400" dirty="0">
                <a:solidFill>
                  <a:schemeClr val="tx2"/>
                </a:solidFill>
              </a:rPr>
              <a:t>특허를 무효로 한다는 </a:t>
            </a:r>
            <a:r>
              <a:rPr lang="ko-KR" altLang="en-US" sz="1400" dirty="0" err="1">
                <a:solidFill>
                  <a:schemeClr val="tx2"/>
                </a:solidFill>
              </a:rPr>
              <a:t>심결이</a:t>
            </a:r>
            <a:r>
              <a:rPr lang="ko-KR" altLang="en-US" sz="1400" dirty="0">
                <a:solidFill>
                  <a:schemeClr val="tx2"/>
                </a:solidFill>
              </a:rPr>
              <a:t> 확정된 경우에는 그 특허권은 처음부터 없었던 것으로 본다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133</a:t>
            </a:r>
            <a:r>
              <a:rPr lang="ko-KR" altLang="en-US" sz="1400" dirty="0">
                <a:solidFill>
                  <a:schemeClr val="tx2"/>
                </a:solidFill>
              </a:rPr>
              <a:t>①본문</a:t>
            </a:r>
            <a:r>
              <a:rPr lang="en-US" altLang="ko-KR" sz="1400" dirty="0">
                <a:solidFill>
                  <a:schemeClr val="tx2"/>
                </a:solidFill>
              </a:rPr>
              <a:t>). </a:t>
            </a:r>
            <a:r>
              <a:rPr lang="ko-KR" altLang="en-US" sz="1400" dirty="0">
                <a:solidFill>
                  <a:schemeClr val="tx2"/>
                </a:solidFill>
              </a:rPr>
              <a:t>그러나 후발적 무효사유 즉</a:t>
            </a:r>
            <a:r>
              <a:rPr lang="en-US" altLang="ko-KR" sz="1400" dirty="0">
                <a:solidFill>
                  <a:schemeClr val="tx2"/>
                </a:solidFill>
              </a:rPr>
              <a:t>, </a:t>
            </a:r>
            <a:r>
              <a:rPr lang="ko-KR" altLang="en-US" sz="1400" dirty="0">
                <a:solidFill>
                  <a:schemeClr val="tx2"/>
                </a:solidFill>
              </a:rPr>
              <a:t>특허된 후에 특허권자가 제</a:t>
            </a:r>
            <a:r>
              <a:rPr lang="en-US" altLang="ko-KR" sz="1400" dirty="0">
                <a:solidFill>
                  <a:schemeClr val="tx2"/>
                </a:solidFill>
              </a:rPr>
              <a:t>25</a:t>
            </a:r>
            <a:r>
              <a:rPr lang="ko-KR" altLang="en-US" sz="1400" dirty="0">
                <a:solidFill>
                  <a:schemeClr val="tx2"/>
                </a:solidFill>
              </a:rPr>
              <a:t>조</a:t>
            </a:r>
            <a:r>
              <a:rPr lang="en-US" altLang="ko-KR" sz="1400" dirty="0">
                <a:solidFill>
                  <a:schemeClr val="tx2"/>
                </a:solidFill>
              </a:rPr>
              <a:t>(</a:t>
            </a:r>
            <a:r>
              <a:rPr lang="ko-KR" altLang="en-US" sz="1400" dirty="0">
                <a:solidFill>
                  <a:schemeClr val="tx2"/>
                </a:solidFill>
              </a:rPr>
              <a:t>외국인의 권리능력</a:t>
            </a:r>
            <a:r>
              <a:rPr lang="en-US" altLang="ko-KR" sz="1400" dirty="0">
                <a:solidFill>
                  <a:schemeClr val="tx2"/>
                </a:solidFill>
              </a:rPr>
              <a:t>)</a:t>
            </a:r>
            <a:r>
              <a:rPr lang="ko-KR" altLang="en-US" sz="1400" dirty="0">
                <a:solidFill>
                  <a:schemeClr val="tx2"/>
                </a:solidFill>
              </a:rPr>
              <a:t>에 따라 특허권을 누릴 수 없는 자가 되거나 그 특허가 조약을 위반하여 </a:t>
            </a:r>
            <a:r>
              <a:rPr lang="ko-KR" altLang="en-US" sz="1400" dirty="0" err="1">
                <a:solidFill>
                  <a:schemeClr val="tx2"/>
                </a:solidFill>
              </a:rPr>
              <a:t>무효심결이</a:t>
            </a:r>
            <a:r>
              <a:rPr lang="ko-KR" altLang="en-US" sz="1400" dirty="0">
                <a:solidFill>
                  <a:schemeClr val="tx2"/>
                </a:solidFill>
              </a:rPr>
              <a:t> 확정된 경우에는 소급효가 인정되지 않고</a:t>
            </a:r>
            <a:r>
              <a:rPr lang="en-US" altLang="ko-KR" sz="1400" dirty="0">
                <a:solidFill>
                  <a:schemeClr val="tx2"/>
                </a:solidFill>
              </a:rPr>
              <a:t>, </a:t>
            </a:r>
            <a:r>
              <a:rPr lang="ko-KR" altLang="en-US" sz="1400" dirty="0">
                <a:solidFill>
                  <a:schemeClr val="tx2"/>
                </a:solidFill>
              </a:rPr>
              <a:t>특허권은 그 특허가 무효사유에 해당하게 된 때부터 없었던 것으로 본다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133</a:t>
            </a:r>
            <a:r>
              <a:rPr lang="ko-KR" altLang="en-US" sz="1400" dirty="0">
                <a:solidFill>
                  <a:schemeClr val="tx2"/>
                </a:solidFill>
              </a:rPr>
              <a:t>③단서</a:t>
            </a:r>
            <a:r>
              <a:rPr lang="en-US" altLang="ko-KR" sz="1400" dirty="0">
                <a:solidFill>
                  <a:schemeClr val="tx2"/>
                </a:solidFill>
              </a:rPr>
              <a:t>).</a:t>
            </a:r>
            <a:endParaRPr lang="ko-KR" altLang="en-US" sz="1400" dirty="0">
              <a:solidFill>
                <a:schemeClr val="tx2"/>
              </a:solidFill>
            </a:endParaRPr>
          </a:p>
        </p:txBody>
      </p:sp>
      <p:sp>
        <p:nvSpPr>
          <p:cNvPr id="27" name="직사각형 26"/>
          <p:cNvSpPr/>
          <p:nvPr/>
        </p:nvSpPr>
        <p:spPr bwMode="auto">
          <a:xfrm>
            <a:off x="3753687" y="1981206"/>
            <a:ext cx="7379980" cy="2231012"/>
          </a:xfrm>
          <a:prstGeom prst="rect">
            <a:avLst/>
          </a:prstGeom>
          <a:solidFill>
            <a:schemeClr val="accent5">
              <a:lumMod val="20000"/>
              <a:lumOff val="80000"/>
            </a:schemeClr>
          </a:solidFill>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180000" rtlCol="0" anchor="ctr"/>
          <a:lstStyle/>
          <a:p>
            <a:endParaRPr lang="ko-KR" altLang="en-US" sz="1400" dirty="0">
              <a:latin typeface="+mn-ea"/>
            </a:endParaRPr>
          </a:p>
        </p:txBody>
      </p:sp>
      <p:sp>
        <p:nvSpPr>
          <p:cNvPr id="28" name="직사각형 27"/>
          <p:cNvSpPr/>
          <p:nvPr/>
        </p:nvSpPr>
        <p:spPr bwMode="auto">
          <a:xfrm>
            <a:off x="2325985" y="1972739"/>
            <a:ext cx="1283401" cy="2231012"/>
          </a:xfrm>
          <a:prstGeom prst="rect">
            <a:avLst/>
          </a:prstGeom>
          <a:solidFill>
            <a:schemeClr val="accent5">
              <a:lumMod val="20000"/>
              <a:lumOff val="80000"/>
            </a:schemeClr>
          </a:solidFill>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wrap="none" tIns="180000" rtlCol="0" anchor="ctr"/>
          <a:lstStyle/>
          <a:p>
            <a:pPr algn="ctr"/>
            <a:r>
              <a:rPr lang="ko-KR" altLang="en-US" sz="2000" dirty="0">
                <a:latin typeface="+mn-ea"/>
              </a:rPr>
              <a:t>사유발생한</a:t>
            </a:r>
            <a:endParaRPr lang="en-US" altLang="ko-KR" sz="2000" dirty="0">
              <a:latin typeface="+mn-ea"/>
            </a:endParaRPr>
          </a:p>
          <a:p>
            <a:pPr algn="ctr"/>
            <a:r>
              <a:rPr lang="ko-KR" altLang="en-US" sz="2000" dirty="0">
                <a:latin typeface="+mn-ea"/>
              </a:rPr>
              <a:t>때부터 </a:t>
            </a:r>
            <a:endParaRPr lang="en-US" altLang="ko-KR" sz="2000" dirty="0">
              <a:latin typeface="+mn-ea"/>
            </a:endParaRPr>
          </a:p>
          <a:p>
            <a:pPr algn="ctr"/>
            <a:r>
              <a:rPr lang="ko-KR" altLang="en-US" sz="2000" dirty="0">
                <a:latin typeface="+mn-ea"/>
              </a:rPr>
              <a:t>장래 향해</a:t>
            </a:r>
            <a:endParaRPr lang="en-US" altLang="ko-KR" sz="2000" dirty="0">
              <a:latin typeface="+mn-ea"/>
            </a:endParaRPr>
          </a:p>
          <a:p>
            <a:pPr algn="ctr"/>
            <a:r>
              <a:rPr lang="ko-KR" altLang="en-US" sz="2000" dirty="0">
                <a:latin typeface="+mn-ea"/>
              </a:rPr>
              <a:t>소멸</a:t>
            </a:r>
          </a:p>
        </p:txBody>
      </p:sp>
      <p:sp>
        <p:nvSpPr>
          <p:cNvPr id="31" name="직사각형 30"/>
          <p:cNvSpPr/>
          <p:nvPr/>
        </p:nvSpPr>
        <p:spPr bwMode="auto">
          <a:xfrm>
            <a:off x="2325983" y="4264323"/>
            <a:ext cx="1283403" cy="2304256"/>
          </a:xfrm>
          <a:prstGeom prst="rect">
            <a:avLst/>
          </a:prstGeom>
          <a:solidFill>
            <a:schemeClr val="accent3">
              <a:lumMod val="20000"/>
              <a:lumOff val="80000"/>
            </a:schemeClr>
          </a:solidFill>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180000" rtlCol="0" anchor="ctr"/>
          <a:lstStyle/>
          <a:p>
            <a:pPr algn="ctr"/>
            <a:r>
              <a:rPr lang="ko-KR" altLang="en-US" sz="2000" dirty="0">
                <a:latin typeface="+mn-ea"/>
              </a:rPr>
              <a:t>소급 소멸</a:t>
            </a:r>
          </a:p>
        </p:txBody>
      </p:sp>
      <p:sp>
        <p:nvSpPr>
          <p:cNvPr id="34" name="직사각형 4"/>
          <p:cNvSpPr/>
          <p:nvPr/>
        </p:nvSpPr>
        <p:spPr>
          <a:xfrm>
            <a:off x="6815369" y="2251725"/>
            <a:ext cx="3657898" cy="743912"/>
          </a:xfrm>
          <a:custGeom>
            <a:avLst/>
            <a:gdLst>
              <a:gd name="connsiteX0" fmla="*/ 0 w 1988542"/>
              <a:gd name="connsiteY0" fmla="*/ 0 h 492719"/>
              <a:gd name="connsiteX1" fmla="*/ 1988542 w 1988542"/>
              <a:gd name="connsiteY1" fmla="*/ 0 h 492719"/>
              <a:gd name="connsiteX2" fmla="*/ 1988542 w 1988542"/>
              <a:gd name="connsiteY2" fmla="*/ 492719 h 492719"/>
              <a:gd name="connsiteX3" fmla="*/ 0 w 1988542"/>
              <a:gd name="connsiteY3" fmla="*/ 492719 h 492719"/>
              <a:gd name="connsiteX4" fmla="*/ 0 w 1988542"/>
              <a:gd name="connsiteY4" fmla="*/ 0 h 492719"/>
              <a:gd name="connsiteX0" fmla="*/ 200025 w 1988542"/>
              <a:gd name="connsiteY0" fmla="*/ 0 h 492719"/>
              <a:gd name="connsiteX1" fmla="*/ 1988542 w 1988542"/>
              <a:gd name="connsiteY1" fmla="*/ 0 h 492719"/>
              <a:gd name="connsiteX2" fmla="*/ 1988542 w 1988542"/>
              <a:gd name="connsiteY2" fmla="*/ 492719 h 492719"/>
              <a:gd name="connsiteX3" fmla="*/ 0 w 1988542"/>
              <a:gd name="connsiteY3" fmla="*/ 492719 h 492719"/>
              <a:gd name="connsiteX4" fmla="*/ 200025 w 1988542"/>
              <a:gd name="connsiteY4" fmla="*/ 0 h 492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2" h="492719">
                <a:moveTo>
                  <a:pt x="200025" y="0"/>
                </a:moveTo>
                <a:lnTo>
                  <a:pt x="1988542" y="0"/>
                </a:lnTo>
                <a:lnTo>
                  <a:pt x="1988542" y="492719"/>
                </a:lnTo>
                <a:lnTo>
                  <a:pt x="0" y="492719"/>
                </a:lnTo>
                <a:lnTo>
                  <a:pt x="200025" y="0"/>
                </a:lnTo>
                <a:close/>
              </a:path>
            </a:pathLst>
          </a:custGeom>
          <a:pattFill prst="openDmnd">
            <a:fgClr>
              <a:schemeClr val="accent2"/>
            </a:fgClr>
            <a:bgClr>
              <a:schemeClr val="bg1"/>
            </a:bgClr>
          </a:patt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비유효</a:t>
            </a:r>
            <a:endParaRPr lang="ko-KR" altLang="en-US" sz="1200" dirty="0">
              <a:solidFill>
                <a:schemeClr val="tx1"/>
              </a:solidFill>
            </a:endParaRPr>
          </a:p>
        </p:txBody>
      </p:sp>
      <p:sp>
        <p:nvSpPr>
          <p:cNvPr id="35" name="직사각형 21"/>
          <p:cNvSpPr/>
          <p:nvPr/>
        </p:nvSpPr>
        <p:spPr>
          <a:xfrm>
            <a:off x="5848575" y="2502917"/>
            <a:ext cx="2550677" cy="492719"/>
          </a:xfrm>
          <a:custGeom>
            <a:avLst/>
            <a:gdLst>
              <a:gd name="connsiteX0" fmla="*/ 0 w 2182196"/>
              <a:gd name="connsiteY0" fmla="*/ 0 h 492719"/>
              <a:gd name="connsiteX1" fmla="*/ 2182196 w 2182196"/>
              <a:gd name="connsiteY1" fmla="*/ 0 h 492719"/>
              <a:gd name="connsiteX2" fmla="*/ 2182196 w 2182196"/>
              <a:gd name="connsiteY2" fmla="*/ 492719 h 492719"/>
              <a:gd name="connsiteX3" fmla="*/ 0 w 2182196"/>
              <a:gd name="connsiteY3" fmla="*/ 492719 h 492719"/>
              <a:gd name="connsiteX4" fmla="*/ 0 w 2182196"/>
              <a:gd name="connsiteY4" fmla="*/ 0 h 492719"/>
              <a:gd name="connsiteX0" fmla="*/ 279400 w 2182196"/>
              <a:gd name="connsiteY0" fmla="*/ 0 h 492719"/>
              <a:gd name="connsiteX1" fmla="*/ 2182196 w 2182196"/>
              <a:gd name="connsiteY1" fmla="*/ 0 h 492719"/>
              <a:gd name="connsiteX2" fmla="*/ 2182196 w 2182196"/>
              <a:gd name="connsiteY2" fmla="*/ 492719 h 492719"/>
              <a:gd name="connsiteX3" fmla="*/ 0 w 2182196"/>
              <a:gd name="connsiteY3" fmla="*/ 492719 h 492719"/>
              <a:gd name="connsiteX4" fmla="*/ 279400 w 2182196"/>
              <a:gd name="connsiteY4" fmla="*/ 0 h 492719"/>
              <a:gd name="connsiteX0" fmla="*/ 279400 w 2182196"/>
              <a:gd name="connsiteY0" fmla="*/ 0 h 492719"/>
              <a:gd name="connsiteX1" fmla="*/ 1928196 w 2182196"/>
              <a:gd name="connsiteY1" fmla="*/ 0 h 492719"/>
              <a:gd name="connsiteX2" fmla="*/ 2182196 w 2182196"/>
              <a:gd name="connsiteY2" fmla="*/ 492719 h 492719"/>
              <a:gd name="connsiteX3" fmla="*/ 0 w 2182196"/>
              <a:gd name="connsiteY3" fmla="*/ 492719 h 492719"/>
              <a:gd name="connsiteX4" fmla="*/ 279400 w 2182196"/>
              <a:gd name="connsiteY4" fmla="*/ 0 h 492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2196" h="492719">
                <a:moveTo>
                  <a:pt x="279400" y="0"/>
                </a:moveTo>
                <a:lnTo>
                  <a:pt x="1928196" y="0"/>
                </a:lnTo>
                <a:lnTo>
                  <a:pt x="2182196" y="492719"/>
                </a:lnTo>
                <a:lnTo>
                  <a:pt x="0" y="492719"/>
                </a:lnTo>
                <a:lnTo>
                  <a:pt x="279400" y="0"/>
                </a:lnTo>
                <a:close/>
              </a:path>
            </a:pathLst>
          </a:custGeom>
          <a:solidFill>
            <a:schemeClr val="accent4">
              <a:alpha val="30000"/>
            </a:schemeClr>
          </a:solidFill>
          <a:ln>
            <a:solidFill>
              <a:schemeClr val="bg1">
                <a:lumMod val="50000"/>
              </a:schemeClr>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ko-KR" altLang="en-US" sz="1200" dirty="0">
                <a:solidFill>
                  <a:schemeClr val="tx1"/>
                </a:solidFill>
              </a:rPr>
              <a:t>권리의 존속 中</a:t>
            </a:r>
            <a:r>
              <a:rPr lang="en-US" altLang="ko-KR" sz="1200" dirty="0">
                <a:solidFill>
                  <a:schemeClr val="tx1"/>
                </a:solidFill>
              </a:rPr>
              <a:t>(</a:t>
            </a:r>
            <a:r>
              <a:rPr lang="ko-KR" altLang="en-US" sz="1200" dirty="0">
                <a:solidFill>
                  <a:schemeClr val="tx1"/>
                </a:solidFill>
              </a:rPr>
              <a:t>유효</a:t>
            </a:r>
            <a:r>
              <a:rPr lang="en-US" altLang="ko-KR" sz="1200" dirty="0">
                <a:solidFill>
                  <a:schemeClr val="tx1"/>
                </a:solidFill>
              </a:rPr>
              <a:t>)</a:t>
            </a:r>
            <a:endParaRPr lang="ko-KR" altLang="en-US" sz="1200" dirty="0">
              <a:solidFill>
                <a:schemeClr val="tx1"/>
              </a:solidFill>
            </a:endParaRPr>
          </a:p>
        </p:txBody>
      </p:sp>
      <p:sp>
        <p:nvSpPr>
          <p:cNvPr id="36" name="직사각형 35"/>
          <p:cNvSpPr/>
          <p:nvPr/>
        </p:nvSpPr>
        <p:spPr bwMode="auto">
          <a:xfrm>
            <a:off x="3757298" y="4264323"/>
            <a:ext cx="7376369" cy="2304256"/>
          </a:xfrm>
          <a:prstGeom prst="rect">
            <a:avLst/>
          </a:prstGeom>
          <a:solidFill>
            <a:schemeClr val="accent3">
              <a:lumMod val="20000"/>
              <a:lumOff val="80000"/>
            </a:schemeClr>
          </a:solidFill>
          <a:ln>
            <a:solidFill>
              <a:schemeClr val="bg1">
                <a:lumMod val="50000"/>
              </a:schemeClr>
            </a:solidFill>
            <a:headEnd type="none" w="med" len="med"/>
            <a:tailEnd type="none"/>
          </a:ln>
        </p:spPr>
        <p:style>
          <a:lnRef idx="1">
            <a:schemeClr val="accent4"/>
          </a:lnRef>
          <a:fillRef idx="0">
            <a:schemeClr val="accent4"/>
          </a:fillRef>
          <a:effectRef idx="0">
            <a:schemeClr val="accent4"/>
          </a:effectRef>
          <a:fontRef idx="minor">
            <a:schemeClr val="tx1"/>
          </a:fontRef>
        </p:style>
        <p:txBody>
          <a:bodyPr tIns="180000" rtlCol="0" anchor="ctr"/>
          <a:lstStyle/>
          <a:p>
            <a:endParaRPr lang="ko-KR" altLang="en-US" sz="1400" dirty="0">
              <a:latin typeface="+mn-ea"/>
            </a:endParaRPr>
          </a:p>
        </p:txBody>
      </p:sp>
      <p:sp>
        <p:nvSpPr>
          <p:cNvPr id="37" name="직사각형 36"/>
          <p:cNvSpPr/>
          <p:nvPr/>
        </p:nvSpPr>
        <p:spPr>
          <a:xfrm>
            <a:off x="6966552" y="6026426"/>
            <a:ext cx="926521" cy="432048"/>
          </a:xfrm>
          <a:prstGeom prst="rect">
            <a:avLst/>
          </a:prstGeom>
          <a:solidFill>
            <a:schemeClr val="accent1">
              <a:lumMod val="20000"/>
              <a:lumOff val="80000"/>
            </a:schemeClr>
          </a:solidFill>
          <a:ln w="9525">
            <a:solidFill>
              <a:schemeClr val="bg1">
                <a:lumMod val="50000"/>
              </a:schemeClr>
            </a:solidFill>
          </a:ln>
        </p:spPr>
        <p:style>
          <a:lnRef idx="2">
            <a:schemeClr val="accent5"/>
          </a:lnRef>
          <a:fillRef idx="1">
            <a:schemeClr val="lt1"/>
          </a:fillRef>
          <a:effectRef idx="0">
            <a:schemeClr val="accent5"/>
          </a:effectRef>
          <a:fontRef idx="minor">
            <a:schemeClr val="dk1"/>
          </a:fontRef>
        </p:style>
        <p:txBody>
          <a:bodyPr rtlCol="0" anchor="ctr"/>
          <a:lstStyle/>
          <a:p>
            <a:pPr algn="ctr"/>
            <a:r>
              <a:rPr lang="ko-KR" altLang="en-US" sz="1200" dirty="0"/>
              <a:t>특허무효</a:t>
            </a:r>
            <a:endParaRPr lang="en-US" altLang="ko-KR" sz="1200" dirty="0"/>
          </a:p>
          <a:p>
            <a:pPr algn="ctr"/>
            <a:r>
              <a:rPr lang="ko-KR" altLang="en-US" sz="1200" dirty="0"/>
              <a:t>심판청구</a:t>
            </a:r>
            <a:endParaRPr lang="en-US" altLang="ko-KR" sz="1200" dirty="0"/>
          </a:p>
        </p:txBody>
      </p:sp>
      <p:sp>
        <p:nvSpPr>
          <p:cNvPr id="38" name="직사각형 37"/>
          <p:cNvSpPr/>
          <p:nvPr/>
        </p:nvSpPr>
        <p:spPr>
          <a:xfrm>
            <a:off x="7935992" y="6026426"/>
            <a:ext cx="926521" cy="432048"/>
          </a:xfrm>
          <a:prstGeom prst="rect">
            <a:avLst/>
          </a:prstGeom>
          <a:solidFill>
            <a:schemeClr val="accent1">
              <a:lumMod val="20000"/>
              <a:lumOff val="80000"/>
            </a:schemeClr>
          </a:solidFill>
          <a:ln w="9525">
            <a:solidFill>
              <a:schemeClr val="bg1">
                <a:lumMod val="50000"/>
              </a:schemeClr>
            </a:solidFill>
          </a:ln>
        </p:spPr>
        <p:style>
          <a:lnRef idx="2">
            <a:schemeClr val="accent5"/>
          </a:lnRef>
          <a:fillRef idx="1">
            <a:schemeClr val="lt1"/>
          </a:fillRef>
          <a:effectRef idx="0">
            <a:schemeClr val="accent5"/>
          </a:effectRef>
          <a:fontRef idx="minor">
            <a:schemeClr val="dk1"/>
          </a:fontRef>
        </p:style>
        <p:txBody>
          <a:bodyPr rtlCol="0" anchor="ctr"/>
          <a:lstStyle/>
          <a:p>
            <a:pPr algn="ctr"/>
            <a:r>
              <a:rPr lang="ko-KR" altLang="en-US" sz="1200" dirty="0" err="1"/>
              <a:t>인용심결</a:t>
            </a:r>
            <a:endParaRPr lang="en-US" altLang="ko-KR" sz="1200" dirty="0"/>
          </a:p>
          <a:p>
            <a:pPr algn="ctr"/>
            <a:r>
              <a:rPr lang="ko-KR" altLang="en-US" sz="1200" dirty="0"/>
              <a:t>확정</a:t>
            </a:r>
            <a:endParaRPr lang="en-US" altLang="ko-KR" sz="1200" dirty="0"/>
          </a:p>
        </p:txBody>
      </p:sp>
      <p:sp>
        <p:nvSpPr>
          <p:cNvPr id="39" name="타원 38"/>
          <p:cNvSpPr/>
          <p:nvPr/>
        </p:nvSpPr>
        <p:spPr>
          <a:xfrm>
            <a:off x="8727484" y="2048516"/>
            <a:ext cx="395271" cy="393948"/>
          </a:xfrm>
          <a:prstGeom prst="ellipse">
            <a:avLst/>
          </a:prstGeom>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400" dirty="0"/>
              <a:t>2</a:t>
            </a:r>
            <a:endParaRPr lang="ko-KR" altLang="en-US" sz="1400" dirty="0"/>
          </a:p>
        </p:txBody>
      </p:sp>
      <p:sp>
        <p:nvSpPr>
          <p:cNvPr id="40" name="타원 39"/>
          <p:cNvSpPr/>
          <p:nvPr/>
        </p:nvSpPr>
        <p:spPr>
          <a:xfrm>
            <a:off x="6226521" y="2297476"/>
            <a:ext cx="395271" cy="393948"/>
          </a:xfrm>
          <a:prstGeom prst="ellipse">
            <a:avLst/>
          </a:prstGeom>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400" dirty="0"/>
              <a:t>1</a:t>
            </a:r>
            <a:endParaRPr lang="ko-KR" altLang="en-US" sz="1400" dirty="0"/>
          </a:p>
        </p:txBody>
      </p:sp>
      <p:sp>
        <p:nvSpPr>
          <p:cNvPr id="41" name="Line 5"/>
          <p:cNvSpPr>
            <a:spLocks noChangeShapeType="1"/>
          </p:cNvSpPr>
          <p:nvPr/>
        </p:nvSpPr>
        <p:spPr bwMode="auto">
          <a:xfrm>
            <a:off x="4003421" y="2995636"/>
            <a:ext cx="6673046"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2" name="타원 41"/>
          <p:cNvSpPr/>
          <p:nvPr/>
        </p:nvSpPr>
        <p:spPr>
          <a:xfrm>
            <a:off x="4615187" y="290763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43" name="TextBox 42"/>
          <p:cNvSpPr txBox="1"/>
          <p:nvPr/>
        </p:nvSpPr>
        <p:spPr>
          <a:xfrm>
            <a:off x="4276416" y="3317081"/>
            <a:ext cx="832279" cy="307777"/>
          </a:xfrm>
          <a:prstGeom prst="rect">
            <a:avLst/>
          </a:prstGeom>
          <a:noFill/>
          <a:ln>
            <a:solidFill>
              <a:schemeClr val="bg1">
                <a:lumMod val="50000"/>
              </a:schemeClr>
            </a:solidFill>
          </a:ln>
        </p:spPr>
        <p:txBody>
          <a:bodyPr wrap="none" rtlCol="0">
            <a:spAutoFit/>
          </a:bodyPr>
          <a:lstStyle/>
          <a:p>
            <a:r>
              <a:rPr lang="ko-KR" altLang="en-US" sz="1400" dirty="0"/>
              <a:t>특허출원</a:t>
            </a:r>
          </a:p>
        </p:txBody>
      </p:sp>
      <p:cxnSp>
        <p:nvCxnSpPr>
          <p:cNvPr id="44" name="직선 연결선 43"/>
          <p:cNvCxnSpPr>
            <a:stCxn id="43" idx="0"/>
            <a:endCxn id="42" idx="4"/>
          </p:cNvCxnSpPr>
          <p:nvPr/>
        </p:nvCxnSpPr>
        <p:spPr>
          <a:xfrm flipV="1">
            <a:off x="4692556" y="3068977"/>
            <a:ext cx="0"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타원 44"/>
          <p:cNvSpPr/>
          <p:nvPr/>
        </p:nvSpPr>
        <p:spPr>
          <a:xfrm>
            <a:off x="5771206" y="290763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46" name="TextBox 45"/>
          <p:cNvSpPr txBox="1"/>
          <p:nvPr/>
        </p:nvSpPr>
        <p:spPr>
          <a:xfrm>
            <a:off x="5432435" y="3317081"/>
            <a:ext cx="832279" cy="307777"/>
          </a:xfrm>
          <a:prstGeom prst="rect">
            <a:avLst/>
          </a:prstGeom>
          <a:noFill/>
          <a:ln>
            <a:solidFill>
              <a:schemeClr val="bg1">
                <a:lumMod val="50000"/>
              </a:schemeClr>
            </a:solidFill>
          </a:ln>
        </p:spPr>
        <p:txBody>
          <a:bodyPr wrap="none" rtlCol="0">
            <a:spAutoFit/>
          </a:bodyPr>
          <a:lstStyle/>
          <a:p>
            <a:r>
              <a:rPr lang="ko-KR" altLang="en-US" sz="1400" dirty="0"/>
              <a:t>설정등록</a:t>
            </a:r>
          </a:p>
        </p:txBody>
      </p:sp>
      <p:cxnSp>
        <p:nvCxnSpPr>
          <p:cNvPr id="47" name="직선 연결선 46"/>
          <p:cNvCxnSpPr>
            <a:stCxn id="46" idx="0"/>
            <a:endCxn id="45" idx="4"/>
          </p:cNvCxnSpPr>
          <p:nvPr/>
        </p:nvCxnSpPr>
        <p:spPr>
          <a:xfrm flipV="1">
            <a:off x="5848575" y="3068977"/>
            <a:ext cx="0"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타원 49"/>
          <p:cNvSpPr/>
          <p:nvPr/>
        </p:nvSpPr>
        <p:spPr>
          <a:xfrm>
            <a:off x="8322969" y="290763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51" name="TextBox 50"/>
          <p:cNvSpPr txBox="1"/>
          <p:nvPr/>
        </p:nvSpPr>
        <p:spPr>
          <a:xfrm>
            <a:off x="8146100" y="3317081"/>
            <a:ext cx="508474" cy="307777"/>
          </a:xfrm>
          <a:prstGeom prst="rect">
            <a:avLst/>
          </a:prstGeom>
          <a:noFill/>
          <a:ln>
            <a:solidFill>
              <a:schemeClr val="bg1">
                <a:lumMod val="50000"/>
              </a:schemeClr>
            </a:solidFill>
          </a:ln>
        </p:spPr>
        <p:txBody>
          <a:bodyPr wrap="none" rtlCol="0">
            <a:spAutoFit/>
          </a:bodyPr>
          <a:lstStyle/>
          <a:p>
            <a:pPr algn="ctr"/>
            <a:r>
              <a:rPr lang="ko-KR" altLang="en-US" sz="1400" dirty="0"/>
              <a:t>소멸</a:t>
            </a:r>
          </a:p>
        </p:txBody>
      </p:sp>
      <p:cxnSp>
        <p:nvCxnSpPr>
          <p:cNvPr id="52" name="직선 연결선 51"/>
          <p:cNvCxnSpPr>
            <a:stCxn id="51" idx="0"/>
            <a:endCxn id="50" idx="4"/>
          </p:cNvCxnSpPr>
          <p:nvPr/>
        </p:nvCxnSpPr>
        <p:spPr>
          <a:xfrm flipV="1">
            <a:off x="8400337" y="3068977"/>
            <a:ext cx="1"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 name="직사각형 4"/>
          <p:cNvSpPr/>
          <p:nvPr/>
        </p:nvSpPr>
        <p:spPr>
          <a:xfrm>
            <a:off x="5848575" y="4548380"/>
            <a:ext cx="4624692" cy="743913"/>
          </a:xfrm>
          <a:custGeom>
            <a:avLst/>
            <a:gdLst>
              <a:gd name="connsiteX0" fmla="*/ 0 w 1988542"/>
              <a:gd name="connsiteY0" fmla="*/ 0 h 492719"/>
              <a:gd name="connsiteX1" fmla="*/ 1988542 w 1988542"/>
              <a:gd name="connsiteY1" fmla="*/ 0 h 492719"/>
              <a:gd name="connsiteX2" fmla="*/ 1988542 w 1988542"/>
              <a:gd name="connsiteY2" fmla="*/ 492719 h 492719"/>
              <a:gd name="connsiteX3" fmla="*/ 0 w 1988542"/>
              <a:gd name="connsiteY3" fmla="*/ 492719 h 492719"/>
              <a:gd name="connsiteX4" fmla="*/ 0 w 1988542"/>
              <a:gd name="connsiteY4" fmla="*/ 0 h 492719"/>
              <a:gd name="connsiteX0" fmla="*/ 200025 w 1988542"/>
              <a:gd name="connsiteY0" fmla="*/ 0 h 492719"/>
              <a:gd name="connsiteX1" fmla="*/ 1988542 w 1988542"/>
              <a:gd name="connsiteY1" fmla="*/ 0 h 492719"/>
              <a:gd name="connsiteX2" fmla="*/ 1988542 w 1988542"/>
              <a:gd name="connsiteY2" fmla="*/ 492719 h 492719"/>
              <a:gd name="connsiteX3" fmla="*/ 0 w 1988542"/>
              <a:gd name="connsiteY3" fmla="*/ 492719 h 492719"/>
              <a:gd name="connsiteX4" fmla="*/ 200025 w 1988542"/>
              <a:gd name="connsiteY4" fmla="*/ 0 h 492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2" h="492719">
                <a:moveTo>
                  <a:pt x="200025" y="0"/>
                </a:moveTo>
                <a:lnTo>
                  <a:pt x="1988542" y="0"/>
                </a:lnTo>
                <a:lnTo>
                  <a:pt x="1988542" y="492719"/>
                </a:lnTo>
                <a:lnTo>
                  <a:pt x="0" y="492719"/>
                </a:lnTo>
                <a:lnTo>
                  <a:pt x="200025" y="0"/>
                </a:lnTo>
                <a:close/>
              </a:path>
            </a:pathLst>
          </a:custGeom>
          <a:pattFill prst="openDmnd">
            <a:fgClr>
              <a:schemeClr val="accent2"/>
            </a:fgClr>
            <a:bgClr>
              <a:schemeClr val="bg1"/>
            </a:bgClr>
          </a:patt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                                       </a:t>
            </a:r>
            <a:r>
              <a:rPr lang="ko-KR" altLang="en-US" sz="1200" dirty="0" err="1">
                <a:solidFill>
                  <a:schemeClr val="tx1"/>
                </a:solidFill>
              </a:rPr>
              <a:t>비유효</a:t>
            </a:r>
            <a:endParaRPr lang="ko-KR" altLang="en-US" sz="1200" dirty="0">
              <a:solidFill>
                <a:schemeClr val="tx1"/>
              </a:solidFill>
            </a:endParaRPr>
          </a:p>
        </p:txBody>
      </p:sp>
      <p:sp>
        <p:nvSpPr>
          <p:cNvPr id="56" name="직사각형 21"/>
          <p:cNvSpPr/>
          <p:nvPr/>
        </p:nvSpPr>
        <p:spPr>
          <a:xfrm>
            <a:off x="5848575" y="4799574"/>
            <a:ext cx="2550677" cy="492719"/>
          </a:xfrm>
          <a:custGeom>
            <a:avLst/>
            <a:gdLst>
              <a:gd name="connsiteX0" fmla="*/ 0 w 2182196"/>
              <a:gd name="connsiteY0" fmla="*/ 0 h 492719"/>
              <a:gd name="connsiteX1" fmla="*/ 2182196 w 2182196"/>
              <a:gd name="connsiteY1" fmla="*/ 0 h 492719"/>
              <a:gd name="connsiteX2" fmla="*/ 2182196 w 2182196"/>
              <a:gd name="connsiteY2" fmla="*/ 492719 h 492719"/>
              <a:gd name="connsiteX3" fmla="*/ 0 w 2182196"/>
              <a:gd name="connsiteY3" fmla="*/ 492719 h 492719"/>
              <a:gd name="connsiteX4" fmla="*/ 0 w 2182196"/>
              <a:gd name="connsiteY4" fmla="*/ 0 h 492719"/>
              <a:gd name="connsiteX0" fmla="*/ 279400 w 2182196"/>
              <a:gd name="connsiteY0" fmla="*/ 0 h 492719"/>
              <a:gd name="connsiteX1" fmla="*/ 2182196 w 2182196"/>
              <a:gd name="connsiteY1" fmla="*/ 0 h 492719"/>
              <a:gd name="connsiteX2" fmla="*/ 2182196 w 2182196"/>
              <a:gd name="connsiteY2" fmla="*/ 492719 h 492719"/>
              <a:gd name="connsiteX3" fmla="*/ 0 w 2182196"/>
              <a:gd name="connsiteY3" fmla="*/ 492719 h 492719"/>
              <a:gd name="connsiteX4" fmla="*/ 279400 w 2182196"/>
              <a:gd name="connsiteY4" fmla="*/ 0 h 492719"/>
              <a:gd name="connsiteX0" fmla="*/ 279400 w 2182196"/>
              <a:gd name="connsiteY0" fmla="*/ 0 h 492719"/>
              <a:gd name="connsiteX1" fmla="*/ 1928196 w 2182196"/>
              <a:gd name="connsiteY1" fmla="*/ 0 h 492719"/>
              <a:gd name="connsiteX2" fmla="*/ 2182196 w 2182196"/>
              <a:gd name="connsiteY2" fmla="*/ 492719 h 492719"/>
              <a:gd name="connsiteX3" fmla="*/ 0 w 2182196"/>
              <a:gd name="connsiteY3" fmla="*/ 492719 h 492719"/>
              <a:gd name="connsiteX4" fmla="*/ 279400 w 2182196"/>
              <a:gd name="connsiteY4" fmla="*/ 0 h 492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2196" h="492719">
                <a:moveTo>
                  <a:pt x="279400" y="0"/>
                </a:moveTo>
                <a:lnTo>
                  <a:pt x="1928196" y="0"/>
                </a:lnTo>
                <a:lnTo>
                  <a:pt x="2182196" y="492719"/>
                </a:lnTo>
                <a:lnTo>
                  <a:pt x="0" y="492719"/>
                </a:lnTo>
                <a:lnTo>
                  <a:pt x="279400" y="0"/>
                </a:lnTo>
                <a:close/>
              </a:path>
            </a:pathLst>
          </a:custGeom>
          <a:solidFill>
            <a:schemeClr val="accent4">
              <a:alpha val="30000"/>
            </a:schemeClr>
          </a:solidFill>
          <a:ln>
            <a:solidFill>
              <a:schemeClr val="bg1">
                <a:lumMod val="50000"/>
              </a:schemeClr>
            </a:solidFill>
          </a:ln>
        </p:spPr>
        <p:style>
          <a:lnRef idx="1">
            <a:schemeClr val="accent6"/>
          </a:lnRef>
          <a:fillRef idx="3">
            <a:schemeClr val="accent6"/>
          </a:fillRef>
          <a:effectRef idx="2">
            <a:schemeClr val="accent6"/>
          </a:effectRef>
          <a:fontRef idx="minor">
            <a:schemeClr val="lt1"/>
          </a:fontRef>
        </p:style>
        <p:txBody>
          <a:bodyPr rtlCol="0" anchor="ctr"/>
          <a:lstStyle/>
          <a:p>
            <a:pPr algn="ctr"/>
            <a:r>
              <a:rPr lang="ko-KR" altLang="en-US" sz="1200" dirty="0">
                <a:solidFill>
                  <a:schemeClr val="tx1"/>
                </a:solidFill>
              </a:rPr>
              <a:t>권리의 존속 中</a:t>
            </a:r>
            <a:r>
              <a:rPr lang="en-US" altLang="ko-KR" sz="1200" dirty="0">
                <a:solidFill>
                  <a:schemeClr val="tx1"/>
                </a:solidFill>
              </a:rPr>
              <a:t>(</a:t>
            </a:r>
            <a:r>
              <a:rPr lang="ko-KR" altLang="en-US" sz="1200" dirty="0">
                <a:solidFill>
                  <a:schemeClr val="tx1"/>
                </a:solidFill>
              </a:rPr>
              <a:t>유효</a:t>
            </a:r>
            <a:r>
              <a:rPr lang="en-US" altLang="ko-KR" sz="1200" dirty="0">
                <a:solidFill>
                  <a:schemeClr val="tx1"/>
                </a:solidFill>
              </a:rPr>
              <a:t>)</a:t>
            </a:r>
            <a:endParaRPr lang="ko-KR" altLang="en-US" sz="1200" dirty="0">
              <a:solidFill>
                <a:schemeClr val="tx1"/>
              </a:solidFill>
            </a:endParaRPr>
          </a:p>
        </p:txBody>
      </p:sp>
      <p:sp>
        <p:nvSpPr>
          <p:cNvPr id="57" name="타원 56"/>
          <p:cNvSpPr/>
          <p:nvPr/>
        </p:nvSpPr>
        <p:spPr>
          <a:xfrm>
            <a:off x="8493302" y="4354796"/>
            <a:ext cx="395271" cy="393948"/>
          </a:xfrm>
          <a:prstGeom prst="ellipse">
            <a:avLst/>
          </a:prstGeom>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400" dirty="0"/>
              <a:t>2</a:t>
            </a:r>
            <a:endParaRPr lang="ko-KR" altLang="en-US" sz="1400" dirty="0"/>
          </a:p>
        </p:txBody>
      </p:sp>
      <p:sp>
        <p:nvSpPr>
          <p:cNvPr id="58" name="타원 57"/>
          <p:cNvSpPr/>
          <p:nvPr/>
        </p:nvSpPr>
        <p:spPr>
          <a:xfrm>
            <a:off x="6260390" y="4583307"/>
            <a:ext cx="395271" cy="393948"/>
          </a:xfrm>
          <a:prstGeom prst="ellipse">
            <a:avLst/>
          </a:prstGeom>
          <a:ln>
            <a:solidFill>
              <a:schemeClr val="bg1">
                <a:lumMod val="50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en-US" altLang="ko-KR" sz="1400" dirty="0"/>
              <a:t>1</a:t>
            </a:r>
            <a:endParaRPr lang="ko-KR" altLang="en-US" sz="1400" dirty="0"/>
          </a:p>
        </p:txBody>
      </p:sp>
      <p:sp>
        <p:nvSpPr>
          <p:cNvPr id="59" name="Line 5"/>
          <p:cNvSpPr>
            <a:spLocks noChangeShapeType="1"/>
          </p:cNvSpPr>
          <p:nvPr/>
        </p:nvSpPr>
        <p:spPr bwMode="auto">
          <a:xfrm>
            <a:off x="4003421" y="5292293"/>
            <a:ext cx="6673046"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60" name="타원 59"/>
          <p:cNvSpPr/>
          <p:nvPr/>
        </p:nvSpPr>
        <p:spPr>
          <a:xfrm>
            <a:off x="4615187" y="520429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61" name="TextBox 60"/>
          <p:cNvSpPr txBox="1"/>
          <p:nvPr/>
        </p:nvSpPr>
        <p:spPr>
          <a:xfrm>
            <a:off x="4276416" y="5529068"/>
            <a:ext cx="832279" cy="307777"/>
          </a:xfrm>
          <a:prstGeom prst="rect">
            <a:avLst/>
          </a:prstGeom>
          <a:noFill/>
          <a:ln>
            <a:solidFill>
              <a:schemeClr val="bg1">
                <a:lumMod val="50000"/>
              </a:schemeClr>
            </a:solidFill>
          </a:ln>
        </p:spPr>
        <p:txBody>
          <a:bodyPr wrap="none" rtlCol="0">
            <a:spAutoFit/>
          </a:bodyPr>
          <a:lstStyle/>
          <a:p>
            <a:r>
              <a:rPr lang="ko-KR" altLang="en-US" sz="1400" dirty="0"/>
              <a:t>특허출원</a:t>
            </a:r>
          </a:p>
        </p:txBody>
      </p:sp>
      <p:cxnSp>
        <p:nvCxnSpPr>
          <p:cNvPr id="62" name="직선 연결선 61"/>
          <p:cNvCxnSpPr>
            <a:stCxn id="61" idx="0"/>
            <a:endCxn id="60" idx="4"/>
          </p:cNvCxnSpPr>
          <p:nvPr/>
        </p:nvCxnSpPr>
        <p:spPr>
          <a:xfrm flipV="1">
            <a:off x="4692556" y="5365634"/>
            <a:ext cx="0" cy="1634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타원 62"/>
          <p:cNvSpPr/>
          <p:nvPr/>
        </p:nvSpPr>
        <p:spPr>
          <a:xfrm>
            <a:off x="5771206" y="520429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64" name="TextBox 63"/>
          <p:cNvSpPr txBox="1"/>
          <p:nvPr/>
        </p:nvSpPr>
        <p:spPr>
          <a:xfrm>
            <a:off x="5432435" y="5529068"/>
            <a:ext cx="832279" cy="307777"/>
          </a:xfrm>
          <a:prstGeom prst="rect">
            <a:avLst/>
          </a:prstGeom>
          <a:noFill/>
          <a:ln>
            <a:solidFill>
              <a:schemeClr val="bg1">
                <a:lumMod val="50000"/>
              </a:schemeClr>
            </a:solidFill>
          </a:ln>
        </p:spPr>
        <p:txBody>
          <a:bodyPr wrap="none" rtlCol="0">
            <a:spAutoFit/>
          </a:bodyPr>
          <a:lstStyle/>
          <a:p>
            <a:r>
              <a:rPr lang="ko-KR" altLang="en-US" sz="1400" dirty="0"/>
              <a:t>설정등록</a:t>
            </a:r>
          </a:p>
        </p:txBody>
      </p:sp>
      <p:cxnSp>
        <p:nvCxnSpPr>
          <p:cNvPr id="65" name="직선 연결선 64"/>
          <p:cNvCxnSpPr>
            <a:stCxn id="64" idx="0"/>
            <a:endCxn id="63" idx="4"/>
          </p:cNvCxnSpPr>
          <p:nvPr/>
        </p:nvCxnSpPr>
        <p:spPr>
          <a:xfrm flipV="1">
            <a:off x="5848575" y="5365634"/>
            <a:ext cx="0" cy="16343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6" name="타원 65"/>
          <p:cNvSpPr/>
          <p:nvPr/>
        </p:nvSpPr>
        <p:spPr>
          <a:xfrm>
            <a:off x="8322969" y="520429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67" name="TextBox 66"/>
          <p:cNvSpPr txBox="1"/>
          <p:nvPr/>
        </p:nvSpPr>
        <p:spPr>
          <a:xfrm>
            <a:off x="8146100" y="5613738"/>
            <a:ext cx="508474" cy="307777"/>
          </a:xfrm>
          <a:prstGeom prst="rect">
            <a:avLst/>
          </a:prstGeom>
          <a:noFill/>
          <a:ln>
            <a:solidFill>
              <a:schemeClr val="bg1">
                <a:lumMod val="50000"/>
              </a:schemeClr>
            </a:solidFill>
          </a:ln>
        </p:spPr>
        <p:txBody>
          <a:bodyPr wrap="none" rtlCol="0">
            <a:spAutoFit/>
          </a:bodyPr>
          <a:lstStyle/>
          <a:p>
            <a:pPr algn="ctr"/>
            <a:r>
              <a:rPr lang="ko-KR" altLang="en-US" sz="1400" dirty="0"/>
              <a:t>소멸</a:t>
            </a:r>
          </a:p>
        </p:txBody>
      </p:sp>
      <p:cxnSp>
        <p:nvCxnSpPr>
          <p:cNvPr id="68" name="직선 연결선 67"/>
          <p:cNvCxnSpPr>
            <a:stCxn id="67" idx="0"/>
            <a:endCxn id="66" idx="4"/>
          </p:cNvCxnSpPr>
          <p:nvPr/>
        </p:nvCxnSpPr>
        <p:spPr>
          <a:xfrm flipV="1">
            <a:off x="8400337" y="5365634"/>
            <a:ext cx="1" cy="248104"/>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9" name="직선 연결선 68"/>
          <p:cNvCxnSpPr>
            <a:stCxn id="37" idx="0"/>
            <a:endCxn id="70" idx="4"/>
          </p:cNvCxnSpPr>
          <p:nvPr/>
        </p:nvCxnSpPr>
        <p:spPr>
          <a:xfrm flipV="1">
            <a:off x="7429813" y="5365634"/>
            <a:ext cx="4815" cy="66079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0" name="타원 69"/>
          <p:cNvSpPr/>
          <p:nvPr/>
        </p:nvSpPr>
        <p:spPr>
          <a:xfrm>
            <a:off x="7357259" y="520429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1" name="직선 연결선 70"/>
          <p:cNvCxnSpPr>
            <a:stCxn id="38" idx="0"/>
            <a:endCxn id="67" idx="2"/>
          </p:cNvCxnSpPr>
          <p:nvPr/>
        </p:nvCxnSpPr>
        <p:spPr>
          <a:xfrm flipV="1">
            <a:off x="8399253" y="5921515"/>
            <a:ext cx="1084" cy="10491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732670" y="3784248"/>
            <a:ext cx="1018227" cy="999213"/>
          </a:xfrm>
          <a:prstGeom prst="rect">
            <a:avLst/>
          </a:prstGeom>
          <a:solidFill>
            <a:schemeClr val="tx2"/>
          </a:solidFill>
          <a:ln>
            <a:solidFill>
              <a:schemeClr val="bg1">
                <a:lumMod val="50000"/>
              </a:schemeClr>
            </a:solidFill>
          </a:ln>
        </p:spPr>
        <p:txBody>
          <a:bodyPr wrap="square" rtlCol="0" anchor="ctr">
            <a:noAutofit/>
          </a:bodyPr>
          <a:lstStyle/>
          <a:p>
            <a:pPr algn="ctr"/>
            <a:r>
              <a:rPr lang="ko-KR" altLang="en-US" sz="2800" dirty="0">
                <a:solidFill>
                  <a:schemeClr val="accent4"/>
                </a:solidFill>
              </a:rPr>
              <a:t>확정</a:t>
            </a:r>
            <a:endParaRPr lang="en-US" altLang="ko-KR" sz="2800" dirty="0">
              <a:solidFill>
                <a:schemeClr val="accent4"/>
              </a:solidFill>
            </a:endParaRPr>
          </a:p>
          <a:p>
            <a:pPr algn="ctr"/>
            <a:r>
              <a:rPr lang="ko-KR" altLang="en-US" sz="2800" dirty="0">
                <a:solidFill>
                  <a:schemeClr val="accent4"/>
                </a:solidFill>
              </a:rPr>
              <a:t>효과</a:t>
            </a:r>
          </a:p>
        </p:txBody>
      </p:sp>
      <p:cxnSp>
        <p:nvCxnSpPr>
          <p:cNvPr id="73" name="꺾인 연결선 72"/>
          <p:cNvCxnSpPr>
            <a:cxnSpLocks/>
            <a:stCxn id="72" idx="3"/>
            <a:endCxn id="28" idx="1"/>
          </p:cNvCxnSpPr>
          <p:nvPr/>
        </p:nvCxnSpPr>
        <p:spPr>
          <a:xfrm flipV="1">
            <a:off x="1750897" y="3088245"/>
            <a:ext cx="575088" cy="119561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꺾인 연결선 73"/>
          <p:cNvCxnSpPr>
            <a:cxnSpLocks/>
            <a:stCxn id="72" idx="3"/>
            <a:endCxn id="31" idx="1"/>
          </p:cNvCxnSpPr>
          <p:nvPr/>
        </p:nvCxnSpPr>
        <p:spPr>
          <a:xfrm>
            <a:off x="1750897" y="4283855"/>
            <a:ext cx="575086" cy="113259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직선 연결선 74"/>
          <p:cNvCxnSpPr>
            <a:endCxn id="76" idx="4"/>
          </p:cNvCxnSpPr>
          <p:nvPr/>
        </p:nvCxnSpPr>
        <p:spPr>
          <a:xfrm flipV="1">
            <a:off x="7429813" y="3071825"/>
            <a:ext cx="4815" cy="66079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6" name="타원 75"/>
          <p:cNvSpPr/>
          <p:nvPr/>
        </p:nvSpPr>
        <p:spPr>
          <a:xfrm>
            <a:off x="7357259" y="291048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78" name="직사각형 77"/>
          <p:cNvSpPr/>
          <p:nvPr/>
        </p:nvSpPr>
        <p:spPr>
          <a:xfrm>
            <a:off x="6966552" y="3730767"/>
            <a:ext cx="926521" cy="432048"/>
          </a:xfrm>
          <a:prstGeom prst="rect">
            <a:avLst/>
          </a:prstGeom>
          <a:solidFill>
            <a:schemeClr val="accent1">
              <a:lumMod val="20000"/>
              <a:lumOff val="80000"/>
            </a:schemeClr>
          </a:solidFill>
          <a:ln w="9525">
            <a:solidFill>
              <a:schemeClr val="bg1">
                <a:lumMod val="50000"/>
              </a:schemeClr>
            </a:solidFill>
          </a:ln>
        </p:spPr>
        <p:style>
          <a:lnRef idx="2">
            <a:schemeClr val="accent5"/>
          </a:lnRef>
          <a:fillRef idx="1">
            <a:schemeClr val="lt1"/>
          </a:fillRef>
          <a:effectRef idx="0">
            <a:schemeClr val="accent5"/>
          </a:effectRef>
          <a:fontRef idx="minor">
            <a:schemeClr val="dk1"/>
          </a:fontRef>
        </p:style>
        <p:txBody>
          <a:bodyPr rtlCol="0" anchor="ctr"/>
          <a:lstStyle/>
          <a:p>
            <a:pPr algn="ctr"/>
            <a:r>
              <a:rPr lang="ko-KR" altLang="en-US" sz="1200" dirty="0"/>
              <a:t>특허무효</a:t>
            </a:r>
            <a:endParaRPr lang="en-US" altLang="ko-KR" sz="1200" dirty="0"/>
          </a:p>
          <a:p>
            <a:pPr algn="ctr"/>
            <a:r>
              <a:rPr lang="ko-KR" altLang="en-US" sz="1200" dirty="0"/>
              <a:t>심판청구</a:t>
            </a:r>
            <a:endParaRPr lang="en-US" altLang="ko-KR" sz="1200" dirty="0"/>
          </a:p>
        </p:txBody>
      </p:sp>
      <p:cxnSp>
        <p:nvCxnSpPr>
          <p:cNvPr id="79" name="직선 연결선 78"/>
          <p:cNvCxnSpPr>
            <a:stCxn id="81" idx="0"/>
            <a:endCxn id="80" idx="4"/>
          </p:cNvCxnSpPr>
          <p:nvPr/>
        </p:nvCxnSpPr>
        <p:spPr>
          <a:xfrm flipV="1">
            <a:off x="6810553" y="3071825"/>
            <a:ext cx="4815" cy="19325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0" name="타원 79"/>
          <p:cNvSpPr/>
          <p:nvPr/>
        </p:nvSpPr>
        <p:spPr>
          <a:xfrm>
            <a:off x="6737999" y="291048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81" name="직사각형 80"/>
          <p:cNvSpPr/>
          <p:nvPr/>
        </p:nvSpPr>
        <p:spPr>
          <a:xfrm>
            <a:off x="6347292" y="3265082"/>
            <a:ext cx="926521" cy="432048"/>
          </a:xfrm>
          <a:prstGeom prst="rect">
            <a:avLst/>
          </a:prstGeom>
          <a:solidFill>
            <a:schemeClr val="accent1">
              <a:lumMod val="20000"/>
              <a:lumOff val="80000"/>
            </a:schemeClr>
          </a:solidFill>
          <a:ln w="9525">
            <a:solidFill>
              <a:schemeClr val="bg1">
                <a:lumMod val="50000"/>
              </a:schemeClr>
            </a:solidFill>
          </a:ln>
        </p:spPr>
        <p:style>
          <a:lnRef idx="2">
            <a:schemeClr val="accent5"/>
          </a:lnRef>
          <a:fillRef idx="1">
            <a:schemeClr val="lt1"/>
          </a:fillRef>
          <a:effectRef idx="0">
            <a:schemeClr val="accent5"/>
          </a:effectRef>
          <a:fontRef idx="minor">
            <a:schemeClr val="dk1"/>
          </a:fontRef>
        </p:style>
        <p:txBody>
          <a:bodyPr rtlCol="0" anchor="ctr"/>
          <a:lstStyle/>
          <a:p>
            <a:pPr algn="ctr"/>
            <a:r>
              <a:rPr lang="ko-KR" altLang="en-US" sz="1200" dirty="0"/>
              <a:t>후발적 </a:t>
            </a:r>
            <a:endParaRPr lang="en-US" altLang="ko-KR" sz="1200" dirty="0"/>
          </a:p>
          <a:p>
            <a:pPr algn="ctr"/>
            <a:r>
              <a:rPr lang="ko-KR" altLang="en-US" sz="1200" dirty="0"/>
              <a:t>사유</a:t>
            </a:r>
            <a:endParaRPr lang="en-US" altLang="ko-KR" sz="1200" dirty="0"/>
          </a:p>
        </p:txBody>
      </p:sp>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465</a:t>
            </a:r>
            <a:endParaRPr lang="ko-KR" altLang="en-US" dirty="0"/>
          </a:p>
        </p:txBody>
      </p:sp>
      <p:sp>
        <p:nvSpPr>
          <p:cNvPr id="55" name="직사각형 54">
            <a:extLst>
              <a:ext uri="{FF2B5EF4-FFF2-40B4-BE49-F238E27FC236}">
                <a16:creationId xmlns:a16="http://schemas.microsoft.com/office/drawing/2014/main" id="{A776F8AC-BE10-4E2E-AD8B-9870FDDDAAE2}"/>
              </a:ext>
            </a:extLst>
          </p:cNvPr>
          <p:cNvSpPr/>
          <p:nvPr/>
        </p:nvSpPr>
        <p:spPr>
          <a:xfrm>
            <a:off x="7935992" y="3725080"/>
            <a:ext cx="926521" cy="432048"/>
          </a:xfrm>
          <a:prstGeom prst="rect">
            <a:avLst/>
          </a:prstGeom>
          <a:solidFill>
            <a:schemeClr val="accent1">
              <a:lumMod val="20000"/>
              <a:lumOff val="80000"/>
            </a:schemeClr>
          </a:solidFill>
          <a:ln w="9525">
            <a:solidFill>
              <a:schemeClr val="bg1">
                <a:lumMod val="50000"/>
              </a:schemeClr>
            </a:solidFill>
          </a:ln>
        </p:spPr>
        <p:style>
          <a:lnRef idx="2">
            <a:schemeClr val="accent5"/>
          </a:lnRef>
          <a:fillRef idx="1">
            <a:schemeClr val="lt1"/>
          </a:fillRef>
          <a:effectRef idx="0">
            <a:schemeClr val="accent5"/>
          </a:effectRef>
          <a:fontRef idx="minor">
            <a:schemeClr val="dk1"/>
          </a:fontRef>
        </p:style>
        <p:txBody>
          <a:bodyPr rtlCol="0" anchor="ctr"/>
          <a:lstStyle/>
          <a:p>
            <a:pPr algn="ctr"/>
            <a:r>
              <a:rPr lang="ko-KR" altLang="en-US" sz="1200" dirty="0" err="1"/>
              <a:t>인용심결</a:t>
            </a:r>
            <a:endParaRPr lang="en-US" altLang="ko-KR" sz="1200" dirty="0"/>
          </a:p>
          <a:p>
            <a:pPr algn="ctr"/>
            <a:r>
              <a:rPr lang="ko-KR" altLang="en-US" sz="1200" dirty="0"/>
              <a:t>확정</a:t>
            </a:r>
            <a:endParaRPr lang="en-US" altLang="ko-KR" sz="1200" dirty="0"/>
          </a:p>
        </p:txBody>
      </p:sp>
      <p:cxnSp>
        <p:nvCxnSpPr>
          <p:cNvPr id="77" name="직선 연결선 76">
            <a:extLst>
              <a:ext uri="{FF2B5EF4-FFF2-40B4-BE49-F238E27FC236}">
                <a16:creationId xmlns:a16="http://schemas.microsoft.com/office/drawing/2014/main" id="{92ABA1A3-81C3-4227-9F95-E2F7E33810BE}"/>
              </a:ext>
            </a:extLst>
          </p:cNvPr>
          <p:cNvCxnSpPr>
            <a:stCxn id="55" idx="0"/>
          </p:cNvCxnSpPr>
          <p:nvPr/>
        </p:nvCxnSpPr>
        <p:spPr>
          <a:xfrm flipV="1">
            <a:off x="8399253" y="3620169"/>
            <a:ext cx="1084" cy="10491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9064150"/>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양쪽 모서리가 둥근 사각형 19"/>
          <p:cNvSpPr/>
          <p:nvPr/>
        </p:nvSpPr>
        <p:spPr>
          <a:xfrm>
            <a:off x="3214394" y="4409812"/>
            <a:ext cx="7615908" cy="561760"/>
          </a:xfrm>
          <a:prstGeom prst="round2SameRect">
            <a:avLst>
              <a:gd name="adj1" fmla="val 50000"/>
              <a:gd name="adj2" fmla="val 0"/>
            </a:avLst>
          </a:prstGeom>
          <a:pattFill prst="lgGrid">
            <a:fgClr>
              <a:schemeClr val="accent4"/>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133</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solidFill>
                  <a:schemeClr val="tx1">
                    <a:lumMod val="65000"/>
                    <a:lumOff val="35000"/>
                  </a:schemeClr>
                </a:solidFill>
              </a:rPr>
              <a:t>실시료</a:t>
            </a:r>
            <a:r>
              <a:rPr lang="ko-KR" altLang="en-US" dirty="0">
                <a:solidFill>
                  <a:schemeClr val="tx1">
                    <a:lumMod val="65000"/>
                    <a:lumOff val="35000"/>
                  </a:schemeClr>
                </a:solidFill>
              </a:rPr>
              <a:t> 반환여부</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48" name="직선 연결선 47"/>
          <p:cNvCxnSpPr/>
          <p:nvPr/>
        </p:nvCxnSpPr>
        <p:spPr>
          <a:xfrm>
            <a:off x="77875" y="324393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77875" y="976902"/>
            <a:ext cx="11936323" cy="2246769"/>
          </a:xfrm>
          <a:prstGeom prst="rect">
            <a:avLst/>
          </a:prstGeom>
          <a:noFill/>
        </p:spPr>
        <p:txBody>
          <a:bodyPr wrap="square" rtlCol="0">
            <a:spAutoFit/>
          </a:bodyPr>
          <a:lstStyle/>
          <a:p>
            <a:pPr fontAlgn="base"/>
            <a:r>
              <a:rPr lang="ko-KR" altLang="en-US" sz="1400" dirty="0">
                <a:solidFill>
                  <a:schemeClr val="tx2"/>
                </a:solidFill>
              </a:rPr>
              <a:t>당사자 간에 </a:t>
            </a:r>
            <a:r>
              <a:rPr lang="ko-KR" altLang="en-US" sz="1400" dirty="0" err="1">
                <a:solidFill>
                  <a:schemeClr val="tx2"/>
                </a:solidFill>
              </a:rPr>
              <a:t>실시료</a:t>
            </a:r>
            <a:r>
              <a:rPr lang="ko-KR" altLang="en-US" sz="1400" dirty="0">
                <a:solidFill>
                  <a:schemeClr val="tx2"/>
                </a:solidFill>
              </a:rPr>
              <a:t> </a:t>
            </a:r>
            <a:r>
              <a:rPr lang="ko-KR" altLang="en-US" sz="1400" dirty="0" err="1">
                <a:solidFill>
                  <a:schemeClr val="tx2"/>
                </a:solidFill>
              </a:rPr>
              <a:t>불반환</a:t>
            </a:r>
            <a:r>
              <a:rPr lang="ko-KR" altLang="en-US" sz="1400" dirty="0">
                <a:solidFill>
                  <a:schemeClr val="tx2"/>
                </a:solidFill>
              </a:rPr>
              <a:t> 합의와 같은 특약이 없는 경우 </a:t>
            </a:r>
            <a:r>
              <a:rPr lang="ko-KR" altLang="en-US" sz="1400" dirty="0" err="1">
                <a:solidFill>
                  <a:schemeClr val="tx2"/>
                </a:solidFill>
              </a:rPr>
              <a:t>무효심결이</a:t>
            </a:r>
            <a:r>
              <a:rPr lang="ko-KR" altLang="en-US" sz="1400" dirty="0">
                <a:solidFill>
                  <a:schemeClr val="tx2"/>
                </a:solidFill>
              </a:rPr>
              <a:t> 확정된 특허권에 대하여 지급된 </a:t>
            </a:r>
            <a:r>
              <a:rPr lang="ko-KR" altLang="en-US" sz="1400" dirty="0" err="1">
                <a:solidFill>
                  <a:schemeClr val="tx2"/>
                </a:solidFill>
              </a:rPr>
              <a:t>실시료를</a:t>
            </a:r>
            <a:r>
              <a:rPr lang="ko-KR" altLang="en-US" sz="1400" dirty="0">
                <a:solidFill>
                  <a:schemeClr val="tx2"/>
                </a:solidFill>
              </a:rPr>
              <a:t> 부당이득으로서 반환청구가 될 수 </a:t>
            </a:r>
            <a:r>
              <a:rPr lang="ko-KR" altLang="en-US" sz="1400" dirty="0" err="1">
                <a:solidFill>
                  <a:schemeClr val="tx2"/>
                </a:solidFill>
              </a:rPr>
              <a:t>있는지와</a:t>
            </a:r>
            <a:r>
              <a:rPr lang="ko-KR" altLang="en-US" sz="1400" dirty="0">
                <a:solidFill>
                  <a:schemeClr val="tx2"/>
                </a:solidFill>
              </a:rPr>
              <a:t> 관련하여 견해의 대립이 있었으나</a:t>
            </a:r>
            <a:r>
              <a:rPr lang="en-US" altLang="ko-KR" sz="1400" dirty="0">
                <a:solidFill>
                  <a:schemeClr val="tx2"/>
                </a:solidFill>
              </a:rPr>
              <a:t>, </a:t>
            </a:r>
            <a:r>
              <a:rPr lang="ko-KR" altLang="en-US" sz="1400" dirty="0">
                <a:solidFill>
                  <a:schemeClr val="tx2"/>
                </a:solidFill>
              </a:rPr>
              <a:t>대법원 </a:t>
            </a:r>
            <a:r>
              <a:rPr lang="en-US" altLang="ko-KR" sz="1400" dirty="0">
                <a:solidFill>
                  <a:schemeClr val="tx2"/>
                </a:solidFill>
              </a:rPr>
              <a:t>2014. 11. 13. </a:t>
            </a:r>
            <a:r>
              <a:rPr lang="ko-KR" altLang="en-US" sz="1400" dirty="0">
                <a:solidFill>
                  <a:schemeClr val="tx2"/>
                </a:solidFill>
              </a:rPr>
              <a:t>선고 </a:t>
            </a:r>
            <a:r>
              <a:rPr lang="en-US" altLang="ko-KR" sz="1400" dirty="0">
                <a:solidFill>
                  <a:schemeClr val="tx2"/>
                </a:solidFill>
              </a:rPr>
              <a:t>2012</a:t>
            </a:r>
            <a:r>
              <a:rPr lang="ko-KR" altLang="en-US" sz="1400" dirty="0">
                <a:solidFill>
                  <a:schemeClr val="tx2"/>
                </a:solidFill>
              </a:rPr>
              <a:t>다</a:t>
            </a:r>
            <a:r>
              <a:rPr lang="en-US" altLang="ko-KR" sz="1400" dirty="0">
                <a:solidFill>
                  <a:schemeClr val="tx2"/>
                </a:solidFill>
              </a:rPr>
              <a:t>42666, 42673 </a:t>
            </a:r>
            <a:r>
              <a:rPr lang="ko-KR" altLang="en-US" sz="1400" dirty="0">
                <a:solidFill>
                  <a:schemeClr val="tx2"/>
                </a:solidFill>
              </a:rPr>
              <a:t>판결은 “특허발명 실시계약에 의하여 </a:t>
            </a:r>
            <a:r>
              <a:rPr lang="ko-KR" altLang="en-US" sz="1400" dirty="0" err="1">
                <a:solidFill>
                  <a:schemeClr val="tx2"/>
                </a:solidFill>
              </a:rPr>
              <a:t>특허권자는</a:t>
            </a:r>
            <a:r>
              <a:rPr lang="ko-KR" altLang="en-US" sz="1400" dirty="0">
                <a:solidFill>
                  <a:schemeClr val="tx2"/>
                </a:solidFill>
              </a:rPr>
              <a:t> </a:t>
            </a:r>
            <a:r>
              <a:rPr lang="ko-KR" altLang="en-US" sz="1400" dirty="0" err="1">
                <a:solidFill>
                  <a:schemeClr val="tx2"/>
                </a:solidFill>
              </a:rPr>
              <a:t>실시권자의</a:t>
            </a:r>
            <a:r>
              <a:rPr lang="ko-KR" altLang="en-US" sz="1400" dirty="0">
                <a:solidFill>
                  <a:schemeClr val="tx2"/>
                </a:solidFill>
              </a:rPr>
              <a:t> 특허발명 실시에 대하여 특허권 침해로 인한 손해배상이나 그 금지 등을 청구할 수 없게 될 뿐만 아니라 특허가 무효로 확정되기 이전에 존재하는 특허권의 </a:t>
            </a:r>
            <a:r>
              <a:rPr lang="ko-KR" altLang="en-US" sz="1400" dirty="0" err="1">
                <a:solidFill>
                  <a:schemeClr val="tx2"/>
                </a:solidFill>
              </a:rPr>
              <a:t>독점적ㆍ배타적</a:t>
            </a:r>
            <a:r>
              <a:rPr lang="ko-KR" altLang="en-US" sz="1400" dirty="0">
                <a:solidFill>
                  <a:schemeClr val="tx2"/>
                </a:solidFill>
              </a:rPr>
              <a:t> 효력에 의하여 제</a:t>
            </a:r>
            <a:r>
              <a:rPr lang="en-US" altLang="ko-KR" sz="1400" dirty="0">
                <a:solidFill>
                  <a:schemeClr val="tx2"/>
                </a:solidFill>
              </a:rPr>
              <a:t>3</a:t>
            </a:r>
            <a:r>
              <a:rPr lang="ko-KR" altLang="en-US" sz="1400" dirty="0">
                <a:solidFill>
                  <a:schemeClr val="tx2"/>
                </a:solidFill>
              </a:rPr>
              <a:t>자의 특허발명 실시가 금지되는 점에 비추어 보면</a:t>
            </a:r>
            <a:r>
              <a:rPr lang="en-US" altLang="ko-KR" sz="1400" dirty="0">
                <a:solidFill>
                  <a:schemeClr val="tx2"/>
                </a:solidFill>
              </a:rPr>
              <a:t>, </a:t>
            </a:r>
            <a:r>
              <a:rPr lang="ko-KR" altLang="en-US" sz="1400" dirty="0">
                <a:highlight>
                  <a:srgbClr val="FFFF00"/>
                </a:highlight>
              </a:rPr>
              <a:t>특허발명 실시계약의 목적이 된 특허발명의 실시가 불가능한 경우가 아닌 한 특허무효의 소급효에도 불구하고 그와 같은 특허를 대상으로 하여 체결된 특허발명 실시계약이 그 계약의 체결 당시부터 원시적으로 이행불능 상태에 있었다고 볼 수는 없고</a:t>
            </a:r>
            <a:r>
              <a:rPr lang="en-US" altLang="ko-KR" sz="1400" dirty="0">
                <a:highlight>
                  <a:srgbClr val="FFFF00"/>
                </a:highlight>
              </a:rPr>
              <a:t>, </a:t>
            </a:r>
            <a:r>
              <a:rPr lang="ko-KR" altLang="en-US" sz="1400" dirty="0">
                <a:highlight>
                  <a:srgbClr val="FFFF00"/>
                </a:highlight>
              </a:rPr>
              <a:t>다만 특허무효가 확정되면 그때부터 특허발명 실시계약은 이행불능 상태에 빠지게 된다고 보아야 한다</a:t>
            </a:r>
            <a:r>
              <a:rPr lang="en-US" altLang="ko-KR" sz="1400" dirty="0">
                <a:highlight>
                  <a:srgbClr val="FFFF00"/>
                </a:highlight>
              </a:rPr>
              <a:t>. </a:t>
            </a:r>
            <a:r>
              <a:rPr lang="ko-KR" altLang="en-US" sz="1400" dirty="0">
                <a:solidFill>
                  <a:schemeClr val="tx2"/>
                </a:solidFill>
              </a:rPr>
              <a:t>따라서 특허발명 실시계약 체결 이후에 특허가 무효로 확정되었더라도 앞서 본 바와 같이 </a:t>
            </a:r>
            <a:r>
              <a:rPr lang="ko-KR" altLang="en-US" sz="1400" dirty="0">
                <a:highlight>
                  <a:srgbClr val="FFFF00"/>
                </a:highlight>
              </a:rPr>
              <a:t>특허발명 실시계약이 원시적으로 이행불능 상태에 있었다거나 그 밖에 특허발명 실시계약 자체에 별도의 무효사유가 없는 한</a:t>
            </a:r>
            <a:r>
              <a:rPr lang="ko-KR" altLang="en-US" sz="1400" dirty="0">
                <a:solidFill>
                  <a:schemeClr val="tx2"/>
                </a:solidFill>
              </a:rPr>
              <a:t> 특허권자가 특허발명 실시계약에 따라 </a:t>
            </a:r>
            <a:r>
              <a:rPr lang="ko-KR" altLang="en-US" sz="1400" dirty="0" err="1">
                <a:solidFill>
                  <a:schemeClr val="tx2"/>
                </a:solidFill>
              </a:rPr>
              <a:t>실시권자로부터</a:t>
            </a:r>
            <a:r>
              <a:rPr lang="ko-KR" altLang="en-US" sz="1400" dirty="0">
                <a:solidFill>
                  <a:schemeClr val="tx2"/>
                </a:solidFill>
              </a:rPr>
              <a:t> 이미 지급받은 </a:t>
            </a:r>
            <a:r>
              <a:rPr lang="ko-KR" altLang="en-US" sz="1400" dirty="0" err="1">
                <a:solidFill>
                  <a:schemeClr val="tx2"/>
                </a:solidFill>
              </a:rPr>
              <a:t>특허실시료</a:t>
            </a:r>
            <a:r>
              <a:rPr lang="ko-KR" altLang="en-US" sz="1400" dirty="0">
                <a:solidFill>
                  <a:schemeClr val="tx2"/>
                </a:solidFill>
              </a:rPr>
              <a:t> 중 특허발명 실시계약이 유효하게 존재하는 기간에 상응하는 부분을 </a:t>
            </a:r>
            <a:r>
              <a:rPr lang="ko-KR" altLang="en-US" sz="1400" dirty="0" err="1">
                <a:solidFill>
                  <a:schemeClr val="tx2"/>
                </a:solidFill>
              </a:rPr>
              <a:t>실시권자에게</a:t>
            </a:r>
            <a:r>
              <a:rPr lang="ko-KR" altLang="en-US" sz="1400" dirty="0">
                <a:solidFill>
                  <a:schemeClr val="tx2"/>
                </a:solidFill>
              </a:rPr>
              <a:t> 부당이득으로 반환할 의무가 있다고 할 수 없다</a:t>
            </a:r>
            <a:r>
              <a:rPr lang="en-US" altLang="ko-KR" sz="1400" dirty="0">
                <a:solidFill>
                  <a:schemeClr val="tx2"/>
                </a:solidFill>
              </a:rPr>
              <a:t>.”</a:t>
            </a:r>
            <a:r>
              <a:rPr lang="ko-KR" altLang="en-US" sz="1400" dirty="0">
                <a:solidFill>
                  <a:schemeClr val="tx2"/>
                </a:solidFill>
              </a:rPr>
              <a:t>고 하여 특별한 사정이 없는 한 부당이득의 반환 의무를 부정하였다</a:t>
            </a:r>
            <a:r>
              <a:rPr lang="en-US" altLang="ko-KR" sz="1400" dirty="0">
                <a:solidFill>
                  <a:schemeClr val="tx2"/>
                </a:solidFill>
              </a:rPr>
              <a:t>. </a:t>
            </a:r>
            <a:r>
              <a:rPr lang="ko-KR" altLang="en-US" sz="1400" dirty="0">
                <a:solidFill>
                  <a:schemeClr val="tx2"/>
                </a:solidFill>
              </a:rPr>
              <a:t>또한</a:t>
            </a:r>
            <a:r>
              <a:rPr lang="en-US" altLang="ko-KR" sz="1400" dirty="0">
                <a:solidFill>
                  <a:schemeClr val="tx2"/>
                </a:solidFill>
              </a:rPr>
              <a:t>, </a:t>
            </a:r>
            <a:r>
              <a:rPr lang="ko-KR" altLang="en-US" sz="1400" dirty="0">
                <a:highlight>
                  <a:srgbClr val="FFFF00"/>
                </a:highlight>
              </a:rPr>
              <a:t>대법원 </a:t>
            </a:r>
            <a:r>
              <a:rPr lang="en-US" altLang="ko-KR" sz="1400" dirty="0">
                <a:highlight>
                  <a:srgbClr val="FFFF00"/>
                </a:highlight>
              </a:rPr>
              <a:t>2019. 4. 25. </a:t>
            </a:r>
            <a:r>
              <a:rPr lang="ko-KR" altLang="en-US" sz="1400" dirty="0">
                <a:highlight>
                  <a:srgbClr val="FFFF00"/>
                </a:highlight>
              </a:rPr>
              <a:t>선고 </a:t>
            </a:r>
            <a:r>
              <a:rPr lang="en-US" altLang="ko-KR" sz="1400" dirty="0">
                <a:highlight>
                  <a:srgbClr val="FFFF00"/>
                </a:highlight>
              </a:rPr>
              <a:t>2018</a:t>
            </a:r>
            <a:r>
              <a:rPr lang="ko-KR" altLang="en-US" sz="1400" dirty="0">
                <a:highlight>
                  <a:srgbClr val="FFFF00"/>
                </a:highlight>
              </a:rPr>
              <a:t>다</a:t>
            </a:r>
            <a:r>
              <a:rPr lang="en-US" altLang="ko-KR" sz="1400" dirty="0">
                <a:highlight>
                  <a:srgbClr val="FFFF00"/>
                </a:highlight>
              </a:rPr>
              <a:t>287362 </a:t>
            </a:r>
            <a:r>
              <a:rPr lang="ko-KR" altLang="en-US" sz="1400" dirty="0">
                <a:highlight>
                  <a:srgbClr val="FFFF00"/>
                </a:highlight>
              </a:rPr>
              <a:t>판결에서는 특허권자는 원칙적으로 특허발명 실시계약이 유효하게 존재하는 기간 동안 실시료의 지급을 청구할 수 있다고 판시</a:t>
            </a:r>
            <a:r>
              <a:rPr lang="ko-KR" altLang="en-US" sz="1400" dirty="0">
                <a:solidFill>
                  <a:schemeClr val="tx2"/>
                </a:solidFill>
              </a:rPr>
              <a:t>하였다</a:t>
            </a:r>
            <a:r>
              <a:rPr lang="en-US" altLang="ko-KR" sz="1400" dirty="0">
                <a:solidFill>
                  <a:schemeClr val="tx2"/>
                </a:solidFill>
              </a:rPr>
              <a:t>.</a:t>
            </a:r>
            <a:endParaRPr lang="ko-KR" altLang="en-US" sz="1400" dirty="0">
              <a:solidFill>
                <a:schemeClr val="tx2"/>
              </a:solidFill>
            </a:endParaRPr>
          </a:p>
        </p:txBody>
      </p:sp>
      <p:sp>
        <p:nvSpPr>
          <p:cNvPr id="54" name="Line 5"/>
          <p:cNvSpPr>
            <a:spLocks noChangeShapeType="1"/>
          </p:cNvSpPr>
          <p:nvPr/>
        </p:nvSpPr>
        <p:spPr bwMode="auto">
          <a:xfrm>
            <a:off x="328662" y="4971572"/>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55" name="TextBox 54"/>
          <p:cNvSpPr txBox="1"/>
          <p:nvPr/>
        </p:nvSpPr>
        <p:spPr>
          <a:xfrm>
            <a:off x="485189" y="4816194"/>
            <a:ext cx="1326678"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설정등록</a:t>
            </a:r>
            <a:endParaRPr lang="en-US" altLang="ko-KR" sz="1400" dirty="0">
              <a:solidFill>
                <a:schemeClr val="tx1"/>
              </a:solidFill>
              <a:latin typeface="+mn-ea"/>
            </a:endParaRPr>
          </a:p>
        </p:txBody>
      </p:sp>
      <p:sp>
        <p:nvSpPr>
          <p:cNvPr id="77" name="TextBox 76"/>
          <p:cNvSpPr txBox="1"/>
          <p:nvPr/>
        </p:nvSpPr>
        <p:spPr>
          <a:xfrm>
            <a:off x="2551055" y="4816194"/>
            <a:ext cx="1326678"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실시권허락계약</a:t>
            </a:r>
            <a:endParaRPr lang="en-US" altLang="ko-KR" sz="1400" dirty="0">
              <a:solidFill>
                <a:schemeClr val="tx1"/>
              </a:solidFill>
              <a:latin typeface="+mn-ea"/>
            </a:endParaRPr>
          </a:p>
        </p:txBody>
      </p:sp>
      <p:sp>
        <p:nvSpPr>
          <p:cNvPr id="83" name="TextBox 82"/>
          <p:cNvSpPr txBox="1"/>
          <p:nvPr/>
        </p:nvSpPr>
        <p:spPr>
          <a:xfrm>
            <a:off x="4684585" y="4816194"/>
            <a:ext cx="1326678"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무효심판청구</a:t>
            </a:r>
            <a:endParaRPr lang="en-US" altLang="ko-KR" sz="1400" dirty="0">
              <a:solidFill>
                <a:schemeClr val="tx1"/>
              </a:solidFill>
              <a:latin typeface="+mn-ea"/>
            </a:endParaRPr>
          </a:p>
        </p:txBody>
      </p:sp>
      <p:sp>
        <p:nvSpPr>
          <p:cNvPr id="84" name="TextBox 83"/>
          <p:cNvSpPr txBox="1"/>
          <p:nvPr/>
        </p:nvSpPr>
        <p:spPr>
          <a:xfrm>
            <a:off x="6611126" y="4816194"/>
            <a:ext cx="1326678"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무효심결확정</a:t>
            </a:r>
            <a:endParaRPr lang="en-US" altLang="ko-KR" sz="1400" dirty="0">
              <a:solidFill>
                <a:schemeClr val="tx1"/>
              </a:solidFill>
              <a:latin typeface="+mn-ea"/>
            </a:endParaRPr>
          </a:p>
        </p:txBody>
      </p:sp>
      <p:sp>
        <p:nvSpPr>
          <p:cNvPr id="86" name="TextBox 85"/>
          <p:cNvSpPr txBox="1"/>
          <p:nvPr/>
        </p:nvSpPr>
        <p:spPr>
          <a:xfrm>
            <a:off x="2051170" y="3715599"/>
            <a:ext cx="2318263" cy="523220"/>
          </a:xfrm>
          <a:prstGeom prst="rect">
            <a:avLst/>
          </a:prstGeom>
          <a:noFill/>
          <a:ln>
            <a:solidFill>
              <a:schemeClr val="bg1">
                <a:lumMod val="50000"/>
              </a:schemeClr>
            </a:solidFill>
          </a:ln>
        </p:spPr>
        <p:txBody>
          <a:bodyPr wrap="none" rtlCol="0">
            <a:spAutoFit/>
          </a:bodyPr>
          <a:lstStyle/>
          <a:p>
            <a:pPr algn="ctr"/>
            <a:r>
              <a:rPr lang="ko-KR" altLang="en-US" sz="1400" dirty="0"/>
              <a:t>향후 </a:t>
            </a:r>
            <a:r>
              <a:rPr lang="en-US" altLang="ko-KR" sz="1400" dirty="0"/>
              <a:t>10</a:t>
            </a:r>
            <a:r>
              <a:rPr lang="ko-KR" altLang="en-US" sz="1400" dirty="0"/>
              <a:t>년간 </a:t>
            </a:r>
            <a:r>
              <a:rPr lang="ko-KR" altLang="en-US" sz="1400" dirty="0" err="1"/>
              <a:t>연매출의</a:t>
            </a:r>
            <a:r>
              <a:rPr lang="ko-KR" altLang="en-US" sz="1400" dirty="0"/>
              <a:t> </a:t>
            </a:r>
            <a:r>
              <a:rPr lang="en-US" altLang="ko-KR" sz="1400" dirty="0"/>
              <a:t>3%</a:t>
            </a:r>
            <a:r>
              <a:rPr lang="ko-KR" altLang="en-US" sz="1400" dirty="0"/>
              <a:t>의 </a:t>
            </a:r>
            <a:endParaRPr lang="en-US" altLang="ko-KR" sz="1400" dirty="0"/>
          </a:p>
          <a:p>
            <a:pPr algn="ctr"/>
            <a:r>
              <a:rPr lang="ko-KR" altLang="en-US" sz="1400" dirty="0" err="1"/>
              <a:t>실시료</a:t>
            </a:r>
            <a:r>
              <a:rPr lang="ko-KR" altLang="en-US" sz="1400" dirty="0"/>
              <a:t> 지급</a:t>
            </a:r>
            <a:endParaRPr lang="en-US" altLang="ko-KR" sz="1400" dirty="0"/>
          </a:p>
        </p:txBody>
      </p:sp>
      <p:cxnSp>
        <p:nvCxnSpPr>
          <p:cNvPr id="88" name="직선 화살표 연결선 87"/>
          <p:cNvCxnSpPr>
            <a:stCxn id="86" idx="2"/>
            <a:endCxn id="77" idx="0"/>
          </p:cNvCxnSpPr>
          <p:nvPr/>
        </p:nvCxnSpPr>
        <p:spPr>
          <a:xfrm>
            <a:off x="3210302" y="4238819"/>
            <a:ext cx="4092" cy="577375"/>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 name="직선 연결선 7"/>
          <p:cNvCxnSpPr>
            <a:cxnSpLocks/>
            <a:stCxn id="77" idx="2"/>
          </p:cNvCxnSpPr>
          <p:nvPr/>
        </p:nvCxnSpPr>
        <p:spPr>
          <a:xfrm>
            <a:off x="3214394" y="5142752"/>
            <a:ext cx="0" cy="9355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직선 연결선 90"/>
          <p:cNvCxnSpPr>
            <a:cxnSpLocks/>
          </p:cNvCxnSpPr>
          <p:nvPr/>
        </p:nvCxnSpPr>
        <p:spPr>
          <a:xfrm>
            <a:off x="10830302" y="4979473"/>
            <a:ext cx="0" cy="1190072"/>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직선 연결선 91"/>
          <p:cNvCxnSpPr>
            <a:cxnSpLocks/>
            <a:stCxn id="84" idx="2"/>
          </p:cNvCxnSpPr>
          <p:nvPr/>
        </p:nvCxnSpPr>
        <p:spPr>
          <a:xfrm>
            <a:off x="7274465" y="5142752"/>
            <a:ext cx="0" cy="93555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직선 화살표 연결선 10"/>
          <p:cNvCxnSpPr/>
          <p:nvPr/>
        </p:nvCxnSpPr>
        <p:spPr>
          <a:xfrm>
            <a:off x="3214394" y="5584512"/>
            <a:ext cx="4060071" cy="0"/>
          </a:xfrm>
          <a:prstGeom prst="straightConnector1">
            <a:avLst/>
          </a:prstGeom>
          <a:ln w="38100">
            <a:solidFill>
              <a:schemeClr val="accent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직선 화살표 연결선 92"/>
          <p:cNvCxnSpPr/>
          <p:nvPr/>
        </p:nvCxnSpPr>
        <p:spPr>
          <a:xfrm>
            <a:off x="7274465" y="5584512"/>
            <a:ext cx="3555836" cy="0"/>
          </a:xfrm>
          <a:prstGeom prst="straightConnector1">
            <a:avLst/>
          </a:prstGeom>
          <a:ln w="38100">
            <a:solidFill>
              <a:schemeClr val="accent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4" name="TextBox 93"/>
          <p:cNvSpPr txBox="1"/>
          <p:nvPr/>
        </p:nvSpPr>
        <p:spPr>
          <a:xfrm>
            <a:off x="3833630" y="5643781"/>
            <a:ext cx="2951449" cy="307777"/>
          </a:xfrm>
          <a:prstGeom prst="rect">
            <a:avLst/>
          </a:prstGeom>
          <a:noFill/>
          <a:ln>
            <a:noFill/>
          </a:ln>
        </p:spPr>
        <p:txBody>
          <a:bodyPr wrap="none" rtlCol="0">
            <a:spAutoFit/>
          </a:bodyPr>
          <a:lstStyle/>
          <a:p>
            <a:pPr algn="ctr"/>
            <a:r>
              <a:rPr lang="ko-KR" altLang="en-US" sz="1400" dirty="0" err="1"/>
              <a:t>기지급</a:t>
            </a:r>
            <a:r>
              <a:rPr lang="ko-KR" altLang="en-US" sz="1400" dirty="0"/>
              <a:t> </a:t>
            </a:r>
            <a:r>
              <a:rPr lang="ko-KR" altLang="en-US" sz="1400" dirty="0" err="1"/>
              <a:t>실시료</a:t>
            </a:r>
            <a:r>
              <a:rPr lang="ko-KR" altLang="en-US" sz="1400" dirty="0"/>
              <a:t> 부당이득 반환 여부</a:t>
            </a:r>
            <a:r>
              <a:rPr lang="en-US" altLang="ko-KR" sz="1400" dirty="0"/>
              <a:t>? ×</a:t>
            </a:r>
          </a:p>
        </p:txBody>
      </p:sp>
      <p:sp>
        <p:nvSpPr>
          <p:cNvPr id="95" name="TextBox 94"/>
          <p:cNvSpPr txBox="1"/>
          <p:nvPr/>
        </p:nvSpPr>
        <p:spPr>
          <a:xfrm>
            <a:off x="8168168" y="5643781"/>
            <a:ext cx="1768434" cy="307777"/>
          </a:xfrm>
          <a:prstGeom prst="rect">
            <a:avLst/>
          </a:prstGeom>
          <a:noFill/>
          <a:ln>
            <a:noFill/>
          </a:ln>
        </p:spPr>
        <p:txBody>
          <a:bodyPr wrap="none" rtlCol="0">
            <a:spAutoFit/>
          </a:bodyPr>
          <a:lstStyle/>
          <a:p>
            <a:pPr algn="ctr"/>
            <a:r>
              <a:rPr lang="ko-KR" altLang="en-US" sz="1400" dirty="0" err="1"/>
              <a:t>실시료</a:t>
            </a:r>
            <a:r>
              <a:rPr lang="ko-KR" altLang="en-US" sz="1400" dirty="0"/>
              <a:t> 지급 여부</a:t>
            </a:r>
            <a:r>
              <a:rPr lang="en-US" altLang="ko-KR" sz="1400" dirty="0"/>
              <a:t>? × </a:t>
            </a:r>
          </a:p>
        </p:txBody>
      </p:sp>
      <p:sp>
        <p:nvSpPr>
          <p:cNvPr id="96" name="TextBox 95"/>
          <p:cNvSpPr txBox="1"/>
          <p:nvPr/>
        </p:nvSpPr>
        <p:spPr>
          <a:xfrm>
            <a:off x="6202324" y="4079633"/>
            <a:ext cx="545342" cy="307777"/>
          </a:xfrm>
          <a:prstGeom prst="rect">
            <a:avLst/>
          </a:prstGeom>
          <a:noFill/>
          <a:ln>
            <a:noFill/>
          </a:ln>
        </p:spPr>
        <p:txBody>
          <a:bodyPr wrap="none" rtlCol="0">
            <a:spAutoFit/>
          </a:bodyPr>
          <a:lstStyle/>
          <a:p>
            <a:pPr algn="ctr"/>
            <a:r>
              <a:rPr lang="en-US" altLang="ko-KR" sz="1400" dirty="0"/>
              <a:t>10</a:t>
            </a:r>
            <a:r>
              <a:rPr lang="ko-KR" altLang="en-US" sz="1400" dirty="0"/>
              <a:t>년</a:t>
            </a:r>
            <a:endParaRPr lang="en-US" altLang="ko-KR" sz="1400" dirty="0"/>
          </a:p>
        </p:txBody>
      </p:sp>
      <p:sp>
        <p:nvSpPr>
          <p:cNvPr id="6" name="말풍선: 모서리가 둥근 사각형 5">
            <a:extLst>
              <a:ext uri="{FF2B5EF4-FFF2-40B4-BE49-F238E27FC236}">
                <a16:creationId xmlns:a16="http://schemas.microsoft.com/office/drawing/2014/main" id="{44907F01-3983-4F76-A712-ADD76C226D04}"/>
              </a:ext>
            </a:extLst>
          </p:cNvPr>
          <p:cNvSpPr/>
          <p:nvPr/>
        </p:nvSpPr>
        <p:spPr>
          <a:xfrm>
            <a:off x="7270373" y="3614067"/>
            <a:ext cx="3559928" cy="465556"/>
          </a:xfrm>
          <a:prstGeom prst="wedgeRoundRectCallout">
            <a:avLst>
              <a:gd name="adj1" fmla="val -48726"/>
              <a:gd name="adj2" fmla="val 201470"/>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50000"/>
                  </a:schemeClr>
                </a:solidFill>
              </a:rPr>
              <a:t>특허권은 처음부터 없었던 것으로 간주되나</a:t>
            </a:r>
            <a:r>
              <a:rPr lang="en-US" altLang="ko-KR" sz="1200" dirty="0">
                <a:solidFill>
                  <a:schemeClr val="bg1">
                    <a:lumMod val="50000"/>
                  </a:schemeClr>
                </a:solidFill>
              </a:rPr>
              <a:t>, </a:t>
            </a:r>
          </a:p>
          <a:p>
            <a:pPr algn="ctr"/>
            <a:r>
              <a:rPr lang="ko-KR" altLang="en-US" sz="1200" dirty="0">
                <a:solidFill>
                  <a:schemeClr val="bg1">
                    <a:lumMod val="50000"/>
                  </a:schemeClr>
                </a:solidFill>
              </a:rPr>
              <a:t>실시계약은 </a:t>
            </a:r>
            <a:r>
              <a:rPr lang="ko-KR" altLang="en-US" sz="1200" dirty="0" err="1">
                <a:solidFill>
                  <a:schemeClr val="bg1">
                    <a:lumMod val="50000"/>
                  </a:schemeClr>
                </a:solidFill>
              </a:rPr>
              <a:t>무효심결이</a:t>
            </a:r>
            <a:r>
              <a:rPr lang="ko-KR" altLang="en-US" sz="1200" dirty="0">
                <a:solidFill>
                  <a:schemeClr val="bg1">
                    <a:lumMod val="50000"/>
                  </a:schemeClr>
                </a:solidFill>
              </a:rPr>
              <a:t> 확정된 때부터 이행불능상태</a:t>
            </a:r>
          </a:p>
        </p:txBody>
      </p:sp>
      <p:sp>
        <p:nvSpPr>
          <p:cNvPr id="7" name="TextBox 6">
            <a:extLst>
              <a:ext uri="{FF2B5EF4-FFF2-40B4-BE49-F238E27FC236}">
                <a16:creationId xmlns:a16="http://schemas.microsoft.com/office/drawing/2014/main" id="{D2071F77-6AFD-4DD8-AF40-E8DBDB745189}"/>
              </a:ext>
            </a:extLst>
          </p:cNvPr>
          <p:cNvSpPr txBox="1"/>
          <p:nvPr/>
        </p:nvSpPr>
        <p:spPr>
          <a:xfrm>
            <a:off x="3661492" y="3286484"/>
            <a:ext cx="8502649" cy="307777"/>
          </a:xfrm>
          <a:prstGeom prst="rect">
            <a:avLst/>
          </a:prstGeom>
          <a:noFill/>
        </p:spPr>
        <p:txBody>
          <a:bodyPr wrap="none" rtlCol="0">
            <a:spAutoFit/>
          </a:bodyPr>
          <a:lstStyle/>
          <a:p>
            <a:r>
              <a:rPr lang="ko-KR" altLang="en-US" sz="1400" dirty="0">
                <a:solidFill>
                  <a:srgbClr val="FF0000"/>
                </a:solidFill>
                <a:highlight>
                  <a:srgbClr val="CCECFF"/>
                </a:highlight>
              </a:rPr>
              <a:t>특허무효의 소급효라는 공법상 효력에 의하여 실시계약이라는 사법상의 법률관계까지 원시적 무효로 보기는 어렵다</a:t>
            </a:r>
          </a:p>
        </p:txBody>
      </p:sp>
      <p:sp>
        <p:nvSpPr>
          <p:cNvPr id="26" name="TextBox 25">
            <a:extLst>
              <a:ext uri="{FF2B5EF4-FFF2-40B4-BE49-F238E27FC236}">
                <a16:creationId xmlns:a16="http://schemas.microsoft.com/office/drawing/2014/main" id="{AC6ED53D-0B00-4021-84BC-74214C2E906E}"/>
              </a:ext>
            </a:extLst>
          </p:cNvPr>
          <p:cNvSpPr txBox="1"/>
          <p:nvPr/>
        </p:nvSpPr>
        <p:spPr>
          <a:xfrm>
            <a:off x="3661492" y="6061711"/>
            <a:ext cx="6721712" cy="738664"/>
          </a:xfrm>
          <a:prstGeom prst="rect">
            <a:avLst/>
          </a:prstGeom>
          <a:noFill/>
        </p:spPr>
        <p:txBody>
          <a:bodyPr wrap="none" rtlCol="0">
            <a:spAutoFit/>
          </a:bodyPr>
          <a:lstStyle/>
          <a:p>
            <a:r>
              <a:rPr lang="ko-KR" altLang="en-US" sz="1400" dirty="0" err="1">
                <a:solidFill>
                  <a:srgbClr val="FF0000"/>
                </a:solidFill>
              </a:rPr>
              <a:t>기지급</a:t>
            </a:r>
            <a:r>
              <a:rPr lang="ko-KR" altLang="en-US" sz="1400" dirty="0">
                <a:solidFill>
                  <a:srgbClr val="FF0000"/>
                </a:solidFill>
              </a:rPr>
              <a:t> 실시료는 유효하게 존속하는 실시계약에 기하여 받은 것이므로 법률상 원인이 있고</a:t>
            </a:r>
            <a:r>
              <a:rPr lang="en-US" altLang="ko-KR" sz="1400" dirty="0">
                <a:solidFill>
                  <a:srgbClr val="FF0000"/>
                </a:solidFill>
              </a:rPr>
              <a:t>, </a:t>
            </a:r>
          </a:p>
          <a:p>
            <a:r>
              <a:rPr lang="ko-KR" altLang="en-US" sz="1400" dirty="0" err="1">
                <a:solidFill>
                  <a:srgbClr val="FF0000"/>
                </a:solidFill>
              </a:rPr>
              <a:t>실시권자는</a:t>
            </a:r>
            <a:r>
              <a:rPr lang="ko-KR" altLang="en-US" sz="1400" dirty="0">
                <a:solidFill>
                  <a:srgbClr val="FF0000"/>
                </a:solidFill>
              </a:rPr>
              <a:t> 특허를 배타적으로 사용함에 따른 경제적 이익을 얻었으므로 </a:t>
            </a:r>
            <a:endParaRPr lang="en-US" altLang="ko-KR" sz="1400" dirty="0">
              <a:solidFill>
                <a:srgbClr val="FF0000"/>
              </a:solidFill>
            </a:endParaRPr>
          </a:p>
          <a:p>
            <a:r>
              <a:rPr lang="ko-KR" altLang="en-US" sz="1400" dirty="0">
                <a:solidFill>
                  <a:srgbClr val="FF0000"/>
                </a:solidFill>
              </a:rPr>
              <a:t>손해도 없어 부당이득반환청구는 이유 없다</a:t>
            </a:r>
            <a:r>
              <a:rPr lang="en-US" altLang="ko-KR" sz="1400" dirty="0">
                <a:solidFill>
                  <a:srgbClr val="FF0000"/>
                </a:solidFill>
              </a:rPr>
              <a:t>.</a:t>
            </a:r>
            <a:endParaRPr lang="ko-KR" altLang="en-US" sz="1400" dirty="0">
              <a:solidFill>
                <a:srgbClr val="FF0000"/>
              </a:solidFill>
            </a:endParaRPr>
          </a:p>
        </p:txBody>
      </p:sp>
      <p:sp>
        <p:nvSpPr>
          <p:cNvPr id="9" name="직사각형 8">
            <a:extLst>
              <a:ext uri="{FF2B5EF4-FFF2-40B4-BE49-F238E27FC236}">
                <a16:creationId xmlns:a16="http://schemas.microsoft.com/office/drawing/2014/main" id="{ED229215-172C-4824-8ACC-6E152DEB6666}"/>
              </a:ext>
            </a:extLst>
          </p:cNvPr>
          <p:cNvSpPr/>
          <p:nvPr/>
        </p:nvSpPr>
        <p:spPr>
          <a:xfrm>
            <a:off x="115398" y="5888685"/>
            <a:ext cx="3388424" cy="954107"/>
          </a:xfrm>
          <a:prstGeom prst="rect">
            <a:avLst/>
          </a:prstGeom>
          <a:solidFill>
            <a:schemeClr val="bg1">
              <a:lumMod val="95000"/>
            </a:schemeClr>
          </a:solidFill>
          <a:ln>
            <a:solidFill>
              <a:schemeClr val="bg1">
                <a:lumMod val="50000"/>
              </a:schemeClr>
            </a:solidFill>
          </a:ln>
        </p:spPr>
        <p:txBody>
          <a:bodyPr wrap="square">
            <a:spAutoFit/>
          </a:bodyPr>
          <a:lstStyle/>
          <a:p>
            <a:r>
              <a:rPr lang="ko-KR" altLang="en-US" sz="1400" dirty="0">
                <a:latin typeface="+mn-ea"/>
              </a:rPr>
              <a:t>법률상 원인없이 타인의 재산 또는 노무로 인하여 이익을 얻고 이로 인하여 타인에게 손해를 가한 자는 그 이익을 반환하여야 합니다</a:t>
            </a:r>
            <a:r>
              <a:rPr lang="en-US" altLang="ko-KR" sz="1400" dirty="0">
                <a:latin typeface="+mn-ea"/>
              </a:rPr>
              <a:t>(</a:t>
            </a:r>
            <a:r>
              <a:rPr lang="ko-KR" altLang="en-US" sz="1400" dirty="0">
                <a:latin typeface="+mn-ea"/>
              </a:rPr>
              <a:t>민법 제</a:t>
            </a:r>
            <a:r>
              <a:rPr lang="en-US" altLang="ko-KR" sz="1400" dirty="0">
                <a:latin typeface="+mn-ea"/>
              </a:rPr>
              <a:t>741</a:t>
            </a:r>
            <a:r>
              <a:rPr lang="ko-KR" altLang="en-US" sz="1400" dirty="0">
                <a:latin typeface="+mn-ea"/>
              </a:rPr>
              <a:t>조</a:t>
            </a:r>
            <a:r>
              <a:rPr lang="en-US" altLang="ko-KR" sz="1400" dirty="0">
                <a:latin typeface="+mn-ea"/>
              </a:rPr>
              <a:t>).</a:t>
            </a:r>
            <a:endParaRPr lang="ko-KR" altLang="en-US" sz="1400" dirty="0">
              <a:latin typeface="+mn-ea"/>
            </a:endParaRPr>
          </a:p>
        </p:txBody>
      </p:sp>
      <p:sp>
        <p:nvSpPr>
          <p:cNvPr id="10" name="TextBox 9">
            <a:extLst>
              <a:ext uri="{FF2B5EF4-FFF2-40B4-BE49-F238E27FC236}">
                <a16:creationId xmlns:a16="http://schemas.microsoft.com/office/drawing/2014/main" id="{772B0E7D-86D8-4076-AA6B-60B49C7EE0E6}"/>
              </a:ext>
            </a:extLst>
          </p:cNvPr>
          <p:cNvSpPr txBox="1"/>
          <p:nvPr/>
        </p:nvSpPr>
        <p:spPr>
          <a:xfrm>
            <a:off x="4993036" y="3710291"/>
            <a:ext cx="1018227" cy="369332"/>
          </a:xfrm>
          <a:prstGeom prst="rect">
            <a:avLst/>
          </a:prstGeom>
          <a:noFill/>
          <a:ln>
            <a:solidFill>
              <a:schemeClr val="bg1">
                <a:lumMod val="50000"/>
              </a:schemeClr>
            </a:solidFill>
          </a:ln>
        </p:spPr>
        <p:txBody>
          <a:bodyPr wrap="none" rtlCol="0">
            <a:spAutoFit/>
          </a:bodyPr>
          <a:lstStyle/>
          <a:p>
            <a:r>
              <a:rPr lang="ko-KR" altLang="en-US"/>
              <a:t>실시권자</a:t>
            </a:r>
            <a:endParaRPr lang="ko-KR" altLang="en-US" dirty="0"/>
          </a:p>
        </p:txBody>
      </p:sp>
      <p:cxnSp>
        <p:nvCxnSpPr>
          <p:cNvPr id="15" name="연결선: 꺾임 14">
            <a:extLst>
              <a:ext uri="{FF2B5EF4-FFF2-40B4-BE49-F238E27FC236}">
                <a16:creationId xmlns:a16="http://schemas.microsoft.com/office/drawing/2014/main" id="{6AE7FFC6-FADE-4117-8C3A-FA7D474D6EFE}"/>
              </a:ext>
            </a:extLst>
          </p:cNvPr>
          <p:cNvCxnSpPr>
            <a:stCxn id="10" idx="2"/>
            <a:endCxn id="83" idx="0"/>
          </p:cNvCxnSpPr>
          <p:nvPr/>
        </p:nvCxnSpPr>
        <p:spPr>
          <a:xfrm rot="5400000">
            <a:off x="5056752" y="4370795"/>
            <a:ext cx="736571" cy="154226"/>
          </a:xfrm>
          <a:prstGeom prst="bentConnector3">
            <a:avLst>
              <a:gd name="adj1" fmla="val 28919"/>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2450900"/>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133</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err="1">
                <a:solidFill>
                  <a:schemeClr val="tx1">
                    <a:lumMod val="65000"/>
                    <a:lumOff val="35000"/>
                  </a:schemeClr>
                </a:solidFill>
              </a:rPr>
              <a:t>실시료</a:t>
            </a:r>
            <a:r>
              <a:rPr lang="ko-KR" altLang="en-US" dirty="0">
                <a:solidFill>
                  <a:schemeClr val="tx1">
                    <a:lumMod val="65000"/>
                    <a:lumOff val="35000"/>
                  </a:schemeClr>
                </a:solidFill>
              </a:rPr>
              <a:t> 반환여부에 대한 학설</a:t>
            </a:r>
            <a:r>
              <a:rPr lang="en-US" altLang="ko-KR" dirty="0">
                <a:solidFill>
                  <a:schemeClr val="tx1">
                    <a:lumMod val="65000"/>
                    <a:lumOff val="35000"/>
                  </a:schemeClr>
                </a:solidFill>
              </a:rPr>
              <a:t>*</a:t>
            </a:r>
            <a:endParaRPr lang="ko-KR" altLang="en-US" dirty="0">
              <a:solidFill>
                <a:schemeClr val="tx1">
                  <a:lumMod val="65000"/>
                  <a:lumOff val="35000"/>
                </a:schemeClr>
              </a:solidFill>
            </a:endParaRP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graphicFrame>
        <p:nvGraphicFramePr>
          <p:cNvPr id="10" name="표 11">
            <a:extLst>
              <a:ext uri="{FF2B5EF4-FFF2-40B4-BE49-F238E27FC236}">
                <a16:creationId xmlns:a16="http://schemas.microsoft.com/office/drawing/2014/main" id="{87715281-C32F-4C28-A2F7-FE732B4B046C}"/>
              </a:ext>
            </a:extLst>
          </p:cNvPr>
          <p:cNvGraphicFramePr>
            <a:graphicFrameLocks noGrp="1"/>
          </p:cNvGraphicFramePr>
          <p:nvPr/>
        </p:nvGraphicFramePr>
        <p:xfrm>
          <a:off x="171450" y="1133000"/>
          <a:ext cx="11839576" cy="5394960"/>
        </p:xfrm>
        <a:graphic>
          <a:graphicData uri="http://schemas.openxmlformats.org/drawingml/2006/table">
            <a:tbl>
              <a:tblPr>
                <a:tableStyleId>{8799B23B-EC83-4686-B30A-512413B5E67A}</a:tableStyleId>
              </a:tblPr>
              <a:tblGrid>
                <a:gridCol w="811857">
                  <a:extLst>
                    <a:ext uri="{9D8B030D-6E8A-4147-A177-3AD203B41FA5}">
                      <a16:colId xmlns:a16="http://schemas.microsoft.com/office/drawing/2014/main" val="777872737"/>
                    </a:ext>
                  </a:extLst>
                </a:gridCol>
                <a:gridCol w="4017318">
                  <a:extLst>
                    <a:ext uri="{9D8B030D-6E8A-4147-A177-3AD203B41FA5}">
                      <a16:colId xmlns:a16="http://schemas.microsoft.com/office/drawing/2014/main" val="2344735692"/>
                    </a:ext>
                  </a:extLst>
                </a:gridCol>
                <a:gridCol w="7010401">
                  <a:extLst>
                    <a:ext uri="{9D8B030D-6E8A-4147-A177-3AD203B41FA5}">
                      <a16:colId xmlns:a16="http://schemas.microsoft.com/office/drawing/2014/main" val="3741927739"/>
                    </a:ext>
                  </a:extLst>
                </a:gridCol>
              </a:tblGrid>
              <a:tr h="154141">
                <a:tc>
                  <a:txBody>
                    <a:bodyPr/>
                    <a:lstStyle/>
                    <a:p>
                      <a:pPr algn="ctr" latinLnBrk="1"/>
                      <a:r>
                        <a:rPr lang="ko-KR" altLang="en-US" sz="1200" dirty="0"/>
                        <a:t>구분</a:t>
                      </a:r>
                    </a:p>
                  </a:txBody>
                  <a:tcPr>
                    <a:solidFill>
                      <a:schemeClr val="bg1">
                        <a:lumMod val="85000"/>
                      </a:schemeClr>
                    </a:solidFill>
                  </a:tcPr>
                </a:tc>
                <a:tc>
                  <a:txBody>
                    <a:bodyPr/>
                    <a:lstStyle/>
                    <a:p>
                      <a:pPr algn="ctr" latinLnBrk="1"/>
                      <a:r>
                        <a:rPr lang="ko-KR" altLang="en-US" sz="1200" dirty="0" err="1"/>
                        <a:t>부정설</a:t>
                      </a:r>
                      <a:endParaRPr lang="ko-KR" altLang="en-US" sz="1200" dirty="0"/>
                    </a:p>
                  </a:txBody>
                  <a:tcPr>
                    <a:solidFill>
                      <a:schemeClr val="bg1">
                        <a:lumMod val="85000"/>
                      </a:schemeClr>
                    </a:solidFill>
                  </a:tcPr>
                </a:tc>
                <a:tc>
                  <a:txBody>
                    <a:bodyPr/>
                    <a:lstStyle/>
                    <a:p>
                      <a:pPr algn="ctr" latinLnBrk="1"/>
                      <a:r>
                        <a:rPr lang="ko-KR" altLang="en-US" sz="1200" dirty="0" err="1"/>
                        <a:t>긍정설</a:t>
                      </a:r>
                      <a:endParaRPr lang="ko-KR" altLang="en-US" sz="1200" dirty="0"/>
                    </a:p>
                  </a:txBody>
                  <a:tcPr>
                    <a:solidFill>
                      <a:schemeClr val="bg1">
                        <a:lumMod val="85000"/>
                      </a:schemeClr>
                    </a:solidFill>
                  </a:tcPr>
                </a:tc>
                <a:extLst>
                  <a:ext uri="{0D108BD9-81ED-4DB2-BD59-A6C34878D82A}">
                    <a16:rowId xmlns:a16="http://schemas.microsoft.com/office/drawing/2014/main" val="3925389606"/>
                  </a:ext>
                </a:extLst>
              </a:tr>
              <a:tr h="462423">
                <a:tc rowSpan="2">
                  <a:txBody>
                    <a:bodyPr/>
                    <a:lstStyle/>
                    <a:p>
                      <a:pPr algn="ctr" latinLnBrk="1"/>
                      <a:r>
                        <a:rPr lang="ko-KR" altLang="en-US" sz="1200" dirty="0"/>
                        <a:t>부당이득</a:t>
                      </a:r>
                      <a:endParaRPr lang="en-US" altLang="ko-KR" sz="1200" dirty="0"/>
                    </a:p>
                    <a:p>
                      <a:pPr algn="ctr" latinLnBrk="1"/>
                      <a:r>
                        <a:rPr lang="ko-KR" altLang="en-US" sz="1200" dirty="0"/>
                        <a:t>반환</a:t>
                      </a:r>
                      <a:endParaRPr lang="en-US" altLang="ko-KR" sz="1200" dirty="0"/>
                    </a:p>
                    <a:p>
                      <a:pPr algn="ctr" latinLnBrk="1"/>
                      <a:r>
                        <a:rPr lang="ko-KR" altLang="en-US" sz="1200" dirty="0"/>
                        <a:t>청구권</a:t>
                      </a:r>
                      <a:endParaRPr lang="en-US" altLang="ko-KR" sz="1200" dirty="0"/>
                    </a:p>
                    <a:p>
                      <a:pPr algn="ctr" latinLnBrk="1"/>
                      <a:r>
                        <a:rPr lang="ko-KR" altLang="en-US" sz="1200" dirty="0"/>
                        <a:t>요건</a:t>
                      </a:r>
                    </a:p>
                  </a:txBody>
                  <a:tcPr anchor="ctr"/>
                </a:tc>
                <a:tc>
                  <a:txBody>
                    <a:bodyP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u="none" kern="1200" dirty="0">
                          <a:solidFill>
                            <a:schemeClr val="tx1"/>
                          </a:solidFill>
                          <a:effectLst/>
                          <a:latin typeface="+mn-lt"/>
                          <a:ea typeface="+mn-ea"/>
                          <a:cs typeface="+mn-cs"/>
                        </a:rPr>
                        <a:t>특허실시계약의 목적인 급부는 특허발명을 실시할 수 있도록 하는 채무의 이행이라 할 것인데</a:t>
                      </a:r>
                      <a:r>
                        <a:rPr lang="en-US" altLang="ko-KR" sz="1200" u="none" kern="1200" dirty="0">
                          <a:solidFill>
                            <a:schemeClr val="tx1"/>
                          </a:solidFill>
                          <a:effectLst/>
                          <a:latin typeface="+mn-lt"/>
                          <a:ea typeface="+mn-ea"/>
                          <a:cs typeface="+mn-cs"/>
                        </a:rPr>
                        <a:t>, </a:t>
                      </a:r>
                      <a:r>
                        <a:rPr lang="ko-KR" altLang="en-US" sz="1200" u="none" kern="1200" dirty="0">
                          <a:solidFill>
                            <a:schemeClr val="tx1"/>
                          </a:solidFill>
                          <a:effectLst/>
                          <a:latin typeface="+mn-lt"/>
                          <a:ea typeface="+mn-ea"/>
                          <a:cs typeface="+mn-cs"/>
                        </a:rPr>
                        <a:t>그러한 급부가 무효 확정시까지 계약 내용대로 이행되었다</a:t>
                      </a:r>
                      <a:r>
                        <a:rPr lang="en-US" altLang="ko-KR" sz="1200" u="none" kern="1200" dirty="0">
                          <a:solidFill>
                            <a:schemeClr val="tx1"/>
                          </a:solidFill>
                          <a:effectLst/>
                          <a:latin typeface="+mn-lt"/>
                          <a:ea typeface="+mn-ea"/>
                          <a:cs typeface="+mn-cs"/>
                        </a:rPr>
                        <a:t>. </a:t>
                      </a:r>
                      <a:r>
                        <a:rPr lang="ko-KR" altLang="en-US" sz="1200" u="none" kern="1200" dirty="0">
                          <a:solidFill>
                            <a:schemeClr val="tx1"/>
                          </a:solidFill>
                          <a:effectLst/>
                          <a:latin typeface="+mn-lt"/>
                          <a:ea typeface="+mn-ea"/>
                          <a:cs typeface="+mn-cs"/>
                        </a:rPr>
                        <a:t>그 결과 특허권자가 받은 실시료에 대한 ‘법률상 </a:t>
                      </a:r>
                      <a:r>
                        <a:rPr lang="ko-KR" altLang="en-US" sz="1200" u="none" kern="1200" dirty="0" err="1">
                          <a:solidFill>
                            <a:schemeClr val="tx1"/>
                          </a:solidFill>
                          <a:effectLst/>
                          <a:latin typeface="+mn-lt"/>
                          <a:ea typeface="+mn-ea"/>
                          <a:cs typeface="+mn-cs"/>
                        </a:rPr>
                        <a:t>원인’이</a:t>
                      </a:r>
                      <a:r>
                        <a:rPr lang="ko-KR" altLang="en-US" sz="1200" u="none" kern="1200" dirty="0">
                          <a:solidFill>
                            <a:schemeClr val="tx1"/>
                          </a:solidFill>
                          <a:effectLst/>
                          <a:latin typeface="+mn-lt"/>
                          <a:ea typeface="+mn-ea"/>
                          <a:cs typeface="+mn-cs"/>
                        </a:rPr>
                        <a:t> 존재한다</a:t>
                      </a:r>
                      <a:r>
                        <a:rPr lang="en-US" altLang="ko-KR" sz="1200" u="none" kern="1200" dirty="0">
                          <a:solidFill>
                            <a:schemeClr val="tx1"/>
                          </a:solidFill>
                          <a:effectLst/>
                          <a:latin typeface="+mn-lt"/>
                          <a:ea typeface="+mn-ea"/>
                          <a:cs typeface="+mn-cs"/>
                        </a:rPr>
                        <a:t>.</a:t>
                      </a:r>
                      <a:endParaRPr lang="ko-KR" altLang="en-US" sz="1200" u="none" kern="1200" dirty="0">
                        <a:solidFill>
                          <a:schemeClr val="tx1"/>
                        </a:solidFill>
                        <a:effectLst/>
                        <a:latin typeface="+mn-lt"/>
                        <a:ea typeface="+mn-ea"/>
                        <a:cs typeface="+mn-cs"/>
                      </a:endParaRPr>
                    </a:p>
                  </a:txBody>
                  <a:tcPr anchor="ctr"/>
                </a:tc>
                <a:tc>
                  <a:txBody>
                    <a:bodyPr/>
                    <a:lstStyle/>
                    <a:p>
                      <a:pPr marL="171450" indent="-171450" latinLnBrk="1">
                        <a:buFont typeface="Wingdings" panose="05000000000000000000" pitchFamily="2" charset="2"/>
                        <a:buChar char="§"/>
                      </a:pPr>
                      <a:r>
                        <a:rPr lang="ko-KR" altLang="en-US" sz="1200" u="none" dirty="0"/>
                        <a:t>특허권자는 당초에 금지권을 행사할 여지가 없었기 때문에 금지권을 행사하지 아니할 부작위의무를 이행할 수 없었고</a:t>
                      </a:r>
                      <a:r>
                        <a:rPr lang="en-US" altLang="ko-KR" sz="1200" u="none" dirty="0"/>
                        <a:t>, </a:t>
                      </a:r>
                      <a:r>
                        <a:rPr lang="ko-KR" altLang="en-US" sz="1200" u="none" dirty="0"/>
                        <a:t>오히려 특허실시계약자는 만인의 </a:t>
                      </a:r>
                      <a:r>
                        <a:rPr lang="ko-KR" altLang="en-US" sz="1200" u="none" dirty="0" err="1"/>
                        <a:t>공유재</a:t>
                      </a:r>
                      <a:r>
                        <a:rPr lang="en-US" altLang="ko-KR" sz="1200" u="none" dirty="0"/>
                        <a:t>(public domain)</a:t>
                      </a:r>
                      <a:r>
                        <a:rPr lang="ko-KR" altLang="en-US" sz="1200" u="none" dirty="0"/>
                        <a:t>인 특허대상 기술을 사용할 권한이 있었으므로 부작위의무의 이행을 인정할 수 없다</a:t>
                      </a:r>
                      <a:r>
                        <a:rPr lang="en-US" altLang="ko-KR" sz="1200" u="none" dirty="0"/>
                        <a:t>.</a:t>
                      </a:r>
                      <a:endParaRPr lang="ko-KR" altLang="en-US" sz="1200" u="none" dirty="0"/>
                    </a:p>
                  </a:txBody>
                  <a:tcPr anchor="ctr"/>
                </a:tc>
                <a:extLst>
                  <a:ext uri="{0D108BD9-81ED-4DB2-BD59-A6C34878D82A}">
                    <a16:rowId xmlns:a16="http://schemas.microsoft.com/office/drawing/2014/main" val="1284071509"/>
                  </a:ext>
                </a:extLst>
              </a:tr>
              <a:tr h="359662">
                <a:tc vMerge="1">
                  <a:txBody>
                    <a:bodyPr/>
                    <a:lstStyle/>
                    <a:p>
                      <a:pPr latinLnBrk="1"/>
                      <a:endParaRPr lang="ko-KR" altLang="en-US" sz="1200" dirty="0"/>
                    </a:p>
                  </a:txBody>
                  <a:tcPr/>
                </a:tc>
                <a:tc>
                  <a:txBody>
                    <a:bodyPr/>
                    <a:lstStyle/>
                    <a:p>
                      <a:pPr marL="171450" indent="-171450" latinLnBrk="1">
                        <a:buFont typeface="Wingdings" panose="05000000000000000000" pitchFamily="2" charset="2"/>
                        <a:buChar char="§"/>
                      </a:pPr>
                      <a:r>
                        <a:rPr lang="ko-KR" altLang="en-US" sz="1200" u="none" dirty="0"/>
                        <a:t>특허실시계약자는 특허의 무효 확정시까지 특허를 </a:t>
                      </a:r>
                      <a:r>
                        <a:rPr lang="ko-KR" altLang="en-US" sz="1200" u="none" dirty="0" err="1"/>
                        <a:t>독점･배타적으로</a:t>
                      </a:r>
                      <a:r>
                        <a:rPr lang="ko-KR" altLang="en-US" sz="1200" u="none" dirty="0"/>
                        <a:t> 사용함에 따른 경제적 이익을 향유하였으므로 ‘</a:t>
                      </a:r>
                      <a:r>
                        <a:rPr lang="ko-KR" altLang="en-US" sz="1200" u="none" dirty="0" err="1"/>
                        <a:t>손해’가</a:t>
                      </a:r>
                      <a:r>
                        <a:rPr lang="ko-KR" altLang="en-US" sz="1200" u="none" dirty="0"/>
                        <a:t> 발생하였다고 볼 수도 없다</a:t>
                      </a:r>
                      <a:r>
                        <a:rPr lang="en-US" altLang="ko-KR" sz="1200" u="none" dirty="0"/>
                        <a:t>.</a:t>
                      </a:r>
                      <a:endParaRPr lang="ko-KR" altLang="en-US" sz="1200" u="none" dirty="0"/>
                    </a:p>
                  </a:txBody>
                  <a:tcPr anchor="ctr"/>
                </a:tc>
                <a:tc>
                  <a:txBody>
                    <a:bodyPr/>
                    <a:lstStyle/>
                    <a:p>
                      <a:pPr marL="171450" indent="-171450" latinLnBrk="1">
                        <a:buFont typeface="Wingdings" panose="05000000000000000000" pitchFamily="2" charset="2"/>
                        <a:buChar char="§"/>
                      </a:pPr>
                      <a:r>
                        <a:rPr lang="ko-KR" altLang="en-US" sz="1200" u="none" dirty="0"/>
                        <a:t>특허권자는 당초부터 금지청구를 할 권능이 없었고 통상실시계약자는 특허권자로부터 금지청구를 받지 않고 발명을 실시할 권능이 있었으므로 어떠한 사실상의 이익을 누렸다고 보기 어렵다</a:t>
                      </a:r>
                      <a:r>
                        <a:rPr lang="en-US" altLang="ko-KR" sz="1200" u="none" dirty="0"/>
                        <a:t>.</a:t>
                      </a:r>
                      <a:endParaRPr lang="ko-KR" altLang="en-US" sz="1200" u="none" dirty="0"/>
                    </a:p>
                  </a:txBody>
                  <a:tcPr anchor="ctr"/>
                </a:tc>
                <a:extLst>
                  <a:ext uri="{0D108BD9-81ED-4DB2-BD59-A6C34878D82A}">
                    <a16:rowId xmlns:a16="http://schemas.microsoft.com/office/drawing/2014/main" val="1181893095"/>
                  </a:ext>
                </a:extLst>
              </a:tr>
              <a:tr h="359662">
                <a:tc rowSpan="2">
                  <a:txBody>
                    <a:bodyPr/>
                    <a:lstStyle/>
                    <a:p>
                      <a:pPr algn="ctr" latinLnBrk="1"/>
                      <a:r>
                        <a:rPr lang="ko-KR" altLang="en-US" sz="1200" dirty="0"/>
                        <a:t>무효</a:t>
                      </a:r>
                      <a:r>
                        <a:rPr lang="en-US" altLang="ko-KR" sz="1200" dirty="0"/>
                        <a:t> </a:t>
                      </a:r>
                    </a:p>
                    <a:p>
                      <a:pPr algn="ctr" latinLnBrk="1"/>
                      <a:r>
                        <a:rPr lang="ko-KR" altLang="en-US" sz="1200" dirty="0"/>
                        <a:t>소급효</a:t>
                      </a:r>
                      <a:endParaRPr lang="en-US" altLang="ko-KR" sz="1200" dirty="0"/>
                    </a:p>
                    <a:p>
                      <a:pPr algn="ctr" latinLnBrk="1"/>
                      <a:r>
                        <a:rPr lang="ko-KR" altLang="en-US" sz="1200" dirty="0"/>
                        <a:t>해석</a:t>
                      </a:r>
                    </a:p>
                  </a:txBody>
                  <a:tcPr anchor="ctr"/>
                </a:tc>
                <a:tc>
                  <a:txBody>
                    <a:bodyPr/>
                    <a:lstStyle/>
                    <a:p>
                      <a:pPr marL="171450" indent="-171450" latinLnBrk="1">
                        <a:buFont typeface="Wingdings" panose="05000000000000000000" pitchFamily="2" charset="2"/>
                        <a:buChar char="§"/>
                      </a:pPr>
                      <a:r>
                        <a:rPr lang="ko-KR" altLang="en-US" sz="1200" u="none" dirty="0"/>
                        <a:t>특허무효의 소급효는 사법상의 법률관계에 어떠한 영향을 주는 것은 아니다</a:t>
                      </a:r>
                      <a:r>
                        <a:rPr lang="en-US" altLang="ko-KR" sz="1200" u="none" dirty="0"/>
                        <a:t>.</a:t>
                      </a:r>
                      <a:endParaRPr lang="ko-KR" altLang="en-US" sz="1200" u="none" dirty="0"/>
                    </a:p>
                  </a:txBody>
                  <a:tcPr anchor="ctr"/>
                </a:tc>
                <a:tc>
                  <a:txBody>
                    <a:bodyPr/>
                    <a:lstStyle/>
                    <a:p>
                      <a:pPr marL="171450" indent="-171450" latinLnBrk="1">
                        <a:buFont typeface="Wingdings" panose="05000000000000000000" pitchFamily="2" charset="2"/>
                        <a:buChar char="§"/>
                      </a:pPr>
                      <a:r>
                        <a:rPr lang="ko-KR" altLang="en-US" sz="1200" u="none" dirty="0"/>
                        <a:t>특허무효의 소급효에 의하여 특허권이 처음부터 존재하지 않은 것으로 되기 때문에</a:t>
                      </a:r>
                      <a:r>
                        <a:rPr lang="en-US" altLang="ko-KR" sz="1200" u="none" dirty="0"/>
                        <a:t>, </a:t>
                      </a:r>
                      <a:r>
                        <a:rPr lang="ko-KR" altLang="en-US" sz="1200" u="none" dirty="0"/>
                        <a:t>특허권의 존재를 전제로 한 실시계약에 영향을 미친다</a:t>
                      </a:r>
                      <a:r>
                        <a:rPr lang="en-US" altLang="ko-KR" sz="1200" u="none" dirty="0"/>
                        <a:t>.</a:t>
                      </a:r>
                      <a:r>
                        <a:rPr lang="ko-KR" altLang="en-US" sz="1200" u="none" dirty="0"/>
                        <a:t> 따라서</a:t>
                      </a:r>
                      <a:r>
                        <a:rPr lang="en-US" altLang="ko-KR" sz="1200" u="none" dirty="0"/>
                        <a:t>, </a:t>
                      </a:r>
                      <a:r>
                        <a:rPr lang="ko-KR" altLang="en-US" sz="1200" u="none" dirty="0"/>
                        <a:t>명시적 합의가 없는 한 특허가 소급 무효가 됨에 따라 특허실시계약 또한 소급하여 무효로 되도록 해석함이 타당하다</a:t>
                      </a:r>
                      <a:r>
                        <a:rPr lang="en-US" altLang="ko-KR" sz="1200" u="none" dirty="0"/>
                        <a:t>.</a:t>
                      </a:r>
                      <a:endParaRPr lang="ko-KR" altLang="en-US" sz="1200" u="none" dirty="0"/>
                    </a:p>
                  </a:txBody>
                  <a:tcPr anchor="ctr"/>
                </a:tc>
                <a:extLst>
                  <a:ext uri="{0D108BD9-81ED-4DB2-BD59-A6C34878D82A}">
                    <a16:rowId xmlns:a16="http://schemas.microsoft.com/office/drawing/2014/main" val="3326464208"/>
                  </a:ext>
                </a:extLst>
              </a:tr>
              <a:tr h="462423">
                <a:tc vMerge="1">
                  <a:txBody>
                    <a:bodyPr/>
                    <a:lstStyle/>
                    <a:p>
                      <a:pPr latinLnBrk="1"/>
                      <a:endParaRPr lang="ko-KR" altLang="en-US" sz="1200" dirty="0"/>
                    </a:p>
                  </a:txBody>
                  <a:tcPr/>
                </a:tc>
                <a:tc>
                  <a:txBody>
                    <a:bodyPr/>
                    <a:lstStyle/>
                    <a:p>
                      <a:pPr marL="171450" indent="-171450" latinLnBrk="1">
                        <a:buFont typeface="Wingdings" panose="05000000000000000000" pitchFamily="2" charset="2"/>
                        <a:buChar char="§"/>
                      </a:pPr>
                      <a:r>
                        <a:rPr lang="ko-KR" altLang="en-US" sz="1200" u="none" dirty="0"/>
                        <a:t>특허실시계약의 당사자들은 향후 특허가 소급하여 무효가 되더라도 </a:t>
                      </a:r>
                      <a:r>
                        <a:rPr lang="ko-KR" altLang="en-US" sz="1200" u="none" dirty="0" err="1"/>
                        <a:t>실시료</a:t>
                      </a:r>
                      <a:r>
                        <a:rPr lang="ko-KR" altLang="en-US" sz="1200" u="none" dirty="0"/>
                        <a:t> 반환 청구를 하지 아니하겠다는 취지로 의사 합치를 하였다고 해석함이 상당하다</a:t>
                      </a:r>
                      <a:r>
                        <a:rPr lang="en-US" altLang="ko-KR" sz="1200" u="none" dirty="0"/>
                        <a:t>.</a:t>
                      </a:r>
                      <a:endParaRPr lang="ko-KR" altLang="en-US" sz="1200" u="none" dirty="0"/>
                    </a:p>
                  </a:txBody>
                  <a:tcPr anchor="ctr"/>
                </a:tc>
                <a:tc>
                  <a:txBody>
                    <a:bodyPr/>
                    <a:lstStyle/>
                    <a:p>
                      <a:pPr marL="171450" indent="-171450" latinLnBrk="1">
                        <a:buFont typeface="Wingdings" panose="05000000000000000000" pitchFamily="2" charset="2"/>
                        <a:buChar char="§"/>
                      </a:pPr>
                      <a:r>
                        <a:rPr lang="ko-KR" altLang="en-US" sz="1200" u="none" dirty="0"/>
                        <a:t>특허법 제</a:t>
                      </a:r>
                      <a:r>
                        <a:rPr lang="en-US" altLang="ko-KR" sz="1200" u="none" dirty="0"/>
                        <a:t>100</a:t>
                      </a:r>
                      <a:r>
                        <a:rPr lang="ko-KR" altLang="en-US" sz="1200" u="none" dirty="0"/>
                        <a:t>조와 제</a:t>
                      </a:r>
                      <a:r>
                        <a:rPr lang="en-US" altLang="ko-KR" sz="1200" u="none" dirty="0"/>
                        <a:t>102</a:t>
                      </a:r>
                      <a:r>
                        <a:rPr lang="ko-KR" altLang="en-US" sz="1200" u="none" dirty="0"/>
                        <a:t>조에서 특허실시계약의 목적을 유효한 특허권을 전제한 급부로 규정하고 있고</a:t>
                      </a:r>
                      <a:r>
                        <a:rPr lang="en-US" altLang="ko-KR" sz="1200" u="none" dirty="0"/>
                        <a:t>, </a:t>
                      </a:r>
                      <a:r>
                        <a:rPr lang="ko-KR" altLang="en-US" sz="1200" u="none" dirty="0"/>
                        <a:t>당사자 또한 특허를 실시계약의 목적으로 규정하고 있을 뿐 달리 특허가 무효일 경우에 대하여 별도의 약정을 하지 아니한 이상</a:t>
                      </a:r>
                      <a:r>
                        <a:rPr lang="en-US" altLang="ko-KR" sz="1200" u="none" dirty="0"/>
                        <a:t>, </a:t>
                      </a:r>
                      <a:r>
                        <a:rPr lang="ko-KR" altLang="en-US" sz="1200" u="none" dirty="0"/>
                        <a:t>특허실시계약의 목적인 급부는 특허권자의 유효한 부작위의무의 이행 내지 전용실시권의 설정으로 한정함이 타당하다</a:t>
                      </a:r>
                      <a:r>
                        <a:rPr lang="en-US" altLang="ko-KR" sz="1200" u="none" dirty="0"/>
                        <a:t>.</a:t>
                      </a:r>
                      <a:endParaRPr lang="ko-KR" altLang="en-US" sz="1200" u="none" dirty="0"/>
                    </a:p>
                  </a:txBody>
                  <a:tcPr anchor="ctr"/>
                </a:tc>
                <a:extLst>
                  <a:ext uri="{0D108BD9-81ED-4DB2-BD59-A6C34878D82A}">
                    <a16:rowId xmlns:a16="http://schemas.microsoft.com/office/drawing/2014/main" val="735414511"/>
                  </a:ext>
                </a:extLst>
              </a:tr>
              <a:tr h="873466">
                <a:tc rowSpan="2">
                  <a:txBody>
                    <a:bodyPr/>
                    <a:lstStyle/>
                    <a:p>
                      <a:pPr algn="ctr" latinLnBrk="1"/>
                      <a:r>
                        <a:rPr lang="ko-KR" altLang="en-US" sz="1200" dirty="0"/>
                        <a:t>정책적 </a:t>
                      </a:r>
                      <a:endParaRPr lang="en-US" altLang="ko-KR" sz="1200" dirty="0"/>
                    </a:p>
                    <a:p>
                      <a:pPr algn="ctr" latinLnBrk="1"/>
                      <a:r>
                        <a:rPr lang="ko-KR" altLang="en-US" sz="1200" dirty="0"/>
                        <a:t>측면</a:t>
                      </a:r>
                    </a:p>
                  </a:txBody>
                  <a:tcPr anchor="ctr"/>
                </a:tc>
                <a:tc>
                  <a:txBody>
                    <a:bodyPr/>
                    <a:lstStyle/>
                    <a:p>
                      <a:pPr marL="171450" indent="-171450" latinLnBrk="1">
                        <a:buFont typeface="Wingdings" panose="05000000000000000000" pitchFamily="2" charset="2"/>
                        <a:buChar char="§"/>
                      </a:pPr>
                      <a:r>
                        <a:rPr lang="ko-KR" altLang="en-US" sz="1200" u="none" dirty="0"/>
                        <a:t>특허실시계약 체결 경위에도 불구하고 </a:t>
                      </a:r>
                      <a:r>
                        <a:rPr lang="ko-KR" altLang="en-US" sz="1200" u="none" dirty="0" err="1"/>
                        <a:t>기지급</a:t>
                      </a:r>
                      <a:r>
                        <a:rPr lang="ko-KR" altLang="en-US" sz="1200" u="none" dirty="0"/>
                        <a:t> 실시료의 반환을 허용하는 것은 특허 무효의 위험성을 전적으로 특허권자에게만 부담시키는 것이 되어 형평에 반한다</a:t>
                      </a:r>
                      <a:r>
                        <a:rPr lang="en-US" altLang="ko-KR" sz="1200" u="none" dirty="0"/>
                        <a:t>.</a:t>
                      </a:r>
                      <a:endParaRPr lang="ko-KR" altLang="en-US" sz="1200" u="none" dirty="0"/>
                    </a:p>
                  </a:txBody>
                  <a:tcPr anchor="ctr"/>
                </a:tc>
                <a:tc>
                  <a:txBody>
                    <a:bodyPr/>
                    <a:lstStyle/>
                    <a:p>
                      <a:pPr marL="171450" indent="-171450" latinLnBrk="1">
                        <a:buFont typeface="Wingdings" panose="05000000000000000000" pitchFamily="2" charset="2"/>
                        <a:buChar char="§"/>
                      </a:pPr>
                      <a:r>
                        <a:rPr lang="ko-KR" altLang="en-US" sz="1200" u="none" dirty="0">
                          <a:solidFill>
                            <a:srgbClr val="FF0000"/>
                          </a:solidFill>
                        </a:rPr>
                        <a:t>특허권자가 특허를 무단으로 사용하고 있는 자에 대하여 손해배상청구를 하여 승소하고 이에 기하여 손해배상을 지급받았는데 이후 특허가 소급무효로 된 경우라면</a:t>
                      </a:r>
                      <a:r>
                        <a:rPr lang="en-US" altLang="ko-KR" sz="1200" u="none" dirty="0">
                          <a:solidFill>
                            <a:srgbClr val="FF0000"/>
                          </a:solidFill>
                        </a:rPr>
                        <a:t>, </a:t>
                      </a:r>
                      <a:r>
                        <a:rPr lang="ko-KR" altLang="en-US" sz="1200" u="none" dirty="0">
                          <a:solidFill>
                            <a:srgbClr val="FF0000"/>
                          </a:solidFill>
                        </a:rPr>
                        <a:t>특허권자는 결국 고의</a:t>
                      </a:r>
                      <a:r>
                        <a:rPr lang="en-US" altLang="ko-KR" sz="1200" u="none" dirty="0">
                          <a:solidFill>
                            <a:srgbClr val="FF0000"/>
                          </a:solidFill>
                        </a:rPr>
                        <a:t>, </a:t>
                      </a:r>
                      <a:r>
                        <a:rPr lang="ko-KR" altLang="en-US" sz="1200" u="none" dirty="0">
                          <a:solidFill>
                            <a:srgbClr val="FF0000"/>
                          </a:solidFill>
                        </a:rPr>
                        <a:t>과실이 없더라도 지급받은 손해배상금을 부당이득으로서 반환하여야 한다</a:t>
                      </a:r>
                      <a:r>
                        <a:rPr lang="en-US" altLang="ko-KR" sz="1200" u="none" dirty="0">
                          <a:solidFill>
                            <a:srgbClr val="FF0000"/>
                          </a:solidFill>
                        </a:rPr>
                        <a:t>. </a:t>
                      </a:r>
                      <a:r>
                        <a:rPr lang="ko-KR" altLang="en-US" sz="1200" u="none" dirty="0">
                          <a:solidFill>
                            <a:srgbClr val="FF0000"/>
                          </a:solidFill>
                        </a:rPr>
                        <a:t>이와 비교하여 볼 때</a:t>
                      </a:r>
                      <a:r>
                        <a:rPr lang="en-US" altLang="ko-KR" sz="1200" u="none" dirty="0">
                          <a:solidFill>
                            <a:srgbClr val="FF0000"/>
                          </a:solidFill>
                        </a:rPr>
                        <a:t>, </a:t>
                      </a:r>
                      <a:r>
                        <a:rPr lang="ko-KR" altLang="en-US" sz="1200" u="none" dirty="0">
                          <a:solidFill>
                            <a:srgbClr val="FF0000"/>
                          </a:solidFill>
                        </a:rPr>
                        <a:t>특허실시계약을 체결한 자는 무단실시자보다 사회의 법질서를 존중하는 사람으로서 보호의 필요성이 더 큼에도 불구하고</a:t>
                      </a:r>
                      <a:r>
                        <a:rPr lang="en-US" altLang="ko-KR" sz="1200" u="none" dirty="0">
                          <a:solidFill>
                            <a:srgbClr val="FF0000"/>
                          </a:solidFill>
                        </a:rPr>
                        <a:t>, </a:t>
                      </a:r>
                      <a:r>
                        <a:rPr lang="ko-KR" altLang="en-US" sz="1200" u="none" dirty="0">
                          <a:solidFill>
                            <a:srgbClr val="FF0000"/>
                          </a:solidFill>
                        </a:rPr>
                        <a:t>반환의무 부정설은 오히려 특허실시계약자는 보호하지 아니하는 한편 무단실시자는 보호하는 불공평을 초래하게 된다</a:t>
                      </a:r>
                      <a:r>
                        <a:rPr lang="en-US" altLang="ko-KR" sz="1200" u="none" dirty="0">
                          <a:solidFill>
                            <a:srgbClr val="FF0000"/>
                          </a:solidFill>
                        </a:rPr>
                        <a:t>. </a:t>
                      </a:r>
                    </a:p>
                    <a:p>
                      <a:pPr marL="171450" indent="-171450" latinLnBrk="1">
                        <a:buFont typeface="Wingdings" panose="05000000000000000000" pitchFamily="2" charset="2"/>
                        <a:buChar char="§"/>
                      </a:pPr>
                      <a:r>
                        <a:rPr lang="ko-KR" altLang="en-US" sz="1200" u="none" dirty="0" err="1">
                          <a:solidFill>
                            <a:srgbClr val="FF0000"/>
                          </a:solidFill>
                        </a:rPr>
                        <a:t>특허무효심결이</a:t>
                      </a:r>
                      <a:r>
                        <a:rPr lang="ko-KR" altLang="en-US" sz="1200" u="none" dirty="0">
                          <a:solidFill>
                            <a:srgbClr val="FF0000"/>
                          </a:solidFill>
                        </a:rPr>
                        <a:t> 언제 </a:t>
                      </a:r>
                      <a:r>
                        <a:rPr lang="ko-KR" altLang="en-US" sz="1200" u="none" dirty="0" err="1">
                          <a:solidFill>
                            <a:srgbClr val="FF0000"/>
                          </a:solidFill>
                        </a:rPr>
                        <a:t>확정되느냐에</a:t>
                      </a:r>
                      <a:r>
                        <a:rPr lang="ko-KR" altLang="en-US" sz="1200" u="none" dirty="0">
                          <a:solidFill>
                            <a:srgbClr val="FF0000"/>
                          </a:solidFill>
                        </a:rPr>
                        <a:t> 따라 향후 </a:t>
                      </a:r>
                      <a:r>
                        <a:rPr lang="ko-KR" altLang="en-US" sz="1200" u="none" dirty="0" err="1">
                          <a:solidFill>
                            <a:srgbClr val="FF0000"/>
                          </a:solidFill>
                        </a:rPr>
                        <a:t>실시료</a:t>
                      </a:r>
                      <a:r>
                        <a:rPr lang="ko-KR" altLang="en-US" sz="1200" u="none" dirty="0">
                          <a:solidFill>
                            <a:srgbClr val="FF0000"/>
                          </a:solidFill>
                        </a:rPr>
                        <a:t> 지급의무의 범위가 달라지기 때문에</a:t>
                      </a:r>
                      <a:r>
                        <a:rPr lang="en-US" altLang="ko-KR" sz="1200" u="none" dirty="0">
                          <a:solidFill>
                            <a:srgbClr val="FF0000"/>
                          </a:solidFill>
                        </a:rPr>
                        <a:t>, </a:t>
                      </a:r>
                      <a:r>
                        <a:rPr lang="ko-KR" altLang="en-US" sz="1200" u="none" dirty="0">
                          <a:solidFill>
                            <a:srgbClr val="FF0000"/>
                          </a:solidFill>
                        </a:rPr>
                        <a:t>특허권자로서는 소송을 최대한 지연하고자 노력할 것이고</a:t>
                      </a:r>
                      <a:r>
                        <a:rPr lang="en-US" altLang="ko-KR" sz="1200" u="none" dirty="0">
                          <a:solidFill>
                            <a:srgbClr val="FF0000"/>
                          </a:solidFill>
                        </a:rPr>
                        <a:t>, </a:t>
                      </a:r>
                      <a:r>
                        <a:rPr lang="ko-KR" altLang="en-US" sz="1200" u="none" dirty="0">
                          <a:solidFill>
                            <a:srgbClr val="FF0000"/>
                          </a:solidFill>
                        </a:rPr>
                        <a:t>결국 반환의무 부정설은 소송을 조기에 </a:t>
                      </a:r>
                      <a:r>
                        <a:rPr lang="ko-KR" altLang="en-US" sz="1200" u="none" dirty="0" err="1">
                          <a:solidFill>
                            <a:srgbClr val="FF0000"/>
                          </a:solidFill>
                        </a:rPr>
                        <a:t>종결시키지</a:t>
                      </a:r>
                      <a:r>
                        <a:rPr lang="ko-KR" altLang="en-US" sz="1200" u="none" dirty="0">
                          <a:solidFill>
                            <a:srgbClr val="FF0000"/>
                          </a:solidFill>
                        </a:rPr>
                        <a:t> 못하는 하나의 원인으로 작용할 수 있다</a:t>
                      </a:r>
                      <a:r>
                        <a:rPr lang="en-US" altLang="ko-KR" sz="1200" u="none" dirty="0">
                          <a:solidFill>
                            <a:srgbClr val="FF0000"/>
                          </a:solidFill>
                        </a:rPr>
                        <a:t>.</a:t>
                      </a:r>
                      <a:endParaRPr lang="ko-KR" altLang="en-US" sz="1200" u="none" dirty="0">
                        <a:solidFill>
                          <a:srgbClr val="FF0000"/>
                        </a:solidFill>
                      </a:endParaRPr>
                    </a:p>
                  </a:txBody>
                  <a:tcPr anchor="ctr"/>
                </a:tc>
                <a:extLst>
                  <a:ext uri="{0D108BD9-81ED-4DB2-BD59-A6C34878D82A}">
                    <a16:rowId xmlns:a16="http://schemas.microsoft.com/office/drawing/2014/main" val="1904536684"/>
                  </a:ext>
                </a:extLst>
              </a:tr>
              <a:tr h="462423">
                <a:tc vMerge="1">
                  <a:txBody>
                    <a:bodyPr/>
                    <a:lstStyle/>
                    <a:p>
                      <a:pPr latinLnBrk="1"/>
                      <a:endParaRPr lang="ko-KR" altLang="en-US" sz="1200" dirty="0"/>
                    </a:p>
                  </a:txBody>
                  <a:tcPr/>
                </a:tc>
                <a:tc>
                  <a:txBody>
                    <a:bodyPr/>
                    <a:lstStyle/>
                    <a:p>
                      <a:pPr marL="171450" indent="-171450" latinLnBrk="1">
                        <a:buFont typeface="Wingdings" panose="05000000000000000000" pitchFamily="2" charset="2"/>
                        <a:buChar char="§"/>
                      </a:pPr>
                      <a:r>
                        <a:rPr lang="ko-KR" altLang="en-US" sz="1200" u="none" dirty="0"/>
                        <a:t>특허권자로 하여금 특허실시계약의 체결을 장려하고 특허실시계약자로 하여금 무효의 소지가 있는 특허에 관하여 조기에 무효소송을 제기하도록 독려하는 효과도 얻을 수 있다</a:t>
                      </a:r>
                      <a:r>
                        <a:rPr lang="en-US" altLang="ko-KR" sz="1200" u="none" dirty="0"/>
                        <a:t>.</a:t>
                      </a:r>
                      <a:endParaRPr lang="ko-KR" altLang="en-US" sz="1200" u="none" dirty="0"/>
                    </a:p>
                  </a:txBody>
                  <a:tcPr anchor="ctr"/>
                </a:tc>
                <a:tc>
                  <a:txBody>
                    <a:bodyP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lang="ko-KR" altLang="en-US" sz="1200" u="none" kern="1200" dirty="0" err="1">
                          <a:solidFill>
                            <a:schemeClr val="tx1"/>
                          </a:solidFill>
                          <a:effectLst/>
                          <a:latin typeface="+mn-lt"/>
                          <a:ea typeface="+mn-ea"/>
                          <a:cs typeface="+mn-cs"/>
                        </a:rPr>
                        <a:t>기지급</a:t>
                      </a:r>
                      <a:r>
                        <a:rPr lang="ko-KR" altLang="en-US" sz="1200" u="none" kern="1200" dirty="0">
                          <a:solidFill>
                            <a:schemeClr val="tx1"/>
                          </a:solidFill>
                          <a:effectLst/>
                          <a:latin typeface="+mn-lt"/>
                          <a:ea typeface="+mn-ea"/>
                          <a:cs typeface="+mn-cs"/>
                        </a:rPr>
                        <a:t> 실시료의 반환을 부정하면 특허실시계약자가 될 자가 특허실시계약을 체결하기보다는 무단실시를 선호하도록 조장할 수 있고</a:t>
                      </a:r>
                      <a:r>
                        <a:rPr lang="en-US" altLang="ko-KR" sz="1200" u="none" kern="1200" dirty="0">
                          <a:solidFill>
                            <a:schemeClr val="tx1"/>
                          </a:solidFill>
                          <a:effectLst/>
                          <a:latin typeface="+mn-lt"/>
                          <a:ea typeface="+mn-ea"/>
                          <a:cs typeface="+mn-cs"/>
                        </a:rPr>
                        <a:t>, </a:t>
                      </a:r>
                      <a:r>
                        <a:rPr lang="ko-KR" altLang="en-US" sz="1200" u="none" kern="1200" dirty="0">
                          <a:solidFill>
                            <a:schemeClr val="tx1"/>
                          </a:solidFill>
                          <a:effectLst/>
                          <a:latin typeface="+mn-lt"/>
                          <a:ea typeface="+mn-ea"/>
                          <a:cs typeface="+mn-cs"/>
                        </a:rPr>
                        <a:t>결국 잠재적인 특허실시계약 예정자로 하여금 무단실시가 아닌 적법한 특허실시계약을 체결하도록 유도하려면 특허가 소급하여 무효로 된 경우 </a:t>
                      </a:r>
                      <a:r>
                        <a:rPr lang="ko-KR" altLang="en-US" sz="1200" u="none" kern="1200" dirty="0" err="1">
                          <a:solidFill>
                            <a:schemeClr val="tx1"/>
                          </a:solidFill>
                          <a:effectLst/>
                          <a:latin typeface="+mn-lt"/>
                          <a:ea typeface="+mn-ea"/>
                          <a:cs typeface="+mn-cs"/>
                        </a:rPr>
                        <a:t>기지급</a:t>
                      </a:r>
                      <a:r>
                        <a:rPr lang="ko-KR" altLang="en-US" sz="1200" u="none" kern="1200" dirty="0">
                          <a:solidFill>
                            <a:schemeClr val="tx1"/>
                          </a:solidFill>
                          <a:effectLst/>
                          <a:latin typeface="+mn-lt"/>
                          <a:ea typeface="+mn-ea"/>
                          <a:cs typeface="+mn-cs"/>
                        </a:rPr>
                        <a:t> 실시료의 반환을 인정해 줄 필요가 있다</a:t>
                      </a:r>
                      <a:r>
                        <a:rPr lang="en-US" altLang="ko-KR" sz="1200" u="none" kern="1200" dirty="0">
                          <a:solidFill>
                            <a:schemeClr val="tx1"/>
                          </a:solidFill>
                          <a:effectLst/>
                          <a:latin typeface="+mn-lt"/>
                          <a:ea typeface="+mn-ea"/>
                          <a:cs typeface="+mn-cs"/>
                        </a:rPr>
                        <a:t>.</a:t>
                      </a:r>
                      <a:endParaRPr lang="ko-KR" altLang="en-US" sz="1200" u="none" dirty="0"/>
                    </a:p>
                  </a:txBody>
                  <a:tcPr anchor="ctr"/>
                </a:tc>
                <a:extLst>
                  <a:ext uri="{0D108BD9-81ED-4DB2-BD59-A6C34878D82A}">
                    <a16:rowId xmlns:a16="http://schemas.microsoft.com/office/drawing/2014/main" val="3898581810"/>
                  </a:ext>
                </a:extLst>
              </a:tr>
            </a:tbl>
          </a:graphicData>
        </a:graphic>
      </p:graphicFrame>
      <p:sp>
        <p:nvSpPr>
          <p:cNvPr id="13" name="TextBox 12">
            <a:extLst>
              <a:ext uri="{FF2B5EF4-FFF2-40B4-BE49-F238E27FC236}">
                <a16:creationId xmlns:a16="http://schemas.microsoft.com/office/drawing/2014/main" id="{A558919A-1ABB-4F06-87E6-C2FDD7162BCD}"/>
              </a:ext>
            </a:extLst>
          </p:cNvPr>
          <p:cNvSpPr txBox="1"/>
          <p:nvPr/>
        </p:nvSpPr>
        <p:spPr>
          <a:xfrm>
            <a:off x="2819400" y="780001"/>
            <a:ext cx="9377888" cy="253916"/>
          </a:xfrm>
          <a:prstGeom prst="rect">
            <a:avLst/>
          </a:prstGeom>
          <a:noFill/>
        </p:spPr>
        <p:txBody>
          <a:bodyPr wrap="none" rtlCol="0">
            <a:spAutoFit/>
          </a:bodyPr>
          <a:lstStyle/>
          <a:p>
            <a:r>
              <a:rPr lang="ko-KR" altLang="en-US" sz="1050" dirty="0" err="1">
                <a:solidFill>
                  <a:schemeClr val="bg1">
                    <a:lumMod val="50000"/>
                  </a:schemeClr>
                </a:solidFill>
              </a:rPr>
              <a:t>임상민</a:t>
            </a:r>
            <a:r>
              <a:rPr lang="en-US" altLang="ko-KR" sz="1050" dirty="0">
                <a:solidFill>
                  <a:schemeClr val="bg1">
                    <a:lumMod val="50000"/>
                  </a:schemeClr>
                </a:solidFill>
              </a:rPr>
              <a:t>, “</a:t>
            </a:r>
            <a:r>
              <a:rPr lang="ko-KR" altLang="en-US" sz="1050" dirty="0">
                <a:solidFill>
                  <a:schemeClr val="bg1">
                    <a:lumMod val="50000"/>
                  </a:schemeClr>
                </a:solidFill>
              </a:rPr>
              <a:t>특허의 소급 무효와 </a:t>
            </a:r>
            <a:r>
              <a:rPr lang="ko-KR" altLang="en-US" sz="1050" dirty="0" err="1">
                <a:solidFill>
                  <a:schemeClr val="bg1">
                    <a:lumMod val="50000"/>
                  </a:schemeClr>
                </a:solidFill>
              </a:rPr>
              <a:t>기지급</a:t>
            </a:r>
            <a:r>
              <a:rPr lang="ko-KR" altLang="en-US" sz="1050" dirty="0">
                <a:solidFill>
                  <a:schemeClr val="bg1">
                    <a:lumMod val="50000"/>
                  </a:schemeClr>
                </a:solidFill>
              </a:rPr>
              <a:t>  실시료의 반환 여부 </a:t>
            </a:r>
            <a:r>
              <a:rPr lang="en-US" altLang="ko-KR" sz="1050" dirty="0">
                <a:solidFill>
                  <a:schemeClr val="bg1">
                    <a:lumMod val="50000"/>
                  </a:schemeClr>
                </a:solidFill>
              </a:rPr>
              <a:t>-</a:t>
            </a:r>
            <a:r>
              <a:rPr lang="ko-KR" altLang="en-US" sz="1050" dirty="0">
                <a:solidFill>
                  <a:schemeClr val="bg1">
                    <a:lumMod val="50000"/>
                  </a:schemeClr>
                </a:solidFill>
              </a:rPr>
              <a:t>대법원 </a:t>
            </a:r>
            <a:r>
              <a:rPr lang="en-US" altLang="ko-KR" sz="1050" dirty="0">
                <a:solidFill>
                  <a:schemeClr val="bg1">
                    <a:lumMod val="50000"/>
                  </a:schemeClr>
                </a:solidFill>
              </a:rPr>
              <a:t>2014. 11. 13. </a:t>
            </a:r>
            <a:r>
              <a:rPr lang="ko-KR" altLang="en-US" sz="1050" dirty="0">
                <a:solidFill>
                  <a:schemeClr val="bg1">
                    <a:lumMod val="50000"/>
                  </a:schemeClr>
                </a:solidFill>
              </a:rPr>
              <a:t>선고 </a:t>
            </a:r>
            <a:r>
              <a:rPr lang="en-US" altLang="ko-KR" sz="1050" dirty="0">
                <a:solidFill>
                  <a:schemeClr val="bg1">
                    <a:lumMod val="50000"/>
                  </a:schemeClr>
                </a:solidFill>
              </a:rPr>
              <a:t>2012</a:t>
            </a:r>
            <a:r>
              <a:rPr lang="ko-KR" altLang="en-US" sz="1050" dirty="0">
                <a:solidFill>
                  <a:schemeClr val="bg1">
                    <a:lumMod val="50000"/>
                  </a:schemeClr>
                </a:solidFill>
              </a:rPr>
              <a:t>다</a:t>
            </a:r>
            <a:r>
              <a:rPr lang="en-US" altLang="ko-KR" sz="1050" dirty="0">
                <a:solidFill>
                  <a:schemeClr val="bg1">
                    <a:lumMod val="50000"/>
                  </a:schemeClr>
                </a:solidFill>
              </a:rPr>
              <a:t>42666, 42673 </a:t>
            </a:r>
            <a:r>
              <a:rPr lang="ko-KR" altLang="en-US" sz="1050" dirty="0">
                <a:solidFill>
                  <a:schemeClr val="bg1">
                    <a:lumMod val="50000"/>
                  </a:schemeClr>
                </a:solidFill>
              </a:rPr>
              <a:t>판결을 중심으로</a:t>
            </a:r>
            <a:r>
              <a:rPr lang="en-US" altLang="ko-KR" sz="1050" dirty="0">
                <a:solidFill>
                  <a:schemeClr val="bg1">
                    <a:lumMod val="50000"/>
                  </a:schemeClr>
                </a:solidFill>
              </a:rPr>
              <a:t>–”, </a:t>
            </a:r>
            <a:r>
              <a:rPr lang="ko-KR" altLang="en-US" sz="1050" dirty="0">
                <a:solidFill>
                  <a:schemeClr val="bg1">
                    <a:lumMod val="50000"/>
                  </a:schemeClr>
                </a:solidFill>
              </a:rPr>
              <a:t>과학기술과 법 제</a:t>
            </a:r>
            <a:r>
              <a:rPr lang="en-US" altLang="ko-KR" sz="1050" dirty="0">
                <a:solidFill>
                  <a:schemeClr val="bg1">
                    <a:lumMod val="50000"/>
                  </a:schemeClr>
                </a:solidFill>
              </a:rPr>
              <a:t>6</a:t>
            </a:r>
            <a:r>
              <a:rPr lang="ko-KR" altLang="en-US" sz="1050" dirty="0">
                <a:solidFill>
                  <a:schemeClr val="bg1">
                    <a:lumMod val="50000"/>
                  </a:schemeClr>
                </a:solidFill>
              </a:rPr>
              <a:t>권 제</a:t>
            </a:r>
            <a:r>
              <a:rPr lang="en-US" altLang="ko-KR" sz="1050" dirty="0">
                <a:solidFill>
                  <a:schemeClr val="bg1">
                    <a:lumMod val="50000"/>
                  </a:schemeClr>
                </a:solidFill>
              </a:rPr>
              <a:t>2</a:t>
            </a:r>
            <a:r>
              <a:rPr lang="ko-KR" altLang="en-US" sz="1050" dirty="0">
                <a:solidFill>
                  <a:schemeClr val="bg1">
                    <a:lumMod val="50000"/>
                  </a:schemeClr>
                </a:solidFill>
              </a:rPr>
              <a:t>호</a:t>
            </a:r>
            <a:r>
              <a:rPr lang="en-US" altLang="ko-KR" sz="1050" dirty="0">
                <a:solidFill>
                  <a:schemeClr val="bg1">
                    <a:lumMod val="50000"/>
                  </a:schemeClr>
                </a:solidFill>
              </a:rPr>
              <a:t>(2015. 12)</a:t>
            </a:r>
            <a:endParaRPr lang="ko-KR" altLang="en-US" sz="1050" dirty="0">
              <a:solidFill>
                <a:schemeClr val="bg1">
                  <a:lumMod val="50000"/>
                </a:schemeClr>
              </a:solidFill>
            </a:endParaRPr>
          </a:p>
        </p:txBody>
      </p:sp>
    </p:spTree>
    <p:extLst>
      <p:ext uri="{BB962C8B-B14F-4D97-AF65-F5344CB8AC3E}">
        <p14:creationId xmlns:p14="http://schemas.microsoft.com/office/powerpoint/2010/main" val="3911518118"/>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78EDE4-038A-F4E3-59A6-6118333C22DD}"/>
            </a:ext>
          </a:extLst>
        </p:cNvPr>
        <p:cNvGrpSpPr/>
        <p:nvPr/>
      </p:nvGrpSpPr>
      <p:grpSpPr>
        <a:xfrm>
          <a:off x="0" y="0"/>
          <a:ext cx="0" cy="0"/>
          <a:chOff x="0" y="0"/>
          <a:chExt cx="0" cy="0"/>
        </a:xfrm>
      </p:grpSpPr>
      <p:sp>
        <p:nvSpPr>
          <p:cNvPr id="3" name="제목 2">
            <a:extLst>
              <a:ext uri="{FF2B5EF4-FFF2-40B4-BE49-F238E27FC236}">
                <a16:creationId xmlns:a16="http://schemas.microsoft.com/office/drawing/2014/main" id="{13281F70-A2EE-EAD7-D8F2-8EC33F3043FB}"/>
              </a:ext>
            </a:extLst>
          </p:cNvPr>
          <p:cNvSpPr>
            <a:spLocks noGrp="1"/>
          </p:cNvSpPr>
          <p:nvPr>
            <p:ph type="title"/>
          </p:nvPr>
        </p:nvSpPr>
        <p:spPr/>
        <p:txBody>
          <a:bodyPr/>
          <a:lstStyle/>
          <a:p>
            <a:r>
              <a:rPr lang="ko-KR" altLang="en-US" dirty="0"/>
              <a:t>제</a:t>
            </a:r>
            <a:r>
              <a:rPr lang="en-US" altLang="ko-KR" dirty="0"/>
              <a:t>133</a:t>
            </a:r>
            <a:r>
              <a:rPr lang="ko-KR" altLang="en-US" dirty="0"/>
              <a:t>조</a:t>
            </a:r>
          </a:p>
        </p:txBody>
      </p:sp>
      <p:sp>
        <p:nvSpPr>
          <p:cNvPr id="4" name="텍스트 개체 틀 3">
            <a:extLst>
              <a:ext uri="{FF2B5EF4-FFF2-40B4-BE49-F238E27FC236}">
                <a16:creationId xmlns:a16="http://schemas.microsoft.com/office/drawing/2014/main" id="{74186A45-6386-F634-3383-9AF9564CC6A7}"/>
              </a:ext>
            </a:extLst>
          </p:cNvPr>
          <p:cNvSpPr>
            <a:spLocks noGrp="1"/>
          </p:cNvSpPr>
          <p:nvPr>
            <p:ph type="body" sz="quarter" idx="13"/>
          </p:nvPr>
        </p:nvSpPr>
        <p:spPr/>
        <p:txBody>
          <a:bodyPr>
            <a:normAutofit/>
          </a:bodyPr>
          <a:lstStyle/>
          <a:p>
            <a:r>
              <a:rPr lang="ko-KR" altLang="en-US" dirty="0"/>
              <a:t>실시</a:t>
            </a:r>
            <a:r>
              <a:rPr lang="en-US" altLang="ko-KR" dirty="0"/>
              <a:t>(</a:t>
            </a:r>
            <a:r>
              <a:rPr lang="ko-KR" altLang="en-US" dirty="0"/>
              <a:t>금지</a:t>
            </a:r>
            <a:r>
              <a:rPr lang="en-US" altLang="ko-KR" dirty="0"/>
              <a:t>)</a:t>
            </a:r>
            <a:r>
              <a:rPr lang="ko-KR" altLang="en-US" dirty="0"/>
              <a:t> 계약의 효력</a:t>
            </a:r>
          </a:p>
        </p:txBody>
      </p:sp>
      <p:sp>
        <p:nvSpPr>
          <p:cNvPr id="2" name="Rectangle 1">
            <a:extLst>
              <a:ext uri="{FF2B5EF4-FFF2-40B4-BE49-F238E27FC236}">
                <a16:creationId xmlns:a16="http://schemas.microsoft.com/office/drawing/2014/main" id="{282F1ADE-E562-A59B-BA8A-2A3A0CED93AF}"/>
              </a:ext>
            </a:extLst>
          </p:cNvPr>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7" name="모서리가 둥근 직사각형 10">
            <a:extLst>
              <a:ext uri="{FF2B5EF4-FFF2-40B4-BE49-F238E27FC236}">
                <a16:creationId xmlns:a16="http://schemas.microsoft.com/office/drawing/2014/main" id="{C7FAE5B9-2F25-1A18-05C4-9F3D28FBC006}"/>
              </a:ext>
            </a:extLst>
          </p:cNvPr>
          <p:cNvSpPr/>
          <p:nvPr/>
        </p:nvSpPr>
        <p:spPr bwMode="auto">
          <a:xfrm>
            <a:off x="464181" y="1002199"/>
            <a:ext cx="5097820"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2024. 11. 20. </a:t>
            </a:r>
            <a:r>
              <a:rPr lang="ko-KR" altLang="en-US" sz="1400" dirty="0"/>
              <a:t>선고 </a:t>
            </a:r>
            <a:r>
              <a:rPr lang="en-US" altLang="ko-KR" sz="1400" dirty="0"/>
              <a:t>2024</a:t>
            </a:r>
            <a:r>
              <a:rPr lang="ko-KR" altLang="en-US" sz="1400" dirty="0"/>
              <a:t>다</a:t>
            </a:r>
            <a:r>
              <a:rPr lang="en-US" altLang="ko-KR" sz="1400" dirty="0"/>
              <a:t>270105 </a:t>
            </a:r>
            <a:r>
              <a:rPr lang="ko-KR" altLang="en-US" sz="1400" dirty="0"/>
              <a:t>판결 </a:t>
            </a:r>
            <a:r>
              <a:rPr lang="en-US" altLang="ko-KR" sz="1400" dirty="0"/>
              <a:t>【</a:t>
            </a:r>
            <a:r>
              <a:rPr lang="ko-KR" altLang="en-US" sz="1400" dirty="0"/>
              <a:t>손해배상</a:t>
            </a:r>
            <a:r>
              <a:rPr lang="en-US" altLang="ko-KR" sz="1400" dirty="0"/>
              <a:t>(</a:t>
            </a:r>
            <a:r>
              <a:rPr lang="ko-KR" altLang="en-US" sz="1400" dirty="0"/>
              <a:t>기</a:t>
            </a:r>
            <a:r>
              <a:rPr lang="en-US" altLang="ko-KR" sz="1400" dirty="0"/>
              <a:t>)】</a:t>
            </a:r>
          </a:p>
        </p:txBody>
      </p:sp>
      <p:sp>
        <p:nvSpPr>
          <p:cNvPr id="8" name="직사각형 7">
            <a:extLst>
              <a:ext uri="{FF2B5EF4-FFF2-40B4-BE49-F238E27FC236}">
                <a16:creationId xmlns:a16="http://schemas.microsoft.com/office/drawing/2014/main" id="{CC7C9785-D68C-22F1-D4F8-9C8B2CA875C2}"/>
              </a:ext>
            </a:extLst>
          </p:cNvPr>
          <p:cNvSpPr/>
          <p:nvPr/>
        </p:nvSpPr>
        <p:spPr>
          <a:xfrm>
            <a:off x="232372" y="1333658"/>
            <a:ext cx="11681987" cy="1200329"/>
          </a:xfrm>
          <a:prstGeom prst="rect">
            <a:avLst/>
          </a:prstGeom>
        </p:spPr>
        <p:txBody>
          <a:bodyPr wrap="square">
            <a:spAutoFit/>
          </a:bodyPr>
          <a:lstStyle/>
          <a:p>
            <a:pPr algn="just"/>
            <a:r>
              <a:rPr lang="ko-KR" altLang="en-US" sz="1200" dirty="0"/>
              <a:t>특허권자와 계약상대방 사이에 특허권자의 허락 없는 특허발명 실시를 금지하는 내용의 계약</a:t>
            </a:r>
            <a:r>
              <a:rPr lang="en-US" altLang="ko-KR" sz="1200" dirty="0"/>
              <a:t>(</a:t>
            </a:r>
            <a:r>
              <a:rPr lang="ko-KR" altLang="en-US" sz="1200" dirty="0"/>
              <a:t>이하 ‘특허발명 </a:t>
            </a:r>
            <a:r>
              <a:rPr lang="ko-KR" altLang="en-US" sz="1200" dirty="0" err="1"/>
              <a:t>실시금지계약’이라</a:t>
            </a:r>
            <a:r>
              <a:rPr lang="ko-KR" altLang="en-US" sz="1200" dirty="0"/>
              <a:t> 한다</a:t>
            </a:r>
            <a:r>
              <a:rPr lang="en-US" altLang="ko-KR" sz="1200" dirty="0"/>
              <a:t>)</a:t>
            </a:r>
            <a:r>
              <a:rPr lang="ko-KR" altLang="en-US" sz="1200" dirty="0"/>
              <a:t>이 체결된 이후에 그 특허가 무효로 확정되었다고 하더라도 특허발명 </a:t>
            </a:r>
            <a:r>
              <a:rPr lang="ko-KR" altLang="en-US" sz="1200" dirty="0">
                <a:highlight>
                  <a:srgbClr val="FFFF00"/>
                </a:highlight>
              </a:rPr>
              <a:t>실시금지계약이 계약 체결 당시부터 원시적으로 이행불능 상태에 있었다고 볼 수는 없고</a:t>
            </a:r>
            <a:r>
              <a:rPr lang="en-US" altLang="ko-KR" sz="1200" dirty="0"/>
              <a:t>, </a:t>
            </a:r>
            <a:r>
              <a:rPr lang="ko-KR" altLang="en-US" sz="1200" dirty="0"/>
              <a:t>다만 </a:t>
            </a:r>
            <a:r>
              <a:rPr lang="ko-KR" altLang="en-US" sz="1200" dirty="0">
                <a:highlight>
                  <a:srgbClr val="FFFF00"/>
                </a:highlight>
              </a:rPr>
              <a:t>그 특허가 무효로 확정된 때부터 특허발명 실시금지계약은 이행불능 상태</a:t>
            </a:r>
            <a:r>
              <a:rPr lang="ko-KR" altLang="en-US" sz="1200" dirty="0"/>
              <a:t>에 빠지게 될 뿐이다</a:t>
            </a:r>
            <a:r>
              <a:rPr lang="en-US" altLang="ko-KR" sz="1200" dirty="0"/>
              <a:t>(</a:t>
            </a:r>
            <a:r>
              <a:rPr lang="ko-KR" altLang="en-US" sz="1200" dirty="0"/>
              <a:t>대법원 </a:t>
            </a:r>
            <a:r>
              <a:rPr lang="en-US" altLang="ko-KR" sz="1200" dirty="0"/>
              <a:t>2014. 11. 13. </a:t>
            </a:r>
            <a:r>
              <a:rPr lang="ko-KR" altLang="en-US" sz="1200" dirty="0"/>
              <a:t>선고 </a:t>
            </a:r>
            <a:r>
              <a:rPr lang="en-US" altLang="ko-KR" sz="1200" dirty="0"/>
              <a:t>2012</a:t>
            </a:r>
            <a:r>
              <a:rPr lang="ko-KR" altLang="en-US" sz="1200" dirty="0"/>
              <a:t>다</a:t>
            </a:r>
            <a:r>
              <a:rPr lang="en-US" altLang="ko-KR" sz="1200" dirty="0"/>
              <a:t>42666, 42673 </a:t>
            </a:r>
            <a:r>
              <a:rPr lang="ko-KR" altLang="en-US" sz="1200" dirty="0"/>
              <a:t>판결 등 참조</a:t>
            </a:r>
            <a:r>
              <a:rPr lang="en-US" altLang="ko-KR" sz="1200" dirty="0"/>
              <a:t>). </a:t>
            </a:r>
            <a:r>
              <a:rPr lang="ko-KR" altLang="en-US" sz="1200" dirty="0"/>
              <a:t>따라서 특허발명 실시금지계약 자체에 별도의 무효사유가 없는 </a:t>
            </a:r>
            <a:r>
              <a:rPr lang="ko-KR" altLang="en-US" sz="1200" dirty="0">
                <a:highlight>
                  <a:srgbClr val="FFFF00"/>
                </a:highlight>
              </a:rPr>
              <a:t>한 특허권자는 원칙적으로 위 계약에 따른 특허발명 실시금지의무가 유효하게 존재하는 기간 동안 특허발명을 실시한 계약상대방에 대하여 채무불이행에 따른 손해배상을 청구</a:t>
            </a:r>
            <a:r>
              <a:rPr lang="ko-KR" altLang="en-US" sz="1200" dirty="0"/>
              <a:t>할 수 있다</a:t>
            </a:r>
            <a:r>
              <a:rPr lang="en-US" altLang="ko-KR" sz="1200" dirty="0"/>
              <a:t>(</a:t>
            </a:r>
            <a:r>
              <a:rPr lang="ko-KR" altLang="en-US" sz="1200" dirty="0"/>
              <a:t>대법원 </a:t>
            </a:r>
            <a:r>
              <a:rPr lang="en-US" altLang="ko-KR" sz="1200" dirty="0"/>
              <a:t>2019. 4. 25. </a:t>
            </a:r>
            <a:r>
              <a:rPr lang="ko-KR" altLang="en-US" sz="1200" dirty="0"/>
              <a:t>선고 </a:t>
            </a:r>
            <a:r>
              <a:rPr lang="en-US" altLang="ko-KR" sz="1200" dirty="0"/>
              <a:t>2018</a:t>
            </a:r>
            <a:r>
              <a:rPr lang="ko-KR" altLang="en-US" sz="1200" dirty="0"/>
              <a:t>다</a:t>
            </a:r>
            <a:r>
              <a:rPr lang="en-US" altLang="ko-KR" sz="1200" dirty="0"/>
              <a:t>287362 </a:t>
            </a:r>
            <a:r>
              <a:rPr lang="ko-KR" altLang="en-US" sz="1200" dirty="0"/>
              <a:t>판결 등 참조</a:t>
            </a:r>
            <a:r>
              <a:rPr lang="en-US" altLang="ko-KR" sz="1200" dirty="0"/>
              <a:t>). </a:t>
            </a:r>
            <a:r>
              <a:rPr lang="ko-KR" altLang="en-US" sz="1200" dirty="0"/>
              <a:t>이때 계약상대방이 특허발명을 실시한 구체적인 형태가 그 기술분야에서 통상의 지식을 가진 사람이 공지기술로부터 쉽게 실시할 수 있는 이른바 </a:t>
            </a:r>
            <a:r>
              <a:rPr lang="ko-KR" altLang="en-US" sz="1200" dirty="0">
                <a:highlight>
                  <a:srgbClr val="FFFF00"/>
                </a:highlight>
              </a:rPr>
              <a:t>자유실시기술에 해당한다고 하더라도</a:t>
            </a:r>
            <a:r>
              <a:rPr lang="en-US" altLang="ko-KR" sz="1200" dirty="0">
                <a:highlight>
                  <a:srgbClr val="FFFF00"/>
                </a:highlight>
              </a:rPr>
              <a:t>, </a:t>
            </a:r>
            <a:r>
              <a:rPr lang="ko-KR" altLang="en-US" sz="1200" dirty="0">
                <a:highlight>
                  <a:srgbClr val="FFFF00"/>
                </a:highlight>
              </a:rPr>
              <a:t>그러한 사정만으로 계약상대방이 특허권자와의 의사 합치에 따른 특허발명 실시금지계약의 구속력에서 벗어나게 된다고 볼 수는 없다</a:t>
            </a:r>
            <a:r>
              <a:rPr lang="en-US" altLang="ko-KR" sz="1200" dirty="0">
                <a:highlight>
                  <a:srgbClr val="FFFF00"/>
                </a:highlight>
              </a:rPr>
              <a:t>.</a:t>
            </a:r>
            <a:endParaRPr lang="en-US" altLang="ko-KR" sz="1200" dirty="0">
              <a:solidFill>
                <a:srgbClr val="FF0000"/>
              </a:solidFill>
              <a:highlight>
                <a:srgbClr val="FFFF00"/>
              </a:highlight>
            </a:endParaRPr>
          </a:p>
        </p:txBody>
      </p:sp>
      <p:cxnSp>
        <p:nvCxnSpPr>
          <p:cNvPr id="56" name="직선 연결선 55">
            <a:extLst>
              <a:ext uri="{FF2B5EF4-FFF2-40B4-BE49-F238E27FC236}">
                <a16:creationId xmlns:a16="http://schemas.microsoft.com/office/drawing/2014/main" id="{2BB8C33E-6BB0-9FF8-F35B-401A914D6904}"/>
              </a:ext>
            </a:extLst>
          </p:cNvPr>
          <p:cNvCxnSpPr/>
          <p:nvPr/>
        </p:nvCxnSpPr>
        <p:spPr>
          <a:xfrm>
            <a:off x="77875" y="262536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8" name="Line 5">
            <a:extLst>
              <a:ext uri="{FF2B5EF4-FFF2-40B4-BE49-F238E27FC236}">
                <a16:creationId xmlns:a16="http://schemas.microsoft.com/office/drawing/2014/main" id="{0A6F9EB5-F74D-D95B-FAB5-FD6FE5EDC9A8}"/>
              </a:ext>
            </a:extLst>
          </p:cNvPr>
          <p:cNvSpPr>
            <a:spLocks noChangeShapeType="1"/>
          </p:cNvSpPr>
          <p:nvPr/>
        </p:nvSpPr>
        <p:spPr bwMode="auto">
          <a:xfrm>
            <a:off x="328661" y="3689616"/>
            <a:ext cx="11585697"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59" name="TextBox 58">
            <a:extLst>
              <a:ext uri="{FF2B5EF4-FFF2-40B4-BE49-F238E27FC236}">
                <a16:creationId xmlns:a16="http://schemas.microsoft.com/office/drawing/2014/main" id="{B6B1FA1F-DA72-A51F-A96E-3B81B1B9865A}"/>
              </a:ext>
            </a:extLst>
          </p:cNvPr>
          <p:cNvSpPr txBox="1"/>
          <p:nvPr/>
        </p:nvSpPr>
        <p:spPr>
          <a:xfrm>
            <a:off x="463587" y="3451413"/>
            <a:ext cx="1143589" cy="47213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甲 설정등록</a:t>
            </a:r>
            <a:endParaRPr lang="en-US" altLang="ko-KR" sz="1200" dirty="0">
              <a:solidFill>
                <a:schemeClr val="tx1"/>
              </a:solidFill>
              <a:latin typeface="+mn-ea"/>
            </a:endParaRPr>
          </a:p>
        </p:txBody>
      </p:sp>
      <p:sp>
        <p:nvSpPr>
          <p:cNvPr id="60" name="TextBox 59">
            <a:extLst>
              <a:ext uri="{FF2B5EF4-FFF2-40B4-BE49-F238E27FC236}">
                <a16:creationId xmlns:a16="http://schemas.microsoft.com/office/drawing/2014/main" id="{EA293ED3-4B92-7DB7-A6D4-66D6A5A790D8}"/>
              </a:ext>
            </a:extLst>
          </p:cNvPr>
          <p:cNvSpPr txBox="1"/>
          <p:nvPr/>
        </p:nvSpPr>
        <p:spPr>
          <a:xfrm>
            <a:off x="1907332" y="3451413"/>
            <a:ext cx="1397002" cy="47213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乙 </a:t>
            </a:r>
            <a:r>
              <a:rPr lang="ko-KR" altLang="en-US" sz="1200" dirty="0" err="1">
                <a:solidFill>
                  <a:schemeClr val="tx1"/>
                </a:solidFill>
                <a:latin typeface="+mn-ea"/>
              </a:rPr>
              <a:t>실시권허락계약</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실시계약</a:t>
            </a:r>
            <a:r>
              <a:rPr lang="en-US" altLang="ko-KR" sz="1200" dirty="0">
                <a:solidFill>
                  <a:schemeClr val="tx1"/>
                </a:solidFill>
                <a:latin typeface="+mn-ea"/>
              </a:rPr>
              <a:t>)</a:t>
            </a:r>
          </a:p>
        </p:txBody>
      </p:sp>
      <p:sp>
        <p:nvSpPr>
          <p:cNvPr id="61" name="TextBox 60">
            <a:extLst>
              <a:ext uri="{FF2B5EF4-FFF2-40B4-BE49-F238E27FC236}">
                <a16:creationId xmlns:a16="http://schemas.microsoft.com/office/drawing/2014/main" id="{AF77FAF2-7B8D-7AD8-3CD2-86CE5FDED84F}"/>
              </a:ext>
            </a:extLst>
          </p:cNvPr>
          <p:cNvSpPr txBox="1"/>
          <p:nvPr/>
        </p:nvSpPr>
        <p:spPr>
          <a:xfrm>
            <a:off x="7689467" y="3451413"/>
            <a:ext cx="1143589" cy="47213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무효심판청구</a:t>
            </a:r>
            <a:endParaRPr lang="en-US" altLang="ko-KR" sz="1200" dirty="0">
              <a:solidFill>
                <a:schemeClr val="tx1"/>
              </a:solidFill>
              <a:latin typeface="+mn-ea"/>
            </a:endParaRPr>
          </a:p>
        </p:txBody>
      </p:sp>
      <p:sp>
        <p:nvSpPr>
          <p:cNvPr id="62" name="TextBox 61">
            <a:extLst>
              <a:ext uri="{FF2B5EF4-FFF2-40B4-BE49-F238E27FC236}">
                <a16:creationId xmlns:a16="http://schemas.microsoft.com/office/drawing/2014/main" id="{557A8C80-5E7D-A995-1BD8-A8D262340720}"/>
              </a:ext>
            </a:extLst>
          </p:cNvPr>
          <p:cNvSpPr txBox="1"/>
          <p:nvPr/>
        </p:nvSpPr>
        <p:spPr>
          <a:xfrm>
            <a:off x="9650179" y="3451413"/>
            <a:ext cx="1143589" cy="47213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무효심결확정</a:t>
            </a:r>
            <a:endParaRPr lang="en-US" altLang="ko-KR" sz="1200" dirty="0">
              <a:solidFill>
                <a:schemeClr val="tx1"/>
              </a:solidFill>
              <a:latin typeface="+mn-ea"/>
            </a:endParaRPr>
          </a:p>
        </p:txBody>
      </p:sp>
      <p:cxnSp>
        <p:nvCxnSpPr>
          <p:cNvPr id="65" name="직선 연결선 64">
            <a:extLst>
              <a:ext uri="{FF2B5EF4-FFF2-40B4-BE49-F238E27FC236}">
                <a16:creationId xmlns:a16="http://schemas.microsoft.com/office/drawing/2014/main" id="{A19F6703-0611-A2D1-EB59-7E814DBDF5E8}"/>
              </a:ext>
            </a:extLst>
          </p:cNvPr>
          <p:cNvCxnSpPr>
            <a:cxnSpLocks/>
            <a:stCxn id="60" idx="2"/>
          </p:cNvCxnSpPr>
          <p:nvPr/>
        </p:nvCxnSpPr>
        <p:spPr>
          <a:xfrm>
            <a:off x="2605833" y="3923551"/>
            <a:ext cx="0" cy="52593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671FFF01-C983-A391-D384-2D366DD730EC}"/>
              </a:ext>
            </a:extLst>
          </p:cNvPr>
          <p:cNvCxnSpPr>
            <a:cxnSpLocks/>
            <a:stCxn id="62" idx="2"/>
          </p:cNvCxnSpPr>
          <p:nvPr/>
        </p:nvCxnSpPr>
        <p:spPr>
          <a:xfrm>
            <a:off x="10221974" y="3923551"/>
            <a:ext cx="0" cy="166146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직선 화살표 연결선 67">
            <a:extLst>
              <a:ext uri="{FF2B5EF4-FFF2-40B4-BE49-F238E27FC236}">
                <a16:creationId xmlns:a16="http://schemas.microsoft.com/office/drawing/2014/main" id="{8AB9F996-887F-BBD1-0D44-802C397D68AE}"/>
              </a:ext>
            </a:extLst>
          </p:cNvPr>
          <p:cNvCxnSpPr>
            <a:cxnSpLocks/>
          </p:cNvCxnSpPr>
          <p:nvPr/>
        </p:nvCxnSpPr>
        <p:spPr>
          <a:xfrm>
            <a:off x="2605833" y="4302556"/>
            <a:ext cx="7616140" cy="0"/>
          </a:xfrm>
          <a:prstGeom prst="straightConnector1">
            <a:avLst/>
          </a:prstGeom>
          <a:ln w="38100">
            <a:solidFill>
              <a:schemeClr val="accent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50CE9401-591B-929F-BB1A-2947483183E4}"/>
              </a:ext>
            </a:extLst>
          </p:cNvPr>
          <p:cNvSpPr txBox="1"/>
          <p:nvPr/>
        </p:nvSpPr>
        <p:spPr>
          <a:xfrm>
            <a:off x="5183491" y="4016863"/>
            <a:ext cx="1098378" cy="276999"/>
          </a:xfrm>
          <a:prstGeom prst="rect">
            <a:avLst/>
          </a:prstGeom>
          <a:noFill/>
          <a:ln>
            <a:noFill/>
          </a:ln>
        </p:spPr>
        <p:txBody>
          <a:bodyPr wrap="none" rtlCol="0">
            <a:spAutoFit/>
          </a:bodyPr>
          <a:lstStyle/>
          <a:p>
            <a:pPr algn="ctr"/>
            <a:r>
              <a:rPr lang="ko-KR" altLang="en-US" sz="1200" dirty="0"/>
              <a:t>乙 </a:t>
            </a:r>
            <a:r>
              <a:rPr lang="ko-KR" altLang="en-US" sz="1200" dirty="0" err="1"/>
              <a:t>실시료</a:t>
            </a:r>
            <a:r>
              <a:rPr lang="ko-KR" altLang="en-US" sz="1200" dirty="0"/>
              <a:t> 지급</a:t>
            </a:r>
            <a:endParaRPr lang="en-US" altLang="ko-KR" sz="1200" dirty="0"/>
          </a:p>
        </p:txBody>
      </p:sp>
      <p:sp>
        <p:nvSpPr>
          <p:cNvPr id="73" name="말풍선: 모서리가 둥근 사각형 72">
            <a:extLst>
              <a:ext uri="{FF2B5EF4-FFF2-40B4-BE49-F238E27FC236}">
                <a16:creationId xmlns:a16="http://schemas.microsoft.com/office/drawing/2014/main" id="{8E7A5535-041E-E4A2-BFCE-994DE5D9351A}"/>
              </a:ext>
            </a:extLst>
          </p:cNvPr>
          <p:cNvSpPr/>
          <p:nvPr/>
        </p:nvSpPr>
        <p:spPr>
          <a:xfrm>
            <a:off x="7862046" y="2770963"/>
            <a:ext cx="3857010" cy="430635"/>
          </a:xfrm>
          <a:prstGeom prst="wedgeRoundRectCallout">
            <a:avLst>
              <a:gd name="adj1" fmla="val 2150"/>
              <a:gd name="adj2" fmla="val 99702"/>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50000"/>
                  </a:schemeClr>
                </a:solidFill>
              </a:rPr>
              <a:t>특허권은 처음부터 없었던 것으로 간주되나</a:t>
            </a:r>
            <a:r>
              <a:rPr lang="en-US" altLang="ko-KR" sz="1200" dirty="0">
                <a:solidFill>
                  <a:schemeClr val="bg1">
                    <a:lumMod val="50000"/>
                  </a:schemeClr>
                </a:solidFill>
              </a:rPr>
              <a:t>, </a:t>
            </a:r>
          </a:p>
          <a:p>
            <a:pPr algn="ctr"/>
            <a:r>
              <a:rPr lang="ko-KR" altLang="en-US" sz="1200" dirty="0">
                <a:solidFill>
                  <a:schemeClr val="bg1">
                    <a:lumMod val="50000"/>
                  </a:schemeClr>
                </a:solidFill>
              </a:rPr>
              <a:t>실시</a:t>
            </a:r>
            <a:r>
              <a:rPr lang="en-US" altLang="ko-KR" sz="1200" dirty="0">
                <a:solidFill>
                  <a:schemeClr val="bg1">
                    <a:lumMod val="50000"/>
                  </a:schemeClr>
                </a:solidFill>
              </a:rPr>
              <a:t>(</a:t>
            </a:r>
            <a:r>
              <a:rPr lang="ko-KR" altLang="en-US" sz="1200" dirty="0">
                <a:solidFill>
                  <a:schemeClr val="bg1">
                    <a:lumMod val="50000"/>
                  </a:schemeClr>
                </a:solidFill>
              </a:rPr>
              <a:t>금지</a:t>
            </a:r>
            <a:r>
              <a:rPr lang="en-US" altLang="ko-KR" sz="1200" dirty="0">
                <a:solidFill>
                  <a:schemeClr val="bg1">
                    <a:lumMod val="50000"/>
                  </a:schemeClr>
                </a:solidFill>
              </a:rPr>
              <a:t>)</a:t>
            </a:r>
            <a:r>
              <a:rPr lang="ko-KR" altLang="en-US" sz="1200" dirty="0">
                <a:solidFill>
                  <a:schemeClr val="bg1">
                    <a:lumMod val="50000"/>
                  </a:schemeClr>
                </a:solidFill>
              </a:rPr>
              <a:t>계약은 </a:t>
            </a:r>
            <a:r>
              <a:rPr lang="ko-KR" altLang="en-US" sz="1200" dirty="0" err="1">
                <a:solidFill>
                  <a:schemeClr val="bg1">
                    <a:lumMod val="50000"/>
                  </a:schemeClr>
                </a:solidFill>
              </a:rPr>
              <a:t>무효심결이</a:t>
            </a:r>
            <a:r>
              <a:rPr lang="ko-KR" altLang="en-US" sz="1200" dirty="0">
                <a:solidFill>
                  <a:schemeClr val="bg1">
                    <a:lumMod val="50000"/>
                  </a:schemeClr>
                </a:solidFill>
              </a:rPr>
              <a:t> 확정된 때부터 이행불능상태</a:t>
            </a:r>
          </a:p>
        </p:txBody>
      </p:sp>
      <p:sp>
        <p:nvSpPr>
          <p:cNvPr id="86" name="TextBox 85">
            <a:extLst>
              <a:ext uri="{FF2B5EF4-FFF2-40B4-BE49-F238E27FC236}">
                <a16:creationId xmlns:a16="http://schemas.microsoft.com/office/drawing/2014/main" id="{86D1358E-5FE8-9C58-2073-7BCD7900CBF2}"/>
              </a:ext>
            </a:extLst>
          </p:cNvPr>
          <p:cNvSpPr txBox="1"/>
          <p:nvPr/>
        </p:nvSpPr>
        <p:spPr>
          <a:xfrm>
            <a:off x="3677506" y="3451413"/>
            <a:ext cx="1324798" cy="47213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丙 </a:t>
            </a:r>
            <a:r>
              <a:rPr lang="ko-KR" altLang="en-US" sz="1200" dirty="0" err="1">
                <a:solidFill>
                  <a:schemeClr val="tx1"/>
                </a:solidFill>
                <a:latin typeface="+mn-ea"/>
              </a:rPr>
              <a:t>실시권허락계약</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실시계약</a:t>
            </a:r>
            <a:r>
              <a:rPr lang="en-US" altLang="ko-KR" sz="1200" dirty="0">
                <a:solidFill>
                  <a:schemeClr val="tx1"/>
                </a:solidFill>
                <a:latin typeface="+mn-ea"/>
              </a:rPr>
              <a:t>)</a:t>
            </a:r>
          </a:p>
        </p:txBody>
      </p:sp>
      <p:sp>
        <p:nvSpPr>
          <p:cNvPr id="88" name="TextBox 87">
            <a:extLst>
              <a:ext uri="{FF2B5EF4-FFF2-40B4-BE49-F238E27FC236}">
                <a16:creationId xmlns:a16="http://schemas.microsoft.com/office/drawing/2014/main" id="{05D4DF3B-5781-95AF-91D1-8C84B608AB4C}"/>
              </a:ext>
            </a:extLst>
          </p:cNvPr>
          <p:cNvSpPr txBox="1"/>
          <p:nvPr/>
        </p:nvSpPr>
        <p:spPr>
          <a:xfrm>
            <a:off x="5414501" y="3451413"/>
            <a:ext cx="1324798" cy="47213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丁 실시금지계약</a:t>
            </a:r>
            <a:endParaRPr lang="en-US" altLang="ko-KR" sz="1200" dirty="0">
              <a:solidFill>
                <a:schemeClr val="tx1"/>
              </a:solidFill>
              <a:latin typeface="+mn-ea"/>
            </a:endParaRPr>
          </a:p>
        </p:txBody>
      </p:sp>
      <p:cxnSp>
        <p:nvCxnSpPr>
          <p:cNvPr id="90" name="직선 연결선 89">
            <a:extLst>
              <a:ext uri="{FF2B5EF4-FFF2-40B4-BE49-F238E27FC236}">
                <a16:creationId xmlns:a16="http://schemas.microsoft.com/office/drawing/2014/main" id="{A6C5BE05-B370-94B2-51EA-319B0FB01C60}"/>
              </a:ext>
            </a:extLst>
          </p:cNvPr>
          <p:cNvCxnSpPr>
            <a:cxnSpLocks/>
          </p:cNvCxnSpPr>
          <p:nvPr/>
        </p:nvCxnSpPr>
        <p:spPr>
          <a:xfrm>
            <a:off x="8245541" y="3923551"/>
            <a:ext cx="0" cy="166146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직선 화살표 연결선 90">
            <a:extLst>
              <a:ext uri="{FF2B5EF4-FFF2-40B4-BE49-F238E27FC236}">
                <a16:creationId xmlns:a16="http://schemas.microsoft.com/office/drawing/2014/main" id="{3C4083AD-D55B-3791-FDC6-2D856D22370C}"/>
              </a:ext>
            </a:extLst>
          </p:cNvPr>
          <p:cNvCxnSpPr>
            <a:cxnSpLocks/>
          </p:cNvCxnSpPr>
          <p:nvPr/>
        </p:nvCxnSpPr>
        <p:spPr>
          <a:xfrm>
            <a:off x="4339905" y="4598391"/>
            <a:ext cx="3905636" cy="0"/>
          </a:xfrm>
          <a:prstGeom prst="straightConnector1">
            <a:avLst/>
          </a:prstGeom>
          <a:ln w="38100">
            <a:solidFill>
              <a:schemeClr val="accent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TextBox 92">
            <a:extLst>
              <a:ext uri="{FF2B5EF4-FFF2-40B4-BE49-F238E27FC236}">
                <a16:creationId xmlns:a16="http://schemas.microsoft.com/office/drawing/2014/main" id="{5529050D-29E5-A1E8-B081-3AC15C8D29BA}"/>
              </a:ext>
            </a:extLst>
          </p:cNvPr>
          <p:cNvSpPr txBox="1"/>
          <p:nvPr/>
        </p:nvSpPr>
        <p:spPr>
          <a:xfrm>
            <a:off x="5757232" y="4638497"/>
            <a:ext cx="1098378" cy="276999"/>
          </a:xfrm>
          <a:prstGeom prst="rect">
            <a:avLst/>
          </a:prstGeom>
          <a:noFill/>
          <a:ln>
            <a:noFill/>
          </a:ln>
        </p:spPr>
        <p:txBody>
          <a:bodyPr wrap="none" rtlCol="0">
            <a:spAutoFit/>
          </a:bodyPr>
          <a:lstStyle/>
          <a:p>
            <a:pPr algn="ctr"/>
            <a:r>
              <a:rPr lang="ko-KR" altLang="en-US" sz="1200" dirty="0"/>
              <a:t>丙 </a:t>
            </a:r>
            <a:r>
              <a:rPr lang="ko-KR" altLang="en-US" sz="1200" dirty="0" err="1"/>
              <a:t>실시료</a:t>
            </a:r>
            <a:r>
              <a:rPr lang="ko-KR" altLang="en-US" sz="1200" dirty="0"/>
              <a:t> 지급</a:t>
            </a:r>
            <a:endParaRPr lang="en-US" altLang="ko-KR" sz="1200" dirty="0"/>
          </a:p>
        </p:txBody>
      </p:sp>
      <p:cxnSp>
        <p:nvCxnSpPr>
          <p:cNvPr id="94" name="직선 화살표 연결선 93">
            <a:extLst>
              <a:ext uri="{FF2B5EF4-FFF2-40B4-BE49-F238E27FC236}">
                <a16:creationId xmlns:a16="http://schemas.microsoft.com/office/drawing/2014/main" id="{DF804CEF-D68F-951B-ABAD-C6030E28FDBA}"/>
              </a:ext>
            </a:extLst>
          </p:cNvPr>
          <p:cNvCxnSpPr>
            <a:cxnSpLocks/>
          </p:cNvCxnSpPr>
          <p:nvPr/>
        </p:nvCxnSpPr>
        <p:spPr>
          <a:xfrm>
            <a:off x="8261261" y="4598391"/>
            <a:ext cx="1968300" cy="0"/>
          </a:xfrm>
          <a:prstGeom prst="straightConnector1">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11F616CF-5865-0AF9-E99E-D18D2D3EB8A1}"/>
              </a:ext>
            </a:extLst>
          </p:cNvPr>
          <p:cNvSpPr txBox="1"/>
          <p:nvPr/>
        </p:nvSpPr>
        <p:spPr>
          <a:xfrm>
            <a:off x="8572722" y="4638497"/>
            <a:ext cx="1236236" cy="276999"/>
          </a:xfrm>
          <a:prstGeom prst="rect">
            <a:avLst/>
          </a:prstGeom>
          <a:noFill/>
          <a:ln>
            <a:noFill/>
          </a:ln>
        </p:spPr>
        <p:txBody>
          <a:bodyPr wrap="none" rtlCol="0">
            <a:spAutoFit/>
          </a:bodyPr>
          <a:lstStyle/>
          <a:p>
            <a:pPr algn="ctr"/>
            <a:r>
              <a:rPr lang="ko-KR" altLang="en-US" sz="1200" dirty="0"/>
              <a:t>丙 </a:t>
            </a:r>
            <a:r>
              <a:rPr lang="ko-KR" altLang="en-US" sz="1200" dirty="0" err="1"/>
              <a:t>실시료</a:t>
            </a:r>
            <a:r>
              <a:rPr lang="ko-KR" altLang="en-US" sz="1200" dirty="0"/>
              <a:t> 미지급</a:t>
            </a:r>
            <a:endParaRPr lang="en-US" altLang="ko-KR" sz="1200" dirty="0"/>
          </a:p>
        </p:txBody>
      </p:sp>
      <p:cxnSp>
        <p:nvCxnSpPr>
          <p:cNvPr id="97" name="직선 연결선 96">
            <a:extLst>
              <a:ext uri="{FF2B5EF4-FFF2-40B4-BE49-F238E27FC236}">
                <a16:creationId xmlns:a16="http://schemas.microsoft.com/office/drawing/2014/main" id="{FBC8B33B-6AD7-E1AC-BC89-D06B65071210}"/>
              </a:ext>
            </a:extLst>
          </p:cNvPr>
          <p:cNvCxnSpPr>
            <a:cxnSpLocks/>
          </p:cNvCxnSpPr>
          <p:nvPr/>
        </p:nvCxnSpPr>
        <p:spPr>
          <a:xfrm>
            <a:off x="6044562" y="3923551"/>
            <a:ext cx="22261" cy="1598707"/>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직선 화살표 연결선 102">
            <a:extLst>
              <a:ext uri="{FF2B5EF4-FFF2-40B4-BE49-F238E27FC236}">
                <a16:creationId xmlns:a16="http://schemas.microsoft.com/office/drawing/2014/main" id="{4336C1B1-6DC8-CD88-DF8E-03E44753F589}"/>
              </a:ext>
            </a:extLst>
          </p:cNvPr>
          <p:cNvCxnSpPr>
            <a:cxnSpLocks/>
          </p:cNvCxnSpPr>
          <p:nvPr/>
        </p:nvCxnSpPr>
        <p:spPr>
          <a:xfrm>
            <a:off x="6066823" y="5252815"/>
            <a:ext cx="4162738" cy="0"/>
          </a:xfrm>
          <a:prstGeom prst="straightConnector1">
            <a:avLst/>
          </a:prstGeom>
          <a:ln w="381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4" name="TextBox 103">
            <a:extLst>
              <a:ext uri="{FF2B5EF4-FFF2-40B4-BE49-F238E27FC236}">
                <a16:creationId xmlns:a16="http://schemas.microsoft.com/office/drawing/2014/main" id="{53A18721-879B-05F2-3EBC-82A355019D53}"/>
              </a:ext>
            </a:extLst>
          </p:cNvPr>
          <p:cNvSpPr txBox="1"/>
          <p:nvPr/>
        </p:nvSpPr>
        <p:spPr>
          <a:xfrm>
            <a:off x="7756129" y="5292920"/>
            <a:ext cx="917239" cy="276999"/>
          </a:xfrm>
          <a:prstGeom prst="rect">
            <a:avLst/>
          </a:prstGeom>
          <a:noFill/>
          <a:ln>
            <a:noFill/>
          </a:ln>
        </p:spPr>
        <p:txBody>
          <a:bodyPr wrap="none" rtlCol="0">
            <a:spAutoFit/>
          </a:bodyPr>
          <a:lstStyle/>
          <a:p>
            <a:pPr algn="ctr"/>
            <a:r>
              <a:rPr lang="ko-KR" altLang="en-US" sz="1200" dirty="0"/>
              <a:t>丁 무단실시</a:t>
            </a:r>
            <a:endParaRPr lang="en-US" altLang="ko-KR" sz="1200" dirty="0"/>
          </a:p>
        </p:txBody>
      </p:sp>
      <p:cxnSp>
        <p:nvCxnSpPr>
          <p:cNvPr id="108" name="직선 연결선 107">
            <a:extLst>
              <a:ext uri="{FF2B5EF4-FFF2-40B4-BE49-F238E27FC236}">
                <a16:creationId xmlns:a16="http://schemas.microsoft.com/office/drawing/2014/main" id="{D426BD7E-394E-2661-4E2E-7168FA5EB7C2}"/>
              </a:ext>
            </a:extLst>
          </p:cNvPr>
          <p:cNvCxnSpPr>
            <a:cxnSpLocks/>
          </p:cNvCxnSpPr>
          <p:nvPr/>
        </p:nvCxnSpPr>
        <p:spPr>
          <a:xfrm>
            <a:off x="4354938" y="3923551"/>
            <a:ext cx="0" cy="112357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0" name="말풍선: 모서리가 둥근 사각형 109">
            <a:extLst>
              <a:ext uri="{FF2B5EF4-FFF2-40B4-BE49-F238E27FC236}">
                <a16:creationId xmlns:a16="http://schemas.microsoft.com/office/drawing/2014/main" id="{151E26DF-D108-99CC-A417-5B869ACE68C8}"/>
              </a:ext>
            </a:extLst>
          </p:cNvPr>
          <p:cNvSpPr/>
          <p:nvPr/>
        </p:nvSpPr>
        <p:spPr>
          <a:xfrm>
            <a:off x="2708635" y="5038303"/>
            <a:ext cx="2663451" cy="609320"/>
          </a:xfrm>
          <a:prstGeom prst="wedgeRoundRectCallout">
            <a:avLst>
              <a:gd name="adj1" fmla="val 48752"/>
              <a:gd name="adj2" fmla="val -179587"/>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rPr>
              <a:t>甲이 부당이득으로 乙에게 반환 불필요</a:t>
            </a:r>
            <a:endParaRPr lang="en-US" altLang="ko-KR" sz="1200" dirty="0">
              <a:solidFill>
                <a:srgbClr val="FF0000"/>
              </a:solidFill>
            </a:endParaRPr>
          </a:p>
          <a:p>
            <a:pPr algn="ctr"/>
            <a:r>
              <a:rPr lang="en-US" altLang="ko-KR" sz="1200" dirty="0">
                <a:solidFill>
                  <a:srgbClr val="FF0000"/>
                </a:solidFill>
              </a:rPr>
              <a:t>(2012</a:t>
            </a:r>
            <a:r>
              <a:rPr lang="ko-KR" altLang="en-US" sz="1200" dirty="0">
                <a:solidFill>
                  <a:srgbClr val="FF0000"/>
                </a:solidFill>
              </a:rPr>
              <a:t>다</a:t>
            </a:r>
            <a:r>
              <a:rPr lang="en-US" altLang="ko-KR" sz="1200" dirty="0">
                <a:solidFill>
                  <a:srgbClr val="FF0000"/>
                </a:solidFill>
              </a:rPr>
              <a:t>42666, 42673)</a:t>
            </a:r>
            <a:endParaRPr lang="ko-KR" altLang="en-US" sz="1200" dirty="0">
              <a:solidFill>
                <a:srgbClr val="FF0000"/>
              </a:solidFill>
            </a:endParaRPr>
          </a:p>
        </p:txBody>
      </p:sp>
      <p:sp>
        <p:nvSpPr>
          <p:cNvPr id="111" name="말풍선: 모서리가 둥근 사각형 110">
            <a:extLst>
              <a:ext uri="{FF2B5EF4-FFF2-40B4-BE49-F238E27FC236}">
                <a16:creationId xmlns:a16="http://schemas.microsoft.com/office/drawing/2014/main" id="{3A3A60B6-51B3-E33B-E428-BA04138ADEBF}"/>
              </a:ext>
            </a:extLst>
          </p:cNvPr>
          <p:cNvSpPr/>
          <p:nvPr/>
        </p:nvSpPr>
        <p:spPr>
          <a:xfrm>
            <a:off x="9221875" y="5548650"/>
            <a:ext cx="2663451" cy="609320"/>
          </a:xfrm>
          <a:prstGeom prst="wedgeRoundRectCallout">
            <a:avLst>
              <a:gd name="adj1" fmla="val -30008"/>
              <a:gd name="adj2" fmla="val -170760"/>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rPr>
              <a:t>甲이 丙에게 </a:t>
            </a:r>
            <a:r>
              <a:rPr lang="ko-KR" altLang="en-US" sz="1200" dirty="0" err="1">
                <a:solidFill>
                  <a:srgbClr val="FF0000"/>
                </a:solidFill>
              </a:rPr>
              <a:t>실시료</a:t>
            </a:r>
            <a:r>
              <a:rPr lang="ko-KR" altLang="en-US" sz="1200" dirty="0">
                <a:solidFill>
                  <a:srgbClr val="FF0000"/>
                </a:solidFill>
              </a:rPr>
              <a:t> 지급 청구 가능</a:t>
            </a:r>
            <a:endParaRPr lang="en-US" altLang="ko-KR" sz="1200" dirty="0">
              <a:solidFill>
                <a:srgbClr val="FF0000"/>
              </a:solidFill>
            </a:endParaRPr>
          </a:p>
          <a:p>
            <a:pPr algn="ctr"/>
            <a:r>
              <a:rPr lang="en-US" altLang="ko-KR" sz="1200" dirty="0">
                <a:solidFill>
                  <a:srgbClr val="FF0000"/>
                </a:solidFill>
              </a:rPr>
              <a:t>(2018</a:t>
            </a:r>
            <a:r>
              <a:rPr lang="ko-KR" altLang="en-US" sz="1200" dirty="0">
                <a:solidFill>
                  <a:srgbClr val="FF0000"/>
                </a:solidFill>
              </a:rPr>
              <a:t>다</a:t>
            </a:r>
            <a:r>
              <a:rPr lang="en-US" altLang="ko-KR" sz="1200" dirty="0">
                <a:solidFill>
                  <a:srgbClr val="FF0000"/>
                </a:solidFill>
              </a:rPr>
              <a:t>287362)</a:t>
            </a:r>
            <a:endParaRPr lang="ko-KR" altLang="en-US" sz="1200" dirty="0">
              <a:solidFill>
                <a:srgbClr val="FF0000"/>
              </a:solidFill>
            </a:endParaRPr>
          </a:p>
        </p:txBody>
      </p:sp>
      <p:sp>
        <p:nvSpPr>
          <p:cNvPr id="112" name="말풍선: 모서리가 둥근 사각형 111">
            <a:extLst>
              <a:ext uri="{FF2B5EF4-FFF2-40B4-BE49-F238E27FC236}">
                <a16:creationId xmlns:a16="http://schemas.microsoft.com/office/drawing/2014/main" id="{99D04022-0A89-0388-BE42-C751409177AB}"/>
              </a:ext>
            </a:extLst>
          </p:cNvPr>
          <p:cNvSpPr/>
          <p:nvPr/>
        </p:nvSpPr>
        <p:spPr>
          <a:xfrm>
            <a:off x="5628787" y="6086532"/>
            <a:ext cx="3327388" cy="609320"/>
          </a:xfrm>
          <a:prstGeom prst="wedgeRoundRectCallout">
            <a:avLst>
              <a:gd name="adj1" fmla="val 34898"/>
              <a:gd name="adj2" fmla="val -128093"/>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rPr>
              <a:t>甲이 丁에게 계약 위반에 따른 손해배상청구가능</a:t>
            </a:r>
            <a:endParaRPr lang="en-US" altLang="ko-KR" sz="1200" dirty="0">
              <a:solidFill>
                <a:srgbClr val="FF0000"/>
              </a:solidFill>
            </a:endParaRPr>
          </a:p>
          <a:p>
            <a:pPr algn="ctr"/>
            <a:r>
              <a:rPr lang="en-US" altLang="ko-KR" sz="1200" dirty="0">
                <a:solidFill>
                  <a:srgbClr val="FF0000"/>
                </a:solidFill>
              </a:rPr>
              <a:t>(2024</a:t>
            </a:r>
            <a:r>
              <a:rPr lang="ko-KR" altLang="en-US" sz="1200" dirty="0">
                <a:solidFill>
                  <a:srgbClr val="FF0000"/>
                </a:solidFill>
              </a:rPr>
              <a:t>다</a:t>
            </a:r>
            <a:r>
              <a:rPr lang="en-US" altLang="ko-KR" sz="1200" dirty="0">
                <a:solidFill>
                  <a:srgbClr val="FF0000"/>
                </a:solidFill>
              </a:rPr>
              <a:t>270105)</a:t>
            </a:r>
            <a:endParaRPr lang="ko-KR" altLang="en-US" sz="1200" dirty="0">
              <a:solidFill>
                <a:srgbClr val="FF0000"/>
              </a:solidFill>
            </a:endParaRPr>
          </a:p>
        </p:txBody>
      </p:sp>
    </p:spTree>
    <p:extLst>
      <p:ext uri="{BB962C8B-B14F-4D97-AF65-F5344CB8AC3E}">
        <p14:creationId xmlns:p14="http://schemas.microsoft.com/office/powerpoint/2010/main" val="2018505496"/>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슬라이드 번호 개체 틀 5"/>
          <p:cNvSpPr>
            <a:spLocks noGrp="1"/>
          </p:cNvSpPr>
          <p:nvPr>
            <p:ph type="sldNum" sz="quarter" idx="4294967295"/>
          </p:nvPr>
        </p:nvSpPr>
        <p:spPr>
          <a:xfrm>
            <a:off x="11125200" y="0"/>
            <a:ext cx="1066800" cy="711200"/>
          </a:xfrm>
        </p:spPr>
        <p:txBody>
          <a:bodyPr/>
          <a:lstStyle/>
          <a:p>
            <a:r>
              <a:rPr lang="en-US" altLang="ko-KR"/>
              <a:t>469</a:t>
            </a:r>
            <a:endParaRPr lang="ko-KR" altLang="en-US" dirty="0"/>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normAutofit/>
          </a:bodyPr>
          <a:lstStyle/>
          <a:p>
            <a:pPr fontAlgn="base" latinLnBrk="0"/>
            <a:r>
              <a:rPr lang="ko-KR" altLang="en-US" dirty="0" err="1"/>
              <a:t>무효심판의</a:t>
            </a:r>
            <a:r>
              <a:rPr lang="ko-KR" altLang="en-US" dirty="0"/>
              <a:t> 법조문 비교</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graphicFrame>
        <p:nvGraphicFramePr>
          <p:cNvPr id="5" name="표 4"/>
          <p:cNvGraphicFramePr>
            <a:graphicFrameLocks noGrp="1"/>
          </p:cNvGraphicFramePr>
          <p:nvPr/>
        </p:nvGraphicFramePr>
        <p:xfrm>
          <a:off x="184731" y="973051"/>
          <a:ext cx="11724504" cy="5623560"/>
        </p:xfrm>
        <a:graphic>
          <a:graphicData uri="http://schemas.openxmlformats.org/drawingml/2006/table">
            <a:tbl>
              <a:tblPr>
                <a:tableStyleId>{8799B23B-EC83-4686-B30A-512413B5E67A}</a:tableStyleId>
              </a:tblPr>
              <a:tblGrid>
                <a:gridCol w="3908168">
                  <a:extLst>
                    <a:ext uri="{9D8B030D-6E8A-4147-A177-3AD203B41FA5}">
                      <a16:colId xmlns:a16="http://schemas.microsoft.com/office/drawing/2014/main" val="3715525229"/>
                    </a:ext>
                  </a:extLst>
                </a:gridCol>
                <a:gridCol w="4235853">
                  <a:extLst>
                    <a:ext uri="{9D8B030D-6E8A-4147-A177-3AD203B41FA5}">
                      <a16:colId xmlns:a16="http://schemas.microsoft.com/office/drawing/2014/main" val="141959867"/>
                    </a:ext>
                  </a:extLst>
                </a:gridCol>
                <a:gridCol w="3580483">
                  <a:extLst>
                    <a:ext uri="{9D8B030D-6E8A-4147-A177-3AD203B41FA5}">
                      <a16:colId xmlns:a16="http://schemas.microsoft.com/office/drawing/2014/main" val="2937501546"/>
                    </a:ext>
                  </a:extLst>
                </a:gridCol>
              </a:tblGrid>
              <a:tr h="203754">
                <a:tc>
                  <a:txBody>
                    <a:bodyPr/>
                    <a:lstStyle/>
                    <a:p>
                      <a:pPr algn="ctr" latinLnBrk="1"/>
                      <a:r>
                        <a:rPr lang="ko-KR" altLang="en-US" sz="1050" dirty="0"/>
                        <a:t>특허무효심판</a:t>
                      </a:r>
                    </a:p>
                  </a:txBody>
                  <a:tcPr anchor="ctr">
                    <a:solidFill>
                      <a:schemeClr val="accent1">
                        <a:lumMod val="20000"/>
                        <a:lumOff val="80000"/>
                      </a:schemeClr>
                    </a:solidFill>
                  </a:tcPr>
                </a:tc>
                <a:tc>
                  <a:txBody>
                    <a:bodyPr/>
                    <a:lstStyle/>
                    <a:p>
                      <a:pPr algn="ctr" latinLnBrk="1"/>
                      <a:r>
                        <a:rPr lang="ko-KR" altLang="en-US" sz="1050" dirty="0" err="1"/>
                        <a:t>존속기간연장등록무효심판</a:t>
                      </a:r>
                      <a:endParaRPr lang="ko-KR" altLang="en-US" sz="1050" dirty="0"/>
                    </a:p>
                  </a:txBody>
                  <a:tcPr anchor="ctr">
                    <a:solidFill>
                      <a:schemeClr val="accent1">
                        <a:lumMod val="20000"/>
                        <a:lumOff val="80000"/>
                      </a:schemeClr>
                    </a:solidFill>
                  </a:tcPr>
                </a:tc>
                <a:tc>
                  <a:txBody>
                    <a:bodyPr/>
                    <a:lstStyle/>
                    <a:p>
                      <a:pPr algn="ctr" latinLnBrk="1"/>
                      <a:r>
                        <a:rPr lang="ko-KR" altLang="en-US" sz="1050" dirty="0"/>
                        <a:t>정정무효심판</a:t>
                      </a:r>
                    </a:p>
                  </a:txBody>
                  <a:tcPr anchor="ctr">
                    <a:solidFill>
                      <a:schemeClr val="accent1">
                        <a:lumMod val="20000"/>
                        <a:lumOff val="80000"/>
                      </a:schemeClr>
                    </a:solidFill>
                  </a:tcPr>
                </a:tc>
                <a:extLst>
                  <a:ext uri="{0D108BD9-81ED-4DB2-BD59-A6C34878D82A}">
                    <a16:rowId xmlns:a16="http://schemas.microsoft.com/office/drawing/2014/main" val="2785733114"/>
                  </a:ext>
                </a:extLst>
              </a:tr>
              <a:tr h="3064689">
                <a:tc>
                  <a:txBody>
                    <a:bodyPr/>
                    <a:lstStyle/>
                    <a:p>
                      <a:pPr fontAlgn="base" latinLnBrk="0"/>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133</a:t>
                      </a:r>
                      <a:r>
                        <a:rPr lang="ko-KR" altLang="en-US" sz="1050" kern="1200" dirty="0">
                          <a:solidFill>
                            <a:schemeClr val="tx1"/>
                          </a:solidFill>
                          <a:effectLst/>
                          <a:latin typeface="+mn-lt"/>
                          <a:ea typeface="+mn-ea"/>
                          <a:cs typeface="+mn-cs"/>
                        </a:rPr>
                        <a:t>조</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특허의 무효심판</a:t>
                      </a:r>
                      <a:r>
                        <a:rPr lang="en-US" altLang="ko-KR" sz="1050" kern="1200" dirty="0">
                          <a:solidFill>
                            <a:schemeClr val="tx1"/>
                          </a:solidFill>
                          <a:effectLst/>
                          <a:latin typeface="+mn-lt"/>
                          <a:ea typeface="+mn-ea"/>
                          <a:cs typeface="+mn-cs"/>
                        </a:rPr>
                        <a:t>】</a:t>
                      </a:r>
                      <a:endParaRPr lang="ko-KR" altLang="en-US" sz="1050" kern="1200" dirty="0">
                        <a:solidFill>
                          <a:schemeClr val="tx1"/>
                        </a:solidFill>
                        <a:effectLst/>
                        <a:latin typeface="+mn-lt"/>
                        <a:ea typeface="+mn-ea"/>
                        <a:cs typeface="+mn-cs"/>
                      </a:endParaRPr>
                    </a:p>
                    <a:p>
                      <a:pPr fontAlgn="base" latinLnBrk="1"/>
                      <a:r>
                        <a:rPr lang="ko-KR" altLang="en-US" sz="1050" kern="1200" dirty="0">
                          <a:solidFill>
                            <a:schemeClr val="tx1"/>
                          </a:solidFill>
                          <a:effectLst/>
                          <a:latin typeface="+mn-lt"/>
                          <a:ea typeface="+mn-ea"/>
                          <a:cs typeface="+mn-cs"/>
                        </a:rPr>
                        <a:t>① 이해관계인</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2</a:t>
                      </a:r>
                      <a:r>
                        <a:rPr lang="ko-KR" altLang="en-US" sz="1050" kern="1200" dirty="0">
                          <a:solidFill>
                            <a:schemeClr val="tx1"/>
                          </a:solidFill>
                          <a:effectLst/>
                          <a:latin typeface="+mn-lt"/>
                          <a:ea typeface="+mn-ea"/>
                          <a:cs typeface="+mn-cs"/>
                        </a:rPr>
                        <a:t>호 본문의 경우에는 특허를 받을 수 있는 권리를 가진 자만 해당한다</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또는 심사관은 특허가 다음 각 호의 어느 하나에 해당하는 경우에는 무효심판을 청구할 수 있다</a:t>
                      </a:r>
                      <a:r>
                        <a:rPr lang="en-US" altLang="ko-KR" sz="1050" kern="1200" dirty="0">
                          <a:solidFill>
                            <a:schemeClr val="tx1"/>
                          </a:solidFill>
                          <a:effectLst/>
                          <a:latin typeface="+mn-lt"/>
                          <a:ea typeface="+mn-ea"/>
                          <a:cs typeface="+mn-cs"/>
                        </a:rPr>
                        <a:t>.</a:t>
                      </a:r>
                      <a:r>
                        <a:rPr lang="en-US" altLang="ko-KR" sz="1050" kern="1200" dirty="0">
                          <a:solidFill>
                            <a:srgbClr val="FF0000"/>
                          </a:solidFill>
                          <a:effectLst/>
                          <a:latin typeface="+mn-lt"/>
                          <a:ea typeface="+mn-ea"/>
                          <a:cs typeface="+mn-cs"/>
                        </a:rPr>
                        <a:t> </a:t>
                      </a:r>
                      <a:r>
                        <a:rPr lang="ko-KR" altLang="en-US" sz="1050" kern="1200" dirty="0">
                          <a:solidFill>
                            <a:srgbClr val="FF0000"/>
                          </a:solidFill>
                          <a:effectLst/>
                          <a:latin typeface="+mn-lt"/>
                          <a:ea typeface="+mn-ea"/>
                          <a:cs typeface="+mn-cs"/>
                        </a:rPr>
                        <a:t>이 경우 청구범위의 </a:t>
                      </a:r>
                      <a:r>
                        <a:rPr lang="ko-KR" altLang="en-US" sz="1050" kern="1200" dirty="0" err="1">
                          <a:solidFill>
                            <a:srgbClr val="FF0000"/>
                          </a:solidFill>
                          <a:effectLst/>
                          <a:latin typeface="+mn-lt"/>
                          <a:ea typeface="+mn-ea"/>
                          <a:cs typeface="+mn-cs"/>
                        </a:rPr>
                        <a:t>청구항이</a:t>
                      </a:r>
                      <a:r>
                        <a:rPr lang="ko-KR" altLang="en-US" sz="1050" kern="1200" dirty="0">
                          <a:solidFill>
                            <a:srgbClr val="FF0000"/>
                          </a:solidFill>
                          <a:effectLst/>
                          <a:latin typeface="+mn-lt"/>
                          <a:ea typeface="+mn-ea"/>
                          <a:cs typeface="+mn-cs"/>
                        </a:rPr>
                        <a:t> 둘 이상인 경우에는 </a:t>
                      </a:r>
                      <a:r>
                        <a:rPr lang="ko-KR" altLang="en-US" sz="1050" kern="1200" dirty="0" err="1">
                          <a:solidFill>
                            <a:srgbClr val="FF0000"/>
                          </a:solidFill>
                          <a:effectLst/>
                          <a:latin typeface="+mn-lt"/>
                          <a:ea typeface="+mn-ea"/>
                          <a:cs typeface="+mn-cs"/>
                        </a:rPr>
                        <a:t>청구항마다</a:t>
                      </a:r>
                      <a:r>
                        <a:rPr lang="ko-KR" altLang="en-US" sz="1050" kern="1200" dirty="0">
                          <a:solidFill>
                            <a:srgbClr val="FF0000"/>
                          </a:solidFill>
                          <a:effectLst/>
                          <a:latin typeface="+mn-lt"/>
                          <a:ea typeface="+mn-ea"/>
                          <a:cs typeface="+mn-cs"/>
                        </a:rPr>
                        <a:t> 청구할 수 있다</a:t>
                      </a:r>
                      <a:r>
                        <a:rPr lang="en-US" altLang="ko-KR" sz="1050" kern="1200" dirty="0">
                          <a:solidFill>
                            <a:srgbClr val="FF0000"/>
                          </a:solidFill>
                          <a:effectLst/>
                          <a:latin typeface="+mn-lt"/>
                          <a:ea typeface="+mn-ea"/>
                          <a:cs typeface="+mn-cs"/>
                        </a:rPr>
                        <a:t>.</a:t>
                      </a:r>
                      <a:r>
                        <a:rPr lang="ko-KR" altLang="en-US" sz="1050" kern="1200" dirty="0">
                          <a:solidFill>
                            <a:srgbClr val="FF0000"/>
                          </a:solidFill>
                          <a:effectLst/>
                          <a:latin typeface="+mn-lt"/>
                          <a:ea typeface="+mn-ea"/>
                          <a:cs typeface="+mn-cs"/>
                        </a:rPr>
                        <a:t> </a:t>
                      </a:r>
                      <a:endParaRPr lang="en-US" altLang="ko-KR" sz="1050" kern="1200" dirty="0">
                        <a:solidFill>
                          <a:srgbClr val="FF0000"/>
                        </a:solidFill>
                        <a:effectLst/>
                        <a:latin typeface="+mn-lt"/>
                        <a:ea typeface="+mn-ea"/>
                        <a:cs typeface="+mn-cs"/>
                      </a:endParaRPr>
                    </a:p>
                    <a:p>
                      <a:pPr fontAlgn="base" latinLnBrk="1"/>
                      <a:r>
                        <a:rPr lang="en-US" altLang="ko-KR" sz="1050" kern="1200" dirty="0">
                          <a:solidFill>
                            <a:schemeClr val="tx1"/>
                          </a:solidFill>
                          <a:effectLst/>
                          <a:latin typeface="+mn-lt"/>
                          <a:ea typeface="+mn-ea"/>
                          <a:cs typeface="+mn-cs"/>
                        </a:rPr>
                        <a:t>1.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25</a:t>
                      </a:r>
                      <a:r>
                        <a:rPr lang="ko-KR" altLang="en-US" sz="1050" kern="1200" dirty="0">
                          <a:solidFill>
                            <a:schemeClr val="tx1"/>
                          </a:solidFill>
                          <a:effectLst/>
                          <a:latin typeface="+mn-lt"/>
                          <a:ea typeface="+mn-ea"/>
                          <a:cs typeface="+mn-cs"/>
                        </a:rPr>
                        <a:t>조</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29</a:t>
                      </a:r>
                      <a:r>
                        <a:rPr lang="ko-KR" altLang="en-US" sz="1050" kern="1200" dirty="0">
                          <a:solidFill>
                            <a:schemeClr val="tx1"/>
                          </a:solidFill>
                          <a:effectLst/>
                          <a:latin typeface="+mn-lt"/>
                          <a:ea typeface="+mn-ea"/>
                          <a:cs typeface="+mn-cs"/>
                        </a:rPr>
                        <a:t>조</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32</a:t>
                      </a:r>
                      <a:r>
                        <a:rPr lang="ko-KR" altLang="en-US" sz="1050" kern="1200" dirty="0">
                          <a:solidFill>
                            <a:schemeClr val="tx1"/>
                          </a:solidFill>
                          <a:effectLst/>
                          <a:latin typeface="+mn-lt"/>
                          <a:ea typeface="+mn-ea"/>
                          <a:cs typeface="+mn-cs"/>
                        </a:rPr>
                        <a:t>조</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36</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항부터 제</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항까지</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42</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3</a:t>
                      </a:r>
                      <a:r>
                        <a:rPr lang="ko-KR" altLang="en-US" sz="1050" kern="1200" dirty="0" err="1">
                          <a:solidFill>
                            <a:schemeClr val="tx1"/>
                          </a:solidFill>
                          <a:effectLst/>
                          <a:latin typeface="+mn-lt"/>
                          <a:ea typeface="+mn-ea"/>
                          <a:cs typeface="+mn-cs"/>
                        </a:rPr>
                        <a:t>항제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호 또는 같은 조 제</a:t>
                      </a:r>
                      <a:r>
                        <a:rPr lang="en-US" altLang="ko-KR" sz="1050" kern="1200" dirty="0">
                          <a:solidFill>
                            <a:schemeClr val="tx1"/>
                          </a:solidFill>
                          <a:effectLst/>
                          <a:latin typeface="+mn-lt"/>
                          <a:ea typeface="+mn-ea"/>
                          <a:cs typeface="+mn-cs"/>
                        </a:rPr>
                        <a:t>4</a:t>
                      </a:r>
                      <a:r>
                        <a:rPr lang="ko-KR" altLang="en-US" sz="1050" kern="1200" dirty="0">
                          <a:solidFill>
                            <a:schemeClr val="tx1"/>
                          </a:solidFill>
                          <a:effectLst/>
                          <a:latin typeface="+mn-lt"/>
                          <a:ea typeface="+mn-ea"/>
                          <a:cs typeface="+mn-cs"/>
                        </a:rPr>
                        <a:t>항을 위반한 경우</a:t>
                      </a:r>
                    </a:p>
                    <a:p>
                      <a:pPr fontAlgn="base" latinLnBrk="1"/>
                      <a:r>
                        <a:rPr lang="en-US" altLang="ko-KR" sz="1050" kern="1200" dirty="0">
                          <a:solidFill>
                            <a:schemeClr val="tx1"/>
                          </a:solidFill>
                          <a:effectLst/>
                          <a:latin typeface="+mn-lt"/>
                          <a:ea typeface="+mn-ea"/>
                          <a:cs typeface="+mn-cs"/>
                        </a:rPr>
                        <a:t>2.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33</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 본문에 따른 특허를 받을 수 있는 권리를 가지지 아니하거나 제</a:t>
                      </a:r>
                      <a:r>
                        <a:rPr lang="en-US" altLang="ko-KR" sz="1050" kern="1200" dirty="0">
                          <a:solidFill>
                            <a:schemeClr val="tx1"/>
                          </a:solidFill>
                          <a:effectLst/>
                          <a:latin typeface="+mn-lt"/>
                          <a:ea typeface="+mn-ea"/>
                          <a:cs typeface="+mn-cs"/>
                        </a:rPr>
                        <a:t>44</a:t>
                      </a:r>
                      <a:r>
                        <a:rPr lang="ko-KR" altLang="en-US" sz="1050" kern="1200" dirty="0">
                          <a:solidFill>
                            <a:schemeClr val="tx1"/>
                          </a:solidFill>
                          <a:effectLst/>
                          <a:latin typeface="+mn-lt"/>
                          <a:ea typeface="+mn-ea"/>
                          <a:cs typeface="+mn-cs"/>
                        </a:rPr>
                        <a:t>조를 위반한 경우</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다만</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99</a:t>
                      </a:r>
                      <a:r>
                        <a:rPr lang="ko-KR" altLang="en-US" sz="1050" kern="1200" dirty="0">
                          <a:solidFill>
                            <a:schemeClr val="tx1"/>
                          </a:solidFill>
                          <a:effectLst/>
                          <a:latin typeface="+mn-lt"/>
                          <a:ea typeface="+mn-ea"/>
                          <a:cs typeface="+mn-cs"/>
                        </a:rPr>
                        <a:t>조의</a:t>
                      </a:r>
                      <a:r>
                        <a:rPr lang="en-US" altLang="ko-KR" sz="1050" kern="1200" dirty="0">
                          <a:solidFill>
                            <a:schemeClr val="tx1"/>
                          </a:solidFill>
                          <a:effectLst/>
                          <a:latin typeface="+mn-lt"/>
                          <a:ea typeface="+mn-ea"/>
                          <a:cs typeface="+mn-cs"/>
                        </a:rPr>
                        <a:t>2</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2</a:t>
                      </a:r>
                      <a:r>
                        <a:rPr lang="ko-KR" altLang="en-US" sz="1050" kern="1200" dirty="0">
                          <a:solidFill>
                            <a:schemeClr val="tx1"/>
                          </a:solidFill>
                          <a:effectLst/>
                          <a:latin typeface="+mn-lt"/>
                          <a:ea typeface="+mn-ea"/>
                          <a:cs typeface="+mn-cs"/>
                        </a:rPr>
                        <a:t>항에 따라 </a:t>
                      </a:r>
                      <a:r>
                        <a:rPr lang="ko-KR" altLang="en-US" sz="1050" kern="1200" dirty="0" err="1">
                          <a:solidFill>
                            <a:schemeClr val="tx1"/>
                          </a:solidFill>
                          <a:effectLst/>
                          <a:latin typeface="+mn-lt"/>
                          <a:ea typeface="+mn-ea"/>
                          <a:cs typeface="+mn-cs"/>
                        </a:rPr>
                        <a:t>이전등록된</a:t>
                      </a:r>
                      <a:r>
                        <a:rPr lang="ko-KR" altLang="en-US" sz="1050" kern="1200" dirty="0">
                          <a:solidFill>
                            <a:schemeClr val="tx1"/>
                          </a:solidFill>
                          <a:effectLst/>
                          <a:latin typeface="+mn-lt"/>
                          <a:ea typeface="+mn-ea"/>
                          <a:cs typeface="+mn-cs"/>
                        </a:rPr>
                        <a:t> 경우에는 제외한다</a:t>
                      </a:r>
                      <a:r>
                        <a:rPr lang="en-US" altLang="ko-KR" sz="1050" kern="1200" dirty="0">
                          <a:solidFill>
                            <a:schemeClr val="tx1"/>
                          </a:solidFill>
                          <a:effectLst/>
                          <a:latin typeface="+mn-lt"/>
                          <a:ea typeface="+mn-ea"/>
                          <a:cs typeface="+mn-cs"/>
                        </a:rPr>
                        <a:t>.</a:t>
                      </a:r>
                      <a:endParaRPr lang="ko-KR" altLang="en-US" sz="1050" kern="1200" dirty="0">
                        <a:solidFill>
                          <a:schemeClr val="tx1"/>
                        </a:solidFill>
                        <a:effectLst/>
                        <a:latin typeface="+mn-lt"/>
                        <a:ea typeface="+mn-ea"/>
                        <a:cs typeface="+mn-cs"/>
                      </a:endParaRPr>
                    </a:p>
                    <a:p>
                      <a:pPr fontAlgn="base" latinLnBrk="1"/>
                      <a:r>
                        <a:rPr lang="en-US" altLang="ko-KR" sz="1050" kern="1200" dirty="0">
                          <a:solidFill>
                            <a:schemeClr val="tx1"/>
                          </a:solidFill>
                          <a:effectLst/>
                          <a:latin typeface="+mn-lt"/>
                          <a:ea typeface="+mn-ea"/>
                          <a:cs typeface="+mn-cs"/>
                        </a:rPr>
                        <a:t>3.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33</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 단서에 따라 특허를 받을 수 없는 경우</a:t>
                      </a:r>
                    </a:p>
                    <a:p>
                      <a:pPr fontAlgn="base" latinLnBrk="1"/>
                      <a:r>
                        <a:rPr lang="en-US" altLang="ko-KR" sz="1050" kern="1200" dirty="0">
                          <a:solidFill>
                            <a:schemeClr val="tx1"/>
                          </a:solidFill>
                          <a:effectLst/>
                          <a:latin typeface="+mn-lt"/>
                          <a:ea typeface="+mn-ea"/>
                          <a:cs typeface="+mn-cs"/>
                        </a:rPr>
                        <a:t>4. </a:t>
                      </a:r>
                      <a:r>
                        <a:rPr lang="ko-KR" altLang="en-US" sz="1050" kern="1200" dirty="0" err="1">
                          <a:solidFill>
                            <a:schemeClr val="tx1"/>
                          </a:solidFill>
                          <a:effectLst/>
                          <a:latin typeface="+mn-lt"/>
                          <a:ea typeface="+mn-ea"/>
                          <a:cs typeface="+mn-cs"/>
                        </a:rPr>
                        <a:t>특허된</a:t>
                      </a:r>
                      <a:r>
                        <a:rPr lang="ko-KR" altLang="en-US" sz="1050" kern="1200" dirty="0">
                          <a:solidFill>
                            <a:schemeClr val="tx1"/>
                          </a:solidFill>
                          <a:effectLst/>
                          <a:latin typeface="+mn-lt"/>
                          <a:ea typeface="+mn-ea"/>
                          <a:cs typeface="+mn-cs"/>
                        </a:rPr>
                        <a:t> 후 그 특허권자가 제</a:t>
                      </a:r>
                      <a:r>
                        <a:rPr lang="en-US" altLang="ko-KR" sz="1050" kern="1200" dirty="0">
                          <a:solidFill>
                            <a:schemeClr val="tx1"/>
                          </a:solidFill>
                          <a:effectLst/>
                          <a:latin typeface="+mn-lt"/>
                          <a:ea typeface="+mn-ea"/>
                          <a:cs typeface="+mn-cs"/>
                        </a:rPr>
                        <a:t>25</a:t>
                      </a:r>
                      <a:r>
                        <a:rPr lang="ko-KR" altLang="en-US" sz="1050" kern="1200" dirty="0">
                          <a:solidFill>
                            <a:schemeClr val="tx1"/>
                          </a:solidFill>
                          <a:effectLst/>
                          <a:latin typeface="+mn-lt"/>
                          <a:ea typeface="+mn-ea"/>
                          <a:cs typeface="+mn-cs"/>
                        </a:rPr>
                        <a:t>조에 따라 특허권을 누릴 수 없는 자로 되거나 그 특허가 조약을 위반한 경우</a:t>
                      </a:r>
                    </a:p>
                    <a:p>
                      <a:pPr fontAlgn="base" latinLnBrk="1"/>
                      <a:r>
                        <a:rPr lang="en-US" altLang="ko-KR" sz="1050" kern="1200" dirty="0">
                          <a:solidFill>
                            <a:schemeClr val="tx1"/>
                          </a:solidFill>
                          <a:effectLst/>
                          <a:latin typeface="+mn-lt"/>
                          <a:ea typeface="+mn-ea"/>
                          <a:cs typeface="+mn-cs"/>
                        </a:rPr>
                        <a:t>5. </a:t>
                      </a:r>
                      <a:r>
                        <a:rPr lang="ko-KR" altLang="en-US" sz="1050" kern="1200" dirty="0">
                          <a:solidFill>
                            <a:schemeClr val="tx1"/>
                          </a:solidFill>
                          <a:effectLst/>
                          <a:latin typeface="+mn-lt"/>
                          <a:ea typeface="+mn-ea"/>
                          <a:cs typeface="+mn-cs"/>
                        </a:rPr>
                        <a:t>조약을 위반하여 특허를 받을 수 없는 경우</a:t>
                      </a:r>
                    </a:p>
                    <a:p>
                      <a:pPr fontAlgn="base" latinLnBrk="1"/>
                      <a:r>
                        <a:rPr lang="en-US" altLang="ko-KR" sz="1050" kern="1200" dirty="0">
                          <a:solidFill>
                            <a:schemeClr val="tx1"/>
                          </a:solidFill>
                          <a:effectLst/>
                          <a:latin typeface="+mn-lt"/>
                          <a:ea typeface="+mn-ea"/>
                          <a:cs typeface="+mn-cs"/>
                        </a:rPr>
                        <a:t>6.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47</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2</a:t>
                      </a:r>
                      <a:r>
                        <a:rPr lang="ko-KR" altLang="en-US" sz="1050" kern="1200" dirty="0">
                          <a:solidFill>
                            <a:schemeClr val="tx1"/>
                          </a:solidFill>
                          <a:effectLst/>
                          <a:latin typeface="+mn-lt"/>
                          <a:ea typeface="+mn-ea"/>
                          <a:cs typeface="+mn-cs"/>
                        </a:rPr>
                        <a:t>항 전단에 따른 범위를 벗어난 보정인 경우</a:t>
                      </a:r>
                    </a:p>
                    <a:p>
                      <a:pPr fontAlgn="base" latinLnBrk="1"/>
                      <a:r>
                        <a:rPr lang="en-US" altLang="ko-KR" sz="1050" kern="1200" dirty="0">
                          <a:solidFill>
                            <a:schemeClr val="tx1"/>
                          </a:solidFill>
                          <a:effectLst/>
                          <a:latin typeface="+mn-lt"/>
                          <a:ea typeface="+mn-ea"/>
                          <a:cs typeface="+mn-cs"/>
                        </a:rPr>
                        <a:t>7.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52</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항에 따른 범위를 벗어난 </a:t>
                      </a:r>
                      <a:r>
                        <a:rPr lang="ko-KR" altLang="en-US" sz="1050" kern="1200" dirty="0" err="1">
                          <a:solidFill>
                            <a:schemeClr val="tx1"/>
                          </a:solidFill>
                          <a:effectLst/>
                          <a:latin typeface="+mn-lt"/>
                          <a:ea typeface="+mn-ea"/>
                          <a:cs typeface="+mn-cs"/>
                        </a:rPr>
                        <a:t>분할출원인</a:t>
                      </a:r>
                      <a:r>
                        <a:rPr lang="ko-KR" altLang="en-US" sz="1050" kern="1200" dirty="0">
                          <a:solidFill>
                            <a:schemeClr val="tx1"/>
                          </a:solidFill>
                          <a:effectLst/>
                          <a:latin typeface="+mn-lt"/>
                          <a:ea typeface="+mn-ea"/>
                          <a:cs typeface="+mn-cs"/>
                        </a:rPr>
                        <a:t> 경우 또는 제</a:t>
                      </a:r>
                      <a:r>
                        <a:rPr lang="en-US" altLang="ko-KR" sz="1050" kern="1200" dirty="0">
                          <a:solidFill>
                            <a:schemeClr val="tx1"/>
                          </a:solidFill>
                          <a:effectLst/>
                          <a:latin typeface="+mn-lt"/>
                          <a:ea typeface="+mn-ea"/>
                          <a:cs typeface="+mn-cs"/>
                        </a:rPr>
                        <a:t>52</a:t>
                      </a:r>
                      <a:r>
                        <a:rPr lang="ko-KR" altLang="en-US" sz="1050" kern="1200" dirty="0">
                          <a:solidFill>
                            <a:schemeClr val="tx1"/>
                          </a:solidFill>
                          <a:effectLst/>
                          <a:latin typeface="+mn-lt"/>
                          <a:ea typeface="+mn-ea"/>
                          <a:cs typeface="+mn-cs"/>
                        </a:rPr>
                        <a:t>조의</a:t>
                      </a:r>
                      <a:r>
                        <a:rPr lang="en-US" altLang="ko-KR" sz="1050" kern="1200" dirty="0">
                          <a:solidFill>
                            <a:schemeClr val="tx1"/>
                          </a:solidFill>
                          <a:effectLst/>
                          <a:latin typeface="+mn-lt"/>
                          <a:ea typeface="+mn-ea"/>
                          <a:cs typeface="+mn-cs"/>
                        </a:rPr>
                        <a:t>2</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 각 호 외의 부분 전단에 따른 범위를 벗어난 </a:t>
                      </a:r>
                      <a:r>
                        <a:rPr lang="ko-KR" altLang="en-US" sz="1050" kern="1200" dirty="0" err="1">
                          <a:solidFill>
                            <a:schemeClr val="tx1"/>
                          </a:solidFill>
                          <a:effectLst/>
                          <a:latin typeface="+mn-lt"/>
                          <a:ea typeface="+mn-ea"/>
                          <a:cs typeface="+mn-cs"/>
                        </a:rPr>
                        <a:t>분리출원인</a:t>
                      </a:r>
                      <a:r>
                        <a:rPr lang="ko-KR" altLang="en-US" sz="1050" kern="1200" dirty="0">
                          <a:solidFill>
                            <a:schemeClr val="tx1"/>
                          </a:solidFill>
                          <a:effectLst/>
                          <a:latin typeface="+mn-lt"/>
                          <a:ea typeface="+mn-ea"/>
                          <a:cs typeface="+mn-cs"/>
                        </a:rPr>
                        <a:t> 경우</a:t>
                      </a:r>
                    </a:p>
                    <a:p>
                      <a:pPr fontAlgn="base" latinLnBrk="1"/>
                      <a:r>
                        <a:rPr lang="en-US" altLang="ko-KR" sz="1050" kern="1200" dirty="0">
                          <a:solidFill>
                            <a:schemeClr val="tx1"/>
                          </a:solidFill>
                          <a:effectLst/>
                          <a:latin typeface="+mn-lt"/>
                          <a:ea typeface="+mn-ea"/>
                          <a:cs typeface="+mn-cs"/>
                        </a:rPr>
                        <a:t>8.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53</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항에 따른 범위를 벗어난 </a:t>
                      </a:r>
                      <a:r>
                        <a:rPr lang="ko-KR" altLang="en-US" sz="1050" kern="1200" dirty="0" err="1">
                          <a:solidFill>
                            <a:schemeClr val="tx1"/>
                          </a:solidFill>
                          <a:effectLst/>
                          <a:latin typeface="+mn-lt"/>
                          <a:ea typeface="+mn-ea"/>
                          <a:cs typeface="+mn-cs"/>
                        </a:rPr>
                        <a:t>변경출원인</a:t>
                      </a:r>
                      <a:r>
                        <a:rPr lang="ko-KR" altLang="en-US" sz="1050" kern="1200" dirty="0">
                          <a:solidFill>
                            <a:schemeClr val="tx1"/>
                          </a:solidFill>
                          <a:effectLst/>
                          <a:latin typeface="+mn-lt"/>
                          <a:ea typeface="+mn-ea"/>
                          <a:cs typeface="+mn-cs"/>
                        </a:rPr>
                        <a:t> 경우</a:t>
                      </a:r>
                    </a:p>
                    <a:p>
                      <a:pPr fontAlgn="base" latinLnBrk="1"/>
                      <a:r>
                        <a:rPr lang="ko-KR" altLang="en-US" sz="1050" kern="1200" dirty="0">
                          <a:solidFill>
                            <a:schemeClr val="accent1"/>
                          </a:solidFill>
                          <a:effectLst/>
                          <a:latin typeface="+mn-lt"/>
                          <a:ea typeface="+mn-ea"/>
                          <a:cs typeface="+mn-cs"/>
                        </a:rPr>
                        <a:t>② 제</a:t>
                      </a:r>
                      <a:r>
                        <a:rPr lang="en-US" altLang="ko-KR" sz="1050" kern="1200" dirty="0">
                          <a:solidFill>
                            <a:schemeClr val="accent1"/>
                          </a:solidFill>
                          <a:effectLst/>
                          <a:latin typeface="+mn-lt"/>
                          <a:ea typeface="+mn-ea"/>
                          <a:cs typeface="+mn-cs"/>
                        </a:rPr>
                        <a:t>1</a:t>
                      </a:r>
                      <a:r>
                        <a:rPr lang="ko-KR" altLang="en-US" sz="1050" kern="1200" dirty="0">
                          <a:solidFill>
                            <a:schemeClr val="accent1"/>
                          </a:solidFill>
                          <a:effectLst/>
                          <a:latin typeface="+mn-lt"/>
                          <a:ea typeface="+mn-ea"/>
                          <a:cs typeface="+mn-cs"/>
                        </a:rPr>
                        <a:t>항에 따른 심판은 특허권이 소멸된 후에도 청구할 수 있다</a:t>
                      </a:r>
                      <a:r>
                        <a:rPr lang="en-US" altLang="ko-KR" sz="1050" kern="1200" dirty="0">
                          <a:solidFill>
                            <a:schemeClr val="accent1"/>
                          </a:solidFill>
                          <a:effectLst/>
                          <a:latin typeface="+mn-lt"/>
                          <a:ea typeface="+mn-ea"/>
                          <a:cs typeface="+mn-cs"/>
                        </a:rPr>
                        <a:t>.</a:t>
                      </a:r>
                      <a:endParaRPr lang="ko-KR" altLang="en-US" sz="1050" kern="1200" dirty="0">
                        <a:solidFill>
                          <a:schemeClr val="accent1"/>
                        </a:solidFill>
                        <a:effectLst/>
                        <a:latin typeface="+mn-lt"/>
                        <a:ea typeface="+mn-ea"/>
                        <a:cs typeface="+mn-cs"/>
                      </a:endParaRPr>
                    </a:p>
                    <a:p>
                      <a:pPr fontAlgn="base" latinLnBrk="1"/>
                      <a:r>
                        <a:rPr lang="ko-KR" altLang="en-US" sz="1050" kern="1200" dirty="0">
                          <a:solidFill>
                            <a:srgbClr val="FF0000"/>
                          </a:solidFill>
                          <a:effectLst/>
                          <a:latin typeface="+mn-lt"/>
                          <a:ea typeface="+mn-ea"/>
                          <a:cs typeface="+mn-cs"/>
                        </a:rPr>
                        <a:t>③ 특허를 무효로 한다는 </a:t>
                      </a:r>
                      <a:r>
                        <a:rPr lang="ko-KR" altLang="en-US" sz="1050" kern="1200" dirty="0" err="1">
                          <a:solidFill>
                            <a:srgbClr val="FF0000"/>
                          </a:solidFill>
                          <a:effectLst/>
                          <a:latin typeface="+mn-lt"/>
                          <a:ea typeface="+mn-ea"/>
                          <a:cs typeface="+mn-cs"/>
                        </a:rPr>
                        <a:t>심결이</a:t>
                      </a:r>
                      <a:r>
                        <a:rPr lang="ko-KR" altLang="en-US" sz="1050" kern="1200" dirty="0">
                          <a:solidFill>
                            <a:srgbClr val="FF0000"/>
                          </a:solidFill>
                          <a:effectLst/>
                          <a:latin typeface="+mn-lt"/>
                          <a:ea typeface="+mn-ea"/>
                          <a:cs typeface="+mn-cs"/>
                        </a:rPr>
                        <a:t> 확정된 경우에는 그 특허권은 처음부터 없었던 것으로 본다</a:t>
                      </a:r>
                      <a:r>
                        <a:rPr lang="en-US" altLang="ko-KR" sz="1050" kern="1200" dirty="0">
                          <a:solidFill>
                            <a:srgbClr val="FF0000"/>
                          </a:solidFill>
                          <a:effectLst/>
                          <a:latin typeface="+mn-lt"/>
                          <a:ea typeface="+mn-ea"/>
                          <a:cs typeface="+mn-cs"/>
                        </a:rPr>
                        <a:t>. </a:t>
                      </a:r>
                      <a:r>
                        <a:rPr lang="ko-KR" altLang="en-US" sz="1050" kern="1200" dirty="0">
                          <a:solidFill>
                            <a:srgbClr val="FF0000"/>
                          </a:solidFill>
                          <a:effectLst/>
                          <a:latin typeface="+mn-lt"/>
                          <a:ea typeface="+mn-ea"/>
                          <a:cs typeface="+mn-cs"/>
                        </a:rPr>
                        <a:t>다만</a:t>
                      </a:r>
                      <a:r>
                        <a:rPr lang="en-US" altLang="ko-KR" sz="1050" kern="1200" dirty="0">
                          <a:solidFill>
                            <a:srgbClr val="FF0000"/>
                          </a:solidFill>
                          <a:effectLst/>
                          <a:latin typeface="+mn-lt"/>
                          <a:ea typeface="+mn-ea"/>
                          <a:cs typeface="+mn-cs"/>
                        </a:rPr>
                        <a:t>, </a:t>
                      </a:r>
                      <a:r>
                        <a:rPr lang="ko-KR" altLang="en-US" sz="1050" kern="1200" dirty="0">
                          <a:solidFill>
                            <a:srgbClr val="FF0000"/>
                          </a:solidFill>
                          <a:effectLst/>
                          <a:latin typeface="+mn-lt"/>
                          <a:ea typeface="+mn-ea"/>
                          <a:cs typeface="+mn-cs"/>
                        </a:rPr>
                        <a:t>제</a:t>
                      </a:r>
                      <a:r>
                        <a:rPr lang="en-US" altLang="ko-KR" sz="1050" kern="1200" dirty="0">
                          <a:solidFill>
                            <a:srgbClr val="FF0000"/>
                          </a:solidFill>
                          <a:effectLst/>
                          <a:latin typeface="+mn-lt"/>
                          <a:ea typeface="+mn-ea"/>
                          <a:cs typeface="+mn-cs"/>
                        </a:rPr>
                        <a:t>1</a:t>
                      </a:r>
                      <a:r>
                        <a:rPr lang="ko-KR" altLang="en-US" sz="1050" kern="1200" dirty="0" err="1">
                          <a:solidFill>
                            <a:srgbClr val="FF0000"/>
                          </a:solidFill>
                          <a:effectLst/>
                          <a:latin typeface="+mn-lt"/>
                          <a:ea typeface="+mn-ea"/>
                          <a:cs typeface="+mn-cs"/>
                        </a:rPr>
                        <a:t>항제</a:t>
                      </a:r>
                      <a:r>
                        <a:rPr lang="en-US" altLang="ko-KR" sz="1050" kern="1200" dirty="0">
                          <a:solidFill>
                            <a:srgbClr val="FF0000"/>
                          </a:solidFill>
                          <a:effectLst/>
                          <a:latin typeface="+mn-lt"/>
                          <a:ea typeface="+mn-ea"/>
                          <a:cs typeface="+mn-cs"/>
                        </a:rPr>
                        <a:t>4</a:t>
                      </a:r>
                      <a:r>
                        <a:rPr lang="ko-KR" altLang="en-US" sz="1050" kern="1200" dirty="0">
                          <a:solidFill>
                            <a:srgbClr val="FF0000"/>
                          </a:solidFill>
                          <a:effectLst/>
                          <a:latin typeface="+mn-lt"/>
                          <a:ea typeface="+mn-ea"/>
                          <a:cs typeface="+mn-cs"/>
                        </a:rPr>
                        <a:t>호에 따라 특허를 무효로 한다는 </a:t>
                      </a:r>
                      <a:r>
                        <a:rPr lang="ko-KR" altLang="en-US" sz="1050" kern="1200" dirty="0" err="1">
                          <a:solidFill>
                            <a:srgbClr val="FF0000"/>
                          </a:solidFill>
                          <a:effectLst/>
                          <a:latin typeface="+mn-lt"/>
                          <a:ea typeface="+mn-ea"/>
                          <a:cs typeface="+mn-cs"/>
                        </a:rPr>
                        <a:t>심결이</a:t>
                      </a:r>
                      <a:r>
                        <a:rPr lang="ko-KR" altLang="en-US" sz="1050" kern="1200" dirty="0">
                          <a:solidFill>
                            <a:srgbClr val="FF0000"/>
                          </a:solidFill>
                          <a:effectLst/>
                          <a:latin typeface="+mn-lt"/>
                          <a:ea typeface="+mn-ea"/>
                          <a:cs typeface="+mn-cs"/>
                        </a:rPr>
                        <a:t> 확정된 경우에는 특허권은 그 특허가 같은 호에 해당하게 된 때부터 없었던 것으로 본다</a:t>
                      </a:r>
                      <a:r>
                        <a:rPr lang="en-US" altLang="ko-KR" sz="1050" kern="1200" dirty="0">
                          <a:solidFill>
                            <a:srgbClr val="FF0000"/>
                          </a:solidFill>
                          <a:effectLst/>
                          <a:latin typeface="+mn-lt"/>
                          <a:ea typeface="+mn-ea"/>
                          <a:cs typeface="+mn-cs"/>
                        </a:rPr>
                        <a:t>.</a:t>
                      </a:r>
                      <a:endParaRPr lang="ko-KR" altLang="en-US" sz="1050" kern="1200" dirty="0">
                        <a:solidFill>
                          <a:srgbClr val="FF0000"/>
                        </a:solidFill>
                        <a:effectLst/>
                        <a:latin typeface="+mn-lt"/>
                        <a:ea typeface="+mn-ea"/>
                        <a:cs typeface="+mn-cs"/>
                      </a:endParaRPr>
                    </a:p>
                    <a:p>
                      <a:pPr fontAlgn="base" latinLnBrk="1"/>
                      <a:r>
                        <a:rPr lang="ko-KR" altLang="en-US" sz="1050" kern="1200" dirty="0">
                          <a:solidFill>
                            <a:schemeClr val="accent1"/>
                          </a:solidFill>
                          <a:effectLst/>
                          <a:latin typeface="+mn-lt"/>
                          <a:ea typeface="+mn-ea"/>
                          <a:cs typeface="+mn-cs"/>
                        </a:rPr>
                        <a:t>④ 심판장은 제</a:t>
                      </a:r>
                      <a:r>
                        <a:rPr lang="en-US" altLang="ko-KR" sz="1050" kern="1200" dirty="0">
                          <a:solidFill>
                            <a:schemeClr val="accent1"/>
                          </a:solidFill>
                          <a:effectLst/>
                          <a:latin typeface="+mn-lt"/>
                          <a:ea typeface="+mn-ea"/>
                          <a:cs typeface="+mn-cs"/>
                        </a:rPr>
                        <a:t>1</a:t>
                      </a:r>
                      <a:r>
                        <a:rPr lang="ko-KR" altLang="en-US" sz="1050" kern="1200" dirty="0">
                          <a:solidFill>
                            <a:schemeClr val="accent1"/>
                          </a:solidFill>
                          <a:effectLst/>
                          <a:latin typeface="+mn-lt"/>
                          <a:ea typeface="+mn-ea"/>
                          <a:cs typeface="+mn-cs"/>
                        </a:rPr>
                        <a:t>항에 따른 심판이 청구된 경우에는 그 취지를 해당 특허권의 전용실시권자나 그 밖에 특허에 관하여 등록을 한 권리를 가지는 자에게 알려야 한다</a:t>
                      </a:r>
                      <a:r>
                        <a:rPr lang="en-US" altLang="ko-KR" sz="1050" kern="1200" dirty="0">
                          <a:solidFill>
                            <a:schemeClr val="accent1"/>
                          </a:solidFill>
                          <a:effectLst/>
                          <a:latin typeface="+mn-lt"/>
                          <a:ea typeface="+mn-ea"/>
                          <a:cs typeface="+mn-cs"/>
                        </a:rPr>
                        <a:t>.</a:t>
                      </a:r>
                      <a:endParaRPr lang="ko-KR" altLang="en-US" sz="1050" kern="1200" dirty="0">
                        <a:solidFill>
                          <a:schemeClr val="accent1"/>
                        </a:solidFill>
                        <a:effectLst/>
                        <a:latin typeface="+mn-lt"/>
                        <a:ea typeface="+mn-ea"/>
                        <a:cs typeface="+mn-cs"/>
                      </a:endParaRPr>
                    </a:p>
                  </a:txBody>
                  <a:tcPr/>
                </a:tc>
                <a:tc>
                  <a:txBody>
                    <a:bodyPr/>
                    <a:lstStyle/>
                    <a:p>
                      <a:pPr fontAlgn="base" latinLnBrk="0"/>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134</a:t>
                      </a:r>
                      <a:r>
                        <a:rPr lang="ko-KR" altLang="en-US" sz="1050" kern="1200" dirty="0">
                          <a:solidFill>
                            <a:schemeClr val="tx1"/>
                          </a:solidFill>
                          <a:effectLst/>
                          <a:latin typeface="+mn-lt"/>
                          <a:ea typeface="+mn-ea"/>
                          <a:cs typeface="+mn-cs"/>
                        </a:rPr>
                        <a:t>조</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특허권 존속기간의 </a:t>
                      </a:r>
                      <a:r>
                        <a:rPr lang="ko-KR" altLang="en-US" sz="1050" kern="1200" dirty="0" err="1">
                          <a:solidFill>
                            <a:schemeClr val="tx1"/>
                          </a:solidFill>
                          <a:effectLst/>
                          <a:latin typeface="+mn-lt"/>
                          <a:ea typeface="+mn-ea"/>
                          <a:cs typeface="+mn-cs"/>
                        </a:rPr>
                        <a:t>연장등록의</a:t>
                      </a:r>
                      <a:r>
                        <a:rPr lang="ko-KR" altLang="en-US" sz="1050" kern="1200" dirty="0">
                          <a:solidFill>
                            <a:schemeClr val="tx1"/>
                          </a:solidFill>
                          <a:effectLst/>
                          <a:latin typeface="+mn-lt"/>
                          <a:ea typeface="+mn-ea"/>
                          <a:cs typeface="+mn-cs"/>
                        </a:rPr>
                        <a:t> 무효심판</a:t>
                      </a:r>
                      <a:r>
                        <a:rPr lang="en-US" altLang="ko-KR" sz="1050" kern="1200" dirty="0">
                          <a:solidFill>
                            <a:schemeClr val="tx1"/>
                          </a:solidFill>
                          <a:effectLst/>
                          <a:latin typeface="+mn-lt"/>
                          <a:ea typeface="+mn-ea"/>
                          <a:cs typeface="+mn-cs"/>
                        </a:rPr>
                        <a:t>】</a:t>
                      </a:r>
                      <a:endParaRPr lang="ko-KR" altLang="en-US" sz="1050" kern="1200" dirty="0">
                        <a:solidFill>
                          <a:schemeClr val="tx1"/>
                        </a:solidFill>
                        <a:effectLst/>
                        <a:latin typeface="+mn-lt"/>
                        <a:ea typeface="+mn-ea"/>
                        <a:cs typeface="+mn-cs"/>
                      </a:endParaRPr>
                    </a:p>
                    <a:p>
                      <a:pPr fontAlgn="base" latinLnBrk="1"/>
                      <a:r>
                        <a:rPr lang="ko-KR" altLang="en-US" sz="1050" kern="1200" dirty="0">
                          <a:solidFill>
                            <a:schemeClr val="tx1"/>
                          </a:solidFill>
                          <a:effectLst/>
                          <a:latin typeface="+mn-lt"/>
                          <a:ea typeface="+mn-ea"/>
                          <a:cs typeface="+mn-cs"/>
                        </a:rPr>
                        <a:t>① 이해관계인 또는 심사관은 제</a:t>
                      </a:r>
                      <a:r>
                        <a:rPr lang="en-US" altLang="ko-KR" sz="1050" kern="1200" dirty="0">
                          <a:solidFill>
                            <a:schemeClr val="tx1"/>
                          </a:solidFill>
                          <a:effectLst/>
                          <a:latin typeface="+mn-lt"/>
                          <a:ea typeface="+mn-ea"/>
                          <a:cs typeface="+mn-cs"/>
                        </a:rPr>
                        <a:t>92</a:t>
                      </a:r>
                      <a:r>
                        <a:rPr lang="ko-KR" altLang="en-US" sz="1050" kern="1200" dirty="0">
                          <a:solidFill>
                            <a:schemeClr val="tx1"/>
                          </a:solidFill>
                          <a:effectLst/>
                          <a:latin typeface="+mn-lt"/>
                          <a:ea typeface="+mn-ea"/>
                          <a:cs typeface="+mn-cs"/>
                        </a:rPr>
                        <a:t>조에 따른 특허권의 존속기간의 </a:t>
                      </a:r>
                      <a:r>
                        <a:rPr lang="ko-KR" altLang="en-US" sz="1050" kern="1200" dirty="0" err="1">
                          <a:solidFill>
                            <a:schemeClr val="tx1"/>
                          </a:solidFill>
                          <a:effectLst/>
                          <a:latin typeface="+mn-lt"/>
                          <a:ea typeface="+mn-ea"/>
                          <a:cs typeface="+mn-cs"/>
                        </a:rPr>
                        <a:t>연장등록이</a:t>
                      </a:r>
                      <a:r>
                        <a:rPr lang="ko-KR" altLang="en-US" sz="1050" kern="1200" dirty="0">
                          <a:solidFill>
                            <a:schemeClr val="tx1"/>
                          </a:solidFill>
                          <a:effectLst/>
                          <a:latin typeface="+mn-lt"/>
                          <a:ea typeface="+mn-ea"/>
                          <a:cs typeface="+mn-cs"/>
                        </a:rPr>
                        <a:t> 다음 각 호의 어느 하나에 해당하는 경우에는 무효심판을 청구할 수 있다</a:t>
                      </a:r>
                      <a:r>
                        <a:rPr lang="en-US" altLang="ko-KR" sz="1050" kern="1200" dirty="0">
                          <a:solidFill>
                            <a:schemeClr val="tx1"/>
                          </a:solidFill>
                          <a:effectLst/>
                          <a:latin typeface="+mn-lt"/>
                          <a:ea typeface="+mn-ea"/>
                          <a:cs typeface="+mn-cs"/>
                        </a:rPr>
                        <a:t>.</a:t>
                      </a:r>
                      <a:endParaRPr lang="ko-KR" altLang="en-US" sz="1050" kern="1200" dirty="0">
                        <a:solidFill>
                          <a:schemeClr val="tx1"/>
                        </a:solidFill>
                        <a:effectLst/>
                        <a:latin typeface="+mn-lt"/>
                        <a:ea typeface="+mn-ea"/>
                        <a:cs typeface="+mn-cs"/>
                      </a:endParaRPr>
                    </a:p>
                    <a:p>
                      <a:pPr fontAlgn="base" latinLnBrk="1"/>
                      <a:r>
                        <a:rPr lang="en-US" altLang="ko-KR" sz="1050" kern="1200" dirty="0">
                          <a:solidFill>
                            <a:schemeClr val="tx1"/>
                          </a:solidFill>
                          <a:effectLst/>
                          <a:latin typeface="+mn-lt"/>
                          <a:ea typeface="+mn-ea"/>
                          <a:cs typeface="+mn-cs"/>
                        </a:rPr>
                        <a:t>1. </a:t>
                      </a:r>
                      <a:r>
                        <a:rPr lang="ko-KR" altLang="en-US" sz="1050" kern="1200" dirty="0">
                          <a:solidFill>
                            <a:schemeClr val="tx1"/>
                          </a:solidFill>
                          <a:effectLst/>
                          <a:latin typeface="+mn-lt"/>
                          <a:ea typeface="+mn-ea"/>
                          <a:cs typeface="+mn-cs"/>
                        </a:rPr>
                        <a:t>특허발명을 실시하기 위하여 제</a:t>
                      </a:r>
                      <a:r>
                        <a:rPr lang="en-US" altLang="ko-KR" sz="1050" kern="1200" dirty="0">
                          <a:solidFill>
                            <a:schemeClr val="tx1"/>
                          </a:solidFill>
                          <a:effectLst/>
                          <a:latin typeface="+mn-lt"/>
                          <a:ea typeface="+mn-ea"/>
                          <a:cs typeface="+mn-cs"/>
                        </a:rPr>
                        <a:t>89</a:t>
                      </a:r>
                      <a:r>
                        <a:rPr lang="ko-KR" altLang="en-US" sz="1050" kern="1200" dirty="0">
                          <a:solidFill>
                            <a:schemeClr val="tx1"/>
                          </a:solidFill>
                          <a:effectLst/>
                          <a:latin typeface="+mn-lt"/>
                          <a:ea typeface="+mn-ea"/>
                          <a:cs typeface="+mn-cs"/>
                        </a:rPr>
                        <a:t>조에 따른 허가 등을 받을 필요가 없는 출원에 대하여 </a:t>
                      </a:r>
                      <a:r>
                        <a:rPr lang="ko-KR" altLang="en-US" sz="1050" kern="1200" dirty="0" err="1">
                          <a:solidFill>
                            <a:schemeClr val="tx1"/>
                          </a:solidFill>
                          <a:effectLst/>
                          <a:latin typeface="+mn-lt"/>
                          <a:ea typeface="+mn-ea"/>
                          <a:cs typeface="+mn-cs"/>
                        </a:rPr>
                        <a:t>연장등록이</a:t>
                      </a:r>
                      <a:r>
                        <a:rPr lang="ko-KR" altLang="en-US" sz="1050" kern="1200" dirty="0">
                          <a:solidFill>
                            <a:schemeClr val="tx1"/>
                          </a:solidFill>
                          <a:effectLst/>
                          <a:latin typeface="+mn-lt"/>
                          <a:ea typeface="+mn-ea"/>
                          <a:cs typeface="+mn-cs"/>
                        </a:rPr>
                        <a:t> 된 경우</a:t>
                      </a:r>
                    </a:p>
                    <a:p>
                      <a:pPr fontAlgn="base" latinLnBrk="1"/>
                      <a:r>
                        <a:rPr lang="en-US" altLang="ko-KR" sz="1050" kern="1200" dirty="0">
                          <a:solidFill>
                            <a:schemeClr val="tx1"/>
                          </a:solidFill>
                          <a:effectLst/>
                          <a:latin typeface="+mn-lt"/>
                          <a:ea typeface="+mn-ea"/>
                          <a:cs typeface="+mn-cs"/>
                        </a:rPr>
                        <a:t>2. </a:t>
                      </a:r>
                      <a:r>
                        <a:rPr lang="ko-KR" altLang="en-US" sz="1050" kern="1200" dirty="0" err="1">
                          <a:solidFill>
                            <a:schemeClr val="tx1"/>
                          </a:solidFill>
                          <a:effectLst/>
                          <a:latin typeface="+mn-lt"/>
                          <a:ea typeface="+mn-ea"/>
                          <a:cs typeface="+mn-cs"/>
                        </a:rPr>
                        <a:t>특허권자</a:t>
                      </a:r>
                      <a:r>
                        <a:rPr lang="ko-KR" altLang="en-US" sz="1050" kern="1200" dirty="0">
                          <a:solidFill>
                            <a:schemeClr val="tx1"/>
                          </a:solidFill>
                          <a:effectLst/>
                          <a:latin typeface="+mn-lt"/>
                          <a:ea typeface="+mn-ea"/>
                          <a:cs typeface="+mn-cs"/>
                        </a:rPr>
                        <a:t> 또는 그 특허권의 </a:t>
                      </a:r>
                      <a:r>
                        <a:rPr lang="ko-KR" altLang="en-US" sz="1050" kern="1200" dirty="0" err="1">
                          <a:solidFill>
                            <a:schemeClr val="tx1"/>
                          </a:solidFill>
                          <a:effectLst/>
                          <a:latin typeface="+mn-lt"/>
                          <a:ea typeface="+mn-ea"/>
                          <a:cs typeface="+mn-cs"/>
                        </a:rPr>
                        <a:t>전용실시권</a:t>
                      </a:r>
                      <a:r>
                        <a:rPr lang="ko-KR" altLang="en-US" sz="1050" kern="1200" dirty="0">
                          <a:solidFill>
                            <a:schemeClr val="tx1"/>
                          </a:solidFill>
                          <a:effectLst/>
                          <a:latin typeface="+mn-lt"/>
                          <a:ea typeface="+mn-ea"/>
                          <a:cs typeface="+mn-cs"/>
                        </a:rPr>
                        <a:t> 또는 등록된 통상실시권을 가진 자가 제</a:t>
                      </a:r>
                      <a:r>
                        <a:rPr lang="en-US" altLang="ko-KR" sz="1050" kern="1200" dirty="0">
                          <a:solidFill>
                            <a:schemeClr val="tx1"/>
                          </a:solidFill>
                          <a:effectLst/>
                          <a:latin typeface="+mn-lt"/>
                          <a:ea typeface="+mn-ea"/>
                          <a:cs typeface="+mn-cs"/>
                        </a:rPr>
                        <a:t>89</a:t>
                      </a:r>
                      <a:r>
                        <a:rPr lang="ko-KR" altLang="en-US" sz="1050" kern="1200" dirty="0">
                          <a:solidFill>
                            <a:schemeClr val="tx1"/>
                          </a:solidFill>
                          <a:effectLst/>
                          <a:latin typeface="+mn-lt"/>
                          <a:ea typeface="+mn-ea"/>
                          <a:cs typeface="+mn-cs"/>
                        </a:rPr>
                        <a:t>조에 따른 허가 등을 받지 아니한 출원에 대하여 </a:t>
                      </a:r>
                      <a:r>
                        <a:rPr lang="ko-KR" altLang="en-US" sz="1050" kern="1200" dirty="0" err="1">
                          <a:solidFill>
                            <a:schemeClr val="tx1"/>
                          </a:solidFill>
                          <a:effectLst/>
                          <a:latin typeface="+mn-lt"/>
                          <a:ea typeface="+mn-ea"/>
                          <a:cs typeface="+mn-cs"/>
                        </a:rPr>
                        <a:t>연장등록이</a:t>
                      </a:r>
                      <a:r>
                        <a:rPr lang="ko-KR" altLang="en-US" sz="1050" kern="1200" dirty="0">
                          <a:solidFill>
                            <a:schemeClr val="tx1"/>
                          </a:solidFill>
                          <a:effectLst/>
                          <a:latin typeface="+mn-lt"/>
                          <a:ea typeface="+mn-ea"/>
                          <a:cs typeface="+mn-cs"/>
                        </a:rPr>
                        <a:t> 된 경우</a:t>
                      </a:r>
                    </a:p>
                    <a:p>
                      <a:pPr fontAlgn="base" latinLnBrk="1"/>
                      <a:r>
                        <a:rPr lang="en-US" altLang="ko-KR" sz="1050" kern="1200" dirty="0">
                          <a:solidFill>
                            <a:schemeClr val="tx1"/>
                          </a:solidFill>
                          <a:effectLst/>
                          <a:latin typeface="+mn-lt"/>
                          <a:ea typeface="+mn-ea"/>
                          <a:cs typeface="+mn-cs"/>
                        </a:rPr>
                        <a:t>3. </a:t>
                      </a:r>
                      <a:r>
                        <a:rPr lang="ko-KR" altLang="en-US" sz="1050" kern="1200" dirty="0">
                          <a:solidFill>
                            <a:schemeClr val="tx1"/>
                          </a:solidFill>
                          <a:effectLst/>
                          <a:latin typeface="+mn-lt"/>
                          <a:ea typeface="+mn-ea"/>
                          <a:cs typeface="+mn-cs"/>
                        </a:rPr>
                        <a:t>연장등록에 따라 연장된 기간이 제</a:t>
                      </a:r>
                      <a:r>
                        <a:rPr lang="en-US" altLang="ko-KR" sz="1050" kern="1200" dirty="0">
                          <a:solidFill>
                            <a:schemeClr val="tx1"/>
                          </a:solidFill>
                          <a:effectLst/>
                          <a:latin typeface="+mn-lt"/>
                          <a:ea typeface="+mn-ea"/>
                          <a:cs typeface="+mn-cs"/>
                        </a:rPr>
                        <a:t>89</a:t>
                      </a:r>
                      <a:r>
                        <a:rPr lang="ko-KR" altLang="en-US" sz="1050" kern="1200" dirty="0">
                          <a:solidFill>
                            <a:schemeClr val="tx1"/>
                          </a:solidFill>
                          <a:effectLst/>
                          <a:latin typeface="+mn-lt"/>
                          <a:ea typeface="+mn-ea"/>
                          <a:cs typeface="+mn-cs"/>
                        </a:rPr>
                        <a:t>조에 따라 인정되는 연장의 기간을 초과하는 경우</a:t>
                      </a:r>
                    </a:p>
                    <a:p>
                      <a:pPr fontAlgn="base" latinLnBrk="1"/>
                      <a:r>
                        <a:rPr lang="en-US" altLang="ko-KR" sz="1050" kern="1200" dirty="0">
                          <a:solidFill>
                            <a:schemeClr val="tx1"/>
                          </a:solidFill>
                          <a:effectLst/>
                          <a:latin typeface="+mn-lt"/>
                          <a:ea typeface="+mn-ea"/>
                          <a:cs typeface="+mn-cs"/>
                        </a:rPr>
                        <a:t>4. </a:t>
                      </a:r>
                      <a:r>
                        <a:rPr lang="ko-KR" altLang="en-US" sz="1050" kern="1200" dirty="0">
                          <a:solidFill>
                            <a:schemeClr val="tx1"/>
                          </a:solidFill>
                          <a:effectLst/>
                          <a:latin typeface="+mn-lt"/>
                          <a:ea typeface="+mn-ea"/>
                          <a:cs typeface="+mn-cs"/>
                        </a:rPr>
                        <a:t>해당 특허권자가 아닌 자의 출원에 대하여 </a:t>
                      </a:r>
                      <a:r>
                        <a:rPr lang="ko-KR" altLang="en-US" sz="1050" kern="1200" dirty="0" err="1">
                          <a:solidFill>
                            <a:schemeClr val="tx1"/>
                          </a:solidFill>
                          <a:effectLst/>
                          <a:latin typeface="+mn-lt"/>
                          <a:ea typeface="+mn-ea"/>
                          <a:cs typeface="+mn-cs"/>
                        </a:rPr>
                        <a:t>연장등록이</a:t>
                      </a:r>
                      <a:r>
                        <a:rPr lang="ko-KR" altLang="en-US" sz="1050" kern="1200" dirty="0">
                          <a:solidFill>
                            <a:schemeClr val="tx1"/>
                          </a:solidFill>
                          <a:effectLst/>
                          <a:latin typeface="+mn-lt"/>
                          <a:ea typeface="+mn-ea"/>
                          <a:cs typeface="+mn-cs"/>
                        </a:rPr>
                        <a:t> 된 경우</a:t>
                      </a:r>
                    </a:p>
                    <a:p>
                      <a:pPr fontAlgn="base" latinLnBrk="1"/>
                      <a:r>
                        <a:rPr lang="en-US" altLang="ko-KR" sz="1050" kern="1200" dirty="0">
                          <a:solidFill>
                            <a:schemeClr val="tx1"/>
                          </a:solidFill>
                          <a:effectLst/>
                          <a:latin typeface="+mn-lt"/>
                          <a:ea typeface="+mn-ea"/>
                          <a:cs typeface="+mn-cs"/>
                        </a:rPr>
                        <a:t>5.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90</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항을 위반한 출원에 대하여 연장등록이 된 경우 </a:t>
                      </a:r>
                      <a:endParaRPr lang="en-US" altLang="ko-KR" sz="1050" kern="1200" dirty="0">
                        <a:solidFill>
                          <a:schemeClr val="tx1"/>
                        </a:solidFill>
                        <a:effectLst/>
                        <a:latin typeface="+mn-lt"/>
                        <a:ea typeface="+mn-ea"/>
                        <a:cs typeface="+mn-cs"/>
                      </a:endParaRPr>
                    </a:p>
                    <a:p>
                      <a:pPr fontAlgn="base" latinLnBrk="1"/>
                      <a:r>
                        <a:rPr lang="en-US" altLang="ko-KR" sz="1050" kern="1200" dirty="0">
                          <a:solidFill>
                            <a:schemeClr val="tx1"/>
                          </a:solidFill>
                          <a:effectLst/>
                          <a:latin typeface="+mn-lt"/>
                          <a:ea typeface="+mn-ea"/>
                          <a:cs typeface="+mn-cs"/>
                        </a:rPr>
                        <a:t>6.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90</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7</a:t>
                      </a:r>
                      <a:r>
                        <a:rPr lang="ko-KR" altLang="en-US" sz="1050" kern="1200" dirty="0">
                          <a:solidFill>
                            <a:schemeClr val="tx1"/>
                          </a:solidFill>
                          <a:effectLst/>
                          <a:latin typeface="+mn-lt"/>
                          <a:ea typeface="+mn-ea"/>
                          <a:cs typeface="+mn-cs"/>
                        </a:rPr>
                        <a:t>항을 위반하여 하나의 </a:t>
                      </a:r>
                      <a:r>
                        <a:rPr lang="ko-KR" altLang="en-US" sz="1050" kern="1200" dirty="0" err="1">
                          <a:solidFill>
                            <a:schemeClr val="tx1"/>
                          </a:solidFill>
                          <a:effectLst/>
                          <a:latin typeface="+mn-lt"/>
                          <a:ea typeface="+mn-ea"/>
                          <a:cs typeface="+mn-cs"/>
                        </a:rPr>
                        <a:t>허가등에</a:t>
                      </a:r>
                      <a:r>
                        <a:rPr lang="ko-KR" altLang="en-US" sz="1050" kern="1200" dirty="0">
                          <a:solidFill>
                            <a:schemeClr val="tx1"/>
                          </a:solidFill>
                          <a:effectLst/>
                          <a:latin typeface="+mn-lt"/>
                          <a:ea typeface="+mn-ea"/>
                          <a:cs typeface="+mn-cs"/>
                        </a:rPr>
                        <a:t> 대하여 둘 이상의 특허권의 존속기간이 </a:t>
                      </a:r>
                      <a:r>
                        <a:rPr lang="ko-KR" altLang="en-US" sz="1050" kern="1200" dirty="0" err="1">
                          <a:solidFill>
                            <a:schemeClr val="tx1"/>
                          </a:solidFill>
                          <a:effectLst/>
                          <a:latin typeface="+mn-lt"/>
                          <a:ea typeface="+mn-ea"/>
                          <a:cs typeface="+mn-cs"/>
                        </a:rPr>
                        <a:t>연장등록된</a:t>
                      </a:r>
                      <a:r>
                        <a:rPr lang="ko-KR" altLang="en-US" sz="1050" kern="1200" dirty="0">
                          <a:solidFill>
                            <a:schemeClr val="tx1"/>
                          </a:solidFill>
                          <a:effectLst/>
                          <a:latin typeface="+mn-lt"/>
                          <a:ea typeface="+mn-ea"/>
                          <a:cs typeface="+mn-cs"/>
                        </a:rPr>
                        <a:t> 경우</a:t>
                      </a:r>
                    </a:p>
                    <a:p>
                      <a:pPr fontAlgn="base" latinLnBrk="1"/>
                      <a:r>
                        <a:rPr lang="ko-KR" altLang="en-US" sz="1050" kern="1200" dirty="0">
                          <a:solidFill>
                            <a:schemeClr val="tx1"/>
                          </a:solidFill>
                          <a:effectLst/>
                          <a:latin typeface="+mn-lt"/>
                          <a:ea typeface="+mn-ea"/>
                          <a:cs typeface="+mn-cs"/>
                        </a:rPr>
                        <a:t>② 이해관계인 또는 심사관은 제</a:t>
                      </a:r>
                      <a:r>
                        <a:rPr lang="en-US" altLang="ko-KR" sz="1050" kern="1200" dirty="0">
                          <a:solidFill>
                            <a:schemeClr val="tx1"/>
                          </a:solidFill>
                          <a:effectLst/>
                          <a:latin typeface="+mn-lt"/>
                          <a:ea typeface="+mn-ea"/>
                          <a:cs typeface="+mn-cs"/>
                        </a:rPr>
                        <a:t>92</a:t>
                      </a:r>
                      <a:r>
                        <a:rPr lang="ko-KR" altLang="en-US" sz="1050" kern="1200" dirty="0">
                          <a:solidFill>
                            <a:schemeClr val="tx1"/>
                          </a:solidFill>
                          <a:effectLst/>
                          <a:latin typeface="+mn-lt"/>
                          <a:ea typeface="+mn-ea"/>
                          <a:cs typeface="+mn-cs"/>
                        </a:rPr>
                        <a:t>조의</a:t>
                      </a:r>
                      <a:r>
                        <a:rPr lang="en-US" altLang="ko-KR" sz="1050" kern="1200" dirty="0">
                          <a:solidFill>
                            <a:schemeClr val="tx1"/>
                          </a:solidFill>
                          <a:effectLst/>
                          <a:latin typeface="+mn-lt"/>
                          <a:ea typeface="+mn-ea"/>
                          <a:cs typeface="+mn-cs"/>
                        </a:rPr>
                        <a:t>5</a:t>
                      </a:r>
                      <a:r>
                        <a:rPr lang="ko-KR" altLang="en-US" sz="1050" kern="1200" dirty="0">
                          <a:solidFill>
                            <a:schemeClr val="tx1"/>
                          </a:solidFill>
                          <a:effectLst/>
                          <a:latin typeface="+mn-lt"/>
                          <a:ea typeface="+mn-ea"/>
                          <a:cs typeface="+mn-cs"/>
                        </a:rPr>
                        <a:t>에 따른 특허권의 존속기간의 </a:t>
                      </a:r>
                      <a:r>
                        <a:rPr lang="ko-KR" altLang="en-US" sz="1050" kern="1200" dirty="0" err="1">
                          <a:solidFill>
                            <a:schemeClr val="tx1"/>
                          </a:solidFill>
                          <a:effectLst/>
                          <a:latin typeface="+mn-lt"/>
                          <a:ea typeface="+mn-ea"/>
                          <a:cs typeface="+mn-cs"/>
                        </a:rPr>
                        <a:t>연장등록이</a:t>
                      </a:r>
                      <a:r>
                        <a:rPr lang="ko-KR" altLang="en-US" sz="1050" kern="1200" dirty="0">
                          <a:solidFill>
                            <a:schemeClr val="tx1"/>
                          </a:solidFill>
                          <a:effectLst/>
                          <a:latin typeface="+mn-lt"/>
                          <a:ea typeface="+mn-ea"/>
                          <a:cs typeface="+mn-cs"/>
                        </a:rPr>
                        <a:t> 다음 각 호의 어느 하나에 해당하면 무효심판을 청구할 수 있다</a:t>
                      </a:r>
                      <a:r>
                        <a:rPr lang="en-US" altLang="ko-KR" sz="1050" kern="1200" dirty="0">
                          <a:solidFill>
                            <a:schemeClr val="tx1"/>
                          </a:solidFill>
                          <a:effectLst/>
                          <a:latin typeface="+mn-lt"/>
                          <a:ea typeface="+mn-ea"/>
                          <a:cs typeface="+mn-cs"/>
                        </a:rPr>
                        <a:t>.</a:t>
                      </a:r>
                      <a:endParaRPr lang="ko-KR" altLang="en-US" sz="1050" kern="1200" dirty="0">
                        <a:solidFill>
                          <a:schemeClr val="tx1"/>
                        </a:solidFill>
                        <a:effectLst/>
                        <a:latin typeface="+mn-lt"/>
                        <a:ea typeface="+mn-ea"/>
                        <a:cs typeface="+mn-cs"/>
                      </a:endParaRPr>
                    </a:p>
                    <a:p>
                      <a:pPr fontAlgn="base" latinLnBrk="1"/>
                      <a:r>
                        <a:rPr lang="en-US" altLang="ko-KR" sz="1050" kern="1200" dirty="0">
                          <a:solidFill>
                            <a:schemeClr val="tx1"/>
                          </a:solidFill>
                          <a:effectLst/>
                          <a:latin typeface="+mn-lt"/>
                          <a:ea typeface="+mn-ea"/>
                          <a:cs typeface="+mn-cs"/>
                        </a:rPr>
                        <a:t>1. </a:t>
                      </a:r>
                      <a:r>
                        <a:rPr lang="ko-KR" altLang="en-US" sz="1050" kern="1200" dirty="0" err="1">
                          <a:solidFill>
                            <a:schemeClr val="tx1"/>
                          </a:solidFill>
                          <a:effectLst/>
                          <a:latin typeface="+mn-lt"/>
                          <a:ea typeface="+mn-ea"/>
                          <a:cs typeface="+mn-cs"/>
                        </a:rPr>
                        <a:t>연장등록에</a:t>
                      </a:r>
                      <a:r>
                        <a:rPr lang="ko-KR" altLang="en-US" sz="1050" kern="1200" dirty="0">
                          <a:solidFill>
                            <a:schemeClr val="tx1"/>
                          </a:solidFill>
                          <a:effectLst/>
                          <a:latin typeface="+mn-lt"/>
                          <a:ea typeface="+mn-ea"/>
                          <a:cs typeface="+mn-cs"/>
                        </a:rPr>
                        <a:t> 따라 연장된 기간이 제</a:t>
                      </a:r>
                      <a:r>
                        <a:rPr lang="en-US" altLang="ko-KR" sz="1050" kern="1200" dirty="0">
                          <a:solidFill>
                            <a:schemeClr val="tx1"/>
                          </a:solidFill>
                          <a:effectLst/>
                          <a:latin typeface="+mn-lt"/>
                          <a:ea typeface="+mn-ea"/>
                          <a:cs typeface="+mn-cs"/>
                        </a:rPr>
                        <a:t>92</a:t>
                      </a:r>
                      <a:r>
                        <a:rPr lang="ko-KR" altLang="en-US" sz="1050" kern="1200" dirty="0">
                          <a:solidFill>
                            <a:schemeClr val="tx1"/>
                          </a:solidFill>
                          <a:effectLst/>
                          <a:latin typeface="+mn-lt"/>
                          <a:ea typeface="+mn-ea"/>
                          <a:cs typeface="+mn-cs"/>
                        </a:rPr>
                        <a:t>조의</a:t>
                      </a:r>
                      <a:r>
                        <a:rPr lang="en-US" altLang="ko-KR" sz="1050" kern="1200" dirty="0">
                          <a:solidFill>
                            <a:schemeClr val="tx1"/>
                          </a:solidFill>
                          <a:effectLst/>
                          <a:latin typeface="+mn-lt"/>
                          <a:ea typeface="+mn-ea"/>
                          <a:cs typeface="+mn-cs"/>
                        </a:rPr>
                        <a:t>2</a:t>
                      </a:r>
                      <a:r>
                        <a:rPr lang="ko-KR" altLang="en-US" sz="1050" kern="1200" dirty="0">
                          <a:solidFill>
                            <a:schemeClr val="tx1"/>
                          </a:solidFill>
                          <a:effectLst/>
                          <a:latin typeface="+mn-lt"/>
                          <a:ea typeface="+mn-ea"/>
                          <a:cs typeface="+mn-cs"/>
                        </a:rPr>
                        <a:t>에 따라 인정되는 연장의 기간을 초과한 경우</a:t>
                      </a:r>
                    </a:p>
                    <a:p>
                      <a:pPr fontAlgn="base" latinLnBrk="1"/>
                      <a:r>
                        <a:rPr lang="en-US" altLang="ko-KR" sz="1050" kern="1200" dirty="0">
                          <a:solidFill>
                            <a:schemeClr val="tx1"/>
                          </a:solidFill>
                          <a:effectLst/>
                          <a:latin typeface="+mn-lt"/>
                          <a:ea typeface="+mn-ea"/>
                          <a:cs typeface="+mn-cs"/>
                        </a:rPr>
                        <a:t>2. </a:t>
                      </a:r>
                      <a:r>
                        <a:rPr lang="ko-KR" altLang="en-US" sz="1050" kern="1200" dirty="0">
                          <a:solidFill>
                            <a:schemeClr val="tx1"/>
                          </a:solidFill>
                          <a:effectLst/>
                          <a:latin typeface="+mn-lt"/>
                          <a:ea typeface="+mn-ea"/>
                          <a:cs typeface="+mn-cs"/>
                        </a:rPr>
                        <a:t>해당 특허권자가 아닌 자의 출원에 대하여 </a:t>
                      </a:r>
                      <a:r>
                        <a:rPr lang="ko-KR" altLang="en-US" sz="1050" kern="1200" dirty="0" err="1">
                          <a:solidFill>
                            <a:schemeClr val="tx1"/>
                          </a:solidFill>
                          <a:effectLst/>
                          <a:latin typeface="+mn-lt"/>
                          <a:ea typeface="+mn-ea"/>
                          <a:cs typeface="+mn-cs"/>
                        </a:rPr>
                        <a:t>연장등록이</a:t>
                      </a:r>
                      <a:r>
                        <a:rPr lang="ko-KR" altLang="en-US" sz="1050" kern="1200" dirty="0">
                          <a:solidFill>
                            <a:schemeClr val="tx1"/>
                          </a:solidFill>
                          <a:effectLst/>
                          <a:latin typeface="+mn-lt"/>
                          <a:ea typeface="+mn-ea"/>
                          <a:cs typeface="+mn-cs"/>
                        </a:rPr>
                        <a:t> 된 경우</a:t>
                      </a:r>
                    </a:p>
                    <a:p>
                      <a:pPr fontAlgn="base" latinLnBrk="1"/>
                      <a:r>
                        <a:rPr lang="en-US" altLang="ko-KR" sz="1050" kern="1200" dirty="0">
                          <a:solidFill>
                            <a:schemeClr val="tx1"/>
                          </a:solidFill>
                          <a:effectLst/>
                          <a:latin typeface="+mn-lt"/>
                          <a:ea typeface="+mn-ea"/>
                          <a:cs typeface="+mn-cs"/>
                        </a:rPr>
                        <a:t>3.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92</a:t>
                      </a:r>
                      <a:r>
                        <a:rPr lang="ko-KR" altLang="en-US" sz="1050" kern="1200" dirty="0">
                          <a:solidFill>
                            <a:schemeClr val="tx1"/>
                          </a:solidFill>
                          <a:effectLst/>
                          <a:latin typeface="+mn-lt"/>
                          <a:ea typeface="+mn-ea"/>
                          <a:cs typeface="+mn-cs"/>
                        </a:rPr>
                        <a:t>조의</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항을 위반한 출원에 대하여 </a:t>
                      </a:r>
                      <a:r>
                        <a:rPr lang="ko-KR" altLang="en-US" sz="1050" kern="1200" dirty="0" err="1">
                          <a:solidFill>
                            <a:schemeClr val="tx1"/>
                          </a:solidFill>
                          <a:effectLst/>
                          <a:latin typeface="+mn-lt"/>
                          <a:ea typeface="+mn-ea"/>
                          <a:cs typeface="+mn-cs"/>
                        </a:rPr>
                        <a:t>연장등록이</a:t>
                      </a:r>
                      <a:r>
                        <a:rPr lang="ko-KR" altLang="en-US" sz="1050" kern="1200" dirty="0">
                          <a:solidFill>
                            <a:schemeClr val="tx1"/>
                          </a:solidFill>
                          <a:effectLst/>
                          <a:latin typeface="+mn-lt"/>
                          <a:ea typeface="+mn-ea"/>
                          <a:cs typeface="+mn-cs"/>
                        </a:rPr>
                        <a:t> 된 경우</a:t>
                      </a:r>
                    </a:p>
                    <a:p>
                      <a:pPr fontAlgn="base" latinLnBrk="1"/>
                      <a:r>
                        <a:rPr lang="ko-KR" altLang="en-US" sz="1050" kern="1200" dirty="0">
                          <a:solidFill>
                            <a:schemeClr val="accent1"/>
                          </a:solidFill>
                          <a:effectLst/>
                          <a:latin typeface="+mn-lt"/>
                          <a:ea typeface="+mn-ea"/>
                          <a:cs typeface="+mn-cs"/>
                        </a:rPr>
                        <a:t>③ 제</a:t>
                      </a:r>
                      <a:r>
                        <a:rPr lang="en-US" altLang="ko-KR" sz="1050" kern="1200" dirty="0">
                          <a:solidFill>
                            <a:schemeClr val="accent1"/>
                          </a:solidFill>
                          <a:effectLst/>
                          <a:latin typeface="+mn-lt"/>
                          <a:ea typeface="+mn-ea"/>
                          <a:cs typeface="+mn-cs"/>
                        </a:rPr>
                        <a:t>1</a:t>
                      </a:r>
                      <a:r>
                        <a:rPr lang="ko-KR" altLang="en-US" sz="1050" kern="1200" dirty="0">
                          <a:solidFill>
                            <a:schemeClr val="accent1"/>
                          </a:solidFill>
                          <a:effectLst/>
                          <a:latin typeface="+mn-lt"/>
                          <a:ea typeface="+mn-ea"/>
                          <a:cs typeface="+mn-cs"/>
                        </a:rPr>
                        <a:t>항 및 제</a:t>
                      </a:r>
                      <a:r>
                        <a:rPr lang="en-US" altLang="ko-KR" sz="1050" kern="1200" dirty="0">
                          <a:solidFill>
                            <a:schemeClr val="accent1"/>
                          </a:solidFill>
                          <a:effectLst/>
                          <a:latin typeface="+mn-lt"/>
                          <a:ea typeface="+mn-ea"/>
                          <a:cs typeface="+mn-cs"/>
                        </a:rPr>
                        <a:t>2</a:t>
                      </a:r>
                      <a:r>
                        <a:rPr lang="ko-KR" altLang="en-US" sz="1050" kern="1200" dirty="0">
                          <a:solidFill>
                            <a:schemeClr val="accent1"/>
                          </a:solidFill>
                          <a:effectLst/>
                          <a:latin typeface="+mn-lt"/>
                          <a:ea typeface="+mn-ea"/>
                          <a:cs typeface="+mn-cs"/>
                        </a:rPr>
                        <a:t>항에 따른 심판의 청구에 관하여는 제</a:t>
                      </a:r>
                      <a:r>
                        <a:rPr lang="en-US" altLang="ko-KR" sz="1050" kern="1200" dirty="0">
                          <a:solidFill>
                            <a:schemeClr val="accent1"/>
                          </a:solidFill>
                          <a:effectLst/>
                          <a:latin typeface="+mn-lt"/>
                          <a:ea typeface="+mn-ea"/>
                          <a:cs typeface="+mn-cs"/>
                        </a:rPr>
                        <a:t>133</a:t>
                      </a:r>
                      <a:r>
                        <a:rPr lang="ko-KR" altLang="en-US" sz="1050" kern="1200" dirty="0">
                          <a:solidFill>
                            <a:schemeClr val="accent1"/>
                          </a:solidFill>
                          <a:effectLst/>
                          <a:latin typeface="+mn-lt"/>
                          <a:ea typeface="+mn-ea"/>
                          <a:cs typeface="+mn-cs"/>
                        </a:rPr>
                        <a:t>조제</a:t>
                      </a:r>
                      <a:r>
                        <a:rPr lang="en-US" altLang="ko-KR" sz="1050" kern="1200" dirty="0">
                          <a:solidFill>
                            <a:schemeClr val="accent1"/>
                          </a:solidFill>
                          <a:effectLst/>
                          <a:latin typeface="+mn-lt"/>
                          <a:ea typeface="+mn-ea"/>
                          <a:cs typeface="+mn-cs"/>
                        </a:rPr>
                        <a:t>2</a:t>
                      </a:r>
                      <a:r>
                        <a:rPr lang="ko-KR" altLang="en-US" sz="1050" kern="1200" dirty="0">
                          <a:solidFill>
                            <a:schemeClr val="accent1"/>
                          </a:solidFill>
                          <a:effectLst/>
                          <a:latin typeface="+mn-lt"/>
                          <a:ea typeface="+mn-ea"/>
                          <a:cs typeface="+mn-cs"/>
                        </a:rPr>
                        <a:t>항 및 제</a:t>
                      </a:r>
                      <a:r>
                        <a:rPr lang="en-US" altLang="ko-KR" sz="1050" kern="1200" dirty="0">
                          <a:solidFill>
                            <a:schemeClr val="accent1"/>
                          </a:solidFill>
                          <a:effectLst/>
                          <a:latin typeface="+mn-lt"/>
                          <a:ea typeface="+mn-ea"/>
                          <a:cs typeface="+mn-cs"/>
                        </a:rPr>
                        <a:t>4</a:t>
                      </a:r>
                      <a:r>
                        <a:rPr lang="ko-KR" altLang="en-US" sz="1050" kern="1200" dirty="0">
                          <a:solidFill>
                            <a:schemeClr val="accent1"/>
                          </a:solidFill>
                          <a:effectLst/>
                          <a:latin typeface="+mn-lt"/>
                          <a:ea typeface="+mn-ea"/>
                          <a:cs typeface="+mn-cs"/>
                        </a:rPr>
                        <a:t>항을 준용한다</a:t>
                      </a:r>
                      <a:r>
                        <a:rPr lang="en-US" altLang="ko-KR" sz="1050" kern="1200" dirty="0">
                          <a:solidFill>
                            <a:schemeClr val="accent1"/>
                          </a:solidFill>
                          <a:effectLst/>
                          <a:latin typeface="+mn-lt"/>
                          <a:ea typeface="+mn-ea"/>
                          <a:cs typeface="+mn-cs"/>
                        </a:rPr>
                        <a:t>.</a:t>
                      </a:r>
                      <a:endParaRPr lang="ko-KR" altLang="en-US" sz="1050" kern="1200" dirty="0">
                        <a:solidFill>
                          <a:schemeClr val="accent1"/>
                        </a:solidFill>
                        <a:effectLst/>
                        <a:latin typeface="+mn-lt"/>
                        <a:ea typeface="+mn-ea"/>
                        <a:cs typeface="+mn-cs"/>
                      </a:endParaRPr>
                    </a:p>
                    <a:p>
                      <a:pPr fontAlgn="base" latinLnBrk="1"/>
                      <a:r>
                        <a:rPr lang="ko-KR" altLang="en-US" sz="1050" kern="1200" dirty="0">
                          <a:solidFill>
                            <a:srgbClr val="FF0000"/>
                          </a:solidFill>
                          <a:effectLst/>
                          <a:latin typeface="+mn-lt"/>
                          <a:ea typeface="+mn-ea"/>
                          <a:cs typeface="+mn-cs"/>
                        </a:rPr>
                        <a:t>④ </a:t>
                      </a:r>
                      <a:r>
                        <a:rPr lang="ko-KR" altLang="en-US" sz="1050" kern="1200" dirty="0" err="1">
                          <a:solidFill>
                            <a:srgbClr val="FF0000"/>
                          </a:solidFill>
                          <a:effectLst/>
                          <a:latin typeface="+mn-lt"/>
                          <a:ea typeface="+mn-ea"/>
                          <a:cs typeface="+mn-cs"/>
                        </a:rPr>
                        <a:t>연장등록을</a:t>
                      </a:r>
                      <a:r>
                        <a:rPr lang="ko-KR" altLang="en-US" sz="1050" kern="1200" dirty="0">
                          <a:solidFill>
                            <a:srgbClr val="FF0000"/>
                          </a:solidFill>
                          <a:effectLst/>
                          <a:latin typeface="+mn-lt"/>
                          <a:ea typeface="+mn-ea"/>
                          <a:cs typeface="+mn-cs"/>
                        </a:rPr>
                        <a:t> 무효로 한다는 </a:t>
                      </a:r>
                      <a:r>
                        <a:rPr lang="ko-KR" altLang="en-US" sz="1050" kern="1200" dirty="0" err="1">
                          <a:solidFill>
                            <a:srgbClr val="FF0000"/>
                          </a:solidFill>
                          <a:effectLst/>
                          <a:latin typeface="+mn-lt"/>
                          <a:ea typeface="+mn-ea"/>
                          <a:cs typeface="+mn-cs"/>
                        </a:rPr>
                        <a:t>심결이</a:t>
                      </a:r>
                      <a:r>
                        <a:rPr lang="ko-KR" altLang="en-US" sz="1050" kern="1200" dirty="0">
                          <a:solidFill>
                            <a:srgbClr val="FF0000"/>
                          </a:solidFill>
                          <a:effectLst/>
                          <a:latin typeface="+mn-lt"/>
                          <a:ea typeface="+mn-ea"/>
                          <a:cs typeface="+mn-cs"/>
                        </a:rPr>
                        <a:t> 확정된 경우에는 그 </a:t>
                      </a:r>
                      <a:r>
                        <a:rPr lang="ko-KR" altLang="en-US" sz="1050" kern="1200" dirty="0" err="1">
                          <a:solidFill>
                            <a:srgbClr val="FF0000"/>
                          </a:solidFill>
                          <a:effectLst/>
                          <a:latin typeface="+mn-lt"/>
                          <a:ea typeface="+mn-ea"/>
                          <a:cs typeface="+mn-cs"/>
                        </a:rPr>
                        <a:t>연장등록에</a:t>
                      </a:r>
                      <a:r>
                        <a:rPr lang="ko-KR" altLang="en-US" sz="1050" kern="1200" dirty="0">
                          <a:solidFill>
                            <a:srgbClr val="FF0000"/>
                          </a:solidFill>
                          <a:effectLst/>
                          <a:latin typeface="+mn-lt"/>
                          <a:ea typeface="+mn-ea"/>
                          <a:cs typeface="+mn-cs"/>
                        </a:rPr>
                        <a:t> 따른 존속기간의 연장은 처음부터 없었던 것으로 본다</a:t>
                      </a:r>
                      <a:r>
                        <a:rPr lang="en-US" altLang="ko-KR" sz="1050" kern="1200" dirty="0">
                          <a:solidFill>
                            <a:srgbClr val="FF0000"/>
                          </a:solidFill>
                          <a:effectLst/>
                          <a:latin typeface="+mn-lt"/>
                          <a:ea typeface="+mn-ea"/>
                          <a:cs typeface="+mn-cs"/>
                        </a:rPr>
                        <a:t>. </a:t>
                      </a:r>
                      <a:r>
                        <a:rPr lang="ko-KR" altLang="en-US" sz="1050" kern="1200" dirty="0">
                          <a:solidFill>
                            <a:srgbClr val="FF0000"/>
                          </a:solidFill>
                          <a:effectLst/>
                          <a:latin typeface="+mn-lt"/>
                          <a:ea typeface="+mn-ea"/>
                          <a:cs typeface="+mn-cs"/>
                        </a:rPr>
                        <a:t>다만</a:t>
                      </a:r>
                      <a:r>
                        <a:rPr lang="en-US" altLang="ko-KR" sz="1050" kern="1200" dirty="0">
                          <a:solidFill>
                            <a:srgbClr val="FF0000"/>
                          </a:solidFill>
                          <a:effectLst/>
                          <a:latin typeface="+mn-lt"/>
                          <a:ea typeface="+mn-ea"/>
                          <a:cs typeface="+mn-cs"/>
                        </a:rPr>
                        <a:t>, </a:t>
                      </a:r>
                      <a:r>
                        <a:rPr lang="ko-KR" altLang="en-US" sz="1050" kern="1200" dirty="0" err="1">
                          <a:solidFill>
                            <a:srgbClr val="FF0000"/>
                          </a:solidFill>
                          <a:effectLst/>
                          <a:latin typeface="+mn-lt"/>
                          <a:ea typeface="+mn-ea"/>
                          <a:cs typeface="+mn-cs"/>
                        </a:rPr>
                        <a:t>연장등록이</a:t>
                      </a:r>
                      <a:r>
                        <a:rPr lang="ko-KR" altLang="en-US" sz="1050" kern="1200" dirty="0">
                          <a:solidFill>
                            <a:srgbClr val="FF0000"/>
                          </a:solidFill>
                          <a:effectLst/>
                          <a:latin typeface="+mn-lt"/>
                          <a:ea typeface="+mn-ea"/>
                          <a:cs typeface="+mn-cs"/>
                        </a:rPr>
                        <a:t> 다음 각 호의 어느 하나에 해당하는 경우에는 해당 기간에 대해서만 연장이 없었던 것으로 본다</a:t>
                      </a:r>
                      <a:r>
                        <a:rPr lang="en-US" altLang="ko-KR" sz="1050" kern="1200" dirty="0">
                          <a:solidFill>
                            <a:srgbClr val="FF0000"/>
                          </a:solidFill>
                          <a:effectLst/>
                          <a:latin typeface="+mn-lt"/>
                          <a:ea typeface="+mn-ea"/>
                          <a:cs typeface="+mn-cs"/>
                        </a:rPr>
                        <a:t>.</a:t>
                      </a:r>
                      <a:endParaRPr lang="ko-KR" altLang="en-US" sz="1050" kern="1200" dirty="0">
                        <a:solidFill>
                          <a:srgbClr val="FF0000"/>
                        </a:solidFill>
                        <a:effectLst/>
                        <a:latin typeface="+mn-lt"/>
                        <a:ea typeface="+mn-ea"/>
                        <a:cs typeface="+mn-cs"/>
                      </a:endParaRPr>
                    </a:p>
                    <a:p>
                      <a:pPr fontAlgn="base" latinLnBrk="1"/>
                      <a:r>
                        <a:rPr lang="en-US" altLang="ko-KR" sz="1050" kern="1200" dirty="0">
                          <a:solidFill>
                            <a:srgbClr val="FF0000"/>
                          </a:solidFill>
                          <a:effectLst/>
                          <a:latin typeface="+mn-lt"/>
                          <a:ea typeface="+mn-ea"/>
                          <a:cs typeface="+mn-cs"/>
                        </a:rPr>
                        <a:t>1. </a:t>
                      </a:r>
                      <a:r>
                        <a:rPr lang="ko-KR" altLang="en-US" sz="1050" kern="1200" dirty="0">
                          <a:solidFill>
                            <a:srgbClr val="FF0000"/>
                          </a:solidFill>
                          <a:effectLst/>
                          <a:latin typeface="+mn-lt"/>
                          <a:ea typeface="+mn-ea"/>
                          <a:cs typeface="+mn-cs"/>
                        </a:rPr>
                        <a:t>연장등록이 제</a:t>
                      </a:r>
                      <a:r>
                        <a:rPr lang="en-US" altLang="ko-KR" sz="1050" kern="1200" dirty="0">
                          <a:solidFill>
                            <a:srgbClr val="FF0000"/>
                          </a:solidFill>
                          <a:effectLst/>
                          <a:latin typeface="+mn-lt"/>
                          <a:ea typeface="+mn-ea"/>
                          <a:cs typeface="+mn-cs"/>
                        </a:rPr>
                        <a:t>1</a:t>
                      </a:r>
                      <a:r>
                        <a:rPr lang="ko-KR" altLang="en-US" sz="1050" kern="1200" dirty="0" err="1">
                          <a:solidFill>
                            <a:srgbClr val="FF0000"/>
                          </a:solidFill>
                          <a:effectLst/>
                          <a:latin typeface="+mn-lt"/>
                          <a:ea typeface="+mn-ea"/>
                          <a:cs typeface="+mn-cs"/>
                        </a:rPr>
                        <a:t>항제</a:t>
                      </a:r>
                      <a:r>
                        <a:rPr lang="en-US" altLang="ko-KR" sz="1050" kern="1200" dirty="0">
                          <a:solidFill>
                            <a:srgbClr val="FF0000"/>
                          </a:solidFill>
                          <a:effectLst/>
                          <a:latin typeface="+mn-lt"/>
                          <a:ea typeface="+mn-ea"/>
                          <a:cs typeface="+mn-cs"/>
                        </a:rPr>
                        <a:t>3</a:t>
                      </a:r>
                      <a:r>
                        <a:rPr lang="ko-KR" altLang="en-US" sz="1050" kern="1200" dirty="0">
                          <a:solidFill>
                            <a:srgbClr val="FF0000"/>
                          </a:solidFill>
                          <a:effectLst/>
                          <a:latin typeface="+mn-lt"/>
                          <a:ea typeface="+mn-ea"/>
                          <a:cs typeface="+mn-cs"/>
                        </a:rPr>
                        <a:t>호에 해당하여 무효로 된 경우</a:t>
                      </a:r>
                      <a:r>
                        <a:rPr lang="en-US" altLang="ko-KR" sz="1050" kern="1200" dirty="0">
                          <a:solidFill>
                            <a:srgbClr val="FF0000"/>
                          </a:solidFill>
                          <a:effectLst/>
                          <a:latin typeface="+mn-lt"/>
                          <a:ea typeface="+mn-ea"/>
                          <a:cs typeface="+mn-cs"/>
                        </a:rPr>
                        <a:t>: </a:t>
                      </a:r>
                      <a:r>
                        <a:rPr lang="ko-KR" altLang="en-US" sz="1050" kern="1200" dirty="0">
                          <a:solidFill>
                            <a:srgbClr val="FF0000"/>
                          </a:solidFill>
                          <a:effectLst/>
                          <a:latin typeface="+mn-lt"/>
                          <a:ea typeface="+mn-ea"/>
                          <a:cs typeface="+mn-cs"/>
                        </a:rPr>
                        <a:t>제</a:t>
                      </a:r>
                      <a:r>
                        <a:rPr lang="en-US" altLang="ko-KR" sz="1050" kern="1200" dirty="0">
                          <a:solidFill>
                            <a:srgbClr val="FF0000"/>
                          </a:solidFill>
                          <a:effectLst/>
                          <a:latin typeface="+mn-lt"/>
                          <a:ea typeface="+mn-ea"/>
                          <a:cs typeface="+mn-cs"/>
                        </a:rPr>
                        <a:t>89</a:t>
                      </a:r>
                      <a:r>
                        <a:rPr lang="ko-KR" altLang="en-US" sz="1050" kern="1200" dirty="0">
                          <a:solidFill>
                            <a:srgbClr val="FF0000"/>
                          </a:solidFill>
                          <a:effectLst/>
                          <a:latin typeface="+mn-lt"/>
                          <a:ea typeface="+mn-ea"/>
                          <a:cs typeface="+mn-cs"/>
                        </a:rPr>
                        <a:t>조에 따라 인정되는 연장의 기간을 초과하여 연장된 기간</a:t>
                      </a:r>
                    </a:p>
                    <a:p>
                      <a:pPr fontAlgn="base" latinLnBrk="1"/>
                      <a:r>
                        <a:rPr lang="en-US" altLang="ko-KR" sz="1050" kern="1200" dirty="0">
                          <a:solidFill>
                            <a:srgbClr val="FF0000"/>
                          </a:solidFill>
                          <a:effectLst/>
                          <a:latin typeface="+mn-lt"/>
                          <a:ea typeface="+mn-ea"/>
                          <a:cs typeface="+mn-cs"/>
                        </a:rPr>
                        <a:t>2. </a:t>
                      </a:r>
                      <a:r>
                        <a:rPr lang="ko-KR" altLang="en-US" sz="1050" kern="1200" dirty="0" err="1">
                          <a:solidFill>
                            <a:srgbClr val="FF0000"/>
                          </a:solidFill>
                          <a:effectLst/>
                          <a:latin typeface="+mn-lt"/>
                          <a:ea typeface="+mn-ea"/>
                          <a:cs typeface="+mn-cs"/>
                        </a:rPr>
                        <a:t>연장등록이</a:t>
                      </a:r>
                      <a:r>
                        <a:rPr lang="ko-KR" altLang="en-US" sz="1050" kern="1200" dirty="0">
                          <a:solidFill>
                            <a:srgbClr val="FF0000"/>
                          </a:solidFill>
                          <a:effectLst/>
                          <a:latin typeface="+mn-lt"/>
                          <a:ea typeface="+mn-ea"/>
                          <a:cs typeface="+mn-cs"/>
                        </a:rPr>
                        <a:t> 제</a:t>
                      </a:r>
                      <a:r>
                        <a:rPr lang="en-US" altLang="ko-KR" sz="1050" kern="1200" dirty="0">
                          <a:solidFill>
                            <a:srgbClr val="FF0000"/>
                          </a:solidFill>
                          <a:effectLst/>
                          <a:latin typeface="+mn-lt"/>
                          <a:ea typeface="+mn-ea"/>
                          <a:cs typeface="+mn-cs"/>
                        </a:rPr>
                        <a:t>2</a:t>
                      </a:r>
                      <a:r>
                        <a:rPr lang="ko-KR" altLang="en-US" sz="1050" kern="1200" dirty="0" err="1">
                          <a:solidFill>
                            <a:srgbClr val="FF0000"/>
                          </a:solidFill>
                          <a:effectLst/>
                          <a:latin typeface="+mn-lt"/>
                          <a:ea typeface="+mn-ea"/>
                          <a:cs typeface="+mn-cs"/>
                        </a:rPr>
                        <a:t>항제</a:t>
                      </a:r>
                      <a:r>
                        <a:rPr lang="en-US" altLang="ko-KR" sz="1050" kern="1200" dirty="0">
                          <a:solidFill>
                            <a:srgbClr val="FF0000"/>
                          </a:solidFill>
                          <a:effectLst/>
                          <a:latin typeface="+mn-lt"/>
                          <a:ea typeface="+mn-ea"/>
                          <a:cs typeface="+mn-cs"/>
                        </a:rPr>
                        <a:t>1</a:t>
                      </a:r>
                      <a:r>
                        <a:rPr lang="ko-KR" altLang="en-US" sz="1050" kern="1200" dirty="0">
                          <a:solidFill>
                            <a:srgbClr val="FF0000"/>
                          </a:solidFill>
                          <a:effectLst/>
                          <a:latin typeface="+mn-lt"/>
                          <a:ea typeface="+mn-ea"/>
                          <a:cs typeface="+mn-cs"/>
                        </a:rPr>
                        <a:t>호에 해당하여 무효로 된 경우</a:t>
                      </a:r>
                      <a:r>
                        <a:rPr lang="en-US" altLang="ko-KR" sz="1050" kern="1200" dirty="0">
                          <a:solidFill>
                            <a:srgbClr val="FF0000"/>
                          </a:solidFill>
                          <a:effectLst/>
                          <a:latin typeface="+mn-lt"/>
                          <a:ea typeface="+mn-ea"/>
                          <a:cs typeface="+mn-cs"/>
                        </a:rPr>
                        <a:t>: </a:t>
                      </a:r>
                      <a:r>
                        <a:rPr lang="ko-KR" altLang="en-US" sz="1050" kern="1200" dirty="0">
                          <a:solidFill>
                            <a:srgbClr val="FF0000"/>
                          </a:solidFill>
                          <a:effectLst/>
                          <a:latin typeface="+mn-lt"/>
                          <a:ea typeface="+mn-ea"/>
                          <a:cs typeface="+mn-cs"/>
                        </a:rPr>
                        <a:t>제</a:t>
                      </a:r>
                      <a:r>
                        <a:rPr lang="en-US" altLang="ko-KR" sz="1050" kern="1200" dirty="0">
                          <a:solidFill>
                            <a:srgbClr val="FF0000"/>
                          </a:solidFill>
                          <a:effectLst/>
                          <a:latin typeface="+mn-lt"/>
                          <a:ea typeface="+mn-ea"/>
                          <a:cs typeface="+mn-cs"/>
                        </a:rPr>
                        <a:t>92</a:t>
                      </a:r>
                      <a:r>
                        <a:rPr lang="ko-KR" altLang="en-US" sz="1050" kern="1200" dirty="0">
                          <a:solidFill>
                            <a:srgbClr val="FF0000"/>
                          </a:solidFill>
                          <a:effectLst/>
                          <a:latin typeface="+mn-lt"/>
                          <a:ea typeface="+mn-ea"/>
                          <a:cs typeface="+mn-cs"/>
                        </a:rPr>
                        <a:t>조의</a:t>
                      </a:r>
                      <a:r>
                        <a:rPr lang="en-US" altLang="ko-KR" sz="1050" kern="1200" dirty="0">
                          <a:solidFill>
                            <a:srgbClr val="FF0000"/>
                          </a:solidFill>
                          <a:effectLst/>
                          <a:latin typeface="+mn-lt"/>
                          <a:ea typeface="+mn-ea"/>
                          <a:cs typeface="+mn-cs"/>
                        </a:rPr>
                        <a:t>2</a:t>
                      </a:r>
                      <a:r>
                        <a:rPr lang="ko-KR" altLang="en-US" sz="1050" kern="1200" dirty="0">
                          <a:solidFill>
                            <a:srgbClr val="FF0000"/>
                          </a:solidFill>
                          <a:effectLst/>
                          <a:latin typeface="+mn-lt"/>
                          <a:ea typeface="+mn-ea"/>
                          <a:cs typeface="+mn-cs"/>
                        </a:rPr>
                        <a:t>에 따라 인정되는 연장의 기간을 초과하여 연장된 기간</a:t>
                      </a:r>
                      <a:endParaRPr lang="en-US" altLang="ko-KR" sz="1050" kern="1200" dirty="0">
                        <a:solidFill>
                          <a:srgbClr val="FF0000"/>
                        </a:solidFill>
                        <a:effectLst/>
                        <a:latin typeface="+mn-lt"/>
                        <a:ea typeface="+mn-ea"/>
                        <a:cs typeface="+mn-cs"/>
                      </a:endParaRPr>
                    </a:p>
                    <a:p>
                      <a:pPr fontAlgn="base" latinLnBrk="1"/>
                      <a:r>
                        <a:rPr lang="ko-KR" altLang="en-US" sz="1050" kern="1200" dirty="0">
                          <a:solidFill>
                            <a:srgbClr val="FF0000"/>
                          </a:solidFill>
                          <a:effectLst/>
                          <a:latin typeface="+mn-lt"/>
                          <a:ea typeface="+mn-ea"/>
                          <a:cs typeface="+mn-cs"/>
                        </a:rPr>
                        <a:t>⑤ 연장등록이 제</a:t>
                      </a:r>
                      <a:r>
                        <a:rPr lang="en-US" altLang="ko-KR" sz="1050" kern="1200" dirty="0">
                          <a:solidFill>
                            <a:srgbClr val="FF0000"/>
                          </a:solidFill>
                          <a:effectLst/>
                          <a:latin typeface="+mn-lt"/>
                          <a:ea typeface="+mn-ea"/>
                          <a:cs typeface="+mn-cs"/>
                        </a:rPr>
                        <a:t>1</a:t>
                      </a:r>
                      <a:r>
                        <a:rPr lang="ko-KR" altLang="en-US" sz="1050" kern="1200" dirty="0" err="1">
                          <a:solidFill>
                            <a:srgbClr val="FF0000"/>
                          </a:solidFill>
                          <a:effectLst/>
                          <a:latin typeface="+mn-lt"/>
                          <a:ea typeface="+mn-ea"/>
                          <a:cs typeface="+mn-cs"/>
                        </a:rPr>
                        <a:t>항제</a:t>
                      </a:r>
                      <a:r>
                        <a:rPr lang="en-US" altLang="ko-KR" sz="1050" kern="1200" dirty="0">
                          <a:solidFill>
                            <a:srgbClr val="FF0000"/>
                          </a:solidFill>
                          <a:effectLst/>
                          <a:latin typeface="+mn-lt"/>
                          <a:ea typeface="+mn-ea"/>
                          <a:cs typeface="+mn-cs"/>
                        </a:rPr>
                        <a:t>6</a:t>
                      </a:r>
                      <a:r>
                        <a:rPr lang="ko-KR" altLang="en-US" sz="1050" kern="1200" dirty="0">
                          <a:solidFill>
                            <a:srgbClr val="FF0000"/>
                          </a:solidFill>
                          <a:effectLst/>
                          <a:latin typeface="+mn-lt"/>
                          <a:ea typeface="+mn-ea"/>
                          <a:cs typeface="+mn-cs"/>
                        </a:rPr>
                        <a:t>호에 해당하여 무효로 한다는 </a:t>
                      </a:r>
                      <a:r>
                        <a:rPr lang="ko-KR" altLang="en-US" sz="1050" kern="1200" dirty="0" err="1">
                          <a:solidFill>
                            <a:srgbClr val="FF0000"/>
                          </a:solidFill>
                          <a:effectLst/>
                          <a:latin typeface="+mn-lt"/>
                          <a:ea typeface="+mn-ea"/>
                          <a:cs typeface="+mn-cs"/>
                        </a:rPr>
                        <a:t>심결이</a:t>
                      </a:r>
                      <a:r>
                        <a:rPr lang="ko-KR" altLang="en-US" sz="1050" kern="1200" dirty="0">
                          <a:solidFill>
                            <a:srgbClr val="FF0000"/>
                          </a:solidFill>
                          <a:effectLst/>
                          <a:latin typeface="+mn-lt"/>
                          <a:ea typeface="+mn-ea"/>
                          <a:cs typeface="+mn-cs"/>
                        </a:rPr>
                        <a:t> 확정된 경우에는 그 특허권의 존속기간의 연장등록출원은 처음부터 없었던 것으로 본다</a:t>
                      </a:r>
                      <a:r>
                        <a:rPr lang="en-US" altLang="ko-KR" sz="1050" kern="1200" dirty="0">
                          <a:solidFill>
                            <a:srgbClr val="FF0000"/>
                          </a:solidFill>
                          <a:effectLst/>
                          <a:latin typeface="+mn-lt"/>
                          <a:ea typeface="+mn-ea"/>
                          <a:cs typeface="+mn-cs"/>
                        </a:rPr>
                        <a:t>. </a:t>
                      </a:r>
                    </a:p>
                  </a:txBody>
                  <a:tcPr/>
                </a:tc>
                <a:tc>
                  <a:txBody>
                    <a:bodyPr/>
                    <a:lstStyle/>
                    <a:p>
                      <a:pPr fontAlgn="base" latinLnBrk="0"/>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137</a:t>
                      </a:r>
                      <a:r>
                        <a:rPr lang="ko-KR" altLang="en-US" sz="1050" kern="1200" dirty="0">
                          <a:solidFill>
                            <a:schemeClr val="tx1"/>
                          </a:solidFill>
                          <a:effectLst/>
                          <a:latin typeface="+mn-lt"/>
                          <a:ea typeface="+mn-ea"/>
                          <a:cs typeface="+mn-cs"/>
                        </a:rPr>
                        <a:t>조</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정정의 무효심판</a:t>
                      </a:r>
                      <a:r>
                        <a:rPr lang="en-US" altLang="ko-KR" sz="1050" kern="1200" dirty="0">
                          <a:solidFill>
                            <a:schemeClr val="tx1"/>
                          </a:solidFill>
                          <a:effectLst/>
                          <a:latin typeface="+mn-lt"/>
                          <a:ea typeface="+mn-ea"/>
                          <a:cs typeface="+mn-cs"/>
                        </a:rPr>
                        <a:t>】</a:t>
                      </a:r>
                      <a:endParaRPr lang="ko-KR" altLang="en-US" sz="1050" kern="1200" dirty="0">
                        <a:solidFill>
                          <a:schemeClr val="tx1"/>
                        </a:solidFill>
                        <a:effectLst/>
                        <a:latin typeface="+mn-lt"/>
                        <a:ea typeface="+mn-ea"/>
                        <a:cs typeface="+mn-cs"/>
                      </a:endParaRPr>
                    </a:p>
                    <a:p>
                      <a:pPr fontAlgn="base" latinLnBrk="1"/>
                      <a:r>
                        <a:rPr lang="ko-KR" altLang="en-US" sz="1050" kern="1200" dirty="0">
                          <a:solidFill>
                            <a:schemeClr val="tx1"/>
                          </a:solidFill>
                          <a:effectLst/>
                          <a:latin typeface="+mn-lt"/>
                          <a:ea typeface="+mn-ea"/>
                          <a:cs typeface="+mn-cs"/>
                        </a:rPr>
                        <a:t>① 이해관계인 또는 심사관은 제</a:t>
                      </a:r>
                      <a:r>
                        <a:rPr lang="en-US" altLang="ko-KR" sz="1050" kern="1200" dirty="0">
                          <a:solidFill>
                            <a:schemeClr val="tx1"/>
                          </a:solidFill>
                          <a:effectLst/>
                          <a:latin typeface="+mn-lt"/>
                          <a:ea typeface="+mn-ea"/>
                          <a:cs typeface="+mn-cs"/>
                        </a:rPr>
                        <a:t>132</a:t>
                      </a:r>
                      <a:r>
                        <a:rPr lang="ko-KR" altLang="en-US" sz="1050" kern="1200" dirty="0">
                          <a:solidFill>
                            <a:schemeClr val="tx1"/>
                          </a:solidFill>
                          <a:effectLst/>
                          <a:latin typeface="+mn-lt"/>
                          <a:ea typeface="+mn-ea"/>
                          <a:cs typeface="+mn-cs"/>
                        </a:rPr>
                        <a:t>조의</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133</a:t>
                      </a:r>
                      <a:r>
                        <a:rPr lang="ko-KR" altLang="en-US" sz="1050" kern="1200" dirty="0">
                          <a:solidFill>
                            <a:schemeClr val="tx1"/>
                          </a:solidFill>
                          <a:effectLst/>
                          <a:latin typeface="+mn-lt"/>
                          <a:ea typeface="+mn-ea"/>
                          <a:cs typeface="+mn-cs"/>
                        </a:rPr>
                        <a:t>조의</a:t>
                      </a:r>
                      <a:r>
                        <a:rPr lang="en-US" altLang="ko-KR" sz="1050" kern="1200" dirty="0">
                          <a:solidFill>
                            <a:schemeClr val="tx1"/>
                          </a:solidFill>
                          <a:effectLst/>
                          <a:latin typeface="+mn-lt"/>
                          <a:ea typeface="+mn-ea"/>
                          <a:cs typeface="+mn-cs"/>
                        </a:rPr>
                        <a:t>2</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136</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 또는 이 조 제</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항에 따른 특허발명의 명세서 또는 도면에 대한 정정이 다음 각 호의 어느 하나의 규정을 위반한 경우에는 정정의 무효심판을 청구할 수 있다</a:t>
                      </a:r>
                      <a:r>
                        <a:rPr lang="en-US" altLang="ko-KR" sz="1050" kern="1200" dirty="0">
                          <a:solidFill>
                            <a:schemeClr val="tx1"/>
                          </a:solidFill>
                          <a:effectLst/>
                          <a:latin typeface="+mn-lt"/>
                          <a:ea typeface="+mn-ea"/>
                          <a:cs typeface="+mn-cs"/>
                        </a:rPr>
                        <a:t>. </a:t>
                      </a:r>
                    </a:p>
                    <a:p>
                      <a:pPr fontAlgn="base" latinLnBrk="1"/>
                      <a:r>
                        <a:rPr lang="en-US" altLang="ko-KR" sz="1050" kern="1200" dirty="0">
                          <a:solidFill>
                            <a:schemeClr val="tx1"/>
                          </a:solidFill>
                          <a:effectLst/>
                          <a:latin typeface="+mn-lt"/>
                          <a:ea typeface="+mn-ea"/>
                          <a:cs typeface="+mn-cs"/>
                        </a:rPr>
                        <a:t>1.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136</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 각 호의 어느 하나의 규정</a:t>
                      </a:r>
                    </a:p>
                    <a:p>
                      <a:pPr fontAlgn="base" latinLnBrk="1"/>
                      <a:r>
                        <a:rPr lang="en-US" altLang="ko-KR" sz="1050" kern="1200" dirty="0">
                          <a:solidFill>
                            <a:schemeClr val="tx1"/>
                          </a:solidFill>
                          <a:effectLst/>
                          <a:latin typeface="+mn-lt"/>
                          <a:ea typeface="+mn-ea"/>
                          <a:cs typeface="+mn-cs"/>
                        </a:rPr>
                        <a:t>2. </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136</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항부터 제</a:t>
                      </a:r>
                      <a:r>
                        <a:rPr lang="en-US" altLang="ko-KR" sz="1050" kern="1200" dirty="0">
                          <a:solidFill>
                            <a:schemeClr val="tx1"/>
                          </a:solidFill>
                          <a:effectLst/>
                          <a:latin typeface="+mn-lt"/>
                          <a:ea typeface="+mn-ea"/>
                          <a:cs typeface="+mn-cs"/>
                        </a:rPr>
                        <a:t>5</a:t>
                      </a:r>
                      <a:r>
                        <a:rPr lang="ko-KR" altLang="en-US" sz="1050" kern="1200" dirty="0">
                          <a:solidFill>
                            <a:schemeClr val="tx1"/>
                          </a:solidFill>
                          <a:effectLst/>
                          <a:latin typeface="+mn-lt"/>
                          <a:ea typeface="+mn-ea"/>
                          <a:cs typeface="+mn-cs"/>
                        </a:rPr>
                        <a:t>항까지의 규정</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132</a:t>
                      </a:r>
                      <a:r>
                        <a:rPr lang="ko-KR" altLang="en-US" sz="1050" kern="1200" dirty="0">
                          <a:solidFill>
                            <a:schemeClr val="tx1"/>
                          </a:solidFill>
                          <a:effectLst/>
                          <a:latin typeface="+mn-lt"/>
                          <a:ea typeface="+mn-ea"/>
                          <a:cs typeface="+mn-cs"/>
                        </a:rPr>
                        <a:t>조의</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항 또는 제</a:t>
                      </a:r>
                      <a:r>
                        <a:rPr lang="en-US" altLang="ko-KR" sz="1050" kern="1200" dirty="0">
                          <a:solidFill>
                            <a:schemeClr val="tx1"/>
                          </a:solidFill>
                          <a:effectLst/>
                          <a:latin typeface="+mn-lt"/>
                          <a:ea typeface="+mn-ea"/>
                          <a:cs typeface="+mn-cs"/>
                        </a:rPr>
                        <a:t>133</a:t>
                      </a:r>
                      <a:r>
                        <a:rPr lang="ko-KR" altLang="en-US" sz="1050" kern="1200" dirty="0">
                          <a:solidFill>
                            <a:schemeClr val="tx1"/>
                          </a:solidFill>
                          <a:effectLst/>
                          <a:latin typeface="+mn-lt"/>
                          <a:ea typeface="+mn-ea"/>
                          <a:cs typeface="+mn-cs"/>
                        </a:rPr>
                        <a:t>조의</a:t>
                      </a:r>
                      <a:r>
                        <a:rPr lang="en-US" altLang="ko-KR" sz="1050" kern="1200" dirty="0">
                          <a:solidFill>
                            <a:schemeClr val="tx1"/>
                          </a:solidFill>
                          <a:effectLst/>
                          <a:latin typeface="+mn-lt"/>
                          <a:ea typeface="+mn-ea"/>
                          <a:cs typeface="+mn-cs"/>
                        </a:rPr>
                        <a:t>2</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4</a:t>
                      </a:r>
                      <a:r>
                        <a:rPr lang="ko-KR" altLang="en-US" sz="1050" kern="1200" dirty="0">
                          <a:solidFill>
                            <a:schemeClr val="tx1"/>
                          </a:solidFill>
                          <a:effectLst/>
                          <a:latin typeface="+mn-lt"/>
                          <a:ea typeface="+mn-ea"/>
                          <a:cs typeface="+mn-cs"/>
                        </a:rPr>
                        <a:t>항에 따라 준용되는 경우를 포함한다</a:t>
                      </a:r>
                      <a:r>
                        <a:rPr lang="en-US" altLang="ko-KR" sz="1050" kern="1200" dirty="0">
                          <a:solidFill>
                            <a:schemeClr val="tx1"/>
                          </a:solidFill>
                          <a:effectLst/>
                          <a:latin typeface="+mn-lt"/>
                          <a:ea typeface="+mn-ea"/>
                          <a:cs typeface="+mn-cs"/>
                        </a:rPr>
                        <a:t>)</a:t>
                      </a:r>
                      <a:endParaRPr lang="ko-KR" altLang="en-US" sz="1050" kern="1200" dirty="0">
                        <a:solidFill>
                          <a:schemeClr val="tx1"/>
                        </a:solidFill>
                        <a:effectLst/>
                        <a:latin typeface="+mn-lt"/>
                        <a:ea typeface="+mn-ea"/>
                        <a:cs typeface="+mn-cs"/>
                      </a:endParaRPr>
                    </a:p>
                    <a:p>
                      <a:pPr fontAlgn="base" latinLnBrk="1"/>
                      <a:r>
                        <a:rPr lang="ko-KR" altLang="en-US" sz="1050" kern="1200" dirty="0">
                          <a:solidFill>
                            <a:schemeClr val="accent1"/>
                          </a:solidFill>
                          <a:effectLst/>
                          <a:latin typeface="+mn-lt"/>
                          <a:ea typeface="+mn-ea"/>
                          <a:cs typeface="+mn-cs"/>
                        </a:rPr>
                        <a:t>② 제</a:t>
                      </a:r>
                      <a:r>
                        <a:rPr lang="en-US" altLang="ko-KR" sz="1050" kern="1200" dirty="0">
                          <a:solidFill>
                            <a:schemeClr val="accent1"/>
                          </a:solidFill>
                          <a:effectLst/>
                          <a:latin typeface="+mn-lt"/>
                          <a:ea typeface="+mn-ea"/>
                          <a:cs typeface="+mn-cs"/>
                        </a:rPr>
                        <a:t>1</a:t>
                      </a:r>
                      <a:r>
                        <a:rPr lang="ko-KR" altLang="en-US" sz="1050" kern="1200" dirty="0">
                          <a:solidFill>
                            <a:schemeClr val="accent1"/>
                          </a:solidFill>
                          <a:effectLst/>
                          <a:latin typeface="+mn-lt"/>
                          <a:ea typeface="+mn-ea"/>
                          <a:cs typeface="+mn-cs"/>
                        </a:rPr>
                        <a:t>항에 따른 심판청구에 관하여는 제</a:t>
                      </a:r>
                      <a:r>
                        <a:rPr lang="en-US" altLang="ko-KR" sz="1050" kern="1200" dirty="0">
                          <a:solidFill>
                            <a:schemeClr val="accent1"/>
                          </a:solidFill>
                          <a:effectLst/>
                          <a:latin typeface="+mn-lt"/>
                          <a:ea typeface="+mn-ea"/>
                          <a:cs typeface="+mn-cs"/>
                        </a:rPr>
                        <a:t>133</a:t>
                      </a:r>
                      <a:r>
                        <a:rPr lang="ko-KR" altLang="en-US" sz="1050" kern="1200" dirty="0">
                          <a:solidFill>
                            <a:schemeClr val="accent1"/>
                          </a:solidFill>
                          <a:effectLst/>
                          <a:latin typeface="+mn-lt"/>
                          <a:ea typeface="+mn-ea"/>
                          <a:cs typeface="+mn-cs"/>
                        </a:rPr>
                        <a:t>조제</a:t>
                      </a:r>
                      <a:r>
                        <a:rPr lang="en-US" altLang="ko-KR" sz="1050" kern="1200" dirty="0">
                          <a:solidFill>
                            <a:schemeClr val="accent1"/>
                          </a:solidFill>
                          <a:effectLst/>
                          <a:latin typeface="+mn-lt"/>
                          <a:ea typeface="+mn-ea"/>
                          <a:cs typeface="+mn-cs"/>
                        </a:rPr>
                        <a:t>2</a:t>
                      </a:r>
                      <a:r>
                        <a:rPr lang="ko-KR" altLang="en-US" sz="1050" kern="1200" dirty="0">
                          <a:solidFill>
                            <a:schemeClr val="accent1"/>
                          </a:solidFill>
                          <a:effectLst/>
                          <a:latin typeface="+mn-lt"/>
                          <a:ea typeface="+mn-ea"/>
                          <a:cs typeface="+mn-cs"/>
                        </a:rPr>
                        <a:t>항 및 제</a:t>
                      </a:r>
                      <a:r>
                        <a:rPr lang="en-US" altLang="ko-KR" sz="1050" kern="1200" dirty="0">
                          <a:solidFill>
                            <a:schemeClr val="accent1"/>
                          </a:solidFill>
                          <a:effectLst/>
                          <a:latin typeface="+mn-lt"/>
                          <a:ea typeface="+mn-ea"/>
                          <a:cs typeface="+mn-cs"/>
                        </a:rPr>
                        <a:t>4</a:t>
                      </a:r>
                      <a:r>
                        <a:rPr lang="ko-KR" altLang="en-US" sz="1050" kern="1200" dirty="0">
                          <a:solidFill>
                            <a:schemeClr val="accent1"/>
                          </a:solidFill>
                          <a:effectLst/>
                          <a:latin typeface="+mn-lt"/>
                          <a:ea typeface="+mn-ea"/>
                          <a:cs typeface="+mn-cs"/>
                        </a:rPr>
                        <a:t>항을 준용한다</a:t>
                      </a:r>
                      <a:r>
                        <a:rPr lang="en-US" altLang="ko-KR" sz="1050" kern="1200" dirty="0">
                          <a:solidFill>
                            <a:schemeClr val="accent1"/>
                          </a:solidFill>
                          <a:effectLst/>
                          <a:latin typeface="+mn-lt"/>
                          <a:ea typeface="+mn-ea"/>
                          <a:cs typeface="+mn-cs"/>
                        </a:rPr>
                        <a:t>.</a:t>
                      </a:r>
                      <a:endParaRPr lang="ko-KR" altLang="en-US" sz="1050" kern="1200" dirty="0">
                        <a:solidFill>
                          <a:schemeClr val="accent1"/>
                        </a:solidFill>
                        <a:effectLst/>
                        <a:latin typeface="+mn-lt"/>
                        <a:ea typeface="+mn-ea"/>
                        <a:cs typeface="+mn-cs"/>
                      </a:endParaRPr>
                    </a:p>
                    <a:p>
                      <a:pPr fontAlgn="base" latinLnBrk="1"/>
                      <a:r>
                        <a:rPr lang="ko-KR" altLang="en-US" sz="1050" kern="1200" dirty="0">
                          <a:solidFill>
                            <a:schemeClr val="tx1"/>
                          </a:solidFill>
                          <a:effectLst/>
                          <a:latin typeface="+mn-lt"/>
                          <a:ea typeface="+mn-ea"/>
                          <a:cs typeface="+mn-cs"/>
                        </a:rPr>
                        <a:t>③ 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항에 따른 </a:t>
                      </a:r>
                      <a:r>
                        <a:rPr lang="ko-KR" altLang="en-US" sz="1050" kern="1200" dirty="0" err="1">
                          <a:solidFill>
                            <a:schemeClr val="tx1"/>
                          </a:solidFill>
                          <a:effectLst/>
                          <a:latin typeface="+mn-lt"/>
                          <a:ea typeface="+mn-ea"/>
                          <a:cs typeface="+mn-cs"/>
                        </a:rPr>
                        <a:t>무효심판의</a:t>
                      </a:r>
                      <a:r>
                        <a:rPr lang="ko-KR" altLang="en-US" sz="1050" kern="1200" dirty="0">
                          <a:solidFill>
                            <a:schemeClr val="tx1"/>
                          </a:solidFill>
                          <a:effectLst/>
                          <a:latin typeface="+mn-lt"/>
                          <a:ea typeface="+mn-ea"/>
                          <a:cs typeface="+mn-cs"/>
                        </a:rPr>
                        <a:t> 피청구인은 제</a:t>
                      </a:r>
                      <a:r>
                        <a:rPr lang="en-US" altLang="ko-KR" sz="1050" kern="1200" dirty="0">
                          <a:solidFill>
                            <a:schemeClr val="tx1"/>
                          </a:solidFill>
                          <a:effectLst/>
                          <a:latin typeface="+mn-lt"/>
                          <a:ea typeface="+mn-ea"/>
                          <a:cs typeface="+mn-cs"/>
                        </a:rPr>
                        <a:t>136</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 각 호의 어느 하나에 해당하는 경우에만 제</a:t>
                      </a:r>
                      <a:r>
                        <a:rPr lang="en-US" altLang="ko-KR" sz="1050" kern="1200" dirty="0">
                          <a:solidFill>
                            <a:schemeClr val="tx1"/>
                          </a:solidFill>
                          <a:effectLst/>
                          <a:latin typeface="+mn-lt"/>
                          <a:ea typeface="+mn-ea"/>
                          <a:cs typeface="+mn-cs"/>
                        </a:rPr>
                        <a:t>147</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 또는 제</a:t>
                      </a:r>
                      <a:r>
                        <a:rPr lang="en-US" altLang="ko-KR" sz="1050" kern="1200" dirty="0">
                          <a:solidFill>
                            <a:schemeClr val="tx1"/>
                          </a:solidFill>
                          <a:effectLst/>
                          <a:latin typeface="+mn-lt"/>
                          <a:ea typeface="+mn-ea"/>
                          <a:cs typeface="+mn-cs"/>
                        </a:rPr>
                        <a:t>159</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 후단에 따라 지정된 기간에 특허발명의 명세서 또는 도면의 정정을 청구할 수 있다</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이 경우 심판장이 제</a:t>
                      </a:r>
                      <a:r>
                        <a:rPr lang="en-US" altLang="ko-KR" sz="1050" kern="1200" dirty="0">
                          <a:solidFill>
                            <a:schemeClr val="tx1"/>
                          </a:solidFill>
                          <a:effectLst/>
                          <a:latin typeface="+mn-lt"/>
                          <a:ea typeface="+mn-ea"/>
                          <a:cs typeface="+mn-cs"/>
                        </a:rPr>
                        <a:t>147</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항에 따라 지정된 기간 후에도 청구인이 증거를 제출하거나 새로운 무효사유를 주장함으로 인하여 정정의 청구를 허용할 필요가 있다고 인정하는 경우에는 기간을 정하여 정정청구를 하게 할 수 있다</a:t>
                      </a:r>
                      <a:r>
                        <a:rPr lang="en-US" altLang="ko-KR" sz="1050" kern="1200" dirty="0">
                          <a:solidFill>
                            <a:schemeClr val="tx1"/>
                          </a:solidFill>
                          <a:effectLst/>
                          <a:latin typeface="+mn-lt"/>
                          <a:ea typeface="+mn-ea"/>
                          <a:cs typeface="+mn-cs"/>
                        </a:rPr>
                        <a:t>. </a:t>
                      </a:r>
                    </a:p>
                    <a:p>
                      <a:pPr fontAlgn="base" latinLnBrk="1"/>
                      <a:r>
                        <a:rPr lang="ko-KR" altLang="en-US" sz="1050" kern="1200" dirty="0">
                          <a:solidFill>
                            <a:schemeClr val="tx1"/>
                          </a:solidFill>
                          <a:effectLst/>
                          <a:latin typeface="+mn-lt"/>
                          <a:ea typeface="+mn-ea"/>
                          <a:cs typeface="+mn-cs"/>
                        </a:rPr>
                        <a:t>④ 제</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항에 따른 </a:t>
                      </a:r>
                      <a:r>
                        <a:rPr lang="ko-KR" altLang="en-US" sz="1050" kern="1200" dirty="0" err="1">
                          <a:solidFill>
                            <a:schemeClr val="tx1"/>
                          </a:solidFill>
                          <a:effectLst/>
                          <a:latin typeface="+mn-lt"/>
                          <a:ea typeface="+mn-ea"/>
                          <a:cs typeface="+mn-cs"/>
                        </a:rPr>
                        <a:t>정정청구에</a:t>
                      </a:r>
                      <a:r>
                        <a:rPr lang="ko-KR" altLang="en-US" sz="1050" kern="1200" dirty="0">
                          <a:solidFill>
                            <a:schemeClr val="tx1"/>
                          </a:solidFill>
                          <a:effectLst/>
                          <a:latin typeface="+mn-lt"/>
                          <a:ea typeface="+mn-ea"/>
                          <a:cs typeface="+mn-cs"/>
                        </a:rPr>
                        <a:t> 관하여는 제</a:t>
                      </a:r>
                      <a:r>
                        <a:rPr lang="en-US" altLang="ko-KR" sz="1050" kern="1200" dirty="0">
                          <a:solidFill>
                            <a:schemeClr val="tx1"/>
                          </a:solidFill>
                          <a:effectLst/>
                          <a:latin typeface="+mn-lt"/>
                          <a:ea typeface="+mn-ea"/>
                          <a:cs typeface="+mn-cs"/>
                        </a:rPr>
                        <a:t>133</a:t>
                      </a:r>
                      <a:r>
                        <a:rPr lang="ko-KR" altLang="en-US" sz="1050" kern="1200" dirty="0">
                          <a:solidFill>
                            <a:schemeClr val="tx1"/>
                          </a:solidFill>
                          <a:effectLst/>
                          <a:latin typeface="+mn-lt"/>
                          <a:ea typeface="+mn-ea"/>
                          <a:cs typeface="+mn-cs"/>
                        </a:rPr>
                        <a:t>조의</a:t>
                      </a:r>
                      <a:r>
                        <a:rPr lang="en-US" altLang="ko-KR" sz="1050" kern="1200" dirty="0">
                          <a:solidFill>
                            <a:schemeClr val="tx1"/>
                          </a:solidFill>
                          <a:effectLst/>
                          <a:latin typeface="+mn-lt"/>
                          <a:ea typeface="+mn-ea"/>
                          <a:cs typeface="+mn-cs"/>
                        </a:rPr>
                        <a:t>2</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2</a:t>
                      </a:r>
                      <a:r>
                        <a:rPr lang="ko-KR" altLang="en-US" sz="1050" kern="1200" dirty="0">
                          <a:solidFill>
                            <a:schemeClr val="tx1"/>
                          </a:solidFill>
                          <a:effectLst/>
                          <a:latin typeface="+mn-lt"/>
                          <a:ea typeface="+mn-ea"/>
                          <a:cs typeface="+mn-cs"/>
                        </a:rPr>
                        <a:t>항부터 제</a:t>
                      </a:r>
                      <a:r>
                        <a:rPr lang="en-US" altLang="ko-KR" sz="1050" kern="1200" dirty="0">
                          <a:solidFill>
                            <a:schemeClr val="tx1"/>
                          </a:solidFill>
                          <a:effectLst/>
                          <a:latin typeface="+mn-lt"/>
                          <a:ea typeface="+mn-ea"/>
                          <a:cs typeface="+mn-cs"/>
                        </a:rPr>
                        <a:t>5</a:t>
                      </a:r>
                      <a:r>
                        <a:rPr lang="ko-KR" altLang="en-US" sz="1050" kern="1200" dirty="0">
                          <a:solidFill>
                            <a:schemeClr val="tx1"/>
                          </a:solidFill>
                          <a:effectLst/>
                          <a:latin typeface="+mn-lt"/>
                          <a:ea typeface="+mn-ea"/>
                          <a:cs typeface="+mn-cs"/>
                        </a:rPr>
                        <a:t>항까지의 규정을 준용한다</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이 경우 제</a:t>
                      </a:r>
                      <a:r>
                        <a:rPr lang="en-US" altLang="ko-KR" sz="1050" kern="1200" dirty="0">
                          <a:solidFill>
                            <a:schemeClr val="tx1"/>
                          </a:solidFill>
                          <a:effectLst/>
                          <a:latin typeface="+mn-lt"/>
                          <a:ea typeface="+mn-ea"/>
                          <a:cs typeface="+mn-cs"/>
                        </a:rPr>
                        <a:t>133</a:t>
                      </a:r>
                      <a:r>
                        <a:rPr lang="ko-KR" altLang="en-US" sz="1050" kern="1200" dirty="0">
                          <a:solidFill>
                            <a:schemeClr val="tx1"/>
                          </a:solidFill>
                          <a:effectLst/>
                          <a:latin typeface="+mn-lt"/>
                          <a:ea typeface="+mn-ea"/>
                          <a:cs typeface="+mn-cs"/>
                        </a:rPr>
                        <a:t>조의</a:t>
                      </a:r>
                      <a:r>
                        <a:rPr lang="en-US" altLang="ko-KR" sz="1050" kern="1200" dirty="0">
                          <a:solidFill>
                            <a:schemeClr val="tx1"/>
                          </a:solidFill>
                          <a:effectLst/>
                          <a:latin typeface="+mn-lt"/>
                          <a:ea typeface="+mn-ea"/>
                          <a:cs typeface="+mn-cs"/>
                        </a:rPr>
                        <a:t>2</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항 중 </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133</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은 </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137</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으로 보고</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같은 조 제</a:t>
                      </a:r>
                      <a:r>
                        <a:rPr lang="en-US" altLang="ko-KR" sz="1050" kern="1200" dirty="0">
                          <a:solidFill>
                            <a:schemeClr val="tx1"/>
                          </a:solidFill>
                          <a:effectLst/>
                          <a:latin typeface="+mn-lt"/>
                          <a:ea typeface="+mn-ea"/>
                          <a:cs typeface="+mn-cs"/>
                        </a:rPr>
                        <a:t>4</a:t>
                      </a:r>
                      <a:r>
                        <a:rPr lang="ko-KR" altLang="en-US" sz="1050" kern="1200" dirty="0">
                          <a:solidFill>
                            <a:schemeClr val="tx1"/>
                          </a:solidFill>
                          <a:effectLst/>
                          <a:latin typeface="+mn-lt"/>
                          <a:ea typeface="+mn-ea"/>
                          <a:cs typeface="+mn-cs"/>
                        </a:rPr>
                        <a:t>항 후단 중 </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133</a:t>
                      </a:r>
                      <a:r>
                        <a:rPr lang="ko-KR" altLang="en-US" sz="1050" kern="1200" dirty="0">
                          <a:solidFill>
                            <a:schemeClr val="tx1"/>
                          </a:solidFill>
                          <a:effectLst/>
                          <a:latin typeface="+mn-lt"/>
                          <a:ea typeface="+mn-ea"/>
                          <a:cs typeface="+mn-cs"/>
                        </a:rPr>
                        <a:t>조의</a:t>
                      </a:r>
                      <a:r>
                        <a:rPr lang="en-US" altLang="ko-KR" sz="1050" kern="1200" dirty="0">
                          <a:solidFill>
                            <a:schemeClr val="tx1"/>
                          </a:solidFill>
                          <a:effectLst/>
                          <a:latin typeface="+mn-lt"/>
                          <a:ea typeface="+mn-ea"/>
                          <a:cs typeface="+mn-cs"/>
                        </a:rPr>
                        <a:t>2</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을 </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137</a:t>
                      </a:r>
                      <a:r>
                        <a:rPr lang="ko-KR" altLang="en-US" sz="1050" kern="1200" dirty="0">
                          <a:solidFill>
                            <a:schemeClr val="tx1"/>
                          </a:solidFill>
                          <a:effectLst/>
                          <a:latin typeface="+mn-lt"/>
                          <a:ea typeface="+mn-ea"/>
                          <a:cs typeface="+mn-cs"/>
                        </a:rPr>
                        <a:t>조제</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항</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으로 보며</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같은 조 제</a:t>
                      </a:r>
                      <a:r>
                        <a:rPr lang="en-US" altLang="ko-KR" sz="1050" kern="1200" dirty="0">
                          <a:solidFill>
                            <a:schemeClr val="tx1"/>
                          </a:solidFill>
                          <a:effectLst/>
                          <a:latin typeface="+mn-lt"/>
                          <a:ea typeface="+mn-ea"/>
                          <a:cs typeface="+mn-cs"/>
                        </a:rPr>
                        <a:t>5</a:t>
                      </a:r>
                      <a:r>
                        <a:rPr lang="ko-KR" altLang="en-US" sz="1050" kern="1200" dirty="0">
                          <a:solidFill>
                            <a:schemeClr val="tx1"/>
                          </a:solidFill>
                          <a:effectLst/>
                          <a:latin typeface="+mn-lt"/>
                          <a:ea typeface="+mn-ea"/>
                          <a:cs typeface="+mn-cs"/>
                        </a:rPr>
                        <a:t>항 각 호 외의 부분 및 같은 항 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호 중 </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1</a:t>
                      </a:r>
                      <a:r>
                        <a:rPr lang="ko-KR" altLang="en-US" sz="1050" kern="1200" dirty="0">
                          <a:solidFill>
                            <a:schemeClr val="tx1"/>
                          </a:solidFill>
                          <a:effectLst/>
                          <a:latin typeface="+mn-lt"/>
                          <a:ea typeface="+mn-ea"/>
                          <a:cs typeface="+mn-cs"/>
                        </a:rPr>
                        <a:t>항</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을 각각 </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제</a:t>
                      </a:r>
                      <a:r>
                        <a:rPr lang="en-US" altLang="ko-KR" sz="1050" kern="1200" dirty="0">
                          <a:solidFill>
                            <a:schemeClr val="tx1"/>
                          </a:solidFill>
                          <a:effectLst/>
                          <a:latin typeface="+mn-lt"/>
                          <a:ea typeface="+mn-ea"/>
                          <a:cs typeface="+mn-cs"/>
                        </a:rPr>
                        <a:t>3</a:t>
                      </a:r>
                      <a:r>
                        <a:rPr lang="ko-KR" altLang="en-US" sz="1050" kern="1200" dirty="0">
                          <a:solidFill>
                            <a:schemeClr val="tx1"/>
                          </a:solidFill>
                          <a:effectLst/>
                          <a:latin typeface="+mn-lt"/>
                          <a:ea typeface="+mn-ea"/>
                          <a:cs typeface="+mn-cs"/>
                        </a:rPr>
                        <a:t>항</a:t>
                      </a:r>
                      <a:r>
                        <a:rPr lang="en-US" altLang="ko-KR" sz="1050" kern="1200" dirty="0">
                          <a:solidFill>
                            <a:schemeClr val="tx1"/>
                          </a:solidFill>
                          <a:effectLst/>
                          <a:latin typeface="+mn-lt"/>
                          <a:ea typeface="+mn-ea"/>
                          <a:cs typeface="+mn-cs"/>
                        </a:rPr>
                        <a:t>"</a:t>
                      </a:r>
                      <a:r>
                        <a:rPr lang="ko-KR" altLang="en-US" sz="1050" kern="1200" dirty="0">
                          <a:solidFill>
                            <a:schemeClr val="tx1"/>
                          </a:solidFill>
                          <a:effectLst/>
                          <a:latin typeface="+mn-lt"/>
                          <a:ea typeface="+mn-ea"/>
                          <a:cs typeface="+mn-cs"/>
                        </a:rPr>
                        <a:t>으로 본다</a:t>
                      </a:r>
                      <a:r>
                        <a:rPr lang="en-US" altLang="ko-KR" sz="1050" kern="1200" dirty="0">
                          <a:solidFill>
                            <a:schemeClr val="tx1"/>
                          </a:solidFill>
                          <a:effectLst/>
                          <a:latin typeface="+mn-lt"/>
                          <a:ea typeface="+mn-ea"/>
                          <a:cs typeface="+mn-cs"/>
                        </a:rPr>
                        <a:t>. </a:t>
                      </a:r>
                    </a:p>
                    <a:p>
                      <a:pPr fontAlgn="base" latinLnBrk="1"/>
                      <a:r>
                        <a:rPr lang="ko-KR" altLang="en-US" sz="1050" kern="1200" dirty="0">
                          <a:solidFill>
                            <a:srgbClr val="FF0000"/>
                          </a:solidFill>
                          <a:effectLst/>
                          <a:latin typeface="+mn-lt"/>
                          <a:ea typeface="+mn-ea"/>
                          <a:cs typeface="+mn-cs"/>
                        </a:rPr>
                        <a:t>⑤ 제</a:t>
                      </a:r>
                      <a:r>
                        <a:rPr lang="en-US" altLang="ko-KR" sz="1050" kern="1200" dirty="0">
                          <a:solidFill>
                            <a:srgbClr val="FF0000"/>
                          </a:solidFill>
                          <a:effectLst/>
                          <a:latin typeface="+mn-lt"/>
                          <a:ea typeface="+mn-ea"/>
                          <a:cs typeface="+mn-cs"/>
                        </a:rPr>
                        <a:t>1</a:t>
                      </a:r>
                      <a:r>
                        <a:rPr lang="ko-KR" altLang="en-US" sz="1050" kern="1200" dirty="0">
                          <a:solidFill>
                            <a:srgbClr val="FF0000"/>
                          </a:solidFill>
                          <a:effectLst/>
                          <a:latin typeface="+mn-lt"/>
                          <a:ea typeface="+mn-ea"/>
                          <a:cs typeface="+mn-cs"/>
                        </a:rPr>
                        <a:t>항에 따라 정정을 무효로 한다는 </a:t>
                      </a:r>
                      <a:r>
                        <a:rPr lang="ko-KR" altLang="en-US" sz="1050" kern="1200" dirty="0" err="1">
                          <a:solidFill>
                            <a:srgbClr val="FF0000"/>
                          </a:solidFill>
                          <a:effectLst/>
                          <a:latin typeface="+mn-lt"/>
                          <a:ea typeface="+mn-ea"/>
                          <a:cs typeface="+mn-cs"/>
                        </a:rPr>
                        <a:t>심결이</a:t>
                      </a:r>
                      <a:r>
                        <a:rPr lang="ko-KR" altLang="en-US" sz="1050" kern="1200" dirty="0">
                          <a:solidFill>
                            <a:srgbClr val="FF0000"/>
                          </a:solidFill>
                          <a:effectLst/>
                          <a:latin typeface="+mn-lt"/>
                          <a:ea typeface="+mn-ea"/>
                          <a:cs typeface="+mn-cs"/>
                        </a:rPr>
                        <a:t> 확정되었을 때에는 그 정정은 처음부터 없었던 것으로 본다</a:t>
                      </a:r>
                      <a:r>
                        <a:rPr lang="en-US" altLang="ko-KR" sz="1050" kern="1200" dirty="0">
                          <a:solidFill>
                            <a:srgbClr val="FF0000"/>
                          </a:solidFill>
                          <a:effectLst/>
                          <a:latin typeface="+mn-lt"/>
                          <a:ea typeface="+mn-ea"/>
                          <a:cs typeface="+mn-cs"/>
                        </a:rPr>
                        <a:t>.</a:t>
                      </a:r>
                      <a:endParaRPr lang="ko-KR" altLang="en-US" sz="1050" kern="1200" dirty="0">
                        <a:solidFill>
                          <a:srgbClr val="FF0000"/>
                        </a:solidFill>
                        <a:effectLst/>
                        <a:latin typeface="+mn-lt"/>
                        <a:ea typeface="+mn-ea"/>
                        <a:cs typeface="+mn-cs"/>
                      </a:endParaRPr>
                    </a:p>
                    <a:p>
                      <a:pPr latinLnBrk="1"/>
                      <a:endParaRPr lang="ko-KR" altLang="en-US" sz="1050" dirty="0"/>
                    </a:p>
                  </a:txBody>
                  <a:tcPr/>
                </a:tc>
                <a:extLst>
                  <a:ext uri="{0D108BD9-81ED-4DB2-BD59-A6C34878D82A}">
                    <a16:rowId xmlns:a16="http://schemas.microsoft.com/office/drawing/2014/main" val="3986305079"/>
                  </a:ext>
                </a:extLst>
              </a:tr>
            </a:tbl>
          </a:graphicData>
        </a:graphic>
      </p:graphicFrame>
    </p:spTree>
    <p:extLst>
      <p:ext uri="{BB962C8B-B14F-4D97-AF65-F5344CB8AC3E}">
        <p14:creationId xmlns:p14="http://schemas.microsoft.com/office/powerpoint/2010/main" val="1327218161"/>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슬라이드 번호 개체 틀 5"/>
          <p:cNvSpPr>
            <a:spLocks noGrp="1"/>
          </p:cNvSpPr>
          <p:nvPr>
            <p:ph type="sldNum" sz="quarter" idx="4294967295"/>
          </p:nvPr>
        </p:nvSpPr>
        <p:spPr>
          <a:xfrm>
            <a:off x="11125200" y="0"/>
            <a:ext cx="1066800" cy="711200"/>
          </a:xfrm>
        </p:spPr>
        <p:txBody>
          <a:bodyPr/>
          <a:lstStyle/>
          <a:p>
            <a:r>
              <a:rPr lang="en-US" altLang="ko-KR"/>
              <a:t>470</a:t>
            </a:r>
            <a:endParaRPr lang="ko-KR" altLang="en-US" dirty="0"/>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normAutofit/>
          </a:bodyPr>
          <a:lstStyle/>
          <a:p>
            <a:pPr fontAlgn="base" latinLnBrk="0"/>
            <a:r>
              <a:rPr lang="ko-KR" altLang="en-US" dirty="0"/>
              <a:t>무효심판의 법조문 구조</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12" name="TextBox 11">
            <a:extLst>
              <a:ext uri="{FF2B5EF4-FFF2-40B4-BE49-F238E27FC236}">
                <a16:creationId xmlns:a16="http://schemas.microsoft.com/office/drawing/2014/main" id="{DF467EEE-D6F4-178B-49C2-5728536BB036}"/>
              </a:ext>
            </a:extLst>
          </p:cNvPr>
          <p:cNvSpPr txBox="1"/>
          <p:nvPr/>
        </p:nvSpPr>
        <p:spPr>
          <a:xfrm>
            <a:off x="1971332" y="2984798"/>
            <a:ext cx="2350907" cy="340519"/>
          </a:xfrm>
          <a:prstGeom prst="roundRect">
            <a:avLst>
              <a:gd name="adj" fmla="val 50000"/>
            </a:avLst>
          </a:prstGeom>
          <a:solidFill>
            <a:schemeClr val="accent1">
              <a:lumMod val="20000"/>
              <a:lumOff val="80000"/>
            </a:schemeClr>
          </a:solidFill>
          <a:ln>
            <a:solidFill>
              <a:schemeClr val="bg1">
                <a:lumMod val="50000"/>
              </a:schemeClr>
            </a:solidFill>
          </a:ln>
        </p:spPr>
        <p:txBody>
          <a:bodyPr wrap="square" tIns="0" bIns="0">
            <a:noAutofit/>
          </a:bodyPr>
          <a:lstStyle/>
          <a:p>
            <a:r>
              <a:rPr lang="en-US" altLang="ko-KR" sz="1400" dirty="0"/>
              <a:t>① </a:t>
            </a:r>
            <a:r>
              <a:rPr lang="ko-KR" altLang="en-US" sz="1400" dirty="0"/>
              <a:t>요건</a:t>
            </a:r>
            <a:r>
              <a:rPr lang="en-US" altLang="ko-KR" sz="1400" dirty="0"/>
              <a:t>(</a:t>
            </a:r>
            <a:r>
              <a:rPr lang="ko-KR" altLang="en-US" sz="1400" dirty="0"/>
              <a:t>주체</a:t>
            </a:r>
            <a:r>
              <a:rPr lang="en-US" altLang="ko-KR" sz="1400" dirty="0"/>
              <a:t>/</a:t>
            </a:r>
            <a:r>
              <a:rPr lang="ko-KR" altLang="en-US" sz="1400" dirty="0"/>
              <a:t>객체</a:t>
            </a:r>
            <a:r>
              <a:rPr lang="en-US" altLang="ko-KR" sz="1400" dirty="0"/>
              <a:t>)</a:t>
            </a:r>
          </a:p>
        </p:txBody>
      </p:sp>
      <p:sp>
        <p:nvSpPr>
          <p:cNvPr id="13" name="TextBox 12">
            <a:extLst>
              <a:ext uri="{FF2B5EF4-FFF2-40B4-BE49-F238E27FC236}">
                <a16:creationId xmlns:a16="http://schemas.microsoft.com/office/drawing/2014/main" id="{22ED253D-AB24-AD3A-9669-AE98AA21B4D2}"/>
              </a:ext>
            </a:extLst>
          </p:cNvPr>
          <p:cNvSpPr txBox="1"/>
          <p:nvPr/>
        </p:nvSpPr>
        <p:spPr>
          <a:xfrm>
            <a:off x="1971332" y="3377870"/>
            <a:ext cx="2350907" cy="340519"/>
          </a:xfrm>
          <a:prstGeom prst="roundRect">
            <a:avLst>
              <a:gd name="adj" fmla="val 50000"/>
            </a:avLst>
          </a:prstGeom>
          <a:solidFill>
            <a:schemeClr val="accent2">
              <a:lumMod val="50000"/>
            </a:schemeClr>
          </a:solidFill>
          <a:ln>
            <a:solidFill>
              <a:schemeClr val="bg1">
                <a:lumMod val="50000"/>
              </a:schemeClr>
            </a:solidFill>
          </a:ln>
        </p:spPr>
        <p:txBody>
          <a:bodyPr wrap="square" tIns="0" bIns="0">
            <a:noAutofit/>
          </a:bodyPr>
          <a:lstStyle/>
          <a:p>
            <a:r>
              <a:rPr lang="ko-KR" altLang="en-US" sz="1400" dirty="0">
                <a:solidFill>
                  <a:schemeClr val="bg1"/>
                </a:solidFill>
              </a:rPr>
              <a:t>② 요건</a:t>
            </a:r>
            <a:r>
              <a:rPr lang="en-US" altLang="ko-KR" sz="1400" dirty="0">
                <a:solidFill>
                  <a:schemeClr val="bg1"/>
                </a:solidFill>
              </a:rPr>
              <a:t>(</a:t>
            </a:r>
            <a:r>
              <a:rPr lang="ko-KR" altLang="en-US" sz="1400" dirty="0">
                <a:solidFill>
                  <a:schemeClr val="bg1"/>
                </a:solidFill>
              </a:rPr>
              <a:t>시기</a:t>
            </a:r>
            <a:r>
              <a:rPr lang="en-US" altLang="ko-KR" sz="1400" dirty="0">
                <a:solidFill>
                  <a:schemeClr val="bg1"/>
                </a:solidFill>
              </a:rPr>
              <a:t>)</a:t>
            </a:r>
          </a:p>
        </p:txBody>
      </p:sp>
      <p:sp>
        <p:nvSpPr>
          <p:cNvPr id="14" name="TextBox 13">
            <a:extLst>
              <a:ext uri="{FF2B5EF4-FFF2-40B4-BE49-F238E27FC236}">
                <a16:creationId xmlns:a16="http://schemas.microsoft.com/office/drawing/2014/main" id="{B238B995-4BB5-073A-BC68-59512BBEC3F8}"/>
              </a:ext>
            </a:extLst>
          </p:cNvPr>
          <p:cNvSpPr txBox="1"/>
          <p:nvPr/>
        </p:nvSpPr>
        <p:spPr>
          <a:xfrm>
            <a:off x="1971332" y="3755752"/>
            <a:ext cx="2350907" cy="340519"/>
          </a:xfrm>
          <a:prstGeom prst="roundRect">
            <a:avLst>
              <a:gd name="adj" fmla="val 50000"/>
            </a:avLst>
          </a:prstGeom>
          <a:solidFill>
            <a:schemeClr val="accent1">
              <a:lumMod val="75000"/>
            </a:schemeClr>
          </a:solidFill>
          <a:ln>
            <a:solidFill>
              <a:schemeClr val="bg1">
                <a:lumMod val="50000"/>
              </a:schemeClr>
            </a:solidFill>
          </a:ln>
        </p:spPr>
        <p:txBody>
          <a:bodyPr wrap="square" tIns="0" bIns="0">
            <a:noAutofit/>
          </a:bodyPr>
          <a:lstStyle/>
          <a:p>
            <a:r>
              <a:rPr lang="en-US" altLang="ko-KR" sz="1400" dirty="0">
                <a:solidFill>
                  <a:schemeClr val="bg1"/>
                </a:solidFill>
              </a:rPr>
              <a:t>③ </a:t>
            </a:r>
            <a:r>
              <a:rPr lang="ko-KR" altLang="en-US" sz="1400" dirty="0">
                <a:solidFill>
                  <a:schemeClr val="bg1"/>
                </a:solidFill>
              </a:rPr>
              <a:t>효과</a:t>
            </a:r>
            <a:endParaRPr lang="en-US" altLang="ko-KR" sz="1400" dirty="0">
              <a:solidFill>
                <a:schemeClr val="bg1"/>
              </a:solidFill>
            </a:endParaRPr>
          </a:p>
        </p:txBody>
      </p:sp>
      <p:sp>
        <p:nvSpPr>
          <p:cNvPr id="15" name="TextBox 14">
            <a:extLst>
              <a:ext uri="{FF2B5EF4-FFF2-40B4-BE49-F238E27FC236}">
                <a16:creationId xmlns:a16="http://schemas.microsoft.com/office/drawing/2014/main" id="{4D9E91F9-6068-DC4D-08B3-5754ED7755A2}"/>
              </a:ext>
            </a:extLst>
          </p:cNvPr>
          <p:cNvSpPr txBox="1"/>
          <p:nvPr/>
        </p:nvSpPr>
        <p:spPr>
          <a:xfrm>
            <a:off x="1971332" y="4127614"/>
            <a:ext cx="2350907" cy="340519"/>
          </a:xfrm>
          <a:prstGeom prst="roundRect">
            <a:avLst>
              <a:gd name="adj" fmla="val 50000"/>
            </a:avLst>
          </a:prstGeom>
          <a:solidFill>
            <a:schemeClr val="accent2">
              <a:lumMod val="50000"/>
            </a:schemeClr>
          </a:solidFill>
          <a:ln>
            <a:solidFill>
              <a:schemeClr val="bg1">
                <a:lumMod val="50000"/>
              </a:schemeClr>
            </a:solidFill>
          </a:ln>
        </p:spPr>
        <p:txBody>
          <a:bodyPr wrap="square" tIns="0" bIns="0">
            <a:noAutofit/>
          </a:bodyPr>
          <a:lstStyle/>
          <a:p>
            <a:r>
              <a:rPr lang="en-US" altLang="ko-KR" sz="1400" dirty="0">
                <a:solidFill>
                  <a:schemeClr val="bg1"/>
                </a:solidFill>
              </a:rPr>
              <a:t>④ </a:t>
            </a:r>
            <a:r>
              <a:rPr lang="ko-KR" altLang="en-US" sz="1400" dirty="0">
                <a:solidFill>
                  <a:schemeClr val="bg1"/>
                </a:solidFill>
              </a:rPr>
              <a:t>절차</a:t>
            </a:r>
            <a:endParaRPr lang="en-US" altLang="ko-KR" sz="1400" dirty="0">
              <a:solidFill>
                <a:schemeClr val="bg1"/>
              </a:solidFill>
            </a:endParaRPr>
          </a:p>
        </p:txBody>
      </p:sp>
      <p:sp>
        <p:nvSpPr>
          <p:cNvPr id="16" name="TextBox 15">
            <a:extLst>
              <a:ext uri="{FF2B5EF4-FFF2-40B4-BE49-F238E27FC236}">
                <a16:creationId xmlns:a16="http://schemas.microsoft.com/office/drawing/2014/main" id="{26969FE3-D782-8DDA-7C2D-881802DFB140}"/>
              </a:ext>
            </a:extLst>
          </p:cNvPr>
          <p:cNvSpPr txBox="1"/>
          <p:nvPr/>
        </p:nvSpPr>
        <p:spPr>
          <a:xfrm>
            <a:off x="1971332" y="2626221"/>
            <a:ext cx="2350907" cy="307777"/>
          </a:xfrm>
          <a:prstGeom prst="rect">
            <a:avLst/>
          </a:prstGeom>
          <a:solidFill>
            <a:schemeClr val="tx1">
              <a:lumMod val="95000"/>
              <a:lumOff val="5000"/>
            </a:schemeClr>
          </a:solidFill>
          <a:ln>
            <a:solidFill>
              <a:schemeClr val="bg1">
                <a:lumMod val="50000"/>
              </a:schemeClr>
            </a:solidFill>
          </a:ln>
        </p:spPr>
        <p:txBody>
          <a:bodyPr wrap="square">
            <a:spAutoFit/>
          </a:bodyPr>
          <a:lstStyle/>
          <a:p>
            <a:r>
              <a:rPr lang="ko-KR" altLang="en-US" sz="1400" dirty="0">
                <a:solidFill>
                  <a:schemeClr val="bg1"/>
                </a:solidFill>
              </a:rPr>
              <a:t>제</a:t>
            </a:r>
            <a:r>
              <a:rPr lang="en-US" altLang="ko-KR" sz="1400" dirty="0">
                <a:solidFill>
                  <a:schemeClr val="bg1"/>
                </a:solidFill>
              </a:rPr>
              <a:t>133</a:t>
            </a:r>
            <a:r>
              <a:rPr lang="ko-KR" altLang="en-US" sz="1400" dirty="0">
                <a:solidFill>
                  <a:schemeClr val="bg1"/>
                </a:solidFill>
              </a:rPr>
              <a:t>조</a:t>
            </a:r>
            <a:r>
              <a:rPr lang="en-US" altLang="ko-KR" sz="1400" dirty="0">
                <a:solidFill>
                  <a:schemeClr val="bg1"/>
                </a:solidFill>
              </a:rPr>
              <a:t>【</a:t>
            </a:r>
            <a:r>
              <a:rPr lang="ko-KR" altLang="en-US" sz="1400" dirty="0">
                <a:solidFill>
                  <a:schemeClr val="bg1"/>
                </a:solidFill>
              </a:rPr>
              <a:t>특허의 무효심판</a:t>
            </a:r>
            <a:r>
              <a:rPr lang="en-US" altLang="ko-KR" sz="1400" dirty="0">
                <a:solidFill>
                  <a:schemeClr val="bg1"/>
                </a:solidFill>
              </a:rPr>
              <a:t>】</a:t>
            </a:r>
          </a:p>
        </p:txBody>
      </p:sp>
      <p:sp>
        <p:nvSpPr>
          <p:cNvPr id="18" name="TextBox 17">
            <a:extLst>
              <a:ext uri="{FF2B5EF4-FFF2-40B4-BE49-F238E27FC236}">
                <a16:creationId xmlns:a16="http://schemas.microsoft.com/office/drawing/2014/main" id="{212030A3-590E-312A-921B-F1BDCDA43FBB}"/>
              </a:ext>
            </a:extLst>
          </p:cNvPr>
          <p:cNvSpPr txBox="1"/>
          <p:nvPr/>
        </p:nvSpPr>
        <p:spPr>
          <a:xfrm>
            <a:off x="6939846" y="1538436"/>
            <a:ext cx="2350907" cy="302955"/>
          </a:xfrm>
          <a:prstGeom prst="roundRect">
            <a:avLst>
              <a:gd name="adj" fmla="val 50000"/>
            </a:avLst>
          </a:prstGeom>
          <a:solidFill>
            <a:schemeClr val="accent3">
              <a:lumMod val="20000"/>
              <a:lumOff val="80000"/>
            </a:schemeClr>
          </a:solidFill>
          <a:ln>
            <a:solidFill>
              <a:schemeClr val="bg1">
                <a:lumMod val="50000"/>
              </a:schemeClr>
            </a:solidFill>
          </a:ln>
        </p:spPr>
        <p:txBody>
          <a:bodyPr wrap="square" tIns="0" bIns="0">
            <a:spAutoFit/>
          </a:bodyPr>
          <a:lstStyle/>
          <a:p>
            <a:r>
              <a:rPr lang="en-US" altLang="ko-KR" sz="1400" dirty="0"/>
              <a:t>① </a:t>
            </a:r>
            <a:r>
              <a:rPr lang="ko-KR" altLang="en-US" sz="1400" dirty="0"/>
              <a:t>허가 등 요건</a:t>
            </a:r>
            <a:r>
              <a:rPr lang="en-US" altLang="ko-KR" sz="1400" dirty="0"/>
              <a:t>(</a:t>
            </a:r>
            <a:r>
              <a:rPr lang="ko-KR" altLang="en-US" sz="1400" dirty="0"/>
              <a:t>주체</a:t>
            </a:r>
            <a:r>
              <a:rPr lang="en-US" altLang="ko-KR" sz="1400" dirty="0"/>
              <a:t>/</a:t>
            </a:r>
            <a:r>
              <a:rPr lang="ko-KR" altLang="en-US" sz="1400" dirty="0"/>
              <a:t>객체</a:t>
            </a:r>
            <a:r>
              <a:rPr lang="en-US" altLang="ko-KR" sz="1400" dirty="0"/>
              <a:t>)</a:t>
            </a:r>
          </a:p>
        </p:txBody>
      </p:sp>
      <p:sp>
        <p:nvSpPr>
          <p:cNvPr id="19" name="TextBox 18">
            <a:extLst>
              <a:ext uri="{FF2B5EF4-FFF2-40B4-BE49-F238E27FC236}">
                <a16:creationId xmlns:a16="http://schemas.microsoft.com/office/drawing/2014/main" id="{A7DF137C-0B96-E5F4-4844-34387EA85AD1}"/>
              </a:ext>
            </a:extLst>
          </p:cNvPr>
          <p:cNvSpPr txBox="1"/>
          <p:nvPr/>
        </p:nvSpPr>
        <p:spPr>
          <a:xfrm>
            <a:off x="6939846" y="1939128"/>
            <a:ext cx="2350907" cy="302955"/>
          </a:xfrm>
          <a:prstGeom prst="roundRect">
            <a:avLst>
              <a:gd name="adj" fmla="val 50000"/>
            </a:avLst>
          </a:prstGeom>
          <a:solidFill>
            <a:schemeClr val="accent3">
              <a:lumMod val="20000"/>
              <a:lumOff val="80000"/>
            </a:schemeClr>
          </a:solidFill>
          <a:ln>
            <a:solidFill>
              <a:schemeClr val="bg1">
                <a:lumMod val="50000"/>
              </a:schemeClr>
            </a:solidFill>
          </a:ln>
        </p:spPr>
        <p:txBody>
          <a:bodyPr wrap="square" tIns="0" bIns="0">
            <a:spAutoFit/>
          </a:bodyPr>
          <a:lstStyle/>
          <a:p>
            <a:r>
              <a:rPr lang="ko-KR" altLang="en-US" sz="1400" dirty="0"/>
              <a:t>② 등록 지연 요건</a:t>
            </a:r>
            <a:r>
              <a:rPr lang="en-US" altLang="ko-KR" sz="1400" dirty="0"/>
              <a:t>(</a:t>
            </a:r>
            <a:r>
              <a:rPr lang="ko-KR" altLang="en-US" sz="1400" dirty="0"/>
              <a:t>주체</a:t>
            </a:r>
            <a:r>
              <a:rPr lang="en-US" altLang="ko-KR" sz="1400" dirty="0"/>
              <a:t>/</a:t>
            </a:r>
            <a:r>
              <a:rPr lang="ko-KR" altLang="en-US" sz="1400" dirty="0"/>
              <a:t>객체</a:t>
            </a:r>
            <a:r>
              <a:rPr lang="en-US" altLang="ko-KR" sz="1400" dirty="0"/>
              <a:t>)</a:t>
            </a:r>
          </a:p>
        </p:txBody>
      </p:sp>
      <p:sp>
        <p:nvSpPr>
          <p:cNvPr id="20" name="TextBox 19">
            <a:extLst>
              <a:ext uri="{FF2B5EF4-FFF2-40B4-BE49-F238E27FC236}">
                <a16:creationId xmlns:a16="http://schemas.microsoft.com/office/drawing/2014/main" id="{3DAEA8CF-14AD-2986-CC51-ABA843EED87D}"/>
              </a:ext>
            </a:extLst>
          </p:cNvPr>
          <p:cNvSpPr txBox="1"/>
          <p:nvPr/>
        </p:nvSpPr>
        <p:spPr>
          <a:xfrm>
            <a:off x="6939846" y="2317010"/>
            <a:ext cx="2350907" cy="302955"/>
          </a:xfrm>
          <a:prstGeom prst="roundRect">
            <a:avLst>
              <a:gd name="adj" fmla="val 50000"/>
            </a:avLst>
          </a:prstGeom>
          <a:solidFill>
            <a:schemeClr val="accent2">
              <a:lumMod val="50000"/>
            </a:schemeClr>
          </a:solidFill>
          <a:ln>
            <a:solidFill>
              <a:schemeClr val="bg1">
                <a:lumMod val="50000"/>
              </a:schemeClr>
            </a:solidFill>
          </a:ln>
        </p:spPr>
        <p:txBody>
          <a:bodyPr wrap="square" tIns="0" bIns="0">
            <a:spAutoFit/>
          </a:bodyPr>
          <a:lstStyle/>
          <a:p>
            <a:r>
              <a:rPr lang="en-US" altLang="ko-KR" sz="1400" dirty="0">
                <a:solidFill>
                  <a:schemeClr val="bg1"/>
                </a:solidFill>
              </a:rPr>
              <a:t>③ </a:t>
            </a:r>
            <a:r>
              <a:rPr lang="ko-KR" altLang="en-US" sz="1400" dirty="0">
                <a:solidFill>
                  <a:schemeClr val="bg1"/>
                </a:solidFill>
              </a:rPr>
              <a:t>요건</a:t>
            </a:r>
            <a:r>
              <a:rPr lang="en-US" altLang="ko-KR" sz="1400" dirty="0">
                <a:solidFill>
                  <a:schemeClr val="bg1"/>
                </a:solidFill>
              </a:rPr>
              <a:t>(</a:t>
            </a:r>
            <a:r>
              <a:rPr lang="ko-KR" altLang="en-US" sz="1400" dirty="0">
                <a:solidFill>
                  <a:schemeClr val="bg1"/>
                </a:solidFill>
              </a:rPr>
              <a:t>시기</a:t>
            </a:r>
            <a:r>
              <a:rPr lang="en-US" altLang="ko-KR" sz="1400" dirty="0">
                <a:solidFill>
                  <a:schemeClr val="bg1"/>
                </a:solidFill>
              </a:rPr>
              <a:t>) </a:t>
            </a:r>
            <a:r>
              <a:rPr lang="ko-KR" altLang="en-US" sz="1400" dirty="0">
                <a:solidFill>
                  <a:schemeClr val="bg1"/>
                </a:solidFill>
              </a:rPr>
              <a:t>및 절차 </a:t>
            </a:r>
            <a:endParaRPr lang="en-US" altLang="ko-KR" sz="1400" dirty="0">
              <a:solidFill>
                <a:schemeClr val="bg1"/>
              </a:solidFill>
            </a:endParaRPr>
          </a:p>
        </p:txBody>
      </p:sp>
      <p:sp>
        <p:nvSpPr>
          <p:cNvPr id="21" name="TextBox 20">
            <a:extLst>
              <a:ext uri="{FF2B5EF4-FFF2-40B4-BE49-F238E27FC236}">
                <a16:creationId xmlns:a16="http://schemas.microsoft.com/office/drawing/2014/main" id="{1EDC66E9-379E-570E-E543-6FABCEDDCA06}"/>
              </a:ext>
            </a:extLst>
          </p:cNvPr>
          <p:cNvSpPr txBox="1"/>
          <p:nvPr/>
        </p:nvSpPr>
        <p:spPr>
          <a:xfrm>
            <a:off x="6939846" y="2688872"/>
            <a:ext cx="2350907" cy="302955"/>
          </a:xfrm>
          <a:prstGeom prst="roundRect">
            <a:avLst>
              <a:gd name="adj" fmla="val 50000"/>
            </a:avLst>
          </a:prstGeom>
          <a:solidFill>
            <a:schemeClr val="accent6">
              <a:lumMod val="50000"/>
            </a:schemeClr>
          </a:solidFill>
          <a:ln>
            <a:solidFill>
              <a:schemeClr val="bg1">
                <a:lumMod val="50000"/>
              </a:schemeClr>
            </a:solidFill>
          </a:ln>
        </p:spPr>
        <p:txBody>
          <a:bodyPr wrap="square" tIns="0" bIns="0">
            <a:spAutoFit/>
          </a:bodyPr>
          <a:lstStyle/>
          <a:p>
            <a:r>
              <a:rPr lang="en-US" altLang="ko-KR" sz="1400" dirty="0">
                <a:solidFill>
                  <a:schemeClr val="bg1"/>
                </a:solidFill>
              </a:rPr>
              <a:t>④ </a:t>
            </a:r>
            <a:r>
              <a:rPr lang="ko-KR" altLang="en-US" sz="1400" dirty="0">
                <a:solidFill>
                  <a:schemeClr val="bg1"/>
                </a:solidFill>
              </a:rPr>
              <a:t>효과</a:t>
            </a:r>
            <a:endParaRPr lang="en-US" altLang="ko-KR" sz="1400" dirty="0">
              <a:solidFill>
                <a:schemeClr val="bg1"/>
              </a:solidFill>
            </a:endParaRPr>
          </a:p>
        </p:txBody>
      </p:sp>
      <p:sp>
        <p:nvSpPr>
          <p:cNvPr id="22" name="TextBox 21">
            <a:extLst>
              <a:ext uri="{FF2B5EF4-FFF2-40B4-BE49-F238E27FC236}">
                <a16:creationId xmlns:a16="http://schemas.microsoft.com/office/drawing/2014/main" id="{EE4EF934-4A13-3FCF-5B73-1B7859EB134F}"/>
              </a:ext>
            </a:extLst>
          </p:cNvPr>
          <p:cNvSpPr txBox="1"/>
          <p:nvPr/>
        </p:nvSpPr>
        <p:spPr>
          <a:xfrm>
            <a:off x="6939846" y="1179859"/>
            <a:ext cx="3994854" cy="307777"/>
          </a:xfrm>
          <a:prstGeom prst="rect">
            <a:avLst/>
          </a:prstGeom>
          <a:solidFill>
            <a:schemeClr val="tx1">
              <a:lumMod val="95000"/>
              <a:lumOff val="5000"/>
            </a:schemeClr>
          </a:solidFill>
          <a:ln>
            <a:solidFill>
              <a:schemeClr val="bg1">
                <a:lumMod val="50000"/>
              </a:schemeClr>
            </a:solidFill>
          </a:ln>
        </p:spPr>
        <p:txBody>
          <a:bodyPr wrap="square">
            <a:spAutoFit/>
          </a:bodyPr>
          <a:lstStyle/>
          <a:p>
            <a:r>
              <a:rPr lang="ko-KR" altLang="en-US" sz="1400" dirty="0">
                <a:solidFill>
                  <a:schemeClr val="bg1"/>
                </a:solidFill>
              </a:rPr>
              <a:t>제</a:t>
            </a:r>
            <a:r>
              <a:rPr lang="en-US" altLang="ko-KR" sz="1400" dirty="0">
                <a:solidFill>
                  <a:schemeClr val="bg1"/>
                </a:solidFill>
              </a:rPr>
              <a:t>134</a:t>
            </a:r>
            <a:r>
              <a:rPr lang="ko-KR" altLang="en-US" sz="1400" dirty="0">
                <a:solidFill>
                  <a:schemeClr val="bg1"/>
                </a:solidFill>
              </a:rPr>
              <a:t>조</a:t>
            </a:r>
            <a:r>
              <a:rPr lang="en-US" altLang="ko-KR" sz="1400" dirty="0">
                <a:solidFill>
                  <a:schemeClr val="bg1"/>
                </a:solidFill>
              </a:rPr>
              <a:t>【</a:t>
            </a:r>
            <a:r>
              <a:rPr lang="ko-KR" altLang="en-US" sz="1400" dirty="0">
                <a:solidFill>
                  <a:schemeClr val="bg1"/>
                </a:solidFill>
              </a:rPr>
              <a:t>특허권 존속기간의 연장등록의 무효심판</a:t>
            </a:r>
            <a:r>
              <a:rPr lang="en-US" altLang="ko-KR" sz="1400" dirty="0">
                <a:solidFill>
                  <a:schemeClr val="bg1"/>
                </a:solidFill>
              </a:rPr>
              <a:t>】</a:t>
            </a:r>
          </a:p>
        </p:txBody>
      </p:sp>
      <p:sp>
        <p:nvSpPr>
          <p:cNvPr id="23" name="TextBox 22">
            <a:extLst>
              <a:ext uri="{FF2B5EF4-FFF2-40B4-BE49-F238E27FC236}">
                <a16:creationId xmlns:a16="http://schemas.microsoft.com/office/drawing/2014/main" id="{D3EA2A4D-F015-E712-546B-19759D5CC4C4}"/>
              </a:ext>
            </a:extLst>
          </p:cNvPr>
          <p:cNvSpPr txBox="1"/>
          <p:nvPr/>
        </p:nvSpPr>
        <p:spPr>
          <a:xfrm>
            <a:off x="6939846" y="4476002"/>
            <a:ext cx="2350907" cy="340519"/>
          </a:xfrm>
          <a:prstGeom prst="roundRect">
            <a:avLst>
              <a:gd name="adj" fmla="val 50000"/>
            </a:avLst>
          </a:prstGeom>
          <a:solidFill>
            <a:schemeClr val="accent4">
              <a:lumMod val="20000"/>
              <a:lumOff val="80000"/>
            </a:schemeClr>
          </a:solidFill>
          <a:ln>
            <a:solidFill>
              <a:schemeClr val="bg1">
                <a:lumMod val="50000"/>
              </a:schemeClr>
            </a:solidFill>
          </a:ln>
        </p:spPr>
        <p:txBody>
          <a:bodyPr wrap="square" tIns="0" bIns="0">
            <a:noAutofit/>
          </a:bodyPr>
          <a:lstStyle/>
          <a:p>
            <a:r>
              <a:rPr lang="en-US" altLang="ko-KR" sz="1400" dirty="0"/>
              <a:t>① </a:t>
            </a:r>
            <a:r>
              <a:rPr lang="ko-KR" altLang="en-US" sz="1400" dirty="0"/>
              <a:t>요건</a:t>
            </a:r>
            <a:r>
              <a:rPr lang="en-US" altLang="ko-KR" sz="1400" dirty="0"/>
              <a:t>(</a:t>
            </a:r>
            <a:r>
              <a:rPr lang="ko-KR" altLang="en-US" sz="1400" dirty="0"/>
              <a:t>주체</a:t>
            </a:r>
            <a:r>
              <a:rPr lang="en-US" altLang="ko-KR" sz="1400" dirty="0"/>
              <a:t>/</a:t>
            </a:r>
            <a:r>
              <a:rPr lang="ko-KR" altLang="en-US" sz="1400" dirty="0"/>
              <a:t>객체</a:t>
            </a:r>
            <a:r>
              <a:rPr lang="en-US" altLang="ko-KR" sz="1400" dirty="0"/>
              <a:t>)</a:t>
            </a:r>
          </a:p>
        </p:txBody>
      </p:sp>
      <p:sp>
        <p:nvSpPr>
          <p:cNvPr id="24" name="TextBox 23">
            <a:extLst>
              <a:ext uri="{FF2B5EF4-FFF2-40B4-BE49-F238E27FC236}">
                <a16:creationId xmlns:a16="http://schemas.microsoft.com/office/drawing/2014/main" id="{2A836713-D883-3661-1944-7ED3E7F691D0}"/>
              </a:ext>
            </a:extLst>
          </p:cNvPr>
          <p:cNvSpPr txBox="1"/>
          <p:nvPr/>
        </p:nvSpPr>
        <p:spPr>
          <a:xfrm>
            <a:off x="6939846" y="4853834"/>
            <a:ext cx="2350907" cy="340519"/>
          </a:xfrm>
          <a:prstGeom prst="roundRect">
            <a:avLst>
              <a:gd name="adj" fmla="val 50000"/>
            </a:avLst>
          </a:prstGeom>
          <a:solidFill>
            <a:schemeClr val="accent2">
              <a:lumMod val="50000"/>
            </a:schemeClr>
          </a:solidFill>
          <a:ln>
            <a:solidFill>
              <a:schemeClr val="bg1">
                <a:lumMod val="50000"/>
              </a:schemeClr>
            </a:solidFill>
          </a:ln>
        </p:spPr>
        <p:txBody>
          <a:bodyPr wrap="square" tIns="0" bIns="0">
            <a:noAutofit/>
          </a:bodyPr>
          <a:lstStyle/>
          <a:p>
            <a:r>
              <a:rPr lang="ko-KR" altLang="en-US" sz="1400" dirty="0">
                <a:solidFill>
                  <a:schemeClr val="bg1"/>
                </a:solidFill>
              </a:rPr>
              <a:t>② 요건</a:t>
            </a:r>
            <a:r>
              <a:rPr lang="en-US" altLang="ko-KR" sz="1400" dirty="0">
                <a:solidFill>
                  <a:schemeClr val="bg1"/>
                </a:solidFill>
              </a:rPr>
              <a:t>(</a:t>
            </a:r>
            <a:r>
              <a:rPr lang="ko-KR" altLang="en-US" sz="1400" dirty="0">
                <a:solidFill>
                  <a:schemeClr val="bg1"/>
                </a:solidFill>
              </a:rPr>
              <a:t>시기</a:t>
            </a:r>
            <a:r>
              <a:rPr lang="en-US" altLang="ko-KR" sz="1400" dirty="0">
                <a:solidFill>
                  <a:schemeClr val="bg1"/>
                </a:solidFill>
              </a:rPr>
              <a:t>) </a:t>
            </a:r>
            <a:r>
              <a:rPr lang="ko-KR" altLang="en-US" sz="1400" dirty="0">
                <a:solidFill>
                  <a:schemeClr val="bg1"/>
                </a:solidFill>
              </a:rPr>
              <a:t>및 절차</a:t>
            </a:r>
            <a:endParaRPr lang="en-US" altLang="ko-KR" sz="1400" dirty="0">
              <a:solidFill>
                <a:schemeClr val="bg1"/>
              </a:solidFill>
            </a:endParaRPr>
          </a:p>
        </p:txBody>
      </p:sp>
      <p:sp>
        <p:nvSpPr>
          <p:cNvPr id="25" name="TextBox 24">
            <a:extLst>
              <a:ext uri="{FF2B5EF4-FFF2-40B4-BE49-F238E27FC236}">
                <a16:creationId xmlns:a16="http://schemas.microsoft.com/office/drawing/2014/main" id="{09AE1E89-0A51-4BBE-4681-C02BBEDB0713}"/>
              </a:ext>
            </a:extLst>
          </p:cNvPr>
          <p:cNvSpPr txBox="1"/>
          <p:nvPr/>
        </p:nvSpPr>
        <p:spPr>
          <a:xfrm>
            <a:off x="6939846" y="5231716"/>
            <a:ext cx="2350907" cy="340519"/>
          </a:xfrm>
          <a:prstGeom prst="roundRect">
            <a:avLst>
              <a:gd name="adj" fmla="val 50000"/>
            </a:avLst>
          </a:prstGeom>
          <a:noFill/>
          <a:ln>
            <a:solidFill>
              <a:schemeClr val="bg1">
                <a:lumMod val="50000"/>
              </a:schemeClr>
            </a:solidFill>
          </a:ln>
        </p:spPr>
        <p:txBody>
          <a:bodyPr wrap="square" tIns="0" bIns="0">
            <a:noAutofit/>
          </a:bodyPr>
          <a:lstStyle/>
          <a:p>
            <a:r>
              <a:rPr lang="en-US" altLang="ko-KR" sz="1400" dirty="0"/>
              <a:t>③ </a:t>
            </a:r>
            <a:r>
              <a:rPr lang="ko-KR" altLang="en-US" sz="1400" dirty="0"/>
              <a:t>정정청구</a:t>
            </a:r>
            <a:r>
              <a:rPr lang="en-US" altLang="ko-KR" sz="1400" dirty="0"/>
              <a:t>(</a:t>
            </a:r>
            <a:r>
              <a:rPr lang="ko-KR" altLang="en-US" sz="1400" dirty="0"/>
              <a:t>의의</a:t>
            </a:r>
            <a:r>
              <a:rPr lang="en-US" altLang="ko-KR" sz="1400" dirty="0"/>
              <a:t>)</a:t>
            </a:r>
          </a:p>
        </p:txBody>
      </p:sp>
      <p:sp>
        <p:nvSpPr>
          <p:cNvPr id="26" name="TextBox 25">
            <a:extLst>
              <a:ext uri="{FF2B5EF4-FFF2-40B4-BE49-F238E27FC236}">
                <a16:creationId xmlns:a16="http://schemas.microsoft.com/office/drawing/2014/main" id="{9B045C45-B88A-B0AB-505D-66F028D38401}"/>
              </a:ext>
            </a:extLst>
          </p:cNvPr>
          <p:cNvSpPr txBox="1"/>
          <p:nvPr/>
        </p:nvSpPr>
        <p:spPr>
          <a:xfrm>
            <a:off x="6939846" y="5603578"/>
            <a:ext cx="2350907" cy="340519"/>
          </a:xfrm>
          <a:prstGeom prst="roundRect">
            <a:avLst>
              <a:gd name="adj" fmla="val 50000"/>
            </a:avLst>
          </a:prstGeom>
          <a:noFill/>
          <a:ln>
            <a:solidFill>
              <a:schemeClr val="bg1">
                <a:lumMod val="50000"/>
              </a:schemeClr>
            </a:solidFill>
          </a:ln>
        </p:spPr>
        <p:txBody>
          <a:bodyPr wrap="square" tIns="0" bIns="0">
            <a:noAutofit/>
          </a:bodyPr>
          <a:lstStyle/>
          <a:p>
            <a:r>
              <a:rPr lang="en-US" altLang="ko-KR" sz="1400" dirty="0"/>
              <a:t>④ </a:t>
            </a:r>
            <a:r>
              <a:rPr lang="ko-KR" altLang="en-US" sz="1400" dirty="0"/>
              <a:t>정정청구</a:t>
            </a:r>
            <a:r>
              <a:rPr lang="en-US" altLang="ko-KR" sz="1400" dirty="0"/>
              <a:t>(</a:t>
            </a:r>
            <a:r>
              <a:rPr lang="ko-KR" altLang="en-US" sz="1400" dirty="0"/>
              <a:t>준용</a:t>
            </a:r>
            <a:r>
              <a:rPr lang="en-US" altLang="ko-KR" sz="1400" dirty="0"/>
              <a:t>)</a:t>
            </a:r>
          </a:p>
        </p:txBody>
      </p:sp>
      <p:sp>
        <p:nvSpPr>
          <p:cNvPr id="27" name="TextBox 26">
            <a:extLst>
              <a:ext uri="{FF2B5EF4-FFF2-40B4-BE49-F238E27FC236}">
                <a16:creationId xmlns:a16="http://schemas.microsoft.com/office/drawing/2014/main" id="{0D13D474-3018-5661-607D-4535CC609B7A}"/>
              </a:ext>
            </a:extLst>
          </p:cNvPr>
          <p:cNvSpPr txBox="1"/>
          <p:nvPr/>
        </p:nvSpPr>
        <p:spPr>
          <a:xfrm>
            <a:off x="6939846" y="4117425"/>
            <a:ext cx="2350907" cy="307777"/>
          </a:xfrm>
          <a:prstGeom prst="rect">
            <a:avLst/>
          </a:prstGeom>
          <a:solidFill>
            <a:schemeClr val="tx1">
              <a:lumMod val="95000"/>
              <a:lumOff val="5000"/>
            </a:schemeClr>
          </a:solidFill>
          <a:ln>
            <a:solidFill>
              <a:schemeClr val="bg1">
                <a:lumMod val="50000"/>
              </a:schemeClr>
            </a:solidFill>
          </a:ln>
        </p:spPr>
        <p:txBody>
          <a:bodyPr wrap="square">
            <a:spAutoFit/>
          </a:bodyPr>
          <a:lstStyle/>
          <a:p>
            <a:r>
              <a:rPr lang="ko-KR" altLang="en-US" sz="1400" dirty="0">
                <a:solidFill>
                  <a:schemeClr val="bg1"/>
                </a:solidFill>
              </a:rPr>
              <a:t>제</a:t>
            </a:r>
            <a:r>
              <a:rPr lang="en-US" altLang="ko-KR" sz="1400" dirty="0">
                <a:solidFill>
                  <a:schemeClr val="bg1"/>
                </a:solidFill>
              </a:rPr>
              <a:t>137</a:t>
            </a:r>
            <a:r>
              <a:rPr lang="ko-KR" altLang="en-US" sz="1400" dirty="0">
                <a:solidFill>
                  <a:schemeClr val="bg1"/>
                </a:solidFill>
              </a:rPr>
              <a:t>조</a:t>
            </a:r>
            <a:r>
              <a:rPr lang="en-US" altLang="ko-KR" sz="1400" dirty="0">
                <a:solidFill>
                  <a:schemeClr val="bg1"/>
                </a:solidFill>
              </a:rPr>
              <a:t>【</a:t>
            </a:r>
            <a:r>
              <a:rPr lang="ko-KR" altLang="en-US" sz="1400" dirty="0">
                <a:solidFill>
                  <a:schemeClr val="bg1"/>
                </a:solidFill>
              </a:rPr>
              <a:t>정정의 무효심판</a:t>
            </a:r>
            <a:r>
              <a:rPr lang="en-US" altLang="ko-KR" sz="1400" dirty="0">
                <a:solidFill>
                  <a:schemeClr val="bg1"/>
                </a:solidFill>
              </a:rPr>
              <a:t>】</a:t>
            </a:r>
          </a:p>
        </p:txBody>
      </p:sp>
      <p:sp>
        <p:nvSpPr>
          <p:cNvPr id="28" name="TextBox 27">
            <a:extLst>
              <a:ext uri="{FF2B5EF4-FFF2-40B4-BE49-F238E27FC236}">
                <a16:creationId xmlns:a16="http://schemas.microsoft.com/office/drawing/2014/main" id="{248FFB11-E518-71EE-75F1-006B9E6D3BC7}"/>
              </a:ext>
            </a:extLst>
          </p:cNvPr>
          <p:cNvSpPr txBox="1"/>
          <p:nvPr/>
        </p:nvSpPr>
        <p:spPr>
          <a:xfrm>
            <a:off x="6939846" y="5975440"/>
            <a:ext cx="2350907" cy="340519"/>
          </a:xfrm>
          <a:prstGeom prst="roundRect">
            <a:avLst>
              <a:gd name="adj" fmla="val 50000"/>
            </a:avLst>
          </a:prstGeom>
          <a:solidFill>
            <a:schemeClr val="accent4">
              <a:lumMod val="50000"/>
            </a:schemeClr>
          </a:solidFill>
          <a:ln>
            <a:solidFill>
              <a:schemeClr val="bg1">
                <a:lumMod val="50000"/>
              </a:schemeClr>
            </a:solidFill>
          </a:ln>
        </p:spPr>
        <p:txBody>
          <a:bodyPr wrap="square" tIns="0" bIns="0">
            <a:noAutofit/>
          </a:bodyPr>
          <a:lstStyle/>
          <a:p>
            <a:r>
              <a:rPr lang="en-US" altLang="ko-KR" sz="1400" dirty="0">
                <a:solidFill>
                  <a:schemeClr val="bg1"/>
                </a:solidFill>
              </a:rPr>
              <a:t>⑤ </a:t>
            </a:r>
            <a:r>
              <a:rPr lang="ko-KR" altLang="en-US" sz="1400" dirty="0">
                <a:solidFill>
                  <a:schemeClr val="bg1"/>
                </a:solidFill>
              </a:rPr>
              <a:t>효과</a:t>
            </a:r>
            <a:endParaRPr lang="en-US" altLang="ko-KR" sz="1400" dirty="0">
              <a:solidFill>
                <a:schemeClr val="bg1"/>
              </a:solidFill>
            </a:endParaRPr>
          </a:p>
        </p:txBody>
      </p:sp>
      <p:cxnSp>
        <p:nvCxnSpPr>
          <p:cNvPr id="50" name="직선 연결선 49">
            <a:extLst>
              <a:ext uri="{FF2B5EF4-FFF2-40B4-BE49-F238E27FC236}">
                <a16:creationId xmlns:a16="http://schemas.microsoft.com/office/drawing/2014/main" id="{97705847-13DE-CC4F-905A-CC6AB0AE4C57}"/>
              </a:ext>
            </a:extLst>
          </p:cNvPr>
          <p:cNvCxnSpPr/>
          <p:nvPr/>
        </p:nvCxnSpPr>
        <p:spPr>
          <a:xfrm flipV="1">
            <a:off x="4322239" y="1708696"/>
            <a:ext cx="2617607" cy="144636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직선 연결선 51">
            <a:extLst>
              <a:ext uri="{FF2B5EF4-FFF2-40B4-BE49-F238E27FC236}">
                <a16:creationId xmlns:a16="http://schemas.microsoft.com/office/drawing/2014/main" id="{037B51AE-4BB3-9D69-105E-BD1DEAE81BCA}"/>
              </a:ext>
            </a:extLst>
          </p:cNvPr>
          <p:cNvCxnSpPr/>
          <p:nvPr/>
        </p:nvCxnSpPr>
        <p:spPr>
          <a:xfrm flipV="1">
            <a:off x="4322239" y="2071288"/>
            <a:ext cx="2617607" cy="108377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직선 연결선 53">
            <a:extLst>
              <a:ext uri="{FF2B5EF4-FFF2-40B4-BE49-F238E27FC236}">
                <a16:creationId xmlns:a16="http://schemas.microsoft.com/office/drawing/2014/main" id="{9156B917-775F-A56F-BC8A-546906DB4146}"/>
              </a:ext>
            </a:extLst>
          </p:cNvPr>
          <p:cNvCxnSpPr/>
          <p:nvPr/>
        </p:nvCxnSpPr>
        <p:spPr>
          <a:xfrm flipV="1">
            <a:off x="4322239" y="2449170"/>
            <a:ext cx="2617607" cy="106848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직선 연결선 55">
            <a:extLst>
              <a:ext uri="{FF2B5EF4-FFF2-40B4-BE49-F238E27FC236}">
                <a16:creationId xmlns:a16="http://schemas.microsoft.com/office/drawing/2014/main" id="{6ABB279E-8DCA-2F54-9CFF-DAFB35B00965}"/>
              </a:ext>
            </a:extLst>
          </p:cNvPr>
          <p:cNvCxnSpPr/>
          <p:nvPr/>
        </p:nvCxnSpPr>
        <p:spPr>
          <a:xfrm flipV="1">
            <a:off x="4322239" y="2449170"/>
            <a:ext cx="2617607" cy="181822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직선 연결선 57">
            <a:extLst>
              <a:ext uri="{FF2B5EF4-FFF2-40B4-BE49-F238E27FC236}">
                <a16:creationId xmlns:a16="http://schemas.microsoft.com/office/drawing/2014/main" id="{73E0BDE5-9087-0D01-A62D-AB43581479B2}"/>
              </a:ext>
            </a:extLst>
          </p:cNvPr>
          <p:cNvCxnSpPr/>
          <p:nvPr/>
        </p:nvCxnSpPr>
        <p:spPr>
          <a:xfrm flipV="1">
            <a:off x="4322239" y="2821032"/>
            <a:ext cx="2617607" cy="107450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직선 연결선 58">
            <a:extLst>
              <a:ext uri="{FF2B5EF4-FFF2-40B4-BE49-F238E27FC236}">
                <a16:creationId xmlns:a16="http://schemas.microsoft.com/office/drawing/2014/main" id="{E674E37C-222C-35DC-728E-C7795139EFE0}"/>
              </a:ext>
            </a:extLst>
          </p:cNvPr>
          <p:cNvCxnSpPr>
            <a:cxnSpLocks/>
          </p:cNvCxnSpPr>
          <p:nvPr/>
        </p:nvCxnSpPr>
        <p:spPr>
          <a:xfrm>
            <a:off x="4322239" y="3895532"/>
            <a:ext cx="2617607" cy="223492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직선 연결선 61">
            <a:extLst>
              <a:ext uri="{FF2B5EF4-FFF2-40B4-BE49-F238E27FC236}">
                <a16:creationId xmlns:a16="http://schemas.microsoft.com/office/drawing/2014/main" id="{58CE7F85-B5F8-BFED-4B9E-B55145A7E153}"/>
              </a:ext>
            </a:extLst>
          </p:cNvPr>
          <p:cNvCxnSpPr>
            <a:cxnSpLocks/>
          </p:cNvCxnSpPr>
          <p:nvPr/>
        </p:nvCxnSpPr>
        <p:spPr>
          <a:xfrm>
            <a:off x="4322239" y="3517650"/>
            <a:ext cx="2617607" cy="149120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직선 연결선 64">
            <a:extLst>
              <a:ext uri="{FF2B5EF4-FFF2-40B4-BE49-F238E27FC236}">
                <a16:creationId xmlns:a16="http://schemas.microsoft.com/office/drawing/2014/main" id="{2936BB29-C8F0-E377-E7FF-31AC9BC26478}"/>
              </a:ext>
            </a:extLst>
          </p:cNvPr>
          <p:cNvCxnSpPr>
            <a:cxnSpLocks/>
          </p:cNvCxnSpPr>
          <p:nvPr/>
        </p:nvCxnSpPr>
        <p:spPr>
          <a:xfrm>
            <a:off x="4322239" y="4267394"/>
            <a:ext cx="2617607" cy="74146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직선 연결선 67">
            <a:extLst>
              <a:ext uri="{FF2B5EF4-FFF2-40B4-BE49-F238E27FC236}">
                <a16:creationId xmlns:a16="http://schemas.microsoft.com/office/drawing/2014/main" id="{DE37D966-12C8-7A40-3CFD-635954F624F6}"/>
              </a:ext>
            </a:extLst>
          </p:cNvPr>
          <p:cNvCxnSpPr>
            <a:cxnSpLocks/>
          </p:cNvCxnSpPr>
          <p:nvPr/>
        </p:nvCxnSpPr>
        <p:spPr>
          <a:xfrm>
            <a:off x="4322239" y="3155058"/>
            <a:ext cx="2617607" cy="149120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도넛 82">
            <a:extLst>
              <a:ext uri="{FF2B5EF4-FFF2-40B4-BE49-F238E27FC236}">
                <a16:creationId xmlns:a16="http://schemas.microsoft.com/office/drawing/2014/main" id="{AED10495-76D5-0A7E-E470-7D51621830CA}"/>
              </a:ext>
            </a:extLst>
          </p:cNvPr>
          <p:cNvSpPr/>
          <p:nvPr/>
        </p:nvSpPr>
        <p:spPr>
          <a:xfrm>
            <a:off x="6028650" y="2645523"/>
            <a:ext cx="199609" cy="184678"/>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74" name="도넛 82">
            <a:extLst>
              <a:ext uri="{FF2B5EF4-FFF2-40B4-BE49-F238E27FC236}">
                <a16:creationId xmlns:a16="http://schemas.microsoft.com/office/drawing/2014/main" id="{9834A7F9-B3C3-1916-22A3-28FED57CC552}"/>
              </a:ext>
            </a:extLst>
          </p:cNvPr>
          <p:cNvSpPr/>
          <p:nvPr/>
        </p:nvSpPr>
        <p:spPr>
          <a:xfrm>
            <a:off x="6036235" y="2891300"/>
            <a:ext cx="199609" cy="184678"/>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75" name="도넛 82">
            <a:extLst>
              <a:ext uri="{FF2B5EF4-FFF2-40B4-BE49-F238E27FC236}">
                <a16:creationId xmlns:a16="http://schemas.microsoft.com/office/drawing/2014/main" id="{7B64B8C6-5C92-D87B-4C9F-4787BF33C7CB}"/>
              </a:ext>
            </a:extLst>
          </p:cNvPr>
          <p:cNvSpPr/>
          <p:nvPr/>
        </p:nvSpPr>
        <p:spPr>
          <a:xfrm>
            <a:off x="5928845" y="4370568"/>
            <a:ext cx="199609" cy="184678"/>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76" name="도넛 82">
            <a:extLst>
              <a:ext uri="{FF2B5EF4-FFF2-40B4-BE49-F238E27FC236}">
                <a16:creationId xmlns:a16="http://schemas.microsoft.com/office/drawing/2014/main" id="{CEB11A45-D8D4-012D-7DCF-2E2165CD048C}"/>
              </a:ext>
            </a:extLst>
          </p:cNvPr>
          <p:cNvSpPr/>
          <p:nvPr/>
        </p:nvSpPr>
        <p:spPr>
          <a:xfrm>
            <a:off x="5928845" y="4646333"/>
            <a:ext cx="199609" cy="184678"/>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77" name="곱셈 기호 85">
            <a:extLst>
              <a:ext uri="{FF2B5EF4-FFF2-40B4-BE49-F238E27FC236}">
                <a16:creationId xmlns:a16="http://schemas.microsoft.com/office/drawing/2014/main" id="{408C6971-D87C-D1A8-8C7B-3C5411D4B491}"/>
              </a:ext>
            </a:extLst>
          </p:cNvPr>
          <p:cNvSpPr/>
          <p:nvPr/>
        </p:nvSpPr>
        <p:spPr>
          <a:xfrm>
            <a:off x="6511897" y="1675883"/>
            <a:ext cx="311205" cy="316567"/>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78" name="곱셈 기호 85">
            <a:extLst>
              <a:ext uri="{FF2B5EF4-FFF2-40B4-BE49-F238E27FC236}">
                <a16:creationId xmlns:a16="http://schemas.microsoft.com/office/drawing/2014/main" id="{8943166A-361F-2581-1B20-FA5375EB57C5}"/>
              </a:ext>
            </a:extLst>
          </p:cNvPr>
          <p:cNvSpPr/>
          <p:nvPr/>
        </p:nvSpPr>
        <p:spPr>
          <a:xfrm>
            <a:off x="6521421" y="1990813"/>
            <a:ext cx="311205" cy="316567"/>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79" name="곱셈 기호 85">
            <a:extLst>
              <a:ext uri="{FF2B5EF4-FFF2-40B4-BE49-F238E27FC236}">
                <a16:creationId xmlns:a16="http://schemas.microsoft.com/office/drawing/2014/main" id="{6A250C99-2481-9E86-8AB5-3F5A397FBA4D}"/>
              </a:ext>
            </a:extLst>
          </p:cNvPr>
          <p:cNvSpPr/>
          <p:nvPr/>
        </p:nvSpPr>
        <p:spPr>
          <a:xfrm>
            <a:off x="6521421" y="2744135"/>
            <a:ext cx="311205" cy="316567"/>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80" name="곱셈 기호 85">
            <a:extLst>
              <a:ext uri="{FF2B5EF4-FFF2-40B4-BE49-F238E27FC236}">
                <a16:creationId xmlns:a16="http://schemas.microsoft.com/office/drawing/2014/main" id="{B4322100-DF2B-8341-0974-701BBBB61BF6}"/>
              </a:ext>
            </a:extLst>
          </p:cNvPr>
          <p:cNvSpPr/>
          <p:nvPr/>
        </p:nvSpPr>
        <p:spPr>
          <a:xfrm>
            <a:off x="6521421" y="4323245"/>
            <a:ext cx="311205" cy="316567"/>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81" name="곱셈 기호 85">
            <a:extLst>
              <a:ext uri="{FF2B5EF4-FFF2-40B4-BE49-F238E27FC236}">
                <a16:creationId xmlns:a16="http://schemas.microsoft.com/office/drawing/2014/main" id="{7CAF8471-B00E-3519-E8DF-4A3263229DCA}"/>
              </a:ext>
            </a:extLst>
          </p:cNvPr>
          <p:cNvSpPr/>
          <p:nvPr/>
        </p:nvSpPr>
        <p:spPr>
          <a:xfrm>
            <a:off x="6521421" y="5711436"/>
            <a:ext cx="311205" cy="316567"/>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5" name="TextBox 4">
            <a:extLst>
              <a:ext uri="{FF2B5EF4-FFF2-40B4-BE49-F238E27FC236}">
                <a16:creationId xmlns:a16="http://schemas.microsoft.com/office/drawing/2014/main" id="{F8DC4AD9-EAAE-5FC7-BEEC-A05DAAE3C455}"/>
              </a:ext>
            </a:extLst>
          </p:cNvPr>
          <p:cNvSpPr txBox="1"/>
          <p:nvPr/>
        </p:nvSpPr>
        <p:spPr>
          <a:xfrm>
            <a:off x="6939846" y="3056871"/>
            <a:ext cx="2350907" cy="302955"/>
          </a:xfrm>
          <a:prstGeom prst="roundRect">
            <a:avLst>
              <a:gd name="adj" fmla="val 50000"/>
            </a:avLst>
          </a:prstGeom>
          <a:solidFill>
            <a:schemeClr val="accent6">
              <a:lumMod val="50000"/>
            </a:schemeClr>
          </a:solidFill>
          <a:ln>
            <a:solidFill>
              <a:schemeClr val="bg1">
                <a:lumMod val="50000"/>
              </a:schemeClr>
            </a:solidFill>
          </a:ln>
        </p:spPr>
        <p:txBody>
          <a:bodyPr wrap="square" tIns="0" bIns="0">
            <a:spAutoFit/>
          </a:bodyPr>
          <a:lstStyle/>
          <a:p>
            <a:r>
              <a:rPr lang="en-US" altLang="ko-KR" sz="1400" dirty="0">
                <a:solidFill>
                  <a:schemeClr val="bg1"/>
                </a:solidFill>
              </a:rPr>
              <a:t>⑤ </a:t>
            </a:r>
            <a:r>
              <a:rPr lang="ko-KR" altLang="en-US" sz="1400" dirty="0">
                <a:solidFill>
                  <a:schemeClr val="bg1"/>
                </a:solidFill>
              </a:rPr>
              <a:t>효과</a:t>
            </a:r>
            <a:endParaRPr lang="en-US" altLang="ko-KR" sz="1400" dirty="0">
              <a:solidFill>
                <a:schemeClr val="bg1"/>
              </a:solidFill>
            </a:endParaRPr>
          </a:p>
        </p:txBody>
      </p:sp>
      <p:cxnSp>
        <p:nvCxnSpPr>
          <p:cNvPr id="7" name="직선 연결선 6">
            <a:extLst>
              <a:ext uri="{FF2B5EF4-FFF2-40B4-BE49-F238E27FC236}">
                <a16:creationId xmlns:a16="http://schemas.microsoft.com/office/drawing/2014/main" id="{C0244C93-314C-83B4-6A04-A363EB8223D2}"/>
              </a:ext>
            </a:extLst>
          </p:cNvPr>
          <p:cNvCxnSpPr>
            <a:cxnSpLocks/>
            <a:stCxn id="14" idx="3"/>
            <a:endCxn id="5" idx="1"/>
          </p:cNvCxnSpPr>
          <p:nvPr/>
        </p:nvCxnSpPr>
        <p:spPr>
          <a:xfrm flipV="1">
            <a:off x="4322239" y="3208349"/>
            <a:ext cx="2617607" cy="71766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곱셈 기호 85">
            <a:extLst>
              <a:ext uri="{FF2B5EF4-FFF2-40B4-BE49-F238E27FC236}">
                <a16:creationId xmlns:a16="http://schemas.microsoft.com/office/drawing/2014/main" id="{4EB2AA83-AA81-3734-F7C6-F93E698730AD}"/>
              </a:ext>
            </a:extLst>
          </p:cNvPr>
          <p:cNvSpPr/>
          <p:nvPr/>
        </p:nvSpPr>
        <p:spPr>
          <a:xfrm>
            <a:off x="6521421" y="3120608"/>
            <a:ext cx="311205" cy="316567"/>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Tree>
    <p:extLst>
      <p:ext uri="{BB962C8B-B14F-4D97-AF65-F5344CB8AC3E}">
        <p14:creationId xmlns:p14="http://schemas.microsoft.com/office/powerpoint/2010/main" val="2692525111"/>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solidFill>
                  <a:schemeClr val="tx1">
                    <a:lumMod val="65000"/>
                    <a:lumOff val="35000"/>
                  </a:schemeClr>
                </a:solidFill>
              </a:rPr>
              <a:t>특허발명 </a:t>
            </a:r>
            <a:r>
              <a:rPr lang="en-US" altLang="ko-KR" dirty="0">
                <a:solidFill>
                  <a:schemeClr val="tx1">
                    <a:lumMod val="65000"/>
                    <a:lumOff val="35000"/>
                  </a:schemeClr>
                </a:solidFill>
              </a:rPr>
              <a:t>vs </a:t>
            </a:r>
            <a:r>
              <a:rPr lang="ko-KR" altLang="en-US" dirty="0">
                <a:solidFill>
                  <a:schemeClr val="tx1">
                    <a:lumMod val="65000"/>
                    <a:lumOff val="35000"/>
                  </a:schemeClr>
                </a:solidFill>
              </a:rPr>
              <a:t>확인대상발명 </a:t>
            </a:r>
            <a:r>
              <a:rPr lang="en-US" altLang="ko-KR" dirty="0">
                <a:solidFill>
                  <a:schemeClr val="tx1">
                    <a:lumMod val="65000"/>
                    <a:lumOff val="35000"/>
                  </a:schemeClr>
                </a:solidFill>
              </a:rPr>
              <a:t>vs </a:t>
            </a:r>
            <a:r>
              <a:rPr lang="ko-KR" altLang="en-US" dirty="0">
                <a:solidFill>
                  <a:schemeClr val="tx1">
                    <a:lumMod val="65000"/>
                    <a:lumOff val="35000"/>
                  </a:schemeClr>
                </a:solidFill>
              </a:rPr>
              <a:t>실시제품</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24" name="직사각형 23">
            <a:extLst>
              <a:ext uri="{FF2B5EF4-FFF2-40B4-BE49-F238E27FC236}">
                <a16:creationId xmlns:a16="http://schemas.microsoft.com/office/drawing/2014/main" id="{F61BF505-D609-4FB1-848F-D1DC3C4433B1}"/>
              </a:ext>
            </a:extLst>
          </p:cNvPr>
          <p:cNvSpPr/>
          <p:nvPr/>
        </p:nvSpPr>
        <p:spPr>
          <a:xfrm>
            <a:off x="9637447" y="2359797"/>
            <a:ext cx="1530276" cy="664388"/>
          </a:xfrm>
          <a:prstGeom prst="rect">
            <a:avLst/>
          </a:prstGeom>
          <a:solidFill>
            <a:schemeClr val="bg2">
              <a:lumMod val="2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rgbClr val="FFFF00"/>
                </a:solidFill>
              </a:rPr>
              <a:t>실시제품</a:t>
            </a:r>
            <a:endParaRPr lang="en-US" altLang="ko-KR" dirty="0">
              <a:solidFill>
                <a:srgbClr val="FFFF00"/>
              </a:solidFill>
            </a:endParaRPr>
          </a:p>
          <a:p>
            <a:pPr algn="ctr"/>
            <a:r>
              <a:rPr lang="en-US" altLang="ko-KR" sz="1400" dirty="0">
                <a:solidFill>
                  <a:srgbClr val="FFFF00"/>
                </a:solidFill>
              </a:rPr>
              <a:t>(</a:t>
            </a:r>
            <a:r>
              <a:rPr lang="ko-KR" altLang="en-US" sz="1400" dirty="0">
                <a:solidFill>
                  <a:srgbClr val="FFFF00"/>
                </a:solidFill>
              </a:rPr>
              <a:t>과거</a:t>
            </a:r>
            <a:r>
              <a:rPr lang="en-US" altLang="ko-KR" sz="1400" dirty="0">
                <a:solidFill>
                  <a:srgbClr val="FFFF00"/>
                </a:solidFill>
              </a:rPr>
              <a:t>,</a:t>
            </a:r>
            <a:r>
              <a:rPr lang="ko-KR" altLang="en-US" sz="1400" dirty="0">
                <a:solidFill>
                  <a:srgbClr val="FFFF00"/>
                </a:solidFill>
              </a:rPr>
              <a:t>현재</a:t>
            </a:r>
            <a:r>
              <a:rPr lang="en-US" altLang="ko-KR" sz="1400" dirty="0">
                <a:solidFill>
                  <a:srgbClr val="FFFF00"/>
                </a:solidFill>
              </a:rPr>
              <a:t>)</a:t>
            </a:r>
            <a:endParaRPr lang="ko-KR" altLang="en-US" sz="1400" dirty="0">
              <a:solidFill>
                <a:srgbClr val="FFFF00"/>
              </a:solidFill>
            </a:endParaRPr>
          </a:p>
        </p:txBody>
      </p:sp>
      <p:sp>
        <p:nvSpPr>
          <p:cNvPr id="7" name="직사각형 6">
            <a:extLst>
              <a:ext uri="{FF2B5EF4-FFF2-40B4-BE49-F238E27FC236}">
                <a16:creationId xmlns:a16="http://schemas.microsoft.com/office/drawing/2014/main" id="{FCC0D103-9298-4D3B-98B4-24EB174731AB}"/>
              </a:ext>
            </a:extLst>
          </p:cNvPr>
          <p:cNvSpPr/>
          <p:nvPr/>
        </p:nvSpPr>
        <p:spPr>
          <a:xfrm>
            <a:off x="1559355" y="2342621"/>
            <a:ext cx="1052422" cy="698740"/>
          </a:xfrm>
          <a:prstGeom prst="rect">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2"/>
                </a:solidFill>
              </a:rPr>
              <a:t>명세서</a:t>
            </a:r>
            <a:r>
              <a:rPr lang="en-US" altLang="ko-KR" dirty="0">
                <a:solidFill>
                  <a:schemeClr val="tx2"/>
                </a:solidFill>
              </a:rPr>
              <a:t>/</a:t>
            </a:r>
            <a:r>
              <a:rPr lang="ko-KR" altLang="en-US" dirty="0">
                <a:solidFill>
                  <a:schemeClr val="tx2"/>
                </a:solidFill>
              </a:rPr>
              <a:t>도면</a:t>
            </a:r>
          </a:p>
        </p:txBody>
      </p:sp>
      <p:sp>
        <p:nvSpPr>
          <p:cNvPr id="26" name="직사각형 25">
            <a:extLst>
              <a:ext uri="{FF2B5EF4-FFF2-40B4-BE49-F238E27FC236}">
                <a16:creationId xmlns:a16="http://schemas.microsoft.com/office/drawing/2014/main" id="{43CAE3E5-618B-44C1-9558-DC4354FF1DDF}"/>
              </a:ext>
            </a:extLst>
          </p:cNvPr>
          <p:cNvSpPr/>
          <p:nvPr/>
        </p:nvSpPr>
        <p:spPr>
          <a:xfrm>
            <a:off x="5451714" y="2359797"/>
            <a:ext cx="1535771" cy="664388"/>
          </a:xfrm>
          <a:prstGeom prst="rect">
            <a:avLst/>
          </a:prstGeom>
          <a:solidFill>
            <a:schemeClr val="bg2">
              <a:lumMod val="2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rgbClr val="FFFF00"/>
                </a:solidFill>
              </a:rPr>
              <a:t>확인대상발명</a:t>
            </a:r>
            <a:endParaRPr lang="en-US" altLang="ko-KR" dirty="0">
              <a:solidFill>
                <a:srgbClr val="FFFF00"/>
              </a:solidFill>
            </a:endParaRPr>
          </a:p>
          <a:p>
            <a:pPr algn="ctr"/>
            <a:r>
              <a:rPr lang="en-US" altLang="ko-KR" dirty="0">
                <a:solidFill>
                  <a:srgbClr val="FFFF00"/>
                </a:solidFill>
              </a:rPr>
              <a:t>(</a:t>
            </a:r>
            <a:r>
              <a:rPr lang="ko-KR" altLang="en-US" dirty="0">
                <a:solidFill>
                  <a:srgbClr val="FFFF00"/>
                </a:solidFill>
              </a:rPr>
              <a:t>특정</a:t>
            </a:r>
            <a:r>
              <a:rPr lang="en-US" altLang="ko-KR" dirty="0">
                <a:solidFill>
                  <a:srgbClr val="FFFF00"/>
                </a:solidFill>
              </a:rPr>
              <a:t>)</a:t>
            </a:r>
            <a:endParaRPr lang="ko-KR" altLang="en-US" dirty="0">
              <a:solidFill>
                <a:srgbClr val="FFFF00"/>
              </a:solidFill>
            </a:endParaRPr>
          </a:p>
        </p:txBody>
      </p:sp>
      <p:sp>
        <p:nvSpPr>
          <p:cNvPr id="27" name="직사각형 26">
            <a:extLst>
              <a:ext uri="{FF2B5EF4-FFF2-40B4-BE49-F238E27FC236}">
                <a16:creationId xmlns:a16="http://schemas.microsoft.com/office/drawing/2014/main" id="{8357C5F9-C015-4106-9FA0-106D9E0114A2}"/>
              </a:ext>
            </a:extLst>
          </p:cNvPr>
          <p:cNvSpPr/>
          <p:nvPr/>
        </p:nvSpPr>
        <p:spPr>
          <a:xfrm>
            <a:off x="3167173" y="2359797"/>
            <a:ext cx="1306440" cy="664388"/>
          </a:xfrm>
          <a:prstGeom prst="rect">
            <a:avLst/>
          </a:prstGeom>
          <a:solidFill>
            <a:schemeClr val="bg2">
              <a:lumMod val="2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rgbClr val="FFFF00"/>
                </a:solidFill>
              </a:rPr>
              <a:t>특허발명</a:t>
            </a:r>
            <a:endParaRPr lang="en-US" altLang="ko-KR" dirty="0">
              <a:solidFill>
                <a:srgbClr val="FFFF00"/>
              </a:solidFill>
            </a:endParaRPr>
          </a:p>
          <a:p>
            <a:pPr algn="ctr"/>
            <a:r>
              <a:rPr lang="en-US" altLang="ko-KR" dirty="0">
                <a:solidFill>
                  <a:srgbClr val="FFFF00"/>
                </a:solidFill>
              </a:rPr>
              <a:t>(</a:t>
            </a:r>
            <a:r>
              <a:rPr lang="ko-KR" altLang="en-US" dirty="0">
                <a:solidFill>
                  <a:srgbClr val="FFFF00"/>
                </a:solidFill>
              </a:rPr>
              <a:t>특정</a:t>
            </a:r>
            <a:r>
              <a:rPr lang="en-US" altLang="ko-KR" dirty="0">
                <a:solidFill>
                  <a:srgbClr val="FFFF00"/>
                </a:solidFill>
              </a:rPr>
              <a:t>)</a:t>
            </a:r>
          </a:p>
        </p:txBody>
      </p:sp>
      <p:sp>
        <p:nvSpPr>
          <p:cNvPr id="28" name="직사각형 27">
            <a:extLst>
              <a:ext uri="{FF2B5EF4-FFF2-40B4-BE49-F238E27FC236}">
                <a16:creationId xmlns:a16="http://schemas.microsoft.com/office/drawing/2014/main" id="{AA94C428-72E3-48A5-962B-9CCCC0CA6627}"/>
              </a:ext>
            </a:extLst>
          </p:cNvPr>
          <p:cNvSpPr/>
          <p:nvPr/>
        </p:nvSpPr>
        <p:spPr>
          <a:xfrm>
            <a:off x="7940044" y="2342621"/>
            <a:ext cx="1052422" cy="698740"/>
          </a:xfrm>
          <a:prstGeom prst="rect">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chemeClr val="tx2"/>
                </a:solidFill>
              </a:rPr>
              <a:t>설명서</a:t>
            </a:r>
            <a:r>
              <a:rPr lang="en-US" altLang="ko-KR" dirty="0">
                <a:solidFill>
                  <a:schemeClr val="tx2"/>
                </a:solidFill>
              </a:rPr>
              <a:t>/</a:t>
            </a:r>
          </a:p>
          <a:p>
            <a:pPr algn="ctr"/>
            <a:r>
              <a:rPr lang="ko-KR" altLang="en-US" dirty="0">
                <a:solidFill>
                  <a:schemeClr val="tx2"/>
                </a:solidFill>
              </a:rPr>
              <a:t>도면</a:t>
            </a:r>
            <a:endParaRPr lang="en-US" altLang="ko-KR" dirty="0">
              <a:solidFill>
                <a:schemeClr val="tx2"/>
              </a:solidFill>
            </a:endParaRPr>
          </a:p>
        </p:txBody>
      </p:sp>
      <p:cxnSp>
        <p:nvCxnSpPr>
          <p:cNvPr id="21" name="직선 화살표 연결선 20">
            <a:extLst>
              <a:ext uri="{FF2B5EF4-FFF2-40B4-BE49-F238E27FC236}">
                <a16:creationId xmlns:a16="http://schemas.microsoft.com/office/drawing/2014/main" id="{B27BC334-A085-49B2-87E4-F4E69DC4C696}"/>
              </a:ext>
            </a:extLst>
          </p:cNvPr>
          <p:cNvCxnSpPr>
            <a:cxnSpLocks/>
            <a:stCxn id="28" idx="1"/>
            <a:endCxn id="26" idx="3"/>
          </p:cNvCxnSpPr>
          <p:nvPr/>
        </p:nvCxnSpPr>
        <p:spPr>
          <a:xfrm flipH="1">
            <a:off x="6987485" y="2691991"/>
            <a:ext cx="952559"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9" name="직선 화살표 연결선 28">
            <a:extLst>
              <a:ext uri="{FF2B5EF4-FFF2-40B4-BE49-F238E27FC236}">
                <a16:creationId xmlns:a16="http://schemas.microsoft.com/office/drawing/2014/main" id="{FCF39E9A-FD52-4566-82FE-8BA76AC0E8C8}"/>
              </a:ext>
            </a:extLst>
          </p:cNvPr>
          <p:cNvCxnSpPr>
            <a:cxnSpLocks/>
            <a:stCxn id="7" idx="3"/>
            <a:endCxn id="27" idx="1"/>
          </p:cNvCxnSpPr>
          <p:nvPr/>
        </p:nvCxnSpPr>
        <p:spPr>
          <a:xfrm>
            <a:off x="2611777" y="2691991"/>
            <a:ext cx="555396"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27A78A00-0C1C-4FB1-A1E2-035CB1FA1C4A}"/>
              </a:ext>
            </a:extLst>
          </p:cNvPr>
          <p:cNvSpPr txBox="1"/>
          <p:nvPr/>
        </p:nvSpPr>
        <p:spPr>
          <a:xfrm>
            <a:off x="4634003" y="2430380"/>
            <a:ext cx="623889" cy="523220"/>
          </a:xfrm>
          <a:prstGeom prst="rect">
            <a:avLst/>
          </a:prstGeom>
          <a:noFill/>
        </p:spPr>
        <p:txBody>
          <a:bodyPr wrap="none" rtlCol="0">
            <a:spAutoFit/>
          </a:bodyPr>
          <a:lstStyle/>
          <a:p>
            <a:r>
              <a:rPr lang="en-US" altLang="ko-KR" sz="2800" dirty="0"/>
              <a:t>VS</a:t>
            </a:r>
            <a:endParaRPr lang="ko-KR" altLang="en-US" sz="2800" dirty="0"/>
          </a:p>
        </p:txBody>
      </p:sp>
      <p:sp>
        <p:nvSpPr>
          <p:cNvPr id="40" name="TextBox 39">
            <a:extLst>
              <a:ext uri="{FF2B5EF4-FFF2-40B4-BE49-F238E27FC236}">
                <a16:creationId xmlns:a16="http://schemas.microsoft.com/office/drawing/2014/main" id="{67E04925-A6B7-4651-ACBF-70D130B3F12C}"/>
              </a:ext>
            </a:extLst>
          </p:cNvPr>
          <p:cNvSpPr txBox="1"/>
          <p:nvPr/>
        </p:nvSpPr>
        <p:spPr>
          <a:xfrm flipH="1">
            <a:off x="2608611" y="2707891"/>
            <a:ext cx="667687" cy="369332"/>
          </a:xfrm>
          <a:prstGeom prst="rect">
            <a:avLst/>
          </a:prstGeom>
          <a:noFill/>
        </p:spPr>
        <p:txBody>
          <a:bodyPr wrap="square" rtlCol="0">
            <a:spAutoFit/>
          </a:bodyPr>
          <a:lstStyle/>
          <a:p>
            <a:r>
              <a:rPr lang="ko-KR" altLang="en-US" dirty="0"/>
              <a:t>해석</a:t>
            </a:r>
          </a:p>
        </p:txBody>
      </p:sp>
      <p:sp>
        <p:nvSpPr>
          <p:cNvPr id="41" name="TextBox 40">
            <a:extLst>
              <a:ext uri="{FF2B5EF4-FFF2-40B4-BE49-F238E27FC236}">
                <a16:creationId xmlns:a16="http://schemas.microsoft.com/office/drawing/2014/main" id="{7B8D47EB-2D69-4E9A-8BC4-BCE96C1F6366}"/>
              </a:ext>
            </a:extLst>
          </p:cNvPr>
          <p:cNvSpPr txBox="1"/>
          <p:nvPr/>
        </p:nvSpPr>
        <p:spPr>
          <a:xfrm flipH="1">
            <a:off x="7154482" y="2699265"/>
            <a:ext cx="667687" cy="369332"/>
          </a:xfrm>
          <a:prstGeom prst="rect">
            <a:avLst/>
          </a:prstGeom>
          <a:noFill/>
        </p:spPr>
        <p:txBody>
          <a:bodyPr wrap="square" rtlCol="0">
            <a:spAutoFit/>
          </a:bodyPr>
          <a:lstStyle/>
          <a:p>
            <a:r>
              <a:rPr lang="ko-KR" altLang="en-US" dirty="0"/>
              <a:t>해석</a:t>
            </a:r>
          </a:p>
        </p:txBody>
      </p:sp>
      <p:cxnSp>
        <p:nvCxnSpPr>
          <p:cNvPr id="43" name="연결선: 꺾임 42">
            <a:extLst>
              <a:ext uri="{FF2B5EF4-FFF2-40B4-BE49-F238E27FC236}">
                <a16:creationId xmlns:a16="http://schemas.microsoft.com/office/drawing/2014/main" id="{468CD040-63FB-4933-AB12-A135892E6D58}"/>
              </a:ext>
            </a:extLst>
          </p:cNvPr>
          <p:cNvCxnSpPr>
            <a:cxnSpLocks/>
            <a:stCxn id="26" idx="0"/>
            <a:endCxn id="24" idx="0"/>
          </p:cNvCxnSpPr>
          <p:nvPr/>
        </p:nvCxnSpPr>
        <p:spPr>
          <a:xfrm rot="5400000" flipH="1" flipV="1">
            <a:off x="8311092" y="268305"/>
            <a:ext cx="12700" cy="4182985"/>
          </a:xfrm>
          <a:prstGeom prst="bentConnector3">
            <a:avLst>
              <a:gd name="adj1" fmla="val 1800000"/>
            </a:avLst>
          </a:prstGeom>
          <a:ln w="28575">
            <a:solidFill>
              <a:srgbClr val="FF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B34696F1-35DE-41FC-9A92-309C62046A70}"/>
              </a:ext>
            </a:extLst>
          </p:cNvPr>
          <p:cNvSpPr txBox="1"/>
          <p:nvPr/>
        </p:nvSpPr>
        <p:spPr>
          <a:xfrm>
            <a:off x="7153276" y="1769542"/>
            <a:ext cx="1951175" cy="369332"/>
          </a:xfrm>
          <a:prstGeom prst="rect">
            <a:avLst/>
          </a:prstGeom>
          <a:noFill/>
        </p:spPr>
        <p:txBody>
          <a:bodyPr wrap="none" rtlCol="0">
            <a:spAutoFit/>
          </a:bodyPr>
          <a:lstStyle/>
          <a:p>
            <a:r>
              <a:rPr lang="ko-KR" altLang="en-US" dirty="0">
                <a:solidFill>
                  <a:srgbClr val="FF0000"/>
                </a:solidFill>
              </a:rPr>
              <a:t>사실적 관점 동일</a:t>
            </a:r>
            <a:r>
              <a:rPr lang="en-US" altLang="ko-KR" dirty="0">
                <a:solidFill>
                  <a:srgbClr val="FF0000"/>
                </a:solidFill>
              </a:rPr>
              <a:t>O</a:t>
            </a:r>
            <a:endParaRPr lang="ko-KR" altLang="en-US" dirty="0">
              <a:solidFill>
                <a:srgbClr val="FF0000"/>
              </a:solidFill>
            </a:endParaRPr>
          </a:p>
        </p:txBody>
      </p:sp>
      <p:sp>
        <p:nvSpPr>
          <p:cNvPr id="45" name="TextBox 44">
            <a:extLst>
              <a:ext uri="{FF2B5EF4-FFF2-40B4-BE49-F238E27FC236}">
                <a16:creationId xmlns:a16="http://schemas.microsoft.com/office/drawing/2014/main" id="{41D53255-87C3-40C6-B36B-37302910AC2B}"/>
              </a:ext>
            </a:extLst>
          </p:cNvPr>
          <p:cNvSpPr txBox="1"/>
          <p:nvPr/>
        </p:nvSpPr>
        <p:spPr>
          <a:xfrm>
            <a:off x="2074664" y="4514314"/>
            <a:ext cx="737702" cy="338554"/>
          </a:xfrm>
          <a:prstGeom prst="rect">
            <a:avLst/>
          </a:prstGeom>
          <a:noFill/>
          <a:ln>
            <a:solidFill>
              <a:schemeClr val="bg2">
                <a:lumMod val="75000"/>
              </a:schemeClr>
            </a:solidFill>
          </a:ln>
        </p:spPr>
        <p:txBody>
          <a:bodyPr wrap="none" rtlCol="0">
            <a:noAutofit/>
          </a:bodyPr>
          <a:lstStyle/>
          <a:p>
            <a:pPr algn="ctr"/>
            <a:r>
              <a:rPr lang="ko-KR" altLang="en-US" sz="1600" dirty="0"/>
              <a:t>명세서</a:t>
            </a:r>
          </a:p>
        </p:txBody>
      </p:sp>
      <p:cxnSp>
        <p:nvCxnSpPr>
          <p:cNvPr id="47" name="연결선: 꺾임 46">
            <a:extLst>
              <a:ext uri="{FF2B5EF4-FFF2-40B4-BE49-F238E27FC236}">
                <a16:creationId xmlns:a16="http://schemas.microsoft.com/office/drawing/2014/main" id="{229606ED-BD14-4718-AF1B-39DF0E1A3D4F}"/>
              </a:ext>
            </a:extLst>
          </p:cNvPr>
          <p:cNvCxnSpPr>
            <a:stCxn id="40" idx="2"/>
            <a:endCxn id="41" idx="2"/>
          </p:cNvCxnSpPr>
          <p:nvPr/>
        </p:nvCxnSpPr>
        <p:spPr>
          <a:xfrm rot="5400000" flipH="1" flipV="1">
            <a:off x="5211076" y="799974"/>
            <a:ext cx="8626" cy="4545871"/>
          </a:xfrm>
          <a:prstGeom prst="bentConnector3">
            <a:avLst>
              <a:gd name="adj1" fmla="val -13250661"/>
            </a:avLst>
          </a:prstGeom>
          <a:ln w="28575">
            <a:solidFill>
              <a:srgbClr val="FF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C8255E7D-174E-4A10-A4A8-4ACBDF7DFF99}"/>
              </a:ext>
            </a:extLst>
          </p:cNvPr>
          <p:cNvSpPr txBox="1"/>
          <p:nvPr/>
        </p:nvSpPr>
        <p:spPr>
          <a:xfrm>
            <a:off x="4787431" y="3995213"/>
            <a:ext cx="1293945" cy="830997"/>
          </a:xfrm>
          <a:prstGeom prst="rect">
            <a:avLst/>
          </a:prstGeom>
          <a:solidFill>
            <a:schemeClr val="accent1">
              <a:lumMod val="50000"/>
            </a:schemeClr>
          </a:solidFill>
        </p:spPr>
        <p:txBody>
          <a:bodyPr wrap="none" rtlCol="0">
            <a:spAutoFit/>
          </a:bodyPr>
          <a:lstStyle/>
          <a:p>
            <a:pPr algn="ctr"/>
            <a:r>
              <a:rPr lang="ko-KR" altLang="en-US" sz="2400" dirty="0">
                <a:solidFill>
                  <a:schemeClr val="bg1"/>
                </a:solidFill>
              </a:rPr>
              <a:t>동일한 </a:t>
            </a:r>
            <a:endParaRPr lang="en-US" altLang="ko-KR" sz="2400" dirty="0">
              <a:solidFill>
                <a:schemeClr val="bg1"/>
              </a:solidFill>
            </a:endParaRPr>
          </a:p>
          <a:p>
            <a:pPr algn="ctr"/>
            <a:r>
              <a:rPr lang="ko-KR" altLang="en-US" sz="2400" dirty="0">
                <a:solidFill>
                  <a:schemeClr val="bg1"/>
                </a:solidFill>
              </a:rPr>
              <a:t>해석방법</a:t>
            </a:r>
          </a:p>
        </p:txBody>
      </p:sp>
      <p:cxnSp>
        <p:nvCxnSpPr>
          <p:cNvPr id="55" name="연결선: 꺾임 54">
            <a:extLst>
              <a:ext uri="{FF2B5EF4-FFF2-40B4-BE49-F238E27FC236}">
                <a16:creationId xmlns:a16="http://schemas.microsoft.com/office/drawing/2014/main" id="{73FE98D6-1962-4908-8348-51F81910B133}"/>
              </a:ext>
            </a:extLst>
          </p:cNvPr>
          <p:cNvCxnSpPr>
            <a:cxnSpLocks/>
            <a:stCxn id="27" idx="2"/>
            <a:endCxn id="26" idx="2"/>
          </p:cNvCxnSpPr>
          <p:nvPr/>
        </p:nvCxnSpPr>
        <p:spPr>
          <a:xfrm rot="16200000" flipH="1">
            <a:off x="5019996" y="1824581"/>
            <a:ext cx="12700" cy="2399207"/>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756E6546-E913-445C-8E09-87D81BCF0489}"/>
              </a:ext>
            </a:extLst>
          </p:cNvPr>
          <p:cNvSpPr txBox="1"/>
          <p:nvPr/>
        </p:nvSpPr>
        <p:spPr>
          <a:xfrm>
            <a:off x="4246231" y="3269263"/>
            <a:ext cx="1438214" cy="369332"/>
          </a:xfrm>
          <a:prstGeom prst="rect">
            <a:avLst/>
          </a:prstGeom>
          <a:noFill/>
        </p:spPr>
        <p:txBody>
          <a:bodyPr wrap="none" rtlCol="0">
            <a:spAutoFit/>
          </a:bodyPr>
          <a:lstStyle/>
          <a:p>
            <a:r>
              <a:rPr lang="ko-KR" altLang="en-US" dirty="0">
                <a:solidFill>
                  <a:srgbClr val="FF0000"/>
                </a:solidFill>
              </a:rPr>
              <a:t> </a:t>
            </a:r>
            <a:r>
              <a:rPr lang="en-US" altLang="ko-KR" dirty="0">
                <a:solidFill>
                  <a:srgbClr val="FF0000"/>
                </a:solidFill>
              </a:rPr>
              <a:t>AER, </a:t>
            </a:r>
            <a:r>
              <a:rPr lang="ko-KR" altLang="en-US" dirty="0" err="1">
                <a:solidFill>
                  <a:srgbClr val="FF0000"/>
                </a:solidFill>
              </a:rPr>
              <a:t>균등론</a:t>
            </a:r>
            <a:endParaRPr lang="ko-KR" altLang="en-US" dirty="0">
              <a:solidFill>
                <a:srgbClr val="FF0000"/>
              </a:solidFill>
            </a:endParaRPr>
          </a:p>
        </p:txBody>
      </p:sp>
      <p:sp>
        <p:nvSpPr>
          <p:cNvPr id="58" name="TextBox 57">
            <a:extLst>
              <a:ext uri="{FF2B5EF4-FFF2-40B4-BE49-F238E27FC236}">
                <a16:creationId xmlns:a16="http://schemas.microsoft.com/office/drawing/2014/main" id="{0DA6BC61-1CE2-4C2F-B521-FE61273D5543}"/>
              </a:ext>
            </a:extLst>
          </p:cNvPr>
          <p:cNvSpPr txBox="1"/>
          <p:nvPr/>
        </p:nvSpPr>
        <p:spPr>
          <a:xfrm>
            <a:off x="2074664" y="5086530"/>
            <a:ext cx="737702" cy="338554"/>
          </a:xfrm>
          <a:prstGeom prst="rect">
            <a:avLst/>
          </a:prstGeom>
          <a:noFill/>
          <a:ln>
            <a:solidFill>
              <a:schemeClr val="bg2">
                <a:lumMod val="75000"/>
              </a:schemeClr>
            </a:solidFill>
          </a:ln>
        </p:spPr>
        <p:txBody>
          <a:bodyPr wrap="none" rtlCol="0">
            <a:noAutofit/>
          </a:bodyPr>
          <a:lstStyle/>
          <a:p>
            <a:pPr algn="ctr"/>
            <a:r>
              <a:rPr lang="ko-KR" altLang="en-US" sz="1600" dirty="0"/>
              <a:t>도면</a:t>
            </a:r>
          </a:p>
        </p:txBody>
      </p:sp>
      <p:sp>
        <p:nvSpPr>
          <p:cNvPr id="59" name="TextBox 58">
            <a:extLst>
              <a:ext uri="{FF2B5EF4-FFF2-40B4-BE49-F238E27FC236}">
                <a16:creationId xmlns:a16="http://schemas.microsoft.com/office/drawing/2014/main" id="{7113A339-38FE-4190-8240-F522F8474005}"/>
              </a:ext>
            </a:extLst>
          </p:cNvPr>
          <p:cNvSpPr txBox="1"/>
          <p:nvPr/>
        </p:nvSpPr>
        <p:spPr>
          <a:xfrm>
            <a:off x="3378282" y="4514314"/>
            <a:ext cx="1271511" cy="338554"/>
          </a:xfrm>
          <a:prstGeom prst="rect">
            <a:avLst/>
          </a:prstGeom>
          <a:noFill/>
          <a:ln>
            <a:solidFill>
              <a:schemeClr val="bg2">
                <a:lumMod val="75000"/>
              </a:schemeClr>
            </a:solidFill>
          </a:ln>
        </p:spPr>
        <p:txBody>
          <a:bodyPr wrap="none" rtlCol="0">
            <a:noAutofit/>
          </a:bodyPr>
          <a:lstStyle/>
          <a:p>
            <a:pPr algn="ctr"/>
            <a:r>
              <a:rPr lang="ko-KR" altLang="en-US" sz="1600"/>
              <a:t>청구범위</a:t>
            </a:r>
            <a:endParaRPr lang="ko-KR" altLang="en-US" sz="1600" dirty="0"/>
          </a:p>
        </p:txBody>
      </p:sp>
      <p:sp>
        <p:nvSpPr>
          <p:cNvPr id="60" name="TextBox 59">
            <a:extLst>
              <a:ext uri="{FF2B5EF4-FFF2-40B4-BE49-F238E27FC236}">
                <a16:creationId xmlns:a16="http://schemas.microsoft.com/office/drawing/2014/main" id="{1E3E1208-33C2-46F0-8556-BB767AC0008F}"/>
              </a:ext>
            </a:extLst>
          </p:cNvPr>
          <p:cNvSpPr txBox="1"/>
          <p:nvPr/>
        </p:nvSpPr>
        <p:spPr>
          <a:xfrm>
            <a:off x="3378282" y="5079422"/>
            <a:ext cx="1271511" cy="338554"/>
          </a:xfrm>
          <a:prstGeom prst="rect">
            <a:avLst/>
          </a:prstGeom>
          <a:noFill/>
          <a:ln>
            <a:solidFill>
              <a:schemeClr val="bg2">
                <a:lumMod val="75000"/>
              </a:schemeClr>
            </a:solidFill>
          </a:ln>
        </p:spPr>
        <p:txBody>
          <a:bodyPr wrap="none" rtlCol="0">
            <a:noAutofit/>
          </a:bodyPr>
          <a:lstStyle/>
          <a:p>
            <a:pPr algn="ctr"/>
            <a:r>
              <a:rPr lang="ko-KR" altLang="en-US" sz="1600" dirty="0"/>
              <a:t>발명의 설명</a:t>
            </a:r>
          </a:p>
        </p:txBody>
      </p:sp>
      <p:sp>
        <p:nvSpPr>
          <p:cNvPr id="61" name="TextBox 60">
            <a:extLst>
              <a:ext uri="{FF2B5EF4-FFF2-40B4-BE49-F238E27FC236}">
                <a16:creationId xmlns:a16="http://schemas.microsoft.com/office/drawing/2014/main" id="{808C7083-9722-4953-83F5-13138920B333}"/>
              </a:ext>
            </a:extLst>
          </p:cNvPr>
          <p:cNvSpPr txBox="1"/>
          <p:nvPr/>
        </p:nvSpPr>
        <p:spPr>
          <a:xfrm>
            <a:off x="7914746" y="4514314"/>
            <a:ext cx="737702" cy="338554"/>
          </a:xfrm>
          <a:prstGeom prst="rect">
            <a:avLst/>
          </a:prstGeom>
          <a:noFill/>
          <a:ln>
            <a:solidFill>
              <a:schemeClr val="bg2">
                <a:lumMod val="75000"/>
              </a:schemeClr>
            </a:solidFill>
          </a:ln>
        </p:spPr>
        <p:txBody>
          <a:bodyPr wrap="none" rtlCol="0">
            <a:noAutofit/>
          </a:bodyPr>
          <a:lstStyle/>
          <a:p>
            <a:pPr algn="ctr"/>
            <a:r>
              <a:rPr lang="ko-KR" altLang="en-US" sz="1600" dirty="0"/>
              <a:t>설명서</a:t>
            </a:r>
          </a:p>
        </p:txBody>
      </p:sp>
      <p:sp>
        <p:nvSpPr>
          <p:cNvPr id="62" name="TextBox 61">
            <a:extLst>
              <a:ext uri="{FF2B5EF4-FFF2-40B4-BE49-F238E27FC236}">
                <a16:creationId xmlns:a16="http://schemas.microsoft.com/office/drawing/2014/main" id="{7C751A8D-27F5-4200-AD61-D2FE1A181DAE}"/>
              </a:ext>
            </a:extLst>
          </p:cNvPr>
          <p:cNvSpPr txBox="1"/>
          <p:nvPr/>
        </p:nvSpPr>
        <p:spPr>
          <a:xfrm>
            <a:off x="7914746" y="5086530"/>
            <a:ext cx="737702" cy="338554"/>
          </a:xfrm>
          <a:prstGeom prst="rect">
            <a:avLst/>
          </a:prstGeom>
          <a:noFill/>
          <a:ln>
            <a:solidFill>
              <a:schemeClr val="bg2">
                <a:lumMod val="75000"/>
              </a:schemeClr>
            </a:solidFill>
          </a:ln>
        </p:spPr>
        <p:txBody>
          <a:bodyPr wrap="none" rtlCol="0">
            <a:noAutofit/>
          </a:bodyPr>
          <a:lstStyle/>
          <a:p>
            <a:pPr algn="ctr"/>
            <a:r>
              <a:rPr lang="ko-KR" altLang="en-US" sz="1600" dirty="0"/>
              <a:t>도면</a:t>
            </a:r>
          </a:p>
        </p:txBody>
      </p:sp>
      <p:sp>
        <p:nvSpPr>
          <p:cNvPr id="63" name="TextBox 62">
            <a:extLst>
              <a:ext uri="{FF2B5EF4-FFF2-40B4-BE49-F238E27FC236}">
                <a16:creationId xmlns:a16="http://schemas.microsoft.com/office/drawing/2014/main" id="{F85F8948-928E-4D17-A0DB-93DCD05E2BCA}"/>
              </a:ext>
            </a:extLst>
          </p:cNvPr>
          <p:cNvSpPr txBox="1"/>
          <p:nvPr/>
        </p:nvSpPr>
        <p:spPr>
          <a:xfrm>
            <a:off x="6219015" y="4516695"/>
            <a:ext cx="1271511" cy="338554"/>
          </a:xfrm>
          <a:prstGeom prst="rect">
            <a:avLst/>
          </a:prstGeom>
          <a:noFill/>
          <a:ln>
            <a:solidFill>
              <a:schemeClr val="bg2">
                <a:lumMod val="75000"/>
              </a:schemeClr>
            </a:solidFill>
          </a:ln>
        </p:spPr>
        <p:txBody>
          <a:bodyPr wrap="none" rtlCol="0">
            <a:noAutofit/>
          </a:bodyPr>
          <a:lstStyle/>
          <a:p>
            <a:pPr algn="ctr"/>
            <a:r>
              <a:rPr lang="ko-KR" altLang="en-US" sz="1600" dirty="0"/>
              <a:t>대비구성</a:t>
            </a:r>
          </a:p>
        </p:txBody>
      </p:sp>
      <p:sp>
        <p:nvSpPr>
          <p:cNvPr id="64" name="TextBox 63">
            <a:extLst>
              <a:ext uri="{FF2B5EF4-FFF2-40B4-BE49-F238E27FC236}">
                <a16:creationId xmlns:a16="http://schemas.microsoft.com/office/drawing/2014/main" id="{5539E29C-7BE7-46DA-A549-0490D6337A8C}"/>
              </a:ext>
            </a:extLst>
          </p:cNvPr>
          <p:cNvSpPr txBox="1"/>
          <p:nvPr/>
        </p:nvSpPr>
        <p:spPr>
          <a:xfrm>
            <a:off x="6219015" y="5081803"/>
            <a:ext cx="1271511" cy="338554"/>
          </a:xfrm>
          <a:prstGeom prst="rect">
            <a:avLst/>
          </a:prstGeom>
          <a:noFill/>
          <a:ln>
            <a:solidFill>
              <a:schemeClr val="bg2">
                <a:lumMod val="75000"/>
              </a:schemeClr>
            </a:solidFill>
          </a:ln>
        </p:spPr>
        <p:txBody>
          <a:bodyPr wrap="none" rtlCol="0">
            <a:noAutofit/>
          </a:bodyPr>
          <a:lstStyle/>
          <a:p>
            <a:pPr algn="ctr"/>
            <a:r>
              <a:rPr lang="ko-KR" altLang="en-US" sz="1600" dirty="0"/>
              <a:t>대비구성 설명</a:t>
            </a:r>
          </a:p>
        </p:txBody>
      </p:sp>
      <p:cxnSp>
        <p:nvCxnSpPr>
          <p:cNvPr id="68" name="연결선: 꺾임 67">
            <a:extLst>
              <a:ext uri="{FF2B5EF4-FFF2-40B4-BE49-F238E27FC236}">
                <a16:creationId xmlns:a16="http://schemas.microsoft.com/office/drawing/2014/main" id="{FC1F7CBC-90FC-476A-907E-E3A2B6AE9117}"/>
              </a:ext>
            </a:extLst>
          </p:cNvPr>
          <p:cNvCxnSpPr>
            <a:cxnSpLocks/>
            <a:stCxn id="45" idx="1"/>
            <a:endCxn id="7" idx="2"/>
          </p:cNvCxnSpPr>
          <p:nvPr/>
        </p:nvCxnSpPr>
        <p:spPr>
          <a:xfrm rot="10800000" flipH="1">
            <a:off x="2074664" y="3041361"/>
            <a:ext cx="10902" cy="1642230"/>
          </a:xfrm>
          <a:prstGeom prst="bentConnector4">
            <a:avLst>
              <a:gd name="adj1" fmla="val -2096863"/>
              <a:gd name="adj2" fmla="val 37686"/>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연결선: 꺾임 71">
            <a:extLst>
              <a:ext uri="{FF2B5EF4-FFF2-40B4-BE49-F238E27FC236}">
                <a16:creationId xmlns:a16="http://schemas.microsoft.com/office/drawing/2014/main" id="{E3E17FB7-CA2F-4281-949C-06068738F55F}"/>
              </a:ext>
            </a:extLst>
          </p:cNvPr>
          <p:cNvCxnSpPr>
            <a:cxnSpLocks/>
            <a:stCxn id="7" idx="2"/>
            <a:endCxn id="58" idx="1"/>
          </p:cNvCxnSpPr>
          <p:nvPr/>
        </p:nvCxnSpPr>
        <p:spPr>
          <a:xfrm rot="5400000">
            <a:off x="972892" y="4143133"/>
            <a:ext cx="2214446" cy="10902"/>
          </a:xfrm>
          <a:prstGeom prst="bentConnector4">
            <a:avLst>
              <a:gd name="adj1" fmla="val 46178"/>
              <a:gd name="adj2" fmla="val 219686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직선 연결선 74">
            <a:extLst>
              <a:ext uri="{FF2B5EF4-FFF2-40B4-BE49-F238E27FC236}">
                <a16:creationId xmlns:a16="http://schemas.microsoft.com/office/drawing/2014/main" id="{C5A79432-5A50-45A2-A7EB-BB0799DF712B}"/>
              </a:ext>
            </a:extLst>
          </p:cNvPr>
          <p:cNvCxnSpPr>
            <a:stCxn id="45" idx="3"/>
            <a:endCxn id="59" idx="1"/>
          </p:cNvCxnSpPr>
          <p:nvPr/>
        </p:nvCxnSpPr>
        <p:spPr>
          <a:xfrm>
            <a:off x="2812366" y="4683591"/>
            <a:ext cx="565916"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연결선: 꺾임 76">
            <a:extLst>
              <a:ext uri="{FF2B5EF4-FFF2-40B4-BE49-F238E27FC236}">
                <a16:creationId xmlns:a16="http://schemas.microsoft.com/office/drawing/2014/main" id="{F06716C1-E23E-4DAF-BFDF-4D843F80051D}"/>
              </a:ext>
            </a:extLst>
          </p:cNvPr>
          <p:cNvCxnSpPr>
            <a:stCxn id="45" idx="3"/>
            <a:endCxn id="60" idx="1"/>
          </p:cNvCxnSpPr>
          <p:nvPr/>
        </p:nvCxnSpPr>
        <p:spPr>
          <a:xfrm>
            <a:off x="2812366" y="4683591"/>
            <a:ext cx="565916" cy="56510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연결선: 꺾임 78">
            <a:extLst>
              <a:ext uri="{FF2B5EF4-FFF2-40B4-BE49-F238E27FC236}">
                <a16:creationId xmlns:a16="http://schemas.microsoft.com/office/drawing/2014/main" id="{43F1C08E-5B04-4142-8E2C-E05C264A8559}"/>
              </a:ext>
            </a:extLst>
          </p:cNvPr>
          <p:cNvCxnSpPr>
            <a:stCxn id="28" idx="2"/>
            <a:endCxn id="61" idx="3"/>
          </p:cNvCxnSpPr>
          <p:nvPr/>
        </p:nvCxnSpPr>
        <p:spPr>
          <a:xfrm rot="16200000" flipH="1">
            <a:off x="7738236" y="3769379"/>
            <a:ext cx="1642230" cy="186193"/>
          </a:xfrm>
          <a:prstGeom prst="bentConnector4">
            <a:avLst>
              <a:gd name="adj1" fmla="val 62246"/>
              <a:gd name="adj2" fmla="val 40539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연결선: 꺾임 80">
            <a:extLst>
              <a:ext uri="{FF2B5EF4-FFF2-40B4-BE49-F238E27FC236}">
                <a16:creationId xmlns:a16="http://schemas.microsoft.com/office/drawing/2014/main" id="{97ACE6CA-C624-481B-A5E8-700C8729F63E}"/>
              </a:ext>
            </a:extLst>
          </p:cNvPr>
          <p:cNvCxnSpPr>
            <a:stCxn id="28" idx="2"/>
            <a:endCxn id="62" idx="3"/>
          </p:cNvCxnSpPr>
          <p:nvPr/>
        </p:nvCxnSpPr>
        <p:spPr>
          <a:xfrm rot="16200000" flipH="1">
            <a:off x="7452128" y="4055487"/>
            <a:ext cx="2214446" cy="186193"/>
          </a:xfrm>
          <a:prstGeom prst="bentConnector4">
            <a:avLst>
              <a:gd name="adj1" fmla="val 46178"/>
              <a:gd name="adj2" fmla="val 40539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연결선: 꺾임 82">
            <a:extLst>
              <a:ext uri="{FF2B5EF4-FFF2-40B4-BE49-F238E27FC236}">
                <a16:creationId xmlns:a16="http://schemas.microsoft.com/office/drawing/2014/main" id="{F176D4C1-752C-4A17-AE84-4F3D610366DB}"/>
              </a:ext>
            </a:extLst>
          </p:cNvPr>
          <p:cNvCxnSpPr>
            <a:stCxn id="61" idx="1"/>
            <a:endCxn id="63" idx="3"/>
          </p:cNvCxnSpPr>
          <p:nvPr/>
        </p:nvCxnSpPr>
        <p:spPr>
          <a:xfrm rot="10800000" flipV="1">
            <a:off x="7490526" y="4683590"/>
            <a:ext cx="424220" cy="238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연결선: 꺾임 84">
            <a:extLst>
              <a:ext uri="{FF2B5EF4-FFF2-40B4-BE49-F238E27FC236}">
                <a16:creationId xmlns:a16="http://schemas.microsoft.com/office/drawing/2014/main" id="{CFBED4EE-286F-4EE7-BFCF-0FADF48BB51E}"/>
              </a:ext>
            </a:extLst>
          </p:cNvPr>
          <p:cNvCxnSpPr>
            <a:stCxn id="61" idx="1"/>
            <a:endCxn id="64" idx="3"/>
          </p:cNvCxnSpPr>
          <p:nvPr/>
        </p:nvCxnSpPr>
        <p:spPr>
          <a:xfrm rot="10800000" flipV="1">
            <a:off x="7490526" y="4683590"/>
            <a:ext cx="424220" cy="56748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ED6DBED9-F85D-4C53-899D-DCAE44BD09E3}"/>
              </a:ext>
            </a:extLst>
          </p:cNvPr>
          <p:cNvSpPr txBox="1"/>
          <p:nvPr/>
        </p:nvSpPr>
        <p:spPr>
          <a:xfrm>
            <a:off x="3091132" y="5605437"/>
            <a:ext cx="4721164" cy="1107996"/>
          </a:xfrm>
          <a:prstGeom prst="rect">
            <a:avLst/>
          </a:prstGeom>
          <a:noFill/>
          <a:ln>
            <a:solidFill>
              <a:schemeClr val="bg2">
                <a:lumMod val="75000"/>
              </a:schemeClr>
            </a:solidFill>
          </a:ln>
        </p:spPr>
        <p:txBody>
          <a:bodyPr wrap="none" rtlCol="0">
            <a:spAutoFit/>
          </a:bodyPr>
          <a:lstStyle/>
          <a:p>
            <a:r>
              <a:rPr lang="en-US" altLang="ko-KR" sz="1600" dirty="0">
                <a:solidFill>
                  <a:srgbClr val="FF0000"/>
                </a:solidFill>
              </a:rPr>
              <a:t>1. </a:t>
            </a:r>
            <a:r>
              <a:rPr lang="ko-KR" altLang="en-US" sz="1600" dirty="0">
                <a:solidFill>
                  <a:srgbClr val="FF0000"/>
                </a:solidFill>
              </a:rPr>
              <a:t>설명서와 도면의 불일치</a:t>
            </a:r>
            <a:endParaRPr lang="en-US" altLang="ko-KR" sz="1600" dirty="0">
              <a:solidFill>
                <a:srgbClr val="FF0000"/>
              </a:solidFill>
            </a:endParaRPr>
          </a:p>
          <a:p>
            <a:r>
              <a:rPr lang="en-US" altLang="ko-KR" sz="1600" dirty="0">
                <a:solidFill>
                  <a:srgbClr val="FF0000"/>
                </a:solidFill>
              </a:rPr>
              <a:t>2. </a:t>
            </a:r>
            <a:r>
              <a:rPr lang="ko-KR" altLang="en-US" sz="1600" dirty="0">
                <a:solidFill>
                  <a:srgbClr val="FF0000"/>
                </a:solidFill>
              </a:rPr>
              <a:t>구성의 </a:t>
            </a:r>
            <a:r>
              <a:rPr lang="ko-KR" altLang="en-US" sz="1600" dirty="0" err="1">
                <a:solidFill>
                  <a:srgbClr val="FF0000"/>
                </a:solidFill>
              </a:rPr>
              <a:t>기능식</a:t>
            </a:r>
            <a:r>
              <a:rPr lang="ko-KR" altLang="en-US" sz="1600" dirty="0">
                <a:solidFill>
                  <a:srgbClr val="FF0000"/>
                </a:solidFill>
              </a:rPr>
              <a:t> 기재</a:t>
            </a:r>
            <a:endParaRPr lang="en-US" altLang="ko-KR" sz="1600" dirty="0">
              <a:solidFill>
                <a:srgbClr val="FF0000"/>
              </a:solidFill>
            </a:endParaRPr>
          </a:p>
          <a:p>
            <a:r>
              <a:rPr lang="en-US" altLang="ko-KR" sz="1600" dirty="0">
                <a:solidFill>
                  <a:srgbClr val="FF0000"/>
                </a:solidFill>
              </a:rPr>
              <a:t>3. </a:t>
            </a:r>
            <a:r>
              <a:rPr lang="ko-KR" altLang="en-US" sz="1600" dirty="0">
                <a:solidFill>
                  <a:srgbClr val="FF0000"/>
                </a:solidFill>
              </a:rPr>
              <a:t>설명서와 도면에 기재된 발명이 실시제품과 다른 경우</a:t>
            </a:r>
            <a:endParaRPr lang="en-US" altLang="ko-KR" sz="1600" dirty="0">
              <a:solidFill>
                <a:srgbClr val="FF0000"/>
              </a:solidFill>
            </a:endParaRPr>
          </a:p>
          <a:p>
            <a:r>
              <a:rPr lang="en-US" altLang="ko-KR" sz="1600" dirty="0">
                <a:solidFill>
                  <a:srgbClr val="FF0000"/>
                </a:solidFill>
              </a:rPr>
              <a:t>4. </a:t>
            </a:r>
            <a:r>
              <a:rPr lang="ko-KR" altLang="en-US" sz="1600" dirty="0">
                <a:solidFill>
                  <a:srgbClr val="FF0000"/>
                </a:solidFill>
              </a:rPr>
              <a:t>확인대상발명이 복수개인 경우</a:t>
            </a:r>
            <a:endParaRPr lang="en-US" altLang="ko-KR" sz="1600" dirty="0">
              <a:solidFill>
                <a:srgbClr val="FF0000"/>
              </a:solidFill>
            </a:endParaRPr>
          </a:p>
        </p:txBody>
      </p:sp>
      <p:cxnSp>
        <p:nvCxnSpPr>
          <p:cNvPr id="90" name="직선 화살표 연결선 89">
            <a:extLst>
              <a:ext uri="{FF2B5EF4-FFF2-40B4-BE49-F238E27FC236}">
                <a16:creationId xmlns:a16="http://schemas.microsoft.com/office/drawing/2014/main" id="{2840FAE8-60B9-4CFB-BF6E-1EFE9A352D30}"/>
              </a:ext>
            </a:extLst>
          </p:cNvPr>
          <p:cNvCxnSpPr>
            <a:stCxn id="87" idx="0"/>
            <a:endCxn id="50" idx="2"/>
          </p:cNvCxnSpPr>
          <p:nvPr/>
        </p:nvCxnSpPr>
        <p:spPr>
          <a:xfrm flipH="1" flipV="1">
            <a:off x="5434404" y="4826210"/>
            <a:ext cx="17310" cy="77922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6" name="직선 연결선 95">
            <a:extLst>
              <a:ext uri="{FF2B5EF4-FFF2-40B4-BE49-F238E27FC236}">
                <a16:creationId xmlns:a16="http://schemas.microsoft.com/office/drawing/2014/main" id="{D874DC24-54C2-449A-B668-6282ADE884FD}"/>
              </a:ext>
            </a:extLst>
          </p:cNvPr>
          <p:cNvCxnSpPr>
            <a:cxnSpLocks/>
            <a:endCxn id="24" idx="1"/>
          </p:cNvCxnSpPr>
          <p:nvPr/>
        </p:nvCxnSpPr>
        <p:spPr>
          <a:xfrm>
            <a:off x="9619692" y="2691991"/>
            <a:ext cx="17755"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직사각형 45">
            <a:extLst>
              <a:ext uri="{FF2B5EF4-FFF2-40B4-BE49-F238E27FC236}">
                <a16:creationId xmlns:a16="http://schemas.microsoft.com/office/drawing/2014/main" id="{54354188-6906-480A-8659-031B49BDC8CF}"/>
              </a:ext>
            </a:extLst>
          </p:cNvPr>
          <p:cNvSpPr/>
          <p:nvPr/>
        </p:nvSpPr>
        <p:spPr>
          <a:xfrm>
            <a:off x="9629334" y="1211487"/>
            <a:ext cx="1530276" cy="517510"/>
          </a:xfrm>
          <a:prstGeom prst="rect">
            <a:avLst/>
          </a:prstGeom>
          <a:solidFill>
            <a:schemeClr val="bg2">
              <a:lumMod val="2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rgbClr val="FFFF00"/>
                </a:solidFill>
              </a:rPr>
              <a:t>실시예정제품</a:t>
            </a:r>
            <a:endParaRPr lang="en-US" altLang="ko-KR" dirty="0">
              <a:solidFill>
                <a:srgbClr val="FFFF00"/>
              </a:solidFill>
            </a:endParaRPr>
          </a:p>
          <a:p>
            <a:pPr algn="ctr"/>
            <a:r>
              <a:rPr lang="en-US" altLang="ko-KR" sz="1400" dirty="0">
                <a:solidFill>
                  <a:srgbClr val="FFFF00"/>
                </a:solidFill>
              </a:rPr>
              <a:t>(</a:t>
            </a:r>
            <a:r>
              <a:rPr lang="ko-KR" altLang="en-US" sz="1400" dirty="0">
                <a:solidFill>
                  <a:srgbClr val="FFFF00"/>
                </a:solidFill>
              </a:rPr>
              <a:t>미래</a:t>
            </a:r>
            <a:r>
              <a:rPr lang="en-US" altLang="ko-KR" sz="1400" dirty="0">
                <a:solidFill>
                  <a:srgbClr val="FFFF00"/>
                </a:solidFill>
              </a:rPr>
              <a:t>)</a:t>
            </a:r>
            <a:endParaRPr lang="ko-KR" altLang="en-US" sz="1400" dirty="0">
              <a:solidFill>
                <a:srgbClr val="FFFF00"/>
              </a:solidFill>
            </a:endParaRPr>
          </a:p>
        </p:txBody>
      </p:sp>
      <p:cxnSp>
        <p:nvCxnSpPr>
          <p:cNvPr id="11" name="연결선: 꺾임 10">
            <a:extLst>
              <a:ext uri="{FF2B5EF4-FFF2-40B4-BE49-F238E27FC236}">
                <a16:creationId xmlns:a16="http://schemas.microsoft.com/office/drawing/2014/main" id="{FCC01DFC-AF61-4FBB-B52B-BE6588AD5618}"/>
              </a:ext>
            </a:extLst>
          </p:cNvPr>
          <p:cNvCxnSpPr>
            <a:cxnSpLocks/>
            <a:stCxn id="46" idx="1"/>
            <a:endCxn id="28" idx="3"/>
          </p:cNvCxnSpPr>
          <p:nvPr/>
        </p:nvCxnSpPr>
        <p:spPr>
          <a:xfrm rot="10800000" flipV="1">
            <a:off x="8992466" y="1470241"/>
            <a:ext cx="636868" cy="122174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 name="타원 34">
            <a:extLst>
              <a:ext uri="{FF2B5EF4-FFF2-40B4-BE49-F238E27FC236}">
                <a16:creationId xmlns:a16="http://schemas.microsoft.com/office/drawing/2014/main" id="{3FF69B05-8FA2-4B35-8A78-405B73E5488D}"/>
              </a:ext>
            </a:extLst>
          </p:cNvPr>
          <p:cNvSpPr/>
          <p:nvPr/>
        </p:nvSpPr>
        <p:spPr>
          <a:xfrm>
            <a:off x="6020323" y="2369879"/>
            <a:ext cx="171301" cy="171301"/>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37" name="연결선: 꺾임 36">
            <a:extLst>
              <a:ext uri="{FF2B5EF4-FFF2-40B4-BE49-F238E27FC236}">
                <a16:creationId xmlns:a16="http://schemas.microsoft.com/office/drawing/2014/main" id="{F58AA0CF-8157-4B11-B6B2-E98EF3F56A4C}"/>
              </a:ext>
            </a:extLst>
          </p:cNvPr>
          <p:cNvCxnSpPr>
            <a:cxnSpLocks/>
            <a:stCxn id="35" idx="7"/>
            <a:endCxn id="46" idx="0"/>
          </p:cNvCxnSpPr>
          <p:nvPr/>
        </p:nvCxnSpPr>
        <p:spPr>
          <a:xfrm rot="5400000" flipH="1" flipV="1">
            <a:off x="7688766" y="-310741"/>
            <a:ext cx="1183478" cy="4227934"/>
          </a:xfrm>
          <a:prstGeom prst="bentConnector3">
            <a:avLst>
              <a:gd name="adj1" fmla="val 119316"/>
            </a:avLst>
          </a:prstGeom>
          <a:ln w="28575">
            <a:solidFill>
              <a:srgbClr val="FF0000"/>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연결선: 꺾임 47">
            <a:extLst>
              <a:ext uri="{FF2B5EF4-FFF2-40B4-BE49-F238E27FC236}">
                <a16:creationId xmlns:a16="http://schemas.microsoft.com/office/drawing/2014/main" id="{96988C29-7365-47D3-9561-11C65E49373A}"/>
              </a:ext>
            </a:extLst>
          </p:cNvPr>
          <p:cNvCxnSpPr>
            <a:cxnSpLocks/>
            <a:stCxn id="24" idx="1"/>
            <a:endCxn id="28" idx="3"/>
          </p:cNvCxnSpPr>
          <p:nvPr/>
        </p:nvCxnSpPr>
        <p:spPr>
          <a:xfrm rot="10800000">
            <a:off x="8992467" y="2691991"/>
            <a:ext cx="644981"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BCDF4C29-77EB-4C9B-A6FC-130C31E9A6F4}"/>
              </a:ext>
            </a:extLst>
          </p:cNvPr>
          <p:cNvSpPr txBox="1"/>
          <p:nvPr/>
        </p:nvSpPr>
        <p:spPr>
          <a:xfrm>
            <a:off x="7153276" y="1023185"/>
            <a:ext cx="1925527" cy="369332"/>
          </a:xfrm>
          <a:prstGeom prst="rect">
            <a:avLst/>
          </a:prstGeom>
          <a:noFill/>
        </p:spPr>
        <p:txBody>
          <a:bodyPr wrap="none" rtlCol="0">
            <a:spAutoFit/>
          </a:bodyPr>
          <a:lstStyle/>
          <a:p>
            <a:r>
              <a:rPr lang="ko-KR" altLang="en-US" dirty="0">
                <a:solidFill>
                  <a:srgbClr val="FF0000"/>
                </a:solidFill>
              </a:rPr>
              <a:t>사실적 관점 동일</a:t>
            </a:r>
            <a:r>
              <a:rPr lang="en-US" altLang="ko-KR" dirty="0">
                <a:solidFill>
                  <a:srgbClr val="FF0000"/>
                </a:solidFill>
              </a:rPr>
              <a:t>X</a:t>
            </a:r>
            <a:endParaRPr lang="ko-KR" altLang="en-US" dirty="0">
              <a:solidFill>
                <a:srgbClr val="FF0000"/>
              </a:solidFill>
            </a:endParaRPr>
          </a:p>
        </p:txBody>
      </p:sp>
      <p:sp>
        <p:nvSpPr>
          <p:cNvPr id="51" name="TextBox 50">
            <a:extLst>
              <a:ext uri="{FF2B5EF4-FFF2-40B4-BE49-F238E27FC236}">
                <a16:creationId xmlns:a16="http://schemas.microsoft.com/office/drawing/2014/main" id="{8BB280C3-CCC7-4B00-B92E-5685005343BC}"/>
              </a:ext>
            </a:extLst>
          </p:cNvPr>
          <p:cNvSpPr txBox="1"/>
          <p:nvPr/>
        </p:nvSpPr>
        <p:spPr>
          <a:xfrm flipH="1">
            <a:off x="8995882" y="2741775"/>
            <a:ext cx="667687" cy="369332"/>
          </a:xfrm>
          <a:prstGeom prst="rect">
            <a:avLst/>
          </a:prstGeom>
          <a:noFill/>
        </p:spPr>
        <p:txBody>
          <a:bodyPr wrap="square" rtlCol="0">
            <a:spAutoFit/>
          </a:bodyPr>
          <a:lstStyle/>
          <a:p>
            <a:r>
              <a:rPr lang="ko-KR" altLang="en-US" dirty="0"/>
              <a:t>기재</a:t>
            </a:r>
          </a:p>
        </p:txBody>
      </p:sp>
      <p:sp>
        <p:nvSpPr>
          <p:cNvPr id="65" name="TextBox 64">
            <a:extLst>
              <a:ext uri="{FF2B5EF4-FFF2-40B4-BE49-F238E27FC236}">
                <a16:creationId xmlns:a16="http://schemas.microsoft.com/office/drawing/2014/main" id="{83B09B69-C879-4A0F-8445-D1308BB1D301}"/>
              </a:ext>
            </a:extLst>
          </p:cNvPr>
          <p:cNvSpPr txBox="1"/>
          <p:nvPr/>
        </p:nvSpPr>
        <p:spPr>
          <a:xfrm>
            <a:off x="8704635" y="3317678"/>
            <a:ext cx="2578297" cy="646331"/>
          </a:xfrm>
          <a:prstGeom prst="rect">
            <a:avLst/>
          </a:prstGeom>
          <a:noFill/>
          <a:ln>
            <a:solidFill>
              <a:schemeClr val="bg1">
                <a:lumMod val="50000"/>
              </a:schemeClr>
            </a:solidFill>
          </a:ln>
        </p:spPr>
        <p:txBody>
          <a:bodyPr wrap="square" rtlCol="0">
            <a:spAutoFit/>
          </a:bodyPr>
          <a:lstStyle/>
          <a:p>
            <a:r>
              <a:rPr lang="en-US" altLang="ko-KR" dirty="0">
                <a:solidFill>
                  <a:srgbClr val="FF0000"/>
                </a:solidFill>
              </a:rPr>
              <a:t>- </a:t>
            </a:r>
            <a:r>
              <a:rPr lang="ko-KR" altLang="en-US" dirty="0" err="1">
                <a:solidFill>
                  <a:srgbClr val="FF0000"/>
                </a:solidFill>
              </a:rPr>
              <a:t>청구취지로서의</a:t>
            </a:r>
            <a:r>
              <a:rPr lang="ko-KR" altLang="en-US" dirty="0">
                <a:solidFill>
                  <a:srgbClr val="FF0000"/>
                </a:solidFill>
              </a:rPr>
              <a:t> 특정</a:t>
            </a:r>
            <a:endParaRPr lang="en-US" altLang="ko-KR" dirty="0">
              <a:solidFill>
                <a:srgbClr val="FF0000"/>
              </a:solidFill>
            </a:endParaRPr>
          </a:p>
          <a:p>
            <a:r>
              <a:rPr lang="en-US" altLang="ko-KR" dirty="0">
                <a:solidFill>
                  <a:srgbClr val="FF0000"/>
                </a:solidFill>
              </a:rPr>
              <a:t>- </a:t>
            </a:r>
            <a:r>
              <a:rPr lang="ko-KR" altLang="en-US" dirty="0" err="1">
                <a:solidFill>
                  <a:srgbClr val="FF0000"/>
                </a:solidFill>
              </a:rPr>
              <a:t>청구원인으로서의</a:t>
            </a:r>
            <a:r>
              <a:rPr lang="ko-KR" altLang="en-US" dirty="0">
                <a:solidFill>
                  <a:srgbClr val="FF0000"/>
                </a:solidFill>
              </a:rPr>
              <a:t> 특정</a:t>
            </a:r>
          </a:p>
        </p:txBody>
      </p:sp>
      <p:cxnSp>
        <p:nvCxnSpPr>
          <p:cNvPr id="15" name="연결선: 꺾임 14">
            <a:extLst>
              <a:ext uri="{FF2B5EF4-FFF2-40B4-BE49-F238E27FC236}">
                <a16:creationId xmlns:a16="http://schemas.microsoft.com/office/drawing/2014/main" id="{D96F2E33-117B-4D69-A3C1-8EA210437989}"/>
              </a:ext>
            </a:extLst>
          </p:cNvPr>
          <p:cNvCxnSpPr>
            <a:cxnSpLocks/>
            <a:stCxn id="51" idx="2"/>
            <a:endCxn id="65" idx="0"/>
          </p:cNvCxnSpPr>
          <p:nvPr/>
        </p:nvCxnSpPr>
        <p:spPr>
          <a:xfrm rot="16200000" flipH="1">
            <a:off x="9558469" y="2882362"/>
            <a:ext cx="206571" cy="664059"/>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AA10E5BB-AF42-455E-B919-94A75273698A}"/>
              </a:ext>
            </a:extLst>
          </p:cNvPr>
          <p:cNvSpPr txBox="1"/>
          <p:nvPr/>
        </p:nvSpPr>
        <p:spPr>
          <a:xfrm>
            <a:off x="11167723" y="1285575"/>
            <a:ext cx="864339" cy="338554"/>
          </a:xfrm>
          <a:prstGeom prst="rect">
            <a:avLst/>
          </a:prstGeom>
          <a:noFill/>
        </p:spPr>
        <p:txBody>
          <a:bodyPr wrap="none" rtlCol="0">
            <a:spAutoFit/>
          </a:bodyPr>
          <a:lstStyle/>
          <a:p>
            <a:r>
              <a:rPr lang="en-US" altLang="ko-KR" sz="1600" dirty="0"/>
              <a:t>- </a:t>
            </a:r>
            <a:r>
              <a:rPr lang="ko-KR" altLang="en-US" sz="1600" dirty="0"/>
              <a:t>소극적</a:t>
            </a:r>
          </a:p>
        </p:txBody>
      </p:sp>
      <p:sp>
        <p:nvSpPr>
          <p:cNvPr id="54" name="TextBox 53">
            <a:extLst>
              <a:ext uri="{FF2B5EF4-FFF2-40B4-BE49-F238E27FC236}">
                <a16:creationId xmlns:a16="http://schemas.microsoft.com/office/drawing/2014/main" id="{395A681C-EE90-4059-988C-06CF83703E54}"/>
              </a:ext>
            </a:extLst>
          </p:cNvPr>
          <p:cNvSpPr txBox="1"/>
          <p:nvPr/>
        </p:nvSpPr>
        <p:spPr>
          <a:xfrm>
            <a:off x="11159610" y="2402927"/>
            <a:ext cx="864339" cy="584775"/>
          </a:xfrm>
          <a:prstGeom prst="rect">
            <a:avLst/>
          </a:prstGeom>
          <a:noFill/>
        </p:spPr>
        <p:txBody>
          <a:bodyPr wrap="none" rtlCol="0">
            <a:spAutoFit/>
          </a:bodyPr>
          <a:lstStyle/>
          <a:p>
            <a:r>
              <a:rPr lang="en-US" altLang="ko-KR" sz="1600" dirty="0"/>
              <a:t>- </a:t>
            </a:r>
            <a:r>
              <a:rPr lang="ko-KR" altLang="en-US" sz="1600" dirty="0"/>
              <a:t>소극적</a:t>
            </a:r>
            <a:endParaRPr lang="en-US" altLang="ko-KR" sz="1600" dirty="0"/>
          </a:p>
          <a:p>
            <a:r>
              <a:rPr lang="en-US" altLang="ko-KR" sz="1600" dirty="0"/>
              <a:t>- </a:t>
            </a:r>
            <a:r>
              <a:rPr lang="ko-KR" altLang="en-US" sz="1600" dirty="0"/>
              <a:t>적극적</a:t>
            </a:r>
          </a:p>
        </p:txBody>
      </p:sp>
      <p:sp>
        <p:nvSpPr>
          <p:cNvPr id="8" name="TextBox 7">
            <a:extLst>
              <a:ext uri="{FF2B5EF4-FFF2-40B4-BE49-F238E27FC236}">
                <a16:creationId xmlns:a16="http://schemas.microsoft.com/office/drawing/2014/main" id="{8F8524A2-0275-1901-4157-A27B4F0842F2}"/>
              </a:ext>
            </a:extLst>
          </p:cNvPr>
          <p:cNvSpPr txBox="1"/>
          <p:nvPr/>
        </p:nvSpPr>
        <p:spPr>
          <a:xfrm>
            <a:off x="7598222" y="1600265"/>
            <a:ext cx="949299" cy="261610"/>
          </a:xfrm>
          <a:prstGeom prst="rect">
            <a:avLst/>
          </a:prstGeom>
          <a:noFill/>
        </p:spPr>
        <p:txBody>
          <a:bodyPr wrap="none" rtlCol="0">
            <a:spAutoFit/>
          </a:bodyPr>
          <a:lstStyle/>
          <a:p>
            <a:r>
              <a:rPr lang="en-US" altLang="ko-KR" sz="1100" dirty="0"/>
              <a:t>(</a:t>
            </a:r>
            <a:r>
              <a:rPr lang="ko-KR" altLang="en-US" sz="1100" dirty="0"/>
              <a:t>확인의 이익</a:t>
            </a:r>
            <a:r>
              <a:rPr lang="en-US" altLang="ko-KR" sz="1100" dirty="0"/>
              <a:t>)</a:t>
            </a:r>
            <a:endParaRPr lang="ko-KR" altLang="en-US" sz="1100" dirty="0"/>
          </a:p>
        </p:txBody>
      </p:sp>
      <p:sp>
        <p:nvSpPr>
          <p:cNvPr id="12" name="직사각형 11">
            <a:extLst>
              <a:ext uri="{FF2B5EF4-FFF2-40B4-BE49-F238E27FC236}">
                <a16:creationId xmlns:a16="http://schemas.microsoft.com/office/drawing/2014/main" id="{45103C8A-6747-5ABF-14A9-7213A6DEC5E1}"/>
              </a:ext>
            </a:extLst>
          </p:cNvPr>
          <p:cNvSpPr/>
          <p:nvPr/>
        </p:nvSpPr>
        <p:spPr>
          <a:xfrm>
            <a:off x="190551" y="2359797"/>
            <a:ext cx="842678" cy="664388"/>
          </a:xfrm>
          <a:prstGeom prst="rect">
            <a:avLst/>
          </a:prstGeom>
          <a:solidFill>
            <a:schemeClr val="bg2">
              <a:lumMod val="2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solidFill>
                  <a:srgbClr val="FFFF00"/>
                </a:solidFill>
              </a:rPr>
              <a:t>발명</a:t>
            </a:r>
            <a:endParaRPr lang="en-US" altLang="ko-KR" dirty="0">
              <a:solidFill>
                <a:srgbClr val="FFFF00"/>
              </a:solidFill>
            </a:endParaRPr>
          </a:p>
          <a:p>
            <a:pPr algn="ctr"/>
            <a:r>
              <a:rPr lang="ko-KR" altLang="en-US" dirty="0">
                <a:solidFill>
                  <a:srgbClr val="FFFF00"/>
                </a:solidFill>
              </a:rPr>
              <a:t>완성</a:t>
            </a:r>
          </a:p>
        </p:txBody>
      </p:sp>
      <p:cxnSp>
        <p:nvCxnSpPr>
          <p:cNvPr id="16" name="직선 화살표 연결선 15">
            <a:extLst>
              <a:ext uri="{FF2B5EF4-FFF2-40B4-BE49-F238E27FC236}">
                <a16:creationId xmlns:a16="http://schemas.microsoft.com/office/drawing/2014/main" id="{9BF497BC-636F-DBC5-3F76-D1763431C132}"/>
              </a:ext>
            </a:extLst>
          </p:cNvPr>
          <p:cNvCxnSpPr>
            <a:cxnSpLocks/>
            <a:stCxn id="12" idx="3"/>
            <a:endCxn id="7" idx="1"/>
          </p:cNvCxnSpPr>
          <p:nvPr/>
        </p:nvCxnSpPr>
        <p:spPr>
          <a:xfrm>
            <a:off x="1033229" y="2691991"/>
            <a:ext cx="526126"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1496A477-254A-6C5C-A0AC-5BC50DA8EBF8}"/>
              </a:ext>
            </a:extLst>
          </p:cNvPr>
          <p:cNvSpPr txBox="1"/>
          <p:nvPr/>
        </p:nvSpPr>
        <p:spPr>
          <a:xfrm flipH="1">
            <a:off x="1013420" y="2707891"/>
            <a:ext cx="667687" cy="369332"/>
          </a:xfrm>
          <a:prstGeom prst="rect">
            <a:avLst/>
          </a:prstGeom>
          <a:noFill/>
        </p:spPr>
        <p:txBody>
          <a:bodyPr wrap="square" rtlCol="0">
            <a:spAutoFit/>
          </a:bodyPr>
          <a:lstStyle/>
          <a:p>
            <a:r>
              <a:rPr lang="ko-KR" altLang="en-US" dirty="0"/>
              <a:t>기재</a:t>
            </a:r>
          </a:p>
        </p:txBody>
      </p:sp>
    </p:spTree>
    <p:extLst>
      <p:ext uri="{BB962C8B-B14F-4D97-AF65-F5344CB8AC3E}">
        <p14:creationId xmlns:p14="http://schemas.microsoft.com/office/powerpoint/2010/main" val="1076674602"/>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t>확인대상발명의 특정 정도</a:t>
            </a:r>
            <a:r>
              <a:rPr lang="en-US" altLang="ko-KR" dirty="0"/>
              <a:t>: </a:t>
            </a:r>
            <a:r>
              <a:rPr lang="ko-KR" altLang="en-US" dirty="0"/>
              <a:t>구별 </a:t>
            </a:r>
            <a:r>
              <a:rPr lang="en-US" altLang="ko-KR" dirty="0"/>
              <a:t>vs </a:t>
            </a:r>
            <a:r>
              <a:rPr lang="ko-KR" altLang="en-US" dirty="0"/>
              <a:t>대비</a:t>
            </a:r>
            <a:r>
              <a:rPr lang="en-US" altLang="ko-KR" dirty="0"/>
              <a:t> vs </a:t>
            </a:r>
            <a:r>
              <a:rPr lang="ko-KR" altLang="en-US" dirty="0"/>
              <a:t>대응</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6" name="타원 5">
            <a:extLst>
              <a:ext uri="{FF2B5EF4-FFF2-40B4-BE49-F238E27FC236}">
                <a16:creationId xmlns:a16="http://schemas.microsoft.com/office/drawing/2014/main" id="{33E5649B-B7DB-41E8-8378-43BB6CD936D4}"/>
              </a:ext>
            </a:extLst>
          </p:cNvPr>
          <p:cNvSpPr/>
          <p:nvPr/>
        </p:nvSpPr>
        <p:spPr>
          <a:xfrm>
            <a:off x="164862" y="3072680"/>
            <a:ext cx="902420" cy="902420"/>
          </a:xfrm>
          <a:prstGeom prst="ellipse">
            <a:avLst/>
          </a:prstGeom>
          <a:solidFill>
            <a:schemeClr val="accent5">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t>특정</a:t>
            </a:r>
            <a:endParaRPr lang="en-US" altLang="ko-KR" dirty="0"/>
          </a:p>
          <a:p>
            <a:pPr algn="ctr"/>
            <a:r>
              <a:rPr lang="ko-KR" altLang="en-US" dirty="0"/>
              <a:t>정도</a:t>
            </a:r>
          </a:p>
        </p:txBody>
      </p:sp>
      <p:sp>
        <p:nvSpPr>
          <p:cNvPr id="7" name="TextBox 6">
            <a:extLst>
              <a:ext uri="{FF2B5EF4-FFF2-40B4-BE49-F238E27FC236}">
                <a16:creationId xmlns:a16="http://schemas.microsoft.com/office/drawing/2014/main" id="{07B6651F-E0E4-46CF-8B32-6096982B6DE9}"/>
              </a:ext>
            </a:extLst>
          </p:cNvPr>
          <p:cNvSpPr txBox="1"/>
          <p:nvPr/>
        </p:nvSpPr>
        <p:spPr>
          <a:xfrm>
            <a:off x="1330558" y="1281397"/>
            <a:ext cx="1345961" cy="523220"/>
          </a:xfrm>
          <a:prstGeom prst="rect">
            <a:avLst/>
          </a:prstGeom>
          <a:solidFill>
            <a:schemeClr val="accent1">
              <a:lumMod val="20000"/>
              <a:lumOff val="80000"/>
            </a:schemeClr>
          </a:solidFill>
          <a:ln>
            <a:solidFill>
              <a:schemeClr val="bg2">
                <a:lumMod val="50000"/>
              </a:schemeClr>
            </a:solidFill>
          </a:ln>
        </p:spPr>
        <p:txBody>
          <a:bodyPr wrap="square" rtlCol="0">
            <a:spAutoFit/>
          </a:bodyPr>
          <a:lstStyle/>
          <a:p>
            <a:pPr algn="ctr"/>
            <a:r>
              <a:rPr lang="ko-KR" altLang="en-US" sz="1400" dirty="0"/>
              <a:t>청구취지로서 </a:t>
            </a:r>
            <a:endParaRPr lang="en-US" altLang="ko-KR" sz="1400" dirty="0"/>
          </a:p>
          <a:p>
            <a:pPr algn="ctr"/>
            <a:r>
              <a:rPr lang="ko-KR" altLang="en-US" sz="1400" dirty="0"/>
              <a:t>특정</a:t>
            </a:r>
          </a:p>
        </p:txBody>
      </p:sp>
      <p:sp>
        <p:nvSpPr>
          <p:cNvPr id="8" name="TextBox 7">
            <a:extLst>
              <a:ext uri="{FF2B5EF4-FFF2-40B4-BE49-F238E27FC236}">
                <a16:creationId xmlns:a16="http://schemas.microsoft.com/office/drawing/2014/main" id="{6C343DE8-BC90-4196-87A3-0A2E93D5712F}"/>
              </a:ext>
            </a:extLst>
          </p:cNvPr>
          <p:cNvSpPr txBox="1"/>
          <p:nvPr/>
        </p:nvSpPr>
        <p:spPr>
          <a:xfrm>
            <a:off x="1330559" y="4404965"/>
            <a:ext cx="1345961" cy="523220"/>
          </a:xfrm>
          <a:prstGeom prst="rect">
            <a:avLst/>
          </a:prstGeom>
          <a:solidFill>
            <a:schemeClr val="accent1">
              <a:lumMod val="20000"/>
              <a:lumOff val="80000"/>
            </a:schemeClr>
          </a:solidFill>
          <a:ln>
            <a:solidFill>
              <a:schemeClr val="bg2">
                <a:lumMod val="50000"/>
              </a:schemeClr>
            </a:solidFill>
          </a:ln>
        </p:spPr>
        <p:txBody>
          <a:bodyPr wrap="square" rtlCol="0">
            <a:spAutoFit/>
          </a:bodyPr>
          <a:lstStyle/>
          <a:p>
            <a:pPr algn="ctr"/>
            <a:r>
              <a:rPr lang="ko-KR" altLang="en-US" sz="1400" dirty="0"/>
              <a:t>청구원인으로서 </a:t>
            </a:r>
            <a:endParaRPr lang="en-US" altLang="ko-KR" sz="1400" dirty="0"/>
          </a:p>
          <a:p>
            <a:pPr algn="ctr"/>
            <a:r>
              <a:rPr lang="ko-KR" altLang="en-US" sz="1400" dirty="0"/>
              <a:t>특정</a:t>
            </a:r>
          </a:p>
        </p:txBody>
      </p:sp>
      <p:sp>
        <p:nvSpPr>
          <p:cNvPr id="9" name="TextBox 8">
            <a:extLst>
              <a:ext uri="{FF2B5EF4-FFF2-40B4-BE49-F238E27FC236}">
                <a16:creationId xmlns:a16="http://schemas.microsoft.com/office/drawing/2014/main" id="{E03F8DA6-EF0E-4E20-8EE2-4661FD24A00D}"/>
              </a:ext>
            </a:extLst>
          </p:cNvPr>
          <p:cNvSpPr txBox="1"/>
          <p:nvPr/>
        </p:nvSpPr>
        <p:spPr>
          <a:xfrm>
            <a:off x="2889851" y="1781963"/>
            <a:ext cx="9139392" cy="600164"/>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r>
              <a:rPr lang="en-US" altLang="ko-KR" sz="1100" dirty="0"/>
              <a:t>* </a:t>
            </a:r>
            <a:r>
              <a:rPr lang="ko-KR" altLang="en-US" sz="1100" dirty="0"/>
              <a:t>구체적인 특정방법</a:t>
            </a:r>
            <a:endParaRPr lang="en-US" altLang="ko-KR" sz="1100" dirty="0"/>
          </a:p>
          <a:p>
            <a:pPr marL="180975" lvl="1" indent="-95250">
              <a:buFont typeface="옥션고딕 M" pitchFamily="2" charset="-127"/>
              <a:buChar char="-"/>
              <a:tabLst>
                <a:tab pos="180975" algn="l"/>
              </a:tabLst>
            </a:pPr>
            <a:r>
              <a:rPr lang="ko-KR" altLang="en-US" sz="1100" dirty="0"/>
              <a:t>상품명</a:t>
            </a:r>
            <a:r>
              <a:rPr lang="en-US" altLang="ko-KR" sz="1100" dirty="0"/>
              <a:t>, </a:t>
            </a:r>
            <a:r>
              <a:rPr lang="ko-KR" altLang="en-US" sz="1100" dirty="0"/>
              <a:t>모델번호</a:t>
            </a:r>
            <a:r>
              <a:rPr lang="en-US" altLang="ko-KR" sz="1100" dirty="0"/>
              <a:t>, </a:t>
            </a:r>
            <a:r>
              <a:rPr lang="ko-KR" altLang="en-US" sz="1100" dirty="0"/>
              <a:t>형식번호에 의한 제품의 특정</a:t>
            </a:r>
            <a:r>
              <a:rPr lang="en-US" altLang="ko-KR" sz="1100" dirty="0"/>
              <a:t>, </a:t>
            </a:r>
            <a:r>
              <a:rPr lang="ko-KR" altLang="en-US" sz="1100" dirty="0"/>
              <a:t>현장사진</a:t>
            </a:r>
            <a:r>
              <a:rPr lang="en-US" altLang="ko-KR" sz="1100" dirty="0"/>
              <a:t>,  </a:t>
            </a:r>
            <a:r>
              <a:rPr lang="ko-KR" altLang="en-US" sz="1100" dirty="0"/>
              <a:t>제품카탈로그</a:t>
            </a:r>
            <a:r>
              <a:rPr lang="en-US" altLang="ko-KR" sz="1100" dirty="0"/>
              <a:t>, </a:t>
            </a:r>
            <a:r>
              <a:rPr lang="ko-KR" altLang="en-US" sz="1100" dirty="0"/>
              <a:t>전기제품에 내장된 회로도</a:t>
            </a:r>
            <a:r>
              <a:rPr lang="en-US" altLang="ko-KR" sz="1100" dirty="0"/>
              <a:t>,  </a:t>
            </a:r>
            <a:r>
              <a:rPr lang="ko-KR" altLang="en-US" sz="1100" dirty="0"/>
              <a:t>사양서 등에 의한 특정</a:t>
            </a:r>
            <a:endParaRPr lang="en-US" altLang="ko-KR" sz="1100" dirty="0"/>
          </a:p>
          <a:p>
            <a:pPr marL="180975" lvl="1" indent="-95250">
              <a:buFont typeface="옥션고딕 M" pitchFamily="2" charset="-127"/>
              <a:buChar char="-"/>
              <a:tabLst>
                <a:tab pos="180975" algn="l"/>
              </a:tabLst>
            </a:pPr>
            <a:r>
              <a:rPr lang="ko-KR" altLang="en-US" sz="1100" dirty="0">
                <a:solidFill>
                  <a:srgbClr val="FF0000"/>
                </a:solidFill>
              </a:rPr>
              <a:t>확인대상명의 구성요소를 명확히 기재</a:t>
            </a:r>
            <a:endParaRPr lang="en-US" altLang="ko-KR" sz="1100" dirty="0">
              <a:solidFill>
                <a:srgbClr val="FF0000"/>
              </a:solidFill>
            </a:endParaRPr>
          </a:p>
        </p:txBody>
      </p:sp>
      <p:sp>
        <p:nvSpPr>
          <p:cNvPr id="10" name="TextBox 9">
            <a:extLst>
              <a:ext uri="{FF2B5EF4-FFF2-40B4-BE49-F238E27FC236}">
                <a16:creationId xmlns:a16="http://schemas.microsoft.com/office/drawing/2014/main" id="{04935B64-6AB5-4C4F-AD7D-7DF34F9DA5BC}"/>
              </a:ext>
            </a:extLst>
          </p:cNvPr>
          <p:cNvSpPr txBox="1"/>
          <p:nvPr/>
        </p:nvSpPr>
        <p:spPr>
          <a:xfrm>
            <a:off x="2889850" y="1101594"/>
            <a:ext cx="9139392" cy="684685"/>
          </a:xfrm>
          <a:prstGeom prst="rect">
            <a:avLst/>
          </a:prstGeom>
          <a:solidFill>
            <a:schemeClr val="tx2">
              <a:lumMod val="20000"/>
              <a:lumOff val="80000"/>
            </a:schemeClr>
          </a:solidFill>
          <a:ln>
            <a:solidFill>
              <a:schemeClr val="bg2">
                <a:lumMod val="50000"/>
              </a:schemeClr>
            </a:solidFill>
          </a:ln>
        </p:spPr>
        <p:txBody>
          <a:bodyPr wrap="square" rtlCol="0" anchor="ctr">
            <a:noAutofit/>
          </a:bodyPr>
          <a:lstStyle/>
          <a:p>
            <a:r>
              <a:rPr lang="en-US" altLang="ko-KR" sz="1100" dirty="0">
                <a:solidFill>
                  <a:srgbClr val="FF0000"/>
                </a:solidFill>
              </a:rPr>
              <a:t>- </a:t>
            </a:r>
            <a:r>
              <a:rPr lang="ko-KR" altLang="en-US" sz="1100" dirty="0">
                <a:solidFill>
                  <a:srgbClr val="FF0000"/>
                </a:solidFill>
              </a:rPr>
              <a:t>사회통념상 다른 것과 구별될 수 있을 정도로 구체적으로 특정</a:t>
            </a:r>
          </a:p>
          <a:p>
            <a:pPr marL="114300" indent="-114300"/>
            <a:r>
              <a:rPr lang="en-US" altLang="ko-KR" sz="1100" dirty="0"/>
              <a:t>- </a:t>
            </a:r>
            <a:r>
              <a:rPr lang="ko-KR" altLang="en-US" sz="1100" dirty="0"/>
              <a:t>특정이 불명확하다면 일사부재리의 효과가 미치는 범위가 명확하지 않기 때문에 나머지 구성만으로</a:t>
            </a:r>
            <a:r>
              <a:rPr lang="en-US" altLang="ko-KR" sz="1100" dirty="0"/>
              <a:t> </a:t>
            </a:r>
            <a:r>
              <a:rPr lang="ko-KR" altLang="en-US" sz="1100" dirty="0"/>
              <a:t>확인대상발명이  특허발명의 권리범위에 속하는지 여부를 판단할 수 있는 경우라도 심판청구를 </a:t>
            </a:r>
            <a:r>
              <a:rPr lang="ko-KR" altLang="en-US" sz="1100" dirty="0" err="1"/>
              <a:t>심결각하</a:t>
            </a:r>
            <a:r>
              <a:rPr lang="ko-KR" altLang="en-US" sz="1100" dirty="0"/>
              <a:t> </a:t>
            </a:r>
          </a:p>
        </p:txBody>
      </p:sp>
      <p:sp>
        <p:nvSpPr>
          <p:cNvPr id="11" name="TextBox 10">
            <a:extLst>
              <a:ext uri="{FF2B5EF4-FFF2-40B4-BE49-F238E27FC236}">
                <a16:creationId xmlns:a16="http://schemas.microsoft.com/office/drawing/2014/main" id="{27474818-622E-4E0C-9E73-6B1072DA85A3}"/>
              </a:ext>
            </a:extLst>
          </p:cNvPr>
          <p:cNvSpPr txBox="1"/>
          <p:nvPr/>
        </p:nvSpPr>
        <p:spPr>
          <a:xfrm>
            <a:off x="2889851" y="3769744"/>
            <a:ext cx="9139392" cy="790418"/>
          </a:xfrm>
          <a:prstGeom prst="rect">
            <a:avLst/>
          </a:prstGeom>
          <a:solidFill>
            <a:schemeClr val="tx2">
              <a:lumMod val="20000"/>
              <a:lumOff val="80000"/>
            </a:schemeClr>
          </a:solidFill>
          <a:ln>
            <a:solidFill>
              <a:schemeClr val="bg2">
                <a:lumMod val="50000"/>
              </a:schemeClr>
            </a:solidFill>
          </a:ln>
        </p:spPr>
        <p:txBody>
          <a:bodyPr wrap="square" rtlCol="0">
            <a:noAutofit/>
          </a:bodyPr>
          <a:lstStyle/>
          <a:p>
            <a:pPr fontAlgn="base"/>
            <a:r>
              <a:rPr lang="en-US" altLang="ko-KR" sz="1100" dirty="0">
                <a:solidFill>
                  <a:srgbClr val="FF0000"/>
                </a:solidFill>
              </a:rPr>
              <a:t>- </a:t>
            </a:r>
            <a:r>
              <a:rPr lang="ko-KR" altLang="en-US" sz="1100" dirty="0">
                <a:solidFill>
                  <a:srgbClr val="FF0000"/>
                </a:solidFill>
              </a:rPr>
              <a:t>특허발명과 서로 대비할 수 있을 만큼 구체적으로 특정</a:t>
            </a:r>
            <a:endParaRPr lang="en-US" altLang="ko-KR" sz="1100" dirty="0">
              <a:solidFill>
                <a:srgbClr val="FF0000"/>
              </a:solidFill>
            </a:endParaRPr>
          </a:p>
          <a:p>
            <a:pPr marL="85725" indent="-85725" fontAlgn="base"/>
            <a:r>
              <a:rPr lang="en-US" altLang="ko-KR" sz="1100" dirty="0">
                <a:solidFill>
                  <a:srgbClr val="FF0000"/>
                </a:solidFill>
              </a:rPr>
              <a:t>-</a:t>
            </a:r>
            <a:r>
              <a:rPr lang="ko-KR" altLang="en-US" sz="1100" dirty="0"/>
              <a:t> 청구취지로서 특정이 명확하다면 일사부재리의 효과가 미치는 범위가 명확하기 때문에 청구원인으로서 특정이 불명확하다고 할지라도 나머지 내용과 도면을 종합적으로 고려하여 확인대상 발명이 특허발명의 권리범위에 속하는지 여부를 판단할 수 있는 경우에는 </a:t>
            </a:r>
            <a:r>
              <a:rPr lang="ko-KR" altLang="en-US" sz="1100" dirty="0" err="1"/>
              <a:t>각하심결하지</a:t>
            </a:r>
            <a:r>
              <a:rPr lang="ko-KR" altLang="en-US" sz="1100" dirty="0"/>
              <a:t> 않고 </a:t>
            </a:r>
            <a:r>
              <a:rPr lang="ko-KR" altLang="en-US" sz="1100" dirty="0" err="1"/>
              <a:t>본안심결</a:t>
            </a:r>
            <a:r>
              <a:rPr lang="ko-KR" altLang="en-US" sz="1100" dirty="0"/>
              <a:t> 가능</a:t>
            </a:r>
          </a:p>
        </p:txBody>
      </p:sp>
      <p:sp>
        <p:nvSpPr>
          <p:cNvPr id="12" name="TextBox 11">
            <a:extLst>
              <a:ext uri="{FF2B5EF4-FFF2-40B4-BE49-F238E27FC236}">
                <a16:creationId xmlns:a16="http://schemas.microsoft.com/office/drawing/2014/main" id="{06AC2445-6298-4DA6-A5F5-D5798DC3D81B}"/>
              </a:ext>
            </a:extLst>
          </p:cNvPr>
          <p:cNvSpPr txBox="1"/>
          <p:nvPr/>
        </p:nvSpPr>
        <p:spPr>
          <a:xfrm>
            <a:off x="2889851" y="4566511"/>
            <a:ext cx="9139392" cy="938719"/>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r>
              <a:rPr lang="en-US" altLang="ko-KR" sz="1100" dirty="0"/>
              <a:t>* </a:t>
            </a:r>
            <a:r>
              <a:rPr lang="ko-KR" altLang="en-US" sz="1100" dirty="0"/>
              <a:t>구체적인 특정방법</a:t>
            </a:r>
            <a:endParaRPr lang="en-US" altLang="ko-KR" sz="1100" dirty="0"/>
          </a:p>
          <a:p>
            <a:pPr marL="180975" lvl="1" indent="-95250">
              <a:buFont typeface="옥션고딕 M" pitchFamily="2" charset="-127"/>
              <a:buChar char="-"/>
              <a:tabLst>
                <a:tab pos="180975" algn="l"/>
              </a:tabLst>
            </a:pPr>
            <a:r>
              <a:rPr lang="ko-KR" altLang="en-US" sz="1100" dirty="0"/>
              <a:t>권리범위에 속하는 판단할 수 없게 애매하게 기재된 경우나 특정결과에 따라 결론이 달라지는 경우에는 불특정</a:t>
            </a:r>
            <a:endParaRPr lang="en-US" altLang="ko-KR" sz="1100" dirty="0"/>
          </a:p>
          <a:p>
            <a:pPr marL="180975" lvl="1" indent="-95250">
              <a:buFont typeface="옥션고딕 M" pitchFamily="2" charset="-127"/>
              <a:buChar char="-"/>
              <a:tabLst>
                <a:tab pos="180975" algn="l"/>
              </a:tabLst>
            </a:pPr>
            <a:r>
              <a:rPr lang="ko-KR" altLang="en-US" sz="1100" dirty="0"/>
              <a:t>원칙</a:t>
            </a:r>
            <a:r>
              <a:rPr lang="en-US" altLang="ko-KR" sz="1100" dirty="0"/>
              <a:t>: </a:t>
            </a:r>
            <a:r>
              <a:rPr lang="ko-KR" altLang="en-US" sz="1100" dirty="0"/>
              <a:t>특허발명과 대응되는 부분의 구성을</a:t>
            </a:r>
            <a:r>
              <a:rPr lang="en-US" altLang="ko-KR" sz="1100" dirty="0"/>
              <a:t> </a:t>
            </a:r>
            <a:r>
              <a:rPr lang="ko-KR" altLang="en-US" sz="1100" dirty="0"/>
              <a:t>대비하여 </a:t>
            </a:r>
            <a:r>
              <a:rPr lang="ko-KR" altLang="en-US" sz="1100" dirty="0">
                <a:solidFill>
                  <a:srgbClr val="FF0000"/>
                </a:solidFill>
              </a:rPr>
              <a:t>차이점을 판단함에 필요할 정도로 기재</a:t>
            </a:r>
            <a:r>
              <a:rPr lang="en-US" altLang="ko-KR" sz="1100" dirty="0"/>
              <a:t>(</a:t>
            </a:r>
            <a:r>
              <a:rPr lang="ko-KR" altLang="en-US" sz="1100" dirty="0"/>
              <a:t>대응하지 않은 구성은 추가적 기재되더라도 권리범위 영향 없음</a:t>
            </a:r>
            <a:r>
              <a:rPr lang="en-US" altLang="ko-KR" sz="1100" dirty="0"/>
              <a:t>)</a:t>
            </a:r>
          </a:p>
          <a:p>
            <a:pPr marL="180975" lvl="1" indent="-95250">
              <a:buFont typeface="옥션고딕 M" pitchFamily="2" charset="-127"/>
              <a:buChar char="-"/>
              <a:tabLst>
                <a:tab pos="180975" algn="l"/>
              </a:tabLst>
            </a:pPr>
            <a:r>
              <a:rPr lang="ko-KR" altLang="en-US" sz="1100" dirty="0"/>
              <a:t>예외</a:t>
            </a:r>
            <a:r>
              <a:rPr lang="en-US" altLang="ko-KR" sz="1100" dirty="0"/>
              <a:t>: </a:t>
            </a:r>
            <a:r>
              <a:rPr lang="ko-KR" altLang="en-US" sz="1100" dirty="0"/>
              <a:t>독립항과 비교하여 권리범위에 속하지 않음을 판단할 수 있는 경우에는 종속항에 대응되는 구성요소가 기재되지 않더라도 </a:t>
            </a:r>
            <a:r>
              <a:rPr lang="ko-KR" altLang="en-US" sz="1100" dirty="0" err="1"/>
              <a:t>대비가능하도록</a:t>
            </a:r>
            <a:r>
              <a:rPr lang="ko-KR" altLang="en-US" sz="1100" dirty="0"/>
              <a:t> 특정 인정</a:t>
            </a:r>
            <a:endParaRPr lang="en-US" altLang="ko-KR" sz="1100" dirty="0"/>
          </a:p>
          <a:p>
            <a:pPr marL="180975" lvl="1" indent="-95250">
              <a:buFont typeface="옥션고딕 M" pitchFamily="2" charset="-127"/>
              <a:buChar char="-"/>
              <a:tabLst>
                <a:tab pos="180975" algn="l"/>
              </a:tabLst>
            </a:pPr>
            <a:r>
              <a:rPr lang="ko-KR" altLang="en-US" sz="1100" dirty="0"/>
              <a:t>예외</a:t>
            </a:r>
            <a:r>
              <a:rPr lang="en-US" altLang="ko-KR" sz="1100" dirty="0"/>
              <a:t>: </a:t>
            </a:r>
            <a:r>
              <a:rPr lang="ko-KR" altLang="en-US" sz="1100" dirty="0"/>
              <a:t>발명의 범주가 다른 확인대상발명의 특정</a:t>
            </a:r>
            <a:endParaRPr lang="en-US" altLang="ko-KR" sz="1100" dirty="0"/>
          </a:p>
        </p:txBody>
      </p:sp>
      <p:cxnSp>
        <p:nvCxnSpPr>
          <p:cNvPr id="14" name="연결선: 꺾임 13">
            <a:extLst>
              <a:ext uri="{FF2B5EF4-FFF2-40B4-BE49-F238E27FC236}">
                <a16:creationId xmlns:a16="http://schemas.microsoft.com/office/drawing/2014/main" id="{317E80AF-293C-45F0-8899-D2C8EDE657E4}"/>
              </a:ext>
            </a:extLst>
          </p:cNvPr>
          <p:cNvCxnSpPr>
            <a:cxnSpLocks/>
            <a:stCxn id="6" idx="6"/>
            <a:endCxn id="7" idx="1"/>
          </p:cNvCxnSpPr>
          <p:nvPr/>
        </p:nvCxnSpPr>
        <p:spPr>
          <a:xfrm flipV="1">
            <a:off x="1067282" y="1543007"/>
            <a:ext cx="263276" cy="198088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연결선: 꺾임 15">
            <a:extLst>
              <a:ext uri="{FF2B5EF4-FFF2-40B4-BE49-F238E27FC236}">
                <a16:creationId xmlns:a16="http://schemas.microsoft.com/office/drawing/2014/main" id="{D49E1A1C-EBC0-43AD-B776-4378630EB933}"/>
              </a:ext>
            </a:extLst>
          </p:cNvPr>
          <p:cNvCxnSpPr>
            <a:cxnSpLocks/>
            <a:stCxn id="6" idx="6"/>
            <a:endCxn id="8" idx="1"/>
          </p:cNvCxnSpPr>
          <p:nvPr/>
        </p:nvCxnSpPr>
        <p:spPr>
          <a:xfrm>
            <a:off x="1067282" y="3523890"/>
            <a:ext cx="263277" cy="114268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연결선: 꺾임 17">
            <a:extLst>
              <a:ext uri="{FF2B5EF4-FFF2-40B4-BE49-F238E27FC236}">
                <a16:creationId xmlns:a16="http://schemas.microsoft.com/office/drawing/2014/main" id="{1A45201F-E163-4DA0-8E75-BD007994FE99}"/>
              </a:ext>
            </a:extLst>
          </p:cNvPr>
          <p:cNvCxnSpPr>
            <a:cxnSpLocks/>
            <a:stCxn id="7" idx="3"/>
            <a:endCxn id="10" idx="1"/>
          </p:cNvCxnSpPr>
          <p:nvPr/>
        </p:nvCxnSpPr>
        <p:spPr>
          <a:xfrm flipV="1">
            <a:off x="2676519" y="1443937"/>
            <a:ext cx="213331" cy="990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연결선: 꺾임 19">
            <a:extLst>
              <a:ext uri="{FF2B5EF4-FFF2-40B4-BE49-F238E27FC236}">
                <a16:creationId xmlns:a16="http://schemas.microsoft.com/office/drawing/2014/main" id="{CBF88C9D-8764-4F5B-860B-7218C29C07CF}"/>
              </a:ext>
            </a:extLst>
          </p:cNvPr>
          <p:cNvCxnSpPr>
            <a:cxnSpLocks/>
            <a:stCxn id="7" idx="3"/>
            <a:endCxn id="9" idx="1"/>
          </p:cNvCxnSpPr>
          <p:nvPr/>
        </p:nvCxnSpPr>
        <p:spPr>
          <a:xfrm>
            <a:off x="2676519" y="1543007"/>
            <a:ext cx="213332" cy="53903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연결선: 꺾임 21">
            <a:extLst>
              <a:ext uri="{FF2B5EF4-FFF2-40B4-BE49-F238E27FC236}">
                <a16:creationId xmlns:a16="http://schemas.microsoft.com/office/drawing/2014/main" id="{7E14B446-6A6A-4337-AEE2-7C1E8FB75CD3}"/>
              </a:ext>
            </a:extLst>
          </p:cNvPr>
          <p:cNvCxnSpPr>
            <a:cxnSpLocks/>
            <a:stCxn id="8" idx="3"/>
            <a:endCxn id="11" idx="1"/>
          </p:cNvCxnSpPr>
          <p:nvPr/>
        </p:nvCxnSpPr>
        <p:spPr>
          <a:xfrm flipV="1">
            <a:off x="2676520" y="4164953"/>
            <a:ext cx="213331" cy="50162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연결선: 꺾임 23">
            <a:extLst>
              <a:ext uri="{FF2B5EF4-FFF2-40B4-BE49-F238E27FC236}">
                <a16:creationId xmlns:a16="http://schemas.microsoft.com/office/drawing/2014/main" id="{31E38957-FE4F-4068-AFCE-AAC6FE13ADE1}"/>
              </a:ext>
            </a:extLst>
          </p:cNvPr>
          <p:cNvCxnSpPr>
            <a:cxnSpLocks/>
            <a:stCxn id="8" idx="3"/>
            <a:endCxn id="12" idx="1"/>
          </p:cNvCxnSpPr>
          <p:nvPr/>
        </p:nvCxnSpPr>
        <p:spPr>
          <a:xfrm>
            <a:off x="2676520" y="4666575"/>
            <a:ext cx="213331" cy="36929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직사각형 20">
            <a:extLst>
              <a:ext uri="{FF2B5EF4-FFF2-40B4-BE49-F238E27FC236}">
                <a16:creationId xmlns:a16="http://schemas.microsoft.com/office/drawing/2014/main" id="{6FA8CC6C-DA71-49A0-A604-4D8543DD5A80}"/>
              </a:ext>
            </a:extLst>
          </p:cNvPr>
          <p:cNvSpPr/>
          <p:nvPr/>
        </p:nvSpPr>
        <p:spPr>
          <a:xfrm>
            <a:off x="2823882" y="5537492"/>
            <a:ext cx="9070142" cy="938719"/>
          </a:xfrm>
          <a:prstGeom prst="rect">
            <a:avLst/>
          </a:prstGeom>
        </p:spPr>
        <p:txBody>
          <a:bodyPr wrap="square">
            <a:spAutoFit/>
          </a:bodyPr>
          <a:lstStyle/>
          <a:p>
            <a:r>
              <a:rPr lang="ko-KR" altLang="en-US" sz="1100" dirty="0"/>
              <a:t>특허권의 권리범위 확인심판을 청구함에 있어 심판청구의 대상이 되는 확인대상 발명은 당해 특허발명과 </a:t>
            </a:r>
            <a:r>
              <a:rPr lang="ko-KR" altLang="en-US" sz="1100" dirty="0">
                <a:solidFill>
                  <a:srgbClr val="FF0000"/>
                </a:solidFill>
              </a:rPr>
              <a:t>서로 대비할 수 있을 만큼 구체적으로 특정</a:t>
            </a:r>
            <a:r>
              <a:rPr lang="ko-KR" altLang="en-US" sz="1100" dirty="0"/>
              <a:t>되어야 할 뿐만 아니라</a:t>
            </a:r>
            <a:r>
              <a:rPr lang="en-US" altLang="ko-KR" sz="1100" dirty="0"/>
              <a:t>, </a:t>
            </a:r>
            <a:r>
              <a:rPr lang="ko-KR" altLang="en-US" sz="1100" dirty="0"/>
              <a:t>그에 앞서 사회통념상 특허발명의 권리범위에 속하는지를 확인하는 대상으로서 다른 것과 구별될 수 있는 정도로 구체적으로 특정되어야 한다</a:t>
            </a:r>
            <a:r>
              <a:rPr lang="en-US" altLang="ko-KR" sz="1100" dirty="0"/>
              <a:t>(</a:t>
            </a:r>
            <a:r>
              <a:rPr lang="ko-KR" altLang="en-US" sz="1100" dirty="0"/>
              <a:t>대법원 </a:t>
            </a:r>
            <a:r>
              <a:rPr lang="en-US" altLang="ko-KR" sz="1100" dirty="0"/>
              <a:t>2011. 9. 8. </a:t>
            </a:r>
            <a:r>
              <a:rPr lang="ko-KR" altLang="en-US" sz="1100" dirty="0"/>
              <a:t>선고 </a:t>
            </a:r>
            <a:r>
              <a:rPr lang="en-US" altLang="ko-KR" sz="1100" dirty="0"/>
              <a:t>2010</a:t>
            </a:r>
            <a:r>
              <a:rPr lang="ko-KR" altLang="en-US" sz="1100" dirty="0"/>
              <a:t>후</a:t>
            </a:r>
            <a:r>
              <a:rPr lang="en-US" altLang="ko-KR" sz="1100" dirty="0"/>
              <a:t>3356 </a:t>
            </a:r>
            <a:r>
              <a:rPr lang="ko-KR" altLang="en-US" sz="1100" dirty="0"/>
              <a:t>판결 등 참조</a:t>
            </a:r>
            <a:r>
              <a:rPr lang="en-US" altLang="ko-KR" sz="1100" dirty="0"/>
              <a:t>). </a:t>
            </a:r>
            <a:r>
              <a:rPr lang="ko-KR" altLang="en-US" sz="1100" dirty="0"/>
              <a:t>다만</a:t>
            </a:r>
            <a:r>
              <a:rPr lang="en-US" altLang="ko-KR" sz="1100" dirty="0"/>
              <a:t>, </a:t>
            </a:r>
            <a:r>
              <a:rPr lang="ko-KR" altLang="en-US" sz="1100" dirty="0"/>
              <a:t>확인대상 발명의 설명서에 불명확한 부분이 있거나 설명서의 기재와 일치하지 않는 일부 도면이 있더라도</a:t>
            </a:r>
            <a:r>
              <a:rPr lang="en-US" altLang="ko-KR" sz="1100" dirty="0"/>
              <a:t>, </a:t>
            </a:r>
            <a:r>
              <a:rPr lang="ko-KR" altLang="en-US" sz="1100" dirty="0"/>
              <a:t>확인대상 발명의 설명서에 기재된 나머지 내용과 도면을 종합적으로 고려하여 </a:t>
            </a:r>
            <a:r>
              <a:rPr lang="ko-KR" altLang="en-US" sz="1100" dirty="0">
                <a:highlight>
                  <a:srgbClr val="FFFF00"/>
                </a:highlight>
              </a:rPr>
              <a:t>확인대상 발명이 특허발명의 권리범위에 속하는지 여부를 판단할 수 있는 경우에는 확인대상 발명은 특정</a:t>
            </a:r>
            <a:r>
              <a:rPr lang="ko-KR" altLang="en-US" sz="1100" dirty="0"/>
              <a:t>된 것으로 보아야 한다</a:t>
            </a:r>
            <a:r>
              <a:rPr lang="en-US" altLang="ko-KR" sz="1100" dirty="0"/>
              <a:t>(</a:t>
            </a:r>
            <a:r>
              <a:rPr lang="ko-KR" altLang="en-US" sz="1100" dirty="0"/>
              <a:t>대법원 </a:t>
            </a:r>
            <a:r>
              <a:rPr lang="en-US" altLang="ko-KR" sz="1100" dirty="0"/>
              <a:t>2020. 5. 28. </a:t>
            </a:r>
            <a:r>
              <a:rPr lang="ko-KR" altLang="en-US" sz="1100" dirty="0"/>
              <a:t>선고 </a:t>
            </a:r>
            <a:r>
              <a:rPr lang="en-US" altLang="ko-KR" sz="1100" dirty="0"/>
              <a:t>2017</a:t>
            </a:r>
            <a:r>
              <a:rPr lang="ko-KR" altLang="en-US" sz="1100" dirty="0"/>
              <a:t>후</a:t>
            </a:r>
            <a:r>
              <a:rPr lang="en-US" altLang="ko-KR" sz="1100" dirty="0"/>
              <a:t>2291).</a:t>
            </a:r>
            <a:endParaRPr lang="ko-KR" altLang="en-US" sz="1100" dirty="0"/>
          </a:p>
        </p:txBody>
      </p:sp>
      <p:sp>
        <p:nvSpPr>
          <p:cNvPr id="41" name="직사각형 40">
            <a:extLst>
              <a:ext uri="{FF2B5EF4-FFF2-40B4-BE49-F238E27FC236}">
                <a16:creationId xmlns:a16="http://schemas.microsoft.com/office/drawing/2014/main" id="{8F7B1771-1FC3-4999-9381-4CA0ECF63681}"/>
              </a:ext>
            </a:extLst>
          </p:cNvPr>
          <p:cNvSpPr/>
          <p:nvPr/>
        </p:nvSpPr>
        <p:spPr>
          <a:xfrm>
            <a:off x="2923239" y="2433200"/>
            <a:ext cx="9070143" cy="1107996"/>
          </a:xfrm>
          <a:prstGeom prst="rect">
            <a:avLst/>
          </a:prstGeom>
        </p:spPr>
        <p:txBody>
          <a:bodyPr wrap="square">
            <a:spAutoFit/>
          </a:bodyPr>
          <a:lstStyle/>
          <a:p>
            <a:r>
              <a:rPr lang="ko-KR" altLang="en-US" sz="1100" dirty="0"/>
              <a:t>특허권의 권리범위확인심판을 청구할 때 심판청구의 대상이 되는 확인대상발명은 당해 특허발명과 서로 대비할 수 있을 만큼 구체적으로 특정되어야 할 뿐만 아니라</a:t>
            </a:r>
            <a:r>
              <a:rPr lang="en-US" altLang="ko-KR" sz="1100" dirty="0"/>
              <a:t>, </a:t>
            </a:r>
            <a:r>
              <a:rPr lang="ko-KR" altLang="en-US" sz="1100" dirty="0"/>
              <a:t>그에 앞서 사회통념상 특허발명의 권리범위에 속하는지를 확인하는 대상으로서 다른 것과 구별될 수 있는 정도로 구체적으로 특정되어야 한다</a:t>
            </a:r>
            <a:r>
              <a:rPr lang="en-US" altLang="ko-KR" sz="1100" dirty="0"/>
              <a:t>. </a:t>
            </a:r>
            <a:r>
              <a:rPr lang="ko-KR" altLang="en-US" sz="1100" dirty="0"/>
              <a:t>만약 확인대상발명의 일부 구성이 불명확하여 </a:t>
            </a:r>
            <a:r>
              <a:rPr lang="ko-KR" altLang="en-US" sz="1100" dirty="0">
                <a:solidFill>
                  <a:srgbClr val="FF0000"/>
                </a:solidFill>
              </a:rPr>
              <a:t>다른 것과 구별될 수 있는 정도로 구체적으로 특정되어 있지 않다면</a:t>
            </a:r>
            <a:r>
              <a:rPr lang="en-US" altLang="ko-KR" sz="1100" dirty="0"/>
              <a:t>, </a:t>
            </a:r>
            <a:r>
              <a:rPr lang="ko-KR" altLang="en-US" sz="1100" dirty="0"/>
              <a:t>특허심판원은 요지변경이 되지 아니하는 범위 내에서 확인대상발명의 설명서 및 도면에 대한 보정을 명하는 등 조치를 취해야 하며</a:t>
            </a:r>
            <a:r>
              <a:rPr lang="en-US" altLang="ko-KR" sz="1100" dirty="0"/>
              <a:t>, </a:t>
            </a:r>
            <a:r>
              <a:rPr lang="ko-KR" altLang="en-US" sz="1100" dirty="0"/>
              <a:t>그럼에도 그와 같은 특정에 미흡함이 있다면 </a:t>
            </a:r>
            <a:r>
              <a:rPr lang="ko-KR" altLang="en-US" sz="1100" dirty="0">
                <a:highlight>
                  <a:srgbClr val="FFFF00"/>
                </a:highlight>
              </a:rPr>
              <a:t>심판의 </a:t>
            </a:r>
            <a:r>
              <a:rPr lang="ko-KR" altLang="en-US" sz="1100" dirty="0" err="1">
                <a:highlight>
                  <a:srgbClr val="FFFF00"/>
                </a:highlight>
              </a:rPr>
              <a:t>심결이</a:t>
            </a:r>
            <a:r>
              <a:rPr lang="ko-KR" altLang="en-US" sz="1100" dirty="0">
                <a:highlight>
                  <a:srgbClr val="FFFF00"/>
                </a:highlight>
              </a:rPr>
              <a:t> 확정되더라도 일사부재리의 효력이 미치는 범위가 명확하다고 할 수 없으므로</a:t>
            </a:r>
            <a:r>
              <a:rPr lang="en-US" altLang="ko-KR" sz="1100" dirty="0">
                <a:highlight>
                  <a:srgbClr val="FFFF00"/>
                </a:highlight>
              </a:rPr>
              <a:t>, </a:t>
            </a:r>
            <a:r>
              <a:rPr lang="ko-KR" altLang="en-US" sz="1100" dirty="0">
                <a:highlight>
                  <a:srgbClr val="FFFF00"/>
                </a:highlight>
              </a:rPr>
              <a:t>나머지 구성만으로 확인대상발명이 특허발명의 권리범위에 속하는지를 판단할 수 있는 경우라 하더라도 심판청구를 각하</a:t>
            </a:r>
            <a:r>
              <a:rPr lang="ko-KR" altLang="en-US" sz="1100" dirty="0"/>
              <a:t>하여야 한다</a:t>
            </a:r>
            <a:r>
              <a:rPr lang="en-US" altLang="ko-KR" sz="1100" dirty="0"/>
              <a:t>(</a:t>
            </a:r>
            <a:r>
              <a:rPr lang="ko-KR" altLang="en-US" sz="1100" dirty="0"/>
              <a:t>대법원 </a:t>
            </a:r>
            <a:r>
              <a:rPr lang="en-US" altLang="ko-KR" sz="1100" dirty="0"/>
              <a:t>2011. 9. 8. </a:t>
            </a:r>
            <a:r>
              <a:rPr lang="ko-KR" altLang="en-US" sz="1100" dirty="0"/>
              <a:t>선고 </a:t>
            </a:r>
            <a:r>
              <a:rPr lang="en-US" altLang="ko-KR" sz="1100" dirty="0"/>
              <a:t>2010</a:t>
            </a:r>
            <a:r>
              <a:rPr lang="ko-KR" altLang="en-US" sz="1100" dirty="0"/>
              <a:t>후</a:t>
            </a:r>
            <a:r>
              <a:rPr lang="en-US" altLang="ko-KR" sz="1100" dirty="0"/>
              <a:t>3356).</a:t>
            </a:r>
            <a:endParaRPr lang="ko-KR" altLang="en-US" sz="1100" dirty="0"/>
          </a:p>
        </p:txBody>
      </p:sp>
      <p:sp>
        <p:nvSpPr>
          <p:cNvPr id="17" name="말풍선: 모서리가 둥근 사각형 16">
            <a:extLst>
              <a:ext uri="{FF2B5EF4-FFF2-40B4-BE49-F238E27FC236}">
                <a16:creationId xmlns:a16="http://schemas.microsoft.com/office/drawing/2014/main" id="{2B5A81D0-8703-74C0-D339-AC121631F411}"/>
              </a:ext>
            </a:extLst>
          </p:cNvPr>
          <p:cNvSpPr/>
          <p:nvPr/>
        </p:nvSpPr>
        <p:spPr>
          <a:xfrm>
            <a:off x="1330558" y="2054110"/>
            <a:ext cx="1493324" cy="1200328"/>
          </a:xfrm>
          <a:prstGeom prst="wedgeRoundRectCallout">
            <a:avLst>
              <a:gd name="adj1" fmla="val -20081"/>
              <a:gd name="adj2" fmla="val -92318"/>
              <a:gd name="adj3" fmla="val 16667"/>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altLang="ko-KR" sz="1000" dirty="0">
                <a:solidFill>
                  <a:schemeClr val="tx1"/>
                </a:solidFill>
              </a:rPr>
              <a:t>“</a:t>
            </a:r>
            <a:r>
              <a:rPr lang="ko-KR" altLang="en-US" sz="1000" dirty="0">
                <a:solidFill>
                  <a:schemeClr val="tx1"/>
                </a:solidFill>
              </a:rPr>
              <a:t>확인대상발명은 특허 제</a:t>
            </a:r>
            <a:r>
              <a:rPr lang="en-US" altLang="ko-KR" sz="1000" dirty="0">
                <a:solidFill>
                  <a:schemeClr val="tx1"/>
                </a:solidFill>
              </a:rPr>
              <a:t>0000000</a:t>
            </a:r>
            <a:r>
              <a:rPr lang="ko-KR" altLang="en-US" sz="1000" dirty="0">
                <a:solidFill>
                  <a:schemeClr val="tx1"/>
                </a:solidFill>
              </a:rPr>
              <a:t>호의 특허발명의 권리범위에 속한다</a:t>
            </a:r>
            <a:r>
              <a:rPr lang="en-US" altLang="ko-KR" sz="1000" dirty="0">
                <a:solidFill>
                  <a:schemeClr val="tx1"/>
                </a:solidFill>
              </a:rPr>
              <a:t>.”</a:t>
            </a:r>
          </a:p>
          <a:p>
            <a:r>
              <a:rPr lang="ko-KR" altLang="en-US" sz="1000" dirty="0">
                <a:solidFill>
                  <a:schemeClr val="tx1"/>
                </a:solidFill>
              </a:rPr>
              <a:t>라는 </a:t>
            </a:r>
            <a:r>
              <a:rPr lang="ko-KR" altLang="en-US" sz="1000" dirty="0" err="1">
                <a:solidFill>
                  <a:schemeClr val="tx1"/>
                </a:solidFill>
              </a:rPr>
              <a:t>심결을</a:t>
            </a:r>
            <a:r>
              <a:rPr lang="ko-KR" altLang="en-US" sz="1000" dirty="0">
                <a:solidFill>
                  <a:schemeClr val="tx1"/>
                </a:solidFill>
              </a:rPr>
              <a:t> 구합니다</a:t>
            </a:r>
            <a:r>
              <a:rPr lang="en-US" altLang="ko-KR" sz="1000" dirty="0">
                <a:solidFill>
                  <a:schemeClr val="tx1"/>
                </a:solidFill>
              </a:rPr>
              <a:t>.</a:t>
            </a:r>
            <a:endParaRPr lang="ko-KR" altLang="en-US" sz="1000" dirty="0">
              <a:solidFill>
                <a:schemeClr val="tx1"/>
              </a:solidFill>
            </a:endParaRPr>
          </a:p>
        </p:txBody>
      </p:sp>
      <p:sp>
        <p:nvSpPr>
          <p:cNvPr id="25" name="말풍선: 모서리가 둥근 사각형 24">
            <a:extLst>
              <a:ext uri="{FF2B5EF4-FFF2-40B4-BE49-F238E27FC236}">
                <a16:creationId xmlns:a16="http://schemas.microsoft.com/office/drawing/2014/main" id="{E375EBA0-64D6-DEC3-5DD5-B22423BD9356}"/>
              </a:ext>
            </a:extLst>
          </p:cNvPr>
          <p:cNvSpPr/>
          <p:nvPr/>
        </p:nvSpPr>
        <p:spPr>
          <a:xfrm>
            <a:off x="1071410" y="5193661"/>
            <a:ext cx="1637226" cy="730064"/>
          </a:xfrm>
          <a:prstGeom prst="wedgeRoundRectCallout">
            <a:avLst>
              <a:gd name="adj1" fmla="val -13511"/>
              <a:gd name="adj2" fmla="val -120675"/>
              <a:gd name="adj3" fmla="val 16667"/>
            </a:avLst>
          </a:prstGeom>
          <a:no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ko-KR" altLang="en-US" sz="1000" dirty="0">
                <a:solidFill>
                  <a:schemeClr val="tx1"/>
                </a:solidFill>
              </a:rPr>
              <a:t>확인대상발명은 특허발명과 대비하여 </a:t>
            </a:r>
            <a:r>
              <a:rPr lang="ko-KR" altLang="en-US" sz="1000" dirty="0" err="1">
                <a:solidFill>
                  <a:schemeClr val="tx1"/>
                </a:solidFill>
              </a:rPr>
              <a:t>구성요소완비의</a:t>
            </a:r>
            <a:r>
              <a:rPr lang="ko-KR" altLang="en-US" sz="1000" dirty="0">
                <a:solidFill>
                  <a:schemeClr val="tx1"/>
                </a:solidFill>
              </a:rPr>
              <a:t> 원칙</a:t>
            </a:r>
            <a:r>
              <a:rPr lang="en-US" altLang="ko-KR" sz="1000" dirty="0">
                <a:solidFill>
                  <a:schemeClr val="tx1"/>
                </a:solidFill>
              </a:rPr>
              <a:t>, </a:t>
            </a:r>
            <a:r>
              <a:rPr lang="ko-KR" altLang="en-US" sz="1000" dirty="0">
                <a:solidFill>
                  <a:schemeClr val="tx1"/>
                </a:solidFill>
              </a:rPr>
              <a:t>균등론이 적용된다</a:t>
            </a:r>
            <a:r>
              <a:rPr lang="en-US" altLang="ko-KR" sz="1000" dirty="0">
                <a:solidFill>
                  <a:schemeClr val="tx1"/>
                </a:solidFill>
              </a:rPr>
              <a:t>.</a:t>
            </a:r>
            <a:endParaRPr lang="ko-KR" altLang="en-US" sz="1000" dirty="0">
              <a:solidFill>
                <a:schemeClr val="tx1"/>
              </a:solidFill>
            </a:endParaRPr>
          </a:p>
        </p:txBody>
      </p:sp>
    </p:spTree>
    <p:extLst>
      <p:ext uri="{BB962C8B-B14F-4D97-AF65-F5344CB8AC3E}">
        <p14:creationId xmlns:p14="http://schemas.microsoft.com/office/powerpoint/2010/main" val="1410266649"/>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t>독립항과 종속항의 관계에 있어서 특정 정도</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11" name="다이아몬드 10">
            <a:extLst>
              <a:ext uri="{FF2B5EF4-FFF2-40B4-BE49-F238E27FC236}">
                <a16:creationId xmlns:a16="http://schemas.microsoft.com/office/drawing/2014/main" id="{9D03EC18-9240-078D-E22E-5A79E010F872}"/>
              </a:ext>
            </a:extLst>
          </p:cNvPr>
          <p:cNvSpPr/>
          <p:nvPr/>
        </p:nvSpPr>
        <p:spPr>
          <a:xfrm>
            <a:off x="1438833" y="1080889"/>
            <a:ext cx="2555684" cy="876011"/>
          </a:xfrm>
          <a:prstGeom prst="diamond">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ko-KR" altLang="en-US" sz="1600" dirty="0">
                <a:solidFill>
                  <a:schemeClr val="tx1"/>
                </a:solidFill>
              </a:rPr>
              <a:t>사회통념상 </a:t>
            </a:r>
            <a:endParaRPr lang="en-US" altLang="ko-KR" sz="1600" dirty="0">
              <a:solidFill>
                <a:schemeClr val="tx1"/>
              </a:solidFill>
            </a:endParaRPr>
          </a:p>
          <a:p>
            <a:pPr algn="ctr"/>
            <a:r>
              <a:rPr lang="ko-KR" altLang="en-US" sz="1600" dirty="0">
                <a:solidFill>
                  <a:schemeClr val="tx1"/>
                </a:solidFill>
              </a:rPr>
              <a:t>구별</a:t>
            </a:r>
          </a:p>
        </p:txBody>
      </p:sp>
      <p:sp>
        <p:nvSpPr>
          <p:cNvPr id="13" name="다이아몬드 12">
            <a:extLst>
              <a:ext uri="{FF2B5EF4-FFF2-40B4-BE49-F238E27FC236}">
                <a16:creationId xmlns:a16="http://schemas.microsoft.com/office/drawing/2014/main" id="{F6742B90-C9DA-FFDD-E01E-05CF10BF829C}"/>
              </a:ext>
            </a:extLst>
          </p:cNvPr>
          <p:cNvSpPr/>
          <p:nvPr/>
        </p:nvSpPr>
        <p:spPr>
          <a:xfrm>
            <a:off x="5388007" y="1080889"/>
            <a:ext cx="2555684" cy="876011"/>
          </a:xfrm>
          <a:prstGeom prst="diamond">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ko-KR" altLang="en-US" sz="1600" dirty="0">
                <a:solidFill>
                  <a:schemeClr val="tx1"/>
                </a:solidFill>
              </a:rPr>
              <a:t>대비가능 정도 특정</a:t>
            </a:r>
            <a:endParaRPr lang="en-US" altLang="ko-KR" sz="1600" dirty="0">
              <a:solidFill>
                <a:schemeClr val="tx1"/>
              </a:solidFill>
            </a:endParaRPr>
          </a:p>
        </p:txBody>
      </p:sp>
      <p:sp>
        <p:nvSpPr>
          <p:cNvPr id="14" name="직사각형 13">
            <a:extLst>
              <a:ext uri="{FF2B5EF4-FFF2-40B4-BE49-F238E27FC236}">
                <a16:creationId xmlns:a16="http://schemas.microsoft.com/office/drawing/2014/main" id="{8F77912A-6696-8FE8-659A-AA6105E02C75}"/>
              </a:ext>
            </a:extLst>
          </p:cNvPr>
          <p:cNvSpPr/>
          <p:nvPr/>
        </p:nvSpPr>
        <p:spPr>
          <a:xfrm>
            <a:off x="1975286" y="2283804"/>
            <a:ext cx="1482779" cy="430821"/>
          </a:xfrm>
          <a:prstGeom prst="rect">
            <a:avLst/>
          </a:prstGeom>
          <a:no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a:solidFill>
                  <a:schemeClr val="tx1"/>
                </a:solidFill>
              </a:rPr>
              <a:t>심결각하</a:t>
            </a:r>
            <a:endParaRPr lang="ko-KR" altLang="en-US" sz="1600" dirty="0">
              <a:solidFill>
                <a:schemeClr val="tx1"/>
              </a:solidFill>
            </a:endParaRPr>
          </a:p>
        </p:txBody>
      </p:sp>
      <p:sp>
        <p:nvSpPr>
          <p:cNvPr id="15" name="직사각형 14">
            <a:extLst>
              <a:ext uri="{FF2B5EF4-FFF2-40B4-BE49-F238E27FC236}">
                <a16:creationId xmlns:a16="http://schemas.microsoft.com/office/drawing/2014/main" id="{010AF2D0-36D9-3B91-6C7A-EB93CB454854}"/>
              </a:ext>
            </a:extLst>
          </p:cNvPr>
          <p:cNvSpPr/>
          <p:nvPr/>
        </p:nvSpPr>
        <p:spPr>
          <a:xfrm>
            <a:off x="5924460" y="2283804"/>
            <a:ext cx="1482779" cy="430821"/>
          </a:xfrm>
          <a:prstGeom prst="rect">
            <a:avLst/>
          </a:prstGeom>
          <a:no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a:solidFill>
                  <a:schemeClr val="tx1"/>
                </a:solidFill>
              </a:rPr>
              <a:t>심결각하</a:t>
            </a:r>
            <a:endParaRPr lang="ko-KR" altLang="en-US" sz="1600" dirty="0">
              <a:solidFill>
                <a:schemeClr val="tx1"/>
              </a:solidFill>
            </a:endParaRPr>
          </a:p>
        </p:txBody>
      </p:sp>
      <p:sp>
        <p:nvSpPr>
          <p:cNvPr id="19" name="직사각형 18">
            <a:extLst>
              <a:ext uri="{FF2B5EF4-FFF2-40B4-BE49-F238E27FC236}">
                <a16:creationId xmlns:a16="http://schemas.microsoft.com/office/drawing/2014/main" id="{C3241343-0117-4A1E-7B79-66148BE166B2}"/>
              </a:ext>
            </a:extLst>
          </p:cNvPr>
          <p:cNvSpPr/>
          <p:nvPr/>
        </p:nvSpPr>
        <p:spPr>
          <a:xfrm>
            <a:off x="9091279" y="1303484"/>
            <a:ext cx="1482779" cy="430821"/>
          </a:xfrm>
          <a:prstGeom prst="rect">
            <a:avLst/>
          </a:prstGeom>
          <a:no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err="1">
                <a:solidFill>
                  <a:schemeClr val="tx1"/>
                </a:solidFill>
              </a:rPr>
              <a:t>본안심결</a:t>
            </a:r>
            <a:endParaRPr lang="ko-KR" altLang="en-US" sz="1600" dirty="0">
              <a:solidFill>
                <a:schemeClr val="tx1"/>
              </a:solidFill>
            </a:endParaRPr>
          </a:p>
        </p:txBody>
      </p:sp>
      <p:cxnSp>
        <p:nvCxnSpPr>
          <p:cNvPr id="20" name="직선 화살표 연결선 19">
            <a:extLst>
              <a:ext uri="{FF2B5EF4-FFF2-40B4-BE49-F238E27FC236}">
                <a16:creationId xmlns:a16="http://schemas.microsoft.com/office/drawing/2014/main" id="{ECD84B0A-7C29-3183-56E6-2763AF90EEA7}"/>
              </a:ext>
            </a:extLst>
          </p:cNvPr>
          <p:cNvCxnSpPr>
            <a:stCxn id="11" idx="2"/>
            <a:endCxn id="14" idx="0"/>
          </p:cNvCxnSpPr>
          <p:nvPr/>
        </p:nvCxnSpPr>
        <p:spPr>
          <a:xfrm>
            <a:off x="2716675" y="1956900"/>
            <a:ext cx="0" cy="32690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1" name="직선 화살표 연결선 20">
            <a:extLst>
              <a:ext uri="{FF2B5EF4-FFF2-40B4-BE49-F238E27FC236}">
                <a16:creationId xmlns:a16="http://schemas.microsoft.com/office/drawing/2014/main" id="{78A5FF8D-105E-F756-2EEB-CBF6437E3675}"/>
              </a:ext>
            </a:extLst>
          </p:cNvPr>
          <p:cNvCxnSpPr>
            <a:cxnSpLocks/>
            <a:stCxn id="11" idx="3"/>
            <a:endCxn id="50" idx="2"/>
          </p:cNvCxnSpPr>
          <p:nvPr/>
        </p:nvCxnSpPr>
        <p:spPr>
          <a:xfrm>
            <a:off x="3994517" y="1518895"/>
            <a:ext cx="1027361" cy="551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 name="직선 화살표 연결선 21">
            <a:extLst>
              <a:ext uri="{FF2B5EF4-FFF2-40B4-BE49-F238E27FC236}">
                <a16:creationId xmlns:a16="http://schemas.microsoft.com/office/drawing/2014/main" id="{C6CEDD9E-FC67-C788-6F71-2EB808318FBA}"/>
              </a:ext>
            </a:extLst>
          </p:cNvPr>
          <p:cNvCxnSpPr>
            <a:stCxn id="13" idx="2"/>
            <a:endCxn id="15" idx="0"/>
          </p:cNvCxnSpPr>
          <p:nvPr/>
        </p:nvCxnSpPr>
        <p:spPr>
          <a:xfrm>
            <a:off x="6665849" y="1956900"/>
            <a:ext cx="0" cy="32690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3" name="직선 화살표 연결선 22">
            <a:extLst>
              <a:ext uri="{FF2B5EF4-FFF2-40B4-BE49-F238E27FC236}">
                <a16:creationId xmlns:a16="http://schemas.microsoft.com/office/drawing/2014/main" id="{5ACFCCEE-D29A-1E30-077D-C22E68572315}"/>
              </a:ext>
            </a:extLst>
          </p:cNvPr>
          <p:cNvCxnSpPr>
            <a:stCxn id="13" idx="3"/>
            <a:endCxn id="19" idx="1"/>
          </p:cNvCxnSpPr>
          <p:nvPr/>
        </p:nvCxnSpPr>
        <p:spPr>
          <a:xfrm>
            <a:off x="7943691" y="1518895"/>
            <a:ext cx="1147588"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7792D31-4A4B-FAF8-FD9D-A3B82E76EF92}"/>
              </a:ext>
            </a:extLst>
          </p:cNvPr>
          <p:cNvSpPr txBox="1"/>
          <p:nvPr/>
        </p:nvSpPr>
        <p:spPr>
          <a:xfrm>
            <a:off x="3820774" y="1191991"/>
            <a:ext cx="481497" cy="261557"/>
          </a:xfrm>
          <a:prstGeom prst="rect">
            <a:avLst/>
          </a:prstGeom>
          <a:noFill/>
        </p:spPr>
        <p:txBody>
          <a:bodyPr wrap="none" rtlCol="0">
            <a:spAutoFit/>
          </a:bodyPr>
          <a:lstStyle/>
          <a:p>
            <a:r>
              <a:rPr lang="en-US" altLang="ko-KR" sz="1600" dirty="0"/>
              <a:t>Yes</a:t>
            </a:r>
            <a:endParaRPr lang="ko-KR" altLang="en-US" sz="1600" dirty="0"/>
          </a:p>
        </p:txBody>
      </p:sp>
      <p:sp>
        <p:nvSpPr>
          <p:cNvPr id="29" name="TextBox 28">
            <a:extLst>
              <a:ext uri="{FF2B5EF4-FFF2-40B4-BE49-F238E27FC236}">
                <a16:creationId xmlns:a16="http://schemas.microsoft.com/office/drawing/2014/main" id="{81F7EDBF-87C7-73C3-2701-97C3E68B5C44}"/>
              </a:ext>
            </a:extLst>
          </p:cNvPr>
          <p:cNvSpPr txBox="1"/>
          <p:nvPr/>
        </p:nvSpPr>
        <p:spPr>
          <a:xfrm>
            <a:off x="7799030" y="1191991"/>
            <a:ext cx="481497" cy="261557"/>
          </a:xfrm>
          <a:prstGeom prst="rect">
            <a:avLst/>
          </a:prstGeom>
          <a:noFill/>
        </p:spPr>
        <p:txBody>
          <a:bodyPr wrap="none" rtlCol="0">
            <a:spAutoFit/>
          </a:bodyPr>
          <a:lstStyle/>
          <a:p>
            <a:r>
              <a:rPr lang="en-US" altLang="ko-KR" sz="1600" dirty="0"/>
              <a:t>Yes</a:t>
            </a:r>
            <a:endParaRPr lang="ko-KR" altLang="en-US" sz="1600" dirty="0"/>
          </a:p>
        </p:txBody>
      </p:sp>
      <p:sp>
        <p:nvSpPr>
          <p:cNvPr id="31" name="TextBox 30">
            <a:extLst>
              <a:ext uri="{FF2B5EF4-FFF2-40B4-BE49-F238E27FC236}">
                <a16:creationId xmlns:a16="http://schemas.microsoft.com/office/drawing/2014/main" id="{F7291581-ED86-C70C-9213-2C7F008B664A}"/>
              </a:ext>
            </a:extLst>
          </p:cNvPr>
          <p:cNvSpPr txBox="1"/>
          <p:nvPr/>
        </p:nvSpPr>
        <p:spPr>
          <a:xfrm>
            <a:off x="2740862" y="1956900"/>
            <a:ext cx="433961" cy="261557"/>
          </a:xfrm>
          <a:prstGeom prst="rect">
            <a:avLst/>
          </a:prstGeom>
          <a:noFill/>
        </p:spPr>
        <p:txBody>
          <a:bodyPr wrap="none" rtlCol="0">
            <a:spAutoFit/>
          </a:bodyPr>
          <a:lstStyle/>
          <a:p>
            <a:r>
              <a:rPr lang="en-US" altLang="ko-KR" sz="1600" dirty="0"/>
              <a:t>No</a:t>
            </a:r>
            <a:endParaRPr lang="ko-KR" altLang="en-US" sz="1600" dirty="0"/>
          </a:p>
        </p:txBody>
      </p:sp>
      <p:sp>
        <p:nvSpPr>
          <p:cNvPr id="33" name="TextBox 32">
            <a:extLst>
              <a:ext uri="{FF2B5EF4-FFF2-40B4-BE49-F238E27FC236}">
                <a16:creationId xmlns:a16="http://schemas.microsoft.com/office/drawing/2014/main" id="{431E738D-5E36-76C8-8F49-410423B834BD}"/>
              </a:ext>
            </a:extLst>
          </p:cNvPr>
          <p:cNvSpPr txBox="1"/>
          <p:nvPr/>
        </p:nvSpPr>
        <p:spPr>
          <a:xfrm>
            <a:off x="6665849" y="1956900"/>
            <a:ext cx="433961" cy="261557"/>
          </a:xfrm>
          <a:prstGeom prst="rect">
            <a:avLst/>
          </a:prstGeom>
          <a:noFill/>
        </p:spPr>
        <p:txBody>
          <a:bodyPr wrap="none" rtlCol="0">
            <a:spAutoFit/>
          </a:bodyPr>
          <a:lstStyle/>
          <a:p>
            <a:r>
              <a:rPr lang="en-US" altLang="ko-KR" sz="1600" dirty="0"/>
              <a:t>No</a:t>
            </a:r>
            <a:endParaRPr lang="ko-KR" altLang="en-US" sz="1600" dirty="0"/>
          </a:p>
        </p:txBody>
      </p:sp>
      <p:sp>
        <p:nvSpPr>
          <p:cNvPr id="39" name="TextBox 38">
            <a:extLst>
              <a:ext uri="{FF2B5EF4-FFF2-40B4-BE49-F238E27FC236}">
                <a16:creationId xmlns:a16="http://schemas.microsoft.com/office/drawing/2014/main" id="{97268FF9-F2BA-AF03-FD78-BA0F65B9E735}"/>
              </a:ext>
            </a:extLst>
          </p:cNvPr>
          <p:cNvSpPr txBox="1"/>
          <p:nvPr/>
        </p:nvSpPr>
        <p:spPr>
          <a:xfrm>
            <a:off x="7599493" y="2022926"/>
            <a:ext cx="3122422" cy="578882"/>
          </a:xfrm>
          <a:prstGeom prst="wedgeRoundRectCallout">
            <a:avLst>
              <a:gd name="adj1" fmla="val -54502"/>
              <a:gd name="adj2" fmla="val -98231"/>
              <a:gd name="adj3" fmla="val 16667"/>
            </a:avLst>
          </a:prstGeom>
          <a:noFill/>
          <a:ln>
            <a:solidFill>
              <a:schemeClr val="tx1">
                <a:lumMod val="50000"/>
                <a:lumOff val="50000"/>
              </a:schemeClr>
            </a:solidFill>
          </a:ln>
        </p:spPr>
        <p:txBody>
          <a:bodyPr wrap="none" rtlCol="0">
            <a:spAutoFit/>
          </a:bodyPr>
          <a:lstStyle/>
          <a:p>
            <a:r>
              <a:rPr lang="ko-KR" altLang="en-US" sz="1400" dirty="0"/>
              <a:t>원칙</a:t>
            </a:r>
            <a:r>
              <a:rPr lang="en-US" altLang="ko-KR" sz="1400" dirty="0"/>
              <a:t>: </a:t>
            </a:r>
            <a:r>
              <a:rPr lang="ko-KR" altLang="en-US" sz="1400" dirty="0"/>
              <a:t>대응구성요소</a:t>
            </a:r>
            <a:r>
              <a:rPr lang="en-US" altLang="ko-KR" sz="1400" dirty="0">
                <a:solidFill>
                  <a:srgbClr val="FF0000"/>
                </a:solidFill>
              </a:rPr>
              <a:t>(</a:t>
            </a:r>
            <a:r>
              <a:rPr lang="ko-KR" altLang="en-US" sz="1400" dirty="0">
                <a:solidFill>
                  <a:srgbClr val="FF0000"/>
                </a:solidFill>
              </a:rPr>
              <a:t>차이점 드러날 정도</a:t>
            </a:r>
            <a:r>
              <a:rPr lang="en-US" altLang="ko-KR" sz="1400" dirty="0">
                <a:solidFill>
                  <a:srgbClr val="FF0000"/>
                </a:solidFill>
              </a:rPr>
              <a:t>)</a:t>
            </a:r>
          </a:p>
          <a:p>
            <a:r>
              <a:rPr lang="ko-KR" altLang="en-US" sz="1400" dirty="0">
                <a:solidFill>
                  <a:srgbClr val="FF0000"/>
                </a:solidFill>
              </a:rPr>
              <a:t>예외</a:t>
            </a:r>
            <a:r>
              <a:rPr lang="en-US" altLang="ko-KR" sz="1400" dirty="0">
                <a:solidFill>
                  <a:srgbClr val="FF0000"/>
                </a:solidFill>
              </a:rPr>
              <a:t>: </a:t>
            </a:r>
            <a:r>
              <a:rPr lang="ko-KR" altLang="en-US" sz="1400" dirty="0">
                <a:solidFill>
                  <a:srgbClr val="FF0000"/>
                </a:solidFill>
              </a:rPr>
              <a:t>독립항과 종속항의 관계</a:t>
            </a:r>
          </a:p>
        </p:txBody>
      </p:sp>
      <p:sp>
        <p:nvSpPr>
          <p:cNvPr id="40" name="직사각형 39">
            <a:extLst>
              <a:ext uri="{FF2B5EF4-FFF2-40B4-BE49-F238E27FC236}">
                <a16:creationId xmlns:a16="http://schemas.microsoft.com/office/drawing/2014/main" id="{94189DB1-4BC6-7D62-AC4B-574EBBEAC6F7}"/>
              </a:ext>
            </a:extLst>
          </p:cNvPr>
          <p:cNvSpPr/>
          <p:nvPr/>
        </p:nvSpPr>
        <p:spPr>
          <a:xfrm>
            <a:off x="2453737" y="1518895"/>
            <a:ext cx="532246" cy="22190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41" name="직사각형 40">
            <a:extLst>
              <a:ext uri="{FF2B5EF4-FFF2-40B4-BE49-F238E27FC236}">
                <a16:creationId xmlns:a16="http://schemas.microsoft.com/office/drawing/2014/main" id="{8AD6ECC3-1454-B151-D5A3-9D51F076B8CD}"/>
              </a:ext>
            </a:extLst>
          </p:cNvPr>
          <p:cNvSpPr/>
          <p:nvPr/>
        </p:nvSpPr>
        <p:spPr>
          <a:xfrm>
            <a:off x="5841626" y="1372080"/>
            <a:ext cx="400754" cy="261557"/>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42" name="직사각형 41">
            <a:extLst>
              <a:ext uri="{FF2B5EF4-FFF2-40B4-BE49-F238E27FC236}">
                <a16:creationId xmlns:a16="http://schemas.microsoft.com/office/drawing/2014/main" id="{C429157E-531F-6EA5-9C5C-119BC6DBF324}"/>
              </a:ext>
            </a:extLst>
          </p:cNvPr>
          <p:cNvSpPr/>
          <p:nvPr/>
        </p:nvSpPr>
        <p:spPr>
          <a:xfrm>
            <a:off x="8141166" y="2077124"/>
            <a:ext cx="321516" cy="258992"/>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600"/>
          </a:p>
        </p:txBody>
      </p:sp>
      <p:sp>
        <p:nvSpPr>
          <p:cNvPr id="43" name="TextBox 42">
            <a:extLst>
              <a:ext uri="{FF2B5EF4-FFF2-40B4-BE49-F238E27FC236}">
                <a16:creationId xmlns:a16="http://schemas.microsoft.com/office/drawing/2014/main" id="{91A22107-2978-D016-F0B3-9E0B66E4A41F}"/>
              </a:ext>
            </a:extLst>
          </p:cNvPr>
          <p:cNvSpPr txBox="1"/>
          <p:nvPr/>
        </p:nvSpPr>
        <p:spPr>
          <a:xfrm>
            <a:off x="798786" y="2864479"/>
            <a:ext cx="11215411" cy="1169551"/>
          </a:xfrm>
          <a:prstGeom prst="rect">
            <a:avLst/>
          </a:prstGeom>
          <a:noFill/>
          <a:ln>
            <a:solidFill>
              <a:schemeClr val="bg1">
                <a:lumMod val="50000"/>
              </a:schemeClr>
            </a:solidFill>
          </a:ln>
        </p:spPr>
        <p:txBody>
          <a:bodyPr wrap="square" rtlCol="0">
            <a:spAutoFit/>
          </a:bodyPr>
          <a:lstStyle/>
          <a:p>
            <a:r>
              <a:rPr lang="ko-KR" altLang="en-US" sz="1400" dirty="0"/>
              <a:t>복수의 청구항에 대해 권리범위확인심판을 청구할 때 특허심판원이나 법원은 </a:t>
            </a:r>
            <a:r>
              <a:rPr lang="ko-KR" altLang="en-US" sz="1400" dirty="0" err="1"/>
              <a:t>청구항별로</a:t>
            </a:r>
            <a:r>
              <a:rPr lang="ko-KR" altLang="en-US" sz="1400" dirty="0"/>
              <a:t> 독립적으로 권리범위에 속하는지 여부를 판단하게 된다</a:t>
            </a:r>
            <a:r>
              <a:rPr lang="en-US" altLang="ko-KR" sz="1400" dirty="0"/>
              <a:t>(</a:t>
            </a:r>
            <a:r>
              <a:rPr lang="ko-KR" altLang="en-US" sz="1400" dirty="0"/>
              <a:t>대법원 </a:t>
            </a:r>
            <a:r>
              <a:rPr lang="en-US" altLang="ko-KR" sz="1400" dirty="0"/>
              <a:t>2002. 9. 6. </a:t>
            </a:r>
            <a:r>
              <a:rPr lang="ko-KR" altLang="en-US" sz="1400" dirty="0"/>
              <a:t>선고 </a:t>
            </a:r>
            <a:r>
              <a:rPr lang="en-US" altLang="ko-KR" sz="1400" dirty="0"/>
              <a:t>2001</a:t>
            </a:r>
            <a:r>
              <a:rPr lang="ko-KR" altLang="en-US" sz="1400" dirty="0"/>
              <a:t>후</a:t>
            </a:r>
            <a:r>
              <a:rPr lang="en-US" altLang="ko-KR" sz="1400" dirty="0"/>
              <a:t>17). </a:t>
            </a:r>
            <a:r>
              <a:rPr lang="ko-KR" altLang="en-US" sz="1400" dirty="0"/>
              <a:t>청구범위가 복수 개의 청구항으로 된 경우에 있어서 각 청구항은 그것이 </a:t>
            </a:r>
            <a:r>
              <a:rPr lang="ko-KR" altLang="en-US" sz="1400" dirty="0" err="1"/>
              <a:t>독립항이든</a:t>
            </a:r>
            <a:r>
              <a:rPr lang="ko-KR" altLang="en-US" sz="1400" dirty="0"/>
              <a:t> </a:t>
            </a:r>
            <a:r>
              <a:rPr lang="ko-KR" altLang="en-US" sz="1400" dirty="0" err="1"/>
              <a:t>종속항이든</a:t>
            </a:r>
            <a:r>
              <a:rPr lang="ko-KR" altLang="en-US" sz="1400" dirty="0"/>
              <a:t> 관계없이 상호 독립되어 각 청구항마다 권리범위가 정하여지는 것이기 때문이다</a:t>
            </a:r>
            <a:r>
              <a:rPr lang="en-US" altLang="ko-KR" sz="1400" dirty="0"/>
              <a:t>(</a:t>
            </a:r>
            <a:r>
              <a:rPr lang="ko-KR" altLang="en-US" sz="1400" dirty="0"/>
              <a:t>특허법원 </a:t>
            </a:r>
            <a:r>
              <a:rPr lang="en-US" altLang="ko-KR" sz="1400" dirty="0"/>
              <a:t>2004. 7. 2. </a:t>
            </a:r>
            <a:r>
              <a:rPr lang="ko-KR" altLang="en-US" sz="1400" dirty="0"/>
              <a:t>선고 </a:t>
            </a:r>
            <a:r>
              <a:rPr lang="en-US" altLang="ko-KR" sz="1400" dirty="0"/>
              <a:t>2003</a:t>
            </a:r>
            <a:r>
              <a:rPr lang="ko-KR" altLang="en-US" sz="1400" dirty="0"/>
              <a:t>허</a:t>
            </a:r>
            <a:r>
              <a:rPr lang="en-US" altLang="ko-KR" sz="1400" dirty="0"/>
              <a:t>6043). </a:t>
            </a:r>
            <a:r>
              <a:rPr lang="ko-KR" altLang="en-US" sz="1400" dirty="0">
                <a:solidFill>
                  <a:schemeClr val="tx2"/>
                </a:solidFill>
              </a:rPr>
              <a:t>따라서 독립항과 종속항의 관계에서 특별한 사정이 없는 한 광범위하게 규정된 독립항의 기술내용을</a:t>
            </a:r>
            <a:r>
              <a:rPr lang="en-US" altLang="ko-KR" sz="1400" dirty="0">
                <a:solidFill>
                  <a:schemeClr val="tx2"/>
                </a:solidFill>
              </a:rPr>
              <a:t>, </a:t>
            </a:r>
            <a:r>
              <a:rPr lang="ko-KR" altLang="en-US" sz="1400" dirty="0">
                <a:solidFill>
                  <a:schemeClr val="tx2"/>
                </a:solidFill>
              </a:rPr>
              <a:t>독립항보다 구체적으로 한정하고 있는 종속항으로 제한하여 해석할 수 없다</a:t>
            </a:r>
            <a:r>
              <a:rPr lang="en-US" altLang="ko-KR" sz="1400" dirty="0">
                <a:solidFill>
                  <a:schemeClr val="tx2"/>
                </a:solidFill>
              </a:rPr>
              <a:t>(</a:t>
            </a:r>
            <a:r>
              <a:rPr lang="ko-KR" altLang="en-US" sz="1400" dirty="0">
                <a:solidFill>
                  <a:schemeClr val="tx2"/>
                </a:solidFill>
              </a:rPr>
              <a:t>대법원 </a:t>
            </a:r>
            <a:r>
              <a:rPr lang="en-US" altLang="ko-KR" sz="1400" dirty="0">
                <a:solidFill>
                  <a:schemeClr val="tx2"/>
                </a:solidFill>
              </a:rPr>
              <a:t>2010. 7. 22. </a:t>
            </a:r>
            <a:r>
              <a:rPr lang="ko-KR" altLang="en-US" sz="1400" dirty="0">
                <a:solidFill>
                  <a:schemeClr val="tx2"/>
                </a:solidFill>
              </a:rPr>
              <a:t>선고 </a:t>
            </a:r>
            <a:r>
              <a:rPr lang="en-US" altLang="ko-KR" sz="1400" dirty="0">
                <a:solidFill>
                  <a:schemeClr val="tx2"/>
                </a:solidFill>
              </a:rPr>
              <a:t>2008</a:t>
            </a:r>
            <a:r>
              <a:rPr lang="ko-KR" altLang="en-US" sz="1400" dirty="0">
                <a:solidFill>
                  <a:schemeClr val="tx2"/>
                </a:solidFill>
              </a:rPr>
              <a:t>후</a:t>
            </a:r>
            <a:r>
              <a:rPr lang="en-US" altLang="ko-KR" sz="1400" dirty="0">
                <a:solidFill>
                  <a:schemeClr val="tx2"/>
                </a:solidFill>
              </a:rPr>
              <a:t>934).</a:t>
            </a:r>
            <a:r>
              <a:rPr lang="en-US" altLang="ko-KR" sz="1400" dirty="0"/>
              <a:t> </a:t>
            </a:r>
            <a:endParaRPr lang="ko-KR" altLang="en-US" sz="1400" dirty="0"/>
          </a:p>
        </p:txBody>
      </p:sp>
      <p:sp>
        <p:nvSpPr>
          <p:cNvPr id="44" name="타원 43">
            <a:extLst>
              <a:ext uri="{FF2B5EF4-FFF2-40B4-BE49-F238E27FC236}">
                <a16:creationId xmlns:a16="http://schemas.microsoft.com/office/drawing/2014/main" id="{1323349B-4EFC-B590-7BA5-31DFEEE04229}"/>
              </a:ext>
            </a:extLst>
          </p:cNvPr>
          <p:cNvSpPr/>
          <p:nvPr/>
        </p:nvSpPr>
        <p:spPr>
          <a:xfrm>
            <a:off x="298639" y="3041828"/>
            <a:ext cx="416064" cy="415212"/>
          </a:xfrm>
          <a:prstGeom prst="ellipse">
            <a:avLst/>
          </a:prstGeom>
          <a:solidFill>
            <a:schemeClr val="tx2">
              <a:lumMod val="60000"/>
              <a:lumOff val="4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1</a:t>
            </a:r>
            <a:endParaRPr lang="ko-KR" altLang="en-US" sz="1400" dirty="0"/>
          </a:p>
        </p:txBody>
      </p:sp>
      <p:sp>
        <p:nvSpPr>
          <p:cNvPr id="45" name="타원 44">
            <a:extLst>
              <a:ext uri="{FF2B5EF4-FFF2-40B4-BE49-F238E27FC236}">
                <a16:creationId xmlns:a16="http://schemas.microsoft.com/office/drawing/2014/main" id="{F8341000-BAD4-EC31-D364-CC8EDCACC895}"/>
              </a:ext>
            </a:extLst>
          </p:cNvPr>
          <p:cNvSpPr/>
          <p:nvPr/>
        </p:nvSpPr>
        <p:spPr>
          <a:xfrm>
            <a:off x="298639" y="4203962"/>
            <a:ext cx="416064" cy="415212"/>
          </a:xfrm>
          <a:prstGeom prst="ellipse">
            <a:avLst/>
          </a:prstGeom>
          <a:solidFill>
            <a:schemeClr val="tx2">
              <a:lumMod val="75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2</a:t>
            </a:r>
            <a:endParaRPr lang="ko-KR" altLang="en-US" sz="1400" dirty="0"/>
          </a:p>
        </p:txBody>
      </p:sp>
      <p:sp>
        <p:nvSpPr>
          <p:cNvPr id="46" name="타원 45">
            <a:extLst>
              <a:ext uri="{FF2B5EF4-FFF2-40B4-BE49-F238E27FC236}">
                <a16:creationId xmlns:a16="http://schemas.microsoft.com/office/drawing/2014/main" id="{F39A8B3D-192D-D92A-670F-C131F6C3CE5F}"/>
              </a:ext>
            </a:extLst>
          </p:cNvPr>
          <p:cNvSpPr/>
          <p:nvPr/>
        </p:nvSpPr>
        <p:spPr>
          <a:xfrm>
            <a:off x="298639" y="5317961"/>
            <a:ext cx="416064" cy="415212"/>
          </a:xfrm>
          <a:prstGeom prst="ellipse">
            <a:avLst/>
          </a:prstGeom>
          <a:solidFill>
            <a:schemeClr val="tx2">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400" dirty="0"/>
              <a:t>3</a:t>
            </a:r>
            <a:endParaRPr lang="ko-KR" altLang="en-US" sz="1400" dirty="0"/>
          </a:p>
        </p:txBody>
      </p:sp>
      <p:sp>
        <p:nvSpPr>
          <p:cNvPr id="47" name="TextBox 46">
            <a:extLst>
              <a:ext uri="{FF2B5EF4-FFF2-40B4-BE49-F238E27FC236}">
                <a16:creationId xmlns:a16="http://schemas.microsoft.com/office/drawing/2014/main" id="{8AFE5D5B-59C3-D908-5A89-2AF06C2FD9C5}"/>
              </a:ext>
            </a:extLst>
          </p:cNvPr>
          <p:cNvSpPr txBox="1"/>
          <p:nvPr/>
        </p:nvSpPr>
        <p:spPr>
          <a:xfrm>
            <a:off x="798786" y="4065393"/>
            <a:ext cx="11215411" cy="1169551"/>
          </a:xfrm>
          <a:prstGeom prst="rect">
            <a:avLst/>
          </a:prstGeom>
          <a:noFill/>
          <a:ln>
            <a:solidFill>
              <a:schemeClr val="bg1">
                <a:lumMod val="50000"/>
              </a:schemeClr>
            </a:solidFill>
          </a:ln>
        </p:spPr>
        <p:txBody>
          <a:bodyPr wrap="square" rtlCol="0">
            <a:spAutoFit/>
          </a:bodyPr>
          <a:lstStyle/>
          <a:p>
            <a:pPr fontAlgn="base"/>
            <a:r>
              <a:rPr lang="ko-KR" altLang="en-US" sz="1400" dirty="0">
                <a:solidFill>
                  <a:schemeClr val="tx2"/>
                </a:solidFill>
              </a:rPr>
              <a:t>종속항은 독립항을 구체화한 청구항이기 때문에 독립항의 권리범위가 종속항의 권리범위보다 더 넓을 수밖에 없다</a:t>
            </a:r>
            <a:r>
              <a:rPr lang="en-US" altLang="ko-KR" sz="1400" dirty="0">
                <a:solidFill>
                  <a:schemeClr val="tx2"/>
                </a:solidFill>
              </a:rPr>
              <a:t>. </a:t>
            </a:r>
            <a:r>
              <a:rPr lang="ko-KR" altLang="en-US" sz="1400" dirty="0">
                <a:solidFill>
                  <a:schemeClr val="tx2"/>
                </a:solidFill>
              </a:rPr>
              <a:t>따라서 확인대상발명이 독립항의 권리범위에 속하지 아니한 경우 독립항보다 권리범위가 좁은 종속항의 권리범위에도 속하지 않게 된다</a:t>
            </a:r>
            <a:r>
              <a:rPr lang="en-US" altLang="ko-KR" sz="1400" dirty="0">
                <a:solidFill>
                  <a:schemeClr val="tx2"/>
                </a:solidFill>
              </a:rPr>
              <a:t>. </a:t>
            </a:r>
            <a:r>
              <a:rPr lang="ko-KR" altLang="en-US" sz="1400" dirty="0">
                <a:solidFill>
                  <a:schemeClr val="tx2"/>
                </a:solidFill>
              </a:rPr>
              <a:t>그 결과</a:t>
            </a:r>
            <a:r>
              <a:rPr lang="en-US" altLang="ko-KR" sz="1400" dirty="0">
                <a:solidFill>
                  <a:schemeClr val="tx2"/>
                </a:solidFill>
              </a:rPr>
              <a:t>, </a:t>
            </a:r>
            <a:r>
              <a:rPr lang="ko-KR" altLang="en-US" sz="1400" dirty="0">
                <a:highlight>
                  <a:srgbClr val="FFFF00"/>
                </a:highlight>
              </a:rPr>
              <a:t>권리범위확인심판에서 확인대상발명이 독립항의 권리범위에 속하지 아니하면 종속항에 대응되는 부분의 구성이 기재되어 있지 않거나 불명확한 부분이 있다고 하더라도 나머지 구성</a:t>
            </a:r>
            <a:r>
              <a:rPr lang="en-US" altLang="ko-KR" sz="1400" dirty="0">
                <a:highlight>
                  <a:srgbClr val="FFFF00"/>
                </a:highlight>
              </a:rPr>
              <a:t>(</a:t>
            </a:r>
            <a:r>
              <a:rPr lang="ko-KR" altLang="en-US" sz="1400" dirty="0">
                <a:highlight>
                  <a:srgbClr val="FFFF00"/>
                </a:highlight>
              </a:rPr>
              <a:t>독립항의 구성</a:t>
            </a:r>
            <a:r>
              <a:rPr lang="en-US" altLang="ko-KR" sz="1400" dirty="0">
                <a:highlight>
                  <a:srgbClr val="FFFF00"/>
                </a:highlight>
              </a:rPr>
              <a:t>)</a:t>
            </a:r>
            <a:r>
              <a:rPr lang="ko-KR" altLang="en-US" sz="1400" dirty="0">
                <a:highlight>
                  <a:srgbClr val="FFFF00"/>
                </a:highlight>
              </a:rPr>
              <a:t>만으로 확인대상발명이 종속항의 권리범위에도 속하지 아니한다고 판단할 수 있어서 확인대상발명이 특정된 것으로 볼 수 있다</a:t>
            </a:r>
            <a:r>
              <a:rPr lang="en-US" altLang="ko-KR" sz="1400" dirty="0">
                <a:highlight>
                  <a:srgbClr val="FFFF00"/>
                </a:highlight>
              </a:rPr>
              <a:t>(</a:t>
            </a:r>
            <a:r>
              <a:rPr lang="ko-KR" altLang="en-US" sz="1400" dirty="0">
                <a:highlight>
                  <a:srgbClr val="FFFF00"/>
                </a:highlight>
              </a:rPr>
              <a:t>대법원 </a:t>
            </a:r>
            <a:r>
              <a:rPr lang="en-US" altLang="ko-KR" sz="1400" dirty="0">
                <a:highlight>
                  <a:srgbClr val="FFFF00"/>
                </a:highlight>
              </a:rPr>
              <a:t>2010. 5. 27. </a:t>
            </a:r>
            <a:r>
              <a:rPr lang="ko-KR" altLang="en-US" sz="1400" dirty="0">
                <a:highlight>
                  <a:srgbClr val="FFFF00"/>
                </a:highlight>
              </a:rPr>
              <a:t>선고 </a:t>
            </a:r>
            <a:r>
              <a:rPr lang="en-US" altLang="ko-KR" sz="1400" dirty="0">
                <a:highlight>
                  <a:srgbClr val="FFFF00"/>
                </a:highlight>
              </a:rPr>
              <a:t>2010</a:t>
            </a:r>
            <a:r>
              <a:rPr lang="ko-KR" altLang="en-US" sz="1400" dirty="0">
                <a:highlight>
                  <a:srgbClr val="FFFF00"/>
                </a:highlight>
              </a:rPr>
              <a:t>후</a:t>
            </a:r>
            <a:r>
              <a:rPr lang="en-US" altLang="ko-KR" sz="1400" dirty="0">
                <a:highlight>
                  <a:srgbClr val="FFFF00"/>
                </a:highlight>
              </a:rPr>
              <a:t>296). </a:t>
            </a:r>
          </a:p>
        </p:txBody>
      </p:sp>
      <p:sp>
        <p:nvSpPr>
          <p:cNvPr id="48" name="TextBox 47">
            <a:extLst>
              <a:ext uri="{FF2B5EF4-FFF2-40B4-BE49-F238E27FC236}">
                <a16:creationId xmlns:a16="http://schemas.microsoft.com/office/drawing/2014/main" id="{D3DF8A27-3350-F549-30C5-7B8F5F659E86}"/>
              </a:ext>
            </a:extLst>
          </p:cNvPr>
          <p:cNvSpPr txBox="1"/>
          <p:nvPr/>
        </p:nvSpPr>
        <p:spPr>
          <a:xfrm>
            <a:off x="798786" y="5275585"/>
            <a:ext cx="11215411" cy="1384995"/>
          </a:xfrm>
          <a:prstGeom prst="rect">
            <a:avLst/>
          </a:prstGeom>
          <a:noFill/>
          <a:ln>
            <a:solidFill>
              <a:schemeClr val="bg1">
                <a:lumMod val="50000"/>
              </a:schemeClr>
            </a:solidFill>
          </a:ln>
        </p:spPr>
        <p:txBody>
          <a:bodyPr wrap="square" rtlCol="0">
            <a:spAutoFit/>
          </a:bodyPr>
          <a:lstStyle/>
          <a:p>
            <a:pPr fontAlgn="base"/>
            <a:r>
              <a:rPr lang="ko-KR" altLang="en-US" sz="1400" dirty="0">
                <a:highlight>
                  <a:srgbClr val="CCECFF"/>
                </a:highlight>
              </a:rPr>
              <a:t>한편</a:t>
            </a:r>
            <a:r>
              <a:rPr lang="en-US" altLang="ko-KR" sz="1400" dirty="0">
                <a:highlight>
                  <a:srgbClr val="CCECFF"/>
                </a:highlight>
              </a:rPr>
              <a:t>, </a:t>
            </a:r>
            <a:r>
              <a:rPr lang="ko-KR" altLang="en-US" sz="1400" dirty="0">
                <a:highlight>
                  <a:srgbClr val="CCECFF"/>
                </a:highlight>
              </a:rPr>
              <a:t>확인대상발명이 독립항의 권리범위에 속하는 경우 종속항의 권리범위에 속하는지 여부는 개별적으로 판단</a:t>
            </a:r>
            <a:r>
              <a:rPr lang="ko-KR" altLang="en-US" sz="1400" dirty="0">
                <a:solidFill>
                  <a:schemeClr val="tx2"/>
                </a:solidFill>
              </a:rPr>
              <a:t>되어야 한다</a:t>
            </a:r>
            <a:r>
              <a:rPr lang="en-US" altLang="ko-KR" sz="1400" dirty="0">
                <a:solidFill>
                  <a:schemeClr val="tx2"/>
                </a:solidFill>
              </a:rPr>
              <a:t>. </a:t>
            </a:r>
            <a:r>
              <a:rPr lang="ko-KR" altLang="en-US" sz="1400" dirty="0">
                <a:solidFill>
                  <a:schemeClr val="tx2"/>
                </a:solidFill>
              </a:rPr>
              <a:t>또한 이는 </a:t>
            </a:r>
            <a:r>
              <a:rPr lang="ko-KR" altLang="en-US" sz="1400" dirty="0">
                <a:highlight>
                  <a:srgbClr val="CCECFF"/>
                </a:highlight>
              </a:rPr>
              <a:t>독립항의 권리범위가 인정됨을 전제로 하는 것으로서 만일 독립항이 신규성</a:t>
            </a:r>
            <a:r>
              <a:rPr lang="en-US" altLang="ko-KR" sz="1400" dirty="0">
                <a:highlight>
                  <a:srgbClr val="CCECFF"/>
                </a:highlight>
              </a:rPr>
              <a:t>, </a:t>
            </a:r>
            <a:r>
              <a:rPr lang="ko-KR" altLang="en-US" sz="1400" dirty="0">
                <a:highlight>
                  <a:srgbClr val="CCECFF"/>
                </a:highlight>
              </a:rPr>
              <a:t>선출원주의 위반 등으로 권리범위가 인정되지 않는다면 독립항의 권리범위에 속하지 않더라도 종속항의 권리범위에 속할 수도 있기 때문에 종속항의 권리범위에 속하는지 여부를 개별적으로 판단해야 한다</a:t>
            </a:r>
            <a:r>
              <a:rPr lang="en-US" altLang="ko-KR" sz="1400" dirty="0">
                <a:highlight>
                  <a:srgbClr val="CCECFF"/>
                </a:highlight>
              </a:rPr>
              <a:t>. </a:t>
            </a:r>
            <a:r>
              <a:rPr lang="ko-KR" altLang="en-US" sz="1400" dirty="0">
                <a:solidFill>
                  <a:schemeClr val="tx2"/>
                </a:solidFill>
              </a:rPr>
              <a:t>따라서 종속항에 대해서도 권리범위확인을 구하는 심판을 청구한 것이라면 종속항에 대응되는 부분의 구성이 반드시 기재되어야 한다</a:t>
            </a:r>
            <a:r>
              <a:rPr lang="en-US" altLang="ko-KR" sz="1400" dirty="0">
                <a:solidFill>
                  <a:schemeClr val="tx2"/>
                </a:solidFill>
              </a:rPr>
              <a:t>. </a:t>
            </a:r>
            <a:r>
              <a:rPr lang="ko-KR" altLang="en-US" sz="1400" dirty="0">
                <a:solidFill>
                  <a:schemeClr val="tx2"/>
                </a:solidFill>
              </a:rPr>
              <a:t>만약 종속항에 대응되는 부분의 구성이 기재되지 아니한 경우 보정명령을 하여 대응되는 구성을 기재하도록 해야 한다</a:t>
            </a:r>
            <a:r>
              <a:rPr lang="en-US" altLang="ko-KR" sz="1400" dirty="0">
                <a:solidFill>
                  <a:schemeClr val="tx2"/>
                </a:solidFill>
              </a:rPr>
              <a:t>. </a:t>
            </a:r>
            <a:r>
              <a:rPr lang="ko-KR" altLang="en-US" sz="1400" dirty="0">
                <a:solidFill>
                  <a:schemeClr val="tx2"/>
                </a:solidFill>
              </a:rPr>
              <a:t>이때 심판청구인이 구성을 추가하는 보정을 하는 것은 처음부터 당연히 있어야 할 구성부분을 부가한 것에 지나지 아니하여 요지변경이 아니다</a:t>
            </a:r>
            <a:r>
              <a:rPr lang="en-US" altLang="ko-KR" sz="1400" dirty="0">
                <a:solidFill>
                  <a:schemeClr val="tx2"/>
                </a:solidFill>
              </a:rPr>
              <a:t>.</a:t>
            </a:r>
            <a:r>
              <a:rPr lang="ko-KR" altLang="en-US" sz="1400" dirty="0">
                <a:solidFill>
                  <a:schemeClr val="tx2"/>
                </a:solidFill>
              </a:rPr>
              <a:t> </a:t>
            </a:r>
            <a:endParaRPr lang="en-US" altLang="ko-KR" sz="1400" dirty="0">
              <a:solidFill>
                <a:schemeClr val="tx2"/>
              </a:solidFill>
            </a:endParaRPr>
          </a:p>
        </p:txBody>
      </p:sp>
      <p:sp>
        <p:nvSpPr>
          <p:cNvPr id="49" name="타원 48">
            <a:extLst>
              <a:ext uri="{FF2B5EF4-FFF2-40B4-BE49-F238E27FC236}">
                <a16:creationId xmlns:a16="http://schemas.microsoft.com/office/drawing/2014/main" id="{15637F18-D813-FD08-1EED-94E29E68C3E6}"/>
              </a:ext>
            </a:extLst>
          </p:cNvPr>
          <p:cNvSpPr/>
          <p:nvPr/>
        </p:nvSpPr>
        <p:spPr>
          <a:xfrm>
            <a:off x="1183513" y="1191991"/>
            <a:ext cx="728469" cy="664837"/>
          </a:xfrm>
          <a:prstGeom prst="ellipse">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600" dirty="0">
                <a:solidFill>
                  <a:schemeClr val="bg1"/>
                </a:solidFill>
              </a:rPr>
              <a:t>청구취지</a:t>
            </a:r>
          </a:p>
        </p:txBody>
      </p:sp>
      <p:sp>
        <p:nvSpPr>
          <p:cNvPr id="50" name="타원 49">
            <a:extLst>
              <a:ext uri="{FF2B5EF4-FFF2-40B4-BE49-F238E27FC236}">
                <a16:creationId xmlns:a16="http://schemas.microsoft.com/office/drawing/2014/main" id="{60BE36E9-A93E-4F3D-AAA4-A97D19827BD0}"/>
              </a:ext>
            </a:extLst>
          </p:cNvPr>
          <p:cNvSpPr/>
          <p:nvPr/>
        </p:nvSpPr>
        <p:spPr>
          <a:xfrm>
            <a:off x="5021878" y="1191991"/>
            <a:ext cx="728469" cy="664837"/>
          </a:xfrm>
          <a:prstGeom prst="ellipse">
            <a:avLst/>
          </a:prstGeom>
          <a:solidFill>
            <a:schemeClr val="accent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ko-KR" altLang="en-US" sz="1600" dirty="0">
                <a:solidFill>
                  <a:schemeClr val="bg1"/>
                </a:solidFill>
              </a:rPr>
              <a:t>청구원인</a:t>
            </a:r>
          </a:p>
        </p:txBody>
      </p:sp>
      <p:sp>
        <p:nvSpPr>
          <p:cNvPr id="6" name="TextBox 5">
            <a:extLst>
              <a:ext uri="{FF2B5EF4-FFF2-40B4-BE49-F238E27FC236}">
                <a16:creationId xmlns:a16="http://schemas.microsoft.com/office/drawing/2014/main" id="{E1DA2353-D368-0304-BE22-D299BB32AA70}"/>
              </a:ext>
            </a:extLst>
          </p:cNvPr>
          <p:cNvSpPr txBox="1"/>
          <p:nvPr/>
        </p:nvSpPr>
        <p:spPr>
          <a:xfrm>
            <a:off x="3543426" y="2022926"/>
            <a:ext cx="2219311" cy="578882"/>
          </a:xfrm>
          <a:prstGeom prst="wedgeRoundRectCallout">
            <a:avLst>
              <a:gd name="adj1" fmla="val -54502"/>
              <a:gd name="adj2" fmla="val -98231"/>
              <a:gd name="adj3" fmla="val 16667"/>
            </a:avLst>
          </a:prstGeom>
          <a:noFill/>
          <a:ln>
            <a:solidFill>
              <a:schemeClr val="tx1">
                <a:lumMod val="50000"/>
                <a:lumOff val="50000"/>
              </a:schemeClr>
            </a:solidFill>
          </a:ln>
        </p:spPr>
        <p:txBody>
          <a:bodyPr wrap="none" rtlCol="0">
            <a:spAutoFit/>
          </a:bodyPr>
          <a:lstStyle/>
          <a:p>
            <a:r>
              <a:rPr lang="ko-KR" altLang="en-US" sz="1400" dirty="0"/>
              <a:t>확인대상발명의 구성요소를</a:t>
            </a:r>
            <a:endParaRPr lang="en-US" altLang="ko-KR" sz="1400" dirty="0"/>
          </a:p>
          <a:p>
            <a:r>
              <a:rPr lang="ko-KR" altLang="en-US" sz="1400" dirty="0"/>
              <a:t>명확히 기재</a:t>
            </a:r>
          </a:p>
        </p:txBody>
      </p:sp>
    </p:spTree>
    <p:extLst>
      <p:ext uri="{BB962C8B-B14F-4D97-AF65-F5344CB8AC3E}">
        <p14:creationId xmlns:p14="http://schemas.microsoft.com/office/powerpoint/2010/main" val="1709463906"/>
      </p:ext>
    </p:extLst>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t>독립항의 권리범위 </a:t>
            </a:r>
            <a:r>
              <a:rPr lang="en-US" altLang="ko-KR" dirty="0"/>
              <a:t>vs </a:t>
            </a:r>
            <a:r>
              <a:rPr lang="ko-KR" altLang="en-US" dirty="0" err="1"/>
              <a:t>종속항의</a:t>
            </a:r>
            <a:r>
              <a:rPr lang="ko-KR" altLang="en-US" dirty="0"/>
              <a:t> 권리범위</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6" name="직선 연결선 5"/>
          <p:cNvCxnSpPr/>
          <p:nvPr/>
        </p:nvCxnSpPr>
        <p:spPr>
          <a:xfrm>
            <a:off x="0" y="150817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77875" y="986046"/>
            <a:ext cx="11936323" cy="523220"/>
          </a:xfrm>
          <a:prstGeom prst="rect">
            <a:avLst/>
          </a:prstGeom>
          <a:noFill/>
        </p:spPr>
        <p:txBody>
          <a:bodyPr wrap="square" rtlCol="0">
            <a:spAutoFit/>
          </a:bodyPr>
          <a:lstStyle/>
          <a:p>
            <a:pPr fontAlgn="base"/>
            <a:r>
              <a:rPr lang="ko-KR" altLang="en-US" sz="1400" dirty="0" err="1">
                <a:solidFill>
                  <a:schemeClr val="tx2"/>
                </a:solidFill>
              </a:rPr>
              <a:t>독립항의</a:t>
            </a:r>
            <a:r>
              <a:rPr lang="ko-KR" altLang="en-US" sz="1400" dirty="0">
                <a:solidFill>
                  <a:schemeClr val="tx2"/>
                </a:solidFill>
              </a:rPr>
              <a:t> 권리범위에 속하지 아니한 경우 </a:t>
            </a:r>
            <a:r>
              <a:rPr lang="ko-KR" altLang="en-US" sz="1400" dirty="0" err="1">
                <a:solidFill>
                  <a:schemeClr val="tx2"/>
                </a:solidFill>
              </a:rPr>
              <a:t>종속항의</a:t>
            </a:r>
            <a:r>
              <a:rPr lang="ko-KR" altLang="en-US" sz="1400" dirty="0">
                <a:solidFill>
                  <a:schemeClr val="tx2"/>
                </a:solidFill>
              </a:rPr>
              <a:t> 권리범위에도 속하지 아니한다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예외적으로 </a:t>
            </a:r>
            <a:r>
              <a:rPr lang="ko-KR" altLang="en-US" sz="1400" dirty="0" err="1">
                <a:solidFill>
                  <a:schemeClr val="tx2"/>
                </a:solidFill>
              </a:rPr>
              <a:t>독립항이</a:t>
            </a:r>
            <a:r>
              <a:rPr lang="ko-KR" altLang="en-US" sz="1400" dirty="0">
                <a:solidFill>
                  <a:schemeClr val="tx2"/>
                </a:solidFill>
              </a:rPr>
              <a:t> 신규성 위반</a:t>
            </a:r>
            <a:r>
              <a:rPr lang="en-US" altLang="ko-KR" sz="1400" dirty="0">
                <a:solidFill>
                  <a:schemeClr val="tx2"/>
                </a:solidFill>
              </a:rPr>
              <a:t>, </a:t>
            </a:r>
            <a:r>
              <a:rPr lang="ko-KR" altLang="en-US" sz="1400" dirty="0">
                <a:solidFill>
                  <a:schemeClr val="tx2"/>
                </a:solidFill>
              </a:rPr>
              <a:t>선출원주의</a:t>
            </a:r>
            <a:r>
              <a:rPr lang="en-US" altLang="ko-KR" sz="1400" dirty="0">
                <a:solidFill>
                  <a:schemeClr val="tx2"/>
                </a:solidFill>
              </a:rPr>
              <a:t> </a:t>
            </a:r>
            <a:r>
              <a:rPr lang="ko-KR" altLang="en-US" sz="1400" dirty="0">
                <a:solidFill>
                  <a:schemeClr val="tx2"/>
                </a:solidFill>
              </a:rPr>
              <a:t>위반</a:t>
            </a:r>
            <a:r>
              <a:rPr lang="en-US" altLang="ko-KR" sz="1400" dirty="0">
                <a:solidFill>
                  <a:schemeClr val="tx2"/>
                </a:solidFill>
              </a:rPr>
              <a:t>, </a:t>
            </a:r>
            <a:r>
              <a:rPr lang="ko-KR" altLang="en-US" sz="1400" dirty="0">
                <a:solidFill>
                  <a:schemeClr val="tx2"/>
                </a:solidFill>
              </a:rPr>
              <a:t>확대된 </a:t>
            </a:r>
            <a:r>
              <a:rPr lang="ko-KR" altLang="en-US" sz="1400">
                <a:solidFill>
                  <a:schemeClr val="tx2"/>
                </a:solidFill>
              </a:rPr>
              <a:t>선출원 </a:t>
            </a:r>
            <a:r>
              <a:rPr lang="ko-KR" altLang="en-US" sz="1400" dirty="0">
                <a:solidFill>
                  <a:schemeClr val="tx2"/>
                </a:solidFill>
              </a:rPr>
              <a:t>위반</a:t>
            </a:r>
            <a:r>
              <a:rPr lang="en-US" altLang="ko-KR" sz="1400" dirty="0">
                <a:solidFill>
                  <a:schemeClr val="tx2"/>
                </a:solidFill>
              </a:rPr>
              <a:t>, </a:t>
            </a:r>
            <a:r>
              <a:rPr lang="ko-KR" altLang="en-US" sz="1400" dirty="0">
                <a:solidFill>
                  <a:schemeClr val="tx2"/>
                </a:solidFill>
              </a:rPr>
              <a:t>실시불가능한 경우</a:t>
            </a:r>
            <a:r>
              <a:rPr lang="en-US" altLang="ko-KR" sz="1400" dirty="0">
                <a:solidFill>
                  <a:schemeClr val="tx2"/>
                </a:solidFill>
              </a:rPr>
              <a:t>, </a:t>
            </a:r>
            <a:r>
              <a:rPr lang="ko-KR" altLang="en-US" sz="1400" dirty="0">
                <a:solidFill>
                  <a:schemeClr val="tx2"/>
                </a:solidFill>
              </a:rPr>
              <a:t>기술적 범위를 특정할 수 없는 경우인데 착오로 등록되어 권리범위를 인정할 수 없는 경우에는 </a:t>
            </a:r>
            <a:r>
              <a:rPr lang="ko-KR" altLang="en-US" sz="1400" dirty="0" err="1">
                <a:solidFill>
                  <a:schemeClr val="tx2"/>
                </a:solidFill>
              </a:rPr>
              <a:t>종속항의</a:t>
            </a:r>
            <a:r>
              <a:rPr lang="ko-KR" altLang="en-US" sz="1400" dirty="0">
                <a:solidFill>
                  <a:schemeClr val="tx2"/>
                </a:solidFill>
              </a:rPr>
              <a:t> 권리범위에 속할 수 있다</a:t>
            </a:r>
            <a:r>
              <a:rPr lang="en-US" altLang="ko-KR" sz="1400" dirty="0">
                <a:solidFill>
                  <a:schemeClr val="tx2"/>
                </a:solidFill>
              </a:rPr>
              <a:t>.</a:t>
            </a:r>
          </a:p>
        </p:txBody>
      </p:sp>
      <p:sp>
        <p:nvSpPr>
          <p:cNvPr id="5" name="타원 4"/>
          <p:cNvSpPr/>
          <p:nvPr/>
        </p:nvSpPr>
        <p:spPr>
          <a:xfrm>
            <a:off x="1349914" y="4055158"/>
            <a:ext cx="2809554" cy="2662052"/>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5" name="타원 24"/>
          <p:cNvSpPr/>
          <p:nvPr/>
        </p:nvSpPr>
        <p:spPr>
          <a:xfrm>
            <a:off x="2241775" y="4897533"/>
            <a:ext cx="1025832" cy="977301"/>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8" name="TextBox 7"/>
          <p:cNvSpPr txBox="1"/>
          <p:nvPr/>
        </p:nvSpPr>
        <p:spPr>
          <a:xfrm>
            <a:off x="2271190" y="3975022"/>
            <a:ext cx="1157457" cy="276999"/>
          </a:xfrm>
          <a:prstGeom prst="rect">
            <a:avLst/>
          </a:prstGeom>
          <a:solidFill>
            <a:schemeClr val="bg1"/>
          </a:solidFill>
          <a:ln>
            <a:solidFill>
              <a:schemeClr val="bg1">
                <a:lumMod val="50000"/>
              </a:schemeClr>
            </a:solidFill>
          </a:ln>
        </p:spPr>
        <p:txBody>
          <a:bodyPr wrap="square" rtlCol="0">
            <a:spAutoFit/>
          </a:bodyPr>
          <a:lstStyle/>
          <a:p>
            <a:r>
              <a:rPr lang="ko-KR" altLang="en-US" sz="1200" dirty="0" err="1"/>
              <a:t>독립항</a:t>
            </a:r>
            <a:r>
              <a:rPr lang="en-US" altLang="ko-KR" sz="1200" dirty="0"/>
              <a:t>(A+B+C)</a:t>
            </a:r>
            <a:endParaRPr lang="ko-KR" altLang="en-US" sz="1200" dirty="0"/>
          </a:p>
        </p:txBody>
      </p:sp>
      <p:sp>
        <p:nvSpPr>
          <p:cNvPr id="26" name="TextBox 25"/>
          <p:cNvSpPr txBox="1"/>
          <p:nvPr/>
        </p:nvSpPr>
        <p:spPr>
          <a:xfrm>
            <a:off x="2143845" y="4592488"/>
            <a:ext cx="1289105" cy="461665"/>
          </a:xfrm>
          <a:prstGeom prst="rect">
            <a:avLst/>
          </a:prstGeom>
          <a:solidFill>
            <a:schemeClr val="bg1"/>
          </a:solidFill>
          <a:ln>
            <a:solidFill>
              <a:schemeClr val="bg1">
                <a:lumMod val="50000"/>
              </a:schemeClr>
            </a:solidFill>
          </a:ln>
        </p:spPr>
        <p:txBody>
          <a:bodyPr wrap="square" rtlCol="0">
            <a:spAutoFit/>
          </a:bodyPr>
          <a:lstStyle/>
          <a:p>
            <a:pPr algn="ctr"/>
            <a:r>
              <a:rPr lang="ko-KR" altLang="en-US" sz="1200" dirty="0" err="1"/>
              <a:t>종속항</a:t>
            </a:r>
            <a:r>
              <a:rPr lang="en-US" altLang="ko-KR" sz="1200" dirty="0"/>
              <a:t>(A+B+C+D+E)</a:t>
            </a:r>
            <a:endParaRPr lang="ko-KR" altLang="en-US" sz="1200" dirty="0"/>
          </a:p>
        </p:txBody>
      </p:sp>
      <p:sp>
        <p:nvSpPr>
          <p:cNvPr id="12" name="곱셈 기호 11"/>
          <p:cNvSpPr/>
          <p:nvPr/>
        </p:nvSpPr>
        <p:spPr>
          <a:xfrm>
            <a:off x="3636198" y="4012925"/>
            <a:ext cx="372859" cy="355220"/>
          </a:xfrm>
          <a:prstGeom prst="mathMultiply">
            <a:avLst>
              <a:gd name="adj1" fmla="val 9234"/>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7" name="곱셈 기호 26"/>
          <p:cNvSpPr/>
          <p:nvPr/>
        </p:nvSpPr>
        <p:spPr>
          <a:xfrm>
            <a:off x="3500493" y="5215147"/>
            <a:ext cx="372859" cy="355220"/>
          </a:xfrm>
          <a:prstGeom prst="mathMultiply">
            <a:avLst>
              <a:gd name="adj1" fmla="val 9234"/>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8" name="곱셈 기호 27"/>
          <p:cNvSpPr/>
          <p:nvPr/>
        </p:nvSpPr>
        <p:spPr>
          <a:xfrm>
            <a:off x="2568261" y="5244508"/>
            <a:ext cx="372859" cy="355220"/>
          </a:xfrm>
          <a:prstGeom prst="mathMultiply">
            <a:avLst>
              <a:gd name="adj1" fmla="val 9234"/>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29" name="TextBox 28"/>
          <p:cNvSpPr txBox="1"/>
          <p:nvPr/>
        </p:nvSpPr>
        <p:spPr>
          <a:xfrm>
            <a:off x="4069107" y="4054533"/>
            <a:ext cx="1011635" cy="461665"/>
          </a:xfrm>
          <a:prstGeom prst="rect">
            <a:avLst/>
          </a:prstGeom>
          <a:solidFill>
            <a:schemeClr val="accent4"/>
          </a:solidFill>
          <a:ln>
            <a:solidFill>
              <a:schemeClr val="bg1">
                <a:lumMod val="50000"/>
              </a:schemeClr>
            </a:solidFill>
          </a:ln>
        </p:spPr>
        <p:txBody>
          <a:bodyPr wrap="square" rtlCol="0">
            <a:spAutoFit/>
          </a:bodyPr>
          <a:lstStyle/>
          <a:p>
            <a:pPr algn="ctr"/>
            <a:r>
              <a:rPr lang="ko-KR" altLang="en-US" sz="1200" dirty="0"/>
              <a:t>제</a:t>
            </a:r>
            <a:r>
              <a:rPr lang="en-US" altLang="ko-KR" sz="1200" dirty="0"/>
              <a:t>3</a:t>
            </a:r>
            <a:r>
              <a:rPr lang="ko-KR" altLang="en-US" sz="1200" dirty="0"/>
              <a:t>자의 실시</a:t>
            </a:r>
            <a:endParaRPr lang="en-US" altLang="ko-KR" sz="1200" dirty="0"/>
          </a:p>
          <a:p>
            <a:pPr algn="ctr"/>
            <a:r>
              <a:rPr lang="en-US" altLang="ko-KR" sz="1200" dirty="0"/>
              <a:t>(A+B)</a:t>
            </a:r>
            <a:endParaRPr lang="ko-KR" altLang="en-US" sz="1200" dirty="0"/>
          </a:p>
        </p:txBody>
      </p:sp>
      <p:sp>
        <p:nvSpPr>
          <p:cNvPr id="30" name="TextBox 29"/>
          <p:cNvSpPr txBox="1"/>
          <p:nvPr/>
        </p:nvSpPr>
        <p:spPr>
          <a:xfrm>
            <a:off x="1419804" y="5583574"/>
            <a:ext cx="1409226" cy="461665"/>
          </a:xfrm>
          <a:prstGeom prst="rect">
            <a:avLst/>
          </a:prstGeom>
          <a:solidFill>
            <a:schemeClr val="accent4"/>
          </a:solidFill>
          <a:ln>
            <a:solidFill>
              <a:schemeClr val="bg1">
                <a:lumMod val="50000"/>
              </a:schemeClr>
            </a:solidFill>
          </a:ln>
        </p:spPr>
        <p:txBody>
          <a:bodyPr wrap="square" rtlCol="0">
            <a:spAutoFit/>
          </a:bodyPr>
          <a:lstStyle/>
          <a:p>
            <a:pPr algn="ctr"/>
            <a:r>
              <a:rPr lang="ko-KR" altLang="en-US" sz="1200" dirty="0"/>
              <a:t>제</a:t>
            </a:r>
            <a:r>
              <a:rPr lang="en-US" altLang="ko-KR" sz="1200" dirty="0"/>
              <a:t>3</a:t>
            </a:r>
            <a:r>
              <a:rPr lang="ko-KR" altLang="en-US" sz="1200" dirty="0"/>
              <a:t>자의 실시</a:t>
            </a:r>
            <a:endParaRPr lang="en-US" altLang="ko-KR" sz="1200" dirty="0"/>
          </a:p>
          <a:p>
            <a:pPr algn="ctr"/>
            <a:r>
              <a:rPr lang="en-US" altLang="ko-KR" sz="1200" dirty="0"/>
              <a:t>(A+B+C+D+E+F)</a:t>
            </a:r>
            <a:endParaRPr lang="ko-KR" altLang="en-US" sz="1200" dirty="0"/>
          </a:p>
        </p:txBody>
      </p:sp>
      <p:sp>
        <p:nvSpPr>
          <p:cNvPr id="31" name="TextBox 30"/>
          <p:cNvSpPr txBox="1"/>
          <p:nvPr/>
        </p:nvSpPr>
        <p:spPr>
          <a:xfrm>
            <a:off x="3080412" y="5591483"/>
            <a:ext cx="1025827" cy="461665"/>
          </a:xfrm>
          <a:prstGeom prst="rect">
            <a:avLst/>
          </a:prstGeom>
          <a:solidFill>
            <a:schemeClr val="accent4"/>
          </a:solidFill>
          <a:ln>
            <a:solidFill>
              <a:schemeClr val="bg1">
                <a:lumMod val="50000"/>
              </a:schemeClr>
            </a:solidFill>
          </a:ln>
        </p:spPr>
        <p:txBody>
          <a:bodyPr wrap="square" rtlCol="0">
            <a:spAutoFit/>
          </a:bodyPr>
          <a:lstStyle/>
          <a:p>
            <a:pPr algn="ctr"/>
            <a:r>
              <a:rPr lang="ko-KR" altLang="en-US" sz="1200" dirty="0"/>
              <a:t>제</a:t>
            </a:r>
            <a:r>
              <a:rPr lang="en-US" altLang="ko-KR" sz="1200" dirty="0"/>
              <a:t>3</a:t>
            </a:r>
            <a:r>
              <a:rPr lang="ko-KR" altLang="en-US" sz="1200" dirty="0"/>
              <a:t>자의 실시</a:t>
            </a:r>
            <a:endParaRPr lang="en-US" altLang="ko-KR" sz="1200" dirty="0"/>
          </a:p>
          <a:p>
            <a:pPr algn="ctr"/>
            <a:r>
              <a:rPr lang="en-US" altLang="ko-KR" sz="1200" dirty="0"/>
              <a:t>(A+B+C+D)</a:t>
            </a:r>
            <a:endParaRPr lang="ko-KR" altLang="en-US" sz="1200" dirty="0"/>
          </a:p>
        </p:txBody>
      </p:sp>
      <p:sp>
        <p:nvSpPr>
          <p:cNvPr id="32" name="TextBox 31"/>
          <p:cNvSpPr txBox="1"/>
          <p:nvPr/>
        </p:nvSpPr>
        <p:spPr>
          <a:xfrm>
            <a:off x="3907537" y="3840479"/>
            <a:ext cx="223558" cy="229773"/>
          </a:xfrm>
          <a:prstGeom prst="rect">
            <a:avLst/>
          </a:prstGeom>
          <a:noFill/>
        </p:spPr>
        <p:txBody>
          <a:bodyPr wrap="square" rtlCol="0">
            <a:spAutoFit/>
          </a:bodyPr>
          <a:lstStyle/>
          <a:p>
            <a:pPr fontAlgn="base"/>
            <a:r>
              <a:rPr lang="ko-KR" altLang="en-US" sz="2000" dirty="0">
                <a:solidFill>
                  <a:srgbClr val="FF0000"/>
                </a:solidFill>
              </a:rPr>
              <a:t>❶</a:t>
            </a:r>
          </a:p>
        </p:txBody>
      </p:sp>
      <p:sp>
        <p:nvSpPr>
          <p:cNvPr id="33" name="TextBox 32"/>
          <p:cNvSpPr txBox="1"/>
          <p:nvPr/>
        </p:nvSpPr>
        <p:spPr>
          <a:xfrm>
            <a:off x="2296233" y="5359872"/>
            <a:ext cx="417341" cy="400110"/>
          </a:xfrm>
          <a:prstGeom prst="rect">
            <a:avLst/>
          </a:prstGeom>
          <a:noFill/>
        </p:spPr>
        <p:txBody>
          <a:bodyPr wrap="square" rtlCol="0">
            <a:spAutoFit/>
          </a:bodyPr>
          <a:lstStyle/>
          <a:p>
            <a:pPr fontAlgn="base"/>
            <a:r>
              <a:rPr lang="ko-KR" altLang="en-US" sz="2000" dirty="0">
                <a:solidFill>
                  <a:srgbClr val="FF0000"/>
                </a:solidFill>
              </a:rPr>
              <a:t>❷</a:t>
            </a:r>
          </a:p>
        </p:txBody>
      </p:sp>
      <p:sp>
        <p:nvSpPr>
          <p:cNvPr id="34" name="TextBox 33"/>
          <p:cNvSpPr txBox="1"/>
          <p:nvPr/>
        </p:nvSpPr>
        <p:spPr>
          <a:xfrm>
            <a:off x="3715828" y="5352855"/>
            <a:ext cx="349859" cy="400110"/>
          </a:xfrm>
          <a:prstGeom prst="rect">
            <a:avLst/>
          </a:prstGeom>
          <a:noFill/>
        </p:spPr>
        <p:txBody>
          <a:bodyPr wrap="square" rtlCol="0">
            <a:spAutoFit/>
          </a:bodyPr>
          <a:lstStyle/>
          <a:p>
            <a:pPr fontAlgn="base"/>
            <a:r>
              <a:rPr lang="ko-KR" altLang="en-US" sz="2000" dirty="0">
                <a:solidFill>
                  <a:srgbClr val="FF0000"/>
                </a:solidFill>
              </a:rPr>
              <a:t>❸</a:t>
            </a:r>
          </a:p>
        </p:txBody>
      </p:sp>
      <p:cxnSp>
        <p:nvCxnSpPr>
          <p:cNvPr id="35" name="직선 연결선 34"/>
          <p:cNvCxnSpPr/>
          <p:nvPr/>
        </p:nvCxnSpPr>
        <p:spPr>
          <a:xfrm flipV="1">
            <a:off x="6397682" y="1771161"/>
            <a:ext cx="1" cy="4832839"/>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6566890" y="2156338"/>
            <a:ext cx="3815360" cy="338554"/>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pPr algn="ctr"/>
            <a:r>
              <a:rPr lang="ko-KR" altLang="en-US" sz="1600" dirty="0" err="1"/>
              <a:t>독립항의</a:t>
            </a:r>
            <a:r>
              <a:rPr lang="ko-KR" altLang="en-US" sz="1600" dirty="0"/>
              <a:t> </a:t>
            </a:r>
            <a:r>
              <a:rPr lang="ko-KR" altLang="en-US" sz="1600" dirty="0" err="1"/>
              <a:t>권리범위가</a:t>
            </a:r>
            <a:r>
              <a:rPr lang="ko-KR" altLang="en-US" sz="1600" dirty="0"/>
              <a:t> 인정되는 경우</a:t>
            </a:r>
          </a:p>
        </p:txBody>
      </p:sp>
      <p:sp>
        <p:nvSpPr>
          <p:cNvPr id="37" name="TextBox 36"/>
          <p:cNvSpPr txBox="1"/>
          <p:nvPr/>
        </p:nvSpPr>
        <p:spPr>
          <a:xfrm>
            <a:off x="6566890" y="2526212"/>
            <a:ext cx="3815360" cy="1169551"/>
          </a:xfrm>
          <a:prstGeom prst="rect">
            <a:avLst/>
          </a:prstGeom>
          <a:noFill/>
          <a:ln>
            <a:solidFill>
              <a:schemeClr val="bg1">
                <a:lumMod val="50000"/>
              </a:schemeClr>
            </a:solidFill>
          </a:ln>
        </p:spPr>
        <p:txBody>
          <a:bodyPr wrap="square" rtlCol="0">
            <a:spAutoFit/>
          </a:bodyPr>
          <a:lstStyle/>
          <a:p>
            <a:pPr marL="285750" indent="-285750">
              <a:buFontTx/>
              <a:buChar char="-"/>
            </a:pPr>
            <a:r>
              <a:rPr lang="ko-KR" altLang="en-US" sz="1400" dirty="0" err="1"/>
              <a:t>독립항의</a:t>
            </a:r>
            <a:r>
              <a:rPr lang="ko-KR" altLang="en-US" sz="1400" dirty="0"/>
              <a:t> 권리범위에 속하지 아니하면 </a:t>
            </a:r>
            <a:r>
              <a:rPr lang="ko-KR" altLang="en-US" sz="1400" dirty="0" err="1"/>
              <a:t>종속항의</a:t>
            </a:r>
            <a:r>
              <a:rPr lang="ko-KR" altLang="en-US" sz="1400" dirty="0"/>
              <a:t> 권리범위에도 속하지 아니한다</a:t>
            </a:r>
            <a:r>
              <a:rPr lang="en-US" altLang="ko-KR" sz="1400" dirty="0"/>
              <a:t>(①).</a:t>
            </a:r>
          </a:p>
          <a:p>
            <a:pPr marL="285750" indent="-285750">
              <a:buFontTx/>
              <a:buChar char="-"/>
            </a:pPr>
            <a:r>
              <a:rPr lang="ko-KR" altLang="en-US" sz="1400" dirty="0" err="1">
                <a:solidFill>
                  <a:srgbClr val="FF0000"/>
                </a:solidFill>
              </a:rPr>
              <a:t>독립항의</a:t>
            </a:r>
            <a:r>
              <a:rPr lang="ko-KR" altLang="en-US" sz="1400" dirty="0">
                <a:solidFill>
                  <a:srgbClr val="FF0000"/>
                </a:solidFill>
              </a:rPr>
              <a:t> 권리범위에 속하면 </a:t>
            </a:r>
            <a:r>
              <a:rPr lang="ko-KR" altLang="en-US" sz="1400" dirty="0" err="1">
                <a:solidFill>
                  <a:srgbClr val="FF0000"/>
                </a:solidFill>
              </a:rPr>
              <a:t>종속항의</a:t>
            </a:r>
            <a:r>
              <a:rPr lang="ko-KR" altLang="en-US" sz="1400" dirty="0">
                <a:solidFill>
                  <a:srgbClr val="FF0000"/>
                </a:solidFill>
              </a:rPr>
              <a:t> 권리범위에 속하는지 여부는 개별적으로 판단해야 한다</a:t>
            </a:r>
            <a:r>
              <a:rPr lang="en-US" altLang="ko-KR" sz="1400" dirty="0">
                <a:solidFill>
                  <a:srgbClr val="FF0000"/>
                </a:solidFill>
              </a:rPr>
              <a:t>(②③).</a:t>
            </a:r>
            <a:endParaRPr lang="ko-KR" altLang="en-US" sz="1400" dirty="0">
              <a:solidFill>
                <a:srgbClr val="FF0000"/>
              </a:solidFill>
            </a:endParaRPr>
          </a:p>
        </p:txBody>
      </p:sp>
      <p:sp>
        <p:nvSpPr>
          <p:cNvPr id="38" name="TextBox 37"/>
          <p:cNvSpPr txBox="1"/>
          <p:nvPr/>
        </p:nvSpPr>
        <p:spPr>
          <a:xfrm>
            <a:off x="6566890" y="4190858"/>
            <a:ext cx="3815360" cy="338554"/>
          </a:xfrm>
          <a:prstGeom prst="rect">
            <a:avLst/>
          </a:prstGeom>
          <a:solidFill>
            <a:schemeClr val="accent4">
              <a:lumMod val="20000"/>
              <a:lumOff val="80000"/>
            </a:schemeClr>
          </a:solidFill>
          <a:ln>
            <a:solidFill>
              <a:schemeClr val="bg1">
                <a:lumMod val="50000"/>
              </a:schemeClr>
            </a:solidFill>
          </a:ln>
        </p:spPr>
        <p:txBody>
          <a:bodyPr wrap="square" rtlCol="0">
            <a:spAutoFit/>
          </a:bodyPr>
          <a:lstStyle/>
          <a:p>
            <a:pPr algn="ctr"/>
            <a:r>
              <a:rPr lang="ko-KR" altLang="en-US" sz="1600" dirty="0" err="1"/>
              <a:t>독립항의</a:t>
            </a:r>
            <a:r>
              <a:rPr lang="ko-KR" altLang="en-US" sz="1600" dirty="0"/>
              <a:t> </a:t>
            </a:r>
            <a:r>
              <a:rPr lang="ko-KR" altLang="en-US" sz="1600" dirty="0" err="1"/>
              <a:t>권리범위가</a:t>
            </a:r>
            <a:r>
              <a:rPr lang="ko-KR" altLang="en-US" sz="1600" dirty="0"/>
              <a:t> 인정되지 아니한 경우</a:t>
            </a:r>
          </a:p>
        </p:txBody>
      </p:sp>
      <p:sp>
        <p:nvSpPr>
          <p:cNvPr id="39" name="TextBox 38"/>
          <p:cNvSpPr txBox="1"/>
          <p:nvPr/>
        </p:nvSpPr>
        <p:spPr>
          <a:xfrm>
            <a:off x="6566890" y="4560732"/>
            <a:ext cx="3815360" cy="738664"/>
          </a:xfrm>
          <a:prstGeom prst="rect">
            <a:avLst/>
          </a:prstGeom>
          <a:noFill/>
          <a:ln>
            <a:solidFill>
              <a:schemeClr val="bg1">
                <a:lumMod val="50000"/>
              </a:schemeClr>
            </a:solidFill>
          </a:ln>
        </p:spPr>
        <p:txBody>
          <a:bodyPr wrap="square" rtlCol="0">
            <a:spAutoFit/>
          </a:bodyPr>
          <a:lstStyle/>
          <a:p>
            <a:pPr marL="285750" indent="-285750">
              <a:buFontTx/>
              <a:buChar char="-"/>
            </a:pPr>
            <a:r>
              <a:rPr lang="ko-KR" altLang="en-US" sz="1400" dirty="0" err="1">
                <a:solidFill>
                  <a:srgbClr val="FF0000"/>
                </a:solidFill>
              </a:rPr>
              <a:t>독립항의</a:t>
            </a:r>
            <a:r>
              <a:rPr lang="ko-KR" altLang="en-US" sz="1400" dirty="0">
                <a:solidFill>
                  <a:srgbClr val="FF0000"/>
                </a:solidFill>
              </a:rPr>
              <a:t> 권리범위에 속하지 아니하더라도 </a:t>
            </a:r>
            <a:r>
              <a:rPr lang="ko-KR" altLang="en-US" sz="1400" dirty="0" err="1">
                <a:solidFill>
                  <a:srgbClr val="FF0000"/>
                </a:solidFill>
              </a:rPr>
              <a:t>종속항의</a:t>
            </a:r>
            <a:r>
              <a:rPr lang="ko-KR" altLang="en-US" sz="1400" dirty="0">
                <a:solidFill>
                  <a:srgbClr val="FF0000"/>
                </a:solidFill>
              </a:rPr>
              <a:t> 권리범위에 속하는지 여부는 개별적으로 판단해야 한다</a:t>
            </a:r>
            <a:r>
              <a:rPr lang="en-US" altLang="ko-KR" sz="1400" dirty="0">
                <a:solidFill>
                  <a:srgbClr val="FF0000"/>
                </a:solidFill>
              </a:rPr>
              <a:t>(②③).</a:t>
            </a:r>
            <a:endParaRPr lang="ko-KR" altLang="en-US" sz="1400" dirty="0">
              <a:solidFill>
                <a:srgbClr val="FF0000"/>
              </a:solidFill>
            </a:endParaRPr>
          </a:p>
        </p:txBody>
      </p:sp>
      <p:sp>
        <p:nvSpPr>
          <p:cNvPr id="40" name="Line 5">
            <a:extLst>
              <a:ext uri="{FF2B5EF4-FFF2-40B4-BE49-F238E27FC236}">
                <a16:creationId xmlns:a16="http://schemas.microsoft.com/office/drawing/2014/main" id="{54E50700-6E4F-4E26-A108-310A6F211683}"/>
              </a:ext>
            </a:extLst>
          </p:cNvPr>
          <p:cNvSpPr>
            <a:spLocks noChangeShapeType="1"/>
          </p:cNvSpPr>
          <p:nvPr/>
        </p:nvSpPr>
        <p:spPr bwMode="auto">
          <a:xfrm>
            <a:off x="444679" y="1929596"/>
            <a:ext cx="5520689"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1" name="TextBox 40">
            <a:extLst>
              <a:ext uri="{FF2B5EF4-FFF2-40B4-BE49-F238E27FC236}">
                <a16:creationId xmlns:a16="http://schemas.microsoft.com/office/drawing/2014/main" id="{7AD55F99-08A6-4A00-BDDB-A666AA5E56CE}"/>
              </a:ext>
            </a:extLst>
          </p:cNvPr>
          <p:cNvSpPr txBox="1"/>
          <p:nvPr/>
        </p:nvSpPr>
        <p:spPr>
          <a:xfrm>
            <a:off x="373659" y="2185771"/>
            <a:ext cx="1231432"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공지기술</a:t>
            </a:r>
            <a:endParaRPr lang="en-US" altLang="ko-KR" sz="1200" dirty="0">
              <a:solidFill>
                <a:schemeClr val="tx1"/>
              </a:solidFill>
              <a:latin typeface="+mn-ea"/>
            </a:endParaRPr>
          </a:p>
          <a:p>
            <a:pPr algn="ctr"/>
            <a:r>
              <a:rPr lang="en-US" altLang="ko-KR" sz="1200" dirty="0">
                <a:solidFill>
                  <a:schemeClr val="tx1"/>
                </a:solidFill>
                <a:latin typeface="+mn-ea"/>
              </a:rPr>
              <a:t>(A+B+C)</a:t>
            </a:r>
            <a:endParaRPr lang="ko-KR" altLang="en-US" sz="1200" dirty="0">
              <a:solidFill>
                <a:schemeClr val="tx1"/>
              </a:solidFill>
              <a:latin typeface="+mn-ea"/>
            </a:endParaRPr>
          </a:p>
        </p:txBody>
      </p:sp>
      <p:sp>
        <p:nvSpPr>
          <p:cNvPr id="42" name="타원 41">
            <a:extLst>
              <a:ext uri="{FF2B5EF4-FFF2-40B4-BE49-F238E27FC236}">
                <a16:creationId xmlns:a16="http://schemas.microsoft.com/office/drawing/2014/main" id="{445CFB77-4A0F-48E5-A7DA-BCAAC82DFCE1}"/>
              </a:ext>
            </a:extLst>
          </p:cNvPr>
          <p:cNvSpPr/>
          <p:nvPr/>
        </p:nvSpPr>
        <p:spPr>
          <a:xfrm>
            <a:off x="912005" y="183566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3" name="직선 연결선 42">
            <a:extLst>
              <a:ext uri="{FF2B5EF4-FFF2-40B4-BE49-F238E27FC236}">
                <a16:creationId xmlns:a16="http://schemas.microsoft.com/office/drawing/2014/main" id="{4B4056A7-E70B-4D6D-815A-6E1D71E4C19B}"/>
              </a:ext>
            </a:extLst>
          </p:cNvPr>
          <p:cNvCxnSpPr>
            <a:cxnSpLocks/>
            <a:stCxn id="41" idx="0"/>
            <a:endCxn id="42" idx="4"/>
          </p:cNvCxnSpPr>
          <p:nvPr/>
        </p:nvCxnSpPr>
        <p:spPr>
          <a:xfrm flipH="1" flipV="1">
            <a:off x="989374" y="1997000"/>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C3BB2F24-A53C-4ABD-8AF4-4784E3D79779}"/>
              </a:ext>
            </a:extLst>
          </p:cNvPr>
          <p:cNvSpPr txBox="1"/>
          <p:nvPr/>
        </p:nvSpPr>
        <p:spPr>
          <a:xfrm>
            <a:off x="1773817" y="2185771"/>
            <a:ext cx="1273650"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출원</a:t>
            </a:r>
          </a:p>
        </p:txBody>
      </p:sp>
      <p:sp>
        <p:nvSpPr>
          <p:cNvPr id="45" name="타원 44">
            <a:extLst>
              <a:ext uri="{FF2B5EF4-FFF2-40B4-BE49-F238E27FC236}">
                <a16:creationId xmlns:a16="http://schemas.microsoft.com/office/drawing/2014/main" id="{1312890E-8954-4FD3-AFF3-74634C10E942}"/>
              </a:ext>
            </a:extLst>
          </p:cNvPr>
          <p:cNvSpPr/>
          <p:nvPr/>
        </p:nvSpPr>
        <p:spPr>
          <a:xfrm>
            <a:off x="2333272" y="183566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6" name="직선 연결선 45">
            <a:extLst>
              <a:ext uri="{FF2B5EF4-FFF2-40B4-BE49-F238E27FC236}">
                <a16:creationId xmlns:a16="http://schemas.microsoft.com/office/drawing/2014/main" id="{1DA0E33E-CCC6-4FB4-9FEB-737E9949D537}"/>
              </a:ext>
            </a:extLst>
          </p:cNvPr>
          <p:cNvCxnSpPr>
            <a:cxnSpLocks/>
            <a:stCxn id="44" idx="0"/>
            <a:endCxn id="45" idx="4"/>
          </p:cNvCxnSpPr>
          <p:nvPr/>
        </p:nvCxnSpPr>
        <p:spPr>
          <a:xfrm flipH="1" flipV="1">
            <a:off x="2410641" y="1997000"/>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312DCEDA-3DA4-4749-A929-A730461FC3DA}"/>
              </a:ext>
            </a:extLst>
          </p:cNvPr>
          <p:cNvSpPr txBox="1"/>
          <p:nvPr/>
        </p:nvSpPr>
        <p:spPr>
          <a:xfrm>
            <a:off x="1390464" y="2813810"/>
            <a:ext cx="2040356"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en-US" altLang="ko-KR" sz="1200" dirty="0">
                <a:solidFill>
                  <a:schemeClr val="tx1"/>
                </a:solidFill>
                <a:latin typeface="+mn-ea"/>
              </a:rPr>
              <a:t>1</a:t>
            </a:r>
            <a:r>
              <a:rPr lang="ko-KR" altLang="en-US" sz="1200" dirty="0">
                <a:solidFill>
                  <a:schemeClr val="tx1"/>
                </a:solidFill>
                <a:latin typeface="+mn-ea"/>
              </a:rPr>
              <a:t>항</a:t>
            </a:r>
            <a:r>
              <a:rPr lang="en-US" altLang="ko-KR" sz="1200" dirty="0">
                <a:solidFill>
                  <a:schemeClr val="tx1"/>
                </a:solidFill>
                <a:latin typeface="+mn-ea"/>
              </a:rPr>
              <a:t>: A+B+C</a:t>
            </a:r>
          </a:p>
          <a:p>
            <a:r>
              <a:rPr lang="en-US" altLang="ko-KR" sz="1200" dirty="0">
                <a:solidFill>
                  <a:schemeClr val="tx1"/>
                </a:solidFill>
                <a:latin typeface="+mn-ea"/>
              </a:rPr>
              <a:t>2</a:t>
            </a:r>
            <a:r>
              <a:rPr lang="ko-KR" altLang="en-US" sz="1200" dirty="0">
                <a:solidFill>
                  <a:schemeClr val="tx1"/>
                </a:solidFill>
                <a:latin typeface="+mn-ea"/>
              </a:rPr>
              <a:t>항</a:t>
            </a:r>
            <a:r>
              <a:rPr lang="en-US" altLang="ko-KR" sz="1200" dirty="0">
                <a:solidFill>
                  <a:schemeClr val="tx1"/>
                </a:solidFill>
                <a:latin typeface="+mn-ea"/>
              </a:rPr>
              <a:t>: 1</a:t>
            </a:r>
            <a:r>
              <a:rPr lang="ko-KR" altLang="en-US" sz="1200" dirty="0">
                <a:solidFill>
                  <a:schemeClr val="tx1"/>
                </a:solidFill>
                <a:latin typeface="+mn-ea"/>
              </a:rPr>
              <a:t>항에 있어서</a:t>
            </a:r>
            <a:r>
              <a:rPr lang="en-US" altLang="ko-KR" sz="1200" dirty="0">
                <a:solidFill>
                  <a:schemeClr val="tx1"/>
                </a:solidFill>
                <a:latin typeface="+mn-ea"/>
              </a:rPr>
              <a:t>, D+E </a:t>
            </a:r>
            <a:r>
              <a:rPr lang="ko-KR" altLang="en-US" sz="1200" dirty="0">
                <a:solidFill>
                  <a:schemeClr val="tx1"/>
                </a:solidFill>
                <a:latin typeface="+mn-ea"/>
              </a:rPr>
              <a:t>부가</a:t>
            </a:r>
          </a:p>
        </p:txBody>
      </p:sp>
      <p:cxnSp>
        <p:nvCxnSpPr>
          <p:cNvPr id="14" name="직선 연결선 13">
            <a:extLst>
              <a:ext uri="{FF2B5EF4-FFF2-40B4-BE49-F238E27FC236}">
                <a16:creationId xmlns:a16="http://schemas.microsoft.com/office/drawing/2014/main" id="{456CA04B-F86D-4504-BBE0-859F80683FE1}"/>
              </a:ext>
            </a:extLst>
          </p:cNvPr>
          <p:cNvCxnSpPr>
            <a:endCxn id="44" idx="2"/>
          </p:cNvCxnSpPr>
          <p:nvPr/>
        </p:nvCxnSpPr>
        <p:spPr>
          <a:xfrm flipV="1">
            <a:off x="2410641" y="2462770"/>
            <a:ext cx="1" cy="35104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82A3FE88-1532-48E7-835D-DAEAB353DE22}"/>
              </a:ext>
            </a:extLst>
          </p:cNvPr>
          <p:cNvSpPr txBox="1"/>
          <p:nvPr/>
        </p:nvSpPr>
        <p:spPr>
          <a:xfrm>
            <a:off x="3134360" y="2185771"/>
            <a:ext cx="1273650"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등록</a:t>
            </a:r>
          </a:p>
        </p:txBody>
      </p:sp>
      <p:sp>
        <p:nvSpPr>
          <p:cNvPr id="49" name="타원 48">
            <a:extLst>
              <a:ext uri="{FF2B5EF4-FFF2-40B4-BE49-F238E27FC236}">
                <a16:creationId xmlns:a16="http://schemas.microsoft.com/office/drawing/2014/main" id="{50D7A551-07F4-4C76-B9CE-E9805293F433}"/>
              </a:ext>
            </a:extLst>
          </p:cNvPr>
          <p:cNvSpPr/>
          <p:nvPr/>
        </p:nvSpPr>
        <p:spPr>
          <a:xfrm>
            <a:off x="3693815" y="183566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0" name="직선 연결선 49">
            <a:extLst>
              <a:ext uri="{FF2B5EF4-FFF2-40B4-BE49-F238E27FC236}">
                <a16:creationId xmlns:a16="http://schemas.microsoft.com/office/drawing/2014/main" id="{538CDAA3-41ED-49A6-8CFE-8390C95F7086}"/>
              </a:ext>
            </a:extLst>
          </p:cNvPr>
          <p:cNvCxnSpPr>
            <a:cxnSpLocks/>
            <a:stCxn id="48" idx="0"/>
            <a:endCxn id="49" idx="4"/>
          </p:cNvCxnSpPr>
          <p:nvPr/>
        </p:nvCxnSpPr>
        <p:spPr>
          <a:xfrm flipH="1" flipV="1">
            <a:off x="3771184" y="1997000"/>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731A0C31-CE8B-412C-944D-2A3FF1D1367C}"/>
              </a:ext>
            </a:extLst>
          </p:cNvPr>
          <p:cNvSpPr txBox="1"/>
          <p:nvPr/>
        </p:nvSpPr>
        <p:spPr>
          <a:xfrm>
            <a:off x="4536466" y="2185771"/>
            <a:ext cx="1273650" cy="276999"/>
          </a:xfrm>
          <a:prstGeom prst="rect">
            <a:avLst/>
          </a:prstGeom>
          <a:solidFill>
            <a:schemeClr val="accent5"/>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bg1"/>
                </a:solidFill>
                <a:latin typeface="+mn-ea"/>
              </a:rPr>
              <a:t>제</a:t>
            </a:r>
            <a:r>
              <a:rPr lang="en-US" altLang="ko-KR" sz="1200" dirty="0">
                <a:solidFill>
                  <a:schemeClr val="bg1"/>
                </a:solidFill>
                <a:latin typeface="+mn-ea"/>
              </a:rPr>
              <a:t>3</a:t>
            </a:r>
            <a:r>
              <a:rPr lang="ko-KR" altLang="en-US" sz="1200" dirty="0">
                <a:solidFill>
                  <a:schemeClr val="bg1"/>
                </a:solidFill>
                <a:latin typeface="+mn-ea"/>
              </a:rPr>
              <a:t>자 실시</a:t>
            </a:r>
          </a:p>
        </p:txBody>
      </p:sp>
      <p:sp>
        <p:nvSpPr>
          <p:cNvPr id="52" name="타원 51">
            <a:extLst>
              <a:ext uri="{FF2B5EF4-FFF2-40B4-BE49-F238E27FC236}">
                <a16:creationId xmlns:a16="http://schemas.microsoft.com/office/drawing/2014/main" id="{B5C48D87-E8FE-43E5-8199-836342F3C6CD}"/>
              </a:ext>
            </a:extLst>
          </p:cNvPr>
          <p:cNvSpPr/>
          <p:nvPr/>
        </p:nvSpPr>
        <p:spPr>
          <a:xfrm>
            <a:off x="5095921" y="1835662"/>
            <a:ext cx="154738" cy="161338"/>
          </a:xfrm>
          <a:prstGeom prst="ellipse">
            <a:avLst/>
          </a:prstGeom>
          <a:solidFill>
            <a:schemeClr val="accent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3" name="직선 연결선 52">
            <a:extLst>
              <a:ext uri="{FF2B5EF4-FFF2-40B4-BE49-F238E27FC236}">
                <a16:creationId xmlns:a16="http://schemas.microsoft.com/office/drawing/2014/main" id="{9E189567-6E19-4D4B-9FC4-8DCCFE0A49DE}"/>
              </a:ext>
            </a:extLst>
          </p:cNvPr>
          <p:cNvCxnSpPr>
            <a:cxnSpLocks/>
            <a:stCxn id="51" idx="0"/>
            <a:endCxn id="52" idx="4"/>
          </p:cNvCxnSpPr>
          <p:nvPr/>
        </p:nvCxnSpPr>
        <p:spPr>
          <a:xfrm flipH="1" flipV="1">
            <a:off x="5173290" y="1997000"/>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CB5ADE24-F2A3-46E1-812C-14DDD0B32C12}"/>
              </a:ext>
            </a:extLst>
          </p:cNvPr>
          <p:cNvSpPr txBox="1"/>
          <p:nvPr/>
        </p:nvSpPr>
        <p:spPr>
          <a:xfrm>
            <a:off x="4188119" y="2813810"/>
            <a:ext cx="2040356" cy="646331"/>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en-US" altLang="ko-KR" sz="1200" dirty="0">
                <a:solidFill>
                  <a:schemeClr val="tx1"/>
                </a:solidFill>
                <a:latin typeface="+mn-ea"/>
              </a:rPr>
              <a:t>A+B </a:t>
            </a:r>
            <a:r>
              <a:rPr lang="ko-KR" altLang="en-US" sz="1200" dirty="0">
                <a:solidFill>
                  <a:schemeClr val="tx1"/>
                </a:solidFill>
                <a:latin typeface="+mn-ea"/>
              </a:rPr>
              <a:t>실시</a:t>
            </a:r>
            <a:endParaRPr lang="en-US" altLang="ko-KR" sz="1200" dirty="0">
              <a:solidFill>
                <a:schemeClr val="tx1"/>
              </a:solidFill>
              <a:latin typeface="+mn-ea"/>
            </a:endParaRPr>
          </a:p>
          <a:p>
            <a:r>
              <a:rPr lang="en-US" altLang="ko-KR" sz="1200" dirty="0">
                <a:solidFill>
                  <a:schemeClr val="tx1"/>
                </a:solidFill>
                <a:latin typeface="+mn-ea"/>
              </a:rPr>
              <a:t>A+B+C+D+E+F </a:t>
            </a:r>
            <a:r>
              <a:rPr lang="ko-KR" altLang="en-US" sz="1200" dirty="0">
                <a:solidFill>
                  <a:schemeClr val="tx1"/>
                </a:solidFill>
                <a:latin typeface="+mn-ea"/>
              </a:rPr>
              <a:t>실시</a:t>
            </a:r>
            <a:endParaRPr lang="en-US" altLang="ko-KR" sz="1200" dirty="0">
              <a:solidFill>
                <a:schemeClr val="tx1"/>
              </a:solidFill>
              <a:latin typeface="+mn-ea"/>
            </a:endParaRPr>
          </a:p>
          <a:p>
            <a:r>
              <a:rPr lang="en-US" altLang="ko-KR" sz="1200" dirty="0">
                <a:solidFill>
                  <a:schemeClr val="tx1"/>
                </a:solidFill>
                <a:latin typeface="+mn-ea"/>
              </a:rPr>
              <a:t>A+B+C+D </a:t>
            </a:r>
            <a:r>
              <a:rPr lang="ko-KR" altLang="en-US" sz="1200" dirty="0">
                <a:solidFill>
                  <a:schemeClr val="tx1"/>
                </a:solidFill>
                <a:latin typeface="+mn-ea"/>
              </a:rPr>
              <a:t>실시</a:t>
            </a:r>
          </a:p>
        </p:txBody>
      </p:sp>
      <p:cxnSp>
        <p:nvCxnSpPr>
          <p:cNvPr id="55" name="직선 연결선 54">
            <a:extLst>
              <a:ext uri="{FF2B5EF4-FFF2-40B4-BE49-F238E27FC236}">
                <a16:creationId xmlns:a16="http://schemas.microsoft.com/office/drawing/2014/main" id="{4147271D-6B74-4587-8FC8-5F7CE47DF88B}"/>
              </a:ext>
            </a:extLst>
          </p:cNvPr>
          <p:cNvCxnSpPr/>
          <p:nvPr/>
        </p:nvCxnSpPr>
        <p:spPr>
          <a:xfrm flipV="1">
            <a:off x="5184354" y="2462770"/>
            <a:ext cx="1" cy="35104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EA7BDC2F-4FB1-A6BA-3AC6-2AE51D017C57}"/>
              </a:ext>
            </a:extLst>
          </p:cNvPr>
          <p:cNvSpPr txBox="1"/>
          <p:nvPr/>
        </p:nvSpPr>
        <p:spPr>
          <a:xfrm>
            <a:off x="10629902" y="3790356"/>
            <a:ext cx="1384285" cy="510778"/>
          </a:xfrm>
          <a:prstGeom prst="roundRect">
            <a:avLst/>
          </a:prstGeom>
          <a:noFill/>
          <a:ln>
            <a:solidFill>
              <a:schemeClr val="accent4">
                <a:lumMod val="50000"/>
              </a:schemeClr>
            </a:solidFill>
          </a:ln>
        </p:spPr>
        <p:txBody>
          <a:bodyPr wrap="square" rtlCol="0">
            <a:spAutoFit/>
          </a:bodyPr>
          <a:lstStyle/>
          <a:p>
            <a:pPr algn="ctr"/>
            <a:r>
              <a:rPr lang="ko-KR" altLang="en-US" sz="1200" dirty="0"/>
              <a:t>종속항에 대응되는 구성 필요</a:t>
            </a:r>
          </a:p>
        </p:txBody>
      </p:sp>
      <p:sp>
        <p:nvSpPr>
          <p:cNvPr id="11" name="TextBox 10">
            <a:extLst>
              <a:ext uri="{FF2B5EF4-FFF2-40B4-BE49-F238E27FC236}">
                <a16:creationId xmlns:a16="http://schemas.microsoft.com/office/drawing/2014/main" id="{903D874D-55C4-48C6-AAD0-58EC53B94EFC}"/>
              </a:ext>
            </a:extLst>
          </p:cNvPr>
          <p:cNvSpPr txBox="1"/>
          <p:nvPr/>
        </p:nvSpPr>
        <p:spPr>
          <a:xfrm>
            <a:off x="10629902" y="2524221"/>
            <a:ext cx="1384285" cy="510778"/>
          </a:xfrm>
          <a:prstGeom prst="roundRect">
            <a:avLst/>
          </a:prstGeom>
          <a:noFill/>
          <a:ln>
            <a:solidFill>
              <a:schemeClr val="accent4">
                <a:lumMod val="50000"/>
              </a:schemeClr>
            </a:solidFill>
          </a:ln>
        </p:spPr>
        <p:txBody>
          <a:bodyPr wrap="square" rtlCol="0">
            <a:spAutoFit/>
          </a:bodyPr>
          <a:lstStyle/>
          <a:p>
            <a:pPr algn="ctr"/>
            <a:r>
              <a:rPr lang="ko-KR" altLang="en-US" sz="1200" dirty="0"/>
              <a:t>종속항에 대응되는 구성 불필요</a:t>
            </a:r>
          </a:p>
        </p:txBody>
      </p:sp>
      <p:cxnSp>
        <p:nvCxnSpPr>
          <p:cNvPr id="15" name="직선 연결선 14">
            <a:extLst>
              <a:ext uri="{FF2B5EF4-FFF2-40B4-BE49-F238E27FC236}">
                <a16:creationId xmlns:a16="http://schemas.microsoft.com/office/drawing/2014/main" id="{3FF00FF0-AC68-3D4B-4368-827BED168324}"/>
              </a:ext>
            </a:extLst>
          </p:cNvPr>
          <p:cNvCxnSpPr>
            <a:cxnSpLocks/>
            <a:stCxn id="11" idx="1"/>
          </p:cNvCxnSpPr>
          <p:nvPr/>
        </p:nvCxnSpPr>
        <p:spPr>
          <a:xfrm flipH="1">
            <a:off x="10248900" y="2779610"/>
            <a:ext cx="381002" cy="3420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직선 연결선 16">
            <a:extLst>
              <a:ext uri="{FF2B5EF4-FFF2-40B4-BE49-F238E27FC236}">
                <a16:creationId xmlns:a16="http://schemas.microsoft.com/office/drawing/2014/main" id="{005EC126-7ADE-3983-2CD5-6CE783E72F45}"/>
              </a:ext>
            </a:extLst>
          </p:cNvPr>
          <p:cNvCxnSpPr>
            <a:cxnSpLocks/>
            <a:endCxn id="10" idx="1"/>
          </p:cNvCxnSpPr>
          <p:nvPr/>
        </p:nvCxnSpPr>
        <p:spPr>
          <a:xfrm>
            <a:off x="10248900" y="3460141"/>
            <a:ext cx="381002" cy="58560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F786162E-49E3-3F48-AA2E-FCE809DD9778}"/>
              </a:ext>
            </a:extLst>
          </p:cNvPr>
          <p:cNvCxnSpPr>
            <a:cxnSpLocks/>
            <a:endCxn id="10" idx="1"/>
          </p:cNvCxnSpPr>
          <p:nvPr/>
        </p:nvCxnSpPr>
        <p:spPr>
          <a:xfrm flipV="1">
            <a:off x="10248900" y="4045745"/>
            <a:ext cx="381002" cy="85178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1715753"/>
      </p:ext>
    </p:extLst>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solidFill>
                  <a:srgbClr val="525252"/>
                </a:solidFill>
              </a:rPr>
              <a:t>확인대상발명 </a:t>
            </a:r>
            <a:r>
              <a:rPr lang="en-US" altLang="ko-KR" dirty="0">
                <a:solidFill>
                  <a:srgbClr val="525252"/>
                </a:solidFill>
              </a:rPr>
              <a:t>vs </a:t>
            </a:r>
            <a:r>
              <a:rPr lang="ko-KR" altLang="en-US" dirty="0">
                <a:solidFill>
                  <a:srgbClr val="525252"/>
                </a:solidFill>
              </a:rPr>
              <a:t>실시</a:t>
            </a:r>
            <a:r>
              <a:rPr lang="en-US" altLang="ko-KR" dirty="0">
                <a:solidFill>
                  <a:srgbClr val="525252"/>
                </a:solidFill>
              </a:rPr>
              <a:t>(</a:t>
            </a:r>
            <a:r>
              <a:rPr lang="ko-KR" altLang="en-US" dirty="0">
                <a:solidFill>
                  <a:srgbClr val="525252"/>
                </a:solidFill>
              </a:rPr>
              <a:t>예정</a:t>
            </a:r>
            <a:r>
              <a:rPr lang="en-US" altLang="ko-KR" dirty="0">
                <a:solidFill>
                  <a:srgbClr val="525252"/>
                </a:solidFill>
              </a:rPr>
              <a:t>)</a:t>
            </a:r>
            <a:r>
              <a:rPr lang="ko-KR" altLang="en-US" dirty="0">
                <a:solidFill>
                  <a:srgbClr val="525252"/>
                </a:solidFill>
              </a:rPr>
              <a:t>제품</a:t>
            </a:r>
            <a:r>
              <a:rPr lang="en-US" altLang="ko-KR" dirty="0">
                <a:solidFill>
                  <a:srgbClr val="525252"/>
                </a:solidFill>
              </a:rPr>
              <a:t>: </a:t>
            </a:r>
            <a:r>
              <a:rPr lang="ko-KR" altLang="en-US" dirty="0">
                <a:solidFill>
                  <a:srgbClr val="525252"/>
                </a:solidFill>
              </a:rPr>
              <a:t>다르지 않는 경우</a:t>
            </a:r>
            <a:r>
              <a:rPr lang="en-US" altLang="ko-KR" dirty="0">
                <a:solidFill>
                  <a:srgbClr val="525252"/>
                </a:solidFill>
              </a:rPr>
              <a:t> </a:t>
            </a:r>
            <a:endParaRPr lang="ko-KR" altLang="en-US" dirty="0">
              <a:solidFill>
                <a:srgbClr val="525252"/>
              </a:solidFill>
            </a:endParaRP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6" name="사각형: 둥근 모서리 5">
            <a:extLst>
              <a:ext uri="{FF2B5EF4-FFF2-40B4-BE49-F238E27FC236}">
                <a16:creationId xmlns:a16="http://schemas.microsoft.com/office/drawing/2014/main" id="{D94B0FEF-5B1C-443D-A705-183127B85944}"/>
              </a:ext>
            </a:extLst>
          </p:cNvPr>
          <p:cNvSpPr/>
          <p:nvPr/>
        </p:nvSpPr>
        <p:spPr>
          <a:xfrm>
            <a:off x="312918" y="1066801"/>
            <a:ext cx="1041400" cy="356666"/>
          </a:xfrm>
          <a:prstGeom prst="roundRect">
            <a:avLst>
              <a:gd name="adj" fmla="val 50000"/>
            </a:avLst>
          </a:prstGeom>
          <a:solidFill>
            <a:schemeClr val="tx2">
              <a:lumMod val="20000"/>
              <a:lumOff val="8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적극적</a:t>
            </a:r>
          </a:p>
        </p:txBody>
      </p:sp>
      <p:sp>
        <p:nvSpPr>
          <p:cNvPr id="8" name="직사각형 7">
            <a:extLst>
              <a:ext uri="{FF2B5EF4-FFF2-40B4-BE49-F238E27FC236}">
                <a16:creationId xmlns:a16="http://schemas.microsoft.com/office/drawing/2014/main" id="{5C11490A-26D1-4C3F-89A3-6BF1F6795B8C}"/>
              </a:ext>
            </a:extLst>
          </p:cNvPr>
          <p:cNvSpPr/>
          <p:nvPr/>
        </p:nvSpPr>
        <p:spPr>
          <a:xfrm>
            <a:off x="241300" y="1474906"/>
            <a:ext cx="4203700" cy="3046988"/>
          </a:xfrm>
          <a:prstGeom prst="rect">
            <a:avLst/>
          </a:prstGeom>
          <a:ln>
            <a:solidFill>
              <a:schemeClr val="bg2">
                <a:lumMod val="50000"/>
              </a:schemeClr>
            </a:solidFill>
          </a:ln>
        </p:spPr>
        <p:txBody>
          <a:bodyPr wrap="square">
            <a:spAutoFit/>
          </a:bodyPr>
          <a:lstStyle/>
          <a:p>
            <a:pPr algn="just"/>
            <a:r>
              <a:rPr lang="ko-KR" altLang="en-US" sz="1200" dirty="0"/>
              <a:t>적극적 권리범위확인심판에서는 청구인인 특허권자 또는 </a:t>
            </a:r>
            <a:r>
              <a:rPr lang="ko-KR" altLang="en-US" sz="1200" dirty="0" err="1"/>
              <a:t>전용실시권자가</a:t>
            </a:r>
            <a:r>
              <a:rPr lang="ko-KR" altLang="en-US" sz="1200" dirty="0"/>
              <a:t> 주장한 실시 형태가 피청구인이 실제로 실시하고 있는 형태와 동일성이 인정되지 않으면</a:t>
            </a:r>
            <a:r>
              <a:rPr lang="en-US" altLang="ko-KR" sz="1200" dirty="0"/>
              <a:t>, </a:t>
            </a:r>
            <a:r>
              <a:rPr lang="ko-KR" altLang="en-US" sz="1200" dirty="0"/>
              <a:t>확인대상발명이 특허발명의 권리범위에 속한다는 </a:t>
            </a:r>
            <a:r>
              <a:rPr lang="ko-KR" altLang="en-US" sz="1200" dirty="0" err="1"/>
              <a:t>심결이</a:t>
            </a:r>
            <a:r>
              <a:rPr lang="ko-KR" altLang="en-US" sz="1200" dirty="0"/>
              <a:t> 확정된다고 하더라도 그 </a:t>
            </a:r>
            <a:r>
              <a:rPr lang="ko-KR" altLang="en-US" sz="1200" dirty="0" err="1"/>
              <a:t>심결은</a:t>
            </a:r>
            <a:r>
              <a:rPr lang="ko-KR" altLang="en-US" sz="1200" dirty="0"/>
              <a:t> 심판청구인이 특정한 확인대상발명에 대하여만 효력을 미칠 뿐 실제 피심판청구인이 실시하고 있는 발명에 대하여는 아무런 효력이 없으므로</a:t>
            </a:r>
            <a:r>
              <a:rPr lang="en-US" altLang="ko-KR" sz="1200" dirty="0"/>
              <a:t>, </a:t>
            </a:r>
            <a:r>
              <a:rPr lang="ko-KR" altLang="en-US" sz="1200" dirty="0"/>
              <a:t>피심판청구인이 실시하지 않고 있는 발명을 대상으로 한 그와 같은 적극적 권리범위확인 심판청구는 </a:t>
            </a:r>
            <a:r>
              <a:rPr lang="ko-KR" altLang="en-US" sz="1200" dirty="0">
                <a:highlight>
                  <a:srgbClr val="FF0000"/>
                </a:highlight>
              </a:rPr>
              <a:t>확인의 이익</a:t>
            </a:r>
            <a:r>
              <a:rPr lang="ko-KR" altLang="en-US" sz="1200" dirty="0"/>
              <a:t>이 없어 </a:t>
            </a:r>
            <a:r>
              <a:rPr lang="ko-KR" altLang="en-US" sz="1200" dirty="0" err="1"/>
              <a:t>부적법하여</a:t>
            </a:r>
            <a:r>
              <a:rPr lang="ko-KR" altLang="en-US" sz="1200" dirty="0"/>
              <a:t> 각하되어야 한다</a:t>
            </a:r>
            <a:r>
              <a:rPr lang="en-US" altLang="ko-KR" sz="1200" dirty="0"/>
              <a:t>(</a:t>
            </a:r>
            <a:r>
              <a:rPr lang="ko-KR" altLang="en-US" sz="1200" dirty="0"/>
              <a:t>대법원 </a:t>
            </a:r>
            <a:r>
              <a:rPr lang="en-US" altLang="ko-KR" sz="1200" dirty="0"/>
              <a:t>2003. 6. 10. </a:t>
            </a:r>
            <a:r>
              <a:rPr lang="ko-KR" altLang="en-US" sz="1200" dirty="0"/>
              <a:t>선고 </a:t>
            </a:r>
            <a:r>
              <a:rPr lang="en-US" altLang="ko-KR" sz="1200" dirty="0"/>
              <a:t>2002</a:t>
            </a:r>
            <a:r>
              <a:rPr lang="ko-KR" altLang="en-US" sz="1200" dirty="0"/>
              <a:t>후</a:t>
            </a:r>
            <a:r>
              <a:rPr lang="en-US" altLang="ko-KR" sz="1200" dirty="0"/>
              <a:t>2419). </a:t>
            </a:r>
            <a:r>
              <a:rPr lang="ko-KR" altLang="en-US" sz="1200" dirty="0"/>
              <a:t>그리고 </a:t>
            </a:r>
            <a:r>
              <a:rPr lang="ko-KR" altLang="en-US" sz="1200" dirty="0">
                <a:highlight>
                  <a:srgbClr val="CCECFF"/>
                </a:highlight>
              </a:rPr>
              <a:t>이 경우 확인대상발명과 피심판청구인이 실시하고 있는 발명의 동일성은 피심판청구인이 확인대상발명을 실시하고 있는지 여부라는 사실확정에 관한 것이므로 이들 발명이 사실적 관점에서 같다고 보이는 경우에 한하여 그 동일성을 인정하여야 하며</a:t>
            </a:r>
            <a:r>
              <a:rPr lang="en-US" altLang="ko-KR" sz="1200" dirty="0">
                <a:highlight>
                  <a:srgbClr val="CCECFF"/>
                </a:highlight>
              </a:rPr>
              <a:t>(</a:t>
            </a:r>
            <a:r>
              <a:rPr lang="ko-KR" altLang="en-US" sz="1200" dirty="0">
                <a:highlight>
                  <a:srgbClr val="CCECFF"/>
                </a:highlight>
              </a:rPr>
              <a:t>대법원 </a:t>
            </a:r>
            <a:r>
              <a:rPr lang="en-US" altLang="ko-KR" sz="1200" dirty="0">
                <a:highlight>
                  <a:srgbClr val="CCECFF"/>
                </a:highlight>
              </a:rPr>
              <a:t>2012. 10. 25. </a:t>
            </a:r>
            <a:r>
              <a:rPr lang="ko-KR" altLang="en-US" sz="1200" dirty="0">
                <a:highlight>
                  <a:srgbClr val="CCECFF"/>
                </a:highlight>
              </a:rPr>
              <a:t>선고 </a:t>
            </a:r>
            <a:r>
              <a:rPr lang="en-US" altLang="ko-KR" sz="1200" dirty="0">
                <a:highlight>
                  <a:srgbClr val="CCECFF"/>
                </a:highlight>
              </a:rPr>
              <a:t>2011</a:t>
            </a:r>
            <a:r>
              <a:rPr lang="ko-KR" altLang="en-US" sz="1200" dirty="0">
                <a:highlight>
                  <a:srgbClr val="CCECFF"/>
                </a:highlight>
              </a:rPr>
              <a:t>후</a:t>
            </a:r>
            <a:r>
              <a:rPr lang="en-US" altLang="ko-KR" sz="1200" dirty="0">
                <a:highlight>
                  <a:srgbClr val="CCECFF"/>
                </a:highlight>
              </a:rPr>
              <a:t>2626), </a:t>
            </a:r>
            <a:r>
              <a:rPr lang="ko-KR" altLang="en-US" sz="1200" dirty="0">
                <a:highlight>
                  <a:srgbClr val="CCECFF"/>
                </a:highlight>
              </a:rPr>
              <a:t>요지가 동일하여 균등관계에 있다고 할지라도 확인대상발명이 특정되었다고 볼 수 없다</a:t>
            </a:r>
            <a:r>
              <a:rPr lang="en-US" altLang="ko-KR" sz="1200" dirty="0">
                <a:highlight>
                  <a:srgbClr val="CCECFF"/>
                </a:highlight>
              </a:rPr>
              <a:t>(</a:t>
            </a:r>
            <a:r>
              <a:rPr lang="ko-KR" altLang="en-US" sz="1200" dirty="0">
                <a:highlight>
                  <a:srgbClr val="CCECFF"/>
                </a:highlight>
              </a:rPr>
              <a:t>대법원 </a:t>
            </a:r>
            <a:r>
              <a:rPr lang="en-US" altLang="ko-KR" sz="1200" dirty="0">
                <a:highlight>
                  <a:srgbClr val="CCECFF"/>
                </a:highlight>
              </a:rPr>
              <a:t>1996. 3. 8. </a:t>
            </a:r>
            <a:r>
              <a:rPr lang="ko-KR" altLang="en-US" sz="1200" dirty="0">
                <a:highlight>
                  <a:srgbClr val="CCECFF"/>
                </a:highlight>
              </a:rPr>
              <a:t>선고 </a:t>
            </a:r>
            <a:r>
              <a:rPr lang="en-US" altLang="ko-KR" sz="1200" dirty="0">
                <a:highlight>
                  <a:srgbClr val="CCECFF"/>
                </a:highlight>
              </a:rPr>
              <a:t>94</a:t>
            </a:r>
            <a:r>
              <a:rPr lang="ko-KR" altLang="en-US" sz="1200" dirty="0">
                <a:highlight>
                  <a:srgbClr val="CCECFF"/>
                </a:highlight>
              </a:rPr>
              <a:t>후</a:t>
            </a:r>
            <a:r>
              <a:rPr lang="en-US" altLang="ko-KR" sz="1200" dirty="0">
                <a:highlight>
                  <a:srgbClr val="CCECFF"/>
                </a:highlight>
              </a:rPr>
              <a:t>2247).</a:t>
            </a:r>
            <a:endParaRPr lang="ko-KR" altLang="en-US" sz="1200" dirty="0">
              <a:highlight>
                <a:srgbClr val="CCECFF"/>
              </a:highlight>
            </a:endParaRPr>
          </a:p>
        </p:txBody>
      </p:sp>
      <p:sp>
        <p:nvSpPr>
          <p:cNvPr id="9" name="직사각형 8">
            <a:extLst>
              <a:ext uri="{FF2B5EF4-FFF2-40B4-BE49-F238E27FC236}">
                <a16:creationId xmlns:a16="http://schemas.microsoft.com/office/drawing/2014/main" id="{3F026DEE-24E5-422E-B990-7C55476DE06C}"/>
              </a:ext>
            </a:extLst>
          </p:cNvPr>
          <p:cNvSpPr/>
          <p:nvPr/>
        </p:nvSpPr>
        <p:spPr>
          <a:xfrm>
            <a:off x="266698" y="5143259"/>
            <a:ext cx="1206500" cy="432749"/>
          </a:xfrm>
          <a:prstGeom prst="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확인대상발명</a:t>
            </a:r>
          </a:p>
        </p:txBody>
      </p:sp>
      <p:sp>
        <p:nvSpPr>
          <p:cNvPr id="10" name="직사각형 9">
            <a:extLst>
              <a:ext uri="{FF2B5EF4-FFF2-40B4-BE49-F238E27FC236}">
                <a16:creationId xmlns:a16="http://schemas.microsoft.com/office/drawing/2014/main" id="{34083A2B-3B8E-44B9-A353-5C93A91DA414}"/>
              </a:ext>
            </a:extLst>
          </p:cNvPr>
          <p:cNvSpPr/>
          <p:nvPr/>
        </p:nvSpPr>
        <p:spPr>
          <a:xfrm>
            <a:off x="2781302" y="5142150"/>
            <a:ext cx="1676400" cy="433858"/>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실시제품</a:t>
            </a:r>
          </a:p>
        </p:txBody>
      </p:sp>
      <p:cxnSp>
        <p:nvCxnSpPr>
          <p:cNvPr id="12" name="직선 연결선 11">
            <a:extLst>
              <a:ext uri="{FF2B5EF4-FFF2-40B4-BE49-F238E27FC236}">
                <a16:creationId xmlns:a16="http://schemas.microsoft.com/office/drawing/2014/main" id="{EE9BF232-32B3-4C6A-92D3-42E79E3F2F2B}"/>
              </a:ext>
            </a:extLst>
          </p:cNvPr>
          <p:cNvCxnSpPr>
            <a:cxnSpLocks/>
            <a:stCxn id="9" idx="3"/>
            <a:endCxn id="10" idx="1"/>
          </p:cNvCxnSpPr>
          <p:nvPr/>
        </p:nvCxnSpPr>
        <p:spPr>
          <a:xfrm flipV="1">
            <a:off x="1473198" y="5359079"/>
            <a:ext cx="1308104" cy="55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779B2F1-953E-47EF-A5BB-22657D2F1DC8}"/>
              </a:ext>
            </a:extLst>
          </p:cNvPr>
          <p:cNvSpPr txBox="1"/>
          <p:nvPr/>
        </p:nvSpPr>
        <p:spPr>
          <a:xfrm>
            <a:off x="1418566" y="4734245"/>
            <a:ext cx="1417376" cy="523220"/>
          </a:xfrm>
          <a:prstGeom prst="rect">
            <a:avLst/>
          </a:prstGeom>
          <a:noFill/>
        </p:spPr>
        <p:txBody>
          <a:bodyPr wrap="none" rtlCol="0">
            <a:spAutoFit/>
          </a:bodyPr>
          <a:lstStyle/>
          <a:p>
            <a:pPr algn="ctr"/>
            <a:r>
              <a:rPr lang="ko-KR" altLang="en-US" sz="1400" dirty="0"/>
              <a:t>사실적 관점 동일</a:t>
            </a:r>
            <a:br>
              <a:rPr lang="en-US" altLang="ko-KR" sz="1400" dirty="0"/>
            </a:br>
            <a:r>
              <a:rPr lang="en-US" altLang="ko-KR" sz="1400" dirty="0"/>
              <a:t>(</a:t>
            </a:r>
            <a:r>
              <a:rPr lang="ko-KR" altLang="en-US" sz="1400" dirty="0"/>
              <a:t>요지 동일 </a:t>
            </a:r>
            <a:r>
              <a:rPr lang="en-US" altLang="ko-KR" sz="1400" dirty="0"/>
              <a:t>X)</a:t>
            </a:r>
            <a:endParaRPr lang="ko-KR" altLang="en-US" sz="1400" dirty="0"/>
          </a:p>
        </p:txBody>
      </p:sp>
      <p:sp>
        <p:nvSpPr>
          <p:cNvPr id="14" name="사각형: 둥근 모서리 13">
            <a:extLst>
              <a:ext uri="{FF2B5EF4-FFF2-40B4-BE49-F238E27FC236}">
                <a16:creationId xmlns:a16="http://schemas.microsoft.com/office/drawing/2014/main" id="{C09E91B2-AA72-4AFC-85FD-5FA198616D2A}"/>
              </a:ext>
            </a:extLst>
          </p:cNvPr>
          <p:cNvSpPr/>
          <p:nvPr/>
        </p:nvSpPr>
        <p:spPr>
          <a:xfrm>
            <a:off x="4711700" y="1066801"/>
            <a:ext cx="1041400" cy="356666"/>
          </a:xfrm>
          <a:prstGeom prst="roundRect">
            <a:avLst>
              <a:gd name="adj" fmla="val 50000"/>
            </a:avLst>
          </a:prstGeom>
          <a:solidFill>
            <a:schemeClr val="tx2">
              <a:lumMod val="20000"/>
              <a:lumOff val="8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tx1"/>
                </a:solidFill>
              </a:rPr>
              <a:t>소극적</a:t>
            </a:r>
          </a:p>
        </p:txBody>
      </p:sp>
      <p:sp>
        <p:nvSpPr>
          <p:cNvPr id="15" name="직사각형 14">
            <a:extLst>
              <a:ext uri="{FF2B5EF4-FFF2-40B4-BE49-F238E27FC236}">
                <a16:creationId xmlns:a16="http://schemas.microsoft.com/office/drawing/2014/main" id="{C11BACD1-CD82-440D-83B9-7C669502C0AA}"/>
              </a:ext>
            </a:extLst>
          </p:cNvPr>
          <p:cNvSpPr/>
          <p:nvPr/>
        </p:nvSpPr>
        <p:spPr>
          <a:xfrm>
            <a:off x="4686300" y="1474906"/>
            <a:ext cx="7239002" cy="3693319"/>
          </a:xfrm>
          <a:prstGeom prst="rect">
            <a:avLst/>
          </a:prstGeom>
          <a:ln>
            <a:solidFill>
              <a:schemeClr val="bg2">
                <a:lumMod val="50000"/>
              </a:schemeClr>
            </a:solidFill>
          </a:ln>
        </p:spPr>
        <p:txBody>
          <a:bodyPr wrap="square">
            <a:spAutoFit/>
          </a:bodyPr>
          <a:lstStyle/>
          <a:p>
            <a:pPr algn="just"/>
            <a:r>
              <a:rPr lang="ko-KR" altLang="en-US" sz="1200" dirty="0"/>
              <a:t>소극적 권리범위확인 심판의 대상이 되는 확인대상발명에는 현재 실시하고 있는 </a:t>
            </a:r>
            <a:r>
              <a:rPr lang="ko-KR" altLang="en-US" sz="1200" dirty="0" err="1"/>
              <a:t>발명뿐만</a:t>
            </a:r>
            <a:r>
              <a:rPr lang="ko-KR" altLang="en-US" sz="1200" dirty="0"/>
              <a:t> 아니라 장래 실시 예정인 발명도 포함되나</a:t>
            </a:r>
            <a:r>
              <a:rPr lang="en-US" altLang="ko-KR" sz="1200" dirty="0"/>
              <a:t>(</a:t>
            </a:r>
            <a:r>
              <a:rPr lang="ko-KR" altLang="en-US" sz="1200" dirty="0"/>
              <a:t>대법원 </a:t>
            </a:r>
            <a:r>
              <a:rPr lang="en-US" altLang="ko-KR" sz="1200" dirty="0"/>
              <a:t>2000. 4. 11. </a:t>
            </a:r>
            <a:r>
              <a:rPr lang="ko-KR" altLang="en-US" sz="1200" dirty="0"/>
              <a:t>선고 </a:t>
            </a:r>
            <a:r>
              <a:rPr lang="en-US" altLang="ko-KR" sz="1200" dirty="0"/>
              <a:t>7</a:t>
            </a:r>
            <a:r>
              <a:rPr lang="ko-KR" altLang="en-US" sz="1200" dirty="0"/>
              <a:t>후</a:t>
            </a:r>
            <a:r>
              <a:rPr lang="en-US" altLang="ko-KR" sz="1200" dirty="0"/>
              <a:t>3241 </a:t>
            </a:r>
            <a:r>
              <a:rPr lang="ko-KR" altLang="en-US" sz="1200" dirty="0"/>
              <a:t>판결 참조</a:t>
            </a:r>
            <a:r>
              <a:rPr lang="en-US" altLang="ko-KR" sz="1200" dirty="0"/>
              <a:t>), </a:t>
            </a:r>
            <a:r>
              <a:rPr lang="ko-KR" altLang="en-US" sz="1200" dirty="0"/>
              <a:t>그러한 경우에도 확인대상발명의 적법한 특정 여부</a:t>
            </a:r>
            <a:r>
              <a:rPr lang="en-US" altLang="ko-KR" sz="1200" dirty="0"/>
              <a:t>, </a:t>
            </a:r>
            <a:r>
              <a:rPr lang="ko-KR" altLang="en-US" sz="1200" dirty="0"/>
              <a:t>심결절차의 안정성 및 효율성</a:t>
            </a:r>
            <a:r>
              <a:rPr lang="en-US" altLang="ko-KR" sz="1200" dirty="0"/>
              <a:t>, </a:t>
            </a:r>
            <a:r>
              <a:rPr lang="ko-KR" altLang="en-US" sz="1200" dirty="0" err="1"/>
              <a:t>심결의</a:t>
            </a:r>
            <a:r>
              <a:rPr lang="ko-KR" altLang="en-US" sz="1200" dirty="0"/>
              <a:t> 효력 범위를 명확히 하기 위하여 </a:t>
            </a:r>
            <a:r>
              <a:rPr lang="ko-KR" altLang="en-US" sz="1200" dirty="0">
                <a:highlight>
                  <a:srgbClr val="FFFF00"/>
                </a:highlight>
              </a:rPr>
              <a:t>권리범위의 확인을 구하는 심판을 청구한 자는 확인대상발명을 현재 실시하고 있는지 또는 장래 실시할 예정인지 여부를 적어도 </a:t>
            </a:r>
            <a:r>
              <a:rPr lang="ko-KR" altLang="en-US" sz="1200" dirty="0" err="1">
                <a:highlight>
                  <a:srgbClr val="FFFF00"/>
                </a:highlight>
              </a:rPr>
              <a:t>심결시까지</a:t>
            </a:r>
            <a:r>
              <a:rPr lang="ko-KR" altLang="en-US" sz="1200" dirty="0">
                <a:highlight>
                  <a:srgbClr val="FFFF00"/>
                </a:highlight>
              </a:rPr>
              <a:t> 명확히 밝혀야 하고</a:t>
            </a:r>
            <a:r>
              <a:rPr lang="en-US" altLang="ko-KR" sz="1200" dirty="0">
                <a:highlight>
                  <a:srgbClr val="FFFF00"/>
                </a:highlight>
              </a:rPr>
              <a:t>, </a:t>
            </a:r>
            <a:r>
              <a:rPr lang="ko-KR" altLang="en-US" sz="1200" dirty="0">
                <a:highlight>
                  <a:srgbClr val="FFFF00"/>
                </a:highlight>
              </a:rPr>
              <a:t>심판청구인이 </a:t>
            </a:r>
            <a:r>
              <a:rPr lang="ko-KR" altLang="en-US" sz="1200" dirty="0" err="1">
                <a:highlight>
                  <a:srgbClr val="FFFF00"/>
                </a:highlight>
              </a:rPr>
              <a:t>심결시까지</a:t>
            </a:r>
            <a:r>
              <a:rPr lang="ko-KR" altLang="en-US" sz="1200" dirty="0">
                <a:highlight>
                  <a:srgbClr val="FFFF00"/>
                </a:highlight>
              </a:rPr>
              <a:t> 자신이 현재 실시하고 있는 제품이 </a:t>
            </a:r>
            <a:r>
              <a:rPr lang="ko-KR" altLang="en-US" sz="1200" dirty="0" err="1">
                <a:highlight>
                  <a:srgbClr val="FFFF00"/>
                </a:highlight>
              </a:rPr>
              <a:t>확인대상발명이라고</a:t>
            </a:r>
            <a:r>
              <a:rPr lang="ko-KR" altLang="en-US" sz="1200" dirty="0">
                <a:highlight>
                  <a:srgbClr val="FFFF00"/>
                </a:highlight>
              </a:rPr>
              <a:t> 밝혔다면 특별한 사정이 없는 한 확인대상발명은 심판청구인의 의사대로 실제 실시하고 있는 제품으로 확정되었다고 할 것이다</a:t>
            </a:r>
            <a:r>
              <a:rPr lang="en-US" altLang="ko-KR" sz="1200" dirty="0">
                <a:highlight>
                  <a:srgbClr val="FFFF00"/>
                </a:highlight>
              </a:rPr>
              <a:t>.</a:t>
            </a:r>
          </a:p>
          <a:p>
            <a:pPr algn="just"/>
            <a:r>
              <a:rPr lang="ko-KR" altLang="en-US" sz="1200" dirty="0"/>
              <a:t>또한 확인대상발명이 위와 같이 확정되었다면 그것이 적법하게 특정되었는지는 특허심판의 적법요건으로서 당사자의 명확한 주장이 없더라도 의심이 있을 때에는 특허심판원이나 법원이 이를 </a:t>
            </a:r>
            <a:r>
              <a:rPr lang="ko-KR" altLang="en-US" sz="1200" dirty="0">
                <a:highlight>
                  <a:srgbClr val="FFFF00"/>
                </a:highlight>
              </a:rPr>
              <a:t>직권으로 조사</a:t>
            </a:r>
            <a:r>
              <a:rPr lang="ko-KR" altLang="en-US" sz="1200" dirty="0"/>
              <a:t>하여 밝혀보아야 할 사항이다</a:t>
            </a:r>
            <a:r>
              <a:rPr lang="en-US" altLang="ko-KR" sz="1200" dirty="0"/>
              <a:t>(</a:t>
            </a:r>
            <a:r>
              <a:rPr lang="ko-KR" altLang="en-US" sz="1200" dirty="0"/>
              <a:t>대법원 </a:t>
            </a:r>
            <a:r>
              <a:rPr lang="en-US" altLang="ko-KR" sz="1200" dirty="0"/>
              <a:t>2005. 4. 29. </a:t>
            </a:r>
            <a:r>
              <a:rPr lang="ko-KR" altLang="en-US" sz="1200" dirty="0"/>
              <a:t>선고 </a:t>
            </a:r>
            <a:r>
              <a:rPr lang="en-US" altLang="ko-KR" sz="1200" dirty="0"/>
              <a:t>2003</a:t>
            </a:r>
            <a:r>
              <a:rPr lang="ko-KR" altLang="en-US" sz="1200" dirty="0"/>
              <a:t>후</a:t>
            </a:r>
            <a:r>
              <a:rPr lang="en-US" altLang="ko-KR" sz="1200" dirty="0"/>
              <a:t>656 </a:t>
            </a:r>
            <a:r>
              <a:rPr lang="ko-KR" altLang="en-US" sz="1200" dirty="0"/>
              <a:t>판결 참조</a:t>
            </a:r>
            <a:r>
              <a:rPr lang="en-US" altLang="ko-KR" sz="1200" dirty="0"/>
              <a:t>). </a:t>
            </a:r>
            <a:r>
              <a:rPr lang="ko-KR" altLang="en-US" sz="1200" dirty="0"/>
              <a:t>따라서</a:t>
            </a:r>
            <a:r>
              <a:rPr lang="en-US" altLang="ko-KR" sz="1200" dirty="0"/>
              <a:t>, </a:t>
            </a:r>
            <a:r>
              <a:rPr lang="ko-KR" altLang="en-US" sz="1200" dirty="0"/>
              <a:t>피고가 이 사건 심결절차를 통하여 확인을 받으려고 한 대상인 피고가 실제 실시하고 있는 제품과 피고가 특정한 확인대상발명이 사실적 관점에서 같지 않다면</a:t>
            </a:r>
            <a:r>
              <a:rPr lang="en-US" altLang="ko-KR" sz="1200" dirty="0"/>
              <a:t>, </a:t>
            </a:r>
            <a:r>
              <a:rPr lang="ko-KR" altLang="en-US" sz="1200" dirty="0"/>
              <a:t>앞서 본 법리에 따라 특허심판원으로서는 피고가 특정한 확인대상발명이 피고가 실제 실시하고 있는 발명과 다름을 지적하여 이를 보정할 수 있는 기회를 부여하여야 하고</a:t>
            </a:r>
            <a:r>
              <a:rPr lang="en-US" altLang="ko-KR" sz="1200" dirty="0"/>
              <a:t>, </a:t>
            </a:r>
            <a:r>
              <a:rPr lang="ko-KR" altLang="en-US" sz="1200" dirty="0"/>
              <a:t>피고가 그러한 기회를 제공받았음에도 이를 보정하지 않았다면 장차 위와 같이 잘못 특정된 확인대상발명이 이 사건 특허발명의 권리범위에 속하지 않는다는 </a:t>
            </a:r>
            <a:r>
              <a:rPr lang="ko-KR" altLang="en-US" sz="1200" dirty="0" err="1"/>
              <a:t>심결이</a:t>
            </a:r>
            <a:r>
              <a:rPr lang="ko-KR" altLang="en-US" sz="1200" dirty="0"/>
              <a:t> 확정되더라도 그 </a:t>
            </a:r>
            <a:r>
              <a:rPr lang="ko-KR" altLang="en-US" sz="1200" dirty="0" err="1"/>
              <a:t>기판력이</a:t>
            </a:r>
            <a:r>
              <a:rPr lang="ko-KR" altLang="en-US" sz="1200" dirty="0"/>
              <a:t> 확인대상발명과 다른 피고가 실제 실시하고 있는 발명에 미친다고 볼 수 없으므로 이를 각하하여야 할 것이다</a:t>
            </a:r>
            <a:r>
              <a:rPr lang="en-US" altLang="ko-KR" sz="1200" dirty="0"/>
              <a:t>(</a:t>
            </a:r>
            <a:r>
              <a:rPr lang="ko-KR" altLang="en-US" sz="1200" dirty="0"/>
              <a:t>대법원 </a:t>
            </a:r>
            <a:r>
              <a:rPr lang="en-US" altLang="ko-KR" sz="1200" dirty="0"/>
              <a:t>1996. 3. 8. </a:t>
            </a:r>
            <a:r>
              <a:rPr lang="ko-KR" altLang="en-US" sz="1200" dirty="0"/>
              <a:t>선고 </a:t>
            </a:r>
            <a:r>
              <a:rPr lang="en-US" altLang="ko-KR" sz="1200" dirty="0"/>
              <a:t>94</a:t>
            </a:r>
            <a:r>
              <a:rPr lang="ko-KR" altLang="en-US" sz="1200" dirty="0"/>
              <a:t>후</a:t>
            </a:r>
            <a:r>
              <a:rPr lang="en-US" altLang="ko-KR" sz="1200" dirty="0"/>
              <a:t>2247 </a:t>
            </a:r>
            <a:r>
              <a:rPr lang="ko-KR" altLang="en-US" sz="1200" dirty="0"/>
              <a:t>판결 참조</a:t>
            </a:r>
            <a:r>
              <a:rPr lang="en-US" altLang="ko-KR" sz="1200" dirty="0"/>
              <a:t>). </a:t>
            </a:r>
            <a:r>
              <a:rPr lang="ko-KR" altLang="en-US" sz="1200" dirty="0"/>
              <a:t>그리고 특허심판원이 위와 같이 보정기회를 부여하여야 함에도 그러한 기회를 부여함이 없이 실제 실시하고 있는 발명과 다른 확인대상발명에 관하여 </a:t>
            </a:r>
            <a:r>
              <a:rPr lang="ko-KR" altLang="en-US" sz="1200" dirty="0" err="1"/>
              <a:t>심결을</a:t>
            </a:r>
            <a:r>
              <a:rPr lang="ko-KR" altLang="en-US" sz="1200" dirty="0"/>
              <a:t> 하였다면 그러한 </a:t>
            </a:r>
            <a:r>
              <a:rPr lang="ko-KR" altLang="en-US" sz="1200" dirty="0" err="1"/>
              <a:t>심결은</a:t>
            </a:r>
            <a:r>
              <a:rPr lang="ko-KR" altLang="en-US" sz="1200" dirty="0"/>
              <a:t> 심판대상이 아닌 발명을 심판한 잘못이 있어 위법하고</a:t>
            </a:r>
            <a:r>
              <a:rPr lang="en-US" altLang="ko-KR" sz="1200" dirty="0"/>
              <a:t>, </a:t>
            </a:r>
            <a:r>
              <a:rPr lang="ko-KR" altLang="en-US" sz="1200" dirty="0"/>
              <a:t>이후 </a:t>
            </a:r>
            <a:r>
              <a:rPr lang="ko-KR" altLang="en-US" sz="1200" dirty="0">
                <a:highlight>
                  <a:srgbClr val="FFFF00"/>
                </a:highlight>
              </a:rPr>
              <a:t>그 </a:t>
            </a:r>
            <a:r>
              <a:rPr lang="ko-KR" altLang="en-US" sz="1200" dirty="0" err="1">
                <a:highlight>
                  <a:srgbClr val="FFFF00"/>
                </a:highlight>
              </a:rPr>
              <a:t>심결의</a:t>
            </a:r>
            <a:r>
              <a:rPr lang="ko-KR" altLang="en-US" sz="1200" dirty="0">
                <a:highlight>
                  <a:srgbClr val="FFFF00"/>
                </a:highlight>
              </a:rPr>
              <a:t> 취소를 구하는 소송절차에서 사후적으로 </a:t>
            </a:r>
            <a:r>
              <a:rPr lang="ko-KR" altLang="en-US" sz="1200" dirty="0" err="1">
                <a:highlight>
                  <a:srgbClr val="FFFF00"/>
                </a:highlight>
              </a:rPr>
              <a:t>심결에서</a:t>
            </a:r>
            <a:r>
              <a:rPr lang="ko-KR" altLang="en-US" sz="1200" dirty="0">
                <a:highlight>
                  <a:srgbClr val="FFFF00"/>
                </a:highlight>
              </a:rPr>
              <a:t> 승소한 일방 당사자가 위 확인대상발명에 관하여도 확인을 구할 의사가 있다는 의사를 표시하였다고 하여 그 하자가 치유된다고 보기도 어렵다</a:t>
            </a:r>
            <a:r>
              <a:rPr lang="en-US" altLang="ko-KR" sz="1200" dirty="0">
                <a:highlight>
                  <a:srgbClr val="FFFF00"/>
                </a:highlight>
              </a:rPr>
              <a:t>(</a:t>
            </a:r>
            <a:r>
              <a:rPr lang="ko-KR" altLang="en-US" sz="1200" dirty="0">
                <a:highlight>
                  <a:srgbClr val="FFFF00"/>
                </a:highlight>
              </a:rPr>
              <a:t>특허법원 </a:t>
            </a:r>
            <a:r>
              <a:rPr lang="en-US" altLang="ko-KR" sz="1200" dirty="0">
                <a:highlight>
                  <a:srgbClr val="FFFF00"/>
                </a:highlight>
              </a:rPr>
              <a:t>2018. 8. 24. </a:t>
            </a:r>
            <a:r>
              <a:rPr lang="ko-KR" altLang="en-US" sz="1200" dirty="0">
                <a:highlight>
                  <a:srgbClr val="FFFF00"/>
                </a:highlight>
              </a:rPr>
              <a:t>선고 </a:t>
            </a:r>
            <a:r>
              <a:rPr lang="en-US" altLang="ko-KR" sz="1200" dirty="0">
                <a:highlight>
                  <a:srgbClr val="FFFF00"/>
                </a:highlight>
              </a:rPr>
              <a:t>2018</a:t>
            </a:r>
            <a:r>
              <a:rPr lang="ko-KR" altLang="en-US" sz="1200" dirty="0">
                <a:highlight>
                  <a:srgbClr val="FFFF00"/>
                </a:highlight>
              </a:rPr>
              <a:t>허</a:t>
            </a:r>
            <a:r>
              <a:rPr lang="en-US" altLang="ko-KR" sz="1200" dirty="0">
                <a:highlight>
                  <a:srgbClr val="FFFF00"/>
                </a:highlight>
              </a:rPr>
              <a:t>1301).</a:t>
            </a:r>
            <a:endParaRPr lang="ko-KR" altLang="en-US" sz="1200" dirty="0">
              <a:highlight>
                <a:srgbClr val="FFFF00"/>
              </a:highlight>
            </a:endParaRPr>
          </a:p>
        </p:txBody>
      </p:sp>
      <p:sp>
        <p:nvSpPr>
          <p:cNvPr id="34" name="직사각형 33">
            <a:extLst>
              <a:ext uri="{FF2B5EF4-FFF2-40B4-BE49-F238E27FC236}">
                <a16:creationId xmlns:a16="http://schemas.microsoft.com/office/drawing/2014/main" id="{6B901920-60BF-496A-96A7-86903BF1F479}"/>
              </a:ext>
            </a:extLst>
          </p:cNvPr>
          <p:cNvSpPr/>
          <p:nvPr/>
        </p:nvSpPr>
        <p:spPr>
          <a:xfrm>
            <a:off x="4889500" y="5577117"/>
            <a:ext cx="1206500" cy="432749"/>
          </a:xfrm>
          <a:prstGeom prst="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확인대상발명</a:t>
            </a:r>
          </a:p>
        </p:txBody>
      </p:sp>
      <p:sp>
        <p:nvSpPr>
          <p:cNvPr id="35" name="직사각형 34">
            <a:extLst>
              <a:ext uri="{FF2B5EF4-FFF2-40B4-BE49-F238E27FC236}">
                <a16:creationId xmlns:a16="http://schemas.microsoft.com/office/drawing/2014/main" id="{358D314D-838F-4845-A198-3E7E5506547A}"/>
              </a:ext>
            </a:extLst>
          </p:cNvPr>
          <p:cNvSpPr/>
          <p:nvPr/>
        </p:nvSpPr>
        <p:spPr>
          <a:xfrm>
            <a:off x="8064501" y="5576008"/>
            <a:ext cx="1676400" cy="433858"/>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실시제품</a:t>
            </a:r>
          </a:p>
        </p:txBody>
      </p:sp>
      <p:cxnSp>
        <p:nvCxnSpPr>
          <p:cNvPr id="36" name="직선 연결선 35">
            <a:extLst>
              <a:ext uri="{FF2B5EF4-FFF2-40B4-BE49-F238E27FC236}">
                <a16:creationId xmlns:a16="http://schemas.microsoft.com/office/drawing/2014/main" id="{000C3FE2-835B-436A-BFB1-B94694883392}"/>
              </a:ext>
            </a:extLst>
          </p:cNvPr>
          <p:cNvCxnSpPr>
            <a:cxnSpLocks/>
            <a:stCxn id="34" idx="3"/>
            <a:endCxn id="35" idx="1"/>
          </p:cNvCxnSpPr>
          <p:nvPr/>
        </p:nvCxnSpPr>
        <p:spPr>
          <a:xfrm flipV="1">
            <a:off x="6096000" y="5792937"/>
            <a:ext cx="1968501" cy="55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4296FFFC-F5BD-4C45-9C41-0BD272DB6C2F}"/>
              </a:ext>
            </a:extLst>
          </p:cNvPr>
          <p:cNvSpPr txBox="1"/>
          <p:nvPr/>
        </p:nvSpPr>
        <p:spPr>
          <a:xfrm>
            <a:off x="6456628" y="5218971"/>
            <a:ext cx="1417376" cy="523220"/>
          </a:xfrm>
          <a:prstGeom prst="rect">
            <a:avLst/>
          </a:prstGeom>
          <a:noFill/>
        </p:spPr>
        <p:txBody>
          <a:bodyPr wrap="none" rtlCol="0">
            <a:spAutoFit/>
          </a:bodyPr>
          <a:lstStyle/>
          <a:p>
            <a:pPr algn="ctr"/>
            <a:r>
              <a:rPr lang="ko-KR" altLang="en-US" sz="1400" dirty="0"/>
              <a:t>사실적 관점 동일</a:t>
            </a:r>
            <a:br>
              <a:rPr lang="en-US" altLang="ko-KR" sz="1400" dirty="0"/>
            </a:br>
            <a:r>
              <a:rPr lang="en-US" altLang="ko-KR" sz="1400" dirty="0"/>
              <a:t>(</a:t>
            </a:r>
            <a:r>
              <a:rPr lang="ko-KR" altLang="en-US" sz="1400" dirty="0"/>
              <a:t>요지 동일 </a:t>
            </a:r>
            <a:r>
              <a:rPr lang="en-US" altLang="ko-KR" sz="1400" dirty="0"/>
              <a:t>X)</a:t>
            </a:r>
            <a:endParaRPr lang="ko-KR" altLang="en-US" sz="1400" dirty="0"/>
          </a:p>
        </p:txBody>
      </p:sp>
      <p:sp>
        <p:nvSpPr>
          <p:cNvPr id="19" name="직사각형 18">
            <a:extLst>
              <a:ext uri="{FF2B5EF4-FFF2-40B4-BE49-F238E27FC236}">
                <a16:creationId xmlns:a16="http://schemas.microsoft.com/office/drawing/2014/main" id="{2914FB09-A006-423D-83B4-614940BE87E8}"/>
              </a:ext>
            </a:extLst>
          </p:cNvPr>
          <p:cNvSpPr/>
          <p:nvPr/>
        </p:nvSpPr>
        <p:spPr>
          <a:xfrm>
            <a:off x="8064501" y="6200720"/>
            <a:ext cx="1676400" cy="433858"/>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실시예정제품</a:t>
            </a:r>
          </a:p>
        </p:txBody>
      </p:sp>
      <p:cxnSp>
        <p:nvCxnSpPr>
          <p:cNvPr id="16" name="연결선: 꺾임 15">
            <a:extLst>
              <a:ext uri="{FF2B5EF4-FFF2-40B4-BE49-F238E27FC236}">
                <a16:creationId xmlns:a16="http://schemas.microsoft.com/office/drawing/2014/main" id="{BB850BEE-AC39-41BE-BB5C-4DC9D567514F}"/>
              </a:ext>
            </a:extLst>
          </p:cNvPr>
          <p:cNvCxnSpPr>
            <a:stCxn id="34" idx="2"/>
            <a:endCxn id="19" idx="1"/>
          </p:cNvCxnSpPr>
          <p:nvPr/>
        </p:nvCxnSpPr>
        <p:spPr>
          <a:xfrm rot="16200000" flipH="1">
            <a:off x="6574734" y="4927881"/>
            <a:ext cx="407783" cy="2571751"/>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BF6BA4D3-8C07-4C95-A27D-BDD64F08468E}"/>
              </a:ext>
            </a:extLst>
          </p:cNvPr>
          <p:cNvSpPr txBox="1"/>
          <p:nvPr/>
        </p:nvSpPr>
        <p:spPr>
          <a:xfrm>
            <a:off x="6643378" y="6072535"/>
            <a:ext cx="1043876" cy="307777"/>
          </a:xfrm>
          <a:prstGeom prst="rect">
            <a:avLst/>
          </a:prstGeom>
          <a:noFill/>
        </p:spPr>
        <p:txBody>
          <a:bodyPr wrap="none" rtlCol="0">
            <a:spAutoFit/>
          </a:bodyPr>
          <a:lstStyle/>
          <a:p>
            <a:pPr algn="ctr"/>
            <a:r>
              <a:rPr lang="ko-KR" altLang="en-US" sz="1400"/>
              <a:t>폭넓게 인정</a:t>
            </a:r>
            <a:endParaRPr lang="ko-KR" altLang="en-US" sz="1400" dirty="0"/>
          </a:p>
        </p:txBody>
      </p:sp>
      <p:cxnSp>
        <p:nvCxnSpPr>
          <p:cNvPr id="18" name="연결선: 꺾임 17">
            <a:extLst>
              <a:ext uri="{FF2B5EF4-FFF2-40B4-BE49-F238E27FC236}">
                <a16:creationId xmlns:a16="http://schemas.microsoft.com/office/drawing/2014/main" id="{73CCA2A4-D5D7-4315-A955-D464325C1E58}"/>
              </a:ext>
            </a:extLst>
          </p:cNvPr>
          <p:cNvCxnSpPr>
            <a:stCxn id="35" idx="3"/>
            <a:endCxn id="19" idx="3"/>
          </p:cNvCxnSpPr>
          <p:nvPr/>
        </p:nvCxnSpPr>
        <p:spPr>
          <a:xfrm>
            <a:off x="9740901" y="5792937"/>
            <a:ext cx="12700" cy="624712"/>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7A8EF65D-CFDA-47E3-9830-B11DD32130A9}"/>
              </a:ext>
            </a:extLst>
          </p:cNvPr>
          <p:cNvSpPr txBox="1"/>
          <p:nvPr/>
        </p:nvSpPr>
        <p:spPr>
          <a:xfrm>
            <a:off x="9997370" y="5926450"/>
            <a:ext cx="1952779" cy="307777"/>
          </a:xfrm>
          <a:prstGeom prst="rect">
            <a:avLst/>
          </a:prstGeom>
          <a:noFill/>
        </p:spPr>
        <p:txBody>
          <a:bodyPr wrap="none" rtlCol="0">
            <a:spAutoFit/>
          </a:bodyPr>
          <a:lstStyle/>
          <a:p>
            <a:pPr algn="ctr"/>
            <a:r>
              <a:rPr lang="ko-KR" altLang="en-US" sz="1400" dirty="0" err="1"/>
              <a:t>심결</a:t>
            </a:r>
            <a:r>
              <a:rPr lang="ko-KR" altLang="en-US" sz="1400" dirty="0"/>
              <a:t> 시까지 명확히 구분</a:t>
            </a:r>
          </a:p>
        </p:txBody>
      </p:sp>
    </p:spTree>
    <p:extLst>
      <p:ext uri="{BB962C8B-B14F-4D97-AF65-F5344CB8AC3E}">
        <p14:creationId xmlns:p14="http://schemas.microsoft.com/office/powerpoint/2010/main" val="4025938860"/>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solidFill>
                  <a:srgbClr val="525252"/>
                </a:solidFill>
              </a:rPr>
              <a:t>확인대상발명 </a:t>
            </a:r>
            <a:r>
              <a:rPr lang="en-US" altLang="ko-KR" dirty="0">
                <a:solidFill>
                  <a:srgbClr val="525252"/>
                </a:solidFill>
              </a:rPr>
              <a:t>vs </a:t>
            </a:r>
            <a:r>
              <a:rPr lang="ko-KR" altLang="en-US" dirty="0">
                <a:solidFill>
                  <a:srgbClr val="525252"/>
                </a:solidFill>
              </a:rPr>
              <a:t>실시</a:t>
            </a:r>
            <a:r>
              <a:rPr lang="en-US" altLang="ko-KR" dirty="0">
                <a:solidFill>
                  <a:srgbClr val="525252"/>
                </a:solidFill>
              </a:rPr>
              <a:t>(</a:t>
            </a:r>
            <a:r>
              <a:rPr lang="ko-KR" altLang="en-US" dirty="0">
                <a:solidFill>
                  <a:srgbClr val="525252"/>
                </a:solidFill>
              </a:rPr>
              <a:t>예정</a:t>
            </a:r>
            <a:r>
              <a:rPr lang="en-US" altLang="ko-KR" dirty="0">
                <a:solidFill>
                  <a:srgbClr val="525252"/>
                </a:solidFill>
              </a:rPr>
              <a:t>)</a:t>
            </a:r>
            <a:r>
              <a:rPr lang="ko-KR" altLang="en-US" dirty="0">
                <a:solidFill>
                  <a:srgbClr val="525252"/>
                </a:solidFill>
              </a:rPr>
              <a:t>제품</a:t>
            </a:r>
            <a:r>
              <a:rPr lang="en-US" altLang="ko-KR" dirty="0">
                <a:solidFill>
                  <a:srgbClr val="525252"/>
                </a:solidFill>
              </a:rPr>
              <a:t>: </a:t>
            </a:r>
            <a:r>
              <a:rPr lang="ko-KR" altLang="en-US" dirty="0">
                <a:solidFill>
                  <a:srgbClr val="525252"/>
                </a:solidFill>
              </a:rPr>
              <a:t>다른 경우</a:t>
            </a:r>
            <a:r>
              <a:rPr lang="en-US" altLang="ko-KR" dirty="0">
                <a:solidFill>
                  <a:srgbClr val="525252"/>
                </a:solidFill>
              </a:rPr>
              <a:t> </a:t>
            </a:r>
            <a:endParaRPr lang="ko-KR" altLang="en-US" dirty="0">
              <a:solidFill>
                <a:srgbClr val="525252"/>
              </a:solidFill>
            </a:endParaRP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25" name="직선 연결선 24">
            <a:extLst>
              <a:ext uri="{FF2B5EF4-FFF2-40B4-BE49-F238E27FC236}">
                <a16:creationId xmlns:a16="http://schemas.microsoft.com/office/drawing/2014/main" id="{7672B6BB-2D77-4E43-8B42-06D030FA91F0}"/>
              </a:ext>
            </a:extLst>
          </p:cNvPr>
          <p:cNvCxnSpPr/>
          <p:nvPr/>
        </p:nvCxnSpPr>
        <p:spPr>
          <a:xfrm>
            <a:off x="0" y="2526558"/>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직사각형 25">
            <a:extLst>
              <a:ext uri="{FF2B5EF4-FFF2-40B4-BE49-F238E27FC236}">
                <a16:creationId xmlns:a16="http://schemas.microsoft.com/office/drawing/2014/main" id="{635ED18D-A35C-4094-A735-ACF778B95324}"/>
              </a:ext>
            </a:extLst>
          </p:cNvPr>
          <p:cNvSpPr/>
          <p:nvPr/>
        </p:nvSpPr>
        <p:spPr>
          <a:xfrm>
            <a:off x="232372" y="1357007"/>
            <a:ext cx="11681987" cy="954107"/>
          </a:xfrm>
          <a:prstGeom prst="rect">
            <a:avLst/>
          </a:prstGeom>
        </p:spPr>
        <p:txBody>
          <a:bodyPr wrap="square">
            <a:spAutoFit/>
          </a:bodyPr>
          <a:lstStyle/>
          <a:p>
            <a:pPr algn="just" fontAlgn="base"/>
            <a:r>
              <a:rPr lang="ko-KR" altLang="en-US" sz="1400" dirty="0"/>
              <a:t>권리범위확인심판은 권리의 효력이 미치는 범위를 대상물과의 관계에서 구체적으로 확정하는 것이어서 특허권 권리범위확인심판 청구의 심판대상은 심판청구인이 그 청구에서 심판의 대상으로 삼은 구체적인 발명이다</a:t>
            </a:r>
            <a:r>
              <a:rPr lang="en-US" altLang="ko-KR" sz="1400" dirty="0"/>
              <a:t>. </a:t>
            </a:r>
            <a:r>
              <a:rPr lang="ko-KR" altLang="en-US" sz="1400" dirty="0">
                <a:highlight>
                  <a:srgbClr val="FFFF00"/>
                </a:highlight>
              </a:rPr>
              <a:t>소극적 권리범위확인심판에서는 심판청구인이 현실적으로 실시하는 기술이 심판청구에서 심판의 대상으로 삼은 구체적인 발명과 다르다고 하더라도 심판청구인이 특정한 발명이 실시가능성이 없을 경우 그 청구의 적법 여부가 문제로 될 수 있을 뿐이고</a:t>
            </a:r>
            <a:r>
              <a:rPr lang="en-US" altLang="ko-KR" sz="1400" dirty="0">
                <a:highlight>
                  <a:srgbClr val="FFFF00"/>
                </a:highlight>
              </a:rPr>
              <a:t>, </a:t>
            </a:r>
            <a:r>
              <a:rPr lang="ko-KR" altLang="en-US" sz="1400" dirty="0">
                <a:highlight>
                  <a:srgbClr val="FFFF00"/>
                </a:highlight>
              </a:rPr>
              <a:t>여전히 심판의 대상은 심판청구인이 특정한 확인대상 발명으로</a:t>
            </a:r>
            <a:r>
              <a:rPr lang="en-US" altLang="ko-KR" sz="1400" dirty="0">
                <a:highlight>
                  <a:srgbClr val="FFFF00"/>
                </a:highlight>
              </a:rPr>
              <a:t>, </a:t>
            </a:r>
            <a:r>
              <a:rPr lang="ko-KR" altLang="en-US" sz="1400" dirty="0">
                <a:highlight>
                  <a:srgbClr val="FFFF00"/>
                </a:highlight>
              </a:rPr>
              <a:t>이를 기준으로 특허발명과 대비하여 그 권리범위에 속하는지 여부를 판단하여야 한다</a:t>
            </a:r>
            <a:r>
              <a:rPr lang="en-US" altLang="ko-KR" sz="1400" dirty="0">
                <a:highlight>
                  <a:srgbClr val="FFFF00"/>
                </a:highlight>
              </a:rPr>
              <a:t>.</a:t>
            </a:r>
            <a:endParaRPr lang="ko-KR" altLang="en-US" sz="1400" dirty="0">
              <a:highlight>
                <a:srgbClr val="FFFF00"/>
              </a:highlight>
            </a:endParaRPr>
          </a:p>
        </p:txBody>
      </p:sp>
      <p:sp>
        <p:nvSpPr>
          <p:cNvPr id="27" name="모서리가 둥근 직사각형 10">
            <a:extLst>
              <a:ext uri="{FF2B5EF4-FFF2-40B4-BE49-F238E27FC236}">
                <a16:creationId xmlns:a16="http://schemas.microsoft.com/office/drawing/2014/main" id="{45EA68D6-B151-4236-8FC3-05A69090F573}"/>
              </a:ext>
            </a:extLst>
          </p:cNvPr>
          <p:cNvSpPr/>
          <p:nvPr/>
        </p:nvSpPr>
        <p:spPr bwMode="auto">
          <a:xfrm>
            <a:off x="378418" y="1002199"/>
            <a:ext cx="5180410"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2023. 1. 12. </a:t>
            </a:r>
            <a:r>
              <a:rPr lang="ko-KR" altLang="en-US" sz="1400" dirty="0"/>
              <a:t>선고 </a:t>
            </a:r>
            <a:r>
              <a:rPr lang="en-US" altLang="ko-KR" sz="1400" dirty="0"/>
              <a:t>2020</a:t>
            </a:r>
            <a:r>
              <a:rPr lang="ko-KR" altLang="en-US" sz="1400" dirty="0"/>
              <a:t>후</a:t>
            </a:r>
            <a:r>
              <a:rPr lang="en-US" altLang="ko-KR" sz="1400" dirty="0"/>
              <a:t>11813 </a:t>
            </a:r>
            <a:r>
              <a:rPr lang="ko-KR" altLang="en-US" sz="1400" dirty="0"/>
              <a:t>판결 </a:t>
            </a:r>
            <a:r>
              <a:rPr lang="en-US" altLang="ko-KR" sz="1400" dirty="0"/>
              <a:t>【</a:t>
            </a:r>
            <a:r>
              <a:rPr lang="ko-KR" altLang="en-US" sz="1400" dirty="0"/>
              <a:t>권리범위확인</a:t>
            </a:r>
            <a:r>
              <a:rPr lang="en-US" altLang="ko-KR" sz="1400" dirty="0"/>
              <a:t>(</a:t>
            </a:r>
            <a:r>
              <a:rPr lang="ko-KR" altLang="en-US" sz="1400" dirty="0" err="1"/>
              <a:t>특</a:t>
            </a:r>
            <a:r>
              <a:rPr lang="en-US" altLang="ko-KR" sz="1400" dirty="0"/>
              <a:t>)】</a:t>
            </a:r>
          </a:p>
        </p:txBody>
      </p:sp>
      <p:sp>
        <p:nvSpPr>
          <p:cNvPr id="28" name="Line 5">
            <a:extLst>
              <a:ext uri="{FF2B5EF4-FFF2-40B4-BE49-F238E27FC236}">
                <a16:creationId xmlns:a16="http://schemas.microsoft.com/office/drawing/2014/main" id="{13F99ADD-6D23-4CE0-87DA-F8CCBC916BF0}"/>
              </a:ext>
            </a:extLst>
          </p:cNvPr>
          <p:cNvSpPr>
            <a:spLocks noChangeShapeType="1"/>
          </p:cNvSpPr>
          <p:nvPr/>
        </p:nvSpPr>
        <p:spPr bwMode="auto">
          <a:xfrm>
            <a:off x="297530" y="2839318"/>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9" name="TextBox 28">
            <a:extLst>
              <a:ext uri="{FF2B5EF4-FFF2-40B4-BE49-F238E27FC236}">
                <a16:creationId xmlns:a16="http://schemas.microsoft.com/office/drawing/2014/main" id="{06755A33-8626-4A38-968C-F28C1EF81A51}"/>
              </a:ext>
            </a:extLst>
          </p:cNvPr>
          <p:cNvSpPr txBox="1"/>
          <p:nvPr/>
        </p:nvSpPr>
        <p:spPr>
          <a:xfrm>
            <a:off x="226510" y="3095493"/>
            <a:ext cx="1231432"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乙이 </a:t>
            </a:r>
            <a:r>
              <a:rPr lang="en-US" altLang="ko-KR" sz="1200" dirty="0">
                <a:solidFill>
                  <a:schemeClr val="tx1"/>
                </a:solidFill>
                <a:latin typeface="+mn-ea"/>
              </a:rPr>
              <a:t>A </a:t>
            </a:r>
            <a:r>
              <a:rPr lang="ko-KR" altLang="en-US" sz="1200" dirty="0">
                <a:solidFill>
                  <a:schemeClr val="tx1"/>
                </a:solidFill>
                <a:latin typeface="+mn-ea"/>
              </a:rPr>
              <a:t>실시</a:t>
            </a:r>
          </a:p>
        </p:txBody>
      </p:sp>
      <p:sp>
        <p:nvSpPr>
          <p:cNvPr id="30" name="타원 29">
            <a:extLst>
              <a:ext uri="{FF2B5EF4-FFF2-40B4-BE49-F238E27FC236}">
                <a16:creationId xmlns:a16="http://schemas.microsoft.com/office/drawing/2014/main" id="{C4876FE4-DC4D-4474-8926-D22632F6469D}"/>
              </a:ext>
            </a:extLst>
          </p:cNvPr>
          <p:cNvSpPr/>
          <p:nvPr/>
        </p:nvSpPr>
        <p:spPr>
          <a:xfrm>
            <a:off x="764856" y="274538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1" name="직선 연결선 30">
            <a:extLst>
              <a:ext uri="{FF2B5EF4-FFF2-40B4-BE49-F238E27FC236}">
                <a16:creationId xmlns:a16="http://schemas.microsoft.com/office/drawing/2014/main" id="{CA79FA6F-3539-499D-989D-4B9AAF9734FC}"/>
              </a:ext>
            </a:extLst>
          </p:cNvPr>
          <p:cNvCxnSpPr>
            <a:cxnSpLocks/>
            <a:stCxn id="29" idx="0"/>
            <a:endCxn id="30" idx="4"/>
          </p:cNvCxnSpPr>
          <p:nvPr/>
        </p:nvCxnSpPr>
        <p:spPr>
          <a:xfrm flipH="1" flipV="1">
            <a:off x="842225" y="290672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19ADD59A-5854-41FD-8CBF-9BB585450351}"/>
              </a:ext>
            </a:extLst>
          </p:cNvPr>
          <p:cNvSpPr txBox="1"/>
          <p:nvPr/>
        </p:nvSpPr>
        <p:spPr>
          <a:xfrm>
            <a:off x="3878197" y="3095493"/>
            <a:ext cx="127365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판단</a:t>
            </a:r>
          </a:p>
        </p:txBody>
      </p:sp>
      <p:sp>
        <p:nvSpPr>
          <p:cNvPr id="40" name="타원 39">
            <a:extLst>
              <a:ext uri="{FF2B5EF4-FFF2-40B4-BE49-F238E27FC236}">
                <a16:creationId xmlns:a16="http://schemas.microsoft.com/office/drawing/2014/main" id="{4FEC46CC-5A16-4830-87C4-C9E0FA578078}"/>
              </a:ext>
            </a:extLst>
          </p:cNvPr>
          <p:cNvSpPr/>
          <p:nvPr/>
        </p:nvSpPr>
        <p:spPr>
          <a:xfrm>
            <a:off x="4437652" y="2745384"/>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1" name="직선 연결선 40">
            <a:extLst>
              <a:ext uri="{FF2B5EF4-FFF2-40B4-BE49-F238E27FC236}">
                <a16:creationId xmlns:a16="http://schemas.microsoft.com/office/drawing/2014/main" id="{BE571661-1C89-4B0D-9127-9A44B4D417D7}"/>
              </a:ext>
            </a:extLst>
          </p:cNvPr>
          <p:cNvCxnSpPr>
            <a:cxnSpLocks/>
            <a:stCxn id="39" idx="0"/>
            <a:endCxn id="40" idx="4"/>
          </p:cNvCxnSpPr>
          <p:nvPr/>
        </p:nvCxnSpPr>
        <p:spPr>
          <a:xfrm flipH="1" flipV="1">
            <a:off x="4515021" y="290672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직선 연결선 42">
            <a:extLst>
              <a:ext uri="{FF2B5EF4-FFF2-40B4-BE49-F238E27FC236}">
                <a16:creationId xmlns:a16="http://schemas.microsoft.com/office/drawing/2014/main" id="{64C545D8-FCC6-49AA-A378-6C492CCB5C2F}"/>
              </a:ext>
            </a:extLst>
          </p:cNvPr>
          <p:cNvCxnSpPr>
            <a:cxnSpLocks/>
            <a:endCxn id="39" idx="2"/>
          </p:cNvCxnSpPr>
          <p:nvPr/>
        </p:nvCxnSpPr>
        <p:spPr>
          <a:xfrm flipV="1">
            <a:off x="4515022" y="3372492"/>
            <a:ext cx="0" cy="41413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5224E4B5-4D84-488F-8D06-D04D26750AFE}"/>
              </a:ext>
            </a:extLst>
          </p:cNvPr>
          <p:cNvSpPr txBox="1"/>
          <p:nvPr/>
        </p:nvSpPr>
        <p:spPr>
          <a:xfrm>
            <a:off x="1722295" y="3095493"/>
            <a:ext cx="1373686" cy="646331"/>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소극적 권리범위확인심판 청구</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甲 피청구인</a:t>
            </a:r>
            <a:r>
              <a:rPr lang="en-US" altLang="ko-KR" sz="1200" dirty="0">
                <a:solidFill>
                  <a:schemeClr val="tx1"/>
                </a:solidFill>
                <a:latin typeface="+mn-ea"/>
              </a:rPr>
              <a:t>)</a:t>
            </a:r>
            <a:endParaRPr lang="ko-KR" altLang="en-US" sz="1200" dirty="0">
              <a:solidFill>
                <a:schemeClr val="tx1"/>
              </a:solidFill>
              <a:latin typeface="+mn-ea"/>
            </a:endParaRPr>
          </a:p>
        </p:txBody>
      </p:sp>
      <p:sp>
        <p:nvSpPr>
          <p:cNvPr id="63" name="타원 62">
            <a:extLst>
              <a:ext uri="{FF2B5EF4-FFF2-40B4-BE49-F238E27FC236}">
                <a16:creationId xmlns:a16="http://schemas.microsoft.com/office/drawing/2014/main" id="{120805FA-2C23-44F4-9B48-B348D302DC13}"/>
              </a:ext>
            </a:extLst>
          </p:cNvPr>
          <p:cNvSpPr/>
          <p:nvPr/>
        </p:nvSpPr>
        <p:spPr>
          <a:xfrm>
            <a:off x="2331768" y="274538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4" name="직선 연결선 63">
            <a:extLst>
              <a:ext uri="{FF2B5EF4-FFF2-40B4-BE49-F238E27FC236}">
                <a16:creationId xmlns:a16="http://schemas.microsoft.com/office/drawing/2014/main" id="{E6888D3D-C256-43F6-8C1E-4DAA857AC472}"/>
              </a:ext>
            </a:extLst>
          </p:cNvPr>
          <p:cNvCxnSpPr>
            <a:cxnSpLocks/>
            <a:stCxn id="62" idx="0"/>
            <a:endCxn id="63" idx="4"/>
          </p:cNvCxnSpPr>
          <p:nvPr/>
        </p:nvCxnSpPr>
        <p:spPr>
          <a:xfrm flipH="1" flipV="1">
            <a:off x="2409137" y="290672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B624D6CD-D95F-41B4-A82B-D647DD332E80}"/>
              </a:ext>
            </a:extLst>
          </p:cNvPr>
          <p:cNvSpPr txBox="1"/>
          <p:nvPr/>
        </p:nvSpPr>
        <p:spPr>
          <a:xfrm>
            <a:off x="1706321" y="4154275"/>
            <a:ext cx="1405632"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확인대상발명을</a:t>
            </a:r>
            <a:endParaRPr lang="en-US" altLang="ko-KR" sz="1200" dirty="0">
              <a:solidFill>
                <a:schemeClr val="tx1"/>
              </a:solidFill>
              <a:latin typeface="+mn-ea"/>
            </a:endParaRPr>
          </a:p>
          <a:p>
            <a:pPr algn="ctr"/>
            <a:r>
              <a:rPr lang="en-US" altLang="ko-KR" sz="1200" dirty="0">
                <a:solidFill>
                  <a:schemeClr val="tx1"/>
                </a:solidFill>
                <a:latin typeface="+mn-ea"/>
              </a:rPr>
              <a:t>B</a:t>
            </a:r>
            <a:r>
              <a:rPr lang="ko-KR" altLang="en-US" sz="1200" dirty="0">
                <a:solidFill>
                  <a:schemeClr val="tx1"/>
                </a:solidFill>
                <a:latin typeface="+mn-ea"/>
              </a:rPr>
              <a:t>로 특정</a:t>
            </a:r>
          </a:p>
        </p:txBody>
      </p:sp>
      <p:cxnSp>
        <p:nvCxnSpPr>
          <p:cNvPr id="66" name="직선 연결선 65">
            <a:extLst>
              <a:ext uri="{FF2B5EF4-FFF2-40B4-BE49-F238E27FC236}">
                <a16:creationId xmlns:a16="http://schemas.microsoft.com/office/drawing/2014/main" id="{C6EB0FD0-6FCB-4C65-8E71-2145B0BCB43A}"/>
              </a:ext>
            </a:extLst>
          </p:cNvPr>
          <p:cNvCxnSpPr>
            <a:cxnSpLocks/>
            <a:stCxn id="65" idx="0"/>
            <a:endCxn id="62" idx="2"/>
          </p:cNvCxnSpPr>
          <p:nvPr/>
        </p:nvCxnSpPr>
        <p:spPr>
          <a:xfrm flipV="1">
            <a:off x="2409137" y="3741824"/>
            <a:ext cx="1" cy="41245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E2336FDB-7B06-4623-919F-7289ACBF3206}"/>
              </a:ext>
            </a:extLst>
          </p:cNvPr>
          <p:cNvSpPr txBox="1"/>
          <p:nvPr/>
        </p:nvSpPr>
        <p:spPr>
          <a:xfrm>
            <a:off x="5700896" y="3095493"/>
            <a:ext cx="127365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인용심결</a:t>
            </a:r>
            <a:endParaRPr lang="ko-KR" altLang="en-US" sz="1200" dirty="0">
              <a:solidFill>
                <a:schemeClr val="tx1"/>
              </a:solidFill>
              <a:latin typeface="+mn-ea"/>
            </a:endParaRPr>
          </a:p>
        </p:txBody>
      </p:sp>
      <p:sp>
        <p:nvSpPr>
          <p:cNvPr id="68" name="타원 67">
            <a:extLst>
              <a:ext uri="{FF2B5EF4-FFF2-40B4-BE49-F238E27FC236}">
                <a16:creationId xmlns:a16="http://schemas.microsoft.com/office/drawing/2014/main" id="{E553C06C-FA6E-4FEE-B262-1B8A1EEEEF0D}"/>
              </a:ext>
            </a:extLst>
          </p:cNvPr>
          <p:cNvSpPr/>
          <p:nvPr/>
        </p:nvSpPr>
        <p:spPr>
          <a:xfrm>
            <a:off x="6260351" y="2745384"/>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9" name="직선 연결선 68">
            <a:extLst>
              <a:ext uri="{FF2B5EF4-FFF2-40B4-BE49-F238E27FC236}">
                <a16:creationId xmlns:a16="http://schemas.microsoft.com/office/drawing/2014/main" id="{550D6AFC-FECA-4B08-B97D-0882AA74DA74}"/>
              </a:ext>
            </a:extLst>
          </p:cNvPr>
          <p:cNvCxnSpPr>
            <a:cxnSpLocks/>
            <a:stCxn id="67" idx="0"/>
            <a:endCxn id="68" idx="4"/>
          </p:cNvCxnSpPr>
          <p:nvPr/>
        </p:nvCxnSpPr>
        <p:spPr>
          <a:xfrm flipH="1" flipV="1">
            <a:off x="6337720" y="290672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0" name="순서도: 판단 69">
            <a:extLst>
              <a:ext uri="{FF2B5EF4-FFF2-40B4-BE49-F238E27FC236}">
                <a16:creationId xmlns:a16="http://schemas.microsoft.com/office/drawing/2014/main" id="{9B740040-4571-441D-9583-58028CFFE1C7}"/>
              </a:ext>
            </a:extLst>
          </p:cNvPr>
          <p:cNvSpPr/>
          <p:nvPr/>
        </p:nvSpPr>
        <p:spPr>
          <a:xfrm>
            <a:off x="3611991" y="3771894"/>
            <a:ext cx="1806060" cy="696406"/>
          </a:xfrm>
          <a:prstGeom prst="flowChartDecision">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altLang="ko-KR" sz="1200" dirty="0"/>
              <a:t>B</a:t>
            </a:r>
            <a:r>
              <a:rPr lang="ko-KR" altLang="en-US" sz="1200" dirty="0"/>
              <a:t>에 대한 </a:t>
            </a:r>
            <a:endParaRPr lang="en-US" altLang="ko-KR" sz="1200" dirty="0"/>
          </a:p>
          <a:p>
            <a:pPr algn="ctr"/>
            <a:r>
              <a:rPr lang="ko-KR" altLang="en-US" sz="1200" dirty="0"/>
              <a:t>미래 이해관계</a:t>
            </a:r>
            <a:r>
              <a:rPr lang="en-US" altLang="ko-KR" sz="1200" dirty="0"/>
              <a:t>?</a:t>
            </a:r>
            <a:endParaRPr lang="ko-KR" altLang="en-US" sz="1200" dirty="0"/>
          </a:p>
        </p:txBody>
      </p:sp>
      <p:sp>
        <p:nvSpPr>
          <p:cNvPr id="71" name="순서도: 판단 70">
            <a:extLst>
              <a:ext uri="{FF2B5EF4-FFF2-40B4-BE49-F238E27FC236}">
                <a16:creationId xmlns:a16="http://schemas.microsoft.com/office/drawing/2014/main" id="{799E3DAE-BFAA-4E74-9BE4-EE7240D76610}"/>
              </a:ext>
            </a:extLst>
          </p:cNvPr>
          <p:cNvSpPr/>
          <p:nvPr/>
        </p:nvSpPr>
        <p:spPr>
          <a:xfrm>
            <a:off x="3611991" y="4867702"/>
            <a:ext cx="1806060" cy="696406"/>
          </a:xfrm>
          <a:prstGeom prst="flowChartDecision">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t>심판청구 타당</a:t>
            </a:r>
            <a:r>
              <a:rPr lang="en-US" altLang="ko-KR" sz="1200" dirty="0"/>
              <a:t>?</a:t>
            </a:r>
            <a:endParaRPr lang="ko-KR" altLang="en-US" sz="1200" dirty="0"/>
          </a:p>
        </p:txBody>
      </p:sp>
      <p:sp>
        <p:nvSpPr>
          <p:cNvPr id="72" name="순서도: 처리 71">
            <a:extLst>
              <a:ext uri="{FF2B5EF4-FFF2-40B4-BE49-F238E27FC236}">
                <a16:creationId xmlns:a16="http://schemas.microsoft.com/office/drawing/2014/main" id="{D7731D40-73C0-4A93-BE1B-C804695FF83D}"/>
              </a:ext>
            </a:extLst>
          </p:cNvPr>
          <p:cNvSpPr/>
          <p:nvPr/>
        </p:nvSpPr>
        <p:spPr>
          <a:xfrm>
            <a:off x="4002387" y="5891746"/>
            <a:ext cx="1025268" cy="339364"/>
          </a:xfrm>
          <a:prstGeom prst="flowChartProcess">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인용심결</a:t>
            </a:r>
            <a:endParaRPr lang="ko-KR" altLang="en-US" sz="1200" dirty="0">
              <a:solidFill>
                <a:schemeClr val="tx1"/>
              </a:solidFill>
            </a:endParaRPr>
          </a:p>
        </p:txBody>
      </p:sp>
      <p:sp>
        <p:nvSpPr>
          <p:cNvPr id="73" name="순서도: 처리 72">
            <a:extLst>
              <a:ext uri="{FF2B5EF4-FFF2-40B4-BE49-F238E27FC236}">
                <a16:creationId xmlns:a16="http://schemas.microsoft.com/office/drawing/2014/main" id="{42C22294-682B-402A-89E9-F9008432E283}"/>
              </a:ext>
            </a:extLst>
          </p:cNvPr>
          <p:cNvSpPr/>
          <p:nvPr/>
        </p:nvSpPr>
        <p:spPr>
          <a:xfrm>
            <a:off x="5747717" y="5039074"/>
            <a:ext cx="1025268" cy="339364"/>
          </a:xfrm>
          <a:prstGeom prst="flowChartProcess">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기각심결</a:t>
            </a:r>
            <a:endParaRPr lang="ko-KR" altLang="en-US" sz="1200" dirty="0">
              <a:solidFill>
                <a:schemeClr val="tx1"/>
              </a:solidFill>
            </a:endParaRPr>
          </a:p>
        </p:txBody>
      </p:sp>
      <p:cxnSp>
        <p:nvCxnSpPr>
          <p:cNvPr id="75" name="직선 연결선 74">
            <a:extLst>
              <a:ext uri="{FF2B5EF4-FFF2-40B4-BE49-F238E27FC236}">
                <a16:creationId xmlns:a16="http://schemas.microsoft.com/office/drawing/2014/main" id="{E955FA42-B271-4D75-8896-26EABD158EF1}"/>
              </a:ext>
            </a:extLst>
          </p:cNvPr>
          <p:cNvCxnSpPr>
            <a:stCxn id="70" idx="2"/>
            <a:endCxn id="71" idx="0"/>
          </p:cNvCxnSpPr>
          <p:nvPr/>
        </p:nvCxnSpPr>
        <p:spPr>
          <a:xfrm>
            <a:off x="4515021" y="4468300"/>
            <a:ext cx="0" cy="39940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순서도: 처리 75">
            <a:extLst>
              <a:ext uri="{FF2B5EF4-FFF2-40B4-BE49-F238E27FC236}">
                <a16:creationId xmlns:a16="http://schemas.microsoft.com/office/drawing/2014/main" id="{9AF25238-B4B3-4B5F-A3C9-A43436E4EAC9}"/>
              </a:ext>
            </a:extLst>
          </p:cNvPr>
          <p:cNvSpPr/>
          <p:nvPr/>
        </p:nvSpPr>
        <p:spPr>
          <a:xfrm>
            <a:off x="5747717" y="3950415"/>
            <a:ext cx="1025268" cy="339364"/>
          </a:xfrm>
          <a:prstGeom prst="flowChartProcess">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각하심결</a:t>
            </a:r>
            <a:endParaRPr lang="ko-KR" altLang="en-US" sz="1200" dirty="0">
              <a:solidFill>
                <a:schemeClr val="tx1"/>
              </a:solidFill>
            </a:endParaRPr>
          </a:p>
        </p:txBody>
      </p:sp>
      <p:cxnSp>
        <p:nvCxnSpPr>
          <p:cNvPr id="78" name="직선 연결선 77">
            <a:extLst>
              <a:ext uri="{FF2B5EF4-FFF2-40B4-BE49-F238E27FC236}">
                <a16:creationId xmlns:a16="http://schemas.microsoft.com/office/drawing/2014/main" id="{942AF23C-B7C9-4794-A774-6E8C3810D815}"/>
              </a:ext>
            </a:extLst>
          </p:cNvPr>
          <p:cNvCxnSpPr>
            <a:stCxn id="70" idx="3"/>
            <a:endCxn id="76" idx="1"/>
          </p:cNvCxnSpPr>
          <p:nvPr/>
        </p:nvCxnSpPr>
        <p:spPr>
          <a:xfrm>
            <a:off x="5418051" y="4120097"/>
            <a:ext cx="329666"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직선 연결선 79">
            <a:extLst>
              <a:ext uri="{FF2B5EF4-FFF2-40B4-BE49-F238E27FC236}">
                <a16:creationId xmlns:a16="http://schemas.microsoft.com/office/drawing/2014/main" id="{6B33D0A9-76B6-44DA-99F6-7E5AFE0800AF}"/>
              </a:ext>
            </a:extLst>
          </p:cNvPr>
          <p:cNvCxnSpPr>
            <a:stCxn id="71" idx="3"/>
            <a:endCxn id="73" idx="1"/>
          </p:cNvCxnSpPr>
          <p:nvPr/>
        </p:nvCxnSpPr>
        <p:spPr>
          <a:xfrm flipV="1">
            <a:off x="5418051" y="5208756"/>
            <a:ext cx="329666" cy="714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D2EA4595-C128-4E5F-859A-E4CA85706CCD}"/>
              </a:ext>
            </a:extLst>
          </p:cNvPr>
          <p:cNvCxnSpPr>
            <a:stCxn id="71" idx="2"/>
            <a:endCxn id="72" idx="0"/>
          </p:cNvCxnSpPr>
          <p:nvPr/>
        </p:nvCxnSpPr>
        <p:spPr>
          <a:xfrm>
            <a:off x="4515021" y="5564108"/>
            <a:ext cx="0" cy="32763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8220EC7C-BA6A-4DC6-BD22-7A990029ED02}"/>
              </a:ext>
            </a:extLst>
          </p:cNvPr>
          <p:cNvSpPr txBox="1"/>
          <p:nvPr/>
        </p:nvSpPr>
        <p:spPr>
          <a:xfrm>
            <a:off x="5332219" y="3853115"/>
            <a:ext cx="415498" cy="276999"/>
          </a:xfrm>
          <a:prstGeom prst="rect">
            <a:avLst/>
          </a:prstGeom>
          <a:noFill/>
        </p:spPr>
        <p:txBody>
          <a:bodyPr wrap="none" rtlCol="0">
            <a:spAutoFit/>
          </a:bodyPr>
          <a:lstStyle/>
          <a:p>
            <a:r>
              <a:rPr lang="en-US" altLang="ko-KR" sz="1200" dirty="0"/>
              <a:t>NO</a:t>
            </a:r>
            <a:endParaRPr lang="ko-KR" altLang="en-US" sz="1200" dirty="0"/>
          </a:p>
        </p:txBody>
      </p:sp>
      <p:sp>
        <p:nvSpPr>
          <p:cNvPr id="84" name="TextBox 83">
            <a:extLst>
              <a:ext uri="{FF2B5EF4-FFF2-40B4-BE49-F238E27FC236}">
                <a16:creationId xmlns:a16="http://schemas.microsoft.com/office/drawing/2014/main" id="{096617B5-A788-4E0A-B328-1CF378376A0A}"/>
              </a:ext>
            </a:extLst>
          </p:cNvPr>
          <p:cNvSpPr txBox="1"/>
          <p:nvPr/>
        </p:nvSpPr>
        <p:spPr>
          <a:xfrm>
            <a:off x="5332219" y="4975897"/>
            <a:ext cx="415498" cy="276999"/>
          </a:xfrm>
          <a:prstGeom prst="rect">
            <a:avLst/>
          </a:prstGeom>
          <a:noFill/>
        </p:spPr>
        <p:txBody>
          <a:bodyPr wrap="none" rtlCol="0">
            <a:spAutoFit/>
          </a:bodyPr>
          <a:lstStyle/>
          <a:p>
            <a:r>
              <a:rPr lang="en-US" altLang="ko-KR" sz="1200" dirty="0"/>
              <a:t>NO</a:t>
            </a:r>
            <a:endParaRPr lang="ko-KR" altLang="en-US" sz="1200" dirty="0"/>
          </a:p>
        </p:txBody>
      </p:sp>
      <p:sp>
        <p:nvSpPr>
          <p:cNvPr id="85" name="TextBox 84">
            <a:extLst>
              <a:ext uri="{FF2B5EF4-FFF2-40B4-BE49-F238E27FC236}">
                <a16:creationId xmlns:a16="http://schemas.microsoft.com/office/drawing/2014/main" id="{90B9388F-F1CF-4BB7-80E2-357474351FBF}"/>
              </a:ext>
            </a:extLst>
          </p:cNvPr>
          <p:cNvSpPr txBox="1"/>
          <p:nvPr/>
        </p:nvSpPr>
        <p:spPr>
          <a:xfrm>
            <a:off x="4515021" y="4466261"/>
            <a:ext cx="457176" cy="276999"/>
          </a:xfrm>
          <a:prstGeom prst="rect">
            <a:avLst/>
          </a:prstGeom>
          <a:noFill/>
        </p:spPr>
        <p:txBody>
          <a:bodyPr wrap="none" rtlCol="0">
            <a:spAutoFit/>
          </a:bodyPr>
          <a:lstStyle/>
          <a:p>
            <a:r>
              <a:rPr lang="en-US" altLang="ko-KR" sz="1200" dirty="0"/>
              <a:t>YES</a:t>
            </a:r>
            <a:endParaRPr lang="ko-KR" altLang="en-US" sz="1200" dirty="0"/>
          </a:p>
        </p:txBody>
      </p:sp>
      <p:sp>
        <p:nvSpPr>
          <p:cNvPr id="86" name="TextBox 85">
            <a:extLst>
              <a:ext uri="{FF2B5EF4-FFF2-40B4-BE49-F238E27FC236}">
                <a16:creationId xmlns:a16="http://schemas.microsoft.com/office/drawing/2014/main" id="{780BE733-898E-487D-AF6C-4C74DAEB8A75}"/>
              </a:ext>
            </a:extLst>
          </p:cNvPr>
          <p:cNvSpPr txBox="1"/>
          <p:nvPr/>
        </p:nvSpPr>
        <p:spPr>
          <a:xfrm>
            <a:off x="4515021" y="5550050"/>
            <a:ext cx="457176" cy="276999"/>
          </a:xfrm>
          <a:prstGeom prst="rect">
            <a:avLst/>
          </a:prstGeom>
          <a:noFill/>
        </p:spPr>
        <p:txBody>
          <a:bodyPr wrap="none" rtlCol="0">
            <a:spAutoFit/>
          </a:bodyPr>
          <a:lstStyle/>
          <a:p>
            <a:r>
              <a:rPr lang="en-US" altLang="ko-KR" sz="1200" dirty="0"/>
              <a:t>YES</a:t>
            </a:r>
            <a:endParaRPr lang="ko-KR" altLang="en-US" sz="1200" dirty="0"/>
          </a:p>
        </p:txBody>
      </p:sp>
      <p:sp>
        <p:nvSpPr>
          <p:cNvPr id="89" name="TextBox 88">
            <a:extLst>
              <a:ext uri="{FF2B5EF4-FFF2-40B4-BE49-F238E27FC236}">
                <a16:creationId xmlns:a16="http://schemas.microsoft.com/office/drawing/2014/main" id="{B2D769B1-1FF8-4325-BD54-E6AE101BD78D}"/>
              </a:ext>
            </a:extLst>
          </p:cNvPr>
          <p:cNvSpPr txBox="1"/>
          <p:nvPr/>
        </p:nvSpPr>
        <p:spPr>
          <a:xfrm>
            <a:off x="7243922" y="3095493"/>
            <a:ext cx="87860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소 제기</a:t>
            </a:r>
          </a:p>
        </p:txBody>
      </p:sp>
      <p:sp>
        <p:nvSpPr>
          <p:cNvPr id="90" name="타원 89">
            <a:extLst>
              <a:ext uri="{FF2B5EF4-FFF2-40B4-BE49-F238E27FC236}">
                <a16:creationId xmlns:a16="http://schemas.microsoft.com/office/drawing/2014/main" id="{66BDDFB2-76D3-4B7E-AB78-077EE38E9B88}"/>
              </a:ext>
            </a:extLst>
          </p:cNvPr>
          <p:cNvSpPr/>
          <p:nvPr/>
        </p:nvSpPr>
        <p:spPr>
          <a:xfrm>
            <a:off x="7605854" y="2745384"/>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1" name="직선 연결선 90">
            <a:extLst>
              <a:ext uri="{FF2B5EF4-FFF2-40B4-BE49-F238E27FC236}">
                <a16:creationId xmlns:a16="http://schemas.microsoft.com/office/drawing/2014/main" id="{E802B4B2-A1A0-419F-B32A-ABED66E6E377}"/>
              </a:ext>
            </a:extLst>
          </p:cNvPr>
          <p:cNvCxnSpPr>
            <a:cxnSpLocks/>
            <a:stCxn id="89" idx="0"/>
            <a:endCxn id="90" idx="4"/>
          </p:cNvCxnSpPr>
          <p:nvPr/>
        </p:nvCxnSpPr>
        <p:spPr>
          <a:xfrm flipH="1" flipV="1">
            <a:off x="7683223" y="290672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365DB72D-E27E-4858-ACDB-5E17A6608F3F}"/>
              </a:ext>
            </a:extLst>
          </p:cNvPr>
          <p:cNvSpPr txBox="1"/>
          <p:nvPr/>
        </p:nvSpPr>
        <p:spPr>
          <a:xfrm>
            <a:off x="9752595" y="3095493"/>
            <a:ext cx="127365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 각하</a:t>
            </a:r>
          </a:p>
        </p:txBody>
      </p:sp>
      <p:sp>
        <p:nvSpPr>
          <p:cNvPr id="93" name="타원 92">
            <a:extLst>
              <a:ext uri="{FF2B5EF4-FFF2-40B4-BE49-F238E27FC236}">
                <a16:creationId xmlns:a16="http://schemas.microsoft.com/office/drawing/2014/main" id="{DBD4432D-E486-49EB-994D-45292387AA74}"/>
              </a:ext>
            </a:extLst>
          </p:cNvPr>
          <p:cNvSpPr/>
          <p:nvPr/>
        </p:nvSpPr>
        <p:spPr>
          <a:xfrm>
            <a:off x="10312050" y="2745384"/>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4" name="직선 연결선 93">
            <a:extLst>
              <a:ext uri="{FF2B5EF4-FFF2-40B4-BE49-F238E27FC236}">
                <a16:creationId xmlns:a16="http://schemas.microsoft.com/office/drawing/2014/main" id="{7A3747FF-1D9B-4C49-9EFB-F814E8FB2467}"/>
              </a:ext>
            </a:extLst>
          </p:cNvPr>
          <p:cNvCxnSpPr>
            <a:cxnSpLocks/>
            <a:stCxn id="92" idx="0"/>
            <a:endCxn id="93" idx="4"/>
          </p:cNvCxnSpPr>
          <p:nvPr/>
        </p:nvCxnSpPr>
        <p:spPr>
          <a:xfrm flipH="1" flipV="1">
            <a:off x="10389419" y="290672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C7D4FB36-1FFF-453A-9148-2907ED9D291C}"/>
              </a:ext>
            </a:extLst>
          </p:cNvPr>
          <p:cNvSpPr txBox="1"/>
          <p:nvPr/>
        </p:nvSpPr>
        <p:spPr>
          <a:xfrm>
            <a:off x="8296263" y="3280982"/>
            <a:ext cx="1282594"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무효심결확정</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소급 소멸</a:t>
            </a:r>
            <a:r>
              <a:rPr lang="en-US" altLang="ko-KR" sz="1200" dirty="0">
                <a:solidFill>
                  <a:schemeClr val="tx1"/>
                </a:solidFill>
                <a:latin typeface="+mn-ea"/>
              </a:rPr>
              <a:t>)</a:t>
            </a:r>
            <a:endParaRPr lang="ko-KR" altLang="en-US" sz="1200" dirty="0">
              <a:solidFill>
                <a:schemeClr val="tx1"/>
              </a:solidFill>
              <a:latin typeface="+mn-ea"/>
            </a:endParaRPr>
          </a:p>
        </p:txBody>
      </p:sp>
      <p:sp>
        <p:nvSpPr>
          <p:cNvPr id="97" name="타원 96">
            <a:extLst>
              <a:ext uri="{FF2B5EF4-FFF2-40B4-BE49-F238E27FC236}">
                <a16:creationId xmlns:a16="http://schemas.microsoft.com/office/drawing/2014/main" id="{37053DB1-34AB-4B46-8C67-DD7DCECC940E}"/>
              </a:ext>
            </a:extLst>
          </p:cNvPr>
          <p:cNvSpPr/>
          <p:nvPr/>
        </p:nvSpPr>
        <p:spPr>
          <a:xfrm>
            <a:off x="8860190" y="2745384"/>
            <a:ext cx="154738" cy="161338"/>
          </a:xfrm>
          <a:prstGeom prst="ellipse">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8" name="직선 연결선 97">
            <a:extLst>
              <a:ext uri="{FF2B5EF4-FFF2-40B4-BE49-F238E27FC236}">
                <a16:creationId xmlns:a16="http://schemas.microsoft.com/office/drawing/2014/main" id="{61267199-012D-447C-B652-077CC611B18C}"/>
              </a:ext>
            </a:extLst>
          </p:cNvPr>
          <p:cNvCxnSpPr>
            <a:cxnSpLocks/>
            <a:stCxn id="96" idx="0"/>
            <a:endCxn id="97" idx="4"/>
          </p:cNvCxnSpPr>
          <p:nvPr/>
        </p:nvCxnSpPr>
        <p:spPr>
          <a:xfrm flipH="1" flipV="1">
            <a:off x="8937559" y="2906722"/>
            <a:ext cx="1" cy="37426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1629838"/>
      </p:ext>
    </p:extLst>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3" name="텍스트 개체 틀 2"/>
          <p:cNvSpPr>
            <a:spLocks noGrp="1"/>
          </p:cNvSpPr>
          <p:nvPr>
            <p:ph type="body" sz="quarter" idx="13"/>
          </p:nvPr>
        </p:nvSpPr>
        <p:spPr/>
        <p:txBody>
          <a:bodyPr/>
          <a:lstStyle/>
          <a:p>
            <a:r>
              <a:rPr lang="ko-KR" altLang="en-US" dirty="0"/>
              <a:t>실시예정제품</a:t>
            </a:r>
            <a:r>
              <a:rPr lang="en-US" altLang="ko-KR" dirty="0"/>
              <a:t>: </a:t>
            </a:r>
            <a:r>
              <a:rPr lang="ko-KR" altLang="en-US" dirty="0"/>
              <a:t>미래 이해관계</a:t>
            </a:r>
          </a:p>
        </p:txBody>
      </p:sp>
      <p:cxnSp>
        <p:nvCxnSpPr>
          <p:cNvPr id="145" name="직선 연결선 144">
            <a:extLst>
              <a:ext uri="{FF2B5EF4-FFF2-40B4-BE49-F238E27FC236}">
                <a16:creationId xmlns:a16="http://schemas.microsoft.com/office/drawing/2014/main" id="{512DDBF3-1FDC-4642-A26E-C77667158129}"/>
              </a:ext>
            </a:extLst>
          </p:cNvPr>
          <p:cNvCxnSpPr>
            <a:cxnSpLocks/>
          </p:cNvCxnSpPr>
          <p:nvPr/>
        </p:nvCxnSpPr>
        <p:spPr>
          <a:xfrm>
            <a:off x="1494202" y="4378774"/>
            <a:ext cx="9789952"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6" name="Rectangle 14">
            <a:extLst>
              <a:ext uri="{FF2B5EF4-FFF2-40B4-BE49-F238E27FC236}">
                <a16:creationId xmlns:a16="http://schemas.microsoft.com/office/drawing/2014/main" id="{3EF852EA-23C0-4EA5-A686-B4C0FE7CB08E}"/>
              </a:ext>
            </a:extLst>
          </p:cNvPr>
          <p:cNvSpPr>
            <a:spLocks noChangeArrowheads="1"/>
          </p:cNvSpPr>
          <p:nvPr/>
        </p:nvSpPr>
        <p:spPr bwMode="auto">
          <a:xfrm flipV="1">
            <a:off x="4692902" y="4302243"/>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47" name="TextBox 146">
            <a:extLst>
              <a:ext uri="{FF2B5EF4-FFF2-40B4-BE49-F238E27FC236}">
                <a16:creationId xmlns:a16="http://schemas.microsoft.com/office/drawing/2014/main" id="{82442D87-1353-446E-955D-A1966DF675A0}"/>
              </a:ext>
            </a:extLst>
          </p:cNvPr>
          <p:cNvSpPr txBox="1"/>
          <p:nvPr/>
        </p:nvSpPr>
        <p:spPr>
          <a:xfrm>
            <a:off x="4004818" y="3736309"/>
            <a:ext cx="1513222"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소극적 확인심판청구</a:t>
            </a:r>
            <a:endParaRPr lang="en-US" altLang="ko-KR" sz="1200" dirty="0"/>
          </a:p>
          <a:p>
            <a:pPr algn="ctr"/>
            <a:r>
              <a:rPr lang="en-US" altLang="ko-KR" sz="1200" dirty="0"/>
              <a:t>(</a:t>
            </a:r>
            <a:r>
              <a:rPr lang="ko-KR" altLang="en-US" sz="1200" dirty="0"/>
              <a:t>乙</a:t>
            </a:r>
            <a:r>
              <a:rPr lang="en-US" altLang="ko-KR" sz="1200" dirty="0"/>
              <a:t>)</a:t>
            </a:r>
            <a:endParaRPr lang="ko-KR" altLang="en-US" sz="1200" dirty="0"/>
          </a:p>
        </p:txBody>
      </p:sp>
      <p:cxnSp>
        <p:nvCxnSpPr>
          <p:cNvPr id="148" name="직선 연결선 147">
            <a:extLst>
              <a:ext uri="{FF2B5EF4-FFF2-40B4-BE49-F238E27FC236}">
                <a16:creationId xmlns:a16="http://schemas.microsoft.com/office/drawing/2014/main" id="{CCFA213A-19F7-4320-9DDB-BC04FE006FB5}"/>
              </a:ext>
            </a:extLst>
          </p:cNvPr>
          <p:cNvCxnSpPr>
            <a:cxnSpLocks/>
            <a:stCxn id="147" idx="2"/>
            <a:endCxn id="146" idx="4"/>
          </p:cNvCxnSpPr>
          <p:nvPr/>
        </p:nvCxnSpPr>
        <p:spPr>
          <a:xfrm>
            <a:off x="4761429" y="4197974"/>
            <a:ext cx="2911" cy="10426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7" name="Rectangle 14">
            <a:extLst>
              <a:ext uri="{FF2B5EF4-FFF2-40B4-BE49-F238E27FC236}">
                <a16:creationId xmlns:a16="http://schemas.microsoft.com/office/drawing/2014/main" id="{9A561CA9-0B4F-4708-98A6-673316708161}"/>
              </a:ext>
            </a:extLst>
          </p:cNvPr>
          <p:cNvSpPr>
            <a:spLocks noChangeArrowheads="1"/>
          </p:cNvSpPr>
          <p:nvPr/>
        </p:nvSpPr>
        <p:spPr bwMode="auto">
          <a:xfrm flipV="1">
            <a:off x="3470554" y="4302243"/>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68" name="TextBox 167">
            <a:extLst>
              <a:ext uri="{FF2B5EF4-FFF2-40B4-BE49-F238E27FC236}">
                <a16:creationId xmlns:a16="http://schemas.microsoft.com/office/drawing/2014/main" id="{3781B2AE-0E18-4943-A4ED-3A34D72E9901}"/>
              </a:ext>
            </a:extLst>
          </p:cNvPr>
          <p:cNvSpPr txBox="1"/>
          <p:nvPr/>
        </p:nvSpPr>
        <p:spPr>
          <a:xfrm>
            <a:off x="2853734" y="4576643"/>
            <a:ext cx="1370694"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침해소송제기</a:t>
            </a:r>
            <a:endParaRPr lang="en-US" altLang="ko-KR" sz="1200" dirty="0"/>
          </a:p>
          <a:p>
            <a:pPr algn="ctr"/>
            <a:r>
              <a:rPr lang="en-US" altLang="ko-KR" sz="1200" dirty="0"/>
              <a:t>(</a:t>
            </a:r>
            <a:r>
              <a:rPr lang="ko-KR" altLang="en-US" sz="1200" dirty="0"/>
              <a:t>특허권자</a:t>
            </a:r>
            <a:r>
              <a:rPr lang="en-US" altLang="ko-KR" sz="1200" dirty="0"/>
              <a:t>, </a:t>
            </a:r>
            <a:r>
              <a:rPr lang="ko-KR" altLang="en-US" sz="1200" dirty="0"/>
              <a:t>甲</a:t>
            </a:r>
            <a:r>
              <a:rPr lang="en-US" altLang="ko-KR" sz="1200" dirty="0"/>
              <a:t>)</a:t>
            </a:r>
            <a:endParaRPr lang="ko-KR" altLang="en-US" sz="1200" dirty="0"/>
          </a:p>
        </p:txBody>
      </p:sp>
      <p:cxnSp>
        <p:nvCxnSpPr>
          <p:cNvPr id="169" name="직선 연결선 168">
            <a:extLst>
              <a:ext uri="{FF2B5EF4-FFF2-40B4-BE49-F238E27FC236}">
                <a16:creationId xmlns:a16="http://schemas.microsoft.com/office/drawing/2014/main" id="{A6749027-7441-42AE-B50E-729A32BD95F9}"/>
              </a:ext>
            </a:extLst>
          </p:cNvPr>
          <p:cNvCxnSpPr>
            <a:cxnSpLocks/>
            <a:stCxn id="168" idx="0"/>
            <a:endCxn id="167" idx="0"/>
          </p:cNvCxnSpPr>
          <p:nvPr/>
        </p:nvCxnSpPr>
        <p:spPr>
          <a:xfrm flipV="1">
            <a:off x="3539081" y="4455305"/>
            <a:ext cx="2911" cy="12133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Rectangle 14">
            <a:extLst>
              <a:ext uri="{FF2B5EF4-FFF2-40B4-BE49-F238E27FC236}">
                <a16:creationId xmlns:a16="http://schemas.microsoft.com/office/drawing/2014/main" id="{7B054C15-45F4-4A28-93FA-3911CD62C518}"/>
              </a:ext>
            </a:extLst>
          </p:cNvPr>
          <p:cNvSpPr>
            <a:spLocks noChangeArrowheads="1"/>
          </p:cNvSpPr>
          <p:nvPr/>
        </p:nvSpPr>
        <p:spPr bwMode="auto">
          <a:xfrm flipV="1">
            <a:off x="1872921" y="4302243"/>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2" name="TextBox 31">
            <a:extLst>
              <a:ext uri="{FF2B5EF4-FFF2-40B4-BE49-F238E27FC236}">
                <a16:creationId xmlns:a16="http://schemas.microsoft.com/office/drawing/2014/main" id="{7638EBA9-BE0A-42A7-960D-D5058047BAAD}"/>
              </a:ext>
            </a:extLst>
          </p:cNvPr>
          <p:cNvSpPr txBox="1"/>
          <p:nvPr/>
        </p:nvSpPr>
        <p:spPr>
          <a:xfrm>
            <a:off x="1406396" y="3736309"/>
            <a:ext cx="1070104"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乙이 </a:t>
            </a:r>
            <a:r>
              <a:rPr lang="en-US" altLang="ko-KR" sz="1600" b="1" dirty="0">
                <a:solidFill>
                  <a:srgbClr val="FF0000"/>
                </a:solidFill>
              </a:rPr>
              <a:t>A</a:t>
            </a:r>
            <a:r>
              <a:rPr lang="en-US" altLang="ko-KR" sz="1200" dirty="0"/>
              <a:t> </a:t>
            </a:r>
            <a:r>
              <a:rPr lang="ko-KR" altLang="en-US" sz="1200" dirty="0"/>
              <a:t>실시</a:t>
            </a:r>
          </a:p>
        </p:txBody>
      </p:sp>
      <p:cxnSp>
        <p:nvCxnSpPr>
          <p:cNvPr id="33" name="직선 연결선 32">
            <a:extLst>
              <a:ext uri="{FF2B5EF4-FFF2-40B4-BE49-F238E27FC236}">
                <a16:creationId xmlns:a16="http://schemas.microsoft.com/office/drawing/2014/main" id="{583A93FB-4E81-42CB-8D91-7870EFEB511B}"/>
              </a:ext>
            </a:extLst>
          </p:cNvPr>
          <p:cNvCxnSpPr>
            <a:cxnSpLocks/>
            <a:stCxn id="32" idx="2"/>
            <a:endCxn id="31" idx="4"/>
          </p:cNvCxnSpPr>
          <p:nvPr/>
        </p:nvCxnSpPr>
        <p:spPr>
          <a:xfrm>
            <a:off x="1941448" y="4197974"/>
            <a:ext cx="2911" cy="10426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285E441B-E053-459D-8339-576F4F64CE96}"/>
              </a:ext>
            </a:extLst>
          </p:cNvPr>
          <p:cNvSpPr txBox="1"/>
          <p:nvPr/>
        </p:nvSpPr>
        <p:spPr>
          <a:xfrm>
            <a:off x="2964244" y="5142325"/>
            <a:ext cx="1149674" cy="523220"/>
          </a:xfrm>
          <a:prstGeom prst="rect">
            <a:avLst/>
          </a:prstGeom>
          <a:noFill/>
          <a:ln>
            <a:solidFill>
              <a:schemeClr val="bg1">
                <a:lumMod val="50000"/>
              </a:schemeClr>
            </a:solidFill>
          </a:ln>
        </p:spPr>
        <p:txBody>
          <a:bodyPr wrap="none" rtlCol="0">
            <a:spAutoFit/>
          </a:bodyPr>
          <a:lstStyle/>
          <a:p>
            <a:pPr algn="ctr"/>
            <a:r>
              <a:rPr lang="ko-KR" altLang="en-US" sz="1200" dirty="0"/>
              <a:t>확인대상발명을</a:t>
            </a:r>
            <a:endParaRPr lang="en-US" altLang="ko-KR" sz="1200" dirty="0"/>
          </a:p>
          <a:p>
            <a:pPr algn="ctr"/>
            <a:r>
              <a:rPr lang="en-US" altLang="ko-KR" sz="1600" b="1" dirty="0">
                <a:solidFill>
                  <a:srgbClr val="FF0000"/>
                </a:solidFill>
              </a:rPr>
              <a:t>A</a:t>
            </a:r>
            <a:r>
              <a:rPr lang="ko-KR" altLang="en-US" sz="1200" dirty="0"/>
              <a:t>로 특정</a:t>
            </a:r>
          </a:p>
        </p:txBody>
      </p:sp>
      <p:cxnSp>
        <p:nvCxnSpPr>
          <p:cNvPr id="9" name="직선 연결선 8">
            <a:extLst>
              <a:ext uri="{FF2B5EF4-FFF2-40B4-BE49-F238E27FC236}">
                <a16:creationId xmlns:a16="http://schemas.microsoft.com/office/drawing/2014/main" id="{45D7584C-3D03-4727-8A5C-B234DA9875C6}"/>
              </a:ext>
            </a:extLst>
          </p:cNvPr>
          <p:cNvCxnSpPr>
            <a:stCxn id="7" idx="0"/>
            <a:endCxn id="168" idx="2"/>
          </p:cNvCxnSpPr>
          <p:nvPr/>
        </p:nvCxnSpPr>
        <p:spPr>
          <a:xfrm flipV="1">
            <a:off x="3539081" y="5038308"/>
            <a:ext cx="0" cy="10401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84E74F5A-1B24-43F5-8803-166E67D23293}"/>
              </a:ext>
            </a:extLst>
          </p:cNvPr>
          <p:cNvSpPr txBox="1"/>
          <p:nvPr/>
        </p:nvSpPr>
        <p:spPr>
          <a:xfrm>
            <a:off x="4185177" y="3170375"/>
            <a:ext cx="1149674" cy="461665"/>
          </a:xfrm>
          <a:prstGeom prst="rect">
            <a:avLst/>
          </a:prstGeom>
          <a:noFill/>
          <a:ln>
            <a:solidFill>
              <a:schemeClr val="bg1">
                <a:lumMod val="50000"/>
              </a:schemeClr>
            </a:solidFill>
          </a:ln>
        </p:spPr>
        <p:txBody>
          <a:bodyPr wrap="none" rtlCol="0">
            <a:noAutofit/>
          </a:bodyPr>
          <a:lstStyle/>
          <a:p>
            <a:pPr algn="ctr"/>
            <a:r>
              <a:rPr lang="ko-KR" altLang="en-US" sz="1200" dirty="0"/>
              <a:t>확인대상발명을</a:t>
            </a:r>
            <a:endParaRPr lang="en-US" altLang="ko-KR" sz="1200" dirty="0"/>
          </a:p>
          <a:p>
            <a:pPr algn="ctr"/>
            <a:r>
              <a:rPr lang="en-US" altLang="ko-KR" sz="1400" b="1" dirty="0">
                <a:solidFill>
                  <a:srgbClr val="FF0000"/>
                </a:solidFill>
              </a:rPr>
              <a:t>B</a:t>
            </a:r>
            <a:r>
              <a:rPr lang="ko-KR" altLang="en-US" sz="1200" dirty="0"/>
              <a:t>로 특정</a:t>
            </a:r>
          </a:p>
        </p:txBody>
      </p:sp>
      <p:cxnSp>
        <p:nvCxnSpPr>
          <p:cNvPr id="13" name="직선 연결선 12">
            <a:extLst>
              <a:ext uri="{FF2B5EF4-FFF2-40B4-BE49-F238E27FC236}">
                <a16:creationId xmlns:a16="http://schemas.microsoft.com/office/drawing/2014/main" id="{4302A214-132B-46BF-96D1-FDD552511B8B}"/>
              </a:ext>
            </a:extLst>
          </p:cNvPr>
          <p:cNvCxnSpPr>
            <a:stCxn id="38" idx="2"/>
            <a:endCxn id="147" idx="0"/>
          </p:cNvCxnSpPr>
          <p:nvPr/>
        </p:nvCxnSpPr>
        <p:spPr>
          <a:xfrm>
            <a:off x="4760014" y="3632040"/>
            <a:ext cx="1415" cy="1042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Rectangle 14">
            <a:extLst>
              <a:ext uri="{FF2B5EF4-FFF2-40B4-BE49-F238E27FC236}">
                <a16:creationId xmlns:a16="http://schemas.microsoft.com/office/drawing/2014/main" id="{6C62D514-63E2-4AD6-A908-0E6BDCE1B4FA}"/>
              </a:ext>
            </a:extLst>
          </p:cNvPr>
          <p:cNvSpPr>
            <a:spLocks noChangeArrowheads="1"/>
          </p:cNvSpPr>
          <p:nvPr/>
        </p:nvSpPr>
        <p:spPr bwMode="auto">
          <a:xfrm flipV="1">
            <a:off x="7978473" y="4302243"/>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3" name="TextBox 42">
            <a:extLst>
              <a:ext uri="{FF2B5EF4-FFF2-40B4-BE49-F238E27FC236}">
                <a16:creationId xmlns:a16="http://schemas.microsoft.com/office/drawing/2014/main" id="{0781702B-D72A-4103-9780-190F863B7AB4}"/>
              </a:ext>
            </a:extLst>
          </p:cNvPr>
          <p:cNvSpPr txBox="1"/>
          <p:nvPr/>
        </p:nvSpPr>
        <p:spPr>
          <a:xfrm>
            <a:off x="7523345" y="3736309"/>
            <a:ext cx="1047310"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인용심결확정</a:t>
            </a:r>
            <a:endParaRPr lang="en-US" altLang="ko-KR" sz="1200" dirty="0"/>
          </a:p>
        </p:txBody>
      </p:sp>
      <p:cxnSp>
        <p:nvCxnSpPr>
          <p:cNvPr id="44" name="직선 연결선 43">
            <a:extLst>
              <a:ext uri="{FF2B5EF4-FFF2-40B4-BE49-F238E27FC236}">
                <a16:creationId xmlns:a16="http://schemas.microsoft.com/office/drawing/2014/main" id="{0F33D17A-E04A-4412-B7AB-642BD55D591E}"/>
              </a:ext>
            </a:extLst>
          </p:cNvPr>
          <p:cNvCxnSpPr>
            <a:cxnSpLocks/>
            <a:stCxn id="43" idx="2"/>
            <a:endCxn id="42" idx="4"/>
          </p:cNvCxnSpPr>
          <p:nvPr/>
        </p:nvCxnSpPr>
        <p:spPr>
          <a:xfrm>
            <a:off x="8047000" y="4197974"/>
            <a:ext cx="2911" cy="10426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Rectangle 14">
            <a:extLst>
              <a:ext uri="{FF2B5EF4-FFF2-40B4-BE49-F238E27FC236}">
                <a16:creationId xmlns:a16="http://schemas.microsoft.com/office/drawing/2014/main" id="{6F3C140A-FD38-4C16-A4F2-C21272D0BE2C}"/>
              </a:ext>
            </a:extLst>
          </p:cNvPr>
          <p:cNvSpPr>
            <a:spLocks noChangeArrowheads="1"/>
          </p:cNvSpPr>
          <p:nvPr/>
        </p:nvSpPr>
        <p:spPr bwMode="auto">
          <a:xfrm flipV="1">
            <a:off x="10009017" y="4302243"/>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9" name="TextBox 48">
            <a:extLst>
              <a:ext uri="{FF2B5EF4-FFF2-40B4-BE49-F238E27FC236}">
                <a16:creationId xmlns:a16="http://schemas.microsoft.com/office/drawing/2014/main" id="{3C679984-9618-4DBA-AF4E-433A86D8B6F3}"/>
              </a:ext>
            </a:extLst>
          </p:cNvPr>
          <p:cNvSpPr txBox="1"/>
          <p:nvPr/>
        </p:nvSpPr>
        <p:spPr>
          <a:xfrm>
            <a:off x="9485362" y="3736309"/>
            <a:ext cx="1184364"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침해소송</a:t>
            </a:r>
            <a:endParaRPr lang="en-US" altLang="ko-KR" sz="1200" dirty="0"/>
          </a:p>
          <a:p>
            <a:pPr algn="ctr"/>
            <a:r>
              <a:rPr lang="ko-KR" altLang="en-US" sz="1200" dirty="0"/>
              <a:t>법원 증거 제출</a:t>
            </a:r>
            <a:endParaRPr lang="en-US" altLang="ko-KR" sz="1200" dirty="0"/>
          </a:p>
        </p:txBody>
      </p:sp>
      <p:cxnSp>
        <p:nvCxnSpPr>
          <p:cNvPr id="50" name="직선 연결선 49">
            <a:extLst>
              <a:ext uri="{FF2B5EF4-FFF2-40B4-BE49-F238E27FC236}">
                <a16:creationId xmlns:a16="http://schemas.microsoft.com/office/drawing/2014/main" id="{9A3DA326-56EA-454B-A78C-E7AF0111E7AE}"/>
              </a:ext>
            </a:extLst>
          </p:cNvPr>
          <p:cNvCxnSpPr>
            <a:cxnSpLocks/>
            <a:stCxn id="49" idx="2"/>
            <a:endCxn id="48" idx="4"/>
          </p:cNvCxnSpPr>
          <p:nvPr/>
        </p:nvCxnSpPr>
        <p:spPr>
          <a:xfrm>
            <a:off x="10077544" y="4197974"/>
            <a:ext cx="2911" cy="10426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 name="말풍선: 모서리가 둥근 사각형 17">
            <a:extLst>
              <a:ext uri="{FF2B5EF4-FFF2-40B4-BE49-F238E27FC236}">
                <a16:creationId xmlns:a16="http://schemas.microsoft.com/office/drawing/2014/main" id="{30950C44-A3F8-4A28-A9D9-6F5D070A848D}"/>
              </a:ext>
            </a:extLst>
          </p:cNvPr>
          <p:cNvSpPr/>
          <p:nvPr/>
        </p:nvSpPr>
        <p:spPr>
          <a:xfrm>
            <a:off x="4671723" y="1134511"/>
            <a:ext cx="4674765" cy="704885"/>
          </a:xfrm>
          <a:prstGeom prst="wedgeRoundRectCallout">
            <a:avLst>
              <a:gd name="adj1" fmla="val -33660"/>
              <a:gd name="adj2" fmla="val 320609"/>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r>
              <a:rPr lang="ko-KR" altLang="en-US" sz="1200" dirty="0">
                <a:solidFill>
                  <a:schemeClr val="bg1">
                    <a:lumMod val="50000"/>
                  </a:schemeClr>
                </a:solidFill>
              </a:rPr>
              <a:t>침해소송과 권리범위확인심판은 별개이기 때문에 침해소송이 제기된 후에 소극적 권리범위확인심판을 청구한 경우 심판청구의 이익을 긍정</a:t>
            </a:r>
            <a:r>
              <a:rPr lang="en-US" altLang="ko-KR" sz="1200" dirty="0">
                <a:solidFill>
                  <a:schemeClr val="bg1">
                    <a:lumMod val="50000"/>
                  </a:schemeClr>
                </a:solidFill>
              </a:rPr>
              <a:t>(</a:t>
            </a:r>
            <a:r>
              <a:rPr lang="en-US" altLang="ko-KR" sz="1200" b="1" dirty="0">
                <a:solidFill>
                  <a:schemeClr val="bg1">
                    <a:lumMod val="50000"/>
                  </a:schemeClr>
                </a:solidFill>
              </a:rPr>
              <a:t>2016</a:t>
            </a:r>
            <a:r>
              <a:rPr lang="ko-KR" altLang="en-US" sz="1200" b="1" dirty="0">
                <a:solidFill>
                  <a:schemeClr val="bg1">
                    <a:lumMod val="50000"/>
                  </a:schemeClr>
                </a:solidFill>
              </a:rPr>
              <a:t>후</a:t>
            </a:r>
            <a:r>
              <a:rPr lang="en-US" altLang="ko-KR" sz="1200" b="1" dirty="0">
                <a:solidFill>
                  <a:schemeClr val="bg1">
                    <a:lumMod val="50000"/>
                  </a:schemeClr>
                </a:solidFill>
              </a:rPr>
              <a:t>328): </a:t>
            </a:r>
            <a:r>
              <a:rPr lang="ko-KR" altLang="en-US" sz="1200" b="1" dirty="0">
                <a:solidFill>
                  <a:schemeClr val="bg1">
                    <a:lumMod val="50000"/>
                  </a:schemeClr>
                </a:solidFill>
              </a:rPr>
              <a:t>근거는 권리범위확인심판의 고유기능과 제</a:t>
            </a:r>
            <a:r>
              <a:rPr lang="en-US" altLang="ko-KR" sz="1200" b="1" dirty="0">
                <a:solidFill>
                  <a:schemeClr val="bg1">
                    <a:lumMod val="50000"/>
                  </a:schemeClr>
                </a:solidFill>
              </a:rPr>
              <a:t>164</a:t>
            </a:r>
            <a:r>
              <a:rPr lang="ko-KR" altLang="en-US" sz="1200" b="1" dirty="0">
                <a:solidFill>
                  <a:schemeClr val="bg1">
                    <a:lumMod val="50000"/>
                  </a:schemeClr>
                </a:solidFill>
              </a:rPr>
              <a:t>조</a:t>
            </a:r>
            <a:endParaRPr lang="ko-KR" altLang="en-US" sz="1200" dirty="0">
              <a:solidFill>
                <a:schemeClr val="bg1">
                  <a:lumMod val="50000"/>
                </a:schemeClr>
              </a:solidFill>
            </a:endParaRPr>
          </a:p>
        </p:txBody>
      </p:sp>
      <p:sp>
        <p:nvSpPr>
          <p:cNvPr id="55" name="말풍선: 모서리가 둥근 사각형 54">
            <a:extLst>
              <a:ext uri="{FF2B5EF4-FFF2-40B4-BE49-F238E27FC236}">
                <a16:creationId xmlns:a16="http://schemas.microsoft.com/office/drawing/2014/main" id="{04767EA8-4A2D-4632-B15C-C2C7CADDCB89}"/>
              </a:ext>
            </a:extLst>
          </p:cNvPr>
          <p:cNvSpPr/>
          <p:nvPr/>
        </p:nvSpPr>
        <p:spPr>
          <a:xfrm>
            <a:off x="161872" y="1836811"/>
            <a:ext cx="4323745" cy="1137415"/>
          </a:xfrm>
          <a:prstGeom prst="wedgeRoundRectCallout">
            <a:avLst>
              <a:gd name="adj1" fmla="val 44491"/>
              <a:gd name="adj2" fmla="val 90227"/>
              <a:gd name="adj3" fmla="val 16667"/>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r>
              <a:rPr lang="ko-KR" altLang="en-US" sz="1200" dirty="0">
                <a:solidFill>
                  <a:schemeClr val="bg1">
                    <a:lumMod val="50000"/>
                  </a:schemeClr>
                </a:solidFill>
              </a:rPr>
              <a:t>소극적 권리범위확인심판의 가장 중요한 기능은 분쟁의 예방이고</a:t>
            </a:r>
            <a:r>
              <a:rPr lang="en-US" altLang="ko-KR" sz="1200" dirty="0">
                <a:solidFill>
                  <a:schemeClr val="bg1">
                    <a:lumMod val="50000"/>
                  </a:schemeClr>
                </a:solidFill>
              </a:rPr>
              <a:t>, </a:t>
            </a:r>
            <a:r>
              <a:rPr lang="ko-KR" altLang="en-US" sz="1200" dirty="0">
                <a:solidFill>
                  <a:schemeClr val="bg1">
                    <a:lumMod val="50000"/>
                  </a:schemeClr>
                </a:solidFill>
              </a:rPr>
              <a:t>실시할 가능성을 너무 엄격하게 적용하면 소극적 권리범위확인심판의 효용성은 크게 떨어질 것이기 때문에 그러한 예방적 기능을 충분히 보장하기 위해서는 장래 실시할 계획이 있다고 주장되는 확인대상발명의 확인의 이익을 폭넓게 인정</a:t>
            </a:r>
            <a:r>
              <a:rPr lang="en-US" altLang="ko-KR" sz="1200" dirty="0">
                <a:solidFill>
                  <a:schemeClr val="bg1">
                    <a:lumMod val="50000"/>
                  </a:schemeClr>
                </a:solidFill>
              </a:rPr>
              <a:t>(85</a:t>
            </a:r>
            <a:r>
              <a:rPr lang="ko-KR" altLang="en-US" sz="1200" dirty="0">
                <a:solidFill>
                  <a:schemeClr val="bg1">
                    <a:lumMod val="50000"/>
                  </a:schemeClr>
                </a:solidFill>
              </a:rPr>
              <a:t>후</a:t>
            </a:r>
            <a:r>
              <a:rPr lang="en-US" altLang="ko-KR" sz="1200" dirty="0">
                <a:solidFill>
                  <a:schemeClr val="bg1">
                    <a:lumMod val="50000"/>
                  </a:schemeClr>
                </a:solidFill>
              </a:rPr>
              <a:t>48, 49)</a:t>
            </a:r>
            <a:endParaRPr lang="ko-KR" altLang="en-US" sz="1200" dirty="0">
              <a:solidFill>
                <a:schemeClr val="bg1">
                  <a:lumMod val="50000"/>
                </a:schemeClr>
              </a:solidFill>
            </a:endParaRPr>
          </a:p>
        </p:txBody>
      </p:sp>
      <p:sp>
        <p:nvSpPr>
          <p:cNvPr id="57" name="말풍선: 모서리가 둥근 사각형 56">
            <a:extLst>
              <a:ext uri="{FF2B5EF4-FFF2-40B4-BE49-F238E27FC236}">
                <a16:creationId xmlns:a16="http://schemas.microsoft.com/office/drawing/2014/main" id="{85DA87A7-8D3D-428C-B231-9182EDE2E45A}"/>
              </a:ext>
            </a:extLst>
          </p:cNvPr>
          <p:cNvSpPr/>
          <p:nvPr/>
        </p:nvSpPr>
        <p:spPr>
          <a:xfrm>
            <a:off x="7703277" y="5241806"/>
            <a:ext cx="4352121" cy="880843"/>
          </a:xfrm>
          <a:prstGeom prst="wedgeRoundRectCallout">
            <a:avLst>
              <a:gd name="adj1" fmla="val -3413"/>
              <a:gd name="adj2" fmla="val -174618"/>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fontAlgn="base">
              <a:buFont typeface="Arial" panose="020B0604020202020204" pitchFamily="34" charset="0"/>
              <a:buChar char="•"/>
            </a:pPr>
            <a:r>
              <a:rPr lang="ko-KR" altLang="en-US" sz="1200" dirty="0">
                <a:solidFill>
                  <a:srgbClr val="FF0000"/>
                </a:solidFill>
              </a:rPr>
              <a:t>침해소송의 재판부 기망을 막을 방안은</a:t>
            </a:r>
            <a:r>
              <a:rPr lang="en-US" altLang="ko-KR" sz="1200" dirty="0">
                <a:solidFill>
                  <a:srgbClr val="FF0000"/>
                </a:solidFill>
              </a:rPr>
              <a:t>?</a:t>
            </a:r>
          </a:p>
          <a:p>
            <a:pPr fontAlgn="base"/>
            <a:r>
              <a:rPr lang="en-US" altLang="ko-KR" sz="1200" dirty="0">
                <a:solidFill>
                  <a:schemeClr val="bg1">
                    <a:lumMod val="50000"/>
                  </a:schemeClr>
                </a:solidFill>
              </a:rPr>
              <a:t>  - </a:t>
            </a:r>
            <a:r>
              <a:rPr lang="ko-KR" altLang="en-US" sz="1200" dirty="0">
                <a:solidFill>
                  <a:schemeClr val="bg1">
                    <a:lumMod val="50000"/>
                  </a:schemeClr>
                </a:solidFill>
              </a:rPr>
              <a:t>실시제품인지 아니면 실시예정제품인지 </a:t>
            </a:r>
            <a:r>
              <a:rPr lang="ko-KR" altLang="en-US" sz="1200" dirty="0" err="1">
                <a:solidFill>
                  <a:schemeClr val="bg1">
                    <a:lumMod val="50000"/>
                  </a:schemeClr>
                </a:solidFill>
              </a:rPr>
              <a:t>심결</a:t>
            </a:r>
            <a:r>
              <a:rPr lang="ko-KR" altLang="en-US" sz="1200" dirty="0">
                <a:solidFill>
                  <a:schemeClr val="bg1">
                    <a:lumMod val="50000"/>
                  </a:schemeClr>
                </a:solidFill>
              </a:rPr>
              <a:t> 시까지 밝혀야 함</a:t>
            </a:r>
            <a:endParaRPr lang="en-US" altLang="ko-KR" sz="1200" dirty="0">
              <a:solidFill>
                <a:schemeClr val="bg1">
                  <a:lumMod val="50000"/>
                </a:schemeClr>
              </a:solidFill>
            </a:endParaRPr>
          </a:p>
          <a:p>
            <a:pPr fontAlgn="base"/>
            <a:r>
              <a:rPr lang="en-US" altLang="ko-KR" sz="1200" dirty="0">
                <a:solidFill>
                  <a:schemeClr val="bg1">
                    <a:lumMod val="50000"/>
                  </a:schemeClr>
                </a:solidFill>
              </a:rPr>
              <a:t>  - </a:t>
            </a:r>
            <a:r>
              <a:rPr lang="ko-KR" altLang="en-US" sz="1200" dirty="0" err="1">
                <a:solidFill>
                  <a:schemeClr val="bg1">
                    <a:lumMod val="50000"/>
                  </a:schemeClr>
                </a:solidFill>
              </a:rPr>
              <a:t>심결문에</a:t>
            </a:r>
            <a:r>
              <a:rPr lang="ko-KR" altLang="en-US" sz="1200" dirty="0">
                <a:solidFill>
                  <a:schemeClr val="bg1">
                    <a:lumMod val="50000"/>
                  </a:schemeClr>
                </a:solidFill>
              </a:rPr>
              <a:t> 이를 기재</a:t>
            </a:r>
          </a:p>
        </p:txBody>
      </p:sp>
      <p:sp>
        <p:nvSpPr>
          <p:cNvPr id="58" name="말풍선: 모서리가 둥근 사각형 57">
            <a:extLst>
              <a:ext uri="{FF2B5EF4-FFF2-40B4-BE49-F238E27FC236}">
                <a16:creationId xmlns:a16="http://schemas.microsoft.com/office/drawing/2014/main" id="{07D820A1-E750-4C65-9C65-27B169A6C9D5}"/>
              </a:ext>
            </a:extLst>
          </p:cNvPr>
          <p:cNvSpPr/>
          <p:nvPr/>
        </p:nvSpPr>
        <p:spPr>
          <a:xfrm>
            <a:off x="526473" y="5783572"/>
            <a:ext cx="6816438" cy="960525"/>
          </a:xfrm>
          <a:prstGeom prst="wedgeRoundRectCallout">
            <a:avLst>
              <a:gd name="adj1" fmla="val 53702"/>
              <a:gd name="adj2" fmla="val -214864"/>
              <a:gd name="adj3" fmla="val 16667"/>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base"/>
            <a:r>
              <a:rPr lang="ko-KR" altLang="en-US" sz="1200" dirty="0">
                <a:solidFill>
                  <a:schemeClr val="bg1">
                    <a:lumMod val="50000"/>
                  </a:schemeClr>
                </a:solidFill>
              </a:rPr>
              <a:t>소극적 권리범위확인심판에서는 심판청구인이 현실적으로 실시하는 기술이 심판청구에서 심판의 대상으로 삼은 구체적인 발명과 다르다고 하더라도 심판청구인이 특정한 발명이 실시가능성이 없을 경우 그 청구의 적법 여부가 문제로 될 수 있을 뿐이고</a:t>
            </a:r>
            <a:r>
              <a:rPr lang="en-US" altLang="ko-KR" sz="1200" dirty="0">
                <a:solidFill>
                  <a:schemeClr val="bg1">
                    <a:lumMod val="50000"/>
                  </a:schemeClr>
                </a:solidFill>
              </a:rPr>
              <a:t>, </a:t>
            </a:r>
            <a:r>
              <a:rPr lang="ko-KR" altLang="en-US" sz="1200" dirty="0">
                <a:solidFill>
                  <a:schemeClr val="bg1">
                    <a:lumMod val="50000"/>
                  </a:schemeClr>
                </a:solidFill>
              </a:rPr>
              <a:t>여전히 심판의 대상은 심판청구인이 특정한 확인대상발명으로</a:t>
            </a:r>
            <a:r>
              <a:rPr lang="en-US" altLang="ko-KR" sz="1200" dirty="0">
                <a:solidFill>
                  <a:schemeClr val="bg1">
                    <a:lumMod val="50000"/>
                  </a:schemeClr>
                </a:solidFill>
              </a:rPr>
              <a:t>, </a:t>
            </a:r>
            <a:r>
              <a:rPr lang="ko-KR" altLang="en-US" sz="1200" dirty="0">
                <a:solidFill>
                  <a:schemeClr val="bg1">
                    <a:lumMod val="50000"/>
                  </a:schemeClr>
                </a:solidFill>
              </a:rPr>
              <a:t>이를 기준으로 특허발명과 대비하여 그 권리범위에 속하는지 여부를 판단</a:t>
            </a:r>
            <a:r>
              <a:rPr lang="en-US" altLang="ko-KR" sz="1200" dirty="0">
                <a:solidFill>
                  <a:schemeClr val="bg1">
                    <a:lumMod val="50000"/>
                  </a:schemeClr>
                </a:solidFill>
              </a:rPr>
              <a:t>(2020</a:t>
            </a:r>
            <a:r>
              <a:rPr lang="ko-KR" altLang="en-US" sz="1200" dirty="0">
                <a:solidFill>
                  <a:schemeClr val="bg1">
                    <a:lumMod val="50000"/>
                  </a:schemeClr>
                </a:solidFill>
              </a:rPr>
              <a:t>후</a:t>
            </a:r>
            <a:r>
              <a:rPr lang="en-US" altLang="ko-KR" sz="1200" dirty="0">
                <a:solidFill>
                  <a:schemeClr val="bg1">
                    <a:lumMod val="50000"/>
                  </a:schemeClr>
                </a:solidFill>
              </a:rPr>
              <a:t>11813)</a:t>
            </a:r>
            <a:endParaRPr lang="ko-KR" altLang="en-US" sz="1200" dirty="0">
              <a:solidFill>
                <a:schemeClr val="bg1">
                  <a:lumMod val="50000"/>
                </a:schemeClr>
              </a:solidFill>
            </a:endParaRPr>
          </a:p>
        </p:txBody>
      </p:sp>
      <p:sp>
        <p:nvSpPr>
          <p:cNvPr id="6" name="Rectangle 14">
            <a:extLst>
              <a:ext uri="{FF2B5EF4-FFF2-40B4-BE49-F238E27FC236}">
                <a16:creationId xmlns:a16="http://schemas.microsoft.com/office/drawing/2014/main" id="{17FCDD56-E85C-4994-132B-C715CFF0BC45}"/>
              </a:ext>
            </a:extLst>
          </p:cNvPr>
          <p:cNvSpPr>
            <a:spLocks noChangeArrowheads="1"/>
          </p:cNvSpPr>
          <p:nvPr/>
        </p:nvSpPr>
        <p:spPr bwMode="auto">
          <a:xfrm flipV="1">
            <a:off x="6343034" y="4302243"/>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 name="TextBox 7">
            <a:extLst>
              <a:ext uri="{FF2B5EF4-FFF2-40B4-BE49-F238E27FC236}">
                <a16:creationId xmlns:a16="http://schemas.microsoft.com/office/drawing/2014/main" id="{B44C296F-6901-9BC7-101F-06AAFE651298}"/>
              </a:ext>
            </a:extLst>
          </p:cNvPr>
          <p:cNvSpPr txBox="1"/>
          <p:nvPr/>
        </p:nvSpPr>
        <p:spPr>
          <a:xfrm>
            <a:off x="5887906" y="3058896"/>
            <a:ext cx="1047310" cy="461665"/>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200" dirty="0"/>
              <a:t>다툼이 없는</a:t>
            </a:r>
            <a:endParaRPr lang="en-US" altLang="ko-KR" sz="1200" dirty="0"/>
          </a:p>
          <a:p>
            <a:pPr algn="ctr"/>
            <a:r>
              <a:rPr lang="ko-KR" altLang="en-US" sz="1200" dirty="0"/>
              <a:t>경우</a:t>
            </a:r>
            <a:endParaRPr lang="en-US" altLang="ko-KR" sz="1200" dirty="0"/>
          </a:p>
        </p:txBody>
      </p:sp>
      <p:cxnSp>
        <p:nvCxnSpPr>
          <p:cNvPr id="10" name="직선 연결선 9">
            <a:extLst>
              <a:ext uri="{FF2B5EF4-FFF2-40B4-BE49-F238E27FC236}">
                <a16:creationId xmlns:a16="http://schemas.microsoft.com/office/drawing/2014/main" id="{C51FBEEE-F01A-87DD-F950-F92438BB742B}"/>
              </a:ext>
            </a:extLst>
          </p:cNvPr>
          <p:cNvCxnSpPr>
            <a:cxnSpLocks/>
            <a:stCxn id="8" idx="2"/>
            <a:endCxn id="6" idx="4"/>
          </p:cNvCxnSpPr>
          <p:nvPr/>
        </p:nvCxnSpPr>
        <p:spPr>
          <a:xfrm>
            <a:off x="6411561" y="3520561"/>
            <a:ext cx="2911" cy="78168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말풍선: 모서리가 둥근 사각형 10">
            <a:extLst>
              <a:ext uri="{FF2B5EF4-FFF2-40B4-BE49-F238E27FC236}">
                <a16:creationId xmlns:a16="http://schemas.microsoft.com/office/drawing/2014/main" id="{E5F986F3-78BE-F493-8544-55E4CA565F88}"/>
              </a:ext>
            </a:extLst>
          </p:cNvPr>
          <p:cNvSpPr/>
          <p:nvPr/>
        </p:nvSpPr>
        <p:spPr>
          <a:xfrm>
            <a:off x="7009105" y="1947508"/>
            <a:ext cx="5046293" cy="1345432"/>
          </a:xfrm>
          <a:prstGeom prst="wedgeRoundRectCallout">
            <a:avLst>
              <a:gd name="adj1" fmla="val -51358"/>
              <a:gd name="adj2" fmla="val 45902"/>
              <a:gd name="adj3" fmla="val 16667"/>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r>
              <a:rPr lang="ko-KR" altLang="en-US" sz="1200" dirty="0">
                <a:solidFill>
                  <a:schemeClr val="bg1">
                    <a:lumMod val="50000"/>
                  </a:schemeClr>
                </a:solidFill>
              </a:rPr>
              <a:t>소극적 권리범위확인심판에서는 현재 실시하는 것만이 아니라 장래 실시 예정인 것도 심판대상으로 삼을 수 있다</a:t>
            </a:r>
            <a:r>
              <a:rPr lang="en-US" altLang="ko-KR" sz="1200" dirty="0">
                <a:solidFill>
                  <a:schemeClr val="bg1">
                    <a:lumMod val="50000"/>
                  </a:schemeClr>
                </a:solidFill>
              </a:rPr>
              <a:t>. </a:t>
            </a:r>
            <a:r>
              <a:rPr lang="ko-KR" altLang="en-US" sz="1200" dirty="0">
                <a:solidFill>
                  <a:schemeClr val="bg1">
                    <a:lumMod val="50000"/>
                  </a:schemeClr>
                </a:solidFill>
              </a:rPr>
              <a:t>그러나 당사자 사이에 심판청구인이 현재 실시하고 있는 기술이 특허권의 권리범위에 속하는지에 관하여만 다툼이 있을 뿐이고</a:t>
            </a:r>
            <a:r>
              <a:rPr lang="en-US" altLang="ko-KR" sz="1200" dirty="0">
                <a:solidFill>
                  <a:schemeClr val="bg1">
                    <a:lumMod val="50000"/>
                  </a:schemeClr>
                </a:solidFill>
              </a:rPr>
              <a:t>, </a:t>
            </a:r>
            <a:r>
              <a:rPr lang="ko-KR" altLang="en-US" sz="1200" dirty="0">
                <a:solidFill>
                  <a:schemeClr val="bg1">
                    <a:lumMod val="50000"/>
                  </a:schemeClr>
                </a:solidFill>
              </a:rPr>
              <a:t>심판청구인이 장래 실시할 예정이라고 주장하면서 심판대상으로 특정한 확인대상발명이 특허권의 권리범위에 속하지 않는다는 점에 관하여는 아무런 다툼이 없는 경우라면</a:t>
            </a:r>
            <a:r>
              <a:rPr lang="en-US" altLang="ko-KR" sz="1200" dirty="0">
                <a:solidFill>
                  <a:schemeClr val="bg1">
                    <a:lumMod val="50000"/>
                  </a:schemeClr>
                </a:solidFill>
              </a:rPr>
              <a:t>, </a:t>
            </a:r>
            <a:r>
              <a:rPr lang="ko-KR" altLang="en-US" sz="1200" dirty="0">
                <a:solidFill>
                  <a:schemeClr val="bg1">
                    <a:lumMod val="50000"/>
                  </a:schemeClr>
                </a:solidFill>
              </a:rPr>
              <a:t>그러한 확인대상발명을 심판대상으로 하는 소극적 권리범위확인심판은 심판청구의 이익이 없어 허용되지 않는다</a:t>
            </a:r>
            <a:r>
              <a:rPr lang="en-US" altLang="ko-KR" sz="1200" dirty="0">
                <a:solidFill>
                  <a:schemeClr val="bg1">
                    <a:lumMod val="50000"/>
                  </a:schemeClr>
                </a:solidFill>
              </a:rPr>
              <a:t>(2014</a:t>
            </a:r>
            <a:r>
              <a:rPr lang="ko-KR" altLang="en-US" sz="1200" dirty="0">
                <a:solidFill>
                  <a:schemeClr val="bg1">
                    <a:lumMod val="50000"/>
                  </a:schemeClr>
                </a:solidFill>
              </a:rPr>
              <a:t>후</a:t>
            </a:r>
            <a:r>
              <a:rPr lang="en-US" altLang="ko-KR" sz="1200" dirty="0">
                <a:solidFill>
                  <a:schemeClr val="bg1">
                    <a:lumMod val="50000"/>
                  </a:schemeClr>
                </a:solidFill>
              </a:rPr>
              <a:t>2849) .</a:t>
            </a:r>
          </a:p>
        </p:txBody>
      </p:sp>
    </p:spTree>
    <p:extLst>
      <p:ext uri="{BB962C8B-B14F-4D97-AF65-F5344CB8AC3E}">
        <p14:creationId xmlns:p14="http://schemas.microsoft.com/office/powerpoint/2010/main" val="777007150"/>
      </p:ext>
    </p:extLst>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t>권리 대 권리 간의 적극적 권리범위확인심판 </a:t>
            </a:r>
            <a:r>
              <a:rPr lang="en-US" altLang="ko-KR" dirty="0"/>
              <a:t>CASE</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44" name="직선 연결선 43">
            <a:extLst>
              <a:ext uri="{FF2B5EF4-FFF2-40B4-BE49-F238E27FC236}">
                <a16:creationId xmlns:a16="http://schemas.microsoft.com/office/drawing/2014/main" id="{D3BB6AF1-7F60-452C-A6FA-C26D553DE96B}"/>
              </a:ext>
            </a:extLst>
          </p:cNvPr>
          <p:cNvCxnSpPr/>
          <p:nvPr/>
        </p:nvCxnSpPr>
        <p:spPr>
          <a:xfrm>
            <a:off x="0" y="4678669"/>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직사각형 44">
            <a:extLst>
              <a:ext uri="{FF2B5EF4-FFF2-40B4-BE49-F238E27FC236}">
                <a16:creationId xmlns:a16="http://schemas.microsoft.com/office/drawing/2014/main" id="{7C8A4446-9A84-44CF-BF8E-778825646662}"/>
              </a:ext>
            </a:extLst>
          </p:cNvPr>
          <p:cNvSpPr/>
          <p:nvPr/>
        </p:nvSpPr>
        <p:spPr>
          <a:xfrm>
            <a:off x="232372" y="1353610"/>
            <a:ext cx="11681987" cy="3323987"/>
          </a:xfrm>
          <a:prstGeom prst="rect">
            <a:avLst/>
          </a:prstGeom>
        </p:spPr>
        <p:txBody>
          <a:bodyPr wrap="square">
            <a:spAutoFit/>
          </a:bodyPr>
          <a:lstStyle/>
          <a:p>
            <a:pPr algn="just" fontAlgn="base"/>
            <a:r>
              <a:rPr lang="en-US" altLang="ko-KR" sz="1400" dirty="0"/>
              <a:t>[1] </a:t>
            </a:r>
            <a:r>
              <a:rPr lang="ko-KR" altLang="en-US" sz="1400" dirty="0"/>
              <a:t>후 출원에 의하여 등록된 발명을 확인대상발명으로 하여 선 출원에 의한 등록발명의 권리범위에 속한다는 확인을 구하는 적극적 권리범위확인심판은 후 등록된 권리에 대한 무효심판의 확정 전에 그 권리의 효력을 부정하는 결과가 되므로 원칙적으로 허용되지 아니한다</a:t>
            </a:r>
            <a:r>
              <a:rPr lang="en-US" altLang="ko-KR" sz="1400" dirty="0">
                <a:solidFill>
                  <a:srgbClr val="FF0000"/>
                </a:solidFill>
              </a:rPr>
              <a:t>. </a:t>
            </a:r>
            <a:r>
              <a:rPr lang="ko-KR" altLang="en-US" sz="1400" dirty="0">
                <a:highlight>
                  <a:srgbClr val="FFFF00"/>
                </a:highlight>
              </a:rPr>
              <a:t>다만</a:t>
            </a:r>
            <a:r>
              <a:rPr lang="en-US" altLang="ko-KR" sz="1400" dirty="0">
                <a:highlight>
                  <a:srgbClr val="FFFF00"/>
                </a:highlight>
              </a:rPr>
              <a:t>, </a:t>
            </a:r>
            <a:r>
              <a:rPr lang="ko-KR" altLang="en-US" sz="1400" dirty="0">
                <a:highlight>
                  <a:srgbClr val="FFFF00"/>
                </a:highlight>
              </a:rPr>
              <a:t>예외적으로 두 발명이 특허법 제</a:t>
            </a:r>
            <a:r>
              <a:rPr lang="en-US" altLang="ko-KR" sz="1400" dirty="0">
                <a:highlight>
                  <a:srgbClr val="FFFF00"/>
                </a:highlight>
              </a:rPr>
              <a:t>98</a:t>
            </a:r>
            <a:r>
              <a:rPr lang="ko-KR" altLang="en-US" sz="1400" dirty="0">
                <a:highlight>
                  <a:srgbClr val="FFFF00"/>
                </a:highlight>
              </a:rPr>
              <a:t>조에서 규정하는 이용관계에 있어 확인대상발명의 등록의 효력을 부정하지 않고 권리범위의 확인을 구할 수 있는 경우에는 권리 대 권리 간의 적극적 권리범위확인심판의 청구가 허용된다</a:t>
            </a:r>
            <a:r>
              <a:rPr lang="en-US" altLang="ko-KR" sz="1400" dirty="0">
                <a:highlight>
                  <a:srgbClr val="FFFF00"/>
                </a:highlight>
              </a:rPr>
              <a:t>(</a:t>
            </a:r>
            <a:r>
              <a:rPr lang="ko-KR" altLang="en-US" sz="1400" dirty="0">
                <a:highlight>
                  <a:srgbClr val="FFFF00"/>
                </a:highlight>
              </a:rPr>
              <a:t>대법원 </a:t>
            </a:r>
            <a:r>
              <a:rPr lang="en-US" altLang="ko-KR" sz="1400" dirty="0">
                <a:highlight>
                  <a:srgbClr val="FFFF00"/>
                </a:highlight>
              </a:rPr>
              <a:t>2002. 6. 28. </a:t>
            </a:r>
            <a:r>
              <a:rPr lang="ko-KR" altLang="en-US" sz="1400" dirty="0">
                <a:highlight>
                  <a:srgbClr val="FFFF00"/>
                </a:highlight>
              </a:rPr>
              <a:t>선고 </a:t>
            </a:r>
            <a:r>
              <a:rPr lang="en-US" altLang="ko-KR" sz="1400" dirty="0">
                <a:highlight>
                  <a:srgbClr val="FFFF00"/>
                </a:highlight>
              </a:rPr>
              <a:t>99</a:t>
            </a:r>
            <a:r>
              <a:rPr lang="ko-KR" altLang="en-US" sz="1400" dirty="0">
                <a:highlight>
                  <a:srgbClr val="FFFF00"/>
                </a:highlight>
              </a:rPr>
              <a:t>후</a:t>
            </a:r>
            <a:r>
              <a:rPr lang="en-US" altLang="ko-KR" sz="1400" dirty="0">
                <a:highlight>
                  <a:srgbClr val="FFFF00"/>
                </a:highlight>
              </a:rPr>
              <a:t>2433 </a:t>
            </a:r>
            <a:r>
              <a:rPr lang="ko-KR" altLang="en-US" sz="1400" dirty="0">
                <a:highlight>
                  <a:srgbClr val="FFFF00"/>
                </a:highlight>
              </a:rPr>
              <a:t>판결 참조</a:t>
            </a:r>
            <a:r>
              <a:rPr lang="en-US" altLang="ko-KR" sz="1400" dirty="0">
                <a:highlight>
                  <a:srgbClr val="FFFF00"/>
                </a:highlight>
              </a:rPr>
              <a:t>).</a:t>
            </a:r>
            <a:r>
              <a:rPr lang="en-US" altLang="ko-KR" sz="1400" dirty="0"/>
              <a:t> </a:t>
            </a:r>
            <a:r>
              <a:rPr lang="ko-KR" altLang="en-US" sz="1400" dirty="0"/>
              <a:t>한편 선 특허발명과 후 발명이 이용관계에 있는 경우에는 후 발명은 선 특허발명의 권리범위에 속하게 된다</a:t>
            </a:r>
            <a:r>
              <a:rPr lang="en-US" altLang="ko-KR" sz="1400" dirty="0"/>
              <a:t>. </a:t>
            </a:r>
            <a:r>
              <a:rPr lang="ko-KR" altLang="en-US" sz="1400" dirty="0"/>
              <a:t>여기서 두 발명이 이용관계에 있는 경우라고 함은 후 발명이 선 특허발명의 기술적 구성에 새로운 기술적 요소를 부가하는 것으로서</a:t>
            </a:r>
            <a:r>
              <a:rPr lang="en-US" altLang="ko-KR" sz="1400" dirty="0"/>
              <a:t>, </a:t>
            </a:r>
            <a:r>
              <a:rPr lang="ko-KR" altLang="en-US" sz="1400" dirty="0"/>
              <a:t>후 발명이 선 특허발명의 요지를 전부 포함하고 이를 그대로 이용하되</a:t>
            </a:r>
            <a:r>
              <a:rPr lang="en-US" altLang="ko-KR" sz="1400" dirty="0"/>
              <a:t>, </a:t>
            </a:r>
            <a:r>
              <a:rPr lang="ko-KR" altLang="en-US" sz="1400" dirty="0"/>
              <a:t>후 발명 내에서 선 특허발명이 </a:t>
            </a:r>
            <a:r>
              <a:rPr lang="ko-KR" altLang="en-US" sz="1400" dirty="0" err="1"/>
              <a:t>발명으로서의</a:t>
            </a:r>
            <a:r>
              <a:rPr lang="ko-KR" altLang="en-US" sz="1400" dirty="0"/>
              <a:t> </a:t>
            </a:r>
            <a:r>
              <a:rPr lang="ko-KR" altLang="en-US" sz="1400" dirty="0">
                <a:highlight>
                  <a:srgbClr val="FFFF00"/>
                </a:highlight>
              </a:rPr>
              <a:t>일체성을 유지하는 경우</a:t>
            </a:r>
            <a:r>
              <a:rPr lang="ko-KR" altLang="en-US" sz="1400" dirty="0"/>
              <a:t>를 말한다</a:t>
            </a:r>
            <a:r>
              <a:rPr lang="en-US" altLang="ko-KR" sz="1400" dirty="0"/>
              <a:t>(</a:t>
            </a:r>
            <a:r>
              <a:rPr lang="ko-KR" altLang="en-US" sz="1400" dirty="0"/>
              <a:t>대법원 </a:t>
            </a:r>
            <a:r>
              <a:rPr lang="en-US" altLang="ko-KR" sz="1400" dirty="0"/>
              <a:t>2001. 8. 21. </a:t>
            </a:r>
            <a:r>
              <a:rPr lang="ko-KR" altLang="en-US" sz="1400" dirty="0"/>
              <a:t>선고 </a:t>
            </a:r>
            <a:r>
              <a:rPr lang="en-US" altLang="ko-KR" sz="1400" dirty="0"/>
              <a:t>98</a:t>
            </a:r>
            <a:r>
              <a:rPr lang="ko-KR" altLang="en-US" sz="1400" dirty="0"/>
              <a:t>후</a:t>
            </a:r>
            <a:r>
              <a:rPr lang="en-US" altLang="ko-KR" sz="1400" dirty="0"/>
              <a:t>522 </a:t>
            </a:r>
            <a:r>
              <a:rPr lang="ko-KR" altLang="en-US" sz="1400" dirty="0"/>
              <a:t>판결 참조</a:t>
            </a:r>
            <a:r>
              <a:rPr lang="en-US" altLang="ko-KR" sz="1400" dirty="0"/>
              <a:t>).</a:t>
            </a:r>
            <a:r>
              <a:rPr lang="ko-KR" altLang="en-US" sz="1400" dirty="0"/>
              <a:t> </a:t>
            </a:r>
            <a:endParaRPr lang="en-US" altLang="ko-KR" sz="1400" dirty="0"/>
          </a:p>
          <a:p>
            <a:pPr algn="just" fontAlgn="base"/>
            <a:r>
              <a:rPr lang="en-US" altLang="ko-KR" sz="1400" dirty="0"/>
              <a:t>[2] </a:t>
            </a:r>
            <a:r>
              <a:rPr lang="ko-KR" altLang="en-US" sz="1400" dirty="0"/>
              <a:t>제</a:t>
            </a:r>
            <a:r>
              <a:rPr lang="en-US" altLang="ko-KR" sz="1400" dirty="0"/>
              <a:t>30</a:t>
            </a:r>
            <a:r>
              <a:rPr lang="ko-KR" altLang="en-US" sz="1400" dirty="0"/>
              <a:t>항 발명은 </a:t>
            </a:r>
            <a:r>
              <a:rPr lang="ko-KR" altLang="en-US" sz="1400" dirty="0">
                <a:highlight>
                  <a:srgbClr val="FFFF00"/>
                </a:highlight>
              </a:rPr>
              <a:t>구이의 눌어붙음 방지</a:t>
            </a:r>
            <a:r>
              <a:rPr lang="en-US" altLang="ko-KR" sz="1400" dirty="0">
                <a:highlight>
                  <a:srgbClr val="FFFF00"/>
                </a:highlight>
              </a:rPr>
              <a:t>, </a:t>
            </a:r>
            <a:r>
              <a:rPr lang="ko-KR" altLang="en-US" sz="1400" dirty="0">
                <a:highlight>
                  <a:srgbClr val="FFFF00"/>
                </a:highlight>
              </a:rPr>
              <a:t>열원 노출면적 확대 등의 효과</a:t>
            </a:r>
            <a:r>
              <a:rPr lang="ko-KR" altLang="en-US" sz="1400" dirty="0"/>
              <a:t>를 위하여 </a:t>
            </a:r>
            <a:r>
              <a:rPr lang="ko-KR" altLang="en-US" sz="1400" dirty="0">
                <a:highlight>
                  <a:srgbClr val="FFFF00"/>
                </a:highlight>
              </a:rPr>
              <a:t>선재를 한 방향</a:t>
            </a:r>
            <a:r>
              <a:rPr lang="ko-KR" altLang="en-US" sz="1400" dirty="0"/>
              <a:t>으로만 형성한 것인 데 비하여</a:t>
            </a:r>
            <a:r>
              <a:rPr lang="en-US" altLang="ko-KR" sz="1400" dirty="0"/>
              <a:t>, </a:t>
            </a:r>
            <a:r>
              <a:rPr lang="ko-KR" altLang="en-US" sz="1400" dirty="0"/>
              <a:t>확인대상발명은 하나의 </a:t>
            </a:r>
            <a:r>
              <a:rPr lang="ko-KR" altLang="en-US" sz="1400" dirty="0" err="1"/>
              <a:t>석쇠틀에서</a:t>
            </a:r>
            <a:r>
              <a:rPr lang="ko-KR" altLang="en-US" sz="1400" dirty="0"/>
              <a:t> 가로</a:t>
            </a:r>
            <a:r>
              <a:rPr lang="en-US" altLang="ko-KR" sz="1400" dirty="0"/>
              <a:t>,  </a:t>
            </a:r>
            <a:r>
              <a:rPr lang="ko-KR" altLang="en-US" sz="1400" dirty="0"/>
              <a:t>세로 방향으로 </a:t>
            </a:r>
            <a:r>
              <a:rPr lang="ko-KR" altLang="en-US" sz="1400" dirty="0">
                <a:highlight>
                  <a:srgbClr val="FFFF00"/>
                </a:highlight>
              </a:rPr>
              <a:t>선재가 교차되는 양방향 구성</a:t>
            </a:r>
            <a:r>
              <a:rPr lang="ko-KR" altLang="en-US" sz="1400" dirty="0"/>
              <a:t>을 채택하고 있었다</a:t>
            </a:r>
            <a:r>
              <a:rPr lang="en-US" altLang="ko-KR" sz="1400" dirty="0"/>
              <a:t>. </a:t>
            </a:r>
            <a:r>
              <a:rPr lang="ko-KR" altLang="en-US" sz="1400" dirty="0" err="1"/>
              <a:t>심결과</a:t>
            </a:r>
            <a:r>
              <a:rPr lang="ko-KR" altLang="en-US" sz="1400" dirty="0"/>
              <a:t> 원심은 이용관계에 있다고 판단하여 일단 본안판단으로 나아간 후 막상 권리범위 </a:t>
            </a:r>
            <a:r>
              <a:rPr lang="ko-KR" altLang="en-US" sz="1400" dirty="0" err="1"/>
              <a:t>속부</a:t>
            </a:r>
            <a:r>
              <a:rPr lang="ko-KR" altLang="en-US" sz="1400" dirty="0"/>
              <a:t> 실체 판단에서는 확인대상발명의 구성이 제</a:t>
            </a:r>
            <a:r>
              <a:rPr lang="en-US" altLang="ko-KR" sz="1400" dirty="0"/>
              <a:t>30</a:t>
            </a:r>
            <a:r>
              <a:rPr lang="ko-KR" altLang="en-US" sz="1400" dirty="0"/>
              <a:t>항 발명의 권리범위에서 의식적 제외된 구성이라고 보아 권리범위에 속하지 않는다고 판단하였다</a:t>
            </a:r>
            <a:r>
              <a:rPr lang="en-US" altLang="ko-KR" sz="1400" dirty="0"/>
              <a:t>. </a:t>
            </a:r>
            <a:r>
              <a:rPr lang="ko-KR" altLang="en-US" sz="1400" dirty="0"/>
              <a:t>그러나 대법원은</a:t>
            </a:r>
            <a:r>
              <a:rPr lang="en-US" altLang="ko-KR" sz="1400" dirty="0"/>
              <a:t>, </a:t>
            </a:r>
            <a:r>
              <a:rPr lang="ko-KR" altLang="en-US" sz="1400" dirty="0"/>
              <a:t>이용관계 해당 여부에 관한 대법원 </a:t>
            </a:r>
            <a:r>
              <a:rPr lang="en-US" altLang="ko-KR" sz="1400" dirty="0"/>
              <a:t>2001. 8. 21. </a:t>
            </a:r>
            <a:r>
              <a:rPr lang="ko-KR" altLang="en-US" sz="1400" dirty="0"/>
              <a:t>선고 </a:t>
            </a:r>
            <a:r>
              <a:rPr lang="en-US" altLang="ko-KR" sz="1400" dirty="0"/>
              <a:t>98</a:t>
            </a:r>
            <a:r>
              <a:rPr lang="ko-KR" altLang="en-US" sz="1400" dirty="0"/>
              <a:t>후</a:t>
            </a:r>
            <a:r>
              <a:rPr lang="en-US" altLang="ko-KR" sz="1400" dirty="0"/>
              <a:t>522 </a:t>
            </a:r>
            <a:r>
              <a:rPr lang="ko-KR" altLang="en-US" sz="1400" dirty="0"/>
              <a:t>판결의 판단기준을 인용한 다음</a:t>
            </a:r>
            <a:r>
              <a:rPr lang="en-US" altLang="ko-KR" sz="1400" dirty="0"/>
              <a:t>, </a:t>
            </a:r>
            <a:r>
              <a:rPr lang="ko-KR" altLang="en-US" sz="1400" dirty="0"/>
              <a:t>하나의 </a:t>
            </a:r>
            <a:r>
              <a:rPr lang="ko-KR" altLang="en-US" sz="1400" dirty="0" err="1"/>
              <a:t>석쇠틀에서</a:t>
            </a:r>
            <a:r>
              <a:rPr lang="ko-KR" altLang="en-US" sz="1400" dirty="0"/>
              <a:t> 가로</a:t>
            </a:r>
            <a:r>
              <a:rPr lang="en-US" altLang="ko-KR" sz="1400" dirty="0"/>
              <a:t>, </a:t>
            </a:r>
            <a:r>
              <a:rPr lang="ko-KR" altLang="en-US" sz="1400" dirty="0"/>
              <a:t>세로 방향으로 선재가 교차되는 확인대상발명의 </a:t>
            </a:r>
            <a:r>
              <a:rPr lang="ko-KR" altLang="en-US" sz="1400" dirty="0">
                <a:highlight>
                  <a:srgbClr val="FFFF00"/>
                </a:highlight>
              </a:rPr>
              <a:t>양방향 구성은 구이의 눌어붙음 방지</a:t>
            </a:r>
            <a:r>
              <a:rPr lang="en-US" altLang="ko-KR" sz="1400" dirty="0">
                <a:highlight>
                  <a:srgbClr val="FFFF00"/>
                </a:highlight>
              </a:rPr>
              <a:t>, </a:t>
            </a:r>
            <a:r>
              <a:rPr lang="ko-KR" altLang="en-US" sz="1400" dirty="0">
                <a:highlight>
                  <a:srgbClr val="FFFF00"/>
                </a:highlight>
              </a:rPr>
              <a:t>열원 노출면적 확대와 같은 한 방향 구성의 효과</a:t>
            </a:r>
            <a:r>
              <a:rPr lang="ko-KR" altLang="en-US" sz="1400" dirty="0"/>
              <a:t>를 나타낼 수 없어 제</a:t>
            </a:r>
            <a:r>
              <a:rPr lang="en-US" altLang="ko-KR" sz="1400" dirty="0"/>
              <a:t>30</a:t>
            </a:r>
            <a:r>
              <a:rPr lang="ko-KR" altLang="en-US" sz="1400" dirty="0"/>
              <a:t>항 발명과 상이한 구성이라고 할 것이고</a:t>
            </a:r>
            <a:r>
              <a:rPr lang="en-US" altLang="ko-KR" sz="1400" dirty="0"/>
              <a:t>, </a:t>
            </a:r>
            <a:r>
              <a:rPr lang="ko-KR" altLang="en-US" sz="1400" dirty="0"/>
              <a:t>확인대상발명 내에서 제</a:t>
            </a:r>
            <a:r>
              <a:rPr lang="en-US" altLang="ko-KR" sz="1400" dirty="0"/>
              <a:t>30</a:t>
            </a:r>
            <a:r>
              <a:rPr lang="ko-KR" altLang="en-US" sz="1400" dirty="0"/>
              <a:t>항 발명이 </a:t>
            </a:r>
            <a:r>
              <a:rPr lang="ko-KR" altLang="en-US" sz="1400" dirty="0" err="1"/>
              <a:t>발명으로서의</a:t>
            </a:r>
            <a:r>
              <a:rPr lang="ko-KR" altLang="en-US" sz="1400" dirty="0"/>
              <a:t> </a:t>
            </a:r>
            <a:r>
              <a:rPr lang="ko-KR" altLang="en-US" sz="1400" dirty="0">
                <a:highlight>
                  <a:srgbClr val="FFFF00"/>
                </a:highlight>
              </a:rPr>
              <a:t>일체성을 유지하고 있다고 볼 수도 없어</a:t>
            </a:r>
            <a:r>
              <a:rPr lang="ko-KR" altLang="en-US" sz="1400" dirty="0"/>
              <a:t> 두 발명이 이용관계에 있다고 볼 수 없으므로</a:t>
            </a:r>
            <a:r>
              <a:rPr lang="en-US" altLang="ko-KR" sz="1400" dirty="0"/>
              <a:t>, </a:t>
            </a:r>
            <a:r>
              <a:rPr lang="ko-KR" altLang="en-US" sz="1400" dirty="0"/>
              <a:t>이 사건 권리범위확인심판 청구는 후 출원에 의하여 등록된 발명을 확인대상발명으로 하여 선 출원에 의한 등록발명의 권리범위에 속한다는 확인을 구하는 적극적 권리범위확인심판으로서 </a:t>
            </a:r>
            <a:r>
              <a:rPr lang="ko-KR" altLang="en-US" sz="1400" dirty="0" err="1"/>
              <a:t>부적법하다는</a:t>
            </a:r>
            <a:r>
              <a:rPr lang="ko-KR" altLang="en-US" sz="1400" dirty="0"/>
              <a:t> 사례</a:t>
            </a:r>
            <a:endParaRPr lang="ko-KR" altLang="en-US" sz="1400" dirty="0">
              <a:solidFill>
                <a:srgbClr val="FF0000"/>
              </a:solidFill>
            </a:endParaRPr>
          </a:p>
        </p:txBody>
      </p:sp>
      <p:sp>
        <p:nvSpPr>
          <p:cNvPr id="46" name="모서리가 둥근 직사각형 10">
            <a:extLst>
              <a:ext uri="{FF2B5EF4-FFF2-40B4-BE49-F238E27FC236}">
                <a16:creationId xmlns:a16="http://schemas.microsoft.com/office/drawing/2014/main" id="{1EB2F813-B207-4574-BC6A-9E0259FF1206}"/>
              </a:ext>
            </a:extLst>
          </p:cNvPr>
          <p:cNvSpPr/>
          <p:nvPr/>
        </p:nvSpPr>
        <p:spPr bwMode="auto">
          <a:xfrm>
            <a:off x="378418" y="998802"/>
            <a:ext cx="5180410"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2016. 4. 28. </a:t>
            </a:r>
            <a:r>
              <a:rPr lang="ko-KR" altLang="en-US" sz="1400" dirty="0"/>
              <a:t>선고 </a:t>
            </a:r>
            <a:r>
              <a:rPr lang="en-US" altLang="ko-KR" sz="1400" dirty="0"/>
              <a:t>2015</a:t>
            </a:r>
            <a:r>
              <a:rPr lang="ko-KR" altLang="en-US" sz="1400" dirty="0"/>
              <a:t>후</a:t>
            </a:r>
            <a:r>
              <a:rPr lang="en-US" altLang="ko-KR" sz="1400" dirty="0"/>
              <a:t>161 </a:t>
            </a:r>
            <a:r>
              <a:rPr lang="ko-KR" altLang="en-US" sz="1400" dirty="0"/>
              <a:t>판결 </a:t>
            </a:r>
            <a:r>
              <a:rPr lang="en-US" altLang="ko-KR" sz="1400" dirty="0"/>
              <a:t>【</a:t>
            </a:r>
            <a:r>
              <a:rPr lang="ko-KR" altLang="en-US" sz="1400" dirty="0"/>
              <a:t>권리범위확인</a:t>
            </a:r>
            <a:r>
              <a:rPr lang="en-US" altLang="ko-KR" sz="1400" dirty="0"/>
              <a:t>(</a:t>
            </a:r>
            <a:r>
              <a:rPr lang="ko-KR" altLang="en-US" sz="1400" dirty="0" err="1"/>
              <a:t>특</a:t>
            </a:r>
            <a:r>
              <a:rPr lang="en-US" altLang="ko-KR" sz="1400" dirty="0"/>
              <a:t>)】</a:t>
            </a:r>
          </a:p>
        </p:txBody>
      </p:sp>
      <p:sp>
        <p:nvSpPr>
          <p:cNvPr id="47" name="Line 5">
            <a:extLst>
              <a:ext uri="{FF2B5EF4-FFF2-40B4-BE49-F238E27FC236}">
                <a16:creationId xmlns:a16="http://schemas.microsoft.com/office/drawing/2014/main" id="{288E448A-3BCC-4569-8DBB-90413EC47352}"/>
              </a:ext>
            </a:extLst>
          </p:cNvPr>
          <p:cNvSpPr>
            <a:spLocks noChangeShapeType="1"/>
          </p:cNvSpPr>
          <p:nvPr/>
        </p:nvSpPr>
        <p:spPr bwMode="auto">
          <a:xfrm>
            <a:off x="514351" y="5728671"/>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51" name="TextBox 50">
            <a:extLst>
              <a:ext uri="{FF2B5EF4-FFF2-40B4-BE49-F238E27FC236}">
                <a16:creationId xmlns:a16="http://schemas.microsoft.com/office/drawing/2014/main" id="{2F7EE7B1-E8D1-489B-8A0F-93940CCCEA13}"/>
              </a:ext>
            </a:extLst>
          </p:cNvPr>
          <p:cNvSpPr txBox="1"/>
          <p:nvPr/>
        </p:nvSpPr>
        <p:spPr>
          <a:xfrm>
            <a:off x="594160" y="5984846"/>
            <a:ext cx="1231432"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a:t>
            </a:r>
            <a:r>
              <a:rPr lang="en-US" altLang="ko-KR" sz="1200" dirty="0">
                <a:solidFill>
                  <a:schemeClr val="tx1"/>
                </a:solidFill>
                <a:latin typeface="+mn-ea"/>
              </a:rPr>
              <a:t>A1 </a:t>
            </a:r>
            <a:r>
              <a:rPr lang="ko-KR" altLang="en-US" sz="1200" dirty="0">
                <a:solidFill>
                  <a:schemeClr val="tx1"/>
                </a:solidFill>
                <a:latin typeface="+mn-ea"/>
              </a:rPr>
              <a:t>출원</a:t>
            </a:r>
          </a:p>
        </p:txBody>
      </p:sp>
      <p:sp>
        <p:nvSpPr>
          <p:cNvPr id="52" name="타원 51">
            <a:extLst>
              <a:ext uri="{FF2B5EF4-FFF2-40B4-BE49-F238E27FC236}">
                <a16:creationId xmlns:a16="http://schemas.microsoft.com/office/drawing/2014/main" id="{2C4868DE-4157-4B3F-8B12-7F9A32C23A5B}"/>
              </a:ext>
            </a:extLst>
          </p:cNvPr>
          <p:cNvSpPr/>
          <p:nvPr/>
        </p:nvSpPr>
        <p:spPr>
          <a:xfrm>
            <a:off x="1132506" y="563473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3" name="직선 연결선 52">
            <a:extLst>
              <a:ext uri="{FF2B5EF4-FFF2-40B4-BE49-F238E27FC236}">
                <a16:creationId xmlns:a16="http://schemas.microsoft.com/office/drawing/2014/main" id="{EE94C42E-AF92-44CA-ADBF-C70C7A0D3FD4}"/>
              </a:ext>
            </a:extLst>
          </p:cNvPr>
          <p:cNvCxnSpPr>
            <a:cxnSpLocks/>
            <a:stCxn id="51" idx="0"/>
            <a:endCxn id="52" idx="4"/>
          </p:cNvCxnSpPr>
          <p:nvPr/>
        </p:nvCxnSpPr>
        <p:spPr>
          <a:xfrm flipH="1" flipV="1">
            <a:off x="1209875" y="5796075"/>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E017E97D-AFC2-41B2-9475-D504BCD08F65}"/>
              </a:ext>
            </a:extLst>
          </p:cNvPr>
          <p:cNvSpPr txBox="1"/>
          <p:nvPr/>
        </p:nvSpPr>
        <p:spPr>
          <a:xfrm>
            <a:off x="1748341" y="5123150"/>
            <a:ext cx="87860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a:t>
            </a:r>
            <a:r>
              <a:rPr lang="en-US" altLang="ko-KR" sz="1200" dirty="0">
                <a:solidFill>
                  <a:schemeClr val="tx1"/>
                </a:solidFill>
                <a:latin typeface="+mn-ea"/>
              </a:rPr>
              <a:t>A2 </a:t>
            </a:r>
            <a:r>
              <a:rPr lang="ko-KR" altLang="en-US" sz="1200" dirty="0">
                <a:solidFill>
                  <a:schemeClr val="tx1"/>
                </a:solidFill>
                <a:latin typeface="+mn-ea"/>
              </a:rPr>
              <a:t>출원</a:t>
            </a:r>
          </a:p>
        </p:txBody>
      </p:sp>
      <p:sp>
        <p:nvSpPr>
          <p:cNvPr id="62" name="타원 61">
            <a:extLst>
              <a:ext uri="{FF2B5EF4-FFF2-40B4-BE49-F238E27FC236}">
                <a16:creationId xmlns:a16="http://schemas.microsoft.com/office/drawing/2014/main" id="{5BAD9E75-8A62-43DF-96F9-06204A8715BA}"/>
              </a:ext>
            </a:extLst>
          </p:cNvPr>
          <p:cNvSpPr/>
          <p:nvPr/>
        </p:nvSpPr>
        <p:spPr>
          <a:xfrm>
            <a:off x="2110273" y="5634737"/>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3" name="직선 연결선 62">
            <a:extLst>
              <a:ext uri="{FF2B5EF4-FFF2-40B4-BE49-F238E27FC236}">
                <a16:creationId xmlns:a16="http://schemas.microsoft.com/office/drawing/2014/main" id="{124B9428-8CAE-49FF-BFFB-ADBF91C48DE7}"/>
              </a:ext>
            </a:extLst>
          </p:cNvPr>
          <p:cNvCxnSpPr>
            <a:cxnSpLocks/>
            <a:stCxn id="60" idx="2"/>
            <a:endCxn id="62" idx="0"/>
          </p:cNvCxnSpPr>
          <p:nvPr/>
        </p:nvCxnSpPr>
        <p:spPr>
          <a:xfrm flipH="1">
            <a:off x="2187642" y="5400149"/>
            <a:ext cx="1" cy="23458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E6AD9DFB-EA93-434A-B386-05B9344E6019}"/>
              </a:ext>
            </a:extLst>
          </p:cNvPr>
          <p:cNvSpPr txBox="1"/>
          <p:nvPr/>
        </p:nvSpPr>
        <p:spPr>
          <a:xfrm>
            <a:off x="2686908" y="5984846"/>
            <a:ext cx="1231432"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a:t>
            </a:r>
            <a:r>
              <a:rPr lang="en-US" altLang="ko-KR" sz="1200" dirty="0">
                <a:solidFill>
                  <a:schemeClr val="tx1"/>
                </a:solidFill>
                <a:latin typeface="+mn-ea"/>
              </a:rPr>
              <a:t>A1 </a:t>
            </a:r>
            <a:r>
              <a:rPr lang="ko-KR" altLang="en-US" sz="1200" dirty="0">
                <a:solidFill>
                  <a:schemeClr val="tx1"/>
                </a:solidFill>
                <a:latin typeface="+mn-ea"/>
              </a:rPr>
              <a:t>등록</a:t>
            </a:r>
          </a:p>
        </p:txBody>
      </p:sp>
      <p:sp>
        <p:nvSpPr>
          <p:cNvPr id="68" name="타원 67">
            <a:extLst>
              <a:ext uri="{FF2B5EF4-FFF2-40B4-BE49-F238E27FC236}">
                <a16:creationId xmlns:a16="http://schemas.microsoft.com/office/drawing/2014/main" id="{B40A567B-28AB-4067-85CB-9AF6315F7C9B}"/>
              </a:ext>
            </a:extLst>
          </p:cNvPr>
          <p:cNvSpPr/>
          <p:nvPr/>
        </p:nvSpPr>
        <p:spPr>
          <a:xfrm>
            <a:off x="3225254" y="563473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9" name="직선 연결선 68">
            <a:extLst>
              <a:ext uri="{FF2B5EF4-FFF2-40B4-BE49-F238E27FC236}">
                <a16:creationId xmlns:a16="http://schemas.microsoft.com/office/drawing/2014/main" id="{F62B24AC-E6C5-4FCD-8454-135EF91B9A9E}"/>
              </a:ext>
            </a:extLst>
          </p:cNvPr>
          <p:cNvCxnSpPr>
            <a:cxnSpLocks/>
            <a:stCxn id="67" idx="0"/>
            <a:endCxn id="68" idx="4"/>
          </p:cNvCxnSpPr>
          <p:nvPr/>
        </p:nvCxnSpPr>
        <p:spPr>
          <a:xfrm flipH="1" flipV="1">
            <a:off x="3302623" y="5796075"/>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D1320D81-6B89-47A6-8AB8-9A7432697378}"/>
              </a:ext>
            </a:extLst>
          </p:cNvPr>
          <p:cNvSpPr txBox="1"/>
          <p:nvPr/>
        </p:nvSpPr>
        <p:spPr>
          <a:xfrm>
            <a:off x="3551978" y="5123150"/>
            <a:ext cx="87860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a:t>
            </a:r>
            <a:r>
              <a:rPr lang="en-US" altLang="ko-KR" sz="1200" dirty="0">
                <a:solidFill>
                  <a:schemeClr val="tx1"/>
                </a:solidFill>
                <a:latin typeface="+mn-ea"/>
              </a:rPr>
              <a:t>A2 </a:t>
            </a:r>
            <a:r>
              <a:rPr lang="ko-KR" altLang="en-US" sz="1200" dirty="0">
                <a:solidFill>
                  <a:schemeClr val="tx1"/>
                </a:solidFill>
                <a:latin typeface="+mn-ea"/>
              </a:rPr>
              <a:t>등록</a:t>
            </a:r>
          </a:p>
        </p:txBody>
      </p:sp>
      <p:sp>
        <p:nvSpPr>
          <p:cNvPr id="71" name="타원 70">
            <a:extLst>
              <a:ext uri="{FF2B5EF4-FFF2-40B4-BE49-F238E27FC236}">
                <a16:creationId xmlns:a16="http://schemas.microsoft.com/office/drawing/2014/main" id="{92B8D2E4-7F4F-47A4-A1C5-9EF1664770B0}"/>
              </a:ext>
            </a:extLst>
          </p:cNvPr>
          <p:cNvSpPr/>
          <p:nvPr/>
        </p:nvSpPr>
        <p:spPr>
          <a:xfrm>
            <a:off x="3913910" y="5634737"/>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2" name="직선 연결선 71">
            <a:extLst>
              <a:ext uri="{FF2B5EF4-FFF2-40B4-BE49-F238E27FC236}">
                <a16:creationId xmlns:a16="http://schemas.microsoft.com/office/drawing/2014/main" id="{30A76602-7E44-4256-A283-22E8A1BD4A67}"/>
              </a:ext>
            </a:extLst>
          </p:cNvPr>
          <p:cNvCxnSpPr>
            <a:cxnSpLocks/>
            <a:stCxn id="70" idx="2"/>
            <a:endCxn id="71" idx="0"/>
          </p:cNvCxnSpPr>
          <p:nvPr/>
        </p:nvCxnSpPr>
        <p:spPr>
          <a:xfrm flipH="1">
            <a:off x="3991279" y="5400149"/>
            <a:ext cx="1" cy="23458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8EF8EBB4-6135-4F3E-B768-53F2A57A4206}"/>
              </a:ext>
            </a:extLst>
          </p:cNvPr>
          <p:cNvSpPr txBox="1"/>
          <p:nvPr/>
        </p:nvSpPr>
        <p:spPr>
          <a:xfrm>
            <a:off x="4168844" y="5984846"/>
            <a:ext cx="1440096" cy="646331"/>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적극적 권리범위확인심판청구</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乙 피청구인</a:t>
            </a:r>
            <a:r>
              <a:rPr lang="en-US" altLang="ko-KR" sz="1200" dirty="0">
                <a:solidFill>
                  <a:schemeClr val="tx1"/>
                </a:solidFill>
                <a:latin typeface="+mn-ea"/>
              </a:rPr>
              <a:t>)</a:t>
            </a:r>
            <a:endParaRPr lang="ko-KR" altLang="en-US" sz="1200" dirty="0">
              <a:solidFill>
                <a:schemeClr val="tx1"/>
              </a:solidFill>
              <a:latin typeface="+mn-ea"/>
            </a:endParaRPr>
          </a:p>
        </p:txBody>
      </p:sp>
      <p:sp>
        <p:nvSpPr>
          <p:cNvPr id="75" name="타원 74">
            <a:extLst>
              <a:ext uri="{FF2B5EF4-FFF2-40B4-BE49-F238E27FC236}">
                <a16:creationId xmlns:a16="http://schemas.microsoft.com/office/drawing/2014/main" id="{229C8D8C-AF90-4937-B1B0-321C45594C3E}"/>
              </a:ext>
            </a:extLst>
          </p:cNvPr>
          <p:cNvSpPr/>
          <p:nvPr/>
        </p:nvSpPr>
        <p:spPr>
          <a:xfrm>
            <a:off x="4811522" y="563473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6" name="직선 연결선 75">
            <a:extLst>
              <a:ext uri="{FF2B5EF4-FFF2-40B4-BE49-F238E27FC236}">
                <a16:creationId xmlns:a16="http://schemas.microsoft.com/office/drawing/2014/main" id="{244AA6E2-D271-4D9B-ADA2-4A7D8D2A945E}"/>
              </a:ext>
            </a:extLst>
          </p:cNvPr>
          <p:cNvCxnSpPr>
            <a:cxnSpLocks/>
            <a:stCxn id="73" idx="0"/>
            <a:endCxn id="75" idx="4"/>
          </p:cNvCxnSpPr>
          <p:nvPr/>
        </p:nvCxnSpPr>
        <p:spPr>
          <a:xfrm flipH="1" flipV="1">
            <a:off x="4888891" y="5796075"/>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33A8261A-62D9-4FEE-A896-CEECBEE2E097}"/>
              </a:ext>
            </a:extLst>
          </p:cNvPr>
          <p:cNvSpPr txBox="1"/>
          <p:nvPr/>
        </p:nvSpPr>
        <p:spPr>
          <a:xfrm>
            <a:off x="5775914" y="5984846"/>
            <a:ext cx="94296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80" name="타원 79">
            <a:extLst>
              <a:ext uri="{FF2B5EF4-FFF2-40B4-BE49-F238E27FC236}">
                <a16:creationId xmlns:a16="http://schemas.microsoft.com/office/drawing/2014/main" id="{48380B79-859A-4BED-9B16-321AC96CCED0}"/>
              </a:ext>
            </a:extLst>
          </p:cNvPr>
          <p:cNvSpPr/>
          <p:nvPr/>
        </p:nvSpPr>
        <p:spPr>
          <a:xfrm>
            <a:off x="6170024" y="5634737"/>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2" name="직선 연결선 81">
            <a:extLst>
              <a:ext uri="{FF2B5EF4-FFF2-40B4-BE49-F238E27FC236}">
                <a16:creationId xmlns:a16="http://schemas.microsoft.com/office/drawing/2014/main" id="{79D4FBF6-CF8F-4D50-9F7A-6188C4D5A5D8}"/>
              </a:ext>
            </a:extLst>
          </p:cNvPr>
          <p:cNvCxnSpPr>
            <a:cxnSpLocks/>
            <a:stCxn id="78" idx="0"/>
            <a:endCxn id="80" idx="4"/>
          </p:cNvCxnSpPr>
          <p:nvPr/>
        </p:nvCxnSpPr>
        <p:spPr>
          <a:xfrm flipH="1" flipV="1">
            <a:off x="6247393" y="5796075"/>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3240AF74-3583-44AD-8749-D9244AE9A369}"/>
              </a:ext>
            </a:extLst>
          </p:cNvPr>
          <p:cNvSpPr txBox="1"/>
          <p:nvPr/>
        </p:nvSpPr>
        <p:spPr>
          <a:xfrm>
            <a:off x="6881766" y="5984846"/>
            <a:ext cx="923622"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소 제기</a:t>
            </a:r>
          </a:p>
        </p:txBody>
      </p:sp>
      <p:sp>
        <p:nvSpPr>
          <p:cNvPr id="84" name="타원 83">
            <a:extLst>
              <a:ext uri="{FF2B5EF4-FFF2-40B4-BE49-F238E27FC236}">
                <a16:creationId xmlns:a16="http://schemas.microsoft.com/office/drawing/2014/main" id="{A266187E-E1F1-43AA-98C6-BC717304FFE5}"/>
              </a:ext>
            </a:extLst>
          </p:cNvPr>
          <p:cNvSpPr/>
          <p:nvPr/>
        </p:nvSpPr>
        <p:spPr>
          <a:xfrm>
            <a:off x="7266207" y="563473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5" name="직선 연결선 84">
            <a:extLst>
              <a:ext uri="{FF2B5EF4-FFF2-40B4-BE49-F238E27FC236}">
                <a16:creationId xmlns:a16="http://schemas.microsoft.com/office/drawing/2014/main" id="{05849AD9-88CC-4FC4-8E3D-998083358B5F}"/>
              </a:ext>
            </a:extLst>
          </p:cNvPr>
          <p:cNvCxnSpPr>
            <a:cxnSpLocks/>
            <a:stCxn id="83" idx="0"/>
            <a:endCxn id="84" idx="4"/>
          </p:cNvCxnSpPr>
          <p:nvPr/>
        </p:nvCxnSpPr>
        <p:spPr>
          <a:xfrm flipH="1" flipV="1">
            <a:off x="7343576" y="5796075"/>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07564D6F-88F9-4262-AB34-749988263900}"/>
              </a:ext>
            </a:extLst>
          </p:cNvPr>
          <p:cNvSpPr txBox="1"/>
          <p:nvPr/>
        </p:nvSpPr>
        <p:spPr>
          <a:xfrm>
            <a:off x="7922638" y="5984846"/>
            <a:ext cx="94296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a:t>
            </a:r>
          </a:p>
        </p:txBody>
      </p:sp>
      <p:sp>
        <p:nvSpPr>
          <p:cNvPr id="92" name="타원 91">
            <a:extLst>
              <a:ext uri="{FF2B5EF4-FFF2-40B4-BE49-F238E27FC236}">
                <a16:creationId xmlns:a16="http://schemas.microsoft.com/office/drawing/2014/main" id="{DEAE2C98-4912-4502-8985-41A08D06B097}"/>
              </a:ext>
            </a:extLst>
          </p:cNvPr>
          <p:cNvSpPr/>
          <p:nvPr/>
        </p:nvSpPr>
        <p:spPr>
          <a:xfrm>
            <a:off x="8316748" y="5634737"/>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3" name="직선 연결선 92">
            <a:extLst>
              <a:ext uri="{FF2B5EF4-FFF2-40B4-BE49-F238E27FC236}">
                <a16:creationId xmlns:a16="http://schemas.microsoft.com/office/drawing/2014/main" id="{F0D7BA0A-7AFE-441B-9A05-91D7CA22CD1E}"/>
              </a:ext>
            </a:extLst>
          </p:cNvPr>
          <p:cNvCxnSpPr>
            <a:cxnSpLocks/>
            <a:stCxn id="86" idx="0"/>
            <a:endCxn id="92" idx="4"/>
          </p:cNvCxnSpPr>
          <p:nvPr/>
        </p:nvCxnSpPr>
        <p:spPr>
          <a:xfrm flipH="1" flipV="1">
            <a:off x="8394117" y="5796075"/>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4" name="TextBox 93">
            <a:extLst>
              <a:ext uri="{FF2B5EF4-FFF2-40B4-BE49-F238E27FC236}">
                <a16:creationId xmlns:a16="http://schemas.microsoft.com/office/drawing/2014/main" id="{03B7CC3E-8C1A-4B2D-868B-CD9B6C3A8B88}"/>
              </a:ext>
            </a:extLst>
          </p:cNvPr>
          <p:cNvSpPr txBox="1"/>
          <p:nvPr/>
        </p:nvSpPr>
        <p:spPr>
          <a:xfrm>
            <a:off x="9002284" y="5984846"/>
            <a:ext cx="923622"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 甲 상고</a:t>
            </a:r>
          </a:p>
        </p:txBody>
      </p:sp>
      <p:sp>
        <p:nvSpPr>
          <p:cNvPr id="105" name="타원 104">
            <a:extLst>
              <a:ext uri="{FF2B5EF4-FFF2-40B4-BE49-F238E27FC236}">
                <a16:creationId xmlns:a16="http://schemas.microsoft.com/office/drawing/2014/main" id="{08257203-4868-421B-801F-472419FBDEC1}"/>
              </a:ext>
            </a:extLst>
          </p:cNvPr>
          <p:cNvSpPr/>
          <p:nvPr/>
        </p:nvSpPr>
        <p:spPr>
          <a:xfrm>
            <a:off x="9386725" y="5634737"/>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7" name="직선 연결선 106">
            <a:extLst>
              <a:ext uri="{FF2B5EF4-FFF2-40B4-BE49-F238E27FC236}">
                <a16:creationId xmlns:a16="http://schemas.microsoft.com/office/drawing/2014/main" id="{6F9ED4B1-F994-4DAD-A693-7A6E4B569E55}"/>
              </a:ext>
            </a:extLst>
          </p:cNvPr>
          <p:cNvCxnSpPr>
            <a:cxnSpLocks/>
            <a:stCxn id="94" idx="0"/>
            <a:endCxn id="105" idx="4"/>
          </p:cNvCxnSpPr>
          <p:nvPr/>
        </p:nvCxnSpPr>
        <p:spPr>
          <a:xfrm flipH="1" flipV="1">
            <a:off x="9464094" y="5796075"/>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1528A1FB-044F-4807-A34E-476BEDA2D2DD}"/>
              </a:ext>
            </a:extLst>
          </p:cNvPr>
          <p:cNvSpPr txBox="1"/>
          <p:nvPr/>
        </p:nvSpPr>
        <p:spPr>
          <a:xfrm>
            <a:off x="9959617" y="5984846"/>
            <a:ext cx="127956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파기</a:t>
            </a:r>
            <a:r>
              <a:rPr lang="en-US" altLang="ko-KR" sz="1200" dirty="0">
                <a:solidFill>
                  <a:schemeClr val="tx1"/>
                </a:solidFill>
                <a:latin typeface="+mn-ea"/>
              </a:rPr>
              <a:t>&amp;</a:t>
            </a:r>
            <a:r>
              <a:rPr lang="ko-KR" altLang="en-US" sz="1200" dirty="0">
                <a:solidFill>
                  <a:schemeClr val="tx1"/>
                </a:solidFill>
                <a:latin typeface="+mn-ea"/>
              </a:rPr>
              <a:t>환송*</a:t>
            </a:r>
          </a:p>
        </p:txBody>
      </p:sp>
      <p:sp>
        <p:nvSpPr>
          <p:cNvPr id="109" name="타원 108">
            <a:extLst>
              <a:ext uri="{FF2B5EF4-FFF2-40B4-BE49-F238E27FC236}">
                <a16:creationId xmlns:a16="http://schemas.microsoft.com/office/drawing/2014/main" id="{46120911-3527-4CED-8A3B-6FCF611F0411}"/>
              </a:ext>
            </a:extLst>
          </p:cNvPr>
          <p:cNvSpPr/>
          <p:nvPr/>
        </p:nvSpPr>
        <p:spPr>
          <a:xfrm>
            <a:off x="10522027" y="5634737"/>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0" name="직선 연결선 109">
            <a:extLst>
              <a:ext uri="{FF2B5EF4-FFF2-40B4-BE49-F238E27FC236}">
                <a16:creationId xmlns:a16="http://schemas.microsoft.com/office/drawing/2014/main" id="{50E8C999-507B-453D-99A4-A76F4A0E467D}"/>
              </a:ext>
            </a:extLst>
          </p:cNvPr>
          <p:cNvCxnSpPr>
            <a:cxnSpLocks/>
            <a:stCxn id="108" idx="0"/>
            <a:endCxn id="109" idx="4"/>
          </p:cNvCxnSpPr>
          <p:nvPr/>
        </p:nvCxnSpPr>
        <p:spPr>
          <a:xfrm flipH="1" flipV="1">
            <a:off x="10599396" y="5796075"/>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 name="직사각형 5">
            <a:extLst>
              <a:ext uri="{FF2B5EF4-FFF2-40B4-BE49-F238E27FC236}">
                <a16:creationId xmlns:a16="http://schemas.microsoft.com/office/drawing/2014/main" id="{BF2695EC-2F1E-46BB-ACA5-6BCACD536122}"/>
              </a:ext>
            </a:extLst>
          </p:cNvPr>
          <p:cNvSpPr/>
          <p:nvPr/>
        </p:nvSpPr>
        <p:spPr>
          <a:xfrm>
            <a:off x="378418" y="6446512"/>
            <a:ext cx="2580682" cy="27699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한 방향 선재를 포함한 석쇠</a:t>
            </a:r>
          </a:p>
        </p:txBody>
      </p:sp>
      <p:cxnSp>
        <p:nvCxnSpPr>
          <p:cNvPr id="8" name="연결선: 꺾임 7">
            <a:extLst>
              <a:ext uri="{FF2B5EF4-FFF2-40B4-BE49-F238E27FC236}">
                <a16:creationId xmlns:a16="http://schemas.microsoft.com/office/drawing/2014/main" id="{F51AE38C-77A9-4232-A99D-A93CDC301412}"/>
              </a:ext>
            </a:extLst>
          </p:cNvPr>
          <p:cNvCxnSpPr>
            <a:cxnSpLocks/>
            <a:stCxn id="51" idx="2"/>
            <a:endCxn id="6" idx="0"/>
          </p:cNvCxnSpPr>
          <p:nvPr/>
        </p:nvCxnSpPr>
        <p:spPr>
          <a:xfrm rot="16200000" flipH="1">
            <a:off x="1346984" y="6124736"/>
            <a:ext cx="184667" cy="45888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직사각형 111">
            <a:extLst>
              <a:ext uri="{FF2B5EF4-FFF2-40B4-BE49-F238E27FC236}">
                <a16:creationId xmlns:a16="http://schemas.microsoft.com/office/drawing/2014/main" id="{C4251495-8B6D-44F5-B21C-6DDB8B77D3B8}"/>
              </a:ext>
            </a:extLst>
          </p:cNvPr>
          <p:cNvSpPr/>
          <p:nvPr/>
        </p:nvSpPr>
        <p:spPr>
          <a:xfrm>
            <a:off x="1678282" y="4746171"/>
            <a:ext cx="2580682" cy="27699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양 방향 선재를 포함한 석쇠</a:t>
            </a:r>
          </a:p>
        </p:txBody>
      </p:sp>
      <p:cxnSp>
        <p:nvCxnSpPr>
          <p:cNvPr id="12" name="연결선: 꺾임 11">
            <a:extLst>
              <a:ext uri="{FF2B5EF4-FFF2-40B4-BE49-F238E27FC236}">
                <a16:creationId xmlns:a16="http://schemas.microsoft.com/office/drawing/2014/main" id="{50B26794-8D2E-41A2-95A4-EF0A9B9686A9}"/>
              </a:ext>
            </a:extLst>
          </p:cNvPr>
          <p:cNvCxnSpPr>
            <a:stCxn id="112" idx="2"/>
            <a:endCxn id="60" idx="3"/>
          </p:cNvCxnSpPr>
          <p:nvPr/>
        </p:nvCxnSpPr>
        <p:spPr>
          <a:xfrm rot="5400000">
            <a:off x="2678544" y="4971570"/>
            <a:ext cx="238481" cy="341678"/>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3" name="직사각형 112">
            <a:extLst>
              <a:ext uri="{FF2B5EF4-FFF2-40B4-BE49-F238E27FC236}">
                <a16:creationId xmlns:a16="http://schemas.microsoft.com/office/drawing/2014/main" id="{277F450B-AE4D-4089-A255-A132FC47D6A6}"/>
              </a:ext>
            </a:extLst>
          </p:cNvPr>
          <p:cNvSpPr/>
          <p:nvPr/>
        </p:nvSpPr>
        <p:spPr>
          <a:xfrm>
            <a:off x="9811924" y="6511947"/>
            <a:ext cx="1574944" cy="27699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심판원에서 </a:t>
            </a:r>
            <a:r>
              <a:rPr lang="ko-KR" altLang="en-US" sz="1200" dirty="0" err="1">
                <a:solidFill>
                  <a:schemeClr val="tx1"/>
                </a:solidFill>
              </a:rPr>
              <a:t>심결각하</a:t>
            </a:r>
            <a:endParaRPr lang="ko-KR" altLang="en-US" sz="1200" dirty="0">
              <a:solidFill>
                <a:schemeClr val="tx1"/>
              </a:solidFill>
            </a:endParaRPr>
          </a:p>
        </p:txBody>
      </p:sp>
      <p:cxnSp>
        <p:nvCxnSpPr>
          <p:cNvPr id="16" name="연결선: 꺾임 15">
            <a:extLst>
              <a:ext uri="{FF2B5EF4-FFF2-40B4-BE49-F238E27FC236}">
                <a16:creationId xmlns:a16="http://schemas.microsoft.com/office/drawing/2014/main" id="{E3A9FA18-9ED8-4BE0-A940-9222A7C5CCD0}"/>
              </a:ext>
            </a:extLst>
          </p:cNvPr>
          <p:cNvCxnSpPr>
            <a:cxnSpLocks/>
            <a:stCxn id="108" idx="3"/>
            <a:endCxn id="113" idx="3"/>
          </p:cNvCxnSpPr>
          <p:nvPr/>
        </p:nvCxnSpPr>
        <p:spPr>
          <a:xfrm>
            <a:off x="11239177" y="6123346"/>
            <a:ext cx="147691" cy="527100"/>
          </a:xfrm>
          <a:prstGeom prst="bentConnector3">
            <a:avLst>
              <a:gd name="adj1" fmla="val 25478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1353803C-8954-583F-96BC-77675034FC24}"/>
              </a:ext>
            </a:extLst>
          </p:cNvPr>
          <p:cNvSpPr txBox="1"/>
          <p:nvPr/>
        </p:nvSpPr>
        <p:spPr>
          <a:xfrm>
            <a:off x="6133526" y="6528472"/>
            <a:ext cx="3578224" cy="276999"/>
          </a:xfrm>
          <a:prstGeom prst="rect">
            <a:avLst/>
          </a:prstGeom>
          <a:noFill/>
        </p:spPr>
        <p:txBody>
          <a:bodyPr wrap="none" rtlCol="0">
            <a:spAutoFit/>
          </a:bodyPr>
          <a:lstStyle/>
          <a:p>
            <a:r>
              <a:rPr lang="ko-KR" altLang="en-US" sz="1200" dirty="0"/>
              <a:t>* 소의 이익이 없다는 이유로 파기</a:t>
            </a:r>
            <a:r>
              <a:rPr lang="en-US" altLang="ko-KR" sz="1200" dirty="0"/>
              <a:t>&amp;</a:t>
            </a:r>
            <a:r>
              <a:rPr lang="ko-KR" altLang="en-US" sz="1200" dirty="0" err="1"/>
              <a:t>소각하될</a:t>
            </a:r>
            <a:r>
              <a:rPr lang="ko-KR" altLang="en-US" sz="1200" dirty="0"/>
              <a:t> 수도 있음</a:t>
            </a:r>
          </a:p>
        </p:txBody>
      </p:sp>
    </p:spTree>
    <p:extLst>
      <p:ext uri="{BB962C8B-B14F-4D97-AF65-F5344CB8AC3E}">
        <p14:creationId xmlns:p14="http://schemas.microsoft.com/office/powerpoint/2010/main" val="3491791815"/>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t>권리 대 권리 간의 적극적 권리범위확인심판 </a:t>
            </a:r>
            <a:r>
              <a:rPr lang="en-US" altLang="ko-KR" dirty="0"/>
              <a:t>CASE</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25" name="직선 연결선 24">
            <a:extLst>
              <a:ext uri="{FF2B5EF4-FFF2-40B4-BE49-F238E27FC236}">
                <a16:creationId xmlns:a16="http://schemas.microsoft.com/office/drawing/2014/main" id="{7672B6BB-2D77-4E43-8B42-06D030FA91F0}"/>
              </a:ext>
            </a:extLst>
          </p:cNvPr>
          <p:cNvCxnSpPr/>
          <p:nvPr/>
        </p:nvCxnSpPr>
        <p:spPr>
          <a:xfrm>
            <a:off x="0" y="1960950"/>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직사각형 25">
            <a:extLst>
              <a:ext uri="{FF2B5EF4-FFF2-40B4-BE49-F238E27FC236}">
                <a16:creationId xmlns:a16="http://schemas.microsoft.com/office/drawing/2014/main" id="{635ED18D-A35C-4094-A735-ACF778B95324}"/>
              </a:ext>
            </a:extLst>
          </p:cNvPr>
          <p:cNvSpPr/>
          <p:nvPr/>
        </p:nvSpPr>
        <p:spPr>
          <a:xfrm>
            <a:off x="232372" y="1357007"/>
            <a:ext cx="11681987" cy="523220"/>
          </a:xfrm>
          <a:prstGeom prst="rect">
            <a:avLst/>
          </a:prstGeom>
        </p:spPr>
        <p:txBody>
          <a:bodyPr wrap="square">
            <a:spAutoFit/>
          </a:bodyPr>
          <a:lstStyle/>
          <a:p>
            <a:pPr algn="just" fontAlgn="base"/>
            <a:r>
              <a:rPr lang="ko-KR" altLang="en-US" sz="1400" dirty="0" err="1"/>
              <a:t>선등록</a:t>
            </a:r>
            <a:r>
              <a:rPr lang="ko-KR" altLang="en-US" sz="1400" dirty="0"/>
              <a:t> 특허권자가 </a:t>
            </a:r>
            <a:r>
              <a:rPr lang="ko-KR" altLang="en-US" sz="1400" dirty="0" err="1"/>
              <a:t>후등록</a:t>
            </a:r>
            <a:r>
              <a:rPr lang="ko-KR" altLang="en-US" sz="1400" dirty="0"/>
              <a:t> 특허권자를 상대로 제기하는 적극적 권리범위확인심판은 등록무효절차 이외에서 등록된 권리의 효력을 부인하는 결과가 되어 </a:t>
            </a:r>
            <a:r>
              <a:rPr lang="ko-KR" altLang="en-US" sz="1400" dirty="0" err="1"/>
              <a:t>부적법하다는</a:t>
            </a:r>
            <a:r>
              <a:rPr lang="ko-KR" altLang="en-US" sz="1400" dirty="0"/>
              <a:t> 취지인 점에 비추어 볼 때 </a:t>
            </a:r>
            <a:r>
              <a:rPr lang="ko-KR" altLang="en-US" sz="1400" dirty="0" err="1"/>
              <a:t>후등록</a:t>
            </a:r>
            <a:r>
              <a:rPr lang="ko-KR" altLang="en-US" sz="1400" dirty="0"/>
              <a:t> 특허발명의 신규성 인정 여하에 따라 이러한 원칙적인 법리의 적용 여부가 달라진다고 볼 수는 없다</a:t>
            </a:r>
            <a:r>
              <a:rPr lang="en-US" altLang="ko-KR" sz="1400" dirty="0"/>
              <a:t>.</a:t>
            </a:r>
            <a:endParaRPr lang="ko-KR" altLang="en-US" sz="1400" dirty="0">
              <a:solidFill>
                <a:srgbClr val="FF0000"/>
              </a:solidFill>
            </a:endParaRPr>
          </a:p>
        </p:txBody>
      </p:sp>
      <p:sp>
        <p:nvSpPr>
          <p:cNvPr id="27" name="모서리가 둥근 직사각형 10">
            <a:extLst>
              <a:ext uri="{FF2B5EF4-FFF2-40B4-BE49-F238E27FC236}">
                <a16:creationId xmlns:a16="http://schemas.microsoft.com/office/drawing/2014/main" id="{45EA68D6-B151-4236-8FC3-05A69090F573}"/>
              </a:ext>
            </a:extLst>
          </p:cNvPr>
          <p:cNvSpPr/>
          <p:nvPr/>
        </p:nvSpPr>
        <p:spPr bwMode="auto">
          <a:xfrm>
            <a:off x="378418" y="1002199"/>
            <a:ext cx="5180410"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2016. 4. 28. </a:t>
            </a:r>
            <a:r>
              <a:rPr lang="ko-KR" altLang="en-US" sz="1400" dirty="0"/>
              <a:t>선고 </a:t>
            </a:r>
            <a:r>
              <a:rPr lang="en-US" altLang="ko-KR" sz="1400" dirty="0"/>
              <a:t>2013</a:t>
            </a:r>
            <a:r>
              <a:rPr lang="ko-KR" altLang="en-US" sz="1400" dirty="0"/>
              <a:t>후</a:t>
            </a:r>
            <a:r>
              <a:rPr lang="en-US" altLang="ko-KR" sz="1400" dirty="0"/>
              <a:t>2965 </a:t>
            </a:r>
            <a:r>
              <a:rPr lang="ko-KR" altLang="en-US" sz="1400" dirty="0"/>
              <a:t>판결 </a:t>
            </a:r>
            <a:r>
              <a:rPr lang="en-US" altLang="ko-KR" sz="1400" dirty="0"/>
              <a:t>【</a:t>
            </a:r>
            <a:r>
              <a:rPr lang="ko-KR" altLang="en-US" sz="1400" dirty="0"/>
              <a:t>권리범위확인</a:t>
            </a:r>
            <a:r>
              <a:rPr lang="en-US" altLang="ko-KR" sz="1400" dirty="0"/>
              <a:t>(</a:t>
            </a:r>
            <a:r>
              <a:rPr lang="ko-KR" altLang="en-US" sz="1400" dirty="0" err="1"/>
              <a:t>특</a:t>
            </a:r>
            <a:r>
              <a:rPr lang="en-US" altLang="ko-KR" sz="1400" dirty="0"/>
              <a:t>)】</a:t>
            </a:r>
          </a:p>
        </p:txBody>
      </p:sp>
      <p:sp>
        <p:nvSpPr>
          <p:cNvPr id="28" name="Line 5">
            <a:extLst>
              <a:ext uri="{FF2B5EF4-FFF2-40B4-BE49-F238E27FC236}">
                <a16:creationId xmlns:a16="http://schemas.microsoft.com/office/drawing/2014/main" id="{13F99ADD-6D23-4CE0-87DA-F8CCBC916BF0}"/>
              </a:ext>
            </a:extLst>
          </p:cNvPr>
          <p:cNvSpPr>
            <a:spLocks noChangeShapeType="1"/>
          </p:cNvSpPr>
          <p:nvPr/>
        </p:nvSpPr>
        <p:spPr bwMode="auto">
          <a:xfrm>
            <a:off x="514351" y="4537738"/>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9" name="TextBox 28">
            <a:extLst>
              <a:ext uri="{FF2B5EF4-FFF2-40B4-BE49-F238E27FC236}">
                <a16:creationId xmlns:a16="http://schemas.microsoft.com/office/drawing/2014/main" id="{06755A33-8626-4A38-968C-F28C1EF81A51}"/>
              </a:ext>
            </a:extLst>
          </p:cNvPr>
          <p:cNvSpPr txBox="1"/>
          <p:nvPr/>
        </p:nvSpPr>
        <p:spPr>
          <a:xfrm>
            <a:off x="594160" y="4793913"/>
            <a:ext cx="1231432"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a:t>
            </a:r>
            <a:r>
              <a:rPr lang="en-US" altLang="ko-KR" sz="1200" dirty="0">
                <a:solidFill>
                  <a:schemeClr val="tx1"/>
                </a:solidFill>
                <a:latin typeface="+mn-ea"/>
              </a:rPr>
              <a:t>A1 </a:t>
            </a:r>
            <a:r>
              <a:rPr lang="ko-KR" altLang="en-US" sz="1200" dirty="0">
                <a:solidFill>
                  <a:schemeClr val="tx1"/>
                </a:solidFill>
                <a:latin typeface="+mn-ea"/>
              </a:rPr>
              <a:t>출원</a:t>
            </a:r>
          </a:p>
        </p:txBody>
      </p:sp>
      <p:sp>
        <p:nvSpPr>
          <p:cNvPr id="30" name="타원 29">
            <a:extLst>
              <a:ext uri="{FF2B5EF4-FFF2-40B4-BE49-F238E27FC236}">
                <a16:creationId xmlns:a16="http://schemas.microsoft.com/office/drawing/2014/main" id="{C4876FE4-DC4D-4474-8926-D22632F6469D}"/>
              </a:ext>
            </a:extLst>
          </p:cNvPr>
          <p:cNvSpPr/>
          <p:nvPr/>
        </p:nvSpPr>
        <p:spPr>
          <a:xfrm>
            <a:off x="1132506" y="444380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1" name="직선 연결선 30">
            <a:extLst>
              <a:ext uri="{FF2B5EF4-FFF2-40B4-BE49-F238E27FC236}">
                <a16:creationId xmlns:a16="http://schemas.microsoft.com/office/drawing/2014/main" id="{CA79FA6F-3539-499D-989D-4B9AAF9734FC}"/>
              </a:ext>
            </a:extLst>
          </p:cNvPr>
          <p:cNvCxnSpPr>
            <a:cxnSpLocks/>
            <a:stCxn id="29" idx="0"/>
            <a:endCxn id="30" idx="4"/>
          </p:cNvCxnSpPr>
          <p:nvPr/>
        </p:nvCxnSpPr>
        <p:spPr>
          <a:xfrm flipH="1" flipV="1">
            <a:off x="1209875" y="460514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B2D769B1-1FF8-4325-BD54-E6AE101BD78D}"/>
              </a:ext>
            </a:extLst>
          </p:cNvPr>
          <p:cNvSpPr txBox="1"/>
          <p:nvPr/>
        </p:nvSpPr>
        <p:spPr>
          <a:xfrm>
            <a:off x="2412573" y="3932217"/>
            <a:ext cx="87860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a:t>
            </a:r>
            <a:r>
              <a:rPr lang="en-US" altLang="ko-KR" sz="1200" dirty="0">
                <a:solidFill>
                  <a:schemeClr val="tx1"/>
                </a:solidFill>
                <a:latin typeface="+mn-ea"/>
              </a:rPr>
              <a:t>A2 </a:t>
            </a:r>
            <a:r>
              <a:rPr lang="ko-KR" altLang="en-US" sz="1200" dirty="0">
                <a:solidFill>
                  <a:schemeClr val="tx1"/>
                </a:solidFill>
                <a:latin typeface="+mn-ea"/>
              </a:rPr>
              <a:t>출원</a:t>
            </a:r>
          </a:p>
        </p:txBody>
      </p:sp>
      <p:sp>
        <p:nvSpPr>
          <p:cNvPr id="90" name="타원 89">
            <a:extLst>
              <a:ext uri="{FF2B5EF4-FFF2-40B4-BE49-F238E27FC236}">
                <a16:creationId xmlns:a16="http://schemas.microsoft.com/office/drawing/2014/main" id="{66BDDFB2-76D3-4B7E-AB78-077EE38E9B88}"/>
              </a:ext>
            </a:extLst>
          </p:cNvPr>
          <p:cNvSpPr/>
          <p:nvPr/>
        </p:nvSpPr>
        <p:spPr>
          <a:xfrm>
            <a:off x="2774505" y="4443804"/>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1" name="직선 연결선 90">
            <a:extLst>
              <a:ext uri="{FF2B5EF4-FFF2-40B4-BE49-F238E27FC236}">
                <a16:creationId xmlns:a16="http://schemas.microsoft.com/office/drawing/2014/main" id="{E802B4B2-A1A0-419F-B32A-ABED66E6E377}"/>
              </a:ext>
            </a:extLst>
          </p:cNvPr>
          <p:cNvCxnSpPr>
            <a:cxnSpLocks/>
            <a:stCxn id="89" idx="2"/>
            <a:endCxn id="90" idx="0"/>
          </p:cNvCxnSpPr>
          <p:nvPr/>
        </p:nvCxnSpPr>
        <p:spPr>
          <a:xfrm flipH="1">
            <a:off x="2851874" y="4209216"/>
            <a:ext cx="1" cy="23458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C7D4FB36-1FFF-453A-9148-2907ED9D291C}"/>
              </a:ext>
            </a:extLst>
          </p:cNvPr>
          <p:cNvSpPr txBox="1"/>
          <p:nvPr/>
        </p:nvSpPr>
        <p:spPr>
          <a:xfrm>
            <a:off x="1487177" y="5413035"/>
            <a:ext cx="1282594"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A2 </a:t>
            </a:r>
            <a:r>
              <a:rPr lang="ko-KR" altLang="en-US" sz="1200" dirty="0">
                <a:solidFill>
                  <a:schemeClr val="tx1"/>
                </a:solidFill>
                <a:latin typeface="+mn-ea"/>
              </a:rPr>
              <a:t>공지</a:t>
            </a:r>
          </a:p>
        </p:txBody>
      </p:sp>
      <p:sp>
        <p:nvSpPr>
          <p:cNvPr id="97" name="타원 96">
            <a:extLst>
              <a:ext uri="{FF2B5EF4-FFF2-40B4-BE49-F238E27FC236}">
                <a16:creationId xmlns:a16="http://schemas.microsoft.com/office/drawing/2014/main" id="{37053DB1-34AB-4B46-8C67-DD7DCECC940E}"/>
              </a:ext>
            </a:extLst>
          </p:cNvPr>
          <p:cNvSpPr/>
          <p:nvPr/>
        </p:nvSpPr>
        <p:spPr>
          <a:xfrm>
            <a:off x="2051104" y="4443804"/>
            <a:ext cx="154738" cy="161338"/>
          </a:xfrm>
          <a:prstGeom prst="ellipse">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8" name="직선 연결선 97">
            <a:extLst>
              <a:ext uri="{FF2B5EF4-FFF2-40B4-BE49-F238E27FC236}">
                <a16:creationId xmlns:a16="http://schemas.microsoft.com/office/drawing/2014/main" id="{61267199-012D-447C-B652-077CC611B18C}"/>
              </a:ext>
            </a:extLst>
          </p:cNvPr>
          <p:cNvCxnSpPr>
            <a:cxnSpLocks/>
            <a:stCxn id="96" idx="0"/>
            <a:endCxn id="97" idx="4"/>
          </p:cNvCxnSpPr>
          <p:nvPr/>
        </p:nvCxnSpPr>
        <p:spPr>
          <a:xfrm flipH="1" flipV="1">
            <a:off x="2128473" y="4605142"/>
            <a:ext cx="1" cy="80789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21067E6A-BCE1-4337-AF3E-5070BF2303F1}"/>
              </a:ext>
            </a:extLst>
          </p:cNvPr>
          <p:cNvSpPr txBox="1"/>
          <p:nvPr/>
        </p:nvSpPr>
        <p:spPr>
          <a:xfrm>
            <a:off x="2686908" y="4793913"/>
            <a:ext cx="1231432"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a:t>
            </a:r>
            <a:r>
              <a:rPr lang="en-US" altLang="ko-KR" sz="1200" dirty="0">
                <a:solidFill>
                  <a:schemeClr val="tx1"/>
                </a:solidFill>
                <a:latin typeface="+mn-ea"/>
              </a:rPr>
              <a:t>A1 </a:t>
            </a:r>
            <a:r>
              <a:rPr lang="ko-KR" altLang="en-US" sz="1200" dirty="0">
                <a:solidFill>
                  <a:schemeClr val="tx1"/>
                </a:solidFill>
                <a:latin typeface="+mn-ea"/>
              </a:rPr>
              <a:t>등록</a:t>
            </a:r>
          </a:p>
        </p:txBody>
      </p:sp>
      <p:sp>
        <p:nvSpPr>
          <p:cNvPr id="49" name="타원 48">
            <a:extLst>
              <a:ext uri="{FF2B5EF4-FFF2-40B4-BE49-F238E27FC236}">
                <a16:creationId xmlns:a16="http://schemas.microsoft.com/office/drawing/2014/main" id="{46F3AAE3-B0C0-44B6-A2E3-C425FF8291F4}"/>
              </a:ext>
            </a:extLst>
          </p:cNvPr>
          <p:cNvSpPr/>
          <p:nvPr/>
        </p:nvSpPr>
        <p:spPr>
          <a:xfrm>
            <a:off x="3225254" y="444380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0" name="직선 연결선 49">
            <a:extLst>
              <a:ext uri="{FF2B5EF4-FFF2-40B4-BE49-F238E27FC236}">
                <a16:creationId xmlns:a16="http://schemas.microsoft.com/office/drawing/2014/main" id="{8D7137B3-B0C6-43A4-B863-139FBC00A45E}"/>
              </a:ext>
            </a:extLst>
          </p:cNvPr>
          <p:cNvCxnSpPr>
            <a:cxnSpLocks/>
            <a:stCxn id="48" idx="0"/>
            <a:endCxn id="49" idx="4"/>
          </p:cNvCxnSpPr>
          <p:nvPr/>
        </p:nvCxnSpPr>
        <p:spPr>
          <a:xfrm flipH="1" flipV="1">
            <a:off x="3302623" y="460514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C13B6228-5768-41BC-AA03-C31DC0829E11}"/>
              </a:ext>
            </a:extLst>
          </p:cNvPr>
          <p:cNvSpPr txBox="1"/>
          <p:nvPr/>
        </p:nvSpPr>
        <p:spPr>
          <a:xfrm>
            <a:off x="3551978" y="3932217"/>
            <a:ext cx="878604"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a:t>
            </a:r>
            <a:r>
              <a:rPr lang="en-US" altLang="ko-KR" sz="1200" dirty="0">
                <a:solidFill>
                  <a:schemeClr val="tx1"/>
                </a:solidFill>
                <a:latin typeface="+mn-ea"/>
              </a:rPr>
              <a:t>A2 </a:t>
            </a:r>
            <a:r>
              <a:rPr lang="ko-KR" altLang="en-US" sz="1200" dirty="0">
                <a:solidFill>
                  <a:schemeClr val="tx1"/>
                </a:solidFill>
                <a:latin typeface="+mn-ea"/>
              </a:rPr>
              <a:t>등록</a:t>
            </a:r>
          </a:p>
        </p:txBody>
      </p:sp>
      <p:sp>
        <p:nvSpPr>
          <p:cNvPr id="55" name="타원 54">
            <a:extLst>
              <a:ext uri="{FF2B5EF4-FFF2-40B4-BE49-F238E27FC236}">
                <a16:creationId xmlns:a16="http://schemas.microsoft.com/office/drawing/2014/main" id="{EFD9F0FE-8049-4CB7-A7D0-472A54F99673}"/>
              </a:ext>
            </a:extLst>
          </p:cNvPr>
          <p:cNvSpPr/>
          <p:nvPr/>
        </p:nvSpPr>
        <p:spPr>
          <a:xfrm>
            <a:off x="3913910" y="4443804"/>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6" name="직선 연결선 55">
            <a:extLst>
              <a:ext uri="{FF2B5EF4-FFF2-40B4-BE49-F238E27FC236}">
                <a16:creationId xmlns:a16="http://schemas.microsoft.com/office/drawing/2014/main" id="{80A388C6-AFD3-4F81-9BAD-1FC64E00DD5F}"/>
              </a:ext>
            </a:extLst>
          </p:cNvPr>
          <p:cNvCxnSpPr>
            <a:cxnSpLocks/>
            <a:stCxn id="54" idx="2"/>
            <a:endCxn id="55" idx="0"/>
          </p:cNvCxnSpPr>
          <p:nvPr/>
        </p:nvCxnSpPr>
        <p:spPr>
          <a:xfrm flipH="1">
            <a:off x="3991279" y="4209216"/>
            <a:ext cx="1" cy="23458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BC8D619F-711E-4FA2-878F-F33AB7FFD294}"/>
              </a:ext>
            </a:extLst>
          </p:cNvPr>
          <p:cNvSpPr txBox="1"/>
          <p:nvPr/>
        </p:nvSpPr>
        <p:spPr>
          <a:xfrm>
            <a:off x="4168844" y="4793913"/>
            <a:ext cx="1440096" cy="646331"/>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적극적 권리범위확인심판청구</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乙 피청구인</a:t>
            </a:r>
            <a:r>
              <a:rPr lang="en-US" altLang="ko-KR" sz="1200" dirty="0">
                <a:solidFill>
                  <a:schemeClr val="tx1"/>
                </a:solidFill>
                <a:latin typeface="+mn-ea"/>
              </a:rPr>
              <a:t>)</a:t>
            </a:r>
            <a:endParaRPr lang="ko-KR" altLang="en-US" sz="1200" dirty="0">
              <a:solidFill>
                <a:schemeClr val="tx1"/>
              </a:solidFill>
              <a:latin typeface="+mn-ea"/>
            </a:endParaRPr>
          </a:p>
        </p:txBody>
      </p:sp>
      <p:sp>
        <p:nvSpPr>
          <p:cNvPr id="58" name="타원 57">
            <a:extLst>
              <a:ext uri="{FF2B5EF4-FFF2-40B4-BE49-F238E27FC236}">
                <a16:creationId xmlns:a16="http://schemas.microsoft.com/office/drawing/2014/main" id="{8F367E6C-A8BC-4CE8-8AB8-89AB9B30235B}"/>
              </a:ext>
            </a:extLst>
          </p:cNvPr>
          <p:cNvSpPr/>
          <p:nvPr/>
        </p:nvSpPr>
        <p:spPr>
          <a:xfrm>
            <a:off x="4811522" y="444380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9" name="직선 연결선 58">
            <a:extLst>
              <a:ext uri="{FF2B5EF4-FFF2-40B4-BE49-F238E27FC236}">
                <a16:creationId xmlns:a16="http://schemas.microsoft.com/office/drawing/2014/main" id="{48B8E814-67B0-4B71-A69D-D801883ED4F3}"/>
              </a:ext>
            </a:extLst>
          </p:cNvPr>
          <p:cNvCxnSpPr>
            <a:cxnSpLocks/>
            <a:stCxn id="57" idx="0"/>
            <a:endCxn id="58" idx="4"/>
          </p:cNvCxnSpPr>
          <p:nvPr/>
        </p:nvCxnSpPr>
        <p:spPr>
          <a:xfrm flipH="1" flipV="1">
            <a:off x="4888891" y="460514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07388689-9DD1-484E-90A2-3B05AC3CD5BB}"/>
              </a:ext>
            </a:extLst>
          </p:cNvPr>
          <p:cNvSpPr txBox="1"/>
          <p:nvPr/>
        </p:nvSpPr>
        <p:spPr>
          <a:xfrm>
            <a:off x="5775914" y="4793913"/>
            <a:ext cx="94296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74" name="타원 73">
            <a:extLst>
              <a:ext uri="{FF2B5EF4-FFF2-40B4-BE49-F238E27FC236}">
                <a16:creationId xmlns:a16="http://schemas.microsoft.com/office/drawing/2014/main" id="{BB9B45C2-2E17-4A57-AC7C-DB5A67CB989C}"/>
              </a:ext>
            </a:extLst>
          </p:cNvPr>
          <p:cNvSpPr/>
          <p:nvPr/>
        </p:nvSpPr>
        <p:spPr>
          <a:xfrm>
            <a:off x="6170024" y="4443804"/>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7" name="직선 연결선 76">
            <a:extLst>
              <a:ext uri="{FF2B5EF4-FFF2-40B4-BE49-F238E27FC236}">
                <a16:creationId xmlns:a16="http://schemas.microsoft.com/office/drawing/2014/main" id="{734C8BC5-0E47-4D6C-BA82-A7B646246515}"/>
              </a:ext>
            </a:extLst>
          </p:cNvPr>
          <p:cNvCxnSpPr>
            <a:cxnSpLocks/>
            <a:stCxn id="61" idx="0"/>
            <a:endCxn id="74" idx="4"/>
          </p:cNvCxnSpPr>
          <p:nvPr/>
        </p:nvCxnSpPr>
        <p:spPr>
          <a:xfrm flipH="1" flipV="1">
            <a:off x="6247393" y="460514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BB05212C-08B6-495B-B3FF-1CBB59E2E73F}"/>
              </a:ext>
            </a:extLst>
          </p:cNvPr>
          <p:cNvSpPr txBox="1"/>
          <p:nvPr/>
        </p:nvSpPr>
        <p:spPr>
          <a:xfrm>
            <a:off x="6881766" y="4793913"/>
            <a:ext cx="923622"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 甲 소 제기</a:t>
            </a:r>
          </a:p>
        </p:txBody>
      </p:sp>
      <p:sp>
        <p:nvSpPr>
          <p:cNvPr id="81" name="타원 80">
            <a:extLst>
              <a:ext uri="{FF2B5EF4-FFF2-40B4-BE49-F238E27FC236}">
                <a16:creationId xmlns:a16="http://schemas.microsoft.com/office/drawing/2014/main" id="{795A4AB0-1A45-4A8C-8809-61C1121B80C9}"/>
              </a:ext>
            </a:extLst>
          </p:cNvPr>
          <p:cNvSpPr/>
          <p:nvPr/>
        </p:nvSpPr>
        <p:spPr>
          <a:xfrm>
            <a:off x="7266207" y="444380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7" name="직선 연결선 86">
            <a:extLst>
              <a:ext uri="{FF2B5EF4-FFF2-40B4-BE49-F238E27FC236}">
                <a16:creationId xmlns:a16="http://schemas.microsoft.com/office/drawing/2014/main" id="{BC8869F9-F2B6-4D9D-AD7B-53FDE9466010}"/>
              </a:ext>
            </a:extLst>
          </p:cNvPr>
          <p:cNvCxnSpPr>
            <a:cxnSpLocks/>
            <a:stCxn id="79" idx="0"/>
            <a:endCxn id="81" idx="4"/>
          </p:cNvCxnSpPr>
          <p:nvPr/>
        </p:nvCxnSpPr>
        <p:spPr>
          <a:xfrm flipH="1" flipV="1">
            <a:off x="7343576" y="460514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8" name="TextBox 87">
            <a:extLst>
              <a:ext uri="{FF2B5EF4-FFF2-40B4-BE49-F238E27FC236}">
                <a16:creationId xmlns:a16="http://schemas.microsoft.com/office/drawing/2014/main" id="{AAF87F31-49A0-4D05-96C4-4FA508FDE186}"/>
              </a:ext>
            </a:extLst>
          </p:cNvPr>
          <p:cNvSpPr txBox="1"/>
          <p:nvPr/>
        </p:nvSpPr>
        <p:spPr>
          <a:xfrm>
            <a:off x="7922638" y="4793913"/>
            <a:ext cx="94296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a:t>
            </a:r>
          </a:p>
        </p:txBody>
      </p:sp>
      <p:sp>
        <p:nvSpPr>
          <p:cNvPr id="95" name="타원 94">
            <a:extLst>
              <a:ext uri="{FF2B5EF4-FFF2-40B4-BE49-F238E27FC236}">
                <a16:creationId xmlns:a16="http://schemas.microsoft.com/office/drawing/2014/main" id="{515A7D25-0195-4395-8190-735510D8F5B9}"/>
              </a:ext>
            </a:extLst>
          </p:cNvPr>
          <p:cNvSpPr/>
          <p:nvPr/>
        </p:nvSpPr>
        <p:spPr>
          <a:xfrm>
            <a:off x="8316748" y="4443804"/>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9" name="직선 연결선 98">
            <a:extLst>
              <a:ext uri="{FF2B5EF4-FFF2-40B4-BE49-F238E27FC236}">
                <a16:creationId xmlns:a16="http://schemas.microsoft.com/office/drawing/2014/main" id="{89A607ED-8796-4DFD-A147-4696AB011EAE}"/>
              </a:ext>
            </a:extLst>
          </p:cNvPr>
          <p:cNvCxnSpPr>
            <a:cxnSpLocks/>
            <a:stCxn id="88" idx="0"/>
            <a:endCxn id="95" idx="4"/>
          </p:cNvCxnSpPr>
          <p:nvPr/>
        </p:nvCxnSpPr>
        <p:spPr>
          <a:xfrm flipH="1" flipV="1">
            <a:off x="8394117" y="460514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0" name="TextBox 99">
            <a:extLst>
              <a:ext uri="{FF2B5EF4-FFF2-40B4-BE49-F238E27FC236}">
                <a16:creationId xmlns:a16="http://schemas.microsoft.com/office/drawing/2014/main" id="{D6FF7965-BD27-4F49-88D8-B3BE8153813B}"/>
              </a:ext>
            </a:extLst>
          </p:cNvPr>
          <p:cNvSpPr txBox="1"/>
          <p:nvPr/>
        </p:nvSpPr>
        <p:spPr>
          <a:xfrm>
            <a:off x="9002284" y="4793913"/>
            <a:ext cx="923622"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 甲 상고</a:t>
            </a:r>
          </a:p>
        </p:txBody>
      </p:sp>
      <p:sp>
        <p:nvSpPr>
          <p:cNvPr id="101" name="타원 100">
            <a:extLst>
              <a:ext uri="{FF2B5EF4-FFF2-40B4-BE49-F238E27FC236}">
                <a16:creationId xmlns:a16="http://schemas.microsoft.com/office/drawing/2014/main" id="{AC622445-D4FF-46FB-8209-F783D0AC7A56}"/>
              </a:ext>
            </a:extLst>
          </p:cNvPr>
          <p:cNvSpPr/>
          <p:nvPr/>
        </p:nvSpPr>
        <p:spPr>
          <a:xfrm>
            <a:off x="9386725" y="444380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2" name="직선 연결선 101">
            <a:extLst>
              <a:ext uri="{FF2B5EF4-FFF2-40B4-BE49-F238E27FC236}">
                <a16:creationId xmlns:a16="http://schemas.microsoft.com/office/drawing/2014/main" id="{5C93C126-BA9C-4A2B-A0EC-4E01B2AE0E6E}"/>
              </a:ext>
            </a:extLst>
          </p:cNvPr>
          <p:cNvCxnSpPr>
            <a:cxnSpLocks/>
            <a:stCxn id="100" idx="0"/>
            <a:endCxn id="101" idx="4"/>
          </p:cNvCxnSpPr>
          <p:nvPr/>
        </p:nvCxnSpPr>
        <p:spPr>
          <a:xfrm flipH="1" flipV="1">
            <a:off x="9464094" y="460514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TextBox 102">
            <a:extLst>
              <a:ext uri="{FF2B5EF4-FFF2-40B4-BE49-F238E27FC236}">
                <a16:creationId xmlns:a16="http://schemas.microsoft.com/office/drawing/2014/main" id="{BE5C795B-9FE5-4C0C-AD3E-3E2E1CDC1F95}"/>
              </a:ext>
            </a:extLst>
          </p:cNvPr>
          <p:cNvSpPr txBox="1"/>
          <p:nvPr/>
        </p:nvSpPr>
        <p:spPr>
          <a:xfrm>
            <a:off x="10073598" y="4793913"/>
            <a:ext cx="1051598"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파기</a:t>
            </a:r>
            <a:r>
              <a:rPr lang="en-US" altLang="ko-KR" sz="1200" dirty="0">
                <a:solidFill>
                  <a:schemeClr val="tx1"/>
                </a:solidFill>
                <a:latin typeface="+mn-ea"/>
              </a:rPr>
              <a:t>&amp;</a:t>
            </a:r>
            <a:r>
              <a:rPr lang="ko-KR" altLang="en-US" sz="1200" dirty="0">
                <a:solidFill>
                  <a:schemeClr val="tx1"/>
                </a:solidFill>
                <a:latin typeface="+mn-ea"/>
              </a:rPr>
              <a:t>소각하</a:t>
            </a:r>
          </a:p>
        </p:txBody>
      </p:sp>
      <p:sp>
        <p:nvSpPr>
          <p:cNvPr id="104" name="타원 103">
            <a:extLst>
              <a:ext uri="{FF2B5EF4-FFF2-40B4-BE49-F238E27FC236}">
                <a16:creationId xmlns:a16="http://schemas.microsoft.com/office/drawing/2014/main" id="{DC2D998F-A5FC-44C2-B5EE-40DE19E1A3A9}"/>
              </a:ext>
            </a:extLst>
          </p:cNvPr>
          <p:cNvSpPr/>
          <p:nvPr/>
        </p:nvSpPr>
        <p:spPr>
          <a:xfrm>
            <a:off x="10522027" y="4443804"/>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6" name="직선 연결선 105">
            <a:extLst>
              <a:ext uri="{FF2B5EF4-FFF2-40B4-BE49-F238E27FC236}">
                <a16:creationId xmlns:a16="http://schemas.microsoft.com/office/drawing/2014/main" id="{DE726FF3-F1F9-4CFA-AB5E-12F924EFD229}"/>
              </a:ext>
            </a:extLst>
          </p:cNvPr>
          <p:cNvCxnSpPr>
            <a:cxnSpLocks/>
            <a:stCxn id="103" idx="0"/>
            <a:endCxn id="104" idx="4"/>
          </p:cNvCxnSpPr>
          <p:nvPr/>
        </p:nvCxnSpPr>
        <p:spPr>
          <a:xfrm flipH="1" flipV="1">
            <a:off x="10599396" y="460514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말풍선: 모서리가 둥근 사각형 12">
            <a:extLst>
              <a:ext uri="{FF2B5EF4-FFF2-40B4-BE49-F238E27FC236}">
                <a16:creationId xmlns:a16="http://schemas.microsoft.com/office/drawing/2014/main" id="{9C239F21-32D7-45BA-BFD3-8A94DDE446A2}"/>
              </a:ext>
            </a:extLst>
          </p:cNvPr>
          <p:cNvSpPr/>
          <p:nvPr/>
        </p:nvSpPr>
        <p:spPr>
          <a:xfrm>
            <a:off x="6499123" y="5540081"/>
            <a:ext cx="3944726" cy="857837"/>
          </a:xfrm>
          <a:prstGeom prst="wedgeRoundRectCallout">
            <a:avLst>
              <a:gd name="adj1" fmla="val 48725"/>
              <a:gd name="adj2" fmla="val -104834"/>
              <a:gd name="adj3" fmla="val 16667"/>
            </a:avLst>
          </a:prstGeom>
          <a:solidFill>
            <a:schemeClr val="accent2">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신규성이 부정되어 권리범위를 인정하지 않더라도 권리의 유효성에 대한 다툼은 특허무효심판에서 </a:t>
            </a:r>
            <a:endParaRPr lang="en-US" altLang="ko-KR" sz="1400" dirty="0">
              <a:solidFill>
                <a:schemeClr val="tx1"/>
              </a:solidFill>
            </a:endParaRPr>
          </a:p>
          <a:p>
            <a:pPr algn="ctr"/>
            <a:r>
              <a:rPr lang="ko-KR" altLang="en-US" sz="1400" dirty="0">
                <a:solidFill>
                  <a:schemeClr val="tx1"/>
                </a:solidFill>
              </a:rPr>
              <a:t>이루어져야 한다는 것을 판시</a:t>
            </a:r>
          </a:p>
        </p:txBody>
      </p:sp>
      <p:sp>
        <p:nvSpPr>
          <p:cNvPr id="6" name="TextBox 5">
            <a:extLst>
              <a:ext uri="{FF2B5EF4-FFF2-40B4-BE49-F238E27FC236}">
                <a16:creationId xmlns:a16="http://schemas.microsoft.com/office/drawing/2014/main" id="{92434378-F225-4384-B1CD-FE7BC7DF59D2}"/>
              </a:ext>
            </a:extLst>
          </p:cNvPr>
          <p:cNvSpPr txBox="1"/>
          <p:nvPr/>
        </p:nvSpPr>
        <p:spPr>
          <a:xfrm>
            <a:off x="514351" y="2139590"/>
            <a:ext cx="11293476" cy="1169551"/>
          </a:xfrm>
          <a:prstGeom prst="rect">
            <a:avLst/>
          </a:prstGeom>
          <a:noFill/>
          <a:ln>
            <a:solidFill>
              <a:schemeClr val="bg1">
                <a:lumMod val="50000"/>
              </a:schemeClr>
            </a:solidFill>
          </a:ln>
        </p:spPr>
        <p:txBody>
          <a:bodyPr wrap="none" rtlCol="0">
            <a:spAutoFit/>
          </a:bodyPr>
          <a:lstStyle/>
          <a:p>
            <a:pPr marL="285750" indent="-285750">
              <a:buFontTx/>
              <a:buChar char="-"/>
            </a:pPr>
            <a:r>
              <a:rPr lang="ko-KR" altLang="en-US" sz="1400" dirty="0">
                <a:highlight>
                  <a:srgbClr val="FFFF00"/>
                </a:highlight>
              </a:rPr>
              <a:t>신규성 부정은 권리범위를 </a:t>
            </a:r>
            <a:r>
              <a:rPr lang="ko-KR" altLang="en-US" sz="1400" dirty="0" err="1">
                <a:highlight>
                  <a:srgbClr val="FFFF00"/>
                </a:highlight>
              </a:rPr>
              <a:t>불인정하는</a:t>
            </a:r>
            <a:r>
              <a:rPr lang="ko-KR" altLang="en-US" sz="1400" dirty="0">
                <a:highlight>
                  <a:srgbClr val="FFFF00"/>
                </a:highlight>
              </a:rPr>
              <a:t> 것이지 권리의 유효성을 부정하지는 않음</a:t>
            </a:r>
            <a:endParaRPr lang="en-US" altLang="ko-KR" sz="1400" dirty="0">
              <a:highlight>
                <a:srgbClr val="FFFF00"/>
              </a:highlight>
            </a:endParaRPr>
          </a:p>
          <a:p>
            <a:pPr marL="285750" indent="-285750">
              <a:buFontTx/>
              <a:buChar char="-"/>
            </a:pPr>
            <a:r>
              <a:rPr lang="ko-KR" altLang="en-US" sz="1400" dirty="0">
                <a:highlight>
                  <a:srgbClr val="FFFF00"/>
                </a:highlight>
              </a:rPr>
              <a:t>권리의 유효성에 대한 다툼은 무효심판의 </a:t>
            </a:r>
            <a:r>
              <a:rPr lang="ko-KR" altLang="en-US" sz="1400" dirty="0" err="1">
                <a:highlight>
                  <a:srgbClr val="FFFF00"/>
                </a:highlight>
              </a:rPr>
              <a:t>전권사항이므로</a:t>
            </a:r>
            <a:r>
              <a:rPr lang="ko-KR" altLang="en-US" sz="1400" dirty="0">
                <a:highlight>
                  <a:srgbClr val="FFFF00"/>
                </a:highlight>
              </a:rPr>
              <a:t> 권리범위확인심판에서 다툴 수 없고</a:t>
            </a:r>
            <a:r>
              <a:rPr lang="en-US" altLang="ko-KR" sz="1400" dirty="0">
                <a:highlight>
                  <a:srgbClr val="FFFF00"/>
                </a:highlight>
              </a:rPr>
              <a:t>, </a:t>
            </a:r>
            <a:r>
              <a:rPr lang="ko-KR" altLang="en-US" sz="1400" dirty="0">
                <a:highlight>
                  <a:srgbClr val="FFFF00"/>
                </a:highlight>
              </a:rPr>
              <a:t>따라서 권리 대 권리 간의 적극적 권리범위확인심판은</a:t>
            </a:r>
            <a:endParaRPr lang="en-US" altLang="ko-KR" sz="1400" dirty="0">
              <a:highlight>
                <a:srgbClr val="FFFF00"/>
              </a:highlight>
            </a:endParaRPr>
          </a:p>
          <a:p>
            <a:r>
              <a:rPr lang="en-US" altLang="ko-KR" sz="1400" dirty="0"/>
              <a:t>      </a:t>
            </a:r>
            <a:r>
              <a:rPr lang="ko-KR" altLang="en-US" sz="1400" dirty="0">
                <a:highlight>
                  <a:srgbClr val="FFFF00"/>
                </a:highlight>
              </a:rPr>
              <a:t>권리의 유효성을 부정하지 않는 이용관계만 가능하고</a:t>
            </a:r>
            <a:r>
              <a:rPr lang="en-US" altLang="ko-KR" sz="1400" dirty="0">
                <a:highlight>
                  <a:srgbClr val="FFFF00"/>
                </a:highlight>
              </a:rPr>
              <a:t>, </a:t>
            </a:r>
            <a:r>
              <a:rPr lang="ko-KR" altLang="en-US" sz="1400" dirty="0">
                <a:highlight>
                  <a:srgbClr val="FFFF00"/>
                </a:highlight>
              </a:rPr>
              <a:t>권리의 유효성을 부정하는 저촉관계는 불가능함</a:t>
            </a:r>
            <a:endParaRPr lang="en-US" altLang="ko-KR" sz="1400" dirty="0">
              <a:highlight>
                <a:srgbClr val="FFFF00"/>
              </a:highlight>
            </a:endParaRPr>
          </a:p>
          <a:p>
            <a:pPr marL="285750" indent="-285750">
              <a:buFontTx/>
              <a:buChar char="-"/>
            </a:pPr>
            <a:r>
              <a:rPr lang="ko-KR" altLang="en-US" sz="1400" dirty="0"/>
              <a:t>그 결과 이용관계가 아닌 권리 대 권리 간의 적극적 권리범위확인심판은 각하되어야 하나</a:t>
            </a:r>
            <a:r>
              <a:rPr lang="en-US" altLang="ko-KR" sz="1400" dirty="0"/>
              <a:t>, </a:t>
            </a:r>
            <a:r>
              <a:rPr lang="ko-KR" altLang="en-US" sz="1400" dirty="0"/>
              <a:t>기각이나 각하나 심판청구인이 심판에서 지는 것은 매한가지</a:t>
            </a:r>
            <a:endParaRPr lang="en-US" altLang="ko-KR" sz="1400" dirty="0"/>
          </a:p>
          <a:p>
            <a:r>
              <a:rPr lang="en-US" altLang="ko-KR" sz="1400" dirty="0"/>
              <a:t>      </a:t>
            </a:r>
            <a:r>
              <a:rPr lang="ko-KR" altLang="en-US" sz="1400" dirty="0"/>
              <a:t>이기 때문에 유리한 </a:t>
            </a:r>
            <a:r>
              <a:rPr lang="ko-KR" altLang="en-US" sz="1400" dirty="0" err="1"/>
              <a:t>심결을</a:t>
            </a:r>
            <a:r>
              <a:rPr lang="ko-KR" altLang="en-US" sz="1400" dirty="0"/>
              <a:t> 받을 가능성이 없고</a:t>
            </a:r>
            <a:r>
              <a:rPr lang="en-US" altLang="ko-KR" sz="1400" dirty="0"/>
              <a:t>, </a:t>
            </a:r>
            <a:r>
              <a:rPr lang="ko-KR" altLang="en-US" sz="1400" dirty="0"/>
              <a:t>따라서 본 사안은 </a:t>
            </a:r>
            <a:r>
              <a:rPr lang="ko-KR" altLang="en-US" sz="1400" dirty="0" err="1"/>
              <a:t>소각하함</a:t>
            </a:r>
            <a:r>
              <a:rPr lang="ko-KR" altLang="en-US" sz="1400" dirty="0"/>
              <a:t> </a:t>
            </a:r>
          </a:p>
        </p:txBody>
      </p:sp>
    </p:spTree>
    <p:extLst>
      <p:ext uri="{BB962C8B-B14F-4D97-AF65-F5344CB8AC3E}">
        <p14:creationId xmlns:p14="http://schemas.microsoft.com/office/powerpoint/2010/main" val="3072386337"/>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0559A5-0B09-98DB-9B91-E50C43CD5630}"/>
            </a:ext>
          </a:extLst>
        </p:cNvPr>
        <p:cNvGrpSpPr/>
        <p:nvPr/>
      </p:nvGrpSpPr>
      <p:grpSpPr>
        <a:xfrm>
          <a:off x="0" y="0"/>
          <a:ext cx="0" cy="0"/>
          <a:chOff x="0" y="0"/>
          <a:chExt cx="0" cy="0"/>
        </a:xfrm>
      </p:grpSpPr>
      <p:sp>
        <p:nvSpPr>
          <p:cNvPr id="3" name="제목 2">
            <a:extLst>
              <a:ext uri="{FF2B5EF4-FFF2-40B4-BE49-F238E27FC236}">
                <a16:creationId xmlns:a16="http://schemas.microsoft.com/office/drawing/2014/main" id="{D0DD81E3-9E40-F8E2-F57B-E0518EA9C6C0}"/>
              </a:ext>
            </a:extLst>
          </p:cNvPr>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4" name="텍스트 개체 틀 3">
            <a:extLst>
              <a:ext uri="{FF2B5EF4-FFF2-40B4-BE49-F238E27FC236}">
                <a16:creationId xmlns:a16="http://schemas.microsoft.com/office/drawing/2014/main" id="{E7FE2C5F-D3E5-6785-3177-98EFC8E91FFF}"/>
              </a:ext>
            </a:extLst>
          </p:cNvPr>
          <p:cNvSpPr>
            <a:spLocks noGrp="1"/>
          </p:cNvSpPr>
          <p:nvPr>
            <p:ph type="body" sz="quarter" idx="13"/>
          </p:nvPr>
        </p:nvSpPr>
        <p:spPr/>
        <p:txBody>
          <a:bodyPr>
            <a:normAutofit/>
          </a:bodyPr>
          <a:lstStyle/>
          <a:p>
            <a:pPr fontAlgn="base" latinLnBrk="0"/>
            <a:r>
              <a:rPr lang="ko-KR" altLang="en-US" dirty="0"/>
              <a:t>권리 대 권리 간의 적극적 권리범위확인심판 </a:t>
            </a:r>
            <a:r>
              <a:rPr lang="en-US" altLang="ko-KR" dirty="0"/>
              <a:t>CASE</a:t>
            </a:r>
            <a:endParaRPr lang="ko-KR" altLang="en-US" dirty="0"/>
          </a:p>
        </p:txBody>
      </p:sp>
      <p:sp>
        <p:nvSpPr>
          <p:cNvPr id="2" name="Rectangle 1">
            <a:extLst>
              <a:ext uri="{FF2B5EF4-FFF2-40B4-BE49-F238E27FC236}">
                <a16:creationId xmlns:a16="http://schemas.microsoft.com/office/drawing/2014/main" id="{C0943296-8DFA-4245-B954-164DBCF8F492}"/>
              </a:ext>
            </a:extLst>
          </p:cNvPr>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25" name="직선 연결선 24">
            <a:extLst>
              <a:ext uri="{FF2B5EF4-FFF2-40B4-BE49-F238E27FC236}">
                <a16:creationId xmlns:a16="http://schemas.microsoft.com/office/drawing/2014/main" id="{C5F85F50-9BB0-7AC6-D4EA-E9BD83210208}"/>
              </a:ext>
            </a:extLst>
          </p:cNvPr>
          <p:cNvCxnSpPr/>
          <p:nvPr/>
        </p:nvCxnSpPr>
        <p:spPr>
          <a:xfrm>
            <a:off x="0" y="3613414"/>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직사각형 25">
            <a:extLst>
              <a:ext uri="{FF2B5EF4-FFF2-40B4-BE49-F238E27FC236}">
                <a16:creationId xmlns:a16="http://schemas.microsoft.com/office/drawing/2014/main" id="{F7C27AB7-73B6-453F-55DA-EC3CFFE94F13}"/>
              </a:ext>
            </a:extLst>
          </p:cNvPr>
          <p:cNvSpPr/>
          <p:nvPr/>
        </p:nvSpPr>
        <p:spPr>
          <a:xfrm>
            <a:off x="85725" y="1285289"/>
            <a:ext cx="12106273" cy="2354491"/>
          </a:xfrm>
          <a:prstGeom prst="rect">
            <a:avLst/>
          </a:prstGeom>
        </p:spPr>
        <p:txBody>
          <a:bodyPr wrap="square">
            <a:spAutoFit/>
          </a:bodyPr>
          <a:lstStyle/>
          <a:p>
            <a:pPr fontAlgn="base"/>
            <a:r>
              <a:rPr lang="en-US" altLang="ko-KR" sz="1050" dirty="0"/>
              <a:t>[1] </a:t>
            </a:r>
            <a:r>
              <a:rPr lang="ko-KR" altLang="en-US" sz="1050" dirty="0"/>
              <a:t>특허권의 권리범위 확인심판을 청구할 때 심판청구의 대상이 되는 기술내용은 당해 특허발명과 서로 대비할 수 있을 만큼 구체적으로 특정되어야 한다</a:t>
            </a:r>
            <a:r>
              <a:rPr lang="en-US" altLang="ko-KR" sz="1050" dirty="0"/>
              <a:t>. </a:t>
            </a:r>
            <a:r>
              <a:rPr lang="ko-KR" altLang="en-US" sz="1050" dirty="0"/>
              <a:t>그렇지만 그 특정을 위하여 대상물의 구체적인 구성을 전부 기재할 필요는 없고</a:t>
            </a:r>
            <a:r>
              <a:rPr lang="en-US" altLang="ko-KR" sz="1050" dirty="0"/>
              <a:t>, </a:t>
            </a:r>
            <a:r>
              <a:rPr lang="ko-KR" altLang="en-US" sz="1050" dirty="0"/>
              <a:t>특허발명의 구성요소에 대응하는 부분의 구체적인 구성을 기재하면 된다</a:t>
            </a:r>
            <a:r>
              <a:rPr lang="en-US" altLang="ko-KR" sz="1050" dirty="0"/>
              <a:t>. </a:t>
            </a:r>
            <a:r>
              <a:rPr lang="ko-KR" altLang="en-US" sz="1050" dirty="0"/>
              <a:t>또한 그 구체적인 구성의 기재도 특허발명의 구성요소와 대비하여 그 차이점을 판단함에 필요한 정도면 충분하다</a:t>
            </a:r>
            <a:r>
              <a:rPr lang="en-US" altLang="ko-KR" sz="1050" dirty="0"/>
              <a:t>(</a:t>
            </a:r>
            <a:r>
              <a:rPr lang="ko-KR" altLang="en-US" sz="1050" dirty="0"/>
              <a:t>대법원 </a:t>
            </a:r>
            <a:r>
              <a:rPr lang="en-US" altLang="ko-KR" sz="1050" dirty="0"/>
              <a:t>1994. 5. 24. </a:t>
            </a:r>
            <a:r>
              <a:rPr lang="ko-KR" altLang="en-US" sz="1050" dirty="0"/>
              <a:t>선고 </a:t>
            </a:r>
            <a:r>
              <a:rPr lang="en-US" altLang="ko-KR" sz="1050" dirty="0"/>
              <a:t>93</a:t>
            </a:r>
            <a:r>
              <a:rPr lang="ko-KR" altLang="en-US" sz="1050" dirty="0"/>
              <a:t>후</a:t>
            </a:r>
            <a:r>
              <a:rPr lang="en-US" altLang="ko-KR" sz="1050" dirty="0"/>
              <a:t>381 </a:t>
            </a:r>
            <a:r>
              <a:rPr lang="ko-KR" altLang="en-US" sz="1050" dirty="0"/>
              <a:t>판결</a:t>
            </a:r>
            <a:r>
              <a:rPr lang="en-US" altLang="ko-KR" sz="1050" dirty="0"/>
              <a:t>, </a:t>
            </a:r>
            <a:r>
              <a:rPr lang="ko-KR" altLang="en-US" sz="1050" dirty="0"/>
              <a:t>대법원 </a:t>
            </a:r>
            <a:r>
              <a:rPr lang="en-US" altLang="ko-KR" sz="1050" dirty="0"/>
              <a:t>2004. 10. 14. </a:t>
            </a:r>
            <a:r>
              <a:rPr lang="ko-KR" altLang="en-US" sz="1050" dirty="0"/>
              <a:t>선고 </a:t>
            </a:r>
            <a:r>
              <a:rPr lang="en-US" altLang="ko-KR" sz="1050" dirty="0"/>
              <a:t>2003</a:t>
            </a:r>
            <a:r>
              <a:rPr lang="ko-KR" altLang="en-US" sz="1050" dirty="0"/>
              <a:t>후</a:t>
            </a:r>
            <a:r>
              <a:rPr lang="en-US" altLang="ko-KR" sz="1050" dirty="0"/>
              <a:t>2164 </a:t>
            </a:r>
            <a:r>
              <a:rPr lang="ko-KR" altLang="en-US" sz="1050" dirty="0"/>
              <a:t>판결 등 참조</a:t>
            </a:r>
            <a:r>
              <a:rPr lang="en-US" altLang="ko-KR" sz="1050" dirty="0"/>
              <a:t>)</a:t>
            </a:r>
            <a:endParaRPr lang="ko-KR" altLang="en-US" sz="1050" dirty="0"/>
          </a:p>
          <a:p>
            <a:pPr fontAlgn="base"/>
            <a:r>
              <a:rPr lang="en-US" altLang="ko-KR" sz="1050" dirty="0"/>
              <a:t>[2] </a:t>
            </a:r>
            <a:r>
              <a:rPr lang="ko-KR" altLang="en-US" sz="1050" dirty="0"/>
              <a:t>특허권자가 심판을 청구하는 확인대상 발명이 특허권의 권리범위에 속한다는 내용의 적극적 권리범위 확인심판을 청구한 경우</a:t>
            </a:r>
            <a:r>
              <a:rPr lang="en-US" altLang="ko-KR" sz="1050" dirty="0"/>
              <a:t>, </a:t>
            </a:r>
            <a:r>
              <a:rPr lang="ko-KR" altLang="en-US" sz="1050" dirty="0"/>
              <a:t>심판청구인이 특정한 확인대상 발명과 피심판청구인이 실시하고 있는 발명 사이에 동일성이 인정되지 아니하면</a:t>
            </a:r>
            <a:r>
              <a:rPr lang="en-US" altLang="ko-KR" sz="1050" dirty="0"/>
              <a:t>, </a:t>
            </a:r>
            <a:r>
              <a:rPr lang="ko-KR" altLang="en-US" sz="1050" dirty="0"/>
              <a:t>확인대상 발명이 특허권의 권리범위에 속한다는 </a:t>
            </a:r>
            <a:r>
              <a:rPr lang="ko-KR" altLang="en-US" sz="1050" dirty="0" err="1"/>
              <a:t>심결이</a:t>
            </a:r>
            <a:r>
              <a:rPr lang="ko-KR" altLang="en-US" sz="1050" dirty="0"/>
              <a:t> 확정된다고 하더라도</a:t>
            </a:r>
            <a:r>
              <a:rPr lang="en-US" altLang="ko-KR" sz="1050" dirty="0"/>
              <a:t>, </a:t>
            </a:r>
            <a:r>
              <a:rPr lang="ko-KR" altLang="en-US" sz="1050" dirty="0"/>
              <a:t>그 </a:t>
            </a:r>
            <a:r>
              <a:rPr lang="ko-KR" altLang="en-US" sz="1050" dirty="0" err="1"/>
              <a:t>심결은</a:t>
            </a:r>
            <a:r>
              <a:rPr lang="ko-KR" altLang="en-US" sz="1050" dirty="0"/>
              <a:t> 심판청구인이 특정한 확인대상 발명에 대하여만 효력을 미칠 뿐 실제 피심판청구인이 실시하고 있는 발명에 대하여는 아무런 효력이 없다</a:t>
            </a:r>
            <a:r>
              <a:rPr lang="en-US" altLang="ko-KR" sz="1050" dirty="0"/>
              <a:t>. </a:t>
            </a:r>
            <a:r>
              <a:rPr lang="ko-KR" altLang="en-US" sz="1050" dirty="0"/>
              <a:t>이와 같이 피심판청구인이 실시하지 않고 있는 발명을 대상으로 한 적극적 권리범위 확인심판청구는 확인의 이익이 없어 </a:t>
            </a:r>
            <a:r>
              <a:rPr lang="ko-KR" altLang="en-US" sz="1050" dirty="0" err="1"/>
              <a:t>부적법하여</a:t>
            </a:r>
            <a:r>
              <a:rPr lang="ko-KR" altLang="en-US" sz="1050" dirty="0"/>
              <a:t> 각하되어야 한다</a:t>
            </a:r>
            <a:r>
              <a:rPr lang="en-US" altLang="ko-KR" sz="1050" dirty="0"/>
              <a:t>(</a:t>
            </a:r>
            <a:r>
              <a:rPr lang="ko-KR" altLang="en-US" sz="1050" dirty="0"/>
              <a:t>대법원 </a:t>
            </a:r>
            <a:r>
              <a:rPr lang="en-US" altLang="ko-KR" sz="1050" dirty="0"/>
              <a:t>2003. 6. 10. </a:t>
            </a:r>
            <a:r>
              <a:rPr lang="ko-KR" altLang="en-US" sz="1050" dirty="0"/>
              <a:t>선고 </a:t>
            </a:r>
            <a:r>
              <a:rPr lang="en-US" altLang="ko-KR" sz="1050" dirty="0"/>
              <a:t>2002</a:t>
            </a:r>
            <a:r>
              <a:rPr lang="ko-KR" altLang="en-US" sz="1050" dirty="0"/>
              <a:t>후</a:t>
            </a:r>
            <a:r>
              <a:rPr lang="en-US" altLang="ko-KR" sz="1050" dirty="0"/>
              <a:t>2419 </a:t>
            </a:r>
            <a:r>
              <a:rPr lang="ko-KR" altLang="en-US" sz="1050" dirty="0"/>
              <a:t>판결 등 참조</a:t>
            </a:r>
            <a:r>
              <a:rPr lang="en-US" altLang="ko-KR" sz="1050" dirty="0"/>
              <a:t>). </a:t>
            </a:r>
            <a:r>
              <a:rPr lang="ko-KR" altLang="en-US" sz="1050" dirty="0"/>
              <a:t>확인대상 발명과 피심판청구인이 실시하고 있는 발명의 동일성은 피심판청구인이 확인대상 발명을 실시하고 있는지 여부라는 사실 확정에 관한 것이므로 이들 발명이 사실적 관점에서 같다고 보이는 경우에는 그 동일성을 인정할 수 있다</a:t>
            </a:r>
            <a:r>
              <a:rPr lang="en-US" altLang="ko-KR" sz="1050" dirty="0"/>
              <a:t>(</a:t>
            </a:r>
            <a:r>
              <a:rPr lang="ko-KR" altLang="en-US" sz="1050" dirty="0"/>
              <a:t>대법원 </a:t>
            </a:r>
            <a:r>
              <a:rPr lang="en-US" altLang="ko-KR" sz="1050" dirty="0"/>
              <a:t>2012. 10. 25. </a:t>
            </a:r>
            <a:r>
              <a:rPr lang="ko-KR" altLang="en-US" sz="1050" dirty="0"/>
              <a:t>선고 </a:t>
            </a:r>
            <a:r>
              <a:rPr lang="en-US" altLang="ko-KR" sz="1050" dirty="0"/>
              <a:t>2011</a:t>
            </a:r>
            <a:r>
              <a:rPr lang="ko-KR" altLang="en-US" sz="1050" dirty="0"/>
              <a:t>후</a:t>
            </a:r>
            <a:r>
              <a:rPr lang="en-US" altLang="ko-KR" sz="1050" dirty="0"/>
              <a:t>2626 </a:t>
            </a:r>
            <a:r>
              <a:rPr lang="ko-KR" altLang="en-US" sz="1050" dirty="0"/>
              <a:t>판결 등 참조</a:t>
            </a:r>
            <a:r>
              <a:rPr lang="en-US" altLang="ko-KR" sz="1050" dirty="0"/>
              <a:t>).</a:t>
            </a:r>
            <a:endParaRPr lang="ko-KR" altLang="en-US" sz="1050" dirty="0"/>
          </a:p>
          <a:p>
            <a:pPr fontAlgn="base"/>
            <a:r>
              <a:rPr lang="en-US" altLang="ko-KR" sz="1050" dirty="0"/>
              <a:t>[3] </a:t>
            </a:r>
            <a:r>
              <a:rPr lang="ko-KR" altLang="en-US" sz="1050" dirty="0" err="1"/>
              <a:t>선등록</a:t>
            </a:r>
            <a:r>
              <a:rPr lang="ko-KR" altLang="en-US" sz="1050" dirty="0"/>
              <a:t> 특허권자가 </a:t>
            </a:r>
            <a:r>
              <a:rPr lang="ko-KR" altLang="en-US" sz="1050" dirty="0" err="1"/>
              <a:t>후등록</a:t>
            </a:r>
            <a:r>
              <a:rPr lang="ko-KR" altLang="en-US" sz="1050" dirty="0"/>
              <a:t> 특허권자를 상대로 </a:t>
            </a:r>
            <a:r>
              <a:rPr lang="ko-KR" altLang="en-US" sz="1050" dirty="0" err="1"/>
              <a:t>후등록</a:t>
            </a:r>
            <a:r>
              <a:rPr lang="ko-KR" altLang="en-US" sz="1050" dirty="0"/>
              <a:t> 특허발명을 확인대상 발명으로 삼아 </a:t>
            </a:r>
            <a:r>
              <a:rPr lang="ko-KR" altLang="en-US" sz="1050" dirty="0" err="1"/>
              <a:t>선등록</a:t>
            </a:r>
            <a:r>
              <a:rPr lang="ko-KR" altLang="en-US" sz="1050" dirty="0"/>
              <a:t> 특허권의 권리범위에 속한다는 확인을 구하는 적극적 권리범위 확인심판청구는</a:t>
            </a:r>
            <a:r>
              <a:rPr lang="en-US" altLang="ko-KR" sz="1050" dirty="0"/>
              <a:t>, </a:t>
            </a:r>
            <a:r>
              <a:rPr lang="ko-KR" altLang="en-US" sz="1050" dirty="0"/>
              <a:t>등록무효절차 이외에서 등록된 권리의 효력을 부인하는 결과가 되어 확인의 이익이 인정될 수 없으므로 원칙적으로 </a:t>
            </a:r>
            <a:r>
              <a:rPr lang="ko-KR" altLang="en-US" sz="1050" dirty="0" err="1"/>
              <a:t>부적법하다</a:t>
            </a:r>
            <a:r>
              <a:rPr lang="en-US" altLang="ko-KR" sz="1050" dirty="0"/>
              <a:t>(</a:t>
            </a:r>
            <a:r>
              <a:rPr lang="ko-KR" altLang="en-US" sz="1050" dirty="0"/>
              <a:t>대법원 </a:t>
            </a:r>
            <a:r>
              <a:rPr lang="en-US" altLang="ko-KR" sz="1050" dirty="0"/>
              <a:t>2007. 10. 11. </a:t>
            </a:r>
            <a:r>
              <a:rPr lang="ko-KR" altLang="en-US" sz="1050" dirty="0"/>
              <a:t>선고 </a:t>
            </a:r>
            <a:r>
              <a:rPr lang="en-US" altLang="ko-KR" sz="1050" dirty="0"/>
              <a:t>2007</a:t>
            </a:r>
            <a:r>
              <a:rPr lang="ko-KR" altLang="en-US" sz="1050" dirty="0"/>
              <a:t>후</a:t>
            </a:r>
            <a:r>
              <a:rPr lang="en-US" altLang="ko-KR" sz="1050" dirty="0"/>
              <a:t>2766 </a:t>
            </a:r>
            <a:r>
              <a:rPr lang="ko-KR" altLang="en-US" sz="1050" dirty="0"/>
              <a:t>판결</a:t>
            </a:r>
            <a:r>
              <a:rPr lang="en-US" altLang="ko-KR" sz="1050" dirty="0"/>
              <a:t>, </a:t>
            </a:r>
            <a:r>
              <a:rPr lang="ko-KR" altLang="en-US" sz="1050" dirty="0"/>
              <a:t>대법원 </a:t>
            </a:r>
            <a:r>
              <a:rPr lang="en-US" altLang="ko-KR" sz="1050" dirty="0"/>
              <a:t>2016. 4. 28. </a:t>
            </a:r>
            <a:r>
              <a:rPr lang="ko-KR" altLang="en-US" sz="1050" dirty="0"/>
              <a:t>선고 </a:t>
            </a:r>
            <a:r>
              <a:rPr lang="en-US" altLang="ko-KR" sz="1050" dirty="0"/>
              <a:t>2013</a:t>
            </a:r>
            <a:r>
              <a:rPr lang="ko-KR" altLang="en-US" sz="1050" dirty="0"/>
              <a:t>후</a:t>
            </a:r>
            <a:r>
              <a:rPr lang="en-US" altLang="ko-KR" sz="1050" dirty="0"/>
              <a:t>2965 </a:t>
            </a:r>
            <a:r>
              <a:rPr lang="ko-KR" altLang="en-US" sz="1050" dirty="0"/>
              <a:t>판결 등 참조</a:t>
            </a:r>
            <a:r>
              <a:rPr lang="en-US" altLang="ko-KR" sz="1050" dirty="0"/>
              <a:t>). </a:t>
            </a:r>
            <a:r>
              <a:rPr lang="ko-KR" altLang="en-US" sz="1050" dirty="0"/>
              <a:t>다만 예외적으로 두 발명이 특허법 제</a:t>
            </a:r>
            <a:r>
              <a:rPr lang="en-US" altLang="ko-KR" sz="1050" dirty="0"/>
              <a:t>98</a:t>
            </a:r>
            <a:r>
              <a:rPr lang="ko-KR" altLang="en-US" sz="1050" dirty="0"/>
              <a:t>조에서 규정하는 이용관계에 있어 확인대상 발명의 등록의 효력을 부정하지 않고 권리범위의 확인을 구할 수 있는 경우에는 권리 대 권리 간 적극적 권리범위 확인심판의 청구가 허용된다</a:t>
            </a:r>
            <a:r>
              <a:rPr lang="en-US" altLang="ko-KR" sz="1050" dirty="0"/>
              <a:t>(</a:t>
            </a:r>
            <a:r>
              <a:rPr lang="ko-KR" altLang="en-US" sz="1050" dirty="0"/>
              <a:t>대법원 </a:t>
            </a:r>
            <a:r>
              <a:rPr lang="en-US" altLang="ko-KR" sz="1050" dirty="0"/>
              <a:t>2002. 6. 28. </a:t>
            </a:r>
            <a:r>
              <a:rPr lang="ko-KR" altLang="en-US" sz="1050" dirty="0"/>
              <a:t>선고 </a:t>
            </a:r>
            <a:r>
              <a:rPr lang="en-US" altLang="ko-KR" sz="1050" dirty="0"/>
              <a:t>99</a:t>
            </a:r>
            <a:r>
              <a:rPr lang="ko-KR" altLang="en-US" sz="1050" dirty="0"/>
              <a:t>후</a:t>
            </a:r>
            <a:r>
              <a:rPr lang="en-US" altLang="ko-KR" sz="1050" dirty="0"/>
              <a:t>2433 </a:t>
            </a:r>
            <a:r>
              <a:rPr lang="ko-KR" altLang="en-US" sz="1050" dirty="0"/>
              <a:t>판결</a:t>
            </a:r>
            <a:r>
              <a:rPr lang="en-US" altLang="ko-KR" sz="1050" dirty="0"/>
              <a:t>, </a:t>
            </a:r>
            <a:r>
              <a:rPr lang="ko-KR" altLang="en-US" sz="1050" dirty="0"/>
              <a:t>대법원 </a:t>
            </a:r>
            <a:r>
              <a:rPr lang="en-US" altLang="ko-KR" sz="1050" dirty="0"/>
              <a:t>2016. 4. 28. </a:t>
            </a:r>
            <a:r>
              <a:rPr lang="ko-KR" altLang="en-US" sz="1050" dirty="0"/>
              <a:t>선고 </a:t>
            </a:r>
            <a:r>
              <a:rPr lang="en-US" altLang="ko-KR" sz="1050" dirty="0"/>
              <a:t>2015</a:t>
            </a:r>
            <a:r>
              <a:rPr lang="ko-KR" altLang="en-US" sz="1050" dirty="0"/>
              <a:t>후</a:t>
            </a:r>
            <a:r>
              <a:rPr lang="en-US" altLang="ko-KR" sz="1050" dirty="0"/>
              <a:t>161 </a:t>
            </a:r>
            <a:r>
              <a:rPr lang="ko-KR" altLang="en-US" sz="1050" dirty="0"/>
              <a:t>판결 등 참조</a:t>
            </a:r>
            <a:r>
              <a:rPr lang="en-US" altLang="ko-KR" sz="1050" dirty="0"/>
              <a:t>). </a:t>
            </a:r>
            <a:r>
              <a:rPr lang="ko-KR" altLang="en-US" sz="1050" dirty="0">
                <a:highlight>
                  <a:srgbClr val="FFFF00"/>
                </a:highlight>
              </a:rPr>
              <a:t>한편 권리범위 확인심판에서 확인의 이익 유무는 심판청구의 적법 요건에 관한 것으로서 </a:t>
            </a:r>
            <a:r>
              <a:rPr lang="ko-KR" altLang="en-US" sz="1050" dirty="0" err="1">
                <a:highlight>
                  <a:srgbClr val="FFFF00"/>
                </a:highlight>
              </a:rPr>
              <a:t>직권조사사항이므로</a:t>
            </a:r>
            <a:r>
              <a:rPr lang="en-US" altLang="ko-KR" sz="1050" dirty="0">
                <a:highlight>
                  <a:srgbClr val="FFFF00"/>
                </a:highlight>
              </a:rPr>
              <a:t>, </a:t>
            </a:r>
            <a:r>
              <a:rPr lang="ko-KR" altLang="en-US" sz="1050" dirty="0">
                <a:highlight>
                  <a:srgbClr val="FFFF00"/>
                </a:highlight>
              </a:rPr>
              <a:t>법원은 그 판단의 기초자료인 사실과 증거를 직권으로 탐지할 의무까지는 없다고 하더라도 이미 제출된 자료들에 의하여 그 확인의 이익이 있는지 의심이 갈 만한 사정이 보인다면</a:t>
            </a:r>
            <a:r>
              <a:rPr lang="en-US" altLang="ko-KR" sz="1050" dirty="0">
                <a:highlight>
                  <a:srgbClr val="FFFF00"/>
                </a:highlight>
              </a:rPr>
              <a:t>, </a:t>
            </a:r>
            <a:r>
              <a:rPr lang="ko-KR" altLang="en-US" sz="1050" dirty="0">
                <a:highlight>
                  <a:srgbClr val="FFFF00"/>
                </a:highlight>
              </a:rPr>
              <a:t>상대방이 이를 구체적으로 지적하여 다투지 않더라도 이에 관하여 심리</a:t>
            </a:r>
            <a:r>
              <a:rPr lang="en-US" altLang="ko-KR" sz="1050" dirty="0">
                <a:highlight>
                  <a:srgbClr val="FFFF00"/>
                </a:highlight>
              </a:rPr>
              <a:t>․</a:t>
            </a:r>
            <a:r>
              <a:rPr lang="ko-KR" altLang="en-US" sz="1050" dirty="0">
                <a:highlight>
                  <a:srgbClr val="FFFF00"/>
                </a:highlight>
              </a:rPr>
              <a:t>조사할 의무가 있다</a:t>
            </a:r>
            <a:r>
              <a:rPr lang="en-US" altLang="ko-KR" sz="1050" dirty="0">
                <a:highlight>
                  <a:srgbClr val="FFFF00"/>
                </a:highlight>
              </a:rPr>
              <a:t>.</a:t>
            </a:r>
            <a:endParaRPr lang="ko-KR" altLang="en-US" sz="1050" dirty="0">
              <a:highlight>
                <a:srgbClr val="FFFF00"/>
              </a:highlight>
            </a:endParaRPr>
          </a:p>
        </p:txBody>
      </p:sp>
      <p:sp>
        <p:nvSpPr>
          <p:cNvPr id="27" name="모서리가 둥근 직사각형 10">
            <a:extLst>
              <a:ext uri="{FF2B5EF4-FFF2-40B4-BE49-F238E27FC236}">
                <a16:creationId xmlns:a16="http://schemas.microsoft.com/office/drawing/2014/main" id="{CEC9EB70-6C40-15CA-06D9-F4001CEA6BEC}"/>
              </a:ext>
            </a:extLst>
          </p:cNvPr>
          <p:cNvSpPr/>
          <p:nvPr/>
        </p:nvSpPr>
        <p:spPr bwMode="auto">
          <a:xfrm>
            <a:off x="216493" y="1002199"/>
            <a:ext cx="4363911" cy="260874"/>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200" dirty="0"/>
              <a:t>대법원 </a:t>
            </a:r>
            <a:r>
              <a:rPr lang="en-US" altLang="ko-KR" sz="1200" dirty="0"/>
              <a:t>2025. 9. 11. </a:t>
            </a:r>
            <a:r>
              <a:rPr lang="ko-KR" altLang="en-US" sz="1200" dirty="0"/>
              <a:t>선고 </a:t>
            </a:r>
            <a:r>
              <a:rPr lang="en-US" altLang="ko-KR" sz="1200" dirty="0"/>
              <a:t>2024</a:t>
            </a:r>
            <a:r>
              <a:rPr lang="ko-KR" altLang="en-US" sz="1200" dirty="0"/>
              <a:t>후</a:t>
            </a:r>
            <a:r>
              <a:rPr lang="en-US" altLang="ko-KR" sz="1200" dirty="0"/>
              <a:t>10436 </a:t>
            </a:r>
            <a:r>
              <a:rPr lang="ko-KR" altLang="en-US" sz="1200" dirty="0"/>
              <a:t>판결 </a:t>
            </a:r>
            <a:r>
              <a:rPr lang="en-US" altLang="ko-KR" sz="1200" dirty="0"/>
              <a:t>【</a:t>
            </a:r>
            <a:r>
              <a:rPr lang="ko-KR" altLang="en-US" sz="1200" dirty="0"/>
              <a:t>권리범위확인</a:t>
            </a:r>
            <a:r>
              <a:rPr lang="en-US" altLang="ko-KR" sz="1200" dirty="0"/>
              <a:t>(</a:t>
            </a:r>
            <a:r>
              <a:rPr lang="ko-KR" altLang="en-US" sz="1200" dirty="0" err="1"/>
              <a:t>특</a:t>
            </a:r>
            <a:r>
              <a:rPr lang="en-US" altLang="ko-KR" sz="1200" dirty="0"/>
              <a:t>)】</a:t>
            </a:r>
          </a:p>
        </p:txBody>
      </p:sp>
      <p:sp>
        <p:nvSpPr>
          <p:cNvPr id="28" name="Line 5">
            <a:extLst>
              <a:ext uri="{FF2B5EF4-FFF2-40B4-BE49-F238E27FC236}">
                <a16:creationId xmlns:a16="http://schemas.microsoft.com/office/drawing/2014/main" id="{EA18EF0B-D515-A6B1-3CB6-C96CA9A8FFE2}"/>
              </a:ext>
            </a:extLst>
          </p:cNvPr>
          <p:cNvSpPr>
            <a:spLocks noChangeShapeType="1"/>
          </p:cNvSpPr>
          <p:nvPr/>
        </p:nvSpPr>
        <p:spPr bwMode="auto">
          <a:xfrm>
            <a:off x="238126" y="4356763"/>
            <a:ext cx="11001374" cy="0"/>
          </a:xfrm>
          <a:prstGeom prst="line">
            <a:avLst/>
          </a:prstGeom>
          <a:noFill/>
          <a:ln w="57150">
            <a:solidFill>
              <a:schemeClr val="bg1">
                <a:lumMod val="50000"/>
              </a:schemeClr>
            </a:solidFill>
            <a:round/>
            <a:headEnd/>
            <a:tailEnd type="stealth" w="med" len="med"/>
          </a:ln>
        </p:spPr>
        <p:txBody>
          <a:bodyPr/>
          <a:lstStyle/>
          <a:p>
            <a:endParaRPr lang="ko-KR" altLang="en-US" sz="1000">
              <a:latin typeface="+mn-ea"/>
            </a:endParaRPr>
          </a:p>
        </p:txBody>
      </p:sp>
      <p:sp>
        <p:nvSpPr>
          <p:cNvPr id="29" name="TextBox 28">
            <a:extLst>
              <a:ext uri="{FF2B5EF4-FFF2-40B4-BE49-F238E27FC236}">
                <a16:creationId xmlns:a16="http://schemas.microsoft.com/office/drawing/2014/main" id="{C1A897BC-FA44-D07D-DBF3-60E05CD7BB93}"/>
              </a:ext>
            </a:extLst>
          </p:cNvPr>
          <p:cNvSpPr txBox="1"/>
          <p:nvPr/>
        </p:nvSpPr>
        <p:spPr>
          <a:xfrm>
            <a:off x="317935" y="4555788"/>
            <a:ext cx="1231432" cy="400110"/>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적극적 권리범위</a:t>
            </a:r>
            <a:endParaRPr lang="en-US" altLang="ko-KR" sz="1000" dirty="0">
              <a:solidFill>
                <a:schemeClr val="tx1"/>
              </a:solidFill>
              <a:latin typeface="+mn-ea"/>
            </a:endParaRPr>
          </a:p>
          <a:p>
            <a:pPr algn="ctr"/>
            <a:r>
              <a:rPr lang="ko-KR" altLang="en-US" sz="1000" dirty="0">
                <a:solidFill>
                  <a:schemeClr val="tx1"/>
                </a:solidFill>
                <a:latin typeface="+mn-ea"/>
              </a:rPr>
              <a:t>확인심판 청구</a:t>
            </a:r>
          </a:p>
        </p:txBody>
      </p:sp>
      <p:sp>
        <p:nvSpPr>
          <p:cNvPr id="30" name="타원 29">
            <a:extLst>
              <a:ext uri="{FF2B5EF4-FFF2-40B4-BE49-F238E27FC236}">
                <a16:creationId xmlns:a16="http://schemas.microsoft.com/office/drawing/2014/main" id="{28D8305F-3A54-90DA-6202-7308D735F1D4}"/>
              </a:ext>
            </a:extLst>
          </p:cNvPr>
          <p:cNvSpPr/>
          <p:nvPr/>
        </p:nvSpPr>
        <p:spPr>
          <a:xfrm>
            <a:off x="856281" y="42628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cxnSp>
        <p:nvCxnSpPr>
          <p:cNvPr id="31" name="직선 연결선 30">
            <a:extLst>
              <a:ext uri="{FF2B5EF4-FFF2-40B4-BE49-F238E27FC236}">
                <a16:creationId xmlns:a16="http://schemas.microsoft.com/office/drawing/2014/main" id="{08BC0006-5403-EC5B-DE0D-6C9581C96AB8}"/>
              </a:ext>
            </a:extLst>
          </p:cNvPr>
          <p:cNvCxnSpPr>
            <a:cxnSpLocks/>
            <a:stCxn id="29" idx="0"/>
            <a:endCxn id="30" idx="4"/>
          </p:cNvCxnSpPr>
          <p:nvPr/>
        </p:nvCxnSpPr>
        <p:spPr>
          <a:xfrm flipH="1" flipV="1">
            <a:off x="933650" y="4424167"/>
            <a:ext cx="1" cy="13162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A248AD4D-B135-410F-D82A-0F24C0E92425}"/>
              </a:ext>
            </a:extLst>
          </p:cNvPr>
          <p:cNvSpPr txBox="1"/>
          <p:nvPr/>
        </p:nvSpPr>
        <p:spPr>
          <a:xfrm>
            <a:off x="73617" y="3675425"/>
            <a:ext cx="5369873" cy="400110"/>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just"/>
            <a:r>
              <a:rPr lang="ko-KR" altLang="en-US" sz="1000" dirty="0"/>
              <a:t>확인대상발명을 실시하고 있지 않고</a:t>
            </a:r>
            <a:r>
              <a:rPr lang="en-US" altLang="ko-KR" sz="1000" dirty="0"/>
              <a:t>, </a:t>
            </a:r>
            <a:r>
              <a:rPr lang="ko-KR" altLang="en-US" sz="1000" dirty="0"/>
              <a:t>실시하고 있는 발명은 </a:t>
            </a:r>
            <a:r>
              <a:rPr lang="ko-KR" altLang="en-US" sz="1000" dirty="0" err="1"/>
              <a:t>후등록</a:t>
            </a:r>
            <a:r>
              <a:rPr lang="ko-KR" altLang="en-US" sz="1000" dirty="0"/>
              <a:t> 특허발명과 동일하므로</a:t>
            </a:r>
            <a:r>
              <a:rPr lang="en-US" altLang="ko-KR" sz="1000" dirty="0"/>
              <a:t>, </a:t>
            </a:r>
            <a:r>
              <a:rPr lang="ko-KR" altLang="en-US" sz="1000" dirty="0"/>
              <a:t>이 사건 심판청구는 권리 대 권리 간 적극적 권리범위 확인심판청구에 해당하여 </a:t>
            </a:r>
            <a:r>
              <a:rPr lang="ko-KR" altLang="en-US" sz="1000" dirty="0" err="1"/>
              <a:t>부적법하다는</a:t>
            </a:r>
            <a:r>
              <a:rPr lang="ko-KR" altLang="en-US" sz="1000" dirty="0"/>
              <a:t> 취지로 주장</a:t>
            </a:r>
            <a:endParaRPr lang="ko-KR" altLang="en-US" sz="1000" dirty="0">
              <a:solidFill>
                <a:schemeClr val="tx1"/>
              </a:solidFill>
              <a:latin typeface="+mn-ea"/>
            </a:endParaRPr>
          </a:p>
        </p:txBody>
      </p:sp>
      <p:sp>
        <p:nvSpPr>
          <p:cNvPr id="97" name="타원 96">
            <a:extLst>
              <a:ext uri="{FF2B5EF4-FFF2-40B4-BE49-F238E27FC236}">
                <a16:creationId xmlns:a16="http://schemas.microsoft.com/office/drawing/2014/main" id="{D6543A82-4519-64D6-D724-9B41EBDEA1F5}"/>
              </a:ext>
            </a:extLst>
          </p:cNvPr>
          <p:cNvSpPr/>
          <p:nvPr/>
        </p:nvSpPr>
        <p:spPr>
          <a:xfrm>
            <a:off x="1774879" y="4262829"/>
            <a:ext cx="154738" cy="161338"/>
          </a:xfrm>
          <a:prstGeom prst="ellipse">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sp>
        <p:nvSpPr>
          <p:cNvPr id="57" name="TextBox 56">
            <a:extLst>
              <a:ext uri="{FF2B5EF4-FFF2-40B4-BE49-F238E27FC236}">
                <a16:creationId xmlns:a16="http://schemas.microsoft.com/office/drawing/2014/main" id="{13E687D8-9C8B-20FC-3427-AF1E4555D8AF}"/>
              </a:ext>
            </a:extLst>
          </p:cNvPr>
          <p:cNvSpPr txBox="1"/>
          <p:nvPr/>
        </p:nvSpPr>
        <p:spPr>
          <a:xfrm>
            <a:off x="2722482" y="4574838"/>
            <a:ext cx="770660" cy="246221"/>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a:solidFill>
                  <a:schemeClr val="tx1"/>
                </a:solidFill>
                <a:latin typeface="+mn-ea"/>
              </a:rPr>
              <a:t>각하심결</a:t>
            </a:r>
            <a:endParaRPr lang="ko-KR" altLang="en-US" sz="1000" dirty="0">
              <a:solidFill>
                <a:schemeClr val="tx1"/>
              </a:solidFill>
              <a:latin typeface="+mn-ea"/>
            </a:endParaRPr>
          </a:p>
        </p:txBody>
      </p:sp>
      <p:sp>
        <p:nvSpPr>
          <p:cNvPr id="58" name="타원 57">
            <a:extLst>
              <a:ext uri="{FF2B5EF4-FFF2-40B4-BE49-F238E27FC236}">
                <a16:creationId xmlns:a16="http://schemas.microsoft.com/office/drawing/2014/main" id="{2DF10895-943B-76D0-A531-7FC1B24F1C48}"/>
              </a:ext>
            </a:extLst>
          </p:cNvPr>
          <p:cNvSpPr/>
          <p:nvPr/>
        </p:nvSpPr>
        <p:spPr>
          <a:xfrm>
            <a:off x="3030442" y="42628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cxnSp>
        <p:nvCxnSpPr>
          <p:cNvPr id="59" name="직선 연결선 58">
            <a:extLst>
              <a:ext uri="{FF2B5EF4-FFF2-40B4-BE49-F238E27FC236}">
                <a16:creationId xmlns:a16="http://schemas.microsoft.com/office/drawing/2014/main" id="{5A8A2E77-7C2F-4C2C-9928-A633B1E56470}"/>
              </a:ext>
            </a:extLst>
          </p:cNvPr>
          <p:cNvCxnSpPr>
            <a:cxnSpLocks/>
            <a:stCxn id="57" idx="0"/>
            <a:endCxn id="58" idx="4"/>
          </p:cNvCxnSpPr>
          <p:nvPr/>
        </p:nvCxnSpPr>
        <p:spPr>
          <a:xfrm flipH="1" flipV="1">
            <a:off x="3107811" y="4424167"/>
            <a:ext cx="1" cy="1506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5A8E51F0-D9DD-7145-308D-59A817FB7D89}"/>
              </a:ext>
            </a:extLst>
          </p:cNvPr>
          <p:cNvSpPr txBox="1"/>
          <p:nvPr/>
        </p:nvSpPr>
        <p:spPr>
          <a:xfrm>
            <a:off x="5443491" y="4574838"/>
            <a:ext cx="923622" cy="246221"/>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인용판결</a:t>
            </a:r>
          </a:p>
        </p:txBody>
      </p:sp>
      <p:sp>
        <p:nvSpPr>
          <p:cNvPr id="81" name="타원 80">
            <a:extLst>
              <a:ext uri="{FF2B5EF4-FFF2-40B4-BE49-F238E27FC236}">
                <a16:creationId xmlns:a16="http://schemas.microsoft.com/office/drawing/2014/main" id="{14802B69-B1B5-0019-E6E7-96BA7448445B}"/>
              </a:ext>
            </a:extLst>
          </p:cNvPr>
          <p:cNvSpPr/>
          <p:nvPr/>
        </p:nvSpPr>
        <p:spPr>
          <a:xfrm>
            <a:off x="5827932" y="42628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cxnSp>
        <p:nvCxnSpPr>
          <p:cNvPr id="87" name="직선 연결선 86">
            <a:extLst>
              <a:ext uri="{FF2B5EF4-FFF2-40B4-BE49-F238E27FC236}">
                <a16:creationId xmlns:a16="http://schemas.microsoft.com/office/drawing/2014/main" id="{4C0BB2A4-785D-2477-F3B7-D90BACA17665}"/>
              </a:ext>
            </a:extLst>
          </p:cNvPr>
          <p:cNvCxnSpPr>
            <a:cxnSpLocks/>
            <a:stCxn id="79" idx="0"/>
            <a:endCxn id="81" idx="4"/>
          </p:cNvCxnSpPr>
          <p:nvPr/>
        </p:nvCxnSpPr>
        <p:spPr>
          <a:xfrm flipH="1" flipV="1">
            <a:off x="5905301" y="4424167"/>
            <a:ext cx="1" cy="1506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0" name="TextBox 99">
            <a:extLst>
              <a:ext uri="{FF2B5EF4-FFF2-40B4-BE49-F238E27FC236}">
                <a16:creationId xmlns:a16="http://schemas.microsoft.com/office/drawing/2014/main" id="{65CBC2D7-896A-286D-7919-578C7E586DAD}"/>
              </a:ext>
            </a:extLst>
          </p:cNvPr>
          <p:cNvSpPr txBox="1"/>
          <p:nvPr/>
        </p:nvSpPr>
        <p:spPr>
          <a:xfrm>
            <a:off x="6570291" y="3830087"/>
            <a:ext cx="923622" cy="246221"/>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상고</a:t>
            </a:r>
          </a:p>
        </p:txBody>
      </p:sp>
      <p:sp>
        <p:nvSpPr>
          <p:cNvPr id="101" name="타원 100">
            <a:extLst>
              <a:ext uri="{FF2B5EF4-FFF2-40B4-BE49-F238E27FC236}">
                <a16:creationId xmlns:a16="http://schemas.microsoft.com/office/drawing/2014/main" id="{E6337D77-CE52-7F19-FFA0-AAD043F8BA51}"/>
              </a:ext>
            </a:extLst>
          </p:cNvPr>
          <p:cNvSpPr/>
          <p:nvPr/>
        </p:nvSpPr>
        <p:spPr>
          <a:xfrm>
            <a:off x="6949999" y="4262829"/>
            <a:ext cx="154738" cy="161338"/>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cxnSp>
        <p:nvCxnSpPr>
          <p:cNvPr id="102" name="직선 연결선 101">
            <a:extLst>
              <a:ext uri="{FF2B5EF4-FFF2-40B4-BE49-F238E27FC236}">
                <a16:creationId xmlns:a16="http://schemas.microsoft.com/office/drawing/2014/main" id="{960D2A7C-4005-369E-255F-2DA1A1D1BF7D}"/>
              </a:ext>
            </a:extLst>
          </p:cNvPr>
          <p:cNvCxnSpPr>
            <a:cxnSpLocks/>
            <a:stCxn id="100" idx="2"/>
            <a:endCxn id="101" idx="0"/>
          </p:cNvCxnSpPr>
          <p:nvPr/>
        </p:nvCxnSpPr>
        <p:spPr>
          <a:xfrm flipH="1">
            <a:off x="7027368" y="4076308"/>
            <a:ext cx="4734" cy="18652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91ED6785-F682-7197-D255-6B711759D3AB}"/>
              </a:ext>
            </a:extLst>
          </p:cNvPr>
          <p:cNvSpPr txBox="1"/>
          <p:nvPr/>
        </p:nvSpPr>
        <p:spPr>
          <a:xfrm>
            <a:off x="102193" y="5042332"/>
            <a:ext cx="1480482" cy="707886"/>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just"/>
            <a:r>
              <a:rPr lang="ko-KR" altLang="en-US" sz="1000" dirty="0">
                <a:solidFill>
                  <a:schemeClr val="tx1"/>
                </a:solidFill>
                <a:latin typeface="+mn-ea"/>
              </a:rPr>
              <a:t>확인대상발명을 실시하고 있고</a:t>
            </a:r>
            <a:r>
              <a:rPr lang="en-US" altLang="ko-KR" sz="1000" dirty="0">
                <a:solidFill>
                  <a:schemeClr val="tx1"/>
                </a:solidFill>
                <a:latin typeface="+mn-ea"/>
              </a:rPr>
              <a:t>, </a:t>
            </a:r>
            <a:r>
              <a:rPr lang="ko-KR" altLang="en-US" sz="1000" dirty="0">
                <a:solidFill>
                  <a:schemeClr val="tx1"/>
                </a:solidFill>
                <a:latin typeface="+mn-ea"/>
              </a:rPr>
              <a:t>확인대상발명은 특허발명과 이용관계에 있으므로 심판청구는 적법</a:t>
            </a:r>
          </a:p>
        </p:txBody>
      </p:sp>
      <p:cxnSp>
        <p:nvCxnSpPr>
          <p:cNvPr id="17" name="연결선: 꺾임 16">
            <a:extLst>
              <a:ext uri="{FF2B5EF4-FFF2-40B4-BE49-F238E27FC236}">
                <a16:creationId xmlns:a16="http://schemas.microsoft.com/office/drawing/2014/main" id="{955DCB43-91DF-377E-D6A0-37527D4C48FE}"/>
              </a:ext>
            </a:extLst>
          </p:cNvPr>
          <p:cNvCxnSpPr>
            <a:stCxn id="15" idx="0"/>
            <a:endCxn id="29" idx="2"/>
          </p:cNvCxnSpPr>
          <p:nvPr/>
        </p:nvCxnSpPr>
        <p:spPr>
          <a:xfrm rot="5400000" flipH="1" flipV="1">
            <a:off x="844825" y="4953507"/>
            <a:ext cx="86434" cy="91217"/>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4FC21DA7-D98D-DBF0-F556-A1840138D63C}"/>
              </a:ext>
            </a:extLst>
          </p:cNvPr>
          <p:cNvSpPr txBox="1"/>
          <p:nvPr/>
        </p:nvSpPr>
        <p:spPr>
          <a:xfrm>
            <a:off x="1617397" y="5042332"/>
            <a:ext cx="2708407" cy="861774"/>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just"/>
            <a:r>
              <a:rPr lang="en-US" altLang="ko-KR" sz="1000" dirty="0"/>
              <a:t>1. </a:t>
            </a:r>
            <a:r>
              <a:rPr lang="ko-KR" altLang="en-US" sz="1000" dirty="0"/>
              <a:t>확인대상발명이 실시하고 있는 발명과 다르다</a:t>
            </a:r>
            <a:r>
              <a:rPr lang="en-US" altLang="ko-KR" sz="1000" dirty="0"/>
              <a:t>.</a:t>
            </a:r>
          </a:p>
          <a:p>
            <a:pPr algn="just"/>
            <a:r>
              <a:rPr lang="en-US" altLang="ko-KR" sz="1000" dirty="0"/>
              <a:t>2. </a:t>
            </a:r>
            <a:r>
              <a:rPr lang="ko-KR" altLang="en-US" sz="1000" dirty="0"/>
              <a:t>특허발명과 서로 대비할 수 있을 만큼 구체적으로 특정되지 않았다</a:t>
            </a:r>
            <a:r>
              <a:rPr lang="en-US" altLang="ko-KR" sz="1000" dirty="0"/>
              <a:t>.</a:t>
            </a:r>
          </a:p>
          <a:p>
            <a:pPr algn="just"/>
            <a:r>
              <a:rPr lang="en-US" altLang="ko-KR" sz="1000" dirty="0">
                <a:highlight>
                  <a:srgbClr val="FFFF00"/>
                </a:highlight>
              </a:rPr>
              <a:t>3. </a:t>
            </a:r>
            <a:r>
              <a:rPr lang="ko-KR" altLang="en-US" sz="1000" dirty="0">
                <a:highlight>
                  <a:srgbClr val="FFFF00"/>
                </a:highlight>
              </a:rPr>
              <a:t>권리 대 권리 간 적극적 권리범위 확인심판청구로서 </a:t>
            </a:r>
            <a:r>
              <a:rPr lang="ko-KR" altLang="en-US" sz="1000" dirty="0" err="1">
                <a:highlight>
                  <a:srgbClr val="FFFF00"/>
                </a:highlight>
              </a:rPr>
              <a:t>부적법한지</a:t>
            </a:r>
            <a:r>
              <a:rPr lang="ko-KR" altLang="en-US" sz="1000" dirty="0">
                <a:highlight>
                  <a:srgbClr val="FFFF00"/>
                </a:highlight>
              </a:rPr>
              <a:t> 여부에 관하여는 판단하지 않음</a:t>
            </a:r>
            <a:endParaRPr lang="ko-KR" altLang="en-US" sz="1000" dirty="0">
              <a:solidFill>
                <a:schemeClr val="tx1"/>
              </a:solidFill>
              <a:highlight>
                <a:srgbClr val="FFFF00"/>
              </a:highlight>
              <a:latin typeface="+mn-ea"/>
            </a:endParaRPr>
          </a:p>
        </p:txBody>
      </p:sp>
      <p:cxnSp>
        <p:nvCxnSpPr>
          <p:cNvPr id="22" name="연결선: 꺾임 21">
            <a:extLst>
              <a:ext uri="{FF2B5EF4-FFF2-40B4-BE49-F238E27FC236}">
                <a16:creationId xmlns:a16="http://schemas.microsoft.com/office/drawing/2014/main" id="{96AD7519-30E1-BE69-9B1A-46B5C5C65E29}"/>
              </a:ext>
            </a:extLst>
          </p:cNvPr>
          <p:cNvCxnSpPr>
            <a:cxnSpLocks/>
            <a:stCxn id="20" idx="0"/>
            <a:endCxn id="57" idx="2"/>
          </p:cNvCxnSpPr>
          <p:nvPr/>
        </p:nvCxnSpPr>
        <p:spPr>
          <a:xfrm rot="5400000" flipH="1" flipV="1">
            <a:off x="2929070" y="4863591"/>
            <a:ext cx="221273" cy="13621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7F12A0AA-A229-42E3-4E15-88515A2815A5}"/>
              </a:ext>
            </a:extLst>
          </p:cNvPr>
          <p:cNvSpPr txBox="1"/>
          <p:nvPr/>
        </p:nvSpPr>
        <p:spPr>
          <a:xfrm>
            <a:off x="3863106" y="4574838"/>
            <a:ext cx="770660" cy="246221"/>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소 제기</a:t>
            </a:r>
          </a:p>
        </p:txBody>
      </p:sp>
      <p:sp>
        <p:nvSpPr>
          <p:cNvPr id="32" name="타원 31">
            <a:extLst>
              <a:ext uri="{FF2B5EF4-FFF2-40B4-BE49-F238E27FC236}">
                <a16:creationId xmlns:a16="http://schemas.microsoft.com/office/drawing/2014/main" id="{DC244BDB-863C-71DF-2E59-C43AB1B474A8}"/>
              </a:ext>
            </a:extLst>
          </p:cNvPr>
          <p:cNvSpPr/>
          <p:nvPr/>
        </p:nvSpPr>
        <p:spPr>
          <a:xfrm>
            <a:off x="4171066" y="42628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cxnSp>
        <p:nvCxnSpPr>
          <p:cNvPr id="33" name="직선 연결선 32">
            <a:extLst>
              <a:ext uri="{FF2B5EF4-FFF2-40B4-BE49-F238E27FC236}">
                <a16:creationId xmlns:a16="http://schemas.microsoft.com/office/drawing/2014/main" id="{3BDD8204-78A9-DFFB-13C3-356D34E14F6E}"/>
              </a:ext>
            </a:extLst>
          </p:cNvPr>
          <p:cNvCxnSpPr>
            <a:cxnSpLocks/>
            <a:stCxn id="24" idx="0"/>
            <a:endCxn id="32" idx="4"/>
          </p:cNvCxnSpPr>
          <p:nvPr/>
        </p:nvCxnSpPr>
        <p:spPr>
          <a:xfrm flipH="1" flipV="1">
            <a:off x="4248435" y="4424167"/>
            <a:ext cx="1" cy="1506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ED260E1D-EB6E-FDCA-E70D-A6C7F48365EE}"/>
              </a:ext>
            </a:extLst>
          </p:cNvPr>
          <p:cNvSpPr txBox="1"/>
          <p:nvPr/>
        </p:nvSpPr>
        <p:spPr>
          <a:xfrm>
            <a:off x="4399376" y="5042332"/>
            <a:ext cx="2583127" cy="1169551"/>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just"/>
            <a:r>
              <a:rPr lang="en-US" altLang="ko-KR" sz="1000" dirty="0"/>
              <a:t>1. </a:t>
            </a:r>
            <a:r>
              <a:rPr lang="ko-KR" altLang="en-US" sz="1000" dirty="0"/>
              <a:t>확인대상발명이 피고가 실시하고 있는 발명과 동일하다</a:t>
            </a:r>
            <a:r>
              <a:rPr lang="en-US" altLang="ko-KR" sz="1000" dirty="0"/>
              <a:t>.</a:t>
            </a:r>
          </a:p>
          <a:p>
            <a:pPr algn="just"/>
            <a:r>
              <a:rPr lang="en-US" altLang="ko-KR" sz="1000" dirty="0"/>
              <a:t>2.</a:t>
            </a:r>
            <a:r>
              <a:rPr lang="ko-KR" altLang="en-US" sz="1000" dirty="0"/>
              <a:t> 특허발명과 서로 대비할 수 있을 만큼 구체적으로 특정되었다</a:t>
            </a:r>
            <a:r>
              <a:rPr lang="en-US" altLang="ko-KR" sz="1000" dirty="0"/>
              <a:t>.</a:t>
            </a:r>
          </a:p>
          <a:p>
            <a:pPr algn="just"/>
            <a:r>
              <a:rPr lang="en-US" altLang="ko-KR" sz="1000" dirty="0">
                <a:solidFill>
                  <a:schemeClr val="tx1"/>
                </a:solidFill>
                <a:highlight>
                  <a:srgbClr val="00FFFF"/>
                </a:highlight>
                <a:latin typeface="+mn-ea"/>
              </a:rPr>
              <a:t>3. </a:t>
            </a:r>
            <a:r>
              <a:rPr lang="ko-KR" altLang="en-US" sz="1000" dirty="0">
                <a:solidFill>
                  <a:schemeClr val="tx1"/>
                </a:solidFill>
                <a:highlight>
                  <a:srgbClr val="00FFFF"/>
                </a:highlight>
                <a:latin typeface="+mn-ea"/>
              </a:rPr>
              <a:t>권리 대 권리 간의 적극적 권리범위 확인심판청구로서 </a:t>
            </a:r>
            <a:r>
              <a:rPr lang="ko-KR" altLang="en-US" sz="1000" dirty="0" err="1">
                <a:solidFill>
                  <a:schemeClr val="tx1"/>
                </a:solidFill>
                <a:highlight>
                  <a:srgbClr val="00FFFF"/>
                </a:highlight>
                <a:latin typeface="+mn-ea"/>
              </a:rPr>
              <a:t>부적법한지</a:t>
            </a:r>
            <a:r>
              <a:rPr lang="ko-KR" altLang="en-US" sz="1000" dirty="0">
                <a:solidFill>
                  <a:schemeClr val="tx1"/>
                </a:solidFill>
                <a:highlight>
                  <a:srgbClr val="00FFFF"/>
                </a:highlight>
                <a:latin typeface="+mn-ea"/>
              </a:rPr>
              <a:t> 여부에 관해서는 판단하지 않음</a:t>
            </a:r>
          </a:p>
        </p:txBody>
      </p:sp>
      <p:cxnSp>
        <p:nvCxnSpPr>
          <p:cNvPr id="35" name="연결선: 꺾임 34">
            <a:extLst>
              <a:ext uri="{FF2B5EF4-FFF2-40B4-BE49-F238E27FC236}">
                <a16:creationId xmlns:a16="http://schemas.microsoft.com/office/drawing/2014/main" id="{0D19ABB5-0186-D7BB-7E33-85549325EC3E}"/>
              </a:ext>
            </a:extLst>
          </p:cNvPr>
          <p:cNvCxnSpPr>
            <a:cxnSpLocks/>
            <a:stCxn id="34" idx="0"/>
            <a:endCxn id="79" idx="2"/>
          </p:cNvCxnSpPr>
          <p:nvPr/>
        </p:nvCxnSpPr>
        <p:spPr>
          <a:xfrm rot="5400000" flipH="1" flipV="1">
            <a:off x="5687485" y="4824515"/>
            <a:ext cx="221273" cy="21436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F2D7C77B-E490-C39C-D1F7-96860980BA86}"/>
              </a:ext>
            </a:extLst>
          </p:cNvPr>
          <p:cNvSpPr txBox="1"/>
          <p:nvPr/>
        </p:nvSpPr>
        <p:spPr>
          <a:xfrm>
            <a:off x="8758854" y="3668162"/>
            <a:ext cx="923622" cy="400110"/>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인용판결</a:t>
            </a:r>
            <a:endParaRPr lang="en-US" altLang="ko-KR" sz="1000" dirty="0">
              <a:solidFill>
                <a:schemeClr val="tx1"/>
              </a:solidFill>
              <a:latin typeface="+mn-ea"/>
            </a:endParaRPr>
          </a:p>
          <a:p>
            <a:pPr algn="ctr"/>
            <a:r>
              <a:rPr lang="en-US" altLang="ko-KR" sz="1000" dirty="0">
                <a:solidFill>
                  <a:schemeClr val="tx1"/>
                </a:solidFill>
                <a:latin typeface="+mn-ea"/>
              </a:rPr>
              <a:t>(</a:t>
            </a:r>
            <a:r>
              <a:rPr lang="ko-KR" altLang="en-US" sz="1000" dirty="0" err="1">
                <a:solidFill>
                  <a:schemeClr val="tx1"/>
                </a:solidFill>
                <a:latin typeface="+mn-ea"/>
              </a:rPr>
              <a:t>파기환송</a:t>
            </a:r>
            <a:r>
              <a:rPr lang="en-US" altLang="ko-KR" sz="1000" dirty="0">
                <a:solidFill>
                  <a:schemeClr val="tx1"/>
                </a:solidFill>
                <a:latin typeface="+mn-ea"/>
              </a:rPr>
              <a:t>)</a:t>
            </a:r>
            <a:endParaRPr lang="ko-KR" altLang="en-US" sz="1000" dirty="0">
              <a:solidFill>
                <a:schemeClr val="tx1"/>
              </a:solidFill>
              <a:latin typeface="+mn-ea"/>
            </a:endParaRPr>
          </a:p>
        </p:txBody>
      </p:sp>
      <p:sp>
        <p:nvSpPr>
          <p:cNvPr id="41" name="타원 40">
            <a:extLst>
              <a:ext uri="{FF2B5EF4-FFF2-40B4-BE49-F238E27FC236}">
                <a16:creationId xmlns:a16="http://schemas.microsoft.com/office/drawing/2014/main" id="{59CF4028-13AF-5C9A-8AF0-B326674EB63F}"/>
              </a:ext>
            </a:extLst>
          </p:cNvPr>
          <p:cNvSpPr/>
          <p:nvPr/>
        </p:nvSpPr>
        <p:spPr>
          <a:xfrm>
            <a:off x="9143295" y="4262829"/>
            <a:ext cx="154738" cy="161338"/>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cxnSp>
        <p:nvCxnSpPr>
          <p:cNvPr id="42" name="직선 연결선 41">
            <a:extLst>
              <a:ext uri="{FF2B5EF4-FFF2-40B4-BE49-F238E27FC236}">
                <a16:creationId xmlns:a16="http://schemas.microsoft.com/office/drawing/2014/main" id="{5E4B3E5E-04A3-F773-0CA1-19640F8A89FD}"/>
              </a:ext>
            </a:extLst>
          </p:cNvPr>
          <p:cNvCxnSpPr>
            <a:cxnSpLocks/>
            <a:stCxn id="40" idx="2"/>
            <a:endCxn id="41" idx="0"/>
          </p:cNvCxnSpPr>
          <p:nvPr/>
        </p:nvCxnSpPr>
        <p:spPr>
          <a:xfrm flipH="1">
            <a:off x="9220664" y="4068272"/>
            <a:ext cx="1" cy="19455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F072B71A-AC6C-2FCC-DA16-A1921F1A8DD6}"/>
              </a:ext>
            </a:extLst>
          </p:cNvPr>
          <p:cNvSpPr txBox="1"/>
          <p:nvPr/>
        </p:nvSpPr>
        <p:spPr>
          <a:xfrm>
            <a:off x="7028275" y="4537507"/>
            <a:ext cx="5061525" cy="224676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just"/>
            <a:r>
              <a:rPr lang="en-US" altLang="ko-KR" sz="1000" dirty="0"/>
              <a:t>1. </a:t>
            </a:r>
            <a:r>
              <a:rPr lang="ko-KR" altLang="en-US" sz="1000" dirty="0"/>
              <a:t>확인대상발명이 피고가 실시하고 있는 발명과 동일하다</a:t>
            </a:r>
            <a:r>
              <a:rPr lang="en-US" altLang="ko-KR" sz="1000" dirty="0"/>
              <a:t>.</a:t>
            </a:r>
          </a:p>
          <a:p>
            <a:pPr algn="just"/>
            <a:r>
              <a:rPr lang="en-US" altLang="ko-KR" sz="1000" dirty="0"/>
              <a:t>2.</a:t>
            </a:r>
            <a:r>
              <a:rPr lang="ko-KR" altLang="en-US" sz="1000" dirty="0"/>
              <a:t> 특허발명과 서로 대비할 수 있을 만큼 구체적으로 특정되었다</a:t>
            </a:r>
            <a:r>
              <a:rPr lang="en-US" altLang="ko-KR" sz="1000" dirty="0"/>
              <a:t>.</a:t>
            </a:r>
          </a:p>
          <a:p>
            <a:pPr algn="just"/>
            <a:r>
              <a:rPr lang="en-US" altLang="ko-KR" sz="1000" dirty="0"/>
              <a:t>3. </a:t>
            </a:r>
            <a:r>
              <a:rPr lang="ko-KR" altLang="en-US" sz="1000" dirty="0"/>
              <a:t>심판청구가 권리 대 권리 간 적극적 권리범위 확인심판청구에 해당할 경우</a:t>
            </a:r>
            <a:r>
              <a:rPr lang="en-US" altLang="ko-KR" sz="1000" dirty="0"/>
              <a:t>, </a:t>
            </a:r>
            <a:r>
              <a:rPr lang="ko-KR" altLang="en-US" sz="1000" dirty="0"/>
              <a:t>이 사건 확인대상 발명이 </a:t>
            </a:r>
            <a:r>
              <a:rPr lang="ko-KR" altLang="en-US" sz="1000" dirty="0" err="1"/>
              <a:t>선등록</a:t>
            </a:r>
            <a:r>
              <a:rPr lang="ko-KR" altLang="en-US" sz="1000" dirty="0"/>
              <a:t> 특허발명과 이용관계에 있지 않다면 이 사건 심판청구는 그 확인의 이익이 인정될 수 없어 </a:t>
            </a:r>
            <a:r>
              <a:rPr lang="ko-KR" altLang="en-US" sz="1000" dirty="0" err="1"/>
              <a:t>부적법하다고</a:t>
            </a:r>
            <a:r>
              <a:rPr lang="ko-KR" altLang="en-US" sz="1000" dirty="0"/>
              <a:t> 볼 소지가 있다</a:t>
            </a:r>
            <a:r>
              <a:rPr lang="en-US" altLang="ko-KR" sz="1000" dirty="0"/>
              <a:t>. </a:t>
            </a:r>
            <a:r>
              <a:rPr lang="ko-KR" altLang="en-US" sz="1000" dirty="0">
                <a:highlight>
                  <a:srgbClr val="FFFF00"/>
                </a:highlight>
              </a:rPr>
              <a:t>원심으로서는 석명권을 적절히 행사하여 </a:t>
            </a:r>
            <a:r>
              <a:rPr lang="ko-KR" altLang="en-US" sz="1000" dirty="0" err="1">
                <a:highlight>
                  <a:srgbClr val="FFFF00"/>
                </a:highlight>
              </a:rPr>
              <a:t>선등록</a:t>
            </a:r>
            <a:r>
              <a:rPr lang="ko-KR" altLang="en-US" sz="1000" dirty="0">
                <a:highlight>
                  <a:srgbClr val="FFFF00"/>
                </a:highlight>
              </a:rPr>
              <a:t> 특허권자인 원고가 피고의 </a:t>
            </a:r>
            <a:r>
              <a:rPr lang="ko-KR" altLang="en-US" sz="1000" dirty="0" err="1">
                <a:highlight>
                  <a:srgbClr val="FFFF00"/>
                </a:highlight>
              </a:rPr>
              <a:t>후등록특허발명의</a:t>
            </a:r>
            <a:r>
              <a:rPr lang="ko-KR" altLang="en-US" sz="1000" dirty="0">
                <a:highlight>
                  <a:srgbClr val="FFFF00"/>
                </a:highlight>
              </a:rPr>
              <a:t> 구체적인 실시 형태를 심판의 대상인 이 사건 확인대상 발명으로 삼았는지</a:t>
            </a:r>
            <a:r>
              <a:rPr lang="en-US" altLang="ko-KR" sz="1000" dirty="0">
                <a:highlight>
                  <a:srgbClr val="FFFF00"/>
                </a:highlight>
              </a:rPr>
              <a:t>, </a:t>
            </a:r>
            <a:r>
              <a:rPr lang="ko-KR" altLang="en-US" sz="1000" dirty="0">
                <a:highlight>
                  <a:srgbClr val="FFFF00"/>
                </a:highlight>
              </a:rPr>
              <a:t>이 사건 확인대상 발명이 이 사건 특허발명과 이용관계에 있는지 여부 등에 관하여 당사자들의 주장 </a:t>
            </a:r>
            <a:r>
              <a:rPr lang="en-US" altLang="ko-KR" sz="1000" dirty="0">
                <a:highlight>
                  <a:srgbClr val="FFFF00"/>
                </a:highlight>
              </a:rPr>
              <a:t>· </a:t>
            </a:r>
            <a:r>
              <a:rPr lang="ko-KR" altLang="en-US" sz="1000" dirty="0">
                <a:highlight>
                  <a:srgbClr val="FFFF00"/>
                </a:highlight>
              </a:rPr>
              <a:t>증명을 촉구한 다음</a:t>
            </a:r>
            <a:r>
              <a:rPr lang="en-US" altLang="ko-KR" sz="1000" dirty="0">
                <a:highlight>
                  <a:srgbClr val="FFFF00"/>
                </a:highlight>
              </a:rPr>
              <a:t>, </a:t>
            </a:r>
            <a:r>
              <a:rPr lang="ko-KR" altLang="en-US" sz="1000" dirty="0">
                <a:highlight>
                  <a:srgbClr val="FFFF00"/>
                </a:highlight>
              </a:rPr>
              <a:t>그러한 당사자들의 주장 </a:t>
            </a:r>
            <a:r>
              <a:rPr lang="en-US" altLang="ko-KR" sz="1000" dirty="0">
                <a:highlight>
                  <a:srgbClr val="FFFF00"/>
                </a:highlight>
              </a:rPr>
              <a:t>· </a:t>
            </a:r>
            <a:r>
              <a:rPr lang="ko-KR" altLang="en-US" sz="1000" dirty="0">
                <a:highlight>
                  <a:srgbClr val="FFFF00"/>
                </a:highlight>
              </a:rPr>
              <a:t>증명을 바탕으로 이 사건 심판청구가 확인의 이익이 있는지 여부를 </a:t>
            </a:r>
            <a:r>
              <a:rPr lang="ko-KR" altLang="en-US" sz="1000" dirty="0" err="1">
                <a:highlight>
                  <a:srgbClr val="FFFF00"/>
                </a:highlight>
              </a:rPr>
              <a:t>판단하였어야</a:t>
            </a:r>
            <a:r>
              <a:rPr lang="ko-KR" altLang="en-US" sz="1000" dirty="0">
                <a:highlight>
                  <a:srgbClr val="FFFF00"/>
                </a:highlight>
              </a:rPr>
              <a:t> 했다</a:t>
            </a:r>
            <a:r>
              <a:rPr lang="en-US" altLang="ko-KR" sz="1000" dirty="0">
                <a:highlight>
                  <a:srgbClr val="FFFF00"/>
                </a:highlight>
              </a:rPr>
              <a:t>. </a:t>
            </a:r>
            <a:r>
              <a:rPr lang="ko-KR" altLang="en-US" sz="1000" dirty="0">
                <a:highlight>
                  <a:srgbClr val="FFFF00"/>
                </a:highlight>
              </a:rPr>
              <a:t>그런데도 원심은 이 사건 확인대상 발명이 피고가 실시하고 있는 발명과 동일하고 이 사건 특허발명과 서로 대비할 수 있을 만큼 구체적으로 특정되었다고 판단한 다음</a:t>
            </a:r>
            <a:r>
              <a:rPr lang="en-US" altLang="ko-KR" sz="1000" dirty="0">
                <a:highlight>
                  <a:srgbClr val="FFFF00"/>
                </a:highlight>
              </a:rPr>
              <a:t>, </a:t>
            </a:r>
            <a:r>
              <a:rPr lang="ko-KR" altLang="en-US" sz="1000" dirty="0" err="1">
                <a:highlight>
                  <a:srgbClr val="FFFF00"/>
                </a:highlight>
              </a:rPr>
              <a:t>권리대</a:t>
            </a:r>
            <a:r>
              <a:rPr lang="ko-KR" altLang="en-US" sz="1000" dirty="0">
                <a:highlight>
                  <a:srgbClr val="FFFF00"/>
                </a:highlight>
              </a:rPr>
              <a:t> 권리 간 적극적 권리범위 확인심판에서의 확인의 이익 유무에 관해서 별다른 심리 없이</a:t>
            </a:r>
            <a:r>
              <a:rPr lang="en-US" altLang="ko-KR" sz="1000" dirty="0">
                <a:highlight>
                  <a:srgbClr val="FFFF00"/>
                </a:highlight>
              </a:rPr>
              <a:t>, </a:t>
            </a:r>
            <a:r>
              <a:rPr lang="ko-KR" altLang="en-US" sz="1000" dirty="0">
                <a:highlight>
                  <a:srgbClr val="FFFF00"/>
                </a:highlight>
              </a:rPr>
              <a:t>이 사건 심판청구를 </a:t>
            </a:r>
            <a:r>
              <a:rPr lang="ko-KR" altLang="en-US" sz="1000" dirty="0" err="1">
                <a:highlight>
                  <a:srgbClr val="FFFF00"/>
                </a:highlight>
              </a:rPr>
              <a:t>부적법하다고</a:t>
            </a:r>
            <a:r>
              <a:rPr lang="ko-KR" altLang="en-US" sz="1000" dirty="0">
                <a:highlight>
                  <a:srgbClr val="FFFF00"/>
                </a:highlight>
              </a:rPr>
              <a:t> 본 위 </a:t>
            </a:r>
            <a:r>
              <a:rPr lang="ko-KR" altLang="en-US" sz="1000" dirty="0" err="1">
                <a:highlight>
                  <a:srgbClr val="FFFF00"/>
                </a:highlight>
              </a:rPr>
              <a:t>심결을</a:t>
            </a:r>
            <a:r>
              <a:rPr lang="ko-KR" altLang="en-US" sz="1000" dirty="0">
                <a:highlight>
                  <a:srgbClr val="FFFF00"/>
                </a:highlight>
              </a:rPr>
              <a:t> 취소하였다</a:t>
            </a:r>
            <a:r>
              <a:rPr lang="en-US" altLang="ko-KR" sz="1000" dirty="0">
                <a:highlight>
                  <a:srgbClr val="FFFF00"/>
                </a:highlight>
              </a:rPr>
              <a:t>. </a:t>
            </a:r>
            <a:r>
              <a:rPr lang="ko-KR" altLang="en-US" sz="1000" dirty="0">
                <a:highlight>
                  <a:srgbClr val="FFFF00"/>
                </a:highlight>
              </a:rPr>
              <a:t>이러한 원심의 판단에는 적극적 권리범위 확인심판에서의 확인의 이익에 관한 법리를 오해한 채 필요한 심리를 다하지 아니하고 석명권을 행사하지 않음으로써 판결에 영향을 미친 잘못이 있다</a:t>
            </a:r>
            <a:r>
              <a:rPr lang="en-US" altLang="ko-KR" sz="1000" dirty="0">
                <a:highlight>
                  <a:srgbClr val="FFFF00"/>
                </a:highlight>
              </a:rPr>
              <a:t>.</a:t>
            </a:r>
          </a:p>
        </p:txBody>
      </p:sp>
      <p:cxnSp>
        <p:nvCxnSpPr>
          <p:cNvPr id="52" name="연결선: 꺾임 51">
            <a:extLst>
              <a:ext uri="{FF2B5EF4-FFF2-40B4-BE49-F238E27FC236}">
                <a16:creationId xmlns:a16="http://schemas.microsoft.com/office/drawing/2014/main" id="{5F78059E-CC80-D554-2DBF-66B154839B15}"/>
              </a:ext>
            </a:extLst>
          </p:cNvPr>
          <p:cNvCxnSpPr>
            <a:stCxn id="41" idx="4"/>
            <a:endCxn id="44" idx="0"/>
          </p:cNvCxnSpPr>
          <p:nvPr/>
        </p:nvCxnSpPr>
        <p:spPr>
          <a:xfrm rot="16200000" flipH="1">
            <a:off x="9333181" y="4311650"/>
            <a:ext cx="113340" cy="33837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연결선: 꺾임 61">
            <a:extLst>
              <a:ext uri="{FF2B5EF4-FFF2-40B4-BE49-F238E27FC236}">
                <a16:creationId xmlns:a16="http://schemas.microsoft.com/office/drawing/2014/main" id="{F427B1AD-AC73-2F5C-79B0-82AD71EC6DDD}"/>
              </a:ext>
            </a:extLst>
          </p:cNvPr>
          <p:cNvCxnSpPr>
            <a:stCxn id="96" idx="2"/>
            <a:endCxn id="97" idx="0"/>
          </p:cNvCxnSpPr>
          <p:nvPr/>
        </p:nvCxnSpPr>
        <p:spPr>
          <a:xfrm rot="5400000">
            <a:off x="2211754" y="3716029"/>
            <a:ext cx="187294" cy="906306"/>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3945264"/>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solidFill>
                  <a:schemeClr val="tx1">
                    <a:lumMod val="65000"/>
                    <a:lumOff val="35000"/>
                  </a:schemeClr>
                </a:solidFill>
              </a:rPr>
              <a:t>권리범위확인심판에서의 진보성 </a:t>
            </a:r>
            <a:r>
              <a:rPr lang="en-US" altLang="ko-KR" dirty="0">
                <a:solidFill>
                  <a:schemeClr val="tx1">
                    <a:lumMod val="65000"/>
                    <a:lumOff val="35000"/>
                  </a:schemeClr>
                </a:solidFill>
              </a:rPr>
              <a:t>CASE</a:t>
            </a:r>
            <a:endParaRPr lang="ko-KR" altLang="en-US" dirty="0">
              <a:solidFill>
                <a:schemeClr val="tx1">
                  <a:lumMod val="65000"/>
                  <a:lumOff val="35000"/>
                </a:schemeClr>
              </a:solidFill>
            </a:endParaRP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45" name="직사각형 44">
            <a:extLst>
              <a:ext uri="{FF2B5EF4-FFF2-40B4-BE49-F238E27FC236}">
                <a16:creationId xmlns:a16="http://schemas.microsoft.com/office/drawing/2014/main" id="{7C8A4446-9A84-44CF-BF8E-778825646662}"/>
              </a:ext>
            </a:extLst>
          </p:cNvPr>
          <p:cNvSpPr/>
          <p:nvPr/>
        </p:nvSpPr>
        <p:spPr>
          <a:xfrm>
            <a:off x="232372" y="1353610"/>
            <a:ext cx="11681987" cy="5478423"/>
          </a:xfrm>
          <a:prstGeom prst="rect">
            <a:avLst/>
          </a:prstGeom>
        </p:spPr>
        <p:txBody>
          <a:bodyPr wrap="square">
            <a:spAutoFit/>
          </a:bodyPr>
          <a:lstStyle/>
          <a:p>
            <a:pPr algn="just" fontAlgn="base"/>
            <a:r>
              <a:rPr lang="en-US" altLang="ko-KR" sz="1400" dirty="0">
                <a:highlight>
                  <a:srgbClr val="FFFF00"/>
                </a:highlight>
              </a:rPr>
              <a:t>1) </a:t>
            </a:r>
            <a:r>
              <a:rPr lang="ko-KR" altLang="en-US" sz="1400" dirty="0">
                <a:highlight>
                  <a:srgbClr val="FFFF00"/>
                </a:highlight>
              </a:rPr>
              <a:t>특허법은 특허가 일정한 사유에 해당하는 경우에 별도로 마련한 특허의 무효심판절차를 거쳐 무효로 할 수 있도록 규정하고 있으므로</a:t>
            </a:r>
            <a:r>
              <a:rPr lang="en-US" altLang="ko-KR" sz="1400" dirty="0">
                <a:highlight>
                  <a:srgbClr val="FFFF00"/>
                </a:highlight>
              </a:rPr>
              <a:t>, </a:t>
            </a:r>
            <a:r>
              <a:rPr lang="ko-KR" altLang="en-US" sz="1400" dirty="0">
                <a:highlight>
                  <a:srgbClr val="FFFF00"/>
                </a:highlight>
              </a:rPr>
              <a:t>특허는 일단 등록이 되면 비록 진보성이 없어 당해 특허를 무효로 할 수 있는 사유가 있더라도 특허무효심판에 의하여 무효로 한다는 </a:t>
            </a:r>
            <a:r>
              <a:rPr lang="ko-KR" altLang="en-US" sz="1400" dirty="0" err="1">
                <a:highlight>
                  <a:srgbClr val="FFFF00"/>
                </a:highlight>
              </a:rPr>
              <a:t>심결이</a:t>
            </a:r>
            <a:r>
              <a:rPr lang="ko-KR" altLang="en-US" sz="1400" dirty="0">
                <a:highlight>
                  <a:srgbClr val="FFFF00"/>
                </a:highlight>
              </a:rPr>
              <a:t> 확정되지 않는 한 다른 절차에서 그 특허가 무효임을 전제로 판단할 수는 없다</a:t>
            </a:r>
            <a:r>
              <a:rPr lang="en-US" altLang="ko-KR" sz="1400" dirty="0">
                <a:highlight>
                  <a:srgbClr val="FFFF00"/>
                </a:highlight>
              </a:rPr>
              <a:t>. </a:t>
            </a:r>
            <a:r>
              <a:rPr lang="en-US" altLang="ko-KR" sz="1400" dirty="0">
                <a:highlight>
                  <a:srgbClr val="CCECFF"/>
                </a:highlight>
              </a:rPr>
              <a:t>2) </a:t>
            </a:r>
            <a:r>
              <a:rPr lang="ko-KR" altLang="en-US" sz="1400" dirty="0">
                <a:highlight>
                  <a:srgbClr val="CCECFF"/>
                </a:highlight>
              </a:rPr>
              <a:t>나아가 특허법이 규정하고 있는 권리범위확인심판은 심판청구인이 그 청구에서 심판의 대상으로 삼은 확인대상발명이 특허권의 효력이 미치는 객관적인 범위에 속하는지 여부를 확인하는 목적을 가진 절차이므로</a:t>
            </a:r>
            <a:r>
              <a:rPr lang="en-US" altLang="ko-KR" sz="1400" dirty="0">
                <a:highlight>
                  <a:srgbClr val="CCECFF"/>
                </a:highlight>
              </a:rPr>
              <a:t>, </a:t>
            </a:r>
            <a:r>
              <a:rPr lang="ko-KR" altLang="en-US" sz="1400" dirty="0">
                <a:highlight>
                  <a:srgbClr val="CCECFF"/>
                </a:highlight>
              </a:rPr>
              <a:t>그 절차에서 특허발명의 진보성 여부까지 판단하는 것은 특허법이 권리범위확인심판 제도를 두고 있는 목적을 벗어나고 그 제도의 본질에 맞지 않다</a:t>
            </a:r>
            <a:r>
              <a:rPr lang="en-US" altLang="ko-KR" sz="1400" dirty="0">
                <a:highlight>
                  <a:srgbClr val="CCECFF"/>
                </a:highlight>
              </a:rPr>
              <a:t>. </a:t>
            </a:r>
            <a:r>
              <a:rPr lang="en-US" altLang="ko-KR" sz="1400" dirty="0">
                <a:highlight>
                  <a:srgbClr val="FFFF00"/>
                </a:highlight>
              </a:rPr>
              <a:t>3) </a:t>
            </a:r>
            <a:r>
              <a:rPr lang="ko-KR" altLang="en-US" sz="1400" dirty="0">
                <a:highlight>
                  <a:srgbClr val="FFFF00"/>
                </a:highlight>
              </a:rPr>
              <a:t>특허법이 심판이라는 동일한 절차 안에 권리범위확인심판과는 별도로 특허무효심판을 규정하여 특허발명의 진보성 여부가 문제되는 경우 특허무효심판에서 이에 관하여 심리하여 진보성이 부정되면 그 특허를 무효로 하도록 하고 있음에도 진보성 여부를 권리범위확인심판에서까지 판단할 수 있게 하는 것은 본래 특허무효심판의 기능에 속하는 것을 권리범위확인심판에 부여함으로써 특허무효심판의 기능을 상당 부분 약화시킬 우려가 있다는 점에서도 바람직하지 않다</a:t>
            </a:r>
            <a:r>
              <a:rPr lang="en-US" altLang="ko-KR" sz="1400" dirty="0">
                <a:highlight>
                  <a:srgbClr val="FFFF00"/>
                </a:highlight>
              </a:rPr>
              <a:t>. </a:t>
            </a:r>
            <a:r>
              <a:rPr lang="ko-KR" altLang="en-US" sz="1400" dirty="0"/>
              <a:t>따라서 권리범위확인심판에서는 특허발명의 진보성이 부정된다는 이유로 그 권리범위를 부정하여서는 안된다</a:t>
            </a:r>
            <a:r>
              <a:rPr lang="en-US" altLang="ko-KR" sz="1400" dirty="0"/>
              <a:t>. </a:t>
            </a:r>
            <a:r>
              <a:rPr lang="ko-KR" altLang="en-US" sz="1400" dirty="0"/>
              <a:t>다만 대법원은 특허의 일부 또는 전부가 출원 당시 공지공용의 것인 경우까지 청구범위에 기재되어 있다는 이유만으로 권리범위를 인정하여 </a:t>
            </a:r>
            <a:r>
              <a:rPr lang="ko-KR" altLang="en-US" sz="1400" dirty="0" err="1"/>
              <a:t>독점적ㆍ배타적인</a:t>
            </a:r>
            <a:r>
              <a:rPr lang="ko-KR" altLang="en-US" sz="1400" dirty="0"/>
              <a:t> 실시권을 부여할 수는 없으므로 권리범위확인심판에서도 특허무효의 </a:t>
            </a:r>
            <a:r>
              <a:rPr lang="ko-KR" altLang="en-US" sz="1400" dirty="0" err="1"/>
              <a:t>심결</a:t>
            </a:r>
            <a:r>
              <a:rPr lang="ko-KR" altLang="en-US" sz="1400" dirty="0"/>
              <a:t> 유무에 관계없이 그 권리범위를 부정할 수 있다고 보고 있으나</a:t>
            </a:r>
            <a:r>
              <a:rPr lang="en-US" altLang="ko-KR" sz="1400" dirty="0"/>
              <a:t>(</a:t>
            </a:r>
            <a:r>
              <a:rPr lang="ko-KR" altLang="en-US" sz="1400" dirty="0"/>
              <a:t>대법원 </a:t>
            </a:r>
            <a:r>
              <a:rPr lang="en-US" altLang="ko-KR" sz="1400" dirty="0"/>
              <a:t>1983. 7. 26. </a:t>
            </a:r>
            <a:r>
              <a:rPr lang="ko-KR" altLang="en-US" sz="1400" dirty="0"/>
              <a:t>선고 </a:t>
            </a:r>
            <a:r>
              <a:rPr lang="en-US" altLang="ko-KR" sz="1400" dirty="0"/>
              <a:t>81</a:t>
            </a:r>
            <a:r>
              <a:rPr lang="ko-KR" altLang="en-US" sz="1400" dirty="0"/>
              <a:t>후</a:t>
            </a:r>
            <a:r>
              <a:rPr lang="en-US" altLang="ko-KR" sz="1400" dirty="0"/>
              <a:t>56 </a:t>
            </a:r>
            <a:r>
              <a:rPr lang="ko-KR" altLang="en-US" sz="1400" dirty="0"/>
              <a:t>전원합의체 판결 등 참조</a:t>
            </a:r>
            <a:r>
              <a:rPr lang="en-US" altLang="ko-KR" sz="1400" dirty="0"/>
              <a:t>), </a:t>
            </a:r>
            <a:r>
              <a:rPr lang="ko-KR" altLang="en-US" sz="1400" dirty="0"/>
              <a:t>이러한 법리를 공지공용의 것이 아니라 그 기술분야에서 통상의 지식을 가진 자가 선행기술에 의하여 용이하게 발명할 수 있는 것뿐이어서 진보성이 부정되는 경우까지 확장할 수는 없다</a:t>
            </a:r>
            <a:r>
              <a:rPr lang="en-US" altLang="ko-KR" sz="1400" dirty="0"/>
              <a:t>. </a:t>
            </a:r>
            <a:r>
              <a:rPr lang="ko-KR" altLang="en-US" sz="1400" dirty="0"/>
              <a:t>위와 같은 법리는 실용신안의 경우에도 마찬가지로 적용된다</a:t>
            </a:r>
            <a:r>
              <a:rPr lang="en-US" altLang="ko-KR" sz="1400" dirty="0"/>
              <a:t>. </a:t>
            </a:r>
            <a:r>
              <a:rPr lang="ko-KR" altLang="en-US" sz="1400" dirty="0"/>
              <a:t>이와 달리 특허발명 또는 </a:t>
            </a:r>
            <a:r>
              <a:rPr lang="ko-KR" altLang="en-US" sz="1400" dirty="0" err="1"/>
              <a:t>등록실용신안이</a:t>
            </a:r>
            <a:r>
              <a:rPr lang="ko-KR" altLang="en-US" sz="1400" dirty="0"/>
              <a:t> 신규성은 있으나 진보성이 없는 경우 이에 관한 권리범위확인심판에서 당연히 그 권리범위를 부정할 수 있다는 취지로 판시한 대법원 </a:t>
            </a:r>
            <a:r>
              <a:rPr lang="en-US" altLang="ko-KR" sz="1400" dirty="0"/>
              <a:t>1991. 3. 12. </a:t>
            </a:r>
            <a:r>
              <a:rPr lang="ko-KR" altLang="en-US" sz="1400" dirty="0"/>
              <a:t>선고 </a:t>
            </a:r>
            <a:r>
              <a:rPr lang="en-US" altLang="ko-KR" sz="1400" dirty="0"/>
              <a:t>90</a:t>
            </a:r>
            <a:r>
              <a:rPr lang="ko-KR" altLang="en-US" sz="1400" dirty="0"/>
              <a:t>후</a:t>
            </a:r>
            <a:r>
              <a:rPr lang="en-US" altLang="ko-KR" sz="1400" dirty="0"/>
              <a:t>823 </a:t>
            </a:r>
            <a:r>
              <a:rPr lang="ko-KR" altLang="en-US" sz="1400" dirty="0"/>
              <a:t>판결</a:t>
            </a:r>
            <a:r>
              <a:rPr lang="en-US" altLang="ko-KR" sz="1400" dirty="0"/>
              <a:t>, </a:t>
            </a:r>
            <a:r>
              <a:rPr lang="ko-KR" altLang="en-US" sz="1400" dirty="0"/>
              <a:t>대법원 </a:t>
            </a:r>
            <a:r>
              <a:rPr lang="en-US" altLang="ko-KR" sz="1400" dirty="0"/>
              <a:t>1991. 12. 27. </a:t>
            </a:r>
            <a:r>
              <a:rPr lang="ko-KR" altLang="en-US" sz="1400" dirty="0"/>
              <a:t>선고 </a:t>
            </a:r>
            <a:r>
              <a:rPr lang="en-US" altLang="ko-KR" sz="1400" dirty="0"/>
              <a:t>90</a:t>
            </a:r>
            <a:r>
              <a:rPr lang="ko-KR" altLang="en-US" sz="1400" dirty="0"/>
              <a:t>후</a:t>
            </a:r>
            <a:r>
              <a:rPr lang="en-US" altLang="ko-KR" sz="1400" dirty="0"/>
              <a:t>1468, 1475(</a:t>
            </a:r>
            <a:r>
              <a:rPr lang="ko-KR" altLang="en-US" sz="1400" dirty="0"/>
              <a:t>병합</a:t>
            </a:r>
            <a:r>
              <a:rPr lang="en-US" altLang="ko-KR" sz="1400" dirty="0"/>
              <a:t>) </a:t>
            </a:r>
            <a:r>
              <a:rPr lang="ko-KR" altLang="en-US" sz="1400" dirty="0"/>
              <a:t>판결</a:t>
            </a:r>
            <a:r>
              <a:rPr lang="en-US" altLang="ko-KR" sz="1400" dirty="0"/>
              <a:t>, </a:t>
            </a:r>
            <a:r>
              <a:rPr lang="ko-KR" altLang="en-US" sz="1400" dirty="0"/>
              <a:t>대법원 </a:t>
            </a:r>
            <a:r>
              <a:rPr lang="en-US" altLang="ko-KR" sz="1400" dirty="0"/>
              <a:t>1997. 7. 22. </a:t>
            </a:r>
            <a:r>
              <a:rPr lang="ko-KR" altLang="en-US" sz="1400" dirty="0"/>
              <a:t>선고 </a:t>
            </a:r>
            <a:r>
              <a:rPr lang="en-US" altLang="ko-KR" sz="1400" dirty="0"/>
              <a:t>96</a:t>
            </a:r>
            <a:r>
              <a:rPr lang="ko-KR" altLang="en-US" sz="1400" dirty="0"/>
              <a:t>후</a:t>
            </a:r>
            <a:r>
              <a:rPr lang="en-US" altLang="ko-KR" sz="1400" dirty="0"/>
              <a:t>1699 </a:t>
            </a:r>
            <a:r>
              <a:rPr lang="ko-KR" altLang="en-US" sz="1400" dirty="0"/>
              <a:t>판결</a:t>
            </a:r>
            <a:r>
              <a:rPr lang="en-US" altLang="ko-KR" sz="1400" dirty="0"/>
              <a:t>, </a:t>
            </a:r>
            <a:r>
              <a:rPr lang="ko-KR" altLang="en-US" sz="1400" dirty="0"/>
              <a:t>대법원 </a:t>
            </a:r>
            <a:r>
              <a:rPr lang="en-US" altLang="ko-KR" sz="1400" dirty="0"/>
              <a:t>1998. 2. 27. </a:t>
            </a:r>
            <a:r>
              <a:rPr lang="ko-KR" altLang="en-US" sz="1400" dirty="0"/>
              <a:t>선고 </a:t>
            </a:r>
            <a:r>
              <a:rPr lang="en-US" altLang="ko-KR" sz="1400" dirty="0"/>
              <a:t>97</a:t>
            </a:r>
            <a:r>
              <a:rPr lang="ko-KR" altLang="en-US" sz="1400" dirty="0"/>
              <a:t>후 </a:t>
            </a:r>
            <a:r>
              <a:rPr lang="en-US" altLang="ko-KR" sz="1400" dirty="0"/>
              <a:t>2583 </a:t>
            </a:r>
            <a:r>
              <a:rPr lang="ko-KR" altLang="en-US" sz="1400" dirty="0"/>
              <a:t>판결 등을 비롯한 같은 취지의 판결들은 이 판결의 견해에 배치되는 범위 내에서 이를 모두 변경하기로 한다</a:t>
            </a:r>
            <a:r>
              <a:rPr lang="en-US" altLang="ko-KR" sz="1400" dirty="0"/>
              <a:t>. </a:t>
            </a:r>
          </a:p>
          <a:p>
            <a:pPr algn="just" fontAlgn="base"/>
            <a:r>
              <a:rPr lang="ko-KR" altLang="en-US" sz="1400" dirty="0"/>
              <a:t>한편</a:t>
            </a:r>
            <a:r>
              <a:rPr lang="en-US" altLang="ko-KR" sz="1400" dirty="0"/>
              <a:t>, </a:t>
            </a:r>
            <a:r>
              <a:rPr lang="ko-KR" altLang="en-US" sz="1400" dirty="0"/>
              <a:t>대법원은 특허권침해소송에서 특허권자의 침해금지 또는 손해배상 등의 청구가 권리남용에 해당한다는 항변이 있는 경우 그 당부를 살피기 위한 전제로서 특허발명의 진보성 여부에 대하여 </a:t>
            </a:r>
            <a:r>
              <a:rPr lang="ko-KR" altLang="en-US" sz="1400" dirty="0" err="1"/>
              <a:t>심리ㆍ판단할</a:t>
            </a:r>
            <a:r>
              <a:rPr lang="ko-KR" altLang="en-US" sz="1400" dirty="0"/>
              <a:t> 수 있다는 법리를 선언한 바 있다</a:t>
            </a:r>
            <a:r>
              <a:rPr lang="en-US" altLang="ko-KR" sz="1400" dirty="0"/>
              <a:t>(</a:t>
            </a:r>
            <a:r>
              <a:rPr lang="ko-KR" altLang="en-US" sz="1400" dirty="0"/>
              <a:t>위 </a:t>
            </a:r>
            <a:r>
              <a:rPr lang="en-US" altLang="ko-KR" sz="1400" dirty="0"/>
              <a:t>2010</a:t>
            </a:r>
            <a:r>
              <a:rPr lang="ko-KR" altLang="en-US" sz="1400" dirty="0"/>
              <a:t>다</a:t>
            </a:r>
            <a:r>
              <a:rPr lang="en-US" altLang="ko-KR" sz="1400" dirty="0"/>
              <a:t>95390 </a:t>
            </a:r>
            <a:r>
              <a:rPr lang="ko-KR" altLang="en-US" sz="1400" dirty="0"/>
              <a:t>전원합의체 판결 참조</a:t>
            </a:r>
            <a:r>
              <a:rPr lang="en-US" altLang="ko-KR" sz="1400" dirty="0"/>
              <a:t>). </a:t>
            </a:r>
            <a:r>
              <a:rPr lang="ko-KR" altLang="en-US" sz="1400" dirty="0"/>
              <a:t>그런데</a:t>
            </a:r>
            <a:r>
              <a:rPr lang="ko-KR" altLang="en-US" sz="1400" dirty="0">
                <a:highlight>
                  <a:srgbClr val="CCECFF"/>
                </a:highlight>
              </a:rPr>
              <a:t> </a:t>
            </a:r>
            <a:r>
              <a:rPr lang="en-US" altLang="ko-KR" sz="1400" dirty="0">
                <a:highlight>
                  <a:srgbClr val="CCECFF"/>
                </a:highlight>
              </a:rPr>
              <a:t>4) </a:t>
            </a:r>
            <a:r>
              <a:rPr lang="ko-KR" altLang="en-US" sz="1400" dirty="0">
                <a:highlight>
                  <a:srgbClr val="CCECFF"/>
                </a:highlight>
              </a:rPr>
              <a:t>특허권침해소송에서 권리남용의 항변을 받아들여 특허권 침해를 부정하는 것은 권리의 부존재나 무효가 아닌 권리행사의 제한사유를 이유로 하여 분쟁 당사자 사이의 권리관계를 판단하는 것이고</a:t>
            </a:r>
            <a:r>
              <a:rPr lang="en-US" altLang="ko-KR" sz="1400" dirty="0">
                <a:highlight>
                  <a:srgbClr val="CCECFF"/>
                </a:highlight>
              </a:rPr>
              <a:t>, </a:t>
            </a:r>
            <a:r>
              <a:rPr lang="ko-KR" altLang="en-US" sz="1400" dirty="0">
                <a:highlight>
                  <a:srgbClr val="CCECFF"/>
                </a:highlight>
              </a:rPr>
              <a:t>그 판결의 효력도 소송 당사자 사이에서만 미친다</a:t>
            </a:r>
            <a:r>
              <a:rPr lang="en-US" altLang="ko-KR" sz="1400" dirty="0">
                <a:highlight>
                  <a:srgbClr val="CCECFF"/>
                </a:highlight>
              </a:rPr>
              <a:t>. </a:t>
            </a:r>
            <a:r>
              <a:rPr lang="ko-KR" altLang="en-US" sz="1400" dirty="0">
                <a:highlight>
                  <a:srgbClr val="CCECFF"/>
                </a:highlight>
              </a:rPr>
              <a:t>반면에 권리범위확인심판은 어디까지나 특허권의 효력이 미치는 객관적 범위를 대세적으로 확인하는 제한적인 의미를 가질 뿐 특허권침해를 둘러싼 분쟁 당사자 사이의 권리관계를 최종적으로 확인해주는 것이 아니고</a:t>
            </a:r>
            <a:r>
              <a:rPr lang="en-US" altLang="ko-KR" sz="1400" dirty="0">
                <a:highlight>
                  <a:srgbClr val="CCECFF"/>
                </a:highlight>
              </a:rPr>
              <a:t>, </a:t>
            </a:r>
            <a:r>
              <a:rPr lang="ko-KR" altLang="en-US" sz="1400" dirty="0">
                <a:highlight>
                  <a:srgbClr val="CCECFF"/>
                </a:highlight>
              </a:rPr>
              <a:t>그 </a:t>
            </a:r>
            <a:r>
              <a:rPr lang="ko-KR" altLang="en-US" sz="1400" dirty="0" err="1">
                <a:highlight>
                  <a:srgbClr val="CCECFF"/>
                </a:highlight>
              </a:rPr>
              <a:t>심결이</a:t>
            </a:r>
            <a:r>
              <a:rPr lang="ko-KR" altLang="en-US" sz="1400" dirty="0">
                <a:highlight>
                  <a:srgbClr val="CCECFF"/>
                </a:highlight>
              </a:rPr>
              <a:t> 확정되면 심판의 </a:t>
            </a:r>
            <a:r>
              <a:rPr lang="ko-KR" altLang="en-US" sz="1400" dirty="0" err="1">
                <a:highlight>
                  <a:srgbClr val="CCECFF"/>
                </a:highlight>
              </a:rPr>
              <a:t>당사자뿐만</a:t>
            </a:r>
            <a:r>
              <a:rPr lang="ko-KR" altLang="en-US" sz="1400" dirty="0">
                <a:highlight>
                  <a:srgbClr val="CCECFF"/>
                </a:highlight>
              </a:rPr>
              <a:t> 아니라 제</a:t>
            </a:r>
            <a:r>
              <a:rPr lang="en-US" altLang="ko-KR" sz="1400" dirty="0">
                <a:highlight>
                  <a:srgbClr val="CCECFF"/>
                </a:highlight>
              </a:rPr>
              <a:t>3</a:t>
            </a:r>
            <a:r>
              <a:rPr lang="ko-KR" altLang="en-US" sz="1400" dirty="0">
                <a:highlight>
                  <a:srgbClr val="CCECFF"/>
                </a:highlight>
              </a:rPr>
              <a:t>자에게도 일사부재리의 효력이 미치는 </a:t>
            </a:r>
            <a:r>
              <a:rPr lang="ko-KR" altLang="en-US" sz="1400" dirty="0" err="1">
                <a:highlight>
                  <a:srgbClr val="CCECFF"/>
                </a:highlight>
              </a:rPr>
              <a:t>대세적</a:t>
            </a:r>
            <a:r>
              <a:rPr lang="ko-KR" altLang="en-US" sz="1400" dirty="0">
                <a:highlight>
                  <a:srgbClr val="CCECFF"/>
                </a:highlight>
              </a:rPr>
              <a:t> 효력을 가진다</a:t>
            </a:r>
            <a:r>
              <a:rPr lang="en-US" altLang="ko-KR" sz="1400" dirty="0">
                <a:highlight>
                  <a:srgbClr val="CCECFF"/>
                </a:highlight>
              </a:rPr>
              <a:t>. </a:t>
            </a:r>
            <a:r>
              <a:rPr lang="ko-KR" altLang="en-US" sz="1400" dirty="0">
                <a:highlight>
                  <a:srgbClr val="CCECFF"/>
                </a:highlight>
              </a:rPr>
              <a:t>따라서 특허권침해소송에서 권리남용의 항변의 내용으로서 진보성이 없다는 주장을 인정하더라도 이는 특허의 </a:t>
            </a:r>
            <a:r>
              <a:rPr lang="ko-KR" altLang="en-US" sz="1400" dirty="0" err="1">
                <a:highlight>
                  <a:srgbClr val="CCECFF"/>
                </a:highlight>
              </a:rPr>
              <a:t>대세적</a:t>
            </a:r>
            <a:r>
              <a:rPr lang="ko-KR" altLang="en-US" sz="1400" dirty="0">
                <a:highlight>
                  <a:srgbClr val="CCECFF"/>
                </a:highlight>
              </a:rPr>
              <a:t> 효력을 특허무효심판에 의해서만 부정할 수 있도록 한 특허법의 기본 구조와 상충되지 않지만</a:t>
            </a:r>
            <a:r>
              <a:rPr lang="en-US" altLang="ko-KR" sz="1400" dirty="0">
                <a:highlight>
                  <a:srgbClr val="CCECFF"/>
                </a:highlight>
              </a:rPr>
              <a:t>, </a:t>
            </a:r>
            <a:r>
              <a:rPr lang="ko-KR" altLang="en-US" sz="1400" dirty="0" err="1">
                <a:highlight>
                  <a:srgbClr val="CCECFF"/>
                </a:highlight>
              </a:rPr>
              <a:t>심결에</a:t>
            </a:r>
            <a:r>
              <a:rPr lang="ko-KR" altLang="en-US" sz="1400" dirty="0">
                <a:highlight>
                  <a:srgbClr val="CCECFF"/>
                </a:highlight>
              </a:rPr>
              <a:t> </a:t>
            </a:r>
            <a:r>
              <a:rPr lang="ko-KR" altLang="en-US" sz="1400" dirty="0" err="1">
                <a:highlight>
                  <a:srgbClr val="CCECFF"/>
                </a:highlight>
              </a:rPr>
              <a:t>대세적</a:t>
            </a:r>
            <a:r>
              <a:rPr lang="ko-KR" altLang="en-US" sz="1400" dirty="0">
                <a:highlight>
                  <a:srgbClr val="CCECFF"/>
                </a:highlight>
              </a:rPr>
              <a:t> 효력이 있는 권리범위확인심판에서 진보성 결여를 이유로 무효사유 주장을 인정하게 되면 이는 위와 같은 특허법의 기본 구조와 상충된다</a:t>
            </a:r>
            <a:r>
              <a:rPr lang="en-US" altLang="ko-KR" sz="1400" dirty="0">
                <a:highlight>
                  <a:srgbClr val="CCECFF"/>
                </a:highlight>
              </a:rPr>
              <a:t>.</a:t>
            </a:r>
            <a:r>
              <a:rPr lang="en-US" altLang="ko-KR" sz="1400" dirty="0">
                <a:solidFill>
                  <a:srgbClr val="FF0000"/>
                </a:solidFill>
              </a:rPr>
              <a:t> </a:t>
            </a:r>
            <a:r>
              <a:rPr lang="ko-KR" altLang="en-US" sz="1400" dirty="0"/>
              <a:t>그러므로 권리범위확인심판에서는 특허권 </a:t>
            </a:r>
            <a:r>
              <a:rPr lang="ko-KR" altLang="en-US" sz="1400" dirty="0" err="1"/>
              <a:t>침해소송에서와는</a:t>
            </a:r>
            <a:r>
              <a:rPr lang="ko-KR" altLang="en-US" sz="1400" dirty="0"/>
              <a:t> 달리 진보성 여부를 특허무효사유로 주장할 수 없고</a:t>
            </a:r>
            <a:r>
              <a:rPr lang="en-US" altLang="ko-KR" sz="1400" dirty="0"/>
              <a:t>, </a:t>
            </a:r>
            <a:r>
              <a:rPr lang="ko-KR" altLang="en-US" sz="1400" dirty="0"/>
              <a:t>이로 인하여 권리범위확인심판과 특허권침해소송에서의 결론이 마치 상반되는 듯이 보인다고 하여 서로 모순될 수 없다</a:t>
            </a:r>
            <a:r>
              <a:rPr lang="en-US" altLang="ko-KR" sz="1400" dirty="0"/>
              <a:t>.</a:t>
            </a:r>
            <a:endParaRPr lang="ko-KR" altLang="en-US" sz="1400" dirty="0">
              <a:solidFill>
                <a:srgbClr val="FF0000"/>
              </a:solidFill>
            </a:endParaRPr>
          </a:p>
        </p:txBody>
      </p:sp>
      <p:sp>
        <p:nvSpPr>
          <p:cNvPr id="46" name="모서리가 둥근 직사각형 10">
            <a:extLst>
              <a:ext uri="{FF2B5EF4-FFF2-40B4-BE49-F238E27FC236}">
                <a16:creationId xmlns:a16="http://schemas.microsoft.com/office/drawing/2014/main" id="{1EB2F813-B207-4574-BC6A-9E0259FF1206}"/>
              </a:ext>
            </a:extLst>
          </p:cNvPr>
          <p:cNvSpPr/>
          <p:nvPr/>
        </p:nvSpPr>
        <p:spPr bwMode="auto">
          <a:xfrm>
            <a:off x="378417" y="998802"/>
            <a:ext cx="5798095"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2014. 3. 20. </a:t>
            </a:r>
            <a:r>
              <a:rPr lang="ko-KR" altLang="en-US" sz="1400" dirty="0"/>
              <a:t>선고 </a:t>
            </a:r>
            <a:r>
              <a:rPr lang="en-US" altLang="ko-KR" sz="1400" dirty="0"/>
              <a:t>2012</a:t>
            </a:r>
            <a:r>
              <a:rPr lang="ko-KR" altLang="en-US" sz="1400" dirty="0"/>
              <a:t>후</a:t>
            </a:r>
            <a:r>
              <a:rPr lang="en-US" altLang="ko-KR" sz="1400" dirty="0"/>
              <a:t>4162 </a:t>
            </a:r>
            <a:r>
              <a:rPr lang="ko-KR" altLang="en-US" sz="1400" dirty="0"/>
              <a:t>전원합의체 판결</a:t>
            </a:r>
            <a:r>
              <a:rPr lang="en-US" altLang="ko-KR" sz="1400" dirty="0"/>
              <a:t>【</a:t>
            </a:r>
            <a:r>
              <a:rPr lang="ko-KR" altLang="en-US" sz="1400" dirty="0"/>
              <a:t>권리범위확인</a:t>
            </a:r>
            <a:r>
              <a:rPr lang="en-US" altLang="ko-KR" sz="1400" dirty="0"/>
              <a:t>(</a:t>
            </a:r>
            <a:r>
              <a:rPr lang="ko-KR" altLang="en-US" sz="1400" dirty="0"/>
              <a:t>실</a:t>
            </a:r>
            <a:r>
              <a:rPr lang="en-US" altLang="ko-KR" sz="1400" dirty="0"/>
              <a:t>)】</a:t>
            </a:r>
          </a:p>
        </p:txBody>
      </p:sp>
    </p:spTree>
    <p:extLst>
      <p:ext uri="{BB962C8B-B14F-4D97-AF65-F5344CB8AC3E}">
        <p14:creationId xmlns:p14="http://schemas.microsoft.com/office/powerpoint/2010/main" val="4094633772"/>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제목 4"/>
          <p:cNvSpPr>
            <a:spLocks noGrp="1"/>
          </p:cNvSpPr>
          <p:nvPr>
            <p:ph type="title"/>
          </p:nvPr>
        </p:nvSpPr>
        <p:spPr/>
        <p:txBody>
          <a:bodyPr/>
          <a:lstStyle/>
          <a:p>
            <a:r>
              <a:rPr lang="ko-KR" altLang="en-US" dirty="0"/>
              <a:t>제</a:t>
            </a:r>
            <a:r>
              <a:rPr lang="en-US" altLang="ko-KR" dirty="0"/>
              <a:t>135</a:t>
            </a:r>
            <a:r>
              <a:rPr lang="ko-KR" altLang="en-US" dirty="0"/>
              <a:t>조</a:t>
            </a:r>
          </a:p>
        </p:txBody>
      </p:sp>
      <p:sp>
        <p:nvSpPr>
          <p:cNvPr id="6" name="텍스트 개체 틀 5"/>
          <p:cNvSpPr>
            <a:spLocks noGrp="1"/>
          </p:cNvSpPr>
          <p:nvPr>
            <p:ph type="body" sz="quarter" idx="13"/>
          </p:nvPr>
        </p:nvSpPr>
        <p:spPr/>
        <p:txBody>
          <a:bodyPr/>
          <a:lstStyle/>
          <a:p>
            <a:r>
              <a:rPr lang="ko-KR" altLang="en-US" dirty="0"/>
              <a:t>권리범위확인심판의 심리범위 </a:t>
            </a:r>
            <a:r>
              <a:rPr lang="en-US" altLang="ko-KR" dirty="0"/>
              <a:t>vs </a:t>
            </a:r>
            <a:r>
              <a:rPr lang="ko-KR" altLang="en-US" dirty="0" err="1"/>
              <a:t>침해소송의</a:t>
            </a:r>
            <a:r>
              <a:rPr lang="ko-KR" altLang="en-US" dirty="0"/>
              <a:t> </a:t>
            </a:r>
            <a:r>
              <a:rPr lang="ko-KR" altLang="en-US" dirty="0" err="1"/>
              <a:t>심리범위</a:t>
            </a:r>
            <a:endParaRPr lang="ko-KR" altLang="en-US" dirty="0"/>
          </a:p>
        </p:txBody>
      </p:sp>
      <p:sp>
        <p:nvSpPr>
          <p:cNvPr id="3" name="모서리가 둥근 직사각형 2"/>
          <p:cNvSpPr/>
          <p:nvPr/>
        </p:nvSpPr>
        <p:spPr>
          <a:xfrm>
            <a:off x="3886200" y="1841165"/>
            <a:ext cx="7988300" cy="394067"/>
          </a:xfrm>
          <a:prstGeom prst="roundRect">
            <a:avLst>
              <a:gd name="adj" fmla="val 0"/>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9" name="모서리가 둥근 직사각형 28"/>
          <p:cNvSpPr/>
          <p:nvPr/>
        </p:nvSpPr>
        <p:spPr>
          <a:xfrm>
            <a:off x="911424" y="1051499"/>
            <a:ext cx="1152128" cy="434290"/>
          </a:xfrm>
          <a:prstGeom prst="roundRect">
            <a:avLst/>
          </a:prstGeom>
          <a:solidFill>
            <a:schemeClr val="accent1">
              <a:lumMod val="50000"/>
            </a:schemeClr>
          </a:solidFill>
          <a:ln>
            <a:solidFill>
              <a:schemeClr val="bg1">
                <a:lumMod val="50000"/>
              </a:schemeClr>
            </a:solidFill>
          </a:ln>
        </p:spPr>
        <p:style>
          <a:lnRef idx="1">
            <a:schemeClr val="accent4"/>
          </a:lnRef>
          <a:fillRef idx="3">
            <a:schemeClr val="accent4"/>
          </a:fillRef>
          <a:effectRef idx="2">
            <a:schemeClr val="accent4"/>
          </a:effectRef>
          <a:fontRef idx="minor">
            <a:schemeClr val="lt1"/>
          </a:fontRef>
        </p:style>
        <p:txBody>
          <a:bodyPr rtlCol="0" anchor="ctr"/>
          <a:lstStyle/>
          <a:p>
            <a:pPr algn="ctr"/>
            <a:r>
              <a:rPr lang="ko-KR" altLang="en-US" sz="2000"/>
              <a:t>침해</a:t>
            </a:r>
            <a:endParaRPr lang="ko-KR" altLang="en-US" sz="2000" dirty="0"/>
          </a:p>
        </p:txBody>
      </p:sp>
      <p:sp>
        <p:nvSpPr>
          <p:cNvPr id="30" name="모서리가 둥근 직사각형 29"/>
          <p:cNvSpPr/>
          <p:nvPr/>
        </p:nvSpPr>
        <p:spPr>
          <a:xfrm>
            <a:off x="2016584" y="1603490"/>
            <a:ext cx="1517032" cy="306115"/>
          </a:xfrm>
          <a:prstGeom prst="roundRect">
            <a:avLst/>
          </a:prstGeom>
          <a:solidFill>
            <a:schemeClr val="accent1">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solidFill>
              </a:rPr>
              <a:t>성립요건</a:t>
            </a:r>
          </a:p>
        </p:txBody>
      </p:sp>
      <p:sp>
        <p:nvSpPr>
          <p:cNvPr id="32" name="모서리가 둥근 직사각형 31"/>
          <p:cNvSpPr/>
          <p:nvPr/>
        </p:nvSpPr>
        <p:spPr>
          <a:xfrm>
            <a:off x="2016584" y="2750091"/>
            <a:ext cx="1517032" cy="300813"/>
          </a:xfrm>
          <a:prstGeom prst="roundRect">
            <a:avLst/>
          </a:prstGeom>
          <a:solidFill>
            <a:schemeClr val="accent4">
              <a:lumMod val="20000"/>
              <a:lumOff val="8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400" dirty="0">
                <a:solidFill>
                  <a:schemeClr val="tx1"/>
                </a:solidFill>
              </a:rPr>
              <a:t>조치</a:t>
            </a:r>
          </a:p>
        </p:txBody>
      </p:sp>
      <p:sp>
        <p:nvSpPr>
          <p:cNvPr id="37" name="모서리가 둥근 직사각형 36"/>
          <p:cNvSpPr/>
          <p:nvPr/>
        </p:nvSpPr>
        <p:spPr>
          <a:xfrm>
            <a:off x="4039876" y="2366343"/>
            <a:ext cx="1517032" cy="207321"/>
          </a:xfrm>
          <a:prstGeom prst="roundRect">
            <a:avLst/>
          </a:prstGeom>
          <a:no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solidFill>
              </a:rPr>
              <a:t>민사</a:t>
            </a:r>
          </a:p>
        </p:txBody>
      </p:sp>
      <p:sp>
        <p:nvSpPr>
          <p:cNvPr id="38" name="모서리가 둥근 직사각형 37"/>
          <p:cNvSpPr/>
          <p:nvPr/>
        </p:nvSpPr>
        <p:spPr>
          <a:xfrm>
            <a:off x="4039876" y="3530592"/>
            <a:ext cx="1517032" cy="207321"/>
          </a:xfrm>
          <a:prstGeom prst="roundRect">
            <a:avLst/>
          </a:prstGeom>
          <a:no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solidFill>
              </a:rPr>
              <a:t>형사</a:t>
            </a:r>
          </a:p>
        </p:txBody>
      </p:sp>
      <p:cxnSp>
        <p:nvCxnSpPr>
          <p:cNvPr id="39" name="꺾인 연결선 38"/>
          <p:cNvCxnSpPr>
            <a:stCxn id="29" idx="2"/>
            <a:endCxn id="32" idx="1"/>
          </p:cNvCxnSpPr>
          <p:nvPr/>
        </p:nvCxnSpPr>
        <p:spPr>
          <a:xfrm rot="16200000" flipH="1">
            <a:off x="1044683" y="1928595"/>
            <a:ext cx="1414709" cy="529096"/>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29" idx="2"/>
            <a:endCxn id="30" idx="1"/>
          </p:cNvCxnSpPr>
          <p:nvPr/>
        </p:nvCxnSpPr>
        <p:spPr>
          <a:xfrm rot="16200000" flipH="1">
            <a:off x="1616658" y="1356619"/>
            <a:ext cx="270758" cy="529096"/>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9" name="꺾인 연결선 48"/>
          <p:cNvCxnSpPr>
            <a:stCxn id="32" idx="3"/>
            <a:endCxn id="37" idx="1"/>
          </p:cNvCxnSpPr>
          <p:nvPr/>
        </p:nvCxnSpPr>
        <p:spPr>
          <a:xfrm flipV="1">
            <a:off x="3533616" y="2470004"/>
            <a:ext cx="506260" cy="430494"/>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1" name="꺾인 연결선 50"/>
          <p:cNvCxnSpPr>
            <a:stCxn id="32" idx="3"/>
            <a:endCxn id="38" idx="1"/>
          </p:cNvCxnSpPr>
          <p:nvPr/>
        </p:nvCxnSpPr>
        <p:spPr>
          <a:xfrm>
            <a:off x="3533616" y="2900498"/>
            <a:ext cx="506260" cy="733755"/>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4" name="모서리가 둥근 직사각형 33"/>
          <p:cNvSpPr/>
          <p:nvPr/>
        </p:nvSpPr>
        <p:spPr>
          <a:xfrm>
            <a:off x="4003513" y="1060569"/>
            <a:ext cx="4169915" cy="207321"/>
          </a:xfrm>
          <a:prstGeom prst="roundRect">
            <a:avLst/>
          </a:prstGeom>
          <a:no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r>
              <a:rPr lang="en-US" altLang="ko-KR" sz="1200" dirty="0">
                <a:solidFill>
                  <a:schemeClr val="tx1"/>
                </a:solidFill>
              </a:rPr>
              <a:t>1. </a:t>
            </a:r>
            <a:r>
              <a:rPr lang="ko-KR" altLang="en-US" sz="1200" dirty="0">
                <a:solidFill>
                  <a:schemeClr val="tx1"/>
                </a:solidFill>
              </a:rPr>
              <a:t>특허권의 존속 중</a:t>
            </a:r>
          </a:p>
        </p:txBody>
      </p:sp>
      <p:sp>
        <p:nvSpPr>
          <p:cNvPr id="40" name="모서리가 둥근 직사각형 39"/>
          <p:cNvSpPr/>
          <p:nvPr/>
        </p:nvSpPr>
        <p:spPr>
          <a:xfrm>
            <a:off x="4003513" y="1326956"/>
            <a:ext cx="4169915" cy="207321"/>
          </a:xfrm>
          <a:prstGeom prst="roundRect">
            <a:avLst/>
          </a:prstGeom>
          <a:no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r>
              <a:rPr lang="en-US" altLang="ko-KR" sz="1200" dirty="0">
                <a:solidFill>
                  <a:schemeClr val="tx1"/>
                </a:solidFill>
              </a:rPr>
              <a:t>2. </a:t>
            </a:r>
            <a:r>
              <a:rPr lang="ko-KR" altLang="en-US" sz="1200" dirty="0">
                <a:solidFill>
                  <a:schemeClr val="tx1"/>
                </a:solidFill>
              </a:rPr>
              <a:t>정당한 권원이 없는 자</a:t>
            </a:r>
          </a:p>
        </p:txBody>
      </p:sp>
      <p:sp>
        <p:nvSpPr>
          <p:cNvPr id="42" name="모서리가 둥근 직사각형 41"/>
          <p:cNvSpPr/>
          <p:nvPr/>
        </p:nvSpPr>
        <p:spPr>
          <a:xfrm>
            <a:off x="4003513" y="1604559"/>
            <a:ext cx="4169915" cy="207321"/>
          </a:xfrm>
          <a:prstGeom prst="roundRect">
            <a:avLst/>
          </a:prstGeom>
          <a:no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r>
              <a:rPr lang="en-US" altLang="ko-KR" sz="1200" dirty="0">
                <a:solidFill>
                  <a:schemeClr val="tx1"/>
                </a:solidFill>
              </a:rPr>
              <a:t>3. </a:t>
            </a:r>
            <a:r>
              <a:rPr lang="ko-KR" altLang="en-US" sz="1200" dirty="0">
                <a:solidFill>
                  <a:schemeClr val="tx1"/>
                </a:solidFill>
              </a:rPr>
              <a:t>업으로서</a:t>
            </a:r>
          </a:p>
        </p:txBody>
      </p:sp>
      <p:sp>
        <p:nvSpPr>
          <p:cNvPr id="44" name="모서리가 둥근 직사각형 43"/>
          <p:cNvSpPr/>
          <p:nvPr/>
        </p:nvSpPr>
        <p:spPr>
          <a:xfrm>
            <a:off x="4003513" y="1869291"/>
            <a:ext cx="4169915" cy="324948"/>
          </a:xfrm>
          <a:prstGeom prst="roundRect">
            <a:avLst/>
          </a:prstGeom>
          <a:solidFill>
            <a:schemeClr val="accent3">
              <a:lumMod val="50000"/>
            </a:schemeClr>
          </a:solid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r>
              <a:rPr lang="en-US" altLang="ko-KR" sz="1600" dirty="0">
                <a:solidFill>
                  <a:schemeClr val="bg1"/>
                </a:solidFill>
              </a:rPr>
              <a:t>4. </a:t>
            </a:r>
            <a:r>
              <a:rPr lang="ko-KR" altLang="en-US" sz="1600" dirty="0">
                <a:solidFill>
                  <a:schemeClr val="bg1"/>
                </a:solidFill>
              </a:rPr>
              <a:t>특허발명의 보호범위에 속하는 발명을 실시</a:t>
            </a:r>
          </a:p>
        </p:txBody>
      </p:sp>
      <p:cxnSp>
        <p:nvCxnSpPr>
          <p:cNvPr id="9" name="꺾인 연결선 8"/>
          <p:cNvCxnSpPr>
            <a:stCxn id="30" idx="3"/>
            <a:endCxn id="34" idx="1"/>
          </p:cNvCxnSpPr>
          <p:nvPr/>
        </p:nvCxnSpPr>
        <p:spPr>
          <a:xfrm flipV="1">
            <a:off x="3533617" y="1265829"/>
            <a:ext cx="469897" cy="49071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꺾인 연결선 13"/>
          <p:cNvCxnSpPr>
            <a:stCxn id="30" idx="3"/>
            <a:endCxn id="44" idx="1"/>
          </p:cNvCxnSpPr>
          <p:nvPr/>
        </p:nvCxnSpPr>
        <p:spPr>
          <a:xfrm>
            <a:off x="3533616" y="1756548"/>
            <a:ext cx="469897" cy="275217"/>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30" idx="3"/>
            <a:endCxn id="40" idx="1"/>
          </p:cNvCxnSpPr>
          <p:nvPr/>
        </p:nvCxnSpPr>
        <p:spPr>
          <a:xfrm flipV="1">
            <a:off x="3533616" y="1430617"/>
            <a:ext cx="469897" cy="32593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stCxn id="30" idx="3"/>
            <a:endCxn id="42" idx="1"/>
          </p:cNvCxnSpPr>
          <p:nvPr/>
        </p:nvCxnSpPr>
        <p:spPr>
          <a:xfrm flipV="1">
            <a:off x="3533616" y="1708220"/>
            <a:ext cx="469897" cy="4832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모서리가 둥근 직사각형 88"/>
          <p:cNvSpPr/>
          <p:nvPr/>
        </p:nvSpPr>
        <p:spPr>
          <a:xfrm>
            <a:off x="6322187" y="2366343"/>
            <a:ext cx="2084957" cy="207321"/>
          </a:xfrm>
          <a:prstGeom prst="roundRect">
            <a:avLst/>
          </a:prstGeom>
          <a:no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solidFill>
              </a:rPr>
              <a:t>침해금지예방청구</a:t>
            </a:r>
          </a:p>
        </p:txBody>
      </p:sp>
      <p:sp>
        <p:nvSpPr>
          <p:cNvPr id="90" name="모서리가 둥근 직사각형 89"/>
          <p:cNvSpPr/>
          <p:nvPr/>
        </p:nvSpPr>
        <p:spPr>
          <a:xfrm>
            <a:off x="6322187" y="2621927"/>
            <a:ext cx="2084957" cy="207321"/>
          </a:xfrm>
          <a:prstGeom prst="roundRect">
            <a:avLst/>
          </a:prstGeom>
          <a:no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solidFill>
              </a:rPr>
              <a:t>손해배상청구</a:t>
            </a:r>
          </a:p>
        </p:txBody>
      </p:sp>
      <p:sp>
        <p:nvSpPr>
          <p:cNvPr id="91" name="모서리가 둥근 직사각형 90"/>
          <p:cNvSpPr/>
          <p:nvPr/>
        </p:nvSpPr>
        <p:spPr>
          <a:xfrm>
            <a:off x="6322187" y="2869684"/>
            <a:ext cx="2084957" cy="207321"/>
          </a:xfrm>
          <a:prstGeom prst="roundRect">
            <a:avLst/>
          </a:prstGeom>
          <a:no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solidFill>
              </a:rPr>
              <a:t>신용회복청구</a:t>
            </a:r>
          </a:p>
        </p:txBody>
      </p:sp>
      <p:sp>
        <p:nvSpPr>
          <p:cNvPr id="92" name="모서리가 둥근 직사각형 91"/>
          <p:cNvSpPr/>
          <p:nvPr/>
        </p:nvSpPr>
        <p:spPr>
          <a:xfrm>
            <a:off x="6322187" y="3118501"/>
            <a:ext cx="2084957" cy="207321"/>
          </a:xfrm>
          <a:prstGeom prst="roundRect">
            <a:avLst/>
          </a:prstGeom>
          <a:no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solidFill>
              </a:rPr>
              <a:t>부당이득반환청구</a:t>
            </a:r>
          </a:p>
        </p:txBody>
      </p:sp>
      <p:sp>
        <p:nvSpPr>
          <p:cNvPr id="93" name="모서리가 둥근 직사각형 92"/>
          <p:cNvSpPr/>
          <p:nvPr/>
        </p:nvSpPr>
        <p:spPr>
          <a:xfrm>
            <a:off x="6322187" y="3461708"/>
            <a:ext cx="2084957" cy="207321"/>
          </a:xfrm>
          <a:prstGeom prst="roundRect">
            <a:avLst/>
          </a:prstGeom>
          <a:no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err="1">
                <a:solidFill>
                  <a:schemeClr val="tx1"/>
                </a:solidFill>
              </a:rPr>
              <a:t>침해죄</a:t>
            </a:r>
            <a:endParaRPr lang="ko-KR" altLang="en-US" sz="1200" dirty="0">
              <a:solidFill>
                <a:schemeClr val="tx1"/>
              </a:solidFill>
            </a:endParaRPr>
          </a:p>
        </p:txBody>
      </p:sp>
      <p:sp>
        <p:nvSpPr>
          <p:cNvPr id="94" name="모서리가 둥근 직사각형 93"/>
          <p:cNvSpPr/>
          <p:nvPr/>
        </p:nvSpPr>
        <p:spPr>
          <a:xfrm>
            <a:off x="6322187" y="3709463"/>
            <a:ext cx="2084957" cy="207321"/>
          </a:xfrm>
          <a:prstGeom prst="roundRect">
            <a:avLst/>
          </a:prstGeom>
          <a:no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a:solidFill>
                  <a:schemeClr val="tx1"/>
                </a:solidFill>
              </a:rPr>
              <a:t>몰수</a:t>
            </a:r>
          </a:p>
        </p:txBody>
      </p:sp>
      <p:sp>
        <p:nvSpPr>
          <p:cNvPr id="95" name="모서리가 둥근 직사각형 94"/>
          <p:cNvSpPr/>
          <p:nvPr/>
        </p:nvSpPr>
        <p:spPr>
          <a:xfrm>
            <a:off x="6322187" y="3958280"/>
            <a:ext cx="2084957" cy="207321"/>
          </a:xfrm>
          <a:prstGeom prst="roundRect">
            <a:avLst/>
          </a:prstGeom>
          <a:noFill/>
          <a:ln>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rtlCol="0" anchor="ctr"/>
          <a:lstStyle/>
          <a:p>
            <a:pPr algn="ctr"/>
            <a:r>
              <a:rPr lang="ko-KR" altLang="en-US" sz="1200" dirty="0" err="1">
                <a:solidFill>
                  <a:schemeClr val="tx1"/>
                </a:solidFill>
              </a:rPr>
              <a:t>양벌규정</a:t>
            </a:r>
            <a:endParaRPr lang="ko-KR" altLang="en-US" sz="1200" dirty="0">
              <a:solidFill>
                <a:schemeClr val="tx1"/>
              </a:solidFill>
            </a:endParaRPr>
          </a:p>
        </p:txBody>
      </p:sp>
      <p:cxnSp>
        <p:nvCxnSpPr>
          <p:cNvPr id="97" name="꺾인 연결선 96"/>
          <p:cNvCxnSpPr>
            <a:stCxn id="37" idx="3"/>
            <a:endCxn id="89" idx="1"/>
          </p:cNvCxnSpPr>
          <p:nvPr/>
        </p:nvCxnSpPr>
        <p:spPr>
          <a:xfrm>
            <a:off x="5556909" y="2470004"/>
            <a:ext cx="765279" cy="967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꺾인 연결선 98"/>
          <p:cNvCxnSpPr>
            <a:stCxn id="37" idx="3"/>
            <a:endCxn id="90" idx="1"/>
          </p:cNvCxnSpPr>
          <p:nvPr/>
        </p:nvCxnSpPr>
        <p:spPr>
          <a:xfrm>
            <a:off x="5556909" y="2470005"/>
            <a:ext cx="765279" cy="25558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꺾인 연결선 100"/>
          <p:cNvCxnSpPr>
            <a:stCxn id="37" idx="3"/>
            <a:endCxn id="91" idx="1"/>
          </p:cNvCxnSpPr>
          <p:nvPr/>
        </p:nvCxnSpPr>
        <p:spPr>
          <a:xfrm>
            <a:off x="5556909" y="2470004"/>
            <a:ext cx="765279" cy="50334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꺾인 연결선 102"/>
          <p:cNvCxnSpPr>
            <a:stCxn id="37" idx="3"/>
            <a:endCxn id="92" idx="1"/>
          </p:cNvCxnSpPr>
          <p:nvPr/>
        </p:nvCxnSpPr>
        <p:spPr>
          <a:xfrm>
            <a:off x="5556909" y="2470004"/>
            <a:ext cx="765279" cy="75215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꺾인 연결선 104"/>
          <p:cNvCxnSpPr>
            <a:stCxn id="38" idx="3"/>
            <a:endCxn id="93" idx="1"/>
          </p:cNvCxnSpPr>
          <p:nvPr/>
        </p:nvCxnSpPr>
        <p:spPr>
          <a:xfrm flipV="1">
            <a:off x="5556909" y="3565368"/>
            <a:ext cx="765279" cy="6888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7" name="꺾인 연결선 106"/>
          <p:cNvCxnSpPr>
            <a:stCxn id="38" idx="3"/>
            <a:endCxn id="95" idx="1"/>
          </p:cNvCxnSpPr>
          <p:nvPr/>
        </p:nvCxnSpPr>
        <p:spPr>
          <a:xfrm>
            <a:off x="5556909" y="3634253"/>
            <a:ext cx="765279" cy="42768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꺾인 연결선 108"/>
          <p:cNvCxnSpPr>
            <a:stCxn id="38" idx="3"/>
            <a:endCxn id="94" idx="1"/>
          </p:cNvCxnSpPr>
          <p:nvPr/>
        </p:nvCxnSpPr>
        <p:spPr>
          <a:xfrm>
            <a:off x="5556909" y="3634252"/>
            <a:ext cx="765279" cy="17887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TextBox 3"/>
          <p:cNvSpPr txBox="1"/>
          <p:nvPr/>
        </p:nvSpPr>
        <p:spPr>
          <a:xfrm>
            <a:off x="8889744" y="1858804"/>
            <a:ext cx="2984756" cy="369332"/>
          </a:xfrm>
          <a:prstGeom prst="rect">
            <a:avLst/>
          </a:prstGeom>
          <a:noFill/>
        </p:spPr>
        <p:txBody>
          <a:bodyPr wrap="square" rtlCol="0">
            <a:spAutoFit/>
          </a:bodyPr>
          <a:lstStyle/>
          <a:p>
            <a:pPr algn="r"/>
            <a:r>
              <a:rPr lang="ko-KR" altLang="en-US" dirty="0">
                <a:solidFill>
                  <a:srgbClr val="FF0000"/>
                </a:solidFill>
              </a:rPr>
              <a:t>권리범위확인심판의 심리범위</a:t>
            </a:r>
          </a:p>
        </p:txBody>
      </p:sp>
      <p:sp>
        <p:nvSpPr>
          <p:cNvPr id="64" name="TextBox 63"/>
          <p:cNvSpPr txBox="1"/>
          <p:nvPr/>
        </p:nvSpPr>
        <p:spPr>
          <a:xfrm>
            <a:off x="1924680" y="3167056"/>
            <a:ext cx="1486331" cy="646331"/>
          </a:xfrm>
          <a:prstGeom prst="rect">
            <a:avLst/>
          </a:prstGeom>
          <a:noFill/>
        </p:spPr>
        <p:txBody>
          <a:bodyPr wrap="square" rtlCol="0">
            <a:spAutoFit/>
          </a:bodyPr>
          <a:lstStyle/>
          <a:p>
            <a:r>
              <a:rPr lang="ko-KR" altLang="en-US" dirty="0" err="1">
                <a:solidFill>
                  <a:srgbClr val="FF0000"/>
                </a:solidFill>
              </a:rPr>
              <a:t>침해소송의</a:t>
            </a:r>
            <a:r>
              <a:rPr lang="ko-KR" altLang="en-US" dirty="0">
                <a:solidFill>
                  <a:srgbClr val="FF0000"/>
                </a:solidFill>
              </a:rPr>
              <a:t> </a:t>
            </a:r>
            <a:endParaRPr lang="en-US" altLang="ko-KR" dirty="0">
              <a:solidFill>
                <a:srgbClr val="FF0000"/>
              </a:solidFill>
            </a:endParaRPr>
          </a:p>
          <a:p>
            <a:r>
              <a:rPr lang="ko-KR" altLang="en-US" dirty="0">
                <a:solidFill>
                  <a:srgbClr val="FF0000"/>
                </a:solidFill>
              </a:rPr>
              <a:t>심리범위</a:t>
            </a:r>
          </a:p>
        </p:txBody>
      </p:sp>
      <p:sp>
        <p:nvSpPr>
          <p:cNvPr id="52" name="모서리가 둥근 직사각형 51"/>
          <p:cNvSpPr/>
          <p:nvPr/>
        </p:nvSpPr>
        <p:spPr>
          <a:xfrm>
            <a:off x="1905000" y="1532216"/>
            <a:ext cx="1752600" cy="2278847"/>
          </a:xfrm>
          <a:prstGeom prst="roundRect">
            <a:avLst>
              <a:gd name="adj" fmla="val 0"/>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aphicFrame>
        <p:nvGraphicFramePr>
          <p:cNvPr id="20" name="표 19"/>
          <p:cNvGraphicFramePr>
            <a:graphicFrameLocks noGrp="1"/>
          </p:cNvGraphicFramePr>
          <p:nvPr/>
        </p:nvGraphicFramePr>
        <p:xfrm>
          <a:off x="368299" y="4283500"/>
          <a:ext cx="11493501" cy="2130552"/>
        </p:xfrm>
        <a:graphic>
          <a:graphicData uri="http://schemas.openxmlformats.org/drawingml/2006/table">
            <a:tbl>
              <a:tblPr>
                <a:tableStyleId>{8799B23B-EC83-4686-B30A-512413B5E67A}</a:tableStyleId>
              </a:tblPr>
              <a:tblGrid>
                <a:gridCol w="1172634">
                  <a:extLst>
                    <a:ext uri="{9D8B030D-6E8A-4147-A177-3AD203B41FA5}">
                      <a16:colId xmlns:a16="http://schemas.microsoft.com/office/drawing/2014/main" val="20000"/>
                    </a:ext>
                  </a:extLst>
                </a:gridCol>
                <a:gridCol w="1995084">
                  <a:extLst>
                    <a:ext uri="{9D8B030D-6E8A-4147-A177-3AD203B41FA5}">
                      <a16:colId xmlns:a16="http://schemas.microsoft.com/office/drawing/2014/main" val="20001"/>
                    </a:ext>
                  </a:extLst>
                </a:gridCol>
                <a:gridCol w="3167718">
                  <a:extLst>
                    <a:ext uri="{9D8B030D-6E8A-4147-A177-3AD203B41FA5}">
                      <a16:colId xmlns:a16="http://schemas.microsoft.com/office/drawing/2014/main" val="2463536066"/>
                    </a:ext>
                  </a:extLst>
                </a:gridCol>
                <a:gridCol w="2544404">
                  <a:extLst>
                    <a:ext uri="{9D8B030D-6E8A-4147-A177-3AD203B41FA5}">
                      <a16:colId xmlns:a16="http://schemas.microsoft.com/office/drawing/2014/main" val="1437265358"/>
                    </a:ext>
                  </a:extLst>
                </a:gridCol>
                <a:gridCol w="2613661">
                  <a:extLst>
                    <a:ext uri="{9D8B030D-6E8A-4147-A177-3AD203B41FA5}">
                      <a16:colId xmlns:a16="http://schemas.microsoft.com/office/drawing/2014/main" val="4144874887"/>
                    </a:ext>
                  </a:extLst>
                </a:gridCol>
              </a:tblGrid>
              <a:tr h="141471">
                <a:tc gridSpan="2">
                  <a:txBody>
                    <a:bodyPr/>
                    <a:lstStyle/>
                    <a:p>
                      <a:pPr marL="0" marR="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구분</a:t>
                      </a:r>
                    </a:p>
                  </a:txBody>
                  <a:tcPr marL="64770" marR="64770" marT="17907" marB="17907"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30000"/>
                        </a:lnSpc>
                        <a:spcBef>
                          <a:spcPts val="0"/>
                        </a:spcBef>
                        <a:spcAft>
                          <a:spcPts val="0"/>
                        </a:spcAft>
                      </a:pPr>
                      <a:r>
                        <a:rPr lang="ko-KR" altLang="en-US" sz="1100" kern="1200" dirty="0"/>
                        <a:t>피의자의 항변</a:t>
                      </a:r>
                      <a:endParaRPr lang="ko-KR" altLang="en-US" sz="11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100" kern="1200" dirty="0"/>
                        <a:t>침해소송</a:t>
                      </a:r>
                      <a:endParaRPr lang="ko-KR" altLang="en-US" sz="11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100" kern="1200" dirty="0"/>
                        <a:t>권리범위확인심판</a:t>
                      </a:r>
                      <a:endParaRPr lang="ko-KR" altLang="en-US" sz="1100" kern="1200" dirty="0">
                        <a:solidFill>
                          <a:schemeClr val="tx2"/>
                        </a:solidFill>
                        <a:latin typeface="+mn-lt"/>
                        <a:ea typeface="+mn-ea"/>
                        <a:cs typeface="+mn-cs"/>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58815497"/>
                  </a:ext>
                </a:extLst>
              </a:tr>
              <a:tr h="141471">
                <a:tc rowSpan="7">
                  <a:txBody>
                    <a:bodyPr/>
                    <a:lstStyle/>
                    <a:p>
                      <a:pPr algn="ctr"/>
                      <a:r>
                        <a:rPr lang="ko-KR" altLang="en-US" sz="1100" dirty="0"/>
                        <a:t>침해의 </a:t>
                      </a:r>
                      <a:endParaRPr lang="en-US" altLang="ko-KR" sz="1100" dirty="0"/>
                    </a:p>
                    <a:p>
                      <a:pPr algn="ctr"/>
                      <a:r>
                        <a:rPr lang="ko-KR" altLang="en-US" sz="1100" dirty="0"/>
                        <a:t>성립요건</a:t>
                      </a:r>
                    </a:p>
                  </a:txBody>
                  <a:tcPr marL="64770" marR="64770" marT="17907" marB="17907" anchor="ctr"/>
                </a:tc>
                <a:tc>
                  <a:txBody>
                    <a:bodyPr/>
                    <a:lstStyle/>
                    <a:p>
                      <a:pPr marL="0" marR="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특허권 존속 中</a:t>
                      </a:r>
                    </a:p>
                  </a:txBody>
                  <a:tcPr marL="64770" marR="64770" marT="17907" marB="17907" anchor="ctr"/>
                </a:tc>
                <a:tc>
                  <a:txBody>
                    <a:bodyPr/>
                    <a:lstStyle/>
                    <a:p>
                      <a:pPr marL="0" marR="0" indent="0" algn="ctr" fontAlgn="base" latinLnBrk="0">
                        <a:lnSpc>
                          <a:spcPct val="130000"/>
                        </a:lnSpc>
                        <a:spcBef>
                          <a:spcPts val="0"/>
                        </a:spcBef>
                        <a:spcAft>
                          <a:spcPts val="0"/>
                        </a:spcAft>
                      </a:pPr>
                      <a:r>
                        <a:rPr lang="ko-KR" altLang="en-US" sz="1100" kern="1200" dirty="0"/>
                        <a:t>특허권 당연무효의 항변</a:t>
                      </a:r>
                      <a:r>
                        <a:rPr lang="en-US" altLang="ko-KR" sz="1100" kern="1200" dirty="0"/>
                        <a:t>(</a:t>
                      </a:r>
                      <a:r>
                        <a:rPr lang="ko-KR" altLang="en-US" sz="1100" kern="1200" dirty="0"/>
                        <a:t>행정처분의 공정력 부정</a:t>
                      </a:r>
                      <a:r>
                        <a:rPr lang="en-US" altLang="ko-KR" sz="1100" kern="1200" dirty="0"/>
                        <a:t>)</a:t>
                      </a:r>
                      <a:endParaRPr lang="ko-KR" altLang="en-US" sz="11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100" kern="1200"/>
                        <a:t>불인정</a:t>
                      </a:r>
                      <a:endParaRPr lang="ko-KR" altLang="en-US" sz="11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100" kern="1200"/>
                        <a:t>불인정</a:t>
                      </a:r>
                      <a:endParaRPr lang="ko-KR" altLang="en-US" sz="1100" kern="120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3576002894"/>
                  </a:ext>
                </a:extLst>
              </a:tr>
              <a:tr h="141471">
                <a:tc vMerge="1">
                  <a:txBody>
                    <a:bodyPr/>
                    <a:lstStyle/>
                    <a:p>
                      <a:endParaRPr lang="ko-KR" altLang="en-US"/>
                    </a:p>
                  </a:txBody>
                  <a:tcPr marL="64770" marR="64770" marT="17907" marB="17907" anchor="ctr"/>
                </a:tc>
                <a:tc rowSpan="2">
                  <a:txBody>
                    <a:bodyPr/>
                    <a:lstStyle/>
                    <a:p>
                      <a:pPr marL="0" marR="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정당한 권원 없는 자</a:t>
                      </a:r>
                    </a:p>
                  </a:txBody>
                  <a:tcPr marL="64770" marR="64770" marT="17907" marB="17907" anchor="ctr"/>
                </a:tc>
                <a:tc>
                  <a:txBody>
                    <a:bodyPr/>
                    <a:lstStyle/>
                    <a:p>
                      <a:pPr marL="0" marR="0" indent="0" algn="ctr" fontAlgn="base" latinLnBrk="0">
                        <a:lnSpc>
                          <a:spcPct val="130000"/>
                        </a:lnSpc>
                        <a:spcBef>
                          <a:spcPts val="0"/>
                        </a:spcBef>
                        <a:spcAft>
                          <a:spcPts val="0"/>
                        </a:spcAft>
                      </a:pPr>
                      <a:r>
                        <a:rPr lang="ko-KR" altLang="en-US" sz="1100" kern="1200"/>
                        <a:t>실시권의 항변</a:t>
                      </a:r>
                      <a:endParaRPr lang="ko-KR" altLang="en-US" sz="11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100" kern="1200" dirty="0"/>
                        <a:t>인정</a:t>
                      </a:r>
                      <a:endParaRPr lang="ko-KR" altLang="en-US" sz="1100" kern="1200" dirty="0">
                        <a:solidFill>
                          <a:schemeClr val="tx2"/>
                        </a:solidFill>
                        <a:latin typeface="+mn-lt"/>
                        <a:ea typeface="+mn-ea"/>
                        <a:cs typeface="+mn-cs"/>
                      </a:endParaRPr>
                    </a:p>
                  </a:txBody>
                  <a:tcPr marL="64770" marR="64770" marT="17907" marB="17907" anchor="ctr">
                    <a:solidFill>
                      <a:schemeClr val="accent2">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100" kern="1200"/>
                        <a:t>불인정</a:t>
                      </a:r>
                      <a:endParaRPr lang="ko-KR" altLang="en-US" sz="1100" kern="120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2823287500"/>
                  </a:ext>
                </a:extLst>
              </a:tr>
              <a:tr h="141471">
                <a:tc vMerge="1">
                  <a:txBody>
                    <a:bodyPr/>
                    <a:lstStyle/>
                    <a:p>
                      <a:endParaRPr lang="ko-KR" altLang="en-US"/>
                    </a:p>
                  </a:txBody>
                  <a:tcPr marL="64770" marR="64770" marT="17907" marB="17907" anchor="ctr"/>
                </a:tc>
                <a:tc vMerge="1">
                  <a:txBody>
                    <a:bodyPr/>
                    <a:lstStyle/>
                    <a:p>
                      <a:pPr marL="0" marR="0" indent="0" algn="ctr" fontAlgn="base" latinLnBrk="0">
                        <a:lnSpc>
                          <a:spcPct val="130000"/>
                        </a:lnSpc>
                        <a:spcBef>
                          <a:spcPts val="0"/>
                        </a:spcBef>
                        <a:spcAft>
                          <a:spcPts val="0"/>
                        </a:spcAft>
                      </a:pPr>
                      <a:endParaRPr lang="ko-KR" altLang="en-US" sz="1100" kern="1200" dirty="0">
                        <a:solidFill>
                          <a:schemeClr val="tx2"/>
                        </a:solidFill>
                        <a:latin typeface="+mn-lt"/>
                        <a:ea typeface="+mn-ea"/>
                        <a:cs typeface="+mn-cs"/>
                      </a:endParaRPr>
                    </a:p>
                  </a:txBody>
                  <a:tcPr marL="64770" marR="64770" marT="17907" marB="17907" anchor="ctr"/>
                </a:tc>
                <a:tc>
                  <a:txBody>
                    <a:bodyPr/>
                    <a:lstStyle/>
                    <a:p>
                      <a:pPr marL="0" marR="0" indent="0" algn="ctr" fontAlgn="base" latinLnBrk="0">
                        <a:lnSpc>
                          <a:spcPct val="130000"/>
                        </a:lnSpc>
                        <a:spcBef>
                          <a:spcPts val="0"/>
                        </a:spcBef>
                        <a:spcAft>
                          <a:spcPts val="0"/>
                        </a:spcAft>
                      </a:pPr>
                      <a:r>
                        <a:rPr lang="ko-KR" altLang="en-US" sz="1100" kern="1200" dirty="0"/>
                        <a:t>권리소진의 항변</a:t>
                      </a:r>
                      <a:endParaRPr lang="ko-KR" altLang="en-US" sz="1100" kern="1200" dirty="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100" kern="1200"/>
                        <a:t>인정</a:t>
                      </a:r>
                      <a:endParaRPr lang="ko-KR" altLang="en-US" sz="1100" kern="1200">
                        <a:solidFill>
                          <a:schemeClr val="tx2"/>
                        </a:solidFill>
                        <a:latin typeface="+mn-lt"/>
                        <a:ea typeface="+mn-ea"/>
                        <a:cs typeface="+mn-cs"/>
                      </a:endParaRPr>
                    </a:p>
                  </a:txBody>
                  <a:tcPr marL="64770" marR="64770" marT="17907" marB="17907" anchor="ctr">
                    <a:solidFill>
                      <a:schemeClr val="accent2">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100" kern="1200"/>
                        <a:t>불인정</a:t>
                      </a:r>
                      <a:endParaRPr lang="ko-KR" altLang="en-US" sz="1100" kern="120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1960527882"/>
                  </a:ext>
                </a:extLst>
              </a:tr>
              <a:tr h="141471">
                <a:tc vMerge="1">
                  <a:txBody>
                    <a:bodyPr/>
                    <a:lstStyle/>
                    <a:p>
                      <a:endParaRPr lang="ko-KR" altLang="en-US"/>
                    </a:p>
                  </a:txBody>
                  <a:tcPr marL="64770" marR="64770" marT="17907" marB="17907" anchor="ctr"/>
                </a:tc>
                <a:tc>
                  <a:txBody>
                    <a:bodyPr/>
                    <a:lstStyle/>
                    <a:p>
                      <a:pPr marL="0" marR="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업으로서 </a:t>
                      </a:r>
                    </a:p>
                  </a:txBody>
                  <a:tcPr marL="64770" marR="64770" marT="17907" marB="17907" anchor="ctr"/>
                </a:tc>
                <a:tc>
                  <a:txBody>
                    <a:bodyPr/>
                    <a:lstStyle/>
                    <a:p>
                      <a:pPr marL="0" marR="0" indent="0" algn="ctr" fontAlgn="base" latinLnBrk="0">
                        <a:lnSpc>
                          <a:spcPct val="130000"/>
                        </a:lnSpc>
                        <a:spcBef>
                          <a:spcPts val="0"/>
                        </a:spcBef>
                        <a:spcAft>
                          <a:spcPts val="0"/>
                        </a:spcAft>
                      </a:pPr>
                      <a:r>
                        <a:rPr lang="ko-KR" altLang="en-US" sz="1100" kern="1200"/>
                        <a:t>업이 아니라는 항변</a:t>
                      </a:r>
                      <a:endParaRPr lang="ko-KR" altLang="en-US" sz="11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100" kern="1200"/>
                        <a:t>인정</a:t>
                      </a:r>
                      <a:endParaRPr lang="ko-KR" altLang="en-US" sz="1100" kern="1200">
                        <a:solidFill>
                          <a:schemeClr val="tx2"/>
                        </a:solidFill>
                        <a:latin typeface="+mn-lt"/>
                        <a:ea typeface="+mn-ea"/>
                        <a:cs typeface="+mn-cs"/>
                      </a:endParaRPr>
                    </a:p>
                  </a:txBody>
                  <a:tcPr marL="64770" marR="64770" marT="17907" marB="17907" anchor="ctr">
                    <a:solidFill>
                      <a:schemeClr val="accent2">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100" kern="1200"/>
                        <a:t>불인정</a:t>
                      </a:r>
                      <a:endParaRPr lang="ko-KR" altLang="en-US" sz="1100" kern="120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3248111627"/>
                  </a:ext>
                </a:extLst>
              </a:tr>
              <a:tr h="141471">
                <a:tc vMerge="1">
                  <a:txBody>
                    <a:bodyPr/>
                    <a:lstStyle/>
                    <a:p>
                      <a:endParaRPr lang="ko-KR" altLang="en-US" dirty="0"/>
                    </a:p>
                  </a:txBody>
                  <a:tcPr marL="64770" marR="64770" marT="17907" marB="17907" anchor="ctr"/>
                </a:tc>
                <a:tc rowSpan="3">
                  <a:txBody>
                    <a:bodyPr/>
                    <a:lstStyle/>
                    <a:p>
                      <a:pPr marL="0" marR="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특허발명의 보호범위에 속하는 발명 실시</a:t>
                      </a:r>
                    </a:p>
                  </a:txBody>
                  <a:tcPr marL="64770" marR="64770" marT="17907" marB="17907" anchor="ctr"/>
                </a:tc>
                <a:tc>
                  <a:txBody>
                    <a:bodyPr/>
                    <a:lstStyle/>
                    <a:p>
                      <a:pPr marL="0" marR="0" indent="0" algn="ctr" fontAlgn="base" latinLnBrk="0">
                        <a:lnSpc>
                          <a:spcPct val="130000"/>
                        </a:lnSpc>
                        <a:spcBef>
                          <a:spcPts val="0"/>
                        </a:spcBef>
                        <a:spcAft>
                          <a:spcPts val="0"/>
                        </a:spcAft>
                      </a:pPr>
                      <a:r>
                        <a:rPr lang="ko-KR" altLang="en-US" sz="1100" kern="1200"/>
                        <a:t>특허권 하자</a:t>
                      </a:r>
                      <a:r>
                        <a:rPr lang="en-US" altLang="ko-KR" sz="1100" kern="1200"/>
                        <a:t>(</a:t>
                      </a:r>
                      <a:r>
                        <a:rPr lang="ko-KR" altLang="en-US" sz="1100" kern="1200"/>
                        <a:t>무효</a:t>
                      </a:r>
                      <a:r>
                        <a:rPr lang="en-US" altLang="ko-KR" sz="1100" kern="1200"/>
                        <a:t>)</a:t>
                      </a:r>
                      <a:r>
                        <a:rPr lang="ko-KR" altLang="en-US" sz="1100" kern="1200"/>
                        <a:t>의 항변</a:t>
                      </a:r>
                      <a:endParaRPr lang="ko-KR" altLang="en-US" sz="11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100" kern="1200"/>
                        <a:t>인정</a:t>
                      </a:r>
                      <a:endParaRPr lang="ko-KR" altLang="en-US" sz="1100" kern="1200">
                        <a:solidFill>
                          <a:schemeClr val="tx2"/>
                        </a:solidFill>
                        <a:latin typeface="+mn-lt"/>
                        <a:ea typeface="+mn-ea"/>
                        <a:cs typeface="+mn-cs"/>
                      </a:endParaRPr>
                    </a:p>
                  </a:txBody>
                  <a:tcPr marL="64770" marR="64770" marT="17907" marB="17907" anchor="ctr">
                    <a:solidFill>
                      <a:schemeClr val="accent2">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100" kern="1200" dirty="0"/>
                        <a:t>인정</a:t>
                      </a:r>
                      <a:endParaRPr lang="ko-KR" altLang="en-US" sz="1100" kern="1200" dirty="0">
                        <a:solidFill>
                          <a:schemeClr val="tx2"/>
                        </a:solidFill>
                        <a:latin typeface="+mn-lt"/>
                        <a:ea typeface="+mn-ea"/>
                        <a:cs typeface="+mn-cs"/>
                      </a:endParaRPr>
                    </a:p>
                  </a:txBody>
                  <a:tcPr marL="64770" marR="64770" marT="17907" marB="17907" anchor="ctr">
                    <a:solidFill>
                      <a:schemeClr val="accent2">
                        <a:lumMod val="20000"/>
                        <a:lumOff val="80000"/>
                      </a:schemeClr>
                    </a:solidFill>
                  </a:tcPr>
                </a:tc>
                <a:extLst>
                  <a:ext uri="{0D108BD9-81ED-4DB2-BD59-A6C34878D82A}">
                    <a16:rowId xmlns:a16="http://schemas.microsoft.com/office/drawing/2014/main" val="2068550350"/>
                  </a:ext>
                </a:extLst>
              </a:tr>
              <a:tr h="141471">
                <a:tc vMerge="1">
                  <a:txBody>
                    <a:bodyPr/>
                    <a:lstStyle/>
                    <a:p>
                      <a:endParaRPr lang="ko-KR" altLang="en-US" dirty="0"/>
                    </a:p>
                  </a:txBody>
                  <a:tcPr marL="64770" marR="64770" marT="17907" marB="17907" anchor="ctr"/>
                </a:tc>
                <a:tc vMerge="1">
                  <a:txBody>
                    <a:bodyPr/>
                    <a:lstStyle/>
                    <a:p>
                      <a:pPr marL="0" marR="0" indent="0" algn="ctr" fontAlgn="base" latinLnBrk="0">
                        <a:lnSpc>
                          <a:spcPct val="130000"/>
                        </a:lnSpc>
                        <a:spcBef>
                          <a:spcPts val="0"/>
                        </a:spcBef>
                        <a:spcAft>
                          <a:spcPts val="0"/>
                        </a:spcAft>
                      </a:pPr>
                      <a:endParaRPr lang="ko-KR" altLang="en-US" sz="1100" kern="1200" dirty="0">
                        <a:solidFill>
                          <a:schemeClr val="tx2"/>
                        </a:solidFill>
                        <a:latin typeface="+mn-lt"/>
                        <a:ea typeface="+mn-ea"/>
                        <a:cs typeface="+mn-cs"/>
                      </a:endParaRPr>
                    </a:p>
                  </a:txBody>
                  <a:tcPr marL="64770" marR="64770" marT="17907" marB="17907" anchor="ctr"/>
                </a:tc>
                <a:tc>
                  <a:txBody>
                    <a:bodyPr/>
                    <a:lstStyle/>
                    <a:p>
                      <a:pPr marL="0" marR="0" indent="0" algn="ctr" fontAlgn="base" latinLnBrk="0">
                        <a:lnSpc>
                          <a:spcPct val="130000"/>
                        </a:lnSpc>
                        <a:spcBef>
                          <a:spcPts val="0"/>
                        </a:spcBef>
                        <a:spcAft>
                          <a:spcPts val="0"/>
                        </a:spcAft>
                      </a:pPr>
                      <a:r>
                        <a:rPr lang="ko-KR" altLang="en-US" sz="1100" kern="1200"/>
                        <a:t>자유기술의 항변</a:t>
                      </a:r>
                      <a:endParaRPr lang="ko-KR" altLang="en-US" sz="11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100" kern="1200"/>
                        <a:t>인정</a:t>
                      </a:r>
                      <a:endParaRPr lang="ko-KR" altLang="en-US" sz="1100" kern="1200">
                        <a:solidFill>
                          <a:schemeClr val="tx2"/>
                        </a:solidFill>
                        <a:latin typeface="+mn-lt"/>
                        <a:ea typeface="+mn-ea"/>
                        <a:cs typeface="+mn-cs"/>
                      </a:endParaRPr>
                    </a:p>
                  </a:txBody>
                  <a:tcPr marL="64770" marR="64770" marT="17907" marB="17907" anchor="ctr">
                    <a:solidFill>
                      <a:schemeClr val="accent2">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100" kern="1200" dirty="0"/>
                        <a:t>인정</a:t>
                      </a:r>
                      <a:endParaRPr lang="ko-KR" altLang="en-US" sz="1100" kern="1200" dirty="0">
                        <a:solidFill>
                          <a:schemeClr val="tx2"/>
                        </a:solidFill>
                        <a:latin typeface="+mn-lt"/>
                        <a:ea typeface="+mn-ea"/>
                        <a:cs typeface="+mn-cs"/>
                      </a:endParaRPr>
                    </a:p>
                  </a:txBody>
                  <a:tcPr marL="64770" marR="64770" marT="17907" marB="17907" anchor="ctr">
                    <a:solidFill>
                      <a:schemeClr val="accent2">
                        <a:lumMod val="20000"/>
                        <a:lumOff val="80000"/>
                      </a:schemeClr>
                    </a:solidFill>
                  </a:tcPr>
                </a:tc>
                <a:extLst>
                  <a:ext uri="{0D108BD9-81ED-4DB2-BD59-A6C34878D82A}">
                    <a16:rowId xmlns:a16="http://schemas.microsoft.com/office/drawing/2014/main" val="3231881510"/>
                  </a:ext>
                </a:extLst>
              </a:tr>
              <a:tr h="141471">
                <a:tc vMerge="1">
                  <a:txBody>
                    <a:bodyPr/>
                    <a:lstStyle/>
                    <a:p>
                      <a:endParaRPr lang="ko-KR" altLang="en-US" dirty="0"/>
                    </a:p>
                  </a:txBody>
                  <a:tcPr marL="64770" marR="64770" marT="17907" marB="17907" anchor="ctr"/>
                </a:tc>
                <a:tc vMerge="1">
                  <a:txBody>
                    <a:bodyPr/>
                    <a:lstStyle/>
                    <a:p>
                      <a:pPr marL="0" marR="0" indent="0" algn="ctr" fontAlgn="base" latinLnBrk="0">
                        <a:lnSpc>
                          <a:spcPct val="130000"/>
                        </a:lnSpc>
                        <a:spcBef>
                          <a:spcPts val="0"/>
                        </a:spcBef>
                        <a:spcAft>
                          <a:spcPts val="0"/>
                        </a:spcAft>
                      </a:pPr>
                      <a:endParaRPr lang="ko-KR" altLang="en-US" sz="1100" kern="1200" dirty="0">
                        <a:solidFill>
                          <a:schemeClr val="tx2"/>
                        </a:solidFill>
                        <a:latin typeface="+mn-lt"/>
                        <a:ea typeface="+mn-ea"/>
                        <a:cs typeface="+mn-cs"/>
                      </a:endParaRPr>
                    </a:p>
                  </a:txBody>
                  <a:tcPr marL="64770" marR="64770" marT="17907" marB="17907" anchor="ctr"/>
                </a:tc>
                <a:tc>
                  <a:txBody>
                    <a:bodyPr/>
                    <a:lstStyle/>
                    <a:p>
                      <a:pPr marL="0" marR="0" indent="0" algn="ctr" fontAlgn="base" latinLnBrk="0">
                        <a:lnSpc>
                          <a:spcPct val="130000"/>
                        </a:lnSpc>
                        <a:spcBef>
                          <a:spcPts val="0"/>
                        </a:spcBef>
                        <a:spcAft>
                          <a:spcPts val="0"/>
                        </a:spcAft>
                      </a:pPr>
                      <a:r>
                        <a:rPr lang="ko-KR" altLang="en-US" sz="1100" kern="1200"/>
                        <a:t>효력 제한</a:t>
                      </a:r>
                      <a:r>
                        <a:rPr lang="en-US" altLang="ko-KR" sz="1100" kern="1200"/>
                        <a:t>(</a:t>
                      </a:r>
                      <a:r>
                        <a:rPr lang="ko-KR" altLang="en-US" sz="1100" kern="1200"/>
                        <a:t>法 </a:t>
                      </a:r>
                      <a:r>
                        <a:rPr lang="en-US" altLang="ko-KR" sz="1100" kern="1200"/>
                        <a:t>81</a:t>
                      </a:r>
                      <a:r>
                        <a:rPr lang="ko-KR" altLang="en-US" sz="1100" kern="1200"/>
                        <a:t>의</a:t>
                      </a:r>
                      <a:r>
                        <a:rPr lang="en-US" altLang="ko-KR" sz="1100" kern="1200"/>
                        <a:t>3</a:t>
                      </a:r>
                      <a:r>
                        <a:rPr lang="ko-KR" altLang="en-US" sz="1100" kern="1200"/>
                        <a:t>④</a:t>
                      </a:r>
                      <a:r>
                        <a:rPr lang="en-US" altLang="ko-KR" sz="1100" kern="1200"/>
                        <a:t>, 96, 181)</a:t>
                      </a:r>
                      <a:r>
                        <a:rPr lang="ko-KR" altLang="en-US" sz="1100" kern="1200"/>
                        <a:t>의 항변</a:t>
                      </a:r>
                      <a:endParaRPr lang="ko-KR" altLang="en-US" sz="11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100" kern="1200"/>
                        <a:t>인정</a:t>
                      </a:r>
                      <a:endParaRPr lang="ko-KR" altLang="en-US" sz="1100" kern="1200">
                        <a:solidFill>
                          <a:schemeClr val="tx2"/>
                        </a:solidFill>
                        <a:latin typeface="+mn-lt"/>
                        <a:ea typeface="+mn-ea"/>
                        <a:cs typeface="+mn-cs"/>
                      </a:endParaRPr>
                    </a:p>
                  </a:txBody>
                  <a:tcPr marL="64770" marR="64770" marT="17907" marB="17907" anchor="ctr">
                    <a:solidFill>
                      <a:schemeClr val="accent2">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100" kern="1200" dirty="0"/>
                        <a:t>인정</a:t>
                      </a:r>
                      <a:endParaRPr lang="ko-KR" altLang="en-US" sz="1100" kern="1200" dirty="0">
                        <a:solidFill>
                          <a:schemeClr val="tx2"/>
                        </a:solidFill>
                        <a:latin typeface="+mn-lt"/>
                        <a:ea typeface="+mn-ea"/>
                        <a:cs typeface="+mn-cs"/>
                      </a:endParaRPr>
                    </a:p>
                  </a:txBody>
                  <a:tcPr marL="64770" marR="64770" marT="17907" marB="17907" anchor="ctr">
                    <a:solidFill>
                      <a:schemeClr val="accent2">
                        <a:lumMod val="20000"/>
                        <a:lumOff val="80000"/>
                      </a:schemeClr>
                    </a:solidFill>
                  </a:tcPr>
                </a:tc>
                <a:extLst>
                  <a:ext uri="{0D108BD9-81ED-4DB2-BD59-A6C34878D82A}">
                    <a16:rowId xmlns:a16="http://schemas.microsoft.com/office/drawing/2014/main" val="4188823515"/>
                  </a:ext>
                </a:extLst>
              </a:tr>
              <a:tr h="141471">
                <a:tc gridSpan="2">
                  <a:txBody>
                    <a:bodyPr/>
                    <a:lstStyle/>
                    <a:p>
                      <a:pPr marL="0" marR="0" indent="0" algn="ctr" fontAlgn="base" latinLnBrk="0">
                        <a:lnSpc>
                          <a:spcPct val="130000"/>
                        </a:lnSpc>
                        <a:spcBef>
                          <a:spcPts val="0"/>
                        </a:spcBef>
                        <a:spcAft>
                          <a:spcPts val="0"/>
                        </a:spcAft>
                      </a:pPr>
                      <a:r>
                        <a:rPr lang="ko-KR" altLang="en-US" sz="1100" kern="1200" dirty="0">
                          <a:solidFill>
                            <a:schemeClr val="tx2"/>
                          </a:solidFill>
                          <a:latin typeface="+mn-lt"/>
                          <a:ea typeface="+mn-ea"/>
                          <a:cs typeface="+mn-cs"/>
                        </a:rPr>
                        <a:t>조치</a:t>
                      </a:r>
                    </a:p>
                  </a:txBody>
                  <a:tcPr marL="64770" marR="64770" marT="17907" marB="17907" anchor="ctr"/>
                </a:tc>
                <a:tc hMerge="1">
                  <a:txBody>
                    <a:bodyPr/>
                    <a:lstStyle/>
                    <a:p>
                      <a:pPr latinLnBrk="1"/>
                      <a:endParaRPr lang="ko-KR" altLang="en-US"/>
                    </a:p>
                  </a:txBody>
                  <a:tcPr/>
                </a:tc>
                <a:tc>
                  <a:txBody>
                    <a:bodyPr/>
                    <a:lstStyle/>
                    <a:p>
                      <a:pPr marL="0" marR="0" indent="0" algn="ctr" fontAlgn="base" latinLnBrk="0">
                        <a:lnSpc>
                          <a:spcPct val="130000"/>
                        </a:lnSpc>
                        <a:spcBef>
                          <a:spcPts val="0"/>
                        </a:spcBef>
                        <a:spcAft>
                          <a:spcPts val="0"/>
                        </a:spcAft>
                      </a:pPr>
                      <a:r>
                        <a:rPr lang="ko-KR" altLang="en-US" sz="1100" kern="1200"/>
                        <a:t>권리남용의 항변</a:t>
                      </a:r>
                      <a:endParaRPr lang="ko-KR" altLang="en-US" sz="1100" kern="1200">
                        <a:solidFill>
                          <a:schemeClr val="tx2"/>
                        </a:solidFill>
                        <a:latin typeface="+mn-lt"/>
                        <a:ea typeface="+mn-ea"/>
                        <a:cs typeface="+mn-cs"/>
                      </a:endParaRPr>
                    </a:p>
                  </a:txBody>
                  <a:tcPr marL="64770" marR="64770" marT="17907" marB="17907" anchor="ctr"/>
                </a:tc>
                <a:tc>
                  <a:txBody>
                    <a:bodyPr/>
                    <a:lstStyle/>
                    <a:p>
                      <a:pPr marL="17780" marR="17780" indent="0" algn="ctr" fontAlgn="base" latinLnBrk="0">
                        <a:lnSpc>
                          <a:spcPct val="130000"/>
                        </a:lnSpc>
                        <a:spcBef>
                          <a:spcPts val="0"/>
                        </a:spcBef>
                        <a:spcAft>
                          <a:spcPts val="0"/>
                        </a:spcAft>
                      </a:pPr>
                      <a:r>
                        <a:rPr lang="ko-KR" altLang="en-US" sz="1100" kern="1200" dirty="0"/>
                        <a:t>인정</a:t>
                      </a:r>
                      <a:endParaRPr lang="ko-KR" altLang="en-US" sz="1100" kern="1200" dirty="0">
                        <a:solidFill>
                          <a:schemeClr val="tx2"/>
                        </a:solidFill>
                        <a:latin typeface="+mn-lt"/>
                        <a:ea typeface="+mn-ea"/>
                        <a:cs typeface="+mn-cs"/>
                      </a:endParaRPr>
                    </a:p>
                  </a:txBody>
                  <a:tcPr marL="64770" marR="64770" marT="17907" marB="17907" anchor="ctr">
                    <a:solidFill>
                      <a:schemeClr val="accent2">
                        <a:lumMod val="20000"/>
                        <a:lumOff val="80000"/>
                      </a:schemeClr>
                    </a:solidFill>
                  </a:tcPr>
                </a:tc>
                <a:tc>
                  <a:txBody>
                    <a:bodyPr/>
                    <a:lstStyle/>
                    <a:p>
                      <a:pPr marL="17780" marR="17780" indent="0" algn="ctr" fontAlgn="base" latinLnBrk="0">
                        <a:lnSpc>
                          <a:spcPct val="130000"/>
                        </a:lnSpc>
                        <a:spcBef>
                          <a:spcPts val="0"/>
                        </a:spcBef>
                        <a:spcAft>
                          <a:spcPts val="0"/>
                        </a:spcAft>
                      </a:pPr>
                      <a:r>
                        <a:rPr lang="ko-KR" altLang="en-US" sz="1100" kern="1200" dirty="0"/>
                        <a:t>불인정</a:t>
                      </a:r>
                      <a:endParaRPr lang="ko-KR" altLang="en-US" sz="1100" kern="1200" dirty="0">
                        <a:solidFill>
                          <a:schemeClr val="tx2"/>
                        </a:solidFill>
                        <a:latin typeface="+mn-lt"/>
                        <a:ea typeface="+mn-ea"/>
                        <a:cs typeface="+mn-cs"/>
                      </a:endParaRPr>
                    </a:p>
                  </a:txBody>
                  <a:tcPr marL="64770" marR="64770" marT="17907" marB="17907" anchor="ctr"/>
                </a:tc>
                <a:extLst>
                  <a:ext uri="{0D108BD9-81ED-4DB2-BD59-A6C34878D82A}">
                    <a16:rowId xmlns:a16="http://schemas.microsoft.com/office/drawing/2014/main" val="2939115352"/>
                  </a:ext>
                </a:extLst>
              </a:tr>
            </a:tbl>
          </a:graphicData>
        </a:graphic>
      </p:graphicFrame>
    </p:spTree>
    <p:extLst>
      <p:ext uri="{BB962C8B-B14F-4D97-AF65-F5344CB8AC3E}">
        <p14:creationId xmlns:p14="http://schemas.microsoft.com/office/powerpoint/2010/main" val="939454590"/>
      </p:ext>
    </p:extLst>
  </p:cSld>
  <p:clrMapOvr>
    <a:masterClrMapping/>
  </p:clrMapOvr>
  <p:transition/>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136</a:t>
            </a:r>
            <a:r>
              <a:rPr lang="ko-KR" altLang="en-US" dirty="0"/>
              <a:t>조</a:t>
            </a:r>
          </a:p>
        </p:txBody>
      </p:sp>
      <p:sp>
        <p:nvSpPr>
          <p:cNvPr id="4" name="텍스트 개체 틀 3"/>
          <p:cNvSpPr>
            <a:spLocks noGrp="1"/>
          </p:cNvSpPr>
          <p:nvPr>
            <p:ph type="body" sz="quarter" idx="13"/>
          </p:nvPr>
        </p:nvSpPr>
        <p:spPr/>
        <p:txBody>
          <a:bodyPr>
            <a:normAutofit/>
          </a:bodyPr>
          <a:lstStyle/>
          <a:p>
            <a:r>
              <a:rPr lang="ko-KR" altLang="en-US" dirty="0"/>
              <a:t>청구범위의 감축과 실질적 변경</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48" name="직선 연결선 47"/>
          <p:cNvCxnSpPr/>
          <p:nvPr/>
        </p:nvCxnSpPr>
        <p:spPr>
          <a:xfrm>
            <a:off x="77875" y="172171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77875" y="976902"/>
            <a:ext cx="11936323" cy="738664"/>
          </a:xfrm>
          <a:prstGeom prst="rect">
            <a:avLst/>
          </a:prstGeom>
          <a:noFill/>
        </p:spPr>
        <p:txBody>
          <a:bodyPr wrap="square" rtlCol="0">
            <a:spAutoFit/>
          </a:bodyPr>
          <a:lstStyle/>
          <a:p>
            <a:pPr fontAlgn="base"/>
            <a:r>
              <a:rPr lang="ko-KR" altLang="en-US" sz="1400" dirty="0">
                <a:solidFill>
                  <a:schemeClr val="tx2"/>
                </a:solidFill>
              </a:rPr>
              <a:t>청구범위의 감축이란 </a:t>
            </a:r>
            <a:r>
              <a:rPr lang="ko-KR" altLang="en-US" sz="1400" dirty="0" err="1">
                <a:solidFill>
                  <a:schemeClr val="tx2"/>
                </a:solidFill>
              </a:rPr>
              <a:t>청구항을</a:t>
            </a:r>
            <a:r>
              <a:rPr lang="ko-KR" altLang="en-US" sz="1400" dirty="0">
                <a:solidFill>
                  <a:schemeClr val="tx2"/>
                </a:solidFill>
              </a:rPr>
              <a:t> 삭제하거나 </a:t>
            </a:r>
            <a:r>
              <a:rPr lang="ko-KR" altLang="en-US" sz="1400" dirty="0" err="1">
                <a:solidFill>
                  <a:schemeClr val="tx2"/>
                </a:solidFill>
              </a:rPr>
              <a:t>청구항을</a:t>
            </a:r>
            <a:r>
              <a:rPr lang="ko-KR" altLang="en-US" sz="1400" dirty="0">
                <a:solidFill>
                  <a:schemeClr val="tx2"/>
                </a:solidFill>
              </a:rPr>
              <a:t> 한정 또는 부가하는 경우를 말한다</a:t>
            </a:r>
            <a:r>
              <a:rPr lang="en-US" altLang="ko-KR" sz="1400" dirty="0">
                <a:solidFill>
                  <a:schemeClr val="tx2"/>
                </a:solidFill>
              </a:rPr>
              <a:t>. </a:t>
            </a:r>
            <a:r>
              <a:rPr lang="ko-KR" altLang="en-US" sz="1400" dirty="0" err="1">
                <a:solidFill>
                  <a:schemeClr val="tx2"/>
                </a:solidFill>
              </a:rPr>
              <a:t>청구항을</a:t>
            </a:r>
            <a:r>
              <a:rPr lang="ko-KR" altLang="en-US" sz="1400" dirty="0">
                <a:solidFill>
                  <a:schemeClr val="tx2"/>
                </a:solidFill>
              </a:rPr>
              <a:t> 삭제하는 경우는 실질적 변경이 아니지만</a:t>
            </a:r>
            <a:r>
              <a:rPr lang="en-US" altLang="ko-KR" sz="1400" dirty="0">
                <a:solidFill>
                  <a:schemeClr val="tx2"/>
                </a:solidFill>
              </a:rPr>
              <a:t>, </a:t>
            </a:r>
            <a:r>
              <a:rPr lang="ko-KR" altLang="en-US" sz="1400" dirty="0" err="1">
                <a:solidFill>
                  <a:schemeClr val="tx2"/>
                </a:solidFill>
              </a:rPr>
              <a:t>청구항을</a:t>
            </a:r>
            <a:r>
              <a:rPr lang="ko-KR" altLang="en-US" sz="1400" dirty="0">
                <a:solidFill>
                  <a:schemeClr val="tx2"/>
                </a:solidFill>
              </a:rPr>
              <a:t> 한정</a:t>
            </a:r>
            <a:r>
              <a:rPr lang="en-US" altLang="ko-KR" sz="1400" dirty="0">
                <a:solidFill>
                  <a:schemeClr val="tx2"/>
                </a:solidFill>
              </a:rPr>
              <a:t>(</a:t>
            </a:r>
            <a:r>
              <a:rPr lang="ko-KR" altLang="en-US" sz="1400" dirty="0">
                <a:solidFill>
                  <a:schemeClr val="tx2"/>
                </a:solidFill>
              </a:rPr>
              <a:t>상위개념의 기재를 하위개념의 기재로 변경하는 </a:t>
            </a:r>
            <a:r>
              <a:rPr lang="ko-KR" altLang="en-US" sz="1400" dirty="0" err="1">
                <a:solidFill>
                  <a:schemeClr val="tx2"/>
                </a:solidFill>
              </a:rPr>
              <a:t>내적부가</a:t>
            </a:r>
            <a:r>
              <a:rPr lang="en-US" altLang="ko-KR" sz="1400" dirty="0">
                <a:solidFill>
                  <a:schemeClr val="tx2"/>
                </a:solidFill>
              </a:rPr>
              <a:t>) </a:t>
            </a:r>
            <a:r>
              <a:rPr lang="ko-KR" altLang="en-US" sz="1400" dirty="0">
                <a:solidFill>
                  <a:schemeClr val="tx2"/>
                </a:solidFill>
              </a:rPr>
              <a:t>또는 부가</a:t>
            </a:r>
            <a:r>
              <a:rPr lang="en-US" altLang="ko-KR" sz="1400" dirty="0">
                <a:solidFill>
                  <a:schemeClr val="tx2"/>
                </a:solidFill>
              </a:rPr>
              <a:t>(</a:t>
            </a:r>
            <a:r>
              <a:rPr lang="ko-KR" altLang="en-US" sz="1400" dirty="0">
                <a:solidFill>
                  <a:schemeClr val="tx2"/>
                </a:solidFill>
              </a:rPr>
              <a:t>구성요소의 </a:t>
            </a:r>
            <a:r>
              <a:rPr lang="ko-KR" altLang="en-US" sz="1400" dirty="0" err="1">
                <a:solidFill>
                  <a:schemeClr val="tx2"/>
                </a:solidFill>
              </a:rPr>
              <a:t>직렬적</a:t>
            </a:r>
            <a:r>
              <a:rPr lang="ko-KR" altLang="en-US" sz="1400" dirty="0">
                <a:solidFill>
                  <a:schemeClr val="tx2"/>
                </a:solidFill>
              </a:rPr>
              <a:t> 부가인 </a:t>
            </a:r>
            <a:r>
              <a:rPr lang="ko-KR" altLang="en-US" sz="1400" dirty="0" err="1">
                <a:solidFill>
                  <a:schemeClr val="tx2"/>
                </a:solidFill>
              </a:rPr>
              <a:t>외적부가</a:t>
            </a:r>
            <a:r>
              <a:rPr lang="en-US" altLang="ko-KR" sz="1400" dirty="0">
                <a:solidFill>
                  <a:schemeClr val="tx2"/>
                </a:solidFill>
              </a:rPr>
              <a:t>)</a:t>
            </a:r>
            <a:r>
              <a:rPr lang="ko-KR" altLang="en-US" sz="1400" dirty="0">
                <a:solidFill>
                  <a:schemeClr val="tx2"/>
                </a:solidFill>
              </a:rPr>
              <a:t>하는 경우는 </a:t>
            </a:r>
            <a:r>
              <a:rPr lang="ko-KR" altLang="en-US" sz="1400" dirty="0">
                <a:solidFill>
                  <a:schemeClr val="accent3">
                    <a:lumMod val="50000"/>
                  </a:schemeClr>
                </a:solidFill>
                <a:highlight>
                  <a:srgbClr val="FFFF00"/>
                </a:highlight>
              </a:rPr>
              <a:t>청구범위의 감축일지라도 새로운 목적 및 효과를 갖게 되어 실질적 변경에 해당한다면</a:t>
            </a:r>
            <a:r>
              <a:rPr lang="ko-KR" altLang="en-US" sz="1400" dirty="0">
                <a:solidFill>
                  <a:srgbClr val="FF0000"/>
                </a:solidFill>
              </a:rPr>
              <a:t> </a:t>
            </a:r>
            <a:r>
              <a:rPr lang="ko-KR" altLang="en-US" sz="1400" dirty="0">
                <a:solidFill>
                  <a:schemeClr val="tx2"/>
                </a:solidFill>
              </a:rPr>
              <a:t>정정을 허용할 수 없다</a:t>
            </a:r>
            <a:r>
              <a:rPr lang="en-US" altLang="ko-KR" sz="1400" dirty="0">
                <a:solidFill>
                  <a:schemeClr val="tx2"/>
                </a:solidFill>
              </a:rPr>
              <a:t>. </a:t>
            </a:r>
            <a:endParaRPr lang="ko-KR" altLang="en-US" sz="1400" dirty="0">
              <a:solidFill>
                <a:schemeClr val="tx2"/>
              </a:solidFill>
            </a:endParaRPr>
          </a:p>
        </p:txBody>
      </p:sp>
      <p:graphicFrame>
        <p:nvGraphicFramePr>
          <p:cNvPr id="5" name="표 4"/>
          <p:cNvGraphicFramePr>
            <a:graphicFrameLocks noGrp="1"/>
          </p:cNvGraphicFramePr>
          <p:nvPr/>
        </p:nvGraphicFramePr>
        <p:xfrm>
          <a:off x="578104" y="2808571"/>
          <a:ext cx="8483600" cy="1868088"/>
        </p:xfrm>
        <a:graphic>
          <a:graphicData uri="http://schemas.openxmlformats.org/drawingml/2006/table">
            <a:tbl>
              <a:tblPr>
                <a:tableStyleId>{8799B23B-EC83-4686-B30A-512413B5E67A}</a:tableStyleId>
              </a:tblPr>
              <a:tblGrid>
                <a:gridCol w="2120900">
                  <a:extLst>
                    <a:ext uri="{9D8B030D-6E8A-4147-A177-3AD203B41FA5}">
                      <a16:colId xmlns:a16="http://schemas.microsoft.com/office/drawing/2014/main" val="976022739"/>
                    </a:ext>
                  </a:extLst>
                </a:gridCol>
                <a:gridCol w="2120900">
                  <a:extLst>
                    <a:ext uri="{9D8B030D-6E8A-4147-A177-3AD203B41FA5}">
                      <a16:colId xmlns:a16="http://schemas.microsoft.com/office/drawing/2014/main" val="3657432926"/>
                    </a:ext>
                  </a:extLst>
                </a:gridCol>
                <a:gridCol w="2120900">
                  <a:extLst>
                    <a:ext uri="{9D8B030D-6E8A-4147-A177-3AD203B41FA5}">
                      <a16:colId xmlns:a16="http://schemas.microsoft.com/office/drawing/2014/main" val="3210821213"/>
                    </a:ext>
                  </a:extLst>
                </a:gridCol>
                <a:gridCol w="2120900">
                  <a:extLst>
                    <a:ext uri="{9D8B030D-6E8A-4147-A177-3AD203B41FA5}">
                      <a16:colId xmlns:a16="http://schemas.microsoft.com/office/drawing/2014/main" val="3616854365"/>
                    </a:ext>
                  </a:extLst>
                </a:gridCol>
              </a:tblGrid>
              <a:tr h="467022">
                <a:tc gridSpan="2">
                  <a:txBody>
                    <a:bodyPr/>
                    <a:lstStyle/>
                    <a:p>
                      <a:pPr algn="ctr" latinLnBrk="1"/>
                      <a:r>
                        <a:rPr lang="ko-KR" altLang="en-US" dirty="0"/>
                        <a:t>청구범위의 감축</a:t>
                      </a:r>
                    </a:p>
                  </a:txBody>
                  <a:tcPr anchor="ctr">
                    <a:solidFill>
                      <a:schemeClr val="accent1">
                        <a:lumMod val="20000"/>
                        <a:lumOff val="80000"/>
                      </a:schemeClr>
                    </a:solidFill>
                  </a:tcPr>
                </a:tc>
                <a:tc hMerge="1">
                  <a:txBody>
                    <a:bodyPr/>
                    <a:lstStyle/>
                    <a:p>
                      <a:pPr algn="ctr" latinLnBrk="1"/>
                      <a:endParaRPr lang="ko-KR" altLang="en-US" dirty="0"/>
                    </a:p>
                  </a:txBody>
                  <a:tcPr anchor="ctr"/>
                </a:tc>
                <a:tc>
                  <a:txBody>
                    <a:bodyPr/>
                    <a:lstStyle/>
                    <a:p>
                      <a:pPr algn="ctr" latinLnBrk="1"/>
                      <a:r>
                        <a:rPr lang="ko-KR" altLang="en-US" dirty="0"/>
                        <a:t>원칙</a:t>
                      </a:r>
                    </a:p>
                  </a:txBody>
                  <a:tcPr anchor="ctr">
                    <a:solidFill>
                      <a:schemeClr val="accent1">
                        <a:lumMod val="20000"/>
                        <a:lumOff val="80000"/>
                      </a:schemeClr>
                    </a:solidFill>
                  </a:tcPr>
                </a:tc>
                <a:tc>
                  <a:txBody>
                    <a:bodyPr/>
                    <a:lstStyle/>
                    <a:p>
                      <a:pPr algn="ctr" latinLnBrk="1"/>
                      <a:r>
                        <a:rPr lang="ko-KR" altLang="en-US" dirty="0"/>
                        <a:t>예외</a:t>
                      </a:r>
                    </a:p>
                  </a:txBody>
                  <a:tcPr anchor="ctr">
                    <a:solidFill>
                      <a:schemeClr val="accent1">
                        <a:lumMod val="20000"/>
                        <a:lumOff val="80000"/>
                      </a:schemeClr>
                    </a:solidFill>
                  </a:tcPr>
                </a:tc>
                <a:extLst>
                  <a:ext uri="{0D108BD9-81ED-4DB2-BD59-A6C34878D82A}">
                    <a16:rowId xmlns:a16="http://schemas.microsoft.com/office/drawing/2014/main" val="772489548"/>
                  </a:ext>
                </a:extLst>
              </a:tr>
              <a:tr h="467022">
                <a:tc gridSpan="2">
                  <a:txBody>
                    <a:bodyPr/>
                    <a:lstStyle/>
                    <a:p>
                      <a:pPr algn="ctr" latinLnBrk="1"/>
                      <a:r>
                        <a:rPr lang="ko-KR" altLang="en-US" dirty="0" err="1"/>
                        <a:t>청구항</a:t>
                      </a:r>
                      <a:r>
                        <a:rPr lang="ko-KR" altLang="en-US" dirty="0"/>
                        <a:t> 삭제</a:t>
                      </a:r>
                    </a:p>
                  </a:txBody>
                  <a:tcPr anchor="ctr"/>
                </a:tc>
                <a:tc hMerge="1">
                  <a:txBody>
                    <a:bodyPr/>
                    <a:lstStyle/>
                    <a:p>
                      <a:pPr algn="ctr" latinLnBrk="1"/>
                      <a:endParaRPr lang="ko-KR" altLang="en-US" dirty="0"/>
                    </a:p>
                  </a:txBody>
                  <a:tcPr anchor="ctr"/>
                </a:tc>
                <a:tc>
                  <a:txBody>
                    <a:bodyPr/>
                    <a:lstStyle/>
                    <a:p>
                      <a:pPr algn="ctr" latinLnBrk="1"/>
                      <a:r>
                        <a:rPr lang="ko-KR" altLang="en-US" dirty="0"/>
                        <a:t>실질적 변경</a:t>
                      </a:r>
                      <a:r>
                        <a:rPr lang="en-US" altLang="ko-KR" dirty="0"/>
                        <a:t>×</a:t>
                      </a:r>
                      <a:endParaRPr lang="ko-KR" altLang="en-US" dirty="0"/>
                    </a:p>
                  </a:txBody>
                  <a:tcPr anchor="ctr"/>
                </a:tc>
                <a:tc>
                  <a:txBody>
                    <a:bodyPr/>
                    <a:lstStyle/>
                    <a:p>
                      <a:pPr algn="ctr" latinLnBrk="1"/>
                      <a:r>
                        <a:rPr lang="en-US" altLang="ko-KR" dirty="0"/>
                        <a:t>-</a:t>
                      </a:r>
                      <a:endParaRPr lang="ko-KR" altLang="en-US" dirty="0"/>
                    </a:p>
                  </a:txBody>
                  <a:tcPr anchor="ctr"/>
                </a:tc>
                <a:extLst>
                  <a:ext uri="{0D108BD9-81ED-4DB2-BD59-A6C34878D82A}">
                    <a16:rowId xmlns:a16="http://schemas.microsoft.com/office/drawing/2014/main" val="2932386654"/>
                  </a:ext>
                </a:extLst>
              </a:tr>
              <a:tr h="467022">
                <a:tc rowSpan="2">
                  <a:txBody>
                    <a:bodyPr/>
                    <a:lstStyle/>
                    <a:p>
                      <a:pPr algn="ctr" latinLnBrk="1"/>
                      <a:r>
                        <a:rPr lang="ko-KR" altLang="en-US" dirty="0" err="1"/>
                        <a:t>청구항</a:t>
                      </a:r>
                      <a:r>
                        <a:rPr lang="ko-KR" altLang="en-US" dirty="0"/>
                        <a:t> 범위 축소</a:t>
                      </a:r>
                    </a:p>
                  </a:txBody>
                  <a:tcPr anchor="ctr"/>
                </a:tc>
                <a:tc>
                  <a:txBody>
                    <a:bodyPr/>
                    <a:lstStyle/>
                    <a:p>
                      <a:pPr algn="ctr" latinLnBrk="1"/>
                      <a:r>
                        <a:rPr lang="ko-KR" altLang="en-US" dirty="0"/>
                        <a:t>한정</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dirty="0"/>
                        <a:t>실질적 변경</a:t>
                      </a:r>
                      <a:r>
                        <a:rPr lang="en-US" altLang="ko-KR" dirty="0"/>
                        <a:t>×</a:t>
                      </a:r>
                      <a:endParaRPr lang="ko-KR" altLang="en-US"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dirty="0"/>
                        <a:t>실질적 변경○</a:t>
                      </a:r>
                    </a:p>
                  </a:txBody>
                  <a:tcPr anchor="ctr"/>
                </a:tc>
                <a:extLst>
                  <a:ext uri="{0D108BD9-81ED-4DB2-BD59-A6C34878D82A}">
                    <a16:rowId xmlns:a16="http://schemas.microsoft.com/office/drawing/2014/main" val="269350130"/>
                  </a:ext>
                </a:extLst>
              </a:tr>
              <a:tr h="467022">
                <a:tc vMerge="1">
                  <a:txBody>
                    <a:bodyPr/>
                    <a:lstStyle/>
                    <a:p>
                      <a:pPr algn="ctr" latinLnBrk="1"/>
                      <a:endParaRPr lang="ko-KR" altLang="en-US" dirty="0"/>
                    </a:p>
                  </a:txBody>
                  <a:tcPr anchor="ctr"/>
                </a:tc>
                <a:tc>
                  <a:txBody>
                    <a:bodyPr/>
                    <a:lstStyle/>
                    <a:p>
                      <a:pPr algn="ctr" latinLnBrk="1"/>
                      <a:r>
                        <a:rPr lang="ko-KR" altLang="en-US" dirty="0"/>
                        <a:t>부가</a:t>
                      </a:r>
                    </a:p>
                  </a:txBody>
                  <a:tcPr anchor="ctr"/>
                </a:tc>
                <a:tc>
                  <a:txBody>
                    <a:bodyPr/>
                    <a:lstStyle/>
                    <a:p>
                      <a:pPr algn="ctr" latinLnBrk="1"/>
                      <a:r>
                        <a:rPr lang="ko-KR" altLang="en-US" dirty="0"/>
                        <a:t>실질적 변경○</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dirty="0"/>
                        <a:t>실질적 변경</a:t>
                      </a:r>
                      <a:r>
                        <a:rPr lang="en-US" altLang="ko-KR" dirty="0"/>
                        <a:t>×</a:t>
                      </a:r>
                      <a:endParaRPr lang="ko-KR" altLang="en-US" dirty="0"/>
                    </a:p>
                  </a:txBody>
                  <a:tcPr anchor="ctr"/>
                </a:tc>
                <a:extLst>
                  <a:ext uri="{0D108BD9-81ED-4DB2-BD59-A6C34878D82A}">
                    <a16:rowId xmlns:a16="http://schemas.microsoft.com/office/drawing/2014/main" val="1131021112"/>
                  </a:ext>
                </a:extLst>
              </a:tr>
            </a:tbl>
          </a:graphicData>
        </a:graphic>
      </p:graphicFrame>
      <p:sp>
        <p:nvSpPr>
          <p:cNvPr id="7" name="모서리가 둥근 직사각형 6"/>
          <p:cNvSpPr/>
          <p:nvPr/>
        </p:nvSpPr>
        <p:spPr>
          <a:xfrm>
            <a:off x="4700016" y="3241049"/>
            <a:ext cx="4521859" cy="1517904"/>
          </a:xfrm>
          <a:prstGeom prst="roundRect">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0" name="직선 화살표 연결선 9"/>
          <p:cNvCxnSpPr>
            <a:stCxn id="7" idx="2"/>
          </p:cNvCxnSpPr>
          <p:nvPr/>
        </p:nvCxnSpPr>
        <p:spPr>
          <a:xfrm>
            <a:off x="6960946" y="4758953"/>
            <a:ext cx="6782" cy="612648"/>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4353507" y="5371601"/>
            <a:ext cx="5214889" cy="523220"/>
          </a:xfrm>
          <a:prstGeom prst="rect">
            <a:avLst/>
          </a:prstGeom>
          <a:noFill/>
          <a:ln>
            <a:noFill/>
          </a:ln>
        </p:spPr>
        <p:txBody>
          <a:bodyPr wrap="none" rtlCol="0">
            <a:spAutoFit/>
          </a:bodyPr>
          <a:lstStyle/>
          <a:p>
            <a:pPr algn="ctr"/>
            <a:r>
              <a:rPr lang="ko-KR" altLang="en-US" sz="2800" dirty="0">
                <a:solidFill>
                  <a:srgbClr val="FF0000"/>
                </a:solidFill>
              </a:rPr>
              <a:t>새로운 목적 및 효과를 갖는지 여부</a:t>
            </a:r>
            <a:endParaRPr lang="en-US" altLang="ko-KR" sz="2800" dirty="0">
              <a:solidFill>
                <a:srgbClr val="FF0000"/>
              </a:solidFill>
            </a:endParaRPr>
          </a:p>
        </p:txBody>
      </p:sp>
      <p:sp>
        <p:nvSpPr>
          <p:cNvPr id="12" name="모서리가 둥근 사각형 설명선 11"/>
          <p:cNvSpPr/>
          <p:nvPr/>
        </p:nvSpPr>
        <p:spPr>
          <a:xfrm>
            <a:off x="9440190" y="3916134"/>
            <a:ext cx="2450379" cy="738664"/>
          </a:xfrm>
          <a:prstGeom prst="wedgeRoundRectCallout">
            <a:avLst>
              <a:gd name="adj1" fmla="val -76793"/>
              <a:gd name="adj2" fmla="val -40988"/>
              <a:gd name="adj3" fmla="val 16667"/>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just" fontAlgn="base" latinLnBrk="1">
              <a:spcBef>
                <a:spcPts val="0"/>
              </a:spcBef>
              <a:spcAft>
                <a:spcPts val="0"/>
              </a:spcAft>
            </a:pPr>
            <a:r>
              <a:rPr lang="ko-KR" altLang="en-US" sz="1200" kern="0" spc="-60" dirty="0">
                <a:solidFill>
                  <a:srgbClr val="000000"/>
                </a:solidFill>
                <a:effectLst/>
                <a:latin typeface="+mn-ea"/>
              </a:rPr>
              <a:t>선택발명이 되어 특허성을 가지게 되고 또 그 하위개념의 발명이 특허명세서에 기재가 되어 있지 아니한 경우</a:t>
            </a:r>
          </a:p>
        </p:txBody>
      </p:sp>
    </p:spTree>
    <p:extLst>
      <p:ext uri="{BB962C8B-B14F-4D97-AF65-F5344CB8AC3E}">
        <p14:creationId xmlns:p14="http://schemas.microsoft.com/office/powerpoint/2010/main" val="2794205956"/>
      </p:ext>
    </p:extLst>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136</a:t>
            </a:r>
            <a:r>
              <a:rPr lang="ko-KR" altLang="en-US" dirty="0"/>
              <a:t>조</a:t>
            </a:r>
            <a:endParaRPr lang="ko-KR" altLang="en-US" sz="3600" dirty="0"/>
          </a:p>
        </p:txBody>
      </p:sp>
      <p:sp>
        <p:nvSpPr>
          <p:cNvPr id="4" name="텍스트 개체 틀 3"/>
          <p:cNvSpPr>
            <a:spLocks noGrp="1"/>
          </p:cNvSpPr>
          <p:nvPr>
            <p:ph type="body" sz="quarter" idx="13"/>
          </p:nvPr>
        </p:nvSpPr>
        <p:spPr/>
        <p:txBody>
          <a:bodyPr>
            <a:normAutofit/>
          </a:bodyPr>
          <a:lstStyle/>
          <a:p>
            <a:pPr fontAlgn="base" latinLnBrk="0"/>
            <a:r>
              <a:rPr lang="ko-KR" altLang="en-US" sz="2400" dirty="0"/>
              <a:t>제</a:t>
            </a:r>
            <a:r>
              <a:rPr lang="en-US" altLang="ko-KR" sz="2400" dirty="0"/>
              <a:t>136</a:t>
            </a:r>
            <a:r>
              <a:rPr lang="ko-KR" altLang="en-US" sz="2400" dirty="0"/>
              <a:t>조제</a:t>
            </a:r>
            <a:r>
              <a:rPr lang="en-US" altLang="ko-KR" sz="2400" dirty="0"/>
              <a:t>1</a:t>
            </a:r>
            <a:r>
              <a:rPr lang="ko-KR" altLang="en-US" sz="2400" dirty="0" err="1"/>
              <a:t>항제</a:t>
            </a:r>
            <a:r>
              <a:rPr lang="en-US" altLang="ko-KR" sz="2400" dirty="0"/>
              <a:t>3</a:t>
            </a:r>
            <a:r>
              <a:rPr lang="ko-KR" altLang="en-US" sz="2400" dirty="0"/>
              <a:t>호의 </a:t>
            </a:r>
            <a:r>
              <a:rPr lang="en-US" altLang="ko-KR" sz="2400" dirty="0"/>
              <a:t>CASE: </a:t>
            </a:r>
            <a:r>
              <a:rPr lang="ko-KR" altLang="en-US" sz="2400"/>
              <a:t>열 저장 </a:t>
            </a:r>
            <a:r>
              <a:rPr lang="ko-KR" altLang="en-US" sz="2400" dirty="0"/>
              <a:t>팀 사건</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25" name="직선 연결선 24">
            <a:extLst>
              <a:ext uri="{FF2B5EF4-FFF2-40B4-BE49-F238E27FC236}">
                <a16:creationId xmlns:a16="http://schemas.microsoft.com/office/drawing/2014/main" id="{7672B6BB-2D77-4E43-8B42-06D030FA91F0}"/>
              </a:ext>
            </a:extLst>
          </p:cNvPr>
          <p:cNvCxnSpPr>
            <a:cxnSpLocks/>
          </p:cNvCxnSpPr>
          <p:nvPr/>
        </p:nvCxnSpPr>
        <p:spPr>
          <a:xfrm>
            <a:off x="0" y="2779114"/>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직사각형 25">
            <a:extLst>
              <a:ext uri="{FF2B5EF4-FFF2-40B4-BE49-F238E27FC236}">
                <a16:creationId xmlns:a16="http://schemas.microsoft.com/office/drawing/2014/main" id="{635ED18D-A35C-4094-A735-ACF778B95324}"/>
              </a:ext>
            </a:extLst>
          </p:cNvPr>
          <p:cNvSpPr/>
          <p:nvPr/>
        </p:nvSpPr>
        <p:spPr>
          <a:xfrm>
            <a:off x="232372" y="1357007"/>
            <a:ext cx="11681987" cy="1384995"/>
          </a:xfrm>
          <a:prstGeom prst="rect">
            <a:avLst/>
          </a:prstGeom>
        </p:spPr>
        <p:txBody>
          <a:bodyPr wrap="square">
            <a:spAutoFit/>
          </a:bodyPr>
          <a:lstStyle/>
          <a:p>
            <a:pPr algn="just" fontAlgn="base"/>
            <a:r>
              <a:rPr lang="ko-KR" altLang="en-US" sz="1400" dirty="0"/>
              <a:t>구 특허법</a:t>
            </a:r>
            <a:r>
              <a:rPr lang="en-US" altLang="ko-KR" sz="1400" dirty="0"/>
              <a:t>(2009. 1. 30. </a:t>
            </a:r>
            <a:r>
              <a:rPr lang="ko-KR" altLang="en-US" sz="1400" dirty="0"/>
              <a:t>법률 제</a:t>
            </a:r>
            <a:r>
              <a:rPr lang="en-US" altLang="ko-KR" sz="1400" dirty="0"/>
              <a:t>9381</a:t>
            </a:r>
            <a:r>
              <a:rPr lang="ko-KR" altLang="en-US" sz="1400" dirty="0"/>
              <a:t>호로 개정되기 전의 것</a:t>
            </a:r>
            <a:r>
              <a:rPr lang="en-US" altLang="ko-KR" sz="1400" dirty="0"/>
              <a:t>) </a:t>
            </a:r>
            <a:r>
              <a:rPr lang="ko-KR" altLang="en-US" sz="1400" dirty="0"/>
              <a:t>제</a:t>
            </a:r>
            <a:r>
              <a:rPr lang="en-US" altLang="ko-KR" sz="1400" dirty="0"/>
              <a:t>133</a:t>
            </a:r>
            <a:r>
              <a:rPr lang="ko-KR" altLang="en-US" sz="1400" dirty="0"/>
              <a:t>조의</a:t>
            </a:r>
            <a:r>
              <a:rPr lang="en-US" altLang="ko-KR" sz="1400" dirty="0"/>
              <a:t>2, </a:t>
            </a:r>
            <a:r>
              <a:rPr lang="ko-KR" altLang="en-US" sz="1400" dirty="0"/>
              <a:t>제</a:t>
            </a:r>
            <a:r>
              <a:rPr lang="en-US" altLang="ko-KR" sz="1400" dirty="0"/>
              <a:t>136</a:t>
            </a:r>
            <a:r>
              <a:rPr lang="ko-KR" altLang="en-US" sz="1400" dirty="0"/>
              <a:t>조 제</a:t>
            </a:r>
            <a:r>
              <a:rPr lang="en-US" altLang="ko-KR" sz="1400" dirty="0"/>
              <a:t>3</a:t>
            </a:r>
            <a:r>
              <a:rPr lang="ko-KR" altLang="en-US" sz="1400" dirty="0"/>
              <a:t>항의 규정 취지에 비추어 보면</a:t>
            </a:r>
            <a:r>
              <a:rPr lang="en-US" altLang="ko-KR" sz="1400" dirty="0"/>
              <a:t>, </a:t>
            </a:r>
            <a:r>
              <a:rPr lang="ko-KR" altLang="en-US" sz="1400" dirty="0">
                <a:solidFill>
                  <a:schemeClr val="accent3">
                    <a:lumMod val="50000"/>
                  </a:schemeClr>
                </a:solidFill>
                <a:highlight>
                  <a:srgbClr val="FFFF00"/>
                </a:highlight>
              </a:rPr>
              <a:t>오류의 정정에는 </a:t>
            </a:r>
            <a:r>
              <a:rPr lang="en-US" altLang="ko-KR" sz="1400" dirty="0">
                <a:solidFill>
                  <a:schemeClr val="accent3">
                    <a:lumMod val="50000"/>
                  </a:schemeClr>
                </a:solidFill>
                <a:highlight>
                  <a:srgbClr val="FFFF00"/>
                </a:highlight>
              </a:rPr>
              <a:t>1) </a:t>
            </a:r>
            <a:r>
              <a:rPr lang="ko-KR" altLang="en-US" sz="1400" dirty="0">
                <a:solidFill>
                  <a:schemeClr val="accent3">
                    <a:lumMod val="50000"/>
                  </a:schemeClr>
                </a:solidFill>
                <a:highlight>
                  <a:srgbClr val="FFFF00"/>
                </a:highlight>
              </a:rPr>
              <a:t>청구범위에 관한 기재 자체가 명료하지 아니한 경우 그 의미를 명확하게 하든가 기재상의 불비를 해소하는 것 및 </a:t>
            </a:r>
            <a:r>
              <a:rPr lang="en-US" altLang="ko-KR" sz="1400" dirty="0">
                <a:solidFill>
                  <a:schemeClr val="accent3">
                    <a:lumMod val="50000"/>
                  </a:schemeClr>
                </a:solidFill>
                <a:highlight>
                  <a:srgbClr val="FFFF00"/>
                </a:highlight>
              </a:rPr>
              <a:t>2) </a:t>
            </a:r>
            <a:r>
              <a:rPr lang="ko-KR" altLang="en-US" sz="1400" dirty="0">
                <a:solidFill>
                  <a:schemeClr val="accent3">
                    <a:lumMod val="50000"/>
                  </a:schemeClr>
                </a:solidFill>
                <a:highlight>
                  <a:srgbClr val="FFFF00"/>
                </a:highlight>
              </a:rPr>
              <a:t>발명의 설명과 청구범위가 일치하지 아니하거나 모순이 있는 경우 이를 통일하여 모순이 없게 하는 것</a:t>
            </a:r>
            <a:r>
              <a:rPr lang="ko-KR" altLang="en-US" sz="1400" dirty="0"/>
              <a:t> 등이 포함된다고 해석된다</a:t>
            </a:r>
            <a:r>
              <a:rPr lang="en-US" altLang="ko-KR" sz="1400" dirty="0"/>
              <a:t>(</a:t>
            </a:r>
            <a:r>
              <a:rPr lang="ko-KR" altLang="en-US" sz="1400" dirty="0"/>
              <a:t>대법원 </a:t>
            </a:r>
            <a:r>
              <a:rPr lang="en-US" altLang="ko-KR" sz="1400" dirty="0"/>
              <a:t>2006. 7. 28. </a:t>
            </a:r>
            <a:r>
              <a:rPr lang="ko-KR" altLang="en-US" sz="1400" dirty="0"/>
              <a:t>선고 </a:t>
            </a:r>
            <a:r>
              <a:rPr lang="en-US" altLang="ko-KR" sz="1400" dirty="0"/>
              <a:t>2004</a:t>
            </a:r>
            <a:r>
              <a:rPr lang="ko-KR" altLang="en-US" sz="1400" dirty="0"/>
              <a:t>후</a:t>
            </a:r>
            <a:r>
              <a:rPr lang="en-US" altLang="ko-KR" sz="1400" dirty="0"/>
              <a:t>3096 </a:t>
            </a:r>
            <a:r>
              <a:rPr lang="ko-KR" altLang="en-US" sz="1400" dirty="0"/>
              <a:t>판결</a:t>
            </a:r>
            <a:r>
              <a:rPr lang="en-US" altLang="ko-KR" sz="1400" dirty="0"/>
              <a:t>, </a:t>
            </a:r>
            <a:r>
              <a:rPr lang="ko-KR" altLang="en-US" sz="1400" dirty="0"/>
              <a:t>대법원 </a:t>
            </a:r>
            <a:r>
              <a:rPr lang="en-US" altLang="ko-KR" sz="1400" dirty="0"/>
              <a:t>2013. 2. 28. </a:t>
            </a:r>
            <a:r>
              <a:rPr lang="ko-KR" altLang="en-US" sz="1400" dirty="0"/>
              <a:t>선고 </a:t>
            </a:r>
            <a:r>
              <a:rPr lang="en-US" altLang="ko-KR" sz="1400" dirty="0"/>
              <a:t>2011</a:t>
            </a:r>
            <a:r>
              <a:rPr lang="ko-KR" altLang="en-US" sz="1400" dirty="0"/>
              <a:t>후</a:t>
            </a:r>
            <a:r>
              <a:rPr lang="en-US" altLang="ko-KR" sz="1400" dirty="0"/>
              <a:t>3193 </a:t>
            </a:r>
            <a:r>
              <a:rPr lang="ko-KR" altLang="en-US" sz="1400" dirty="0"/>
              <a:t>판결 등 참조</a:t>
            </a:r>
            <a:r>
              <a:rPr lang="en-US" altLang="ko-KR" sz="1400" dirty="0"/>
              <a:t>). </a:t>
            </a:r>
            <a:r>
              <a:rPr lang="ko-KR" altLang="en-US" sz="1400" dirty="0"/>
              <a:t>한편</a:t>
            </a:r>
            <a:r>
              <a:rPr lang="en-US" altLang="ko-KR" sz="1400" dirty="0"/>
              <a:t>, </a:t>
            </a:r>
            <a:r>
              <a:rPr lang="ko-KR" altLang="en-US" sz="1400" dirty="0"/>
              <a:t>청구범위는 발명의 설명에 기재된 기술적 사상의 전부 또는 일부를 특허발명의 보호범위로 특정한 것이고</a:t>
            </a:r>
            <a:r>
              <a:rPr lang="en-US" altLang="ko-KR" sz="1400" dirty="0"/>
              <a:t>, </a:t>
            </a:r>
            <a:r>
              <a:rPr lang="ko-KR" altLang="en-US" sz="1400" dirty="0"/>
              <a:t>발명의 설명에 기재된 모든 기술적 사상이 반드시 청구범위에 포함되어야 하는 것은 아니므로</a:t>
            </a:r>
            <a:r>
              <a:rPr lang="en-US" altLang="ko-KR" sz="1400" dirty="0"/>
              <a:t>, </a:t>
            </a:r>
            <a:r>
              <a:rPr lang="ko-KR" altLang="en-US" sz="1400" dirty="0">
                <a:highlight>
                  <a:srgbClr val="FFFF00"/>
                </a:highlight>
              </a:rPr>
              <a:t>특별한 사정이 없는 한 청구범위에 기재되어 있지 아니한 사항이 발명의 설명에 포함되어 있다고 하여 발명의 설명과 청구범위가 일치하지 아니하거나 모순이 있는 경우라고 보기는 어렵다</a:t>
            </a:r>
            <a:r>
              <a:rPr lang="en-US" altLang="ko-KR" sz="1400" dirty="0">
                <a:highlight>
                  <a:srgbClr val="FFFF00"/>
                </a:highlight>
              </a:rPr>
              <a:t>.</a:t>
            </a:r>
            <a:endParaRPr lang="ko-KR" altLang="en-US" sz="1400" dirty="0">
              <a:solidFill>
                <a:srgbClr val="FF0000"/>
              </a:solidFill>
              <a:highlight>
                <a:srgbClr val="FFFF00"/>
              </a:highlight>
            </a:endParaRPr>
          </a:p>
        </p:txBody>
      </p:sp>
      <p:sp>
        <p:nvSpPr>
          <p:cNvPr id="27" name="모서리가 둥근 직사각형 10">
            <a:extLst>
              <a:ext uri="{FF2B5EF4-FFF2-40B4-BE49-F238E27FC236}">
                <a16:creationId xmlns:a16="http://schemas.microsoft.com/office/drawing/2014/main" id="{45EA68D6-B151-4236-8FC3-05A69090F573}"/>
              </a:ext>
            </a:extLst>
          </p:cNvPr>
          <p:cNvSpPr/>
          <p:nvPr/>
        </p:nvSpPr>
        <p:spPr bwMode="auto">
          <a:xfrm>
            <a:off x="378418" y="1002199"/>
            <a:ext cx="5180410"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2016. 11. 25. </a:t>
            </a:r>
            <a:r>
              <a:rPr lang="ko-KR" altLang="en-US" sz="1400" dirty="0"/>
              <a:t>선고 </a:t>
            </a:r>
            <a:r>
              <a:rPr lang="en-US" altLang="ko-KR" sz="1400" dirty="0"/>
              <a:t>2014</a:t>
            </a:r>
            <a:r>
              <a:rPr lang="ko-KR" altLang="en-US" sz="1400" dirty="0"/>
              <a:t>후</a:t>
            </a:r>
            <a:r>
              <a:rPr lang="en-US" altLang="ko-KR" sz="1400" dirty="0"/>
              <a:t>2184 </a:t>
            </a:r>
            <a:r>
              <a:rPr lang="ko-KR" altLang="en-US" sz="1400" dirty="0"/>
              <a:t>판결 </a:t>
            </a:r>
            <a:r>
              <a:rPr lang="en-US" altLang="ko-KR" sz="1400" dirty="0"/>
              <a:t>【</a:t>
            </a:r>
            <a:r>
              <a:rPr lang="ko-KR" altLang="en-US" sz="1400" dirty="0"/>
              <a:t>등록무효</a:t>
            </a:r>
            <a:r>
              <a:rPr lang="en-US" altLang="ko-KR" sz="1400" dirty="0"/>
              <a:t>(</a:t>
            </a:r>
            <a:r>
              <a:rPr lang="ko-KR" altLang="en-US" sz="1400" dirty="0" err="1"/>
              <a:t>특</a:t>
            </a:r>
            <a:r>
              <a:rPr lang="en-US" altLang="ko-KR" sz="1400" dirty="0"/>
              <a:t>)】</a:t>
            </a:r>
          </a:p>
        </p:txBody>
      </p:sp>
      <p:sp>
        <p:nvSpPr>
          <p:cNvPr id="28" name="Line 5">
            <a:extLst>
              <a:ext uri="{FF2B5EF4-FFF2-40B4-BE49-F238E27FC236}">
                <a16:creationId xmlns:a16="http://schemas.microsoft.com/office/drawing/2014/main" id="{13F99ADD-6D23-4CE0-87DA-F8CCBC916BF0}"/>
              </a:ext>
            </a:extLst>
          </p:cNvPr>
          <p:cNvSpPr>
            <a:spLocks noChangeShapeType="1"/>
          </p:cNvSpPr>
          <p:nvPr/>
        </p:nvSpPr>
        <p:spPr bwMode="auto">
          <a:xfrm>
            <a:off x="297530" y="3559570"/>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62" name="TextBox 61">
            <a:extLst>
              <a:ext uri="{FF2B5EF4-FFF2-40B4-BE49-F238E27FC236}">
                <a16:creationId xmlns:a16="http://schemas.microsoft.com/office/drawing/2014/main" id="{5224E4B5-4D84-488F-8D06-D04D26750AFE}"/>
              </a:ext>
            </a:extLst>
          </p:cNvPr>
          <p:cNvSpPr txBox="1"/>
          <p:nvPr/>
        </p:nvSpPr>
        <p:spPr>
          <a:xfrm>
            <a:off x="809769" y="3815745"/>
            <a:ext cx="1373686"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무효심판청구</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甲 피청구인</a:t>
            </a:r>
            <a:r>
              <a:rPr lang="en-US" altLang="ko-KR" sz="1200" dirty="0">
                <a:solidFill>
                  <a:schemeClr val="tx1"/>
                </a:solidFill>
                <a:latin typeface="+mn-ea"/>
              </a:rPr>
              <a:t>)</a:t>
            </a:r>
            <a:endParaRPr lang="ko-KR" altLang="en-US" sz="1200" dirty="0">
              <a:solidFill>
                <a:schemeClr val="tx1"/>
              </a:solidFill>
              <a:latin typeface="+mn-ea"/>
            </a:endParaRPr>
          </a:p>
        </p:txBody>
      </p:sp>
      <p:sp>
        <p:nvSpPr>
          <p:cNvPr id="63" name="타원 62">
            <a:extLst>
              <a:ext uri="{FF2B5EF4-FFF2-40B4-BE49-F238E27FC236}">
                <a16:creationId xmlns:a16="http://schemas.microsoft.com/office/drawing/2014/main" id="{120805FA-2C23-44F4-9B48-B348D302DC13}"/>
              </a:ext>
            </a:extLst>
          </p:cNvPr>
          <p:cNvSpPr/>
          <p:nvPr/>
        </p:nvSpPr>
        <p:spPr>
          <a:xfrm>
            <a:off x="1419242" y="346563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4" name="직선 연결선 63">
            <a:extLst>
              <a:ext uri="{FF2B5EF4-FFF2-40B4-BE49-F238E27FC236}">
                <a16:creationId xmlns:a16="http://schemas.microsoft.com/office/drawing/2014/main" id="{E6888D3D-C256-43F6-8C1E-4DAA857AC472}"/>
              </a:ext>
            </a:extLst>
          </p:cNvPr>
          <p:cNvCxnSpPr>
            <a:cxnSpLocks/>
            <a:stCxn id="62" idx="0"/>
            <a:endCxn id="63" idx="4"/>
          </p:cNvCxnSpPr>
          <p:nvPr/>
        </p:nvCxnSpPr>
        <p:spPr>
          <a:xfrm flipH="1" flipV="1">
            <a:off x="1496611" y="362697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8" name="타원 67">
            <a:extLst>
              <a:ext uri="{FF2B5EF4-FFF2-40B4-BE49-F238E27FC236}">
                <a16:creationId xmlns:a16="http://schemas.microsoft.com/office/drawing/2014/main" id="{E553C06C-FA6E-4FEE-B262-1B8A1EEEEF0D}"/>
              </a:ext>
            </a:extLst>
          </p:cNvPr>
          <p:cNvSpPr/>
          <p:nvPr/>
        </p:nvSpPr>
        <p:spPr>
          <a:xfrm>
            <a:off x="6929237" y="3465636"/>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9" name="직선 연결선 68">
            <a:extLst>
              <a:ext uri="{FF2B5EF4-FFF2-40B4-BE49-F238E27FC236}">
                <a16:creationId xmlns:a16="http://schemas.microsoft.com/office/drawing/2014/main" id="{550D6AFC-FECA-4B08-B97D-0882AA74DA74}"/>
              </a:ext>
            </a:extLst>
          </p:cNvPr>
          <p:cNvCxnSpPr>
            <a:cxnSpLocks/>
            <a:endCxn id="68" idx="4"/>
          </p:cNvCxnSpPr>
          <p:nvPr/>
        </p:nvCxnSpPr>
        <p:spPr>
          <a:xfrm flipH="1" flipV="1">
            <a:off x="7006606" y="362697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CB2E886D-348E-4660-9F80-62206C26F4C0}"/>
              </a:ext>
            </a:extLst>
          </p:cNvPr>
          <p:cNvSpPr txBox="1"/>
          <p:nvPr/>
        </p:nvSpPr>
        <p:spPr>
          <a:xfrm>
            <a:off x="3467176" y="3815745"/>
            <a:ext cx="1373686"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정정청구</a:t>
            </a:r>
            <a:endParaRPr lang="en-US" altLang="ko-KR" sz="1200" dirty="0">
              <a:solidFill>
                <a:schemeClr val="tx1"/>
              </a:solidFill>
              <a:latin typeface="+mn-ea"/>
            </a:endParaRPr>
          </a:p>
        </p:txBody>
      </p:sp>
      <p:sp>
        <p:nvSpPr>
          <p:cNvPr id="51" name="타원 50">
            <a:extLst>
              <a:ext uri="{FF2B5EF4-FFF2-40B4-BE49-F238E27FC236}">
                <a16:creationId xmlns:a16="http://schemas.microsoft.com/office/drawing/2014/main" id="{D7D5EDEB-FEAB-4929-BAB3-F6D4B602E0A4}"/>
              </a:ext>
            </a:extLst>
          </p:cNvPr>
          <p:cNvSpPr/>
          <p:nvPr/>
        </p:nvSpPr>
        <p:spPr>
          <a:xfrm>
            <a:off x="4076649" y="3465636"/>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2" name="직선 연결선 51">
            <a:extLst>
              <a:ext uri="{FF2B5EF4-FFF2-40B4-BE49-F238E27FC236}">
                <a16:creationId xmlns:a16="http://schemas.microsoft.com/office/drawing/2014/main" id="{61BF1932-E169-4ADA-9A15-E7CFE29178EB}"/>
              </a:ext>
            </a:extLst>
          </p:cNvPr>
          <p:cNvCxnSpPr>
            <a:cxnSpLocks/>
            <a:stCxn id="50" idx="0"/>
            <a:endCxn id="51" idx="4"/>
          </p:cNvCxnSpPr>
          <p:nvPr/>
        </p:nvCxnSpPr>
        <p:spPr>
          <a:xfrm flipH="1" flipV="1">
            <a:off x="4154018" y="362697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291FE0C1-888E-4BD2-8C7B-2C79F42CFD38}"/>
              </a:ext>
            </a:extLst>
          </p:cNvPr>
          <p:cNvSpPr txBox="1"/>
          <p:nvPr/>
        </p:nvSpPr>
        <p:spPr>
          <a:xfrm>
            <a:off x="2242009" y="4348918"/>
            <a:ext cx="2935738" cy="1938992"/>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ko-KR" altLang="en-US" sz="1200" dirty="0">
                <a:solidFill>
                  <a:schemeClr val="tx1"/>
                </a:solidFill>
                <a:latin typeface="+mn-ea"/>
              </a:rPr>
              <a:t>특허발명의 청구범위 제</a:t>
            </a:r>
            <a:r>
              <a:rPr lang="en-US" altLang="ko-KR" sz="1200" dirty="0">
                <a:solidFill>
                  <a:schemeClr val="tx1"/>
                </a:solidFill>
                <a:latin typeface="+mn-ea"/>
              </a:rPr>
              <a:t>1</a:t>
            </a:r>
            <a:r>
              <a:rPr lang="ko-KR" altLang="en-US" sz="1200" dirty="0">
                <a:solidFill>
                  <a:schemeClr val="tx1"/>
                </a:solidFill>
                <a:latin typeface="+mn-ea"/>
              </a:rPr>
              <a:t>항 등에는 열 저장 팁의 재질로서 금속 또는 세라믹이 기재되어 있는데</a:t>
            </a:r>
            <a:r>
              <a:rPr lang="en-US" altLang="ko-KR" sz="1200" dirty="0">
                <a:solidFill>
                  <a:schemeClr val="tx1"/>
                </a:solidFill>
                <a:latin typeface="+mn-ea"/>
              </a:rPr>
              <a:t>, </a:t>
            </a:r>
          </a:p>
          <a:p>
            <a:r>
              <a:rPr lang="ko-KR" altLang="en-US" sz="1200" dirty="0">
                <a:solidFill>
                  <a:schemeClr val="tx1"/>
                </a:solidFill>
                <a:latin typeface="+mn-ea"/>
              </a:rPr>
              <a:t>발명의 설명에는 열 저장 팁의 재질로서 금속 또는 </a:t>
            </a:r>
            <a:r>
              <a:rPr lang="ko-KR" altLang="en-US" sz="1200" dirty="0" err="1">
                <a:solidFill>
                  <a:schemeClr val="tx1"/>
                </a:solidFill>
                <a:latin typeface="+mn-ea"/>
              </a:rPr>
              <a:t>세라믹뿐만</a:t>
            </a:r>
            <a:r>
              <a:rPr lang="ko-KR" altLang="en-US" sz="1200" dirty="0">
                <a:solidFill>
                  <a:schemeClr val="tx1"/>
                </a:solidFill>
                <a:latin typeface="+mn-ea"/>
              </a:rPr>
              <a:t> 아니라</a:t>
            </a:r>
            <a:r>
              <a:rPr lang="en-US" altLang="ko-KR" sz="1200" dirty="0">
                <a:solidFill>
                  <a:schemeClr val="tx1"/>
                </a:solidFill>
                <a:latin typeface="+mn-ea"/>
              </a:rPr>
              <a:t>, </a:t>
            </a:r>
            <a:r>
              <a:rPr lang="ko-KR" altLang="en-US" sz="1200" dirty="0">
                <a:solidFill>
                  <a:schemeClr val="tx1"/>
                </a:solidFill>
                <a:latin typeface="+mn-ea"/>
              </a:rPr>
              <a:t>고밀도 플라스틱</a:t>
            </a:r>
            <a:r>
              <a:rPr lang="en-US" altLang="ko-KR" sz="1200" dirty="0">
                <a:solidFill>
                  <a:schemeClr val="tx1"/>
                </a:solidFill>
                <a:latin typeface="+mn-ea"/>
              </a:rPr>
              <a:t>, </a:t>
            </a:r>
            <a:r>
              <a:rPr lang="ko-KR" altLang="en-US" sz="1200" dirty="0">
                <a:solidFill>
                  <a:schemeClr val="tx1"/>
                </a:solidFill>
                <a:latin typeface="+mn-ea"/>
              </a:rPr>
              <a:t>복합물 등도 포함되는 것으로 기재되어 있다</a:t>
            </a:r>
            <a:r>
              <a:rPr lang="en-US" altLang="ko-KR" sz="1200" dirty="0">
                <a:solidFill>
                  <a:schemeClr val="tx1"/>
                </a:solidFill>
                <a:latin typeface="+mn-ea"/>
              </a:rPr>
              <a:t>. </a:t>
            </a:r>
          </a:p>
          <a:p>
            <a:r>
              <a:rPr lang="ko-KR" altLang="en-US" sz="1200" dirty="0">
                <a:solidFill>
                  <a:schemeClr val="tx1"/>
                </a:solidFill>
                <a:latin typeface="+mn-ea"/>
              </a:rPr>
              <a:t>이 사건 정정청구는 이와 같이 열 저장 팁의 재질로서 청구범위에 기재되어 있지 아니한 </a:t>
            </a:r>
            <a:r>
              <a:rPr lang="ko-KR" altLang="en-US" sz="1200" dirty="0">
                <a:solidFill>
                  <a:srgbClr val="FF0000"/>
                </a:solidFill>
                <a:latin typeface="+mn-ea"/>
              </a:rPr>
              <a:t>고밀도 플라스틱</a:t>
            </a:r>
            <a:r>
              <a:rPr lang="en-US" altLang="ko-KR" sz="1200" dirty="0">
                <a:solidFill>
                  <a:srgbClr val="FF0000"/>
                </a:solidFill>
                <a:latin typeface="+mn-ea"/>
              </a:rPr>
              <a:t>, </a:t>
            </a:r>
            <a:r>
              <a:rPr lang="ko-KR" altLang="en-US" sz="1200" dirty="0">
                <a:solidFill>
                  <a:srgbClr val="FF0000"/>
                </a:solidFill>
                <a:latin typeface="+mn-ea"/>
              </a:rPr>
              <a:t>복합물 등을 발명의 설명에서 삭제하는 것을 내용</a:t>
            </a:r>
            <a:r>
              <a:rPr lang="ko-KR" altLang="en-US" sz="1200" dirty="0">
                <a:solidFill>
                  <a:schemeClr val="tx1"/>
                </a:solidFill>
                <a:latin typeface="+mn-ea"/>
              </a:rPr>
              <a:t>으로 한다</a:t>
            </a:r>
            <a:r>
              <a:rPr lang="en-US" altLang="ko-KR" sz="1200" dirty="0">
                <a:solidFill>
                  <a:schemeClr val="tx1"/>
                </a:solidFill>
                <a:latin typeface="+mn-ea"/>
              </a:rPr>
              <a:t>.</a:t>
            </a:r>
            <a:endParaRPr lang="ko-KR" altLang="en-US" sz="1200" dirty="0">
              <a:solidFill>
                <a:schemeClr val="tx1"/>
              </a:solidFill>
              <a:latin typeface="+mn-ea"/>
            </a:endParaRPr>
          </a:p>
        </p:txBody>
      </p:sp>
      <p:sp>
        <p:nvSpPr>
          <p:cNvPr id="61" name="TextBox 60">
            <a:extLst>
              <a:ext uri="{FF2B5EF4-FFF2-40B4-BE49-F238E27FC236}">
                <a16:creationId xmlns:a16="http://schemas.microsoft.com/office/drawing/2014/main" id="{39326944-A0BC-4BDA-991E-D0A86122643B}"/>
              </a:ext>
            </a:extLst>
          </p:cNvPr>
          <p:cNvSpPr txBox="1"/>
          <p:nvPr/>
        </p:nvSpPr>
        <p:spPr>
          <a:xfrm>
            <a:off x="6327233" y="3815745"/>
            <a:ext cx="1373686"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정정 적법성 판단</a:t>
            </a:r>
            <a:endParaRPr lang="en-US" altLang="ko-KR" sz="1200" dirty="0">
              <a:solidFill>
                <a:schemeClr val="tx1"/>
              </a:solidFill>
              <a:latin typeface="+mn-ea"/>
            </a:endParaRPr>
          </a:p>
        </p:txBody>
      </p:sp>
      <p:sp>
        <p:nvSpPr>
          <p:cNvPr id="74" name="TextBox 73">
            <a:extLst>
              <a:ext uri="{FF2B5EF4-FFF2-40B4-BE49-F238E27FC236}">
                <a16:creationId xmlns:a16="http://schemas.microsoft.com/office/drawing/2014/main" id="{83516863-A6B9-4F9F-A011-7019F6C61D8B}"/>
              </a:ext>
            </a:extLst>
          </p:cNvPr>
          <p:cNvSpPr txBox="1"/>
          <p:nvPr/>
        </p:nvSpPr>
        <p:spPr>
          <a:xfrm>
            <a:off x="5547446" y="4934925"/>
            <a:ext cx="2935738" cy="138499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ko-KR" altLang="en-US" sz="1200" dirty="0">
                <a:solidFill>
                  <a:schemeClr val="tx1"/>
                </a:solidFill>
                <a:latin typeface="+mn-ea"/>
              </a:rPr>
              <a:t>발명의 설명에 기재된 고밀도 플라스틱</a:t>
            </a:r>
            <a:r>
              <a:rPr lang="en-US" altLang="ko-KR" sz="1200" dirty="0">
                <a:solidFill>
                  <a:schemeClr val="tx1"/>
                </a:solidFill>
                <a:latin typeface="+mn-ea"/>
              </a:rPr>
              <a:t>, </a:t>
            </a:r>
            <a:r>
              <a:rPr lang="ko-KR" altLang="en-US" sz="1200" dirty="0">
                <a:solidFill>
                  <a:schemeClr val="tx1"/>
                </a:solidFill>
                <a:latin typeface="+mn-ea"/>
              </a:rPr>
              <a:t>복합물 등은 그 기재 자체가 명료하지 아니한 것이라고 볼 수 없다</a:t>
            </a:r>
            <a:r>
              <a:rPr lang="en-US" altLang="ko-KR" sz="1200" dirty="0">
                <a:solidFill>
                  <a:schemeClr val="tx1"/>
                </a:solidFill>
                <a:latin typeface="+mn-ea"/>
              </a:rPr>
              <a:t>. </a:t>
            </a:r>
            <a:r>
              <a:rPr lang="ko-KR" altLang="en-US" sz="1200" dirty="0">
                <a:solidFill>
                  <a:schemeClr val="tx1"/>
                </a:solidFill>
                <a:latin typeface="+mn-ea"/>
              </a:rPr>
              <a:t>또한</a:t>
            </a:r>
            <a:r>
              <a:rPr lang="en-US" altLang="ko-KR" sz="1200" dirty="0">
                <a:solidFill>
                  <a:schemeClr val="tx1"/>
                </a:solidFill>
                <a:latin typeface="+mn-ea"/>
              </a:rPr>
              <a:t>, </a:t>
            </a:r>
            <a:r>
              <a:rPr lang="ko-KR" altLang="en-US" sz="1200" dirty="0">
                <a:solidFill>
                  <a:schemeClr val="tx1"/>
                </a:solidFill>
                <a:latin typeface="+mn-ea"/>
              </a:rPr>
              <a:t>청구범위에 기재되어 있지 아니한 고밀도 플라스틱</a:t>
            </a:r>
            <a:r>
              <a:rPr lang="en-US" altLang="ko-KR" sz="1200" dirty="0">
                <a:solidFill>
                  <a:schemeClr val="tx1"/>
                </a:solidFill>
                <a:latin typeface="+mn-ea"/>
              </a:rPr>
              <a:t>, </a:t>
            </a:r>
            <a:r>
              <a:rPr lang="ko-KR" altLang="en-US" sz="1200" dirty="0">
                <a:solidFill>
                  <a:schemeClr val="tx1"/>
                </a:solidFill>
                <a:latin typeface="+mn-ea"/>
              </a:rPr>
              <a:t>복합물 등이 발명의 설명에 포함되어 있다고 하여 발명의 설명과 청구범위가 일치하지 아니하거나 모순이 있는 경우라고 보기도 어렵다</a:t>
            </a:r>
            <a:r>
              <a:rPr lang="en-US" altLang="ko-KR" sz="1200" dirty="0">
                <a:solidFill>
                  <a:schemeClr val="tx1"/>
                </a:solidFill>
                <a:latin typeface="+mn-ea"/>
              </a:rPr>
              <a:t>.</a:t>
            </a:r>
            <a:endParaRPr lang="ko-KR" altLang="en-US" sz="1200" dirty="0">
              <a:solidFill>
                <a:schemeClr val="tx1"/>
              </a:solidFill>
              <a:latin typeface="+mn-ea"/>
            </a:endParaRPr>
          </a:p>
        </p:txBody>
      </p:sp>
      <p:cxnSp>
        <p:nvCxnSpPr>
          <p:cNvPr id="77" name="직선 연결선 76">
            <a:extLst>
              <a:ext uri="{FF2B5EF4-FFF2-40B4-BE49-F238E27FC236}">
                <a16:creationId xmlns:a16="http://schemas.microsoft.com/office/drawing/2014/main" id="{E3265D5F-AFD6-4D2E-BDCC-A0CCCB6C8E52}"/>
              </a:ext>
            </a:extLst>
          </p:cNvPr>
          <p:cNvCxnSpPr>
            <a:cxnSpLocks/>
            <a:stCxn id="74" idx="0"/>
            <a:endCxn id="79" idx="2"/>
          </p:cNvCxnSpPr>
          <p:nvPr/>
        </p:nvCxnSpPr>
        <p:spPr>
          <a:xfrm flipH="1" flipV="1">
            <a:off x="7014076" y="4607654"/>
            <a:ext cx="1239" cy="32727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연결선: 꺾임 13">
            <a:extLst>
              <a:ext uri="{FF2B5EF4-FFF2-40B4-BE49-F238E27FC236}">
                <a16:creationId xmlns:a16="http://schemas.microsoft.com/office/drawing/2014/main" id="{8B9CF5F1-49C5-4136-BB2A-1D06192304C0}"/>
              </a:ext>
            </a:extLst>
          </p:cNvPr>
          <p:cNvCxnSpPr>
            <a:stCxn id="50" idx="2"/>
            <a:endCxn id="53" idx="0"/>
          </p:cNvCxnSpPr>
          <p:nvPr/>
        </p:nvCxnSpPr>
        <p:spPr>
          <a:xfrm rot="5400000">
            <a:off x="3803862" y="3998761"/>
            <a:ext cx="256174" cy="44414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0F9DE5B9-E044-451A-8B77-D60BC5D01E96}"/>
              </a:ext>
            </a:extLst>
          </p:cNvPr>
          <p:cNvSpPr txBox="1"/>
          <p:nvPr/>
        </p:nvSpPr>
        <p:spPr>
          <a:xfrm>
            <a:off x="6327233" y="4330655"/>
            <a:ext cx="1373686"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정정 불인정</a:t>
            </a:r>
            <a:endParaRPr lang="en-US" altLang="ko-KR" sz="1200" dirty="0">
              <a:solidFill>
                <a:schemeClr val="tx1"/>
              </a:solidFill>
              <a:latin typeface="+mn-ea"/>
            </a:endParaRPr>
          </a:p>
        </p:txBody>
      </p:sp>
      <p:cxnSp>
        <p:nvCxnSpPr>
          <p:cNvPr id="81" name="직선 연결선 80">
            <a:extLst>
              <a:ext uri="{FF2B5EF4-FFF2-40B4-BE49-F238E27FC236}">
                <a16:creationId xmlns:a16="http://schemas.microsoft.com/office/drawing/2014/main" id="{C95C24FD-561D-48C9-86C4-B6501A49FDA6}"/>
              </a:ext>
            </a:extLst>
          </p:cNvPr>
          <p:cNvCxnSpPr>
            <a:cxnSpLocks/>
            <a:stCxn id="79" idx="0"/>
            <a:endCxn id="61" idx="2"/>
          </p:cNvCxnSpPr>
          <p:nvPr/>
        </p:nvCxnSpPr>
        <p:spPr>
          <a:xfrm flipV="1">
            <a:off x="7014076" y="4092744"/>
            <a:ext cx="0" cy="23791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7" name="타원 86">
            <a:extLst>
              <a:ext uri="{FF2B5EF4-FFF2-40B4-BE49-F238E27FC236}">
                <a16:creationId xmlns:a16="http://schemas.microsoft.com/office/drawing/2014/main" id="{59B81DAE-DB08-48B6-BD00-25F434480AA8}"/>
              </a:ext>
            </a:extLst>
          </p:cNvPr>
          <p:cNvSpPr/>
          <p:nvPr/>
        </p:nvSpPr>
        <p:spPr>
          <a:xfrm>
            <a:off x="9859193" y="3465636"/>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8" name="직선 연결선 87">
            <a:extLst>
              <a:ext uri="{FF2B5EF4-FFF2-40B4-BE49-F238E27FC236}">
                <a16:creationId xmlns:a16="http://schemas.microsoft.com/office/drawing/2014/main" id="{AFFBDCCF-A47B-44F9-94FA-F80EFB1A2E97}"/>
              </a:ext>
            </a:extLst>
          </p:cNvPr>
          <p:cNvCxnSpPr>
            <a:cxnSpLocks/>
            <a:endCxn id="87" idx="4"/>
          </p:cNvCxnSpPr>
          <p:nvPr/>
        </p:nvCxnSpPr>
        <p:spPr>
          <a:xfrm flipH="1" flipV="1">
            <a:off x="9936562" y="3626974"/>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F85C706-001E-4F8D-890D-A1A860DA3E62}"/>
              </a:ext>
            </a:extLst>
          </p:cNvPr>
          <p:cNvSpPr txBox="1"/>
          <p:nvPr/>
        </p:nvSpPr>
        <p:spPr>
          <a:xfrm>
            <a:off x="9257189" y="3815745"/>
            <a:ext cx="1373686"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무효사유 판단</a:t>
            </a:r>
            <a:endParaRPr lang="en-US" altLang="ko-KR" sz="1200" dirty="0">
              <a:solidFill>
                <a:schemeClr val="tx1"/>
              </a:solidFill>
              <a:latin typeface="+mn-ea"/>
            </a:endParaRPr>
          </a:p>
        </p:txBody>
      </p:sp>
      <p:sp>
        <p:nvSpPr>
          <p:cNvPr id="99" name="TextBox 98">
            <a:extLst>
              <a:ext uri="{FF2B5EF4-FFF2-40B4-BE49-F238E27FC236}">
                <a16:creationId xmlns:a16="http://schemas.microsoft.com/office/drawing/2014/main" id="{5609201D-C9D4-4B3D-8846-B94D91E5BD5C}"/>
              </a:ext>
            </a:extLst>
          </p:cNvPr>
          <p:cNvSpPr txBox="1"/>
          <p:nvPr/>
        </p:nvSpPr>
        <p:spPr>
          <a:xfrm>
            <a:off x="9256007" y="4330655"/>
            <a:ext cx="1373686" cy="646331"/>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정정 전 </a:t>
            </a:r>
            <a:endParaRPr lang="en-US" altLang="ko-KR" sz="1200" dirty="0">
              <a:solidFill>
                <a:schemeClr val="tx1"/>
              </a:solidFill>
              <a:latin typeface="+mn-ea"/>
            </a:endParaRPr>
          </a:p>
          <a:p>
            <a:pPr algn="ctr"/>
            <a:r>
              <a:rPr lang="ko-KR" altLang="en-US" sz="1200" dirty="0">
                <a:solidFill>
                  <a:schemeClr val="tx1"/>
                </a:solidFill>
                <a:latin typeface="+mn-ea"/>
              </a:rPr>
              <a:t>명세서</a:t>
            </a:r>
            <a:r>
              <a:rPr lang="en-US" altLang="ko-KR" sz="1200" dirty="0">
                <a:solidFill>
                  <a:schemeClr val="tx1"/>
                </a:solidFill>
                <a:latin typeface="+mn-ea"/>
              </a:rPr>
              <a:t>/</a:t>
            </a:r>
            <a:r>
              <a:rPr lang="ko-KR" altLang="en-US" sz="1200" dirty="0">
                <a:solidFill>
                  <a:schemeClr val="tx1"/>
                </a:solidFill>
                <a:latin typeface="+mn-ea"/>
              </a:rPr>
              <a:t>도면으로 판단</a:t>
            </a:r>
            <a:endParaRPr lang="en-US" altLang="ko-KR" sz="1200" dirty="0">
              <a:solidFill>
                <a:schemeClr val="tx1"/>
              </a:solidFill>
              <a:latin typeface="+mn-ea"/>
            </a:endParaRPr>
          </a:p>
        </p:txBody>
      </p:sp>
      <p:cxnSp>
        <p:nvCxnSpPr>
          <p:cNvPr id="100" name="직선 연결선 99">
            <a:extLst>
              <a:ext uri="{FF2B5EF4-FFF2-40B4-BE49-F238E27FC236}">
                <a16:creationId xmlns:a16="http://schemas.microsoft.com/office/drawing/2014/main" id="{E0E91855-C81C-43EE-A74B-BC2E2FF7A86D}"/>
              </a:ext>
            </a:extLst>
          </p:cNvPr>
          <p:cNvCxnSpPr>
            <a:cxnSpLocks/>
            <a:stCxn id="99" idx="0"/>
          </p:cNvCxnSpPr>
          <p:nvPr/>
        </p:nvCxnSpPr>
        <p:spPr>
          <a:xfrm flipV="1">
            <a:off x="9942850" y="4092745"/>
            <a:ext cx="0" cy="23791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AAFFC041-B6D2-42F5-8D96-A5E3237AF7CB}"/>
              </a:ext>
            </a:extLst>
          </p:cNvPr>
          <p:cNvSpPr txBox="1"/>
          <p:nvPr/>
        </p:nvSpPr>
        <p:spPr>
          <a:xfrm>
            <a:off x="9256007" y="5215570"/>
            <a:ext cx="1373686"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무효</a:t>
            </a:r>
            <a:endParaRPr lang="en-US" altLang="ko-KR" sz="1200" dirty="0">
              <a:solidFill>
                <a:schemeClr val="tx1"/>
              </a:solidFill>
              <a:latin typeface="+mn-ea"/>
            </a:endParaRPr>
          </a:p>
        </p:txBody>
      </p:sp>
      <p:cxnSp>
        <p:nvCxnSpPr>
          <p:cNvPr id="102" name="직선 연결선 101">
            <a:extLst>
              <a:ext uri="{FF2B5EF4-FFF2-40B4-BE49-F238E27FC236}">
                <a16:creationId xmlns:a16="http://schemas.microsoft.com/office/drawing/2014/main" id="{ACAC1C8C-46A2-4581-8FA4-95CD184B422A}"/>
              </a:ext>
            </a:extLst>
          </p:cNvPr>
          <p:cNvCxnSpPr>
            <a:cxnSpLocks/>
            <a:stCxn id="101" idx="0"/>
          </p:cNvCxnSpPr>
          <p:nvPr/>
        </p:nvCxnSpPr>
        <p:spPr>
          <a:xfrm flipV="1">
            <a:off x="9942850" y="4977660"/>
            <a:ext cx="0" cy="23791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3120748"/>
      </p:ext>
    </p:extLst>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타원 31">
            <a:extLst>
              <a:ext uri="{FF2B5EF4-FFF2-40B4-BE49-F238E27FC236}">
                <a16:creationId xmlns:a16="http://schemas.microsoft.com/office/drawing/2014/main" id="{19B33D72-DCD7-4F6E-2A12-11F7EF92DDBB}"/>
              </a:ext>
            </a:extLst>
          </p:cNvPr>
          <p:cNvSpPr/>
          <p:nvPr/>
        </p:nvSpPr>
        <p:spPr>
          <a:xfrm>
            <a:off x="1854681" y="4096003"/>
            <a:ext cx="177468" cy="177468"/>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136</a:t>
            </a:r>
            <a:r>
              <a:rPr lang="ko-KR" altLang="en-US" dirty="0"/>
              <a:t>조</a:t>
            </a:r>
          </a:p>
        </p:txBody>
      </p:sp>
      <p:sp>
        <p:nvSpPr>
          <p:cNvPr id="8" name="텍스트 개체 틀 7">
            <a:extLst>
              <a:ext uri="{FF2B5EF4-FFF2-40B4-BE49-F238E27FC236}">
                <a16:creationId xmlns:a16="http://schemas.microsoft.com/office/drawing/2014/main" id="{6DCB636F-1DB3-EF95-BCBB-E7461FCB7BDB}"/>
              </a:ext>
            </a:extLst>
          </p:cNvPr>
          <p:cNvSpPr>
            <a:spLocks noGrp="1"/>
          </p:cNvSpPr>
          <p:nvPr>
            <p:ph type="body" sz="quarter" idx="13"/>
          </p:nvPr>
        </p:nvSpPr>
        <p:spPr/>
        <p:txBody>
          <a:bodyPr>
            <a:normAutofit/>
          </a:bodyPr>
          <a:lstStyle/>
          <a:p>
            <a:r>
              <a:rPr lang="ko-KR" altLang="en-US" sz="2400" dirty="0"/>
              <a:t>특허출원을 하였을 때 특허를 받을 수 있을 것</a:t>
            </a:r>
            <a:r>
              <a:rPr lang="en-US" altLang="ko-KR" sz="2400" dirty="0"/>
              <a:t>(</a:t>
            </a:r>
            <a:r>
              <a:rPr lang="ko-KR" altLang="en-US" sz="2400" dirty="0"/>
              <a:t>제</a:t>
            </a:r>
            <a:r>
              <a:rPr lang="en-US" altLang="ko-KR" sz="2400" dirty="0"/>
              <a:t>136</a:t>
            </a:r>
            <a:r>
              <a:rPr lang="ko-KR" altLang="en-US" sz="2400" dirty="0"/>
              <a:t>조제</a:t>
            </a:r>
            <a:r>
              <a:rPr lang="en-US" altLang="ko-KR" sz="2400" dirty="0"/>
              <a:t>5</a:t>
            </a:r>
            <a:r>
              <a:rPr lang="ko-KR" altLang="en-US" sz="2400" dirty="0"/>
              <a:t>항</a:t>
            </a:r>
            <a:r>
              <a:rPr lang="en-US" altLang="ko-KR" sz="2400" dirty="0"/>
              <a:t>)</a:t>
            </a:r>
            <a:endParaRPr lang="ko-KR" altLang="en-US" sz="2400"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23" name="Line 5"/>
          <p:cNvSpPr>
            <a:spLocks noChangeShapeType="1"/>
          </p:cNvSpPr>
          <p:nvPr/>
        </p:nvSpPr>
        <p:spPr bwMode="auto">
          <a:xfrm>
            <a:off x="349625" y="3586412"/>
            <a:ext cx="10775576"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4" name="TextBox 23"/>
          <p:cNvSpPr txBox="1"/>
          <p:nvPr/>
        </p:nvSpPr>
        <p:spPr>
          <a:xfrm>
            <a:off x="666467" y="342313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a:solidFill>
                  <a:schemeClr val="tx1"/>
                </a:solidFill>
                <a:latin typeface="+mn-ea"/>
              </a:rPr>
              <a:t>특허출원</a:t>
            </a:r>
            <a:endParaRPr lang="en-US" altLang="ko-KR" sz="1400" dirty="0">
              <a:solidFill>
                <a:schemeClr val="tx1"/>
              </a:solidFill>
              <a:latin typeface="+mn-ea"/>
            </a:endParaRPr>
          </a:p>
        </p:txBody>
      </p:sp>
      <p:sp>
        <p:nvSpPr>
          <p:cNvPr id="40" name="TextBox 39"/>
          <p:cNvSpPr txBox="1"/>
          <p:nvPr/>
        </p:nvSpPr>
        <p:spPr>
          <a:xfrm>
            <a:off x="1943415" y="342313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설정등록</a:t>
            </a:r>
            <a:endParaRPr lang="en-US" altLang="ko-KR" sz="1400" dirty="0">
              <a:solidFill>
                <a:schemeClr val="tx1"/>
              </a:solidFill>
              <a:latin typeface="+mn-ea"/>
            </a:endParaRPr>
          </a:p>
        </p:txBody>
      </p:sp>
      <p:sp>
        <p:nvSpPr>
          <p:cNvPr id="42" name="TextBox 41"/>
          <p:cNvSpPr txBox="1"/>
          <p:nvPr/>
        </p:nvSpPr>
        <p:spPr>
          <a:xfrm>
            <a:off x="3325903" y="3423133"/>
            <a:ext cx="1145411"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a:solidFill>
                  <a:schemeClr val="tx1"/>
                </a:solidFill>
                <a:latin typeface="+mn-ea"/>
              </a:rPr>
              <a:t>정정심판청구</a:t>
            </a:r>
            <a:endParaRPr lang="en-US" altLang="ko-KR" sz="1400" dirty="0">
              <a:solidFill>
                <a:schemeClr val="tx1"/>
              </a:solidFill>
              <a:latin typeface="+mn-ea"/>
            </a:endParaRPr>
          </a:p>
        </p:txBody>
      </p:sp>
      <p:cxnSp>
        <p:nvCxnSpPr>
          <p:cNvPr id="11" name="직선 연결선 10">
            <a:extLst>
              <a:ext uri="{FF2B5EF4-FFF2-40B4-BE49-F238E27FC236}">
                <a16:creationId xmlns:a16="http://schemas.microsoft.com/office/drawing/2014/main" id="{18D9C16F-8D9A-6B57-C500-C74B829E1EB2}"/>
              </a:ext>
            </a:extLst>
          </p:cNvPr>
          <p:cNvCxnSpPr/>
          <p:nvPr/>
        </p:nvCxnSpPr>
        <p:spPr>
          <a:xfrm>
            <a:off x="77875" y="282307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1A88B71B-2B39-2A6D-6F23-B4BB3B008844}"/>
              </a:ext>
            </a:extLst>
          </p:cNvPr>
          <p:cNvSpPr txBox="1"/>
          <p:nvPr/>
        </p:nvSpPr>
        <p:spPr>
          <a:xfrm>
            <a:off x="77875" y="976902"/>
            <a:ext cx="11936323" cy="1815882"/>
          </a:xfrm>
          <a:prstGeom prst="rect">
            <a:avLst/>
          </a:prstGeom>
          <a:noFill/>
        </p:spPr>
        <p:txBody>
          <a:bodyPr wrap="square" rtlCol="0">
            <a:spAutoFit/>
          </a:bodyPr>
          <a:lstStyle/>
          <a:p>
            <a:pPr fontAlgn="base"/>
            <a:r>
              <a:rPr lang="ko-KR" altLang="en-US" sz="1400" dirty="0">
                <a:solidFill>
                  <a:schemeClr val="accent3">
                    <a:lumMod val="50000"/>
                  </a:schemeClr>
                </a:solidFill>
              </a:rPr>
              <a:t>청구범위를 감축하거나 잘못 기재된 사항을 정정하는 경우에는 정정 후의 청구범위에 적혀 있는 사항이 특허출원을 하였을 때에 특허를 받을 수 있는 것이어야 한다</a:t>
            </a:r>
            <a:r>
              <a:rPr lang="en-US" altLang="ko-KR" sz="1400" dirty="0">
                <a:solidFill>
                  <a:schemeClr val="accent3">
                    <a:lumMod val="50000"/>
                  </a:schemeClr>
                </a:solidFill>
              </a:rPr>
              <a:t>(</a:t>
            </a:r>
            <a:r>
              <a:rPr lang="ko-KR" altLang="en-US" sz="1400" dirty="0">
                <a:solidFill>
                  <a:schemeClr val="accent3">
                    <a:lumMod val="50000"/>
                  </a:schemeClr>
                </a:solidFill>
              </a:rPr>
              <a:t>法 </a:t>
            </a:r>
            <a:r>
              <a:rPr lang="en-US" altLang="ko-KR" sz="1400" dirty="0">
                <a:solidFill>
                  <a:schemeClr val="accent3">
                    <a:lumMod val="50000"/>
                  </a:schemeClr>
                </a:solidFill>
              </a:rPr>
              <a:t>136⑤). </a:t>
            </a:r>
            <a:r>
              <a:rPr lang="ko-KR" altLang="en-US" sz="1400" dirty="0">
                <a:solidFill>
                  <a:schemeClr val="accent3">
                    <a:lumMod val="50000"/>
                  </a:schemeClr>
                </a:solidFill>
              </a:rPr>
              <a:t>정정 후의 청구범위에 기재된 발명이 제</a:t>
            </a:r>
            <a:r>
              <a:rPr lang="en-US" altLang="ko-KR" sz="1400" dirty="0">
                <a:solidFill>
                  <a:schemeClr val="accent3">
                    <a:lumMod val="50000"/>
                  </a:schemeClr>
                </a:solidFill>
              </a:rPr>
              <a:t>62</a:t>
            </a:r>
            <a:r>
              <a:rPr lang="ko-KR" altLang="en-US" sz="1400" dirty="0">
                <a:solidFill>
                  <a:schemeClr val="accent3">
                    <a:lumMod val="50000"/>
                  </a:schemeClr>
                </a:solidFill>
              </a:rPr>
              <a:t>조의 거절이유에 해당하지 않아야 한다</a:t>
            </a:r>
            <a:r>
              <a:rPr lang="en-US" altLang="ko-KR" sz="1400" dirty="0">
                <a:solidFill>
                  <a:schemeClr val="accent3">
                    <a:lumMod val="50000"/>
                  </a:schemeClr>
                </a:solidFill>
              </a:rPr>
              <a:t>. </a:t>
            </a:r>
            <a:r>
              <a:rPr lang="ko-KR" altLang="en-US" sz="1400" dirty="0">
                <a:solidFill>
                  <a:schemeClr val="accent3">
                    <a:lumMod val="50000"/>
                  </a:schemeClr>
                </a:solidFill>
                <a:highlight>
                  <a:srgbClr val="FFFF00"/>
                </a:highlight>
              </a:rPr>
              <a:t>다만 거절이유 중 배경기술의 기재</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法 </a:t>
            </a:r>
            <a:r>
              <a:rPr lang="en-US" altLang="ko-KR" sz="1400" dirty="0">
                <a:solidFill>
                  <a:schemeClr val="accent3">
                    <a:lumMod val="50000"/>
                  </a:schemeClr>
                </a:solidFill>
                <a:highlight>
                  <a:srgbClr val="FFFF00"/>
                </a:highlight>
              </a:rPr>
              <a:t>42③Ⅱ), </a:t>
            </a:r>
            <a:r>
              <a:rPr lang="ko-KR" altLang="en-US" sz="1400" dirty="0" err="1">
                <a:solidFill>
                  <a:schemeClr val="accent3">
                    <a:lumMod val="50000"/>
                  </a:schemeClr>
                </a:solidFill>
                <a:highlight>
                  <a:srgbClr val="FFFF00"/>
                </a:highlight>
              </a:rPr>
              <a:t>다항제</a:t>
            </a:r>
            <a:r>
              <a:rPr lang="ko-KR" altLang="en-US" sz="1400" dirty="0">
                <a:solidFill>
                  <a:schemeClr val="accent3">
                    <a:lumMod val="50000"/>
                  </a:schemeClr>
                </a:solidFill>
                <a:highlight>
                  <a:srgbClr val="FFFF00"/>
                </a:highlight>
              </a:rPr>
              <a:t> 기재방법</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法 </a:t>
            </a:r>
            <a:r>
              <a:rPr lang="en-US" altLang="ko-KR" sz="1400" dirty="0">
                <a:solidFill>
                  <a:schemeClr val="accent3">
                    <a:lumMod val="50000"/>
                  </a:schemeClr>
                </a:solidFill>
                <a:highlight>
                  <a:srgbClr val="FFFF00"/>
                </a:highlight>
              </a:rPr>
              <a:t>42⑧), </a:t>
            </a:r>
            <a:r>
              <a:rPr lang="ko-KR" altLang="en-US" sz="1400" dirty="0">
                <a:solidFill>
                  <a:schemeClr val="accent3">
                    <a:lumMod val="50000"/>
                  </a:schemeClr>
                </a:solidFill>
                <a:highlight>
                  <a:srgbClr val="FFFF00"/>
                </a:highlight>
              </a:rPr>
              <a:t>하나의 특허출원의 범위</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法 </a:t>
            </a:r>
            <a:r>
              <a:rPr lang="en-US" altLang="ko-KR" sz="1400" dirty="0">
                <a:solidFill>
                  <a:schemeClr val="accent3">
                    <a:lumMod val="50000"/>
                  </a:schemeClr>
                </a:solidFill>
                <a:highlight>
                  <a:srgbClr val="FFFF00"/>
                </a:highlight>
              </a:rPr>
              <a:t>45)</a:t>
            </a:r>
            <a:r>
              <a:rPr lang="ko-KR" altLang="en-US" sz="1400" dirty="0">
                <a:solidFill>
                  <a:schemeClr val="accent3">
                    <a:lumMod val="50000"/>
                  </a:schemeClr>
                </a:solidFill>
                <a:highlight>
                  <a:srgbClr val="FFFF00"/>
                </a:highlight>
              </a:rPr>
              <a:t>는 심사의 신속성을 위한 절차적 </a:t>
            </a:r>
            <a:r>
              <a:rPr lang="ko-KR" altLang="en-US" sz="1400" dirty="0" err="1">
                <a:solidFill>
                  <a:schemeClr val="accent3">
                    <a:lumMod val="50000"/>
                  </a:schemeClr>
                </a:solidFill>
                <a:highlight>
                  <a:srgbClr val="FFFF00"/>
                </a:highlight>
              </a:rPr>
              <a:t>특허요건이고</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특허무효사유가 아니므로 이 요건을 적용하지 않는 것</a:t>
            </a:r>
            <a:r>
              <a:rPr lang="ko-KR" altLang="en-US" sz="1400" dirty="0">
                <a:solidFill>
                  <a:schemeClr val="accent3">
                    <a:lumMod val="50000"/>
                  </a:schemeClr>
                </a:solidFill>
              </a:rPr>
              <a:t>이 타당하다</a:t>
            </a:r>
            <a:r>
              <a:rPr lang="en-US" altLang="ko-KR" sz="1400" dirty="0">
                <a:solidFill>
                  <a:schemeClr val="accent3">
                    <a:lumMod val="50000"/>
                  </a:schemeClr>
                </a:solidFill>
              </a:rPr>
              <a:t>. </a:t>
            </a:r>
            <a:r>
              <a:rPr lang="ko-KR" altLang="en-US" sz="1400" dirty="0">
                <a:solidFill>
                  <a:schemeClr val="accent3">
                    <a:lumMod val="50000"/>
                  </a:schemeClr>
                </a:solidFill>
              </a:rPr>
              <a:t>한편</a:t>
            </a:r>
            <a:r>
              <a:rPr lang="en-US" altLang="ko-KR" sz="1400" dirty="0">
                <a:solidFill>
                  <a:schemeClr val="accent3">
                    <a:lumMod val="50000"/>
                  </a:schemeClr>
                </a:solidFill>
              </a:rPr>
              <a:t> </a:t>
            </a:r>
            <a:r>
              <a:rPr lang="ko-KR" altLang="en-US" sz="1400" dirty="0">
                <a:solidFill>
                  <a:schemeClr val="accent3">
                    <a:lumMod val="50000"/>
                  </a:schemeClr>
                </a:solidFill>
              </a:rPr>
              <a:t>청구범위를 감축하거나 잘못 기재된 사항을 정정하는 경우에만 본 요건에 해당하는지 여부를 판단하고</a:t>
            </a:r>
            <a:r>
              <a:rPr lang="en-US" altLang="ko-KR" sz="1400" dirty="0">
                <a:solidFill>
                  <a:schemeClr val="accent3">
                    <a:lumMod val="50000"/>
                  </a:schemeClr>
                </a:solidFill>
              </a:rPr>
              <a:t>, </a:t>
            </a:r>
            <a:r>
              <a:rPr lang="ko-KR" altLang="en-US" sz="1400" dirty="0">
                <a:solidFill>
                  <a:schemeClr val="accent3">
                    <a:lumMod val="50000"/>
                  </a:schemeClr>
                </a:solidFill>
              </a:rPr>
              <a:t>분명하지 아니하게 기재된 사항을 명확하게 하는 경우에는 본 요건에 해당하는지 여부를 판단하지 아니한다</a:t>
            </a:r>
            <a:r>
              <a:rPr lang="en-US" altLang="ko-KR" sz="1400" dirty="0">
                <a:solidFill>
                  <a:schemeClr val="accent3">
                    <a:lumMod val="50000"/>
                  </a:schemeClr>
                </a:solidFill>
              </a:rPr>
              <a:t>. </a:t>
            </a:r>
            <a:r>
              <a:rPr lang="ko-KR" altLang="en-US" sz="1400" dirty="0">
                <a:solidFill>
                  <a:schemeClr val="accent3">
                    <a:lumMod val="50000"/>
                  </a:schemeClr>
                </a:solidFill>
              </a:rPr>
              <a:t>따라서 정정대상으로 삼지 아니한 다른 부분에 분명하지 아니한 기재가 있다고 하더라도</a:t>
            </a:r>
            <a:r>
              <a:rPr lang="en-US" altLang="ko-KR" sz="1400" dirty="0">
                <a:solidFill>
                  <a:schemeClr val="accent3">
                    <a:lumMod val="50000"/>
                  </a:schemeClr>
                </a:solidFill>
              </a:rPr>
              <a:t>, </a:t>
            </a:r>
            <a:r>
              <a:rPr lang="ko-KR" altLang="en-US" sz="1400" dirty="0">
                <a:solidFill>
                  <a:schemeClr val="accent3">
                    <a:lumMod val="50000"/>
                  </a:schemeClr>
                </a:solidFill>
              </a:rPr>
              <a:t>이는 원칙적으로 별도의 정정심판이나 특허무효심판절차에서 다룰 사항에 불과하고 해당 정정을 </a:t>
            </a:r>
            <a:r>
              <a:rPr lang="ko-KR" altLang="en-US" sz="1400" dirty="0" err="1">
                <a:solidFill>
                  <a:schemeClr val="accent3">
                    <a:lumMod val="50000"/>
                  </a:schemeClr>
                </a:solidFill>
              </a:rPr>
              <a:t>불인정할</a:t>
            </a:r>
            <a:r>
              <a:rPr lang="ko-KR" altLang="en-US" sz="1400" dirty="0">
                <a:solidFill>
                  <a:schemeClr val="accent3">
                    <a:lumMod val="50000"/>
                  </a:schemeClr>
                </a:solidFill>
              </a:rPr>
              <a:t> 사유는 되지 못한다고 할 것이다</a:t>
            </a:r>
            <a:r>
              <a:rPr lang="en-US" altLang="ko-KR" sz="1400" dirty="0">
                <a:solidFill>
                  <a:schemeClr val="accent3">
                    <a:lumMod val="50000"/>
                  </a:schemeClr>
                </a:solidFill>
              </a:rPr>
              <a:t>.  </a:t>
            </a:r>
            <a:r>
              <a:rPr lang="ko-KR" altLang="en-US" sz="1400" dirty="0">
                <a:solidFill>
                  <a:schemeClr val="accent3">
                    <a:lumMod val="50000"/>
                  </a:schemeClr>
                </a:solidFill>
              </a:rPr>
              <a:t>이는 </a:t>
            </a:r>
            <a:r>
              <a:rPr lang="ko-KR" altLang="en-US" sz="1400" dirty="0">
                <a:solidFill>
                  <a:schemeClr val="accent3">
                    <a:lumMod val="50000"/>
                  </a:schemeClr>
                </a:solidFill>
                <a:highlight>
                  <a:srgbClr val="FFFF00"/>
                </a:highlight>
              </a:rPr>
              <a:t>정정한 명세서 또는 도면의 전체에 의하여 정정의 인정 여부를 판단하는데</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정정대상으로 삼지 아니한 다른 부분에 분명하지 아니한 기재가 본 요건을 만족하지 못해 정정을 인정해 줄 수 없게 된다면</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정정의 인정범위를 너무 좁혀 특허권자의 입장에서 실효적인 대응수단으로 작동할 수 없게 되기 때문</a:t>
            </a:r>
            <a:r>
              <a:rPr lang="ko-KR" altLang="en-US" sz="1400" dirty="0">
                <a:solidFill>
                  <a:schemeClr val="accent3">
                    <a:lumMod val="50000"/>
                  </a:schemeClr>
                </a:solidFill>
              </a:rPr>
              <a:t>인 것으로 사료된다</a:t>
            </a:r>
            <a:r>
              <a:rPr lang="en-US" altLang="ko-KR" sz="1400" dirty="0">
                <a:solidFill>
                  <a:schemeClr val="accent3">
                    <a:lumMod val="50000"/>
                  </a:schemeClr>
                </a:solidFill>
              </a:rPr>
              <a:t>.</a:t>
            </a:r>
            <a:endParaRPr lang="ko-KR" altLang="en-US" sz="1400" dirty="0">
              <a:solidFill>
                <a:schemeClr val="accent3">
                  <a:lumMod val="50000"/>
                </a:schemeClr>
              </a:solidFill>
            </a:endParaRPr>
          </a:p>
        </p:txBody>
      </p:sp>
      <p:graphicFrame>
        <p:nvGraphicFramePr>
          <p:cNvPr id="18" name="표 17">
            <a:extLst>
              <a:ext uri="{FF2B5EF4-FFF2-40B4-BE49-F238E27FC236}">
                <a16:creationId xmlns:a16="http://schemas.microsoft.com/office/drawing/2014/main" id="{DC9EEB20-E064-0836-127B-5EDF62593937}"/>
              </a:ext>
            </a:extLst>
          </p:cNvPr>
          <p:cNvGraphicFramePr>
            <a:graphicFrameLocks noGrp="1"/>
          </p:cNvGraphicFramePr>
          <p:nvPr/>
        </p:nvGraphicFramePr>
        <p:xfrm>
          <a:off x="349625" y="4092264"/>
          <a:ext cx="4539669" cy="1832991"/>
        </p:xfrm>
        <a:graphic>
          <a:graphicData uri="http://schemas.openxmlformats.org/drawingml/2006/table">
            <a:tbl>
              <a:tblPr/>
              <a:tblGrid>
                <a:gridCol w="479219">
                  <a:extLst>
                    <a:ext uri="{9D8B030D-6E8A-4147-A177-3AD203B41FA5}">
                      <a16:colId xmlns:a16="http://schemas.microsoft.com/office/drawing/2014/main" val="4132942495"/>
                    </a:ext>
                  </a:extLst>
                </a:gridCol>
                <a:gridCol w="860305">
                  <a:extLst>
                    <a:ext uri="{9D8B030D-6E8A-4147-A177-3AD203B41FA5}">
                      <a16:colId xmlns:a16="http://schemas.microsoft.com/office/drawing/2014/main" val="1490272941"/>
                    </a:ext>
                  </a:extLst>
                </a:gridCol>
                <a:gridCol w="1385745">
                  <a:extLst>
                    <a:ext uri="{9D8B030D-6E8A-4147-A177-3AD203B41FA5}">
                      <a16:colId xmlns:a16="http://schemas.microsoft.com/office/drawing/2014/main" val="3251876981"/>
                    </a:ext>
                  </a:extLst>
                </a:gridCol>
                <a:gridCol w="1814400">
                  <a:extLst>
                    <a:ext uri="{9D8B030D-6E8A-4147-A177-3AD203B41FA5}">
                      <a16:colId xmlns:a16="http://schemas.microsoft.com/office/drawing/2014/main" val="4244405390"/>
                    </a:ext>
                  </a:extLst>
                </a:gridCol>
              </a:tblGrid>
              <a:tr h="257937">
                <a:tc>
                  <a:txBody>
                    <a:bodyPr/>
                    <a:lstStyle/>
                    <a:p>
                      <a:pPr marL="0" marR="0" indent="0" algn="ctr" fontAlgn="base" latinLnBrk="0">
                        <a:lnSpc>
                          <a:spcPct val="130000"/>
                        </a:lnSpc>
                        <a:spcBef>
                          <a:spcPts val="0"/>
                        </a:spcBef>
                        <a:spcAft>
                          <a:spcPts val="0"/>
                        </a:spcAft>
                      </a:pPr>
                      <a:r>
                        <a:rPr lang="ko-KR" altLang="en-US" sz="1050" kern="0" spc="-100">
                          <a:solidFill>
                            <a:srgbClr val="000000"/>
                          </a:solidFill>
                          <a:effectLst/>
                          <a:highlight>
                            <a:srgbClr val="F2F2F2"/>
                          </a:highlight>
                          <a:latin typeface="+mn-ea"/>
                          <a:ea typeface="+mn-ea"/>
                        </a:rPr>
                        <a:t>구분</a:t>
                      </a:r>
                    </a:p>
                  </a:txBody>
                  <a:tcPr marL="35941" marR="35941" marT="35941" marB="35941"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F2F2F2"/>
                    </a:solidFill>
                  </a:tcPr>
                </a:tc>
                <a:tc>
                  <a:txBody>
                    <a:bodyPr/>
                    <a:lstStyle/>
                    <a:p>
                      <a:pPr marL="0" marR="0" indent="0" algn="ctr" fontAlgn="base" latinLnBrk="0">
                        <a:lnSpc>
                          <a:spcPct val="130000"/>
                        </a:lnSpc>
                        <a:spcBef>
                          <a:spcPts val="0"/>
                        </a:spcBef>
                        <a:spcAft>
                          <a:spcPts val="0"/>
                        </a:spcAft>
                      </a:pPr>
                      <a:r>
                        <a:rPr lang="ko-KR" altLang="en-US" sz="1050" kern="0" spc="-100">
                          <a:solidFill>
                            <a:srgbClr val="000000"/>
                          </a:solidFill>
                          <a:effectLst/>
                          <a:highlight>
                            <a:srgbClr val="F2F2F2"/>
                          </a:highlight>
                          <a:latin typeface="+mn-ea"/>
                          <a:ea typeface="+mn-ea"/>
                        </a:rPr>
                        <a:t>정정대상</a:t>
                      </a:r>
                    </a:p>
                  </a:txBody>
                  <a:tcPr marL="35941" marR="35941" marT="35941" marB="35941"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F2F2F2"/>
                    </a:solidFill>
                  </a:tcPr>
                </a:tc>
                <a:tc>
                  <a:txBody>
                    <a:bodyPr/>
                    <a:lstStyle/>
                    <a:p>
                      <a:pPr marL="0" marR="0" indent="0" algn="ctr" fontAlgn="base" latinLnBrk="0">
                        <a:lnSpc>
                          <a:spcPct val="130000"/>
                        </a:lnSpc>
                        <a:spcBef>
                          <a:spcPts val="0"/>
                        </a:spcBef>
                        <a:spcAft>
                          <a:spcPts val="0"/>
                        </a:spcAft>
                      </a:pPr>
                      <a:r>
                        <a:rPr lang="ko-KR" altLang="en-US" sz="1050" kern="0" spc="-100">
                          <a:solidFill>
                            <a:srgbClr val="000000"/>
                          </a:solidFill>
                          <a:effectLst/>
                          <a:highlight>
                            <a:srgbClr val="F2F2F2"/>
                          </a:highlight>
                          <a:latin typeface="+mn-ea"/>
                          <a:ea typeface="+mn-ea"/>
                        </a:rPr>
                        <a:t>정정심판전 청구범위</a:t>
                      </a:r>
                    </a:p>
                  </a:txBody>
                  <a:tcPr marL="35941" marR="35941" marT="35941" marB="35941"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F2F2F2"/>
                    </a:solidFill>
                  </a:tcPr>
                </a:tc>
                <a:tc>
                  <a:txBody>
                    <a:bodyPr/>
                    <a:lstStyle/>
                    <a:p>
                      <a:pPr marL="0" marR="0" indent="0" algn="ctr" fontAlgn="base" latinLnBrk="0">
                        <a:lnSpc>
                          <a:spcPct val="130000"/>
                        </a:lnSpc>
                        <a:spcBef>
                          <a:spcPts val="0"/>
                        </a:spcBef>
                        <a:spcAft>
                          <a:spcPts val="0"/>
                        </a:spcAft>
                      </a:pPr>
                      <a:r>
                        <a:rPr lang="ko-KR" altLang="en-US" sz="1050" kern="0" spc="-100">
                          <a:solidFill>
                            <a:srgbClr val="000000"/>
                          </a:solidFill>
                          <a:effectLst/>
                          <a:highlight>
                            <a:srgbClr val="F2F2F2"/>
                          </a:highlight>
                          <a:latin typeface="+mn-ea"/>
                          <a:ea typeface="+mn-ea"/>
                        </a:rPr>
                        <a:t>정정심판후 청구범위</a:t>
                      </a:r>
                    </a:p>
                  </a:txBody>
                  <a:tcPr marL="35941" marR="35941" marT="35941" marB="35941"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55431444"/>
                  </a:ext>
                </a:extLst>
              </a:tr>
              <a:tr h="0">
                <a:tc>
                  <a:txBody>
                    <a:bodyPr/>
                    <a:lstStyle/>
                    <a:p>
                      <a:pPr marL="0" marR="0" indent="0" algn="ctr" fontAlgn="base" latinLnBrk="0">
                        <a:lnSpc>
                          <a:spcPct val="130000"/>
                        </a:lnSpc>
                        <a:spcBef>
                          <a:spcPts val="0"/>
                        </a:spcBef>
                        <a:spcAft>
                          <a:spcPts val="0"/>
                        </a:spcAft>
                      </a:pPr>
                      <a:r>
                        <a:rPr lang="ko-KR" altLang="en-US" sz="1050" kern="0" spc="-100">
                          <a:solidFill>
                            <a:srgbClr val="000000"/>
                          </a:solidFill>
                          <a:effectLst/>
                          <a:latin typeface="+mn-ea"/>
                          <a:ea typeface="+mn-ea"/>
                        </a:rPr>
                        <a:t>정정</a:t>
                      </a:r>
                    </a:p>
                    <a:p>
                      <a:pPr marL="0" marR="0" indent="0" algn="ctr" fontAlgn="base" latinLnBrk="0">
                        <a:lnSpc>
                          <a:spcPct val="130000"/>
                        </a:lnSpc>
                        <a:spcBef>
                          <a:spcPts val="0"/>
                        </a:spcBef>
                        <a:spcAft>
                          <a:spcPts val="0"/>
                        </a:spcAft>
                      </a:pPr>
                      <a:r>
                        <a:rPr lang="ko-KR" altLang="en-US" sz="1050" kern="0" spc="-100">
                          <a:solidFill>
                            <a:srgbClr val="000000"/>
                          </a:solidFill>
                          <a:effectLst/>
                          <a:latin typeface="+mn-ea"/>
                          <a:ea typeface="+mn-ea"/>
                        </a:rPr>
                        <a:t>사항 </a:t>
                      </a:r>
                      <a:r>
                        <a:rPr lang="en-US" altLang="ko-KR" sz="1050" kern="0" spc="-100">
                          <a:solidFill>
                            <a:srgbClr val="000000"/>
                          </a:solidFill>
                          <a:effectLst/>
                          <a:latin typeface="+mn-ea"/>
                          <a:ea typeface="+mn-ea"/>
                        </a:rPr>
                        <a:t>1</a:t>
                      </a:r>
                      <a:endParaRPr lang="ko-KR" altLang="en-US" sz="1050" kern="0" spc="-100">
                        <a:solidFill>
                          <a:srgbClr val="000000"/>
                        </a:solidFill>
                        <a:effectLst/>
                        <a:latin typeface="+mn-ea"/>
                        <a:ea typeface="+mn-ea"/>
                      </a:endParaRPr>
                    </a:p>
                  </a:txBody>
                  <a:tcPr marL="35941" marR="35941" marT="35941" marB="35941"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noFill/>
                  </a:tcPr>
                </a:tc>
                <a:tc>
                  <a:txBody>
                    <a:bodyPr/>
                    <a:lstStyle/>
                    <a:p>
                      <a:pPr marL="17780" marR="17780" indent="0" algn="just" fontAlgn="base" latinLnBrk="1">
                        <a:lnSpc>
                          <a:spcPct val="130000"/>
                        </a:lnSpc>
                        <a:spcBef>
                          <a:spcPts val="0"/>
                        </a:spcBef>
                        <a:spcAft>
                          <a:spcPts val="0"/>
                        </a:spcAft>
                      </a:pPr>
                      <a:r>
                        <a:rPr lang="ko-KR" altLang="en-US" sz="1050" kern="0" spc="-50">
                          <a:solidFill>
                            <a:srgbClr val="000000"/>
                          </a:solidFill>
                          <a:effectLst/>
                          <a:latin typeface="+mn-ea"/>
                          <a:ea typeface="+mn-ea"/>
                        </a:rPr>
                        <a:t>발명의 명칭</a:t>
                      </a:r>
                    </a:p>
                  </a:txBody>
                  <a:tcPr marL="35941" marR="35941" marT="35941" marB="35941"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noFill/>
                  </a:tcPr>
                </a:tc>
                <a:tc>
                  <a:txBody>
                    <a:bodyPr/>
                    <a:lstStyle/>
                    <a:p>
                      <a:pPr marL="17780" marR="17780" indent="0" algn="just" fontAlgn="base" latinLnBrk="1">
                        <a:lnSpc>
                          <a:spcPct val="130000"/>
                        </a:lnSpc>
                        <a:spcBef>
                          <a:spcPts val="0"/>
                        </a:spcBef>
                        <a:spcAft>
                          <a:spcPts val="0"/>
                        </a:spcAft>
                      </a:pPr>
                      <a:r>
                        <a:rPr lang="ko-KR" altLang="en-US" sz="1050" kern="0" spc="-50" dirty="0">
                          <a:solidFill>
                            <a:srgbClr val="000000"/>
                          </a:solidFill>
                          <a:effectLst/>
                          <a:latin typeface="+mn-ea"/>
                          <a:ea typeface="+mn-ea"/>
                        </a:rPr>
                        <a:t>워드프로세서의 단어목록 </a:t>
                      </a:r>
                      <a:r>
                        <a:rPr lang="ko-KR" altLang="en-US" sz="1050" kern="0" spc="-50" dirty="0">
                          <a:solidFill>
                            <a:srgbClr val="FF0000"/>
                          </a:solidFill>
                          <a:effectLst/>
                          <a:latin typeface="+mn-ea"/>
                          <a:ea typeface="+mn-ea"/>
                        </a:rPr>
                        <a:t>윈도</a:t>
                      </a:r>
                    </a:p>
                  </a:txBody>
                  <a:tcPr marL="35941" marR="35941" marT="35941" marB="35941"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noFill/>
                  </a:tcPr>
                </a:tc>
                <a:tc>
                  <a:txBody>
                    <a:bodyPr/>
                    <a:lstStyle/>
                    <a:p>
                      <a:pPr marL="17780" marR="17780" indent="0" algn="just" fontAlgn="base" latinLnBrk="1">
                        <a:lnSpc>
                          <a:spcPct val="130000"/>
                        </a:lnSpc>
                        <a:spcBef>
                          <a:spcPts val="0"/>
                        </a:spcBef>
                        <a:spcAft>
                          <a:spcPts val="0"/>
                        </a:spcAft>
                      </a:pPr>
                      <a:r>
                        <a:rPr lang="ko-KR" altLang="en-US" sz="1050" kern="0" spc="-50" dirty="0">
                          <a:solidFill>
                            <a:srgbClr val="000000"/>
                          </a:solidFill>
                          <a:effectLst/>
                          <a:latin typeface="+mn-ea"/>
                          <a:ea typeface="+mn-ea"/>
                        </a:rPr>
                        <a:t>워드프로세서의 단어목록 </a:t>
                      </a:r>
                      <a:r>
                        <a:rPr lang="ko-KR" altLang="en-US" sz="1050" kern="0" spc="-50" dirty="0">
                          <a:solidFill>
                            <a:srgbClr val="FF0000"/>
                          </a:solidFill>
                          <a:effectLst/>
                          <a:latin typeface="+mn-ea"/>
                          <a:ea typeface="+mn-ea"/>
                        </a:rPr>
                        <a:t>윈도를 나타내는 방법</a:t>
                      </a:r>
                    </a:p>
                  </a:txBody>
                  <a:tcPr marL="35941" marR="35941" marT="35941" marB="35941"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70506965"/>
                  </a:ext>
                </a:extLst>
              </a:tr>
              <a:tr h="0">
                <a:tc>
                  <a:txBody>
                    <a:bodyPr/>
                    <a:lstStyle/>
                    <a:p>
                      <a:pPr marL="0" marR="0" indent="0" algn="ctr" fontAlgn="base" latinLnBrk="0">
                        <a:lnSpc>
                          <a:spcPct val="130000"/>
                        </a:lnSpc>
                        <a:spcBef>
                          <a:spcPts val="0"/>
                        </a:spcBef>
                        <a:spcAft>
                          <a:spcPts val="0"/>
                        </a:spcAft>
                      </a:pPr>
                      <a:r>
                        <a:rPr lang="ko-KR" altLang="en-US" sz="1050" kern="0" spc="-100">
                          <a:solidFill>
                            <a:srgbClr val="000000"/>
                          </a:solidFill>
                          <a:effectLst/>
                          <a:latin typeface="+mn-ea"/>
                          <a:ea typeface="+mn-ea"/>
                        </a:rPr>
                        <a:t>정정</a:t>
                      </a:r>
                    </a:p>
                    <a:p>
                      <a:pPr marL="0" marR="0" indent="0" algn="ctr" fontAlgn="base" latinLnBrk="0">
                        <a:lnSpc>
                          <a:spcPct val="130000"/>
                        </a:lnSpc>
                        <a:spcBef>
                          <a:spcPts val="0"/>
                        </a:spcBef>
                        <a:spcAft>
                          <a:spcPts val="0"/>
                        </a:spcAft>
                      </a:pPr>
                      <a:r>
                        <a:rPr lang="ko-KR" altLang="en-US" sz="1050" kern="0" spc="-100">
                          <a:solidFill>
                            <a:srgbClr val="000000"/>
                          </a:solidFill>
                          <a:effectLst/>
                          <a:latin typeface="+mn-ea"/>
                          <a:ea typeface="+mn-ea"/>
                        </a:rPr>
                        <a:t>사항 </a:t>
                      </a:r>
                      <a:r>
                        <a:rPr lang="en-US" altLang="ko-KR" sz="1050" kern="0" spc="-100">
                          <a:solidFill>
                            <a:srgbClr val="000000"/>
                          </a:solidFill>
                          <a:effectLst/>
                          <a:latin typeface="+mn-ea"/>
                          <a:ea typeface="+mn-ea"/>
                        </a:rPr>
                        <a:t>2</a:t>
                      </a:r>
                      <a:endParaRPr lang="ko-KR" altLang="en-US" sz="1050" kern="0" spc="-100">
                        <a:solidFill>
                          <a:srgbClr val="000000"/>
                        </a:solidFill>
                        <a:effectLst/>
                        <a:latin typeface="+mn-ea"/>
                        <a:ea typeface="+mn-ea"/>
                      </a:endParaRPr>
                    </a:p>
                  </a:txBody>
                  <a:tcPr marL="35941" marR="35941" marT="35941" marB="35941"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noFill/>
                  </a:tcPr>
                </a:tc>
                <a:tc>
                  <a:txBody>
                    <a:bodyPr/>
                    <a:lstStyle/>
                    <a:p>
                      <a:pPr marL="17780" marR="17780" indent="0" algn="just" fontAlgn="base" latinLnBrk="1">
                        <a:lnSpc>
                          <a:spcPct val="130000"/>
                        </a:lnSpc>
                        <a:spcBef>
                          <a:spcPts val="0"/>
                        </a:spcBef>
                        <a:spcAft>
                          <a:spcPts val="0"/>
                        </a:spcAft>
                      </a:pPr>
                      <a:r>
                        <a:rPr lang="ko-KR" altLang="en-US" sz="1050" kern="0" spc="-50">
                          <a:solidFill>
                            <a:srgbClr val="000000"/>
                          </a:solidFill>
                          <a:effectLst/>
                          <a:latin typeface="+mn-ea"/>
                          <a:ea typeface="+mn-ea"/>
                        </a:rPr>
                        <a:t>청구항 </a:t>
                      </a:r>
                      <a:r>
                        <a:rPr lang="en-US" altLang="ko-KR" sz="1050" kern="0" spc="-50">
                          <a:solidFill>
                            <a:srgbClr val="000000"/>
                          </a:solidFill>
                          <a:effectLst/>
                          <a:latin typeface="+mn-ea"/>
                          <a:ea typeface="+mn-ea"/>
                        </a:rPr>
                        <a:t>1</a:t>
                      </a:r>
                      <a:endParaRPr lang="ko-KR" altLang="en-US" sz="1050" kern="0" spc="-50">
                        <a:solidFill>
                          <a:srgbClr val="000000"/>
                        </a:solidFill>
                        <a:effectLst/>
                        <a:latin typeface="+mn-ea"/>
                        <a:ea typeface="+mn-ea"/>
                      </a:endParaRPr>
                    </a:p>
                    <a:p>
                      <a:pPr marL="17780" marR="17780" indent="0" algn="just" fontAlgn="base" latinLnBrk="1">
                        <a:lnSpc>
                          <a:spcPct val="130000"/>
                        </a:lnSpc>
                        <a:spcBef>
                          <a:spcPts val="0"/>
                        </a:spcBef>
                        <a:spcAft>
                          <a:spcPts val="0"/>
                        </a:spcAft>
                      </a:pPr>
                      <a:r>
                        <a:rPr lang="ko-KR" altLang="en-US" sz="1050" kern="0" spc="-50">
                          <a:solidFill>
                            <a:srgbClr val="000000"/>
                          </a:solidFill>
                          <a:effectLst/>
                          <a:latin typeface="+mn-ea"/>
                          <a:ea typeface="+mn-ea"/>
                        </a:rPr>
                        <a:t>내지</a:t>
                      </a:r>
                    </a:p>
                    <a:p>
                      <a:pPr marL="17780" marR="17780" indent="0" algn="just" fontAlgn="base" latinLnBrk="1">
                        <a:lnSpc>
                          <a:spcPct val="130000"/>
                        </a:lnSpc>
                        <a:spcBef>
                          <a:spcPts val="0"/>
                        </a:spcBef>
                        <a:spcAft>
                          <a:spcPts val="0"/>
                        </a:spcAft>
                      </a:pPr>
                      <a:r>
                        <a:rPr lang="ko-KR" altLang="en-US" sz="1050" kern="0" spc="-50">
                          <a:solidFill>
                            <a:srgbClr val="000000"/>
                          </a:solidFill>
                          <a:effectLst/>
                          <a:latin typeface="+mn-ea"/>
                          <a:ea typeface="+mn-ea"/>
                        </a:rPr>
                        <a:t>청구항 </a:t>
                      </a:r>
                      <a:r>
                        <a:rPr lang="en-US" altLang="ko-KR" sz="1050" kern="0" spc="-50">
                          <a:solidFill>
                            <a:srgbClr val="000000"/>
                          </a:solidFill>
                          <a:effectLst/>
                          <a:latin typeface="+mn-ea"/>
                          <a:ea typeface="+mn-ea"/>
                        </a:rPr>
                        <a:t>4</a:t>
                      </a:r>
                      <a:endParaRPr lang="ko-KR" altLang="en-US" sz="1050" kern="0" spc="-50">
                        <a:solidFill>
                          <a:srgbClr val="000000"/>
                        </a:solidFill>
                        <a:effectLst/>
                        <a:latin typeface="+mn-ea"/>
                        <a:ea typeface="+mn-ea"/>
                      </a:endParaRPr>
                    </a:p>
                  </a:txBody>
                  <a:tcPr marL="35941" marR="35941" marT="35941" marB="35941"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noFill/>
                  </a:tcPr>
                </a:tc>
                <a:tc>
                  <a:txBody>
                    <a:bodyPr/>
                    <a:lstStyle/>
                    <a:p>
                      <a:pPr marL="17780" marR="17780" indent="0" algn="just" fontAlgn="base" latinLnBrk="1">
                        <a:lnSpc>
                          <a:spcPct val="130000"/>
                        </a:lnSpc>
                        <a:spcBef>
                          <a:spcPts val="0"/>
                        </a:spcBef>
                        <a:spcAft>
                          <a:spcPts val="0"/>
                        </a:spcAft>
                      </a:pPr>
                      <a:r>
                        <a:rPr lang="en-US" altLang="ko-KR" sz="1050" kern="0" spc="-50" dirty="0">
                          <a:solidFill>
                            <a:srgbClr val="000000"/>
                          </a:solidFill>
                          <a:effectLst/>
                          <a:latin typeface="+mn-ea"/>
                          <a:ea typeface="+mn-ea"/>
                        </a:rPr>
                        <a:t>······ </a:t>
                      </a:r>
                      <a:r>
                        <a:rPr lang="ko-KR" altLang="en-US" sz="1050" kern="0" spc="-50" dirty="0">
                          <a:solidFill>
                            <a:srgbClr val="000000"/>
                          </a:solidFill>
                          <a:effectLst/>
                          <a:latin typeface="+mn-ea"/>
                          <a:ea typeface="+mn-ea"/>
                        </a:rPr>
                        <a:t>단어들</a:t>
                      </a:r>
                      <a:r>
                        <a:rPr lang="en-US" altLang="ko-KR" sz="1050" kern="0" spc="-50" dirty="0">
                          <a:solidFill>
                            <a:srgbClr val="000000"/>
                          </a:solidFill>
                          <a:effectLst/>
                          <a:latin typeface="+mn-ea"/>
                          <a:ea typeface="+mn-ea"/>
                        </a:rPr>
                        <a:t>(</a:t>
                      </a:r>
                      <a:r>
                        <a:rPr lang="ko-KR" altLang="en-US" sz="1050" kern="0" spc="-50" dirty="0">
                          <a:solidFill>
                            <a:srgbClr val="000000"/>
                          </a:solidFill>
                          <a:effectLst/>
                          <a:latin typeface="+mn-ea"/>
                          <a:ea typeface="+mn-ea"/>
                        </a:rPr>
                        <a:t>우선순위가 높은 단어들</a:t>
                      </a:r>
                      <a:r>
                        <a:rPr lang="en-US" altLang="ko-KR" sz="1050" kern="0" spc="-50" dirty="0">
                          <a:solidFill>
                            <a:srgbClr val="000000"/>
                          </a:solidFill>
                          <a:effectLst/>
                          <a:latin typeface="+mn-ea"/>
                          <a:ea typeface="+mn-ea"/>
                        </a:rPr>
                        <a:t>)</a:t>
                      </a:r>
                      <a:r>
                        <a:rPr lang="ko-KR" altLang="en-US" sz="1050" kern="0" spc="-50" dirty="0">
                          <a:solidFill>
                            <a:srgbClr val="000000"/>
                          </a:solidFill>
                          <a:effectLst/>
                          <a:latin typeface="+mn-ea"/>
                          <a:ea typeface="+mn-ea"/>
                        </a:rPr>
                        <a:t>을 화면에 나타내 주게 됨을 특징으로 하는 워드프로세서의 단어목록 </a:t>
                      </a:r>
                      <a:r>
                        <a:rPr lang="ko-KR" altLang="en-US" sz="1050" kern="0" spc="-50" dirty="0">
                          <a:solidFill>
                            <a:srgbClr val="FF0000"/>
                          </a:solidFill>
                          <a:effectLst/>
                          <a:latin typeface="+mn-ea"/>
                          <a:ea typeface="+mn-ea"/>
                        </a:rPr>
                        <a:t>윈도</a:t>
                      </a:r>
                    </a:p>
                  </a:txBody>
                  <a:tcPr marL="35941" marR="35941" marT="35941" marB="35941"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noFill/>
                  </a:tcPr>
                </a:tc>
                <a:tc>
                  <a:txBody>
                    <a:bodyPr/>
                    <a:lstStyle/>
                    <a:p>
                      <a:pPr marL="17780" marR="17780" indent="0" algn="just" fontAlgn="base" latinLnBrk="1">
                        <a:lnSpc>
                          <a:spcPct val="130000"/>
                        </a:lnSpc>
                        <a:spcBef>
                          <a:spcPts val="0"/>
                        </a:spcBef>
                        <a:spcAft>
                          <a:spcPts val="0"/>
                        </a:spcAft>
                      </a:pPr>
                      <a:r>
                        <a:rPr lang="en-US" altLang="ko-KR" sz="1050" kern="0" spc="-50" dirty="0">
                          <a:solidFill>
                            <a:srgbClr val="000000"/>
                          </a:solidFill>
                          <a:effectLst/>
                          <a:latin typeface="+mn-ea"/>
                          <a:ea typeface="+mn-ea"/>
                        </a:rPr>
                        <a:t>······ </a:t>
                      </a:r>
                      <a:r>
                        <a:rPr lang="ko-KR" altLang="en-US" sz="1050" kern="0" spc="-50" dirty="0">
                          <a:solidFill>
                            <a:srgbClr val="000000"/>
                          </a:solidFill>
                          <a:effectLst/>
                          <a:latin typeface="+mn-ea"/>
                          <a:ea typeface="+mn-ea"/>
                        </a:rPr>
                        <a:t>단어들</a:t>
                      </a:r>
                      <a:r>
                        <a:rPr lang="en-US" altLang="ko-KR" sz="1050" kern="0" spc="-50" dirty="0">
                          <a:solidFill>
                            <a:srgbClr val="000000"/>
                          </a:solidFill>
                          <a:effectLst/>
                          <a:latin typeface="+mn-ea"/>
                          <a:ea typeface="+mn-ea"/>
                        </a:rPr>
                        <a:t>(</a:t>
                      </a:r>
                      <a:r>
                        <a:rPr lang="ko-KR" altLang="en-US" sz="1050" kern="0" spc="-50" dirty="0">
                          <a:solidFill>
                            <a:srgbClr val="000000"/>
                          </a:solidFill>
                          <a:effectLst/>
                          <a:latin typeface="+mn-ea"/>
                          <a:ea typeface="+mn-ea"/>
                        </a:rPr>
                        <a:t>우선순위가 높은 단어들</a:t>
                      </a:r>
                      <a:r>
                        <a:rPr lang="en-US" altLang="ko-KR" sz="1050" kern="0" spc="-50" dirty="0">
                          <a:solidFill>
                            <a:srgbClr val="000000"/>
                          </a:solidFill>
                          <a:effectLst/>
                          <a:latin typeface="+mn-ea"/>
                          <a:ea typeface="+mn-ea"/>
                        </a:rPr>
                        <a:t>)</a:t>
                      </a:r>
                      <a:r>
                        <a:rPr lang="ko-KR" altLang="en-US" sz="1050" kern="0" spc="-50" dirty="0">
                          <a:solidFill>
                            <a:srgbClr val="000000"/>
                          </a:solidFill>
                          <a:effectLst/>
                          <a:latin typeface="+mn-ea"/>
                          <a:ea typeface="+mn-ea"/>
                        </a:rPr>
                        <a:t>을 화면에 나타내 주게 됨을 특징으로 하는 워드프로세서의 단어목록 </a:t>
                      </a:r>
                      <a:r>
                        <a:rPr lang="ko-KR" altLang="en-US" sz="1050" kern="0" spc="-50" dirty="0">
                          <a:solidFill>
                            <a:srgbClr val="FF0000"/>
                          </a:solidFill>
                          <a:effectLst/>
                          <a:latin typeface="+mn-ea"/>
                          <a:ea typeface="+mn-ea"/>
                        </a:rPr>
                        <a:t>윈도를 나타내는 방법</a:t>
                      </a:r>
                    </a:p>
                  </a:txBody>
                  <a:tcPr marL="35941" marR="35941" marT="35941" marB="35941" anchor="ctr">
                    <a:lnL w="3556"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3556" cap="flat" cmpd="sng" algn="ctr">
                      <a:solidFill>
                        <a:srgbClr val="000000"/>
                      </a:solidFill>
                      <a:prstDash val="solid"/>
                      <a:round/>
                      <a:headEnd type="none" w="med" len="med"/>
                      <a:tailEnd type="none" w="med" len="med"/>
                    </a:lnT>
                    <a:lnB w="3556"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95144665"/>
                  </a:ext>
                </a:extLst>
              </a:tr>
            </a:tbl>
          </a:graphicData>
        </a:graphic>
      </p:graphicFrame>
      <p:sp>
        <p:nvSpPr>
          <p:cNvPr id="22" name="TextBox 21">
            <a:extLst>
              <a:ext uri="{FF2B5EF4-FFF2-40B4-BE49-F238E27FC236}">
                <a16:creationId xmlns:a16="http://schemas.microsoft.com/office/drawing/2014/main" id="{20ACF82F-FDC6-49F6-C0B1-B5A083755073}"/>
              </a:ext>
            </a:extLst>
          </p:cNvPr>
          <p:cNvSpPr txBox="1"/>
          <p:nvPr/>
        </p:nvSpPr>
        <p:spPr>
          <a:xfrm>
            <a:off x="5018311" y="342313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기각심결</a:t>
            </a:r>
            <a:endParaRPr lang="en-US" altLang="ko-KR" sz="1400" dirty="0">
              <a:solidFill>
                <a:schemeClr val="tx1"/>
              </a:solidFill>
              <a:latin typeface="+mn-ea"/>
            </a:endParaRPr>
          </a:p>
        </p:txBody>
      </p:sp>
      <p:sp>
        <p:nvSpPr>
          <p:cNvPr id="30" name="TextBox 29">
            <a:extLst>
              <a:ext uri="{FF2B5EF4-FFF2-40B4-BE49-F238E27FC236}">
                <a16:creationId xmlns:a16="http://schemas.microsoft.com/office/drawing/2014/main" id="{C2A8C7F8-3C15-4ABB-65A0-CECF0BCF22F1}"/>
              </a:ext>
            </a:extLst>
          </p:cNvPr>
          <p:cNvSpPr txBox="1"/>
          <p:nvPr/>
        </p:nvSpPr>
        <p:spPr>
          <a:xfrm>
            <a:off x="6685743" y="342313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소송제기</a:t>
            </a:r>
            <a:endParaRPr lang="en-US" altLang="ko-KR" sz="1400" dirty="0">
              <a:solidFill>
                <a:schemeClr val="tx1"/>
              </a:solidFill>
              <a:latin typeface="+mn-ea"/>
            </a:endParaRPr>
          </a:p>
        </p:txBody>
      </p:sp>
      <p:sp>
        <p:nvSpPr>
          <p:cNvPr id="31" name="TextBox 30">
            <a:extLst>
              <a:ext uri="{FF2B5EF4-FFF2-40B4-BE49-F238E27FC236}">
                <a16:creationId xmlns:a16="http://schemas.microsoft.com/office/drawing/2014/main" id="{A819CEBF-7D30-5057-E8EA-AF935560F30B}"/>
              </a:ext>
            </a:extLst>
          </p:cNvPr>
          <p:cNvSpPr txBox="1"/>
          <p:nvPr/>
        </p:nvSpPr>
        <p:spPr>
          <a:xfrm>
            <a:off x="8353175" y="342313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인용판결</a:t>
            </a:r>
            <a:endParaRPr lang="en-US" altLang="ko-KR" sz="1400" dirty="0">
              <a:solidFill>
                <a:schemeClr val="tx1"/>
              </a:solidFill>
              <a:latin typeface="+mn-ea"/>
            </a:endParaRPr>
          </a:p>
        </p:txBody>
      </p:sp>
      <p:cxnSp>
        <p:nvCxnSpPr>
          <p:cNvPr id="34" name="연결선: 꺾임 33">
            <a:extLst>
              <a:ext uri="{FF2B5EF4-FFF2-40B4-BE49-F238E27FC236}">
                <a16:creationId xmlns:a16="http://schemas.microsoft.com/office/drawing/2014/main" id="{FF90F7D9-E814-5E37-71BD-6851084A2A01}"/>
              </a:ext>
            </a:extLst>
          </p:cNvPr>
          <p:cNvCxnSpPr>
            <a:cxnSpLocks/>
            <a:stCxn id="32" idx="0"/>
            <a:endCxn id="42" idx="2"/>
          </p:cNvCxnSpPr>
          <p:nvPr/>
        </p:nvCxnSpPr>
        <p:spPr>
          <a:xfrm rot="5400000" flipH="1" flipV="1">
            <a:off x="2747856" y="2945250"/>
            <a:ext cx="346312" cy="1955194"/>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7E558F31-BE0C-DE04-E092-3E0265DCE179}"/>
              </a:ext>
            </a:extLst>
          </p:cNvPr>
          <p:cNvSpPr txBox="1"/>
          <p:nvPr/>
        </p:nvSpPr>
        <p:spPr>
          <a:xfrm>
            <a:off x="5187120" y="4042653"/>
            <a:ext cx="6861443" cy="2492990"/>
          </a:xfrm>
          <a:prstGeom prst="rect">
            <a:avLst/>
          </a:prstGeom>
          <a:noFill/>
          <a:ln>
            <a:solidFill>
              <a:schemeClr val="bg1">
                <a:lumMod val="50000"/>
              </a:schemeClr>
            </a:solidFill>
          </a:ln>
        </p:spPr>
        <p:txBody>
          <a:bodyPr wrap="square">
            <a:spAutoFit/>
          </a:bodyPr>
          <a:lstStyle/>
          <a:p>
            <a:r>
              <a:rPr lang="en-US" altLang="ko-KR" sz="1200" dirty="0"/>
              <a:t>[1] </a:t>
            </a:r>
            <a:r>
              <a:rPr lang="ko-KR" altLang="en-US" sz="1200" dirty="0"/>
              <a:t>구 특허법상의 정정심판 제도는 특허발명의 명세서나 도면에 잘못된 기재 또는 분명하지 아니한 기재가 있는 경우에 이를 바로 잡아 특허무효를 미리 방지할 뿐만 아니라</a:t>
            </a:r>
            <a:r>
              <a:rPr lang="en-US" altLang="ko-KR" sz="1200" dirty="0"/>
              <a:t>, </a:t>
            </a:r>
            <a:r>
              <a:rPr lang="ko-KR" altLang="en-US" sz="1200" dirty="0"/>
              <a:t>특허권 분쟁이 있는 경우에 그 권리관계를 명확히 하고자 하는데 그 의의가 있는 것이므로</a:t>
            </a:r>
            <a:r>
              <a:rPr lang="en-US" altLang="ko-KR" sz="1200" dirty="0"/>
              <a:t>, </a:t>
            </a:r>
            <a:r>
              <a:rPr lang="ko-KR" altLang="en-US" sz="1200" dirty="0"/>
              <a:t>구 </a:t>
            </a:r>
            <a:r>
              <a:rPr lang="ko-KR" altLang="en-US" sz="1200" dirty="0">
                <a:solidFill>
                  <a:srgbClr val="FF0000"/>
                </a:solidFill>
              </a:rPr>
              <a:t>특허법 제</a:t>
            </a:r>
            <a:r>
              <a:rPr lang="en-US" altLang="ko-KR" sz="1200" dirty="0">
                <a:solidFill>
                  <a:srgbClr val="FF0000"/>
                </a:solidFill>
              </a:rPr>
              <a:t>136</a:t>
            </a:r>
            <a:r>
              <a:rPr lang="ko-KR" altLang="en-US" sz="1200" dirty="0">
                <a:solidFill>
                  <a:srgbClr val="FF0000"/>
                </a:solidFill>
              </a:rPr>
              <a:t>조 제</a:t>
            </a:r>
            <a:r>
              <a:rPr lang="en-US" altLang="ko-KR" sz="1200" dirty="0">
                <a:solidFill>
                  <a:srgbClr val="FF0000"/>
                </a:solidFill>
              </a:rPr>
              <a:t>1</a:t>
            </a:r>
            <a:r>
              <a:rPr lang="ko-KR" altLang="en-US" sz="1200" dirty="0">
                <a:solidFill>
                  <a:srgbClr val="FF0000"/>
                </a:solidFill>
              </a:rPr>
              <a:t>항 제</a:t>
            </a:r>
            <a:r>
              <a:rPr lang="en-US" altLang="ko-KR" sz="1200" dirty="0">
                <a:solidFill>
                  <a:srgbClr val="FF0000"/>
                </a:solidFill>
              </a:rPr>
              <a:t>3</a:t>
            </a:r>
            <a:r>
              <a:rPr lang="ko-KR" altLang="en-US" sz="1200" dirty="0">
                <a:solidFill>
                  <a:srgbClr val="FF0000"/>
                </a:solidFill>
              </a:rPr>
              <a:t>호의 불명료한 기재에는 청구범위의 기재 내용 자체의 의미는 명백하더라도 발명의 카테고리가 분명하지 아니하여 발명의 내용을 명백히 확정할 수 없는 경우도 포함</a:t>
            </a:r>
            <a:r>
              <a:rPr lang="ko-KR" altLang="en-US" sz="1200" dirty="0"/>
              <a:t>된다고 봄이 타당하다</a:t>
            </a:r>
            <a:r>
              <a:rPr lang="en-US" altLang="ko-KR" sz="1200" dirty="0"/>
              <a:t>. </a:t>
            </a:r>
          </a:p>
          <a:p>
            <a:r>
              <a:rPr lang="en-US" altLang="ko-KR" sz="1200" dirty="0"/>
              <a:t>[2] </a:t>
            </a:r>
            <a:r>
              <a:rPr lang="ko-KR" altLang="en-US" sz="1200" dirty="0"/>
              <a:t>구 특허법 제</a:t>
            </a:r>
            <a:r>
              <a:rPr lang="en-US" altLang="ko-KR" sz="1200" dirty="0"/>
              <a:t>136</a:t>
            </a:r>
            <a:r>
              <a:rPr lang="ko-KR" altLang="en-US" sz="1200" dirty="0"/>
              <a:t>조 제</a:t>
            </a:r>
            <a:r>
              <a:rPr lang="en-US" altLang="ko-KR" sz="1200" dirty="0"/>
              <a:t>1</a:t>
            </a:r>
            <a:r>
              <a:rPr lang="ko-KR" altLang="en-US" sz="1200" dirty="0"/>
              <a:t>항 제</a:t>
            </a:r>
            <a:r>
              <a:rPr lang="en-US" altLang="ko-KR" sz="1200" dirty="0"/>
              <a:t>3</a:t>
            </a:r>
            <a:r>
              <a:rPr lang="ko-KR" altLang="en-US" sz="1200" dirty="0"/>
              <a:t>호는 명세서나 도면에 대하여 ‘불명료하게 기재된 것을 석명하는 </a:t>
            </a:r>
            <a:r>
              <a:rPr lang="ko-KR" altLang="en-US" sz="1200" dirty="0" err="1"/>
              <a:t>경우’라고만</a:t>
            </a:r>
            <a:r>
              <a:rPr lang="ko-KR" altLang="en-US" sz="1200" dirty="0"/>
              <a:t> 규정하고 있을 뿐이고</a:t>
            </a:r>
            <a:r>
              <a:rPr lang="en-US" altLang="ko-KR" sz="1200" dirty="0"/>
              <a:t>, 1) ‘</a:t>
            </a:r>
            <a:r>
              <a:rPr lang="ko-KR" altLang="en-US" sz="1200" dirty="0"/>
              <a:t>명세서나 도면에 대하여 불명료하게 기재된 부분 </a:t>
            </a:r>
            <a:r>
              <a:rPr lang="ko-KR" altLang="en-US" sz="1200" dirty="0">
                <a:highlight>
                  <a:srgbClr val="FFFF00"/>
                </a:highlight>
              </a:rPr>
              <a:t>전체</a:t>
            </a:r>
            <a:r>
              <a:rPr lang="ko-KR" altLang="en-US" sz="1200" dirty="0"/>
              <a:t>를 석명하는 </a:t>
            </a:r>
            <a:r>
              <a:rPr lang="ko-KR" altLang="en-US" sz="1200" dirty="0" err="1"/>
              <a:t>경우’라고</a:t>
            </a:r>
            <a:r>
              <a:rPr lang="ko-KR" altLang="en-US" sz="1200" dirty="0"/>
              <a:t> 한정하고 있지 않은 점</a:t>
            </a:r>
            <a:r>
              <a:rPr lang="en-US" altLang="ko-KR" sz="1200" dirty="0"/>
              <a:t>, 2) </a:t>
            </a:r>
            <a:r>
              <a:rPr lang="ko-KR" altLang="en-US" sz="1200" dirty="0"/>
              <a:t>정정심판청구는 </a:t>
            </a:r>
            <a:r>
              <a:rPr lang="ko-KR" altLang="en-US" sz="1200" dirty="0">
                <a:highlight>
                  <a:srgbClr val="FFFF00"/>
                </a:highlight>
              </a:rPr>
              <a:t>횟수의 제한</a:t>
            </a:r>
            <a:r>
              <a:rPr lang="ko-KR" altLang="en-US" sz="1200" dirty="0"/>
              <a:t>이 없어 여러 차례에 걸쳐 할 수 있는 점</a:t>
            </a:r>
            <a:r>
              <a:rPr lang="en-US" altLang="ko-KR" sz="1200" dirty="0"/>
              <a:t>, 3) </a:t>
            </a:r>
            <a:r>
              <a:rPr lang="ko-KR" altLang="en-US" sz="1200" dirty="0"/>
              <a:t>구 특허법은 정정심판과 관련하여 청구범위를 감축하는 경우에만 정정 후의 청구범위에 기재된 사항이 특허 </a:t>
            </a:r>
            <a:r>
              <a:rPr lang="ko-KR" altLang="en-US" sz="1200" dirty="0" err="1"/>
              <a:t>출원시</a:t>
            </a:r>
            <a:r>
              <a:rPr lang="ko-KR" altLang="en-US" sz="1200" dirty="0"/>
              <a:t> 특허를 받을 수 있는 것이어야 한다고 규정하고 있을 뿐이고</a:t>
            </a:r>
            <a:r>
              <a:rPr lang="en-US" altLang="ko-KR" sz="1200" dirty="0"/>
              <a:t>(</a:t>
            </a:r>
            <a:r>
              <a:rPr lang="ko-KR" altLang="en-US" sz="1200" dirty="0"/>
              <a:t>제</a:t>
            </a:r>
            <a:r>
              <a:rPr lang="en-US" altLang="ko-KR" sz="1200" dirty="0"/>
              <a:t>136</a:t>
            </a:r>
            <a:r>
              <a:rPr lang="ko-KR" altLang="en-US" sz="1200" dirty="0"/>
              <a:t>조 제</a:t>
            </a:r>
            <a:r>
              <a:rPr lang="en-US" altLang="ko-KR" sz="1200" dirty="0"/>
              <a:t>3</a:t>
            </a:r>
            <a:r>
              <a:rPr lang="ko-KR" altLang="en-US" sz="1200" dirty="0"/>
              <a:t>항</a:t>
            </a:r>
            <a:r>
              <a:rPr lang="en-US" altLang="ko-KR" sz="1200" dirty="0"/>
              <a:t>), </a:t>
            </a:r>
            <a:r>
              <a:rPr lang="ko-KR" altLang="en-US" sz="1200" dirty="0">
                <a:highlight>
                  <a:srgbClr val="FFFF00"/>
                </a:highlight>
              </a:rPr>
              <a:t>불명료한 기재를 석명하는 경우까지도 위와 같은 특허요건을 구비해야 한다고 규정하고 있지 않은 점 </a:t>
            </a:r>
            <a:r>
              <a:rPr lang="ko-KR" altLang="en-US" sz="1200" dirty="0"/>
              <a:t>등을 고려하면</a:t>
            </a:r>
            <a:r>
              <a:rPr lang="en-US" altLang="ko-KR" sz="1200" dirty="0"/>
              <a:t>, </a:t>
            </a:r>
            <a:r>
              <a:rPr lang="ko-KR" altLang="en-US" sz="1200" dirty="0">
                <a:solidFill>
                  <a:srgbClr val="FF0000"/>
                </a:solidFill>
                <a:highlight>
                  <a:srgbClr val="FFFF00"/>
                </a:highlight>
              </a:rPr>
              <a:t>정정심판청구에서 그 정정대상으로 삼지 않은 다른 부분에 불명료한 기재가 있다고 하더라도</a:t>
            </a:r>
            <a:r>
              <a:rPr lang="en-US" altLang="ko-KR" sz="1200" dirty="0">
                <a:solidFill>
                  <a:srgbClr val="FF0000"/>
                </a:solidFill>
                <a:highlight>
                  <a:srgbClr val="FFFF00"/>
                </a:highlight>
              </a:rPr>
              <a:t>, </a:t>
            </a:r>
            <a:r>
              <a:rPr lang="ko-KR" altLang="en-US" sz="1200" dirty="0">
                <a:solidFill>
                  <a:srgbClr val="FF0000"/>
                </a:solidFill>
                <a:highlight>
                  <a:srgbClr val="FFFF00"/>
                </a:highlight>
              </a:rPr>
              <a:t>이는 원칙적으로 별도의 정정심판이나 무효심판절차에서 다룰 사항에 불과하고 당해 정정심판청구를 기각할 사유는 되지 못한다</a:t>
            </a:r>
            <a:r>
              <a:rPr lang="ko-KR" altLang="en-US" sz="1200" dirty="0"/>
              <a:t>고 보아야 한다</a:t>
            </a:r>
            <a:r>
              <a:rPr lang="en-US" altLang="ko-KR" sz="1200" dirty="0"/>
              <a:t>.</a:t>
            </a:r>
            <a:endParaRPr lang="ko-KR" altLang="en-US" sz="1200" dirty="0"/>
          </a:p>
        </p:txBody>
      </p:sp>
      <p:sp>
        <p:nvSpPr>
          <p:cNvPr id="65" name="TextBox 64">
            <a:extLst>
              <a:ext uri="{FF2B5EF4-FFF2-40B4-BE49-F238E27FC236}">
                <a16:creationId xmlns:a16="http://schemas.microsoft.com/office/drawing/2014/main" id="{3C6F0E8D-508D-09A5-169A-740D214F8151}"/>
              </a:ext>
            </a:extLst>
          </p:cNvPr>
          <p:cNvSpPr txBox="1"/>
          <p:nvPr/>
        </p:nvSpPr>
        <p:spPr>
          <a:xfrm>
            <a:off x="7505132" y="3761333"/>
            <a:ext cx="2840136" cy="276999"/>
          </a:xfrm>
          <a:prstGeom prst="rect">
            <a:avLst/>
          </a:prstGeom>
          <a:noFill/>
        </p:spPr>
        <p:txBody>
          <a:bodyPr wrap="square">
            <a:spAutoFit/>
          </a:bodyPr>
          <a:lstStyle/>
          <a:p>
            <a:pPr algn="ctr"/>
            <a:r>
              <a:rPr lang="ko-KR" altLang="en-US" sz="1200" dirty="0">
                <a:solidFill>
                  <a:srgbClr val="FF0000"/>
                </a:solidFill>
              </a:rPr>
              <a:t>특허법원 </a:t>
            </a:r>
            <a:r>
              <a:rPr lang="en-US" altLang="ko-KR" sz="1200" dirty="0">
                <a:solidFill>
                  <a:srgbClr val="FF0000"/>
                </a:solidFill>
              </a:rPr>
              <a:t>2012. 10. 25. </a:t>
            </a:r>
            <a:r>
              <a:rPr lang="ko-KR" altLang="en-US" sz="1200" dirty="0">
                <a:solidFill>
                  <a:srgbClr val="FF0000"/>
                </a:solidFill>
              </a:rPr>
              <a:t>선고 </a:t>
            </a:r>
            <a:r>
              <a:rPr lang="en-US" altLang="ko-KR" sz="1200" dirty="0">
                <a:solidFill>
                  <a:srgbClr val="FF0000"/>
                </a:solidFill>
              </a:rPr>
              <a:t>2012</a:t>
            </a:r>
            <a:r>
              <a:rPr lang="ko-KR" altLang="en-US" sz="1200" dirty="0">
                <a:solidFill>
                  <a:srgbClr val="FF0000"/>
                </a:solidFill>
              </a:rPr>
              <a:t>허</a:t>
            </a:r>
            <a:r>
              <a:rPr lang="en-US" altLang="ko-KR" sz="1200" dirty="0">
                <a:solidFill>
                  <a:srgbClr val="FF0000"/>
                </a:solidFill>
              </a:rPr>
              <a:t>6342</a:t>
            </a:r>
            <a:endParaRPr lang="ko-KR" altLang="en-US" sz="1200" dirty="0">
              <a:solidFill>
                <a:srgbClr val="FF0000"/>
              </a:solidFill>
            </a:endParaRPr>
          </a:p>
        </p:txBody>
      </p:sp>
    </p:spTree>
    <p:extLst>
      <p:ext uri="{BB962C8B-B14F-4D97-AF65-F5344CB8AC3E}">
        <p14:creationId xmlns:p14="http://schemas.microsoft.com/office/powerpoint/2010/main" val="2967846234"/>
      </p:ext>
    </p:extLst>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사각형: 둥근 위쪽 모서리 8">
            <a:extLst>
              <a:ext uri="{FF2B5EF4-FFF2-40B4-BE49-F238E27FC236}">
                <a16:creationId xmlns:a16="http://schemas.microsoft.com/office/drawing/2014/main" id="{5653342A-DE60-68EC-EE28-9C7CC5587919}"/>
              </a:ext>
            </a:extLst>
          </p:cNvPr>
          <p:cNvSpPr/>
          <p:nvPr/>
        </p:nvSpPr>
        <p:spPr>
          <a:xfrm>
            <a:off x="2505805" y="5368478"/>
            <a:ext cx="2594510" cy="231733"/>
          </a:xfrm>
          <a:prstGeom prst="round2SameRect">
            <a:avLst>
              <a:gd name="adj1" fmla="val 50000"/>
              <a:gd name="adj2" fmla="val 0"/>
            </a:avLst>
          </a:prstGeom>
          <a:pattFill prst="pct20">
            <a:fgClr>
              <a:schemeClr val="accent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accent5">
                    <a:lumMod val="50000"/>
                  </a:schemeClr>
                </a:solidFill>
              </a:rPr>
              <a:t>심판원 계속 중</a:t>
            </a:r>
          </a:p>
        </p:txBody>
      </p:sp>
      <p:sp>
        <p:nvSpPr>
          <p:cNvPr id="8" name="사각형: 둥근 위쪽 모서리 7">
            <a:extLst>
              <a:ext uri="{FF2B5EF4-FFF2-40B4-BE49-F238E27FC236}">
                <a16:creationId xmlns:a16="http://schemas.microsoft.com/office/drawing/2014/main" id="{8F425A68-DED2-184F-07B9-A1C6D8C4AEB7}"/>
              </a:ext>
            </a:extLst>
          </p:cNvPr>
          <p:cNvSpPr/>
          <p:nvPr/>
        </p:nvSpPr>
        <p:spPr>
          <a:xfrm>
            <a:off x="2505805" y="2443173"/>
            <a:ext cx="2594510" cy="231733"/>
          </a:xfrm>
          <a:prstGeom prst="round2SameRect">
            <a:avLst>
              <a:gd name="adj1" fmla="val 50000"/>
              <a:gd name="adj2" fmla="val 0"/>
            </a:avLst>
          </a:prstGeom>
          <a:pattFill prst="pct20">
            <a:fgClr>
              <a:schemeClr val="accent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accent5">
                    <a:lumMod val="50000"/>
                  </a:schemeClr>
                </a:solidFill>
              </a:rPr>
              <a:t>심판원 계속 중</a:t>
            </a:r>
          </a:p>
        </p:txBody>
      </p:sp>
      <p:grpSp>
        <p:nvGrpSpPr>
          <p:cNvPr id="6" name="그룹 5">
            <a:extLst>
              <a:ext uri="{FF2B5EF4-FFF2-40B4-BE49-F238E27FC236}">
                <a16:creationId xmlns:a16="http://schemas.microsoft.com/office/drawing/2014/main" id="{0D603A43-CB96-4863-9E4F-F285074A94EA}"/>
              </a:ext>
            </a:extLst>
          </p:cNvPr>
          <p:cNvGrpSpPr/>
          <p:nvPr/>
        </p:nvGrpSpPr>
        <p:grpSpPr>
          <a:xfrm>
            <a:off x="2487077" y="5648209"/>
            <a:ext cx="8638111" cy="830847"/>
            <a:chOff x="2487077" y="5573658"/>
            <a:chExt cx="8638111" cy="1051186"/>
          </a:xfrm>
        </p:grpSpPr>
        <p:cxnSp>
          <p:nvCxnSpPr>
            <p:cNvPr id="145" name="직선 연결선 144"/>
            <p:cNvCxnSpPr/>
            <p:nvPr/>
          </p:nvCxnSpPr>
          <p:spPr>
            <a:xfrm>
              <a:off x="2487077" y="5606838"/>
              <a:ext cx="0" cy="100532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직선 연결선 145"/>
            <p:cNvCxnSpPr/>
            <p:nvPr/>
          </p:nvCxnSpPr>
          <p:spPr>
            <a:xfrm>
              <a:off x="5130395" y="5573658"/>
              <a:ext cx="0" cy="100532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직선 연결선 146"/>
            <p:cNvCxnSpPr/>
            <p:nvPr/>
          </p:nvCxnSpPr>
          <p:spPr>
            <a:xfrm>
              <a:off x="9315678" y="5619523"/>
              <a:ext cx="0" cy="100532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직선 연결선 147"/>
            <p:cNvCxnSpPr/>
            <p:nvPr/>
          </p:nvCxnSpPr>
          <p:spPr>
            <a:xfrm>
              <a:off x="11125188" y="5619523"/>
              <a:ext cx="0" cy="100532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제목 2"/>
          <p:cNvSpPr>
            <a:spLocks noGrp="1"/>
          </p:cNvSpPr>
          <p:nvPr>
            <p:ph type="title"/>
          </p:nvPr>
        </p:nvSpPr>
        <p:spPr/>
        <p:txBody>
          <a:bodyPr/>
          <a:lstStyle/>
          <a:p>
            <a:r>
              <a:rPr lang="ko-KR" altLang="en-US" dirty="0"/>
              <a:t>제</a:t>
            </a:r>
            <a:r>
              <a:rPr lang="en-US" altLang="ko-KR" dirty="0"/>
              <a:t>136</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err="1"/>
              <a:t>정정심판</a:t>
            </a:r>
            <a:r>
              <a:rPr lang="ko-KR" altLang="en-US" dirty="0"/>
              <a:t> </a:t>
            </a:r>
            <a:r>
              <a:rPr lang="ko-KR" altLang="en-US" dirty="0" err="1"/>
              <a:t>청구기간의</a:t>
            </a:r>
            <a:r>
              <a:rPr lang="ko-KR" altLang="en-US" dirty="0"/>
              <a:t> 예외</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7" name="TextBox 6"/>
          <p:cNvSpPr txBox="1"/>
          <p:nvPr/>
        </p:nvSpPr>
        <p:spPr>
          <a:xfrm>
            <a:off x="77875" y="986046"/>
            <a:ext cx="11936323" cy="1015663"/>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fontAlgn="base"/>
            <a:r>
              <a:rPr lang="ko-KR" altLang="en-US" sz="1200" dirty="0">
                <a:solidFill>
                  <a:srgbClr val="FF0000"/>
                </a:solidFill>
              </a:rPr>
              <a:t>특허취소신청이 특허심판원에 계속 중인 때부터 그 결정이 확정될 때까지의 기간에는 정정심판을 청구할 수 없다</a:t>
            </a:r>
            <a:r>
              <a:rPr lang="en-US" altLang="ko-KR" sz="1200" dirty="0">
                <a:solidFill>
                  <a:srgbClr val="FF0000"/>
                </a:solidFill>
              </a:rPr>
              <a:t>(</a:t>
            </a:r>
            <a:r>
              <a:rPr lang="ko-KR" altLang="en-US" sz="1200" dirty="0">
                <a:solidFill>
                  <a:srgbClr val="FF0000"/>
                </a:solidFill>
              </a:rPr>
              <a:t>法 </a:t>
            </a:r>
            <a:r>
              <a:rPr lang="en-US" altLang="ko-KR" sz="1200" dirty="0">
                <a:solidFill>
                  <a:srgbClr val="FF0000"/>
                </a:solidFill>
              </a:rPr>
              <a:t>136②Ⅰ</a:t>
            </a:r>
            <a:r>
              <a:rPr lang="ko-KR" altLang="en-US" sz="1200" dirty="0">
                <a:solidFill>
                  <a:srgbClr val="FF0000"/>
                </a:solidFill>
              </a:rPr>
              <a:t>본문</a:t>
            </a:r>
            <a:r>
              <a:rPr lang="en-US" altLang="ko-KR" sz="1200" dirty="0">
                <a:solidFill>
                  <a:srgbClr val="FF0000"/>
                </a:solidFill>
              </a:rPr>
              <a:t>). </a:t>
            </a:r>
            <a:r>
              <a:rPr lang="ko-KR" altLang="en-US" sz="1200" dirty="0">
                <a:solidFill>
                  <a:schemeClr val="tx2"/>
                </a:solidFill>
              </a:rPr>
              <a:t>이는 특허취소신청에 대한 심판의 신속한 처리를 위한 것으로</a:t>
            </a:r>
            <a:r>
              <a:rPr lang="en-US" altLang="ko-KR" sz="1200" dirty="0">
                <a:solidFill>
                  <a:schemeClr val="tx2"/>
                </a:solidFill>
              </a:rPr>
              <a:t>, </a:t>
            </a:r>
            <a:r>
              <a:rPr lang="ko-KR" altLang="en-US" sz="1200" dirty="0">
                <a:solidFill>
                  <a:schemeClr val="tx2"/>
                </a:solidFill>
              </a:rPr>
              <a:t>특허취소신청이 특허심판원에 계속 중인 경우에는 특허권자가 특허의 정정청구를 할 수 있으므로 특허권자에게 방어권이 주어지고</a:t>
            </a:r>
            <a:r>
              <a:rPr lang="en-US" altLang="ko-KR" sz="1200" dirty="0">
                <a:solidFill>
                  <a:schemeClr val="tx2"/>
                </a:solidFill>
              </a:rPr>
              <a:t>, </a:t>
            </a:r>
            <a:r>
              <a:rPr lang="ko-KR" altLang="en-US" sz="1200" dirty="0">
                <a:solidFill>
                  <a:schemeClr val="tx2"/>
                </a:solidFill>
              </a:rPr>
              <a:t>특허법원</a:t>
            </a:r>
            <a:r>
              <a:rPr lang="en-US" altLang="ko-KR" sz="1200" dirty="0">
                <a:solidFill>
                  <a:schemeClr val="tx2"/>
                </a:solidFill>
              </a:rPr>
              <a:t>, </a:t>
            </a:r>
            <a:r>
              <a:rPr lang="ko-KR" altLang="en-US" sz="1200" dirty="0">
                <a:solidFill>
                  <a:schemeClr val="tx2"/>
                </a:solidFill>
              </a:rPr>
              <a:t>대법원에 계속 중인 경우에는 </a:t>
            </a:r>
            <a:r>
              <a:rPr lang="ko-KR" altLang="en-US" sz="1200">
                <a:solidFill>
                  <a:schemeClr val="tx2"/>
                </a:solidFill>
              </a:rPr>
              <a:t>지식재산처장이 특허심판원에 </a:t>
            </a:r>
            <a:r>
              <a:rPr lang="ko-KR" altLang="en-US" sz="1200" dirty="0">
                <a:solidFill>
                  <a:schemeClr val="tx2"/>
                </a:solidFill>
              </a:rPr>
              <a:t>제출하지 않았던 새로운 특허취소신청의 이유나 증거를 제출할 수 없을 것이므로 정정심판을 청구하지 못하더라도 특허권자의 </a:t>
            </a:r>
            <a:r>
              <a:rPr lang="ko-KR" altLang="en-US" sz="1200" dirty="0" err="1">
                <a:solidFill>
                  <a:schemeClr val="tx2"/>
                </a:solidFill>
              </a:rPr>
              <a:t>방어권</a:t>
            </a:r>
            <a:r>
              <a:rPr lang="ko-KR" altLang="en-US" sz="1200" dirty="0">
                <a:solidFill>
                  <a:schemeClr val="tx2"/>
                </a:solidFill>
              </a:rPr>
              <a:t> 행사를 제한하는 것은 아니기 때문이다</a:t>
            </a:r>
            <a:r>
              <a:rPr lang="en-US" altLang="ko-KR" sz="1200" dirty="0">
                <a:solidFill>
                  <a:schemeClr val="tx2"/>
                </a:solidFill>
              </a:rPr>
              <a:t>. </a:t>
            </a:r>
            <a:r>
              <a:rPr lang="ko-KR" altLang="en-US" sz="1200" dirty="0">
                <a:solidFill>
                  <a:srgbClr val="FF0000"/>
                </a:solidFill>
              </a:rPr>
              <a:t>다만</a:t>
            </a:r>
            <a:r>
              <a:rPr lang="en-US" altLang="ko-KR" sz="1200" dirty="0">
                <a:solidFill>
                  <a:srgbClr val="FF0000"/>
                </a:solidFill>
              </a:rPr>
              <a:t>, </a:t>
            </a:r>
            <a:r>
              <a:rPr lang="ko-KR" altLang="en-US" sz="1200" dirty="0">
                <a:solidFill>
                  <a:srgbClr val="FF0000"/>
                </a:solidFill>
              </a:rPr>
              <a:t>특허무효심판의 </a:t>
            </a:r>
            <a:r>
              <a:rPr lang="ko-KR" altLang="en-US" sz="1200" dirty="0" err="1">
                <a:solidFill>
                  <a:srgbClr val="FF0000"/>
                </a:solidFill>
              </a:rPr>
              <a:t>심결</a:t>
            </a:r>
            <a:r>
              <a:rPr lang="ko-KR" altLang="en-US" sz="1200" dirty="0">
                <a:solidFill>
                  <a:srgbClr val="FF0000"/>
                </a:solidFill>
              </a:rPr>
              <a:t> 또는 정정의 무효심판의 </a:t>
            </a:r>
            <a:r>
              <a:rPr lang="ko-KR" altLang="en-US" sz="1200" dirty="0" err="1">
                <a:solidFill>
                  <a:srgbClr val="FF0000"/>
                </a:solidFill>
              </a:rPr>
              <a:t>심결에</a:t>
            </a:r>
            <a:r>
              <a:rPr lang="ko-KR" altLang="en-US" sz="1200" dirty="0">
                <a:solidFill>
                  <a:srgbClr val="FF0000"/>
                </a:solidFill>
              </a:rPr>
              <a:t> 대한 소가 특허법원에 계속 중인 경우에는 특허법원에서 변론이 종결</a:t>
            </a:r>
            <a:r>
              <a:rPr lang="en-US" altLang="ko-KR" sz="1200" dirty="0">
                <a:solidFill>
                  <a:srgbClr val="FF0000"/>
                </a:solidFill>
              </a:rPr>
              <a:t>(</a:t>
            </a:r>
            <a:r>
              <a:rPr lang="ko-KR" altLang="en-US" sz="1200" dirty="0">
                <a:solidFill>
                  <a:srgbClr val="FF0000"/>
                </a:solidFill>
              </a:rPr>
              <a:t>변론 없이 한 판결의 경우에는 판결의 선고를 말한다</a:t>
            </a:r>
            <a:r>
              <a:rPr lang="en-US" altLang="ko-KR" sz="1200" dirty="0">
                <a:solidFill>
                  <a:srgbClr val="FF0000"/>
                </a:solidFill>
              </a:rPr>
              <a:t>)</a:t>
            </a:r>
            <a:r>
              <a:rPr lang="ko-KR" altLang="en-US" sz="1200" dirty="0">
                <a:solidFill>
                  <a:srgbClr val="FF0000"/>
                </a:solidFill>
              </a:rPr>
              <a:t>된 날까지 정정심판을 청구할 수 있다</a:t>
            </a:r>
            <a:r>
              <a:rPr lang="en-US" altLang="ko-KR" sz="1200" dirty="0">
                <a:solidFill>
                  <a:srgbClr val="FF0000"/>
                </a:solidFill>
              </a:rPr>
              <a:t>(</a:t>
            </a:r>
            <a:r>
              <a:rPr lang="ko-KR" altLang="en-US" sz="1200" dirty="0">
                <a:solidFill>
                  <a:srgbClr val="FF0000"/>
                </a:solidFill>
              </a:rPr>
              <a:t>法 </a:t>
            </a:r>
            <a:r>
              <a:rPr lang="en-US" altLang="ko-KR" sz="1200" dirty="0">
                <a:solidFill>
                  <a:srgbClr val="FF0000"/>
                </a:solidFill>
              </a:rPr>
              <a:t>136②Ⅰ</a:t>
            </a:r>
            <a:r>
              <a:rPr lang="ko-KR" altLang="en-US" sz="1200" dirty="0">
                <a:solidFill>
                  <a:srgbClr val="FF0000"/>
                </a:solidFill>
              </a:rPr>
              <a:t>단서</a:t>
            </a:r>
            <a:r>
              <a:rPr lang="en-US" altLang="ko-KR" sz="1200" dirty="0">
                <a:solidFill>
                  <a:srgbClr val="FF0000"/>
                </a:solidFill>
              </a:rPr>
              <a:t>).</a:t>
            </a:r>
          </a:p>
        </p:txBody>
      </p:sp>
      <p:sp>
        <p:nvSpPr>
          <p:cNvPr id="29" name="Line 5"/>
          <p:cNvSpPr>
            <a:spLocks noChangeShapeType="1"/>
          </p:cNvSpPr>
          <p:nvPr/>
        </p:nvSpPr>
        <p:spPr bwMode="auto">
          <a:xfrm>
            <a:off x="328662" y="2710233"/>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31" name="타원 30"/>
          <p:cNvSpPr/>
          <p:nvPr/>
        </p:nvSpPr>
        <p:spPr>
          <a:xfrm>
            <a:off x="941691" y="261913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32" name="직선 화살표 연결선 31"/>
          <p:cNvCxnSpPr>
            <a:stCxn id="30" idx="2"/>
            <a:endCxn id="31" idx="0"/>
          </p:cNvCxnSpPr>
          <p:nvPr/>
        </p:nvCxnSpPr>
        <p:spPr>
          <a:xfrm flipH="1" flipV="1">
            <a:off x="1019060" y="2619136"/>
            <a:ext cx="1" cy="18270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3" name="타원 52"/>
          <p:cNvSpPr/>
          <p:nvPr/>
        </p:nvSpPr>
        <p:spPr>
          <a:xfrm>
            <a:off x="5042750" y="261913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54" name="직선 화살표 연결선 53"/>
          <p:cNvCxnSpPr>
            <a:stCxn id="52" idx="2"/>
            <a:endCxn id="53" idx="0"/>
          </p:cNvCxnSpPr>
          <p:nvPr/>
        </p:nvCxnSpPr>
        <p:spPr>
          <a:xfrm flipH="1" flipV="1">
            <a:off x="5120119" y="2619136"/>
            <a:ext cx="1" cy="18270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6" name="타원 55"/>
          <p:cNvSpPr/>
          <p:nvPr/>
        </p:nvSpPr>
        <p:spPr>
          <a:xfrm>
            <a:off x="2409708" y="2619136"/>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57" name="직선 화살표 연결선 56"/>
          <p:cNvCxnSpPr>
            <a:stCxn id="55" idx="2"/>
            <a:endCxn id="56" idx="0"/>
          </p:cNvCxnSpPr>
          <p:nvPr/>
        </p:nvCxnSpPr>
        <p:spPr>
          <a:xfrm flipH="1">
            <a:off x="2487077" y="2510520"/>
            <a:ext cx="1" cy="1086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9" name="타원 58"/>
          <p:cNvSpPr/>
          <p:nvPr/>
        </p:nvSpPr>
        <p:spPr>
          <a:xfrm>
            <a:off x="5747111" y="2619136"/>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60" name="직선 화살표 연결선 59"/>
          <p:cNvCxnSpPr>
            <a:stCxn id="58" idx="2"/>
            <a:endCxn id="59" idx="0"/>
          </p:cNvCxnSpPr>
          <p:nvPr/>
        </p:nvCxnSpPr>
        <p:spPr>
          <a:xfrm flipH="1">
            <a:off x="5824480" y="2510520"/>
            <a:ext cx="1" cy="1086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2" name="타원 61"/>
          <p:cNvSpPr/>
          <p:nvPr/>
        </p:nvSpPr>
        <p:spPr>
          <a:xfrm>
            <a:off x="9241370" y="2619136"/>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63" name="직선 화살표 연결선 62"/>
          <p:cNvCxnSpPr>
            <a:stCxn id="61" idx="2"/>
            <a:endCxn id="62" idx="0"/>
          </p:cNvCxnSpPr>
          <p:nvPr/>
        </p:nvCxnSpPr>
        <p:spPr>
          <a:xfrm flipH="1">
            <a:off x="9318739" y="2510520"/>
            <a:ext cx="1" cy="1086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1" name="직선 연결선 70"/>
          <p:cNvCxnSpPr>
            <a:cxnSpLocks/>
          </p:cNvCxnSpPr>
          <p:nvPr/>
        </p:nvCxnSpPr>
        <p:spPr>
          <a:xfrm>
            <a:off x="2487077" y="3079266"/>
            <a:ext cx="2633042" cy="0"/>
          </a:xfrm>
          <a:prstGeom prst="line">
            <a:avLst/>
          </a:prstGeom>
          <a:ln w="190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5" name="직선 연결선 74"/>
          <p:cNvCxnSpPr>
            <a:cxnSpLocks/>
          </p:cNvCxnSpPr>
          <p:nvPr/>
        </p:nvCxnSpPr>
        <p:spPr>
          <a:xfrm>
            <a:off x="5120119" y="3079266"/>
            <a:ext cx="6005069" cy="0"/>
          </a:xfrm>
          <a:prstGeom prst="line">
            <a:avLst/>
          </a:prstGeom>
          <a:ln w="190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직선 연결선 66"/>
          <p:cNvCxnSpPr/>
          <p:nvPr/>
        </p:nvCxnSpPr>
        <p:spPr>
          <a:xfrm>
            <a:off x="2487077" y="2767745"/>
            <a:ext cx="0" cy="100532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직선 연결선 67"/>
          <p:cNvCxnSpPr/>
          <p:nvPr/>
        </p:nvCxnSpPr>
        <p:spPr>
          <a:xfrm>
            <a:off x="5121769" y="3060196"/>
            <a:ext cx="0" cy="100532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직선 연결선 68"/>
          <p:cNvCxnSpPr/>
          <p:nvPr/>
        </p:nvCxnSpPr>
        <p:spPr>
          <a:xfrm>
            <a:off x="9315678" y="3060196"/>
            <a:ext cx="0" cy="100532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직선 연결선 76"/>
          <p:cNvCxnSpPr/>
          <p:nvPr/>
        </p:nvCxnSpPr>
        <p:spPr>
          <a:xfrm>
            <a:off x="11125188" y="3060196"/>
            <a:ext cx="0" cy="1005321"/>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2" name="타원 81"/>
          <p:cNvSpPr/>
          <p:nvPr/>
        </p:nvSpPr>
        <p:spPr>
          <a:xfrm>
            <a:off x="11047819" y="261913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83" name="TextBox 82"/>
          <p:cNvSpPr txBox="1"/>
          <p:nvPr/>
        </p:nvSpPr>
        <p:spPr>
          <a:xfrm>
            <a:off x="3229883" y="2929117"/>
            <a:ext cx="1287532" cy="276999"/>
          </a:xfrm>
          <a:prstGeom prst="rect">
            <a:avLst/>
          </a:prstGeom>
          <a:solidFill>
            <a:schemeClr val="bg1"/>
          </a:solidFill>
        </p:spPr>
        <p:txBody>
          <a:bodyPr wrap="none" rtlCol="0">
            <a:spAutoFit/>
          </a:bodyPr>
          <a:lstStyle/>
          <a:p>
            <a:r>
              <a:rPr lang="ko-KR" altLang="en-US" sz="1200">
                <a:solidFill>
                  <a:schemeClr val="tx2">
                    <a:lumMod val="50000"/>
                  </a:schemeClr>
                </a:solidFill>
              </a:rPr>
              <a:t>정정심판청구불가</a:t>
            </a:r>
          </a:p>
        </p:txBody>
      </p:sp>
      <p:sp>
        <p:nvSpPr>
          <p:cNvPr id="84" name="TextBox 83"/>
          <p:cNvSpPr txBox="1"/>
          <p:nvPr/>
        </p:nvSpPr>
        <p:spPr>
          <a:xfrm>
            <a:off x="6325773" y="2929117"/>
            <a:ext cx="3768980" cy="276999"/>
          </a:xfrm>
          <a:prstGeom prst="rect">
            <a:avLst/>
          </a:prstGeom>
          <a:solidFill>
            <a:schemeClr val="bg1"/>
          </a:solidFill>
        </p:spPr>
        <p:txBody>
          <a:bodyPr wrap="none" rtlCol="0">
            <a:spAutoFit/>
          </a:bodyPr>
          <a:lstStyle/>
          <a:p>
            <a:r>
              <a:rPr lang="ko-KR" altLang="en-US" sz="1200" dirty="0">
                <a:solidFill>
                  <a:schemeClr val="tx2">
                    <a:lumMod val="50000"/>
                  </a:schemeClr>
                </a:solidFill>
              </a:rPr>
              <a:t>정정심판청구불가</a:t>
            </a:r>
            <a:r>
              <a:rPr lang="en-US" altLang="ko-KR" sz="1200" dirty="0">
                <a:solidFill>
                  <a:schemeClr val="tx2">
                    <a:lumMod val="50000"/>
                  </a:schemeClr>
                </a:solidFill>
              </a:rPr>
              <a:t>(</a:t>
            </a:r>
            <a:r>
              <a:rPr lang="ko-KR" altLang="en-US" sz="1200" dirty="0">
                <a:solidFill>
                  <a:schemeClr val="tx2">
                    <a:lumMod val="50000"/>
                  </a:schemeClr>
                </a:solidFill>
              </a:rPr>
              <a:t>새로운 취소신청이유나 증거 제출 불가</a:t>
            </a:r>
            <a:r>
              <a:rPr lang="en-US" altLang="ko-KR" sz="1200" dirty="0">
                <a:solidFill>
                  <a:schemeClr val="tx2">
                    <a:lumMod val="50000"/>
                  </a:schemeClr>
                </a:solidFill>
              </a:rPr>
              <a:t>)</a:t>
            </a:r>
            <a:endParaRPr lang="ko-KR" altLang="en-US" sz="1200" dirty="0">
              <a:solidFill>
                <a:schemeClr val="tx2">
                  <a:lumMod val="50000"/>
                </a:schemeClr>
              </a:solidFill>
            </a:endParaRPr>
          </a:p>
        </p:txBody>
      </p:sp>
      <p:cxnSp>
        <p:nvCxnSpPr>
          <p:cNvPr id="86" name="직선 연결선 85"/>
          <p:cNvCxnSpPr>
            <a:cxnSpLocks/>
          </p:cNvCxnSpPr>
          <p:nvPr/>
        </p:nvCxnSpPr>
        <p:spPr>
          <a:xfrm>
            <a:off x="2487077" y="3334752"/>
            <a:ext cx="2633042" cy="0"/>
          </a:xfrm>
          <a:prstGeom prst="line">
            <a:avLst/>
          </a:prstGeom>
          <a:ln w="190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p:cNvSpPr txBox="1"/>
          <p:nvPr/>
        </p:nvSpPr>
        <p:spPr>
          <a:xfrm>
            <a:off x="3379653" y="3184603"/>
            <a:ext cx="1011815" cy="276999"/>
          </a:xfrm>
          <a:prstGeom prst="rect">
            <a:avLst/>
          </a:prstGeom>
          <a:solidFill>
            <a:schemeClr val="bg1"/>
          </a:solidFill>
        </p:spPr>
        <p:txBody>
          <a:bodyPr wrap="none" rtlCol="0">
            <a:spAutoFit/>
          </a:bodyPr>
          <a:lstStyle/>
          <a:p>
            <a:r>
              <a:rPr lang="ko-KR" altLang="en-US" sz="1200" dirty="0">
                <a:solidFill>
                  <a:schemeClr val="tx2">
                    <a:lumMod val="50000"/>
                  </a:schemeClr>
                </a:solidFill>
              </a:rPr>
              <a:t>정정청구가능</a:t>
            </a:r>
          </a:p>
        </p:txBody>
      </p:sp>
      <p:cxnSp>
        <p:nvCxnSpPr>
          <p:cNvPr id="88" name="직선 연결선 87"/>
          <p:cNvCxnSpPr>
            <a:cxnSpLocks/>
          </p:cNvCxnSpPr>
          <p:nvPr/>
        </p:nvCxnSpPr>
        <p:spPr>
          <a:xfrm>
            <a:off x="2487077" y="3832910"/>
            <a:ext cx="8638111" cy="1"/>
          </a:xfrm>
          <a:prstGeom prst="line">
            <a:avLst/>
          </a:prstGeom>
          <a:ln w="190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TextBox 89"/>
          <p:cNvSpPr txBox="1"/>
          <p:nvPr/>
        </p:nvSpPr>
        <p:spPr>
          <a:xfrm>
            <a:off x="3253772" y="3693755"/>
            <a:ext cx="7255732" cy="276999"/>
          </a:xfrm>
          <a:prstGeom prst="rect">
            <a:avLst/>
          </a:prstGeom>
          <a:solidFill>
            <a:schemeClr val="bg1"/>
          </a:solidFill>
        </p:spPr>
        <p:txBody>
          <a:bodyPr wrap="square" rtlCol="0">
            <a:spAutoFit/>
          </a:bodyPr>
          <a:lstStyle/>
          <a:p>
            <a:r>
              <a:rPr lang="ko-KR" altLang="en-US" sz="1200" dirty="0">
                <a:solidFill>
                  <a:schemeClr val="tx2">
                    <a:lumMod val="50000"/>
                  </a:schemeClr>
                </a:solidFill>
              </a:rPr>
              <a:t>단</a:t>
            </a:r>
            <a:r>
              <a:rPr lang="en-US" altLang="ko-KR" sz="1200" dirty="0">
                <a:solidFill>
                  <a:schemeClr val="tx2">
                    <a:lumMod val="50000"/>
                  </a:schemeClr>
                </a:solidFill>
              </a:rPr>
              <a:t>, </a:t>
            </a:r>
            <a:r>
              <a:rPr lang="ko-KR" altLang="en-US" sz="1200" dirty="0" err="1">
                <a:solidFill>
                  <a:schemeClr val="tx2">
                    <a:lumMod val="50000"/>
                  </a:schemeClr>
                </a:solidFill>
              </a:rPr>
              <a:t>무효심판에</a:t>
            </a:r>
            <a:r>
              <a:rPr lang="ko-KR" altLang="en-US" sz="1200" dirty="0">
                <a:solidFill>
                  <a:schemeClr val="tx2">
                    <a:lumMod val="50000"/>
                  </a:schemeClr>
                </a:solidFill>
              </a:rPr>
              <a:t> 대한 심결취소소송</a:t>
            </a:r>
            <a:r>
              <a:rPr lang="en-US" altLang="ko-KR" sz="1200" dirty="0">
                <a:solidFill>
                  <a:schemeClr val="tx2">
                    <a:lumMod val="50000"/>
                  </a:schemeClr>
                </a:solidFill>
              </a:rPr>
              <a:t>(</a:t>
            </a:r>
            <a:r>
              <a:rPr lang="ko-KR" altLang="en-US" sz="1200" dirty="0" err="1">
                <a:solidFill>
                  <a:schemeClr val="tx2">
                    <a:lumMod val="50000"/>
                  </a:schemeClr>
                </a:solidFill>
              </a:rPr>
              <a:t>무제한설</a:t>
            </a:r>
            <a:r>
              <a:rPr lang="en-US" altLang="ko-KR" sz="1200" dirty="0">
                <a:solidFill>
                  <a:schemeClr val="tx2">
                    <a:lumMod val="50000"/>
                  </a:schemeClr>
                </a:solidFill>
              </a:rPr>
              <a:t>)</a:t>
            </a:r>
            <a:r>
              <a:rPr lang="ko-KR" altLang="en-US" sz="1200" dirty="0">
                <a:solidFill>
                  <a:schemeClr val="tx2">
                    <a:lumMod val="50000"/>
                  </a:schemeClr>
                </a:solidFill>
              </a:rPr>
              <a:t>이 특허법원에 계속 중인 경우에는 변론종결 전까지 정정심판청구 가능</a:t>
            </a:r>
          </a:p>
        </p:txBody>
      </p:sp>
      <p:sp>
        <p:nvSpPr>
          <p:cNvPr id="30" name="TextBox 29"/>
          <p:cNvSpPr txBox="1"/>
          <p:nvPr/>
        </p:nvSpPr>
        <p:spPr>
          <a:xfrm>
            <a:off x="539522" y="2570104"/>
            <a:ext cx="959078" cy="231735"/>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특허등록</a:t>
            </a:r>
            <a:endParaRPr lang="en-US" altLang="ko-KR" sz="1200" dirty="0">
              <a:solidFill>
                <a:schemeClr val="tx1"/>
              </a:solidFill>
              <a:latin typeface="+mn-ea"/>
            </a:endParaRPr>
          </a:p>
        </p:txBody>
      </p:sp>
      <p:sp>
        <p:nvSpPr>
          <p:cNvPr id="52" name="TextBox 51"/>
          <p:cNvSpPr txBox="1"/>
          <p:nvPr/>
        </p:nvSpPr>
        <p:spPr>
          <a:xfrm>
            <a:off x="4627881" y="2570104"/>
            <a:ext cx="984478" cy="231735"/>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취소결정</a:t>
            </a:r>
            <a:endParaRPr lang="en-US" altLang="ko-KR" sz="1200" dirty="0">
              <a:solidFill>
                <a:schemeClr val="tx1"/>
              </a:solidFill>
              <a:latin typeface="+mn-ea"/>
            </a:endParaRPr>
          </a:p>
        </p:txBody>
      </p:sp>
      <p:sp>
        <p:nvSpPr>
          <p:cNvPr id="55" name="TextBox 54"/>
          <p:cNvSpPr txBox="1"/>
          <p:nvPr/>
        </p:nvSpPr>
        <p:spPr>
          <a:xfrm>
            <a:off x="1853608" y="2108949"/>
            <a:ext cx="1266940" cy="401571"/>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특허심판원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특허취소신청</a:t>
            </a:r>
            <a:r>
              <a:rPr lang="en-US" altLang="ko-KR" sz="1200" dirty="0">
                <a:solidFill>
                  <a:schemeClr val="tx1"/>
                </a:solidFill>
                <a:latin typeface="+mn-ea"/>
              </a:rPr>
              <a:t>)</a:t>
            </a:r>
          </a:p>
        </p:txBody>
      </p:sp>
      <p:sp>
        <p:nvSpPr>
          <p:cNvPr id="58" name="TextBox 57"/>
          <p:cNvSpPr txBox="1"/>
          <p:nvPr/>
        </p:nvSpPr>
        <p:spPr>
          <a:xfrm>
            <a:off x="5191011" y="2108949"/>
            <a:ext cx="1266940" cy="401571"/>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특허법원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취소소송제기</a:t>
            </a:r>
            <a:r>
              <a:rPr lang="en-US" altLang="ko-KR" sz="1200" dirty="0">
                <a:solidFill>
                  <a:schemeClr val="tx1"/>
                </a:solidFill>
                <a:latin typeface="+mn-ea"/>
              </a:rPr>
              <a:t>)</a:t>
            </a:r>
          </a:p>
        </p:txBody>
      </p:sp>
      <p:sp>
        <p:nvSpPr>
          <p:cNvPr id="61" name="TextBox 60"/>
          <p:cNvSpPr txBox="1"/>
          <p:nvPr/>
        </p:nvSpPr>
        <p:spPr>
          <a:xfrm>
            <a:off x="8685270" y="2108949"/>
            <a:ext cx="1266940" cy="401571"/>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대법원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상고</a:t>
            </a:r>
            <a:r>
              <a:rPr lang="en-US" altLang="ko-KR" sz="1200" dirty="0">
                <a:solidFill>
                  <a:schemeClr val="tx1"/>
                </a:solidFill>
                <a:latin typeface="+mn-ea"/>
              </a:rPr>
              <a:t>)</a:t>
            </a:r>
          </a:p>
        </p:txBody>
      </p:sp>
      <p:sp>
        <p:nvSpPr>
          <p:cNvPr id="64" name="TextBox 63"/>
          <p:cNvSpPr txBox="1"/>
          <p:nvPr/>
        </p:nvSpPr>
        <p:spPr>
          <a:xfrm>
            <a:off x="10477250" y="2570104"/>
            <a:ext cx="1295878" cy="231735"/>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취소결정확정</a:t>
            </a:r>
            <a:endParaRPr lang="en-US" altLang="ko-KR" sz="1200" dirty="0">
              <a:solidFill>
                <a:schemeClr val="tx1"/>
              </a:solidFill>
              <a:latin typeface="+mn-ea"/>
            </a:endParaRPr>
          </a:p>
        </p:txBody>
      </p:sp>
      <p:sp>
        <p:nvSpPr>
          <p:cNvPr id="130" name="Line 5"/>
          <p:cNvSpPr>
            <a:spLocks noChangeShapeType="1"/>
          </p:cNvSpPr>
          <p:nvPr/>
        </p:nvSpPr>
        <p:spPr bwMode="auto">
          <a:xfrm>
            <a:off x="328662" y="5616923"/>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131" name="타원 130"/>
          <p:cNvSpPr/>
          <p:nvPr/>
        </p:nvSpPr>
        <p:spPr>
          <a:xfrm>
            <a:off x="941691" y="552582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132" name="직선 화살표 연결선 131"/>
          <p:cNvCxnSpPr>
            <a:stCxn id="156" idx="2"/>
            <a:endCxn id="131" idx="0"/>
          </p:cNvCxnSpPr>
          <p:nvPr/>
        </p:nvCxnSpPr>
        <p:spPr>
          <a:xfrm flipH="1" flipV="1">
            <a:off x="1019060" y="5525826"/>
            <a:ext cx="1" cy="18270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3" name="타원 132"/>
          <p:cNvSpPr/>
          <p:nvPr/>
        </p:nvSpPr>
        <p:spPr>
          <a:xfrm>
            <a:off x="5047919" y="552582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134" name="직선 화살표 연결선 133"/>
          <p:cNvCxnSpPr>
            <a:stCxn id="157" idx="2"/>
            <a:endCxn id="133" idx="0"/>
          </p:cNvCxnSpPr>
          <p:nvPr/>
        </p:nvCxnSpPr>
        <p:spPr>
          <a:xfrm flipH="1" flipV="1">
            <a:off x="5125288" y="5525826"/>
            <a:ext cx="1" cy="18270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5" name="타원 134"/>
          <p:cNvSpPr/>
          <p:nvPr/>
        </p:nvSpPr>
        <p:spPr>
          <a:xfrm>
            <a:off x="2409708" y="5525826"/>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136" name="직선 화살표 연결선 135"/>
          <p:cNvCxnSpPr>
            <a:cxnSpLocks/>
            <a:stCxn id="158" idx="2"/>
            <a:endCxn id="135" idx="0"/>
          </p:cNvCxnSpPr>
          <p:nvPr/>
        </p:nvCxnSpPr>
        <p:spPr>
          <a:xfrm flipH="1">
            <a:off x="2487077" y="5417210"/>
            <a:ext cx="1" cy="1086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7" name="타원 136"/>
          <p:cNvSpPr/>
          <p:nvPr/>
        </p:nvSpPr>
        <p:spPr>
          <a:xfrm>
            <a:off x="5747111" y="5525826"/>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138" name="직선 화살표 연결선 137"/>
          <p:cNvCxnSpPr>
            <a:stCxn id="159" idx="2"/>
            <a:endCxn id="137" idx="0"/>
          </p:cNvCxnSpPr>
          <p:nvPr/>
        </p:nvCxnSpPr>
        <p:spPr>
          <a:xfrm flipH="1">
            <a:off x="5824480" y="5417210"/>
            <a:ext cx="1" cy="1086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9" name="타원 138"/>
          <p:cNvSpPr/>
          <p:nvPr/>
        </p:nvSpPr>
        <p:spPr>
          <a:xfrm>
            <a:off x="9241370" y="5525826"/>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140" name="직선 화살표 연결선 139"/>
          <p:cNvCxnSpPr>
            <a:stCxn id="160" idx="2"/>
            <a:endCxn id="139" idx="0"/>
          </p:cNvCxnSpPr>
          <p:nvPr/>
        </p:nvCxnSpPr>
        <p:spPr>
          <a:xfrm flipH="1">
            <a:off x="9318739" y="5417210"/>
            <a:ext cx="1" cy="1086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42" name="직선 연결선 141"/>
          <p:cNvCxnSpPr>
            <a:cxnSpLocks/>
          </p:cNvCxnSpPr>
          <p:nvPr/>
        </p:nvCxnSpPr>
        <p:spPr>
          <a:xfrm>
            <a:off x="2487077" y="5941301"/>
            <a:ext cx="2643318" cy="0"/>
          </a:xfrm>
          <a:prstGeom prst="line">
            <a:avLst/>
          </a:prstGeom>
          <a:ln w="190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3" name="직선 연결선 142"/>
          <p:cNvCxnSpPr>
            <a:cxnSpLocks/>
          </p:cNvCxnSpPr>
          <p:nvPr/>
        </p:nvCxnSpPr>
        <p:spPr>
          <a:xfrm>
            <a:off x="5130395" y="5929651"/>
            <a:ext cx="5994793" cy="11650"/>
          </a:xfrm>
          <a:prstGeom prst="line">
            <a:avLst/>
          </a:prstGeom>
          <a:ln w="190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9" name="타원 148"/>
          <p:cNvSpPr/>
          <p:nvPr/>
        </p:nvSpPr>
        <p:spPr>
          <a:xfrm>
            <a:off x="11047819" y="5525826"/>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150" name="TextBox 149"/>
          <p:cNvSpPr txBox="1"/>
          <p:nvPr/>
        </p:nvSpPr>
        <p:spPr>
          <a:xfrm>
            <a:off x="3229883" y="5791152"/>
            <a:ext cx="1287532" cy="276999"/>
          </a:xfrm>
          <a:prstGeom prst="rect">
            <a:avLst/>
          </a:prstGeom>
          <a:solidFill>
            <a:schemeClr val="bg1"/>
          </a:solidFill>
        </p:spPr>
        <p:txBody>
          <a:bodyPr wrap="none" rtlCol="0">
            <a:spAutoFit/>
          </a:bodyPr>
          <a:lstStyle/>
          <a:p>
            <a:r>
              <a:rPr lang="ko-KR" altLang="en-US" sz="1200">
                <a:solidFill>
                  <a:schemeClr val="tx2">
                    <a:lumMod val="50000"/>
                  </a:schemeClr>
                </a:solidFill>
              </a:rPr>
              <a:t>정정심판청구불가</a:t>
            </a:r>
          </a:p>
        </p:txBody>
      </p:sp>
      <p:sp>
        <p:nvSpPr>
          <p:cNvPr id="151" name="TextBox 150"/>
          <p:cNvSpPr txBox="1"/>
          <p:nvPr/>
        </p:nvSpPr>
        <p:spPr>
          <a:xfrm>
            <a:off x="5508308" y="5768886"/>
            <a:ext cx="5141763" cy="461665"/>
          </a:xfrm>
          <a:prstGeom prst="rect">
            <a:avLst/>
          </a:prstGeom>
          <a:solidFill>
            <a:schemeClr val="bg1"/>
          </a:solidFill>
        </p:spPr>
        <p:txBody>
          <a:bodyPr wrap="square" rtlCol="0">
            <a:spAutoFit/>
          </a:bodyPr>
          <a:lstStyle/>
          <a:p>
            <a:pPr algn="ctr"/>
            <a:r>
              <a:rPr lang="ko-KR" altLang="en-US" sz="1200" dirty="0">
                <a:solidFill>
                  <a:schemeClr val="tx2">
                    <a:lumMod val="50000"/>
                  </a:schemeClr>
                </a:solidFill>
              </a:rPr>
              <a:t>정정심판청구가능</a:t>
            </a:r>
            <a:r>
              <a:rPr lang="en-US" altLang="ko-KR" sz="1200" dirty="0">
                <a:solidFill>
                  <a:schemeClr val="tx2">
                    <a:lumMod val="50000"/>
                  </a:schemeClr>
                </a:solidFill>
              </a:rPr>
              <a:t>(</a:t>
            </a:r>
            <a:r>
              <a:rPr lang="ko-KR" altLang="en-US" sz="1200" dirty="0">
                <a:solidFill>
                  <a:schemeClr val="tx2">
                    <a:lumMod val="50000"/>
                  </a:schemeClr>
                </a:solidFill>
              </a:rPr>
              <a:t>무제한설</a:t>
            </a:r>
            <a:r>
              <a:rPr lang="en-US" altLang="ko-KR" sz="1200" dirty="0">
                <a:solidFill>
                  <a:schemeClr val="tx2">
                    <a:lumMod val="50000"/>
                  </a:schemeClr>
                </a:solidFill>
              </a:rPr>
              <a:t>)</a:t>
            </a:r>
          </a:p>
          <a:p>
            <a:pPr algn="ctr"/>
            <a:r>
              <a:rPr lang="ko-KR" altLang="en-US" sz="1200" dirty="0">
                <a:solidFill>
                  <a:schemeClr val="tx2">
                    <a:lumMod val="50000"/>
                  </a:schemeClr>
                </a:solidFill>
              </a:rPr>
              <a:t>단</a:t>
            </a:r>
            <a:r>
              <a:rPr lang="en-US" altLang="ko-KR" sz="1200" dirty="0">
                <a:solidFill>
                  <a:schemeClr val="tx2">
                    <a:lumMod val="50000"/>
                  </a:schemeClr>
                </a:solidFill>
              </a:rPr>
              <a:t>, </a:t>
            </a:r>
            <a:r>
              <a:rPr lang="ko-KR" altLang="en-US" sz="1200" dirty="0" err="1">
                <a:solidFill>
                  <a:schemeClr val="tx2">
                    <a:lumMod val="50000"/>
                  </a:schemeClr>
                </a:solidFill>
              </a:rPr>
              <a:t>심결취소소송의</a:t>
            </a:r>
            <a:r>
              <a:rPr lang="ko-KR" altLang="en-US" sz="1200" dirty="0">
                <a:solidFill>
                  <a:schemeClr val="tx2">
                    <a:lumMod val="50000"/>
                  </a:schemeClr>
                </a:solidFill>
              </a:rPr>
              <a:t> 사실심 변론종결 이후에 </a:t>
            </a:r>
            <a:r>
              <a:rPr lang="ko-KR" altLang="en-US" sz="1200" dirty="0" err="1">
                <a:solidFill>
                  <a:schemeClr val="tx2">
                    <a:lumMod val="50000"/>
                  </a:schemeClr>
                </a:solidFill>
              </a:rPr>
              <a:t>정정심결이</a:t>
            </a:r>
            <a:r>
              <a:rPr lang="ko-KR" altLang="en-US" sz="1200" dirty="0">
                <a:solidFill>
                  <a:schemeClr val="tx2">
                    <a:lumMod val="50000"/>
                  </a:schemeClr>
                </a:solidFill>
              </a:rPr>
              <a:t> 확정되면 판결 영향</a:t>
            </a:r>
            <a:r>
              <a:rPr lang="en-US" altLang="ko-KR" sz="1200" dirty="0">
                <a:solidFill>
                  <a:schemeClr val="tx2">
                    <a:lumMod val="50000"/>
                  </a:schemeClr>
                </a:solidFill>
              </a:rPr>
              <a:t>X</a:t>
            </a:r>
            <a:endParaRPr lang="ko-KR" altLang="en-US" sz="1200" dirty="0">
              <a:solidFill>
                <a:schemeClr val="tx2">
                  <a:lumMod val="50000"/>
                </a:schemeClr>
              </a:solidFill>
            </a:endParaRPr>
          </a:p>
        </p:txBody>
      </p:sp>
      <p:cxnSp>
        <p:nvCxnSpPr>
          <p:cNvPr id="152" name="직선 연결선 151"/>
          <p:cNvCxnSpPr>
            <a:cxnSpLocks/>
          </p:cNvCxnSpPr>
          <p:nvPr/>
        </p:nvCxnSpPr>
        <p:spPr>
          <a:xfrm flipV="1">
            <a:off x="2487077" y="6338425"/>
            <a:ext cx="2633042" cy="11650"/>
          </a:xfrm>
          <a:prstGeom prst="line">
            <a:avLst/>
          </a:prstGeom>
          <a:ln w="190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3" name="TextBox 152"/>
          <p:cNvSpPr txBox="1"/>
          <p:nvPr/>
        </p:nvSpPr>
        <p:spPr>
          <a:xfrm>
            <a:off x="2998588" y="6199926"/>
            <a:ext cx="1846980" cy="276999"/>
          </a:xfrm>
          <a:prstGeom prst="rect">
            <a:avLst/>
          </a:prstGeom>
          <a:solidFill>
            <a:schemeClr val="bg1"/>
          </a:solidFill>
        </p:spPr>
        <p:txBody>
          <a:bodyPr wrap="none" rtlCol="0">
            <a:spAutoFit/>
          </a:bodyPr>
          <a:lstStyle/>
          <a:p>
            <a:r>
              <a:rPr lang="ko-KR" altLang="en-US" sz="1200" dirty="0">
                <a:solidFill>
                  <a:schemeClr val="tx2">
                    <a:lumMod val="50000"/>
                  </a:schemeClr>
                </a:solidFill>
              </a:rPr>
              <a:t>정정청구가능</a:t>
            </a:r>
            <a:r>
              <a:rPr lang="en-US" altLang="ko-KR" sz="1200" dirty="0">
                <a:solidFill>
                  <a:schemeClr val="tx2">
                    <a:lumMod val="50000"/>
                  </a:schemeClr>
                </a:solidFill>
              </a:rPr>
              <a:t>(</a:t>
            </a:r>
            <a:r>
              <a:rPr lang="ko-KR" altLang="en-US" sz="1200" dirty="0" err="1">
                <a:solidFill>
                  <a:schemeClr val="tx2">
                    <a:lumMod val="50000"/>
                  </a:schemeClr>
                </a:solidFill>
              </a:rPr>
              <a:t>방어권</a:t>
            </a:r>
            <a:r>
              <a:rPr lang="ko-KR" altLang="en-US" sz="1200" dirty="0">
                <a:solidFill>
                  <a:schemeClr val="tx2">
                    <a:lumMod val="50000"/>
                  </a:schemeClr>
                </a:solidFill>
              </a:rPr>
              <a:t> 부여</a:t>
            </a:r>
            <a:r>
              <a:rPr lang="en-US" altLang="ko-KR" sz="1200" dirty="0">
                <a:solidFill>
                  <a:schemeClr val="tx2">
                    <a:lumMod val="50000"/>
                  </a:schemeClr>
                </a:solidFill>
              </a:rPr>
              <a:t>)</a:t>
            </a:r>
            <a:endParaRPr lang="ko-KR" altLang="en-US" sz="1200" dirty="0">
              <a:solidFill>
                <a:schemeClr val="tx2">
                  <a:lumMod val="50000"/>
                </a:schemeClr>
              </a:solidFill>
            </a:endParaRPr>
          </a:p>
        </p:txBody>
      </p:sp>
      <p:sp>
        <p:nvSpPr>
          <p:cNvPr id="156" name="TextBox 155"/>
          <p:cNvSpPr txBox="1"/>
          <p:nvPr/>
        </p:nvSpPr>
        <p:spPr>
          <a:xfrm>
            <a:off x="539522" y="5476794"/>
            <a:ext cx="959078" cy="231735"/>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특허등록</a:t>
            </a:r>
            <a:endParaRPr lang="en-US" altLang="ko-KR" sz="1200" dirty="0">
              <a:solidFill>
                <a:schemeClr val="tx1"/>
              </a:solidFill>
              <a:latin typeface="+mn-ea"/>
            </a:endParaRPr>
          </a:p>
        </p:txBody>
      </p:sp>
      <p:sp>
        <p:nvSpPr>
          <p:cNvPr id="157" name="TextBox 156"/>
          <p:cNvSpPr txBox="1"/>
          <p:nvPr/>
        </p:nvSpPr>
        <p:spPr>
          <a:xfrm>
            <a:off x="4633050" y="5476794"/>
            <a:ext cx="984478" cy="231735"/>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무효심결</a:t>
            </a:r>
            <a:endParaRPr lang="en-US" altLang="ko-KR" sz="1200" dirty="0">
              <a:solidFill>
                <a:schemeClr val="tx1"/>
              </a:solidFill>
              <a:latin typeface="+mn-ea"/>
            </a:endParaRPr>
          </a:p>
        </p:txBody>
      </p:sp>
      <p:sp>
        <p:nvSpPr>
          <p:cNvPr id="158" name="TextBox 157"/>
          <p:cNvSpPr txBox="1"/>
          <p:nvPr/>
        </p:nvSpPr>
        <p:spPr>
          <a:xfrm>
            <a:off x="1744273" y="5015639"/>
            <a:ext cx="1485610" cy="401571"/>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특허심판원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특허무효심판청구</a:t>
            </a:r>
            <a:r>
              <a:rPr lang="en-US" altLang="ko-KR" sz="1200" dirty="0">
                <a:solidFill>
                  <a:schemeClr val="tx1"/>
                </a:solidFill>
                <a:latin typeface="+mn-ea"/>
              </a:rPr>
              <a:t>)</a:t>
            </a:r>
          </a:p>
        </p:txBody>
      </p:sp>
      <p:sp>
        <p:nvSpPr>
          <p:cNvPr id="159" name="TextBox 158"/>
          <p:cNvSpPr txBox="1"/>
          <p:nvPr/>
        </p:nvSpPr>
        <p:spPr>
          <a:xfrm>
            <a:off x="5191011" y="5015639"/>
            <a:ext cx="1266940" cy="401571"/>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특허법원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취소소송제기</a:t>
            </a:r>
            <a:r>
              <a:rPr lang="en-US" altLang="ko-KR" sz="1200" dirty="0">
                <a:solidFill>
                  <a:schemeClr val="tx1"/>
                </a:solidFill>
                <a:latin typeface="+mn-ea"/>
              </a:rPr>
              <a:t>)</a:t>
            </a:r>
          </a:p>
        </p:txBody>
      </p:sp>
      <p:sp>
        <p:nvSpPr>
          <p:cNvPr id="160" name="TextBox 159"/>
          <p:cNvSpPr txBox="1"/>
          <p:nvPr/>
        </p:nvSpPr>
        <p:spPr>
          <a:xfrm>
            <a:off x="8685270" y="5015639"/>
            <a:ext cx="1266940" cy="401571"/>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대법원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상고</a:t>
            </a:r>
            <a:r>
              <a:rPr lang="en-US" altLang="ko-KR" sz="1200" dirty="0">
                <a:solidFill>
                  <a:schemeClr val="tx1"/>
                </a:solidFill>
                <a:latin typeface="+mn-ea"/>
              </a:rPr>
              <a:t>)</a:t>
            </a:r>
          </a:p>
        </p:txBody>
      </p:sp>
      <p:sp>
        <p:nvSpPr>
          <p:cNvPr id="161" name="TextBox 160"/>
          <p:cNvSpPr txBox="1"/>
          <p:nvPr/>
        </p:nvSpPr>
        <p:spPr>
          <a:xfrm>
            <a:off x="10477250" y="5476794"/>
            <a:ext cx="1295878" cy="231735"/>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무효심결확정</a:t>
            </a:r>
            <a:endParaRPr lang="en-US" altLang="ko-KR" sz="1200" dirty="0">
              <a:solidFill>
                <a:schemeClr val="tx1"/>
              </a:solidFill>
              <a:latin typeface="+mn-ea"/>
            </a:endParaRPr>
          </a:p>
        </p:txBody>
      </p:sp>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486</a:t>
            </a:r>
            <a:endParaRPr lang="ko-KR" altLang="en-US" dirty="0"/>
          </a:p>
        </p:txBody>
      </p:sp>
      <p:sp>
        <p:nvSpPr>
          <p:cNvPr id="129" name="TextBox 128"/>
          <p:cNvSpPr txBox="1"/>
          <p:nvPr/>
        </p:nvSpPr>
        <p:spPr>
          <a:xfrm>
            <a:off x="77875" y="4083297"/>
            <a:ext cx="11936323" cy="830997"/>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fontAlgn="base"/>
            <a:r>
              <a:rPr lang="ko-KR" altLang="en-US" sz="1200" dirty="0">
                <a:solidFill>
                  <a:srgbClr val="FF0000"/>
                </a:solidFill>
              </a:rPr>
              <a:t>특허무효심판 또는 정정의 </a:t>
            </a:r>
            <a:r>
              <a:rPr lang="ko-KR" altLang="en-US" sz="1200" dirty="0" err="1">
                <a:solidFill>
                  <a:srgbClr val="FF0000"/>
                </a:solidFill>
              </a:rPr>
              <a:t>무효심판이</a:t>
            </a:r>
            <a:r>
              <a:rPr lang="ko-KR" altLang="en-US" sz="1200" dirty="0">
                <a:solidFill>
                  <a:srgbClr val="FF0000"/>
                </a:solidFill>
              </a:rPr>
              <a:t> 특허심판원에 계속 중인 기간에는 </a:t>
            </a:r>
            <a:r>
              <a:rPr lang="ko-KR" altLang="en-US" sz="1200" dirty="0" err="1">
                <a:solidFill>
                  <a:srgbClr val="FF0000"/>
                </a:solidFill>
              </a:rPr>
              <a:t>정정심판을</a:t>
            </a:r>
            <a:r>
              <a:rPr lang="ko-KR" altLang="en-US" sz="1200" dirty="0">
                <a:solidFill>
                  <a:srgbClr val="FF0000"/>
                </a:solidFill>
              </a:rPr>
              <a:t> 청구할 수 없다</a:t>
            </a:r>
            <a:r>
              <a:rPr lang="en-US" altLang="ko-KR" sz="1200" dirty="0">
                <a:solidFill>
                  <a:srgbClr val="FF0000"/>
                </a:solidFill>
              </a:rPr>
              <a:t>(</a:t>
            </a:r>
            <a:r>
              <a:rPr lang="ko-KR" altLang="en-US" sz="1200" dirty="0">
                <a:solidFill>
                  <a:srgbClr val="FF0000"/>
                </a:solidFill>
              </a:rPr>
              <a:t>法 </a:t>
            </a:r>
            <a:r>
              <a:rPr lang="en-US" altLang="ko-KR" sz="1200" dirty="0">
                <a:solidFill>
                  <a:srgbClr val="FF0000"/>
                </a:solidFill>
              </a:rPr>
              <a:t>136</a:t>
            </a:r>
            <a:r>
              <a:rPr lang="ko-KR" altLang="en-US" sz="1200" dirty="0">
                <a:solidFill>
                  <a:srgbClr val="FF0000"/>
                </a:solidFill>
              </a:rPr>
              <a:t>②</a:t>
            </a:r>
            <a:r>
              <a:rPr lang="en-US" altLang="ko-KR" sz="1200" dirty="0">
                <a:solidFill>
                  <a:srgbClr val="FF0000"/>
                </a:solidFill>
              </a:rPr>
              <a:t>Ⅱ). </a:t>
            </a:r>
            <a:r>
              <a:rPr lang="ko-KR" altLang="en-US" sz="1200" dirty="0">
                <a:solidFill>
                  <a:schemeClr val="tx2"/>
                </a:solidFill>
              </a:rPr>
              <a:t>이는 해당 절차 내에서 인정되는 특허의 정정청구를 하는 것이 절차의 신속한 진행과 </a:t>
            </a:r>
            <a:r>
              <a:rPr lang="ko-KR" altLang="en-US" sz="1200" dirty="0" err="1">
                <a:solidFill>
                  <a:schemeClr val="tx2"/>
                </a:solidFill>
              </a:rPr>
              <a:t>심결</a:t>
            </a:r>
            <a:r>
              <a:rPr lang="ko-KR" altLang="en-US" sz="1200" dirty="0">
                <a:solidFill>
                  <a:schemeClr val="tx2"/>
                </a:solidFill>
              </a:rPr>
              <a:t> 또는 결정의 </a:t>
            </a:r>
            <a:r>
              <a:rPr lang="ko-KR" altLang="en-US" sz="1200" dirty="0" err="1">
                <a:solidFill>
                  <a:schemeClr val="tx2"/>
                </a:solidFill>
              </a:rPr>
              <a:t>모순ㆍ저촉을</a:t>
            </a:r>
            <a:r>
              <a:rPr lang="ko-KR" altLang="en-US" sz="1200" dirty="0">
                <a:solidFill>
                  <a:schemeClr val="tx2"/>
                </a:solidFill>
              </a:rPr>
              <a:t> 피할 수 있기 때문이다</a:t>
            </a:r>
            <a:r>
              <a:rPr lang="en-US" altLang="ko-KR" sz="1200" dirty="0">
                <a:solidFill>
                  <a:schemeClr val="tx2"/>
                </a:solidFill>
              </a:rPr>
              <a:t>. </a:t>
            </a:r>
            <a:r>
              <a:rPr lang="ko-KR" altLang="en-US" sz="1200" dirty="0">
                <a:solidFill>
                  <a:schemeClr val="tx2"/>
                </a:solidFill>
              </a:rPr>
              <a:t>그러나 특허법원 또는 대법원에 계속되어 있는 경우에는 </a:t>
            </a:r>
            <a:r>
              <a:rPr lang="ko-KR" altLang="en-US" sz="1200" dirty="0" err="1">
                <a:solidFill>
                  <a:schemeClr val="tx2"/>
                </a:solidFill>
              </a:rPr>
              <a:t>정정심판을</a:t>
            </a:r>
            <a:r>
              <a:rPr lang="ko-KR" altLang="en-US" sz="1200" dirty="0">
                <a:solidFill>
                  <a:schemeClr val="tx2"/>
                </a:solidFill>
              </a:rPr>
              <a:t> 청구할 수 있다</a:t>
            </a:r>
            <a:r>
              <a:rPr lang="en-US" altLang="ko-KR" sz="1200" dirty="0">
                <a:solidFill>
                  <a:schemeClr val="tx2"/>
                </a:solidFill>
              </a:rPr>
              <a:t>. </a:t>
            </a:r>
            <a:r>
              <a:rPr lang="ko-KR" altLang="en-US" sz="1200" dirty="0">
                <a:solidFill>
                  <a:schemeClr val="tx2"/>
                </a:solidFill>
              </a:rPr>
              <a:t>이는 특허법원의 </a:t>
            </a:r>
            <a:r>
              <a:rPr lang="ko-KR" altLang="en-US" sz="1200" dirty="0" err="1">
                <a:solidFill>
                  <a:schemeClr val="tx2"/>
                </a:solidFill>
              </a:rPr>
              <a:t>심리범위는</a:t>
            </a:r>
            <a:r>
              <a:rPr lang="ko-KR" altLang="en-US" sz="1200" dirty="0">
                <a:solidFill>
                  <a:schemeClr val="tx2"/>
                </a:solidFill>
              </a:rPr>
              <a:t> 원칙적으로 </a:t>
            </a:r>
            <a:r>
              <a:rPr lang="ko-KR" altLang="en-US" sz="1200" dirty="0" err="1">
                <a:solidFill>
                  <a:schemeClr val="tx2"/>
                </a:solidFill>
              </a:rPr>
              <a:t>무제한설을</a:t>
            </a:r>
            <a:r>
              <a:rPr lang="ko-KR" altLang="en-US" sz="1200" dirty="0">
                <a:solidFill>
                  <a:schemeClr val="tx2"/>
                </a:solidFill>
              </a:rPr>
              <a:t> 채택하고 있기 때문에 무효심판청구인은 소송단계에서 그 전에 제출하였던 증거보다 더 확실한 새로운 증거를 제출할 수 있으므로 </a:t>
            </a:r>
            <a:r>
              <a:rPr lang="ko-KR" altLang="en-US" sz="1200" dirty="0" err="1">
                <a:solidFill>
                  <a:schemeClr val="tx2"/>
                </a:solidFill>
              </a:rPr>
              <a:t>특허권자에게도</a:t>
            </a:r>
            <a:r>
              <a:rPr lang="ko-KR" altLang="en-US" sz="1200" dirty="0">
                <a:solidFill>
                  <a:schemeClr val="tx2"/>
                </a:solidFill>
              </a:rPr>
              <a:t> 그 새로운 증거에 대한 대응방법으로서 </a:t>
            </a:r>
            <a:r>
              <a:rPr lang="ko-KR" altLang="en-US" sz="1200" dirty="0" err="1">
                <a:solidFill>
                  <a:schemeClr val="tx2"/>
                </a:solidFill>
              </a:rPr>
              <a:t>정정심판을</a:t>
            </a:r>
            <a:r>
              <a:rPr lang="ko-KR" altLang="en-US" sz="1200" dirty="0">
                <a:solidFill>
                  <a:schemeClr val="tx2"/>
                </a:solidFill>
              </a:rPr>
              <a:t> 제기할 수 있도록 한 것이다</a:t>
            </a:r>
            <a:r>
              <a:rPr lang="en-US" altLang="ko-KR" sz="1200" dirty="0">
                <a:solidFill>
                  <a:schemeClr val="tx2"/>
                </a:solidFill>
              </a:rPr>
              <a:t>.</a:t>
            </a:r>
            <a:endParaRPr lang="ko-KR" altLang="en-US" sz="1200" dirty="0">
              <a:solidFill>
                <a:schemeClr val="tx2"/>
              </a:solidFill>
            </a:endParaRPr>
          </a:p>
        </p:txBody>
      </p:sp>
      <p:cxnSp>
        <p:nvCxnSpPr>
          <p:cNvPr id="10" name="직선 연결선 9">
            <a:extLst>
              <a:ext uri="{FF2B5EF4-FFF2-40B4-BE49-F238E27FC236}">
                <a16:creationId xmlns:a16="http://schemas.microsoft.com/office/drawing/2014/main" id="{4245F1E9-EFB7-AC34-C487-278AB68AD7BD}"/>
              </a:ext>
            </a:extLst>
          </p:cNvPr>
          <p:cNvCxnSpPr>
            <a:cxnSpLocks/>
          </p:cNvCxnSpPr>
          <p:nvPr/>
        </p:nvCxnSpPr>
        <p:spPr>
          <a:xfrm>
            <a:off x="5121768" y="3334752"/>
            <a:ext cx="6003420" cy="0"/>
          </a:xfrm>
          <a:prstGeom prst="line">
            <a:avLst/>
          </a:prstGeom>
          <a:ln w="190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907690A-D7CC-B874-EEB5-98E31B7124A6}"/>
              </a:ext>
            </a:extLst>
          </p:cNvPr>
          <p:cNvSpPr txBox="1"/>
          <p:nvPr/>
        </p:nvSpPr>
        <p:spPr>
          <a:xfrm>
            <a:off x="7523863" y="3184603"/>
            <a:ext cx="1011815" cy="276999"/>
          </a:xfrm>
          <a:prstGeom prst="rect">
            <a:avLst/>
          </a:prstGeom>
          <a:solidFill>
            <a:schemeClr val="bg1"/>
          </a:solidFill>
        </p:spPr>
        <p:txBody>
          <a:bodyPr wrap="none" rtlCol="0">
            <a:spAutoFit/>
          </a:bodyPr>
          <a:lstStyle/>
          <a:p>
            <a:r>
              <a:rPr lang="ko-KR" altLang="en-US" sz="1200" dirty="0">
                <a:solidFill>
                  <a:schemeClr val="tx2">
                    <a:lumMod val="50000"/>
                  </a:schemeClr>
                </a:solidFill>
              </a:rPr>
              <a:t>정정청구불가</a:t>
            </a:r>
          </a:p>
        </p:txBody>
      </p:sp>
      <p:cxnSp>
        <p:nvCxnSpPr>
          <p:cNvPr id="13" name="직선 연결선 12">
            <a:extLst>
              <a:ext uri="{FF2B5EF4-FFF2-40B4-BE49-F238E27FC236}">
                <a16:creationId xmlns:a16="http://schemas.microsoft.com/office/drawing/2014/main" id="{48C266DA-A845-8ADE-A95A-4BA2A79869CF}"/>
              </a:ext>
            </a:extLst>
          </p:cNvPr>
          <p:cNvCxnSpPr>
            <a:cxnSpLocks/>
          </p:cNvCxnSpPr>
          <p:nvPr/>
        </p:nvCxnSpPr>
        <p:spPr>
          <a:xfrm flipV="1">
            <a:off x="5130395" y="6323551"/>
            <a:ext cx="5994793" cy="26524"/>
          </a:xfrm>
          <a:prstGeom prst="line">
            <a:avLst/>
          </a:prstGeom>
          <a:ln w="1905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AC068D21-02EE-9FCD-A016-9EB0D117A960}"/>
              </a:ext>
            </a:extLst>
          </p:cNvPr>
          <p:cNvSpPr txBox="1"/>
          <p:nvPr/>
        </p:nvSpPr>
        <p:spPr>
          <a:xfrm>
            <a:off x="7121080" y="6208891"/>
            <a:ext cx="1846980" cy="276999"/>
          </a:xfrm>
          <a:prstGeom prst="rect">
            <a:avLst/>
          </a:prstGeom>
          <a:solidFill>
            <a:schemeClr val="bg1"/>
          </a:solidFill>
        </p:spPr>
        <p:txBody>
          <a:bodyPr wrap="square" rtlCol="0">
            <a:spAutoFit/>
          </a:bodyPr>
          <a:lstStyle/>
          <a:p>
            <a:pPr algn="ctr"/>
            <a:r>
              <a:rPr lang="ko-KR" altLang="en-US" sz="1200" dirty="0">
                <a:solidFill>
                  <a:schemeClr val="tx2">
                    <a:lumMod val="50000"/>
                  </a:schemeClr>
                </a:solidFill>
              </a:rPr>
              <a:t>정정청구불가</a:t>
            </a:r>
          </a:p>
        </p:txBody>
      </p:sp>
      <p:sp>
        <p:nvSpPr>
          <p:cNvPr id="16" name="직사각형 15">
            <a:extLst>
              <a:ext uri="{FF2B5EF4-FFF2-40B4-BE49-F238E27FC236}">
                <a16:creationId xmlns:a16="http://schemas.microsoft.com/office/drawing/2014/main" id="{90CDA7EE-7BC9-D9C1-4AB0-EBEEF7426356}"/>
              </a:ext>
            </a:extLst>
          </p:cNvPr>
          <p:cNvSpPr/>
          <p:nvPr/>
        </p:nvSpPr>
        <p:spPr>
          <a:xfrm>
            <a:off x="2487078" y="2929117"/>
            <a:ext cx="2555672" cy="517996"/>
          </a:xfrm>
          <a:prstGeom prst="rect">
            <a:avLst/>
          </a:prstGeom>
          <a:noFill/>
          <a:ln w="28575">
            <a:solidFill>
              <a:srgbClr val="FF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TextBox 17">
            <a:extLst>
              <a:ext uri="{FF2B5EF4-FFF2-40B4-BE49-F238E27FC236}">
                <a16:creationId xmlns:a16="http://schemas.microsoft.com/office/drawing/2014/main" id="{75830044-ACBD-81F9-6420-CEB49023F05B}"/>
              </a:ext>
            </a:extLst>
          </p:cNvPr>
          <p:cNvSpPr txBox="1"/>
          <p:nvPr/>
        </p:nvSpPr>
        <p:spPr>
          <a:xfrm>
            <a:off x="3299014" y="3414907"/>
            <a:ext cx="1250632" cy="338554"/>
          </a:xfrm>
          <a:prstGeom prst="rect">
            <a:avLst/>
          </a:prstGeom>
          <a:noFill/>
        </p:spPr>
        <p:txBody>
          <a:bodyPr wrap="square">
            <a:spAutoFit/>
          </a:bodyPr>
          <a:lstStyle/>
          <a:p>
            <a:r>
              <a:rPr lang="ko-KR" altLang="en-US" sz="1600" dirty="0" err="1">
                <a:solidFill>
                  <a:srgbClr val="FF0000"/>
                </a:solidFill>
              </a:rPr>
              <a:t>방어권</a:t>
            </a:r>
            <a:r>
              <a:rPr lang="ko-KR" altLang="en-US" sz="1600" dirty="0">
                <a:solidFill>
                  <a:srgbClr val="FF0000"/>
                </a:solidFill>
              </a:rPr>
              <a:t> 부여</a:t>
            </a:r>
          </a:p>
        </p:txBody>
      </p:sp>
      <p:sp>
        <p:nvSpPr>
          <p:cNvPr id="19" name="직사각형 18">
            <a:extLst>
              <a:ext uri="{FF2B5EF4-FFF2-40B4-BE49-F238E27FC236}">
                <a16:creationId xmlns:a16="http://schemas.microsoft.com/office/drawing/2014/main" id="{7435212D-5FBF-CA34-AE21-D52AD2B6F00F}"/>
              </a:ext>
            </a:extLst>
          </p:cNvPr>
          <p:cNvSpPr/>
          <p:nvPr/>
        </p:nvSpPr>
        <p:spPr>
          <a:xfrm>
            <a:off x="5197488" y="2929117"/>
            <a:ext cx="5924838" cy="517996"/>
          </a:xfrm>
          <a:prstGeom prst="rect">
            <a:avLst/>
          </a:prstGeom>
          <a:noFill/>
          <a:ln w="28575">
            <a:solidFill>
              <a:srgbClr val="FF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0" name="TextBox 19">
            <a:extLst>
              <a:ext uri="{FF2B5EF4-FFF2-40B4-BE49-F238E27FC236}">
                <a16:creationId xmlns:a16="http://schemas.microsoft.com/office/drawing/2014/main" id="{B6740FC5-09B4-9A33-B29F-8BFF9BD9B9D0}"/>
              </a:ext>
            </a:extLst>
          </p:cNvPr>
          <p:cNvSpPr txBox="1"/>
          <p:nvPr/>
        </p:nvSpPr>
        <p:spPr>
          <a:xfrm>
            <a:off x="7485248" y="3414907"/>
            <a:ext cx="1569101" cy="338554"/>
          </a:xfrm>
          <a:prstGeom prst="rect">
            <a:avLst/>
          </a:prstGeom>
          <a:noFill/>
        </p:spPr>
        <p:txBody>
          <a:bodyPr wrap="square">
            <a:spAutoFit/>
          </a:bodyPr>
          <a:lstStyle/>
          <a:p>
            <a:r>
              <a:rPr lang="ko-KR" altLang="en-US" sz="1600" dirty="0" err="1">
                <a:solidFill>
                  <a:srgbClr val="FF0000"/>
                </a:solidFill>
              </a:rPr>
              <a:t>방어권</a:t>
            </a:r>
            <a:r>
              <a:rPr lang="ko-KR" altLang="en-US" sz="1600" dirty="0">
                <a:solidFill>
                  <a:srgbClr val="FF0000"/>
                </a:solidFill>
              </a:rPr>
              <a:t> 불필요</a:t>
            </a:r>
          </a:p>
        </p:txBody>
      </p:sp>
      <p:sp>
        <p:nvSpPr>
          <p:cNvPr id="21" name="직사각형 20">
            <a:extLst>
              <a:ext uri="{FF2B5EF4-FFF2-40B4-BE49-F238E27FC236}">
                <a16:creationId xmlns:a16="http://schemas.microsoft.com/office/drawing/2014/main" id="{5ED8204F-E707-BCE7-7DFF-5F2EBBD39226}"/>
              </a:ext>
            </a:extLst>
          </p:cNvPr>
          <p:cNvSpPr/>
          <p:nvPr/>
        </p:nvSpPr>
        <p:spPr>
          <a:xfrm>
            <a:off x="2487078" y="5778261"/>
            <a:ext cx="2555672" cy="723116"/>
          </a:xfrm>
          <a:prstGeom prst="rect">
            <a:avLst/>
          </a:prstGeom>
          <a:noFill/>
          <a:ln w="28575">
            <a:solidFill>
              <a:srgbClr val="FF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2" name="TextBox 21">
            <a:extLst>
              <a:ext uri="{FF2B5EF4-FFF2-40B4-BE49-F238E27FC236}">
                <a16:creationId xmlns:a16="http://schemas.microsoft.com/office/drawing/2014/main" id="{1024999C-CFD1-7A77-AC23-AE41C0478333}"/>
              </a:ext>
            </a:extLst>
          </p:cNvPr>
          <p:cNvSpPr txBox="1"/>
          <p:nvPr/>
        </p:nvSpPr>
        <p:spPr>
          <a:xfrm>
            <a:off x="3299014" y="6469171"/>
            <a:ext cx="1250632" cy="338554"/>
          </a:xfrm>
          <a:prstGeom prst="rect">
            <a:avLst/>
          </a:prstGeom>
          <a:noFill/>
        </p:spPr>
        <p:txBody>
          <a:bodyPr wrap="square">
            <a:spAutoFit/>
          </a:bodyPr>
          <a:lstStyle/>
          <a:p>
            <a:r>
              <a:rPr lang="ko-KR" altLang="en-US" sz="1600" dirty="0" err="1">
                <a:solidFill>
                  <a:srgbClr val="FF0000"/>
                </a:solidFill>
              </a:rPr>
              <a:t>방어권</a:t>
            </a:r>
            <a:r>
              <a:rPr lang="ko-KR" altLang="en-US" sz="1600" dirty="0">
                <a:solidFill>
                  <a:srgbClr val="FF0000"/>
                </a:solidFill>
              </a:rPr>
              <a:t> 부여</a:t>
            </a:r>
          </a:p>
        </p:txBody>
      </p:sp>
      <p:sp>
        <p:nvSpPr>
          <p:cNvPr id="23" name="직사각형 22">
            <a:extLst>
              <a:ext uri="{FF2B5EF4-FFF2-40B4-BE49-F238E27FC236}">
                <a16:creationId xmlns:a16="http://schemas.microsoft.com/office/drawing/2014/main" id="{36A3E283-ACDF-F4AD-DCE3-B6271783B43F}"/>
              </a:ext>
            </a:extLst>
          </p:cNvPr>
          <p:cNvSpPr/>
          <p:nvPr/>
        </p:nvSpPr>
        <p:spPr>
          <a:xfrm>
            <a:off x="5148042" y="5778261"/>
            <a:ext cx="5974279" cy="723116"/>
          </a:xfrm>
          <a:prstGeom prst="rect">
            <a:avLst/>
          </a:prstGeom>
          <a:noFill/>
          <a:ln w="28575">
            <a:solidFill>
              <a:srgbClr val="FF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4" name="TextBox 23">
            <a:extLst>
              <a:ext uri="{FF2B5EF4-FFF2-40B4-BE49-F238E27FC236}">
                <a16:creationId xmlns:a16="http://schemas.microsoft.com/office/drawing/2014/main" id="{BDD50D21-B08C-A4FB-CC73-210272866FDA}"/>
              </a:ext>
            </a:extLst>
          </p:cNvPr>
          <p:cNvSpPr txBox="1"/>
          <p:nvPr/>
        </p:nvSpPr>
        <p:spPr>
          <a:xfrm>
            <a:off x="7642355" y="6469171"/>
            <a:ext cx="1241169" cy="338554"/>
          </a:xfrm>
          <a:prstGeom prst="rect">
            <a:avLst/>
          </a:prstGeom>
          <a:noFill/>
        </p:spPr>
        <p:txBody>
          <a:bodyPr wrap="square">
            <a:spAutoFit/>
          </a:bodyPr>
          <a:lstStyle/>
          <a:p>
            <a:r>
              <a:rPr lang="ko-KR" altLang="en-US" sz="1600" dirty="0" err="1">
                <a:solidFill>
                  <a:srgbClr val="FF0000"/>
                </a:solidFill>
              </a:rPr>
              <a:t>방어권</a:t>
            </a:r>
            <a:r>
              <a:rPr lang="ko-KR" altLang="en-US" sz="1600" dirty="0">
                <a:solidFill>
                  <a:srgbClr val="FF0000"/>
                </a:solidFill>
              </a:rPr>
              <a:t> 부여</a:t>
            </a:r>
          </a:p>
        </p:txBody>
      </p:sp>
      <p:sp>
        <p:nvSpPr>
          <p:cNvPr id="25" name="TextBox 24">
            <a:extLst>
              <a:ext uri="{FF2B5EF4-FFF2-40B4-BE49-F238E27FC236}">
                <a16:creationId xmlns:a16="http://schemas.microsoft.com/office/drawing/2014/main" id="{631F7BD0-DAC6-D765-80EC-0B9B85B8625F}"/>
              </a:ext>
            </a:extLst>
          </p:cNvPr>
          <p:cNvSpPr txBox="1"/>
          <p:nvPr/>
        </p:nvSpPr>
        <p:spPr>
          <a:xfrm>
            <a:off x="2368472" y="3076387"/>
            <a:ext cx="1338828" cy="230832"/>
          </a:xfrm>
          <a:prstGeom prst="rect">
            <a:avLst/>
          </a:prstGeom>
          <a:noFill/>
        </p:spPr>
        <p:txBody>
          <a:bodyPr wrap="none" rtlCol="0">
            <a:spAutoFit/>
          </a:bodyPr>
          <a:lstStyle/>
          <a:p>
            <a:r>
              <a:rPr lang="ko-KR" altLang="en-US" sz="900" dirty="0">
                <a:solidFill>
                  <a:schemeClr val="accent1"/>
                </a:solidFill>
              </a:rPr>
              <a:t>제</a:t>
            </a:r>
            <a:r>
              <a:rPr lang="en-US" altLang="ko-KR" sz="900" dirty="0">
                <a:solidFill>
                  <a:schemeClr val="accent1"/>
                </a:solidFill>
              </a:rPr>
              <a:t>136</a:t>
            </a:r>
            <a:r>
              <a:rPr lang="ko-KR" altLang="en-US" sz="900" dirty="0">
                <a:solidFill>
                  <a:schemeClr val="accent1"/>
                </a:solidFill>
              </a:rPr>
              <a:t>조제</a:t>
            </a:r>
            <a:r>
              <a:rPr lang="en-US" altLang="ko-KR" sz="900" dirty="0">
                <a:solidFill>
                  <a:schemeClr val="accent1"/>
                </a:solidFill>
              </a:rPr>
              <a:t>2</a:t>
            </a:r>
            <a:r>
              <a:rPr lang="ko-KR" altLang="en-US" sz="900" dirty="0" err="1">
                <a:solidFill>
                  <a:schemeClr val="accent1"/>
                </a:solidFill>
              </a:rPr>
              <a:t>항제</a:t>
            </a:r>
            <a:r>
              <a:rPr lang="en-US" altLang="ko-KR" sz="900" dirty="0">
                <a:solidFill>
                  <a:schemeClr val="accent1"/>
                </a:solidFill>
              </a:rPr>
              <a:t>1</a:t>
            </a:r>
            <a:r>
              <a:rPr lang="ko-KR" altLang="en-US" sz="900" dirty="0" err="1">
                <a:solidFill>
                  <a:schemeClr val="accent1"/>
                </a:solidFill>
              </a:rPr>
              <a:t>호본문</a:t>
            </a:r>
            <a:endParaRPr lang="ko-KR" altLang="en-US" sz="900" dirty="0">
              <a:solidFill>
                <a:schemeClr val="accent1"/>
              </a:solidFill>
            </a:endParaRPr>
          </a:p>
        </p:txBody>
      </p:sp>
      <p:sp>
        <p:nvSpPr>
          <p:cNvPr id="26" name="TextBox 25">
            <a:extLst>
              <a:ext uri="{FF2B5EF4-FFF2-40B4-BE49-F238E27FC236}">
                <a16:creationId xmlns:a16="http://schemas.microsoft.com/office/drawing/2014/main" id="{388A839A-22E0-F463-8744-4E69B31493F7}"/>
              </a:ext>
            </a:extLst>
          </p:cNvPr>
          <p:cNvSpPr txBox="1"/>
          <p:nvPr/>
        </p:nvSpPr>
        <p:spPr>
          <a:xfrm>
            <a:off x="9116930" y="3103282"/>
            <a:ext cx="1338828" cy="230832"/>
          </a:xfrm>
          <a:prstGeom prst="rect">
            <a:avLst/>
          </a:prstGeom>
          <a:noFill/>
        </p:spPr>
        <p:txBody>
          <a:bodyPr wrap="none" rtlCol="0">
            <a:spAutoFit/>
          </a:bodyPr>
          <a:lstStyle/>
          <a:p>
            <a:r>
              <a:rPr lang="ko-KR" altLang="en-US" sz="900" dirty="0">
                <a:solidFill>
                  <a:schemeClr val="accent1"/>
                </a:solidFill>
              </a:rPr>
              <a:t>제</a:t>
            </a:r>
            <a:r>
              <a:rPr lang="en-US" altLang="ko-KR" sz="900" dirty="0">
                <a:solidFill>
                  <a:schemeClr val="accent1"/>
                </a:solidFill>
              </a:rPr>
              <a:t>136</a:t>
            </a:r>
            <a:r>
              <a:rPr lang="ko-KR" altLang="en-US" sz="900" dirty="0">
                <a:solidFill>
                  <a:schemeClr val="accent1"/>
                </a:solidFill>
              </a:rPr>
              <a:t>조제</a:t>
            </a:r>
            <a:r>
              <a:rPr lang="en-US" altLang="ko-KR" sz="900" dirty="0">
                <a:solidFill>
                  <a:schemeClr val="accent1"/>
                </a:solidFill>
              </a:rPr>
              <a:t>2</a:t>
            </a:r>
            <a:r>
              <a:rPr lang="ko-KR" altLang="en-US" sz="900" dirty="0" err="1">
                <a:solidFill>
                  <a:schemeClr val="accent1"/>
                </a:solidFill>
              </a:rPr>
              <a:t>항제</a:t>
            </a:r>
            <a:r>
              <a:rPr lang="en-US" altLang="ko-KR" sz="900" dirty="0">
                <a:solidFill>
                  <a:schemeClr val="accent1"/>
                </a:solidFill>
              </a:rPr>
              <a:t>1</a:t>
            </a:r>
            <a:r>
              <a:rPr lang="ko-KR" altLang="en-US" sz="900" dirty="0" err="1">
                <a:solidFill>
                  <a:schemeClr val="accent1"/>
                </a:solidFill>
              </a:rPr>
              <a:t>호본문</a:t>
            </a:r>
            <a:endParaRPr lang="ko-KR" altLang="en-US" sz="900" dirty="0">
              <a:solidFill>
                <a:schemeClr val="accent1"/>
              </a:solidFill>
            </a:endParaRPr>
          </a:p>
        </p:txBody>
      </p:sp>
      <p:sp>
        <p:nvSpPr>
          <p:cNvPr id="27" name="TextBox 26">
            <a:extLst>
              <a:ext uri="{FF2B5EF4-FFF2-40B4-BE49-F238E27FC236}">
                <a16:creationId xmlns:a16="http://schemas.microsoft.com/office/drawing/2014/main" id="{E7B8FFDF-DA35-DF77-59B6-806D1F655A37}"/>
              </a:ext>
            </a:extLst>
          </p:cNvPr>
          <p:cNvSpPr txBox="1"/>
          <p:nvPr/>
        </p:nvSpPr>
        <p:spPr>
          <a:xfrm>
            <a:off x="2545282" y="3443539"/>
            <a:ext cx="753732" cy="230832"/>
          </a:xfrm>
          <a:prstGeom prst="rect">
            <a:avLst/>
          </a:prstGeom>
          <a:noFill/>
        </p:spPr>
        <p:txBody>
          <a:bodyPr wrap="none" rtlCol="0">
            <a:spAutoFit/>
          </a:bodyPr>
          <a:lstStyle/>
          <a:p>
            <a:r>
              <a:rPr lang="ko-KR" altLang="en-US" sz="900" dirty="0">
                <a:solidFill>
                  <a:schemeClr val="accent1"/>
                </a:solidFill>
              </a:rPr>
              <a:t>제</a:t>
            </a:r>
            <a:r>
              <a:rPr lang="en-US" altLang="ko-KR" sz="900" dirty="0">
                <a:solidFill>
                  <a:schemeClr val="accent1"/>
                </a:solidFill>
              </a:rPr>
              <a:t>132</a:t>
            </a:r>
            <a:r>
              <a:rPr lang="ko-KR" altLang="en-US" sz="900" dirty="0">
                <a:solidFill>
                  <a:schemeClr val="accent1"/>
                </a:solidFill>
              </a:rPr>
              <a:t>조의</a:t>
            </a:r>
            <a:r>
              <a:rPr lang="en-US" altLang="ko-KR" sz="900" dirty="0">
                <a:solidFill>
                  <a:schemeClr val="accent1"/>
                </a:solidFill>
              </a:rPr>
              <a:t>3</a:t>
            </a:r>
            <a:endParaRPr lang="ko-KR" altLang="en-US" sz="900" dirty="0">
              <a:solidFill>
                <a:schemeClr val="accent1"/>
              </a:solidFill>
            </a:endParaRPr>
          </a:p>
        </p:txBody>
      </p:sp>
      <p:sp>
        <p:nvSpPr>
          <p:cNvPr id="28" name="TextBox 27">
            <a:extLst>
              <a:ext uri="{FF2B5EF4-FFF2-40B4-BE49-F238E27FC236}">
                <a16:creationId xmlns:a16="http://schemas.microsoft.com/office/drawing/2014/main" id="{B0291310-C4A1-6A9C-3661-D3656F28060F}"/>
              </a:ext>
            </a:extLst>
          </p:cNvPr>
          <p:cNvSpPr txBox="1"/>
          <p:nvPr/>
        </p:nvSpPr>
        <p:spPr>
          <a:xfrm>
            <a:off x="9937370" y="3875234"/>
            <a:ext cx="1338828" cy="230832"/>
          </a:xfrm>
          <a:prstGeom prst="rect">
            <a:avLst/>
          </a:prstGeom>
          <a:noFill/>
        </p:spPr>
        <p:txBody>
          <a:bodyPr wrap="none" rtlCol="0">
            <a:spAutoFit/>
          </a:bodyPr>
          <a:lstStyle/>
          <a:p>
            <a:r>
              <a:rPr lang="ko-KR" altLang="en-US" sz="900" dirty="0">
                <a:solidFill>
                  <a:schemeClr val="accent1"/>
                </a:solidFill>
              </a:rPr>
              <a:t>제</a:t>
            </a:r>
            <a:r>
              <a:rPr lang="en-US" altLang="ko-KR" sz="900" dirty="0">
                <a:solidFill>
                  <a:schemeClr val="accent1"/>
                </a:solidFill>
              </a:rPr>
              <a:t>136</a:t>
            </a:r>
            <a:r>
              <a:rPr lang="ko-KR" altLang="en-US" sz="900" dirty="0">
                <a:solidFill>
                  <a:schemeClr val="accent1"/>
                </a:solidFill>
              </a:rPr>
              <a:t>조제</a:t>
            </a:r>
            <a:r>
              <a:rPr lang="en-US" altLang="ko-KR" sz="900" dirty="0">
                <a:solidFill>
                  <a:schemeClr val="accent1"/>
                </a:solidFill>
              </a:rPr>
              <a:t>2</a:t>
            </a:r>
            <a:r>
              <a:rPr lang="ko-KR" altLang="en-US" sz="900" dirty="0" err="1">
                <a:solidFill>
                  <a:schemeClr val="accent1"/>
                </a:solidFill>
              </a:rPr>
              <a:t>항제</a:t>
            </a:r>
            <a:r>
              <a:rPr lang="en-US" altLang="ko-KR" sz="900" dirty="0">
                <a:solidFill>
                  <a:schemeClr val="accent1"/>
                </a:solidFill>
              </a:rPr>
              <a:t>1</a:t>
            </a:r>
            <a:r>
              <a:rPr lang="ko-KR" altLang="en-US" sz="900" dirty="0" err="1">
                <a:solidFill>
                  <a:schemeClr val="accent1"/>
                </a:solidFill>
              </a:rPr>
              <a:t>호단서</a:t>
            </a:r>
            <a:endParaRPr lang="ko-KR" altLang="en-US" sz="900" dirty="0">
              <a:solidFill>
                <a:schemeClr val="accent1"/>
              </a:solidFill>
            </a:endParaRPr>
          </a:p>
        </p:txBody>
      </p:sp>
      <p:sp>
        <p:nvSpPr>
          <p:cNvPr id="33" name="TextBox 32">
            <a:extLst>
              <a:ext uri="{FF2B5EF4-FFF2-40B4-BE49-F238E27FC236}">
                <a16:creationId xmlns:a16="http://schemas.microsoft.com/office/drawing/2014/main" id="{2BC8EA36-B15A-1CBE-DDF8-3652F452243C}"/>
              </a:ext>
            </a:extLst>
          </p:cNvPr>
          <p:cNvSpPr txBox="1"/>
          <p:nvPr/>
        </p:nvSpPr>
        <p:spPr>
          <a:xfrm>
            <a:off x="2368472" y="5944982"/>
            <a:ext cx="1130438" cy="230832"/>
          </a:xfrm>
          <a:prstGeom prst="rect">
            <a:avLst/>
          </a:prstGeom>
          <a:noFill/>
        </p:spPr>
        <p:txBody>
          <a:bodyPr wrap="none" rtlCol="0">
            <a:spAutoFit/>
          </a:bodyPr>
          <a:lstStyle/>
          <a:p>
            <a:r>
              <a:rPr lang="ko-KR" altLang="en-US" sz="900" dirty="0">
                <a:solidFill>
                  <a:schemeClr val="accent1"/>
                </a:solidFill>
              </a:rPr>
              <a:t>제</a:t>
            </a:r>
            <a:r>
              <a:rPr lang="en-US" altLang="ko-KR" sz="900" dirty="0">
                <a:solidFill>
                  <a:schemeClr val="accent1"/>
                </a:solidFill>
              </a:rPr>
              <a:t>136</a:t>
            </a:r>
            <a:r>
              <a:rPr lang="ko-KR" altLang="en-US" sz="900" dirty="0">
                <a:solidFill>
                  <a:schemeClr val="accent1"/>
                </a:solidFill>
              </a:rPr>
              <a:t>조제</a:t>
            </a:r>
            <a:r>
              <a:rPr lang="en-US" altLang="ko-KR" sz="900" dirty="0">
                <a:solidFill>
                  <a:schemeClr val="accent1"/>
                </a:solidFill>
              </a:rPr>
              <a:t>2</a:t>
            </a:r>
            <a:r>
              <a:rPr lang="ko-KR" altLang="en-US" sz="900" dirty="0" err="1">
                <a:solidFill>
                  <a:schemeClr val="accent1"/>
                </a:solidFill>
              </a:rPr>
              <a:t>항제</a:t>
            </a:r>
            <a:r>
              <a:rPr lang="en-US" altLang="ko-KR" sz="900" dirty="0">
                <a:solidFill>
                  <a:schemeClr val="accent1"/>
                </a:solidFill>
              </a:rPr>
              <a:t>2</a:t>
            </a:r>
            <a:r>
              <a:rPr lang="ko-KR" altLang="en-US" sz="900" dirty="0">
                <a:solidFill>
                  <a:schemeClr val="accent1"/>
                </a:solidFill>
              </a:rPr>
              <a:t>호</a:t>
            </a:r>
          </a:p>
        </p:txBody>
      </p:sp>
      <p:sp>
        <p:nvSpPr>
          <p:cNvPr id="34" name="TextBox 33">
            <a:extLst>
              <a:ext uri="{FF2B5EF4-FFF2-40B4-BE49-F238E27FC236}">
                <a16:creationId xmlns:a16="http://schemas.microsoft.com/office/drawing/2014/main" id="{7BC00E00-14BF-B22E-C99F-8B01D03FED29}"/>
              </a:ext>
            </a:extLst>
          </p:cNvPr>
          <p:cNvSpPr txBox="1"/>
          <p:nvPr/>
        </p:nvSpPr>
        <p:spPr>
          <a:xfrm>
            <a:off x="8883526" y="5800487"/>
            <a:ext cx="1130438" cy="230832"/>
          </a:xfrm>
          <a:prstGeom prst="rect">
            <a:avLst/>
          </a:prstGeom>
          <a:noFill/>
        </p:spPr>
        <p:txBody>
          <a:bodyPr wrap="none" rtlCol="0">
            <a:spAutoFit/>
          </a:bodyPr>
          <a:lstStyle/>
          <a:p>
            <a:r>
              <a:rPr lang="ko-KR" altLang="en-US" sz="900" dirty="0">
                <a:solidFill>
                  <a:schemeClr val="accent1"/>
                </a:solidFill>
              </a:rPr>
              <a:t>제</a:t>
            </a:r>
            <a:r>
              <a:rPr lang="en-US" altLang="ko-KR" sz="900" dirty="0">
                <a:solidFill>
                  <a:schemeClr val="accent1"/>
                </a:solidFill>
              </a:rPr>
              <a:t>136</a:t>
            </a:r>
            <a:r>
              <a:rPr lang="ko-KR" altLang="en-US" sz="900" dirty="0">
                <a:solidFill>
                  <a:schemeClr val="accent1"/>
                </a:solidFill>
              </a:rPr>
              <a:t>조제</a:t>
            </a:r>
            <a:r>
              <a:rPr lang="en-US" altLang="ko-KR" sz="900" dirty="0">
                <a:solidFill>
                  <a:schemeClr val="accent1"/>
                </a:solidFill>
              </a:rPr>
              <a:t>2</a:t>
            </a:r>
            <a:r>
              <a:rPr lang="ko-KR" altLang="en-US" sz="900" dirty="0" err="1">
                <a:solidFill>
                  <a:schemeClr val="accent1"/>
                </a:solidFill>
              </a:rPr>
              <a:t>항제</a:t>
            </a:r>
            <a:r>
              <a:rPr lang="en-US" altLang="ko-KR" sz="900" dirty="0">
                <a:solidFill>
                  <a:schemeClr val="accent1"/>
                </a:solidFill>
              </a:rPr>
              <a:t>2</a:t>
            </a:r>
            <a:r>
              <a:rPr lang="ko-KR" altLang="en-US" sz="900" dirty="0">
                <a:solidFill>
                  <a:schemeClr val="accent1"/>
                </a:solidFill>
              </a:rPr>
              <a:t>호</a:t>
            </a:r>
          </a:p>
        </p:txBody>
      </p:sp>
      <p:sp>
        <p:nvSpPr>
          <p:cNvPr id="35" name="TextBox 34">
            <a:extLst>
              <a:ext uri="{FF2B5EF4-FFF2-40B4-BE49-F238E27FC236}">
                <a16:creationId xmlns:a16="http://schemas.microsoft.com/office/drawing/2014/main" id="{CDD87631-4BAA-C0C5-BF83-A7FC7A0E3D8F}"/>
              </a:ext>
            </a:extLst>
          </p:cNvPr>
          <p:cNvSpPr txBox="1"/>
          <p:nvPr/>
        </p:nvSpPr>
        <p:spPr>
          <a:xfrm>
            <a:off x="2329048" y="6318551"/>
            <a:ext cx="1194558" cy="369332"/>
          </a:xfrm>
          <a:prstGeom prst="rect">
            <a:avLst/>
          </a:prstGeom>
          <a:noFill/>
        </p:spPr>
        <p:txBody>
          <a:bodyPr wrap="none" rtlCol="0">
            <a:spAutoFit/>
          </a:bodyPr>
          <a:lstStyle/>
          <a:p>
            <a:r>
              <a:rPr lang="ko-KR" altLang="en-US" sz="900" dirty="0">
                <a:solidFill>
                  <a:schemeClr val="accent1"/>
                </a:solidFill>
              </a:rPr>
              <a:t>제</a:t>
            </a:r>
            <a:r>
              <a:rPr lang="en-US" altLang="ko-KR" sz="900" dirty="0">
                <a:solidFill>
                  <a:schemeClr val="accent1"/>
                </a:solidFill>
              </a:rPr>
              <a:t>133</a:t>
            </a:r>
            <a:r>
              <a:rPr lang="ko-KR" altLang="en-US" sz="900" dirty="0">
                <a:solidFill>
                  <a:schemeClr val="accent1"/>
                </a:solidFill>
              </a:rPr>
              <a:t>조의</a:t>
            </a:r>
            <a:r>
              <a:rPr lang="en-US" altLang="ko-KR" sz="900" dirty="0">
                <a:solidFill>
                  <a:schemeClr val="accent1"/>
                </a:solidFill>
              </a:rPr>
              <a:t>2</a:t>
            </a:r>
          </a:p>
          <a:p>
            <a:r>
              <a:rPr lang="ko-KR" altLang="en-US" sz="900" dirty="0">
                <a:solidFill>
                  <a:schemeClr val="accent1"/>
                </a:solidFill>
              </a:rPr>
              <a:t>제</a:t>
            </a:r>
            <a:r>
              <a:rPr lang="en-US" altLang="ko-KR" sz="900" dirty="0">
                <a:solidFill>
                  <a:schemeClr val="accent1"/>
                </a:solidFill>
              </a:rPr>
              <a:t>137</a:t>
            </a:r>
            <a:r>
              <a:rPr lang="ko-KR" altLang="en-US" sz="900" dirty="0">
                <a:solidFill>
                  <a:schemeClr val="accent1"/>
                </a:solidFill>
              </a:rPr>
              <a:t>조제</a:t>
            </a:r>
            <a:r>
              <a:rPr lang="en-US" altLang="ko-KR" sz="900" dirty="0">
                <a:solidFill>
                  <a:schemeClr val="accent1"/>
                </a:solidFill>
              </a:rPr>
              <a:t>3</a:t>
            </a:r>
            <a:r>
              <a:rPr lang="ko-KR" altLang="en-US" sz="900" dirty="0">
                <a:solidFill>
                  <a:schemeClr val="accent1"/>
                </a:solidFill>
              </a:rPr>
              <a:t>항</a:t>
            </a:r>
            <a:r>
              <a:rPr lang="en-US" altLang="ko-KR" sz="900" dirty="0">
                <a:solidFill>
                  <a:schemeClr val="accent1"/>
                </a:solidFill>
              </a:rPr>
              <a:t>, </a:t>
            </a:r>
            <a:r>
              <a:rPr lang="ko-KR" altLang="en-US" sz="900" dirty="0">
                <a:solidFill>
                  <a:schemeClr val="accent1"/>
                </a:solidFill>
              </a:rPr>
              <a:t>제</a:t>
            </a:r>
            <a:r>
              <a:rPr lang="en-US" altLang="ko-KR" sz="900" dirty="0">
                <a:solidFill>
                  <a:schemeClr val="accent1"/>
                </a:solidFill>
              </a:rPr>
              <a:t>4</a:t>
            </a:r>
            <a:r>
              <a:rPr lang="ko-KR" altLang="en-US" sz="900" dirty="0">
                <a:solidFill>
                  <a:schemeClr val="accent1"/>
                </a:solidFill>
              </a:rPr>
              <a:t>항</a:t>
            </a:r>
          </a:p>
        </p:txBody>
      </p:sp>
    </p:spTree>
    <p:extLst>
      <p:ext uri="{BB962C8B-B14F-4D97-AF65-F5344CB8AC3E}">
        <p14:creationId xmlns:p14="http://schemas.microsoft.com/office/powerpoint/2010/main" val="3577826350"/>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136</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정정심판의 청구 </a:t>
            </a:r>
            <a:r>
              <a:rPr lang="en-US" altLang="ko-KR" dirty="0">
                <a:solidFill>
                  <a:srgbClr val="525252"/>
                </a:solidFill>
              </a:rPr>
              <a:t>vs </a:t>
            </a:r>
            <a:r>
              <a:rPr lang="ko-KR" altLang="en-US" dirty="0">
                <a:solidFill>
                  <a:srgbClr val="525252"/>
                </a:solidFill>
              </a:rPr>
              <a:t>무효심판의 청구</a:t>
            </a:r>
            <a:r>
              <a:rPr lang="en-US" altLang="ko-KR" dirty="0">
                <a:solidFill>
                  <a:srgbClr val="525252"/>
                </a:solidFill>
              </a:rPr>
              <a:t>(</a:t>
            </a:r>
            <a:r>
              <a:rPr lang="ko-KR" altLang="en-US" dirty="0">
                <a:solidFill>
                  <a:srgbClr val="525252"/>
                </a:solidFill>
              </a:rPr>
              <a:t>취소신청</a:t>
            </a:r>
            <a:r>
              <a:rPr lang="en-US" altLang="ko-KR" dirty="0">
                <a:solidFill>
                  <a:srgbClr val="525252"/>
                </a:solidFill>
              </a:rPr>
              <a:t>)</a:t>
            </a:r>
            <a:endParaRPr lang="ko-KR" altLang="en-US" dirty="0">
              <a:solidFill>
                <a:srgbClr val="525252"/>
              </a:solidFill>
            </a:endParaRPr>
          </a:p>
        </p:txBody>
      </p:sp>
      <p:sp>
        <p:nvSpPr>
          <p:cNvPr id="38" name="Line 5">
            <a:extLst>
              <a:ext uri="{FF2B5EF4-FFF2-40B4-BE49-F238E27FC236}">
                <a16:creationId xmlns:a16="http://schemas.microsoft.com/office/drawing/2014/main" id="{AF5CD259-4E21-4E60-9742-039AF330FE7C}"/>
              </a:ext>
            </a:extLst>
          </p:cNvPr>
          <p:cNvSpPr>
            <a:spLocks noChangeShapeType="1"/>
          </p:cNvSpPr>
          <p:nvPr/>
        </p:nvSpPr>
        <p:spPr bwMode="auto">
          <a:xfrm>
            <a:off x="328662" y="1514901"/>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39" name="TextBox 38">
            <a:extLst>
              <a:ext uri="{FF2B5EF4-FFF2-40B4-BE49-F238E27FC236}">
                <a16:creationId xmlns:a16="http://schemas.microsoft.com/office/drawing/2014/main" id="{0E053B32-ECB4-4A42-9C6C-0F80B5BD1B64}"/>
              </a:ext>
            </a:extLst>
          </p:cNvPr>
          <p:cNvSpPr txBox="1"/>
          <p:nvPr/>
        </p:nvSpPr>
        <p:spPr>
          <a:xfrm>
            <a:off x="834365" y="1359523"/>
            <a:ext cx="1559212"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특허무효심판청구</a:t>
            </a:r>
            <a:endParaRPr lang="en-US" altLang="ko-KR" sz="1400" dirty="0">
              <a:solidFill>
                <a:schemeClr val="tx1"/>
              </a:solidFill>
              <a:latin typeface="+mn-ea"/>
            </a:endParaRPr>
          </a:p>
        </p:txBody>
      </p:sp>
      <p:sp>
        <p:nvSpPr>
          <p:cNvPr id="40" name="TextBox 39">
            <a:extLst>
              <a:ext uri="{FF2B5EF4-FFF2-40B4-BE49-F238E27FC236}">
                <a16:creationId xmlns:a16="http://schemas.microsoft.com/office/drawing/2014/main" id="{F9FD2A6F-AF05-4BF9-9A19-41D47DD2ED1D}"/>
              </a:ext>
            </a:extLst>
          </p:cNvPr>
          <p:cNvSpPr txBox="1"/>
          <p:nvPr/>
        </p:nvSpPr>
        <p:spPr>
          <a:xfrm>
            <a:off x="3313305" y="1359523"/>
            <a:ext cx="1559212"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정정청구</a:t>
            </a:r>
            <a:endParaRPr lang="en-US" altLang="ko-KR" sz="1400" dirty="0">
              <a:solidFill>
                <a:schemeClr val="tx1"/>
              </a:solidFill>
              <a:latin typeface="+mn-ea"/>
            </a:endParaRPr>
          </a:p>
        </p:txBody>
      </p:sp>
      <p:sp>
        <p:nvSpPr>
          <p:cNvPr id="41" name="TextBox 40">
            <a:extLst>
              <a:ext uri="{FF2B5EF4-FFF2-40B4-BE49-F238E27FC236}">
                <a16:creationId xmlns:a16="http://schemas.microsoft.com/office/drawing/2014/main" id="{4B00083D-B7E0-462A-BAFE-DD627B6FF15E}"/>
              </a:ext>
            </a:extLst>
          </p:cNvPr>
          <p:cNvSpPr txBox="1"/>
          <p:nvPr/>
        </p:nvSpPr>
        <p:spPr>
          <a:xfrm>
            <a:off x="5786931" y="1359523"/>
            <a:ext cx="1532906"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정정적법성</a:t>
            </a:r>
            <a:r>
              <a:rPr lang="ko-KR" altLang="en-US" sz="1400" dirty="0">
                <a:solidFill>
                  <a:schemeClr val="tx1"/>
                </a:solidFill>
                <a:latin typeface="+mn-ea"/>
              </a:rPr>
              <a:t> 판단</a:t>
            </a:r>
            <a:endParaRPr lang="en-US" altLang="ko-KR" sz="1400" dirty="0">
              <a:solidFill>
                <a:schemeClr val="tx1"/>
              </a:solidFill>
              <a:latin typeface="+mn-ea"/>
            </a:endParaRPr>
          </a:p>
        </p:txBody>
      </p:sp>
      <p:sp>
        <p:nvSpPr>
          <p:cNvPr id="42" name="TextBox 41">
            <a:extLst>
              <a:ext uri="{FF2B5EF4-FFF2-40B4-BE49-F238E27FC236}">
                <a16:creationId xmlns:a16="http://schemas.microsoft.com/office/drawing/2014/main" id="{372488A3-3F11-4A86-9AA6-2B00C3AEF153}"/>
              </a:ext>
            </a:extLst>
          </p:cNvPr>
          <p:cNvSpPr txBox="1"/>
          <p:nvPr/>
        </p:nvSpPr>
        <p:spPr>
          <a:xfrm>
            <a:off x="9327863" y="1359523"/>
            <a:ext cx="1559212"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무효사유</a:t>
            </a:r>
            <a:r>
              <a:rPr lang="ko-KR" altLang="en-US" sz="1400" dirty="0">
                <a:solidFill>
                  <a:schemeClr val="tx1"/>
                </a:solidFill>
                <a:latin typeface="+mn-ea"/>
              </a:rPr>
              <a:t> 판단</a:t>
            </a:r>
            <a:endParaRPr lang="en-US" altLang="ko-KR" sz="1400" dirty="0">
              <a:solidFill>
                <a:schemeClr val="tx1"/>
              </a:solidFill>
              <a:latin typeface="+mn-ea"/>
            </a:endParaRPr>
          </a:p>
        </p:txBody>
      </p:sp>
      <p:sp>
        <p:nvSpPr>
          <p:cNvPr id="48" name="직사각형 47">
            <a:extLst>
              <a:ext uri="{FF2B5EF4-FFF2-40B4-BE49-F238E27FC236}">
                <a16:creationId xmlns:a16="http://schemas.microsoft.com/office/drawing/2014/main" id="{4BB3FA8B-BE54-4C2C-BC20-5A662E4696DA}"/>
              </a:ext>
            </a:extLst>
          </p:cNvPr>
          <p:cNvSpPr/>
          <p:nvPr/>
        </p:nvSpPr>
        <p:spPr>
          <a:xfrm>
            <a:off x="6696075" y="2012728"/>
            <a:ext cx="3314700" cy="738664"/>
          </a:xfrm>
          <a:prstGeom prst="rect">
            <a:avLst/>
          </a:prstGeom>
          <a:solidFill>
            <a:schemeClr val="accent4">
              <a:lumMod val="20000"/>
              <a:lumOff val="80000"/>
            </a:schemeClr>
          </a:solidFill>
          <a:ln>
            <a:solidFill>
              <a:schemeClr val="bg1">
                <a:lumMod val="50000"/>
              </a:schemeClr>
            </a:solidFill>
          </a:ln>
        </p:spPr>
        <p:txBody>
          <a:bodyPr wrap="square">
            <a:spAutoFit/>
          </a:bodyPr>
          <a:lstStyle/>
          <a:p>
            <a:pPr algn="ctr"/>
            <a:r>
              <a:rPr lang="ko-KR" altLang="en-US" sz="1400" dirty="0">
                <a:latin typeface="+mn-ea"/>
              </a:rPr>
              <a:t>정정이 적법하면 정정 후 명세서 또는 도면에 의하여</a:t>
            </a:r>
            <a:r>
              <a:rPr lang="en-US" altLang="ko-KR" sz="1400" dirty="0">
                <a:latin typeface="+mn-ea"/>
              </a:rPr>
              <a:t>, </a:t>
            </a:r>
            <a:r>
              <a:rPr lang="ko-KR" altLang="en-US" sz="1400" dirty="0">
                <a:latin typeface="+mn-ea"/>
              </a:rPr>
              <a:t>정정이 </a:t>
            </a:r>
            <a:r>
              <a:rPr lang="ko-KR" altLang="en-US" sz="1400" dirty="0" err="1">
                <a:latin typeface="+mn-ea"/>
              </a:rPr>
              <a:t>부적법하면</a:t>
            </a:r>
            <a:r>
              <a:rPr lang="ko-KR" altLang="en-US" sz="1400" dirty="0">
                <a:latin typeface="+mn-ea"/>
              </a:rPr>
              <a:t> 정정 전 명세서 또는 도면에 의하여 특허무효사유를 판단</a:t>
            </a:r>
          </a:p>
        </p:txBody>
      </p:sp>
      <p:cxnSp>
        <p:nvCxnSpPr>
          <p:cNvPr id="51" name="연결선: 꺾임 50">
            <a:extLst>
              <a:ext uri="{FF2B5EF4-FFF2-40B4-BE49-F238E27FC236}">
                <a16:creationId xmlns:a16="http://schemas.microsoft.com/office/drawing/2014/main" id="{C1D11EAF-6069-4C64-940B-E02F9B69C29B}"/>
              </a:ext>
            </a:extLst>
          </p:cNvPr>
          <p:cNvCxnSpPr>
            <a:cxnSpLocks/>
            <a:stCxn id="41" idx="2"/>
            <a:endCxn id="48" idx="1"/>
          </p:cNvCxnSpPr>
          <p:nvPr/>
        </p:nvCxnSpPr>
        <p:spPr>
          <a:xfrm rot="16200000" flipH="1">
            <a:off x="6276740" y="1962724"/>
            <a:ext cx="695979" cy="142691"/>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연결선: 꺾임 52">
            <a:extLst>
              <a:ext uri="{FF2B5EF4-FFF2-40B4-BE49-F238E27FC236}">
                <a16:creationId xmlns:a16="http://schemas.microsoft.com/office/drawing/2014/main" id="{96785837-A509-4CFA-AB55-4ED3B99F1EDA}"/>
              </a:ext>
            </a:extLst>
          </p:cNvPr>
          <p:cNvCxnSpPr>
            <a:cxnSpLocks/>
            <a:stCxn id="48" idx="3"/>
            <a:endCxn id="42" idx="2"/>
          </p:cNvCxnSpPr>
          <p:nvPr/>
        </p:nvCxnSpPr>
        <p:spPr>
          <a:xfrm flipV="1">
            <a:off x="10010775" y="1686081"/>
            <a:ext cx="96694" cy="695979"/>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Line 5">
            <a:extLst>
              <a:ext uri="{FF2B5EF4-FFF2-40B4-BE49-F238E27FC236}">
                <a16:creationId xmlns:a16="http://schemas.microsoft.com/office/drawing/2014/main" id="{4886284B-29DB-4435-8E8A-A0B082277F45}"/>
              </a:ext>
            </a:extLst>
          </p:cNvPr>
          <p:cNvSpPr>
            <a:spLocks noChangeShapeType="1"/>
          </p:cNvSpPr>
          <p:nvPr/>
        </p:nvSpPr>
        <p:spPr bwMode="auto">
          <a:xfrm>
            <a:off x="328662" y="4140440"/>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55" name="TextBox 54">
            <a:extLst>
              <a:ext uri="{FF2B5EF4-FFF2-40B4-BE49-F238E27FC236}">
                <a16:creationId xmlns:a16="http://schemas.microsoft.com/office/drawing/2014/main" id="{7F18A42E-4B5D-431A-B301-F60EF6FC87DF}"/>
              </a:ext>
            </a:extLst>
          </p:cNvPr>
          <p:cNvSpPr txBox="1"/>
          <p:nvPr/>
        </p:nvSpPr>
        <p:spPr>
          <a:xfrm>
            <a:off x="834365" y="3985062"/>
            <a:ext cx="1559212"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a:solidFill>
                  <a:schemeClr val="tx1"/>
                </a:solidFill>
                <a:latin typeface="+mn-ea"/>
              </a:rPr>
              <a:t>정정심판청구</a:t>
            </a:r>
            <a:endParaRPr lang="en-US" altLang="ko-KR" sz="1400" dirty="0">
              <a:solidFill>
                <a:schemeClr val="tx1"/>
              </a:solidFill>
              <a:latin typeface="+mn-ea"/>
            </a:endParaRPr>
          </a:p>
        </p:txBody>
      </p:sp>
      <p:sp>
        <p:nvSpPr>
          <p:cNvPr id="57" name="TextBox 56">
            <a:extLst>
              <a:ext uri="{FF2B5EF4-FFF2-40B4-BE49-F238E27FC236}">
                <a16:creationId xmlns:a16="http://schemas.microsoft.com/office/drawing/2014/main" id="{F6F6DF31-BC9F-430C-973C-235CB22B88B3}"/>
              </a:ext>
            </a:extLst>
          </p:cNvPr>
          <p:cNvSpPr txBox="1"/>
          <p:nvPr/>
        </p:nvSpPr>
        <p:spPr>
          <a:xfrm>
            <a:off x="5948856" y="3985062"/>
            <a:ext cx="1532906"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정정적법성</a:t>
            </a:r>
            <a:r>
              <a:rPr lang="ko-KR" altLang="en-US" sz="1400" dirty="0">
                <a:solidFill>
                  <a:schemeClr val="tx1"/>
                </a:solidFill>
                <a:latin typeface="+mn-ea"/>
              </a:rPr>
              <a:t> 판단</a:t>
            </a:r>
            <a:endParaRPr lang="en-US" altLang="ko-KR" sz="1400" dirty="0">
              <a:solidFill>
                <a:schemeClr val="tx1"/>
              </a:solidFill>
              <a:latin typeface="+mn-ea"/>
            </a:endParaRPr>
          </a:p>
        </p:txBody>
      </p:sp>
      <p:cxnSp>
        <p:nvCxnSpPr>
          <p:cNvPr id="63" name="직선 연결선 62">
            <a:extLst>
              <a:ext uri="{FF2B5EF4-FFF2-40B4-BE49-F238E27FC236}">
                <a16:creationId xmlns:a16="http://schemas.microsoft.com/office/drawing/2014/main" id="{8849A180-C4CA-40E2-AB56-F121DFDAE9AF}"/>
              </a:ext>
            </a:extLst>
          </p:cNvPr>
          <p:cNvCxnSpPr/>
          <p:nvPr/>
        </p:nvCxnSpPr>
        <p:spPr>
          <a:xfrm>
            <a:off x="152400" y="3228975"/>
            <a:ext cx="11857202"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0" name="Line 5">
            <a:extLst>
              <a:ext uri="{FF2B5EF4-FFF2-40B4-BE49-F238E27FC236}">
                <a16:creationId xmlns:a16="http://schemas.microsoft.com/office/drawing/2014/main" id="{A86A8E1C-6656-4EFD-A8D3-3664DB6D0FAD}"/>
              </a:ext>
            </a:extLst>
          </p:cNvPr>
          <p:cNvSpPr>
            <a:spLocks noChangeShapeType="1"/>
          </p:cNvSpPr>
          <p:nvPr/>
        </p:nvSpPr>
        <p:spPr bwMode="auto">
          <a:xfrm>
            <a:off x="328662" y="4859862"/>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71" name="TextBox 70">
            <a:extLst>
              <a:ext uri="{FF2B5EF4-FFF2-40B4-BE49-F238E27FC236}">
                <a16:creationId xmlns:a16="http://schemas.microsoft.com/office/drawing/2014/main" id="{43700328-272C-4C4E-A893-0A625C451EAB}"/>
              </a:ext>
            </a:extLst>
          </p:cNvPr>
          <p:cNvSpPr txBox="1"/>
          <p:nvPr/>
        </p:nvSpPr>
        <p:spPr>
          <a:xfrm>
            <a:off x="2874109" y="4704484"/>
            <a:ext cx="1559212"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특허무효심판청구</a:t>
            </a:r>
            <a:endParaRPr lang="en-US" altLang="ko-KR" sz="1400" dirty="0">
              <a:solidFill>
                <a:schemeClr val="tx1"/>
              </a:solidFill>
              <a:latin typeface="+mn-ea"/>
            </a:endParaRPr>
          </a:p>
        </p:txBody>
      </p:sp>
      <p:sp>
        <p:nvSpPr>
          <p:cNvPr id="72" name="TextBox 71">
            <a:extLst>
              <a:ext uri="{FF2B5EF4-FFF2-40B4-BE49-F238E27FC236}">
                <a16:creationId xmlns:a16="http://schemas.microsoft.com/office/drawing/2014/main" id="{2B20D235-0B05-4F4D-AD63-88B25B8C3490}"/>
              </a:ext>
            </a:extLst>
          </p:cNvPr>
          <p:cNvSpPr txBox="1"/>
          <p:nvPr/>
        </p:nvSpPr>
        <p:spPr>
          <a:xfrm>
            <a:off x="8285472" y="4704484"/>
            <a:ext cx="1532906"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무효사유판단</a:t>
            </a:r>
            <a:endParaRPr lang="en-US" altLang="ko-KR" sz="1400" dirty="0">
              <a:solidFill>
                <a:schemeClr val="tx1"/>
              </a:solidFill>
              <a:latin typeface="+mn-ea"/>
            </a:endParaRPr>
          </a:p>
        </p:txBody>
      </p:sp>
      <p:sp>
        <p:nvSpPr>
          <p:cNvPr id="75" name="사각형: 둥근 모서리 74">
            <a:extLst>
              <a:ext uri="{FF2B5EF4-FFF2-40B4-BE49-F238E27FC236}">
                <a16:creationId xmlns:a16="http://schemas.microsoft.com/office/drawing/2014/main" id="{B6D56816-B7CD-47A0-A801-4CF9D7080226}"/>
              </a:ext>
            </a:extLst>
          </p:cNvPr>
          <p:cNvSpPr/>
          <p:nvPr/>
        </p:nvSpPr>
        <p:spPr>
          <a:xfrm>
            <a:off x="609600" y="3629025"/>
            <a:ext cx="4095750" cy="1869448"/>
          </a:xfrm>
          <a:custGeom>
            <a:avLst/>
            <a:gdLst>
              <a:gd name="csX0" fmla="*/ 0 w 4095750"/>
              <a:gd name="csY0" fmla="*/ 311581 h 1869448"/>
              <a:gd name="csX1" fmla="*/ 311581 w 4095750"/>
              <a:gd name="csY1" fmla="*/ 0 h 1869448"/>
              <a:gd name="csX2" fmla="*/ 890346 w 4095750"/>
              <a:gd name="csY2" fmla="*/ 0 h 1869448"/>
              <a:gd name="csX3" fmla="*/ 1434384 w 4095750"/>
              <a:gd name="csY3" fmla="*/ 0 h 1869448"/>
              <a:gd name="csX4" fmla="*/ 2047875 w 4095750"/>
              <a:gd name="csY4" fmla="*/ 0 h 1869448"/>
              <a:gd name="csX5" fmla="*/ 2591914 w 4095750"/>
              <a:gd name="csY5" fmla="*/ 0 h 1869448"/>
              <a:gd name="csX6" fmla="*/ 3101227 w 4095750"/>
              <a:gd name="csY6" fmla="*/ 0 h 1869448"/>
              <a:gd name="csX7" fmla="*/ 3784169 w 4095750"/>
              <a:gd name="csY7" fmla="*/ 0 h 1869448"/>
              <a:gd name="csX8" fmla="*/ 4095750 w 4095750"/>
              <a:gd name="csY8" fmla="*/ 311581 h 1869448"/>
              <a:gd name="csX9" fmla="*/ 4095750 w 4095750"/>
              <a:gd name="csY9" fmla="*/ 702084 h 1869448"/>
              <a:gd name="csX10" fmla="*/ 4095750 w 4095750"/>
              <a:gd name="csY10" fmla="*/ 1142438 h 1869448"/>
              <a:gd name="csX11" fmla="*/ 4095750 w 4095750"/>
              <a:gd name="csY11" fmla="*/ 1557867 h 1869448"/>
              <a:gd name="csX12" fmla="*/ 3784169 w 4095750"/>
              <a:gd name="csY12" fmla="*/ 1869448 h 1869448"/>
              <a:gd name="csX13" fmla="*/ 3309582 w 4095750"/>
              <a:gd name="csY13" fmla="*/ 1869448 h 1869448"/>
              <a:gd name="csX14" fmla="*/ 2834995 w 4095750"/>
              <a:gd name="csY14" fmla="*/ 1869448 h 1869448"/>
              <a:gd name="csX15" fmla="*/ 2325682 w 4095750"/>
              <a:gd name="csY15" fmla="*/ 1869448 h 1869448"/>
              <a:gd name="csX16" fmla="*/ 1816369 w 4095750"/>
              <a:gd name="csY16" fmla="*/ 1869448 h 1869448"/>
              <a:gd name="csX17" fmla="*/ 1237604 w 4095750"/>
              <a:gd name="csY17" fmla="*/ 1869448 h 1869448"/>
              <a:gd name="csX18" fmla="*/ 311581 w 4095750"/>
              <a:gd name="csY18" fmla="*/ 1869448 h 1869448"/>
              <a:gd name="csX19" fmla="*/ 0 w 4095750"/>
              <a:gd name="csY19" fmla="*/ 1557867 h 1869448"/>
              <a:gd name="csX20" fmla="*/ 0 w 4095750"/>
              <a:gd name="csY20" fmla="*/ 1142438 h 1869448"/>
              <a:gd name="csX21" fmla="*/ 0 w 4095750"/>
              <a:gd name="csY21" fmla="*/ 764398 h 1869448"/>
              <a:gd name="csX22" fmla="*/ 0 w 4095750"/>
              <a:gd name="csY22" fmla="*/ 311581 h 18694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4095750" h="1869448" extrusionOk="0">
                <a:moveTo>
                  <a:pt x="0" y="311581"/>
                </a:moveTo>
                <a:cubicBezTo>
                  <a:pt x="-22262" y="120637"/>
                  <a:pt x="171617" y="-5225"/>
                  <a:pt x="311581" y="0"/>
                </a:cubicBezTo>
                <a:cubicBezTo>
                  <a:pt x="517120" y="-8744"/>
                  <a:pt x="711660" y="19019"/>
                  <a:pt x="890346" y="0"/>
                </a:cubicBezTo>
                <a:cubicBezTo>
                  <a:pt x="1069033" y="-19019"/>
                  <a:pt x="1270323" y="64739"/>
                  <a:pt x="1434384" y="0"/>
                </a:cubicBezTo>
                <a:cubicBezTo>
                  <a:pt x="1598445" y="-64739"/>
                  <a:pt x="1830651" y="8729"/>
                  <a:pt x="2047875" y="0"/>
                </a:cubicBezTo>
                <a:cubicBezTo>
                  <a:pt x="2265099" y="-8729"/>
                  <a:pt x="2407919" y="64616"/>
                  <a:pt x="2591914" y="0"/>
                </a:cubicBezTo>
                <a:cubicBezTo>
                  <a:pt x="2775909" y="-64616"/>
                  <a:pt x="2907777" y="46122"/>
                  <a:pt x="3101227" y="0"/>
                </a:cubicBezTo>
                <a:cubicBezTo>
                  <a:pt x="3294677" y="-46122"/>
                  <a:pt x="3556033" y="3461"/>
                  <a:pt x="3784169" y="0"/>
                </a:cubicBezTo>
                <a:cubicBezTo>
                  <a:pt x="3985200" y="-29343"/>
                  <a:pt x="4056580" y="126476"/>
                  <a:pt x="4095750" y="311581"/>
                </a:cubicBezTo>
                <a:cubicBezTo>
                  <a:pt x="4119679" y="439375"/>
                  <a:pt x="4091190" y="550260"/>
                  <a:pt x="4095750" y="702084"/>
                </a:cubicBezTo>
                <a:cubicBezTo>
                  <a:pt x="4100310" y="853908"/>
                  <a:pt x="4048607" y="940434"/>
                  <a:pt x="4095750" y="1142438"/>
                </a:cubicBezTo>
                <a:cubicBezTo>
                  <a:pt x="4142893" y="1344442"/>
                  <a:pt x="4059247" y="1413057"/>
                  <a:pt x="4095750" y="1557867"/>
                </a:cubicBezTo>
                <a:cubicBezTo>
                  <a:pt x="4096502" y="1683314"/>
                  <a:pt x="3921918" y="1867764"/>
                  <a:pt x="3784169" y="1869448"/>
                </a:cubicBezTo>
                <a:cubicBezTo>
                  <a:pt x="3558054" y="1892786"/>
                  <a:pt x="3454769" y="1822828"/>
                  <a:pt x="3309582" y="1869448"/>
                </a:cubicBezTo>
                <a:cubicBezTo>
                  <a:pt x="3164395" y="1916068"/>
                  <a:pt x="2944861" y="1825124"/>
                  <a:pt x="2834995" y="1869448"/>
                </a:cubicBezTo>
                <a:cubicBezTo>
                  <a:pt x="2725129" y="1913772"/>
                  <a:pt x="2460025" y="1812258"/>
                  <a:pt x="2325682" y="1869448"/>
                </a:cubicBezTo>
                <a:cubicBezTo>
                  <a:pt x="2191339" y="1926638"/>
                  <a:pt x="1959134" y="1852490"/>
                  <a:pt x="1816369" y="1869448"/>
                </a:cubicBezTo>
                <a:cubicBezTo>
                  <a:pt x="1673604" y="1886406"/>
                  <a:pt x="1431923" y="1835522"/>
                  <a:pt x="1237604" y="1869448"/>
                </a:cubicBezTo>
                <a:cubicBezTo>
                  <a:pt x="1043285" y="1903374"/>
                  <a:pt x="654018" y="1825520"/>
                  <a:pt x="311581" y="1869448"/>
                </a:cubicBezTo>
                <a:cubicBezTo>
                  <a:pt x="163239" y="1850988"/>
                  <a:pt x="13785" y="1728745"/>
                  <a:pt x="0" y="1557867"/>
                </a:cubicBezTo>
                <a:cubicBezTo>
                  <a:pt x="-6536" y="1420534"/>
                  <a:pt x="43980" y="1275367"/>
                  <a:pt x="0" y="1142438"/>
                </a:cubicBezTo>
                <a:cubicBezTo>
                  <a:pt x="-43980" y="1009509"/>
                  <a:pt x="28121" y="889294"/>
                  <a:pt x="0" y="764398"/>
                </a:cubicBezTo>
                <a:cubicBezTo>
                  <a:pt x="-28121" y="639502"/>
                  <a:pt x="19472" y="502129"/>
                  <a:pt x="0" y="311581"/>
                </a:cubicBezTo>
                <a:close/>
              </a:path>
            </a:pathLst>
          </a:custGeom>
          <a:noFill/>
          <a:ln w="28575">
            <a:solidFill>
              <a:srgbClr val="FF0000"/>
            </a:solidFill>
            <a:prstDash val="sysDot"/>
            <a:extLst>
              <a:ext uri="{C807C97D-BFC1-408E-A445-0C87EB9F89A2}">
                <ask:lineSketchStyleProps xmlns:ask="http://schemas.microsoft.com/office/drawing/2018/sketchyshapes" sd="591411314">
                  <a:prstGeom prst="round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6" name="TextBox 75">
            <a:extLst>
              <a:ext uri="{FF2B5EF4-FFF2-40B4-BE49-F238E27FC236}">
                <a16:creationId xmlns:a16="http://schemas.microsoft.com/office/drawing/2014/main" id="{03428013-9245-49B0-9A25-F89D324C50F5}"/>
              </a:ext>
            </a:extLst>
          </p:cNvPr>
          <p:cNvSpPr txBox="1"/>
          <p:nvPr/>
        </p:nvSpPr>
        <p:spPr>
          <a:xfrm>
            <a:off x="1061525" y="5218002"/>
            <a:ext cx="2983509" cy="646331"/>
          </a:xfrm>
          <a:prstGeom prst="rect">
            <a:avLst/>
          </a:prstGeom>
          <a:solidFill>
            <a:schemeClr val="bg1"/>
          </a:solidFill>
          <a:ln>
            <a:solidFill>
              <a:schemeClr val="bg1">
                <a:lumMod val="50000"/>
              </a:schemeClr>
            </a:solidFill>
          </a:ln>
        </p:spPr>
        <p:txBody>
          <a:bodyPr wrap="none" rtlCol="0">
            <a:spAutoFit/>
          </a:bodyPr>
          <a:lstStyle/>
          <a:p>
            <a:r>
              <a:rPr lang="ko-KR" altLang="en-US" dirty="0"/>
              <a:t>동시에 계속 중일 수 있는가</a:t>
            </a:r>
            <a:r>
              <a:rPr lang="en-US" altLang="ko-KR" dirty="0"/>
              <a:t>?</a:t>
            </a:r>
          </a:p>
          <a:p>
            <a:r>
              <a:rPr lang="en-US" altLang="ko-KR" dirty="0"/>
              <a:t>(</a:t>
            </a:r>
            <a:r>
              <a:rPr lang="ko-KR" altLang="en-US" dirty="0"/>
              <a:t>제</a:t>
            </a:r>
            <a:r>
              <a:rPr lang="en-US" altLang="ko-KR" dirty="0"/>
              <a:t>136</a:t>
            </a:r>
            <a:r>
              <a:rPr lang="ko-KR" altLang="en-US" dirty="0"/>
              <a:t>조제</a:t>
            </a:r>
            <a:r>
              <a:rPr lang="en-US" altLang="ko-KR" dirty="0"/>
              <a:t>2</a:t>
            </a:r>
            <a:r>
              <a:rPr lang="ko-KR" altLang="en-US" dirty="0" err="1"/>
              <a:t>항제</a:t>
            </a:r>
            <a:r>
              <a:rPr lang="en-US" altLang="ko-KR" dirty="0"/>
              <a:t>2</a:t>
            </a:r>
            <a:r>
              <a:rPr lang="ko-KR" altLang="en-US" dirty="0"/>
              <a:t>호의 해석</a:t>
            </a:r>
            <a:r>
              <a:rPr lang="en-US" altLang="ko-KR" dirty="0"/>
              <a:t>)</a:t>
            </a:r>
            <a:endParaRPr lang="ko-KR" altLang="en-US" dirty="0"/>
          </a:p>
        </p:txBody>
      </p:sp>
      <p:sp>
        <p:nvSpPr>
          <p:cNvPr id="77" name="사각형: 둥근 모서리 76">
            <a:extLst>
              <a:ext uri="{FF2B5EF4-FFF2-40B4-BE49-F238E27FC236}">
                <a16:creationId xmlns:a16="http://schemas.microsoft.com/office/drawing/2014/main" id="{AFD409E6-6FD4-44A3-80C4-A16D60E7243A}"/>
              </a:ext>
            </a:extLst>
          </p:cNvPr>
          <p:cNvSpPr/>
          <p:nvPr/>
        </p:nvSpPr>
        <p:spPr>
          <a:xfrm>
            <a:off x="5524500" y="3629025"/>
            <a:ext cx="4667250" cy="1869448"/>
          </a:xfrm>
          <a:custGeom>
            <a:avLst/>
            <a:gdLst>
              <a:gd name="csX0" fmla="*/ 0 w 4667250"/>
              <a:gd name="csY0" fmla="*/ 311581 h 1869448"/>
              <a:gd name="csX1" fmla="*/ 311581 w 4667250"/>
              <a:gd name="csY1" fmla="*/ 0 h 1869448"/>
              <a:gd name="csX2" fmla="*/ 889308 w 4667250"/>
              <a:gd name="csY2" fmla="*/ 0 h 1869448"/>
              <a:gd name="csX3" fmla="*/ 1426594 w 4667250"/>
              <a:gd name="csY3" fmla="*/ 0 h 1869448"/>
              <a:gd name="csX4" fmla="*/ 2044762 w 4667250"/>
              <a:gd name="csY4" fmla="*/ 0 h 1869448"/>
              <a:gd name="csX5" fmla="*/ 2582048 w 4667250"/>
              <a:gd name="csY5" fmla="*/ 0 h 1869448"/>
              <a:gd name="csX6" fmla="*/ 3078893 w 4667250"/>
              <a:gd name="csY6" fmla="*/ 0 h 1869448"/>
              <a:gd name="csX7" fmla="*/ 3575738 w 4667250"/>
              <a:gd name="csY7" fmla="*/ 0 h 1869448"/>
              <a:gd name="csX8" fmla="*/ 4355669 w 4667250"/>
              <a:gd name="csY8" fmla="*/ 0 h 1869448"/>
              <a:gd name="csX9" fmla="*/ 4667250 w 4667250"/>
              <a:gd name="csY9" fmla="*/ 311581 h 1869448"/>
              <a:gd name="csX10" fmla="*/ 4667250 w 4667250"/>
              <a:gd name="csY10" fmla="*/ 714547 h 1869448"/>
              <a:gd name="csX11" fmla="*/ 4667250 w 4667250"/>
              <a:gd name="csY11" fmla="*/ 1117513 h 1869448"/>
              <a:gd name="csX12" fmla="*/ 4667250 w 4667250"/>
              <a:gd name="csY12" fmla="*/ 1557867 h 1869448"/>
              <a:gd name="csX13" fmla="*/ 4355669 w 4667250"/>
              <a:gd name="csY13" fmla="*/ 1869448 h 1869448"/>
              <a:gd name="csX14" fmla="*/ 3737501 w 4667250"/>
              <a:gd name="csY14" fmla="*/ 1869448 h 1869448"/>
              <a:gd name="csX15" fmla="*/ 3240656 w 4667250"/>
              <a:gd name="csY15" fmla="*/ 1869448 h 1869448"/>
              <a:gd name="csX16" fmla="*/ 2743811 w 4667250"/>
              <a:gd name="csY16" fmla="*/ 1869448 h 1869448"/>
              <a:gd name="csX17" fmla="*/ 2166084 w 4667250"/>
              <a:gd name="csY17" fmla="*/ 1869448 h 1869448"/>
              <a:gd name="csX18" fmla="*/ 1588357 w 4667250"/>
              <a:gd name="csY18" fmla="*/ 1869448 h 1869448"/>
              <a:gd name="csX19" fmla="*/ 1051071 w 4667250"/>
              <a:gd name="csY19" fmla="*/ 1869448 h 1869448"/>
              <a:gd name="csX20" fmla="*/ 311581 w 4667250"/>
              <a:gd name="csY20" fmla="*/ 1869448 h 1869448"/>
              <a:gd name="csX21" fmla="*/ 0 w 4667250"/>
              <a:gd name="csY21" fmla="*/ 1557867 h 1869448"/>
              <a:gd name="csX22" fmla="*/ 0 w 4667250"/>
              <a:gd name="csY22" fmla="*/ 1154901 h 1869448"/>
              <a:gd name="csX23" fmla="*/ 0 w 4667250"/>
              <a:gd name="csY23" fmla="*/ 764398 h 1869448"/>
              <a:gd name="csX24" fmla="*/ 0 w 4667250"/>
              <a:gd name="csY24" fmla="*/ 311581 h 18694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4667250" h="1869448" extrusionOk="0">
                <a:moveTo>
                  <a:pt x="0" y="311581"/>
                </a:moveTo>
                <a:cubicBezTo>
                  <a:pt x="-22262" y="120637"/>
                  <a:pt x="171617" y="-5225"/>
                  <a:pt x="311581" y="0"/>
                </a:cubicBezTo>
                <a:cubicBezTo>
                  <a:pt x="555398" y="-50778"/>
                  <a:pt x="607417" y="1896"/>
                  <a:pt x="889308" y="0"/>
                </a:cubicBezTo>
                <a:cubicBezTo>
                  <a:pt x="1171199" y="-1896"/>
                  <a:pt x="1282126" y="39652"/>
                  <a:pt x="1426594" y="0"/>
                </a:cubicBezTo>
                <a:cubicBezTo>
                  <a:pt x="1571062" y="-39652"/>
                  <a:pt x="1765743" y="25036"/>
                  <a:pt x="2044762" y="0"/>
                </a:cubicBezTo>
                <a:cubicBezTo>
                  <a:pt x="2323781" y="-25036"/>
                  <a:pt x="2403951" y="29678"/>
                  <a:pt x="2582048" y="0"/>
                </a:cubicBezTo>
                <a:cubicBezTo>
                  <a:pt x="2760145" y="-29678"/>
                  <a:pt x="2959955" y="59365"/>
                  <a:pt x="3078893" y="0"/>
                </a:cubicBezTo>
                <a:cubicBezTo>
                  <a:pt x="3197832" y="-59365"/>
                  <a:pt x="3424791" y="44441"/>
                  <a:pt x="3575738" y="0"/>
                </a:cubicBezTo>
                <a:cubicBezTo>
                  <a:pt x="3726686" y="-44441"/>
                  <a:pt x="4183670" y="12355"/>
                  <a:pt x="4355669" y="0"/>
                </a:cubicBezTo>
                <a:cubicBezTo>
                  <a:pt x="4543818" y="-30578"/>
                  <a:pt x="4715762" y="136718"/>
                  <a:pt x="4667250" y="311581"/>
                </a:cubicBezTo>
                <a:cubicBezTo>
                  <a:pt x="4711788" y="427915"/>
                  <a:pt x="4640755" y="628137"/>
                  <a:pt x="4667250" y="714547"/>
                </a:cubicBezTo>
                <a:cubicBezTo>
                  <a:pt x="4693745" y="800957"/>
                  <a:pt x="4644747" y="1000237"/>
                  <a:pt x="4667250" y="1117513"/>
                </a:cubicBezTo>
                <a:cubicBezTo>
                  <a:pt x="4689753" y="1234789"/>
                  <a:pt x="4645924" y="1439400"/>
                  <a:pt x="4667250" y="1557867"/>
                </a:cubicBezTo>
                <a:cubicBezTo>
                  <a:pt x="4679770" y="1691716"/>
                  <a:pt x="4559779" y="1880766"/>
                  <a:pt x="4355669" y="1869448"/>
                </a:cubicBezTo>
                <a:cubicBezTo>
                  <a:pt x="4227878" y="1900990"/>
                  <a:pt x="3927935" y="1858622"/>
                  <a:pt x="3737501" y="1869448"/>
                </a:cubicBezTo>
                <a:cubicBezTo>
                  <a:pt x="3547067" y="1880274"/>
                  <a:pt x="3341473" y="1836182"/>
                  <a:pt x="3240656" y="1869448"/>
                </a:cubicBezTo>
                <a:cubicBezTo>
                  <a:pt x="3139839" y="1902714"/>
                  <a:pt x="2979614" y="1843715"/>
                  <a:pt x="2743811" y="1869448"/>
                </a:cubicBezTo>
                <a:cubicBezTo>
                  <a:pt x="2508009" y="1895181"/>
                  <a:pt x="2303436" y="1846072"/>
                  <a:pt x="2166084" y="1869448"/>
                </a:cubicBezTo>
                <a:cubicBezTo>
                  <a:pt x="2028732" y="1892824"/>
                  <a:pt x="1764700" y="1853287"/>
                  <a:pt x="1588357" y="1869448"/>
                </a:cubicBezTo>
                <a:cubicBezTo>
                  <a:pt x="1412014" y="1885609"/>
                  <a:pt x="1266204" y="1825807"/>
                  <a:pt x="1051071" y="1869448"/>
                </a:cubicBezTo>
                <a:cubicBezTo>
                  <a:pt x="835938" y="1913089"/>
                  <a:pt x="638821" y="1811639"/>
                  <a:pt x="311581" y="1869448"/>
                </a:cubicBezTo>
                <a:cubicBezTo>
                  <a:pt x="111940" y="1835749"/>
                  <a:pt x="6691" y="1728389"/>
                  <a:pt x="0" y="1557867"/>
                </a:cubicBezTo>
                <a:cubicBezTo>
                  <a:pt x="-28606" y="1461707"/>
                  <a:pt x="28910" y="1271024"/>
                  <a:pt x="0" y="1154901"/>
                </a:cubicBezTo>
                <a:cubicBezTo>
                  <a:pt x="-28910" y="1038778"/>
                  <a:pt x="33357" y="879114"/>
                  <a:pt x="0" y="764398"/>
                </a:cubicBezTo>
                <a:cubicBezTo>
                  <a:pt x="-33357" y="649682"/>
                  <a:pt x="10338" y="434460"/>
                  <a:pt x="0" y="311581"/>
                </a:cubicBezTo>
                <a:close/>
              </a:path>
            </a:pathLst>
          </a:custGeom>
          <a:noFill/>
          <a:ln w="28575">
            <a:solidFill>
              <a:srgbClr val="FF0000"/>
            </a:solidFill>
            <a:prstDash val="sysDot"/>
            <a:extLst>
              <a:ext uri="{C807C97D-BFC1-408E-A445-0C87EB9F89A2}">
                <ask:lineSketchStyleProps xmlns:ask="http://schemas.microsoft.com/office/drawing/2018/sketchyshapes" sd="591411314">
                  <a:prstGeom prst="round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8" name="TextBox 77">
            <a:extLst>
              <a:ext uri="{FF2B5EF4-FFF2-40B4-BE49-F238E27FC236}">
                <a16:creationId xmlns:a16="http://schemas.microsoft.com/office/drawing/2014/main" id="{1A44C2A5-1638-461A-A7C7-F24E5777FEAE}"/>
              </a:ext>
            </a:extLst>
          </p:cNvPr>
          <p:cNvSpPr txBox="1"/>
          <p:nvPr/>
        </p:nvSpPr>
        <p:spPr>
          <a:xfrm>
            <a:off x="6319762" y="5313807"/>
            <a:ext cx="3329063" cy="369332"/>
          </a:xfrm>
          <a:prstGeom prst="rect">
            <a:avLst/>
          </a:prstGeom>
          <a:solidFill>
            <a:schemeClr val="bg1"/>
          </a:solidFill>
          <a:ln>
            <a:solidFill>
              <a:schemeClr val="bg1">
                <a:lumMod val="50000"/>
              </a:schemeClr>
            </a:solidFill>
          </a:ln>
        </p:spPr>
        <p:txBody>
          <a:bodyPr wrap="none" rtlCol="0">
            <a:noAutofit/>
          </a:bodyPr>
          <a:lstStyle/>
          <a:p>
            <a:r>
              <a:rPr lang="ko-KR" altLang="en-US" dirty="0"/>
              <a:t>심리순서는</a:t>
            </a:r>
            <a:r>
              <a:rPr lang="en-US" altLang="ko-KR" dirty="0"/>
              <a:t>? (</a:t>
            </a:r>
            <a:r>
              <a:rPr lang="ko-KR" altLang="en-US" dirty="0"/>
              <a:t>제</a:t>
            </a:r>
            <a:r>
              <a:rPr lang="en-US" altLang="ko-KR" dirty="0"/>
              <a:t>164</a:t>
            </a:r>
            <a:r>
              <a:rPr lang="ko-KR" altLang="en-US" dirty="0"/>
              <a:t>조의 해석</a:t>
            </a:r>
            <a:r>
              <a:rPr lang="en-US" altLang="ko-KR" dirty="0"/>
              <a:t>)</a:t>
            </a:r>
            <a:endParaRPr lang="ko-KR" altLang="en-US" dirty="0"/>
          </a:p>
        </p:txBody>
      </p:sp>
      <p:sp>
        <p:nvSpPr>
          <p:cNvPr id="79" name="TextBox 78">
            <a:extLst>
              <a:ext uri="{FF2B5EF4-FFF2-40B4-BE49-F238E27FC236}">
                <a16:creationId xmlns:a16="http://schemas.microsoft.com/office/drawing/2014/main" id="{EA43EAD6-C0BD-41FB-AA37-DCEA54402AB6}"/>
              </a:ext>
            </a:extLst>
          </p:cNvPr>
          <p:cNvSpPr txBox="1"/>
          <p:nvPr/>
        </p:nvSpPr>
        <p:spPr>
          <a:xfrm>
            <a:off x="6319762" y="5780812"/>
            <a:ext cx="3329063" cy="646330"/>
          </a:xfrm>
          <a:prstGeom prst="rect">
            <a:avLst/>
          </a:prstGeom>
          <a:solidFill>
            <a:schemeClr val="accent3">
              <a:lumMod val="40000"/>
              <a:lumOff val="60000"/>
            </a:schemeClr>
          </a:solidFill>
          <a:ln>
            <a:solidFill>
              <a:schemeClr val="bg1">
                <a:lumMod val="50000"/>
              </a:schemeClr>
            </a:solidFill>
          </a:ln>
        </p:spPr>
        <p:txBody>
          <a:bodyPr wrap="none" rtlCol="0">
            <a:noAutofit/>
          </a:bodyPr>
          <a:lstStyle/>
          <a:p>
            <a:r>
              <a:rPr lang="ko-KR" altLang="en-US" dirty="0"/>
              <a:t>어느 하나의 </a:t>
            </a:r>
            <a:r>
              <a:rPr lang="ko-KR" altLang="en-US" dirty="0" err="1"/>
              <a:t>인용심결의</a:t>
            </a:r>
            <a:r>
              <a:rPr lang="ko-KR" altLang="en-US" dirty="0"/>
              <a:t> 확정시</a:t>
            </a:r>
            <a:endParaRPr lang="en-US" altLang="ko-KR" dirty="0"/>
          </a:p>
          <a:p>
            <a:r>
              <a:rPr lang="ko-KR" altLang="en-US" dirty="0"/>
              <a:t>나머지 심판의 처리는</a:t>
            </a:r>
            <a:r>
              <a:rPr lang="en-US" altLang="ko-KR" dirty="0"/>
              <a:t>?</a:t>
            </a:r>
            <a:endParaRPr lang="ko-KR" altLang="en-US" dirty="0"/>
          </a:p>
        </p:txBody>
      </p:sp>
      <p:sp>
        <p:nvSpPr>
          <p:cNvPr id="4" name="타원 3">
            <a:extLst>
              <a:ext uri="{FF2B5EF4-FFF2-40B4-BE49-F238E27FC236}">
                <a16:creationId xmlns:a16="http://schemas.microsoft.com/office/drawing/2014/main" id="{F05A0DCB-0551-44AA-ACC7-588CB2D071C4}"/>
              </a:ext>
            </a:extLst>
          </p:cNvPr>
          <p:cNvSpPr/>
          <p:nvPr/>
        </p:nvSpPr>
        <p:spPr>
          <a:xfrm>
            <a:off x="5524500" y="1086928"/>
            <a:ext cx="424356" cy="424356"/>
          </a:xfrm>
          <a:prstGeom prst="ellipse">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1</a:t>
            </a:r>
            <a:endParaRPr lang="ko-KR" altLang="en-US" dirty="0"/>
          </a:p>
        </p:txBody>
      </p:sp>
      <p:sp>
        <p:nvSpPr>
          <p:cNvPr id="26" name="타원 25">
            <a:extLst>
              <a:ext uri="{FF2B5EF4-FFF2-40B4-BE49-F238E27FC236}">
                <a16:creationId xmlns:a16="http://schemas.microsoft.com/office/drawing/2014/main" id="{44066C79-275E-4FFD-9309-9EF50C178D09}"/>
              </a:ext>
            </a:extLst>
          </p:cNvPr>
          <p:cNvSpPr/>
          <p:nvPr/>
        </p:nvSpPr>
        <p:spPr>
          <a:xfrm>
            <a:off x="9115685" y="1086928"/>
            <a:ext cx="424356" cy="424356"/>
          </a:xfrm>
          <a:prstGeom prst="ellipse">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ko-KR" dirty="0"/>
              <a:t>2</a:t>
            </a:r>
            <a:endParaRPr lang="ko-KR" altLang="en-US" dirty="0"/>
          </a:p>
        </p:txBody>
      </p:sp>
    </p:spTree>
    <p:extLst>
      <p:ext uri="{BB962C8B-B14F-4D97-AF65-F5344CB8AC3E}">
        <p14:creationId xmlns:p14="http://schemas.microsoft.com/office/powerpoint/2010/main" val="3641370536"/>
      </p:ext>
    </p:extLst>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136</a:t>
            </a:r>
            <a:r>
              <a:rPr lang="ko-KR" altLang="en-US" dirty="0"/>
              <a:t>조</a:t>
            </a:r>
          </a:p>
        </p:txBody>
      </p:sp>
      <p:sp>
        <p:nvSpPr>
          <p:cNvPr id="3" name="텍스트 개체 틀 2"/>
          <p:cNvSpPr>
            <a:spLocks noGrp="1"/>
          </p:cNvSpPr>
          <p:nvPr>
            <p:ph type="body" sz="quarter" idx="13"/>
          </p:nvPr>
        </p:nvSpPr>
        <p:spPr/>
        <p:txBody>
          <a:bodyPr/>
          <a:lstStyle/>
          <a:p>
            <a:r>
              <a:rPr lang="ko-KR" altLang="en-US" dirty="0"/>
              <a:t>정정청구시기 </a:t>
            </a:r>
            <a:r>
              <a:rPr lang="en-US" altLang="ko-KR" dirty="0"/>
              <a:t>vs </a:t>
            </a:r>
            <a:r>
              <a:rPr lang="ko-KR" altLang="en-US" dirty="0"/>
              <a:t>정정심판청구시기</a:t>
            </a:r>
          </a:p>
        </p:txBody>
      </p:sp>
      <p:graphicFrame>
        <p:nvGraphicFramePr>
          <p:cNvPr id="4" name="표 3"/>
          <p:cNvGraphicFramePr>
            <a:graphicFrameLocks noGrp="1"/>
          </p:cNvGraphicFramePr>
          <p:nvPr/>
        </p:nvGraphicFramePr>
        <p:xfrm>
          <a:off x="406399" y="2684238"/>
          <a:ext cx="11442701" cy="3784027"/>
        </p:xfrm>
        <a:graphic>
          <a:graphicData uri="http://schemas.openxmlformats.org/drawingml/2006/table">
            <a:tbl>
              <a:tblPr>
                <a:tableStyleId>{8799B23B-EC83-4686-B30A-512413B5E67A}</a:tableStyleId>
              </a:tblPr>
              <a:tblGrid>
                <a:gridCol w="3431901">
                  <a:extLst>
                    <a:ext uri="{9D8B030D-6E8A-4147-A177-3AD203B41FA5}">
                      <a16:colId xmlns:a16="http://schemas.microsoft.com/office/drawing/2014/main" val="921300665"/>
                    </a:ext>
                  </a:extLst>
                </a:gridCol>
                <a:gridCol w="2765372">
                  <a:extLst>
                    <a:ext uri="{9D8B030D-6E8A-4147-A177-3AD203B41FA5}">
                      <a16:colId xmlns:a16="http://schemas.microsoft.com/office/drawing/2014/main" val="2637873674"/>
                    </a:ext>
                  </a:extLst>
                </a:gridCol>
                <a:gridCol w="2622714">
                  <a:extLst>
                    <a:ext uri="{9D8B030D-6E8A-4147-A177-3AD203B41FA5}">
                      <a16:colId xmlns:a16="http://schemas.microsoft.com/office/drawing/2014/main" val="417233727"/>
                    </a:ext>
                  </a:extLst>
                </a:gridCol>
                <a:gridCol w="2622714">
                  <a:extLst>
                    <a:ext uri="{9D8B030D-6E8A-4147-A177-3AD203B41FA5}">
                      <a16:colId xmlns:a16="http://schemas.microsoft.com/office/drawing/2014/main" val="3797537936"/>
                    </a:ext>
                  </a:extLst>
                </a:gridCol>
              </a:tblGrid>
              <a:tr h="382780">
                <a:tc>
                  <a:txBody>
                    <a:bodyPr/>
                    <a:lstStyle/>
                    <a:p>
                      <a:pPr marL="0" marR="0" indent="0" algn="ctr" fontAlgn="base" latinLnBrk="0">
                        <a:lnSpc>
                          <a:spcPct val="130000"/>
                        </a:lnSpc>
                        <a:spcBef>
                          <a:spcPts val="0"/>
                        </a:spcBef>
                        <a:spcAft>
                          <a:spcPts val="0"/>
                        </a:spcAft>
                      </a:pPr>
                      <a:r>
                        <a:rPr lang="ko-KR" altLang="en-US" sz="1400" kern="1200" dirty="0"/>
                        <a:t>시기</a:t>
                      </a:r>
                      <a:endParaRPr lang="ko-KR" altLang="en-US" sz="14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1200"/>
                        <a:t>종류</a:t>
                      </a:r>
                      <a:endParaRPr lang="ko-KR" altLang="en-US" sz="1400" kern="120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1200" dirty="0" err="1"/>
                        <a:t>정정청구</a:t>
                      </a:r>
                      <a:endParaRPr lang="ko-KR" altLang="en-US" sz="14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1200" dirty="0"/>
                        <a:t>정정심판청구</a:t>
                      </a:r>
                      <a:endParaRPr lang="ko-KR" altLang="en-US" sz="14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extLst>
                  <a:ext uri="{0D108BD9-81ED-4DB2-BD59-A6C34878D82A}">
                    <a16:rowId xmlns:a16="http://schemas.microsoft.com/office/drawing/2014/main" val="1824207520"/>
                  </a:ext>
                </a:extLst>
              </a:tr>
              <a:tr h="382780">
                <a:tc rowSpan="3">
                  <a:txBody>
                    <a:bodyPr/>
                    <a:lstStyle/>
                    <a:p>
                      <a:pPr marL="0" marR="0" indent="0" algn="ctr" fontAlgn="base" latinLnBrk="0">
                        <a:lnSpc>
                          <a:spcPct val="130000"/>
                        </a:lnSpc>
                        <a:spcBef>
                          <a:spcPts val="0"/>
                        </a:spcBef>
                        <a:spcAft>
                          <a:spcPts val="0"/>
                        </a:spcAft>
                      </a:pPr>
                      <a:r>
                        <a:rPr lang="ko-KR" altLang="en-US" sz="1400" kern="1200"/>
                        <a:t>심판원 계속 중</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특허취소신청</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a:t>
                      </a:r>
                      <a:r>
                        <a:rPr lang="en-US" altLang="ko-KR" sz="1400" kern="1200"/>
                        <a:t>(</a:t>
                      </a:r>
                      <a:r>
                        <a:rPr lang="ko-KR" altLang="en-US" sz="1400" kern="1200"/>
                        <a:t>法 </a:t>
                      </a:r>
                      <a:r>
                        <a:rPr lang="en-US" altLang="ko-KR" sz="1400" kern="1200"/>
                        <a:t>132</a:t>
                      </a:r>
                      <a:r>
                        <a:rPr lang="ko-KR" altLang="en-US" sz="1400" kern="1200"/>
                        <a:t>의</a:t>
                      </a:r>
                      <a:r>
                        <a:rPr lang="en-US" altLang="ko-KR" sz="1400" kern="1200"/>
                        <a:t>3)</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lvl="0" indent="0" algn="ctr" defTabSz="914400" rtl="0" eaLnBrk="1" fontAlgn="base" latinLnBrk="0" hangingPunct="1">
                        <a:lnSpc>
                          <a:spcPct val="130000"/>
                        </a:lnSpc>
                        <a:spcBef>
                          <a:spcPts val="0"/>
                        </a:spcBef>
                        <a:spcAft>
                          <a:spcPts val="0"/>
                        </a:spcAft>
                        <a:buClrTx/>
                        <a:buSzTx/>
                        <a:buFontTx/>
                        <a:buNone/>
                        <a:tabLst/>
                        <a:defRPr/>
                      </a:pPr>
                      <a:r>
                        <a:rPr lang="ko-KR" altLang="en-US" sz="1400" kern="1200" dirty="0"/>
                        <a:t>△*</a:t>
                      </a:r>
                      <a:endParaRPr lang="ko-KR" altLang="en-US" sz="14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3871867599"/>
                  </a:ext>
                </a:extLst>
              </a:tr>
              <a:tr h="382780">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a:t>특허무효심판</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a:t>
                      </a:r>
                      <a:r>
                        <a:rPr lang="en-US" altLang="ko-KR" sz="1400" kern="1200"/>
                        <a:t>(</a:t>
                      </a:r>
                      <a:r>
                        <a:rPr lang="ko-KR" altLang="en-US" sz="1400" kern="1200"/>
                        <a:t>法 </a:t>
                      </a:r>
                      <a:r>
                        <a:rPr lang="en-US" altLang="ko-KR" sz="1400" kern="1200"/>
                        <a:t>133</a:t>
                      </a:r>
                      <a:r>
                        <a:rPr lang="ko-KR" altLang="en-US" sz="1400" kern="1200"/>
                        <a:t>의</a:t>
                      </a:r>
                      <a:r>
                        <a:rPr lang="en-US" altLang="ko-KR" sz="1400" kern="1200"/>
                        <a:t>2)</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en-US" sz="1400" kern="1200"/>
                        <a:t>×</a:t>
                      </a:r>
                      <a:endParaRPr lang="en-US" sz="1400" kern="120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990209953"/>
                  </a:ext>
                </a:extLst>
              </a:tr>
              <a:tr h="382780">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a:t>정정무효심판</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a:t>
                      </a:r>
                      <a:r>
                        <a:rPr lang="en-US" altLang="ko-KR" sz="1400" kern="1200"/>
                        <a:t>(</a:t>
                      </a:r>
                      <a:r>
                        <a:rPr lang="ko-KR" altLang="en-US" sz="1400" kern="1200"/>
                        <a:t>法 </a:t>
                      </a:r>
                      <a:r>
                        <a:rPr lang="en-US" altLang="ko-KR" sz="1400" kern="1200"/>
                        <a:t>137</a:t>
                      </a:r>
                      <a:r>
                        <a:rPr lang="ko-KR" altLang="en-US" sz="1400" kern="1200"/>
                        <a:t>③④</a:t>
                      </a:r>
                      <a:r>
                        <a:rPr lang="en-US" altLang="ko-KR" sz="1400" kern="1200"/>
                        <a:t>)</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en-US" sz="1400" kern="1200"/>
                        <a:t>×</a:t>
                      </a:r>
                      <a:endParaRPr lang="en-US" sz="1400" kern="120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3125027608"/>
                  </a:ext>
                </a:extLst>
              </a:tr>
              <a:tr h="382780">
                <a:tc rowSpan="3">
                  <a:txBody>
                    <a:bodyPr/>
                    <a:lstStyle/>
                    <a:p>
                      <a:pPr marL="0" marR="0" indent="0" algn="ctr" fontAlgn="base" latinLnBrk="0">
                        <a:lnSpc>
                          <a:spcPct val="130000"/>
                        </a:lnSpc>
                        <a:spcBef>
                          <a:spcPts val="0"/>
                        </a:spcBef>
                        <a:spcAft>
                          <a:spcPts val="0"/>
                        </a:spcAft>
                      </a:pPr>
                      <a:r>
                        <a:rPr lang="ko-KR" altLang="en-US" sz="1400" kern="1200"/>
                        <a:t>특허법원 </a:t>
                      </a:r>
                      <a:r>
                        <a:rPr lang="en-US" altLang="ko-KR" sz="1400" kern="1200"/>
                        <a:t>/ </a:t>
                      </a:r>
                      <a:r>
                        <a:rPr lang="ko-KR" altLang="en-US" sz="1400" kern="1200"/>
                        <a:t>대법원 계속 중</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특허취소신청</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en-US" sz="1400" kern="1200"/>
                        <a:t>×</a:t>
                      </a:r>
                      <a:endParaRPr 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a:t>△*</a:t>
                      </a:r>
                      <a:endParaRPr lang="ko-KR" altLang="en-US" sz="14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798086428"/>
                  </a:ext>
                </a:extLst>
              </a:tr>
              <a:tr h="382780">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a:t>특허무효심판</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en-US" sz="1400" kern="1200"/>
                        <a:t>×</a:t>
                      </a:r>
                      <a:endParaRPr 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a:t>
                      </a:r>
                      <a:endParaRPr lang="ko-KR" altLang="en-US" sz="1400" kern="120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2613969700"/>
                  </a:ext>
                </a:extLst>
              </a:tr>
              <a:tr h="382780">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a:t>정정무효심판</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en-US" sz="1400" kern="1200"/>
                        <a:t>×</a:t>
                      </a:r>
                      <a:endParaRPr 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a:t>
                      </a:r>
                      <a:endParaRPr lang="ko-KR" altLang="en-US" sz="1400" kern="120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82361834"/>
                  </a:ext>
                </a:extLst>
              </a:tr>
              <a:tr h="382780">
                <a:tc gridSpan="2">
                  <a:txBody>
                    <a:bodyPr/>
                    <a:lstStyle/>
                    <a:p>
                      <a:pPr marL="0" marR="0" indent="0" algn="ctr" fontAlgn="base" latinLnBrk="0">
                        <a:lnSpc>
                          <a:spcPct val="130000"/>
                        </a:lnSpc>
                        <a:spcBef>
                          <a:spcPts val="0"/>
                        </a:spcBef>
                        <a:spcAft>
                          <a:spcPts val="0"/>
                        </a:spcAft>
                      </a:pPr>
                      <a:r>
                        <a:rPr lang="ko-KR" altLang="en-US" sz="1400" kern="1200" dirty="0"/>
                        <a:t>계속 중이지 아니한 경우</a:t>
                      </a:r>
                      <a:endParaRPr lang="ko-KR" altLang="en-US" sz="1400" kern="1200" dirty="0">
                        <a:solidFill>
                          <a:schemeClr val="tx2"/>
                        </a:solidFill>
                        <a:latin typeface="+mn-lt"/>
                        <a:ea typeface="+mn-ea"/>
                        <a:cs typeface="+mn-cs"/>
                      </a:endParaRPr>
                    </a:p>
                  </a:txBody>
                  <a:tcPr marL="17907" marR="17907" marT="17907" marB="17907" anchor="ctr"/>
                </a:tc>
                <a:tc h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en-US" sz="1400" kern="1200"/>
                        <a:t>×</a:t>
                      </a:r>
                      <a:endParaRPr 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a:t>
                      </a:r>
                      <a:endParaRPr lang="ko-KR" altLang="en-US" sz="1400" kern="120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2032310412"/>
                  </a:ext>
                </a:extLst>
              </a:tr>
              <a:tr h="721787">
                <a:tc gridSpan="4">
                  <a:txBody>
                    <a:bodyPr/>
                    <a:lstStyle/>
                    <a:p>
                      <a:pPr marL="85090" marR="17780" indent="-85090" algn="just" fontAlgn="base" latinLnBrk="1">
                        <a:lnSpc>
                          <a:spcPct val="130000"/>
                        </a:lnSpc>
                        <a:spcBef>
                          <a:spcPts val="0"/>
                        </a:spcBef>
                        <a:spcAft>
                          <a:spcPts val="0"/>
                        </a:spcAft>
                      </a:pPr>
                      <a:r>
                        <a:rPr lang="ko-KR" altLang="en-US" sz="1400" kern="1200" dirty="0"/>
                        <a:t>* 특허무효심판의 </a:t>
                      </a:r>
                      <a:r>
                        <a:rPr lang="ko-KR" altLang="en-US" sz="1400" kern="1200" dirty="0" err="1"/>
                        <a:t>심결</a:t>
                      </a:r>
                      <a:r>
                        <a:rPr lang="ko-KR" altLang="en-US" sz="1400" kern="1200" dirty="0"/>
                        <a:t> 또는 정정의 </a:t>
                      </a:r>
                      <a:r>
                        <a:rPr lang="ko-KR" altLang="en-US" sz="1400" kern="1200" dirty="0" err="1"/>
                        <a:t>무효심판의</a:t>
                      </a:r>
                      <a:r>
                        <a:rPr lang="ko-KR" altLang="en-US" sz="1400" kern="1200" dirty="0"/>
                        <a:t> </a:t>
                      </a:r>
                      <a:r>
                        <a:rPr lang="ko-KR" altLang="en-US" sz="1400" kern="1200" dirty="0" err="1"/>
                        <a:t>심결에</a:t>
                      </a:r>
                      <a:r>
                        <a:rPr lang="ko-KR" altLang="en-US" sz="1400" kern="1200" dirty="0"/>
                        <a:t> 대한 소가 특허법원에 계속 중인 경우에는 특허법원에서 변론이 종결</a:t>
                      </a:r>
                      <a:r>
                        <a:rPr lang="en-US" altLang="ko-KR" sz="1400" kern="1200" dirty="0"/>
                        <a:t>(</a:t>
                      </a:r>
                      <a:r>
                        <a:rPr lang="ko-KR" altLang="en-US" sz="1400" kern="1200" dirty="0"/>
                        <a:t>변론 없이 한 판결의 경우에는 판결의 선고를 말한다</a:t>
                      </a:r>
                      <a:r>
                        <a:rPr lang="en-US" altLang="ko-KR" sz="1400" kern="1200" dirty="0"/>
                        <a:t>)</a:t>
                      </a:r>
                      <a:r>
                        <a:rPr lang="ko-KR" altLang="en-US" sz="1400" kern="1200" dirty="0"/>
                        <a:t>된 날까지 정정심판청구 가능</a:t>
                      </a:r>
                      <a:endParaRPr lang="ko-KR" altLang="en-US" sz="1400" kern="1200" dirty="0">
                        <a:solidFill>
                          <a:schemeClr val="tx2"/>
                        </a:solidFill>
                        <a:latin typeface="+mn-lt"/>
                        <a:ea typeface="+mn-ea"/>
                        <a:cs typeface="+mn-cs"/>
                      </a:endParaRPr>
                    </a:p>
                  </a:txBody>
                  <a:tcPr marL="17907" marR="17907" marT="17907" marB="17907" anchor="ct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456918057"/>
                  </a:ext>
                </a:extLst>
              </a:tr>
            </a:tbl>
          </a:graphicData>
        </a:graphic>
      </p:graphicFrame>
      <p:cxnSp>
        <p:nvCxnSpPr>
          <p:cNvPr id="5" name="직선 연결선 4"/>
          <p:cNvCxnSpPr/>
          <p:nvPr/>
        </p:nvCxnSpPr>
        <p:spPr>
          <a:xfrm>
            <a:off x="0" y="237177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7875" y="986046"/>
            <a:ext cx="11936323" cy="1384995"/>
          </a:xfrm>
          <a:prstGeom prst="rect">
            <a:avLst/>
          </a:prstGeom>
          <a:noFill/>
        </p:spPr>
        <p:txBody>
          <a:bodyPr wrap="square" rtlCol="0">
            <a:spAutoFit/>
          </a:bodyPr>
          <a:lstStyle/>
          <a:p>
            <a:pPr fontAlgn="base"/>
            <a:r>
              <a:rPr lang="ko-KR" altLang="en-US" sz="1400" dirty="0">
                <a:solidFill>
                  <a:schemeClr val="tx2"/>
                </a:solidFill>
              </a:rPr>
              <a:t>특허취소신청이 특허심판원에 계속 중인 때부터 그 결정이 확정될 때까지의 기간이나 특허무효심판 또는 정정의 </a:t>
            </a:r>
            <a:r>
              <a:rPr lang="ko-KR" altLang="en-US" sz="1400" dirty="0" err="1">
                <a:solidFill>
                  <a:schemeClr val="tx2"/>
                </a:solidFill>
              </a:rPr>
              <a:t>무효심판이</a:t>
            </a:r>
            <a:r>
              <a:rPr lang="ko-KR" altLang="en-US" sz="1400" dirty="0">
                <a:solidFill>
                  <a:schemeClr val="tx2"/>
                </a:solidFill>
              </a:rPr>
              <a:t> 특허심판원에 계속 중인 기간에는 </a:t>
            </a:r>
            <a:r>
              <a:rPr lang="ko-KR" altLang="en-US" sz="1400" dirty="0" err="1">
                <a:solidFill>
                  <a:schemeClr val="tx2"/>
                </a:solidFill>
              </a:rPr>
              <a:t>정정심판을</a:t>
            </a:r>
            <a:r>
              <a:rPr lang="ko-KR" altLang="en-US" sz="1400" dirty="0">
                <a:solidFill>
                  <a:schemeClr val="tx2"/>
                </a:solidFill>
              </a:rPr>
              <a:t> 청구할 수 없지만</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136②), </a:t>
            </a:r>
            <a:r>
              <a:rPr lang="ko-KR" altLang="en-US" sz="1400" dirty="0">
                <a:solidFill>
                  <a:schemeClr val="tx2"/>
                </a:solidFill>
              </a:rPr>
              <a:t>특허취소신청</a:t>
            </a:r>
            <a:r>
              <a:rPr lang="en-US" altLang="ko-KR" sz="1400" dirty="0">
                <a:solidFill>
                  <a:schemeClr val="tx2"/>
                </a:solidFill>
              </a:rPr>
              <a:t>, </a:t>
            </a:r>
            <a:r>
              <a:rPr lang="ko-KR" altLang="en-US" sz="1400" dirty="0">
                <a:solidFill>
                  <a:schemeClr val="tx2"/>
                </a:solidFill>
              </a:rPr>
              <a:t>특허무효심판청구 전에 </a:t>
            </a:r>
            <a:r>
              <a:rPr lang="ko-KR" altLang="en-US" sz="1400" dirty="0" err="1">
                <a:solidFill>
                  <a:schemeClr val="tx2"/>
                </a:solidFill>
              </a:rPr>
              <a:t>정정심판이</a:t>
            </a:r>
            <a:r>
              <a:rPr lang="ko-KR" altLang="en-US" sz="1400" dirty="0">
                <a:solidFill>
                  <a:schemeClr val="tx2"/>
                </a:solidFill>
              </a:rPr>
              <a:t> 청구된 때는 특허취소신청</a:t>
            </a:r>
            <a:r>
              <a:rPr lang="en-US" altLang="ko-KR" sz="1400" dirty="0">
                <a:solidFill>
                  <a:schemeClr val="tx2"/>
                </a:solidFill>
              </a:rPr>
              <a:t>, </a:t>
            </a:r>
            <a:r>
              <a:rPr lang="ko-KR" altLang="en-US" sz="1400" dirty="0">
                <a:solidFill>
                  <a:schemeClr val="tx2"/>
                </a:solidFill>
              </a:rPr>
              <a:t>특허무효심판과 </a:t>
            </a:r>
            <a:r>
              <a:rPr lang="ko-KR" altLang="en-US" sz="1400" dirty="0" err="1">
                <a:solidFill>
                  <a:schemeClr val="tx2"/>
                </a:solidFill>
              </a:rPr>
              <a:t>정정심판이</a:t>
            </a:r>
            <a:r>
              <a:rPr lang="ko-KR" altLang="en-US" sz="1400" dirty="0">
                <a:solidFill>
                  <a:schemeClr val="tx2"/>
                </a:solidFill>
              </a:rPr>
              <a:t> 특허심판원에서 동시에 계속되게 된다</a:t>
            </a:r>
            <a:r>
              <a:rPr lang="en-US" altLang="ko-KR" sz="1400" dirty="0">
                <a:solidFill>
                  <a:schemeClr val="tx2"/>
                </a:solidFill>
              </a:rPr>
              <a:t>. </a:t>
            </a:r>
            <a:r>
              <a:rPr lang="ko-KR" altLang="en-US" sz="1400" dirty="0">
                <a:solidFill>
                  <a:schemeClr val="tx2"/>
                </a:solidFill>
              </a:rPr>
              <a:t>또한</a:t>
            </a:r>
            <a:r>
              <a:rPr lang="en-US" altLang="ko-KR" sz="1400" dirty="0">
                <a:solidFill>
                  <a:schemeClr val="tx2"/>
                </a:solidFill>
              </a:rPr>
              <a:t>, </a:t>
            </a:r>
            <a:r>
              <a:rPr lang="ko-KR" altLang="en-US" sz="1400" dirty="0">
                <a:solidFill>
                  <a:schemeClr val="tx2"/>
                </a:solidFill>
              </a:rPr>
              <a:t>등록무효심결에 대한 </a:t>
            </a:r>
            <a:r>
              <a:rPr lang="ko-KR" altLang="en-US" sz="1400" dirty="0" err="1">
                <a:solidFill>
                  <a:schemeClr val="tx2"/>
                </a:solidFill>
              </a:rPr>
              <a:t>취소소송이</a:t>
            </a:r>
            <a:r>
              <a:rPr lang="ko-KR" altLang="en-US" sz="1400" dirty="0">
                <a:solidFill>
                  <a:schemeClr val="tx2"/>
                </a:solidFill>
              </a:rPr>
              <a:t> 특허법원이나 대법원에 계속 중인 경우</a:t>
            </a:r>
            <a:r>
              <a:rPr lang="en-US" altLang="ko-KR" sz="1400" dirty="0">
                <a:solidFill>
                  <a:schemeClr val="tx2"/>
                </a:solidFill>
              </a:rPr>
              <a:t>(</a:t>
            </a:r>
            <a:r>
              <a:rPr lang="ko-KR" altLang="en-US" sz="1400" dirty="0">
                <a:solidFill>
                  <a:schemeClr val="tx2"/>
                </a:solidFill>
              </a:rPr>
              <a:t>특허취소신청의 경우에는 특허법원에서 변론이 종결</a:t>
            </a:r>
            <a:r>
              <a:rPr lang="en-US" altLang="ko-KR" sz="1400" dirty="0">
                <a:solidFill>
                  <a:schemeClr val="tx2"/>
                </a:solidFill>
              </a:rPr>
              <a:t>(</a:t>
            </a:r>
            <a:r>
              <a:rPr lang="ko-KR" altLang="en-US" sz="1400" dirty="0">
                <a:solidFill>
                  <a:schemeClr val="tx2"/>
                </a:solidFill>
              </a:rPr>
              <a:t>변론 없이 한 판결의 경우에는 판결의 선고를 말한다</a:t>
            </a:r>
            <a:r>
              <a:rPr lang="en-US" altLang="ko-KR" sz="1400" dirty="0">
                <a:solidFill>
                  <a:schemeClr val="tx2"/>
                </a:solidFill>
              </a:rPr>
              <a:t>)</a:t>
            </a:r>
            <a:r>
              <a:rPr lang="ko-KR" altLang="en-US" sz="1400" dirty="0">
                <a:solidFill>
                  <a:schemeClr val="tx2"/>
                </a:solidFill>
              </a:rPr>
              <a:t>된 날까지</a:t>
            </a:r>
            <a:r>
              <a:rPr lang="en-US" altLang="ko-KR" sz="1400" dirty="0">
                <a:solidFill>
                  <a:schemeClr val="tx2"/>
                </a:solidFill>
              </a:rPr>
              <a:t>)</a:t>
            </a:r>
            <a:r>
              <a:rPr lang="ko-KR" altLang="en-US" sz="1400" dirty="0">
                <a:solidFill>
                  <a:schemeClr val="tx2"/>
                </a:solidFill>
              </a:rPr>
              <a:t>에는 독립하여 그 </a:t>
            </a:r>
            <a:r>
              <a:rPr lang="ko-KR" altLang="en-US" sz="1400" dirty="0" err="1">
                <a:solidFill>
                  <a:schemeClr val="tx2"/>
                </a:solidFill>
              </a:rPr>
              <a:t>정정심판을</a:t>
            </a:r>
            <a:r>
              <a:rPr lang="ko-KR" altLang="en-US" sz="1400" dirty="0">
                <a:solidFill>
                  <a:schemeClr val="tx2"/>
                </a:solidFill>
              </a:rPr>
              <a:t> 청구할 수 있다</a:t>
            </a:r>
            <a:r>
              <a:rPr lang="en-US" altLang="ko-KR" sz="1400" dirty="0">
                <a:solidFill>
                  <a:schemeClr val="tx2"/>
                </a:solidFill>
              </a:rPr>
              <a:t>. </a:t>
            </a:r>
            <a:r>
              <a:rPr lang="ko-KR" altLang="en-US" sz="1400" dirty="0">
                <a:solidFill>
                  <a:schemeClr val="accent3">
                    <a:lumMod val="50000"/>
                  </a:schemeClr>
                </a:solidFill>
                <a:highlight>
                  <a:srgbClr val="FFFF00"/>
                </a:highlight>
              </a:rPr>
              <a:t>이 경우 정정심판제도의 </a:t>
            </a:r>
            <a:r>
              <a:rPr lang="ko-KR" altLang="en-US" sz="1400" dirty="0" err="1">
                <a:solidFill>
                  <a:schemeClr val="accent3">
                    <a:lumMod val="50000"/>
                  </a:schemeClr>
                </a:solidFill>
                <a:highlight>
                  <a:srgbClr val="FFFF00"/>
                </a:highlight>
              </a:rPr>
              <a:t>취지상</a:t>
            </a:r>
            <a:r>
              <a:rPr lang="ko-KR" altLang="en-US" sz="1400" dirty="0">
                <a:solidFill>
                  <a:schemeClr val="accent3">
                    <a:lumMod val="50000"/>
                  </a:schemeClr>
                </a:solidFill>
                <a:highlight>
                  <a:srgbClr val="FFFF00"/>
                </a:highlight>
              </a:rPr>
              <a:t> </a:t>
            </a:r>
            <a:r>
              <a:rPr lang="ko-KR" altLang="en-US" sz="1400" dirty="0" err="1">
                <a:solidFill>
                  <a:schemeClr val="accent3">
                    <a:lumMod val="50000"/>
                  </a:schemeClr>
                </a:solidFill>
                <a:highlight>
                  <a:srgbClr val="FFFF00"/>
                </a:highlight>
              </a:rPr>
              <a:t>정정심판을</a:t>
            </a:r>
            <a:r>
              <a:rPr lang="ko-KR" altLang="en-US" sz="1400" dirty="0">
                <a:solidFill>
                  <a:schemeClr val="accent3">
                    <a:lumMod val="50000"/>
                  </a:schemeClr>
                </a:solidFill>
                <a:highlight>
                  <a:srgbClr val="FFFF00"/>
                </a:highlight>
              </a:rPr>
              <a:t> 특허취소신청</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특허무효심판에 우선하여 </a:t>
            </a:r>
            <a:r>
              <a:rPr lang="ko-KR" altLang="en-US" sz="1400" dirty="0" err="1">
                <a:solidFill>
                  <a:schemeClr val="accent3">
                    <a:lumMod val="50000"/>
                  </a:schemeClr>
                </a:solidFill>
                <a:highlight>
                  <a:srgbClr val="FFFF00"/>
                </a:highlight>
              </a:rPr>
              <a:t>심리ㆍ판단하는</a:t>
            </a:r>
            <a:r>
              <a:rPr lang="ko-KR" altLang="en-US" sz="1400" dirty="0">
                <a:solidFill>
                  <a:schemeClr val="accent3">
                    <a:lumMod val="50000"/>
                  </a:schemeClr>
                </a:solidFill>
                <a:highlight>
                  <a:srgbClr val="FFFF00"/>
                </a:highlight>
              </a:rPr>
              <a:t> 것이 바람직하나</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그렇다고 하여 반드시 </a:t>
            </a:r>
            <a:r>
              <a:rPr lang="ko-KR" altLang="en-US" sz="1400" dirty="0" err="1">
                <a:solidFill>
                  <a:schemeClr val="accent3">
                    <a:lumMod val="50000"/>
                  </a:schemeClr>
                </a:solidFill>
                <a:highlight>
                  <a:srgbClr val="FFFF00"/>
                </a:highlight>
              </a:rPr>
              <a:t>정정심판을</a:t>
            </a:r>
            <a:r>
              <a:rPr lang="ko-KR" altLang="en-US" sz="1400" dirty="0">
                <a:solidFill>
                  <a:schemeClr val="accent3">
                    <a:lumMod val="50000"/>
                  </a:schemeClr>
                </a:solidFill>
                <a:highlight>
                  <a:srgbClr val="FFFF00"/>
                </a:highlight>
              </a:rPr>
              <a:t> 먼저 </a:t>
            </a:r>
            <a:r>
              <a:rPr lang="ko-KR" altLang="en-US" sz="1400" dirty="0" err="1">
                <a:solidFill>
                  <a:schemeClr val="accent3">
                    <a:lumMod val="50000"/>
                  </a:schemeClr>
                </a:solidFill>
                <a:highlight>
                  <a:srgbClr val="FFFF00"/>
                </a:highlight>
              </a:rPr>
              <a:t>심리ㆍ판단하여야</a:t>
            </a:r>
            <a:r>
              <a:rPr lang="ko-KR" altLang="en-US" sz="1400" dirty="0">
                <a:solidFill>
                  <a:schemeClr val="accent3">
                    <a:lumMod val="50000"/>
                  </a:schemeClr>
                </a:solidFill>
                <a:highlight>
                  <a:srgbClr val="FFFF00"/>
                </a:highlight>
              </a:rPr>
              <a:t> 하는 것은 아니다</a:t>
            </a:r>
            <a:r>
              <a:rPr lang="en-US" altLang="ko-KR" sz="1400" dirty="0">
                <a:solidFill>
                  <a:schemeClr val="accent3">
                    <a:lumMod val="50000"/>
                  </a:schemeClr>
                </a:solidFill>
                <a:highlight>
                  <a:srgbClr val="FFFF00"/>
                </a:highlight>
              </a:rPr>
              <a:t>.</a:t>
            </a:r>
            <a:r>
              <a:rPr lang="en-US" altLang="ko-KR" sz="1400" dirty="0">
                <a:solidFill>
                  <a:schemeClr val="tx2"/>
                </a:solidFill>
              </a:rPr>
              <a:t> </a:t>
            </a:r>
            <a:r>
              <a:rPr lang="ko-KR" altLang="en-US" sz="1400" dirty="0">
                <a:solidFill>
                  <a:schemeClr val="tx2"/>
                </a:solidFill>
              </a:rPr>
              <a:t>한편 특허취소신청</a:t>
            </a:r>
            <a:r>
              <a:rPr lang="en-US" altLang="ko-KR" sz="1400" dirty="0">
                <a:solidFill>
                  <a:schemeClr val="tx2"/>
                </a:solidFill>
              </a:rPr>
              <a:t>, </a:t>
            </a:r>
            <a:r>
              <a:rPr lang="ko-KR" altLang="en-US" sz="1400" dirty="0">
                <a:solidFill>
                  <a:schemeClr val="tx2"/>
                </a:solidFill>
              </a:rPr>
              <a:t>특허무효심판을 먼저 심리하는 경우에는 </a:t>
            </a:r>
            <a:r>
              <a:rPr lang="ko-KR" altLang="en-US" sz="1400" dirty="0">
                <a:solidFill>
                  <a:schemeClr val="tx2"/>
                </a:solidFill>
                <a:highlight>
                  <a:srgbClr val="FFFF00"/>
                </a:highlight>
              </a:rPr>
              <a:t>그 </a:t>
            </a:r>
            <a:r>
              <a:rPr lang="ko-KR" altLang="en-US" sz="1400" dirty="0" err="1">
                <a:solidFill>
                  <a:schemeClr val="tx2"/>
                </a:solidFill>
                <a:highlight>
                  <a:srgbClr val="FFFF00"/>
                </a:highlight>
              </a:rPr>
              <a:t>판단대상은</a:t>
            </a:r>
            <a:r>
              <a:rPr lang="ko-KR" altLang="en-US" sz="1400" dirty="0">
                <a:solidFill>
                  <a:schemeClr val="tx2"/>
                </a:solidFill>
                <a:highlight>
                  <a:srgbClr val="FFFF00"/>
                </a:highlight>
              </a:rPr>
              <a:t> 정정심판청구 전 특허발명</a:t>
            </a:r>
            <a:r>
              <a:rPr lang="ko-KR" altLang="en-US" sz="1400" dirty="0">
                <a:solidFill>
                  <a:schemeClr val="tx2"/>
                </a:solidFill>
              </a:rPr>
              <a:t>이다</a:t>
            </a:r>
            <a:r>
              <a:rPr lang="en-US" altLang="ko-KR" sz="1400" dirty="0">
                <a:solidFill>
                  <a:schemeClr val="tx2"/>
                </a:solidFill>
              </a:rPr>
              <a:t>.</a:t>
            </a:r>
          </a:p>
        </p:txBody>
      </p:sp>
    </p:spTree>
    <p:extLst>
      <p:ext uri="{BB962C8B-B14F-4D97-AF65-F5344CB8AC3E}">
        <p14:creationId xmlns:p14="http://schemas.microsoft.com/office/powerpoint/2010/main" val="4191953519"/>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136</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err="1">
                <a:solidFill>
                  <a:schemeClr val="tx1">
                    <a:lumMod val="65000"/>
                    <a:lumOff val="35000"/>
                  </a:schemeClr>
                </a:solidFill>
              </a:rPr>
              <a:t>정정심판과</a:t>
            </a:r>
            <a:r>
              <a:rPr lang="ko-KR" altLang="en-US" dirty="0">
                <a:solidFill>
                  <a:schemeClr val="tx1">
                    <a:lumMod val="65000"/>
                    <a:lumOff val="35000"/>
                  </a:schemeClr>
                </a:solidFill>
              </a:rPr>
              <a:t> 특허취소신청</a:t>
            </a:r>
            <a:r>
              <a:rPr lang="en-US" altLang="ko-KR" dirty="0">
                <a:solidFill>
                  <a:schemeClr val="tx1">
                    <a:lumMod val="65000"/>
                    <a:lumOff val="35000"/>
                  </a:schemeClr>
                </a:solidFill>
              </a:rPr>
              <a:t>, </a:t>
            </a:r>
            <a:r>
              <a:rPr lang="ko-KR" altLang="en-US" dirty="0">
                <a:solidFill>
                  <a:schemeClr val="tx1">
                    <a:lumMod val="65000"/>
                    <a:lumOff val="35000"/>
                  </a:schemeClr>
                </a:solidFill>
              </a:rPr>
              <a:t>특허무효심판의 관계</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29" name="Line 5"/>
          <p:cNvSpPr>
            <a:spLocks noChangeShapeType="1"/>
          </p:cNvSpPr>
          <p:nvPr/>
        </p:nvSpPr>
        <p:spPr bwMode="auto">
          <a:xfrm>
            <a:off x="328662" y="4859642"/>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53" name="타원 52"/>
          <p:cNvSpPr/>
          <p:nvPr/>
        </p:nvSpPr>
        <p:spPr>
          <a:xfrm>
            <a:off x="3456291" y="476854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56" name="타원 55"/>
          <p:cNvSpPr/>
          <p:nvPr/>
        </p:nvSpPr>
        <p:spPr>
          <a:xfrm>
            <a:off x="2720258" y="476854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57" name="직선 화살표 연결선 56"/>
          <p:cNvCxnSpPr>
            <a:cxnSpLocks/>
            <a:stCxn id="55" idx="2"/>
            <a:endCxn id="56" idx="0"/>
          </p:cNvCxnSpPr>
          <p:nvPr/>
        </p:nvCxnSpPr>
        <p:spPr>
          <a:xfrm flipH="1">
            <a:off x="2797627" y="4545629"/>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9" name="타원 58"/>
          <p:cNvSpPr/>
          <p:nvPr/>
        </p:nvSpPr>
        <p:spPr>
          <a:xfrm>
            <a:off x="5069939" y="476854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60" name="직선 화살표 연결선 59"/>
          <p:cNvCxnSpPr>
            <a:cxnSpLocks/>
            <a:stCxn id="58" idx="2"/>
            <a:endCxn id="59" idx="0"/>
          </p:cNvCxnSpPr>
          <p:nvPr/>
        </p:nvCxnSpPr>
        <p:spPr>
          <a:xfrm flipH="1">
            <a:off x="5147308" y="4545629"/>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2" name="타원 61"/>
          <p:cNvSpPr/>
          <p:nvPr/>
        </p:nvSpPr>
        <p:spPr>
          <a:xfrm>
            <a:off x="8326970" y="476854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63" name="직선 화살표 연결선 62"/>
          <p:cNvCxnSpPr>
            <a:cxnSpLocks/>
            <a:stCxn id="61" idx="2"/>
            <a:endCxn id="62" idx="0"/>
          </p:cNvCxnSpPr>
          <p:nvPr/>
        </p:nvCxnSpPr>
        <p:spPr>
          <a:xfrm flipH="1">
            <a:off x="8404339" y="4545629"/>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1751046" y="4025301"/>
            <a:ext cx="2093164" cy="520328"/>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특허심판원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특허취소신청</a:t>
            </a:r>
            <a:r>
              <a:rPr lang="en-US" altLang="ko-KR" sz="1200" dirty="0">
                <a:solidFill>
                  <a:schemeClr val="tx1"/>
                </a:solidFill>
                <a:latin typeface="+mn-ea"/>
              </a:rPr>
              <a:t>/</a:t>
            </a:r>
            <a:r>
              <a:rPr lang="ko-KR" altLang="en-US" sz="1200" dirty="0">
                <a:solidFill>
                  <a:schemeClr val="tx1"/>
                </a:solidFill>
                <a:latin typeface="+mn-ea"/>
              </a:rPr>
              <a:t>특허무효심판</a:t>
            </a:r>
            <a:r>
              <a:rPr lang="en-US" altLang="ko-KR" sz="1200" dirty="0">
                <a:solidFill>
                  <a:schemeClr val="tx1"/>
                </a:solidFill>
                <a:latin typeface="+mn-ea"/>
              </a:rPr>
              <a:t>)</a:t>
            </a:r>
          </a:p>
        </p:txBody>
      </p:sp>
      <p:sp>
        <p:nvSpPr>
          <p:cNvPr id="58" name="TextBox 57"/>
          <p:cNvSpPr txBox="1"/>
          <p:nvPr/>
        </p:nvSpPr>
        <p:spPr>
          <a:xfrm>
            <a:off x="4513839" y="4025301"/>
            <a:ext cx="1266940" cy="520328"/>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특허법원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취소소송제기</a:t>
            </a:r>
            <a:r>
              <a:rPr lang="en-US" altLang="ko-KR" sz="1200" dirty="0">
                <a:solidFill>
                  <a:schemeClr val="tx1"/>
                </a:solidFill>
                <a:latin typeface="+mn-ea"/>
              </a:rPr>
              <a:t>)</a:t>
            </a:r>
          </a:p>
        </p:txBody>
      </p:sp>
      <p:sp>
        <p:nvSpPr>
          <p:cNvPr id="61" name="TextBox 60"/>
          <p:cNvSpPr txBox="1"/>
          <p:nvPr/>
        </p:nvSpPr>
        <p:spPr>
          <a:xfrm>
            <a:off x="7770870" y="4025301"/>
            <a:ext cx="1266940" cy="520328"/>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대법원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상고</a:t>
            </a:r>
            <a:r>
              <a:rPr lang="en-US" altLang="ko-KR" sz="1200" dirty="0">
                <a:solidFill>
                  <a:schemeClr val="tx1"/>
                </a:solidFill>
                <a:latin typeface="+mn-ea"/>
              </a:rPr>
              <a:t>)</a:t>
            </a:r>
          </a:p>
        </p:txBody>
      </p:sp>
      <p:graphicFrame>
        <p:nvGraphicFramePr>
          <p:cNvPr id="5" name="표 4"/>
          <p:cNvGraphicFramePr>
            <a:graphicFrameLocks noGrp="1"/>
          </p:cNvGraphicFramePr>
          <p:nvPr/>
        </p:nvGraphicFramePr>
        <p:xfrm>
          <a:off x="304800" y="1159995"/>
          <a:ext cx="11488132" cy="2802128"/>
        </p:xfrm>
        <a:graphic>
          <a:graphicData uri="http://schemas.openxmlformats.org/drawingml/2006/table">
            <a:tbl>
              <a:tblPr>
                <a:tableStyleId>{8799B23B-EC83-4686-B30A-512413B5E67A}</a:tableStyleId>
              </a:tblPr>
              <a:tblGrid>
                <a:gridCol w="2640526">
                  <a:extLst>
                    <a:ext uri="{9D8B030D-6E8A-4147-A177-3AD203B41FA5}">
                      <a16:colId xmlns:a16="http://schemas.microsoft.com/office/drawing/2014/main" val="1176274871"/>
                    </a:ext>
                  </a:extLst>
                </a:gridCol>
                <a:gridCol w="2334040">
                  <a:extLst>
                    <a:ext uri="{9D8B030D-6E8A-4147-A177-3AD203B41FA5}">
                      <a16:colId xmlns:a16="http://schemas.microsoft.com/office/drawing/2014/main" val="3185924619"/>
                    </a:ext>
                  </a:extLst>
                </a:gridCol>
                <a:gridCol w="3631721">
                  <a:extLst>
                    <a:ext uri="{9D8B030D-6E8A-4147-A177-3AD203B41FA5}">
                      <a16:colId xmlns:a16="http://schemas.microsoft.com/office/drawing/2014/main" val="3343998801"/>
                    </a:ext>
                  </a:extLst>
                </a:gridCol>
                <a:gridCol w="2881845">
                  <a:extLst>
                    <a:ext uri="{9D8B030D-6E8A-4147-A177-3AD203B41FA5}">
                      <a16:colId xmlns:a16="http://schemas.microsoft.com/office/drawing/2014/main" val="470923700"/>
                    </a:ext>
                  </a:extLst>
                </a:gridCol>
              </a:tblGrid>
              <a:tr h="147808">
                <a:tc>
                  <a:txBody>
                    <a:bodyPr/>
                    <a:lstStyle/>
                    <a:p>
                      <a:pPr marL="0" marR="0" indent="0" algn="ctr" fontAlgn="base" latinLnBrk="0">
                        <a:lnSpc>
                          <a:spcPct val="130000"/>
                        </a:lnSpc>
                        <a:spcBef>
                          <a:spcPts val="0"/>
                        </a:spcBef>
                        <a:spcAft>
                          <a:spcPts val="0"/>
                        </a:spcAft>
                      </a:pPr>
                      <a:r>
                        <a:rPr lang="ko-KR" altLang="en-US" sz="1400" kern="1200" dirty="0"/>
                        <a:t>구분</a:t>
                      </a:r>
                      <a:endParaRPr lang="ko-KR" altLang="en-US" sz="14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1200" dirty="0"/>
                        <a:t>특허심판원에 계속 중</a:t>
                      </a:r>
                      <a:endParaRPr lang="ko-KR" altLang="en-US" sz="14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1200" dirty="0"/>
                        <a:t>특허법원에 계속 중</a:t>
                      </a:r>
                      <a:endParaRPr lang="ko-KR" altLang="en-US" sz="14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1200" dirty="0"/>
                        <a:t>대법원에 계속 중</a:t>
                      </a:r>
                      <a:endParaRPr lang="ko-KR" altLang="en-US" sz="14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extLst>
                  <a:ext uri="{0D108BD9-81ED-4DB2-BD59-A6C34878D82A}">
                    <a16:rowId xmlns:a16="http://schemas.microsoft.com/office/drawing/2014/main" val="376028783"/>
                  </a:ext>
                </a:extLst>
              </a:tr>
              <a:tr h="630067">
                <a:tc>
                  <a:txBody>
                    <a:bodyPr/>
                    <a:lstStyle/>
                    <a:p>
                      <a:pPr marL="0" marR="0" indent="0" algn="ctr" fontAlgn="base" latinLnBrk="0">
                        <a:lnSpc>
                          <a:spcPct val="130000"/>
                        </a:lnSpc>
                        <a:spcBef>
                          <a:spcPts val="0"/>
                        </a:spcBef>
                        <a:spcAft>
                          <a:spcPts val="0"/>
                        </a:spcAft>
                      </a:pPr>
                      <a:r>
                        <a:rPr lang="ko-KR" altLang="en-US" sz="1400" kern="1200"/>
                        <a:t>정정심판에 대한 인용심결이 확정된 경우</a:t>
                      </a:r>
                      <a:endParaRPr lang="ko-KR" altLang="en-US" sz="1400" kern="1200">
                        <a:solidFill>
                          <a:schemeClr val="tx2"/>
                        </a:solidFill>
                        <a:latin typeface="+mn-lt"/>
                        <a:ea typeface="+mn-ea"/>
                        <a:cs typeface="+mn-cs"/>
                      </a:endParaRPr>
                    </a:p>
                  </a:txBody>
                  <a:tcPr marL="72000" marR="72000" marT="17907" marB="17907" anchor="ctr"/>
                </a:tc>
                <a:tc>
                  <a:txBody>
                    <a:bodyPr/>
                    <a:lstStyle/>
                    <a:p>
                      <a:pPr marL="17780" marR="17780" indent="0" algn="just" fontAlgn="base" latinLnBrk="1">
                        <a:lnSpc>
                          <a:spcPct val="130000"/>
                        </a:lnSpc>
                        <a:spcBef>
                          <a:spcPts val="0"/>
                        </a:spcBef>
                        <a:spcAft>
                          <a:spcPts val="0"/>
                        </a:spcAft>
                      </a:pPr>
                      <a:r>
                        <a:rPr lang="ko-KR" altLang="en-US" sz="1400" kern="1200" dirty="0"/>
                        <a:t>정정된 특허발명에 의하여 특허취소사유</a:t>
                      </a:r>
                      <a:r>
                        <a:rPr lang="en-US" altLang="ko-KR" sz="1400" kern="1200" dirty="0"/>
                        <a:t>, </a:t>
                      </a:r>
                      <a:r>
                        <a:rPr lang="ko-KR" altLang="en-US" sz="1400" kern="1200" dirty="0"/>
                        <a:t>특허무효사유를 심리</a:t>
                      </a:r>
                      <a:endParaRPr lang="ko-KR" altLang="en-US" sz="1400" kern="1200" dirty="0">
                        <a:solidFill>
                          <a:schemeClr val="tx2"/>
                        </a:solidFill>
                        <a:latin typeface="+mn-lt"/>
                        <a:ea typeface="+mn-ea"/>
                        <a:cs typeface="+mn-cs"/>
                      </a:endParaRPr>
                    </a:p>
                  </a:txBody>
                  <a:tcPr marL="72000" marR="72000" marT="17907" marB="17907" anchor="ctr"/>
                </a:tc>
                <a:tc>
                  <a:txBody>
                    <a:bodyPr/>
                    <a:lstStyle/>
                    <a:p>
                      <a:pPr marL="179070" marR="17780" indent="-179070" algn="just" fontAlgn="base" latinLnBrk="1">
                        <a:lnSpc>
                          <a:spcPct val="130000"/>
                        </a:lnSpc>
                        <a:spcBef>
                          <a:spcPts val="0"/>
                        </a:spcBef>
                        <a:spcAft>
                          <a:spcPts val="0"/>
                        </a:spcAft>
                      </a:pPr>
                      <a:r>
                        <a:rPr lang="en-US" altLang="ko-KR" sz="1400" kern="1200" dirty="0"/>
                        <a:t>1. </a:t>
                      </a:r>
                      <a:r>
                        <a:rPr lang="ko-KR" altLang="en-US" sz="1400" kern="1200" dirty="0"/>
                        <a:t>특허취소신청의 경우</a:t>
                      </a:r>
                      <a:endParaRPr lang="en-US" altLang="ko-KR" sz="1400" kern="1200" dirty="0"/>
                    </a:p>
                    <a:p>
                      <a:pPr marL="179070" marR="17780" indent="-179070" algn="just" fontAlgn="base" latinLnBrk="1">
                        <a:lnSpc>
                          <a:spcPct val="130000"/>
                        </a:lnSpc>
                        <a:spcBef>
                          <a:spcPts val="0"/>
                        </a:spcBef>
                        <a:spcAft>
                          <a:spcPts val="0"/>
                        </a:spcAft>
                      </a:pPr>
                      <a:r>
                        <a:rPr lang="en-US" altLang="ko-KR" sz="1400" kern="1200" dirty="0"/>
                        <a:t>    </a:t>
                      </a:r>
                      <a:r>
                        <a:rPr lang="en-US" altLang="ko-KR" sz="1400" kern="1200" dirty="0">
                          <a:solidFill>
                            <a:srgbClr val="FF0000"/>
                          </a:solidFill>
                        </a:rPr>
                        <a:t>(</a:t>
                      </a:r>
                      <a:r>
                        <a:rPr lang="ko-KR" altLang="en-US" sz="1400" kern="1200" dirty="0">
                          <a:solidFill>
                            <a:srgbClr val="FF0000"/>
                          </a:solidFill>
                        </a:rPr>
                        <a:t>사실심 변론종결 전 한함</a:t>
                      </a:r>
                      <a:r>
                        <a:rPr lang="en-US" altLang="ko-KR" sz="1400" kern="1200" dirty="0">
                          <a:solidFill>
                            <a:srgbClr val="FF0000"/>
                          </a:solidFill>
                        </a:rPr>
                        <a:t>)</a:t>
                      </a:r>
                      <a:endParaRPr lang="ko-KR" altLang="en-US" sz="1400" kern="1200" dirty="0">
                        <a:solidFill>
                          <a:srgbClr val="FF0000"/>
                        </a:solidFill>
                      </a:endParaRPr>
                    </a:p>
                    <a:p>
                      <a:pPr marL="88900" marR="17780" indent="-88900" algn="just" fontAlgn="base" latinLnBrk="1">
                        <a:lnSpc>
                          <a:spcPct val="130000"/>
                        </a:lnSpc>
                        <a:spcBef>
                          <a:spcPts val="0"/>
                        </a:spcBef>
                        <a:spcAft>
                          <a:spcPts val="0"/>
                        </a:spcAft>
                      </a:pPr>
                      <a:r>
                        <a:rPr lang="en-US" altLang="ko-KR" sz="1400" kern="1200" dirty="0"/>
                        <a:t>- </a:t>
                      </a:r>
                      <a:r>
                        <a:rPr lang="ko-KR" altLang="en-US" sz="1400" kern="1200" dirty="0" err="1"/>
                        <a:t>취소환송</a:t>
                      </a:r>
                      <a:r>
                        <a:rPr lang="en-US" altLang="ko-KR" sz="1400" kern="1200" dirty="0"/>
                        <a:t>(</a:t>
                      </a:r>
                      <a:r>
                        <a:rPr lang="ko-KR" altLang="en-US" sz="1400" kern="1200" dirty="0"/>
                        <a:t>사실심</a:t>
                      </a:r>
                      <a:r>
                        <a:rPr lang="en-US" altLang="ko-KR" sz="1400" kern="1200" dirty="0"/>
                        <a:t>, </a:t>
                      </a:r>
                      <a:r>
                        <a:rPr lang="ko-KR" altLang="en-US" sz="1400" kern="1200" dirty="0"/>
                        <a:t>단 특허권자의 대응기회</a:t>
                      </a:r>
                      <a:r>
                        <a:rPr lang="en-US" altLang="ko-KR" sz="1400" kern="1200" dirty="0"/>
                        <a:t>(</a:t>
                      </a:r>
                      <a:r>
                        <a:rPr lang="ko-KR" altLang="en-US" sz="1400" kern="1200" dirty="0"/>
                        <a:t>정정청구 기회</a:t>
                      </a:r>
                      <a:r>
                        <a:rPr lang="en-US" altLang="ko-KR" sz="1400" kern="1200" dirty="0"/>
                        <a:t>)</a:t>
                      </a:r>
                      <a:r>
                        <a:rPr lang="ko-KR" altLang="en-US" sz="1400" kern="1200" dirty="0"/>
                        <a:t> 확보 위해 정정된 특허발명에 대하여 심리 불가</a:t>
                      </a:r>
                      <a:r>
                        <a:rPr lang="en-US" altLang="ko-KR" sz="1400" kern="1200" dirty="0"/>
                        <a:t>)</a:t>
                      </a:r>
                      <a:endParaRPr lang="ko-KR" altLang="en-US" sz="1400" kern="1200" dirty="0"/>
                    </a:p>
                    <a:p>
                      <a:pPr marL="179070" marR="17780" indent="-179070" algn="just" fontAlgn="base" latinLnBrk="1">
                        <a:lnSpc>
                          <a:spcPct val="130000"/>
                        </a:lnSpc>
                        <a:spcBef>
                          <a:spcPts val="0"/>
                        </a:spcBef>
                        <a:spcAft>
                          <a:spcPts val="0"/>
                        </a:spcAft>
                      </a:pPr>
                      <a:r>
                        <a:rPr lang="en-US" altLang="ko-KR" sz="1400" kern="1200" dirty="0"/>
                        <a:t>2. </a:t>
                      </a:r>
                      <a:r>
                        <a:rPr lang="ko-KR" altLang="en-US" sz="1400" kern="1200" dirty="0"/>
                        <a:t>특허무효심판의 경우</a:t>
                      </a:r>
                      <a:endParaRPr lang="en-US" altLang="ko-KR" sz="1400" kern="1200" dirty="0"/>
                    </a:p>
                    <a:p>
                      <a:pPr marL="179070" marR="17780" indent="-179070" algn="just" fontAlgn="base" latinLnBrk="1">
                        <a:lnSpc>
                          <a:spcPct val="130000"/>
                        </a:lnSpc>
                        <a:spcBef>
                          <a:spcPts val="0"/>
                        </a:spcBef>
                        <a:spcAft>
                          <a:spcPts val="0"/>
                        </a:spcAft>
                      </a:pPr>
                      <a:r>
                        <a:rPr lang="en-US" altLang="ko-KR" sz="1400" kern="1200" dirty="0"/>
                        <a:t>   </a:t>
                      </a:r>
                      <a:r>
                        <a:rPr lang="en-US" altLang="ko-KR" sz="1400" kern="1200" dirty="0">
                          <a:solidFill>
                            <a:srgbClr val="FF0000"/>
                          </a:solidFill>
                        </a:rPr>
                        <a:t>(</a:t>
                      </a:r>
                      <a:r>
                        <a:rPr lang="ko-KR" altLang="en-US" sz="1400" kern="1200" dirty="0">
                          <a:solidFill>
                            <a:srgbClr val="FF0000"/>
                          </a:solidFill>
                        </a:rPr>
                        <a:t>사실심 변론종결 전 한함</a:t>
                      </a:r>
                      <a:r>
                        <a:rPr lang="en-US" altLang="ko-KR" sz="1400" kern="1200" dirty="0">
                          <a:solidFill>
                            <a:srgbClr val="FF0000"/>
                          </a:solidFill>
                        </a:rPr>
                        <a:t>)</a:t>
                      </a:r>
                      <a:endParaRPr lang="ko-KR" altLang="en-US" sz="1400" kern="1200" dirty="0"/>
                    </a:p>
                    <a:p>
                      <a:pPr marL="139700" marR="17780" indent="-139700" algn="just" fontAlgn="base" latinLnBrk="1">
                        <a:lnSpc>
                          <a:spcPct val="130000"/>
                        </a:lnSpc>
                        <a:spcBef>
                          <a:spcPts val="0"/>
                        </a:spcBef>
                        <a:spcAft>
                          <a:spcPts val="0"/>
                        </a:spcAft>
                      </a:pPr>
                      <a:r>
                        <a:rPr lang="en-US" altLang="ko-KR" sz="1400" kern="1200" dirty="0"/>
                        <a:t>- </a:t>
                      </a:r>
                      <a:r>
                        <a:rPr lang="ko-KR" altLang="en-US" sz="1400" kern="1200" dirty="0"/>
                        <a:t>정정된 특허발명에 의하여 특허무효사유를 심리</a:t>
                      </a:r>
                      <a:r>
                        <a:rPr lang="en-US" altLang="ko-KR" sz="1400" kern="1200" dirty="0"/>
                        <a:t>(</a:t>
                      </a:r>
                      <a:r>
                        <a:rPr lang="ko-KR" altLang="en-US" sz="1400" kern="1200" dirty="0"/>
                        <a:t>사실심</a:t>
                      </a:r>
                      <a:r>
                        <a:rPr lang="en-US" altLang="ko-KR" sz="1400" kern="1200" dirty="0"/>
                        <a:t>, </a:t>
                      </a:r>
                      <a:r>
                        <a:rPr lang="ko-KR" altLang="en-US" sz="1400" kern="1200" dirty="0"/>
                        <a:t>무제한설</a:t>
                      </a:r>
                      <a:r>
                        <a:rPr lang="en-US" altLang="ko-KR" sz="1400" kern="1200" dirty="0"/>
                        <a:t>)</a:t>
                      </a:r>
                      <a:endParaRPr lang="ko-KR" altLang="en-US" sz="1400" kern="1200" dirty="0">
                        <a:solidFill>
                          <a:schemeClr val="tx2"/>
                        </a:solidFill>
                        <a:latin typeface="+mn-lt"/>
                        <a:ea typeface="+mn-ea"/>
                        <a:cs typeface="+mn-cs"/>
                      </a:endParaRPr>
                    </a:p>
                  </a:txBody>
                  <a:tcPr marL="72000" marR="72000" marT="17907" marB="17907" anchor="ctr"/>
                </a:tc>
                <a:tc>
                  <a:txBody>
                    <a:bodyPr/>
                    <a:lstStyle/>
                    <a:p>
                      <a:pPr marL="17780" marR="17780" lvl="0" indent="0" algn="just" defTabSz="914400" rtl="0" eaLnBrk="1" fontAlgn="base" latinLnBrk="1" hangingPunct="1">
                        <a:lnSpc>
                          <a:spcPct val="130000"/>
                        </a:lnSpc>
                        <a:spcBef>
                          <a:spcPts val="0"/>
                        </a:spcBef>
                        <a:spcAft>
                          <a:spcPts val="0"/>
                        </a:spcAft>
                        <a:buClrTx/>
                        <a:buSzTx/>
                        <a:buFontTx/>
                        <a:buNone/>
                        <a:tabLst/>
                        <a:defRPr/>
                      </a:pPr>
                      <a:r>
                        <a:rPr lang="ko-KR" altLang="en-US" sz="1400" kern="1200" dirty="0"/>
                        <a:t>정정 전 특허발명에 의하여 법령 위반이 존재하는지 판단</a:t>
                      </a:r>
                      <a:r>
                        <a:rPr lang="en-US" altLang="ko-KR" sz="1400" kern="1200" dirty="0">
                          <a:solidFill>
                            <a:srgbClr val="FF0000"/>
                          </a:solidFill>
                        </a:rPr>
                        <a:t>(</a:t>
                      </a:r>
                      <a:r>
                        <a:rPr lang="ko-KR" altLang="en-US" sz="1400" kern="1200" dirty="0">
                          <a:solidFill>
                            <a:srgbClr val="FF0000"/>
                          </a:solidFill>
                        </a:rPr>
                        <a:t>특허법원의 사실심 변론종결 후 포함</a:t>
                      </a:r>
                      <a:r>
                        <a:rPr lang="en-US" altLang="ko-KR" sz="1400" kern="1200" dirty="0">
                          <a:solidFill>
                            <a:srgbClr val="FF0000"/>
                          </a:solidFill>
                        </a:rPr>
                        <a:t>)</a:t>
                      </a:r>
                      <a:endParaRPr lang="ko-KR" altLang="en-US" sz="1400" kern="1200" dirty="0">
                        <a:solidFill>
                          <a:srgbClr val="FF0000"/>
                        </a:solidFill>
                      </a:endParaRPr>
                    </a:p>
                    <a:p>
                      <a:pPr marL="17780" marR="17780" indent="0" algn="just" fontAlgn="base" latinLnBrk="1">
                        <a:lnSpc>
                          <a:spcPct val="130000"/>
                        </a:lnSpc>
                        <a:spcBef>
                          <a:spcPts val="0"/>
                        </a:spcBef>
                        <a:spcAft>
                          <a:spcPts val="0"/>
                        </a:spcAft>
                      </a:pPr>
                      <a:endParaRPr lang="ko-KR" altLang="en-US" sz="1400" kern="1200" dirty="0">
                        <a:solidFill>
                          <a:schemeClr val="tx2"/>
                        </a:solidFill>
                        <a:latin typeface="+mn-lt"/>
                        <a:ea typeface="+mn-ea"/>
                        <a:cs typeface="+mn-cs"/>
                      </a:endParaRPr>
                    </a:p>
                  </a:txBody>
                  <a:tcPr marL="72000" marR="72000" marT="17907" marB="17907" anchor="ctr"/>
                </a:tc>
                <a:extLst>
                  <a:ext uri="{0D108BD9-81ED-4DB2-BD59-A6C34878D82A}">
                    <a16:rowId xmlns:a16="http://schemas.microsoft.com/office/drawing/2014/main" val="3958218819"/>
                  </a:ext>
                </a:extLst>
              </a:tr>
            </a:tbl>
          </a:graphicData>
        </a:graphic>
      </p:graphicFrame>
      <p:sp>
        <p:nvSpPr>
          <p:cNvPr id="73" name="TextBox 72"/>
          <p:cNvSpPr txBox="1"/>
          <p:nvPr/>
        </p:nvSpPr>
        <p:spPr>
          <a:xfrm>
            <a:off x="2900190" y="5440081"/>
            <a:ext cx="1266940" cy="39164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a:solidFill>
                  <a:schemeClr val="tx1"/>
                </a:solidFill>
                <a:latin typeface="+mn-ea"/>
              </a:rPr>
              <a:t>인용심결확정</a:t>
            </a:r>
            <a:endParaRPr lang="en-US" altLang="ko-KR" sz="1200" dirty="0">
              <a:solidFill>
                <a:schemeClr val="tx1"/>
              </a:solidFill>
              <a:latin typeface="+mn-ea"/>
            </a:endParaRPr>
          </a:p>
        </p:txBody>
      </p:sp>
      <p:sp>
        <p:nvSpPr>
          <p:cNvPr id="74" name="TextBox 73"/>
          <p:cNvSpPr txBox="1"/>
          <p:nvPr/>
        </p:nvSpPr>
        <p:spPr>
          <a:xfrm>
            <a:off x="251614" y="4654107"/>
            <a:ext cx="1266940" cy="390214"/>
          </a:xfrm>
          <a:prstGeom prst="rect">
            <a:avLst/>
          </a:prstGeom>
          <a:solidFill>
            <a:schemeClr val="accent3">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정정심판청구</a:t>
            </a:r>
            <a:endParaRPr lang="en-US" altLang="ko-KR" sz="1200" dirty="0">
              <a:solidFill>
                <a:schemeClr val="tx1"/>
              </a:solidFill>
              <a:latin typeface="+mn-ea"/>
            </a:endParaRPr>
          </a:p>
        </p:txBody>
      </p:sp>
      <p:cxnSp>
        <p:nvCxnSpPr>
          <p:cNvPr id="12" name="직선 화살표 연결선 11"/>
          <p:cNvCxnSpPr>
            <a:stCxn id="73" idx="0"/>
            <a:endCxn id="53" idx="4"/>
          </p:cNvCxnSpPr>
          <p:nvPr/>
        </p:nvCxnSpPr>
        <p:spPr>
          <a:xfrm flipV="1">
            <a:off x="3533660" y="4929883"/>
            <a:ext cx="0" cy="51019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8" name="타원 77"/>
          <p:cNvSpPr/>
          <p:nvPr/>
        </p:nvSpPr>
        <p:spPr>
          <a:xfrm>
            <a:off x="6478240" y="476854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79" name="TextBox 78"/>
          <p:cNvSpPr txBox="1"/>
          <p:nvPr/>
        </p:nvSpPr>
        <p:spPr>
          <a:xfrm>
            <a:off x="5922139" y="5440081"/>
            <a:ext cx="1266940" cy="39164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a:solidFill>
                  <a:schemeClr val="tx1"/>
                </a:solidFill>
                <a:latin typeface="+mn-ea"/>
              </a:rPr>
              <a:t>인용심결확정</a:t>
            </a:r>
            <a:endParaRPr lang="en-US" altLang="ko-KR" sz="1200" dirty="0">
              <a:solidFill>
                <a:schemeClr val="tx1"/>
              </a:solidFill>
              <a:latin typeface="+mn-ea"/>
            </a:endParaRPr>
          </a:p>
        </p:txBody>
      </p:sp>
      <p:cxnSp>
        <p:nvCxnSpPr>
          <p:cNvPr id="80" name="직선 화살표 연결선 79"/>
          <p:cNvCxnSpPr>
            <a:stCxn id="79" idx="0"/>
            <a:endCxn id="78" idx="4"/>
          </p:cNvCxnSpPr>
          <p:nvPr/>
        </p:nvCxnSpPr>
        <p:spPr>
          <a:xfrm flipV="1">
            <a:off x="6555609" y="4929883"/>
            <a:ext cx="0" cy="51019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1" name="타원 80"/>
          <p:cNvSpPr/>
          <p:nvPr/>
        </p:nvSpPr>
        <p:spPr>
          <a:xfrm>
            <a:off x="9653830" y="476854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85" name="TextBox 84"/>
          <p:cNvSpPr txBox="1"/>
          <p:nvPr/>
        </p:nvSpPr>
        <p:spPr>
          <a:xfrm>
            <a:off x="9097729" y="5440081"/>
            <a:ext cx="1266940" cy="39164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a:solidFill>
                  <a:schemeClr val="tx1"/>
                </a:solidFill>
                <a:latin typeface="+mn-ea"/>
              </a:rPr>
              <a:t>인용심결확정</a:t>
            </a:r>
            <a:endParaRPr lang="en-US" altLang="ko-KR" sz="1200" dirty="0">
              <a:solidFill>
                <a:schemeClr val="tx1"/>
              </a:solidFill>
              <a:latin typeface="+mn-ea"/>
            </a:endParaRPr>
          </a:p>
        </p:txBody>
      </p:sp>
      <p:cxnSp>
        <p:nvCxnSpPr>
          <p:cNvPr id="89" name="직선 화살표 연결선 88"/>
          <p:cNvCxnSpPr>
            <a:stCxn id="85" idx="0"/>
            <a:endCxn id="81" idx="4"/>
          </p:cNvCxnSpPr>
          <p:nvPr/>
        </p:nvCxnSpPr>
        <p:spPr>
          <a:xfrm flipV="1">
            <a:off x="9731199" y="4929883"/>
            <a:ext cx="0" cy="51019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1" name="TextBox 90"/>
          <p:cNvSpPr txBox="1"/>
          <p:nvPr/>
        </p:nvSpPr>
        <p:spPr>
          <a:xfrm>
            <a:off x="2684795" y="5173656"/>
            <a:ext cx="370870" cy="523220"/>
          </a:xfrm>
          <a:prstGeom prst="rect">
            <a:avLst/>
          </a:prstGeom>
          <a:noFill/>
        </p:spPr>
        <p:txBody>
          <a:bodyPr wrap="square" rtlCol="0">
            <a:spAutoFit/>
          </a:bodyPr>
          <a:lstStyle/>
          <a:p>
            <a:pPr fontAlgn="base"/>
            <a:r>
              <a:rPr lang="ko-KR" altLang="en-US" sz="2800" dirty="0">
                <a:solidFill>
                  <a:srgbClr val="FF0000"/>
                </a:solidFill>
              </a:rPr>
              <a:t>❶</a:t>
            </a:r>
          </a:p>
        </p:txBody>
      </p:sp>
      <p:sp>
        <p:nvSpPr>
          <p:cNvPr id="92" name="TextBox 91"/>
          <p:cNvSpPr txBox="1"/>
          <p:nvPr/>
        </p:nvSpPr>
        <p:spPr>
          <a:xfrm>
            <a:off x="5698020" y="5173656"/>
            <a:ext cx="370870" cy="523220"/>
          </a:xfrm>
          <a:prstGeom prst="rect">
            <a:avLst/>
          </a:prstGeom>
          <a:noFill/>
        </p:spPr>
        <p:txBody>
          <a:bodyPr wrap="square" rtlCol="0">
            <a:spAutoFit/>
          </a:bodyPr>
          <a:lstStyle/>
          <a:p>
            <a:pPr fontAlgn="base"/>
            <a:r>
              <a:rPr lang="ko-KR" altLang="en-US" sz="2800" dirty="0">
                <a:solidFill>
                  <a:srgbClr val="FF0000"/>
                </a:solidFill>
              </a:rPr>
              <a:t>❷</a:t>
            </a:r>
          </a:p>
        </p:txBody>
      </p:sp>
      <p:sp>
        <p:nvSpPr>
          <p:cNvPr id="93" name="TextBox 92"/>
          <p:cNvSpPr txBox="1"/>
          <p:nvPr/>
        </p:nvSpPr>
        <p:spPr>
          <a:xfrm>
            <a:off x="9024924" y="5132373"/>
            <a:ext cx="370870" cy="523220"/>
          </a:xfrm>
          <a:prstGeom prst="rect">
            <a:avLst/>
          </a:prstGeom>
          <a:noFill/>
        </p:spPr>
        <p:txBody>
          <a:bodyPr wrap="square" rtlCol="0">
            <a:spAutoFit/>
          </a:bodyPr>
          <a:lstStyle/>
          <a:p>
            <a:pPr fontAlgn="base"/>
            <a:r>
              <a:rPr lang="ko-KR" altLang="en-US" sz="2800" dirty="0">
                <a:solidFill>
                  <a:srgbClr val="FF0000"/>
                </a:solidFill>
              </a:rPr>
              <a:t>❸</a:t>
            </a:r>
          </a:p>
        </p:txBody>
      </p:sp>
      <p:sp>
        <p:nvSpPr>
          <p:cNvPr id="94" name="TextBox 93"/>
          <p:cNvSpPr txBox="1"/>
          <p:nvPr/>
        </p:nvSpPr>
        <p:spPr>
          <a:xfrm>
            <a:off x="2892582" y="885714"/>
            <a:ext cx="370870" cy="523220"/>
          </a:xfrm>
          <a:prstGeom prst="rect">
            <a:avLst/>
          </a:prstGeom>
          <a:noFill/>
        </p:spPr>
        <p:txBody>
          <a:bodyPr wrap="square" rtlCol="0">
            <a:spAutoFit/>
          </a:bodyPr>
          <a:lstStyle/>
          <a:p>
            <a:pPr fontAlgn="base"/>
            <a:r>
              <a:rPr lang="ko-KR" altLang="en-US" sz="2800" dirty="0">
                <a:solidFill>
                  <a:srgbClr val="FF0000"/>
                </a:solidFill>
              </a:rPr>
              <a:t>❶</a:t>
            </a:r>
          </a:p>
        </p:txBody>
      </p:sp>
      <p:sp>
        <p:nvSpPr>
          <p:cNvPr id="95" name="TextBox 94"/>
          <p:cNvSpPr txBox="1"/>
          <p:nvPr/>
        </p:nvSpPr>
        <p:spPr>
          <a:xfrm>
            <a:off x="5922139" y="885714"/>
            <a:ext cx="370870" cy="523220"/>
          </a:xfrm>
          <a:prstGeom prst="rect">
            <a:avLst/>
          </a:prstGeom>
          <a:noFill/>
        </p:spPr>
        <p:txBody>
          <a:bodyPr wrap="square" rtlCol="0">
            <a:spAutoFit/>
          </a:bodyPr>
          <a:lstStyle/>
          <a:p>
            <a:pPr fontAlgn="base"/>
            <a:r>
              <a:rPr lang="ko-KR" altLang="en-US" sz="2800" dirty="0">
                <a:solidFill>
                  <a:srgbClr val="FF0000"/>
                </a:solidFill>
              </a:rPr>
              <a:t>❷</a:t>
            </a:r>
          </a:p>
        </p:txBody>
      </p:sp>
      <p:sp>
        <p:nvSpPr>
          <p:cNvPr id="96" name="TextBox 95"/>
          <p:cNvSpPr txBox="1"/>
          <p:nvPr/>
        </p:nvSpPr>
        <p:spPr>
          <a:xfrm>
            <a:off x="9210359" y="865861"/>
            <a:ext cx="370870" cy="523220"/>
          </a:xfrm>
          <a:prstGeom prst="rect">
            <a:avLst/>
          </a:prstGeom>
          <a:noFill/>
        </p:spPr>
        <p:txBody>
          <a:bodyPr wrap="square" rtlCol="0">
            <a:spAutoFit/>
          </a:bodyPr>
          <a:lstStyle/>
          <a:p>
            <a:pPr fontAlgn="base"/>
            <a:r>
              <a:rPr lang="ko-KR" altLang="en-US" sz="2800" dirty="0">
                <a:solidFill>
                  <a:srgbClr val="FF0000"/>
                </a:solidFill>
              </a:rPr>
              <a:t>❸</a:t>
            </a:r>
          </a:p>
        </p:txBody>
      </p:sp>
      <p:sp>
        <p:nvSpPr>
          <p:cNvPr id="14" name="직사각형 13"/>
          <p:cNvSpPr/>
          <p:nvPr/>
        </p:nvSpPr>
        <p:spPr>
          <a:xfrm>
            <a:off x="2112429" y="6020989"/>
            <a:ext cx="6096000" cy="738664"/>
          </a:xfrm>
          <a:prstGeom prst="rect">
            <a:avLst/>
          </a:prstGeom>
          <a:ln>
            <a:solidFill>
              <a:schemeClr val="bg1">
                <a:lumMod val="50000"/>
              </a:schemeClr>
            </a:solidFill>
          </a:ln>
        </p:spPr>
        <p:txBody>
          <a:bodyPr>
            <a:spAutoFit/>
          </a:bodyPr>
          <a:lstStyle/>
          <a:p>
            <a:r>
              <a:rPr lang="ko-KR" altLang="en-US" sz="1400" dirty="0"/>
              <a:t>특허발명의 명세서 또는 도면에 대하여 정정을 한다는 </a:t>
            </a:r>
            <a:r>
              <a:rPr lang="ko-KR" altLang="en-US" sz="1400" dirty="0" err="1"/>
              <a:t>심결이</a:t>
            </a:r>
            <a:r>
              <a:rPr lang="ko-KR" altLang="en-US" sz="1400" dirty="0"/>
              <a:t> 확정되었을 때에는 그 정정 후의 명세서 또는 도면에 따라 특허출원</a:t>
            </a:r>
            <a:r>
              <a:rPr lang="en-US" altLang="ko-KR" sz="1400" dirty="0"/>
              <a:t>, </a:t>
            </a:r>
            <a:r>
              <a:rPr lang="ko-KR" altLang="en-US" sz="1400" dirty="0" err="1"/>
              <a:t>출원공개</a:t>
            </a:r>
            <a:r>
              <a:rPr lang="en-US" altLang="ko-KR" sz="1400" dirty="0"/>
              <a:t>, </a:t>
            </a:r>
            <a:r>
              <a:rPr lang="ko-KR" altLang="en-US" sz="1400" dirty="0"/>
              <a:t>특허결정 또는 </a:t>
            </a:r>
            <a:r>
              <a:rPr lang="ko-KR" altLang="en-US" sz="1400" dirty="0" err="1"/>
              <a:t>심결</a:t>
            </a:r>
            <a:r>
              <a:rPr lang="ko-KR" altLang="en-US" sz="1400" dirty="0"/>
              <a:t> 및 특허권의 설정등록이 된 것으로 본다</a:t>
            </a:r>
            <a:r>
              <a:rPr lang="en-US" altLang="ko-KR" sz="1400" dirty="0"/>
              <a:t>(</a:t>
            </a:r>
            <a:r>
              <a:rPr lang="ko-KR" altLang="en-US" sz="1400" dirty="0"/>
              <a:t>제</a:t>
            </a:r>
            <a:r>
              <a:rPr lang="en-US" altLang="ko-KR" sz="1400" dirty="0"/>
              <a:t>136</a:t>
            </a:r>
            <a:r>
              <a:rPr lang="ko-KR" altLang="en-US" sz="1400" dirty="0"/>
              <a:t>조제</a:t>
            </a:r>
            <a:r>
              <a:rPr lang="en-US" altLang="ko-KR" sz="1400" dirty="0"/>
              <a:t>10</a:t>
            </a:r>
            <a:r>
              <a:rPr lang="ko-KR" altLang="en-US" sz="1400" dirty="0"/>
              <a:t>항</a:t>
            </a:r>
            <a:r>
              <a:rPr lang="en-US" altLang="ko-KR" sz="1400" dirty="0"/>
              <a:t>).</a:t>
            </a:r>
            <a:endParaRPr lang="ko-KR" altLang="en-US" sz="1400" dirty="0"/>
          </a:p>
        </p:txBody>
      </p:sp>
      <p:cxnSp>
        <p:nvCxnSpPr>
          <p:cNvPr id="16" name="꺾인 연결선 15"/>
          <p:cNvCxnSpPr>
            <a:stCxn id="14" idx="0"/>
            <a:endCxn id="73" idx="2"/>
          </p:cNvCxnSpPr>
          <p:nvPr/>
        </p:nvCxnSpPr>
        <p:spPr>
          <a:xfrm rot="16200000" flipV="1">
            <a:off x="4252411" y="5112970"/>
            <a:ext cx="189268" cy="162676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꺾인 연결선 17"/>
          <p:cNvCxnSpPr>
            <a:stCxn id="14" idx="0"/>
            <a:endCxn id="79" idx="2"/>
          </p:cNvCxnSpPr>
          <p:nvPr/>
        </p:nvCxnSpPr>
        <p:spPr>
          <a:xfrm rot="5400000" flipH="1" flipV="1">
            <a:off x="5763385" y="5228765"/>
            <a:ext cx="189268" cy="139518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stCxn id="14" idx="0"/>
            <a:endCxn id="85" idx="2"/>
          </p:cNvCxnSpPr>
          <p:nvPr/>
        </p:nvCxnSpPr>
        <p:spPr>
          <a:xfrm rot="5400000" flipH="1" flipV="1">
            <a:off x="7351180" y="3640970"/>
            <a:ext cx="189268" cy="45707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849160"/>
      </p:ext>
    </p:extLst>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136</a:t>
            </a:r>
            <a:r>
              <a:rPr lang="ko-KR" altLang="en-US" dirty="0"/>
              <a:t>조</a:t>
            </a:r>
          </a:p>
        </p:txBody>
      </p:sp>
      <p:sp>
        <p:nvSpPr>
          <p:cNvPr id="4" name="텍스트 개체 틀 3"/>
          <p:cNvSpPr>
            <a:spLocks noGrp="1"/>
          </p:cNvSpPr>
          <p:nvPr>
            <p:ph type="body" sz="quarter" idx="13"/>
          </p:nvPr>
        </p:nvSpPr>
        <p:spPr/>
        <p:txBody>
          <a:bodyPr/>
          <a:lstStyle/>
          <a:p>
            <a:r>
              <a:rPr lang="ko-KR" altLang="en-US"/>
              <a:t>정정심판과 특허취소신청</a:t>
            </a:r>
            <a:r>
              <a:rPr lang="en-US" altLang="ko-KR"/>
              <a:t>, </a:t>
            </a:r>
            <a:r>
              <a:rPr lang="ko-KR" altLang="en-US"/>
              <a:t>특허무효심판의 관계</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29" name="Line 5"/>
          <p:cNvSpPr>
            <a:spLocks noChangeShapeType="1"/>
          </p:cNvSpPr>
          <p:nvPr/>
        </p:nvSpPr>
        <p:spPr bwMode="auto">
          <a:xfrm>
            <a:off x="328662" y="4146022"/>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53" name="타원 52"/>
          <p:cNvSpPr/>
          <p:nvPr/>
        </p:nvSpPr>
        <p:spPr>
          <a:xfrm>
            <a:off x="3926191" y="405492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56" name="타원 55"/>
          <p:cNvSpPr/>
          <p:nvPr/>
        </p:nvSpPr>
        <p:spPr>
          <a:xfrm>
            <a:off x="936508" y="405492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57" name="직선 화살표 연결선 56"/>
          <p:cNvCxnSpPr>
            <a:stCxn id="55" idx="2"/>
            <a:endCxn id="56" idx="0"/>
          </p:cNvCxnSpPr>
          <p:nvPr/>
        </p:nvCxnSpPr>
        <p:spPr>
          <a:xfrm flipH="1">
            <a:off x="1013877" y="3832009"/>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9" name="타원 58"/>
          <p:cNvSpPr/>
          <p:nvPr/>
        </p:nvSpPr>
        <p:spPr>
          <a:xfrm>
            <a:off x="5518511" y="405492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60" name="직선 화살표 연결선 59"/>
          <p:cNvCxnSpPr>
            <a:stCxn id="58" idx="2"/>
            <a:endCxn id="59" idx="0"/>
          </p:cNvCxnSpPr>
          <p:nvPr/>
        </p:nvCxnSpPr>
        <p:spPr>
          <a:xfrm flipH="1">
            <a:off x="5595880" y="3832009"/>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2" name="타원 61"/>
          <p:cNvSpPr/>
          <p:nvPr/>
        </p:nvSpPr>
        <p:spPr>
          <a:xfrm>
            <a:off x="8326970" y="4054925"/>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63" name="직선 화살표 연결선 62"/>
          <p:cNvCxnSpPr>
            <a:stCxn id="61" idx="2"/>
            <a:endCxn id="62" idx="0"/>
          </p:cNvCxnSpPr>
          <p:nvPr/>
        </p:nvCxnSpPr>
        <p:spPr>
          <a:xfrm flipH="1">
            <a:off x="8404339" y="3832009"/>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380408" y="3048000"/>
            <a:ext cx="1266940" cy="7840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특허심판원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정정심판청구</a:t>
            </a:r>
            <a:r>
              <a:rPr lang="en-US" altLang="ko-KR" sz="1200" dirty="0">
                <a:solidFill>
                  <a:schemeClr val="tx1"/>
                </a:solidFill>
                <a:latin typeface="+mn-ea"/>
              </a:rPr>
              <a:t>)</a:t>
            </a:r>
          </a:p>
        </p:txBody>
      </p:sp>
      <p:sp>
        <p:nvSpPr>
          <p:cNvPr id="58" name="TextBox 57"/>
          <p:cNvSpPr txBox="1"/>
          <p:nvPr/>
        </p:nvSpPr>
        <p:spPr>
          <a:xfrm>
            <a:off x="4962411" y="3048000"/>
            <a:ext cx="1266940" cy="7840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특허법원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취소소송제기</a:t>
            </a:r>
            <a:r>
              <a:rPr lang="en-US" altLang="ko-KR" sz="1200" dirty="0">
                <a:solidFill>
                  <a:schemeClr val="tx1"/>
                </a:solidFill>
                <a:latin typeface="+mn-ea"/>
              </a:rPr>
              <a:t>)</a:t>
            </a:r>
          </a:p>
        </p:txBody>
      </p:sp>
      <p:sp>
        <p:nvSpPr>
          <p:cNvPr id="61" name="TextBox 60"/>
          <p:cNvSpPr txBox="1"/>
          <p:nvPr/>
        </p:nvSpPr>
        <p:spPr>
          <a:xfrm>
            <a:off x="7770870" y="3048000"/>
            <a:ext cx="1266940" cy="7840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대법원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상고</a:t>
            </a:r>
            <a:r>
              <a:rPr lang="en-US" altLang="ko-KR" sz="1200" dirty="0">
                <a:solidFill>
                  <a:schemeClr val="tx1"/>
                </a:solidFill>
                <a:latin typeface="+mn-ea"/>
              </a:rPr>
              <a:t>)</a:t>
            </a:r>
          </a:p>
        </p:txBody>
      </p:sp>
      <p:graphicFrame>
        <p:nvGraphicFramePr>
          <p:cNvPr id="5" name="표 4"/>
          <p:cNvGraphicFramePr>
            <a:graphicFrameLocks noGrp="1"/>
          </p:cNvGraphicFramePr>
          <p:nvPr/>
        </p:nvGraphicFramePr>
        <p:xfrm>
          <a:off x="304800" y="1177925"/>
          <a:ext cx="11488132" cy="1415288"/>
        </p:xfrm>
        <a:graphic>
          <a:graphicData uri="http://schemas.openxmlformats.org/drawingml/2006/table">
            <a:tbl>
              <a:tblPr>
                <a:tableStyleId>{8799B23B-EC83-4686-B30A-512413B5E67A}</a:tableStyleId>
              </a:tblPr>
              <a:tblGrid>
                <a:gridCol w="2640526">
                  <a:extLst>
                    <a:ext uri="{9D8B030D-6E8A-4147-A177-3AD203B41FA5}">
                      <a16:colId xmlns:a16="http://schemas.microsoft.com/office/drawing/2014/main" val="1176274871"/>
                    </a:ext>
                  </a:extLst>
                </a:gridCol>
                <a:gridCol w="2949094">
                  <a:extLst>
                    <a:ext uri="{9D8B030D-6E8A-4147-A177-3AD203B41FA5}">
                      <a16:colId xmlns:a16="http://schemas.microsoft.com/office/drawing/2014/main" val="3185924619"/>
                    </a:ext>
                  </a:extLst>
                </a:gridCol>
                <a:gridCol w="3131024">
                  <a:extLst>
                    <a:ext uri="{9D8B030D-6E8A-4147-A177-3AD203B41FA5}">
                      <a16:colId xmlns:a16="http://schemas.microsoft.com/office/drawing/2014/main" val="3343998801"/>
                    </a:ext>
                  </a:extLst>
                </a:gridCol>
                <a:gridCol w="2767488">
                  <a:extLst>
                    <a:ext uri="{9D8B030D-6E8A-4147-A177-3AD203B41FA5}">
                      <a16:colId xmlns:a16="http://schemas.microsoft.com/office/drawing/2014/main" val="470923700"/>
                    </a:ext>
                  </a:extLst>
                </a:gridCol>
              </a:tblGrid>
              <a:tr h="147808">
                <a:tc>
                  <a:txBody>
                    <a:bodyPr/>
                    <a:lstStyle/>
                    <a:p>
                      <a:pPr marL="0" marR="0" indent="0" algn="ctr" fontAlgn="base" latinLnBrk="0">
                        <a:lnSpc>
                          <a:spcPct val="130000"/>
                        </a:lnSpc>
                        <a:spcBef>
                          <a:spcPts val="0"/>
                        </a:spcBef>
                        <a:spcAft>
                          <a:spcPts val="0"/>
                        </a:spcAft>
                      </a:pPr>
                      <a:r>
                        <a:rPr lang="ko-KR" altLang="en-US" sz="1400" kern="1200" dirty="0"/>
                        <a:t>구분</a:t>
                      </a:r>
                      <a:endParaRPr lang="ko-KR" altLang="en-US" sz="14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1200" dirty="0"/>
                        <a:t>특허심판원에 계속 중</a:t>
                      </a:r>
                      <a:endParaRPr lang="ko-KR" altLang="en-US" sz="14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1200" dirty="0"/>
                        <a:t>특허법원에 계속 중</a:t>
                      </a:r>
                      <a:endParaRPr lang="ko-KR" altLang="en-US" sz="14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1200" dirty="0"/>
                        <a:t>대법원에 계속 중</a:t>
                      </a:r>
                      <a:endParaRPr lang="ko-KR" altLang="en-US" sz="14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extLst>
                  <a:ext uri="{0D108BD9-81ED-4DB2-BD59-A6C34878D82A}">
                    <a16:rowId xmlns:a16="http://schemas.microsoft.com/office/drawing/2014/main" val="376028783"/>
                  </a:ext>
                </a:extLst>
              </a:tr>
              <a:tr h="630067">
                <a:tc>
                  <a:txBody>
                    <a:bodyPr/>
                    <a:lstStyle/>
                    <a:p>
                      <a:pPr marL="0" marR="0" indent="0" algn="ctr" fontAlgn="base" latinLnBrk="0">
                        <a:lnSpc>
                          <a:spcPct val="130000"/>
                        </a:lnSpc>
                        <a:spcBef>
                          <a:spcPts val="0"/>
                        </a:spcBef>
                        <a:spcAft>
                          <a:spcPts val="0"/>
                        </a:spcAft>
                      </a:pPr>
                      <a:r>
                        <a:rPr lang="ko-KR" altLang="en-US" sz="1400" kern="1200" dirty="0"/>
                        <a:t>특허무효심판에 대한 </a:t>
                      </a:r>
                      <a:r>
                        <a:rPr lang="ko-KR" altLang="en-US" sz="1400" kern="1200" dirty="0" err="1"/>
                        <a:t>인용심결</a:t>
                      </a:r>
                      <a:r>
                        <a:rPr lang="en-US" altLang="ko-KR" sz="1400" kern="1200" dirty="0"/>
                        <a:t>/</a:t>
                      </a:r>
                      <a:r>
                        <a:rPr lang="ko-KR" altLang="en-US" sz="1400" kern="1200" dirty="0"/>
                        <a:t>특허취소신청에 대한 취소결정이 확정되어 </a:t>
                      </a:r>
                      <a:r>
                        <a:rPr lang="ko-KR" altLang="en-US" sz="1400" kern="1200" dirty="0" err="1"/>
                        <a:t>소급소멸한</a:t>
                      </a:r>
                      <a:r>
                        <a:rPr lang="ko-KR" altLang="en-US" sz="1400" kern="1200" dirty="0"/>
                        <a:t> 경우</a:t>
                      </a:r>
                      <a:endParaRPr lang="ko-KR" altLang="en-US" sz="1400" kern="1200" dirty="0">
                        <a:solidFill>
                          <a:schemeClr val="tx2"/>
                        </a:solidFill>
                        <a:latin typeface="+mn-lt"/>
                        <a:ea typeface="+mn-ea"/>
                        <a:cs typeface="+mn-cs"/>
                      </a:endParaRPr>
                    </a:p>
                  </a:txBody>
                  <a:tcPr marL="72000" marR="72000" marT="17907" marB="17907" anchor="ctr"/>
                </a:tc>
                <a:tc>
                  <a:txBody>
                    <a:bodyPr/>
                    <a:lstStyle/>
                    <a:p>
                      <a:pPr marL="118110" marR="17780" indent="-118110" algn="just" fontAlgn="base" latinLnBrk="1">
                        <a:lnSpc>
                          <a:spcPct val="130000"/>
                        </a:lnSpc>
                        <a:spcBef>
                          <a:spcPts val="0"/>
                        </a:spcBef>
                        <a:spcAft>
                          <a:spcPts val="0"/>
                        </a:spcAft>
                      </a:pPr>
                      <a:r>
                        <a:rPr lang="ko-KR" altLang="en-US" sz="1400" kern="1200"/>
                        <a:t>정정심판은 심결각하</a:t>
                      </a:r>
                      <a:endParaRPr lang="ko-KR" altLang="en-US" sz="1400" kern="1200">
                        <a:solidFill>
                          <a:schemeClr val="tx2"/>
                        </a:solidFill>
                        <a:latin typeface="+mn-lt"/>
                        <a:ea typeface="+mn-ea"/>
                        <a:cs typeface="+mn-cs"/>
                      </a:endParaRPr>
                    </a:p>
                  </a:txBody>
                  <a:tcPr marL="72000" marR="72000" marT="17907" marB="17907" anchor="ctr"/>
                </a:tc>
                <a:tc>
                  <a:txBody>
                    <a:bodyPr/>
                    <a:lstStyle/>
                    <a:p>
                      <a:pPr marL="17780" marR="17780" indent="0" algn="just" fontAlgn="base" latinLnBrk="1">
                        <a:lnSpc>
                          <a:spcPct val="130000"/>
                        </a:lnSpc>
                        <a:spcBef>
                          <a:spcPts val="0"/>
                        </a:spcBef>
                        <a:spcAft>
                          <a:spcPts val="0"/>
                        </a:spcAft>
                      </a:pPr>
                      <a:r>
                        <a:rPr lang="ko-KR" altLang="en-US" sz="1400" kern="1200"/>
                        <a:t>정정심판은 소각하</a:t>
                      </a:r>
                      <a:endParaRPr lang="ko-KR" altLang="en-US" sz="1400" kern="1200">
                        <a:solidFill>
                          <a:schemeClr val="tx2"/>
                        </a:solidFill>
                        <a:latin typeface="+mn-lt"/>
                        <a:ea typeface="+mn-ea"/>
                        <a:cs typeface="+mn-cs"/>
                      </a:endParaRPr>
                    </a:p>
                  </a:txBody>
                  <a:tcPr marL="72000" marR="72000" marT="17907" marB="17907" anchor="ctr"/>
                </a:tc>
                <a:tc>
                  <a:txBody>
                    <a:bodyPr/>
                    <a:lstStyle/>
                    <a:p>
                      <a:pPr marL="17780" marR="17780" indent="0" algn="just" fontAlgn="base" latinLnBrk="1">
                        <a:lnSpc>
                          <a:spcPct val="130000"/>
                        </a:lnSpc>
                        <a:spcBef>
                          <a:spcPts val="0"/>
                        </a:spcBef>
                        <a:spcAft>
                          <a:spcPts val="0"/>
                        </a:spcAft>
                      </a:pPr>
                      <a:r>
                        <a:rPr lang="ko-KR" altLang="en-US" sz="1400" kern="1200" dirty="0" err="1"/>
                        <a:t>정정심판은</a:t>
                      </a:r>
                      <a:r>
                        <a:rPr lang="ko-KR" altLang="en-US" sz="1400" kern="1200" dirty="0"/>
                        <a:t> </a:t>
                      </a:r>
                      <a:r>
                        <a:rPr lang="ko-KR" altLang="en-US" sz="1400" kern="1200" dirty="0" err="1"/>
                        <a:t>파기소각하</a:t>
                      </a:r>
                      <a:endParaRPr lang="ko-KR" altLang="en-US" sz="1400" kern="1200" dirty="0">
                        <a:solidFill>
                          <a:schemeClr val="tx2"/>
                        </a:solidFill>
                        <a:latin typeface="+mn-lt"/>
                        <a:ea typeface="+mn-ea"/>
                        <a:cs typeface="+mn-cs"/>
                      </a:endParaRPr>
                    </a:p>
                  </a:txBody>
                  <a:tcPr marL="72000" marR="72000" marT="17907" marB="17907" anchor="ctr"/>
                </a:tc>
                <a:extLst>
                  <a:ext uri="{0D108BD9-81ED-4DB2-BD59-A6C34878D82A}">
                    <a16:rowId xmlns:a16="http://schemas.microsoft.com/office/drawing/2014/main" val="3958218819"/>
                  </a:ext>
                </a:extLst>
              </a:tr>
            </a:tbl>
          </a:graphicData>
        </a:graphic>
      </p:graphicFrame>
      <p:sp>
        <p:nvSpPr>
          <p:cNvPr id="73" name="TextBox 72"/>
          <p:cNvSpPr txBox="1"/>
          <p:nvPr/>
        </p:nvSpPr>
        <p:spPr>
          <a:xfrm>
            <a:off x="3370090" y="4726461"/>
            <a:ext cx="1266940" cy="39164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취소결정</a:t>
            </a:r>
            <a:r>
              <a:rPr lang="en-US" altLang="ko-KR" sz="1200" dirty="0">
                <a:solidFill>
                  <a:schemeClr val="tx1"/>
                </a:solidFill>
                <a:latin typeface="+mn-ea"/>
              </a:rPr>
              <a:t>/</a:t>
            </a:r>
          </a:p>
          <a:p>
            <a:pPr algn="ctr"/>
            <a:r>
              <a:rPr lang="ko-KR" altLang="en-US" sz="1200" dirty="0">
                <a:solidFill>
                  <a:schemeClr val="tx1"/>
                </a:solidFill>
                <a:latin typeface="+mn-ea"/>
              </a:rPr>
              <a:t>인용심결확정</a:t>
            </a:r>
            <a:endParaRPr lang="en-US" altLang="ko-KR" sz="1200" dirty="0">
              <a:solidFill>
                <a:schemeClr val="tx1"/>
              </a:solidFill>
              <a:latin typeface="+mn-ea"/>
            </a:endParaRPr>
          </a:p>
        </p:txBody>
      </p:sp>
      <p:sp>
        <p:nvSpPr>
          <p:cNvPr id="74" name="TextBox 73"/>
          <p:cNvSpPr txBox="1"/>
          <p:nvPr/>
        </p:nvSpPr>
        <p:spPr>
          <a:xfrm>
            <a:off x="1750214" y="3940487"/>
            <a:ext cx="1310486" cy="390214"/>
          </a:xfrm>
          <a:prstGeom prst="rect">
            <a:avLst/>
          </a:prstGeom>
          <a:solidFill>
            <a:schemeClr val="accent3">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특허무효심판청구</a:t>
            </a:r>
            <a:r>
              <a:rPr lang="en-US" altLang="ko-KR" sz="1200" dirty="0">
                <a:solidFill>
                  <a:schemeClr val="tx1"/>
                </a:solidFill>
                <a:latin typeface="+mn-ea"/>
              </a:rPr>
              <a:t>/</a:t>
            </a:r>
            <a:r>
              <a:rPr lang="ko-KR" altLang="en-US" sz="1200" dirty="0">
                <a:solidFill>
                  <a:schemeClr val="tx1"/>
                </a:solidFill>
                <a:latin typeface="+mn-ea"/>
              </a:rPr>
              <a:t>특허취소신청</a:t>
            </a:r>
            <a:endParaRPr lang="en-US" altLang="ko-KR" sz="1200" dirty="0">
              <a:solidFill>
                <a:schemeClr val="tx1"/>
              </a:solidFill>
              <a:latin typeface="+mn-ea"/>
            </a:endParaRPr>
          </a:p>
        </p:txBody>
      </p:sp>
      <p:cxnSp>
        <p:nvCxnSpPr>
          <p:cNvPr id="12" name="직선 화살표 연결선 11"/>
          <p:cNvCxnSpPr>
            <a:stCxn id="73" idx="0"/>
            <a:endCxn id="53" idx="4"/>
          </p:cNvCxnSpPr>
          <p:nvPr/>
        </p:nvCxnSpPr>
        <p:spPr>
          <a:xfrm flipV="1">
            <a:off x="4003560" y="4216263"/>
            <a:ext cx="0" cy="51019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8" name="타원 77"/>
          <p:cNvSpPr/>
          <p:nvPr/>
        </p:nvSpPr>
        <p:spPr>
          <a:xfrm>
            <a:off x="6922740" y="405492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79" name="TextBox 78"/>
          <p:cNvSpPr txBox="1"/>
          <p:nvPr/>
        </p:nvSpPr>
        <p:spPr>
          <a:xfrm>
            <a:off x="6366639" y="4726461"/>
            <a:ext cx="1266940" cy="39164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취소결정</a:t>
            </a:r>
            <a:r>
              <a:rPr lang="en-US" altLang="ko-KR" sz="1200" dirty="0">
                <a:solidFill>
                  <a:schemeClr val="tx1"/>
                </a:solidFill>
                <a:latin typeface="+mn-ea"/>
              </a:rPr>
              <a:t>/</a:t>
            </a:r>
          </a:p>
          <a:p>
            <a:pPr algn="ctr"/>
            <a:r>
              <a:rPr lang="ko-KR" altLang="en-US" sz="1200" dirty="0">
                <a:solidFill>
                  <a:schemeClr val="tx1"/>
                </a:solidFill>
                <a:latin typeface="+mn-ea"/>
              </a:rPr>
              <a:t>인용심결확정</a:t>
            </a:r>
            <a:endParaRPr lang="en-US" altLang="ko-KR" sz="1200" dirty="0">
              <a:solidFill>
                <a:schemeClr val="tx1"/>
              </a:solidFill>
              <a:latin typeface="+mn-ea"/>
            </a:endParaRPr>
          </a:p>
        </p:txBody>
      </p:sp>
      <p:cxnSp>
        <p:nvCxnSpPr>
          <p:cNvPr id="80" name="직선 화살표 연결선 79"/>
          <p:cNvCxnSpPr>
            <a:stCxn id="79" idx="0"/>
            <a:endCxn id="78" idx="4"/>
          </p:cNvCxnSpPr>
          <p:nvPr/>
        </p:nvCxnSpPr>
        <p:spPr>
          <a:xfrm flipV="1">
            <a:off x="7000109" y="4216263"/>
            <a:ext cx="0" cy="51019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1" name="타원 80"/>
          <p:cNvSpPr/>
          <p:nvPr/>
        </p:nvSpPr>
        <p:spPr>
          <a:xfrm>
            <a:off x="9653830" y="405492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85" name="TextBox 84"/>
          <p:cNvSpPr txBox="1"/>
          <p:nvPr/>
        </p:nvSpPr>
        <p:spPr>
          <a:xfrm>
            <a:off x="9097729" y="4726461"/>
            <a:ext cx="1266940" cy="39164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취소결정</a:t>
            </a:r>
            <a:r>
              <a:rPr lang="en-US" altLang="ko-KR" sz="1200" dirty="0">
                <a:solidFill>
                  <a:schemeClr val="tx1"/>
                </a:solidFill>
                <a:latin typeface="+mn-ea"/>
              </a:rPr>
              <a:t>/</a:t>
            </a:r>
          </a:p>
          <a:p>
            <a:pPr algn="ctr"/>
            <a:r>
              <a:rPr lang="ko-KR" altLang="en-US" sz="1200" dirty="0">
                <a:solidFill>
                  <a:schemeClr val="tx1"/>
                </a:solidFill>
                <a:latin typeface="+mn-ea"/>
              </a:rPr>
              <a:t>인용심결확정</a:t>
            </a:r>
            <a:endParaRPr lang="en-US" altLang="ko-KR" sz="1200" dirty="0">
              <a:solidFill>
                <a:schemeClr val="tx1"/>
              </a:solidFill>
              <a:latin typeface="+mn-ea"/>
            </a:endParaRPr>
          </a:p>
        </p:txBody>
      </p:sp>
      <p:cxnSp>
        <p:nvCxnSpPr>
          <p:cNvPr id="89" name="직선 화살표 연결선 88"/>
          <p:cNvCxnSpPr>
            <a:stCxn id="85" idx="0"/>
            <a:endCxn id="81" idx="4"/>
          </p:cNvCxnSpPr>
          <p:nvPr/>
        </p:nvCxnSpPr>
        <p:spPr>
          <a:xfrm flipV="1">
            <a:off x="9731199" y="4216263"/>
            <a:ext cx="0" cy="51019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1" name="TextBox 90"/>
          <p:cNvSpPr txBox="1"/>
          <p:nvPr/>
        </p:nvSpPr>
        <p:spPr>
          <a:xfrm>
            <a:off x="3154695" y="4460036"/>
            <a:ext cx="370870" cy="523220"/>
          </a:xfrm>
          <a:prstGeom prst="rect">
            <a:avLst/>
          </a:prstGeom>
          <a:noFill/>
        </p:spPr>
        <p:txBody>
          <a:bodyPr wrap="square" rtlCol="0">
            <a:spAutoFit/>
          </a:bodyPr>
          <a:lstStyle/>
          <a:p>
            <a:pPr fontAlgn="base"/>
            <a:r>
              <a:rPr lang="ko-KR" altLang="en-US" sz="2800" dirty="0">
                <a:solidFill>
                  <a:srgbClr val="FF0000"/>
                </a:solidFill>
              </a:rPr>
              <a:t>❶</a:t>
            </a:r>
          </a:p>
        </p:txBody>
      </p:sp>
      <p:sp>
        <p:nvSpPr>
          <p:cNvPr id="92" name="TextBox 91"/>
          <p:cNvSpPr txBox="1"/>
          <p:nvPr/>
        </p:nvSpPr>
        <p:spPr>
          <a:xfrm>
            <a:off x="6185768" y="4460036"/>
            <a:ext cx="370870" cy="523220"/>
          </a:xfrm>
          <a:prstGeom prst="rect">
            <a:avLst/>
          </a:prstGeom>
          <a:noFill/>
        </p:spPr>
        <p:txBody>
          <a:bodyPr wrap="square" rtlCol="0">
            <a:spAutoFit/>
          </a:bodyPr>
          <a:lstStyle/>
          <a:p>
            <a:pPr fontAlgn="base"/>
            <a:r>
              <a:rPr lang="ko-KR" altLang="en-US" sz="2800" dirty="0">
                <a:solidFill>
                  <a:srgbClr val="FF0000"/>
                </a:solidFill>
              </a:rPr>
              <a:t>❷</a:t>
            </a:r>
          </a:p>
        </p:txBody>
      </p:sp>
      <p:sp>
        <p:nvSpPr>
          <p:cNvPr id="93" name="TextBox 92"/>
          <p:cNvSpPr txBox="1"/>
          <p:nvPr/>
        </p:nvSpPr>
        <p:spPr>
          <a:xfrm>
            <a:off x="9024924" y="4418753"/>
            <a:ext cx="370870" cy="523220"/>
          </a:xfrm>
          <a:prstGeom prst="rect">
            <a:avLst/>
          </a:prstGeom>
          <a:noFill/>
        </p:spPr>
        <p:txBody>
          <a:bodyPr wrap="square" rtlCol="0">
            <a:spAutoFit/>
          </a:bodyPr>
          <a:lstStyle/>
          <a:p>
            <a:pPr fontAlgn="base"/>
            <a:r>
              <a:rPr lang="ko-KR" altLang="en-US" sz="2800" dirty="0">
                <a:solidFill>
                  <a:srgbClr val="FF0000"/>
                </a:solidFill>
              </a:rPr>
              <a:t>❸</a:t>
            </a:r>
          </a:p>
        </p:txBody>
      </p:sp>
      <p:sp>
        <p:nvSpPr>
          <p:cNvPr id="94" name="TextBox 93"/>
          <p:cNvSpPr txBox="1"/>
          <p:nvPr/>
        </p:nvSpPr>
        <p:spPr>
          <a:xfrm>
            <a:off x="3184655" y="903644"/>
            <a:ext cx="370870" cy="523220"/>
          </a:xfrm>
          <a:prstGeom prst="rect">
            <a:avLst/>
          </a:prstGeom>
          <a:noFill/>
        </p:spPr>
        <p:txBody>
          <a:bodyPr wrap="square" rtlCol="0">
            <a:spAutoFit/>
          </a:bodyPr>
          <a:lstStyle/>
          <a:p>
            <a:pPr fontAlgn="base"/>
            <a:r>
              <a:rPr lang="ko-KR" altLang="en-US" sz="2800" dirty="0">
                <a:solidFill>
                  <a:srgbClr val="FF0000"/>
                </a:solidFill>
              </a:rPr>
              <a:t>❶</a:t>
            </a:r>
          </a:p>
        </p:txBody>
      </p:sp>
      <p:sp>
        <p:nvSpPr>
          <p:cNvPr id="95" name="TextBox 94"/>
          <p:cNvSpPr txBox="1"/>
          <p:nvPr/>
        </p:nvSpPr>
        <p:spPr>
          <a:xfrm>
            <a:off x="6249945" y="903644"/>
            <a:ext cx="370870" cy="523220"/>
          </a:xfrm>
          <a:prstGeom prst="rect">
            <a:avLst/>
          </a:prstGeom>
          <a:noFill/>
        </p:spPr>
        <p:txBody>
          <a:bodyPr wrap="square" rtlCol="0">
            <a:spAutoFit/>
          </a:bodyPr>
          <a:lstStyle/>
          <a:p>
            <a:pPr fontAlgn="base"/>
            <a:r>
              <a:rPr lang="ko-KR" altLang="en-US" sz="2800" dirty="0">
                <a:solidFill>
                  <a:srgbClr val="FF0000"/>
                </a:solidFill>
              </a:rPr>
              <a:t>❷</a:t>
            </a:r>
          </a:p>
        </p:txBody>
      </p:sp>
      <p:sp>
        <p:nvSpPr>
          <p:cNvPr id="96" name="TextBox 95"/>
          <p:cNvSpPr txBox="1"/>
          <p:nvPr/>
        </p:nvSpPr>
        <p:spPr>
          <a:xfrm>
            <a:off x="9306562" y="883791"/>
            <a:ext cx="370870" cy="523220"/>
          </a:xfrm>
          <a:prstGeom prst="rect">
            <a:avLst/>
          </a:prstGeom>
          <a:noFill/>
        </p:spPr>
        <p:txBody>
          <a:bodyPr wrap="square" rtlCol="0">
            <a:spAutoFit/>
          </a:bodyPr>
          <a:lstStyle/>
          <a:p>
            <a:pPr fontAlgn="base"/>
            <a:r>
              <a:rPr lang="ko-KR" altLang="en-US" sz="2800" dirty="0">
                <a:solidFill>
                  <a:srgbClr val="FF0000"/>
                </a:solidFill>
              </a:rPr>
              <a:t>❸</a:t>
            </a:r>
          </a:p>
        </p:txBody>
      </p:sp>
      <p:sp>
        <p:nvSpPr>
          <p:cNvPr id="14" name="직사각형 13"/>
          <p:cNvSpPr/>
          <p:nvPr/>
        </p:nvSpPr>
        <p:spPr>
          <a:xfrm>
            <a:off x="2112428" y="5701818"/>
            <a:ext cx="8390471" cy="307777"/>
          </a:xfrm>
          <a:prstGeom prst="rect">
            <a:avLst/>
          </a:prstGeom>
          <a:ln>
            <a:solidFill>
              <a:schemeClr val="bg1">
                <a:lumMod val="50000"/>
              </a:schemeClr>
            </a:solidFill>
          </a:ln>
        </p:spPr>
        <p:txBody>
          <a:bodyPr wrap="square">
            <a:spAutoFit/>
          </a:bodyPr>
          <a:lstStyle/>
          <a:p>
            <a:r>
              <a:rPr lang="ko-KR" altLang="en-US" sz="1400" dirty="0"/>
              <a:t>특허취소결정이 확정</a:t>
            </a:r>
            <a:r>
              <a:rPr lang="en-US" altLang="ko-KR" sz="1400" dirty="0"/>
              <a:t>/</a:t>
            </a:r>
            <a:r>
              <a:rPr lang="ko-KR" altLang="en-US" sz="1400" dirty="0"/>
              <a:t>특허무효심결이 확정된 때에는 그 특허권은 처음부터 없었던 것으로 본다</a:t>
            </a:r>
            <a:r>
              <a:rPr lang="en-US" altLang="ko-KR" sz="1400" dirty="0"/>
              <a:t>.</a:t>
            </a:r>
            <a:endParaRPr lang="ko-KR" altLang="en-US" sz="1100" dirty="0"/>
          </a:p>
        </p:txBody>
      </p:sp>
      <p:cxnSp>
        <p:nvCxnSpPr>
          <p:cNvPr id="16" name="꺾인 연결선 15"/>
          <p:cNvCxnSpPr>
            <a:stCxn id="14" idx="0"/>
            <a:endCxn id="73" idx="2"/>
          </p:cNvCxnSpPr>
          <p:nvPr/>
        </p:nvCxnSpPr>
        <p:spPr>
          <a:xfrm rot="16200000" flipV="1">
            <a:off x="4863754" y="4257908"/>
            <a:ext cx="583717" cy="230410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꺾인 연결선 17"/>
          <p:cNvCxnSpPr>
            <a:stCxn id="14" idx="0"/>
            <a:endCxn id="79" idx="2"/>
          </p:cNvCxnSpPr>
          <p:nvPr/>
        </p:nvCxnSpPr>
        <p:spPr>
          <a:xfrm rot="5400000" flipH="1" flipV="1">
            <a:off x="6362028" y="5063738"/>
            <a:ext cx="583717" cy="69244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stCxn id="14" idx="0"/>
            <a:endCxn id="85" idx="2"/>
          </p:cNvCxnSpPr>
          <p:nvPr/>
        </p:nvCxnSpPr>
        <p:spPr>
          <a:xfrm rot="5400000" flipH="1" flipV="1">
            <a:off x="7727573" y="3698193"/>
            <a:ext cx="583717" cy="342353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11391017"/>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136</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solidFill>
                  <a:schemeClr val="tx1">
                    <a:lumMod val="65000"/>
                    <a:lumOff val="35000"/>
                  </a:schemeClr>
                </a:solidFill>
              </a:rPr>
              <a:t>사실심 변론종결후 </a:t>
            </a:r>
            <a:r>
              <a:rPr lang="ko-KR" altLang="en-US" dirty="0" err="1">
                <a:solidFill>
                  <a:schemeClr val="tx1">
                    <a:lumMod val="65000"/>
                    <a:lumOff val="35000"/>
                  </a:schemeClr>
                </a:solidFill>
              </a:rPr>
              <a:t>정정인용심결확정의</a:t>
            </a:r>
            <a:r>
              <a:rPr lang="ko-KR" altLang="en-US" dirty="0">
                <a:solidFill>
                  <a:schemeClr val="tx1">
                    <a:lumMod val="65000"/>
                    <a:lumOff val="35000"/>
                  </a:schemeClr>
                </a:solidFill>
              </a:rPr>
              <a:t> </a:t>
            </a:r>
            <a:r>
              <a:rPr lang="en-US" altLang="ko-KR" dirty="0">
                <a:solidFill>
                  <a:schemeClr val="tx1">
                    <a:lumMod val="65000"/>
                    <a:lumOff val="35000"/>
                  </a:schemeClr>
                </a:solidFill>
              </a:rPr>
              <a:t>CASE</a:t>
            </a:r>
            <a:endParaRPr lang="ko-KR" altLang="en-US" dirty="0">
              <a:solidFill>
                <a:schemeClr val="tx1">
                  <a:lumMod val="65000"/>
                  <a:lumOff val="35000"/>
                </a:schemeClr>
              </a:solidFill>
            </a:endParaRP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44" name="직선 연결선 43">
            <a:extLst>
              <a:ext uri="{FF2B5EF4-FFF2-40B4-BE49-F238E27FC236}">
                <a16:creationId xmlns:a16="http://schemas.microsoft.com/office/drawing/2014/main" id="{D3BB6AF1-7F60-452C-A6FA-C26D553DE96B}"/>
              </a:ext>
            </a:extLst>
          </p:cNvPr>
          <p:cNvCxnSpPr/>
          <p:nvPr/>
        </p:nvCxnSpPr>
        <p:spPr>
          <a:xfrm>
            <a:off x="0" y="3229430"/>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직사각형 44">
            <a:extLst>
              <a:ext uri="{FF2B5EF4-FFF2-40B4-BE49-F238E27FC236}">
                <a16:creationId xmlns:a16="http://schemas.microsoft.com/office/drawing/2014/main" id="{7C8A4446-9A84-44CF-BF8E-778825646662}"/>
              </a:ext>
            </a:extLst>
          </p:cNvPr>
          <p:cNvSpPr/>
          <p:nvPr/>
        </p:nvSpPr>
        <p:spPr>
          <a:xfrm>
            <a:off x="232372" y="1353610"/>
            <a:ext cx="11681987" cy="1892826"/>
          </a:xfrm>
          <a:prstGeom prst="rect">
            <a:avLst/>
          </a:prstGeom>
        </p:spPr>
        <p:txBody>
          <a:bodyPr wrap="square">
            <a:spAutoFit/>
          </a:bodyPr>
          <a:lstStyle/>
          <a:p>
            <a:pPr algn="just" fontAlgn="base"/>
            <a:r>
              <a:rPr lang="ko-KR" altLang="en-US" sz="1300" dirty="0"/>
              <a:t>재심은 확정된 종국판결에 대하여 판결의 효력을 인정할 수 없는 중대한 하자가 있는 경우 예외적으로 판결의 확정에 따른 법적 안정성을 후퇴시켜 그 하자를 시정함으로써 구체적 정의를 실현하고자 마련된 것이다</a:t>
            </a:r>
            <a:r>
              <a:rPr lang="en-US" altLang="ko-KR" sz="1300" dirty="0"/>
              <a:t>(</a:t>
            </a:r>
            <a:r>
              <a:rPr lang="ko-KR" altLang="en-US" sz="1300" dirty="0"/>
              <a:t>대법원 </a:t>
            </a:r>
            <a:r>
              <a:rPr lang="en-US" altLang="ko-KR" sz="1300" dirty="0"/>
              <a:t>1992. 7. 24. </a:t>
            </a:r>
            <a:r>
              <a:rPr lang="ko-KR" altLang="en-US" sz="1300" dirty="0"/>
              <a:t>선고 </a:t>
            </a:r>
            <a:r>
              <a:rPr lang="en-US" altLang="ko-KR" sz="1300" dirty="0"/>
              <a:t>91</a:t>
            </a:r>
            <a:r>
              <a:rPr lang="ko-KR" altLang="en-US" sz="1300" dirty="0"/>
              <a:t>다</a:t>
            </a:r>
            <a:r>
              <a:rPr lang="en-US" altLang="ko-KR" sz="1300" dirty="0"/>
              <a:t>45691 </a:t>
            </a:r>
            <a:r>
              <a:rPr lang="ko-KR" altLang="en-US" sz="1300" dirty="0"/>
              <a:t>판결 등 참조</a:t>
            </a:r>
            <a:r>
              <a:rPr lang="en-US" altLang="ko-KR" sz="1300" dirty="0"/>
              <a:t>). </a:t>
            </a:r>
            <a:r>
              <a:rPr lang="ko-KR" altLang="en-US" sz="1300" dirty="0"/>
              <a:t>행정소송법 제</a:t>
            </a:r>
            <a:r>
              <a:rPr lang="en-US" altLang="ko-KR" sz="1300" dirty="0"/>
              <a:t>8</a:t>
            </a:r>
            <a:r>
              <a:rPr lang="ko-KR" altLang="en-US" sz="1300" dirty="0"/>
              <a:t>조에 따라 </a:t>
            </a:r>
            <a:r>
              <a:rPr lang="ko-KR" altLang="en-US" sz="1300" dirty="0" err="1"/>
              <a:t>심결취소소송에</a:t>
            </a:r>
            <a:r>
              <a:rPr lang="ko-KR" altLang="en-US" sz="1300" dirty="0"/>
              <a:t> 준용되는 민사소송법 제</a:t>
            </a:r>
            <a:r>
              <a:rPr lang="en-US" altLang="ko-KR" sz="1300" dirty="0"/>
              <a:t>451</a:t>
            </a:r>
            <a:r>
              <a:rPr lang="ko-KR" altLang="en-US" sz="1300" dirty="0"/>
              <a:t>조 제</a:t>
            </a:r>
            <a:r>
              <a:rPr lang="en-US" altLang="ko-KR" sz="1300" dirty="0"/>
              <a:t>1</a:t>
            </a:r>
            <a:r>
              <a:rPr lang="ko-KR" altLang="en-US" sz="1300" dirty="0"/>
              <a:t>항 제</a:t>
            </a:r>
            <a:r>
              <a:rPr lang="en-US" altLang="ko-KR" sz="1300" dirty="0"/>
              <a:t>8</a:t>
            </a:r>
            <a:r>
              <a:rPr lang="ko-KR" altLang="en-US" sz="1300" dirty="0"/>
              <a:t>호는 “판결의 기초로 된 행정처분이 다른 행정처분에 의하여 변경된 </a:t>
            </a:r>
            <a:r>
              <a:rPr lang="ko-KR" altLang="en-US" sz="1300" dirty="0" err="1"/>
              <a:t>때”를</a:t>
            </a:r>
            <a:r>
              <a:rPr lang="ko-KR" altLang="en-US" sz="1300" dirty="0"/>
              <a:t> 재심사유로 규정하고 있다</a:t>
            </a:r>
            <a:r>
              <a:rPr lang="en-US" altLang="ko-KR" sz="1300" dirty="0"/>
              <a:t>. </a:t>
            </a:r>
            <a:r>
              <a:rPr lang="ko-KR" altLang="en-US" sz="1300" dirty="0"/>
              <a:t>이는 판결의 심리</a:t>
            </a:r>
            <a:r>
              <a:rPr lang="en-US" altLang="ko-KR" sz="1300" dirty="0"/>
              <a:t>·</a:t>
            </a:r>
            <a:r>
              <a:rPr lang="ko-KR" altLang="en-US" sz="1300" dirty="0"/>
              <a:t>판단 대상이 되는 행정처분 그 자체가 그 후 다른 행정처분에 의하여 확정적</a:t>
            </a:r>
            <a:r>
              <a:rPr lang="en-US" altLang="ko-KR" sz="1300" dirty="0"/>
              <a:t>·</a:t>
            </a:r>
            <a:r>
              <a:rPr lang="ko-KR" altLang="en-US" sz="1300" dirty="0"/>
              <a:t>소급적으로 변경된 경우를 말하는 것이 아니고</a:t>
            </a:r>
            <a:r>
              <a:rPr lang="en-US" altLang="ko-KR" sz="1300" dirty="0"/>
              <a:t>, </a:t>
            </a:r>
            <a:r>
              <a:rPr lang="ko-KR" altLang="en-US" sz="1300" dirty="0"/>
              <a:t>확정판결에 법률적으로 구속력을 미치거나 또는 그 확정판결에서 사실인정의 자료가 된 행정처분이 다른 행정처분에 의하여 확정적</a:t>
            </a:r>
            <a:r>
              <a:rPr lang="en-US" altLang="ko-KR" sz="1300" dirty="0"/>
              <a:t>·</a:t>
            </a:r>
            <a:r>
              <a:rPr lang="ko-KR" altLang="en-US" sz="1300" dirty="0"/>
              <a:t>소급적으로 변경된 경우를 말하는 것이다</a:t>
            </a:r>
            <a:r>
              <a:rPr lang="en-US" altLang="ko-KR" sz="1300" dirty="0"/>
              <a:t>. </a:t>
            </a:r>
            <a:r>
              <a:rPr lang="ko-KR" altLang="en-US" sz="1300" dirty="0"/>
              <a:t>여기서 ‘사실인정의 자료가 </a:t>
            </a:r>
            <a:r>
              <a:rPr lang="ko-KR" altLang="en-US" sz="1300" dirty="0" err="1"/>
              <a:t>되었다’는</a:t>
            </a:r>
            <a:r>
              <a:rPr lang="ko-KR" altLang="en-US" sz="1300" dirty="0"/>
              <a:t> 것은 그 행정처분이 확정판결의 사실인정에 있어서 증거자료로 채택되었고 그 행정처분의 변경이 확정판결의 사실인정에 영향을 미칠 가능성이 있는 경우를 말한다</a:t>
            </a:r>
            <a:r>
              <a:rPr lang="en-US" altLang="ko-KR" sz="1300" dirty="0"/>
              <a:t>(</a:t>
            </a:r>
            <a:r>
              <a:rPr lang="ko-KR" altLang="en-US" sz="1300" dirty="0"/>
              <a:t>대법원 </a:t>
            </a:r>
            <a:r>
              <a:rPr lang="en-US" altLang="ko-KR" sz="1300" dirty="0"/>
              <a:t>1994. 11. 25. </a:t>
            </a:r>
            <a:r>
              <a:rPr lang="ko-KR" altLang="en-US" sz="1300" dirty="0"/>
              <a:t>선고 </a:t>
            </a:r>
            <a:r>
              <a:rPr lang="en-US" altLang="ko-KR" sz="1300" dirty="0"/>
              <a:t>94</a:t>
            </a:r>
            <a:r>
              <a:rPr lang="ko-KR" altLang="en-US" sz="1300" dirty="0"/>
              <a:t>다</a:t>
            </a:r>
            <a:r>
              <a:rPr lang="en-US" altLang="ko-KR" sz="1300" dirty="0"/>
              <a:t>33897 </a:t>
            </a:r>
            <a:r>
              <a:rPr lang="ko-KR" altLang="en-US" sz="1300" dirty="0"/>
              <a:t>판결</a:t>
            </a:r>
            <a:r>
              <a:rPr lang="en-US" altLang="ko-KR" sz="1300" dirty="0"/>
              <a:t>, </a:t>
            </a:r>
            <a:r>
              <a:rPr lang="ko-KR" altLang="en-US" sz="1300" dirty="0"/>
              <a:t>대법원 </a:t>
            </a:r>
            <a:r>
              <a:rPr lang="en-US" altLang="ko-KR" sz="1300" dirty="0"/>
              <a:t>2001. 12. 14. </a:t>
            </a:r>
            <a:r>
              <a:rPr lang="ko-KR" altLang="en-US" sz="1300" dirty="0"/>
              <a:t>선고 </a:t>
            </a:r>
            <a:r>
              <a:rPr lang="en-US" altLang="ko-KR" sz="1300" dirty="0"/>
              <a:t>2000</a:t>
            </a:r>
            <a:r>
              <a:rPr lang="ko-KR" altLang="en-US" sz="1300" dirty="0"/>
              <a:t>다</a:t>
            </a:r>
            <a:r>
              <a:rPr lang="en-US" altLang="ko-KR" sz="1300" dirty="0"/>
              <a:t>12679 </a:t>
            </a:r>
            <a:r>
              <a:rPr lang="ko-KR" altLang="en-US" sz="1300" dirty="0"/>
              <a:t>판결 등 참조</a:t>
            </a:r>
            <a:r>
              <a:rPr lang="en-US" altLang="ko-KR" sz="1300" dirty="0"/>
              <a:t>). </a:t>
            </a:r>
            <a:r>
              <a:rPr lang="ko-KR" altLang="en-US" sz="1300" dirty="0"/>
              <a:t>이에 따르면 특허권자가 정정심판을 청구하여 특허무효심판에 대한 </a:t>
            </a:r>
            <a:r>
              <a:rPr lang="ko-KR" altLang="en-US" sz="1300" dirty="0" err="1"/>
              <a:t>심결취소소송의</a:t>
            </a:r>
            <a:r>
              <a:rPr lang="ko-KR" altLang="en-US" sz="1300" dirty="0"/>
              <a:t> 사실심 변론종결 이후에 특허발명의 명세서 또는 도면</a:t>
            </a:r>
            <a:r>
              <a:rPr lang="en-US" altLang="ko-KR" sz="1300" dirty="0"/>
              <a:t>(</a:t>
            </a:r>
            <a:r>
              <a:rPr lang="ko-KR" altLang="en-US" sz="1300" dirty="0"/>
              <a:t>이하 ‘명세서 </a:t>
            </a:r>
            <a:r>
              <a:rPr lang="ko-KR" altLang="en-US" sz="1300" dirty="0" err="1"/>
              <a:t>등’이라</a:t>
            </a:r>
            <a:r>
              <a:rPr lang="ko-KR" altLang="en-US" sz="1300" dirty="0"/>
              <a:t> 한다</a:t>
            </a:r>
            <a:r>
              <a:rPr lang="en-US" altLang="ko-KR" sz="1300" dirty="0"/>
              <a:t>)</a:t>
            </a:r>
            <a:r>
              <a:rPr lang="ko-KR" altLang="en-US" sz="1300" dirty="0"/>
              <a:t>에 대하여 정정을 한다는 </a:t>
            </a:r>
            <a:r>
              <a:rPr lang="ko-KR" altLang="en-US" sz="1300" dirty="0" err="1"/>
              <a:t>심결</a:t>
            </a:r>
            <a:r>
              <a:rPr lang="en-US" altLang="ko-KR" sz="1300" dirty="0"/>
              <a:t>(</a:t>
            </a:r>
            <a:r>
              <a:rPr lang="ko-KR" altLang="en-US" sz="1300" dirty="0"/>
              <a:t>이하 ‘</a:t>
            </a:r>
            <a:r>
              <a:rPr lang="ko-KR" altLang="en-US" sz="1300" dirty="0" err="1"/>
              <a:t>정정심결’이라</a:t>
            </a:r>
            <a:r>
              <a:rPr lang="ko-KR" altLang="en-US" sz="1300" dirty="0"/>
              <a:t> 한다</a:t>
            </a:r>
            <a:r>
              <a:rPr lang="en-US" altLang="ko-KR" sz="1300" dirty="0"/>
              <a:t>)</a:t>
            </a:r>
            <a:r>
              <a:rPr lang="ko-KR" altLang="en-US" sz="1300" dirty="0"/>
              <a:t>이 확정되더라도 정정 전 명세서 등으로 판단한 원심판결에 민사소송법 제</a:t>
            </a:r>
            <a:r>
              <a:rPr lang="en-US" altLang="ko-KR" sz="1300" dirty="0"/>
              <a:t>451</a:t>
            </a:r>
            <a:r>
              <a:rPr lang="ko-KR" altLang="en-US" sz="1300" dirty="0"/>
              <a:t>조 제</a:t>
            </a:r>
            <a:r>
              <a:rPr lang="en-US" altLang="ko-KR" sz="1300" dirty="0"/>
              <a:t>1</a:t>
            </a:r>
            <a:r>
              <a:rPr lang="ko-KR" altLang="en-US" sz="1300" dirty="0"/>
              <a:t>항 제</a:t>
            </a:r>
            <a:r>
              <a:rPr lang="en-US" altLang="ko-KR" sz="1300" dirty="0"/>
              <a:t>8</a:t>
            </a:r>
            <a:r>
              <a:rPr lang="ko-KR" altLang="en-US" sz="1300" dirty="0"/>
              <a:t>호가 규정한 재심사유가 있다고 볼 수 없다</a:t>
            </a:r>
            <a:r>
              <a:rPr lang="en-US" altLang="ko-KR" sz="1300" dirty="0"/>
              <a:t>.</a:t>
            </a:r>
          </a:p>
        </p:txBody>
      </p:sp>
      <p:sp>
        <p:nvSpPr>
          <p:cNvPr id="46" name="모서리가 둥근 직사각형 10">
            <a:extLst>
              <a:ext uri="{FF2B5EF4-FFF2-40B4-BE49-F238E27FC236}">
                <a16:creationId xmlns:a16="http://schemas.microsoft.com/office/drawing/2014/main" id="{1EB2F813-B207-4574-BC6A-9E0259FF1206}"/>
              </a:ext>
            </a:extLst>
          </p:cNvPr>
          <p:cNvSpPr/>
          <p:nvPr/>
        </p:nvSpPr>
        <p:spPr bwMode="auto">
          <a:xfrm>
            <a:off x="378418" y="998802"/>
            <a:ext cx="5180410"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2020. 1. 22. </a:t>
            </a:r>
            <a:r>
              <a:rPr lang="ko-KR" altLang="en-US" sz="1400" dirty="0"/>
              <a:t>선고 </a:t>
            </a:r>
            <a:r>
              <a:rPr lang="en-US" altLang="ko-KR" sz="1400" dirty="0"/>
              <a:t>2016</a:t>
            </a:r>
            <a:r>
              <a:rPr lang="ko-KR" altLang="en-US" sz="1400" dirty="0"/>
              <a:t>후</a:t>
            </a:r>
            <a:r>
              <a:rPr lang="en-US" altLang="ko-KR" sz="1400" dirty="0"/>
              <a:t>2522 </a:t>
            </a:r>
            <a:r>
              <a:rPr lang="ko-KR" altLang="en-US" sz="1400" dirty="0"/>
              <a:t>전원합의체</a:t>
            </a:r>
            <a:r>
              <a:rPr lang="en-US" altLang="ko-KR" sz="1400" dirty="0"/>
              <a:t>【</a:t>
            </a:r>
            <a:r>
              <a:rPr lang="ko-KR" altLang="en-US" sz="1400" dirty="0"/>
              <a:t>정정심판</a:t>
            </a:r>
            <a:r>
              <a:rPr lang="en-US" altLang="ko-KR" sz="1400" dirty="0"/>
              <a:t>(</a:t>
            </a:r>
            <a:r>
              <a:rPr lang="ko-KR" altLang="en-US" sz="1400" dirty="0" err="1"/>
              <a:t>특</a:t>
            </a:r>
            <a:r>
              <a:rPr lang="en-US" altLang="ko-KR" sz="1400" dirty="0"/>
              <a:t>)】</a:t>
            </a:r>
          </a:p>
        </p:txBody>
      </p:sp>
      <p:cxnSp>
        <p:nvCxnSpPr>
          <p:cNvPr id="48" name="직선 연결선 47">
            <a:extLst>
              <a:ext uri="{FF2B5EF4-FFF2-40B4-BE49-F238E27FC236}">
                <a16:creationId xmlns:a16="http://schemas.microsoft.com/office/drawing/2014/main" id="{AB9D320F-0625-4B90-A9FC-E47EB60AA3F4}"/>
              </a:ext>
            </a:extLst>
          </p:cNvPr>
          <p:cNvCxnSpPr/>
          <p:nvPr/>
        </p:nvCxnSpPr>
        <p:spPr>
          <a:xfrm>
            <a:off x="232372" y="4075205"/>
            <a:ext cx="11600307"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9" name="Rectangle 14">
            <a:extLst>
              <a:ext uri="{FF2B5EF4-FFF2-40B4-BE49-F238E27FC236}">
                <a16:creationId xmlns:a16="http://schemas.microsoft.com/office/drawing/2014/main" id="{44AC4FB1-0252-43E9-A84B-6617D3B71122}"/>
              </a:ext>
            </a:extLst>
          </p:cNvPr>
          <p:cNvSpPr>
            <a:spLocks noChangeArrowheads="1"/>
          </p:cNvSpPr>
          <p:nvPr/>
        </p:nvSpPr>
        <p:spPr bwMode="auto">
          <a:xfrm flipV="1">
            <a:off x="934681" y="399867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0" name="TextBox 49">
            <a:extLst>
              <a:ext uri="{FF2B5EF4-FFF2-40B4-BE49-F238E27FC236}">
                <a16:creationId xmlns:a16="http://schemas.microsoft.com/office/drawing/2014/main" id="{B270E7DB-B056-4345-B070-2D470FDD8303}"/>
              </a:ext>
            </a:extLst>
          </p:cNvPr>
          <p:cNvSpPr txBox="1"/>
          <p:nvPr/>
        </p:nvSpPr>
        <p:spPr>
          <a:xfrm>
            <a:off x="317861" y="3406106"/>
            <a:ext cx="1370694"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무효심판청구</a:t>
            </a:r>
            <a:endParaRPr lang="en-US" altLang="ko-KR" sz="1200" dirty="0"/>
          </a:p>
          <a:p>
            <a:pPr algn="ctr"/>
            <a:r>
              <a:rPr lang="en-US" altLang="ko-KR" sz="1200" dirty="0"/>
              <a:t>(</a:t>
            </a:r>
            <a:r>
              <a:rPr lang="ko-KR" altLang="en-US" sz="1200" dirty="0"/>
              <a:t>이해관계인</a:t>
            </a:r>
            <a:r>
              <a:rPr lang="en-US" altLang="ko-KR" sz="1200" dirty="0"/>
              <a:t>, </a:t>
            </a:r>
            <a:r>
              <a:rPr lang="ko-KR" altLang="en-US" sz="1200" dirty="0"/>
              <a:t>甲</a:t>
            </a:r>
            <a:r>
              <a:rPr lang="en-US" altLang="ko-KR" sz="1200" dirty="0"/>
              <a:t>)</a:t>
            </a:r>
            <a:endParaRPr lang="ko-KR" altLang="en-US" sz="1200" dirty="0"/>
          </a:p>
        </p:txBody>
      </p:sp>
      <p:cxnSp>
        <p:nvCxnSpPr>
          <p:cNvPr id="54" name="직선 연결선 53">
            <a:extLst>
              <a:ext uri="{FF2B5EF4-FFF2-40B4-BE49-F238E27FC236}">
                <a16:creationId xmlns:a16="http://schemas.microsoft.com/office/drawing/2014/main" id="{34038637-7D1C-4A64-9D89-949CC2F123B4}"/>
              </a:ext>
            </a:extLst>
          </p:cNvPr>
          <p:cNvCxnSpPr>
            <a:cxnSpLocks/>
            <a:stCxn id="50" idx="2"/>
            <a:endCxn id="49" idx="4"/>
          </p:cNvCxnSpPr>
          <p:nvPr/>
        </p:nvCxnSpPr>
        <p:spPr>
          <a:xfrm>
            <a:off x="1003208" y="3867771"/>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193EF6F1-3158-4960-8D15-6E78F01860B4}"/>
              </a:ext>
            </a:extLst>
          </p:cNvPr>
          <p:cNvSpPr txBox="1"/>
          <p:nvPr/>
        </p:nvSpPr>
        <p:spPr>
          <a:xfrm>
            <a:off x="1778147" y="3406106"/>
            <a:ext cx="526208"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a:t>무효심결</a:t>
            </a:r>
            <a:endParaRPr lang="ko-KR" altLang="en-US" sz="1200" dirty="0"/>
          </a:p>
        </p:txBody>
      </p:sp>
      <p:cxnSp>
        <p:nvCxnSpPr>
          <p:cNvPr id="56" name="직선 연결선 55">
            <a:extLst>
              <a:ext uri="{FF2B5EF4-FFF2-40B4-BE49-F238E27FC236}">
                <a16:creationId xmlns:a16="http://schemas.microsoft.com/office/drawing/2014/main" id="{084E9FEF-D0FB-4565-9221-3D10B2F53BCA}"/>
              </a:ext>
            </a:extLst>
          </p:cNvPr>
          <p:cNvCxnSpPr>
            <a:cxnSpLocks/>
            <a:stCxn id="55" idx="2"/>
          </p:cNvCxnSpPr>
          <p:nvPr/>
        </p:nvCxnSpPr>
        <p:spPr>
          <a:xfrm>
            <a:off x="2041251" y="3867771"/>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Rectangle 14">
            <a:extLst>
              <a:ext uri="{FF2B5EF4-FFF2-40B4-BE49-F238E27FC236}">
                <a16:creationId xmlns:a16="http://schemas.microsoft.com/office/drawing/2014/main" id="{FF548032-222C-4301-92A8-450C11707C9B}"/>
              </a:ext>
            </a:extLst>
          </p:cNvPr>
          <p:cNvSpPr>
            <a:spLocks noChangeArrowheads="1"/>
          </p:cNvSpPr>
          <p:nvPr/>
        </p:nvSpPr>
        <p:spPr bwMode="auto">
          <a:xfrm flipV="1">
            <a:off x="1974331" y="399867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8" name="Rectangle 14">
            <a:extLst>
              <a:ext uri="{FF2B5EF4-FFF2-40B4-BE49-F238E27FC236}">
                <a16:creationId xmlns:a16="http://schemas.microsoft.com/office/drawing/2014/main" id="{BB5ACBDF-7B9E-43B6-B13E-8C1E095D13CA}"/>
              </a:ext>
            </a:extLst>
          </p:cNvPr>
          <p:cNvSpPr>
            <a:spLocks noChangeArrowheads="1"/>
          </p:cNvSpPr>
          <p:nvPr/>
        </p:nvSpPr>
        <p:spPr bwMode="auto">
          <a:xfrm flipV="1">
            <a:off x="3131437" y="399867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9" name="TextBox 58">
            <a:extLst>
              <a:ext uri="{FF2B5EF4-FFF2-40B4-BE49-F238E27FC236}">
                <a16:creationId xmlns:a16="http://schemas.microsoft.com/office/drawing/2014/main" id="{B857AA28-D2FC-43BA-9B9C-92C9559EFBE1}"/>
              </a:ext>
            </a:extLst>
          </p:cNvPr>
          <p:cNvSpPr txBox="1"/>
          <p:nvPr/>
        </p:nvSpPr>
        <p:spPr>
          <a:xfrm>
            <a:off x="2379340" y="3406106"/>
            <a:ext cx="1641248"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심결취소소송제기</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乙</a:t>
            </a:r>
            <a:r>
              <a:rPr lang="en-US" altLang="ko-KR" sz="1200" dirty="0"/>
              <a:t>)</a:t>
            </a:r>
            <a:endParaRPr lang="ko-KR" altLang="en-US" sz="1200" dirty="0"/>
          </a:p>
        </p:txBody>
      </p:sp>
      <p:cxnSp>
        <p:nvCxnSpPr>
          <p:cNvPr id="61" name="직선 연결선 60">
            <a:extLst>
              <a:ext uri="{FF2B5EF4-FFF2-40B4-BE49-F238E27FC236}">
                <a16:creationId xmlns:a16="http://schemas.microsoft.com/office/drawing/2014/main" id="{4290E521-ABD8-4EBD-A52B-01C2F4904074}"/>
              </a:ext>
            </a:extLst>
          </p:cNvPr>
          <p:cNvCxnSpPr>
            <a:cxnSpLocks/>
            <a:stCxn id="59" idx="2"/>
            <a:endCxn id="58" idx="4"/>
          </p:cNvCxnSpPr>
          <p:nvPr/>
        </p:nvCxnSpPr>
        <p:spPr>
          <a:xfrm>
            <a:off x="3199964" y="3867771"/>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1126EA89-7E44-4FD3-BBB6-A82576E9F2C1}"/>
              </a:ext>
            </a:extLst>
          </p:cNvPr>
          <p:cNvSpPr txBox="1"/>
          <p:nvPr/>
        </p:nvSpPr>
        <p:spPr>
          <a:xfrm>
            <a:off x="4139627" y="3406106"/>
            <a:ext cx="577760"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기각판결</a:t>
            </a:r>
            <a:endParaRPr lang="ko-KR" altLang="en-US" sz="1200" dirty="0"/>
          </a:p>
        </p:txBody>
      </p:sp>
      <p:cxnSp>
        <p:nvCxnSpPr>
          <p:cNvPr id="65" name="직선 연결선 64">
            <a:extLst>
              <a:ext uri="{FF2B5EF4-FFF2-40B4-BE49-F238E27FC236}">
                <a16:creationId xmlns:a16="http://schemas.microsoft.com/office/drawing/2014/main" id="{526551C4-B03F-4271-B704-AF1A6A5A4D1D}"/>
              </a:ext>
            </a:extLst>
          </p:cNvPr>
          <p:cNvCxnSpPr>
            <a:cxnSpLocks/>
            <a:stCxn id="64" idx="2"/>
            <a:endCxn id="66" idx="4"/>
          </p:cNvCxnSpPr>
          <p:nvPr/>
        </p:nvCxnSpPr>
        <p:spPr>
          <a:xfrm>
            <a:off x="4428507" y="3867771"/>
            <a:ext cx="4518"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6" name="Rectangle 14">
            <a:extLst>
              <a:ext uri="{FF2B5EF4-FFF2-40B4-BE49-F238E27FC236}">
                <a16:creationId xmlns:a16="http://schemas.microsoft.com/office/drawing/2014/main" id="{A6298882-90DF-46FB-91BD-43C8FAD13C55}"/>
              </a:ext>
            </a:extLst>
          </p:cNvPr>
          <p:cNvSpPr>
            <a:spLocks noChangeArrowheads="1"/>
          </p:cNvSpPr>
          <p:nvPr/>
        </p:nvSpPr>
        <p:spPr bwMode="auto">
          <a:xfrm flipV="1">
            <a:off x="4361587" y="399867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4" name="TextBox 73">
            <a:extLst>
              <a:ext uri="{FF2B5EF4-FFF2-40B4-BE49-F238E27FC236}">
                <a16:creationId xmlns:a16="http://schemas.microsoft.com/office/drawing/2014/main" id="{DF5A93A3-3445-4542-814C-8B3AF763C432}"/>
              </a:ext>
            </a:extLst>
          </p:cNvPr>
          <p:cNvSpPr txBox="1"/>
          <p:nvPr/>
        </p:nvSpPr>
        <p:spPr>
          <a:xfrm>
            <a:off x="4852962" y="3406106"/>
            <a:ext cx="1047974"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상고</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乙</a:t>
            </a:r>
            <a:r>
              <a:rPr lang="en-US" altLang="ko-KR" sz="1200" dirty="0"/>
              <a:t>)</a:t>
            </a:r>
            <a:endParaRPr lang="ko-KR" altLang="en-US" sz="1200" dirty="0"/>
          </a:p>
        </p:txBody>
      </p:sp>
      <p:cxnSp>
        <p:nvCxnSpPr>
          <p:cNvPr id="77" name="직선 연결선 76">
            <a:extLst>
              <a:ext uri="{FF2B5EF4-FFF2-40B4-BE49-F238E27FC236}">
                <a16:creationId xmlns:a16="http://schemas.microsoft.com/office/drawing/2014/main" id="{26787C32-2A0F-4B74-BAC0-480100EED8E5}"/>
              </a:ext>
            </a:extLst>
          </p:cNvPr>
          <p:cNvCxnSpPr>
            <a:cxnSpLocks/>
            <a:stCxn id="74" idx="2"/>
            <a:endCxn id="79" idx="4"/>
          </p:cNvCxnSpPr>
          <p:nvPr/>
        </p:nvCxnSpPr>
        <p:spPr>
          <a:xfrm>
            <a:off x="5376949" y="3867771"/>
            <a:ext cx="4518"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Rectangle 14">
            <a:extLst>
              <a:ext uri="{FF2B5EF4-FFF2-40B4-BE49-F238E27FC236}">
                <a16:creationId xmlns:a16="http://schemas.microsoft.com/office/drawing/2014/main" id="{5AF65C36-5A26-402B-A031-29CBD2633A6D}"/>
              </a:ext>
            </a:extLst>
          </p:cNvPr>
          <p:cNvSpPr>
            <a:spLocks noChangeArrowheads="1"/>
          </p:cNvSpPr>
          <p:nvPr/>
        </p:nvSpPr>
        <p:spPr bwMode="auto">
          <a:xfrm flipV="1">
            <a:off x="5310029" y="399867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1" name="Rectangle 14">
            <a:extLst>
              <a:ext uri="{FF2B5EF4-FFF2-40B4-BE49-F238E27FC236}">
                <a16:creationId xmlns:a16="http://schemas.microsoft.com/office/drawing/2014/main" id="{0AB0D4A2-4B8A-49AB-B11D-2CBAFDCC4B2C}"/>
              </a:ext>
            </a:extLst>
          </p:cNvPr>
          <p:cNvSpPr>
            <a:spLocks noChangeArrowheads="1"/>
          </p:cNvSpPr>
          <p:nvPr/>
        </p:nvSpPr>
        <p:spPr bwMode="auto">
          <a:xfrm flipV="1">
            <a:off x="5578831" y="3998674"/>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7" name="TextBox 86">
            <a:extLst>
              <a:ext uri="{FF2B5EF4-FFF2-40B4-BE49-F238E27FC236}">
                <a16:creationId xmlns:a16="http://schemas.microsoft.com/office/drawing/2014/main" id="{309C530F-61B3-44B5-88D5-44262F261D86}"/>
              </a:ext>
            </a:extLst>
          </p:cNvPr>
          <p:cNvSpPr txBox="1"/>
          <p:nvPr/>
        </p:nvSpPr>
        <p:spPr>
          <a:xfrm>
            <a:off x="5138936" y="4317464"/>
            <a:ext cx="1016844"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인용심결확정</a:t>
            </a:r>
          </a:p>
        </p:txBody>
      </p:sp>
      <p:cxnSp>
        <p:nvCxnSpPr>
          <p:cNvPr id="88" name="직선 연결선 87">
            <a:extLst>
              <a:ext uri="{FF2B5EF4-FFF2-40B4-BE49-F238E27FC236}">
                <a16:creationId xmlns:a16="http://schemas.microsoft.com/office/drawing/2014/main" id="{D82DC272-FB5A-4A7E-B790-6EAAA2FFBE03}"/>
              </a:ext>
            </a:extLst>
          </p:cNvPr>
          <p:cNvCxnSpPr>
            <a:cxnSpLocks/>
            <a:stCxn id="87" idx="0"/>
            <a:endCxn id="81" idx="0"/>
          </p:cNvCxnSpPr>
          <p:nvPr/>
        </p:nvCxnSpPr>
        <p:spPr>
          <a:xfrm flipV="1">
            <a:off x="5647358" y="4151736"/>
            <a:ext cx="2911" cy="1657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8469E66A-9EF5-411D-BD63-BD9B778EB61E}"/>
              </a:ext>
            </a:extLst>
          </p:cNvPr>
          <p:cNvSpPr txBox="1"/>
          <p:nvPr/>
        </p:nvSpPr>
        <p:spPr>
          <a:xfrm>
            <a:off x="6222701" y="3321050"/>
            <a:ext cx="5305180" cy="1414833"/>
          </a:xfrm>
          <a:prstGeom prst="rect">
            <a:avLst/>
          </a:prstGeom>
          <a:solidFill>
            <a:schemeClr val="bg1">
              <a:lumMod val="95000"/>
            </a:schemeClr>
          </a:solidFill>
          <a:ln>
            <a:solidFill>
              <a:schemeClr val="bg1">
                <a:lumMod val="50000"/>
              </a:schemeClr>
            </a:solidFill>
          </a:ln>
        </p:spPr>
        <p:txBody>
          <a:bodyPr wrap="square" rtlCol="0" anchor="ctr">
            <a:noAutofit/>
          </a:bodyPr>
          <a:lstStyle/>
          <a:p>
            <a:r>
              <a:rPr lang="ko-KR" altLang="en-US" sz="1200" dirty="0" err="1">
                <a:solidFill>
                  <a:srgbClr val="FF0000"/>
                </a:solidFill>
              </a:rPr>
              <a:t>인용심결확정으로</a:t>
            </a:r>
            <a:r>
              <a:rPr lang="ko-KR" altLang="en-US" sz="1200" dirty="0">
                <a:solidFill>
                  <a:srgbClr val="FF0000"/>
                </a:solidFill>
              </a:rPr>
              <a:t> 정정된 내용대로 출원</a:t>
            </a:r>
            <a:r>
              <a:rPr lang="en-US" altLang="ko-KR" sz="1200" dirty="0">
                <a:solidFill>
                  <a:srgbClr val="FF0000"/>
                </a:solidFill>
              </a:rPr>
              <a:t>, </a:t>
            </a:r>
            <a:r>
              <a:rPr lang="ko-KR" altLang="en-US" sz="1200" dirty="0">
                <a:solidFill>
                  <a:srgbClr val="FF0000"/>
                </a:solidFill>
              </a:rPr>
              <a:t>특허결정</a:t>
            </a:r>
            <a:r>
              <a:rPr lang="en-US" altLang="ko-KR" sz="1200" dirty="0">
                <a:solidFill>
                  <a:srgbClr val="FF0000"/>
                </a:solidFill>
              </a:rPr>
              <a:t>, </a:t>
            </a:r>
            <a:r>
              <a:rPr lang="ko-KR" altLang="en-US" sz="1200" dirty="0">
                <a:solidFill>
                  <a:srgbClr val="FF0000"/>
                </a:solidFill>
              </a:rPr>
              <a:t>등록된 것으로 보지만</a:t>
            </a:r>
            <a:r>
              <a:rPr lang="en-US" altLang="ko-KR" sz="1200" dirty="0">
                <a:solidFill>
                  <a:srgbClr val="FF0000"/>
                </a:solidFill>
              </a:rPr>
              <a:t>, </a:t>
            </a:r>
            <a:r>
              <a:rPr lang="ko-KR" altLang="en-US" sz="1200" dirty="0">
                <a:solidFill>
                  <a:srgbClr val="FF0000"/>
                </a:solidFill>
              </a:rPr>
              <a:t>특허결정은 </a:t>
            </a:r>
            <a:r>
              <a:rPr lang="ko-KR" altLang="en-US" sz="1200" dirty="0" err="1">
                <a:solidFill>
                  <a:srgbClr val="FF0000"/>
                </a:solidFill>
              </a:rPr>
              <a:t>심결취소소송에서</a:t>
            </a:r>
            <a:r>
              <a:rPr lang="ko-KR" altLang="en-US" sz="1200" dirty="0">
                <a:solidFill>
                  <a:srgbClr val="FF0000"/>
                </a:solidFill>
              </a:rPr>
              <a:t> 심리</a:t>
            </a:r>
            <a:r>
              <a:rPr lang="en-US" altLang="ko-KR" sz="1200" dirty="0">
                <a:solidFill>
                  <a:srgbClr val="FF0000"/>
                </a:solidFill>
              </a:rPr>
              <a:t>, </a:t>
            </a:r>
            <a:r>
              <a:rPr lang="ko-KR" altLang="en-US" sz="1200" dirty="0">
                <a:solidFill>
                  <a:srgbClr val="FF0000"/>
                </a:solidFill>
              </a:rPr>
              <a:t>판단해야 할 대상일 뿐 판결의 기초가 된 행정처분으로 볼 수 없기 때문에 민소법 제</a:t>
            </a:r>
            <a:r>
              <a:rPr lang="en-US" altLang="ko-KR" sz="1200" dirty="0">
                <a:solidFill>
                  <a:srgbClr val="FF0000"/>
                </a:solidFill>
              </a:rPr>
              <a:t>451</a:t>
            </a:r>
            <a:r>
              <a:rPr lang="ko-KR" altLang="en-US" sz="1200" dirty="0">
                <a:solidFill>
                  <a:srgbClr val="FF0000"/>
                </a:solidFill>
              </a:rPr>
              <a:t>조제</a:t>
            </a:r>
            <a:r>
              <a:rPr lang="en-US" altLang="ko-KR" sz="1200" dirty="0">
                <a:solidFill>
                  <a:srgbClr val="FF0000"/>
                </a:solidFill>
              </a:rPr>
              <a:t>1</a:t>
            </a:r>
            <a:r>
              <a:rPr lang="ko-KR" altLang="en-US" sz="1200" dirty="0" err="1">
                <a:solidFill>
                  <a:srgbClr val="FF0000"/>
                </a:solidFill>
              </a:rPr>
              <a:t>항제</a:t>
            </a:r>
            <a:r>
              <a:rPr lang="en-US" altLang="ko-KR" sz="1200" dirty="0">
                <a:solidFill>
                  <a:srgbClr val="FF0000"/>
                </a:solidFill>
              </a:rPr>
              <a:t>8</a:t>
            </a:r>
            <a:r>
              <a:rPr lang="ko-KR" altLang="en-US" sz="1200" dirty="0">
                <a:solidFill>
                  <a:srgbClr val="FF0000"/>
                </a:solidFill>
              </a:rPr>
              <a:t>호의 재심사유라는 할 수 없고</a:t>
            </a:r>
            <a:r>
              <a:rPr lang="en-US" altLang="ko-KR" sz="1200" dirty="0">
                <a:solidFill>
                  <a:srgbClr val="FF0000"/>
                </a:solidFill>
              </a:rPr>
              <a:t>, </a:t>
            </a:r>
            <a:r>
              <a:rPr lang="ko-KR" altLang="en-US" sz="1200" dirty="0">
                <a:solidFill>
                  <a:srgbClr val="FF0000"/>
                </a:solidFill>
              </a:rPr>
              <a:t>따라서 법률심인 대법원에서는 정정 전 특허발명에 의하여 다른 법령 위반이 존재하는지 판단함</a:t>
            </a:r>
            <a:r>
              <a:rPr lang="en-US" altLang="ko-KR" sz="1200" dirty="0">
                <a:solidFill>
                  <a:srgbClr val="FF0000"/>
                </a:solidFill>
              </a:rPr>
              <a:t>. </a:t>
            </a:r>
            <a:r>
              <a:rPr lang="ko-KR" altLang="en-US" sz="1200" dirty="0">
                <a:solidFill>
                  <a:srgbClr val="FF0000"/>
                </a:solidFill>
              </a:rPr>
              <a:t>만일 법령위반이 존재하여 대법원에서 </a:t>
            </a:r>
            <a:r>
              <a:rPr lang="ko-KR" altLang="en-US" sz="1200" dirty="0" err="1">
                <a:solidFill>
                  <a:srgbClr val="FF0000"/>
                </a:solidFill>
              </a:rPr>
              <a:t>파기환송하면</a:t>
            </a:r>
            <a:r>
              <a:rPr lang="ko-KR" altLang="en-US" sz="1200" dirty="0">
                <a:solidFill>
                  <a:srgbClr val="FF0000"/>
                </a:solidFill>
              </a:rPr>
              <a:t> 사실심인 특허법원에서 </a:t>
            </a:r>
            <a:r>
              <a:rPr lang="ko-KR" altLang="en-US" sz="1200" dirty="0">
                <a:solidFill>
                  <a:srgbClr val="FF0000"/>
                </a:solidFill>
                <a:highlight>
                  <a:srgbClr val="FFFF00"/>
                </a:highlight>
              </a:rPr>
              <a:t>정정 후 명세서 또는 도면</a:t>
            </a:r>
            <a:r>
              <a:rPr lang="ko-KR" altLang="en-US" sz="1200" dirty="0">
                <a:solidFill>
                  <a:srgbClr val="FF0000"/>
                </a:solidFill>
              </a:rPr>
              <a:t>을 대상으로 무효사유를 심리함</a:t>
            </a:r>
            <a:r>
              <a:rPr lang="en-US" altLang="ko-KR" sz="1200" dirty="0">
                <a:solidFill>
                  <a:srgbClr val="FF0000"/>
                </a:solidFill>
              </a:rPr>
              <a:t>. </a:t>
            </a:r>
            <a:r>
              <a:rPr lang="ko-KR" altLang="en-US" sz="1200" dirty="0">
                <a:solidFill>
                  <a:srgbClr val="FF0000"/>
                </a:solidFill>
              </a:rPr>
              <a:t>법령위반이 존재하지 않아서 기각판결이 선고되면 </a:t>
            </a:r>
            <a:r>
              <a:rPr lang="ko-KR" altLang="en-US" sz="1200" dirty="0">
                <a:solidFill>
                  <a:srgbClr val="FF0000"/>
                </a:solidFill>
                <a:highlight>
                  <a:srgbClr val="FFFF00"/>
                </a:highlight>
              </a:rPr>
              <a:t>정정심판의 </a:t>
            </a:r>
            <a:r>
              <a:rPr lang="ko-KR" altLang="en-US" sz="1200" dirty="0" err="1">
                <a:solidFill>
                  <a:srgbClr val="FF0000"/>
                </a:solidFill>
                <a:highlight>
                  <a:srgbClr val="FFFF00"/>
                </a:highlight>
              </a:rPr>
              <a:t>인용심결확정은</a:t>
            </a:r>
            <a:r>
              <a:rPr lang="ko-KR" altLang="en-US" sz="1200" dirty="0">
                <a:solidFill>
                  <a:srgbClr val="FF0000"/>
                </a:solidFill>
                <a:highlight>
                  <a:srgbClr val="FFFF00"/>
                </a:highlight>
              </a:rPr>
              <a:t> 무의미한 절차 진행</a:t>
            </a:r>
            <a:r>
              <a:rPr lang="ko-KR" altLang="en-US" sz="1200" dirty="0">
                <a:solidFill>
                  <a:srgbClr val="FF0000"/>
                </a:solidFill>
              </a:rPr>
              <a:t>이 됨</a:t>
            </a:r>
          </a:p>
        </p:txBody>
      </p:sp>
      <p:sp>
        <p:nvSpPr>
          <p:cNvPr id="90" name="Rectangle 14">
            <a:extLst>
              <a:ext uri="{FF2B5EF4-FFF2-40B4-BE49-F238E27FC236}">
                <a16:creationId xmlns:a16="http://schemas.microsoft.com/office/drawing/2014/main" id="{E387AECE-B755-4120-8995-CA02D1DD06D9}"/>
              </a:ext>
            </a:extLst>
          </p:cNvPr>
          <p:cNvSpPr>
            <a:spLocks noChangeArrowheads="1"/>
          </p:cNvSpPr>
          <p:nvPr/>
        </p:nvSpPr>
        <p:spPr bwMode="auto">
          <a:xfrm flipV="1">
            <a:off x="3593989" y="3998674"/>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1" name="TextBox 90">
            <a:extLst>
              <a:ext uri="{FF2B5EF4-FFF2-40B4-BE49-F238E27FC236}">
                <a16:creationId xmlns:a16="http://schemas.microsoft.com/office/drawing/2014/main" id="{FFF1C778-882F-4DF9-9021-0F8B474BB2CE}"/>
              </a:ext>
            </a:extLst>
          </p:cNvPr>
          <p:cNvSpPr txBox="1"/>
          <p:nvPr/>
        </p:nvSpPr>
        <p:spPr>
          <a:xfrm>
            <a:off x="2977169" y="4317464"/>
            <a:ext cx="1370694"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정정심판청구</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乙</a:t>
            </a:r>
            <a:r>
              <a:rPr lang="en-US" altLang="ko-KR" sz="1200" dirty="0"/>
              <a:t>)</a:t>
            </a:r>
            <a:endParaRPr lang="ko-KR" altLang="en-US" sz="1200" dirty="0"/>
          </a:p>
        </p:txBody>
      </p:sp>
      <p:cxnSp>
        <p:nvCxnSpPr>
          <p:cNvPr id="95" name="직선 연결선 94">
            <a:extLst>
              <a:ext uri="{FF2B5EF4-FFF2-40B4-BE49-F238E27FC236}">
                <a16:creationId xmlns:a16="http://schemas.microsoft.com/office/drawing/2014/main" id="{6B9CA08D-F7C1-4B53-A498-15D5B39BEB12}"/>
              </a:ext>
            </a:extLst>
          </p:cNvPr>
          <p:cNvCxnSpPr>
            <a:cxnSpLocks/>
            <a:stCxn id="91" idx="0"/>
            <a:endCxn id="90" idx="0"/>
          </p:cNvCxnSpPr>
          <p:nvPr/>
        </p:nvCxnSpPr>
        <p:spPr>
          <a:xfrm flipV="1">
            <a:off x="3662516" y="4151736"/>
            <a:ext cx="2911" cy="1657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직사각형 8">
            <a:extLst>
              <a:ext uri="{FF2B5EF4-FFF2-40B4-BE49-F238E27FC236}">
                <a16:creationId xmlns:a16="http://schemas.microsoft.com/office/drawing/2014/main" id="{1A97675E-8DCA-4F36-ABFC-C2BD43DE37A0}"/>
              </a:ext>
            </a:extLst>
          </p:cNvPr>
          <p:cNvSpPr/>
          <p:nvPr/>
        </p:nvSpPr>
        <p:spPr>
          <a:xfrm>
            <a:off x="151963" y="4889816"/>
            <a:ext cx="11899139" cy="1938992"/>
          </a:xfrm>
          <a:prstGeom prst="rect">
            <a:avLst/>
          </a:prstGeom>
          <a:ln>
            <a:solidFill>
              <a:schemeClr val="bg1">
                <a:lumMod val="50000"/>
              </a:schemeClr>
            </a:solidFill>
          </a:ln>
        </p:spPr>
        <p:txBody>
          <a:bodyPr wrap="square">
            <a:spAutoFit/>
          </a:bodyPr>
          <a:lstStyle/>
          <a:p>
            <a:r>
              <a:rPr lang="ko-KR" altLang="en-US" sz="1200" dirty="0"/>
              <a:t>민사소송법 제</a:t>
            </a:r>
            <a:r>
              <a:rPr lang="en-US" altLang="ko-KR" sz="1200" dirty="0"/>
              <a:t>451</a:t>
            </a:r>
            <a:r>
              <a:rPr lang="ko-KR" altLang="en-US" sz="1200" dirty="0"/>
              <a:t>조 제</a:t>
            </a:r>
            <a:r>
              <a:rPr lang="en-US" altLang="ko-KR" sz="1200" dirty="0"/>
              <a:t>1</a:t>
            </a:r>
            <a:r>
              <a:rPr lang="ko-KR" altLang="en-US" sz="1200" dirty="0"/>
              <a:t>항 제</a:t>
            </a:r>
            <a:r>
              <a:rPr lang="en-US" altLang="ko-KR" sz="1200" dirty="0"/>
              <a:t>8</a:t>
            </a:r>
            <a:r>
              <a:rPr lang="ko-KR" altLang="en-US" sz="1200" dirty="0"/>
              <a:t>호의 “판결의 기초로 된 행정처분이 다른 행정처분에 의하여 변경된 </a:t>
            </a:r>
            <a:r>
              <a:rPr lang="ko-KR" altLang="en-US" sz="1200" dirty="0" err="1"/>
              <a:t>때”라는</a:t>
            </a:r>
            <a:r>
              <a:rPr lang="ko-KR" altLang="en-US" sz="1200" dirty="0"/>
              <a:t> 재심사유는</a:t>
            </a:r>
            <a:r>
              <a:rPr lang="en-US" altLang="ko-KR" sz="1200" dirty="0"/>
              <a:t>, </a:t>
            </a:r>
            <a:r>
              <a:rPr lang="ko-KR" altLang="en-US" sz="1200" dirty="0"/>
              <a:t>판결의 심리</a:t>
            </a:r>
            <a:r>
              <a:rPr lang="en-US" altLang="ko-KR" sz="1200" dirty="0"/>
              <a:t>·</a:t>
            </a:r>
            <a:r>
              <a:rPr lang="ko-KR" altLang="en-US" sz="1200" dirty="0"/>
              <a:t>판단 대상이 되는 행정처분 그 자체가 그 후 다른 행정처분에 의하여 확정적</a:t>
            </a:r>
            <a:r>
              <a:rPr lang="en-US" altLang="ko-KR" sz="1200" dirty="0"/>
              <a:t>·</a:t>
            </a:r>
            <a:r>
              <a:rPr lang="ko-KR" altLang="en-US" sz="1200" dirty="0"/>
              <a:t>소급적으로 변경된 경우를 말하는 것이 아니고</a:t>
            </a:r>
            <a:r>
              <a:rPr lang="en-US" altLang="ko-KR" sz="1200" dirty="0"/>
              <a:t>, ⅰ) </a:t>
            </a:r>
            <a:r>
              <a:rPr lang="ko-KR" altLang="en-US" sz="1200" dirty="0"/>
              <a:t>확정판결에 법률적으로 구속력을 미치거나 또는 그 확정판결에서 사실인정의 자료가 된 행정처분이 다른 행정처분에 의하여 </a:t>
            </a:r>
            <a:r>
              <a:rPr lang="en-US" altLang="ko-KR" sz="1200" dirty="0"/>
              <a:t>ⅱ) </a:t>
            </a:r>
            <a:r>
              <a:rPr lang="ko-KR" altLang="en-US" sz="1200" dirty="0"/>
              <a:t>확정적</a:t>
            </a:r>
            <a:r>
              <a:rPr lang="en-US" altLang="ko-KR" sz="1200" dirty="0"/>
              <a:t>· ⅲ) </a:t>
            </a:r>
            <a:r>
              <a:rPr lang="ko-KR" altLang="en-US" sz="1200" dirty="0"/>
              <a:t>소급적으로 변경된 경우를 말하는 것인데</a:t>
            </a:r>
            <a:r>
              <a:rPr lang="en-US" altLang="ko-KR" sz="1200" dirty="0"/>
              <a:t>, ⅰ) </a:t>
            </a:r>
            <a:r>
              <a:rPr lang="ko-KR" altLang="en-US" sz="1200" dirty="0"/>
              <a:t>심결과의 관계에서 원처분으로 볼 수 있는 특허결정은 </a:t>
            </a:r>
            <a:r>
              <a:rPr lang="ko-KR" altLang="en-US" sz="1200" dirty="0" err="1"/>
              <a:t>심결취소소송에서</a:t>
            </a:r>
            <a:r>
              <a:rPr lang="ko-KR" altLang="en-US" sz="1200" dirty="0"/>
              <a:t> 심리</a:t>
            </a:r>
            <a:r>
              <a:rPr lang="en-US" altLang="ko-KR" sz="1200" dirty="0"/>
              <a:t>·</a:t>
            </a:r>
            <a:r>
              <a:rPr lang="ko-KR" altLang="en-US" sz="1200" dirty="0"/>
              <a:t>판단해야 하는 대상이지 판결의 기초가 되는 행정처분으로 볼 수 없다는 점</a:t>
            </a:r>
            <a:r>
              <a:rPr lang="en-US" altLang="ko-KR" sz="1200" dirty="0"/>
              <a:t>, ⅱ) </a:t>
            </a:r>
            <a:r>
              <a:rPr lang="ko-KR" altLang="en-US" sz="1200" dirty="0"/>
              <a:t>정정이 종전 특허발명과 실질적 동일성을 유지하는 것을 전제로 하는 것이고</a:t>
            </a:r>
            <a:r>
              <a:rPr lang="en-US" altLang="ko-KR" sz="1200" dirty="0"/>
              <a:t>, </a:t>
            </a:r>
            <a:r>
              <a:rPr lang="ko-KR" altLang="en-US" sz="1200" dirty="0" err="1"/>
              <a:t>정정심결이</a:t>
            </a:r>
            <a:r>
              <a:rPr lang="ko-KR" altLang="en-US" sz="1200" dirty="0"/>
              <a:t> 확정되더라도 일사부재리가 적용되지 않고</a:t>
            </a:r>
            <a:r>
              <a:rPr lang="en-US" altLang="ko-KR" sz="1200" dirty="0"/>
              <a:t>, </a:t>
            </a:r>
            <a:r>
              <a:rPr lang="ko-KR" altLang="en-US" sz="1200" dirty="0"/>
              <a:t>정정무효심판에 의해 다툴 수 있기 때문에 정정 전의 명세서 등에 따른 특허발명의 내용이 확정적으로 변경되었다고 단정할 수 없는 점</a:t>
            </a:r>
            <a:r>
              <a:rPr lang="en-US" altLang="ko-KR" sz="1200" dirty="0"/>
              <a:t>, ⅲ) </a:t>
            </a:r>
            <a:r>
              <a:rPr lang="ko-KR" altLang="en-US" sz="1200" dirty="0"/>
              <a:t>특허법 제</a:t>
            </a:r>
            <a:r>
              <a:rPr lang="en-US" altLang="ko-KR" sz="1200" dirty="0"/>
              <a:t>136</a:t>
            </a:r>
            <a:r>
              <a:rPr lang="ko-KR" altLang="en-US" sz="1200" dirty="0"/>
              <a:t>조 제</a:t>
            </a:r>
            <a:r>
              <a:rPr lang="en-US" altLang="ko-KR" sz="1200" dirty="0"/>
              <a:t>10</a:t>
            </a:r>
            <a:r>
              <a:rPr lang="ko-KR" altLang="en-US" sz="1200" dirty="0"/>
              <a:t>항에서 규정한 정정의 소급효는 사후적으로 명세서 등을 정정하더라도 이미 진행된 특허심사</a:t>
            </a:r>
            <a:r>
              <a:rPr lang="en-US" altLang="ko-KR" sz="1200" dirty="0"/>
              <a:t>·</a:t>
            </a:r>
            <a:r>
              <a:rPr lang="ko-KR" altLang="en-US" sz="1200" dirty="0"/>
              <a:t>심판절차의 내용과 효력을 정정 후 명세서 등에 일체성을 유지하면서 </a:t>
            </a:r>
            <a:r>
              <a:rPr lang="ko-KR" altLang="en-US" sz="1200" dirty="0" err="1"/>
              <a:t>승계시킴으로써</a:t>
            </a:r>
            <a:r>
              <a:rPr lang="ko-KR" altLang="en-US" sz="1200" dirty="0"/>
              <a:t> 특허심사</a:t>
            </a:r>
            <a:r>
              <a:rPr lang="en-US" altLang="ko-KR" sz="1200" dirty="0"/>
              <a:t>·</a:t>
            </a:r>
            <a:r>
              <a:rPr lang="ko-KR" altLang="en-US" sz="1200" dirty="0"/>
              <a:t>심판절차와 조화를 유지하면서 정정제도의 실효성을 추구하고 특허권자가 정정으로 인해 불이익을 받지 않도록 한 것이지</a:t>
            </a:r>
            <a:r>
              <a:rPr lang="en-US" altLang="ko-KR" sz="1200" dirty="0"/>
              <a:t>, </a:t>
            </a:r>
            <a:r>
              <a:rPr lang="ko-KR" altLang="en-US" sz="1200" dirty="0"/>
              <a:t>정정 전의 명세서 등에 따라 발생된 모든 공법적</a:t>
            </a:r>
            <a:r>
              <a:rPr lang="en-US" altLang="ko-KR" sz="1200" dirty="0"/>
              <a:t>, </a:t>
            </a:r>
            <a:r>
              <a:rPr lang="ko-KR" altLang="en-US" sz="1200" dirty="0"/>
              <a:t>사법적 법률관계를 소급적으로 변경시킨다는 취지로 해석하기 어렵다는 점</a:t>
            </a:r>
            <a:r>
              <a:rPr lang="en-US" altLang="ko-KR" sz="1200" dirty="0"/>
              <a:t>, ⅳ) </a:t>
            </a:r>
            <a:r>
              <a:rPr lang="ko-KR" altLang="en-US" sz="1200" dirty="0"/>
              <a:t>사실심 변론종결 후에 확정된 </a:t>
            </a:r>
            <a:r>
              <a:rPr lang="ko-KR" altLang="en-US" sz="1200" dirty="0" err="1"/>
              <a:t>정정심결에</a:t>
            </a:r>
            <a:r>
              <a:rPr lang="ko-KR" altLang="en-US" sz="1200" dirty="0"/>
              <a:t> 따라 청구의 원인이 변경되었다는 이유로 사실심의 판단을 다툴 수 있도록 하는 것은 소송절차와 분쟁의 해결을 현저하게 지연시키는 것인데</a:t>
            </a:r>
            <a:r>
              <a:rPr lang="en-US" altLang="ko-KR" sz="1200" dirty="0"/>
              <a:t>, </a:t>
            </a:r>
            <a:r>
              <a:rPr lang="ko-KR" altLang="en-US" sz="1200" dirty="0"/>
              <a:t>민사소송법 제</a:t>
            </a:r>
            <a:r>
              <a:rPr lang="en-US" altLang="ko-KR" sz="1200" dirty="0"/>
              <a:t>1</a:t>
            </a:r>
            <a:r>
              <a:rPr lang="ko-KR" altLang="en-US" sz="1200" dirty="0"/>
              <a:t>조 제</a:t>
            </a:r>
            <a:r>
              <a:rPr lang="en-US" altLang="ko-KR" sz="1200" dirty="0"/>
              <a:t>1</a:t>
            </a:r>
            <a:r>
              <a:rPr lang="ko-KR" altLang="en-US" sz="1200" dirty="0"/>
              <a:t>항에서 “법원은 소송절차가 공정하고 신속하며 경제적으로 진행되도록 노력하여야 한다</a:t>
            </a:r>
            <a:r>
              <a:rPr lang="en-US" altLang="ko-KR" sz="1200" dirty="0"/>
              <a:t>.”</a:t>
            </a:r>
            <a:r>
              <a:rPr lang="ko-KR" altLang="en-US" sz="1200" dirty="0"/>
              <a:t>라고 규정한 공정</a:t>
            </a:r>
            <a:r>
              <a:rPr lang="en-US" altLang="ko-KR" sz="1200" dirty="0"/>
              <a:t>·</a:t>
            </a:r>
            <a:r>
              <a:rPr lang="ko-KR" altLang="en-US" sz="1200" dirty="0"/>
              <a:t>신속</a:t>
            </a:r>
            <a:r>
              <a:rPr lang="en-US" altLang="ko-KR" sz="1200" dirty="0"/>
              <a:t>·</a:t>
            </a:r>
            <a:r>
              <a:rPr lang="ko-KR" altLang="en-US" sz="1200" dirty="0"/>
              <a:t>경제라는 민사소송의 이상에 비춰 당사자에 의한 소송지연을 적절히 방지할 필요성이 있다는 점을 그 근거로 하고 있다</a:t>
            </a:r>
            <a:r>
              <a:rPr lang="en-US" altLang="ko-KR" sz="1200" dirty="0"/>
              <a:t>. </a:t>
            </a:r>
            <a:endParaRPr lang="ko-KR" altLang="en-US" sz="1200" dirty="0"/>
          </a:p>
        </p:txBody>
      </p:sp>
    </p:spTree>
    <p:extLst>
      <p:ext uri="{BB962C8B-B14F-4D97-AF65-F5344CB8AC3E}">
        <p14:creationId xmlns:p14="http://schemas.microsoft.com/office/powerpoint/2010/main" val="2000124283"/>
      </p:ext>
    </p:extLst>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136</a:t>
            </a:r>
            <a:r>
              <a:rPr lang="ko-KR" altLang="en-US" dirty="0"/>
              <a:t>조</a:t>
            </a:r>
          </a:p>
        </p:txBody>
      </p:sp>
      <p:sp>
        <p:nvSpPr>
          <p:cNvPr id="4" name="텍스트 개체 틀 3"/>
          <p:cNvSpPr>
            <a:spLocks noGrp="1"/>
          </p:cNvSpPr>
          <p:nvPr>
            <p:ph type="body" sz="quarter" idx="13"/>
          </p:nvPr>
        </p:nvSpPr>
        <p:spPr/>
        <p:txBody>
          <a:bodyPr/>
          <a:lstStyle/>
          <a:p>
            <a:r>
              <a:rPr lang="ko-KR" altLang="en-US" dirty="0"/>
              <a:t>대법원 </a:t>
            </a:r>
            <a:r>
              <a:rPr lang="en-US" altLang="ko-KR" dirty="0"/>
              <a:t>2020. 1. 22. </a:t>
            </a:r>
            <a:r>
              <a:rPr lang="ko-KR" altLang="en-US" dirty="0"/>
              <a:t>선고 </a:t>
            </a:r>
            <a:r>
              <a:rPr lang="en-US" altLang="ko-KR" dirty="0"/>
              <a:t>2016</a:t>
            </a:r>
            <a:r>
              <a:rPr lang="ko-KR" altLang="en-US" dirty="0"/>
              <a:t>후</a:t>
            </a:r>
            <a:r>
              <a:rPr lang="en-US" altLang="ko-KR" dirty="0"/>
              <a:t>2522 </a:t>
            </a:r>
            <a:r>
              <a:rPr lang="ko-KR" altLang="en-US" dirty="0"/>
              <a:t>전원합의체</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87" name="직선 연결선 86">
            <a:extLst>
              <a:ext uri="{FF2B5EF4-FFF2-40B4-BE49-F238E27FC236}">
                <a16:creationId xmlns:a16="http://schemas.microsoft.com/office/drawing/2014/main" id="{AC9C571E-4073-47B8-AACC-BF02C445C645}"/>
              </a:ext>
            </a:extLst>
          </p:cNvPr>
          <p:cNvCxnSpPr>
            <a:cxnSpLocks/>
          </p:cNvCxnSpPr>
          <p:nvPr/>
        </p:nvCxnSpPr>
        <p:spPr>
          <a:xfrm>
            <a:off x="5457860" y="2375018"/>
            <a:ext cx="0" cy="3616207"/>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직선 연결선 87">
            <a:extLst>
              <a:ext uri="{FF2B5EF4-FFF2-40B4-BE49-F238E27FC236}">
                <a16:creationId xmlns:a16="http://schemas.microsoft.com/office/drawing/2014/main" id="{8B44E4C6-FF14-40B1-9742-F6D047AE39AA}"/>
              </a:ext>
            </a:extLst>
          </p:cNvPr>
          <p:cNvCxnSpPr>
            <a:cxnSpLocks/>
          </p:cNvCxnSpPr>
          <p:nvPr/>
        </p:nvCxnSpPr>
        <p:spPr>
          <a:xfrm flipH="1">
            <a:off x="8879058" y="2375018"/>
            <a:ext cx="72494" cy="3616207"/>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사각형: 둥근 모서리 4">
            <a:extLst>
              <a:ext uri="{FF2B5EF4-FFF2-40B4-BE49-F238E27FC236}">
                <a16:creationId xmlns:a16="http://schemas.microsoft.com/office/drawing/2014/main" id="{5B83F9AE-0B3C-432A-B4CB-2617CBE508CB}"/>
              </a:ext>
            </a:extLst>
          </p:cNvPr>
          <p:cNvSpPr/>
          <p:nvPr/>
        </p:nvSpPr>
        <p:spPr>
          <a:xfrm>
            <a:off x="179245" y="6123567"/>
            <a:ext cx="464921" cy="284668"/>
          </a:xfrm>
          <a:prstGeom prst="roundRect">
            <a:avLst>
              <a:gd name="adj" fmla="val 50000"/>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ko-KR" altLang="en-US"/>
          </a:p>
        </p:txBody>
      </p:sp>
      <p:sp>
        <p:nvSpPr>
          <p:cNvPr id="7" name="TextBox 6">
            <a:extLst>
              <a:ext uri="{FF2B5EF4-FFF2-40B4-BE49-F238E27FC236}">
                <a16:creationId xmlns:a16="http://schemas.microsoft.com/office/drawing/2014/main" id="{A001725E-6BAB-463D-9DEC-E0E656EFB7F7}"/>
              </a:ext>
            </a:extLst>
          </p:cNvPr>
          <p:cNvSpPr txBox="1"/>
          <p:nvPr/>
        </p:nvSpPr>
        <p:spPr>
          <a:xfrm>
            <a:off x="631229" y="6106465"/>
            <a:ext cx="1959191" cy="338554"/>
          </a:xfrm>
          <a:prstGeom prst="rect">
            <a:avLst/>
          </a:prstGeom>
          <a:noFill/>
        </p:spPr>
        <p:txBody>
          <a:bodyPr wrap="none" rtlCol="0">
            <a:spAutoFit/>
          </a:bodyPr>
          <a:lstStyle/>
          <a:p>
            <a:r>
              <a:rPr lang="ko-KR" altLang="en-US" sz="1600" dirty="0"/>
              <a:t>대법원 판단이 도움됨</a:t>
            </a:r>
          </a:p>
        </p:txBody>
      </p:sp>
      <p:sp>
        <p:nvSpPr>
          <p:cNvPr id="90" name="사각형: 둥근 모서리 89">
            <a:extLst>
              <a:ext uri="{FF2B5EF4-FFF2-40B4-BE49-F238E27FC236}">
                <a16:creationId xmlns:a16="http://schemas.microsoft.com/office/drawing/2014/main" id="{E050F34A-7AF2-41B4-ACB1-B855C1D69DA6}"/>
              </a:ext>
            </a:extLst>
          </p:cNvPr>
          <p:cNvSpPr/>
          <p:nvPr/>
        </p:nvSpPr>
        <p:spPr>
          <a:xfrm>
            <a:off x="192182" y="6492899"/>
            <a:ext cx="464921" cy="284668"/>
          </a:xfrm>
          <a:prstGeom prst="roundRect">
            <a:avLst>
              <a:gd name="adj" fmla="val 50000"/>
            </a:avLst>
          </a:prstGeom>
          <a:solidFill>
            <a:schemeClr val="tx2">
              <a:lumMod val="75000"/>
            </a:schemeClr>
          </a:solidFill>
          <a:ln>
            <a:solidFill>
              <a:schemeClr val="bg1">
                <a:lumMod val="50000"/>
              </a:schemeClr>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ko-KR" altLang="en-US"/>
          </a:p>
        </p:txBody>
      </p:sp>
      <p:sp>
        <p:nvSpPr>
          <p:cNvPr id="91" name="TextBox 90">
            <a:extLst>
              <a:ext uri="{FF2B5EF4-FFF2-40B4-BE49-F238E27FC236}">
                <a16:creationId xmlns:a16="http://schemas.microsoft.com/office/drawing/2014/main" id="{03E29A3B-D202-44B0-9C84-FA35BFCE6CCB}"/>
              </a:ext>
            </a:extLst>
          </p:cNvPr>
          <p:cNvSpPr txBox="1"/>
          <p:nvPr/>
        </p:nvSpPr>
        <p:spPr>
          <a:xfrm>
            <a:off x="644166" y="6475797"/>
            <a:ext cx="1959191" cy="338554"/>
          </a:xfrm>
          <a:prstGeom prst="rect">
            <a:avLst/>
          </a:prstGeom>
          <a:noFill/>
        </p:spPr>
        <p:txBody>
          <a:bodyPr wrap="none" rtlCol="0">
            <a:spAutoFit/>
          </a:bodyPr>
          <a:lstStyle/>
          <a:p>
            <a:r>
              <a:rPr lang="ko-KR" altLang="en-US" sz="1600" dirty="0"/>
              <a:t>대법원 판단이 무용함</a:t>
            </a:r>
          </a:p>
        </p:txBody>
      </p:sp>
      <p:grpSp>
        <p:nvGrpSpPr>
          <p:cNvPr id="8" name="그룹 7">
            <a:extLst>
              <a:ext uri="{FF2B5EF4-FFF2-40B4-BE49-F238E27FC236}">
                <a16:creationId xmlns:a16="http://schemas.microsoft.com/office/drawing/2014/main" id="{C3BBAC17-4293-AB12-5469-9905C242D00C}"/>
              </a:ext>
            </a:extLst>
          </p:cNvPr>
          <p:cNvGrpSpPr/>
          <p:nvPr/>
        </p:nvGrpSpPr>
        <p:grpSpPr>
          <a:xfrm>
            <a:off x="250166" y="756749"/>
            <a:ext cx="11542766" cy="5301152"/>
            <a:chOff x="250166" y="748556"/>
            <a:chExt cx="11542766" cy="5755761"/>
          </a:xfrm>
        </p:grpSpPr>
        <p:sp>
          <p:nvSpPr>
            <p:cNvPr id="37" name="Line 5">
              <a:extLst>
                <a:ext uri="{FF2B5EF4-FFF2-40B4-BE49-F238E27FC236}">
                  <a16:creationId xmlns:a16="http://schemas.microsoft.com/office/drawing/2014/main" id="{5A0D8249-494D-4FCD-ACE6-28800FE2151B}"/>
                </a:ext>
              </a:extLst>
            </p:cNvPr>
            <p:cNvSpPr>
              <a:spLocks noChangeShapeType="1"/>
            </p:cNvSpPr>
            <p:nvPr/>
          </p:nvSpPr>
          <p:spPr bwMode="auto">
            <a:xfrm>
              <a:off x="328662" y="1656205"/>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39" name="타원 38">
              <a:extLst>
                <a:ext uri="{FF2B5EF4-FFF2-40B4-BE49-F238E27FC236}">
                  <a16:creationId xmlns:a16="http://schemas.microsoft.com/office/drawing/2014/main" id="{B092C759-EA02-4978-AF67-640484427C65}"/>
                </a:ext>
              </a:extLst>
            </p:cNvPr>
            <p:cNvSpPr/>
            <p:nvPr/>
          </p:nvSpPr>
          <p:spPr>
            <a:xfrm>
              <a:off x="1857620" y="1565108"/>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40" name="직선 화살표 연결선 39">
              <a:extLst>
                <a:ext uri="{FF2B5EF4-FFF2-40B4-BE49-F238E27FC236}">
                  <a16:creationId xmlns:a16="http://schemas.microsoft.com/office/drawing/2014/main" id="{1366CD4D-BB42-486F-818E-79B502401E64}"/>
                </a:ext>
              </a:extLst>
            </p:cNvPr>
            <p:cNvCxnSpPr>
              <a:cxnSpLocks/>
              <a:stCxn id="45" idx="0"/>
              <a:endCxn id="39" idx="4"/>
            </p:cNvCxnSpPr>
            <p:nvPr/>
          </p:nvCxnSpPr>
          <p:spPr>
            <a:xfrm flipH="1" flipV="1">
              <a:off x="1934989" y="1726446"/>
              <a:ext cx="1" cy="13163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1" name="타원 40">
              <a:extLst>
                <a:ext uri="{FF2B5EF4-FFF2-40B4-BE49-F238E27FC236}">
                  <a16:creationId xmlns:a16="http://schemas.microsoft.com/office/drawing/2014/main" id="{E22FE7A0-830C-4310-9B6D-FCCF31EBC3E4}"/>
                </a:ext>
              </a:extLst>
            </p:cNvPr>
            <p:cNvSpPr/>
            <p:nvPr/>
          </p:nvSpPr>
          <p:spPr>
            <a:xfrm>
              <a:off x="3532641" y="1565108"/>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42" name="직선 화살표 연결선 41">
              <a:extLst>
                <a:ext uri="{FF2B5EF4-FFF2-40B4-BE49-F238E27FC236}">
                  <a16:creationId xmlns:a16="http://schemas.microsoft.com/office/drawing/2014/main" id="{5D30D9B3-CF66-45EC-A91B-EC92210A0270}"/>
                </a:ext>
              </a:extLst>
            </p:cNvPr>
            <p:cNvCxnSpPr>
              <a:cxnSpLocks/>
              <a:stCxn id="46" idx="0"/>
              <a:endCxn id="41" idx="4"/>
            </p:cNvCxnSpPr>
            <p:nvPr/>
          </p:nvCxnSpPr>
          <p:spPr>
            <a:xfrm flipH="1" flipV="1">
              <a:off x="3610010" y="1726446"/>
              <a:ext cx="1" cy="13163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3" name="타원 42">
              <a:extLst>
                <a:ext uri="{FF2B5EF4-FFF2-40B4-BE49-F238E27FC236}">
                  <a16:creationId xmlns:a16="http://schemas.microsoft.com/office/drawing/2014/main" id="{65411025-5E57-4548-BA96-333C9DC4AAA1}"/>
                </a:ext>
              </a:extLst>
            </p:cNvPr>
            <p:cNvSpPr/>
            <p:nvPr/>
          </p:nvSpPr>
          <p:spPr>
            <a:xfrm>
              <a:off x="8879058" y="1565108"/>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44" name="직선 화살표 연결선 43">
              <a:extLst>
                <a:ext uri="{FF2B5EF4-FFF2-40B4-BE49-F238E27FC236}">
                  <a16:creationId xmlns:a16="http://schemas.microsoft.com/office/drawing/2014/main" id="{E7D248EE-8609-4D50-A638-837857FE611A}"/>
                </a:ext>
              </a:extLst>
            </p:cNvPr>
            <p:cNvCxnSpPr>
              <a:cxnSpLocks/>
              <a:stCxn id="47" idx="0"/>
              <a:endCxn id="43" idx="4"/>
            </p:cNvCxnSpPr>
            <p:nvPr/>
          </p:nvCxnSpPr>
          <p:spPr>
            <a:xfrm flipH="1" flipV="1">
              <a:off x="8956427" y="1726446"/>
              <a:ext cx="1" cy="13163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94063B3B-DFB3-4F41-9D4F-FC033BDE7A1F}"/>
                </a:ext>
              </a:extLst>
            </p:cNvPr>
            <p:cNvSpPr txBox="1"/>
            <p:nvPr/>
          </p:nvSpPr>
          <p:spPr>
            <a:xfrm>
              <a:off x="1301520" y="1858080"/>
              <a:ext cx="1266940" cy="430678"/>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특허심판원 </a:t>
              </a:r>
              <a:r>
                <a:rPr lang="ko-KR" altLang="en-US" sz="1200" dirty="0" err="1">
                  <a:solidFill>
                    <a:schemeClr val="tx1"/>
                  </a:solidFill>
                  <a:latin typeface="+mn-ea"/>
                </a:rPr>
                <a:t>심결</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특허무효심판</a:t>
              </a:r>
              <a:r>
                <a:rPr lang="en-US" altLang="ko-KR" sz="1200" dirty="0">
                  <a:solidFill>
                    <a:schemeClr val="tx1"/>
                  </a:solidFill>
                  <a:latin typeface="+mn-ea"/>
                </a:rPr>
                <a:t>)</a:t>
              </a:r>
            </a:p>
          </p:txBody>
        </p:sp>
        <p:sp>
          <p:nvSpPr>
            <p:cNvPr id="46" name="TextBox 45">
              <a:extLst>
                <a:ext uri="{FF2B5EF4-FFF2-40B4-BE49-F238E27FC236}">
                  <a16:creationId xmlns:a16="http://schemas.microsoft.com/office/drawing/2014/main" id="{FEF2CE4D-7655-4E71-BDA9-26FCB6BB196D}"/>
                </a:ext>
              </a:extLst>
            </p:cNvPr>
            <p:cNvSpPr txBox="1"/>
            <p:nvPr/>
          </p:nvSpPr>
          <p:spPr>
            <a:xfrm>
              <a:off x="2976541" y="1858080"/>
              <a:ext cx="1266940" cy="430678"/>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특허법원</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취소소송제기</a:t>
              </a:r>
              <a:r>
                <a:rPr lang="en-US" altLang="ko-KR" sz="1200" dirty="0">
                  <a:solidFill>
                    <a:schemeClr val="tx1"/>
                  </a:solidFill>
                  <a:latin typeface="+mn-ea"/>
                </a:rPr>
                <a:t>)</a:t>
              </a:r>
            </a:p>
          </p:txBody>
        </p:sp>
        <p:sp>
          <p:nvSpPr>
            <p:cNvPr id="47" name="TextBox 46">
              <a:extLst>
                <a:ext uri="{FF2B5EF4-FFF2-40B4-BE49-F238E27FC236}">
                  <a16:creationId xmlns:a16="http://schemas.microsoft.com/office/drawing/2014/main" id="{38E38463-991A-4552-A09B-C43E0C1DD4EE}"/>
                </a:ext>
              </a:extLst>
            </p:cNvPr>
            <p:cNvSpPr txBox="1"/>
            <p:nvPr/>
          </p:nvSpPr>
          <p:spPr>
            <a:xfrm>
              <a:off x="8322958" y="1858080"/>
              <a:ext cx="1266940" cy="430678"/>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대법원 판결</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상고</a:t>
              </a:r>
              <a:r>
                <a:rPr lang="en-US" altLang="ko-KR" sz="1200" dirty="0">
                  <a:solidFill>
                    <a:schemeClr val="tx1"/>
                  </a:solidFill>
                  <a:latin typeface="+mn-ea"/>
                </a:rPr>
                <a:t>)</a:t>
              </a:r>
            </a:p>
          </p:txBody>
        </p:sp>
        <p:sp>
          <p:nvSpPr>
            <p:cNvPr id="51" name="타원 50">
              <a:extLst>
                <a:ext uri="{FF2B5EF4-FFF2-40B4-BE49-F238E27FC236}">
                  <a16:creationId xmlns:a16="http://schemas.microsoft.com/office/drawing/2014/main" id="{341C2681-412C-4106-B48A-3914CA8F0DB2}"/>
                </a:ext>
              </a:extLst>
            </p:cNvPr>
            <p:cNvSpPr/>
            <p:nvPr/>
          </p:nvSpPr>
          <p:spPr>
            <a:xfrm>
              <a:off x="4327973" y="1565108"/>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52" name="TextBox 51">
              <a:extLst>
                <a:ext uri="{FF2B5EF4-FFF2-40B4-BE49-F238E27FC236}">
                  <a16:creationId xmlns:a16="http://schemas.microsoft.com/office/drawing/2014/main" id="{97B1AC5E-6D4F-4939-9D40-11E76053EFF0}"/>
                </a:ext>
              </a:extLst>
            </p:cNvPr>
            <p:cNvSpPr txBox="1"/>
            <p:nvPr/>
          </p:nvSpPr>
          <p:spPr>
            <a:xfrm>
              <a:off x="3290564" y="748556"/>
              <a:ext cx="1988892" cy="495357"/>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사실심 변론종결후</a:t>
              </a:r>
              <a:endParaRPr lang="en-US" altLang="ko-KR" sz="1200" dirty="0">
                <a:solidFill>
                  <a:schemeClr val="tx1"/>
                </a:solidFill>
                <a:latin typeface="+mn-ea"/>
              </a:endParaRPr>
            </a:p>
            <a:p>
              <a:pPr algn="ctr"/>
              <a:r>
                <a:rPr lang="ko-KR" altLang="en-US" sz="1200" dirty="0">
                  <a:solidFill>
                    <a:schemeClr val="tx1"/>
                  </a:solidFill>
                  <a:latin typeface="+mn-ea"/>
                </a:rPr>
                <a:t>정정심판의 </a:t>
              </a:r>
              <a:r>
                <a:rPr lang="ko-KR" altLang="en-US" sz="1200" dirty="0" err="1">
                  <a:solidFill>
                    <a:schemeClr val="tx1"/>
                  </a:solidFill>
                  <a:latin typeface="+mn-ea"/>
                </a:rPr>
                <a:t>인용심결확정</a:t>
              </a:r>
              <a:endParaRPr lang="en-US" altLang="ko-KR" sz="1200" dirty="0">
                <a:solidFill>
                  <a:schemeClr val="tx1"/>
                </a:solidFill>
                <a:latin typeface="+mn-ea"/>
              </a:endParaRPr>
            </a:p>
          </p:txBody>
        </p:sp>
        <p:cxnSp>
          <p:nvCxnSpPr>
            <p:cNvPr id="30" name="연결선: 꺾임 29">
              <a:extLst>
                <a:ext uri="{FF2B5EF4-FFF2-40B4-BE49-F238E27FC236}">
                  <a16:creationId xmlns:a16="http://schemas.microsoft.com/office/drawing/2014/main" id="{B9CE115E-E588-4EBD-948B-D65862C2FA96}"/>
                </a:ext>
              </a:extLst>
            </p:cNvPr>
            <p:cNvCxnSpPr>
              <a:cxnSpLocks/>
              <a:endCxn id="51" idx="0"/>
            </p:cNvCxnSpPr>
            <p:nvPr/>
          </p:nvCxnSpPr>
          <p:spPr>
            <a:xfrm rot="5400000">
              <a:off x="4387534" y="1261721"/>
              <a:ext cx="321195" cy="285578"/>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83" name="직선 연결선 82">
              <a:extLst>
                <a:ext uri="{FF2B5EF4-FFF2-40B4-BE49-F238E27FC236}">
                  <a16:creationId xmlns:a16="http://schemas.microsoft.com/office/drawing/2014/main" id="{CA2F33B0-56EF-440C-AC28-24D61EED55DF}"/>
                </a:ext>
              </a:extLst>
            </p:cNvPr>
            <p:cNvCxnSpPr/>
            <p:nvPr/>
          </p:nvCxnSpPr>
          <p:spPr>
            <a:xfrm>
              <a:off x="250166" y="2615275"/>
              <a:ext cx="11542766"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9" name="직선 연결선 168">
              <a:extLst>
                <a:ext uri="{FF2B5EF4-FFF2-40B4-BE49-F238E27FC236}">
                  <a16:creationId xmlns:a16="http://schemas.microsoft.com/office/drawing/2014/main" id="{CDA2CA54-7F1E-4748-8674-F3437095ADBE}"/>
                </a:ext>
              </a:extLst>
            </p:cNvPr>
            <p:cNvCxnSpPr/>
            <p:nvPr/>
          </p:nvCxnSpPr>
          <p:spPr>
            <a:xfrm>
              <a:off x="250166" y="3081101"/>
              <a:ext cx="11542766"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직선 연결선 169">
              <a:extLst>
                <a:ext uri="{FF2B5EF4-FFF2-40B4-BE49-F238E27FC236}">
                  <a16:creationId xmlns:a16="http://schemas.microsoft.com/office/drawing/2014/main" id="{8E51682C-77D4-4E63-B0F2-66082430B328}"/>
                </a:ext>
              </a:extLst>
            </p:cNvPr>
            <p:cNvCxnSpPr/>
            <p:nvPr/>
          </p:nvCxnSpPr>
          <p:spPr>
            <a:xfrm>
              <a:off x="250166" y="3564181"/>
              <a:ext cx="11542766"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직선 연결선 170">
              <a:extLst>
                <a:ext uri="{FF2B5EF4-FFF2-40B4-BE49-F238E27FC236}">
                  <a16:creationId xmlns:a16="http://schemas.microsoft.com/office/drawing/2014/main" id="{3CC69B13-F611-4E1B-AA0A-7E7BC8639726}"/>
                </a:ext>
              </a:extLst>
            </p:cNvPr>
            <p:cNvCxnSpPr/>
            <p:nvPr/>
          </p:nvCxnSpPr>
          <p:spPr>
            <a:xfrm>
              <a:off x="250166" y="4047260"/>
              <a:ext cx="11542766"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직선 연결선 171">
              <a:extLst>
                <a:ext uri="{FF2B5EF4-FFF2-40B4-BE49-F238E27FC236}">
                  <a16:creationId xmlns:a16="http://schemas.microsoft.com/office/drawing/2014/main" id="{F00C2B48-4C2A-4EA7-9A98-3795FCEBD69A}"/>
                </a:ext>
              </a:extLst>
            </p:cNvPr>
            <p:cNvCxnSpPr/>
            <p:nvPr/>
          </p:nvCxnSpPr>
          <p:spPr>
            <a:xfrm>
              <a:off x="250166" y="4541059"/>
              <a:ext cx="11542766"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직선 연결선 172">
              <a:extLst>
                <a:ext uri="{FF2B5EF4-FFF2-40B4-BE49-F238E27FC236}">
                  <a16:creationId xmlns:a16="http://schemas.microsoft.com/office/drawing/2014/main" id="{261B34C4-0638-4B69-B755-082A17519EA6}"/>
                </a:ext>
              </a:extLst>
            </p:cNvPr>
            <p:cNvCxnSpPr/>
            <p:nvPr/>
          </p:nvCxnSpPr>
          <p:spPr>
            <a:xfrm>
              <a:off x="250166" y="4998259"/>
              <a:ext cx="11542766"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직선 연결선 173">
              <a:extLst>
                <a:ext uri="{FF2B5EF4-FFF2-40B4-BE49-F238E27FC236}">
                  <a16:creationId xmlns:a16="http://schemas.microsoft.com/office/drawing/2014/main" id="{8604B968-F95C-4C9B-BB44-0C82CC0C8D07}"/>
                </a:ext>
              </a:extLst>
            </p:cNvPr>
            <p:cNvCxnSpPr/>
            <p:nvPr/>
          </p:nvCxnSpPr>
          <p:spPr>
            <a:xfrm>
              <a:off x="250166" y="5498591"/>
              <a:ext cx="11542766"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직선 연결선 174">
              <a:extLst>
                <a:ext uri="{FF2B5EF4-FFF2-40B4-BE49-F238E27FC236}">
                  <a16:creationId xmlns:a16="http://schemas.microsoft.com/office/drawing/2014/main" id="{80B6189A-16D7-40BA-9E89-A1D7B563283E}"/>
                </a:ext>
              </a:extLst>
            </p:cNvPr>
            <p:cNvCxnSpPr/>
            <p:nvPr/>
          </p:nvCxnSpPr>
          <p:spPr>
            <a:xfrm>
              <a:off x="250166" y="5964417"/>
              <a:ext cx="11542766" cy="0"/>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직선 연결선 32">
              <a:extLst>
                <a:ext uri="{FF2B5EF4-FFF2-40B4-BE49-F238E27FC236}">
                  <a16:creationId xmlns:a16="http://schemas.microsoft.com/office/drawing/2014/main" id="{2393ACA5-4405-4B82-B103-3EF735B24C55}"/>
                </a:ext>
              </a:extLst>
            </p:cNvPr>
            <p:cNvCxnSpPr>
              <a:stCxn id="45" idx="2"/>
            </p:cNvCxnSpPr>
            <p:nvPr/>
          </p:nvCxnSpPr>
          <p:spPr>
            <a:xfrm flipH="1">
              <a:off x="1934989" y="2288758"/>
              <a:ext cx="1" cy="4215559"/>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타원 75">
              <a:extLst>
                <a:ext uri="{FF2B5EF4-FFF2-40B4-BE49-F238E27FC236}">
                  <a16:creationId xmlns:a16="http://schemas.microsoft.com/office/drawing/2014/main" id="{FED00C5D-A409-4E07-9801-0DDADB3AE2F7}"/>
                </a:ext>
              </a:extLst>
            </p:cNvPr>
            <p:cNvSpPr/>
            <p:nvPr/>
          </p:nvSpPr>
          <p:spPr>
            <a:xfrm>
              <a:off x="1022480" y="2447066"/>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17" name="타원 116">
              <a:extLst>
                <a:ext uri="{FF2B5EF4-FFF2-40B4-BE49-F238E27FC236}">
                  <a16:creationId xmlns:a16="http://schemas.microsoft.com/office/drawing/2014/main" id="{CFFD7E66-A132-4923-BB38-DBD77AADBD9A}"/>
                </a:ext>
              </a:extLst>
            </p:cNvPr>
            <p:cNvSpPr/>
            <p:nvPr/>
          </p:nvSpPr>
          <p:spPr>
            <a:xfrm>
              <a:off x="4536726" y="2447066"/>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19" name="타원 118">
              <a:extLst>
                <a:ext uri="{FF2B5EF4-FFF2-40B4-BE49-F238E27FC236}">
                  <a16:creationId xmlns:a16="http://schemas.microsoft.com/office/drawing/2014/main" id="{A1068EF3-57DA-4391-8D54-653ACB2C1674}"/>
                </a:ext>
              </a:extLst>
            </p:cNvPr>
            <p:cNvSpPr/>
            <p:nvPr/>
          </p:nvSpPr>
          <p:spPr>
            <a:xfrm>
              <a:off x="8043917" y="2447066"/>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77" name="말풍선: 모서리가 둥근 사각형 76">
              <a:extLst>
                <a:ext uri="{FF2B5EF4-FFF2-40B4-BE49-F238E27FC236}">
                  <a16:creationId xmlns:a16="http://schemas.microsoft.com/office/drawing/2014/main" id="{BACE92A4-B683-4F7C-8091-4D48DB1B3E7A}"/>
                </a:ext>
              </a:extLst>
            </p:cNvPr>
            <p:cNvSpPr/>
            <p:nvPr/>
          </p:nvSpPr>
          <p:spPr>
            <a:xfrm>
              <a:off x="9839904" y="2149450"/>
              <a:ext cx="1953017" cy="431321"/>
            </a:xfrm>
            <a:prstGeom prst="wedgeRoundRectCallout">
              <a:avLst>
                <a:gd name="adj1" fmla="val -61945"/>
                <a:gd name="adj2" fmla="val 13780"/>
                <a:gd name="adj3" fmla="val 16667"/>
              </a:avLst>
            </a:prstGeom>
            <a:solidFill>
              <a:schemeClr val="tx1">
                <a:lumMod val="85000"/>
                <a:lumOff val="1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rgbClr val="FFC000"/>
                  </a:solidFill>
                </a:rPr>
                <a:t>상고기각확정</a:t>
              </a:r>
              <a:endParaRPr lang="en-US" altLang="ko-KR" sz="1200" dirty="0">
                <a:solidFill>
                  <a:srgbClr val="FFC000"/>
                </a:solidFill>
              </a:endParaRPr>
            </a:p>
            <a:p>
              <a:pPr algn="ctr"/>
              <a:r>
                <a:rPr lang="en-US" altLang="ko-KR" sz="1000" dirty="0">
                  <a:solidFill>
                    <a:srgbClr val="FFC000"/>
                  </a:solidFill>
                </a:rPr>
                <a:t>(</a:t>
              </a:r>
              <a:r>
                <a:rPr lang="ko-KR" altLang="en-US" sz="1000" dirty="0" err="1">
                  <a:solidFill>
                    <a:srgbClr val="FFC000"/>
                  </a:solidFill>
                </a:rPr>
                <a:t>정정후</a:t>
              </a:r>
              <a:r>
                <a:rPr lang="ko-KR" altLang="en-US" sz="1000" dirty="0">
                  <a:solidFill>
                    <a:srgbClr val="FFC000"/>
                  </a:solidFill>
                </a:rPr>
                <a:t> 명도 의하여 특허 유지</a:t>
              </a:r>
              <a:r>
                <a:rPr lang="en-US" altLang="ko-KR" sz="1000" dirty="0">
                  <a:solidFill>
                    <a:srgbClr val="FFC000"/>
                  </a:solidFill>
                </a:rPr>
                <a:t>)</a:t>
              </a:r>
              <a:endParaRPr lang="ko-KR" altLang="en-US" sz="1000" dirty="0">
                <a:solidFill>
                  <a:srgbClr val="FFC000"/>
                </a:solidFill>
              </a:endParaRPr>
            </a:p>
          </p:txBody>
        </p:sp>
        <p:sp>
          <p:nvSpPr>
            <p:cNvPr id="121" name="타원 120">
              <a:extLst>
                <a:ext uri="{FF2B5EF4-FFF2-40B4-BE49-F238E27FC236}">
                  <a16:creationId xmlns:a16="http://schemas.microsoft.com/office/drawing/2014/main" id="{E62FA58C-F30A-4280-A899-D2E82A4DCC26}"/>
                </a:ext>
              </a:extLst>
            </p:cNvPr>
            <p:cNvSpPr/>
            <p:nvPr/>
          </p:nvSpPr>
          <p:spPr>
            <a:xfrm>
              <a:off x="1022480" y="2925520"/>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23" name="타원 122">
              <a:extLst>
                <a:ext uri="{FF2B5EF4-FFF2-40B4-BE49-F238E27FC236}">
                  <a16:creationId xmlns:a16="http://schemas.microsoft.com/office/drawing/2014/main" id="{18DD777E-9FAC-48D3-A2F3-4B58E8E27494}"/>
                </a:ext>
              </a:extLst>
            </p:cNvPr>
            <p:cNvSpPr/>
            <p:nvPr/>
          </p:nvSpPr>
          <p:spPr>
            <a:xfrm>
              <a:off x="4536726" y="2925520"/>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25" name="타원 124">
              <a:extLst>
                <a:ext uri="{FF2B5EF4-FFF2-40B4-BE49-F238E27FC236}">
                  <a16:creationId xmlns:a16="http://schemas.microsoft.com/office/drawing/2014/main" id="{93FA0C01-6EB6-4A7A-BFFA-B20176937901}"/>
                </a:ext>
              </a:extLst>
            </p:cNvPr>
            <p:cNvSpPr/>
            <p:nvPr/>
          </p:nvSpPr>
          <p:spPr>
            <a:xfrm>
              <a:off x="8043917" y="2925520"/>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28" name="타원 127">
              <a:extLst>
                <a:ext uri="{FF2B5EF4-FFF2-40B4-BE49-F238E27FC236}">
                  <a16:creationId xmlns:a16="http://schemas.microsoft.com/office/drawing/2014/main" id="{3CF0396B-8014-41E3-96A8-A18DB2B5FE79}"/>
                </a:ext>
              </a:extLst>
            </p:cNvPr>
            <p:cNvSpPr/>
            <p:nvPr/>
          </p:nvSpPr>
          <p:spPr>
            <a:xfrm>
              <a:off x="1022480" y="3415942"/>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30" name="타원 129">
              <a:extLst>
                <a:ext uri="{FF2B5EF4-FFF2-40B4-BE49-F238E27FC236}">
                  <a16:creationId xmlns:a16="http://schemas.microsoft.com/office/drawing/2014/main" id="{94DC2C90-7503-42C4-8398-954B8E52AE8E}"/>
                </a:ext>
              </a:extLst>
            </p:cNvPr>
            <p:cNvSpPr/>
            <p:nvPr/>
          </p:nvSpPr>
          <p:spPr>
            <a:xfrm>
              <a:off x="4536726" y="3415942"/>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32" name="타원 131">
              <a:extLst>
                <a:ext uri="{FF2B5EF4-FFF2-40B4-BE49-F238E27FC236}">
                  <a16:creationId xmlns:a16="http://schemas.microsoft.com/office/drawing/2014/main" id="{060340E7-2970-4C8F-8944-06989BA449C9}"/>
                </a:ext>
              </a:extLst>
            </p:cNvPr>
            <p:cNvSpPr/>
            <p:nvPr/>
          </p:nvSpPr>
          <p:spPr>
            <a:xfrm>
              <a:off x="8043917" y="3415942"/>
              <a:ext cx="281484" cy="281484"/>
            </a:xfrm>
            <a:prstGeom prst="ellipse">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t>특</a:t>
              </a:r>
              <a:endParaRPr lang="ko-KR" altLang="en-US" sz="1200" dirty="0"/>
            </a:p>
          </p:txBody>
        </p:sp>
        <p:sp>
          <p:nvSpPr>
            <p:cNvPr id="135" name="타원 134">
              <a:extLst>
                <a:ext uri="{FF2B5EF4-FFF2-40B4-BE49-F238E27FC236}">
                  <a16:creationId xmlns:a16="http://schemas.microsoft.com/office/drawing/2014/main" id="{F67E9F69-8CDB-4258-AA63-4AB1E395BA03}"/>
                </a:ext>
              </a:extLst>
            </p:cNvPr>
            <p:cNvSpPr/>
            <p:nvPr/>
          </p:nvSpPr>
          <p:spPr>
            <a:xfrm>
              <a:off x="1022480" y="3894396"/>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37" name="타원 136">
              <a:extLst>
                <a:ext uri="{FF2B5EF4-FFF2-40B4-BE49-F238E27FC236}">
                  <a16:creationId xmlns:a16="http://schemas.microsoft.com/office/drawing/2014/main" id="{89ECBD44-BA4A-4D2E-8C16-F8B1C11B2328}"/>
                </a:ext>
              </a:extLst>
            </p:cNvPr>
            <p:cNvSpPr/>
            <p:nvPr/>
          </p:nvSpPr>
          <p:spPr>
            <a:xfrm>
              <a:off x="4536726" y="3894396"/>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39" name="타원 138">
              <a:extLst>
                <a:ext uri="{FF2B5EF4-FFF2-40B4-BE49-F238E27FC236}">
                  <a16:creationId xmlns:a16="http://schemas.microsoft.com/office/drawing/2014/main" id="{AE163619-BDBC-4C31-9BA7-6FC2622345E5}"/>
                </a:ext>
              </a:extLst>
            </p:cNvPr>
            <p:cNvSpPr/>
            <p:nvPr/>
          </p:nvSpPr>
          <p:spPr>
            <a:xfrm>
              <a:off x="8043917" y="3894396"/>
              <a:ext cx="281484" cy="281484"/>
            </a:xfrm>
            <a:prstGeom prst="ellipse">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t>특</a:t>
              </a:r>
              <a:endParaRPr lang="ko-KR" altLang="en-US" sz="1200" dirty="0"/>
            </a:p>
          </p:txBody>
        </p:sp>
        <p:sp>
          <p:nvSpPr>
            <p:cNvPr id="142" name="타원 141">
              <a:extLst>
                <a:ext uri="{FF2B5EF4-FFF2-40B4-BE49-F238E27FC236}">
                  <a16:creationId xmlns:a16="http://schemas.microsoft.com/office/drawing/2014/main" id="{D1F54AF5-435F-46F1-B005-F584327209A4}"/>
                </a:ext>
              </a:extLst>
            </p:cNvPr>
            <p:cNvSpPr/>
            <p:nvPr/>
          </p:nvSpPr>
          <p:spPr>
            <a:xfrm>
              <a:off x="1022480" y="4372850"/>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44" name="타원 143">
              <a:extLst>
                <a:ext uri="{FF2B5EF4-FFF2-40B4-BE49-F238E27FC236}">
                  <a16:creationId xmlns:a16="http://schemas.microsoft.com/office/drawing/2014/main" id="{E698D1D0-BCEA-402A-B631-2487A9525954}"/>
                </a:ext>
              </a:extLst>
            </p:cNvPr>
            <p:cNvSpPr/>
            <p:nvPr/>
          </p:nvSpPr>
          <p:spPr>
            <a:xfrm>
              <a:off x="4536726" y="4372850"/>
              <a:ext cx="281484" cy="281484"/>
            </a:xfrm>
            <a:prstGeom prst="ellipse">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t>특</a:t>
              </a:r>
              <a:endParaRPr lang="ko-KR" altLang="en-US" sz="1200" dirty="0"/>
            </a:p>
          </p:txBody>
        </p:sp>
        <p:sp>
          <p:nvSpPr>
            <p:cNvPr id="146" name="타원 145">
              <a:extLst>
                <a:ext uri="{FF2B5EF4-FFF2-40B4-BE49-F238E27FC236}">
                  <a16:creationId xmlns:a16="http://schemas.microsoft.com/office/drawing/2014/main" id="{8EB94034-1B04-4829-BC24-0B3F36DAC6D6}"/>
                </a:ext>
              </a:extLst>
            </p:cNvPr>
            <p:cNvSpPr/>
            <p:nvPr/>
          </p:nvSpPr>
          <p:spPr>
            <a:xfrm>
              <a:off x="8043917" y="4372850"/>
              <a:ext cx="281484" cy="281484"/>
            </a:xfrm>
            <a:prstGeom prst="ellipse">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t>특</a:t>
              </a:r>
              <a:endParaRPr lang="ko-KR" altLang="en-US" sz="1200" dirty="0"/>
            </a:p>
          </p:txBody>
        </p:sp>
        <p:sp>
          <p:nvSpPr>
            <p:cNvPr id="147" name="말풍선: 모서리가 둥근 사각형 146">
              <a:extLst>
                <a:ext uri="{FF2B5EF4-FFF2-40B4-BE49-F238E27FC236}">
                  <a16:creationId xmlns:a16="http://schemas.microsoft.com/office/drawing/2014/main" id="{AFC3EEFF-4325-47EF-A33F-837F4A474D42}"/>
                </a:ext>
              </a:extLst>
            </p:cNvPr>
            <p:cNvSpPr/>
            <p:nvPr/>
          </p:nvSpPr>
          <p:spPr>
            <a:xfrm>
              <a:off x="9839904" y="4083860"/>
              <a:ext cx="1953013" cy="414070"/>
            </a:xfrm>
            <a:prstGeom prst="wedgeRoundRectCallout">
              <a:avLst>
                <a:gd name="adj1" fmla="val -64764"/>
                <a:gd name="adj2" fmla="val 21472"/>
                <a:gd name="adj3" fmla="val 16667"/>
              </a:avLst>
            </a:prstGeom>
            <a:solidFill>
              <a:schemeClr val="tx1">
                <a:lumMod val="85000"/>
                <a:lumOff val="1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rgbClr val="FFC000"/>
                  </a:solidFill>
                </a:rPr>
                <a:t>상고기각확정</a:t>
              </a:r>
              <a:endParaRPr lang="en-US" altLang="ko-KR" sz="1200" dirty="0">
                <a:solidFill>
                  <a:srgbClr val="FFC000"/>
                </a:solidFill>
              </a:endParaRPr>
            </a:p>
            <a:p>
              <a:pPr algn="ctr"/>
              <a:r>
                <a:rPr lang="en-US" altLang="ko-KR" sz="1000" dirty="0">
                  <a:solidFill>
                    <a:srgbClr val="FFC000"/>
                  </a:solidFill>
                </a:rPr>
                <a:t>(</a:t>
              </a:r>
              <a:r>
                <a:rPr lang="ko-KR" altLang="en-US" sz="1000" dirty="0">
                  <a:solidFill>
                    <a:srgbClr val="FFC000"/>
                  </a:solidFill>
                </a:rPr>
                <a:t>정정과 무관하게 특허 소멸</a:t>
              </a:r>
              <a:r>
                <a:rPr lang="en-US" altLang="ko-KR" sz="1000" dirty="0">
                  <a:solidFill>
                    <a:srgbClr val="FFC000"/>
                  </a:solidFill>
                </a:rPr>
                <a:t>)</a:t>
              </a:r>
              <a:endParaRPr lang="ko-KR" altLang="en-US" sz="1000" dirty="0">
                <a:solidFill>
                  <a:srgbClr val="FFC000"/>
                </a:solidFill>
              </a:endParaRPr>
            </a:p>
          </p:txBody>
        </p:sp>
        <p:sp>
          <p:nvSpPr>
            <p:cNvPr id="149" name="타원 148">
              <a:extLst>
                <a:ext uri="{FF2B5EF4-FFF2-40B4-BE49-F238E27FC236}">
                  <a16:creationId xmlns:a16="http://schemas.microsoft.com/office/drawing/2014/main" id="{06E6EE9F-1966-4B9B-AECA-B246278111EC}"/>
                </a:ext>
              </a:extLst>
            </p:cNvPr>
            <p:cNvSpPr/>
            <p:nvPr/>
          </p:nvSpPr>
          <p:spPr>
            <a:xfrm>
              <a:off x="1022480" y="4851304"/>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51" name="타원 150">
              <a:extLst>
                <a:ext uri="{FF2B5EF4-FFF2-40B4-BE49-F238E27FC236}">
                  <a16:creationId xmlns:a16="http://schemas.microsoft.com/office/drawing/2014/main" id="{5B9FFBD0-DE0D-42E6-A618-E8C2620A79E9}"/>
                </a:ext>
              </a:extLst>
            </p:cNvPr>
            <p:cNvSpPr/>
            <p:nvPr/>
          </p:nvSpPr>
          <p:spPr>
            <a:xfrm>
              <a:off x="4536726" y="4851304"/>
              <a:ext cx="281484" cy="281484"/>
            </a:xfrm>
            <a:prstGeom prst="ellipse">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t>특</a:t>
              </a:r>
              <a:endParaRPr lang="ko-KR" altLang="en-US" sz="1200" dirty="0"/>
            </a:p>
          </p:txBody>
        </p:sp>
        <p:sp>
          <p:nvSpPr>
            <p:cNvPr id="153" name="타원 152">
              <a:extLst>
                <a:ext uri="{FF2B5EF4-FFF2-40B4-BE49-F238E27FC236}">
                  <a16:creationId xmlns:a16="http://schemas.microsoft.com/office/drawing/2014/main" id="{F09276F3-D2E0-486A-9B3C-E0DA0AE63808}"/>
                </a:ext>
              </a:extLst>
            </p:cNvPr>
            <p:cNvSpPr/>
            <p:nvPr/>
          </p:nvSpPr>
          <p:spPr>
            <a:xfrm>
              <a:off x="8043917" y="4851304"/>
              <a:ext cx="281484" cy="281484"/>
            </a:xfrm>
            <a:prstGeom prst="ellipse">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t>특</a:t>
              </a:r>
              <a:endParaRPr lang="ko-KR" altLang="en-US" sz="1200" dirty="0"/>
            </a:p>
          </p:txBody>
        </p:sp>
        <p:sp>
          <p:nvSpPr>
            <p:cNvPr id="156" name="타원 155">
              <a:extLst>
                <a:ext uri="{FF2B5EF4-FFF2-40B4-BE49-F238E27FC236}">
                  <a16:creationId xmlns:a16="http://schemas.microsoft.com/office/drawing/2014/main" id="{DCDAD3FD-D355-4DE8-A845-706A1736ED55}"/>
                </a:ext>
              </a:extLst>
            </p:cNvPr>
            <p:cNvSpPr/>
            <p:nvPr/>
          </p:nvSpPr>
          <p:spPr>
            <a:xfrm>
              <a:off x="1022480" y="5341726"/>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58" name="타원 157">
              <a:extLst>
                <a:ext uri="{FF2B5EF4-FFF2-40B4-BE49-F238E27FC236}">
                  <a16:creationId xmlns:a16="http://schemas.microsoft.com/office/drawing/2014/main" id="{8A9BB545-E086-4D0A-985D-D92078C01E7F}"/>
                </a:ext>
              </a:extLst>
            </p:cNvPr>
            <p:cNvSpPr/>
            <p:nvPr/>
          </p:nvSpPr>
          <p:spPr>
            <a:xfrm>
              <a:off x="4536726" y="5341726"/>
              <a:ext cx="281484" cy="281484"/>
            </a:xfrm>
            <a:prstGeom prst="ellipse">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특</a:t>
              </a:r>
            </a:p>
          </p:txBody>
        </p:sp>
        <p:sp>
          <p:nvSpPr>
            <p:cNvPr id="160" name="타원 159">
              <a:extLst>
                <a:ext uri="{FF2B5EF4-FFF2-40B4-BE49-F238E27FC236}">
                  <a16:creationId xmlns:a16="http://schemas.microsoft.com/office/drawing/2014/main" id="{03AC8A19-DC15-4FA9-98E0-49BEFB139F68}"/>
                </a:ext>
              </a:extLst>
            </p:cNvPr>
            <p:cNvSpPr/>
            <p:nvPr/>
          </p:nvSpPr>
          <p:spPr>
            <a:xfrm>
              <a:off x="8043917" y="5341726"/>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63" name="타원 162">
              <a:extLst>
                <a:ext uri="{FF2B5EF4-FFF2-40B4-BE49-F238E27FC236}">
                  <a16:creationId xmlns:a16="http://schemas.microsoft.com/office/drawing/2014/main" id="{4325CBE4-5059-4073-A537-736F6AFFEDA0}"/>
                </a:ext>
              </a:extLst>
            </p:cNvPr>
            <p:cNvSpPr/>
            <p:nvPr/>
          </p:nvSpPr>
          <p:spPr>
            <a:xfrm>
              <a:off x="1022480" y="5820180"/>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165" name="타원 164">
              <a:extLst>
                <a:ext uri="{FF2B5EF4-FFF2-40B4-BE49-F238E27FC236}">
                  <a16:creationId xmlns:a16="http://schemas.microsoft.com/office/drawing/2014/main" id="{F7A51863-1793-4D56-B08C-99DAFC523A6D}"/>
                </a:ext>
              </a:extLst>
            </p:cNvPr>
            <p:cNvSpPr/>
            <p:nvPr/>
          </p:nvSpPr>
          <p:spPr>
            <a:xfrm>
              <a:off x="4536726" y="5820180"/>
              <a:ext cx="281484" cy="281484"/>
            </a:xfrm>
            <a:prstGeom prst="ellipse">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t>특</a:t>
              </a:r>
              <a:endParaRPr lang="ko-KR" altLang="en-US" sz="1200" dirty="0"/>
            </a:p>
          </p:txBody>
        </p:sp>
        <p:sp>
          <p:nvSpPr>
            <p:cNvPr id="167" name="타원 166">
              <a:extLst>
                <a:ext uri="{FF2B5EF4-FFF2-40B4-BE49-F238E27FC236}">
                  <a16:creationId xmlns:a16="http://schemas.microsoft.com/office/drawing/2014/main" id="{99B1812B-F4AC-4246-9727-6F0E1BBAE980}"/>
                </a:ext>
              </a:extLst>
            </p:cNvPr>
            <p:cNvSpPr/>
            <p:nvPr/>
          </p:nvSpPr>
          <p:spPr>
            <a:xfrm>
              <a:off x="8043917" y="5820180"/>
              <a:ext cx="281484" cy="281484"/>
            </a:xfrm>
            <a:prstGeom prst="ellipse">
              <a:avLst/>
            </a:prstGeom>
            <a:solidFill>
              <a:schemeClr val="accent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이</a:t>
              </a:r>
            </a:p>
          </p:txBody>
        </p:sp>
        <p:sp>
          <p:nvSpPr>
            <p:cNvPr id="97" name="TextBox 96">
              <a:extLst>
                <a:ext uri="{FF2B5EF4-FFF2-40B4-BE49-F238E27FC236}">
                  <a16:creationId xmlns:a16="http://schemas.microsoft.com/office/drawing/2014/main" id="{E3172DA7-5948-49FB-95D7-A52E62FCD772}"/>
                </a:ext>
              </a:extLst>
            </p:cNvPr>
            <p:cNvSpPr txBox="1"/>
            <p:nvPr/>
          </p:nvSpPr>
          <p:spPr>
            <a:xfrm>
              <a:off x="1301520" y="2385825"/>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X</a:t>
              </a:r>
            </a:p>
            <a:p>
              <a:pPr algn="ctr"/>
              <a:r>
                <a:rPr lang="en-US" altLang="ko-KR" sz="1000" dirty="0"/>
                <a:t>(</a:t>
              </a:r>
              <a:r>
                <a:rPr lang="ko-KR" altLang="en-US" sz="1000" dirty="0" err="1"/>
                <a:t>기각심결</a:t>
              </a:r>
              <a:r>
                <a:rPr lang="en-US" altLang="ko-KR" sz="1000" dirty="0"/>
                <a:t>)</a:t>
              </a:r>
              <a:endParaRPr lang="ko-KR" altLang="en-US" sz="1000" dirty="0"/>
            </a:p>
          </p:txBody>
        </p:sp>
        <p:sp>
          <p:nvSpPr>
            <p:cNvPr id="116" name="TextBox 115">
              <a:extLst>
                <a:ext uri="{FF2B5EF4-FFF2-40B4-BE49-F238E27FC236}">
                  <a16:creationId xmlns:a16="http://schemas.microsoft.com/office/drawing/2014/main" id="{FBFAA3B4-BE9F-4397-B6F2-EEFD1701E6F6}"/>
                </a:ext>
              </a:extLst>
            </p:cNvPr>
            <p:cNvSpPr txBox="1"/>
            <p:nvPr/>
          </p:nvSpPr>
          <p:spPr>
            <a:xfrm>
              <a:off x="4824393" y="2385825"/>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X</a:t>
              </a:r>
            </a:p>
            <a:p>
              <a:pPr algn="ctr"/>
              <a:r>
                <a:rPr lang="en-US" altLang="ko-KR" sz="1000" dirty="0"/>
                <a:t>(</a:t>
              </a:r>
              <a:r>
                <a:rPr lang="ko-KR" altLang="en-US" sz="1000" dirty="0"/>
                <a:t>기각판결</a:t>
              </a:r>
              <a:r>
                <a:rPr lang="en-US" altLang="ko-KR" sz="1000" dirty="0"/>
                <a:t>)</a:t>
              </a:r>
              <a:endParaRPr lang="ko-KR" altLang="en-US" sz="1000" dirty="0"/>
            </a:p>
          </p:txBody>
        </p:sp>
        <p:sp>
          <p:nvSpPr>
            <p:cNvPr id="118" name="TextBox 117">
              <a:extLst>
                <a:ext uri="{FF2B5EF4-FFF2-40B4-BE49-F238E27FC236}">
                  <a16:creationId xmlns:a16="http://schemas.microsoft.com/office/drawing/2014/main" id="{17F15066-7809-41F5-8A4E-87EDE8E29CF3}"/>
                </a:ext>
              </a:extLst>
            </p:cNvPr>
            <p:cNvSpPr txBox="1"/>
            <p:nvPr/>
          </p:nvSpPr>
          <p:spPr>
            <a:xfrm>
              <a:off x="8322960" y="2385825"/>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X</a:t>
              </a:r>
            </a:p>
            <a:p>
              <a:pPr algn="ctr"/>
              <a:r>
                <a:rPr lang="en-US" altLang="ko-KR" sz="1000" dirty="0"/>
                <a:t>(</a:t>
              </a:r>
              <a:r>
                <a:rPr lang="ko-KR" altLang="en-US" sz="1000" dirty="0"/>
                <a:t>기각판결</a:t>
              </a:r>
              <a:r>
                <a:rPr lang="en-US" altLang="ko-KR" sz="1000" dirty="0"/>
                <a:t>)</a:t>
              </a:r>
              <a:endParaRPr lang="ko-KR" altLang="en-US" sz="1000" dirty="0"/>
            </a:p>
          </p:txBody>
        </p:sp>
        <p:sp>
          <p:nvSpPr>
            <p:cNvPr id="120" name="TextBox 119">
              <a:extLst>
                <a:ext uri="{FF2B5EF4-FFF2-40B4-BE49-F238E27FC236}">
                  <a16:creationId xmlns:a16="http://schemas.microsoft.com/office/drawing/2014/main" id="{79CD756A-1369-4B6F-B64B-55B33503A293}"/>
                </a:ext>
              </a:extLst>
            </p:cNvPr>
            <p:cNvSpPr txBox="1"/>
            <p:nvPr/>
          </p:nvSpPr>
          <p:spPr>
            <a:xfrm>
              <a:off x="1301520" y="2864279"/>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X</a:t>
              </a:r>
            </a:p>
            <a:p>
              <a:pPr algn="ctr"/>
              <a:r>
                <a:rPr lang="en-US" altLang="ko-KR" sz="1000" dirty="0"/>
                <a:t>(</a:t>
              </a:r>
              <a:r>
                <a:rPr lang="ko-KR" altLang="en-US" sz="1000" dirty="0" err="1"/>
                <a:t>기각심결</a:t>
              </a:r>
              <a:r>
                <a:rPr lang="en-US" altLang="ko-KR" sz="1000" dirty="0"/>
                <a:t>)</a:t>
              </a:r>
              <a:endParaRPr lang="ko-KR" altLang="en-US" sz="1000" dirty="0"/>
            </a:p>
          </p:txBody>
        </p:sp>
        <p:sp>
          <p:nvSpPr>
            <p:cNvPr id="122" name="TextBox 121">
              <a:extLst>
                <a:ext uri="{FF2B5EF4-FFF2-40B4-BE49-F238E27FC236}">
                  <a16:creationId xmlns:a16="http://schemas.microsoft.com/office/drawing/2014/main" id="{6AE5AA78-516D-4878-96B4-42817319E031}"/>
                </a:ext>
              </a:extLst>
            </p:cNvPr>
            <p:cNvSpPr txBox="1"/>
            <p:nvPr/>
          </p:nvSpPr>
          <p:spPr>
            <a:xfrm>
              <a:off x="4824393" y="2864279"/>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X</a:t>
              </a:r>
            </a:p>
            <a:p>
              <a:pPr algn="ctr"/>
              <a:r>
                <a:rPr lang="en-US" altLang="ko-KR" sz="1000" dirty="0"/>
                <a:t>(</a:t>
              </a:r>
              <a:r>
                <a:rPr lang="ko-KR" altLang="en-US" sz="1000" dirty="0"/>
                <a:t>기각판결</a:t>
              </a:r>
              <a:r>
                <a:rPr lang="en-US" altLang="ko-KR" sz="1000" dirty="0"/>
                <a:t>)</a:t>
              </a:r>
              <a:endParaRPr lang="ko-KR" altLang="en-US" sz="1000" dirty="0"/>
            </a:p>
          </p:txBody>
        </p:sp>
        <p:sp>
          <p:nvSpPr>
            <p:cNvPr id="124" name="TextBox 123">
              <a:extLst>
                <a:ext uri="{FF2B5EF4-FFF2-40B4-BE49-F238E27FC236}">
                  <a16:creationId xmlns:a16="http://schemas.microsoft.com/office/drawing/2014/main" id="{BE5476C9-46BD-4D76-B0B1-CFFD028C244B}"/>
                </a:ext>
              </a:extLst>
            </p:cNvPr>
            <p:cNvSpPr txBox="1"/>
            <p:nvPr/>
          </p:nvSpPr>
          <p:spPr>
            <a:xfrm>
              <a:off x="8322960" y="2864279"/>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O</a:t>
              </a:r>
            </a:p>
            <a:p>
              <a:pPr algn="ctr"/>
              <a:r>
                <a:rPr lang="en-US" altLang="ko-KR" sz="1000" dirty="0"/>
                <a:t>(</a:t>
              </a:r>
              <a:r>
                <a:rPr lang="ko-KR" altLang="en-US" sz="1000" dirty="0"/>
                <a:t>인용판결</a:t>
              </a:r>
              <a:r>
                <a:rPr lang="en-US" altLang="ko-KR" sz="1000" dirty="0"/>
                <a:t>-</a:t>
              </a:r>
              <a:r>
                <a:rPr lang="ko-KR" altLang="en-US" sz="1000" dirty="0" err="1"/>
                <a:t>파기환송</a:t>
              </a:r>
              <a:r>
                <a:rPr lang="en-US" altLang="ko-KR" sz="1000" dirty="0"/>
                <a:t>)</a:t>
              </a:r>
              <a:endParaRPr lang="ko-KR" altLang="en-US" sz="1000" dirty="0"/>
            </a:p>
          </p:txBody>
        </p:sp>
        <p:sp>
          <p:nvSpPr>
            <p:cNvPr id="129" name="TextBox 128">
              <a:extLst>
                <a:ext uri="{FF2B5EF4-FFF2-40B4-BE49-F238E27FC236}">
                  <a16:creationId xmlns:a16="http://schemas.microsoft.com/office/drawing/2014/main" id="{28419A14-1A2F-4006-AF3A-1E41B109D0F4}"/>
                </a:ext>
              </a:extLst>
            </p:cNvPr>
            <p:cNvSpPr txBox="1"/>
            <p:nvPr/>
          </p:nvSpPr>
          <p:spPr>
            <a:xfrm>
              <a:off x="4824393" y="3354701"/>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O</a:t>
              </a:r>
            </a:p>
            <a:p>
              <a:pPr algn="ctr"/>
              <a:r>
                <a:rPr lang="en-US" altLang="ko-KR" sz="1000" dirty="0"/>
                <a:t>(</a:t>
              </a:r>
              <a:r>
                <a:rPr lang="ko-KR" altLang="en-US" sz="1000" dirty="0"/>
                <a:t>인용판결</a:t>
              </a:r>
              <a:r>
                <a:rPr lang="en-US" altLang="ko-KR" sz="1000" dirty="0"/>
                <a:t>-</a:t>
              </a:r>
              <a:r>
                <a:rPr lang="ko-KR" altLang="en-US" sz="1000" dirty="0" err="1"/>
                <a:t>취소환송</a:t>
              </a:r>
              <a:r>
                <a:rPr lang="en-US" altLang="ko-KR" sz="1000" dirty="0"/>
                <a:t>)</a:t>
              </a:r>
              <a:endParaRPr lang="ko-KR" altLang="en-US" sz="1000" dirty="0"/>
            </a:p>
          </p:txBody>
        </p:sp>
        <p:sp>
          <p:nvSpPr>
            <p:cNvPr id="131" name="TextBox 130">
              <a:extLst>
                <a:ext uri="{FF2B5EF4-FFF2-40B4-BE49-F238E27FC236}">
                  <a16:creationId xmlns:a16="http://schemas.microsoft.com/office/drawing/2014/main" id="{EC03A86A-71A7-4343-874D-789106365668}"/>
                </a:ext>
              </a:extLst>
            </p:cNvPr>
            <p:cNvSpPr txBox="1"/>
            <p:nvPr/>
          </p:nvSpPr>
          <p:spPr>
            <a:xfrm>
              <a:off x="8322960" y="3354701"/>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X</a:t>
              </a:r>
            </a:p>
            <a:p>
              <a:pPr algn="ctr"/>
              <a:r>
                <a:rPr lang="en-US" altLang="ko-KR" sz="1000" dirty="0"/>
                <a:t>(</a:t>
              </a:r>
              <a:r>
                <a:rPr lang="ko-KR" altLang="en-US" sz="1000" dirty="0"/>
                <a:t>인용판결</a:t>
              </a:r>
              <a:r>
                <a:rPr lang="en-US" altLang="ko-KR" sz="1000" dirty="0"/>
                <a:t>-</a:t>
              </a:r>
              <a:r>
                <a:rPr lang="ko-KR" altLang="en-US" sz="1000" dirty="0" err="1"/>
                <a:t>파기환송</a:t>
              </a:r>
              <a:r>
                <a:rPr lang="en-US" altLang="ko-KR" sz="1000" dirty="0"/>
                <a:t>)</a:t>
              </a:r>
              <a:endParaRPr lang="ko-KR" altLang="en-US" sz="1000" dirty="0"/>
            </a:p>
          </p:txBody>
        </p:sp>
        <p:sp>
          <p:nvSpPr>
            <p:cNvPr id="134" name="TextBox 133">
              <a:extLst>
                <a:ext uri="{FF2B5EF4-FFF2-40B4-BE49-F238E27FC236}">
                  <a16:creationId xmlns:a16="http://schemas.microsoft.com/office/drawing/2014/main" id="{10B290EA-71B6-410E-93B0-37E508EDE496}"/>
                </a:ext>
              </a:extLst>
            </p:cNvPr>
            <p:cNvSpPr txBox="1"/>
            <p:nvPr/>
          </p:nvSpPr>
          <p:spPr>
            <a:xfrm>
              <a:off x="1301520" y="3833155"/>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X</a:t>
              </a:r>
            </a:p>
            <a:p>
              <a:pPr algn="ctr"/>
              <a:r>
                <a:rPr lang="en-US" altLang="ko-KR" sz="1000" dirty="0"/>
                <a:t>(</a:t>
              </a:r>
              <a:r>
                <a:rPr lang="ko-KR" altLang="en-US" sz="1000" dirty="0" err="1"/>
                <a:t>기각심결</a:t>
              </a:r>
              <a:r>
                <a:rPr lang="en-US" altLang="ko-KR" sz="1000" dirty="0"/>
                <a:t>)</a:t>
              </a:r>
              <a:endParaRPr lang="ko-KR" altLang="en-US" sz="1000" dirty="0"/>
            </a:p>
          </p:txBody>
        </p:sp>
        <p:sp>
          <p:nvSpPr>
            <p:cNvPr id="136" name="TextBox 135">
              <a:extLst>
                <a:ext uri="{FF2B5EF4-FFF2-40B4-BE49-F238E27FC236}">
                  <a16:creationId xmlns:a16="http://schemas.microsoft.com/office/drawing/2014/main" id="{48B08322-74CF-4749-8220-AF472A925C45}"/>
                </a:ext>
              </a:extLst>
            </p:cNvPr>
            <p:cNvSpPr txBox="1"/>
            <p:nvPr/>
          </p:nvSpPr>
          <p:spPr>
            <a:xfrm>
              <a:off x="4824393" y="3833155"/>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O</a:t>
              </a:r>
            </a:p>
            <a:p>
              <a:pPr algn="ctr"/>
              <a:r>
                <a:rPr lang="en-US" altLang="ko-KR" sz="1000" dirty="0"/>
                <a:t>(</a:t>
              </a:r>
              <a:r>
                <a:rPr lang="ko-KR" altLang="en-US" sz="1000" dirty="0"/>
                <a:t>인용판결</a:t>
              </a:r>
              <a:r>
                <a:rPr lang="en-US" altLang="ko-KR" sz="1000" dirty="0"/>
                <a:t>-</a:t>
              </a:r>
              <a:r>
                <a:rPr lang="ko-KR" altLang="en-US" sz="1000" dirty="0" err="1"/>
                <a:t>취소환송</a:t>
              </a:r>
              <a:r>
                <a:rPr lang="en-US" altLang="ko-KR" sz="1000" dirty="0"/>
                <a:t>)</a:t>
              </a:r>
              <a:endParaRPr lang="ko-KR" altLang="en-US" sz="1000" dirty="0"/>
            </a:p>
          </p:txBody>
        </p:sp>
        <p:sp>
          <p:nvSpPr>
            <p:cNvPr id="138" name="TextBox 137">
              <a:extLst>
                <a:ext uri="{FF2B5EF4-FFF2-40B4-BE49-F238E27FC236}">
                  <a16:creationId xmlns:a16="http://schemas.microsoft.com/office/drawing/2014/main" id="{D64B3DBB-EF5E-4EEE-AB57-84CB2DF39B50}"/>
                </a:ext>
              </a:extLst>
            </p:cNvPr>
            <p:cNvSpPr txBox="1"/>
            <p:nvPr/>
          </p:nvSpPr>
          <p:spPr>
            <a:xfrm>
              <a:off x="8322960" y="3833155"/>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O</a:t>
              </a:r>
            </a:p>
            <a:p>
              <a:pPr algn="ctr"/>
              <a:r>
                <a:rPr lang="en-US" altLang="ko-KR" sz="1000" dirty="0"/>
                <a:t>(</a:t>
              </a:r>
              <a:r>
                <a:rPr lang="ko-KR" altLang="en-US" sz="1000" dirty="0"/>
                <a:t>기각판결</a:t>
              </a:r>
              <a:r>
                <a:rPr lang="en-US" altLang="ko-KR" sz="1000" dirty="0"/>
                <a:t>)</a:t>
              </a:r>
              <a:endParaRPr lang="ko-KR" altLang="en-US" sz="1000" dirty="0"/>
            </a:p>
          </p:txBody>
        </p:sp>
        <p:sp>
          <p:nvSpPr>
            <p:cNvPr id="141" name="TextBox 140">
              <a:extLst>
                <a:ext uri="{FF2B5EF4-FFF2-40B4-BE49-F238E27FC236}">
                  <a16:creationId xmlns:a16="http://schemas.microsoft.com/office/drawing/2014/main" id="{73B8661C-9009-49D4-A689-8DCEDD7DFA4D}"/>
                </a:ext>
              </a:extLst>
            </p:cNvPr>
            <p:cNvSpPr txBox="1"/>
            <p:nvPr/>
          </p:nvSpPr>
          <p:spPr>
            <a:xfrm>
              <a:off x="1301520" y="4311609"/>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O</a:t>
              </a:r>
            </a:p>
            <a:p>
              <a:pPr algn="ctr"/>
              <a:r>
                <a:rPr lang="en-US" altLang="ko-KR" sz="1000" dirty="0"/>
                <a:t>(</a:t>
              </a:r>
              <a:r>
                <a:rPr lang="ko-KR" altLang="en-US" sz="1000" dirty="0" err="1"/>
                <a:t>인용심결</a:t>
              </a:r>
              <a:r>
                <a:rPr lang="en-US" altLang="ko-KR" sz="1000" dirty="0"/>
                <a:t>)</a:t>
              </a:r>
              <a:endParaRPr lang="ko-KR" altLang="en-US" sz="1000" dirty="0"/>
            </a:p>
          </p:txBody>
        </p:sp>
        <p:sp>
          <p:nvSpPr>
            <p:cNvPr id="143" name="TextBox 142">
              <a:extLst>
                <a:ext uri="{FF2B5EF4-FFF2-40B4-BE49-F238E27FC236}">
                  <a16:creationId xmlns:a16="http://schemas.microsoft.com/office/drawing/2014/main" id="{3240A9BE-7A4D-4213-B4B7-7A8DCE933A51}"/>
                </a:ext>
              </a:extLst>
            </p:cNvPr>
            <p:cNvSpPr txBox="1"/>
            <p:nvPr/>
          </p:nvSpPr>
          <p:spPr>
            <a:xfrm>
              <a:off x="4824393" y="4311609"/>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O</a:t>
              </a:r>
            </a:p>
            <a:p>
              <a:pPr algn="ctr"/>
              <a:r>
                <a:rPr lang="en-US" altLang="ko-KR" sz="1000" dirty="0"/>
                <a:t>(</a:t>
              </a:r>
              <a:r>
                <a:rPr lang="ko-KR" altLang="en-US" sz="1000" dirty="0"/>
                <a:t>기각판결</a:t>
              </a:r>
              <a:r>
                <a:rPr lang="en-US" altLang="ko-KR" sz="1000" dirty="0"/>
                <a:t>)</a:t>
              </a:r>
              <a:endParaRPr lang="ko-KR" altLang="en-US" sz="1000" dirty="0"/>
            </a:p>
          </p:txBody>
        </p:sp>
        <p:sp>
          <p:nvSpPr>
            <p:cNvPr id="145" name="TextBox 144">
              <a:extLst>
                <a:ext uri="{FF2B5EF4-FFF2-40B4-BE49-F238E27FC236}">
                  <a16:creationId xmlns:a16="http://schemas.microsoft.com/office/drawing/2014/main" id="{C08FCC28-1554-4C55-A337-E21DA1E8A71C}"/>
                </a:ext>
              </a:extLst>
            </p:cNvPr>
            <p:cNvSpPr txBox="1"/>
            <p:nvPr/>
          </p:nvSpPr>
          <p:spPr>
            <a:xfrm>
              <a:off x="8322960" y="4311609"/>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O</a:t>
              </a:r>
            </a:p>
            <a:p>
              <a:pPr algn="ctr"/>
              <a:r>
                <a:rPr lang="en-US" altLang="ko-KR" sz="1000" dirty="0"/>
                <a:t>(</a:t>
              </a:r>
              <a:r>
                <a:rPr lang="ko-KR" altLang="en-US" sz="1000" dirty="0"/>
                <a:t>기각판결</a:t>
              </a:r>
              <a:r>
                <a:rPr lang="en-US" altLang="ko-KR" sz="1000" dirty="0"/>
                <a:t>)</a:t>
              </a:r>
              <a:endParaRPr lang="ko-KR" altLang="en-US" sz="1000" dirty="0"/>
            </a:p>
          </p:txBody>
        </p:sp>
        <p:sp>
          <p:nvSpPr>
            <p:cNvPr id="148" name="TextBox 147">
              <a:extLst>
                <a:ext uri="{FF2B5EF4-FFF2-40B4-BE49-F238E27FC236}">
                  <a16:creationId xmlns:a16="http://schemas.microsoft.com/office/drawing/2014/main" id="{40433E4D-096D-4C5C-BBA5-BB9AE6B0C68C}"/>
                </a:ext>
              </a:extLst>
            </p:cNvPr>
            <p:cNvSpPr txBox="1"/>
            <p:nvPr/>
          </p:nvSpPr>
          <p:spPr>
            <a:xfrm>
              <a:off x="1301520" y="4790063"/>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O</a:t>
              </a:r>
            </a:p>
            <a:p>
              <a:pPr algn="ctr"/>
              <a:r>
                <a:rPr lang="en-US" altLang="ko-KR" sz="1000" dirty="0"/>
                <a:t>(</a:t>
              </a:r>
              <a:r>
                <a:rPr lang="ko-KR" altLang="en-US" sz="1000" dirty="0" err="1"/>
                <a:t>인용심결</a:t>
              </a:r>
              <a:r>
                <a:rPr lang="en-US" altLang="ko-KR" sz="1000" dirty="0"/>
                <a:t>)</a:t>
              </a:r>
              <a:endParaRPr lang="ko-KR" altLang="en-US" sz="1000" dirty="0"/>
            </a:p>
          </p:txBody>
        </p:sp>
        <p:sp>
          <p:nvSpPr>
            <p:cNvPr id="150" name="TextBox 149">
              <a:extLst>
                <a:ext uri="{FF2B5EF4-FFF2-40B4-BE49-F238E27FC236}">
                  <a16:creationId xmlns:a16="http://schemas.microsoft.com/office/drawing/2014/main" id="{C3B0408A-7ED5-43E3-879E-67DAD17147BB}"/>
                </a:ext>
              </a:extLst>
            </p:cNvPr>
            <p:cNvSpPr txBox="1"/>
            <p:nvPr/>
          </p:nvSpPr>
          <p:spPr>
            <a:xfrm>
              <a:off x="4824393" y="4790063"/>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O</a:t>
              </a:r>
            </a:p>
            <a:p>
              <a:pPr algn="ctr"/>
              <a:r>
                <a:rPr lang="en-US" altLang="ko-KR" sz="1000" dirty="0"/>
                <a:t>(</a:t>
              </a:r>
              <a:r>
                <a:rPr lang="ko-KR" altLang="en-US" sz="1000" dirty="0"/>
                <a:t>기각판결</a:t>
              </a:r>
              <a:r>
                <a:rPr lang="en-US" altLang="ko-KR" sz="1000" dirty="0"/>
                <a:t>)</a:t>
              </a:r>
              <a:endParaRPr lang="ko-KR" altLang="en-US" sz="1000" dirty="0"/>
            </a:p>
          </p:txBody>
        </p:sp>
        <p:sp>
          <p:nvSpPr>
            <p:cNvPr id="152" name="TextBox 151">
              <a:extLst>
                <a:ext uri="{FF2B5EF4-FFF2-40B4-BE49-F238E27FC236}">
                  <a16:creationId xmlns:a16="http://schemas.microsoft.com/office/drawing/2014/main" id="{63129FB3-A9FC-4955-BF35-144C7AA03774}"/>
                </a:ext>
              </a:extLst>
            </p:cNvPr>
            <p:cNvSpPr txBox="1"/>
            <p:nvPr/>
          </p:nvSpPr>
          <p:spPr>
            <a:xfrm>
              <a:off x="8322960" y="4790063"/>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X</a:t>
              </a:r>
            </a:p>
            <a:p>
              <a:pPr algn="ctr"/>
              <a:r>
                <a:rPr lang="en-US" altLang="ko-KR" sz="1000" dirty="0"/>
                <a:t>(</a:t>
              </a:r>
              <a:r>
                <a:rPr lang="ko-KR" altLang="en-US" sz="1000" dirty="0"/>
                <a:t>인용판결</a:t>
              </a:r>
              <a:r>
                <a:rPr lang="en-US" altLang="ko-KR" sz="1000" dirty="0"/>
                <a:t>-</a:t>
              </a:r>
              <a:r>
                <a:rPr lang="ko-KR" altLang="en-US" sz="1000" dirty="0" err="1"/>
                <a:t>파기환송</a:t>
              </a:r>
              <a:r>
                <a:rPr lang="en-US" altLang="ko-KR" sz="1000" dirty="0"/>
                <a:t>)</a:t>
              </a:r>
              <a:endParaRPr lang="ko-KR" altLang="en-US" sz="1000" dirty="0"/>
            </a:p>
          </p:txBody>
        </p:sp>
        <p:sp>
          <p:nvSpPr>
            <p:cNvPr id="155" name="TextBox 154">
              <a:extLst>
                <a:ext uri="{FF2B5EF4-FFF2-40B4-BE49-F238E27FC236}">
                  <a16:creationId xmlns:a16="http://schemas.microsoft.com/office/drawing/2014/main" id="{71A06CB4-01EC-460D-8849-8B4E73C06D0D}"/>
                </a:ext>
              </a:extLst>
            </p:cNvPr>
            <p:cNvSpPr txBox="1"/>
            <p:nvPr/>
          </p:nvSpPr>
          <p:spPr>
            <a:xfrm>
              <a:off x="1301520" y="5280485"/>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O</a:t>
              </a:r>
            </a:p>
            <a:p>
              <a:pPr algn="ctr"/>
              <a:r>
                <a:rPr lang="en-US" altLang="ko-KR" sz="1000" dirty="0"/>
                <a:t>(</a:t>
              </a:r>
              <a:r>
                <a:rPr lang="ko-KR" altLang="en-US" sz="1000" dirty="0" err="1"/>
                <a:t>인용심결</a:t>
              </a:r>
              <a:r>
                <a:rPr lang="en-US" altLang="ko-KR" sz="1000" dirty="0"/>
                <a:t>)</a:t>
              </a:r>
              <a:endParaRPr lang="ko-KR" altLang="en-US" sz="1000" dirty="0"/>
            </a:p>
          </p:txBody>
        </p:sp>
        <p:sp>
          <p:nvSpPr>
            <p:cNvPr id="157" name="TextBox 156">
              <a:extLst>
                <a:ext uri="{FF2B5EF4-FFF2-40B4-BE49-F238E27FC236}">
                  <a16:creationId xmlns:a16="http://schemas.microsoft.com/office/drawing/2014/main" id="{CE2354CE-679C-4C9E-AAE4-9F06D7D19A65}"/>
                </a:ext>
              </a:extLst>
            </p:cNvPr>
            <p:cNvSpPr txBox="1"/>
            <p:nvPr/>
          </p:nvSpPr>
          <p:spPr>
            <a:xfrm>
              <a:off x="4824393" y="5280485"/>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X</a:t>
              </a:r>
            </a:p>
            <a:p>
              <a:pPr algn="ctr"/>
              <a:r>
                <a:rPr lang="en-US" altLang="ko-KR" sz="1000" dirty="0"/>
                <a:t>(</a:t>
              </a:r>
              <a:r>
                <a:rPr lang="ko-KR" altLang="en-US" sz="1000" dirty="0"/>
                <a:t>인용판결</a:t>
              </a:r>
              <a:r>
                <a:rPr lang="en-US" altLang="ko-KR" sz="1000" dirty="0"/>
                <a:t>-</a:t>
              </a:r>
              <a:r>
                <a:rPr lang="ko-KR" altLang="en-US" sz="1000" dirty="0" err="1"/>
                <a:t>취소환송</a:t>
              </a:r>
              <a:r>
                <a:rPr lang="en-US" altLang="ko-KR" sz="1000" dirty="0"/>
                <a:t>)</a:t>
              </a:r>
              <a:endParaRPr lang="ko-KR" altLang="en-US" sz="1000" dirty="0"/>
            </a:p>
          </p:txBody>
        </p:sp>
        <p:sp>
          <p:nvSpPr>
            <p:cNvPr id="159" name="TextBox 158">
              <a:extLst>
                <a:ext uri="{FF2B5EF4-FFF2-40B4-BE49-F238E27FC236}">
                  <a16:creationId xmlns:a16="http://schemas.microsoft.com/office/drawing/2014/main" id="{4D7AB8A0-85E3-41B7-9536-4D5726F85BAF}"/>
                </a:ext>
              </a:extLst>
            </p:cNvPr>
            <p:cNvSpPr txBox="1"/>
            <p:nvPr/>
          </p:nvSpPr>
          <p:spPr>
            <a:xfrm>
              <a:off x="8322960" y="5280485"/>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O</a:t>
              </a:r>
            </a:p>
            <a:p>
              <a:pPr algn="ctr"/>
              <a:r>
                <a:rPr lang="en-US" altLang="ko-KR" sz="1000" dirty="0"/>
                <a:t>(</a:t>
              </a:r>
              <a:r>
                <a:rPr lang="ko-KR" altLang="en-US" sz="1000" dirty="0"/>
                <a:t>인용판결</a:t>
              </a:r>
              <a:r>
                <a:rPr lang="en-US" altLang="ko-KR" sz="1000" dirty="0"/>
                <a:t>-</a:t>
              </a:r>
              <a:r>
                <a:rPr lang="ko-KR" altLang="en-US" sz="1000" dirty="0" err="1"/>
                <a:t>파기환송</a:t>
              </a:r>
              <a:r>
                <a:rPr lang="en-US" altLang="ko-KR" sz="1000" dirty="0"/>
                <a:t>)</a:t>
              </a:r>
              <a:endParaRPr lang="ko-KR" altLang="en-US" sz="1000" dirty="0"/>
            </a:p>
          </p:txBody>
        </p:sp>
        <p:sp>
          <p:nvSpPr>
            <p:cNvPr id="162" name="TextBox 161">
              <a:extLst>
                <a:ext uri="{FF2B5EF4-FFF2-40B4-BE49-F238E27FC236}">
                  <a16:creationId xmlns:a16="http://schemas.microsoft.com/office/drawing/2014/main" id="{0F19E96B-AB4E-48CC-A361-9CC696F8C3F4}"/>
                </a:ext>
              </a:extLst>
            </p:cNvPr>
            <p:cNvSpPr txBox="1"/>
            <p:nvPr/>
          </p:nvSpPr>
          <p:spPr>
            <a:xfrm>
              <a:off x="1301520" y="5758939"/>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O</a:t>
              </a:r>
            </a:p>
            <a:p>
              <a:pPr algn="ctr"/>
              <a:r>
                <a:rPr lang="en-US" altLang="ko-KR" sz="1000" dirty="0"/>
                <a:t>(</a:t>
              </a:r>
              <a:r>
                <a:rPr lang="ko-KR" altLang="en-US" sz="1000" dirty="0" err="1"/>
                <a:t>인용심결</a:t>
              </a:r>
              <a:r>
                <a:rPr lang="en-US" altLang="ko-KR" sz="1000" dirty="0"/>
                <a:t>)</a:t>
              </a:r>
              <a:endParaRPr lang="ko-KR" altLang="en-US" sz="1000" dirty="0"/>
            </a:p>
          </p:txBody>
        </p:sp>
        <p:sp>
          <p:nvSpPr>
            <p:cNvPr id="164" name="TextBox 163">
              <a:extLst>
                <a:ext uri="{FF2B5EF4-FFF2-40B4-BE49-F238E27FC236}">
                  <a16:creationId xmlns:a16="http://schemas.microsoft.com/office/drawing/2014/main" id="{0A029644-A717-4E7D-8E2F-45FA28165E45}"/>
                </a:ext>
              </a:extLst>
            </p:cNvPr>
            <p:cNvSpPr txBox="1"/>
            <p:nvPr/>
          </p:nvSpPr>
          <p:spPr>
            <a:xfrm>
              <a:off x="4824393" y="5758939"/>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X</a:t>
              </a:r>
            </a:p>
            <a:p>
              <a:pPr algn="ctr"/>
              <a:r>
                <a:rPr lang="en-US" altLang="ko-KR" sz="1000" dirty="0"/>
                <a:t>(</a:t>
              </a:r>
              <a:r>
                <a:rPr lang="ko-KR" altLang="en-US" sz="1000" dirty="0"/>
                <a:t>인용판결</a:t>
              </a:r>
              <a:r>
                <a:rPr lang="en-US" altLang="ko-KR" sz="1000" dirty="0"/>
                <a:t>-</a:t>
              </a:r>
              <a:r>
                <a:rPr lang="ko-KR" altLang="en-US" sz="1000" dirty="0" err="1"/>
                <a:t>취소환송</a:t>
              </a:r>
              <a:r>
                <a:rPr lang="en-US" altLang="ko-KR" sz="1000" dirty="0"/>
                <a:t>)</a:t>
              </a:r>
              <a:endParaRPr lang="ko-KR" altLang="en-US" sz="1000" dirty="0"/>
            </a:p>
          </p:txBody>
        </p:sp>
        <p:sp>
          <p:nvSpPr>
            <p:cNvPr id="166" name="TextBox 165">
              <a:extLst>
                <a:ext uri="{FF2B5EF4-FFF2-40B4-BE49-F238E27FC236}">
                  <a16:creationId xmlns:a16="http://schemas.microsoft.com/office/drawing/2014/main" id="{607616AE-9D7F-4B34-BAE3-37904D402643}"/>
                </a:ext>
              </a:extLst>
            </p:cNvPr>
            <p:cNvSpPr txBox="1"/>
            <p:nvPr/>
          </p:nvSpPr>
          <p:spPr>
            <a:xfrm>
              <a:off x="8322960" y="5758939"/>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X</a:t>
              </a:r>
            </a:p>
            <a:p>
              <a:pPr algn="ctr"/>
              <a:r>
                <a:rPr lang="en-US" altLang="ko-KR" sz="1000" dirty="0"/>
                <a:t>(</a:t>
              </a:r>
              <a:r>
                <a:rPr lang="ko-KR" altLang="en-US" sz="1000" dirty="0"/>
                <a:t>기각판결</a:t>
              </a:r>
              <a:r>
                <a:rPr lang="en-US" altLang="ko-KR" sz="1000" dirty="0"/>
                <a:t>)</a:t>
              </a:r>
              <a:endParaRPr lang="ko-KR" altLang="en-US" sz="1000" dirty="0"/>
            </a:p>
          </p:txBody>
        </p:sp>
        <p:sp>
          <p:nvSpPr>
            <p:cNvPr id="127" name="TextBox 126">
              <a:extLst>
                <a:ext uri="{FF2B5EF4-FFF2-40B4-BE49-F238E27FC236}">
                  <a16:creationId xmlns:a16="http://schemas.microsoft.com/office/drawing/2014/main" id="{12594BFC-F54C-4EB6-87A9-E57B5DF9994F}"/>
                </a:ext>
              </a:extLst>
            </p:cNvPr>
            <p:cNvSpPr txBox="1"/>
            <p:nvPr/>
          </p:nvSpPr>
          <p:spPr>
            <a:xfrm>
              <a:off x="1301520" y="3354701"/>
              <a:ext cx="1266938" cy="430678"/>
            </a:xfrm>
            <a:prstGeom prst="rect">
              <a:avLst/>
            </a:prstGeom>
            <a:solidFill>
              <a:schemeClr val="bg1">
                <a:lumMod val="95000"/>
              </a:schemeClr>
            </a:solidFill>
            <a:ln>
              <a:solidFill>
                <a:schemeClr val="bg1">
                  <a:lumMod val="50000"/>
                </a:schemeClr>
              </a:solidFill>
            </a:ln>
          </p:spPr>
          <p:txBody>
            <a:bodyPr wrap="none" rtlCol="0">
              <a:noAutofit/>
            </a:bodyPr>
            <a:lstStyle/>
            <a:p>
              <a:pPr algn="ctr"/>
              <a:r>
                <a:rPr lang="ko-KR" altLang="en-US" sz="1200" dirty="0"/>
                <a:t>무효</a:t>
              </a:r>
              <a:r>
                <a:rPr lang="en-US" altLang="ko-KR" sz="1200" dirty="0"/>
                <a:t>X</a:t>
              </a:r>
            </a:p>
            <a:p>
              <a:pPr algn="ctr"/>
              <a:r>
                <a:rPr lang="en-US" altLang="ko-KR" sz="1000" dirty="0"/>
                <a:t>(</a:t>
              </a:r>
              <a:r>
                <a:rPr lang="ko-KR" altLang="en-US" sz="1000" dirty="0" err="1"/>
                <a:t>기각심결</a:t>
              </a:r>
              <a:r>
                <a:rPr lang="en-US" altLang="ko-KR" sz="1000" dirty="0"/>
                <a:t>)</a:t>
              </a:r>
              <a:endParaRPr lang="ko-KR" altLang="en-US" sz="1000" dirty="0"/>
            </a:p>
          </p:txBody>
        </p:sp>
        <p:sp>
          <p:nvSpPr>
            <p:cNvPr id="126" name="말풍선: 모서리가 둥근 사각형 125">
              <a:extLst>
                <a:ext uri="{FF2B5EF4-FFF2-40B4-BE49-F238E27FC236}">
                  <a16:creationId xmlns:a16="http://schemas.microsoft.com/office/drawing/2014/main" id="{7B49CCF7-F99D-4C3E-A194-AA2B9F935213}"/>
                </a:ext>
              </a:extLst>
            </p:cNvPr>
            <p:cNvSpPr/>
            <p:nvPr/>
          </p:nvSpPr>
          <p:spPr>
            <a:xfrm>
              <a:off x="6341337" y="2816503"/>
              <a:ext cx="1608904" cy="336419"/>
            </a:xfrm>
            <a:prstGeom prst="wedgeRoundRectCallout">
              <a:avLst>
                <a:gd name="adj1" fmla="val -65920"/>
                <a:gd name="adj2" fmla="val -11862"/>
                <a:gd name="adj3" fmla="val 16667"/>
              </a:avLst>
            </a:prstGeom>
            <a:solidFill>
              <a:schemeClr val="tx1">
                <a:lumMod val="75000"/>
                <a:lumOff val="2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accent4"/>
                  </a:solidFill>
                </a:rPr>
                <a:t>정정후</a:t>
              </a:r>
              <a:r>
                <a:rPr lang="ko-KR" altLang="en-US" sz="1100" dirty="0">
                  <a:solidFill>
                    <a:schemeClr val="accent4"/>
                  </a:solidFill>
                </a:rPr>
                <a:t> 명도 의하여 심리</a:t>
              </a:r>
              <a:endParaRPr lang="en-US" altLang="ko-KR" sz="1100" dirty="0">
                <a:solidFill>
                  <a:schemeClr val="accent4"/>
                </a:solidFill>
              </a:endParaRPr>
            </a:p>
          </p:txBody>
        </p:sp>
        <p:sp>
          <p:nvSpPr>
            <p:cNvPr id="133" name="말풍선: 모서리가 둥근 사각형 132">
              <a:extLst>
                <a:ext uri="{FF2B5EF4-FFF2-40B4-BE49-F238E27FC236}">
                  <a16:creationId xmlns:a16="http://schemas.microsoft.com/office/drawing/2014/main" id="{04E53B6E-163F-4784-B163-153E0D1A2AEB}"/>
                </a:ext>
              </a:extLst>
            </p:cNvPr>
            <p:cNvSpPr/>
            <p:nvPr/>
          </p:nvSpPr>
          <p:spPr>
            <a:xfrm>
              <a:off x="6341337" y="3306925"/>
              <a:ext cx="1608904" cy="336419"/>
            </a:xfrm>
            <a:prstGeom prst="wedgeRoundRectCallout">
              <a:avLst>
                <a:gd name="adj1" fmla="val -65920"/>
                <a:gd name="adj2" fmla="val -11862"/>
                <a:gd name="adj3" fmla="val 16667"/>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bg1"/>
                  </a:solidFill>
                </a:rPr>
                <a:t>정정후</a:t>
              </a:r>
              <a:r>
                <a:rPr lang="ko-KR" altLang="en-US" sz="1100" dirty="0">
                  <a:solidFill>
                    <a:schemeClr val="bg1"/>
                  </a:solidFill>
                </a:rPr>
                <a:t> 명도 의하여 심리</a:t>
              </a:r>
              <a:endParaRPr lang="en-US" altLang="ko-KR" sz="1100" dirty="0">
                <a:solidFill>
                  <a:schemeClr val="bg1"/>
                </a:solidFill>
              </a:endParaRPr>
            </a:p>
          </p:txBody>
        </p:sp>
        <p:sp>
          <p:nvSpPr>
            <p:cNvPr id="140" name="말풍선: 모서리가 둥근 사각형 139">
              <a:extLst>
                <a:ext uri="{FF2B5EF4-FFF2-40B4-BE49-F238E27FC236}">
                  <a16:creationId xmlns:a16="http://schemas.microsoft.com/office/drawing/2014/main" id="{0C54F97D-7713-4E7B-B0F2-07CC7525280C}"/>
                </a:ext>
              </a:extLst>
            </p:cNvPr>
            <p:cNvSpPr/>
            <p:nvPr/>
          </p:nvSpPr>
          <p:spPr>
            <a:xfrm>
              <a:off x="2838876" y="3785379"/>
              <a:ext cx="1599209" cy="336419"/>
            </a:xfrm>
            <a:prstGeom prst="wedgeRoundRectCallout">
              <a:avLst>
                <a:gd name="adj1" fmla="val -65920"/>
                <a:gd name="adj2" fmla="val -11862"/>
                <a:gd name="adj3" fmla="val 16667"/>
              </a:avLst>
            </a:prstGeom>
            <a:solidFill>
              <a:schemeClr val="tx1">
                <a:lumMod val="75000"/>
                <a:lumOff val="2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accent4"/>
                  </a:solidFill>
                </a:rPr>
                <a:t>정정후</a:t>
              </a:r>
              <a:r>
                <a:rPr lang="ko-KR" altLang="en-US" sz="1100" dirty="0">
                  <a:solidFill>
                    <a:schemeClr val="accent4"/>
                  </a:solidFill>
                </a:rPr>
                <a:t> 명도 의하여 심리</a:t>
              </a:r>
              <a:endParaRPr lang="en-US" altLang="ko-KR" sz="1100" dirty="0">
                <a:solidFill>
                  <a:schemeClr val="accent4"/>
                </a:solidFill>
              </a:endParaRPr>
            </a:p>
          </p:txBody>
        </p:sp>
        <p:sp>
          <p:nvSpPr>
            <p:cNvPr id="154" name="말풍선: 모서리가 둥근 사각형 153">
              <a:extLst>
                <a:ext uri="{FF2B5EF4-FFF2-40B4-BE49-F238E27FC236}">
                  <a16:creationId xmlns:a16="http://schemas.microsoft.com/office/drawing/2014/main" id="{9A1B864C-B731-4F75-BB0F-E6F482D6F092}"/>
                </a:ext>
              </a:extLst>
            </p:cNvPr>
            <p:cNvSpPr/>
            <p:nvPr/>
          </p:nvSpPr>
          <p:spPr>
            <a:xfrm>
              <a:off x="6341337" y="4742287"/>
              <a:ext cx="1608904" cy="336419"/>
            </a:xfrm>
            <a:prstGeom prst="wedgeRoundRectCallout">
              <a:avLst>
                <a:gd name="adj1" fmla="val -65920"/>
                <a:gd name="adj2" fmla="val -11862"/>
                <a:gd name="adj3" fmla="val 16667"/>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bg1"/>
                  </a:solidFill>
                </a:rPr>
                <a:t>정정후</a:t>
              </a:r>
              <a:r>
                <a:rPr lang="ko-KR" altLang="en-US" sz="1100" dirty="0">
                  <a:solidFill>
                    <a:schemeClr val="bg1"/>
                  </a:solidFill>
                </a:rPr>
                <a:t> 명도 의하여 심리</a:t>
              </a:r>
              <a:endParaRPr lang="en-US" altLang="ko-KR" sz="1100" dirty="0">
                <a:solidFill>
                  <a:schemeClr val="bg1"/>
                </a:solidFill>
              </a:endParaRPr>
            </a:p>
          </p:txBody>
        </p:sp>
        <p:sp>
          <p:nvSpPr>
            <p:cNvPr id="161" name="말풍선: 모서리가 둥근 사각형 160">
              <a:extLst>
                <a:ext uri="{FF2B5EF4-FFF2-40B4-BE49-F238E27FC236}">
                  <a16:creationId xmlns:a16="http://schemas.microsoft.com/office/drawing/2014/main" id="{2E04EE0E-1F14-4F93-800D-0018418B5234}"/>
                </a:ext>
              </a:extLst>
            </p:cNvPr>
            <p:cNvSpPr/>
            <p:nvPr/>
          </p:nvSpPr>
          <p:spPr>
            <a:xfrm>
              <a:off x="6341337" y="5232709"/>
              <a:ext cx="1608904" cy="336419"/>
            </a:xfrm>
            <a:prstGeom prst="wedgeRoundRectCallout">
              <a:avLst>
                <a:gd name="adj1" fmla="val -65920"/>
                <a:gd name="adj2" fmla="val -11862"/>
                <a:gd name="adj3" fmla="val 16667"/>
              </a:avLst>
            </a:prstGeom>
            <a:solidFill>
              <a:schemeClr val="tx1">
                <a:lumMod val="75000"/>
                <a:lumOff val="2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accent4"/>
                  </a:solidFill>
                </a:rPr>
                <a:t>정정후</a:t>
              </a:r>
              <a:r>
                <a:rPr lang="ko-KR" altLang="en-US" sz="1100" dirty="0">
                  <a:solidFill>
                    <a:schemeClr val="accent4"/>
                  </a:solidFill>
                </a:rPr>
                <a:t> 명도 의하여 심리</a:t>
              </a:r>
              <a:endParaRPr lang="en-US" altLang="ko-KR" sz="1100" dirty="0">
                <a:solidFill>
                  <a:schemeClr val="accent4"/>
                </a:solidFill>
              </a:endParaRPr>
            </a:p>
          </p:txBody>
        </p:sp>
        <p:sp>
          <p:nvSpPr>
            <p:cNvPr id="168" name="말풍선: 모서리가 둥근 사각형 167">
              <a:extLst>
                <a:ext uri="{FF2B5EF4-FFF2-40B4-BE49-F238E27FC236}">
                  <a16:creationId xmlns:a16="http://schemas.microsoft.com/office/drawing/2014/main" id="{DAC567A2-A388-44B7-9A65-7FE27E90E14F}"/>
                </a:ext>
              </a:extLst>
            </p:cNvPr>
            <p:cNvSpPr/>
            <p:nvPr/>
          </p:nvSpPr>
          <p:spPr>
            <a:xfrm>
              <a:off x="2838876" y="5711163"/>
              <a:ext cx="1599209" cy="336419"/>
            </a:xfrm>
            <a:prstGeom prst="wedgeRoundRectCallout">
              <a:avLst>
                <a:gd name="adj1" fmla="val -65920"/>
                <a:gd name="adj2" fmla="val -11862"/>
                <a:gd name="adj3" fmla="val 16667"/>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bg1"/>
                  </a:solidFill>
                </a:rPr>
                <a:t>정정후</a:t>
              </a:r>
              <a:r>
                <a:rPr lang="ko-KR" altLang="en-US" sz="1100" dirty="0">
                  <a:solidFill>
                    <a:schemeClr val="bg1"/>
                  </a:solidFill>
                </a:rPr>
                <a:t> 명도 의하여 심리</a:t>
              </a:r>
              <a:endParaRPr lang="en-US" altLang="ko-KR" sz="1100" dirty="0">
                <a:solidFill>
                  <a:schemeClr val="bg1"/>
                </a:solidFill>
              </a:endParaRPr>
            </a:p>
          </p:txBody>
        </p:sp>
        <p:sp>
          <p:nvSpPr>
            <p:cNvPr id="86" name="TextBox 85">
              <a:extLst>
                <a:ext uri="{FF2B5EF4-FFF2-40B4-BE49-F238E27FC236}">
                  <a16:creationId xmlns:a16="http://schemas.microsoft.com/office/drawing/2014/main" id="{2C8233D2-91D5-4932-B090-E6D95AFC207F}"/>
                </a:ext>
              </a:extLst>
            </p:cNvPr>
            <p:cNvSpPr txBox="1"/>
            <p:nvPr/>
          </p:nvSpPr>
          <p:spPr>
            <a:xfrm>
              <a:off x="9114619" y="748556"/>
              <a:ext cx="1623050" cy="495357"/>
            </a:xfrm>
            <a:prstGeom prst="rect">
              <a:avLst/>
            </a:prstGeom>
            <a:solidFill>
              <a:schemeClr val="accent3">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accent2"/>
                  </a:solidFill>
                  <a:latin typeface="+mn-ea"/>
                </a:rPr>
                <a:t>정정전</a:t>
              </a:r>
              <a:r>
                <a:rPr lang="ko-KR" altLang="en-US" sz="1200" dirty="0">
                  <a:solidFill>
                    <a:schemeClr val="accent2"/>
                  </a:solidFill>
                  <a:latin typeface="+mn-ea"/>
                </a:rPr>
                <a:t> 명도에 의해</a:t>
              </a:r>
              <a:endParaRPr lang="en-US" altLang="ko-KR" sz="1200" dirty="0">
                <a:solidFill>
                  <a:schemeClr val="accent2"/>
                </a:solidFill>
                <a:latin typeface="+mn-ea"/>
              </a:endParaRPr>
            </a:p>
            <a:p>
              <a:pPr algn="ctr"/>
              <a:r>
                <a:rPr lang="ko-KR" altLang="en-US" sz="1200" dirty="0">
                  <a:solidFill>
                    <a:schemeClr val="accent2"/>
                  </a:solidFill>
                  <a:latin typeface="+mn-ea"/>
                </a:rPr>
                <a:t>심리</a:t>
              </a:r>
              <a:endParaRPr lang="en-US" altLang="ko-KR" sz="1200" dirty="0">
                <a:solidFill>
                  <a:schemeClr val="accent2"/>
                </a:solidFill>
                <a:latin typeface="+mn-ea"/>
              </a:endParaRPr>
            </a:p>
          </p:txBody>
        </p:sp>
        <p:cxnSp>
          <p:nvCxnSpPr>
            <p:cNvPr id="89" name="연결선: 꺾임 88">
              <a:extLst>
                <a:ext uri="{FF2B5EF4-FFF2-40B4-BE49-F238E27FC236}">
                  <a16:creationId xmlns:a16="http://schemas.microsoft.com/office/drawing/2014/main" id="{8F222A66-39AC-4233-9EBE-3D867EEB6C10}"/>
                </a:ext>
              </a:extLst>
            </p:cNvPr>
            <p:cNvCxnSpPr>
              <a:cxnSpLocks/>
              <a:stCxn id="86" idx="2"/>
              <a:endCxn id="43" idx="0"/>
            </p:cNvCxnSpPr>
            <p:nvPr/>
          </p:nvCxnSpPr>
          <p:spPr>
            <a:xfrm rot="5400000">
              <a:off x="9280688" y="919652"/>
              <a:ext cx="321195" cy="969717"/>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2" name="타원 91">
              <a:extLst>
                <a:ext uri="{FF2B5EF4-FFF2-40B4-BE49-F238E27FC236}">
                  <a16:creationId xmlns:a16="http://schemas.microsoft.com/office/drawing/2014/main" id="{FC82812F-71B0-4969-8C17-212E3AB486FC}"/>
                </a:ext>
              </a:extLst>
            </p:cNvPr>
            <p:cNvSpPr/>
            <p:nvPr/>
          </p:nvSpPr>
          <p:spPr>
            <a:xfrm>
              <a:off x="5381856" y="1565108"/>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93" name="직선 화살표 연결선 92">
              <a:extLst>
                <a:ext uri="{FF2B5EF4-FFF2-40B4-BE49-F238E27FC236}">
                  <a16:creationId xmlns:a16="http://schemas.microsoft.com/office/drawing/2014/main" id="{5B883DF4-3E77-466B-A42B-F0269F398DEC}"/>
                </a:ext>
              </a:extLst>
            </p:cNvPr>
            <p:cNvCxnSpPr>
              <a:cxnSpLocks/>
              <a:stCxn id="94" idx="0"/>
              <a:endCxn id="92" idx="4"/>
            </p:cNvCxnSpPr>
            <p:nvPr/>
          </p:nvCxnSpPr>
          <p:spPr>
            <a:xfrm flipH="1" flipV="1">
              <a:off x="5459225" y="1726446"/>
              <a:ext cx="1" cy="13163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4" name="TextBox 93">
              <a:extLst>
                <a:ext uri="{FF2B5EF4-FFF2-40B4-BE49-F238E27FC236}">
                  <a16:creationId xmlns:a16="http://schemas.microsoft.com/office/drawing/2014/main" id="{6EFA0923-444D-4645-8875-976D11D5C68D}"/>
                </a:ext>
              </a:extLst>
            </p:cNvPr>
            <p:cNvSpPr txBox="1"/>
            <p:nvPr/>
          </p:nvSpPr>
          <p:spPr>
            <a:xfrm>
              <a:off x="4825756" y="1858080"/>
              <a:ext cx="1266940" cy="430678"/>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특허법원</a:t>
              </a:r>
              <a:endParaRPr lang="en-US" altLang="ko-KR" sz="1200" dirty="0">
                <a:solidFill>
                  <a:schemeClr val="tx1"/>
                </a:solidFill>
                <a:latin typeface="+mn-ea"/>
              </a:endParaRPr>
            </a:p>
            <a:p>
              <a:pPr algn="ctr"/>
              <a:r>
                <a:rPr lang="ko-KR" altLang="en-US" sz="1200" dirty="0">
                  <a:solidFill>
                    <a:schemeClr val="tx1"/>
                  </a:solidFill>
                  <a:latin typeface="+mn-ea"/>
                </a:rPr>
                <a:t>판결</a:t>
              </a:r>
              <a:endParaRPr lang="en-US" altLang="ko-KR" sz="1200" dirty="0">
                <a:solidFill>
                  <a:schemeClr val="tx1"/>
                </a:solidFill>
                <a:latin typeface="+mn-ea"/>
              </a:endParaRPr>
            </a:p>
          </p:txBody>
        </p:sp>
        <p:cxnSp>
          <p:nvCxnSpPr>
            <p:cNvPr id="9" name="연결선: 꺾임 8">
              <a:extLst>
                <a:ext uri="{FF2B5EF4-FFF2-40B4-BE49-F238E27FC236}">
                  <a16:creationId xmlns:a16="http://schemas.microsoft.com/office/drawing/2014/main" id="{1345AB10-50F1-42BB-AE6B-F5286CF2EB7F}"/>
                </a:ext>
              </a:extLst>
            </p:cNvPr>
            <p:cNvCxnSpPr>
              <a:cxnSpLocks/>
              <a:stCxn id="86" idx="1"/>
              <a:endCxn id="92" idx="0"/>
            </p:cNvCxnSpPr>
            <p:nvPr/>
          </p:nvCxnSpPr>
          <p:spPr>
            <a:xfrm rot="10800000" flipV="1">
              <a:off x="5459225" y="996234"/>
              <a:ext cx="3655394" cy="568874"/>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sp>
        <p:nvSpPr>
          <p:cNvPr id="15" name="TextBox 14">
            <a:extLst>
              <a:ext uri="{FF2B5EF4-FFF2-40B4-BE49-F238E27FC236}">
                <a16:creationId xmlns:a16="http://schemas.microsoft.com/office/drawing/2014/main" id="{EAB6AAF7-F8DC-C2FE-A857-B7F46996EECA}"/>
              </a:ext>
            </a:extLst>
          </p:cNvPr>
          <p:cNvSpPr txBox="1"/>
          <p:nvPr/>
        </p:nvSpPr>
        <p:spPr>
          <a:xfrm>
            <a:off x="2590421" y="6161523"/>
            <a:ext cx="9525378" cy="261610"/>
          </a:xfrm>
          <a:prstGeom prst="rect">
            <a:avLst/>
          </a:prstGeom>
          <a:noFill/>
          <a:ln>
            <a:solidFill>
              <a:schemeClr val="bg1">
                <a:lumMod val="50000"/>
              </a:schemeClr>
            </a:solidFill>
          </a:ln>
        </p:spPr>
        <p:txBody>
          <a:bodyPr wrap="square">
            <a:spAutoFit/>
          </a:bodyPr>
          <a:lstStyle/>
          <a:p>
            <a:r>
              <a:rPr lang="ko-KR" altLang="en-US" sz="1100" dirty="0"/>
              <a:t>대법원에서 정정 전 특허발명에 의해서 무효가 아니라고 판시하였으니</a:t>
            </a:r>
            <a:r>
              <a:rPr lang="en-US" altLang="ko-KR" sz="1100" dirty="0"/>
              <a:t>, </a:t>
            </a:r>
            <a:r>
              <a:rPr lang="ko-KR" altLang="en-US" sz="1100" dirty="0"/>
              <a:t>특허법원에서는 감축 등을 한 정정 후 특허발명에 의해서 무효가 아니라고 판시할 가능성이 높음</a:t>
            </a:r>
          </a:p>
        </p:txBody>
      </p:sp>
      <p:sp>
        <p:nvSpPr>
          <p:cNvPr id="16" name="TextBox 15">
            <a:extLst>
              <a:ext uri="{FF2B5EF4-FFF2-40B4-BE49-F238E27FC236}">
                <a16:creationId xmlns:a16="http://schemas.microsoft.com/office/drawing/2014/main" id="{438DFABD-F505-E14A-DC4A-CCA38C29DF5C}"/>
              </a:ext>
            </a:extLst>
          </p:cNvPr>
          <p:cNvSpPr txBox="1"/>
          <p:nvPr/>
        </p:nvSpPr>
        <p:spPr>
          <a:xfrm>
            <a:off x="2603357" y="6524361"/>
            <a:ext cx="9512441" cy="261610"/>
          </a:xfrm>
          <a:prstGeom prst="rect">
            <a:avLst/>
          </a:prstGeom>
          <a:noFill/>
          <a:ln>
            <a:solidFill>
              <a:schemeClr val="bg1">
                <a:lumMod val="50000"/>
              </a:schemeClr>
            </a:solidFill>
          </a:ln>
        </p:spPr>
        <p:txBody>
          <a:bodyPr wrap="square">
            <a:spAutoFit/>
          </a:bodyPr>
          <a:lstStyle/>
          <a:p>
            <a:r>
              <a:rPr lang="ko-KR" altLang="en-US" sz="1100" dirty="0"/>
              <a:t>대법원에서 정정 전 특허발명에 의해서 무효라고 판시하였으나</a:t>
            </a:r>
            <a:r>
              <a:rPr lang="en-US" altLang="ko-KR" sz="1100" dirty="0"/>
              <a:t>, </a:t>
            </a:r>
            <a:r>
              <a:rPr lang="ko-KR" altLang="en-US" sz="1100" dirty="0"/>
              <a:t>특허법원에서는 감축 등을 한 정정 후 특허발명에 의해서 무효일지 여부를 다시 판단해야 함</a:t>
            </a:r>
          </a:p>
        </p:txBody>
      </p:sp>
      <p:sp>
        <p:nvSpPr>
          <p:cNvPr id="10" name="TextBox 9">
            <a:extLst>
              <a:ext uri="{FF2B5EF4-FFF2-40B4-BE49-F238E27FC236}">
                <a16:creationId xmlns:a16="http://schemas.microsoft.com/office/drawing/2014/main" id="{92C63007-2C78-ACF4-9AB6-086BFDC6ED7E}"/>
              </a:ext>
            </a:extLst>
          </p:cNvPr>
          <p:cNvSpPr txBox="1"/>
          <p:nvPr/>
        </p:nvSpPr>
        <p:spPr>
          <a:xfrm>
            <a:off x="3030243" y="3845842"/>
            <a:ext cx="1189749" cy="276999"/>
          </a:xfrm>
          <a:prstGeom prst="rect">
            <a:avLst/>
          </a:prstGeom>
          <a:noFill/>
        </p:spPr>
        <p:txBody>
          <a:bodyPr wrap="none" rtlCol="0">
            <a:spAutoFit/>
          </a:bodyPr>
          <a:lstStyle/>
          <a:p>
            <a:r>
              <a:rPr lang="en-US" altLang="ko-KR" sz="1200" dirty="0">
                <a:solidFill>
                  <a:srgbClr val="FF0000"/>
                </a:solidFill>
              </a:rPr>
              <a:t>(2018</a:t>
            </a:r>
            <a:r>
              <a:rPr lang="ko-KR" altLang="en-US" sz="1200" dirty="0">
                <a:solidFill>
                  <a:srgbClr val="FF0000"/>
                </a:solidFill>
              </a:rPr>
              <a:t>후</a:t>
            </a:r>
            <a:r>
              <a:rPr lang="en-US" altLang="ko-KR" sz="1200" dirty="0">
                <a:solidFill>
                  <a:srgbClr val="FF0000"/>
                </a:solidFill>
              </a:rPr>
              <a:t>11124)</a:t>
            </a:r>
            <a:endParaRPr lang="ko-KR" altLang="en-US" sz="1200" dirty="0">
              <a:solidFill>
                <a:srgbClr val="FF0000"/>
              </a:solidFill>
            </a:endParaRPr>
          </a:p>
        </p:txBody>
      </p:sp>
    </p:spTree>
    <p:extLst>
      <p:ext uri="{BB962C8B-B14F-4D97-AF65-F5344CB8AC3E}">
        <p14:creationId xmlns:p14="http://schemas.microsoft.com/office/powerpoint/2010/main" val="4000725349"/>
      </p:ext>
    </p:extLst>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136</a:t>
            </a:r>
            <a:r>
              <a:rPr lang="ko-KR" altLang="en-US" dirty="0"/>
              <a:t>조</a:t>
            </a:r>
          </a:p>
        </p:txBody>
      </p:sp>
      <p:sp>
        <p:nvSpPr>
          <p:cNvPr id="4" name="텍스트 개체 틀 3"/>
          <p:cNvSpPr>
            <a:spLocks noGrp="1"/>
          </p:cNvSpPr>
          <p:nvPr>
            <p:ph type="body" sz="quarter" idx="13"/>
          </p:nvPr>
        </p:nvSpPr>
        <p:spPr/>
        <p:txBody>
          <a:bodyPr/>
          <a:lstStyle/>
          <a:p>
            <a:r>
              <a:rPr lang="ko-KR" altLang="en-US" dirty="0"/>
              <a:t>취소신청과 무효심판 계속 중 정정청구</a:t>
            </a:r>
            <a:r>
              <a:rPr lang="en-US" altLang="ko-KR" dirty="0"/>
              <a:t>/</a:t>
            </a:r>
            <a:r>
              <a:rPr lang="ko-KR" altLang="en-US" dirty="0"/>
              <a:t>정정심판청구</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graphicFrame>
        <p:nvGraphicFramePr>
          <p:cNvPr id="7" name="표 7">
            <a:extLst>
              <a:ext uri="{FF2B5EF4-FFF2-40B4-BE49-F238E27FC236}">
                <a16:creationId xmlns:a16="http://schemas.microsoft.com/office/drawing/2014/main" id="{D7C7B542-DBB1-4C36-90DB-B0550ABB83C4}"/>
              </a:ext>
            </a:extLst>
          </p:cNvPr>
          <p:cNvGraphicFramePr>
            <a:graphicFrameLocks noGrp="1"/>
          </p:cNvGraphicFramePr>
          <p:nvPr/>
        </p:nvGraphicFramePr>
        <p:xfrm>
          <a:off x="846421" y="1405507"/>
          <a:ext cx="10687692" cy="4841385"/>
        </p:xfrm>
        <a:graphic>
          <a:graphicData uri="http://schemas.openxmlformats.org/drawingml/2006/table">
            <a:tbl>
              <a:tblPr>
                <a:tableStyleId>{8799B23B-EC83-4686-B30A-512413B5E67A}</a:tableStyleId>
              </a:tblPr>
              <a:tblGrid>
                <a:gridCol w="2671923">
                  <a:extLst>
                    <a:ext uri="{9D8B030D-6E8A-4147-A177-3AD203B41FA5}">
                      <a16:colId xmlns:a16="http://schemas.microsoft.com/office/drawing/2014/main" val="1875832222"/>
                    </a:ext>
                  </a:extLst>
                </a:gridCol>
                <a:gridCol w="2671923">
                  <a:extLst>
                    <a:ext uri="{9D8B030D-6E8A-4147-A177-3AD203B41FA5}">
                      <a16:colId xmlns:a16="http://schemas.microsoft.com/office/drawing/2014/main" val="3112885057"/>
                    </a:ext>
                  </a:extLst>
                </a:gridCol>
                <a:gridCol w="2671923">
                  <a:extLst>
                    <a:ext uri="{9D8B030D-6E8A-4147-A177-3AD203B41FA5}">
                      <a16:colId xmlns:a16="http://schemas.microsoft.com/office/drawing/2014/main" val="3421592993"/>
                    </a:ext>
                  </a:extLst>
                </a:gridCol>
                <a:gridCol w="2671923">
                  <a:extLst>
                    <a:ext uri="{9D8B030D-6E8A-4147-A177-3AD203B41FA5}">
                      <a16:colId xmlns:a16="http://schemas.microsoft.com/office/drawing/2014/main" val="964438196"/>
                    </a:ext>
                  </a:extLst>
                </a:gridCol>
              </a:tblGrid>
              <a:tr h="1210346">
                <a:tc>
                  <a:txBody>
                    <a:bodyPr/>
                    <a:lstStyle/>
                    <a:p>
                      <a:pPr algn="r" latinLnBrk="1"/>
                      <a:endParaRPr lang="en-US" altLang="ko-KR" sz="1400" dirty="0"/>
                    </a:p>
                    <a:p>
                      <a:pPr algn="r" latinLnBrk="1"/>
                      <a:r>
                        <a:rPr lang="ko-KR" altLang="en-US" sz="1400" dirty="0"/>
                        <a:t>취소신청</a:t>
                      </a:r>
                      <a:endParaRPr lang="en-US" altLang="ko-KR" sz="1400" dirty="0"/>
                    </a:p>
                    <a:p>
                      <a:pPr algn="l" latinLnBrk="1"/>
                      <a:endParaRPr lang="en-US" altLang="ko-KR" sz="1400" dirty="0"/>
                    </a:p>
                    <a:p>
                      <a:pPr algn="l" latinLnBrk="1"/>
                      <a:r>
                        <a:rPr lang="ko-KR" altLang="en-US" sz="1400" dirty="0"/>
                        <a:t>무효심판</a:t>
                      </a:r>
                    </a:p>
                  </a:txBody>
                  <a:tcPr>
                    <a:lnTlToBr w="12700" cap="flat" cmpd="sng" algn="ctr">
                      <a:solidFill>
                        <a:schemeClr val="tx1"/>
                      </a:solidFill>
                      <a:prstDash val="solid"/>
                      <a:round/>
                      <a:headEnd type="none" w="med" len="med"/>
                      <a:tailEnd type="none" w="med" len="med"/>
                    </a:lnTlToBr>
                    <a:solidFill>
                      <a:schemeClr val="accent1">
                        <a:lumMod val="20000"/>
                        <a:lumOff val="80000"/>
                      </a:schemeClr>
                    </a:solidFill>
                  </a:tcPr>
                </a:tc>
                <a:tc>
                  <a:txBody>
                    <a:bodyPr/>
                    <a:lstStyle/>
                    <a:p>
                      <a:pPr algn="ctr" latinLnBrk="1"/>
                      <a:r>
                        <a:rPr lang="ko-KR" altLang="en-US" sz="1400" dirty="0"/>
                        <a:t>심판원 계속 中</a:t>
                      </a:r>
                    </a:p>
                  </a:txBody>
                  <a:tcPr anchor="ctr">
                    <a:solidFill>
                      <a:schemeClr val="accent1">
                        <a:lumMod val="20000"/>
                        <a:lumOff val="80000"/>
                      </a:schemeClr>
                    </a:solidFill>
                  </a:tcPr>
                </a:tc>
                <a:tc>
                  <a:txBody>
                    <a:bodyPr/>
                    <a:lstStyle/>
                    <a:p>
                      <a:pPr algn="ctr" latinLnBrk="1"/>
                      <a:r>
                        <a:rPr lang="ko-KR" altLang="en-US" sz="1400" dirty="0"/>
                        <a:t>특허법원 계속 中</a:t>
                      </a:r>
                    </a:p>
                  </a:txBody>
                  <a:tcPr anchor="ctr">
                    <a:solidFill>
                      <a:schemeClr val="accent1">
                        <a:lumMod val="20000"/>
                        <a:lumOff val="80000"/>
                      </a:schemeClr>
                    </a:solidFill>
                  </a:tcPr>
                </a:tc>
                <a:tc>
                  <a:txBody>
                    <a:bodyPr/>
                    <a:lstStyle/>
                    <a:p>
                      <a:pPr algn="ctr" latinLnBrk="1"/>
                      <a:r>
                        <a:rPr lang="ko-KR" altLang="en-US" sz="1400" dirty="0"/>
                        <a:t>대법원 계속 中</a:t>
                      </a:r>
                    </a:p>
                  </a:txBody>
                  <a:tcPr anchor="ctr">
                    <a:solidFill>
                      <a:schemeClr val="accent1">
                        <a:lumMod val="20000"/>
                        <a:lumOff val="80000"/>
                      </a:schemeClr>
                    </a:solidFill>
                  </a:tcPr>
                </a:tc>
                <a:extLst>
                  <a:ext uri="{0D108BD9-81ED-4DB2-BD59-A6C34878D82A}">
                    <a16:rowId xmlns:a16="http://schemas.microsoft.com/office/drawing/2014/main" val="153392792"/>
                  </a:ext>
                </a:extLst>
              </a:tr>
              <a:tr h="1210346">
                <a:tc>
                  <a:txBody>
                    <a:bodyPr/>
                    <a:lstStyle/>
                    <a:p>
                      <a:pPr algn="ctr" latinLnBrk="1"/>
                      <a:r>
                        <a:rPr lang="ko-KR" altLang="en-US" sz="1400" dirty="0"/>
                        <a:t>심판원 계속 中</a:t>
                      </a:r>
                    </a:p>
                  </a:txBody>
                  <a:tcPr anchor="ctr">
                    <a:solidFill>
                      <a:schemeClr val="accent3">
                        <a:lumMod val="20000"/>
                        <a:lumOff val="80000"/>
                      </a:schemeClr>
                    </a:solidFill>
                  </a:tcPr>
                </a:tc>
                <a:tc>
                  <a:txBody>
                    <a:bodyPr/>
                    <a:lstStyle/>
                    <a:p>
                      <a:pPr algn="l" latinLnBrk="1"/>
                      <a:r>
                        <a:rPr lang="ko-KR" altLang="en-US" sz="1400" dirty="0"/>
                        <a:t>정정청구 가능</a:t>
                      </a:r>
                      <a:r>
                        <a:rPr lang="en-US" altLang="ko-KR" sz="1400" dirty="0"/>
                        <a:t>(</a:t>
                      </a:r>
                      <a:r>
                        <a:rPr lang="ko-KR" altLang="en-US" sz="1400" dirty="0"/>
                        <a:t>法 </a:t>
                      </a:r>
                      <a:r>
                        <a:rPr lang="en-US" altLang="ko-KR" sz="1400" dirty="0"/>
                        <a:t>132</a:t>
                      </a:r>
                      <a:r>
                        <a:rPr lang="ko-KR" altLang="en-US" sz="1400" dirty="0"/>
                        <a:t>의</a:t>
                      </a:r>
                      <a:r>
                        <a:rPr lang="en-US" altLang="ko-KR" sz="1400" dirty="0"/>
                        <a:t>3, 133</a:t>
                      </a:r>
                      <a:r>
                        <a:rPr lang="ko-KR" altLang="en-US" sz="1400" dirty="0"/>
                        <a:t>의</a:t>
                      </a:r>
                      <a:r>
                        <a:rPr lang="en-US" altLang="ko-KR" sz="1400" dirty="0"/>
                        <a:t>2)</a:t>
                      </a:r>
                      <a:endParaRPr lang="ko-KR" altLang="en-US" sz="1400" dirty="0"/>
                    </a:p>
                  </a:txBody>
                  <a:tcPr anchor="ctr"/>
                </a:tc>
                <a:tc>
                  <a:txBody>
                    <a:bodyPr/>
                    <a:lstStyle/>
                    <a:p>
                      <a:pPr algn="l" latinLnBrk="1"/>
                      <a:r>
                        <a:rPr lang="ko-KR" altLang="en-US" sz="1400" dirty="0"/>
                        <a:t>정정청구 가능</a:t>
                      </a:r>
                      <a:r>
                        <a:rPr lang="en-US" altLang="ko-KR" sz="1400" dirty="0"/>
                        <a:t>(</a:t>
                      </a:r>
                      <a:r>
                        <a:rPr lang="ko-KR" altLang="en-US" sz="1400" dirty="0"/>
                        <a:t>法 </a:t>
                      </a:r>
                      <a:r>
                        <a:rPr lang="en-US" altLang="ko-KR" sz="1400" dirty="0"/>
                        <a:t>133</a:t>
                      </a:r>
                      <a:r>
                        <a:rPr lang="ko-KR" altLang="en-US" sz="1400" dirty="0"/>
                        <a:t>의</a:t>
                      </a:r>
                      <a:r>
                        <a:rPr lang="en-US" altLang="ko-KR" sz="1400" dirty="0"/>
                        <a:t>2)</a:t>
                      </a:r>
                      <a:endParaRPr lang="ko-KR" altLang="en-US" sz="1400" dirty="0"/>
                    </a:p>
                  </a:txBody>
                  <a:tcPr anchor="ctr"/>
                </a:tc>
                <a:tc>
                  <a:txBody>
                    <a:bodyPr/>
                    <a:lstStyle/>
                    <a:p>
                      <a:pPr algn="l" latinLnBrk="1"/>
                      <a:r>
                        <a:rPr lang="ko-KR" altLang="en-US" sz="1400" dirty="0"/>
                        <a:t>정정청구 가능</a:t>
                      </a:r>
                      <a:r>
                        <a:rPr lang="en-US" altLang="ko-KR" sz="1400" dirty="0"/>
                        <a:t>(</a:t>
                      </a:r>
                      <a:r>
                        <a:rPr lang="ko-KR" altLang="en-US" sz="1400" dirty="0"/>
                        <a:t>法 </a:t>
                      </a:r>
                      <a:r>
                        <a:rPr lang="en-US" altLang="ko-KR" sz="1400" dirty="0"/>
                        <a:t>133</a:t>
                      </a:r>
                      <a:r>
                        <a:rPr lang="ko-KR" altLang="en-US" sz="1400" dirty="0"/>
                        <a:t>의</a:t>
                      </a:r>
                      <a:r>
                        <a:rPr lang="en-US" altLang="ko-KR" sz="1400" dirty="0"/>
                        <a:t>2)</a:t>
                      </a:r>
                      <a:endParaRPr lang="ko-KR" altLang="en-US" sz="1400" dirty="0"/>
                    </a:p>
                  </a:txBody>
                  <a:tcPr anchor="ctr"/>
                </a:tc>
                <a:extLst>
                  <a:ext uri="{0D108BD9-81ED-4DB2-BD59-A6C34878D82A}">
                    <a16:rowId xmlns:a16="http://schemas.microsoft.com/office/drawing/2014/main" val="2676929416"/>
                  </a:ext>
                </a:extLst>
              </a:tr>
              <a:tr h="1729066">
                <a:tc>
                  <a:txBody>
                    <a:bodyPr/>
                    <a:lstStyle/>
                    <a:p>
                      <a:pPr algn="ctr" latinLnBrk="1"/>
                      <a:r>
                        <a:rPr lang="ko-KR" altLang="en-US" sz="1400" dirty="0"/>
                        <a:t>특허법원 계속 中</a:t>
                      </a:r>
                    </a:p>
                  </a:txBody>
                  <a:tcPr anchor="ctr">
                    <a:solidFill>
                      <a:schemeClr val="accent3">
                        <a:lumMod val="20000"/>
                        <a:lumOff val="80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400" dirty="0"/>
                        <a:t>정정청구 가능</a:t>
                      </a:r>
                      <a:r>
                        <a:rPr lang="en-US" altLang="ko-KR" sz="1400" dirty="0"/>
                        <a:t>(</a:t>
                      </a:r>
                      <a:r>
                        <a:rPr lang="ko-KR" altLang="en-US" sz="1400" dirty="0"/>
                        <a:t>法 </a:t>
                      </a:r>
                      <a:r>
                        <a:rPr lang="en-US" altLang="ko-KR" sz="1400" dirty="0"/>
                        <a:t>132</a:t>
                      </a:r>
                      <a:r>
                        <a:rPr lang="ko-KR" altLang="en-US" sz="1400" dirty="0"/>
                        <a:t>의</a:t>
                      </a:r>
                      <a:r>
                        <a:rPr lang="en-US" altLang="ko-KR" sz="1400" dirty="0"/>
                        <a:t>3)</a:t>
                      </a:r>
                    </a:p>
                    <a:p>
                      <a:pPr marL="0" marR="0" lvl="0" indent="0" algn="l" defTabSz="914400" rtl="0" eaLnBrk="1" fontAlgn="auto" latinLnBrk="1" hangingPunct="1">
                        <a:lnSpc>
                          <a:spcPct val="100000"/>
                        </a:lnSpc>
                        <a:spcBef>
                          <a:spcPts val="0"/>
                        </a:spcBef>
                        <a:spcAft>
                          <a:spcPts val="0"/>
                        </a:spcAft>
                        <a:buClrTx/>
                        <a:buSzTx/>
                        <a:buFontTx/>
                        <a:buNone/>
                        <a:tabLst/>
                        <a:defRPr/>
                      </a:pPr>
                      <a:endParaRPr lang="en-US" altLang="ko-KR" sz="1400" dirty="0"/>
                    </a:p>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400" dirty="0"/>
                        <a:t>정정심판청구 가능</a:t>
                      </a:r>
                      <a:endParaRPr lang="en-US" altLang="ko-KR" sz="1400" dirty="0"/>
                    </a:p>
                    <a:p>
                      <a:pPr algn="l" latinLnBrk="1"/>
                      <a:r>
                        <a:rPr lang="en-US" altLang="ko-KR" sz="1400" dirty="0"/>
                        <a:t>(</a:t>
                      </a:r>
                      <a:r>
                        <a:rPr lang="ko-KR" altLang="en-US" sz="1400" dirty="0"/>
                        <a:t>단</a:t>
                      </a:r>
                      <a:r>
                        <a:rPr lang="en-US" altLang="ko-KR" sz="1400" dirty="0"/>
                        <a:t>, </a:t>
                      </a:r>
                      <a:r>
                        <a:rPr lang="ko-KR" altLang="en-US" sz="1400" dirty="0"/>
                        <a:t>변론종결전까지</a:t>
                      </a:r>
                      <a:r>
                        <a:rPr lang="en-US" altLang="ko-KR" sz="1400" dirty="0"/>
                        <a:t>)</a:t>
                      </a:r>
                    </a:p>
                    <a:p>
                      <a:pPr algn="l" latinLnBrk="1"/>
                      <a:r>
                        <a:rPr lang="en-US" altLang="ko-KR" sz="1400" dirty="0"/>
                        <a:t>(</a:t>
                      </a:r>
                      <a:r>
                        <a:rPr lang="ko-KR" altLang="en-US" sz="1400" dirty="0"/>
                        <a:t>法 </a:t>
                      </a:r>
                      <a:r>
                        <a:rPr lang="en-US" altLang="ko-KR" sz="1400" dirty="0"/>
                        <a:t>136</a:t>
                      </a:r>
                      <a:r>
                        <a:rPr lang="ko-KR" altLang="en-US" sz="1400" kern="1200" dirty="0">
                          <a:solidFill>
                            <a:schemeClr val="tx1"/>
                          </a:solidFill>
                          <a:effectLst/>
                          <a:latin typeface="+mn-lt"/>
                          <a:ea typeface="+mn-ea"/>
                          <a:cs typeface="+mn-cs"/>
                        </a:rPr>
                        <a:t>①</a:t>
                      </a:r>
                      <a:r>
                        <a:rPr lang="en-US" altLang="ko-KR" sz="1400" kern="1200" dirty="0">
                          <a:solidFill>
                            <a:schemeClr val="tx1"/>
                          </a:solidFill>
                          <a:effectLst/>
                          <a:latin typeface="+mn-lt"/>
                          <a:ea typeface="+mn-ea"/>
                          <a:cs typeface="+mn-cs"/>
                        </a:rPr>
                        <a:t>Ⅰ</a:t>
                      </a:r>
                      <a:r>
                        <a:rPr lang="ko-KR" altLang="en-US" sz="1400" kern="1200" dirty="0">
                          <a:solidFill>
                            <a:schemeClr val="tx1"/>
                          </a:solidFill>
                          <a:effectLst/>
                          <a:latin typeface="+mn-lt"/>
                          <a:ea typeface="+mn-ea"/>
                          <a:cs typeface="+mn-cs"/>
                        </a:rPr>
                        <a:t>단서</a:t>
                      </a:r>
                      <a:r>
                        <a:rPr lang="en-US" altLang="ko-KR" sz="1400" dirty="0"/>
                        <a:t>)</a:t>
                      </a:r>
                      <a:endParaRPr lang="ko-KR" altLang="en-US" sz="1400" dirty="0"/>
                    </a:p>
                  </a:txBody>
                  <a:tcPr anchor="ct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400" dirty="0"/>
                        <a:t>정정심판청구 가능</a:t>
                      </a:r>
                      <a:endParaRPr lang="en-US" altLang="ko-KR" sz="1400" dirty="0"/>
                    </a:p>
                    <a:p>
                      <a:pPr algn="l" latinLnBrk="1"/>
                      <a:r>
                        <a:rPr lang="en-US" altLang="ko-KR" sz="1400" dirty="0"/>
                        <a:t>(</a:t>
                      </a:r>
                      <a:r>
                        <a:rPr lang="ko-KR" altLang="en-US" sz="1400" dirty="0"/>
                        <a:t>단</a:t>
                      </a:r>
                      <a:r>
                        <a:rPr lang="en-US" altLang="ko-KR" sz="1400" dirty="0"/>
                        <a:t>, </a:t>
                      </a:r>
                      <a:r>
                        <a:rPr lang="ko-KR" altLang="en-US" sz="1400" dirty="0"/>
                        <a:t>변론종결전까지</a:t>
                      </a:r>
                      <a:r>
                        <a:rPr lang="en-US" altLang="ko-KR" sz="1400" dirty="0"/>
                        <a:t>)</a:t>
                      </a:r>
                    </a:p>
                    <a:p>
                      <a:pPr algn="l" latinLnBrk="1"/>
                      <a:r>
                        <a:rPr lang="en-US" altLang="ko-KR" sz="1400" dirty="0"/>
                        <a:t>(</a:t>
                      </a:r>
                      <a:r>
                        <a:rPr lang="ko-KR" altLang="en-US" sz="1400" dirty="0"/>
                        <a:t>法 </a:t>
                      </a:r>
                      <a:r>
                        <a:rPr lang="en-US" altLang="ko-KR" sz="1400" dirty="0"/>
                        <a:t>136</a:t>
                      </a:r>
                      <a:r>
                        <a:rPr lang="ko-KR" altLang="en-US" sz="1400" kern="1200" dirty="0">
                          <a:solidFill>
                            <a:schemeClr val="tx1"/>
                          </a:solidFill>
                          <a:effectLst/>
                          <a:latin typeface="+mn-lt"/>
                          <a:ea typeface="+mn-ea"/>
                          <a:cs typeface="+mn-cs"/>
                        </a:rPr>
                        <a:t>①</a:t>
                      </a:r>
                      <a:r>
                        <a:rPr lang="en-US" altLang="ko-KR" sz="1400" kern="1200" dirty="0">
                          <a:solidFill>
                            <a:schemeClr val="tx1"/>
                          </a:solidFill>
                          <a:effectLst/>
                          <a:latin typeface="+mn-lt"/>
                          <a:ea typeface="+mn-ea"/>
                          <a:cs typeface="+mn-cs"/>
                        </a:rPr>
                        <a:t>Ⅰ</a:t>
                      </a:r>
                      <a:r>
                        <a:rPr lang="ko-KR" altLang="en-US" sz="1400" kern="1200" dirty="0">
                          <a:solidFill>
                            <a:schemeClr val="tx1"/>
                          </a:solidFill>
                          <a:effectLst/>
                          <a:latin typeface="+mn-lt"/>
                          <a:ea typeface="+mn-ea"/>
                          <a:cs typeface="+mn-cs"/>
                        </a:rPr>
                        <a:t>단서</a:t>
                      </a:r>
                      <a:r>
                        <a:rPr lang="en-US" altLang="ko-KR" sz="1400" dirty="0"/>
                        <a:t>)</a:t>
                      </a:r>
                      <a:endParaRPr lang="ko-KR" altLang="en-US" sz="1400" dirty="0"/>
                    </a:p>
                  </a:txBody>
                  <a:tcPr anchor="ct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400" dirty="0"/>
                        <a:t>정정심판청구 가능</a:t>
                      </a:r>
                      <a:endParaRPr lang="en-US" altLang="ko-KR" sz="1400" dirty="0"/>
                    </a:p>
                    <a:p>
                      <a:pPr algn="l" latinLnBrk="1"/>
                      <a:r>
                        <a:rPr lang="en-US" altLang="ko-KR" sz="1400" dirty="0"/>
                        <a:t>(</a:t>
                      </a:r>
                      <a:r>
                        <a:rPr lang="ko-KR" altLang="en-US" sz="1400" dirty="0"/>
                        <a:t>단</a:t>
                      </a:r>
                      <a:r>
                        <a:rPr lang="en-US" altLang="ko-KR" sz="1400" dirty="0"/>
                        <a:t>, </a:t>
                      </a:r>
                      <a:r>
                        <a:rPr lang="ko-KR" altLang="en-US" sz="1400" dirty="0"/>
                        <a:t>변론종결전까지</a:t>
                      </a:r>
                      <a:r>
                        <a:rPr lang="en-US" altLang="ko-KR" sz="1400" dirty="0"/>
                        <a:t>)</a:t>
                      </a:r>
                    </a:p>
                    <a:p>
                      <a:pPr algn="l" latinLnBrk="1"/>
                      <a:r>
                        <a:rPr lang="en-US" altLang="ko-KR" sz="1400" dirty="0"/>
                        <a:t>(</a:t>
                      </a:r>
                      <a:r>
                        <a:rPr lang="ko-KR" altLang="en-US" sz="1400" dirty="0"/>
                        <a:t>法 </a:t>
                      </a:r>
                      <a:r>
                        <a:rPr lang="en-US" altLang="ko-KR" sz="1400" dirty="0"/>
                        <a:t>136</a:t>
                      </a:r>
                      <a:r>
                        <a:rPr lang="ko-KR" altLang="en-US" sz="1400" kern="1200" dirty="0">
                          <a:solidFill>
                            <a:schemeClr val="tx1"/>
                          </a:solidFill>
                          <a:effectLst/>
                          <a:latin typeface="+mn-lt"/>
                          <a:ea typeface="+mn-ea"/>
                          <a:cs typeface="+mn-cs"/>
                        </a:rPr>
                        <a:t>①</a:t>
                      </a:r>
                      <a:r>
                        <a:rPr lang="en-US" altLang="ko-KR" sz="1400" kern="1200" dirty="0">
                          <a:solidFill>
                            <a:schemeClr val="tx1"/>
                          </a:solidFill>
                          <a:effectLst/>
                          <a:latin typeface="+mn-lt"/>
                          <a:ea typeface="+mn-ea"/>
                          <a:cs typeface="+mn-cs"/>
                        </a:rPr>
                        <a:t>Ⅰ</a:t>
                      </a:r>
                      <a:r>
                        <a:rPr lang="ko-KR" altLang="en-US" sz="1400" kern="1200" dirty="0">
                          <a:solidFill>
                            <a:schemeClr val="tx1"/>
                          </a:solidFill>
                          <a:effectLst/>
                          <a:latin typeface="+mn-lt"/>
                          <a:ea typeface="+mn-ea"/>
                          <a:cs typeface="+mn-cs"/>
                        </a:rPr>
                        <a:t>단서</a:t>
                      </a:r>
                      <a:r>
                        <a:rPr lang="en-US" altLang="ko-KR" sz="1400" dirty="0"/>
                        <a:t>)</a:t>
                      </a:r>
                      <a:endParaRPr lang="ko-KR" altLang="en-US" sz="1400" dirty="0"/>
                    </a:p>
                  </a:txBody>
                  <a:tcPr anchor="ctr"/>
                </a:tc>
                <a:extLst>
                  <a:ext uri="{0D108BD9-81ED-4DB2-BD59-A6C34878D82A}">
                    <a16:rowId xmlns:a16="http://schemas.microsoft.com/office/drawing/2014/main" val="420725693"/>
                  </a:ext>
                </a:extLst>
              </a:tr>
              <a:tr h="691627">
                <a:tc>
                  <a:txBody>
                    <a:bodyPr/>
                    <a:lstStyle/>
                    <a:p>
                      <a:pPr algn="ctr" latinLnBrk="1"/>
                      <a:r>
                        <a:rPr lang="ko-KR" altLang="en-US" sz="1400" dirty="0"/>
                        <a:t>대법원 계속 中</a:t>
                      </a:r>
                    </a:p>
                  </a:txBody>
                  <a:tcPr anchor="ctr">
                    <a:solidFill>
                      <a:schemeClr val="accent3">
                        <a:lumMod val="20000"/>
                        <a:lumOff val="80000"/>
                      </a:schemeClr>
                    </a:solidFill>
                  </a:tcPr>
                </a:tc>
                <a:tc>
                  <a:txBody>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lang="ko-KR" altLang="en-US" sz="1400" dirty="0"/>
                        <a:t>정정청구 가능</a:t>
                      </a:r>
                      <a:r>
                        <a:rPr lang="en-US" altLang="ko-KR" sz="1400" dirty="0"/>
                        <a:t>(</a:t>
                      </a:r>
                      <a:r>
                        <a:rPr lang="ko-KR" altLang="en-US" sz="1400" dirty="0"/>
                        <a:t>法 </a:t>
                      </a:r>
                      <a:r>
                        <a:rPr lang="en-US" altLang="ko-KR" sz="1400" dirty="0"/>
                        <a:t>132</a:t>
                      </a:r>
                      <a:r>
                        <a:rPr lang="ko-KR" altLang="en-US" sz="1400" dirty="0"/>
                        <a:t>의</a:t>
                      </a:r>
                      <a:r>
                        <a:rPr lang="en-US" altLang="ko-KR" sz="1400" dirty="0"/>
                        <a:t>3)</a:t>
                      </a:r>
                      <a:endParaRPr lang="en-US" altLang="ko-KR" sz="1400" kern="1200" dirty="0">
                        <a:solidFill>
                          <a:schemeClr val="tx1"/>
                        </a:solidFill>
                        <a:effectLst/>
                        <a:latin typeface="+mn-lt"/>
                        <a:ea typeface="+mn-ea"/>
                        <a:cs typeface="+mn-cs"/>
                      </a:endParaRPr>
                    </a:p>
                  </a:txBody>
                  <a:tcPr anchor="ctr"/>
                </a:tc>
                <a:tc>
                  <a:txBody>
                    <a:bodyPr/>
                    <a:lstStyle/>
                    <a:p>
                      <a:pPr algn="ctr" latinLnBrk="1"/>
                      <a:r>
                        <a:rPr lang="en-US" altLang="ko-KR" sz="1400" kern="1200" dirty="0">
                          <a:solidFill>
                            <a:schemeClr val="tx1"/>
                          </a:solidFill>
                          <a:effectLst/>
                          <a:latin typeface="+mn-lt"/>
                          <a:ea typeface="+mn-ea"/>
                          <a:cs typeface="+mn-cs"/>
                        </a:rPr>
                        <a:t>×</a:t>
                      </a:r>
                      <a:endParaRPr lang="ko-KR" altLang="en-US" sz="1400" dirty="0"/>
                    </a:p>
                  </a:txBody>
                  <a:tcPr anchor="ctr"/>
                </a:tc>
                <a:tc>
                  <a:txBody>
                    <a:bodyPr/>
                    <a:lstStyle/>
                    <a:p>
                      <a:pPr algn="ctr" latinLnBrk="1"/>
                      <a:r>
                        <a:rPr lang="en-US" altLang="ko-KR" sz="1400" kern="1200" dirty="0">
                          <a:solidFill>
                            <a:schemeClr val="tx1"/>
                          </a:solidFill>
                          <a:effectLst/>
                          <a:latin typeface="+mn-lt"/>
                          <a:ea typeface="+mn-ea"/>
                          <a:cs typeface="+mn-cs"/>
                        </a:rPr>
                        <a:t>×</a:t>
                      </a:r>
                      <a:endParaRPr lang="ko-KR" altLang="en-US" sz="1400" dirty="0"/>
                    </a:p>
                  </a:txBody>
                  <a:tcPr anchor="ctr"/>
                </a:tc>
                <a:extLst>
                  <a:ext uri="{0D108BD9-81ED-4DB2-BD59-A6C34878D82A}">
                    <a16:rowId xmlns:a16="http://schemas.microsoft.com/office/drawing/2014/main" val="1124210948"/>
                  </a:ext>
                </a:extLst>
              </a:tr>
            </a:tbl>
          </a:graphicData>
        </a:graphic>
      </p:graphicFrame>
    </p:spTree>
    <p:extLst>
      <p:ext uri="{BB962C8B-B14F-4D97-AF65-F5344CB8AC3E}">
        <p14:creationId xmlns:p14="http://schemas.microsoft.com/office/powerpoint/2010/main" val="544158404"/>
      </p:ext>
    </p:extLst>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136</a:t>
            </a:r>
            <a:r>
              <a:rPr lang="ko-KR" altLang="en-US" dirty="0"/>
              <a:t>조</a:t>
            </a:r>
          </a:p>
        </p:txBody>
      </p:sp>
      <p:sp>
        <p:nvSpPr>
          <p:cNvPr id="4" name="텍스트 개체 틀 3"/>
          <p:cNvSpPr>
            <a:spLocks noGrp="1"/>
          </p:cNvSpPr>
          <p:nvPr>
            <p:ph type="body" sz="quarter" idx="13"/>
          </p:nvPr>
        </p:nvSpPr>
        <p:spPr/>
        <p:txBody>
          <a:bodyPr/>
          <a:lstStyle/>
          <a:p>
            <a:r>
              <a:rPr lang="ko-KR" altLang="en-US" dirty="0" err="1"/>
              <a:t>정정심판과</a:t>
            </a:r>
            <a:r>
              <a:rPr lang="ko-KR" altLang="en-US" dirty="0"/>
              <a:t> </a:t>
            </a:r>
            <a:r>
              <a:rPr lang="ko-KR" altLang="en-US" dirty="0" err="1"/>
              <a:t>침해죄</a:t>
            </a:r>
            <a:endParaRPr lang="ko-KR" altLang="en-US" dirty="0"/>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29" name="Line 5"/>
          <p:cNvSpPr>
            <a:spLocks noChangeShapeType="1"/>
          </p:cNvSpPr>
          <p:nvPr/>
        </p:nvSpPr>
        <p:spPr bwMode="auto">
          <a:xfrm>
            <a:off x="328662" y="3976267"/>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53" name="타원 52"/>
          <p:cNvSpPr/>
          <p:nvPr/>
        </p:nvSpPr>
        <p:spPr>
          <a:xfrm>
            <a:off x="3926191" y="3885170"/>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56" name="타원 55"/>
          <p:cNvSpPr/>
          <p:nvPr/>
        </p:nvSpPr>
        <p:spPr>
          <a:xfrm>
            <a:off x="936508" y="3885170"/>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57" name="직선 화살표 연결선 56"/>
          <p:cNvCxnSpPr>
            <a:stCxn id="55" idx="2"/>
            <a:endCxn id="56" idx="0"/>
          </p:cNvCxnSpPr>
          <p:nvPr/>
        </p:nvCxnSpPr>
        <p:spPr>
          <a:xfrm flipH="1">
            <a:off x="1013877" y="3662254"/>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9" name="타원 58"/>
          <p:cNvSpPr/>
          <p:nvPr/>
        </p:nvSpPr>
        <p:spPr>
          <a:xfrm>
            <a:off x="3042011" y="3885170"/>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60" name="직선 화살표 연결선 59"/>
          <p:cNvCxnSpPr>
            <a:stCxn id="58" idx="2"/>
            <a:endCxn id="59" idx="0"/>
          </p:cNvCxnSpPr>
          <p:nvPr/>
        </p:nvCxnSpPr>
        <p:spPr>
          <a:xfrm flipH="1">
            <a:off x="3119380" y="3662254"/>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2" name="타원 61"/>
          <p:cNvSpPr/>
          <p:nvPr/>
        </p:nvSpPr>
        <p:spPr>
          <a:xfrm>
            <a:off x="6917270" y="3885170"/>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63" name="직선 화살표 연결선 62"/>
          <p:cNvCxnSpPr>
            <a:stCxn id="61" idx="2"/>
            <a:endCxn id="62" idx="0"/>
          </p:cNvCxnSpPr>
          <p:nvPr/>
        </p:nvCxnSpPr>
        <p:spPr>
          <a:xfrm flipH="1">
            <a:off x="6994639" y="3662254"/>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380408" y="3195745"/>
            <a:ext cx="1266940" cy="4665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 </a:t>
            </a:r>
            <a:r>
              <a:rPr lang="en-US" altLang="ko-KR" sz="1200" dirty="0">
                <a:solidFill>
                  <a:schemeClr val="tx1"/>
                </a:solidFill>
                <a:latin typeface="+mn-ea"/>
              </a:rPr>
              <a:t>A </a:t>
            </a:r>
            <a:r>
              <a:rPr lang="ko-KR" altLang="en-US" sz="1200" dirty="0">
                <a:solidFill>
                  <a:schemeClr val="tx1"/>
                </a:solidFill>
                <a:latin typeface="+mn-ea"/>
              </a:rPr>
              <a:t>특허출원</a:t>
            </a:r>
            <a:endParaRPr lang="en-US" altLang="ko-KR" sz="1200" dirty="0">
              <a:solidFill>
                <a:schemeClr val="tx1"/>
              </a:solidFill>
              <a:latin typeface="+mn-ea"/>
            </a:endParaRPr>
          </a:p>
        </p:txBody>
      </p:sp>
      <p:sp>
        <p:nvSpPr>
          <p:cNvPr id="58" name="TextBox 57"/>
          <p:cNvSpPr txBox="1"/>
          <p:nvPr/>
        </p:nvSpPr>
        <p:spPr>
          <a:xfrm>
            <a:off x="2286000" y="3195745"/>
            <a:ext cx="1666762" cy="4665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착오등록</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기술적 범위 특정 불가</a:t>
            </a:r>
            <a:r>
              <a:rPr lang="en-US" altLang="ko-KR" sz="1200" dirty="0">
                <a:solidFill>
                  <a:schemeClr val="tx1"/>
                </a:solidFill>
                <a:latin typeface="+mn-ea"/>
              </a:rPr>
              <a:t>)</a:t>
            </a:r>
          </a:p>
        </p:txBody>
      </p:sp>
      <p:sp>
        <p:nvSpPr>
          <p:cNvPr id="61" name="TextBox 60"/>
          <p:cNvSpPr txBox="1"/>
          <p:nvPr/>
        </p:nvSpPr>
        <p:spPr>
          <a:xfrm>
            <a:off x="6153380" y="3195745"/>
            <a:ext cx="1682520" cy="4665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착오인용심결확정</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기술적 범위 특정 가능</a:t>
            </a:r>
            <a:r>
              <a:rPr lang="en-US" altLang="ko-KR" sz="1200" dirty="0">
                <a:solidFill>
                  <a:schemeClr val="tx1"/>
                </a:solidFill>
                <a:latin typeface="+mn-ea"/>
              </a:rPr>
              <a:t>)</a:t>
            </a:r>
          </a:p>
        </p:txBody>
      </p:sp>
      <p:sp>
        <p:nvSpPr>
          <p:cNvPr id="73" name="TextBox 72"/>
          <p:cNvSpPr txBox="1"/>
          <p:nvPr/>
        </p:nvSpPr>
        <p:spPr>
          <a:xfrm>
            <a:off x="6221468" y="4249809"/>
            <a:ext cx="1266940" cy="391640"/>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乙</a:t>
            </a:r>
            <a:r>
              <a:rPr lang="en-US" altLang="ko-KR" sz="1200" dirty="0">
                <a:solidFill>
                  <a:schemeClr val="tx1"/>
                </a:solidFill>
                <a:latin typeface="+mn-ea"/>
              </a:rPr>
              <a:t> A2 </a:t>
            </a:r>
            <a:r>
              <a:rPr lang="ko-KR" altLang="en-US" sz="1200" dirty="0">
                <a:solidFill>
                  <a:schemeClr val="tx1"/>
                </a:solidFill>
                <a:latin typeface="+mn-ea"/>
              </a:rPr>
              <a:t>실시</a:t>
            </a:r>
            <a:endParaRPr lang="en-US" altLang="ko-KR" sz="1200" dirty="0">
              <a:solidFill>
                <a:schemeClr val="tx1"/>
              </a:solidFill>
              <a:latin typeface="+mn-ea"/>
            </a:endParaRPr>
          </a:p>
        </p:txBody>
      </p:sp>
      <p:cxnSp>
        <p:nvCxnSpPr>
          <p:cNvPr id="36" name="직선 연결선 35"/>
          <p:cNvCxnSpPr/>
          <p:nvPr/>
        </p:nvCxnSpPr>
        <p:spPr>
          <a:xfrm>
            <a:off x="49963" y="2779080"/>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127838" y="1357777"/>
            <a:ext cx="11936323" cy="1384995"/>
          </a:xfrm>
          <a:prstGeom prst="rect">
            <a:avLst/>
          </a:prstGeom>
          <a:noFill/>
        </p:spPr>
        <p:txBody>
          <a:bodyPr wrap="square" rtlCol="0">
            <a:spAutoFit/>
          </a:bodyPr>
          <a:lstStyle/>
          <a:p>
            <a:pPr fontAlgn="base"/>
            <a:r>
              <a:rPr lang="ko-KR" altLang="en-US" sz="1400" dirty="0">
                <a:solidFill>
                  <a:schemeClr val="tx2">
                    <a:lumMod val="50000"/>
                  </a:schemeClr>
                </a:solidFill>
              </a:rPr>
              <a:t>청구범위에 </a:t>
            </a:r>
            <a:r>
              <a:rPr lang="ko-KR" altLang="en-US" sz="1400" dirty="0" err="1">
                <a:solidFill>
                  <a:schemeClr val="tx2">
                    <a:lumMod val="50000"/>
                  </a:schemeClr>
                </a:solidFill>
              </a:rPr>
              <a:t>기재불비의</a:t>
            </a:r>
            <a:r>
              <a:rPr lang="ko-KR" altLang="en-US" sz="1400" dirty="0">
                <a:solidFill>
                  <a:schemeClr val="tx2">
                    <a:lumMod val="50000"/>
                  </a:schemeClr>
                </a:solidFill>
              </a:rPr>
              <a:t> 하자가 있어 권리범위를 인정할 수 없었던 특허발명에 대하여 그 청구범위를 정정하는 </a:t>
            </a:r>
            <a:r>
              <a:rPr lang="ko-KR" altLang="en-US" sz="1400" dirty="0" err="1">
                <a:solidFill>
                  <a:schemeClr val="tx2">
                    <a:lumMod val="50000"/>
                  </a:schemeClr>
                </a:solidFill>
              </a:rPr>
              <a:t>심결이</a:t>
            </a:r>
            <a:r>
              <a:rPr lang="ko-KR" altLang="en-US" sz="1400" dirty="0">
                <a:solidFill>
                  <a:schemeClr val="tx2">
                    <a:lumMod val="50000"/>
                  </a:schemeClr>
                </a:solidFill>
              </a:rPr>
              <a:t> 확정된 경우</a:t>
            </a:r>
            <a:r>
              <a:rPr lang="en-US" altLang="ko-KR" sz="1400" dirty="0">
                <a:solidFill>
                  <a:schemeClr val="tx2">
                    <a:lumMod val="50000"/>
                  </a:schemeClr>
                </a:solidFill>
              </a:rPr>
              <a:t>, </a:t>
            </a:r>
            <a:r>
              <a:rPr lang="ko-KR" altLang="en-US" sz="1400" dirty="0">
                <a:solidFill>
                  <a:schemeClr val="tx2">
                    <a:lumMod val="50000"/>
                  </a:schemeClr>
                </a:solidFill>
              </a:rPr>
              <a:t>정정 전에 </a:t>
            </a:r>
            <a:r>
              <a:rPr lang="ko-KR" altLang="en-US" sz="1400" dirty="0" err="1">
                <a:solidFill>
                  <a:schemeClr val="tx2">
                    <a:lumMod val="50000"/>
                  </a:schemeClr>
                </a:solidFill>
              </a:rPr>
              <a:t>행하여진</a:t>
            </a:r>
            <a:r>
              <a:rPr lang="ko-KR" altLang="en-US" sz="1400" dirty="0">
                <a:solidFill>
                  <a:schemeClr val="tx2">
                    <a:lumMod val="50000"/>
                  </a:schemeClr>
                </a:solidFill>
              </a:rPr>
              <a:t> 피고인의 제품 제조</a:t>
            </a:r>
            <a:r>
              <a:rPr lang="en-US" altLang="ko-KR" sz="1400" dirty="0">
                <a:solidFill>
                  <a:schemeClr val="tx2">
                    <a:lumMod val="50000"/>
                  </a:schemeClr>
                </a:solidFill>
              </a:rPr>
              <a:t>, </a:t>
            </a:r>
            <a:r>
              <a:rPr lang="ko-KR" altLang="en-US" sz="1400" dirty="0">
                <a:solidFill>
                  <a:schemeClr val="tx2">
                    <a:lumMod val="50000"/>
                  </a:schemeClr>
                </a:solidFill>
              </a:rPr>
              <a:t>판매행위가 특허권 침해죄에 해당하는지 여부를 판단함에 있어 </a:t>
            </a:r>
            <a:r>
              <a:rPr lang="ko-KR" altLang="en-US" sz="1400" dirty="0">
                <a:solidFill>
                  <a:schemeClr val="accent3">
                    <a:lumMod val="50000"/>
                  </a:schemeClr>
                </a:solidFill>
                <a:highlight>
                  <a:srgbClr val="FFFF00"/>
                </a:highlight>
              </a:rPr>
              <a:t>정정 전의 청구범위를 침해대상 특허발명</a:t>
            </a:r>
            <a:r>
              <a:rPr lang="ko-KR" altLang="en-US" sz="1400" dirty="0">
                <a:solidFill>
                  <a:schemeClr val="tx2">
                    <a:lumMod val="50000"/>
                  </a:schemeClr>
                </a:solidFill>
              </a:rPr>
              <a:t>으로 하여야 한다</a:t>
            </a:r>
            <a:r>
              <a:rPr lang="en-US" altLang="ko-KR" sz="1400" dirty="0">
                <a:solidFill>
                  <a:schemeClr val="tx2">
                    <a:lumMod val="50000"/>
                  </a:schemeClr>
                </a:solidFill>
              </a:rPr>
              <a:t>. </a:t>
            </a:r>
            <a:r>
              <a:rPr lang="ko-KR" altLang="en-US" sz="1400" dirty="0">
                <a:solidFill>
                  <a:schemeClr val="tx2">
                    <a:lumMod val="50000"/>
                  </a:schemeClr>
                </a:solidFill>
              </a:rPr>
              <a:t>이와 같은 </a:t>
            </a:r>
            <a:r>
              <a:rPr lang="ko-KR" altLang="en-US" sz="1400" dirty="0" err="1">
                <a:solidFill>
                  <a:schemeClr val="tx2">
                    <a:lumMod val="50000"/>
                  </a:schemeClr>
                </a:solidFill>
              </a:rPr>
              <a:t>정정심결이</a:t>
            </a:r>
            <a:r>
              <a:rPr lang="ko-KR" altLang="en-US" sz="1400" dirty="0">
                <a:solidFill>
                  <a:schemeClr val="tx2">
                    <a:lumMod val="50000"/>
                  </a:schemeClr>
                </a:solidFill>
              </a:rPr>
              <a:t> 확정된 경우 그 정정이 별도의 정정무효심판절차에 의하여 무효로 되지 아니하는 한</a:t>
            </a:r>
            <a:r>
              <a:rPr lang="en-US" altLang="ko-KR" sz="1400" dirty="0">
                <a:solidFill>
                  <a:schemeClr val="tx2">
                    <a:lumMod val="50000"/>
                  </a:schemeClr>
                </a:solidFill>
              </a:rPr>
              <a:t>, </a:t>
            </a:r>
            <a:r>
              <a:rPr lang="ko-KR" altLang="en-US" sz="1400" dirty="0">
                <a:solidFill>
                  <a:schemeClr val="tx2">
                    <a:lumMod val="50000"/>
                  </a:schemeClr>
                </a:solidFill>
              </a:rPr>
              <a:t>그 특허발명은 처음부터 정정된 청구범위에 따라 특허권 설정등록이 된 것으로 보아야 하지만</a:t>
            </a:r>
            <a:r>
              <a:rPr lang="en-US" altLang="ko-KR" sz="1400" dirty="0">
                <a:solidFill>
                  <a:schemeClr val="tx2">
                    <a:lumMod val="50000"/>
                  </a:schemeClr>
                </a:solidFill>
              </a:rPr>
              <a:t>, </a:t>
            </a:r>
            <a:r>
              <a:rPr lang="ko-KR" altLang="en-US" sz="1400" dirty="0">
                <a:solidFill>
                  <a:schemeClr val="tx2">
                    <a:lumMod val="50000"/>
                  </a:schemeClr>
                </a:solidFill>
              </a:rPr>
              <a:t>헌법 제</a:t>
            </a:r>
            <a:r>
              <a:rPr lang="en-US" altLang="ko-KR" sz="1400" dirty="0">
                <a:solidFill>
                  <a:schemeClr val="tx2">
                    <a:lumMod val="50000"/>
                  </a:schemeClr>
                </a:solidFill>
              </a:rPr>
              <a:t>13</a:t>
            </a:r>
            <a:r>
              <a:rPr lang="ko-KR" altLang="en-US" sz="1400" dirty="0">
                <a:solidFill>
                  <a:schemeClr val="tx2">
                    <a:lumMod val="50000"/>
                  </a:schemeClr>
                </a:solidFill>
              </a:rPr>
              <a:t>조제</a:t>
            </a:r>
            <a:r>
              <a:rPr lang="en-US" altLang="ko-KR" sz="1400" dirty="0">
                <a:solidFill>
                  <a:schemeClr val="tx2">
                    <a:lumMod val="50000"/>
                  </a:schemeClr>
                </a:solidFill>
              </a:rPr>
              <a:t>1</a:t>
            </a:r>
            <a:r>
              <a:rPr lang="ko-KR" altLang="en-US" sz="1400" dirty="0">
                <a:solidFill>
                  <a:schemeClr val="tx2">
                    <a:lumMod val="50000"/>
                  </a:schemeClr>
                </a:solidFill>
              </a:rPr>
              <a:t>항</a:t>
            </a:r>
            <a:r>
              <a:rPr lang="en-US" altLang="ko-KR" sz="1400" dirty="0">
                <a:solidFill>
                  <a:schemeClr val="tx2">
                    <a:lumMod val="50000"/>
                  </a:schemeClr>
                </a:solidFill>
              </a:rPr>
              <a:t>, </a:t>
            </a:r>
            <a:r>
              <a:rPr lang="ko-KR" altLang="en-US" sz="1400" dirty="0">
                <a:solidFill>
                  <a:schemeClr val="tx2">
                    <a:lumMod val="50000"/>
                  </a:schemeClr>
                </a:solidFill>
              </a:rPr>
              <a:t>형법 제</a:t>
            </a:r>
            <a:r>
              <a:rPr lang="en-US" altLang="ko-KR" sz="1400" dirty="0">
                <a:solidFill>
                  <a:schemeClr val="tx2">
                    <a:lumMod val="50000"/>
                  </a:schemeClr>
                </a:solidFill>
              </a:rPr>
              <a:t>1</a:t>
            </a:r>
            <a:r>
              <a:rPr lang="ko-KR" altLang="en-US" sz="1400" dirty="0">
                <a:solidFill>
                  <a:schemeClr val="tx2">
                    <a:lumMod val="50000"/>
                  </a:schemeClr>
                </a:solidFill>
              </a:rPr>
              <a:t>조제</a:t>
            </a:r>
            <a:r>
              <a:rPr lang="en-US" altLang="ko-KR" sz="1400" dirty="0">
                <a:solidFill>
                  <a:schemeClr val="tx2">
                    <a:lumMod val="50000"/>
                  </a:schemeClr>
                </a:solidFill>
              </a:rPr>
              <a:t>1</a:t>
            </a:r>
            <a:r>
              <a:rPr lang="ko-KR" altLang="en-US" sz="1400" dirty="0">
                <a:solidFill>
                  <a:schemeClr val="tx2">
                    <a:lumMod val="50000"/>
                  </a:schemeClr>
                </a:solidFill>
              </a:rPr>
              <a:t>항의 입법 취지 및 특허발명의 청구범위는 특허권자가 독점하여 실시할 수 있는 영역과 제</a:t>
            </a:r>
            <a:r>
              <a:rPr lang="en-US" altLang="ko-KR" sz="1400" dirty="0">
                <a:solidFill>
                  <a:schemeClr val="tx2">
                    <a:lumMod val="50000"/>
                  </a:schemeClr>
                </a:solidFill>
              </a:rPr>
              <a:t>3</a:t>
            </a:r>
            <a:r>
              <a:rPr lang="ko-KR" altLang="en-US" sz="1400" dirty="0">
                <a:solidFill>
                  <a:schemeClr val="tx2">
                    <a:lumMod val="50000"/>
                  </a:schemeClr>
                </a:solidFill>
              </a:rPr>
              <a:t>자가 침해해서는 아니 되는 영역을 객관적으로 획정하여 대외적으로 공시하는 규범적 효력이 있는 점에 비추어 보면</a:t>
            </a:r>
            <a:r>
              <a:rPr lang="en-US" altLang="ko-KR" sz="1400" dirty="0">
                <a:solidFill>
                  <a:schemeClr val="tx2">
                    <a:lumMod val="50000"/>
                  </a:schemeClr>
                </a:solidFill>
              </a:rPr>
              <a:t>, </a:t>
            </a:r>
            <a:r>
              <a:rPr lang="ko-KR" altLang="en-US" sz="1400" dirty="0">
                <a:solidFill>
                  <a:schemeClr val="tx2">
                    <a:lumMod val="50000"/>
                  </a:schemeClr>
                </a:solidFill>
              </a:rPr>
              <a:t>피고인의 행위가 특허권 침해죄에 해당하는지 여부를 판단함에 있어 정정 후의 청구범위를 침해대상 특허발명으로 삼는 것이 피고인에게 불리한 결과를 가져오는 경우까지도 정정의 소급적 효력이 당연히 미친다고 할 수는 없기 때문이다</a:t>
            </a:r>
            <a:r>
              <a:rPr lang="en-US" altLang="ko-KR" sz="1400" dirty="0">
                <a:solidFill>
                  <a:schemeClr val="tx2">
                    <a:lumMod val="50000"/>
                  </a:schemeClr>
                </a:solidFill>
              </a:rPr>
              <a:t>. </a:t>
            </a:r>
          </a:p>
        </p:txBody>
      </p:sp>
      <p:sp>
        <p:nvSpPr>
          <p:cNvPr id="38" name="타원 37"/>
          <p:cNvSpPr/>
          <p:nvPr/>
        </p:nvSpPr>
        <p:spPr>
          <a:xfrm>
            <a:off x="5091528" y="3885170"/>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39" name="직선 화살표 연결선 38"/>
          <p:cNvCxnSpPr>
            <a:stCxn id="40" idx="2"/>
            <a:endCxn id="38" idx="0"/>
          </p:cNvCxnSpPr>
          <p:nvPr/>
        </p:nvCxnSpPr>
        <p:spPr>
          <a:xfrm flipH="1">
            <a:off x="5168897" y="3662254"/>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4535428" y="3195745"/>
            <a:ext cx="1266940" cy="4665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en-US" altLang="ko-KR" sz="1200" dirty="0">
                <a:solidFill>
                  <a:schemeClr val="tx1"/>
                </a:solidFill>
                <a:latin typeface="+mn-ea"/>
              </a:rPr>
              <a:t>A1 </a:t>
            </a:r>
            <a:r>
              <a:rPr lang="ko-KR" altLang="en-US" sz="1200" dirty="0">
                <a:solidFill>
                  <a:schemeClr val="tx1"/>
                </a:solidFill>
                <a:latin typeface="+mn-ea"/>
              </a:rPr>
              <a:t>정정심판청구</a:t>
            </a:r>
            <a:endParaRPr lang="en-US" altLang="ko-KR" sz="1200" dirty="0">
              <a:solidFill>
                <a:schemeClr val="tx1"/>
              </a:solidFill>
              <a:latin typeface="+mn-ea"/>
            </a:endParaRPr>
          </a:p>
        </p:txBody>
      </p:sp>
      <p:sp>
        <p:nvSpPr>
          <p:cNvPr id="7" name="자유형 6"/>
          <p:cNvSpPr/>
          <p:nvPr/>
        </p:nvSpPr>
        <p:spPr>
          <a:xfrm>
            <a:off x="3987800" y="4021245"/>
            <a:ext cx="7721600" cy="609600"/>
          </a:xfrm>
          <a:custGeom>
            <a:avLst/>
            <a:gdLst>
              <a:gd name="connsiteX0" fmla="*/ 0 w 7721600"/>
              <a:gd name="connsiteY0" fmla="*/ 0 h 609600"/>
              <a:gd name="connsiteX1" fmla="*/ 0 w 7721600"/>
              <a:gd name="connsiteY1" fmla="*/ 609600 h 609600"/>
              <a:gd name="connsiteX2" fmla="*/ 7721600 w 7721600"/>
              <a:gd name="connsiteY2" fmla="*/ 609600 h 609600"/>
            </a:gdLst>
            <a:ahLst/>
            <a:cxnLst>
              <a:cxn ang="0">
                <a:pos x="connsiteX0" y="connsiteY0"/>
              </a:cxn>
              <a:cxn ang="0">
                <a:pos x="connsiteX1" y="connsiteY1"/>
              </a:cxn>
              <a:cxn ang="0">
                <a:pos x="connsiteX2" y="connsiteY2"/>
              </a:cxn>
            </a:cxnLst>
            <a:rect l="l" t="t" r="r" b="b"/>
            <a:pathLst>
              <a:path w="7721600" h="609600">
                <a:moveTo>
                  <a:pt x="0" y="0"/>
                </a:moveTo>
                <a:lnTo>
                  <a:pt x="0" y="609600"/>
                </a:lnTo>
                <a:lnTo>
                  <a:pt x="7721600" y="609600"/>
                </a:lnTo>
              </a:path>
            </a:pathLst>
          </a:custGeom>
          <a:noFill/>
          <a:ln w="28575">
            <a:solidFill>
              <a:schemeClr val="accent2"/>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3" name="타원 42"/>
          <p:cNvSpPr/>
          <p:nvPr/>
        </p:nvSpPr>
        <p:spPr>
          <a:xfrm>
            <a:off x="8796285" y="3885170"/>
            <a:ext cx="154738"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44" name="직선 화살표 연결선 43"/>
          <p:cNvCxnSpPr>
            <a:stCxn id="45" idx="2"/>
            <a:endCxn id="43" idx="0"/>
          </p:cNvCxnSpPr>
          <p:nvPr/>
        </p:nvCxnSpPr>
        <p:spPr>
          <a:xfrm flipH="1">
            <a:off x="8873654" y="3662254"/>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8240185" y="3195745"/>
            <a:ext cx="1266940" cy="46650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침해소송제기</a:t>
            </a:r>
            <a:endParaRPr lang="en-US" altLang="ko-KR" sz="1400" dirty="0">
              <a:solidFill>
                <a:schemeClr val="tx1"/>
              </a:solidFill>
              <a:latin typeface="+mn-ea"/>
            </a:endParaRPr>
          </a:p>
        </p:txBody>
      </p:sp>
      <p:sp>
        <p:nvSpPr>
          <p:cNvPr id="8" name="타원 7"/>
          <p:cNvSpPr/>
          <p:nvPr/>
        </p:nvSpPr>
        <p:spPr>
          <a:xfrm>
            <a:off x="493177" y="4954564"/>
            <a:ext cx="520700" cy="520700"/>
          </a:xfrm>
          <a:prstGeom prst="ellipse">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2800" dirty="0">
                <a:solidFill>
                  <a:srgbClr val="0070C0"/>
                </a:solidFill>
              </a:rPr>
              <a:t>1</a:t>
            </a:r>
            <a:endParaRPr lang="ko-KR" altLang="en-US" sz="2800" dirty="0">
              <a:solidFill>
                <a:srgbClr val="0070C0"/>
              </a:solidFill>
            </a:endParaRPr>
          </a:p>
        </p:txBody>
      </p:sp>
      <p:sp>
        <p:nvSpPr>
          <p:cNvPr id="9" name="TextBox 8"/>
          <p:cNvSpPr txBox="1"/>
          <p:nvPr/>
        </p:nvSpPr>
        <p:spPr>
          <a:xfrm>
            <a:off x="1179204" y="5055132"/>
            <a:ext cx="8600431" cy="369332"/>
          </a:xfrm>
          <a:prstGeom prst="rect">
            <a:avLst/>
          </a:prstGeom>
          <a:noFill/>
          <a:ln>
            <a:solidFill>
              <a:schemeClr val="bg1">
                <a:lumMod val="50000"/>
              </a:schemeClr>
            </a:solidFill>
          </a:ln>
        </p:spPr>
        <p:txBody>
          <a:bodyPr wrap="none" rtlCol="0">
            <a:spAutoFit/>
          </a:bodyPr>
          <a:lstStyle/>
          <a:p>
            <a:r>
              <a:rPr lang="ko-KR" altLang="en-US" dirty="0"/>
              <a:t>정정무효심판에 의하여 </a:t>
            </a:r>
            <a:r>
              <a:rPr lang="ko-KR" altLang="en-US" dirty="0" err="1"/>
              <a:t>무효심결이</a:t>
            </a:r>
            <a:r>
              <a:rPr lang="ko-KR" altLang="en-US" dirty="0"/>
              <a:t> 확정되기 전까지 타 절차에서 당연무효라고 할 수 없다</a:t>
            </a:r>
            <a:r>
              <a:rPr lang="en-US" altLang="ko-KR" dirty="0"/>
              <a:t>.</a:t>
            </a:r>
            <a:endParaRPr lang="ko-KR" altLang="en-US" dirty="0"/>
          </a:p>
        </p:txBody>
      </p:sp>
      <p:sp>
        <p:nvSpPr>
          <p:cNvPr id="48" name="타원 47"/>
          <p:cNvSpPr/>
          <p:nvPr/>
        </p:nvSpPr>
        <p:spPr>
          <a:xfrm>
            <a:off x="493177" y="5609141"/>
            <a:ext cx="520700" cy="520700"/>
          </a:xfrm>
          <a:prstGeom prst="ellipse">
            <a:avLst/>
          </a:prstGeom>
          <a:solidFill>
            <a:schemeClr val="bg2">
              <a:lumMod val="9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2800" dirty="0">
                <a:solidFill>
                  <a:srgbClr val="FF0000"/>
                </a:solidFill>
              </a:rPr>
              <a:t>2</a:t>
            </a:r>
            <a:endParaRPr lang="ko-KR" altLang="en-US" sz="2800" dirty="0">
              <a:solidFill>
                <a:srgbClr val="FF0000"/>
              </a:solidFill>
            </a:endParaRPr>
          </a:p>
        </p:txBody>
      </p:sp>
      <p:sp>
        <p:nvSpPr>
          <p:cNvPr id="49" name="TextBox 48"/>
          <p:cNvSpPr txBox="1"/>
          <p:nvPr/>
        </p:nvSpPr>
        <p:spPr>
          <a:xfrm>
            <a:off x="1179204" y="5709709"/>
            <a:ext cx="6211957" cy="369332"/>
          </a:xfrm>
          <a:prstGeom prst="rect">
            <a:avLst/>
          </a:prstGeom>
          <a:noFill/>
          <a:ln>
            <a:solidFill>
              <a:schemeClr val="bg1">
                <a:lumMod val="50000"/>
              </a:schemeClr>
            </a:solidFill>
          </a:ln>
        </p:spPr>
        <p:txBody>
          <a:bodyPr wrap="none" rtlCol="0">
            <a:spAutoFit/>
          </a:bodyPr>
          <a:lstStyle/>
          <a:p>
            <a:r>
              <a:rPr lang="ko-KR" altLang="en-US" dirty="0"/>
              <a:t>정정 후 </a:t>
            </a:r>
            <a:r>
              <a:rPr lang="ko-KR" altLang="en-US" dirty="0" err="1"/>
              <a:t>청구범위</a:t>
            </a:r>
            <a:r>
              <a:rPr lang="en-US" altLang="ko-KR" dirty="0"/>
              <a:t>(A1)</a:t>
            </a:r>
            <a:r>
              <a:rPr lang="ko-KR" altLang="en-US" dirty="0"/>
              <a:t>만 침해인 경우에는 </a:t>
            </a:r>
            <a:r>
              <a:rPr lang="ko-KR" altLang="en-US" dirty="0" err="1"/>
              <a:t>침해죄를</a:t>
            </a:r>
            <a:r>
              <a:rPr lang="ko-KR" altLang="en-US" dirty="0"/>
              <a:t> 물을 수 없다</a:t>
            </a:r>
            <a:r>
              <a:rPr lang="en-US" altLang="ko-KR" dirty="0"/>
              <a:t>.</a:t>
            </a:r>
            <a:endParaRPr lang="ko-KR" altLang="en-US" dirty="0"/>
          </a:p>
        </p:txBody>
      </p:sp>
      <p:sp>
        <p:nvSpPr>
          <p:cNvPr id="6" name="말풍선: 모서리가 둥근 사각형 5">
            <a:extLst>
              <a:ext uri="{FF2B5EF4-FFF2-40B4-BE49-F238E27FC236}">
                <a16:creationId xmlns:a16="http://schemas.microsoft.com/office/drawing/2014/main" id="{D0708C92-4590-458E-87B0-B54DF79C9D0C}"/>
              </a:ext>
            </a:extLst>
          </p:cNvPr>
          <p:cNvSpPr/>
          <p:nvPr/>
        </p:nvSpPr>
        <p:spPr>
          <a:xfrm>
            <a:off x="8077200" y="5609142"/>
            <a:ext cx="3800475" cy="654576"/>
          </a:xfrm>
          <a:prstGeom prst="wedgeRoundRectCallout">
            <a:avLst>
              <a:gd name="adj1" fmla="val -67199"/>
              <a:gd name="adj2" fmla="val -17256"/>
              <a:gd name="adj3" fmla="val 16667"/>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600" dirty="0">
                <a:solidFill>
                  <a:schemeClr val="accent2">
                    <a:lumMod val="50000"/>
                  </a:schemeClr>
                </a:solidFill>
              </a:rPr>
              <a:t>침해 성립요건</a:t>
            </a:r>
            <a:r>
              <a:rPr lang="en-US" altLang="ko-KR" sz="1600" dirty="0">
                <a:solidFill>
                  <a:schemeClr val="accent2">
                    <a:lumMod val="50000"/>
                  </a:schemeClr>
                </a:solidFill>
              </a:rPr>
              <a:t>(A1)</a:t>
            </a:r>
            <a:r>
              <a:rPr lang="ko-KR" altLang="en-US" sz="1600" dirty="0">
                <a:solidFill>
                  <a:schemeClr val="accent2">
                    <a:lumMod val="50000"/>
                  </a:schemeClr>
                </a:solidFill>
              </a:rPr>
              <a:t>을 만족함을</a:t>
            </a:r>
            <a:endParaRPr lang="en-US" altLang="ko-KR" sz="1600" dirty="0">
              <a:solidFill>
                <a:schemeClr val="accent2">
                  <a:lumMod val="50000"/>
                </a:schemeClr>
              </a:solidFill>
            </a:endParaRPr>
          </a:p>
          <a:p>
            <a:pPr algn="ctr"/>
            <a:r>
              <a:rPr lang="ko-KR" altLang="en-US" sz="1600" dirty="0">
                <a:solidFill>
                  <a:schemeClr val="accent2">
                    <a:lumMod val="50000"/>
                  </a:schemeClr>
                </a:solidFill>
              </a:rPr>
              <a:t>전제로 </a:t>
            </a:r>
            <a:r>
              <a:rPr lang="ko-KR" altLang="en-US" sz="1600" dirty="0" err="1">
                <a:solidFill>
                  <a:schemeClr val="accent2">
                    <a:lumMod val="50000"/>
                  </a:schemeClr>
                </a:solidFill>
              </a:rPr>
              <a:t>침해죄</a:t>
            </a:r>
            <a:r>
              <a:rPr lang="en-US" altLang="ko-KR" sz="1600" dirty="0">
                <a:solidFill>
                  <a:schemeClr val="accent2">
                    <a:lumMod val="50000"/>
                  </a:schemeClr>
                </a:solidFill>
              </a:rPr>
              <a:t>(A)</a:t>
            </a:r>
            <a:r>
              <a:rPr lang="ko-KR" altLang="en-US" sz="1600" dirty="0">
                <a:solidFill>
                  <a:schemeClr val="accent2">
                    <a:lumMod val="50000"/>
                  </a:schemeClr>
                </a:solidFill>
              </a:rPr>
              <a:t>에 해당하는지 판단</a:t>
            </a:r>
            <a:endParaRPr lang="en-US" altLang="ko-KR" sz="1600" dirty="0">
              <a:solidFill>
                <a:schemeClr val="accent2">
                  <a:lumMod val="50000"/>
                </a:schemeClr>
              </a:solidFill>
            </a:endParaRPr>
          </a:p>
        </p:txBody>
      </p:sp>
      <p:sp>
        <p:nvSpPr>
          <p:cNvPr id="10" name="모서리가 둥근 직사각형 10">
            <a:extLst>
              <a:ext uri="{FF2B5EF4-FFF2-40B4-BE49-F238E27FC236}">
                <a16:creationId xmlns:a16="http://schemas.microsoft.com/office/drawing/2014/main" id="{C11707D4-207F-CAFA-CC8E-F1C3F5A97034}"/>
              </a:ext>
            </a:extLst>
          </p:cNvPr>
          <p:cNvSpPr/>
          <p:nvPr/>
        </p:nvSpPr>
        <p:spPr bwMode="auto">
          <a:xfrm>
            <a:off x="378418" y="998802"/>
            <a:ext cx="5180410"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2005. 10. 14. </a:t>
            </a:r>
            <a:r>
              <a:rPr lang="ko-KR" altLang="en-US" sz="1400" dirty="0"/>
              <a:t>선고 </a:t>
            </a:r>
            <a:r>
              <a:rPr lang="en-US" altLang="ko-KR" sz="1400" dirty="0"/>
              <a:t>2005</a:t>
            </a:r>
            <a:r>
              <a:rPr lang="ko-KR" altLang="en-US" sz="1400" dirty="0"/>
              <a:t>도</a:t>
            </a:r>
            <a:r>
              <a:rPr lang="en-US" altLang="ko-KR" sz="1400"/>
              <a:t>1262 </a:t>
            </a:r>
            <a:r>
              <a:rPr lang="en-US" altLang="ko-KR" sz="1400" dirty="0"/>
              <a:t>【</a:t>
            </a:r>
            <a:r>
              <a:rPr lang="ko-KR" altLang="en-US" sz="1400" dirty="0"/>
              <a:t>특허법위반</a:t>
            </a:r>
            <a:r>
              <a:rPr lang="en-US" altLang="ko-KR" sz="1400" dirty="0"/>
              <a:t>】</a:t>
            </a:r>
          </a:p>
        </p:txBody>
      </p:sp>
    </p:spTree>
    <p:extLst>
      <p:ext uri="{BB962C8B-B14F-4D97-AF65-F5344CB8AC3E}">
        <p14:creationId xmlns:p14="http://schemas.microsoft.com/office/powerpoint/2010/main" val="2341925466"/>
      </p:ext>
    </p:extLst>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137</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t>정정무효심판의 청구시기</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25" name="직선 연결선 24">
            <a:extLst>
              <a:ext uri="{FF2B5EF4-FFF2-40B4-BE49-F238E27FC236}">
                <a16:creationId xmlns:a16="http://schemas.microsoft.com/office/drawing/2014/main" id="{7672B6BB-2D77-4E43-8B42-06D030FA91F0}"/>
              </a:ext>
            </a:extLst>
          </p:cNvPr>
          <p:cNvCxnSpPr/>
          <p:nvPr/>
        </p:nvCxnSpPr>
        <p:spPr>
          <a:xfrm>
            <a:off x="0" y="3172889"/>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직사각형 25">
            <a:extLst>
              <a:ext uri="{FF2B5EF4-FFF2-40B4-BE49-F238E27FC236}">
                <a16:creationId xmlns:a16="http://schemas.microsoft.com/office/drawing/2014/main" id="{635ED18D-A35C-4094-A735-ACF778B95324}"/>
              </a:ext>
            </a:extLst>
          </p:cNvPr>
          <p:cNvSpPr/>
          <p:nvPr/>
        </p:nvSpPr>
        <p:spPr>
          <a:xfrm>
            <a:off x="232372" y="1357007"/>
            <a:ext cx="11681987" cy="1815882"/>
          </a:xfrm>
          <a:prstGeom prst="rect">
            <a:avLst/>
          </a:prstGeom>
        </p:spPr>
        <p:txBody>
          <a:bodyPr wrap="square">
            <a:spAutoFit/>
          </a:bodyPr>
          <a:lstStyle/>
          <a:p>
            <a:pPr algn="just" fontAlgn="base"/>
            <a:r>
              <a:rPr lang="en-US" altLang="ko-KR" sz="1400" dirty="0"/>
              <a:t>[1] </a:t>
            </a:r>
            <a:r>
              <a:rPr lang="ko-KR" altLang="en-US" sz="1400" dirty="0"/>
              <a:t>특허를 무효로 하는 </a:t>
            </a:r>
            <a:r>
              <a:rPr lang="ko-KR" altLang="en-US" sz="1400" dirty="0" err="1"/>
              <a:t>심결이</a:t>
            </a:r>
            <a:r>
              <a:rPr lang="ko-KR" altLang="en-US" sz="1400" dirty="0"/>
              <a:t> 확정되었음에도 불구하고 정정무효심판청구에 대한 </a:t>
            </a:r>
            <a:r>
              <a:rPr lang="ko-KR" altLang="en-US" sz="1400" dirty="0" err="1"/>
              <a:t>기각심결의</a:t>
            </a:r>
            <a:r>
              <a:rPr lang="ko-KR" altLang="en-US" sz="1400" dirty="0"/>
              <a:t> 취소를 구할 법률상의 이익이 존재하는지 여부</a:t>
            </a:r>
            <a:r>
              <a:rPr lang="en-US" altLang="ko-KR" sz="1400" dirty="0"/>
              <a:t>(</a:t>
            </a:r>
            <a:r>
              <a:rPr lang="ko-KR" altLang="en-US" sz="1400" dirty="0"/>
              <a:t>소극</a:t>
            </a:r>
            <a:r>
              <a:rPr lang="en-US" altLang="ko-KR" sz="1400" dirty="0"/>
              <a:t>): </a:t>
            </a:r>
            <a:r>
              <a:rPr lang="ko-KR" altLang="en-US" sz="1400" dirty="0"/>
              <a:t>특허를 무효로 한다는 </a:t>
            </a:r>
            <a:r>
              <a:rPr lang="ko-KR" altLang="en-US" sz="1400" dirty="0" err="1"/>
              <a:t>심결이</a:t>
            </a:r>
            <a:r>
              <a:rPr lang="ko-KR" altLang="en-US" sz="1400" dirty="0"/>
              <a:t> 확정된 때에는 그 특허권은 처음부터 없었던 것으로 보게 되므로</a:t>
            </a:r>
            <a:r>
              <a:rPr lang="en-US" altLang="ko-KR" sz="1400" dirty="0"/>
              <a:t>, </a:t>
            </a:r>
            <a:r>
              <a:rPr lang="ko-KR" altLang="en-US" sz="1400" dirty="0"/>
              <a:t>무효로 된 특허에 대한 정정의 무효를 구하는 심판은 그 정정의 대상이 없어지게 된 결과 정정 자체의 무효를 구할 이익도 없어진다고 할 것이다</a:t>
            </a:r>
            <a:r>
              <a:rPr lang="en-US" altLang="ko-KR" sz="1400" dirty="0"/>
              <a:t>. </a:t>
            </a:r>
          </a:p>
          <a:p>
            <a:pPr algn="just" fontAlgn="base"/>
            <a:r>
              <a:rPr lang="en-US" altLang="ko-KR" sz="1400" dirty="0"/>
              <a:t>[2] </a:t>
            </a:r>
            <a:r>
              <a:rPr lang="ko-KR" altLang="en-US" sz="1400" dirty="0"/>
              <a:t>특허법 제</a:t>
            </a:r>
            <a:r>
              <a:rPr lang="en-US" altLang="ko-KR" sz="1400" dirty="0"/>
              <a:t>136</a:t>
            </a:r>
            <a:r>
              <a:rPr lang="ko-KR" altLang="en-US" sz="1400" dirty="0"/>
              <a:t>조 제</a:t>
            </a:r>
            <a:r>
              <a:rPr lang="en-US" altLang="ko-KR" sz="1400" dirty="0"/>
              <a:t>8</a:t>
            </a:r>
            <a:r>
              <a:rPr lang="ko-KR" altLang="en-US" sz="1400" dirty="0"/>
              <a:t>항에 의하여 </a:t>
            </a:r>
            <a:r>
              <a:rPr lang="ko-KR" altLang="en-US" sz="1400" dirty="0" err="1"/>
              <a:t>정정심결이</a:t>
            </a:r>
            <a:r>
              <a:rPr lang="ko-KR" altLang="en-US" sz="1400" dirty="0"/>
              <a:t> 확정된 때에는 정정 후의 명세서 또는 도면에 의하여 </a:t>
            </a:r>
            <a:r>
              <a:rPr lang="ko-KR" altLang="en-US" sz="1400" dirty="0" err="1"/>
              <a:t>특허출원되고</a:t>
            </a:r>
            <a:r>
              <a:rPr lang="ko-KR" altLang="en-US" sz="1400" dirty="0"/>
              <a:t> 이후 이에 입각하여 특허권 설정등록까지의 절차가 이루어진 것으로 간주하는 것은 무효부분을 포함하는 특허를 본래 유효로 되어야 할 범위 내에서 존속시키기 위한 것이므로</a:t>
            </a:r>
            <a:r>
              <a:rPr lang="en-US" altLang="ko-KR" sz="1400" dirty="0"/>
              <a:t>, </a:t>
            </a:r>
            <a:r>
              <a:rPr lang="ko-KR" altLang="en-US" sz="1400" dirty="0"/>
              <a:t>조약에 의한 우선권 주장의 기초가 된 최초의 출원서 또는 </a:t>
            </a:r>
            <a:r>
              <a:rPr lang="ko-KR" altLang="en-US" sz="1400" dirty="0" err="1"/>
              <a:t>출원공개된</a:t>
            </a:r>
            <a:r>
              <a:rPr lang="ko-KR" altLang="en-US" sz="1400" dirty="0"/>
              <a:t> 출원서에 첨부한 명세서 또는 도면에 기재된 사항이 그 후 정정되었다 하더라도</a:t>
            </a:r>
            <a:r>
              <a:rPr lang="en-US" altLang="ko-KR" sz="1400" dirty="0"/>
              <a:t>, </a:t>
            </a:r>
            <a:r>
              <a:rPr lang="ko-KR" altLang="en-US" sz="1400" dirty="0">
                <a:solidFill>
                  <a:schemeClr val="accent3">
                    <a:lumMod val="50000"/>
                  </a:schemeClr>
                </a:solidFill>
                <a:highlight>
                  <a:srgbClr val="FFFF00"/>
                </a:highlight>
              </a:rPr>
              <a:t>그 정정내용이 조약에 의한 우선권 주장의 기초가 된 발명의 내용 또는 신규성</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진보성 판단에 제공되는 </a:t>
            </a:r>
            <a:r>
              <a:rPr lang="ko-KR" altLang="en-US" sz="1400" dirty="0" err="1">
                <a:solidFill>
                  <a:schemeClr val="accent3">
                    <a:lumMod val="50000"/>
                  </a:schemeClr>
                </a:solidFill>
                <a:highlight>
                  <a:srgbClr val="FFFF00"/>
                </a:highlight>
              </a:rPr>
              <a:t>선행기술로서의</a:t>
            </a:r>
            <a:r>
              <a:rPr lang="ko-KR" altLang="en-US" sz="1400" dirty="0">
                <a:solidFill>
                  <a:schemeClr val="accent3">
                    <a:lumMod val="50000"/>
                  </a:schemeClr>
                </a:solidFill>
                <a:highlight>
                  <a:srgbClr val="FFFF00"/>
                </a:highlight>
              </a:rPr>
              <a:t> 발명의 내용에 영향을 미칠 수 없다</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따라서 이와 다른 전제에서 특허가 무효로 된 이후에도 여전히 그 정정의 무효심판을 청구할 이익이 있다는 상고이유의 주장은 받아들일 수 없다</a:t>
            </a:r>
            <a:r>
              <a:rPr lang="en-US" altLang="ko-KR" sz="1400" dirty="0">
                <a:solidFill>
                  <a:schemeClr val="accent3">
                    <a:lumMod val="50000"/>
                  </a:schemeClr>
                </a:solidFill>
                <a:highlight>
                  <a:srgbClr val="FFFF00"/>
                </a:highlight>
              </a:rPr>
              <a:t>.</a:t>
            </a:r>
            <a:endParaRPr lang="ko-KR" altLang="en-US" sz="1400" dirty="0">
              <a:solidFill>
                <a:schemeClr val="accent3">
                  <a:lumMod val="50000"/>
                </a:schemeClr>
              </a:solidFill>
              <a:highlight>
                <a:srgbClr val="FFFF00"/>
              </a:highlight>
            </a:endParaRPr>
          </a:p>
        </p:txBody>
      </p:sp>
      <p:sp>
        <p:nvSpPr>
          <p:cNvPr id="27" name="모서리가 둥근 직사각형 10">
            <a:extLst>
              <a:ext uri="{FF2B5EF4-FFF2-40B4-BE49-F238E27FC236}">
                <a16:creationId xmlns:a16="http://schemas.microsoft.com/office/drawing/2014/main" id="{45EA68D6-B151-4236-8FC3-05A69090F573}"/>
              </a:ext>
            </a:extLst>
          </p:cNvPr>
          <p:cNvSpPr/>
          <p:nvPr/>
        </p:nvSpPr>
        <p:spPr bwMode="auto">
          <a:xfrm>
            <a:off x="378418" y="1002199"/>
            <a:ext cx="5717582"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2011. 6. 30. </a:t>
            </a:r>
            <a:r>
              <a:rPr lang="ko-KR" altLang="en-US" sz="1400" dirty="0"/>
              <a:t>선고 </a:t>
            </a:r>
            <a:r>
              <a:rPr lang="en-US" altLang="ko-KR" sz="1400" dirty="0"/>
              <a:t>2011</a:t>
            </a:r>
            <a:r>
              <a:rPr lang="ko-KR" altLang="en-US" sz="1400" dirty="0"/>
              <a:t>후</a:t>
            </a:r>
            <a:r>
              <a:rPr lang="en-US" altLang="ko-KR" sz="1400" dirty="0"/>
              <a:t>620 </a:t>
            </a:r>
            <a:r>
              <a:rPr lang="ko-KR" altLang="en-US" sz="1400" dirty="0"/>
              <a:t>판결 </a:t>
            </a:r>
            <a:r>
              <a:rPr lang="en-US" altLang="ko-KR" sz="1400" dirty="0"/>
              <a:t>【</a:t>
            </a:r>
            <a:r>
              <a:rPr lang="ko-KR" altLang="en-US" sz="1400" dirty="0"/>
              <a:t>취소결정</a:t>
            </a:r>
            <a:r>
              <a:rPr lang="en-US" altLang="ko-KR" sz="1400" dirty="0"/>
              <a:t>(</a:t>
            </a:r>
            <a:r>
              <a:rPr lang="ko-KR" altLang="en-US" sz="1400" dirty="0" err="1"/>
              <a:t>특</a:t>
            </a:r>
            <a:r>
              <a:rPr lang="en-US" altLang="ko-KR" sz="1400" dirty="0"/>
              <a:t>)</a:t>
            </a:r>
            <a:r>
              <a:rPr lang="ko-KR" altLang="en-US" sz="1400" dirty="0" err="1"/>
              <a:t>심결취소의소</a:t>
            </a:r>
            <a:r>
              <a:rPr lang="en-US" altLang="ko-KR" sz="1400" dirty="0"/>
              <a:t>】</a:t>
            </a:r>
          </a:p>
        </p:txBody>
      </p:sp>
      <p:sp>
        <p:nvSpPr>
          <p:cNvPr id="28" name="Line 5">
            <a:extLst>
              <a:ext uri="{FF2B5EF4-FFF2-40B4-BE49-F238E27FC236}">
                <a16:creationId xmlns:a16="http://schemas.microsoft.com/office/drawing/2014/main" id="{13F99ADD-6D23-4CE0-87DA-F8CCBC916BF0}"/>
              </a:ext>
            </a:extLst>
          </p:cNvPr>
          <p:cNvSpPr>
            <a:spLocks noChangeShapeType="1"/>
          </p:cNvSpPr>
          <p:nvPr/>
        </p:nvSpPr>
        <p:spPr bwMode="auto">
          <a:xfrm>
            <a:off x="514351" y="4881317"/>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9" name="TextBox 28">
            <a:extLst>
              <a:ext uri="{FF2B5EF4-FFF2-40B4-BE49-F238E27FC236}">
                <a16:creationId xmlns:a16="http://schemas.microsoft.com/office/drawing/2014/main" id="{06755A33-8626-4A38-968C-F28C1EF81A51}"/>
              </a:ext>
            </a:extLst>
          </p:cNvPr>
          <p:cNvSpPr txBox="1"/>
          <p:nvPr/>
        </p:nvSpPr>
        <p:spPr>
          <a:xfrm>
            <a:off x="706017" y="5137492"/>
            <a:ext cx="1007716" cy="276999"/>
          </a:xfrm>
          <a:prstGeom prst="rect">
            <a:avLst/>
          </a:prstGeom>
          <a:solidFill>
            <a:schemeClr val="bg1">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bg1"/>
                </a:solidFill>
                <a:latin typeface="+mn-ea"/>
              </a:rPr>
              <a:t>甲 국내출원</a:t>
            </a:r>
          </a:p>
        </p:txBody>
      </p:sp>
      <p:sp>
        <p:nvSpPr>
          <p:cNvPr id="30" name="타원 29">
            <a:extLst>
              <a:ext uri="{FF2B5EF4-FFF2-40B4-BE49-F238E27FC236}">
                <a16:creationId xmlns:a16="http://schemas.microsoft.com/office/drawing/2014/main" id="{C4876FE4-DC4D-4474-8926-D22632F6469D}"/>
              </a:ext>
            </a:extLst>
          </p:cNvPr>
          <p:cNvSpPr/>
          <p:nvPr/>
        </p:nvSpPr>
        <p:spPr>
          <a:xfrm>
            <a:off x="1132506" y="4787383"/>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1" name="직선 연결선 30">
            <a:extLst>
              <a:ext uri="{FF2B5EF4-FFF2-40B4-BE49-F238E27FC236}">
                <a16:creationId xmlns:a16="http://schemas.microsoft.com/office/drawing/2014/main" id="{CA79FA6F-3539-499D-989D-4B9AAF9734FC}"/>
              </a:ext>
            </a:extLst>
          </p:cNvPr>
          <p:cNvCxnSpPr>
            <a:cxnSpLocks/>
          </p:cNvCxnSpPr>
          <p:nvPr/>
        </p:nvCxnSpPr>
        <p:spPr>
          <a:xfrm flipV="1">
            <a:off x="1209875" y="4948721"/>
            <a:ext cx="0"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B2D769B1-1FF8-4325-BD54-E6AE101BD78D}"/>
              </a:ext>
            </a:extLst>
          </p:cNvPr>
          <p:cNvSpPr txBox="1"/>
          <p:nvPr/>
        </p:nvSpPr>
        <p:spPr>
          <a:xfrm>
            <a:off x="1464328" y="4275796"/>
            <a:ext cx="1010166"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a:solidFill>
                  <a:schemeClr val="tx1"/>
                </a:solidFill>
                <a:latin typeface="+mn-ea"/>
              </a:rPr>
              <a:t>乙 국내출원</a:t>
            </a:r>
            <a:endParaRPr lang="ko-KR" altLang="en-US" sz="1200" dirty="0">
              <a:solidFill>
                <a:schemeClr val="tx1"/>
              </a:solidFill>
              <a:latin typeface="+mn-ea"/>
            </a:endParaRPr>
          </a:p>
        </p:txBody>
      </p:sp>
      <p:sp>
        <p:nvSpPr>
          <p:cNvPr id="90" name="타원 89">
            <a:extLst>
              <a:ext uri="{FF2B5EF4-FFF2-40B4-BE49-F238E27FC236}">
                <a16:creationId xmlns:a16="http://schemas.microsoft.com/office/drawing/2014/main" id="{66BDDFB2-76D3-4B7E-AB78-077EE38E9B88}"/>
              </a:ext>
            </a:extLst>
          </p:cNvPr>
          <p:cNvSpPr/>
          <p:nvPr/>
        </p:nvSpPr>
        <p:spPr>
          <a:xfrm>
            <a:off x="1892042" y="4787383"/>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1" name="직선 연결선 90">
            <a:extLst>
              <a:ext uri="{FF2B5EF4-FFF2-40B4-BE49-F238E27FC236}">
                <a16:creationId xmlns:a16="http://schemas.microsoft.com/office/drawing/2014/main" id="{E802B4B2-A1A0-419F-B32A-ABED66E6E377}"/>
              </a:ext>
            </a:extLst>
          </p:cNvPr>
          <p:cNvCxnSpPr>
            <a:cxnSpLocks/>
          </p:cNvCxnSpPr>
          <p:nvPr/>
        </p:nvCxnSpPr>
        <p:spPr>
          <a:xfrm>
            <a:off x="1969411" y="4552795"/>
            <a:ext cx="0" cy="23458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C7D4FB36-1FFF-453A-9148-2907ED9D291C}"/>
              </a:ext>
            </a:extLst>
          </p:cNvPr>
          <p:cNvSpPr txBox="1"/>
          <p:nvPr/>
        </p:nvSpPr>
        <p:spPr>
          <a:xfrm>
            <a:off x="568578" y="5534579"/>
            <a:ext cx="1282594"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청구범위</a:t>
            </a:r>
            <a:r>
              <a:rPr lang="en-US" altLang="ko-KR" sz="1200" dirty="0">
                <a:solidFill>
                  <a:schemeClr val="tx1"/>
                </a:solidFill>
                <a:latin typeface="+mn-ea"/>
              </a:rPr>
              <a:t>: </a:t>
            </a:r>
          </a:p>
          <a:p>
            <a:pPr algn="ctr"/>
            <a:r>
              <a:rPr lang="ko-KR" altLang="en-US" sz="1200" dirty="0">
                <a:solidFill>
                  <a:schemeClr val="tx1"/>
                </a:solidFill>
                <a:latin typeface="+mn-ea"/>
              </a:rPr>
              <a:t>제직연결</a:t>
            </a:r>
            <a:r>
              <a:rPr lang="ko-KR" altLang="en-US" sz="1200" dirty="0">
                <a:solidFill>
                  <a:srgbClr val="FF0000"/>
                </a:solidFill>
                <a:latin typeface="+mn-ea"/>
              </a:rPr>
              <a:t>위사</a:t>
            </a:r>
          </a:p>
        </p:txBody>
      </p:sp>
      <p:sp>
        <p:nvSpPr>
          <p:cNvPr id="103" name="TextBox 102">
            <a:extLst>
              <a:ext uri="{FF2B5EF4-FFF2-40B4-BE49-F238E27FC236}">
                <a16:creationId xmlns:a16="http://schemas.microsoft.com/office/drawing/2014/main" id="{BE5C795B-9FE5-4C0C-AD3E-3E2E1CDC1F95}"/>
              </a:ext>
            </a:extLst>
          </p:cNvPr>
          <p:cNvSpPr txBox="1"/>
          <p:nvPr/>
        </p:nvSpPr>
        <p:spPr>
          <a:xfrm>
            <a:off x="8706572" y="5137492"/>
            <a:ext cx="1051598" cy="461665"/>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제</a:t>
            </a:r>
            <a:r>
              <a:rPr lang="en-US" altLang="ko-KR" sz="1200" dirty="0">
                <a:solidFill>
                  <a:schemeClr val="tx1"/>
                </a:solidFill>
                <a:latin typeface="+mn-ea"/>
              </a:rPr>
              <a:t>3</a:t>
            </a:r>
            <a:r>
              <a:rPr lang="ko-KR" altLang="en-US" sz="1200" dirty="0">
                <a:solidFill>
                  <a:schemeClr val="tx1"/>
                </a:solidFill>
                <a:latin typeface="+mn-ea"/>
              </a:rPr>
              <a:t>자 </a:t>
            </a:r>
            <a:endParaRPr lang="en-US" altLang="ko-KR" sz="1200" dirty="0">
              <a:solidFill>
                <a:schemeClr val="tx1"/>
              </a:solidFill>
              <a:latin typeface="+mn-ea"/>
            </a:endParaRPr>
          </a:p>
          <a:p>
            <a:pPr algn="ctr"/>
            <a:r>
              <a:rPr lang="ko-KR" altLang="en-US" sz="1200" dirty="0" err="1">
                <a:solidFill>
                  <a:schemeClr val="tx1"/>
                </a:solidFill>
                <a:latin typeface="+mn-ea"/>
              </a:rPr>
              <a:t>무효심결</a:t>
            </a:r>
            <a:r>
              <a:rPr lang="ko-KR" altLang="en-US" sz="1200" dirty="0">
                <a:solidFill>
                  <a:schemeClr val="tx1"/>
                </a:solidFill>
                <a:latin typeface="+mn-ea"/>
              </a:rPr>
              <a:t> 확정</a:t>
            </a:r>
          </a:p>
        </p:txBody>
      </p:sp>
      <p:sp>
        <p:nvSpPr>
          <p:cNvPr id="104" name="타원 103">
            <a:extLst>
              <a:ext uri="{FF2B5EF4-FFF2-40B4-BE49-F238E27FC236}">
                <a16:creationId xmlns:a16="http://schemas.microsoft.com/office/drawing/2014/main" id="{DC2D998F-A5FC-44C2-B5EE-40DE19E1A3A9}"/>
              </a:ext>
            </a:extLst>
          </p:cNvPr>
          <p:cNvSpPr/>
          <p:nvPr/>
        </p:nvSpPr>
        <p:spPr>
          <a:xfrm>
            <a:off x="9155001" y="4787383"/>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6" name="직선 연결선 105">
            <a:extLst>
              <a:ext uri="{FF2B5EF4-FFF2-40B4-BE49-F238E27FC236}">
                <a16:creationId xmlns:a16="http://schemas.microsoft.com/office/drawing/2014/main" id="{DE726FF3-F1F9-4CFA-AB5E-12F924EFD229}"/>
              </a:ext>
            </a:extLst>
          </p:cNvPr>
          <p:cNvCxnSpPr>
            <a:cxnSpLocks/>
            <a:stCxn id="103" idx="0"/>
            <a:endCxn id="104" idx="4"/>
          </p:cNvCxnSpPr>
          <p:nvPr/>
        </p:nvCxnSpPr>
        <p:spPr>
          <a:xfrm flipH="1" flipV="1">
            <a:off x="9232370" y="4948721"/>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 name="직선 연결선 11">
            <a:extLst>
              <a:ext uri="{FF2B5EF4-FFF2-40B4-BE49-F238E27FC236}">
                <a16:creationId xmlns:a16="http://schemas.microsoft.com/office/drawing/2014/main" id="{D7D09F4F-390C-487C-9160-4A473B69DE97}"/>
              </a:ext>
            </a:extLst>
          </p:cNvPr>
          <p:cNvCxnSpPr/>
          <p:nvPr/>
        </p:nvCxnSpPr>
        <p:spPr>
          <a:xfrm flipV="1">
            <a:off x="1209875" y="5414491"/>
            <a:ext cx="0" cy="12008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25A1D5F2-777B-4242-9C03-42D40BC2CA09}"/>
              </a:ext>
            </a:extLst>
          </p:cNvPr>
          <p:cNvSpPr txBox="1"/>
          <p:nvPr/>
        </p:nvSpPr>
        <p:spPr>
          <a:xfrm>
            <a:off x="1328114" y="3734675"/>
            <a:ext cx="1282594"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청구범위</a:t>
            </a:r>
            <a:r>
              <a:rPr lang="en-US" altLang="ko-KR" sz="1200" dirty="0">
                <a:solidFill>
                  <a:schemeClr val="tx1"/>
                </a:solidFill>
                <a:latin typeface="+mn-ea"/>
              </a:rPr>
              <a:t>: </a:t>
            </a:r>
          </a:p>
          <a:p>
            <a:pPr algn="ctr"/>
            <a:r>
              <a:rPr lang="ko-KR" altLang="en-US" sz="1200" dirty="0">
                <a:solidFill>
                  <a:schemeClr val="tx1"/>
                </a:solidFill>
                <a:latin typeface="+mn-ea"/>
              </a:rPr>
              <a:t>제직연결</a:t>
            </a:r>
            <a:r>
              <a:rPr lang="ko-KR" altLang="en-US" sz="1200" dirty="0">
                <a:solidFill>
                  <a:srgbClr val="FF0000"/>
                </a:solidFill>
                <a:latin typeface="+mn-ea"/>
              </a:rPr>
              <a:t>경사</a:t>
            </a:r>
          </a:p>
        </p:txBody>
      </p:sp>
      <p:cxnSp>
        <p:nvCxnSpPr>
          <p:cNvPr id="53" name="직선 연결선 52">
            <a:extLst>
              <a:ext uri="{FF2B5EF4-FFF2-40B4-BE49-F238E27FC236}">
                <a16:creationId xmlns:a16="http://schemas.microsoft.com/office/drawing/2014/main" id="{485C3744-A984-4468-B595-2FEC80680800}"/>
              </a:ext>
            </a:extLst>
          </p:cNvPr>
          <p:cNvCxnSpPr>
            <a:cxnSpLocks/>
          </p:cNvCxnSpPr>
          <p:nvPr/>
        </p:nvCxnSpPr>
        <p:spPr>
          <a:xfrm flipV="1">
            <a:off x="1969411" y="4196340"/>
            <a:ext cx="0" cy="7945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9ADCF200-8AE7-4237-BB91-80B813E7AFD3}"/>
              </a:ext>
            </a:extLst>
          </p:cNvPr>
          <p:cNvSpPr txBox="1"/>
          <p:nvPr/>
        </p:nvSpPr>
        <p:spPr>
          <a:xfrm>
            <a:off x="3023761" y="4134017"/>
            <a:ext cx="1010166" cy="438582"/>
          </a:xfrm>
          <a:prstGeom prst="rect">
            <a:avLst/>
          </a:prstGeom>
          <a:solidFill>
            <a:schemeClr val="accent2">
              <a:lumMod val="7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bg1"/>
                </a:solidFill>
                <a:latin typeface="+mn-ea"/>
              </a:rPr>
              <a:t>乙 </a:t>
            </a:r>
            <a:r>
              <a:rPr lang="en-US" altLang="ko-KR" sz="1200" dirty="0">
                <a:solidFill>
                  <a:schemeClr val="bg1"/>
                </a:solidFill>
                <a:latin typeface="+mn-ea"/>
              </a:rPr>
              <a:t>PCT</a:t>
            </a:r>
            <a:r>
              <a:rPr lang="ko-KR" altLang="en-US" sz="1200" dirty="0">
                <a:solidFill>
                  <a:schemeClr val="bg1"/>
                </a:solidFill>
                <a:latin typeface="+mn-ea"/>
              </a:rPr>
              <a:t>출원</a:t>
            </a:r>
            <a:endParaRPr lang="en-US" altLang="ko-KR" sz="1200" dirty="0">
              <a:solidFill>
                <a:schemeClr val="bg1"/>
              </a:solidFill>
              <a:latin typeface="+mn-ea"/>
            </a:endParaRPr>
          </a:p>
          <a:p>
            <a:pPr algn="ctr"/>
            <a:r>
              <a:rPr lang="en-US" altLang="ko-KR" sz="1000" dirty="0">
                <a:solidFill>
                  <a:schemeClr val="bg1"/>
                </a:solidFill>
                <a:latin typeface="+mn-ea"/>
              </a:rPr>
              <a:t>(</a:t>
            </a:r>
            <a:r>
              <a:rPr lang="ko-KR" altLang="en-US" sz="1000" dirty="0" err="1">
                <a:solidFill>
                  <a:schemeClr val="bg1"/>
                </a:solidFill>
                <a:latin typeface="+mn-ea"/>
              </a:rPr>
              <a:t>지정국</a:t>
            </a:r>
            <a:r>
              <a:rPr lang="en-US" altLang="ko-KR" sz="1000" dirty="0">
                <a:solidFill>
                  <a:schemeClr val="bg1"/>
                </a:solidFill>
                <a:latin typeface="+mn-ea"/>
              </a:rPr>
              <a:t>:</a:t>
            </a:r>
            <a:r>
              <a:rPr lang="ko-KR" altLang="en-US" sz="1000" dirty="0">
                <a:solidFill>
                  <a:schemeClr val="bg1"/>
                </a:solidFill>
                <a:latin typeface="+mn-ea"/>
              </a:rPr>
              <a:t>중국</a:t>
            </a:r>
            <a:r>
              <a:rPr lang="en-US" altLang="ko-KR" sz="1000" dirty="0">
                <a:solidFill>
                  <a:schemeClr val="bg1"/>
                </a:solidFill>
                <a:latin typeface="+mn-ea"/>
              </a:rPr>
              <a:t>)</a:t>
            </a:r>
            <a:endParaRPr lang="ko-KR" altLang="en-US" sz="1000" dirty="0">
              <a:solidFill>
                <a:schemeClr val="bg1"/>
              </a:solidFill>
              <a:latin typeface="+mn-ea"/>
            </a:endParaRPr>
          </a:p>
        </p:txBody>
      </p:sp>
      <p:sp>
        <p:nvSpPr>
          <p:cNvPr id="62" name="타원 61">
            <a:extLst>
              <a:ext uri="{FF2B5EF4-FFF2-40B4-BE49-F238E27FC236}">
                <a16:creationId xmlns:a16="http://schemas.microsoft.com/office/drawing/2014/main" id="{CD0EC83C-C220-406E-969B-97B2C6EA8A26}"/>
              </a:ext>
            </a:extLst>
          </p:cNvPr>
          <p:cNvSpPr/>
          <p:nvPr/>
        </p:nvSpPr>
        <p:spPr>
          <a:xfrm>
            <a:off x="3451475" y="4787383"/>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3" name="직선 연결선 62">
            <a:extLst>
              <a:ext uri="{FF2B5EF4-FFF2-40B4-BE49-F238E27FC236}">
                <a16:creationId xmlns:a16="http://schemas.microsoft.com/office/drawing/2014/main" id="{16BE73D5-EDBA-43B3-A27C-02A12D77355E}"/>
              </a:ext>
            </a:extLst>
          </p:cNvPr>
          <p:cNvCxnSpPr>
            <a:cxnSpLocks/>
          </p:cNvCxnSpPr>
          <p:nvPr/>
        </p:nvCxnSpPr>
        <p:spPr>
          <a:xfrm>
            <a:off x="3528844" y="4552795"/>
            <a:ext cx="0" cy="23458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9A5F8268-4841-4F6D-8203-2F41C236AD2C}"/>
              </a:ext>
            </a:extLst>
          </p:cNvPr>
          <p:cNvSpPr txBox="1"/>
          <p:nvPr/>
        </p:nvSpPr>
        <p:spPr>
          <a:xfrm>
            <a:off x="2887547" y="3488121"/>
            <a:ext cx="1282594"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청구범위</a:t>
            </a:r>
            <a:r>
              <a:rPr lang="en-US" altLang="ko-KR" sz="1200" dirty="0">
                <a:solidFill>
                  <a:schemeClr val="tx1"/>
                </a:solidFill>
                <a:latin typeface="+mn-ea"/>
              </a:rPr>
              <a:t>: </a:t>
            </a:r>
          </a:p>
          <a:p>
            <a:pPr algn="ctr"/>
            <a:r>
              <a:rPr lang="ko-KR" altLang="en-US" sz="1200" dirty="0">
                <a:solidFill>
                  <a:schemeClr val="tx1"/>
                </a:solidFill>
                <a:latin typeface="+mn-ea"/>
              </a:rPr>
              <a:t>제직연결</a:t>
            </a:r>
            <a:r>
              <a:rPr lang="ko-KR" altLang="en-US" sz="1200" dirty="0">
                <a:solidFill>
                  <a:srgbClr val="FF0000"/>
                </a:solidFill>
                <a:latin typeface="+mn-ea"/>
              </a:rPr>
              <a:t>경사</a:t>
            </a:r>
          </a:p>
        </p:txBody>
      </p:sp>
      <p:cxnSp>
        <p:nvCxnSpPr>
          <p:cNvPr id="65" name="직선 연결선 64">
            <a:extLst>
              <a:ext uri="{FF2B5EF4-FFF2-40B4-BE49-F238E27FC236}">
                <a16:creationId xmlns:a16="http://schemas.microsoft.com/office/drawing/2014/main" id="{9D8C8C2A-6A30-4E51-BB25-603F02F5D561}"/>
              </a:ext>
            </a:extLst>
          </p:cNvPr>
          <p:cNvCxnSpPr>
            <a:cxnSpLocks/>
            <a:stCxn id="64" idx="2"/>
            <a:endCxn id="60" idx="0"/>
          </p:cNvCxnSpPr>
          <p:nvPr/>
        </p:nvCxnSpPr>
        <p:spPr>
          <a:xfrm>
            <a:off x="3528844" y="3949786"/>
            <a:ext cx="0" cy="18423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06B3B1CF-F66D-406D-B550-4C42D4AA7028}"/>
              </a:ext>
            </a:extLst>
          </p:cNvPr>
          <p:cNvSpPr txBox="1"/>
          <p:nvPr/>
        </p:nvSpPr>
        <p:spPr>
          <a:xfrm>
            <a:off x="2497890" y="5137492"/>
            <a:ext cx="1007716" cy="438582"/>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a:t>
            </a:r>
            <a:r>
              <a:rPr lang="en-US" altLang="ko-KR" sz="1200" dirty="0">
                <a:solidFill>
                  <a:schemeClr val="tx1"/>
                </a:solidFill>
                <a:latin typeface="+mn-ea"/>
              </a:rPr>
              <a:t>PCT</a:t>
            </a:r>
            <a:r>
              <a:rPr lang="ko-KR" altLang="en-US" sz="1200" dirty="0">
                <a:solidFill>
                  <a:schemeClr val="tx1"/>
                </a:solidFill>
                <a:latin typeface="+mn-ea"/>
              </a:rPr>
              <a:t>출원</a:t>
            </a:r>
            <a:endParaRPr lang="en-US" altLang="ko-KR" sz="1200" dirty="0">
              <a:solidFill>
                <a:schemeClr val="tx1"/>
              </a:solidFill>
              <a:latin typeface="+mn-ea"/>
            </a:endParaRPr>
          </a:p>
          <a:p>
            <a:pPr algn="ctr"/>
            <a:r>
              <a:rPr lang="en-US" altLang="ko-KR" sz="1050" dirty="0">
                <a:solidFill>
                  <a:schemeClr val="tx1"/>
                </a:solidFill>
                <a:latin typeface="+mn-ea"/>
              </a:rPr>
              <a:t>(</a:t>
            </a:r>
            <a:r>
              <a:rPr lang="ko-KR" altLang="en-US" sz="1050" dirty="0" err="1">
                <a:solidFill>
                  <a:schemeClr val="tx1"/>
                </a:solidFill>
                <a:latin typeface="+mn-ea"/>
              </a:rPr>
              <a:t>지정국</a:t>
            </a:r>
            <a:r>
              <a:rPr lang="en-US" altLang="ko-KR" sz="1050" dirty="0">
                <a:solidFill>
                  <a:schemeClr val="tx1"/>
                </a:solidFill>
                <a:latin typeface="+mn-ea"/>
              </a:rPr>
              <a:t>:</a:t>
            </a:r>
            <a:r>
              <a:rPr lang="ko-KR" altLang="en-US" sz="1050" dirty="0">
                <a:solidFill>
                  <a:schemeClr val="tx1"/>
                </a:solidFill>
                <a:latin typeface="+mn-ea"/>
              </a:rPr>
              <a:t>중국</a:t>
            </a:r>
            <a:r>
              <a:rPr lang="en-US" altLang="ko-KR" sz="1050" dirty="0">
                <a:solidFill>
                  <a:schemeClr val="tx1"/>
                </a:solidFill>
                <a:latin typeface="+mn-ea"/>
              </a:rPr>
              <a:t>)</a:t>
            </a:r>
          </a:p>
        </p:txBody>
      </p:sp>
      <p:sp>
        <p:nvSpPr>
          <p:cNvPr id="67" name="타원 66">
            <a:extLst>
              <a:ext uri="{FF2B5EF4-FFF2-40B4-BE49-F238E27FC236}">
                <a16:creationId xmlns:a16="http://schemas.microsoft.com/office/drawing/2014/main" id="{CF862A65-3A48-4E50-B2D8-50D35E86032F}"/>
              </a:ext>
            </a:extLst>
          </p:cNvPr>
          <p:cNvSpPr/>
          <p:nvPr/>
        </p:nvSpPr>
        <p:spPr>
          <a:xfrm>
            <a:off x="2924379" y="4787383"/>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8" name="직선 연결선 67">
            <a:extLst>
              <a:ext uri="{FF2B5EF4-FFF2-40B4-BE49-F238E27FC236}">
                <a16:creationId xmlns:a16="http://schemas.microsoft.com/office/drawing/2014/main" id="{B6237C14-10A7-48F8-8D8E-FEB24362D2A3}"/>
              </a:ext>
            </a:extLst>
          </p:cNvPr>
          <p:cNvCxnSpPr>
            <a:cxnSpLocks/>
          </p:cNvCxnSpPr>
          <p:nvPr/>
        </p:nvCxnSpPr>
        <p:spPr>
          <a:xfrm flipV="1">
            <a:off x="3001748" y="4948721"/>
            <a:ext cx="0"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AE3D18F7-2A0F-4B4F-81C1-6E5752233E33}"/>
              </a:ext>
            </a:extLst>
          </p:cNvPr>
          <p:cNvSpPr txBox="1"/>
          <p:nvPr/>
        </p:nvSpPr>
        <p:spPr>
          <a:xfrm>
            <a:off x="2360451" y="5799557"/>
            <a:ext cx="1282594"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청구범위</a:t>
            </a:r>
            <a:r>
              <a:rPr lang="en-US" altLang="ko-KR" sz="1200" dirty="0">
                <a:solidFill>
                  <a:schemeClr val="tx1"/>
                </a:solidFill>
                <a:latin typeface="+mn-ea"/>
              </a:rPr>
              <a:t>: </a:t>
            </a:r>
          </a:p>
          <a:p>
            <a:pPr algn="ctr"/>
            <a:r>
              <a:rPr lang="ko-KR" altLang="en-US" sz="1200" dirty="0">
                <a:solidFill>
                  <a:schemeClr val="tx1"/>
                </a:solidFill>
                <a:latin typeface="+mn-ea"/>
              </a:rPr>
              <a:t>제직연결</a:t>
            </a:r>
            <a:r>
              <a:rPr lang="ko-KR" altLang="en-US" sz="1200" dirty="0">
                <a:solidFill>
                  <a:srgbClr val="FF0000"/>
                </a:solidFill>
                <a:latin typeface="+mn-ea"/>
              </a:rPr>
              <a:t>경사</a:t>
            </a:r>
          </a:p>
        </p:txBody>
      </p:sp>
      <p:cxnSp>
        <p:nvCxnSpPr>
          <p:cNvPr id="70" name="직선 연결선 69">
            <a:extLst>
              <a:ext uri="{FF2B5EF4-FFF2-40B4-BE49-F238E27FC236}">
                <a16:creationId xmlns:a16="http://schemas.microsoft.com/office/drawing/2014/main" id="{412C6066-9A07-4693-A9A0-5E64C84669D5}"/>
              </a:ext>
            </a:extLst>
          </p:cNvPr>
          <p:cNvCxnSpPr/>
          <p:nvPr/>
        </p:nvCxnSpPr>
        <p:spPr>
          <a:xfrm flipV="1">
            <a:off x="3001748" y="5414491"/>
            <a:ext cx="0" cy="12008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9C949F70-DBF8-4404-8760-59AF6BFDDE16}"/>
              </a:ext>
            </a:extLst>
          </p:cNvPr>
          <p:cNvSpPr txBox="1"/>
          <p:nvPr/>
        </p:nvSpPr>
        <p:spPr>
          <a:xfrm>
            <a:off x="3763889" y="5137492"/>
            <a:ext cx="1007716" cy="276999"/>
          </a:xfrm>
          <a:prstGeom prst="rect">
            <a:avLst/>
          </a:prstGeom>
          <a:solidFill>
            <a:schemeClr val="bg1">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bg1"/>
                </a:solidFill>
                <a:latin typeface="+mn-ea"/>
              </a:rPr>
              <a:t>甲 국내등록</a:t>
            </a:r>
          </a:p>
        </p:txBody>
      </p:sp>
      <p:sp>
        <p:nvSpPr>
          <p:cNvPr id="72" name="타원 71">
            <a:extLst>
              <a:ext uri="{FF2B5EF4-FFF2-40B4-BE49-F238E27FC236}">
                <a16:creationId xmlns:a16="http://schemas.microsoft.com/office/drawing/2014/main" id="{519741A0-3324-4F2F-9799-E357189C9F98}"/>
              </a:ext>
            </a:extLst>
          </p:cNvPr>
          <p:cNvSpPr/>
          <p:nvPr/>
        </p:nvSpPr>
        <p:spPr>
          <a:xfrm>
            <a:off x="4190377" y="4787383"/>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3" name="직선 연결선 72">
            <a:extLst>
              <a:ext uri="{FF2B5EF4-FFF2-40B4-BE49-F238E27FC236}">
                <a16:creationId xmlns:a16="http://schemas.microsoft.com/office/drawing/2014/main" id="{CA4B5DE3-8CE5-4745-9701-A44D127FC3D0}"/>
              </a:ext>
            </a:extLst>
          </p:cNvPr>
          <p:cNvCxnSpPr>
            <a:cxnSpLocks/>
            <a:stCxn id="71" idx="0"/>
            <a:endCxn id="72" idx="4"/>
          </p:cNvCxnSpPr>
          <p:nvPr/>
        </p:nvCxnSpPr>
        <p:spPr>
          <a:xfrm flipH="1" flipV="1">
            <a:off x="4267746" y="4948721"/>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630FB699-DFDE-4B08-9CAF-EC1B8FFCB3A5}"/>
              </a:ext>
            </a:extLst>
          </p:cNvPr>
          <p:cNvSpPr txBox="1"/>
          <p:nvPr/>
        </p:nvSpPr>
        <p:spPr>
          <a:xfrm>
            <a:off x="4848972" y="5137492"/>
            <a:ext cx="1007716" cy="461665"/>
          </a:xfrm>
          <a:prstGeom prst="rect">
            <a:avLst/>
          </a:prstGeom>
          <a:solidFill>
            <a:schemeClr val="bg1">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bg1"/>
                </a:solidFill>
                <a:latin typeface="+mn-ea"/>
              </a:rPr>
              <a:t>甲 정정심판</a:t>
            </a:r>
            <a:endParaRPr lang="en-US" altLang="ko-KR" sz="1200" dirty="0">
              <a:solidFill>
                <a:schemeClr val="bg1"/>
              </a:solidFill>
              <a:latin typeface="+mn-ea"/>
            </a:endParaRPr>
          </a:p>
          <a:p>
            <a:pPr algn="ctr"/>
            <a:r>
              <a:rPr lang="ko-KR" altLang="en-US" sz="1200" dirty="0">
                <a:solidFill>
                  <a:schemeClr val="bg1"/>
                </a:solidFill>
                <a:latin typeface="+mn-ea"/>
              </a:rPr>
              <a:t>청구</a:t>
            </a:r>
          </a:p>
        </p:txBody>
      </p:sp>
      <p:sp>
        <p:nvSpPr>
          <p:cNvPr id="78" name="타원 77">
            <a:extLst>
              <a:ext uri="{FF2B5EF4-FFF2-40B4-BE49-F238E27FC236}">
                <a16:creationId xmlns:a16="http://schemas.microsoft.com/office/drawing/2014/main" id="{BAB0B559-12F3-4324-A168-59D37C1C1D3F}"/>
              </a:ext>
            </a:extLst>
          </p:cNvPr>
          <p:cNvSpPr/>
          <p:nvPr/>
        </p:nvSpPr>
        <p:spPr>
          <a:xfrm>
            <a:off x="5275460" y="4787383"/>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0" name="직선 연결선 79">
            <a:extLst>
              <a:ext uri="{FF2B5EF4-FFF2-40B4-BE49-F238E27FC236}">
                <a16:creationId xmlns:a16="http://schemas.microsoft.com/office/drawing/2014/main" id="{ED4F6533-9725-4326-94E6-F40DADA87F4B}"/>
              </a:ext>
            </a:extLst>
          </p:cNvPr>
          <p:cNvCxnSpPr>
            <a:cxnSpLocks/>
            <a:stCxn id="76" idx="0"/>
            <a:endCxn id="78" idx="4"/>
          </p:cNvCxnSpPr>
          <p:nvPr/>
        </p:nvCxnSpPr>
        <p:spPr>
          <a:xfrm flipH="1" flipV="1">
            <a:off x="5352829" y="4948721"/>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TextBox 81">
            <a:extLst>
              <a:ext uri="{FF2B5EF4-FFF2-40B4-BE49-F238E27FC236}">
                <a16:creationId xmlns:a16="http://schemas.microsoft.com/office/drawing/2014/main" id="{AE722F1C-EA5F-43ED-BE71-F36D780E2A19}"/>
              </a:ext>
            </a:extLst>
          </p:cNvPr>
          <p:cNvSpPr txBox="1"/>
          <p:nvPr/>
        </p:nvSpPr>
        <p:spPr>
          <a:xfrm>
            <a:off x="4711532" y="5714727"/>
            <a:ext cx="1282594"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청구범위</a:t>
            </a:r>
            <a:r>
              <a:rPr lang="en-US" altLang="ko-KR" sz="1200" dirty="0">
                <a:solidFill>
                  <a:schemeClr val="tx1"/>
                </a:solidFill>
                <a:latin typeface="+mn-ea"/>
              </a:rPr>
              <a:t>: </a:t>
            </a:r>
          </a:p>
          <a:p>
            <a:pPr algn="ctr"/>
            <a:r>
              <a:rPr lang="ko-KR" altLang="en-US" sz="1200" dirty="0">
                <a:solidFill>
                  <a:schemeClr val="tx1"/>
                </a:solidFill>
                <a:latin typeface="+mn-ea"/>
              </a:rPr>
              <a:t>제직연결</a:t>
            </a:r>
            <a:r>
              <a:rPr lang="ko-KR" altLang="en-US" sz="1200" dirty="0">
                <a:solidFill>
                  <a:srgbClr val="FF0000"/>
                </a:solidFill>
                <a:latin typeface="+mn-ea"/>
              </a:rPr>
              <a:t>경사</a:t>
            </a:r>
          </a:p>
        </p:txBody>
      </p:sp>
      <p:cxnSp>
        <p:nvCxnSpPr>
          <p:cNvPr id="83" name="직선 연결선 82">
            <a:extLst>
              <a:ext uri="{FF2B5EF4-FFF2-40B4-BE49-F238E27FC236}">
                <a16:creationId xmlns:a16="http://schemas.microsoft.com/office/drawing/2014/main" id="{EB7647B2-6FA0-4AEB-9E8E-E351432DC158}"/>
              </a:ext>
            </a:extLst>
          </p:cNvPr>
          <p:cNvCxnSpPr/>
          <p:nvPr/>
        </p:nvCxnSpPr>
        <p:spPr>
          <a:xfrm flipV="1">
            <a:off x="5352829" y="5594639"/>
            <a:ext cx="0" cy="12008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586F39C8-9C63-4984-AF16-B0C31B527EBF}"/>
              </a:ext>
            </a:extLst>
          </p:cNvPr>
          <p:cNvSpPr txBox="1"/>
          <p:nvPr/>
        </p:nvSpPr>
        <p:spPr>
          <a:xfrm>
            <a:off x="6199156" y="5137492"/>
            <a:ext cx="1007716" cy="461665"/>
          </a:xfrm>
          <a:prstGeom prst="rect">
            <a:avLst/>
          </a:prstGeom>
          <a:solidFill>
            <a:schemeClr val="bg1">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bg1"/>
                </a:solidFill>
                <a:latin typeface="+mn-ea"/>
              </a:rPr>
              <a:t>甲 </a:t>
            </a:r>
            <a:r>
              <a:rPr lang="ko-KR" altLang="en-US" sz="1200" dirty="0" err="1">
                <a:solidFill>
                  <a:schemeClr val="bg1"/>
                </a:solidFill>
                <a:latin typeface="+mn-ea"/>
              </a:rPr>
              <a:t>인용심결</a:t>
            </a:r>
            <a:endParaRPr lang="en-US" altLang="ko-KR" sz="1200" dirty="0">
              <a:solidFill>
                <a:schemeClr val="bg1"/>
              </a:solidFill>
              <a:latin typeface="+mn-ea"/>
            </a:endParaRPr>
          </a:p>
          <a:p>
            <a:pPr algn="ctr"/>
            <a:r>
              <a:rPr lang="ko-KR" altLang="en-US" sz="1200" dirty="0">
                <a:solidFill>
                  <a:schemeClr val="bg1"/>
                </a:solidFill>
                <a:latin typeface="+mn-ea"/>
              </a:rPr>
              <a:t>확정</a:t>
            </a:r>
          </a:p>
        </p:txBody>
      </p:sp>
      <p:sp>
        <p:nvSpPr>
          <p:cNvPr id="85" name="타원 84">
            <a:extLst>
              <a:ext uri="{FF2B5EF4-FFF2-40B4-BE49-F238E27FC236}">
                <a16:creationId xmlns:a16="http://schemas.microsoft.com/office/drawing/2014/main" id="{2BF31581-F1EB-49D8-85A5-5DFAF7BE15DC}"/>
              </a:ext>
            </a:extLst>
          </p:cNvPr>
          <p:cNvSpPr/>
          <p:nvPr/>
        </p:nvSpPr>
        <p:spPr>
          <a:xfrm>
            <a:off x="6625644" y="4787383"/>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6" name="직선 연결선 85">
            <a:extLst>
              <a:ext uri="{FF2B5EF4-FFF2-40B4-BE49-F238E27FC236}">
                <a16:creationId xmlns:a16="http://schemas.microsoft.com/office/drawing/2014/main" id="{EF89AACA-45ED-4CB4-840B-8D44F6C2A3F6}"/>
              </a:ext>
            </a:extLst>
          </p:cNvPr>
          <p:cNvCxnSpPr>
            <a:cxnSpLocks/>
            <a:stCxn id="84" idx="0"/>
            <a:endCxn id="85" idx="4"/>
          </p:cNvCxnSpPr>
          <p:nvPr/>
        </p:nvCxnSpPr>
        <p:spPr>
          <a:xfrm flipH="1" flipV="1">
            <a:off x="6703013" y="4948721"/>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0A0F8C98-BA52-4498-814A-AE337AA83E4A}"/>
              </a:ext>
            </a:extLst>
          </p:cNvPr>
          <p:cNvSpPr txBox="1"/>
          <p:nvPr/>
        </p:nvSpPr>
        <p:spPr>
          <a:xfrm>
            <a:off x="6061716" y="5714727"/>
            <a:ext cx="1282594"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청구범위</a:t>
            </a:r>
            <a:r>
              <a:rPr lang="en-US" altLang="ko-KR" sz="1200" dirty="0">
                <a:solidFill>
                  <a:schemeClr val="tx1"/>
                </a:solidFill>
                <a:latin typeface="+mn-ea"/>
              </a:rPr>
              <a:t>: </a:t>
            </a:r>
          </a:p>
          <a:p>
            <a:pPr algn="ctr"/>
            <a:r>
              <a:rPr lang="ko-KR" altLang="en-US" sz="1200" dirty="0">
                <a:solidFill>
                  <a:schemeClr val="tx1"/>
                </a:solidFill>
                <a:latin typeface="+mn-ea"/>
              </a:rPr>
              <a:t>제직연결</a:t>
            </a:r>
            <a:r>
              <a:rPr lang="ko-KR" altLang="en-US" sz="1200" dirty="0">
                <a:solidFill>
                  <a:srgbClr val="FF0000"/>
                </a:solidFill>
                <a:latin typeface="+mn-ea"/>
              </a:rPr>
              <a:t>경사</a:t>
            </a:r>
          </a:p>
        </p:txBody>
      </p:sp>
      <p:cxnSp>
        <p:nvCxnSpPr>
          <p:cNvPr id="93" name="직선 연결선 92">
            <a:extLst>
              <a:ext uri="{FF2B5EF4-FFF2-40B4-BE49-F238E27FC236}">
                <a16:creationId xmlns:a16="http://schemas.microsoft.com/office/drawing/2014/main" id="{15905726-E3DD-4D56-8B59-549E508AE619}"/>
              </a:ext>
            </a:extLst>
          </p:cNvPr>
          <p:cNvCxnSpPr/>
          <p:nvPr/>
        </p:nvCxnSpPr>
        <p:spPr>
          <a:xfrm flipV="1">
            <a:off x="6703013" y="5594639"/>
            <a:ext cx="0" cy="12008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4" name="TextBox 93">
            <a:extLst>
              <a:ext uri="{FF2B5EF4-FFF2-40B4-BE49-F238E27FC236}">
                <a16:creationId xmlns:a16="http://schemas.microsoft.com/office/drawing/2014/main" id="{93F0A74A-EDB2-44DB-8C29-4FD836D592AA}"/>
              </a:ext>
            </a:extLst>
          </p:cNvPr>
          <p:cNvSpPr txBox="1"/>
          <p:nvPr/>
        </p:nvSpPr>
        <p:spPr>
          <a:xfrm>
            <a:off x="6816172" y="4113871"/>
            <a:ext cx="1010166" cy="461665"/>
          </a:xfrm>
          <a:prstGeom prst="rect">
            <a:avLst/>
          </a:prstGeom>
          <a:solidFill>
            <a:schemeClr val="bg1">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bg1"/>
                </a:solidFill>
                <a:latin typeface="+mn-ea"/>
              </a:rPr>
              <a:t>乙 정정무효심판청구</a:t>
            </a:r>
          </a:p>
        </p:txBody>
      </p:sp>
      <p:sp>
        <p:nvSpPr>
          <p:cNvPr id="105" name="타원 104">
            <a:extLst>
              <a:ext uri="{FF2B5EF4-FFF2-40B4-BE49-F238E27FC236}">
                <a16:creationId xmlns:a16="http://schemas.microsoft.com/office/drawing/2014/main" id="{E0AA145D-4499-4B7F-A6A9-8FB3FB1891FC}"/>
              </a:ext>
            </a:extLst>
          </p:cNvPr>
          <p:cNvSpPr/>
          <p:nvPr/>
        </p:nvSpPr>
        <p:spPr>
          <a:xfrm>
            <a:off x="7243886" y="4787383"/>
            <a:ext cx="154738" cy="161338"/>
          </a:xfrm>
          <a:prstGeom prst="ellipse">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7" name="직선 연결선 106">
            <a:extLst>
              <a:ext uri="{FF2B5EF4-FFF2-40B4-BE49-F238E27FC236}">
                <a16:creationId xmlns:a16="http://schemas.microsoft.com/office/drawing/2014/main" id="{65A9AA4C-9005-48ED-BF23-C46E78692246}"/>
              </a:ext>
            </a:extLst>
          </p:cNvPr>
          <p:cNvCxnSpPr>
            <a:cxnSpLocks/>
          </p:cNvCxnSpPr>
          <p:nvPr/>
        </p:nvCxnSpPr>
        <p:spPr>
          <a:xfrm>
            <a:off x="7321255" y="4552795"/>
            <a:ext cx="0" cy="23458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127C6EE-010B-460D-B45A-A1378E587390}"/>
              </a:ext>
            </a:extLst>
          </p:cNvPr>
          <p:cNvSpPr txBox="1"/>
          <p:nvPr/>
        </p:nvSpPr>
        <p:spPr>
          <a:xfrm>
            <a:off x="7882315" y="4123396"/>
            <a:ext cx="494420" cy="461665"/>
          </a:xfrm>
          <a:prstGeom prst="rect">
            <a:avLst/>
          </a:prstGeom>
          <a:solidFill>
            <a:schemeClr val="bg1">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bg1"/>
                </a:solidFill>
                <a:latin typeface="+mn-ea"/>
              </a:rPr>
              <a:t>기각</a:t>
            </a:r>
            <a:endParaRPr lang="en-US" altLang="ko-KR" sz="1200" dirty="0">
              <a:solidFill>
                <a:schemeClr val="bg1"/>
              </a:solidFill>
              <a:latin typeface="+mn-ea"/>
            </a:endParaRPr>
          </a:p>
          <a:p>
            <a:pPr algn="ctr"/>
            <a:r>
              <a:rPr lang="ko-KR" altLang="en-US" sz="1200" dirty="0" err="1">
                <a:solidFill>
                  <a:schemeClr val="bg1"/>
                </a:solidFill>
                <a:latin typeface="+mn-ea"/>
              </a:rPr>
              <a:t>심결</a:t>
            </a:r>
            <a:endParaRPr lang="ko-KR" altLang="en-US" sz="1200" dirty="0">
              <a:solidFill>
                <a:schemeClr val="bg1"/>
              </a:solidFill>
              <a:latin typeface="+mn-ea"/>
            </a:endParaRPr>
          </a:p>
        </p:txBody>
      </p:sp>
      <p:sp>
        <p:nvSpPr>
          <p:cNvPr id="109" name="타원 108">
            <a:extLst>
              <a:ext uri="{FF2B5EF4-FFF2-40B4-BE49-F238E27FC236}">
                <a16:creationId xmlns:a16="http://schemas.microsoft.com/office/drawing/2014/main" id="{B66FD8F4-FF7D-4A6F-91B4-D96CBFF24571}"/>
              </a:ext>
            </a:extLst>
          </p:cNvPr>
          <p:cNvSpPr/>
          <p:nvPr/>
        </p:nvSpPr>
        <p:spPr>
          <a:xfrm>
            <a:off x="8052854" y="4787383"/>
            <a:ext cx="154738" cy="161338"/>
          </a:xfrm>
          <a:prstGeom prst="ellipse">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0" name="직선 연결선 109">
            <a:extLst>
              <a:ext uri="{FF2B5EF4-FFF2-40B4-BE49-F238E27FC236}">
                <a16:creationId xmlns:a16="http://schemas.microsoft.com/office/drawing/2014/main" id="{ED46D622-51AE-406F-98C8-A600F2CF4AC9}"/>
              </a:ext>
            </a:extLst>
          </p:cNvPr>
          <p:cNvCxnSpPr>
            <a:cxnSpLocks/>
            <a:stCxn id="108" idx="2"/>
          </p:cNvCxnSpPr>
          <p:nvPr/>
        </p:nvCxnSpPr>
        <p:spPr>
          <a:xfrm>
            <a:off x="8129525" y="4585061"/>
            <a:ext cx="698" cy="23089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1" name="TextBox 110">
            <a:extLst>
              <a:ext uri="{FF2B5EF4-FFF2-40B4-BE49-F238E27FC236}">
                <a16:creationId xmlns:a16="http://schemas.microsoft.com/office/drawing/2014/main" id="{FAC7C706-4661-4DFE-9A3E-E0BDE1D76DCE}"/>
              </a:ext>
            </a:extLst>
          </p:cNvPr>
          <p:cNvSpPr txBox="1"/>
          <p:nvPr/>
        </p:nvSpPr>
        <p:spPr>
          <a:xfrm>
            <a:off x="8433738" y="4123396"/>
            <a:ext cx="494420" cy="461665"/>
          </a:xfrm>
          <a:prstGeom prst="rect">
            <a:avLst/>
          </a:prstGeom>
          <a:solidFill>
            <a:schemeClr val="bg1">
              <a:lumMod val="5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bg1"/>
                </a:solidFill>
                <a:latin typeface="+mn-ea"/>
              </a:rPr>
              <a:t>소</a:t>
            </a:r>
            <a:endParaRPr lang="en-US" altLang="ko-KR" sz="1200" dirty="0">
              <a:solidFill>
                <a:schemeClr val="bg1"/>
              </a:solidFill>
              <a:latin typeface="+mn-ea"/>
            </a:endParaRPr>
          </a:p>
          <a:p>
            <a:pPr algn="ctr"/>
            <a:r>
              <a:rPr lang="ko-KR" altLang="en-US" sz="1200" dirty="0">
                <a:solidFill>
                  <a:schemeClr val="bg1"/>
                </a:solidFill>
                <a:latin typeface="+mn-ea"/>
              </a:rPr>
              <a:t>제기</a:t>
            </a:r>
          </a:p>
        </p:txBody>
      </p:sp>
      <p:sp>
        <p:nvSpPr>
          <p:cNvPr id="112" name="타원 111">
            <a:extLst>
              <a:ext uri="{FF2B5EF4-FFF2-40B4-BE49-F238E27FC236}">
                <a16:creationId xmlns:a16="http://schemas.microsoft.com/office/drawing/2014/main" id="{E81797E6-5843-4538-ABE7-43E52FF236F3}"/>
              </a:ext>
            </a:extLst>
          </p:cNvPr>
          <p:cNvSpPr/>
          <p:nvPr/>
        </p:nvSpPr>
        <p:spPr>
          <a:xfrm>
            <a:off x="8604277" y="4787383"/>
            <a:ext cx="154738" cy="161338"/>
          </a:xfrm>
          <a:prstGeom prst="ellipse">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3" name="직선 연결선 112">
            <a:extLst>
              <a:ext uri="{FF2B5EF4-FFF2-40B4-BE49-F238E27FC236}">
                <a16:creationId xmlns:a16="http://schemas.microsoft.com/office/drawing/2014/main" id="{D0CD381C-7912-45A8-B0B9-54638B2CD688}"/>
              </a:ext>
            </a:extLst>
          </p:cNvPr>
          <p:cNvCxnSpPr>
            <a:cxnSpLocks/>
            <a:stCxn id="111" idx="2"/>
          </p:cNvCxnSpPr>
          <p:nvPr/>
        </p:nvCxnSpPr>
        <p:spPr>
          <a:xfrm>
            <a:off x="8680948" y="4585061"/>
            <a:ext cx="698" cy="23089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A3D7CA88-8EC1-4929-911F-614EF49FB915}"/>
              </a:ext>
            </a:extLst>
          </p:cNvPr>
          <p:cNvSpPr txBox="1"/>
          <p:nvPr/>
        </p:nvSpPr>
        <p:spPr>
          <a:xfrm>
            <a:off x="5275460" y="3293857"/>
            <a:ext cx="6162896" cy="646331"/>
          </a:xfrm>
          <a:prstGeom prst="rect">
            <a:avLst/>
          </a:prstGeom>
          <a:noFill/>
          <a:ln>
            <a:solidFill>
              <a:schemeClr val="tx1"/>
            </a:solidFill>
          </a:ln>
        </p:spPr>
        <p:txBody>
          <a:bodyPr wrap="square" rtlCol="0">
            <a:spAutoFit/>
          </a:bodyPr>
          <a:lstStyle/>
          <a:p>
            <a:pPr algn="just"/>
            <a:r>
              <a:rPr lang="ko-KR" altLang="en-US" sz="1200" dirty="0"/>
              <a:t>해외출원에 대한 특허요건 심사 시에 발명의 동일성이 배척됨으로써 우선권 주장의 기초가 될 수 없을 것이어서</a:t>
            </a:r>
            <a:r>
              <a:rPr lang="en-US" altLang="ko-KR" sz="1200" dirty="0"/>
              <a:t>, </a:t>
            </a:r>
            <a:r>
              <a:rPr lang="ko-KR" altLang="en-US" sz="1200" dirty="0"/>
              <a:t>비록 국내에서 이 사건 특허발명에 대한 </a:t>
            </a:r>
            <a:r>
              <a:rPr lang="ko-KR" altLang="en-US" sz="1200" dirty="0" err="1"/>
              <a:t>등록무효심결이</a:t>
            </a:r>
            <a:r>
              <a:rPr lang="ko-KR" altLang="en-US" sz="1200" dirty="0"/>
              <a:t> 확정되었다고 하더라도</a:t>
            </a:r>
            <a:r>
              <a:rPr lang="en-US" altLang="ko-KR" sz="1200" dirty="0"/>
              <a:t>, </a:t>
            </a:r>
            <a:r>
              <a:rPr lang="ko-KR" altLang="en-US" sz="1200" dirty="0"/>
              <a:t>乙에게는 이 사건 정정무효심판청구에 대한 </a:t>
            </a:r>
            <a:r>
              <a:rPr lang="ko-KR" altLang="en-US" sz="1200" dirty="0" err="1"/>
              <a:t>기각심결의</a:t>
            </a:r>
            <a:r>
              <a:rPr lang="ko-KR" altLang="en-US" sz="1200" dirty="0"/>
              <a:t> 취소를 구할 법률상의 이익이 존재한다</a:t>
            </a:r>
            <a:r>
              <a:rPr lang="en-US" altLang="ko-KR" sz="1200" dirty="0"/>
              <a:t>.</a:t>
            </a:r>
            <a:endParaRPr lang="ko-KR" altLang="en-US" sz="1200" dirty="0"/>
          </a:p>
        </p:txBody>
      </p:sp>
      <p:sp>
        <p:nvSpPr>
          <p:cNvPr id="114" name="타원 113">
            <a:extLst>
              <a:ext uri="{FF2B5EF4-FFF2-40B4-BE49-F238E27FC236}">
                <a16:creationId xmlns:a16="http://schemas.microsoft.com/office/drawing/2014/main" id="{F1DB7450-254D-4CB0-8F92-1E3A3F23B65C}"/>
              </a:ext>
            </a:extLst>
          </p:cNvPr>
          <p:cNvSpPr/>
          <p:nvPr/>
        </p:nvSpPr>
        <p:spPr>
          <a:xfrm>
            <a:off x="9550987" y="4787383"/>
            <a:ext cx="154738" cy="161338"/>
          </a:xfrm>
          <a:prstGeom prst="ellipse">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22" name="직선 화살표 연결선 21">
            <a:extLst>
              <a:ext uri="{FF2B5EF4-FFF2-40B4-BE49-F238E27FC236}">
                <a16:creationId xmlns:a16="http://schemas.microsoft.com/office/drawing/2014/main" id="{4837E85C-2D0D-4390-9D7C-0D1F84849FFE}"/>
              </a:ext>
            </a:extLst>
          </p:cNvPr>
          <p:cNvCxnSpPr>
            <a:endCxn id="114" idx="0"/>
          </p:cNvCxnSpPr>
          <p:nvPr/>
        </p:nvCxnSpPr>
        <p:spPr>
          <a:xfrm>
            <a:off x="9628356" y="3940188"/>
            <a:ext cx="0" cy="84719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D0207F1F-74F8-4F02-A2F0-A10FFC193D09}"/>
              </a:ext>
            </a:extLst>
          </p:cNvPr>
          <p:cNvSpPr txBox="1"/>
          <p:nvPr/>
        </p:nvSpPr>
        <p:spPr>
          <a:xfrm>
            <a:off x="9238665" y="4123175"/>
            <a:ext cx="779381" cy="276999"/>
          </a:xfrm>
          <a:prstGeom prst="rect">
            <a:avLst/>
          </a:prstGeom>
          <a:noFill/>
        </p:spPr>
        <p:txBody>
          <a:bodyPr wrap="none" rtlCol="0">
            <a:spAutoFit/>
          </a:bodyPr>
          <a:lstStyle/>
          <a:p>
            <a:r>
              <a:rPr lang="ko-KR" altLang="en-US" sz="1200" dirty="0"/>
              <a:t>乙의 주장</a:t>
            </a:r>
          </a:p>
        </p:txBody>
      </p:sp>
      <p:sp>
        <p:nvSpPr>
          <p:cNvPr id="115" name="TextBox 114">
            <a:extLst>
              <a:ext uri="{FF2B5EF4-FFF2-40B4-BE49-F238E27FC236}">
                <a16:creationId xmlns:a16="http://schemas.microsoft.com/office/drawing/2014/main" id="{1070EF50-DBDA-44A4-96BE-4A3B15FAF272}"/>
              </a:ext>
            </a:extLst>
          </p:cNvPr>
          <p:cNvSpPr txBox="1"/>
          <p:nvPr/>
        </p:nvSpPr>
        <p:spPr>
          <a:xfrm>
            <a:off x="10366651" y="4123396"/>
            <a:ext cx="494420" cy="461665"/>
          </a:xfrm>
          <a:prstGeom prst="rect">
            <a:avLst/>
          </a:prstGeom>
          <a:solidFill>
            <a:srgbClr val="FF0000"/>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bg1"/>
                </a:solidFill>
                <a:latin typeface="+mn-ea"/>
              </a:rPr>
              <a:t>소</a:t>
            </a:r>
            <a:endParaRPr lang="en-US" altLang="ko-KR" sz="1200" dirty="0">
              <a:solidFill>
                <a:schemeClr val="bg1"/>
              </a:solidFill>
              <a:latin typeface="+mn-ea"/>
            </a:endParaRPr>
          </a:p>
          <a:p>
            <a:pPr algn="ctr"/>
            <a:r>
              <a:rPr lang="ko-KR" altLang="en-US" sz="1200" dirty="0">
                <a:solidFill>
                  <a:schemeClr val="bg1"/>
                </a:solidFill>
                <a:latin typeface="+mn-ea"/>
              </a:rPr>
              <a:t>각하</a:t>
            </a:r>
          </a:p>
        </p:txBody>
      </p:sp>
      <p:sp>
        <p:nvSpPr>
          <p:cNvPr id="116" name="타원 115">
            <a:extLst>
              <a:ext uri="{FF2B5EF4-FFF2-40B4-BE49-F238E27FC236}">
                <a16:creationId xmlns:a16="http://schemas.microsoft.com/office/drawing/2014/main" id="{6A2D36FE-427B-4EDB-A668-20644F613399}"/>
              </a:ext>
            </a:extLst>
          </p:cNvPr>
          <p:cNvSpPr/>
          <p:nvPr/>
        </p:nvSpPr>
        <p:spPr>
          <a:xfrm>
            <a:off x="10537190" y="4787383"/>
            <a:ext cx="154738" cy="161338"/>
          </a:xfrm>
          <a:prstGeom prst="ellipse">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17" name="직선 연결선 116">
            <a:extLst>
              <a:ext uri="{FF2B5EF4-FFF2-40B4-BE49-F238E27FC236}">
                <a16:creationId xmlns:a16="http://schemas.microsoft.com/office/drawing/2014/main" id="{3699D9F7-3EEE-4F35-84C7-BB58026F24F6}"/>
              </a:ext>
            </a:extLst>
          </p:cNvPr>
          <p:cNvCxnSpPr>
            <a:cxnSpLocks/>
            <a:stCxn id="115" idx="2"/>
          </p:cNvCxnSpPr>
          <p:nvPr/>
        </p:nvCxnSpPr>
        <p:spPr>
          <a:xfrm>
            <a:off x="10613861" y="4585061"/>
            <a:ext cx="698" cy="23089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직사각형 31">
            <a:extLst>
              <a:ext uri="{FF2B5EF4-FFF2-40B4-BE49-F238E27FC236}">
                <a16:creationId xmlns:a16="http://schemas.microsoft.com/office/drawing/2014/main" id="{FDD76493-3377-4C4A-B70D-FA530BD5E589}"/>
              </a:ext>
            </a:extLst>
          </p:cNvPr>
          <p:cNvSpPr/>
          <p:nvPr/>
        </p:nvSpPr>
        <p:spPr>
          <a:xfrm>
            <a:off x="7515225" y="5747562"/>
            <a:ext cx="4210050" cy="1015663"/>
          </a:xfrm>
          <a:prstGeom prst="rect">
            <a:avLst/>
          </a:prstGeom>
          <a:solidFill>
            <a:schemeClr val="accent4">
              <a:lumMod val="40000"/>
              <a:lumOff val="60000"/>
            </a:schemeClr>
          </a:solidFill>
          <a:ln>
            <a:solidFill>
              <a:schemeClr val="tx1"/>
            </a:solidFill>
          </a:ln>
        </p:spPr>
        <p:txBody>
          <a:bodyPr wrap="square">
            <a:spAutoFit/>
          </a:bodyPr>
          <a:lstStyle/>
          <a:p>
            <a:pPr algn="just"/>
            <a:r>
              <a:rPr lang="ko-KR" altLang="en-US" sz="1200" dirty="0">
                <a:solidFill>
                  <a:srgbClr val="333333"/>
                </a:solidFill>
                <a:latin typeface="Rix모던고딕 L" panose="02020603020101020101" pitchFamily="18" charset="-127"/>
              </a:rPr>
              <a:t>국제출원에 대한 특허요건을 심사하는 해당 국가가</a:t>
            </a:r>
            <a:r>
              <a:rPr lang="en-US" altLang="ko-KR" sz="1200" dirty="0">
                <a:solidFill>
                  <a:srgbClr val="333333"/>
                </a:solidFill>
                <a:latin typeface="Rix모던고딕 L" panose="02020603020101020101" pitchFamily="18" charset="-127"/>
              </a:rPr>
              <a:t>, </a:t>
            </a:r>
            <a:r>
              <a:rPr lang="ko-KR" altLang="en-US" sz="1200" dirty="0">
                <a:solidFill>
                  <a:srgbClr val="333333"/>
                </a:solidFill>
                <a:latin typeface="Rix모던고딕 L" panose="02020603020101020101" pitchFamily="18" charset="-127"/>
              </a:rPr>
              <a:t>이 사건 특허발명이 그 해당 국가에서의 출원에 대한 우선권 주장의 기초가 될 수 있는지 여부에 관한 판단을 함에 있어</a:t>
            </a:r>
            <a:r>
              <a:rPr lang="en-US" altLang="ko-KR" sz="1200" dirty="0">
                <a:solidFill>
                  <a:srgbClr val="333333"/>
                </a:solidFill>
                <a:latin typeface="Rix모던고딕 L" panose="02020603020101020101" pitchFamily="18" charset="-127"/>
              </a:rPr>
              <a:t>, </a:t>
            </a:r>
            <a:r>
              <a:rPr lang="ko-KR" altLang="en-US" sz="1200" dirty="0">
                <a:solidFill>
                  <a:srgbClr val="333333"/>
                </a:solidFill>
                <a:latin typeface="Rix모던고딕 L" panose="02020603020101020101" pitchFamily="18" charset="-127"/>
              </a:rPr>
              <a:t>이 사건 특허발명에 대한 우리나라 법원의 정정 </a:t>
            </a:r>
            <a:r>
              <a:rPr lang="ko-KR" altLang="en-US" sz="1200" dirty="0" err="1">
                <a:solidFill>
                  <a:srgbClr val="333333"/>
                </a:solidFill>
                <a:latin typeface="Rix모던고딕 L" panose="02020603020101020101" pitchFamily="18" charset="-127"/>
              </a:rPr>
              <a:t>유무효</a:t>
            </a:r>
            <a:r>
              <a:rPr lang="ko-KR" altLang="en-US" sz="1200" dirty="0">
                <a:solidFill>
                  <a:srgbClr val="333333"/>
                </a:solidFill>
                <a:latin typeface="Rix모던고딕 L" panose="02020603020101020101" pitchFamily="18" charset="-127"/>
              </a:rPr>
              <a:t> 판단 결과에 구속된다고 볼 근거는 없다</a:t>
            </a:r>
            <a:r>
              <a:rPr lang="en-US" altLang="ko-KR" sz="1200" dirty="0">
                <a:solidFill>
                  <a:srgbClr val="333333"/>
                </a:solidFill>
                <a:latin typeface="Rix모던고딕 L" panose="02020603020101020101" pitchFamily="18" charset="-127"/>
              </a:rPr>
              <a:t>.</a:t>
            </a:r>
            <a:endParaRPr lang="ko-KR" altLang="en-US" sz="1200" dirty="0"/>
          </a:p>
        </p:txBody>
      </p:sp>
      <p:cxnSp>
        <p:nvCxnSpPr>
          <p:cNvPr id="35" name="연결선: 꺾임 34">
            <a:extLst>
              <a:ext uri="{FF2B5EF4-FFF2-40B4-BE49-F238E27FC236}">
                <a16:creationId xmlns:a16="http://schemas.microsoft.com/office/drawing/2014/main" id="{6A4922F4-B768-48C0-BA2D-9D0BBBE01D65}"/>
              </a:ext>
            </a:extLst>
          </p:cNvPr>
          <p:cNvCxnSpPr>
            <a:stCxn id="32" idx="3"/>
            <a:endCxn id="115" idx="3"/>
          </p:cNvCxnSpPr>
          <p:nvPr/>
        </p:nvCxnSpPr>
        <p:spPr>
          <a:xfrm flipH="1" flipV="1">
            <a:off x="10861071" y="4354229"/>
            <a:ext cx="864204" cy="1901165"/>
          </a:xfrm>
          <a:prstGeom prst="bentConnector3">
            <a:avLst>
              <a:gd name="adj1" fmla="val -2645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직선 화살표 연결선 8">
            <a:extLst>
              <a:ext uri="{FF2B5EF4-FFF2-40B4-BE49-F238E27FC236}">
                <a16:creationId xmlns:a16="http://schemas.microsoft.com/office/drawing/2014/main" id="{2689B226-9890-49B8-ADA5-DDBA70A62DFE}"/>
              </a:ext>
            </a:extLst>
          </p:cNvPr>
          <p:cNvCxnSpPr>
            <a:stCxn id="69" idx="0"/>
            <a:endCxn id="66" idx="2"/>
          </p:cNvCxnSpPr>
          <p:nvPr/>
        </p:nvCxnSpPr>
        <p:spPr>
          <a:xfrm flipV="1">
            <a:off x="3001748" y="5576074"/>
            <a:ext cx="0" cy="22348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4366558"/>
      </p:ext>
    </p:extLst>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C5CD6F-DC91-F32E-5C95-B6B49692F800}"/>
            </a:ext>
          </a:extLst>
        </p:cNvPr>
        <p:cNvGrpSpPr/>
        <p:nvPr/>
      </p:nvGrpSpPr>
      <p:grpSpPr>
        <a:xfrm>
          <a:off x="0" y="0"/>
          <a:ext cx="0" cy="0"/>
          <a:chOff x="0" y="0"/>
          <a:chExt cx="0" cy="0"/>
        </a:xfrm>
      </p:grpSpPr>
      <p:sp>
        <p:nvSpPr>
          <p:cNvPr id="3" name="제목 2">
            <a:extLst>
              <a:ext uri="{FF2B5EF4-FFF2-40B4-BE49-F238E27FC236}">
                <a16:creationId xmlns:a16="http://schemas.microsoft.com/office/drawing/2014/main" id="{4B84A202-92BF-958A-799A-17717F2CC7F7}"/>
              </a:ext>
            </a:extLst>
          </p:cNvPr>
          <p:cNvSpPr>
            <a:spLocks noGrp="1"/>
          </p:cNvSpPr>
          <p:nvPr>
            <p:ph type="title"/>
          </p:nvPr>
        </p:nvSpPr>
        <p:spPr/>
        <p:txBody>
          <a:bodyPr/>
          <a:lstStyle/>
          <a:p>
            <a:r>
              <a:rPr lang="ko-KR" altLang="en-US" dirty="0" err="1"/>
              <a:t>참고노트</a:t>
            </a:r>
            <a:endParaRPr lang="ko-KR" altLang="en-US" dirty="0"/>
          </a:p>
        </p:txBody>
      </p:sp>
      <p:sp>
        <p:nvSpPr>
          <p:cNvPr id="4" name="텍스트 개체 틀 3">
            <a:extLst>
              <a:ext uri="{FF2B5EF4-FFF2-40B4-BE49-F238E27FC236}">
                <a16:creationId xmlns:a16="http://schemas.microsoft.com/office/drawing/2014/main" id="{4E164394-6BFB-C97F-7F1A-EC50D76E9D54}"/>
              </a:ext>
            </a:extLst>
          </p:cNvPr>
          <p:cNvSpPr>
            <a:spLocks noGrp="1"/>
          </p:cNvSpPr>
          <p:nvPr>
            <p:ph type="body" sz="quarter" idx="13"/>
          </p:nvPr>
        </p:nvSpPr>
        <p:spPr/>
        <p:txBody>
          <a:bodyPr>
            <a:normAutofit/>
          </a:bodyPr>
          <a:lstStyle/>
          <a:p>
            <a:pPr fontAlgn="base" latinLnBrk="0"/>
            <a:r>
              <a:rPr lang="ko-KR" altLang="en-US" dirty="0" err="1"/>
              <a:t>심판각론</a:t>
            </a:r>
            <a:r>
              <a:rPr lang="ko-KR" altLang="en-US" dirty="0"/>
              <a:t> 정리</a:t>
            </a:r>
          </a:p>
        </p:txBody>
      </p:sp>
      <p:sp>
        <p:nvSpPr>
          <p:cNvPr id="2" name="Rectangle 1">
            <a:extLst>
              <a:ext uri="{FF2B5EF4-FFF2-40B4-BE49-F238E27FC236}">
                <a16:creationId xmlns:a16="http://schemas.microsoft.com/office/drawing/2014/main" id="{9F5DAF05-27E8-D949-D76C-7916B5A7AF4F}"/>
              </a:ext>
            </a:extLst>
          </p:cNvPr>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슬라이드 번호 개체 틀 4">
            <a:extLst>
              <a:ext uri="{FF2B5EF4-FFF2-40B4-BE49-F238E27FC236}">
                <a16:creationId xmlns:a16="http://schemas.microsoft.com/office/drawing/2014/main" id="{E3FE7C57-218E-255C-9663-EF9451CC9E97}"/>
              </a:ext>
            </a:extLst>
          </p:cNvPr>
          <p:cNvSpPr>
            <a:spLocks noGrp="1"/>
          </p:cNvSpPr>
          <p:nvPr>
            <p:ph type="sldNum" sz="quarter" idx="4294967295"/>
          </p:nvPr>
        </p:nvSpPr>
        <p:spPr>
          <a:xfrm>
            <a:off x="11125200" y="0"/>
            <a:ext cx="1066800" cy="711200"/>
          </a:xfrm>
        </p:spPr>
        <p:txBody>
          <a:bodyPr/>
          <a:lstStyle/>
          <a:p>
            <a:r>
              <a:rPr lang="en-US" altLang="ko-KR"/>
              <a:t>496</a:t>
            </a:r>
            <a:endParaRPr lang="ko-KR" altLang="en-US" dirty="0"/>
          </a:p>
        </p:txBody>
      </p:sp>
      <p:graphicFrame>
        <p:nvGraphicFramePr>
          <p:cNvPr id="7" name="표 6">
            <a:extLst>
              <a:ext uri="{FF2B5EF4-FFF2-40B4-BE49-F238E27FC236}">
                <a16:creationId xmlns:a16="http://schemas.microsoft.com/office/drawing/2014/main" id="{486B9E67-0A7E-22D5-81AA-127CB358EC71}"/>
              </a:ext>
            </a:extLst>
          </p:cNvPr>
          <p:cNvGraphicFramePr>
            <a:graphicFrameLocks noGrp="1"/>
          </p:cNvGraphicFramePr>
          <p:nvPr/>
        </p:nvGraphicFramePr>
        <p:xfrm>
          <a:off x="340659" y="1103545"/>
          <a:ext cx="11528613" cy="5479492"/>
        </p:xfrm>
        <a:graphic>
          <a:graphicData uri="http://schemas.openxmlformats.org/drawingml/2006/table">
            <a:tbl>
              <a:tblPr/>
              <a:tblGrid>
                <a:gridCol w="278338">
                  <a:extLst>
                    <a:ext uri="{9D8B030D-6E8A-4147-A177-3AD203B41FA5}">
                      <a16:colId xmlns:a16="http://schemas.microsoft.com/office/drawing/2014/main" val="3934749613"/>
                    </a:ext>
                  </a:extLst>
                </a:gridCol>
                <a:gridCol w="564344">
                  <a:extLst>
                    <a:ext uri="{9D8B030D-6E8A-4147-A177-3AD203B41FA5}">
                      <a16:colId xmlns:a16="http://schemas.microsoft.com/office/drawing/2014/main" val="173878342"/>
                    </a:ext>
                  </a:extLst>
                </a:gridCol>
                <a:gridCol w="2569213">
                  <a:extLst>
                    <a:ext uri="{9D8B030D-6E8A-4147-A177-3AD203B41FA5}">
                      <a16:colId xmlns:a16="http://schemas.microsoft.com/office/drawing/2014/main" val="1412896013"/>
                    </a:ext>
                  </a:extLst>
                </a:gridCol>
                <a:gridCol w="2420367">
                  <a:extLst>
                    <a:ext uri="{9D8B030D-6E8A-4147-A177-3AD203B41FA5}">
                      <a16:colId xmlns:a16="http://schemas.microsoft.com/office/drawing/2014/main" val="484685258"/>
                    </a:ext>
                  </a:extLst>
                </a:gridCol>
                <a:gridCol w="2580753">
                  <a:extLst>
                    <a:ext uri="{9D8B030D-6E8A-4147-A177-3AD203B41FA5}">
                      <a16:colId xmlns:a16="http://schemas.microsoft.com/office/drawing/2014/main" val="4509842"/>
                    </a:ext>
                  </a:extLst>
                </a:gridCol>
                <a:gridCol w="3115598">
                  <a:extLst>
                    <a:ext uri="{9D8B030D-6E8A-4147-A177-3AD203B41FA5}">
                      <a16:colId xmlns:a16="http://schemas.microsoft.com/office/drawing/2014/main" val="345234348"/>
                    </a:ext>
                  </a:extLst>
                </a:gridCol>
              </a:tblGrid>
              <a:tr h="66830">
                <a:tc gridSpan="2">
                  <a:txBody>
                    <a:bodyPr/>
                    <a:lstStyle/>
                    <a:p>
                      <a:pPr marL="0" marR="0" indent="0" algn="ctr" fontAlgn="base" latinLnBrk="0">
                        <a:lnSpc>
                          <a:spcPct val="100000"/>
                        </a:lnSpc>
                        <a:buNone/>
                      </a:pPr>
                      <a:r>
                        <a:rPr lang="ko-KR" altLang="en-US" sz="1000" kern="0" spc="-100" dirty="0">
                          <a:solidFill>
                            <a:schemeClr val="tx1"/>
                          </a:solidFill>
                          <a:effectLst/>
                          <a:latin typeface="+mn-ea"/>
                          <a:ea typeface="+mn-ea"/>
                        </a:rPr>
                        <a:t>제 도</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dirty="0">
                          <a:solidFill>
                            <a:schemeClr val="tx1"/>
                          </a:solidFill>
                          <a:effectLst/>
                          <a:latin typeface="+mn-ea"/>
                          <a:ea typeface="+mn-ea"/>
                        </a:rPr>
                        <a:t>거절결정불복심판</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gridSpan="2">
                  <a:txBody>
                    <a:bodyPr/>
                    <a:lstStyle/>
                    <a:p>
                      <a:pPr marL="0" marR="0" indent="0" algn="ctr" fontAlgn="base" latinLnBrk="0">
                        <a:lnSpc>
                          <a:spcPct val="100000"/>
                        </a:lnSpc>
                        <a:buNone/>
                      </a:pPr>
                      <a:r>
                        <a:rPr lang="ko-KR" altLang="en-US" sz="1000" kern="0" spc="-100">
                          <a:solidFill>
                            <a:schemeClr val="tx1"/>
                          </a:solidFill>
                          <a:effectLst/>
                          <a:latin typeface="+mn-ea"/>
                          <a:ea typeface="+mn-ea"/>
                        </a:rPr>
                        <a:t>정정심판</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hMerge="1">
                  <a:txBody>
                    <a:bodyPr/>
                    <a:lstStyle/>
                    <a:p>
                      <a:pPr marL="0" marR="0" indent="0" algn="ctr" fontAlgn="base" latinLnBrk="0">
                        <a:lnSpc>
                          <a:spcPct val="120000"/>
                        </a:lnSpc>
                        <a:buNone/>
                      </a:pPr>
                      <a:r>
                        <a:rPr lang="ko-KR" altLang="en-US" sz="1000" kern="0" spc="-100">
                          <a:solidFill>
                            <a:srgbClr val="000000"/>
                          </a:solidFill>
                          <a:effectLst/>
                          <a:latin typeface="+mn-ea"/>
                          <a:ea typeface="+mn-ea"/>
                        </a:rPr>
                        <a:t>정정심판</a:t>
                      </a:r>
                    </a:p>
                  </a:txBody>
                  <a:tcPr marL="10639" marR="10639" marT="10639" marB="10639" anchor="ctr">
                    <a:lnL w="3175" cap="flat" cmpd="sng" algn="ctr">
                      <a:solidFill>
                        <a:srgbClr val="000000"/>
                      </a:solidFill>
                      <a:prstDash val="solid"/>
                      <a:round/>
                      <a:headEnd type="none" w="med" len="med"/>
                      <a:tailEnd type="none" w="med" len="med"/>
                    </a:lnL>
                    <a:lnR w="3175" cap="flat" cmpd="sng" algn="ctr">
                      <a:solidFill>
                        <a:srgbClr val="000000"/>
                      </a:solidFill>
                      <a:prstDash val="solid"/>
                      <a:round/>
                      <a:headEnd type="none" w="med" len="med"/>
                      <a:tailEnd type="none" w="med" len="med"/>
                    </a:lnR>
                    <a:lnT w="21590" cap="flat" cmpd="sng" algn="ctr">
                      <a:solidFill>
                        <a:srgbClr val="358791"/>
                      </a:solidFill>
                      <a:prstDash val="solid"/>
                      <a:round/>
                      <a:headEnd type="none" w="med" len="med"/>
                      <a:tailEnd type="none" w="med" len="med"/>
                    </a:lnT>
                    <a:lnB w="3175" cap="flat" cmpd="sng" algn="ctr">
                      <a:solidFill>
                        <a:srgbClr val="000000"/>
                      </a:solidFill>
                      <a:prstDash val="solid"/>
                      <a:round/>
                      <a:headEnd type="none" w="med" len="med"/>
                      <a:tailEnd type="none" w="med" len="med"/>
                    </a:lnB>
                    <a:solidFill>
                      <a:srgbClr val="D2EBEE"/>
                    </a:solidFill>
                  </a:tcPr>
                </a:tc>
                <a:tc>
                  <a:txBody>
                    <a:bodyPr/>
                    <a:lstStyle/>
                    <a:p>
                      <a:pPr marL="0" marR="0" indent="0" algn="ctr" fontAlgn="base" latinLnBrk="0">
                        <a:lnSpc>
                          <a:spcPct val="100000"/>
                        </a:lnSpc>
                        <a:buNone/>
                      </a:pPr>
                      <a:r>
                        <a:rPr lang="ko-KR" altLang="en-US" sz="1000" kern="0" spc="-100" dirty="0">
                          <a:solidFill>
                            <a:schemeClr val="tx1"/>
                          </a:solidFill>
                          <a:effectLst/>
                          <a:latin typeface="+mn-ea"/>
                          <a:ea typeface="+mn-ea"/>
                        </a:rPr>
                        <a:t>권리범위확인심판</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765741647"/>
                  </a:ext>
                </a:extLst>
              </a:tr>
              <a:tr h="129766">
                <a:tc rowSpan="4">
                  <a:txBody>
                    <a:bodyPr/>
                    <a:lstStyle/>
                    <a:p>
                      <a:pPr marL="0" marR="0" indent="0" algn="ctr" fontAlgn="base" latinLnBrk="0">
                        <a:lnSpc>
                          <a:spcPct val="100000"/>
                        </a:lnSpc>
                        <a:buNone/>
                      </a:pPr>
                      <a:r>
                        <a:rPr lang="ko-KR" altLang="en-US" sz="1000" kern="0" spc="-100" dirty="0">
                          <a:solidFill>
                            <a:schemeClr val="tx1"/>
                          </a:solidFill>
                          <a:effectLst/>
                          <a:latin typeface="+mn-ea"/>
                          <a:ea typeface="+mn-ea"/>
                        </a:rPr>
                        <a:t>요</a:t>
                      </a:r>
                    </a:p>
                    <a:p>
                      <a:pPr marL="0" marR="0" indent="0" algn="ctr" fontAlgn="base" latinLnBrk="0">
                        <a:lnSpc>
                          <a:spcPct val="100000"/>
                        </a:lnSpc>
                        <a:buNone/>
                      </a:pPr>
                      <a:r>
                        <a:rPr lang="ko-KR" altLang="en-US" sz="1000" kern="0" spc="-100" dirty="0">
                          <a:solidFill>
                            <a:schemeClr val="tx1"/>
                          </a:solidFill>
                          <a:effectLst/>
                          <a:latin typeface="+mn-ea"/>
                          <a:ea typeface="+mn-ea"/>
                        </a:rPr>
                        <a:t>건</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00000"/>
                        </a:lnSpc>
                        <a:buNone/>
                      </a:pPr>
                      <a:r>
                        <a:rPr lang="ko-KR" altLang="en-US" sz="1000" kern="0" spc="-100" dirty="0">
                          <a:solidFill>
                            <a:schemeClr val="tx1"/>
                          </a:solidFill>
                          <a:effectLst/>
                          <a:latin typeface="+mn-ea"/>
                          <a:ea typeface="+mn-ea"/>
                        </a:rPr>
                        <a:t>청구인</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0">
                        <a:lnSpc>
                          <a:spcPct val="100000"/>
                        </a:lnSpc>
                        <a:buNone/>
                      </a:pPr>
                      <a:r>
                        <a:rPr lang="ko-KR" altLang="en-US" sz="1000" kern="0" spc="-50" dirty="0">
                          <a:solidFill>
                            <a:schemeClr val="tx1"/>
                          </a:solidFill>
                          <a:effectLst/>
                          <a:latin typeface="+mn-ea"/>
                          <a:ea typeface="+mn-ea"/>
                        </a:rPr>
                        <a:t>출원인</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2">
                  <a:txBody>
                    <a:bodyPr/>
                    <a:lstStyle/>
                    <a:p>
                      <a:pPr marL="17780" marR="17780" indent="0" algn="l" fontAlgn="base" latinLnBrk="0">
                        <a:lnSpc>
                          <a:spcPct val="100000"/>
                        </a:lnSpc>
                        <a:buNone/>
                      </a:pPr>
                      <a:r>
                        <a:rPr lang="ko-KR" altLang="en-US" sz="1000" kern="0" spc="-50" dirty="0">
                          <a:solidFill>
                            <a:schemeClr val="tx1"/>
                          </a:solidFill>
                          <a:effectLst/>
                          <a:latin typeface="+mn-ea"/>
                          <a:ea typeface="+mn-ea"/>
                        </a:rPr>
                        <a:t>특허권자</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17780" marR="17780" indent="0" algn="ctr" fontAlgn="base" latinLnBrk="0">
                        <a:lnSpc>
                          <a:spcPct val="120000"/>
                        </a:lnSpc>
                        <a:buNone/>
                      </a:pPr>
                      <a:r>
                        <a:rPr lang="ko-KR" altLang="en-US" sz="1000" kern="0" spc="-50">
                          <a:solidFill>
                            <a:srgbClr val="000000"/>
                          </a:solidFill>
                          <a:effectLst/>
                          <a:latin typeface="+mn-ea"/>
                          <a:ea typeface="+mn-ea"/>
                        </a:rPr>
                        <a:t>특허권자</a:t>
                      </a:r>
                    </a:p>
                  </a:txBody>
                  <a:tcPr marL="10639" marR="10639" marT="10639" marB="10639" anchor="ctr">
                    <a:lnL w="3175" cap="flat" cmpd="sng" algn="ctr">
                      <a:solidFill>
                        <a:srgbClr val="000000"/>
                      </a:solidFill>
                      <a:prstDash val="solid"/>
                      <a:round/>
                      <a:headEnd type="none" w="med" len="med"/>
                      <a:tailEnd type="none" w="med" len="med"/>
                    </a:lnL>
                    <a:lnR w="3175" cap="flat" cmpd="sng" algn="ctr">
                      <a:solidFill>
                        <a:srgbClr val="000000"/>
                      </a:solidFill>
                      <a:prstDash val="solid"/>
                      <a:round/>
                      <a:headEnd type="none" w="med" len="med"/>
                      <a:tailEnd type="none" w="med" len="med"/>
                    </a:lnR>
                    <a:lnT w="3175" cap="flat" cmpd="sng" algn="ctr">
                      <a:solidFill>
                        <a:srgbClr val="000000"/>
                      </a:solidFill>
                      <a:prstDash val="solid"/>
                      <a:round/>
                      <a:headEnd type="none" w="med" len="med"/>
                      <a:tailEnd type="none" w="med" len="med"/>
                    </a:lnT>
                    <a:lnB w="3175" cap="flat" cmpd="sng" algn="ctr">
                      <a:solidFill>
                        <a:srgbClr val="000000"/>
                      </a:solidFill>
                      <a:prstDash val="solid"/>
                      <a:round/>
                      <a:headEnd type="none" w="med" len="med"/>
                      <a:tailEnd type="none" w="med" len="med"/>
                    </a:lnB>
                    <a:noFill/>
                  </a:tcPr>
                </a:tc>
                <a:tc>
                  <a:txBody>
                    <a:bodyPr/>
                    <a:lstStyle/>
                    <a:p>
                      <a:pPr marL="110490" marR="17780" indent="-110490" algn="l" fontAlgn="base" latinLnBrk="1">
                        <a:lnSpc>
                          <a:spcPct val="100000"/>
                        </a:lnSpc>
                        <a:buNone/>
                      </a:pPr>
                      <a:r>
                        <a:rPr lang="en-US" altLang="ko-KR" sz="1000" kern="0" spc="-50" dirty="0">
                          <a:solidFill>
                            <a:schemeClr val="tx1"/>
                          </a:solidFill>
                          <a:effectLst/>
                          <a:latin typeface="+mn-ea"/>
                          <a:ea typeface="+mn-ea"/>
                        </a:rPr>
                        <a:t>1. </a:t>
                      </a:r>
                      <a:r>
                        <a:rPr lang="ko-KR" altLang="en-US" sz="1000" kern="0" spc="-50" dirty="0">
                          <a:solidFill>
                            <a:schemeClr val="tx1"/>
                          </a:solidFill>
                          <a:effectLst/>
                          <a:latin typeface="+mn-ea"/>
                          <a:ea typeface="+mn-ea"/>
                        </a:rPr>
                        <a:t>적극적 </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특허권자 또는 </a:t>
                      </a:r>
                      <a:r>
                        <a:rPr lang="ko-KR" altLang="en-US" sz="1000" kern="0" spc="-50" dirty="0" err="1">
                          <a:solidFill>
                            <a:schemeClr val="tx1"/>
                          </a:solidFill>
                          <a:effectLst/>
                          <a:latin typeface="+mn-ea"/>
                          <a:ea typeface="+mn-ea"/>
                        </a:rPr>
                        <a:t>전용실시권자</a:t>
                      </a:r>
                      <a:endParaRPr lang="ko-KR" altLang="en-US" sz="1000" kern="0" spc="-50" dirty="0">
                        <a:solidFill>
                          <a:schemeClr val="tx1"/>
                        </a:solidFill>
                        <a:effectLst/>
                        <a:latin typeface="+mn-ea"/>
                        <a:ea typeface="+mn-ea"/>
                      </a:endParaRPr>
                    </a:p>
                    <a:p>
                      <a:pPr marL="110490" marR="17780" indent="-110490" algn="l" fontAlgn="base" latinLnBrk="1">
                        <a:lnSpc>
                          <a:spcPct val="100000"/>
                        </a:lnSpc>
                        <a:buNone/>
                      </a:pPr>
                      <a:r>
                        <a:rPr lang="en-US" altLang="ko-KR" sz="1000" kern="0" spc="-60" dirty="0">
                          <a:solidFill>
                            <a:schemeClr val="tx1"/>
                          </a:solidFill>
                          <a:effectLst/>
                          <a:latin typeface="+mn-ea"/>
                          <a:ea typeface="+mn-ea"/>
                        </a:rPr>
                        <a:t>2. </a:t>
                      </a:r>
                      <a:r>
                        <a:rPr lang="ko-KR" altLang="en-US" sz="1000" kern="0" spc="-60" dirty="0">
                          <a:solidFill>
                            <a:schemeClr val="tx1"/>
                          </a:solidFill>
                          <a:effectLst/>
                          <a:latin typeface="+mn-ea"/>
                          <a:ea typeface="+mn-ea"/>
                        </a:rPr>
                        <a:t>소극적 </a:t>
                      </a:r>
                      <a:r>
                        <a:rPr lang="en-US" altLang="ko-KR" sz="1000" kern="0" spc="-60" dirty="0">
                          <a:solidFill>
                            <a:schemeClr val="tx1"/>
                          </a:solidFill>
                          <a:effectLst/>
                          <a:latin typeface="+mn-ea"/>
                          <a:ea typeface="+mn-ea"/>
                        </a:rPr>
                        <a:t>– </a:t>
                      </a:r>
                      <a:r>
                        <a:rPr lang="ko-KR" altLang="en-US" sz="1000" kern="0" spc="-60" dirty="0">
                          <a:solidFill>
                            <a:schemeClr val="tx1"/>
                          </a:solidFill>
                          <a:effectLst/>
                          <a:latin typeface="+mn-ea"/>
                          <a:ea typeface="+mn-ea"/>
                        </a:rPr>
                        <a:t>실시한 적</a:t>
                      </a:r>
                      <a:r>
                        <a:rPr lang="en-US" altLang="ko-KR" sz="1000" kern="0" spc="-60" dirty="0">
                          <a:solidFill>
                            <a:schemeClr val="tx1"/>
                          </a:solidFill>
                          <a:effectLst/>
                          <a:latin typeface="+mn-ea"/>
                          <a:ea typeface="+mn-ea"/>
                        </a:rPr>
                        <a:t>/</a:t>
                      </a:r>
                      <a:r>
                        <a:rPr lang="ko-KR" altLang="en-US" sz="1000" kern="0" spc="-60" dirty="0">
                          <a:solidFill>
                            <a:schemeClr val="tx1"/>
                          </a:solidFill>
                          <a:effectLst/>
                          <a:latin typeface="+mn-ea"/>
                          <a:ea typeface="+mn-ea"/>
                        </a:rPr>
                        <a:t>하고 있거나 예정이 있는 이해관계인</a:t>
                      </a:r>
                      <a:endParaRPr lang="ko-KR" altLang="en-US" sz="1000" kern="0" spc="-50" dirty="0">
                        <a:solidFill>
                          <a:schemeClr val="tx1"/>
                        </a:solidFill>
                        <a:effectLst/>
                        <a:latin typeface="+mn-ea"/>
                        <a:ea typeface="+mn-ea"/>
                      </a:endParaRP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675823449"/>
                  </a:ext>
                </a:extLst>
              </a:tr>
              <a:tr h="130140">
                <a:tc v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피</a:t>
                      </a:r>
                    </a:p>
                    <a:p>
                      <a:pPr marL="0" marR="0" indent="0" algn="ctr" fontAlgn="base" latinLnBrk="0">
                        <a:lnSpc>
                          <a:spcPct val="100000"/>
                        </a:lnSpc>
                        <a:buNone/>
                      </a:pPr>
                      <a:r>
                        <a:rPr lang="ko-KR" altLang="en-US" sz="1000" kern="0" spc="-100">
                          <a:solidFill>
                            <a:schemeClr val="tx1"/>
                          </a:solidFill>
                          <a:effectLst/>
                          <a:latin typeface="+mn-ea"/>
                          <a:ea typeface="+mn-ea"/>
                        </a:rPr>
                        <a:t>청구인</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0">
                        <a:lnSpc>
                          <a:spcPct val="100000"/>
                        </a:lnSpc>
                        <a:buNone/>
                      </a:pPr>
                      <a:r>
                        <a:rPr lang="en-US" sz="1000" kern="0" spc="-50">
                          <a:solidFill>
                            <a:schemeClr val="tx1"/>
                          </a:solidFill>
                          <a:effectLst/>
                          <a:latin typeface="+mn-ea"/>
                          <a:ea typeface="+mn-ea"/>
                        </a:rPr>
                        <a:t>×</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2">
                  <a:txBody>
                    <a:bodyPr/>
                    <a:lstStyle/>
                    <a:p>
                      <a:pPr marL="17780" marR="17780" indent="0" algn="l" fontAlgn="base" latinLnBrk="0">
                        <a:lnSpc>
                          <a:spcPct val="100000"/>
                        </a:lnSpc>
                        <a:buNone/>
                      </a:pPr>
                      <a:r>
                        <a:rPr lang="en-US" sz="1000" kern="0" spc="-50" dirty="0">
                          <a:solidFill>
                            <a:schemeClr val="tx1"/>
                          </a:solidFill>
                          <a:effectLst/>
                          <a:latin typeface="+mn-ea"/>
                          <a:ea typeface="+mn-ea"/>
                        </a:rPr>
                        <a:t>×</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17780" marR="17780" indent="0" algn="ctr" fontAlgn="base" latinLnBrk="0">
                        <a:lnSpc>
                          <a:spcPct val="120000"/>
                        </a:lnSpc>
                        <a:buNone/>
                      </a:pPr>
                      <a:r>
                        <a:rPr lang="en-US" sz="1000" kern="0" spc="-50">
                          <a:solidFill>
                            <a:srgbClr val="000000"/>
                          </a:solidFill>
                          <a:effectLst/>
                          <a:latin typeface="+mn-ea"/>
                          <a:ea typeface="+mn-ea"/>
                        </a:rPr>
                        <a:t>×</a:t>
                      </a:r>
                    </a:p>
                  </a:txBody>
                  <a:tcPr marL="10639" marR="10639" marT="10639" marB="10639" anchor="ctr">
                    <a:lnL w="3175" cap="flat" cmpd="sng" algn="ctr">
                      <a:solidFill>
                        <a:srgbClr val="000000"/>
                      </a:solidFill>
                      <a:prstDash val="solid"/>
                      <a:round/>
                      <a:headEnd type="none" w="med" len="med"/>
                      <a:tailEnd type="none" w="med" len="med"/>
                    </a:lnL>
                    <a:lnR w="3175" cap="flat" cmpd="sng" algn="ctr">
                      <a:solidFill>
                        <a:srgbClr val="000000"/>
                      </a:solidFill>
                      <a:prstDash val="solid"/>
                      <a:round/>
                      <a:headEnd type="none" w="med" len="med"/>
                      <a:tailEnd type="none" w="med" len="med"/>
                    </a:lnR>
                    <a:lnT w="3175" cap="flat" cmpd="sng" algn="ctr">
                      <a:solidFill>
                        <a:srgbClr val="000000"/>
                      </a:solidFill>
                      <a:prstDash val="solid"/>
                      <a:round/>
                      <a:headEnd type="none" w="med" len="med"/>
                      <a:tailEnd type="none" w="med" len="med"/>
                    </a:lnT>
                    <a:lnB w="3175" cap="flat" cmpd="sng" algn="ctr">
                      <a:solidFill>
                        <a:srgbClr val="000000"/>
                      </a:solidFill>
                      <a:prstDash val="solid"/>
                      <a:round/>
                      <a:headEnd type="none" w="med" len="med"/>
                      <a:tailEnd type="none" w="med" len="med"/>
                    </a:lnB>
                    <a:noFill/>
                  </a:tcPr>
                </a:tc>
                <a:tc>
                  <a:txBody>
                    <a:bodyPr/>
                    <a:lstStyle/>
                    <a:p>
                      <a:pPr marL="110490" marR="17780" indent="-110490" algn="l" fontAlgn="base" latinLnBrk="1">
                        <a:lnSpc>
                          <a:spcPct val="100000"/>
                        </a:lnSpc>
                        <a:buNone/>
                      </a:pPr>
                      <a:r>
                        <a:rPr lang="en-US" altLang="ko-KR" sz="1000" kern="0" spc="-50" dirty="0">
                          <a:solidFill>
                            <a:schemeClr val="tx1"/>
                          </a:solidFill>
                          <a:effectLst/>
                          <a:latin typeface="+mn-ea"/>
                          <a:ea typeface="+mn-ea"/>
                        </a:rPr>
                        <a:t>1. </a:t>
                      </a:r>
                      <a:r>
                        <a:rPr lang="ko-KR" altLang="en-US" sz="1000" kern="0" spc="-50" dirty="0">
                          <a:solidFill>
                            <a:schemeClr val="tx1"/>
                          </a:solidFill>
                          <a:effectLst/>
                          <a:latin typeface="+mn-ea"/>
                          <a:ea typeface="+mn-ea"/>
                        </a:rPr>
                        <a:t>적극적 </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실시한 적</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실시하고 있는 이해관계인</a:t>
                      </a:r>
                    </a:p>
                    <a:p>
                      <a:pPr marL="17780" marR="17780" indent="0" algn="l" fontAlgn="base" latinLnBrk="1">
                        <a:lnSpc>
                          <a:spcPct val="100000"/>
                        </a:lnSpc>
                        <a:buNone/>
                      </a:pPr>
                      <a:r>
                        <a:rPr lang="en-US" altLang="ko-KR" sz="1000" kern="0" spc="-50" dirty="0">
                          <a:solidFill>
                            <a:schemeClr val="tx1"/>
                          </a:solidFill>
                          <a:effectLst/>
                          <a:latin typeface="+mn-ea"/>
                          <a:ea typeface="+mn-ea"/>
                        </a:rPr>
                        <a:t>2. </a:t>
                      </a:r>
                      <a:r>
                        <a:rPr lang="ko-KR" altLang="en-US" sz="1000" kern="0" spc="-50" dirty="0">
                          <a:solidFill>
                            <a:schemeClr val="tx1"/>
                          </a:solidFill>
                          <a:effectLst/>
                          <a:latin typeface="+mn-ea"/>
                          <a:ea typeface="+mn-ea"/>
                        </a:rPr>
                        <a:t>소극적 </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특허권자 </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919733298"/>
                  </a:ext>
                </a:extLst>
              </a:tr>
              <a:tr h="320070">
                <a:tc v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대상</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0">
                        <a:lnSpc>
                          <a:spcPct val="100000"/>
                        </a:lnSpc>
                        <a:buNone/>
                      </a:pPr>
                      <a:r>
                        <a:rPr lang="ko-KR" altLang="en-US" sz="1000" kern="0" spc="-50" dirty="0">
                          <a:solidFill>
                            <a:schemeClr val="tx1"/>
                          </a:solidFill>
                          <a:effectLst/>
                          <a:latin typeface="+mn-ea"/>
                          <a:ea typeface="+mn-ea"/>
                        </a:rPr>
                        <a:t>거절결정</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2">
                  <a:txBody>
                    <a:bodyPr/>
                    <a:lstStyle/>
                    <a:p>
                      <a:pPr marL="102870" marR="17780" indent="-102870" algn="l" fontAlgn="base" latinLnBrk="1">
                        <a:lnSpc>
                          <a:spcPct val="100000"/>
                        </a:lnSpc>
                        <a:buNone/>
                      </a:pPr>
                      <a:r>
                        <a:rPr lang="en-US" altLang="ko-KR" sz="1000" kern="0" spc="-50">
                          <a:solidFill>
                            <a:schemeClr val="tx1"/>
                          </a:solidFill>
                          <a:effectLst/>
                          <a:latin typeface="+mn-ea"/>
                          <a:ea typeface="+mn-ea"/>
                        </a:rPr>
                        <a:t>1. </a:t>
                      </a:r>
                      <a:r>
                        <a:rPr lang="ko-KR" altLang="en-US" sz="1000" kern="0" spc="-50">
                          <a:solidFill>
                            <a:schemeClr val="tx1"/>
                          </a:solidFill>
                          <a:effectLst/>
                          <a:latin typeface="+mn-ea"/>
                          <a:ea typeface="+mn-ea"/>
                        </a:rPr>
                        <a:t>청구범위의 감축</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잘못 기재된 사항의 정정 및 분명하지 아니하게 기재된 사항의 명확화 중 어느 하나</a:t>
                      </a:r>
                    </a:p>
                    <a:p>
                      <a:pPr marL="106680" marR="17780" indent="-106680" algn="l" fontAlgn="base" latinLnBrk="1">
                        <a:lnSpc>
                          <a:spcPct val="100000"/>
                        </a:lnSpc>
                        <a:buNone/>
                      </a:pPr>
                      <a:r>
                        <a:rPr lang="en-US" altLang="ko-KR" sz="1000" kern="0" spc="-50">
                          <a:solidFill>
                            <a:schemeClr val="tx1"/>
                          </a:solidFill>
                          <a:effectLst/>
                          <a:latin typeface="+mn-ea"/>
                          <a:ea typeface="+mn-ea"/>
                        </a:rPr>
                        <a:t>2. </a:t>
                      </a:r>
                      <a:r>
                        <a:rPr lang="ko-KR" altLang="en-US" sz="1000" kern="0" spc="-50">
                          <a:solidFill>
                            <a:schemeClr val="tx1"/>
                          </a:solidFill>
                          <a:effectLst/>
                          <a:latin typeface="+mn-ea"/>
                          <a:ea typeface="+mn-ea"/>
                        </a:rPr>
                        <a:t>특허발명의 명세서ㆍ도면</a:t>
                      </a:r>
                      <a:r>
                        <a:rPr lang="en-US" altLang="ko-KR" sz="1000" kern="0" spc="-50">
                          <a:solidFill>
                            <a:schemeClr val="tx1"/>
                          </a:solidFill>
                          <a:effectLst/>
                          <a:latin typeface="+mn-ea"/>
                          <a:ea typeface="+mn-ea"/>
                        </a:rPr>
                        <a:t>(</a:t>
                      </a:r>
                      <a:r>
                        <a:rPr lang="ko-KR" altLang="en-US" sz="1000" kern="0" spc="-50">
                          <a:solidFill>
                            <a:schemeClr val="tx1"/>
                          </a:solidFill>
                          <a:effectLst/>
                          <a:latin typeface="+mn-ea"/>
                          <a:ea typeface="+mn-ea"/>
                        </a:rPr>
                        <a:t>단</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잘못 기재된 사항의 정정은 최초 명세서ㆍ도면</a:t>
                      </a:r>
                      <a:r>
                        <a:rPr lang="en-US" altLang="ko-KR" sz="1000" kern="0" spc="-50">
                          <a:solidFill>
                            <a:schemeClr val="tx1"/>
                          </a:solidFill>
                          <a:effectLst/>
                          <a:latin typeface="+mn-ea"/>
                          <a:ea typeface="+mn-ea"/>
                        </a:rPr>
                        <a:t>)</a:t>
                      </a:r>
                      <a:endParaRPr lang="ko-KR" altLang="en-US" sz="1000" kern="0" spc="-50">
                        <a:solidFill>
                          <a:schemeClr val="tx1"/>
                        </a:solidFill>
                        <a:effectLst/>
                        <a:latin typeface="+mn-ea"/>
                        <a:ea typeface="+mn-ea"/>
                      </a:endParaRPr>
                    </a:p>
                    <a:p>
                      <a:pPr marL="110490" marR="17780" indent="-110490" algn="l" fontAlgn="base" latinLnBrk="1">
                        <a:lnSpc>
                          <a:spcPct val="100000"/>
                        </a:lnSpc>
                        <a:buNone/>
                      </a:pPr>
                      <a:r>
                        <a:rPr lang="en-US" altLang="ko-KR" sz="1000" kern="0" spc="-50">
                          <a:solidFill>
                            <a:schemeClr val="tx1"/>
                          </a:solidFill>
                          <a:effectLst/>
                          <a:latin typeface="+mn-ea"/>
                          <a:ea typeface="+mn-ea"/>
                        </a:rPr>
                        <a:t>3. </a:t>
                      </a:r>
                      <a:r>
                        <a:rPr lang="ko-KR" altLang="en-US" sz="1000" kern="0" spc="-50">
                          <a:solidFill>
                            <a:schemeClr val="tx1"/>
                          </a:solidFill>
                          <a:effectLst/>
                          <a:latin typeface="+mn-ea"/>
                          <a:ea typeface="+mn-ea"/>
                        </a:rPr>
                        <a:t>청구범위를 실질적으로 확장하거나 변경하지 아니할 것</a:t>
                      </a:r>
                    </a:p>
                    <a:p>
                      <a:pPr marL="102870" marR="17780" indent="-102870" algn="l" fontAlgn="base" latinLnBrk="1">
                        <a:lnSpc>
                          <a:spcPct val="100000"/>
                        </a:lnSpc>
                        <a:buNone/>
                      </a:pPr>
                      <a:r>
                        <a:rPr lang="en-US" altLang="ko-KR" sz="1000" kern="0" spc="-70">
                          <a:solidFill>
                            <a:schemeClr val="tx1"/>
                          </a:solidFill>
                          <a:effectLst/>
                          <a:latin typeface="+mn-ea"/>
                          <a:ea typeface="+mn-ea"/>
                        </a:rPr>
                        <a:t>4. </a:t>
                      </a:r>
                      <a:r>
                        <a:rPr lang="ko-KR" altLang="en-US" sz="1000" kern="0" spc="-70">
                          <a:solidFill>
                            <a:schemeClr val="tx1"/>
                          </a:solidFill>
                          <a:effectLst/>
                          <a:latin typeface="+mn-ea"/>
                          <a:ea typeface="+mn-ea"/>
                        </a:rPr>
                        <a:t>청구범위의 감축</a:t>
                      </a:r>
                      <a:r>
                        <a:rPr lang="en-US" altLang="ko-KR" sz="1000" kern="0" spc="-70">
                          <a:solidFill>
                            <a:schemeClr val="tx1"/>
                          </a:solidFill>
                          <a:effectLst/>
                          <a:latin typeface="+mn-ea"/>
                          <a:ea typeface="+mn-ea"/>
                        </a:rPr>
                        <a:t>, </a:t>
                      </a:r>
                      <a:r>
                        <a:rPr lang="ko-KR" altLang="en-US" sz="1000" kern="0" spc="-70">
                          <a:solidFill>
                            <a:schemeClr val="tx1"/>
                          </a:solidFill>
                          <a:effectLst/>
                          <a:latin typeface="+mn-ea"/>
                          <a:ea typeface="+mn-ea"/>
                        </a:rPr>
                        <a:t>잘못 기재된 사항의 정정은 정정 후의 청구범위에 적혀 있는 사항이 특허출원을 하였을 때 특허를 받을 수 있을 것</a:t>
                      </a:r>
                      <a:endParaRPr lang="ko-KR" altLang="en-US" sz="1000" kern="0" spc="-50" dirty="0">
                        <a:solidFill>
                          <a:schemeClr val="tx1"/>
                        </a:solidFill>
                        <a:effectLst/>
                        <a:latin typeface="+mn-ea"/>
                        <a:ea typeface="+mn-ea"/>
                      </a:endParaRP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102870" marR="17780" indent="-102870" algn="just" fontAlgn="base" latinLnBrk="1">
                        <a:lnSpc>
                          <a:spcPct val="120000"/>
                        </a:lnSpc>
                        <a:buNone/>
                      </a:pPr>
                      <a:r>
                        <a:rPr lang="en-US" altLang="ko-KR" sz="1000" kern="0" spc="-50">
                          <a:solidFill>
                            <a:srgbClr val="FF0000"/>
                          </a:solidFill>
                          <a:effectLst/>
                          <a:latin typeface="+mn-ea"/>
                          <a:ea typeface="+mn-ea"/>
                        </a:rPr>
                        <a:t>1. </a:t>
                      </a:r>
                      <a:r>
                        <a:rPr lang="ko-KR" altLang="en-US" sz="1000" kern="0" spc="-50">
                          <a:solidFill>
                            <a:srgbClr val="FF0000"/>
                          </a:solidFill>
                          <a:effectLst/>
                          <a:latin typeface="+mn-ea"/>
                          <a:ea typeface="+mn-ea"/>
                        </a:rPr>
                        <a:t>청구범위의 감축</a:t>
                      </a:r>
                      <a:r>
                        <a:rPr lang="en-US" altLang="ko-KR" sz="1000" kern="0" spc="-50">
                          <a:solidFill>
                            <a:srgbClr val="FF0000"/>
                          </a:solidFill>
                          <a:effectLst/>
                          <a:latin typeface="+mn-ea"/>
                          <a:ea typeface="+mn-ea"/>
                        </a:rPr>
                        <a:t>, </a:t>
                      </a:r>
                      <a:r>
                        <a:rPr lang="ko-KR" altLang="en-US" sz="1000" kern="0" spc="-50">
                          <a:solidFill>
                            <a:srgbClr val="FF0000"/>
                          </a:solidFill>
                          <a:effectLst/>
                          <a:latin typeface="+mn-ea"/>
                          <a:ea typeface="+mn-ea"/>
                        </a:rPr>
                        <a:t>잘못 기재된 사항의 정정 및 분명하지 아니하게 기재된 사항의 명확화 중 어느 하나</a:t>
                      </a:r>
                      <a:endParaRPr lang="ko-KR" altLang="en-US" sz="1000" kern="0" spc="-50">
                        <a:solidFill>
                          <a:srgbClr val="000000"/>
                        </a:solidFill>
                        <a:effectLst/>
                        <a:latin typeface="+mn-ea"/>
                        <a:ea typeface="+mn-ea"/>
                      </a:endParaRPr>
                    </a:p>
                    <a:p>
                      <a:pPr marL="106680" marR="17780" indent="-106680" algn="just" fontAlgn="base" latinLnBrk="1">
                        <a:lnSpc>
                          <a:spcPct val="120000"/>
                        </a:lnSpc>
                        <a:buNone/>
                      </a:pPr>
                      <a:r>
                        <a:rPr lang="en-US" altLang="ko-KR" sz="1000" kern="0" spc="-50">
                          <a:solidFill>
                            <a:srgbClr val="FF0000"/>
                          </a:solidFill>
                          <a:effectLst/>
                          <a:latin typeface="+mn-ea"/>
                          <a:ea typeface="+mn-ea"/>
                        </a:rPr>
                        <a:t>2. </a:t>
                      </a:r>
                      <a:r>
                        <a:rPr lang="ko-KR" altLang="en-US" sz="1000" kern="0" spc="-50">
                          <a:solidFill>
                            <a:srgbClr val="FF0000"/>
                          </a:solidFill>
                          <a:effectLst/>
                          <a:latin typeface="+mn-ea"/>
                          <a:ea typeface="+mn-ea"/>
                        </a:rPr>
                        <a:t>특허발명의 명세서ㆍ도면</a:t>
                      </a:r>
                      <a:r>
                        <a:rPr lang="en-US" altLang="ko-KR" sz="1000" kern="0" spc="-50">
                          <a:solidFill>
                            <a:srgbClr val="FF0000"/>
                          </a:solidFill>
                          <a:effectLst/>
                          <a:latin typeface="+mn-ea"/>
                          <a:ea typeface="+mn-ea"/>
                        </a:rPr>
                        <a:t>(</a:t>
                      </a:r>
                      <a:r>
                        <a:rPr lang="ko-KR" altLang="en-US" sz="1000" kern="0" spc="-50">
                          <a:solidFill>
                            <a:srgbClr val="FF0000"/>
                          </a:solidFill>
                          <a:effectLst/>
                          <a:latin typeface="+mn-ea"/>
                          <a:ea typeface="+mn-ea"/>
                        </a:rPr>
                        <a:t>단</a:t>
                      </a:r>
                      <a:r>
                        <a:rPr lang="en-US" altLang="ko-KR" sz="1000" kern="0" spc="-50">
                          <a:solidFill>
                            <a:srgbClr val="FF0000"/>
                          </a:solidFill>
                          <a:effectLst/>
                          <a:latin typeface="+mn-ea"/>
                          <a:ea typeface="+mn-ea"/>
                        </a:rPr>
                        <a:t>, </a:t>
                      </a:r>
                      <a:r>
                        <a:rPr lang="ko-KR" altLang="en-US" sz="1000" kern="0" spc="-50">
                          <a:solidFill>
                            <a:srgbClr val="FF0000"/>
                          </a:solidFill>
                          <a:effectLst/>
                          <a:latin typeface="+mn-ea"/>
                          <a:ea typeface="+mn-ea"/>
                        </a:rPr>
                        <a:t>잘못 기재된 사항의 정정은 최초 명세서ㆍ도면</a:t>
                      </a:r>
                      <a:r>
                        <a:rPr lang="en-US" altLang="ko-KR" sz="1000" kern="0" spc="-50">
                          <a:solidFill>
                            <a:srgbClr val="FF0000"/>
                          </a:solidFill>
                          <a:effectLst/>
                          <a:latin typeface="+mn-ea"/>
                          <a:ea typeface="+mn-ea"/>
                        </a:rPr>
                        <a:t>)</a:t>
                      </a:r>
                      <a:endParaRPr lang="ko-KR" altLang="en-US" sz="1000" kern="0" spc="-50">
                        <a:solidFill>
                          <a:srgbClr val="000000"/>
                        </a:solidFill>
                        <a:effectLst/>
                        <a:latin typeface="+mn-ea"/>
                        <a:ea typeface="+mn-ea"/>
                      </a:endParaRPr>
                    </a:p>
                    <a:p>
                      <a:pPr marL="110490" marR="17780" indent="-110490" algn="just" fontAlgn="base" latinLnBrk="1">
                        <a:lnSpc>
                          <a:spcPct val="120000"/>
                        </a:lnSpc>
                        <a:buNone/>
                      </a:pPr>
                      <a:r>
                        <a:rPr lang="en-US" altLang="ko-KR" sz="1000" kern="0" spc="-50">
                          <a:solidFill>
                            <a:srgbClr val="000000"/>
                          </a:solidFill>
                          <a:effectLst/>
                          <a:latin typeface="+mn-ea"/>
                          <a:ea typeface="+mn-ea"/>
                        </a:rPr>
                        <a:t>3. </a:t>
                      </a:r>
                      <a:r>
                        <a:rPr lang="ko-KR" altLang="en-US" sz="1000" kern="0" spc="-50">
                          <a:solidFill>
                            <a:srgbClr val="000000"/>
                          </a:solidFill>
                          <a:effectLst/>
                          <a:latin typeface="+mn-ea"/>
                          <a:ea typeface="+mn-ea"/>
                        </a:rPr>
                        <a:t>청구범위를 실질적으로 확장하거나 변경하지 아니할 것</a:t>
                      </a:r>
                    </a:p>
                    <a:p>
                      <a:pPr marL="102870" marR="17780" indent="-102870" algn="just" fontAlgn="base" latinLnBrk="1">
                        <a:lnSpc>
                          <a:spcPct val="120000"/>
                        </a:lnSpc>
                        <a:buNone/>
                      </a:pPr>
                      <a:r>
                        <a:rPr lang="en-US" altLang="ko-KR" sz="1000" kern="0" spc="-70">
                          <a:solidFill>
                            <a:srgbClr val="000000"/>
                          </a:solidFill>
                          <a:effectLst/>
                          <a:latin typeface="+mn-ea"/>
                          <a:ea typeface="+mn-ea"/>
                        </a:rPr>
                        <a:t>4. </a:t>
                      </a:r>
                      <a:r>
                        <a:rPr lang="ko-KR" altLang="en-US" sz="1000" kern="0" spc="-70">
                          <a:solidFill>
                            <a:srgbClr val="000000"/>
                          </a:solidFill>
                          <a:effectLst/>
                          <a:latin typeface="+mn-ea"/>
                          <a:ea typeface="+mn-ea"/>
                        </a:rPr>
                        <a:t>청구범위의 감축</a:t>
                      </a:r>
                      <a:r>
                        <a:rPr lang="en-US" altLang="ko-KR" sz="1000" kern="0" spc="-70">
                          <a:solidFill>
                            <a:srgbClr val="000000"/>
                          </a:solidFill>
                          <a:effectLst/>
                          <a:latin typeface="+mn-ea"/>
                          <a:ea typeface="+mn-ea"/>
                        </a:rPr>
                        <a:t>, </a:t>
                      </a:r>
                      <a:r>
                        <a:rPr lang="ko-KR" altLang="en-US" sz="1000" kern="0" spc="-70">
                          <a:solidFill>
                            <a:srgbClr val="000000"/>
                          </a:solidFill>
                          <a:effectLst/>
                          <a:latin typeface="+mn-ea"/>
                          <a:ea typeface="+mn-ea"/>
                        </a:rPr>
                        <a:t>잘못 기재된 사항의 정정은 정정 후의 청구범위에 적혀 있는 사항이 특허출원을 하였을 때 특허를 받을 수 있을 것</a:t>
                      </a:r>
                      <a:endParaRPr lang="ko-KR" altLang="en-US" sz="1000" kern="0" spc="-50">
                        <a:solidFill>
                          <a:srgbClr val="000000"/>
                        </a:solidFill>
                        <a:effectLst/>
                        <a:latin typeface="+mn-ea"/>
                        <a:ea typeface="+mn-ea"/>
                      </a:endParaRPr>
                    </a:p>
                  </a:txBody>
                  <a:tcPr marL="10639" marR="10639" marT="10639" marB="10639" anchor="ctr">
                    <a:lnL w="3175" cap="flat" cmpd="sng" algn="ctr">
                      <a:solidFill>
                        <a:srgbClr val="000000"/>
                      </a:solidFill>
                      <a:prstDash val="solid"/>
                      <a:round/>
                      <a:headEnd type="none" w="med" len="med"/>
                      <a:tailEnd type="none" w="med" len="med"/>
                    </a:lnL>
                    <a:lnR w="3175" cap="flat" cmpd="sng" algn="ctr">
                      <a:solidFill>
                        <a:srgbClr val="000000"/>
                      </a:solidFill>
                      <a:prstDash val="solid"/>
                      <a:round/>
                      <a:headEnd type="none" w="med" len="med"/>
                      <a:tailEnd type="none" w="med" len="med"/>
                    </a:lnR>
                    <a:lnT w="3175" cap="flat" cmpd="sng" algn="ctr">
                      <a:solidFill>
                        <a:srgbClr val="000000"/>
                      </a:solidFill>
                      <a:prstDash val="solid"/>
                      <a:round/>
                      <a:headEnd type="none" w="med" len="med"/>
                      <a:tailEnd type="none" w="med" len="med"/>
                    </a:lnT>
                    <a:lnB w="3175" cap="flat" cmpd="sng" algn="ctr">
                      <a:solidFill>
                        <a:srgbClr val="000000"/>
                      </a:solidFill>
                      <a:prstDash val="solid"/>
                      <a:round/>
                      <a:headEnd type="none" w="med" len="med"/>
                      <a:tailEnd type="none" w="med" len="med"/>
                    </a:lnB>
                    <a:noFill/>
                  </a:tcPr>
                </a:tc>
                <a:tc>
                  <a:txBody>
                    <a:bodyPr/>
                    <a:lstStyle/>
                    <a:p>
                      <a:pPr marL="17780" marR="17780" indent="0" algn="l" fontAlgn="base" latinLnBrk="0">
                        <a:lnSpc>
                          <a:spcPct val="100000"/>
                        </a:lnSpc>
                        <a:buNone/>
                      </a:pPr>
                      <a:r>
                        <a:rPr lang="ko-KR" altLang="en-US" sz="1000" kern="0" spc="-50" dirty="0">
                          <a:solidFill>
                            <a:schemeClr val="tx1"/>
                          </a:solidFill>
                          <a:effectLst/>
                          <a:latin typeface="+mn-ea"/>
                          <a:ea typeface="+mn-ea"/>
                        </a:rPr>
                        <a:t>청구항마다 가능</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940422445"/>
                  </a:ext>
                </a:extLst>
              </a:tr>
              <a:tr h="320070">
                <a:tc v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시기</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0">
                        <a:lnSpc>
                          <a:spcPct val="100000"/>
                        </a:lnSpc>
                        <a:buNone/>
                      </a:pPr>
                      <a:r>
                        <a:rPr lang="ko-KR" altLang="en-US" sz="1000" kern="0" spc="-50" dirty="0" err="1">
                          <a:solidFill>
                            <a:schemeClr val="tx1"/>
                          </a:solidFill>
                          <a:effectLst/>
                          <a:latin typeface="+mn-ea"/>
                          <a:ea typeface="+mn-ea"/>
                        </a:rPr>
                        <a:t>등본송달받은</a:t>
                      </a:r>
                      <a:r>
                        <a:rPr lang="ko-KR" altLang="en-US" sz="1000" kern="0" spc="-50" dirty="0">
                          <a:solidFill>
                            <a:schemeClr val="tx1"/>
                          </a:solidFill>
                          <a:effectLst/>
                          <a:latin typeface="+mn-ea"/>
                          <a:ea typeface="+mn-ea"/>
                        </a:rPr>
                        <a:t> 날로부터 </a:t>
                      </a:r>
                      <a:r>
                        <a:rPr lang="en-US" altLang="ko-KR" sz="1000" kern="0" spc="-50" dirty="0">
                          <a:solidFill>
                            <a:schemeClr val="tx1"/>
                          </a:solidFill>
                          <a:effectLst/>
                          <a:latin typeface="+mn-ea"/>
                          <a:ea typeface="+mn-ea"/>
                        </a:rPr>
                        <a:t>3</a:t>
                      </a:r>
                      <a:r>
                        <a:rPr lang="ko-KR" altLang="en-US" sz="1000" kern="0" spc="-50" dirty="0">
                          <a:solidFill>
                            <a:schemeClr val="tx1"/>
                          </a:solidFill>
                          <a:effectLst/>
                          <a:latin typeface="+mn-ea"/>
                          <a:ea typeface="+mn-ea"/>
                        </a:rPr>
                        <a:t>개월 이내</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연장</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추후보완 가능</a:t>
                      </a:r>
                      <a:r>
                        <a:rPr lang="en-US" altLang="ko-KR" sz="1000" kern="0" spc="-50" dirty="0">
                          <a:solidFill>
                            <a:schemeClr val="tx1"/>
                          </a:solidFill>
                          <a:effectLst/>
                          <a:latin typeface="+mn-ea"/>
                          <a:ea typeface="+mn-ea"/>
                        </a:rPr>
                        <a:t>)</a:t>
                      </a:r>
                      <a:endParaRPr lang="ko-KR" altLang="en-US" sz="1000" kern="0" spc="-50" dirty="0">
                        <a:solidFill>
                          <a:schemeClr val="tx1"/>
                        </a:solidFill>
                        <a:effectLst/>
                        <a:latin typeface="+mn-ea"/>
                        <a:ea typeface="+mn-ea"/>
                      </a:endParaRP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2">
                  <a:txBody>
                    <a:bodyPr/>
                    <a:lstStyle/>
                    <a:p>
                      <a:pPr marL="111760" marR="17780" indent="-111760" algn="l" fontAlgn="base" latinLnBrk="1">
                        <a:lnSpc>
                          <a:spcPct val="100000"/>
                        </a:lnSpc>
                        <a:buNone/>
                      </a:pPr>
                      <a:r>
                        <a:rPr lang="en-US" altLang="ko-KR" sz="1000" kern="0" spc="-50" dirty="0">
                          <a:solidFill>
                            <a:schemeClr val="tx1"/>
                          </a:solidFill>
                          <a:effectLst/>
                          <a:latin typeface="+mn-ea"/>
                          <a:ea typeface="+mn-ea"/>
                        </a:rPr>
                        <a:t>1. </a:t>
                      </a:r>
                      <a:r>
                        <a:rPr lang="ko-KR" altLang="en-US" sz="1000" kern="0" spc="-50" dirty="0">
                          <a:solidFill>
                            <a:schemeClr val="tx1"/>
                          </a:solidFill>
                          <a:effectLst/>
                          <a:latin typeface="+mn-ea"/>
                          <a:ea typeface="+mn-ea"/>
                        </a:rPr>
                        <a:t>존속기간 중은 물론 장래를 향해 소멸한 경우도 가능</a:t>
                      </a:r>
                    </a:p>
                    <a:p>
                      <a:pPr marL="111760" marR="17780" indent="-111760" algn="l" fontAlgn="base" latinLnBrk="1">
                        <a:lnSpc>
                          <a:spcPct val="100000"/>
                        </a:lnSpc>
                        <a:buNone/>
                      </a:pPr>
                      <a:r>
                        <a:rPr lang="en-US" altLang="ko-KR" sz="1000" kern="0" spc="-50" dirty="0">
                          <a:solidFill>
                            <a:schemeClr val="tx1"/>
                          </a:solidFill>
                          <a:effectLst/>
                          <a:latin typeface="+mn-ea"/>
                          <a:ea typeface="+mn-ea"/>
                        </a:rPr>
                        <a:t>2. </a:t>
                      </a:r>
                      <a:r>
                        <a:rPr lang="ko-KR" altLang="en-US" sz="1000" kern="0" spc="-50" dirty="0">
                          <a:solidFill>
                            <a:schemeClr val="tx1"/>
                          </a:solidFill>
                          <a:effectLst/>
                          <a:latin typeface="+mn-ea"/>
                          <a:ea typeface="+mn-ea"/>
                        </a:rPr>
                        <a:t>특허취소신청이 특허심판원에 계속 중인 때부터 그 결정이 확정될 때까지의 기간</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단</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특허</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정정무효심판의 </a:t>
                      </a:r>
                      <a:r>
                        <a:rPr lang="ko-KR" altLang="en-US" sz="1000" kern="0" spc="-50" dirty="0" err="1">
                          <a:solidFill>
                            <a:schemeClr val="tx1"/>
                          </a:solidFill>
                          <a:effectLst/>
                          <a:latin typeface="+mn-ea"/>
                          <a:ea typeface="+mn-ea"/>
                        </a:rPr>
                        <a:t>심결에</a:t>
                      </a:r>
                      <a:r>
                        <a:rPr lang="ko-KR" altLang="en-US" sz="1000" kern="0" spc="-50" dirty="0">
                          <a:solidFill>
                            <a:schemeClr val="tx1"/>
                          </a:solidFill>
                          <a:effectLst/>
                          <a:latin typeface="+mn-ea"/>
                          <a:ea typeface="+mn-ea"/>
                        </a:rPr>
                        <a:t> 대한 소가 특허법원에 계속 중인 경우에는 특허법원에서 변론이 종결</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변론 없이 한 판결의 경우에는 판결의 선고를 말한다</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된 날까지 가능</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과 특허</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정정무효심판이 특허심판원에 계속 중인 기간에는 불가</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111760" marR="17780" indent="-111760" algn="just" fontAlgn="base" latinLnBrk="1">
                        <a:lnSpc>
                          <a:spcPct val="120000"/>
                        </a:lnSpc>
                        <a:buNone/>
                      </a:pPr>
                      <a:r>
                        <a:rPr lang="en-US" altLang="ko-KR" sz="1000" kern="0" spc="-50">
                          <a:solidFill>
                            <a:srgbClr val="000000"/>
                          </a:solidFill>
                          <a:effectLst/>
                          <a:latin typeface="+mn-ea"/>
                          <a:ea typeface="+mn-ea"/>
                        </a:rPr>
                        <a:t>1. </a:t>
                      </a:r>
                      <a:r>
                        <a:rPr lang="ko-KR" altLang="en-US" sz="1000" kern="0" spc="-50">
                          <a:solidFill>
                            <a:srgbClr val="000000"/>
                          </a:solidFill>
                          <a:effectLst/>
                          <a:latin typeface="+mn-ea"/>
                          <a:ea typeface="+mn-ea"/>
                        </a:rPr>
                        <a:t>존속기간 중은 물론 장래를 향해 소멸한 경우도 가능</a:t>
                      </a:r>
                    </a:p>
                    <a:p>
                      <a:pPr marL="111760" marR="17780" indent="-111760" algn="just" fontAlgn="base" latinLnBrk="1">
                        <a:lnSpc>
                          <a:spcPct val="120000"/>
                        </a:lnSpc>
                        <a:buNone/>
                      </a:pPr>
                      <a:r>
                        <a:rPr lang="en-US" altLang="ko-KR" sz="1000" kern="0" spc="-50">
                          <a:solidFill>
                            <a:srgbClr val="000000"/>
                          </a:solidFill>
                          <a:effectLst/>
                          <a:latin typeface="+mn-ea"/>
                          <a:ea typeface="+mn-ea"/>
                        </a:rPr>
                        <a:t>2. </a:t>
                      </a:r>
                      <a:r>
                        <a:rPr lang="ko-KR" altLang="en-US" sz="1000" kern="0" spc="-50">
                          <a:solidFill>
                            <a:srgbClr val="000000"/>
                          </a:solidFill>
                          <a:effectLst/>
                          <a:latin typeface="+mn-ea"/>
                          <a:ea typeface="+mn-ea"/>
                        </a:rPr>
                        <a:t>특허취소신청이 특허심판원에 계속 중인 때부터 그 결정이 확정될 때까지의 기간</a:t>
                      </a:r>
                      <a:r>
                        <a:rPr lang="en-US" altLang="ko-KR" sz="1000" kern="0" spc="-50">
                          <a:solidFill>
                            <a:srgbClr val="000000"/>
                          </a:solidFill>
                          <a:effectLst/>
                          <a:latin typeface="+mn-ea"/>
                          <a:ea typeface="+mn-ea"/>
                        </a:rPr>
                        <a:t>(</a:t>
                      </a:r>
                      <a:r>
                        <a:rPr lang="ko-KR" altLang="en-US" sz="1000" kern="0" spc="-50">
                          <a:solidFill>
                            <a:srgbClr val="000000"/>
                          </a:solidFill>
                          <a:effectLst/>
                          <a:latin typeface="+mn-ea"/>
                          <a:ea typeface="+mn-ea"/>
                        </a:rPr>
                        <a:t>단</a:t>
                      </a:r>
                      <a:r>
                        <a:rPr lang="en-US" altLang="ko-KR" sz="1000" kern="0" spc="-50">
                          <a:solidFill>
                            <a:srgbClr val="000000"/>
                          </a:solidFill>
                          <a:effectLst/>
                          <a:latin typeface="+mn-ea"/>
                          <a:ea typeface="+mn-ea"/>
                        </a:rPr>
                        <a:t>, </a:t>
                      </a:r>
                      <a:r>
                        <a:rPr lang="ko-KR" altLang="en-US" sz="1000" kern="0" spc="-50">
                          <a:solidFill>
                            <a:srgbClr val="000000"/>
                          </a:solidFill>
                          <a:effectLst/>
                          <a:latin typeface="+mn-ea"/>
                          <a:ea typeface="+mn-ea"/>
                        </a:rPr>
                        <a:t>특허</a:t>
                      </a:r>
                      <a:r>
                        <a:rPr lang="en-US" altLang="ko-KR" sz="1000" kern="0" spc="-50">
                          <a:solidFill>
                            <a:srgbClr val="000000"/>
                          </a:solidFill>
                          <a:effectLst/>
                          <a:latin typeface="+mn-ea"/>
                          <a:ea typeface="+mn-ea"/>
                        </a:rPr>
                        <a:t>/</a:t>
                      </a:r>
                      <a:r>
                        <a:rPr lang="ko-KR" altLang="en-US" sz="1000" kern="0" spc="-50">
                          <a:solidFill>
                            <a:srgbClr val="000000"/>
                          </a:solidFill>
                          <a:effectLst/>
                          <a:latin typeface="+mn-ea"/>
                          <a:ea typeface="+mn-ea"/>
                        </a:rPr>
                        <a:t>정정무효심판의 심결에 대한 소가 특허법원에 계속 중인 경우에는 특허법원에서 변론이 종결</a:t>
                      </a:r>
                      <a:r>
                        <a:rPr lang="en-US" altLang="ko-KR" sz="1000" kern="0" spc="-50">
                          <a:solidFill>
                            <a:srgbClr val="000000"/>
                          </a:solidFill>
                          <a:effectLst/>
                          <a:latin typeface="+mn-ea"/>
                          <a:ea typeface="+mn-ea"/>
                        </a:rPr>
                        <a:t>(</a:t>
                      </a:r>
                      <a:r>
                        <a:rPr lang="ko-KR" altLang="en-US" sz="1000" kern="0" spc="-50">
                          <a:solidFill>
                            <a:srgbClr val="000000"/>
                          </a:solidFill>
                          <a:effectLst/>
                          <a:latin typeface="+mn-ea"/>
                          <a:ea typeface="+mn-ea"/>
                        </a:rPr>
                        <a:t>변론 없이 한 판결의 경우에는 판결의 선고를 말한다</a:t>
                      </a:r>
                      <a:r>
                        <a:rPr lang="en-US" altLang="ko-KR" sz="1000" kern="0" spc="-50">
                          <a:solidFill>
                            <a:srgbClr val="000000"/>
                          </a:solidFill>
                          <a:effectLst/>
                          <a:latin typeface="+mn-ea"/>
                          <a:ea typeface="+mn-ea"/>
                        </a:rPr>
                        <a:t>)</a:t>
                      </a:r>
                      <a:r>
                        <a:rPr lang="ko-KR" altLang="en-US" sz="1000" kern="0" spc="-50">
                          <a:solidFill>
                            <a:srgbClr val="000000"/>
                          </a:solidFill>
                          <a:effectLst/>
                          <a:latin typeface="+mn-ea"/>
                          <a:ea typeface="+mn-ea"/>
                        </a:rPr>
                        <a:t>된 날까지 가능</a:t>
                      </a:r>
                      <a:r>
                        <a:rPr lang="en-US" altLang="ko-KR" sz="1000" kern="0" spc="-50">
                          <a:solidFill>
                            <a:srgbClr val="000000"/>
                          </a:solidFill>
                          <a:effectLst/>
                          <a:latin typeface="+mn-ea"/>
                          <a:ea typeface="+mn-ea"/>
                        </a:rPr>
                        <a:t>)</a:t>
                      </a:r>
                      <a:r>
                        <a:rPr lang="ko-KR" altLang="en-US" sz="1000" kern="0" spc="-50">
                          <a:solidFill>
                            <a:srgbClr val="000000"/>
                          </a:solidFill>
                          <a:effectLst/>
                          <a:latin typeface="+mn-ea"/>
                          <a:ea typeface="+mn-ea"/>
                        </a:rPr>
                        <a:t>과 특허</a:t>
                      </a:r>
                      <a:r>
                        <a:rPr lang="en-US" altLang="ko-KR" sz="1000" kern="0" spc="-50">
                          <a:solidFill>
                            <a:srgbClr val="000000"/>
                          </a:solidFill>
                          <a:effectLst/>
                          <a:latin typeface="+mn-ea"/>
                          <a:ea typeface="+mn-ea"/>
                        </a:rPr>
                        <a:t>/</a:t>
                      </a:r>
                      <a:r>
                        <a:rPr lang="ko-KR" altLang="en-US" sz="1000" kern="0" spc="-50">
                          <a:solidFill>
                            <a:srgbClr val="000000"/>
                          </a:solidFill>
                          <a:effectLst/>
                          <a:latin typeface="+mn-ea"/>
                          <a:ea typeface="+mn-ea"/>
                        </a:rPr>
                        <a:t>정정무효심판이 특허심판원에 계속 중인 기간에는 불가</a:t>
                      </a:r>
                    </a:p>
                  </a:txBody>
                  <a:tcPr marL="10639" marR="10639" marT="10639" marB="10639" anchor="ctr">
                    <a:lnL w="3175" cap="flat" cmpd="sng" algn="ctr">
                      <a:solidFill>
                        <a:srgbClr val="000000"/>
                      </a:solidFill>
                      <a:prstDash val="solid"/>
                      <a:round/>
                      <a:headEnd type="none" w="med" len="med"/>
                      <a:tailEnd type="none" w="med" len="med"/>
                    </a:lnL>
                    <a:lnR w="3175" cap="flat" cmpd="sng" algn="ctr">
                      <a:solidFill>
                        <a:srgbClr val="000000"/>
                      </a:solidFill>
                      <a:prstDash val="solid"/>
                      <a:round/>
                      <a:headEnd type="none" w="med" len="med"/>
                      <a:tailEnd type="none" w="med" len="med"/>
                    </a:lnR>
                    <a:lnT w="3175" cap="flat" cmpd="sng" algn="ctr">
                      <a:solidFill>
                        <a:srgbClr val="000000"/>
                      </a:solidFill>
                      <a:prstDash val="solid"/>
                      <a:round/>
                      <a:headEnd type="none" w="med" len="med"/>
                      <a:tailEnd type="none" w="med" len="med"/>
                    </a:lnT>
                    <a:lnB w="3175" cap="flat" cmpd="sng" algn="ctr">
                      <a:solidFill>
                        <a:srgbClr val="000000"/>
                      </a:solidFill>
                      <a:prstDash val="solid"/>
                      <a:round/>
                      <a:headEnd type="none" w="med" len="med"/>
                      <a:tailEnd type="none" w="med" len="med"/>
                    </a:lnB>
                    <a:noFill/>
                  </a:tcPr>
                </a:tc>
                <a:tc>
                  <a:txBody>
                    <a:bodyPr/>
                    <a:lstStyle/>
                    <a:p>
                      <a:pPr marL="17780" marR="17780" indent="0" algn="l" fontAlgn="base" latinLnBrk="0">
                        <a:lnSpc>
                          <a:spcPct val="100000"/>
                        </a:lnSpc>
                        <a:buNone/>
                      </a:pPr>
                      <a:r>
                        <a:rPr lang="ko-KR" altLang="en-US" sz="1000" kern="0" spc="-50" dirty="0">
                          <a:solidFill>
                            <a:schemeClr val="tx1"/>
                          </a:solidFill>
                          <a:effectLst/>
                          <a:latin typeface="+mn-ea"/>
                          <a:ea typeface="+mn-ea"/>
                        </a:rPr>
                        <a:t>특허권 존속기간 중에만 가능</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959031585"/>
                  </a:ext>
                </a:extLst>
              </a:tr>
              <a:tr h="193450">
                <a:tc rowSpan="3">
                  <a:txBody>
                    <a:bodyPr/>
                    <a:lstStyle/>
                    <a:p>
                      <a:pPr marL="0" marR="0" indent="0" algn="ctr" fontAlgn="base" latinLnBrk="0">
                        <a:lnSpc>
                          <a:spcPct val="100000"/>
                        </a:lnSpc>
                        <a:buNone/>
                      </a:pPr>
                      <a:r>
                        <a:rPr lang="ko-KR" altLang="en-US" sz="1000" kern="0" spc="-100">
                          <a:solidFill>
                            <a:schemeClr val="tx1"/>
                          </a:solidFill>
                          <a:effectLst/>
                          <a:latin typeface="+mn-ea"/>
                          <a:ea typeface="+mn-ea"/>
                        </a:rPr>
                        <a:t>절</a:t>
                      </a:r>
                    </a:p>
                    <a:p>
                      <a:pPr marL="0" marR="0" indent="0" algn="ctr" fontAlgn="base" latinLnBrk="0">
                        <a:lnSpc>
                          <a:spcPct val="100000"/>
                        </a:lnSpc>
                        <a:buNone/>
                      </a:pPr>
                      <a:r>
                        <a:rPr lang="ko-KR" altLang="en-US" sz="1000" kern="0" spc="-100">
                          <a:solidFill>
                            <a:schemeClr val="tx1"/>
                          </a:solidFill>
                          <a:effectLst/>
                          <a:latin typeface="+mn-ea"/>
                          <a:ea typeface="+mn-ea"/>
                        </a:rPr>
                        <a:t>차</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청구</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출원일 및 출원번호</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발명의 명칭</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특허거절결정일을 추가 기재</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2">
                  <a:txBody>
                    <a:bodyPr/>
                    <a:lstStyle/>
                    <a:p>
                      <a:pPr marL="17780" marR="17780" indent="0" algn="l" fontAlgn="base" latinLnBrk="1">
                        <a:lnSpc>
                          <a:spcPct val="100000"/>
                        </a:lnSpc>
                        <a:buNone/>
                      </a:pPr>
                      <a:r>
                        <a:rPr lang="en-US" altLang="ko-KR" sz="1000" kern="0" spc="-50" dirty="0">
                          <a:solidFill>
                            <a:schemeClr val="tx1"/>
                          </a:solidFill>
                          <a:effectLst/>
                          <a:latin typeface="+mn-ea"/>
                          <a:ea typeface="+mn-ea"/>
                        </a:rPr>
                        <a:t>1. </a:t>
                      </a:r>
                      <a:r>
                        <a:rPr lang="ko-KR" altLang="en-US" sz="1000" kern="0" spc="-50" dirty="0">
                          <a:solidFill>
                            <a:schemeClr val="tx1"/>
                          </a:solidFill>
                          <a:effectLst/>
                          <a:latin typeface="+mn-ea"/>
                          <a:ea typeface="+mn-ea"/>
                        </a:rPr>
                        <a:t>정정한 명세서 또는 도면의 첨부</a:t>
                      </a:r>
                    </a:p>
                    <a:p>
                      <a:pPr marL="111760" marR="17780" indent="-111760" algn="l" fontAlgn="base" latinLnBrk="1">
                        <a:lnSpc>
                          <a:spcPct val="100000"/>
                        </a:lnSpc>
                        <a:buNone/>
                      </a:pPr>
                      <a:r>
                        <a:rPr lang="en-US" altLang="ko-KR" sz="1000" kern="0" spc="-50" dirty="0">
                          <a:solidFill>
                            <a:schemeClr val="tx1"/>
                          </a:solidFill>
                          <a:effectLst/>
                          <a:latin typeface="+mn-ea"/>
                          <a:ea typeface="+mn-ea"/>
                        </a:rPr>
                        <a:t>2. </a:t>
                      </a:r>
                      <a:r>
                        <a:rPr lang="ko-KR" altLang="en-US" sz="1000" kern="0" spc="-50" dirty="0" err="1">
                          <a:solidFill>
                            <a:schemeClr val="tx1"/>
                          </a:solidFill>
                          <a:effectLst/>
                          <a:latin typeface="+mn-ea"/>
                          <a:ea typeface="+mn-ea"/>
                        </a:rPr>
                        <a:t>전용실시권자</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허락에 의한 </a:t>
                      </a:r>
                      <a:r>
                        <a:rPr lang="ko-KR" altLang="en-US" sz="1000" kern="0" spc="-50" dirty="0" err="1">
                          <a:solidFill>
                            <a:schemeClr val="tx1"/>
                          </a:solidFill>
                          <a:effectLst/>
                          <a:latin typeface="+mn-ea"/>
                          <a:ea typeface="+mn-ea"/>
                        </a:rPr>
                        <a:t>통상실시권자</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직무발명에 대한 </a:t>
                      </a:r>
                      <a:r>
                        <a:rPr lang="ko-KR" altLang="en-US" sz="1000" kern="0" spc="-50" dirty="0" err="1">
                          <a:solidFill>
                            <a:schemeClr val="tx1"/>
                          </a:solidFill>
                          <a:effectLst/>
                          <a:latin typeface="+mn-ea"/>
                          <a:ea typeface="+mn-ea"/>
                        </a:rPr>
                        <a:t>통상실시권자</a:t>
                      </a:r>
                      <a:r>
                        <a:rPr lang="ko-KR" altLang="en-US" sz="1000" kern="0" spc="-50" dirty="0">
                          <a:solidFill>
                            <a:schemeClr val="tx1"/>
                          </a:solidFill>
                          <a:effectLst/>
                          <a:latin typeface="+mn-ea"/>
                          <a:ea typeface="+mn-ea"/>
                        </a:rPr>
                        <a:t> 및 질권자의 동의서를 첨부</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단</a:t>
                      </a:r>
                      <a:r>
                        <a:rPr lang="en-US" altLang="ko-KR" sz="1000" kern="0" spc="-50" dirty="0">
                          <a:solidFill>
                            <a:schemeClr val="tx1"/>
                          </a:solidFill>
                          <a:effectLst/>
                          <a:latin typeface="+mn-ea"/>
                          <a:ea typeface="+mn-ea"/>
                        </a:rPr>
                        <a:t>, </a:t>
                      </a:r>
                      <a:r>
                        <a:rPr lang="ko-KR" altLang="en-US" sz="1000" kern="0" spc="-50" dirty="0" err="1">
                          <a:solidFill>
                            <a:schemeClr val="tx1"/>
                          </a:solidFill>
                          <a:effectLst/>
                          <a:latin typeface="+mn-ea"/>
                          <a:ea typeface="+mn-ea"/>
                        </a:rPr>
                        <a:t>동의받아야</a:t>
                      </a:r>
                      <a:r>
                        <a:rPr lang="ko-KR" altLang="en-US" sz="1000" kern="0" spc="-50" dirty="0">
                          <a:solidFill>
                            <a:schemeClr val="tx1"/>
                          </a:solidFill>
                          <a:effectLst/>
                          <a:latin typeface="+mn-ea"/>
                          <a:ea typeface="+mn-ea"/>
                        </a:rPr>
                        <a:t> 하는 자가 무효심판청구한 경우 제외</a:t>
                      </a:r>
                      <a:r>
                        <a:rPr lang="en-US" altLang="ko-KR" sz="1000" kern="0" spc="-50" dirty="0">
                          <a:solidFill>
                            <a:schemeClr val="tx1"/>
                          </a:solidFill>
                          <a:effectLst/>
                          <a:latin typeface="+mn-ea"/>
                          <a:ea typeface="+mn-ea"/>
                        </a:rPr>
                        <a:t>)</a:t>
                      </a:r>
                      <a:endParaRPr lang="ko-KR" altLang="en-US" sz="1000" kern="0" spc="-50" dirty="0">
                        <a:solidFill>
                          <a:schemeClr val="tx1"/>
                        </a:solidFill>
                        <a:effectLst/>
                        <a:latin typeface="+mn-ea"/>
                        <a:ea typeface="+mn-ea"/>
                      </a:endParaRP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17780" marR="17780" indent="0" algn="just" fontAlgn="base" latinLnBrk="1">
                        <a:lnSpc>
                          <a:spcPct val="120000"/>
                        </a:lnSpc>
                        <a:buNone/>
                      </a:pPr>
                      <a:r>
                        <a:rPr lang="en-US" altLang="ko-KR" sz="1000" kern="0" spc="-50">
                          <a:solidFill>
                            <a:srgbClr val="000000"/>
                          </a:solidFill>
                          <a:effectLst/>
                          <a:latin typeface="+mn-ea"/>
                          <a:ea typeface="+mn-ea"/>
                        </a:rPr>
                        <a:t>1. </a:t>
                      </a:r>
                      <a:r>
                        <a:rPr lang="ko-KR" altLang="en-US" sz="1000" kern="0" spc="-50">
                          <a:solidFill>
                            <a:srgbClr val="000000"/>
                          </a:solidFill>
                          <a:effectLst/>
                          <a:latin typeface="+mn-ea"/>
                          <a:ea typeface="+mn-ea"/>
                        </a:rPr>
                        <a:t>정정한 명세서 또는 도면의 첨부</a:t>
                      </a:r>
                    </a:p>
                    <a:p>
                      <a:pPr marL="111760" marR="17780" indent="-111760" algn="just" fontAlgn="base" latinLnBrk="1">
                        <a:lnSpc>
                          <a:spcPct val="120000"/>
                        </a:lnSpc>
                        <a:buNone/>
                      </a:pPr>
                      <a:r>
                        <a:rPr lang="en-US" altLang="ko-KR" sz="1000" kern="0" spc="-50">
                          <a:solidFill>
                            <a:srgbClr val="000000"/>
                          </a:solidFill>
                          <a:effectLst/>
                          <a:latin typeface="+mn-ea"/>
                          <a:ea typeface="+mn-ea"/>
                        </a:rPr>
                        <a:t>2. </a:t>
                      </a:r>
                      <a:r>
                        <a:rPr lang="ko-KR" altLang="en-US" sz="1000" kern="0" spc="-50">
                          <a:solidFill>
                            <a:srgbClr val="000000"/>
                          </a:solidFill>
                          <a:effectLst/>
                          <a:latin typeface="+mn-ea"/>
                          <a:ea typeface="+mn-ea"/>
                        </a:rPr>
                        <a:t>전용실시권자</a:t>
                      </a:r>
                      <a:r>
                        <a:rPr lang="en-US" altLang="ko-KR" sz="1000" kern="0" spc="-50">
                          <a:solidFill>
                            <a:srgbClr val="000000"/>
                          </a:solidFill>
                          <a:effectLst/>
                          <a:latin typeface="+mn-ea"/>
                          <a:ea typeface="+mn-ea"/>
                        </a:rPr>
                        <a:t>, </a:t>
                      </a:r>
                      <a:r>
                        <a:rPr lang="ko-KR" altLang="en-US" sz="1000" kern="0" spc="-50">
                          <a:solidFill>
                            <a:srgbClr val="000000"/>
                          </a:solidFill>
                          <a:effectLst/>
                          <a:latin typeface="+mn-ea"/>
                          <a:ea typeface="+mn-ea"/>
                        </a:rPr>
                        <a:t>허락에 의한 통상실시권자</a:t>
                      </a:r>
                      <a:r>
                        <a:rPr lang="en-US" altLang="ko-KR" sz="1000" kern="0" spc="-50">
                          <a:solidFill>
                            <a:srgbClr val="000000"/>
                          </a:solidFill>
                          <a:effectLst/>
                          <a:latin typeface="+mn-ea"/>
                          <a:ea typeface="+mn-ea"/>
                        </a:rPr>
                        <a:t>, </a:t>
                      </a:r>
                      <a:r>
                        <a:rPr lang="ko-KR" altLang="en-US" sz="1000" kern="0" spc="-50">
                          <a:solidFill>
                            <a:srgbClr val="000000"/>
                          </a:solidFill>
                          <a:effectLst/>
                          <a:latin typeface="+mn-ea"/>
                          <a:ea typeface="+mn-ea"/>
                        </a:rPr>
                        <a:t>직무발명에 대한 통상실시권자 및 질권자의 동의서를 첨부</a:t>
                      </a:r>
                      <a:r>
                        <a:rPr lang="en-US" altLang="ko-KR" sz="1000" kern="0" spc="-50">
                          <a:solidFill>
                            <a:srgbClr val="000000"/>
                          </a:solidFill>
                          <a:effectLst/>
                          <a:latin typeface="+mn-ea"/>
                          <a:ea typeface="+mn-ea"/>
                        </a:rPr>
                        <a:t>(</a:t>
                      </a:r>
                      <a:r>
                        <a:rPr lang="ko-KR" altLang="en-US" sz="1000" kern="0" spc="-50">
                          <a:solidFill>
                            <a:srgbClr val="000000"/>
                          </a:solidFill>
                          <a:effectLst/>
                          <a:latin typeface="+mn-ea"/>
                          <a:ea typeface="+mn-ea"/>
                        </a:rPr>
                        <a:t>단</a:t>
                      </a:r>
                      <a:r>
                        <a:rPr lang="en-US" altLang="ko-KR" sz="1000" kern="0" spc="-50">
                          <a:solidFill>
                            <a:srgbClr val="000000"/>
                          </a:solidFill>
                          <a:effectLst/>
                          <a:latin typeface="+mn-ea"/>
                          <a:ea typeface="+mn-ea"/>
                        </a:rPr>
                        <a:t>, </a:t>
                      </a:r>
                      <a:r>
                        <a:rPr lang="ko-KR" altLang="en-US" sz="1000" kern="0" spc="-50">
                          <a:solidFill>
                            <a:srgbClr val="000000"/>
                          </a:solidFill>
                          <a:effectLst/>
                          <a:latin typeface="+mn-ea"/>
                          <a:ea typeface="+mn-ea"/>
                        </a:rPr>
                        <a:t>동의받아야 하는 자가 무효심판청구한 경우 제외</a:t>
                      </a:r>
                      <a:r>
                        <a:rPr lang="en-US" altLang="ko-KR" sz="1000" kern="0" spc="-50">
                          <a:solidFill>
                            <a:srgbClr val="000000"/>
                          </a:solidFill>
                          <a:effectLst/>
                          <a:latin typeface="+mn-ea"/>
                          <a:ea typeface="+mn-ea"/>
                        </a:rPr>
                        <a:t>)</a:t>
                      </a:r>
                      <a:endParaRPr lang="ko-KR" altLang="en-US" sz="1000" kern="0" spc="-50">
                        <a:solidFill>
                          <a:srgbClr val="000000"/>
                        </a:solidFill>
                        <a:effectLst/>
                        <a:latin typeface="+mn-ea"/>
                        <a:ea typeface="+mn-ea"/>
                      </a:endParaRPr>
                    </a:p>
                  </a:txBody>
                  <a:tcPr marL="10639" marR="10639" marT="10639" marB="10639" anchor="ctr">
                    <a:lnL w="3175" cap="flat" cmpd="sng" algn="ctr">
                      <a:solidFill>
                        <a:srgbClr val="000000"/>
                      </a:solidFill>
                      <a:prstDash val="solid"/>
                      <a:round/>
                      <a:headEnd type="none" w="med" len="med"/>
                      <a:tailEnd type="none" w="med" len="med"/>
                    </a:lnL>
                    <a:lnR w="3175" cap="flat" cmpd="sng" algn="ctr">
                      <a:solidFill>
                        <a:srgbClr val="000000"/>
                      </a:solidFill>
                      <a:prstDash val="solid"/>
                      <a:round/>
                      <a:headEnd type="none" w="med" len="med"/>
                      <a:tailEnd type="none" w="med" len="med"/>
                    </a:lnR>
                    <a:lnT w="3175" cap="flat" cmpd="sng" algn="ctr">
                      <a:solidFill>
                        <a:srgbClr val="000000"/>
                      </a:solidFill>
                      <a:prstDash val="solid"/>
                      <a:round/>
                      <a:headEnd type="none" w="med" len="med"/>
                      <a:tailEnd type="none" w="med" len="med"/>
                    </a:lnT>
                    <a:lnB w="3175" cap="flat" cmpd="sng" algn="ctr">
                      <a:solidFill>
                        <a:srgbClr val="000000"/>
                      </a:solidFill>
                      <a:prstDash val="solid"/>
                      <a:round/>
                      <a:headEnd type="none" w="med" len="med"/>
                      <a:tailEnd type="none" w="med" len="med"/>
                    </a:lnB>
                    <a:noFill/>
                  </a:tcPr>
                </a:tc>
                <a:tc>
                  <a:txBody>
                    <a:bodyPr/>
                    <a:lstStyle/>
                    <a:p>
                      <a:pPr marL="109220" marR="17780" indent="-109220" algn="l" fontAlgn="base" latinLnBrk="1">
                        <a:lnSpc>
                          <a:spcPct val="100000"/>
                        </a:lnSpc>
                        <a:buNone/>
                      </a:pPr>
                      <a:r>
                        <a:rPr lang="en-US" altLang="ko-KR" sz="1000" kern="0" spc="-50">
                          <a:solidFill>
                            <a:schemeClr val="tx1"/>
                          </a:solidFill>
                          <a:effectLst/>
                          <a:latin typeface="+mn-ea"/>
                          <a:ea typeface="+mn-ea"/>
                        </a:rPr>
                        <a:t>1. </a:t>
                      </a:r>
                      <a:r>
                        <a:rPr lang="ko-KR" altLang="en-US" sz="1000" kern="0" spc="-50">
                          <a:solidFill>
                            <a:schemeClr val="tx1"/>
                          </a:solidFill>
                          <a:effectLst/>
                          <a:latin typeface="+mn-ea"/>
                          <a:ea typeface="+mn-ea"/>
                        </a:rPr>
                        <a:t>확인대상발명의 설명서 및 필요한 도면의 첨부</a:t>
                      </a:r>
                    </a:p>
                    <a:p>
                      <a:pPr marL="115570" marR="17780" indent="-115570" algn="l" fontAlgn="base" latinLnBrk="1">
                        <a:lnSpc>
                          <a:spcPct val="100000"/>
                        </a:lnSpc>
                        <a:buNone/>
                      </a:pPr>
                      <a:r>
                        <a:rPr lang="en-US" altLang="ko-KR" sz="1000" kern="0" spc="-50">
                          <a:solidFill>
                            <a:schemeClr val="tx1"/>
                          </a:solidFill>
                          <a:effectLst/>
                          <a:latin typeface="+mn-ea"/>
                          <a:ea typeface="+mn-ea"/>
                        </a:rPr>
                        <a:t>2. </a:t>
                      </a:r>
                      <a:r>
                        <a:rPr lang="ko-KR" altLang="en-US" sz="1000" kern="0" spc="-50">
                          <a:solidFill>
                            <a:schemeClr val="tx1"/>
                          </a:solidFill>
                          <a:effectLst/>
                          <a:latin typeface="+mn-ea"/>
                          <a:ea typeface="+mn-ea"/>
                        </a:rPr>
                        <a:t>부본 송달 및 답변서 제출기회 부여</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26017744"/>
                  </a:ext>
                </a:extLst>
              </a:tr>
              <a:tr h="256760">
                <a:tc v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진행</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10490" marR="17780" indent="-110490" algn="l" fontAlgn="base" latinLnBrk="1">
                        <a:lnSpc>
                          <a:spcPct val="100000"/>
                        </a:lnSpc>
                        <a:buNone/>
                      </a:pPr>
                      <a:r>
                        <a:rPr lang="en-US" altLang="ko-KR" sz="1000" kern="0" spc="-70">
                          <a:solidFill>
                            <a:schemeClr val="tx1"/>
                          </a:solidFill>
                          <a:effectLst/>
                          <a:latin typeface="+mn-ea"/>
                          <a:ea typeface="+mn-ea"/>
                        </a:rPr>
                        <a:t>1. </a:t>
                      </a:r>
                      <a:r>
                        <a:rPr lang="ko-KR" altLang="en-US" sz="1000" kern="0" spc="-70">
                          <a:solidFill>
                            <a:schemeClr val="tx1"/>
                          </a:solidFill>
                          <a:effectLst/>
                          <a:latin typeface="+mn-ea"/>
                          <a:ea typeface="+mn-ea"/>
                        </a:rPr>
                        <a:t>보정각하도 함께 불복한 경우 심리범위 포함</a:t>
                      </a:r>
                      <a:endParaRPr lang="ko-KR" altLang="en-US" sz="1000" kern="0" spc="-50">
                        <a:solidFill>
                          <a:schemeClr val="tx1"/>
                        </a:solidFill>
                        <a:effectLst/>
                        <a:latin typeface="+mn-ea"/>
                        <a:ea typeface="+mn-ea"/>
                      </a:endParaRPr>
                    </a:p>
                    <a:p>
                      <a:pPr marL="110490" marR="17780" indent="-110490" algn="l" fontAlgn="base" latinLnBrk="1">
                        <a:lnSpc>
                          <a:spcPct val="100000"/>
                        </a:lnSpc>
                        <a:buNone/>
                      </a:pPr>
                      <a:r>
                        <a:rPr lang="en-US" altLang="ko-KR" sz="1000" kern="0" spc="-50">
                          <a:solidFill>
                            <a:schemeClr val="tx1"/>
                          </a:solidFill>
                          <a:effectLst/>
                          <a:latin typeface="+mn-ea"/>
                          <a:ea typeface="+mn-ea"/>
                        </a:rPr>
                        <a:t>2. </a:t>
                      </a:r>
                      <a:r>
                        <a:rPr lang="ko-KR" altLang="en-US" sz="1000" kern="0" spc="-50">
                          <a:solidFill>
                            <a:schemeClr val="tx1"/>
                          </a:solidFill>
                          <a:effectLst/>
                          <a:latin typeface="+mn-ea"/>
                          <a:ea typeface="+mn-ea"/>
                        </a:rPr>
                        <a:t>심사에서 밟은 절차의</a:t>
                      </a:r>
                      <a:br>
                        <a:rPr lang="ko-KR" altLang="en-US" sz="1000" kern="0" spc="-50">
                          <a:solidFill>
                            <a:schemeClr val="tx1"/>
                          </a:solidFill>
                          <a:effectLst/>
                          <a:latin typeface="+mn-ea"/>
                          <a:ea typeface="+mn-ea"/>
                        </a:rPr>
                      </a:br>
                      <a:r>
                        <a:rPr lang="ko-KR" altLang="en-US" sz="1000" kern="0" spc="-50">
                          <a:solidFill>
                            <a:schemeClr val="tx1"/>
                          </a:solidFill>
                          <a:effectLst/>
                          <a:latin typeface="+mn-ea"/>
                          <a:ea typeface="+mn-ea"/>
                        </a:rPr>
                        <a:t>효력이 심판에도 미침</a:t>
                      </a:r>
                    </a:p>
                    <a:p>
                      <a:pPr marL="17780" marR="17780" indent="0" algn="l" fontAlgn="base" latinLnBrk="1">
                        <a:lnSpc>
                          <a:spcPct val="100000"/>
                        </a:lnSpc>
                        <a:buNone/>
                      </a:pPr>
                      <a:r>
                        <a:rPr lang="en-US" altLang="ko-KR" sz="1000" kern="0" spc="-50">
                          <a:solidFill>
                            <a:schemeClr val="tx1"/>
                          </a:solidFill>
                          <a:effectLst/>
                          <a:latin typeface="+mn-ea"/>
                          <a:ea typeface="+mn-ea"/>
                        </a:rPr>
                        <a:t>3. </a:t>
                      </a:r>
                      <a:r>
                        <a:rPr lang="ko-KR" altLang="en-US" sz="1000" kern="0" spc="-50">
                          <a:solidFill>
                            <a:schemeClr val="tx1"/>
                          </a:solidFill>
                          <a:effectLst/>
                          <a:latin typeface="+mn-ea"/>
                          <a:ea typeface="+mn-ea"/>
                        </a:rPr>
                        <a:t>거절이유 전면적 심리</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2">
                  <a:txBody>
                    <a:bodyPr/>
                    <a:lstStyle/>
                    <a:p>
                      <a:pPr marL="121920" marR="17780" indent="-121920" algn="l" fontAlgn="base" latinLnBrk="1">
                        <a:lnSpc>
                          <a:spcPct val="100000"/>
                        </a:lnSpc>
                        <a:buNone/>
                      </a:pPr>
                      <a:r>
                        <a:rPr lang="en-US" altLang="ko-KR" sz="1000" kern="0" spc="-50" dirty="0">
                          <a:solidFill>
                            <a:schemeClr val="tx1"/>
                          </a:solidFill>
                          <a:effectLst/>
                          <a:latin typeface="+mn-ea"/>
                          <a:ea typeface="+mn-ea"/>
                        </a:rPr>
                        <a:t>1. </a:t>
                      </a:r>
                      <a:r>
                        <a:rPr lang="ko-KR" altLang="en-US" sz="1000" kern="0" spc="-50" dirty="0">
                          <a:solidFill>
                            <a:schemeClr val="tx1"/>
                          </a:solidFill>
                          <a:effectLst/>
                          <a:latin typeface="+mn-ea"/>
                          <a:ea typeface="+mn-ea"/>
                        </a:rPr>
                        <a:t>정정사유를 만족하는지 직권심리 후 의견서를 제출할 수 있는 기회 부여</a:t>
                      </a:r>
                    </a:p>
                    <a:p>
                      <a:pPr marL="116840" marR="17780" indent="-116840" algn="l" fontAlgn="base" latinLnBrk="1">
                        <a:lnSpc>
                          <a:spcPct val="100000"/>
                        </a:lnSpc>
                        <a:buNone/>
                      </a:pPr>
                      <a:r>
                        <a:rPr lang="en-US" altLang="ko-KR" sz="1000" kern="0" spc="-50" dirty="0">
                          <a:solidFill>
                            <a:schemeClr val="tx1"/>
                          </a:solidFill>
                          <a:effectLst/>
                          <a:latin typeface="+mn-ea"/>
                          <a:ea typeface="+mn-ea"/>
                        </a:rPr>
                        <a:t>2. </a:t>
                      </a:r>
                      <a:r>
                        <a:rPr lang="ko-KR" altLang="en-US" sz="1000" kern="0" spc="-50" dirty="0">
                          <a:solidFill>
                            <a:schemeClr val="tx1"/>
                          </a:solidFill>
                          <a:effectLst/>
                          <a:latin typeface="+mn-ea"/>
                          <a:ea typeface="+mn-ea"/>
                        </a:rPr>
                        <a:t>심리종결통지 전까지 정정명세서 또는 도면의 보정</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121920" marR="17780" indent="-121920" algn="just" fontAlgn="base" latinLnBrk="1">
                        <a:lnSpc>
                          <a:spcPct val="120000"/>
                        </a:lnSpc>
                        <a:buNone/>
                      </a:pPr>
                      <a:r>
                        <a:rPr lang="en-US" altLang="ko-KR" sz="1000" kern="0" spc="-50" dirty="0">
                          <a:solidFill>
                            <a:srgbClr val="FF0000"/>
                          </a:solidFill>
                          <a:effectLst/>
                          <a:latin typeface="+mn-ea"/>
                          <a:ea typeface="+mn-ea"/>
                        </a:rPr>
                        <a:t>1. </a:t>
                      </a:r>
                      <a:r>
                        <a:rPr lang="ko-KR" altLang="en-US" sz="1000" kern="0" spc="-50" dirty="0">
                          <a:solidFill>
                            <a:srgbClr val="FF0000"/>
                          </a:solidFill>
                          <a:effectLst/>
                          <a:latin typeface="+mn-ea"/>
                          <a:ea typeface="+mn-ea"/>
                        </a:rPr>
                        <a:t>정정사유를 만족하는지</a:t>
                      </a:r>
                      <a:r>
                        <a:rPr lang="ko-KR" altLang="en-US" sz="1000" kern="0" spc="-50" dirty="0">
                          <a:solidFill>
                            <a:srgbClr val="000000"/>
                          </a:solidFill>
                          <a:effectLst/>
                          <a:latin typeface="+mn-ea"/>
                          <a:ea typeface="+mn-ea"/>
                        </a:rPr>
                        <a:t> 직권심리 후 의견서를 제출할 수 있는 기회 부여</a:t>
                      </a:r>
                    </a:p>
                    <a:p>
                      <a:pPr marL="116840" marR="17780" indent="-116840" algn="just" fontAlgn="base" latinLnBrk="1">
                        <a:lnSpc>
                          <a:spcPct val="120000"/>
                        </a:lnSpc>
                        <a:buNone/>
                      </a:pPr>
                      <a:r>
                        <a:rPr lang="en-US" altLang="ko-KR" sz="1000" kern="0" spc="-50" dirty="0">
                          <a:solidFill>
                            <a:srgbClr val="000000"/>
                          </a:solidFill>
                          <a:effectLst/>
                          <a:latin typeface="+mn-ea"/>
                          <a:ea typeface="+mn-ea"/>
                        </a:rPr>
                        <a:t>2. </a:t>
                      </a:r>
                      <a:r>
                        <a:rPr lang="ko-KR" altLang="en-US" sz="1000" kern="0" spc="-50" dirty="0">
                          <a:solidFill>
                            <a:srgbClr val="000000"/>
                          </a:solidFill>
                          <a:effectLst/>
                          <a:latin typeface="+mn-ea"/>
                          <a:ea typeface="+mn-ea"/>
                        </a:rPr>
                        <a:t>심리종결통지 전까지 정정명세서 또는 도면의 보정</a:t>
                      </a:r>
                    </a:p>
                  </a:txBody>
                  <a:tcPr marL="10639" marR="10639" marT="10639" marB="10639" anchor="ctr">
                    <a:lnL w="3175" cap="flat" cmpd="sng" algn="ctr">
                      <a:solidFill>
                        <a:srgbClr val="000000"/>
                      </a:solidFill>
                      <a:prstDash val="solid"/>
                      <a:round/>
                      <a:headEnd type="none" w="med" len="med"/>
                      <a:tailEnd type="none" w="med" len="med"/>
                    </a:lnL>
                    <a:lnR w="3175" cap="flat" cmpd="sng" algn="ctr">
                      <a:solidFill>
                        <a:srgbClr val="000000"/>
                      </a:solidFill>
                      <a:prstDash val="solid"/>
                      <a:round/>
                      <a:headEnd type="none" w="med" len="med"/>
                      <a:tailEnd type="none" w="med" len="med"/>
                    </a:lnR>
                    <a:lnT w="3175" cap="flat" cmpd="sng" algn="ctr">
                      <a:solidFill>
                        <a:srgbClr val="000000"/>
                      </a:solidFill>
                      <a:prstDash val="solid"/>
                      <a:round/>
                      <a:headEnd type="none" w="med" len="med"/>
                      <a:tailEnd type="none" w="med" len="med"/>
                    </a:lnT>
                    <a:lnB w="3175" cap="flat" cmpd="sng" algn="ctr">
                      <a:solidFill>
                        <a:srgbClr val="000000"/>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확인대상발명이 특허발명의 권리범위에 속하는지 심리</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447660938"/>
                  </a:ext>
                </a:extLst>
              </a:tr>
              <a:tr h="193450">
                <a:tc v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종료</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34620" marR="17780" indent="-134620" algn="l" fontAlgn="base" latinLnBrk="1">
                        <a:lnSpc>
                          <a:spcPct val="100000"/>
                        </a:lnSpc>
                        <a:buNone/>
                      </a:pPr>
                      <a:r>
                        <a:rPr lang="en-US" altLang="ko-KR" sz="1000" kern="0" spc="-50">
                          <a:solidFill>
                            <a:schemeClr val="tx1"/>
                          </a:solidFill>
                          <a:effectLst/>
                          <a:latin typeface="+mn-ea"/>
                          <a:ea typeface="+mn-ea"/>
                        </a:rPr>
                        <a:t>1. </a:t>
                      </a:r>
                      <a:r>
                        <a:rPr lang="ko-KR" altLang="en-US" sz="1000" kern="0" spc="-50">
                          <a:solidFill>
                            <a:schemeClr val="tx1"/>
                          </a:solidFill>
                          <a:effectLst/>
                          <a:latin typeface="+mn-ea"/>
                          <a:ea typeface="+mn-ea"/>
                        </a:rPr>
                        <a:t>심판청구가 타당한 경우 원거절결정을 취소하고 자판</a:t>
                      </a:r>
                      <a:r>
                        <a:rPr lang="en-US" altLang="ko-KR" sz="1000" kern="0" spc="-50">
                          <a:solidFill>
                            <a:schemeClr val="tx1"/>
                          </a:solidFill>
                          <a:effectLst/>
                          <a:latin typeface="+mn-ea"/>
                          <a:ea typeface="+mn-ea"/>
                        </a:rPr>
                        <a:t>(</a:t>
                      </a:r>
                      <a:r>
                        <a:rPr lang="ko-KR" altLang="en-US" sz="1000" kern="0" spc="-50">
                          <a:solidFill>
                            <a:schemeClr val="tx1"/>
                          </a:solidFill>
                          <a:effectLst/>
                          <a:latin typeface="+mn-ea"/>
                          <a:ea typeface="+mn-ea"/>
                        </a:rPr>
                        <a:t>특허심결</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또는 환송</a:t>
                      </a:r>
                    </a:p>
                    <a:p>
                      <a:pPr marL="110490" marR="17780" indent="-110490" algn="l" fontAlgn="base" latinLnBrk="1">
                        <a:lnSpc>
                          <a:spcPct val="100000"/>
                        </a:lnSpc>
                        <a:buNone/>
                      </a:pPr>
                      <a:r>
                        <a:rPr lang="en-US" altLang="ko-KR" sz="1000" kern="0" spc="-50">
                          <a:solidFill>
                            <a:schemeClr val="tx1"/>
                          </a:solidFill>
                          <a:effectLst/>
                          <a:latin typeface="+mn-ea"/>
                          <a:ea typeface="+mn-ea"/>
                        </a:rPr>
                        <a:t>2. </a:t>
                      </a:r>
                      <a:r>
                        <a:rPr lang="ko-KR" altLang="en-US" sz="1000" kern="0" spc="-50">
                          <a:solidFill>
                            <a:schemeClr val="tx1"/>
                          </a:solidFill>
                          <a:effectLst/>
                          <a:latin typeface="+mn-ea"/>
                          <a:ea typeface="+mn-ea"/>
                        </a:rPr>
                        <a:t>환송 시 심사관의 기속</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2">
                  <a:txBody>
                    <a:bodyPr/>
                    <a:lstStyle/>
                    <a:p>
                      <a:pPr marL="110490" marR="17780" indent="-110490" algn="l" fontAlgn="base" latinLnBrk="1">
                        <a:lnSpc>
                          <a:spcPct val="100000"/>
                        </a:lnSpc>
                        <a:buNone/>
                      </a:pPr>
                      <a:r>
                        <a:rPr lang="ko-KR" altLang="en-US" sz="1000" kern="0" spc="-50" dirty="0" err="1">
                          <a:solidFill>
                            <a:schemeClr val="tx1"/>
                          </a:solidFill>
                          <a:effectLst/>
                          <a:latin typeface="+mn-ea"/>
                          <a:ea typeface="+mn-ea"/>
                        </a:rPr>
                        <a:t>일부인용ㆍ기각</a:t>
                      </a:r>
                      <a:r>
                        <a:rPr lang="ko-KR" altLang="en-US" sz="1000" kern="0" spc="-50" dirty="0">
                          <a:solidFill>
                            <a:schemeClr val="tx1"/>
                          </a:solidFill>
                          <a:effectLst/>
                          <a:latin typeface="+mn-ea"/>
                          <a:ea typeface="+mn-ea"/>
                        </a:rPr>
                        <a:t> 불가</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17780" marR="17780" indent="0" algn="just" fontAlgn="base" latinLnBrk="1">
                        <a:lnSpc>
                          <a:spcPct val="120000"/>
                        </a:lnSpc>
                        <a:buNone/>
                      </a:pPr>
                      <a:r>
                        <a:rPr lang="ko-KR" altLang="en-US" sz="1000" kern="0" spc="-50">
                          <a:solidFill>
                            <a:srgbClr val="FF0000"/>
                          </a:solidFill>
                          <a:effectLst/>
                          <a:latin typeface="+mn-ea"/>
                          <a:ea typeface="+mn-ea"/>
                        </a:rPr>
                        <a:t>일부인용ㆍ기각 불가</a:t>
                      </a:r>
                      <a:endParaRPr lang="ko-KR" altLang="en-US" sz="1000" kern="0" spc="-50">
                        <a:solidFill>
                          <a:srgbClr val="000000"/>
                        </a:solidFill>
                        <a:effectLst/>
                        <a:latin typeface="+mn-ea"/>
                        <a:ea typeface="+mn-ea"/>
                      </a:endParaRPr>
                    </a:p>
                  </a:txBody>
                  <a:tcPr marL="10639" marR="10639" marT="10639" marB="10639" anchor="ctr">
                    <a:lnL w="3175" cap="flat" cmpd="sng" algn="ctr">
                      <a:solidFill>
                        <a:srgbClr val="000000"/>
                      </a:solidFill>
                      <a:prstDash val="solid"/>
                      <a:round/>
                      <a:headEnd type="none" w="med" len="med"/>
                      <a:tailEnd type="none" w="med" len="med"/>
                    </a:lnL>
                    <a:lnR w="3175" cap="flat" cmpd="sng" algn="ctr">
                      <a:solidFill>
                        <a:srgbClr val="000000"/>
                      </a:solidFill>
                      <a:prstDash val="solid"/>
                      <a:round/>
                      <a:headEnd type="none" w="med" len="med"/>
                      <a:tailEnd type="none" w="med" len="med"/>
                    </a:lnR>
                    <a:lnT w="3175" cap="flat" cmpd="sng" algn="ctr">
                      <a:solidFill>
                        <a:srgbClr val="000000"/>
                      </a:solidFill>
                      <a:prstDash val="solid"/>
                      <a:round/>
                      <a:headEnd type="none" w="med" len="med"/>
                      <a:tailEnd type="none" w="med" len="med"/>
                    </a:lnT>
                    <a:lnB w="3175" cap="flat" cmpd="sng" algn="ctr">
                      <a:solidFill>
                        <a:srgbClr val="000000"/>
                      </a:solidFill>
                      <a:prstDash val="solid"/>
                      <a:round/>
                      <a:headEnd type="none" w="med" len="med"/>
                      <a:tailEnd type="none" w="med" len="med"/>
                    </a:lnB>
                    <a:noFill/>
                  </a:tcPr>
                </a:tc>
                <a:tc>
                  <a:txBody>
                    <a:bodyPr/>
                    <a:lstStyle/>
                    <a:p>
                      <a:pPr marL="125730" marR="17780" indent="-125730" algn="l" fontAlgn="base" latinLnBrk="1">
                        <a:lnSpc>
                          <a:spcPct val="100000"/>
                        </a:lnSpc>
                        <a:buNone/>
                      </a:pPr>
                      <a:r>
                        <a:rPr lang="en-US" altLang="ko-KR" sz="1000" kern="0" spc="-50">
                          <a:solidFill>
                            <a:schemeClr val="tx1"/>
                          </a:solidFill>
                          <a:effectLst/>
                          <a:latin typeface="+mn-ea"/>
                          <a:ea typeface="+mn-ea"/>
                        </a:rPr>
                        <a:t>1. </a:t>
                      </a:r>
                      <a:r>
                        <a:rPr lang="ko-KR" altLang="en-US" sz="1000" kern="0" spc="-50">
                          <a:solidFill>
                            <a:schemeClr val="tx1"/>
                          </a:solidFill>
                          <a:effectLst/>
                          <a:latin typeface="+mn-ea"/>
                          <a:ea typeface="+mn-ea"/>
                        </a:rPr>
                        <a:t>심판청구가 타당하지 않은 경우 </a:t>
                      </a:r>
                      <a:r>
                        <a:rPr lang="ko-KR" altLang="en-US" sz="1000" kern="0" spc="-80">
                          <a:solidFill>
                            <a:schemeClr val="tx1"/>
                          </a:solidFill>
                          <a:effectLst/>
                          <a:latin typeface="+mn-ea"/>
                          <a:ea typeface="+mn-ea"/>
                        </a:rPr>
                        <a:t>기각한다고 하여야 되며</a:t>
                      </a:r>
                      <a:r>
                        <a:rPr lang="en-US" altLang="ko-KR" sz="1000" kern="0" spc="-80">
                          <a:solidFill>
                            <a:schemeClr val="tx1"/>
                          </a:solidFill>
                          <a:effectLst/>
                          <a:latin typeface="+mn-ea"/>
                          <a:ea typeface="+mn-ea"/>
                        </a:rPr>
                        <a:t>, </a:t>
                      </a:r>
                      <a:r>
                        <a:rPr lang="ko-KR" altLang="en-US" sz="1000" kern="0" spc="-80">
                          <a:solidFill>
                            <a:schemeClr val="tx1"/>
                          </a:solidFill>
                          <a:effectLst/>
                          <a:latin typeface="+mn-ea"/>
                          <a:ea typeface="+mn-ea"/>
                        </a:rPr>
                        <a:t>청구취지에 반하는 심결을 해서는 안됨</a:t>
                      </a:r>
                      <a:endParaRPr lang="ko-KR" altLang="en-US" sz="1000" kern="0" spc="-50">
                        <a:solidFill>
                          <a:schemeClr val="tx1"/>
                        </a:solidFill>
                        <a:effectLst/>
                        <a:latin typeface="+mn-ea"/>
                        <a:ea typeface="+mn-ea"/>
                      </a:endParaRPr>
                    </a:p>
                    <a:p>
                      <a:pPr marL="125730" marR="17780" indent="-125730" algn="l" fontAlgn="base" latinLnBrk="1">
                        <a:lnSpc>
                          <a:spcPct val="100000"/>
                        </a:lnSpc>
                        <a:buNone/>
                      </a:pPr>
                      <a:r>
                        <a:rPr lang="en-US" altLang="ko-KR" sz="1000" kern="0" spc="-80">
                          <a:solidFill>
                            <a:schemeClr val="tx1"/>
                          </a:solidFill>
                          <a:effectLst/>
                          <a:latin typeface="+mn-ea"/>
                          <a:ea typeface="+mn-ea"/>
                        </a:rPr>
                        <a:t>2. </a:t>
                      </a:r>
                      <a:r>
                        <a:rPr lang="ko-KR" altLang="en-US" sz="1000" kern="0" spc="-80">
                          <a:solidFill>
                            <a:schemeClr val="tx1"/>
                          </a:solidFill>
                          <a:effectLst/>
                          <a:latin typeface="+mn-ea"/>
                          <a:ea typeface="+mn-ea"/>
                        </a:rPr>
                        <a:t>청구항별 취하 가능</a:t>
                      </a:r>
                      <a:endParaRPr lang="ko-KR" altLang="en-US" sz="1000" kern="0" spc="-50">
                        <a:solidFill>
                          <a:schemeClr val="tx1"/>
                        </a:solidFill>
                        <a:effectLst/>
                        <a:latin typeface="+mn-ea"/>
                        <a:ea typeface="+mn-ea"/>
                      </a:endParaRP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945279463"/>
                  </a:ext>
                </a:extLst>
              </a:tr>
              <a:tr h="256760">
                <a:tc rowSpan="2">
                  <a:txBody>
                    <a:bodyPr/>
                    <a:lstStyle/>
                    <a:p>
                      <a:pPr marL="0" marR="0" indent="0" algn="ctr" fontAlgn="base" latinLnBrk="0">
                        <a:lnSpc>
                          <a:spcPct val="100000"/>
                        </a:lnSpc>
                        <a:buNone/>
                      </a:pPr>
                      <a:r>
                        <a:rPr lang="ko-KR" altLang="en-US" sz="1000" kern="0" spc="-100">
                          <a:solidFill>
                            <a:schemeClr val="tx1"/>
                          </a:solidFill>
                          <a:effectLst/>
                          <a:latin typeface="+mn-ea"/>
                          <a:ea typeface="+mn-ea"/>
                        </a:rPr>
                        <a:t>확</a:t>
                      </a:r>
                    </a:p>
                    <a:p>
                      <a:pPr marL="0" marR="0" indent="0" algn="ctr" fontAlgn="base" latinLnBrk="0">
                        <a:lnSpc>
                          <a:spcPct val="100000"/>
                        </a:lnSpc>
                        <a:buNone/>
                      </a:pPr>
                      <a:r>
                        <a:rPr lang="ko-KR" altLang="en-US" sz="1000" kern="0" spc="-100">
                          <a:solidFill>
                            <a:schemeClr val="tx1"/>
                          </a:solidFill>
                          <a:effectLst/>
                          <a:latin typeface="+mn-ea"/>
                          <a:ea typeface="+mn-ea"/>
                        </a:rPr>
                        <a:t>정</a:t>
                      </a:r>
                    </a:p>
                    <a:p>
                      <a:pPr marL="0" marR="0" indent="0" algn="ctr" fontAlgn="base" latinLnBrk="0">
                        <a:lnSpc>
                          <a:spcPct val="100000"/>
                        </a:lnSpc>
                        <a:buNone/>
                      </a:pPr>
                      <a:r>
                        <a:rPr lang="ko-KR" altLang="en-US" sz="1000" kern="0" spc="-100">
                          <a:solidFill>
                            <a:schemeClr val="tx1"/>
                          </a:solidFill>
                          <a:effectLst/>
                          <a:latin typeface="+mn-ea"/>
                          <a:ea typeface="+mn-ea"/>
                        </a:rPr>
                        <a:t>효</a:t>
                      </a:r>
                    </a:p>
                    <a:p>
                      <a:pPr marL="0" marR="0" indent="0" algn="ctr" fontAlgn="base" latinLnBrk="0">
                        <a:lnSpc>
                          <a:spcPct val="100000"/>
                        </a:lnSpc>
                        <a:buNone/>
                      </a:pPr>
                      <a:r>
                        <a:rPr lang="ko-KR" altLang="en-US" sz="1000" kern="0" spc="-100">
                          <a:solidFill>
                            <a:schemeClr val="tx1"/>
                          </a:solidFill>
                          <a:effectLst/>
                          <a:latin typeface="+mn-ea"/>
                          <a:ea typeface="+mn-ea"/>
                        </a:rPr>
                        <a:t>과</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인용</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34620" marR="17780" indent="-134620" algn="l" fontAlgn="base" latinLnBrk="1">
                        <a:lnSpc>
                          <a:spcPct val="100000"/>
                        </a:lnSpc>
                        <a:buNone/>
                      </a:pPr>
                      <a:r>
                        <a:rPr lang="en-US" altLang="ko-KR" sz="1000" kern="0" spc="-50">
                          <a:solidFill>
                            <a:schemeClr val="tx1"/>
                          </a:solidFill>
                          <a:effectLst/>
                          <a:latin typeface="+mn-ea"/>
                          <a:ea typeface="+mn-ea"/>
                        </a:rPr>
                        <a:t>1. </a:t>
                      </a:r>
                      <a:r>
                        <a:rPr lang="ko-KR" altLang="en-US" sz="1000" kern="0" spc="-50">
                          <a:solidFill>
                            <a:schemeClr val="tx1"/>
                          </a:solidFill>
                          <a:effectLst/>
                          <a:latin typeface="+mn-ea"/>
                          <a:ea typeface="+mn-ea"/>
                        </a:rPr>
                        <a:t>특허결정된 경우 특허료 내면 특허권 발생</a:t>
                      </a:r>
                    </a:p>
                    <a:p>
                      <a:pPr marL="166370" marR="17780" indent="-166370" algn="l" fontAlgn="base" latinLnBrk="1">
                        <a:lnSpc>
                          <a:spcPct val="100000"/>
                        </a:lnSpc>
                        <a:buNone/>
                      </a:pPr>
                      <a:r>
                        <a:rPr lang="en-US" altLang="ko-KR" sz="1000" kern="0" spc="-50">
                          <a:solidFill>
                            <a:schemeClr val="tx1"/>
                          </a:solidFill>
                          <a:effectLst/>
                          <a:latin typeface="+mn-ea"/>
                          <a:ea typeface="+mn-ea"/>
                        </a:rPr>
                        <a:t>2. </a:t>
                      </a:r>
                      <a:r>
                        <a:rPr lang="ko-KR" altLang="en-US" sz="1000" kern="0" spc="-50">
                          <a:solidFill>
                            <a:schemeClr val="tx1"/>
                          </a:solidFill>
                          <a:effectLst/>
                          <a:latin typeface="+mn-ea"/>
                          <a:ea typeface="+mn-ea"/>
                        </a:rPr>
                        <a:t>연장등록결정된 경우 지식재산처장이 특허원부 등록</a:t>
                      </a:r>
                      <a:r>
                        <a:rPr lang="en-US" altLang="ko-KR" sz="1000" kern="0" spc="-50">
                          <a:solidFill>
                            <a:schemeClr val="tx1"/>
                          </a:solidFill>
                          <a:effectLst/>
                          <a:latin typeface="+mn-ea"/>
                          <a:ea typeface="+mn-ea"/>
                        </a:rPr>
                        <a:t>/</a:t>
                      </a:r>
                      <a:r>
                        <a:rPr lang="ko-KR" altLang="en-US" sz="1000" kern="0" spc="-50">
                          <a:solidFill>
                            <a:schemeClr val="tx1"/>
                          </a:solidFill>
                          <a:effectLst/>
                          <a:latin typeface="+mn-ea"/>
                          <a:ea typeface="+mn-ea"/>
                        </a:rPr>
                        <a:t>특허공보 게재</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2">
                  <a:txBody>
                    <a:bodyPr/>
                    <a:lstStyle/>
                    <a:p>
                      <a:pPr marL="110490" marR="17780" indent="-110490" algn="l" fontAlgn="base" latinLnBrk="1">
                        <a:lnSpc>
                          <a:spcPct val="100000"/>
                        </a:lnSpc>
                        <a:buNone/>
                      </a:pPr>
                      <a:r>
                        <a:rPr lang="en-US" altLang="ko-KR" sz="1000" kern="0" spc="-50" dirty="0">
                          <a:solidFill>
                            <a:schemeClr val="tx1"/>
                          </a:solidFill>
                          <a:effectLst/>
                          <a:latin typeface="+mn-ea"/>
                          <a:ea typeface="+mn-ea"/>
                        </a:rPr>
                        <a:t>1. </a:t>
                      </a:r>
                      <a:r>
                        <a:rPr lang="ko-KR" altLang="en-US" sz="1000" kern="0" spc="-50" dirty="0">
                          <a:solidFill>
                            <a:schemeClr val="tx1"/>
                          </a:solidFill>
                          <a:effectLst/>
                          <a:latin typeface="+mn-ea"/>
                          <a:ea typeface="+mn-ea"/>
                        </a:rPr>
                        <a:t>정정된 내용대로 </a:t>
                      </a:r>
                      <a:r>
                        <a:rPr lang="ko-KR" altLang="en-US" sz="1000" kern="0" spc="-50" dirty="0" err="1">
                          <a:solidFill>
                            <a:schemeClr val="tx1"/>
                          </a:solidFill>
                          <a:effectLst/>
                          <a:latin typeface="+mn-ea"/>
                          <a:ea typeface="+mn-ea"/>
                        </a:rPr>
                        <a:t>출원ㆍ공개ㆍ결정ㆍ심결ㆍ등록된</a:t>
                      </a:r>
                      <a:r>
                        <a:rPr lang="ko-KR" altLang="en-US" sz="1000" kern="0" spc="-50" dirty="0">
                          <a:solidFill>
                            <a:schemeClr val="tx1"/>
                          </a:solidFill>
                          <a:effectLst/>
                          <a:latin typeface="+mn-ea"/>
                          <a:ea typeface="+mn-ea"/>
                        </a:rPr>
                        <a:t> 것으로 간주</a:t>
                      </a:r>
                    </a:p>
                    <a:p>
                      <a:pPr marL="113030" marR="17780" indent="-113030" algn="l" fontAlgn="base" latinLnBrk="1">
                        <a:lnSpc>
                          <a:spcPct val="100000"/>
                        </a:lnSpc>
                        <a:buNone/>
                      </a:pPr>
                      <a:r>
                        <a:rPr lang="en-US" altLang="ko-KR" sz="1000" kern="0" spc="-50" dirty="0">
                          <a:solidFill>
                            <a:schemeClr val="tx1"/>
                          </a:solidFill>
                          <a:effectLst/>
                          <a:latin typeface="+mn-ea"/>
                          <a:ea typeface="+mn-ea"/>
                        </a:rPr>
                        <a:t>2. </a:t>
                      </a:r>
                      <a:r>
                        <a:rPr lang="ko-KR" altLang="en-US" sz="1000" kern="0" spc="-50" dirty="0">
                          <a:solidFill>
                            <a:schemeClr val="tx1"/>
                          </a:solidFill>
                          <a:effectLst/>
                          <a:latin typeface="+mn-ea"/>
                          <a:ea typeface="+mn-ea"/>
                        </a:rPr>
                        <a:t>심판원장이 지식재산처장에게 알리면</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지식재산처장이 특허공보에 게재</a:t>
                      </a:r>
                    </a:p>
                    <a:p>
                      <a:pPr marL="113030" marR="17780" indent="-113030" algn="l" fontAlgn="base" latinLnBrk="1">
                        <a:lnSpc>
                          <a:spcPct val="100000"/>
                        </a:lnSpc>
                        <a:buNone/>
                      </a:pPr>
                      <a:r>
                        <a:rPr lang="en-US" altLang="ko-KR" sz="1000" kern="0" spc="-50" dirty="0">
                          <a:solidFill>
                            <a:schemeClr val="tx1"/>
                          </a:solidFill>
                          <a:effectLst/>
                          <a:latin typeface="+mn-ea"/>
                          <a:ea typeface="+mn-ea"/>
                        </a:rPr>
                        <a:t>3. </a:t>
                      </a:r>
                      <a:r>
                        <a:rPr lang="ko-KR" altLang="en-US" sz="1000" kern="0" spc="-50" dirty="0">
                          <a:solidFill>
                            <a:schemeClr val="tx1"/>
                          </a:solidFill>
                          <a:effectLst/>
                          <a:latin typeface="+mn-ea"/>
                          <a:ea typeface="+mn-ea"/>
                        </a:rPr>
                        <a:t>침해죄는 정정 전 청구범위 기준 판단</a:t>
                      </a:r>
                    </a:p>
                    <a:p>
                      <a:pPr marL="113030" marR="17780" indent="-113030" algn="l" fontAlgn="base" latinLnBrk="1">
                        <a:lnSpc>
                          <a:spcPct val="100000"/>
                        </a:lnSpc>
                        <a:buNone/>
                      </a:pPr>
                      <a:r>
                        <a:rPr lang="en-US" altLang="ko-KR" sz="1000" kern="0" spc="-50" dirty="0">
                          <a:solidFill>
                            <a:schemeClr val="tx1"/>
                          </a:solidFill>
                          <a:effectLst/>
                          <a:latin typeface="+mn-ea"/>
                          <a:ea typeface="+mn-ea"/>
                        </a:rPr>
                        <a:t>4. </a:t>
                      </a:r>
                      <a:r>
                        <a:rPr lang="ko-KR" altLang="en-US" sz="1000" kern="0" spc="-50" dirty="0">
                          <a:solidFill>
                            <a:schemeClr val="tx1"/>
                          </a:solidFill>
                          <a:effectLst/>
                          <a:latin typeface="+mn-ea"/>
                          <a:ea typeface="+mn-ea"/>
                        </a:rPr>
                        <a:t>정정전후 과실 추정 불변</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110490" marR="17780" indent="-110490" algn="just" fontAlgn="base" latinLnBrk="1">
                        <a:lnSpc>
                          <a:spcPct val="120000"/>
                        </a:lnSpc>
                        <a:buNone/>
                      </a:pPr>
                      <a:r>
                        <a:rPr lang="en-US" altLang="ko-KR" sz="1000" kern="0" spc="-50" dirty="0">
                          <a:solidFill>
                            <a:srgbClr val="FF0000"/>
                          </a:solidFill>
                          <a:effectLst/>
                          <a:latin typeface="+mn-ea"/>
                          <a:ea typeface="+mn-ea"/>
                        </a:rPr>
                        <a:t>1. </a:t>
                      </a:r>
                      <a:r>
                        <a:rPr lang="ko-KR" altLang="en-US" sz="1000" kern="0" spc="-50" dirty="0">
                          <a:solidFill>
                            <a:srgbClr val="FF0000"/>
                          </a:solidFill>
                          <a:effectLst/>
                          <a:latin typeface="+mn-ea"/>
                          <a:ea typeface="+mn-ea"/>
                        </a:rPr>
                        <a:t>정정된 내용대로 </a:t>
                      </a:r>
                      <a:r>
                        <a:rPr lang="ko-KR" altLang="en-US" sz="1000" kern="0" spc="-50" dirty="0" err="1">
                          <a:solidFill>
                            <a:srgbClr val="FF0000"/>
                          </a:solidFill>
                          <a:effectLst/>
                          <a:latin typeface="+mn-ea"/>
                          <a:ea typeface="+mn-ea"/>
                        </a:rPr>
                        <a:t>출원ㆍ공개ㆍ결정ㆍ심결ㆍ등록된</a:t>
                      </a:r>
                      <a:r>
                        <a:rPr lang="ko-KR" altLang="en-US" sz="1000" kern="0" spc="-50" dirty="0">
                          <a:solidFill>
                            <a:srgbClr val="FF0000"/>
                          </a:solidFill>
                          <a:effectLst/>
                          <a:latin typeface="+mn-ea"/>
                          <a:ea typeface="+mn-ea"/>
                        </a:rPr>
                        <a:t> 것으로 간주</a:t>
                      </a:r>
                      <a:endParaRPr lang="ko-KR" altLang="en-US" sz="1000" kern="0" spc="-50" dirty="0">
                        <a:solidFill>
                          <a:srgbClr val="000000"/>
                        </a:solidFill>
                        <a:effectLst/>
                        <a:latin typeface="+mn-ea"/>
                        <a:ea typeface="+mn-ea"/>
                      </a:endParaRPr>
                    </a:p>
                    <a:p>
                      <a:pPr marL="113030" marR="17780" indent="-113030" algn="just" fontAlgn="base" latinLnBrk="1">
                        <a:lnSpc>
                          <a:spcPct val="120000"/>
                        </a:lnSpc>
                        <a:buNone/>
                      </a:pPr>
                      <a:r>
                        <a:rPr lang="en-US" altLang="ko-KR" sz="1000" kern="0" spc="-50" dirty="0">
                          <a:solidFill>
                            <a:srgbClr val="FF0000"/>
                          </a:solidFill>
                          <a:effectLst/>
                          <a:latin typeface="+mn-ea"/>
                          <a:ea typeface="+mn-ea"/>
                        </a:rPr>
                        <a:t>2. </a:t>
                      </a:r>
                      <a:r>
                        <a:rPr lang="ko-KR" altLang="en-US" sz="1000" kern="0" spc="-50" dirty="0">
                          <a:solidFill>
                            <a:srgbClr val="FF0000"/>
                          </a:solidFill>
                          <a:effectLst/>
                          <a:latin typeface="+mn-ea"/>
                          <a:ea typeface="+mn-ea"/>
                        </a:rPr>
                        <a:t>심판원장이 지식재산처장에게 알리면</a:t>
                      </a:r>
                      <a:r>
                        <a:rPr lang="en-US" altLang="ko-KR" sz="1000" kern="0" spc="-50" dirty="0">
                          <a:solidFill>
                            <a:srgbClr val="FF0000"/>
                          </a:solidFill>
                          <a:effectLst/>
                          <a:latin typeface="+mn-ea"/>
                          <a:ea typeface="+mn-ea"/>
                        </a:rPr>
                        <a:t>, </a:t>
                      </a:r>
                      <a:r>
                        <a:rPr lang="ko-KR" altLang="en-US" sz="1000" kern="0" spc="-50" dirty="0">
                          <a:solidFill>
                            <a:srgbClr val="FF0000"/>
                          </a:solidFill>
                          <a:effectLst/>
                          <a:latin typeface="+mn-ea"/>
                          <a:ea typeface="+mn-ea"/>
                        </a:rPr>
                        <a:t>지식재산처장이 특허공보에 게재</a:t>
                      </a:r>
                      <a:endParaRPr lang="ko-KR" altLang="en-US" sz="1000" kern="0" spc="-50" dirty="0">
                        <a:solidFill>
                          <a:srgbClr val="000000"/>
                        </a:solidFill>
                        <a:effectLst/>
                        <a:latin typeface="+mn-ea"/>
                        <a:ea typeface="+mn-ea"/>
                      </a:endParaRPr>
                    </a:p>
                    <a:p>
                      <a:pPr marL="113030" marR="17780" indent="-113030" algn="just" fontAlgn="base" latinLnBrk="1">
                        <a:lnSpc>
                          <a:spcPct val="120000"/>
                        </a:lnSpc>
                        <a:buNone/>
                      </a:pPr>
                      <a:r>
                        <a:rPr lang="en-US" altLang="ko-KR" sz="1000" kern="0" spc="-50" dirty="0">
                          <a:solidFill>
                            <a:srgbClr val="FF0000"/>
                          </a:solidFill>
                          <a:effectLst/>
                          <a:latin typeface="+mn-ea"/>
                          <a:ea typeface="+mn-ea"/>
                        </a:rPr>
                        <a:t>3. </a:t>
                      </a:r>
                      <a:r>
                        <a:rPr lang="ko-KR" altLang="en-US" sz="1000" kern="0" spc="-50" dirty="0">
                          <a:solidFill>
                            <a:srgbClr val="FF0000"/>
                          </a:solidFill>
                          <a:effectLst/>
                          <a:latin typeface="+mn-ea"/>
                          <a:ea typeface="+mn-ea"/>
                        </a:rPr>
                        <a:t>침해죄는 정정 전 청구범위 기준 판단</a:t>
                      </a:r>
                      <a:endParaRPr lang="ko-KR" altLang="en-US" sz="1000" kern="0" spc="-50" dirty="0">
                        <a:solidFill>
                          <a:srgbClr val="000000"/>
                        </a:solidFill>
                        <a:effectLst/>
                        <a:latin typeface="+mn-ea"/>
                        <a:ea typeface="+mn-ea"/>
                      </a:endParaRPr>
                    </a:p>
                    <a:p>
                      <a:pPr marL="113030" marR="17780" indent="-113030" algn="just" fontAlgn="base" latinLnBrk="1">
                        <a:lnSpc>
                          <a:spcPct val="120000"/>
                        </a:lnSpc>
                        <a:buNone/>
                      </a:pPr>
                      <a:r>
                        <a:rPr lang="en-US" altLang="ko-KR" sz="1000" kern="0" spc="-50" dirty="0">
                          <a:solidFill>
                            <a:srgbClr val="FF0000"/>
                          </a:solidFill>
                          <a:effectLst/>
                          <a:latin typeface="+mn-ea"/>
                          <a:ea typeface="+mn-ea"/>
                        </a:rPr>
                        <a:t>4. </a:t>
                      </a:r>
                      <a:r>
                        <a:rPr lang="ko-KR" altLang="en-US" sz="1000" kern="0" spc="-50" dirty="0">
                          <a:solidFill>
                            <a:srgbClr val="FF0000"/>
                          </a:solidFill>
                          <a:effectLst/>
                          <a:latin typeface="+mn-ea"/>
                          <a:ea typeface="+mn-ea"/>
                        </a:rPr>
                        <a:t>정정전후 과실 추정 불변</a:t>
                      </a:r>
                      <a:endParaRPr lang="ko-KR" altLang="en-US" sz="1000" kern="0" spc="-50" dirty="0">
                        <a:solidFill>
                          <a:srgbClr val="000000"/>
                        </a:solidFill>
                        <a:effectLst/>
                        <a:latin typeface="+mn-ea"/>
                        <a:ea typeface="+mn-ea"/>
                      </a:endParaRPr>
                    </a:p>
                  </a:txBody>
                  <a:tcPr marL="10639" marR="10639" marT="10639" marB="10639" anchor="ctr">
                    <a:lnL w="3175" cap="flat" cmpd="sng" algn="ctr">
                      <a:solidFill>
                        <a:srgbClr val="000000"/>
                      </a:solidFill>
                      <a:prstDash val="solid"/>
                      <a:round/>
                      <a:headEnd type="none" w="med" len="med"/>
                      <a:tailEnd type="none" w="med" len="med"/>
                    </a:lnL>
                    <a:lnR w="3175" cap="flat" cmpd="sng" algn="ctr">
                      <a:solidFill>
                        <a:srgbClr val="000000"/>
                      </a:solidFill>
                      <a:prstDash val="solid"/>
                      <a:round/>
                      <a:headEnd type="none" w="med" len="med"/>
                      <a:tailEnd type="none" w="med" len="med"/>
                    </a:lnR>
                    <a:lnT w="3175" cap="flat" cmpd="sng" algn="ctr">
                      <a:solidFill>
                        <a:srgbClr val="000000"/>
                      </a:solidFill>
                      <a:prstDash val="solid"/>
                      <a:round/>
                      <a:headEnd type="none" w="med" len="med"/>
                      <a:tailEnd type="none" w="med" len="med"/>
                    </a:lnT>
                    <a:lnB w="3175" cap="flat" cmpd="sng" algn="ctr">
                      <a:solidFill>
                        <a:srgbClr val="000000"/>
                      </a:solidFill>
                      <a:prstDash val="solid"/>
                      <a:round/>
                      <a:headEnd type="none" w="med" len="med"/>
                      <a:tailEnd type="none" w="med" len="med"/>
                    </a:lnB>
                    <a:noFill/>
                  </a:tcPr>
                </a:tc>
                <a:tc rowSpan="2">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보호범위의 공적 확인</a:t>
                      </a:r>
                      <a:r>
                        <a:rPr lang="en-US" altLang="ko-KR" sz="1000" kern="0" spc="-50">
                          <a:solidFill>
                            <a:schemeClr val="tx1"/>
                          </a:solidFill>
                          <a:effectLst/>
                          <a:latin typeface="+mn-ea"/>
                          <a:ea typeface="+mn-ea"/>
                        </a:rPr>
                        <a:t>/</a:t>
                      </a:r>
                      <a:r>
                        <a:rPr lang="ko-KR" altLang="en-US" sz="1000" kern="0" spc="-50">
                          <a:solidFill>
                            <a:schemeClr val="tx1"/>
                          </a:solidFill>
                          <a:effectLst/>
                          <a:latin typeface="+mn-ea"/>
                          <a:ea typeface="+mn-ea"/>
                        </a:rPr>
                        <a:t>단</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법원의 기속력 불인정</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781042748"/>
                  </a:ext>
                </a:extLst>
              </a:tr>
              <a:tr h="66830">
                <a:tc v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기각</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거절결정 확정</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2">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정정의 불인정</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marL="17780" marR="17780" indent="0" algn="just" fontAlgn="base" latinLnBrk="1">
                        <a:lnSpc>
                          <a:spcPct val="120000"/>
                        </a:lnSpc>
                        <a:buNone/>
                      </a:pPr>
                      <a:r>
                        <a:rPr lang="ko-KR" altLang="en-US" sz="1000" kern="0" spc="-50" dirty="0">
                          <a:solidFill>
                            <a:srgbClr val="FF0000"/>
                          </a:solidFill>
                          <a:effectLst/>
                          <a:latin typeface="+mn-ea"/>
                          <a:ea typeface="+mn-ea"/>
                        </a:rPr>
                        <a:t>정정의 불인정</a:t>
                      </a:r>
                      <a:endParaRPr lang="ko-KR" altLang="en-US" sz="1000" kern="0" spc="-50" dirty="0">
                        <a:solidFill>
                          <a:srgbClr val="000000"/>
                        </a:solidFill>
                        <a:effectLst/>
                        <a:latin typeface="+mn-ea"/>
                        <a:ea typeface="+mn-ea"/>
                      </a:endParaRPr>
                    </a:p>
                  </a:txBody>
                  <a:tcPr marL="10639" marR="10639" marT="10639" marB="10639" anchor="ctr">
                    <a:lnL w="3175" cap="flat" cmpd="sng" algn="ctr">
                      <a:solidFill>
                        <a:srgbClr val="000000"/>
                      </a:solidFill>
                      <a:prstDash val="solid"/>
                      <a:round/>
                      <a:headEnd type="none" w="med" len="med"/>
                      <a:tailEnd type="none" w="med" len="med"/>
                    </a:lnL>
                    <a:lnR w="3175" cap="flat" cmpd="sng" algn="ctr">
                      <a:solidFill>
                        <a:srgbClr val="000000"/>
                      </a:solidFill>
                      <a:prstDash val="solid"/>
                      <a:round/>
                      <a:headEnd type="none" w="med" len="med"/>
                      <a:tailEnd type="none" w="med" len="med"/>
                    </a:lnR>
                    <a:lnT w="3175" cap="flat" cmpd="sng" algn="ctr">
                      <a:solidFill>
                        <a:srgbClr val="000000"/>
                      </a:solidFill>
                      <a:prstDash val="solid"/>
                      <a:round/>
                      <a:headEnd type="none" w="med" len="med"/>
                      <a:tailEnd type="none" w="med" len="med"/>
                    </a:lnT>
                    <a:lnB w="3175" cap="flat" cmpd="sng" algn="ctr">
                      <a:solidFill>
                        <a:srgbClr val="000000"/>
                      </a:solidFill>
                      <a:prstDash val="solid"/>
                      <a:round/>
                      <a:headEnd type="none" w="med" len="med"/>
                      <a:tailEnd type="none" w="med" len="med"/>
                    </a:lnB>
                    <a:noFill/>
                  </a:tcPr>
                </a:tc>
                <a:tc vMerge="1">
                  <a:txBody>
                    <a:bodyPr/>
                    <a:lstStyle/>
                    <a:p>
                      <a:pPr latinLnBrk="1"/>
                      <a:endParaRPr lang="ko-KR" altLang="en-US"/>
                    </a:p>
                  </a:txBody>
                  <a:tcPr/>
                </a:tc>
                <a:extLst>
                  <a:ext uri="{0D108BD9-81ED-4DB2-BD59-A6C34878D82A}">
                    <a16:rowId xmlns:a16="http://schemas.microsoft.com/office/drawing/2014/main" val="3566636257"/>
                  </a:ext>
                </a:extLst>
              </a:tr>
              <a:tr h="66830">
                <a:tc gridSpan="2">
                  <a:txBody>
                    <a:bodyPr/>
                    <a:lstStyle/>
                    <a:p>
                      <a:pPr marL="0" marR="0" indent="0" algn="ctr" fontAlgn="base" latinLnBrk="0">
                        <a:lnSpc>
                          <a:spcPct val="100000"/>
                        </a:lnSpc>
                        <a:buNone/>
                      </a:pPr>
                      <a:r>
                        <a:rPr lang="ko-KR" altLang="en-US" sz="1000" kern="0" spc="-100">
                          <a:solidFill>
                            <a:schemeClr val="tx1"/>
                          </a:solidFill>
                          <a:effectLst/>
                          <a:latin typeface="+mn-ea"/>
                          <a:ea typeface="+mn-ea"/>
                        </a:rPr>
                        <a:t>심판비용</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gridSpan="3">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청구인</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패심자 </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929190656"/>
                  </a:ext>
                </a:extLst>
              </a:tr>
              <a:tr h="66830">
                <a:tc gridSpan="2">
                  <a:txBody>
                    <a:bodyPr/>
                    <a:lstStyle/>
                    <a:p>
                      <a:pPr marL="0" marR="0" indent="0" algn="ctr" fontAlgn="base" latinLnBrk="0">
                        <a:lnSpc>
                          <a:spcPct val="100000"/>
                        </a:lnSpc>
                        <a:buNone/>
                      </a:pPr>
                      <a:r>
                        <a:rPr lang="ko-KR" altLang="en-US" sz="1000" kern="0" spc="-100">
                          <a:solidFill>
                            <a:schemeClr val="tx1"/>
                          </a:solidFill>
                          <a:effectLst/>
                          <a:latin typeface="+mn-ea"/>
                          <a:ea typeface="+mn-ea"/>
                        </a:rPr>
                        <a:t>일사부재리</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gridSpan="3">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부적용</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적용</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적극적 권리범위확인심판과 소극적 권리범위확인심판</a:t>
                      </a:r>
                      <a:r>
                        <a:rPr lang="en-US" altLang="ko-KR" sz="1000" kern="0" spc="-50" dirty="0">
                          <a:solidFill>
                            <a:schemeClr val="tx1"/>
                          </a:solidFill>
                          <a:effectLst/>
                          <a:latin typeface="+mn-ea"/>
                          <a:ea typeface="+mn-ea"/>
                        </a:rPr>
                        <a:t>)</a:t>
                      </a:r>
                      <a:endParaRPr lang="ko-KR" altLang="en-US" sz="1000" kern="0" spc="-50" dirty="0">
                        <a:solidFill>
                          <a:schemeClr val="tx1"/>
                        </a:solidFill>
                        <a:effectLst/>
                        <a:latin typeface="+mn-ea"/>
                        <a:ea typeface="+mn-ea"/>
                      </a:endParaRP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179635327"/>
                  </a:ext>
                </a:extLst>
              </a:tr>
              <a:tr h="66830">
                <a:tc gridSpan="2">
                  <a:txBody>
                    <a:bodyPr/>
                    <a:lstStyle/>
                    <a:p>
                      <a:pPr marL="0" marR="0" indent="0" algn="ctr" fontAlgn="base" latinLnBrk="0">
                        <a:lnSpc>
                          <a:spcPct val="100000"/>
                        </a:lnSpc>
                        <a:buNone/>
                      </a:pPr>
                      <a:r>
                        <a:rPr lang="ko-KR" altLang="en-US" sz="1000" kern="0" spc="-100">
                          <a:solidFill>
                            <a:schemeClr val="tx1"/>
                          </a:solidFill>
                          <a:effectLst/>
                          <a:latin typeface="+mn-ea"/>
                          <a:ea typeface="+mn-ea"/>
                        </a:rPr>
                        <a:t>참가 여부</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gridSpan="3">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불허</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단</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정보제공 가능</a:t>
                      </a:r>
                      <a:r>
                        <a:rPr lang="en-US" altLang="ko-KR" sz="1000" kern="0" spc="-50" dirty="0">
                          <a:solidFill>
                            <a:schemeClr val="tx1"/>
                          </a:solidFill>
                          <a:effectLst/>
                          <a:latin typeface="+mn-ea"/>
                          <a:ea typeface="+mn-ea"/>
                        </a:rPr>
                        <a:t>)</a:t>
                      </a:r>
                      <a:endParaRPr lang="ko-KR" altLang="en-US" sz="1000" kern="0" spc="-50" dirty="0">
                        <a:solidFill>
                          <a:schemeClr val="tx1"/>
                        </a:solidFill>
                        <a:effectLst/>
                        <a:latin typeface="+mn-ea"/>
                        <a:ea typeface="+mn-ea"/>
                      </a:endParaRP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허용</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971761950"/>
                  </a:ext>
                </a:extLst>
              </a:tr>
              <a:tr h="66830">
                <a:tc gridSpan="2">
                  <a:txBody>
                    <a:bodyPr/>
                    <a:lstStyle/>
                    <a:p>
                      <a:pPr marL="0" marR="0" indent="0" algn="ctr" fontAlgn="base" latinLnBrk="0">
                        <a:lnSpc>
                          <a:spcPct val="100000"/>
                        </a:lnSpc>
                        <a:buNone/>
                      </a:pPr>
                      <a:r>
                        <a:rPr lang="ko-KR" altLang="en-US" sz="1000" kern="0" spc="-100">
                          <a:solidFill>
                            <a:schemeClr val="tx1"/>
                          </a:solidFill>
                          <a:effectLst/>
                          <a:latin typeface="+mn-ea"/>
                          <a:ea typeface="+mn-ea"/>
                        </a:rPr>
                        <a:t>비 고</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gridSpan="2">
                  <a:txBody>
                    <a:bodyPr/>
                    <a:lstStyle/>
                    <a:p>
                      <a:pPr algn="l">
                        <a:lnSpc>
                          <a:spcPct val="100000"/>
                        </a:lnSpc>
                        <a:buNone/>
                      </a:pPr>
                      <a:endParaRPr lang="ko-KR" altLang="en-US" sz="1000" dirty="0">
                        <a:solidFill>
                          <a:schemeClr val="tx1"/>
                        </a:solidFill>
                        <a:effectLst/>
                        <a:latin typeface="+mn-ea"/>
                        <a:ea typeface="+mn-ea"/>
                      </a:endParaRP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a:buNone/>
                      </a:pPr>
                      <a:endParaRPr lang="ko-KR" altLang="en-US" sz="1000">
                        <a:effectLst/>
                        <a:latin typeface="+mn-ea"/>
                        <a:ea typeface="+mn-ea"/>
                      </a:endParaRPr>
                    </a:p>
                  </a:txBody>
                  <a:tcPr marL="10639" marR="10639" marT="10639" marB="10639" anchor="ctr">
                    <a:lnL w="3175" cap="flat" cmpd="sng" algn="ctr">
                      <a:solidFill>
                        <a:srgbClr val="000000"/>
                      </a:solidFill>
                      <a:prstDash val="solid"/>
                      <a:round/>
                      <a:headEnd type="none" w="med" len="med"/>
                      <a:tailEnd type="none" w="med" len="med"/>
                    </a:lnL>
                    <a:lnR w="3175" cap="flat" cmpd="sng" algn="ctr">
                      <a:solidFill>
                        <a:srgbClr val="000000"/>
                      </a:solidFill>
                      <a:prstDash val="solid"/>
                      <a:round/>
                      <a:headEnd type="none" w="med" len="med"/>
                      <a:tailEnd type="none" w="med" len="med"/>
                    </a:lnR>
                    <a:lnT w="3175" cap="flat" cmpd="sng" algn="ctr">
                      <a:solidFill>
                        <a:srgbClr val="000000"/>
                      </a:solidFill>
                      <a:prstDash val="solid"/>
                      <a:round/>
                      <a:headEnd type="none" w="med" len="med"/>
                      <a:tailEnd type="none" w="med" len="med"/>
                    </a:lnT>
                    <a:lnB w="21590" cap="flat" cmpd="sng" algn="ctr">
                      <a:solidFill>
                        <a:srgbClr val="358791"/>
                      </a:solidFill>
                      <a:prstDash val="solid"/>
                      <a:round/>
                      <a:headEnd type="none" w="med" len="med"/>
                      <a:tailEnd type="none" w="med" len="med"/>
                    </a:lnB>
                    <a:noFill/>
                  </a:tcPr>
                </a:tc>
                <a:tc>
                  <a:txBody>
                    <a:bodyPr/>
                    <a:lstStyle/>
                    <a:p>
                      <a:pPr marL="104140" marR="17780" indent="-104140" algn="l" fontAlgn="base" latinLnBrk="1">
                        <a:lnSpc>
                          <a:spcPct val="100000"/>
                        </a:lnSpc>
                        <a:buNone/>
                      </a:pPr>
                      <a:r>
                        <a:rPr lang="ko-KR" altLang="en-US" sz="1000" kern="0" spc="-100" dirty="0">
                          <a:solidFill>
                            <a:schemeClr val="tx1"/>
                          </a:solidFill>
                          <a:effectLst/>
                          <a:latin typeface="+mn-ea"/>
                          <a:ea typeface="+mn-ea"/>
                        </a:rPr>
                        <a:t>정정심판과 특허취소신청</a:t>
                      </a:r>
                      <a:r>
                        <a:rPr lang="en-US" altLang="ko-KR" sz="1000" kern="0" spc="-100" dirty="0">
                          <a:solidFill>
                            <a:schemeClr val="tx1"/>
                          </a:solidFill>
                          <a:effectLst/>
                          <a:latin typeface="+mn-ea"/>
                          <a:ea typeface="+mn-ea"/>
                        </a:rPr>
                        <a:t>/</a:t>
                      </a:r>
                      <a:r>
                        <a:rPr lang="ko-KR" altLang="en-US" sz="1000" kern="0" spc="-100" dirty="0">
                          <a:solidFill>
                            <a:schemeClr val="tx1"/>
                          </a:solidFill>
                          <a:effectLst/>
                          <a:latin typeface="+mn-ea"/>
                          <a:ea typeface="+mn-ea"/>
                        </a:rPr>
                        <a:t>특허무효심판의 관계</a:t>
                      </a:r>
                      <a:endParaRPr lang="ko-KR" altLang="en-US" sz="1000" kern="0" spc="-50" dirty="0">
                        <a:solidFill>
                          <a:schemeClr val="tx1"/>
                        </a:solidFill>
                        <a:effectLst/>
                        <a:latin typeface="+mn-ea"/>
                        <a:ea typeface="+mn-ea"/>
                      </a:endParaRP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권리 사이의 권리범위확인심판</a:t>
                      </a:r>
                    </a:p>
                  </a:txBody>
                  <a:tcPr marL="10639" marR="10639" marT="10639" marB="10639"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956447676"/>
                  </a:ext>
                </a:extLst>
              </a:tr>
            </a:tbl>
          </a:graphicData>
        </a:graphic>
      </p:graphicFrame>
    </p:spTree>
    <p:extLst>
      <p:ext uri="{BB962C8B-B14F-4D97-AF65-F5344CB8AC3E}">
        <p14:creationId xmlns:p14="http://schemas.microsoft.com/office/powerpoint/2010/main" val="327576790"/>
      </p:ext>
    </p:extLst>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501A9C-9155-00E8-B4F3-C6DD639C9EC9}"/>
            </a:ext>
          </a:extLst>
        </p:cNvPr>
        <p:cNvGrpSpPr/>
        <p:nvPr/>
      </p:nvGrpSpPr>
      <p:grpSpPr>
        <a:xfrm>
          <a:off x="0" y="0"/>
          <a:ext cx="0" cy="0"/>
          <a:chOff x="0" y="0"/>
          <a:chExt cx="0" cy="0"/>
        </a:xfrm>
      </p:grpSpPr>
      <p:sp>
        <p:nvSpPr>
          <p:cNvPr id="3" name="제목 2">
            <a:extLst>
              <a:ext uri="{FF2B5EF4-FFF2-40B4-BE49-F238E27FC236}">
                <a16:creationId xmlns:a16="http://schemas.microsoft.com/office/drawing/2014/main" id="{00BD117E-26FB-E731-0BF1-63AB0599C47C}"/>
              </a:ext>
            </a:extLst>
          </p:cNvPr>
          <p:cNvSpPr>
            <a:spLocks noGrp="1"/>
          </p:cNvSpPr>
          <p:nvPr>
            <p:ph type="title"/>
          </p:nvPr>
        </p:nvSpPr>
        <p:spPr/>
        <p:txBody>
          <a:bodyPr/>
          <a:lstStyle/>
          <a:p>
            <a:r>
              <a:rPr lang="ko-KR" altLang="en-US" dirty="0" err="1"/>
              <a:t>참고노트</a:t>
            </a:r>
            <a:endParaRPr lang="ko-KR" altLang="en-US" dirty="0"/>
          </a:p>
        </p:txBody>
      </p:sp>
      <p:sp>
        <p:nvSpPr>
          <p:cNvPr id="4" name="텍스트 개체 틀 3">
            <a:extLst>
              <a:ext uri="{FF2B5EF4-FFF2-40B4-BE49-F238E27FC236}">
                <a16:creationId xmlns:a16="http://schemas.microsoft.com/office/drawing/2014/main" id="{4B78E895-65AD-67E7-5F60-AA1FCBB0F600}"/>
              </a:ext>
            </a:extLst>
          </p:cNvPr>
          <p:cNvSpPr>
            <a:spLocks noGrp="1"/>
          </p:cNvSpPr>
          <p:nvPr>
            <p:ph type="body" sz="quarter" idx="13"/>
          </p:nvPr>
        </p:nvSpPr>
        <p:spPr/>
        <p:txBody>
          <a:bodyPr>
            <a:normAutofit/>
          </a:bodyPr>
          <a:lstStyle/>
          <a:p>
            <a:pPr fontAlgn="base" latinLnBrk="0"/>
            <a:r>
              <a:rPr lang="ko-KR" altLang="en-US" dirty="0" err="1"/>
              <a:t>심판각론</a:t>
            </a:r>
            <a:r>
              <a:rPr lang="ko-KR" altLang="en-US" dirty="0"/>
              <a:t> 정리</a:t>
            </a:r>
          </a:p>
        </p:txBody>
      </p:sp>
      <p:sp>
        <p:nvSpPr>
          <p:cNvPr id="2" name="Rectangle 1">
            <a:extLst>
              <a:ext uri="{FF2B5EF4-FFF2-40B4-BE49-F238E27FC236}">
                <a16:creationId xmlns:a16="http://schemas.microsoft.com/office/drawing/2014/main" id="{FCEA3429-F0FD-9F85-97E1-19B9880B83B0}"/>
              </a:ext>
            </a:extLst>
          </p:cNvPr>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5" name="슬라이드 번호 개체 틀 4">
            <a:extLst>
              <a:ext uri="{FF2B5EF4-FFF2-40B4-BE49-F238E27FC236}">
                <a16:creationId xmlns:a16="http://schemas.microsoft.com/office/drawing/2014/main" id="{B8ECC019-071E-46A9-8F94-38254274CE52}"/>
              </a:ext>
            </a:extLst>
          </p:cNvPr>
          <p:cNvSpPr>
            <a:spLocks noGrp="1"/>
          </p:cNvSpPr>
          <p:nvPr>
            <p:ph type="sldNum" sz="quarter" idx="4294967295"/>
          </p:nvPr>
        </p:nvSpPr>
        <p:spPr>
          <a:xfrm>
            <a:off x="11125200" y="0"/>
            <a:ext cx="1066800" cy="711200"/>
          </a:xfrm>
        </p:spPr>
        <p:txBody>
          <a:bodyPr/>
          <a:lstStyle/>
          <a:p>
            <a:r>
              <a:rPr lang="en-US" altLang="ko-KR"/>
              <a:t>497</a:t>
            </a:r>
            <a:endParaRPr lang="ko-KR" altLang="en-US" dirty="0"/>
          </a:p>
        </p:txBody>
      </p:sp>
      <p:graphicFrame>
        <p:nvGraphicFramePr>
          <p:cNvPr id="6" name="표 5">
            <a:extLst>
              <a:ext uri="{FF2B5EF4-FFF2-40B4-BE49-F238E27FC236}">
                <a16:creationId xmlns:a16="http://schemas.microsoft.com/office/drawing/2014/main" id="{66977E43-7C48-18E2-9B6B-8A6B3C251214}"/>
              </a:ext>
            </a:extLst>
          </p:cNvPr>
          <p:cNvGraphicFramePr>
            <a:graphicFrameLocks noGrp="1"/>
          </p:cNvGraphicFramePr>
          <p:nvPr/>
        </p:nvGraphicFramePr>
        <p:xfrm>
          <a:off x="331694" y="1093632"/>
          <a:ext cx="11528612" cy="5502948"/>
        </p:xfrm>
        <a:graphic>
          <a:graphicData uri="http://schemas.openxmlformats.org/drawingml/2006/table">
            <a:tbl>
              <a:tblPr/>
              <a:tblGrid>
                <a:gridCol w="302682">
                  <a:extLst>
                    <a:ext uri="{9D8B030D-6E8A-4147-A177-3AD203B41FA5}">
                      <a16:colId xmlns:a16="http://schemas.microsoft.com/office/drawing/2014/main" val="2244661496"/>
                    </a:ext>
                  </a:extLst>
                </a:gridCol>
                <a:gridCol w="531036">
                  <a:extLst>
                    <a:ext uri="{9D8B030D-6E8A-4147-A177-3AD203B41FA5}">
                      <a16:colId xmlns:a16="http://schemas.microsoft.com/office/drawing/2014/main" val="1791577908"/>
                    </a:ext>
                  </a:extLst>
                </a:gridCol>
                <a:gridCol w="3323704">
                  <a:extLst>
                    <a:ext uri="{9D8B030D-6E8A-4147-A177-3AD203B41FA5}">
                      <a16:colId xmlns:a16="http://schemas.microsoft.com/office/drawing/2014/main" val="107403720"/>
                    </a:ext>
                  </a:extLst>
                </a:gridCol>
                <a:gridCol w="2631598">
                  <a:extLst>
                    <a:ext uri="{9D8B030D-6E8A-4147-A177-3AD203B41FA5}">
                      <a16:colId xmlns:a16="http://schemas.microsoft.com/office/drawing/2014/main" val="4155811053"/>
                    </a:ext>
                  </a:extLst>
                </a:gridCol>
                <a:gridCol w="1855213">
                  <a:extLst>
                    <a:ext uri="{9D8B030D-6E8A-4147-A177-3AD203B41FA5}">
                      <a16:colId xmlns:a16="http://schemas.microsoft.com/office/drawing/2014/main" val="1240283449"/>
                    </a:ext>
                  </a:extLst>
                </a:gridCol>
                <a:gridCol w="2884379">
                  <a:extLst>
                    <a:ext uri="{9D8B030D-6E8A-4147-A177-3AD203B41FA5}">
                      <a16:colId xmlns:a16="http://schemas.microsoft.com/office/drawing/2014/main" val="2971000449"/>
                    </a:ext>
                  </a:extLst>
                </a:gridCol>
              </a:tblGrid>
              <a:tr h="123002">
                <a:tc gridSpan="2">
                  <a:txBody>
                    <a:bodyPr/>
                    <a:lstStyle/>
                    <a:p>
                      <a:pPr marL="0" marR="0" indent="0" algn="ctr" fontAlgn="base" latinLnBrk="0">
                        <a:lnSpc>
                          <a:spcPct val="100000"/>
                        </a:lnSpc>
                        <a:buNone/>
                      </a:pPr>
                      <a:r>
                        <a:rPr lang="ko-KR" altLang="en-US" sz="1000" kern="0" spc="-100" dirty="0">
                          <a:solidFill>
                            <a:schemeClr val="tx1"/>
                          </a:solidFill>
                          <a:effectLst/>
                          <a:latin typeface="+mn-ea"/>
                          <a:ea typeface="+mn-ea"/>
                        </a:rPr>
                        <a:t>제 도</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dirty="0">
                          <a:solidFill>
                            <a:schemeClr val="tx1"/>
                          </a:solidFill>
                          <a:effectLst/>
                          <a:latin typeface="+mn-ea"/>
                          <a:ea typeface="+mn-ea"/>
                        </a:rPr>
                        <a:t>특허무효심판</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buNone/>
                      </a:pPr>
                      <a:r>
                        <a:rPr lang="ko-KR" altLang="en-US" sz="1000" kern="0" spc="-100" dirty="0">
                          <a:solidFill>
                            <a:schemeClr val="tx1"/>
                          </a:solidFill>
                          <a:effectLst/>
                          <a:latin typeface="+mn-ea"/>
                          <a:ea typeface="+mn-ea"/>
                        </a:rPr>
                        <a:t>연장등록무효심판</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정정무효심판</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indent="0" algn="ctr" fontAlgn="base" latinLnBrk="0">
                        <a:lnSpc>
                          <a:spcPct val="100000"/>
                        </a:lnSpc>
                        <a:buNone/>
                      </a:pPr>
                      <a:r>
                        <a:rPr lang="ko-KR" altLang="en-US" sz="1000" kern="0" spc="-100" dirty="0" err="1">
                          <a:solidFill>
                            <a:schemeClr val="tx1"/>
                          </a:solidFill>
                          <a:effectLst/>
                          <a:latin typeface="+mn-ea"/>
                          <a:ea typeface="+mn-ea"/>
                        </a:rPr>
                        <a:t>통상실시권허락심판</a:t>
                      </a:r>
                      <a:endParaRPr lang="ko-KR" altLang="en-US" sz="1000" kern="0" spc="-100" dirty="0">
                        <a:solidFill>
                          <a:schemeClr val="tx1"/>
                        </a:solidFill>
                        <a:effectLst/>
                        <a:latin typeface="+mn-ea"/>
                        <a:ea typeface="+mn-ea"/>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962558414"/>
                  </a:ext>
                </a:extLst>
              </a:tr>
              <a:tr h="230753">
                <a:tc rowSpan="4">
                  <a:txBody>
                    <a:bodyPr/>
                    <a:lstStyle/>
                    <a:p>
                      <a:pPr marL="0" marR="0" indent="0" algn="ctr" fontAlgn="base" latinLnBrk="0">
                        <a:lnSpc>
                          <a:spcPct val="100000"/>
                        </a:lnSpc>
                        <a:buNone/>
                      </a:pPr>
                      <a:r>
                        <a:rPr lang="ko-KR" altLang="en-US" sz="1000" kern="0" spc="-100" dirty="0">
                          <a:solidFill>
                            <a:schemeClr val="tx1"/>
                          </a:solidFill>
                          <a:effectLst/>
                          <a:latin typeface="+mn-ea"/>
                          <a:ea typeface="+mn-ea"/>
                        </a:rPr>
                        <a:t>요</a:t>
                      </a:r>
                    </a:p>
                    <a:p>
                      <a:pPr marL="0" marR="0" indent="0" algn="ctr" fontAlgn="base" latinLnBrk="0">
                        <a:lnSpc>
                          <a:spcPct val="100000"/>
                        </a:lnSpc>
                        <a:buNone/>
                      </a:pPr>
                      <a:r>
                        <a:rPr lang="ko-KR" altLang="en-US" sz="1000" kern="0" spc="-100" dirty="0">
                          <a:solidFill>
                            <a:schemeClr val="tx1"/>
                          </a:solidFill>
                          <a:effectLst/>
                          <a:latin typeface="+mn-ea"/>
                          <a:ea typeface="+mn-ea"/>
                        </a:rPr>
                        <a:t>건</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청구인</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120" dirty="0">
                          <a:solidFill>
                            <a:schemeClr val="tx1"/>
                          </a:solidFill>
                          <a:effectLst/>
                          <a:latin typeface="+mn-ea"/>
                          <a:ea typeface="+mn-ea"/>
                        </a:rPr>
                        <a:t>이해관계인</a:t>
                      </a:r>
                      <a:r>
                        <a:rPr lang="en-US" altLang="ko-KR" sz="1000" kern="0" spc="-120" dirty="0">
                          <a:solidFill>
                            <a:schemeClr val="tx1"/>
                          </a:solidFill>
                          <a:effectLst/>
                          <a:latin typeface="+mn-ea"/>
                          <a:ea typeface="+mn-ea"/>
                        </a:rPr>
                        <a:t>(</a:t>
                      </a:r>
                      <a:r>
                        <a:rPr lang="ko-KR" altLang="en-US" sz="1000" kern="0" spc="-120" dirty="0">
                          <a:solidFill>
                            <a:schemeClr val="tx1"/>
                          </a:solidFill>
                          <a:effectLst/>
                          <a:latin typeface="+mn-ea"/>
                          <a:ea typeface="+mn-ea"/>
                        </a:rPr>
                        <a:t>제</a:t>
                      </a:r>
                      <a:r>
                        <a:rPr lang="en-US" altLang="ko-KR" sz="1000" kern="0" spc="-120" dirty="0">
                          <a:solidFill>
                            <a:schemeClr val="tx1"/>
                          </a:solidFill>
                          <a:effectLst/>
                          <a:latin typeface="+mn-ea"/>
                          <a:ea typeface="+mn-ea"/>
                        </a:rPr>
                        <a:t>2</a:t>
                      </a:r>
                      <a:r>
                        <a:rPr lang="ko-KR" altLang="en-US" sz="1000" kern="0" spc="-120" dirty="0">
                          <a:solidFill>
                            <a:schemeClr val="tx1"/>
                          </a:solidFill>
                          <a:effectLst/>
                          <a:latin typeface="+mn-ea"/>
                          <a:ea typeface="+mn-ea"/>
                        </a:rPr>
                        <a:t>호 본문의 경우 특허를 받을 수 있는 권리를 가진 자</a:t>
                      </a:r>
                      <a:r>
                        <a:rPr lang="en-US" altLang="ko-KR" sz="1000" kern="0" spc="-120" dirty="0">
                          <a:solidFill>
                            <a:schemeClr val="tx1"/>
                          </a:solidFill>
                          <a:effectLst/>
                          <a:latin typeface="+mn-ea"/>
                          <a:ea typeface="+mn-ea"/>
                        </a:rPr>
                        <a:t>) </a:t>
                      </a:r>
                      <a:r>
                        <a:rPr lang="ko-KR" altLang="en-US" sz="1000" kern="0" spc="-120" dirty="0">
                          <a:solidFill>
                            <a:schemeClr val="tx1"/>
                          </a:solidFill>
                          <a:effectLst/>
                          <a:latin typeface="+mn-ea"/>
                          <a:ea typeface="+mn-ea"/>
                        </a:rPr>
                        <a:t>또는</a:t>
                      </a:r>
                      <a:endParaRPr lang="en-US" altLang="ko-KR" sz="1000" kern="0" spc="-120" dirty="0">
                        <a:solidFill>
                          <a:schemeClr val="tx1"/>
                        </a:solidFill>
                        <a:effectLst/>
                        <a:latin typeface="+mn-ea"/>
                        <a:ea typeface="+mn-ea"/>
                      </a:endParaRPr>
                    </a:p>
                    <a:p>
                      <a:pPr marL="17780" marR="17780" indent="0" algn="l" fontAlgn="base" latinLnBrk="1">
                        <a:lnSpc>
                          <a:spcPct val="100000"/>
                        </a:lnSpc>
                        <a:buNone/>
                      </a:pPr>
                      <a:r>
                        <a:rPr lang="ko-KR" altLang="en-US" sz="1000" kern="0" spc="-120" dirty="0">
                          <a:solidFill>
                            <a:schemeClr val="tx1"/>
                          </a:solidFill>
                          <a:effectLst/>
                          <a:latin typeface="+mn-ea"/>
                          <a:ea typeface="+mn-ea"/>
                        </a:rPr>
                        <a:t>심사관</a:t>
                      </a:r>
                      <a:endParaRPr lang="ko-KR" altLang="en-US" sz="1000" kern="0" spc="-50" dirty="0">
                        <a:solidFill>
                          <a:schemeClr val="tx1"/>
                        </a:solidFill>
                        <a:effectLst/>
                        <a:latin typeface="+mn-ea"/>
                        <a:ea typeface="+mn-ea"/>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2">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이해관계인 또는 심사관</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lnL w="12700" cap="flat" cmpd="sng" algn="ctr">
                      <a:solidFill>
                        <a:schemeClr val="bg1">
                          <a:lumMod val="50000"/>
                        </a:schemeClr>
                      </a:solidFill>
                      <a:prstDash val="solid"/>
                      <a:round/>
                      <a:headEnd type="none" w="med" len="med"/>
                      <a:tailEnd type="none" w="med" len="med"/>
                    </a:lnL>
                    <a:lnT w="12700" cap="flat" cmpd="sng" algn="ctr">
                      <a:solidFill>
                        <a:schemeClr val="bg1">
                          <a:lumMod val="50000"/>
                        </a:schemeClr>
                      </a:solidFill>
                      <a:prstDash val="solid"/>
                      <a:round/>
                      <a:headEnd type="none" w="med" len="med"/>
                      <a:tailEnd type="none" w="med" len="med"/>
                    </a:lnT>
                  </a:tcPr>
                </a:tc>
                <a:tc>
                  <a:txBody>
                    <a:bodyPr/>
                    <a:lstStyle/>
                    <a:p>
                      <a:pPr marL="129540" marR="17780" indent="-129540" algn="l" fontAlgn="base" latinLnBrk="1">
                        <a:lnSpc>
                          <a:spcPct val="100000"/>
                        </a:lnSpc>
                        <a:buNone/>
                      </a:pPr>
                      <a:r>
                        <a:rPr lang="en-US" altLang="ko-KR" sz="1000" kern="0" spc="-50" dirty="0">
                          <a:solidFill>
                            <a:schemeClr val="tx1"/>
                          </a:solidFill>
                          <a:effectLst/>
                          <a:latin typeface="+mn-ea"/>
                          <a:ea typeface="+mn-ea"/>
                        </a:rPr>
                        <a:t>1. </a:t>
                      </a:r>
                      <a:r>
                        <a:rPr lang="ko-KR" altLang="en-US" sz="1000" kern="0" spc="-50" dirty="0">
                          <a:solidFill>
                            <a:schemeClr val="tx1"/>
                          </a:solidFill>
                          <a:effectLst/>
                          <a:latin typeface="+mn-ea"/>
                          <a:ea typeface="+mn-ea"/>
                        </a:rPr>
                        <a:t>일반적 </a:t>
                      </a:r>
                      <a:r>
                        <a:rPr lang="en-US" altLang="ko-KR" sz="1000" kern="0" spc="-50" dirty="0">
                          <a:solidFill>
                            <a:schemeClr val="tx1"/>
                          </a:solidFill>
                          <a:effectLst/>
                          <a:latin typeface="+mn-ea"/>
                          <a:ea typeface="+mn-ea"/>
                        </a:rPr>
                        <a:t>- </a:t>
                      </a:r>
                      <a:r>
                        <a:rPr lang="ko-KR" altLang="en-US" sz="1000" kern="0" spc="-50" dirty="0" err="1">
                          <a:solidFill>
                            <a:schemeClr val="tx1"/>
                          </a:solidFill>
                          <a:effectLst/>
                          <a:latin typeface="+mn-ea"/>
                          <a:ea typeface="+mn-ea"/>
                        </a:rPr>
                        <a:t>후출원</a:t>
                      </a:r>
                      <a:r>
                        <a:rPr lang="ko-KR" altLang="en-US" sz="1000" kern="0" spc="-50" dirty="0">
                          <a:solidFill>
                            <a:schemeClr val="tx1"/>
                          </a:solidFill>
                          <a:effectLst/>
                          <a:latin typeface="+mn-ea"/>
                          <a:ea typeface="+mn-ea"/>
                        </a:rPr>
                        <a:t> 특허권자</a:t>
                      </a:r>
                      <a:r>
                        <a:rPr lang="en-US" altLang="ko-KR" sz="1000" kern="0" spc="-50" dirty="0">
                          <a:solidFill>
                            <a:schemeClr val="tx1"/>
                          </a:solidFill>
                          <a:effectLst/>
                          <a:latin typeface="+mn-ea"/>
                          <a:ea typeface="+mn-ea"/>
                        </a:rPr>
                        <a:t>, </a:t>
                      </a:r>
                      <a:r>
                        <a:rPr lang="ko-KR" altLang="en-US" sz="1000" kern="0" spc="-50" dirty="0" err="1">
                          <a:solidFill>
                            <a:schemeClr val="tx1"/>
                          </a:solidFill>
                          <a:effectLst/>
                          <a:latin typeface="+mn-ea"/>
                          <a:ea typeface="+mn-ea"/>
                        </a:rPr>
                        <a:t>전용실시권자</a:t>
                      </a:r>
                      <a:r>
                        <a:rPr lang="en-US" altLang="ko-KR" sz="1000" kern="0" spc="-50" dirty="0">
                          <a:solidFill>
                            <a:schemeClr val="tx1"/>
                          </a:solidFill>
                          <a:effectLst/>
                          <a:latin typeface="+mn-ea"/>
                          <a:ea typeface="+mn-ea"/>
                        </a:rPr>
                        <a:t>, </a:t>
                      </a:r>
                      <a:r>
                        <a:rPr lang="ko-KR" altLang="en-US" sz="1000" kern="0" spc="-50" dirty="0" err="1">
                          <a:solidFill>
                            <a:schemeClr val="tx1"/>
                          </a:solidFill>
                          <a:effectLst/>
                          <a:latin typeface="+mn-ea"/>
                          <a:ea typeface="+mn-ea"/>
                        </a:rPr>
                        <a:t>통상실시권자</a:t>
                      </a:r>
                      <a:endParaRPr lang="ko-KR" altLang="en-US" sz="1000" kern="0" spc="-50" dirty="0">
                        <a:solidFill>
                          <a:schemeClr val="tx1"/>
                        </a:solidFill>
                        <a:effectLst/>
                        <a:latin typeface="+mn-ea"/>
                        <a:ea typeface="+mn-ea"/>
                      </a:endParaRPr>
                    </a:p>
                    <a:p>
                      <a:pPr marL="125730" marR="17780" indent="-125730" algn="l" fontAlgn="base" latinLnBrk="1">
                        <a:lnSpc>
                          <a:spcPct val="100000"/>
                        </a:lnSpc>
                        <a:buNone/>
                      </a:pPr>
                      <a:r>
                        <a:rPr lang="en-US" altLang="ko-KR" sz="1000" kern="0" spc="-50" dirty="0">
                          <a:solidFill>
                            <a:schemeClr val="tx1"/>
                          </a:solidFill>
                          <a:effectLst/>
                          <a:latin typeface="+mn-ea"/>
                          <a:ea typeface="+mn-ea"/>
                        </a:rPr>
                        <a:t>2. </a:t>
                      </a:r>
                      <a:r>
                        <a:rPr lang="ko-KR" altLang="en-US" sz="1000" kern="0" spc="-50" dirty="0">
                          <a:solidFill>
                            <a:schemeClr val="tx1"/>
                          </a:solidFill>
                          <a:effectLst/>
                          <a:latin typeface="+mn-ea"/>
                          <a:ea typeface="+mn-ea"/>
                        </a:rPr>
                        <a:t>크로스 라이선스 </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통상실시권을 허락한 </a:t>
                      </a:r>
                      <a:r>
                        <a:rPr lang="ko-KR" altLang="en-US" sz="1000" kern="0" spc="-50" dirty="0" err="1">
                          <a:solidFill>
                            <a:schemeClr val="tx1"/>
                          </a:solidFill>
                          <a:effectLst/>
                          <a:latin typeface="+mn-ea"/>
                          <a:ea typeface="+mn-ea"/>
                        </a:rPr>
                        <a:t>선출원</a:t>
                      </a:r>
                      <a:r>
                        <a:rPr lang="ko-KR" altLang="en-US" sz="1000" kern="0" spc="-50" dirty="0">
                          <a:solidFill>
                            <a:schemeClr val="tx1"/>
                          </a:solidFill>
                          <a:effectLst/>
                          <a:latin typeface="+mn-ea"/>
                          <a:ea typeface="+mn-ea"/>
                        </a:rPr>
                        <a:t> 권리자</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347389145"/>
                  </a:ext>
                </a:extLst>
              </a:tr>
              <a:tr h="446256">
                <a:tc v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dirty="0">
                          <a:solidFill>
                            <a:schemeClr val="tx1"/>
                          </a:solidFill>
                          <a:effectLst/>
                          <a:latin typeface="+mn-ea"/>
                          <a:ea typeface="+mn-ea"/>
                        </a:rPr>
                        <a:t>피</a:t>
                      </a:r>
                    </a:p>
                    <a:p>
                      <a:pPr marL="0" marR="0" indent="0" algn="ctr" fontAlgn="base" latinLnBrk="0">
                        <a:lnSpc>
                          <a:spcPct val="100000"/>
                        </a:lnSpc>
                        <a:buNone/>
                      </a:pPr>
                      <a:r>
                        <a:rPr lang="ko-KR" altLang="en-US" sz="1000" kern="0" spc="-100" dirty="0">
                          <a:solidFill>
                            <a:schemeClr val="tx1"/>
                          </a:solidFill>
                          <a:effectLst/>
                          <a:latin typeface="+mn-ea"/>
                          <a:ea typeface="+mn-ea"/>
                        </a:rPr>
                        <a:t>청구인</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3">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특허권자</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lnL w="12700" cap="flat" cmpd="sng" algn="ctr">
                      <a:solidFill>
                        <a:schemeClr val="bg1">
                          <a:lumMod val="50000"/>
                        </a:schemeClr>
                      </a:solidFill>
                      <a:prstDash val="solid"/>
                      <a:round/>
                      <a:headEnd type="none" w="med" len="med"/>
                      <a:tailEnd type="none" w="med" len="med"/>
                    </a:lnL>
                  </a:tcPr>
                </a:tc>
                <a:tc>
                  <a:txBody>
                    <a:bodyPr/>
                    <a:lstStyle/>
                    <a:p>
                      <a:pPr marL="129540" marR="17780" indent="-129540" algn="l" fontAlgn="base" latinLnBrk="1">
                        <a:lnSpc>
                          <a:spcPct val="100000"/>
                        </a:lnSpc>
                        <a:buNone/>
                      </a:pPr>
                      <a:r>
                        <a:rPr lang="en-US" altLang="ko-KR" sz="1000" kern="0" spc="-50">
                          <a:solidFill>
                            <a:schemeClr val="tx1"/>
                          </a:solidFill>
                          <a:effectLst/>
                          <a:latin typeface="+mn-ea"/>
                          <a:ea typeface="+mn-ea"/>
                        </a:rPr>
                        <a:t>1. </a:t>
                      </a:r>
                      <a:r>
                        <a:rPr lang="ko-KR" altLang="en-US" sz="1000" kern="0" spc="-50">
                          <a:solidFill>
                            <a:schemeClr val="tx1"/>
                          </a:solidFill>
                          <a:effectLst/>
                          <a:latin typeface="+mn-ea"/>
                          <a:ea typeface="+mn-ea"/>
                        </a:rPr>
                        <a:t>일반적 </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선출원 특허권자</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전용실시권자</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실용실안권자</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디자인권자</a:t>
                      </a:r>
                    </a:p>
                    <a:p>
                      <a:pPr marL="109220" marR="17780" indent="-109220" algn="l" fontAlgn="base" latinLnBrk="1">
                        <a:lnSpc>
                          <a:spcPct val="100000"/>
                        </a:lnSpc>
                        <a:buNone/>
                      </a:pPr>
                      <a:r>
                        <a:rPr lang="en-US" altLang="ko-KR" sz="1000" kern="0" spc="-50">
                          <a:solidFill>
                            <a:schemeClr val="tx1"/>
                          </a:solidFill>
                          <a:effectLst/>
                          <a:latin typeface="+mn-ea"/>
                          <a:ea typeface="+mn-ea"/>
                        </a:rPr>
                        <a:t>2. </a:t>
                      </a:r>
                      <a:r>
                        <a:rPr lang="ko-KR" altLang="en-US" sz="1000" kern="0" spc="-50">
                          <a:solidFill>
                            <a:schemeClr val="tx1"/>
                          </a:solidFill>
                          <a:effectLst/>
                          <a:latin typeface="+mn-ea"/>
                          <a:ea typeface="+mn-ea"/>
                        </a:rPr>
                        <a:t>크로스 라이선스 </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통상실시권을 허락받은 후출원 특허권자</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전용실시권자</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198662278"/>
                  </a:ext>
                </a:extLst>
              </a:tr>
              <a:tr h="554007">
                <a:tc v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dirty="0">
                          <a:solidFill>
                            <a:schemeClr val="tx1"/>
                          </a:solidFill>
                          <a:effectLst/>
                          <a:latin typeface="+mn-ea"/>
                          <a:ea typeface="+mn-ea"/>
                        </a:rPr>
                        <a:t>대상</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청구항마다 특허무효사유에 해당함을 이유로 청구</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허가 등</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등록지연에 따른 연장등록이 연장등록무효사유</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거절이유와 동일</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에 해당함을 이유로 청구</a:t>
                      </a:r>
                      <a:endParaRPr lang="ko-KR" altLang="en-US" sz="1000" kern="0" spc="-50" dirty="0">
                        <a:solidFill>
                          <a:schemeClr val="tx1"/>
                        </a:solidFill>
                        <a:effectLst/>
                        <a:latin typeface="KoPub바탕체 Medium" panose="02020603020101020101" pitchFamily="18" charset="-127"/>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특허취소신청에서의 정정</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특허무효심판 또는 정정무효심판에서의 정정</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정정심판에서의 정정이 정정무효사유</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정정사유와 동일</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에 해당함을 이유로 청구</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en-US" altLang="ko-KR" sz="1000" kern="0" spc="-50">
                          <a:solidFill>
                            <a:schemeClr val="tx1"/>
                          </a:solidFill>
                          <a:effectLst/>
                          <a:latin typeface="+mn-ea"/>
                          <a:ea typeface="+mn-ea"/>
                        </a:rPr>
                        <a:t>1. </a:t>
                      </a:r>
                      <a:r>
                        <a:rPr lang="ko-KR" altLang="en-US" sz="1000" kern="0" spc="-50">
                          <a:solidFill>
                            <a:schemeClr val="tx1"/>
                          </a:solidFill>
                          <a:effectLst/>
                          <a:latin typeface="+mn-ea"/>
                          <a:ea typeface="+mn-ea"/>
                        </a:rPr>
                        <a:t>이용ㆍ저촉관계</a:t>
                      </a:r>
                    </a:p>
                    <a:p>
                      <a:pPr marL="17780" marR="17780" indent="0" algn="l" fontAlgn="base" latinLnBrk="1">
                        <a:lnSpc>
                          <a:spcPct val="100000"/>
                        </a:lnSpc>
                        <a:buNone/>
                      </a:pPr>
                      <a:r>
                        <a:rPr lang="en-US" altLang="ko-KR" sz="1000" kern="0" spc="-50">
                          <a:solidFill>
                            <a:schemeClr val="tx1"/>
                          </a:solidFill>
                          <a:effectLst/>
                          <a:latin typeface="+mn-ea"/>
                          <a:ea typeface="+mn-ea"/>
                        </a:rPr>
                        <a:t>2. </a:t>
                      </a:r>
                      <a:r>
                        <a:rPr lang="ko-KR" altLang="en-US" sz="1000" kern="0" spc="-50">
                          <a:solidFill>
                            <a:schemeClr val="tx1"/>
                          </a:solidFill>
                          <a:effectLst/>
                          <a:latin typeface="+mn-ea"/>
                          <a:ea typeface="+mn-ea"/>
                        </a:rPr>
                        <a:t>실시허락 </a:t>
                      </a:r>
                      <a:r>
                        <a:rPr lang="en-US" altLang="ko-KR" sz="1000" kern="0" spc="-50">
                          <a:solidFill>
                            <a:schemeClr val="tx1"/>
                          </a:solidFill>
                          <a:effectLst/>
                          <a:latin typeface="+mn-ea"/>
                          <a:ea typeface="+mn-ea"/>
                        </a:rPr>
                        <a:t>×</a:t>
                      </a:r>
                      <a:endParaRPr lang="ko-KR" altLang="en-US" sz="1000" kern="0" spc="-50">
                        <a:solidFill>
                          <a:schemeClr val="tx1"/>
                        </a:solidFill>
                        <a:effectLst/>
                        <a:latin typeface="+mn-ea"/>
                        <a:ea typeface="+mn-ea"/>
                      </a:endParaRPr>
                    </a:p>
                    <a:p>
                      <a:pPr marL="100330" marR="17780" indent="-100330" algn="l" fontAlgn="base" latinLnBrk="1">
                        <a:lnSpc>
                          <a:spcPct val="100000"/>
                        </a:lnSpc>
                        <a:buNone/>
                      </a:pPr>
                      <a:r>
                        <a:rPr lang="en-US" altLang="ko-KR" sz="1000" kern="0" spc="-50">
                          <a:solidFill>
                            <a:schemeClr val="tx1"/>
                          </a:solidFill>
                          <a:effectLst/>
                          <a:latin typeface="+mn-ea"/>
                          <a:ea typeface="+mn-ea"/>
                        </a:rPr>
                        <a:t>3. </a:t>
                      </a:r>
                      <a:r>
                        <a:rPr lang="ko-KR" altLang="en-US" sz="1000" kern="0" spc="-50">
                          <a:solidFill>
                            <a:schemeClr val="tx1"/>
                          </a:solidFill>
                          <a:effectLst/>
                          <a:latin typeface="+mn-ea"/>
                          <a:ea typeface="+mn-ea"/>
                        </a:rPr>
                        <a:t>자기의 특허발명의 실시에 필요한 범위 이내일 것</a:t>
                      </a:r>
                    </a:p>
                    <a:p>
                      <a:pPr marL="100330" marR="17780" indent="-100330" algn="l" fontAlgn="base" latinLnBrk="1">
                        <a:lnSpc>
                          <a:spcPct val="100000"/>
                        </a:lnSpc>
                        <a:buNone/>
                      </a:pPr>
                      <a:r>
                        <a:rPr lang="en-US" altLang="ko-KR" sz="1000" kern="0" spc="-50">
                          <a:solidFill>
                            <a:schemeClr val="tx1"/>
                          </a:solidFill>
                          <a:effectLst/>
                          <a:latin typeface="+mn-ea"/>
                          <a:ea typeface="+mn-ea"/>
                        </a:rPr>
                        <a:t>4. </a:t>
                      </a:r>
                      <a:r>
                        <a:rPr lang="ko-KR" altLang="en-US" sz="1000" kern="0" spc="-50">
                          <a:solidFill>
                            <a:schemeClr val="tx1"/>
                          </a:solidFill>
                          <a:effectLst/>
                          <a:latin typeface="+mn-ea"/>
                          <a:ea typeface="+mn-ea"/>
                        </a:rPr>
                        <a:t>선출원된 타인의 특허발명 또는 등록실용신안과 비교하여 기술상의 진보가 있을 것</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442161457"/>
                  </a:ext>
                </a:extLst>
              </a:tr>
              <a:tr h="123002">
                <a:tc v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시기</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3">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존속기간 중은 물론 장래를 향해 소멸한 경우도 가능</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lnL w="12700" cap="flat" cmpd="sng" algn="ctr">
                      <a:solidFill>
                        <a:schemeClr val="bg1">
                          <a:lumMod val="50000"/>
                        </a:schemeClr>
                      </a:solidFill>
                      <a:prstDash val="solid"/>
                      <a:round/>
                      <a:headEnd type="none" w="med" len="med"/>
                      <a:tailEnd type="none" w="med" len="med"/>
                    </a:lnL>
                    <a:lnT w="12700" cap="flat" cmpd="sng" algn="ctr">
                      <a:solidFill>
                        <a:schemeClr val="bg1">
                          <a:lumMod val="50000"/>
                        </a:schemeClr>
                      </a:solidFill>
                      <a:prstDash val="solid"/>
                      <a:round/>
                      <a:headEnd type="none" w="med" len="med"/>
                      <a:tailEnd type="none" w="med" len="med"/>
                    </a:lnT>
                  </a:tcPr>
                </a:tc>
                <a:tc>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타방 권리 존속 중에만 가능</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58289380"/>
                  </a:ext>
                </a:extLst>
              </a:tr>
              <a:tr h="338504">
                <a:tc rowSpan="3">
                  <a:txBody>
                    <a:bodyPr/>
                    <a:lstStyle/>
                    <a:p>
                      <a:pPr marL="0" marR="0" indent="0" algn="ctr" fontAlgn="base" latinLnBrk="0">
                        <a:lnSpc>
                          <a:spcPct val="100000"/>
                        </a:lnSpc>
                        <a:buNone/>
                      </a:pPr>
                      <a:r>
                        <a:rPr lang="ko-KR" altLang="en-US" sz="1000" kern="0" spc="-100">
                          <a:solidFill>
                            <a:schemeClr val="tx1"/>
                          </a:solidFill>
                          <a:effectLst/>
                          <a:latin typeface="+mn-ea"/>
                          <a:ea typeface="+mn-ea"/>
                        </a:rPr>
                        <a:t>절</a:t>
                      </a:r>
                    </a:p>
                    <a:p>
                      <a:pPr marL="0" marR="0" indent="0" algn="ctr" fontAlgn="base" latinLnBrk="0">
                        <a:lnSpc>
                          <a:spcPct val="100000"/>
                        </a:lnSpc>
                        <a:buNone/>
                      </a:pPr>
                      <a:r>
                        <a:rPr lang="ko-KR" altLang="en-US" sz="1000" kern="0" spc="-100">
                          <a:solidFill>
                            <a:schemeClr val="tx1"/>
                          </a:solidFill>
                          <a:effectLst/>
                          <a:latin typeface="+mn-ea"/>
                          <a:ea typeface="+mn-ea"/>
                        </a:rPr>
                        <a:t>차</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청구</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3">
                  <a:txBody>
                    <a:bodyPr/>
                    <a:lstStyle/>
                    <a:p>
                      <a:pPr marL="17780" marR="17780" indent="0" algn="l" fontAlgn="base" latinLnBrk="1">
                        <a:lnSpc>
                          <a:spcPct val="100000"/>
                        </a:lnSpc>
                        <a:buNone/>
                      </a:pPr>
                      <a:r>
                        <a:rPr lang="en-US" altLang="ko-KR" sz="1000" kern="0" spc="-50" dirty="0">
                          <a:solidFill>
                            <a:schemeClr val="tx1"/>
                          </a:solidFill>
                          <a:effectLst/>
                          <a:latin typeface="+mn-ea"/>
                          <a:ea typeface="+mn-ea"/>
                        </a:rPr>
                        <a:t>1. </a:t>
                      </a:r>
                      <a:r>
                        <a:rPr lang="ko-KR" altLang="en-US" sz="1000" kern="0" spc="-50" dirty="0">
                          <a:solidFill>
                            <a:schemeClr val="tx1"/>
                          </a:solidFill>
                          <a:effectLst/>
                          <a:latin typeface="+mn-ea"/>
                          <a:ea typeface="+mn-ea"/>
                        </a:rPr>
                        <a:t>부본 송달 및 답변서 제출기회 부여</a:t>
                      </a:r>
                    </a:p>
                    <a:p>
                      <a:pPr marL="17780" marR="17780" indent="0" algn="l" fontAlgn="base" latinLnBrk="1">
                        <a:lnSpc>
                          <a:spcPct val="100000"/>
                        </a:lnSpc>
                        <a:buNone/>
                      </a:pPr>
                      <a:r>
                        <a:rPr lang="en-US" altLang="ko-KR" sz="1000" kern="0" spc="-50" dirty="0">
                          <a:solidFill>
                            <a:schemeClr val="tx1"/>
                          </a:solidFill>
                          <a:effectLst/>
                          <a:latin typeface="+mn-ea"/>
                          <a:ea typeface="+mn-ea"/>
                        </a:rPr>
                        <a:t>2. </a:t>
                      </a:r>
                      <a:r>
                        <a:rPr lang="ko-KR" altLang="en-US" sz="1000" kern="0" spc="-50" dirty="0">
                          <a:solidFill>
                            <a:schemeClr val="tx1"/>
                          </a:solidFill>
                          <a:effectLst/>
                          <a:latin typeface="+mn-ea"/>
                          <a:ea typeface="+mn-ea"/>
                        </a:rPr>
                        <a:t>등록한 권리자에게 취지 통지</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lnL w="12700" cap="flat" cmpd="sng" algn="ctr">
                      <a:solidFill>
                        <a:schemeClr val="bg1">
                          <a:lumMod val="50000"/>
                        </a:schemeClr>
                      </a:solidFill>
                      <a:prstDash val="solid"/>
                      <a:round/>
                      <a:headEnd type="none" w="med" len="med"/>
                      <a:tailEnd type="none" w="med" len="med"/>
                    </a:lnL>
                  </a:tcPr>
                </a:tc>
                <a:tc>
                  <a:txBody>
                    <a:bodyPr/>
                    <a:lstStyle/>
                    <a:p>
                      <a:pPr marL="115570" marR="17780" indent="-115570" algn="l" fontAlgn="base" latinLnBrk="1">
                        <a:lnSpc>
                          <a:spcPct val="100000"/>
                        </a:lnSpc>
                        <a:buNone/>
                      </a:pPr>
                      <a:r>
                        <a:rPr lang="en-US" altLang="ko-KR" sz="1000" kern="0" spc="-50">
                          <a:solidFill>
                            <a:schemeClr val="tx1"/>
                          </a:solidFill>
                          <a:effectLst/>
                          <a:latin typeface="+mn-ea"/>
                          <a:ea typeface="+mn-ea"/>
                        </a:rPr>
                        <a:t>1. </a:t>
                      </a:r>
                      <a:r>
                        <a:rPr lang="ko-KR" altLang="en-US" sz="1000" kern="0" spc="-50">
                          <a:solidFill>
                            <a:schemeClr val="tx1"/>
                          </a:solidFill>
                          <a:effectLst/>
                          <a:latin typeface="+mn-ea"/>
                          <a:ea typeface="+mn-ea"/>
                        </a:rPr>
                        <a:t>청구서에 자기의 권리</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타인의 권리 특정과 범위ㆍ기간ㆍ대가의 추가 기재</a:t>
                      </a:r>
                    </a:p>
                    <a:p>
                      <a:pPr marL="107950" marR="17780" indent="-107950" algn="l" fontAlgn="base" latinLnBrk="1">
                        <a:lnSpc>
                          <a:spcPct val="100000"/>
                        </a:lnSpc>
                        <a:buNone/>
                      </a:pPr>
                      <a:r>
                        <a:rPr lang="en-US" altLang="ko-KR" sz="1000" kern="0" spc="-50">
                          <a:solidFill>
                            <a:schemeClr val="tx1"/>
                          </a:solidFill>
                          <a:effectLst/>
                          <a:latin typeface="+mn-ea"/>
                          <a:ea typeface="+mn-ea"/>
                        </a:rPr>
                        <a:t>2. </a:t>
                      </a:r>
                      <a:r>
                        <a:rPr lang="ko-KR" altLang="en-US" sz="1000" kern="0" spc="-50">
                          <a:solidFill>
                            <a:schemeClr val="tx1"/>
                          </a:solidFill>
                          <a:effectLst/>
                          <a:latin typeface="+mn-ea"/>
                          <a:ea typeface="+mn-ea"/>
                        </a:rPr>
                        <a:t>부본 송달 및 답변서 제출기회 부여</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711092236"/>
                  </a:ext>
                </a:extLst>
              </a:tr>
              <a:tr h="230753">
                <a:tc v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진행</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70">
                          <a:solidFill>
                            <a:schemeClr val="tx1"/>
                          </a:solidFill>
                          <a:effectLst/>
                          <a:latin typeface="+mn-ea"/>
                          <a:ea typeface="+mn-ea"/>
                        </a:rPr>
                        <a:t>신청한 청구항에 대해서 특허무효사유가 있는지 심리</a:t>
                      </a:r>
                      <a:endParaRPr lang="ko-KR" altLang="en-US" sz="1000" kern="0" spc="-50">
                        <a:solidFill>
                          <a:schemeClr val="tx1"/>
                        </a:solidFill>
                        <a:effectLst/>
                        <a:latin typeface="+mn-ea"/>
                        <a:ea typeface="+mn-ea"/>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연장등록무효사유가 있는지 심리</a:t>
                      </a:r>
                      <a:endParaRPr lang="ko-KR" altLang="en-US" sz="1000" kern="0" spc="-50">
                        <a:solidFill>
                          <a:schemeClr val="tx1"/>
                        </a:solidFill>
                        <a:effectLst/>
                        <a:latin typeface="KoPub바탕체 Medium" panose="02020603020101020101" pitchFamily="18" charset="-127"/>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100">
                          <a:solidFill>
                            <a:schemeClr val="tx1"/>
                          </a:solidFill>
                          <a:effectLst/>
                          <a:latin typeface="+mn-ea"/>
                          <a:ea typeface="+mn-ea"/>
                        </a:rPr>
                        <a:t>정정무효사유가 있는지 심리</a:t>
                      </a:r>
                      <a:endParaRPr lang="ko-KR" altLang="en-US" sz="1000" kern="0" spc="-50">
                        <a:solidFill>
                          <a:schemeClr val="tx1"/>
                        </a:solidFill>
                        <a:effectLst/>
                        <a:latin typeface="+mn-ea"/>
                        <a:ea typeface="+mn-ea"/>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dirty="0" err="1">
                          <a:solidFill>
                            <a:schemeClr val="tx1"/>
                          </a:solidFill>
                          <a:effectLst/>
                          <a:latin typeface="+mn-ea"/>
                          <a:ea typeface="+mn-ea"/>
                        </a:rPr>
                        <a:t>이용ㆍ저촉관계에</a:t>
                      </a:r>
                      <a:r>
                        <a:rPr lang="ko-KR" altLang="en-US" sz="1000" kern="0" spc="-50" dirty="0">
                          <a:solidFill>
                            <a:schemeClr val="tx1"/>
                          </a:solidFill>
                          <a:effectLst/>
                          <a:latin typeface="+mn-ea"/>
                          <a:ea typeface="+mn-ea"/>
                        </a:rPr>
                        <a:t> 있는지</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기술적 진보 여부</a:t>
                      </a:r>
                      <a:r>
                        <a:rPr lang="en-US" altLang="ko-KR" sz="1000" kern="0" spc="-50" dirty="0">
                          <a:solidFill>
                            <a:schemeClr val="tx1"/>
                          </a:solidFill>
                          <a:effectLst/>
                          <a:latin typeface="+mn-ea"/>
                          <a:ea typeface="+mn-ea"/>
                        </a:rPr>
                        <a:t>, </a:t>
                      </a:r>
                      <a:r>
                        <a:rPr lang="ko-KR" altLang="en-US" sz="1000" kern="0" spc="-50" dirty="0" err="1">
                          <a:solidFill>
                            <a:schemeClr val="tx1"/>
                          </a:solidFill>
                          <a:effectLst/>
                          <a:latin typeface="+mn-ea"/>
                          <a:ea typeface="+mn-ea"/>
                        </a:rPr>
                        <a:t>범위ㆍ기간ㆍ대가ㆍ지급시기ㆍ지급방법</a:t>
                      </a:r>
                      <a:r>
                        <a:rPr lang="ko-KR" altLang="en-US" sz="1000" kern="0" spc="-50" dirty="0">
                          <a:solidFill>
                            <a:schemeClr val="tx1"/>
                          </a:solidFill>
                          <a:effectLst/>
                          <a:latin typeface="+mn-ea"/>
                          <a:ea typeface="+mn-ea"/>
                        </a:rPr>
                        <a:t> 등에 관해 심리</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019643767"/>
                  </a:ext>
                </a:extLst>
              </a:tr>
              <a:tr h="230753">
                <a:tc v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종료</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30810" marR="17780" indent="-130810" algn="l" fontAlgn="base" latinLnBrk="1">
                        <a:lnSpc>
                          <a:spcPct val="100000"/>
                        </a:lnSpc>
                        <a:buNone/>
                      </a:pPr>
                      <a:r>
                        <a:rPr lang="en-US" altLang="ko-KR" sz="1000" kern="0" spc="-50">
                          <a:solidFill>
                            <a:schemeClr val="tx1"/>
                          </a:solidFill>
                          <a:effectLst/>
                          <a:latin typeface="+mn-ea"/>
                          <a:ea typeface="+mn-ea"/>
                        </a:rPr>
                        <a:t>1. </a:t>
                      </a:r>
                      <a:r>
                        <a:rPr lang="ko-KR" altLang="en-US" sz="1000" kern="0" spc="-50">
                          <a:solidFill>
                            <a:schemeClr val="tx1"/>
                          </a:solidFill>
                          <a:effectLst/>
                          <a:latin typeface="+mn-ea"/>
                          <a:ea typeface="+mn-ea"/>
                        </a:rPr>
                        <a:t>청구항마다 일부인용ㆍ기각 가능</a:t>
                      </a:r>
                    </a:p>
                    <a:p>
                      <a:pPr marL="130810" marR="17780" indent="-130810" algn="l" fontAlgn="base" latinLnBrk="1">
                        <a:lnSpc>
                          <a:spcPct val="100000"/>
                        </a:lnSpc>
                        <a:buNone/>
                      </a:pPr>
                      <a:r>
                        <a:rPr lang="en-US" altLang="ko-KR" sz="1000" kern="0" spc="-50">
                          <a:solidFill>
                            <a:schemeClr val="tx1"/>
                          </a:solidFill>
                          <a:effectLst/>
                          <a:latin typeface="+mn-ea"/>
                          <a:ea typeface="+mn-ea"/>
                        </a:rPr>
                        <a:t>2. </a:t>
                      </a:r>
                      <a:r>
                        <a:rPr lang="ko-KR" altLang="en-US" sz="1000" kern="0" spc="-50">
                          <a:solidFill>
                            <a:schemeClr val="tx1"/>
                          </a:solidFill>
                          <a:effectLst/>
                          <a:latin typeface="+mn-ea"/>
                          <a:ea typeface="+mn-ea"/>
                        </a:rPr>
                        <a:t>청구항별 취하 가능</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30810" marR="17780" indent="-130810" algn="l" fontAlgn="base" latinLnBrk="1">
                        <a:lnSpc>
                          <a:spcPct val="100000"/>
                        </a:lnSpc>
                        <a:buNone/>
                      </a:pPr>
                      <a:endParaRPr lang="ko-KR" altLang="en-US" sz="1000" kern="0" spc="-50">
                        <a:solidFill>
                          <a:schemeClr val="tx1"/>
                        </a:solidFill>
                        <a:effectLst/>
                        <a:latin typeface="KoPub바탕체 Medium" panose="02020603020101020101" pitchFamily="18" charset="-127"/>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l">
                        <a:lnSpc>
                          <a:spcPct val="100000"/>
                        </a:lnSpc>
                        <a:buNone/>
                      </a:pPr>
                      <a:endParaRPr lang="ko-KR" altLang="en-US" sz="1000">
                        <a:solidFill>
                          <a:schemeClr val="tx1"/>
                        </a:solidFill>
                        <a:effectLst/>
                        <a:latin typeface="+mn-ea"/>
                        <a:ea typeface="+mn-ea"/>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l">
                        <a:lnSpc>
                          <a:spcPct val="100000"/>
                        </a:lnSpc>
                        <a:buNone/>
                      </a:pPr>
                      <a:r>
                        <a:rPr lang="ko-KR" altLang="en-US" sz="1000" kern="0" spc="-50">
                          <a:solidFill>
                            <a:schemeClr val="tx1"/>
                          </a:solidFill>
                          <a:effectLst/>
                          <a:latin typeface="+mn-ea"/>
                          <a:ea typeface="+mn-ea"/>
                        </a:rPr>
                        <a:t>심결의 주문에 통상실시권의 범위</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기간 및 대가를 구체적으로 명시하여 인용심결</a:t>
                      </a:r>
                      <a:endParaRPr lang="ko-KR" altLang="en-US" sz="1000">
                        <a:solidFill>
                          <a:schemeClr val="tx1"/>
                        </a:solidFill>
                        <a:effectLst/>
                        <a:latin typeface="+mn-ea"/>
                        <a:ea typeface="+mn-ea"/>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163146972"/>
                  </a:ext>
                </a:extLst>
              </a:tr>
              <a:tr h="661758">
                <a:tc rowSpan="2">
                  <a:txBody>
                    <a:bodyPr/>
                    <a:lstStyle/>
                    <a:p>
                      <a:pPr marL="0" marR="0" indent="0" algn="ctr" fontAlgn="base" latinLnBrk="0">
                        <a:lnSpc>
                          <a:spcPct val="100000"/>
                        </a:lnSpc>
                        <a:buNone/>
                      </a:pPr>
                      <a:r>
                        <a:rPr lang="ko-KR" altLang="en-US" sz="1000" kern="0" spc="-100">
                          <a:solidFill>
                            <a:schemeClr val="tx1"/>
                          </a:solidFill>
                          <a:effectLst/>
                          <a:latin typeface="+mn-ea"/>
                          <a:ea typeface="+mn-ea"/>
                        </a:rPr>
                        <a:t>확</a:t>
                      </a:r>
                    </a:p>
                    <a:p>
                      <a:pPr marL="0" marR="0" indent="0" algn="ctr" fontAlgn="base" latinLnBrk="0">
                        <a:lnSpc>
                          <a:spcPct val="100000"/>
                        </a:lnSpc>
                        <a:buNone/>
                      </a:pPr>
                      <a:r>
                        <a:rPr lang="ko-KR" altLang="en-US" sz="1000" kern="0" spc="-100">
                          <a:solidFill>
                            <a:schemeClr val="tx1"/>
                          </a:solidFill>
                          <a:effectLst/>
                          <a:latin typeface="+mn-ea"/>
                          <a:ea typeface="+mn-ea"/>
                        </a:rPr>
                        <a:t>정</a:t>
                      </a:r>
                    </a:p>
                    <a:p>
                      <a:pPr marL="0" marR="0" indent="0" algn="ctr" fontAlgn="base" latinLnBrk="0">
                        <a:lnSpc>
                          <a:spcPct val="100000"/>
                        </a:lnSpc>
                        <a:buNone/>
                      </a:pPr>
                      <a:r>
                        <a:rPr lang="ko-KR" altLang="en-US" sz="1000" kern="0" spc="-100">
                          <a:solidFill>
                            <a:schemeClr val="tx1"/>
                          </a:solidFill>
                          <a:effectLst/>
                          <a:latin typeface="+mn-ea"/>
                          <a:ea typeface="+mn-ea"/>
                        </a:rPr>
                        <a:t>효</a:t>
                      </a:r>
                    </a:p>
                    <a:p>
                      <a:pPr marL="0" marR="0" indent="0" algn="ctr" fontAlgn="base" latinLnBrk="0">
                        <a:lnSpc>
                          <a:spcPct val="100000"/>
                        </a:lnSpc>
                        <a:buNone/>
                      </a:pPr>
                      <a:r>
                        <a:rPr lang="ko-KR" altLang="en-US" sz="1000" kern="0" spc="-100">
                          <a:solidFill>
                            <a:schemeClr val="tx1"/>
                          </a:solidFill>
                          <a:effectLst/>
                          <a:latin typeface="+mn-ea"/>
                          <a:ea typeface="+mn-ea"/>
                        </a:rPr>
                        <a:t>과</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인용</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특허권이 처음부터 없었던 것으로 간주</a:t>
                      </a:r>
                      <a:endParaRPr lang="en-US" altLang="ko-KR" sz="1000" kern="0" spc="-50" dirty="0">
                        <a:solidFill>
                          <a:schemeClr val="tx1"/>
                        </a:solidFill>
                        <a:effectLst/>
                        <a:latin typeface="+mn-ea"/>
                        <a:ea typeface="+mn-ea"/>
                      </a:endParaRPr>
                    </a:p>
                    <a:p>
                      <a:pPr marL="17780" marR="17780" indent="0" algn="l" fontAlgn="base" latinLnBrk="1">
                        <a:lnSpc>
                          <a:spcPct val="100000"/>
                        </a:lnSpc>
                        <a:buNone/>
                      </a:pP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단</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후발적 무효사유는 발생 시부터 </a:t>
                      </a:r>
                      <a:r>
                        <a:rPr lang="ko-KR" altLang="en-US" sz="1000" kern="0" spc="-50" dirty="0" err="1">
                          <a:solidFill>
                            <a:schemeClr val="tx1"/>
                          </a:solidFill>
                          <a:effectLst/>
                          <a:latin typeface="+mn-ea"/>
                          <a:ea typeface="+mn-ea"/>
                        </a:rPr>
                        <a:t>장래효</a:t>
                      </a:r>
                      <a:r>
                        <a:rPr lang="en-US" altLang="ko-KR" sz="1000" kern="0" spc="-50" dirty="0">
                          <a:solidFill>
                            <a:schemeClr val="tx1"/>
                          </a:solidFill>
                          <a:effectLst/>
                          <a:latin typeface="+mn-ea"/>
                          <a:ea typeface="+mn-ea"/>
                        </a:rPr>
                        <a:t>)</a:t>
                      </a:r>
                      <a:endParaRPr lang="ko-KR" altLang="en-US" sz="1000" kern="0" spc="-50" dirty="0">
                        <a:solidFill>
                          <a:schemeClr val="tx1"/>
                        </a:solidFill>
                        <a:effectLst/>
                        <a:latin typeface="+mn-ea"/>
                        <a:ea typeface="+mn-ea"/>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13030" marR="17780" indent="-113030" algn="l" fontAlgn="base" latinLnBrk="1">
                        <a:lnSpc>
                          <a:spcPct val="100000"/>
                        </a:lnSpc>
                        <a:buNone/>
                      </a:pPr>
                      <a:r>
                        <a:rPr lang="en-US" altLang="ko-KR" sz="1000" kern="0" spc="-50" dirty="0">
                          <a:solidFill>
                            <a:schemeClr val="tx1"/>
                          </a:solidFill>
                          <a:effectLst/>
                          <a:latin typeface="+mn-ea"/>
                          <a:ea typeface="+mn-ea"/>
                        </a:rPr>
                        <a:t>1. </a:t>
                      </a:r>
                      <a:r>
                        <a:rPr lang="ko-KR" altLang="en-US" sz="1000" kern="0" spc="-50" dirty="0">
                          <a:solidFill>
                            <a:schemeClr val="tx1"/>
                          </a:solidFill>
                          <a:effectLst/>
                          <a:latin typeface="+mn-ea"/>
                          <a:ea typeface="+mn-ea"/>
                        </a:rPr>
                        <a:t>연장등록이 처음부터 없었던 것으로 간주</a:t>
                      </a:r>
                      <a:r>
                        <a:rPr lang="en-US" altLang="ko-KR" sz="1000" kern="0" spc="-50" dirty="0">
                          <a:solidFill>
                            <a:schemeClr val="tx1"/>
                          </a:solidFill>
                          <a:effectLst/>
                          <a:latin typeface="+mn-ea"/>
                          <a:ea typeface="+mn-ea"/>
                        </a:rPr>
                        <a:t>(</a:t>
                      </a:r>
                      <a:r>
                        <a:rPr lang="ko-KR" altLang="en-US" sz="1000" kern="0" spc="-50" dirty="0">
                          <a:solidFill>
                            <a:schemeClr val="tx1"/>
                          </a:solidFill>
                          <a:effectLst/>
                          <a:latin typeface="+mn-ea"/>
                          <a:ea typeface="+mn-ea"/>
                        </a:rPr>
                        <a:t>단</a:t>
                      </a:r>
                      <a:r>
                        <a:rPr lang="en-US" altLang="ko-KR" sz="1000" kern="0" spc="-50" dirty="0">
                          <a:solidFill>
                            <a:schemeClr val="tx1"/>
                          </a:solidFill>
                          <a:effectLst/>
                          <a:latin typeface="+mn-ea"/>
                          <a:ea typeface="+mn-ea"/>
                        </a:rPr>
                        <a:t>, </a:t>
                      </a:r>
                      <a:r>
                        <a:rPr lang="ko-KR" altLang="en-US" sz="1000" kern="0" spc="-50" dirty="0">
                          <a:solidFill>
                            <a:schemeClr val="tx1"/>
                          </a:solidFill>
                          <a:effectLst/>
                          <a:latin typeface="+mn-ea"/>
                          <a:ea typeface="+mn-ea"/>
                        </a:rPr>
                        <a:t>연장기간을 초과하여 등록된 경우에는 초과된 기간에 대해서만 연장등록 불인정</a:t>
                      </a:r>
                      <a:r>
                        <a:rPr lang="en-US" altLang="ko-KR" sz="1000" kern="0" spc="-50" dirty="0">
                          <a:solidFill>
                            <a:schemeClr val="tx1"/>
                          </a:solidFill>
                          <a:effectLst/>
                          <a:latin typeface="+mn-ea"/>
                          <a:ea typeface="+mn-ea"/>
                        </a:rPr>
                        <a:t>)</a:t>
                      </a:r>
                      <a:endParaRPr lang="ko-KR" altLang="en-US" sz="1000" kern="0" spc="-50" dirty="0">
                        <a:solidFill>
                          <a:schemeClr val="tx1"/>
                        </a:solidFill>
                        <a:effectLst/>
                        <a:latin typeface="+mn-ea"/>
                        <a:ea typeface="+mn-ea"/>
                      </a:endParaRPr>
                    </a:p>
                    <a:p>
                      <a:pPr marL="125413" marR="17780" indent="-125413" algn="l" fontAlgn="base" latinLnBrk="1">
                        <a:lnSpc>
                          <a:spcPct val="100000"/>
                        </a:lnSpc>
                        <a:buNone/>
                      </a:pPr>
                      <a:r>
                        <a:rPr lang="en-US" altLang="ko-KR" sz="1000" kern="0" spc="-50" dirty="0">
                          <a:solidFill>
                            <a:schemeClr val="tx1"/>
                          </a:solidFill>
                          <a:effectLst/>
                          <a:latin typeface="+mn-ea"/>
                          <a:ea typeface="+mn-ea"/>
                        </a:rPr>
                        <a:t>2. </a:t>
                      </a:r>
                      <a:r>
                        <a:rPr lang="ko-KR" altLang="en-US" sz="1000" kern="0" spc="-50" dirty="0">
                          <a:solidFill>
                            <a:schemeClr val="tx1"/>
                          </a:solidFill>
                          <a:effectLst/>
                          <a:latin typeface="+mn-ea"/>
                          <a:ea typeface="+mn-ea"/>
                        </a:rPr>
                        <a:t>하나의 허가 등에 대하여 둘 이상의 특허권의 존속기간이 </a:t>
                      </a:r>
                      <a:r>
                        <a:rPr lang="ko-KR" altLang="en-US" sz="1000" kern="0" spc="-50" dirty="0" err="1">
                          <a:solidFill>
                            <a:schemeClr val="tx1"/>
                          </a:solidFill>
                          <a:effectLst/>
                          <a:latin typeface="+mn-ea"/>
                          <a:ea typeface="+mn-ea"/>
                        </a:rPr>
                        <a:t>연장등록된</a:t>
                      </a:r>
                      <a:r>
                        <a:rPr lang="ko-KR" altLang="en-US" sz="1000" kern="0" spc="-50" dirty="0">
                          <a:solidFill>
                            <a:schemeClr val="tx1"/>
                          </a:solidFill>
                          <a:effectLst/>
                          <a:latin typeface="+mn-ea"/>
                          <a:ea typeface="+mn-ea"/>
                        </a:rPr>
                        <a:t> 경우 존속기간의 연장등록출원은 처음부터 없었던 것으로 간주</a:t>
                      </a:r>
                      <a:endParaRPr lang="ko-KR" altLang="en-US" sz="1000" kern="0" spc="-50" dirty="0">
                        <a:solidFill>
                          <a:schemeClr val="tx1"/>
                        </a:solidFill>
                        <a:effectLst/>
                        <a:latin typeface="KoPub바탕체 Medium" panose="02020603020101020101" pitchFamily="18" charset="-127"/>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정정이 처음부터 없었던 것으로 간주</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0">
                        <a:lnSpc>
                          <a:spcPct val="100000"/>
                        </a:lnSpc>
                        <a:buNone/>
                      </a:pPr>
                      <a:r>
                        <a:rPr lang="en-US" altLang="ko-KR" sz="1000" kern="0" spc="-50">
                          <a:solidFill>
                            <a:schemeClr val="tx1"/>
                          </a:solidFill>
                          <a:effectLst/>
                          <a:latin typeface="+mn-ea"/>
                          <a:ea typeface="+mn-ea"/>
                        </a:rPr>
                        <a:t>1. </a:t>
                      </a:r>
                      <a:r>
                        <a:rPr lang="ko-KR" altLang="en-US" sz="1000" kern="0" spc="-50">
                          <a:solidFill>
                            <a:schemeClr val="tx1"/>
                          </a:solidFill>
                          <a:effectLst/>
                          <a:latin typeface="+mn-ea"/>
                          <a:ea typeface="+mn-ea"/>
                        </a:rPr>
                        <a:t>통상실시권 허락</a:t>
                      </a:r>
                    </a:p>
                    <a:p>
                      <a:pPr marL="110490" marR="17780" indent="-110490" algn="l" fontAlgn="base" latinLnBrk="0">
                        <a:lnSpc>
                          <a:spcPct val="100000"/>
                        </a:lnSpc>
                        <a:buNone/>
                      </a:pPr>
                      <a:r>
                        <a:rPr lang="en-US" altLang="ko-KR" sz="1000" kern="0" spc="-50">
                          <a:solidFill>
                            <a:schemeClr val="tx1"/>
                          </a:solidFill>
                          <a:effectLst/>
                          <a:latin typeface="+mn-ea"/>
                          <a:ea typeface="+mn-ea"/>
                        </a:rPr>
                        <a:t>2. </a:t>
                      </a:r>
                      <a:r>
                        <a:rPr lang="ko-KR" altLang="en-US" sz="1000" kern="0" spc="-50">
                          <a:solidFill>
                            <a:schemeClr val="tx1"/>
                          </a:solidFill>
                          <a:effectLst/>
                          <a:latin typeface="+mn-ea"/>
                          <a:ea typeface="+mn-ea"/>
                        </a:rPr>
                        <a:t>실시권은 해당 특허권과 함께 이전하며</a:t>
                      </a:r>
                      <a:r>
                        <a:rPr lang="en-US" altLang="ko-KR" sz="1000" kern="0" spc="-50">
                          <a:solidFill>
                            <a:schemeClr val="tx1"/>
                          </a:solidFill>
                          <a:effectLst/>
                          <a:latin typeface="+mn-ea"/>
                          <a:ea typeface="+mn-ea"/>
                        </a:rPr>
                        <a:t>, </a:t>
                      </a:r>
                      <a:r>
                        <a:rPr lang="ko-KR" altLang="en-US" sz="1000" kern="0" spc="-50">
                          <a:solidFill>
                            <a:schemeClr val="tx1"/>
                          </a:solidFill>
                          <a:effectLst/>
                          <a:latin typeface="+mn-ea"/>
                          <a:ea typeface="+mn-ea"/>
                        </a:rPr>
                        <a:t>함께 소멸</a:t>
                      </a:r>
                    </a:p>
                    <a:p>
                      <a:pPr marL="110490" marR="17780" indent="-110490" algn="l" fontAlgn="base" latinLnBrk="0">
                        <a:lnSpc>
                          <a:spcPct val="100000"/>
                        </a:lnSpc>
                        <a:buNone/>
                      </a:pPr>
                      <a:r>
                        <a:rPr lang="en-US" altLang="ko-KR" sz="1000" kern="0" spc="-50">
                          <a:solidFill>
                            <a:schemeClr val="tx1"/>
                          </a:solidFill>
                          <a:effectLst/>
                          <a:latin typeface="+mn-ea"/>
                          <a:ea typeface="+mn-ea"/>
                        </a:rPr>
                        <a:t>3. </a:t>
                      </a:r>
                      <a:r>
                        <a:rPr lang="ko-KR" altLang="en-US" sz="1000" kern="0" spc="-50">
                          <a:solidFill>
                            <a:schemeClr val="tx1"/>
                          </a:solidFill>
                          <a:effectLst/>
                          <a:latin typeface="+mn-ea"/>
                          <a:ea typeface="+mn-ea"/>
                        </a:rPr>
                        <a:t>대가 지급하지 않거나 공탁하지 않으면 실시불가</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519812216"/>
                  </a:ext>
                </a:extLst>
              </a:tr>
              <a:tr h="123002">
                <a:tc vMerge="1">
                  <a:txBody>
                    <a:bodyPr/>
                    <a:lstStyle/>
                    <a:p>
                      <a:pPr latinLnBrk="1"/>
                      <a:endParaRPr lang="ko-KR" altLang="en-US"/>
                    </a:p>
                  </a:txBody>
                  <a:tcPr/>
                </a:tc>
                <a:tc>
                  <a:txBody>
                    <a:bodyPr/>
                    <a:lstStyle/>
                    <a:p>
                      <a:pPr marL="0" marR="0" indent="0" algn="ctr" fontAlgn="base" latinLnBrk="0">
                        <a:lnSpc>
                          <a:spcPct val="100000"/>
                        </a:lnSpc>
                        <a:buNone/>
                      </a:pPr>
                      <a:r>
                        <a:rPr lang="ko-KR" altLang="en-US" sz="1000" kern="0" spc="-100">
                          <a:solidFill>
                            <a:schemeClr val="tx1"/>
                          </a:solidFill>
                          <a:effectLst/>
                          <a:latin typeface="+mn-ea"/>
                          <a:ea typeface="+mn-ea"/>
                        </a:rPr>
                        <a:t>기각</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70">
                          <a:solidFill>
                            <a:schemeClr val="tx1"/>
                          </a:solidFill>
                          <a:effectLst/>
                          <a:latin typeface="+mn-ea"/>
                          <a:ea typeface="+mn-ea"/>
                        </a:rPr>
                        <a:t>특허권의 유지</a:t>
                      </a:r>
                      <a:endParaRPr lang="ko-KR" altLang="en-US" sz="1000" kern="0" spc="-50">
                        <a:solidFill>
                          <a:schemeClr val="tx1"/>
                        </a:solidFill>
                        <a:effectLst/>
                        <a:latin typeface="+mn-ea"/>
                        <a:ea typeface="+mn-ea"/>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연장등록의 유지</a:t>
                      </a:r>
                      <a:endParaRPr lang="ko-KR" altLang="en-US" sz="1000" kern="0" spc="-50" dirty="0">
                        <a:solidFill>
                          <a:schemeClr val="tx1"/>
                        </a:solidFill>
                        <a:effectLst/>
                        <a:latin typeface="KoPub바탕체 Medium" panose="02020603020101020101" pitchFamily="18" charset="-127"/>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정정의 유지</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통상실시권 불허</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013647450"/>
                  </a:ext>
                </a:extLst>
              </a:tr>
              <a:tr h="123002">
                <a:tc gridSpan="2">
                  <a:txBody>
                    <a:bodyPr/>
                    <a:lstStyle/>
                    <a:p>
                      <a:pPr marL="0" marR="0" indent="0" algn="ctr" fontAlgn="base" latinLnBrk="0">
                        <a:lnSpc>
                          <a:spcPct val="100000"/>
                        </a:lnSpc>
                        <a:buNone/>
                      </a:pPr>
                      <a:r>
                        <a:rPr lang="ko-KR" altLang="en-US" sz="1000" kern="0" spc="-100">
                          <a:solidFill>
                            <a:schemeClr val="tx1"/>
                          </a:solidFill>
                          <a:effectLst/>
                          <a:latin typeface="+mn-ea"/>
                          <a:ea typeface="+mn-ea"/>
                        </a:rPr>
                        <a:t>심판비용</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gridSpan="3">
                  <a:txBody>
                    <a:bodyPr/>
                    <a:lstStyle/>
                    <a:p>
                      <a:pPr marL="17780" marR="17780" indent="0" algn="l" fontAlgn="base" latinLnBrk="1">
                        <a:lnSpc>
                          <a:spcPct val="100000"/>
                        </a:lnSpc>
                        <a:buNone/>
                      </a:pPr>
                      <a:r>
                        <a:rPr lang="ko-KR" altLang="en-US" sz="1000" kern="0" spc="-50" dirty="0" err="1">
                          <a:solidFill>
                            <a:schemeClr val="tx1"/>
                          </a:solidFill>
                          <a:effectLst/>
                          <a:latin typeface="+mn-ea"/>
                          <a:ea typeface="+mn-ea"/>
                        </a:rPr>
                        <a:t>패심자</a:t>
                      </a:r>
                      <a:r>
                        <a:rPr lang="ko-KR" altLang="en-US" sz="1000" kern="0" spc="-50" dirty="0">
                          <a:solidFill>
                            <a:schemeClr val="tx1"/>
                          </a:solidFill>
                          <a:effectLst/>
                          <a:latin typeface="+mn-ea"/>
                          <a:ea typeface="+mn-ea"/>
                        </a:rPr>
                        <a:t> </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lnL w="12700" cap="flat" cmpd="sng" algn="ctr">
                      <a:solidFill>
                        <a:schemeClr val="bg1">
                          <a:lumMod val="50000"/>
                        </a:schemeClr>
                      </a:solidFill>
                      <a:prstDash val="solid"/>
                      <a:round/>
                      <a:headEnd type="none" w="med" len="med"/>
                      <a:tailEnd type="none" w="med" len="med"/>
                    </a:lnL>
                    <a:lnT w="12700" cap="flat" cmpd="sng" algn="ctr">
                      <a:solidFill>
                        <a:schemeClr val="bg1">
                          <a:lumMod val="50000"/>
                        </a:schemeClr>
                      </a:solidFill>
                      <a:prstDash val="solid"/>
                      <a:round/>
                      <a:headEnd type="none" w="med" len="med"/>
                      <a:tailEnd type="none" w="med" len="med"/>
                    </a:lnT>
                  </a:tcPr>
                </a:tc>
                <a:tc>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청구인</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278060126"/>
                  </a:ext>
                </a:extLst>
              </a:tr>
              <a:tr h="136696">
                <a:tc gridSpan="2">
                  <a:txBody>
                    <a:bodyPr/>
                    <a:lstStyle/>
                    <a:p>
                      <a:pPr marL="0" marR="0" indent="0" algn="ctr" fontAlgn="base" latinLnBrk="0">
                        <a:lnSpc>
                          <a:spcPct val="100000"/>
                        </a:lnSpc>
                        <a:buNone/>
                      </a:pPr>
                      <a:r>
                        <a:rPr lang="ko-KR" altLang="en-US" sz="1000" kern="0" spc="-100">
                          <a:solidFill>
                            <a:schemeClr val="tx1"/>
                          </a:solidFill>
                          <a:effectLst/>
                          <a:latin typeface="+mn-ea"/>
                          <a:ea typeface="+mn-ea"/>
                        </a:rPr>
                        <a:t>일사부재리</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적용</a:t>
                      </a:r>
                      <a:r>
                        <a:rPr lang="en-US" altLang="ko-KR" sz="1000" kern="0" spc="-50">
                          <a:solidFill>
                            <a:schemeClr val="tx1"/>
                          </a:solidFill>
                          <a:effectLst/>
                          <a:latin typeface="+mn-ea"/>
                          <a:ea typeface="+mn-ea"/>
                        </a:rPr>
                        <a:t>(</a:t>
                      </a:r>
                      <a:r>
                        <a:rPr lang="ko-KR" altLang="en-US" sz="1000" kern="0" spc="-50">
                          <a:solidFill>
                            <a:schemeClr val="tx1"/>
                          </a:solidFill>
                          <a:effectLst/>
                          <a:latin typeface="+mn-ea"/>
                          <a:ea typeface="+mn-ea"/>
                        </a:rPr>
                        <a:t>전부무효심판과 일부무효심판</a:t>
                      </a:r>
                      <a:r>
                        <a:rPr lang="en-US" altLang="ko-KR" sz="1000" kern="0" spc="-50">
                          <a:solidFill>
                            <a:schemeClr val="tx1"/>
                          </a:solidFill>
                          <a:effectLst/>
                          <a:latin typeface="+mn-ea"/>
                          <a:ea typeface="+mn-ea"/>
                        </a:rPr>
                        <a:t>)</a:t>
                      </a:r>
                      <a:endParaRPr lang="ko-KR" altLang="en-US" sz="1000" kern="0" spc="-50">
                        <a:solidFill>
                          <a:schemeClr val="tx1"/>
                        </a:solidFill>
                        <a:effectLst/>
                        <a:latin typeface="+mn-ea"/>
                        <a:ea typeface="+mn-ea"/>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gridSpan="3">
                  <a:txBody>
                    <a:bodyPr/>
                    <a:lstStyle/>
                    <a:p>
                      <a:pPr marL="17780" marR="17780" indent="0" algn="l" fontAlgn="base" latinLnBrk="1">
                        <a:lnSpc>
                          <a:spcPct val="120000"/>
                        </a:lnSpc>
                        <a:buNone/>
                      </a:pPr>
                      <a:r>
                        <a:rPr lang="ko-KR" altLang="en-US" sz="1000" kern="0" spc="-50" dirty="0">
                          <a:solidFill>
                            <a:schemeClr val="tx1"/>
                          </a:solidFill>
                          <a:effectLst/>
                          <a:latin typeface="+mn-ea"/>
                          <a:ea typeface="+mn-ea"/>
                        </a:rPr>
                        <a:t>적용</a:t>
                      </a:r>
                      <a:endParaRPr lang="ko-KR" altLang="en-US" sz="1000" kern="0" spc="-50" dirty="0">
                        <a:solidFill>
                          <a:srgbClr val="000000"/>
                        </a:solidFill>
                        <a:effectLst/>
                        <a:latin typeface="KoPub바탕체 Medium" panose="02020603020101020101" pitchFamily="18" charset="-127"/>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lnL w="12700" cap="flat" cmpd="sng" algn="ctr">
                      <a:solidFill>
                        <a:schemeClr val="bg1">
                          <a:lumMod val="50000"/>
                        </a:schemeClr>
                      </a:solidFill>
                      <a:prstDash val="solid"/>
                      <a:round/>
                      <a:headEnd type="none" w="med" len="med"/>
                      <a:tailEnd type="none" w="med" len="med"/>
                    </a:lnL>
                  </a:tcPr>
                </a:tc>
                <a:tc hMerge="1">
                  <a:txBody>
                    <a:bodyPr/>
                    <a:lstStyle/>
                    <a:p>
                      <a:pPr latinLnBrk="1"/>
                      <a:endParaRPr lang="ko-KR" altLang="en-US"/>
                    </a:p>
                  </a:txBody>
                  <a:tcPr/>
                </a:tc>
                <a:extLst>
                  <a:ext uri="{0D108BD9-81ED-4DB2-BD59-A6C34878D82A}">
                    <a16:rowId xmlns:a16="http://schemas.microsoft.com/office/drawing/2014/main" val="3089929932"/>
                  </a:ext>
                </a:extLst>
              </a:tr>
              <a:tr h="123002">
                <a:tc gridSpan="2">
                  <a:txBody>
                    <a:bodyPr/>
                    <a:lstStyle/>
                    <a:p>
                      <a:pPr marL="0" marR="0" indent="0" algn="ctr" fontAlgn="base" latinLnBrk="0">
                        <a:lnSpc>
                          <a:spcPct val="100000"/>
                        </a:lnSpc>
                        <a:buNone/>
                      </a:pPr>
                      <a:r>
                        <a:rPr lang="ko-KR" altLang="en-US" sz="1000" kern="0" spc="-100">
                          <a:solidFill>
                            <a:schemeClr val="tx1"/>
                          </a:solidFill>
                          <a:effectLst/>
                          <a:latin typeface="+mn-ea"/>
                          <a:ea typeface="+mn-ea"/>
                        </a:rPr>
                        <a:t>참가 여부</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gridSpan="3">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허용</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lnL w="12700" cap="flat" cmpd="sng" algn="ctr">
                      <a:solidFill>
                        <a:schemeClr val="bg1">
                          <a:lumMod val="50000"/>
                        </a:schemeClr>
                      </a:solidFill>
                      <a:prstDash val="solid"/>
                      <a:round/>
                      <a:headEnd type="none" w="med" len="med"/>
                      <a:tailEnd type="none" w="med" len="med"/>
                    </a:lnL>
                  </a:tcPr>
                </a:tc>
                <a:tc>
                  <a:txBody>
                    <a:bodyPr/>
                    <a:lstStyle/>
                    <a:p>
                      <a:pPr marL="17780" marR="17780" indent="0" algn="l" fontAlgn="base" latinLnBrk="1">
                        <a:lnSpc>
                          <a:spcPct val="100000"/>
                        </a:lnSpc>
                        <a:buNone/>
                      </a:pPr>
                      <a:r>
                        <a:rPr lang="ko-KR" altLang="en-US" sz="1000" kern="0" spc="-50">
                          <a:solidFill>
                            <a:schemeClr val="tx1"/>
                          </a:solidFill>
                          <a:effectLst/>
                          <a:latin typeface="+mn-ea"/>
                          <a:ea typeface="+mn-ea"/>
                        </a:rPr>
                        <a:t>보조 참가만이 허용</a:t>
                      </a:r>
                      <a:endParaRPr lang="ko-KR" altLang="en-US" sz="1000" kern="0" spc="-50">
                        <a:solidFill>
                          <a:schemeClr val="tx1"/>
                        </a:solidFill>
                        <a:effectLst/>
                        <a:latin typeface="KoPub바탕체 Medium" panose="02020603020101020101" pitchFamily="18" charset="-127"/>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629688056"/>
                  </a:ext>
                </a:extLst>
              </a:tr>
              <a:tr h="446256">
                <a:tc gridSpan="2">
                  <a:txBody>
                    <a:bodyPr/>
                    <a:lstStyle/>
                    <a:p>
                      <a:pPr marL="0" marR="0" indent="0" algn="ctr" fontAlgn="base" latinLnBrk="0">
                        <a:lnSpc>
                          <a:spcPct val="100000"/>
                        </a:lnSpc>
                        <a:buNone/>
                      </a:pPr>
                      <a:r>
                        <a:rPr lang="ko-KR" altLang="en-US" sz="1000" kern="0" spc="-100">
                          <a:solidFill>
                            <a:schemeClr val="tx1"/>
                          </a:solidFill>
                          <a:effectLst/>
                          <a:latin typeface="+mn-ea"/>
                          <a:ea typeface="+mn-ea"/>
                        </a:rPr>
                        <a:t>비 고</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17780" marR="17780" indent="0" algn="l" fontAlgn="base" latinLnBrk="1">
                        <a:lnSpc>
                          <a:spcPct val="100000"/>
                        </a:lnSpc>
                        <a:buNone/>
                      </a:pPr>
                      <a:r>
                        <a:rPr lang="ko-KR" altLang="en-US" sz="1000" kern="0" spc="-100" dirty="0">
                          <a:solidFill>
                            <a:schemeClr val="tx1"/>
                          </a:solidFill>
                          <a:effectLst/>
                          <a:latin typeface="+mn-ea"/>
                          <a:ea typeface="+mn-ea"/>
                        </a:rPr>
                        <a:t>특허무효심판이 심판원에 계속 중 정정청구 가능</a:t>
                      </a:r>
                      <a:endParaRPr lang="ko-KR" altLang="en-US" sz="1000" kern="0" spc="-50" dirty="0">
                        <a:solidFill>
                          <a:schemeClr val="tx1"/>
                        </a:solidFill>
                        <a:effectLst/>
                        <a:latin typeface="+mn-ea"/>
                        <a:ea typeface="+mn-ea"/>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20000"/>
                        </a:lnSpc>
                        <a:buNone/>
                      </a:pPr>
                      <a:endParaRPr lang="ko-KR" altLang="en-US" sz="1000" kern="0" spc="-50" dirty="0">
                        <a:solidFill>
                          <a:srgbClr val="000000"/>
                        </a:solidFill>
                        <a:effectLst/>
                        <a:latin typeface="KoPub바탕체 Medium" panose="02020603020101020101" pitchFamily="18" charset="-127"/>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17780" marR="17780" indent="0" algn="l" fontAlgn="base" latinLnBrk="1">
                        <a:lnSpc>
                          <a:spcPct val="100000"/>
                        </a:lnSpc>
                        <a:buNone/>
                      </a:pPr>
                      <a:r>
                        <a:rPr lang="ko-KR" altLang="en-US" sz="1000" kern="0" spc="-50" dirty="0">
                          <a:solidFill>
                            <a:schemeClr val="tx1"/>
                          </a:solidFill>
                          <a:effectLst/>
                          <a:latin typeface="+mn-ea"/>
                          <a:ea typeface="+mn-ea"/>
                        </a:rPr>
                        <a:t>정정무효심판이 심판원에 계속 중 정정청구 가능</a:t>
                      </a: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B w="12700" cap="flat" cmpd="sng" algn="ctr">
                      <a:solidFill>
                        <a:schemeClr val="bg1">
                          <a:lumMod val="50000"/>
                        </a:schemeClr>
                      </a:solidFill>
                      <a:prstDash val="solid"/>
                      <a:round/>
                      <a:headEnd type="none" w="med" len="med"/>
                      <a:tailEnd type="none" w="med" len="med"/>
                    </a:lnB>
                    <a:noFill/>
                  </a:tcPr>
                </a:tc>
                <a:tc>
                  <a:txBody>
                    <a:bodyPr/>
                    <a:lstStyle/>
                    <a:p>
                      <a:pPr marL="125730" marR="17780" indent="-125730" algn="l" fontAlgn="base" latinLnBrk="1">
                        <a:lnSpc>
                          <a:spcPct val="100000"/>
                        </a:lnSpc>
                        <a:buNone/>
                      </a:pPr>
                      <a:r>
                        <a:rPr lang="ko-KR" altLang="en-US" sz="1000" kern="0" spc="-50" dirty="0">
                          <a:solidFill>
                            <a:schemeClr val="tx1"/>
                          </a:solidFill>
                          <a:effectLst/>
                          <a:latin typeface="+mn-ea"/>
                          <a:ea typeface="+mn-ea"/>
                        </a:rPr>
                        <a:t>크로스 라이선스 요건 </a:t>
                      </a:r>
                    </a:p>
                    <a:p>
                      <a:pPr marL="85090" marR="17780" indent="-85090" algn="l" fontAlgn="base" latinLnBrk="0">
                        <a:lnSpc>
                          <a:spcPct val="100000"/>
                        </a:lnSpc>
                        <a:buNone/>
                      </a:pPr>
                      <a:r>
                        <a:rPr lang="en-US" altLang="ko-KR" sz="1000" kern="0" spc="-50" dirty="0">
                          <a:solidFill>
                            <a:schemeClr val="tx1"/>
                          </a:solidFill>
                          <a:effectLst/>
                          <a:latin typeface="+mn-ea"/>
                          <a:ea typeface="+mn-ea"/>
                        </a:rPr>
                        <a:t>- </a:t>
                      </a:r>
                      <a:r>
                        <a:rPr lang="ko-KR" altLang="en-US" sz="1000" kern="0" spc="-50" dirty="0" err="1">
                          <a:solidFill>
                            <a:schemeClr val="tx1"/>
                          </a:solidFill>
                          <a:effectLst/>
                          <a:latin typeface="+mn-ea"/>
                          <a:ea typeface="+mn-ea"/>
                        </a:rPr>
                        <a:t>통상실시권허락심판에</a:t>
                      </a:r>
                      <a:r>
                        <a:rPr lang="ko-KR" altLang="en-US" sz="1000" kern="0" spc="-50" dirty="0">
                          <a:solidFill>
                            <a:schemeClr val="tx1"/>
                          </a:solidFill>
                          <a:effectLst/>
                          <a:latin typeface="+mn-ea"/>
                          <a:ea typeface="+mn-ea"/>
                        </a:rPr>
                        <a:t> 의하여 </a:t>
                      </a:r>
                      <a:r>
                        <a:rPr lang="ko-KR" altLang="en-US" sz="1000" kern="0" spc="-50" dirty="0" err="1">
                          <a:solidFill>
                            <a:schemeClr val="tx1"/>
                          </a:solidFill>
                          <a:effectLst/>
                          <a:latin typeface="+mn-ea"/>
                          <a:ea typeface="+mn-ea"/>
                        </a:rPr>
                        <a:t>실시권허락</a:t>
                      </a:r>
                      <a:endParaRPr lang="ko-KR" altLang="en-US" sz="1000" kern="0" spc="-50" dirty="0">
                        <a:solidFill>
                          <a:schemeClr val="tx1"/>
                        </a:solidFill>
                        <a:effectLst/>
                        <a:latin typeface="+mn-ea"/>
                        <a:ea typeface="+mn-ea"/>
                      </a:endParaRPr>
                    </a:p>
                    <a:p>
                      <a:pPr marL="17780" marR="17780" indent="0" algn="l" fontAlgn="base" latinLnBrk="1">
                        <a:lnSpc>
                          <a:spcPct val="100000"/>
                        </a:lnSpc>
                        <a:buFontTx/>
                        <a:buNone/>
                      </a:pPr>
                      <a:r>
                        <a:rPr lang="en-US" altLang="ko-KR" sz="1000" kern="0" spc="-50" dirty="0">
                          <a:solidFill>
                            <a:schemeClr val="tx1"/>
                          </a:solidFill>
                          <a:effectLst/>
                          <a:latin typeface="+mn-ea"/>
                          <a:ea typeface="+mn-ea"/>
                        </a:rPr>
                        <a:t>-</a:t>
                      </a:r>
                      <a:r>
                        <a:rPr lang="ko-KR" altLang="en-US" sz="1000" kern="0" spc="-50" dirty="0" err="1">
                          <a:solidFill>
                            <a:schemeClr val="tx1"/>
                          </a:solidFill>
                          <a:effectLst/>
                          <a:latin typeface="+mn-ea"/>
                          <a:ea typeface="+mn-ea"/>
                        </a:rPr>
                        <a:t>후출원</a:t>
                      </a:r>
                      <a:r>
                        <a:rPr lang="ko-KR" altLang="en-US" sz="1000" kern="0" spc="-50" dirty="0">
                          <a:solidFill>
                            <a:schemeClr val="tx1"/>
                          </a:solidFill>
                          <a:effectLst/>
                          <a:latin typeface="+mn-ea"/>
                          <a:ea typeface="+mn-ea"/>
                        </a:rPr>
                        <a:t> 권리자가 실시허락</a:t>
                      </a:r>
                      <a:r>
                        <a:rPr lang="en-US" altLang="ko-KR" sz="1000" kern="0" spc="-50" dirty="0">
                          <a:solidFill>
                            <a:schemeClr val="tx1"/>
                          </a:solidFill>
                          <a:effectLst/>
                          <a:latin typeface="+mn-ea"/>
                          <a:ea typeface="+mn-ea"/>
                        </a:rPr>
                        <a:t>×</a:t>
                      </a:r>
                    </a:p>
                    <a:p>
                      <a:pPr marL="17780" marR="17780" indent="0" algn="l" fontAlgn="base" latinLnBrk="1">
                        <a:lnSpc>
                          <a:spcPct val="100000"/>
                        </a:lnSpc>
                        <a:buFontTx/>
                        <a:buNone/>
                      </a:pPr>
                      <a:r>
                        <a:rPr lang="en-US" altLang="ko-KR" sz="1000" kern="0" spc="-50" dirty="0">
                          <a:solidFill>
                            <a:schemeClr val="tx1"/>
                          </a:solidFill>
                          <a:effectLst/>
                          <a:latin typeface="+mn-ea"/>
                          <a:ea typeface="+mn-ea"/>
                        </a:rPr>
                        <a:t>-</a:t>
                      </a:r>
                      <a:r>
                        <a:rPr lang="ko-KR" altLang="en-US" sz="1000" kern="0" spc="-50" dirty="0" err="1">
                          <a:solidFill>
                            <a:schemeClr val="tx1"/>
                          </a:solidFill>
                          <a:effectLst/>
                          <a:latin typeface="+mn-ea"/>
                          <a:ea typeface="+mn-ea"/>
                        </a:rPr>
                        <a:t>허락받아</a:t>
                      </a:r>
                      <a:r>
                        <a:rPr lang="ko-KR" altLang="en-US" sz="1000" kern="0" spc="-50" dirty="0">
                          <a:solidFill>
                            <a:schemeClr val="tx1"/>
                          </a:solidFill>
                          <a:effectLst/>
                          <a:latin typeface="+mn-ea"/>
                          <a:ea typeface="+mn-ea"/>
                        </a:rPr>
                        <a:t> 실시하려는 특허발명의 범위 이내일 것</a:t>
                      </a:r>
                      <a:endParaRPr lang="ko-KR" altLang="en-US" sz="1000" kern="0" spc="-50" dirty="0">
                        <a:solidFill>
                          <a:schemeClr val="tx1"/>
                        </a:solidFill>
                        <a:effectLst/>
                        <a:latin typeface="KoPub바탕체 Medium" panose="02020603020101020101" pitchFamily="18" charset="-127"/>
                      </a:endParaRPr>
                    </a:p>
                  </a:txBody>
                  <a:tcPr marL="10785" marR="10785" marT="10785" marB="10785"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140737995"/>
                  </a:ext>
                </a:extLst>
              </a:tr>
            </a:tbl>
          </a:graphicData>
        </a:graphic>
      </p:graphicFrame>
    </p:spTree>
    <p:extLst>
      <p:ext uri="{BB962C8B-B14F-4D97-AF65-F5344CB8AC3E}">
        <p14:creationId xmlns:p14="http://schemas.microsoft.com/office/powerpoint/2010/main" val="1900052538"/>
      </p:ext>
    </p:extLst>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132</a:t>
            </a:r>
            <a:r>
              <a:rPr lang="ko-KR" altLang="en-US" dirty="0"/>
              <a:t>조의</a:t>
            </a:r>
            <a:r>
              <a:rPr lang="en-US" altLang="ko-KR" dirty="0"/>
              <a:t>2~</a:t>
            </a:r>
            <a:br>
              <a:rPr lang="en-US" altLang="ko-KR" dirty="0"/>
            </a:br>
            <a:r>
              <a:rPr lang="ko-KR" altLang="en-US" dirty="0"/>
              <a:t>제</a:t>
            </a:r>
            <a:r>
              <a:rPr lang="en-US" altLang="ko-KR" dirty="0"/>
              <a:t>132</a:t>
            </a:r>
            <a:r>
              <a:rPr lang="ko-KR" altLang="en-US" dirty="0"/>
              <a:t>조의</a:t>
            </a:r>
            <a:r>
              <a:rPr lang="en-US" altLang="ko-KR" dirty="0"/>
              <a:t>15</a:t>
            </a:r>
            <a:endParaRPr lang="ko-KR" altLang="en-US" dirty="0"/>
          </a:p>
        </p:txBody>
      </p:sp>
      <p:sp>
        <p:nvSpPr>
          <p:cNvPr id="4" name="텍스트 개체 틀 3"/>
          <p:cNvSpPr>
            <a:spLocks noGrp="1"/>
          </p:cNvSpPr>
          <p:nvPr>
            <p:ph type="body" sz="quarter" idx="13"/>
          </p:nvPr>
        </p:nvSpPr>
        <p:spPr/>
        <p:txBody>
          <a:bodyPr/>
          <a:lstStyle/>
          <a:p>
            <a:r>
              <a:rPr lang="ko-KR" altLang="en-US" dirty="0"/>
              <a:t>특허취소신청 </a:t>
            </a:r>
            <a:r>
              <a:rPr lang="en-US" altLang="ko-KR" dirty="0"/>
              <a:t>vs </a:t>
            </a:r>
            <a:r>
              <a:rPr lang="ko-KR" altLang="en-US" dirty="0"/>
              <a:t>특허무효심판</a:t>
            </a:r>
          </a:p>
        </p:txBody>
      </p:sp>
      <p:sp>
        <p:nvSpPr>
          <p:cNvPr id="20" name="Line 5"/>
          <p:cNvSpPr>
            <a:spLocks noChangeShapeType="1"/>
          </p:cNvSpPr>
          <p:nvPr/>
        </p:nvSpPr>
        <p:spPr bwMode="auto">
          <a:xfrm>
            <a:off x="404862" y="2177522"/>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8" name="TextBox 27"/>
          <p:cNvSpPr txBox="1"/>
          <p:nvPr/>
        </p:nvSpPr>
        <p:spPr>
          <a:xfrm>
            <a:off x="469308" y="2682036"/>
            <a:ext cx="1266940" cy="46650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설정등록</a:t>
            </a:r>
            <a:endParaRPr lang="en-US" altLang="ko-KR" sz="1200" dirty="0">
              <a:solidFill>
                <a:schemeClr val="tx1"/>
              </a:solidFill>
              <a:latin typeface="+mn-ea"/>
            </a:endParaRPr>
          </a:p>
        </p:txBody>
      </p:sp>
      <p:sp>
        <p:nvSpPr>
          <p:cNvPr id="32" name="타원 31"/>
          <p:cNvSpPr/>
          <p:nvPr/>
        </p:nvSpPr>
        <p:spPr>
          <a:xfrm>
            <a:off x="1968199" y="208642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33" name="직선 화살표 연결선 32"/>
          <p:cNvCxnSpPr>
            <a:stCxn id="34" idx="2"/>
            <a:endCxn id="32" idx="0"/>
          </p:cNvCxnSpPr>
          <p:nvPr/>
        </p:nvCxnSpPr>
        <p:spPr>
          <a:xfrm flipH="1">
            <a:off x="2045568" y="1863509"/>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1412099" y="1397000"/>
            <a:ext cx="1266940" cy="46650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특허취소신청</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누구든지</a:t>
            </a:r>
            <a:r>
              <a:rPr lang="en-US" altLang="ko-KR" sz="1200" dirty="0">
                <a:solidFill>
                  <a:schemeClr val="tx1"/>
                </a:solidFill>
                <a:latin typeface="+mn-ea"/>
              </a:rPr>
              <a:t>, </a:t>
            </a:r>
            <a:r>
              <a:rPr lang="ko-KR" altLang="en-US" sz="1200" dirty="0">
                <a:solidFill>
                  <a:schemeClr val="tx1"/>
                </a:solidFill>
                <a:latin typeface="+mn-ea"/>
              </a:rPr>
              <a:t>甲</a:t>
            </a:r>
            <a:r>
              <a:rPr lang="en-US" altLang="ko-KR" sz="1200" dirty="0">
                <a:solidFill>
                  <a:schemeClr val="tx1"/>
                </a:solidFill>
                <a:latin typeface="+mn-ea"/>
              </a:rPr>
              <a:t>)</a:t>
            </a:r>
          </a:p>
        </p:txBody>
      </p:sp>
      <p:sp>
        <p:nvSpPr>
          <p:cNvPr id="40" name="타원 39"/>
          <p:cNvSpPr/>
          <p:nvPr/>
        </p:nvSpPr>
        <p:spPr>
          <a:xfrm>
            <a:off x="1030595" y="208642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13" name="직선 화살표 연결선 12"/>
          <p:cNvCxnSpPr>
            <a:stCxn id="28" idx="0"/>
            <a:endCxn id="40" idx="4"/>
          </p:cNvCxnSpPr>
          <p:nvPr/>
        </p:nvCxnSpPr>
        <p:spPr>
          <a:xfrm flipV="1">
            <a:off x="1102778" y="2247763"/>
            <a:ext cx="5186" cy="43427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5" name="직선 연결선 14"/>
          <p:cNvCxnSpPr/>
          <p:nvPr/>
        </p:nvCxnSpPr>
        <p:spPr>
          <a:xfrm>
            <a:off x="2895600" y="1863509"/>
            <a:ext cx="0" cy="970927"/>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직선 연결선 17"/>
          <p:cNvCxnSpPr/>
          <p:nvPr/>
        </p:nvCxnSpPr>
        <p:spPr>
          <a:xfrm>
            <a:off x="1102778" y="2576965"/>
            <a:ext cx="1792822" cy="0"/>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1272402" y="2191439"/>
            <a:ext cx="1575392" cy="466509"/>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등록공고일후 </a:t>
            </a:r>
            <a:r>
              <a:rPr lang="en-US" altLang="ko-KR" sz="1200" dirty="0">
                <a:solidFill>
                  <a:schemeClr val="tx1"/>
                </a:solidFill>
                <a:latin typeface="+mn-ea"/>
              </a:rPr>
              <a:t>6</a:t>
            </a:r>
            <a:r>
              <a:rPr lang="ko-KR" altLang="en-US" sz="1200" dirty="0">
                <a:solidFill>
                  <a:schemeClr val="tx1"/>
                </a:solidFill>
                <a:latin typeface="+mn-ea"/>
              </a:rPr>
              <a:t>월</a:t>
            </a:r>
            <a:endParaRPr lang="en-US" altLang="ko-KR" sz="1200" dirty="0">
              <a:solidFill>
                <a:schemeClr val="tx1"/>
              </a:solidFill>
              <a:latin typeface="+mn-ea"/>
            </a:endParaRPr>
          </a:p>
        </p:txBody>
      </p:sp>
      <p:sp>
        <p:nvSpPr>
          <p:cNvPr id="51" name="타원 50"/>
          <p:cNvSpPr/>
          <p:nvPr/>
        </p:nvSpPr>
        <p:spPr>
          <a:xfrm>
            <a:off x="2822394" y="208642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52" name="TextBox 51"/>
          <p:cNvSpPr txBox="1"/>
          <p:nvPr/>
        </p:nvSpPr>
        <p:spPr>
          <a:xfrm>
            <a:off x="3592626" y="2682036"/>
            <a:ext cx="1266940" cy="46650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심리개시</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서면</a:t>
            </a:r>
            <a:r>
              <a:rPr lang="en-US" altLang="ko-KR" sz="1200" dirty="0">
                <a:solidFill>
                  <a:schemeClr val="tx1"/>
                </a:solidFill>
                <a:latin typeface="+mn-ea"/>
              </a:rPr>
              <a:t>)</a:t>
            </a:r>
          </a:p>
        </p:txBody>
      </p:sp>
      <p:sp>
        <p:nvSpPr>
          <p:cNvPr id="53" name="타원 52"/>
          <p:cNvSpPr/>
          <p:nvPr/>
        </p:nvSpPr>
        <p:spPr>
          <a:xfrm>
            <a:off x="4153913" y="208642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54" name="직선 화살표 연결선 53"/>
          <p:cNvCxnSpPr>
            <a:stCxn id="52" idx="0"/>
            <a:endCxn id="53" idx="4"/>
          </p:cNvCxnSpPr>
          <p:nvPr/>
        </p:nvCxnSpPr>
        <p:spPr>
          <a:xfrm flipV="1">
            <a:off x="4226096" y="2247763"/>
            <a:ext cx="5186" cy="43427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3592626" y="3441700"/>
            <a:ext cx="1266940" cy="425172"/>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기각결정</a:t>
            </a:r>
            <a:endParaRPr lang="en-US" altLang="ko-KR" sz="1200" dirty="0">
              <a:solidFill>
                <a:schemeClr val="tx1"/>
              </a:solidFill>
              <a:latin typeface="+mn-ea"/>
            </a:endParaRPr>
          </a:p>
        </p:txBody>
      </p:sp>
      <p:cxnSp>
        <p:nvCxnSpPr>
          <p:cNvPr id="50" name="직선 화살표 연결선 49"/>
          <p:cNvCxnSpPr>
            <a:stCxn id="52" idx="2"/>
            <a:endCxn id="56" idx="0"/>
          </p:cNvCxnSpPr>
          <p:nvPr/>
        </p:nvCxnSpPr>
        <p:spPr>
          <a:xfrm>
            <a:off x="4226096" y="3148545"/>
            <a:ext cx="0" cy="29315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9" name="TextBox 58"/>
          <p:cNvSpPr txBox="1"/>
          <p:nvPr/>
        </p:nvSpPr>
        <p:spPr>
          <a:xfrm>
            <a:off x="3402121" y="3171764"/>
            <a:ext cx="906530" cy="282636"/>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r>
              <a:rPr lang="ko-KR" altLang="en-US" sz="1200" dirty="0" err="1">
                <a:solidFill>
                  <a:schemeClr val="tx1"/>
                </a:solidFill>
                <a:latin typeface="+mn-ea"/>
              </a:rPr>
              <a:t>취소사유</a:t>
            </a:r>
            <a:r>
              <a:rPr lang="en-US" altLang="ko-KR" sz="1200" dirty="0">
                <a:solidFill>
                  <a:schemeClr val="tx1"/>
                </a:solidFill>
                <a:latin typeface="+mn-ea"/>
              </a:rPr>
              <a:t>×</a:t>
            </a:r>
          </a:p>
        </p:txBody>
      </p:sp>
      <p:sp>
        <p:nvSpPr>
          <p:cNvPr id="60" name="타원 59"/>
          <p:cNvSpPr/>
          <p:nvPr/>
        </p:nvSpPr>
        <p:spPr>
          <a:xfrm>
            <a:off x="5827309" y="208642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57" name="꺾인 연결선 56"/>
          <p:cNvCxnSpPr>
            <a:stCxn id="52" idx="3"/>
            <a:endCxn id="60" idx="4"/>
          </p:cNvCxnSpPr>
          <p:nvPr/>
        </p:nvCxnSpPr>
        <p:spPr>
          <a:xfrm flipV="1">
            <a:off x="4859566" y="2247763"/>
            <a:ext cx="1045112" cy="667528"/>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4755127" y="2678932"/>
            <a:ext cx="1354868" cy="42241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lnSpc>
                <a:spcPct val="150000"/>
              </a:lnSpc>
            </a:pPr>
            <a:r>
              <a:rPr lang="ko-KR" altLang="en-US" sz="1200" dirty="0" err="1">
                <a:solidFill>
                  <a:schemeClr val="tx1"/>
                </a:solidFill>
                <a:latin typeface="+mn-ea"/>
              </a:rPr>
              <a:t>취소사유</a:t>
            </a:r>
            <a:r>
              <a:rPr lang="ko-KR" altLang="en-US" sz="1200" dirty="0">
                <a:solidFill>
                  <a:schemeClr val="tx1"/>
                </a:solidFill>
                <a:latin typeface="+mn-ea"/>
              </a:rPr>
              <a:t>○</a:t>
            </a:r>
            <a:endParaRPr lang="en-US" altLang="ko-KR" sz="1200" dirty="0">
              <a:solidFill>
                <a:schemeClr val="tx1"/>
              </a:solidFill>
              <a:latin typeface="+mn-ea"/>
            </a:endParaRPr>
          </a:p>
          <a:p>
            <a:pPr algn="ctr">
              <a:lnSpc>
                <a:spcPct val="150000"/>
              </a:lnSpc>
            </a:pPr>
            <a:r>
              <a:rPr lang="en-US" altLang="ko-KR" sz="1200" dirty="0">
                <a:solidFill>
                  <a:schemeClr val="tx1"/>
                </a:solidFill>
                <a:latin typeface="+mn-ea"/>
              </a:rPr>
              <a:t>(</a:t>
            </a:r>
            <a:r>
              <a:rPr lang="ko-KR" altLang="en-US" sz="1200" dirty="0" err="1">
                <a:solidFill>
                  <a:schemeClr val="tx1"/>
                </a:solidFill>
                <a:latin typeface="+mn-ea"/>
              </a:rPr>
              <a:t>특허권자</a:t>
            </a:r>
            <a:r>
              <a:rPr lang="ko-KR" altLang="en-US" sz="1200" dirty="0">
                <a:solidFill>
                  <a:schemeClr val="tx1"/>
                </a:solidFill>
                <a:latin typeface="+mn-ea"/>
              </a:rPr>
              <a:t> 관여</a:t>
            </a:r>
            <a:r>
              <a:rPr lang="en-US" altLang="ko-KR" sz="1200" dirty="0">
                <a:solidFill>
                  <a:schemeClr val="tx1"/>
                </a:solidFill>
                <a:latin typeface="+mn-ea"/>
              </a:rPr>
              <a:t>)</a:t>
            </a:r>
          </a:p>
        </p:txBody>
      </p:sp>
      <p:cxnSp>
        <p:nvCxnSpPr>
          <p:cNvPr id="65" name="직선 화살표 연결선 64"/>
          <p:cNvCxnSpPr>
            <a:stCxn id="66" idx="2"/>
          </p:cNvCxnSpPr>
          <p:nvPr/>
        </p:nvCxnSpPr>
        <p:spPr>
          <a:xfrm>
            <a:off x="5904678" y="1863509"/>
            <a:ext cx="0"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5129156" y="1397000"/>
            <a:ext cx="1551044" cy="46650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정정 기회 부여</a:t>
            </a:r>
            <a:endParaRPr lang="en-US" altLang="ko-KR" sz="1200" dirty="0">
              <a:solidFill>
                <a:schemeClr val="tx1"/>
              </a:solidFill>
              <a:latin typeface="+mn-ea"/>
            </a:endParaRPr>
          </a:p>
          <a:p>
            <a:pPr algn="ctr"/>
            <a:r>
              <a:rPr lang="ko-KR" altLang="en-US" sz="1200" dirty="0" err="1">
                <a:solidFill>
                  <a:schemeClr val="tx1"/>
                </a:solidFill>
                <a:latin typeface="+mn-ea"/>
              </a:rPr>
              <a:t>취소증거</a:t>
            </a:r>
            <a:r>
              <a:rPr lang="ko-KR" altLang="en-US" sz="1200" dirty="0">
                <a:solidFill>
                  <a:schemeClr val="tx1"/>
                </a:solidFill>
                <a:latin typeface="+mn-ea"/>
              </a:rPr>
              <a:t> 추가 不可</a:t>
            </a:r>
            <a:endParaRPr lang="en-US" altLang="ko-KR" sz="1200" dirty="0">
              <a:solidFill>
                <a:schemeClr val="tx1"/>
              </a:solidFill>
              <a:latin typeface="+mn-ea"/>
            </a:endParaRPr>
          </a:p>
        </p:txBody>
      </p:sp>
      <p:sp>
        <p:nvSpPr>
          <p:cNvPr id="70" name="TextBox 69"/>
          <p:cNvSpPr txBox="1"/>
          <p:nvPr/>
        </p:nvSpPr>
        <p:spPr>
          <a:xfrm>
            <a:off x="6949790" y="2682036"/>
            <a:ext cx="1266940" cy="46650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심판관 </a:t>
            </a:r>
            <a:r>
              <a:rPr lang="ko-KR" altLang="en-US" sz="1200" dirty="0" err="1">
                <a:solidFill>
                  <a:schemeClr val="tx1"/>
                </a:solidFill>
                <a:latin typeface="+mn-ea"/>
              </a:rPr>
              <a:t>취소결정</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甲</a:t>
            </a:r>
            <a:r>
              <a:rPr lang="en-US" altLang="ko-KR" sz="1200" dirty="0">
                <a:solidFill>
                  <a:schemeClr val="tx1"/>
                </a:solidFill>
                <a:latin typeface="+mn-ea"/>
              </a:rPr>
              <a:t>, </a:t>
            </a:r>
            <a:r>
              <a:rPr lang="ko-KR" altLang="en-US" sz="1200" dirty="0">
                <a:solidFill>
                  <a:schemeClr val="tx1"/>
                </a:solidFill>
                <a:latin typeface="+mn-ea"/>
              </a:rPr>
              <a:t>승</a:t>
            </a:r>
            <a:r>
              <a:rPr lang="en-US" altLang="ko-KR" sz="1200" dirty="0">
                <a:solidFill>
                  <a:schemeClr val="tx1"/>
                </a:solidFill>
                <a:latin typeface="+mn-ea"/>
              </a:rPr>
              <a:t>)</a:t>
            </a:r>
          </a:p>
        </p:txBody>
      </p:sp>
      <p:sp>
        <p:nvSpPr>
          <p:cNvPr id="71" name="타원 70"/>
          <p:cNvSpPr/>
          <p:nvPr/>
        </p:nvSpPr>
        <p:spPr>
          <a:xfrm>
            <a:off x="7511077" y="208642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72" name="직선 화살표 연결선 71"/>
          <p:cNvCxnSpPr>
            <a:stCxn id="70" idx="0"/>
            <a:endCxn id="71" idx="4"/>
          </p:cNvCxnSpPr>
          <p:nvPr/>
        </p:nvCxnSpPr>
        <p:spPr>
          <a:xfrm flipV="1">
            <a:off x="7583260" y="2247763"/>
            <a:ext cx="5186" cy="43427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4" name="타원 73"/>
          <p:cNvSpPr/>
          <p:nvPr/>
        </p:nvSpPr>
        <p:spPr>
          <a:xfrm>
            <a:off x="8974380" y="208642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75" name="직선 화살표 연결선 74"/>
          <p:cNvCxnSpPr>
            <a:stCxn id="76" idx="2"/>
          </p:cNvCxnSpPr>
          <p:nvPr/>
        </p:nvCxnSpPr>
        <p:spPr>
          <a:xfrm>
            <a:off x="9051749" y="1863509"/>
            <a:ext cx="0"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6" name="TextBox 75"/>
          <p:cNvSpPr txBox="1"/>
          <p:nvPr/>
        </p:nvSpPr>
        <p:spPr>
          <a:xfrm>
            <a:off x="8276227" y="1397000"/>
            <a:ext cx="1551044" cy="46650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취소결정에</a:t>
            </a:r>
            <a:r>
              <a:rPr lang="ko-KR" altLang="en-US" sz="1200" dirty="0">
                <a:solidFill>
                  <a:schemeClr val="tx1"/>
                </a:solidFill>
                <a:latin typeface="+mn-ea"/>
              </a:rPr>
              <a:t> 대한 소</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지식재산처장</a:t>
            </a:r>
            <a:r>
              <a:rPr lang="en-US" altLang="ko-KR" sz="1200" dirty="0">
                <a:solidFill>
                  <a:schemeClr val="tx1"/>
                </a:solidFill>
                <a:latin typeface="+mn-ea"/>
              </a:rPr>
              <a:t>, </a:t>
            </a:r>
            <a:r>
              <a:rPr lang="ko-KR" altLang="en-US" sz="1200" dirty="0">
                <a:solidFill>
                  <a:schemeClr val="tx1"/>
                </a:solidFill>
                <a:latin typeface="+mn-ea"/>
              </a:rPr>
              <a:t>피고</a:t>
            </a:r>
            <a:r>
              <a:rPr lang="en-US" altLang="ko-KR" sz="1200" dirty="0">
                <a:solidFill>
                  <a:schemeClr val="tx1"/>
                </a:solidFill>
                <a:latin typeface="+mn-ea"/>
              </a:rPr>
              <a:t>)</a:t>
            </a:r>
          </a:p>
        </p:txBody>
      </p:sp>
      <p:sp>
        <p:nvSpPr>
          <p:cNvPr id="77" name="TextBox 76"/>
          <p:cNvSpPr txBox="1"/>
          <p:nvPr/>
        </p:nvSpPr>
        <p:spPr>
          <a:xfrm>
            <a:off x="9858591" y="2682036"/>
            <a:ext cx="1266940" cy="46650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소송수행</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지식재산처장</a:t>
            </a:r>
            <a:r>
              <a:rPr lang="en-US" altLang="ko-KR" sz="1200" dirty="0">
                <a:solidFill>
                  <a:schemeClr val="tx1"/>
                </a:solidFill>
                <a:latin typeface="+mn-ea"/>
              </a:rPr>
              <a:t>)</a:t>
            </a:r>
          </a:p>
        </p:txBody>
      </p:sp>
      <p:sp>
        <p:nvSpPr>
          <p:cNvPr id="78" name="타원 77"/>
          <p:cNvSpPr/>
          <p:nvPr/>
        </p:nvSpPr>
        <p:spPr>
          <a:xfrm>
            <a:off x="10419878" y="2086425"/>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79" name="직선 화살표 연결선 78"/>
          <p:cNvCxnSpPr>
            <a:stCxn id="77" idx="0"/>
            <a:endCxn id="78" idx="4"/>
          </p:cNvCxnSpPr>
          <p:nvPr/>
        </p:nvCxnSpPr>
        <p:spPr>
          <a:xfrm flipV="1">
            <a:off x="10492061" y="2247763"/>
            <a:ext cx="5186" cy="43427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171" name="모서리가 둥근 직사각형 7170"/>
          <p:cNvSpPr/>
          <p:nvPr/>
        </p:nvSpPr>
        <p:spPr>
          <a:xfrm>
            <a:off x="279400" y="1028700"/>
            <a:ext cx="751195" cy="673100"/>
          </a:xfrm>
          <a:prstGeom prst="roundRect">
            <a:avLst/>
          </a:prstGeom>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취소</a:t>
            </a:r>
            <a:endParaRPr lang="en-US" altLang="ko-KR" dirty="0"/>
          </a:p>
          <a:p>
            <a:pPr algn="ctr"/>
            <a:r>
              <a:rPr lang="ko-KR" altLang="en-US" dirty="0"/>
              <a:t>신청</a:t>
            </a:r>
          </a:p>
        </p:txBody>
      </p:sp>
      <p:cxnSp>
        <p:nvCxnSpPr>
          <p:cNvPr id="81" name="직선 연결선 80"/>
          <p:cNvCxnSpPr/>
          <p:nvPr/>
        </p:nvCxnSpPr>
        <p:spPr>
          <a:xfrm flipH="1">
            <a:off x="336431" y="3887140"/>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3" name="Line 5"/>
          <p:cNvSpPr>
            <a:spLocks noChangeShapeType="1"/>
          </p:cNvSpPr>
          <p:nvPr/>
        </p:nvSpPr>
        <p:spPr bwMode="auto">
          <a:xfrm>
            <a:off x="404862" y="5290326"/>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84" name="TextBox 83"/>
          <p:cNvSpPr txBox="1"/>
          <p:nvPr/>
        </p:nvSpPr>
        <p:spPr>
          <a:xfrm>
            <a:off x="469308" y="5794840"/>
            <a:ext cx="1266940" cy="4665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설정등록</a:t>
            </a:r>
            <a:endParaRPr lang="en-US" altLang="ko-KR" sz="1200" dirty="0">
              <a:solidFill>
                <a:schemeClr val="tx1"/>
              </a:solidFill>
              <a:latin typeface="+mn-ea"/>
            </a:endParaRPr>
          </a:p>
        </p:txBody>
      </p:sp>
      <p:sp>
        <p:nvSpPr>
          <p:cNvPr id="85" name="타원 84"/>
          <p:cNvSpPr/>
          <p:nvPr/>
        </p:nvSpPr>
        <p:spPr>
          <a:xfrm>
            <a:off x="1968199" y="51992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86" name="직선 화살표 연결선 85"/>
          <p:cNvCxnSpPr>
            <a:stCxn id="87" idx="2"/>
            <a:endCxn id="85" idx="0"/>
          </p:cNvCxnSpPr>
          <p:nvPr/>
        </p:nvCxnSpPr>
        <p:spPr>
          <a:xfrm flipH="1">
            <a:off x="2045568" y="4976313"/>
            <a:ext cx="1"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7" name="TextBox 86"/>
          <p:cNvSpPr txBox="1"/>
          <p:nvPr/>
        </p:nvSpPr>
        <p:spPr>
          <a:xfrm>
            <a:off x="1412099" y="4509804"/>
            <a:ext cx="1266940" cy="4665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무효심판청구</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이해관계인</a:t>
            </a:r>
            <a:r>
              <a:rPr lang="en-US" altLang="ko-KR" sz="1200" dirty="0">
                <a:solidFill>
                  <a:schemeClr val="tx1"/>
                </a:solidFill>
                <a:latin typeface="+mn-ea"/>
              </a:rPr>
              <a:t>, </a:t>
            </a:r>
            <a:r>
              <a:rPr lang="ko-KR" altLang="en-US" sz="1200" dirty="0">
                <a:solidFill>
                  <a:schemeClr val="tx1"/>
                </a:solidFill>
                <a:latin typeface="+mn-ea"/>
              </a:rPr>
              <a:t>甲</a:t>
            </a:r>
            <a:r>
              <a:rPr lang="en-US" altLang="ko-KR" sz="1200" dirty="0">
                <a:solidFill>
                  <a:schemeClr val="tx1"/>
                </a:solidFill>
                <a:latin typeface="+mn-ea"/>
              </a:rPr>
              <a:t>)</a:t>
            </a:r>
          </a:p>
        </p:txBody>
      </p:sp>
      <p:sp>
        <p:nvSpPr>
          <p:cNvPr id="88" name="타원 87"/>
          <p:cNvSpPr/>
          <p:nvPr/>
        </p:nvSpPr>
        <p:spPr>
          <a:xfrm>
            <a:off x="1030595" y="51992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89" name="직선 화살표 연결선 88"/>
          <p:cNvCxnSpPr>
            <a:stCxn id="84" idx="0"/>
            <a:endCxn id="88" idx="4"/>
          </p:cNvCxnSpPr>
          <p:nvPr/>
        </p:nvCxnSpPr>
        <p:spPr>
          <a:xfrm flipV="1">
            <a:off x="1102778" y="5360567"/>
            <a:ext cx="5186" cy="43427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1" name="직선 연결선 90"/>
          <p:cNvCxnSpPr/>
          <p:nvPr/>
        </p:nvCxnSpPr>
        <p:spPr>
          <a:xfrm>
            <a:off x="1102778" y="5689769"/>
            <a:ext cx="1792822" cy="0"/>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p:cNvSpPr txBox="1"/>
          <p:nvPr/>
        </p:nvSpPr>
        <p:spPr>
          <a:xfrm>
            <a:off x="1272402" y="5304243"/>
            <a:ext cx="1575392" cy="466509"/>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존속 中</a:t>
            </a:r>
            <a:r>
              <a:rPr lang="en-US" altLang="ko-KR" sz="1200" dirty="0">
                <a:solidFill>
                  <a:schemeClr val="tx1"/>
                </a:solidFill>
                <a:latin typeface="+mn-ea"/>
              </a:rPr>
              <a:t>/</a:t>
            </a:r>
            <a:r>
              <a:rPr lang="ko-KR" altLang="en-US" sz="1200" dirty="0" err="1">
                <a:solidFill>
                  <a:schemeClr val="tx1"/>
                </a:solidFill>
                <a:latin typeface="+mn-ea"/>
              </a:rPr>
              <a:t>장래소멸</a:t>
            </a:r>
            <a:endParaRPr lang="en-US" altLang="ko-KR" sz="1200" dirty="0">
              <a:solidFill>
                <a:schemeClr val="tx1"/>
              </a:solidFill>
              <a:latin typeface="+mn-ea"/>
            </a:endParaRPr>
          </a:p>
        </p:txBody>
      </p:sp>
      <p:sp>
        <p:nvSpPr>
          <p:cNvPr id="94" name="TextBox 93"/>
          <p:cNvSpPr txBox="1"/>
          <p:nvPr/>
        </p:nvSpPr>
        <p:spPr>
          <a:xfrm>
            <a:off x="3592626" y="5794840"/>
            <a:ext cx="1266940" cy="4665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심리개시</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구술</a:t>
            </a:r>
            <a:r>
              <a:rPr lang="en-US" altLang="ko-KR" sz="1200" dirty="0">
                <a:solidFill>
                  <a:schemeClr val="tx1"/>
                </a:solidFill>
                <a:latin typeface="+mn-ea"/>
              </a:rPr>
              <a:t>/</a:t>
            </a:r>
            <a:r>
              <a:rPr lang="ko-KR" altLang="en-US" sz="1200" dirty="0">
                <a:solidFill>
                  <a:schemeClr val="tx1"/>
                </a:solidFill>
                <a:latin typeface="+mn-ea"/>
              </a:rPr>
              <a:t>서면</a:t>
            </a:r>
            <a:r>
              <a:rPr lang="en-US" altLang="ko-KR" sz="1200" dirty="0">
                <a:solidFill>
                  <a:schemeClr val="tx1"/>
                </a:solidFill>
                <a:latin typeface="+mn-ea"/>
              </a:rPr>
              <a:t>)</a:t>
            </a:r>
          </a:p>
        </p:txBody>
      </p:sp>
      <p:sp>
        <p:nvSpPr>
          <p:cNvPr id="95" name="타원 94"/>
          <p:cNvSpPr/>
          <p:nvPr/>
        </p:nvSpPr>
        <p:spPr>
          <a:xfrm>
            <a:off x="4153913" y="51992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96" name="직선 화살표 연결선 95"/>
          <p:cNvCxnSpPr>
            <a:stCxn id="94" idx="0"/>
            <a:endCxn id="95" idx="4"/>
          </p:cNvCxnSpPr>
          <p:nvPr/>
        </p:nvCxnSpPr>
        <p:spPr>
          <a:xfrm flipV="1">
            <a:off x="4226096" y="5360567"/>
            <a:ext cx="5186" cy="43427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7" name="타원 96"/>
          <p:cNvSpPr/>
          <p:nvPr/>
        </p:nvSpPr>
        <p:spPr>
          <a:xfrm>
            <a:off x="5827309" y="51992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101" name="직선 화살표 연결선 100"/>
          <p:cNvCxnSpPr>
            <a:stCxn id="102" idx="2"/>
          </p:cNvCxnSpPr>
          <p:nvPr/>
        </p:nvCxnSpPr>
        <p:spPr>
          <a:xfrm>
            <a:off x="5904678" y="4976313"/>
            <a:ext cx="0"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2" name="TextBox 101"/>
          <p:cNvSpPr txBox="1"/>
          <p:nvPr/>
        </p:nvSpPr>
        <p:spPr>
          <a:xfrm>
            <a:off x="5129156" y="4509804"/>
            <a:ext cx="1551044" cy="4665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정정 기회 부여</a:t>
            </a:r>
            <a:endParaRPr lang="en-US" altLang="ko-KR" sz="1200" dirty="0">
              <a:solidFill>
                <a:schemeClr val="tx1"/>
              </a:solidFill>
              <a:latin typeface="+mn-ea"/>
            </a:endParaRPr>
          </a:p>
          <a:p>
            <a:pPr algn="ctr"/>
            <a:r>
              <a:rPr lang="ko-KR" altLang="en-US" sz="1200" dirty="0" err="1">
                <a:solidFill>
                  <a:schemeClr val="tx1"/>
                </a:solidFill>
                <a:latin typeface="+mn-ea"/>
              </a:rPr>
              <a:t>무효증거</a:t>
            </a:r>
            <a:r>
              <a:rPr lang="ko-KR" altLang="en-US" sz="1200" dirty="0">
                <a:solidFill>
                  <a:schemeClr val="tx1"/>
                </a:solidFill>
                <a:latin typeface="+mn-ea"/>
              </a:rPr>
              <a:t> 추가 가능</a:t>
            </a:r>
            <a:endParaRPr lang="en-US" altLang="ko-KR" sz="1200" dirty="0">
              <a:solidFill>
                <a:schemeClr val="tx1"/>
              </a:solidFill>
              <a:latin typeface="+mn-ea"/>
            </a:endParaRPr>
          </a:p>
        </p:txBody>
      </p:sp>
      <p:sp>
        <p:nvSpPr>
          <p:cNvPr id="103" name="TextBox 102"/>
          <p:cNvSpPr txBox="1"/>
          <p:nvPr/>
        </p:nvSpPr>
        <p:spPr>
          <a:xfrm>
            <a:off x="6949790" y="5794840"/>
            <a:ext cx="1266940" cy="4665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a:solidFill>
                  <a:schemeClr val="tx1"/>
                </a:solidFill>
                <a:latin typeface="+mn-ea"/>
              </a:rPr>
              <a:t>심판관 </a:t>
            </a:r>
            <a:r>
              <a:rPr lang="ko-KR" altLang="en-US" sz="1200" dirty="0" err="1">
                <a:solidFill>
                  <a:schemeClr val="tx1"/>
                </a:solidFill>
                <a:latin typeface="+mn-ea"/>
              </a:rPr>
              <a:t>무효심결</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甲</a:t>
            </a:r>
            <a:r>
              <a:rPr lang="en-US" altLang="ko-KR" sz="1200" dirty="0">
                <a:solidFill>
                  <a:schemeClr val="tx1"/>
                </a:solidFill>
                <a:latin typeface="+mn-ea"/>
              </a:rPr>
              <a:t>, </a:t>
            </a:r>
            <a:r>
              <a:rPr lang="ko-KR" altLang="en-US" sz="1200" dirty="0">
                <a:solidFill>
                  <a:schemeClr val="tx1"/>
                </a:solidFill>
                <a:latin typeface="+mn-ea"/>
              </a:rPr>
              <a:t>승</a:t>
            </a:r>
            <a:r>
              <a:rPr lang="en-US" altLang="ko-KR" sz="1200" dirty="0">
                <a:solidFill>
                  <a:schemeClr val="tx1"/>
                </a:solidFill>
                <a:latin typeface="+mn-ea"/>
              </a:rPr>
              <a:t>)</a:t>
            </a:r>
          </a:p>
        </p:txBody>
      </p:sp>
      <p:sp>
        <p:nvSpPr>
          <p:cNvPr id="104" name="타원 103"/>
          <p:cNvSpPr/>
          <p:nvPr/>
        </p:nvSpPr>
        <p:spPr>
          <a:xfrm>
            <a:off x="7511077" y="51992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105" name="직선 화살표 연결선 104"/>
          <p:cNvCxnSpPr>
            <a:stCxn id="103" idx="0"/>
            <a:endCxn id="104" idx="4"/>
          </p:cNvCxnSpPr>
          <p:nvPr/>
        </p:nvCxnSpPr>
        <p:spPr>
          <a:xfrm flipV="1">
            <a:off x="7583260" y="5360567"/>
            <a:ext cx="5186" cy="43427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6" name="타원 105"/>
          <p:cNvSpPr/>
          <p:nvPr/>
        </p:nvSpPr>
        <p:spPr>
          <a:xfrm>
            <a:off x="8974380" y="51992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107" name="직선 화살표 연결선 106"/>
          <p:cNvCxnSpPr>
            <a:stCxn id="108" idx="2"/>
          </p:cNvCxnSpPr>
          <p:nvPr/>
        </p:nvCxnSpPr>
        <p:spPr>
          <a:xfrm>
            <a:off x="9051749" y="4976313"/>
            <a:ext cx="0" cy="2229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8" name="TextBox 107"/>
          <p:cNvSpPr txBox="1"/>
          <p:nvPr/>
        </p:nvSpPr>
        <p:spPr>
          <a:xfrm>
            <a:off x="8276227" y="4509804"/>
            <a:ext cx="1551044" cy="46650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무효심결에</a:t>
            </a:r>
            <a:r>
              <a:rPr lang="ko-KR" altLang="en-US" sz="1200" dirty="0">
                <a:solidFill>
                  <a:schemeClr val="tx1"/>
                </a:solidFill>
                <a:latin typeface="+mn-ea"/>
              </a:rPr>
              <a:t> 대한 소</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甲</a:t>
            </a:r>
            <a:r>
              <a:rPr lang="en-US" altLang="ko-KR" sz="1200" dirty="0">
                <a:solidFill>
                  <a:schemeClr val="tx1"/>
                </a:solidFill>
                <a:latin typeface="+mn-ea"/>
              </a:rPr>
              <a:t>, </a:t>
            </a:r>
            <a:r>
              <a:rPr lang="ko-KR" altLang="en-US" sz="1200" dirty="0">
                <a:solidFill>
                  <a:schemeClr val="tx1"/>
                </a:solidFill>
                <a:latin typeface="+mn-ea"/>
              </a:rPr>
              <a:t>피고</a:t>
            </a:r>
            <a:r>
              <a:rPr lang="en-US" altLang="ko-KR" sz="1200" dirty="0">
                <a:solidFill>
                  <a:schemeClr val="tx1"/>
                </a:solidFill>
                <a:latin typeface="+mn-ea"/>
              </a:rPr>
              <a:t>)</a:t>
            </a:r>
          </a:p>
        </p:txBody>
      </p:sp>
      <p:sp>
        <p:nvSpPr>
          <p:cNvPr id="109" name="TextBox 108"/>
          <p:cNvSpPr txBox="1"/>
          <p:nvPr/>
        </p:nvSpPr>
        <p:spPr>
          <a:xfrm>
            <a:off x="9858591" y="5794840"/>
            <a:ext cx="1266940" cy="46650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200" dirty="0" err="1">
                <a:solidFill>
                  <a:schemeClr val="tx1"/>
                </a:solidFill>
                <a:latin typeface="+mn-ea"/>
              </a:rPr>
              <a:t>소송수행</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甲</a:t>
            </a:r>
            <a:r>
              <a:rPr lang="en-US" altLang="ko-KR" sz="1200" dirty="0">
                <a:solidFill>
                  <a:schemeClr val="tx1"/>
                </a:solidFill>
                <a:latin typeface="+mn-ea"/>
              </a:rPr>
              <a:t>)</a:t>
            </a:r>
          </a:p>
        </p:txBody>
      </p:sp>
      <p:sp>
        <p:nvSpPr>
          <p:cNvPr id="110" name="타원 109"/>
          <p:cNvSpPr/>
          <p:nvPr/>
        </p:nvSpPr>
        <p:spPr>
          <a:xfrm>
            <a:off x="10419878" y="5199229"/>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111" name="직선 화살표 연결선 110"/>
          <p:cNvCxnSpPr>
            <a:stCxn id="109" idx="0"/>
            <a:endCxn id="110" idx="4"/>
          </p:cNvCxnSpPr>
          <p:nvPr/>
        </p:nvCxnSpPr>
        <p:spPr>
          <a:xfrm flipV="1">
            <a:off x="10492061" y="5360567"/>
            <a:ext cx="5186" cy="43427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2" name="모서리가 둥근 직사각형 111"/>
          <p:cNvSpPr/>
          <p:nvPr/>
        </p:nvSpPr>
        <p:spPr>
          <a:xfrm>
            <a:off x="279400" y="4141504"/>
            <a:ext cx="751195" cy="673100"/>
          </a:xfrm>
          <a:prstGeom prst="roundRect">
            <a:avLst/>
          </a:prstGeom>
          <a:solidFill>
            <a:schemeClr val="accent4"/>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무효</a:t>
            </a:r>
            <a:endParaRPr lang="en-US" altLang="ko-KR" dirty="0"/>
          </a:p>
          <a:p>
            <a:pPr algn="ctr"/>
            <a:r>
              <a:rPr lang="ko-KR" altLang="en-US" dirty="0"/>
              <a:t>심판</a:t>
            </a:r>
          </a:p>
        </p:txBody>
      </p:sp>
      <p:sp>
        <p:nvSpPr>
          <p:cNvPr id="2" name="슬라이드 번호 개체 틀 1"/>
          <p:cNvSpPr>
            <a:spLocks noGrp="1"/>
          </p:cNvSpPr>
          <p:nvPr>
            <p:ph type="sldNum" sz="quarter" idx="4294967295"/>
          </p:nvPr>
        </p:nvSpPr>
        <p:spPr>
          <a:xfrm>
            <a:off x="11125200" y="0"/>
            <a:ext cx="1066800" cy="711200"/>
          </a:xfrm>
        </p:spPr>
        <p:txBody>
          <a:bodyPr/>
          <a:lstStyle/>
          <a:p>
            <a:r>
              <a:rPr lang="en-US" altLang="ko-KR"/>
              <a:t>498</a:t>
            </a:r>
            <a:endParaRPr lang="ko-KR" altLang="en-US" dirty="0"/>
          </a:p>
        </p:txBody>
      </p:sp>
    </p:spTree>
    <p:extLst>
      <p:ext uri="{BB962C8B-B14F-4D97-AF65-F5344CB8AC3E}">
        <p14:creationId xmlns:p14="http://schemas.microsoft.com/office/powerpoint/2010/main" val="347223429"/>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185" name="직선 연결선 7184">
            <a:extLst>
              <a:ext uri="{FF2B5EF4-FFF2-40B4-BE49-F238E27FC236}">
                <a16:creationId xmlns:a16="http://schemas.microsoft.com/office/drawing/2014/main" id="{D544153B-4557-45E7-B47E-898EFB317BE6}"/>
              </a:ext>
            </a:extLst>
          </p:cNvPr>
          <p:cNvCxnSpPr/>
          <p:nvPr/>
        </p:nvCxnSpPr>
        <p:spPr>
          <a:xfrm>
            <a:off x="8219657" y="838268"/>
            <a:ext cx="0" cy="5712643"/>
          </a:xfrm>
          <a:prstGeom prst="line">
            <a:avLst/>
          </a:prstGeom>
          <a:ln w="12700">
            <a:solidFill>
              <a:schemeClr val="accent2"/>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74" name="직사각형 7173">
            <a:extLst>
              <a:ext uri="{FF2B5EF4-FFF2-40B4-BE49-F238E27FC236}">
                <a16:creationId xmlns:a16="http://schemas.microsoft.com/office/drawing/2014/main" id="{C4A702BA-4018-4751-BCBF-BBA66D807327}"/>
              </a:ext>
            </a:extLst>
          </p:cNvPr>
          <p:cNvSpPr/>
          <p:nvPr/>
        </p:nvSpPr>
        <p:spPr>
          <a:xfrm>
            <a:off x="9667757" y="3744525"/>
            <a:ext cx="177114" cy="19087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7178" name="직사각형 7177">
            <a:extLst>
              <a:ext uri="{FF2B5EF4-FFF2-40B4-BE49-F238E27FC236}">
                <a16:creationId xmlns:a16="http://schemas.microsoft.com/office/drawing/2014/main" id="{33748893-04F7-4503-9B97-2ECD8B336EFD}"/>
              </a:ext>
            </a:extLst>
          </p:cNvPr>
          <p:cNvSpPr/>
          <p:nvPr/>
        </p:nvSpPr>
        <p:spPr>
          <a:xfrm>
            <a:off x="5842897" y="3051098"/>
            <a:ext cx="3868222" cy="1508908"/>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36" name="직선 화살표 연결선 135">
            <a:extLst>
              <a:ext uri="{FF2B5EF4-FFF2-40B4-BE49-F238E27FC236}">
                <a16:creationId xmlns:a16="http://schemas.microsoft.com/office/drawing/2014/main" id="{27B78BE1-1F0A-4935-88F3-0EB82724F8D7}"/>
              </a:ext>
            </a:extLst>
          </p:cNvPr>
          <p:cNvCxnSpPr/>
          <p:nvPr/>
        </p:nvCxnSpPr>
        <p:spPr>
          <a:xfrm flipV="1">
            <a:off x="8772442" y="3873432"/>
            <a:ext cx="0" cy="171940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6938D899-074E-4238-B445-FC7C2579985A}"/>
              </a:ext>
            </a:extLst>
          </p:cNvPr>
          <p:cNvSpPr/>
          <p:nvPr/>
        </p:nvSpPr>
        <p:spPr>
          <a:xfrm>
            <a:off x="1294055" y="1328466"/>
            <a:ext cx="4354903" cy="4600276"/>
          </a:xfrm>
          <a:prstGeom prst="rect">
            <a:avLst/>
          </a:prstGeom>
          <a:noFill/>
          <a:ln w="19050">
            <a:solidFill>
              <a:schemeClr val="accent2">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 name="제목 2"/>
          <p:cNvSpPr>
            <a:spLocks noGrp="1"/>
          </p:cNvSpPr>
          <p:nvPr>
            <p:ph type="title"/>
          </p:nvPr>
        </p:nvSpPr>
        <p:spPr/>
        <p:txBody>
          <a:bodyPr/>
          <a:lstStyle/>
          <a:p>
            <a:r>
              <a:rPr lang="ko-KR" altLang="en-US" dirty="0"/>
              <a:t>제</a:t>
            </a:r>
            <a:r>
              <a:rPr lang="en-US" altLang="ko-KR" dirty="0"/>
              <a:t>132</a:t>
            </a:r>
            <a:r>
              <a:rPr lang="ko-KR" altLang="en-US" dirty="0"/>
              <a:t>조의</a:t>
            </a:r>
            <a:r>
              <a:rPr lang="en-US" altLang="ko-KR" dirty="0"/>
              <a:t>2~</a:t>
            </a:r>
            <a:br>
              <a:rPr lang="en-US" altLang="ko-KR" dirty="0"/>
            </a:br>
            <a:r>
              <a:rPr lang="ko-KR" altLang="en-US" dirty="0"/>
              <a:t>제</a:t>
            </a:r>
            <a:r>
              <a:rPr lang="en-US" altLang="ko-KR" dirty="0"/>
              <a:t>132</a:t>
            </a:r>
            <a:r>
              <a:rPr lang="ko-KR" altLang="en-US" dirty="0"/>
              <a:t>조의</a:t>
            </a:r>
            <a:r>
              <a:rPr lang="en-US" altLang="ko-KR" dirty="0"/>
              <a:t>15</a:t>
            </a:r>
            <a:endParaRPr lang="ko-KR" altLang="en-US" dirty="0"/>
          </a:p>
        </p:txBody>
      </p:sp>
      <p:sp>
        <p:nvSpPr>
          <p:cNvPr id="4" name="텍스트 개체 틀 3"/>
          <p:cNvSpPr>
            <a:spLocks noGrp="1"/>
          </p:cNvSpPr>
          <p:nvPr>
            <p:ph type="body" sz="quarter" idx="13"/>
          </p:nvPr>
        </p:nvSpPr>
        <p:spPr/>
        <p:txBody>
          <a:bodyPr/>
          <a:lstStyle/>
          <a:p>
            <a:r>
              <a:rPr lang="ko-KR" altLang="en-US" dirty="0">
                <a:solidFill>
                  <a:srgbClr val="525252"/>
                </a:solidFill>
              </a:rPr>
              <a:t>특허취소신청의 절차</a:t>
            </a:r>
          </a:p>
        </p:txBody>
      </p:sp>
      <p:cxnSp>
        <p:nvCxnSpPr>
          <p:cNvPr id="81" name="직선 연결선 80"/>
          <p:cNvCxnSpPr>
            <a:cxnSpLocks/>
          </p:cNvCxnSpPr>
          <p:nvPr/>
        </p:nvCxnSpPr>
        <p:spPr>
          <a:xfrm flipH="1">
            <a:off x="440937" y="3873432"/>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4294967295"/>
          </p:nvPr>
        </p:nvSpPr>
        <p:spPr>
          <a:xfrm>
            <a:off x="11125200" y="0"/>
            <a:ext cx="1066800" cy="711200"/>
          </a:xfrm>
        </p:spPr>
        <p:txBody>
          <a:bodyPr/>
          <a:lstStyle/>
          <a:p>
            <a:r>
              <a:rPr lang="en-US" altLang="ko-KR"/>
              <a:t>499</a:t>
            </a:r>
            <a:endParaRPr lang="ko-KR" altLang="en-US" dirty="0"/>
          </a:p>
        </p:txBody>
      </p:sp>
      <p:cxnSp>
        <p:nvCxnSpPr>
          <p:cNvPr id="64" name="직선 연결선 63">
            <a:extLst>
              <a:ext uri="{FF2B5EF4-FFF2-40B4-BE49-F238E27FC236}">
                <a16:creationId xmlns:a16="http://schemas.microsoft.com/office/drawing/2014/main" id="{C9DC8ECC-2340-4ABB-98A6-C5CE5E7F9322}"/>
              </a:ext>
            </a:extLst>
          </p:cNvPr>
          <p:cNvCxnSpPr/>
          <p:nvPr/>
        </p:nvCxnSpPr>
        <p:spPr>
          <a:xfrm flipH="1">
            <a:off x="440937" y="1826109"/>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직선 연결선 66">
            <a:extLst>
              <a:ext uri="{FF2B5EF4-FFF2-40B4-BE49-F238E27FC236}">
                <a16:creationId xmlns:a16="http://schemas.microsoft.com/office/drawing/2014/main" id="{F1F2E47E-DC84-466C-9DCC-C37A3DA64AE1}"/>
              </a:ext>
            </a:extLst>
          </p:cNvPr>
          <p:cNvCxnSpPr/>
          <p:nvPr/>
        </p:nvCxnSpPr>
        <p:spPr>
          <a:xfrm flipH="1">
            <a:off x="440937" y="5592833"/>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모서리가 둥근 직사각형 7170">
            <a:extLst>
              <a:ext uri="{FF2B5EF4-FFF2-40B4-BE49-F238E27FC236}">
                <a16:creationId xmlns:a16="http://schemas.microsoft.com/office/drawing/2014/main" id="{44401AF0-EDD6-485C-B868-BD1533BA66B7}"/>
              </a:ext>
            </a:extLst>
          </p:cNvPr>
          <p:cNvSpPr/>
          <p:nvPr/>
        </p:nvSpPr>
        <p:spPr>
          <a:xfrm>
            <a:off x="229997" y="3544228"/>
            <a:ext cx="751195" cy="673096"/>
          </a:xfrm>
          <a:prstGeom prst="roundRect">
            <a:avLst>
              <a:gd name="adj" fmla="val 32073"/>
            </a:avLst>
          </a:prstGeom>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200" dirty="0"/>
              <a:t>지식재산처장</a:t>
            </a:r>
          </a:p>
        </p:txBody>
      </p:sp>
      <p:sp>
        <p:nvSpPr>
          <p:cNvPr id="69" name="모서리가 둥근 직사각형 7170">
            <a:extLst>
              <a:ext uri="{FF2B5EF4-FFF2-40B4-BE49-F238E27FC236}">
                <a16:creationId xmlns:a16="http://schemas.microsoft.com/office/drawing/2014/main" id="{CCBD624E-0C21-44C0-A9E4-4CE17E323FC8}"/>
              </a:ext>
            </a:extLst>
          </p:cNvPr>
          <p:cNvSpPr/>
          <p:nvPr/>
        </p:nvSpPr>
        <p:spPr>
          <a:xfrm>
            <a:off x="229997" y="5256285"/>
            <a:ext cx="751195" cy="673096"/>
          </a:xfrm>
          <a:prstGeom prst="roundRect">
            <a:avLst>
              <a:gd name="adj" fmla="val 33473"/>
            </a:avLst>
          </a:prstGeom>
          <a:solidFill>
            <a:schemeClr val="accent2"/>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200" dirty="0"/>
              <a:t>특허권자</a:t>
            </a:r>
          </a:p>
        </p:txBody>
      </p:sp>
      <p:sp>
        <p:nvSpPr>
          <p:cNvPr id="5" name="직사각형 4">
            <a:extLst>
              <a:ext uri="{FF2B5EF4-FFF2-40B4-BE49-F238E27FC236}">
                <a16:creationId xmlns:a16="http://schemas.microsoft.com/office/drawing/2014/main" id="{C2172051-D881-402C-A6B0-6115AB883588}"/>
              </a:ext>
            </a:extLst>
          </p:cNvPr>
          <p:cNvSpPr/>
          <p:nvPr/>
        </p:nvSpPr>
        <p:spPr>
          <a:xfrm>
            <a:off x="1066038" y="3544226"/>
            <a:ext cx="480767" cy="67309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설정등록</a:t>
            </a:r>
          </a:p>
        </p:txBody>
      </p:sp>
      <p:sp>
        <p:nvSpPr>
          <p:cNvPr id="73" name="직사각형 72">
            <a:extLst>
              <a:ext uri="{FF2B5EF4-FFF2-40B4-BE49-F238E27FC236}">
                <a16:creationId xmlns:a16="http://schemas.microsoft.com/office/drawing/2014/main" id="{BE1AE111-1C4B-411F-9607-A20FAA44B48F}"/>
              </a:ext>
            </a:extLst>
          </p:cNvPr>
          <p:cNvSpPr/>
          <p:nvPr/>
        </p:nvSpPr>
        <p:spPr>
          <a:xfrm>
            <a:off x="1631646" y="3544226"/>
            <a:ext cx="480767" cy="67309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등록공고</a:t>
            </a:r>
          </a:p>
        </p:txBody>
      </p:sp>
      <p:sp>
        <p:nvSpPr>
          <p:cNvPr id="80" name="모서리가 둥근 직사각형 7170">
            <a:extLst>
              <a:ext uri="{FF2B5EF4-FFF2-40B4-BE49-F238E27FC236}">
                <a16:creationId xmlns:a16="http://schemas.microsoft.com/office/drawing/2014/main" id="{6DA9B593-9E82-49E6-96FD-D8F1A152F0DE}"/>
              </a:ext>
            </a:extLst>
          </p:cNvPr>
          <p:cNvSpPr/>
          <p:nvPr/>
        </p:nvSpPr>
        <p:spPr>
          <a:xfrm>
            <a:off x="229997" y="1489561"/>
            <a:ext cx="751195" cy="673096"/>
          </a:xfrm>
          <a:prstGeom prst="roundRect">
            <a:avLst>
              <a:gd name="adj" fmla="val 32073"/>
            </a:avLst>
          </a:prstGeom>
          <a:solidFill>
            <a:schemeClr val="accent4"/>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200" dirty="0"/>
              <a:t>신청인</a:t>
            </a:r>
          </a:p>
        </p:txBody>
      </p:sp>
      <p:sp>
        <p:nvSpPr>
          <p:cNvPr id="82" name="모서리가 둥근 직사각형 7170">
            <a:extLst>
              <a:ext uri="{FF2B5EF4-FFF2-40B4-BE49-F238E27FC236}">
                <a16:creationId xmlns:a16="http://schemas.microsoft.com/office/drawing/2014/main" id="{15C917EE-E73D-4F91-91AA-78F9B19C53F1}"/>
              </a:ext>
            </a:extLst>
          </p:cNvPr>
          <p:cNvSpPr/>
          <p:nvPr/>
        </p:nvSpPr>
        <p:spPr>
          <a:xfrm>
            <a:off x="2197254" y="3544228"/>
            <a:ext cx="751195" cy="673096"/>
          </a:xfrm>
          <a:prstGeom prst="roundRect">
            <a:avLst>
              <a:gd name="adj" fmla="val 32073"/>
            </a:avLst>
          </a:prstGeom>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200" dirty="0"/>
              <a:t>심판원장</a:t>
            </a:r>
          </a:p>
        </p:txBody>
      </p:sp>
      <p:sp>
        <p:nvSpPr>
          <p:cNvPr id="90" name="직사각형 89">
            <a:extLst>
              <a:ext uri="{FF2B5EF4-FFF2-40B4-BE49-F238E27FC236}">
                <a16:creationId xmlns:a16="http://schemas.microsoft.com/office/drawing/2014/main" id="{A20AF960-E160-4D2F-8A04-11812AE11373}"/>
              </a:ext>
            </a:extLst>
          </p:cNvPr>
          <p:cNvSpPr/>
          <p:nvPr/>
        </p:nvSpPr>
        <p:spPr>
          <a:xfrm>
            <a:off x="3139020" y="3544226"/>
            <a:ext cx="480767" cy="67309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방식심사</a:t>
            </a:r>
          </a:p>
        </p:txBody>
      </p:sp>
      <p:cxnSp>
        <p:nvCxnSpPr>
          <p:cNvPr id="7" name="직선 화살표 연결선 6">
            <a:extLst>
              <a:ext uri="{FF2B5EF4-FFF2-40B4-BE49-F238E27FC236}">
                <a16:creationId xmlns:a16="http://schemas.microsoft.com/office/drawing/2014/main" id="{9C99D4C2-0D58-42C0-BA31-ECE78B65C5CA}"/>
              </a:ext>
            </a:extLst>
          </p:cNvPr>
          <p:cNvCxnSpPr>
            <a:cxnSpLocks/>
          </p:cNvCxnSpPr>
          <p:nvPr/>
        </p:nvCxnSpPr>
        <p:spPr>
          <a:xfrm>
            <a:off x="3033292" y="1826109"/>
            <a:ext cx="0" cy="201009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3" name="모서리가 둥근 직사각형 7170">
            <a:extLst>
              <a:ext uri="{FF2B5EF4-FFF2-40B4-BE49-F238E27FC236}">
                <a16:creationId xmlns:a16="http://schemas.microsoft.com/office/drawing/2014/main" id="{9E5FFB07-9A69-488D-A974-4E16DE5129ED}"/>
              </a:ext>
            </a:extLst>
          </p:cNvPr>
          <p:cNvSpPr/>
          <p:nvPr/>
        </p:nvSpPr>
        <p:spPr>
          <a:xfrm>
            <a:off x="3693165" y="3544228"/>
            <a:ext cx="751195" cy="673096"/>
          </a:xfrm>
          <a:prstGeom prst="roundRect">
            <a:avLst>
              <a:gd name="adj" fmla="val 32073"/>
            </a:avLst>
          </a:prstGeom>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ko-KR" altLang="en-US" sz="1200" dirty="0"/>
              <a:t>합의체</a:t>
            </a:r>
            <a:endParaRPr lang="en-US" altLang="ko-KR" sz="1200" dirty="0"/>
          </a:p>
          <a:p>
            <a:pPr algn="ctr"/>
            <a:r>
              <a:rPr lang="en-US" altLang="ko-KR" sz="1000" dirty="0"/>
              <a:t>(</a:t>
            </a:r>
            <a:r>
              <a:rPr lang="ko-KR" altLang="en-US" sz="1000" dirty="0"/>
              <a:t>심판장</a:t>
            </a:r>
            <a:r>
              <a:rPr lang="en-US" altLang="ko-KR" sz="1000" dirty="0"/>
              <a:t>)</a:t>
            </a:r>
            <a:endParaRPr lang="ko-KR" altLang="en-US" sz="1000" dirty="0"/>
          </a:p>
        </p:txBody>
      </p:sp>
      <p:sp>
        <p:nvSpPr>
          <p:cNvPr id="98" name="직사각형 97">
            <a:extLst>
              <a:ext uri="{FF2B5EF4-FFF2-40B4-BE49-F238E27FC236}">
                <a16:creationId xmlns:a16="http://schemas.microsoft.com/office/drawing/2014/main" id="{63DF36C3-F6E3-43E2-ABD5-DD3D8D2C8AA4}"/>
              </a:ext>
            </a:extLst>
          </p:cNvPr>
          <p:cNvSpPr/>
          <p:nvPr/>
        </p:nvSpPr>
        <p:spPr>
          <a:xfrm>
            <a:off x="4529093" y="3544226"/>
            <a:ext cx="480767" cy="67309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방식심리</a:t>
            </a:r>
          </a:p>
        </p:txBody>
      </p:sp>
      <p:cxnSp>
        <p:nvCxnSpPr>
          <p:cNvPr id="99" name="직선 화살표 연결선 98">
            <a:extLst>
              <a:ext uri="{FF2B5EF4-FFF2-40B4-BE49-F238E27FC236}">
                <a16:creationId xmlns:a16="http://schemas.microsoft.com/office/drawing/2014/main" id="{98B3438F-EA51-46CD-A61C-396C77B23190}"/>
              </a:ext>
            </a:extLst>
          </p:cNvPr>
          <p:cNvCxnSpPr>
            <a:cxnSpLocks/>
          </p:cNvCxnSpPr>
          <p:nvPr/>
        </p:nvCxnSpPr>
        <p:spPr>
          <a:xfrm>
            <a:off x="5116616" y="3873432"/>
            <a:ext cx="0" cy="171940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 name="직선 화살표 연결선 11">
            <a:extLst>
              <a:ext uri="{FF2B5EF4-FFF2-40B4-BE49-F238E27FC236}">
                <a16:creationId xmlns:a16="http://schemas.microsoft.com/office/drawing/2014/main" id="{E9D64F34-7A4C-4CC7-9AE8-2D7248113D2D}"/>
              </a:ext>
            </a:extLst>
          </p:cNvPr>
          <p:cNvCxnSpPr/>
          <p:nvPr/>
        </p:nvCxnSpPr>
        <p:spPr>
          <a:xfrm flipV="1">
            <a:off x="5402370" y="3873432"/>
            <a:ext cx="0" cy="171940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0" name="직사각형 99">
            <a:extLst>
              <a:ext uri="{FF2B5EF4-FFF2-40B4-BE49-F238E27FC236}">
                <a16:creationId xmlns:a16="http://schemas.microsoft.com/office/drawing/2014/main" id="{208A9C03-E715-4A39-8DBC-D7F1AA7859AD}"/>
              </a:ext>
            </a:extLst>
          </p:cNvPr>
          <p:cNvSpPr/>
          <p:nvPr/>
        </p:nvSpPr>
        <p:spPr>
          <a:xfrm>
            <a:off x="6051634" y="3544226"/>
            <a:ext cx="805991" cy="67309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심리개시</a:t>
            </a:r>
            <a:endParaRPr lang="en-US" altLang="ko-KR" sz="1200" dirty="0">
              <a:solidFill>
                <a:schemeClr val="tx1"/>
              </a:solidFill>
            </a:endParaRPr>
          </a:p>
          <a:p>
            <a:pPr algn="ctr"/>
            <a:r>
              <a:rPr lang="en-US" altLang="ko-KR" sz="900" dirty="0">
                <a:solidFill>
                  <a:schemeClr val="tx1"/>
                </a:solidFill>
              </a:rPr>
              <a:t>(</a:t>
            </a:r>
            <a:r>
              <a:rPr lang="ko-KR" altLang="en-US" sz="900" b="1" dirty="0">
                <a:solidFill>
                  <a:srgbClr val="FF0000"/>
                </a:solidFill>
              </a:rPr>
              <a:t>서면</a:t>
            </a:r>
            <a:r>
              <a:rPr lang="en-US" altLang="ko-KR" sz="900" dirty="0">
                <a:solidFill>
                  <a:schemeClr val="tx1"/>
                </a:solidFill>
              </a:rPr>
              <a:t>/</a:t>
            </a:r>
            <a:r>
              <a:rPr lang="ko-KR" altLang="en-US" sz="900" dirty="0">
                <a:solidFill>
                  <a:schemeClr val="tx1"/>
                </a:solidFill>
              </a:rPr>
              <a:t>직권</a:t>
            </a:r>
            <a:r>
              <a:rPr lang="en-US" altLang="ko-KR" sz="900" dirty="0">
                <a:solidFill>
                  <a:schemeClr val="tx1"/>
                </a:solidFill>
              </a:rPr>
              <a:t>/</a:t>
            </a:r>
            <a:r>
              <a:rPr lang="ko-KR" altLang="en-US" sz="900" b="1" dirty="0">
                <a:solidFill>
                  <a:srgbClr val="FF0000"/>
                </a:solidFill>
              </a:rPr>
              <a:t>병합</a:t>
            </a:r>
            <a:r>
              <a:rPr lang="en-US" altLang="ko-KR" sz="900" dirty="0">
                <a:solidFill>
                  <a:schemeClr val="tx1"/>
                </a:solidFill>
              </a:rPr>
              <a:t>)</a:t>
            </a:r>
            <a:endParaRPr lang="ko-KR" altLang="en-US" sz="1200" dirty="0">
              <a:solidFill>
                <a:schemeClr val="tx1"/>
              </a:solidFill>
            </a:endParaRPr>
          </a:p>
        </p:txBody>
      </p:sp>
      <p:sp>
        <p:nvSpPr>
          <p:cNvPr id="113" name="순서도: 판단 112">
            <a:extLst>
              <a:ext uri="{FF2B5EF4-FFF2-40B4-BE49-F238E27FC236}">
                <a16:creationId xmlns:a16="http://schemas.microsoft.com/office/drawing/2014/main" id="{BF629753-8B09-4EDA-9789-361F07DD4D1A}"/>
              </a:ext>
            </a:extLst>
          </p:cNvPr>
          <p:cNvSpPr/>
          <p:nvPr/>
        </p:nvSpPr>
        <p:spPr>
          <a:xfrm>
            <a:off x="7024633" y="3553653"/>
            <a:ext cx="805990" cy="673096"/>
          </a:xfrm>
          <a:prstGeom prst="flowChartDecision">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취소신청이유</a:t>
            </a:r>
          </a:p>
        </p:txBody>
      </p:sp>
      <p:sp>
        <p:nvSpPr>
          <p:cNvPr id="114" name="직사각형 113">
            <a:extLst>
              <a:ext uri="{FF2B5EF4-FFF2-40B4-BE49-F238E27FC236}">
                <a16:creationId xmlns:a16="http://schemas.microsoft.com/office/drawing/2014/main" id="{1A895FEC-4726-49E4-830F-022C56ABA1DD}"/>
              </a:ext>
            </a:extLst>
          </p:cNvPr>
          <p:cNvSpPr/>
          <p:nvPr/>
        </p:nvSpPr>
        <p:spPr>
          <a:xfrm>
            <a:off x="7985781" y="3544226"/>
            <a:ext cx="480767" cy="67309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취소이유통지</a:t>
            </a:r>
          </a:p>
        </p:txBody>
      </p:sp>
      <p:sp>
        <p:nvSpPr>
          <p:cNvPr id="115" name="순서도: 판단 114">
            <a:extLst>
              <a:ext uri="{FF2B5EF4-FFF2-40B4-BE49-F238E27FC236}">
                <a16:creationId xmlns:a16="http://schemas.microsoft.com/office/drawing/2014/main" id="{04B7A317-9F13-474E-9F58-C71EFFEA5198}"/>
              </a:ext>
            </a:extLst>
          </p:cNvPr>
          <p:cNvSpPr/>
          <p:nvPr/>
        </p:nvSpPr>
        <p:spPr>
          <a:xfrm>
            <a:off x="8861767" y="3553653"/>
            <a:ext cx="805990" cy="673096"/>
          </a:xfrm>
          <a:prstGeom prst="flowChartDecision">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취소신청이유</a:t>
            </a:r>
          </a:p>
        </p:txBody>
      </p:sp>
      <p:sp>
        <p:nvSpPr>
          <p:cNvPr id="116" name="직사각형 115">
            <a:extLst>
              <a:ext uri="{FF2B5EF4-FFF2-40B4-BE49-F238E27FC236}">
                <a16:creationId xmlns:a16="http://schemas.microsoft.com/office/drawing/2014/main" id="{F46B7150-FF0A-48B0-A303-5531CA8605B0}"/>
              </a:ext>
            </a:extLst>
          </p:cNvPr>
          <p:cNvSpPr/>
          <p:nvPr/>
        </p:nvSpPr>
        <p:spPr>
          <a:xfrm>
            <a:off x="10653339" y="3544226"/>
            <a:ext cx="480767" cy="67309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등본</a:t>
            </a:r>
            <a:endParaRPr lang="en-US" altLang="ko-KR" sz="1200" dirty="0">
              <a:solidFill>
                <a:schemeClr val="tx1"/>
              </a:solidFill>
            </a:endParaRPr>
          </a:p>
          <a:p>
            <a:pPr algn="ctr"/>
            <a:r>
              <a:rPr lang="ko-KR" altLang="en-US" sz="1200" dirty="0">
                <a:solidFill>
                  <a:schemeClr val="tx1"/>
                </a:solidFill>
              </a:rPr>
              <a:t>송달</a:t>
            </a:r>
          </a:p>
        </p:txBody>
      </p:sp>
      <p:sp>
        <p:nvSpPr>
          <p:cNvPr id="117" name="직사각형 116">
            <a:extLst>
              <a:ext uri="{FF2B5EF4-FFF2-40B4-BE49-F238E27FC236}">
                <a16:creationId xmlns:a16="http://schemas.microsoft.com/office/drawing/2014/main" id="{67754BBD-63BE-4E39-B70C-220C790F607D}"/>
              </a:ext>
            </a:extLst>
          </p:cNvPr>
          <p:cNvSpPr/>
          <p:nvPr/>
        </p:nvSpPr>
        <p:spPr>
          <a:xfrm>
            <a:off x="9844871" y="3619696"/>
            <a:ext cx="631353" cy="24965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a:solidFill>
                  <a:schemeClr val="tx1"/>
                </a:solidFill>
              </a:rPr>
              <a:t>기각결정</a:t>
            </a:r>
            <a:endParaRPr lang="ko-KR" altLang="en-US" sz="1200" dirty="0">
              <a:solidFill>
                <a:schemeClr val="tx1"/>
              </a:solidFill>
            </a:endParaRPr>
          </a:p>
        </p:txBody>
      </p:sp>
      <p:sp>
        <p:nvSpPr>
          <p:cNvPr id="118" name="직사각형 117">
            <a:extLst>
              <a:ext uri="{FF2B5EF4-FFF2-40B4-BE49-F238E27FC236}">
                <a16:creationId xmlns:a16="http://schemas.microsoft.com/office/drawing/2014/main" id="{3C58D318-EB94-4790-A140-EE70A7E60EF4}"/>
              </a:ext>
            </a:extLst>
          </p:cNvPr>
          <p:cNvSpPr/>
          <p:nvPr/>
        </p:nvSpPr>
        <p:spPr>
          <a:xfrm>
            <a:off x="9844871" y="3861922"/>
            <a:ext cx="631353" cy="24965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취소결정</a:t>
            </a:r>
          </a:p>
        </p:txBody>
      </p:sp>
      <p:sp>
        <p:nvSpPr>
          <p:cNvPr id="14" name="TextBox 13">
            <a:extLst>
              <a:ext uri="{FF2B5EF4-FFF2-40B4-BE49-F238E27FC236}">
                <a16:creationId xmlns:a16="http://schemas.microsoft.com/office/drawing/2014/main" id="{6F317C86-B237-4B4E-A0FF-970CAC71EF36}"/>
              </a:ext>
            </a:extLst>
          </p:cNvPr>
          <p:cNvSpPr txBox="1"/>
          <p:nvPr/>
        </p:nvSpPr>
        <p:spPr>
          <a:xfrm>
            <a:off x="2644712" y="2407704"/>
            <a:ext cx="437940" cy="430887"/>
          </a:xfrm>
          <a:prstGeom prst="rect">
            <a:avLst/>
          </a:prstGeom>
          <a:noFill/>
        </p:spPr>
        <p:txBody>
          <a:bodyPr wrap="none" rtlCol="0">
            <a:spAutoFit/>
          </a:bodyPr>
          <a:lstStyle/>
          <a:p>
            <a:r>
              <a:rPr lang="ko-KR" altLang="en-US" sz="1100" dirty="0"/>
              <a:t>취소</a:t>
            </a:r>
            <a:endParaRPr lang="en-US" altLang="ko-KR" sz="1100" dirty="0"/>
          </a:p>
          <a:p>
            <a:r>
              <a:rPr lang="ko-KR" altLang="en-US" sz="1100" dirty="0"/>
              <a:t>신청</a:t>
            </a:r>
          </a:p>
        </p:txBody>
      </p:sp>
      <p:sp>
        <p:nvSpPr>
          <p:cNvPr id="119" name="직사각형 118">
            <a:extLst>
              <a:ext uri="{FF2B5EF4-FFF2-40B4-BE49-F238E27FC236}">
                <a16:creationId xmlns:a16="http://schemas.microsoft.com/office/drawing/2014/main" id="{D0ADA3AE-9C46-483B-A244-DA4AD16D5AF7}"/>
              </a:ext>
            </a:extLst>
          </p:cNvPr>
          <p:cNvSpPr/>
          <p:nvPr/>
        </p:nvSpPr>
        <p:spPr>
          <a:xfrm>
            <a:off x="3135359" y="1489561"/>
            <a:ext cx="480767" cy="67309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보정</a:t>
            </a:r>
            <a:endParaRPr lang="ko-KR" altLang="en-US" sz="1200" dirty="0">
              <a:solidFill>
                <a:schemeClr val="tx1"/>
              </a:solidFill>
            </a:endParaRPr>
          </a:p>
        </p:txBody>
      </p:sp>
      <p:sp>
        <p:nvSpPr>
          <p:cNvPr id="120" name="TextBox 119">
            <a:extLst>
              <a:ext uri="{FF2B5EF4-FFF2-40B4-BE49-F238E27FC236}">
                <a16:creationId xmlns:a16="http://schemas.microsoft.com/office/drawing/2014/main" id="{A9E7F888-BF43-43A4-A927-215B169DC59B}"/>
              </a:ext>
            </a:extLst>
          </p:cNvPr>
          <p:cNvSpPr txBox="1"/>
          <p:nvPr/>
        </p:nvSpPr>
        <p:spPr>
          <a:xfrm>
            <a:off x="2112413" y="1198867"/>
            <a:ext cx="2823209" cy="261610"/>
          </a:xfrm>
          <a:prstGeom prst="rect">
            <a:avLst/>
          </a:prstGeom>
          <a:solidFill>
            <a:schemeClr val="bg1"/>
          </a:solidFill>
        </p:spPr>
        <p:txBody>
          <a:bodyPr wrap="none" rtlCol="0">
            <a:spAutoFit/>
          </a:bodyPr>
          <a:lstStyle/>
          <a:p>
            <a:r>
              <a:rPr lang="ko-KR" altLang="en-US" sz="1100" dirty="0"/>
              <a:t>설정등록이 있는 날로부터 등록공고일후 </a:t>
            </a:r>
            <a:r>
              <a:rPr lang="en-US" altLang="ko-KR" sz="1100" dirty="0"/>
              <a:t>6</a:t>
            </a:r>
            <a:r>
              <a:rPr lang="ko-KR" altLang="en-US" sz="1100" dirty="0"/>
              <a:t>개월</a:t>
            </a:r>
          </a:p>
        </p:txBody>
      </p:sp>
      <p:cxnSp>
        <p:nvCxnSpPr>
          <p:cNvPr id="19" name="직선 화살표 연결선 18">
            <a:extLst>
              <a:ext uri="{FF2B5EF4-FFF2-40B4-BE49-F238E27FC236}">
                <a16:creationId xmlns:a16="http://schemas.microsoft.com/office/drawing/2014/main" id="{44B4C9AC-1238-48EF-BA8D-199E864EE18D}"/>
              </a:ext>
            </a:extLst>
          </p:cNvPr>
          <p:cNvCxnSpPr>
            <a:cxnSpLocks/>
          </p:cNvCxnSpPr>
          <p:nvPr/>
        </p:nvCxnSpPr>
        <p:spPr>
          <a:xfrm>
            <a:off x="3616126" y="1988342"/>
            <a:ext cx="2032832" cy="0"/>
          </a:xfrm>
          <a:prstGeom prst="straightConnector1">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직사각형 21">
            <a:extLst>
              <a:ext uri="{FF2B5EF4-FFF2-40B4-BE49-F238E27FC236}">
                <a16:creationId xmlns:a16="http://schemas.microsoft.com/office/drawing/2014/main" id="{A288AB78-79E5-4077-ABE9-A092DAD6EACE}"/>
              </a:ext>
            </a:extLst>
          </p:cNvPr>
          <p:cNvSpPr/>
          <p:nvPr/>
        </p:nvSpPr>
        <p:spPr>
          <a:xfrm>
            <a:off x="3548668" y="2022984"/>
            <a:ext cx="2294229" cy="600164"/>
          </a:xfrm>
          <a:prstGeom prst="rect">
            <a:avLst/>
          </a:prstGeom>
        </p:spPr>
        <p:txBody>
          <a:bodyPr wrap="square">
            <a:spAutoFit/>
          </a:bodyPr>
          <a:lstStyle/>
          <a:p>
            <a:r>
              <a:rPr lang="ko-KR" altLang="en-US" sz="1100" dirty="0"/>
              <a:t>취소신청기간에 취소신청이유 및 </a:t>
            </a:r>
          </a:p>
          <a:p>
            <a:r>
              <a:rPr lang="ko-KR" altLang="en-US" sz="1100" dirty="0"/>
              <a:t>증거의 보정을 자유롭게 가능</a:t>
            </a:r>
          </a:p>
          <a:p>
            <a:r>
              <a:rPr lang="en-US" altLang="ko-KR" sz="1100" dirty="0"/>
              <a:t>(</a:t>
            </a:r>
            <a:r>
              <a:rPr lang="ko-KR" altLang="en-US" sz="1100" dirty="0"/>
              <a:t>단</a:t>
            </a:r>
            <a:r>
              <a:rPr lang="en-US" altLang="ko-KR" sz="1100" dirty="0"/>
              <a:t>, </a:t>
            </a:r>
            <a:r>
              <a:rPr lang="ko-KR" altLang="en-US" sz="1100" dirty="0"/>
              <a:t>취소이유통지 시에는 그 때까지</a:t>
            </a:r>
            <a:r>
              <a:rPr lang="en-US" altLang="ko-KR" sz="1100" dirty="0"/>
              <a:t>) </a:t>
            </a:r>
            <a:endParaRPr lang="ko-KR" altLang="en-US" sz="1100" dirty="0"/>
          </a:p>
        </p:txBody>
      </p:sp>
      <p:sp>
        <p:nvSpPr>
          <p:cNvPr id="121" name="직사각형 120">
            <a:extLst>
              <a:ext uri="{FF2B5EF4-FFF2-40B4-BE49-F238E27FC236}">
                <a16:creationId xmlns:a16="http://schemas.microsoft.com/office/drawing/2014/main" id="{B96D455B-23CD-4606-840E-BA57A3ED6CB7}"/>
              </a:ext>
            </a:extLst>
          </p:cNvPr>
          <p:cNvSpPr/>
          <p:nvPr/>
        </p:nvSpPr>
        <p:spPr>
          <a:xfrm>
            <a:off x="6418249" y="1489561"/>
            <a:ext cx="480767" cy="67309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취하</a:t>
            </a:r>
          </a:p>
        </p:txBody>
      </p:sp>
      <p:cxnSp>
        <p:nvCxnSpPr>
          <p:cNvPr id="122" name="직선 화살표 연결선 121">
            <a:extLst>
              <a:ext uri="{FF2B5EF4-FFF2-40B4-BE49-F238E27FC236}">
                <a16:creationId xmlns:a16="http://schemas.microsoft.com/office/drawing/2014/main" id="{E5AA457B-F178-4883-8CCD-C239B6055672}"/>
              </a:ext>
            </a:extLst>
          </p:cNvPr>
          <p:cNvCxnSpPr>
            <a:cxnSpLocks/>
          </p:cNvCxnSpPr>
          <p:nvPr/>
        </p:nvCxnSpPr>
        <p:spPr>
          <a:xfrm>
            <a:off x="6899016" y="1988342"/>
            <a:ext cx="3994707" cy="0"/>
          </a:xfrm>
          <a:prstGeom prst="straightConnector1">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3" name="직사각형 122">
            <a:extLst>
              <a:ext uri="{FF2B5EF4-FFF2-40B4-BE49-F238E27FC236}">
                <a16:creationId xmlns:a16="http://schemas.microsoft.com/office/drawing/2014/main" id="{85E0F784-EC57-458F-BC8E-D9B1D2ED98F3}"/>
              </a:ext>
            </a:extLst>
          </p:cNvPr>
          <p:cNvSpPr/>
          <p:nvPr/>
        </p:nvSpPr>
        <p:spPr>
          <a:xfrm>
            <a:off x="6831558" y="2022984"/>
            <a:ext cx="4062165" cy="430887"/>
          </a:xfrm>
          <a:prstGeom prst="rect">
            <a:avLst/>
          </a:prstGeom>
        </p:spPr>
        <p:txBody>
          <a:bodyPr wrap="square">
            <a:spAutoFit/>
          </a:bodyPr>
          <a:lstStyle/>
          <a:p>
            <a:pPr algn="ctr" fontAlgn="base"/>
            <a:r>
              <a:rPr lang="ko-KR" altLang="en-US" sz="1100" dirty="0"/>
              <a:t>결정등본송달 전까지 청구항마다 취하가능</a:t>
            </a:r>
            <a:endParaRPr lang="en-US" altLang="ko-KR" sz="1100" dirty="0"/>
          </a:p>
          <a:p>
            <a:pPr algn="ctr" fontAlgn="base"/>
            <a:r>
              <a:rPr lang="ko-KR" altLang="en-US" sz="1100" dirty="0"/>
              <a:t> </a:t>
            </a:r>
            <a:r>
              <a:rPr lang="en-US" altLang="ko-KR" sz="1100" dirty="0"/>
              <a:t>(</a:t>
            </a:r>
            <a:r>
              <a:rPr lang="ko-KR" altLang="en-US" sz="1100" dirty="0"/>
              <a:t>단</a:t>
            </a:r>
            <a:r>
              <a:rPr lang="en-US" altLang="ko-KR" sz="1100" dirty="0"/>
              <a:t>, </a:t>
            </a:r>
            <a:r>
              <a:rPr lang="ko-KR" altLang="en-US" sz="1100" dirty="0"/>
              <a:t>취소이유통지시에는 그 때까지</a:t>
            </a:r>
            <a:r>
              <a:rPr lang="en-US" altLang="ko-KR" sz="1100" dirty="0"/>
              <a:t>) </a:t>
            </a:r>
            <a:endParaRPr lang="ko-KR" altLang="en-US" sz="1100" dirty="0"/>
          </a:p>
        </p:txBody>
      </p:sp>
      <p:cxnSp>
        <p:nvCxnSpPr>
          <p:cNvPr id="124" name="직선 화살표 연결선 123">
            <a:extLst>
              <a:ext uri="{FF2B5EF4-FFF2-40B4-BE49-F238E27FC236}">
                <a16:creationId xmlns:a16="http://schemas.microsoft.com/office/drawing/2014/main" id="{931AECF3-6EF8-492F-B73B-BE86243D68A1}"/>
              </a:ext>
            </a:extLst>
          </p:cNvPr>
          <p:cNvCxnSpPr>
            <a:cxnSpLocks/>
            <a:stCxn id="116" idx="2"/>
          </p:cNvCxnSpPr>
          <p:nvPr/>
        </p:nvCxnSpPr>
        <p:spPr>
          <a:xfrm>
            <a:off x="10893723" y="4217322"/>
            <a:ext cx="0" cy="137551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5" name="직선 화살표 연결선 124">
            <a:extLst>
              <a:ext uri="{FF2B5EF4-FFF2-40B4-BE49-F238E27FC236}">
                <a16:creationId xmlns:a16="http://schemas.microsoft.com/office/drawing/2014/main" id="{6AC3C637-4E12-4E14-8FE7-4F0C179C3F86}"/>
              </a:ext>
            </a:extLst>
          </p:cNvPr>
          <p:cNvCxnSpPr>
            <a:cxnSpLocks/>
            <a:stCxn id="116" idx="0"/>
          </p:cNvCxnSpPr>
          <p:nvPr/>
        </p:nvCxnSpPr>
        <p:spPr>
          <a:xfrm flipV="1">
            <a:off x="10893723" y="1826110"/>
            <a:ext cx="0" cy="171811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6" name="직사각형 125">
            <a:extLst>
              <a:ext uri="{FF2B5EF4-FFF2-40B4-BE49-F238E27FC236}">
                <a16:creationId xmlns:a16="http://schemas.microsoft.com/office/drawing/2014/main" id="{6A881A36-4259-4F9D-BE67-F6BA2BAB4FAE}"/>
              </a:ext>
            </a:extLst>
          </p:cNvPr>
          <p:cNvSpPr/>
          <p:nvPr/>
        </p:nvSpPr>
        <p:spPr>
          <a:xfrm>
            <a:off x="11175762" y="1489561"/>
            <a:ext cx="791464" cy="67309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기각결정</a:t>
            </a:r>
            <a:endParaRPr lang="en-US" altLang="ko-KR" sz="1200" dirty="0">
              <a:solidFill>
                <a:schemeClr val="tx1"/>
              </a:solidFill>
            </a:endParaRPr>
          </a:p>
          <a:p>
            <a:pPr algn="ctr"/>
            <a:r>
              <a:rPr lang="ko-KR" altLang="en-US" sz="1200" dirty="0">
                <a:solidFill>
                  <a:schemeClr val="tx1"/>
                </a:solidFill>
              </a:rPr>
              <a:t>불복불가</a:t>
            </a:r>
          </a:p>
        </p:txBody>
      </p:sp>
      <p:sp>
        <p:nvSpPr>
          <p:cNvPr id="127" name="TextBox 126">
            <a:extLst>
              <a:ext uri="{FF2B5EF4-FFF2-40B4-BE49-F238E27FC236}">
                <a16:creationId xmlns:a16="http://schemas.microsoft.com/office/drawing/2014/main" id="{F012297C-B3A1-403C-9C33-6CB53E7B9846}"/>
              </a:ext>
            </a:extLst>
          </p:cNvPr>
          <p:cNvSpPr txBox="1"/>
          <p:nvPr/>
        </p:nvSpPr>
        <p:spPr>
          <a:xfrm>
            <a:off x="4485011" y="4366184"/>
            <a:ext cx="691215" cy="430887"/>
          </a:xfrm>
          <a:prstGeom prst="rect">
            <a:avLst/>
          </a:prstGeom>
          <a:noFill/>
        </p:spPr>
        <p:txBody>
          <a:bodyPr wrap="none" rtlCol="0">
            <a:spAutoFit/>
          </a:bodyPr>
          <a:lstStyle/>
          <a:p>
            <a:pPr algn="ctr"/>
            <a:r>
              <a:rPr lang="ko-KR" altLang="en-US" sz="1100" dirty="0"/>
              <a:t>신청서 </a:t>
            </a:r>
            <a:endParaRPr lang="en-US" altLang="ko-KR" sz="1100" dirty="0"/>
          </a:p>
          <a:p>
            <a:pPr algn="ctr"/>
            <a:r>
              <a:rPr lang="ko-KR" altLang="en-US" sz="1100" dirty="0"/>
              <a:t>부본송달</a:t>
            </a:r>
          </a:p>
        </p:txBody>
      </p:sp>
      <p:sp>
        <p:nvSpPr>
          <p:cNvPr id="29" name="직사각형 28">
            <a:extLst>
              <a:ext uri="{FF2B5EF4-FFF2-40B4-BE49-F238E27FC236}">
                <a16:creationId xmlns:a16="http://schemas.microsoft.com/office/drawing/2014/main" id="{1EBF6E42-8C3D-4A2A-9BEF-8D7E5A72443F}"/>
              </a:ext>
            </a:extLst>
          </p:cNvPr>
          <p:cNvSpPr/>
          <p:nvPr/>
        </p:nvSpPr>
        <p:spPr>
          <a:xfrm>
            <a:off x="5315216" y="4560020"/>
            <a:ext cx="944489" cy="769441"/>
          </a:xfrm>
          <a:prstGeom prst="rect">
            <a:avLst/>
          </a:prstGeom>
        </p:spPr>
        <p:txBody>
          <a:bodyPr wrap="none">
            <a:spAutoFit/>
          </a:bodyPr>
          <a:lstStyle/>
          <a:p>
            <a:pPr algn="ctr" fontAlgn="base" latinLnBrk="0"/>
            <a:r>
              <a:rPr lang="ko-KR" altLang="en-US" sz="1100" kern="0" dirty="0">
                <a:solidFill>
                  <a:srgbClr val="000000"/>
                </a:solidFill>
                <a:latin typeface="+mn-ea"/>
              </a:rPr>
              <a:t>취소신청기간</a:t>
            </a:r>
            <a:endParaRPr lang="en-US" altLang="ko-KR" sz="1100" kern="0" dirty="0">
              <a:solidFill>
                <a:srgbClr val="000000"/>
              </a:solidFill>
              <a:latin typeface="+mn-ea"/>
            </a:endParaRPr>
          </a:p>
          <a:p>
            <a:pPr algn="ctr" fontAlgn="base" latinLnBrk="0"/>
            <a:r>
              <a:rPr lang="ko-KR" altLang="en-US" sz="1100" kern="0" dirty="0">
                <a:solidFill>
                  <a:srgbClr val="000000"/>
                </a:solidFill>
                <a:latin typeface="+mn-ea"/>
              </a:rPr>
              <a:t>만료 전 </a:t>
            </a:r>
            <a:endParaRPr lang="en-US" altLang="ko-KR" sz="1100" kern="0" dirty="0">
              <a:solidFill>
                <a:srgbClr val="000000"/>
              </a:solidFill>
              <a:latin typeface="+mn-ea"/>
            </a:endParaRPr>
          </a:p>
          <a:p>
            <a:pPr algn="ctr" fontAlgn="base" latinLnBrk="0"/>
            <a:r>
              <a:rPr lang="ko-KR" altLang="en-US" sz="1100" kern="0" dirty="0">
                <a:solidFill>
                  <a:srgbClr val="000000"/>
                </a:solidFill>
                <a:latin typeface="+mn-ea"/>
              </a:rPr>
              <a:t>심리개시 </a:t>
            </a:r>
            <a:endParaRPr lang="en-US" altLang="ko-KR" sz="1100" kern="0" dirty="0">
              <a:solidFill>
                <a:srgbClr val="000000"/>
              </a:solidFill>
              <a:latin typeface="+mn-ea"/>
            </a:endParaRPr>
          </a:p>
          <a:p>
            <a:pPr algn="ctr" fontAlgn="base" latinLnBrk="0"/>
            <a:r>
              <a:rPr lang="ko-KR" altLang="en-US" sz="1100" kern="0" dirty="0">
                <a:solidFill>
                  <a:srgbClr val="000000"/>
                </a:solidFill>
                <a:latin typeface="+mn-ea"/>
              </a:rPr>
              <a:t>요구가능</a:t>
            </a:r>
          </a:p>
        </p:txBody>
      </p:sp>
      <p:cxnSp>
        <p:nvCxnSpPr>
          <p:cNvPr id="31" name="연결선: 꺾임 30">
            <a:extLst>
              <a:ext uri="{FF2B5EF4-FFF2-40B4-BE49-F238E27FC236}">
                <a16:creationId xmlns:a16="http://schemas.microsoft.com/office/drawing/2014/main" id="{4403B0B2-8551-47CA-B7D0-E32BD33D5767}"/>
              </a:ext>
            </a:extLst>
          </p:cNvPr>
          <p:cNvCxnSpPr>
            <a:stCxn id="113" idx="0"/>
            <a:endCxn id="117" idx="0"/>
          </p:cNvCxnSpPr>
          <p:nvPr/>
        </p:nvCxnSpPr>
        <p:spPr>
          <a:xfrm rot="16200000" flipH="1">
            <a:off x="8761066" y="2220214"/>
            <a:ext cx="66043" cy="2732920"/>
          </a:xfrm>
          <a:prstGeom prst="bentConnector3">
            <a:avLst>
              <a:gd name="adj1" fmla="val -346138"/>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169" name="연결선: 꺾임 7168">
            <a:extLst>
              <a:ext uri="{FF2B5EF4-FFF2-40B4-BE49-F238E27FC236}">
                <a16:creationId xmlns:a16="http://schemas.microsoft.com/office/drawing/2014/main" id="{9C12CDC9-2014-42A4-BA35-413B1318319A}"/>
              </a:ext>
            </a:extLst>
          </p:cNvPr>
          <p:cNvCxnSpPr>
            <a:stCxn id="115" idx="0"/>
            <a:endCxn id="117" idx="0"/>
          </p:cNvCxnSpPr>
          <p:nvPr/>
        </p:nvCxnSpPr>
        <p:spPr>
          <a:xfrm rot="16200000" flipH="1">
            <a:off x="9679633" y="3138781"/>
            <a:ext cx="66043" cy="895786"/>
          </a:xfrm>
          <a:prstGeom prst="bentConnector3">
            <a:avLst>
              <a:gd name="adj1" fmla="val -346138"/>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8" name="TextBox 127">
            <a:extLst>
              <a:ext uri="{FF2B5EF4-FFF2-40B4-BE49-F238E27FC236}">
                <a16:creationId xmlns:a16="http://schemas.microsoft.com/office/drawing/2014/main" id="{3473E0A7-CEF1-4114-B368-77C3F4819842}"/>
              </a:ext>
            </a:extLst>
          </p:cNvPr>
          <p:cNvSpPr txBox="1"/>
          <p:nvPr/>
        </p:nvSpPr>
        <p:spPr>
          <a:xfrm>
            <a:off x="7043489" y="3313345"/>
            <a:ext cx="396262" cy="261610"/>
          </a:xfrm>
          <a:prstGeom prst="rect">
            <a:avLst/>
          </a:prstGeom>
          <a:noFill/>
        </p:spPr>
        <p:txBody>
          <a:bodyPr wrap="none" rtlCol="0">
            <a:spAutoFit/>
          </a:bodyPr>
          <a:lstStyle/>
          <a:p>
            <a:r>
              <a:rPr lang="en-US" altLang="ko-KR" sz="1100" dirty="0"/>
              <a:t>NO</a:t>
            </a:r>
            <a:endParaRPr lang="ko-KR" altLang="en-US" sz="1100" dirty="0"/>
          </a:p>
        </p:txBody>
      </p:sp>
      <p:sp>
        <p:nvSpPr>
          <p:cNvPr id="129" name="TextBox 128">
            <a:extLst>
              <a:ext uri="{FF2B5EF4-FFF2-40B4-BE49-F238E27FC236}">
                <a16:creationId xmlns:a16="http://schemas.microsoft.com/office/drawing/2014/main" id="{556EC417-B1A6-4ACC-B3BC-4871CB33EFC1}"/>
              </a:ext>
            </a:extLst>
          </p:cNvPr>
          <p:cNvSpPr txBox="1"/>
          <p:nvPr/>
        </p:nvSpPr>
        <p:spPr>
          <a:xfrm>
            <a:off x="8873894" y="3313345"/>
            <a:ext cx="396262" cy="261610"/>
          </a:xfrm>
          <a:prstGeom prst="rect">
            <a:avLst/>
          </a:prstGeom>
          <a:noFill/>
        </p:spPr>
        <p:txBody>
          <a:bodyPr wrap="none" rtlCol="0">
            <a:spAutoFit/>
          </a:bodyPr>
          <a:lstStyle/>
          <a:p>
            <a:r>
              <a:rPr lang="en-US" altLang="ko-KR" sz="1100" dirty="0"/>
              <a:t>NO</a:t>
            </a:r>
            <a:endParaRPr lang="ko-KR" altLang="en-US" sz="1100" dirty="0"/>
          </a:p>
        </p:txBody>
      </p:sp>
      <p:sp>
        <p:nvSpPr>
          <p:cNvPr id="130" name="TextBox 129">
            <a:extLst>
              <a:ext uri="{FF2B5EF4-FFF2-40B4-BE49-F238E27FC236}">
                <a16:creationId xmlns:a16="http://schemas.microsoft.com/office/drawing/2014/main" id="{BE443FB8-033A-4ADE-ACD3-026C61B3F465}"/>
              </a:ext>
            </a:extLst>
          </p:cNvPr>
          <p:cNvSpPr txBox="1"/>
          <p:nvPr/>
        </p:nvSpPr>
        <p:spPr>
          <a:xfrm>
            <a:off x="7641919" y="3574593"/>
            <a:ext cx="436338" cy="261610"/>
          </a:xfrm>
          <a:prstGeom prst="rect">
            <a:avLst/>
          </a:prstGeom>
          <a:noFill/>
        </p:spPr>
        <p:txBody>
          <a:bodyPr wrap="none" rtlCol="0">
            <a:spAutoFit/>
          </a:bodyPr>
          <a:lstStyle/>
          <a:p>
            <a:r>
              <a:rPr lang="en-US" altLang="ko-KR" sz="1100" dirty="0"/>
              <a:t>YES</a:t>
            </a:r>
            <a:endParaRPr lang="ko-KR" altLang="en-US" sz="1100" dirty="0"/>
          </a:p>
        </p:txBody>
      </p:sp>
      <p:cxnSp>
        <p:nvCxnSpPr>
          <p:cNvPr id="7176" name="연결선: 꺾임 7175">
            <a:extLst>
              <a:ext uri="{FF2B5EF4-FFF2-40B4-BE49-F238E27FC236}">
                <a16:creationId xmlns:a16="http://schemas.microsoft.com/office/drawing/2014/main" id="{12208E40-BB17-41D2-A360-856A845D5C39}"/>
              </a:ext>
            </a:extLst>
          </p:cNvPr>
          <p:cNvCxnSpPr>
            <a:stCxn id="115" idx="2"/>
            <a:endCxn id="118" idx="2"/>
          </p:cNvCxnSpPr>
          <p:nvPr/>
        </p:nvCxnSpPr>
        <p:spPr>
          <a:xfrm rot="5400000" flipH="1" flipV="1">
            <a:off x="9655071" y="3721272"/>
            <a:ext cx="115168" cy="895786"/>
          </a:xfrm>
          <a:prstGeom prst="bentConnector3">
            <a:avLst>
              <a:gd name="adj1" fmla="val -19849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2" name="TextBox 131">
            <a:extLst>
              <a:ext uri="{FF2B5EF4-FFF2-40B4-BE49-F238E27FC236}">
                <a16:creationId xmlns:a16="http://schemas.microsoft.com/office/drawing/2014/main" id="{E62C0C96-269E-4A5C-AC8D-68492ED7E4D4}"/>
              </a:ext>
            </a:extLst>
          </p:cNvPr>
          <p:cNvSpPr txBox="1"/>
          <p:nvPr/>
        </p:nvSpPr>
        <p:spPr>
          <a:xfrm>
            <a:off x="9252787" y="4216520"/>
            <a:ext cx="436338" cy="261610"/>
          </a:xfrm>
          <a:prstGeom prst="rect">
            <a:avLst/>
          </a:prstGeom>
          <a:noFill/>
        </p:spPr>
        <p:txBody>
          <a:bodyPr wrap="none" rtlCol="0">
            <a:spAutoFit/>
          </a:bodyPr>
          <a:lstStyle/>
          <a:p>
            <a:r>
              <a:rPr lang="en-US" altLang="ko-KR" sz="1100" dirty="0"/>
              <a:t>YES</a:t>
            </a:r>
            <a:endParaRPr lang="ko-KR" altLang="en-US" sz="1100" dirty="0"/>
          </a:p>
        </p:txBody>
      </p:sp>
      <p:cxnSp>
        <p:nvCxnSpPr>
          <p:cNvPr id="133" name="직선 화살표 연결선 132">
            <a:extLst>
              <a:ext uri="{FF2B5EF4-FFF2-40B4-BE49-F238E27FC236}">
                <a16:creationId xmlns:a16="http://schemas.microsoft.com/office/drawing/2014/main" id="{90C6542F-3636-4D0D-83EF-7D39BA144E9F}"/>
              </a:ext>
            </a:extLst>
          </p:cNvPr>
          <p:cNvCxnSpPr>
            <a:cxnSpLocks/>
            <a:stCxn id="114" idx="2"/>
          </p:cNvCxnSpPr>
          <p:nvPr/>
        </p:nvCxnSpPr>
        <p:spPr>
          <a:xfrm flipH="1">
            <a:off x="8219197" y="4217322"/>
            <a:ext cx="6968" cy="137551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5" name="직사각형 134">
            <a:extLst>
              <a:ext uri="{FF2B5EF4-FFF2-40B4-BE49-F238E27FC236}">
                <a16:creationId xmlns:a16="http://schemas.microsoft.com/office/drawing/2014/main" id="{474FC616-48E3-4E0C-8D94-63AAA80BB3AE}"/>
              </a:ext>
            </a:extLst>
          </p:cNvPr>
          <p:cNvSpPr/>
          <p:nvPr/>
        </p:nvSpPr>
        <p:spPr>
          <a:xfrm>
            <a:off x="8377068" y="5249064"/>
            <a:ext cx="790757" cy="67309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solidFill>
                  <a:schemeClr val="tx1"/>
                </a:solidFill>
              </a:rPr>
              <a:t>의견제출</a:t>
            </a:r>
            <a:r>
              <a:rPr lang="en-US" altLang="ko-KR" sz="1200" dirty="0">
                <a:solidFill>
                  <a:schemeClr val="tx1"/>
                </a:solidFill>
              </a:rPr>
              <a:t>/</a:t>
            </a:r>
            <a:r>
              <a:rPr lang="ko-KR" altLang="en-US" sz="1200" dirty="0">
                <a:solidFill>
                  <a:schemeClr val="tx1"/>
                </a:solidFill>
              </a:rPr>
              <a:t>정정청구</a:t>
            </a:r>
          </a:p>
        </p:txBody>
      </p:sp>
      <p:sp>
        <p:nvSpPr>
          <p:cNvPr id="137" name="직사각형 136">
            <a:extLst>
              <a:ext uri="{FF2B5EF4-FFF2-40B4-BE49-F238E27FC236}">
                <a16:creationId xmlns:a16="http://schemas.microsoft.com/office/drawing/2014/main" id="{3EB65F87-AA49-4EB6-8167-74D927368D29}"/>
              </a:ext>
            </a:extLst>
          </p:cNvPr>
          <p:cNvSpPr/>
          <p:nvPr/>
        </p:nvSpPr>
        <p:spPr>
          <a:xfrm>
            <a:off x="11175762" y="5244270"/>
            <a:ext cx="791464" cy="673096"/>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tx1"/>
                </a:solidFill>
              </a:rPr>
              <a:t>취소결정</a:t>
            </a:r>
            <a:endParaRPr lang="en-US" altLang="ko-KR" sz="1200" dirty="0">
              <a:solidFill>
                <a:schemeClr val="tx1"/>
              </a:solidFill>
            </a:endParaRPr>
          </a:p>
          <a:p>
            <a:pPr algn="ctr"/>
            <a:r>
              <a:rPr lang="ko-KR" altLang="en-US" sz="1200" dirty="0">
                <a:solidFill>
                  <a:schemeClr val="tx1"/>
                </a:solidFill>
              </a:rPr>
              <a:t>소 제기</a:t>
            </a:r>
            <a:endParaRPr lang="en-US" altLang="ko-KR" sz="1200" dirty="0">
              <a:solidFill>
                <a:schemeClr val="tx1"/>
              </a:solidFill>
            </a:endParaRPr>
          </a:p>
          <a:p>
            <a:pPr algn="ctr"/>
            <a:r>
              <a:rPr lang="en-US" altLang="ko-KR" sz="1000" dirty="0">
                <a:solidFill>
                  <a:schemeClr val="tx1"/>
                </a:solidFill>
              </a:rPr>
              <a:t>(</a:t>
            </a:r>
            <a:r>
              <a:rPr lang="ko-KR" altLang="en-US" sz="1000" dirty="0">
                <a:solidFill>
                  <a:schemeClr val="tx1"/>
                </a:solidFill>
              </a:rPr>
              <a:t>지식재산처장 피고</a:t>
            </a:r>
            <a:r>
              <a:rPr lang="en-US" altLang="ko-KR" sz="1000" dirty="0">
                <a:solidFill>
                  <a:schemeClr val="tx1"/>
                </a:solidFill>
              </a:rPr>
              <a:t>)</a:t>
            </a:r>
            <a:endParaRPr lang="ko-KR" altLang="en-US" sz="1200" dirty="0">
              <a:solidFill>
                <a:schemeClr val="tx1"/>
              </a:solidFill>
            </a:endParaRPr>
          </a:p>
        </p:txBody>
      </p:sp>
      <p:sp>
        <p:nvSpPr>
          <p:cNvPr id="139" name="TextBox 138">
            <a:extLst>
              <a:ext uri="{FF2B5EF4-FFF2-40B4-BE49-F238E27FC236}">
                <a16:creationId xmlns:a16="http://schemas.microsoft.com/office/drawing/2014/main" id="{BA24230C-4AA6-4653-82D6-8A6FA2B91B97}"/>
              </a:ext>
            </a:extLst>
          </p:cNvPr>
          <p:cNvSpPr txBox="1"/>
          <p:nvPr/>
        </p:nvSpPr>
        <p:spPr>
          <a:xfrm>
            <a:off x="7586843" y="2921882"/>
            <a:ext cx="691215" cy="261610"/>
          </a:xfrm>
          <a:prstGeom prst="rect">
            <a:avLst/>
          </a:prstGeom>
          <a:solidFill>
            <a:schemeClr val="bg1"/>
          </a:solidFill>
          <a:ln>
            <a:solidFill>
              <a:schemeClr val="bg1">
                <a:lumMod val="50000"/>
              </a:schemeClr>
            </a:solidFill>
          </a:ln>
        </p:spPr>
        <p:txBody>
          <a:bodyPr wrap="none" rtlCol="0">
            <a:spAutoFit/>
          </a:bodyPr>
          <a:lstStyle/>
          <a:p>
            <a:r>
              <a:rPr lang="ko-KR" altLang="en-US" sz="1100" dirty="0"/>
              <a:t>본안심리</a:t>
            </a:r>
          </a:p>
        </p:txBody>
      </p:sp>
      <p:sp>
        <p:nvSpPr>
          <p:cNvPr id="140" name="직사각형 139">
            <a:extLst>
              <a:ext uri="{FF2B5EF4-FFF2-40B4-BE49-F238E27FC236}">
                <a16:creationId xmlns:a16="http://schemas.microsoft.com/office/drawing/2014/main" id="{F69496AF-7066-423E-8224-C07DE1A79DD9}"/>
              </a:ext>
            </a:extLst>
          </p:cNvPr>
          <p:cNvSpPr/>
          <p:nvPr/>
        </p:nvSpPr>
        <p:spPr>
          <a:xfrm>
            <a:off x="5998002" y="2582778"/>
            <a:ext cx="1045487" cy="30662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tx1"/>
                </a:solidFill>
              </a:rPr>
              <a:t>적법성 심리</a:t>
            </a:r>
          </a:p>
        </p:txBody>
      </p:sp>
      <p:cxnSp>
        <p:nvCxnSpPr>
          <p:cNvPr id="7181" name="연결선: 꺾임 7180">
            <a:extLst>
              <a:ext uri="{FF2B5EF4-FFF2-40B4-BE49-F238E27FC236}">
                <a16:creationId xmlns:a16="http://schemas.microsoft.com/office/drawing/2014/main" id="{28E01943-5B7B-4DCB-A3A1-E4A2BF37ED9C}"/>
              </a:ext>
            </a:extLst>
          </p:cNvPr>
          <p:cNvCxnSpPr>
            <a:stCxn id="98" idx="0"/>
            <a:endCxn id="140" idx="1"/>
          </p:cNvCxnSpPr>
          <p:nvPr/>
        </p:nvCxnSpPr>
        <p:spPr>
          <a:xfrm rot="5400000" flipH="1" flipV="1">
            <a:off x="4979671" y="2525896"/>
            <a:ext cx="808137" cy="1228525"/>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83" name="연결선: 꺾임 7182">
            <a:extLst>
              <a:ext uri="{FF2B5EF4-FFF2-40B4-BE49-F238E27FC236}">
                <a16:creationId xmlns:a16="http://schemas.microsoft.com/office/drawing/2014/main" id="{C0565285-A9DF-4429-AA3F-51A736CC2196}"/>
              </a:ext>
            </a:extLst>
          </p:cNvPr>
          <p:cNvCxnSpPr>
            <a:stCxn id="140" idx="3"/>
            <a:endCxn id="139" idx="0"/>
          </p:cNvCxnSpPr>
          <p:nvPr/>
        </p:nvCxnSpPr>
        <p:spPr>
          <a:xfrm>
            <a:off x="7043489" y="2736089"/>
            <a:ext cx="888962" cy="185793"/>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86" name="화살표: 왼쪽 7185">
            <a:extLst>
              <a:ext uri="{FF2B5EF4-FFF2-40B4-BE49-F238E27FC236}">
                <a16:creationId xmlns:a16="http://schemas.microsoft.com/office/drawing/2014/main" id="{64F2238D-ECC1-4B23-B983-E1D872302007}"/>
              </a:ext>
            </a:extLst>
          </p:cNvPr>
          <p:cNvSpPr/>
          <p:nvPr/>
        </p:nvSpPr>
        <p:spPr>
          <a:xfrm>
            <a:off x="4529093" y="800560"/>
            <a:ext cx="3687645" cy="529873"/>
          </a:xfrm>
          <a:prstGeom prst="leftArrow">
            <a:avLst>
              <a:gd name="adj1" fmla="val 71349"/>
              <a:gd name="adj2" fmla="val 50000"/>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지식재산처</a:t>
            </a:r>
            <a:r>
              <a:rPr lang="en-US" altLang="ko-KR" dirty="0"/>
              <a:t>(</a:t>
            </a:r>
            <a:r>
              <a:rPr lang="ko-KR" altLang="en-US" dirty="0"/>
              <a:t>심판원</a:t>
            </a:r>
            <a:r>
              <a:rPr lang="en-US" altLang="ko-KR" dirty="0"/>
              <a:t>)</a:t>
            </a:r>
            <a:r>
              <a:rPr lang="ko-KR" altLang="en-US" dirty="0"/>
              <a:t> </a:t>
            </a:r>
            <a:r>
              <a:rPr lang="en-US" altLang="ko-KR" dirty="0"/>
              <a:t>vs </a:t>
            </a:r>
            <a:r>
              <a:rPr lang="ko-KR" altLang="en-US" dirty="0"/>
              <a:t>취소신청인</a:t>
            </a:r>
          </a:p>
        </p:txBody>
      </p:sp>
      <p:sp>
        <p:nvSpPr>
          <p:cNvPr id="7187" name="화살표: 오른쪽 7186">
            <a:extLst>
              <a:ext uri="{FF2B5EF4-FFF2-40B4-BE49-F238E27FC236}">
                <a16:creationId xmlns:a16="http://schemas.microsoft.com/office/drawing/2014/main" id="{0EA850E6-91EE-4F95-8DA3-BBA07E15B25A}"/>
              </a:ext>
            </a:extLst>
          </p:cNvPr>
          <p:cNvSpPr/>
          <p:nvPr/>
        </p:nvSpPr>
        <p:spPr>
          <a:xfrm>
            <a:off x="8213149" y="6126705"/>
            <a:ext cx="3835415" cy="574599"/>
          </a:xfrm>
          <a:prstGeom prst="rightArrow">
            <a:avLst>
              <a:gd name="adj1" fmla="val 72968"/>
              <a:gd name="adj2" fmla="val 50000"/>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지식재산처</a:t>
            </a:r>
            <a:r>
              <a:rPr lang="en-US" altLang="ko-KR" dirty="0"/>
              <a:t>(</a:t>
            </a:r>
            <a:r>
              <a:rPr lang="ko-KR" altLang="en-US" dirty="0"/>
              <a:t>심판원</a:t>
            </a:r>
            <a:r>
              <a:rPr lang="en-US" altLang="ko-KR" dirty="0"/>
              <a:t>)</a:t>
            </a:r>
            <a:r>
              <a:rPr lang="ko-KR" altLang="en-US" dirty="0"/>
              <a:t> </a:t>
            </a:r>
            <a:r>
              <a:rPr lang="en-US" altLang="ko-KR" dirty="0"/>
              <a:t>vs </a:t>
            </a:r>
            <a:r>
              <a:rPr lang="ko-KR" altLang="en-US" dirty="0"/>
              <a:t>특허권자</a:t>
            </a:r>
          </a:p>
        </p:txBody>
      </p:sp>
      <p:sp>
        <p:nvSpPr>
          <p:cNvPr id="6" name="TextBox 5">
            <a:extLst>
              <a:ext uri="{FF2B5EF4-FFF2-40B4-BE49-F238E27FC236}">
                <a16:creationId xmlns:a16="http://schemas.microsoft.com/office/drawing/2014/main" id="{819518A1-BFAE-41C5-A7BE-953BBFFEA651}"/>
              </a:ext>
            </a:extLst>
          </p:cNvPr>
          <p:cNvSpPr txBox="1"/>
          <p:nvPr/>
        </p:nvSpPr>
        <p:spPr>
          <a:xfrm>
            <a:off x="4268202" y="4817730"/>
            <a:ext cx="806631" cy="415498"/>
          </a:xfrm>
          <a:prstGeom prst="rect">
            <a:avLst/>
          </a:prstGeom>
          <a:noFill/>
          <a:ln>
            <a:solidFill>
              <a:schemeClr val="bg1">
                <a:lumMod val="50000"/>
              </a:schemeClr>
            </a:solidFill>
          </a:ln>
        </p:spPr>
        <p:txBody>
          <a:bodyPr wrap="none" rtlCol="0">
            <a:spAutoFit/>
          </a:bodyPr>
          <a:lstStyle/>
          <a:p>
            <a:pPr algn="ctr"/>
            <a:r>
              <a:rPr lang="en-US" altLang="ko-KR" sz="1050" dirty="0"/>
              <a:t>(</a:t>
            </a:r>
            <a:r>
              <a:rPr lang="ko-KR" altLang="en-US" sz="1050" dirty="0"/>
              <a:t>답변서</a:t>
            </a:r>
            <a:endParaRPr lang="en-US" altLang="ko-KR" sz="1050" dirty="0"/>
          </a:p>
          <a:p>
            <a:pPr algn="ctr"/>
            <a:r>
              <a:rPr lang="ko-KR" altLang="en-US" sz="1050" dirty="0"/>
              <a:t>제출기회</a:t>
            </a:r>
            <a:r>
              <a:rPr lang="en-US" altLang="ko-KR" sz="1050" dirty="0"/>
              <a:t>X)</a:t>
            </a:r>
            <a:endParaRPr lang="ko-KR" altLang="en-US" sz="1050" dirty="0"/>
          </a:p>
        </p:txBody>
      </p:sp>
      <p:sp>
        <p:nvSpPr>
          <p:cNvPr id="62" name="TextBox 61">
            <a:extLst>
              <a:ext uri="{FF2B5EF4-FFF2-40B4-BE49-F238E27FC236}">
                <a16:creationId xmlns:a16="http://schemas.microsoft.com/office/drawing/2014/main" id="{7615B74F-B916-4594-B6F7-437A1DFDDD61}"/>
              </a:ext>
            </a:extLst>
          </p:cNvPr>
          <p:cNvSpPr txBox="1"/>
          <p:nvPr/>
        </p:nvSpPr>
        <p:spPr>
          <a:xfrm>
            <a:off x="7602118" y="3063327"/>
            <a:ext cx="2330315" cy="253916"/>
          </a:xfrm>
          <a:prstGeom prst="rect">
            <a:avLst/>
          </a:prstGeom>
          <a:noFill/>
          <a:ln>
            <a:noFill/>
          </a:ln>
        </p:spPr>
        <p:txBody>
          <a:bodyPr wrap="square" rtlCol="0">
            <a:spAutoFit/>
          </a:bodyPr>
          <a:lstStyle/>
          <a:p>
            <a:pPr algn="ctr"/>
            <a:r>
              <a:rPr lang="en-US" altLang="ko-KR" sz="1050"/>
              <a:t>(</a:t>
            </a:r>
            <a:r>
              <a:rPr lang="ko-KR" altLang="en-US" sz="1050" dirty="0"/>
              <a:t>의견제출기회</a:t>
            </a:r>
            <a:r>
              <a:rPr lang="en-US" altLang="ko-KR" sz="1050" dirty="0"/>
              <a:t>X)</a:t>
            </a:r>
            <a:endParaRPr lang="ko-KR" altLang="en-US" sz="1050" dirty="0"/>
          </a:p>
        </p:txBody>
      </p:sp>
      <p:sp>
        <p:nvSpPr>
          <p:cNvPr id="63" name="TextBox 62">
            <a:extLst>
              <a:ext uri="{FF2B5EF4-FFF2-40B4-BE49-F238E27FC236}">
                <a16:creationId xmlns:a16="http://schemas.microsoft.com/office/drawing/2014/main" id="{C01CF774-1F6B-4B45-9AC6-E91A291725A5}"/>
              </a:ext>
            </a:extLst>
          </p:cNvPr>
          <p:cNvSpPr txBox="1"/>
          <p:nvPr/>
        </p:nvSpPr>
        <p:spPr>
          <a:xfrm>
            <a:off x="7033794" y="4683066"/>
            <a:ext cx="2330315" cy="253916"/>
          </a:xfrm>
          <a:prstGeom prst="rect">
            <a:avLst/>
          </a:prstGeom>
          <a:noFill/>
          <a:ln>
            <a:noFill/>
          </a:ln>
        </p:spPr>
        <p:txBody>
          <a:bodyPr wrap="square" rtlCol="0">
            <a:spAutoFit/>
          </a:bodyPr>
          <a:lstStyle/>
          <a:p>
            <a:pPr algn="ctr"/>
            <a:r>
              <a:rPr lang="en-US" altLang="ko-KR" sz="1050" dirty="0"/>
              <a:t>(</a:t>
            </a:r>
            <a:r>
              <a:rPr lang="ko-KR" altLang="en-US" sz="1050" dirty="0"/>
              <a:t>의견제출기회</a:t>
            </a:r>
            <a:r>
              <a:rPr lang="en-US" altLang="ko-KR" sz="1050" dirty="0"/>
              <a:t>)</a:t>
            </a:r>
            <a:endParaRPr lang="ko-KR" altLang="en-US" sz="1050" dirty="0"/>
          </a:p>
        </p:txBody>
      </p:sp>
    </p:spTree>
    <p:extLst>
      <p:ext uri="{BB962C8B-B14F-4D97-AF65-F5344CB8AC3E}">
        <p14:creationId xmlns:p14="http://schemas.microsoft.com/office/powerpoint/2010/main" val="2683888598"/>
      </p:ext>
    </p:extLst>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132</a:t>
            </a:r>
            <a:r>
              <a:rPr lang="ko-KR" altLang="en-US" dirty="0"/>
              <a:t>조의</a:t>
            </a:r>
            <a:r>
              <a:rPr lang="en-US" altLang="ko-KR" dirty="0"/>
              <a:t>2~</a:t>
            </a:r>
            <a:br>
              <a:rPr lang="en-US" altLang="ko-KR" dirty="0"/>
            </a:br>
            <a:r>
              <a:rPr lang="ko-KR" altLang="en-US" dirty="0"/>
              <a:t>제</a:t>
            </a:r>
            <a:r>
              <a:rPr lang="en-US" altLang="ko-KR" dirty="0"/>
              <a:t>132</a:t>
            </a:r>
            <a:r>
              <a:rPr lang="ko-KR" altLang="en-US" dirty="0"/>
              <a:t>조의</a:t>
            </a:r>
            <a:r>
              <a:rPr lang="en-US" altLang="ko-KR" dirty="0"/>
              <a:t>15</a:t>
            </a:r>
            <a:endParaRPr lang="ko-KR" altLang="en-US" dirty="0"/>
          </a:p>
        </p:txBody>
      </p:sp>
      <p:sp>
        <p:nvSpPr>
          <p:cNvPr id="4" name="텍스트 개체 틀 3"/>
          <p:cNvSpPr>
            <a:spLocks noGrp="1"/>
          </p:cNvSpPr>
          <p:nvPr>
            <p:ph type="body" sz="quarter" idx="13"/>
          </p:nvPr>
        </p:nvSpPr>
        <p:spPr/>
        <p:txBody>
          <a:bodyPr/>
          <a:lstStyle/>
          <a:p>
            <a:r>
              <a:rPr lang="ko-KR" altLang="en-US" dirty="0"/>
              <a:t>특허취소신청과</a:t>
            </a:r>
            <a:r>
              <a:rPr lang="en-US" altLang="ko-KR" dirty="0"/>
              <a:t> </a:t>
            </a:r>
            <a:r>
              <a:rPr lang="ko-KR" altLang="en-US" dirty="0"/>
              <a:t>특허무효심판의 법조문 비교</a:t>
            </a:r>
          </a:p>
        </p:txBody>
      </p:sp>
      <p:graphicFrame>
        <p:nvGraphicFramePr>
          <p:cNvPr id="2" name="표 1"/>
          <p:cNvGraphicFramePr>
            <a:graphicFrameLocks noGrp="1"/>
          </p:cNvGraphicFramePr>
          <p:nvPr/>
        </p:nvGraphicFramePr>
        <p:xfrm>
          <a:off x="317501" y="1277581"/>
          <a:ext cx="11569700" cy="4833059"/>
        </p:xfrm>
        <a:graphic>
          <a:graphicData uri="http://schemas.openxmlformats.org/drawingml/2006/table">
            <a:tbl>
              <a:tblPr>
                <a:tableStyleId>{8799B23B-EC83-4686-B30A-512413B5E67A}</a:tableStyleId>
              </a:tblPr>
              <a:tblGrid>
                <a:gridCol w="5619035">
                  <a:extLst>
                    <a:ext uri="{9D8B030D-6E8A-4147-A177-3AD203B41FA5}">
                      <a16:colId xmlns:a16="http://schemas.microsoft.com/office/drawing/2014/main" val="4122316602"/>
                    </a:ext>
                  </a:extLst>
                </a:gridCol>
                <a:gridCol w="5950665">
                  <a:extLst>
                    <a:ext uri="{9D8B030D-6E8A-4147-A177-3AD203B41FA5}">
                      <a16:colId xmlns:a16="http://schemas.microsoft.com/office/drawing/2014/main" val="3501181814"/>
                    </a:ext>
                  </a:extLst>
                </a:gridCol>
              </a:tblGrid>
              <a:tr h="82038">
                <a:tc>
                  <a:txBody>
                    <a:bodyPr/>
                    <a:lstStyle/>
                    <a:p>
                      <a:pPr marL="0" marR="0" indent="0" algn="ctr" fontAlgn="base" latinLnBrk="0">
                        <a:lnSpc>
                          <a:spcPct val="120000"/>
                        </a:lnSpc>
                        <a:spcBef>
                          <a:spcPts val="0"/>
                        </a:spcBef>
                        <a:spcAft>
                          <a:spcPts val="0"/>
                        </a:spcAft>
                      </a:pPr>
                      <a:r>
                        <a:rPr lang="ko-KR" altLang="en-US" sz="1200" kern="0" spc="-100" dirty="0">
                          <a:effectLst/>
                        </a:rPr>
                        <a:t>특허취소신청</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0" spc="-100" dirty="0">
                          <a:effectLst/>
                        </a:rPr>
                        <a:t>특허무효심판</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extLst>
                  <a:ext uri="{0D108BD9-81ED-4DB2-BD59-A6C34878D82A}">
                    <a16:rowId xmlns:a16="http://schemas.microsoft.com/office/drawing/2014/main" val="2907354057"/>
                  </a:ext>
                </a:extLst>
              </a:tr>
              <a:tr h="1795570">
                <a:tc>
                  <a:txBody>
                    <a:bodyPr/>
                    <a:lstStyle/>
                    <a:p>
                      <a:pPr marL="0" marR="0" indent="0" algn="l"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2【</a:t>
                      </a:r>
                      <a:r>
                        <a:rPr lang="ko-KR" altLang="en-US" sz="1200" kern="0" spc="-80" dirty="0">
                          <a:effectLst/>
                        </a:rPr>
                        <a:t>특허취소신청</a:t>
                      </a:r>
                      <a:r>
                        <a:rPr lang="en-US" altLang="ko-KR" sz="1200" kern="0" spc="-80" dirty="0">
                          <a:effectLst/>
                        </a:rPr>
                        <a:t>】</a:t>
                      </a:r>
                      <a:endParaRPr lang="ko-KR" altLang="en-US" sz="1200" kern="0" spc="-80" dirty="0">
                        <a:effectLst/>
                      </a:endParaRPr>
                    </a:p>
                    <a:p>
                      <a:pPr marL="142240" marR="0" indent="-142240" algn="just" fontAlgn="base" latinLnBrk="1">
                        <a:lnSpc>
                          <a:spcPct val="120000"/>
                        </a:lnSpc>
                        <a:spcBef>
                          <a:spcPts val="0"/>
                        </a:spcBef>
                        <a:spcAft>
                          <a:spcPts val="0"/>
                        </a:spcAft>
                        <a:tabLst>
                          <a:tab pos="152400" algn="l"/>
                          <a:tab pos="359410" algn="l"/>
                          <a:tab pos="152400" algn="l"/>
                          <a:tab pos="359410" algn="l"/>
                        </a:tabLst>
                      </a:pPr>
                      <a:r>
                        <a:rPr lang="ko-KR" altLang="en-US"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요건</a:t>
                      </a:r>
                      <a:r>
                        <a:rPr lang="en-US" altLang="ko-KR" sz="1200" b="1" kern="0" spc="-80" dirty="0">
                          <a:solidFill>
                            <a:schemeClr val="accent1"/>
                          </a:solidFill>
                          <a:effectLst/>
                        </a:rPr>
                        <a:t>) </a:t>
                      </a:r>
                      <a:r>
                        <a:rPr lang="ko-KR" altLang="en-US" sz="1200" kern="0" spc="-80" dirty="0">
                          <a:effectLst/>
                        </a:rPr>
                        <a:t>누구든지 특허권의 설정등록일부터 </a:t>
                      </a:r>
                      <a:r>
                        <a:rPr lang="ko-KR" altLang="en-US" sz="1200" kern="0" spc="-80" dirty="0" err="1">
                          <a:effectLst/>
                        </a:rPr>
                        <a:t>등록공고일</a:t>
                      </a:r>
                      <a:r>
                        <a:rPr lang="ko-KR" altLang="en-US" sz="1200" kern="0" spc="-80" dirty="0">
                          <a:effectLst/>
                        </a:rPr>
                        <a:t> 후 </a:t>
                      </a:r>
                      <a:r>
                        <a:rPr lang="en-US" altLang="ko-KR" sz="1200" kern="0" spc="-80" dirty="0">
                          <a:effectLst/>
                        </a:rPr>
                        <a:t>6</a:t>
                      </a:r>
                      <a:r>
                        <a:rPr lang="ko-KR" altLang="en-US" sz="1200" kern="0" spc="-80" dirty="0">
                          <a:effectLst/>
                        </a:rPr>
                        <a:t>개월이 되는 날까지 그 특허가 다음 각 호의 어느 하나에 해당하는 경우에는 특허심판원장에게 특허취소신청을 할 수 있다</a:t>
                      </a:r>
                      <a:r>
                        <a:rPr lang="en-US" altLang="ko-KR" sz="1200" kern="0" spc="-80" dirty="0">
                          <a:effectLst/>
                        </a:rPr>
                        <a:t>. </a:t>
                      </a:r>
                      <a:r>
                        <a:rPr lang="ko-KR" altLang="en-US" sz="1200" kern="0" spc="-80" dirty="0">
                          <a:effectLst/>
                        </a:rPr>
                        <a:t>이 경우 청구범위의 </a:t>
                      </a:r>
                      <a:r>
                        <a:rPr lang="ko-KR" altLang="en-US" sz="1200" kern="0" spc="-80" dirty="0" err="1">
                          <a:effectLst/>
                        </a:rPr>
                        <a:t>청구항이</a:t>
                      </a:r>
                      <a:r>
                        <a:rPr lang="ko-KR" altLang="en-US" sz="1200" kern="0" spc="-80" dirty="0">
                          <a:effectLst/>
                        </a:rPr>
                        <a:t> 둘 이상인 경우에는 </a:t>
                      </a:r>
                      <a:r>
                        <a:rPr lang="ko-KR" altLang="en-US" sz="1200" kern="0" spc="-80" dirty="0" err="1">
                          <a:effectLst/>
                        </a:rPr>
                        <a:t>청구항마다</a:t>
                      </a:r>
                      <a:r>
                        <a:rPr lang="ko-KR" altLang="en-US" sz="1200" kern="0" spc="-80" dirty="0">
                          <a:effectLst/>
                        </a:rPr>
                        <a:t> 특허취소신청을 할 수 있다</a:t>
                      </a:r>
                      <a:r>
                        <a:rPr lang="en-US" altLang="ko-KR" sz="1200" kern="0" spc="-80" dirty="0">
                          <a:effectLst/>
                        </a:rPr>
                        <a:t>.</a:t>
                      </a:r>
                      <a:endParaRPr lang="ko-KR" altLang="en-US" sz="1200" kern="0" spc="-80" dirty="0">
                        <a:effectLst/>
                      </a:endParaRPr>
                    </a:p>
                    <a:p>
                      <a:pPr marL="218440" marR="0" indent="-218440" algn="just" fontAlgn="base" latinLnBrk="1">
                        <a:lnSpc>
                          <a:spcPct val="120000"/>
                        </a:lnSpc>
                        <a:spcBef>
                          <a:spcPts val="0"/>
                        </a:spcBef>
                        <a:spcAft>
                          <a:spcPts val="0"/>
                        </a:spcAft>
                        <a:tabLst>
                          <a:tab pos="152400" algn="l"/>
                          <a:tab pos="359410" algn="l"/>
                          <a:tab pos="152400" algn="l"/>
                          <a:tab pos="359410" algn="l"/>
                        </a:tabLst>
                      </a:pPr>
                      <a:r>
                        <a:rPr lang="en-US" altLang="ko-KR" sz="1200" kern="0" spc="-80" dirty="0">
                          <a:effectLst/>
                        </a:rPr>
                        <a:t>1. </a:t>
                      </a:r>
                      <a:r>
                        <a:rPr lang="ko-KR" altLang="en-US" sz="1200" kern="0" spc="-80" dirty="0">
                          <a:effectLst/>
                        </a:rPr>
                        <a:t>제</a:t>
                      </a:r>
                      <a:r>
                        <a:rPr lang="en-US" altLang="ko-KR" sz="1200" kern="0" spc="-80" dirty="0">
                          <a:effectLst/>
                        </a:rPr>
                        <a:t>29</a:t>
                      </a:r>
                      <a:r>
                        <a:rPr lang="ko-KR" altLang="en-US" sz="1200" kern="0" spc="-80" dirty="0">
                          <a:effectLst/>
                        </a:rPr>
                        <a:t>조</a:t>
                      </a:r>
                      <a:r>
                        <a:rPr lang="en-US" altLang="ko-KR" sz="1200" kern="0" spc="-80" dirty="0">
                          <a:effectLst/>
                        </a:rPr>
                        <a:t>(</a:t>
                      </a:r>
                      <a:r>
                        <a:rPr lang="ko-KR" altLang="en-US" sz="1200" kern="0" spc="-80" dirty="0">
                          <a:effectLst/>
                        </a:rPr>
                        <a:t>같은 조 제</a:t>
                      </a:r>
                      <a:r>
                        <a:rPr lang="en-US" altLang="ko-KR" sz="1200" kern="0" spc="-80" dirty="0">
                          <a:effectLst/>
                        </a:rPr>
                        <a:t>1</a:t>
                      </a:r>
                      <a:r>
                        <a:rPr lang="ko-KR" altLang="en-US" sz="1200" kern="0" spc="-80" dirty="0" err="1">
                          <a:effectLst/>
                        </a:rPr>
                        <a:t>항제</a:t>
                      </a:r>
                      <a:r>
                        <a:rPr lang="en-US" altLang="ko-KR" sz="1200" kern="0" spc="-80" dirty="0">
                          <a:effectLst/>
                        </a:rPr>
                        <a:t>1</a:t>
                      </a:r>
                      <a:r>
                        <a:rPr lang="ko-KR" altLang="en-US" sz="1200" kern="0" spc="-80" dirty="0">
                          <a:effectLst/>
                        </a:rPr>
                        <a:t>호에 해당하는 경우와 같은 호에 해당하는 발명에 의하여 쉽게 발명할 수 있는 경우는 제외한다</a:t>
                      </a:r>
                      <a:r>
                        <a:rPr lang="en-US" altLang="ko-KR" sz="1200" kern="0" spc="-80" dirty="0">
                          <a:effectLst/>
                        </a:rPr>
                        <a:t>)</a:t>
                      </a:r>
                      <a:r>
                        <a:rPr lang="ko-KR" altLang="en-US" sz="1200" kern="0" spc="-80" dirty="0">
                          <a:effectLst/>
                        </a:rPr>
                        <a:t>에 위반된 경우</a:t>
                      </a:r>
                    </a:p>
                    <a:p>
                      <a:pPr marL="0" marR="0" indent="0" algn="just" fontAlgn="base" latinLnBrk="1">
                        <a:lnSpc>
                          <a:spcPct val="120000"/>
                        </a:lnSpc>
                        <a:spcBef>
                          <a:spcPts val="0"/>
                        </a:spcBef>
                        <a:spcAft>
                          <a:spcPts val="0"/>
                        </a:spcAft>
                        <a:tabLst>
                          <a:tab pos="152400" algn="l"/>
                          <a:tab pos="359410" algn="l"/>
                          <a:tab pos="152400" algn="l"/>
                          <a:tab pos="359410" algn="l"/>
                        </a:tabLst>
                      </a:pPr>
                      <a:r>
                        <a:rPr lang="en-US" altLang="ko-KR" sz="1200" kern="0" spc="-80" dirty="0">
                          <a:effectLst/>
                        </a:rPr>
                        <a:t>2. </a:t>
                      </a:r>
                      <a:r>
                        <a:rPr lang="ko-KR" altLang="en-US" sz="1200" kern="0" spc="-80" dirty="0">
                          <a:effectLst/>
                        </a:rPr>
                        <a:t>제</a:t>
                      </a:r>
                      <a:r>
                        <a:rPr lang="en-US" altLang="ko-KR" sz="1200" kern="0" spc="-80" dirty="0">
                          <a:effectLst/>
                        </a:rPr>
                        <a:t>36</a:t>
                      </a:r>
                      <a:r>
                        <a:rPr lang="ko-KR" altLang="en-US" sz="1200" kern="0" spc="-80" dirty="0">
                          <a:effectLst/>
                        </a:rPr>
                        <a:t>조제</a:t>
                      </a:r>
                      <a:r>
                        <a:rPr lang="en-US" altLang="ko-KR" sz="1200" kern="0" spc="-80" dirty="0">
                          <a:effectLst/>
                        </a:rPr>
                        <a:t>1</a:t>
                      </a:r>
                      <a:r>
                        <a:rPr lang="ko-KR" altLang="en-US" sz="1200" kern="0" spc="-80" dirty="0">
                          <a:effectLst/>
                        </a:rPr>
                        <a:t>항부터 제</a:t>
                      </a:r>
                      <a:r>
                        <a:rPr lang="en-US" altLang="ko-KR" sz="1200" kern="0" spc="-80" dirty="0">
                          <a:effectLst/>
                        </a:rPr>
                        <a:t>3</a:t>
                      </a:r>
                      <a:r>
                        <a:rPr lang="ko-KR" altLang="en-US" sz="1200" kern="0" spc="-80" dirty="0">
                          <a:effectLst/>
                        </a:rPr>
                        <a:t>항까지의 규정에 위반된 경우 </a:t>
                      </a:r>
                    </a:p>
                    <a:p>
                      <a:pPr marL="140970" marR="0" indent="-140970" algn="just" fontAlgn="base" latinLnBrk="1">
                        <a:lnSpc>
                          <a:spcPct val="120000"/>
                        </a:lnSpc>
                        <a:spcBef>
                          <a:spcPts val="0"/>
                        </a:spcBef>
                        <a:spcAft>
                          <a:spcPts val="0"/>
                        </a:spcAft>
                        <a:tabLst>
                          <a:tab pos="152400" algn="l"/>
                          <a:tab pos="359410" algn="l"/>
                          <a:tab pos="152400" algn="l"/>
                          <a:tab pos="359410" algn="l"/>
                        </a:tabLst>
                      </a:pPr>
                      <a:r>
                        <a:rPr lang="ko-KR" altLang="en-US"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예외</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항에도 불구하고 특허공보에 게재된 제</a:t>
                      </a:r>
                      <a:r>
                        <a:rPr lang="en-US" altLang="ko-KR" sz="1200" kern="0" spc="-80" dirty="0">
                          <a:effectLst/>
                        </a:rPr>
                        <a:t>87</a:t>
                      </a:r>
                      <a:r>
                        <a:rPr lang="ko-KR" altLang="en-US" sz="1200" kern="0" spc="-80" dirty="0">
                          <a:effectLst/>
                        </a:rPr>
                        <a:t>조제</a:t>
                      </a:r>
                      <a:r>
                        <a:rPr lang="en-US" altLang="ko-KR" sz="1200" kern="0" spc="-80" dirty="0">
                          <a:effectLst/>
                        </a:rPr>
                        <a:t>3</a:t>
                      </a:r>
                      <a:r>
                        <a:rPr lang="ko-KR" altLang="en-US" sz="1200" kern="0" spc="-80" dirty="0" err="1">
                          <a:effectLst/>
                        </a:rPr>
                        <a:t>항제</a:t>
                      </a:r>
                      <a:r>
                        <a:rPr lang="en-US" altLang="ko-KR" sz="1200" kern="0" spc="-80" dirty="0">
                          <a:effectLst/>
                        </a:rPr>
                        <a:t>7</a:t>
                      </a:r>
                      <a:r>
                        <a:rPr lang="ko-KR" altLang="en-US" sz="1200" kern="0" spc="-80" dirty="0">
                          <a:effectLst/>
                        </a:rPr>
                        <a:t>호에 따른 </a:t>
                      </a:r>
                      <a:r>
                        <a:rPr lang="ko-KR" altLang="en-US" sz="1200" kern="0" spc="-80" dirty="0" err="1">
                          <a:effectLst/>
                        </a:rPr>
                        <a:t>선행기술에</a:t>
                      </a:r>
                      <a:r>
                        <a:rPr lang="ko-KR" altLang="en-US" sz="1200" kern="0" spc="-80" dirty="0">
                          <a:effectLst/>
                        </a:rPr>
                        <a:t> 기초한 이유로는 특허취소신청을 할 수 없다</a:t>
                      </a:r>
                      <a:r>
                        <a:rPr lang="en-US" altLang="ko-KR" sz="1200" kern="0" spc="-80" dirty="0">
                          <a:effectLst/>
                        </a:rPr>
                        <a:t>.</a:t>
                      </a:r>
                      <a:endParaRPr lang="ko-KR" altLang="en-US" sz="1200" kern="0" spc="-80" dirty="0">
                        <a:solidFill>
                          <a:schemeClr val="tx1"/>
                        </a:solidFill>
                        <a:effectLst/>
                        <a:latin typeface="+mn-ea"/>
                        <a:ea typeface="+mn-ea"/>
                      </a:endParaRPr>
                    </a:p>
                  </a:txBody>
                  <a:tcPr marL="72000" marR="72000" marT="8067" marB="8067"/>
                </a:tc>
                <a:tc>
                  <a:txBody>
                    <a:bodyPr/>
                    <a:lstStyle/>
                    <a:p>
                      <a:pPr marL="0" marR="0" indent="0" algn="l"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133</a:t>
                      </a:r>
                      <a:r>
                        <a:rPr lang="ko-KR" altLang="en-US" sz="1200" kern="0" spc="-80" dirty="0">
                          <a:effectLst/>
                        </a:rPr>
                        <a:t>조</a:t>
                      </a:r>
                      <a:r>
                        <a:rPr lang="en-US" altLang="ko-KR" sz="1200" kern="0" spc="-80" dirty="0">
                          <a:effectLst/>
                        </a:rPr>
                        <a:t>【</a:t>
                      </a:r>
                      <a:r>
                        <a:rPr lang="ko-KR" altLang="en-US" sz="1200" kern="0" spc="-80" dirty="0">
                          <a:effectLst/>
                        </a:rPr>
                        <a:t>특허의 무효심판</a:t>
                      </a:r>
                      <a:r>
                        <a:rPr lang="en-US" altLang="ko-KR" sz="1200" kern="0" spc="-80" dirty="0">
                          <a:effectLst/>
                        </a:rPr>
                        <a:t>】</a:t>
                      </a:r>
                      <a:endParaRPr lang="ko-KR" altLang="en-US" sz="1200" kern="0" spc="-80" dirty="0">
                        <a:effectLst/>
                      </a:endParaRPr>
                    </a:p>
                    <a:p>
                      <a:pPr marL="135890" marR="0" indent="-135890" algn="just" fontAlgn="base" latinLnBrk="1">
                        <a:lnSpc>
                          <a:spcPct val="120000"/>
                        </a:lnSpc>
                        <a:spcBef>
                          <a:spcPts val="0"/>
                        </a:spcBef>
                        <a:spcAft>
                          <a:spcPts val="0"/>
                        </a:spcAft>
                        <a:tabLst>
                          <a:tab pos="152400" algn="l"/>
                          <a:tab pos="359410" algn="l"/>
                          <a:tab pos="152400" algn="l"/>
                          <a:tab pos="359410" algn="l"/>
                        </a:tabLst>
                      </a:pPr>
                      <a:r>
                        <a:rPr lang="ko-KR" altLang="en-US"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주체적 및 객체적 요건</a:t>
                      </a:r>
                      <a:r>
                        <a:rPr lang="en-US" altLang="ko-KR" sz="1200" b="1" kern="0" spc="-80" dirty="0">
                          <a:solidFill>
                            <a:schemeClr val="accent1"/>
                          </a:solidFill>
                          <a:effectLst/>
                        </a:rPr>
                        <a:t>) </a:t>
                      </a:r>
                      <a:r>
                        <a:rPr lang="ko-KR" altLang="en-US" sz="1200" kern="0" spc="-80" dirty="0">
                          <a:effectLst/>
                        </a:rPr>
                        <a:t>이해관계인</a:t>
                      </a:r>
                      <a:r>
                        <a:rPr lang="en-US" altLang="ko-KR" sz="1200" kern="0" spc="-80" dirty="0">
                          <a:effectLst/>
                        </a:rPr>
                        <a:t>(</a:t>
                      </a:r>
                      <a:r>
                        <a:rPr lang="ko-KR" altLang="en-US" sz="1200" kern="0" spc="-80" dirty="0">
                          <a:effectLst/>
                        </a:rPr>
                        <a:t>제</a:t>
                      </a:r>
                      <a:r>
                        <a:rPr lang="en-US" altLang="ko-KR" sz="1200" kern="0" spc="-80" dirty="0">
                          <a:effectLst/>
                        </a:rPr>
                        <a:t>2</a:t>
                      </a:r>
                      <a:r>
                        <a:rPr lang="ko-KR" altLang="en-US" sz="1200" kern="0" spc="-80" dirty="0">
                          <a:effectLst/>
                        </a:rPr>
                        <a:t>호 본문의 경우에는 특허를 받을 수 있는 권리를 가진 자만 해당한다</a:t>
                      </a:r>
                      <a:r>
                        <a:rPr lang="en-US" altLang="ko-KR" sz="1200" kern="0" spc="-80" dirty="0">
                          <a:effectLst/>
                        </a:rPr>
                        <a:t>) </a:t>
                      </a:r>
                      <a:r>
                        <a:rPr lang="ko-KR" altLang="en-US" sz="1200" kern="0" spc="-80" dirty="0">
                          <a:effectLst/>
                        </a:rPr>
                        <a:t>또는 심사관은 특허가 다음 각 호의 어느 하나에 해당하는 경우에는 무효심판을 청구할 수 있다</a:t>
                      </a:r>
                      <a:r>
                        <a:rPr lang="en-US" altLang="ko-KR" sz="1200" kern="0" spc="-80" dirty="0">
                          <a:effectLst/>
                        </a:rPr>
                        <a:t>. </a:t>
                      </a:r>
                      <a:r>
                        <a:rPr lang="ko-KR" altLang="en-US" sz="1200" kern="0" spc="-80" dirty="0">
                          <a:effectLst/>
                        </a:rPr>
                        <a:t>이 경우 청구범위의 </a:t>
                      </a:r>
                      <a:r>
                        <a:rPr lang="ko-KR" altLang="en-US" sz="1200" kern="0" spc="-80" dirty="0" err="1">
                          <a:effectLst/>
                        </a:rPr>
                        <a:t>청구항이</a:t>
                      </a:r>
                      <a:r>
                        <a:rPr lang="ko-KR" altLang="en-US" sz="1200" kern="0" spc="-80" dirty="0">
                          <a:effectLst/>
                        </a:rPr>
                        <a:t> 둘 이상인 경우에는 </a:t>
                      </a:r>
                      <a:r>
                        <a:rPr lang="ko-KR" altLang="en-US" sz="1200" kern="0" spc="-80" dirty="0" err="1">
                          <a:effectLst/>
                        </a:rPr>
                        <a:t>청구항마다</a:t>
                      </a:r>
                      <a:r>
                        <a:rPr lang="ko-KR" altLang="en-US" sz="1200" kern="0" spc="-80" dirty="0">
                          <a:effectLst/>
                        </a:rPr>
                        <a:t> 청구할 수 있다</a:t>
                      </a:r>
                      <a:r>
                        <a:rPr lang="en-US" altLang="ko-KR" sz="1200" kern="0" spc="-80" dirty="0">
                          <a:effectLst/>
                        </a:rPr>
                        <a:t>. </a:t>
                      </a:r>
                      <a:endParaRPr lang="ko-KR" altLang="en-US" sz="1200" kern="0" spc="-80" dirty="0">
                        <a:effectLst/>
                      </a:endParaRPr>
                    </a:p>
                    <a:p>
                      <a:pPr marL="0" marR="0" indent="0" algn="just" fontAlgn="base" latinLnBrk="1">
                        <a:lnSpc>
                          <a:spcPct val="120000"/>
                        </a:lnSpc>
                        <a:spcBef>
                          <a:spcPts val="0"/>
                        </a:spcBef>
                        <a:spcAft>
                          <a:spcPts val="0"/>
                        </a:spcAft>
                        <a:tabLst>
                          <a:tab pos="152400" algn="l"/>
                          <a:tab pos="359410" algn="l"/>
                          <a:tab pos="152400" algn="l"/>
                          <a:tab pos="359410" algn="l"/>
                        </a:tabLst>
                      </a:pPr>
                      <a:r>
                        <a:rPr lang="en-US" altLang="ko-KR" sz="1200" kern="0" spc="-80" dirty="0">
                          <a:effectLst/>
                        </a:rPr>
                        <a:t>1. </a:t>
                      </a:r>
                      <a:r>
                        <a:rPr lang="ko-KR" altLang="en-US" sz="1200" kern="0" spc="-80" dirty="0">
                          <a:effectLst/>
                        </a:rPr>
                        <a:t>제</a:t>
                      </a:r>
                      <a:r>
                        <a:rPr lang="en-US" altLang="ko-KR" sz="1200" kern="0" spc="-80" dirty="0">
                          <a:effectLst/>
                        </a:rPr>
                        <a:t>25</a:t>
                      </a:r>
                      <a:r>
                        <a:rPr lang="ko-KR" altLang="en-US" sz="1200" kern="0" spc="-80" dirty="0">
                          <a:effectLst/>
                        </a:rPr>
                        <a:t>조</a:t>
                      </a:r>
                      <a:r>
                        <a:rPr lang="en-US" altLang="ko-KR" sz="1200" kern="0" spc="-100" dirty="0">
                          <a:solidFill>
                            <a:srgbClr val="FF0000"/>
                          </a:solidFill>
                          <a:effectLst/>
                        </a:rPr>
                        <a:t>[</a:t>
                      </a:r>
                      <a:r>
                        <a:rPr lang="ko-KR" altLang="en-US" sz="1200" kern="0" spc="-100" dirty="0">
                          <a:solidFill>
                            <a:srgbClr val="FF0000"/>
                          </a:solidFill>
                          <a:effectLst/>
                        </a:rPr>
                        <a:t>외국인의 권리능력</a:t>
                      </a:r>
                      <a:r>
                        <a:rPr lang="en-US" altLang="ko-KR" sz="1200" kern="0" spc="-10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29</a:t>
                      </a:r>
                      <a:r>
                        <a:rPr lang="ko-KR" altLang="en-US" sz="1200" kern="0" spc="-80" dirty="0">
                          <a:effectLst/>
                        </a:rPr>
                        <a:t>조</a:t>
                      </a:r>
                      <a:r>
                        <a:rPr lang="en-US" altLang="ko-KR" sz="1200" kern="0" spc="-100" dirty="0">
                          <a:solidFill>
                            <a:srgbClr val="FF0000"/>
                          </a:solidFill>
                          <a:effectLst/>
                        </a:rPr>
                        <a:t>[</a:t>
                      </a:r>
                      <a:r>
                        <a:rPr lang="ko-KR" altLang="en-US" sz="1200" kern="0" spc="-100" dirty="0" err="1">
                          <a:solidFill>
                            <a:srgbClr val="FF0000"/>
                          </a:solidFill>
                          <a:effectLst/>
                        </a:rPr>
                        <a:t>특허요건</a:t>
                      </a:r>
                      <a:r>
                        <a:rPr lang="en-US" altLang="ko-KR" sz="1200" kern="0" spc="-10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32</a:t>
                      </a:r>
                      <a:r>
                        <a:rPr lang="ko-KR" altLang="en-US" sz="1200" kern="0" spc="-80" dirty="0">
                          <a:effectLst/>
                        </a:rPr>
                        <a:t>조</a:t>
                      </a:r>
                      <a:r>
                        <a:rPr lang="en-US" altLang="ko-KR" sz="1200" kern="0" spc="-100" dirty="0">
                          <a:solidFill>
                            <a:srgbClr val="FF0000"/>
                          </a:solidFill>
                          <a:effectLst/>
                        </a:rPr>
                        <a:t>[</a:t>
                      </a:r>
                      <a:r>
                        <a:rPr lang="ko-KR" altLang="en-US" sz="1200" kern="0" spc="-100" dirty="0">
                          <a:solidFill>
                            <a:srgbClr val="FF0000"/>
                          </a:solidFill>
                          <a:effectLst/>
                        </a:rPr>
                        <a:t>특허를 받을 수 없는 발명</a:t>
                      </a:r>
                      <a:r>
                        <a:rPr lang="en-US" altLang="ko-KR" sz="1200" kern="0" spc="-10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36</a:t>
                      </a:r>
                      <a:r>
                        <a:rPr lang="ko-KR" altLang="en-US" sz="1200" kern="0" spc="-80" dirty="0">
                          <a:effectLst/>
                        </a:rPr>
                        <a:t>조제</a:t>
                      </a:r>
                      <a:r>
                        <a:rPr lang="en-US" altLang="ko-KR" sz="1200" kern="0" spc="-80" dirty="0">
                          <a:effectLst/>
                        </a:rPr>
                        <a:t>1</a:t>
                      </a:r>
                      <a:r>
                        <a:rPr lang="ko-KR" altLang="en-US" sz="1200" kern="0" spc="-80" dirty="0">
                          <a:effectLst/>
                        </a:rPr>
                        <a:t>항부터 제</a:t>
                      </a:r>
                      <a:r>
                        <a:rPr lang="en-US" altLang="ko-KR" sz="1200" kern="0" spc="-80" dirty="0">
                          <a:effectLst/>
                        </a:rPr>
                        <a:t>3</a:t>
                      </a:r>
                      <a:r>
                        <a:rPr lang="ko-KR" altLang="en-US" sz="1200" kern="0" spc="-80" dirty="0">
                          <a:effectLst/>
                        </a:rPr>
                        <a:t>항까지</a:t>
                      </a:r>
                      <a:r>
                        <a:rPr lang="en-US" altLang="ko-KR" sz="1200" kern="0" spc="-100" dirty="0">
                          <a:solidFill>
                            <a:srgbClr val="FF0000"/>
                          </a:solidFill>
                          <a:effectLst/>
                        </a:rPr>
                        <a:t>[</a:t>
                      </a:r>
                      <a:r>
                        <a:rPr lang="ko-KR" altLang="en-US" sz="1200" kern="0" spc="-100" dirty="0" err="1">
                          <a:solidFill>
                            <a:srgbClr val="FF0000"/>
                          </a:solidFill>
                          <a:effectLst/>
                        </a:rPr>
                        <a:t>선출원</a:t>
                      </a:r>
                      <a:r>
                        <a:rPr lang="en-US" altLang="ko-KR" sz="1200" kern="0" spc="-10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42</a:t>
                      </a:r>
                      <a:r>
                        <a:rPr lang="ko-KR" altLang="en-US" sz="1200" kern="0" spc="-80" dirty="0">
                          <a:effectLst/>
                        </a:rPr>
                        <a:t>조제</a:t>
                      </a:r>
                      <a:r>
                        <a:rPr lang="en-US" altLang="ko-KR" sz="1200" kern="0" spc="-80" dirty="0">
                          <a:effectLst/>
                        </a:rPr>
                        <a:t>3</a:t>
                      </a:r>
                      <a:r>
                        <a:rPr lang="ko-KR" altLang="en-US" sz="1200" kern="0" spc="-80" dirty="0" err="1">
                          <a:effectLst/>
                        </a:rPr>
                        <a:t>항제</a:t>
                      </a:r>
                      <a:r>
                        <a:rPr lang="en-US" altLang="ko-KR" sz="1200" kern="0" spc="-80" dirty="0">
                          <a:effectLst/>
                        </a:rPr>
                        <a:t>1</a:t>
                      </a:r>
                      <a:r>
                        <a:rPr lang="ko-KR" altLang="en-US" sz="1200" kern="0" spc="-80" dirty="0">
                          <a:effectLst/>
                        </a:rPr>
                        <a:t>호</a:t>
                      </a:r>
                      <a:r>
                        <a:rPr lang="en-US" altLang="ko-KR" sz="1200" kern="0" spc="-100" dirty="0">
                          <a:solidFill>
                            <a:srgbClr val="FF0000"/>
                          </a:solidFill>
                          <a:effectLst/>
                        </a:rPr>
                        <a:t>[</a:t>
                      </a:r>
                      <a:r>
                        <a:rPr lang="ko-KR" altLang="en-US" sz="1200" kern="0" spc="-100" dirty="0">
                          <a:solidFill>
                            <a:srgbClr val="FF0000"/>
                          </a:solidFill>
                          <a:effectLst/>
                        </a:rPr>
                        <a:t>일반적인 발명의 설명 </a:t>
                      </a:r>
                      <a:r>
                        <a:rPr lang="ko-KR" altLang="en-US" sz="1200" kern="0" spc="-100" dirty="0" err="1">
                          <a:solidFill>
                            <a:srgbClr val="FF0000"/>
                          </a:solidFill>
                          <a:effectLst/>
                        </a:rPr>
                        <a:t>기재방법</a:t>
                      </a:r>
                      <a:r>
                        <a:rPr lang="en-US" altLang="ko-KR" sz="1200" kern="0" spc="-100" dirty="0">
                          <a:solidFill>
                            <a:srgbClr val="FF0000"/>
                          </a:solidFill>
                          <a:effectLst/>
                        </a:rPr>
                        <a:t>]</a:t>
                      </a:r>
                      <a:r>
                        <a:rPr lang="ko-KR" altLang="en-US" sz="1200" kern="0" spc="-80" dirty="0">
                          <a:solidFill>
                            <a:srgbClr val="FF0000"/>
                          </a:solidFill>
                          <a:effectLst/>
                        </a:rPr>
                        <a:t> </a:t>
                      </a:r>
                      <a:r>
                        <a:rPr lang="ko-KR" altLang="en-US" sz="1200" kern="0" spc="-80" dirty="0">
                          <a:effectLst/>
                        </a:rPr>
                        <a:t>또는 같은 조 제</a:t>
                      </a:r>
                      <a:r>
                        <a:rPr lang="en-US" altLang="ko-KR" sz="1200" kern="0" spc="-80" dirty="0">
                          <a:effectLst/>
                        </a:rPr>
                        <a:t>4</a:t>
                      </a:r>
                      <a:r>
                        <a:rPr lang="ko-KR" altLang="en-US" sz="1200" kern="0" spc="-80" dirty="0">
                          <a:effectLst/>
                        </a:rPr>
                        <a:t>항</a:t>
                      </a:r>
                      <a:r>
                        <a:rPr lang="en-US" altLang="ko-KR" sz="1200" kern="0" spc="-100" dirty="0">
                          <a:solidFill>
                            <a:srgbClr val="FF0000"/>
                          </a:solidFill>
                          <a:effectLst/>
                        </a:rPr>
                        <a:t>[</a:t>
                      </a:r>
                      <a:r>
                        <a:rPr lang="ko-KR" altLang="en-US" sz="1200" kern="0" spc="-100" dirty="0" err="1">
                          <a:solidFill>
                            <a:srgbClr val="FF0000"/>
                          </a:solidFill>
                          <a:effectLst/>
                        </a:rPr>
                        <a:t>청구범위</a:t>
                      </a:r>
                      <a:r>
                        <a:rPr lang="ko-KR" altLang="en-US" sz="1200" kern="0" spc="-100" dirty="0">
                          <a:solidFill>
                            <a:srgbClr val="FF0000"/>
                          </a:solidFill>
                          <a:effectLst/>
                        </a:rPr>
                        <a:t> </a:t>
                      </a:r>
                      <a:r>
                        <a:rPr lang="ko-KR" altLang="en-US" sz="1200" kern="0" spc="-100" dirty="0" err="1">
                          <a:solidFill>
                            <a:srgbClr val="FF0000"/>
                          </a:solidFill>
                          <a:effectLst/>
                        </a:rPr>
                        <a:t>기재방법</a:t>
                      </a:r>
                      <a:r>
                        <a:rPr lang="en-US" altLang="ko-KR" sz="1200" kern="0" spc="-100" dirty="0">
                          <a:solidFill>
                            <a:srgbClr val="FF0000"/>
                          </a:solidFill>
                          <a:effectLst/>
                        </a:rPr>
                        <a:t>: </a:t>
                      </a:r>
                      <a:r>
                        <a:rPr lang="ko-KR" altLang="en-US" sz="1200" kern="0" spc="-100" dirty="0" err="1">
                          <a:solidFill>
                            <a:srgbClr val="FF0000"/>
                          </a:solidFill>
                          <a:effectLst/>
                        </a:rPr>
                        <a:t>기재원칙</a:t>
                      </a:r>
                      <a:r>
                        <a:rPr lang="en-US" altLang="ko-KR" sz="1200" kern="0" spc="-100" dirty="0">
                          <a:solidFill>
                            <a:srgbClr val="FF0000"/>
                          </a:solidFill>
                          <a:effectLst/>
                        </a:rPr>
                        <a:t>]</a:t>
                      </a:r>
                      <a:r>
                        <a:rPr lang="ko-KR" altLang="en-US" sz="1200" kern="0" spc="-80" dirty="0">
                          <a:effectLst/>
                        </a:rPr>
                        <a:t>을 위반한 경우</a:t>
                      </a:r>
                      <a:endParaRPr lang="en-US" altLang="ko-KR" sz="1200" kern="0" spc="-80" dirty="0">
                        <a:effectLst/>
                      </a:endParaRPr>
                    </a:p>
                    <a:p>
                      <a:pPr marL="0" marR="0" indent="0" algn="just" fontAlgn="base" latinLnBrk="1">
                        <a:lnSpc>
                          <a:spcPct val="120000"/>
                        </a:lnSpc>
                        <a:spcBef>
                          <a:spcPts val="0"/>
                        </a:spcBef>
                        <a:spcAft>
                          <a:spcPts val="0"/>
                        </a:spcAft>
                        <a:tabLst>
                          <a:tab pos="152400" algn="l"/>
                          <a:tab pos="359410" algn="l"/>
                          <a:tab pos="152400" algn="l"/>
                          <a:tab pos="359410" algn="l"/>
                        </a:tabLst>
                      </a:pPr>
                      <a:r>
                        <a:rPr lang="en-US" altLang="ko-KR" sz="1200" kern="0" spc="-80" dirty="0">
                          <a:effectLst/>
                        </a:rPr>
                        <a:t>2. </a:t>
                      </a:r>
                      <a:r>
                        <a:rPr lang="ko-KR" altLang="en-US" sz="1200" kern="0" spc="-80" dirty="0">
                          <a:effectLst/>
                        </a:rPr>
                        <a:t>제</a:t>
                      </a:r>
                      <a:r>
                        <a:rPr lang="en-US" altLang="ko-KR" sz="1200" kern="0" spc="-80" dirty="0">
                          <a:effectLst/>
                        </a:rPr>
                        <a:t>33</a:t>
                      </a:r>
                      <a:r>
                        <a:rPr lang="ko-KR" altLang="en-US" sz="1200" kern="0" spc="-80" dirty="0">
                          <a:effectLst/>
                        </a:rPr>
                        <a:t>조제</a:t>
                      </a:r>
                      <a:r>
                        <a:rPr lang="en-US" altLang="ko-KR" sz="1200" kern="0" spc="-80" dirty="0">
                          <a:effectLst/>
                        </a:rPr>
                        <a:t>1</a:t>
                      </a:r>
                      <a:r>
                        <a:rPr lang="ko-KR" altLang="en-US" sz="1200" kern="0" spc="-80" dirty="0">
                          <a:effectLst/>
                        </a:rPr>
                        <a:t>항 본문</a:t>
                      </a:r>
                      <a:r>
                        <a:rPr lang="en-US" altLang="ko-KR" sz="1200" kern="0" spc="-100" dirty="0">
                          <a:solidFill>
                            <a:srgbClr val="FF0000"/>
                          </a:solidFill>
                          <a:effectLst/>
                        </a:rPr>
                        <a:t>[</a:t>
                      </a:r>
                      <a:r>
                        <a:rPr lang="ko-KR" altLang="en-US" sz="1200" kern="0" spc="-100" dirty="0">
                          <a:solidFill>
                            <a:srgbClr val="FF0000"/>
                          </a:solidFill>
                          <a:effectLst/>
                        </a:rPr>
                        <a:t>특허를 받을 수 있는 자</a:t>
                      </a:r>
                      <a:r>
                        <a:rPr lang="en-US" altLang="ko-KR" sz="1200" kern="0" spc="-100" dirty="0">
                          <a:solidFill>
                            <a:srgbClr val="FF0000"/>
                          </a:solidFill>
                          <a:effectLst/>
                        </a:rPr>
                        <a:t>]</a:t>
                      </a:r>
                      <a:r>
                        <a:rPr lang="ko-KR" altLang="en-US" sz="1200" kern="0" spc="-80" dirty="0">
                          <a:effectLst/>
                        </a:rPr>
                        <a:t>에 따른 특허를 받을 수 있는 권리를 가지지 아니하거나 제</a:t>
                      </a:r>
                      <a:r>
                        <a:rPr lang="en-US" altLang="ko-KR" sz="1200" kern="0" spc="-80" dirty="0">
                          <a:effectLst/>
                        </a:rPr>
                        <a:t>44</a:t>
                      </a:r>
                      <a:r>
                        <a:rPr lang="ko-KR" altLang="en-US" sz="1200" kern="0" spc="-80" dirty="0">
                          <a:effectLst/>
                        </a:rPr>
                        <a:t>조</a:t>
                      </a:r>
                      <a:r>
                        <a:rPr lang="en-US" altLang="ko-KR" sz="1200" kern="0" spc="-100" dirty="0">
                          <a:solidFill>
                            <a:srgbClr val="FF0000"/>
                          </a:solidFill>
                          <a:effectLst/>
                        </a:rPr>
                        <a:t>[</a:t>
                      </a:r>
                      <a:r>
                        <a:rPr lang="ko-KR" altLang="en-US" sz="1200" kern="0" spc="-100" dirty="0" err="1">
                          <a:solidFill>
                            <a:srgbClr val="FF0000"/>
                          </a:solidFill>
                          <a:effectLst/>
                        </a:rPr>
                        <a:t>공동출원</a:t>
                      </a:r>
                      <a:r>
                        <a:rPr lang="en-US" altLang="ko-KR" sz="1200" kern="0" spc="-100" dirty="0">
                          <a:solidFill>
                            <a:srgbClr val="FF0000"/>
                          </a:solidFill>
                          <a:effectLst/>
                        </a:rPr>
                        <a:t>]</a:t>
                      </a:r>
                      <a:r>
                        <a:rPr lang="ko-KR" altLang="en-US" sz="1200" kern="0" spc="-80" dirty="0">
                          <a:effectLst/>
                        </a:rPr>
                        <a:t>를 위반한 경우</a:t>
                      </a:r>
                      <a:r>
                        <a:rPr lang="en-US" altLang="ko-KR" sz="1200" kern="0" spc="-80" dirty="0">
                          <a:effectLst/>
                        </a:rPr>
                        <a:t>. </a:t>
                      </a:r>
                      <a:r>
                        <a:rPr lang="ko-KR" altLang="en-US" sz="1200" kern="0" spc="-80" dirty="0">
                          <a:effectLst/>
                        </a:rPr>
                        <a:t>다만</a:t>
                      </a:r>
                      <a:r>
                        <a:rPr lang="en-US" altLang="ko-KR" sz="1200" kern="0" spc="-80" dirty="0">
                          <a:effectLst/>
                        </a:rPr>
                        <a:t>, </a:t>
                      </a:r>
                      <a:r>
                        <a:rPr lang="ko-KR" altLang="en-US" sz="1200" kern="0" spc="-80" dirty="0">
                          <a:effectLst/>
                        </a:rPr>
                        <a:t>제</a:t>
                      </a:r>
                      <a:r>
                        <a:rPr lang="en-US" altLang="ko-KR" sz="1200" kern="0" spc="-80" dirty="0">
                          <a:effectLst/>
                        </a:rPr>
                        <a:t>99</a:t>
                      </a:r>
                      <a:r>
                        <a:rPr lang="ko-KR" altLang="en-US" sz="1200" kern="0" spc="-80" dirty="0">
                          <a:effectLst/>
                        </a:rPr>
                        <a:t>조의</a:t>
                      </a:r>
                      <a:r>
                        <a:rPr lang="en-US" altLang="ko-KR" sz="1200" kern="0" spc="-80" dirty="0">
                          <a:effectLst/>
                        </a:rPr>
                        <a:t>2</a:t>
                      </a:r>
                      <a:r>
                        <a:rPr lang="ko-KR" altLang="en-US" sz="1200" kern="0" spc="-80" dirty="0">
                          <a:effectLst/>
                        </a:rPr>
                        <a:t>제</a:t>
                      </a:r>
                      <a:r>
                        <a:rPr lang="en-US" altLang="ko-KR" sz="1200" kern="0" spc="-80" dirty="0">
                          <a:effectLst/>
                        </a:rPr>
                        <a:t>2</a:t>
                      </a:r>
                      <a:r>
                        <a:rPr lang="ko-KR" altLang="en-US" sz="1200" kern="0" spc="-80" dirty="0">
                          <a:effectLst/>
                        </a:rPr>
                        <a:t>항에 따라 </a:t>
                      </a:r>
                      <a:r>
                        <a:rPr lang="ko-KR" altLang="en-US" sz="1200" kern="0" spc="-80" dirty="0" err="1">
                          <a:effectLst/>
                        </a:rPr>
                        <a:t>이전등록된</a:t>
                      </a:r>
                      <a:r>
                        <a:rPr lang="ko-KR" altLang="en-US" sz="1200" kern="0" spc="-80" dirty="0">
                          <a:effectLst/>
                        </a:rPr>
                        <a:t> 경우에는 제외한다</a:t>
                      </a:r>
                      <a:r>
                        <a:rPr lang="en-US" altLang="ko-KR" sz="1200" kern="0" spc="-80" dirty="0">
                          <a:effectLst/>
                        </a:rPr>
                        <a:t>.</a:t>
                      </a:r>
                      <a:endParaRPr lang="ko-KR" altLang="en-US" sz="1200" kern="0" spc="-80" dirty="0">
                        <a:effectLst/>
                      </a:endParaRPr>
                    </a:p>
                    <a:p>
                      <a:pPr marL="227330" marR="0" indent="-227330" algn="just" fontAlgn="base" latinLnBrk="1">
                        <a:lnSpc>
                          <a:spcPct val="120000"/>
                        </a:lnSpc>
                        <a:spcBef>
                          <a:spcPts val="0"/>
                        </a:spcBef>
                        <a:spcAft>
                          <a:spcPts val="0"/>
                        </a:spcAft>
                        <a:tabLst>
                          <a:tab pos="152400" algn="l"/>
                          <a:tab pos="359410" algn="l"/>
                          <a:tab pos="152400" algn="l"/>
                          <a:tab pos="359410" algn="l"/>
                        </a:tabLst>
                      </a:pPr>
                      <a:r>
                        <a:rPr lang="en-US" altLang="ko-KR" sz="1200" kern="0" spc="-80" dirty="0">
                          <a:effectLst/>
                        </a:rPr>
                        <a:t>3. </a:t>
                      </a:r>
                      <a:r>
                        <a:rPr lang="ko-KR" altLang="en-US" sz="1200" kern="0" spc="-80" dirty="0">
                          <a:effectLst/>
                        </a:rPr>
                        <a:t>제</a:t>
                      </a:r>
                      <a:r>
                        <a:rPr lang="en-US" altLang="ko-KR" sz="1200" kern="0" spc="-80" dirty="0">
                          <a:effectLst/>
                        </a:rPr>
                        <a:t>33</a:t>
                      </a:r>
                      <a:r>
                        <a:rPr lang="ko-KR" altLang="en-US" sz="1200" kern="0" spc="-80" dirty="0">
                          <a:effectLst/>
                        </a:rPr>
                        <a:t>조제</a:t>
                      </a:r>
                      <a:r>
                        <a:rPr lang="en-US" altLang="ko-KR" sz="1200" kern="0" spc="-80" dirty="0">
                          <a:effectLst/>
                        </a:rPr>
                        <a:t>1</a:t>
                      </a:r>
                      <a:r>
                        <a:rPr lang="ko-KR" altLang="en-US" sz="1200" kern="0" spc="-80" dirty="0">
                          <a:effectLst/>
                        </a:rPr>
                        <a:t>항 단서</a:t>
                      </a:r>
                      <a:r>
                        <a:rPr lang="en-US" altLang="ko-KR" sz="1200" kern="0" spc="-100" dirty="0">
                          <a:solidFill>
                            <a:srgbClr val="FF0000"/>
                          </a:solidFill>
                          <a:effectLst/>
                        </a:rPr>
                        <a:t>[</a:t>
                      </a:r>
                      <a:r>
                        <a:rPr lang="ko-KR" altLang="en-US" sz="1200" kern="0" spc="-100" dirty="0">
                          <a:solidFill>
                            <a:srgbClr val="FF0000"/>
                          </a:solidFill>
                          <a:effectLst/>
                        </a:rPr>
                        <a:t>특허를 받을 수 없는 자</a:t>
                      </a:r>
                      <a:r>
                        <a:rPr lang="en-US" altLang="ko-KR" sz="1200" kern="0" spc="-100" dirty="0">
                          <a:solidFill>
                            <a:srgbClr val="FF0000"/>
                          </a:solidFill>
                          <a:effectLst/>
                        </a:rPr>
                        <a:t>]</a:t>
                      </a:r>
                      <a:r>
                        <a:rPr lang="ko-KR" altLang="en-US" sz="1200" kern="0" spc="-80" dirty="0">
                          <a:effectLst/>
                        </a:rPr>
                        <a:t>에 따라 특허를 받을 수 없는 경우</a:t>
                      </a:r>
                    </a:p>
                    <a:p>
                      <a:pPr marL="0" marR="0" indent="0" algn="just" fontAlgn="base" latinLnBrk="1">
                        <a:lnSpc>
                          <a:spcPct val="120000"/>
                        </a:lnSpc>
                        <a:spcBef>
                          <a:spcPts val="0"/>
                        </a:spcBef>
                        <a:spcAft>
                          <a:spcPts val="0"/>
                        </a:spcAft>
                        <a:tabLst>
                          <a:tab pos="358775" algn="l"/>
                          <a:tab pos="152400" algn="l"/>
                          <a:tab pos="358775" algn="l"/>
                        </a:tabLst>
                      </a:pPr>
                      <a:r>
                        <a:rPr lang="en-US" altLang="ko-KR" sz="1200" kern="0" spc="-100" dirty="0">
                          <a:effectLst/>
                        </a:rPr>
                        <a:t>4. </a:t>
                      </a:r>
                      <a:r>
                        <a:rPr lang="ko-KR" altLang="en-US" sz="1200" kern="0" spc="-100" dirty="0" err="1">
                          <a:effectLst/>
                        </a:rPr>
                        <a:t>특허된</a:t>
                      </a:r>
                      <a:r>
                        <a:rPr lang="ko-KR" altLang="en-US" sz="1200" kern="0" spc="-100" dirty="0">
                          <a:effectLst/>
                        </a:rPr>
                        <a:t> 후 그 특허권자가 제</a:t>
                      </a:r>
                      <a:r>
                        <a:rPr lang="en-US" altLang="ko-KR" sz="1200" kern="0" spc="-100" dirty="0">
                          <a:effectLst/>
                        </a:rPr>
                        <a:t>25</a:t>
                      </a:r>
                      <a:r>
                        <a:rPr lang="ko-KR" altLang="en-US" sz="1200" kern="0" spc="-100" dirty="0">
                          <a:effectLst/>
                        </a:rPr>
                        <a:t>조에 따라 특허권을 누릴 수 없는 자로 되거나 그 특허가 조약을 위반한 경우</a:t>
                      </a:r>
                    </a:p>
                    <a:p>
                      <a:pPr marL="0" marR="0" indent="0" algn="just" fontAlgn="base" latinLnBrk="1">
                        <a:lnSpc>
                          <a:spcPct val="120000"/>
                        </a:lnSpc>
                        <a:spcBef>
                          <a:spcPts val="0"/>
                        </a:spcBef>
                        <a:spcAft>
                          <a:spcPts val="0"/>
                        </a:spcAft>
                        <a:tabLst>
                          <a:tab pos="152400" algn="l"/>
                          <a:tab pos="359410" algn="l"/>
                          <a:tab pos="152400" algn="l"/>
                          <a:tab pos="359410" algn="l"/>
                        </a:tabLst>
                      </a:pPr>
                      <a:r>
                        <a:rPr lang="en-US" altLang="ko-KR" sz="1200" kern="0" spc="-80" dirty="0">
                          <a:effectLst/>
                        </a:rPr>
                        <a:t>5. </a:t>
                      </a:r>
                      <a:r>
                        <a:rPr lang="ko-KR" altLang="en-US" sz="1200" kern="0" spc="-80" dirty="0">
                          <a:effectLst/>
                        </a:rPr>
                        <a:t>조약을 위반하여 특허를 받을 수 없는 경우</a:t>
                      </a:r>
                    </a:p>
                    <a:p>
                      <a:pPr marL="0" marR="0" indent="0" algn="just" fontAlgn="base" latinLnBrk="1">
                        <a:lnSpc>
                          <a:spcPct val="120000"/>
                        </a:lnSpc>
                        <a:spcBef>
                          <a:spcPts val="0"/>
                        </a:spcBef>
                        <a:spcAft>
                          <a:spcPts val="0"/>
                        </a:spcAft>
                        <a:tabLst>
                          <a:tab pos="136525" algn="l"/>
                          <a:tab pos="358775" algn="l"/>
                          <a:tab pos="152400" algn="l"/>
                          <a:tab pos="358775" algn="l"/>
                        </a:tabLst>
                      </a:pPr>
                      <a:r>
                        <a:rPr lang="en-US" altLang="ko-KR" sz="1200" kern="0" spc="-80" dirty="0">
                          <a:effectLst/>
                        </a:rPr>
                        <a:t>6. </a:t>
                      </a:r>
                      <a:r>
                        <a:rPr lang="ko-KR" altLang="en-US" sz="1200" kern="0" spc="-80" dirty="0">
                          <a:effectLst/>
                        </a:rPr>
                        <a:t>제</a:t>
                      </a:r>
                      <a:r>
                        <a:rPr lang="en-US" altLang="ko-KR" sz="1200" kern="0" spc="-80" dirty="0">
                          <a:effectLst/>
                        </a:rPr>
                        <a:t>47</a:t>
                      </a:r>
                      <a:r>
                        <a:rPr lang="ko-KR" altLang="en-US" sz="1200" kern="0" spc="-80" dirty="0">
                          <a:effectLst/>
                        </a:rPr>
                        <a:t>조제</a:t>
                      </a:r>
                      <a:r>
                        <a:rPr lang="en-US" altLang="ko-KR" sz="1200" kern="0" spc="-80" dirty="0">
                          <a:effectLst/>
                        </a:rPr>
                        <a:t>2</a:t>
                      </a:r>
                      <a:r>
                        <a:rPr lang="ko-KR" altLang="en-US" sz="1200" kern="0" spc="-80" dirty="0">
                          <a:effectLst/>
                        </a:rPr>
                        <a:t>항 전단</a:t>
                      </a:r>
                      <a:r>
                        <a:rPr lang="en-US" altLang="ko-KR" sz="1200" kern="0" spc="-100" dirty="0">
                          <a:solidFill>
                            <a:srgbClr val="FF0000"/>
                          </a:solidFill>
                          <a:effectLst/>
                        </a:rPr>
                        <a:t>[</a:t>
                      </a:r>
                      <a:r>
                        <a:rPr lang="ko-KR" altLang="en-US" sz="1200" kern="0" spc="-100" dirty="0">
                          <a:solidFill>
                            <a:srgbClr val="FF0000"/>
                          </a:solidFill>
                          <a:effectLst/>
                        </a:rPr>
                        <a:t>신규사항추가금지</a:t>
                      </a:r>
                      <a:r>
                        <a:rPr lang="en-US" altLang="ko-KR" sz="1200" kern="0" spc="-100" dirty="0">
                          <a:solidFill>
                            <a:srgbClr val="FF0000"/>
                          </a:solidFill>
                          <a:effectLst/>
                        </a:rPr>
                        <a:t>: </a:t>
                      </a:r>
                      <a:r>
                        <a:rPr lang="ko-KR" altLang="en-US" sz="1200" kern="0" spc="-100" dirty="0">
                          <a:solidFill>
                            <a:srgbClr val="FF0000"/>
                          </a:solidFill>
                          <a:effectLst/>
                        </a:rPr>
                        <a:t>외국어특허출원의 경우 원문의 범위만</a:t>
                      </a:r>
                      <a:r>
                        <a:rPr lang="en-US" altLang="ko-KR" sz="1200" kern="0" spc="-100" dirty="0">
                          <a:solidFill>
                            <a:srgbClr val="FF0000"/>
                          </a:solidFill>
                          <a:effectLst/>
                        </a:rPr>
                        <a:t>]</a:t>
                      </a:r>
                      <a:r>
                        <a:rPr lang="ko-KR" altLang="en-US" sz="1200" kern="0" spc="-80" dirty="0">
                          <a:effectLst/>
                        </a:rPr>
                        <a:t>에 따른 범위를 벗어난 보정인 경우</a:t>
                      </a:r>
                    </a:p>
                    <a:p>
                      <a:pPr marL="252730" marR="0" indent="-252730" algn="just" fontAlgn="base" latinLnBrk="1">
                        <a:lnSpc>
                          <a:spcPct val="120000"/>
                        </a:lnSpc>
                        <a:spcBef>
                          <a:spcPts val="0"/>
                        </a:spcBef>
                        <a:spcAft>
                          <a:spcPts val="0"/>
                        </a:spcAft>
                        <a:tabLst>
                          <a:tab pos="152400" algn="l"/>
                          <a:tab pos="359410" algn="l"/>
                          <a:tab pos="152400" algn="l"/>
                          <a:tab pos="359410" algn="l"/>
                        </a:tabLst>
                      </a:pPr>
                      <a:r>
                        <a:rPr lang="en-US" altLang="ko-KR" sz="1200" kern="0" spc="-80" dirty="0">
                          <a:effectLst/>
                        </a:rPr>
                        <a:t>7. </a:t>
                      </a:r>
                      <a:r>
                        <a:rPr lang="ko-KR" altLang="en-US" sz="1200" kern="0" spc="-80" dirty="0">
                          <a:effectLst/>
                        </a:rPr>
                        <a:t>제</a:t>
                      </a:r>
                      <a:r>
                        <a:rPr lang="en-US" altLang="ko-KR" sz="1200" kern="0" spc="-80" dirty="0">
                          <a:effectLst/>
                        </a:rPr>
                        <a:t>52</a:t>
                      </a:r>
                      <a:r>
                        <a:rPr lang="ko-KR" altLang="en-US" sz="1200" kern="0" spc="-80" dirty="0">
                          <a:effectLst/>
                        </a:rPr>
                        <a:t>조제</a:t>
                      </a:r>
                      <a:r>
                        <a:rPr lang="en-US" altLang="ko-KR" sz="1200" kern="0" spc="-80" dirty="0">
                          <a:effectLst/>
                        </a:rPr>
                        <a:t>1</a:t>
                      </a:r>
                      <a:r>
                        <a:rPr lang="ko-KR" altLang="en-US" sz="1200" kern="0" spc="-80" dirty="0">
                          <a:effectLst/>
                        </a:rPr>
                        <a:t>항에 따른 범위를 벗어난 </a:t>
                      </a:r>
                      <a:r>
                        <a:rPr lang="ko-KR" altLang="en-US" sz="1200" kern="0" spc="-80" dirty="0" err="1">
                          <a:effectLst/>
                        </a:rPr>
                        <a:t>분할출원인</a:t>
                      </a:r>
                      <a:r>
                        <a:rPr lang="ko-KR" altLang="en-US" sz="1200" kern="0" spc="-80" dirty="0">
                          <a:effectLst/>
                        </a:rPr>
                        <a:t> 경우 또는 </a:t>
                      </a:r>
                      <a:r>
                        <a:rPr lang="ko-KR" altLang="en-US" sz="1200" kern="0" spc="-80" dirty="0">
                          <a:solidFill>
                            <a:srgbClr val="FF0000"/>
                          </a:solidFill>
                          <a:effectLst/>
                        </a:rPr>
                        <a:t>제</a:t>
                      </a:r>
                      <a:r>
                        <a:rPr lang="en-US" altLang="ko-KR" sz="1200" kern="0" spc="-80" dirty="0">
                          <a:solidFill>
                            <a:srgbClr val="FF0000"/>
                          </a:solidFill>
                          <a:effectLst/>
                        </a:rPr>
                        <a:t>52</a:t>
                      </a:r>
                      <a:r>
                        <a:rPr lang="ko-KR" altLang="en-US" sz="1200" kern="0" spc="-80" dirty="0">
                          <a:solidFill>
                            <a:srgbClr val="FF0000"/>
                          </a:solidFill>
                          <a:effectLst/>
                        </a:rPr>
                        <a:t>조의</a:t>
                      </a:r>
                      <a:r>
                        <a:rPr lang="en-US" altLang="ko-KR" sz="1200" kern="0" spc="-80" dirty="0">
                          <a:solidFill>
                            <a:srgbClr val="FF0000"/>
                          </a:solidFill>
                          <a:effectLst/>
                        </a:rPr>
                        <a:t>2</a:t>
                      </a:r>
                      <a:r>
                        <a:rPr lang="ko-KR" altLang="en-US" sz="1200" kern="0" spc="-80" dirty="0">
                          <a:solidFill>
                            <a:srgbClr val="FF0000"/>
                          </a:solidFill>
                          <a:effectLst/>
                        </a:rPr>
                        <a:t>제</a:t>
                      </a:r>
                      <a:r>
                        <a:rPr lang="en-US" altLang="ko-KR" sz="1200" kern="0" spc="-80" dirty="0">
                          <a:solidFill>
                            <a:srgbClr val="FF0000"/>
                          </a:solidFill>
                          <a:effectLst/>
                        </a:rPr>
                        <a:t>1</a:t>
                      </a:r>
                      <a:r>
                        <a:rPr lang="ko-KR" altLang="en-US" sz="1200" kern="0" spc="-80" dirty="0">
                          <a:solidFill>
                            <a:srgbClr val="FF0000"/>
                          </a:solidFill>
                          <a:effectLst/>
                        </a:rPr>
                        <a:t>항 각 호 외의 부분 전단에 따른 범위를 벗어난 </a:t>
                      </a:r>
                      <a:r>
                        <a:rPr lang="ko-KR" altLang="en-US" sz="1200" kern="0" spc="-80" dirty="0" err="1">
                          <a:solidFill>
                            <a:srgbClr val="FF0000"/>
                          </a:solidFill>
                          <a:effectLst/>
                        </a:rPr>
                        <a:t>분리출원인</a:t>
                      </a:r>
                      <a:r>
                        <a:rPr lang="ko-KR" altLang="en-US" sz="1200" kern="0" spc="-80" dirty="0">
                          <a:solidFill>
                            <a:srgbClr val="FF0000"/>
                          </a:solidFill>
                          <a:effectLst/>
                        </a:rPr>
                        <a:t> 경우</a:t>
                      </a:r>
                    </a:p>
                    <a:p>
                      <a:pPr marL="252730" marR="0" indent="-252730" algn="just" fontAlgn="base" latinLnBrk="1">
                        <a:lnSpc>
                          <a:spcPct val="120000"/>
                        </a:lnSpc>
                        <a:spcBef>
                          <a:spcPts val="0"/>
                        </a:spcBef>
                        <a:spcAft>
                          <a:spcPts val="0"/>
                        </a:spcAft>
                        <a:tabLst>
                          <a:tab pos="152400" algn="l"/>
                          <a:tab pos="359410" algn="l"/>
                          <a:tab pos="152400" algn="l"/>
                          <a:tab pos="359410" algn="l"/>
                        </a:tabLst>
                      </a:pPr>
                      <a:r>
                        <a:rPr lang="en-US" altLang="ko-KR" sz="1200" kern="0" spc="-80" dirty="0">
                          <a:effectLst/>
                        </a:rPr>
                        <a:t>8. </a:t>
                      </a:r>
                      <a:r>
                        <a:rPr lang="ko-KR" altLang="en-US" sz="1200" kern="0" spc="-80" dirty="0">
                          <a:effectLst/>
                        </a:rPr>
                        <a:t>제</a:t>
                      </a:r>
                      <a:r>
                        <a:rPr lang="en-US" altLang="ko-KR" sz="1200" kern="0" spc="-80" dirty="0">
                          <a:effectLst/>
                        </a:rPr>
                        <a:t>53</a:t>
                      </a:r>
                      <a:r>
                        <a:rPr lang="ko-KR" altLang="en-US" sz="1200" kern="0" spc="-80" dirty="0">
                          <a:effectLst/>
                        </a:rPr>
                        <a:t>조제</a:t>
                      </a:r>
                      <a:r>
                        <a:rPr lang="en-US" altLang="ko-KR" sz="1200" kern="0" spc="-80" dirty="0">
                          <a:effectLst/>
                        </a:rPr>
                        <a:t>1</a:t>
                      </a:r>
                      <a:r>
                        <a:rPr lang="ko-KR" altLang="en-US" sz="1200" kern="0" spc="-80" dirty="0">
                          <a:effectLst/>
                        </a:rPr>
                        <a:t>항에 따른 범위를 벗어난 </a:t>
                      </a:r>
                      <a:r>
                        <a:rPr lang="ko-KR" altLang="en-US" sz="1200" kern="0" spc="-80" dirty="0" err="1">
                          <a:effectLst/>
                        </a:rPr>
                        <a:t>변경출원인</a:t>
                      </a:r>
                      <a:r>
                        <a:rPr lang="ko-KR" altLang="en-US" sz="1200" kern="0" spc="-80" dirty="0">
                          <a:effectLst/>
                        </a:rPr>
                        <a:t> 경우</a:t>
                      </a:r>
                    </a:p>
                    <a:p>
                      <a:pPr marL="147320" marR="0" indent="-147320" algn="just" fontAlgn="base" latinLnBrk="1">
                        <a:lnSpc>
                          <a:spcPct val="120000"/>
                        </a:lnSpc>
                        <a:spcBef>
                          <a:spcPts val="0"/>
                        </a:spcBef>
                        <a:spcAft>
                          <a:spcPts val="0"/>
                        </a:spcAft>
                        <a:tabLst>
                          <a:tab pos="152400" algn="l"/>
                          <a:tab pos="359410" algn="l"/>
                          <a:tab pos="152400" algn="l"/>
                          <a:tab pos="359410" algn="l"/>
                        </a:tabLst>
                      </a:pPr>
                      <a:r>
                        <a:rPr lang="ko-KR" altLang="en-US"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시기적 요건</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항에 따른 심판은 특허권이 소멸된 후에도 청구할 수 있다</a:t>
                      </a:r>
                      <a:r>
                        <a:rPr lang="en-US" altLang="ko-KR" sz="1200" kern="0" spc="-80" dirty="0">
                          <a:effectLst/>
                        </a:rPr>
                        <a:t>.</a:t>
                      </a:r>
                      <a:endParaRPr lang="ko-KR" altLang="en-US" sz="1200" kern="0" spc="-80" dirty="0">
                        <a:effectLst/>
                      </a:endParaRPr>
                    </a:p>
                    <a:p>
                      <a:pPr marL="154940" marR="0" indent="-154940" algn="just" fontAlgn="base" latinLnBrk="1">
                        <a:lnSpc>
                          <a:spcPct val="120000"/>
                        </a:lnSpc>
                        <a:spcBef>
                          <a:spcPts val="0"/>
                        </a:spcBef>
                        <a:spcAft>
                          <a:spcPts val="0"/>
                        </a:spcAft>
                        <a:tabLst>
                          <a:tab pos="152400" algn="l"/>
                          <a:tab pos="359410" algn="l"/>
                          <a:tab pos="152400" algn="l"/>
                          <a:tab pos="359410" algn="l"/>
                        </a:tabLst>
                      </a:pPr>
                      <a:r>
                        <a:rPr lang="ko-KR" altLang="en-US" sz="1200" kern="0" spc="-80" dirty="0">
                          <a:effectLst/>
                        </a:rPr>
                        <a:t>③ 생략</a:t>
                      </a:r>
                    </a:p>
                    <a:p>
                      <a:pPr marL="171450" marR="0" indent="-171450" algn="just" fontAlgn="base" latinLnBrk="1">
                        <a:lnSpc>
                          <a:spcPct val="120000"/>
                        </a:lnSpc>
                        <a:spcBef>
                          <a:spcPts val="0"/>
                        </a:spcBef>
                        <a:spcAft>
                          <a:spcPts val="0"/>
                        </a:spcAft>
                        <a:tabLst>
                          <a:tab pos="152400" algn="l"/>
                          <a:tab pos="359410" algn="l"/>
                          <a:tab pos="152400" algn="l"/>
                          <a:tab pos="359410" algn="l"/>
                        </a:tabLst>
                      </a:pPr>
                      <a:r>
                        <a:rPr lang="ko-KR" altLang="en-US" sz="1200" kern="0" spc="-80" dirty="0">
                          <a:effectLst/>
                        </a:rPr>
                        <a:t>④ </a:t>
                      </a:r>
                      <a:r>
                        <a:rPr lang="ko-KR" altLang="en-US" sz="1200" kern="0" spc="-180" dirty="0">
                          <a:effectLst/>
                        </a:rPr>
                        <a:t>생략</a:t>
                      </a:r>
                      <a:endParaRPr lang="ko-KR" altLang="en-US" sz="1200" kern="0" spc="-180" dirty="0">
                        <a:solidFill>
                          <a:schemeClr val="tx1"/>
                        </a:solidFill>
                        <a:effectLst/>
                        <a:latin typeface="+mn-ea"/>
                        <a:ea typeface="+mn-ea"/>
                      </a:endParaRPr>
                    </a:p>
                  </a:txBody>
                  <a:tcPr marL="72000" marR="72000" marT="8067" marB="8067"/>
                </a:tc>
                <a:extLst>
                  <a:ext uri="{0D108BD9-81ED-4DB2-BD59-A6C34878D82A}">
                    <a16:rowId xmlns:a16="http://schemas.microsoft.com/office/drawing/2014/main" val="1743411643"/>
                  </a:ext>
                </a:extLst>
              </a:tr>
            </a:tbl>
          </a:graphicData>
        </a:graphic>
      </p:graphicFrame>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500</a:t>
            </a:r>
            <a:endParaRPr lang="ko-KR" altLang="en-US" dirty="0"/>
          </a:p>
        </p:txBody>
      </p:sp>
    </p:spTree>
    <p:extLst>
      <p:ext uri="{BB962C8B-B14F-4D97-AF65-F5344CB8AC3E}">
        <p14:creationId xmlns:p14="http://schemas.microsoft.com/office/powerpoint/2010/main" val="1401943082"/>
      </p:ext>
    </p:extLst>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132</a:t>
            </a:r>
            <a:r>
              <a:rPr lang="ko-KR" altLang="en-US" dirty="0"/>
              <a:t>조의</a:t>
            </a:r>
            <a:r>
              <a:rPr lang="en-US" altLang="ko-KR" dirty="0"/>
              <a:t>2~</a:t>
            </a:r>
            <a:br>
              <a:rPr lang="en-US" altLang="ko-KR" dirty="0"/>
            </a:br>
            <a:r>
              <a:rPr lang="ko-KR" altLang="en-US" dirty="0"/>
              <a:t>제</a:t>
            </a:r>
            <a:r>
              <a:rPr lang="en-US" altLang="ko-KR" dirty="0"/>
              <a:t>132</a:t>
            </a:r>
            <a:r>
              <a:rPr lang="ko-KR" altLang="en-US" dirty="0"/>
              <a:t>조의</a:t>
            </a:r>
            <a:r>
              <a:rPr lang="en-US" altLang="ko-KR" dirty="0"/>
              <a:t>15</a:t>
            </a:r>
            <a:endParaRPr lang="ko-KR" altLang="en-US" dirty="0"/>
          </a:p>
        </p:txBody>
      </p:sp>
      <p:sp>
        <p:nvSpPr>
          <p:cNvPr id="4" name="텍스트 개체 틀 3"/>
          <p:cNvSpPr>
            <a:spLocks noGrp="1"/>
          </p:cNvSpPr>
          <p:nvPr>
            <p:ph type="body" sz="quarter" idx="13"/>
          </p:nvPr>
        </p:nvSpPr>
        <p:spPr/>
        <p:txBody>
          <a:bodyPr/>
          <a:lstStyle/>
          <a:p>
            <a:r>
              <a:rPr lang="ko-KR" altLang="en-US" dirty="0"/>
              <a:t>특허취소신청과</a:t>
            </a:r>
            <a:r>
              <a:rPr lang="en-US" altLang="ko-KR" dirty="0"/>
              <a:t> </a:t>
            </a:r>
            <a:r>
              <a:rPr lang="ko-KR" altLang="en-US" dirty="0"/>
              <a:t>특허무효심판의 법조문 비교</a:t>
            </a:r>
          </a:p>
        </p:txBody>
      </p:sp>
      <p:graphicFrame>
        <p:nvGraphicFramePr>
          <p:cNvPr id="2" name="표 1"/>
          <p:cNvGraphicFramePr>
            <a:graphicFrameLocks noGrp="1"/>
          </p:cNvGraphicFramePr>
          <p:nvPr/>
        </p:nvGraphicFramePr>
        <p:xfrm>
          <a:off x="317501" y="1036281"/>
          <a:ext cx="11569700" cy="5710883"/>
        </p:xfrm>
        <a:graphic>
          <a:graphicData uri="http://schemas.openxmlformats.org/drawingml/2006/table">
            <a:tbl>
              <a:tblPr>
                <a:tableStyleId>{8799B23B-EC83-4686-B30A-512413B5E67A}</a:tableStyleId>
              </a:tblPr>
              <a:tblGrid>
                <a:gridCol w="5619035">
                  <a:extLst>
                    <a:ext uri="{9D8B030D-6E8A-4147-A177-3AD203B41FA5}">
                      <a16:colId xmlns:a16="http://schemas.microsoft.com/office/drawing/2014/main" val="4122316602"/>
                    </a:ext>
                  </a:extLst>
                </a:gridCol>
                <a:gridCol w="5950665">
                  <a:extLst>
                    <a:ext uri="{9D8B030D-6E8A-4147-A177-3AD203B41FA5}">
                      <a16:colId xmlns:a16="http://schemas.microsoft.com/office/drawing/2014/main" val="3501181814"/>
                    </a:ext>
                  </a:extLst>
                </a:gridCol>
              </a:tblGrid>
              <a:tr h="82038">
                <a:tc>
                  <a:txBody>
                    <a:bodyPr/>
                    <a:lstStyle/>
                    <a:p>
                      <a:pPr marL="0" marR="0" indent="0" algn="ctr" fontAlgn="base" latinLnBrk="0">
                        <a:lnSpc>
                          <a:spcPct val="120000"/>
                        </a:lnSpc>
                        <a:spcBef>
                          <a:spcPts val="0"/>
                        </a:spcBef>
                        <a:spcAft>
                          <a:spcPts val="0"/>
                        </a:spcAft>
                      </a:pPr>
                      <a:r>
                        <a:rPr lang="ko-KR" altLang="en-US" sz="1200" kern="0" spc="-100" dirty="0">
                          <a:effectLst/>
                        </a:rPr>
                        <a:t>특허취소신청</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0" spc="-100" dirty="0">
                          <a:effectLst/>
                        </a:rPr>
                        <a:t>특허무효심판</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extLst>
                  <a:ext uri="{0D108BD9-81ED-4DB2-BD59-A6C34878D82A}">
                    <a16:rowId xmlns:a16="http://schemas.microsoft.com/office/drawing/2014/main" val="2907354057"/>
                  </a:ext>
                </a:extLst>
              </a:tr>
              <a:tr h="1795570">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3【</a:t>
                      </a:r>
                      <a:r>
                        <a:rPr lang="ko-KR" altLang="en-US" sz="1200" kern="0" spc="-80" dirty="0">
                          <a:effectLst/>
                        </a:rPr>
                        <a:t>특허취소신청절차에서의 특허의 정정</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요건</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특허취소신청절차가 진행 중인 특허에 대한 </a:t>
                      </a:r>
                      <a:r>
                        <a:rPr lang="ko-KR" altLang="en-US" sz="1200" kern="0" spc="-80" dirty="0" err="1">
                          <a:effectLst/>
                        </a:rPr>
                        <a:t>특허권자는</a:t>
                      </a:r>
                      <a:r>
                        <a:rPr lang="ko-KR" altLang="en-US" sz="1200" kern="0" spc="-80" dirty="0">
                          <a:effectLst/>
                        </a:rPr>
                        <a:t> 제</a:t>
                      </a:r>
                      <a:r>
                        <a:rPr lang="en-US" altLang="ko-KR" sz="1200" kern="0" spc="-80" dirty="0">
                          <a:effectLst/>
                        </a:rPr>
                        <a:t>136</a:t>
                      </a:r>
                      <a:r>
                        <a:rPr lang="ko-KR" altLang="en-US" sz="1200" kern="0" spc="-80" dirty="0">
                          <a:effectLst/>
                        </a:rPr>
                        <a:t>조제</a:t>
                      </a:r>
                      <a:r>
                        <a:rPr lang="en-US" altLang="ko-KR" sz="1200" kern="0" spc="-80" dirty="0">
                          <a:effectLst/>
                        </a:rPr>
                        <a:t>1</a:t>
                      </a:r>
                      <a:r>
                        <a:rPr lang="ko-KR" altLang="en-US" sz="1200" kern="0" spc="-80" dirty="0">
                          <a:effectLst/>
                        </a:rPr>
                        <a:t>항 각 호의 어느 하나에 해당하는 경우에만 제</a:t>
                      </a:r>
                      <a:r>
                        <a:rPr lang="en-US" altLang="ko-KR" sz="1200" kern="0" spc="-80" dirty="0">
                          <a:effectLst/>
                        </a:rPr>
                        <a:t>132</a:t>
                      </a:r>
                      <a:r>
                        <a:rPr lang="ko-KR" altLang="en-US" sz="1200" kern="0" spc="-80" dirty="0">
                          <a:effectLst/>
                        </a:rPr>
                        <a:t>조의</a:t>
                      </a:r>
                      <a:r>
                        <a:rPr lang="en-US" altLang="ko-KR" sz="1200" kern="0" spc="-80" dirty="0">
                          <a:effectLst/>
                        </a:rPr>
                        <a:t>13</a:t>
                      </a:r>
                      <a:r>
                        <a:rPr lang="ko-KR" altLang="en-US" sz="1200" kern="0" spc="-80" dirty="0">
                          <a:effectLst/>
                        </a:rPr>
                        <a:t>제</a:t>
                      </a:r>
                      <a:r>
                        <a:rPr lang="en-US" altLang="ko-KR" sz="1200" kern="0" spc="-80" dirty="0">
                          <a:effectLst/>
                        </a:rPr>
                        <a:t>2</a:t>
                      </a:r>
                      <a:r>
                        <a:rPr lang="ko-KR" altLang="en-US" sz="1200" kern="0" spc="-80" dirty="0">
                          <a:effectLst/>
                        </a:rPr>
                        <a:t>항</a:t>
                      </a:r>
                      <a:r>
                        <a:rPr lang="en-US" altLang="ko-KR" sz="1200" kern="0" spc="-80" dirty="0">
                          <a:solidFill>
                            <a:srgbClr val="FF0000"/>
                          </a:solidFill>
                          <a:effectLst/>
                        </a:rPr>
                        <a:t>[</a:t>
                      </a:r>
                      <a:r>
                        <a:rPr lang="ko-KR" altLang="en-US" sz="1200" kern="0" spc="-80" dirty="0" err="1">
                          <a:solidFill>
                            <a:srgbClr val="FF0000"/>
                          </a:solidFill>
                          <a:effectLst/>
                        </a:rPr>
                        <a:t>특허취소결정하려고</a:t>
                      </a:r>
                      <a:r>
                        <a:rPr lang="ko-KR" altLang="en-US" sz="1200" kern="0" spc="-80" dirty="0">
                          <a:solidFill>
                            <a:srgbClr val="FF0000"/>
                          </a:solidFill>
                          <a:effectLst/>
                        </a:rPr>
                        <a:t> 특허의 </a:t>
                      </a:r>
                      <a:r>
                        <a:rPr lang="ko-KR" altLang="en-US" sz="1200" kern="0" spc="-80" dirty="0" err="1">
                          <a:solidFill>
                            <a:srgbClr val="FF0000"/>
                          </a:solidFill>
                          <a:effectLst/>
                        </a:rPr>
                        <a:t>취소이유를</a:t>
                      </a:r>
                      <a:r>
                        <a:rPr lang="ko-KR" altLang="en-US" sz="1200" kern="0" spc="-80" dirty="0">
                          <a:solidFill>
                            <a:srgbClr val="FF0000"/>
                          </a:solidFill>
                          <a:effectLst/>
                        </a:rPr>
                        <a:t> 통지하고 의견서 </a:t>
                      </a:r>
                      <a:r>
                        <a:rPr lang="ko-KR" altLang="en-US" sz="1200" kern="0" spc="-80" dirty="0" err="1">
                          <a:solidFill>
                            <a:srgbClr val="FF0000"/>
                          </a:solidFill>
                          <a:effectLst/>
                        </a:rPr>
                        <a:t>제출기회</a:t>
                      </a:r>
                      <a:r>
                        <a:rPr lang="ko-KR" altLang="en-US" sz="1200" kern="0" spc="-80" dirty="0">
                          <a:solidFill>
                            <a:srgbClr val="FF0000"/>
                          </a:solidFill>
                          <a:effectLst/>
                        </a:rPr>
                        <a:t> 부여</a:t>
                      </a:r>
                      <a:r>
                        <a:rPr lang="en-US" altLang="ko-KR" sz="1200" kern="0" spc="-80" dirty="0">
                          <a:solidFill>
                            <a:srgbClr val="FF0000"/>
                          </a:solidFill>
                          <a:effectLst/>
                        </a:rPr>
                        <a:t>]</a:t>
                      </a:r>
                      <a:r>
                        <a:rPr lang="ko-KR" altLang="en-US" sz="1200" kern="0" spc="-80" dirty="0">
                          <a:effectLst/>
                        </a:rPr>
                        <a:t>에 따라 지정된 기간에 특허발명의 명세서 또는 도면에 대하여 정정청구를 할 수 있다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여러 차례 정정이 있는 경우</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제</a:t>
                      </a:r>
                      <a:r>
                        <a:rPr lang="en-US" altLang="ko-KR" sz="1200" kern="0" spc="-80" dirty="0">
                          <a:effectLst/>
                        </a:rPr>
                        <a:t>1</a:t>
                      </a:r>
                      <a:r>
                        <a:rPr lang="ko-KR" altLang="en-US" sz="1200" kern="0" spc="-80" dirty="0">
                          <a:effectLst/>
                        </a:rPr>
                        <a:t>항에 따른 정정청구를 하였을 때에는 해당 특허취소신청절차에서 그 </a:t>
                      </a:r>
                      <a:r>
                        <a:rPr lang="ko-KR" altLang="en-US" sz="1200" kern="0" spc="-80" dirty="0" err="1">
                          <a:effectLst/>
                        </a:rPr>
                        <a:t>정정청구</a:t>
                      </a:r>
                      <a:r>
                        <a:rPr lang="ko-KR" altLang="en-US" sz="1200" kern="0" spc="-80" dirty="0">
                          <a:effectLst/>
                        </a:rPr>
                        <a:t> 전에 한 </a:t>
                      </a:r>
                      <a:r>
                        <a:rPr lang="ko-KR" altLang="en-US" sz="1200" kern="0" spc="-80" dirty="0" err="1">
                          <a:effectLst/>
                        </a:rPr>
                        <a:t>정정청구는</a:t>
                      </a:r>
                      <a:r>
                        <a:rPr lang="ko-KR" altLang="en-US" sz="1200" kern="0" spc="-80" dirty="0">
                          <a:effectLst/>
                        </a:rPr>
                        <a:t> 취하된 것으로 본다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③</a:t>
                      </a:r>
                      <a:r>
                        <a:rPr lang="en-US" altLang="ko-KR" sz="1200" b="1" kern="0" spc="-80" dirty="0">
                          <a:solidFill>
                            <a:schemeClr val="accent1"/>
                          </a:solidFill>
                          <a:effectLst/>
                        </a:rPr>
                        <a:t> (</a:t>
                      </a:r>
                      <a:r>
                        <a:rPr lang="ko-KR" altLang="en-US" sz="1200" b="1" kern="0" spc="-80" dirty="0">
                          <a:solidFill>
                            <a:schemeClr val="accent1"/>
                          </a:solidFill>
                          <a:effectLst/>
                        </a:rPr>
                        <a:t>준용규정</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제</a:t>
                      </a:r>
                      <a:r>
                        <a:rPr lang="en-US" altLang="ko-KR" sz="1200" kern="0" spc="-80" dirty="0">
                          <a:effectLst/>
                        </a:rPr>
                        <a:t>1</a:t>
                      </a:r>
                      <a:r>
                        <a:rPr lang="ko-KR" altLang="en-US" sz="1200" kern="0" spc="-80" dirty="0">
                          <a:effectLst/>
                        </a:rPr>
                        <a:t>항에 따른 </a:t>
                      </a:r>
                      <a:r>
                        <a:rPr lang="ko-KR" altLang="en-US" sz="1200" kern="0" spc="-80" dirty="0" err="1">
                          <a:effectLst/>
                        </a:rPr>
                        <a:t>정정청구에</a:t>
                      </a:r>
                      <a:r>
                        <a:rPr lang="ko-KR" altLang="en-US" sz="1200" kern="0" spc="-80" dirty="0">
                          <a:effectLst/>
                        </a:rPr>
                        <a:t> 관하여는 제</a:t>
                      </a:r>
                      <a:r>
                        <a:rPr lang="en-US" altLang="ko-KR" sz="1200" kern="0" spc="-80" dirty="0">
                          <a:effectLst/>
                        </a:rPr>
                        <a:t>136</a:t>
                      </a:r>
                      <a:r>
                        <a:rPr lang="ko-KR" altLang="en-US" sz="1200" kern="0" spc="-80" dirty="0">
                          <a:effectLst/>
                        </a:rPr>
                        <a:t>조제</a:t>
                      </a:r>
                      <a:r>
                        <a:rPr lang="en-US" altLang="ko-KR" sz="1200" kern="0" spc="-80" dirty="0">
                          <a:effectLst/>
                        </a:rPr>
                        <a:t>3</a:t>
                      </a:r>
                      <a:r>
                        <a:rPr lang="ko-KR" altLang="en-US" sz="1200" kern="0" spc="-80" dirty="0">
                          <a:effectLst/>
                        </a:rPr>
                        <a:t>항부터 제</a:t>
                      </a:r>
                      <a:r>
                        <a:rPr lang="en-US" altLang="ko-KR" sz="1200" kern="0" spc="-80" dirty="0">
                          <a:effectLst/>
                        </a:rPr>
                        <a:t>6</a:t>
                      </a:r>
                      <a:r>
                        <a:rPr lang="ko-KR" altLang="en-US" sz="1200" kern="0" spc="-80" dirty="0">
                          <a:effectLst/>
                        </a:rPr>
                        <a:t>항까지</a:t>
                      </a:r>
                      <a:r>
                        <a:rPr lang="en-US" altLang="ko-KR" sz="1200" kern="0" spc="-80" dirty="0">
                          <a:solidFill>
                            <a:srgbClr val="FF0000"/>
                          </a:solidFill>
                          <a:effectLst/>
                        </a:rPr>
                        <a:t>[</a:t>
                      </a:r>
                      <a:r>
                        <a:rPr lang="ko-KR" altLang="en-US" sz="1200" kern="0" spc="-80" dirty="0" err="1">
                          <a:solidFill>
                            <a:srgbClr val="FF0000"/>
                          </a:solidFill>
                          <a:effectLst/>
                        </a:rPr>
                        <a:t>정정심판의</a:t>
                      </a:r>
                      <a:r>
                        <a:rPr lang="ko-KR" altLang="en-US" sz="1200" kern="0" spc="-80" dirty="0">
                          <a:solidFill>
                            <a:srgbClr val="FF0000"/>
                          </a:solidFill>
                          <a:effectLst/>
                        </a:rPr>
                        <a:t> 객체적 요건</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8</a:t>
                      </a:r>
                      <a:r>
                        <a:rPr lang="ko-KR" altLang="en-US" sz="1200" kern="0" spc="-80" dirty="0">
                          <a:effectLst/>
                        </a:rPr>
                        <a:t>항</a:t>
                      </a:r>
                      <a:r>
                        <a:rPr lang="en-US" altLang="ko-KR" sz="1200" kern="0" spc="-80" dirty="0">
                          <a:solidFill>
                            <a:srgbClr val="FF0000"/>
                          </a:solidFill>
                          <a:effectLst/>
                        </a:rPr>
                        <a:t>[</a:t>
                      </a:r>
                      <a:r>
                        <a:rPr lang="ko-KR" altLang="en-US" sz="1200" kern="0" spc="-80" dirty="0" err="1">
                          <a:solidFill>
                            <a:srgbClr val="FF0000"/>
                          </a:solidFill>
                          <a:effectLst/>
                        </a:rPr>
                        <a:t>정정심판의</a:t>
                      </a:r>
                      <a:r>
                        <a:rPr lang="ko-KR" altLang="en-US" sz="1200" kern="0" spc="-80" dirty="0">
                          <a:solidFill>
                            <a:srgbClr val="FF0000"/>
                          </a:solidFill>
                          <a:effectLst/>
                        </a:rPr>
                        <a:t> 주체적 요건</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10</a:t>
                      </a:r>
                      <a:r>
                        <a:rPr lang="ko-KR" altLang="en-US" sz="1200" kern="0" spc="-80" dirty="0">
                          <a:effectLst/>
                        </a:rPr>
                        <a:t>항부터 제</a:t>
                      </a:r>
                      <a:r>
                        <a:rPr lang="en-US" altLang="ko-KR" sz="1200" kern="0" spc="-80" dirty="0">
                          <a:effectLst/>
                        </a:rPr>
                        <a:t>13</a:t>
                      </a:r>
                      <a:r>
                        <a:rPr lang="ko-KR" altLang="en-US" sz="1200" kern="0" spc="-80" dirty="0">
                          <a:effectLst/>
                        </a:rPr>
                        <a:t>항까지</a:t>
                      </a:r>
                      <a:r>
                        <a:rPr lang="en-US" altLang="ko-KR" sz="1200" kern="0" spc="-80" dirty="0">
                          <a:solidFill>
                            <a:srgbClr val="FF0000"/>
                          </a:solidFill>
                          <a:effectLst/>
                        </a:rPr>
                        <a:t>[</a:t>
                      </a:r>
                      <a:r>
                        <a:rPr lang="ko-KR" altLang="en-US" sz="1200" kern="0" spc="-80" dirty="0">
                          <a:solidFill>
                            <a:srgbClr val="FF0000"/>
                          </a:solidFill>
                          <a:effectLst/>
                        </a:rPr>
                        <a:t>소급효</a:t>
                      </a:r>
                      <a:r>
                        <a:rPr lang="en-US" altLang="ko-KR" sz="1200" kern="0" spc="-80" dirty="0">
                          <a:solidFill>
                            <a:srgbClr val="FF0000"/>
                          </a:solidFill>
                          <a:effectLst/>
                        </a:rPr>
                        <a:t>, </a:t>
                      </a:r>
                      <a:r>
                        <a:rPr lang="ko-KR" altLang="en-US" sz="1200" kern="0" spc="-80" dirty="0">
                          <a:solidFill>
                            <a:srgbClr val="FF0000"/>
                          </a:solidFill>
                          <a:effectLst/>
                        </a:rPr>
                        <a:t>명세서 또는 도면의 보정</a:t>
                      </a:r>
                      <a:r>
                        <a:rPr lang="en-US" altLang="ko-KR" sz="1200" kern="0" spc="-80" dirty="0">
                          <a:solidFill>
                            <a:srgbClr val="FF0000"/>
                          </a:solidFill>
                          <a:effectLst/>
                        </a:rPr>
                        <a:t>, </a:t>
                      </a:r>
                      <a:r>
                        <a:rPr lang="ko-KR" altLang="en-US" sz="1200" kern="0" spc="-80" dirty="0">
                          <a:solidFill>
                            <a:srgbClr val="FF0000"/>
                          </a:solidFill>
                          <a:effectLst/>
                        </a:rPr>
                        <a:t>통보 및 특허공보에 게재</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139</a:t>
                      </a:r>
                      <a:r>
                        <a:rPr lang="ko-KR" altLang="en-US" sz="1200" kern="0" spc="-80" dirty="0">
                          <a:effectLst/>
                        </a:rPr>
                        <a:t>조제</a:t>
                      </a:r>
                      <a:r>
                        <a:rPr lang="en-US" altLang="ko-KR" sz="1200" kern="0" spc="-80" dirty="0">
                          <a:effectLst/>
                        </a:rPr>
                        <a:t>3</a:t>
                      </a:r>
                      <a:r>
                        <a:rPr lang="ko-KR" altLang="en-US" sz="1200" kern="0" spc="-80" dirty="0">
                          <a:effectLst/>
                        </a:rPr>
                        <a:t>항</a:t>
                      </a:r>
                      <a:r>
                        <a:rPr lang="en-US" altLang="ko-KR" sz="1200" kern="0" spc="-80" dirty="0">
                          <a:solidFill>
                            <a:srgbClr val="FF0000"/>
                          </a:solidFill>
                          <a:effectLst/>
                        </a:rPr>
                        <a:t>[</a:t>
                      </a:r>
                      <a:r>
                        <a:rPr lang="ko-KR" altLang="en-US" sz="1200" kern="0" spc="-80" dirty="0">
                          <a:solidFill>
                            <a:srgbClr val="FF0000"/>
                          </a:solidFill>
                          <a:effectLst/>
                        </a:rPr>
                        <a:t>공동심판청구</a:t>
                      </a:r>
                      <a:r>
                        <a:rPr lang="en-US" altLang="ko-KR" sz="1200" kern="0" spc="-80" dirty="0">
                          <a:solidFill>
                            <a:srgbClr val="FF0000"/>
                          </a:solidFill>
                          <a:effectLst/>
                        </a:rPr>
                        <a:t>]</a:t>
                      </a:r>
                      <a:r>
                        <a:rPr lang="en-US" altLang="ko-KR" sz="1200" kern="0" spc="-80" dirty="0">
                          <a:effectLst/>
                        </a:rPr>
                        <a:t> </a:t>
                      </a:r>
                      <a:r>
                        <a:rPr lang="ko-KR" altLang="en-US" sz="1200" kern="0" spc="-80" dirty="0">
                          <a:effectLst/>
                        </a:rPr>
                        <a:t>및 제</a:t>
                      </a:r>
                      <a:r>
                        <a:rPr lang="en-US" altLang="ko-KR" sz="1200" kern="0" spc="-80" dirty="0">
                          <a:effectLst/>
                        </a:rPr>
                        <a:t>140</a:t>
                      </a:r>
                      <a:r>
                        <a:rPr lang="ko-KR" altLang="en-US" sz="1200" kern="0" spc="-80" dirty="0">
                          <a:effectLst/>
                        </a:rPr>
                        <a:t>조제</a:t>
                      </a:r>
                      <a:r>
                        <a:rPr lang="en-US" altLang="ko-KR" sz="1200" kern="0" spc="-80" dirty="0">
                          <a:effectLst/>
                        </a:rPr>
                        <a:t>1</a:t>
                      </a:r>
                      <a:r>
                        <a:rPr lang="ko-KR" altLang="en-US" sz="1200" kern="0" spc="-80" dirty="0" err="1">
                          <a:effectLst/>
                        </a:rPr>
                        <a:t>항ㆍ제</a:t>
                      </a:r>
                      <a:r>
                        <a:rPr lang="en-US" altLang="ko-KR" sz="1200" kern="0" spc="-80" dirty="0">
                          <a:effectLst/>
                        </a:rPr>
                        <a:t>2</a:t>
                      </a:r>
                      <a:r>
                        <a:rPr lang="ko-KR" altLang="en-US" sz="1200" kern="0" spc="-80" dirty="0" err="1">
                          <a:effectLst/>
                        </a:rPr>
                        <a:t>항ㆍ제</a:t>
                      </a:r>
                      <a:r>
                        <a:rPr lang="en-US" altLang="ko-KR" sz="1200" kern="0" spc="-80" dirty="0">
                          <a:effectLst/>
                        </a:rPr>
                        <a:t>5</a:t>
                      </a:r>
                      <a:r>
                        <a:rPr lang="ko-KR" altLang="en-US" sz="1200" kern="0" spc="-80" dirty="0">
                          <a:effectLst/>
                        </a:rPr>
                        <a:t>항</a:t>
                      </a:r>
                      <a:r>
                        <a:rPr lang="en-US" altLang="ko-KR" sz="1200" kern="0" spc="-80" dirty="0">
                          <a:solidFill>
                            <a:srgbClr val="FF0000"/>
                          </a:solidFill>
                          <a:effectLst/>
                        </a:rPr>
                        <a:t>[</a:t>
                      </a:r>
                      <a:r>
                        <a:rPr lang="ko-KR" altLang="en-US" sz="1200" kern="0" spc="-80" dirty="0" err="1">
                          <a:solidFill>
                            <a:srgbClr val="FF0000"/>
                          </a:solidFill>
                          <a:effectLst/>
                        </a:rPr>
                        <a:t>정정심판의</a:t>
                      </a:r>
                      <a:r>
                        <a:rPr lang="ko-KR" altLang="en-US" sz="1200" kern="0" spc="-80" dirty="0">
                          <a:solidFill>
                            <a:srgbClr val="FF0000"/>
                          </a:solidFill>
                          <a:effectLst/>
                        </a:rPr>
                        <a:t> 청구 및 보정</a:t>
                      </a:r>
                      <a:r>
                        <a:rPr lang="en-US" altLang="ko-KR" sz="1200" kern="0" spc="-80" dirty="0">
                          <a:solidFill>
                            <a:srgbClr val="FF0000"/>
                          </a:solidFill>
                          <a:effectLst/>
                        </a:rPr>
                        <a:t>]</a:t>
                      </a:r>
                      <a:r>
                        <a:rPr lang="ko-KR" altLang="en-US" sz="1200" kern="0" spc="-80" dirty="0">
                          <a:effectLst/>
                        </a:rPr>
                        <a:t>을 준용한다</a:t>
                      </a:r>
                      <a:r>
                        <a:rPr lang="en-US" altLang="ko-KR" sz="1200" kern="0" spc="-80" dirty="0">
                          <a:effectLst/>
                        </a:rPr>
                        <a:t>. </a:t>
                      </a:r>
                      <a:r>
                        <a:rPr lang="ko-KR" altLang="en-US" sz="1200" kern="0" spc="-80" dirty="0">
                          <a:effectLst/>
                        </a:rPr>
                        <a:t>이 경우 제</a:t>
                      </a:r>
                      <a:r>
                        <a:rPr lang="en-US" altLang="ko-KR" sz="1200" kern="0" spc="-80" dirty="0">
                          <a:effectLst/>
                        </a:rPr>
                        <a:t>136</a:t>
                      </a:r>
                      <a:r>
                        <a:rPr lang="ko-KR" altLang="en-US" sz="1200" kern="0" spc="-80" dirty="0">
                          <a:effectLst/>
                        </a:rPr>
                        <a:t>조제</a:t>
                      </a:r>
                      <a:r>
                        <a:rPr lang="en-US" altLang="ko-KR" sz="1200" kern="0" spc="-80" dirty="0">
                          <a:effectLst/>
                        </a:rPr>
                        <a:t>11</a:t>
                      </a:r>
                      <a:r>
                        <a:rPr lang="ko-KR" altLang="en-US" sz="1200" kern="0" spc="-80" dirty="0">
                          <a:effectLst/>
                        </a:rPr>
                        <a:t>항</a:t>
                      </a:r>
                      <a:r>
                        <a:rPr lang="en-US" altLang="ko-KR" sz="1200" kern="0" spc="-80" dirty="0">
                          <a:solidFill>
                            <a:srgbClr val="FF0000"/>
                          </a:solidFill>
                          <a:effectLst/>
                        </a:rPr>
                        <a:t>[</a:t>
                      </a:r>
                      <a:r>
                        <a:rPr lang="ko-KR" altLang="en-US" sz="1200" kern="0" spc="-80" dirty="0">
                          <a:solidFill>
                            <a:srgbClr val="FF0000"/>
                          </a:solidFill>
                          <a:effectLst/>
                        </a:rPr>
                        <a:t>명세서 또는 도면의 보정</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중 </a:t>
                      </a:r>
                      <a:r>
                        <a:rPr lang="en-US" altLang="ko-KR" sz="1200" kern="0" spc="-80" dirty="0">
                          <a:effectLst/>
                        </a:rPr>
                        <a:t>"</a:t>
                      </a:r>
                      <a:r>
                        <a:rPr lang="ko-KR" altLang="en-US" sz="1200" kern="0" spc="-80" dirty="0">
                          <a:effectLst/>
                        </a:rPr>
                        <a:t>제</a:t>
                      </a:r>
                      <a:r>
                        <a:rPr lang="en-US" altLang="ko-KR" sz="1200" kern="0" spc="-80" dirty="0">
                          <a:effectLst/>
                        </a:rPr>
                        <a:t>162</a:t>
                      </a:r>
                      <a:r>
                        <a:rPr lang="ko-KR" altLang="en-US" sz="1200" kern="0" spc="-80" dirty="0">
                          <a:effectLst/>
                        </a:rPr>
                        <a:t>조제</a:t>
                      </a:r>
                      <a:r>
                        <a:rPr lang="en-US" altLang="ko-KR" sz="1200" kern="0" spc="-80" dirty="0">
                          <a:effectLst/>
                        </a:rPr>
                        <a:t>3</a:t>
                      </a:r>
                      <a:r>
                        <a:rPr lang="ko-KR" altLang="en-US" sz="1200" kern="0" spc="-80" dirty="0">
                          <a:effectLst/>
                        </a:rPr>
                        <a:t>항에 따른 심리의 종결이 통지되기 전</a:t>
                      </a:r>
                      <a:r>
                        <a:rPr lang="en-US" altLang="ko-KR" sz="1200" kern="0" spc="-80" dirty="0">
                          <a:effectLst/>
                        </a:rPr>
                        <a:t>(</a:t>
                      </a:r>
                      <a:r>
                        <a:rPr lang="ko-KR" altLang="en-US" sz="1200" kern="0" spc="-80" dirty="0">
                          <a:effectLst/>
                        </a:rPr>
                        <a:t>같은 조 제</a:t>
                      </a:r>
                      <a:r>
                        <a:rPr lang="en-US" altLang="ko-KR" sz="1200" kern="0" spc="-80" dirty="0">
                          <a:effectLst/>
                        </a:rPr>
                        <a:t>4</a:t>
                      </a:r>
                      <a:r>
                        <a:rPr lang="ko-KR" altLang="en-US" sz="1200" kern="0" spc="-80" dirty="0">
                          <a:effectLst/>
                        </a:rPr>
                        <a:t>항에 따라 심리가 재개된 경우에는 그 후 다시 같은 조 제</a:t>
                      </a:r>
                      <a:r>
                        <a:rPr lang="en-US" altLang="ko-KR" sz="1200" kern="0" spc="-80" dirty="0">
                          <a:effectLst/>
                        </a:rPr>
                        <a:t>3</a:t>
                      </a:r>
                      <a:r>
                        <a:rPr lang="ko-KR" altLang="en-US" sz="1200" kern="0" spc="-80" dirty="0">
                          <a:effectLst/>
                        </a:rPr>
                        <a:t>항에 따른 심리의 종결이 통지되기 전</a:t>
                      </a:r>
                      <a:r>
                        <a:rPr lang="en-US" altLang="ko-KR" sz="1200" kern="0" spc="-80" dirty="0">
                          <a:effectLst/>
                        </a:rPr>
                        <a:t>)</a:t>
                      </a:r>
                      <a:r>
                        <a:rPr lang="ko-KR" altLang="en-US" sz="1200" kern="0" spc="-80" dirty="0">
                          <a:effectLst/>
                        </a:rPr>
                        <a:t>에</a:t>
                      </a:r>
                      <a:r>
                        <a:rPr lang="en-US" altLang="ko-KR" sz="1200" kern="0" spc="-80" dirty="0">
                          <a:effectLst/>
                        </a:rPr>
                        <a:t>"</a:t>
                      </a:r>
                      <a:r>
                        <a:rPr lang="ko-KR" altLang="en-US" sz="1200" kern="0" spc="-80" dirty="0">
                          <a:effectLst/>
                        </a:rPr>
                        <a:t>는 </a:t>
                      </a:r>
                      <a:r>
                        <a:rPr lang="en-US" altLang="ko-KR" sz="1200" kern="0" spc="-80" dirty="0">
                          <a:effectLst/>
                        </a:rPr>
                        <a:t>"</a:t>
                      </a: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13</a:t>
                      </a:r>
                      <a:r>
                        <a:rPr lang="ko-KR" altLang="en-US" sz="1200" kern="0" spc="-80" dirty="0">
                          <a:effectLst/>
                        </a:rPr>
                        <a:t>제</a:t>
                      </a:r>
                      <a:r>
                        <a:rPr lang="en-US" altLang="ko-KR" sz="1200" kern="0" spc="-80" dirty="0">
                          <a:effectLst/>
                        </a:rPr>
                        <a:t>2</a:t>
                      </a:r>
                      <a:r>
                        <a:rPr lang="ko-KR" altLang="en-US" sz="1200" kern="0" spc="-80" dirty="0">
                          <a:effectLst/>
                        </a:rPr>
                        <a:t>항</a:t>
                      </a:r>
                      <a:r>
                        <a:rPr lang="en-US" altLang="ko-KR" sz="1200" kern="0" spc="-80" dirty="0">
                          <a:solidFill>
                            <a:srgbClr val="FF0000"/>
                          </a:solidFill>
                          <a:effectLst/>
                        </a:rPr>
                        <a:t>[</a:t>
                      </a:r>
                      <a:r>
                        <a:rPr lang="ko-KR" altLang="en-US" sz="1200" kern="0" spc="-80" dirty="0">
                          <a:solidFill>
                            <a:srgbClr val="FF0000"/>
                          </a:solidFill>
                          <a:effectLst/>
                        </a:rPr>
                        <a:t>정정청구가능기간</a:t>
                      </a:r>
                      <a:r>
                        <a:rPr lang="en-US" altLang="ko-KR" sz="1200" kern="0" spc="-80" dirty="0">
                          <a:solidFill>
                            <a:srgbClr val="FF0000"/>
                          </a:solidFill>
                          <a:effectLst/>
                        </a:rPr>
                        <a:t>]</a:t>
                      </a:r>
                      <a:r>
                        <a:rPr lang="en-US" altLang="ko-KR" sz="1200" kern="0" spc="-80" dirty="0">
                          <a:effectLst/>
                        </a:rPr>
                        <a:t> </a:t>
                      </a:r>
                      <a:r>
                        <a:rPr lang="ko-KR" altLang="en-US" sz="1200" kern="0" spc="-80" dirty="0">
                          <a:effectLst/>
                        </a:rPr>
                        <a:t>또는 제</a:t>
                      </a:r>
                      <a:r>
                        <a:rPr lang="en-US" altLang="ko-KR" sz="1200" kern="0" spc="-80" dirty="0">
                          <a:effectLst/>
                        </a:rPr>
                        <a:t>136</a:t>
                      </a:r>
                      <a:r>
                        <a:rPr lang="ko-KR" altLang="en-US" sz="1200" kern="0" spc="-80" dirty="0">
                          <a:effectLst/>
                        </a:rPr>
                        <a:t>조제</a:t>
                      </a:r>
                      <a:r>
                        <a:rPr lang="en-US" altLang="ko-KR" sz="1200" kern="0" spc="-80" dirty="0">
                          <a:effectLst/>
                        </a:rPr>
                        <a:t>6</a:t>
                      </a:r>
                      <a:r>
                        <a:rPr lang="ko-KR" altLang="en-US" sz="1200" kern="0" spc="-80" dirty="0">
                          <a:effectLst/>
                        </a:rPr>
                        <a:t>항</a:t>
                      </a:r>
                      <a:r>
                        <a:rPr lang="en-US" altLang="ko-KR" sz="1200" kern="0" spc="-80" dirty="0">
                          <a:solidFill>
                            <a:srgbClr val="FF0000"/>
                          </a:solidFill>
                          <a:effectLst/>
                        </a:rPr>
                        <a:t>[</a:t>
                      </a:r>
                      <a:r>
                        <a:rPr lang="ko-KR" altLang="en-US" sz="1200" kern="0" spc="-80" dirty="0" err="1">
                          <a:solidFill>
                            <a:srgbClr val="FF0000"/>
                          </a:solidFill>
                          <a:effectLst/>
                        </a:rPr>
                        <a:t>정정심판의</a:t>
                      </a:r>
                      <a:r>
                        <a:rPr lang="ko-KR" altLang="en-US" sz="1200" kern="0" spc="-80" dirty="0">
                          <a:solidFill>
                            <a:srgbClr val="FF0000"/>
                          </a:solidFill>
                          <a:effectLst/>
                        </a:rPr>
                        <a:t> </a:t>
                      </a:r>
                      <a:r>
                        <a:rPr lang="ko-KR" altLang="en-US" sz="1200" kern="0" spc="-80" dirty="0" err="1">
                          <a:solidFill>
                            <a:srgbClr val="FF0000"/>
                          </a:solidFill>
                          <a:effectLst/>
                        </a:rPr>
                        <a:t>직권심리에</a:t>
                      </a:r>
                      <a:r>
                        <a:rPr lang="ko-KR" altLang="en-US" sz="1200" kern="0" spc="-80" dirty="0">
                          <a:solidFill>
                            <a:srgbClr val="FF0000"/>
                          </a:solidFill>
                          <a:effectLst/>
                        </a:rPr>
                        <a:t> 대한 의견서 제출기간</a:t>
                      </a:r>
                      <a:r>
                        <a:rPr lang="en-US" altLang="ko-KR" sz="1200" kern="0" spc="-80" dirty="0">
                          <a:solidFill>
                            <a:srgbClr val="FF0000"/>
                          </a:solidFill>
                          <a:effectLst/>
                        </a:rPr>
                        <a:t>]</a:t>
                      </a:r>
                      <a:r>
                        <a:rPr lang="ko-KR" altLang="en-US" sz="1200" kern="0" spc="-80" dirty="0">
                          <a:effectLst/>
                        </a:rPr>
                        <a:t>에 따라 지정된 기간에</a:t>
                      </a:r>
                      <a:r>
                        <a:rPr lang="en-US" altLang="ko-KR" sz="1200" kern="0" spc="-80" dirty="0">
                          <a:effectLst/>
                        </a:rPr>
                        <a:t>"</a:t>
                      </a:r>
                      <a:r>
                        <a:rPr lang="ko-KR" altLang="en-US" sz="1200" kern="0" spc="-80" dirty="0">
                          <a:effectLst/>
                        </a:rPr>
                        <a:t>로 본다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④</a:t>
                      </a:r>
                      <a:r>
                        <a:rPr lang="en-US" altLang="ko-KR" sz="1200" b="1" kern="0" spc="-80" dirty="0">
                          <a:solidFill>
                            <a:schemeClr val="accent1"/>
                          </a:solidFill>
                          <a:effectLst/>
                        </a:rPr>
                        <a:t> (</a:t>
                      </a:r>
                      <a:r>
                        <a:rPr lang="ko-KR" altLang="en-US" sz="1200" b="1" kern="0" spc="-80" dirty="0" err="1">
                          <a:solidFill>
                            <a:schemeClr val="accent1"/>
                          </a:solidFill>
                          <a:effectLst/>
                        </a:rPr>
                        <a:t>정정청구의</a:t>
                      </a:r>
                      <a:r>
                        <a:rPr lang="ko-KR" altLang="en-US" sz="1200" b="1" kern="0" spc="-80" dirty="0">
                          <a:solidFill>
                            <a:schemeClr val="accent1"/>
                          </a:solidFill>
                          <a:effectLst/>
                        </a:rPr>
                        <a:t> 취하</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항에 따른 </a:t>
                      </a:r>
                      <a:r>
                        <a:rPr lang="ko-KR" altLang="en-US" sz="1200" kern="0" spc="-80" dirty="0" err="1">
                          <a:effectLst/>
                        </a:rPr>
                        <a:t>정정청구는</a:t>
                      </a:r>
                      <a:r>
                        <a:rPr lang="ko-KR" altLang="en-US" sz="1200" kern="0" spc="-80" dirty="0">
                          <a:effectLst/>
                        </a:rPr>
                        <a:t> 다음 각 호의 어느 하나에 해당하는 기간에만 취하할 수 있다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1. </a:t>
                      </a:r>
                      <a:r>
                        <a:rPr lang="ko-KR" altLang="en-US" sz="1200" kern="0" spc="-80" dirty="0">
                          <a:effectLst/>
                        </a:rPr>
                        <a:t>제</a:t>
                      </a:r>
                      <a:r>
                        <a:rPr lang="en-US" altLang="ko-KR" sz="1200" kern="0" spc="-80" dirty="0">
                          <a:effectLst/>
                        </a:rPr>
                        <a:t>1</a:t>
                      </a:r>
                      <a:r>
                        <a:rPr lang="ko-KR" altLang="en-US" sz="1200" kern="0" spc="-80" dirty="0">
                          <a:effectLst/>
                        </a:rPr>
                        <a:t>항에 따라 정정을 청구할 수 있도록 지정된 기간과 그 기간의 만료일부터 </a:t>
                      </a:r>
                      <a:r>
                        <a:rPr lang="en-US" altLang="ko-KR" sz="1200" kern="0" spc="-80" dirty="0">
                          <a:effectLst/>
                        </a:rPr>
                        <a:t>1</a:t>
                      </a:r>
                      <a:r>
                        <a:rPr lang="ko-KR" altLang="en-US" sz="1200" kern="0" spc="-80" dirty="0">
                          <a:effectLst/>
                        </a:rPr>
                        <a:t>개월 이내의 기간</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2. </a:t>
                      </a:r>
                      <a:r>
                        <a:rPr lang="ko-KR" altLang="en-US" sz="1200" kern="0" spc="-80" dirty="0">
                          <a:effectLst/>
                        </a:rPr>
                        <a:t>제</a:t>
                      </a:r>
                      <a:r>
                        <a:rPr lang="en-US" altLang="ko-KR" sz="1200" kern="0" spc="-80" dirty="0">
                          <a:effectLst/>
                        </a:rPr>
                        <a:t>3</a:t>
                      </a:r>
                      <a:r>
                        <a:rPr lang="ko-KR" altLang="en-US" sz="1200" kern="0" spc="-80" dirty="0">
                          <a:effectLst/>
                        </a:rPr>
                        <a:t>항에서 준용하는 제</a:t>
                      </a:r>
                      <a:r>
                        <a:rPr lang="en-US" altLang="ko-KR" sz="1200" kern="0" spc="-80" dirty="0">
                          <a:effectLst/>
                        </a:rPr>
                        <a:t>136</a:t>
                      </a:r>
                      <a:r>
                        <a:rPr lang="ko-KR" altLang="en-US" sz="1200" kern="0" spc="-80" dirty="0">
                          <a:effectLst/>
                        </a:rPr>
                        <a:t>조제</a:t>
                      </a:r>
                      <a:r>
                        <a:rPr lang="en-US" altLang="ko-KR" sz="1200" kern="0" spc="-80" dirty="0">
                          <a:effectLst/>
                        </a:rPr>
                        <a:t>6</a:t>
                      </a:r>
                      <a:r>
                        <a:rPr lang="ko-KR" altLang="en-US" sz="1200" kern="0" spc="-80" dirty="0">
                          <a:effectLst/>
                        </a:rPr>
                        <a:t>항</a:t>
                      </a:r>
                      <a:r>
                        <a:rPr lang="en-US" altLang="ko-KR" sz="1200" kern="0" spc="-80" dirty="0">
                          <a:solidFill>
                            <a:srgbClr val="FF0000"/>
                          </a:solidFill>
                          <a:effectLst/>
                        </a:rPr>
                        <a:t>[</a:t>
                      </a:r>
                      <a:r>
                        <a:rPr lang="ko-KR" altLang="en-US" sz="1200" kern="0" spc="-80" dirty="0" err="1">
                          <a:solidFill>
                            <a:srgbClr val="FF0000"/>
                          </a:solidFill>
                          <a:effectLst/>
                        </a:rPr>
                        <a:t>정정심판의</a:t>
                      </a:r>
                      <a:r>
                        <a:rPr lang="ko-KR" altLang="en-US" sz="1200" kern="0" spc="-80" dirty="0">
                          <a:solidFill>
                            <a:srgbClr val="FF0000"/>
                          </a:solidFill>
                          <a:effectLst/>
                        </a:rPr>
                        <a:t> </a:t>
                      </a:r>
                      <a:r>
                        <a:rPr lang="ko-KR" altLang="en-US" sz="1200" kern="0" spc="-80" dirty="0" err="1">
                          <a:solidFill>
                            <a:srgbClr val="FF0000"/>
                          </a:solidFill>
                          <a:effectLst/>
                        </a:rPr>
                        <a:t>직권심리에</a:t>
                      </a:r>
                      <a:r>
                        <a:rPr lang="ko-KR" altLang="en-US" sz="1200" kern="0" spc="-80" dirty="0">
                          <a:solidFill>
                            <a:srgbClr val="FF0000"/>
                          </a:solidFill>
                          <a:effectLst/>
                        </a:rPr>
                        <a:t> 대한 의견서 제출기간</a:t>
                      </a:r>
                      <a:r>
                        <a:rPr lang="en-US" altLang="ko-KR" sz="1200" kern="0" spc="-80" dirty="0">
                          <a:solidFill>
                            <a:srgbClr val="FF0000"/>
                          </a:solidFill>
                          <a:effectLst/>
                        </a:rPr>
                        <a:t>]</a:t>
                      </a:r>
                      <a:r>
                        <a:rPr lang="ko-KR" altLang="en-US" sz="1200" kern="0" spc="-80" dirty="0">
                          <a:effectLst/>
                        </a:rPr>
                        <a:t>에 따라 지정된 기간</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⑤</a:t>
                      </a:r>
                      <a:r>
                        <a:rPr lang="ko-KR" altLang="en-US" sz="1200" b="1" kern="0" spc="-80" dirty="0">
                          <a:solidFill>
                            <a:schemeClr val="accent1"/>
                          </a:solidFill>
                          <a:effectLst/>
                        </a:rPr>
                        <a:t> </a:t>
                      </a:r>
                      <a:r>
                        <a:rPr lang="en-US" altLang="ko-KR" sz="1200" b="1" kern="0" spc="-80" dirty="0">
                          <a:solidFill>
                            <a:schemeClr val="accent1"/>
                          </a:solidFill>
                          <a:effectLst/>
                        </a:rPr>
                        <a:t>(</a:t>
                      </a:r>
                      <a:r>
                        <a:rPr lang="ko-KR" altLang="en-US" sz="1200" b="1" kern="0" spc="-80" dirty="0" err="1">
                          <a:solidFill>
                            <a:schemeClr val="accent1"/>
                          </a:solidFill>
                          <a:effectLst/>
                        </a:rPr>
                        <a:t>특허출원하였을</a:t>
                      </a:r>
                      <a:r>
                        <a:rPr lang="ko-KR" altLang="en-US" sz="1200" b="1" kern="0" spc="-80" dirty="0">
                          <a:solidFill>
                            <a:schemeClr val="accent1"/>
                          </a:solidFill>
                          <a:effectLst/>
                        </a:rPr>
                        <a:t> 때 특허를 받을 수 있을 것의 판단</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3</a:t>
                      </a:r>
                      <a:r>
                        <a:rPr lang="ko-KR" altLang="en-US" sz="1200" kern="0" spc="-80" dirty="0">
                          <a:effectLst/>
                        </a:rPr>
                        <a:t>항을 적용할 때 제</a:t>
                      </a:r>
                      <a:r>
                        <a:rPr lang="en-US" altLang="ko-KR" sz="1200" kern="0" spc="-80" dirty="0">
                          <a:effectLst/>
                        </a:rPr>
                        <a:t>132</a:t>
                      </a:r>
                      <a:r>
                        <a:rPr lang="ko-KR" altLang="en-US" sz="1200" kern="0" spc="-80" dirty="0">
                          <a:effectLst/>
                        </a:rPr>
                        <a:t>조의</a:t>
                      </a:r>
                      <a:r>
                        <a:rPr lang="en-US" altLang="ko-KR" sz="1200" kern="0" spc="-80" dirty="0">
                          <a:effectLst/>
                        </a:rPr>
                        <a:t>2</a:t>
                      </a:r>
                      <a:r>
                        <a:rPr lang="ko-KR" altLang="en-US" sz="1200" kern="0" spc="-80" dirty="0">
                          <a:effectLst/>
                        </a:rPr>
                        <a:t>에 따라 특허취소신청이 된 </a:t>
                      </a:r>
                      <a:r>
                        <a:rPr lang="ko-KR" altLang="en-US" sz="1200" kern="0" spc="-80" dirty="0" err="1">
                          <a:effectLst/>
                        </a:rPr>
                        <a:t>청구항을</a:t>
                      </a:r>
                      <a:r>
                        <a:rPr lang="ko-KR" altLang="en-US" sz="1200" kern="0" spc="-80" dirty="0">
                          <a:effectLst/>
                        </a:rPr>
                        <a:t> 정정하는 경우에는 제</a:t>
                      </a:r>
                      <a:r>
                        <a:rPr lang="en-US" altLang="ko-KR" sz="1200" kern="0" spc="-80" dirty="0">
                          <a:effectLst/>
                        </a:rPr>
                        <a:t>136</a:t>
                      </a:r>
                      <a:r>
                        <a:rPr lang="ko-KR" altLang="en-US" sz="1200" kern="0" spc="-80" dirty="0">
                          <a:effectLst/>
                        </a:rPr>
                        <a:t>조제</a:t>
                      </a:r>
                      <a:r>
                        <a:rPr lang="en-US" altLang="ko-KR" sz="1200" kern="0" spc="-80" dirty="0">
                          <a:effectLst/>
                        </a:rPr>
                        <a:t>5</a:t>
                      </a:r>
                      <a:r>
                        <a:rPr lang="ko-KR" altLang="en-US" sz="1200" kern="0" spc="-80" dirty="0">
                          <a:effectLst/>
                        </a:rPr>
                        <a:t>항을 준용하지 아니한다</a:t>
                      </a:r>
                      <a:r>
                        <a:rPr lang="en-US" altLang="ko-KR" sz="1200" kern="0" spc="-80" dirty="0">
                          <a:effectLst/>
                        </a:rPr>
                        <a:t>.</a:t>
                      </a:r>
                    </a:p>
                  </a:txBody>
                  <a:tcPr marL="72000" marR="72000" marT="8067" marB="8067"/>
                </a:tc>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133</a:t>
                      </a:r>
                      <a:r>
                        <a:rPr lang="ko-KR" altLang="en-US" sz="1200" kern="0" spc="-80" dirty="0">
                          <a:effectLst/>
                        </a:rPr>
                        <a:t>조의</a:t>
                      </a:r>
                      <a:r>
                        <a:rPr lang="en-US" altLang="ko-KR" sz="1200" kern="0" spc="-80" dirty="0">
                          <a:effectLst/>
                        </a:rPr>
                        <a:t>2【</a:t>
                      </a:r>
                      <a:r>
                        <a:rPr lang="ko-KR" altLang="en-US" sz="1200" kern="0" spc="-80" dirty="0">
                          <a:effectLst/>
                        </a:rPr>
                        <a:t>특허무효심판절차에서의 특허의 정정</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a:t>
                      </a:r>
                      <a:r>
                        <a:rPr lang="en-US" altLang="ko-KR" sz="1200" b="1" kern="0" spc="-80" dirty="0">
                          <a:solidFill>
                            <a:schemeClr val="accent1"/>
                          </a:solidFill>
                          <a:effectLst/>
                        </a:rPr>
                        <a:t> (</a:t>
                      </a:r>
                      <a:r>
                        <a:rPr lang="ko-KR" altLang="en-US" sz="1200" b="1" kern="0" spc="-80" dirty="0">
                          <a:solidFill>
                            <a:schemeClr val="accent1"/>
                          </a:solidFill>
                          <a:effectLst/>
                        </a:rPr>
                        <a:t>요건</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133</a:t>
                      </a:r>
                      <a:r>
                        <a:rPr lang="ko-KR" altLang="en-US" sz="1200" kern="0" spc="-80" dirty="0">
                          <a:effectLst/>
                        </a:rPr>
                        <a:t>조제</a:t>
                      </a:r>
                      <a:r>
                        <a:rPr lang="en-US" altLang="ko-KR" sz="1200" kern="0" spc="-80" dirty="0">
                          <a:effectLst/>
                        </a:rPr>
                        <a:t>1</a:t>
                      </a:r>
                      <a:r>
                        <a:rPr lang="ko-KR" altLang="en-US" sz="1200" kern="0" spc="-80" dirty="0">
                          <a:effectLst/>
                        </a:rPr>
                        <a:t>항</a:t>
                      </a:r>
                      <a:r>
                        <a:rPr lang="en-US" altLang="ko-KR" sz="1200" kern="0" spc="-80" dirty="0">
                          <a:solidFill>
                            <a:srgbClr val="FF0000"/>
                          </a:solidFill>
                          <a:effectLst/>
                        </a:rPr>
                        <a:t>[</a:t>
                      </a:r>
                      <a:r>
                        <a:rPr lang="ko-KR" altLang="en-US" sz="1200" kern="0" spc="-80" dirty="0">
                          <a:solidFill>
                            <a:srgbClr val="FF0000"/>
                          </a:solidFill>
                          <a:effectLst/>
                        </a:rPr>
                        <a:t>특허무효심판</a:t>
                      </a:r>
                      <a:r>
                        <a:rPr lang="en-US" altLang="ko-KR" sz="1200" kern="0" spc="-80" dirty="0">
                          <a:solidFill>
                            <a:srgbClr val="FF0000"/>
                          </a:solidFill>
                          <a:effectLst/>
                        </a:rPr>
                        <a:t>]</a:t>
                      </a:r>
                      <a:r>
                        <a:rPr lang="ko-KR" altLang="en-US" sz="1200" kern="0" spc="-80" dirty="0">
                          <a:effectLst/>
                        </a:rPr>
                        <a:t>에 따른 심판의 피청구인은 제</a:t>
                      </a:r>
                      <a:r>
                        <a:rPr lang="en-US" altLang="ko-KR" sz="1200" kern="0" spc="-80" dirty="0">
                          <a:effectLst/>
                        </a:rPr>
                        <a:t>136</a:t>
                      </a:r>
                      <a:r>
                        <a:rPr lang="ko-KR" altLang="en-US" sz="1200" kern="0" spc="-80" dirty="0">
                          <a:effectLst/>
                        </a:rPr>
                        <a:t>조제</a:t>
                      </a:r>
                      <a:r>
                        <a:rPr lang="en-US" altLang="ko-KR" sz="1200" kern="0" spc="-80" dirty="0">
                          <a:effectLst/>
                        </a:rPr>
                        <a:t>1</a:t>
                      </a:r>
                      <a:r>
                        <a:rPr lang="ko-KR" altLang="en-US" sz="1200" kern="0" spc="-80" dirty="0">
                          <a:effectLst/>
                        </a:rPr>
                        <a:t>항 각 호의 어느 하나에 해당하는 경우에만 제</a:t>
                      </a:r>
                      <a:r>
                        <a:rPr lang="en-US" altLang="ko-KR" sz="1200" kern="0" spc="-80" dirty="0">
                          <a:effectLst/>
                        </a:rPr>
                        <a:t>147</a:t>
                      </a:r>
                      <a:r>
                        <a:rPr lang="ko-KR" altLang="en-US" sz="1200" kern="0" spc="-80" dirty="0">
                          <a:effectLst/>
                        </a:rPr>
                        <a:t>조제</a:t>
                      </a:r>
                      <a:r>
                        <a:rPr lang="en-US" altLang="ko-KR" sz="1200" kern="0" spc="-80" dirty="0">
                          <a:effectLst/>
                        </a:rPr>
                        <a:t>1</a:t>
                      </a:r>
                      <a:r>
                        <a:rPr lang="ko-KR" altLang="en-US" sz="1200" kern="0" spc="-80" dirty="0">
                          <a:effectLst/>
                        </a:rPr>
                        <a:t>항</a:t>
                      </a:r>
                      <a:r>
                        <a:rPr lang="en-US" altLang="ko-KR" sz="1200" kern="0" spc="-80" dirty="0">
                          <a:solidFill>
                            <a:srgbClr val="FF0000"/>
                          </a:solidFill>
                          <a:effectLst/>
                        </a:rPr>
                        <a:t>[</a:t>
                      </a:r>
                      <a:r>
                        <a:rPr lang="ko-KR" altLang="en-US" sz="1200" kern="0" spc="-80" dirty="0">
                          <a:solidFill>
                            <a:srgbClr val="FF0000"/>
                          </a:solidFill>
                          <a:effectLst/>
                        </a:rPr>
                        <a:t>답변서 제출기간</a:t>
                      </a:r>
                      <a:r>
                        <a:rPr lang="en-US" altLang="ko-KR" sz="1200" kern="0" spc="-80" dirty="0">
                          <a:solidFill>
                            <a:srgbClr val="FF0000"/>
                          </a:solidFill>
                          <a:effectLst/>
                        </a:rPr>
                        <a:t>] </a:t>
                      </a:r>
                      <a:r>
                        <a:rPr lang="ko-KR" altLang="en-US" sz="1200" kern="0" spc="-80" dirty="0">
                          <a:effectLst/>
                        </a:rPr>
                        <a:t>또는 제</a:t>
                      </a:r>
                      <a:r>
                        <a:rPr lang="en-US" altLang="ko-KR" sz="1200" kern="0" spc="-80" dirty="0">
                          <a:effectLst/>
                        </a:rPr>
                        <a:t>159</a:t>
                      </a:r>
                      <a:r>
                        <a:rPr lang="ko-KR" altLang="en-US" sz="1200" kern="0" spc="-80" dirty="0">
                          <a:effectLst/>
                        </a:rPr>
                        <a:t>조제</a:t>
                      </a:r>
                      <a:r>
                        <a:rPr lang="en-US" altLang="ko-KR" sz="1200" kern="0" spc="-80" dirty="0">
                          <a:effectLst/>
                        </a:rPr>
                        <a:t>1</a:t>
                      </a:r>
                      <a:r>
                        <a:rPr lang="ko-KR" altLang="en-US" sz="1200" kern="0" spc="-80" dirty="0">
                          <a:effectLst/>
                        </a:rPr>
                        <a:t>항 후단</a:t>
                      </a:r>
                      <a:r>
                        <a:rPr lang="en-US" altLang="ko-KR" sz="1200" kern="0" spc="-80" dirty="0">
                          <a:solidFill>
                            <a:srgbClr val="FF0000"/>
                          </a:solidFill>
                          <a:effectLst/>
                        </a:rPr>
                        <a:t>[</a:t>
                      </a:r>
                      <a:r>
                        <a:rPr lang="ko-KR" altLang="en-US" sz="1200" kern="0" spc="-80" dirty="0">
                          <a:solidFill>
                            <a:srgbClr val="FF0000"/>
                          </a:solidFill>
                          <a:effectLst/>
                        </a:rPr>
                        <a:t>의견서 제출기간</a:t>
                      </a:r>
                      <a:r>
                        <a:rPr lang="en-US" altLang="ko-KR" sz="1200" kern="0" spc="-80" dirty="0">
                          <a:solidFill>
                            <a:srgbClr val="FF0000"/>
                          </a:solidFill>
                          <a:effectLst/>
                        </a:rPr>
                        <a:t>]</a:t>
                      </a:r>
                      <a:r>
                        <a:rPr lang="ko-KR" altLang="en-US" sz="1200" kern="0" spc="-80" dirty="0">
                          <a:effectLst/>
                        </a:rPr>
                        <a:t>에 따라 지정된 기간에 특허발명의 명세서 또는 도면에 대하여 정정청구를 할 수 있다</a:t>
                      </a:r>
                      <a:r>
                        <a:rPr lang="en-US" altLang="ko-KR" sz="1200" kern="0" spc="-80" dirty="0">
                          <a:effectLst/>
                        </a:rPr>
                        <a:t>. </a:t>
                      </a:r>
                      <a:r>
                        <a:rPr lang="ko-KR" altLang="en-US" sz="1200" kern="0" spc="-80" dirty="0">
                          <a:effectLst/>
                        </a:rPr>
                        <a:t>이 경우 심판장이 제</a:t>
                      </a:r>
                      <a:r>
                        <a:rPr lang="en-US" altLang="ko-KR" sz="1200" kern="0" spc="-80" dirty="0">
                          <a:effectLst/>
                        </a:rPr>
                        <a:t>147</a:t>
                      </a:r>
                      <a:r>
                        <a:rPr lang="ko-KR" altLang="en-US" sz="1200" kern="0" spc="-80" dirty="0">
                          <a:effectLst/>
                        </a:rPr>
                        <a:t>조제</a:t>
                      </a:r>
                      <a:r>
                        <a:rPr lang="en-US" altLang="ko-KR" sz="1200" kern="0" spc="-80" dirty="0">
                          <a:effectLst/>
                        </a:rPr>
                        <a:t>1</a:t>
                      </a:r>
                      <a:r>
                        <a:rPr lang="ko-KR" altLang="en-US" sz="1200" kern="0" spc="-80" dirty="0">
                          <a:effectLst/>
                        </a:rPr>
                        <a:t>항에 따라 지정된 기간 후에도 청구인이 증거를 제출하거나 새로운 무효사유를 주장함으로 인하여 정정청구를 허용할 필요가 있다고 인정하는 경우에는 기간을 정하여 정정청구를 하게 할 수 있다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a:t>
                      </a:r>
                      <a:r>
                        <a:rPr lang="en-US" altLang="ko-KR" sz="1200" b="1" kern="0" spc="-80" dirty="0">
                          <a:solidFill>
                            <a:schemeClr val="accent1"/>
                          </a:solidFill>
                          <a:effectLst/>
                        </a:rPr>
                        <a:t> (</a:t>
                      </a:r>
                      <a:r>
                        <a:rPr lang="ko-KR" altLang="en-US" sz="1200" b="1" kern="0" spc="-80" dirty="0">
                          <a:solidFill>
                            <a:schemeClr val="accent1"/>
                          </a:solidFill>
                          <a:effectLst/>
                        </a:rPr>
                        <a:t>여러 차례 정정이 있는 경우</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항에 따른 정정청구를 하였을 때에는 해당 무효심판절차에서 그 </a:t>
                      </a:r>
                      <a:r>
                        <a:rPr lang="ko-KR" altLang="en-US" sz="1200" kern="0" spc="-80" dirty="0" err="1">
                          <a:effectLst/>
                        </a:rPr>
                        <a:t>정정청구</a:t>
                      </a:r>
                      <a:r>
                        <a:rPr lang="ko-KR" altLang="en-US" sz="1200" kern="0" spc="-80" dirty="0">
                          <a:effectLst/>
                        </a:rPr>
                        <a:t> 전에 한 </a:t>
                      </a:r>
                      <a:r>
                        <a:rPr lang="ko-KR" altLang="en-US" sz="1200" kern="0" spc="-80" dirty="0" err="1">
                          <a:effectLst/>
                        </a:rPr>
                        <a:t>정정청구는</a:t>
                      </a:r>
                      <a:r>
                        <a:rPr lang="ko-KR" altLang="en-US" sz="1200" kern="0" spc="-80" dirty="0">
                          <a:effectLst/>
                        </a:rPr>
                        <a:t> 취하된 것으로 본다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③</a:t>
                      </a:r>
                      <a:r>
                        <a:rPr lang="en-US" altLang="ko-KR" sz="1200" b="1" kern="0" spc="-80" dirty="0">
                          <a:solidFill>
                            <a:schemeClr val="accent1"/>
                          </a:solidFill>
                          <a:effectLst/>
                        </a:rPr>
                        <a:t> (</a:t>
                      </a:r>
                      <a:r>
                        <a:rPr lang="ko-KR" altLang="en-US" sz="1200" b="1" kern="0" spc="-80" dirty="0">
                          <a:solidFill>
                            <a:schemeClr val="accent1"/>
                          </a:solidFill>
                          <a:effectLst/>
                        </a:rPr>
                        <a:t>송달</a:t>
                      </a:r>
                      <a:r>
                        <a:rPr lang="en-US" altLang="ko-KR" sz="1200" b="1" kern="0" spc="-80" dirty="0">
                          <a:solidFill>
                            <a:schemeClr val="accent1"/>
                          </a:solidFill>
                          <a:effectLst/>
                        </a:rPr>
                        <a:t>) </a:t>
                      </a:r>
                      <a:r>
                        <a:rPr lang="ko-KR" altLang="en-US" sz="1200" kern="0" spc="-80" dirty="0">
                          <a:effectLst/>
                        </a:rPr>
                        <a:t>심판장은 제</a:t>
                      </a:r>
                      <a:r>
                        <a:rPr lang="en-US" altLang="ko-KR" sz="1200" kern="0" spc="-80" dirty="0">
                          <a:effectLst/>
                        </a:rPr>
                        <a:t>1</a:t>
                      </a:r>
                      <a:r>
                        <a:rPr lang="ko-KR" altLang="en-US" sz="1200" kern="0" spc="-80" dirty="0">
                          <a:effectLst/>
                        </a:rPr>
                        <a:t>항에 따른 </a:t>
                      </a:r>
                      <a:r>
                        <a:rPr lang="ko-KR" altLang="en-US" sz="1200" kern="0" spc="-80" dirty="0" err="1">
                          <a:effectLst/>
                        </a:rPr>
                        <a:t>정정청구가</a:t>
                      </a:r>
                      <a:r>
                        <a:rPr lang="ko-KR" altLang="en-US" sz="1200" kern="0" spc="-80" dirty="0">
                          <a:effectLst/>
                        </a:rPr>
                        <a:t> 있을 때에는 그 청구서의 부본을 제</a:t>
                      </a:r>
                      <a:r>
                        <a:rPr lang="en-US" altLang="ko-KR" sz="1200" kern="0" spc="-80" dirty="0">
                          <a:effectLst/>
                        </a:rPr>
                        <a:t>133</a:t>
                      </a:r>
                      <a:r>
                        <a:rPr lang="ko-KR" altLang="en-US" sz="1200" kern="0" spc="-80" dirty="0">
                          <a:effectLst/>
                        </a:rPr>
                        <a:t>조제</a:t>
                      </a:r>
                      <a:r>
                        <a:rPr lang="en-US" altLang="ko-KR" sz="1200" kern="0" spc="-80" dirty="0">
                          <a:effectLst/>
                        </a:rPr>
                        <a:t>1</a:t>
                      </a:r>
                      <a:r>
                        <a:rPr lang="ko-KR" altLang="en-US" sz="1200" kern="0" spc="-80" dirty="0">
                          <a:effectLst/>
                        </a:rPr>
                        <a:t>항에 따른 심판의 청구인에게 송달하여야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④</a:t>
                      </a:r>
                      <a:r>
                        <a:rPr lang="en-US" altLang="ko-KR" sz="1200" b="1" kern="0" spc="-80" dirty="0">
                          <a:solidFill>
                            <a:schemeClr val="accent1"/>
                          </a:solidFill>
                          <a:effectLst/>
                        </a:rPr>
                        <a:t> (</a:t>
                      </a:r>
                      <a:r>
                        <a:rPr lang="ko-KR" altLang="en-US" sz="1200" b="1" kern="0" spc="-80" dirty="0">
                          <a:solidFill>
                            <a:schemeClr val="accent1"/>
                          </a:solidFill>
                          <a:effectLst/>
                        </a:rPr>
                        <a:t>준용규정</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항에 따른 </a:t>
                      </a:r>
                      <a:r>
                        <a:rPr lang="ko-KR" altLang="en-US" sz="1200" kern="0" spc="-80" dirty="0" err="1">
                          <a:effectLst/>
                        </a:rPr>
                        <a:t>정정청구에</a:t>
                      </a:r>
                      <a:r>
                        <a:rPr lang="ko-KR" altLang="en-US" sz="1200" kern="0" spc="-80" dirty="0">
                          <a:effectLst/>
                        </a:rPr>
                        <a:t> 관하여는 제</a:t>
                      </a:r>
                      <a:r>
                        <a:rPr lang="en-US" altLang="ko-KR" sz="1200" kern="0" spc="-80" dirty="0">
                          <a:effectLst/>
                        </a:rPr>
                        <a:t>136</a:t>
                      </a:r>
                      <a:r>
                        <a:rPr lang="ko-KR" altLang="en-US" sz="1200" kern="0" spc="-80" dirty="0">
                          <a:effectLst/>
                        </a:rPr>
                        <a:t>조제</a:t>
                      </a:r>
                      <a:r>
                        <a:rPr lang="en-US" altLang="ko-KR" sz="1200" kern="0" spc="-80" dirty="0">
                          <a:effectLst/>
                        </a:rPr>
                        <a:t>3</a:t>
                      </a:r>
                      <a:r>
                        <a:rPr lang="ko-KR" altLang="en-US" sz="1200" kern="0" spc="-80" dirty="0">
                          <a:effectLst/>
                        </a:rPr>
                        <a:t>항부터 제</a:t>
                      </a:r>
                      <a:r>
                        <a:rPr lang="en-US" altLang="ko-KR" sz="1200" kern="0" spc="-80" dirty="0">
                          <a:effectLst/>
                        </a:rPr>
                        <a:t>6</a:t>
                      </a:r>
                      <a:r>
                        <a:rPr lang="ko-KR" altLang="en-US" sz="1200" kern="0" spc="-80" dirty="0">
                          <a:effectLst/>
                        </a:rPr>
                        <a:t>항까지</a:t>
                      </a:r>
                      <a:r>
                        <a:rPr lang="en-US" altLang="ko-KR" sz="1200" kern="0" spc="-80" dirty="0">
                          <a:solidFill>
                            <a:srgbClr val="FF0000"/>
                          </a:solidFill>
                          <a:effectLst/>
                        </a:rPr>
                        <a:t>[</a:t>
                      </a:r>
                      <a:r>
                        <a:rPr lang="ko-KR" altLang="en-US" sz="1200" kern="0" spc="-80" dirty="0" err="1">
                          <a:solidFill>
                            <a:srgbClr val="FF0000"/>
                          </a:solidFill>
                          <a:effectLst/>
                        </a:rPr>
                        <a:t>정정심판의</a:t>
                      </a:r>
                      <a:r>
                        <a:rPr lang="ko-KR" altLang="en-US" sz="1200" kern="0" spc="-80" dirty="0">
                          <a:solidFill>
                            <a:srgbClr val="FF0000"/>
                          </a:solidFill>
                          <a:effectLst/>
                        </a:rPr>
                        <a:t> 객체적 요건</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8</a:t>
                      </a:r>
                      <a:r>
                        <a:rPr lang="ko-KR" altLang="en-US" sz="1200" kern="0" spc="-80" dirty="0">
                          <a:effectLst/>
                        </a:rPr>
                        <a:t>항</a:t>
                      </a:r>
                      <a:r>
                        <a:rPr lang="en-US" altLang="ko-KR" sz="1200" kern="0" spc="-80" dirty="0">
                          <a:solidFill>
                            <a:srgbClr val="FF0000"/>
                          </a:solidFill>
                          <a:effectLst/>
                        </a:rPr>
                        <a:t>[</a:t>
                      </a:r>
                      <a:r>
                        <a:rPr lang="ko-KR" altLang="en-US" sz="1200" kern="0" spc="-80" dirty="0" err="1">
                          <a:solidFill>
                            <a:srgbClr val="FF0000"/>
                          </a:solidFill>
                          <a:effectLst/>
                        </a:rPr>
                        <a:t>정정심판의</a:t>
                      </a:r>
                      <a:r>
                        <a:rPr lang="ko-KR" altLang="en-US" sz="1200" kern="0" spc="-80" dirty="0">
                          <a:solidFill>
                            <a:srgbClr val="FF0000"/>
                          </a:solidFill>
                          <a:effectLst/>
                        </a:rPr>
                        <a:t> 주체적 요건</a:t>
                      </a:r>
                      <a:r>
                        <a:rPr lang="en-US" altLang="ko-KR" sz="1200" kern="0" spc="-80" dirty="0">
                          <a:solidFill>
                            <a:srgbClr val="FF0000"/>
                          </a:solidFill>
                          <a:effectLst/>
                        </a:rPr>
                        <a:t>] </a:t>
                      </a:r>
                      <a:r>
                        <a:rPr lang="ko-KR" altLang="en-US" sz="1200" kern="0" spc="-80" dirty="0">
                          <a:effectLst/>
                        </a:rPr>
                        <a:t>및 제</a:t>
                      </a:r>
                      <a:r>
                        <a:rPr lang="en-US" altLang="ko-KR" sz="1200" kern="0" spc="-80" dirty="0">
                          <a:effectLst/>
                        </a:rPr>
                        <a:t>10</a:t>
                      </a:r>
                      <a:r>
                        <a:rPr lang="ko-KR" altLang="en-US" sz="1200" kern="0" spc="-80" dirty="0">
                          <a:effectLst/>
                        </a:rPr>
                        <a:t>항부터 제</a:t>
                      </a:r>
                      <a:r>
                        <a:rPr lang="en-US" altLang="ko-KR" sz="1200" kern="0" spc="-80" dirty="0">
                          <a:effectLst/>
                        </a:rPr>
                        <a:t>13</a:t>
                      </a:r>
                      <a:r>
                        <a:rPr lang="ko-KR" altLang="en-US" sz="1200" kern="0" spc="-80" dirty="0">
                          <a:effectLst/>
                        </a:rPr>
                        <a:t>항까지</a:t>
                      </a:r>
                      <a:r>
                        <a:rPr lang="en-US" altLang="ko-KR" sz="1200" kern="0" spc="-80" dirty="0">
                          <a:solidFill>
                            <a:srgbClr val="FF0000"/>
                          </a:solidFill>
                          <a:effectLst/>
                        </a:rPr>
                        <a:t>[</a:t>
                      </a:r>
                      <a:r>
                        <a:rPr lang="ko-KR" altLang="en-US" sz="1200" kern="0" spc="-80" dirty="0">
                          <a:solidFill>
                            <a:srgbClr val="FF0000"/>
                          </a:solidFill>
                          <a:effectLst/>
                        </a:rPr>
                        <a:t>소급효</a:t>
                      </a:r>
                      <a:r>
                        <a:rPr lang="en-US" altLang="ko-KR" sz="1200" kern="0" spc="-80" dirty="0">
                          <a:solidFill>
                            <a:srgbClr val="FF0000"/>
                          </a:solidFill>
                          <a:effectLst/>
                        </a:rPr>
                        <a:t>, </a:t>
                      </a:r>
                      <a:r>
                        <a:rPr lang="ko-KR" altLang="en-US" sz="1200" kern="0" spc="-80" dirty="0">
                          <a:solidFill>
                            <a:srgbClr val="FF0000"/>
                          </a:solidFill>
                          <a:effectLst/>
                        </a:rPr>
                        <a:t>명세서 또는 도면의 보정</a:t>
                      </a:r>
                      <a:r>
                        <a:rPr lang="en-US" altLang="ko-KR" sz="1200" kern="0" spc="-80" dirty="0">
                          <a:solidFill>
                            <a:srgbClr val="FF0000"/>
                          </a:solidFill>
                          <a:effectLst/>
                        </a:rPr>
                        <a:t>, </a:t>
                      </a:r>
                      <a:r>
                        <a:rPr lang="ko-KR" altLang="en-US" sz="1200" kern="0" spc="-80" dirty="0">
                          <a:solidFill>
                            <a:srgbClr val="FF0000"/>
                          </a:solidFill>
                          <a:effectLst/>
                        </a:rPr>
                        <a:t>통보 및 특허공보에 게재</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139</a:t>
                      </a:r>
                      <a:r>
                        <a:rPr lang="ko-KR" altLang="en-US" sz="1200" kern="0" spc="-80" dirty="0">
                          <a:effectLst/>
                        </a:rPr>
                        <a:t>조제</a:t>
                      </a:r>
                      <a:r>
                        <a:rPr lang="en-US" altLang="ko-KR" sz="1200" kern="0" spc="-80" dirty="0">
                          <a:effectLst/>
                        </a:rPr>
                        <a:t>3</a:t>
                      </a:r>
                      <a:r>
                        <a:rPr lang="ko-KR" altLang="en-US" sz="1200" kern="0" spc="-80" dirty="0">
                          <a:effectLst/>
                        </a:rPr>
                        <a:t>항</a:t>
                      </a:r>
                      <a:r>
                        <a:rPr lang="en-US" altLang="ko-KR" sz="1200" kern="0" spc="-80" dirty="0">
                          <a:solidFill>
                            <a:srgbClr val="FF0000"/>
                          </a:solidFill>
                          <a:effectLst/>
                        </a:rPr>
                        <a:t>[</a:t>
                      </a:r>
                      <a:r>
                        <a:rPr lang="ko-KR" altLang="en-US" sz="1200" kern="0" spc="-80" dirty="0">
                          <a:solidFill>
                            <a:srgbClr val="FF0000"/>
                          </a:solidFill>
                          <a:effectLst/>
                        </a:rPr>
                        <a:t>공동심판청구</a:t>
                      </a:r>
                      <a:r>
                        <a:rPr lang="en-US" altLang="ko-KR" sz="1200" kern="0" spc="-80" dirty="0">
                          <a:effectLst/>
                        </a:rPr>
                        <a:t>] </a:t>
                      </a:r>
                      <a:r>
                        <a:rPr lang="ko-KR" altLang="en-US" sz="1200" kern="0" spc="-80" dirty="0">
                          <a:effectLst/>
                        </a:rPr>
                        <a:t>및 제</a:t>
                      </a:r>
                      <a:r>
                        <a:rPr lang="en-US" altLang="ko-KR" sz="1200" kern="0" spc="-80" dirty="0">
                          <a:effectLst/>
                        </a:rPr>
                        <a:t>140</a:t>
                      </a:r>
                      <a:r>
                        <a:rPr lang="ko-KR" altLang="en-US" sz="1200" kern="0" spc="-80" dirty="0">
                          <a:effectLst/>
                        </a:rPr>
                        <a:t>조제</a:t>
                      </a:r>
                      <a:r>
                        <a:rPr lang="en-US" altLang="ko-KR" sz="1200" kern="0" spc="-80" dirty="0">
                          <a:effectLst/>
                        </a:rPr>
                        <a:t>1</a:t>
                      </a:r>
                      <a:r>
                        <a:rPr lang="ko-KR" altLang="en-US" sz="1200" kern="0" spc="-80" dirty="0" err="1">
                          <a:effectLst/>
                        </a:rPr>
                        <a:t>항ㆍ제</a:t>
                      </a:r>
                      <a:r>
                        <a:rPr lang="en-US" altLang="ko-KR" sz="1200" kern="0" spc="-80" dirty="0">
                          <a:effectLst/>
                        </a:rPr>
                        <a:t>2</a:t>
                      </a:r>
                      <a:r>
                        <a:rPr lang="ko-KR" altLang="en-US" sz="1200" kern="0" spc="-80" dirty="0" err="1">
                          <a:effectLst/>
                        </a:rPr>
                        <a:t>항ㆍ제</a:t>
                      </a:r>
                      <a:r>
                        <a:rPr lang="en-US" altLang="ko-KR" sz="1200" kern="0" spc="-80" dirty="0">
                          <a:effectLst/>
                        </a:rPr>
                        <a:t>5</a:t>
                      </a:r>
                      <a:r>
                        <a:rPr lang="ko-KR" altLang="en-US" sz="1200" kern="0" spc="-80" dirty="0">
                          <a:effectLst/>
                        </a:rPr>
                        <a:t>항</a:t>
                      </a:r>
                      <a:r>
                        <a:rPr lang="en-US" altLang="ko-KR" sz="1200" kern="0" spc="-80" dirty="0">
                          <a:solidFill>
                            <a:srgbClr val="FF0000"/>
                          </a:solidFill>
                          <a:effectLst/>
                        </a:rPr>
                        <a:t>[</a:t>
                      </a:r>
                      <a:r>
                        <a:rPr lang="ko-KR" altLang="en-US" sz="1200" kern="0" spc="-80" dirty="0" err="1">
                          <a:solidFill>
                            <a:srgbClr val="FF0000"/>
                          </a:solidFill>
                          <a:effectLst/>
                        </a:rPr>
                        <a:t>정정심판의</a:t>
                      </a:r>
                      <a:r>
                        <a:rPr lang="ko-KR" altLang="en-US" sz="1200" kern="0" spc="-80" dirty="0">
                          <a:solidFill>
                            <a:srgbClr val="FF0000"/>
                          </a:solidFill>
                          <a:effectLst/>
                        </a:rPr>
                        <a:t> 청구 및 보정</a:t>
                      </a:r>
                      <a:r>
                        <a:rPr lang="en-US" altLang="ko-KR" sz="1200" kern="0" spc="-80" dirty="0">
                          <a:solidFill>
                            <a:srgbClr val="FF0000"/>
                          </a:solidFill>
                          <a:effectLst/>
                        </a:rPr>
                        <a:t>]</a:t>
                      </a:r>
                      <a:r>
                        <a:rPr lang="ko-KR" altLang="en-US" sz="1200" kern="0" spc="-80" dirty="0">
                          <a:effectLst/>
                        </a:rPr>
                        <a:t>을 준용한다</a:t>
                      </a:r>
                      <a:r>
                        <a:rPr lang="en-US" altLang="ko-KR" sz="1200" kern="0" spc="-80" dirty="0">
                          <a:effectLst/>
                        </a:rPr>
                        <a:t>. </a:t>
                      </a:r>
                      <a:r>
                        <a:rPr lang="ko-KR" altLang="en-US" sz="1200" kern="0" spc="-80" dirty="0">
                          <a:effectLst/>
                        </a:rPr>
                        <a:t>이 경우 제</a:t>
                      </a:r>
                      <a:r>
                        <a:rPr lang="en-US" altLang="ko-KR" sz="1200" kern="0" spc="-80" dirty="0">
                          <a:effectLst/>
                        </a:rPr>
                        <a:t>136</a:t>
                      </a:r>
                      <a:r>
                        <a:rPr lang="ko-KR" altLang="en-US" sz="1200" kern="0" spc="-80" dirty="0">
                          <a:effectLst/>
                        </a:rPr>
                        <a:t>조제</a:t>
                      </a:r>
                      <a:r>
                        <a:rPr lang="en-US" altLang="ko-KR" sz="1200" kern="0" spc="-80" dirty="0">
                          <a:effectLst/>
                        </a:rPr>
                        <a:t>11</a:t>
                      </a:r>
                      <a:r>
                        <a:rPr lang="ko-KR" altLang="en-US" sz="1200" kern="0" spc="-80" dirty="0">
                          <a:effectLst/>
                        </a:rPr>
                        <a:t>항</a:t>
                      </a:r>
                      <a:r>
                        <a:rPr lang="en-US" altLang="ko-KR" sz="1200" kern="0" spc="-80" dirty="0">
                          <a:solidFill>
                            <a:srgbClr val="FF0000"/>
                          </a:solidFill>
                          <a:effectLst/>
                        </a:rPr>
                        <a:t>[</a:t>
                      </a:r>
                      <a:r>
                        <a:rPr lang="ko-KR" altLang="en-US" sz="1200" kern="0" spc="-80" dirty="0">
                          <a:solidFill>
                            <a:srgbClr val="FF0000"/>
                          </a:solidFill>
                          <a:effectLst/>
                        </a:rPr>
                        <a:t>명세서 또는 도면의 보정</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중 </a:t>
                      </a:r>
                      <a:r>
                        <a:rPr lang="en-US" altLang="ko-KR" sz="1200" kern="0" spc="-80" dirty="0">
                          <a:effectLst/>
                        </a:rPr>
                        <a:t>"</a:t>
                      </a:r>
                      <a:r>
                        <a:rPr lang="ko-KR" altLang="en-US" sz="1200" kern="0" spc="-80" dirty="0">
                          <a:effectLst/>
                        </a:rPr>
                        <a:t>제</a:t>
                      </a:r>
                      <a:r>
                        <a:rPr lang="en-US" altLang="ko-KR" sz="1200" kern="0" spc="-80" dirty="0">
                          <a:effectLst/>
                        </a:rPr>
                        <a:t>162</a:t>
                      </a:r>
                      <a:r>
                        <a:rPr lang="ko-KR" altLang="en-US" sz="1200" kern="0" spc="-80" dirty="0">
                          <a:effectLst/>
                        </a:rPr>
                        <a:t>조제</a:t>
                      </a:r>
                      <a:r>
                        <a:rPr lang="en-US" altLang="ko-KR" sz="1200" kern="0" spc="-80" dirty="0">
                          <a:effectLst/>
                        </a:rPr>
                        <a:t>3</a:t>
                      </a:r>
                      <a:r>
                        <a:rPr lang="ko-KR" altLang="en-US" sz="1200" kern="0" spc="-80" dirty="0">
                          <a:effectLst/>
                        </a:rPr>
                        <a:t>항에 따른 심리의 종결이 통지되기 전</a:t>
                      </a:r>
                      <a:r>
                        <a:rPr lang="en-US" altLang="ko-KR" sz="1200" kern="0" spc="-80" dirty="0">
                          <a:effectLst/>
                        </a:rPr>
                        <a:t>(</a:t>
                      </a:r>
                      <a:r>
                        <a:rPr lang="ko-KR" altLang="en-US" sz="1200" kern="0" spc="-80" dirty="0">
                          <a:effectLst/>
                        </a:rPr>
                        <a:t>같은 조 제</a:t>
                      </a:r>
                      <a:r>
                        <a:rPr lang="en-US" altLang="ko-KR" sz="1200" kern="0" spc="-80" dirty="0">
                          <a:effectLst/>
                        </a:rPr>
                        <a:t>4</a:t>
                      </a:r>
                      <a:r>
                        <a:rPr lang="ko-KR" altLang="en-US" sz="1200" kern="0" spc="-80" dirty="0">
                          <a:effectLst/>
                        </a:rPr>
                        <a:t>항에 따라 심리가 재개된 경우에는 그 후 다시 같은 조 제</a:t>
                      </a:r>
                      <a:r>
                        <a:rPr lang="en-US" altLang="ko-KR" sz="1200" kern="0" spc="-80" dirty="0">
                          <a:effectLst/>
                        </a:rPr>
                        <a:t>3</a:t>
                      </a:r>
                      <a:r>
                        <a:rPr lang="ko-KR" altLang="en-US" sz="1200" kern="0" spc="-80" dirty="0">
                          <a:effectLst/>
                        </a:rPr>
                        <a:t>항에 따른 심리의 종결이 통지되기 전</a:t>
                      </a:r>
                      <a:r>
                        <a:rPr lang="en-US" altLang="ko-KR" sz="1200" kern="0" spc="-80" dirty="0">
                          <a:effectLst/>
                        </a:rPr>
                        <a:t>)</a:t>
                      </a:r>
                      <a:r>
                        <a:rPr lang="ko-KR" altLang="en-US" sz="1200" kern="0" spc="-80" dirty="0">
                          <a:effectLst/>
                        </a:rPr>
                        <a:t>에</a:t>
                      </a:r>
                      <a:r>
                        <a:rPr lang="en-US" altLang="ko-KR" sz="1200" kern="0" spc="-80" dirty="0">
                          <a:effectLst/>
                        </a:rPr>
                        <a:t>"</a:t>
                      </a:r>
                      <a:r>
                        <a:rPr lang="ko-KR" altLang="en-US" sz="1200" kern="0" spc="-80" dirty="0">
                          <a:effectLst/>
                        </a:rPr>
                        <a:t>는 </a:t>
                      </a:r>
                      <a:r>
                        <a:rPr lang="en-US" altLang="ko-KR" sz="1200" kern="0" spc="-80" dirty="0">
                          <a:effectLst/>
                        </a:rPr>
                        <a:t>"</a:t>
                      </a:r>
                      <a:r>
                        <a:rPr lang="ko-KR" altLang="en-US" sz="1200" kern="0" spc="-80" dirty="0">
                          <a:effectLst/>
                        </a:rPr>
                        <a:t>제</a:t>
                      </a:r>
                      <a:r>
                        <a:rPr lang="en-US" altLang="ko-KR" sz="1200" kern="0" spc="-80" dirty="0">
                          <a:effectLst/>
                        </a:rPr>
                        <a:t>133</a:t>
                      </a:r>
                      <a:r>
                        <a:rPr lang="ko-KR" altLang="en-US" sz="1200" kern="0" spc="-80" dirty="0">
                          <a:effectLst/>
                        </a:rPr>
                        <a:t>조의</a:t>
                      </a:r>
                      <a:r>
                        <a:rPr lang="en-US" altLang="ko-KR" sz="1200" kern="0" spc="-80" dirty="0">
                          <a:effectLst/>
                        </a:rPr>
                        <a:t>2</a:t>
                      </a:r>
                      <a:r>
                        <a:rPr lang="ko-KR" altLang="en-US" sz="1200" kern="0" spc="-80" dirty="0">
                          <a:effectLst/>
                        </a:rPr>
                        <a:t>제</a:t>
                      </a:r>
                      <a:r>
                        <a:rPr lang="en-US" altLang="ko-KR" sz="1200" kern="0" spc="-80" dirty="0">
                          <a:effectLst/>
                        </a:rPr>
                        <a:t>1</a:t>
                      </a:r>
                      <a:r>
                        <a:rPr lang="ko-KR" altLang="en-US" sz="1200" kern="0" spc="-80" dirty="0">
                          <a:effectLst/>
                        </a:rPr>
                        <a:t>항</a:t>
                      </a:r>
                      <a:r>
                        <a:rPr lang="en-US" altLang="ko-KR" sz="1200" kern="0" spc="-80" dirty="0">
                          <a:solidFill>
                            <a:srgbClr val="FF0000"/>
                          </a:solidFill>
                          <a:effectLst/>
                        </a:rPr>
                        <a:t>[</a:t>
                      </a:r>
                      <a:r>
                        <a:rPr lang="ko-KR" altLang="en-US" sz="1200" kern="0" spc="-80" dirty="0">
                          <a:solidFill>
                            <a:srgbClr val="FF0000"/>
                          </a:solidFill>
                          <a:effectLst/>
                        </a:rPr>
                        <a:t>정정청구가능기간</a:t>
                      </a:r>
                      <a:r>
                        <a:rPr lang="en-US" altLang="ko-KR" sz="1200" kern="0" spc="-80" dirty="0">
                          <a:solidFill>
                            <a:srgbClr val="FF0000"/>
                          </a:solidFill>
                          <a:effectLst/>
                        </a:rPr>
                        <a:t>]</a:t>
                      </a:r>
                      <a:r>
                        <a:rPr lang="en-US" altLang="ko-KR" sz="1200" kern="0" spc="-80" dirty="0">
                          <a:effectLst/>
                        </a:rPr>
                        <a:t> </a:t>
                      </a:r>
                      <a:r>
                        <a:rPr lang="ko-KR" altLang="en-US" sz="1200" kern="0" spc="-80" dirty="0">
                          <a:effectLst/>
                        </a:rPr>
                        <a:t>또는 제</a:t>
                      </a:r>
                      <a:r>
                        <a:rPr lang="en-US" altLang="ko-KR" sz="1200" kern="0" spc="-80" dirty="0">
                          <a:effectLst/>
                        </a:rPr>
                        <a:t>136</a:t>
                      </a:r>
                      <a:r>
                        <a:rPr lang="ko-KR" altLang="en-US" sz="1200" kern="0" spc="-80" dirty="0">
                          <a:effectLst/>
                        </a:rPr>
                        <a:t>조제</a:t>
                      </a:r>
                      <a:r>
                        <a:rPr lang="en-US" altLang="ko-KR" sz="1200" kern="0" spc="-80" dirty="0">
                          <a:effectLst/>
                        </a:rPr>
                        <a:t>6</a:t>
                      </a:r>
                      <a:r>
                        <a:rPr lang="ko-KR" altLang="en-US" sz="1200" kern="0" spc="-80" dirty="0">
                          <a:effectLst/>
                        </a:rPr>
                        <a:t>항</a:t>
                      </a:r>
                      <a:r>
                        <a:rPr lang="en-US" altLang="ko-KR" sz="1200" kern="0" spc="-80" dirty="0">
                          <a:solidFill>
                            <a:srgbClr val="FF0000"/>
                          </a:solidFill>
                          <a:effectLst/>
                        </a:rPr>
                        <a:t>[</a:t>
                      </a:r>
                      <a:r>
                        <a:rPr lang="ko-KR" altLang="en-US" sz="1200" kern="0" spc="-80" dirty="0" err="1">
                          <a:solidFill>
                            <a:srgbClr val="FF0000"/>
                          </a:solidFill>
                          <a:effectLst/>
                        </a:rPr>
                        <a:t>정정심판의</a:t>
                      </a:r>
                      <a:r>
                        <a:rPr lang="ko-KR" altLang="en-US" sz="1200" kern="0" spc="-80" dirty="0">
                          <a:solidFill>
                            <a:srgbClr val="FF0000"/>
                          </a:solidFill>
                          <a:effectLst/>
                        </a:rPr>
                        <a:t> </a:t>
                      </a:r>
                      <a:r>
                        <a:rPr lang="ko-KR" altLang="en-US" sz="1200" kern="0" spc="-80" dirty="0" err="1">
                          <a:solidFill>
                            <a:srgbClr val="FF0000"/>
                          </a:solidFill>
                          <a:effectLst/>
                        </a:rPr>
                        <a:t>직권심리에</a:t>
                      </a:r>
                      <a:r>
                        <a:rPr lang="ko-KR" altLang="en-US" sz="1200" kern="0" spc="-80" dirty="0">
                          <a:solidFill>
                            <a:srgbClr val="FF0000"/>
                          </a:solidFill>
                          <a:effectLst/>
                        </a:rPr>
                        <a:t> 대한 의견서 제출기간</a:t>
                      </a:r>
                      <a:r>
                        <a:rPr lang="en-US" altLang="ko-KR" sz="1200" kern="0" spc="-80" dirty="0">
                          <a:solidFill>
                            <a:srgbClr val="FF0000"/>
                          </a:solidFill>
                          <a:effectLst/>
                        </a:rPr>
                        <a:t>]</a:t>
                      </a:r>
                      <a:r>
                        <a:rPr lang="ko-KR" altLang="en-US" sz="1200" kern="0" spc="-80" dirty="0">
                          <a:effectLst/>
                        </a:rPr>
                        <a:t>에 따라 지정된 기간에</a:t>
                      </a:r>
                      <a:r>
                        <a:rPr lang="en-US" altLang="ko-KR" sz="1200" kern="0" spc="-80" dirty="0">
                          <a:effectLst/>
                        </a:rPr>
                        <a:t>"</a:t>
                      </a:r>
                      <a:r>
                        <a:rPr lang="ko-KR" altLang="en-US" sz="1200" kern="0" spc="-80" dirty="0">
                          <a:effectLst/>
                        </a:rPr>
                        <a:t>로 본다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⑤</a:t>
                      </a:r>
                      <a:r>
                        <a:rPr lang="en-US" altLang="ko-KR" sz="1200" b="1" kern="0" spc="-80" dirty="0">
                          <a:solidFill>
                            <a:schemeClr val="accent1"/>
                          </a:solidFill>
                          <a:effectLst/>
                        </a:rPr>
                        <a:t> (</a:t>
                      </a:r>
                      <a:r>
                        <a:rPr lang="ko-KR" altLang="en-US" sz="1200" b="1" kern="0" spc="-80" dirty="0" err="1">
                          <a:solidFill>
                            <a:schemeClr val="accent1"/>
                          </a:solidFill>
                          <a:effectLst/>
                        </a:rPr>
                        <a:t>정정청구의</a:t>
                      </a:r>
                      <a:r>
                        <a:rPr lang="ko-KR" altLang="en-US" sz="1200" b="1" kern="0" spc="-80" dirty="0">
                          <a:solidFill>
                            <a:schemeClr val="accent1"/>
                          </a:solidFill>
                          <a:effectLst/>
                        </a:rPr>
                        <a:t> 취하</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항에 따른 </a:t>
                      </a:r>
                      <a:r>
                        <a:rPr lang="ko-KR" altLang="en-US" sz="1200" kern="0" spc="-80" dirty="0" err="1">
                          <a:effectLst/>
                        </a:rPr>
                        <a:t>정정청구는</a:t>
                      </a:r>
                      <a:r>
                        <a:rPr lang="ko-KR" altLang="en-US" sz="1200" kern="0" spc="-80" dirty="0">
                          <a:effectLst/>
                        </a:rPr>
                        <a:t> 다음 각 호의 어느 하나에 해당하는 기간에만 취하할 수 있다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1. </a:t>
                      </a:r>
                      <a:r>
                        <a:rPr lang="ko-KR" altLang="en-US" sz="1200" kern="0" spc="-80" dirty="0">
                          <a:effectLst/>
                        </a:rPr>
                        <a:t>제</a:t>
                      </a:r>
                      <a:r>
                        <a:rPr lang="en-US" altLang="ko-KR" sz="1200" kern="0" spc="-80" dirty="0">
                          <a:effectLst/>
                        </a:rPr>
                        <a:t>1</a:t>
                      </a:r>
                      <a:r>
                        <a:rPr lang="ko-KR" altLang="en-US" sz="1200" kern="0" spc="-80" dirty="0">
                          <a:effectLst/>
                        </a:rPr>
                        <a:t>항에 따라 정정을 청구할 수 있도록 지정된 기간과 그 기간의 만료일부터 </a:t>
                      </a:r>
                      <a:r>
                        <a:rPr lang="en-US" altLang="ko-KR" sz="1200" kern="0" spc="-80" dirty="0">
                          <a:effectLst/>
                        </a:rPr>
                        <a:t>1</a:t>
                      </a:r>
                      <a:r>
                        <a:rPr lang="ko-KR" altLang="en-US" sz="1200" kern="0" spc="-80" dirty="0">
                          <a:effectLst/>
                        </a:rPr>
                        <a:t>개월 이내의 기간</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2. </a:t>
                      </a:r>
                      <a:r>
                        <a:rPr lang="ko-KR" altLang="en-US" sz="1200" kern="0" spc="-80" dirty="0">
                          <a:effectLst/>
                        </a:rPr>
                        <a:t>제</a:t>
                      </a:r>
                      <a:r>
                        <a:rPr lang="en-US" altLang="ko-KR" sz="1200" kern="0" spc="-80" dirty="0">
                          <a:effectLst/>
                        </a:rPr>
                        <a:t>4</a:t>
                      </a:r>
                      <a:r>
                        <a:rPr lang="ko-KR" altLang="en-US" sz="1200" kern="0" spc="-80" dirty="0">
                          <a:effectLst/>
                        </a:rPr>
                        <a:t>항에서 준용하는 제</a:t>
                      </a:r>
                      <a:r>
                        <a:rPr lang="en-US" altLang="ko-KR" sz="1200" kern="0" spc="-80" dirty="0">
                          <a:effectLst/>
                        </a:rPr>
                        <a:t>136</a:t>
                      </a:r>
                      <a:r>
                        <a:rPr lang="ko-KR" altLang="en-US" sz="1200" kern="0" spc="-80" dirty="0">
                          <a:effectLst/>
                        </a:rPr>
                        <a:t>조제</a:t>
                      </a:r>
                      <a:r>
                        <a:rPr lang="en-US" altLang="ko-KR" sz="1200" kern="0" spc="-80" dirty="0">
                          <a:effectLst/>
                        </a:rPr>
                        <a:t>6</a:t>
                      </a:r>
                      <a:r>
                        <a:rPr lang="ko-KR" altLang="en-US" sz="1200" kern="0" spc="-80" dirty="0">
                          <a:effectLst/>
                        </a:rPr>
                        <a:t>항</a:t>
                      </a:r>
                      <a:r>
                        <a:rPr lang="en-US" altLang="ko-KR" sz="1200" kern="0" spc="-80" dirty="0">
                          <a:solidFill>
                            <a:srgbClr val="FF0000"/>
                          </a:solidFill>
                          <a:effectLst/>
                        </a:rPr>
                        <a:t>[</a:t>
                      </a:r>
                      <a:r>
                        <a:rPr lang="ko-KR" altLang="en-US" sz="1200" kern="0" spc="-80" dirty="0" err="1">
                          <a:solidFill>
                            <a:srgbClr val="FF0000"/>
                          </a:solidFill>
                          <a:effectLst/>
                        </a:rPr>
                        <a:t>정정심판의</a:t>
                      </a:r>
                      <a:r>
                        <a:rPr lang="ko-KR" altLang="en-US" sz="1200" kern="0" spc="-80" dirty="0">
                          <a:solidFill>
                            <a:srgbClr val="FF0000"/>
                          </a:solidFill>
                          <a:effectLst/>
                        </a:rPr>
                        <a:t> </a:t>
                      </a:r>
                      <a:r>
                        <a:rPr lang="ko-KR" altLang="en-US" sz="1200" kern="0" spc="-80" dirty="0" err="1">
                          <a:solidFill>
                            <a:srgbClr val="FF0000"/>
                          </a:solidFill>
                          <a:effectLst/>
                        </a:rPr>
                        <a:t>직권심리에</a:t>
                      </a:r>
                      <a:r>
                        <a:rPr lang="ko-KR" altLang="en-US" sz="1200" kern="0" spc="-80" dirty="0">
                          <a:solidFill>
                            <a:srgbClr val="FF0000"/>
                          </a:solidFill>
                          <a:effectLst/>
                        </a:rPr>
                        <a:t> 대한 의견서 제출기간</a:t>
                      </a:r>
                      <a:r>
                        <a:rPr lang="en-US" altLang="ko-KR" sz="1200" kern="0" spc="-80" dirty="0">
                          <a:solidFill>
                            <a:srgbClr val="FF0000"/>
                          </a:solidFill>
                          <a:effectLst/>
                        </a:rPr>
                        <a:t>]</a:t>
                      </a:r>
                      <a:r>
                        <a:rPr lang="ko-KR" altLang="en-US" sz="1200" kern="0" spc="-80" dirty="0">
                          <a:effectLst/>
                        </a:rPr>
                        <a:t>에 따라 지정된 기간</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⑥ </a:t>
                      </a:r>
                      <a:r>
                        <a:rPr lang="en-US" altLang="ko-KR" sz="1200" b="1" kern="0" spc="-80" dirty="0">
                          <a:solidFill>
                            <a:schemeClr val="accent1"/>
                          </a:solidFill>
                          <a:effectLst/>
                        </a:rPr>
                        <a:t>(</a:t>
                      </a:r>
                      <a:r>
                        <a:rPr lang="ko-KR" altLang="en-US" sz="1200" b="1" kern="0" spc="-80" dirty="0" err="1">
                          <a:solidFill>
                            <a:schemeClr val="accent1"/>
                          </a:solidFill>
                          <a:effectLst/>
                        </a:rPr>
                        <a:t>특허출원하였을</a:t>
                      </a:r>
                      <a:r>
                        <a:rPr lang="ko-KR" altLang="en-US" sz="1200" b="1" kern="0" spc="-80" dirty="0">
                          <a:solidFill>
                            <a:schemeClr val="accent1"/>
                          </a:solidFill>
                          <a:effectLst/>
                        </a:rPr>
                        <a:t> 때 특허를 받을 수 있을 것의 판단</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4</a:t>
                      </a:r>
                      <a:r>
                        <a:rPr lang="ko-KR" altLang="en-US" sz="1200" kern="0" spc="-80" dirty="0">
                          <a:effectLst/>
                        </a:rPr>
                        <a:t>항을 적용할 때 제</a:t>
                      </a:r>
                      <a:r>
                        <a:rPr lang="en-US" altLang="ko-KR" sz="1200" kern="0" spc="-80" dirty="0">
                          <a:effectLst/>
                        </a:rPr>
                        <a:t>133</a:t>
                      </a:r>
                      <a:r>
                        <a:rPr lang="ko-KR" altLang="en-US" sz="1200" kern="0" spc="-80" dirty="0">
                          <a:effectLst/>
                        </a:rPr>
                        <a:t>조제</a:t>
                      </a:r>
                      <a:r>
                        <a:rPr lang="en-US" altLang="ko-KR" sz="1200" kern="0" spc="-80" dirty="0">
                          <a:effectLst/>
                        </a:rPr>
                        <a:t>1</a:t>
                      </a:r>
                      <a:r>
                        <a:rPr lang="ko-KR" altLang="en-US" sz="1200" kern="0" spc="-80" dirty="0">
                          <a:effectLst/>
                        </a:rPr>
                        <a:t>항에 따른 특허무효심판이 청구된 </a:t>
                      </a:r>
                      <a:r>
                        <a:rPr lang="ko-KR" altLang="en-US" sz="1200" kern="0" spc="-80" dirty="0" err="1">
                          <a:effectLst/>
                        </a:rPr>
                        <a:t>청구항을</a:t>
                      </a:r>
                      <a:r>
                        <a:rPr lang="ko-KR" altLang="en-US" sz="1200" kern="0" spc="-80" dirty="0">
                          <a:effectLst/>
                        </a:rPr>
                        <a:t> 정정하는 경우에는 제</a:t>
                      </a:r>
                      <a:r>
                        <a:rPr lang="en-US" altLang="ko-KR" sz="1200" kern="0" spc="-80" dirty="0">
                          <a:effectLst/>
                        </a:rPr>
                        <a:t>136</a:t>
                      </a:r>
                      <a:r>
                        <a:rPr lang="ko-KR" altLang="en-US" sz="1200" kern="0" spc="-80" dirty="0">
                          <a:effectLst/>
                        </a:rPr>
                        <a:t>조제</a:t>
                      </a:r>
                      <a:r>
                        <a:rPr lang="en-US" altLang="ko-KR" sz="1200" kern="0" spc="-80" dirty="0">
                          <a:effectLst/>
                        </a:rPr>
                        <a:t>5</a:t>
                      </a:r>
                      <a:r>
                        <a:rPr lang="ko-KR" altLang="en-US" sz="1200" kern="0" spc="-80" dirty="0">
                          <a:effectLst/>
                        </a:rPr>
                        <a:t>항을 준용하지 아니한다</a:t>
                      </a:r>
                      <a:r>
                        <a:rPr lang="en-US" altLang="ko-KR" sz="1200" kern="0" spc="-80" dirty="0">
                          <a:effectLst/>
                        </a:rPr>
                        <a:t>. </a:t>
                      </a:r>
                    </a:p>
                  </a:txBody>
                  <a:tcPr marL="72000" marR="72000" marT="8067" marB="8067"/>
                </a:tc>
                <a:extLst>
                  <a:ext uri="{0D108BD9-81ED-4DB2-BD59-A6C34878D82A}">
                    <a16:rowId xmlns:a16="http://schemas.microsoft.com/office/drawing/2014/main" val="1743411643"/>
                  </a:ext>
                </a:extLst>
              </a:tr>
            </a:tbl>
          </a:graphicData>
        </a:graphic>
      </p:graphicFrame>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501</a:t>
            </a:r>
            <a:endParaRPr lang="ko-KR" altLang="en-US" dirty="0"/>
          </a:p>
        </p:txBody>
      </p:sp>
    </p:spTree>
    <p:extLst>
      <p:ext uri="{BB962C8B-B14F-4D97-AF65-F5344CB8AC3E}">
        <p14:creationId xmlns:p14="http://schemas.microsoft.com/office/powerpoint/2010/main" val="3295464335"/>
      </p:ext>
    </p:extLst>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132</a:t>
            </a:r>
            <a:r>
              <a:rPr lang="ko-KR" altLang="en-US" dirty="0"/>
              <a:t>조의</a:t>
            </a:r>
            <a:r>
              <a:rPr lang="en-US" altLang="ko-KR" dirty="0"/>
              <a:t>2~</a:t>
            </a:r>
            <a:br>
              <a:rPr lang="en-US" altLang="ko-KR" dirty="0"/>
            </a:br>
            <a:r>
              <a:rPr lang="ko-KR" altLang="en-US" dirty="0"/>
              <a:t>제</a:t>
            </a:r>
            <a:r>
              <a:rPr lang="en-US" altLang="ko-KR" dirty="0"/>
              <a:t>132</a:t>
            </a:r>
            <a:r>
              <a:rPr lang="ko-KR" altLang="en-US" dirty="0"/>
              <a:t>조의</a:t>
            </a:r>
            <a:r>
              <a:rPr lang="en-US" altLang="ko-KR" dirty="0"/>
              <a:t>15</a:t>
            </a:r>
            <a:endParaRPr lang="ko-KR" altLang="en-US" dirty="0"/>
          </a:p>
        </p:txBody>
      </p:sp>
      <p:sp>
        <p:nvSpPr>
          <p:cNvPr id="4" name="텍스트 개체 틀 3"/>
          <p:cNvSpPr>
            <a:spLocks noGrp="1"/>
          </p:cNvSpPr>
          <p:nvPr>
            <p:ph type="body" sz="quarter" idx="13"/>
          </p:nvPr>
        </p:nvSpPr>
        <p:spPr/>
        <p:txBody>
          <a:bodyPr/>
          <a:lstStyle/>
          <a:p>
            <a:r>
              <a:rPr lang="ko-KR" altLang="en-US" dirty="0"/>
              <a:t>특허취소신청과</a:t>
            </a:r>
            <a:r>
              <a:rPr lang="en-US" altLang="ko-KR" dirty="0"/>
              <a:t> </a:t>
            </a:r>
            <a:r>
              <a:rPr lang="ko-KR" altLang="en-US" dirty="0"/>
              <a:t>특허무효심판의 법조문 비교</a:t>
            </a:r>
          </a:p>
        </p:txBody>
      </p:sp>
      <p:graphicFrame>
        <p:nvGraphicFramePr>
          <p:cNvPr id="2" name="표 1"/>
          <p:cNvGraphicFramePr>
            <a:graphicFrameLocks noGrp="1"/>
          </p:cNvGraphicFramePr>
          <p:nvPr/>
        </p:nvGraphicFramePr>
        <p:xfrm>
          <a:off x="317501" y="1036281"/>
          <a:ext cx="11569700" cy="4833059"/>
        </p:xfrm>
        <a:graphic>
          <a:graphicData uri="http://schemas.openxmlformats.org/drawingml/2006/table">
            <a:tbl>
              <a:tblPr>
                <a:tableStyleId>{8799B23B-EC83-4686-B30A-512413B5E67A}</a:tableStyleId>
              </a:tblPr>
              <a:tblGrid>
                <a:gridCol w="5619035">
                  <a:extLst>
                    <a:ext uri="{9D8B030D-6E8A-4147-A177-3AD203B41FA5}">
                      <a16:colId xmlns:a16="http://schemas.microsoft.com/office/drawing/2014/main" val="4122316602"/>
                    </a:ext>
                  </a:extLst>
                </a:gridCol>
                <a:gridCol w="5950665">
                  <a:extLst>
                    <a:ext uri="{9D8B030D-6E8A-4147-A177-3AD203B41FA5}">
                      <a16:colId xmlns:a16="http://schemas.microsoft.com/office/drawing/2014/main" val="3501181814"/>
                    </a:ext>
                  </a:extLst>
                </a:gridCol>
              </a:tblGrid>
              <a:tr h="82038">
                <a:tc>
                  <a:txBody>
                    <a:bodyPr/>
                    <a:lstStyle/>
                    <a:p>
                      <a:pPr marL="0" marR="0" indent="0" algn="ctr" fontAlgn="base" latinLnBrk="0">
                        <a:lnSpc>
                          <a:spcPct val="120000"/>
                        </a:lnSpc>
                        <a:spcBef>
                          <a:spcPts val="0"/>
                        </a:spcBef>
                        <a:spcAft>
                          <a:spcPts val="0"/>
                        </a:spcAft>
                      </a:pPr>
                      <a:r>
                        <a:rPr lang="ko-KR" altLang="en-US" sz="1200" kern="0" spc="-100" dirty="0">
                          <a:effectLst/>
                        </a:rPr>
                        <a:t>특허취소신청</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0" spc="-100" dirty="0">
                          <a:effectLst/>
                        </a:rPr>
                        <a:t>특허무효심판</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extLst>
                  <a:ext uri="{0D108BD9-81ED-4DB2-BD59-A6C34878D82A}">
                    <a16:rowId xmlns:a16="http://schemas.microsoft.com/office/drawing/2014/main" val="2907354057"/>
                  </a:ext>
                </a:extLst>
              </a:tr>
              <a:tr h="1795570">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4【</a:t>
                      </a:r>
                      <a:r>
                        <a:rPr lang="ko-KR" altLang="en-US" sz="1200" kern="0" spc="-80" dirty="0">
                          <a:effectLst/>
                        </a:rPr>
                        <a:t>특허취소신청의 방식 등</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취소신청서의 제출</a:t>
                      </a:r>
                      <a:r>
                        <a:rPr lang="en-US" altLang="ko-KR" sz="1200" b="1" kern="0" spc="-80" dirty="0">
                          <a:solidFill>
                            <a:schemeClr val="accent1"/>
                          </a:solidFill>
                          <a:effectLst/>
                        </a:rPr>
                        <a:t>) </a:t>
                      </a:r>
                      <a:r>
                        <a:rPr lang="ko-KR" altLang="en-US" sz="1200" kern="0" spc="-80" dirty="0">
                          <a:effectLst/>
                        </a:rPr>
                        <a:t>특허취소신청을 하려는 자는 다음 각 호의 사항을 적은 특허취소신청서를 특허심판원장에게 제출하여야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1. </a:t>
                      </a:r>
                      <a:r>
                        <a:rPr lang="ko-KR" altLang="en-US" sz="1200" u="sng" kern="0" spc="-80" dirty="0">
                          <a:effectLst/>
                        </a:rPr>
                        <a:t>신청인</a:t>
                      </a:r>
                      <a:r>
                        <a:rPr lang="ko-KR" altLang="en-US" sz="1200" kern="0" spc="-80" dirty="0">
                          <a:effectLst/>
                        </a:rPr>
                        <a:t>의 성명 및 주소</a:t>
                      </a:r>
                      <a:r>
                        <a:rPr lang="en-US" altLang="ko-KR" sz="1200" kern="0" spc="-80" dirty="0">
                          <a:effectLst/>
                        </a:rPr>
                        <a:t>(</a:t>
                      </a:r>
                      <a:r>
                        <a:rPr lang="ko-KR" altLang="en-US" sz="1200" kern="0" spc="-80" dirty="0">
                          <a:effectLst/>
                        </a:rPr>
                        <a:t>법인인 경우에는 그 명칭 및 영업소의 소재지</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2. </a:t>
                      </a:r>
                      <a:r>
                        <a:rPr lang="ko-KR" altLang="en-US" sz="1200" kern="0" spc="-80" dirty="0">
                          <a:effectLst/>
                        </a:rPr>
                        <a:t>대리인이 있는 경우에는 그 대리인의 성명 및 주소나 영업소의 소재지</a:t>
                      </a:r>
                      <a:r>
                        <a:rPr lang="en-US" altLang="ko-KR" sz="1200" kern="0" spc="-80" dirty="0">
                          <a:effectLst/>
                        </a:rPr>
                        <a:t>[</a:t>
                      </a:r>
                      <a:r>
                        <a:rPr lang="ko-KR" altLang="en-US" sz="1200" kern="0" spc="-80" dirty="0">
                          <a:effectLst/>
                        </a:rPr>
                        <a:t>대리인이 </a:t>
                      </a:r>
                      <a:r>
                        <a:rPr lang="ko-KR" altLang="en-US" sz="1200" kern="0" spc="-80" dirty="0" err="1">
                          <a:effectLst/>
                        </a:rPr>
                        <a:t>특허법인ㆍ특허법인</a:t>
                      </a:r>
                      <a:r>
                        <a:rPr lang="en-US" altLang="ko-KR" sz="1200" kern="0" spc="-80" dirty="0">
                          <a:effectLst/>
                        </a:rPr>
                        <a:t>(</a:t>
                      </a:r>
                      <a:r>
                        <a:rPr lang="ko-KR" altLang="en-US" sz="1200" kern="0" spc="-80" dirty="0">
                          <a:effectLst/>
                        </a:rPr>
                        <a:t>유한</a:t>
                      </a:r>
                      <a:r>
                        <a:rPr lang="en-US" altLang="ko-KR" sz="1200" kern="0" spc="-80" dirty="0">
                          <a:effectLst/>
                        </a:rPr>
                        <a:t>)</a:t>
                      </a:r>
                      <a:r>
                        <a:rPr lang="ko-KR" altLang="en-US" sz="1200" kern="0" spc="-80" dirty="0">
                          <a:effectLst/>
                        </a:rPr>
                        <a:t>인 경우에는 그 명칭</a:t>
                      </a:r>
                      <a:r>
                        <a:rPr lang="en-US" altLang="ko-KR" sz="1200" kern="0" spc="-80" dirty="0">
                          <a:effectLst/>
                        </a:rPr>
                        <a:t>, </a:t>
                      </a:r>
                      <a:r>
                        <a:rPr lang="ko-KR" altLang="en-US" sz="1200" kern="0" spc="-80" dirty="0">
                          <a:effectLst/>
                        </a:rPr>
                        <a:t>사무소의 소재지 및 지정된 변리사의 성명</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3. </a:t>
                      </a:r>
                      <a:r>
                        <a:rPr lang="ko-KR" altLang="en-US" sz="1200" kern="0" spc="-80" dirty="0">
                          <a:effectLst/>
                        </a:rPr>
                        <a:t>특허취소신청의 대상이 되는 특허의 표시</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4. </a:t>
                      </a:r>
                      <a:r>
                        <a:rPr lang="ko-KR" altLang="en-US" sz="1200" kern="0" spc="-80" dirty="0">
                          <a:effectLst/>
                        </a:rPr>
                        <a:t>특허취소신청의 이유 및 증거의 표시</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취소신청서의 보정</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항에 따라 제출된 특허취소신청서의 보정은 그 요지를 변경할 수 없다</a:t>
                      </a:r>
                      <a:r>
                        <a:rPr lang="en-US" altLang="ko-KR" sz="1200" kern="0" spc="-80" dirty="0">
                          <a:effectLst/>
                        </a:rPr>
                        <a:t>. </a:t>
                      </a:r>
                      <a:r>
                        <a:rPr lang="ko-KR" altLang="en-US" sz="1200" kern="0" spc="-80" dirty="0">
                          <a:effectLst/>
                        </a:rPr>
                        <a:t>다만</a:t>
                      </a:r>
                      <a:r>
                        <a:rPr lang="en-US" altLang="ko-KR" sz="1200" kern="0" spc="-80" dirty="0">
                          <a:effectLst/>
                        </a:rPr>
                        <a:t>, </a:t>
                      </a: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2</a:t>
                      </a:r>
                      <a:r>
                        <a:rPr lang="ko-KR" altLang="en-US" sz="1200" kern="0" spc="-80" dirty="0">
                          <a:effectLst/>
                        </a:rPr>
                        <a:t>제</a:t>
                      </a:r>
                      <a:r>
                        <a:rPr lang="en-US" altLang="ko-KR" sz="1200" kern="0" spc="-80" dirty="0">
                          <a:effectLst/>
                        </a:rPr>
                        <a:t>1</a:t>
                      </a:r>
                      <a:r>
                        <a:rPr lang="ko-KR" altLang="en-US" sz="1200" kern="0" spc="-80" dirty="0">
                          <a:effectLst/>
                        </a:rPr>
                        <a:t>항에 따른 기간</a:t>
                      </a:r>
                      <a:r>
                        <a:rPr lang="en-US" altLang="ko-KR" sz="1200" kern="0" spc="-80" dirty="0">
                          <a:effectLst/>
                        </a:rPr>
                        <a:t>(</a:t>
                      </a:r>
                      <a:r>
                        <a:rPr lang="ko-KR" altLang="en-US" sz="1200" kern="0" spc="-80" dirty="0">
                          <a:effectLst/>
                        </a:rPr>
                        <a:t>그 기간 중 제</a:t>
                      </a:r>
                      <a:r>
                        <a:rPr lang="en-US" altLang="ko-KR" sz="1200" kern="0" spc="-80" dirty="0">
                          <a:effectLst/>
                        </a:rPr>
                        <a:t>132</a:t>
                      </a:r>
                      <a:r>
                        <a:rPr lang="ko-KR" altLang="en-US" sz="1200" kern="0" spc="-80" dirty="0">
                          <a:effectLst/>
                        </a:rPr>
                        <a:t>조의</a:t>
                      </a:r>
                      <a:r>
                        <a:rPr lang="en-US" altLang="ko-KR" sz="1200" kern="0" spc="-80" dirty="0">
                          <a:effectLst/>
                        </a:rPr>
                        <a:t>13</a:t>
                      </a:r>
                      <a:r>
                        <a:rPr lang="ko-KR" altLang="en-US" sz="1200" kern="0" spc="-80" dirty="0">
                          <a:effectLst/>
                        </a:rPr>
                        <a:t>제</a:t>
                      </a:r>
                      <a:r>
                        <a:rPr lang="en-US" altLang="ko-KR" sz="1200" kern="0" spc="-80" dirty="0">
                          <a:effectLst/>
                        </a:rPr>
                        <a:t>2</a:t>
                      </a:r>
                      <a:r>
                        <a:rPr lang="ko-KR" altLang="en-US" sz="1200" kern="0" spc="-80" dirty="0">
                          <a:effectLst/>
                        </a:rPr>
                        <a:t>항</a:t>
                      </a:r>
                      <a:r>
                        <a:rPr lang="en-US" altLang="ko-KR" sz="1200" kern="0" spc="-80" dirty="0">
                          <a:solidFill>
                            <a:srgbClr val="FF0000"/>
                          </a:solidFill>
                          <a:effectLst/>
                        </a:rPr>
                        <a:t>[</a:t>
                      </a:r>
                      <a:r>
                        <a:rPr lang="ko-KR" altLang="en-US" sz="1200" kern="0" spc="-80" dirty="0" err="1">
                          <a:solidFill>
                            <a:srgbClr val="FF0000"/>
                          </a:solidFill>
                          <a:effectLst/>
                        </a:rPr>
                        <a:t>특허취소결정하려고</a:t>
                      </a:r>
                      <a:r>
                        <a:rPr lang="ko-KR" altLang="en-US" sz="1200" kern="0" spc="-80" dirty="0">
                          <a:solidFill>
                            <a:srgbClr val="FF0000"/>
                          </a:solidFill>
                          <a:effectLst/>
                        </a:rPr>
                        <a:t> 특허의 </a:t>
                      </a:r>
                      <a:r>
                        <a:rPr lang="ko-KR" altLang="en-US" sz="1200" kern="0" spc="-80" dirty="0" err="1">
                          <a:solidFill>
                            <a:srgbClr val="FF0000"/>
                          </a:solidFill>
                          <a:effectLst/>
                        </a:rPr>
                        <a:t>취소이유를</a:t>
                      </a:r>
                      <a:r>
                        <a:rPr lang="ko-KR" altLang="en-US" sz="1200" kern="0" spc="-80" dirty="0">
                          <a:solidFill>
                            <a:srgbClr val="FF0000"/>
                          </a:solidFill>
                          <a:effectLst/>
                        </a:rPr>
                        <a:t> 통지하고 의견서 </a:t>
                      </a:r>
                      <a:r>
                        <a:rPr lang="ko-KR" altLang="en-US" sz="1200" kern="0" spc="-80" dirty="0" err="1">
                          <a:solidFill>
                            <a:srgbClr val="FF0000"/>
                          </a:solidFill>
                          <a:effectLst/>
                        </a:rPr>
                        <a:t>제출기회</a:t>
                      </a:r>
                      <a:r>
                        <a:rPr lang="ko-KR" altLang="en-US" sz="1200" kern="0" spc="-80" dirty="0">
                          <a:solidFill>
                            <a:srgbClr val="FF0000"/>
                          </a:solidFill>
                          <a:effectLst/>
                        </a:rPr>
                        <a:t> 부여</a:t>
                      </a:r>
                      <a:r>
                        <a:rPr lang="en-US" altLang="ko-KR" sz="1200" kern="0" spc="-80" dirty="0">
                          <a:solidFill>
                            <a:srgbClr val="FF0000"/>
                          </a:solidFill>
                          <a:effectLst/>
                        </a:rPr>
                        <a:t>]</a:t>
                      </a:r>
                      <a:r>
                        <a:rPr lang="ko-KR" altLang="en-US" sz="1200" kern="0" spc="-80" dirty="0">
                          <a:effectLst/>
                        </a:rPr>
                        <a:t>에 따른 통지가 있는 경우에는 통지한 때까지로 한정한다</a:t>
                      </a:r>
                      <a:r>
                        <a:rPr lang="en-US" altLang="ko-KR" sz="1200" kern="0" spc="-80" dirty="0">
                          <a:effectLst/>
                        </a:rPr>
                        <a:t>)</a:t>
                      </a:r>
                      <a:r>
                        <a:rPr lang="ko-KR" altLang="en-US" sz="1200" kern="0" spc="-80" dirty="0">
                          <a:effectLst/>
                        </a:rPr>
                        <a:t>에 제</a:t>
                      </a:r>
                      <a:r>
                        <a:rPr lang="en-US" altLang="ko-KR" sz="1200" kern="0" spc="-80" dirty="0">
                          <a:effectLst/>
                        </a:rPr>
                        <a:t>1</a:t>
                      </a:r>
                      <a:r>
                        <a:rPr lang="ko-KR" altLang="en-US" sz="1200" kern="0" spc="-80" dirty="0" err="1">
                          <a:effectLst/>
                        </a:rPr>
                        <a:t>항제</a:t>
                      </a:r>
                      <a:r>
                        <a:rPr lang="en-US" altLang="ko-KR" sz="1200" kern="0" spc="-80" dirty="0">
                          <a:effectLst/>
                        </a:rPr>
                        <a:t>4</a:t>
                      </a:r>
                      <a:r>
                        <a:rPr lang="ko-KR" altLang="en-US" sz="1200" kern="0" spc="-80" dirty="0">
                          <a:effectLst/>
                        </a:rPr>
                        <a:t>호의 사항을 보정하는 경우에는 그러하지 아니하다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③ </a:t>
                      </a:r>
                      <a:r>
                        <a:rPr lang="en-US" altLang="ko-KR" sz="1200" b="1" kern="0" spc="-80" dirty="0">
                          <a:solidFill>
                            <a:schemeClr val="accent1"/>
                          </a:solidFill>
                          <a:effectLst/>
                        </a:rPr>
                        <a:t>(</a:t>
                      </a:r>
                      <a:r>
                        <a:rPr lang="ko-KR" altLang="en-US" sz="1200" b="1" kern="0" spc="-80" dirty="0">
                          <a:solidFill>
                            <a:schemeClr val="accent1"/>
                          </a:solidFill>
                          <a:effectLst/>
                        </a:rPr>
                        <a:t>부본 송달</a:t>
                      </a:r>
                      <a:r>
                        <a:rPr lang="en-US" altLang="ko-KR" sz="1200" b="1" kern="0" spc="-80" dirty="0">
                          <a:solidFill>
                            <a:schemeClr val="accent1"/>
                          </a:solidFill>
                          <a:effectLst/>
                        </a:rPr>
                        <a:t>) </a:t>
                      </a:r>
                      <a:r>
                        <a:rPr lang="ko-KR" altLang="en-US" sz="1200" kern="0" spc="-80" dirty="0">
                          <a:effectLst/>
                        </a:rPr>
                        <a:t>심판장은 특허취소신청이 있으면 그 신청서의 부본을 특허권자에게 송달하여야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④</a:t>
                      </a:r>
                      <a:r>
                        <a:rPr lang="en-US" altLang="ko-KR" sz="1200" b="1" kern="0" spc="-80" dirty="0">
                          <a:solidFill>
                            <a:schemeClr val="accent1"/>
                          </a:solidFill>
                          <a:effectLst/>
                        </a:rPr>
                        <a:t> (</a:t>
                      </a:r>
                      <a:r>
                        <a:rPr lang="ko-KR" altLang="en-US" sz="1200" b="1" kern="0" spc="-80" dirty="0">
                          <a:solidFill>
                            <a:schemeClr val="accent1"/>
                          </a:solidFill>
                          <a:effectLst/>
                        </a:rPr>
                        <a:t>통지</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심판장은 특허취소신청이 있으면 그 사실을 해당 특허권의 전용실시권자나 그 밖에 그 특허에 관하여 등록을 한 권리를 가지는 자에게 알려야 한다</a:t>
                      </a:r>
                      <a:r>
                        <a:rPr lang="en-US" altLang="ko-KR" sz="1200" kern="0" spc="-80" dirty="0">
                          <a:effectLst/>
                        </a:rPr>
                        <a:t>.</a:t>
                      </a:r>
                    </a:p>
                  </a:txBody>
                  <a:tcPr marL="72000" marR="72000" marT="8067" marB="8067"/>
                </a:tc>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140</a:t>
                      </a:r>
                      <a:r>
                        <a:rPr lang="ko-KR" altLang="en-US" sz="1200" kern="0" spc="-80" dirty="0">
                          <a:effectLst/>
                        </a:rPr>
                        <a:t>조</a:t>
                      </a:r>
                      <a:r>
                        <a:rPr lang="en-US" altLang="ko-KR" sz="1200" kern="0" spc="-80" dirty="0">
                          <a:effectLst/>
                        </a:rPr>
                        <a:t>【</a:t>
                      </a:r>
                      <a:r>
                        <a:rPr lang="ko-KR" altLang="en-US" sz="1200" kern="0" spc="-80" dirty="0">
                          <a:effectLst/>
                        </a:rPr>
                        <a:t>심판청구방식</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심판청구서의 제출</a:t>
                      </a:r>
                      <a:r>
                        <a:rPr lang="en-US" altLang="ko-KR" sz="1200" b="1" kern="0" spc="-80" dirty="0">
                          <a:solidFill>
                            <a:schemeClr val="accent1"/>
                          </a:solidFill>
                          <a:effectLst/>
                        </a:rPr>
                        <a:t>) </a:t>
                      </a:r>
                      <a:r>
                        <a:rPr lang="ko-KR" altLang="en-US" sz="1200" kern="0" spc="-80" dirty="0">
                          <a:effectLst/>
                        </a:rPr>
                        <a:t>심판을 청구하려는 자는 다음 각 호의 사항을 적은 심판청구서를 특허심판원장에게 제출하여야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1. </a:t>
                      </a:r>
                      <a:r>
                        <a:rPr lang="ko-KR" altLang="en-US" sz="1200" kern="0" spc="-80" dirty="0">
                          <a:effectLst/>
                        </a:rPr>
                        <a:t>당사자의 성명 및 주소</a:t>
                      </a:r>
                      <a:r>
                        <a:rPr lang="en-US" altLang="ko-KR" sz="1200" kern="0" spc="-80" dirty="0">
                          <a:effectLst/>
                        </a:rPr>
                        <a:t>(</a:t>
                      </a:r>
                      <a:r>
                        <a:rPr lang="ko-KR" altLang="en-US" sz="1200" kern="0" spc="-80" dirty="0">
                          <a:effectLst/>
                        </a:rPr>
                        <a:t>법인인 경우에는 그 명칭 및 영업소의 소재지</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2. </a:t>
                      </a:r>
                      <a:r>
                        <a:rPr lang="ko-KR" altLang="en-US" sz="1200" kern="0" spc="-80" dirty="0">
                          <a:effectLst/>
                        </a:rPr>
                        <a:t>대리인이 있는 경우에는 그 대리인의 성명 및 주소나 영업소의 소재지</a:t>
                      </a:r>
                      <a:r>
                        <a:rPr lang="en-US" altLang="ko-KR" sz="1200" kern="0" spc="-80" dirty="0">
                          <a:effectLst/>
                        </a:rPr>
                        <a:t>[</a:t>
                      </a:r>
                      <a:r>
                        <a:rPr lang="ko-KR" altLang="en-US" sz="1200" kern="0" spc="-80" dirty="0">
                          <a:effectLst/>
                        </a:rPr>
                        <a:t>대리인이 특허법인</a:t>
                      </a:r>
                      <a:r>
                        <a:rPr lang="en-US" altLang="ko-KR" sz="1200" kern="0" spc="-80" dirty="0">
                          <a:effectLst/>
                        </a:rPr>
                        <a:t>·</a:t>
                      </a:r>
                      <a:r>
                        <a:rPr lang="ko-KR" altLang="en-US" sz="1200" kern="0" spc="-80" dirty="0">
                          <a:effectLst/>
                        </a:rPr>
                        <a:t>특허법인</a:t>
                      </a:r>
                      <a:r>
                        <a:rPr lang="en-US" altLang="ko-KR" sz="1200" kern="0" spc="-80" dirty="0">
                          <a:effectLst/>
                        </a:rPr>
                        <a:t>(</a:t>
                      </a:r>
                      <a:r>
                        <a:rPr lang="ko-KR" altLang="en-US" sz="1200" kern="0" spc="-80" dirty="0">
                          <a:effectLst/>
                        </a:rPr>
                        <a:t>유한</a:t>
                      </a:r>
                      <a:r>
                        <a:rPr lang="en-US" altLang="ko-KR" sz="1200" kern="0" spc="-80" dirty="0">
                          <a:effectLst/>
                        </a:rPr>
                        <a:t>)</a:t>
                      </a:r>
                      <a:r>
                        <a:rPr lang="ko-KR" altLang="en-US" sz="1200" kern="0" spc="-80" dirty="0">
                          <a:effectLst/>
                        </a:rPr>
                        <a:t>인 경우에는 그 명칭</a:t>
                      </a:r>
                      <a:r>
                        <a:rPr lang="en-US" altLang="ko-KR" sz="1200" kern="0" spc="-80" dirty="0">
                          <a:effectLst/>
                        </a:rPr>
                        <a:t>, </a:t>
                      </a:r>
                      <a:r>
                        <a:rPr lang="ko-KR" altLang="en-US" sz="1200" kern="0" spc="-80" dirty="0">
                          <a:effectLst/>
                        </a:rPr>
                        <a:t>사무소의 소재지 및 지정된 변리사의 성명</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3. </a:t>
                      </a:r>
                      <a:r>
                        <a:rPr lang="ko-KR" altLang="en-US" sz="1200" kern="0" spc="-80" dirty="0" err="1">
                          <a:effectLst/>
                        </a:rPr>
                        <a:t>심판사건의</a:t>
                      </a:r>
                      <a:r>
                        <a:rPr lang="ko-KR" altLang="en-US" sz="1200" kern="0" spc="-80" dirty="0">
                          <a:effectLst/>
                        </a:rPr>
                        <a:t> 표시</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4. </a:t>
                      </a:r>
                      <a:r>
                        <a:rPr lang="ko-KR" altLang="en-US" sz="1200" kern="0" spc="-80" dirty="0">
                          <a:effectLst/>
                        </a:rPr>
                        <a:t>청구의 취지 및 그 이유</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②</a:t>
                      </a:r>
                      <a:r>
                        <a:rPr lang="ko-KR" altLang="en-US" sz="1200" b="1" kern="0" spc="-80" dirty="0">
                          <a:solidFill>
                            <a:schemeClr val="accent1"/>
                          </a:solidFill>
                          <a:effectLst/>
                        </a:rPr>
                        <a:t> </a:t>
                      </a:r>
                      <a:r>
                        <a:rPr lang="en-US" altLang="ko-KR" sz="1200" b="1" kern="0" spc="-80" dirty="0">
                          <a:solidFill>
                            <a:schemeClr val="accent1"/>
                          </a:solidFill>
                          <a:effectLst/>
                        </a:rPr>
                        <a:t>(</a:t>
                      </a:r>
                      <a:r>
                        <a:rPr lang="ko-KR" altLang="en-US" sz="1200" b="1" kern="0" spc="-80" dirty="0">
                          <a:solidFill>
                            <a:schemeClr val="accent1"/>
                          </a:solidFill>
                          <a:effectLst/>
                        </a:rPr>
                        <a:t>심판청구서의 보정</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제</a:t>
                      </a:r>
                      <a:r>
                        <a:rPr lang="en-US" altLang="ko-KR" sz="1200" kern="0" spc="-80" dirty="0">
                          <a:effectLst/>
                        </a:rPr>
                        <a:t>1</a:t>
                      </a:r>
                      <a:r>
                        <a:rPr lang="ko-KR" altLang="en-US" sz="1200" kern="0" spc="-80" dirty="0">
                          <a:effectLst/>
                        </a:rPr>
                        <a:t>항에 따라 제출된 심판청구서의 보정은 그 요지를 변경할 수 없다</a:t>
                      </a:r>
                      <a:r>
                        <a:rPr lang="en-US" altLang="ko-KR" sz="1200" kern="0" spc="-80" dirty="0">
                          <a:effectLst/>
                        </a:rPr>
                        <a:t>. </a:t>
                      </a:r>
                      <a:r>
                        <a:rPr lang="ko-KR" altLang="en-US" sz="1200" kern="0" spc="-80" dirty="0">
                          <a:effectLst/>
                        </a:rPr>
                        <a:t>다만</a:t>
                      </a:r>
                      <a:r>
                        <a:rPr lang="en-US" altLang="ko-KR" sz="1200" kern="0" spc="-80" dirty="0">
                          <a:effectLst/>
                        </a:rPr>
                        <a:t>, </a:t>
                      </a:r>
                      <a:r>
                        <a:rPr lang="ko-KR" altLang="en-US" sz="1200" kern="0" spc="-80" dirty="0">
                          <a:effectLst/>
                        </a:rPr>
                        <a:t>다음 각 호의 어느 하나에 해당하는 경우에는 그러하지 아니하다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1. </a:t>
                      </a:r>
                      <a:r>
                        <a:rPr lang="ko-KR" altLang="en-US" sz="1200" kern="0" spc="-80" dirty="0">
                          <a:effectLst/>
                        </a:rPr>
                        <a:t>제</a:t>
                      </a:r>
                      <a:r>
                        <a:rPr lang="en-US" altLang="ko-KR" sz="1200" kern="0" spc="-80" dirty="0">
                          <a:effectLst/>
                        </a:rPr>
                        <a:t>1</a:t>
                      </a:r>
                      <a:r>
                        <a:rPr lang="ko-KR" altLang="en-US" sz="1200" kern="0" spc="-80" dirty="0" err="1">
                          <a:effectLst/>
                        </a:rPr>
                        <a:t>항제</a:t>
                      </a:r>
                      <a:r>
                        <a:rPr lang="en-US" altLang="ko-KR" sz="1200" kern="0" spc="-80" dirty="0">
                          <a:effectLst/>
                        </a:rPr>
                        <a:t>1</a:t>
                      </a:r>
                      <a:r>
                        <a:rPr lang="ko-KR" altLang="en-US" sz="1200" kern="0" spc="-80" dirty="0">
                          <a:effectLst/>
                        </a:rPr>
                        <a:t>호에 따른 당사자 중 특허권자의 기재를 바로잡기 위하여 보정</a:t>
                      </a:r>
                      <a:r>
                        <a:rPr lang="en-US" altLang="ko-KR" sz="1200" kern="0" spc="-80" dirty="0">
                          <a:effectLst/>
                        </a:rPr>
                        <a:t>(</a:t>
                      </a:r>
                      <a:r>
                        <a:rPr lang="ko-KR" altLang="en-US" sz="1200" kern="0" spc="-80" dirty="0" err="1">
                          <a:effectLst/>
                        </a:rPr>
                        <a:t>특허권자를</a:t>
                      </a:r>
                      <a:r>
                        <a:rPr lang="ko-KR" altLang="en-US" sz="1200" kern="0" spc="-80" dirty="0">
                          <a:effectLst/>
                        </a:rPr>
                        <a:t> 추가하는 것을 포함하되</a:t>
                      </a:r>
                      <a:r>
                        <a:rPr lang="en-US" altLang="ko-KR" sz="1200" kern="0" spc="-80" dirty="0">
                          <a:effectLst/>
                        </a:rPr>
                        <a:t>, </a:t>
                      </a:r>
                      <a:r>
                        <a:rPr lang="ko-KR" altLang="en-US" sz="1200" kern="0" spc="-80" dirty="0">
                          <a:effectLst/>
                        </a:rPr>
                        <a:t>청구인이 특허권자인 경우에는 추가되는 특허권자의 동의가 있는 경우로 한정한다</a:t>
                      </a:r>
                      <a:r>
                        <a:rPr lang="en-US" altLang="ko-KR" sz="1200" kern="0" spc="-80" dirty="0">
                          <a:effectLst/>
                        </a:rPr>
                        <a:t>)</a:t>
                      </a:r>
                      <a:r>
                        <a:rPr lang="ko-KR" altLang="en-US" sz="1200" kern="0" spc="-80" dirty="0">
                          <a:effectLst/>
                        </a:rPr>
                        <a:t>하는 경우</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2. </a:t>
                      </a:r>
                      <a:r>
                        <a:rPr lang="ko-KR" altLang="en-US" sz="1200" kern="0" spc="-80" dirty="0">
                          <a:effectLst/>
                        </a:rPr>
                        <a:t>제</a:t>
                      </a:r>
                      <a:r>
                        <a:rPr lang="en-US" altLang="ko-KR" sz="1200" kern="0" spc="-80" dirty="0">
                          <a:effectLst/>
                        </a:rPr>
                        <a:t>1</a:t>
                      </a:r>
                      <a:r>
                        <a:rPr lang="ko-KR" altLang="en-US" sz="1200" kern="0" spc="-80" dirty="0" err="1">
                          <a:effectLst/>
                        </a:rPr>
                        <a:t>항제</a:t>
                      </a:r>
                      <a:r>
                        <a:rPr lang="en-US" altLang="ko-KR" sz="1200" kern="0" spc="-80" dirty="0">
                          <a:effectLst/>
                        </a:rPr>
                        <a:t>4</a:t>
                      </a:r>
                      <a:r>
                        <a:rPr lang="ko-KR" altLang="en-US" sz="1200" kern="0" spc="-80" dirty="0">
                          <a:effectLst/>
                        </a:rPr>
                        <a:t>호에 따른 청구의 이유를 보정하는 경우</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3. </a:t>
                      </a:r>
                      <a:r>
                        <a:rPr lang="ko-KR" altLang="en-US" sz="1200" kern="0" spc="-80" dirty="0">
                          <a:effectLst/>
                        </a:rPr>
                        <a:t>생략</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147</a:t>
                      </a:r>
                      <a:r>
                        <a:rPr lang="ko-KR" altLang="en-US" sz="1200" kern="0" spc="-80" dirty="0">
                          <a:effectLst/>
                        </a:rPr>
                        <a:t>조</a:t>
                      </a:r>
                      <a:r>
                        <a:rPr lang="en-US" altLang="ko-KR" sz="1200" kern="0" spc="-80" dirty="0">
                          <a:effectLst/>
                        </a:rPr>
                        <a:t>【</a:t>
                      </a:r>
                      <a:r>
                        <a:rPr lang="ko-KR" altLang="en-US" sz="1200" kern="0" spc="-80" dirty="0">
                          <a:effectLst/>
                        </a:rPr>
                        <a:t>답변서 제출 등</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부본 송달 및 답변서 </a:t>
                      </a:r>
                      <a:r>
                        <a:rPr lang="ko-KR" altLang="en-US" sz="1200" b="1" kern="0" spc="-80" dirty="0" err="1">
                          <a:solidFill>
                            <a:schemeClr val="accent1"/>
                          </a:solidFill>
                          <a:effectLst/>
                        </a:rPr>
                        <a:t>제출기회의</a:t>
                      </a:r>
                      <a:r>
                        <a:rPr lang="ko-KR" altLang="en-US" sz="1200" b="1" kern="0" spc="-80" dirty="0">
                          <a:solidFill>
                            <a:schemeClr val="accent1"/>
                          </a:solidFill>
                          <a:effectLst/>
                        </a:rPr>
                        <a:t> 부여</a:t>
                      </a:r>
                      <a:r>
                        <a:rPr lang="en-US" altLang="ko-KR" sz="1200" b="1" kern="0" spc="-80" dirty="0">
                          <a:solidFill>
                            <a:schemeClr val="accent1"/>
                          </a:solidFill>
                          <a:effectLst/>
                        </a:rPr>
                        <a:t>) </a:t>
                      </a:r>
                      <a:r>
                        <a:rPr lang="ko-KR" altLang="en-US" sz="1200" kern="0" spc="-80" dirty="0">
                          <a:effectLst/>
                        </a:rPr>
                        <a:t>심판장은 심판이 청구되면 </a:t>
                      </a:r>
                      <a:r>
                        <a:rPr lang="ko-KR" altLang="en-US" sz="1200" kern="0" spc="-80" dirty="0" err="1">
                          <a:effectLst/>
                        </a:rPr>
                        <a:t>심판청구서</a:t>
                      </a:r>
                      <a:r>
                        <a:rPr lang="ko-KR" altLang="en-US" sz="1200" kern="0" spc="-80" dirty="0">
                          <a:effectLst/>
                        </a:rPr>
                        <a:t> 부본을 피청구인에게 송달하고</a:t>
                      </a:r>
                      <a:r>
                        <a:rPr lang="en-US" altLang="ko-KR" sz="1200" kern="0" spc="-80" dirty="0">
                          <a:effectLst/>
                        </a:rPr>
                        <a:t>, </a:t>
                      </a:r>
                      <a:r>
                        <a:rPr lang="ko-KR" altLang="en-US" sz="1200" kern="0" spc="-80" dirty="0">
                          <a:effectLst/>
                        </a:rPr>
                        <a:t>기간을 정하여 답변서를 제출할 수 있는 기회를 주어야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 (</a:t>
                      </a:r>
                      <a:r>
                        <a:rPr lang="ko-KR" altLang="en-US" sz="1200" kern="0" spc="-80" dirty="0">
                          <a:effectLst/>
                        </a:rPr>
                        <a:t>답변서 부본 송달</a:t>
                      </a:r>
                      <a:r>
                        <a:rPr lang="en-US" altLang="ko-KR" sz="1200" kern="0" spc="-80" dirty="0">
                          <a:effectLst/>
                        </a:rPr>
                        <a:t>) </a:t>
                      </a:r>
                      <a:r>
                        <a:rPr lang="ko-KR" altLang="en-US" sz="1200" kern="0" spc="-80" dirty="0">
                          <a:effectLst/>
                        </a:rPr>
                        <a:t>심판장은 제</a:t>
                      </a:r>
                      <a:r>
                        <a:rPr lang="en-US" altLang="ko-KR" sz="1200" kern="0" spc="-80" dirty="0">
                          <a:effectLst/>
                        </a:rPr>
                        <a:t>1</a:t>
                      </a:r>
                      <a:r>
                        <a:rPr lang="ko-KR" altLang="en-US" sz="1200" kern="0" spc="-80" dirty="0">
                          <a:effectLst/>
                        </a:rPr>
                        <a:t>항의 답변서를 받았을 때에는 그 부본을 청구인에게 송달하여야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133</a:t>
                      </a:r>
                      <a:r>
                        <a:rPr lang="ko-KR" altLang="en-US" sz="1200" kern="0" spc="-80" dirty="0">
                          <a:effectLst/>
                        </a:rPr>
                        <a:t>조</a:t>
                      </a:r>
                      <a:r>
                        <a:rPr lang="en-US" altLang="ko-KR" sz="1200" kern="0" spc="-80" dirty="0">
                          <a:effectLst/>
                        </a:rPr>
                        <a:t>【</a:t>
                      </a:r>
                      <a:r>
                        <a:rPr lang="ko-KR" altLang="en-US" sz="1200" kern="0" spc="-80" dirty="0">
                          <a:effectLst/>
                        </a:rPr>
                        <a:t>특허의 무효심판</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b="1" kern="0" spc="-80" dirty="0">
                          <a:solidFill>
                            <a:schemeClr val="accent1"/>
                          </a:solidFill>
                          <a:effectLst/>
                        </a:rPr>
                        <a:t>④ </a:t>
                      </a:r>
                      <a:r>
                        <a:rPr lang="en-US" altLang="ko-KR" sz="1200" b="1" kern="0" spc="-80" dirty="0">
                          <a:solidFill>
                            <a:schemeClr val="accent1"/>
                          </a:solidFill>
                          <a:effectLst/>
                        </a:rPr>
                        <a:t>(</a:t>
                      </a:r>
                      <a:r>
                        <a:rPr lang="ko-KR" altLang="en-US" sz="1200" b="1" kern="0" spc="-80" dirty="0">
                          <a:solidFill>
                            <a:schemeClr val="accent1"/>
                          </a:solidFill>
                          <a:effectLst/>
                        </a:rPr>
                        <a:t>통지</a:t>
                      </a:r>
                      <a:r>
                        <a:rPr lang="en-US" altLang="ko-KR" sz="1200" b="1" kern="0" spc="-80" dirty="0">
                          <a:solidFill>
                            <a:schemeClr val="accent1"/>
                          </a:solidFill>
                          <a:effectLst/>
                        </a:rPr>
                        <a:t>) </a:t>
                      </a:r>
                      <a:r>
                        <a:rPr lang="ko-KR" altLang="en-US" sz="1200" kern="0" spc="-80" dirty="0">
                          <a:effectLst/>
                        </a:rPr>
                        <a:t>심판장은 제</a:t>
                      </a:r>
                      <a:r>
                        <a:rPr lang="en-US" altLang="ko-KR" sz="1200" kern="0" spc="-80" dirty="0">
                          <a:effectLst/>
                        </a:rPr>
                        <a:t>1</a:t>
                      </a:r>
                      <a:r>
                        <a:rPr lang="ko-KR" altLang="en-US" sz="1200" kern="0" spc="-80" dirty="0">
                          <a:effectLst/>
                        </a:rPr>
                        <a:t>항에 따른 심판이 청구된 경우에는 그 취지를 해당 특허권의 전용실시권자나 그 밖에 특허에 관하여 등록을 한 권리를 가지는 자에게 알려야 한다</a:t>
                      </a:r>
                      <a:r>
                        <a:rPr lang="en-US" altLang="ko-KR" sz="1200" kern="0" spc="-80" dirty="0">
                          <a:effectLst/>
                        </a:rPr>
                        <a:t>.</a:t>
                      </a:r>
                    </a:p>
                  </a:txBody>
                  <a:tcPr marL="72000" marR="72000" marT="8067" marB="8067"/>
                </a:tc>
                <a:extLst>
                  <a:ext uri="{0D108BD9-81ED-4DB2-BD59-A6C34878D82A}">
                    <a16:rowId xmlns:a16="http://schemas.microsoft.com/office/drawing/2014/main" val="1743411643"/>
                  </a:ext>
                </a:extLst>
              </a:tr>
            </a:tbl>
          </a:graphicData>
        </a:graphic>
      </p:graphicFrame>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502</a:t>
            </a:r>
            <a:endParaRPr lang="ko-KR" altLang="en-US" dirty="0"/>
          </a:p>
        </p:txBody>
      </p:sp>
    </p:spTree>
    <p:extLst>
      <p:ext uri="{BB962C8B-B14F-4D97-AF65-F5344CB8AC3E}">
        <p14:creationId xmlns:p14="http://schemas.microsoft.com/office/powerpoint/2010/main" val="2397645365"/>
      </p:ext>
    </p:extLst>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132</a:t>
            </a:r>
            <a:r>
              <a:rPr lang="ko-KR" altLang="en-US" dirty="0"/>
              <a:t>조의</a:t>
            </a:r>
            <a:r>
              <a:rPr lang="en-US" altLang="ko-KR" dirty="0"/>
              <a:t>2~</a:t>
            </a:r>
            <a:br>
              <a:rPr lang="en-US" altLang="ko-KR" dirty="0"/>
            </a:br>
            <a:r>
              <a:rPr lang="ko-KR" altLang="en-US" dirty="0"/>
              <a:t>제</a:t>
            </a:r>
            <a:r>
              <a:rPr lang="en-US" altLang="ko-KR" dirty="0"/>
              <a:t>132</a:t>
            </a:r>
            <a:r>
              <a:rPr lang="ko-KR" altLang="en-US" dirty="0"/>
              <a:t>조의</a:t>
            </a:r>
            <a:r>
              <a:rPr lang="en-US" altLang="ko-KR" dirty="0"/>
              <a:t>15</a:t>
            </a:r>
            <a:endParaRPr lang="ko-KR" altLang="en-US" dirty="0"/>
          </a:p>
        </p:txBody>
      </p:sp>
      <p:sp>
        <p:nvSpPr>
          <p:cNvPr id="4" name="텍스트 개체 틀 3"/>
          <p:cNvSpPr>
            <a:spLocks noGrp="1"/>
          </p:cNvSpPr>
          <p:nvPr>
            <p:ph type="body" sz="quarter" idx="13"/>
          </p:nvPr>
        </p:nvSpPr>
        <p:spPr/>
        <p:txBody>
          <a:bodyPr/>
          <a:lstStyle/>
          <a:p>
            <a:r>
              <a:rPr lang="ko-KR" altLang="en-US" dirty="0"/>
              <a:t>특허취소신청과</a:t>
            </a:r>
            <a:r>
              <a:rPr lang="en-US" altLang="ko-KR" dirty="0"/>
              <a:t> </a:t>
            </a:r>
            <a:r>
              <a:rPr lang="ko-KR" altLang="en-US" dirty="0"/>
              <a:t>특허무효심판의 법조문 비교</a:t>
            </a:r>
          </a:p>
        </p:txBody>
      </p:sp>
      <p:graphicFrame>
        <p:nvGraphicFramePr>
          <p:cNvPr id="2" name="표 1"/>
          <p:cNvGraphicFramePr>
            <a:graphicFrameLocks noGrp="1"/>
          </p:cNvGraphicFramePr>
          <p:nvPr/>
        </p:nvGraphicFramePr>
        <p:xfrm>
          <a:off x="317501" y="1036281"/>
          <a:ext cx="11569700" cy="5052515"/>
        </p:xfrm>
        <a:graphic>
          <a:graphicData uri="http://schemas.openxmlformats.org/drawingml/2006/table">
            <a:tbl>
              <a:tblPr>
                <a:tableStyleId>{8799B23B-EC83-4686-B30A-512413B5E67A}</a:tableStyleId>
              </a:tblPr>
              <a:tblGrid>
                <a:gridCol w="5619035">
                  <a:extLst>
                    <a:ext uri="{9D8B030D-6E8A-4147-A177-3AD203B41FA5}">
                      <a16:colId xmlns:a16="http://schemas.microsoft.com/office/drawing/2014/main" val="4122316602"/>
                    </a:ext>
                  </a:extLst>
                </a:gridCol>
                <a:gridCol w="5950665">
                  <a:extLst>
                    <a:ext uri="{9D8B030D-6E8A-4147-A177-3AD203B41FA5}">
                      <a16:colId xmlns:a16="http://schemas.microsoft.com/office/drawing/2014/main" val="3501181814"/>
                    </a:ext>
                  </a:extLst>
                </a:gridCol>
              </a:tblGrid>
              <a:tr h="182907">
                <a:tc>
                  <a:txBody>
                    <a:bodyPr/>
                    <a:lstStyle/>
                    <a:p>
                      <a:pPr marL="0" marR="0" indent="0" algn="ctr" fontAlgn="base" latinLnBrk="0">
                        <a:lnSpc>
                          <a:spcPct val="120000"/>
                        </a:lnSpc>
                        <a:spcBef>
                          <a:spcPts val="0"/>
                        </a:spcBef>
                        <a:spcAft>
                          <a:spcPts val="0"/>
                        </a:spcAft>
                      </a:pPr>
                      <a:r>
                        <a:rPr lang="ko-KR" altLang="en-US" sz="1200" kern="0" spc="-100" dirty="0">
                          <a:effectLst/>
                        </a:rPr>
                        <a:t>특허취소신청</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0" spc="-100" dirty="0">
                          <a:effectLst/>
                        </a:rPr>
                        <a:t>특허무효심판</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extLst>
                  <a:ext uri="{0D108BD9-81ED-4DB2-BD59-A6C34878D82A}">
                    <a16:rowId xmlns:a16="http://schemas.microsoft.com/office/drawing/2014/main" val="2907354057"/>
                  </a:ext>
                </a:extLst>
              </a:tr>
              <a:tr h="2057096">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5【</a:t>
                      </a:r>
                      <a:r>
                        <a:rPr lang="ko-KR" altLang="en-US" sz="1200" kern="0" spc="-80" dirty="0">
                          <a:effectLst/>
                        </a:rPr>
                        <a:t>특허취소신청서 등의 </a:t>
                      </a:r>
                      <a:r>
                        <a:rPr lang="ko-KR" altLang="en-US" sz="1200" kern="0" spc="-80" dirty="0" err="1">
                          <a:effectLst/>
                        </a:rPr>
                        <a:t>보정ㆍ각하</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대상</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심판장은 다음 각 호의 어느 하나에 해당하는 경우에는 기간을 정하여 그 보정을 명하여야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1. </a:t>
                      </a:r>
                      <a:r>
                        <a:rPr lang="ko-KR" altLang="en-US" sz="1200" kern="0" spc="-80" dirty="0">
                          <a:effectLst/>
                        </a:rPr>
                        <a:t>특허취소신청서가 제</a:t>
                      </a:r>
                      <a:r>
                        <a:rPr lang="en-US" altLang="ko-KR" sz="1200" kern="0" spc="-80" dirty="0">
                          <a:effectLst/>
                        </a:rPr>
                        <a:t>132</a:t>
                      </a:r>
                      <a:r>
                        <a:rPr lang="ko-KR" altLang="en-US" sz="1200" kern="0" spc="-80" dirty="0">
                          <a:effectLst/>
                        </a:rPr>
                        <a:t>조의</a:t>
                      </a:r>
                      <a:r>
                        <a:rPr lang="en-US" altLang="ko-KR" sz="1200" kern="0" spc="-80" dirty="0">
                          <a:effectLst/>
                        </a:rPr>
                        <a:t>4</a:t>
                      </a:r>
                      <a:r>
                        <a:rPr lang="ko-KR" altLang="en-US" sz="1200" kern="0" spc="-80" dirty="0">
                          <a:effectLst/>
                        </a:rPr>
                        <a:t>제</a:t>
                      </a:r>
                      <a:r>
                        <a:rPr lang="en-US" altLang="ko-KR" sz="1200" kern="0" spc="-80" dirty="0">
                          <a:effectLst/>
                        </a:rPr>
                        <a:t>1</a:t>
                      </a:r>
                      <a:r>
                        <a:rPr lang="ko-KR" altLang="en-US" sz="1200" kern="0" spc="-80" dirty="0">
                          <a:effectLst/>
                        </a:rPr>
                        <a:t>항</a:t>
                      </a:r>
                      <a:r>
                        <a:rPr lang="en-US" altLang="ko-KR" sz="1200" u="sng" kern="0" spc="-80" dirty="0">
                          <a:effectLst/>
                        </a:rPr>
                        <a:t>(</a:t>
                      </a:r>
                      <a:r>
                        <a:rPr lang="ko-KR" altLang="en-US" sz="1200" u="sng" kern="0" spc="-80" dirty="0">
                          <a:effectLst/>
                        </a:rPr>
                        <a:t>같은 항 제</a:t>
                      </a:r>
                      <a:r>
                        <a:rPr lang="en-US" altLang="ko-KR" sz="1200" u="sng" kern="0" spc="-80" dirty="0">
                          <a:effectLst/>
                        </a:rPr>
                        <a:t>4</a:t>
                      </a:r>
                      <a:r>
                        <a:rPr lang="ko-KR" altLang="en-US" sz="1200" u="sng" kern="0" spc="-80" dirty="0">
                          <a:effectLst/>
                        </a:rPr>
                        <a:t>호는 제외한다</a:t>
                      </a:r>
                      <a:r>
                        <a:rPr lang="en-US" altLang="ko-KR" sz="1200" u="sng" kern="0" spc="-80" dirty="0">
                          <a:effectLst/>
                        </a:rPr>
                        <a:t>)</a:t>
                      </a:r>
                      <a:r>
                        <a:rPr lang="ko-KR" altLang="en-US" sz="1200" kern="0" spc="-80" dirty="0">
                          <a:effectLst/>
                        </a:rPr>
                        <a:t>을 위반한 경우</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2. </a:t>
                      </a:r>
                      <a:r>
                        <a:rPr lang="ko-KR" altLang="en-US" sz="1200" kern="0" spc="-80" dirty="0">
                          <a:effectLst/>
                        </a:rPr>
                        <a:t>특허취소신청에 관한 절차가 다음 각 목의 어느 하나에 해당하는 경우</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가</a:t>
                      </a:r>
                      <a:r>
                        <a:rPr lang="en-US" altLang="ko-KR" sz="1200" kern="0" spc="-80" dirty="0">
                          <a:effectLst/>
                        </a:rPr>
                        <a:t>. </a:t>
                      </a:r>
                      <a:r>
                        <a:rPr lang="ko-KR" altLang="en-US" sz="1200" kern="0" spc="-80" dirty="0">
                          <a:effectLst/>
                        </a:rPr>
                        <a:t>제</a:t>
                      </a:r>
                      <a:r>
                        <a:rPr lang="en-US" altLang="ko-KR" sz="1200" kern="0" spc="-80" dirty="0">
                          <a:effectLst/>
                        </a:rPr>
                        <a:t>3</a:t>
                      </a:r>
                      <a:r>
                        <a:rPr lang="ko-KR" altLang="en-US" sz="1200" kern="0" spc="-80" dirty="0">
                          <a:effectLst/>
                        </a:rPr>
                        <a:t>조제</a:t>
                      </a:r>
                      <a:r>
                        <a:rPr lang="en-US" altLang="ko-KR" sz="1200" kern="0" spc="-80" dirty="0">
                          <a:effectLst/>
                        </a:rPr>
                        <a:t>1</a:t>
                      </a:r>
                      <a:r>
                        <a:rPr lang="ko-KR" altLang="en-US" sz="1200" kern="0" spc="-80" dirty="0">
                          <a:effectLst/>
                        </a:rPr>
                        <a:t>항 또는 제</a:t>
                      </a:r>
                      <a:r>
                        <a:rPr lang="en-US" altLang="ko-KR" sz="1200" kern="0" spc="-80" dirty="0">
                          <a:effectLst/>
                        </a:rPr>
                        <a:t>6</a:t>
                      </a:r>
                      <a:r>
                        <a:rPr lang="ko-KR" altLang="en-US" sz="1200" kern="0" spc="-80" dirty="0">
                          <a:effectLst/>
                        </a:rPr>
                        <a:t>조를 위반한 경우</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나</a:t>
                      </a:r>
                      <a:r>
                        <a:rPr lang="en-US" altLang="ko-KR" sz="1200" kern="0" spc="-80" dirty="0">
                          <a:effectLst/>
                        </a:rPr>
                        <a:t>. </a:t>
                      </a:r>
                      <a:r>
                        <a:rPr lang="ko-KR" altLang="en-US" sz="1200" kern="0" spc="-80" dirty="0">
                          <a:effectLst/>
                        </a:rPr>
                        <a:t>이 법 또는 이 법에 따른 명령으로 정하는 방식을 위반한 경우</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다</a:t>
                      </a:r>
                      <a:r>
                        <a:rPr lang="en-US" altLang="ko-KR" sz="1200" kern="0" spc="-80" dirty="0">
                          <a:effectLst/>
                        </a:rPr>
                        <a:t>. </a:t>
                      </a:r>
                      <a:r>
                        <a:rPr lang="ko-KR" altLang="en-US" sz="1200" kern="0" spc="-80" dirty="0">
                          <a:effectLst/>
                        </a:rPr>
                        <a:t>제</a:t>
                      </a:r>
                      <a:r>
                        <a:rPr lang="en-US" altLang="ko-KR" sz="1200" kern="0" spc="-80" dirty="0">
                          <a:effectLst/>
                        </a:rPr>
                        <a:t>82</a:t>
                      </a:r>
                      <a:r>
                        <a:rPr lang="ko-KR" altLang="en-US" sz="1200" kern="0" spc="-80" dirty="0">
                          <a:effectLst/>
                        </a:rPr>
                        <a:t>조에 따라 내야 할 수수료를 내지 아니한 경우</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② </a:t>
                      </a:r>
                      <a:r>
                        <a:rPr lang="en-US" altLang="ko-KR" sz="1200" b="1" kern="0" spc="-80" dirty="0">
                          <a:solidFill>
                            <a:schemeClr val="accent1"/>
                          </a:solidFill>
                          <a:effectLst/>
                        </a:rPr>
                        <a:t>(</a:t>
                      </a:r>
                      <a:r>
                        <a:rPr lang="ko-KR" altLang="en-US" sz="1200" b="1" kern="0" spc="-80" dirty="0" err="1">
                          <a:solidFill>
                            <a:schemeClr val="accent1"/>
                          </a:solidFill>
                          <a:effectLst/>
                        </a:rPr>
                        <a:t>각하결정</a:t>
                      </a:r>
                      <a:r>
                        <a:rPr lang="en-US" altLang="ko-KR" sz="1200" b="1" kern="0" spc="-80" dirty="0">
                          <a:solidFill>
                            <a:schemeClr val="accent1"/>
                          </a:solidFill>
                          <a:effectLst/>
                        </a:rPr>
                        <a:t>) </a:t>
                      </a:r>
                      <a:r>
                        <a:rPr lang="ko-KR" altLang="en-US" sz="1200" kern="0" spc="-80" dirty="0">
                          <a:effectLst/>
                        </a:rPr>
                        <a:t>심판장은 제</a:t>
                      </a:r>
                      <a:r>
                        <a:rPr lang="en-US" altLang="ko-KR" sz="1200" kern="0" spc="-80" dirty="0">
                          <a:effectLst/>
                        </a:rPr>
                        <a:t>1</a:t>
                      </a:r>
                      <a:r>
                        <a:rPr lang="ko-KR" altLang="en-US" sz="1200" kern="0" spc="-80" dirty="0">
                          <a:effectLst/>
                        </a:rPr>
                        <a:t>항에 따른 보정명령을 받은 자가 지정된 기간에 보정을 하지 아니하거나 보정한 사항이 제</a:t>
                      </a:r>
                      <a:r>
                        <a:rPr lang="en-US" altLang="ko-KR" sz="1200" kern="0" spc="-80" dirty="0">
                          <a:effectLst/>
                        </a:rPr>
                        <a:t>132</a:t>
                      </a:r>
                      <a:r>
                        <a:rPr lang="ko-KR" altLang="en-US" sz="1200" kern="0" spc="-80" dirty="0">
                          <a:effectLst/>
                        </a:rPr>
                        <a:t>조의</a:t>
                      </a:r>
                      <a:r>
                        <a:rPr lang="en-US" altLang="ko-KR" sz="1200" kern="0" spc="-80" dirty="0">
                          <a:effectLst/>
                        </a:rPr>
                        <a:t>4</a:t>
                      </a:r>
                      <a:r>
                        <a:rPr lang="ko-KR" altLang="en-US" sz="1200" kern="0" spc="-80" dirty="0">
                          <a:effectLst/>
                        </a:rPr>
                        <a:t>제</a:t>
                      </a:r>
                      <a:r>
                        <a:rPr lang="en-US" altLang="ko-KR" sz="1200" kern="0" spc="-80" dirty="0">
                          <a:effectLst/>
                        </a:rPr>
                        <a:t>2</a:t>
                      </a:r>
                      <a:r>
                        <a:rPr lang="ko-KR" altLang="en-US" sz="1200" kern="0" spc="-80" dirty="0">
                          <a:effectLst/>
                        </a:rPr>
                        <a:t>항을 위반한 경우에는 특허취소신청서 또는 해당 절차와 관련된 청구 또는 신청 등을 결정으로 각하하여야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③ </a:t>
                      </a:r>
                      <a:r>
                        <a:rPr lang="en-US" altLang="ko-KR" sz="1200" b="1" kern="0" spc="-80" dirty="0">
                          <a:solidFill>
                            <a:schemeClr val="accent1"/>
                          </a:solidFill>
                          <a:effectLst/>
                        </a:rPr>
                        <a:t>(</a:t>
                      </a:r>
                      <a:r>
                        <a:rPr lang="ko-KR" altLang="en-US" sz="1200" b="1" kern="0" spc="-80" dirty="0">
                          <a:solidFill>
                            <a:schemeClr val="accent1"/>
                          </a:solidFill>
                          <a:effectLst/>
                        </a:rPr>
                        <a:t>방식</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2</a:t>
                      </a:r>
                      <a:r>
                        <a:rPr lang="ko-KR" altLang="en-US" sz="1200" kern="0" spc="-80" dirty="0">
                          <a:effectLst/>
                        </a:rPr>
                        <a:t>항에 따른 </a:t>
                      </a:r>
                      <a:r>
                        <a:rPr lang="ko-KR" altLang="en-US" sz="1200" kern="0" spc="-80" dirty="0" err="1">
                          <a:effectLst/>
                        </a:rPr>
                        <a:t>각하결정은</a:t>
                      </a:r>
                      <a:r>
                        <a:rPr lang="ko-KR" altLang="en-US" sz="1200" kern="0" spc="-80" dirty="0">
                          <a:effectLst/>
                        </a:rPr>
                        <a:t> 서면으로 하여야 하며</a:t>
                      </a:r>
                      <a:r>
                        <a:rPr lang="en-US" altLang="ko-KR" sz="1200" kern="0" spc="-80" dirty="0">
                          <a:effectLst/>
                        </a:rPr>
                        <a:t>, </a:t>
                      </a:r>
                      <a:r>
                        <a:rPr lang="ko-KR" altLang="en-US" sz="1200" kern="0" spc="-80" dirty="0">
                          <a:effectLst/>
                        </a:rPr>
                        <a:t>그 이유를 붙여야 한다</a:t>
                      </a:r>
                      <a:r>
                        <a:rPr lang="en-US" altLang="ko-KR" sz="1200" kern="0" spc="-80" dirty="0">
                          <a:effectLst/>
                        </a:rPr>
                        <a:t>.</a:t>
                      </a:r>
                    </a:p>
                  </a:txBody>
                  <a:tcPr marL="72000" marR="72000" marT="8067" marB="8067"/>
                </a:tc>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141</a:t>
                      </a:r>
                      <a:r>
                        <a:rPr lang="ko-KR" altLang="en-US" sz="1200" kern="0" spc="-80" dirty="0">
                          <a:effectLst/>
                        </a:rPr>
                        <a:t>조</a:t>
                      </a:r>
                      <a:r>
                        <a:rPr lang="en-US" altLang="ko-KR" sz="1200" kern="0" spc="-80" dirty="0">
                          <a:effectLst/>
                        </a:rPr>
                        <a:t>【</a:t>
                      </a:r>
                      <a:r>
                        <a:rPr lang="ko-KR" altLang="en-US" sz="1200" kern="0" spc="-80" dirty="0" err="1">
                          <a:effectLst/>
                        </a:rPr>
                        <a:t>심판청구서</a:t>
                      </a:r>
                      <a:r>
                        <a:rPr lang="ko-KR" altLang="en-US" sz="1200" kern="0" spc="-80" dirty="0">
                          <a:effectLst/>
                        </a:rPr>
                        <a:t> 등의 각하</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대상</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심판장은 다음 각 호의 어느 하나에 해당하는 경우에는 기간을 정하여 그 보정을 명하여야 한다</a:t>
                      </a:r>
                      <a:r>
                        <a:rPr lang="en-US" altLang="ko-KR" sz="1200" kern="0" spc="-80" dirty="0">
                          <a:effectLst/>
                        </a:rPr>
                        <a:t>. </a:t>
                      </a:r>
                      <a:r>
                        <a:rPr lang="ko-KR" altLang="en-US" sz="1200" kern="0" spc="-80" dirty="0">
                          <a:effectLst/>
                        </a:rPr>
                        <a:t>다만</a:t>
                      </a:r>
                      <a:r>
                        <a:rPr lang="en-US" altLang="ko-KR" sz="1200" kern="0" spc="-80" dirty="0">
                          <a:effectLst/>
                        </a:rPr>
                        <a:t>, </a:t>
                      </a:r>
                      <a:r>
                        <a:rPr lang="ko-KR" altLang="en-US" sz="1200" kern="0" spc="-80" dirty="0">
                          <a:effectLst/>
                        </a:rPr>
                        <a:t>보정할 사항이 경미하고 명확한 경우에는 직권으로 보정할 수 있다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1. </a:t>
                      </a:r>
                      <a:r>
                        <a:rPr lang="ko-KR" altLang="en-US" sz="1200" kern="0" spc="-80" dirty="0">
                          <a:effectLst/>
                        </a:rPr>
                        <a:t>심판청구서가 제</a:t>
                      </a:r>
                      <a:r>
                        <a:rPr lang="en-US" altLang="ko-KR" sz="1200" kern="0" spc="-80" dirty="0">
                          <a:effectLst/>
                        </a:rPr>
                        <a:t>140</a:t>
                      </a:r>
                      <a:r>
                        <a:rPr lang="ko-KR" altLang="en-US" sz="1200" kern="0" spc="-80" dirty="0">
                          <a:effectLst/>
                        </a:rPr>
                        <a:t>조제</a:t>
                      </a:r>
                      <a:r>
                        <a:rPr lang="en-US" altLang="ko-KR" sz="1200" kern="0" spc="-80" dirty="0">
                          <a:effectLst/>
                        </a:rPr>
                        <a:t>1</a:t>
                      </a:r>
                      <a:r>
                        <a:rPr lang="ko-KR" altLang="en-US" sz="1200" kern="0" spc="-80" dirty="0">
                          <a:effectLst/>
                        </a:rPr>
                        <a:t>항 및 제</a:t>
                      </a:r>
                      <a:r>
                        <a:rPr lang="en-US" altLang="ko-KR" sz="1200" kern="0" spc="-80" dirty="0">
                          <a:effectLst/>
                        </a:rPr>
                        <a:t>3</a:t>
                      </a:r>
                      <a:r>
                        <a:rPr lang="ko-KR" altLang="en-US" sz="1200" kern="0" spc="-80" dirty="0">
                          <a:effectLst/>
                        </a:rPr>
                        <a:t>항부터 제</a:t>
                      </a:r>
                      <a:r>
                        <a:rPr lang="en-US" altLang="ko-KR" sz="1200" kern="0" spc="-80" dirty="0">
                          <a:effectLst/>
                        </a:rPr>
                        <a:t>5</a:t>
                      </a:r>
                      <a:r>
                        <a:rPr lang="ko-KR" altLang="en-US" sz="1200" kern="0" spc="-80" dirty="0">
                          <a:effectLst/>
                        </a:rPr>
                        <a:t>항까지 또는 제</a:t>
                      </a:r>
                      <a:r>
                        <a:rPr lang="en-US" altLang="ko-KR" sz="1200" kern="0" spc="-80" dirty="0">
                          <a:effectLst/>
                        </a:rPr>
                        <a:t>140</a:t>
                      </a:r>
                      <a:r>
                        <a:rPr lang="ko-KR" altLang="en-US" sz="1200" kern="0" spc="-80" dirty="0">
                          <a:effectLst/>
                        </a:rPr>
                        <a:t>조의</a:t>
                      </a:r>
                      <a:r>
                        <a:rPr lang="en-US" altLang="ko-KR" sz="1200" kern="0" spc="-80" dirty="0">
                          <a:effectLst/>
                        </a:rPr>
                        <a:t>2</a:t>
                      </a:r>
                      <a:r>
                        <a:rPr lang="ko-KR" altLang="en-US" sz="1200" kern="0" spc="-80" dirty="0">
                          <a:effectLst/>
                        </a:rPr>
                        <a:t>제</a:t>
                      </a:r>
                      <a:r>
                        <a:rPr lang="en-US" altLang="ko-KR" sz="1200" kern="0" spc="-80" dirty="0">
                          <a:effectLst/>
                        </a:rPr>
                        <a:t>1</a:t>
                      </a:r>
                      <a:r>
                        <a:rPr lang="ko-KR" altLang="en-US" sz="1200" kern="0" spc="-80" dirty="0">
                          <a:effectLst/>
                        </a:rPr>
                        <a:t>항</a:t>
                      </a:r>
                      <a:r>
                        <a:rPr lang="en-US" altLang="ko-KR" sz="1200" kern="0" spc="-80" dirty="0">
                          <a:effectLst/>
                        </a:rPr>
                        <a:t>[</a:t>
                      </a:r>
                      <a:r>
                        <a:rPr lang="ko-KR" altLang="en-US" sz="1200" kern="0" spc="-80" dirty="0" err="1">
                          <a:effectLst/>
                        </a:rPr>
                        <a:t>심판청구서</a:t>
                      </a:r>
                      <a:r>
                        <a:rPr lang="ko-KR" altLang="en-US" sz="1200" kern="0" spc="-80" dirty="0">
                          <a:effectLst/>
                        </a:rPr>
                        <a:t> 기재</a:t>
                      </a:r>
                      <a:r>
                        <a:rPr lang="en-US" altLang="ko-KR" sz="1200" kern="0" spc="-80" dirty="0">
                          <a:effectLst/>
                        </a:rPr>
                        <a:t>]</a:t>
                      </a:r>
                      <a:r>
                        <a:rPr lang="ko-KR" altLang="en-US" sz="1200" kern="0" spc="-80" dirty="0">
                          <a:effectLst/>
                        </a:rPr>
                        <a:t>을 위반한 경우</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2. </a:t>
                      </a:r>
                      <a:r>
                        <a:rPr lang="ko-KR" altLang="en-US" sz="1200" kern="0" spc="-80" dirty="0">
                          <a:effectLst/>
                        </a:rPr>
                        <a:t>심판에 관한 절차가 다음 각 목의 어느 하나에 해당하는 경우</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가</a:t>
                      </a:r>
                      <a:r>
                        <a:rPr lang="en-US" altLang="ko-KR" sz="1200" kern="0" spc="-80" dirty="0">
                          <a:effectLst/>
                        </a:rPr>
                        <a:t>. </a:t>
                      </a:r>
                      <a:r>
                        <a:rPr lang="ko-KR" altLang="en-US" sz="1200" kern="0" spc="-80" dirty="0">
                          <a:effectLst/>
                        </a:rPr>
                        <a:t>제</a:t>
                      </a:r>
                      <a:r>
                        <a:rPr lang="en-US" altLang="ko-KR" sz="1200" kern="0" spc="-80" dirty="0">
                          <a:effectLst/>
                        </a:rPr>
                        <a:t>3</a:t>
                      </a:r>
                      <a:r>
                        <a:rPr lang="ko-KR" altLang="en-US" sz="1200" kern="0" spc="-80" dirty="0">
                          <a:effectLst/>
                        </a:rPr>
                        <a:t>조제</a:t>
                      </a:r>
                      <a:r>
                        <a:rPr lang="en-US" altLang="ko-KR" sz="1200" kern="0" spc="-80" dirty="0">
                          <a:effectLst/>
                        </a:rPr>
                        <a:t>1</a:t>
                      </a:r>
                      <a:r>
                        <a:rPr lang="ko-KR" altLang="en-US" sz="1200" kern="0" spc="-80" dirty="0">
                          <a:effectLst/>
                        </a:rPr>
                        <a:t>항</a:t>
                      </a:r>
                      <a:r>
                        <a:rPr lang="en-US" altLang="ko-KR" sz="1200" kern="0" spc="-80" dirty="0">
                          <a:effectLst/>
                        </a:rPr>
                        <a:t>[</a:t>
                      </a:r>
                      <a:r>
                        <a:rPr lang="ko-KR" altLang="en-US" sz="1200" kern="0" spc="-80" dirty="0">
                          <a:effectLst/>
                        </a:rPr>
                        <a:t>미성년자 등의 행위능력</a:t>
                      </a:r>
                      <a:r>
                        <a:rPr lang="en-US" altLang="ko-KR" sz="1200" kern="0" spc="-80" dirty="0">
                          <a:effectLst/>
                        </a:rPr>
                        <a:t>] </a:t>
                      </a:r>
                      <a:r>
                        <a:rPr lang="ko-KR" altLang="en-US" sz="1200" kern="0" spc="-80" dirty="0">
                          <a:effectLst/>
                        </a:rPr>
                        <a:t>또는 제</a:t>
                      </a:r>
                      <a:r>
                        <a:rPr lang="en-US" altLang="ko-KR" sz="1200" kern="0" spc="-80" dirty="0">
                          <a:effectLst/>
                        </a:rPr>
                        <a:t>6</a:t>
                      </a:r>
                      <a:r>
                        <a:rPr lang="ko-KR" altLang="en-US" sz="1200" kern="0" spc="-80" dirty="0">
                          <a:effectLst/>
                        </a:rPr>
                        <a:t>조</a:t>
                      </a:r>
                      <a:r>
                        <a:rPr lang="en-US" altLang="ko-KR" sz="1200" kern="0" spc="-80" dirty="0">
                          <a:effectLst/>
                        </a:rPr>
                        <a:t>[</a:t>
                      </a:r>
                      <a:r>
                        <a:rPr lang="ko-KR" altLang="en-US" sz="1200" kern="0" spc="-80" dirty="0">
                          <a:effectLst/>
                        </a:rPr>
                        <a:t>대리권의 범위</a:t>
                      </a:r>
                      <a:r>
                        <a:rPr lang="en-US" altLang="ko-KR" sz="1200" kern="0" spc="-80" dirty="0">
                          <a:effectLst/>
                        </a:rPr>
                        <a:t>]</a:t>
                      </a:r>
                      <a:r>
                        <a:rPr lang="ko-KR" altLang="en-US" sz="1200" kern="0" spc="-80" dirty="0">
                          <a:effectLst/>
                        </a:rPr>
                        <a:t>를 위반한 경우</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나</a:t>
                      </a:r>
                      <a:r>
                        <a:rPr lang="en-US" altLang="ko-KR" sz="1200" kern="0" spc="-80" dirty="0">
                          <a:effectLst/>
                        </a:rPr>
                        <a:t>. </a:t>
                      </a:r>
                      <a:r>
                        <a:rPr lang="ko-KR" altLang="en-US" sz="1200" kern="0" spc="-80" dirty="0">
                          <a:effectLst/>
                        </a:rPr>
                        <a:t>제</a:t>
                      </a:r>
                      <a:r>
                        <a:rPr lang="en-US" altLang="ko-KR" sz="1200" kern="0" spc="-80" dirty="0">
                          <a:effectLst/>
                        </a:rPr>
                        <a:t>82</a:t>
                      </a:r>
                      <a:r>
                        <a:rPr lang="ko-KR" altLang="en-US" sz="1200" kern="0" spc="-80" dirty="0">
                          <a:effectLst/>
                        </a:rPr>
                        <a:t>조에 따라 내야 할 수수료를 내지 아니한 경우</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다</a:t>
                      </a:r>
                      <a:r>
                        <a:rPr lang="en-US" altLang="ko-KR" sz="1200" kern="0" spc="-80" dirty="0">
                          <a:effectLst/>
                        </a:rPr>
                        <a:t>. </a:t>
                      </a:r>
                      <a:r>
                        <a:rPr lang="ko-KR" altLang="en-US" sz="1200" kern="0" spc="-80" dirty="0">
                          <a:effectLst/>
                        </a:rPr>
                        <a:t>이 법 또는 이 법에 따른 명령으로 정하는 방식을 위반한 경우</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② </a:t>
                      </a:r>
                      <a:r>
                        <a:rPr lang="en-US" altLang="ko-KR" sz="1200" b="1" kern="0" spc="-80" dirty="0">
                          <a:solidFill>
                            <a:schemeClr val="accent1"/>
                          </a:solidFill>
                          <a:effectLst/>
                        </a:rPr>
                        <a:t>(</a:t>
                      </a:r>
                      <a:r>
                        <a:rPr lang="ko-KR" altLang="en-US" sz="1200" b="1" kern="0" spc="-80" dirty="0" err="1">
                          <a:solidFill>
                            <a:schemeClr val="accent1"/>
                          </a:solidFill>
                          <a:effectLst/>
                        </a:rPr>
                        <a:t>각하결정</a:t>
                      </a:r>
                      <a:r>
                        <a:rPr lang="en-US" altLang="ko-KR" sz="1200" b="1" kern="0" spc="-80" dirty="0">
                          <a:solidFill>
                            <a:schemeClr val="accent1"/>
                          </a:solidFill>
                          <a:effectLst/>
                        </a:rPr>
                        <a:t>) </a:t>
                      </a:r>
                      <a:r>
                        <a:rPr lang="ko-KR" altLang="en-US" sz="1200" kern="0" spc="-80" dirty="0">
                          <a:effectLst/>
                        </a:rPr>
                        <a:t>심판장은 제</a:t>
                      </a:r>
                      <a:r>
                        <a:rPr lang="en-US" altLang="ko-KR" sz="1200" kern="0" spc="-80" dirty="0">
                          <a:effectLst/>
                        </a:rPr>
                        <a:t>1</a:t>
                      </a:r>
                      <a:r>
                        <a:rPr lang="ko-KR" altLang="en-US" sz="1200" kern="0" spc="-80" dirty="0">
                          <a:effectLst/>
                        </a:rPr>
                        <a:t>항에 따른 보정명령을 받은 자가 지정된 기간에 보정을 하지 아니하거나 보정한 사항이 제</a:t>
                      </a:r>
                      <a:r>
                        <a:rPr lang="en-US" altLang="ko-KR" sz="1200" kern="0" spc="-80" dirty="0">
                          <a:effectLst/>
                        </a:rPr>
                        <a:t>140</a:t>
                      </a:r>
                      <a:r>
                        <a:rPr lang="ko-KR" altLang="en-US" sz="1200" kern="0" spc="-80" dirty="0">
                          <a:effectLst/>
                        </a:rPr>
                        <a:t>조제</a:t>
                      </a:r>
                      <a:r>
                        <a:rPr lang="en-US" altLang="ko-KR" sz="1200" kern="0" spc="-80" dirty="0">
                          <a:effectLst/>
                        </a:rPr>
                        <a:t>2</a:t>
                      </a:r>
                      <a:r>
                        <a:rPr lang="ko-KR" altLang="en-US" sz="1200" kern="0" spc="-80" dirty="0">
                          <a:effectLst/>
                        </a:rPr>
                        <a:t>항 또는 제</a:t>
                      </a:r>
                      <a:r>
                        <a:rPr lang="en-US" altLang="ko-KR" sz="1200" kern="0" spc="-80" dirty="0">
                          <a:effectLst/>
                        </a:rPr>
                        <a:t>140</a:t>
                      </a:r>
                      <a:r>
                        <a:rPr lang="ko-KR" altLang="en-US" sz="1200" kern="0" spc="-80" dirty="0">
                          <a:effectLst/>
                        </a:rPr>
                        <a:t>조의</a:t>
                      </a:r>
                      <a:r>
                        <a:rPr lang="en-US" altLang="ko-KR" sz="1200" kern="0" spc="-80" dirty="0">
                          <a:effectLst/>
                        </a:rPr>
                        <a:t>2</a:t>
                      </a:r>
                      <a:r>
                        <a:rPr lang="ko-KR" altLang="en-US" sz="1200" kern="0" spc="-80" dirty="0">
                          <a:effectLst/>
                        </a:rPr>
                        <a:t>제</a:t>
                      </a:r>
                      <a:r>
                        <a:rPr lang="en-US" altLang="ko-KR" sz="1200" kern="0" spc="-80" dirty="0">
                          <a:effectLst/>
                        </a:rPr>
                        <a:t>2</a:t>
                      </a:r>
                      <a:r>
                        <a:rPr lang="ko-KR" altLang="en-US" sz="1200" kern="0" spc="-80" dirty="0">
                          <a:effectLst/>
                        </a:rPr>
                        <a:t>항을 위반한 경우에는 </a:t>
                      </a:r>
                      <a:r>
                        <a:rPr lang="ko-KR" altLang="en-US" sz="1200" kern="0" spc="-80" dirty="0" err="1">
                          <a:effectLst/>
                        </a:rPr>
                        <a:t>심판청구서</a:t>
                      </a:r>
                      <a:r>
                        <a:rPr lang="ko-KR" altLang="en-US" sz="1200" kern="0" spc="-80" dirty="0">
                          <a:effectLst/>
                        </a:rPr>
                        <a:t> 또는 해당 절차와 관련된 청구나 신청 등을 결정으로 각하하여야 한다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③ </a:t>
                      </a:r>
                      <a:r>
                        <a:rPr lang="en-US" altLang="ko-KR" sz="1200" b="1" kern="0" spc="-80" dirty="0">
                          <a:solidFill>
                            <a:schemeClr val="accent1"/>
                          </a:solidFill>
                          <a:effectLst/>
                        </a:rPr>
                        <a:t>(</a:t>
                      </a:r>
                      <a:r>
                        <a:rPr lang="ko-KR" altLang="en-US" sz="1200" b="1" kern="0" spc="-80" dirty="0">
                          <a:solidFill>
                            <a:schemeClr val="accent1"/>
                          </a:solidFill>
                          <a:effectLst/>
                        </a:rPr>
                        <a:t>방식</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2</a:t>
                      </a:r>
                      <a:r>
                        <a:rPr lang="ko-KR" altLang="en-US" sz="1200" kern="0" spc="-80" dirty="0">
                          <a:effectLst/>
                        </a:rPr>
                        <a:t>항에 따른 결정은 서면으로 하여야 하며</a:t>
                      </a:r>
                      <a:r>
                        <a:rPr lang="en-US" altLang="ko-KR" sz="1200" kern="0" spc="-80" dirty="0">
                          <a:effectLst/>
                        </a:rPr>
                        <a:t>, </a:t>
                      </a:r>
                      <a:r>
                        <a:rPr lang="ko-KR" altLang="en-US" sz="1200" kern="0" spc="-80" dirty="0">
                          <a:effectLst/>
                        </a:rPr>
                        <a:t>그 이유를 붙여야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④ </a:t>
                      </a:r>
                      <a:r>
                        <a:rPr lang="en-US" altLang="ko-KR" sz="1200" b="1" kern="0" spc="-80" dirty="0">
                          <a:solidFill>
                            <a:schemeClr val="accent1"/>
                          </a:solidFill>
                          <a:effectLst/>
                        </a:rPr>
                        <a:t>(</a:t>
                      </a:r>
                      <a:r>
                        <a:rPr lang="ko-KR" altLang="en-US" sz="1200" b="1" kern="0" spc="-80" dirty="0">
                          <a:solidFill>
                            <a:schemeClr val="accent1"/>
                          </a:solidFill>
                          <a:effectLst/>
                        </a:rPr>
                        <a:t>직권보정의 절차</a:t>
                      </a:r>
                      <a:r>
                        <a:rPr lang="en-US" altLang="ko-KR" sz="1200" b="1" kern="0" spc="-80" dirty="0">
                          <a:solidFill>
                            <a:schemeClr val="accent1"/>
                          </a:solidFill>
                          <a:effectLst/>
                        </a:rPr>
                        <a:t>: </a:t>
                      </a:r>
                      <a:r>
                        <a:rPr lang="ko-KR" altLang="en-US" sz="1200" b="1" kern="0" spc="-80" dirty="0">
                          <a:solidFill>
                            <a:schemeClr val="accent1"/>
                          </a:solidFill>
                          <a:effectLst/>
                        </a:rPr>
                        <a:t>통지</a:t>
                      </a:r>
                      <a:r>
                        <a:rPr lang="en-US" altLang="ko-KR" sz="1200" b="1" kern="0" spc="-80" dirty="0">
                          <a:solidFill>
                            <a:schemeClr val="accent1"/>
                          </a:solidFill>
                          <a:effectLst/>
                        </a:rPr>
                        <a:t>) </a:t>
                      </a:r>
                      <a:r>
                        <a:rPr lang="ko-KR" altLang="en-US" sz="1200" kern="0" spc="-80" dirty="0">
                          <a:effectLst/>
                        </a:rPr>
                        <a:t>심판장은 제</a:t>
                      </a:r>
                      <a:r>
                        <a:rPr lang="en-US" altLang="ko-KR" sz="1200" kern="0" spc="-80" dirty="0">
                          <a:effectLst/>
                        </a:rPr>
                        <a:t>1</a:t>
                      </a:r>
                      <a:r>
                        <a:rPr lang="ko-KR" altLang="en-US" sz="1200" kern="0" spc="-80" dirty="0">
                          <a:effectLst/>
                        </a:rPr>
                        <a:t>항 단서에 따라 직권보정을 하려면 그 직권보정 사항을 청구인에게 통지하여야 한다</a:t>
                      </a: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⑤ </a:t>
                      </a:r>
                      <a:r>
                        <a:rPr lang="en-US" altLang="ko-KR" sz="1200" b="1" kern="0" spc="-80" dirty="0">
                          <a:solidFill>
                            <a:schemeClr val="accent1"/>
                          </a:solidFill>
                          <a:effectLst/>
                        </a:rPr>
                        <a:t>(</a:t>
                      </a:r>
                      <a:r>
                        <a:rPr lang="ko-KR" altLang="en-US" sz="1200" b="1" kern="0" spc="-80" dirty="0">
                          <a:solidFill>
                            <a:schemeClr val="accent1"/>
                          </a:solidFill>
                          <a:effectLst/>
                        </a:rPr>
                        <a:t>직권보정의 절차</a:t>
                      </a:r>
                      <a:r>
                        <a:rPr lang="en-US" altLang="ko-KR" sz="1200" b="1" kern="0" spc="-80" dirty="0">
                          <a:solidFill>
                            <a:schemeClr val="accent1"/>
                          </a:solidFill>
                          <a:effectLst/>
                        </a:rPr>
                        <a:t>: </a:t>
                      </a:r>
                      <a:r>
                        <a:rPr lang="ko-KR" altLang="en-US" sz="1200" b="1" kern="0" spc="-80" dirty="0">
                          <a:solidFill>
                            <a:schemeClr val="accent1"/>
                          </a:solidFill>
                          <a:effectLst/>
                        </a:rPr>
                        <a:t>의견서의 제출</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청구인은 제</a:t>
                      </a:r>
                      <a:r>
                        <a:rPr lang="en-US" altLang="ko-KR" sz="1200" kern="0" spc="-80" dirty="0">
                          <a:effectLst/>
                        </a:rPr>
                        <a:t>1</a:t>
                      </a:r>
                      <a:r>
                        <a:rPr lang="ko-KR" altLang="en-US" sz="1200" kern="0" spc="-80" dirty="0">
                          <a:effectLst/>
                        </a:rPr>
                        <a:t>항 단서에 따른 직권보정 사항을 받아들일 수 없으면 직권보정 사항의 통지를 받은 날부터 </a:t>
                      </a:r>
                      <a:r>
                        <a:rPr lang="en-US" altLang="ko-KR" sz="1200" kern="0" spc="-80" dirty="0">
                          <a:effectLst/>
                        </a:rPr>
                        <a:t>7</a:t>
                      </a:r>
                      <a:r>
                        <a:rPr lang="ko-KR" altLang="en-US" sz="1200" kern="0" spc="-80" dirty="0">
                          <a:effectLst/>
                        </a:rPr>
                        <a:t>일 이내에 그 직권보정 사항에 대한 의견서를 심판장에게 제출하여야 한다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⑥ </a:t>
                      </a:r>
                      <a:r>
                        <a:rPr lang="en-US" altLang="ko-KR" sz="1200" b="1" kern="0" spc="-80" dirty="0">
                          <a:solidFill>
                            <a:schemeClr val="accent1"/>
                          </a:solidFill>
                          <a:effectLst/>
                        </a:rPr>
                        <a:t>(</a:t>
                      </a:r>
                      <a:r>
                        <a:rPr lang="ko-KR" altLang="en-US" sz="1200" b="1" kern="0" spc="-80" dirty="0">
                          <a:solidFill>
                            <a:schemeClr val="accent1"/>
                          </a:solidFill>
                          <a:effectLst/>
                        </a:rPr>
                        <a:t>직권보정의 효과</a:t>
                      </a:r>
                      <a:r>
                        <a:rPr lang="en-US" altLang="ko-KR" sz="1200" b="1" kern="0" spc="-80" dirty="0">
                          <a:solidFill>
                            <a:schemeClr val="accent1"/>
                          </a:solidFill>
                          <a:effectLst/>
                        </a:rPr>
                        <a:t>: </a:t>
                      </a:r>
                      <a:r>
                        <a:rPr lang="ko-KR" altLang="en-US" sz="1200" b="1" kern="0" spc="-80" dirty="0">
                          <a:solidFill>
                            <a:schemeClr val="accent1"/>
                          </a:solidFill>
                          <a:effectLst/>
                        </a:rPr>
                        <a:t>의견서가 제출된 경우</a:t>
                      </a:r>
                      <a:r>
                        <a:rPr lang="en-US" altLang="ko-KR" sz="1200" b="1" kern="0" spc="-80" dirty="0">
                          <a:solidFill>
                            <a:schemeClr val="accent1"/>
                          </a:solidFill>
                          <a:effectLst/>
                        </a:rPr>
                        <a:t>) </a:t>
                      </a:r>
                      <a:r>
                        <a:rPr lang="ko-KR" altLang="en-US" sz="1200" kern="0" spc="-80" dirty="0">
                          <a:effectLst/>
                        </a:rPr>
                        <a:t>청구인이 제</a:t>
                      </a:r>
                      <a:r>
                        <a:rPr lang="en-US" altLang="ko-KR" sz="1200" kern="0" spc="-80" dirty="0">
                          <a:effectLst/>
                        </a:rPr>
                        <a:t>5</a:t>
                      </a:r>
                      <a:r>
                        <a:rPr lang="ko-KR" altLang="en-US" sz="1200" kern="0" spc="-80" dirty="0">
                          <a:effectLst/>
                        </a:rPr>
                        <a:t>항에 따라 의견서를 제출한 경우에는 해당 직권보정 사항은 처음부터 없었던 것으로 본다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b="0" kern="0" spc="-80" dirty="0">
                          <a:solidFill>
                            <a:schemeClr val="tx1"/>
                          </a:solidFill>
                          <a:effectLst/>
                        </a:rPr>
                        <a:t>⑦</a:t>
                      </a:r>
                      <a:r>
                        <a:rPr lang="en-US" altLang="ko-KR" sz="1200" b="1" kern="0" spc="-80" dirty="0">
                          <a:solidFill>
                            <a:schemeClr val="accent1"/>
                          </a:solidFill>
                          <a:effectLst/>
                        </a:rPr>
                        <a:t> (</a:t>
                      </a:r>
                      <a:r>
                        <a:rPr lang="ko-KR" altLang="en-US" sz="1200" b="1" kern="0" spc="-80" dirty="0">
                          <a:solidFill>
                            <a:schemeClr val="accent1"/>
                          </a:solidFill>
                          <a:effectLst/>
                        </a:rPr>
                        <a:t>직권보정의 효과</a:t>
                      </a:r>
                      <a:r>
                        <a:rPr lang="en-US" altLang="ko-KR" sz="1200" b="1" kern="0" spc="-80" dirty="0">
                          <a:solidFill>
                            <a:schemeClr val="accent1"/>
                          </a:solidFill>
                          <a:effectLst/>
                        </a:rPr>
                        <a:t>: </a:t>
                      </a:r>
                      <a:r>
                        <a:rPr lang="ko-KR" altLang="en-US" sz="1200" b="1" kern="0" spc="-80" dirty="0">
                          <a:solidFill>
                            <a:schemeClr val="accent1"/>
                          </a:solidFill>
                          <a:effectLst/>
                        </a:rPr>
                        <a:t>명백히 잘못된 경우</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 단서에 따른 직권보정이 명백히 잘못된 경우 그 직권보정은 처음부터 없었던 것으로 본다</a:t>
                      </a:r>
                      <a:r>
                        <a:rPr lang="en-US" altLang="ko-KR" sz="1200" kern="0" spc="-80" dirty="0">
                          <a:effectLst/>
                        </a:rPr>
                        <a:t>. </a:t>
                      </a:r>
                    </a:p>
                  </a:txBody>
                  <a:tcPr marL="72000" marR="72000" marT="8067" marB="8067"/>
                </a:tc>
                <a:extLst>
                  <a:ext uri="{0D108BD9-81ED-4DB2-BD59-A6C34878D82A}">
                    <a16:rowId xmlns:a16="http://schemas.microsoft.com/office/drawing/2014/main" val="1743411643"/>
                  </a:ext>
                </a:extLst>
              </a:tr>
            </a:tbl>
          </a:graphicData>
        </a:graphic>
      </p:graphicFrame>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503</a:t>
            </a:r>
            <a:endParaRPr lang="ko-KR" altLang="en-US" dirty="0"/>
          </a:p>
        </p:txBody>
      </p:sp>
    </p:spTree>
    <p:extLst>
      <p:ext uri="{BB962C8B-B14F-4D97-AF65-F5344CB8AC3E}">
        <p14:creationId xmlns:p14="http://schemas.microsoft.com/office/powerpoint/2010/main" val="3927944810"/>
      </p:ext>
    </p:extLst>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132</a:t>
            </a:r>
            <a:r>
              <a:rPr lang="ko-KR" altLang="en-US" dirty="0"/>
              <a:t>조의</a:t>
            </a:r>
            <a:r>
              <a:rPr lang="en-US" altLang="ko-KR" dirty="0"/>
              <a:t>2~</a:t>
            </a:r>
            <a:br>
              <a:rPr lang="en-US" altLang="ko-KR" dirty="0"/>
            </a:br>
            <a:r>
              <a:rPr lang="ko-KR" altLang="en-US" dirty="0"/>
              <a:t>제</a:t>
            </a:r>
            <a:r>
              <a:rPr lang="en-US" altLang="ko-KR" dirty="0"/>
              <a:t>132</a:t>
            </a:r>
            <a:r>
              <a:rPr lang="ko-KR" altLang="en-US" dirty="0"/>
              <a:t>조의</a:t>
            </a:r>
            <a:r>
              <a:rPr lang="en-US" altLang="ko-KR" dirty="0"/>
              <a:t>15</a:t>
            </a:r>
            <a:endParaRPr lang="ko-KR" altLang="en-US" dirty="0"/>
          </a:p>
        </p:txBody>
      </p:sp>
      <p:sp>
        <p:nvSpPr>
          <p:cNvPr id="4" name="텍스트 개체 틀 3"/>
          <p:cNvSpPr>
            <a:spLocks noGrp="1"/>
          </p:cNvSpPr>
          <p:nvPr>
            <p:ph type="body" sz="quarter" idx="13"/>
          </p:nvPr>
        </p:nvSpPr>
        <p:spPr/>
        <p:txBody>
          <a:bodyPr/>
          <a:lstStyle/>
          <a:p>
            <a:r>
              <a:rPr lang="ko-KR" altLang="en-US" dirty="0"/>
              <a:t>특허취소신청과</a:t>
            </a:r>
            <a:r>
              <a:rPr lang="en-US" altLang="ko-KR" dirty="0"/>
              <a:t> </a:t>
            </a:r>
            <a:r>
              <a:rPr lang="ko-KR" altLang="en-US" dirty="0"/>
              <a:t>특허무효심판의 법조문 비교</a:t>
            </a:r>
          </a:p>
        </p:txBody>
      </p:sp>
      <p:graphicFrame>
        <p:nvGraphicFramePr>
          <p:cNvPr id="2" name="표 1"/>
          <p:cNvGraphicFramePr>
            <a:graphicFrameLocks noGrp="1"/>
          </p:cNvGraphicFramePr>
          <p:nvPr/>
        </p:nvGraphicFramePr>
        <p:xfrm>
          <a:off x="317501" y="1036281"/>
          <a:ext cx="11569700" cy="4179019"/>
        </p:xfrm>
        <a:graphic>
          <a:graphicData uri="http://schemas.openxmlformats.org/drawingml/2006/table">
            <a:tbl>
              <a:tblPr>
                <a:tableStyleId>{8799B23B-EC83-4686-B30A-512413B5E67A}</a:tableStyleId>
              </a:tblPr>
              <a:tblGrid>
                <a:gridCol w="5619035">
                  <a:extLst>
                    <a:ext uri="{9D8B030D-6E8A-4147-A177-3AD203B41FA5}">
                      <a16:colId xmlns:a16="http://schemas.microsoft.com/office/drawing/2014/main" val="4122316602"/>
                    </a:ext>
                  </a:extLst>
                </a:gridCol>
                <a:gridCol w="5950665">
                  <a:extLst>
                    <a:ext uri="{9D8B030D-6E8A-4147-A177-3AD203B41FA5}">
                      <a16:colId xmlns:a16="http://schemas.microsoft.com/office/drawing/2014/main" val="3501181814"/>
                    </a:ext>
                  </a:extLst>
                </a:gridCol>
              </a:tblGrid>
              <a:tr h="182907">
                <a:tc>
                  <a:txBody>
                    <a:bodyPr/>
                    <a:lstStyle/>
                    <a:p>
                      <a:pPr marL="0" marR="0" indent="0" algn="ctr" fontAlgn="base" latinLnBrk="0">
                        <a:lnSpc>
                          <a:spcPct val="120000"/>
                        </a:lnSpc>
                        <a:spcBef>
                          <a:spcPts val="0"/>
                        </a:spcBef>
                        <a:spcAft>
                          <a:spcPts val="0"/>
                        </a:spcAft>
                      </a:pPr>
                      <a:r>
                        <a:rPr lang="ko-KR" altLang="en-US" sz="1200" kern="0" spc="-100" dirty="0">
                          <a:effectLst/>
                        </a:rPr>
                        <a:t>특허취소신청</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0" spc="-100" dirty="0">
                          <a:effectLst/>
                        </a:rPr>
                        <a:t>특허무효심판</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extLst>
                  <a:ext uri="{0D108BD9-81ED-4DB2-BD59-A6C34878D82A}">
                    <a16:rowId xmlns:a16="http://schemas.microsoft.com/office/drawing/2014/main" val="2907354057"/>
                  </a:ext>
                </a:extLst>
              </a:tr>
              <a:tr h="938652">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6【</a:t>
                      </a:r>
                      <a:r>
                        <a:rPr lang="ko-KR" altLang="en-US" sz="1200" kern="0" spc="-80" dirty="0">
                          <a:effectLst/>
                        </a:rPr>
                        <a:t>보정할 수 없는 특허취소신청의 </a:t>
                      </a:r>
                      <a:r>
                        <a:rPr lang="ko-KR" altLang="en-US" sz="1200" kern="0" spc="-80" dirty="0" err="1">
                          <a:effectLst/>
                        </a:rPr>
                        <a:t>각하결정</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대상</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7</a:t>
                      </a:r>
                      <a:r>
                        <a:rPr lang="ko-KR" altLang="en-US" sz="1200" kern="0" spc="-80" dirty="0">
                          <a:effectLst/>
                        </a:rPr>
                        <a:t>제</a:t>
                      </a:r>
                      <a:r>
                        <a:rPr lang="en-US" altLang="ko-KR" sz="1200" kern="0" spc="-80" dirty="0">
                          <a:effectLst/>
                        </a:rPr>
                        <a:t>1</a:t>
                      </a:r>
                      <a:r>
                        <a:rPr lang="ko-KR" altLang="en-US" sz="1200" kern="0" spc="-80" dirty="0">
                          <a:effectLst/>
                        </a:rPr>
                        <a:t>항에 따른 합의체는 </a:t>
                      </a:r>
                      <a:r>
                        <a:rPr lang="ko-KR" altLang="en-US" sz="1200" kern="0" spc="-80" dirty="0" err="1">
                          <a:effectLst/>
                        </a:rPr>
                        <a:t>부적법한</a:t>
                      </a:r>
                      <a:r>
                        <a:rPr lang="ko-KR" altLang="en-US" sz="1200" kern="0" spc="-80" dirty="0">
                          <a:effectLst/>
                        </a:rPr>
                        <a:t> </a:t>
                      </a:r>
                      <a:r>
                        <a:rPr lang="ko-KR" altLang="en-US" sz="1200" kern="0" spc="-80" dirty="0" err="1">
                          <a:effectLst/>
                        </a:rPr>
                        <a:t>특허취소신청으로서</a:t>
                      </a:r>
                      <a:r>
                        <a:rPr lang="ko-KR" altLang="en-US" sz="1200" kern="0" spc="-80" dirty="0">
                          <a:effectLst/>
                        </a:rPr>
                        <a:t> 그 흠을 보정할 수 없을 때에는 제</a:t>
                      </a:r>
                      <a:r>
                        <a:rPr lang="en-US" altLang="ko-KR" sz="1200" kern="0" spc="-80" dirty="0">
                          <a:effectLst/>
                        </a:rPr>
                        <a:t>132</a:t>
                      </a:r>
                      <a:r>
                        <a:rPr lang="ko-KR" altLang="en-US" sz="1200" kern="0" spc="-80" dirty="0">
                          <a:effectLst/>
                        </a:rPr>
                        <a:t>조의</a:t>
                      </a:r>
                      <a:r>
                        <a:rPr lang="en-US" altLang="ko-KR" sz="1200" kern="0" spc="-80" dirty="0">
                          <a:effectLst/>
                        </a:rPr>
                        <a:t>4</a:t>
                      </a:r>
                      <a:r>
                        <a:rPr lang="ko-KR" altLang="en-US" sz="1200" kern="0" spc="-80" dirty="0">
                          <a:effectLst/>
                        </a:rPr>
                        <a:t>제</a:t>
                      </a:r>
                      <a:r>
                        <a:rPr lang="en-US" altLang="ko-KR" sz="1200" kern="0" spc="-80" dirty="0">
                          <a:effectLst/>
                        </a:rPr>
                        <a:t>3</a:t>
                      </a:r>
                      <a:r>
                        <a:rPr lang="ko-KR" altLang="en-US" sz="1200" kern="0" spc="-80" dirty="0">
                          <a:effectLst/>
                        </a:rPr>
                        <a:t>항에도 불구하고 특허권자에게 특허취소신청서의 부본을 송달하지 아니하고</a:t>
                      </a:r>
                      <a:r>
                        <a:rPr lang="en-US" altLang="ko-KR" sz="1200" kern="0" spc="-80" dirty="0">
                          <a:effectLst/>
                        </a:rPr>
                        <a:t>, </a:t>
                      </a:r>
                      <a:r>
                        <a:rPr lang="ko-KR" altLang="en-US" sz="1200" kern="0" spc="-80" dirty="0">
                          <a:effectLst/>
                        </a:rPr>
                        <a:t>결정으로 그 특허취소신청을 각하할 수 있다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불복</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제</a:t>
                      </a:r>
                      <a:r>
                        <a:rPr lang="en-US" altLang="ko-KR" sz="1200" kern="0" spc="-80" dirty="0">
                          <a:effectLst/>
                        </a:rPr>
                        <a:t>1</a:t>
                      </a:r>
                      <a:r>
                        <a:rPr lang="ko-KR" altLang="en-US" sz="1200" kern="0" spc="-80" dirty="0">
                          <a:effectLst/>
                        </a:rPr>
                        <a:t>항에 따른 </a:t>
                      </a:r>
                      <a:r>
                        <a:rPr lang="ko-KR" altLang="en-US" sz="1200" kern="0" spc="-80" dirty="0" err="1">
                          <a:effectLst/>
                        </a:rPr>
                        <a:t>각하결정에</a:t>
                      </a:r>
                      <a:r>
                        <a:rPr lang="ko-KR" altLang="en-US" sz="1200" kern="0" spc="-80" dirty="0">
                          <a:effectLst/>
                        </a:rPr>
                        <a:t> 대해서는 불복할 수 없다</a:t>
                      </a:r>
                      <a:r>
                        <a:rPr lang="en-US" altLang="ko-KR" sz="1200" kern="0" spc="-80" dirty="0">
                          <a:effectLst/>
                        </a:rPr>
                        <a:t>.</a:t>
                      </a:r>
                    </a:p>
                  </a:txBody>
                  <a:tcPr marL="72000" marR="72000" marT="8067" marB="8067"/>
                </a:tc>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142</a:t>
                      </a:r>
                      <a:r>
                        <a:rPr lang="ko-KR" altLang="en-US" sz="1200" kern="0" spc="-80" dirty="0">
                          <a:effectLst/>
                        </a:rPr>
                        <a:t>조</a:t>
                      </a:r>
                      <a:r>
                        <a:rPr lang="en-US" altLang="ko-KR" sz="1200" kern="0" spc="-80" dirty="0">
                          <a:effectLst/>
                        </a:rPr>
                        <a:t>【</a:t>
                      </a:r>
                      <a:r>
                        <a:rPr lang="ko-KR" altLang="en-US" sz="1200" kern="0" spc="-80" dirty="0">
                          <a:effectLst/>
                        </a:rPr>
                        <a:t>보정할 수 없는 심판청구의 </a:t>
                      </a:r>
                      <a:r>
                        <a:rPr lang="ko-KR" altLang="en-US" sz="1200" kern="0" spc="-80" dirty="0" err="1">
                          <a:effectLst/>
                        </a:rPr>
                        <a:t>심결각하</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err="1">
                          <a:effectLst/>
                        </a:rPr>
                        <a:t>부적법한</a:t>
                      </a:r>
                      <a:r>
                        <a:rPr lang="ko-KR" altLang="en-US" sz="1200" kern="0" spc="-80" dirty="0">
                          <a:effectLst/>
                        </a:rPr>
                        <a:t> 심판청구로서 그 흠을 보정할 수 없을 때에는 피청구인에게 답변서 제출의 기회를 주지 아니하고</a:t>
                      </a:r>
                      <a:r>
                        <a:rPr lang="en-US" altLang="ko-KR" sz="1200" kern="0" spc="-80" dirty="0">
                          <a:effectLst/>
                        </a:rPr>
                        <a:t>, </a:t>
                      </a:r>
                      <a:r>
                        <a:rPr lang="ko-KR" altLang="en-US" sz="1200" kern="0" spc="-80" dirty="0" err="1">
                          <a:effectLst/>
                        </a:rPr>
                        <a:t>심결로써</a:t>
                      </a:r>
                      <a:r>
                        <a:rPr lang="ko-KR" altLang="en-US" sz="1200" kern="0" spc="-80" dirty="0">
                          <a:effectLst/>
                        </a:rPr>
                        <a:t> 그 청구를 각하할 수 있다</a:t>
                      </a:r>
                      <a:r>
                        <a:rPr lang="en-US" altLang="ko-KR" sz="1200" kern="0" spc="-80" dirty="0">
                          <a:effectLst/>
                        </a:rPr>
                        <a:t>.</a:t>
                      </a:r>
                    </a:p>
                  </a:txBody>
                  <a:tcPr marL="72000" marR="72000" marT="8067" marB="8067"/>
                </a:tc>
                <a:extLst>
                  <a:ext uri="{0D108BD9-81ED-4DB2-BD59-A6C34878D82A}">
                    <a16:rowId xmlns:a16="http://schemas.microsoft.com/office/drawing/2014/main" val="1905232879"/>
                  </a:ext>
                </a:extLst>
              </a:tr>
              <a:tr h="1194346">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7【</a:t>
                      </a:r>
                      <a:r>
                        <a:rPr lang="ko-KR" altLang="en-US" sz="1200" kern="0" spc="-80" dirty="0">
                          <a:effectLst/>
                        </a:rPr>
                        <a:t>특허취소신청의 합의체 등</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심판의 주체</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특허취소신청은 </a:t>
                      </a:r>
                      <a:r>
                        <a:rPr lang="en-US" altLang="ko-KR" sz="1200" kern="0" spc="-80" dirty="0">
                          <a:effectLst/>
                        </a:rPr>
                        <a:t>3</a:t>
                      </a:r>
                      <a:r>
                        <a:rPr lang="ko-KR" altLang="en-US" sz="1200" kern="0" spc="-80" dirty="0">
                          <a:effectLst/>
                        </a:rPr>
                        <a:t>명 또는 </a:t>
                      </a:r>
                      <a:r>
                        <a:rPr lang="en-US" altLang="ko-KR" sz="1200" kern="0" spc="-80" dirty="0">
                          <a:effectLst/>
                        </a:rPr>
                        <a:t>5</a:t>
                      </a:r>
                      <a:r>
                        <a:rPr lang="ko-KR" altLang="en-US" sz="1200" kern="0" spc="-80" dirty="0">
                          <a:effectLst/>
                        </a:rPr>
                        <a:t>명의 심판관으로 구성되는 합의체가 심리하여 결정한다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준용</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항의 합의체 및 이를 구성하는 심판관에 관하여는 제</a:t>
                      </a:r>
                      <a:r>
                        <a:rPr lang="en-US" altLang="ko-KR" sz="1200" kern="0" spc="-80" dirty="0">
                          <a:effectLst/>
                        </a:rPr>
                        <a:t>143</a:t>
                      </a:r>
                      <a:r>
                        <a:rPr lang="ko-KR" altLang="en-US" sz="1200" kern="0" spc="-80" dirty="0">
                          <a:effectLst/>
                        </a:rPr>
                        <a:t>조부터 제</a:t>
                      </a:r>
                      <a:r>
                        <a:rPr lang="en-US" altLang="ko-KR" sz="1200" kern="0" spc="-80" dirty="0">
                          <a:effectLst/>
                        </a:rPr>
                        <a:t>145</a:t>
                      </a:r>
                      <a:r>
                        <a:rPr lang="ko-KR" altLang="en-US" sz="1200" kern="0" spc="-80" dirty="0">
                          <a:effectLst/>
                        </a:rPr>
                        <a:t>조까지</a:t>
                      </a:r>
                      <a:r>
                        <a:rPr lang="en-US" altLang="ko-KR" sz="1200" kern="0" spc="-80" dirty="0">
                          <a:solidFill>
                            <a:srgbClr val="FF0000"/>
                          </a:solidFill>
                          <a:effectLst/>
                        </a:rPr>
                        <a:t>[</a:t>
                      </a:r>
                      <a:r>
                        <a:rPr lang="ko-KR" altLang="en-US" sz="1200" kern="0" spc="-80" dirty="0">
                          <a:solidFill>
                            <a:srgbClr val="FF0000"/>
                          </a:solidFill>
                          <a:effectLst/>
                        </a:rPr>
                        <a:t>심판관</a:t>
                      </a:r>
                      <a:r>
                        <a:rPr lang="en-US" altLang="ko-KR" sz="1200" kern="0" spc="-80" dirty="0">
                          <a:solidFill>
                            <a:srgbClr val="FF0000"/>
                          </a:solidFill>
                          <a:effectLst/>
                        </a:rPr>
                        <a:t>, </a:t>
                      </a:r>
                      <a:r>
                        <a:rPr lang="ko-KR" altLang="en-US" sz="1200" kern="0" spc="-80" dirty="0">
                          <a:solidFill>
                            <a:srgbClr val="FF0000"/>
                          </a:solidFill>
                          <a:effectLst/>
                        </a:rPr>
                        <a:t>심판장의 자격 및 지정</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146</a:t>
                      </a:r>
                      <a:r>
                        <a:rPr lang="ko-KR" altLang="en-US" sz="1200" kern="0" spc="-80" dirty="0">
                          <a:effectLst/>
                        </a:rPr>
                        <a:t>조제</a:t>
                      </a:r>
                      <a:r>
                        <a:rPr lang="en-US" altLang="ko-KR" sz="1200" kern="0" spc="-80" dirty="0">
                          <a:effectLst/>
                        </a:rPr>
                        <a:t>2</a:t>
                      </a:r>
                      <a:r>
                        <a:rPr lang="ko-KR" altLang="en-US" sz="1200" kern="0" spc="-80" dirty="0" err="1">
                          <a:effectLst/>
                        </a:rPr>
                        <a:t>항ㆍ제</a:t>
                      </a:r>
                      <a:r>
                        <a:rPr lang="en-US" altLang="ko-KR" sz="1200" kern="0" spc="-80" dirty="0">
                          <a:effectLst/>
                        </a:rPr>
                        <a:t>3</a:t>
                      </a:r>
                      <a:r>
                        <a:rPr lang="ko-KR" altLang="en-US" sz="1200" kern="0" spc="-80" dirty="0">
                          <a:effectLst/>
                        </a:rPr>
                        <a:t>항</a:t>
                      </a:r>
                      <a:r>
                        <a:rPr lang="en-US" altLang="ko-KR" sz="1200" kern="0" spc="-80" dirty="0">
                          <a:solidFill>
                            <a:srgbClr val="FF0000"/>
                          </a:solidFill>
                          <a:effectLst/>
                        </a:rPr>
                        <a:t>[</a:t>
                      </a:r>
                      <a:r>
                        <a:rPr lang="ko-KR" altLang="en-US" sz="1200" kern="0" spc="-80" dirty="0">
                          <a:solidFill>
                            <a:srgbClr val="FF0000"/>
                          </a:solidFill>
                          <a:effectLst/>
                        </a:rPr>
                        <a:t>심판관합의체의 합의</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148</a:t>
                      </a:r>
                      <a:r>
                        <a:rPr lang="ko-KR" altLang="en-US" sz="1200" kern="0" spc="-80" dirty="0">
                          <a:effectLst/>
                        </a:rPr>
                        <a:t>조부터 제</a:t>
                      </a:r>
                      <a:r>
                        <a:rPr lang="en-US" altLang="ko-KR" sz="1200" kern="0" spc="-80" dirty="0">
                          <a:effectLst/>
                        </a:rPr>
                        <a:t>153</a:t>
                      </a:r>
                      <a:r>
                        <a:rPr lang="ko-KR" altLang="en-US" sz="1200" kern="0" spc="-80" dirty="0">
                          <a:effectLst/>
                        </a:rPr>
                        <a:t>조까지 및 제</a:t>
                      </a:r>
                      <a:r>
                        <a:rPr lang="en-US" altLang="ko-KR" sz="1200" kern="0" spc="-80" dirty="0">
                          <a:effectLst/>
                        </a:rPr>
                        <a:t>153</a:t>
                      </a:r>
                      <a:r>
                        <a:rPr lang="ko-KR" altLang="en-US" sz="1200" kern="0" spc="-80" dirty="0">
                          <a:effectLst/>
                        </a:rPr>
                        <a:t>조의</a:t>
                      </a:r>
                      <a:r>
                        <a:rPr lang="en-US" altLang="ko-KR" sz="1200" kern="0" spc="-80" dirty="0">
                          <a:effectLst/>
                        </a:rPr>
                        <a:t>2</a:t>
                      </a:r>
                      <a:r>
                        <a:rPr lang="en-US" altLang="ko-KR" sz="1200" kern="0" spc="-80" dirty="0">
                          <a:solidFill>
                            <a:srgbClr val="FF0000"/>
                          </a:solidFill>
                          <a:effectLst/>
                        </a:rPr>
                        <a:t>[</a:t>
                      </a:r>
                      <a:r>
                        <a:rPr lang="ko-KR" altLang="en-US" sz="1200" kern="0" spc="-80" dirty="0">
                          <a:solidFill>
                            <a:srgbClr val="FF0000"/>
                          </a:solidFill>
                          <a:effectLst/>
                        </a:rPr>
                        <a:t>심판관의 제척</a:t>
                      </a:r>
                      <a:r>
                        <a:rPr lang="en-US" altLang="ko-KR" sz="1200" kern="0" spc="-80" dirty="0">
                          <a:solidFill>
                            <a:srgbClr val="FF0000"/>
                          </a:solidFill>
                          <a:effectLst/>
                        </a:rPr>
                        <a:t>, </a:t>
                      </a:r>
                      <a:r>
                        <a:rPr lang="ko-KR" altLang="en-US" sz="1200" kern="0" spc="-80" dirty="0">
                          <a:solidFill>
                            <a:srgbClr val="FF0000"/>
                          </a:solidFill>
                          <a:effectLst/>
                        </a:rPr>
                        <a:t>기피 및 회피</a:t>
                      </a:r>
                      <a:r>
                        <a:rPr lang="en-US" altLang="ko-KR" sz="1200" kern="0" spc="-80" dirty="0">
                          <a:solidFill>
                            <a:srgbClr val="FF0000"/>
                          </a:solidFill>
                          <a:effectLst/>
                        </a:rPr>
                        <a:t>]</a:t>
                      </a:r>
                      <a:r>
                        <a:rPr lang="ko-KR" altLang="en-US" sz="1200" kern="0" spc="-80" dirty="0">
                          <a:effectLst/>
                        </a:rPr>
                        <a:t>를 준용한다</a:t>
                      </a:r>
                      <a:r>
                        <a:rPr lang="en-US" altLang="ko-KR" sz="1200" kern="0" spc="-80" dirty="0">
                          <a:effectLst/>
                        </a:rPr>
                        <a:t>. </a:t>
                      </a:r>
                      <a:r>
                        <a:rPr lang="ko-KR" altLang="en-US" sz="1200" kern="0" spc="-80" dirty="0">
                          <a:effectLst/>
                        </a:rPr>
                        <a:t>이 경우 제</a:t>
                      </a:r>
                      <a:r>
                        <a:rPr lang="en-US" altLang="ko-KR" sz="1200" kern="0" spc="-80" dirty="0">
                          <a:effectLst/>
                        </a:rPr>
                        <a:t>148</a:t>
                      </a:r>
                      <a:r>
                        <a:rPr lang="ko-KR" altLang="en-US" sz="1200" kern="0" spc="-80" dirty="0">
                          <a:effectLst/>
                        </a:rPr>
                        <a:t>조제</a:t>
                      </a:r>
                      <a:r>
                        <a:rPr lang="en-US" altLang="ko-KR" sz="1200" kern="0" spc="-80" dirty="0">
                          <a:effectLst/>
                        </a:rPr>
                        <a:t>6</a:t>
                      </a:r>
                      <a:r>
                        <a:rPr lang="ko-KR" altLang="en-US" sz="1200" kern="0" spc="-80" dirty="0">
                          <a:effectLst/>
                        </a:rPr>
                        <a:t>호 중 </a:t>
                      </a:r>
                      <a:r>
                        <a:rPr lang="en-US" altLang="ko-KR" sz="1200" kern="0" spc="-80" dirty="0">
                          <a:effectLst/>
                        </a:rPr>
                        <a:t>"</a:t>
                      </a:r>
                      <a:r>
                        <a:rPr lang="ko-KR" altLang="en-US" sz="1200" kern="0" spc="-80" dirty="0" err="1">
                          <a:effectLst/>
                        </a:rPr>
                        <a:t>심결</a:t>
                      </a:r>
                      <a:r>
                        <a:rPr lang="en-US" altLang="ko-KR" sz="1200" kern="0" spc="-80" dirty="0">
                          <a:effectLst/>
                        </a:rPr>
                        <a:t>"</a:t>
                      </a:r>
                      <a:r>
                        <a:rPr lang="ko-KR" altLang="en-US" sz="1200" kern="0" spc="-80" dirty="0">
                          <a:effectLst/>
                        </a:rPr>
                        <a:t>은 </a:t>
                      </a:r>
                      <a:r>
                        <a:rPr lang="en-US" altLang="ko-KR" sz="1200" kern="0" spc="-80" dirty="0">
                          <a:effectLst/>
                        </a:rPr>
                        <a:t>"</a:t>
                      </a:r>
                      <a:r>
                        <a:rPr lang="ko-KR" altLang="en-US" sz="1200" kern="0" spc="-80" dirty="0">
                          <a:effectLst/>
                        </a:rPr>
                        <a:t>특허취소결정</a:t>
                      </a:r>
                      <a:r>
                        <a:rPr lang="en-US" altLang="ko-KR" sz="1200" kern="0" spc="-80" dirty="0">
                          <a:effectLst/>
                        </a:rPr>
                        <a:t>"</a:t>
                      </a:r>
                      <a:r>
                        <a:rPr lang="ko-KR" altLang="en-US" sz="1200" kern="0" spc="-80" dirty="0">
                          <a:effectLst/>
                        </a:rPr>
                        <a:t>으로 본다</a:t>
                      </a:r>
                      <a:r>
                        <a:rPr lang="en-US" altLang="ko-KR" sz="1200" kern="0" spc="-80" dirty="0">
                          <a:effectLst/>
                        </a:rPr>
                        <a:t>.</a:t>
                      </a:r>
                    </a:p>
                  </a:txBody>
                  <a:tcPr marL="72000" marR="72000" marT="8067" marB="8067"/>
                </a:tc>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146</a:t>
                      </a:r>
                      <a:r>
                        <a:rPr lang="ko-KR" altLang="en-US" sz="1200" kern="0" spc="-80" dirty="0">
                          <a:effectLst/>
                        </a:rPr>
                        <a:t>조</a:t>
                      </a:r>
                      <a:r>
                        <a:rPr lang="en-US" altLang="ko-KR" sz="1200" kern="0" spc="-80" dirty="0">
                          <a:effectLst/>
                        </a:rPr>
                        <a:t>【</a:t>
                      </a:r>
                      <a:r>
                        <a:rPr lang="ko-KR" altLang="en-US" sz="1200" kern="0" spc="-80" dirty="0">
                          <a:effectLst/>
                        </a:rPr>
                        <a:t>심판의 합의체</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심판의 주체</a:t>
                      </a:r>
                      <a:r>
                        <a:rPr lang="en-US" altLang="ko-KR" sz="1200" b="1" kern="0" spc="-80" dirty="0">
                          <a:solidFill>
                            <a:schemeClr val="accent1"/>
                          </a:solidFill>
                          <a:effectLst/>
                        </a:rPr>
                        <a:t>) </a:t>
                      </a:r>
                      <a:r>
                        <a:rPr lang="ko-KR" altLang="en-US" sz="1200" kern="0" spc="-80" dirty="0">
                          <a:effectLst/>
                        </a:rPr>
                        <a:t>심판은 </a:t>
                      </a:r>
                      <a:r>
                        <a:rPr lang="en-US" altLang="ko-KR" sz="1200" kern="0" spc="-80" dirty="0">
                          <a:effectLst/>
                        </a:rPr>
                        <a:t>3</a:t>
                      </a:r>
                      <a:r>
                        <a:rPr lang="ko-KR" altLang="en-US" sz="1200" kern="0" spc="-80" dirty="0">
                          <a:effectLst/>
                        </a:rPr>
                        <a:t>명 또는 </a:t>
                      </a:r>
                      <a:r>
                        <a:rPr lang="en-US" altLang="ko-KR" sz="1200" kern="0" spc="-80" dirty="0">
                          <a:effectLst/>
                        </a:rPr>
                        <a:t>5</a:t>
                      </a:r>
                      <a:r>
                        <a:rPr lang="ko-KR" altLang="en-US" sz="1200" kern="0" spc="-80" dirty="0">
                          <a:effectLst/>
                        </a:rPr>
                        <a:t>명의 심판관으로 구성되는 합의체가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합의</a:t>
                      </a:r>
                      <a:r>
                        <a:rPr lang="en-US" altLang="ko-KR" sz="1200" b="1" kern="0" spc="-80" dirty="0">
                          <a:solidFill>
                            <a:schemeClr val="accent1"/>
                          </a:solidFill>
                          <a:effectLst/>
                        </a:rPr>
                        <a:t>: </a:t>
                      </a:r>
                      <a:r>
                        <a:rPr lang="ko-KR" altLang="en-US" sz="1200" b="1" kern="0" spc="-80" dirty="0">
                          <a:solidFill>
                            <a:schemeClr val="accent1"/>
                          </a:solidFill>
                          <a:effectLst/>
                        </a:rPr>
                        <a:t>과반수</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항의 합의체의 합의는 과반수로 결정한다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③ </a:t>
                      </a:r>
                      <a:r>
                        <a:rPr lang="en-US" altLang="ko-KR" sz="1200" b="1" kern="0" spc="-80" dirty="0">
                          <a:solidFill>
                            <a:schemeClr val="accent1"/>
                          </a:solidFill>
                          <a:effectLst/>
                        </a:rPr>
                        <a:t>(</a:t>
                      </a:r>
                      <a:r>
                        <a:rPr lang="ko-KR" altLang="en-US" sz="1200" b="1" kern="0" spc="-80" dirty="0">
                          <a:solidFill>
                            <a:schemeClr val="accent1"/>
                          </a:solidFill>
                          <a:effectLst/>
                        </a:rPr>
                        <a:t>합의</a:t>
                      </a:r>
                      <a:r>
                        <a:rPr lang="en-US" altLang="ko-KR" sz="1200" b="1" kern="0" spc="-80" dirty="0">
                          <a:solidFill>
                            <a:schemeClr val="accent1"/>
                          </a:solidFill>
                          <a:effectLst/>
                        </a:rPr>
                        <a:t>: </a:t>
                      </a:r>
                      <a:r>
                        <a:rPr lang="ko-KR" altLang="en-US" sz="1200" b="1" kern="0" spc="-80" dirty="0">
                          <a:solidFill>
                            <a:schemeClr val="accent1"/>
                          </a:solidFill>
                          <a:effectLst/>
                        </a:rPr>
                        <a:t>비공개</a:t>
                      </a:r>
                      <a:r>
                        <a:rPr lang="en-US" altLang="ko-KR" sz="1200" b="1" kern="0" spc="-80" dirty="0">
                          <a:solidFill>
                            <a:schemeClr val="accent1"/>
                          </a:solidFill>
                          <a:effectLst/>
                        </a:rPr>
                        <a:t>) </a:t>
                      </a:r>
                      <a:r>
                        <a:rPr lang="ko-KR" altLang="en-US" sz="1200" kern="0" spc="-80" dirty="0">
                          <a:effectLst/>
                        </a:rPr>
                        <a:t>심판의 합의는 공개하지 아니한다</a:t>
                      </a:r>
                      <a:r>
                        <a:rPr lang="en-US" altLang="ko-KR" sz="1200" kern="0" spc="-80" dirty="0">
                          <a:effectLst/>
                        </a:rPr>
                        <a:t>.</a:t>
                      </a:r>
                    </a:p>
                  </a:txBody>
                  <a:tcPr marL="72000" marR="72000" marT="8067" marB="8067"/>
                </a:tc>
                <a:extLst>
                  <a:ext uri="{0D108BD9-81ED-4DB2-BD59-A6C34878D82A}">
                    <a16:rowId xmlns:a16="http://schemas.microsoft.com/office/drawing/2014/main" val="1382467337"/>
                  </a:ext>
                </a:extLst>
              </a:tr>
              <a:tr h="1194346">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8【</a:t>
                      </a:r>
                      <a:r>
                        <a:rPr lang="ko-KR" altLang="en-US" sz="1200" kern="0" spc="-80" dirty="0">
                          <a:effectLst/>
                        </a:rPr>
                        <a:t>심리의 방식 등</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err="1">
                          <a:solidFill>
                            <a:schemeClr val="accent1"/>
                          </a:solidFill>
                          <a:effectLst/>
                        </a:rPr>
                        <a:t>서면심리</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특허취소신청에 관한 심리는 서면으로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 </a:t>
                      </a:r>
                      <a:r>
                        <a:rPr lang="en-US" altLang="ko-KR" sz="1200" b="1" kern="0" spc="-80" dirty="0">
                          <a:solidFill>
                            <a:schemeClr val="accent1"/>
                          </a:solidFill>
                          <a:effectLst/>
                        </a:rPr>
                        <a:t>(</a:t>
                      </a:r>
                      <a:r>
                        <a:rPr lang="ko-KR" altLang="en-US" sz="1200" b="1" kern="0" spc="-80" dirty="0" err="1">
                          <a:solidFill>
                            <a:schemeClr val="accent1"/>
                          </a:solidFill>
                          <a:effectLst/>
                        </a:rPr>
                        <a:t>특허권자</a:t>
                      </a:r>
                      <a:r>
                        <a:rPr lang="ko-KR" altLang="en-US" sz="1200" b="1" kern="0" spc="-80" dirty="0">
                          <a:solidFill>
                            <a:schemeClr val="accent1"/>
                          </a:solidFill>
                          <a:effectLst/>
                        </a:rPr>
                        <a:t> </a:t>
                      </a:r>
                      <a:r>
                        <a:rPr lang="en-US" altLang="ko-KR" sz="1200" b="1" kern="0" spc="-80" dirty="0">
                          <a:solidFill>
                            <a:schemeClr val="accent1"/>
                          </a:solidFill>
                          <a:effectLst/>
                        </a:rPr>
                        <a:t>1</a:t>
                      </a:r>
                      <a:r>
                        <a:rPr lang="ko-KR" altLang="en-US" sz="1200" b="1" kern="0" spc="-80" dirty="0">
                          <a:solidFill>
                            <a:schemeClr val="accent1"/>
                          </a:solidFill>
                          <a:effectLst/>
                        </a:rPr>
                        <a:t>인에게 절차의 정지원인이 있는 경우</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공유인 특허권의 </a:t>
                      </a:r>
                      <a:r>
                        <a:rPr lang="ko-KR" altLang="en-US" sz="1200" kern="0" spc="-80" dirty="0" err="1">
                          <a:effectLst/>
                        </a:rPr>
                        <a:t>특허권자</a:t>
                      </a:r>
                      <a:r>
                        <a:rPr lang="ko-KR" altLang="en-US" sz="1200" kern="0" spc="-80" dirty="0">
                          <a:effectLst/>
                        </a:rPr>
                        <a:t> 중 </a:t>
                      </a:r>
                      <a:r>
                        <a:rPr lang="en-US" altLang="ko-KR" sz="1200" kern="0" spc="-80" dirty="0">
                          <a:effectLst/>
                        </a:rPr>
                        <a:t>1</a:t>
                      </a:r>
                      <a:r>
                        <a:rPr lang="ko-KR" altLang="en-US" sz="1200" kern="0" spc="-80" dirty="0">
                          <a:effectLst/>
                        </a:rPr>
                        <a:t>인에게 특허취소신청절차의 중단 또는 중지의 원인이 있으면 모두에게 그 효력이 발생한다</a:t>
                      </a:r>
                      <a:r>
                        <a:rPr lang="en-US" altLang="ko-KR" sz="1200" kern="0" spc="-80" dirty="0">
                          <a:effectLst/>
                        </a:rPr>
                        <a:t>.</a:t>
                      </a:r>
                    </a:p>
                  </a:txBody>
                  <a:tcPr marL="72000" marR="72000" marT="8067" marB="8067"/>
                </a:tc>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154</a:t>
                      </a:r>
                      <a:r>
                        <a:rPr lang="ko-KR" altLang="en-US" sz="1200" kern="0" spc="-80" dirty="0">
                          <a:effectLst/>
                        </a:rPr>
                        <a:t>조</a:t>
                      </a:r>
                      <a:r>
                        <a:rPr lang="en-US" altLang="ko-KR" sz="1200" kern="0" spc="-80" dirty="0">
                          <a:effectLst/>
                        </a:rPr>
                        <a:t>【</a:t>
                      </a:r>
                      <a:r>
                        <a:rPr lang="ko-KR" altLang="en-US" sz="1200" kern="0" spc="-80" dirty="0">
                          <a:effectLst/>
                        </a:rPr>
                        <a:t>심리 등</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err="1">
                          <a:solidFill>
                            <a:schemeClr val="accent1"/>
                          </a:solidFill>
                          <a:effectLst/>
                        </a:rPr>
                        <a:t>심리방식의</a:t>
                      </a:r>
                      <a:r>
                        <a:rPr lang="ko-KR" altLang="en-US" sz="1200" b="1" kern="0" spc="-80" dirty="0">
                          <a:solidFill>
                            <a:schemeClr val="accent1"/>
                          </a:solidFill>
                          <a:effectLst/>
                        </a:rPr>
                        <a:t> 선택</a:t>
                      </a:r>
                      <a:r>
                        <a:rPr lang="en-US" altLang="ko-KR" sz="1200" b="1" kern="0" spc="-80" dirty="0">
                          <a:solidFill>
                            <a:schemeClr val="accent1"/>
                          </a:solidFill>
                          <a:effectLst/>
                        </a:rPr>
                        <a:t>) </a:t>
                      </a:r>
                      <a:r>
                        <a:rPr lang="ko-KR" altLang="en-US" sz="1200" kern="0" spc="-80" dirty="0">
                          <a:effectLst/>
                        </a:rPr>
                        <a:t>심판은 구술심리 또는 </a:t>
                      </a:r>
                      <a:r>
                        <a:rPr lang="ko-KR" altLang="en-US" sz="1200" kern="0" spc="-80" dirty="0" err="1">
                          <a:effectLst/>
                        </a:rPr>
                        <a:t>서면심리로</a:t>
                      </a:r>
                      <a:r>
                        <a:rPr lang="ko-KR" altLang="en-US" sz="1200" kern="0" spc="-80" dirty="0">
                          <a:effectLst/>
                        </a:rPr>
                        <a:t> 한다</a:t>
                      </a:r>
                      <a:r>
                        <a:rPr lang="en-US" altLang="ko-KR" sz="1200" kern="0" spc="-80" dirty="0">
                          <a:effectLst/>
                        </a:rPr>
                        <a:t>. </a:t>
                      </a:r>
                      <a:r>
                        <a:rPr lang="ko-KR" altLang="en-US" sz="1200" kern="0" spc="-80" dirty="0">
                          <a:effectLst/>
                        </a:rPr>
                        <a:t>다만</a:t>
                      </a:r>
                      <a:r>
                        <a:rPr lang="en-US" altLang="ko-KR" sz="1200" kern="0" spc="-80" dirty="0">
                          <a:effectLst/>
                        </a:rPr>
                        <a:t>, </a:t>
                      </a:r>
                      <a:r>
                        <a:rPr lang="ko-KR" altLang="en-US" sz="1200" kern="0" spc="-80" dirty="0">
                          <a:effectLst/>
                        </a:rPr>
                        <a:t>당사자가 구술심리를 신청하였을 때에는 서면심리만으로 결정할 수 있다고 인정되는 경우 외에는 구술심리를 하여야 한다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139</a:t>
                      </a:r>
                      <a:r>
                        <a:rPr lang="ko-KR" altLang="en-US" sz="1200" kern="0" spc="-80" dirty="0">
                          <a:effectLst/>
                        </a:rPr>
                        <a:t>조</a:t>
                      </a:r>
                      <a:r>
                        <a:rPr lang="en-US" altLang="ko-KR" sz="1200" kern="0" spc="-80" dirty="0">
                          <a:effectLst/>
                        </a:rPr>
                        <a:t>【</a:t>
                      </a:r>
                      <a:r>
                        <a:rPr lang="ko-KR" altLang="en-US" sz="1200" kern="0" spc="-80" dirty="0" err="1">
                          <a:effectLst/>
                        </a:rPr>
                        <a:t>공동심판의</a:t>
                      </a:r>
                      <a:r>
                        <a:rPr lang="ko-KR" altLang="en-US" sz="1200" kern="0" spc="-80" dirty="0">
                          <a:effectLst/>
                        </a:rPr>
                        <a:t> 청구 등</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④ </a:t>
                      </a:r>
                      <a:r>
                        <a:rPr lang="en-US" altLang="ko-KR" sz="1200" b="1" kern="0" spc="-80" dirty="0">
                          <a:solidFill>
                            <a:schemeClr val="accent1"/>
                          </a:solidFill>
                          <a:effectLst/>
                        </a:rPr>
                        <a:t>(</a:t>
                      </a:r>
                      <a:r>
                        <a:rPr lang="ko-KR" altLang="en-US" sz="1200" b="1" kern="0" spc="-80" dirty="0" err="1">
                          <a:solidFill>
                            <a:schemeClr val="accent1"/>
                          </a:solidFill>
                          <a:effectLst/>
                        </a:rPr>
                        <a:t>청구인ㆍ피청구인</a:t>
                      </a:r>
                      <a:r>
                        <a:rPr lang="ko-KR" altLang="en-US" sz="1200" b="1" kern="0" spc="-80" dirty="0">
                          <a:solidFill>
                            <a:schemeClr val="accent1"/>
                          </a:solidFill>
                          <a:effectLst/>
                        </a:rPr>
                        <a:t> </a:t>
                      </a:r>
                      <a:r>
                        <a:rPr lang="en-US" altLang="ko-KR" sz="1200" b="1" kern="0" spc="-80" dirty="0">
                          <a:solidFill>
                            <a:schemeClr val="accent1"/>
                          </a:solidFill>
                          <a:effectLst/>
                        </a:rPr>
                        <a:t>1</a:t>
                      </a:r>
                      <a:r>
                        <a:rPr lang="ko-KR" altLang="en-US" sz="1200" b="1" kern="0" spc="-80" dirty="0">
                          <a:solidFill>
                            <a:schemeClr val="accent1"/>
                          </a:solidFill>
                          <a:effectLst/>
                        </a:rPr>
                        <a:t>인의 </a:t>
                      </a:r>
                      <a:r>
                        <a:rPr lang="ko-KR" altLang="en-US" sz="1200" b="1" kern="0" spc="-80" dirty="0" err="1">
                          <a:solidFill>
                            <a:schemeClr val="accent1"/>
                          </a:solidFill>
                          <a:effectLst/>
                        </a:rPr>
                        <a:t>정지원인이</a:t>
                      </a:r>
                      <a:r>
                        <a:rPr lang="ko-KR" altLang="en-US" sz="1200" b="1" kern="0" spc="-80" dirty="0">
                          <a:solidFill>
                            <a:schemeClr val="accent1"/>
                          </a:solidFill>
                          <a:effectLst/>
                        </a:rPr>
                        <a:t> 있는 경우</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 또는 제</a:t>
                      </a:r>
                      <a:r>
                        <a:rPr lang="en-US" altLang="ko-KR" sz="1200" kern="0" spc="-80" dirty="0">
                          <a:effectLst/>
                        </a:rPr>
                        <a:t>3</a:t>
                      </a:r>
                      <a:r>
                        <a:rPr lang="ko-KR" altLang="en-US" sz="1200" kern="0" spc="-80" dirty="0">
                          <a:effectLst/>
                        </a:rPr>
                        <a:t>항에 따른 청구인이나 제</a:t>
                      </a:r>
                      <a:r>
                        <a:rPr lang="en-US" altLang="ko-KR" sz="1200" kern="0" spc="-80" dirty="0">
                          <a:effectLst/>
                        </a:rPr>
                        <a:t>2</a:t>
                      </a:r>
                      <a:r>
                        <a:rPr lang="ko-KR" altLang="en-US" sz="1200" kern="0" spc="-80" dirty="0">
                          <a:effectLst/>
                        </a:rPr>
                        <a:t>항에 따른 피청구인 중 </a:t>
                      </a:r>
                      <a:r>
                        <a:rPr lang="en-US" altLang="ko-KR" sz="1200" kern="0" spc="-80" dirty="0">
                          <a:effectLst/>
                        </a:rPr>
                        <a:t>1</a:t>
                      </a:r>
                      <a:r>
                        <a:rPr lang="ko-KR" altLang="en-US" sz="1200" kern="0" spc="-80" dirty="0">
                          <a:effectLst/>
                        </a:rPr>
                        <a:t>인에게 </a:t>
                      </a:r>
                      <a:r>
                        <a:rPr lang="ko-KR" altLang="en-US" sz="1200" kern="0" spc="-80" dirty="0" err="1">
                          <a:effectLst/>
                        </a:rPr>
                        <a:t>심판절차의</a:t>
                      </a:r>
                      <a:r>
                        <a:rPr lang="ko-KR" altLang="en-US" sz="1200" kern="0" spc="-80" dirty="0">
                          <a:effectLst/>
                        </a:rPr>
                        <a:t> 중단 또는 중지의 원인이 있으면 모두에게 그 효력이 발생한다</a:t>
                      </a:r>
                      <a:r>
                        <a:rPr lang="en-US" altLang="ko-KR" sz="1200" kern="0" spc="-80" dirty="0">
                          <a:effectLst/>
                        </a:rPr>
                        <a:t>.</a:t>
                      </a:r>
                    </a:p>
                  </a:txBody>
                  <a:tcPr marL="72000" marR="72000" marT="8067" marB="8067"/>
                </a:tc>
                <a:extLst>
                  <a:ext uri="{0D108BD9-81ED-4DB2-BD59-A6C34878D82A}">
                    <a16:rowId xmlns:a16="http://schemas.microsoft.com/office/drawing/2014/main" val="624847616"/>
                  </a:ext>
                </a:extLst>
              </a:tr>
            </a:tbl>
          </a:graphicData>
        </a:graphic>
      </p:graphicFrame>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504</a:t>
            </a:r>
            <a:endParaRPr lang="ko-KR" altLang="en-US" dirty="0"/>
          </a:p>
        </p:txBody>
      </p:sp>
    </p:spTree>
    <p:extLst>
      <p:ext uri="{BB962C8B-B14F-4D97-AF65-F5344CB8AC3E}">
        <p14:creationId xmlns:p14="http://schemas.microsoft.com/office/powerpoint/2010/main" val="2531938823"/>
      </p:ext>
    </p:extLst>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132</a:t>
            </a:r>
            <a:r>
              <a:rPr lang="ko-KR" altLang="en-US" dirty="0"/>
              <a:t>조의</a:t>
            </a:r>
            <a:r>
              <a:rPr lang="en-US" altLang="ko-KR" dirty="0"/>
              <a:t>2~</a:t>
            </a:r>
            <a:br>
              <a:rPr lang="en-US" altLang="ko-KR" dirty="0"/>
            </a:br>
            <a:r>
              <a:rPr lang="ko-KR" altLang="en-US" dirty="0"/>
              <a:t>제</a:t>
            </a:r>
            <a:r>
              <a:rPr lang="en-US" altLang="ko-KR" dirty="0"/>
              <a:t>132</a:t>
            </a:r>
            <a:r>
              <a:rPr lang="ko-KR" altLang="en-US" dirty="0"/>
              <a:t>조의</a:t>
            </a:r>
            <a:r>
              <a:rPr lang="en-US" altLang="ko-KR" dirty="0"/>
              <a:t>15</a:t>
            </a:r>
            <a:endParaRPr lang="ko-KR" altLang="en-US" dirty="0"/>
          </a:p>
        </p:txBody>
      </p:sp>
      <p:sp>
        <p:nvSpPr>
          <p:cNvPr id="4" name="텍스트 개체 틀 3"/>
          <p:cNvSpPr>
            <a:spLocks noGrp="1"/>
          </p:cNvSpPr>
          <p:nvPr>
            <p:ph type="body" sz="quarter" idx="13"/>
          </p:nvPr>
        </p:nvSpPr>
        <p:spPr/>
        <p:txBody>
          <a:bodyPr/>
          <a:lstStyle/>
          <a:p>
            <a:r>
              <a:rPr lang="ko-KR" altLang="en-US" dirty="0"/>
              <a:t>특허취소신청과</a:t>
            </a:r>
            <a:r>
              <a:rPr lang="en-US" altLang="ko-KR" dirty="0"/>
              <a:t> </a:t>
            </a:r>
            <a:r>
              <a:rPr lang="ko-KR" altLang="en-US" dirty="0"/>
              <a:t>특허무효심판의 법조문 비교</a:t>
            </a:r>
          </a:p>
        </p:txBody>
      </p:sp>
      <p:graphicFrame>
        <p:nvGraphicFramePr>
          <p:cNvPr id="2" name="표 1"/>
          <p:cNvGraphicFramePr>
            <a:graphicFrameLocks noGrp="1"/>
          </p:cNvGraphicFramePr>
          <p:nvPr/>
        </p:nvGraphicFramePr>
        <p:xfrm>
          <a:off x="317501" y="1036281"/>
          <a:ext cx="11569700" cy="5054679"/>
        </p:xfrm>
        <a:graphic>
          <a:graphicData uri="http://schemas.openxmlformats.org/drawingml/2006/table">
            <a:tbl>
              <a:tblPr>
                <a:tableStyleId>{8799B23B-EC83-4686-B30A-512413B5E67A}</a:tableStyleId>
              </a:tblPr>
              <a:tblGrid>
                <a:gridCol w="5619035">
                  <a:extLst>
                    <a:ext uri="{9D8B030D-6E8A-4147-A177-3AD203B41FA5}">
                      <a16:colId xmlns:a16="http://schemas.microsoft.com/office/drawing/2014/main" val="4122316602"/>
                    </a:ext>
                  </a:extLst>
                </a:gridCol>
                <a:gridCol w="5950665">
                  <a:extLst>
                    <a:ext uri="{9D8B030D-6E8A-4147-A177-3AD203B41FA5}">
                      <a16:colId xmlns:a16="http://schemas.microsoft.com/office/drawing/2014/main" val="3501181814"/>
                    </a:ext>
                  </a:extLst>
                </a:gridCol>
              </a:tblGrid>
              <a:tr h="53329">
                <a:tc>
                  <a:txBody>
                    <a:bodyPr/>
                    <a:lstStyle/>
                    <a:p>
                      <a:pPr marL="0" marR="0" indent="0" algn="ctr" fontAlgn="base" latinLnBrk="0">
                        <a:lnSpc>
                          <a:spcPct val="120000"/>
                        </a:lnSpc>
                        <a:spcBef>
                          <a:spcPts val="0"/>
                        </a:spcBef>
                        <a:spcAft>
                          <a:spcPts val="0"/>
                        </a:spcAft>
                      </a:pPr>
                      <a:r>
                        <a:rPr lang="ko-KR" altLang="en-US" sz="1200" kern="0" spc="-100" dirty="0">
                          <a:effectLst/>
                        </a:rPr>
                        <a:t>특허취소신청</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0" spc="-100" dirty="0">
                          <a:effectLst/>
                        </a:rPr>
                        <a:t>특허무효심판</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extLst>
                  <a:ext uri="{0D108BD9-81ED-4DB2-BD59-A6C34878D82A}">
                    <a16:rowId xmlns:a16="http://schemas.microsoft.com/office/drawing/2014/main" val="2907354057"/>
                  </a:ext>
                </a:extLst>
              </a:tr>
              <a:tr h="430718">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9【</a:t>
                      </a:r>
                      <a:r>
                        <a:rPr lang="ko-KR" altLang="en-US" sz="1200" kern="0" spc="-80" dirty="0">
                          <a:effectLst/>
                        </a:rPr>
                        <a:t>참가</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a:t>
                      </a:r>
                      <a:r>
                        <a:rPr lang="en-US" altLang="ko-KR" sz="1200" b="1" kern="0" spc="-80" dirty="0">
                          <a:solidFill>
                            <a:schemeClr val="accent1"/>
                          </a:solidFill>
                          <a:effectLst/>
                        </a:rPr>
                        <a:t> (</a:t>
                      </a:r>
                      <a:r>
                        <a:rPr lang="ko-KR" altLang="en-US" sz="1200" b="1" kern="0" spc="-80" dirty="0">
                          <a:solidFill>
                            <a:schemeClr val="accent1"/>
                          </a:solidFill>
                          <a:effectLst/>
                        </a:rPr>
                        <a:t>보조참가의 요건</a:t>
                      </a:r>
                      <a:r>
                        <a:rPr lang="en-US" altLang="ko-KR" sz="1200" b="1" kern="0" spc="-80" dirty="0">
                          <a:solidFill>
                            <a:schemeClr val="accent1"/>
                          </a:solidFill>
                          <a:effectLst/>
                        </a:rPr>
                        <a:t>) </a:t>
                      </a:r>
                      <a:r>
                        <a:rPr lang="ko-KR" altLang="en-US" sz="1200" kern="0" spc="-80" dirty="0">
                          <a:effectLst/>
                        </a:rPr>
                        <a:t>특허권에 관하여 권리를 가진 자 또는 이해관계를 가진 자는 특허취소신청에 대한 결정이 있을 때까지 </a:t>
                      </a:r>
                      <a:r>
                        <a:rPr lang="ko-KR" altLang="en-US" sz="1200" kern="0" spc="-80" dirty="0" err="1">
                          <a:effectLst/>
                        </a:rPr>
                        <a:t>특허권자를</a:t>
                      </a:r>
                      <a:r>
                        <a:rPr lang="ko-KR" altLang="en-US" sz="1200" kern="0" spc="-80" dirty="0">
                          <a:effectLst/>
                        </a:rPr>
                        <a:t> 보조하기 위하여 그 심리에 참가할 수 있다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a:t>
                      </a:r>
                      <a:r>
                        <a:rPr lang="en-US" altLang="ko-KR" sz="1200" b="1" kern="0" spc="-80" dirty="0">
                          <a:solidFill>
                            <a:schemeClr val="accent1"/>
                          </a:solidFill>
                          <a:effectLst/>
                        </a:rPr>
                        <a:t> (</a:t>
                      </a:r>
                      <a:r>
                        <a:rPr lang="ko-KR" altLang="en-US" sz="1200" b="1" kern="0" spc="-80" dirty="0">
                          <a:solidFill>
                            <a:schemeClr val="accent1"/>
                          </a:solidFill>
                          <a:effectLst/>
                        </a:rPr>
                        <a:t>준용</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항의 참가에 관하여는 제</a:t>
                      </a:r>
                      <a:r>
                        <a:rPr lang="en-US" altLang="ko-KR" sz="1200" kern="0" spc="-80" dirty="0">
                          <a:effectLst/>
                        </a:rPr>
                        <a:t>155</a:t>
                      </a:r>
                      <a:r>
                        <a:rPr lang="ko-KR" altLang="en-US" sz="1200" kern="0" spc="-80" dirty="0">
                          <a:effectLst/>
                        </a:rPr>
                        <a:t>조제</a:t>
                      </a:r>
                      <a:r>
                        <a:rPr lang="en-US" altLang="ko-KR" sz="1200" kern="0" spc="-80" dirty="0">
                          <a:effectLst/>
                        </a:rPr>
                        <a:t>4</a:t>
                      </a:r>
                      <a:r>
                        <a:rPr lang="ko-KR" altLang="en-US" sz="1200" kern="0" spc="-80" dirty="0">
                          <a:effectLst/>
                        </a:rPr>
                        <a:t>항</a:t>
                      </a:r>
                      <a:r>
                        <a:rPr lang="en-US" altLang="ko-KR" sz="1200" kern="0" spc="-80" dirty="0">
                          <a:solidFill>
                            <a:srgbClr val="FF0000"/>
                          </a:solidFill>
                          <a:effectLst/>
                        </a:rPr>
                        <a:t>[</a:t>
                      </a:r>
                      <a:r>
                        <a:rPr lang="ko-KR" altLang="en-US" sz="1200" kern="0" spc="-80" dirty="0">
                          <a:solidFill>
                            <a:srgbClr val="FF0000"/>
                          </a:solidFill>
                          <a:effectLst/>
                        </a:rPr>
                        <a:t>보조참가의 효과</a:t>
                      </a:r>
                      <a:r>
                        <a:rPr lang="en-US" altLang="ko-KR" sz="1200" kern="0" spc="-80" dirty="0">
                          <a:solidFill>
                            <a:srgbClr val="FF0000"/>
                          </a:solidFill>
                          <a:effectLst/>
                        </a:rPr>
                        <a:t>]</a:t>
                      </a:r>
                      <a:r>
                        <a:rPr lang="ko-KR" altLang="en-US" sz="1200" kern="0" spc="-80" dirty="0" err="1">
                          <a:effectLst/>
                        </a:rPr>
                        <a:t>ㆍ제</a:t>
                      </a:r>
                      <a:r>
                        <a:rPr lang="en-US" altLang="ko-KR" sz="1200" kern="0" spc="-80" dirty="0">
                          <a:effectLst/>
                        </a:rPr>
                        <a:t>5</a:t>
                      </a:r>
                      <a:r>
                        <a:rPr lang="ko-KR" altLang="en-US" sz="1200" kern="0" spc="-80" dirty="0">
                          <a:effectLst/>
                        </a:rPr>
                        <a:t>항</a:t>
                      </a:r>
                      <a:r>
                        <a:rPr lang="en-US" altLang="ko-KR" sz="1200" kern="0" spc="-80" dirty="0">
                          <a:solidFill>
                            <a:srgbClr val="FF0000"/>
                          </a:solidFill>
                          <a:effectLst/>
                        </a:rPr>
                        <a:t>[</a:t>
                      </a:r>
                      <a:r>
                        <a:rPr lang="ko-KR" altLang="en-US" sz="1200" kern="0" spc="-80" dirty="0">
                          <a:solidFill>
                            <a:srgbClr val="FF0000"/>
                          </a:solidFill>
                          <a:effectLst/>
                        </a:rPr>
                        <a:t>참가인 </a:t>
                      </a:r>
                      <a:r>
                        <a:rPr lang="en-US" altLang="ko-KR" sz="1200" kern="0" spc="-80" dirty="0">
                          <a:solidFill>
                            <a:srgbClr val="FF0000"/>
                          </a:solidFill>
                          <a:effectLst/>
                        </a:rPr>
                        <a:t>1</a:t>
                      </a:r>
                      <a:r>
                        <a:rPr lang="ko-KR" altLang="en-US" sz="1200" kern="0" spc="-80" dirty="0">
                          <a:solidFill>
                            <a:srgbClr val="FF0000"/>
                          </a:solidFill>
                          <a:effectLst/>
                        </a:rPr>
                        <a:t>인에게 </a:t>
                      </a:r>
                      <a:r>
                        <a:rPr lang="ko-KR" altLang="en-US" sz="1200" kern="0" spc="-80" dirty="0" err="1">
                          <a:solidFill>
                            <a:srgbClr val="FF0000"/>
                          </a:solidFill>
                          <a:effectLst/>
                        </a:rPr>
                        <a:t>정지원인이</a:t>
                      </a:r>
                      <a:r>
                        <a:rPr lang="ko-KR" altLang="en-US" sz="1200" kern="0" spc="-80" dirty="0">
                          <a:solidFill>
                            <a:srgbClr val="FF0000"/>
                          </a:solidFill>
                          <a:effectLst/>
                        </a:rPr>
                        <a:t> 있는 경우</a:t>
                      </a:r>
                      <a:r>
                        <a:rPr lang="en-US" altLang="ko-KR" sz="1200" kern="0" spc="-80" dirty="0">
                          <a:solidFill>
                            <a:srgbClr val="FF0000"/>
                          </a:solidFill>
                          <a:effectLst/>
                        </a:rPr>
                        <a:t>]</a:t>
                      </a:r>
                      <a:r>
                        <a:rPr lang="en-US" altLang="ko-KR" sz="1200" kern="0" spc="-80" dirty="0">
                          <a:effectLst/>
                        </a:rPr>
                        <a:t> </a:t>
                      </a:r>
                      <a:r>
                        <a:rPr lang="ko-KR" altLang="en-US" sz="1200" kern="0" spc="-80" dirty="0">
                          <a:effectLst/>
                        </a:rPr>
                        <a:t>및 제</a:t>
                      </a:r>
                      <a:r>
                        <a:rPr lang="en-US" altLang="ko-KR" sz="1200" kern="0" spc="-80" dirty="0">
                          <a:effectLst/>
                        </a:rPr>
                        <a:t>156</a:t>
                      </a:r>
                      <a:r>
                        <a:rPr lang="ko-KR" altLang="en-US" sz="1200" kern="0" spc="-80" dirty="0">
                          <a:effectLst/>
                        </a:rPr>
                        <a:t>조</a:t>
                      </a:r>
                      <a:r>
                        <a:rPr lang="en-US" altLang="ko-KR" sz="1200" kern="0" spc="-80" dirty="0">
                          <a:solidFill>
                            <a:srgbClr val="FF0000"/>
                          </a:solidFill>
                          <a:effectLst/>
                        </a:rPr>
                        <a:t>[</a:t>
                      </a:r>
                      <a:r>
                        <a:rPr lang="ko-KR" altLang="en-US" sz="1200" kern="0" spc="-80" dirty="0">
                          <a:solidFill>
                            <a:srgbClr val="FF0000"/>
                          </a:solidFill>
                          <a:effectLst/>
                        </a:rPr>
                        <a:t>참가의 절차</a:t>
                      </a:r>
                      <a:r>
                        <a:rPr lang="en-US" altLang="ko-KR" sz="1200" kern="0" spc="-80" dirty="0">
                          <a:solidFill>
                            <a:srgbClr val="FF0000"/>
                          </a:solidFill>
                          <a:effectLst/>
                        </a:rPr>
                        <a:t>]</a:t>
                      </a:r>
                      <a:r>
                        <a:rPr lang="ko-KR" altLang="en-US" sz="1200" kern="0" spc="-80" dirty="0">
                          <a:effectLst/>
                        </a:rPr>
                        <a:t>를 준용한다</a:t>
                      </a:r>
                      <a:r>
                        <a:rPr lang="en-US" altLang="ko-KR" sz="1200" kern="0" spc="-80" dirty="0">
                          <a:effectLst/>
                        </a:rPr>
                        <a:t>.</a:t>
                      </a:r>
                    </a:p>
                  </a:txBody>
                  <a:tcPr marL="72000" marR="72000" marT="8067" marB="8067"/>
                </a:tc>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155</a:t>
                      </a:r>
                      <a:r>
                        <a:rPr lang="ko-KR" altLang="en-US" sz="1200" kern="0" spc="-80" dirty="0">
                          <a:effectLst/>
                        </a:rPr>
                        <a:t>조</a:t>
                      </a:r>
                      <a:r>
                        <a:rPr lang="en-US" altLang="ko-KR" sz="1200" kern="0" spc="-80" dirty="0">
                          <a:effectLst/>
                        </a:rPr>
                        <a:t>【</a:t>
                      </a:r>
                      <a:r>
                        <a:rPr lang="ko-KR" altLang="en-US" sz="1200" kern="0" spc="-80" dirty="0">
                          <a:effectLst/>
                        </a:rPr>
                        <a:t>참가</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a:t>
                      </a:r>
                      <a:r>
                        <a:rPr lang="en-US" altLang="ko-KR" sz="1200" b="1" kern="0" spc="-80" dirty="0">
                          <a:solidFill>
                            <a:schemeClr val="accent1"/>
                          </a:solidFill>
                          <a:effectLst/>
                        </a:rPr>
                        <a:t> (</a:t>
                      </a:r>
                      <a:r>
                        <a:rPr lang="ko-KR" altLang="en-US" sz="1200" b="1" kern="0" spc="-80" dirty="0">
                          <a:solidFill>
                            <a:schemeClr val="accent1"/>
                          </a:solidFill>
                          <a:effectLst/>
                        </a:rPr>
                        <a:t>당사자 참가</a:t>
                      </a:r>
                      <a:r>
                        <a:rPr lang="en-US" altLang="ko-KR" sz="1200" b="1" kern="0" spc="-80" dirty="0">
                          <a:solidFill>
                            <a:schemeClr val="accent1"/>
                          </a:solidFill>
                          <a:effectLst/>
                        </a:rPr>
                        <a:t>: </a:t>
                      </a:r>
                      <a:r>
                        <a:rPr lang="ko-KR" altLang="en-US" sz="1200" b="1" kern="0" spc="-80" dirty="0">
                          <a:solidFill>
                            <a:schemeClr val="accent1"/>
                          </a:solidFill>
                          <a:effectLst/>
                        </a:rPr>
                        <a:t>요건</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139</a:t>
                      </a:r>
                      <a:r>
                        <a:rPr lang="ko-KR" altLang="en-US" sz="1200" kern="0" spc="-80" dirty="0">
                          <a:effectLst/>
                        </a:rPr>
                        <a:t>조제</a:t>
                      </a:r>
                      <a:r>
                        <a:rPr lang="en-US" altLang="ko-KR" sz="1200" kern="0" spc="-80" dirty="0">
                          <a:effectLst/>
                        </a:rPr>
                        <a:t>1</a:t>
                      </a:r>
                      <a:r>
                        <a:rPr lang="ko-KR" altLang="en-US" sz="1200" kern="0" spc="-80" dirty="0">
                          <a:effectLst/>
                        </a:rPr>
                        <a:t>항에 따라 심판을 청구할 수 있는 자는 심리가 종결될 때까지 그 심판에 참가할 수 있다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a:t>
                      </a:r>
                      <a:r>
                        <a:rPr lang="en-US" altLang="ko-KR" sz="1200" b="1" kern="0" spc="-80" dirty="0">
                          <a:solidFill>
                            <a:schemeClr val="accent1"/>
                          </a:solidFill>
                          <a:effectLst/>
                        </a:rPr>
                        <a:t> (</a:t>
                      </a:r>
                      <a:r>
                        <a:rPr lang="ko-KR" altLang="en-US" sz="1200" b="1" kern="0" spc="-80" dirty="0">
                          <a:solidFill>
                            <a:schemeClr val="accent1"/>
                          </a:solidFill>
                          <a:effectLst/>
                        </a:rPr>
                        <a:t>당사자 참가</a:t>
                      </a:r>
                      <a:r>
                        <a:rPr lang="en-US" altLang="ko-KR" sz="1200" b="1" kern="0" spc="-80" dirty="0">
                          <a:solidFill>
                            <a:schemeClr val="accent1"/>
                          </a:solidFill>
                          <a:effectLst/>
                        </a:rPr>
                        <a:t>: </a:t>
                      </a:r>
                      <a:r>
                        <a:rPr lang="ko-KR" altLang="en-US" sz="1200" b="1" kern="0" spc="-80" dirty="0">
                          <a:solidFill>
                            <a:schemeClr val="accent1"/>
                          </a:solidFill>
                          <a:effectLst/>
                        </a:rPr>
                        <a:t>효과</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항에 따른 참가인은 </a:t>
                      </a:r>
                      <a:r>
                        <a:rPr lang="ko-KR" altLang="en-US" sz="1200" kern="0" spc="-80" dirty="0" err="1">
                          <a:effectLst/>
                        </a:rPr>
                        <a:t>피참가인이</a:t>
                      </a:r>
                      <a:r>
                        <a:rPr lang="ko-KR" altLang="en-US" sz="1200" kern="0" spc="-80" dirty="0">
                          <a:effectLst/>
                        </a:rPr>
                        <a:t> 그 심판의 청구를 취하한 후에도 </a:t>
                      </a:r>
                      <a:r>
                        <a:rPr lang="ko-KR" altLang="en-US" sz="1200" kern="0" spc="-80" dirty="0" err="1">
                          <a:effectLst/>
                        </a:rPr>
                        <a:t>심판절차를</a:t>
                      </a:r>
                      <a:r>
                        <a:rPr lang="ko-KR" altLang="en-US" sz="1200" kern="0" spc="-80" dirty="0">
                          <a:effectLst/>
                        </a:rPr>
                        <a:t> 속행할 수 있다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③</a:t>
                      </a:r>
                      <a:r>
                        <a:rPr lang="en-US" altLang="ko-KR" sz="1200" b="1" kern="0" spc="-80" dirty="0">
                          <a:solidFill>
                            <a:schemeClr val="accent1"/>
                          </a:solidFill>
                          <a:effectLst/>
                        </a:rPr>
                        <a:t> (</a:t>
                      </a:r>
                      <a:r>
                        <a:rPr lang="ko-KR" altLang="en-US" sz="1200" b="1" kern="0" spc="-80" dirty="0">
                          <a:solidFill>
                            <a:schemeClr val="accent1"/>
                          </a:solidFill>
                          <a:effectLst/>
                        </a:rPr>
                        <a:t>보조 참가</a:t>
                      </a:r>
                      <a:r>
                        <a:rPr lang="en-US" altLang="ko-KR" sz="1200" b="1" kern="0" spc="-80" dirty="0">
                          <a:solidFill>
                            <a:schemeClr val="accent1"/>
                          </a:solidFill>
                          <a:effectLst/>
                        </a:rPr>
                        <a:t>: </a:t>
                      </a:r>
                      <a:r>
                        <a:rPr lang="ko-KR" altLang="en-US" sz="1200" b="1" kern="0" spc="-80" dirty="0">
                          <a:solidFill>
                            <a:schemeClr val="accent1"/>
                          </a:solidFill>
                          <a:effectLst/>
                        </a:rPr>
                        <a:t>요건</a:t>
                      </a:r>
                      <a:r>
                        <a:rPr lang="en-US" altLang="ko-KR" sz="1200" b="1" kern="0" spc="-80" dirty="0">
                          <a:solidFill>
                            <a:schemeClr val="accent1"/>
                          </a:solidFill>
                          <a:effectLst/>
                        </a:rPr>
                        <a:t>) </a:t>
                      </a:r>
                      <a:r>
                        <a:rPr lang="ko-KR" altLang="en-US" sz="1200" kern="0" spc="-80" dirty="0">
                          <a:effectLst/>
                        </a:rPr>
                        <a:t>심판의 결과에 대하여 이해관계를 가진 자는 심리가 종결될 때까지 당사자의 어느 한쪽을 보조하기 위하여 그 심판에 참가할 수 있다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④</a:t>
                      </a:r>
                      <a:r>
                        <a:rPr lang="en-US" altLang="ko-KR" sz="1200" b="1" kern="0" spc="-80" dirty="0">
                          <a:solidFill>
                            <a:schemeClr val="accent1"/>
                          </a:solidFill>
                          <a:effectLst/>
                        </a:rPr>
                        <a:t> (</a:t>
                      </a:r>
                      <a:r>
                        <a:rPr lang="ko-KR" altLang="en-US" sz="1200" b="1" kern="0" spc="-80" dirty="0">
                          <a:solidFill>
                            <a:schemeClr val="accent1"/>
                          </a:solidFill>
                          <a:effectLst/>
                        </a:rPr>
                        <a:t>보조 참가</a:t>
                      </a:r>
                      <a:r>
                        <a:rPr lang="en-US" altLang="ko-KR" sz="1200" b="1" kern="0" spc="-80" dirty="0">
                          <a:solidFill>
                            <a:schemeClr val="accent1"/>
                          </a:solidFill>
                          <a:effectLst/>
                        </a:rPr>
                        <a:t>: </a:t>
                      </a:r>
                      <a:r>
                        <a:rPr lang="ko-KR" altLang="en-US" sz="1200" b="1" kern="0" spc="-80" dirty="0">
                          <a:solidFill>
                            <a:schemeClr val="accent1"/>
                          </a:solidFill>
                          <a:effectLst/>
                        </a:rPr>
                        <a:t>효과</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3</a:t>
                      </a:r>
                      <a:r>
                        <a:rPr lang="ko-KR" altLang="en-US" sz="1200" kern="0" spc="-80" dirty="0">
                          <a:effectLst/>
                        </a:rPr>
                        <a:t>항에 따른 참가인은 모든 </a:t>
                      </a:r>
                      <a:r>
                        <a:rPr lang="ko-KR" altLang="en-US" sz="1200" kern="0" spc="-80" dirty="0" err="1">
                          <a:effectLst/>
                        </a:rPr>
                        <a:t>심판절차를</a:t>
                      </a:r>
                      <a:r>
                        <a:rPr lang="ko-KR" altLang="en-US" sz="1200" kern="0" spc="-80" dirty="0">
                          <a:effectLst/>
                        </a:rPr>
                        <a:t> 밟을 수 있다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⑤ </a:t>
                      </a:r>
                      <a:r>
                        <a:rPr lang="en-US" altLang="ko-KR" sz="1200" b="1" kern="0" spc="-80" dirty="0">
                          <a:solidFill>
                            <a:schemeClr val="accent1"/>
                          </a:solidFill>
                          <a:effectLst/>
                        </a:rPr>
                        <a:t>(</a:t>
                      </a:r>
                      <a:r>
                        <a:rPr lang="ko-KR" altLang="en-US" sz="1200" b="1" kern="0" spc="-80" dirty="0">
                          <a:solidFill>
                            <a:schemeClr val="accent1"/>
                          </a:solidFill>
                          <a:effectLst/>
                        </a:rPr>
                        <a:t>참가인 </a:t>
                      </a:r>
                      <a:r>
                        <a:rPr lang="en-US" altLang="ko-KR" sz="1200" b="1" kern="0" spc="-80" dirty="0">
                          <a:solidFill>
                            <a:schemeClr val="accent1"/>
                          </a:solidFill>
                          <a:effectLst/>
                        </a:rPr>
                        <a:t>1</a:t>
                      </a:r>
                      <a:r>
                        <a:rPr lang="ko-KR" altLang="en-US" sz="1200" b="1" kern="0" spc="-80" dirty="0">
                          <a:solidFill>
                            <a:schemeClr val="accent1"/>
                          </a:solidFill>
                          <a:effectLst/>
                        </a:rPr>
                        <a:t>인에게 </a:t>
                      </a:r>
                      <a:r>
                        <a:rPr lang="ko-KR" altLang="en-US" sz="1200" b="1" kern="0" spc="-80" dirty="0" err="1">
                          <a:solidFill>
                            <a:schemeClr val="accent1"/>
                          </a:solidFill>
                          <a:effectLst/>
                        </a:rPr>
                        <a:t>정지원인이</a:t>
                      </a:r>
                      <a:r>
                        <a:rPr lang="ko-KR" altLang="en-US" sz="1200" b="1" kern="0" spc="-80" dirty="0">
                          <a:solidFill>
                            <a:schemeClr val="accent1"/>
                          </a:solidFill>
                          <a:effectLst/>
                        </a:rPr>
                        <a:t> 있는 경우</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 또는 제</a:t>
                      </a:r>
                      <a:r>
                        <a:rPr lang="en-US" altLang="ko-KR" sz="1200" kern="0" spc="-80" dirty="0">
                          <a:effectLst/>
                        </a:rPr>
                        <a:t>3</a:t>
                      </a:r>
                      <a:r>
                        <a:rPr lang="ko-KR" altLang="en-US" sz="1200" kern="0" spc="-80" dirty="0">
                          <a:effectLst/>
                        </a:rPr>
                        <a:t>항에 따른 참가인에게 </a:t>
                      </a:r>
                      <a:r>
                        <a:rPr lang="ko-KR" altLang="en-US" sz="1200" kern="0" spc="-80" dirty="0" err="1">
                          <a:effectLst/>
                        </a:rPr>
                        <a:t>심판절차의</a:t>
                      </a:r>
                      <a:r>
                        <a:rPr lang="ko-KR" altLang="en-US" sz="1200" kern="0" spc="-80" dirty="0">
                          <a:effectLst/>
                        </a:rPr>
                        <a:t> 중단 또는 중지의 원인이 있으면 그 중단 또는 중지는 </a:t>
                      </a:r>
                      <a:r>
                        <a:rPr lang="ko-KR" altLang="en-US" sz="1200" kern="0" spc="-80" dirty="0" err="1">
                          <a:effectLst/>
                        </a:rPr>
                        <a:t>피참가인에</a:t>
                      </a:r>
                      <a:r>
                        <a:rPr lang="ko-KR" altLang="en-US" sz="1200" kern="0" spc="-80" dirty="0">
                          <a:effectLst/>
                        </a:rPr>
                        <a:t> 대해서도 그 효력이 발생한다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156</a:t>
                      </a:r>
                      <a:r>
                        <a:rPr lang="ko-KR" altLang="en-US" sz="1200" kern="0" spc="-80" dirty="0">
                          <a:effectLst/>
                        </a:rPr>
                        <a:t>조</a:t>
                      </a:r>
                      <a:r>
                        <a:rPr lang="en-US" altLang="ko-KR" sz="1200" kern="0" spc="-80" dirty="0">
                          <a:effectLst/>
                        </a:rPr>
                        <a:t>【</a:t>
                      </a:r>
                      <a:r>
                        <a:rPr lang="ko-KR" altLang="en-US" sz="1200" kern="0" spc="-80" dirty="0">
                          <a:effectLst/>
                        </a:rPr>
                        <a:t>참가의 신청 및 결정</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a:t>
                      </a:r>
                      <a:r>
                        <a:rPr lang="en-US" altLang="ko-KR" sz="1200" b="1" kern="0" spc="-80" dirty="0">
                          <a:solidFill>
                            <a:schemeClr val="accent1"/>
                          </a:solidFill>
                          <a:effectLst/>
                        </a:rPr>
                        <a:t> (</a:t>
                      </a:r>
                      <a:r>
                        <a:rPr lang="ko-KR" altLang="en-US" sz="1200" b="1" kern="0" spc="-80" dirty="0">
                          <a:solidFill>
                            <a:schemeClr val="accent1"/>
                          </a:solidFill>
                          <a:effectLst/>
                        </a:rPr>
                        <a:t>신청서 제출</a:t>
                      </a:r>
                      <a:r>
                        <a:rPr lang="en-US" altLang="ko-KR" sz="1200" b="1" kern="0" spc="-80" dirty="0">
                          <a:solidFill>
                            <a:schemeClr val="accent1"/>
                          </a:solidFill>
                          <a:effectLst/>
                        </a:rPr>
                        <a:t>) </a:t>
                      </a:r>
                      <a:r>
                        <a:rPr lang="ko-KR" altLang="en-US" sz="1200" kern="0" spc="-80" dirty="0">
                          <a:effectLst/>
                        </a:rPr>
                        <a:t>심판에 참가하려는 자는 참가신청서를 심판장에게 제출하여야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의견서 </a:t>
                      </a:r>
                      <a:r>
                        <a:rPr lang="ko-KR" altLang="en-US" sz="1200" b="1" kern="0" spc="-80" dirty="0" err="1">
                          <a:solidFill>
                            <a:schemeClr val="accent1"/>
                          </a:solidFill>
                          <a:effectLst/>
                        </a:rPr>
                        <a:t>제출기회의</a:t>
                      </a:r>
                      <a:r>
                        <a:rPr lang="ko-KR" altLang="en-US" sz="1200" b="1" kern="0" spc="-80" dirty="0">
                          <a:solidFill>
                            <a:schemeClr val="accent1"/>
                          </a:solidFill>
                          <a:effectLst/>
                        </a:rPr>
                        <a:t> 부여</a:t>
                      </a:r>
                      <a:r>
                        <a:rPr lang="en-US" altLang="ko-KR" sz="1200" b="1" kern="0" spc="-80" dirty="0">
                          <a:solidFill>
                            <a:schemeClr val="accent1"/>
                          </a:solidFill>
                          <a:effectLst/>
                        </a:rPr>
                        <a:t>) </a:t>
                      </a:r>
                      <a:r>
                        <a:rPr lang="ko-KR" altLang="en-US" sz="1200" kern="0" spc="-80" dirty="0">
                          <a:effectLst/>
                        </a:rPr>
                        <a:t>심판장은 참가신청이 있는 경우에는 참가신청서 부본을 당사자 및 다른 참가인에게 송달하고</a:t>
                      </a:r>
                      <a:r>
                        <a:rPr lang="en-US" altLang="ko-KR" sz="1200" kern="0" spc="-80" dirty="0">
                          <a:effectLst/>
                        </a:rPr>
                        <a:t>, </a:t>
                      </a:r>
                      <a:r>
                        <a:rPr lang="ko-KR" altLang="en-US" sz="1200" kern="0" spc="-80" dirty="0">
                          <a:effectLst/>
                        </a:rPr>
                        <a:t>기간을 정하여 의견서를 제출할 수 있는 기회를 주어야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③ </a:t>
                      </a:r>
                      <a:r>
                        <a:rPr lang="en-US" altLang="ko-KR" sz="1200" b="1" kern="0" spc="-80" dirty="0">
                          <a:solidFill>
                            <a:schemeClr val="accent1"/>
                          </a:solidFill>
                          <a:effectLst/>
                        </a:rPr>
                        <a:t>(</a:t>
                      </a:r>
                      <a:r>
                        <a:rPr lang="ko-KR" altLang="en-US" sz="1200" b="1" kern="0" spc="-80" dirty="0" err="1">
                          <a:solidFill>
                            <a:schemeClr val="accent1"/>
                          </a:solidFill>
                          <a:effectLst/>
                        </a:rPr>
                        <a:t>참가여부의</a:t>
                      </a:r>
                      <a:r>
                        <a:rPr lang="ko-KR" altLang="en-US" sz="1200" b="1" kern="0" spc="-80" dirty="0">
                          <a:solidFill>
                            <a:schemeClr val="accent1"/>
                          </a:solidFill>
                          <a:effectLst/>
                        </a:rPr>
                        <a:t> 결정</a:t>
                      </a:r>
                      <a:r>
                        <a:rPr lang="en-US" altLang="ko-KR" sz="1200" b="1" kern="0" spc="-80" dirty="0">
                          <a:solidFill>
                            <a:schemeClr val="accent1"/>
                          </a:solidFill>
                          <a:effectLst/>
                        </a:rPr>
                        <a:t>) </a:t>
                      </a:r>
                      <a:r>
                        <a:rPr lang="ko-KR" altLang="en-US" sz="1200" kern="0" spc="-80" dirty="0">
                          <a:effectLst/>
                        </a:rPr>
                        <a:t>참가신청이 있는 경우에는 심판으로 그 참가 여부를 결정하여야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④ </a:t>
                      </a:r>
                      <a:r>
                        <a:rPr lang="en-US" altLang="ko-KR" sz="1200" b="1" kern="0" spc="-80" dirty="0">
                          <a:solidFill>
                            <a:schemeClr val="accent1"/>
                          </a:solidFill>
                          <a:effectLst/>
                        </a:rPr>
                        <a:t>(</a:t>
                      </a:r>
                      <a:r>
                        <a:rPr lang="ko-KR" altLang="en-US" sz="1200" b="1" kern="0" spc="-80" dirty="0">
                          <a:solidFill>
                            <a:schemeClr val="accent1"/>
                          </a:solidFill>
                          <a:effectLst/>
                        </a:rPr>
                        <a:t>방식</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3</a:t>
                      </a:r>
                      <a:r>
                        <a:rPr lang="ko-KR" altLang="en-US" sz="1200" kern="0" spc="-80" dirty="0">
                          <a:effectLst/>
                        </a:rPr>
                        <a:t>항에 따른 결정은 서면으로 하여야 하며</a:t>
                      </a:r>
                      <a:r>
                        <a:rPr lang="en-US" altLang="ko-KR" sz="1200" kern="0" spc="-80" dirty="0">
                          <a:effectLst/>
                        </a:rPr>
                        <a:t>, </a:t>
                      </a:r>
                      <a:r>
                        <a:rPr lang="ko-KR" altLang="en-US" sz="1200" kern="0" spc="-80" dirty="0">
                          <a:effectLst/>
                        </a:rPr>
                        <a:t>그 이유를 붙여야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⑤ </a:t>
                      </a:r>
                      <a:r>
                        <a:rPr lang="en-US" altLang="ko-KR" sz="1200" b="1" kern="0" spc="-80" dirty="0">
                          <a:solidFill>
                            <a:schemeClr val="accent1"/>
                          </a:solidFill>
                          <a:effectLst/>
                        </a:rPr>
                        <a:t>(</a:t>
                      </a:r>
                      <a:r>
                        <a:rPr lang="ko-KR" altLang="en-US" sz="1200" b="1" kern="0" spc="-80" dirty="0">
                          <a:solidFill>
                            <a:schemeClr val="accent1"/>
                          </a:solidFill>
                          <a:effectLst/>
                        </a:rPr>
                        <a:t>불복 不可</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3</a:t>
                      </a:r>
                      <a:r>
                        <a:rPr lang="ko-KR" altLang="en-US" sz="1200" kern="0" spc="-80" dirty="0">
                          <a:effectLst/>
                        </a:rPr>
                        <a:t>항에 따른 결정에 대해서는 불복할 수 없다</a:t>
                      </a:r>
                      <a:r>
                        <a:rPr lang="en-US" altLang="ko-KR" sz="1200" kern="0" spc="-80" dirty="0">
                          <a:effectLst/>
                        </a:rPr>
                        <a:t>.</a:t>
                      </a:r>
                    </a:p>
                  </a:txBody>
                  <a:tcPr marL="72000" marR="72000" marT="8067" marB="8067"/>
                </a:tc>
                <a:extLst>
                  <a:ext uri="{0D108BD9-81ED-4DB2-BD59-A6C34878D82A}">
                    <a16:rowId xmlns:a16="http://schemas.microsoft.com/office/drawing/2014/main" val="394184570"/>
                  </a:ext>
                </a:extLst>
              </a:tr>
              <a:tr h="430718">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10【</a:t>
                      </a:r>
                      <a:r>
                        <a:rPr lang="ko-KR" altLang="en-US" sz="1200" kern="0" spc="-80" dirty="0">
                          <a:effectLst/>
                        </a:rPr>
                        <a:t>특허취소신청의 심리에서의 </a:t>
                      </a:r>
                      <a:r>
                        <a:rPr lang="ko-KR" altLang="en-US" sz="1200" kern="0" spc="-80" dirty="0" err="1">
                          <a:effectLst/>
                        </a:rPr>
                        <a:t>직권심리</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범위</a:t>
                      </a:r>
                      <a:r>
                        <a:rPr lang="en-US" altLang="ko-KR" sz="1200" b="1" kern="0" spc="-80" dirty="0">
                          <a:solidFill>
                            <a:schemeClr val="accent1"/>
                          </a:solidFill>
                          <a:effectLst/>
                        </a:rPr>
                        <a:t>) </a:t>
                      </a:r>
                      <a:r>
                        <a:rPr lang="ko-KR" altLang="en-US" sz="1200" kern="0" spc="-80" dirty="0">
                          <a:effectLst/>
                        </a:rPr>
                        <a:t>심판관은 특허취소신청에 관하여 특허취소신청인</a:t>
                      </a:r>
                      <a:r>
                        <a:rPr lang="en-US" altLang="ko-KR" sz="1200" kern="0" spc="-80" dirty="0">
                          <a:effectLst/>
                        </a:rPr>
                        <a:t>, </a:t>
                      </a:r>
                      <a:r>
                        <a:rPr lang="ko-KR" altLang="en-US" sz="1200" kern="0" spc="-80" dirty="0" err="1">
                          <a:effectLst/>
                        </a:rPr>
                        <a:t>특허권자</a:t>
                      </a:r>
                      <a:r>
                        <a:rPr lang="ko-KR" altLang="en-US" sz="1200" kern="0" spc="-80" dirty="0">
                          <a:effectLst/>
                        </a:rPr>
                        <a:t> 또는 참가인이 제출하지 아니한 이유에 대해서도 심리할 수 있다</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한계</a:t>
                      </a:r>
                      <a:r>
                        <a:rPr lang="en-US" altLang="ko-KR" sz="1200" b="1" kern="0" spc="-80" dirty="0">
                          <a:solidFill>
                            <a:schemeClr val="accent1"/>
                          </a:solidFill>
                          <a:effectLst/>
                        </a:rPr>
                        <a:t>) </a:t>
                      </a:r>
                      <a:r>
                        <a:rPr lang="ko-KR" altLang="en-US" sz="1200" kern="0" spc="-80" dirty="0">
                          <a:effectLst/>
                        </a:rPr>
                        <a:t>심판관은 특허취소신청에 관하여 특허취소신청인이 신청하지 아니한 </a:t>
                      </a:r>
                      <a:r>
                        <a:rPr lang="ko-KR" altLang="en-US" sz="1200" kern="0" spc="-80" dirty="0" err="1">
                          <a:effectLst/>
                        </a:rPr>
                        <a:t>청구항에</a:t>
                      </a:r>
                      <a:r>
                        <a:rPr lang="ko-KR" altLang="en-US" sz="1200" kern="0" spc="-80" dirty="0">
                          <a:effectLst/>
                        </a:rPr>
                        <a:t> 대해서는 심리할 수 없다</a:t>
                      </a:r>
                      <a:r>
                        <a:rPr lang="en-US" altLang="ko-KR" sz="1200" kern="0" spc="-80" dirty="0">
                          <a:effectLst/>
                        </a:rPr>
                        <a:t>.</a:t>
                      </a:r>
                    </a:p>
                  </a:txBody>
                  <a:tcPr marL="72000" marR="72000" marT="8067" marB="8067"/>
                </a:tc>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159</a:t>
                      </a:r>
                      <a:r>
                        <a:rPr lang="ko-KR" altLang="en-US" sz="1200" kern="0" spc="-80" dirty="0">
                          <a:effectLst/>
                        </a:rPr>
                        <a:t>조</a:t>
                      </a:r>
                      <a:r>
                        <a:rPr lang="en-US" altLang="ko-KR" sz="1200" kern="0" spc="-80" dirty="0">
                          <a:effectLst/>
                        </a:rPr>
                        <a:t>【</a:t>
                      </a:r>
                      <a:r>
                        <a:rPr lang="ko-KR" altLang="en-US" sz="1200" kern="0" spc="-80" dirty="0" err="1">
                          <a:effectLst/>
                        </a:rPr>
                        <a:t>직권심리</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범위</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심판에서는 당사자 또는 참가인이 신청하지 아니한 이유에 대해서도 심리할 수 있다</a:t>
                      </a:r>
                      <a:r>
                        <a:rPr lang="en-US" altLang="ko-KR" sz="1200" kern="0" spc="-80" dirty="0">
                          <a:effectLst/>
                        </a:rPr>
                        <a:t>. </a:t>
                      </a:r>
                      <a:r>
                        <a:rPr lang="en-US" altLang="ko-KR" sz="1200" b="1" kern="0" spc="-80" dirty="0">
                          <a:solidFill>
                            <a:schemeClr val="accent1"/>
                          </a:solidFill>
                          <a:effectLst/>
                        </a:rPr>
                        <a:t>(</a:t>
                      </a:r>
                      <a:r>
                        <a:rPr lang="ko-KR" altLang="en-US" sz="1200" b="1" kern="0" spc="-80" dirty="0">
                          <a:solidFill>
                            <a:schemeClr val="accent1"/>
                          </a:solidFill>
                          <a:effectLst/>
                        </a:rPr>
                        <a:t>의견서 </a:t>
                      </a:r>
                      <a:r>
                        <a:rPr lang="ko-KR" altLang="en-US" sz="1200" b="1" kern="0" spc="-80" dirty="0" err="1">
                          <a:solidFill>
                            <a:schemeClr val="accent1"/>
                          </a:solidFill>
                          <a:effectLst/>
                        </a:rPr>
                        <a:t>제출기회의</a:t>
                      </a:r>
                      <a:r>
                        <a:rPr lang="ko-KR" altLang="en-US" sz="1200" b="1" kern="0" spc="-80" dirty="0">
                          <a:solidFill>
                            <a:schemeClr val="accent1"/>
                          </a:solidFill>
                          <a:effectLst/>
                        </a:rPr>
                        <a:t> 부여</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이 경우 당사자 및 참가인에게 기간을 정하여 그 이유에 대하여 의견을 진술할 수 있는 기회를 주어야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한계</a:t>
                      </a:r>
                      <a:r>
                        <a:rPr lang="en-US" altLang="ko-KR" sz="1200" b="1" kern="0" spc="-80" dirty="0">
                          <a:solidFill>
                            <a:schemeClr val="accent1"/>
                          </a:solidFill>
                          <a:effectLst/>
                        </a:rPr>
                        <a:t>) </a:t>
                      </a:r>
                      <a:r>
                        <a:rPr lang="ko-KR" altLang="en-US" sz="1200" kern="0" spc="-80" dirty="0">
                          <a:effectLst/>
                        </a:rPr>
                        <a:t>심판에서는 청구인이 신청하지 아니한 청구의 취지에 대해서는 심리할 수 없다</a:t>
                      </a:r>
                      <a:r>
                        <a:rPr lang="en-US" altLang="ko-KR" sz="1200" kern="0" spc="-80" dirty="0">
                          <a:effectLst/>
                        </a:rPr>
                        <a:t>.</a:t>
                      </a:r>
                    </a:p>
                  </a:txBody>
                  <a:tcPr marL="72000" marR="72000" marT="8067" marB="8067"/>
                </a:tc>
                <a:extLst>
                  <a:ext uri="{0D108BD9-81ED-4DB2-BD59-A6C34878D82A}">
                    <a16:rowId xmlns:a16="http://schemas.microsoft.com/office/drawing/2014/main" val="3278175653"/>
                  </a:ext>
                </a:extLst>
              </a:tr>
            </a:tbl>
          </a:graphicData>
        </a:graphic>
      </p:graphicFrame>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505</a:t>
            </a:r>
            <a:endParaRPr lang="ko-KR" altLang="en-US" dirty="0"/>
          </a:p>
        </p:txBody>
      </p:sp>
    </p:spTree>
    <p:extLst>
      <p:ext uri="{BB962C8B-B14F-4D97-AF65-F5344CB8AC3E}">
        <p14:creationId xmlns:p14="http://schemas.microsoft.com/office/powerpoint/2010/main" val="1380404094"/>
      </p:ext>
    </p:extLst>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132</a:t>
            </a:r>
            <a:r>
              <a:rPr lang="ko-KR" altLang="en-US" dirty="0"/>
              <a:t>조의</a:t>
            </a:r>
            <a:r>
              <a:rPr lang="en-US" altLang="ko-KR" dirty="0"/>
              <a:t>2~</a:t>
            </a:r>
            <a:br>
              <a:rPr lang="en-US" altLang="ko-KR" dirty="0"/>
            </a:br>
            <a:r>
              <a:rPr lang="ko-KR" altLang="en-US" dirty="0"/>
              <a:t>제</a:t>
            </a:r>
            <a:r>
              <a:rPr lang="en-US" altLang="ko-KR" dirty="0"/>
              <a:t>132</a:t>
            </a:r>
            <a:r>
              <a:rPr lang="ko-KR" altLang="en-US" dirty="0"/>
              <a:t>조의</a:t>
            </a:r>
            <a:r>
              <a:rPr lang="en-US" altLang="ko-KR" dirty="0"/>
              <a:t>15</a:t>
            </a:r>
            <a:endParaRPr lang="ko-KR" altLang="en-US" dirty="0"/>
          </a:p>
        </p:txBody>
      </p:sp>
      <p:sp>
        <p:nvSpPr>
          <p:cNvPr id="4" name="텍스트 개체 틀 3"/>
          <p:cNvSpPr>
            <a:spLocks noGrp="1"/>
          </p:cNvSpPr>
          <p:nvPr>
            <p:ph type="body" sz="quarter" idx="13"/>
          </p:nvPr>
        </p:nvSpPr>
        <p:spPr/>
        <p:txBody>
          <a:bodyPr/>
          <a:lstStyle/>
          <a:p>
            <a:r>
              <a:rPr lang="ko-KR" altLang="en-US" dirty="0"/>
              <a:t>특허취소신청과</a:t>
            </a:r>
            <a:r>
              <a:rPr lang="en-US" altLang="ko-KR" dirty="0"/>
              <a:t> </a:t>
            </a:r>
            <a:r>
              <a:rPr lang="ko-KR" altLang="en-US" dirty="0"/>
              <a:t>특허무효심판의 법조문 비교</a:t>
            </a:r>
          </a:p>
        </p:txBody>
      </p:sp>
      <p:graphicFrame>
        <p:nvGraphicFramePr>
          <p:cNvPr id="2" name="표 1"/>
          <p:cNvGraphicFramePr>
            <a:graphicFrameLocks noGrp="1"/>
          </p:cNvGraphicFramePr>
          <p:nvPr/>
        </p:nvGraphicFramePr>
        <p:xfrm>
          <a:off x="317501" y="1036281"/>
          <a:ext cx="11569700" cy="5758519"/>
        </p:xfrm>
        <a:graphic>
          <a:graphicData uri="http://schemas.openxmlformats.org/drawingml/2006/table">
            <a:tbl>
              <a:tblPr>
                <a:tableStyleId>{8799B23B-EC83-4686-B30A-512413B5E67A}</a:tableStyleId>
              </a:tblPr>
              <a:tblGrid>
                <a:gridCol w="5619035">
                  <a:extLst>
                    <a:ext uri="{9D8B030D-6E8A-4147-A177-3AD203B41FA5}">
                      <a16:colId xmlns:a16="http://schemas.microsoft.com/office/drawing/2014/main" val="4122316602"/>
                    </a:ext>
                  </a:extLst>
                </a:gridCol>
                <a:gridCol w="5950665">
                  <a:extLst>
                    <a:ext uri="{9D8B030D-6E8A-4147-A177-3AD203B41FA5}">
                      <a16:colId xmlns:a16="http://schemas.microsoft.com/office/drawing/2014/main" val="3501181814"/>
                    </a:ext>
                  </a:extLst>
                </a:gridCol>
              </a:tblGrid>
              <a:tr h="53329">
                <a:tc>
                  <a:txBody>
                    <a:bodyPr/>
                    <a:lstStyle/>
                    <a:p>
                      <a:pPr marL="0" marR="0" indent="0" algn="ctr" fontAlgn="base" latinLnBrk="0">
                        <a:lnSpc>
                          <a:spcPct val="108000"/>
                        </a:lnSpc>
                        <a:spcBef>
                          <a:spcPts val="0"/>
                        </a:spcBef>
                        <a:spcAft>
                          <a:spcPts val="0"/>
                        </a:spcAft>
                      </a:pPr>
                      <a:r>
                        <a:rPr lang="ko-KR" altLang="en-US" sz="1200" kern="0" spc="-100" dirty="0">
                          <a:effectLst/>
                        </a:rPr>
                        <a:t>특허취소신청</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tc>
                  <a:txBody>
                    <a:bodyPr/>
                    <a:lstStyle/>
                    <a:p>
                      <a:pPr marL="0" marR="0" indent="0" algn="ctr" fontAlgn="base" latinLnBrk="0">
                        <a:lnSpc>
                          <a:spcPct val="108000"/>
                        </a:lnSpc>
                        <a:spcBef>
                          <a:spcPts val="0"/>
                        </a:spcBef>
                        <a:spcAft>
                          <a:spcPts val="0"/>
                        </a:spcAft>
                      </a:pPr>
                      <a:r>
                        <a:rPr lang="ko-KR" altLang="en-US" sz="1200" kern="0" spc="-100" dirty="0">
                          <a:effectLst/>
                        </a:rPr>
                        <a:t>특허무효심판</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extLst>
                  <a:ext uri="{0D108BD9-81ED-4DB2-BD59-A6C34878D82A}">
                    <a16:rowId xmlns:a16="http://schemas.microsoft.com/office/drawing/2014/main" val="2907354057"/>
                  </a:ext>
                </a:extLst>
              </a:tr>
              <a:tr h="430718">
                <a:tc>
                  <a:txBody>
                    <a:bodyPr/>
                    <a:lstStyle/>
                    <a:p>
                      <a:pPr marL="0" marR="0" indent="0" algn="just" fontAlgn="base" latinLnBrk="0">
                        <a:lnSpc>
                          <a:spcPct val="108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11【</a:t>
                      </a:r>
                      <a:r>
                        <a:rPr lang="ko-KR" altLang="en-US" sz="1200" kern="0" spc="-80" dirty="0">
                          <a:effectLst/>
                        </a:rPr>
                        <a:t>특허취소신청의 병합 또는 분리</a:t>
                      </a:r>
                      <a:r>
                        <a:rPr lang="en-US" altLang="ko-KR" sz="1200" kern="0" spc="-80" dirty="0">
                          <a:effectLst/>
                        </a:rPr>
                        <a:t>】 </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병합</a:t>
                      </a:r>
                      <a:r>
                        <a:rPr lang="en-US" altLang="ko-KR" sz="1200" b="1" kern="0" spc="-80" dirty="0">
                          <a:solidFill>
                            <a:schemeClr val="accent1"/>
                          </a:solidFill>
                          <a:effectLst/>
                        </a:rPr>
                        <a:t>) </a:t>
                      </a:r>
                      <a:r>
                        <a:rPr lang="ko-KR" altLang="en-US" sz="1200" kern="0" spc="-80" dirty="0">
                          <a:effectLst/>
                        </a:rPr>
                        <a:t>심판관 합의체는 하나의 특허권에 관한 둘 이상의 특허취소신청에 대해서는 특별한 사정이 있는 경우를 제외하고는 그 심리를 병합하여 결정하여야 한다</a:t>
                      </a:r>
                      <a:r>
                        <a:rPr lang="en-US" altLang="ko-KR" sz="1200" kern="0" spc="-80" dirty="0">
                          <a:effectLst/>
                        </a:rPr>
                        <a:t>. </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분리</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심판관 합의체는 특허취소신청의 심리에 필요하다고 인정하는 경우에는 제</a:t>
                      </a:r>
                      <a:r>
                        <a:rPr lang="en-US" altLang="ko-KR" sz="1200" kern="0" spc="-80" dirty="0">
                          <a:effectLst/>
                        </a:rPr>
                        <a:t>1</a:t>
                      </a:r>
                      <a:r>
                        <a:rPr lang="ko-KR" altLang="en-US" sz="1200" kern="0" spc="-80" dirty="0">
                          <a:effectLst/>
                        </a:rPr>
                        <a:t>항에 따라 병합된 심리를 분리할 수 있다</a:t>
                      </a:r>
                      <a:r>
                        <a:rPr lang="en-US" altLang="ko-KR" sz="1200" kern="0" spc="-80" dirty="0">
                          <a:effectLst/>
                        </a:rPr>
                        <a:t>.</a:t>
                      </a:r>
                    </a:p>
                  </a:txBody>
                  <a:tcPr marL="72000" marR="72000" marT="8067" marB="8067"/>
                </a:tc>
                <a:tc>
                  <a:txBody>
                    <a:bodyPr/>
                    <a:lstStyle/>
                    <a:p>
                      <a:pPr marL="0" marR="0" indent="0" algn="just" fontAlgn="base" latinLnBrk="0">
                        <a:lnSpc>
                          <a:spcPct val="108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160</a:t>
                      </a:r>
                      <a:r>
                        <a:rPr lang="ko-KR" altLang="en-US" sz="1200" kern="0" spc="-80" dirty="0">
                          <a:effectLst/>
                        </a:rPr>
                        <a:t>조</a:t>
                      </a:r>
                      <a:r>
                        <a:rPr lang="en-US" altLang="ko-KR" sz="1200" kern="0" spc="-80" dirty="0">
                          <a:effectLst/>
                        </a:rPr>
                        <a:t>【</a:t>
                      </a:r>
                      <a:r>
                        <a:rPr lang="ko-KR" altLang="en-US" sz="1200" kern="0" spc="-80" dirty="0">
                          <a:effectLst/>
                        </a:rPr>
                        <a:t>심리</a:t>
                      </a:r>
                      <a:r>
                        <a:rPr lang="en-US" altLang="ko-KR" sz="1200" kern="0" spc="-80" dirty="0">
                          <a:effectLst/>
                        </a:rPr>
                        <a:t>·</a:t>
                      </a:r>
                      <a:r>
                        <a:rPr lang="ko-KR" altLang="en-US" sz="1200" kern="0" spc="-80" dirty="0" err="1">
                          <a:effectLst/>
                        </a:rPr>
                        <a:t>심결의</a:t>
                      </a:r>
                      <a:r>
                        <a:rPr lang="ko-KR" altLang="en-US" sz="1200" kern="0" spc="-80" dirty="0">
                          <a:effectLst/>
                        </a:rPr>
                        <a:t> 병합 또는 분리</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ko-KR" altLang="en-US" sz="1200" kern="0" spc="-80" dirty="0">
                          <a:effectLst/>
                        </a:rPr>
                        <a:t>심판관은 당사자 양쪽 또는 어느 한쪽이 동일한 둘 이상의 심판에 대하여 심리 또는 </a:t>
                      </a:r>
                      <a:r>
                        <a:rPr lang="ko-KR" altLang="en-US" sz="1200" kern="0" spc="-80" dirty="0" err="1">
                          <a:effectLst/>
                        </a:rPr>
                        <a:t>심결을</a:t>
                      </a:r>
                      <a:r>
                        <a:rPr lang="ko-KR" altLang="en-US" sz="1200" kern="0" spc="-80" dirty="0">
                          <a:effectLst/>
                        </a:rPr>
                        <a:t> 병합하거나 분리할 수 있다</a:t>
                      </a:r>
                      <a:r>
                        <a:rPr lang="en-US" altLang="ko-KR" sz="1200" kern="0" spc="-80" dirty="0">
                          <a:effectLst/>
                        </a:rPr>
                        <a:t>.</a:t>
                      </a:r>
                    </a:p>
                  </a:txBody>
                  <a:tcPr marL="72000" marR="72000" marT="8067" marB="8067"/>
                </a:tc>
                <a:extLst>
                  <a:ext uri="{0D108BD9-81ED-4DB2-BD59-A6C34878D82A}">
                    <a16:rowId xmlns:a16="http://schemas.microsoft.com/office/drawing/2014/main" val="394184570"/>
                  </a:ext>
                </a:extLst>
              </a:tr>
              <a:tr h="430718">
                <a:tc>
                  <a:txBody>
                    <a:bodyPr/>
                    <a:lstStyle/>
                    <a:p>
                      <a:pPr marL="0" marR="0" indent="0" algn="just" fontAlgn="base" latinLnBrk="0">
                        <a:lnSpc>
                          <a:spcPct val="108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12【</a:t>
                      </a:r>
                      <a:r>
                        <a:rPr lang="ko-KR" altLang="en-US" sz="1200" kern="0" spc="-80" dirty="0">
                          <a:effectLst/>
                        </a:rPr>
                        <a:t>특허취소신청의 취하</a:t>
                      </a:r>
                      <a:r>
                        <a:rPr lang="en-US" altLang="ko-KR" sz="1200" kern="0" spc="-80" dirty="0">
                          <a:effectLst/>
                        </a:rPr>
                        <a:t>】 </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시기적 요건</a:t>
                      </a:r>
                      <a:r>
                        <a:rPr lang="en-US" altLang="ko-KR" sz="1200" b="1" kern="0" spc="-80" dirty="0">
                          <a:solidFill>
                            <a:schemeClr val="accent1"/>
                          </a:solidFill>
                          <a:effectLst/>
                        </a:rPr>
                        <a:t>) </a:t>
                      </a:r>
                      <a:r>
                        <a:rPr lang="ko-KR" altLang="en-US" sz="1200" kern="0" spc="-80" dirty="0">
                          <a:effectLst/>
                        </a:rPr>
                        <a:t>특허취소신청은 제</a:t>
                      </a:r>
                      <a:r>
                        <a:rPr lang="en-US" altLang="ko-KR" sz="1200" kern="0" spc="-80" dirty="0">
                          <a:effectLst/>
                        </a:rPr>
                        <a:t>132</a:t>
                      </a:r>
                      <a:r>
                        <a:rPr lang="ko-KR" altLang="en-US" sz="1200" kern="0" spc="-80" dirty="0">
                          <a:effectLst/>
                        </a:rPr>
                        <a:t>조의</a:t>
                      </a:r>
                      <a:r>
                        <a:rPr lang="en-US" altLang="ko-KR" sz="1200" kern="0" spc="-80" dirty="0">
                          <a:effectLst/>
                        </a:rPr>
                        <a:t>14</a:t>
                      </a:r>
                      <a:r>
                        <a:rPr lang="ko-KR" altLang="en-US" sz="1200" kern="0" spc="-80" dirty="0">
                          <a:effectLst/>
                        </a:rPr>
                        <a:t>제</a:t>
                      </a:r>
                      <a:r>
                        <a:rPr lang="en-US" altLang="ko-KR" sz="1200" kern="0" spc="-80" dirty="0">
                          <a:effectLst/>
                        </a:rPr>
                        <a:t>2</a:t>
                      </a:r>
                      <a:r>
                        <a:rPr lang="ko-KR" altLang="en-US" sz="1200" kern="0" spc="-80" dirty="0">
                          <a:effectLst/>
                        </a:rPr>
                        <a:t>항에 따라 </a:t>
                      </a:r>
                      <a:r>
                        <a:rPr lang="ko-KR" altLang="en-US" sz="1200" kern="0" spc="-80" dirty="0" err="1">
                          <a:effectLst/>
                        </a:rPr>
                        <a:t>결정등본이</a:t>
                      </a:r>
                      <a:r>
                        <a:rPr lang="ko-KR" altLang="en-US" sz="1200" kern="0" spc="-80" dirty="0">
                          <a:effectLst/>
                        </a:rPr>
                        <a:t> 송달되기 전까지만 취하할 수 있다</a:t>
                      </a:r>
                      <a:r>
                        <a:rPr lang="en-US" altLang="ko-KR" sz="1200" kern="0" spc="-80" dirty="0">
                          <a:effectLst/>
                        </a:rPr>
                        <a:t>. </a:t>
                      </a:r>
                      <a:r>
                        <a:rPr lang="ko-KR" altLang="en-US" sz="1200" kern="0" spc="-80" dirty="0">
                          <a:effectLst/>
                        </a:rPr>
                        <a:t>다만</a:t>
                      </a:r>
                      <a:r>
                        <a:rPr lang="en-US" altLang="ko-KR" sz="1200" kern="0" spc="-80" dirty="0">
                          <a:effectLst/>
                        </a:rPr>
                        <a:t>, </a:t>
                      </a: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13</a:t>
                      </a:r>
                      <a:r>
                        <a:rPr lang="ko-KR" altLang="en-US" sz="1200" kern="0" spc="-80" dirty="0">
                          <a:effectLst/>
                        </a:rPr>
                        <a:t>제</a:t>
                      </a:r>
                      <a:r>
                        <a:rPr lang="en-US" altLang="ko-KR" sz="1200" kern="0" spc="-80" dirty="0">
                          <a:effectLst/>
                        </a:rPr>
                        <a:t>2</a:t>
                      </a:r>
                      <a:r>
                        <a:rPr lang="ko-KR" altLang="en-US" sz="1200" kern="0" spc="-80" dirty="0">
                          <a:effectLst/>
                        </a:rPr>
                        <a:t>항에 따라 </a:t>
                      </a:r>
                      <a:r>
                        <a:rPr lang="ko-KR" altLang="en-US" sz="1200" kern="0" spc="-80" dirty="0" err="1">
                          <a:effectLst/>
                        </a:rPr>
                        <a:t>특허권자</a:t>
                      </a:r>
                      <a:r>
                        <a:rPr lang="ko-KR" altLang="en-US" sz="1200" kern="0" spc="-80" dirty="0">
                          <a:effectLst/>
                        </a:rPr>
                        <a:t> 및 참가인에게 특허의 </a:t>
                      </a:r>
                      <a:r>
                        <a:rPr lang="ko-KR" altLang="en-US" sz="1200" kern="0" spc="-80" dirty="0" err="1">
                          <a:effectLst/>
                        </a:rPr>
                        <a:t>취소이유가</a:t>
                      </a:r>
                      <a:r>
                        <a:rPr lang="ko-KR" altLang="en-US" sz="1200" kern="0" spc="-80" dirty="0">
                          <a:effectLst/>
                        </a:rPr>
                        <a:t> 통지된 후에는 취하할 수 없다</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객체적 요건</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둘 이상의 </a:t>
                      </a:r>
                      <a:r>
                        <a:rPr lang="ko-KR" altLang="en-US" sz="1200" kern="0" spc="-80" dirty="0" err="1">
                          <a:effectLst/>
                        </a:rPr>
                        <a:t>청구항에</a:t>
                      </a:r>
                      <a:r>
                        <a:rPr lang="ko-KR" altLang="en-US" sz="1200" kern="0" spc="-80" dirty="0">
                          <a:effectLst/>
                        </a:rPr>
                        <a:t> 관하여 특허취소신청이 있는 경우에는 </a:t>
                      </a:r>
                      <a:r>
                        <a:rPr lang="ko-KR" altLang="en-US" sz="1200" kern="0" spc="-80" dirty="0" err="1">
                          <a:effectLst/>
                        </a:rPr>
                        <a:t>청구항마다</a:t>
                      </a:r>
                      <a:r>
                        <a:rPr lang="ko-KR" altLang="en-US" sz="1200" kern="0" spc="-80" dirty="0">
                          <a:effectLst/>
                        </a:rPr>
                        <a:t> 취하할 수 있다</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③</a:t>
                      </a:r>
                      <a:r>
                        <a:rPr lang="en-US" altLang="ko-KR" sz="1200" b="1" kern="0" spc="-80" dirty="0">
                          <a:solidFill>
                            <a:schemeClr val="accent1"/>
                          </a:solidFill>
                          <a:effectLst/>
                        </a:rPr>
                        <a:t> (</a:t>
                      </a:r>
                      <a:r>
                        <a:rPr lang="ko-KR" altLang="en-US" sz="1200" b="1" kern="0" spc="-80" dirty="0">
                          <a:solidFill>
                            <a:schemeClr val="accent1"/>
                          </a:solidFill>
                          <a:effectLst/>
                        </a:rPr>
                        <a:t>효과</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제</a:t>
                      </a:r>
                      <a:r>
                        <a:rPr lang="en-US" altLang="ko-KR" sz="1200" kern="0" spc="-80" dirty="0">
                          <a:effectLst/>
                        </a:rPr>
                        <a:t>1</a:t>
                      </a:r>
                      <a:r>
                        <a:rPr lang="ko-KR" altLang="en-US" sz="1200" kern="0" spc="-80" dirty="0">
                          <a:effectLst/>
                        </a:rPr>
                        <a:t>항 또는 제</a:t>
                      </a:r>
                      <a:r>
                        <a:rPr lang="en-US" altLang="ko-KR" sz="1200" kern="0" spc="-80" dirty="0">
                          <a:effectLst/>
                        </a:rPr>
                        <a:t>2</a:t>
                      </a:r>
                      <a:r>
                        <a:rPr lang="ko-KR" altLang="en-US" sz="1200" kern="0" spc="-80" dirty="0">
                          <a:effectLst/>
                        </a:rPr>
                        <a:t>항에 따른 취하가 있으면 그 특허취소신청 또는 그 </a:t>
                      </a:r>
                      <a:r>
                        <a:rPr lang="ko-KR" altLang="en-US" sz="1200" kern="0" spc="-80" dirty="0" err="1">
                          <a:effectLst/>
                        </a:rPr>
                        <a:t>청구항에</a:t>
                      </a:r>
                      <a:r>
                        <a:rPr lang="ko-KR" altLang="en-US" sz="1200" kern="0" spc="-80" dirty="0">
                          <a:effectLst/>
                        </a:rPr>
                        <a:t> 대한 특허취소신청은 처음부터 없었던 것으로 본다</a:t>
                      </a:r>
                      <a:r>
                        <a:rPr lang="en-US" altLang="ko-KR" sz="1200" kern="0" spc="-80" dirty="0">
                          <a:effectLst/>
                        </a:rPr>
                        <a:t>.</a:t>
                      </a:r>
                    </a:p>
                  </a:txBody>
                  <a:tcPr marL="72000" marR="72000" marT="8067" marB="8067"/>
                </a:tc>
                <a:tc>
                  <a:txBody>
                    <a:bodyPr/>
                    <a:lstStyle/>
                    <a:p>
                      <a:pPr marL="0" marR="0" indent="0" algn="just" fontAlgn="base" latinLnBrk="0">
                        <a:lnSpc>
                          <a:spcPct val="108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161</a:t>
                      </a:r>
                      <a:r>
                        <a:rPr lang="ko-KR" altLang="en-US" sz="1200" kern="0" spc="-80" dirty="0">
                          <a:effectLst/>
                        </a:rPr>
                        <a:t>조</a:t>
                      </a:r>
                      <a:r>
                        <a:rPr lang="en-US" altLang="ko-KR" sz="1200" kern="0" spc="-80" dirty="0">
                          <a:effectLst/>
                        </a:rPr>
                        <a:t>【</a:t>
                      </a:r>
                      <a:r>
                        <a:rPr lang="ko-KR" altLang="en-US" sz="1200" kern="0" spc="-80" dirty="0">
                          <a:effectLst/>
                        </a:rPr>
                        <a:t>심판청구의 취하</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주체적 및 시기적 요건</a:t>
                      </a:r>
                      <a:r>
                        <a:rPr lang="en-US" altLang="ko-KR" sz="1200" b="1" kern="0" spc="-80" dirty="0">
                          <a:solidFill>
                            <a:schemeClr val="accent1"/>
                          </a:solidFill>
                          <a:effectLst/>
                        </a:rPr>
                        <a:t>) </a:t>
                      </a:r>
                      <a:r>
                        <a:rPr lang="ko-KR" altLang="en-US" sz="1200" kern="0" spc="-80" dirty="0">
                          <a:effectLst/>
                        </a:rPr>
                        <a:t>심판청구는 </a:t>
                      </a:r>
                      <a:r>
                        <a:rPr lang="ko-KR" altLang="en-US" sz="1200" kern="0" spc="-80" dirty="0" err="1">
                          <a:effectLst/>
                        </a:rPr>
                        <a:t>심결이</a:t>
                      </a:r>
                      <a:r>
                        <a:rPr lang="ko-KR" altLang="en-US" sz="1200" kern="0" spc="-80" dirty="0">
                          <a:effectLst/>
                        </a:rPr>
                        <a:t> 확정될 때까지 취하할 수 있다</a:t>
                      </a:r>
                      <a:r>
                        <a:rPr lang="en-US" altLang="ko-KR" sz="1200" kern="0" spc="-80" dirty="0">
                          <a:effectLst/>
                        </a:rPr>
                        <a:t>. </a:t>
                      </a:r>
                      <a:r>
                        <a:rPr lang="ko-KR" altLang="en-US" sz="1200" kern="0" spc="-80" dirty="0">
                          <a:effectLst/>
                        </a:rPr>
                        <a:t>다만</a:t>
                      </a:r>
                      <a:r>
                        <a:rPr lang="en-US" altLang="ko-KR" sz="1200" kern="0" spc="-80" dirty="0">
                          <a:effectLst/>
                        </a:rPr>
                        <a:t>, </a:t>
                      </a:r>
                      <a:r>
                        <a:rPr lang="ko-KR" altLang="en-US" sz="1200" kern="0" spc="-80" dirty="0">
                          <a:effectLst/>
                        </a:rPr>
                        <a:t>답변서가 제출된 후에는 상대방의 동의를 받아야 한다</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객체적 요건</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둘 이상의 </a:t>
                      </a:r>
                      <a:r>
                        <a:rPr lang="ko-KR" altLang="en-US" sz="1200" kern="0" spc="-80" dirty="0" err="1">
                          <a:effectLst/>
                        </a:rPr>
                        <a:t>청구항에</a:t>
                      </a:r>
                      <a:r>
                        <a:rPr lang="ko-KR" altLang="en-US" sz="1200" kern="0" spc="-80" dirty="0">
                          <a:effectLst/>
                        </a:rPr>
                        <a:t> 관하여 제</a:t>
                      </a:r>
                      <a:r>
                        <a:rPr lang="en-US" altLang="ko-KR" sz="1200" kern="0" spc="-80" dirty="0">
                          <a:effectLst/>
                        </a:rPr>
                        <a:t>133</a:t>
                      </a:r>
                      <a:r>
                        <a:rPr lang="ko-KR" altLang="en-US" sz="1200" kern="0" spc="-80" dirty="0">
                          <a:effectLst/>
                        </a:rPr>
                        <a:t>조제</a:t>
                      </a:r>
                      <a:r>
                        <a:rPr lang="en-US" altLang="ko-KR" sz="1200" kern="0" spc="-80" dirty="0">
                          <a:effectLst/>
                        </a:rPr>
                        <a:t>1</a:t>
                      </a:r>
                      <a:r>
                        <a:rPr lang="ko-KR" altLang="en-US" sz="1200" kern="0" spc="-80" dirty="0">
                          <a:effectLst/>
                        </a:rPr>
                        <a:t>항의 무효심판 또는 제</a:t>
                      </a:r>
                      <a:r>
                        <a:rPr lang="en-US" altLang="ko-KR" sz="1200" kern="0" spc="-80" dirty="0">
                          <a:effectLst/>
                        </a:rPr>
                        <a:t>135</a:t>
                      </a:r>
                      <a:r>
                        <a:rPr lang="ko-KR" altLang="en-US" sz="1200" kern="0" spc="-80" dirty="0">
                          <a:effectLst/>
                        </a:rPr>
                        <a:t>조의 권리범위 </a:t>
                      </a:r>
                      <a:r>
                        <a:rPr lang="ko-KR" altLang="en-US" sz="1200" kern="0" spc="-80" dirty="0" err="1">
                          <a:effectLst/>
                        </a:rPr>
                        <a:t>확인심판을</a:t>
                      </a:r>
                      <a:r>
                        <a:rPr lang="ko-KR" altLang="en-US" sz="1200" kern="0" spc="-80" dirty="0">
                          <a:effectLst/>
                        </a:rPr>
                        <a:t> 청구하였을 때에는 </a:t>
                      </a:r>
                      <a:r>
                        <a:rPr lang="ko-KR" altLang="en-US" sz="1200" kern="0" spc="-80" dirty="0" err="1">
                          <a:effectLst/>
                        </a:rPr>
                        <a:t>청구항마다</a:t>
                      </a:r>
                      <a:r>
                        <a:rPr lang="ko-KR" altLang="en-US" sz="1200" kern="0" spc="-80" dirty="0">
                          <a:effectLst/>
                        </a:rPr>
                        <a:t> 취하할 수 있다</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③ </a:t>
                      </a:r>
                      <a:r>
                        <a:rPr lang="en-US" altLang="ko-KR" sz="1200" b="1" kern="0" spc="-80" dirty="0">
                          <a:solidFill>
                            <a:schemeClr val="accent1"/>
                          </a:solidFill>
                          <a:effectLst/>
                        </a:rPr>
                        <a:t>(</a:t>
                      </a:r>
                      <a:r>
                        <a:rPr lang="ko-KR" altLang="en-US" sz="1200" b="1" kern="0" spc="-80" dirty="0">
                          <a:solidFill>
                            <a:schemeClr val="accent1"/>
                          </a:solidFill>
                          <a:effectLst/>
                        </a:rPr>
                        <a:t>효과</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1</a:t>
                      </a:r>
                      <a:r>
                        <a:rPr lang="ko-KR" altLang="en-US" sz="1200" kern="0" spc="-80" dirty="0">
                          <a:effectLst/>
                        </a:rPr>
                        <a:t>항 또는 제</a:t>
                      </a:r>
                      <a:r>
                        <a:rPr lang="en-US" altLang="ko-KR" sz="1200" kern="0" spc="-80" dirty="0">
                          <a:effectLst/>
                        </a:rPr>
                        <a:t>2</a:t>
                      </a:r>
                      <a:r>
                        <a:rPr lang="ko-KR" altLang="en-US" sz="1200" kern="0" spc="-80" dirty="0">
                          <a:effectLst/>
                        </a:rPr>
                        <a:t>항에 따른 취하가 있으면 그 심판청구 또는 그 </a:t>
                      </a:r>
                      <a:r>
                        <a:rPr lang="ko-KR" altLang="en-US" sz="1200" kern="0" spc="-80" dirty="0" err="1">
                          <a:effectLst/>
                        </a:rPr>
                        <a:t>청구항에</a:t>
                      </a:r>
                      <a:r>
                        <a:rPr lang="ko-KR" altLang="en-US" sz="1200" kern="0" spc="-80" dirty="0">
                          <a:effectLst/>
                        </a:rPr>
                        <a:t> 대한 심판청구는 처음부터 없었던 것으로 본다</a:t>
                      </a:r>
                      <a:r>
                        <a:rPr lang="en-US" altLang="ko-KR" sz="1200" kern="0" spc="-80" dirty="0">
                          <a:effectLst/>
                        </a:rPr>
                        <a:t>.</a:t>
                      </a:r>
                    </a:p>
                  </a:txBody>
                  <a:tcPr marL="72000" marR="72000" marT="8067" marB="8067"/>
                </a:tc>
                <a:extLst>
                  <a:ext uri="{0D108BD9-81ED-4DB2-BD59-A6C34878D82A}">
                    <a16:rowId xmlns:a16="http://schemas.microsoft.com/office/drawing/2014/main" val="4112709460"/>
                  </a:ext>
                </a:extLst>
              </a:tr>
              <a:tr h="430718">
                <a:tc>
                  <a:txBody>
                    <a:bodyPr/>
                    <a:lstStyle/>
                    <a:p>
                      <a:pPr marL="0" marR="0" indent="0" algn="just" fontAlgn="base" latinLnBrk="0">
                        <a:lnSpc>
                          <a:spcPct val="108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13【</a:t>
                      </a:r>
                      <a:r>
                        <a:rPr lang="ko-KR" altLang="en-US" sz="1200" kern="0" spc="-80" dirty="0">
                          <a:effectLst/>
                        </a:rPr>
                        <a:t>특허취소신청에 대한 결정</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err="1">
                          <a:solidFill>
                            <a:schemeClr val="accent1"/>
                          </a:solidFill>
                          <a:effectLst/>
                        </a:rPr>
                        <a:t>취소결정</a:t>
                      </a:r>
                      <a:r>
                        <a:rPr lang="en-US" altLang="ko-KR" sz="1200" b="1" kern="0" spc="-80" dirty="0">
                          <a:solidFill>
                            <a:schemeClr val="accent1"/>
                          </a:solidFill>
                          <a:effectLst/>
                        </a:rPr>
                        <a:t>: </a:t>
                      </a:r>
                      <a:r>
                        <a:rPr lang="ko-KR" altLang="en-US" sz="1200" b="1" kern="0" spc="-80" dirty="0">
                          <a:solidFill>
                            <a:schemeClr val="accent1"/>
                          </a:solidFill>
                          <a:effectLst/>
                        </a:rPr>
                        <a:t>의의</a:t>
                      </a:r>
                      <a:r>
                        <a:rPr lang="en-US" altLang="ko-KR" sz="1200" b="1" kern="0" spc="-80" dirty="0">
                          <a:solidFill>
                            <a:schemeClr val="accent1"/>
                          </a:solidFill>
                          <a:effectLst/>
                        </a:rPr>
                        <a:t>) </a:t>
                      </a:r>
                      <a:r>
                        <a:rPr lang="ko-KR" altLang="en-US" sz="1200" kern="0" spc="-80" dirty="0">
                          <a:effectLst/>
                        </a:rPr>
                        <a:t>심판관 합의체는 특허취소신청이 이유 있다고 인정되는 때에는 그 특허를 취소한다는 취지의 결정</a:t>
                      </a:r>
                      <a:r>
                        <a:rPr lang="en-US" altLang="ko-KR" sz="1200" kern="0" spc="-80" dirty="0">
                          <a:effectLst/>
                        </a:rPr>
                        <a:t>(</a:t>
                      </a:r>
                      <a:r>
                        <a:rPr lang="ko-KR" altLang="en-US" sz="1200" kern="0" spc="-80" dirty="0">
                          <a:effectLst/>
                        </a:rPr>
                        <a:t>이하 </a:t>
                      </a:r>
                      <a:r>
                        <a:rPr lang="en-US" altLang="ko-KR" sz="1200" kern="0" spc="-80" dirty="0">
                          <a:effectLst/>
                        </a:rPr>
                        <a:t>"</a:t>
                      </a:r>
                      <a:r>
                        <a:rPr lang="ko-KR" altLang="en-US" sz="1200" kern="0" spc="-80" dirty="0">
                          <a:effectLst/>
                        </a:rPr>
                        <a:t>특허취소결정</a:t>
                      </a:r>
                      <a:r>
                        <a:rPr lang="en-US" altLang="ko-KR" sz="1200" kern="0" spc="-80" dirty="0">
                          <a:effectLst/>
                        </a:rPr>
                        <a:t>"</a:t>
                      </a:r>
                      <a:r>
                        <a:rPr lang="ko-KR" altLang="en-US" sz="1200" kern="0" spc="-80" dirty="0">
                          <a:effectLst/>
                        </a:rPr>
                        <a:t>이라 한다</a:t>
                      </a:r>
                      <a:r>
                        <a:rPr lang="en-US" altLang="ko-KR" sz="1200" kern="0" spc="-80" dirty="0">
                          <a:effectLst/>
                        </a:rPr>
                        <a:t>)</a:t>
                      </a:r>
                      <a:r>
                        <a:rPr lang="ko-KR" altLang="en-US" sz="1200" kern="0" spc="-80" dirty="0">
                          <a:effectLst/>
                        </a:rPr>
                        <a:t>을 하여야 한다</a:t>
                      </a:r>
                      <a:r>
                        <a:rPr lang="en-US" altLang="ko-KR" sz="1200" kern="0" spc="-80" dirty="0">
                          <a:effectLst/>
                        </a:rPr>
                        <a:t>.  </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②</a:t>
                      </a:r>
                      <a:r>
                        <a:rPr lang="en-US" altLang="ko-KR" sz="1200" b="1" kern="0" spc="-80" dirty="0">
                          <a:solidFill>
                            <a:schemeClr val="accent1"/>
                          </a:solidFill>
                          <a:effectLst/>
                        </a:rPr>
                        <a:t> (</a:t>
                      </a:r>
                      <a:r>
                        <a:rPr lang="ko-KR" altLang="en-US" sz="1200" b="1" kern="0" spc="-80" dirty="0" err="1">
                          <a:solidFill>
                            <a:schemeClr val="accent1"/>
                          </a:solidFill>
                          <a:effectLst/>
                        </a:rPr>
                        <a:t>취소결정</a:t>
                      </a:r>
                      <a:r>
                        <a:rPr lang="en-US" altLang="ko-KR" sz="1200" b="1" kern="0" spc="-80" dirty="0">
                          <a:solidFill>
                            <a:schemeClr val="accent1"/>
                          </a:solidFill>
                          <a:effectLst/>
                        </a:rPr>
                        <a:t>: </a:t>
                      </a:r>
                      <a:r>
                        <a:rPr lang="ko-KR" altLang="en-US" sz="1200" b="1" kern="0" spc="-80" dirty="0">
                          <a:solidFill>
                            <a:schemeClr val="accent1"/>
                          </a:solidFill>
                          <a:effectLst/>
                        </a:rPr>
                        <a:t>절차</a:t>
                      </a:r>
                      <a:r>
                        <a:rPr lang="en-US" altLang="ko-KR" sz="1200" b="1" kern="0" spc="-80" dirty="0">
                          <a:solidFill>
                            <a:schemeClr val="accent1"/>
                          </a:solidFill>
                          <a:effectLst/>
                        </a:rPr>
                        <a:t>) </a:t>
                      </a:r>
                      <a:r>
                        <a:rPr lang="ko-KR" altLang="en-US" sz="1200" kern="0" spc="-80" dirty="0">
                          <a:effectLst/>
                        </a:rPr>
                        <a:t>심판장은 특허취소결정을 하려는 때에는 </a:t>
                      </a:r>
                      <a:r>
                        <a:rPr lang="ko-KR" altLang="en-US" sz="1200" kern="0" spc="-80" dirty="0" err="1">
                          <a:effectLst/>
                        </a:rPr>
                        <a:t>특허권자</a:t>
                      </a:r>
                      <a:r>
                        <a:rPr lang="ko-KR" altLang="en-US" sz="1200" kern="0" spc="-80" dirty="0">
                          <a:effectLst/>
                        </a:rPr>
                        <a:t> 및 참가인에게 특허의 </a:t>
                      </a:r>
                      <a:r>
                        <a:rPr lang="ko-KR" altLang="en-US" sz="1200" kern="0" spc="-80" dirty="0" err="1">
                          <a:effectLst/>
                        </a:rPr>
                        <a:t>취소이유를</a:t>
                      </a:r>
                      <a:r>
                        <a:rPr lang="ko-KR" altLang="en-US" sz="1200" kern="0" spc="-80" dirty="0">
                          <a:effectLst/>
                        </a:rPr>
                        <a:t> 통지하고 기간을 정하여 의견서를 제출할 기회를 주어야 한다</a:t>
                      </a:r>
                      <a:r>
                        <a:rPr lang="en-US" altLang="ko-KR" sz="1200" kern="0" spc="-80" dirty="0">
                          <a:effectLst/>
                        </a:rPr>
                        <a:t>. </a:t>
                      </a:r>
                    </a:p>
                    <a:p>
                      <a:pPr marL="0" marR="0" indent="0" algn="just" fontAlgn="base" latinLnBrk="0">
                        <a:lnSpc>
                          <a:spcPct val="108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08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③</a:t>
                      </a:r>
                      <a:r>
                        <a:rPr lang="en-US" altLang="ko-KR" sz="1200" kern="0" spc="-80" dirty="0">
                          <a:solidFill>
                            <a:schemeClr val="accent1"/>
                          </a:solidFill>
                          <a:effectLst/>
                        </a:rPr>
                        <a:t> </a:t>
                      </a:r>
                      <a:r>
                        <a:rPr lang="en-US" altLang="ko-KR" sz="1200" b="1" kern="0" spc="-80" dirty="0">
                          <a:solidFill>
                            <a:schemeClr val="accent1"/>
                          </a:solidFill>
                          <a:effectLst/>
                        </a:rPr>
                        <a:t>(</a:t>
                      </a:r>
                      <a:r>
                        <a:rPr lang="ko-KR" altLang="en-US" sz="1200" b="1" kern="0" spc="-80" dirty="0" err="1">
                          <a:solidFill>
                            <a:schemeClr val="accent1"/>
                          </a:solidFill>
                          <a:effectLst/>
                        </a:rPr>
                        <a:t>취소결정</a:t>
                      </a:r>
                      <a:r>
                        <a:rPr lang="en-US" altLang="ko-KR" sz="1200" b="1" kern="0" spc="-80" dirty="0">
                          <a:solidFill>
                            <a:schemeClr val="accent1"/>
                          </a:solidFill>
                          <a:effectLst/>
                        </a:rPr>
                        <a:t>: </a:t>
                      </a:r>
                      <a:r>
                        <a:rPr lang="ko-KR" altLang="en-US" sz="1200" b="1" kern="0" spc="-80" dirty="0">
                          <a:solidFill>
                            <a:schemeClr val="accent1"/>
                          </a:solidFill>
                          <a:effectLst/>
                        </a:rPr>
                        <a:t>효과</a:t>
                      </a:r>
                      <a:r>
                        <a:rPr lang="en-US" altLang="ko-KR" sz="1200" b="1" kern="0" spc="-80" dirty="0">
                          <a:solidFill>
                            <a:schemeClr val="accent1"/>
                          </a:solidFill>
                          <a:effectLst/>
                        </a:rPr>
                        <a:t>) </a:t>
                      </a:r>
                      <a:r>
                        <a:rPr lang="ko-KR" altLang="en-US" sz="1200" kern="0" spc="-80" dirty="0">
                          <a:effectLst/>
                        </a:rPr>
                        <a:t>특허취소결정이 확정된 때에는 그 특허권은 처음부터 없었던 것으로 본다</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08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08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④ </a:t>
                      </a:r>
                      <a:r>
                        <a:rPr lang="en-US" altLang="ko-KR" sz="1200" b="1" kern="0" spc="-80" dirty="0">
                          <a:solidFill>
                            <a:schemeClr val="accent1"/>
                          </a:solidFill>
                          <a:effectLst/>
                        </a:rPr>
                        <a:t>(</a:t>
                      </a:r>
                      <a:r>
                        <a:rPr lang="ko-KR" altLang="en-US" sz="1200" b="1" kern="0" spc="-80" dirty="0">
                          <a:solidFill>
                            <a:schemeClr val="accent1"/>
                          </a:solidFill>
                          <a:effectLst/>
                        </a:rPr>
                        <a:t>기각결정</a:t>
                      </a:r>
                      <a:r>
                        <a:rPr lang="en-US" altLang="ko-KR" sz="1200" b="1" kern="0" spc="-80" dirty="0">
                          <a:solidFill>
                            <a:schemeClr val="accent1"/>
                          </a:solidFill>
                          <a:effectLst/>
                        </a:rPr>
                        <a:t>: </a:t>
                      </a:r>
                      <a:r>
                        <a:rPr lang="ko-KR" altLang="en-US" sz="1200" b="1" kern="0" spc="-80" dirty="0">
                          <a:solidFill>
                            <a:schemeClr val="accent1"/>
                          </a:solidFill>
                          <a:effectLst/>
                        </a:rPr>
                        <a:t>의의</a:t>
                      </a:r>
                      <a:r>
                        <a:rPr lang="en-US" altLang="ko-KR" sz="1200" b="1" kern="0" spc="-80" dirty="0">
                          <a:solidFill>
                            <a:schemeClr val="accent1"/>
                          </a:solidFill>
                          <a:effectLst/>
                        </a:rPr>
                        <a:t>) </a:t>
                      </a:r>
                      <a:r>
                        <a:rPr lang="ko-KR" altLang="en-US" sz="1200" kern="0" spc="-80" dirty="0">
                          <a:effectLst/>
                        </a:rPr>
                        <a:t>심판관 합의체는 특허취소신청이 제</a:t>
                      </a:r>
                      <a:r>
                        <a:rPr lang="en-US" altLang="ko-KR" sz="1200" kern="0" spc="-80" dirty="0">
                          <a:effectLst/>
                        </a:rPr>
                        <a:t>132</a:t>
                      </a:r>
                      <a:r>
                        <a:rPr lang="ko-KR" altLang="en-US" sz="1200" kern="0" spc="-80" dirty="0">
                          <a:effectLst/>
                        </a:rPr>
                        <a:t>조의</a:t>
                      </a:r>
                      <a:r>
                        <a:rPr lang="en-US" altLang="ko-KR" sz="1200" kern="0" spc="-80" dirty="0">
                          <a:effectLst/>
                        </a:rPr>
                        <a:t>2</a:t>
                      </a:r>
                      <a:r>
                        <a:rPr lang="ko-KR" altLang="en-US" sz="1200" kern="0" spc="-80" dirty="0">
                          <a:effectLst/>
                        </a:rPr>
                        <a:t>제</a:t>
                      </a:r>
                      <a:r>
                        <a:rPr lang="en-US" altLang="ko-KR" sz="1200" kern="0" spc="-80" dirty="0">
                          <a:effectLst/>
                        </a:rPr>
                        <a:t>1</a:t>
                      </a:r>
                      <a:r>
                        <a:rPr lang="ko-KR" altLang="en-US" sz="1200" kern="0" spc="-80" dirty="0">
                          <a:effectLst/>
                        </a:rPr>
                        <a:t>항 각 호의 어느 하나에 해당하지 아니하거나 같은 조 제</a:t>
                      </a:r>
                      <a:r>
                        <a:rPr lang="en-US" altLang="ko-KR" sz="1200" kern="0" spc="-80" dirty="0">
                          <a:effectLst/>
                        </a:rPr>
                        <a:t>2</a:t>
                      </a:r>
                      <a:r>
                        <a:rPr lang="ko-KR" altLang="en-US" sz="1200" kern="0" spc="-80" dirty="0">
                          <a:effectLst/>
                        </a:rPr>
                        <a:t>항을 위반한 것으로 인정되는 경우에는 결정으로 그 특허취소신청을 기각하여야 한다</a:t>
                      </a:r>
                      <a:r>
                        <a:rPr lang="en-US" altLang="ko-KR" sz="1200" kern="0" spc="-80" dirty="0">
                          <a:effectLst/>
                        </a:rPr>
                        <a:t>. </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⑤ </a:t>
                      </a:r>
                      <a:r>
                        <a:rPr lang="en-US" altLang="ko-KR" sz="1200" b="1" kern="0" spc="-80" dirty="0">
                          <a:solidFill>
                            <a:schemeClr val="accent1"/>
                          </a:solidFill>
                          <a:effectLst/>
                        </a:rPr>
                        <a:t>(</a:t>
                      </a:r>
                      <a:r>
                        <a:rPr lang="ko-KR" altLang="en-US" sz="1200" b="1" kern="0" spc="-80" dirty="0">
                          <a:solidFill>
                            <a:schemeClr val="accent1"/>
                          </a:solidFill>
                          <a:effectLst/>
                        </a:rPr>
                        <a:t>기각결정</a:t>
                      </a:r>
                      <a:r>
                        <a:rPr lang="en-US" altLang="ko-KR" sz="1200" b="1" kern="0" spc="-80" dirty="0">
                          <a:solidFill>
                            <a:schemeClr val="accent1"/>
                          </a:solidFill>
                          <a:effectLst/>
                        </a:rPr>
                        <a:t>: </a:t>
                      </a:r>
                      <a:r>
                        <a:rPr lang="ko-KR" altLang="en-US" sz="1200" b="1" kern="0" spc="-80" dirty="0">
                          <a:solidFill>
                            <a:schemeClr val="accent1"/>
                          </a:solidFill>
                          <a:effectLst/>
                        </a:rPr>
                        <a:t>불복</a:t>
                      </a:r>
                      <a:r>
                        <a:rPr lang="en-US" altLang="ko-KR" sz="1200" b="1" kern="0" spc="-80" dirty="0">
                          <a:solidFill>
                            <a:schemeClr val="accent1"/>
                          </a:solidFill>
                          <a:effectLst/>
                        </a:rPr>
                        <a:t>) </a:t>
                      </a:r>
                      <a:r>
                        <a:rPr lang="ko-KR" altLang="en-US" sz="1200" kern="0" spc="-80" dirty="0">
                          <a:effectLst/>
                        </a:rPr>
                        <a:t>제</a:t>
                      </a:r>
                      <a:r>
                        <a:rPr lang="en-US" altLang="ko-KR" sz="1200" kern="0" spc="-80" dirty="0">
                          <a:effectLst/>
                        </a:rPr>
                        <a:t>4</a:t>
                      </a:r>
                      <a:r>
                        <a:rPr lang="ko-KR" altLang="en-US" sz="1200" kern="0" spc="-80" dirty="0">
                          <a:effectLst/>
                        </a:rPr>
                        <a:t>항에 따른 기각결정에 대해서는 불복할 수 없다</a:t>
                      </a:r>
                      <a:r>
                        <a:rPr lang="en-US" altLang="ko-KR" sz="1200" kern="0" spc="-80" dirty="0">
                          <a:effectLst/>
                        </a:rPr>
                        <a:t>.</a:t>
                      </a:r>
                    </a:p>
                  </a:txBody>
                  <a:tcPr marL="72000" marR="72000" marT="8067" marB="8067"/>
                </a:tc>
                <a:tc>
                  <a:txBody>
                    <a:bodyPr/>
                    <a:lstStyle/>
                    <a:p>
                      <a:pPr marL="0" marR="0" indent="0" algn="just" fontAlgn="base" latinLnBrk="0">
                        <a:lnSpc>
                          <a:spcPct val="108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162</a:t>
                      </a:r>
                      <a:r>
                        <a:rPr lang="ko-KR" altLang="en-US" sz="1200" kern="0" spc="-80" dirty="0">
                          <a:effectLst/>
                        </a:rPr>
                        <a:t>조</a:t>
                      </a:r>
                      <a:r>
                        <a:rPr lang="en-US" altLang="ko-KR" sz="1200" kern="0" spc="-80" dirty="0">
                          <a:effectLst/>
                        </a:rPr>
                        <a:t>【</a:t>
                      </a:r>
                      <a:r>
                        <a:rPr lang="ko-KR" altLang="en-US" sz="1200" kern="0" spc="-80" dirty="0" err="1">
                          <a:effectLst/>
                        </a:rPr>
                        <a:t>심결</a:t>
                      </a:r>
                      <a:r>
                        <a:rPr lang="en-US" altLang="ko-KR" sz="1200" kern="0" spc="-80" dirty="0">
                          <a:effectLst/>
                        </a:rPr>
                        <a:t>】 </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err="1">
                          <a:solidFill>
                            <a:schemeClr val="accent1"/>
                          </a:solidFill>
                          <a:effectLst/>
                        </a:rPr>
                        <a:t>심결에</a:t>
                      </a:r>
                      <a:r>
                        <a:rPr lang="ko-KR" altLang="en-US" sz="1200" b="1" kern="0" spc="-80" dirty="0">
                          <a:solidFill>
                            <a:schemeClr val="accent1"/>
                          </a:solidFill>
                          <a:effectLst/>
                        </a:rPr>
                        <a:t> 의한 종료</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심판은 특별한 규정이 있는 경우를 제외하고는 </a:t>
                      </a:r>
                      <a:r>
                        <a:rPr lang="ko-KR" altLang="en-US" sz="1200" kern="0" spc="-80" dirty="0" err="1">
                          <a:effectLst/>
                        </a:rPr>
                        <a:t>심결로써</a:t>
                      </a:r>
                      <a:r>
                        <a:rPr lang="ko-KR" altLang="en-US" sz="1200" kern="0" spc="-80" dirty="0">
                          <a:effectLst/>
                        </a:rPr>
                        <a:t> 종결한다</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08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159</a:t>
                      </a:r>
                      <a:r>
                        <a:rPr lang="ko-KR" altLang="en-US" sz="1200" kern="0" spc="-80" dirty="0">
                          <a:effectLst/>
                        </a:rPr>
                        <a:t>조</a:t>
                      </a:r>
                      <a:r>
                        <a:rPr lang="en-US" altLang="ko-KR" sz="1200" kern="0" spc="-80" dirty="0">
                          <a:effectLst/>
                        </a:rPr>
                        <a:t>【</a:t>
                      </a:r>
                      <a:r>
                        <a:rPr lang="ko-KR" altLang="en-US" sz="1200" kern="0" spc="-80" dirty="0" err="1">
                          <a:effectLst/>
                        </a:rPr>
                        <a:t>직권심리</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범위</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심판에서는 당사자 또는 참가인이 신청하지 아니한 이유에 대해서도 심리할 수 있다</a:t>
                      </a:r>
                      <a:r>
                        <a:rPr lang="en-US" altLang="ko-KR" sz="1200" kern="0" spc="-80" dirty="0">
                          <a:effectLst/>
                        </a:rPr>
                        <a:t>. </a:t>
                      </a:r>
                      <a:r>
                        <a:rPr lang="en-US" altLang="ko-KR" sz="1200" b="1" kern="0" spc="-80" dirty="0">
                          <a:solidFill>
                            <a:schemeClr val="accent1"/>
                          </a:solidFill>
                          <a:effectLst/>
                        </a:rPr>
                        <a:t>(</a:t>
                      </a:r>
                      <a:r>
                        <a:rPr lang="ko-KR" altLang="en-US" sz="1200" b="1" kern="0" spc="-80" dirty="0">
                          <a:solidFill>
                            <a:schemeClr val="accent1"/>
                          </a:solidFill>
                          <a:effectLst/>
                        </a:rPr>
                        <a:t>의견서 </a:t>
                      </a:r>
                      <a:r>
                        <a:rPr lang="ko-KR" altLang="en-US" sz="1200" b="1" kern="0" spc="-80" dirty="0" err="1">
                          <a:solidFill>
                            <a:schemeClr val="accent1"/>
                          </a:solidFill>
                          <a:effectLst/>
                        </a:rPr>
                        <a:t>제출기회의</a:t>
                      </a:r>
                      <a:r>
                        <a:rPr lang="ko-KR" altLang="en-US" sz="1200" b="1" kern="0" spc="-80" dirty="0">
                          <a:solidFill>
                            <a:schemeClr val="accent1"/>
                          </a:solidFill>
                          <a:effectLst/>
                        </a:rPr>
                        <a:t> 부여</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이 경우 당사자 및 참가인에게 기간을 정하여 그 이유에 대하여 의견을 진술할 수 있는 기회를 주어야 한다</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133</a:t>
                      </a:r>
                      <a:r>
                        <a:rPr lang="ko-KR" altLang="en-US" sz="1200" kern="0" spc="-80" dirty="0">
                          <a:effectLst/>
                        </a:rPr>
                        <a:t>조</a:t>
                      </a:r>
                      <a:r>
                        <a:rPr lang="en-US" altLang="ko-KR" sz="1200" kern="0" spc="-80" dirty="0">
                          <a:effectLst/>
                        </a:rPr>
                        <a:t>【</a:t>
                      </a:r>
                      <a:r>
                        <a:rPr lang="ko-KR" altLang="en-US" sz="1200" kern="0" spc="-80" dirty="0">
                          <a:effectLst/>
                        </a:rPr>
                        <a:t>특허의 무효심판</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ko-KR" altLang="en-US" sz="1200" kern="0" spc="-80" dirty="0">
                          <a:effectLst/>
                        </a:rPr>
                        <a:t>③ </a:t>
                      </a:r>
                      <a:r>
                        <a:rPr lang="en-US" altLang="ko-KR" sz="1200" b="1" kern="0" spc="-80" dirty="0">
                          <a:solidFill>
                            <a:schemeClr val="accent1"/>
                          </a:solidFill>
                          <a:effectLst/>
                        </a:rPr>
                        <a:t>(</a:t>
                      </a:r>
                      <a:r>
                        <a:rPr lang="ko-KR" altLang="en-US" sz="1200" b="1" kern="0" spc="-80" dirty="0">
                          <a:solidFill>
                            <a:schemeClr val="accent1"/>
                          </a:solidFill>
                          <a:effectLst/>
                        </a:rPr>
                        <a:t>효과</a:t>
                      </a:r>
                      <a:r>
                        <a:rPr lang="en-US" altLang="ko-KR" sz="1200" b="1" kern="0" spc="-80" dirty="0">
                          <a:solidFill>
                            <a:schemeClr val="accent1"/>
                          </a:solidFill>
                          <a:effectLst/>
                        </a:rPr>
                        <a:t>) </a:t>
                      </a:r>
                      <a:r>
                        <a:rPr lang="ko-KR" altLang="en-US" sz="1200" kern="0" spc="-80" dirty="0">
                          <a:effectLst/>
                        </a:rPr>
                        <a:t>특허를 무효로 한다는 </a:t>
                      </a:r>
                      <a:r>
                        <a:rPr lang="ko-KR" altLang="en-US" sz="1200" kern="0" spc="-80" dirty="0" err="1">
                          <a:effectLst/>
                        </a:rPr>
                        <a:t>심결이</a:t>
                      </a:r>
                      <a:r>
                        <a:rPr lang="ko-KR" altLang="en-US" sz="1200" kern="0" spc="-80" dirty="0">
                          <a:effectLst/>
                        </a:rPr>
                        <a:t> 확정된 경우에는 그 특허권은 처음부터 없었던 것으로 본다</a:t>
                      </a:r>
                      <a:r>
                        <a:rPr lang="en-US" altLang="ko-KR" sz="1200" kern="0" spc="-80" dirty="0">
                          <a:effectLst/>
                        </a:rPr>
                        <a:t>. </a:t>
                      </a:r>
                      <a:r>
                        <a:rPr lang="ko-KR" altLang="en-US" sz="1200" kern="0" spc="-80" dirty="0">
                          <a:effectLst/>
                        </a:rPr>
                        <a:t>다만</a:t>
                      </a:r>
                      <a:r>
                        <a:rPr lang="en-US" altLang="ko-KR" sz="1200" kern="0" spc="-80" dirty="0">
                          <a:effectLst/>
                        </a:rPr>
                        <a:t>, </a:t>
                      </a:r>
                      <a:r>
                        <a:rPr lang="ko-KR" altLang="en-US" sz="1200" kern="0" spc="-80" dirty="0">
                          <a:effectLst/>
                        </a:rPr>
                        <a:t>제</a:t>
                      </a:r>
                      <a:r>
                        <a:rPr lang="en-US" altLang="ko-KR" sz="1200" kern="0" spc="-80" dirty="0">
                          <a:effectLst/>
                        </a:rPr>
                        <a:t>1</a:t>
                      </a:r>
                      <a:r>
                        <a:rPr lang="ko-KR" altLang="en-US" sz="1200" kern="0" spc="-80" dirty="0" err="1">
                          <a:effectLst/>
                        </a:rPr>
                        <a:t>항제</a:t>
                      </a:r>
                      <a:r>
                        <a:rPr lang="en-US" altLang="ko-KR" sz="1200" kern="0" spc="-80" dirty="0">
                          <a:effectLst/>
                        </a:rPr>
                        <a:t>4</a:t>
                      </a:r>
                      <a:r>
                        <a:rPr lang="ko-KR" altLang="en-US" sz="1200" kern="0" spc="-80" dirty="0">
                          <a:effectLst/>
                        </a:rPr>
                        <a:t>호에 따라 특허를 무효로 한다는 </a:t>
                      </a:r>
                      <a:r>
                        <a:rPr lang="ko-KR" altLang="en-US" sz="1200" kern="0" spc="-80" dirty="0" err="1">
                          <a:effectLst/>
                        </a:rPr>
                        <a:t>심결이</a:t>
                      </a:r>
                      <a:r>
                        <a:rPr lang="ko-KR" altLang="en-US" sz="1200" kern="0" spc="-80" dirty="0">
                          <a:effectLst/>
                        </a:rPr>
                        <a:t> 확정된 경우에는 특허권은 그 특허가 같은 호에 해당하게 된 때부터 없었던 것으로 본다</a:t>
                      </a:r>
                      <a:r>
                        <a:rPr lang="en-US" altLang="ko-KR" sz="1200" kern="0" spc="-80" dirty="0">
                          <a:effectLst/>
                        </a:rPr>
                        <a:t>.</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162</a:t>
                      </a:r>
                      <a:r>
                        <a:rPr lang="ko-KR" altLang="en-US" sz="1200" kern="0" spc="-80" dirty="0">
                          <a:effectLst/>
                        </a:rPr>
                        <a:t>조</a:t>
                      </a:r>
                      <a:r>
                        <a:rPr lang="en-US" altLang="ko-KR" sz="1200" kern="0" spc="-80" dirty="0">
                          <a:effectLst/>
                        </a:rPr>
                        <a:t>【</a:t>
                      </a:r>
                      <a:r>
                        <a:rPr lang="ko-KR" altLang="en-US" sz="1200" kern="0" spc="-80" dirty="0" err="1">
                          <a:effectLst/>
                        </a:rPr>
                        <a:t>심결</a:t>
                      </a:r>
                      <a:r>
                        <a:rPr lang="en-US" altLang="ko-KR" sz="1200" kern="0" spc="-80" dirty="0">
                          <a:effectLst/>
                        </a:rPr>
                        <a:t>】 </a:t>
                      </a:r>
                    </a:p>
                    <a:p>
                      <a:pPr marL="0" marR="0" indent="0" algn="just" fontAlgn="base" latinLnBrk="0">
                        <a:lnSpc>
                          <a:spcPct val="108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err="1">
                          <a:solidFill>
                            <a:schemeClr val="accent1"/>
                          </a:solidFill>
                          <a:effectLst/>
                        </a:rPr>
                        <a:t>심결에</a:t>
                      </a:r>
                      <a:r>
                        <a:rPr lang="ko-KR" altLang="en-US" sz="1200" b="1" kern="0" spc="-80" dirty="0">
                          <a:solidFill>
                            <a:schemeClr val="accent1"/>
                          </a:solidFill>
                          <a:effectLst/>
                        </a:rPr>
                        <a:t> 의한 종료</a:t>
                      </a:r>
                      <a:r>
                        <a:rPr lang="en-US" altLang="ko-KR" sz="1200" b="1" kern="0" spc="-80" dirty="0">
                          <a:solidFill>
                            <a:schemeClr val="accent1"/>
                          </a:solidFill>
                          <a:effectLst/>
                        </a:rPr>
                        <a:t>) </a:t>
                      </a:r>
                      <a:r>
                        <a:rPr lang="ko-KR" altLang="en-US" sz="1200" kern="0" spc="-80" dirty="0">
                          <a:effectLst/>
                        </a:rPr>
                        <a:t>심판은 특별한 규정이 있는 경우를 제외하고는 </a:t>
                      </a:r>
                      <a:r>
                        <a:rPr lang="ko-KR" altLang="en-US" sz="1200" kern="0" spc="-80" dirty="0" err="1">
                          <a:effectLst/>
                        </a:rPr>
                        <a:t>심결로써</a:t>
                      </a:r>
                      <a:r>
                        <a:rPr lang="ko-KR" altLang="en-US" sz="1200" kern="0" spc="-80" dirty="0">
                          <a:effectLst/>
                        </a:rPr>
                        <a:t> 종결한다</a:t>
                      </a:r>
                      <a:r>
                        <a:rPr lang="en-US" altLang="ko-KR" sz="1200" kern="0" spc="-80" dirty="0">
                          <a:effectLst/>
                        </a:rPr>
                        <a:t>.</a:t>
                      </a:r>
                    </a:p>
                  </a:txBody>
                  <a:tcPr marL="72000" marR="72000" marT="8067" marB="8067"/>
                </a:tc>
                <a:extLst>
                  <a:ext uri="{0D108BD9-81ED-4DB2-BD59-A6C34878D82A}">
                    <a16:rowId xmlns:a16="http://schemas.microsoft.com/office/drawing/2014/main" val="1384292259"/>
                  </a:ext>
                </a:extLst>
              </a:tr>
            </a:tbl>
          </a:graphicData>
        </a:graphic>
      </p:graphicFrame>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506</a:t>
            </a:r>
            <a:endParaRPr lang="ko-KR" altLang="en-US" dirty="0"/>
          </a:p>
        </p:txBody>
      </p:sp>
    </p:spTree>
    <p:extLst>
      <p:ext uri="{BB962C8B-B14F-4D97-AF65-F5344CB8AC3E}">
        <p14:creationId xmlns:p14="http://schemas.microsoft.com/office/powerpoint/2010/main" val="3414041914"/>
      </p:ext>
    </p:extLst>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132</a:t>
            </a:r>
            <a:r>
              <a:rPr lang="ko-KR" altLang="en-US" dirty="0"/>
              <a:t>조의</a:t>
            </a:r>
            <a:r>
              <a:rPr lang="en-US" altLang="ko-KR" dirty="0"/>
              <a:t>2~</a:t>
            </a:r>
            <a:br>
              <a:rPr lang="en-US" altLang="ko-KR" dirty="0"/>
            </a:br>
            <a:r>
              <a:rPr lang="ko-KR" altLang="en-US" dirty="0"/>
              <a:t>제</a:t>
            </a:r>
            <a:r>
              <a:rPr lang="en-US" altLang="ko-KR" dirty="0"/>
              <a:t>132</a:t>
            </a:r>
            <a:r>
              <a:rPr lang="ko-KR" altLang="en-US" dirty="0"/>
              <a:t>조의</a:t>
            </a:r>
            <a:r>
              <a:rPr lang="en-US" altLang="ko-KR" dirty="0"/>
              <a:t>15</a:t>
            </a:r>
            <a:endParaRPr lang="ko-KR" altLang="en-US" dirty="0"/>
          </a:p>
        </p:txBody>
      </p:sp>
      <p:sp>
        <p:nvSpPr>
          <p:cNvPr id="4" name="텍스트 개체 틀 3"/>
          <p:cNvSpPr>
            <a:spLocks noGrp="1"/>
          </p:cNvSpPr>
          <p:nvPr>
            <p:ph type="body" sz="quarter" idx="13"/>
          </p:nvPr>
        </p:nvSpPr>
        <p:spPr/>
        <p:txBody>
          <a:bodyPr/>
          <a:lstStyle/>
          <a:p>
            <a:r>
              <a:rPr lang="ko-KR" altLang="en-US" dirty="0"/>
              <a:t>특허취소신청과</a:t>
            </a:r>
            <a:r>
              <a:rPr lang="en-US" altLang="ko-KR" dirty="0"/>
              <a:t> </a:t>
            </a:r>
            <a:r>
              <a:rPr lang="ko-KR" altLang="en-US" dirty="0"/>
              <a:t>특허무효심판의 법조문 비교</a:t>
            </a:r>
          </a:p>
        </p:txBody>
      </p:sp>
      <p:graphicFrame>
        <p:nvGraphicFramePr>
          <p:cNvPr id="2" name="표 1"/>
          <p:cNvGraphicFramePr>
            <a:graphicFrameLocks noGrp="1"/>
          </p:cNvGraphicFramePr>
          <p:nvPr/>
        </p:nvGraphicFramePr>
        <p:xfrm>
          <a:off x="317501" y="1036281"/>
          <a:ext cx="11569700" cy="5713047"/>
        </p:xfrm>
        <a:graphic>
          <a:graphicData uri="http://schemas.openxmlformats.org/drawingml/2006/table">
            <a:tbl>
              <a:tblPr>
                <a:tableStyleId>{8799B23B-EC83-4686-B30A-512413B5E67A}</a:tableStyleId>
              </a:tblPr>
              <a:tblGrid>
                <a:gridCol w="5619035">
                  <a:extLst>
                    <a:ext uri="{9D8B030D-6E8A-4147-A177-3AD203B41FA5}">
                      <a16:colId xmlns:a16="http://schemas.microsoft.com/office/drawing/2014/main" val="4122316602"/>
                    </a:ext>
                  </a:extLst>
                </a:gridCol>
                <a:gridCol w="5950665">
                  <a:extLst>
                    <a:ext uri="{9D8B030D-6E8A-4147-A177-3AD203B41FA5}">
                      <a16:colId xmlns:a16="http://schemas.microsoft.com/office/drawing/2014/main" val="3501181814"/>
                    </a:ext>
                  </a:extLst>
                </a:gridCol>
              </a:tblGrid>
              <a:tr h="53329">
                <a:tc>
                  <a:txBody>
                    <a:bodyPr/>
                    <a:lstStyle/>
                    <a:p>
                      <a:pPr marL="0" marR="0" indent="0" algn="ctr" fontAlgn="base" latinLnBrk="0">
                        <a:lnSpc>
                          <a:spcPct val="120000"/>
                        </a:lnSpc>
                        <a:spcBef>
                          <a:spcPts val="0"/>
                        </a:spcBef>
                        <a:spcAft>
                          <a:spcPts val="0"/>
                        </a:spcAft>
                      </a:pPr>
                      <a:r>
                        <a:rPr lang="ko-KR" altLang="en-US" sz="1200" kern="0" spc="-100" dirty="0">
                          <a:effectLst/>
                        </a:rPr>
                        <a:t>특허취소신청</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0" spc="-100" dirty="0">
                          <a:effectLst/>
                        </a:rPr>
                        <a:t>특허무효심판</a:t>
                      </a:r>
                      <a:endParaRPr lang="ko-KR" altLang="en-US" sz="12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extLst>
                  <a:ext uri="{0D108BD9-81ED-4DB2-BD59-A6C34878D82A}">
                    <a16:rowId xmlns:a16="http://schemas.microsoft.com/office/drawing/2014/main" val="2907354057"/>
                  </a:ext>
                </a:extLst>
              </a:tr>
              <a:tr h="430718">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14【</a:t>
                      </a:r>
                      <a:r>
                        <a:rPr lang="ko-KR" altLang="en-US" sz="1200" kern="0" spc="-80" dirty="0">
                          <a:effectLst/>
                        </a:rPr>
                        <a:t>특허취소신청의 결정 방식</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a:solidFill>
                            <a:schemeClr val="accent1"/>
                          </a:solidFill>
                          <a:effectLst/>
                        </a:rPr>
                        <a:t>결정의 방식</a:t>
                      </a:r>
                      <a:r>
                        <a:rPr lang="en-US" altLang="ko-KR" sz="1200" b="1" kern="0" spc="-80" dirty="0">
                          <a:solidFill>
                            <a:schemeClr val="accent1"/>
                          </a:solidFill>
                          <a:effectLst/>
                        </a:rPr>
                        <a:t>) </a:t>
                      </a:r>
                      <a:r>
                        <a:rPr lang="ko-KR" altLang="en-US" sz="1200" kern="0" spc="-80" dirty="0">
                          <a:effectLst/>
                        </a:rPr>
                        <a:t>특허취소신청에 대한 결정은 다음 각 호의 사항을 적은 서면으로 하여야 하며</a:t>
                      </a:r>
                      <a:r>
                        <a:rPr lang="en-US" altLang="ko-KR" sz="1200" kern="0" spc="-80" dirty="0">
                          <a:effectLst/>
                        </a:rPr>
                        <a:t>, </a:t>
                      </a:r>
                      <a:r>
                        <a:rPr lang="ko-KR" altLang="en-US" sz="1200" kern="0" spc="-80" dirty="0">
                          <a:effectLst/>
                        </a:rPr>
                        <a:t>결정을 한 심판관은 그 서면에 기명날인하여야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1. </a:t>
                      </a:r>
                      <a:r>
                        <a:rPr lang="ko-KR" altLang="en-US" sz="1200" kern="0" spc="-80" dirty="0">
                          <a:effectLst/>
                        </a:rPr>
                        <a:t>특허취소신청사건의 번호</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2. </a:t>
                      </a:r>
                      <a:r>
                        <a:rPr lang="ko-KR" altLang="en-US" sz="1200" kern="0" spc="-80" dirty="0">
                          <a:effectLst/>
                        </a:rPr>
                        <a:t>특허취소신청인</a:t>
                      </a:r>
                      <a:r>
                        <a:rPr lang="en-US" altLang="ko-KR" sz="1200" kern="0" spc="-80" dirty="0">
                          <a:effectLst/>
                        </a:rPr>
                        <a:t>, </a:t>
                      </a:r>
                      <a:r>
                        <a:rPr lang="ko-KR" altLang="en-US" sz="1200" kern="0" spc="-80" dirty="0" err="1">
                          <a:effectLst/>
                        </a:rPr>
                        <a:t>특허권자</a:t>
                      </a:r>
                      <a:r>
                        <a:rPr lang="ko-KR" altLang="en-US" sz="1200" kern="0" spc="-80" dirty="0">
                          <a:effectLst/>
                        </a:rPr>
                        <a:t> 및 참가인의 성명 및 주소</a:t>
                      </a:r>
                      <a:r>
                        <a:rPr lang="en-US" altLang="ko-KR" sz="1200" kern="0" spc="-80" dirty="0">
                          <a:effectLst/>
                        </a:rPr>
                        <a:t>(</a:t>
                      </a:r>
                      <a:r>
                        <a:rPr lang="ko-KR" altLang="en-US" sz="1200" kern="0" spc="-80" dirty="0">
                          <a:effectLst/>
                        </a:rPr>
                        <a:t>법인인 경우에는 그 명칭 및 영업소의 소재지</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3. </a:t>
                      </a:r>
                      <a:r>
                        <a:rPr lang="ko-KR" altLang="en-US" sz="1200" kern="0" spc="-80" dirty="0">
                          <a:effectLst/>
                        </a:rPr>
                        <a:t>대리인이 있는 경우에는 그 대리인의 성명 및 주소나 영업소의 소재지</a:t>
                      </a:r>
                      <a:r>
                        <a:rPr lang="en-US" altLang="ko-KR" sz="1200" kern="0" spc="-80" dirty="0">
                          <a:effectLst/>
                        </a:rPr>
                        <a:t>[</a:t>
                      </a:r>
                      <a:r>
                        <a:rPr lang="ko-KR" altLang="en-US" sz="1200" kern="0" spc="-80" dirty="0">
                          <a:effectLst/>
                        </a:rPr>
                        <a:t>대리인이 </a:t>
                      </a:r>
                      <a:r>
                        <a:rPr lang="ko-KR" altLang="en-US" sz="1200" kern="0" spc="-80" dirty="0" err="1">
                          <a:effectLst/>
                        </a:rPr>
                        <a:t>특허법인ㆍ특허법인</a:t>
                      </a:r>
                      <a:r>
                        <a:rPr lang="en-US" altLang="ko-KR" sz="1200" kern="0" spc="-80" dirty="0">
                          <a:effectLst/>
                        </a:rPr>
                        <a:t>(</a:t>
                      </a:r>
                      <a:r>
                        <a:rPr lang="ko-KR" altLang="en-US" sz="1200" kern="0" spc="-80" dirty="0">
                          <a:effectLst/>
                        </a:rPr>
                        <a:t>유한</a:t>
                      </a:r>
                      <a:r>
                        <a:rPr lang="en-US" altLang="ko-KR" sz="1200" kern="0" spc="-80" dirty="0">
                          <a:effectLst/>
                        </a:rPr>
                        <a:t>)</a:t>
                      </a:r>
                      <a:r>
                        <a:rPr lang="ko-KR" altLang="en-US" sz="1200" kern="0" spc="-80" dirty="0">
                          <a:effectLst/>
                        </a:rPr>
                        <a:t>인 경우에는 그 명칭</a:t>
                      </a:r>
                      <a:r>
                        <a:rPr lang="en-US" altLang="ko-KR" sz="1200" kern="0" spc="-80" dirty="0">
                          <a:effectLst/>
                        </a:rPr>
                        <a:t>, </a:t>
                      </a:r>
                      <a:r>
                        <a:rPr lang="ko-KR" altLang="en-US" sz="1200" kern="0" spc="-80" dirty="0">
                          <a:effectLst/>
                        </a:rPr>
                        <a:t>사무소의 소재지 및 지정된 변리사의 성명</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4. </a:t>
                      </a:r>
                      <a:r>
                        <a:rPr lang="ko-KR" altLang="en-US" sz="1200" kern="0" spc="-80" dirty="0">
                          <a:effectLst/>
                        </a:rPr>
                        <a:t>결정에 관련된 특허의 표시</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5. </a:t>
                      </a:r>
                      <a:r>
                        <a:rPr lang="ko-KR" altLang="en-US" sz="1200" kern="0" spc="-80" dirty="0">
                          <a:effectLst/>
                        </a:rPr>
                        <a:t>결정의 결론 및 이유</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6. </a:t>
                      </a:r>
                      <a:r>
                        <a:rPr lang="ko-KR" altLang="en-US" sz="1200" kern="0" spc="-80" dirty="0" err="1">
                          <a:effectLst/>
                        </a:rPr>
                        <a:t>결정연월일</a:t>
                      </a:r>
                      <a:r>
                        <a:rPr lang="ko-KR" altLang="en-US"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② </a:t>
                      </a:r>
                      <a:r>
                        <a:rPr lang="en-US" altLang="ko-KR" sz="1200" b="1" kern="0" spc="-80" dirty="0">
                          <a:solidFill>
                            <a:schemeClr val="accent1"/>
                          </a:solidFill>
                          <a:effectLst/>
                        </a:rPr>
                        <a:t>(</a:t>
                      </a:r>
                      <a:r>
                        <a:rPr lang="ko-KR" altLang="en-US" sz="1200" b="1" kern="0" spc="-80" dirty="0">
                          <a:solidFill>
                            <a:schemeClr val="accent1"/>
                          </a:solidFill>
                          <a:effectLst/>
                        </a:rPr>
                        <a:t>송달</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심판장은 특허취소신청에 대한 결정이 있는 때에는 그 결정의 등본을 특허취소신청인</a:t>
                      </a:r>
                      <a:r>
                        <a:rPr lang="en-US" altLang="ko-KR" sz="1200" kern="0" spc="-80" dirty="0">
                          <a:effectLst/>
                        </a:rPr>
                        <a:t>, </a:t>
                      </a:r>
                      <a:r>
                        <a:rPr lang="ko-KR" altLang="en-US" sz="1200" kern="0" spc="-80" dirty="0" err="1">
                          <a:effectLst/>
                        </a:rPr>
                        <a:t>특허권자</a:t>
                      </a:r>
                      <a:r>
                        <a:rPr lang="en-US" altLang="ko-KR" sz="1200" kern="0" spc="-80" dirty="0">
                          <a:effectLst/>
                        </a:rPr>
                        <a:t>, </a:t>
                      </a:r>
                      <a:r>
                        <a:rPr lang="ko-KR" altLang="en-US" sz="1200" kern="0" spc="-80" dirty="0">
                          <a:effectLst/>
                        </a:rPr>
                        <a:t>참가인 및 그 특허취소신청에 대한 심리에 참가를 신청하였으나 그 신청이 거부된 자에게 송달하여야 한다</a:t>
                      </a:r>
                      <a:r>
                        <a:rPr lang="en-US" altLang="ko-KR" sz="1200" kern="0" spc="-80" dirty="0">
                          <a:effectLst/>
                        </a:rPr>
                        <a:t>.</a:t>
                      </a:r>
                    </a:p>
                  </a:txBody>
                  <a:tcPr marL="72000" marR="72000" marT="8067" marB="8067"/>
                </a:tc>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162</a:t>
                      </a:r>
                      <a:r>
                        <a:rPr lang="ko-KR" altLang="en-US" sz="1200" kern="0" spc="-80" dirty="0">
                          <a:effectLst/>
                        </a:rPr>
                        <a:t>조</a:t>
                      </a:r>
                      <a:r>
                        <a:rPr lang="en-US" altLang="ko-KR" sz="1200" kern="0" spc="-80" dirty="0">
                          <a:effectLst/>
                        </a:rPr>
                        <a:t>【</a:t>
                      </a:r>
                      <a:r>
                        <a:rPr lang="ko-KR" altLang="en-US" sz="1200" kern="0" spc="-80" dirty="0" err="1">
                          <a:effectLst/>
                        </a:rPr>
                        <a:t>심결</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① </a:t>
                      </a:r>
                      <a:r>
                        <a:rPr lang="en-US" altLang="ko-KR" sz="1200" b="1" kern="0" spc="-80" dirty="0">
                          <a:solidFill>
                            <a:schemeClr val="accent1"/>
                          </a:solidFill>
                          <a:effectLst/>
                        </a:rPr>
                        <a:t>(</a:t>
                      </a:r>
                      <a:r>
                        <a:rPr lang="ko-KR" altLang="en-US" sz="1200" b="1" kern="0" spc="-80" dirty="0" err="1">
                          <a:solidFill>
                            <a:schemeClr val="accent1"/>
                          </a:solidFill>
                          <a:effectLst/>
                        </a:rPr>
                        <a:t>심결에</a:t>
                      </a:r>
                      <a:r>
                        <a:rPr lang="ko-KR" altLang="en-US" sz="1200" b="1" kern="0" spc="-80" dirty="0">
                          <a:solidFill>
                            <a:schemeClr val="accent1"/>
                          </a:solidFill>
                          <a:effectLst/>
                        </a:rPr>
                        <a:t> 의한 종료</a:t>
                      </a:r>
                      <a:r>
                        <a:rPr lang="en-US" altLang="ko-KR" sz="1200" b="1" kern="0" spc="-80" dirty="0">
                          <a:solidFill>
                            <a:schemeClr val="accent1"/>
                          </a:solidFill>
                          <a:effectLst/>
                        </a:rPr>
                        <a:t>) </a:t>
                      </a:r>
                      <a:r>
                        <a:rPr lang="ko-KR" altLang="en-US" sz="1200" kern="0" spc="-80" dirty="0">
                          <a:effectLst/>
                        </a:rPr>
                        <a:t>심판은 특별한 규정이 있는 경우를 제외하고는 </a:t>
                      </a:r>
                      <a:r>
                        <a:rPr lang="ko-KR" altLang="en-US" sz="1200" kern="0" spc="-80" dirty="0" err="1">
                          <a:effectLst/>
                        </a:rPr>
                        <a:t>심결로써</a:t>
                      </a:r>
                      <a:r>
                        <a:rPr lang="ko-KR" altLang="en-US" sz="1200" kern="0" spc="-80" dirty="0">
                          <a:effectLst/>
                        </a:rPr>
                        <a:t> 종결한다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② </a:t>
                      </a:r>
                      <a:r>
                        <a:rPr lang="en-US" altLang="ko-KR" sz="1200" b="1" kern="0" spc="-80" dirty="0">
                          <a:solidFill>
                            <a:schemeClr val="accent1"/>
                          </a:solidFill>
                          <a:effectLst/>
                        </a:rPr>
                        <a:t>(</a:t>
                      </a:r>
                      <a:r>
                        <a:rPr lang="ko-KR" altLang="en-US" sz="1200" b="1" kern="0" spc="-80" dirty="0" err="1">
                          <a:solidFill>
                            <a:schemeClr val="accent1"/>
                          </a:solidFill>
                          <a:effectLst/>
                        </a:rPr>
                        <a:t>심결의</a:t>
                      </a:r>
                      <a:r>
                        <a:rPr lang="ko-KR" altLang="en-US" sz="1200" b="1" kern="0" spc="-80" dirty="0">
                          <a:solidFill>
                            <a:schemeClr val="accent1"/>
                          </a:solidFill>
                          <a:effectLst/>
                        </a:rPr>
                        <a:t> 방식</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제</a:t>
                      </a:r>
                      <a:r>
                        <a:rPr lang="en-US" altLang="ko-KR" sz="1200" kern="0" spc="-80" dirty="0">
                          <a:effectLst/>
                        </a:rPr>
                        <a:t>1</a:t>
                      </a:r>
                      <a:r>
                        <a:rPr lang="ko-KR" altLang="en-US" sz="1200" kern="0" spc="-80" dirty="0">
                          <a:effectLst/>
                        </a:rPr>
                        <a:t>항의 </a:t>
                      </a:r>
                      <a:r>
                        <a:rPr lang="ko-KR" altLang="en-US" sz="1200" kern="0" spc="-80" dirty="0" err="1">
                          <a:effectLst/>
                        </a:rPr>
                        <a:t>심결은</a:t>
                      </a:r>
                      <a:r>
                        <a:rPr lang="ko-KR" altLang="en-US" sz="1200" kern="0" spc="-80" dirty="0">
                          <a:effectLst/>
                        </a:rPr>
                        <a:t> 다음 각 호의 사항을 적은 서면으로 하여야 하며</a:t>
                      </a:r>
                      <a:r>
                        <a:rPr lang="en-US" altLang="ko-KR" sz="1200" kern="0" spc="-80" dirty="0">
                          <a:effectLst/>
                        </a:rPr>
                        <a:t>, </a:t>
                      </a:r>
                      <a:r>
                        <a:rPr lang="ko-KR" altLang="en-US" sz="1200" kern="0" spc="-80" dirty="0" err="1">
                          <a:effectLst/>
                        </a:rPr>
                        <a:t>심결을</a:t>
                      </a:r>
                      <a:r>
                        <a:rPr lang="ko-KR" altLang="en-US" sz="1200" kern="0" spc="-80" dirty="0">
                          <a:effectLst/>
                        </a:rPr>
                        <a:t> 한 심판관은 그 서면에 기명날인하여야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1. </a:t>
                      </a:r>
                      <a:r>
                        <a:rPr lang="ko-KR" altLang="en-US" sz="1200" kern="0" spc="-80" dirty="0">
                          <a:effectLst/>
                        </a:rPr>
                        <a:t>심판의 번호</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2. </a:t>
                      </a:r>
                      <a:r>
                        <a:rPr lang="ko-KR" altLang="en-US" sz="1200" kern="0" spc="-80" dirty="0">
                          <a:effectLst/>
                        </a:rPr>
                        <a:t>당사자 및 참가인의 성명 및 주소</a:t>
                      </a:r>
                      <a:r>
                        <a:rPr lang="en-US" altLang="ko-KR" sz="1200" kern="0" spc="-80" dirty="0">
                          <a:effectLst/>
                        </a:rPr>
                        <a:t>(</a:t>
                      </a:r>
                      <a:r>
                        <a:rPr lang="ko-KR" altLang="en-US" sz="1200" kern="0" spc="-80" dirty="0">
                          <a:effectLst/>
                        </a:rPr>
                        <a:t>법인인 경우에는 그 명칭 및 영업소의 소재지</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3. </a:t>
                      </a:r>
                      <a:r>
                        <a:rPr lang="ko-KR" altLang="en-US" sz="1200" kern="0" spc="-80" dirty="0">
                          <a:effectLst/>
                        </a:rPr>
                        <a:t>대리인이 있는 경우에는 그 대리인의 성명 및 주소나 영업소의 소재지</a:t>
                      </a:r>
                      <a:r>
                        <a:rPr lang="en-US" altLang="ko-KR" sz="1200" kern="0" spc="-80" dirty="0">
                          <a:effectLst/>
                        </a:rPr>
                        <a:t>[</a:t>
                      </a:r>
                      <a:r>
                        <a:rPr lang="ko-KR" altLang="en-US" sz="1200" kern="0" spc="-80" dirty="0">
                          <a:effectLst/>
                        </a:rPr>
                        <a:t>대리인이 특허법인</a:t>
                      </a:r>
                      <a:r>
                        <a:rPr lang="en-US" altLang="ko-KR" sz="1200" kern="0" spc="-80" dirty="0">
                          <a:effectLst/>
                        </a:rPr>
                        <a:t>·</a:t>
                      </a:r>
                      <a:r>
                        <a:rPr lang="ko-KR" altLang="en-US" sz="1200" kern="0" spc="-80" dirty="0">
                          <a:effectLst/>
                        </a:rPr>
                        <a:t>특허법인</a:t>
                      </a:r>
                      <a:r>
                        <a:rPr lang="en-US" altLang="ko-KR" sz="1200" kern="0" spc="-80" dirty="0">
                          <a:effectLst/>
                        </a:rPr>
                        <a:t>(</a:t>
                      </a:r>
                      <a:r>
                        <a:rPr lang="ko-KR" altLang="en-US" sz="1200" kern="0" spc="-80" dirty="0">
                          <a:effectLst/>
                        </a:rPr>
                        <a:t>유한</a:t>
                      </a:r>
                      <a:r>
                        <a:rPr lang="en-US" altLang="ko-KR" sz="1200" kern="0" spc="-80" dirty="0">
                          <a:effectLst/>
                        </a:rPr>
                        <a:t>)</a:t>
                      </a:r>
                      <a:r>
                        <a:rPr lang="ko-KR" altLang="en-US" sz="1200" kern="0" spc="-80" dirty="0">
                          <a:effectLst/>
                        </a:rPr>
                        <a:t>인 경우에는 그 명칭</a:t>
                      </a:r>
                      <a:r>
                        <a:rPr lang="en-US" altLang="ko-KR" sz="1200" kern="0" spc="-80" dirty="0">
                          <a:effectLst/>
                        </a:rPr>
                        <a:t>, </a:t>
                      </a:r>
                      <a:r>
                        <a:rPr lang="ko-KR" altLang="en-US" sz="1200" kern="0" spc="-80" dirty="0">
                          <a:effectLst/>
                        </a:rPr>
                        <a:t>사무소의 소재지 및 지정된 변리사의 성명</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4. </a:t>
                      </a:r>
                      <a:r>
                        <a:rPr lang="ko-KR" altLang="en-US" sz="1200" kern="0" spc="-80" dirty="0" err="1">
                          <a:effectLst/>
                        </a:rPr>
                        <a:t>심판사건의</a:t>
                      </a:r>
                      <a:r>
                        <a:rPr lang="ko-KR" altLang="en-US" sz="1200" kern="0" spc="-80" dirty="0">
                          <a:effectLst/>
                        </a:rPr>
                        <a:t> 표시</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  </a:t>
                      </a:r>
                      <a:r>
                        <a:rPr lang="en-US" altLang="ko-KR" sz="1200" kern="0" spc="-80" dirty="0">
                          <a:effectLst/>
                        </a:rPr>
                        <a:t>5. </a:t>
                      </a:r>
                      <a:r>
                        <a:rPr lang="ko-KR" altLang="en-US" sz="1200" kern="0" spc="-80" dirty="0" err="1">
                          <a:effectLst/>
                        </a:rPr>
                        <a:t>심결의</a:t>
                      </a:r>
                      <a:r>
                        <a:rPr lang="ko-KR" altLang="en-US" sz="1200" kern="0" spc="-80" dirty="0">
                          <a:effectLst/>
                        </a:rPr>
                        <a:t> 주문</a:t>
                      </a:r>
                      <a:r>
                        <a:rPr lang="en-US" altLang="ko-KR" sz="1200" kern="0" spc="-80" dirty="0">
                          <a:effectLst/>
                        </a:rPr>
                        <a:t>(</a:t>
                      </a:r>
                      <a:r>
                        <a:rPr lang="ko-KR" altLang="en-US" sz="1200" kern="0" spc="-80" dirty="0">
                          <a:effectLst/>
                        </a:rPr>
                        <a:t>제</a:t>
                      </a:r>
                      <a:r>
                        <a:rPr lang="en-US" altLang="ko-KR" sz="1200" kern="0" spc="-80" dirty="0">
                          <a:effectLst/>
                        </a:rPr>
                        <a:t>138</a:t>
                      </a:r>
                      <a:r>
                        <a:rPr lang="ko-KR" altLang="en-US" sz="1200" kern="0" spc="-80" dirty="0">
                          <a:effectLst/>
                        </a:rPr>
                        <a:t>조에 따른 심판의 경우에는 통상실시권의 범위</a:t>
                      </a:r>
                      <a:r>
                        <a:rPr lang="en-US" altLang="ko-KR" sz="1200" kern="0" spc="-80" dirty="0">
                          <a:effectLst/>
                        </a:rPr>
                        <a:t>·</a:t>
                      </a:r>
                      <a:r>
                        <a:rPr lang="ko-KR" altLang="en-US" sz="1200" kern="0" spc="-80" dirty="0">
                          <a:effectLst/>
                        </a:rPr>
                        <a:t>기간 및 대가를 포함한다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6. </a:t>
                      </a:r>
                      <a:r>
                        <a:rPr lang="ko-KR" altLang="en-US" sz="1200" kern="0" spc="-80" dirty="0" err="1">
                          <a:effectLst/>
                        </a:rPr>
                        <a:t>심결의</a:t>
                      </a:r>
                      <a:r>
                        <a:rPr lang="ko-KR" altLang="en-US" sz="1200" kern="0" spc="-80" dirty="0">
                          <a:effectLst/>
                        </a:rPr>
                        <a:t> 이유</a:t>
                      </a:r>
                      <a:r>
                        <a:rPr lang="en-US" altLang="ko-KR" sz="1200" kern="0" spc="-80" dirty="0">
                          <a:effectLst/>
                        </a:rPr>
                        <a:t>(</a:t>
                      </a:r>
                      <a:r>
                        <a:rPr lang="ko-KR" altLang="en-US" sz="1200" kern="0" spc="-80" dirty="0">
                          <a:effectLst/>
                        </a:rPr>
                        <a:t>청구의 취지 및 그 이유의 요지를 포함한다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  7. </a:t>
                      </a:r>
                      <a:r>
                        <a:rPr lang="ko-KR" altLang="en-US" sz="1200" kern="0" spc="-80" dirty="0" err="1">
                          <a:effectLst/>
                        </a:rPr>
                        <a:t>심결연월일</a:t>
                      </a:r>
                      <a:endParaRPr lang="ko-KR" altLang="en-US" sz="1200" kern="0" spc="-80" dirty="0">
                        <a:effectLst/>
                      </a:endParaRP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③ </a:t>
                      </a:r>
                      <a:r>
                        <a:rPr lang="en-US" altLang="ko-KR" sz="1200" b="1" kern="0" spc="-80" dirty="0">
                          <a:solidFill>
                            <a:schemeClr val="accent1"/>
                          </a:solidFill>
                          <a:effectLst/>
                        </a:rPr>
                        <a:t>(</a:t>
                      </a:r>
                      <a:r>
                        <a:rPr lang="ko-KR" altLang="en-US" sz="1200" b="1" kern="0" spc="-80" dirty="0">
                          <a:solidFill>
                            <a:schemeClr val="accent1"/>
                          </a:solidFill>
                          <a:effectLst/>
                        </a:rPr>
                        <a:t>심리종결통지</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심판장은 사건이 </a:t>
                      </a:r>
                      <a:r>
                        <a:rPr lang="ko-KR" altLang="en-US" sz="1200" kern="0" spc="-80" dirty="0" err="1">
                          <a:effectLst/>
                        </a:rPr>
                        <a:t>심결을</a:t>
                      </a:r>
                      <a:r>
                        <a:rPr lang="ko-KR" altLang="en-US" sz="1200" kern="0" spc="-80" dirty="0">
                          <a:effectLst/>
                        </a:rPr>
                        <a:t> 할 정도로 성숙하였을 때에는 심리의 종결을 당사자 및 참가인에게 통지하여야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④ </a:t>
                      </a:r>
                      <a:r>
                        <a:rPr lang="en-US" altLang="ko-KR" sz="1200" b="1" kern="0" spc="-80" dirty="0">
                          <a:solidFill>
                            <a:schemeClr val="accent1"/>
                          </a:solidFill>
                          <a:effectLst/>
                        </a:rPr>
                        <a:t>(</a:t>
                      </a:r>
                      <a:r>
                        <a:rPr lang="ko-KR" altLang="en-US" sz="1200" b="1" kern="0" spc="-80" dirty="0" err="1">
                          <a:solidFill>
                            <a:schemeClr val="accent1"/>
                          </a:solidFill>
                          <a:effectLst/>
                        </a:rPr>
                        <a:t>심리재개</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심판장은 필요하다고 인정하면 제</a:t>
                      </a:r>
                      <a:r>
                        <a:rPr lang="en-US" altLang="ko-KR" sz="1200" kern="0" spc="-80" dirty="0">
                          <a:effectLst/>
                        </a:rPr>
                        <a:t>3</a:t>
                      </a:r>
                      <a:r>
                        <a:rPr lang="ko-KR" altLang="en-US" sz="1200" kern="0" spc="-80" dirty="0">
                          <a:effectLst/>
                        </a:rPr>
                        <a:t>항에 따라 </a:t>
                      </a:r>
                      <a:r>
                        <a:rPr lang="ko-KR" altLang="en-US" sz="1200" kern="0" spc="-80" dirty="0" err="1">
                          <a:effectLst/>
                        </a:rPr>
                        <a:t>심리종결을</a:t>
                      </a:r>
                      <a:r>
                        <a:rPr lang="ko-KR" altLang="en-US" sz="1200" kern="0" spc="-80" dirty="0">
                          <a:effectLst/>
                        </a:rPr>
                        <a:t> 통지한 후에도 당사자 또는 참가인의 신청에 의하여 또는 직권으로 심리를 재개할 수 있다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⑤ </a:t>
                      </a:r>
                      <a:r>
                        <a:rPr lang="en-US" altLang="ko-KR" sz="1200" b="1" kern="0" spc="-80" dirty="0">
                          <a:solidFill>
                            <a:schemeClr val="accent1"/>
                          </a:solidFill>
                          <a:effectLst/>
                        </a:rPr>
                        <a:t>(</a:t>
                      </a:r>
                      <a:r>
                        <a:rPr lang="ko-KR" altLang="en-US" sz="1200" b="1" kern="0" spc="-80" dirty="0" err="1">
                          <a:solidFill>
                            <a:schemeClr val="accent1"/>
                          </a:solidFill>
                          <a:effectLst/>
                        </a:rPr>
                        <a:t>심결시기</a:t>
                      </a:r>
                      <a:r>
                        <a:rPr lang="en-US" altLang="ko-KR" sz="1200" b="1" kern="0" spc="-80" dirty="0">
                          <a:solidFill>
                            <a:schemeClr val="accent1"/>
                          </a:solidFill>
                          <a:effectLst/>
                        </a:rPr>
                        <a:t>) </a:t>
                      </a:r>
                      <a:r>
                        <a:rPr lang="ko-KR" altLang="en-US" sz="1200" kern="0" spc="-80" dirty="0" err="1">
                          <a:effectLst/>
                        </a:rPr>
                        <a:t>심결은</a:t>
                      </a:r>
                      <a:r>
                        <a:rPr lang="ko-KR" altLang="en-US" sz="1200" kern="0" spc="-80" dirty="0">
                          <a:effectLst/>
                        </a:rPr>
                        <a:t> 제</a:t>
                      </a:r>
                      <a:r>
                        <a:rPr lang="en-US" altLang="ko-KR" sz="1200" kern="0" spc="-80" dirty="0">
                          <a:effectLst/>
                        </a:rPr>
                        <a:t>3</a:t>
                      </a:r>
                      <a:r>
                        <a:rPr lang="ko-KR" altLang="en-US" sz="1200" kern="0" spc="-80" dirty="0">
                          <a:effectLst/>
                        </a:rPr>
                        <a:t>항에 따른 심리종결통지를 한 날부터 </a:t>
                      </a:r>
                      <a:r>
                        <a:rPr lang="en-US" altLang="ko-KR" sz="1200" kern="0" spc="-80" dirty="0">
                          <a:effectLst/>
                        </a:rPr>
                        <a:t>20</a:t>
                      </a:r>
                      <a:r>
                        <a:rPr lang="ko-KR" altLang="en-US" sz="1200" kern="0" spc="-80" dirty="0">
                          <a:effectLst/>
                        </a:rPr>
                        <a:t>일 이내에 한다</a:t>
                      </a:r>
                      <a:r>
                        <a:rPr lang="en-US" altLang="ko-KR" sz="1200" kern="0" spc="-80" dirty="0">
                          <a:effectLst/>
                        </a:rPr>
                        <a:t>.</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en-US" altLang="ko-KR" sz="1200" kern="0" spc="-80" dirty="0">
                          <a:effectLst/>
                        </a:rPr>
                        <a:t>⑥ </a:t>
                      </a:r>
                      <a:r>
                        <a:rPr lang="en-US" altLang="ko-KR" sz="1200" b="1" kern="0" spc="-80" dirty="0">
                          <a:solidFill>
                            <a:schemeClr val="accent1"/>
                          </a:solidFill>
                          <a:effectLst/>
                        </a:rPr>
                        <a:t>(</a:t>
                      </a:r>
                      <a:r>
                        <a:rPr lang="ko-KR" altLang="en-US" sz="1200" b="1" kern="0" spc="-80" dirty="0">
                          <a:solidFill>
                            <a:schemeClr val="accent1"/>
                          </a:solidFill>
                          <a:effectLst/>
                        </a:rPr>
                        <a:t>송달</a:t>
                      </a:r>
                      <a:r>
                        <a:rPr lang="en-US" altLang="ko-KR" sz="1200" b="1" kern="0" spc="-80" dirty="0">
                          <a:solidFill>
                            <a:schemeClr val="accent1"/>
                          </a:solidFill>
                          <a:effectLst/>
                        </a:rPr>
                        <a:t>)</a:t>
                      </a:r>
                      <a:r>
                        <a:rPr lang="en-US" altLang="ko-KR" sz="1200" kern="0" spc="-80" dirty="0">
                          <a:effectLst/>
                        </a:rPr>
                        <a:t> </a:t>
                      </a:r>
                      <a:r>
                        <a:rPr lang="ko-KR" altLang="en-US" sz="1200" kern="0" spc="-80" dirty="0">
                          <a:effectLst/>
                        </a:rPr>
                        <a:t>심판장은 </a:t>
                      </a:r>
                      <a:r>
                        <a:rPr lang="ko-KR" altLang="en-US" sz="1200" kern="0" spc="-80" dirty="0" err="1">
                          <a:effectLst/>
                        </a:rPr>
                        <a:t>심결</a:t>
                      </a:r>
                      <a:r>
                        <a:rPr lang="ko-KR" altLang="en-US" sz="1200" kern="0" spc="-80" dirty="0">
                          <a:effectLst/>
                        </a:rPr>
                        <a:t> 또는 결정이 있으면 그 등본을 당사자</a:t>
                      </a:r>
                      <a:r>
                        <a:rPr lang="en-US" altLang="ko-KR" sz="1200" kern="0" spc="-80" dirty="0">
                          <a:effectLst/>
                        </a:rPr>
                        <a:t>, </a:t>
                      </a:r>
                      <a:r>
                        <a:rPr lang="ko-KR" altLang="en-US" sz="1200" kern="0" spc="-80" dirty="0">
                          <a:effectLst/>
                        </a:rPr>
                        <a:t>참가인 및 심판에 참가신청을 하였으나 그 신청이 거부된 자에게 송달하여야 한다</a:t>
                      </a:r>
                      <a:r>
                        <a:rPr lang="en-US" altLang="ko-KR" sz="1200" kern="0" spc="-80" dirty="0">
                          <a:effectLst/>
                        </a:rPr>
                        <a:t>.</a:t>
                      </a:r>
                    </a:p>
                  </a:txBody>
                  <a:tcPr marL="72000" marR="72000" marT="8067" marB="8067"/>
                </a:tc>
                <a:extLst>
                  <a:ext uri="{0D108BD9-81ED-4DB2-BD59-A6C34878D82A}">
                    <a16:rowId xmlns:a16="http://schemas.microsoft.com/office/drawing/2014/main" val="1743411643"/>
                  </a:ext>
                </a:extLst>
              </a:tr>
              <a:tr h="430718">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제</a:t>
                      </a:r>
                      <a:r>
                        <a:rPr lang="en-US" altLang="ko-KR" sz="1200" kern="0" spc="-80" dirty="0">
                          <a:effectLst/>
                        </a:rPr>
                        <a:t>132</a:t>
                      </a:r>
                      <a:r>
                        <a:rPr lang="ko-KR" altLang="en-US" sz="1200" kern="0" spc="-80" dirty="0">
                          <a:effectLst/>
                        </a:rPr>
                        <a:t>조의</a:t>
                      </a:r>
                      <a:r>
                        <a:rPr lang="en-US" altLang="ko-KR" sz="1200" kern="0" spc="-80" dirty="0">
                          <a:effectLst/>
                        </a:rPr>
                        <a:t>15【</a:t>
                      </a:r>
                      <a:r>
                        <a:rPr lang="ko-KR" altLang="en-US" sz="1200" kern="0" spc="-80" dirty="0" err="1">
                          <a:effectLst/>
                        </a:rPr>
                        <a:t>심판규정의</a:t>
                      </a:r>
                      <a:r>
                        <a:rPr lang="ko-KR" altLang="en-US" sz="1200" kern="0" spc="-80" dirty="0">
                          <a:effectLst/>
                        </a:rPr>
                        <a:t> 특허취소신청에의 준용</a:t>
                      </a:r>
                      <a:r>
                        <a:rPr lang="en-US" altLang="ko-KR" sz="1200" kern="0" spc="-80" dirty="0">
                          <a:effectLst/>
                        </a:rPr>
                        <a:t>】 </a:t>
                      </a:r>
                    </a:p>
                    <a:p>
                      <a:pPr marL="0" marR="0" indent="0" algn="just" fontAlgn="base" latinLnBrk="0">
                        <a:lnSpc>
                          <a:spcPct val="120000"/>
                        </a:lnSpc>
                        <a:spcBef>
                          <a:spcPts val="0"/>
                        </a:spcBef>
                        <a:spcAft>
                          <a:spcPts val="0"/>
                        </a:spcAft>
                        <a:tabLst>
                          <a:tab pos="373380" algn="r"/>
                          <a:tab pos="5478780" algn="r"/>
                          <a:tab pos="373380" algn="r"/>
                          <a:tab pos="5478780" algn="r"/>
                        </a:tabLst>
                      </a:pPr>
                      <a:r>
                        <a:rPr lang="ko-KR" altLang="en-US" sz="1200" kern="0" spc="-80" dirty="0">
                          <a:effectLst/>
                        </a:rPr>
                        <a:t>특허취소신청의 </a:t>
                      </a:r>
                      <a:r>
                        <a:rPr lang="ko-KR" altLang="en-US" sz="1200" kern="0" spc="-80" dirty="0" err="1">
                          <a:effectLst/>
                        </a:rPr>
                        <a:t>심리ㆍ결정에</a:t>
                      </a:r>
                      <a:r>
                        <a:rPr lang="ko-KR" altLang="en-US" sz="1200" kern="0" spc="-80" dirty="0">
                          <a:effectLst/>
                        </a:rPr>
                        <a:t> 관하여는 제</a:t>
                      </a:r>
                      <a:r>
                        <a:rPr lang="en-US" altLang="ko-KR" sz="1200" kern="0" spc="-80" dirty="0">
                          <a:effectLst/>
                        </a:rPr>
                        <a:t>147</a:t>
                      </a:r>
                      <a:r>
                        <a:rPr lang="ko-KR" altLang="en-US" sz="1200" kern="0" spc="-80" dirty="0">
                          <a:effectLst/>
                        </a:rPr>
                        <a:t>조제</a:t>
                      </a:r>
                      <a:r>
                        <a:rPr lang="en-US" altLang="ko-KR" sz="1200" kern="0" spc="-80" dirty="0">
                          <a:effectLst/>
                        </a:rPr>
                        <a:t>3</a:t>
                      </a:r>
                      <a:r>
                        <a:rPr lang="ko-KR" altLang="en-US" sz="1200" kern="0" spc="-80" dirty="0">
                          <a:effectLst/>
                        </a:rPr>
                        <a:t>항</a:t>
                      </a:r>
                      <a:r>
                        <a:rPr lang="en-US" altLang="ko-KR" sz="1200" kern="0" spc="-80" dirty="0">
                          <a:solidFill>
                            <a:srgbClr val="FF0000"/>
                          </a:solidFill>
                          <a:effectLst/>
                        </a:rPr>
                        <a:t>[</a:t>
                      </a:r>
                      <a:r>
                        <a:rPr lang="ko-KR" altLang="en-US" sz="1200" kern="0" spc="-80" dirty="0">
                          <a:solidFill>
                            <a:srgbClr val="FF0000"/>
                          </a:solidFill>
                          <a:effectLst/>
                        </a:rPr>
                        <a:t>당사자 심문</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157</a:t>
                      </a:r>
                      <a:r>
                        <a:rPr lang="ko-KR" altLang="en-US" sz="1200" kern="0" spc="-80" dirty="0">
                          <a:effectLst/>
                        </a:rPr>
                        <a:t>조</a:t>
                      </a:r>
                      <a:r>
                        <a:rPr lang="en-US" altLang="ko-KR" sz="1200" kern="0" spc="-80" dirty="0">
                          <a:solidFill>
                            <a:srgbClr val="FF0000"/>
                          </a:solidFill>
                          <a:effectLst/>
                        </a:rPr>
                        <a:t>[</a:t>
                      </a:r>
                      <a:r>
                        <a:rPr lang="ko-KR" altLang="en-US" sz="1200" kern="0" spc="-80" dirty="0">
                          <a:solidFill>
                            <a:srgbClr val="FF0000"/>
                          </a:solidFill>
                          <a:effectLst/>
                        </a:rPr>
                        <a:t>증거조사 및 증거보전</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158</a:t>
                      </a:r>
                      <a:r>
                        <a:rPr lang="ko-KR" altLang="en-US" sz="1200" kern="0" spc="-80" dirty="0">
                          <a:effectLst/>
                        </a:rPr>
                        <a:t>조</a:t>
                      </a:r>
                      <a:r>
                        <a:rPr lang="en-US" altLang="ko-KR" sz="1200" kern="0" spc="-80" dirty="0">
                          <a:solidFill>
                            <a:srgbClr val="FF0000"/>
                          </a:solidFill>
                          <a:effectLst/>
                        </a:rPr>
                        <a:t>[</a:t>
                      </a:r>
                      <a:r>
                        <a:rPr lang="ko-KR" altLang="en-US" sz="1200" kern="0" spc="-80" dirty="0">
                          <a:solidFill>
                            <a:srgbClr val="FF0000"/>
                          </a:solidFill>
                          <a:effectLst/>
                        </a:rPr>
                        <a:t>심판의 진행</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164</a:t>
                      </a:r>
                      <a:r>
                        <a:rPr lang="ko-KR" altLang="en-US" sz="1200" kern="0" spc="-80" dirty="0">
                          <a:effectLst/>
                        </a:rPr>
                        <a:t>조</a:t>
                      </a:r>
                      <a:r>
                        <a:rPr lang="en-US" altLang="ko-KR" sz="1200" kern="0" spc="-80" dirty="0">
                          <a:solidFill>
                            <a:srgbClr val="FF0000"/>
                          </a:solidFill>
                          <a:effectLst/>
                        </a:rPr>
                        <a:t>[</a:t>
                      </a:r>
                      <a:r>
                        <a:rPr lang="ko-KR" altLang="en-US" sz="1200" kern="0" spc="-80" dirty="0">
                          <a:solidFill>
                            <a:srgbClr val="FF0000"/>
                          </a:solidFill>
                          <a:effectLst/>
                        </a:rPr>
                        <a:t>소송과의 관계</a:t>
                      </a:r>
                      <a:r>
                        <a:rPr lang="en-US" altLang="ko-KR" sz="1200" kern="0" spc="-80" dirty="0">
                          <a:solidFill>
                            <a:srgbClr val="FF0000"/>
                          </a:solidFill>
                          <a:effectLst/>
                        </a:rPr>
                        <a:t>]</a:t>
                      </a:r>
                      <a:r>
                        <a:rPr lang="en-US" altLang="ko-KR" sz="1200" kern="0" spc="-80" dirty="0">
                          <a:effectLst/>
                        </a:rPr>
                        <a:t>, </a:t>
                      </a:r>
                      <a:r>
                        <a:rPr lang="ko-KR" altLang="en-US" sz="1200" kern="0" spc="-80" dirty="0">
                          <a:effectLst/>
                        </a:rPr>
                        <a:t>제</a:t>
                      </a:r>
                      <a:r>
                        <a:rPr lang="en-US" altLang="ko-KR" sz="1200" kern="0" spc="-80" dirty="0">
                          <a:effectLst/>
                        </a:rPr>
                        <a:t>165</a:t>
                      </a:r>
                      <a:r>
                        <a:rPr lang="ko-KR" altLang="en-US" sz="1200" kern="0" spc="-80" dirty="0">
                          <a:effectLst/>
                        </a:rPr>
                        <a:t>조제</a:t>
                      </a:r>
                      <a:r>
                        <a:rPr lang="en-US" altLang="ko-KR" sz="1200" kern="0" spc="-80" dirty="0">
                          <a:effectLst/>
                        </a:rPr>
                        <a:t>3</a:t>
                      </a:r>
                      <a:r>
                        <a:rPr lang="ko-KR" altLang="en-US" sz="1200" kern="0" spc="-80" dirty="0">
                          <a:effectLst/>
                        </a:rPr>
                        <a:t>항부터 제</a:t>
                      </a:r>
                      <a:r>
                        <a:rPr lang="en-US" altLang="ko-KR" sz="1200" kern="0" spc="-80" dirty="0">
                          <a:effectLst/>
                        </a:rPr>
                        <a:t>6</a:t>
                      </a:r>
                      <a:r>
                        <a:rPr lang="ko-KR" altLang="en-US" sz="1200" kern="0" spc="-80" dirty="0">
                          <a:effectLst/>
                        </a:rPr>
                        <a:t>항까지</a:t>
                      </a:r>
                      <a:r>
                        <a:rPr lang="en-US" altLang="ko-KR" sz="1200" kern="0" spc="-80" dirty="0">
                          <a:solidFill>
                            <a:srgbClr val="FF0000"/>
                          </a:solidFill>
                          <a:effectLst/>
                        </a:rPr>
                        <a:t>[</a:t>
                      </a:r>
                      <a:r>
                        <a:rPr lang="ko-KR" altLang="en-US" sz="1200" kern="0" spc="-80" dirty="0">
                          <a:solidFill>
                            <a:srgbClr val="FF0000"/>
                          </a:solidFill>
                          <a:effectLst/>
                        </a:rPr>
                        <a:t>청구인의 </a:t>
                      </a:r>
                      <a:r>
                        <a:rPr lang="ko-KR" altLang="en-US" sz="1200" kern="0" spc="-80" dirty="0" err="1">
                          <a:solidFill>
                            <a:srgbClr val="FF0000"/>
                          </a:solidFill>
                          <a:effectLst/>
                        </a:rPr>
                        <a:t>심판비용</a:t>
                      </a:r>
                      <a:r>
                        <a:rPr lang="ko-KR" altLang="en-US" sz="1200" kern="0" spc="-80" dirty="0">
                          <a:solidFill>
                            <a:srgbClr val="FF0000"/>
                          </a:solidFill>
                          <a:effectLst/>
                        </a:rPr>
                        <a:t> 부담</a:t>
                      </a:r>
                      <a:r>
                        <a:rPr lang="en-US" altLang="ko-KR" sz="1200" kern="0" spc="-80" dirty="0">
                          <a:solidFill>
                            <a:srgbClr val="FF0000"/>
                          </a:solidFill>
                          <a:effectLst/>
                        </a:rPr>
                        <a:t>]</a:t>
                      </a:r>
                      <a:r>
                        <a:rPr lang="en-US" altLang="ko-KR" sz="1200" kern="0" spc="-80" dirty="0">
                          <a:effectLst/>
                        </a:rPr>
                        <a:t> </a:t>
                      </a:r>
                      <a:r>
                        <a:rPr lang="ko-KR" altLang="en-US" sz="1200" kern="0" spc="-80" dirty="0">
                          <a:effectLst/>
                        </a:rPr>
                        <a:t>및 제</a:t>
                      </a:r>
                      <a:r>
                        <a:rPr lang="en-US" altLang="ko-KR" sz="1200" kern="0" spc="-80" dirty="0">
                          <a:effectLst/>
                        </a:rPr>
                        <a:t>166</a:t>
                      </a:r>
                      <a:r>
                        <a:rPr lang="ko-KR" altLang="en-US" sz="1200" kern="0" spc="-80" dirty="0">
                          <a:effectLst/>
                        </a:rPr>
                        <a:t>조</a:t>
                      </a:r>
                      <a:r>
                        <a:rPr lang="en-US" altLang="ko-KR" sz="1200" kern="0" spc="-80" dirty="0">
                          <a:solidFill>
                            <a:srgbClr val="FF0000"/>
                          </a:solidFill>
                          <a:effectLst/>
                        </a:rPr>
                        <a:t>[</a:t>
                      </a:r>
                      <a:r>
                        <a:rPr lang="ko-KR" altLang="en-US" sz="1200" kern="0" spc="-80" dirty="0" err="1">
                          <a:solidFill>
                            <a:srgbClr val="FF0000"/>
                          </a:solidFill>
                          <a:effectLst/>
                        </a:rPr>
                        <a:t>심판비용액</a:t>
                      </a:r>
                      <a:r>
                        <a:rPr lang="ko-KR" altLang="en-US" sz="1200" kern="0" spc="-80" dirty="0">
                          <a:solidFill>
                            <a:srgbClr val="FF0000"/>
                          </a:solidFill>
                          <a:effectLst/>
                        </a:rPr>
                        <a:t> 또는 대가에 대한 </a:t>
                      </a:r>
                      <a:r>
                        <a:rPr lang="ko-KR" altLang="en-US" sz="1200" kern="0" spc="-80" dirty="0" err="1">
                          <a:solidFill>
                            <a:srgbClr val="FF0000"/>
                          </a:solidFill>
                          <a:effectLst/>
                        </a:rPr>
                        <a:t>집행권원</a:t>
                      </a:r>
                      <a:r>
                        <a:rPr lang="en-US" altLang="ko-KR" sz="1200" kern="0" spc="-80" dirty="0">
                          <a:solidFill>
                            <a:srgbClr val="FF0000"/>
                          </a:solidFill>
                          <a:effectLst/>
                        </a:rPr>
                        <a:t>]</a:t>
                      </a:r>
                      <a:r>
                        <a:rPr lang="ko-KR" altLang="en-US" sz="1200" kern="0" spc="-80" dirty="0">
                          <a:effectLst/>
                        </a:rPr>
                        <a:t>를 준용한다</a:t>
                      </a:r>
                      <a:r>
                        <a:rPr lang="en-US" altLang="ko-KR" sz="1200" kern="0" spc="-80" dirty="0">
                          <a:effectLst/>
                        </a:rPr>
                        <a:t>.</a:t>
                      </a:r>
                    </a:p>
                  </a:txBody>
                  <a:tcPr marL="72000" marR="72000" marT="8067" marB="8067"/>
                </a:tc>
                <a:tc>
                  <a:txBody>
                    <a:bodyPr/>
                    <a:lstStyle/>
                    <a:p>
                      <a:pPr marL="0" marR="0" indent="0" algn="just" fontAlgn="base" latinLnBrk="0">
                        <a:lnSpc>
                          <a:spcPct val="120000"/>
                        </a:lnSpc>
                        <a:spcBef>
                          <a:spcPts val="0"/>
                        </a:spcBef>
                        <a:spcAft>
                          <a:spcPts val="0"/>
                        </a:spcAft>
                        <a:tabLst>
                          <a:tab pos="373380" algn="r"/>
                          <a:tab pos="5478780" algn="r"/>
                          <a:tab pos="373380" algn="r"/>
                          <a:tab pos="5478780" algn="r"/>
                        </a:tabLst>
                      </a:pPr>
                      <a:endParaRPr lang="en-US" altLang="ko-KR" sz="1200" kern="0" spc="-80" dirty="0">
                        <a:effectLst/>
                      </a:endParaRPr>
                    </a:p>
                  </a:txBody>
                  <a:tcPr marL="72000" marR="72000" marT="8067" marB="8067"/>
                </a:tc>
                <a:extLst>
                  <a:ext uri="{0D108BD9-81ED-4DB2-BD59-A6C34878D82A}">
                    <a16:rowId xmlns:a16="http://schemas.microsoft.com/office/drawing/2014/main" val="2637477321"/>
                  </a:ext>
                </a:extLst>
              </a:tr>
            </a:tbl>
          </a:graphicData>
        </a:graphic>
      </p:graphicFrame>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507</a:t>
            </a:r>
            <a:endParaRPr lang="ko-KR" altLang="en-US" dirty="0"/>
          </a:p>
        </p:txBody>
      </p:sp>
    </p:spTree>
    <p:extLst>
      <p:ext uri="{BB962C8B-B14F-4D97-AF65-F5344CB8AC3E}">
        <p14:creationId xmlns:p14="http://schemas.microsoft.com/office/powerpoint/2010/main" val="2476066857"/>
      </p:ext>
    </p:extLst>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sz="2000" dirty="0"/>
              <a:t>제</a:t>
            </a:r>
            <a:r>
              <a:rPr lang="en-US" altLang="ko-KR" sz="2000" dirty="0"/>
              <a:t>132</a:t>
            </a:r>
            <a:r>
              <a:rPr lang="ko-KR" altLang="en-US" sz="2000" dirty="0"/>
              <a:t>조의</a:t>
            </a:r>
            <a:r>
              <a:rPr lang="en-US" altLang="ko-KR" sz="2000" dirty="0"/>
              <a:t>3, </a:t>
            </a:r>
            <a:br>
              <a:rPr lang="en-US" altLang="ko-KR" sz="2000" dirty="0"/>
            </a:br>
            <a:r>
              <a:rPr lang="ko-KR" altLang="en-US" sz="2000" dirty="0"/>
              <a:t>제</a:t>
            </a:r>
            <a:r>
              <a:rPr lang="en-US" altLang="ko-KR" sz="2000" dirty="0"/>
              <a:t>133</a:t>
            </a:r>
            <a:r>
              <a:rPr lang="ko-KR" altLang="en-US" sz="2000" dirty="0"/>
              <a:t>조의</a:t>
            </a:r>
            <a:r>
              <a:rPr lang="en-US" altLang="ko-KR" sz="2000" dirty="0"/>
              <a:t>2, </a:t>
            </a:r>
            <a:r>
              <a:rPr lang="ko-KR" altLang="en-US" sz="2000" dirty="0"/>
              <a:t>제</a:t>
            </a:r>
            <a:r>
              <a:rPr lang="en-US" altLang="ko-KR" sz="2000" dirty="0"/>
              <a:t>137</a:t>
            </a:r>
            <a:r>
              <a:rPr lang="ko-KR" altLang="en-US" sz="2000"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t>보정 단위 </a:t>
            </a:r>
            <a:r>
              <a:rPr lang="en-US" altLang="ko-KR" dirty="0"/>
              <a:t>vs </a:t>
            </a:r>
            <a:r>
              <a:rPr lang="ko-KR" altLang="en-US" dirty="0"/>
              <a:t>정정 단위</a:t>
            </a:r>
            <a:r>
              <a:rPr lang="en-US" altLang="ko-KR" dirty="0"/>
              <a:t>: </a:t>
            </a:r>
            <a:r>
              <a:rPr lang="ko-KR" altLang="en-US" dirty="0"/>
              <a:t>제</a:t>
            </a:r>
            <a:r>
              <a:rPr lang="en-US" altLang="ko-KR" dirty="0"/>
              <a:t>133</a:t>
            </a:r>
            <a:r>
              <a:rPr lang="ko-KR" altLang="en-US" dirty="0"/>
              <a:t>조의</a:t>
            </a:r>
            <a:r>
              <a:rPr lang="en-US" altLang="ko-KR" dirty="0"/>
              <a:t>2</a:t>
            </a:r>
            <a:r>
              <a:rPr lang="ko-KR" altLang="en-US" dirty="0"/>
              <a:t>제</a:t>
            </a:r>
            <a:r>
              <a:rPr lang="en-US" altLang="ko-KR" dirty="0"/>
              <a:t>2</a:t>
            </a:r>
            <a:r>
              <a:rPr lang="ko-KR" altLang="en-US" dirty="0"/>
              <a:t>항</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23" name="Line 5"/>
          <p:cNvSpPr>
            <a:spLocks noChangeShapeType="1"/>
          </p:cNvSpPr>
          <p:nvPr/>
        </p:nvSpPr>
        <p:spPr bwMode="auto">
          <a:xfrm>
            <a:off x="328662" y="1533492"/>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4" name="TextBox 23"/>
          <p:cNvSpPr txBox="1"/>
          <p:nvPr/>
        </p:nvSpPr>
        <p:spPr>
          <a:xfrm>
            <a:off x="236162" y="137021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a:solidFill>
                  <a:schemeClr val="tx1"/>
                </a:solidFill>
                <a:latin typeface="+mn-ea"/>
              </a:rPr>
              <a:t>특허출원</a:t>
            </a:r>
            <a:endParaRPr lang="en-US" altLang="ko-KR" sz="1400" dirty="0">
              <a:solidFill>
                <a:schemeClr val="tx1"/>
              </a:solidFill>
              <a:latin typeface="+mn-ea"/>
            </a:endParaRPr>
          </a:p>
        </p:txBody>
      </p:sp>
      <p:sp>
        <p:nvSpPr>
          <p:cNvPr id="25" name="TextBox 24"/>
          <p:cNvSpPr txBox="1"/>
          <p:nvPr/>
        </p:nvSpPr>
        <p:spPr>
          <a:xfrm>
            <a:off x="4298796" y="137021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실체심사</a:t>
            </a:r>
            <a:endParaRPr lang="en-US" altLang="ko-KR" sz="1400" dirty="0">
              <a:solidFill>
                <a:schemeClr val="tx1"/>
              </a:solidFill>
              <a:latin typeface="+mn-ea"/>
            </a:endParaRPr>
          </a:p>
        </p:txBody>
      </p:sp>
      <p:sp>
        <p:nvSpPr>
          <p:cNvPr id="26" name="TextBox 25"/>
          <p:cNvSpPr txBox="1"/>
          <p:nvPr/>
        </p:nvSpPr>
        <p:spPr>
          <a:xfrm>
            <a:off x="1551381" y="137021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보정</a:t>
            </a:r>
            <a:r>
              <a:rPr lang="en-US" altLang="ko-KR" sz="1400" dirty="0">
                <a:solidFill>
                  <a:schemeClr val="tx1"/>
                </a:solidFill>
                <a:latin typeface="+mn-ea"/>
              </a:rPr>
              <a:t>1</a:t>
            </a:r>
          </a:p>
        </p:txBody>
      </p:sp>
      <p:sp>
        <p:nvSpPr>
          <p:cNvPr id="27" name="TextBox 26"/>
          <p:cNvSpPr txBox="1"/>
          <p:nvPr/>
        </p:nvSpPr>
        <p:spPr>
          <a:xfrm>
            <a:off x="236162" y="1860050"/>
            <a:ext cx="1013110" cy="135687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342900" indent="-342900">
              <a:buAutoNum type="arabicPeriod"/>
            </a:pPr>
            <a:r>
              <a:rPr lang="en-US" altLang="ko-KR" sz="1400" dirty="0">
                <a:solidFill>
                  <a:schemeClr val="tx1"/>
                </a:solidFill>
                <a:latin typeface="+mn-ea"/>
              </a:rPr>
              <a:t>A</a:t>
            </a:r>
          </a:p>
          <a:p>
            <a:pPr marL="342900" indent="-342900">
              <a:buAutoNum type="arabicPeriod"/>
            </a:pPr>
            <a:r>
              <a:rPr lang="en-US" altLang="ko-KR" sz="1400" dirty="0">
                <a:solidFill>
                  <a:schemeClr val="tx1"/>
                </a:solidFill>
                <a:latin typeface="+mn-ea"/>
              </a:rPr>
              <a:t>B</a:t>
            </a:r>
          </a:p>
          <a:p>
            <a:pPr marL="342900" indent="-342900">
              <a:buAutoNum type="arabicPeriod"/>
            </a:pPr>
            <a:r>
              <a:rPr lang="en-US" altLang="ko-KR" sz="1400" dirty="0">
                <a:solidFill>
                  <a:schemeClr val="tx1"/>
                </a:solidFill>
                <a:latin typeface="+mn-ea"/>
              </a:rPr>
              <a:t>C</a:t>
            </a:r>
          </a:p>
          <a:p>
            <a:pPr marL="342900" indent="-342900">
              <a:buAutoNum type="arabicPeriod"/>
            </a:pPr>
            <a:r>
              <a:rPr lang="en-US" altLang="ko-KR" sz="1400" dirty="0">
                <a:solidFill>
                  <a:schemeClr val="tx1"/>
                </a:solidFill>
                <a:latin typeface="+mn-ea"/>
              </a:rPr>
              <a:t>D</a:t>
            </a:r>
          </a:p>
        </p:txBody>
      </p:sp>
      <p:sp>
        <p:nvSpPr>
          <p:cNvPr id="28" name="TextBox 27"/>
          <p:cNvSpPr txBox="1"/>
          <p:nvPr/>
        </p:nvSpPr>
        <p:spPr>
          <a:xfrm>
            <a:off x="1551380" y="2127933"/>
            <a:ext cx="1013110" cy="229677"/>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342900" indent="-342900">
              <a:buAutoNum type="arabicPeriod"/>
            </a:pPr>
            <a:r>
              <a:rPr lang="en-US" altLang="ko-KR" sz="1400" dirty="0">
                <a:solidFill>
                  <a:schemeClr val="tx1"/>
                </a:solidFill>
                <a:latin typeface="+mn-ea"/>
              </a:rPr>
              <a:t>A1</a:t>
            </a:r>
          </a:p>
        </p:txBody>
      </p:sp>
      <p:sp>
        <p:nvSpPr>
          <p:cNvPr id="29" name="TextBox 28"/>
          <p:cNvSpPr txBox="1"/>
          <p:nvPr/>
        </p:nvSpPr>
        <p:spPr>
          <a:xfrm>
            <a:off x="2930596" y="137021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보정</a:t>
            </a:r>
            <a:r>
              <a:rPr lang="en-US" altLang="ko-KR" sz="1400" dirty="0">
                <a:solidFill>
                  <a:schemeClr val="tx1"/>
                </a:solidFill>
                <a:latin typeface="+mn-ea"/>
              </a:rPr>
              <a:t>2</a:t>
            </a:r>
          </a:p>
        </p:txBody>
      </p:sp>
      <p:sp>
        <p:nvSpPr>
          <p:cNvPr id="35" name="TextBox 34"/>
          <p:cNvSpPr txBox="1"/>
          <p:nvPr/>
        </p:nvSpPr>
        <p:spPr>
          <a:xfrm>
            <a:off x="2930595" y="2126255"/>
            <a:ext cx="1013110" cy="23135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342900" indent="-342900">
              <a:buAutoNum type="arabicPeriod"/>
            </a:pPr>
            <a:r>
              <a:rPr lang="en-US" altLang="ko-KR" sz="1400" dirty="0">
                <a:solidFill>
                  <a:schemeClr val="tx1"/>
                </a:solidFill>
                <a:latin typeface="+mn-ea"/>
              </a:rPr>
              <a:t>A2</a:t>
            </a:r>
          </a:p>
        </p:txBody>
      </p:sp>
      <p:sp>
        <p:nvSpPr>
          <p:cNvPr id="36" name="TextBox 35"/>
          <p:cNvSpPr txBox="1"/>
          <p:nvPr/>
        </p:nvSpPr>
        <p:spPr>
          <a:xfrm>
            <a:off x="4298794" y="1860050"/>
            <a:ext cx="1013110" cy="135687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342900" indent="-342900">
              <a:buAutoNum type="arabicPeriod"/>
            </a:pPr>
            <a:r>
              <a:rPr lang="en-US" altLang="ko-KR" sz="1400" dirty="0">
                <a:solidFill>
                  <a:schemeClr val="tx1"/>
                </a:solidFill>
                <a:latin typeface="+mn-ea"/>
              </a:rPr>
              <a:t>A2</a:t>
            </a:r>
          </a:p>
          <a:p>
            <a:pPr marL="342900" indent="-342900">
              <a:buAutoNum type="arabicPeriod"/>
            </a:pPr>
            <a:r>
              <a:rPr lang="en-US" altLang="ko-KR" sz="1400" dirty="0">
                <a:solidFill>
                  <a:schemeClr val="tx1"/>
                </a:solidFill>
                <a:latin typeface="+mn-ea"/>
              </a:rPr>
              <a:t>B2</a:t>
            </a:r>
          </a:p>
          <a:p>
            <a:pPr marL="342900" indent="-342900">
              <a:buAutoNum type="arabicPeriod"/>
            </a:pPr>
            <a:r>
              <a:rPr lang="en-US" altLang="ko-KR" sz="1400" dirty="0">
                <a:solidFill>
                  <a:schemeClr val="tx1"/>
                </a:solidFill>
                <a:latin typeface="+mn-ea"/>
              </a:rPr>
              <a:t>C1</a:t>
            </a:r>
          </a:p>
          <a:p>
            <a:pPr marL="342900" indent="-342900">
              <a:buAutoNum type="arabicPeriod"/>
            </a:pPr>
            <a:r>
              <a:rPr lang="en-US" altLang="ko-KR" sz="1400" dirty="0">
                <a:solidFill>
                  <a:schemeClr val="tx1"/>
                </a:solidFill>
                <a:latin typeface="+mn-ea"/>
              </a:rPr>
              <a:t>D</a:t>
            </a:r>
          </a:p>
        </p:txBody>
      </p:sp>
      <p:sp>
        <p:nvSpPr>
          <p:cNvPr id="40" name="TextBox 39"/>
          <p:cNvSpPr txBox="1"/>
          <p:nvPr/>
        </p:nvSpPr>
        <p:spPr>
          <a:xfrm>
            <a:off x="5636873" y="137021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설정등록</a:t>
            </a:r>
            <a:endParaRPr lang="en-US" altLang="ko-KR" sz="1400" dirty="0">
              <a:solidFill>
                <a:schemeClr val="tx1"/>
              </a:solidFill>
              <a:latin typeface="+mn-ea"/>
            </a:endParaRPr>
          </a:p>
        </p:txBody>
      </p:sp>
      <p:sp>
        <p:nvSpPr>
          <p:cNvPr id="41" name="TextBox 40"/>
          <p:cNvSpPr txBox="1"/>
          <p:nvPr/>
        </p:nvSpPr>
        <p:spPr>
          <a:xfrm>
            <a:off x="7030035" y="137021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정정청구</a:t>
            </a:r>
            <a:r>
              <a:rPr lang="en-US" altLang="ko-KR" sz="1400" dirty="0">
                <a:solidFill>
                  <a:schemeClr val="tx1"/>
                </a:solidFill>
                <a:latin typeface="+mn-ea"/>
              </a:rPr>
              <a:t>1</a:t>
            </a:r>
          </a:p>
        </p:txBody>
      </p:sp>
      <p:sp>
        <p:nvSpPr>
          <p:cNvPr id="42" name="TextBox 41"/>
          <p:cNvSpPr txBox="1"/>
          <p:nvPr/>
        </p:nvSpPr>
        <p:spPr>
          <a:xfrm>
            <a:off x="8417336" y="137021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정정청구</a:t>
            </a:r>
            <a:r>
              <a:rPr lang="en-US" altLang="ko-KR" sz="1400" dirty="0">
                <a:solidFill>
                  <a:schemeClr val="tx1"/>
                </a:solidFill>
                <a:latin typeface="+mn-ea"/>
              </a:rPr>
              <a:t>2</a:t>
            </a:r>
          </a:p>
        </p:txBody>
      </p:sp>
      <p:sp>
        <p:nvSpPr>
          <p:cNvPr id="43" name="TextBox 42"/>
          <p:cNvSpPr txBox="1"/>
          <p:nvPr/>
        </p:nvSpPr>
        <p:spPr>
          <a:xfrm>
            <a:off x="9771588" y="1370213"/>
            <a:ext cx="101311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심리</a:t>
            </a:r>
            <a:endParaRPr lang="en-US" altLang="ko-KR" sz="1400" dirty="0">
              <a:solidFill>
                <a:schemeClr val="tx1"/>
              </a:solidFill>
              <a:latin typeface="+mn-ea"/>
            </a:endParaRPr>
          </a:p>
        </p:txBody>
      </p:sp>
      <p:sp>
        <p:nvSpPr>
          <p:cNvPr id="44" name="TextBox 43"/>
          <p:cNvSpPr txBox="1"/>
          <p:nvPr/>
        </p:nvSpPr>
        <p:spPr>
          <a:xfrm>
            <a:off x="7030035" y="1860050"/>
            <a:ext cx="1013110" cy="135687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342900" indent="-342900">
              <a:buAutoNum type="arabicPeriod"/>
            </a:pPr>
            <a:r>
              <a:rPr lang="en-US" altLang="ko-KR" sz="1400" dirty="0">
                <a:solidFill>
                  <a:schemeClr val="tx1"/>
                </a:solidFill>
                <a:latin typeface="+mn-ea"/>
              </a:rPr>
              <a:t>A3</a:t>
            </a:r>
          </a:p>
          <a:p>
            <a:pPr marL="342900" indent="-342900">
              <a:buAutoNum type="arabicPeriod"/>
            </a:pPr>
            <a:r>
              <a:rPr lang="en-US" altLang="ko-KR" sz="1400" dirty="0">
                <a:solidFill>
                  <a:schemeClr val="tx1"/>
                </a:solidFill>
                <a:latin typeface="+mn-ea"/>
              </a:rPr>
              <a:t>B2</a:t>
            </a:r>
          </a:p>
          <a:p>
            <a:pPr marL="342900" indent="-342900">
              <a:buAutoNum type="arabicPeriod"/>
            </a:pPr>
            <a:r>
              <a:rPr lang="en-US" altLang="ko-KR" sz="1400" dirty="0">
                <a:solidFill>
                  <a:schemeClr val="tx1"/>
                </a:solidFill>
                <a:latin typeface="+mn-ea"/>
              </a:rPr>
              <a:t>C2</a:t>
            </a:r>
          </a:p>
          <a:p>
            <a:pPr marL="342900" indent="-342900">
              <a:buAutoNum type="arabicPeriod"/>
            </a:pPr>
            <a:r>
              <a:rPr lang="en-US" altLang="ko-KR" sz="1400" dirty="0">
                <a:solidFill>
                  <a:schemeClr val="tx1"/>
                </a:solidFill>
                <a:latin typeface="+mn-ea"/>
              </a:rPr>
              <a:t>D1</a:t>
            </a:r>
          </a:p>
        </p:txBody>
      </p:sp>
      <p:sp>
        <p:nvSpPr>
          <p:cNvPr id="45" name="TextBox 44"/>
          <p:cNvSpPr txBox="1"/>
          <p:nvPr/>
        </p:nvSpPr>
        <p:spPr>
          <a:xfrm>
            <a:off x="8417335" y="1860050"/>
            <a:ext cx="1013110" cy="135687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342900" indent="-342900">
              <a:buAutoNum type="arabicPeriod"/>
            </a:pPr>
            <a:r>
              <a:rPr lang="en-US" altLang="ko-KR" sz="1400" dirty="0">
                <a:solidFill>
                  <a:schemeClr val="tx1"/>
                </a:solidFill>
                <a:latin typeface="+mn-ea"/>
              </a:rPr>
              <a:t>A4</a:t>
            </a:r>
          </a:p>
          <a:p>
            <a:pPr marL="342900" indent="-342900">
              <a:buAutoNum type="arabicPeriod"/>
            </a:pPr>
            <a:r>
              <a:rPr lang="en-US" altLang="ko-KR" sz="1400" dirty="0">
                <a:solidFill>
                  <a:schemeClr val="tx1"/>
                </a:solidFill>
                <a:latin typeface="+mn-ea"/>
              </a:rPr>
              <a:t>B2</a:t>
            </a:r>
          </a:p>
          <a:p>
            <a:pPr marL="342900" indent="-342900">
              <a:buAutoNum type="arabicPeriod"/>
            </a:pPr>
            <a:r>
              <a:rPr lang="en-US" altLang="ko-KR" sz="1400" dirty="0">
                <a:solidFill>
                  <a:schemeClr val="tx1"/>
                </a:solidFill>
                <a:latin typeface="+mn-ea"/>
              </a:rPr>
              <a:t>C2</a:t>
            </a:r>
          </a:p>
          <a:p>
            <a:pPr marL="342900" indent="-342900">
              <a:buAutoNum type="arabicPeriod"/>
            </a:pPr>
            <a:r>
              <a:rPr lang="en-US" altLang="ko-KR" sz="1400" dirty="0">
                <a:solidFill>
                  <a:schemeClr val="tx1"/>
                </a:solidFill>
                <a:latin typeface="+mn-ea"/>
              </a:rPr>
              <a:t>D2</a:t>
            </a:r>
          </a:p>
        </p:txBody>
      </p:sp>
      <p:sp>
        <p:nvSpPr>
          <p:cNvPr id="46" name="TextBox 45"/>
          <p:cNvSpPr txBox="1"/>
          <p:nvPr/>
        </p:nvSpPr>
        <p:spPr>
          <a:xfrm>
            <a:off x="1562396" y="2577180"/>
            <a:ext cx="1013110" cy="248120"/>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r>
              <a:rPr lang="en-US" altLang="ko-KR" sz="1400" dirty="0">
                <a:solidFill>
                  <a:schemeClr val="tx1"/>
                </a:solidFill>
                <a:latin typeface="+mn-ea"/>
              </a:rPr>
              <a:t>3.    C1</a:t>
            </a:r>
          </a:p>
        </p:txBody>
      </p:sp>
      <p:sp>
        <p:nvSpPr>
          <p:cNvPr id="47" name="TextBox 46"/>
          <p:cNvSpPr txBox="1"/>
          <p:nvPr/>
        </p:nvSpPr>
        <p:spPr>
          <a:xfrm>
            <a:off x="2925087" y="2357610"/>
            <a:ext cx="1018618" cy="21956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marL="342900" indent="-342900">
              <a:buAutoNum type="arabicPeriod" startAt="2"/>
            </a:pPr>
            <a:r>
              <a:rPr lang="en-US" altLang="ko-KR" sz="1400" dirty="0">
                <a:solidFill>
                  <a:schemeClr val="tx1"/>
                </a:solidFill>
                <a:latin typeface="+mn-ea"/>
              </a:rPr>
              <a:t>B2</a:t>
            </a:r>
          </a:p>
        </p:txBody>
      </p:sp>
      <p:sp>
        <p:nvSpPr>
          <p:cNvPr id="5" name="모서리가 둥근 직사각형 4"/>
          <p:cNvSpPr/>
          <p:nvPr/>
        </p:nvSpPr>
        <p:spPr>
          <a:xfrm>
            <a:off x="1388126" y="1860050"/>
            <a:ext cx="2644047" cy="1356875"/>
          </a:xfrm>
          <a:prstGeom prst="roundRect">
            <a:avLst>
              <a:gd name="adj" fmla="val 32168"/>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TextBox 49"/>
          <p:cNvSpPr txBox="1"/>
          <p:nvPr/>
        </p:nvSpPr>
        <p:spPr>
          <a:xfrm>
            <a:off x="1773127" y="3982120"/>
            <a:ext cx="1871026" cy="400110"/>
          </a:xfrm>
          <a:prstGeom prst="rect">
            <a:avLst/>
          </a:prstGeom>
          <a:solidFill>
            <a:schemeClr val="accent2">
              <a:lumMod val="20000"/>
              <a:lumOff val="80000"/>
            </a:schemeClr>
          </a:solidFill>
          <a:ln>
            <a:solidFill>
              <a:schemeClr val="bg1">
                <a:lumMod val="50000"/>
              </a:schemeClr>
            </a:solidFill>
          </a:ln>
        </p:spPr>
        <p:txBody>
          <a:bodyPr wrap="none" rtlCol="0">
            <a:spAutoFit/>
          </a:bodyPr>
          <a:lstStyle/>
          <a:p>
            <a:pPr algn="ctr"/>
            <a:r>
              <a:rPr lang="ko-KR" altLang="en-US" sz="2000" dirty="0"/>
              <a:t>보정은 </a:t>
            </a:r>
            <a:r>
              <a:rPr lang="ko-KR" altLang="en-US" sz="2000" dirty="0" err="1"/>
              <a:t>개소단위</a:t>
            </a:r>
            <a:endParaRPr lang="en-US" altLang="ko-KR" sz="2000" dirty="0"/>
          </a:p>
        </p:txBody>
      </p:sp>
      <p:cxnSp>
        <p:nvCxnSpPr>
          <p:cNvPr id="51" name="직선 화살표 연결선 50"/>
          <p:cNvCxnSpPr/>
          <p:nvPr/>
        </p:nvCxnSpPr>
        <p:spPr>
          <a:xfrm>
            <a:off x="4805349" y="3448279"/>
            <a:ext cx="0" cy="1216887"/>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2" name="모서리가 둥근 직사각형 51"/>
          <p:cNvSpPr/>
          <p:nvPr/>
        </p:nvSpPr>
        <p:spPr>
          <a:xfrm>
            <a:off x="4173189" y="1729822"/>
            <a:ext cx="1307478" cy="1718457"/>
          </a:xfrm>
          <a:prstGeom prst="roundRect">
            <a:avLst>
              <a:gd name="adj" fmla="val 32168"/>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TextBox 52"/>
          <p:cNvSpPr txBox="1"/>
          <p:nvPr/>
        </p:nvSpPr>
        <p:spPr>
          <a:xfrm>
            <a:off x="3710230" y="4665166"/>
            <a:ext cx="2190238" cy="1323439"/>
          </a:xfrm>
          <a:prstGeom prst="rect">
            <a:avLst/>
          </a:prstGeom>
          <a:solidFill>
            <a:schemeClr val="accent2">
              <a:lumMod val="20000"/>
              <a:lumOff val="80000"/>
            </a:schemeClr>
          </a:solidFill>
          <a:ln>
            <a:solidFill>
              <a:schemeClr val="bg1">
                <a:lumMod val="50000"/>
              </a:schemeClr>
            </a:solidFill>
          </a:ln>
        </p:spPr>
        <p:txBody>
          <a:bodyPr wrap="square" rtlCol="0">
            <a:spAutoFit/>
          </a:bodyPr>
          <a:lstStyle/>
          <a:p>
            <a:pPr algn="ctr"/>
            <a:r>
              <a:rPr lang="ko-KR" altLang="en-US" sz="2000" dirty="0"/>
              <a:t>보정된 부분과 보정되지 않은 부분을 합한 청구범위에 대하여 심사진행</a:t>
            </a:r>
            <a:endParaRPr lang="en-US" altLang="ko-KR" sz="2000" dirty="0"/>
          </a:p>
        </p:txBody>
      </p:sp>
      <p:cxnSp>
        <p:nvCxnSpPr>
          <p:cNvPr id="54" name="직선 화살표 연결선 53"/>
          <p:cNvCxnSpPr>
            <a:endCxn id="50" idx="0"/>
          </p:cNvCxnSpPr>
          <p:nvPr/>
        </p:nvCxnSpPr>
        <p:spPr>
          <a:xfrm>
            <a:off x="2688597" y="3216925"/>
            <a:ext cx="20043" cy="765195"/>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5" name="모서리가 둥근 직사각형 54"/>
          <p:cNvSpPr/>
          <p:nvPr/>
        </p:nvSpPr>
        <p:spPr>
          <a:xfrm>
            <a:off x="6882851" y="1729822"/>
            <a:ext cx="1307478" cy="1718457"/>
          </a:xfrm>
          <a:prstGeom prst="roundRect">
            <a:avLst>
              <a:gd name="adj" fmla="val 32168"/>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6" name="직선 화살표 연결선 55"/>
          <p:cNvCxnSpPr/>
          <p:nvPr/>
        </p:nvCxnSpPr>
        <p:spPr>
          <a:xfrm>
            <a:off x="7536590" y="3448279"/>
            <a:ext cx="0" cy="733896"/>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6996539" y="4246524"/>
            <a:ext cx="1107997" cy="400110"/>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pPr algn="ctr"/>
            <a:r>
              <a:rPr lang="ko-KR" altLang="en-US" sz="2000" dirty="0" err="1"/>
              <a:t>취하간주</a:t>
            </a:r>
            <a:endParaRPr lang="en-US" altLang="ko-KR" sz="2000" dirty="0"/>
          </a:p>
        </p:txBody>
      </p:sp>
      <p:sp>
        <p:nvSpPr>
          <p:cNvPr id="58" name="모서리가 둥근 직사각형 57"/>
          <p:cNvSpPr/>
          <p:nvPr/>
        </p:nvSpPr>
        <p:spPr>
          <a:xfrm>
            <a:off x="8285035" y="1729822"/>
            <a:ext cx="1307478" cy="1718457"/>
          </a:xfrm>
          <a:prstGeom prst="roundRect">
            <a:avLst>
              <a:gd name="adj" fmla="val 32168"/>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59" name="직선 화살표 연결선 58"/>
          <p:cNvCxnSpPr/>
          <p:nvPr/>
        </p:nvCxnSpPr>
        <p:spPr>
          <a:xfrm>
            <a:off x="8938774" y="3448279"/>
            <a:ext cx="0" cy="733896"/>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0" name="TextBox 59"/>
          <p:cNvSpPr txBox="1"/>
          <p:nvPr/>
        </p:nvSpPr>
        <p:spPr>
          <a:xfrm>
            <a:off x="8446126" y="4213474"/>
            <a:ext cx="3346806" cy="1323439"/>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algn="ctr"/>
            <a:r>
              <a:rPr lang="ko-KR" altLang="en-US" sz="2000" dirty="0"/>
              <a:t>정정은 </a:t>
            </a:r>
            <a:r>
              <a:rPr lang="ko-KR" altLang="en-US" sz="2000" dirty="0" err="1"/>
              <a:t>개소단위가</a:t>
            </a:r>
            <a:r>
              <a:rPr lang="ko-KR" altLang="en-US" sz="2000" dirty="0"/>
              <a:t> 아니며</a:t>
            </a:r>
            <a:r>
              <a:rPr lang="en-US" altLang="ko-KR" sz="2000" dirty="0"/>
              <a:t>, </a:t>
            </a:r>
          </a:p>
          <a:p>
            <a:pPr algn="ctr"/>
            <a:r>
              <a:rPr lang="ko-KR" altLang="en-US" sz="2000" dirty="0"/>
              <a:t>정정을 청구한 전체에 대하여 </a:t>
            </a:r>
            <a:endParaRPr lang="en-US" altLang="ko-KR" sz="2000" dirty="0"/>
          </a:p>
          <a:p>
            <a:pPr algn="ctr"/>
            <a:r>
              <a:rPr lang="ko-KR" altLang="en-US" sz="2000" dirty="0"/>
              <a:t>인용을 구하는 것이기 때문에 </a:t>
            </a:r>
            <a:r>
              <a:rPr lang="ko-KR" altLang="en-US" sz="2000" dirty="0" err="1"/>
              <a:t>일부인용</a:t>
            </a:r>
            <a:r>
              <a:rPr lang="en-US" altLang="ko-KR" sz="2000" dirty="0"/>
              <a:t>, </a:t>
            </a:r>
            <a:r>
              <a:rPr lang="ko-KR" altLang="en-US" sz="2000" dirty="0" err="1"/>
              <a:t>일부기각은</a:t>
            </a:r>
            <a:r>
              <a:rPr lang="ko-KR" altLang="en-US" sz="2000" dirty="0"/>
              <a:t> 不許</a:t>
            </a:r>
            <a:endParaRPr lang="en-US" altLang="ko-KR" sz="2000" dirty="0"/>
          </a:p>
        </p:txBody>
      </p:sp>
      <p:sp>
        <p:nvSpPr>
          <p:cNvPr id="19" name="모서리가 둥근 사각형 설명선 18"/>
          <p:cNvSpPr/>
          <p:nvPr/>
        </p:nvSpPr>
        <p:spPr>
          <a:xfrm>
            <a:off x="1164572" y="4946573"/>
            <a:ext cx="2162522" cy="793215"/>
          </a:xfrm>
          <a:prstGeom prst="wedgeRoundRectCallout">
            <a:avLst>
              <a:gd name="adj1" fmla="val 65329"/>
              <a:gd name="adj2" fmla="val -41535"/>
              <a:gd name="adj3" fmla="val 16667"/>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보정된 부분을 어디까지 인정할 것인지는 </a:t>
            </a:r>
            <a:r>
              <a:rPr lang="ko-KR" altLang="en-US" sz="1400" dirty="0" err="1">
                <a:solidFill>
                  <a:schemeClr val="tx1"/>
                </a:solidFill>
              </a:rPr>
              <a:t>보정시기에</a:t>
            </a:r>
            <a:r>
              <a:rPr lang="ko-KR" altLang="en-US" sz="1400" dirty="0">
                <a:solidFill>
                  <a:schemeClr val="tx1"/>
                </a:solidFill>
              </a:rPr>
              <a:t> 따라 차이가 있음</a:t>
            </a:r>
          </a:p>
        </p:txBody>
      </p:sp>
      <p:sp>
        <p:nvSpPr>
          <p:cNvPr id="6" name="슬라이드 번호 개체 틀 5"/>
          <p:cNvSpPr>
            <a:spLocks noGrp="1"/>
          </p:cNvSpPr>
          <p:nvPr>
            <p:ph type="sldNum" sz="quarter" idx="4294967295"/>
          </p:nvPr>
        </p:nvSpPr>
        <p:spPr>
          <a:xfrm>
            <a:off x="11125200" y="0"/>
            <a:ext cx="1066800" cy="711200"/>
          </a:xfrm>
        </p:spPr>
        <p:txBody>
          <a:bodyPr/>
          <a:lstStyle/>
          <a:p>
            <a:r>
              <a:rPr lang="en-US" altLang="ko-KR"/>
              <a:t>508</a:t>
            </a:r>
            <a:endParaRPr lang="ko-KR" altLang="en-US" dirty="0"/>
          </a:p>
        </p:txBody>
      </p:sp>
      <p:sp>
        <p:nvSpPr>
          <p:cNvPr id="10" name="TextBox 9">
            <a:extLst>
              <a:ext uri="{FF2B5EF4-FFF2-40B4-BE49-F238E27FC236}">
                <a16:creationId xmlns:a16="http://schemas.microsoft.com/office/drawing/2014/main" id="{6D9E019C-CB2E-B59E-3A9A-5FCE33FAE72E}"/>
              </a:ext>
            </a:extLst>
          </p:cNvPr>
          <p:cNvSpPr txBox="1"/>
          <p:nvPr/>
        </p:nvSpPr>
        <p:spPr>
          <a:xfrm>
            <a:off x="6367702" y="5733628"/>
            <a:ext cx="4757497" cy="919401"/>
          </a:xfrm>
          <a:prstGeom prst="wedgeRoundRectCallout">
            <a:avLst>
              <a:gd name="adj1" fmla="val -3846"/>
              <a:gd name="adj2" fmla="val -113986"/>
              <a:gd name="adj3" fmla="val 16667"/>
            </a:avLst>
          </a:prstGeom>
          <a:noFill/>
          <a:ln>
            <a:solidFill>
              <a:schemeClr val="bg1">
                <a:lumMod val="50000"/>
              </a:schemeClr>
            </a:solidFill>
          </a:ln>
        </p:spPr>
        <p:txBody>
          <a:bodyPr wrap="square">
            <a:spAutoFit/>
          </a:bodyPr>
          <a:lstStyle/>
          <a:p>
            <a:r>
              <a:rPr lang="en-US" altLang="ko-KR" sz="1200" dirty="0"/>
              <a:t>[</a:t>
            </a:r>
            <a:r>
              <a:rPr lang="ko-KR" altLang="en-US" sz="1200" dirty="0"/>
              <a:t>정정청구의 취지</a:t>
            </a:r>
            <a:r>
              <a:rPr lang="en-US" altLang="ko-KR" sz="1200" dirty="0"/>
              <a:t>]</a:t>
            </a:r>
          </a:p>
          <a:p>
            <a:r>
              <a:rPr lang="en-US" altLang="ko-KR" sz="1200" dirty="0"/>
              <a:t>"</a:t>
            </a:r>
            <a:r>
              <a:rPr lang="ko-KR" altLang="en-US" sz="1200" dirty="0"/>
              <a:t>특허 제</a:t>
            </a:r>
            <a:r>
              <a:rPr lang="en-US" altLang="ko-KR" sz="1200" dirty="0"/>
              <a:t>0749481</a:t>
            </a:r>
            <a:r>
              <a:rPr lang="ko-KR" altLang="en-US" sz="1200" dirty="0"/>
              <a:t>호의 특허발명의 명세서를 정정명세서의 기재내용으로 정정하는 청구를 인정한다</a:t>
            </a:r>
            <a:r>
              <a:rPr lang="en-US" altLang="ko-KR" sz="1200" dirty="0"/>
              <a:t>."</a:t>
            </a:r>
          </a:p>
          <a:p>
            <a:r>
              <a:rPr lang="ko-KR" altLang="en-US" sz="1200" dirty="0"/>
              <a:t>라는 결정을 구합니다</a:t>
            </a:r>
            <a:r>
              <a:rPr lang="en-US" altLang="ko-KR" sz="1200" dirty="0"/>
              <a:t>.</a:t>
            </a:r>
          </a:p>
        </p:txBody>
      </p:sp>
    </p:spTree>
    <p:extLst>
      <p:ext uri="{BB962C8B-B14F-4D97-AF65-F5344CB8AC3E}">
        <p14:creationId xmlns:p14="http://schemas.microsoft.com/office/powerpoint/2010/main" val="1453883036"/>
      </p:ext>
    </p:extLst>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sz="2000" dirty="0"/>
              <a:t>제</a:t>
            </a:r>
            <a:r>
              <a:rPr lang="en-US" altLang="ko-KR" sz="2000" dirty="0"/>
              <a:t>132</a:t>
            </a:r>
            <a:r>
              <a:rPr lang="ko-KR" altLang="en-US" sz="2000" dirty="0"/>
              <a:t>조의</a:t>
            </a:r>
            <a:r>
              <a:rPr lang="en-US" altLang="ko-KR" sz="2000" dirty="0"/>
              <a:t>3, </a:t>
            </a:r>
            <a:br>
              <a:rPr lang="en-US" altLang="ko-KR" sz="2000" dirty="0"/>
            </a:br>
            <a:r>
              <a:rPr lang="ko-KR" altLang="en-US" sz="2000" dirty="0"/>
              <a:t>제</a:t>
            </a:r>
            <a:r>
              <a:rPr lang="en-US" altLang="ko-KR" sz="2000" dirty="0"/>
              <a:t>133</a:t>
            </a:r>
            <a:r>
              <a:rPr lang="ko-KR" altLang="en-US" sz="2000" dirty="0"/>
              <a:t>조의</a:t>
            </a:r>
            <a:r>
              <a:rPr lang="en-US" altLang="ko-KR" sz="2000" dirty="0"/>
              <a:t>2, </a:t>
            </a:r>
            <a:r>
              <a:rPr lang="ko-KR" altLang="en-US" sz="2000" dirty="0"/>
              <a:t>제</a:t>
            </a:r>
            <a:r>
              <a:rPr lang="en-US" altLang="ko-KR" sz="2000" dirty="0"/>
              <a:t>137</a:t>
            </a:r>
            <a:r>
              <a:rPr lang="ko-KR" altLang="en-US" sz="2000"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t>정정청구의 취하</a:t>
            </a:r>
            <a:r>
              <a:rPr lang="en-US" altLang="ko-KR" dirty="0"/>
              <a:t>: </a:t>
            </a:r>
            <a:r>
              <a:rPr lang="ko-KR" altLang="en-US" dirty="0"/>
              <a:t>제</a:t>
            </a:r>
            <a:r>
              <a:rPr lang="en-US" altLang="ko-KR" dirty="0"/>
              <a:t>133</a:t>
            </a:r>
            <a:r>
              <a:rPr lang="ko-KR" altLang="en-US" dirty="0"/>
              <a:t>조의</a:t>
            </a:r>
            <a:r>
              <a:rPr lang="en-US" altLang="ko-KR" dirty="0"/>
              <a:t>2</a:t>
            </a:r>
            <a:r>
              <a:rPr lang="ko-KR" altLang="en-US" dirty="0"/>
              <a:t>제</a:t>
            </a:r>
            <a:r>
              <a:rPr lang="en-US" altLang="ko-KR" dirty="0"/>
              <a:t>5</a:t>
            </a:r>
            <a:r>
              <a:rPr lang="ko-KR" altLang="en-US" dirty="0"/>
              <a:t>항</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48" name="직선 연결선 47"/>
          <p:cNvCxnSpPr/>
          <p:nvPr/>
        </p:nvCxnSpPr>
        <p:spPr>
          <a:xfrm>
            <a:off x="77875" y="171556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77875" y="976902"/>
            <a:ext cx="11936323" cy="738664"/>
          </a:xfrm>
          <a:prstGeom prst="rect">
            <a:avLst/>
          </a:prstGeom>
          <a:noFill/>
        </p:spPr>
        <p:txBody>
          <a:bodyPr wrap="square" rtlCol="0">
            <a:spAutoFit/>
          </a:bodyPr>
          <a:lstStyle/>
          <a:p>
            <a:pPr fontAlgn="base"/>
            <a:r>
              <a:rPr lang="ko-KR" altLang="en-US" sz="1400" dirty="0" err="1">
                <a:solidFill>
                  <a:schemeClr val="tx2"/>
                </a:solidFill>
              </a:rPr>
              <a:t>정정청구는</a:t>
            </a:r>
            <a:r>
              <a:rPr lang="ko-KR" altLang="en-US" sz="1400" dirty="0">
                <a:solidFill>
                  <a:schemeClr val="tx2"/>
                </a:solidFill>
              </a:rPr>
              <a:t> </a:t>
            </a:r>
            <a:r>
              <a:rPr lang="en-US" altLang="ko-KR" sz="1400" dirty="0">
                <a:solidFill>
                  <a:schemeClr val="tx2"/>
                </a:solidFill>
              </a:rPr>
              <a:t>ⅰ) </a:t>
            </a:r>
            <a:r>
              <a:rPr lang="ko-KR" altLang="en-US" sz="1400" dirty="0">
                <a:solidFill>
                  <a:schemeClr val="tx2"/>
                </a:solidFill>
              </a:rPr>
              <a:t>정정청구를 할 수 있는 기간</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132</a:t>
            </a:r>
            <a:r>
              <a:rPr lang="ko-KR" altLang="en-US" sz="1400" dirty="0">
                <a:solidFill>
                  <a:schemeClr val="tx2"/>
                </a:solidFill>
              </a:rPr>
              <a:t>의</a:t>
            </a:r>
            <a:r>
              <a:rPr lang="en-US" altLang="ko-KR" sz="1400" dirty="0">
                <a:solidFill>
                  <a:schemeClr val="tx2"/>
                </a:solidFill>
              </a:rPr>
              <a:t>3①, 133</a:t>
            </a:r>
            <a:r>
              <a:rPr lang="ko-KR" altLang="en-US" sz="1400" dirty="0">
                <a:solidFill>
                  <a:schemeClr val="tx2"/>
                </a:solidFill>
              </a:rPr>
              <a:t>의</a:t>
            </a:r>
            <a:r>
              <a:rPr lang="en-US" altLang="ko-KR" sz="1400" dirty="0">
                <a:solidFill>
                  <a:schemeClr val="tx2"/>
                </a:solidFill>
              </a:rPr>
              <a:t>2①, 137③)</a:t>
            </a:r>
            <a:r>
              <a:rPr lang="ko-KR" altLang="en-US" sz="1400" dirty="0">
                <a:solidFill>
                  <a:schemeClr val="tx2"/>
                </a:solidFill>
              </a:rPr>
              <a:t>과 그 기간의 만료일로부터 </a:t>
            </a:r>
            <a:r>
              <a:rPr lang="en-US" altLang="ko-KR" sz="1400" dirty="0">
                <a:solidFill>
                  <a:schemeClr val="tx2"/>
                </a:solidFill>
              </a:rPr>
              <a:t>1</a:t>
            </a:r>
            <a:r>
              <a:rPr lang="ko-KR" altLang="en-US" sz="1400" dirty="0">
                <a:solidFill>
                  <a:schemeClr val="tx2"/>
                </a:solidFill>
              </a:rPr>
              <a:t>개월 이내의 기간</a:t>
            </a:r>
            <a:r>
              <a:rPr lang="en-US" altLang="ko-KR" sz="1400" dirty="0">
                <a:solidFill>
                  <a:schemeClr val="tx2"/>
                </a:solidFill>
              </a:rPr>
              <a:t>, ⅱ) </a:t>
            </a:r>
            <a:r>
              <a:rPr lang="ko-KR" altLang="en-US" sz="1400" dirty="0" err="1">
                <a:solidFill>
                  <a:schemeClr val="tx2"/>
                </a:solidFill>
              </a:rPr>
              <a:t>정정청구의</a:t>
            </a:r>
            <a:r>
              <a:rPr lang="ko-KR" altLang="en-US" sz="1400" dirty="0">
                <a:solidFill>
                  <a:schemeClr val="tx2"/>
                </a:solidFill>
              </a:rPr>
              <a:t> </a:t>
            </a:r>
            <a:r>
              <a:rPr lang="ko-KR" altLang="en-US" sz="1400" dirty="0" err="1">
                <a:solidFill>
                  <a:schemeClr val="tx2"/>
                </a:solidFill>
              </a:rPr>
              <a:t>직권심리에</a:t>
            </a:r>
            <a:r>
              <a:rPr lang="ko-KR" altLang="en-US" sz="1400" dirty="0">
                <a:solidFill>
                  <a:schemeClr val="tx2"/>
                </a:solidFill>
              </a:rPr>
              <a:t> 의한 의견서 제출기간 중 어느 하나에 해당하는 기간에만 취하할 수 있다</a:t>
            </a:r>
            <a:r>
              <a:rPr lang="en-US" altLang="ko-KR" sz="1400" dirty="0">
                <a:solidFill>
                  <a:schemeClr val="tx2"/>
                </a:solidFill>
              </a:rPr>
              <a:t>(</a:t>
            </a:r>
            <a:r>
              <a:rPr lang="ko-KR" altLang="en-US" sz="1400" dirty="0">
                <a:solidFill>
                  <a:schemeClr val="tx2"/>
                </a:solidFill>
              </a:rPr>
              <a:t>法 </a:t>
            </a:r>
            <a:r>
              <a:rPr lang="en-US" altLang="ko-KR" sz="1400" dirty="0">
                <a:solidFill>
                  <a:schemeClr val="tx2"/>
                </a:solidFill>
              </a:rPr>
              <a:t>132</a:t>
            </a:r>
            <a:r>
              <a:rPr lang="ko-KR" altLang="en-US" sz="1400" dirty="0">
                <a:solidFill>
                  <a:schemeClr val="tx2"/>
                </a:solidFill>
              </a:rPr>
              <a:t>의</a:t>
            </a:r>
            <a:r>
              <a:rPr lang="en-US" altLang="ko-KR" sz="1400" dirty="0">
                <a:solidFill>
                  <a:schemeClr val="tx2"/>
                </a:solidFill>
              </a:rPr>
              <a:t>3④, 133</a:t>
            </a:r>
            <a:r>
              <a:rPr lang="ko-KR" altLang="en-US" sz="1400" dirty="0">
                <a:solidFill>
                  <a:schemeClr val="tx2"/>
                </a:solidFill>
              </a:rPr>
              <a:t>의</a:t>
            </a:r>
            <a:r>
              <a:rPr lang="en-US" altLang="ko-KR" sz="1400" dirty="0">
                <a:solidFill>
                  <a:schemeClr val="tx2"/>
                </a:solidFill>
              </a:rPr>
              <a:t>2⑤, 137④ </a:t>
            </a:r>
            <a:r>
              <a:rPr lang="ko-KR" altLang="en-US" sz="1400" dirty="0">
                <a:solidFill>
                  <a:schemeClr val="tx2"/>
                </a:solidFill>
              </a:rPr>
              <a:t>준용 </a:t>
            </a:r>
            <a:r>
              <a:rPr lang="en-US" altLang="ko-KR" sz="1400" dirty="0">
                <a:solidFill>
                  <a:schemeClr val="tx2"/>
                </a:solidFill>
              </a:rPr>
              <a:t>133</a:t>
            </a:r>
            <a:r>
              <a:rPr lang="ko-KR" altLang="en-US" sz="1400" dirty="0">
                <a:solidFill>
                  <a:schemeClr val="tx2"/>
                </a:solidFill>
              </a:rPr>
              <a:t>의</a:t>
            </a:r>
            <a:r>
              <a:rPr lang="en-US" altLang="ko-KR" sz="1400" dirty="0">
                <a:solidFill>
                  <a:schemeClr val="tx2"/>
                </a:solidFill>
              </a:rPr>
              <a:t>2⑤). </a:t>
            </a:r>
            <a:r>
              <a:rPr lang="ko-KR" altLang="en-US" sz="1400" dirty="0">
                <a:solidFill>
                  <a:schemeClr val="tx2"/>
                </a:solidFill>
              </a:rPr>
              <a:t>이는 인정된 정정청구를 취하하면 특허취소신청</a:t>
            </a:r>
            <a:r>
              <a:rPr lang="en-US" altLang="ko-KR" sz="1400" dirty="0">
                <a:solidFill>
                  <a:schemeClr val="tx2"/>
                </a:solidFill>
              </a:rPr>
              <a:t>, </a:t>
            </a:r>
            <a:r>
              <a:rPr lang="ko-KR" altLang="en-US" sz="1400" dirty="0">
                <a:solidFill>
                  <a:schemeClr val="tx2"/>
                </a:solidFill>
              </a:rPr>
              <a:t>특허무효심판</a:t>
            </a:r>
            <a:r>
              <a:rPr lang="en-US" altLang="ko-KR" sz="1400" dirty="0">
                <a:solidFill>
                  <a:schemeClr val="tx2"/>
                </a:solidFill>
              </a:rPr>
              <a:t>, </a:t>
            </a:r>
            <a:r>
              <a:rPr lang="ko-KR" altLang="en-US" sz="1400" dirty="0">
                <a:solidFill>
                  <a:schemeClr val="tx2"/>
                </a:solidFill>
              </a:rPr>
              <a:t>정정무효심판의 심리 대상이 바뀌어 심리 지연의 문제가 발생하기 때문에 취하의 시기를 제한하는 것이다</a:t>
            </a:r>
            <a:r>
              <a:rPr lang="en-US" altLang="ko-KR" sz="1400" dirty="0">
                <a:solidFill>
                  <a:schemeClr val="tx2"/>
                </a:solidFill>
              </a:rPr>
              <a:t>. </a:t>
            </a:r>
            <a:endParaRPr lang="ko-KR" altLang="en-US" sz="1400" dirty="0">
              <a:solidFill>
                <a:schemeClr val="tx2"/>
              </a:solidFill>
            </a:endParaRPr>
          </a:p>
        </p:txBody>
      </p:sp>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509</a:t>
            </a:r>
            <a:endParaRPr lang="ko-KR" altLang="en-US" dirty="0"/>
          </a:p>
        </p:txBody>
      </p:sp>
      <p:sp>
        <p:nvSpPr>
          <p:cNvPr id="10" name="양쪽 모서리가 둥근 사각형 9"/>
          <p:cNvSpPr/>
          <p:nvPr/>
        </p:nvSpPr>
        <p:spPr>
          <a:xfrm>
            <a:off x="2605763" y="2913218"/>
            <a:ext cx="1601110" cy="369352"/>
          </a:xfrm>
          <a:prstGeom prst="round2SameRect">
            <a:avLst>
              <a:gd name="adj1" fmla="val 0"/>
              <a:gd name="adj2" fmla="val 50000"/>
            </a:avLst>
          </a:prstGeom>
          <a:pattFill prst="ltHorz">
            <a:fgClr>
              <a:schemeClr val="bg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2" name="양쪽 모서리가 둥근 사각형 51"/>
          <p:cNvSpPr/>
          <p:nvPr/>
        </p:nvSpPr>
        <p:spPr>
          <a:xfrm>
            <a:off x="4414376" y="2913218"/>
            <a:ext cx="1601110" cy="369352"/>
          </a:xfrm>
          <a:prstGeom prst="round2SameRect">
            <a:avLst>
              <a:gd name="adj1" fmla="val 0"/>
              <a:gd name="adj2" fmla="val 50000"/>
            </a:avLst>
          </a:prstGeom>
          <a:pattFill prst="ltHorz">
            <a:fgClr>
              <a:schemeClr val="bg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3" name="양쪽 모서리가 둥근 사각형 52"/>
          <p:cNvSpPr/>
          <p:nvPr/>
        </p:nvSpPr>
        <p:spPr>
          <a:xfrm>
            <a:off x="6423687" y="2913218"/>
            <a:ext cx="1601110" cy="369352"/>
          </a:xfrm>
          <a:prstGeom prst="round2SameRect">
            <a:avLst>
              <a:gd name="adj1" fmla="val 0"/>
              <a:gd name="adj2" fmla="val 50000"/>
            </a:avLst>
          </a:prstGeom>
          <a:pattFill prst="ltHorz">
            <a:fgClr>
              <a:schemeClr val="bg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양쪽 모서리가 둥근 사각형 53"/>
          <p:cNvSpPr/>
          <p:nvPr/>
        </p:nvSpPr>
        <p:spPr>
          <a:xfrm>
            <a:off x="9696520" y="2913218"/>
            <a:ext cx="1601110" cy="369352"/>
          </a:xfrm>
          <a:prstGeom prst="round2SameRect">
            <a:avLst>
              <a:gd name="adj1" fmla="val 0"/>
              <a:gd name="adj2" fmla="val 50000"/>
            </a:avLst>
          </a:prstGeom>
          <a:pattFill prst="lgGrid">
            <a:fgClr>
              <a:schemeClr val="accent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Line 5"/>
          <p:cNvSpPr>
            <a:spLocks noChangeShapeType="1"/>
          </p:cNvSpPr>
          <p:nvPr/>
        </p:nvSpPr>
        <p:spPr bwMode="auto">
          <a:xfrm>
            <a:off x="459294" y="2913218"/>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15" name="TextBox 14"/>
          <p:cNvSpPr txBox="1"/>
          <p:nvPr/>
        </p:nvSpPr>
        <p:spPr>
          <a:xfrm>
            <a:off x="404460" y="2163779"/>
            <a:ext cx="1490466" cy="515847"/>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특허</a:t>
            </a:r>
            <a:r>
              <a:rPr lang="en-US" altLang="ko-KR" sz="1400" dirty="0">
                <a:solidFill>
                  <a:schemeClr val="tx1"/>
                </a:solidFill>
                <a:latin typeface="+mn-ea"/>
              </a:rPr>
              <a:t>/</a:t>
            </a:r>
            <a:r>
              <a:rPr lang="ko-KR" altLang="en-US" sz="1400" dirty="0">
                <a:solidFill>
                  <a:schemeClr val="tx1"/>
                </a:solidFill>
                <a:latin typeface="+mn-ea"/>
              </a:rPr>
              <a:t>정정무효</a:t>
            </a:r>
            <a:endParaRPr lang="en-US" altLang="ko-KR" sz="1400" dirty="0">
              <a:solidFill>
                <a:schemeClr val="tx1"/>
              </a:solidFill>
              <a:latin typeface="+mn-ea"/>
            </a:endParaRPr>
          </a:p>
          <a:p>
            <a:pPr algn="ctr"/>
            <a:r>
              <a:rPr lang="ko-KR" altLang="en-US" sz="1400" dirty="0">
                <a:solidFill>
                  <a:schemeClr val="tx1"/>
                </a:solidFill>
                <a:latin typeface="+mn-ea"/>
              </a:rPr>
              <a:t>심판청구</a:t>
            </a:r>
            <a:endParaRPr lang="en-US" altLang="ko-KR" sz="1400" dirty="0">
              <a:solidFill>
                <a:schemeClr val="tx1"/>
              </a:solidFill>
              <a:latin typeface="+mn-ea"/>
            </a:endParaRPr>
          </a:p>
        </p:txBody>
      </p:sp>
      <p:sp>
        <p:nvSpPr>
          <p:cNvPr id="23" name="타원 22"/>
          <p:cNvSpPr/>
          <p:nvPr/>
        </p:nvSpPr>
        <p:spPr>
          <a:xfrm>
            <a:off x="1072323" y="2842192"/>
            <a:ext cx="154738" cy="125791"/>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7" name="직선 화살표 연결선 6"/>
          <p:cNvCxnSpPr>
            <a:cxnSpLocks/>
            <a:stCxn id="15" idx="2"/>
            <a:endCxn id="23" idx="0"/>
          </p:cNvCxnSpPr>
          <p:nvPr/>
        </p:nvCxnSpPr>
        <p:spPr>
          <a:xfrm flipH="1">
            <a:off x="1149692" y="2679626"/>
            <a:ext cx="1" cy="16256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1972294" y="2163779"/>
            <a:ext cx="1266940" cy="515847"/>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부본송달</a:t>
            </a:r>
            <a:endParaRPr lang="en-US" altLang="ko-KR" sz="1400" dirty="0">
              <a:solidFill>
                <a:schemeClr val="tx1"/>
              </a:solidFill>
              <a:latin typeface="+mn-ea"/>
            </a:endParaRPr>
          </a:p>
        </p:txBody>
      </p:sp>
      <p:sp>
        <p:nvSpPr>
          <p:cNvPr id="28" name="타원 27"/>
          <p:cNvSpPr/>
          <p:nvPr/>
        </p:nvSpPr>
        <p:spPr>
          <a:xfrm>
            <a:off x="2528394" y="2842192"/>
            <a:ext cx="154738" cy="125791"/>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29" name="직선 화살표 연결선 28"/>
          <p:cNvCxnSpPr>
            <a:cxnSpLocks/>
            <a:stCxn id="27" idx="2"/>
            <a:endCxn id="28" idx="0"/>
          </p:cNvCxnSpPr>
          <p:nvPr/>
        </p:nvCxnSpPr>
        <p:spPr>
          <a:xfrm flipH="1">
            <a:off x="2605763" y="2679626"/>
            <a:ext cx="1" cy="16256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3439385" y="2163779"/>
            <a:ext cx="1990360" cy="515847"/>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증거서류제출</a:t>
            </a:r>
            <a:r>
              <a:rPr lang="en-US" altLang="ko-KR" sz="1400" dirty="0">
                <a:solidFill>
                  <a:schemeClr val="tx1"/>
                </a:solidFill>
                <a:latin typeface="+mn-ea"/>
              </a:rPr>
              <a:t>/</a:t>
            </a:r>
          </a:p>
          <a:p>
            <a:pPr algn="ctr"/>
            <a:r>
              <a:rPr lang="ko-KR" altLang="en-US" sz="1400" dirty="0">
                <a:solidFill>
                  <a:schemeClr val="tx1"/>
                </a:solidFill>
                <a:latin typeface="+mn-ea"/>
              </a:rPr>
              <a:t>새로운 </a:t>
            </a:r>
            <a:r>
              <a:rPr lang="ko-KR" altLang="en-US" sz="1400" dirty="0" err="1">
                <a:solidFill>
                  <a:schemeClr val="tx1"/>
                </a:solidFill>
                <a:latin typeface="+mn-ea"/>
              </a:rPr>
              <a:t>무효사유</a:t>
            </a:r>
            <a:r>
              <a:rPr lang="ko-KR" altLang="en-US" sz="1400" dirty="0">
                <a:solidFill>
                  <a:schemeClr val="tx1"/>
                </a:solidFill>
                <a:latin typeface="+mn-ea"/>
              </a:rPr>
              <a:t> 주장</a:t>
            </a:r>
            <a:endParaRPr lang="en-US" altLang="ko-KR" sz="1400" dirty="0">
              <a:solidFill>
                <a:schemeClr val="tx1"/>
              </a:solidFill>
              <a:latin typeface="+mn-ea"/>
            </a:endParaRPr>
          </a:p>
        </p:txBody>
      </p:sp>
      <p:sp>
        <p:nvSpPr>
          <p:cNvPr id="36" name="타원 35"/>
          <p:cNvSpPr/>
          <p:nvPr/>
        </p:nvSpPr>
        <p:spPr>
          <a:xfrm>
            <a:off x="4357195" y="2842192"/>
            <a:ext cx="154738" cy="125791"/>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40" name="직선 화살표 연결선 39"/>
          <p:cNvCxnSpPr>
            <a:cxnSpLocks/>
            <a:stCxn id="35" idx="2"/>
            <a:endCxn id="36" idx="0"/>
          </p:cNvCxnSpPr>
          <p:nvPr/>
        </p:nvCxnSpPr>
        <p:spPr>
          <a:xfrm flipH="1">
            <a:off x="4434564" y="2679626"/>
            <a:ext cx="1" cy="16256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5808628" y="2163779"/>
            <a:ext cx="1266940" cy="515847"/>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직권심리</a:t>
            </a:r>
            <a:endParaRPr lang="en-US" altLang="ko-KR" sz="1400" dirty="0">
              <a:solidFill>
                <a:schemeClr val="tx1"/>
              </a:solidFill>
              <a:latin typeface="+mn-ea"/>
            </a:endParaRPr>
          </a:p>
          <a:p>
            <a:pPr algn="ctr"/>
            <a:r>
              <a:rPr lang="en-US" altLang="ko-KR" sz="1200" dirty="0">
                <a:solidFill>
                  <a:srgbClr val="FF0000"/>
                </a:solidFill>
                <a:latin typeface="+mn-ea"/>
              </a:rPr>
              <a:t>(</a:t>
            </a:r>
            <a:r>
              <a:rPr lang="ko-KR" altLang="en-US" sz="1200" dirty="0">
                <a:solidFill>
                  <a:srgbClr val="FF0000"/>
                </a:solidFill>
                <a:latin typeface="+mn-ea"/>
              </a:rPr>
              <a:t>제</a:t>
            </a:r>
            <a:r>
              <a:rPr lang="en-US" altLang="ko-KR" sz="1200" dirty="0">
                <a:solidFill>
                  <a:srgbClr val="FF0000"/>
                </a:solidFill>
                <a:latin typeface="+mn-ea"/>
              </a:rPr>
              <a:t>159</a:t>
            </a:r>
            <a:r>
              <a:rPr lang="ko-KR" altLang="en-US" sz="1200" dirty="0">
                <a:solidFill>
                  <a:srgbClr val="FF0000"/>
                </a:solidFill>
                <a:latin typeface="+mn-ea"/>
              </a:rPr>
              <a:t>조제</a:t>
            </a:r>
            <a:r>
              <a:rPr lang="en-US" altLang="ko-KR" sz="1200" dirty="0">
                <a:solidFill>
                  <a:srgbClr val="FF0000"/>
                </a:solidFill>
                <a:latin typeface="+mn-ea"/>
              </a:rPr>
              <a:t>1</a:t>
            </a:r>
            <a:r>
              <a:rPr lang="ko-KR" altLang="en-US" sz="1200" dirty="0">
                <a:solidFill>
                  <a:srgbClr val="FF0000"/>
                </a:solidFill>
                <a:latin typeface="+mn-ea"/>
              </a:rPr>
              <a:t>항</a:t>
            </a:r>
            <a:r>
              <a:rPr lang="en-US" altLang="ko-KR" sz="1200" dirty="0">
                <a:solidFill>
                  <a:srgbClr val="FF0000"/>
                </a:solidFill>
                <a:latin typeface="+mn-ea"/>
              </a:rPr>
              <a:t>)</a:t>
            </a:r>
            <a:endParaRPr lang="en-US" altLang="ko-KR" sz="1400" dirty="0">
              <a:solidFill>
                <a:srgbClr val="FF0000"/>
              </a:solidFill>
              <a:latin typeface="+mn-ea"/>
            </a:endParaRPr>
          </a:p>
        </p:txBody>
      </p:sp>
      <p:sp>
        <p:nvSpPr>
          <p:cNvPr id="42" name="타원 41"/>
          <p:cNvSpPr/>
          <p:nvPr/>
        </p:nvSpPr>
        <p:spPr>
          <a:xfrm>
            <a:off x="6364728" y="2842192"/>
            <a:ext cx="154738" cy="125791"/>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43" name="직선 화살표 연결선 42"/>
          <p:cNvCxnSpPr>
            <a:cxnSpLocks/>
            <a:stCxn id="41" idx="2"/>
            <a:endCxn id="42" idx="0"/>
          </p:cNvCxnSpPr>
          <p:nvPr/>
        </p:nvCxnSpPr>
        <p:spPr>
          <a:xfrm flipH="1">
            <a:off x="6442097" y="2679626"/>
            <a:ext cx="1" cy="16256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7567021" y="1828782"/>
            <a:ext cx="1266940" cy="515847"/>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정정청구</a:t>
            </a:r>
            <a:endParaRPr lang="en-US" altLang="ko-KR" sz="1400" dirty="0">
              <a:solidFill>
                <a:schemeClr val="tx1"/>
              </a:solidFill>
              <a:latin typeface="+mn-ea"/>
            </a:endParaRPr>
          </a:p>
        </p:txBody>
      </p:sp>
      <p:sp>
        <p:nvSpPr>
          <p:cNvPr id="45" name="타원 44"/>
          <p:cNvSpPr/>
          <p:nvPr/>
        </p:nvSpPr>
        <p:spPr>
          <a:xfrm>
            <a:off x="7435330" y="2842192"/>
            <a:ext cx="154738" cy="125791"/>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47" name="TextBox 46"/>
          <p:cNvSpPr txBox="1"/>
          <p:nvPr/>
        </p:nvSpPr>
        <p:spPr>
          <a:xfrm>
            <a:off x="9071523" y="1828782"/>
            <a:ext cx="1266940" cy="515847"/>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직권심리</a:t>
            </a:r>
            <a:endParaRPr lang="en-US" altLang="ko-KR" sz="1400" dirty="0">
              <a:solidFill>
                <a:schemeClr val="tx1"/>
              </a:solidFill>
              <a:latin typeface="+mn-ea"/>
            </a:endParaRPr>
          </a:p>
          <a:p>
            <a:pPr algn="ctr"/>
            <a:r>
              <a:rPr lang="en-US" altLang="ko-KR" sz="1200" dirty="0">
                <a:solidFill>
                  <a:srgbClr val="FF0000"/>
                </a:solidFill>
                <a:latin typeface="+mn-ea"/>
              </a:rPr>
              <a:t>(</a:t>
            </a:r>
            <a:r>
              <a:rPr lang="ko-KR" altLang="en-US" sz="1200" dirty="0">
                <a:solidFill>
                  <a:srgbClr val="FF0000"/>
                </a:solidFill>
                <a:latin typeface="+mn-ea"/>
              </a:rPr>
              <a:t>제</a:t>
            </a:r>
            <a:r>
              <a:rPr lang="en-US" altLang="ko-KR" sz="1200" dirty="0">
                <a:solidFill>
                  <a:srgbClr val="FF0000"/>
                </a:solidFill>
                <a:latin typeface="+mn-ea"/>
              </a:rPr>
              <a:t>136</a:t>
            </a:r>
            <a:r>
              <a:rPr lang="ko-KR" altLang="en-US" sz="1200" dirty="0">
                <a:solidFill>
                  <a:srgbClr val="FF0000"/>
                </a:solidFill>
                <a:latin typeface="+mn-ea"/>
              </a:rPr>
              <a:t>조제</a:t>
            </a:r>
            <a:r>
              <a:rPr lang="en-US" altLang="ko-KR" sz="1200" dirty="0">
                <a:solidFill>
                  <a:srgbClr val="FF0000"/>
                </a:solidFill>
                <a:latin typeface="+mn-ea"/>
              </a:rPr>
              <a:t>6</a:t>
            </a:r>
            <a:r>
              <a:rPr lang="ko-KR" altLang="en-US" sz="1200" dirty="0">
                <a:solidFill>
                  <a:srgbClr val="FF0000"/>
                </a:solidFill>
                <a:latin typeface="+mn-ea"/>
              </a:rPr>
              <a:t>항</a:t>
            </a:r>
            <a:r>
              <a:rPr lang="en-US" altLang="ko-KR" sz="1200" dirty="0">
                <a:solidFill>
                  <a:srgbClr val="FF0000"/>
                </a:solidFill>
                <a:latin typeface="+mn-ea"/>
              </a:rPr>
              <a:t>)</a:t>
            </a:r>
            <a:endParaRPr lang="en-US" altLang="ko-KR" sz="1400" dirty="0">
              <a:solidFill>
                <a:srgbClr val="FF0000"/>
              </a:solidFill>
              <a:latin typeface="+mn-ea"/>
            </a:endParaRPr>
          </a:p>
        </p:txBody>
      </p:sp>
      <p:sp>
        <p:nvSpPr>
          <p:cNvPr id="50" name="타원 49"/>
          <p:cNvSpPr/>
          <p:nvPr/>
        </p:nvSpPr>
        <p:spPr>
          <a:xfrm>
            <a:off x="9627623" y="2842192"/>
            <a:ext cx="154738" cy="125791"/>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51" name="직선 화살표 연결선 50"/>
          <p:cNvCxnSpPr>
            <a:cxnSpLocks/>
            <a:stCxn id="47" idx="2"/>
            <a:endCxn id="50" idx="0"/>
          </p:cNvCxnSpPr>
          <p:nvPr/>
        </p:nvCxnSpPr>
        <p:spPr>
          <a:xfrm flipH="1">
            <a:off x="9704992" y="2344629"/>
            <a:ext cx="1" cy="49756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 name="직사각형 12"/>
          <p:cNvSpPr/>
          <p:nvPr/>
        </p:nvSpPr>
        <p:spPr>
          <a:xfrm>
            <a:off x="2614167" y="3391786"/>
            <a:ext cx="1592706" cy="455935"/>
          </a:xfrm>
          <a:prstGeom prst="rect">
            <a:avLst/>
          </a:prstGeom>
        </p:spPr>
        <p:txBody>
          <a:bodyPr wrap="square">
            <a:spAutoFit/>
          </a:bodyPr>
          <a:lstStyle/>
          <a:p>
            <a:pPr algn="ctr"/>
            <a:r>
              <a:rPr lang="ko-KR" altLang="en-US" sz="1600" dirty="0"/>
              <a:t>답변서 제출기간</a:t>
            </a:r>
            <a:endParaRPr lang="en-US" altLang="ko-KR" sz="1600" dirty="0"/>
          </a:p>
          <a:p>
            <a:pPr algn="ctr"/>
            <a:r>
              <a:rPr lang="en-US" altLang="ko-KR" sz="1600" dirty="0"/>
              <a:t>(+1</a:t>
            </a:r>
            <a:r>
              <a:rPr lang="ko-KR" altLang="en-US" sz="1600" dirty="0"/>
              <a:t>개월</a:t>
            </a:r>
            <a:r>
              <a:rPr lang="en-US" altLang="ko-KR" sz="1600" dirty="0"/>
              <a:t>)</a:t>
            </a:r>
            <a:endParaRPr lang="ko-KR" altLang="en-US" sz="1600" dirty="0"/>
          </a:p>
        </p:txBody>
      </p:sp>
      <p:sp>
        <p:nvSpPr>
          <p:cNvPr id="55" name="직사각형 54"/>
          <p:cNvSpPr/>
          <p:nvPr/>
        </p:nvSpPr>
        <p:spPr>
          <a:xfrm>
            <a:off x="4422780" y="3391786"/>
            <a:ext cx="1592706" cy="455935"/>
          </a:xfrm>
          <a:prstGeom prst="rect">
            <a:avLst/>
          </a:prstGeom>
        </p:spPr>
        <p:txBody>
          <a:bodyPr wrap="square">
            <a:spAutoFit/>
          </a:bodyPr>
          <a:lstStyle/>
          <a:p>
            <a:pPr algn="ctr"/>
            <a:r>
              <a:rPr lang="ko-KR" altLang="en-US" sz="1600" dirty="0"/>
              <a:t>심판장 정한 기간</a:t>
            </a:r>
            <a:endParaRPr lang="en-US" altLang="ko-KR" sz="1600" dirty="0"/>
          </a:p>
          <a:p>
            <a:pPr algn="ctr"/>
            <a:r>
              <a:rPr lang="en-US" altLang="ko-KR" sz="1600" dirty="0"/>
              <a:t>(+1</a:t>
            </a:r>
            <a:r>
              <a:rPr lang="ko-KR" altLang="en-US" sz="1600" dirty="0"/>
              <a:t>개월</a:t>
            </a:r>
            <a:r>
              <a:rPr lang="en-US" altLang="ko-KR" sz="1600" dirty="0"/>
              <a:t>)</a:t>
            </a:r>
            <a:endParaRPr lang="ko-KR" altLang="en-US" sz="1600" dirty="0"/>
          </a:p>
        </p:txBody>
      </p:sp>
      <p:sp>
        <p:nvSpPr>
          <p:cNvPr id="56" name="직사각형 55"/>
          <p:cNvSpPr/>
          <p:nvPr/>
        </p:nvSpPr>
        <p:spPr>
          <a:xfrm>
            <a:off x="6430996" y="3391786"/>
            <a:ext cx="1592706" cy="455935"/>
          </a:xfrm>
          <a:prstGeom prst="rect">
            <a:avLst/>
          </a:prstGeom>
        </p:spPr>
        <p:txBody>
          <a:bodyPr wrap="square">
            <a:spAutoFit/>
          </a:bodyPr>
          <a:lstStyle/>
          <a:p>
            <a:pPr algn="ctr"/>
            <a:r>
              <a:rPr lang="ko-KR" altLang="en-US" sz="1600" dirty="0"/>
              <a:t>의견서 제출기간</a:t>
            </a:r>
            <a:endParaRPr lang="en-US" altLang="ko-KR" sz="1600" dirty="0"/>
          </a:p>
          <a:p>
            <a:pPr algn="ctr"/>
            <a:r>
              <a:rPr lang="en-US" altLang="ko-KR" sz="1600" dirty="0"/>
              <a:t>(+1</a:t>
            </a:r>
            <a:r>
              <a:rPr lang="ko-KR" altLang="en-US" sz="1600" dirty="0"/>
              <a:t>개월</a:t>
            </a:r>
            <a:r>
              <a:rPr lang="en-US" altLang="ko-KR" sz="1600" dirty="0"/>
              <a:t>)</a:t>
            </a:r>
            <a:endParaRPr lang="ko-KR" altLang="en-US" sz="1600" dirty="0"/>
          </a:p>
        </p:txBody>
      </p:sp>
      <p:sp>
        <p:nvSpPr>
          <p:cNvPr id="57" name="직사각형 56"/>
          <p:cNvSpPr/>
          <p:nvPr/>
        </p:nvSpPr>
        <p:spPr>
          <a:xfrm>
            <a:off x="9704992" y="3391786"/>
            <a:ext cx="1592706" cy="263963"/>
          </a:xfrm>
          <a:prstGeom prst="rect">
            <a:avLst/>
          </a:prstGeom>
        </p:spPr>
        <p:txBody>
          <a:bodyPr wrap="square">
            <a:spAutoFit/>
          </a:bodyPr>
          <a:lstStyle/>
          <a:p>
            <a:pPr algn="ctr"/>
            <a:r>
              <a:rPr lang="ko-KR" altLang="en-US" sz="1600" dirty="0"/>
              <a:t>의견서 제출기간</a:t>
            </a:r>
            <a:endParaRPr lang="en-US" altLang="ko-KR" sz="1600" dirty="0"/>
          </a:p>
        </p:txBody>
      </p:sp>
      <p:cxnSp>
        <p:nvCxnSpPr>
          <p:cNvPr id="9" name="꺾인 연결선 8"/>
          <p:cNvCxnSpPr>
            <a:cxnSpLocks/>
            <a:stCxn id="44" idx="2"/>
            <a:endCxn id="45" idx="0"/>
          </p:cNvCxnSpPr>
          <p:nvPr/>
        </p:nvCxnSpPr>
        <p:spPr>
          <a:xfrm rot="5400000">
            <a:off x="7607814" y="2249514"/>
            <a:ext cx="497563" cy="687792"/>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4" name="직선 연결선 23">
            <a:extLst>
              <a:ext uri="{FF2B5EF4-FFF2-40B4-BE49-F238E27FC236}">
                <a16:creationId xmlns:a16="http://schemas.microsoft.com/office/drawing/2014/main" id="{95E524BC-8262-4715-82F1-F8E558454D73}"/>
              </a:ext>
            </a:extLst>
          </p:cNvPr>
          <p:cNvCxnSpPr/>
          <p:nvPr/>
        </p:nvCxnSpPr>
        <p:spPr>
          <a:xfrm>
            <a:off x="0" y="4155541"/>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양쪽 모서리가 둥근 사각형 52">
            <a:extLst>
              <a:ext uri="{FF2B5EF4-FFF2-40B4-BE49-F238E27FC236}">
                <a16:creationId xmlns:a16="http://schemas.microsoft.com/office/drawing/2014/main" id="{40211CED-2AD5-478A-9EE8-18C07A5E2949}"/>
              </a:ext>
            </a:extLst>
          </p:cNvPr>
          <p:cNvSpPr/>
          <p:nvPr/>
        </p:nvSpPr>
        <p:spPr>
          <a:xfrm>
            <a:off x="6423687" y="5470131"/>
            <a:ext cx="1601110" cy="369352"/>
          </a:xfrm>
          <a:prstGeom prst="round2SameRect">
            <a:avLst>
              <a:gd name="adj1" fmla="val 0"/>
              <a:gd name="adj2" fmla="val 50000"/>
            </a:avLst>
          </a:prstGeom>
          <a:pattFill prst="ltHorz">
            <a:fgClr>
              <a:schemeClr val="bg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6" name="양쪽 모서리가 둥근 사각형 53">
            <a:extLst>
              <a:ext uri="{FF2B5EF4-FFF2-40B4-BE49-F238E27FC236}">
                <a16:creationId xmlns:a16="http://schemas.microsoft.com/office/drawing/2014/main" id="{E3A5BDD4-FB4E-4420-9BF3-774F61DB5E4E}"/>
              </a:ext>
            </a:extLst>
          </p:cNvPr>
          <p:cNvSpPr/>
          <p:nvPr/>
        </p:nvSpPr>
        <p:spPr>
          <a:xfrm>
            <a:off x="9696520" y="5470131"/>
            <a:ext cx="1601110" cy="369352"/>
          </a:xfrm>
          <a:prstGeom prst="round2SameRect">
            <a:avLst>
              <a:gd name="adj1" fmla="val 0"/>
              <a:gd name="adj2" fmla="val 50000"/>
            </a:avLst>
          </a:prstGeom>
          <a:pattFill prst="lgGrid">
            <a:fgClr>
              <a:schemeClr val="accent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87" name="Line 5">
            <a:extLst>
              <a:ext uri="{FF2B5EF4-FFF2-40B4-BE49-F238E27FC236}">
                <a16:creationId xmlns:a16="http://schemas.microsoft.com/office/drawing/2014/main" id="{4E8ACBAE-1081-4570-9310-84ECFE70F1F5}"/>
              </a:ext>
            </a:extLst>
          </p:cNvPr>
          <p:cNvSpPr>
            <a:spLocks noChangeShapeType="1"/>
          </p:cNvSpPr>
          <p:nvPr/>
        </p:nvSpPr>
        <p:spPr bwMode="auto">
          <a:xfrm>
            <a:off x="459294" y="5470131"/>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88" name="TextBox 87">
            <a:extLst>
              <a:ext uri="{FF2B5EF4-FFF2-40B4-BE49-F238E27FC236}">
                <a16:creationId xmlns:a16="http://schemas.microsoft.com/office/drawing/2014/main" id="{4503395F-8017-44AE-8875-FA0BF9B9E663}"/>
              </a:ext>
            </a:extLst>
          </p:cNvPr>
          <p:cNvSpPr txBox="1"/>
          <p:nvPr/>
        </p:nvSpPr>
        <p:spPr>
          <a:xfrm>
            <a:off x="404460" y="4720692"/>
            <a:ext cx="1490466" cy="515847"/>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취소신청</a:t>
            </a:r>
            <a:endParaRPr lang="en-US" altLang="ko-KR" sz="1400" dirty="0">
              <a:solidFill>
                <a:schemeClr val="tx1"/>
              </a:solidFill>
              <a:latin typeface="+mn-ea"/>
            </a:endParaRPr>
          </a:p>
        </p:txBody>
      </p:sp>
      <p:sp>
        <p:nvSpPr>
          <p:cNvPr id="89" name="타원 88">
            <a:extLst>
              <a:ext uri="{FF2B5EF4-FFF2-40B4-BE49-F238E27FC236}">
                <a16:creationId xmlns:a16="http://schemas.microsoft.com/office/drawing/2014/main" id="{A9E2E1DE-E5DC-4E7B-A49C-70D93B4AD9B9}"/>
              </a:ext>
            </a:extLst>
          </p:cNvPr>
          <p:cNvSpPr/>
          <p:nvPr/>
        </p:nvSpPr>
        <p:spPr>
          <a:xfrm>
            <a:off x="1072323" y="5399105"/>
            <a:ext cx="154738" cy="125791"/>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90" name="직선 화살표 연결선 89">
            <a:extLst>
              <a:ext uri="{FF2B5EF4-FFF2-40B4-BE49-F238E27FC236}">
                <a16:creationId xmlns:a16="http://schemas.microsoft.com/office/drawing/2014/main" id="{ADE2D0DC-B25D-4C89-8A61-D72D23988F81}"/>
              </a:ext>
            </a:extLst>
          </p:cNvPr>
          <p:cNvCxnSpPr>
            <a:cxnSpLocks/>
            <a:stCxn id="88" idx="2"/>
            <a:endCxn id="89" idx="0"/>
          </p:cNvCxnSpPr>
          <p:nvPr/>
        </p:nvCxnSpPr>
        <p:spPr>
          <a:xfrm flipH="1">
            <a:off x="1149692" y="5236539"/>
            <a:ext cx="1" cy="16256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1900965C-E9FA-429C-9AFB-66F28A901833}"/>
              </a:ext>
            </a:extLst>
          </p:cNvPr>
          <p:cNvSpPr txBox="1"/>
          <p:nvPr/>
        </p:nvSpPr>
        <p:spPr>
          <a:xfrm>
            <a:off x="5448866" y="4720692"/>
            <a:ext cx="1986464" cy="515847"/>
          </a:xfrm>
          <a:prstGeom prst="rect">
            <a:avLst/>
          </a:prstGeom>
          <a:solidFill>
            <a:schemeClr val="bg1">
              <a:lumMod val="9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직권심리하여</a:t>
            </a:r>
            <a:r>
              <a:rPr lang="ko-KR" altLang="en-US" sz="1400" dirty="0">
                <a:solidFill>
                  <a:schemeClr val="tx1"/>
                </a:solidFill>
                <a:latin typeface="+mn-ea"/>
              </a:rPr>
              <a:t> 취소결정</a:t>
            </a:r>
            <a:endParaRPr lang="en-US" altLang="ko-KR" sz="1400" dirty="0">
              <a:solidFill>
                <a:schemeClr val="tx1"/>
              </a:solidFill>
              <a:latin typeface="+mn-ea"/>
            </a:endParaRPr>
          </a:p>
          <a:p>
            <a:pPr algn="ctr"/>
            <a:r>
              <a:rPr lang="ko-KR" altLang="en-US" sz="1400" dirty="0">
                <a:solidFill>
                  <a:schemeClr val="tx1"/>
                </a:solidFill>
                <a:latin typeface="+mn-ea"/>
              </a:rPr>
              <a:t>하고자 취소이유통지</a:t>
            </a:r>
            <a:endParaRPr lang="en-US" altLang="ko-KR" sz="1400" dirty="0">
              <a:solidFill>
                <a:schemeClr val="tx1"/>
              </a:solidFill>
              <a:latin typeface="+mn-ea"/>
            </a:endParaRPr>
          </a:p>
        </p:txBody>
      </p:sp>
      <p:sp>
        <p:nvSpPr>
          <p:cNvPr id="98" name="타원 97">
            <a:extLst>
              <a:ext uri="{FF2B5EF4-FFF2-40B4-BE49-F238E27FC236}">
                <a16:creationId xmlns:a16="http://schemas.microsoft.com/office/drawing/2014/main" id="{15CA4EAC-3590-451B-A96E-78CEA828C019}"/>
              </a:ext>
            </a:extLst>
          </p:cNvPr>
          <p:cNvSpPr/>
          <p:nvPr/>
        </p:nvSpPr>
        <p:spPr>
          <a:xfrm>
            <a:off x="6364728" y="5399105"/>
            <a:ext cx="154738" cy="125791"/>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99" name="직선 화살표 연결선 98">
            <a:extLst>
              <a:ext uri="{FF2B5EF4-FFF2-40B4-BE49-F238E27FC236}">
                <a16:creationId xmlns:a16="http://schemas.microsoft.com/office/drawing/2014/main" id="{BECFE495-37AE-44C9-90A9-F7544EC71122}"/>
              </a:ext>
            </a:extLst>
          </p:cNvPr>
          <p:cNvCxnSpPr>
            <a:cxnSpLocks/>
            <a:stCxn id="97" idx="2"/>
            <a:endCxn id="98" idx="0"/>
          </p:cNvCxnSpPr>
          <p:nvPr/>
        </p:nvCxnSpPr>
        <p:spPr>
          <a:xfrm flipH="1">
            <a:off x="6442097" y="5236539"/>
            <a:ext cx="1" cy="162566"/>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0" name="TextBox 99">
            <a:extLst>
              <a:ext uri="{FF2B5EF4-FFF2-40B4-BE49-F238E27FC236}">
                <a16:creationId xmlns:a16="http://schemas.microsoft.com/office/drawing/2014/main" id="{14958F02-84BF-445B-9CDE-EB73B89CCD81}"/>
              </a:ext>
            </a:extLst>
          </p:cNvPr>
          <p:cNvSpPr txBox="1"/>
          <p:nvPr/>
        </p:nvSpPr>
        <p:spPr>
          <a:xfrm>
            <a:off x="7567021" y="4385695"/>
            <a:ext cx="1266940" cy="515847"/>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정정청구</a:t>
            </a:r>
            <a:endParaRPr lang="en-US" altLang="ko-KR" sz="1400" dirty="0">
              <a:solidFill>
                <a:schemeClr val="tx1"/>
              </a:solidFill>
              <a:latin typeface="+mn-ea"/>
            </a:endParaRPr>
          </a:p>
        </p:txBody>
      </p:sp>
      <p:sp>
        <p:nvSpPr>
          <p:cNvPr id="101" name="타원 100">
            <a:extLst>
              <a:ext uri="{FF2B5EF4-FFF2-40B4-BE49-F238E27FC236}">
                <a16:creationId xmlns:a16="http://schemas.microsoft.com/office/drawing/2014/main" id="{6E1E3CA7-D45A-4A13-87CB-7140C88F8C2D}"/>
              </a:ext>
            </a:extLst>
          </p:cNvPr>
          <p:cNvSpPr/>
          <p:nvPr/>
        </p:nvSpPr>
        <p:spPr>
          <a:xfrm>
            <a:off x="7435330" y="5399105"/>
            <a:ext cx="154738" cy="125791"/>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102" name="TextBox 101">
            <a:extLst>
              <a:ext uri="{FF2B5EF4-FFF2-40B4-BE49-F238E27FC236}">
                <a16:creationId xmlns:a16="http://schemas.microsoft.com/office/drawing/2014/main" id="{8C2565F8-BBAD-480F-9A90-3E1BCC2CD43E}"/>
              </a:ext>
            </a:extLst>
          </p:cNvPr>
          <p:cNvSpPr txBox="1"/>
          <p:nvPr/>
        </p:nvSpPr>
        <p:spPr>
          <a:xfrm>
            <a:off x="9071523" y="4385695"/>
            <a:ext cx="1266940" cy="515847"/>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직권심리</a:t>
            </a:r>
            <a:endParaRPr lang="en-US" altLang="ko-KR" sz="1400" dirty="0">
              <a:solidFill>
                <a:schemeClr val="tx1"/>
              </a:solidFill>
              <a:latin typeface="+mn-ea"/>
            </a:endParaRPr>
          </a:p>
        </p:txBody>
      </p:sp>
      <p:sp>
        <p:nvSpPr>
          <p:cNvPr id="103" name="타원 102">
            <a:extLst>
              <a:ext uri="{FF2B5EF4-FFF2-40B4-BE49-F238E27FC236}">
                <a16:creationId xmlns:a16="http://schemas.microsoft.com/office/drawing/2014/main" id="{DA3EBE10-E30C-48A0-AF3A-8B3918A93C68}"/>
              </a:ext>
            </a:extLst>
          </p:cNvPr>
          <p:cNvSpPr/>
          <p:nvPr/>
        </p:nvSpPr>
        <p:spPr>
          <a:xfrm>
            <a:off x="9627623" y="5399105"/>
            <a:ext cx="154738" cy="125791"/>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cxnSp>
        <p:nvCxnSpPr>
          <p:cNvPr id="104" name="직선 화살표 연결선 103">
            <a:extLst>
              <a:ext uri="{FF2B5EF4-FFF2-40B4-BE49-F238E27FC236}">
                <a16:creationId xmlns:a16="http://schemas.microsoft.com/office/drawing/2014/main" id="{71BE3D0B-E540-4537-8A32-87DB1F50E199}"/>
              </a:ext>
            </a:extLst>
          </p:cNvPr>
          <p:cNvCxnSpPr>
            <a:cxnSpLocks/>
            <a:stCxn id="102" idx="2"/>
            <a:endCxn id="103" idx="0"/>
          </p:cNvCxnSpPr>
          <p:nvPr/>
        </p:nvCxnSpPr>
        <p:spPr>
          <a:xfrm flipH="1">
            <a:off x="9704992" y="4901542"/>
            <a:ext cx="1" cy="49756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7" name="직사각형 106">
            <a:extLst>
              <a:ext uri="{FF2B5EF4-FFF2-40B4-BE49-F238E27FC236}">
                <a16:creationId xmlns:a16="http://schemas.microsoft.com/office/drawing/2014/main" id="{C1CB655C-B2C5-4E38-98B2-FA3B62872F9B}"/>
              </a:ext>
            </a:extLst>
          </p:cNvPr>
          <p:cNvSpPr/>
          <p:nvPr/>
        </p:nvSpPr>
        <p:spPr>
          <a:xfrm>
            <a:off x="6430996" y="5948699"/>
            <a:ext cx="1592706" cy="455935"/>
          </a:xfrm>
          <a:prstGeom prst="rect">
            <a:avLst/>
          </a:prstGeom>
        </p:spPr>
        <p:txBody>
          <a:bodyPr wrap="square">
            <a:spAutoFit/>
          </a:bodyPr>
          <a:lstStyle/>
          <a:p>
            <a:pPr algn="ctr"/>
            <a:r>
              <a:rPr lang="ko-KR" altLang="en-US" sz="1600" dirty="0"/>
              <a:t>의견서 제출기간</a:t>
            </a:r>
            <a:endParaRPr lang="en-US" altLang="ko-KR" sz="1600" dirty="0"/>
          </a:p>
          <a:p>
            <a:pPr algn="ctr"/>
            <a:r>
              <a:rPr lang="en-US" altLang="ko-KR" sz="1600" dirty="0"/>
              <a:t>(+1</a:t>
            </a:r>
            <a:r>
              <a:rPr lang="ko-KR" altLang="en-US" sz="1600" dirty="0"/>
              <a:t>개월</a:t>
            </a:r>
            <a:r>
              <a:rPr lang="en-US" altLang="ko-KR" sz="1600" dirty="0"/>
              <a:t>)</a:t>
            </a:r>
            <a:endParaRPr lang="ko-KR" altLang="en-US" sz="1600" dirty="0"/>
          </a:p>
        </p:txBody>
      </p:sp>
      <p:sp>
        <p:nvSpPr>
          <p:cNvPr id="108" name="직사각형 107">
            <a:extLst>
              <a:ext uri="{FF2B5EF4-FFF2-40B4-BE49-F238E27FC236}">
                <a16:creationId xmlns:a16="http://schemas.microsoft.com/office/drawing/2014/main" id="{1B0803C9-2A71-4536-9ADB-F5854FC49297}"/>
              </a:ext>
            </a:extLst>
          </p:cNvPr>
          <p:cNvSpPr/>
          <p:nvPr/>
        </p:nvSpPr>
        <p:spPr>
          <a:xfrm>
            <a:off x="9704992" y="5948699"/>
            <a:ext cx="1592706" cy="263963"/>
          </a:xfrm>
          <a:prstGeom prst="rect">
            <a:avLst/>
          </a:prstGeom>
        </p:spPr>
        <p:txBody>
          <a:bodyPr wrap="square">
            <a:spAutoFit/>
          </a:bodyPr>
          <a:lstStyle/>
          <a:p>
            <a:pPr algn="ctr"/>
            <a:r>
              <a:rPr lang="ko-KR" altLang="en-US" sz="1600" dirty="0"/>
              <a:t>의견서 제출기간</a:t>
            </a:r>
            <a:endParaRPr lang="en-US" altLang="ko-KR" sz="1600" dirty="0"/>
          </a:p>
        </p:txBody>
      </p:sp>
      <p:cxnSp>
        <p:nvCxnSpPr>
          <p:cNvPr id="109" name="꺾인 연결선 8">
            <a:extLst>
              <a:ext uri="{FF2B5EF4-FFF2-40B4-BE49-F238E27FC236}">
                <a16:creationId xmlns:a16="http://schemas.microsoft.com/office/drawing/2014/main" id="{701C705B-4980-49F2-B460-26147A67BA10}"/>
              </a:ext>
            </a:extLst>
          </p:cNvPr>
          <p:cNvCxnSpPr>
            <a:cxnSpLocks/>
            <a:stCxn id="100" idx="2"/>
            <a:endCxn id="101" idx="0"/>
          </p:cNvCxnSpPr>
          <p:nvPr/>
        </p:nvCxnSpPr>
        <p:spPr>
          <a:xfrm rot="5400000">
            <a:off x="7607814" y="4806427"/>
            <a:ext cx="497563" cy="687792"/>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76753814"/>
      </p:ext>
    </p:extLst>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sz="2000" dirty="0"/>
              <a:t>제</a:t>
            </a:r>
            <a:r>
              <a:rPr lang="en-US" altLang="ko-KR" sz="2000" dirty="0"/>
              <a:t>132</a:t>
            </a:r>
            <a:r>
              <a:rPr lang="ko-KR" altLang="en-US" sz="2000" dirty="0"/>
              <a:t>조의</a:t>
            </a:r>
            <a:r>
              <a:rPr lang="en-US" altLang="ko-KR" sz="2000" dirty="0"/>
              <a:t>3, </a:t>
            </a:r>
            <a:br>
              <a:rPr lang="en-US" altLang="ko-KR" sz="2000" dirty="0"/>
            </a:br>
            <a:r>
              <a:rPr lang="ko-KR" altLang="en-US" sz="2000" dirty="0"/>
              <a:t>제</a:t>
            </a:r>
            <a:r>
              <a:rPr lang="en-US" altLang="ko-KR" sz="2000" dirty="0"/>
              <a:t>133</a:t>
            </a:r>
            <a:r>
              <a:rPr lang="ko-KR" altLang="en-US" sz="2000" dirty="0"/>
              <a:t>조의</a:t>
            </a:r>
            <a:r>
              <a:rPr lang="en-US" altLang="ko-KR" sz="2000" dirty="0"/>
              <a:t>2, </a:t>
            </a:r>
            <a:r>
              <a:rPr lang="ko-KR" altLang="en-US" sz="2000" dirty="0"/>
              <a:t>제</a:t>
            </a:r>
            <a:r>
              <a:rPr lang="en-US" altLang="ko-KR" sz="2000" dirty="0"/>
              <a:t>137</a:t>
            </a:r>
            <a:r>
              <a:rPr lang="ko-KR" altLang="en-US" sz="2000"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sz="2000" dirty="0"/>
              <a:t>특허출원을 하였을 때에 특허를 받을 수 있을 것의 판단</a:t>
            </a:r>
            <a:r>
              <a:rPr lang="en-US" altLang="ko-KR" sz="2000" dirty="0"/>
              <a:t>: </a:t>
            </a:r>
            <a:r>
              <a:rPr lang="ko-KR" altLang="en-US" sz="2000" dirty="0"/>
              <a:t>제</a:t>
            </a:r>
            <a:r>
              <a:rPr lang="en-US" altLang="ko-KR" sz="2000" dirty="0"/>
              <a:t>133</a:t>
            </a:r>
            <a:r>
              <a:rPr lang="ko-KR" altLang="en-US" sz="2000" dirty="0"/>
              <a:t>조의</a:t>
            </a:r>
            <a:r>
              <a:rPr lang="en-US" altLang="ko-KR" sz="2000" dirty="0"/>
              <a:t>2</a:t>
            </a:r>
            <a:r>
              <a:rPr lang="ko-KR" altLang="en-US" sz="2000" dirty="0"/>
              <a:t>제</a:t>
            </a:r>
            <a:r>
              <a:rPr lang="en-US" altLang="ko-KR" sz="2000" dirty="0"/>
              <a:t>6</a:t>
            </a:r>
            <a:r>
              <a:rPr lang="ko-KR" altLang="en-US" sz="2000" dirty="0"/>
              <a:t>항</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48" name="직선 연결선 47"/>
          <p:cNvCxnSpPr/>
          <p:nvPr/>
        </p:nvCxnSpPr>
        <p:spPr>
          <a:xfrm>
            <a:off x="77875" y="258102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77875" y="976902"/>
            <a:ext cx="11936323" cy="1600438"/>
          </a:xfrm>
          <a:prstGeom prst="rect">
            <a:avLst/>
          </a:prstGeom>
          <a:noFill/>
        </p:spPr>
        <p:txBody>
          <a:bodyPr wrap="square" rtlCol="0">
            <a:spAutoFit/>
          </a:bodyPr>
          <a:lstStyle/>
          <a:p>
            <a:pPr fontAlgn="base"/>
            <a:r>
              <a:rPr lang="ko-KR" altLang="en-US" sz="1400" dirty="0">
                <a:solidFill>
                  <a:schemeClr val="accent3">
                    <a:lumMod val="50000"/>
                  </a:schemeClr>
                </a:solidFill>
                <a:highlight>
                  <a:srgbClr val="FFFF00"/>
                </a:highlight>
              </a:rPr>
              <a:t>청구범위를 감축하거나 잘못 기재된 사항을 정정하는 경우에는 정정 후의 </a:t>
            </a:r>
            <a:r>
              <a:rPr lang="ko-KR" altLang="en-US" sz="1400" dirty="0" err="1">
                <a:solidFill>
                  <a:schemeClr val="accent3">
                    <a:lumMod val="50000"/>
                  </a:schemeClr>
                </a:solidFill>
                <a:highlight>
                  <a:srgbClr val="FFFF00"/>
                </a:highlight>
              </a:rPr>
              <a:t>청구범위에</a:t>
            </a:r>
            <a:r>
              <a:rPr lang="ko-KR" altLang="en-US" sz="1400" dirty="0">
                <a:solidFill>
                  <a:schemeClr val="accent3">
                    <a:lumMod val="50000"/>
                  </a:schemeClr>
                </a:solidFill>
                <a:highlight>
                  <a:srgbClr val="FFFF00"/>
                </a:highlight>
              </a:rPr>
              <a:t> 적혀 있는 사항이 특허출원을 하였을 때에 특허를 받을 수 있는 것이어야 한다</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法 </a:t>
            </a:r>
            <a:r>
              <a:rPr lang="en-US" altLang="ko-KR" sz="1400" dirty="0">
                <a:solidFill>
                  <a:schemeClr val="accent3">
                    <a:lumMod val="50000"/>
                  </a:schemeClr>
                </a:solidFill>
                <a:highlight>
                  <a:srgbClr val="FFFF00"/>
                </a:highlight>
              </a:rPr>
              <a:t>132</a:t>
            </a:r>
            <a:r>
              <a:rPr lang="ko-KR" altLang="en-US" sz="1400" dirty="0">
                <a:solidFill>
                  <a:schemeClr val="accent3">
                    <a:lumMod val="50000"/>
                  </a:schemeClr>
                </a:solidFill>
                <a:highlight>
                  <a:srgbClr val="FFFF00"/>
                </a:highlight>
              </a:rPr>
              <a:t>의</a:t>
            </a:r>
            <a:r>
              <a:rPr lang="en-US" altLang="ko-KR" sz="1400" dirty="0">
                <a:solidFill>
                  <a:schemeClr val="accent3">
                    <a:lumMod val="50000"/>
                  </a:schemeClr>
                </a:solidFill>
                <a:highlight>
                  <a:srgbClr val="FFFF00"/>
                </a:highlight>
              </a:rPr>
              <a:t>3③ </a:t>
            </a:r>
            <a:r>
              <a:rPr lang="ko-KR" altLang="en-US" sz="1400" dirty="0">
                <a:solidFill>
                  <a:schemeClr val="accent3">
                    <a:lumMod val="50000"/>
                  </a:schemeClr>
                </a:solidFill>
                <a:highlight>
                  <a:srgbClr val="FFFF00"/>
                </a:highlight>
              </a:rPr>
              <a:t>및 </a:t>
            </a:r>
            <a:r>
              <a:rPr lang="en-US" altLang="ko-KR" sz="1400" dirty="0">
                <a:solidFill>
                  <a:schemeClr val="accent3">
                    <a:lumMod val="50000"/>
                  </a:schemeClr>
                </a:solidFill>
                <a:highlight>
                  <a:srgbClr val="FFFF00"/>
                </a:highlight>
              </a:rPr>
              <a:t>133</a:t>
            </a:r>
            <a:r>
              <a:rPr lang="ko-KR" altLang="en-US" sz="1400" dirty="0">
                <a:solidFill>
                  <a:schemeClr val="accent3">
                    <a:lumMod val="50000"/>
                  </a:schemeClr>
                </a:solidFill>
                <a:highlight>
                  <a:srgbClr val="FFFF00"/>
                </a:highlight>
              </a:rPr>
              <a:t>의</a:t>
            </a:r>
            <a:r>
              <a:rPr lang="en-US" altLang="ko-KR" sz="1400" dirty="0">
                <a:solidFill>
                  <a:schemeClr val="accent3">
                    <a:lumMod val="50000"/>
                  </a:schemeClr>
                </a:solidFill>
                <a:highlight>
                  <a:srgbClr val="FFFF00"/>
                </a:highlight>
              </a:rPr>
              <a:t>2④ </a:t>
            </a:r>
            <a:r>
              <a:rPr lang="ko-KR" altLang="en-US" sz="1400" dirty="0">
                <a:solidFill>
                  <a:schemeClr val="accent3">
                    <a:lumMod val="50000"/>
                  </a:schemeClr>
                </a:solidFill>
                <a:highlight>
                  <a:srgbClr val="FFFF00"/>
                </a:highlight>
              </a:rPr>
              <a:t>준용 </a:t>
            </a:r>
            <a:r>
              <a:rPr lang="en-US" altLang="ko-KR" sz="1400" dirty="0">
                <a:solidFill>
                  <a:schemeClr val="accent3">
                    <a:lumMod val="50000"/>
                  </a:schemeClr>
                </a:solidFill>
                <a:highlight>
                  <a:srgbClr val="FFFF00"/>
                </a:highlight>
              </a:rPr>
              <a:t>136⑤, 137④ </a:t>
            </a:r>
            <a:r>
              <a:rPr lang="ko-KR" altLang="en-US" sz="1400" dirty="0">
                <a:solidFill>
                  <a:schemeClr val="accent3">
                    <a:lumMod val="50000"/>
                  </a:schemeClr>
                </a:solidFill>
                <a:highlight>
                  <a:srgbClr val="FFFF00"/>
                </a:highlight>
              </a:rPr>
              <a:t>준용 </a:t>
            </a:r>
            <a:r>
              <a:rPr lang="en-US" altLang="ko-KR" sz="1400" dirty="0">
                <a:solidFill>
                  <a:schemeClr val="accent3">
                    <a:lumMod val="50000"/>
                  </a:schemeClr>
                </a:solidFill>
                <a:highlight>
                  <a:srgbClr val="FFFF00"/>
                </a:highlight>
              </a:rPr>
              <a:t>133</a:t>
            </a:r>
            <a:r>
              <a:rPr lang="ko-KR" altLang="en-US" sz="1400" dirty="0">
                <a:solidFill>
                  <a:schemeClr val="accent3">
                    <a:lumMod val="50000"/>
                  </a:schemeClr>
                </a:solidFill>
                <a:highlight>
                  <a:srgbClr val="FFFF00"/>
                </a:highlight>
              </a:rPr>
              <a:t>의</a:t>
            </a:r>
            <a:r>
              <a:rPr lang="en-US" altLang="ko-KR" sz="1400" dirty="0">
                <a:solidFill>
                  <a:schemeClr val="accent3">
                    <a:lumMod val="50000"/>
                  </a:schemeClr>
                </a:solidFill>
                <a:highlight>
                  <a:srgbClr val="FFFF00"/>
                </a:highlight>
              </a:rPr>
              <a:t>2④). </a:t>
            </a:r>
            <a:r>
              <a:rPr lang="ko-KR" altLang="en-US" sz="1400" dirty="0">
                <a:solidFill>
                  <a:schemeClr val="accent3">
                    <a:lumMod val="50000"/>
                  </a:schemeClr>
                </a:solidFill>
                <a:highlight>
                  <a:srgbClr val="FFFF00"/>
                </a:highlight>
              </a:rPr>
              <a:t>다만</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특허취소신청</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특허무효심판이 청구된 </a:t>
            </a:r>
            <a:r>
              <a:rPr lang="ko-KR" altLang="en-US" sz="1400" dirty="0" err="1">
                <a:solidFill>
                  <a:schemeClr val="accent3">
                    <a:lumMod val="50000"/>
                  </a:schemeClr>
                </a:solidFill>
                <a:highlight>
                  <a:srgbClr val="FFFF00"/>
                </a:highlight>
              </a:rPr>
              <a:t>청구항을</a:t>
            </a:r>
            <a:r>
              <a:rPr lang="ko-KR" altLang="en-US" sz="1400" dirty="0">
                <a:solidFill>
                  <a:schemeClr val="accent3">
                    <a:lumMod val="50000"/>
                  </a:schemeClr>
                </a:solidFill>
                <a:highlight>
                  <a:srgbClr val="FFFF00"/>
                </a:highlight>
              </a:rPr>
              <a:t> 정정하는 경우에는 「특허출원을 하였을 때에 특허를 받을 수 있을 </a:t>
            </a:r>
            <a:r>
              <a:rPr lang="ko-KR" altLang="en-US" sz="1400" dirty="0" err="1">
                <a:solidFill>
                  <a:schemeClr val="accent3">
                    <a:lumMod val="50000"/>
                  </a:schemeClr>
                </a:solidFill>
                <a:highlight>
                  <a:srgbClr val="FFFF00"/>
                </a:highlight>
              </a:rPr>
              <a:t>것」은</a:t>
            </a:r>
            <a:r>
              <a:rPr lang="ko-KR" altLang="en-US" sz="1400" dirty="0">
                <a:solidFill>
                  <a:schemeClr val="accent3">
                    <a:lumMod val="50000"/>
                  </a:schemeClr>
                </a:solidFill>
                <a:highlight>
                  <a:srgbClr val="FFFF00"/>
                </a:highlight>
              </a:rPr>
              <a:t> 적용되지 아니한다</a:t>
            </a:r>
            <a:r>
              <a:rPr lang="en-US" altLang="ko-KR" sz="1400" dirty="0">
                <a:solidFill>
                  <a:schemeClr val="accent3">
                    <a:lumMod val="50000"/>
                  </a:schemeClr>
                </a:solidFill>
                <a:highlight>
                  <a:srgbClr val="FFFF00"/>
                </a:highlight>
              </a:rPr>
              <a:t>(</a:t>
            </a:r>
            <a:r>
              <a:rPr lang="ko-KR" altLang="en-US" sz="1400" dirty="0">
                <a:solidFill>
                  <a:schemeClr val="accent3">
                    <a:lumMod val="50000"/>
                  </a:schemeClr>
                </a:solidFill>
                <a:highlight>
                  <a:srgbClr val="FFFF00"/>
                </a:highlight>
              </a:rPr>
              <a:t>法 </a:t>
            </a:r>
            <a:r>
              <a:rPr lang="en-US" altLang="ko-KR" sz="1400" dirty="0">
                <a:solidFill>
                  <a:schemeClr val="accent3">
                    <a:lumMod val="50000"/>
                  </a:schemeClr>
                </a:solidFill>
                <a:highlight>
                  <a:srgbClr val="FFFF00"/>
                </a:highlight>
              </a:rPr>
              <a:t>132</a:t>
            </a:r>
            <a:r>
              <a:rPr lang="ko-KR" altLang="en-US" sz="1400" dirty="0">
                <a:solidFill>
                  <a:schemeClr val="accent3">
                    <a:lumMod val="50000"/>
                  </a:schemeClr>
                </a:solidFill>
                <a:highlight>
                  <a:srgbClr val="FFFF00"/>
                </a:highlight>
              </a:rPr>
              <a:t>의</a:t>
            </a:r>
            <a:r>
              <a:rPr lang="en-US" altLang="ko-KR" sz="1400" dirty="0">
                <a:solidFill>
                  <a:schemeClr val="accent3">
                    <a:lumMod val="50000"/>
                  </a:schemeClr>
                </a:solidFill>
                <a:highlight>
                  <a:srgbClr val="FFFF00"/>
                </a:highlight>
              </a:rPr>
              <a:t>3⑤, 133</a:t>
            </a:r>
            <a:r>
              <a:rPr lang="ko-KR" altLang="en-US" sz="1400" dirty="0">
                <a:solidFill>
                  <a:schemeClr val="accent3">
                    <a:lumMod val="50000"/>
                  </a:schemeClr>
                </a:solidFill>
                <a:highlight>
                  <a:srgbClr val="FFFF00"/>
                </a:highlight>
              </a:rPr>
              <a:t>의</a:t>
            </a:r>
            <a:r>
              <a:rPr lang="en-US" altLang="ko-KR" sz="1400" dirty="0">
                <a:solidFill>
                  <a:schemeClr val="accent3">
                    <a:lumMod val="50000"/>
                  </a:schemeClr>
                </a:solidFill>
                <a:highlight>
                  <a:srgbClr val="FFFF00"/>
                </a:highlight>
              </a:rPr>
              <a:t>2⑥). </a:t>
            </a:r>
            <a:r>
              <a:rPr lang="ko-KR" altLang="en-US" sz="1400" dirty="0">
                <a:solidFill>
                  <a:schemeClr val="tx2"/>
                </a:solidFill>
              </a:rPr>
              <a:t>이는 특허취소신청</a:t>
            </a:r>
            <a:r>
              <a:rPr lang="en-US" altLang="ko-KR" sz="1400" dirty="0">
                <a:solidFill>
                  <a:schemeClr val="tx2"/>
                </a:solidFill>
              </a:rPr>
              <a:t>, </a:t>
            </a:r>
            <a:r>
              <a:rPr lang="ko-KR" altLang="en-US" sz="1400" dirty="0">
                <a:solidFill>
                  <a:schemeClr val="tx2"/>
                </a:solidFill>
              </a:rPr>
              <a:t>특허무효심판절차에서의 </a:t>
            </a:r>
            <a:r>
              <a:rPr lang="ko-KR" altLang="en-US" sz="1400" dirty="0" err="1">
                <a:solidFill>
                  <a:schemeClr val="tx2"/>
                </a:solidFill>
              </a:rPr>
              <a:t>정정청구에</a:t>
            </a:r>
            <a:r>
              <a:rPr lang="ko-KR" altLang="en-US" sz="1400" dirty="0">
                <a:solidFill>
                  <a:schemeClr val="tx2"/>
                </a:solidFill>
              </a:rPr>
              <a:t> 대하여 해당 청구항의 「특허출원을 하였을 때에 특허를 받을 수 있을 </a:t>
            </a:r>
            <a:r>
              <a:rPr lang="ko-KR" altLang="en-US" sz="1400" dirty="0" err="1">
                <a:solidFill>
                  <a:schemeClr val="tx2"/>
                </a:solidFill>
              </a:rPr>
              <a:t>것」을</a:t>
            </a:r>
            <a:r>
              <a:rPr lang="ko-KR" altLang="en-US" sz="1400" dirty="0">
                <a:solidFill>
                  <a:schemeClr val="tx2"/>
                </a:solidFill>
              </a:rPr>
              <a:t> 판단한 후 특허취소신청</a:t>
            </a:r>
            <a:r>
              <a:rPr lang="en-US" altLang="ko-KR" sz="1400" dirty="0">
                <a:solidFill>
                  <a:schemeClr val="tx2"/>
                </a:solidFill>
              </a:rPr>
              <a:t>, </a:t>
            </a:r>
            <a:r>
              <a:rPr lang="ko-KR" altLang="en-US" sz="1400" dirty="0">
                <a:solidFill>
                  <a:schemeClr val="tx2"/>
                </a:solidFill>
              </a:rPr>
              <a:t>특허무효심판 대상 </a:t>
            </a:r>
            <a:r>
              <a:rPr lang="ko-KR" altLang="en-US" sz="1400" dirty="0" err="1">
                <a:solidFill>
                  <a:schemeClr val="tx2"/>
                </a:solidFill>
              </a:rPr>
              <a:t>청구항에</a:t>
            </a:r>
            <a:r>
              <a:rPr lang="ko-KR" altLang="en-US" sz="1400" dirty="0">
                <a:solidFill>
                  <a:schemeClr val="tx2"/>
                </a:solidFill>
              </a:rPr>
              <a:t> 대하여 다시 특허취소사유</a:t>
            </a:r>
            <a:r>
              <a:rPr lang="en-US" altLang="ko-KR" sz="1400" dirty="0">
                <a:solidFill>
                  <a:schemeClr val="tx2"/>
                </a:solidFill>
              </a:rPr>
              <a:t>, </a:t>
            </a:r>
            <a:r>
              <a:rPr lang="ko-KR" altLang="en-US" sz="1400" dirty="0">
                <a:solidFill>
                  <a:schemeClr val="tx2"/>
                </a:solidFill>
              </a:rPr>
              <a:t>특허무효사유의 유무를 판단하는 것은 실질적으로 동일한 내용을 중복적으로 판단하여 심리의 부담이 가중되고</a:t>
            </a:r>
            <a:r>
              <a:rPr lang="en-US" altLang="ko-KR" sz="1400" dirty="0">
                <a:solidFill>
                  <a:schemeClr val="tx2"/>
                </a:solidFill>
              </a:rPr>
              <a:t>, </a:t>
            </a:r>
            <a:r>
              <a:rPr lang="ko-KR" altLang="en-US" sz="1400" dirty="0">
                <a:solidFill>
                  <a:schemeClr val="tx2"/>
                </a:solidFill>
              </a:rPr>
              <a:t>특허취소신청</a:t>
            </a:r>
            <a:r>
              <a:rPr lang="en-US" altLang="ko-KR" sz="1400" dirty="0">
                <a:solidFill>
                  <a:schemeClr val="tx2"/>
                </a:solidFill>
              </a:rPr>
              <a:t>, </a:t>
            </a:r>
            <a:r>
              <a:rPr lang="ko-KR" altLang="en-US" sz="1400" dirty="0">
                <a:solidFill>
                  <a:schemeClr val="tx2"/>
                </a:solidFill>
              </a:rPr>
              <a:t>특허무효심판의 최종적 </a:t>
            </a:r>
            <a:r>
              <a:rPr lang="ko-KR" altLang="en-US" sz="1400" dirty="0" err="1">
                <a:solidFill>
                  <a:schemeClr val="tx2"/>
                </a:solidFill>
              </a:rPr>
              <a:t>판단사항인</a:t>
            </a:r>
            <a:r>
              <a:rPr lang="ko-KR" altLang="en-US" sz="1400" dirty="0">
                <a:solidFill>
                  <a:schemeClr val="tx2"/>
                </a:solidFill>
              </a:rPr>
              <a:t> </a:t>
            </a:r>
            <a:r>
              <a:rPr lang="ko-KR" altLang="en-US" sz="1400" dirty="0" err="1">
                <a:solidFill>
                  <a:schemeClr val="tx2"/>
                </a:solidFill>
              </a:rPr>
              <a:t>취소이유</a:t>
            </a:r>
            <a:r>
              <a:rPr lang="en-US" altLang="ko-KR" sz="1400" dirty="0">
                <a:solidFill>
                  <a:schemeClr val="tx2"/>
                </a:solidFill>
              </a:rPr>
              <a:t>, </a:t>
            </a:r>
            <a:r>
              <a:rPr lang="ko-KR" altLang="en-US" sz="1400" dirty="0">
                <a:solidFill>
                  <a:schemeClr val="tx2"/>
                </a:solidFill>
              </a:rPr>
              <a:t>무효이유를 </a:t>
            </a:r>
            <a:r>
              <a:rPr lang="ko-KR" altLang="en-US" sz="1400" dirty="0" err="1">
                <a:solidFill>
                  <a:schemeClr val="tx2"/>
                </a:solidFill>
              </a:rPr>
              <a:t>심결</a:t>
            </a:r>
            <a:r>
              <a:rPr lang="en-US" altLang="ko-KR" sz="1400" dirty="0">
                <a:solidFill>
                  <a:schemeClr val="tx2"/>
                </a:solidFill>
              </a:rPr>
              <a:t>(</a:t>
            </a:r>
            <a:r>
              <a:rPr lang="ko-KR" altLang="en-US" sz="1400" dirty="0">
                <a:solidFill>
                  <a:schemeClr val="tx2"/>
                </a:solidFill>
              </a:rPr>
              <a:t>결정</a:t>
            </a:r>
            <a:r>
              <a:rPr lang="en-US" altLang="ko-KR" sz="1400">
                <a:solidFill>
                  <a:schemeClr val="tx2"/>
                </a:solidFill>
              </a:rPr>
              <a:t>)</a:t>
            </a:r>
            <a:r>
              <a:rPr lang="ko-KR" altLang="en-US" sz="1400">
                <a:solidFill>
                  <a:schemeClr val="tx2"/>
                </a:solidFill>
              </a:rPr>
              <a:t> </a:t>
            </a:r>
            <a:r>
              <a:rPr lang="ko-KR" altLang="en-US" sz="1400" dirty="0">
                <a:solidFill>
                  <a:schemeClr val="tx2"/>
                </a:solidFill>
              </a:rPr>
              <a:t>전에 미리 알려주는 결과가 되어 이로 인하여 심리의 지연이 초래되는 문제점이 있기 때문이다</a:t>
            </a:r>
            <a:r>
              <a:rPr lang="en-US" altLang="ko-KR" sz="1400" dirty="0">
                <a:solidFill>
                  <a:schemeClr val="tx2"/>
                </a:solidFill>
              </a:rPr>
              <a:t>. </a:t>
            </a:r>
            <a:r>
              <a:rPr lang="ko-KR" altLang="en-US" sz="1400" dirty="0">
                <a:solidFill>
                  <a:schemeClr val="tx2"/>
                </a:solidFill>
              </a:rPr>
              <a:t>한편</a:t>
            </a:r>
            <a:r>
              <a:rPr lang="en-US" altLang="ko-KR" sz="1400" dirty="0">
                <a:solidFill>
                  <a:schemeClr val="tx2"/>
                </a:solidFill>
              </a:rPr>
              <a:t>, </a:t>
            </a:r>
            <a:r>
              <a:rPr lang="ko-KR" altLang="en-US" sz="1400" dirty="0">
                <a:solidFill>
                  <a:schemeClr val="accent3">
                    <a:lumMod val="50000"/>
                  </a:schemeClr>
                </a:solidFill>
                <a:highlight>
                  <a:srgbClr val="FFFF00"/>
                </a:highlight>
              </a:rPr>
              <a:t>특허취소신청</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특허무효심판이 청구되지 아니한 </a:t>
            </a:r>
            <a:r>
              <a:rPr lang="ko-KR" altLang="en-US" sz="1400" dirty="0" err="1">
                <a:solidFill>
                  <a:schemeClr val="accent3">
                    <a:lumMod val="50000"/>
                  </a:schemeClr>
                </a:solidFill>
                <a:highlight>
                  <a:srgbClr val="FFFF00"/>
                </a:highlight>
              </a:rPr>
              <a:t>청구항을</a:t>
            </a:r>
            <a:r>
              <a:rPr lang="ko-KR" altLang="en-US" sz="1400" dirty="0">
                <a:solidFill>
                  <a:schemeClr val="accent3">
                    <a:lumMod val="50000"/>
                  </a:schemeClr>
                </a:solidFill>
                <a:highlight>
                  <a:srgbClr val="FFFF00"/>
                </a:highlight>
              </a:rPr>
              <a:t> 정정하는 경우에는 이와 같은 요건을 판단하여야 함은 자명하다</a:t>
            </a:r>
            <a:r>
              <a:rPr lang="en-US" altLang="ko-KR" sz="1400" dirty="0">
                <a:solidFill>
                  <a:schemeClr val="accent3">
                    <a:lumMod val="50000"/>
                  </a:schemeClr>
                </a:solidFill>
                <a:highlight>
                  <a:srgbClr val="FFFF00"/>
                </a:highlight>
              </a:rPr>
              <a:t>.</a:t>
            </a:r>
            <a:endParaRPr lang="ko-KR" altLang="en-US" sz="1400" dirty="0">
              <a:solidFill>
                <a:schemeClr val="accent3">
                  <a:lumMod val="50000"/>
                </a:schemeClr>
              </a:solidFill>
              <a:highlight>
                <a:srgbClr val="FFFF00"/>
              </a:highlight>
            </a:endParaRPr>
          </a:p>
        </p:txBody>
      </p:sp>
      <p:sp>
        <p:nvSpPr>
          <p:cNvPr id="14" name="Line 5"/>
          <p:cNvSpPr>
            <a:spLocks noChangeShapeType="1"/>
          </p:cNvSpPr>
          <p:nvPr/>
        </p:nvSpPr>
        <p:spPr bwMode="auto">
          <a:xfrm>
            <a:off x="328662" y="2943651"/>
            <a:ext cx="1146427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15" name="TextBox 14"/>
          <p:cNvSpPr txBox="1"/>
          <p:nvPr/>
        </p:nvSpPr>
        <p:spPr>
          <a:xfrm>
            <a:off x="519306" y="2788273"/>
            <a:ext cx="218933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a:solidFill>
                  <a:schemeClr val="tx1"/>
                </a:solidFill>
                <a:latin typeface="+mn-ea"/>
              </a:rPr>
              <a:t>특허무효심판청구</a:t>
            </a:r>
            <a:endParaRPr lang="en-US" altLang="ko-KR" sz="1400" dirty="0">
              <a:solidFill>
                <a:schemeClr val="tx1"/>
              </a:solidFill>
              <a:latin typeface="+mn-ea"/>
            </a:endParaRPr>
          </a:p>
        </p:txBody>
      </p:sp>
      <p:sp>
        <p:nvSpPr>
          <p:cNvPr id="16" name="TextBox 15"/>
          <p:cNvSpPr txBox="1"/>
          <p:nvPr/>
        </p:nvSpPr>
        <p:spPr>
          <a:xfrm>
            <a:off x="2998246" y="2788273"/>
            <a:ext cx="218933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정정청구</a:t>
            </a:r>
            <a:endParaRPr lang="en-US" altLang="ko-KR" sz="1400" dirty="0">
              <a:solidFill>
                <a:schemeClr val="tx1"/>
              </a:solidFill>
              <a:latin typeface="+mn-ea"/>
            </a:endParaRPr>
          </a:p>
        </p:txBody>
      </p:sp>
      <p:sp>
        <p:nvSpPr>
          <p:cNvPr id="17" name="TextBox 16"/>
          <p:cNvSpPr txBox="1"/>
          <p:nvPr/>
        </p:nvSpPr>
        <p:spPr>
          <a:xfrm>
            <a:off x="5477187" y="2788273"/>
            <a:ext cx="2152394"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정정적법성</a:t>
            </a:r>
            <a:r>
              <a:rPr lang="ko-KR" altLang="en-US" sz="1400" dirty="0">
                <a:solidFill>
                  <a:schemeClr val="tx1"/>
                </a:solidFill>
                <a:latin typeface="+mn-ea"/>
              </a:rPr>
              <a:t> 판단</a:t>
            </a:r>
            <a:endParaRPr lang="en-US" altLang="ko-KR" sz="1400" dirty="0">
              <a:solidFill>
                <a:schemeClr val="tx1"/>
              </a:solidFill>
              <a:latin typeface="+mn-ea"/>
            </a:endParaRPr>
          </a:p>
        </p:txBody>
      </p:sp>
      <p:sp>
        <p:nvSpPr>
          <p:cNvPr id="18" name="TextBox 17"/>
          <p:cNvSpPr txBox="1"/>
          <p:nvPr/>
        </p:nvSpPr>
        <p:spPr>
          <a:xfrm>
            <a:off x="9012804" y="2788273"/>
            <a:ext cx="2189330" cy="326558"/>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nchor="ctr">
            <a:noAutofit/>
          </a:bodyPr>
          <a:lstStyle/>
          <a:p>
            <a:pPr algn="ctr"/>
            <a:r>
              <a:rPr lang="ko-KR" altLang="en-US" sz="1400" dirty="0" err="1">
                <a:solidFill>
                  <a:schemeClr val="tx1"/>
                </a:solidFill>
                <a:latin typeface="+mn-ea"/>
              </a:rPr>
              <a:t>무효사유</a:t>
            </a:r>
            <a:r>
              <a:rPr lang="ko-KR" altLang="en-US" sz="1400" dirty="0">
                <a:solidFill>
                  <a:schemeClr val="tx1"/>
                </a:solidFill>
                <a:latin typeface="+mn-ea"/>
              </a:rPr>
              <a:t> 판단</a:t>
            </a:r>
            <a:endParaRPr lang="en-US" altLang="ko-KR" sz="1400" dirty="0">
              <a:solidFill>
                <a:schemeClr val="tx1"/>
              </a:solidFill>
              <a:latin typeface="+mn-ea"/>
            </a:endParaRPr>
          </a:p>
        </p:txBody>
      </p:sp>
      <p:sp>
        <p:nvSpPr>
          <p:cNvPr id="6" name="직사각형 5"/>
          <p:cNvSpPr/>
          <p:nvPr/>
        </p:nvSpPr>
        <p:spPr>
          <a:xfrm>
            <a:off x="519306" y="3249974"/>
            <a:ext cx="2189330" cy="52880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청구항</a:t>
            </a:r>
            <a:r>
              <a:rPr lang="ko-KR" altLang="en-US" sz="1400" dirty="0">
                <a:solidFill>
                  <a:schemeClr val="tx1"/>
                </a:solidFill>
              </a:rPr>
              <a:t> </a:t>
            </a:r>
            <a:r>
              <a:rPr lang="en-US" altLang="ko-KR" sz="1400" dirty="0">
                <a:solidFill>
                  <a:schemeClr val="tx1"/>
                </a:solidFill>
              </a:rPr>
              <a:t>1, </a:t>
            </a:r>
            <a:r>
              <a:rPr lang="ko-KR" altLang="en-US" sz="1400" dirty="0" err="1">
                <a:solidFill>
                  <a:schemeClr val="tx1"/>
                </a:solidFill>
              </a:rPr>
              <a:t>청구항</a:t>
            </a:r>
            <a:r>
              <a:rPr lang="ko-KR" altLang="en-US" sz="1400" dirty="0">
                <a:solidFill>
                  <a:schemeClr val="tx1"/>
                </a:solidFill>
              </a:rPr>
              <a:t> </a:t>
            </a:r>
            <a:r>
              <a:rPr lang="en-US" altLang="ko-KR" sz="1400" dirty="0">
                <a:solidFill>
                  <a:schemeClr val="tx1"/>
                </a:solidFill>
              </a:rPr>
              <a:t>2</a:t>
            </a:r>
            <a:r>
              <a:rPr lang="ko-KR" altLang="en-US" sz="1400" dirty="0">
                <a:solidFill>
                  <a:schemeClr val="tx1"/>
                </a:solidFill>
              </a:rPr>
              <a:t>에 대한 </a:t>
            </a:r>
            <a:endParaRPr lang="en-US" altLang="ko-KR" sz="1400" dirty="0">
              <a:solidFill>
                <a:schemeClr val="tx1"/>
              </a:solidFill>
            </a:endParaRPr>
          </a:p>
          <a:p>
            <a:pPr algn="ctr"/>
            <a:r>
              <a:rPr lang="ko-KR" altLang="en-US" sz="1400" dirty="0">
                <a:solidFill>
                  <a:schemeClr val="tx1"/>
                </a:solidFill>
              </a:rPr>
              <a:t>특허무효심판청구</a:t>
            </a:r>
          </a:p>
        </p:txBody>
      </p:sp>
      <p:sp>
        <p:nvSpPr>
          <p:cNvPr id="30" name="직사각형 29"/>
          <p:cNvSpPr/>
          <p:nvPr/>
        </p:nvSpPr>
        <p:spPr>
          <a:xfrm>
            <a:off x="2998246" y="3249974"/>
            <a:ext cx="2189330" cy="52880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청구항</a:t>
            </a:r>
            <a:r>
              <a:rPr lang="ko-KR" altLang="en-US" sz="1400" dirty="0">
                <a:solidFill>
                  <a:schemeClr val="tx1"/>
                </a:solidFill>
              </a:rPr>
              <a:t> </a:t>
            </a:r>
            <a:r>
              <a:rPr lang="en-US" altLang="ko-KR" sz="1400" dirty="0">
                <a:solidFill>
                  <a:schemeClr val="tx1"/>
                </a:solidFill>
              </a:rPr>
              <a:t>1, </a:t>
            </a:r>
            <a:r>
              <a:rPr lang="ko-KR" altLang="en-US" sz="1400" dirty="0" err="1">
                <a:solidFill>
                  <a:schemeClr val="tx1"/>
                </a:solidFill>
              </a:rPr>
              <a:t>청구항</a:t>
            </a:r>
            <a:r>
              <a:rPr lang="ko-KR" altLang="en-US" sz="1400" dirty="0">
                <a:solidFill>
                  <a:schemeClr val="tx1"/>
                </a:solidFill>
              </a:rPr>
              <a:t> </a:t>
            </a:r>
            <a:r>
              <a:rPr lang="en-US" altLang="ko-KR" sz="1400" dirty="0">
                <a:solidFill>
                  <a:schemeClr val="tx1"/>
                </a:solidFill>
              </a:rPr>
              <a:t>3</a:t>
            </a:r>
            <a:r>
              <a:rPr lang="ko-KR" altLang="en-US" sz="1400" dirty="0">
                <a:solidFill>
                  <a:schemeClr val="tx1"/>
                </a:solidFill>
              </a:rPr>
              <a:t>에 대한 </a:t>
            </a:r>
            <a:endParaRPr lang="en-US" altLang="ko-KR" sz="1400" dirty="0">
              <a:solidFill>
                <a:schemeClr val="tx1"/>
              </a:solidFill>
            </a:endParaRPr>
          </a:p>
          <a:p>
            <a:pPr algn="ctr"/>
            <a:r>
              <a:rPr lang="ko-KR" altLang="en-US" sz="1400" dirty="0" err="1">
                <a:solidFill>
                  <a:schemeClr val="tx1"/>
                </a:solidFill>
              </a:rPr>
              <a:t>정정청구</a:t>
            </a:r>
            <a:endParaRPr lang="ko-KR" altLang="en-US" sz="1400" dirty="0">
              <a:solidFill>
                <a:schemeClr val="tx1"/>
              </a:solidFill>
            </a:endParaRPr>
          </a:p>
        </p:txBody>
      </p:sp>
      <p:sp>
        <p:nvSpPr>
          <p:cNvPr id="31" name="직사각형 30"/>
          <p:cNvSpPr/>
          <p:nvPr/>
        </p:nvSpPr>
        <p:spPr>
          <a:xfrm>
            <a:off x="5440251" y="3249974"/>
            <a:ext cx="2189330" cy="1751682"/>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solidFill>
              </a:rPr>
              <a:t>청구항</a:t>
            </a:r>
            <a:r>
              <a:rPr lang="ko-KR" altLang="en-US" sz="1400" dirty="0">
                <a:solidFill>
                  <a:schemeClr val="tx1"/>
                </a:solidFill>
              </a:rPr>
              <a:t> </a:t>
            </a:r>
            <a:r>
              <a:rPr lang="en-US" altLang="ko-KR" sz="1400" dirty="0">
                <a:solidFill>
                  <a:schemeClr val="tx1"/>
                </a:solidFill>
              </a:rPr>
              <a:t>3</a:t>
            </a:r>
            <a:r>
              <a:rPr lang="ko-KR" altLang="en-US" sz="1400" dirty="0">
                <a:solidFill>
                  <a:schemeClr val="tx1"/>
                </a:solidFill>
              </a:rPr>
              <a:t>에 대해서는 특허출원을 하였을 때에 특허를 받을 수 있을 것을 판단하여야 하지만</a:t>
            </a:r>
            <a:r>
              <a:rPr lang="en-US" altLang="ko-KR" sz="1400" dirty="0">
                <a:solidFill>
                  <a:schemeClr val="tx1"/>
                </a:solidFill>
              </a:rPr>
              <a:t>, </a:t>
            </a:r>
            <a:r>
              <a:rPr lang="ko-KR" altLang="en-US" sz="1400" dirty="0" err="1">
                <a:solidFill>
                  <a:schemeClr val="tx1"/>
                </a:solidFill>
              </a:rPr>
              <a:t>청구항</a:t>
            </a:r>
            <a:r>
              <a:rPr lang="ko-KR" altLang="en-US" sz="1400" dirty="0">
                <a:solidFill>
                  <a:schemeClr val="tx1"/>
                </a:solidFill>
              </a:rPr>
              <a:t> </a:t>
            </a:r>
            <a:r>
              <a:rPr lang="en-US" altLang="ko-KR" sz="1400" dirty="0">
                <a:solidFill>
                  <a:schemeClr val="tx1"/>
                </a:solidFill>
              </a:rPr>
              <a:t>1</a:t>
            </a:r>
            <a:r>
              <a:rPr lang="ko-KR" altLang="en-US" sz="1400" dirty="0">
                <a:solidFill>
                  <a:schemeClr val="tx1"/>
                </a:solidFill>
              </a:rPr>
              <a:t>에 대해서는 특허출원을 하였을 때에 특허를 받을 수 있을 것을 판단하지 아니함</a:t>
            </a:r>
          </a:p>
        </p:txBody>
      </p:sp>
      <p:sp>
        <p:nvSpPr>
          <p:cNvPr id="32" name="직사각형 31"/>
          <p:cNvSpPr/>
          <p:nvPr/>
        </p:nvSpPr>
        <p:spPr>
          <a:xfrm>
            <a:off x="9012804" y="3249974"/>
            <a:ext cx="2189330" cy="1277956"/>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신청한 취지인 </a:t>
            </a:r>
            <a:r>
              <a:rPr lang="ko-KR" altLang="en-US" sz="1400" dirty="0" err="1">
                <a:solidFill>
                  <a:schemeClr val="tx1"/>
                </a:solidFill>
              </a:rPr>
              <a:t>청구항</a:t>
            </a:r>
            <a:r>
              <a:rPr lang="ko-KR" altLang="en-US" sz="1400" dirty="0">
                <a:solidFill>
                  <a:schemeClr val="tx1"/>
                </a:solidFill>
              </a:rPr>
              <a:t> </a:t>
            </a:r>
            <a:r>
              <a:rPr lang="en-US" altLang="ko-KR" sz="1400" dirty="0">
                <a:solidFill>
                  <a:schemeClr val="tx1"/>
                </a:solidFill>
              </a:rPr>
              <a:t>1</a:t>
            </a:r>
            <a:r>
              <a:rPr lang="ko-KR" altLang="en-US" sz="1400" dirty="0">
                <a:solidFill>
                  <a:schemeClr val="tx1"/>
                </a:solidFill>
              </a:rPr>
              <a:t>과 </a:t>
            </a:r>
            <a:r>
              <a:rPr lang="ko-KR" altLang="en-US" sz="1400" dirty="0" err="1">
                <a:solidFill>
                  <a:schemeClr val="tx1"/>
                </a:solidFill>
              </a:rPr>
              <a:t>청구항</a:t>
            </a:r>
            <a:r>
              <a:rPr lang="ko-KR" altLang="en-US" sz="1400" dirty="0">
                <a:solidFill>
                  <a:schemeClr val="tx1"/>
                </a:solidFill>
              </a:rPr>
              <a:t> </a:t>
            </a:r>
            <a:r>
              <a:rPr lang="en-US" altLang="ko-KR" sz="1400" dirty="0">
                <a:solidFill>
                  <a:schemeClr val="tx1"/>
                </a:solidFill>
              </a:rPr>
              <a:t>2</a:t>
            </a:r>
            <a:r>
              <a:rPr lang="ko-KR" altLang="en-US" sz="1400" dirty="0">
                <a:solidFill>
                  <a:schemeClr val="tx1"/>
                </a:solidFill>
              </a:rPr>
              <a:t>에 대해서만 특허무효사유를 판단할 수 있으며</a:t>
            </a:r>
            <a:r>
              <a:rPr lang="en-US" altLang="ko-KR" sz="1400" dirty="0">
                <a:solidFill>
                  <a:schemeClr val="tx1"/>
                </a:solidFill>
              </a:rPr>
              <a:t>, </a:t>
            </a:r>
            <a:r>
              <a:rPr lang="ko-KR" altLang="en-US" sz="1400" dirty="0" err="1">
                <a:solidFill>
                  <a:schemeClr val="tx1"/>
                </a:solidFill>
              </a:rPr>
              <a:t>청구항</a:t>
            </a:r>
            <a:r>
              <a:rPr lang="ko-KR" altLang="en-US" sz="1400" dirty="0">
                <a:solidFill>
                  <a:schemeClr val="tx1"/>
                </a:solidFill>
              </a:rPr>
              <a:t> </a:t>
            </a:r>
            <a:r>
              <a:rPr lang="en-US" altLang="ko-KR" sz="1400" dirty="0">
                <a:solidFill>
                  <a:schemeClr val="tx1"/>
                </a:solidFill>
              </a:rPr>
              <a:t>3</a:t>
            </a:r>
            <a:r>
              <a:rPr lang="ko-KR" altLang="en-US" sz="1400" dirty="0">
                <a:solidFill>
                  <a:schemeClr val="tx1"/>
                </a:solidFill>
              </a:rPr>
              <a:t>에 대해서는 판단할 수 없음</a:t>
            </a:r>
          </a:p>
        </p:txBody>
      </p:sp>
      <p:sp>
        <p:nvSpPr>
          <p:cNvPr id="33" name="타원 32"/>
          <p:cNvSpPr/>
          <p:nvPr/>
        </p:nvSpPr>
        <p:spPr>
          <a:xfrm>
            <a:off x="8322969" y="285255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dirty="0">
              <a:solidFill>
                <a:schemeClr val="tx1"/>
              </a:solidFill>
              <a:latin typeface="+mn-ea"/>
            </a:endParaRPr>
          </a:p>
        </p:txBody>
      </p:sp>
      <p:sp>
        <p:nvSpPr>
          <p:cNvPr id="8" name="직사각형 7"/>
          <p:cNvSpPr/>
          <p:nvPr/>
        </p:nvSpPr>
        <p:spPr>
          <a:xfrm>
            <a:off x="8796133" y="4663301"/>
            <a:ext cx="2622672" cy="954107"/>
          </a:xfrm>
          <a:prstGeom prst="rect">
            <a:avLst/>
          </a:prstGeom>
          <a:solidFill>
            <a:schemeClr val="accent4">
              <a:lumMod val="20000"/>
              <a:lumOff val="80000"/>
            </a:schemeClr>
          </a:solidFill>
          <a:ln>
            <a:solidFill>
              <a:schemeClr val="bg1">
                <a:lumMod val="50000"/>
              </a:schemeClr>
            </a:solidFill>
          </a:ln>
        </p:spPr>
        <p:txBody>
          <a:bodyPr wrap="square">
            <a:spAutoFit/>
          </a:bodyPr>
          <a:lstStyle/>
          <a:p>
            <a:pPr algn="ctr"/>
            <a:r>
              <a:rPr lang="ko-KR" altLang="en-US" sz="1400" dirty="0">
                <a:latin typeface="+mn-ea"/>
              </a:rPr>
              <a:t>정정이 적법하면 정정 후 명세서 또는 도면에 의하여</a:t>
            </a:r>
            <a:r>
              <a:rPr lang="en-US" altLang="ko-KR" sz="1400" dirty="0">
                <a:latin typeface="+mn-ea"/>
              </a:rPr>
              <a:t>, </a:t>
            </a:r>
            <a:r>
              <a:rPr lang="ko-KR" altLang="en-US" sz="1400" dirty="0">
                <a:latin typeface="+mn-ea"/>
              </a:rPr>
              <a:t>정정이 </a:t>
            </a:r>
            <a:r>
              <a:rPr lang="ko-KR" altLang="en-US" sz="1400" dirty="0" err="1">
                <a:latin typeface="+mn-ea"/>
              </a:rPr>
              <a:t>부적법하면</a:t>
            </a:r>
            <a:r>
              <a:rPr lang="ko-KR" altLang="en-US" sz="1400" dirty="0">
                <a:latin typeface="+mn-ea"/>
              </a:rPr>
              <a:t> 정정 전 명세서 또는 도면에 의하여 특허무효사유를 판단</a:t>
            </a:r>
          </a:p>
        </p:txBody>
      </p:sp>
      <p:cxnSp>
        <p:nvCxnSpPr>
          <p:cNvPr id="11" name="꺾인 연결선 10"/>
          <p:cNvCxnSpPr>
            <a:stCxn id="8" idx="1"/>
            <a:endCxn id="33" idx="4"/>
          </p:cNvCxnSpPr>
          <p:nvPr/>
        </p:nvCxnSpPr>
        <p:spPr>
          <a:xfrm rot="10800000">
            <a:off x="8400339" y="3013893"/>
            <a:ext cx="395795" cy="2126463"/>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aphicFrame>
        <p:nvGraphicFramePr>
          <p:cNvPr id="34" name="표 33"/>
          <p:cNvGraphicFramePr>
            <a:graphicFrameLocks noGrp="1"/>
          </p:cNvGraphicFramePr>
          <p:nvPr/>
        </p:nvGraphicFramePr>
        <p:xfrm>
          <a:off x="328661" y="5189956"/>
          <a:ext cx="7300919" cy="1483360"/>
        </p:xfrm>
        <a:graphic>
          <a:graphicData uri="http://schemas.openxmlformats.org/drawingml/2006/table">
            <a:tbl>
              <a:tblPr>
                <a:tableStyleId>{8799B23B-EC83-4686-B30A-512413B5E67A}</a:tableStyleId>
              </a:tblPr>
              <a:tblGrid>
                <a:gridCol w="834063">
                  <a:extLst>
                    <a:ext uri="{9D8B030D-6E8A-4147-A177-3AD203B41FA5}">
                      <a16:colId xmlns:a16="http://schemas.microsoft.com/office/drawing/2014/main" val="970776889"/>
                    </a:ext>
                  </a:extLst>
                </a:gridCol>
                <a:gridCol w="1616714">
                  <a:extLst>
                    <a:ext uri="{9D8B030D-6E8A-4147-A177-3AD203B41FA5}">
                      <a16:colId xmlns:a16="http://schemas.microsoft.com/office/drawing/2014/main" val="2875979203"/>
                    </a:ext>
                  </a:extLst>
                </a:gridCol>
                <a:gridCol w="1616714">
                  <a:extLst>
                    <a:ext uri="{9D8B030D-6E8A-4147-A177-3AD203B41FA5}">
                      <a16:colId xmlns:a16="http://schemas.microsoft.com/office/drawing/2014/main" val="3971055471"/>
                    </a:ext>
                  </a:extLst>
                </a:gridCol>
                <a:gridCol w="1616714">
                  <a:extLst>
                    <a:ext uri="{9D8B030D-6E8A-4147-A177-3AD203B41FA5}">
                      <a16:colId xmlns:a16="http://schemas.microsoft.com/office/drawing/2014/main" val="1162206"/>
                    </a:ext>
                  </a:extLst>
                </a:gridCol>
                <a:gridCol w="1616714">
                  <a:extLst>
                    <a:ext uri="{9D8B030D-6E8A-4147-A177-3AD203B41FA5}">
                      <a16:colId xmlns:a16="http://schemas.microsoft.com/office/drawing/2014/main" val="1323810786"/>
                    </a:ext>
                  </a:extLst>
                </a:gridCol>
              </a:tblGrid>
              <a:tr h="370840">
                <a:tc>
                  <a:txBody>
                    <a:bodyPr/>
                    <a:lstStyle/>
                    <a:p>
                      <a:pPr algn="ctr" latinLnBrk="1"/>
                      <a:r>
                        <a:rPr lang="ko-KR" altLang="en-US" sz="1200" dirty="0" err="1"/>
                        <a:t>청구항</a:t>
                      </a:r>
                      <a:endParaRPr lang="ko-KR" altLang="en-US" sz="1200" dirty="0"/>
                    </a:p>
                  </a:txBody>
                  <a:tcPr anchor="ctr">
                    <a:solidFill>
                      <a:schemeClr val="accent3">
                        <a:lumMod val="20000"/>
                        <a:lumOff val="80000"/>
                      </a:schemeClr>
                    </a:solidFill>
                  </a:tcPr>
                </a:tc>
                <a:tc>
                  <a:txBody>
                    <a:bodyPr/>
                    <a:lstStyle/>
                    <a:p>
                      <a:pPr algn="ctr" latinLnBrk="1"/>
                      <a:r>
                        <a:rPr lang="ko-KR" altLang="en-US" sz="1200" dirty="0"/>
                        <a:t>특허무효심판청구</a:t>
                      </a:r>
                    </a:p>
                  </a:txBody>
                  <a:tcPr anchor="ctr">
                    <a:solidFill>
                      <a:schemeClr val="accent3">
                        <a:lumMod val="20000"/>
                        <a:lumOff val="80000"/>
                      </a:schemeClr>
                    </a:solidFill>
                  </a:tcPr>
                </a:tc>
                <a:tc>
                  <a:txBody>
                    <a:bodyPr/>
                    <a:lstStyle/>
                    <a:p>
                      <a:pPr algn="ctr" latinLnBrk="1"/>
                      <a:r>
                        <a:rPr lang="ko-KR" altLang="en-US" sz="1200" dirty="0" err="1"/>
                        <a:t>정정청구</a:t>
                      </a:r>
                      <a:endParaRPr lang="ko-KR" altLang="en-US" sz="1200" dirty="0"/>
                    </a:p>
                  </a:txBody>
                  <a:tcPr anchor="ctr">
                    <a:solidFill>
                      <a:schemeClr val="accent3">
                        <a:lumMod val="20000"/>
                        <a:lumOff val="80000"/>
                      </a:schemeClr>
                    </a:solidFill>
                  </a:tcPr>
                </a:tc>
                <a:tc>
                  <a:txBody>
                    <a:bodyPr/>
                    <a:lstStyle/>
                    <a:p>
                      <a:pPr algn="ctr" latinLnBrk="1"/>
                      <a:r>
                        <a:rPr lang="ko-KR" altLang="en-US" sz="1200" dirty="0"/>
                        <a:t>정정적법성판단</a:t>
                      </a:r>
                    </a:p>
                  </a:txBody>
                  <a:tcPr anchor="ctr">
                    <a:solidFill>
                      <a:schemeClr val="accent3">
                        <a:lumMod val="20000"/>
                        <a:lumOff val="80000"/>
                      </a:schemeClr>
                    </a:solidFill>
                  </a:tcPr>
                </a:tc>
                <a:tc>
                  <a:txBody>
                    <a:bodyPr/>
                    <a:lstStyle/>
                    <a:p>
                      <a:pPr algn="ctr" latinLnBrk="1"/>
                      <a:r>
                        <a:rPr lang="ko-KR" altLang="en-US" sz="1200" dirty="0"/>
                        <a:t>무효사유판단</a:t>
                      </a:r>
                    </a:p>
                  </a:txBody>
                  <a:tcPr anchor="ctr">
                    <a:solidFill>
                      <a:schemeClr val="accent3">
                        <a:lumMod val="20000"/>
                        <a:lumOff val="80000"/>
                      </a:schemeClr>
                    </a:solidFill>
                  </a:tcPr>
                </a:tc>
                <a:extLst>
                  <a:ext uri="{0D108BD9-81ED-4DB2-BD59-A6C34878D82A}">
                    <a16:rowId xmlns:a16="http://schemas.microsoft.com/office/drawing/2014/main" val="1350498700"/>
                  </a:ext>
                </a:extLst>
              </a:tr>
              <a:tr h="370840">
                <a:tc>
                  <a:txBody>
                    <a:bodyPr/>
                    <a:lstStyle/>
                    <a:p>
                      <a:pPr algn="ctr" latinLnBrk="1"/>
                      <a:r>
                        <a:rPr lang="en-US" altLang="ko-KR" sz="1200" dirty="0"/>
                        <a:t>1</a:t>
                      </a:r>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kern="1200" dirty="0">
                          <a:solidFill>
                            <a:schemeClr val="tx1"/>
                          </a:solidFill>
                          <a:effectLst/>
                          <a:latin typeface="+mn-lt"/>
                          <a:ea typeface="+mn-ea"/>
                          <a:cs typeface="+mn-cs"/>
                        </a:rPr>
                        <a:t>○</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kern="1200" dirty="0">
                          <a:solidFill>
                            <a:schemeClr val="tx1"/>
                          </a:solidFill>
                          <a:effectLst/>
                          <a:latin typeface="+mn-lt"/>
                          <a:ea typeface="+mn-ea"/>
                          <a:cs typeface="+mn-cs"/>
                        </a:rPr>
                        <a:t>○</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kern="1200" dirty="0">
                          <a:solidFill>
                            <a:schemeClr val="tx1"/>
                          </a:solidFill>
                          <a:effectLst/>
                          <a:latin typeface="+mn-lt"/>
                          <a:ea typeface="+mn-ea"/>
                          <a:cs typeface="+mn-cs"/>
                        </a:rPr>
                        <a:t>○</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kern="1200" dirty="0">
                          <a:solidFill>
                            <a:schemeClr val="tx1"/>
                          </a:solidFill>
                          <a:effectLst/>
                          <a:latin typeface="+mn-lt"/>
                          <a:ea typeface="+mn-ea"/>
                          <a:cs typeface="+mn-cs"/>
                        </a:rPr>
                        <a:t>○</a:t>
                      </a:r>
                    </a:p>
                  </a:txBody>
                  <a:tcPr anchor="ctr"/>
                </a:tc>
                <a:extLst>
                  <a:ext uri="{0D108BD9-81ED-4DB2-BD59-A6C34878D82A}">
                    <a16:rowId xmlns:a16="http://schemas.microsoft.com/office/drawing/2014/main" val="3769718468"/>
                  </a:ext>
                </a:extLst>
              </a:tr>
              <a:tr h="370840">
                <a:tc>
                  <a:txBody>
                    <a:bodyPr/>
                    <a:lstStyle/>
                    <a:p>
                      <a:pPr algn="ctr" latinLnBrk="1"/>
                      <a:r>
                        <a:rPr lang="en-US" altLang="ko-KR" sz="1200" dirty="0"/>
                        <a:t>2</a:t>
                      </a:r>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kern="1200" dirty="0">
                          <a:solidFill>
                            <a:schemeClr val="tx1"/>
                          </a:solidFill>
                          <a:effectLst/>
                          <a:latin typeface="+mn-lt"/>
                          <a:ea typeface="+mn-ea"/>
                          <a:cs typeface="+mn-cs"/>
                        </a:rPr>
                        <a:t>○</a:t>
                      </a:r>
                    </a:p>
                  </a:txBody>
                  <a:tcPr anchor="ctr"/>
                </a:tc>
                <a:tc>
                  <a:txBody>
                    <a:bodyPr/>
                    <a:lstStyle/>
                    <a:p>
                      <a:pPr algn="ctr" latinLnBrk="1"/>
                      <a:endParaRPr lang="ko-KR" altLang="en-US" sz="1200" dirty="0"/>
                    </a:p>
                  </a:txBody>
                  <a:tcPr anchor="ctr"/>
                </a:tc>
                <a:tc>
                  <a:txBody>
                    <a:bodyPr/>
                    <a:lstStyle/>
                    <a:p>
                      <a:pPr algn="ctr" latinLnBrk="1"/>
                      <a:endParaRPr lang="ko-KR" altLang="en-US" sz="1200" dirty="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kern="1200" dirty="0">
                          <a:solidFill>
                            <a:schemeClr val="tx1"/>
                          </a:solidFill>
                          <a:effectLst/>
                          <a:latin typeface="+mn-lt"/>
                          <a:ea typeface="+mn-ea"/>
                          <a:cs typeface="+mn-cs"/>
                        </a:rPr>
                        <a:t>○</a:t>
                      </a:r>
                    </a:p>
                  </a:txBody>
                  <a:tcPr anchor="ctr"/>
                </a:tc>
                <a:extLst>
                  <a:ext uri="{0D108BD9-81ED-4DB2-BD59-A6C34878D82A}">
                    <a16:rowId xmlns:a16="http://schemas.microsoft.com/office/drawing/2014/main" val="2444678016"/>
                  </a:ext>
                </a:extLst>
              </a:tr>
              <a:tr h="370840">
                <a:tc>
                  <a:txBody>
                    <a:bodyPr/>
                    <a:lstStyle/>
                    <a:p>
                      <a:pPr algn="ctr" latinLnBrk="1"/>
                      <a:r>
                        <a:rPr lang="en-US" altLang="ko-KR" sz="1200" dirty="0"/>
                        <a:t>3</a:t>
                      </a:r>
                      <a:endParaRPr lang="ko-KR" altLang="en-US" sz="1200" dirty="0"/>
                    </a:p>
                  </a:txBody>
                  <a:tcPr anchor="ctr"/>
                </a:tc>
                <a:tc>
                  <a:txBody>
                    <a:bodyPr/>
                    <a:lstStyle/>
                    <a:p>
                      <a:pPr algn="ctr" latinLnBrk="1"/>
                      <a:endParaRPr lang="ko-KR" altLang="en-US" sz="1200"/>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kern="1200" dirty="0">
                          <a:solidFill>
                            <a:schemeClr val="tx1"/>
                          </a:solidFill>
                          <a:effectLst/>
                          <a:latin typeface="+mn-lt"/>
                          <a:ea typeface="+mn-ea"/>
                          <a:cs typeface="+mn-cs"/>
                        </a:rPr>
                        <a:t>○</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kern="1200" dirty="0">
                          <a:solidFill>
                            <a:schemeClr val="tx1"/>
                          </a:solidFill>
                          <a:effectLst/>
                          <a:latin typeface="+mn-lt"/>
                          <a:ea typeface="+mn-ea"/>
                          <a:cs typeface="+mn-cs"/>
                        </a:rPr>
                        <a:t>○</a:t>
                      </a:r>
                    </a:p>
                  </a:txBody>
                  <a:tcPr anchor="ctr"/>
                </a:tc>
                <a:tc>
                  <a:txBody>
                    <a:bodyPr/>
                    <a:lstStyle/>
                    <a:p>
                      <a:pPr algn="ctr" latinLnBrk="1"/>
                      <a:r>
                        <a:rPr lang="en-US" altLang="ko-KR" sz="1200" dirty="0"/>
                        <a:t>×(</a:t>
                      </a:r>
                      <a:r>
                        <a:rPr lang="ko-KR" altLang="en-US" sz="1200" dirty="0"/>
                        <a:t>제</a:t>
                      </a:r>
                      <a:r>
                        <a:rPr lang="en-US" altLang="ko-KR" sz="1200" dirty="0"/>
                        <a:t>159</a:t>
                      </a:r>
                      <a:r>
                        <a:rPr lang="ko-KR" altLang="en-US" sz="1200" dirty="0"/>
                        <a:t>조제</a:t>
                      </a:r>
                      <a:r>
                        <a:rPr lang="en-US" altLang="ko-KR" sz="1200" dirty="0"/>
                        <a:t>2</a:t>
                      </a:r>
                      <a:r>
                        <a:rPr lang="ko-KR" altLang="en-US" sz="1200" dirty="0"/>
                        <a:t>항</a:t>
                      </a:r>
                      <a:r>
                        <a:rPr lang="en-US" altLang="ko-KR" sz="1200" dirty="0"/>
                        <a:t>)</a:t>
                      </a:r>
                      <a:endParaRPr lang="ko-KR" altLang="en-US" sz="1200" dirty="0"/>
                    </a:p>
                  </a:txBody>
                  <a:tcPr anchor="ctr"/>
                </a:tc>
                <a:extLst>
                  <a:ext uri="{0D108BD9-81ED-4DB2-BD59-A6C34878D82A}">
                    <a16:rowId xmlns:a16="http://schemas.microsoft.com/office/drawing/2014/main" val="801056632"/>
                  </a:ext>
                </a:extLst>
              </a:tr>
            </a:tbl>
          </a:graphicData>
        </a:graphic>
      </p:graphicFrame>
      <p:sp>
        <p:nvSpPr>
          <p:cNvPr id="37" name="모서리가 둥근 직사각형 36"/>
          <p:cNvSpPr/>
          <p:nvPr/>
        </p:nvSpPr>
        <p:spPr>
          <a:xfrm>
            <a:off x="4382611" y="5614079"/>
            <a:ext cx="3246970" cy="281672"/>
          </a:xfrm>
          <a:prstGeom prst="roundRect">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8" name="TextBox 37"/>
          <p:cNvSpPr txBox="1"/>
          <p:nvPr/>
        </p:nvSpPr>
        <p:spPr>
          <a:xfrm>
            <a:off x="8889107" y="6177338"/>
            <a:ext cx="2172390" cy="400110"/>
          </a:xfrm>
          <a:prstGeom prst="rect">
            <a:avLst/>
          </a:prstGeom>
          <a:noFill/>
          <a:ln>
            <a:noFill/>
          </a:ln>
        </p:spPr>
        <p:txBody>
          <a:bodyPr wrap="none" rtlCol="0">
            <a:spAutoFit/>
          </a:bodyPr>
          <a:lstStyle/>
          <a:p>
            <a:pPr algn="ctr"/>
            <a:r>
              <a:rPr lang="ko-KR" altLang="en-US" sz="2000" dirty="0" err="1">
                <a:solidFill>
                  <a:srgbClr val="FF0000"/>
                </a:solidFill>
              </a:rPr>
              <a:t>특허요건</a:t>
            </a:r>
            <a:r>
              <a:rPr lang="ko-KR" altLang="en-US" sz="2000" dirty="0">
                <a:solidFill>
                  <a:srgbClr val="FF0000"/>
                </a:solidFill>
              </a:rPr>
              <a:t> 중복 판단</a:t>
            </a:r>
            <a:endParaRPr lang="en-US" altLang="ko-KR" sz="2000" dirty="0">
              <a:solidFill>
                <a:srgbClr val="FF0000"/>
              </a:solidFill>
            </a:endParaRPr>
          </a:p>
        </p:txBody>
      </p:sp>
      <p:cxnSp>
        <p:nvCxnSpPr>
          <p:cNvPr id="39" name="직선 화살표 연결선 38"/>
          <p:cNvCxnSpPr>
            <a:stCxn id="37" idx="3"/>
            <a:endCxn id="38" idx="1"/>
          </p:cNvCxnSpPr>
          <p:nvPr/>
        </p:nvCxnSpPr>
        <p:spPr>
          <a:xfrm>
            <a:off x="7629581" y="5754915"/>
            <a:ext cx="1259526" cy="622478"/>
          </a:xfrm>
          <a:prstGeom prst="straightConnector1">
            <a:avLst/>
          </a:prstGeom>
          <a:ln w="38100">
            <a:solidFill>
              <a:srgbClr val="FF0000"/>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 name="슬라이드 번호 개체 틀 4"/>
          <p:cNvSpPr>
            <a:spLocks noGrp="1"/>
          </p:cNvSpPr>
          <p:nvPr>
            <p:ph type="sldNum" sz="quarter" idx="4294967295"/>
          </p:nvPr>
        </p:nvSpPr>
        <p:spPr>
          <a:xfrm>
            <a:off x="11125200" y="0"/>
            <a:ext cx="1066800" cy="711200"/>
          </a:xfrm>
        </p:spPr>
        <p:txBody>
          <a:bodyPr/>
          <a:lstStyle/>
          <a:p>
            <a:r>
              <a:rPr lang="en-US" altLang="ko-KR"/>
              <a:t>510</a:t>
            </a:r>
            <a:endParaRPr lang="ko-KR" altLang="en-US" dirty="0"/>
          </a:p>
        </p:txBody>
      </p:sp>
    </p:spTree>
    <p:extLst>
      <p:ext uri="{BB962C8B-B14F-4D97-AF65-F5344CB8AC3E}">
        <p14:creationId xmlns:p14="http://schemas.microsoft.com/office/powerpoint/2010/main" val="2259550009"/>
      </p:ext>
    </p:extLst>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sz="1600" dirty="0"/>
              <a:t>제</a:t>
            </a:r>
            <a:r>
              <a:rPr lang="en-US" altLang="ko-KR" sz="1600" dirty="0"/>
              <a:t>132</a:t>
            </a:r>
            <a:r>
              <a:rPr lang="ko-KR" altLang="en-US" sz="1600" dirty="0"/>
              <a:t>조의</a:t>
            </a:r>
            <a:r>
              <a:rPr lang="en-US" altLang="ko-KR" sz="1600" dirty="0"/>
              <a:t>3, </a:t>
            </a:r>
            <a:br>
              <a:rPr lang="en-US" altLang="ko-KR" sz="1600" dirty="0"/>
            </a:br>
            <a:r>
              <a:rPr lang="ko-KR" altLang="en-US" sz="1600" dirty="0"/>
              <a:t>제</a:t>
            </a:r>
            <a:r>
              <a:rPr lang="en-US" altLang="ko-KR" sz="1600" dirty="0"/>
              <a:t>133</a:t>
            </a:r>
            <a:r>
              <a:rPr lang="ko-KR" altLang="en-US" sz="1600" dirty="0"/>
              <a:t>조의</a:t>
            </a:r>
            <a:r>
              <a:rPr lang="en-US" altLang="ko-KR" sz="1600" dirty="0"/>
              <a:t>2, </a:t>
            </a:r>
            <a:r>
              <a:rPr lang="ko-KR" altLang="en-US" sz="1600" dirty="0"/>
              <a:t>제</a:t>
            </a:r>
            <a:r>
              <a:rPr lang="en-US" altLang="ko-KR" sz="1600" dirty="0"/>
              <a:t>137</a:t>
            </a:r>
            <a:r>
              <a:rPr lang="ko-KR" altLang="en-US" sz="1600" dirty="0"/>
              <a:t>조</a:t>
            </a:r>
          </a:p>
        </p:txBody>
      </p:sp>
      <p:sp>
        <p:nvSpPr>
          <p:cNvPr id="3" name="텍스트 개체 틀 2"/>
          <p:cNvSpPr>
            <a:spLocks noGrp="1"/>
          </p:cNvSpPr>
          <p:nvPr>
            <p:ph type="body" sz="quarter" idx="13"/>
          </p:nvPr>
        </p:nvSpPr>
        <p:spPr/>
        <p:txBody>
          <a:bodyPr/>
          <a:lstStyle/>
          <a:p>
            <a:r>
              <a:rPr lang="ko-KR" altLang="en-US" dirty="0"/>
              <a:t>일체 분가분의 </a:t>
            </a:r>
            <a:r>
              <a:rPr lang="en-US" altLang="ko-KR" dirty="0"/>
              <a:t>SET CASE</a:t>
            </a:r>
            <a:endParaRPr lang="ko-KR" altLang="en-US" dirty="0"/>
          </a:p>
        </p:txBody>
      </p:sp>
      <p:cxnSp>
        <p:nvCxnSpPr>
          <p:cNvPr id="23" name="직선 연결선 22">
            <a:extLst>
              <a:ext uri="{FF2B5EF4-FFF2-40B4-BE49-F238E27FC236}">
                <a16:creationId xmlns:a16="http://schemas.microsoft.com/office/drawing/2014/main" id="{BC744699-A9D8-41E8-AC09-E31EE1EB6442}"/>
              </a:ext>
            </a:extLst>
          </p:cNvPr>
          <p:cNvCxnSpPr/>
          <p:nvPr/>
        </p:nvCxnSpPr>
        <p:spPr>
          <a:xfrm>
            <a:off x="0" y="2957445"/>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직사각형 54">
            <a:extLst>
              <a:ext uri="{FF2B5EF4-FFF2-40B4-BE49-F238E27FC236}">
                <a16:creationId xmlns:a16="http://schemas.microsoft.com/office/drawing/2014/main" id="{88F9BA11-776F-458B-AEBF-785908167EF1}"/>
              </a:ext>
            </a:extLst>
          </p:cNvPr>
          <p:cNvSpPr/>
          <p:nvPr/>
        </p:nvSpPr>
        <p:spPr>
          <a:xfrm>
            <a:off x="232372" y="1357007"/>
            <a:ext cx="11681987" cy="1600438"/>
          </a:xfrm>
          <a:prstGeom prst="rect">
            <a:avLst/>
          </a:prstGeom>
        </p:spPr>
        <p:txBody>
          <a:bodyPr wrap="square">
            <a:spAutoFit/>
          </a:bodyPr>
          <a:lstStyle/>
          <a:p>
            <a:pPr algn="just" fontAlgn="base"/>
            <a:r>
              <a:rPr lang="ko-KR" altLang="en-US" sz="1400" dirty="0"/>
              <a:t>특허무효심판절차에서 정정청구가 있는 경우</a:t>
            </a:r>
            <a:r>
              <a:rPr lang="en-US" altLang="ko-KR" sz="1400" dirty="0"/>
              <a:t>, </a:t>
            </a:r>
            <a:r>
              <a:rPr lang="ko-KR" altLang="en-US" sz="1400" dirty="0">
                <a:solidFill>
                  <a:schemeClr val="accent3">
                    <a:lumMod val="50000"/>
                  </a:schemeClr>
                </a:solidFill>
                <a:highlight>
                  <a:srgbClr val="FFFF00"/>
                </a:highlight>
              </a:rPr>
              <a:t>정정의 인정 여부는 무효심판절차에 대한 결정절차에서 함께 </a:t>
            </a:r>
            <a:r>
              <a:rPr lang="ko-KR" altLang="en-US" sz="1400" dirty="0" err="1">
                <a:solidFill>
                  <a:schemeClr val="accent3">
                    <a:lumMod val="50000"/>
                  </a:schemeClr>
                </a:solidFill>
                <a:highlight>
                  <a:srgbClr val="FFFF00"/>
                </a:highlight>
              </a:rPr>
              <a:t>심리되는</a:t>
            </a:r>
            <a:r>
              <a:rPr lang="ko-KR" altLang="en-US" sz="1400" dirty="0">
                <a:solidFill>
                  <a:schemeClr val="accent3">
                    <a:lumMod val="50000"/>
                  </a:schemeClr>
                </a:solidFill>
                <a:highlight>
                  <a:srgbClr val="FFFF00"/>
                </a:highlight>
              </a:rPr>
              <a:t> 것이므로</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독립된 정정심판청구의 경우와 달리 정정만이 따로 확정되는 것이 아니라 무효심판의 </a:t>
            </a:r>
            <a:r>
              <a:rPr lang="ko-KR" altLang="en-US" sz="1400" dirty="0" err="1">
                <a:solidFill>
                  <a:schemeClr val="accent3">
                    <a:lumMod val="50000"/>
                  </a:schemeClr>
                </a:solidFill>
                <a:highlight>
                  <a:srgbClr val="FFFF00"/>
                </a:highlight>
              </a:rPr>
              <a:t>심결이</a:t>
            </a:r>
            <a:r>
              <a:rPr lang="ko-KR" altLang="en-US" sz="1400" dirty="0">
                <a:solidFill>
                  <a:schemeClr val="accent3">
                    <a:lumMod val="50000"/>
                  </a:schemeClr>
                </a:solidFill>
                <a:highlight>
                  <a:srgbClr val="FFFF00"/>
                </a:highlight>
              </a:rPr>
              <a:t> 확정되는 때에 함께 확정된다</a:t>
            </a:r>
            <a:r>
              <a:rPr lang="ko-KR" altLang="en-US" sz="1400" dirty="0"/>
              <a:t> 할 </a:t>
            </a:r>
            <a:r>
              <a:rPr lang="ko-KR" altLang="en-US" sz="1400" dirty="0" err="1"/>
              <a:t>것인바</a:t>
            </a:r>
            <a:r>
              <a:rPr lang="en-US" altLang="ko-KR" sz="1400" dirty="0"/>
              <a:t>(</a:t>
            </a:r>
            <a:r>
              <a:rPr lang="ko-KR" altLang="en-US" sz="1400" dirty="0"/>
              <a:t>대법원 </a:t>
            </a:r>
            <a:r>
              <a:rPr lang="en-US" altLang="ko-KR" sz="1400" dirty="0"/>
              <a:t>2008.6.26. </a:t>
            </a:r>
            <a:r>
              <a:rPr lang="ko-KR" altLang="en-US" sz="1400" dirty="0"/>
              <a:t>선고 </a:t>
            </a:r>
            <a:r>
              <a:rPr lang="en-US" altLang="ko-KR" sz="1400" dirty="0"/>
              <a:t>2006</a:t>
            </a:r>
            <a:r>
              <a:rPr lang="ko-KR" altLang="en-US" sz="1400" dirty="0"/>
              <a:t>후</a:t>
            </a:r>
            <a:r>
              <a:rPr lang="en-US" altLang="ko-KR" sz="1400" dirty="0"/>
              <a:t>2912 </a:t>
            </a:r>
            <a:r>
              <a:rPr lang="ko-KR" altLang="en-US" sz="1400" dirty="0"/>
              <a:t>판결 참조</a:t>
            </a:r>
            <a:r>
              <a:rPr lang="en-US" altLang="ko-KR" sz="1400" dirty="0"/>
              <a:t>), </a:t>
            </a:r>
            <a:r>
              <a:rPr lang="ko-KR" altLang="en-US" sz="1400" dirty="0"/>
              <a:t>위에서 본 바와 같이 원심판결 중 이 사건 정정청구 및 이 사건 제</a:t>
            </a:r>
            <a:r>
              <a:rPr lang="en-US" altLang="ko-KR" sz="1400" dirty="0"/>
              <a:t>1, 2, 4, 5</a:t>
            </a:r>
            <a:r>
              <a:rPr lang="ko-KR" altLang="en-US" sz="1400" dirty="0"/>
              <a:t>항 발명의 특허무효에 관한 부분에 대한 피고들의 상고는 이유 없다 할 것이나</a:t>
            </a:r>
            <a:r>
              <a:rPr lang="en-US" altLang="ko-KR" sz="1400" dirty="0"/>
              <a:t>, </a:t>
            </a:r>
            <a:r>
              <a:rPr lang="ko-KR" altLang="en-US" sz="1400" dirty="0"/>
              <a:t>원심판결 중 이 사건 제</a:t>
            </a:r>
            <a:r>
              <a:rPr lang="en-US" altLang="ko-KR" sz="1400" dirty="0"/>
              <a:t>3</a:t>
            </a:r>
            <a:r>
              <a:rPr lang="ko-KR" altLang="en-US" sz="1400" dirty="0"/>
              <a:t>항 발명의 특허무효에 관한 부분에 대한 피고들의 상고를 받아들이는 이상</a:t>
            </a:r>
            <a:r>
              <a:rPr lang="en-US" altLang="ko-KR" sz="1400" dirty="0"/>
              <a:t>, </a:t>
            </a:r>
            <a:r>
              <a:rPr lang="ko-KR" altLang="en-US" sz="1400" dirty="0"/>
              <a:t>이와 함께 확정되어야 할 이 사건 정정청구에 관한 부분도 파기를 면할 수 없다</a:t>
            </a:r>
            <a:r>
              <a:rPr lang="en-US" altLang="ko-KR" sz="1400" dirty="0"/>
              <a:t>. </a:t>
            </a:r>
            <a:r>
              <a:rPr lang="ko-KR" altLang="en-US" sz="1400" dirty="0"/>
              <a:t>한편 특허의 등록무효 여부는 </a:t>
            </a:r>
            <a:r>
              <a:rPr lang="ko-KR" altLang="en-US" sz="1400" dirty="0" err="1"/>
              <a:t>청구항별로</a:t>
            </a:r>
            <a:r>
              <a:rPr lang="ko-KR" altLang="en-US" sz="1400" dirty="0"/>
              <a:t> 판단하여야 하더라도</a:t>
            </a:r>
            <a:r>
              <a:rPr lang="en-US" altLang="ko-KR" sz="1400" dirty="0"/>
              <a:t>, </a:t>
            </a:r>
            <a:r>
              <a:rPr lang="ko-KR" altLang="en-US" sz="1400" dirty="0">
                <a:solidFill>
                  <a:schemeClr val="accent3">
                    <a:lumMod val="50000"/>
                  </a:schemeClr>
                </a:solidFill>
                <a:highlight>
                  <a:srgbClr val="FFFF00"/>
                </a:highlight>
              </a:rPr>
              <a:t>특허무효심판절차에서의 정정청구는 특별한 사정이 없는 한 불가분의 관계에 있어 일체로서 허용 여부를 판단하여야 할 것인데</a:t>
            </a:r>
            <a:r>
              <a:rPr lang="en-US" altLang="ko-KR" sz="1400" dirty="0">
                <a:solidFill>
                  <a:schemeClr val="accent3">
                    <a:lumMod val="50000"/>
                  </a:schemeClr>
                </a:solidFill>
                <a:highlight>
                  <a:srgbClr val="FFFF00"/>
                </a:highlight>
              </a:rPr>
              <a:t>, </a:t>
            </a:r>
            <a:r>
              <a:rPr lang="ko-KR" altLang="en-US" sz="1400" dirty="0"/>
              <a:t>이 사건 정정청구는 그 정정사항이 이 사건 제</a:t>
            </a:r>
            <a:r>
              <a:rPr lang="en-US" altLang="ko-KR" sz="1400" dirty="0"/>
              <a:t>1</a:t>
            </a:r>
            <a:r>
              <a:rPr lang="ko-KR" altLang="en-US" sz="1400" dirty="0"/>
              <a:t>항 내지 제</a:t>
            </a:r>
            <a:r>
              <a:rPr lang="en-US" altLang="ko-KR" sz="1400" dirty="0"/>
              <a:t>5</a:t>
            </a:r>
            <a:r>
              <a:rPr lang="ko-KR" altLang="en-US" sz="1400" dirty="0"/>
              <a:t>항 발명 전체에 걸쳐 있으므로</a:t>
            </a:r>
            <a:r>
              <a:rPr lang="en-US" altLang="ko-KR" sz="1400" dirty="0"/>
              <a:t>, </a:t>
            </a:r>
            <a:r>
              <a:rPr lang="ko-KR" altLang="en-US" sz="1400" dirty="0"/>
              <a:t>원심판결 중 이 사건 제</a:t>
            </a:r>
            <a:r>
              <a:rPr lang="en-US" altLang="ko-KR" sz="1400" dirty="0"/>
              <a:t>1, 2, 4, 5</a:t>
            </a:r>
            <a:r>
              <a:rPr lang="ko-KR" altLang="en-US" sz="1400" dirty="0"/>
              <a:t>항 발명의 특허무효에 관한 부분도 따로 확정되지 못한 채 이 사건 정정청구에 관한 부분과 함께 파기되어야 할 것이어서</a:t>
            </a:r>
            <a:r>
              <a:rPr lang="en-US" altLang="ko-KR" sz="1400" dirty="0"/>
              <a:t>, </a:t>
            </a:r>
            <a:r>
              <a:rPr lang="ko-KR" altLang="en-US" sz="1400" dirty="0"/>
              <a:t>결국 원심판결 전부가 파기되어야 할 것이다</a:t>
            </a:r>
            <a:r>
              <a:rPr lang="en-US" altLang="ko-KR" sz="1400" dirty="0"/>
              <a:t>.</a:t>
            </a:r>
            <a:endParaRPr lang="ko-KR" altLang="en-US" sz="1400" dirty="0"/>
          </a:p>
        </p:txBody>
      </p:sp>
      <p:sp>
        <p:nvSpPr>
          <p:cNvPr id="25" name="모서리가 둥근 직사각형 10">
            <a:extLst>
              <a:ext uri="{FF2B5EF4-FFF2-40B4-BE49-F238E27FC236}">
                <a16:creationId xmlns:a16="http://schemas.microsoft.com/office/drawing/2014/main" id="{3C6798E9-4EAF-4AE7-8EAB-18677724C63A}"/>
              </a:ext>
            </a:extLst>
          </p:cNvPr>
          <p:cNvSpPr/>
          <p:nvPr/>
        </p:nvSpPr>
        <p:spPr bwMode="auto">
          <a:xfrm>
            <a:off x="378418" y="1002199"/>
            <a:ext cx="4981233"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2009. 1. 15. </a:t>
            </a:r>
            <a:r>
              <a:rPr lang="ko-KR" altLang="en-US" sz="1400" dirty="0"/>
              <a:t>선고 </a:t>
            </a:r>
            <a:r>
              <a:rPr lang="en-US" altLang="ko-KR" sz="1400" dirty="0"/>
              <a:t>2007</a:t>
            </a:r>
            <a:r>
              <a:rPr lang="ko-KR" altLang="en-US" sz="1400" dirty="0"/>
              <a:t>후</a:t>
            </a:r>
            <a:r>
              <a:rPr lang="en-US" altLang="ko-KR" sz="1400" dirty="0"/>
              <a:t>1053 </a:t>
            </a:r>
            <a:r>
              <a:rPr lang="ko-KR" altLang="en-US" sz="1400" dirty="0"/>
              <a:t>판결 </a:t>
            </a:r>
            <a:r>
              <a:rPr lang="en-US" altLang="ko-KR" sz="1400" dirty="0"/>
              <a:t>【</a:t>
            </a:r>
            <a:r>
              <a:rPr lang="ko-KR" altLang="en-US" sz="1400" dirty="0"/>
              <a:t>등록무효</a:t>
            </a:r>
            <a:r>
              <a:rPr lang="en-US" altLang="ko-KR" sz="1400" dirty="0"/>
              <a:t>(</a:t>
            </a:r>
            <a:r>
              <a:rPr lang="ko-KR" altLang="en-US" sz="1400" dirty="0" err="1"/>
              <a:t>특</a:t>
            </a:r>
            <a:r>
              <a:rPr lang="en-US" altLang="ko-KR" sz="1400" dirty="0"/>
              <a:t>)】</a:t>
            </a:r>
          </a:p>
        </p:txBody>
      </p:sp>
      <p:sp>
        <p:nvSpPr>
          <p:cNvPr id="26" name="Line 5">
            <a:extLst>
              <a:ext uri="{FF2B5EF4-FFF2-40B4-BE49-F238E27FC236}">
                <a16:creationId xmlns:a16="http://schemas.microsoft.com/office/drawing/2014/main" id="{DBBEAF54-6B41-4742-A0EA-2407F31F5D52}"/>
              </a:ext>
            </a:extLst>
          </p:cNvPr>
          <p:cNvSpPr>
            <a:spLocks noChangeShapeType="1"/>
          </p:cNvSpPr>
          <p:nvPr/>
        </p:nvSpPr>
        <p:spPr bwMode="auto">
          <a:xfrm>
            <a:off x="514351" y="4604798"/>
            <a:ext cx="11001374"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7" name="TextBox 26">
            <a:extLst>
              <a:ext uri="{FF2B5EF4-FFF2-40B4-BE49-F238E27FC236}">
                <a16:creationId xmlns:a16="http://schemas.microsoft.com/office/drawing/2014/main" id="{7FBA2356-8A66-4A3C-B7DB-C04B2D7AA2E5}"/>
              </a:ext>
            </a:extLst>
          </p:cNvPr>
          <p:cNvSpPr txBox="1"/>
          <p:nvPr/>
        </p:nvSpPr>
        <p:spPr>
          <a:xfrm>
            <a:off x="443331" y="4860973"/>
            <a:ext cx="1231432"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a:t>
            </a:r>
            <a:r>
              <a:rPr lang="en-US" altLang="ko-KR" sz="1200" dirty="0">
                <a:solidFill>
                  <a:schemeClr val="tx1"/>
                </a:solidFill>
                <a:latin typeface="+mn-ea"/>
              </a:rPr>
              <a:t> </a:t>
            </a:r>
            <a:r>
              <a:rPr lang="ko-KR" altLang="en-US" sz="1200" dirty="0">
                <a:solidFill>
                  <a:schemeClr val="tx1"/>
                </a:solidFill>
                <a:latin typeface="+mn-ea"/>
              </a:rPr>
              <a:t>무효심판청구</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乙 피청구인</a:t>
            </a:r>
            <a:r>
              <a:rPr lang="en-US" altLang="ko-KR" sz="1200" dirty="0">
                <a:solidFill>
                  <a:schemeClr val="tx1"/>
                </a:solidFill>
                <a:latin typeface="+mn-ea"/>
              </a:rPr>
              <a:t>)</a:t>
            </a:r>
            <a:endParaRPr lang="ko-KR" altLang="en-US" sz="1200" dirty="0">
              <a:solidFill>
                <a:schemeClr val="tx1"/>
              </a:solidFill>
              <a:latin typeface="+mn-ea"/>
            </a:endParaRPr>
          </a:p>
        </p:txBody>
      </p:sp>
      <p:sp>
        <p:nvSpPr>
          <p:cNvPr id="28" name="타원 27">
            <a:extLst>
              <a:ext uri="{FF2B5EF4-FFF2-40B4-BE49-F238E27FC236}">
                <a16:creationId xmlns:a16="http://schemas.microsoft.com/office/drawing/2014/main" id="{1849268B-B0FB-4358-AB91-5BCA2359EB24}"/>
              </a:ext>
            </a:extLst>
          </p:cNvPr>
          <p:cNvSpPr/>
          <p:nvPr/>
        </p:nvSpPr>
        <p:spPr>
          <a:xfrm>
            <a:off x="981677" y="451086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29" name="직선 연결선 28">
            <a:extLst>
              <a:ext uri="{FF2B5EF4-FFF2-40B4-BE49-F238E27FC236}">
                <a16:creationId xmlns:a16="http://schemas.microsoft.com/office/drawing/2014/main" id="{47F0775D-D883-44F5-B2A4-82C569C014EE}"/>
              </a:ext>
            </a:extLst>
          </p:cNvPr>
          <p:cNvCxnSpPr>
            <a:cxnSpLocks/>
            <a:stCxn id="27" idx="0"/>
            <a:endCxn id="28" idx="4"/>
          </p:cNvCxnSpPr>
          <p:nvPr/>
        </p:nvCxnSpPr>
        <p:spPr>
          <a:xfrm flipH="1" flipV="1">
            <a:off x="1059046" y="467220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EB4BBA55-F185-4B18-B1A7-2744660ACD9F}"/>
              </a:ext>
            </a:extLst>
          </p:cNvPr>
          <p:cNvSpPr txBox="1"/>
          <p:nvPr/>
        </p:nvSpPr>
        <p:spPr>
          <a:xfrm>
            <a:off x="2154964" y="4860973"/>
            <a:ext cx="1273650"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정정청구</a:t>
            </a:r>
          </a:p>
        </p:txBody>
      </p:sp>
      <p:sp>
        <p:nvSpPr>
          <p:cNvPr id="31" name="타원 30">
            <a:extLst>
              <a:ext uri="{FF2B5EF4-FFF2-40B4-BE49-F238E27FC236}">
                <a16:creationId xmlns:a16="http://schemas.microsoft.com/office/drawing/2014/main" id="{71AB77AA-DFA4-4318-8DF5-213C188A89D4}"/>
              </a:ext>
            </a:extLst>
          </p:cNvPr>
          <p:cNvSpPr/>
          <p:nvPr/>
        </p:nvSpPr>
        <p:spPr>
          <a:xfrm>
            <a:off x="2714419" y="4510864"/>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2" name="직선 연결선 31">
            <a:extLst>
              <a:ext uri="{FF2B5EF4-FFF2-40B4-BE49-F238E27FC236}">
                <a16:creationId xmlns:a16="http://schemas.microsoft.com/office/drawing/2014/main" id="{066DDC00-EBA1-4BEF-88DA-F3EACD2EA70F}"/>
              </a:ext>
            </a:extLst>
          </p:cNvPr>
          <p:cNvCxnSpPr>
            <a:cxnSpLocks/>
            <a:stCxn id="30" idx="0"/>
            <a:endCxn id="31" idx="4"/>
          </p:cNvCxnSpPr>
          <p:nvPr/>
        </p:nvCxnSpPr>
        <p:spPr>
          <a:xfrm flipH="1" flipV="1">
            <a:off x="2791788" y="467220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ED003A90-19F1-4644-9672-2E70B9DEBCDA}"/>
              </a:ext>
            </a:extLst>
          </p:cNvPr>
          <p:cNvSpPr txBox="1"/>
          <p:nvPr/>
        </p:nvSpPr>
        <p:spPr>
          <a:xfrm>
            <a:off x="2088973" y="5439971"/>
            <a:ext cx="140563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1</a:t>
            </a:r>
            <a:r>
              <a:rPr lang="ko-KR" altLang="en-US" sz="1200" dirty="0">
                <a:solidFill>
                  <a:schemeClr val="tx1"/>
                </a:solidFill>
                <a:latin typeface="+mn-ea"/>
              </a:rPr>
              <a:t>항</a:t>
            </a:r>
            <a:r>
              <a:rPr lang="en-US" altLang="ko-KR" sz="1200" dirty="0">
                <a:solidFill>
                  <a:schemeClr val="tx1"/>
                </a:solidFill>
                <a:latin typeface="+mn-ea"/>
              </a:rPr>
              <a:t>-5</a:t>
            </a:r>
            <a:r>
              <a:rPr lang="ko-KR" altLang="en-US" sz="1200" dirty="0">
                <a:solidFill>
                  <a:schemeClr val="tx1"/>
                </a:solidFill>
                <a:latin typeface="+mn-ea"/>
              </a:rPr>
              <a:t>항</a:t>
            </a:r>
          </a:p>
        </p:txBody>
      </p:sp>
      <p:cxnSp>
        <p:nvCxnSpPr>
          <p:cNvPr id="34" name="직선 연결선 33">
            <a:extLst>
              <a:ext uri="{FF2B5EF4-FFF2-40B4-BE49-F238E27FC236}">
                <a16:creationId xmlns:a16="http://schemas.microsoft.com/office/drawing/2014/main" id="{484CBF3F-2E44-4863-AF87-1A0606A81DAC}"/>
              </a:ext>
            </a:extLst>
          </p:cNvPr>
          <p:cNvCxnSpPr>
            <a:cxnSpLocks/>
            <a:stCxn id="33" idx="0"/>
            <a:endCxn id="30" idx="2"/>
          </p:cNvCxnSpPr>
          <p:nvPr/>
        </p:nvCxnSpPr>
        <p:spPr>
          <a:xfrm flipV="1">
            <a:off x="2791789" y="5137972"/>
            <a:ext cx="0" cy="30199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B805BF3D-2242-4A0F-B4EF-2DAE976BD6C5}"/>
              </a:ext>
            </a:extLst>
          </p:cNvPr>
          <p:cNvSpPr txBox="1"/>
          <p:nvPr/>
        </p:nvSpPr>
        <p:spPr>
          <a:xfrm>
            <a:off x="356230" y="5439971"/>
            <a:ext cx="140563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1</a:t>
            </a:r>
            <a:r>
              <a:rPr lang="ko-KR" altLang="en-US" sz="1200" dirty="0">
                <a:solidFill>
                  <a:schemeClr val="tx1"/>
                </a:solidFill>
                <a:latin typeface="+mn-ea"/>
              </a:rPr>
              <a:t>항</a:t>
            </a:r>
            <a:r>
              <a:rPr lang="en-US" altLang="ko-KR" sz="1200" dirty="0">
                <a:solidFill>
                  <a:schemeClr val="tx1"/>
                </a:solidFill>
                <a:latin typeface="+mn-ea"/>
              </a:rPr>
              <a:t>-5</a:t>
            </a:r>
            <a:r>
              <a:rPr lang="ko-KR" altLang="en-US" sz="1200" dirty="0">
                <a:solidFill>
                  <a:schemeClr val="tx1"/>
                </a:solidFill>
                <a:latin typeface="+mn-ea"/>
              </a:rPr>
              <a:t>항</a:t>
            </a:r>
          </a:p>
        </p:txBody>
      </p:sp>
      <p:cxnSp>
        <p:nvCxnSpPr>
          <p:cNvPr id="74" name="직선 연결선 73">
            <a:extLst>
              <a:ext uri="{FF2B5EF4-FFF2-40B4-BE49-F238E27FC236}">
                <a16:creationId xmlns:a16="http://schemas.microsoft.com/office/drawing/2014/main" id="{C0F23E03-2B84-4A43-ABC7-BDAB4AC406C9}"/>
              </a:ext>
            </a:extLst>
          </p:cNvPr>
          <p:cNvCxnSpPr>
            <a:cxnSpLocks/>
            <a:stCxn id="73" idx="0"/>
            <a:endCxn id="27" idx="2"/>
          </p:cNvCxnSpPr>
          <p:nvPr/>
        </p:nvCxnSpPr>
        <p:spPr>
          <a:xfrm flipV="1">
            <a:off x="1059046" y="5322638"/>
            <a:ext cx="1" cy="11733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B7D3C3D2-99FF-4AD2-9FB4-F5FC9C3DE17E}"/>
              </a:ext>
            </a:extLst>
          </p:cNvPr>
          <p:cNvSpPr txBox="1"/>
          <p:nvPr/>
        </p:nvSpPr>
        <p:spPr>
          <a:xfrm>
            <a:off x="3653228" y="4860973"/>
            <a:ext cx="127365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심결</a:t>
            </a:r>
            <a:endParaRPr lang="ko-KR" altLang="en-US" sz="1200" dirty="0">
              <a:solidFill>
                <a:schemeClr val="tx1"/>
              </a:solidFill>
              <a:latin typeface="+mn-ea"/>
            </a:endParaRPr>
          </a:p>
        </p:txBody>
      </p:sp>
      <p:sp>
        <p:nvSpPr>
          <p:cNvPr id="76" name="타원 75">
            <a:extLst>
              <a:ext uri="{FF2B5EF4-FFF2-40B4-BE49-F238E27FC236}">
                <a16:creationId xmlns:a16="http://schemas.microsoft.com/office/drawing/2014/main" id="{31CBA78C-43A1-4440-B727-CDE77FA4D16F}"/>
              </a:ext>
            </a:extLst>
          </p:cNvPr>
          <p:cNvSpPr/>
          <p:nvPr/>
        </p:nvSpPr>
        <p:spPr>
          <a:xfrm>
            <a:off x="4212683" y="4510864"/>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7" name="직선 연결선 76">
            <a:extLst>
              <a:ext uri="{FF2B5EF4-FFF2-40B4-BE49-F238E27FC236}">
                <a16:creationId xmlns:a16="http://schemas.microsoft.com/office/drawing/2014/main" id="{6AF38C5E-7A0A-4528-A00F-FFC6D0C39D5B}"/>
              </a:ext>
            </a:extLst>
          </p:cNvPr>
          <p:cNvCxnSpPr>
            <a:cxnSpLocks/>
            <a:stCxn id="75" idx="0"/>
            <a:endCxn id="76" idx="4"/>
          </p:cNvCxnSpPr>
          <p:nvPr/>
        </p:nvCxnSpPr>
        <p:spPr>
          <a:xfrm flipH="1" flipV="1">
            <a:off x="4290052" y="467220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4E448B2B-B76C-44BB-9734-8CED3A96021E}"/>
              </a:ext>
            </a:extLst>
          </p:cNvPr>
          <p:cNvSpPr txBox="1"/>
          <p:nvPr/>
        </p:nvSpPr>
        <p:spPr>
          <a:xfrm>
            <a:off x="2988456" y="5908403"/>
            <a:ext cx="2603194"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ko-KR" altLang="en-US" sz="1200" dirty="0">
                <a:solidFill>
                  <a:schemeClr val="tx1"/>
                </a:solidFill>
                <a:latin typeface="+mn-ea"/>
              </a:rPr>
              <a:t>정정청구</a:t>
            </a:r>
            <a:r>
              <a:rPr lang="en-US" altLang="ko-KR" sz="1200" dirty="0">
                <a:solidFill>
                  <a:schemeClr val="tx1"/>
                </a:solidFill>
                <a:latin typeface="+mn-ea"/>
              </a:rPr>
              <a:t>: </a:t>
            </a:r>
            <a:r>
              <a:rPr lang="ko-KR" altLang="en-US" sz="1200" dirty="0">
                <a:solidFill>
                  <a:schemeClr val="tx1"/>
                </a:solidFill>
                <a:latin typeface="+mn-ea"/>
              </a:rPr>
              <a:t>인용</a:t>
            </a:r>
            <a:endParaRPr lang="en-US" altLang="ko-KR" sz="1200" dirty="0">
              <a:solidFill>
                <a:schemeClr val="tx1"/>
              </a:solidFill>
              <a:latin typeface="+mn-ea"/>
            </a:endParaRPr>
          </a:p>
          <a:p>
            <a:r>
              <a:rPr lang="ko-KR" altLang="en-US" sz="1200" dirty="0">
                <a:solidFill>
                  <a:schemeClr val="tx1"/>
                </a:solidFill>
                <a:latin typeface="+mn-ea"/>
              </a:rPr>
              <a:t>무효여부</a:t>
            </a:r>
            <a:r>
              <a:rPr lang="en-US" altLang="ko-KR" sz="1200" dirty="0">
                <a:solidFill>
                  <a:schemeClr val="tx1"/>
                </a:solidFill>
                <a:latin typeface="+mn-ea"/>
              </a:rPr>
              <a:t>: </a:t>
            </a:r>
            <a:r>
              <a:rPr lang="ko-KR" altLang="en-US" sz="1200" dirty="0" err="1">
                <a:solidFill>
                  <a:schemeClr val="tx1"/>
                </a:solidFill>
                <a:latin typeface="+mn-ea"/>
              </a:rPr>
              <a:t>정정후</a:t>
            </a:r>
            <a:r>
              <a:rPr lang="ko-KR" altLang="en-US" sz="1200" dirty="0">
                <a:solidFill>
                  <a:schemeClr val="tx1"/>
                </a:solidFill>
                <a:latin typeface="+mn-ea"/>
              </a:rPr>
              <a:t> </a:t>
            </a:r>
            <a:r>
              <a:rPr lang="en-US" altLang="ko-KR" sz="1200" dirty="0">
                <a:solidFill>
                  <a:schemeClr val="tx1"/>
                </a:solidFill>
                <a:latin typeface="+mn-ea"/>
              </a:rPr>
              <a:t>1</a:t>
            </a:r>
            <a:r>
              <a:rPr lang="ko-KR" altLang="en-US" sz="1200" dirty="0">
                <a:solidFill>
                  <a:schemeClr val="tx1"/>
                </a:solidFill>
                <a:latin typeface="+mn-ea"/>
              </a:rPr>
              <a:t>항</a:t>
            </a:r>
            <a:r>
              <a:rPr lang="en-US" altLang="ko-KR" sz="1200" dirty="0">
                <a:solidFill>
                  <a:schemeClr val="tx1"/>
                </a:solidFill>
                <a:latin typeface="+mn-ea"/>
              </a:rPr>
              <a:t>-5</a:t>
            </a:r>
            <a:r>
              <a:rPr lang="ko-KR" altLang="en-US" sz="1200" dirty="0">
                <a:solidFill>
                  <a:schemeClr val="tx1"/>
                </a:solidFill>
                <a:latin typeface="+mn-ea"/>
              </a:rPr>
              <a:t>항에 대한 기각</a:t>
            </a:r>
          </a:p>
        </p:txBody>
      </p:sp>
      <p:cxnSp>
        <p:nvCxnSpPr>
          <p:cNvPr id="79" name="직선 연결선 78">
            <a:extLst>
              <a:ext uri="{FF2B5EF4-FFF2-40B4-BE49-F238E27FC236}">
                <a16:creationId xmlns:a16="http://schemas.microsoft.com/office/drawing/2014/main" id="{46FE9569-EC6C-46F5-AE4B-2C87360B768A}"/>
              </a:ext>
            </a:extLst>
          </p:cNvPr>
          <p:cNvCxnSpPr>
            <a:cxnSpLocks/>
            <a:stCxn id="78" idx="0"/>
            <a:endCxn id="75" idx="2"/>
          </p:cNvCxnSpPr>
          <p:nvPr/>
        </p:nvCxnSpPr>
        <p:spPr>
          <a:xfrm flipV="1">
            <a:off x="4290053" y="5137972"/>
            <a:ext cx="0" cy="77043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484CEFE5-0B59-4524-9C8B-4AAF415500C3}"/>
              </a:ext>
            </a:extLst>
          </p:cNvPr>
          <p:cNvSpPr txBox="1"/>
          <p:nvPr/>
        </p:nvSpPr>
        <p:spPr>
          <a:xfrm>
            <a:off x="5088722" y="4860973"/>
            <a:ext cx="1231432"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소제기</a:t>
            </a:r>
            <a:endParaRPr lang="en-US" altLang="ko-KR" sz="1200" dirty="0">
              <a:solidFill>
                <a:schemeClr val="tx1"/>
              </a:solidFill>
              <a:latin typeface="+mn-ea"/>
            </a:endParaRPr>
          </a:p>
          <a:p>
            <a:pPr algn="ctr"/>
            <a:r>
              <a:rPr lang="en-US" altLang="ko-KR" sz="1200" dirty="0">
                <a:solidFill>
                  <a:schemeClr val="tx1"/>
                </a:solidFill>
                <a:latin typeface="+mn-ea"/>
              </a:rPr>
              <a:t>(</a:t>
            </a:r>
            <a:r>
              <a:rPr lang="ko-KR" altLang="en-US" sz="1200" dirty="0">
                <a:solidFill>
                  <a:schemeClr val="tx1"/>
                </a:solidFill>
                <a:latin typeface="+mn-ea"/>
              </a:rPr>
              <a:t>乙 피고</a:t>
            </a:r>
            <a:r>
              <a:rPr lang="en-US" altLang="ko-KR" sz="1200" dirty="0">
                <a:solidFill>
                  <a:schemeClr val="tx1"/>
                </a:solidFill>
                <a:latin typeface="+mn-ea"/>
              </a:rPr>
              <a:t>)</a:t>
            </a:r>
            <a:endParaRPr lang="ko-KR" altLang="en-US" sz="1200" dirty="0">
              <a:solidFill>
                <a:schemeClr val="tx1"/>
              </a:solidFill>
              <a:latin typeface="+mn-ea"/>
            </a:endParaRPr>
          </a:p>
        </p:txBody>
      </p:sp>
      <p:sp>
        <p:nvSpPr>
          <p:cNvPr id="81" name="타원 80">
            <a:extLst>
              <a:ext uri="{FF2B5EF4-FFF2-40B4-BE49-F238E27FC236}">
                <a16:creationId xmlns:a16="http://schemas.microsoft.com/office/drawing/2014/main" id="{30580A5B-7F0A-42A2-BC13-76B6362B4F3F}"/>
              </a:ext>
            </a:extLst>
          </p:cNvPr>
          <p:cNvSpPr/>
          <p:nvPr/>
        </p:nvSpPr>
        <p:spPr>
          <a:xfrm>
            <a:off x="5627068" y="4510864"/>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2" name="직선 연결선 81">
            <a:extLst>
              <a:ext uri="{FF2B5EF4-FFF2-40B4-BE49-F238E27FC236}">
                <a16:creationId xmlns:a16="http://schemas.microsoft.com/office/drawing/2014/main" id="{8BEBDD9A-989C-4911-84AB-F672AC216E57}"/>
              </a:ext>
            </a:extLst>
          </p:cNvPr>
          <p:cNvCxnSpPr>
            <a:cxnSpLocks/>
            <a:stCxn id="80" idx="0"/>
            <a:endCxn id="81" idx="4"/>
          </p:cNvCxnSpPr>
          <p:nvPr/>
        </p:nvCxnSpPr>
        <p:spPr>
          <a:xfrm flipH="1" flipV="1">
            <a:off x="5704437" y="467220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6E686278-3112-4858-AF7A-4D9682D4D712}"/>
              </a:ext>
            </a:extLst>
          </p:cNvPr>
          <p:cNvSpPr txBox="1"/>
          <p:nvPr/>
        </p:nvSpPr>
        <p:spPr>
          <a:xfrm>
            <a:off x="5001621" y="5439971"/>
            <a:ext cx="140563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1</a:t>
            </a:r>
            <a:r>
              <a:rPr lang="ko-KR" altLang="en-US" sz="1200" dirty="0">
                <a:solidFill>
                  <a:schemeClr val="tx1"/>
                </a:solidFill>
                <a:latin typeface="+mn-ea"/>
              </a:rPr>
              <a:t>항</a:t>
            </a:r>
            <a:r>
              <a:rPr lang="en-US" altLang="ko-KR" sz="1200" dirty="0">
                <a:solidFill>
                  <a:schemeClr val="tx1"/>
                </a:solidFill>
                <a:latin typeface="+mn-ea"/>
              </a:rPr>
              <a:t>-5</a:t>
            </a:r>
            <a:r>
              <a:rPr lang="ko-KR" altLang="en-US" sz="1200" dirty="0">
                <a:solidFill>
                  <a:schemeClr val="tx1"/>
                </a:solidFill>
                <a:latin typeface="+mn-ea"/>
              </a:rPr>
              <a:t>항</a:t>
            </a:r>
          </a:p>
        </p:txBody>
      </p:sp>
      <p:cxnSp>
        <p:nvCxnSpPr>
          <p:cNvPr id="84" name="직선 연결선 83">
            <a:extLst>
              <a:ext uri="{FF2B5EF4-FFF2-40B4-BE49-F238E27FC236}">
                <a16:creationId xmlns:a16="http://schemas.microsoft.com/office/drawing/2014/main" id="{7FAC7CBC-12F1-4CB8-B940-54EC83EBB0C1}"/>
              </a:ext>
            </a:extLst>
          </p:cNvPr>
          <p:cNvCxnSpPr>
            <a:cxnSpLocks/>
            <a:stCxn id="83" idx="0"/>
            <a:endCxn id="80" idx="2"/>
          </p:cNvCxnSpPr>
          <p:nvPr/>
        </p:nvCxnSpPr>
        <p:spPr>
          <a:xfrm flipV="1">
            <a:off x="5704437" y="5322638"/>
            <a:ext cx="1" cy="11733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1E74D723-DD61-4813-9D09-28EAC9CBBDC3}"/>
              </a:ext>
            </a:extLst>
          </p:cNvPr>
          <p:cNvSpPr txBox="1"/>
          <p:nvPr/>
        </p:nvSpPr>
        <p:spPr>
          <a:xfrm>
            <a:off x="6453088" y="4860973"/>
            <a:ext cx="127365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판결</a:t>
            </a:r>
          </a:p>
        </p:txBody>
      </p:sp>
      <p:cxnSp>
        <p:nvCxnSpPr>
          <p:cNvPr id="86" name="직선 연결선 85">
            <a:extLst>
              <a:ext uri="{FF2B5EF4-FFF2-40B4-BE49-F238E27FC236}">
                <a16:creationId xmlns:a16="http://schemas.microsoft.com/office/drawing/2014/main" id="{769B5428-A9B2-4970-A0E5-CF7836A17DF8}"/>
              </a:ext>
            </a:extLst>
          </p:cNvPr>
          <p:cNvCxnSpPr>
            <a:cxnSpLocks/>
            <a:stCxn id="85" idx="0"/>
          </p:cNvCxnSpPr>
          <p:nvPr/>
        </p:nvCxnSpPr>
        <p:spPr>
          <a:xfrm flipH="1" flipV="1">
            <a:off x="7089912" y="467220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9F351BD5-D8D8-4038-991A-737FEA264476}"/>
              </a:ext>
            </a:extLst>
          </p:cNvPr>
          <p:cNvSpPr txBox="1"/>
          <p:nvPr/>
        </p:nvSpPr>
        <p:spPr>
          <a:xfrm>
            <a:off x="5788316" y="5882280"/>
            <a:ext cx="2603194" cy="646331"/>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ko-KR" altLang="en-US" sz="1200" dirty="0">
                <a:solidFill>
                  <a:schemeClr val="tx1"/>
                </a:solidFill>
                <a:latin typeface="+mn-ea"/>
              </a:rPr>
              <a:t>정정청구</a:t>
            </a:r>
            <a:r>
              <a:rPr lang="en-US" altLang="ko-KR" sz="1200" dirty="0">
                <a:solidFill>
                  <a:schemeClr val="tx1"/>
                </a:solidFill>
                <a:latin typeface="+mn-ea"/>
              </a:rPr>
              <a:t>: </a:t>
            </a:r>
            <a:r>
              <a:rPr lang="ko-KR" altLang="en-US" sz="1200" dirty="0">
                <a:solidFill>
                  <a:schemeClr val="tx1"/>
                </a:solidFill>
                <a:latin typeface="+mn-ea"/>
              </a:rPr>
              <a:t>불인정</a:t>
            </a:r>
            <a:endParaRPr lang="en-US" altLang="ko-KR" sz="1200" dirty="0">
              <a:solidFill>
                <a:schemeClr val="tx1"/>
              </a:solidFill>
              <a:latin typeface="+mn-ea"/>
            </a:endParaRPr>
          </a:p>
          <a:p>
            <a:r>
              <a:rPr lang="ko-KR" altLang="en-US" sz="1200" dirty="0">
                <a:solidFill>
                  <a:schemeClr val="tx1"/>
                </a:solidFill>
                <a:latin typeface="+mn-ea"/>
              </a:rPr>
              <a:t>무효여부</a:t>
            </a:r>
            <a:r>
              <a:rPr lang="en-US" altLang="ko-KR" sz="1200" dirty="0">
                <a:solidFill>
                  <a:schemeClr val="tx1"/>
                </a:solidFill>
                <a:latin typeface="+mn-ea"/>
              </a:rPr>
              <a:t>: </a:t>
            </a:r>
            <a:r>
              <a:rPr lang="ko-KR" altLang="en-US" sz="1200" dirty="0" err="1">
                <a:solidFill>
                  <a:schemeClr val="tx1"/>
                </a:solidFill>
                <a:latin typeface="+mn-ea"/>
              </a:rPr>
              <a:t>정정전</a:t>
            </a:r>
            <a:r>
              <a:rPr lang="ko-KR" altLang="en-US" sz="1200" dirty="0">
                <a:solidFill>
                  <a:schemeClr val="tx1"/>
                </a:solidFill>
                <a:latin typeface="+mn-ea"/>
              </a:rPr>
              <a:t> </a:t>
            </a:r>
            <a:r>
              <a:rPr lang="en-US" altLang="ko-KR" sz="1200" dirty="0">
                <a:solidFill>
                  <a:schemeClr val="tx1"/>
                </a:solidFill>
                <a:latin typeface="+mn-ea"/>
              </a:rPr>
              <a:t>1</a:t>
            </a:r>
            <a:r>
              <a:rPr lang="ko-KR" altLang="en-US" sz="1200" dirty="0">
                <a:solidFill>
                  <a:schemeClr val="tx1"/>
                </a:solidFill>
                <a:latin typeface="+mn-ea"/>
              </a:rPr>
              <a:t>항</a:t>
            </a:r>
            <a:r>
              <a:rPr lang="en-US" altLang="ko-KR" sz="1200" dirty="0">
                <a:solidFill>
                  <a:schemeClr val="tx1"/>
                </a:solidFill>
                <a:latin typeface="+mn-ea"/>
              </a:rPr>
              <a:t>-5</a:t>
            </a:r>
            <a:r>
              <a:rPr lang="ko-KR" altLang="en-US" sz="1200" dirty="0">
                <a:solidFill>
                  <a:schemeClr val="tx1"/>
                </a:solidFill>
                <a:latin typeface="+mn-ea"/>
              </a:rPr>
              <a:t>항에 대한 인용</a:t>
            </a:r>
            <a:endParaRPr lang="en-US" altLang="ko-KR" sz="1200" dirty="0">
              <a:solidFill>
                <a:schemeClr val="tx1"/>
              </a:solidFill>
              <a:latin typeface="+mn-ea"/>
            </a:endParaRPr>
          </a:p>
          <a:p>
            <a:r>
              <a:rPr lang="en-US" altLang="ko-KR" sz="1200" dirty="0">
                <a:solidFill>
                  <a:schemeClr val="tx1"/>
                </a:solidFill>
                <a:latin typeface="+mn-ea"/>
              </a:rPr>
              <a:t>(</a:t>
            </a:r>
            <a:r>
              <a:rPr lang="ko-KR" altLang="en-US" sz="1200" dirty="0" err="1">
                <a:solidFill>
                  <a:schemeClr val="tx1"/>
                </a:solidFill>
                <a:latin typeface="+mn-ea"/>
              </a:rPr>
              <a:t>취소환송</a:t>
            </a:r>
            <a:r>
              <a:rPr lang="en-US" altLang="ko-KR" sz="1200" dirty="0">
                <a:solidFill>
                  <a:schemeClr val="tx1"/>
                </a:solidFill>
                <a:latin typeface="+mn-ea"/>
              </a:rPr>
              <a:t>)</a:t>
            </a:r>
            <a:endParaRPr lang="ko-KR" altLang="en-US" sz="1200" dirty="0">
              <a:solidFill>
                <a:schemeClr val="tx1"/>
              </a:solidFill>
              <a:latin typeface="+mn-ea"/>
            </a:endParaRPr>
          </a:p>
        </p:txBody>
      </p:sp>
      <p:cxnSp>
        <p:nvCxnSpPr>
          <p:cNvPr id="88" name="직선 연결선 87">
            <a:extLst>
              <a:ext uri="{FF2B5EF4-FFF2-40B4-BE49-F238E27FC236}">
                <a16:creationId xmlns:a16="http://schemas.microsoft.com/office/drawing/2014/main" id="{85207B32-8C14-43E2-BB5C-F26C71715F0C}"/>
              </a:ext>
            </a:extLst>
          </p:cNvPr>
          <p:cNvCxnSpPr>
            <a:cxnSpLocks/>
            <a:stCxn id="87" idx="0"/>
            <a:endCxn id="85" idx="2"/>
          </p:cNvCxnSpPr>
          <p:nvPr/>
        </p:nvCxnSpPr>
        <p:spPr>
          <a:xfrm flipV="1">
            <a:off x="7089913" y="5137972"/>
            <a:ext cx="0" cy="74430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타원 88">
            <a:extLst>
              <a:ext uri="{FF2B5EF4-FFF2-40B4-BE49-F238E27FC236}">
                <a16:creationId xmlns:a16="http://schemas.microsoft.com/office/drawing/2014/main" id="{61FAF03C-904D-444E-B50B-9BCDDDF91629}"/>
              </a:ext>
            </a:extLst>
          </p:cNvPr>
          <p:cNvSpPr/>
          <p:nvPr/>
        </p:nvSpPr>
        <p:spPr>
          <a:xfrm>
            <a:off x="7012543" y="4510864"/>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90" name="TextBox 89">
            <a:extLst>
              <a:ext uri="{FF2B5EF4-FFF2-40B4-BE49-F238E27FC236}">
                <a16:creationId xmlns:a16="http://schemas.microsoft.com/office/drawing/2014/main" id="{2AE0E255-920D-4A83-BC0F-AC5AE9D7BD1B}"/>
              </a:ext>
            </a:extLst>
          </p:cNvPr>
          <p:cNvSpPr txBox="1"/>
          <p:nvPr/>
        </p:nvSpPr>
        <p:spPr>
          <a:xfrm>
            <a:off x="7804105" y="4860973"/>
            <a:ext cx="1273650"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乙 상고</a:t>
            </a:r>
          </a:p>
        </p:txBody>
      </p:sp>
      <p:sp>
        <p:nvSpPr>
          <p:cNvPr id="91" name="타원 90">
            <a:extLst>
              <a:ext uri="{FF2B5EF4-FFF2-40B4-BE49-F238E27FC236}">
                <a16:creationId xmlns:a16="http://schemas.microsoft.com/office/drawing/2014/main" id="{DDAD382E-9780-44AB-9E60-07046F4ABADD}"/>
              </a:ext>
            </a:extLst>
          </p:cNvPr>
          <p:cNvSpPr/>
          <p:nvPr/>
        </p:nvSpPr>
        <p:spPr>
          <a:xfrm>
            <a:off x="8363560" y="4510864"/>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2" name="직선 연결선 91">
            <a:extLst>
              <a:ext uri="{FF2B5EF4-FFF2-40B4-BE49-F238E27FC236}">
                <a16:creationId xmlns:a16="http://schemas.microsoft.com/office/drawing/2014/main" id="{0434BE4A-2323-4946-A97F-6473EFF0F6F6}"/>
              </a:ext>
            </a:extLst>
          </p:cNvPr>
          <p:cNvCxnSpPr>
            <a:cxnSpLocks/>
            <a:stCxn id="90" idx="0"/>
            <a:endCxn id="91" idx="4"/>
          </p:cNvCxnSpPr>
          <p:nvPr/>
        </p:nvCxnSpPr>
        <p:spPr>
          <a:xfrm flipH="1" flipV="1">
            <a:off x="8440929" y="467220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TextBox 92">
            <a:extLst>
              <a:ext uri="{FF2B5EF4-FFF2-40B4-BE49-F238E27FC236}">
                <a16:creationId xmlns:a16="http://schemas.microsoft.com/office/drawing/2014/main" id="{30E42292-E9B1-4CBF-ACAD-A552906F7BAB}"/>
              </a:ext>
            </a:extLst>
          </p:cNvPr>
          <p:cNvSpPr txBox="1"/>
          <p:nvPr/>
        </p:nvSpPr>
        <p:spPr>
          <a:xfrm>
            <a:off x="9714578" y="4860973"/>
            <a:ext cx="1273650" cy="276999"/>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판결</a:t>
            </a:r>
          </a:p>
        </p:txBody>
      </p:sp>
      <p:cxnSp>
        <p:nvCxnSpPr>
          <p:cNvPr id="94" name="직선 연결선 93">
            <a:extLst>
              <a:ext uri="{FF2B5EF4-FFF2-40B4-BE49-F238E27FC236}">
                <a16:creationId xmlns:a16="http://schemas.microsoft.com/office/drawing/2014/main" id="{D726EB77-D72D-4EFC-A8C7-B0FEED46501A}"/>
              </a:ext>
            </a:extLst>
          </p:cNvPr>
          <p:cNvCxnSpPr>
            <a:cxnSpLocks/>
            <a:stCxn id="93" idx="0"/>
          </p:cNvCxnSpPr>
          <p:nvPr/>
        </p:nvCxnSpPr>
        <p:spPr>
          <a:xfrm flipH="1" flipV="1">
            <a:off x="10351402" y="467220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1C54413D-BB43-4AE8-BD42-03A6F781E3AA}"/>
              </a:ext>
            </a:extLst>
          </p:cNvPr>
          <p:cNvSpPr txBox="1"/>
          <p:nvPr/>
        </p:nvSpPr>
        <p:spPr>
          <a:xfrm>
            <a:off x="8613548" y="5242198"/>
            <a:ext cx="3473405" cy="1569660"/>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ko-KR" altLang="en-US" sz="1200" dirty="0">
                <a:solidFill>
                  <a:schemeClr val="tx1"/>
                </a:solidFill>
                <a:latin typeface="+mn-ea"/>
              </a:rPr>
              <a:t>무효여부</a:t>
            </a:r>
            <a:r>
              <a:rPr lang="en-US" altLang="ko-KR" sz="1200" dirty="0">
                <a:solidFill>
                  <a:schemeClr val="tx1"/>
                </a:solidFill>
                <a:latin typeface="+mn-ea"/>
              </a:rPr>
              <a:t>: </a:t>
            </a:r>
            <a:r>
              <a:rPr lang="ko-KR" altLang="en-US" sz="1200" dirty="0" err="1">
                <a:solidFill>
                  <a:schemeClr val="tx1"/>
                </a:solidFill>
                <a:latin typeface="+mn-ea"/>
              </a:rPr>
              <a:t>정정불인정을</a:t>
            </a:r>
            <a:r>
              <a:rPr lang="ko-KR" altLang="en-US" sz="1200" dirty="0">
                <a:solidFill>
                  <a:schemeClr val="tx1"/>
                </a:solidFill>
                <a:latin typeface="+mn-ea"/>
              </a:rPr>
              <a:t> 전제로 </a:t>
            </a:r>
            <a:r>
              <a:rPr lang="en-US" altLang="ko-KR" sz="1200" dirty="0">
                <a:solidFill>
                  <a:schemeClr val="tx1"/>
                </a:solidFill>
                <a:latin typeface="+mn-ea"/>
              </a:rPr>
              <a:t>3</a:t>
            </a:r>
            <a:r>
              <a:rPr lang="ko-KR" altLang="en-US" sz="1200" dirty="0">
                <a:solidFill>
                  <a:schemeClr val="tx1"/>
                </a:solidFill>
                <a:latin typeface="+mn-ea"/>
              </a:rPr>
              <a:t>항이 무효사유 부존재로 </a:t>
            </a:r>
            <a:r>
              <a:rPr lang="ko-KR" altLang="en-US" sz="1200" dirty="0" err="1">
                <a:solidFill>
                  <a:schemeClr val="tx1"/>
                </a:solidFill>
                <a:latin typeface="+mn-ea"/>
              </a:rPr>
              <a:t>파기환송</a:t>
            </a:r>
            <a:endParaRPr lang="en-US" altLang="ko-KR" sz="1200" dirty="0">
              <a:solidFill>
                <a:schemeClr val="tx1"/>
              </a:solidFill>
              <a:latin typeface="+mn-ea"/>
            </a:endParaRPr>
          </a:p>
          <a:p>
            <a:r>
              <a:rPr lang="ko-KR" altLang="en-US" sz="1200" dirty="0">
                <a:solidFill>
                  <a:schemeClr val="tx1"/>
                </a:solidFill>
                <a:latin typeface="+mn-ea"/>
              </a:rPr>
              <a:t>정정청구</a:t>
            </a:r>
            <a:r>
              <a:rPr lang="en-US" altLang="ko-KR" sz="1200" dirty="0">
                <a:solidFill>
                  <a:schemeClr val="tx1"/>
                </a:solidFill>
                <a:latin typeface="+mn-ea"/>
              </a:rPr>
              <a:t>: </a:t>
            </a:r>
            <a:r>
              <a:rPr lang="ko-KR" altLang="en-US" sz="1200" dirty="0">
                <a:solidFill>
                  <a:srgbClr val="FF0000"/>
                </a:solidFill>
                <a:latin typeface="+mn-ea"/>
              </a:rPr>
              <a:t>무효심판과 함께 확정되어야 하고</a:t>
            </a:r>
            <a:r>
              <a:rPr lang="en-US" altLang="ko-KR" sz="1200" dirty="0">
                <a:solidFill>
                  <a:srgbClr val="FF0000"/>
                </a:solidFill>
                <a:latin typeface="+mn-ea"/>
              </a:rPr>
              <a:t>, </a:t>
            </a:r>
            <a:r>
              <a:rPr lang="ko-KR" altLang="en-US" sz="1200" dirty="0">
                <a:solidFill>
                  <a:srgbClr val="FF0000"/>
                </a:solidFill>
                <a:latin typeface="+mn-ea"/>
              </a:rPr>
              <a:t>일체로서 허용여부를 판단하기 때문에 </a:t>
            </a:r>
            <a:r>
              <a:rPr lang="en-US" altLang="ko-KR" sz="1200" dirty="0">
                <a:solidFill>
                  <a:srgbClr val="FF0000"/>
                </a:solidFill>
                <a:latin typeface="+mn-ea"/>
              </a:rPr>
              <a:t>1</a:t>
            </a:r>
            <a:r>
              <a:rPr lang="ko-KR" altLang="en-US" sz="1200" dirty="0">
                <a:solidFill>
                  <a:srgbClr val="FF0000"/>
                </a:solidFill>
                <a:latin typeface="+mn-ea"/>
              </a:rPr>
              <a:t>항</a:t>
            </a:r>
            <a:r>
              <a:rPr lang="en-US" altLang="ko-KR" sz="1200" dirty="0">
                <a:solidFill>
                  <a:srgbClr val="FF0000"/>
                </a:solidFill>
                <a:latin typeface="+mn-ea"/>
              </a:rPr>
              <a:t>-5</a:t>
            </a:r>
            <a:r>
              <a:rPr lang="ko-KR" altLang="en-US" sz="1200" dirty="0">
                <a:solidFill>
                  <a:srgbClr val="FF0000"/>
                </a:solidFill>
                <a:latin typeface="+mn-ea"/>
              </a:rPr>
              <a:t>항에 대한 정정청구도 </a:t>
            </a:r>
            <a:r>
              <a:rPr lang="ko-KR" altLang="en-US" sz="1200" dirty="0" err="1">
                <a:solidFill>
                  <a:srgbClr val="FF0000"/>
                </a:solidFill>
                <a:latin typeface="+mn-ea"/>
              </a:rPr>
              <a:t>파기환송</a:t>
            </a:r>
            <a:r>
              <a:rPr lang="en-US" altLang="ko-KR" sz="1200" dirty="0">
                <a:solidFill>
                  <a:srgbClr val="FF0000"/>
                </a:solidFill>
                <a:latin typeface="+mn-ea"/>
              </a:rPr>
              <a:t>(</a:t>
            </a:r>
            <a:r>
              <a:rPr lang="ko-KR" altLang="en-US" sz="1200" dirty="0">
                <a:solidFill>
                  <a:srgbClr val="FF0000"/>
                </a:solidFill>
                <a:latin typeface="+mn-ea"/>
              </a:rPr>
              <a:t>정정인정여부를 다시 판단해야 함</a:t>
            </a:r>
            <a:r>
              <a:rPr lang="en-US" altLang="ko-KR" sz="1200" dirty="0">
                <a:solidFill>
                  <a:srgbClr val="FF0000"/>
                </a:solidFill>
                <a:latin typeface="+mn-ea"/>
              </a:rPr>
              <a:t>)</a:t>
            </a:r>
          </a:p>
          <a:p>
            <a:r>
              <a:rPr lang="ko-KR" altLang="en-US" sz="1200" dirty="0">
                <a:solidFill>
                  <a:schemeClr val="tx1"/>
                </a:solidFill>
                <a:latin typeface="+mn-ea"/>
              </a:rPr>
              <a:t>무효여부</a:t>
            </a:r>
            <a:r>
              <a:rPr lang="en-US" altLang="ko-KR" sz="1200" dirty="0">
                <a:solidFill>
                  <a:schemeClr val="tx1"/>
                </a:solidFill>
                <a:latin typeface="+mn-ea"/>
              </a:rPr>
              <a:t>: 1, 2, 4, 5</a:t>
            </a:r>
            <a:r>
              <a:rPr lang="ko-KR" altLang="en-US" sz="1200" dirty="0">
                <a:solidFill>
                  <a:schemeClr val="tx1"/>
                </a:solidFill>
                <a:latin typeface="+mn-ea"/>
              </a:rPr>
              <a:t>항도 </a:t>
            </a:r>
            <a:r>
              <a:rPr lang="ko-KR" altLang="en-US" sz="1200" dirty="0" err="1">
                <a:solidFill>
                  <a:schemeClr val="tx1"/>
                </a:solidFill>
                <a:latin typeface="+mn-ea"/>
              </a:rPr>
              <a:t>정정불인정을</a:t>
            </a:r>
            <a:r>
              <a:rPr lang="ko-KR" altLang="en-US" sz="1200" dirty="0">
                <a:solidFill>
                  <a:schemeClr val="tx1"/>
                </a:solidFill>
                <a:latin typeface="+mn-ea"/>
              </a:rPr>
              <a:t> 전제로 판단했기 때문에 </a:t>
            </a:r>
            <a:r>
              <a:rPr lang="ko-KR" altLang="en-US" sz="1200" dirty="0" err="1">
                <a:solidFill>
                  <a:schemeClr val="tx1"/>
                </a:solidFill>
                <a:latin typeface="+mn-ea"/>
              </a:rPr>
              <a:t>파기환송</a:t>
            </a:r>
            <a:endParaRPr lang="en-US" altLang="ko-KR" sz="1200" dirty="0">
              <a:solidFill>
                <a:schemeClr val="tx1"/>
              </a:solidFill>
              <a:latin typeface="+mn-ea"/>
            </a:endParaRPr>
          </a:p>
          <a:p>
            <a:r>
              <a:rPr lang="ko-KR" altLang="en-US" sz="1200" dirty="0">
                <a:solidFill>
                  <a:schemeClr val="tx1"/>
                </a:solidFill>
                <a:latin typeface="+mn-ea"/>
              </a:rPr>
              <a:t>결론</a:t>
            </a:r>
            <a:r>
              <a:rPr lang="en-US" altLang="ko-KR" sz="1200" dirty="0">
                <a:solidFill>
                  <a:schemeClr val="tx1"/>
                </a:solidFill>
                <a:latin typeface="+mn-ea"/>
              </a:rPr>
              <a:t>: </a:t>
            </a:r>
            <a:r>
              <a:rPr lang="ko-KR" altLang="en-US" sz="1200" dirty="0">
                <a:solidFill>
                  <a:schemeClr val="tx1"/>
                </a:solidFill>
                <a:latin typeface="+mn-ea"/>
              </a:rPr>
              <a:t>원심판결 전부가 </a:t>
            </a:r>
            <a:r>
              <a:rPr lang="ko-KR" altLang="en-US" sz="1200" dirty="0" err="1">
                <a:solidFill>
                  <a:schemeClr val="tx1"/>
                </a:solidFill>
                <a:latin typeface="+mn-ea"/>
              </a:rPr>
              <a:t>파기환송</a:t>
            </a:r>
            <a:endParaRPr lang="ko-KR" altLang="en-US" sz="1200" dirty="0">
              <a:solidFill>
                <a:schemeClr val="tx1"/>
              </a:solidFill>
              <a:latin typeface="+mn-ea"/>
            </a:endParaRPr>
          </a:p>
        </p:txBody>
      </p:sp>
      <p:cxnSp>
        <p:nvCxnSpPr>
          <p:cNvPr id="96" name="직선 연결선 95">
            <a:extLst>
              <a:ext uri="{FF2B5EF4-FFF2-40B4-BE49-F238E27FC236}">
                <a16:creationId xmlns:a16="http://schemas.microsoft.com/office/drawing/2014/main" id="{A2D085B7-7A5D-48F1-898E-201E78F85DEC}"/>
              </a:ext>
            </a:extLst>
          </p:cNvPr>
          <p:cNvCxnSpPr>
            <a:cxnSpLocks/>
            <a:stCxn id="95" idx="0"/>
            <a:endCxn id="93" idx="2"/>
          </p:cNvCxnSpPr>
          <p:nvPr/>
        </p:nvCxnSpPr>
        <p:spPr>
          <a:xfrm flipV="1">
            <a:off x="10350251" y="5137972"/>
            <a:ext cx="1152" cy="10422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타원 96">
            <a:extLst>
              <a:ext uri="{FF2B5EF4-FFF2-40B4-BE49-F238E27FC236}">
                <a16:creationId xmlns:a16="http://schemas.microsoft.com/office/drawing/2014/main" id="{543704FC-1E2C-4020-861D-BDE29D6AD05D}"/>
              </a:ext>
            </a:extLst>
          </p:cNvPr>
          <p:cNvSpPr/>
          <p:nvPr/>
        </p:nvSpPr>
        <p:spPr>
          <a:xfrm>
            <a:off x="10274033" y="4510864"/>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5" name="직사각형 4">
            <a:extLst>
              <a:ext uri="{FF2B5EF4-FFF2-40B4-BE49-F238E27FC236}">
                <a16:creationId xmlns:a16="http://schemas.microsoft.com/office/drawing/2014/main" id="{D787AEE7-28D7-4802-870D-D84A4EEFFEF0}"/>
              </a:ext>
            </a:extLst>
          </p:cNvPr>
          <p:cNvSpPr/>
          <p:nvPr/>
        </p:nvSpPr>
        <p:spPr>
          <a:xfrm>
            <a:off x="7880358" y="3230976"/>
            <a:ext cx="1022304" cy="2392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a:t>정정청구</a:t>
            </a:r>
          </a:p>
        </p:txBody>
      </p:sp>
      <p:sp>
        <p:nvSpPr>
          <p:cNvPr id="43" name="직사각형 42">
            <a:extLst>
              <a:ext uri="{FF2B5EF4-FFF2-40B4-BE49-F238E27FC236}">
                <a16:creationId xmlns:a16="http://schemas.microsoft.com/office/drawing/2014/main" id="{139B2E2D-8AC9-4485-9E4B-A3FD739F9903}"/>
              </a:ext>
            </a:extLst>
          </p:cNvPr>
          <p:cNvSpPr/>
          <p:nvPr/>
        </p:nvSpPr>
        <p:spPr>
          <a:xfrm>
            <a:off x="7880358" y="3507318"/>
            <a:ext cx="1022304" cy="239214"/>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t>무효심판청구</a:t>
            </a:r>
          </a:p>
        </p:txBody>
      </p:sp>
      <p:sp>
        <p:nvSpPr>
          <p:cNvPr id="44" name="직사각형 43">
            <a:extLst>
              <a:ext uri="{FF2B5EF4-FFF2-40B4-BE49-F238E27FC236}">
                <a16:creationId xmlns:a16="http://schemas.microsoft.com/office/drawing/2014/main" id="{F5B47C83-8C66-4355-A2AB-893CB8ADA18F}"/>
              </a:ext>
            </a:extLst>
          </p:cNvPr>
          <p:cNvSpPr/>
          <p:nvPr/>
        </p:nvSpPr>
        <p:spPr>
          <a:xfrm>
            <a:off x="9560523" y="3048414"/>
            <a:ext cx="308109" cy="239214"/>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bg1">
                    <a:lumMod val="50000"/>
                  </a:schemeClr>
                </a:solidFill>
              </a:rPr>
              <a:t>1</a:t>
            </a:r>
            <a:endParaRPr lang="ko-KR" altLang="en-US" sz="1200" dirty="0">
              <a:solidFill>
                <a:schemeClr val="bg1">
                  <a:lumMod val="50000"/>
                </a:schemeClr>
              </a:solidFill>
            </a:endParaRPr>
          </a:p>
        </p:txBody>
      </p:sp>
      <p:sp>
        <p:nvSpPr>
          <p:cNvPr id="45" name="직사각형 44">
            <a:extLst>
              <a:ext uri="{FF2B5EF4-FFF2-40B4-BE49-F238E27FC236}">
                <a16:creationId xmlns:a16="http://schemas.microsoft.com/office/drawing/2014/main" id="{A84F1E32-2E10-463D-BE53-3D34679C233A}"/>
              </a:ext>
            </a:extLst>
          </p:cNvPr>
          <p:cNvSpPr/>
          <p:nvPr/>
        </p:nvSpPr>
        <p:spPr>
          <a:xfrm>
            <a:off x="9560523" y="3324756"/>
            <a:ext cx="308109" cy="239214"/>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bg1">
                    <a:lumMod val="50000"/>
                  </a:schemeClr>
                </a:solidFill>
              </a:rPr>
              <a:t>2</a:t>
            </a:r>
            <a:endParaRPr lang="ko-KR" altLang="en-US" sz="1200" dirty="0">
              <a:solidFill>
                <a:schemeClr val="bg1">
                  <a:lumMod val="50000"/>
                </a:schemeClr>
              </a:solidFill>
            </a:endParaRPr>
          </a:p>
        </p:txBody>
      </p:sp>
      <p:sp>
        <p:nvSpPr>
          <p:cNvPr id="46" name="직사각형 45">
            <a:extLst>
              <a:ext uri="{FF2B5EF4-FFF2-40B4-BE49-F238E27FC236}">
                <a16:creationId xmlns:a16="http://schemas.microsoft.com/office/drawing/2014/main" id="{7A14716E-4002-4F34-9570-1D0326AA78E9}"/>
              </a:ext>
            </a:extLst>
          </p:cNvPr>
          <p:cNvSpPr/>
          <p:nvPr/>
        </p:nvSpPr>
        <p:spPr>
          <a:xfrm>
            <a:off x="9560523" y="3597294"/>
            <a:ext cx="308109" cy="239214"/>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bg1">
                    <a:lumMod val="50000"/>
                  </a:schemeClr>
                </a:solidFill>
              </a:rPr>
              <a:t>3</a:t>
            </a:r>
            <a:endParaRPr lang="ko-KR" altLang="en-US" sz="1200" dirty="0">
              <a:solidFill>
                <a:schemeClr val="bg1">
                  <a:lumMod val="50000"/>
                </a:schemeClr>
              </a:solidFill>
            </a:endParaRPr>
          </a:p>
        </p:txBody>
      </p:sp>
      <p:sp>
        <p:nvSpPr>
          <p:cNvPr id="47" name="직사각형 46">
            <a:extLst>
              <a:ext uri="{FF2B5EF4-FFF2-40B4-BE49-F238E27FC236}">
                <a16:creationId xmlns:a16="http://schemas.microsoft.com/office/drawing/2014/main" id="{C049C0B6-F8A8-46D7-ADA3-47CE55F004C8}"/>
              </a:ext>
            </a:extLst>
          </p:cNvPr>
          <p:cNvSpPr/>
          <p:nvPr/>
        </p:nvSpPr>
        <p:spPr>
          <a:xfrm>
            <a:off x="9560523" y="3873636"/>
            <a:ext cx="308109" cy="239214"/>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bg1">
                    <a:lumMod val="50000"/>
                  </a:schemeClr>
                </a:solidFill>
              </a:rPr>
              <a:t>4</a:t>
            </a:r>
            <a:endParaRPr lang="ko-KR" altLang="en-US" sz="1200" dirty="0">
              <a:solidFill>
                <a:schemeClr val="bg1">
                  <a:lumMod val="50000"/>
                </a:schemeClr>
              </a:solidFill>
            </a:endParaRPr>
          </a:p>
        </p:txBody>
      </p:sp>
      <p:sp>
        <p:nvSpPr>
          <p:cNvPr id="48" name="직사각형 47">
            <a:extLst>
              <a:ext uri="{FF2B5EF4-FFF2-40B4-BE49-F238E27FC236}">
                <a16:creationId xmlns:a16="http://schemas.microsoft.com/office/drawing/2014/main" id="{8AAEF5E8-E5BA-49F9-B2A7-B82045F58EAD}"/>
              </a:ext>
            </a:extLst>
          </p:cNvPr>
          <p:cNvSpPr/>
          <p:nvPr/>
        </p:nvSpPr>
        <p:spPr>
          <a:xfrm>
            <a:off x="9560523" y="4140246"/>
            <a:ext cx="308109" cy="239214"/>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sz="1200" dirty="0">
                <a:solidFill>
                  <a:schemeClr val="bg1">
                    <a:lumMod val="50000"/>
                  </a:schemeClr>
                </a:solidFill>
              </a:rPr>
              <a:t>5</a:t>
            </a:r>
            <a:endParaRPr lang="ko-KR" altLang="en-US" sz="1200" dirty="0">
              <a:solidFill>
                <a:schemeClr val="bg1">
                  <a:lumMod val="50000"/>
                </a:schemeClr>
              </a:solidFill>
            </a:endParaRPr>
          </a:p>
        </p:txBody>
      </p:sp>
      <p:cxnSp>
        <p:nvCxnSpPr>
          <p:cNvPr id="7" name="연결선: 꺾임 6">
            <a:extLst>
              <a:ext uri="{FF2B5EF4-FFF2-40B4-BE49-F238E27FC236}">
                <a16:creationId xmlns:a16="http://schemas.microsoft.com/office/drawing/2014/main" id="{987D6C72-AE58-4BEF-BCAB-0680A70F470F}"/>
              </a:ext>
            </a:extLst>
          </p:cNvPr>
          <p:cNvCxnSpPr>
            <a:stCxn id="5" idx="3"/>
            <a:endCxn id="44" idx="1"/>
          </p:cNvCxnSpPr>
          <p:nvPr/>
        </p:nvCxnSpPr>
        <p:spPr>
          <a:xfrm flipV="1">
            <a:off x="8902662" y="3168021"/>
            <a:ext cx="657861" cy="18256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연결선: 꺾임 8">
            <a:extLst>
              <a:ext uri="{FF2B5EF4-FFF2-40B4-BE49-F238E27FC236}">
                <a16:creationId xmlns:a16="http://schemas.microsoft.com/office/drawing/2014/main" id="{984A5A2C-BE48-4373-89CF-2119F34A5081}"/>
              </a:ext>
            </a:extLst>
          </p:cNvPr>
          <p:cNvCxnSpPr>
            <a:stCxn id="5" idx="3"/>
            <a:endCxn id="48" idx="1"/>
          </p:cNvCxnSpPr>
          <p:nvPr/>
        </p:nvCxnSpPr>
        <p:spPr>
          <a:xfrm>
            <a:off x="8902662" y="3350583"/>
            <a:ext cx="657861" cy="9092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연결선: 꺾임 52">
            <a:extLst>
              <a:ext uri="{FF2B5EF4-FFF2-40B4-BE49-F238E27FC236}">
                <a16:creationId xmlns:a16="http://schemas.microsoft.com/office/drawing/2014/main" id="{DD5FC010-A902-424F-9F8C-42C7B98E08B3}"/>
              </a:ext>
            </a:extLst>
          </p:cNvPr>
          <p:cNvCxnSpPr>
            <a:cxnSpLocks/>
            <a:stCxn id="5" idx="3"/>
            <a:endCxn id="47" idx="1"/>
          </p:cNvCxnSpPr>
          <p:nvPr/>
        </p:nvCxnSpPr>
        <p:spPr>
          <a:xfrm>
            <a:off x="8902662" y="3350583"/>
            <a:ext cx="657861" cy="642660"/>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연결선: 꺾임 55">
            <a:extLst>
              <a:ext uri="{FF2B5EF4-FFF2-40B4-BE49-F238E27FC236}">
                <a16:creationId xmlns:a16="http://schemas.microsoft.com/office/drawing/2014/main" id="{2982BAEC-A0C6-4AD8-B72A-EBFD793DB936}"/>
              </a:ext>
            </a:extLst>
          </p:cNvPr>
          <p:cNvCxnSpPr>
            <a:cxnSpLocks/>
            <a:stCxn id="5" idx="3"/>
            <a:endCxn id="46" idx="1"/>
          </p:cNvCxnSpPr>
          <p:nvPr/>
        </p:nvCxnSpPr>
        <p:spPr>
          <a:xfrm>
            <a:off x="8902662" y="3350583"/>
            <a:ext cx="657861" cy="366318"/>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연결선: 꺾임 58">
            <a:extLst>
              <a:ext uri="{FF2B5EF4-FFF2-40B4-BE49-F238E27FC236}">
                <a16:creationId xmlns:a16="http://schemas.microsoft.com/office/drawing/2014/main" id="{0B4D032D-5CC9-42B7-8F26-6B9E4437C14A}"/>
              </a:ext>
            </a:extLst>
          </p:cNvPr>
          <p:cNvCxnSpPr>
            <a:cxnSpLocks/>
            <a:stCxn id="5" idx="3"/>
            <a:endCxn id="45" idx="1"/>
          </p:cNvCxnSpPr>
          <p:nvPr/>
        </p:nvCxnSpPr>
        <p:spPr>
          <a:xfrm>
            <a:off x="8902662" y="3350583"/>
            <a:ext cx="657861" cy="93780"/>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직사각형 15">
            <a:extLst>
              <a:ext uri="{FF2B5EF4-FFF2-40B4-BE49-F238E27FC236}">
                <a16:creationId xmlns:a16="http://schemas.microsoft.com/office/drawing/2014/main" id="{1560B65F-0799-43D6-97A7-15FE29D2F3D9}"/>
              </a:ext>
            </a:extLst>
          </p:cNvPr>
          <p:cNvSpPr/>
          <p:nvPr/>
        </p:nvSpPr>
        <p:spPr>
          <a:xfrm>
            <a:off x="7804105" y="3138420"/>
            <a:ext cx="1197020" cy="720075"/>
          </a:xfrm>
          <a:prstGeom prst="rect">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TextBox 16">
            <a:extLst>
              <a:ext uri="{FF2B5EF4-FFF2-40B4-BE49-F238E27FC236}">
                <a16:creationId xmlns:a16="http://schemas.microsoft.com/office/drawing/2014/main" id="{A3F3F76C-4F32-47AA-82A9-5C4111E05E71}"/>
              </a:ext>
            </a:extLst>
          </p:cNvPr>
          <p:cNvSpPr txBox="1"/>
          <p:nvPr/>
        </p:nvSpPr>
        <p:spPr>
          <a:xfrm>
            <a:off x="7983227" y="3888446"/>
            <a:ext cx="881973" cy="307777"/>
          </a:xfrm>
          <a:prstGeom prst="rect">
            <a:avLst/>
          </a:prstGeom>
          <a:noFill/>
        </p:spPr>
        <p:txBody>
          <a:bodyPr wrap="none" rtlCol="0">
            <a:spAutoFit/>
          </a:bodyPr>
          <a:lstStyle/>
          <a:p>
            <a:r>
              <a:rPr lang="ko-KR" altLang="en-US" sz="1400" dirty="0">
                <a:solidFill>
                  <a:srgbClr val="FF0000"/>
                </a:solidFill>
              </a:rPr>
              <a:t>함께 확정</a:t>
            </a:r>
          </a:p>
        </p:txBody>
      </p:sp>
      <p:sp>
        <p:nvSpPr>
          <p:cNvPr id="64" name="직사각형 63">
            <a:extLst>
              <a:ext uri="{FF2B5EF4-FFF2-40B4-BE49-F238E27FC236}">
                <a16:creationId xmlns:a16="http://schemas.microsoft.com/office/drawing/2014/main" id="{24A87F3F-EACA-45DE-AD2F-861A2A0918D1}"/>
              </a:ext>
            </a:extLst>
          </p:cNvPr>
          <p:cNvSpPr/>
          <p:nvPr/>
        </p:nvSpPr>
        <p:spPr>
          <a:xfrm>
            <a:off x="9501172" y="2985255"/>
            <a:ext cx="462585" cy="1482059"/>
          </a:xfrm>
          <a:prstGeom prst="rect">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5" name="TextBox 64">
            <a:extLst>
              <a:ext uri="{FF2B5EF4-FFF2-40B4-BE49-F238E27FC236}">
                <a16:creationId xmlns:a16="http://schemas.microsoft.com/office/drawing/2014/main" id="{EBC84DF3-518C-4087-B4B0-1998E2751239}"/>
              </a:ext>
            </a:extLst>
          </p:cNvPr>
          <p:cNvSpPr txBox="1"/>
          <p:nvPr/>
        </p:nvSpPr>
        <p:spPr>
          <a:xfrm>
            <a:off x="9955454" y="3449206"/>
            <a:ext cx="881973" cy="307777"/>
          </a:xfrm>
          <a:prstGeom prst="rect">
            <a:avLst/>
          </a:prstGeom>
          <a:noFill/>
        </p:spPr>
        <p:txBody>
          <a:bodyPr wrap="none" rtlCol="0">
            <a:spAutoFit/>
          </a:bodyPr>
          <a:lstStyle/>
          <a:p>
            <a:r>
              <a:rPr lang="ko-KR" altLang="en-US" sz="1400" dirty="0">
                <a:solidFill>
                  <a:srgbClr val="FF0000"/>
                </a:solidFill>
              </a:rPr>
              <a:t>함께 확정</a:t>
            </a:r>
          </a:p>
        </p:txBody>
      </p:sp>
      <p:graphicFrame>
        <p:nvGraphicFramePr>
          <p:cNvPr id="6" name="표 7">
            <a:extLst>
              <a:ext uri="{FF2B5EF4-FFF2-40B4-BE49-F238E27FC236}">
                <a16:creationId xmlns:a16="http://schemas.microsoft.com/office/drawing/2014/main" id="{7D36ED5A-567F-D8F4-92EA-58CF09123D66}"/>
              </a:ext>
            </a:extLst>
          </p:cNvPr>
          <p:cNvGraphicFramePr>
            <a:graphicFrameLocks noGrp="1"/>
          </p:cNvGraphicFramePr>
          <p:nvPr/>
        </p:nvGraphicFramePr>
        <p:xfrm>
          <a:off x="3039291" y="3029129"/>
          <a:ext cx="4361579" cy="1402080"/>
        </p:xfrm>
        <a:graphic>
          <a:graphicData uri="http://schemas.openxmlformats.org/drawingml/2006/table">
            <a:tbl>
              <a:tblPr>
                <a:tableStyleId>{8799B23B-EC83-4686-B30A-512413B5E67A}</a:tableStyleId>
              </a:tblPr>
              <a:tblGrid>
                <a:gridCol w="788195">
                  <a:extLst>
                    <a:ext uri="{9D8B030D-6E8A-4147-A177-3AD203B41FA5}">
                      <a16:colId xmlns:a16="http://schemas.microsoft.com/office/drawing/2014/main" val="1230576302"/>
                    </a:ext>
                  </a:extLst>
                </a:gridCol>
                <a:gridCol w="1786692">
                  <a:extLst>
                    <a:ext uri="{9D8B030D-6E8A-4147-A177-3AD203B41FA5}">
                      <a16:colId xmlns:a16="http://schemas.microsoft.com/office/drawing/2014/main" val="2440479529"/>
                    </a:ext>
                  </a:extLst>
                </a:gridCol>
                <a:gridCol w="1786692">
                  <a:extLst>
                    <a:ext uri="{9D8B030D-6E8A-4147-A177-3AD203B41FA5}">
                      <a16:colId xmlns:a16="http://schemas.microsoft.com/office/drawing/2014/main" val="1088827215"/>
                    </a:ext>
                  </a:extLst>
                </a:gridCol>
              </a:tblGrid>
              <a:tr h="0">
                <a:tc>
                  <a:txBody>
                    <a:bodyPr/>
                    <a:lstStyle/>
                    <a:p>
                      <a:pPr latinLnBrk="1"/>
                      <a:r>
                        <a:rPr lang="ko-KR" altLang="en-US" sz="800" dirty="0"/>
                        <a:t>무효심판청구</a:t>
                      </a:r>
                    </a:p>
                  </a:txBody>
                  <a:tcPr/>
                </a:tc>
                <a:tc>
                  <a:txBody>
                    <a:bodyPr/>
                    <a:lstStyle/>
                    <a:p>
                      <a:pPr latinLnBrk="1"/>
                      <a:r>
                        <a:rPr lang="ko-KR" altLang="en-US" sz="800" dirty="0"/>
                        <a:t>정정 전 청구범위</a:t>
                      </a:r>
                      <a:endParaRPr lang="en-US" altLang="ko-KR" sz="800" dirty="0"/>
                    </a:p>
                    <a:p>
                      <a:pPr latinLnBrk="1"/>
                      <a:r>
                        <a:rPr lang="en-US" altLang="ko-KR" sz="800" dirty="0"/>
                        <a:t>(</a:t>
                      </a:r>
                      <a:r>
                        <a:rPr lang="ko-KR" altLang="en-US" sz="800" dirty="0"/>
                        <a:t>정정청구 불인정 전제</a:t>
                      </a:r>
                      <a:r>
                        <a:rPr lang="en-US" altLang="ko-KR" sz="800" dirty="0"/>
                        <a:t>)</a:t>
                      </a:r>
                      <a:endParaRPr lang="ko-KR" altLang="en-US" sz="800" dirty="0"/>
                    </a:p>
                  </a:txBody>
                  <a:tcPr/>
                </a:tc>
                <a:tc>
                  <a:txBody>
                    <a:bodyPr/>
                    <a:lstStyle/>
                    <a:p>
                      <a:pPr latinLnBrk="1"/>
                      <a:r>
                        <a:rPr lang="ko-KR" altLang="en-US" sz="800" dirty="0"/>
                        <a:t>정정 후 청구범위</a:t>
                      </a:r>
                      <a:endParaRPr lang="en-US" altLang="ko-KR" sz="800" dirty="0"/>
                    </a:p>
                    <a:p>
                      <a:pPr latinLnBrk="1"/>
                      <a:r>
                        <a:rPr lang="en-US" altLang="ko-KR" sz="800" dirty="0"/>
                        <a:t>(</a:t>
                      </a:r>
                      <a:r>
                        <a:rPr lang="ko-KR" altLang="en-US" sz="800" dirty="0"/>
                        <a:t>정정청구 인정 전제</a:t>
                      </a:r>
                      <a:r>
                        <a:rPr lang="en-US" altLang="ko-KR" sz="800" dirty="0"/>
                        <a:t>)</a:t>
                      </a:r>
                      <a:endParaRPr lang="ko-KR" altLang="en-US" sz="800" dirty="0"/>
                    </a:p>
                  </a:txBody>
                  <a:tcPr/>
                </a:tc>
                <a:extLst>
                  <a:ext uri="{0D108BD9-81ED-4DB2-BD59-A6C34878D82A}">
                    <a16:rowId xmlns:a16="http://schemas.microsoft.com/office/drawing/2014/main" val="1227749612"/>
                  </a:ext>
                </a:extLst>
              </a:tr>
              <a:tr h="0">
                <a:tc>
                  <a:txBody>
                    <a:bodyPr/>
                    <a:lstStyle/>
                    <a:p>
                      <a:pPr latinLnBrk="1"/>
                      <a:r>
                        <a:rPr lang="en-US" altLang="ko-KR" sz="800" dirty="0"/>
                        <a:t>1</a:t>
                      </a:r>
                      <a:endParaRPr lang="ko-KR" altLang="en-US" sz="800" dirty="0"/>
                    </a:p>
                  </a:txBody>
                  <a:tcPr/>
                </a:tc>
                <a:tc>
                  <a:txBody>
                    <a:bodyPr/>
                    <a:lstStyle/>
                    <a:p>
                      <a:pPr latinLnBrk="1"/>
                      <a:r>
                        <a:rPr lang="en-US" altLang="ko-KR" sz="800" dirty="0"/>
                        <a:t>A</a:t>
                      </a:r>
                      <a:endParaRPr lang="ko-KR" altLang="en-US" sz="800" dirty="0"/>
                    </a:p>
                  </a:txBody>
                  <a:tcPr/>
                </a:tc>
                <a:tc>
                  <a:txBody>
                    <a:bodyPr/>
                    <a:lstStyle/>
                    <a:p>
                      <a:pPr latinLnBrk="1"/>
                      <a:r>
                        <a:rPr lang="en-US" altLang="ko-KR" sz="800" dirty="0"/>
                        <a:t>A1</a:t>
                      </a:r>
                      <a:endParaRPr lang="ko-KR" altLang="en-US" sz="800" dirty="0"/>
                    </a:p>
                  </a:txBody>
                  <a:tcPr/>
                </a:tc>
                <a:extLst>
                  <a:ext uri="{0D108BD9-81ED-4DB2-BD59-A6C34878D82A}">
                    <a16:rowId xmlns:a16="http://schemas.microsoft.com/office/drawing/2014/main" val="3385307394"/>
                  </a:ext>
                </a:extLst>
              </a:tr>
              <a:tr h="0">
                <a:tc>
                  <a:txBody>
                    <a:bodyPr/>
                    <a:lstStyle/>
                    <a:p>
                      <a:pPr latinLnBrk="1"/>
                      <a:r>
                        <a:rPr lang="en-US" altLang="ko-KR" sz="800" dirty="0"/>
                        <a:t>2</a:t>
                      </a:r>
                      <a:endParaRPr lang="ko-KR" altLang="en-US" sz="800" dirty="0"/>
                    </a:p>
                  </a:txBody>
                  <a:tcPr/>
                </a:tc>
                <a:tc>
                  <a:txBody>
                    <a:bodyPr/>
                    <a:lstStyle/>
                    <a:p>
                      <a:pPr latinLnBrk="1"/>
                      <a:r>
                        <a:rPr lang="en-US" altLang="ko-KR" sz="800" dirty="0"/>
                        <a:t>B</a:t>
                      </a:r>
                      <a:endParaRPr lang="ko-KR" altLang="en-US" sz="800" dirty="0"/>
                    </a:p>
                  </a:txBody>
                  <a:tcPr/>
                </a:tc>
                <a:tc>
                  <a:txBody>
                    <a:bodyPr/>
                    <a:lstStyle/>
                    <a:p>
                      <a:pPr latinLnBrk="1"/>
                      <a:r>
                        <a:rPr lang="en-US" altLang="ko-KR" sz="800" dirty="0"/>
                        <a:t>B1</a:t>
                      </a:r>
                      <a:endParaRPr lang="ko-KR" altLang="en-US" sz="800" dirty="0"/>
                    </a:p>
                  </a:txBody>
                  <a:tcPr/>
                </a:tc>
                <a:extLst>
                  <a:ext uri="{0D108BD9-81ED-4DB2-BD59-A6C34878D82A}">
                    <a16:rowId xmlns:a16="http://schemas.microsoft.com/office/drawing/2014/main" val="2656740182"/>
                  </a:ext>
                </a:extLst>
              </a:tr>
              <a:tr h="0">
                <a:tc>
                  <a:txBody>
                    <a:bodyPr/>
                    <a:lstStyle/>
                    <a:p>
                      <a:pPr latinLnBrk="1"/>
                      <a:r>
                        <a:rPr lang="en-US" altLang="ko-KR" sz="800" dirty="0"/>
                        <a:t>3</a:t>
                      </a:r>
                      <a:endParaRPr lang="ko-KR" altLang="en-US" sz="800" dirty="0"/>
                    </a:p>
                  </a:txBody>
                  <a:tcPr/>
                </a:tc>
                <a:tc>
                  <a:txBody>
                    <a:bodyPr/>
                    <a:lstStyle/>
                    <a:p>
                      <a:pPr latinLnBrk="1"/>
                      <a:r>
                        <a:rPr lang="en-US" altLang="ko-KR" sz="800" dirty="0"/>
                        <a:t>C</a:t>
                      </a:r>
                      <a:endParaRPr lang="ko-KR" altLang="en-US" sz="800" dirty="0"/>
                    </a:p>
                  </a:txBody>
                  <a:tcPr/>
                </a:tc>
                <a:tc>
                  <a:txBody>
                    <a:bodyPr/>
                    <a:lstStyle/>
                    <a:p>
                      <a:pPr latinLnBrk="1"/>
                      <a:r>
                        <a:rPr lang="en-US" altLang="ko-KR" sz="800" dirty="0"/>
                        <a:t>C1</a:t>
                      </a:r>
                      <a:endParaRPr lang="ko-KR" altLang="en-US" sz="800" dirty="0"/>
                    </a:p>
                  </a:txBody>
                  <a:tcPr/>
                </a:tc>
                <a:extLst>
                  <a:ext uri="{0D108BD9-81ED-4DB2-BD59-A6C34878D82A}">
                    <a16:rowId xmlns:a16="http://schemas.microsoft.com/office/drawing/2014/main" val="1266131310"/>
                  </a:ext>
                </a:extLst>
              </a:tr>
              <a:tr h="0">
                <a:tc>
                  <a:txBody>
                    <a:bodyPr/>
                    <a:lstStyle/>
                    <a:p>
                      <a:pPr latinLnBrk="1"/>
                      <a:r>
                        <a:rPr lang="en-US" altLang="ko-KR" sz="800" dirty="0"/>
                        <a:t>4</a:t>
                      </a:r>
                      <a:endParaRPr lang="ko-KR" altLang="en-US" sz="800" dirty="0"/>
                    </a:p>
                  </a:txBody>
                  <a:tcPr/>
                </a:tc>
                <a:tc>
                  <a:txBody>
                    <a:bodyPr/>
                    <a:lstStyle/>
                    <a:p>
                      <a:pPr latinLnBrk="1"/>
                      <a:r>
                        <a:rPr lang="en-US" altLang="ko-KR" sz="800" dirty="0"/>
                        <a:t>D</a:t>
                      </a:r>
                      <a:endParaRPr lang="ko-KR" altLang="en-US" sz="800" dirty="0"/>
                    </a:p>
                  </a:txBody>
                  <a:tcPr/>
                </a:tc>
                <a:tc>
                  <a:txBody>
                    <a:bodyPr/>
                    <a:lstStyle/>
                    <a:p>
                      <a:pPr latinLnBrk="1"/>
                      <a:r>
                        <a:rPr lang="en-US" altLang="ko-KR" sz="800" dirty="0"/>
                        <a:t>D1</a:t>
                      </a:r>
                      <a:endParaRPr lang="ko-KR" altLang="en-US" sz="800" dirty="0"/>
                    </a:p>
                  </a:txBody>
                  <a:tcPr/>
                </a:tc>
                <a:extLst>
                  <a:ext uri="{0D108BD9-81ED-4DB2-BD59-A6C34878D82A}">
                    <a16:rowId xmlns:a16="http://schemas.microsoft.com/office/drawing/2014/main" val="1453601447"/>
                  </a:ext>
                </a:extLst>
              </a:tr>
              <a:tr h="0">
                <a:tc>
                  <a:txBody>
                    <a:bodyPr/>
                    <a:lstStyle/>
                    <a:p>
                      <a:pPr latinLnBrk="1"/>
                      <a:r>
                        <a:rPr lang="en-US" altLang="ko-KR" sz="800" dirty="0"/>
                        <a:t>5</a:t>
                      </a:r>
                      <a:endParaRPr lang="ko-KR" altLang="en-US" sz="800" dirty="0"/>
                    </a:p>
                  </a:txBody>
                  <a:tcPr/>
                </a:tc>
                <a:tc>
                  <a:txBody>
                    <a:bodyPr/>
                    <a:lstStyle/>
                    <a:p>
                      <a:pPr latinLnBrk="1"/>
                      <a:r>
                        <a:rPr lang="en-US" altLang="ko-KR" sz="800" dirty="0"/>
                        <a:t>E</a:t>
                      </a:r>
                      <a:endParaRPr lang="ko-KR" altLang="en-US" sz="800" dirty="0"/>
                    </a:p>
                  </a:txBody>
                  <a:tcPr/>
                </a:tc>
                <a:tc>
                  <a:txBody>
                    <a:bodyPr/>
                    <a:lstStyle/>
                    <a:p>
                      <a:pPr latinLnBrk="1"/>
                      <a:r>
                        <a:rPr lang="en-US" altLang="ko-KR" sz="800" dirty="0"/>
                        <a:t>E1</a:t>
                      </a:r>
                      <a:endParaRPr lang="ko-KR" altLang="en-US" sz="800" dirty="0"/>
                    </a:p>
                  </a:txBody>
                  <a:tcPr/>
                </a:tc>
                <a:extLst>
                  <a:ext uri="{0D108BD9-81ED-4DB2-BD59-A6C34878D82A}">
                    <a16:rowId xmlns:a16="http://schemas.microsoft.com/office/drawing/2014/main" val="2065628294"/>
                  </a:ext>
                </a:extLst>
              </a:tr>
            </a:tbl>
          </a:graphicData>
        </a:graphic>
      </p:graphicFrame>
      <p:sp>
        <p:nvSpPr>
          <p:cNvPr id="10" name="TextBox 9">
            <a:extLst>
              <a:ext uri="{FF2B5EF4-FFF2-40B4-BE49-F238E27FC236}">
                <a16:creationId xmlns:a16="http://schemas.microsoft.com/office/drawing/2014/main" id="{E9462EEA-D606-8AD7-A5A3-935EF659319B}"/>
              </a:ext>
            </a:extLst>
          </p:cNvPr>
          <p:cNvSpPr txBox="1"/>
          <p:nvPr/>
        </p:nvSpPr>
        <p:spPr>
          <a:xfrm>
            <a:off x="3554378" y="6343945"/>
            <a:ext cx="813043" cy="369332"/>
          </a:xfrm>
          <a:prstGeom prst="rect">
            <a:avLst/>
          </a:prstGeom>
          <a:noFill/>
        </p:spPr>
        <p:txBody>
          <a:bodyPr wrap="none" rtlCol="0">
            <a:spAutoFit/>
          </a:bodyPr>
          <a:lstStyle/>
          <a:p>
            <a:r>
              <a:rPr lang="en-US" altLang="ko-KR" dirty="0">
                <a:solidFill>
                  <a:srgbClr val="FF0000"/>
                </a:solidFill>
                <a:highlight>
                  <a:srgbClr val="FFFF00"/>
                </a:highlight>
              </a:rPr>
              <a:t>A1-E1</a:t>
            </a:r>
            <a:endParaRPr lang="ko-KR" altLang="en-US" dirty="0">
              <a:solidFill>
                <a:srgbClr val="FF0000"/>
              </a:solidFill>
              <a:highlight>
                <a:srgbClr val="FFFF00"/>
              </a:highlight>
            </a:endParaRPr>
          </a:p>
        </p:txBody>
      </p:sp>
      <p:sp>
        <p:nvSpPr>
          <p:cNvPr id="11" name="TextBox 10">
            <a:extLst>
              <a:ext uri="{FF2B5EF4-FFF2-40B4-BE49-F238E27FC236}">
                <a16:creationId xmlns:a16="http://schemas.microsoft.com/office/drawing/2014/main" id="{86E75791-BAA0-90C8-6FB0-3EEBF1964F2F}"/>
              </a:ext>
            </a:extLst>
          </p:cNvPr>
          <p:cNvSpPr txBox="1"/>
          <p:nvPr/>
        </p:nvSpPr>
        <p:spPr>
          <a:xfrm>
            <a:off x="6535882" y="6343945"/>
            <a:ext cx="556563" cy="369332"/>
          </a:xfrm>
          <a:prstGeom prst="rect">
            <a:avLst/>
          </a:prstGeom>
          <a:noFill/>
        </p:spPr>
        <p:txBody>
          <a:bodyPr wrap="none" rtlCol="0">
            <a:spAutoFit/>
          </a:bodyPr>
          <a:lstStyle/>
          <a:p>
            <a:r>
              <a:rPr lang="en-US" altLang="ko-KR" dirty="0">
                <a:solidFill>
                  <a:srgbClr val="FF0000"/>
                </a:solidFill>
                <a:highlight>
                  <a:srgbClr val="FFFF00"/>
                </a:highlight>
              </a:rPr>
              <a:t>A-E</a:t>
            </a:r>
            <a:endParaRPr lang="ko-KR" altLang="en-US" dirty="0">
              <a:solidFill>
                <a:srgbClr val="FF0000"/>
              </a:solidFill>
              <a:highlight>
                <a:srgbClr val="FFFF00"/>
              </a:highlight>
            </a:endParaRPr>
          </a:p>
        </p:txBody>
      </p:sp>
      <p:sp>
        <p:nvSpPr>
          <p:cNvPr id="12" name="TextBox 11">
            <a:extLst>
              <a:ext uri="{FF2B5EF4-FFF2-40B4-BE49-F238E27FC236}">
                <a16:creationId xmlns:a16="http://schemas.microsoft.com/office/drawing/2014/main" id="{61E7506F-82A5-0430-0C7D-4595CABD2E07}"/>
              </a:ext>
            </a:extLst>
          </p:cNvPr>
          <p:cNvSpPr txBox="1"/>
          <p:nvPr/>
        </p:nvSpPr>
        <p:spPr>
          <a:xfrm>
            <a:off x="10598858" y="4907139"/>
            <a:ext cx="325730" cy="369332"/>
          </a:xfrm>
          <a:prstGeom prst="rect">
            <a:avLst/>
          </a:prstGeom>
          <a:noFill/>
        </p:spPr>
        <p:txBody>
          <a:bodyPr wrap="none" rtlCol="0">
            <a:spAutoFit/>
          </a:bodyPr>
          <a:lstStyle/>
          <a:p>
            <a:r>
              <a:rPr lang="en-US" altLang="ko-KR" dirty="0">
                <a:solidFill>
                  <a:srgbClr val="FF0000"/>
                </a:solidFill>
                <a:highlight>
                  <a:srgbClr val="FFFF00"/>
                </a:highlight>
              </a:rPr>
              <a:t>C</a:t>
            </a:r>
            <a:endParaRPr lang="ko-KR" altLang="en-US" dirty="0">
              <a:solidFill>
                <a:srgbClr val="FF0000"/>
              </a:solidFill>
              <a:highlight>
                <a:srgbClr val="FFFF00"/>
              </a:highlight>
            </a:endParaRPr>
          </a:p>
        </p:txBody>
      </p:sp>
      <p:sp>
        <p:nvSpPr>
          <p:cNvPr id="13" name="TextBox 12">
            <a:extLst>
              <a:ext uri="{FF2B5EF4-FFF2-40B4-BE49-F238E27FC236}">
                <a16:creationId xmlns:a16="http://schemas.microsoft.com/office/drawing/2014/main" id="{2D09F7A7-28E8-EE6B-D56F-AF7954BA0DCB}"/>
              </a:ext>
            </a:extLst>
          </p:cNvPr>
          <p:cNvSpPr txBox="1"/>
          <p:nvPr/>
        </p:nvSpPr>
        <p:spPr>
          <a:xfrm>
            <a:off x="10892487" y="6382045"/>
            <a:ext cx="1172116" cy="369332"/>
          </a:xfrm>
          <a:prstGeom prst="rect">
            <a:avLst/>
          </a:prstGeom>
          <a:noFill/>
        </p:spPr>
        <p:txBody>
          <a:bodyPr wrap="none" rtlCol="0">
            <a:spAutoFit/>
          </a:bodyPr>
          <a:lstStyle/>
          <a:p>
            <a:r>
              <a:rPr lang="en-US" altLang="ko-KR" dirty="0">
                <a:solidFill>
                  <a:srgbClr val="FF0000"/>
                </a:solidFill>
                <a:highlight>
                  <a:srgbClr val="FFFF00"/>
                </a:highlight>
              </a:rPr>
              <a:t>A, B, D, E</a:t>
            </a:r>
            <a:endParaRPr lang="ko-KR" altLang="en-US" dirty="0">
              <a:solidFill>
                <a:srgbClr val="FF0000"/>
              </a:solidFill>
              <a:highlight>
                <a:srgbClr val="FFFF00"/>
              </a:highlight>
            </a:endParaRPr>
          </a:p>
        </p:txBody>
      </p:sp>
    </p:spTree>
    <p:extLst>
      <p:ext uri="{BB962C8B-B14F-4D97-AF65-F5344CB8AC3E}">
        <p14:creationId xmlns:p14="http://schemas.microsoft.com/office/powerpoint/2010/main" val="3930073033"/>
      </p:ext>
    </p:extLst>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577EF3-6564-22B1-3CA5-B13B362BAA92}"/>
            </a:ext>
          </a:extLst>
        </p:cNvPr>
        <p:cNvGrpSpPr/>
        <p:nvPr/>
      </p:nvGrpSpPr>
      <p:grpSpPr>
        <a:xfrm>
          <a:off x="0" y="0"/>
          <a:ext cx="0" cy="0"/>
          <a:chOff x="0" y="0"/>
          <a:chExt cx="0" cy="0"/>
        </a:xfrm>
      </p:grpSpPr>
      <p:sp>
        <p:nvSpPr>
          <p:cNvPr id="2" name="제목 1">
            <a:extLst>
              <a:ext uri="{FF2B5EF4-FFF2-40B4-BE49-F238E27FC236}">
                <a16:creationId xmlns:a16="http://schemas.microsoft.com/office/drawing/2014/main" id="{68E70C63-29E9-BF14-3980-1C7F2CEDF5DC}"/>
              </a:ext>
            </a:extLst>
          </p:cNvPr>
          <p:cNvSpPr>
            <a:spLocks noGrp="1"/>
          </p:cNvSpPr>
          <p:nvPr>
            <p:ph type="title"/>
          </p:nvPr>
        </p:nvSpPr>
        <p:spPr/>
        <p:txBody>
          <a:bodyPr/>
          <a:lstStyle/>
          <a:p>
            <a:r>
              <a:rPr lang="ko-KR" altLang="en-US" sz="1600" dirty="0"/>
              <a:t>제</a:t>
            </a:r>
            <a:r>
              <a:rPr lang="en-US" altLang="ko-KR" sz="1600" dirty="0"/>
              <a:t>132</a:t>
            </a:r>
            <a:r>
              <a:rPr lang="ko-KR" altLang="en-US" sz="1600" dirty="0"/>
              <a:t>조의</a:t>
            </a:r>
            <a:r>
              <a:rPr lang="en-US" altLang="ko-KR" sz="1600" dirty="0"/>
              <a:t>3, </a:t>
            </a:r>
            <a:br>
              <a:rPr lang="en-US" altLang="ko-KR" sz="1600" dirty="0"/>
            </a:br>
            <a:r>
              <a:rPr lang="ko-KR" altLang="en-US" sz="1600" dirty="0"/>
              <a:t>제</a:t>
            </a:r>
            <a:r>
              <a:rPr lang="en-US" altLang="ko-KR" sz="1600" dirty="0"/>
              <a:t>133</a:t>
            </a:r>
            <a:r>
              <a:rPr lang="ko-KR" altLang="en-US" sz="1600" dirty="0"/>
              <a:t>조의</a:t>
            </a:r>
            <a:r>
              <a:rPr lang="en-US" altLang="ko-KR" sz="1600" dirty="0"/>
              <a:t>2, </a:t>
            </a:r>
            <a:r>
              <a:rPr lang="ko-KR" altLang="en-US" sz="1600" dirty="0"/>
              <a:t>제</a:t>
            </a:r>
            <a:r>
              <a:rPr lang="en-US" altLang="ko-KR" sz="1600" dirty="0"/>
              <a:t>137</a:t>
            </a:r>
            <a:r>
              <a:rPr lang="ko-KR" altLang="en-US" sz="1600" dirty="0"/>
              <a:t>조</a:t>
            </a:r>
          </a:p>
        </p:txBody>
      </p:sp>
      <p:sp>
        <p:nvSpPr>
          <p:cNvPr id="3" name="텍스트 개체 틀 2">
            <a:extLst>
              <a:ext uri="{FF2B5EF4-FFF2-40B4-BE49-F238E27FC236}">
                <a16:creationId xmlns:a16="http://schemas.microsoft.com/office/drawing/2014/main" id="{F92AB86B-B594-ED77-13F2-6A7E7D79A9BB}"/>
              </a:ext>
            </a:extLst>
          </p:cNvPr>
          <p:cNvSpPr>
            <a:spLocks noGrp="1"/>
          </p:cNvSpPr>
          <p:nvPr>
            <p:ph type="body" sz="quarter" idx="13"/>
          </p:nvPr>
        </p:nvSpPr>
        <p:spPr/>
        <p:txBody>
          <a:bodyPr/>
          <a:lstStyle/>
          <a:p>
            <a:r>
              <a:rPr lang="ko-KR" altLang="en-US" dirty="0"/>
              <a:t>무효심판에서의 정정청구 </a:t>
            </a:r>
            <a:r>
              <a:rPr lang="en-US" altLang="ko-KR" dirty="0"/>
              <a:t>CASE</a:t>
            </a:r>
            <a:endParaRPr lang="ko-KR" altLang="en-US" dirty="0"/>
          </a:p>
        </p:txBody>
      </p:sp>
      <p:sp>
        <p:nvSpPr>
          <p:cNvPr id="55" name="직사각형 54">
            <a:extLst>
              <a:ext uri="{FF2B5EF4-FFF2-40B4-BE49-F238E27FC236}">
                <a16:creationId xmlns:a16="http://schemas.microsoft.com/office/drawing/2014/main" id="{08E1D3CC-6DE1-7554-580E-A8B7BFAD655D}"/>
              </a:ext>
            </a:extLst>
          </p:cNvPr>
          <p:cNvSpPr/>
          <p:nvPr/>
        </p:nvSpPr>
        <p:spPr>
          <a:xfrm>
            <a:off x="35861" y="1321147"/>
            <a:ext cx="5382625" cy="1938992"/>
          </a:xfrm>
          <a:prstGeom prst="rect">
            <a:avLst/>
          </a:prstGeom>
          <a:ln>
            <a:solidFill>
              <a:schemeClr val="tx1">
                <a:lumMod val="50000"/>
                <a:lumOff val="50000"/>
              </a:schemeClr>
            </a:solidFill>
          </a:ln>
        </p:spPr>
        <p:txBody>
          <a:bodyPr wrap="square">
            <a:spAutoFit/>
          </a:bodyPr>
          <a:lstStyle/>
          <a:p>
            <a:pPr algn="just" fontAlgn="base"/>
            <a:r>
              <a:rPr lang="ko-KR" altLang="en-US" sz="1000" dirty="0"/>
              <a:t>특허발명의 보호범위는 청구범위에 적혀 있는 사항에 의하여 </a:t>
            </a:r>
            <a:r>
              <a:rPr lang="ko-KR" altLang="en-US" sz="1000" dirty="0" err="1"/>
              <a:t>정하여지고</a:t>
            </a:r>
            <a:r>
              <a:rPr lang="en-US" altLang="ko-KR" sz="1000" dirty="0"/>
              <a:t>(</a:t>
            </a:r>
            <a:r>
              <a:rPr lang="ko-KR" altLang="en-US" sz="1000" dirty="0"/>
              <a:t>특허법 제</a:t>
            </a:r>
            <a:r>
              <a:rPr lang="en-US" altLang="ko-KR" sz="1000" dirty="0"/>
              <a:t>97</a:t>
            </a:r>
            <a:r>
              <a:rPr lang="ko-KR" altLang="en-US" sz="1000" dirty="0"/>
              <a:t>조</a:t>
            </a:r>
            <a:r>
              <a:rPr lang="en-US" altLang="ko-KR" sz="1000" dirty="0"/>
              <a:t>), </a:t>
            </a:r>
            <a:r>
              <a:rPr lang="ko-KR" altLang="en-US" sz="1000" dirty="0"/>
              <a:t>발명의 설명이나 도면 등에 의하여 그 보호범위를 제한하거나 확장하는 것은 원칙적으로 허용되지 않는다</a:t>
            </a:r>
            <a:r>
              <a:rPr lang="en-US" altLang="ko-KR" sz="1000" dirty="0"/>
              <a:t>. </a:t>
            </a:r>
            <a:r>
              <a:rPr lang="ko-KR" altLang="en-US" sz="1000" dirty="0"/>
              <a:t>다만 청구범위에 적혀 있는 사항은 발명의 설명이나 도면 등을 참작해야 그 기술적인 의미를 정확하게 이해할 수 있으므로</a:t>
            </a:r>
            <a:r>
              <a:rPr lang="en-US" altLang="ko-KR" sz="1000" dirty="0"/>
              <a:t>, </a:t>
            </a:r>
            <a:r>
              <a:rPr lang="ko-KR" altLang="en-US" sz="1000" dirty="0"/>
              <a:t>청구범위에 적혀 있는 사항의 해석은 문언의 일반적인 의미 내용을 기초로 하면서도 발명의 설명이나 도면 등을 참작하여 문언에 의하여 표현하고자 하는 기술적 의의를 고찰한 다음 </a:t>
            </a:r>
            <a:r>
              <a:rPr lang="ko-KR" altLang="en-US" sz="1000" dirty="0" err="1"/>
              <a:t>객관적ㆍ합리적으로</a:t>
            </a:r>
            <a:r>
              <a:rPr lang="ko-KR" altLang="en-US" sz="1000" dirty="0"/>
              <a:t> 하여야 한다</a:t>
            </a:r>
            <a:r>
              <a:rPr lang="en-US" altLang="ko-KR" sz="1000" dirty="0"/>
              <a:t>. </a:t>
            </a:r>
            <a:r>
              <a:rPr lang="ko-KR" altLang="en-US" sz="1000" dirty="0"/>
              <a:t>그러나 발명의 설명과 도면 등을 참작한다고 하더라도 발명의 설명이나 도면 등 다른 기재에 따라 청구범위를 제한하거나 확장하여 해석하는 것은 허용되지 않는다</a:t>
            </a:r>
            <a:r>
              <a:rPr lang="en-US" altLang="ko-KR" sz="1000" dirty="0"/>
              <a:t>(</a:t>
            </a:r>
            <a:r>
              <a:rPr lang="ko-KR" altLang="en-US" sz="1000" dirty="0"/>
              <a:t>대법원 </a:t>
            </a:r>
            <a:r>
              <a:rPr lang="en-US" altLang="ko-KR" sz="1000" dirty="0"/>
              <a:t>2015. 5. 14. </a:t>
            </a:r>
            <a:r>
              <a:rPr lang="ko-KR" altLang="en-US" sz="1000" dirty="0"/>
              <a:t>선고 </a:t>
            </a:r>
            <a:r>
              <a:rPr lang="en-US" altLang="ko-KR" sz="1000" dirty="0"/>
              <a:t>2014</a:t>
            </a:r>
            <a:r>
              <a:rPr lang="ko-KR" altLang="en-US" sz="1000" dirty="0"/>
              <a:t>후</a:t>
            </a:r>
            <a:r>
              <a:rPr lang="en-US" altLang="ko-KR" sz="1000" dirty="0"/>
              <a:t>2788 </a:t>
            </a:r>
            <a:r>
              <a:rPr lang="ko-KR" altLang="en-US" sz="1000" dirty="0"/>
              <a:t>판결</a:t>
            </a:r>
            <a:r>
              <a:rPr lang="en-US" altLang="ko-KR" sz="1000" dirty="0"/>
              <a:t>, </a:t>
            </a:r>
            <a:r>
              <a:rPr lang="ko-KR" altLang="en-US" sz="1000" dirty="0"/>
              <a:t>대법원 </a:t>
            </a:r>
            <a:r>
              <a:rPr lang="en-US" altLang="ko-KR" sz="1000" dirty="0"/>
              <a:t>2020. 4. 9. </a:t>
            </a:r>
            <a:r>
              <a:rPr lang="ko-KR" altLang="en-US" sz="1000" dirty="0"/>
              <a:t>선고 </a:t>
            </a:r>
            <a:r>
              <a:rPr lang="en-US" altLang="ko-KR" sz="1000" dirty="0"/>
              <a:t>2018</a:t>
            </a:r>
            <a:r>
              <a:rPr lang="ko-KR" altLang="en-US" sz="1000" dirty="0"/>
              <a:t>후</a:t>
            </a:r>
            <a:r>
              <a:rPr lang="en-US" altLang="ko-KR" sz="1000" dirty="0"/>
              <a:t>12202 </a:t>
            </a:r>
            <a:r>
              <a:rPr lang="ko-KR" altLang="en-US" sz="1000" dirty="0"/>
              <a:t>판결 등 참조</a:t>
            </a:r>
            <a:r>
              <a:rPr lang="en-US" altLang="ko-KR" sz="1000" dirty="0"/>
              <a:t>).</a:t>
            </a:r>
          </a:p>
          <a:p>
            <a:pPr algn="just" fontAlgn="base"/>
            <a:r>
              <a:rPr lang="ko-KR" altLang="en-US" sz="1000" dirty="0">
                <a:solidFill>
                  <a:srgbClr val="FF0000"/>
                </a:solidFill>
              </a:rPr>
              <a:t>한편 특허법 제</a:t>
            </a:r>
            <a:r>
              <a:rPr lang="en-US" altLang="ko-KR" sz="1000" dirty="0">
                <a:solidFill>
                  <a:srgbClr val="FF0000"/>
                </a:solidFill>
              </a:rPr>
              <a:t>136</a:t>
            </a:r>
            <a:r>
              <a:rPr lang="ko-KR" altLang="en-US" sz="1000" dirty="0">
                <a:solidFill>
                  <a:srgbClr val="FF0000"/>
                </a:solidFill>
              </a:rPr>
              <a:t>조 제</a:t>
            </a:r>
            <a:r>
              <a:rPr lang="en-US" altLang="ko-KR" sz="1000" dirty="0">
                <a:solidFill>
                  <a:srgbClr val="FF0000"/>
                </a:solidFill>
              </a:rPr>
              <a:t>1</a:t>
            </a:r>
            <a:r>
              <a:rPr lang="ko-KR" altLang="en-US" sz="1000" dirty="0">
                <a:solidFill>
                  <a:srgbClr val="FF0000"/>
                </a:solidFill>
              </a:rPr>
              <a:t>항</a:t>
            </a:r>
            <a:r>
              <a:rPr lang="en-US" altLang="ko-KR" sz="1000" dirty="0">
                <a:solidFill>
                  <a:srgbClr val="FF0000"/>
                </a:solidFill>
              </a:rPr>
              <a:t>, </a:t>
            </a:r>
            <a:r>
              <a:rPr lang="ko-KR" altLang="en-US" sz="1000" dirty="0">
                <a:solidFill>
                  <a:srgbClr val="FF0000"/>
                </a:solidFill>
              </a:rPr>
              <a:t>제</a:t>
            </a:r>
            <a:r>
              <a:rPr lang="en-US" altLang="ko-KR" sz="1000" dirty="0">
                <a:solidFill>
                  <a:srgbClr val="FF0000"/>
                </a:solidFill>
              </a:rPr>
              <a:t>4</a:t>
            </a:r>
            <a:r>
              <a:rPr lang="ko-KR" altLang="en-US" sz="1000" dirty="0">
                <a:solidFill>
                  <a:srgbClr val="FF0000"/>
                </a:solidFill>
              </a:rPr>
              <a:t>항에서는 청구범위를 감축하는 경우</a:t>
            </a:r>
            <a:r>
              <a:rPr lang="en-US" altLang="ko-KR" sz="1000" dirty="0">
                <a:solidFill>
                  <a:srgbClr val="FF0000"/>
                </a:solidFill>
              </a:rPr>
              <a:t>, </a:t>
            </a:r>
            <a:r>
              <a:rPr lang="ko-KR" altLang="en-US" sz="1000" dirty="0">
                <a:solidFill>
                  <a:srgbClr val="FF0000"/>
                </a:solidFill>
              </a:rPr>
              <a:t>잘못 기재된 사항을 정정하는 경우</a:t>
            </a:r>
            <a:r>
              <a:rPr lang="en-US" altLang="ko-KR" sz="1000" dirty="0">
                <a:solidFill>
                  <a:srgbClr val="FF0000"/>
                </a:solidFill>
              </a:rPr>
              <a:t>, </a:t>
            </a:r>
            <a:r>
              <a:rPr lang="ko-KR" altLang="en-US" sz="1000" dirty="0">
                <a:solidFill>
                  <a:srgbClr val="FF0000"/>
                </a:solidFill>
              </a:rPr>
              <a:t>분명하지 아니하게 기재된 사항을 명확하게 하는 경우에 한하여 특허권자가 특허발명의 명세서 또는 도면에 대하여 정정심판을 청구할 수 있도록 하면서 이에 따른 정정은 청구범위를 실질적으로 확장하거나 변경할 수 없다고 규정하고 있다</a:t>
            </a:r>
            <a:r>
              <a:rPr lang="en-US" altLang="ko-KR" sz="1000" dirty="0">
                <a:solidFill>
                  <a:srgbClr val="FF0000"/>
                </a:solidFill>
              </a:rPr>
              <a:t>.</a:t>
            </a:r>
            <a:endParaRPr lang="ko-KR" altLang="en-US" sz="1000" dirty="0">
              <a:solidFill>
                <a:srgbClr val="FF0000"/>
              </a:solidFill>
            </a:endParaRPr>
          </a:p>
        </p:txBody>
      </p:sp>
      <p:sp>
        <p:nvSpPr>
          <p:cNvPr id="25" name="모서리가 둥근 직사각형 10">
            <a:extLst>
              <a:ext uri="{FF2B5EF4-FFF2-40B4-BE49-F238E27FC236}">
                <a16:creationId xmlns:a16="http://schemas.microsoft.com/office/drawing/2014/main" id="{A8F07FC4-DF96-F9D9-6EFA-EFC0D937B567}"/>
              </a:ext>
            </a:extLst>
          </p:cNvPr>
          <p:cNvSpPr/>
          <p:nvPr/>
        </p:nvSpPr>
        <p:spPr bwMode="auto">
          <a:xfrm>
            <a:off x="10864" y="1002199"/>
            <a:ext cx="4184617"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200" dirty="0"/>
              <a:t>대법원 </a:t>
            </a:r>
            <a:r>
              <a:rPr lang="en-US" altLang="ko-KR" sz="1200" dirty="0"/>
              <a:t>2025. 6. 26. </a:t>
            </a:r>
            <a:r>
              <a:rPr lang="ko-KR" altLang="en-US" sz="1200" dirty="0"/>
              <a:t>선고 </a:t>
            </a:r>
            <a:r>
              <a:rPr lang="en-US" altLang="ko-KR" sz="1200" dirty="0"/>
              <a:t>2023</a:t>
            </a:r>
            <a:r>
              <a:rPr lang="ko-KR" altLang="en-US" sz="1200" dirty="0"/>
              <a:t>후</a:t>
            </a:r>
            <a:r>
              <a:rPr lang="en-US" altLang="ko-KR" sz="1200" dirty="0"/>
              <a:t>11487 </a:t>
            </a:r>
            <a:r>
              <a:rPr lang="ko-KR" altLang="en-US" sz="1200" dirty="0"/>
              <a:t>판결 </a:t>
            </a:r>
            <a:r>
              <a:rPr lang="en-US" altLang="ko-KR" sz="1200" dirty="0"/>
              <a:t>【</a:t>
            </a:r>
            <a:r>
              <a:rPr lang="ko-KR" altLang="en-US" sz="1200" dirty="0"/>
              <a:t>등록무효</a:t>
            </a:r>
            <a:r>
              <a:rPr lang="en-US" altLang="ko-KR" sz="1200" dirty="0"/>
              <a:t>(</a:t>
            </a:r>
            <a:r>
              <a:rPr lang="ko-KR" altLang="en-US" sz="1200" dirty="0" err="1"/>
              <a:t>특</a:t>
            </a:r>
            <a:r>
              <a:rPr lang="en-US" altLang="ko-KR" sz="1200" dirty="0"/>
              <a:t>)】</a:t>
            </a:r>
          </a:p>
        </p:txBody>
      </p:sp>
      <p:sp>
        <p:nvSpPr>
          <p:cNvPr id="26" name="Line 5">
            <a:extLst>
              <a:ext uri="{FF2B5EF4-FFF2-40B4-BE49-F238E27FC236}">
                <a16:creationId xmlns:a16="http://schemas.microsoft.com/office/drawing/2014/main" id="{1AA11C1E-0458-5668-3FC0-53BE9B1EB3B3}"/>
              </a:ext>
            </a:extLst>
          </p:cNvPr>
          <p:cNvSpPr>
            <a:spLocks noChangeShapeType="1"/>
          </p:cNvSpPr>
          <p:nvPr/>
        </p:nvSpPr>
        <p:spPr bwMode="auto">
          <a:xfrm>
            <a:off x="514351" y="4084845"/>
            <a:ext cx="11001374" cy="0"/>
          </a:xfrm>
          <a:prstGeom prst="line">
            <a:avLst/>
          </a:prstGeom>
          <a:noFill/>
          <a:ln w="57150">
            <a:solidFill>
              <a:schemeClr val="bg1">
                <a:lumMod val="50000"/>
              </a:schemeClr>
            </a:solidFill>
            <a:round/>
            <a:headEnd/>
            <a:tailEnd type="stealth" w="med" len="med"/>
          </a:ln>
        </p:spPr>
        <p:txBody>
          <a:bodyPr/>
          <a:lstStyle/>
          <a:p>
            <a:endParaRPr lang="ko-KR" altLang="en-US" sz="1000">
              <a:latin typeface="+mn-ea"/>
            </a:endParaRPr>
          </a:p>
        </p:txBody>
      </p:sp>
      <p:sp>
        <p:nvSpPr>
          <p:cNvPr id="27" name="TextBox 26">
            <a:extLst>
              <a:ext uri="{FF2B5EF4-FFF2-40B4-BE49-F238E27FC236}">
                <a16:creationId xmlns:a16="http://schemas.microsoft.com/office/drawing/2014/main" id="{97446064-95CE-0C8B-8A65-3C3CEAAD23EB}"/>
              </a:ext>
            </a:extLst>
          </p:cNvPr>
          <p:cNvSpPr txBox="1"/>
          <p:nvPr/>
        </p:nvSpPr>
        <p:spPr>
          <a:xfrm>
            <a:off x="443331" y="4341020"/>
            <a:ext cx="1231432" cy="246221"/>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특허출원</a:t>
            </a:r>
          </a:p>
        </p:txBody>
      </p:sp>
      <p:sp>
        <p:nvSpPr>
          <p:cNvPr id="28" name="타원 27">
            <a:extLst>
              <a:ext uri="{FF2B5EF4-FFF2-40B4-BE49-F238E27FC236}">
                <a16:creationId xmlns:a16="http://schemas.microsoft.com/office/drawing/2014/main" id="{F2436144-823C-0490-C52C-DA0D5C377BF0}"/>
              </a:ext>
            </a:extLst>
          </p:cNvPr>
          <p:cNvSpPr/>
          <p:nvPr/>
        </p:nvSpPr>
        <p:spPr>
          <a:xfrm>
            <a:off x="981677" y="399091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cxnSp>
        <p:nvCxnSpPr>
          <p:cNvPr id="29" name="직선 연결선 28">
            <a:extLst>
              <a:ext uri="{FF2B5EF4-FFF2-40B4-BE49-F238E27FC236}">
                <a16:creationId xmlns:a16="http://schemas.microsoft.com/office/drawing/2014/main" id="{B8C2A34C-70CB-CD19-2DF3-5A8AC5B40DF4}"/>
              </a:ext>
            </a:extLst>
          </p:cNvPr>
          <p:cNvCxnSpPr>
            <a:cxnSpLocks/>
            <a:stCxn id="27" idx="0"/>
            <a:endCxn id="28" idx="4"/>
          </p:cNvCxnSpPr>
          <p:nvPr/>
        </p:nvCxnSpPr>
        <p:spPr>
          <a:xfrm flipH="1" flipV="1">
            <a:off x="1059046" y="415224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52373BEE-57C8-1E8A-1B53-56A9D8F984AB}"/>
              </a:ext>
            </a:extLst>
          </p:cNvPr>
          <p:cNvSpPr txBox="1"/>
          <p:nvPr/>
        </p:nvSpPr>
        <p:spPr>
          <a:xfrm>
            <a:off x="443331" y="4884158"/>
            <a:ext cx="1231432" cy="553998"/>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fontAlgn="base"/>
            <a:r>
              <a:rPr lang="ko-KR" altLang="en-US" sz="1000" dirty="0">
                <a:solidFill>
                  <a:schemeClr val="tx1"/>
                </a:solidFill>
              </a:rPr>
              <a:t>선행기술 </a:t>
            </a:r>
            <a:r>
              <a:rPr lang="en-US" altLang="ko-KR" sz="1000" dirty="0">
                <a:solidFill>
                  <a:schemeClr val="tx1"/>
                </a:solidFill>
              </a:rPr>
              <a:t>1</a:t>
            </a:r>
            <a:r>
              <a:rPr lang="ko-KR" altLang="en-US" sz="1000" dirty="0">
                <a:solidFill>
                  <a:schemeClr val="tx1"/>
                </a:solidFill>
              </a:rPr>
              <a:t>에 의한 </a:t>
            </a:r>
            <a:r>
              <a:rPr lang="ko-KR" altLang="en-US" sz="1000" dirty="0" err="1">
                <a:solidFill>
                  <a:schemeClr val="tx1"/>
                </a:solidFill>
              </a:rPr>
              <a:t>공지예외적용주장</a:t>
            </a:r>
            <a:endParaRPr lang="en-US" altLang="ko-KR" sz="1000" dirty="0">
              <a:solidFill>
                <a:schemeClr val="tx1"/>
              </a:solidFill>
            </a:endParaRPr>
          </a:p>
          <a:p>
            <a:pPr fontAlgn="base"/>
            <a:r>
              <a:rPr lang="ko-KR" altLang="en-US" sz="1000" dirty="0">
                <a:solidFill>
                  <a:schemeClr val="tx1"/>
                </a:solidFill>
              </a:rPr>
              <a:t>출원</a:t>
            </a:r>
          </a:p>
        </p:txBody>
      </p:sp>
      <p:cxnSp>
        <p:nvCxnSpPr>
          <p:cNvPr id="74" name="직선 연결선 73">
            <a:extLst>
              <a:ext uri="{FF2B5EF4-FFF2-40B4-BE49-F238E27FC236}">
                <a16:creationId xmlns:a16="http://schemas.microsoft.com/office/drawing/2014/main" id="{E1F16207-04FB-08BC-B16C-D1FFD191975D}"/>
              </a:ext>
            </a:extLst>
          </p:cNvPr>
          <p:cNvCxnSpPr>
            <a:cxnSpLocks/>
            <a:stCxn id="73" idx="0"/>
            <a:endCxn id="27" idx="2"/>
          </p:cNvCxnSpPr>
          <p:nvPr/>
        </p:nvCxnSpPr>
        <p:spPr>
          <a:xfrm flipV="1">
            <a:off x="1059047" y="4587241"/>
            <a:ext cx="0" cy="29691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4BA48AE7-C00C-470D-A115-232D82652AFC}"/>
              </a:ext>
            </a:extLst>
          </p:cNvPr>
          <p:cNvSpPr txBox="1"/>
          <p:nvPr/>
        </p:nvSpPr>
        <p:spPr>
          <a:xfrm>
            <a:off x="3487179" y="4341020"/>
            <a:ext cx="1075856" cy="400110"/>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소극적 권리범위 </a:t>
            </a:r>
            <a:endParaRPr lang="en-US" altLang="ko-KR" sz="1000" dirty="0">
              <a:solidFill>
                <a:schemeClr val="tx1"/>
              </a:solidFill>
              <a:latin typeface="+mn-ea"/>
            </a:endParaRPr>
          </a:p>
          <a:p>
            <a:pPr algn="ctr"/>
            <a:r>
              <a:rPr lang="ko-KR" altLang="en-US" sz="1000" dirty="0">
                <a:solidFill>
                  <a:schemeClr val="tx1"/>
                </a:solidFill>
                <a:latin typeface="+mn-ea"/>
              </a:rPr>
              <a:t>청구</a:t>
            </a:r>
          </a:p>
        </p:txBody>
      </p:sp>
      <p:cxnSp>
        <p:nvCxnSpPr>
          <p:cNvPr id="86" name="직선 연결선 85">
            <a:extLst>
              <a:ext uri="{FF2B5EF4-FFF2-40B4-BE49-F238E27FC236}">
                <a16:creationId xmlns:a16="http://schemas.microsoft.com/office/drawing/2014/main" id="{CB72FCEC-E999-1F52-2B4F-A1A0C6F02807}"/>
              </a:ext>
            </a:extLst>
          </p:cNvPr>
          <p:cNvCxnSpPr>
            <a:cxnSpLocks/>
            <a:stCxn id="85" idx="0"/>
          </p:cNvCxnSpPr>
          <p:nvPr/>
        </p:nvCxnSpPr>
        <p:spPr>
          <a:xfrm flipH="1" flipV="1">
            <a:off x="4025106" y="415224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9" name="타원 88">
            <a:extLst>
              <a:ext uri="{FF2B5EF4-FFF2-40B4-BE49-F238E27FC236}">
                <a16:creationId xmlns:a16="http://schemas.microsoft.com/office/drawing/2014/main" id="{1049E402-BADB-A050-8D28-E25FBD16B0EC}"/>
              </a:ext>
            </a:extLst>
          </p:cNvPr>
          <p:cNvSpPr/>
          <p:nvPr/>
        </p:nvSpPr>
        <p:spPr>
          <a:xfrm>
            <a:off x="3947737" y="3990911"/>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sp>
        <p:nvSpPr>
          <p:cNvPr id="90" name="TextBox 89">
            <a:extLst>
              <a:ext uri="{FF2B5EF4-FFF2-40B4-BE49-F238E27FC236}">
                <a16:creationId xmlns:a16="http://schemas.microsoft.com/office/drawing/2014/main" id="{B02575D6-CE82-23B2-8889-6F73D45FF745}"/>
              </a:ext>
            </a:extLst>
          </p:cNvPr>
          <p:cNvSpPr txBox="1"/>
          <p:nvPr/>
        </p:nvSpPr>
        <p:spPr>
          <a:xfrm>
            <a:off x="3186790" y="3322174"/>
            <a:ext cx="1457288" cy="40011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무효심판청구</a:t>
            </a:r>
            <a:endParaRPr lang="en-US" altLang="ko-KR" sz="1000" dirty="0">
              <a:solidFill>
                <a:schemeClr val="tx1"/>
              </a:solidFill>
              <a:latin typeface="+mn-ea"/>
            </a:endParaRPr>
          </a:p>
          <a:p>
            <a:pPr algn="ctr"/>
            <a:r>
              <a:rPr lang="en-US" altLang="ko-KR" sz="1000" dirty="0">
                <a:solidFill>
                  <a:schemeClr val="tx1"/>
                </a:solidFill>
                <a:latin typeface="+mn-ea"/>
              </a:rPr>
              <a:t>(</a:t>
            </a:r>
            <a:r>
              <a:rPr lang="ko-KR" altLang="en-US" sz="1000" dirty="0">
                <a:solidFill>
                  <a:schemeClr val="tx1"/>
                </a:solidFill>
                <a:latin typeface="+mn-ea"/>
              </a:rPr>
              <a:t>진보성 위반</a:t>
            </a:r>
            <a:r>
              <a:rPr lang="en-US" altLang="ko-KR" sz="1000" dirty="0">
                <a:solidFill>
                  <a:schemeClr val="tx1"/>
                </a:solidFill>
                <a:latin typeface="+mn-ea"/>
              </a:rPr>
              <a:t>, </a:t>
            </a:r>
            <a:r>
              <a:rPr lang="ko-KR" altLang="en-US" sz="1000" dirty="0" err="1">
                <a:solidFill>
                  <a:schemeClr val="tx1"/>
                </a:solidFill>
                <a:latin typeface="+mn-ea"/>
              </a:rPr>
              <a:t>기재불비</a:t>
            </a:r>
            <a:r>
              <a:rPr lang="en-US" altLang="ko-KR" sz="1000" dirty="0">
                <a:solidFill>
                  <a:schemeClr val="tx1"/>
                </a:solidFill>
                <a:latin typeface="+mn-ea"/>
              </a:rPr>
              <a:t>)</a:t>
            </a:r>
            <a:endParaRPr lang="ko-KR" altLang="en-US" sz="1000" dirty="0">
              <a:solidFill>
                <a:schemeClr val="tx1"/>
              </a:solidFill>
              <a:latin typeface="+mn-ea"/>
            </a:endParaRPr>
          </a:p>
        </p:txBody>
      </p:sp>
      <p:sp>
        <p:nvSpPr>
          <p:cNvPr id="91" name="타원 90">
            <a:extLst>
              <a:ext uri="{FF2B5EF4-FFF2-40B4-BE49-F238E27FC236}">
                <a16:creationId xmlns:a16="http://schemas.microsoft.com/office/drawing/2014/main" id="{2319D805-6A60-B2E1-5FB7-412BEA0B61F2}"/>
              </a:ext>
            </a:extLst>
          </p:cNvPr>
          <p:cNvSpPr/>
          <p:nvPr/>
        </p:nvSpPr>
        <p:spPr>
          <a:xfrm>
            <a:off x="4410112" y="399091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sp>
        <p:nvSpPr>
          <p:cNvPr id="95" name="TextBox 94">
            <a:extLst>
              <a:ext uri="{FF2B5EF4-FFF2-40B4-BE49-F238E27FC236}">
                <a16:creationId xmlns:a16="http://schemas.microsoft.com/office/drawing/2014/main" id="{02E94EC5-B3E1-C3A8-8E8E-A9B6AA43E01D}"/>
              </a:ext>
            </a:extLst>
          </p:cNvPr>
          <p:cNvSpPr txBox="1"/>
          <p:nvPr/>
        </p:nvSpPr>
        <p:spPr>
          <a:xfrm>
            <a:off x="3196140" y="4898868"/>
            <a:ext cx="2791196" cy="1169551"/>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ko-KR" altLang="en-US" sz="1000" dirty="0">
                <a:solidFill>
                  <a:schemeClr val="tx1"/>
                </a:solidFill>
                <a:highlight>
                  <a:srgbClr val="FFFF00"/>
                </a:highlight>
                <a:latin typeface="+mn-ea"/>
              </a:rPr>
              <a:t>정정된 청구항</a:t>
            </a:r>
            <a:r>
              <a:rPr lang="en-US" altLang="ko-KR" sz="1000" dirty="0">
                <a:solidFill>
                  <a:schemeClr val="tx1"/>
                </a:solidFill>
                <a:latin typeface="+mn-ea"/>
              </a:rPr>
              <a:t>: </a:t>
            </a:r>
            <a:r>
              <a:rPr lang="ko-KR" altLang="en-US" sz="1000" dirty="0" err="1">
                <a:solidFill>
                  <a:schemeClr val="tx1"/>
                </a:solidFill>
              </a:rPr>
              <a:t>안지오텐신</a:t>
            </a:r>
            <a:r>
              <a:rPr lang="en-US" altLang="ko-KR" sz="1000" dirty="0">
                <a:solidFill>
                  <a:schemeClr val="tx1"/>
                </a:solidFill>
              </a:rPr>
              <a:t>-2-</a:t>
            </a:r>
            <a:r>
              <a:rPr lang="ko-KR" altLang="en-US" sz="1000" dirty="0">
                <a:solidFill>
                  <a:schemeClr val="tx1"/>
                </a:solidFill>
              </a:rPr>
              <a:t>수용체 차단제로서 </a:t>
            </a:r>
            <a:r>
              <a:rPr lang="ko-KR" altLang="en-US" sz="1000" dirty="0" err="1">
                <a:solidFill>
                  <a:schemeClr val="tx1"/>
                </a:solidFill>
              </a:rPr>
              <a:t>피마살탄</a:t>
            </a:r>
            <a:r>
              <a:rPr lang="ko-KR" altLang="en-US" sz="1000" dirty="0">
                <a:solidFill>
                  <a:schemeClr val="tx1"/>
                </a:solidFill>
              </a:rPr>
              <a:t> 칼륨염 또는 이의 수화물 </a:t>
            </a:r>
            <a:r>
              <a:rPr lang="en-US" altLang="ko-KR" sz="1000" dirty="0">
                <a:solidFill>
                  <a:schemeClr val="tx1"/>
                </a:solidFill>
              </a:rPr>
              <a:t>30</a:t>
            </a:r>
            <a:r>
              <a:rPr lang="ko-KR" altLang="en-US" sz="1000" dirty="0">
                <a:solidFill>
                  <a:schemeClr val="tx1"/>
                </a:solidFill>
              </a:rPr>
              <a:t>㎎</a:t>
            </a:r>
            <a:r>
              <a:rPr lang="en-US" altLang="ko-KR" sz="1000" dirty="0">
                <a:solidFill>
                  <a:srgbClr val="FF0000"/>
                </a:solidFill>
              </a:rPr>
              <a:t>(</a:t>
            </a:r>
            <a:r>
              <a:rPr lang="ko-KR" altLang="en-US" sz="1000" dirty="0" err="1">
                <a:solidFill>
                  <a:srgbClr val="FF0000"/>
                </a:solidFill>
              </a:rPr>
              <a:t>파마살탄</a:t>
            </a:r>
            <a:r>
              <a:rPr lang="ko-KR" altLang="en-US" sz="1000" dirty="0">
                <a:solidFill>
                  <a:srgbClr val="FF0000"/>
                </a:solidFill>
              </a:rPr>
              <a:t> 칼륨염으로 </a:t>
            </a:r>
            <a:r>
              <a:rPr lang="en-US" altLang="ko-KR" sz="1000" dirty="0" err="1">
                <a:solidFill>
                  <a:srgbClr val="FF0000"/>
                </a:solidFill>
              </a:rPr>
              <a:t>30mg</a:t>
            </a:r>
            <a:r>
              <a:rPr lang="en-US" altLang="ko-KR" sz="1000" dirty="0">
                <a:solidFill>
                  <a:srgbClr val="FF0000"/>
                </a:solidFill>
              </a:rPr>
              <a:t>)</a:t>
            </a:r>
            <a:r>
              <a:rPr lang="ko-KR" altLang="en-US" sz="1000" dirty="0"/>
              <a:t> 및 </a:t>
            </a:r>
            <a:r>
              <a:rPr lang="ko-KR" altLang="en-US" sz="1000" dirty="0">
                <a:solidFill>
                  <a:schemeClr val="tx1"/>
                </a:solidFill>
              </a:rPr>
              <a:t>칼슘 채널 차단제로서 </a:t>
            </a:r>
            <a:r>
              <a:rPr lang="ko-KR" altLang="en-US" sz="1000" dirty="0" err="1">
                <a:solidFill>
                  <a:schemeClr val="tx1"/>
                </a:solidFill>
              </a:rPr>
              <a:t>암로디핀</a:t>
            </a:r>
            <a:r>
              <a:rPr lang="ko-KR" altLang="en-US" sz="1000" dirty="0">
                <a:solidFill>
                  <a:schemeClr val="tx1"/>
                </a:solidFill>
              </a:rPr>
              <a:t> </a:t>
            </a:r>
            <a:r>
              <a:rPr lang="ko-KR" altLang="en-US" sz="1000" dirty="0" err="1">
                <a:solidFill>
                  <a:schemeClr val="tx1"/>
                </a:solidFill>
              </a:rPr>
              <a:t>베실레이트염</a:t>
            </a:r>
            <a:r>
              <a:rPr lang="ko-KR" altLang="en-US" sz="1000" dirty="0">
                <a:solidFill>
                  <a:schemeClr val="tx1"/>
                </a:solidFill>
              </a:rPr>
              <a:t> </a:t>
            </a:r>
            <a:r>
              <a:rPr lang="en-US" altLang="ko-KR" sz="1000" dirty="0">
                <a:solidFill>
                  <a:schemeClr val="tx1"/>
                </a:solidFill>
              </a:rPr>
              <a:t>5</a:t>
            </a:r>
            <a:r>
              <a:rPr lang="ko-KR" altLang="en-US" sz="1000" dirty="0">
                <a:solidFill>
                  <a:schemeClr val="tx1"/>
                </a:solidFill>
              </a:rPr>
              <a:t>㎎</a:t>
            </a:r>
            <a:r>
              <a:rPr lang="en-US" altLang="ko-KR" sz="1000" dirty="0">
                <a:solidFill>
                  <a:srgbClr val="FF0000"/>
                </a:solidFill>
              </a:rPr>
              <a:t>(</a:t>
            </a:r>
            <a:r>
              <a:rPr lang="ko-KR" altLang="en-US" sz="1000" dirty="0" err="1">
                <a:solidFill>
                  <a:srgbClr val="FF0000"/>
                </a:solidFill>
              </a:rPr>
              <a:t>암로디핀으로</a:t>
            </a:r>
            <a:r>
              <a:rPr lang="ko-KR" altLang="en-US" sz="1000" dirty="0">
                <a:solidFill>
                  <a:srgbClr val="FF0000"/>
                </a:solidFill>
              </a:rPr>
              <a:t> </a:t>
            </a:r>
            <a:r>
              <a:rPr lang="en-US" altLang="ko-KR" sz="1000" dirty="0" err="1">
                <a:solidFill>
                  <a:srgbClr val="FF0000"/>
                </a:solidFill>
              </a:rPr>
              <a:t>5mg</a:t>
            </a:r>
            <a:r>
              <a:rPr lang="en-US" altLang="ko-KR" sz="1000" dirty="0">
                <a:solidFill>
                  <a:srgbClr val="FF0000"/>
                </a:solidFill>
              </a:rPr>
              <a:t>)</a:t>
            </a:r>
            <a:r>
              <a:rPr lang="ko-KR" altLang="en-US" sz="1000" dirty="0"/>
              <a:t>을 포함하는 혈압 강하용 약제학적 </a:t>
            </a:r>
            <a:r>
              <a:rPr lang="ko-KR" altLang="en-US" sz="1000" dirty="0" err="1"/>
              <a:t>조성물</a:t>
            </a:r>
            <a:endParaRPr lang="ko-KR" altLang="en-US" sz="1000" dirty="0"/>
          </a:p>
          <a:p>
            <a:r>
              <a:rPr lang="ko-KR" altLang="en-US" sz="1000" dirty="0">
                <a:solidFill>
                  <a:schemeClr val="tx1"/>
                </a:solidFill>
                <a:highlight>
                  <a:srgbClr val="FFFF00"/>
                </a:highlight>
                <a:latin typeface="+mn-ea"/>
              </a:rPr>
              <a:t>정정사유</a:t>
            </a:r>
            <a:r>
              <a:rPr lang="en-US" altLang="ko-KR" sz="1000" dirty="0">
                <a:solidFill>
                  <a:schemeClr val="tx1"/>
                </a:solidFill>
                <a:latin typeface="+mn-ea"/>
              </a:rPr>
              <a:t>: </a:t>
            </a:r>
            <a:r>
              <a:rPr lang="ko-KR" altLang="en-US" sz="1000" dirty="0">
                <a:solidFill>
                  <a:schemeClr val="tx1"/>
                </a:solidFill>
                <a:latin typeface="+mn-ea"/>
              </a:rPr>
              <a:t>특허법 제</a:t>
            </a:r>
            <a:r>
              <a:rPr lang="en-US" altLang="ko-KR" sz="1000" dirty="0">
                <a:solidFill>
                  <a:schemeClr val="tx1"/>
                </a:solidFill>
                <a:latin typeface="+mn-ea"/>
              </a:rPr>
              <a:t>136</a:t>
            </a:r>
            <a:r>
              <a:rPr lang="ko-KR" altLang="en-US" sz="1000" dirty="0">
                <a:solidFill>
                  <a:schemeClr val="tx1"/>
                </a:solidFill>
                <a:latin typeface="+mn-ea"/>
              </a:rPr>
              <a:t>조제</a:t>
            </a:r>
            <a:r>
              <a:rPr lang="en-US" altLang="ko-KR" sz="1000" dirty="0">
                <a:solidFill>
                  <a:schemeClr val="tx1"/>
                </a:solidFill>
                <a:latin typeface="+mn-ea"/>
              </a:rPr>
              <a:t>1</a:t>
            </a:r>
            <a:r>
              <a:rPr lang="ko-KR" altLang="en-US" sz="1000" dirty="0" err="1">
                <a:solidFill>
                  <a:schemeClr val="tx1"/>
                </a:solidFill>
                <a:latin typeface="+mn-ea"/>
              </a:rPr>
              <a:t>항제</a:t>
            </a:r>
            <a:r>
              <a:rPr lang="en-US" altLang="ko-KR" sz="1000" dirty="0">
                <a:solidFill>
                  <a:schemeClr val="tx1"/>
                </a:solidFill>
                <a:latin typeface="+mn-ea"/>
              </a:rPr>
              <a:t>3</a:t>
            </a:r>
            <a:r>
              <a:rPr lang="ko-KR" altLang="en-US" sz="1000" dirty="0">
                <a:solidFill>
                  <a:schemeClr val="tx1"/>
                </a:solidFill>
                <a:latin typeface="+mn-ea"/>
              </a:rPr>
              <a:t>호의 분명하지 아니한 기재의 명확화</a:t>
            </a:r>
          </a:p>
        </p:txBody>
      </p:sp>
      <p:sp>
        <p:nvSpPr>
          <p:cNvPr id="8" name="TextBox 7">
            <a:extLst>
              <a:ext uri="{FF2B5EF4-FFF2-40B4-BE49-F238E27FC236}">
                <a16:creationId xmlns:a16="http://schemas.microsoft.com/office/drawing/2014/main" id="{24C73ED1-0514-BAE8-2573-F8506E203DC6}"/>
              </a:ext>
            </a:extLst>
          </p:cNvPr>
          <p:cNvSpPr txBox="1"/>
          <p:nvPr/>
        </p:nvSpPr>
        <p:spPr>
          <a:xfrm>
            <a:off x="1822296" y="4341020"/>
            <a:ext cx="1231432" cy="246221"/>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특허등록</a:t>
            </a:r>
          </a:p>
        </p:txBody>
      </p:sp>
      <p:sp>
        <p:nvSpPr>
          <p:cNvPr id="14" name="타원 13">
            <a:extLst>
              <a:ext uri="{FF2B5EF4-FFF2-40B4-BE49-F238E27FC236}">
                <a16:creationId xmlns:a16="http://schemas.microsoft.com/office/drawing/2014/main" id="{852D465E-2021-F111-FA6C-CE05F1AFE893}"/>
              </a:ext>
            </a:extLst>
          </p:cNvPr>
          <p:cNvSpPr/>
          <p:nvPr/>
        </p:nvSpPr>
        <p:spPr>
          <a:xfrm>
            <a:off x="2360642" y="3990911"/>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cxnSp>
        <p:nvCxnSpPr>
          <p:cNvPr id="15" name="직선 연결선 14">
            <a:extLst>
              <a:ext uri="{FF2B5EF4-FFF2-40B4-BE49-F238E27FC236}">
                <a16:creationId xmlns:a16="http://schemas.microsoft.com/office/drawing/2014/main" id="{41CA065F-93E4-E4E6-0C7D-4F675E47C805}"/>
              </a:ext>
            </a:extLst>
          </p:cNvPr>
          <p:cNvCxnSpPr>
            <a:cxnSpLocks/>
            <a:stCxn id="8" idx="0"/>
            <a:endCxn id="14" idx="4"/>
          </p:cNvCxnSpPr>
          <p:nvPr/>
        </p:nvCxnSpPr>
        <p:spPr>
          <a:xfrm flipH="1" flipV="1">
            <a:off x="2438011" y="415224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3BCF1AAF-9911-A3A3-DC8A-7EACF235AD40}"/>
              </a:ext>
            </a:extLst>
          </p:cNvPr>
          <p:cNvSpPr txBox="1"/>
          <p:nvPr/>
        </p:nvSpPr>
        <p:spPr>
          <a:xfrm>
            <a:off x="1735195" y="4884158"/>
            <a:ext cx="1405632" cy="132343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fontAlgn="base"/>
            <a:r>
              <a:rPr lang="ko-KR" altLang="en-US" sz="1000" dirty="0" err="1">
                <a:solidFill>
                  <a:srgbClr val="FF0000"/>
                </a:solidFill>
              </a:rPr>
              <a:t>안지오텐신</a:t>
            </a:r>
            <a:r>
              <a:rPr lang="en-US" altLang="ko-KR" sz="1000" dirty="0">
                <a:solidFill>
                  <a:srgbClr val="FF0000"/>
                </a:solidFill>
              </a:rPr>
              <a:t>-2-</a:t>
            </a:r>
            <a:r>
              <a:rPr lang="ko-KR" altLang="en-US" sz="1000" dirty="0">
                <a:solidFill>
                  <a:srgbClr val="FF0000"/>
                </a:solidFill>
              </a:rPr>
              <a:t>수용체 차단제로서 </a:t>
            </a:r>
            <a:r>
              <a:rPr lang="ko-KR" altLang="en-US" sz="1000" dirty="0" err="1">
                <a:solidFill>
                  <a:srgbClr val="FF0000"/>
                </a:solidFill>
              </a:rPr>
              <a:t>피마살탄</a:t>
            </a:r>
            <a:r>
              <a:rPr lang="ko-KR" altLang="en-US" sz="1000" dirty="0">
                <a:solidFill>
                  <a:srgbClr val="FF0000"/>
                </a:solidFill>
              </a:rPr>
              <a:t> 칼륨염 또는 이의 수화물 </a:t>
            </a:r>
            <a:r>
              <a:rPr lang="en-US" altLang="ko-KR" sz="1000" dirty="0">
                <a:solidFill>
                  <a:srgbClr val="FF0000"/>
                </a:solidFill>
              </a:rPr>
              <a:t>30</a:t>
            </a:r>
            <a:r>
              <a:rPr lang="ko-KR" altLang="en-US" sz="1000" dirty="0">
                <a:solidFill>
                  <a:srgbClr val="FF0000"/>
                </a:solidFill>
              </a:rPr>
              <a:t>㎎</a:t>
            </a:r>
            <a:r>
              <a:rPr lang="ko-KR" altLang="en-US" sz="1000" dirty="0"/>
              <a:t> 및 </a:t>
            </a:r>
            <a:r>
              <a:rPr lang="ko-KR" altLang="en-US" sz="1000" dirty="0">
                <a:solidFill>
                  <a:srgbClr val="FF0000"/>
                </a:solidFill>
              </a:rPr>
              <a:t>칼슘 채널 차단제로서 </a:t>
            </a:r>
            <a:r>
              <a:rPr lang="ko-KR" altLang="en-US" sz="1000" dirty="0" err="1">
                <a:solidFill>
                  <a:srgbClr val="FF0000"/>
                </a:solidFill>
              </a:rPr>
              <a:t>암로디핀</a:t>
            </a:r>
            <a:r>
              <a:rPr lang="ko-KR" altLang="en-US" sz="1000" dirty="0">
                <a:solidFill>
                  <a:srgbClr val="FF0000"/>
                </a:solidFill>
              </a:rPr>
              <a:t> </a:t>
            </a:r>
            <a:r>
              <a:rPr lang="ko-KR" altLang="en-US" sz="1000" dirty="0" err="1">
                <a:solidFill>
                  <a:srgbClr val="FF0000"/>
                </a:solidFill>
              </a:rPr>
              <a:t>베실레이트염</a:t>
            </a:r>
            <a:r>
              <a:rPr lang="ko-KR" altLang="en-US" sz="1000" dirty="0">
                <a:solidFill>
                  <a:srgbClr val="FF0000"/>
                </a:solidFill>
              </a:rPr>
              <a:t> </a:t>
            </a:r>
            <a:r>
              <a:rPr lang="en-US" altLang="ko-KR" sz="1000" dirty="0">
                <a:solidFill>
                  <a:srgbClr val="FF0000"/>
                </a:solidFill>
              </a:rPr>
              <a:t>5</a:t>
            </a:r>
            <a:r>
              <a:rPr lang="ko-KR" altLang="en-US" sz="1000" dirty="0">
                <a:solidFill>
                  <a:srgbClr val="FF0000"/>
                </a:solidFill>
              </a:rPr>
              <a:t>㎎</a:t>
            </a:r>
            <a:r>
              <a:rPr lang="ko-KR" altLang="en-US" sz="1000" dirty="0"/>
              <a:t>을 포함하는 혈압 강하용 약제학적 </a:t>
            </a:r>
            <a:r>
              <a:rPr lang="ko-KR" altLang="en-US" sz="1000" dirty="0" err="1"/>
              <a:t>조성물</a:t>
            </a:r>
            <a:endParaRPr lang="ko-KR" altLang="en-US" sz="1000" dirty="0"/>
          </a:p>
        </p:txBody>
      </p:sp>
      <p:cxnSp>
        <p:nvCxnSpPr>
          <p:cNvPr id="19" name="직선 연결선 18">
            <a:extLst>
              <a:ext uri="{FF2B5EF4-FFF2-40B4-BE49-F238E27FC236}">
                <a16:creationId xmlns:a16="http://schemas.microsoft.com/office/drawing/2014/main" id="{6C001AB8-C0A7-894A-31D9-D2465504C74D}"/>
              </a:ext>
            </a:extLst>
          </p:cNvPr>
          <p:cNvCxnSpPr>
            <a:cxnSpLocks/>
            <a:stCxn id="18" idx="0"/>
            <a:endCxn id="8" idx="2"/>
          </p:cNvCxnSpPr>
          <p:nvPr/>
        </p:nvCxnSpPr>
        <p:spPr>
          <a:xfrm flipV="1">
            <a:off x="2438011" y="4587241"/>
            <a:ext cx="1" cy="29691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198EE6C9-770A-1EF9-9ED3-618C6E65F3F7}"/>
              </a:ext>
            </a:extLst>
          </p:cNvPr>
          <p:cNvSpPr txBox="1"/>
          <p:nvPr/>
        </p:nvSpPr>
        <p:spPr>
          <a:xfrm>
            <a:off x="5398800" y="4341020"/>
            <a:ext cx="490058" cy="400110"/>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기각</a:t>
            </a:r>
            <a:endParaRPr lang="en-US" altLang="ko-KR" sz="1000" dirty="0">
              <a:solidFill>
                <a:schemeClr val="tx1"/>
              </a:solidFill>
              <a:latin typeface="+mn-ea"/>
            </a:endParaRPr>
          </a:p>
          <a:p>
            <a:pPr algn="ctr"/>
            <a:r>
              <a:rPr lang="ko-KR" altLang="en-US" sz="1000" dirty="0" err="1">
                <a:solidFill>
                  <a:schemeClr val="tx1"/>
                </a:solidFill>
                <a:latin typeface="+mn-ea"/>
              </a:rPr>
              <a:t>심결</a:t>
            </a:r>
            <a:endParaRPr lang="ko-KR" altLang="en-US" sz="1000" dirty="0">
              <a:solidFill>
                <a:schemeClr val="tx1"/>
              </a:solidFill>
              <a:latin typeface="+mn-ea"/>
            </a:endParaRPr>
          </a:p>
        </p:txBody>
      </p:sp>
      <p:cxnSp>
        <p:nvCxnSpPr>
          <p:cNvPr id="37" name="직선 연결선 36">
            <a:extLst>
              <a:ext uri="{FF2B5EF4-FFF2-40B4-BE49-F238E27FC236}">
                <a16:creationId xmlns:a16="http://schemas.microsoft.com/office/drawing/2014/main" id="{57087F46-7322-086C-3053-657EC740D72B}"/>
              </a:ext>
            </a:extLst>
          </p:cNvPr>
          <p:cNvCxnSpPr>
            <a:cxnSpLocks/>
            <a:stCxn id="36" idx="0"/>
          </p:cNvCxnSpPr>
          <p:nvPr/>
        </p:nvCxnSpPr>
        <p:spPr>
          <a:xfrm flipH="1" flipV="1">
            <a:off x="5634863" y="4152249"/>
            <a:ext cx="8966"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타원 37">
            <a:extLst>
              <a:ext uri="{FF2B5EF4-FFF2-40B4-BE49-F238E27FC236}">
                <a16:creationId xmlns:a16="http://schemas.microsoft.com/office/drawing/2014/main" id="{922DB471-3497-757F-45C1-5193C9929545}"/>
              </a:ext>
            </a:extLst>
          </p:cNvPr>
          <p:cNvSpPr/>
          <p:nvPr/>
        </p:nvSpPr>
        <p:spPr>
          <a:xfrm>
            <a:off x="5557494" y="3990911"/>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sp>
        <p:nvSpPr>
          <p:cNvPr id="42" name="TextBox 41">
            <a:extLst>
              <a:ext uri="{FF2B5EF4-FFF2-40B4-BE49-F238E27FC236}">
                <a16:creationId xmlns:a16="http://schemas.microsoft.com/office/drawing/2014/main" id="{252F76B0-843B-A104-0EA5-7B3F41CB75D7}"/>
              </a:ext>
            </a:extLst>
          </p:cNvPr>
          <p:cNvSpPr txBox="1"/>
          <p:nvPr/>
        </p:nvSpPr>
        <p:spPr>
          <a:xfrm>
            <a:off x="6569618" y="4341020"/>
            <a:ext cx="490058" cy="400110"/>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소</a:t>
            </a:r>
            <a:endParaRPr lang="en-US" altLang="ko-KR" sz="1000" dirty="0">
              <a:solidFill>
                <a:schemeClr val="tx1"/>
              </a:solidFill>
              <a:latin typeface="+mn-ea"/>
            </a:endParaRPr>
          </a:p>
          <a:p>
            <a:pPr algn="ctr"/>
            <a:r>
              <a:rPr lang="ko-KR" altLang="en-US" sz="1000" dirty="0">
                <a:solidFill>
                  <a:schemeClr val="tx1"/>
                </a:solidFill>
                <a:latin typeface="+mn-ea"/>
              </a:rPr>
              <a:t>제기</a:t>
            </a:r>
          </a:p>
        </p:txBody>
      </p:sp>
      <p:cxnSp>
        <p:nvCxnSpPr>
          <p:cNvPr id="49" name="직선 연결선 48">
            <a:extLst>
              <a:ext uri="{FF2B5EF4-FFF2-40B4-BE49-F238E27FC236}">
                <a16:creationId xmlns:a16="http://schemas.microsoft.com/office/drawing/2014/main" id="{EF1D2CC0-EACB-8561-8AD8-7B76691968B0}"/>
              </a:ext>
            </a:extLst>
          </p:cNvPr>
          <p:cNvCxnSpPr>
            <a:cxnSpLocks/>
            <a:stCxn id="42" idx="0"/>
          </p:cNvCxnSpPr>
          <p:nvPr/>
        </p:nvCxnSpPr>
        <p:spPr>
          <a:xfrm flipH="1" flipV="1">
            <a:off x="6814646" y="415224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0" name="타원 49">
            <a:extLst>
              <a:ext uri="{FF2B5EF4-FFF2-40B4-BE49-F238E27FC236}">
                <a16:creationId xmlns:a16="http://schemas.microsoft.com/office/drawing/2014/main" id="{D3860FF1-1697-5A2D-38B0-FB4E74AAE083}"/>
              </a:ext>
            </a:extLst>
          </p:cNvPr>
          <p:cNvSpPr/>
          <p:nvPr/>
        </p:nvSpPr>
        <p:spPr>
          <a:xfrm>
            <a:off x="6737277" y="3990911"/>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sp>
        <p:nvSpPr>
          <p:cNvPr id="51" name="TextBox 50">
            <a:extLst>
              <a:ext uri="{FF2B5EF4-FFF2-40B4-BE49-F238E27FC236}">
                <a16:creationId xmlns:a16="http://schemas.microsoft.com/office/drawing/2014/main" id="{356806BB-17DE-86FE-BF92-54069BEF1950}"/>
              </a:ext>
            </a:extLst>
          </p:cNvPr>
          <p:cNvSpPr txBox="1"/>
          <p:nvPr/>
        </p:nvSpPr>
        <p:spPr>
          <a:xfrm>
            <a:off x="7309464" y="4341020"/>
            <a:ext cx="490058" cy="400110"/>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기각판결</a:t>
            </a:r>
          </a:p>
        </p:txBody>
      </p:sp>
      <p:cxnSp>
        <p:nvCxnSpPr>
          <p:cNvPr id="52" name="직선 연결선 51">
            <a:extLst>
              <a:ext uri="{FF2B5EF4-FFF2-40B4-BE49-F238E27FC236}">
                <a16:creationId xmlns:a16="http://schemas.microsoft.com/office/drawing/2014/main" id="{98F22D8E-03B6-5268-251F-653541ECB107}"/>
              </a:ext>
            </a:extLst>
          </p:cNvPr>
          <p:cNvCxnSpPr>
            <a:cxnSpLocks/>
            <a:stCxn id="51" idx="0"/>
          </p:cNvCxnSpPr>
          <p:nvPr/>
        </p:nvCxnSpPr>
        <p:spPr>
          <a:xfrm flipH="1" flipV="1">
            <a:off x="7554492" y="415224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타원 53">
            <a:extLst>
              <a:ext uri="{FF2B5EF4-FFF2-40B4-BE49-F238E27FC236}">
                <a16:creationId xmlns:a16="http://schemas.microsoft.com/office/drawing/2014/main" id="{C20F0BDC-B586-B5DB-E9A7-CE167D868290}"/>
              </a:ext>
            </a:extLst>
          </p:cNvPr>
          <p:cNvSpPr/>
          <p:nvPr/>
        </p:nvSpPr>
        <p:spPr>
          <a:xfrm>
            <a:off x="7477123" y="3990911"/>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sp>
        <p:nvSpPr>
          <p:cNvPr id="57" name="TextBox 56">
            <a:extLst>
              <a:ext uri="{FF2B5EF4-FFF2-40B4-BE49-F238E27FC236}">
                <a16:creationId xmlns:a16="http://schemas.microsoft.com/office/drawing/2014/main" id="{661BB920-3089-ED3A-3372-DB91575268DA}"/>
              </a:ext>
            </a:extLst>
          </p:cNvPr>
          <p:cNvSpPr txBox="1"/>
          <p:nvPr/>
        </p:nvSpPr>
        <p:spPr>
          <a:xfrm>
            <a:off x="8121027" y="4341020"/>
            <a:ext cx="490058" cy="246221"/>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상고</a:t>
            </a:r>
          </a:p>
        </p:txBody>
      </p:sp>
      <p:cxnSp>
        <p:nvCxnSpPr>
          <p:cNvPr id="58" name="직선 연결선 57">
            <a:extLst>
              <a:ext uri="{FF2B5EF4-FFF2-40B4-BE49-F238E27FC236}">
                <a16:creationId xmlns:a16="http://schemas.microsoft.com/office/drawing/2014/main" id="{80110A60-E5CE-6DB0-A9D5-91E30FFDB56C}"/>
              </a:ext>
            </a:extLst>
          </p:cNvPr>
          <p:cNvCxnSpPr>
            <a:cxnSpLocks/>
            <a:stCxn id="57" idx="0"/>
          </p:cNvCxnSpPr>
          <p:nvPr/>
        </p:nvCxnSpPr>
        <p:spPr>
          <a:xfrm flipH="1" flipV="1">
            <a:off x="8366055" y="415224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타원 59">
            <a:extLst>
              <a:ext uri="{FF2B5EF4-FFF2-40B4-BE49-F238E27FC236}">
                <a16:creationId xmlns:a16="http://schemas.microsoft.com/office/drawing/2014/main" id="{BAC22AC5-FF64-D9D0-3DD4-AEC2976D3BB8}"/>
              </a:ext>
            </a:extLst>
          </p:cNvPr>
          <p:cNvSpPr/>
          <p:nvPr/>
        </p:nvSpPr>
        <p:spPr>
          <a:xfrm>
            <a:off x="8288686" y="3990911"/>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sp>
        <p:nvSpPr>
          <p:cNvPr id="61" name="TextBox 60">
            <a:extLst>
              <a:ext uri="{FF2B5EF4-FFF2-40B4-BE49-F238E27FC236}">
                <a16:creationId xmlns:a16="http://schemas.microsoft.com/office/drawing/2014/main" id="{B7D2C045-BD6A-429D-3A65-0CCC27B7B3D1}"/>
              </a:ext>
            </a:extLst>
          </p:cNvPr>
          <p:cNvSpPr txBox="1"/>
          <p:nvPr/>
        </p:nvSpPr>
        <p:spPr>
          <a:xfrm>
            <a:off x="8809708" y="4341020"/>
            <a:ext cx="735824" cy="400110"/>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인용판결</a:t>
            </a:r>
            <a:endParaRPr lang="en-US" altLang="ko-KR" sz="1000" dirty="0">
              <a:solidFill>
                <a:schemeClr val="tx1"/>
              </a:solidFill>
              <a:latin typeface="+mn-ea"/>
            </a:endParaRPr>
          </a:p>
          <a:p>
            <a:pPr algn="ctr"/>
            <a:r>
              <a:rPr lang="en-US" altLang="ko-KR" sz="1000" dirty="0">
                <a:solidFill>
                  <a:schemeClr val="tx1"/>
                </a:solidFill>
                <a:latin typeface="+mn-ea"/>
              </a:rPr>
              <a:t>(</a:t>
            </a:r>
            <a:r>
              <a:rPr lang="ko-KR" altLang="en-US" sz="1000" dirty="0" err="1">
                <a:solidFill>
                  <a:schemeClr val="tx1"/>
                </a:solidFill>
                <a:latin typeface="+mn-ea"/>
              </a:rPr>
              <a:t>취소환송</a:t>
            </a:r>
            <a:r>
              <a:rPr lang="en-US" altLang="ko-KR" sz="1000" dirty="0">
                <a:solidFill>
                  <a:schemeClr val="tx1"/>
                </a:solidFill>
                <a:latin typeface="+mn-ea"/>
              </a:rPr>
              <a:t>)</a:t>
            </a:r>
            <a:endParaRPr lang="ko-KR" altLang="en-US" sz="1000" dirty="0">
              <a:solidFill>
                <a:schemeClr val="tx1"/>
              </a:solidFill>
              <a:latin typeface="+mn-ea"/>
            </a:endParaRPr>
          </a:p>
        </p:txBody>
      </p:sp>
      <p:cxnSp>
        <p:nvCxnSpPr>
          <p:cNvPr id="62" name="직선 연결선 61">
            <a:extLst>
              <a:ext uri="{FF2B5EF4-FFF2-40B4-BE49-F238E27FC236}">
                <a16:creationId xmlns:a16="http://schemas.microsoft.com/office/drawing/2014/main" id="{63DD2F82-F382-3D68-28E9-7E0BE780BFFE}"/>
              </a:ext>
            </a:extLst>
          </p:cNvPr>
          <p:cNvCxnSpPr>
            <a:cxnSpLocks/>
            <a:stCxn id="61" idx="0"/>
          </p:cNvCxnSpPr>
          <p:nvPr/>
        </p:nvCxnSpPr>
        <p:spPr>
          <a:xfrm flipH="1" flipV="1">
            <a:off x="9177619" y="4152249"/>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타원 62">
            <a:extLst>
              <a:ext uri="{FF2B5EF4-FFF2-40B4-BE49-F238E27FC236}">
                <a16:creationId xmlns:a16="http://schemas.microsoft.com/office/drawing/2014/main" id="{716EAEBA-DFB6-E873-A5C7-563A580E7CE4}"/>
              </a:ext>
            </a:extLst>
          </p:cNvPr>
          <p:cNvSpPr/>
          <p:nvPr/>
        </p:nvSpPr>
        <p:spPr>
          <a:xfrm>
            <a:off x="9100250" y="3990911"/>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sp>
        <p:nvSpPr>
          <p:cNvPr id="100" name="TextBox 99">
            <a:extLst>
              <a:ext uri="{FF2B5EF4-FFF2-40B4-BE49-F238E27FC236}">
                <a16:creationId xmlns:a16="http://schemas.microsoft.com/office/drawing/2014/main" id="{0B65D398-7B82-B910-EC2A-4D1F0E9FB866}"/>
              </a:ext>
            </a:extLst>
          </p:cNvPr>
          <p:cNvSpPr txBox="1"/>
          <p:nvPr/>
        </p:nvSpPr>
        <p:spPr>
          <a:xfrm>
            <a:off x="5014168" y="3313209"/>
            <a:ext cx="472232" cy="40011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정정</a:t>
            </a:r>
            <a:endParaRPr lang="en-US" altLang="ko-KR" sz="1000" dirty="0">
              <a:solidFill>
                <a:schemeClr val="tx1"/>
              </a:solidFill>
              <a:latin typeface="+mn-ea"/>
            </a:endParaRPr>
          </a:p>
          <a:p>
            <a:pPr algn="ctr"/>
            <a:r>
              <a:rPr lang="ko-KR" altLang="en-US" sz="1000" dirty="0">
                <a:solidFill>
                  <a:schemeClr val="tx1"/>
                </a:solidFill>
                <a:latin typeface="+mn-ea"/>
              </a:rPr>
              <a:t>청구</a:t>
            </a:r>
          </a:p>
        </p:txBody>
      </p:sp>
      <p:sp>
        <p:nvSpPr>
          <p:cNvPr id="101" name="타원 100">
            <a:extLst>
              <a:ext uri="{FF2B5EF4-FFF2-40B4-BE49-F238E27FC236}">
                <a16:creationId xmlns:a16="http://schemas.microsoft.com/office/drawing/2014/main" id="{83D2A7E7-2915-20FA-4044-A096DC4B1D0D}"/>
              </a:ext>
            </a:extLst>
          </p:cNvPr>
          <p:cNvSpPr/>
          <p:nvPr/>
        </p:nvSpPr>
        <p:spPr>
          <a:xfrm>
            <a:off x="5172915" y="399091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cxnSp>
        <p:nvCxnSpPr>
          <p:cNvPr id="102" name="직선 연결선 101">
            <a:extLst>
              <a:ext uri="{FF2B5EF4-FFF2-40B4-BE49-F238E27FC236}">
                <a16:creationId xmlns:a16="http://schemas.microsoft.com/office/drawing/2014/main" id="{69B21995-FA37-AAEF-A4DA-9BC739F9D6F6}"/>
              </a:ext>
            </a:extLst>
          </p:cNvPr>
          <p:cNvCxnSpPr>
            <a:cxnSpLocks/>
            <a:stCxn id="100" idx="2"/>
            <a:endCxn id="101" idx="0"/>
          </p:cNvCxnSpPr>
          <p:nvPr/>
        </p:nvCxnSpPr>
        <p:spPr>
          <a:xfrm>
            <a:off x="5250284" y="3713319"/>
            <a:ext cx="0" cy="27759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TextBox 111">
            <a:extLst>
              <a:ext uri="{FF2B5EF4-FFF2-40B4-BE49-F238E27FC236}">
                <a16:creationId xmlns:a16="http://schemas.microsoft.com/office/drawing/2014/main" id="{F6B84021-7997-66C6-C095-15ACE8C91DCC}"/>
              </a:ext>
            </a:extLst>
          </p:cNvPr>
          <p:cNvSpPr txBox="1"/>
          <p:nvPr/>
        </p:nvSpPr>
        <p:spPr>
          <a:xfrm>
            <a:off x="5854982" y="3313209"/>
            <a:ext cx="671324" cy="384721"/>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err="1">
                <a:solidFill>
                  <a:schemeClr val="tx1"/>
                </a:solidFill>
                <a:latin typeface="+mn-ea"/>
              </a:rPr>
              <a:t>기각심결</a:t>
            </a:r>
            <a:endParaRPr lang="en-US" altLang="ko-KR" sz="1000" dirty="0">
              <a:solidFill>
                <a:schemeClr val="tx1"/>
              </a:solidFill>
              <a:latin typeface="+mn-ea"/>
            </a:endParaRPr>
          </a:p>
          <a:p>
            <a:pPr algn="ctr"/>
            <a:r>
              <a:rPr lang="en-US" altLang="ko-KR" sz="900" dirty="0">
                <a:solidFill>
                  <a:schemeClr val="tx1"/>
                </a:solidFill>
                <a:latin typeface="+mn-ea"/>
              </a:rPr>
              <a:t>(</a:t>
            </a:r>
            <a:r>
              <a:rPr lang="ko-KR" altLang="en-US" sz="900" dirty="0">
                <a:solidFill>
                  <a:schemeClr val="tx1"/>
                </a:solidFill>
                <a:latin typeface="+mn-ea"/>
              </a:rPr>
              <a:t>정정인정</a:t>
            </a:r>
            <a:r>
              <a:rPr lang="en-US" altLang="ko-KR" sz="900" dirty="0">
                <a:solidFill>
                  <a:schemeClr val="tx1"/>
                </a:solidFill>
                <a:latin typeface="+mn-ea"/>
              </a:rPr>
              <a:t>)</a:t>
            </a:r>
            <a:endParaRPr lang="ko-KR" altLang="en-US" sz="900" dirty="0">
              <a:solidFill>
                <a:schemeClr val="tx1"/>
              </a:solidFill>
              <a:latin typeface="+mn-ea"/>
            </a:endParaRPr>
          </a:p>
        </p:txBody>
      </p:sp>
      <p:cxnSp>
        <p:nvCxnSpPr>
          <p:cNvPr id="114" name="직선 연결선 113">
            <a:extLst>
              <a:ext uri="{FF2B5EF4-FFF2-40B4-BE49-F238E27FC236}">
                <a16:creationId xmlns:a16="http://schemas.microsoft.com/office/drawing/2014/main" id="{4F578CE1-F558-A4D7-6495-17ACA9172BE5}"/>
              </a:ext>
            </a:extLst>
          </p:cNvPr>
          <p:cNvCxnSpPr>
            <a:cxnSpLocks/>
            <a:stCxn id="112" idx="2"/>
            <a:endCxn id="117" idx="0"/>
          </p:cNvCxnSpPr>
          <p:nvPr/>
        </p:nvCxnSpPr>
        <p:spPr>
          <a:xfrm>
            <a:off x="6190644" y="3697930"/>
            <a:ext cx="1242" cy="29298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7" name="타원 116">
            <a:extLst>
              <a:ext uri="{FF2B5EF4-FFF2-40B4-BE49-F238E27FC236}">
                <a16:creationId xmlns:a16="http://schemas.microsoft.com/office/drawing/2014/main" id="{2460C6C0-E95C-8E2C-72BD-2767E04B955C}"/>
              </a:ext>
            </a:extLst>
          </p:cNvPr>
          <p:cNvSpPr/>
          <p:nvPr/>
        </p:nvSpPr>
        <p:spPr>
          <a:xfrm>
            <a:off x="6114517" y="399091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sp>
        <p:nvSpPr>
          <p:cNvPr id="119" name="TextBox 118">
            <a:extLst>
              <a:ext uri="{FF2B5EF4-FFF2-40B4-BE49-F238E27FC236}">
                <a16:creationId xmlns:a16="http://schemas.microsoft.com/office/drawing/2014/main" id="{ACA50542-7D40-F025-54A1-4CB296CD34CF}"/>
              </a:ext>
            </a:extLst>
          </p:cNvPr>
          <p:cNvSpPr txBox="1"/>
          <p:nvPr/>
        </p:nvSpPr>
        <p:spPr>
          <a:xfrm>
            <a:off x="6914423" y="3313209"/>
            <a:ext cx="471148" cy="40011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소</a:t>
            </a:r>
            <a:endParaRPr lang="en-US" altLang="ko-KR" sz="1000" dirty="0">
              <a:solidFill>
                <a:schemeClr val="tx1"/>
              </a:solidFill>
              <a:latin typeface="+mn-ea"/>
            </a:endParaRPr>
          </a:p>
          <a:p>
            <a:pPr algn="ctr"/>
            <a:r>
              <a:rPr lang="ko-KR" altLang="en-US" sz="1000" dirty="0">
                <a:solidFill>
                  <a:schemeClr val="tx1"/>
                </a:solidFill>
                <a:latin typeface="+mn-ea"/>
              </a:rPr>
              <a:t>제기</a:t>
            </a:r>
            <a:endParaRPr lang="ko-KR" altLang="en-US" sz="900" dirty="0">
              <a:solidFill>
                <a:schemeClr val="tx1"/>
              </a:solidFill>
              <a:latin typeface="+mn-ea"/>
            </a:endParaRPr>
          </a:p>
        </p:txBody>
      </p:sp>
      <p:cxnSp>
        <p:nvCxnSpPr>
          <p:cNvPr id="120" name="직선 연결선 119">
            <a:extLst>
              <a:ext uri="{FF2B5EF4-FFF2-40B4-BE49-F238E27FC236}">
                <a16:creationId xmlns:a16="http://schemas.microsoft.com/office/drawing/2014/main" id="{3F50CFBC-9751-CF05-E47A-8845E55C4BDA}"/>
              </a:ext>
            </a:extLst>
          </p:cNvPr>
          <p:cNvCxnSpPr>
            <a:cxnSpLocks/>
            <a:stCxn id="119" idx="2"/>
            <a:endCxn id="121" idx="0"/>
          </p:cNvCxnSpPr>
          <p:nvPr/>
        </p:nvCxnSpPr>
        <p:spPr>
          <a:xfrm>
            <a:off x="7149997" y="3713319"/>
            <a:ext cx="1242" cy="27759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1" name="타원 120">
            <a:extLst>
              <a:ext uri="{FF2B5EF4-FFF2-40B4-BE49-F238E27FC236}">
                <a16:creationId xmlns:a16="http://schemas.microsoft.com/office/drawing/2014/main" id="{86161FD5-3E47-E8A0-9589-8542E1B8ADA8}"/>
              </a:ext>
            </a:extLst>
          </p:cNvPr>
          <p:cNvSpPr/>
          <p:nvPr/>
        </p:nvSpPr>
        <p:spPr>
          <a:xfrm>
            <a:off x="7073870" y="399091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sp>
        <p:nvSpPr>
          <p:cNvPr id="123" name="TextBox 122">
            <a:extLst>
              <a:ext uri="{FF2B5EF4-FFF2-40B4-BE49-F238E27FC236}">
                <a16:creationId xmlns:a16="http://schemas.microsoft.com/office/drawing/2014/main" id="{16989815-A90F-EEE1-C0A4-F0FE4535B9CD}"/>
              </a:ext>
            </a:extLst>
          </p:cNvPr>
          <p:cNvSpPr txBox="1"/>
          <p:nvPr/>
        </p:nvSpPr>
        <p:spPr>
          <a:xfrm>
            <a:off x="7740170" y="3313209"/>
            <a:ext cx="471148" cy="400110"/>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기각판결</a:t>
            </a:r>
            <a:endParaRPr lang="ko-KR" altLang="en-US" sz="900" dirty="0">
              <a:solidFill>
                <a:schemeClr val="tx1"/>
              </a:solidFill>
              <a:latin typeface="+mn-ea"/>
            </a:endParaRPr>
          </a:p>
        </p:txBody>
      </p:sp>
      <p:cxnSp>
        <p:nvCxnSpPr>
          <p:cNvPr id="124" name="직선 연결선 123">
            <a:extLst>
              <a:ext uri="{FF2B5EF4-FFF2-40B4-BE49-F238E27FC236}">
                <a16:creationId xmlns:a16="http://schemas.microsoft.com/office/drawing/2014/main" id="{38FEDBC0-1C3C-5551-BD31-5C1A86666E2C}"/>
              </a:ext>
            </a:extLst>
          </p:cNvPr>
          <p:cNvCxnSpPr>
            <a:cxnSpLocks/>
            <a:stCxn id="123" idx="2"/>
            <a:endCxn id="125" idx="0"/>
          </p:cNvCxnSpPr>
          <p:nvPr/>
        </p:nvCxnSpPr>
        <p:spPr>
          <a:xfrm>
            <a:off x="7975744" y="3713319"/>
            <a:ext cx="1242" cy="27759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5" name="타원 124">
            <a:extLst>
              <a:ext uri="{FF2B5EF4-FFF2-40B4-BE49-F238E27FC236}">
                <a16:creationId xmlns:a16="http://schemas.microsoft.com/office/drawing/2014/main" id="{42BF9394-3687-3E99-5CD6-DE2185CC7DAF}"/>
              </a:ext>
            </a:extLst>
          </p:cNvPr>
          <p:cNvSpPr/>
          <p:nvPr/>
        </p:nvSpPr>
        <p:spPr>
          <a:xfrm>
            <a:off x="7899617" y="399091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sp>
        <p:nvSpPr>
          <p:cNvPr id="126" name="TextBox 125">
            <a:extLst>
              <a:ext uri="{FF2B5EF4-FFF2-40B4-BE49-F238E27FC236}">
                <a16:creationId xmlns:a16="http://schemas.microsoft.com/office/drawing/2014/main" id="{03A94DA0-177C-82B3-6AEC-2858F9871E01}"/>
              </a:ext>
            </a:extLst>
          </p:cNvPr>
          <p:cNvSpPr txBox="1"/>
          <p:nvPr/>
        </p:nvSpPr>
        <p:spPr>
          <a:xfrm>
            <a:off x="8581409" y="3456643"/>
            <a:ext cx="471148" cy="246221"/>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상고</a:t>
            </a:r>
            <a:endParaRPr lang="ko-KR" altLang="en-US" sz="900" dirty="0">
              <a:solidFill>
                <a:schemeClr val="tx1"/>
              </a:solidFill>
              <a:latin typeface="+mn-ea"/>
            </a:endParaRPr>
          </a:p>
        </p:txBody>
      </p:sp>
      <p:cxnSp>
        <p:nvCxnSpPr>
          <p:cNvPr id="127" name="직선 연결선 126">
            <a:extLst>
              <a:ext uri="{FF2B5EF4-FFF2-40B4-BE49-F238E27FC236}">
                <a16:creationId xmlns:a16="http://schemas.microsoft.com/office/drawing/2014/main" id="{7DB15640-E645-BB48-6D87-6F540A4E899F}"/>
              </a:ext>
            </a:extLst>
          </p:cNvPr>
          <p:cNvCxnSpPr>
            <a:cxnSpLocks/>
            <a:stCxn id="126" idx="2"/>
            <a:endCxn id="128" idx="0"/>
          </p:cNvCxnSpPr>
          <p:nvPr/>
        </p:nvCxnSpPr>
        <p:spPr>
          <a:xfrm>
            <a:off x="8816983" y="3702864"/>
            <a:ext cx="1242" cy="28804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8" name="타원 127">
            <a:extLst>
              <a:ext uri="{FF2B5EF4-FFF2-40B4-BE49-F238E27FC236}">
                <a16:creationId xmlns:a16="http://schemas.microsoft.com/office/drawing/2014/main" id="{7025CC60-074F-3A3E-2014-31290E40D824}"/>
              </a:ext>
            </a:extLst>
          </p:cNvPr>
          <p:cNvSpPr/>
          <p:nvPr/>
        </p:nvSpPr>
        <p:spPr>
          <a:xfrm>
            <a:off x="8740856" y="399091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sp>
        <p:nvSpPr>
          <p:cNvPr id="131" name="TextBox 130">
            <a:extLst>
              <a:ext uri="{FF2B5EF4-FFF2-40B4-BE49-F238E27FC236}">
                <a16:creationId xmlns:a16="http://schemas.microsoft.com/office/drawing/2014/main" id="{FCF1E09F-C8F4-FF55-9738-46085F673185}"/>
              </a:ext>
            </a:extLst>
          </p:cNvPr>
          <p:cNvSpPr txBox="1"/>
          <p:nvPr/>
        </p:nvSpPr>
        <p:spPr>
          <a:xfrm>
            <a:off x="9537013" y="3313209"/>
            <a:ext cx="671324" cy="384721"/>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000" dirty="0">
                <a:solidFill>
                  <a:schemeClr val="tx1"/>
                </a:solidFill>
                <a:latin typeface="+mn-ea"/>
              </a:rPr>
              <a:t>인용판결</a:t>
            </a:r>
            <a:endParaRPr lang="en-US" altLang="ko-KR" sz="1000" dirty="0">
              <a:solidFill>
                <a:schemeClr val="tx1"/>
              </a:solidFill>
              <a:latin typeface="+mn-ea"/>
            </a:endParaRPr>
          </a:p>
          <a:p>
            <a:pPr algn="ctr"/>
            <a:r>
              <a:rPr lang="en-US" altLang="ko-KR" sz="900" dirty="0">
                <a:solidFill>
                  <a:schemeClr val="tx1"/>
                </a:solidFill>
                <a:latin typeface="+mn-ea"/>
              </a:rPr>
              <a:t>(</a:t>
            </a:r>
            <a:r>
              <a:rPr lang="ko-KR" altLang="en-US" sz="900" dirty="0" err="1">
                <a:solidFill>
                  <a:schemeClr val="tx1"/>
                </a:solidFill>
                <a:latin typeface="+mn-ea"/>
              </a:rPr>
              <a:t>취소환송</a:t>
            </a:r>
            <a:r>
              <a:rPr lang="en-US" altLang="ko-KR" sz="900" dirty="0">
                <a:solidFill>
                  <a:schemeClr val="tx1"/>
                </a:solidFill>
                <a:latin typeface="+mn-ea"/>
              </a:rPr>
              <a:t>)</a:t>
            </a:r>
            <a:endParaRPr lang="ko-KR" altLang="en-US" sz="900" dirty="0">
              <a:solidFill>
                <a:schemeClr val="tx1"/>
              </a:solidFill>
              <a:latin typeface="+mn-ea"/>
            </a:endParaRPr>
          </a:p>
        </p:txBody>
      </p:sp>
      <p:cxnSp>
        <p:nvCxnSpPr>
          <p:cNvPr id="132" name="직선 연결선 131">
            <a:extLst>
              <a:ext uri="{FF2B5EF4-FFF2-40B4-BE49-F238E27FC236}">
                <a16:creationId xmlns:a16="http://schemas.microsoft.com/office/drawing/2014/main" id="{96703086-5DC3-356B-EA0C-30EA6D0F88BB}"/>
              </a:ext>
            </a:extLst>
          </p:cNvPr>
          <p:cNvCxnSpPr>
            <a:cxnSpLocks/>
            <a:stCxn id="131" idx="2"/>
            <a:endCxn id="133" idx="0"/>
          </p:cNvCxnSpPr>
          <p:nvPr/>
        </p:nvCxnSpPr>
        <p:spPr>
          <a:xfrm>
            <a:off x="9872675" y="3697930"/>
            <a:ext cx="1242" cy="29298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3" name="타원 132">
            <a:extLst>
              <a:ext uri="{FF2B5EF4-FFF2-40B4-BE49-F238E27FC236}">
                <a16:creationId xmlns:a16="http://schemas.microsoft.com/office/drawing/2014/main" id="{110C4A08-699C-8B1C-7C22-576C1D4CA69A}"/>
              </a:ext>
            </a:extLst>
          </p:cNvPr>
          <p:cNvSpPr/>
          <p:nvPr/>
        </p:nvSpPr>
        <p:spPr>
          <a:xfrm>
            <a:off x="9796548" y="3990911"/>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00">
              <a:latin typeface="+mn-ea"/>
            </a:endParaRPr>
          </a:p>
        </p:txBody>
      </p:sp>
      <p:cxnSp>
        <p:nvCxnSpPr>
          <p:cNvPr id="137" name="연결선: 꺾임 136">
            <a:extLst>
              <a:ext uri="{FF2B5EF4-FFF2-40B4-BE49-F238E27FC236}">
                <a16:creationId xmlns:a16="http://schemas.microsoft.com/office/drawing/2014/main" id="{E9BC8175-01F9-8145-5644-1E27C9796019}"/>
              </a:ext>
            </a:extLst>
          </p:cNvPr>
          <p:cNvCxnSpPr>
            <a:cxnSpLocks/>
            <a:stCxn id="101" idx="4"/>
            <a:endCxn id="95" idx="0"/>
          </p:cNvCxnSpPr>
          <p:nvPr/>
        </p:nvCxnSpPr>
        <p:spPr>
          <a:xfrm rot="5400000">
            <a:off x="4547702" y="4196285"/>
            <a:ext cx="746619" cy="658546"/>
          </a:xfrm>
          <a:prstGeom prst="bentConnector3">
            <a:avLst>
              <a:gd name="adj1" fmla="val 8842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4" name="TextBox 143">
            <a:extLst>
              <a:ext uri="{FF2B5EF4-FFF2-40B4-BE49-F238E27FC236}">
                <a16:creationId xmlns:a16="http://schemas.microsoft.com/office/drawing/2014/main" id="{B24F54EC-1C45-9474-C34C-96259B0E19C3}"/>
              </a:ext>
            </a:extLst>
          </p:cNvPr>
          <p:cNvSpPr txBox="1"/>
          <p:nvPr/>
        </p:nvSpPr>
        <p:spPr>
          <a:xfrm>
            <a:off x="6038655" y="4898868"/>
            <a:ext cx="3304341" cy="1938992"/>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134938" indent="-134938">
              <a:buAutoNum type="arabicPeriod"/>
            </a:pPr>
            <a:r>
              <a:rPr lang="ko-KR" altLang="en-US" sz="1000" dirty="0" err="1">
                <a:solidFill>
                  <a:schemeClr val="tx1"/>
                </a:solidFill>
                <a:latin typeface="+mn-ea"/>
              </a:rPr>
              <a:t>공지예외적용주장을</a:t>
            </a:r>
            <a:r>
              <a:rPr lang="ko-KR" altLang="en-US" sz="1000" dirty="0">
                <a:solidFill>
                  <a:schemeClr val="tx1"/>
                </a:solidFill>
                <a:latin typeface="+mn-ea"/>
              </a:rPr>
              <a:t> 한 선행기술 </a:t>
            </a:r>
            <a:r>
              <a:rPr lang="en-US" altLang="ko-KR" sz="1000" dirty="0">
                <a:solidFill>
                  <a:schemeClr val="tx1"/>
                </a:solidFill>
                <a:latin typeface="+mn-ea"/>
              </a:rPr>
              <a:t>1</a:t>
            </a:r>
            <a:r>
              <a:rPr lang="ko-KR" altLang="en-US" sz="1000" dirty="0">
                <a:solidFill>
                  <a:schemeClr val="tx1"/>
                </a:solidFill>
                <a:latin typeface="+mn-ea"/>
              </a:rPr>
              <a:t>에 의한 자유실시기술의 주장은 허용되지 않는다</a:t>
            </a:r>
            <a:r>
              <a:rPr lang="en-US" altLang="ko-KR" sz="1000" dirty="0">
                <a:solidFill>
                  <a:schemeClr val="tx1"/>
                </a:solidFill>
                <a:latin typeface="+mn-ea"/>
              </a:rPr>
              <a:t>.</a:t>
            </a:r>
          </a:p>
          <a:p>
            <a:pPr marL="134938" indent="-134938">
              <a:buAutoNum type="arabicPeriod"/>
            </a:pPr>
            <a:r>
              <a:rPr lang="ko-KR" altLang="en-US" sz="1000" dirty="0">
                <a:solidFill>
                  <a:schemeClr val="tx1"/>
                </a:solidFill>
                <a:latin typeface="+mn-ea"/>
              </a:rPr>
              <a:t>특허발명의 기술적인 </a:t>
            </a:r>
            <a:r>
              <a:rPr lang="ko-KR" altLang="en-US" sz="1000" dirty="0">
                <a:solidFill>
                  <a:schemeClr val="tx1"/>
                </a:solidFill>
                <a:highlight>
                  <a:srgbClr val="FFFF00"/>
                </a:highlight>
                <a:latin typeface="+mn-ea"/>
              </a:rPr>
              <a:t>의미는 ‘</a:t>
            </a:r>
            <a:r>
              <a:rPr lang="ko-KR" altLang="en-US" sz="1000" dirty="0" err="1">
                <a:solidFill>
                  <a:schemeClr val="tx1"/>
                </a:solidFill>
                <a:highlight>
                  <a:srgbClr val="FFFF00"/>
                </a:highlight>
                <a:latin typeface="+mn-ea"/>
              </a:rPr>
              <a:t>피마살탄</a:t>
            </a:r>
            <a:r>
              <a:rPr lang="ko-KR" altLang="en-US" sz="1000" dirty="0">
                <a:solidFill>
                  <a:schemeClr val="tx1"/>
                </a:solidFill>
                <a:highlight>
                  <a:srgbClr val="FFFF00"/>
                </a:highlight>
                <a:latin typeface="+mn-ea"/>
              </a:rPr>
              <a:t> 칼륨염 </a:t>
            </a:r>
            <a:r>
              <a:rPr lang="en-US" altLang="ko-KR" sz="1000" dirty="0">
                <a:solidFill>
                  <a:schemeClr val="tx1"/>
                </a:solidFill>
                <a:highlight>
                  <a:srgbClr val="FFFF00"/>
                </a:highlight>
                <a:latin typeface="+mn-ea"/>
              </a:rPr>
              <a:t>30㎎ </a:t>
            </a:r>
            <a:r>
              <a:rPr lang="ko-KR" altLang="en-US" sz="1000" dirty="0">
                <a:solidFill>
                  <a:schemeClr val="tx1"/>
                </a:solidFill>
                <a:highlight>
                  <a:srgbClr val="FFFF00"/>
                </a:highlight>
                <a:latin typeface="+mn-ea"/>
              </a:rPr>
              <a:t>또는 </a:t>
            </a:r>
            <a:r>
              <a:rPr lang="ko-KR" altLang="en-US" sz="1000" dirty="0" err="1">
                <a:solidFill>
                  <a:schemeClr val="tx1"/>
                </a:solidFill>
                <a:highlight>
                  <a:srgbClr val="FFFF00"/>
                </a:highlight>
                <a:latin typeface="+mn-ea"/>
              </a:rPr>
              <a:t>피마살탄</a:t>
            </a:r>
            <a:r>
              <a:rPr lang="ko-KR" altLang="en-US" sz="1000" dirty="0">
                <a:solidFill>
                  <a:schemeClr val="tx1"/>
                </a:solidFill>
                <a:highlight>
                  <a:srgbClr val="FFFF00"/>
                </a:highlight>
                <a:latin typeface="+mn-ea"/>
              </a:rPr>
              <a:t> 칼륨염의 수화물 </a:t>
            </a:r>
            <a:r>
              <a:rPr lang="en-US" altLang="ko-KR" sz="1000" dirty="0">
                <a:solidFill>
                  <a:schemeClr val="tx1"/>
                </a:solidFill>
                <a:highlight>
                  <a:srgbClr val="FFFF00"/>
                </a:highlight>
                <a:latin typeface="+mn-ea"/>
              </a:rPr>
              <a:t>30㎎’</a:t>
            </a:r>
            <a:r>
              <a:rPr lang="ko-KR" altLang="en-US" sz="1000" dirty="0">
                <a:solidFill>
                  <a:schemeClr val="tx1"/>
                </a:solidFill>
                <a:highlight>
                  <a:srgbClr val="FFFF00"/>
                </a:highlight>
                <a:latin typeface="+mn-ea"/>
              </a:rPr>
              <a:t>과 ‘</a:t>
            </a:r>
            <a:r>
              <a:rPr lang="ko-KR" altLang="en-US" sz="1000" dirty="0" err="1">
                <a:solidFill>
                  <a:schemeClr val="tx1"/>
                </a:solidFill>
                <a:highlight>
                  <a:srgbClr val="FFFF00"/>
                </a:highlight>
                <a:latin typeface="+mn-ea"/>
              </a:rPr>
              <a:t>암로디핀</a:t>
            </a:r>
            <a:r>
              <a:rPr lang="ko-KR" altLang="en-US" sz="1000" dirty="0">
                <a:solidFill>
                  <a:schemeClr val="tx1"/>
                </a:solidFill>
                <a:highlight>
                  <a:srgbClr val="FFFF00"/>
                </a:highlight>
                <a:latin typeface="+mn-ea"/>
              </a:rPr>
              <a:t> </a:t>
            </a:r>
            <a:r>
              <a:rPr lang="ko-KR" altLang="en-US" sz="1000" dirty="0" err="1">
                <a:solidFill>
                  <a:schemeClr val="tx1"/>
                </a:solidFill>
                <a:highlight>
                  <a:srgbClr val="FFFF00"/>
                </a:highlight>
                <a:latin typeface="+mn-ea"/>
              </a:rPr>
              <a:t>베실레이트염</a:t>
            </a:r>
            <a:r>
              <a:rPr lang="ko-KR" altLang="en-US" sz="1000" dirty="0">
                <a:solidFill>
                  <a:schemeClr val="tx1"/>
                </a:solidFill>
                <a:highlight>
                  <a:srgbClr val="FFFF00"/>
                </a:highlight>
                <a:latin typeface="+mn-ea"/>
              </a:rPr>
              <a:t> </a:t>
            </a:r>
            <a:r>
              <a:rPr lang="en-US" altLang="ko-KR" sz="1000" dirty="0">
                <a:solidFill>
                  <a:schemeClr val="tx1"/>
                </a:solidFill>
                <a:highlight>
                  <a:srgbClr val="FFFF00"/>
                </a:highlight>
                <a:latin typeface="+mn-ea"/>
              </a:rPr>
              <a:t>5㎎’</a:t>
            </a:r>
            <a:r>
              <a:rPr lang="ko-KR" altLang="en-US" sz="1000" dirty="0">
                <a:solidFill>
                  <a:schemeClr val="tx1"/>
                </a:solidFill>
                <a:highlight>
                  <a:srgbClr val="FFFF00"/>
                </a:highlight>
                <a:latin typeface="+mn-ea"/>
              </a:rPr>
              <a:t>을 포함하여 혈압 강하의 약리효과를 나타내는 약제학적 조성물로 정확하게 이해할 수 있고 이와 다르게 해석할 여지가 없으므로</a:t>
            </a:r>
            <a:r>
              <a:rPr lang="en-US" altLang="ko-KR" sz="1000" dirty="0">
                <a:solidFill>
                  <a:schemeClr val="tx1"/>
                </a:solidFill>
                <a:latin typeface="+mn-ea"/>
              </a:rPr>
              <a:t>, </a:t>
            </a:r>
            <a:r>
              <a:rPr lang="ko-KR" altLang="en-US" sz="1000" dirty="0">
                <a:solidFill>
                  <a:schemeClr val="tx1"/>
                </a:solidFill>
                <a:latin typeface="+mn-ea"/>
              </a:rPr>
              <a:t>원심으로서는 이 사건 특허발명의 기술적 구성을 ‘</a:t>
            </a:r>
            <a:r>
              <a:rPr lang="ko-KR" altLang="en-US" sz="1000" dirty="0" err="1">
                <a:solidFill>
                  <a:schemeClr val="tx1"/>
                </a:solidFill>
                <a:latin typeface="+mn-ea"/>
              </a:rPr>
              <a:t>피마살탄</a:t>
            </a:r>
            <a:r>
              <a:rPr lang="ko-KR" altLang="en-US" sz="1000" dirty="0">
                <a:solidFill>
                  <a:schemeClr val="tx1"/>
                </a:solidFill>
                <a:latin typeface="+mn-ea"/>
              </a:rPr>
              <a:t> 칼륨염 </a:t>
            </a:r>
            <a:r>
              <a:rPr lang="en-US" altLang="ko-KR" sz="1000" dirty="0">
                <a:solidFill>
                  <a:schemeClr val="tx1"/>
                </a:solidFill>
                <a:latin typeface="+mn-ea"/>
              </a:rPr>
              <a:t>30㎎ </a:t>
            </a:r>
            <a:r>
              <a:rPr lang="ko-KR" altLang="en-US" sz="1000" dirty="0">
                <a:solidFill>
                  <a:schemeClr val="tx1"/>
                </a:solidFill>
                <a:latin typeface="+mn-ea"/>
              </a:rPr>
              <a:t>또는 </a:t>
            </a:r>
            <a:r>
              <a:rPr lang="ko-KR" altLang="en-US" sz="1000" dirty="0" err="1">
                <a:solidFill>
                  <a:schemeClr val="tx1"/>
                </a:solidFill>
                <a:latin typeface="+mn-ea"/>
              </a:rPr>
              <a:t>피마살탄</a:t>
            </a:r>
            <a:r>
              <a:rPr lang="ko-KR" altLang="en-US" sz="1000" dirty="0">
                <a:solidFill>
                  <a:schemeClr val="tx1"/>
                </a:solidFill>
                <a:latin typeface="+mn-ea"/>
              </a:rPr>
              <a:t> 칼륨염의 수화물 </a:t>
            </a:r>
            <a:r>
              <a:rPr lang="en-US" altLang="ko-KR" sz="1000" dirty="0">
                <a:solidFill>
                  <a:schemeClr val="tx1"/>
                </a:solidFill>
                <a:latin typeface="+mn-ea"/>
              </a:rPr>
              <a:t>30㎎’ </a:t>
            </a:r>
            <a:r>
              <a:rPr lang="ko-KR" altLang="en-US" sz="1000" dirty="0">
                <a:solidFill>
                  <a:schemeClr val="tx1"/>
                </a:solidFill>
                <a:latin typeface="+mn-ea"/>
              </a:rPr>
              <a:t>및 ‘</a:t>
            </a:r>
            <a:r>
              <a:rPr lang="ko-KR" altLang="en-US" sz="1000" dirty="0" err="1">
                <a:solidFill>
                  <a:schemeClr val="tx1"/>
                </a:solidFill>
                <a:latin typeface="+mn-ea"/>
              </a:rPr>
              <a:t>암로디핀</a:t>
            </a:r>
            <a:r>
              <a:rPr lang="ko-KR" altLang="en-US" sz="1000" dirty="0">
                <a:solidFill>
                  <a:schemeClr val="tx1"/>
                </a:solidFill>
                <a:latin typeface="+mn-ea"/>
              </a:rPr>
              <a:t> </a:t>
            </a:r>
            <a:r>
              <a:rPr lang="ko-KR" altLang="en-US" sz="1000" dirty="0" err="1">
                <a:solidFill>
                  <a:schemeClr val="tx1"/>
                </a:solidFill>
                <a:latin typeface="+mn-ea"/>
              </a:rPr>
              <a:t>베실레이트염</a:t>
            </a:r>
            <a:r>
              <a:rPr lang="ko-KR" altLang="en-US" sz="1000" dirty="0">
                <a:solidFill>
                  <a:schemeClr val="tx1"/>
                </a:solidFill>
                <a:latin typeface="+mn-ea"/>
              </a:rPr>
              <a:t> </a:t>
            </a:r>
            <a:r>
              <a:rPr lang="en-US" altLang="ko-KR" sz="1000" dirty="0">
                <a:solidFill>
                  <a:schemeClr val="tx1"/>
                </a:solidFill>
                <a:latin typeface="+mn-ea"/>
              </a:rPr>
              <a:t>5㎎’</a:t>
            </a:r>
            <a:r>
              <a:rPr lang="ko-KR" altLang="en-US" sz="1000" dirty="0">
                <a:solidFill>
                  <a:schemeClr val="tx1"/>
                </a:solidFill>
                <a:latin typeface="+mn-ea"/>
              </a:rPr>
              <a:t>을 포함하는 혈압 강하용 약제학적 조성물에 관한 것으로 확정한 다음</a:t>
            </a:r>
            <a:r>
              <a:rPr lang="en-US" altLang="ko-KR" sz="1000" dirty="0">
                <a:solidFill>
                  <a:schemeClr val="tx1"/>
                </a:solidFill>
                <a:latin typeface="+mn-ea"/>
              </a:rPr>
              <a:t>, </a:t>
            </a:r>
            <a:r>
              <a:rPr lang="ko-KR" altLang="en-US" sz="1000" dirty="0">
                <a:solidFill>
                  <a:schemeClr val="tx1"/>
                </a:solidFill>
                <a:latin typeface="+mn-ea"/>
              </a:rPr>
              <a:t>이를 기초로 확인대상 발명이 이 사건 특허발명의 권리범위에 속하는지 여부를 </a:t>
            </a:r>
            <a:r>
              <a:rPr lang="ko-KR" altLang="en-US" sz="1000" dirty="0" err="1">
                <a:solidFill>
                  <a:schemeClr val="tx1"/>
                </a:solidFill>
                <a:latin typeface="+mn-ea"/>
              </a:rPr>
              <a:t>심리ㆍ판단하였어야</a:t>
            </a:r>
            <a:r>
              <a:rPr lang="ko-KR" altLang="en-US" sz="1000" dirty="0">
                <a:solidFill>
                  <a:schemeClr val="tx1"/>
                </a:solidFill>
                <a:latin typeface="+mn-ea"/>
              </a:rPr>
              <a:t> 한다</a:t>
            </a:r>
            <a:r>
              <a:rPr lang="en-US" altLang="ko-KR" sz="1000" dirty="0">
                <a:solidFill>
                  <a:schemeClr val="tx1"/>
                </a:solidFill>
                <a:latin typeface="+mn-ea"/>
              </a:rPr>
              <a:t>.</a:t>
            </a:r>
            <a:endParaRPr lang="ko-KR" altLang="en-US" sz="1000" dirty="0">
              <a:solidFill>
                <a:schemeClr val="tx1"/>
              </a:solidFill>
              <a:latin typeface="+mn-ea"/>
            </a:endParaRPr>
          </a:p>
        </p:txBody>
      </p:sp>
      <p:sp>
        <p:nvSpPr>
          <p:cNvPr id="145" name="TextBox 144">
            <a:extLst>
              <a:ext uri="{FF2B5EF4-FFF2-40B4-BE49-F238E27FC236}">
                <a16:creationId xmlns:a16="http://schemas.microsoft.com/office/drawing/2014/main" id="{FD196C42-3566-6059-F61F-C27CCE10CF51}"/>
              </a:ext>
            </a:extLst>
          </p:cNvPr>
          <p:cNvSpPr txBox="1"/>
          <p:nvPr/>
        </p:nvSpPr>
        <p:spPr>
          <a:xfrm>
            <a:off x="9419436" y="4898868"/>
            <a:ext cx="2643668" cy="1631216"/>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134938" indent="-134938">
              <a:buAutoNum type="arabicPeriod"/>
            </a:pPr>
            <a:r>
              <a:rPr lang="ko-KR" altLang="en-US" sz="1000" dirty="0">
                <a:solidFill>
                  <a:schemeClr val="tx1"/>
                </a:solidFill>
                <a:latin typeface="+mn-ea"/>
              </a:rPr>
              <a:t>청구범위 </a:t>
            </a:r>
            <a:r>
              <a:rPr lang="ko-KR" altLang="en-US" sz="1000" dirty="0" err="1">
                <a:solidFill>
                  <a:schemeClr val="tx1"/>
                </a:solidFill>
                <a:latin typeface="+mn-ea"/>
              </a:rPr>
              <a:t>문언적인</a:t>
            </a:r>
            <a:r>
              <a:rPr lang="ko-KR" altLang="en-US" sz="1000" dirty="0">
                <a:solidFill>
                  <a:schemeClr val="tx1"/>
                </a:solidFill>
                <a:latin typeface="+mn-ea"/>
              </a:rPr>
              <a:t> 의미 내용을 기초로 발명의 설명 등을 참작하면 청구항이 문언 그대로 정확하게 이해될 수 있고</a:t>
            </a:r>
            <a:r>
              <a:rPr lang="en-US" altLang="ko-KR" sz="1000" dirty="0">
                <a:solidFill>
                  <a:schemeClr val="tx1"/>
                </a:solidFill>
                <a:latin typeface="+mn-ea"/>
              </a:rPr>
              <a:t>, </a:t>
            </a:r>
            <a:r>
              <a:rPr lang="ko-KR" altLang="en-US" sz="1000" dirty="0">
                <a:solidFill>
                  <a:schemeClr val="tx1"/>
                </a:solidFill>
                <a:latin typeface="+mn-ea"/>
              </a:rPr>
              <a:t>다르게 해석될 여지가 없다</a:t>
            </a:r>
            <a:r>
              <a:rPr lang="en-US" altLang="ko-KR" sz="1000" dirty="0">
                <a:solidFill>
                  <a:schemeClr val="tx1"/>
                </a:solidFill>
                <a:latin typeface="+mn-ea"/>
              </a:rPr>
              <a:t>.</a:t>
            </a:r>
          </a:p>
          <a:p>
            <a:pPr marL="134938" indent="-134938">
              <a:buAutoNum type="arabicPeriod"/>
            </a:pPr>
            <a:r>
              <a:rPr lang="ko-KR" altLang="en-US" sz="1000" dirty="0">
                <a:solidFill>
                  <a:schemeClr val="tx1"/>
                </a:solidFill>
                <a:latin typeface="+mn-ea"/>
              </a:rPr>
              <a:t>정정청구는 제</a:t>
            </a:r>
            <a:r>
              <a:rPr lang="en-US" altLang="ko-KR" sz="1000" dirty="0">
                <a:solidFill>
                  <a:schemeClr val="tx1"/>
                </a:solidFill>
                <a:latin typeface="+mn-ea"/>
              </a:rPr>
              <a:t>136</a:t>
            </a:r>
            <a:r>
              <a:rPr lang="ko-KR" altLang="en-US" sz="1000" dirty="0">
                <a:solidFill>
                  <a:schemeClr val="tx1"/>
                </a:solidFill>
                <a:latin typeface="+mn-ea"/>
              </a:rPr>
              <a:t>조제</a:t>
            </a:r>
            <a:r>
              <a:rPr lang="en-US" altLang="ko-KR" sz="1000" dirty="0">
                <a:solidFill>
                  <a:schemeClr val="tx1"/>
                </a:solidFill>
                <a:latin typeface="+mn-ea"/>
              </a:rPr>
              <a:t>1</a:t>
            </a:r>
            <a:r>
              <a:rPr lang="ko-KR" altLang="en-US" sz="1000" dirty="0" err="1">
                <a:solidFill>
                  <a:schemeClr val="tx1"/>
                </a:solidFill>
                <a:latin typeface="+mn-ea"/>
              </a:rPr>
              <a:t>항제</a:t>
            </a:r>
            <a:r>
              <a:rPr lang="en-US" altLang="ko-KR" sz="1000" dirty="0">
                <a:solidFill>
                  <a:schemeClr val="tx1"/>
                </a:solidFill>
                <a:latin typeface="+mn-ea"/>
              </a:rPr>
              <a:t>3</a:t>
            </a:r>
            <a:r>
              <a:rPr lang="ko-KR" altLang="en-US" sz="1000" dirty="0">
                <a:solidFill>
                  <a:schemeClr val="tx1"/>
                </a:solidFill>
                <a:latin typeface="+mn-ea"/>
              </a:rPr>
              <a:t>호의 분명하지 아니한 기재를 명확하게 하는 경우가 아니고</a:t>
            </a:r>
            <a:r>
              <a:rPr lang="en-US" altLang="ko-KR" sz="1000" dirty="0">
                <a:solidFill>
                  <a:schemeClr val="tx1"/>
                </a:solidFill>
                <a:latin typeface="+mn-ea"/>
              </a:rPr>
              <a:t>, </a:t>
            </a:r>
            <a:r>
              <a:rPr lang="ko-KR" altLang="en-US" sz="1000" dirty="0">
                <a:solidFill>
                  <a:schemeClr val="tx1"/>
                </a:solidFill>
                <a:latin typeface="+mn-ea"/>
              </a:rPr>
              <a:t>이를 인정하면 청구범위를 실질적으로 변경할 여지도 있다</a:t>
            </a:r>
            <a:r>
              <a:rPr lang="en-US" altLang="ko-KR" sz="1000" dirty="0">
                <a:solidFill>
                  <a:schemeClr val="tx1"/>
                </a:solidFill>
                <a:latin typeface="+mn-ea"/>
              </a:rPr>
              <a:t>.</a:t>
            </a:r>
          </a:p>
          <a:p>
            <a:pPr marL="134938" indent="-134938">
              <a:buAutoNum type="arabicPeriod"/>
            </a:pPr>
            <a:r>
              <a:rPr lang="ko-KR" altLang="en-US" sz="1000" dirty="0">
                <a:solidFill>
                  <a:schemeClr val="tx1"/>
                </a:solidFill>
                <a:latin typeface="+mn-ea"/>
              </a:rPr>
              <a:t>따라서 원심은 정정 전 청구범위를 기준으로 무효사유가 있는지 </a:t>
            </a:r>
            <a:r>
              <a:rPr lang="ko-KR" altLang="en-US" sz="1000" dirty="0" err="1">
                <a:solidFill>
                  <a:schemeClr val="tx1"/>
                </a:solidFill>
                <a:latin typeface="+mn-ea"/>
              </a:rPr>
              <a:t>판단하였어야</a:t>
            </a:r>
            <a:r>
              <a:rPr lang="ko-KR" altLang="en-US" sz="1000" dirty="0">
                <a:solidFill>
                  <a:schemeClr val="tx1"/>
                </a:solidFill>
                <a:latin typeface="+mn-ea"/>
              </a:rPr>
              <a:t> 한다</a:t>
            </a:r>
            <a:r>
              <a:rPr lang="en-US" altLang="ko-KR" sz="1000" dirty="0">
                <a:solidFill>
                  <a:schemeClr val="tx1"/>
                </a:solidFill>
                <a:latin typeface="+mn-ea"/>
              </a:rPr>
              <a:t>.</a:t>
            </a:r>
            <a:r>
              <a:rPr lang="ko-KR" altLang="en-US" sz="1000" dirty="0">
                <a:solidFill>
                  <a:schemeClr val="tx1"/>
                </a:solidFill>
                <a:latin typeface="+mn-ea"/>
              </a:rPr>
              <a:t> </a:t>
            </a:r>
          </a:p>
        </p:txBody>
      </p:sp>
      <p:cxnSp>
        <p:nvCxnSpPr>
          <p:cNvPr id="150" name="연결선: 꺾임 149">
            <a:extLst>
              <a:ext uri="{FF2B5EF4-FFF2-40B4-BE49-F238E27FC236}">
                <a16:creationId xmlns:a16="http://schemas.microsoft.com/office/drawing/2014/main" id="{42D3003E-2B6A-B4E2-C335-49F35D6CEA45}"/>
              </a:ext>
            </a:extLst>
          </p:cNvPr>
          <p:cNvCxnSpPr>
            <a:stCxn id="90" idx="2"/>
            <a:endCxn id="91" idx="0"/>
          </p:cNvCxnSpPr>
          <p:nvPr/>
        </p:nvCxnSpPr>
        <p:spPr>
          <a:xfrm rot="16200000" flipH="1">
            <a:off x="4067144" y="3570573"/>
            <a:ext cx="268627" cy="572047"/>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51" name="연결선: 꺾임 150">
            <a:extLst>
              <a:ext uri="{FF2B5EF4-FFF2-40B4-BE49-F238E27FC236}">
                <a16:creationId xmlns:a16="http://schemas.microsoft.com/office/drawing/2014/main" id="{B7F36880-23B2-11BE-2AAA-346BBD036DEB}"/>
              </a:ext>
            </a:extLst>
          </p:cNvPr>
          <p:cNvCxnSpPr>
            <a:cxnSpLocks/>
            <a:stCxn id="61" idx="2"/>
            <a:endCxn id="144" idx="0"/>
          </p:cNvCxnSpPr>
          <p:nvPr/>
        </p:nvCxnSpPr>
        <p:spPr>
          <a:xfrm rot="5400000">
            <a:off x="8355354" y="4076602"/>
            <a:ext cx="157738" cy="1486794"/>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연결선: 꺾임 153">
            <a:extLst>
              <a:ext uri="{FF2B5EF4-FFF2-40B4-BE49-F238E27FC236}">
                <a16:creationId xmlns:a16="http://schemas.microsoft.com/office/drawing/2014/main" id="{8368E63F-9474-3DB4-768E-1AA0C7C03D14}"/>
              </a:ext>
            </a:extLst>
          </p:cNvPr>
          <p:cNvCxnSpPr>
            <a:cxnSpLocks/>
            <a:stCxn id="133" idx="4"/>
            <a:endCxn id="145" idx="0"/>
          </p:cNvCxnSpPr>
          <p:nvPr/>
        </p:nvCxnSpPr>
        <p:spPr>
          <a:xfrm rot="16200000" flipH="1">
            <a:off x="9934284" y="4091881"/>
            <a:ext cx="746619" cy="867353"/>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7" name="직사각형 156">
            <a:extLst>
              <a:ext uri="{FF2B5EF4-FFF2-40B4-BE49-F238E27FC236}">
                <a16:creationId xmlns:a16="http://schemas.microsoft.com/office/drawing/2014/main" id="{61857A2D-7BF4-BB11-289F-48998BCD77F6}"/>
              </a:ext>
            </a:extLst>
          </p:cNvPr>
          <p:cNvSpPr/>
          <p:nvPr/>
        </p:nvSpPr>
        <p:spPr>
          <a:xfrm>
            <a:off x="5486400" y="1321147"/>
            <a:ext cx="6601825" cy="1938992"/>
          </a:xfrm>
          <a:prstGeom prst="rect">
            <a:avLst/>
          </a:prstGeom>
          <a:ln>
            <a:solidFill>
              <a:schemeClr val="tx1">
                <a:lumMod val="50000"/>
                <a:lumOff val="50000"/>
              </a:schemeClr>
            </a:solidFill>
          </a:ln>
        </p:spPr>
        <p:txBody>
          <a:bodyPr wrap="square">
            <a:spAutoFit/>
          </a:bodyPr>
          <a:lstStyle/>
          <a:p>
            <a:pPr algn="just" fontAlgn="base"/>
            <a:r>
              <a:rPr lang="ko-KR" altLang="en-US" sz="1000" dirty="0">
                <a:solidFill>
                  <a:srgbClr val="FF0000"/>
                </a:solidFill>
              </a:rPr>
              <a:t>구 특허법</a:t>
            </a:r>
            <a:r>
              <a:rPr lang="en-US" altLang="ko-KR" sz="1000" dirty="0">
                <a:solidFill>
                  <a:srgbClr val="FF0000"/>
                </a:solidFill>
              </a:rPr>
              <a:t>(2011. 12. 2. </a:t>
            </a:r>
            <a:r>
              <a:rPr lang="ko-KR" altLang="en-US" sz="1000" dirty="0">
                <a:solidFill>
                  <a:srgbClr val="FF0000"/>
                </a:solidFill>
              </a:rPr>
              <a:t>법률 제</a:t>
            </a:r>
            <a:r>
              <a:rPr lang="en-US" altLang="ko-KR" sz="1000" dirty="0">
                <a:solidFill>
                  <a:srgbClr val="FF0000"/>
                </a:solidFill>
              </a:rPr>
              <a:t>11117</a:t>
            </a:r>
            <a:r>
              <a:rPr lang="ko-KR" altLang="en-US" sz="1000" dirty="0">
                <a:solidFill>
                  <a:srgbClr val="FF0000"/>
                </a:solidFill>
              </a:rPr>
              <a:t>호로 개정되기 전의 것</a:t>
            </a:r>
            <a:r>
              <a:rPr lang="en-US" altLang="ko-KR" sz="1000" dirty="0">
                <a:solidFill>
                  <a:srgbClr val="FF0000"/>
                </a:solidFill>
              </a:rPr>
              <a:t>) </a:t>
            </a:r>
            <a:r>
              <a:rPr lang="ko-KR" altLang="en-US" sz="1000" dirty="0">
                <a:solidFill>
                  <a:srgbClr val="FF0000"/>
                </a:solidFill>
              </a:rPr>
              <a:t>제</a:t>
            </a:r>
            <a:r>
              <a:rPr lang="en-US" altLang="ko-KR" sz="1000" dirty="0">
                <a:solidFill>
                  <a:srgbClr val="FF0000"/>
                </a:solidFill>
              </a:rPr>
              <a:t>30</a:t>
            </a:r>
            <a:r>
              <a:rPr lang="ko-KR" altLang="en-US" sz="1000" dirty="0">
                <a:solidFill>
                  <a:srgbClr val="FF0000"/>
                </a:solidFill>
              </a:rPr>
              <a:t>조 제</a:t>
            </a:r>
            <a:r>
              <a:rPr lang="en-US" altLang="ko-KR" sz="1000" dirty="0">
                <a:solidFill>
                  <a:srgbClr val="FF0000"/>
                </a:solidFill>
              </a:rPr>
              <a:t>1</a:t>
            </a:r>
            <a:r>
              <a:rPr lang="ko-KR" altLang="en-US" sz="1000" dirty="0">
                <a:solidFill>
                  <a:srgbClr val="FF0000"/>
                </a:solidFill>
              </a:rPr>
              <a:t>항에서 정한 </a:t>
            </a:r>
            <a:r>
              <a:rPr lang="ko-KR" altLang="en-US" sz="1000" dirty="0" err="1">
                <a:solidFill>
                  <a:srgbClr val="FF0000"/>
                </a:solidFill>
              </a:rPr>
              <a:t>공지예외</a:t>
            </a:r>
            <a:r>
              <a:rPr lang="ko-KR" altLang="en-US" sz="1000" dirty="0">
                <a:solidFill>
                  <a:srgbClr val="FF0000"/>
                </a:solidFill>
              </a:rPr>
              <a:t> 규정의 문언과 내용</a:t>
            </a:r>
            <a:r>
              <a:rPr lang="en-US" altLang="ko-KR" sz="1000" dirty="0">
                <a:solidFill>
                  <a:srgbClr val="FF0000"/>
                </a:solidFill>
              </a:rPr>
              <a:t>, </a:t>
            </a:r>
            <a:r>
              <a:rPr lang="ko-KR" altLang="en-US" sz="1000" dirty="0">
                <a:solidFill>
                  <a:srgbClr val="FF0000"/>
                </a:solidFill>
              </a:rPr>
              <a:t>입법 취지</a:t>
            </a:r>
            <a:r>
              <a:rPr lang="en-US" altLang="ko-KR" sz="1000" dirty="0">
                <a:solidFill>
                  <a:srgbClr val="FF0000"/>
                </a:solidFill>
              </a:rPr>
              <a:t>, </a:t>
            </a:r>
            <a:r>
              <a:rPr lang="ko-KR" altLang="en-US" sz="1000" dirty="0">
                <a:solidFill>
                  <a:srgbClr val="FF0000"/>
                </a:solidFill>
              </a:rPr>
              <a:t>자유실시기술 법리의 본질 및 기능 등을 종합하여 보면</a:t>
            </a:r>
            <a:r>
              <a:rPr lang="en-US" altLang="ko-KR" sz="1000" dirty="0">
                <a:solidFill>
                  <a:srgbClr val="FF0000"/>
                </a:solidFill>
              </a:rPr>
              <a:t>, </a:t>
            </a:r>
            <a:r>
              <a:rPr lang="ko-KR" altLang="en-US" sz="1000" dirty="0" err="1">
                <a:solidFill>
                  <a:srgbClr val="FF0000"/>
                </a:solidFill>
              </a:rPr>
              <a:t>공지예외</a:t>
            </a:r>
            <a:r>
              <a:rPr lang="ko-KR" altLang="en-US" sz="1000" dirty="0">
                <a:solidFill>
                  <a:srgbClr val="FF0000"/>
                </a:solidFill>
              </a:rPr>
              <a:t> 규정을 </a:t>
            </a:r>
            <a:r>
              <a:rPr lang="ko-KR" altLang="en-US" sz="1000" dirty="0" err="1">
                <a:solidFill>
                  <a:srgbClr val="FF0000"/>
                </a:solidFill>
              </a:rPr>
              <a:t>적용받아</a:t>
            </a:r>
            <a:r>
              <a:rPr lang="ko-KR" altLang="en-US" sz="1000" dirty="0">
                <a:solidFill>
                  <a:srgbClr val="FF0000"/>
                </a:solidFill>
              </a:rPr>
              <a:t> 특허를 받은 특허발명의 경우 확인대상 발명이 그 특허권의 권리범위에 속하는지를 판단할 때에는 자유실시기술 주장 즉</a:t>
            </a:r>
            <a:r>
              <a:rPr lang="en-US" altLang="ko-KR" sz="1000" dirty="0">
                <a:solidFill>
                  <a:srgbClr val="FF0000"/>
                </a:solidFill>
              </a:rPr>
              <a:t>, ‘</a:t>
            </a:r>
            <a:r>
              <a:rPr lang="ko-KR" altLang="en-US" sz="1000" dirty="0">
                <a:solidFill>
                  <a:srgbClr val="FF0000"/>
                </a:solidFill>
              </a:rPr>
              <a:t>발명이 속하는 기술분야에서 통상의 지식을 가진 사람</a:t>
            </a:r>
            <a:r>
              <a:rPr lang="en-US" altLang="ko-KR" sz="1000" dirty="0">
                <a:solidFill>
                  <a:srgbClr val="FF0000"/>
                </a:solidFill>
              </a:rPr>
              <a:t>(</a:t>
            </a:r>
            <a:r>
              <a:rPr lang="ko-KR" altLang="en-US" sz="1000" dirty="0">
                <a:solidFill>
                  <a:srgbClr val="FF0000"/>
                </a:solidFill>
              </a:rPr>
              <a:t>이하 ’통상의 </a:t>
            </a:r>
            <a:r>
              <a:rPr lang="ko-KR" altLang="en-US" sz="1000" dirty="0" err="1">
                <a:solidFill>
                  <a:srgbClr val="FF0000"/>
                </a:solidFill>
              </a:rPr>
              <a:t>기술자‘라</a:t>
            </a:r>
            <a:r>
              <a:rPr lang="ko-KR" altLang="en-US" sz="1000" dirty="0">
                <a:solidFill>
                  <a:srgbClr val="FF0000"/>
                </a:solidFill>
              </a:rPr>
              <a:t> 한다</a:t>
            </a:r>
            <a:r>
              <a:rPr lang="en-US" altLang="ko-KR" sz="1000" dirty="0">
                <a:solidFill>
                  <a:srgbClr val="FF0000"/>
                </a:solidFill>
              </a:rPr>
              <a:t>)</a:t>
            </a:r>
            <a:r>
              <a:rPr lang="ko-KR" altLang="en-US" sz="1000" dirty="0">
                <a:solidFill>
                  <a:srgbClr val="FF0000"/>
                </a:solidFill>
              </a:rPr>
              <a:t>이 </a:t>
            </a:r>
            <a:r>
              <a:rPr lang="ko-KR" altLang="en-US" sz="1000" dirty="0" err="1">
                <a:solidFill>
                  <a:srgbClr val="FF0000"/>
                </a:solidFill>
              </a:rPr>
              <a:t>공지예외</a:t>
            </a:r>
            <a:r>
              <a:rPr lang="ko-KR" altLang="en-US" sz="1000" dirty="0">
                <a:solidFill>
                  <a:srgbClr val="FF0000"/>
                </a:solidFill>
              </a:rPr>
              <a:t> 규정의 적용 근거가 된 공지기술로부터 확인대상 발명을 쉽게 실시할 수 있어 확인대상 발명이 특허권의 권리범위에 속하지 </a:t>
            </a:r>
            <a:r>
              <a:rPr lang="ko-KR" altLang="en-US" sz="1000" dirty="0" err="1">
                <a:solidFill>
                  <a:srgbClr val="FF0000"/>
                </a:solidFill>
              </a:rPr>
              <a:t>않는다’는</a:t>
            </a:r>
            <a:r>
              <a:rPr lang="ko-KR" altLang="en-US" sz="1000" dirty="0">
                <a:solidFill>
                  <a:srgbClr val="FF0000"/>
                </a:solidFill>
              </a:rPr>
              <a:t> 주장은 허용되지 않는다고 보아야 한다</a:t>
            </a:r>
            <a:r>
              <a:rPr lang="en-US" altLang="ko-KR" sz="1000" dirty="0">
                <a:solidFill>
                  <a:srgbClr val="FF0000"/>
                </a:solidFill>
              </a:rPr>
              <a:t>.</a:t>
            </a:r>
          </a:p>
          <a:p>
            <a:pPr algn="just" fontAlgn="base"/>
            <a:r>
              <a:rPr lang="ko-KR" altLang="en-US" sz="1000" dirty="0"/>
              <a:t>특허발명의 보호범위는 청구범위에 적혀 있는 사항에 의하여 </a:t>
            </a:r>
            <a:r>
              <a:rPr lang="ko-KR" altLang="en-US" sz="1000" dirty="0" err="1"/>
              <a:t>정하여지고</a:t>
            </a:r>
            <a:r>
              <a:rPr lang="en-US" altLang="ko-KR" sz="1000" dirty="0"/>
              <a:t>(</a:t>
            </a:r>
            <a:r>
              <a:rPr lang="ko-KR" altLang="en-US" sz="1000" dirty="0"/>
              <a:t>특허법 제</a:t>
            </a:r>
            <a:r>
              <a:rPr lang="en-US" altLang="ko-KR" sz="1000" dirty="0"/>
              <a:t>97</a:t>
            </a:r>
            <a:r>
              <a:rPr lang="ko-KR" altLang="en-US" sz="1000" dirty="0"/>
              <a:t>조</a:t>
            </a:r>
            <a:r>
              <a:rPr lang="en-US" altLang="ko-KR" sz="1000" dirty="0"/>
              <a:t>), </a:t>
            </a:r>
            <a:r>
              <a:rPr lang="ko-KR" altLang="en-US" sz="1000" dirty="0"/>
              <a:t>발명의 설명이나 도면 등에 의하여 그 보호범위를 제한하거나 확장하는 것은 원칙적으로 허용되지 않는다</a:t>
            </a:r>
            <a:r>
              <a:rPr lang="en-US" altLang="ko-KR" sz="1000" dirty="0"/>
              <a:t>. </a:t>
            </a:r>
            <a:r>
              <a:rPr lang="ko-KR" altLang="en-US" sz="1000" dirty="0"/>
              <a:t>다만 청구범위에 적혀 있는 사항은 발명의 설명이나 도면 등을 참작해야 그 기술적인 의미를 정확하게 이해할 수 있으므로</a:t>
            </a:r>
            <a:r>
              <a:rPr lang="en-US" altLang="ko-KR" sz="1000" dirty="0"/>
              <a:t>, </a:t>
            </a:r>
            <a:r>
              <a:rPr lang="ko-KR" altLang="en-US" sz="1000" dirty="0"/>
              <a:t>청구범위에 적혀 있는 사항의 해석은 문언의 일반적인 의미 내용을 기초로 하면서도 발명의 설명이나 도면 등을 참작하여 문언에 의하여 표현하고자 하는 기술적 의의를 고찰한 다음 </a:t>
            </a:r>
            <a:r>
              <a:rPr lang="ko-KR" altLang="en-US" sz="1000" dirty="0" err="1"/>
              <a:t>객관적ㆍ합리적으로</a:t>
            </a:r>
            <a:r>
              <a:rPr lang="ko-KR" altLang="en-US" sz="1000" dirty="0"/>
              <a:t> 하여야 한다</a:t>
            </a:r>
            <a:r>
              <a:rPr lang="en-US" altLang="ko-KR" sz="1000" dirty="0"/>
              <a:t>. </a:t>
            </a:r>
            <a:r>
              <a:rPr lang="ko-KR" altLang="en-US" sz="1000" dirty="0"/>
              <a:t>그러나 발명의 설명과 도면 등을 참작한다고 하더라도 발명의 설명이나 도면 등 다른 기재에 따라 청구범위를 제한하거나 확장하여 해석하는 것은 허용되지 않는다</a:t>
            </a:r>
            <a:r>
              <a:rPr lang="en-US" altLang="ko-KR" sz="1000" dirty="0"/>
              <a:t>(</a:t>
            </a:r>
            <a:r>
              <a:rPr lang="ko-KR" altLang="en-US" sz="1000" dirty="0"/>
              <a:t>대법원 </a:t>
            </a:r>
            <a:r>
              <a:rPr lang="en-US" altLang="ko-KR" sz="1000" dirty="0"/>
              <a:t>2015. 5. 14. </a:t>
            </a:r>
            <a:r>
              <a:rPr lang="ko-KR" altLang="en-US" sz="1000" dirty="0"/>
              <a:t>선고 </a:t>
            </a:r>
            <a:r>
              <a:rPr lang="en-US" altLang="ko-KR" sz="1000" dirty="0"/>
              <a:t>2014</a:t>
            </a:r>
            <a:r>
              <a:rPr lang="ko-KR" altLang="en-US" sz="1000" dirty="0"/>
              <a:t>후</a:t>
            </a:r>
            <a:r>
              <a:rPr lang="en-US" altLang="ko-KR" sz="1000" dirty="0"/>
              <a:t>2788 </a:t>
            </a:r>
            <a:r>
              <a:rPr lang="ko-KR" altLang="en-US" sz="1000" dirty="0"/>
              <a:t>판결</a:t>
            </a:r>
            <a:r>
              <a:rPr lang="en-US" altLang="ko-KR" sz="1000" dirty="0"/>
              <a:t>, </a:t>
            </a:r>
            <a:r>
              <a:rPr lang="ko-KR" altLang="en-US" sz="1000" dirty="0"/>
              <a:t>대법원 </a:t>
            </a:r>
            <a:r>
              <a:rPr lang="en-US" altLang="ko-KR" sz="1000" dirty="0"/>
              <a:t>2020. 4. 9. </a:t>
            </a:r>
            <a:r>
              <a:rPr lang="ko-KR" altLang="en-US" sz="1000" dirty="0"/>
              <a:t>선고 </a:t>
            </a:r>
            <a:r>
              <a:rPr lang="en-US" altLang="ko-KR" sz="1000" dirty="0"/>
              <a:t>2018</a:t>
            </a:r>
            <a:r>
              <a:rPr lang="ko-KR" altLang="en-US" sz="1000" dirty="0"/>
              <a:t>후</a:t>
            </a:r>
            <a:r>
              <a:rPr lang="en-US" altLang="ko-KR" sz="1000" dirty="0"/>
              <a:t>12202 </a:t>
            </a:r>
            <a:r>
              <a:rPr lang="ko-KR" altLang="en-US" sz="1000" dirty="0"/>
              <a:t>판결 등 참조</a:t>
            </a:r>
            <a:r>
              <a:rPr lang="en-US" altLang="ko-KR" sz="1000" dirty="0"/>
              <a:t>).</a:t>
            </a:r>
            <a:endParaRPr lang="ko-KR" altLang="en-US" sz="1000" dirty="0"/>
          </a:p>
        </p:txBody>
      </p:sp>
      <p:sp>
        <p:nvSpPr>
          <p:cNvPr id="158" name="모서리가 둥근 직사각형 10">
            <a:extLst>
              <a:ext uri="{FF2B5EF4-FFF2-40B4-BE49-F238E27FC236}">
                <a16:creationId xmlns:a16="http://schemas.microsoft.com/office/drawing/2014/main" id="{7145A89A-8F01-D31F-5831-35F5ADC9E673}"/>
              </a:ext>
            </a:extLst>
          </p:cNvPr>
          <p:cNvSpPr/>
          <p:nvPr/>
        </p:nvSpPr>
        <p:spPr bwMode="auto">
          <a:xfrm>
            <a:off x="5483155" y="1002199"/>
            <a:ext cx="4395949"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200" dirty="0"/>
              <a:t>대법원 </a:t>
            </a:r>
            <a:r>
              <a:rPr lang="en-US" altLang="ko-KR" sz="1200" dirty="0"/>
              <a:t>2025. 6. 26. </a:t>
            </a:r>
            <a:r>
              <a:rPr lang="ko-KR" altLang="en-US" sz="1200" dirty="0"/>
              <a:t>선고 </a:t>
            </a:r>
            <a:r>
              <a:rPr lang="en-US" altLang="ko-KR" sz="1200" dirty="0"/>
              <a:t>2023</a:t>
            </a:r>
            <a:r>
              <a:rPr lang="ko-KR" altLang="en-US" sz="1200" dirty="0"/>
              <a:t>후</a:t>
            </a:r>
            <a:r>
              <a:rPr lang="en-US" altLang="ko-KR" sz="1200" dirty="0"/>
              <a:t>11562 </a:t>
            </a:r>
            <a:r>
              <a:rPr lang="ko-KR" altLang="en-US" sz="1200" dirty="0"/>
              <a:t>판결 </a:t>
            </a:r>
            <a:r>
              <a:rPr lang="en-US" altLang="ko-KR" sz="1200" dirty="0"/>
              <a:t>【</a:t>
            </a:r>
            <a:r>
              <a:rPr lang="ko-KR" altLang="en-US" sz="1200" dirty="0"/>
              <a:t>권리범위확인</a:t>
            </a:r>
            <a:r>
              <a:rPr lang="en-US" altLang="ko-KR" sz="1200" dirty="0"/>
              <a:t>(</a:t>
            </a:r>
            <a:r>
              <a:rPr lang="ko-KR" altLang="en-US" sz="1200" dirty="0" err="1"/>
              <a:t>특</a:t>
            </a:r>
            <a:r>
              <a:rPr lang="en-US" altLang="ko-KR" sz="1200" dirty="0"/>
              <a:t>)】</a:t>
            </a:r>
          </a:p>
        </p:txBody>
      </p:sp>
      <p:sp>
        <p:nvSpPr>
          <p:cNvPr id="163" name="TextBox 162">
            <a:extLst>
              <a:ext uri="{FF2B5EF4-FFF2-40B4-BE49-F238E27FC236}">
                <a16:creationId xmlns:a16="http://schemas.microsoft.com/office/drawing/2014/main" id="{F4AFBE96-9D02-0F3E-64B5-0F09B6244BB0}"/>
              </a:ext>
            </a:extLst>
          </p:cNvPr>
          <p:cNvSpPr txBox="1"/>
          <p:nvPr/>
        </p:nvSpPr>
        <p:spPr>
          <a:xfrm>
            <a:off x="9797942" y="4282260"/>
            <a:ext cx="1094816" cy="276999"/>
          </a:xfrm>
          <a:prstGeom prst="rect">
            <a:avLst/>
          </a:prstGeom>
          <a:noFill/>
        </p:spPr>
        <p:txBody>
          <a:bodyPr wrap="square">
            <a:spAutoFit/>
          </a:bodyPr>
          <a:lstStyle/>
          <a:p>
            <a:r>
              <a:rPr lang="en-US" altLang="ko-KR" sz="1200" dirty="0">
                <a:solidFill>
                  <a:srgbClr val="FF0000"/>
                </a:solidFill>
              </a:rPr>
              <a:t>2023</a:t>
            </a:r>
            <a:r>
              <a:rPr lang="ko-KR" altLang="en-US" sz="1200" dirty="0">
                <a:solidFill>
                  <a:srgbClr val="FF0000"/>
                </a:solidFill>
              </a:rPr>
              <a:t>후</a:t>
            </a:r>
            <a:r>
              <a:rPr lang="en-US" altLang="ko-KR" sz="1200" dirty="0">
                <a:solidFill>
                  <a:srgbClr val="FF0000"/>
                </a:solidFill>
              </a:rPr>
              <a:t>11487 </a:t>
            </a:r>
            <a:endParaRPr lang="ko-KR" altLang="en-US" sz="1200" dirty="0">
              <a:solidFill>
                <a:srgbClr val="FF0000"/>
              </a:solidFill>
            </a:endParaRPr>
          </a:p>
        </p:txBody>
      </p:sp>
      <p:sp>
        <p:nvSpPr>
          <p:cNvPr id="164" name="TextBox 163">
            <a:extLst>
              <a:ext uri="{FF2B5EF4-FFF2-40B4-BE49-F238E27FC236}">
                <a16:creationId xmlns:a16="http://schemas.microsoft.com/office/drawing/2014/main" id="{D4BED771-A9DA-D13E-63FE-664C6D16F605}"/>
              </a:ext>
            </a:extLst>
          </p:cNvPr>
          <p:cNvSpPr txBox="1"/>
          <p:nvPr/>
        </p:nvSpPr>
        <p:spPr>
          <a:xfrm>
            <a:off x="7800778" y="4587241"/>
            <a:ext cx="1094816" cy="276999"/>
          </a:xfrm>
          <a:prstGeom prst="rect">
            <a:avLst/>
          </a:prstGeom>
          <a:noFill/>
        </p:spPr>
        <p:txBody>
          <a:bodyPr wrap="square">
            <a:spAutoFit/>
          </a:bodyPr>
          <a:lstStyle/>
          <a:p>
            <a:r>
              <a:rPr lang="en-US" altLang="ko-KR" sz="1200" dirty="0">
                <a:solidFill>
                  <a:srgbClr val="FF0000"/>
                </a:solidFill>
              </a:rPr>
              <a:t>2023</a:t>
            </a:r>
            <a:r>
              <a:rPr lang="ko-KR" altLang="en-US" sz="1200" dirty="0">
                <a:solidFill>
                  <a:srgbClr val="FF0000"/>
                </a:solidFill>
              </a:rPr>
              <a:t>후</a:t>
            </a:r>
            <a:r>
              <a:rPr lang="en-US" altLang="ko-KR" sz="1200" dirty="0">
                <a:solidFill>
                  <a:srgbClr val="FF0000"/>
                </a:solidFill>
              </a:rPr>
              <a:t>11562 </a:t>
            </a:r>
            <a:endParaRPr lang="ko-KR" altLang="en-US" sz="1200" dirty="0">
              <a:solidFill>
                <a:srgbClr val="FF0000"/>
              </a:solidFill>
            </a:endParaRPr>
          </a:p>
        </p:txBody>
      </p:sp>
    </p:spTree>
    <p:extLst>
      <p:ext uri="{BB962C8B-B14F-4D97-AF65-F5344CB8AC3E}">
        <p14:creationId xmlns:p14="http://schemas.microsoft.com/office/powerpoint/2010/main" val="3152015767"/>
      </p:ext>
    </p:extLst>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normAutofit/>
          </a:bodyPr>
          <a:lstStyle/>
          <a:p>
            <a:pPr fontAlgn="base" latinLnBrk="0"/>
            <a:r>
              <a:rPr lang="ko-KR" altLang="en-US" sz="2400" dirty="0" err="1"/>
              <a:t>정정심판과</a:t>
            </a:r>
            <a:r>
              <a:rPr lang="ko-KR" altLang="en-US" sz="2400" dirty="0"/>
              <a:t> 특허무효심판절차에서의 특허의 정정 법조문 비교</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graphicFrame>
        <p:nvGraphicFramePr>
          <p:cNvPr id="5" name="표 4"/>
          <p:cNvGraphicFramePr>
            <a:graphicFrameLocks noGrp="1"/>
          </p:cNvGraphicFramePr>
          <p:nvPr/>
        </p:nvGraphicFramePr>
        <p:xfrm>
          <a:off x="184729" y="973051"/>
          <a:ext cx="11677070" cy="5715000"/>
        </p:xfrm>
        <a:graphic>
          <a:graphicData uri="http://schemas.openxmlformats.org/drawingml/2006/table">
            <a:tbl>
              <a:tblPr>
                <a:tableStyleId>{8799B23B-EC83-4686-B30A-512413B5E67A}</a:tableStyleId>
              </a:tblPr>
              <a:tblGrid>
                <a:gridCol w="8171871">
                  <a:extLst>
                    <a:ext uri="{9D8B030D-6E8A-4147-A177-3AD203B41FA5}">
                      <a16:colId xmlns:a16="http://schemas.microsoft.com/office/drawing/2014/main" val="3715525229"/>
                    </a:ext>
                  </a:extLst>
                </a:gridCol>
                <a:gridCol w="3505199">
                  <a:extLst>
                    <a:ext uri="{9D8B030D-6E8A-4147-A177-3AD203B41FA5}">
                      <a16:colId xmlns:a16="http://schemas.microsoft.com/office/drawing/2014/main" val="141959867"/>
                    </a:ext>
                  </a:extLst>
                </a:gridCol>
              </a:tblGrid>
              <a:tr h="203754">
                <a:tc>
                  <a:txBody>
                    <a:bodyPr/>
                    <a:lstStyle/>
                    <a:p>
                      <a:pPr algn="ctr" latinLnBrk="1"/>
                      <a:r>
                        <a:rPr lang="ko-KR" altLang="en-US" sz="1100" dirty="0"/>
                        <a:t>정정심판</a:t>
                      </a:r>
                      <a:r>
                        <a:rPr lang="en-US" altLang="ko-KR" sz="1100" dirty="0"/>
                        <a:t>(</a:t>
                      </a:r>
                      <a:r>
                        <a:rPr lang="ko-KR" altLang="en-US" sz="1100" dirty="0"/>
                        <a:t>제</a:t>
                      </a:r>
                      <a:r>
                        <a:rPr lang="en-US" altLang="ko-KR" sz="1100" dirty="0"/>
                        <a:t>136</a:t>
                      </a:r>
                      <a:r>
                        <a:rPr lang="ko-KR" altLang="en-US" sz="1100" dirty="0"/>
                        <a:t>조</a:t>
                      </a:r>
                      <a:r>
                        <a:rPr lang="en-US" altLang="ko-KR" sz="1100" dirty="0"/>
                        <a:t>)</a:t>
                      </a:r>
                      <a:endParaRPr lang="ko-KR" altLang="en-US" sz="1100" dirty="0"/>
                    </a:p>
                  </a:txBody>
                  <a:tcPr anchor="ctr">
                    <a:solidFill>
                      <a:schemeClr val="accent1">
                        <a:lumMod val="20000"/>
                        <a:lumOff val="80000"/>
                      </a:schemeClr>
                    </a:solidFill>
                  </a:tcPr>
                </a:tc>
                <a:tc>
                  <a:txBody>
                    <a:bodyPr/>
                    <a:lstStyle/>
                    <a:p>
                      <a:pPr algn="ctr" latinLnBrk="1"/>
                      <a:r>
                        <a:rPr lang="ko-KR" altLang="en-US" sz="1100" dirty="0">
                          <a:solidFill>
                            <a:schemeClr val="tx1"/>
                          </a:solidFill>
                        </a:rPr>
                        <a:t>특허무효심판절차에서의</a:t>
                      </a:r>
                      <a:r>
                        <a:rPr lang="ko-KR" altLang="en-US" sz="1100" dirty="0"/>
                        <a:t> </a:t>
                      </a:r>
                      <a:r>
                        <a:rPr lang="ko-KR" altLang="en-US" sz="1100" dirty="0">
                          <a:solidFill>
                            <a:schemeClr val="tx1"/>
                          </a:solidFill>
                        </a:rPr>
                        <a:t>특허의 정정</a:t>
                      </a:r>
                      <a:r>
                        <a:rPr lang="en-US" altLang="ko-KR" sz="1100" dirty="0">
                          <a:solidFill>
                            <a:schemeClr val="tx1"/>
                          </a:solidFill>
                        </a:rPr>
                        <a:t>(</a:t>
                      </a:r>
                      <a:r>
                        <a:rPr lang="ko-KR" altLang="en-US" sz="1100" dirty="0">
                          <a:solidFill>
                            <a:schemeClr val="tx1"/>
                          </a:solidFill>
                        </a:rPr>
                        <a:t>제</a:t>
                      </a:r>
                      <a:r>
                        <a:rPr lang="en-US" altLang="ko-KR" sz="1100" dirty="0">
                          <a:solidFill>
                            <a:schemeClr val="tx1"/>
                          </a:solidFill>
                        </a:rPr>
                        <a:t>133</a:t>
                      </a:r>
                      <a:r>
                        <a:rPr lang="ko-KR" altLang="en-US" sz="1100" dirty="0">
                          <a:solidFill>
                            <a:schemeClr val="tx1"/>
                          </a:solidFill>
                        </a:rPr>
                        <a:t>조의</a:t>
                      </a:r>
                      <a:r>
                        <a:rPr lang="en-US" altLang="ko-KR" sz="1100" dirty="0">
                          <a:solidFill>
                            <a:schemeClr val="tx1"/>
                          </a:solidFill>
                        </a:rPr>
                        <a:t>2)</a:t>
                      </a:r>
                      <a:endParaRPr lang="ko-KR" altLang="en-US" sz="1100" dirty="0">
                        <a:solidFill>
                          <a:schemeClr val="tx1"/>
                        </a:solidFill>
                      </a:endParaRPr>
                    </a:p>
                  </a:txBody>
                  <a:tcPr anchor="ctr">
                    <a:solidFill>
                      <a:schemeClr val="accent1">
                        <a:lumMod val="20000"/>
                        <a:lumOff val="80000"/>
                      </a:schemeClr>
                    </a:solidFill>
                  </a:tcPr>
                </a:tc>
                <a:extLst>
                  <a:ext uri="{0D108BD9-81ED-4DB2-BD59-A6C34878D82A}">
                    <a16:rowId xmlns:a16="http://schemas.microsoft.com/office/drawing/2014/main" val="2785733114"/>
                  </a:ext>
                </a:extLst>
              </a:tr>
              <a:tr h="3064689">
                <a:tc>
                  <a:txBody>
                    <a:bodyPr/>
                    <a:lstStyle/>
                    <a:p>
                      <a:pPr fontAlgn="base" latinLnBrk="0"/>
                      <a:r>
                        <a:rPr lang="ko-KR" altLang="en-US" sz="1100" kern="1200" dirty="0">
                          <a:solidFill>
                            <a:schemeClr val="tx1"/>
                          </a:solidFill>
                          <a:effectLst/>
                          <a:latin typeface="+mn-lt"/>
                          <a:ea typeface="+mn-ea"/>
                          <a:cs typeface="+mn-cs"/>
                        </a:rPr>
                        <a:t>제</a:t>
                      </a:r>
                      <a:r>
                        <a:rPr lang="en-US" altLang="ko-KR" sz="1100" kern="1200" dirty="0">
                          <a:solidFill>
                            <a:schemeClr val="tx1"/>
                          </a:solidFill>
                          <a:effectLst/>
                          <a:latin typeface="+mn-lt"/>
                          <a:ea typeface="+mn-ea"/>
                          <a:cs typeface="+mn-cs"/>
                        </a:rPr>
                        <a:t>136</a:t>
                      </a:r>
                      <a:r>
                        <a:rPr lang="ko-KR" altLang="en-US" sz="1100" kern="1200" dirty="0">
                          <a:solidFill>
                            <a:schemeClr val="tx1"/>
                          </a:solidFill>
                          <a:effectLst/>
                          <a:latin typeface="+mn-lt"/>
                          <a:ea typeface="+mn-ea"/>
                          <a:cs typeface="+mn-cs"/>
                        </a:rPr>
                        <a:t>조</a:t>
                      </a:r>
                      <a:r>
                        <a:rPr lang="en-US" altLang="ko-KR" sz="1100" kern="1200" dirty="0">
                          <a:solidFill>
                            <a:schemeClr val="tx1"/>
                          </a:solidFill>
                          <a:effectLst/>
                          <a:latin typeface="+mn-lt"/>
                          <a:ea typeface="+mn-ea"/>
                          <a:cs typeface="+mn-cs"/>
                        </a:rPr>
                        <a:t>【</a:t>
                      </a:r>
                      <a:r>
                        <a:rPr lang="ko-KR" altLang="en-US" sz="1100" kern="1200" dirty="0" err="1">
                          <a:solidFill>
                            <a:schemeClr val="tx1"/>
                          </a:solidFill>
                          <a:effectLst/>
                          <a:latin typeface="+mn-lt"/>
                          <a:ea typeface="+mn-ea"/>
                          <a:cs typeface="+mn-cs"/>
                        </a:rPr>
                        <a:t>정정심판</a:t>
                      </a:r>
                      <a:r>
                        <a:rPr lang="en-US" altLang="ko-KR" sz="1100" kern="1200" dirty="0">
                          <a:solidFill>
                            <a:schemeClr val="tx1"/>
                          </a:solidFill>
                          <a:effectLst/>
                          <a:latin typeface="+mn-lt"/>
                          <a:ea typeface="+mn-ea"/>
                          <a:cs typeface="+mn-cs"/>
                        </a:rPr>
                        <a:t>】</a:t>
                      </a:r>
                      <a:endParaRPr lang="ko-KR" altLang="en-US" sz="1100" kern="1200" dirty="0">
                        <a:solidFill>
                          <a:schemeClr val="tx1"/>
                        </a:solidFill>
                        <a:effectLst/>
                        <a:latin typeface="+mn-lt"/>
                        <a:ea typeface="+mn-ea"/>
                        <a:cs typeface="+mn-cs"/>
                      </a:endParaRPr>
                    </a:p>
                    <a:p>
                      <a:pPr fontAlgn="base" latinLnBrk="1"/>
                      <a:r>
                        <a:rPr lang="ko-KR" altLang="en-US" sz="1100" kern="1200" dirty="0">
                          <a:solidFill>
                            <a:srgbClr val="FF0000"/>
                          </a:solidFill>
                          <a:effectLst/>
                          <a:latin typeface="+mn-lt"/>
                          <a:ea typeface="+mn-ea"/>
                          <a:cs typeface="+mn-cs"/>
                        </a:rPr>
                        <a:t>① </a:t>
                      </a:r>
                      <a:r>
                        <a:rPr lang="ko-KR" altLang="en-US" sz="1100" kern="1200" dirty="0" err="1">
                          <a:solidFill>
                            <a:srgbClr val="FF0000"/>
                          </a:solidFill>
                          <a:effectLst/>
                          <a:latin typeface="+mn-lt"/>
                          <a:ea typeface="+mn-ea"/>
                          <a:cs typeface="+mn-cs"/>
                        </a:rPr>
                        <a:t>특허권자는</a:t>
                      </a:r>
                      <a:r>
                        <a:rPr lang="ko-KR" altLang="en-US" sz="1100" kern="1200" dirty="0">
                          <a:solidFill>
                            <a:srgbClr val="FF0000"/>
                          </a:solidFill>
                          <a:effectLst/>
                          <a:latin typeface="+mn-lt"/>
                          <a:ea typeface="+mn-ea"/>
                          <a:cs typeface="+mn-cs"/>
                        </a:rPr>
                        <a:t> 다음 각 호의 어느 하나에 해당하는 경우에는 특허발명의 명세서 또는 도면에 대하여 </a:t>
                      </a:r>
                      <a:r>
                        <a:rPr lang="ko-KR" altLang="en-US" sz="1100" kern="1200" dirty="0" err="1">
                          <a:solidFill>
                            <a:srgbClr val="FF0000"/>
                          </a:solidFill>
                          <a:effectLst/>
                          <a:latin typeface="+mn-lt"/>
                          <a:ea typeface="+mn-ea"/>
                          <a:cs typeface="+mn-cs"/>
                        </a:rPr>
                        <a:t>정정심판을</a:t>
                      </a:r>
                      <a:r>
                        <a:rPr lang="ko-KR" altLang="en-US" sz="1100" kern="1200" dirty="0">
                          <a:solidFill>
                            <a:srgbClr val="FF0000"/>
                          </a:solidFill>
                          <a:effectLst/>
                          <a:latin typeface="+mn-lt"/>
                          <a:ea typeface="+mn-ea"/>
                          <a:cs typeface="+mn-cs"/>
                        </a:rPr>
                        <a:t> 청구할 수 있다</a:t>
                      </a:r>
                      <a:r>
                        <a:rPr lang="en-US" altLang="ko-KR" sz="1100" kern="1200" dirty="0">
                          <a:solidFill>
                            <a:srgbClr val="FF0000"/>
                          </a:solidFill>
                          <a:effectLst/>
                          <a:latin typeface="+mn-lt"/>
                          <a:ea typeface="+mn-ea"/>
                          <a:cs typeface="+mn-cs"/>
                        </a:rPr>
                        <a:t>. </a:t>
                      </a:r>
                      <a:endParaRPr lang="ko-KR" altLang="en-US" sz="1100" kern="1200" dirty="0">
                        <a:solidFill>
                          <a:srgbClr val="FF0000"/>
                        </a:solidFill>
                        <a:effectLst/>
                        <a:latin typeface="+mn-lt"/>
                        <a:ea typeface="+mn-ea"/>
                        <a:cs typeface="+mn-cs"/>
                      </a:endParaRPr>
                    </a:p>
                    <a:p>
                      <a:pPr fontAlgn="base" latinLnBrk="1"/>
                      <a:r>
                        <a:rPr lang="en-US" altLang="ko-KR" sz="1100" kern="1200" dirty="0">
                          <a:solidFill>
                            <a:srgbClr val="FF0000"/>
                          </a:solidFill>
                          <a:effectLst/>
                          <a:latin typeface="+mn-lt"/>
                          <a:ea typeface="+mn-ea"/>
                          <a:cs typeface="+mn-cs"/>
                        </a:rPr>
                        <a:t>1. </a:t>
                      </a:r>
                      <a:r>
                        <a:rPr lang="ko-KR" altLang="en-US" sz="1100" kern="1200" dirty="0">
                          <a:solidFill>
                            <a:srgbClr val="FF0000"/>
                          </a:solidFill>
                          <a:effectLst/>
                          <a:latin typeface="+mn-lt"/>
                          <a:ea typeface="+mn-ea"/>
                          <a:cs typeface="+mn-cs"/>
                        </a:rPr>
                        <a:t>청구범위를 감축하는 경우</a:t>
                      </a:r>
                    </a:p>
                    <a:p>
                      <a:pPr fontAlgn="base" latinLnBrk="1"/>
                      <a:r>
                        <a:rPr lang="en-US" altLang="ko-KR" sz="1100" kern="1200" dirty="0">
                          <a:solidFill>
                            <a:srgbClr val="FF0000"/>
                          </a:solidFill>
                          <a:effectLst/>
                          <a:latin typeface="+mn-lt"/>
                          <a:ea typeface="+mn-ea"/>
                          <a:cs typeface="+mn-cs"/>
                        </a:rPr>
                        <a:t>2. </a:t>
                      </a:r>
                      <a:r>
                        <a:rPr lang="ko-KR" altLang="en-US" sz="1100" kern="1200" dirty="0">
                          <a:solidFill>
                            <a:srgbClr val="FF0000"/>
                          </a:solidFill>
                          <a:effectLst/>
                          <a:latin typeface="+mn-lt"/>
                          <a:ea typeface="+mn-ea"/>
                          <a:cs typeface="+mn-cs"/>
                        </a:rPr>
                        <a:t>잘못 기재된 사항을 정정하는 경우</a:t>
                      </a:r>
                    </a:p>
                    <a:p>
                      <a:pPr fontAlgn="base" latinLnBrk="1"/>
                      <a:r>
                        <a:rPr lang="en-US" altLang="ko-KR" sz="1100" kern="1200" dirty="0">
                          <a:solidFill>
                            <a:srgbClr val="FF0000"/>
                          </a:solidFill>
                          <a:effectLst/>
                          <a:latin typeface="+mn-lt"/>
                          <a:ea typeface="+mn-ea"/>
                          <a:cs typeface="+mn-cs"/>
                        </a:rPr>
                        <a:t>3. </a:t>
                      </a:r>
                      <a:r>
                        <a:rPr lang="ko-KR" altLang="en-US" sz="1100" kern="1200" dirty="0">
                          <a:solidFill>
                            <a:srgbClr val="FF0000"/>
                          </a:solidFill>
                          <a:effectLst/>
                          <a:latin typeface="+mn-lt"/>
                          <a:ea typeface="+mn-ea"/>
                          <a:cs typeface="+mn-cs"/>
                        </a:rPr>
                        <a:t>분명하지 아니하게 기재된 사항을 명확하게 하는 경우</a:t>
                      </a:r>
                    </a:p>
                    <a:p>
                      <a:pPr fontAlgn="base" latinLnBrk="1"/>
                      <a:r>
                        <a:rPr lang="ko-KR" altLang="en-US" sz="1100" kern="1200" dirty="0">
                          <a:solidFill>
                            <a:schemeClr val="tx1"/>
                          </a:solidFill>
                          <a:effectLst/>
                          <a:latin typeface="+mn-lt"/>
                          <a:ea typeface="+mn-ea"/>
                          <a:cs typeface="+mn-cs"/>
                        </a:rPr>
                        <a:t>② 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항에도 불구하고 다음 각 호의 어느 하나에 해당하는 기간에는 </a:t>
                      </a:r>
                      <a:r>
                        <a:rPr lang="ko-KR" altLang="en-US" sz="1100" kern="1200" dirty="0" err="1">
                          <a:solidFill>
                            <a:schemeClr val="tx1"/>
                          </a:solidFill>
                          <a:effectLst/>
                          <a:latin typeface="+mn-lt"/>
                          <a:ea typeface="+mn-ea"/>
                          <a:cs typeface="+mn-cs"/>
                        </a:rPr>
                        <a:t>정정심판을</a:t>
                      </a:r>
                      <a:r>
                        <a:rPr lang="ko-KR" altLang="en-US" sz="1100" kern="1200" dirty="0">
                          <a:solidFill>
                            <a:schemeClr val="tx1"/>
                          </a:solidFill>
                          <a:effectLst/>
                          <a:latin typeface="+mn-lt"/>
                          <a:ea typeface="+mn-ea"/>
                          <a:cs typeface="+mn-cs"/>
                        </a:rPr>
                        <a:t> 청구할 수 없다</a:t>
                      </a:r>
                      <a:r>
                        <a:rPr lang="en-US" altLang="ko-KR" sz="1100" kern="1200" dirty="0">
                          <a:solidFill>
                            <a:schemeClr val="tx1"/>
                          </a:solidFill>
                          <a:effectLst/>
                          <a:latin typeface="+mn-lt"/>
                          <a:ea typeface="+mn-ea"/>
                          <a:cs typeface="+mn-cs"/>
                        </a:rPr>
                        <a:t>. </a:t>
                      </a:r>
                      <a:endParaRPr lang="ko-KR" altLang="en-US" sz="1100" kern="1200" dirty="0">
                        <a:solidFill>
                          <a:schemeClr val="tx1"/>
                        </a:solidFill>
                        <a:effectLst/>
                        <a:latin typeface="+mn-lt"/>
                        <a:ea typeface="+mn-ea"/>
                        <a:cs typeface="+mn-cs"/>
                      </a:endParaRPr>
                    </a:p>
                    <a:p>
                      <a:pPr fontAlgn="base" latinLnBrk="1"/>
                      <a:r>
                        <a:rPr lang="en-US" altLang="ko-KR" sz="1100" kern="1200" dirty="0">
                          <a:solidFill>
                            <a:schemeClr val="tx1"/>
                          </a:solidFill>
                          <a:effectLst/>
                          <a:latin typeface="+mn-lt"/>
                          <a:ea typeface="+mn-ea"/>
                          <a:cs typeface="+mn-cs"/>
                        </a:rPr>
                        <a:t>1. </a:t>
                      </a:r>
                      <a:r>
                        <a:rPr lang="ko-KR" altLang="en-US" sz="1100" kern="1200" dirty="0">
                          <a:solidFill>
                            <a:schemeClr val="tx1"/>
                          </a:solidFill>
                          <a:effectLst/>
                          <a:latin typeface="+mn-lt"/>
                          <a:ea typeface="+mn-ea"/>
                          <a:cs typeface="+mn-cs"/>
                        </a:rPr>
                        <a:t>특허취소신청이 특허심판원에 계속 중인 때부터 그 결정이 확정될 때까지의 기간</a:t>
                      </a:r>
                      <a:r>
                        <a:rPr lang="en-US" altLang="ko-KR" sz="1100" kern="1200" dirty="0">
                          <a:solidFill>
                            <a:schemeClr val="tx1"/>
                          </a:solidFill>
                          <a:effectLst/>
                          <a:latin typeface="+mn-lt"/>
                          <a:ea typeface="+mn-ea"/>
                          <a:cs typeface="+mn-cs"/>
                        </a:rPr>
                        <a:t>. </a:t>
                      </a:r>
                      <a:r>
                        <a:rPr lang="ko-KR" altLang="en-US" sz="1100" kern="1200" dirty="0">
                          <a:solidFill>
                            <a:schemeClr val="tx1"/>
                          </a:solidFill>
                          <a:effectLst/>
                          <a:latin typeface="+mn-lt"/>
                          <a:ea typeface="+mn-ea"/>
                          <a:cs typeface="+mn-cs"/>
                        </a:rPr>
                        <a:t>다만</a:t>
                      </a:r>
                      <a:r>
                        <a:rPr lang="en-US" altLang="ko-KR" sz="1100" kern="1200" dirty="0">
                          <a:solidFill>
                            <a:schemeClr val="tx1"/>
                          </a:solidFill>
                          <a:effectLst/>
                          <a:latin typeface="+mn-lt"/>
                          <a:ea typeface="+mn-ea"/>
                          <a:cs typeface="+mn-cs"/>
                        </a:rPr>
                        <a:t>, </a:t>
                      </a:r>
                      <a:r>
                        <a:rPr lang="ko-KR" altLang="en-US" sz="1100" kern="1200" dirty="0">
                          <a:solidFill>
                            <a:schemeClr val="tx1"/>
                          </a:solidFill>
                          <a:effectLst/>
                          <a:latin typeface="+mn-lt"/>
                          <a:ea typeface="+mn-ea"/>
                          <a:cs typeface="+mn-cs"/>
                        </a:rPr>
                        <a:t>특허무효심판의 </a:t>
                      </a:r>
                      <a:r>
                        <a:rPr lang="ko-KR" altLang="en-US" sz="1100" kern="1200" dirty="0" err="1">
                          <a:solidFill>
                            <a:schemeClr val="tx1"/>
                          </a:solidFill>
                          <a:effectLst/>
                          <a:latin typeface="+mn-lt"/>
                          <a:ea typeface="+mn-ea"/>
                          <a:cs typeface="+mn-cs"/>
                        </a:rPr>
                        <a:t>심결</a:t>
                      </a:r>
                      <a:r>
                        <a:rPr lang="ko-KR" altLang="en-US" sz="1100" kern="1200" dirty="0">
                          <a:solidFill>
                            <a:schemeClr val="tx1"/>
                          </a:solidFill>
                          <a:effectLst/>
                          <a:latin typeface="+mn-lt"/>
                          <a:ea typeface="+mn-ea"/>
                          <a:cs typeface="+mn-cs"/>
                        </a:rPr>
                        <a:t> 또는 정정의 </a:t>
                      </a:r>
                      <a:r>
                        <a:rPr lang="ko-KR" altLang="en-US" sz="1100" kern="1200" dirty="0" err="1">
                          <a:solidFill>
                            <a:schemeClr val="tx1"/>
                          </a:solidFill>
                          <a:effectLst/>
                          <a:latin typeface="+mn-lt"/>
                          <a:ea typeface="+mn-ea"/>
                          <a:cs typeface="+mn-cs"/>
                        </a:rPr>
                        <a:t>무효심판의</a:t>
                      </a:r>
                      <a:r>
                        <a:rPr lang="ko-KR" altLang="en-US" sz="1100" kern="1200" dirty="0">
                          <a:solidFill>
                            <a:schemeClr val="tx1"/>
                          </a:solidFill>
                          <a:effectLst/>
                          <a:latin typeface="+mn-lt"/>
                          <a:ea typeface="+mn-ea"/>
                          <a:cs typeface="+mn-cs"/>
                        </a:rPr>
                        <a:t> </a:t>
                      </a:r>
                      <a:r>
                        <a:rPr lang="ko-KR" altLang="en-US" sz="1100" kern="1200" dirty="0" err="1">
                          <a:solidFill>
                            <a:schemeClr val="tx1"/>
                          </a:solidFill>
                          <a:effectLst/>
                          <a:latin typeface="+mn-lt"/>
                          <a:ea typeface="+mn-ea"/>
                          <a:cs typeface="+mn-cs"/>
                        </a:rPr>
                        <a:t>심결에</a:t>
                      </a:r>
                      <a:r>
                        <a:rPr lang="ko-KR" altLang="en-US" sz="1100" kern="1200" dirty="0">
                          <a:solidFill>
                            <a:schemeClr val="tx1"/>
                          </a:solidFill>
                          <a:effectLst/>
                          <a:latin typeface="+mn-lt"/>
                          <a:ea typeface="+mn-ea"/>
                          <a:cs typeface="+mn-cs"/>
                        </a:rPr>
                        <a:t> 대한 소가 특허법원에 계속 중인 경우에는 특허법원에서 변론이 종결</a:t>
                      </a:r>
                      <a:r>
                        <a:rPr lang="en-US" altLang="ko-KR" sz="1100" kern="1200" dirty="0">
                          <a:solidFill>
                            <a:schemeClr val="tx1"/>
                          </a:solidFill>
                          <a:effectLst/>
                          <a:latin typeface="+mn-lt"/>
                          <a:ea typeface="+mn-ea"/>
                          <a:cs typeface="+mn-cs"/>
                        </a:rPr>
                        <a:t>(</a:t>
                      </a:r>
                      <a:r>
                        <a:rPr lang="ko-KR" altLang="en-US" sz="1100" kern="1200" dirty="0">
                          <a:solidFill>
                            <a:schemeClr val="tx1"/>
                          </a:solidFill>
                          <a:effectLst/>
                          <a:latin typeface="+mn-lt"/>
                          <a:ea typeface="+mn-ea"/>
                          <a:cs typeface="+mn-cs"/>
                        </a:rPr>
                        <a:t>변론 없이 한 판결의 경우에는 판결의 선고를 말한다</a:t>
                      </a:r>
                      <a:r>
                        <a:rPr lang="en-US" altLang="ko-KR" sz="1100" kern="1200" dirty="0">
                          <a:solidFill>
                            <a:schemeClr val="tx1"/>
                          </a:solidFill>
                          <a:effectLst/>
                          <a:latin typeface="+mn-lt"/>
                          <a:ea typeface="+mn-ea"/>
                          <a:cs typeface="+mn-cs"/>
                        </a:rPr>
                        <a:t>)</a:t>
                      </a:r>
                      <a:r>
                        <a:rPr lang="ko-KR" altLang="en-US" sz="1100" kern="1200" dirty="0">
                          <a:solidFill>
                            <a:schemeClr val="tx1"/>
                          </a:solidFill>
                          <a:effectLst/>
                          <a:latin typeface="+mn-lt"/>
                          <a:ea typeface="+mn-ea"/>
                          <a:cs typeface="+mn-cs"/>
                        </a:rPr>
                        <a:t>된 날까지 </a:t>
                      </a:r>
                      <a:r>
                        <a:rPr lang="ko-KR" altLang="en-US" sz="1100" kern="1200" dirty="0" err="1">
                          <a:solidFill>
                            <a:schemeClr val="tx1"/>
                          </a:solidFill>
                          <a:effectLst/>
                          <a:latin typeface="+mn-lt"/>
                          <a:ea typeface="+mn-ea"/>
                          <a:cs typeface="+mn-cs"/>
                        </a:rPr>
                        <a:t>정정심판을</a:t>
                      </a:r>
                      <a:r>
                        <a:rPr lang="ko-KR" altLang="en-US" sz="1100" kern="1200" dirty="0">
                          <a:solidFill>
                            <a:schemeClr val="tx1"/>
                          </a:solidFill>
                          <a:effectLst/>
                          <a:latin typeface="+mn-lt"/>
                          <a:ea typeface="+mn-ea"/>
                          <a:cs typeface="+mn-cs"/>
                        </a:rPr>
                        <a:t> 청구할 수 있다</a:t>
                      </a:r>
                      <a:r>
                        <a:rPr lang="en-US" altLang="ko-KR" sz="1100" kern="1200" dirty="0">
                          <a:solidFill>
                            <a:schemeClr val="tx1"/>
                          </a:solidFill>
                          <a:effectLst/>
                          <a:latin typeface="+mn-lt"/>
                          <a:ea typeface="+mn-ea"/>
                          <a:cs typeface="+mn-cs"/>
                        </a:rPr>
                        <a:t>.</a:t>
                      </a:r>
                      <a:endParaRPr lang="ko-KR" altLang="en-US" sz="1100" kern="1200" dirty="0">
                        <a:solidFill>
                          <a:schemeClr val="tx1"/>
                        </a:solidFill>
                        <a:effectLst/>
                        <a:latin typeface="+mn-lt"/>
                        <a:ea typeface="+mn-ea"/>
                        <a:cs typeface="+mn-cs"/>
                      </a:endParaRPr>
                    </a:p>
                    <a:p>
                      <a:pPr fontAlgn="base" latinLnBrk="1"/>
                      <a:r>
                        <a:rPr lang="en-US" altLang="ko-KR" sz="1100" kern="1200" dirty="0">
                          <a:solidFill>
                            <a:schemeClr val="tx1"/>
                          </a:solidFill>
                          <a:effectLst/>
                          <a:latin typeface="+mn-lt"/>
                          <a:ea typeface="+mn-ea"/>
                          <a:cs typeface="+mn-cs"/>
                        </a:rPr>
                        <a:t>2. </a:t>
                      </a:r>
                      <a:r>
                        <a:rPr lang="ko-KR" altLang="en-US" sz="1100" kern="1200" dirty="0">
                          <a:solidFill>
                            <a:schemeClr val="tx1"/>
                          </a:solidFill>
                          <a:effectLst/>
                          <a:latin typeface="+mn-lt"/>
                          <a:ea typeface="+mn-ea"/>
                          <a:cs typeface="+mn-cs"/>
                        </a:rPr>
                        <a:t>특허무효심판 또는 정정의 </a:t>
                      </a:r>
                      <a:r>
                        <a:rPr lang="ko-KR" altLang="en-US" sz="1100" kern="1200" dirty="0" err="1">
                          <a:solidFill>
                            <a:schemeClr val="tx1"/>
                          </a:solidFill>
                          <a:effectLst/>
                          <a:latin typeface="+mn-lt"/>
                          <a:ea typeface="+mn-ea"/>
                          <a:cs typeface="+mn-cs"/>
                        </a:rPr>
                        <a:t>무효심판이</a:t>
                      </a:r>
                      <a:r>
                        <a:rPr lang="ko-KR" altLang="en-US" sz="1100" kern="1200" dirty="0">
                          <a:solidFill>
                            <a:schemeClr val="tx1"/>
                          </a:solidFill>
                          <a:effectLst/>
                          <a:latin typeface="+mn-lt"/>
                          <a:ea typeface="+mn-ea"/>
                          <a:cs typeface="+mn-cs"/>
                        </a:rPr>
                        <a:t> 특허심판원에 계속 중인 기간</a:t>
                      </a:r>
                    </a:p>
                    <a:p>
                      <a:pPr fontAlgn="base" latinLnBrk="1"/>
                      <a:r>
                        <a:rPr lang="ko-KR" altLang="en-US" sz="1100" kern="1200" dirty="0">
                          <a:solidFill>
                            <a:schemeClr val="tx1"/>
                          </a:solidFill>
                          <a:effectLst/>
                          <a:latin typeface="+mn-lt"/>
                          <a:ea typeface="+mn-ea"/>
                          <a:cs typeface="+mn-cs"/>
                        </a:rPr>
                        <a:t>③ 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명세서 또는 도면의 정정은 특허발명의 명세서 또는 도면에 기재된 사항의 범위에서 할 수 있다</a:t>
                      </a:r>
                      <a:r>
                        <a:rPr lang="en-US" altLang="ko-KR" sz="1100" kern="1200" dirty="0">
                          <a:solidFill>
                            <a:schemeClr val="tx1"/>
                          </a:solidFill>
                          <a:effectLst/>
                          <a:latin typeface="+mn-lt"/>
                          <a:ea typeface="+mn-ea"/>
                          <a:cs typeface="+mn-cs"/>
                        </a:rPr>
                        <a:t>. </a:t>
                      </a:r>
                      <a:r>
                        <a:rPr lang="ko-KR" altLang="en-US" sz="1100" kern="1200" dirty="0">
                          <a:solidFill>
                            <a:schemeClr val="tx1"/>
                          </a:solidFill>
                          <a:effectLst/>
                          <a:latin typeface="+mn-lt"/>
                          <a:ea typeface="+mn-ea"/>
                          <a:cs typeface="+mn-cs"/>
                        </a:rPr>
                        <a:t>다만</a:t>
                      </a:r>
                      <a:r>
                        <a:rPr lang="en-US" altLang="ko-KR" sz="1100" kern="1200" dirty="0">
                          <a:solidFill>
                            <a:schemeClr val="tx1"/>
                          </a:solidFill>
                          <a:effectLst/>
                          <a:latin typeface="+mn-lt"/>
                          <a:ea typeface="+mn-ea"/>
                          <a:cs typeface="+mn-cs"/>
                        </a:rPr>
                        <a:t>, </a:t>
                      </a:r>
                      <a:r>
                        <a:rPr lang="ko-KR" altLang="en-US" sz="1100" kern="1200" dirty="0">
                          <a:solidFill>
                            <a:schemeClr val="tx1"/>
                          </a:solidFill>
                          <a:effectLst/>
                          <a:latin typeface="+mn-lt"/>
                          <a:ea typeface="+mn-ea"/>
                          <a:cs typeface="+mn-cs"/>
                        </a:rPr>
                        <a:t>제</a:t>
                      </a:r>
                      <a:r>
                        <a:rPr lang="en-US" altLang="ko-KR" sz="1100" kern="1200" dirty="0">
                          <a:solidFill>
                            <a:schemeClr val="tx1"/>
                          </a:solidFill>
                          <a:effectLst/>
                          <a:latin typeface="+mn-lt"/>
                          <a:ea typeface="+mn-ea"/>
                          <a:cs typeface="+mn-cs"/>
                        </a:rPr>
                        <a:t>1</a:t>
                      </a:r>
                      <a:r>
                        <a:rPr lang="ko-KR" altLang="en-US" sz="1100" kern="1200" dirty="0" err="1">
                          <a:solidFill>
                            <a:schemeClr val="tx1"/>
                          </a:solidFill>
                          <a:effectLst/>
                          <a:latin typeface="+mn-lt"/>
                          <a:ea typeface="+mn-ea"/>
                          <a:cs typeface="+mn-cs"/>
                        </a:rPr>
                        <a:t>항제</a:t>
                      </a:r>
                      <a:r>
                        <a:rPr lang="en-US" altLang="ko-KR" sz="1100" kern="1200" dirty="0">
                          <a:solidFill>
                            <a:schemeClr val="tx1"/>
                          </a:solidFill>
                          <a:effectLst/>
                          <a:latin typeface="+mn-lt"/>
                          <a:ea typeface="+mn-ea"/>
                          <a:cs typeface="+mn-cs"/>
                        </a:rPr>
                        <a:t>2</a:t>
                      </a:r>
                      <a:r>
                        <a:rPr lang="ko-KR" altLang="en-US" sz="1100" kern="1200" dirty="0">
                          <a:solidFill>
                            <a:schemeClr val="tx1"/>
                          </a:solidFill>
                          <a:effectLst/>
                          <a:latin typeface="+mn-lt"/>
                          <a:ea typeface="+mn-ea"/>
                          <a:cs typeface="+mn-cs"/>
                        </a:rPr>
                        <a:t>호에 따라 잘못된 기재를 정정하는 경우에는 </a:t>
                      </a:r>
                      <a:r>
                        <a:rPr lang="ko-KR" altLang="en-US" sz="1100" kern="1200" dirty="0" err="1">
                          <a:solidFill>
                            <a:schemeClr val="tx1"/>
                          </a:solidFill>
                          <a:effectLst/>
                          <a:latin typeface="+mn-lt"/>
                          <a:ea typeface="+mn-ea"/>
                          <a:cs typeface="+mn-cs"/>
                        </a:rPr>
                        <a:t>출원서에</a:t>
                      </a:r>
                      <a:r>
                        <a:rPr lang="ko-KR" altLang="en-US" sz="1100" kern="1200" dirty="0">
                          <a:solidFill>
                            <a:schemeClr val="tx1"/>
                          </a:solidFill>
                          <a:effectLst/>
                          <a:latin typeface="+mn-lt"/>
                          <a:ea typeface="+mn-ea"/>
                          <a:cs typeface="+mn-cs"/>
                        </a:rPr>
                        <a:t> 최초로 첨부된 명세서 또는 도면에 기재된 사항의 범위에서 할 수 있다</a:t>
                      </a:r>
                      <a:r>
                        <a:rPr lang="en-US" altLang="ko-KR" sz="1100" kern="1200" dirty="0">
                          <a:solidFill>
                            <a:schemeClr val="tx1"/>
                          </a:solidFill>
                          <a:effectLst/>
                          <a:latin typeface="+mn-lt"/>
                          <a:ea typeface="+mn-ea"/>
                          <a:cs typeface="+mn-cs"/>
                        </a:rPr>
                        <a:t>. </a:t>
                      </a:r>
                      <a:endParaRPr lang="ko-KR" altLang="en-US" sz="1100" kern="1200" dirty="0">
                        <a:solidFill>
                          <a:schemeClr val="tx1"/>
                        </a:solidFill>
                        <a:effectLst/>
                        <a:latin typeface="+mn-lt"/>
                        <a:ea typeface="+mn-ea"/>
                        <a:cs typeface="+mn-cs"/>
                      </a:endParaRPr>
                    </a:p>
                    <a:p>
                      <a:pPr fontAlgn="base" latinLnBrk="1"/>
                      <a:r>
                        <a:rPr lang="ko-KR" altLang="en-US" sz="1100" kern="1200" dirty="0">
                          <a:solidFill>
                            <a:schemeClr val="tx1"/>
                          </a:solidFill>
                          <a:effectLst/>
                          <a:latin typeface="+mn-lt"/>
                          <a:ea typeface="+mn-ea"/>
                          <a:cs typeface="+mn-cs"/>
                        </a:rPr>
                        <a:t>④ 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명세서 또는 도면의 정정은 청구범위를 실질적으로 확장하거나 변경할 수 없다</a:t>
                      </a:r>
                      <a:r>
                        <a:rPr lang="en-US" altLang="ko-KR" sz="1100" kern="1200" dirty="0">
                          <a:solidFill>
                            <a:schemeClr val="tx1"/>
                          </a:solidFill>
                          <a:effectLst/>
                          <a:latin typeface="+mn-lt"/>
                          <a:ea typeface="+mn-ea"/>
                          <a:cs typeface="+mn-cs"/>
                        </a:rPr>
                        <a:t>.</a:t>
                      </a:r>
                      <a:r>
                        <a:rPr lang="ko-KR" altLang="en-US" sz="1100" kern="1200" dirty="0">
                          <a:solidFill>
                            <a:schemeClr val="tx1"/>
                          </a:solidFill>
                          <a:effectLst/>
                          <a:latin typeface="+mn-lt"/>
                          <a:ea typeface="+mn-ea"/>
                          <a:cs typeface="+mn-cs"/>
                        </a:rPr>
                        <a:t> </a:t>
                      </a:r>
                    </a:p>
                    <a:p>
                      <a:pPr fontAlgn="base" latinLnBrk="1"/>
                      <a:r>
                        <a:rPr lang="ko-KR" altLang="en-US" sz="1100" kern="1200" dirty="0">
                          <a:solidFill>
                            <a:schemeClr val="tx1"/>
                          </a:solidFill>
                          <a:effectLst/>
                          <a:latin typeface="+mn-lt"/>
                          <a:ea typeface="+mn-ea"/>
                          <a:cs typeface="+mn-cs"/>
                        </a:rPr>
                        <a:t>⑤ 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정정 중 같은 항 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호 또는 제</a:t>
                      </a:r>
                      <a:r>
                        <a:rPr lang="en-US" altLang="ko-KR" sz="1100" kern="1200" dirty="0">
                          <a:solidFill>
                            <a:schemeClr val="tx1"/>
                          </a:solidFill>
                          <a:effectLst/>
                          <a:latin typeface="+mn-lt"/>
                          <a:ea typeface="+mn-ea"/>
                          <a:cs typeface="+mn-cs"/>
                        </a:rPr>
                        <a:t>2</a:t>
                      </a:r>
                      <a:r>
                        <a:rPr lang="ko-KR" altLang="en-US" sz="1100" kern="1200" dirty="0">
                          <a:solidFill>
                            <a:schemeClr val="tx1"/>
                          </a:solidFill>
                          <a:effectLst/>
                          <a:latin typeface="+mn-lt"/>
                          <a:ea typeface="+mn-ea"/>
                          <a:cs typeface="+mn-cs"/>
                        </a:rPr>
                        <a:t>호에 해당하는 정정은 정정 후의 </a:t>
                      </a:r>
                      <a:r>
                        <a:rPr lang="ko-KR" altLang="en-US" sz="1100" kern="1200" dirty="0" err="1">
                          <a:solidFill>
                            <a:schemeClr val="tx1"/>
                          </a:solidFill>
                          <a:effectLst/>
                          <a:latin typeface="+mn-lt"/>
                          <a:ea typeface="+mn-ea"/>
                          <a:cs typeface="+mn-cs"/>
                        </a:rPr>
                        <a:t>청구범위에</a:t>
                      </a:r>
                      <a:r>
                        <a:rPr lang="ko-KR" altLang="en-US" sz="1100" kern="1200" dirty="0">
                          <a:solidFill>
                            <a:schemeClr val="tx1"/>
                          </a:solidFill>
                          <a:effectLst/>
                          <a:latin typeface="+mn-lt"/>
                          <a:ea typeface="+mn-ea"/>
                          <a:cs typeface="+mn-cs"/>
                        </a:rPr>
                        <a:t> 적혀 있는 사항이 특허출원을 하였을 때에 특허를 받을 수 있는 것이어야 한다</a:t>
                      </a:r>
                      <a:r>
                        <a:rPr lang="en-US" altLang="ko-KR" sz="1100" kern="1200" dirty="0">
                          <a:solidFill>
                            <a:schemeClr val="tx1"/>
                          </a:solidFill>
                          <a:effectLst/>
                          <a:latin typeface="+mn-lt"/>
                          <a:ea typeface="+mn-ea"/>
                          <a:cs typeface="+mn-cs"/>
                        </a:rPr>
                        <a:t>. </a:t>
                      </a:r>
                      <a:endParaRPr lang="ko-KR" altLang="en-US" sz="1100" kern="1200" dirty="0">
                        <a:solidFill>
                          <a:schemeClr val="tx1"/>
                        </a:solidFill>
                        <a:effectLst/>
                        <a:latin typeface="+mn-lt"/>
                        <a:ea typeface="+mn-ea"/>
                        <a:cs typeface="+mn-cs"/>
                      </a:endParaRPr>
                    </a:p>
                    <a:p>
                      <a:pPr fontAlgn="base" latinLnBrk="1"/>
                      <a:r>
                        <a:rPr lang="ko-KR" altLang="en-US" sz="1100" kern="1200" dirty="0">
                          <a:solidFill>
                            <a:schemeClr val="tx1"/>
                          </a:solidFill>
                          <a:effectLst/>
                          <a:latin typeface="+mn-lt"/>
                          <a:ea typeface="+mn-ea"/>
                          <a:cs typeface="+mn-cs"/>
                        </a:rPr>
                        <a:t>⑥ 심판관은 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심판청구가 다음 각 호의 어느 하나에 해당한다고 인정하는 경우에는 청구인에게 그 이유를 통지하고</a:t>
                      </a:r>
                      <a:r>
                        <a:rPr lang="en-US" altLang="ko-KR" sz="1100" kern="1200" dirty="0">
                          <a:solidFill>
                            <a:schemeClr val="tx1"/>
                          </a:solidFill>
                          <a:effectLst/>
                          <a:latin typeface="+mn-lt"/>
                          <a:ea typeface="+mn-ea"/>
                          <a:cs typeface="+mn-cs"/>
                        </a:rPr>
                        <a:t>, </a:t>
                      </a:r>
                      <a:r>
                        <a:rPr lang="ko-KR" altLang="en-US" sz="1100" kern="1200" dirty="0">
                          <a:solidFill>
                            <a:schemeClr val="tx1"/>
                          </a:solidFill>
                          <a:effectLst/>
                          <a:latin typeface="+mn-lt"/>
                          <a:ea typeface="+mn-ea"/>
                          <a:cs typeface="+mn-cs"/>
                        </a:rPr>
                        <a:t>기간을 정하여 의견서를 제출할 수 있는 기회를 주어야 한다</a:t>
                      </a:r>
                      <a:r>
                        <a:rPr lang="en-US" altLang="ko-KR" sz="1100" kern="1200" dirty="0">
                          <a:solidFill>
                            <a:schemeClr val="tx1"/>
                          </a:solidFill>
                          <a:effectLst/>
                          <a:latin typeface="+mn-lt"/>
                          <a:ea typeface="+mn-ea"/>
                          <a:cs typeface="+mn-cs"/>
                        </a:rPr>
                        <a:t>.</a:t>
                      </a:r>
                      <a:r>
                        <a:rPr lang="ko-KR" altLang="en-US" sz="1100" kern="1200" dirty="0">
                          <a:solidFill>
                            <a:schemeClr val="tx1"/>
                          </a:solidFill>
                          <a:effectLst/>
                          <a:latin typeface="+mn-lt"/>
                          <a:ea typeface="+mn-ea"/>
                          <a:cs typeface="+mn-cs"/>
                        </a:rPr>
                        <a:t> </a:t>
                      </a:r>
                    </a:p>
                    <a:p>
                      <a:pPr fontAlgn="base" latinLnBrk="1"/>
                      <a:r>
                        <a:rPr lang="en-US" altLang="ko-KR" sz="1100" kern="1200" dirty="0">
                          <a:solidFill>
                            <a:schemeClr val="tx1"/>
                          </a:solidFill>
                          <a:effectLst/>
                          <a:latin typeface="+mn-lt"/>
                          <a:ea typeface="+mn-ea"/>
                          <a:cs typeface="+mn-cs"/>
                        </a:rPr>
                        <a:t>1. </a:t>
                      </a:r>
                      <a:r>
                        <a:rPr lang="ko-KR" altLang="en-US" sz="1100" kern="1200" dirty="0">
                          <a:solidFill>
                            <a:schemeClr val="tx1"/>
                          </a:solidFill>
                          <a:effectLst/>
                          <a:latin typeface="+mn-lt"/>
                          <a:ea typeface="+mn-ea"/>
                          <a:cs typeface="+mn-cs"/>
                        </a:rPr>
                        <a:t>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 각 호의 어느 하나에 해당하지 아니한 경우</a:t>
                      </a:r>
                    </a:p>
                    <a:p>
                      <a:pPr fontAlgn="base" latinLnBrk="1"/>
                      <a:r>
                        <a:rPr lang="en-US" altLang="ko-KR" sz="1100" kern="1200" dirty="0">
                          <a:solidFill>
                            <a:schemeClr val="tx1"/>
                          </a:solidFill>
                          <a:effectLst/>
                          <a:latin typeface="+mn-lt"/>
                          <a:ea typeface="+mn-ea"/>
                          <a:cs typeface="+mn-cs"/>
                        </a:rPr>
                        <a:t>2. </a:t>
                      </a:r>
                      <a:r>
                        <a:rPr lang="ko-KR" altLang="en-US" sz="1100" kern="1200" dirty="0">
                          <a:solidFill>
                            <a:schemeClr val="tx1"/>
                          </a:solidFill>
                          <a:effectLst/>
                          <a:latin typeface="+mn-lt"/>
                          <a:ea typeface="+mn-ea"/>
                          <a:cs typeface="+mn-cs"/>
                        </a:rPr>
                        <a:t>제</a:t>
                      </a:r>
                      <a:r>
                        <a:rPr lang="en-US" altLang="ko-KR" sz="1100" kern="1200" dirty="0">
                          <a:solidFill>
                            <a:schemeClr val="tx1"/>
                          </a:solidFill>
                          <a:effectLst/>
                          <a:latin typeface="+mn-lt"/>
                          <a:ea typeface="+mn-ea"/>
                          <a:cs typeface="+mn-cs"/>
                        </a:rPr>
                        <a:t>3</a:t>
                      </a:r>
                      <a:r>
                        <a:rPr lang="ko-KR" altLang="en-US" sz="1100" kern="1200" dirty="0">
                          <a:solidFill>
                            <a:schemeClr val="tx1"/>
                          </a:solidFill>
                          <a:effectLst/>
                          <a:latin typeface="+mn-lt"/>
                          <a:ea typeface="+mn-ea"/>
                          <a:cs typeface="+mn-cs"/>
                        </a:rPr>
                        <a:t>항에 따른 범위를 벗어난 경우</a:t>
                      </a:r>
                    </a:p>
                    <a:p>
                      <a:pPr fontAlgn="base" latinLnBrk="1"/>
                      <a:r>
                        <a:rPr lang="en-US" altLang="ko-KR" sz="1100" kern="1200" dirty="0">
                          <a:solidFill>
                            <a:schemeClr val="tx1"/>
                          </a:solidFill>
                          <a:effectLst/>
                          <a:latin typeface="+mn-lt"/>
                          <a:ea typeface="+mn-ea"/>
                          <a:cs typeface="+mn-cs"/>
                        </a:rPr>
                        <a:t>3. </a:t>
                      </a:r>
                      <a:r>
                        <a:rPr lang="ko-KR" altLang="en-US" sz="1100" kern="1200" dirty="0">
                          <a:solidFill>
                            <a:schemeClr val="tx1"/>
                          </a:solidFill>
                          <a:effectLst/>
                          <a:latin typeface="+mn-lt"/>
                          <a:ea typeface="+mn-ea"/>
                          <a:cs typeface="+mn-cs"/>
                        </a:rPr>
                        <a:t>제</a:t>
                      </a:r>
                      <a:r>
                        <a:rPr lang="en-US" altLang="ko-KR" sz="1100" kern="1200" dirty="0">
                          <a:solidFill>
                            <a:schemeClr val="tx1"/>
                          </a:solidFill>
                          <a:effectLst/>
                          <a:latin typeface="+mn-lt"/>
                          <a:ea typeface="+mn-ea"/>
                          <a:cs typeface="+mn-cs"/>
                        </a:rPr>
                        <a:t>4</a:t>
                      </a:r>
                      <a:r>
                        <a:rPr lang="ko-KR" altLang="en-US" sz="1100" kern="1200" dirty="0">
                          <a:solidFill>
                            <a:schemeClr val="tx1"/>
                          </a:solidFill>
                          <a:effectLst/>
                          <a:latin typeface="+mn-lt"/>
                          <a:ea typeface="+mn-ea"/>
                          <a:cs typeface="+mn-cs"/>
                        </a:rPr>
                        <a:t>항 또는 제</a:t>
                      </a:r>
                      <a:r>
                        <a:rPr lang="en-US" altLang="ko-KR" sz="1100" kern="1200" dirty="0">
                          <a:solidFill>
                            <a:schemeClr val="tx1"/>
                          </a:solidFill>
                          <a:effectLst/>
                          <a:latin typeface="+mn-lt"/>
                          <a:ea typeface="+mn-ea"/>
                          <a:cs typeface="+mn-cs"/>
                        </a:rPr>
                        <a:t>5</a:t>
                      </a:r>
                      <a:r>
                        <a:rPr lang="ko-KR" altLang="en-US" sz="1100" kern="1200" dirty="0">
                          <a:solidFill>
                            <a:schemeClr val="tx1"/>
                          </a:solidFill>
                          <a:effectLst/>
                          <a:latin typeface="+mn-lt"/>
                          <a:ea typeface="+mn-ea"/>
                          <a:cs typeface="+mn-cs"/>
                        </a:rPr>
                        <a:t>항을 위반한 경우</a:t>
                      </a:r>
                    </a:p>
                    <a:p>
                      <a:pPr fontAlgn="base" latinLnBrk="1"/>
                      <a:r>
                        <a:rPr lang="ko-KR" altLang="en-US" sz="1100" kern="1200" dirty="0">
                          <a:solidFill>
                            <a:srgbClr val="FF0000"/>
                          </a:solidFill>
                          <a:effectLst/>
                          <a:latin typeface="+mn-lt"/>
                          <a:ea typeface="+mn-ea"/>
                          <a:cs typeface="+mn-cs"/>
                        </a:rPr>
                        <a:t>⑦ 제</a:t>
                      </a:r>
                      <a:r>
                        <a:rPr lang="en-US" altLang="ko-KR" sz="1100" kern="1200" dirty="0">
                          <a:solidFill>
                            <a:srgbClr val="FF0000"/>
                          </a:solidFill>
                          <a:effectLst/>
                          <a:latin typeface="+mn-lt"/>
                          <a:ea typeface="+mn-ea"/>
                          <a:cs typeface="+mn-cs"/>
                        </a:rPr>
                        <a:t>1</a:t>
                      </a:r>
                      <a:r>
                        <a:rPr lang="ko-KR" altLang="en-US" sz="1100" kern="1200" dirty="0">
                          <a:solidFill>
                            <a:srgbClr val="FF0000"/>
                          </a:solidFill>
                          <a:effectLst/>
                          <a:latin typeface="+mn-lt"/>
                          <a:ea typeface="+mn-ea"/>
                          <a:cs typeface="+mn-cs"/>
                        </a:rPr>
                        <a:t>항에 따른 </a:t>
                      </a:r>
                      <a:r>
                        <a:rPr lang="ko-KR" altLang="en-US" sz="1100" kern="1200" dirty="0" err="1">
                          <a:solidFill>
                            <a:srgbClr val="FF0000"/>
                          </a:solidFill>
                          <a:effectLst/>
                          <a:latin typeface="+mn-lt"/>
                          <a:ea typeface="+mn-ea"/>
                          <a:cs typeface="+mn-cs"/>
                        </a:rPr>
                        <a:t>정정심판은</a:t>
                      </a:r>
                      <a:r>
                        <a:rPr lang="ko-KR" altLang="en-US" sz="1100" kern="1200" dirty="0">
                          <a:solidFill>
                            <a:srgbClr val="FF0000"/>
                          </a:solidFill>
                          <a:effectLst/>
                          <a:latin typeface="+mn-lt"/>
                          <a:ea typeface="+mn-ea"/>
                          <a:cs typeface="+mn-cs"/>
                        </a:rPr>
                        <a:t> 특허권이 소멸된 후에도 청구할 수 있다</a:t>
                      </a:r>
                      <a:r>
                        <a:rPr lang="en-US" altLang="ko-KR" sz="1100" kern="1200" dirty="0">
                          <a:solidFill>
                            <a:srgbClr val="FF0000"/>
                          </a:solidFill>
                          <a:effectLst/>
                          <a:latin typeface="+mn-lt"/>
                          <a:ea typeface="+mn-ea"/>
                          <a:cs typeface="+mn-cs"/>
                        </a:rPr>
                        <a:t>. </a:t>
                      </a:r>
                      <a:r>
                        <a:rPr lang="ko-KR" altLang="en-US" sz="1100" kern="1200" dirty="0">
                          <a:solidFill>
                            <a:srgbClr val="FF0000"/>
                          </a:solidFill>
                          <a:effectLst/>
                          <a:latin typeface="+mn-lt"/>
                          <a:ea typeface="+mn-ea"/>
                          <a:cs typeface="+mn-cs"/>
                        </a:rPr>
                        <a:t>다만</a:t>
                      </a:r>
                      <a:r>
                        <a:rPr lang="en-US" altLang="ko-KR" sz="1100" kern="1200" dirty="0">
                          <a:solidFill>
                            <a:srgbClr val="FF0000"/>
                          </a:solidFill>
                          <a:effectLst/>
                          <a:latin typeface="+mn-lt"/>
                          <a:ea typeface="+mn-ea"/>
                          <a:cs typeface="+mn-cs"/>
                        </a:rPr>
                        <a:t>, </a:t>
                      </a:r>
                      <a:r>
                        <a:rPr lang="ko-KR" altLang="en-US" sz="1100" kern="1200" dirty="0">
                          <a:solidFill>
                            <a:srgbClr val="FF0000"/>
                          </a:solidFill>
                          <a:effectLst/>
                          <a:latin typeface="+mn-lt"/>
                          <a:ea typeface="+mn-ea"/>
                          <a:cs typeface="+mn-cs"/>
                        </a:rPr>
                        <a:t>특허취소결정이 확정되거나 특허를 무효</a:t>
                      </a:r>
                      <a:r>
                        <a:rPr lang="en-US" altLang="ko-KR" sz="1100" kern="1200" dirty="0">
                          <a:solidFill>
                            <a:srgbClr val="FF0000"/>
                          </a:solidFill>
                          <a:effectLst/>
                          <a:latin typeface="+mn-lt"/>
                          <a:ea typeface="+mn-ea"/>
                          <a:cs typeface="+mn-cs"/>
                        </a:rPr>
                        <a:t>(</a:t>
                      </a:r>
                      <a:r>
                        <a:rPr lang="ko-KR" altLang="en-US" sz="1100" kern="1200" dirty="0">
                          <a:solidFill>
                            <a:srgbClr val="FF0000"/>
                          </a:solidFill>
                          <a:effectLst/>
                          <a:latin typeface="+mn-lt"/>
                          <a:ea typeface="+mn-ea"/>
                          <a:cs typeface="+mn-cs"/>
                        </a:rPr>
                        <a:t>제</a:t>
                      </a:r>
                      <a:r>
                        <a:rPr lang="en-US" altLang="ko-KR" sz="1100" kern="1200" dirty="0">
                          <a:solidFill>
                            <a:srgbClr val="FF0000"/>
                          </a:solidFill>
                          <a:effectLst/>
                          <a:latin typeface="+mn-lt"/>
                          <a:ea typeface="+mn-ea"/>
                          <a:cs typeface="+mn-cs"/>
                        </a:rPr>
                        <a:t>133</a:t>
                      </a:r>
                      <a:r>
                        <a:rPr lang="ko-KR" altLang="en-US" sz="1100" kern="1200" dirty="0">
                          <a:solidFill>
                            <a:srgbClr val="FF0000"/>
                          </a:solidFill>
                          <a:effectLst/>
                          <a:latin typeface="+mn-lt"/>
                          <a:ea typeface="+mn-ea"/>
                          <a:cs typeface="+mn-cs"/>
                        </a:rPr>
                        <a:t>조제</a:t>
                      </a:r>
                      <a:r>
                        <a:rPr lang="en-US" altLang="ko-KR" sz="1100" kern="1200" dirty="0">
                          <a:solidFill>
                            <a:srgbClr val="FF0000"/>
                          </a:solidFill>
                          <a:effectLst/>
                          <a:latin typeface="+mn-lt"/>
                          <a:ea typeface="+mn-ea"/>
                          <a:cs typeface="+mn-cs"/>
                        </a:rPr>
                        <a:t>1</a:t>
                      </a:r>
                      <a:r>
                        <a:rPr lang="ko-KR" altLang="en-US" sz="1100" kern="1200" dirty="0" err="1">
                          <a:solidFill>
                            <a:srgbClr val="FF0000"/>
                          </a:solidFill>
                          <a:effectLst/>
                          <a:latin typeface="+mn-lt"/>
                          <a:ea typeface="+mn-ea"/>
                          <a:cs typeface="+mn-cs"/>
                        </a:rPr>
                        <a:t>항제</a:t>
                      </a:r>
                      <a:r>
                        <a:rPr lang="en-US" altLang="ko-KR" sz="1100" kern="1200" dirty="0">
                          <a:solidFill>
                            <a:srgbClr val="FF0000"/>
                          </a:solidFill>
                          <a:effectLst/>
                          <a:latin typeface="+mn-lt"/>
                          <a:ea typeface="+mn-ea"/>
                          <a:cs typeface="+mn-cs"/>
                        </a:rPr>
                        <a:t>4</a:t>
                      </a:r>
                      <a:r>
                        <a:rPr lang="ko-KR" altLang="en-US" sz="1100" kern="1200" dirty="0">
                          <a:solidFill>
                            <a:srgbClr val="FF0000"/>
                          </a:solidFill>
                          <a:effectLst/>
                          <a:latin typeface="+mn-lt"/>
                          <a:ea typeface="+mn-ea"/>
                          <a:cs typeface="+mn-cs"/>
                        </a:rPr>
                        <a:t>호에 의한 무효는 제외한다</a:t>
                      </a:r>
                      <a:r>
                        <a:rPr lang="en-US" altLang="ko-KR" sz="1100" kern="1200" dirty="0">
                          <a:solidFill>
                            <a:srgbClr val="FF0000"/>
                          </a:solidFill>
                          <a:effectLst/>
                          <a:latin typeface="+mn-lt"/>
                          <a:ea typeface="+mn-ea"/>
                          <a:cs typeface="+mn-cs"/>
                        </a:rPr>
                        <a:t>)</a:t>
                      </a:r>
                      <a:r>
                        <a:rPr lang="ko-KR" altLang="en-US" sz="1100" kern="1200" dirty="0">
                          <a:solidFill>
                            <a:srgbClr val="FF0000"/>
                          </a:solidFill>
                          <a:effectLst/>
                          <a:latin typeface="+mn-lt"/>
                          <a:ea typeface="+mn-ea"/>
                          <a:cs typeface="+mn-cs"/>
                        </a:rPr>
                        <a:t>로 한다는 </a:t>
                      </a:r>
                      <a:r>
                        <a:rPr lang="ko-KR" altLang="en-US" sz="1100" kern="1200" dirty="0" err="1">
                          <a:solidFill>
                            <a:srgbClr val="FF0000"/>
                          </a:solidFill>
                          <a:effectLst/>
                          <a:latin typeface="+mn-lt"/>
                          <a:ea typeface="+mn-ea"/>
                          <a:cs typeface="+mn-cs"/>
                        </a:rPr>
                        <a:t>심결이</a:t>
                      </a:r>
                      <a:r>
                        <a:rPr lang="ko-KR" altLang="en-US" sz="1100" kern="1200" dirty="0">
                          <a:solidFill>
                            <a:srgbClr val="FF0000"/>
                          </a:solidFill>
                          <a:effectLst/>
                          <a:latin typeface="+mn-lt"/>
                          <a:ea typeface="+mn-ea"/>
                          <a:cs typeface="+mn-cs"/>
                        </a:rPr>
                        <a:t> 확정된 후에는 그러하지 아니하다</a:t>
                      </a:r>
                      <a:r>
                        <a:rPr lang="en-US" altLang="ko-KR" sz="1100" kern="1200" dirty="0">
                          <a:solidFill>
                            <a:srgbClr val="FF0000"/>
                          </a:solidFill>
                          <a:effectLst/>
                          <a:latin typeface="+mn-lt"/>
                          <a:ea typeface="+mn-ea"/>
                          <a:cs typeface="+mn-cs"/>
                        </a:rPr>
                        <a:t>.</a:t>
                      </a:r>
                      <a:endParaRPr lang="ko-KR" altLang="en-US" sz="1100" kern="1200" dirty="0">
                        <a:solidFill>
                          <a:srgbClr val="FF0000"/>
                        </a:solidFill>
                        <a:effectLst/>
                        <a:latin typeface="+mn-lt"/>
                        <a:ea typeface="+mn-ea"/>
                        <a:cs typeface="+mn-cs"/>
                      </a:endParaRPr>
                    </a:p>
                    <a:p>
                      <a:pPr fontAlgn="base" latinLnBrk="1"/>
                      <a:r>
                        <a:rPr lang="ko-KR" altLang="en-US" sz="1100" kern="1200" dirty="0">
                          <a:solidFill>
                            <a:schemeClr val="tx1"/>
                          </a:solidFill>
                          <a:effectLst/>
                          <a:latin typeface="+mn-lt"/>
                          <a:ea typeface="+mn-ea"/>
                          <a:cs typeface="+mn-cs"/>
                        </a:rPr>
                        <a:t>⑧ </a:t>
                      </a:r>
                      <a:r>
                        <a:rPr lang="ko-KR" altLang="en-US" sz="1100" kern="1200" dirty="0" err="1">
                          <a:solidFill>
                            <a:schemeClr val="tx1"/>
                          </a:solidFill>
                          <a:effectLst/>
                          <a:latin typeface="+mn-lt"/>
                          <a:ea typeface="+mn-ea"/>
                          <a:cs typeface="+mn-cs"/>
                        </a:rPr>
                        <a:t>특허권자는</a:t>
                      </a:r>
                      <a:r>
                        <a:rPr lang="ko-KR" altLang="en-US" sz="1100" kern="1200" dirty="0">
                          <a:solidFill>
                            <a:schemeClr val="tx1"/>
                          </a:solidFill>
                          <a:effectLst/>
                          <a:latin typeface="+mn-lt"/>
                          <a:ea typeface="+mn-ea"/>
                          <a:cs typeface="+mn-cs"/>
                        </a:rPr>
                        <a:t> 전용실시권자</a:t>
                      </a:r>
                      <a:r>
                        <a:rPr lang="en-US" altLang="ko-KR" sz="1100" kern="1200" dirty="0">
                          <a:solidFill>
                            <a:schemeClr val="tx1"/>
                          </a:solidFill>
                          <a:effectLst/>
                          <a:latin typeface="+mn-lt"/>
                          <a:ea typeface="+mn-ea"/>
                          <a:cs typeface="+mn-cs"/>
                        </a:rPr>
                        <a:t>, </a:t>
                      </a:r>
                      <a:r>
                        <a:rPr lang="ko-KR" altLang="en-US" sz="1100" kern="1200" dirty="0" err="1">
                          <a:solidFill>
                            <a:schemeClr val="tx1"/>
                          </a:solidFill>
                          <a:effectLst/>
                          <a:latin typeface="+mn-lt"/>
                          <a:ea typeface="+mn-ea"/>
                          <a:cs typeface="+mn-cs"/>
                        </a:rPr>
                        <a:t>질권자와</a:t>
                      </a:r>
                      <a:r>
                        <a:rPr lang="ko-KR" altLang="en-US" sz="1100" kern="1200" dirty="0">
                          <a:solidFill>
                            <a:schemeClr val="tx1"/>
                          </a:solidFill>
                          <a:effectLst/>
                          <a:latin typeface="+mn-lt"/>
                          <a:ea typeface="+mn-ea"/>
                          <a:cs typeface="+mn-cs"/>
                        </a:rPr>
                        <a:t> 제</a:t>
                      </a:r>
                      <a:r>
                        <a:rPr lang="en-US" altLang="ko-KR" sz="1100" kern="1200" dirty="0">
                          <a:solidFill>
                            <a:schemeClr val="tx1"/>
                          </a:solidFill>
                          <a:effectLst/>
                          <a:latin typeface="+mn-lt"/>
                          <a:ea typeface="+mn-ea"/>
                          <a:cs typeface="+mn-cs"/>
                        </a:rPr>
                        <a:t>100</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4</a:t>
                      </a:r>
                      <a:r>
                        <a:rPr lang="ko-KR" altLang="en-US" sz="1100" kern="1200" dirty="0">
                          <a:solidFill>
                            <a:schemeClr val="tx1"/>
                          </a:solidFill>
                          <a:effectLst/>
                          <a:latin typeface="+mn-lt"/>
                          <a:ea typeface="+mn-ea"/>
                          <a:cs typeface="+mn-cs"/>
                        </a:rPr>
                        <a:t>항</a:t>
                      </a:r>
                      <a:r>
                        <a:rPr lang="en-US" altLang="ko-KR" sz="1100" kern="1200" dirty="0">
                          <a:solidFill>
                            <a:schemeClr val="tx1"/>
                          </a:solidFill>
                          <a:effectLst/>
                          <a:latin typeface="+mn-lt"/>
                          <a:ea typeface="+mn-ea"/>
                          <a:cs typeface="+mn-cs"/>
                        </a:rPr>
                        <a:t>·</a:t>
                      </a:r>
                      <a:r>
                        <a:rPr lang="ko-KR" altLang="en-US" sz="1100" kern="1200" dirty="0">
                          <a:solidFill>
                            <a:schemeClr val="tx1"/>
                          </a:solidFill>
                          <a:effectLst/>
                          <a:latin typeface="+mn-lt"/>
                          <a:ea typeface="+mn-ea"/>
                          <a:cs typeface="+mn-cs"/>
                        </a:rPr>
                        <a:t>제</a:t>
                      </a:r>
                      <a:r>
                        <a:rPr lang="en-US" altLang="ko-KR" sz="1100" kern="1200" dirty="0">
                          <a:solidFill>
                            <a:schemeClr val="tx1"/>
                          </a:solidFill>
                          <a:effectLst/>
                          <a:latin typeface="+mn-lt"/>
                          <a:ea typeface="+mn-ea"/>
                          <a:cs typeface="+mn-cs"/>
                        </a:rPr>
                        <a:t>102</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 및 「발명진흥법」 제</a:t>
                      </a:r>
                      <a:r>
                        <a:rPr lang="en-US" altLang="ko-KR" sz="1100" kern="1200" dirty="0">
                          <a:solidFill>
                            <a:schemeClr val="tx1"/>
                          </a:solidFill>
                          <a:effectLst/>
                          <a:latin typeface="+mn-lt"/>
                          <a:ea typeface="+mn-ea"/>
                          <a:cs typeface="+mn-cs"/>
                        </a:rPr>
                        <a:t>10</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통상실시권을 갖는 자의 동의를 받아야만 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a:t>
                      </a:r>
                      <a:r>
                        <a:rPr lang="ko-KR" altLang="en-US" sz="1100" kern="1200" dirty="0" err="1">
                          <a:solidFill>
                            <a:schemeClr val="tx1"/>
                          </a:solidFill>
                          <a:effectLst/>
                          <a:latin typeface="+mn-lt"/>
                          <a:ea typeface="+mn-ea"/>
                          <a:cs typeface="+mn-cs"/>
                        </a:rPr>
                        <a:t>정정심판을</a:t>
                      </a:r>
                      <a:r>
                        <a:rPr lang="ko-KR" altLang="en-US" sz="1100" kern="1200" dirty="0">
                          <a:solidFill>
                            <a:schemeClr val="tx1"/>
                          </a:solidFill>
                          <a:effectLst/>
                          <a:latin typeface="+mn-lt"/>
                          <a:ea typeface="+mn-ea"/>
                          <a:cs typeface="+mn-cs"/>
                        </a:rPr>
                        <a:t> 청구할 수 있다</a:t>
                      </a:r>
                      <a:r>
                        <a:rPr lang="en-US" altLang="ko-KR" sz="1100" kern="1200" dirty="0">
                          <a:solidFill>
                            <a:schemeClr val="tx1"/>
                          </a:solidFill>
                          <a:effectLst/>
                          <a:latin typeface="+mn-lt"/>
                          <a:ea typeface="+mn-ea"/>
                          <a:cs typeface="+mn-cs"/>
                        </a:rPr>
                        <a:t>. </a:t>
                      </a:r>
                      <a:r>
                        <a:rPr lang="ko-KR" altLang="en-US" sz="1100" kern="1200" dirty="0">
                          <a:solidFill>
                            <a:schemeClr val="tx1"/>
                          </a:solidFill>
                          <a:effectLst/>
                          <a:latin typeface="+mn-lt"/>
                          <a:ea typeface="+mn-ea"/>
                          <a:cs typeface="+mn-cs"/>
                        </a:rPr>
                        <a:t>다만</a:t>
                      </a:r>
                      <a:r>
                        <a:rPr lang="en-US" altLang="ko-KR" sz="1100" kern="1200" dirty="0">
                          <a:solidFill>
                            <a:schemeClr val="tx1"/>
                          </a:solidFill>
                          <a:effectLst/>
                          <a:latin typeface="+mn-lt"/>
                          <a:ea typeface="+mn-ea"/>
                          <a:cs typeface="+mn-cs"/>
                        </a:rPr>
                        <a:t>, </a:t>
                      </a:r>
                      <a:r>
                        <a:rPr lang="ko-KR" altLang="en-US" sz="1100" kern="1200" dirty="0">
                          <a:solidFill>
                            <a:schemeClr val="tx1"/>
                          </a:solidFill>
                          <a:effectLst/>
                          <a:latin typeface="+mn-lt"/>
                          <a:ea typeface="+mn-ea"/>
                          <a:cs typeface="+mn-cs"/>
                        </a:rPr>
                        <a:t>특허권자가 </a:t>
                      </a:r>
                      <a:r>
                        <a:rPr lang="ko-KR" altLang="en-US" sz="1100" kern="1200" dirty="0" err="1">
                          <a:solidFill>
                            <a:schemeClr val="tx1"/>
                          </a:solidFill>
                          <a:effectLst/>
                          <a:latin typeface="+mn-lt"/>
                          <a:ea typeface="+mn-ea"/>
                          <a:cs typeface="+mn-cs"/>
                        </a:rPr>
                        <a:t>정정심판을</a:t>
                      </a:r>
                      <a:r>
                        <a:rPr lang="ko-KR" altLang="en-US" sz="1100" kern="1200" dirty="0">
                          <a:solidFill>
                            <a:schemeClr val="tx1"/>
                          </a:solidFill>
                          <a:effectLst/>
                          <a:latin typeface="+mn-lt"/>
                          <a:ea typeface="+mn-ea"/>
                          <a:cs typeface="+mn-cs"/>
                        </a:rPr>
                        <a:t> 청구하기 위하여 동의를 받아야 하는 자가 무효심판을 청구한 경우에는 그러하지 아니하다</a:t>
                      </a:r>
                      <a:r>
                        <a:rPr lang="en-US" altLang="ko-KR" sz="1100" kern="1200" dirty="0">
                          <a:solidFill>
                            <a:schemeClr val="tx1"/>
                          </a:solidFill>
                          <a:effectLst/>
                          <a:latin typeface="+mn-lt"/>
                          <a:ea typeface="+mn-ea"/>
                          <a:cs typeface="+mn-cs"/>
                        </a:rPr>
                        <a:t>.</a:t>
                      </a:r>
                      <a:endParaRPr lang="ko-KR" altLang="en-US" sz="1100" kern="1200" dirty="0">
                        <a:solidFill>
                          <a:schemeClr val="tx1"/>
                        </a:solidFill>
                        <a:effectLst/>
                        <a:latin typeface="+mn-lt"/>
                        <a:ea typeface="+mn-ea"/>
                        <a:cs typeface="+mn-cs"/>
                      </a:endParaRPr>
                    </a:p>
                    <a:p>
                      <a:pPr fontAlgn="base" latinLnBrk="1"/>
                      <a:r>
                        <a:rPr lang="ko-KR" altLang="en-US" sz="1100" kern="1200" dirty="0">
                          <a:solidFill>
                            <a:schemeClr val="tx1"/>
                          </a:solidFill>
                          <a:effectLst/>
                          <a:latin typeface="+mn-lt"/>
                          <a:ea typeface="+mn-ea"/>
                          <a:cs typeface="+mn-cs"/>
                        </a:rPr>
                        <a:t>⑨ 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정정심판에는 제</a:t>
                      </a:r>
                      <a:r>
                        <a:rPr lang="en-US" altLang="ko-KR" sz="1100" kern="1200" dirty="0">
                          <a:solidFill>
                            <a:schemeClr val="tx1"/>
                          </a:solidFill>
                          <a:effectLst/>
                          <a:latin typeface="+mn-lt"/>
                          <a:ea typeface="+mn-ea"/>
                          <a:cs typeface="+mn-cs"/>
                        </a:rPr>
                        <a:t>147</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a:t>
                      </a:r>
                      <a:r>
                        <a:rPr lang="en-US" altLang="ko-KR" sz="1100" kern="1200" dirty="0">
                          <a:solidFill>
                            <a:schemeClr val="tx1"/>
                          </a:solidFill>
                          <a:effectLst/>
                          <a:latin typeface="+mn-lt"/>
                          <a:ea typeface="+mn-ea"/>
                          <a:cs typeface="+mn-cs"/>
                        </a:rPr>
                        <a:t>·</a:t>
                      </a:r>
                      <a:r>
                        <a:rPr lang="ko-KR" altLang="en-US" sz="1100" kern="1200" dirty="0">
                          <a:solidFill>
                            <a:schemeClr val="tx1"/>
                          </a:solidFill>
                          <a:effectLst/>
                          <a:latin typeface="+mn-lt"/>
                          <a:ea typeface="+mn-ea"/>
                          <a:cs typeface="+mn-cs"/>
                        </a:rPr>
                        <a:t>제</a:t>
                      </a:r>
                      <a:r>
                        <a:rPr lang="en-US" altLang="ko-KR" sz="1100" kern="1200" dirty="0">
                          <a:solidFill>
                            <a:schemeClr val="tx1"/>
                          </a:solidFill>
                          <a:effectLst/>
                          <a:latin typeface="+mn-lt"/>
                          <a:ea typeface="+mn-ea"/>
                          <a:cs typeface="+mn-cs"/>
                        </a:rPr>
                        <a:t>2</a:t>
                      </a:r>
                      <a:r>
                        <a:rPr lang="ko-KR" altLang="en-US" sz="1100" kern="1200" dirty="0">
                          <a:solidFill>
                            <a:schemeClr val="tx1"/>
                          </a:solidFill>
                          <a:effectLst/>
                          <a:latin typeface="+mn-lt"/>
                          <a:ea typeface="+mn-ea"/>
                          <a:cs typeface="+mn-cs"/>
                        </a:rPr>
                        <a:t>항</a:t>
                      </a:r>
                      <a:r>
                        <a:rPr lang="en-US" altLang="ko-KR" sz="1100" kern="1200" dirty="0">
                          <a:solidFill>
                            <a:schemeClr val="tx1"/>
                          </a:solidFill>
                          <a:effectLst/>
                          <a:latin typeface="+mn-lt"/>
                          <a:ea typeface="+mn-ea"/>
                          <a:cs typeface="+mn-cs"/>
                        </a:rPr>
                        <a:t>, </a:t>
                      </a:r>
                      <a:r>
                        <a:rPr lang="ko-KR" altLang="en-US" sz="1100" kern="1200" dirty="0">
                          <a:solidFill>
                            <a:schemeClr val="tx1"/>
                          </a:solidFill>
                          <a:effectLst/>
                          <a:latin typeface="+mn-lt"/>
                          <a:ea typeface="+mn-ea"/>
                          <a:cs typeface="+mn-cs"/>
                        </a:rPr>
                        <a:t>제</a:t>
                      </a:r>
                      <a:r>
                        <a:rPr lang="en-US" altLang="ko-KR" sz="1100" kern="1200" dirty="0">
                          <a:solidFill>
                            <a:schemeClr val="tx1"/>
                          </a:solidFill>
                          <a:effectLst/>
                          <a:latin typeface="+mn-lt"/>
                          <a:ea typeface="+mn-ea"/>
                          <a:cs typeface="+mn-cs"/>
                        </a:rPr>
                        <a:t>155</a:t>
                      </a:r>
                      <a:r>
                        <a:rPr lang="ko-KR" altLang="en-US" sz="1100" kern="1200" dirty="0">
                          <a:solidFill>
                            <a:schemeClr val="tx1"/>
                          </a:solidFill>
                          <a:effectLst/>
                          <a:latin typeface="+mn-lt"/>
                          <a:ea typeface="+mn-ea"/>
                          <a:cs typeface="+mn-cs"/>
                        </a:rPr>
                        <a:t>조 및 제</a:t>
                      </a:r>
                      <a:r>
                        <a:rPr lang="en-US" altLang="ko-KR" sz="1100" kern="1200" dirty="0">
                          <a:solidFill>
                            <a:schemeClr val="tx1"/>
                          </a:solidFill>
                          <a:effectLst/>
                          <a:latin typeface="+mn-lt"/>
                          <a:ea typeface="+mn-ea"/>
                          <a:cs typeface="+mn-cs"/>
                        </a:rPr>
                        <a:t>156</a:t>
                      </a:r>
                      <a:r>
                        <a:rPr lang="ko-KR" altLang="en-US" sz="1100" kern="1200" dirty="0">
                          <a:solidFill>
                            <a:schemeClr val="tx1"/>
                          </a:solidFill>
                          <a:effectLst/>
                          <a:latin typeface="+mn-lt"/>
                          <a:ea typeface="+mn-ea"/>
                          <a:cs typeface="+mn-cs"/>
                        </a:rPr>
                        <a:t>조를 적용하지 아니한다</a:t>
                      </a:r>
                      <a:r>
                        <a:rPr lang="en-US" altLang="ko-KR" sz="1100" kern="1200" dirty="0">
                          <a:solidFill>
                            <a:schemeClr val="tx1"/>
                          </a:solidFill>
                          <a:effectLst/>
                          <a:latin typeface="+mn-lt"/>
                          <a:ea typeface="+mn-ea"/>
                          <a:cs typeface="+mn-cs"/>
                        </a:rPr>
                        <a:t>. </a:t>
                      </a:r>
                    </a:p>
                    <a:p>
                      <a:pPr fontAlgn="base" latinLnBrk="1"/>
                      <a:r>
                        <a:rPr lang="ko-KR" altLang="en-US" sz="1100" kern="1200" dirty="0">
                          <a:solidFill>
                            <a:schemeClr val="tx1"/>
                          </a:solidFill>
                          <a:effectLst/>
                          <a:latin typeface="+mn-lt"/>
                          <a:ea typeface="+mn-ea"/>
                          <a:cs typeface="+mn-cs"/>
                        </a:rPr>
                        <a:t>⑩ 특허발명의 명세서 또는 도면에 대하여 정정을 한다는 </a:t>
                      </a:r>
                      <a:r>
                        <a:rPr lang="ko-KR" altLang="en-US" sz="1100" kern="1200" dirty="0" err="1">
                          <a:solidFill>
                            <a:schemeClr val="tx1"/>
                          </a:solidFill>
                          <a:effectLst/>
                          <a:latin typeface="+mn-lt"/>
                          <a:ea typeface="+mn-ea"/>
                          <a:cs typeface="+mn-cs"/>
                        </a:rPr>
                        <a:t>심결이</a:t>
                      </a:r>
                      <a:r>
                        <a:rPr lang="ko-KR" altLang="en-US" sz="1100" kern="1200" dirty="0">
                          <a:solidFill>
                            <a:schemeClr val="tx1"/>
                          </a:solidFill>
                          <a:effectLst/>
                          <a:latin typeface="+mn-lt"/>
                          <a:ea typeface="+mn-ea"/>
                          <a:cs typeface="+mn-cs"/>
                        </a:rPr>
                        <a:t> 확정되었을 때에는 그 정정 후의 명세서 또는 도면에 따라 특허출원</a:t>
                      </a:r>
                      <a:r>
                        <a:rPr lang="en-US" altLang="ko-KR" sz="1100" kern="1200" dirty="0">
                          <a:solidFill>
                            <a:schemeClr val="tx1"/>
                          </a:solidFill>
                          <a:effectLst/>
                          <a:latin typeface="+mn-lt"/>
                          <a:ea typeface="+mn-ea"/>
                          <a:cs typeface="+mn-cs"/>
                        </a:rPr>
                        <a:t>, </a:t>
                      </a:r>
                      <a:r>
                        <a:rPr lang="ko-KR" altLang="en-US" sz="1100" kern="1200" dirty="0" err="1">
                          <a:solidFill>
                            <a:schemeClr val="tx1"/>
                          </a:solidFill>
                          <a:effectLst/>
                          <a:latin typeface="+mn-lt"/>
                          <a:ea typeface="+mn-ea"/>
                          <a:cs typeface="+mn-cs"/>
                        </a:rPr>
                        <a:t>출원공개</a:t>
                      </a:r>
                      <a:r>
                        <a:rPr lang="en-US" altLang="ko-KR" sz="1100" kern="1200" dirty="0">
                          <a:solidFill>
                            <a:schemeClr val="tx1"/>
                          </a:solidFill>
                          <a:effectLst/>
                          <a:latin typeface="+mn-lt"/>
                          <a:ea typeface="+mn-ea"/>
                          <a:cs typeface="+mn-cs"/>
                        </a:rPr>
                        <a:t>, </a:t>
                      </a:r>
                      <a:r>
                        <a:rPr lang="ko-KR" altLang="en-US" sz="1100" kern="1200" dirty="0" err="1">
                          <a:solidFill>
                            <a:schemeClr val="tx1"/>
                          </a:solidFill>
                          <a:effectLst/>
                          <a:latin typeface="+mn-lt"/>
                          <a:ea typeface="+mn-ea"/>
                          <a:cs typeface="+mn-cs"/>
                        </a:rPr>
                        <a:t>특허결정</a:t>
                      </a:r>
                      <a:r>
                        <a:rPr lang="ko-KR" altLang="en-US" sz="1100" kern="1200" dirty="0">
                          <a:solidFill>
                            <a:schemeClr val="tx1"/>
                          </a:solidFill>
                          <a:effectLst/>
                          <a:latin typeface="+mn-lt"/>
                          <a:ea typeface="+mn-ea"/>
                          <a:cs typeface="+mn-cs"/>
                        </a:rPr>
                        <a:t> 또는 </a:t>
                      </a:r>
                      <a:r>
                        <a:rPr lang="ko-KR" altLang="en-US" sz="1100" kern="1200" dirty="0" err="1">
                          <a:solidFill>
                            <a:schemeClr val="tx1"/>
                          </a:solidFill>
                          <a:effectLst/>
                          <a:latin typeface="+mn-lt"/>
                          <a:ea typeface="+mn-ea"/>
                          <a:cs typeface="+mn-cs"/>
                        </a:rPr>
                        <a:t>심결</a:t>
                      </a:r>
                      <a:r>
                        <a:rPr lang="ko-KR" altLang="en-US" sz="1100" kern="1200" dirty="0">
                          <a:solidFill>
                            <a:schemeClr val="tx1"/>
                          </a:solidFill>
                          <a:effectLst/>
                          <a:latin typeface="+mn-lt"/>
                          <a:ea typeface="+mn-ea"/>
                          <a:cs typeface="+mn-cs"/>
                        </a:rPr>
                        <a:t> 및 특허권의 </a:t>
                      </a:r>
                      <a:r>
                        <a:rPr lang="ko-KR" altLang="en-US" sz="1100" kern="1200" dirty="0" err="1">
                          <a:solidFill>
                            <a:schemeClr val="tx1"/>
                          </a:solidFill>
                          <a:effectLst/>
                          <a:latin typeface="+mn-lt"/>
                          <a:ea typeface="+mn-ea"/>
                          <a:cs typeface="+mn-cs"/>
                        </a:rPr>
                        <a:t>설정등록이</a:t>
                      </a:r>
                      <a:r>
                        <a:rPr lang="ko-KR" altLang="en-US" sz="1100" kern="1200" dirty="0">
                          <a:solidFill>
                            <a:schemeClr val="tx1"/>
                          </a:solidFill>
                          <a:effectLst/>
                          <a:latin typeface="+mn-lt"/>
                          <a:ea typeface="+mn-ea"/>
                          <a:cs typeface="+mn-cs"/>
                        </a:rPr>
                        <a:t> 된 것으로 본다</a:t>
                      </a:r>
                      <a:r>
                        <a:rPr lang="en-US" altLang="ko-KR" sz="1100" kern="1200" dirty="0">
                          <a:solidFill>
                            <a:schemeClr val="tx1"/>
                          </a:solidFill>
                          <a:effectLst/>
                          <a:latin typeface="+mn-lt"/>
                          <a:ea typeface="+mn-ea"/>
                          <a:cs typeface="+mn-cs"/>
                        </a:rPr>
                        <a:t>. </a:t>
                      </a:r>
                    </a:p>
                    <a:p>
                      <a:pPr fontAlgn="base" latinLnBrk="1"/>
                      <a:r>
                        <a:rPr lang="ko-KR" altLang="en-US" sz="1100" kern="1200" dirty="0">
                          <a:solidFill>
                            <a:schemeClr val="tx1"/>
                          </a:solidFill>
                          <a:effectLst/>
                          <a:latin typeface="+mn-lt"/>
                          <a:ea typeface="+mn-ea"/>
                          <a:cs typeface="+mn-cs"/>
                        </a:rPr>
                        <a:t>⑪ 청구인은 제</a:t>
                      </a:r>
                      <a:r>
                        <a:rPr lang="en-US" altLang="ko-KR" sz="1100" kern="1200" dirty="0">
                          <a:solidFill>
                            <a:schemeClr val="tx1"/>
                          </a:solidFill>
                          <a:effectLst/>
                          <a:latin typeface="+mn-lt"/>
                          <a:ea typeface="+mn-ea"/>
                          <a:cs typeface="+mn-cs"/>
                        </a:rPr>
                        <a:t>162</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3</a:t>
                      </a:r>
                      <a:r>
                        <a:rPr lang="ko-KR" altLang="en-US" sz="1100" kern="1200" dirty="0">
                          <a:solidFill>
                            <a:schemeClr val="tx1"/>
                          </a:solidFill>
                          <a:effectLst/>
                          <a:latin typeface="+mn-lt"/>
                          <a:ea typeface="+mn-ea"/>
                          <a:cs typeface="+mn-cs"/>
                        </a:rPr>
                        <a:t>항에 따른 심리의 종결이 통지되기 전</a:t>
                      </a:r>
                      <a:r>
                        <a:rPr lang="en-US" altLang="ko-KR" sz="1100" kern="1200" dirty="0">
                          <a:solidFill>
                            <a:schemeClr val="tx1"/>
                          </a:solidFill>
                          <a:effectLst/>
                          <a:latin typeface="+mn-lt"/>
                          <a:ea typeface="+mn-ea"/>
                          <a:cs typeface="+mn-cs"/>
                        </a:rPr>
                        <a:t>(</a:t>
                      </a:r>
                      <a:r>
                        <a:rPr lang="ko-KR" altLang="en-US" sz="1100" kern="1200" dirty="0">
                          <a:solidFill>
                            <a:schemeClr val="tx1"/>
                          </a:solidFill>
                          <a:effectLst/>
                          <a:latin typeface="+mn-lt"/>
                          <a:ea typeface="+mn-ea"/>
                          <a:cs typeface="+mn-cs"/>
                        </a:rPr>
                        <a:t>같은 조 제</a:t>
                      </a:r>
                      <a:r>
                        <a:rPr lang="en-US" altLang="ko-KR" sz="1100" kern="1200" dirty="0">
                          <a:solidFill>
                            <a:schemeClr val="tx1"/>
                          </a:solidFill>
                          <a:effectLst/>
                          <a:latin typeface="+mn-lt"/>
                          <a:ea typeface="+mn-ea"/>
                          <a:cs typeface="+mn-cs"/>
                        </a:rPr>
                        <a:t>4</a:t>
                      </a:r>
                      <a:r>
                        <a:rPr lang="ko-KR" altLang="en-US" sz="1100" kern="1200" dirty="0">
                          <a:solidFill>
                            <a:schemeClr val="tx1"/>
                          </a:solidFill>
                          <a:effectLst/>
                          <a:latin typeface="+mn-lt"/>
                          <a:ea typeface="+mn-ea"/>
                          <a:cs typeface="+mn-cs"/>
                        </a:rPr>
                        <a:t>항에 따라 심리가 재개된 경우에는 그 후 다시 같은 조 제</a:t>
                      </a:r>
                      <a:r>
                        <a:rPr lang="en-US" altLang="ko-KR" sz="1100" kern="1200" dirty="0">
                          <a:solidFill>
                            <a:schemeClr val="tx1"/>
                          </a:solidFill>
                          <a:effectLst/>
                          <a:latin typeface="+mn-lt"/>
                          <a:ea typeface="+mn-ea"/>
                          <a:cs typeface="+mn-cs"/>
                        </a:rPr>
                        <a:t>3</a:t>
                      </a:r>
                      <a:r>
                        <a:rPr lang="ko-KR" altLang="en-US" sz="1100" kern="1200" dirty="0">
                          <a:solidFill>
                            <a:schemeClr val="tx1"/>
                          </a:solidFill>
                          <a:effectLst/>
                          <a:latin typeface="+mn-lt"/>
                          <a:ea typeface="+mn-ea"/>
                          <a:cs typeface="+mn-cs"/>
                        </a:rPr>
                        <a:t>항에 따른 심리의 종결이 통지되기 전</a:t>
                      </a:r>
                      <a:r>
                        <a:rPr lang="en-US" altLang="ko-KR" sz="1100" kern="1200" dirty="0">
                          <a:solidFill>
                            <a:schemeClr val="tx1"/>
                          </a:solidFill>
                          <a:effectLst/>
                          <a:latin typeface="+mn-lt"/>
                          <a:ea typeface="+mn-ea"/>
                          <a:cs typeface="+mn-cs"/>
                        </a:rPr>
                        <a:t>)</a:t>
                      </a:r>
                      <a:r>
                        <a:rPr lang="ko-KR" altLang="en-US" sz="1100" kern="1200" dirty="0">
                          <a:solidFill>
                            <a:schemeClr val="tx1"/>
                          </a:solidFill>
                          <a:effectLst/>
                          <a:latin typeface="+mn-lt"/>
                          <a:ea typeface="+mn-ea"/>
                          <a:cs typeface="+mn-cs"/>
                        </a:rPr>
                        <a:t>에 제</a:t>
                      </a:r>
                      <a:r>
                        <a:rPr lang="en-US" altLang="ko-KR" sz="1100" kern="1200" dirty="0">
                          <a:solidFill>
                            <a:schemeClr val="tx1"/>
                          </a:solidFill>
                          <a:effectLst/>
                          <a:latin typeface="+mn-lt"/>
                          <a:ea typeface="+mn-ea"/>
                          <a:cs typeface="+mn-cs"/>
                        </a:rPr>
                        <a:t>140</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5</a:t>
                      </a:r>
                      <a:r>
                        <a:rPr lang="ko-KR" altLang="en-US" sz="1100" kern="1200" dirty="0">
                          <a:solidFill>
                            <a:schemeClr val="tx1"/>
                          </a:solidFill>
                          <a:effectLst/>
                          <a:latin typeface="+mn-lt"/>
                          <a:ea typeface="+mn-ea"/>
                          <a:cs typeface="+mn-cs"/>
                        </a:rPr>
                        <a:t>항에 따른 심판청구서에 첨부된 정정한 명세서 또는 도면에 대하여 보정할 수 있다</a:t>
                      </a:r>
                      <a:r>
                        <a:rPr lang="en-US" altLang="ko-KR" sz="1100" kern="1200" dirty="0">
                          <a:solidFill>
                            <a:schemeClr val="tx1"/>
                          </a:solidFill>
                          <a:effectLst/>
                          <a:latin typeface="+mn-lt"/>
                          <a:ea typeface="+mn-ea"/>
                          <a:cs typeface="+mn-cs"/>
                        </a:rPr>
                        <a:t>.</a:t>
                      </a:r>
                      <a:r>
                        <a:rPr lang="ko-KR" altLang="en-US" sz="1100" kern="1200" dirty="0">
                          <a:solidFill>
                            <a:schemeClr val="tx1"/>
                          </a:solidFill>
                          <a:effectLst/>
                          <a:latin typeface="+mn-lt"/>
                          <a:ea typeface="+mn-ea"/>
                          <a:cs typeface="+mn-cs"/>
                        </a:rPr>
                        <a:t> </a:t>
                      </a:r>
                    </a:p>
                    <a:p>
                      <a:pPr fontAlgn="base" latinLnBrk="1"/>
                      <a:r>
                        <a:rPr lang="ko-KR" altLang="en-US" sz="1100" kern="1200" dirty="0">
                          <a:solidFill>
                            <a:schemeClr val="tx1"/>
                          </a:solidFill>
                          <a:effectLst/>
                          <a:latin typeface="+mn-lt"/>
                          <a:ea typeface="+mn-ea"/>
                          <a:cs typeface="+mn-cs"/>
                        </a:rPr>
                        <a:t>⑫ 특허발명의 명세서 또는 도면에 대한 정정을 한다는 </a:t>
                      </a:r>
                      <a:r>
                        <a:rPr lang="ko-KR" altLang="en-US" sz="1100" kern="1200" dirty="0" err="1">
                          <a:solidFill>
                            <a:schemeClr val="tx1"/>
                          </a:solidFill>
                          <a:effectLst/>
                          <a:latin typeface="+mn-lt"/>
                          <a:ea typeface="+mn-ea"/>
                          <a:cs typeface="+mn-cs"/>
                        </a:rPr>
                        <a:t>심결이</a:t>
                      </a:r>
                      <a:r>
                        <a:rPr lang="ko-KR" altLang="en-US" sz="1100" kern="1200" dirty="0">
                          <a:solidFill>
                            <a:schemeClr val="tx1"/>
                          </a:solidFill>
                          <a:effectLst/>
                          <a:latin typeface="+mn-lt"/>
                          <a:ea typeface="+mn-ea"/>
                          <a:cs typeface="+mn-cs"/>
                        </a:rPr>
                        <a:t> 있는 경우 특허심판원장은 그 내용을 지식재산처장에게 알려야 한다</a:t>
                      </a:r>
                      <a:r>
                        <a:rPr lang="en-US" altLang="ko-KR" sz="1100" kern="1200" dirty="0">
                          <a:solidFill>
                            <a:schemeClr val="tx1"/>
                          </a:solidFill>
                          <a:effectLst/>
                          <a:latin typeface="+mn-lt"/>
                          <a:ea typeface="+mn-ea"/>
                          <a:cs typeface="+mn-cs"/>
                        </a:rPr>
                        <a:t>. </a:t>
                      </a:r>
                      <a:endParaRPr lang="ko-KR" altLang="en-US" sz="1100" kern="1200" dirty="0">
                        <a:solidFill>
                          <a:schemeClr val="tx1"/>
                        </a:solidFill>
                        <a:effectLst/>
                        <a:latin typeface="+mn-lt"/>
                        <a:ea typeface="+mn-ea"/>
                        <a:cs typeface="+mn-cs"/>
                      </a:endParaRPr>
                    </a:p>
                    <a:p>
                      <a:pPr fontAlgn="base" latinLnBrk="1"/>
                      <a:r>
                        <a:rPr lang="ko-KR" altLang="en-US" sz="1100" kern="1200" dirty="0">
                          <a:solidFill>
                            <a:schemeClr val="tx1"/>
                          </a:solidFill>
                          <a:effectLst/>
                          <a:latin typeface="+mn-lt"/>
                          <a:ea typeface="+mn-ea"/>
                          <a:cs typeface="+mn-cs"/>
                        </a:rPr>
                        <a:t>⑬ 지식재산처장은 제</a:t>
                      </a:r>
                      <a:r>
                        <a:rPr lang="en-US" altLang="ko-KR" sz="1100" kern="1200" dirty="0">
                          <a:solidFill>
                            <a:schemeClr val="tx1"/>
                          </a:solidFill>
                          <a:effectLst/>
                          <a:latin typeface="+mn-lt"/>
                          <a:ea typeface="+mn-ea"/>
                          <a:cs typeface="+mn-cs"/>
                        </a:rPr>
                        <a:t>12</a:t>
                      </a:r>
                      <a:r>
                        <a:rPr lang="ko-KR" altLang="en-US" sz="1100" kern="1200" dirty="0">
                          <a:solidFill>
                            <a:schemeClr val="tx1"/>
                          </a:solidFill>
                          <a:effectLst/>
                          <a:latin typeface="+mn-lt"/>
                          <a:ea typeface="+mn-ea"/>
                          <a:cs typeface="+mn-cs"/>
                        </a:rPr>
                        <a:t>항에 따른 통보가 있으면 이를 특허공보에 게재하여야 한다</a:t>
                      </a:r>
                      <a:r>
                        <a:rPr lang="en-US" altLang="ko-KR" sz="1100" kern="1200" dirty="0">
                          <a:solidFill>
                            <a:schemeClr val="tx1"/>
                          </a:solidFill>
                          <a:effectLst/>
                          <a:latin typeface="+mn-lt"/>
                          <a:ea typeface="+mn-ea"/>
                          <a:cs typeface="+mn-cs"/>
                        </a:rPr>
                        <a:t>. </a:t>
                      </a:r>
                      <a:endParaRPr lang="ko-KR" altLang="en-US" sz="1100" kern="1200" dirty="0">
                        <a:solidFill>
                          <a:schemeClr val="tx1"/>
                        </a:solidFill>
                        <a:effectLst/>
                        <a:latin typeface="+mn-lt"/>
                        <a:ea typeface="+mn-ea"/>
                        <a:cs typeface="+mn-cs"/>
                      </a:endParaRPr>
                    </a:p>
                  </a:txBody>
                  <a:tcPr/>
                </a:tc>
                <a:tc>
                  <a:txBody>
                    <a:bodyPr/>
                    <a:lstStyle/>
                    <a:p>
                      <a:pPr fontAlgn="base" latinLnBrk="0"/>
                      <a:r>
                        <a:rPr lang="ko-KR" altLang="en-US" sz="1100" kern="1200" dirty="0">
                          <a:solidFill>
                            <a:schemeClr val="tx1"/>
                          </a:solidFill>
                          <a:effectLst/>
                          <a:latin typeface="+mn-lt"/>
                          <a:ea typeface="+mn-ea"/>
                          <a:cs typeface="+mn-cs"/>
                        </a:rPr>
                        <a:t>제</a:t>
                      </a:r>
                      <a:r>
                        <a:rPr lang="en-US" altLang="ko-KR" sz="1100" kern="1200" dirty="0">
                          <a:solidFill>
                            <a:schemeClr val="tx1"/>
                          </a:solidFill>
                          <a:effectLst/>
                          <a:latin typeface="+mn-lt"/>
                          <a:ea typeface="+mn-ea"/>
                          <a:cs typeface="+mn-cs"/>
                        </a:rPr>
                        <a:t>133</a:t>
                      </a:r>
                      <a:r>
                        <a:rPr lang="ko-KR" altLang="en-US" sz="1100" kern="1200" dirty="0">
                          <a:solidFill>
                            <a:schemeClr val="tx1"/>
                          </a:solidFill>
                          <a:effectLst/>
                          <a:latin typeface="+mn-lt"/>
                          <a:ea typeface="+mn-ea"/>
                          <a:cs typeface="+mn-cs"/>
                        </a:rPr>
                        <a:t>조의</a:t>
                      </a:r>
                      <a:r>
                        <a:rPr lang="en-US" altLang="ko-KR" sz="1100" kern="1200" dirty="0">
                          <a:solidFill>
                            <a:schemeClr val="tx1"/>
                          </a:solidFill>
                          <a:effectLst/>
                          <a:latin typeface="+mn-lt"/>
                          <a:ea typeface="+mn-ea"/>
                          <a:cs typeface="+mn-cs"/>
                        </a:rPr>
                        <a:t>2【</a:t>
                      </a:r>
                      <a:r>
                        <a:rPr lang="ko-KR" altLang="en-US" sz="1100" kern="1200" dirty="0">
                          <a:solidFill>
                            <a:schemeClr val="tx1"/>
                          </a:solidFill>
                          <a:effectLst/>
                          <a:latin typeface="+mn-lt"/>
                          <a:ea typeface="+mn-ea"/>
                          <a:cs typeface="+mn-cs"/>
                        </a:rPr>
                        <a:t>특허무효심판절차에서의 특허의 정정</a:t>
                      </a:r>
                      <a:r>
                        <a:rPr lang="en-US" altLang="ko-KR" sz="1100" kern="1200" dirty="0">
                          <a:solidFill>
                            <a:schemeClr val="tx1"/>
                          </a:solidFill>
                          <a:effectLst/>
                          <a:latin typeface="+mn-lt"/>
                          <a:ea typeface="+mn-ea"/>
                          <a:cs typeface="+mn-cs"/>
                        </a:rPr>
                        <a:t>】</a:t>
                      </a:r>
                      <a:endParaRPr lang="ko-KR" altLang="en-US" sz="1100" kern="1200" dirty="0">
                        <a:solidFill>
                          <a:schemeClr val="tx1"/>
                        </a:solidFill>
                        <a:effectLst/>
                        <a:latin typeface="+mn-lt"/>
                        <a:ea typeface="+mn-ea"/>
                        <a:cs typeface="+mn-cs"/>
                      </a:endParaRPr>
                    </a:p>
                    <a:p>
                      <a:pPr fontAlgn="base" latinLnBrk="1"/>
                      <a:r>
                        <a:rPr lang="ko-KR" altLang="en-US" sz="1100" kern="1200" dirty="0">
                          <a:solidFill>
                            <a:schemeClr val="tx1"/>
                          </a:solidFill>
                          <a:effectLst/>
                          <a:latin typeface="+mn-lt"/>
                          <a:ea typeface="+mn-ea"/>
                          <a:cs typeface="+mn-cs"/>
                        </a:rPr>
                        <a:t>① 제</a:t>
                      </a:r>
                      <a:r>
                        <a:rPr lang="en-US" altLang="ko-KR" sz="1100" kern="1200" dirty="0">
                          <a:solidFill>
                            <a:schemeClr val="tx1"/>
                          </a:solidFill>
                          <a:effectLst/>
                          <a:latin typeface="+mn-lt"/>
                          <a:ea typeface="+mn-ea"/>
                          <a:cs typeface="+mn-cs"/>
                        </a:rPr>
                        <a:t>133</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심판의 피청구인은 제</a:t>
                      </a:r>
                      <a:r>
                        <a:rPr lang="en-US" altLang="ko-KR" sz="1100" kern="1200" dirty="0">
                          <a:solidFill>
                            <a:schemeClr val="tx1"/>
                          </a:solidFill>
                          <a:effectLst/>
                          <a:latin typeface="+mn-lt"/>
                          <a:ea typeface="+mn-ea"/>
                          <a:cs typeface="+mn-cs"/>
                        </a:rPr>
                        <a:t>136</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 각 호의 어느 하나에 해당하는 경우에만 제</a:t>
                      </a:r>
                      <a:r>
                        <a:rPr lang="en-US" altLang="ko-KR" sz="1100" kern="1200" dirty="0">
                          <a:solidFill>
                            <a:schemeClr val="tx1"/>
                          </a:solidFill>
                          <a:effectLst/>
                          <a:latin typeface="+mn-lt"/>
                          <a:ea typeface="+mn-ea"/>
                          <a:cs typeface="+mn-cs"/>
                        </a:rPr>
                        <a:t>147</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 또는 제</a:t>
                      </a:r>
                      <a:r>
                        <a:rPr lang="en-US" altLang="ko-KR" sz="1100" kern="1200" dirty="0">
                          <a:solidFill>
                            <a:schemeClr val="tx1"/>
                          </a:solidFill>
                          <a:effectLst/>
                          <a:latin typeface="+mn-lt"/>
                          <a:ea typeface="+mn-ea"/>
                          <a:cs typeface="+mn-cs"/>
                        </a:rPr>
                        <a:t>159</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 후단에 따라 지정된 기간에 특허발명의 명세서 또는 도면에 대하여 정정청구를 할 수 있다</a:t>
                      </a:r>
                      <a:r>
                        <a:rPr lang="en-US" altLang="ko-KR" sz="1100" kern="1200" dirty="0">
                          <a:solidFill>
                            <a:schemeClr val="tx1"/>
                          </a:solidFill>
                          <a:effectLst/>
                          <a:latin typeface="+mn-lt"/>
                          <a:ea typeface="+mn-ea"/>
                          <a:cs typeface="+mn-cs"/>
                        </a:rPr>
                        <a:t>. </a:t>
                      </a:r>
                      <a:r>
                        <a:rPr lang="ko-KR" altLang="en-US" sz="1100" kern="1200" dirty="0">
                          <a:solidFill>
                            <a:schemeClr val="tx1"/>
                          </a:solidFill>
                          <a:effectLst/>
                          <a:latin typeface="+mn-lt"/>
                          <a:ea typeface="+mn-ea"/>
                          <a:cs typeface="+mn-cs"/>
                        </a:rPr>
                        <a:t>이 경우 심판장이 제</a:t>
                      </a:r>
                      <a:r>
                        <a:rPr lang="en-US" altLang="ko-KR" sz="1100" kern="1200" dirty="0">
                          <a:solidFill>
                            <a:schemeClr val="tx1"/>
                          </a:solidFill>
                          <a:effectLst/>
                          <a:latin typeface="+mn-lt"/>
                          <a:ea typeface="+mn-ea"/>
                          <a:cs typeface="+mn-cs"/>
                        </a:rPr>
                        <a:t>147</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따라 지정된 기간 후에도 청구인이 증거를 제출하거나 새로운 무효사유를 주장함으로 인하여 정정청구를 허용할 필요가 있다고 인정하는 경우에는 기간을 정하여 정정청구를 하게 할 수 있다</a:t>
                      </a:r>
                      <a:r>
                        <a:rPr lang="en-US" altLang="ko-KR" sz="1100" kern="1200" dirty="0">
                          <a:solidFill>
                            <a:schemeClr val="tx1"/>
                          </a:solidFill>
                          <a:effectLst/>
                          <a:latin typeface="+mn-lt"/>
                          <a:ea typeface="+mn-ea"/>
                          <a:cs typeface="+mn-cs"/>
                        </a:rPr>
                        <a:t>. </a:t>
                      </a:r>
                    </a:p>
                    <a:p>
                      <a:pPr fontAlgn="base" latinLnBrk="1"/>
                      <a:r>
                        <a:rPr lang="ko-KR" altLang="en-US" sz="1100" kern="1200" dirty="0">
                          <a:solidFill>
                            <a:schemeClr val="tx1"/>
                          </a:solidFill>
                          <a:effectLst/>
                          <a:latin typeface="+mn-lt"/>
                          <a:ea typeface="+mn-ea"/>
                          <a:cs typeface="+mn-cs"/>
                        </a:rPr>
                        <a:t>② 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정정청구를 하였을 때에는 해당 무효심판절차에서 그 </a:t>
                      </a:r>
                      <a:r>
                        <a:rPr lang="ko-KR" altLang="en-US" sz="1100" kern="1200" dirty="0" err="1">
                          <a:solidFill>
                            <a:schemeClr val="tx1"/>
                          </a:solidFill>
                          <a:effectLst/>
                          <a:latin typeface="+mn-lt"/>
                          <a:ea typeface="+mn-ea"/>
                          <a:cs typeface="+mn-cs"/>
                        </a:rPr>
                        <a:t>정정청구</a:t>
                      </a:r>
                      <a:r>
                        <a:rPr lang="ko-KR" altLang="en-US" sz="1100" kern="1200" dirty="0">
                          <a:solidFill>
                            <a:schemeClr val="tx1"/>
                          </a:solidFill>
                          <a:effectLst/>
                          <a:latin typeface="+mn-lt"/>
                          <a:ea typeface="+mn-ea"/>
                          <a:cs typeface="+mn-cs"/>
                        </a:rPr>
                        <a:t> 전에 한 </a:t>
                      </a:r>
                      <a:r>
                        <a:rPr lang="ko-KR" altLang="en-US" sz="1100" kern="1200" dirty="0" err="1">
                          <a:solidFill>
                            <a:schemeClr val="tx1"/>
                          </a:solidFill>
                          <a:effectLst/>
                          <a:latin typeface="+mn-lt"/>
                          <a:ea typeface="+mn-ea"/>
                          <a:cs typeface="+mn-cs"/>
                        </a:rPr>
                        <a:t>정정청구는</a:t>
                      </a:r>
                      <a:r>
                        <a:rPr lang="ko-KR" altLang="en-US" sz="1100" kern="1200" dirty="0">
                          <a:solidFill>
                            <a:schemeClr val="tx1"/>
                          </a:solidFill>
                          <a:effectLst/>
                          <a:latin typeface="+mn-lt"/>
                          <a:ea typeface="+mn-ea"/>
                          <a:cs typeface="+mn-cs"/>
                        </a:rPr>
                        <a:t> 취하된 것으로 본다</a:t>
                      </a:r>
                      <a:r>
                        <a:rPr lang="en-US" altLang="ko-KR" sz="1100" kern="1200" dirty="0">
                          <a:solidFill>
                            <a:schemeClr val="tx1"/>
                          </a:solidFill>
                          <a:effectLst/>
                          <a:latin typeface="+mn-lt"/>
                          <a:ea typeface="+mn-ea"/>
                          <a:cs typeface="+mn-cs"/>
                        </a:rPr>
                        <a:t>.</a:t>
                      </a:r>
                      <a:endParaRPr lang="ko-KR" altLang="en-US" sz="1100" kern="1200" dirty="0">
                        <a:solidFill>
                          <a:schemeClr val="tx1"/>
                        </a:solidFill>
                        <a:effectLst/>
                        <a:latin typeface="+mn-lt"/>
                        <a:ea typeface="+mn-ea"/>
                        <a:cs typeface="+mn-cs"/>
                      </a:endParaRPr>
                    </a:p>
                    <a:p>
                      <a:pPr fontAlgn="base" latinLnBrk="1"/>
                      <a:r>
                        <a:rPr lang="ko-KR" altLang="en-US" sz="1100" kern="1200" dirty="0">
                          <a:solidFill>
                            <a:schemeClr val="tx1"/>
                          </a:solidFill>
                          <a:effectLst/>
                          <a:latin typeface="+mn-lt"/>
                          <a:ea typeface="+mn-ea"/>
                          <a:cs typeface="+mn-cs"/>
                        </a:rPr>
                        <a:t>③ 심판장은 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a:t>
                      </a:r>
                      <a:r>
                        <a:rPr lang="ko-KR" altLang="en-US" sz="1100" kern="1200" dirty="0" err="1">
                          <a:solidFill>
                            <a:schemeClr val="tx1"/>
                          </a:solidFill>
                          <a:effectLst/>
                          <a:latin typeface="+mn-lt"/>
                          <a:ea typeface="+mn-ea"/>
                          <a:cs typeface="+mn-cs"/>
                        </a:rPr>
                        <a:t>정정청구가</a:t>
                      </a:r>
                      <a:r>
                        <a:rPr lang="ko-KR" altLang="en-US" sz="1100" kern="1200" dirty="0">
                          <a:solidFill>
                            <a:schemeClr val="tx1"/>
                          </a:solidFill>
                          <a:effectLst/>
                          <a:latin typeface="+mn-lt"/>
                          <a:ea typeface="+mn-ea"/>
                          <a:cs typeface="+mn-cs"/>
                        </a:rPr>
                        <a:t> 있을 때에는 그 청구서의 부본을 제</a:t>
                      </a:r>
                      <a:r>
                        <a:rPr lang="en-US" altLang="ko-KR" sz="1100" kern="1200" dirty="0">
                          <a:solidFill>
                            <a:schemeClr val="tx1"/>
                          </a:solidFill>
                          <a:effectLst/>
                          <a:latin typeface="+mn-lt"/>
                          <a:ea typeface="+mn-ea"/>
                          <a:cs typeface="+mn-cs"/>
                        </a:rPr>
                        <a:t>133</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심판의 청구인에게 송달하여야 한다</a:t>
                      </a:r>
                      <a:r>
                        <a:rPr lang="en-US" altLang="ko-KR" sz="1100" kern="1200" dirty="0">
                          <a:solidFill>
                            <a:schemeClr val="tx1"/>
                          </a:solidFill>
                          <a:effectLst/>
                          <a:latin typeface="+mn-lt"/>
                          <a:ea typeface="+mn-ea"/>
                          <a:cs typeface="+mn-cs"/>
                        </a:rPr>
                        <a:t>.</a:t>
                      </a:r>
                      <a:endParaRPr lang="ko-KR" altLang="en-US" sz="1100" kern="1200" dirty="0">
                        <a:solidFill>
                          <a:schemeClr val="tx1"/>
                        </a:solidFill>
                        <a:effectLst/>
                        <a:latin typeface="+mn-lt"/>
                        <a:ea typeface="+mn-ea"/>
                        <a:cs typeface="+mn-cs"/>
                      </a:endParaRPr>
                    </a:p>
                    <a:p>
                      <a:pPr fontAlgn="base" latinLnBrk="1"/>
                      <a:r>
                        <a:rPr lang="ko-KR" altLang="en-US" sz="1100" kern="1200" dirty="0">
                          <a:solidFill>
                            <a:srgbClr val="FF0000"/>
                          </a:solidFill>
                          <a:effectLst/>
                          <a:latin typeface="+mn-lt"/>
                          <a:ea typeface="+mn-ea"/>
                          <a:cs typeface="+mn-cs"/>
                        </a:rPr>
                        <a:t>④ 제</a:t>
                      </a:r>
                      <a:r>
                        <a:rPr lang="en-US" altLang="ko-KR" sz="1100" kern="1200" dirty="0">
                          <a:solidFill>
                            <a:srgbClr val="FF0000"/>
                          </a:solidFill>
                          <a:effectLst/>
                          <a:latin typeface="+mn-lt"/>
                          <a:ea typeface="+mn-ea"/>
                          <a:cs typeface="+mn-cs"/>
                        </a:rPr>
                        <a:t>1</a:t>
                      </a:r>
                      <a:r>
                        <a:rPr lang="ko-KR" altLang="en-US" sz="1100" kern="1200" dirty="0">
                          <a:solidFill>
                            <a:srgbClr val="FF0000"/>
                          </a:solidFill>
                          <a:effectLst/>
                          <a:latin typeface="+mn-lt"/>
                          <a:ea typeface="+mn-ea"/>
                          <a:cs typeface="+mn-cs"/>
                        </a:rPr>
                        <a:t>항에 따른 </a:t>
                      </a:r>
                      <a:r>
                        <a:rPr lang="ko-KR" altLang="en-US" sz="1100" kern="1200" dirty="0" err="1">
                          <a:solidFill>
                            <a:srgbClr val="FF0000"/>
                          </a:solidFill>
                          <a:effectLst/>
                          <a:latin typeface="+mn-lt"/>
                          <a:ea typeface="+mn-ea"/>
                          <a:cs typeface="+mn-cs"/>
                        </a:rPr>
                        <a:t>정정청구에</a:t>
                      </a:r>
                      <a:r>
                        <a:rPr lang="ko-KR" altLang="en-US" sz="1100" kern="1200" dirty="0">
                          <a:solidFill>
                            <a:srgbClr val="FF0000"/>
                          </a:solidFill>
                          <a:effectLst/>
                          <a:latin typeface="+mn-lt"/>
                          <a:ea typeface="+mn-ea"/>
                          <a:cs typeface="+mn-cs"/>
                        </a:rPr>
                        <a:t> 관하여는 제</a:t>
                      </a:r>
                      <a:r>
                        <a:rPr lang="en-US" altLang="ko-KR" sz="1100" kern="1200" dirty="0">
                          <a:solidFill>
                            <a:srgbClr val="FF0000"/>
                          </a:solidFill>
                          <a:effectLst/>
                          <a:latin typeface="+mn-lt"/>
                          <a:ea typeface="+mn-ea"/>
                          <a:cs typeface="+mn-cs"/>
                        </a:rPr>
                        <a:t>136</a:t>
                      </a:r>
                      <a:r>
                        <a:rPr lang="ko-KR" altLang="en-US" sz="1100" kern="1200" dirty="0">
                          <a:solidFill>
                            <a:srgbClr val="FF0000"/>
                          </a:solidFill>
                          <a:effectLst/>
                          <a:latin typeface="+mn-lt"/>
                          <a:ea typeface="+mn-ea"/>
                          <a:cs typeface="+mn-cs"/>
                        </a:rPr>
                        <a:t>조제</a:t>
                      </a:r>
                      <a:r>
                        <a:rPr lang="en-US" altLang="ko-KR" sz="1100" kern="1200" dirty="0">
                          <a:solidFill>
                            <a:srgbClr val="FF0000"/>
                          </a:solidFill>
                          <a:effectLst/>
                          <a:latin typeface="+mn-lt"/>
                          <a:ea typeface="+mn-ea"/>
                          <a:cs typeface="+mn-cs"/>
                        </a:rPr>
                        <a:t>3</a:t>
                      </a:r>
                      <a:r>
                        <a:rPr lang="ko-KR" altLang="en-US" sz="1100" kern="1200" dirty="0">
                          <a:solidFill>
                            <a:srgbClr val="FF0000"/>
                          </a:solidFill>
                          <a:effectLst/>
                          <a:latin typeface="+mn-lt"/>
                          <a:ea typeface="+mn-ea"/>
                          <a:cs typeface="+mn-cs"/>
                        </a:rPr>
                        <a:t>항부터 제</a:t>
                      </a:r>
                      <a:r>
                        <a:rPr lang="en-US" altLang="ko-KR" sz="1100" kern="1200" dirty="0">
                          <a:solidFill>
                            <a:srgbClr val="FF0000"/>
                          </a:solidFill>
                          <a:effectLst/>
                          <a:latin typeface="+mn-lt"/>
                          <a:ea typeface="+mn-ea"/>
                          <a:cs typeface="+mn-cs"/>
                        </a:rPr>
                        <a:t>6</a:t>
                      </a:r>
                      <a:r>
                        <a:rPr lang="ko-KR" altLang="en-US" sz="1100" kern="1200" dirty="0">
                          <a:solidFill>
                            <a:srgbClr val="FF0000"/>
                          </a:solidFill>
                          <a:effectLst/>
                          <a:latin typeface="+mn-lt"/>
                          <a:ea typeface="+mn-ea"/>
                          <a:cs typeface="+mn-cs"/>
                        </a:rPr>
                        <a:t>항까지</a:t>
                      </a:r>
                      <a:r>
                        <a:rPr lang="en-US" altLang="ko-KR" sz="1100" kern="1200" dirty="0">
                          <a:solidFill>
                            <a:srgbClr val="FF0000"/>
                          </a:solidFill>
                          <a:effectLst/>
                          <a:latin typeface="+mn-lt"/>
                          <a:ea typeface="+mn-ea"/>
                          <a:cs typeface="+mn-cs"/>
                        </a:rPr>
                        <a:t>, </a:t>
                      </a:r>
                      <a:r>
                        <a:rPr lang="ko-KR" altLang="en-US" sz="1100" kern="1200" dirty="0">
                          <a:solidFill>
                            <a:srgbClr val="FF0000"/>
                          </a:solidFill>
                          <a:effectLst/>
                          <a:latin typeface="+mn-lt"/>
                          <a:ea typeface="+mn-ea"/>
                          <a:cs typeface="+mn-cs"/>
                        </a:rPr>
                        <a:t>제</a:t>
                      </a:r>
                      <a:r>
                        <a:rPr lang="en-US" altLang="ko-KR" sz="1100" kern="1200" dirty="0">
                          <a:solidFill>
                            <a:srgbClr val="FF0000"/>
                          </a:solidFill>
                          <a:effectLst/>
                          <a:latin typeface="+mn-lt"/>
                          <a:ea typeface="+mn-ea"/>
                          <a:cs typeface="+mn-cs"/>
                        </a:rPr>
                        <a:t>8</a:t>
                      </a:r>
                      <a:r>
                        <a:rPr lang="ko-KR" altLang="en-US" sz="1100" kern="1200" dirty="0">
                          <a:solidFill>
                            <a:srgbClr val="FF0000"/>
                          </a:solidFill>
                          <a:effectLst/>
                          <a:latin typeface="+mn-lt"/>
                          <a:ea typeface="+mn-ea"/>
                          <a:cs typeface="+mn-cs"/>
                        </a:rPr>
                        <a:t>항 및 제</a:t>
                      </a:r>
                      <a:r>
                        <a:rPr lang="en-US" altLang="ko-KR" sz="1100" kern="1200" dirty="0">
                          <a:solidFill>
                            <a:srgbClr val="FF0000"/>
                          </a:solidFill>
                          <a:effectLst/>
                          <a:latin typeface="+mn-lt"/>
                          <a:ea typeface="+mn-ea"/>
                          <a:cs typeface="+mn-cs"/>
                        </a:rPr>
                        <a:t>10</a:t>
                      </a:r>
                      <a:r>
                        <a:rPr lang="ko-KR" altLang="en-US" sz="1100" kern="1200" dirty="0">
                          <a:solidFill>
                            <a:srgbClr val="FF0000"/>
                          </a:solidFill>
                          <a:effectLst/>
                          <a:latin typeface="+mn-lt"/>
                          <a:ea typeface="+mn-ea"/>
                          <a:cs typeface="+mn-cs"/>
                        </a:rPr>
                        <a:t>항부터 제</a:t>
                      </a:r>
                      <a:r>
                        <a:rPr lang="en-US" altLang="ko-KR" sz="1100" kern="1200" dirty="0">
                          <a:solidFill>
                            <a:srgbClr val="FF0000"/>
                          </a:solidFill>
                          <a:effectLst/>
                          <a:latin typeface="+mn-lt"/>
                          <a:ea typeface="+mn-ea"/>
                          <a:cs typeface="+mn-cs"/>
                        </a:rPr>
                        <a:t>13</a:t>
                      </a:r>
                      <a:r>
                        <a:rPr lang="ko-KR" altLang="en-US" sz="1100" kern="1200" dirty="0">
                          <a:solidFill>
                            <a:srgbClr val="FF0000"/>
                          </a:solidFill>
                          <a:effectLst/>
                          <a:latin typeface="+mn-lt"/>
                          <a:ea typeface="+mn-ea"/>
                          <a:cs typeface="+mn-cs"/>
                        </a:rPr>
                        <a:t>항까지</a:t>
                      </a:r>
                      <a:r>
                        <a:rPr lang="en-US" altLang="ko-KR" sz="1100" kern="1200" dirty="0">
                          <a:solidFill>
                            <a:srgbClr val="FF0000"/>
                          </a:solidFill>
                          <a:effectLst/>
                          <a:latin typeface="+mn-lt"/>
                          <a:ea typeface="+mn-ea"/>
                          <a:cs typeface="+mn-cs"/>
                        </a:rPr>
                        <a:t>, </a:t>
                      </a:r>
                      <a:r>
                        <a:rPr lang="ko-KR" altLang="en-US" sz="1100" kern="1200" dirty="0">
                          <a:solidFill>
                            <a:srgbClr val="FF0000"/>
                          </a:solidFill>
                          <a:effectLst/>
                          <a:latin typeface="+mn-lt"/>
                          <a:ea typeface="+mn-ea"/>
                          <a:cs typeface="+mn-cs"/>
                        </a:rPr>
                        <a:t>제</a:t>
                      </a:r>
                      <a:r>
                        <a:rPr lang="en-US" altLang="ko-KR" sz="1100" kern="1200" dirty="0">
                          <a:solidFill>
                            <a:srgbClr val="FF0000"/>
                          </a:solidFill>
                          <a:effectLst/>
                          <a:latin typeface="+mn-lt"/>
                          <a:ea typeface="+mn-ea"/>
                          <a:cs typeface="+mn-cs"/>
                        </a:rPr>
                        <a:t>139</a:t>
                      </a:r>
                      <a:r>
                        <a:rPr lang="ko-KR" altLang="en-US" sz="1100" kern="1200" dirty="0">
                          <a:solidFill>
                            <a:srgbClr val="FF0000"/>
                          </a:solidFill>
                          <a:effectLst/>
                          <a:latin typeface="+mn-lt"/>
                          <a:ea typeface="+mn-ea"/>
                          <a:cs typeface="+mn-cs"/>
                        </a:rPr>
                        <a:t>조제</a:t>
                      </a:r>
                      <a:r>
                        <a:rPr lang="en-US" altLang="ko-KR" sz="1100" kern="1200" dirty="0">
                          <a:solidFill>
                            <a:srgbClr val="FF0000"/>
                          </a:solidFill>
                          <a:effectLst/>
                          <a:latin typeface="+mn-lt"/>
                          <a:ea typeface="+mn-ea"/>
                          <a:cs typeface="+mn-cs"/>
                        </a:rPr>
                        <a:t>3</a:t>
                      </a:r>
                      <a:r>
                        <a:rPr lang="ko-KR" altLang="en-US" sz="1100" kern="1200" dirty="0">
                          <a:solidFill>
                            <a:srgbClr val="FF0000"/>
                          </a:solidFill>
                          <a:effectLst/>
                          <a:latin typeface="+mn-lt"/>
                          <a:ea typeface="+mn-ea"/>
                          <a:cs typeface="+mn-cs"/>
                        </a:rPr>
                        <a:t>항 및 제</a:t>
                      </a:r>
                      <a:r>
                        <a:rPr lang="en-US" altLang="ko-KR" sz="1100" kern="1200" dirty="0">
                          <a:solidFill>
                            <a:srgbClr val="FF0000"/>
                          </a:solidFill>
                          <a:effectLst/>
                          <a:latin typeface="+mn-lt"/>
                          <a:ea typeface="+mn-ea"/>
                          <a:cs typeface="+mn-cs"/>
                        </a:rPr>
                        <a:t>140</a:t>
                      </a:r>
                      <a:r>
                        <a:rPr lang="ko-KR" altLang="en-US" sz="1100" kern="1200" dirty="0">
                          <a:solidFill>
                            <a:srgbClr val="FF0000"/>
                          </a:solidFill>
                          <a:effectLst/>
                          <a:latin typeface="+mn-lt"/>
                          <a:ea typeface="+mn-ea"/>
                          <a:cs typeface="+mn-cs"/>
                        </a:rPr>
                        <a:t>조제</a:t>
                      </a:r>
                      <a:r>
                        <a:rPr lang="en-US" altLang="ko-KR" sz="1100" kern="1200" dirty="0">
                          <a:solidFill>
                            <a:srgbClr val="FF0000"/>
                          </a:solidFill>
                          <a:effectLst/>
                          <a:latin typeface="+mn-lt"/>
                          <a:ea typeface="+mn-ea"/>
                          <a:cs typeface="+mn-cs"/>
                        </a:rPr>
                        <a:t>1</a:t>
                      </a:r>
                      <a:r>
                        <a:rPr lang="ko-KR" altLang="en-US" sz="1100" kern="1200" dirty="0">
                          <a:solidFill>
                            <a:srgbClr val="FF0000"/>
                          </a:solidFill>
                          <a:effectLst/>
                          <a:latin typeface="+mn-lt"/>
                          <a:ea typeface="+mn-ea"/>
                          <a:cs typeface="+mn-cs"/>
                        </a:rPr>
                        <a:t>항</a:t>
                      </a:r>
                      <a:r>
                        <a:rPr lang="en-US" altLang="ko-KR" sz="1100" kern="1200" dirty="0">
                          <a:solidFill>
                            <a:srgbClr val="FF0000"/>
                          </a:solidFill>
                          <a:effectLst/>
                          <a:latin typeface="+mn-lt"/>
                          <a:ea typeface="+mn-ea"/>
                          <a:cs typeface="+mn-cs"/>
                        </a:rPr>
                        <a:t>·</a:t>
                      </a:r>
                      <a:r>
                        <a:rPr lang="ko-KR" altLang="en-US" sz="1100" kern="1200" dirty="0">
                          <a:solidFill>
                            <a:srgbClr val="FF0000"/>
                          </a:solidFill>
                          <a:effectLst/>
                          <a:latin typeface="+mn-lt"/>
                          <a:ea typeface="+mn-ea"/>
                          <a:cs typeface="+mn-cs"/>
                        </a:rPr>
                        <a:t>제</a:t>
                      </a:r>
                      <a:r>
                        <a:rPr lang="en-US" altLang="ko-KR" sz="1100" kern="1200" dirty="0">
                          <a:solidFill>
                            <a:srgbClr val="FF0000"/>
                          </a:solidFill>
                          <a:effectLst/>
                          <a:latin typeface="+mn-lt"/>
                          <a:ea typeface="+mn-ea"/>
                          <a:cs typeface="+mn-cs"/>
                        </a:rPr>
                        <a:t>2</a:t>
                      </a:r>
                      <a:r>
                        <a:rPr lang="ko-KR" altLang="en-US" sz="1100" kern="1200" dirty="0">
                          <a:solidFill>
                            <a:srgbClr val="FF0000"/>
                          </a:solidFill>
                          <a:effectLst/>
                          <a:latin typeface="+mn-lt"/>
                          <a:ea typeface="+mn-ea"/>
                          <a:cs typeface="+mn-cs"/>
                        </a:rPr>
                        <a:t>항</a:t>
                      </a:r>
                      <a:r>
                        <a:rPr lang="en-US" altLang="ko-KR" sz="1100" kern="1200" dirty="0">
                          <a:solidFill>
                            <a:srgbClr val="FF0000"/>
                          </a:solidFill>
                          <a:effectLst/>
                          <a:latin typeface="+mn-lt"/>
                          <a:ea typeface="+mn-ea"/>
                          <a:cs typeface="+mn-cs"/>
                        </a:rPr>
                        <a:t>·</a:t>
                      </a:r>
                      <a:r>
                        <a:rPr lang="ko-KR" altLang="en-US" sz="1100" kern="1200" dirty="0">
                          <a:solidFill>
                            <a:srgbClr val="FF0000"/>
                          </a:solidFill>
                          <a:effectLst/>
                          <a:latin typeface="+mn-lt"/>
                          <a:ea typeface="+mn-ea"/>
                          <a:cs typeface="+mn-cs"/>
                        </a:rPr>
                        <a:t>제</a:t>
                      </a:r>
                      <a:r>
                        <a:rPr lang="en-US" altLang="ko-KR" sz="1100" kern="1200" dirty="0">
                          <a:solidFill>
                            <a:srgbClr val="FF0000"/>
                          </a:solidFill>
                          <a:effectLst/>
                          <a:latin typeface="+mn-lt"/>
                          <a:ea typeface="+mn-ea"/>
                          <a:cs typeface="+mn-cs"/>
                        </a:rPr>
                        <a:t>5</a:t>
                      </a:r>
                      <a:r>
                        <a:rPr lang="ko-KR" altLang="en-US" sz="1100" kern="1200" dirty="0">
                          <a:solidFill>
                            <a:srgbClr val="FF0000"/>
                          </a:solidFill>
                          <a:effectLst/>
                          <a:latin typeface="+mn-lt"/>
                          <a:ea typeface="+mn-ea"/>
                          <a:cs typeface="+mn-cs"/>
                        </a:rPr>
                        <a:t>항을 준용한다</a:t>
                      </a:r>
                      <a:r>
                        <a:rPr lang="en-US" altLang="ko-KR" sz="1100" kern="1200" dirty="0">
                          <a:solidFill>
                            <a:srgbClr val="FF0000"/>
                          </a:solidFill>
                          <a:effectLst/>
                          <a:latin typeface="+mn-lt"/>
                          <a:ea typeface="+mn-ea"/>
                          <a:cs typeface="+mn-cs"/>
                        </a:rPr>
                        <a:t>. </a:t>
                      </a:r>
                      <a:r>
                        <a:rPr lang="ko-KR" altLang="en-US" sz="1100" kern="1200" dirty="0">
                          <a:solidFill>
                            <a:srgbClr val="FF0000"/>
                          </a:solidFill>
                          <a:effectLst/>
                          <a:latin typeface="+mn-lt"/>
                          <a:ea typeface="+mn-ea"/>
                          <a:cs typeface="+mn-cs"/>
                        </a:rPr>
                        <a:t>이 경우 제</a:t>
                      </a:r>
                      <a:r>
                        <a:rPr lang="en-US" altLang="ko-KR" sz="1100" kern="1200" dirty="0">
                          <a:solidFill>
                            <a:srgbClr val="FF0000"/>
                          </a:solidFill>
                          <a:effectLst/>
                          <a:latin typeface="+mn-lt"/>
                          <a:ea typeface="+mn-ea"/>
                          <a:cs typeface="+mn-cs"/>
                        </a:rPr>
                        <a:t>136</a:t>
                      </a:r>
                      <a:r>
                        <a:rPr lang="ko-KR" altLang="en-US" sz="1100" kern="1200" dirty="0">
                          <a:solidFill>
                            <a:srgbClr val="FF0000"/>
                          </a:solidFill>
                          <a:effectLst/>
                          <a:latin typeface="+mn-lt"/>
                          <a:ea typeface="+mn-ea"/>
                          <a:cs typeface="+mn-cs"/>
                        </a:rPr>
                        <a:t>조제</a:t>
                      </a:r>
                      <a:r>
                        <a:rPr lang="en-US" altLang="ko-KR" sz="1100" kern="1200" dirty="0">
                          <a:solidFill>
                            <a:srgbClr val="FF0000"/>
                          </a:solidFill>
                          <a:effectLst/>
                          <a:latin typeface="+mn-lt"/>
                          <a:ea typeface="+mn-ea"/>
                          <a:cs typeface="+mn-cs"/>
                        </a:rPr>
                        <a:t>11</a:t>
                      </a:r>
                      <a:r>
                        <a:rPr lang="ko-KR" altLang="en-US" sz="1100" kern="1200" dirty="0">
                          <a:solidFill>
                            <a:srgbClr val="FF0000"/>
                          </a:solidFill>
                          <a:effectLst/>
                          <a:latin typeface="+mn-lt"/>
                          <a:ea typeface="+mn-ea"/>
                          <a:cs typeface="+mn-cs"/>
                        </a:rPr>
                        <a:t>항 중 </a:t>
                      </a:r>
                      <a:r>
                        <a:rPr lang="en-US" altLang="ko-KR" sz="1100" kern="1200" dirty="0">
                          <a:solidFill>
                            <a:srgbClr val="FF0000"/>
                          </a:solidFill>
                          <a:effectLst/>
                          <a:latin typeface="+mn-lt"/>
                          <a:ea typeface="+mn-ea"/>
                          <a:cs typeface="+mn-cs"/>
                        </a:rPr>
                        <a:t>"</a:t>
                      </a:r>
                      <a:r>
                        <a:rPr lang="ko-KR" altLang="en-US" sz="1100" kern="1200" dirty="0">
                          <a:solidFill>
                            <a:srgbClr val="FF0000"/>
                          </a:solidFill>
                          <a:effectLst/>
                          <a:latin typeface="+mn-lt"/>
                          <a:ea typeface="+mn-ea"/>
                          <a:cs typeface="+mn-cs"/>
                        </a:rPr>
                        <a:t>제</a:t>
                      </a:r>
                      <a:r>
                        <a:rPr lang="en-US" altLang="ko-KR" sz="1100" kern="1200" dirty="0">
                          <a:solidFill>
                            <a:srgbClr val="FF0000"/>
                          </a:solidFill>
                          <a:effectLst/>
                          <a:latin typeface="+mn-lt"/>
                          <a:ea typeface="+mn-ea"/>
                          <a:cs typeface="+mn-cs"/>
                        </a:rPr>
                        <a:t>162</a:t>
                      </a:r>
                      <a:r>
                        <a:rPr lang="ko-KR" altLang="en-US" sz="1100" kern="1200" dirty="0">
                          <a:solidFill>
                            <a:srgbClr val="FF0000"/>
                          </a:solidFill>
                          <a:effectLst/>
                          <a:latin typeface="+mn-lt"/>
                          <a:ea typeface="+mn-ea"/>
                          <a:cs typeface="+mn-cs"/>
                        </a:rPr>
                        <a:t>조제</a:t>
                      </a:r>
                      <a:r>
                        <a:rPr lang="en-US" altLang="ko-KR" sz="1100" kern="1200" dirty="0">
                          <a:solidFill>
                            <a:srgbClr val="FF0000"/>
                          </a:solidFill>
                          <a:effectLst/>
                          <a:latin typeface="+mn-lt"/>
                          <a:ea typeface="+mn-ea"/>
                          <a:cs typeface="+mn-cs"/>
                        </a:rPr>
                        <a:t>3</a:t>
                      </a:r>
                      <a:r>
                        <a:rPr lang="ko-KR" altLang="en-US" sz="1100" kern="1200" dirty="0">
                          <a:solidFill>
                            <a:srgbClr val="FF0000"/>
                          </a:solidFill>
                          <a:effectLst/>
                          <a:latin typeface="+mn-lt"/>
                          <a:ea typeface="+mn-ea"/>
                          <a:cs typeface="+mn-cs"/>
                        </a:rPr>
                        <a:t>항에 따른 심리의 종결이 통지되기 전</a:t>
                      </a:r>
                      <a:r>
                        <a:rPr lang="en-US" altLang="ko-KR" sz="1100" kern="1200" dirty="0">
                          <a:solidFill>
                            <a:srgbClr val="FF0000"/>
                          </a:solidFill>
                          <a:effectLst/>
                          <a:latin typeface="+mn-lt"/>
                          <a:ea typeface="+mn-ea"/>
                          <a:cs typeface="+mn-cs"/>
                        </a:rPr>
                        <a:t>(</a:t>
                      </a:r>
                      <a:r>
                        <a:rPr lang="ko-KR" altLang="en-US" sz="1100" kern="1200" dirty="0">
                          <a:solidFill>
                            <a:srgbClr val="FF0000"/>
                          </a:solidFill>
                          <a:effectLst/>
                          <a:latin typeface="+mn-lt"/>
                          <a:ea typeface="+mn-ea"/>
                          <a:cs typeface="+mn-cs"/>
                        </a:rPr>
                        <a:t>같은 조 제</a:t>
                      </a:r>
                      <a:r>
                        <a:rPr lang="en-US" altLang="ko-KR" sz="1100" kern="1200" dirty="0">
                          <a:solidFill>
                            <a:srgbClr val="FF0000"/>
                          </a:solidFill>
                          <a:effectLst/>
                          <a:latin typeface="+mn-lt"/>
                          <a:ea typeface="+mn-ea"/>
                          <a:cs typeface="+mn-cs"/>
                        </a:rPr>
                        <a:t>4</a:t>
                      </a:r>
                      <a:r>
                        <a:rPr lang="ko-KR" altLang="en-US" sz="1100" kern="1200" dirty="0">
                          <a:solidFill>
                            <a:srgbClr val="FF0000"/>
                          </a:solidFill>
                          <a:effectLst/>
                          <a:latin typeface="+mn-lt"/>
                          <a:ea typeface="+mn-ea"/>
                          <a:cs typeface="+mn-cs"/>
                        </a:rPr>
                        <a:t>항에 따라 심리가 재개된 경우에는 그 후 다시 같은 조 제</a:t>
                      </a:r>
                      <a:r>
                        <a:rPr lang="en-US" altLang="ko-KR" sz="1100" kern="1200" dirty="0">
                          <a:solidFill>
                            <a:srgbClr val="FF0000"/>
                          </a:solidFill>
                          <a:effectLst/>
                          <a:latin typeface="+mn-lt"/>
                          <a:ea typeface="+mn-ea"/>
                          <a:cs typeface="+mn-cs"/>
                        </a:rPr>
                        <a:t>3</a:t>
                      </a:r>
                      <a:r>
                        <a:rPr lang="ko-KR" altLang="en-US" sz="1100" kern="1200" dirty="0">
                          <a:solidFill>
                            <a:srgbClr val="FF0000"/>
                          </a:solidFill>
                          <a:effectLst/>
                          <a:latin typeface="+mn-lt"/>
                          <a:ea typeface="+mn-ea"/>
                          <a:cs typeface="+mn-cs"/>
                        </a:rPr>
                        <a:t>항에 따른 심리의 종결이 통지되기 전</a:t>
                      </a:r>
                      <a:r>
                        <a:rPr lang="en-US" altLang="ko-KR" sz="1100" kern="1200" dirty="0">
                          <a:solidFill>
                            <a:srgbClr val="FF0000"/>
                          </a:solidFill>
                          <a:effectLst/>
                          <a:latin typeface="+mn-lt"/>
                          <a:ea typeface="+mn-ea"/>
                          <a:cs typeface="+mn-cs"/>
                        </a:rPr>
                        <a:t>)</a:t>
                      </a:r>
                      <a:r>
                        <a:rPr lang="ko-KR" altLang="en-US" sz="1100" kern="1200" dirty="0">
                          <a:solidFill>
                            <a:srgbClr val="FF0000"/>
                          </a:solidFill>
                          <a:effectLst/>
                          <a:latin typeface="+mn-lt"/>
                          <a:ea typeface="+mn-ea"/>
                          <a:cs typeface="+mn-cs"/>
                        </a:rPr>
                        <a:t>에</a:t>
                      </a:r>
                      <a:r>
                        <a:rPr lang="en-US" altLang="ko-KR" sz="1100" kern="1200" dirty="0">
                          <a:solidFill>
                            <a:srgbClr val="FF0000"/>
                          </a:solidFill>
                          <a:effectLst/>
                          <a:latin typeface="+mn-lt"/>
                          <a:ea typeface="+mn-ea"/>
                          <a:cs typeface="+mn-cs"/>
                        </a:rPr>
                        <a:t>"</a:t>
                      </a:r>
                      <a:r>
                        <a:rPr lang="ko-KR" altLang="en-US" sz="1100" kern="1200" dirty="0">
                          <a:solidFill>
                            <a:srgbClr val="FF0000"/>
                          </a:solidFill>
                          <a:effectLst/>
                          <a:latin typeface="+mn-lt"/>
                          <a:ea typeface="+mn-ea"/>
                          <a:cs typeface="+mn-cs"/>
                        </a:rPr>
                        <a:t>는 </a:t>
                      </a:r>
                      <a:r>
                        <a:rPr lang="en-US" altLang="ko-KR" sz="1100" kern="1200" dirty="0">
                          <a:solidFill>
                            <a:srgbClr val="FF0000"/>
                          </a:solidFill>
                          <a:effectLst/>
                          <a:latin typeface="+mn-lt"/>
                          <a:ea typeface="+mn-ea"/>
                          <a:cs typeface="+mn-cs"/>
                        </a:rPr>
                        <a:t>"</a:t>
                      </a:r>
                      <a:r>
                        <a:rPr lang="ko-KR" altLang="en-US" sz="1100" kern="1200" dirty="0">
                          <a:solidFill>
                            <a:srgbClr val="FF0000"/>
                          </a:solidFill>
                          <a:effectLst/>
                          <a:latin typeface="+mn-lt"/>
                          <a:ea typeface="+mn-ea"/>
                          <a:cs typeface="+mn-cs"/>
                        </a:rPr>
                        <a:t>제</a:t>
                      </a:r>
                      <a:r>
                        <a:rPr lang="en-US" altLang="ko-KR" sz="1100" kern="1200" dirty="0">
                          <a:solidFill>
                            <a:srgbClr val="FF0000"/>
                          </a:solidFill>
                          <a:effectLst/>
                          <a:latin typeface="+mn-lt"/>
                          <a:ea typeface="+mn-ea"/>
                          <a:cs typeface="+mn-cs"/>
                        </a:rPr>
                        <a:t>133</a:t>
                      </a:r>
                      <a:r>
                        <a:rPr lang="ko-KR" altLang="en-US" sz="1100" kern="1200" dirty="0">
                          <a:solidFill>
                            <a:srgbClr val="FF0000"/>
                          </a:solidFill>
                          <a:effectLst/>
                          <a:latin typeface="+mn-lt"/>
                          <a:ea typeface="+mn-ea"/>
                          <a:cs typeface="+mn-cs"/>
                        </a:rPr>
                        <a:t>조의</a:t>
                      </a:r>
                      <a:r>
                        <a:rPr lang="en-US" altLang="ko-KR" sz="1100" kern="1200" dirty="0">
                          <a:solidFill>
                            <a:srgbClr val="FF0000"/>
                          </a:solidFill>
                          <a:effectLst/>
                          <a:latin typeface="+mn-lt"/>
                          <a:ea typeface="+mn-ea"/>
                          <a:cs typeface="+mn-cs"/>
                        </a:rPr>
                        <a:t>2</a:t>
                      </a:r>
                      <a:r>
                        <a:rPr lang="ko-KR" altLang="en-US" sz="1100" kern="1200" dirty="0">
                          <a:solidFill>
                            <a:srgbClr val="FF0000"/>
                          </a:solidFill>
                          <a:effectLst/>
                          <a:latin typeface="+mn-lt"/>
                          <a:ea typeface="+mn-ea"/>
                          <a:cs typeface="+mn-cs"/>
                        </a:rPr>
                        <a:t>제</a:t>
                      </a:r>
                      <a:r>
                        <a:rPr lang="en-US" altLang="ko-KR" sz="1100" kern="1200" dirty="0">
                          <a:solidFill>
                            <a:srgbClr val="FF0000"/>
                          </a:solidFill>
                          <a:effectLst/>
                          <a:latin typeface="+mn-lt"/>
                          <a:ea typeface="+mn-ea"/>
                          <a:cs typeface="+mn-cs"/>
                        </a:rPr>
                        <a:t>1</a:t>
                      </a:r>
                      <a:r>
                        <a:rPr lang="ko-KR" altLang="en-US" sz="1100" kern="1200" dirty="0">
                          <a:solidFill>
                            <a:srgbClr val="FF0000"/>
                          </a:solidFill>
                          <a:effectLst/>
                          <a:latin typeface="+mn-lt"/>
                          <a:ea typeface="+mn-ea"/>
                          <a:cs typeface="+mn-cs"/>
                        </a:rPr>
                        <a:t>항 또는 제</a:t>
                      </a:r>
                      <a:r>
                        <a:rPr lang="en-US" altLang="ko-KR" sz="1100" kern="1200" dirty="0">
                          <a:solidFill>
                            <a:srgbClr val="FF0000"/>
                          </a:solidFill>
                          <a:effectLst/>
                          <a:latin typeface="+mn-lt"/>
                          <a:ea typeface="+mn-ea"/>
                          <a:cs typeface="+mn-cs"/>
                        </a:rPr>
                        <a:t>136</a:t>
                      </a:r>
                      <a:r>
                        <a:rPr lang="ko-KR" altLang="en-US" sz="1100" kern="1200" dirty="0">
                          <a:solidFill>
                            <a:srgbClr val="FF0000"/>
                          </a:solidFill>
                          <a:effectLst/>
                          <a:latin typeface="+mn-lt"/>
                          <a:ea typeface="+mn-ea"/>
                          <a:cs typeface="+mn-cs"/>
                        </a:rPr>
                        <a:t>조제</a:t>
                      </a:r>
                      <a:r>
                        <a:rPr lang="en-US" altLang="ko-KR" sz="1100" kern="1200" dirty="0">
                          <a:solidFill>
                            <a:srgbClr val="FF0000"/>
                          </a:solidFill>
                          <a:effectLst/>
                          <a:latin typeface="+mn-lt"/>
                          <a:ea typeface="+mn-ea"/>
                          <a:cs typeface="+mn-cs"/>
                        </a:rPr>
                        <a:t>6</a:t>
                      </a:r>
                      <a:r>
                        <a:rPr lang="ko-KR" altLang="en-US" sz="1100" kern="1200" dirty="0">
                          <a:solidFill>
                            <a:srgbClr val="FF0000"/>
                          </a:solidFill>
                          <a:effectLst/>
                          <a:latin typeface="+mn-lt"/>
                          <a:ea typeface="+mn-ea"/>
                          <a:cs typeface="+mn-cs"/>
                        </a:rPr>
                        <a:t>항에 따라 지정된 기간에</a:t>
                      </a:r>
                      <a:r>
                        <a:rPr lang="en-US" altLang="ko-KR" sz="1100" kern="1200" dirty="0">
                          <a:solidFill>
                            <a:srgbClr val="FF0000"/>
                          </a:solidFill>
                          <a:effectLst/>
                          <a:latin typeface="+mn-lt"/>
                          <a:ea typeface="+mn-ea"/>
                          <a:cs typeface="+mn-cs"/>
                        </a:rPr>
                        <a:t>"</a:t>
                      </a:r>
                      <a:r>
                        <a:rPr lang="ko-KR" altLang="en-US" sz="1100" kern="1200" dirty="0">
                          <a:solidFill>
                            <a:srgbClr val="FF0000"/>
                          </a:solidFill>
                          <a:effectLst/>
                          <a:latin typeface="+mn-lt"/>
                          <a:ea typeface="+mn-ea"/>
                          <a:cs typeface="+mn-cs"/>
                        </a:rPr>
                        <a:t>로 본다</a:t>
                      </a:r>
                      <a:r>
                        <a:rPr lang="en-US" altLang="ko-KR" sz="1100" kern="1200" dirty="0">
                          <a:solidFill>
                            <a:srgbClr val="FF0000"/>
                          </a:solidFill>
                          <a:effectLst/>
                          <a:latin typeface="+mn-lt"/>
                          <a:ea typeface="+mn-ea"/>
                          <a:cs typeface="+mn-cs"/>
                        </a:rPr>
                        <a:t>. </a:t>
                      </a:r>
                    </a:p>
                    <a:p>
                      <a:pPr fontAlgn="base" latinLnBrk="1"/>
                      <a:r>
                        <a:rPr lang="ko-KR" altLang="en-US" sz="1100" kern="1200" dirty="0">
                          <a:solidFill>
                            <a:schemeClr val="tx1"/>
                          </a:solidFill>
                          <a:effectLst/>
                          <a:latin typeface="+mn-lt"/>
                          <a:ea typeface="+mn-ea"/>
                          <a:cs typeface="+mn-cs"/>
                        </a:rPr>
                        <a:t>⑤ 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a:t>
                      </a:r>
                      <a:r>
                        <a:rPr lang="ko-KR" altLang="en-US" sz="1100" kern="1200" dirty="0" err="1">
                          <a:solidFill>
                            <a:schemeClr val="tx1"/>
                          </a:solidFill>
                          <a:effectLst/>
                          <a:latin typeface="+mn-lt"/>
                          <a:ea typeface="+mn-ea"/>
                          <a:cs typeface="+mn-cs"/>
                        </a:rPr>
                        <a:t>정정청구는</a:t>
                      </a:r>
                      <a:r>
                        <a:rPr lang="ko-KR" altLang="en-US" sz="1100" kern="1200" dirty="0">
                          <a:solidFill>
                            <a:schemeClr val="tx1"/>
                          </a:solidFill>
                          <a:effectLst/>
                          <a:latin typeface="+mn-lt"/>
                          <a:ea typeface="+mn-ea"/>
                          <a:cs typeface="+mn-cs"/>
                        </a:rPr>
                        <a:t> 다음 각 호의 어느 하나에 해당하는 기간에만 취하할 수 있다</a:t>
                      </a:r>
                      <a:r>
                        <a:rPr lang="en-US" altLang="ko-KR" sz="1100" kern="1200" dirty="0">
                          <a:solidFill>
                            <a:schemeClr val="tx1"/>
                          </a:solidFill>
                          <a:effectLst/>
                          <a:latin typeface="+mn-lt"/>
                          <a:ea typeface="+mn-ea"/>
                          <a:cs typeface="+mn-cs"/>
                        </a:rPr>
                        <a:t>. </a:t>
                      </a:r>
                    </a:p>
                    <a:p>
                      <a:pPr fontAlgn="base" latinLnBrk="1"/>
                      <a:r>
                        <a:rPr lang="en-US" altLang="ko-KR" sz="1100" kern="1200" dirty="0">
                          <a:solidFill>
                            <a:schemeClr val="tx1"/>
                          </a:solidFill>
                          <a:effectLst/>
                          <a:latin typeface="+mn-lt"/>
                          <a:ea typeface="+mn-ea"/>
                          <a:cs typeface="+mn-cs"/>
                        </a:rPr>
                        <a:t>1. </a:t>
                      </a:r>
                      <a:r>
                        <a:rPr lang="ko-KR" altLang="en-US" sz="1100" kern="1200" dirty="0">
                          <a:solidFill>
                            <a:schemeClr val="tx1"/>
                          </a:solidFill>
                          <a:effectLst/>
                          <a:latin typeface="+mn-lt"/>
                          <a:ea typeface="+mn-ea"/>
                          <a:cs typeface="+mn-cs"/>
                        </a:rPr>
                        <a:t>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따라 정정을 청구할 수 있도록 지정된 기간과 그 기간의 만료일부터 </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개월 이내의 기간</a:t>
                      </a:r>
                    </a:p>
                    <a:p>
                      <a:pPr fontAlgn="base" latinLnBrk="1"/>
                      <a:r>
                        <a:rPr lang="en-US" altLang="ko-KR" sz="1100" kern="1200" dirty="0">
                          <a:solidFill>
                            <a:schemeClr val="tx1"/>
                          </a:solidFill>
                          <a:effectLst/>
                          <a:latin typeface="+mn-lt"/>
                          <a:ea typeface="+mn-ea"/>
                          <a:cs typeface="+mn-cs"/>
                        </a:rPr>
                        <a:t>2. </a:t>
                      </a:r>
                      <a:r>
                        <a:rPr lang="ko-KR" altLang="en-US" sz="1100" kern="1200" dirty="0">
                          <a:solidFill>
                            <a:schemeClr val="tx1"/>
                          </a:solidFill>
                          <a:effectLst/>
                          <a:latin typeface="+mn-lt"/>
                          <a:ea typeface="+mn-ea"/>
                          <a:cs typeface="+mn-cs"/>
                        </a:rPr>
                        <a:t>제</a:t>
                      </a:r>
                      <a:r>
                        <a:rPr lang="en-US" altLang="ko-KR" sz="1100" kern="1200" dirty="0">
                          <a:solidFill>
                            <a:schemeClr val="tx1"/>
                          </a:solidFill>
                          <a:effectLst/>
                          <a:latin typeface="+mn-lt"/>
                          <a:ea typeface="+mn-ea"/>
                          <a:cs typeface="+mn-cs"/>
                        </a:rPr>
                        <a:t>4</a:t>
                      </a:r>
                      <a:r>
                        <a:rPr lang="ko-KR" altLang="en-US" sz="1100" kern="1200" dirty="0">
                          <a:solidFill>
                            <a:schemeClr val="tx1"/>
                          </a:solidFill>
                          <a:effectLst/>
                          <a:latin typeface="+mn-lt"/>
                          <a:ea typeface="+mn-ea"/>
                          <a:cs typeface="+mn-cs"/>
                        </a:rPr>
                        <a:t>항에서 준용하는 제</a:t>
                      </a:r>
                      <a:r>
                        <a:rPr lang="en-US" altLang="ko-KR" sz="1100" kern="1200" dirty="0">
                          <a:solidFill>
                            <a:schemeClr val="tx1"/>
                          </a:solidFill>
                          <a:effectLst/>
                          <a:latin typeface="+mn-lt"/>
                          <a:ea typeface="+mn-ea"/>
                          <a:cs typeface="+mn-cs"/>
                        </a:rPr>
                        <a:t>136</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6</a:t>
                      </a:r>
                      <a:r>
                        <a:rPr lang="ko-KR" altLang="en-US" sz="1100" kern="1200" dirty="0">
                          <a:solidFill>
                            <a:schemeClr val="tx1"/>
                          </a:solidFill>
                          <a:effectLst/>
                          <a:latin typeface="+mn-lt"/>
                          <a:ea typeface="+mn-ea"/>
                          <a:cs typeface="+mn-cs"/>
                        </a:rPr>
                        <a:t>항에 따라 지정된 기간</a:t>
                      </a:r>
                    </a:p>
                    <a:p>
                      <a:pPr fontAlgn="base" latinLnBrk="1"/>
                      <a:r>
                        <a:rPr lang="ko-KR" altLang="en-US" sz="1100" kern="1200" dirty="0">
                          <a:solidFill>
                            <a:schemeClr val="tx1"/>
                          </a:solidFill>
                          <a:effectLst/>
                          <a:latin typeface="+mn-lt"/>
                          <a:ea typeface="+mn-ea"/>
                          <a:cs typeface="+mn-cs"/>
                        </a:rPr>
                        <a:t>⑥ 제</a:t>
                      </a:r>
                      <a:r>
                        <a:rPr lang="en-US" altLang="ko-KR" sz="1100" kern="1200" dirty="0">
                          <a:solidFill>
                            <a:schemeClr val="tx1"/>
                          </a:solidFill>
                          <a:effectLst/>
                          <a:latin typeface="+mn-lt"/>
                          <a:ea typeface="+mn-ea"/>
                          <a:cs typeface="+mn-cs"/>
                        </a:rPr>
                        <a:t>4</a:t>
                      </a:r>
                      <a:r>
                        <a:rPr lang="ko-KR" altLang="en-US" sz="1100" kern="1200" dirty="0">
                          <a:solidFill>
                            <a:schemeClr val="tx1"/>
                          </a:solidFill>
                          <a:effectLst/>
                          <a:latin typeface="+mn-lt"/>
                          <a:ea typeface="+mn-ea"/>
                          <a:cs typeface="+mn-cs"/>
                        </a:rPr>
                        <a:t>항을 적용할 때 제</a:t>
                      </a:r>
                      <a:r>
                        <a:rPr lang="en-US" altLang="ko-KR" sz="1100" kern="1200" dirty="0">
                          <a:solidFill>
                            <a:schemeClr val="tx1"/>
                          </a:solidFill>
                          <a:effectLst/>
                          <a:latin typeface="+mn-lt"/>
                          <a:ea typeface="+mn-ea"/>
                          <a:cs typeface="+mn-cs"/>
                        </a:rPr>
                        <a:t>133</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1</a:t>
                      </a:r>
                      <a:r>
                        <a:rPr lang="ko-KR" altLang="en-US" sz="1100" kern="1200" dirty="0">
                          <a:solidFill>
                            <a:schemeClr val="tx1"/>
                          </a:solidFill>
                          <a:effectLst/>
                          <a:latin typeface="+mn-lt"/>
                          <a:ea typeface="+mn-ea"/>
                          <a:cs typeface="+mn-cs"/>
                        </a:rPr>
                        <a:t>항에 따른 특허무효심판이 청구된 </a:t>
                      </a:r>
                      <a:r>
                        <a:rPr lang="ko-KR" altLang="en-US" sz="1100" kern="1200" dirty="0" err="1">
                          <a:solidFill>
                            <a:schemeClr val="tx1"/>
                          </a:solidFill>
                          <a:effectLst/>
                          <a:latin typeface="+mn-lt"/>
                          <a:ea typeface="+mn-ea"/>
                          <a:cs typeface="+mn-cs"/>
                        </a:rPr>
                        <a:t>청구항을</a:t>
                      </a:r>
                      <a:r>
                        <a:rPr lang="ko-KR" altLang="en-US" sz="1100" kern="1200" dirty="0">
                          <a:solidFill>
                            <a:schemeClr val="tx1"/>
                          </a:solidFill>
                          <a:effectLst/>
                          <a:latin typeface="+mn-lt"/>
                          <a:ea typeface="+mn-ea"/>
                          <a:cs typeface="+mn-cs"/>
                        </a:rPr>
                        <a:t> 정정하는 경우에는 제</a:t>
                      </a:r>
                      <a:r>
                        <a:rPr lang="en-US" altLang="ko-KR" sz="1100" kern="1200" dirty="0">
                          <a:solidFill>
                            <a:schemeClr val="tx1"/>
                          </a:solidFill>
                          <a:effectLst/>
                          <a:latin typeface="+mn-lt"/>
                          <a:ea typeface="+mn-ea"/>
                          <a:cs typeface="+mn-cs"/>
                        </a:rPr>
                        <a:t>136</a:t>
                      </a:r>
                      <a:r>
                        <a:rPr lang="ko-KR" altLang="en-US" sz="1100" kern="1200" dirty="0">
                          <a:solidFill>
                            <a:schemeClr val="tx1"/>
                          </a:solidFill>
                          <a:effectLst/>
                          <a:latin typeface="+mn-lt"/>
                          <a:ea typeface="+mn-ea"/>
                          <a:cs typeface="+mn-cs"/>
                        </a:rPr>
                        <a:t>조제</a:t>
                      </a:r>
                      <a:r>
                        <a:rPr lang="en-US" altLang="ko-KR" sz="1100" kern="1200" dirty="0">
                          <a:solidFill>
                            <a:schemeClr val="tx1"/>
                          </a:solidFill>
                          <a:effectLst/>
                          <a:latin typeface="+mn-lt"/>
                          <a:ea typeface="+mn-ea"/>
                          <a:cs typeface="+mn-cs"/>
                        </a:rPr>
                        <a:t>5</a:t>
                      </a:r>
                      <a:r>
                        <a:rPr lang="ko-KR" altLang="en-US" sz="1100" kern="1200" dirty="0">
                          <a:solidFill>
                            <a:schemeClr val="tx1"/>
                          </a:solidFill>
                          <a:effectLst/>
                          <a:latin typeface="+mn-lt"/>
                          <a:ea typeface="+mn-ea"/>
                          <a:cs typeface="+mn-cs"/>
                        </a:rPr>
                        <a:t>항을 준용하지 아니한다</a:t>
                      </a:r>
                      <a:r>
                        <a:rPr lang="en-US" altLang="ko-KR" sz="1100" kern="1200" dirty="0">
                          <a:solidFill>
                            <a:schemeClr val="tx1"/>
                          </a:solidFill>
                          <a:effectLst/>
                          <a:latin typeface="+mn-lt"/>
                          <a:ea typeface="+mn-ea"/>
                          <a:cs typeface="+mn-cs"/>
                        </a:rPr>
                        <a:t>. </a:t>
                      </a:r>
                      <a:endParaRPr lang="ko-KR" altLang="en-US" sz="1100" dirty="0"/>
                    </a:p>
                  </a:txBody>
                  <a:tcPr/>
                </a:tc>
                <a:extLst>
                  <a:ext uri="{0D108BD9-81ED-4DB2-BD59-A6C34878D82A}">
                    <a16:rowId xmlns:a16="http://schemas.microsoft.com/office/drawing/2014/main" val="3986305079"/>
                  </a:ext>
                </a:extLst>
              </a:tr>
            </a:tbl>
          </a:graphicData>
        </a:graphic>
      </p:graphicFrame>
      <p:sp>
        <p:nvSpPr>
          <p:cNvPr id="6" name="슬라이드 번호 개체 틀 5"/>
          <p:cNvSpPr>
            <a:spLocks noGrp="1"/>
          </p:cNvSpPr>
          <p:nvPr>
            <p:ph type="sldNum" sz="quarter" idx="4294967295"/>
          </p:nvPr>
        </p:nvSpPr>
        <p:spPr>
          <a:xfrm>
            <a:off x="11125200" y="0"/>
            <a:ext cx="1066800" cy="711200"/>
          </a:xfrm>
        </p:spPr>
        <p:txBody>
          <a:bodyPr/>
          <a:lstStyle/>
          <a:p>
            <a:r>
              <a:rPr lang="en-US" altLang="ko-KR"/>
              <a:t>513</a:t>
            </a:r>
            <a:endParaRPr lang="ko-KR" altLang="en-US" dirty="0"/>
          </a:p>
        </p:txBody>
      </p:sp>
    </p:spTree>
    <p:extLst>
      <p:ext uri="{BB962C8B-B14F-4D97-AF65-F5344CB8AC3E}">
        <p14:creationId xmlns:p14="http://schemas.microsoft.com/office/powerpoint/2010/main" val="181693512"/>
      </p:ext>
    </p:extLst>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err="1"/>
              <a:t>참고노트</a:t>
            </a:r>
            <a:endParaRPr lang="ko-KR" altLang="en-US" dirty="0"/>
          </a:p>
        </p:txBody>
      </p:sp>
      <p:sp>
        <p:nvSpPr>
          <p:cNvPr id="4" name="텍스트 개체 틀 3"/>
          <p:cNvSpPr>
            <a:spLocks noGrp="1"/>
          </p:cNvSpPr>
          <p:nvPr>
            <p:ph type="body" sz="quarter" idx="13"/>
          </p:nvPr>
        </p:nvSpPr>
        <p:spPr/>
        <p:txBody>
          <a:bodyPr>
            <a:normAutofit/>
          </a:bodyPr>
          <a:lstStyle/>
          <a:p>
            <a:pPr fontAlgn="base" latinLnBrk="0"/>
            <a:r>
              <a:rPr lang="ko-KR" altLang="en-US" dirty="0" err="1"/>
              <a:t>정정청구의</a:t>
            </a:r>
            <a:r>
              <a:rPr lang="ko-KR" altLang="en-US" dirty="0"/>
              <a:t> 법조문 비교</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graphicFrame>
        <p:nvGraphicFramePr>
          <p:cNvPr id="5" name="표 4"/>
          <p:cNvGraphicFramePr>
            <a:graphicFrameLocks noGrp="1"/>
          </p:cNvGraphicFramePr>
          <p:nvPr/>
        </p:nvGraphicFramePr>
        <p:xfrm>
          <a:off x="184731" y="973051"/>
          <a:ext cx="11724504" cy="5852160"/>
        </p:xfrm>
        <a:graphic>
          <a:graphicData uri="http://schemas.openxmlformats.org/drawingml/2006/table">
            <a:tbl>
              <a:tblPr>
                <a:tableStyleId>{8799B23B-EC83-4686-B30A-512413B5E67A}</a:tableStyleId>
              </a:tblPr>
              <a:tblGrid>
                <a:gridCol w="3908168">
                  <a:extLst>
                    <a:ext uri="{9D8B030D-6E8A-4147-A177-3AD203B41FA5}">
                      <a16:colId xmlns:a16="http://schemas.microsoft.com/office/drawing/2014/main" val="3715525229"/>
                    </a:ext>
                  </a:extLst>
                </a:gridCol>
                <a:gridCol w="3908168">
                  <a:extLst>
                    <a:ext uri="{9D8B030D-6E8A-4147-A177-3AD203B41FA5}">
                      <a16:colId xmlns:a16="http://schemas.microsoft.com/office/drawing/2014/main" val="141959867"/>
                    </a:ext>
                  </a:extLst>
                </a:gridCol>
                <a:gridCol w="3908168">
                  <a:extLst>
                    <a:ext uri="{9D8B030D-6E8A-4147-A177-3AD203B41FA5}">
                      <a16:colId xmlns:a16="http://schemas.microsoft.com/office/drawing/2014/main" val="2937501546"/>
                    </a:ext>
                  </a:extLst>
                </a:gridCol>
              </a:tblGrid>
              <a:tr h="203754">
                <a:tc>
                  <a:txBody>
                    <a:bodyPr/>
                    <a:lstStyle/>
                    <a:p>
                      <a:pPr algn="ctr" latinLnBrk="1"/>
                      <a:r>
                        <a:rPr lang="ko-KR" altLang="en-US" sz="1200" dirty="0"/>
                        <a:t>특허취소신청절차에서의 특허의 정정</a:t>
                      </a:r>
                      <a:r>
                        <a:rPr lang="en-US" altLang="ko-KR" sz="1200" dirty="0"/>
                        <a:t>(</a:t>
                      </a:r>
                      <a:r>
                        <a:rPr lang="ko-KR" altLang="en-US" sz="1200" dirty="0"/>
                        <a:t>제</a:t>
                      </a:r>
                      <a:r>
                        <a:rPr lang="en-US" altLang="ko-KR" sz="1200" dirty="0"/>
                        <a:t>132</a:t>
                      </a:r>
                      <a:r>
                        <a:rPr lang="ko-KR" altLang="en-US" sz="1200" dirty="0"/>
                        <a:t>조의</a:t>
                      </a:r>
                      <a:r>
                        <a:rPr lang="en-US" altLang="ko-KR" sz="1200" dirty="0"/>
                        <a:t>3)</a:t>
                      </a:r>
                      <a:endParaRPr lang="ko-KR" altLang="en-US" sz="1200" dirty="0"/>
                    </a:p>
                  </a:txBody>
                  <a:tcPr anchor="ctr">
                    <a:solidFill>
                      <a:schemeClr val="accent1">
                        <a:lumMod val="20000"/>
                        <a:lumOff val="80000"/>
                      </a:schemeClr>
                    </a:solidFill>
                  </a:tcPr>
                </a:tc>
                <a:tc>
                  <a:txBody>
                    <a:bodyPr/>
                    <a:lstStyle/>
                    <a:p>
                      <a:pPr algn="ctr" latinLnBrk="1"/>
                      <a:r>
                        <a:rPr lang="ko-KR" altLang="en-US" sz="1200" dirty="0"/>
                        <a:t>특허무효심판절차에서의 특허의 정정</a:t>
                      </a:r>
                      <a:r>
                        <a:rPr lang="en-US" altLang="ko-KR" sz="1200" dirty="0"/>
                        <a:t>(</a:t>
                      </a:r>
                      <a:r>
                        <a:rPr lang="ko-KR" altLang="en-US" sz="1200" dirty="0"/>
                        <a:t>제</a:t>
                      </a:r>
                      <a:r>
                        <a:rPr lang="en-US" altLang="ko-KR" sz="1200" dirty="0"/>
                        <a:t>133</a:t>
                      </a:r>
                      <a:r>
                        <a:rPr lang="ko-KR" altLang="en-US" sz="1200" dirty="0"/>
                        <a:t>조의</a:t>
                      </a:r>
                      <a:r>
                        <a:rPr lang="en-US" altLang="ko-KR" sz="1200" dirty="0"/>
                        <a:t>2)</a:t>
                      </a:r>
                      <a:endParaRPr lang="ko-KR" altLang="en-US" sz="1200" dirty="0"/>
                    </a:p>
                  </a:txBody>
                  <a:tcPr anchor="ctr">
                    <a:solidFill>
                      <a:schemeClr val="accent1">
                        <a:lumMod val="20000"/>
                        <a:lumOff val="80000"/>
                      </a:schemeClr>
                    </a:solidFill>
                  </a:tcPr>
                </a:tc>
                <a:tc>
                  <a:txBody>
                    <a:bodyPr/>
                    <a:lstStyle/>
                    <a:p>
                      <a:pPr algn="ctr" latinLnBrk="1"/>
                      <a:r>
                        <a:rPr lang="ko-KR" altLang="en-US" sz="1200" dirty="0"/>
                        <a:t>정정무효심판절차에서의 특허의 정정</a:t>
                      </a:r>
                      <a:r>
                        <a:rPr lang="en-US" altLang="ko-KR" sz="1200" dirty="0"/>
                        <a:t>(</a:t>
                      </a:r>
                      <a:r>
                        <a:rPr lang="ko-KR" altLang="en-US" sz="1200" dirty="0"/>
                        <a:t>제</a:t>
                      </a:r>
                      <a:r>
                        <a:rPr lang="en-US" altLang="ko-KR" sz="1200" dirty="0"/>
                        <a:t>137</a:t>
                      </a:r>
                      <a:r>
                        <a:rPr lang="ko-KR" altLang="en-US" sz="1200" dirty="0"/>
                        <a:t>조제</a:t>
                      </a:r>
                      <a:r>
                        <a:rPr lang="en-US" altLang="ko-KR" sz="1200" dirty="0"/>
                        <a:t>3</a:t>
                      </a:r>
                      <a:r>
                        <a:rPr lang="ko-KR" altLang="en-US" sz="1200" dirty="0"/>
                        <a:t>항</a:t>
                      </a:r>
                      <a:r>
                        <a:rPr lang="en-US" altLang="ko-KR" sz="1200" dirty="0"/>
                        <a:t>, </a:t>
                      </a:r>
                      <a:r>
                        <a:rPr lang="ko-KR" altLang="en-US" sz="1200" dirty="0"/>
                        <a:t>제</a:t>
                      </a:r>
                      <a:r>
                        <a:rPr lang="en-US" altLang="ko-KR" sz="1200" dirty="0"/>
                        <a:t>4</a:t>
                      </a:r>
                      <a:r>
                        <a:rPr lang="ko-KR" altLang="en-US" sz="1200" dirty="0"/>
                        <a:t>항</a:t>
                      </a:r>
                      <a:r>
                        <a:rPr lang="en-US" altLang="ko-KR" sz="1200" dirty="0"/>
                        <a:t>)</a:t>
                      </a:r>
                      <a:endParaRPr lang="ko-KR" altLang="en-US" sz="1200" dirty="0"/>
                    </a:p>
                  </a:txBody>
                  <a:tcPr anchor="ctr">
                    <a:solidFill>
                      <a:schemeClr val="accent1">
                        <a:lumMod val="20000"/>
                        <a:lumOff val="80000"/>
                      </a:schemeClr>
                    </a:solidFill>
                  </a:tcPr>
                </a:tc>
                <a:extLst>
                  <a:ext uri="{0D108BD9-81ED-4DB2-BD59-A6C34878D82A}">
                    <a16:rowId xmlns:a16="http://schemas.microsoft.com/office/drawing/2014/main" val="2785733114"/>
                  </a:ext>
                </a:extLst>
              </a:tr>
              <a:tr h="3064689">
                <a:tc>
                  <a:txBody>
                    <a:bodyPr/>
                    <a:lstStyle/>
                    <a:p>
                      <a:pPr fontAlgn="base" latinLnBrk="0"/>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132</a:t>
                      </a:r>
                      <a:r>
                        <a:rPr lang="ko-KR" altLang="en-US" sz="1200" kern="1200" dirty="0">
                          <a:solidFill>
                            <a:schemeClr val="tx1"/>
                          </a:solidFill>
                          <a:effectLst/>
                          <a:latin typeface="+mn-lt"/>
                          <a:ea typeface="+mn-ea"/>
                          <a:cs typeface="+mn-cs"/>
                        </a:rPr>
                        <a:t>조의</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특허취소신청절차에서의 특허의 정정</a:t>
                      </a:r>
                      <a:r>
                        <a:rPr lang="en-US" altLang="ko-KR" sz="1200" kern="1200" dirty="0">
                          <a:solidFill>
                            <a:schemeClr val="tx1"/>
                          </a:solidFill>
                          <a:effectLst/>
                          <a:latin typeface="+mn-lt"/>
                          <a:ea typeface="+mn-ea"/>
                          <a:cs typeface="+mn-cs"/>
                        </a:rPr>
                        <a:t>】 </a:t>
                      </a:r>
                      <a:endParaRPr lang="ko-KR" altLang="en-US" sz="1200" kern="1200" dirty="0">
                        <a:solidFill>
                          <a:schemeClr val="tx1"/>
                        </a:solidFill>
                        <a:effectLst/>
                        <a:latin typeface="+mn-lt"/>
                        <a:ea typeface="+mn-ea"/>
                        <a:cs typeface="+mn-cs"/>
                      </a:endParaRPr>
                    </a:p>
                    <a:p>
                      <a:pPr fontAlgn="base" latinLnBrk="1"/>
                      <a:r>
                        <a:rPr lang="ko-KR" altLang="en-US" sz="1200" kern="1200" dirty="0">
                          <a:solidFill>
                            <a:schemeClr val="tx1"/>
                          </a:solidFill>
                          <a:effectLst/>
                          <a:latin typeface="+mn-lt"/>
                          <a:ea typeface="+mn-ea"/>
                          <a:cs typeface="+mn-cs"/>
                        </a:rPr>
                        <a:t>① 특허취소신청절차가 진행 중인 특허에 대한 </a:t>
                      </a:r>
                      <a:r>
                        <a:rPr lang="ko-KR" altLang="en-US" sz="1200" kern="1200" dirty="0" err="1">
                          <a:solidFill>
                            <a:schemeClr val="tx1"/>
                          </a:solidFill>
                          <a:effectLst/>
                          <a:latin typeface="+mn-lt"/>
                          <a:ea typeface="+mn-ea"/>
                          <a:cs typeface="+mn-cs"/>
                        </a:rPr>
                        <a:t>특허권자는</a:t>
                      </a:r>
                      <a:r>
                        <a:rPr lang="ko-KR" altLang="en-US" sz="1200" kern="1200" dirty="0">
                          <a:solidFill>
                            <a:schemeClr val="tx1"/>
                          </a:solidFill>
                          <a:effectLst/>
                          <a:latin typeface="+mn-lt"/>
                          <a:ea typeface="+mn-ea"/>
                          <a:cs typeface="+mn-cs"/>
                        </a:rPr>
                        <a:t>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 각 호의 어느 하나에 해당하는 경우에만 </a:t>
                      </a:r>
                      <a:r>
                        <a:rPr lang="ko-KR" altLang="en-US" sz="1200" kern="1200" dirty="0">
                          <a:solidFill>
                            <a:srgbClr val="FF0000"/>
                          </a:solidFill>
                          <a:effectLst/>
                          <a:latin typeface="+mn-lt"/>
                          <a:ea typeface="+mn-ea"/>
                          <a:cs typeface="+mn-cs"/>
                        </a:rPr>
                        <a:t>제</a:t>
                      </a:r>
                      <a:r>
                        <a:rPr lang="en-US" altLang="ko-KR" sz="1200" kern="1200" dirty="0">
                          <a:solidFill>
                            <a:srgbClr val="FF0000"/>
                          </a:solidFill>
                          <a:effectLst/>
                          <a:latin typeface="+mn-lt"/>
                          <a:ea typeface="+mn-ea"/>
                          <a:cs typeface="+mn-cs"/>
                        </a:rPr>
                        <a:t>132</a:t>
                      </a:r>
                      <a:r>
                        <a:rPr lang="ko-KR" altLang="en-US" sz="1200" kern="1200" dirty="0">
                          <a:solidFill>
                            <a:srgbClr val="FF0000"/>
                          </a:solidFill>
                          <a:effectLst/>
                          <a:latin typeface="+mn-lt"/>
                          <a:ea typeface="+mn-ea"/>
                          <a:cs typeface="+mn-cs"/>
                        </a:rPr>
                        <a:t>조의</a:t>
                      </a:r>
                      <a:r>
                        <a:rPr lang="en-US" altLang="ko-KR" sz="1200" kern="1200" dirty="0">
                          <a:solidFill>
                            <a:srgbClr val="FF0000"/>
                          </a:solidFill>
                          <a:effectLst/>
                          <a:latin typeface="+mn-lt"/>
                          <a:ea typeface="+mn-ea"/>
                          <a:cs typeface="+mn-cs"/>
                        </a:rPr>
                        <a:t>13</a:t>
                      </a:r>
                      <a:r>
                        <a:rPr lang="ko-KR" altLang="en-US" sz="1200" kern="1200" dirty="0">
                          <a:solidFill>
                            <a:srgbClr val="FF0000"/>
                          </a:solidFill>
                          <a:effectLst/>
                          <a:latin typeface="+mn-lt"/>
                          <a:ea typeface="+mn-ea"/>
                          <a:cs typeface="+mn-cs"/>
                        </a:rPr>
                        <a:t>제</a:t>
                      </a:r>
                      <a:r>
                        <a:rPr lang="en-US" altLang="ko-KR" sz="1200" kern="1200" dirty="0">
                          <a:solidFill>
                            <a:srgbClr val="FF0000"/>
                          </a:solidFill>
                          <a:effectLst/>
                          <a:latin typeface="+mn-lt"/>
                          <a:ea typeface="+mn-ea"/>
                          <a:cs typeface="+mn-cs"/>
                        </a:rPr>
                        <a:t>2</a:t>
                      </a:r>
                      <a:r>
                        <a:rPr lang="ko-KR" altLang="en-US" sz="1200" kern="1200" dirty="0">
                          <a:solidFill>
                            <a:srgbClr val="FF0000"/>
                          </a:solidFill>
                          <a:effectLst/>
                          <a:latin typeface="+mn-lt"/>
                          <a:ea typeface="+mn-ea"/>
                          <a:cs typeface="+mn-cs"/>
                        </a:rPr>
                        <a:t>항에 따라 지정된 기간</a:t>
                      </a:r>
                      <a:r>
                        <a:rPr lang="ko-KR" altLang="en-US" sz="1200" kern="1200" dirty="0">
                          <a:solidFill>
                            <a:schemeClr val="tx1"/>
                          </a:solidFill>
                          <a:effectLst/>
                          <a:latin typeface="+mn-lt"/>
                          <a:ea typeface="+mn-ea"/>
                          <a:cs typeface="+mn-cs"/>
                        </a:rPr>
                        <a:t>에 특허발명의 명세서 또는 도면에 대하여 정정청구를 할 수 있다</a:t>
                      </a:r>
                      <a:r>
                        <a:rPr lang="en-US" altLang="ko-KR" sz="1200" kern="1200" dirty="0">
                          <a:solidFill>
                            <a:schemeClr val="tx1"/>
                          </a:solidFill>
                          <a:effectLst/>
                          <a:latin typeface="+mn-lt"/>
                          <a:ea typeface="+mn-ea"/>
                          <a:cs typeface="+mn-cs"/>
                        </a:rPr>
                        <a:t>. </a:t>
                      </a:r>
                    </a:p>
                    <a:p>
                      <a:pPr fontAlgn="base" latinLnBrk="1"/>
                      <a:endParaRPr lang="en-US" altLang="ko-KR" sz="1200" kern="1200" dirty="0">
                        <a:solidFill>
                          <a:schemeClr val="tx1"/>
                        </a:solidFill>
                        <a:effectLst/>
                        <a:latin typeface="+mn-lt"/>
                        <a:ea typeface="+mn-ea"/>
                        <a:cs typeface="+mn-cs"/>
                      </a:endParaRPr>
                    </a:p>
                    <a:p>
                      <a:pPr fontAlgn="base" latinLnBrk="1"/>
                      <a:endParaRPr lang="en-US" altLang="ko-KR" sz="1200" kern="1200" dirty="0">
                        <a:solidFill>
                          <a:schemeClr val="tx1"/>
                        </a:solidFill>
                        <a:effectLst/>
                        <a:latin typeface="+mn-lt"/>
                        <a:ea typeface="+mn-ea"/>
                        <a:cs typeface="+mn-cs"/>
                      </a:endParaRPr>
                    </a:p>
                    <a:p>
                      <a:pPr fontAlgn="base" latinLnBrk="1"/>
                      <a:endParaRPr lang="en-US" altLang="ko-KR" sz="1200" kern="1200" dirty="0">
                        <a:solidFill>
                          <a:schemeClr val="tx1"/>
                        </a:solidFill>
                        <a:effectLst/>
                        <a:latin typeface="+mn-lt"/>
                        <a:ea typeface="+mn-ea"/>
                        <a:cs typeface="+mn-cs"/>
                      </a:endParaRPr>
                    </a:p>
                    <a:p>
                      <a:pPr fontAlgn="base" latinLnBrk="1"/>
                      <a:endParaRPr lang="ko-KR" altLang="en-US" sz="1200" kern="1200" dirty="0">
                        <a:solidFill>
                          <a:schemeClr val="tx1"/>
                        </a:solidFill>
                        <a:effectLst/>
                        <a:latin typeface="+mn-lt"/>
                        <a:ea typeface="+mn-ea"/>
                        <a:cs typeface="+mn-cs"/>
                      </a:endParaRPr>
                    </a:p>
                    <a:p>
                      <a:pPr fontAlgn="base" latinLnBrk="1"/>
                      <a:r>
                        <a:rPr lang="ko-KR" altLang="en-US" sz="1200" kern="1200" dirty="0">
                          <a:solidFill>
                            <a:schemeClr val="tx1"/>
                          </a:solidFill>
                          <a:effectLst/>
                          <a:latin typeface="+mn-lt"/>
                          <a:ea typeface="+mn-ea"/>
                          <a:cs typeface="+mn-cs"/>
                        </a:rPr>
                        <a:t>② 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항에 따른 정정청구를 하였을 때에는 해당 특허취소신청절차에서 그 </a:t>
                      </a:r>
                      <a:r>
                        <a:rPr lang="ko-KR" altLang="en-US" sz="1200" kern="1200" dirty="0" err="1">
                          <a:solidFill>
                            <a:schemeClr val="tx1"/>
                          </a:solidFill>
                          <a:effectLst/>
                          <a:latin typeface="+mn-lt"/>
                          <a:ea typeface="+mn-ea"/>
                          <a:cs typeface="+mn-cs"/>
                        </a:rPr>
                        <a:t>정정청구</a:t>
                      </a:r>
                      <a:r>
                        <a:rPr lang="ko-KR" altLang="en-US" sz="1200" kern="1200" dirty="0">
                          <a:solidFill>
                            <a:schemeClr val="tx1"/>
                          </a:solidFill>
                          <a:effectLst/>
                          <a:latin typeface="+mn-lt"/>
                          <a:ea typeface="+mn-ea"/>
                          <a:cs typeface="+mn-cs"/>
                        </a:rPr>
                        <a:t> 전에 한 </a:t>
                      </a:r>
                      <a:r>
                        <a:rPr lang="ko-KR" altLang="en-US" sz="1200" kern="1200" dirty="0" err="1">
                          <a:solidFill>
                            <a:schemeClr val="tx1"/>
                          </a:solidFill>
                          <a:effectLst/>
                          <a:latin typeface="+mn-lt"/>
                          <a:ea typeface="+mn-ea"/>
                          <a:cs typeface="+mn-cs"/>
                        </a:rPr>
                        <a:t>정정청구는</a:t>
                      </a:r>
                      <a:r>
                        <a:rPr lang="ko-KR" altLang="en-US" sz="1200" kern="1200" dirty="0">
                          <a:solidFill>
                            <a:schemeClr val="tx1"/>
                          </a:solidFill>
                          <a:effectLst/>
                          <a:latin typeface="+mn-lt"/>
                          <a:ea typeface="+mn-ea"/>
                          <a:cs typeface="+mn-cs"/>
                        </a:rPr>
                        <a:t> 취하된 것으로 본다</a:t>
                      </a:r>
                      <a:r>
                        <a:rPr lang="en-US" altLang="ko-KR" sz="1200" kern="1200" dirty="0">
                          <a:solidFill>
                            <a:schemeClr val="tx1"/>
                          </a:solidFill>
                          <a:effectLst/>
                          <a:latin typeface="+mn-lt"/>
                          <a:ea typeface="+mn-ea"/>
                          <a:cs typeface="+mn-cs"/>
                        </a:rPr>
                        <a:t>.</a:t>
                      </a:r>
                    </a:p>
                    <a:p>
                      <a:pPr fontAlgn="base" latinLnBrk="1"/>
                      <a:endParaRPr lang="en-US" altLang="ko-KR" sz="1200" kern="1200" dirty="0">
                        <a:solidFill>
                          <a:schemeClr val="tx1"/>
                        </a:solidFill>
                        <a:effectLst/>
                        <a:latin typeface="+mn-lt"/>
                        <a:ea typeface="+mn-ea"/>
                        <a:cs typeface="+mn-cs"/>
                      </a:endParaRPr>
                    </a:p>
                    <a:p>
                      <a:pPr fontAlgn="base" latinLnBrk="1"/>
                      <a:endParaRPr lang="ko-KR" altLang="en-US" sz="1200" kern="1200" dirty="0">
                        <a:solidFill>
                          <a:schemeClr val="tx1"/>
                        </a:solidFill>
                        <a:effectLst/>
                        <a:latin typeface="+mn-lt"/>
                        <a:ea typeface="+mn-ea"/>
                        <a:cs typeface="+mn-cs"/>
                      </a:endParaRPr>
                    </a:p>
                    <a:p>
                      <a:pPr fontAlgn="base" latinLnBrk="1"/>
                      <a:r>
                        <a:rPr lang="ko-KR" altLang="en-US" sz="1200" kern="1200" dirty="0">
                          <a:solidFill>
                            <a:schemeClr val="tx1"/>
                          </a:solidFill>
                          <a:effectLst/>
                          <a:latin typeface="+mn-lt"/>
                          <a:ea typeface="+mn-ea"/>
                          <a:cs typeface="+mn-cs"/>
                        </a:rPr>
                        <a:t>③ 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항에 따른 </a:t>
                      </a:r>
                      <a:r>
                        <a:rPr lang="ko-KR" altLang="en-US" sz="1200" kern="1200" dirty="0" err="1">
                          <a:solidFill>
                            <a:schemeClr val="tx1"/>
                          </a:solidFill>
                          <a:effectLst/>
                          <a:latin typeface="+mn-lt"/>
                          <a:ea typeface="+mn-ea"/>
                          <a:cs typeface="+mn-cs"/>
                        </a:rPr>
                        <a:t>정정청구에</a:t>
                      </a:r>
                      <a:r>
                        <a:rPr lang="ko-KR" altLang="en-US" sz="1200" kern="1200" dirty="0">
                          <a:solidFill>
                            <a:schemeClr val="tx1"/>
                          </a:solidFill>
                          <a:effectLst/>
                          <a:latin typeface="+mn-lt"/>
                          <a:ea typeface="+mn-ea"/>
                          <a:cs typeface="+mn-cs"/>
                        </a:rPr>
                        <a:t> 관하여는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항부터 제</a:t>
                      </a:r>
                      <a:r>
                        <a:rPr lang="en-US" altLang="ko-KR" sz="1200" kern="1200" dirty="0">
                          <a:solidFill>
                            <a:schemeClr val="tx1"/>
                          </a:solidFill>
                          <a:effectLst/>
                          <a:latin typeface="+mn-lt"/>
                          <a:ea typeface="+mn-ea"/>
                          <a:cs typeface="+mn-cs"/>
                        </a:rPr>
                        <a:t>6</a:t>
                      </a:r>
                      <a:r>
                        <a:rPr lang="ko-KR" altLang="en-US" sz="1200" kern="1200" dirty="0">
                          <a:solidFill>
                            <a:schemeClr val="tx1"/>
                          </a:solidFill>
                          <a:effectLst/>
                          <a:latin typeface="+mn-lt"/>
                          <a:ea typeface="+mn-ea"/>
                          <a:cs typeface="+mn-cs"/>
                        </a:rPr>
                        <a:t>항까지</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8</a:t>
                      </a:r>
                      <a:r>
                        <a:rPr lang="ko-KR" altLang="en-US" sz="1200" kern="1200" dirty="0">
                          <a:solidFill>
                            <a:schemeClr val="tx1"/>
                          </a:solidFill>
                          <a:effectLst/>
                          <a:latin typeface="+mn-lt"/>
                          <a:ea typeface="+mn-ea"/>
                          <a:cs typeface="+mn-cs"/>
                        </a:rPr>
                        <a:t>항</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10</a:t>
                      </a:r>
                      <a:r>
                        <a:rPr lang="ko-KR" altLang="en-US" sz="1200" kern="1200" dirty="0">
                          <a:solidFill>
                            <a:schemeClr val="tx1"/>
                          </a:solidFill>
                          <a:effectLst/>
                          <a:latin typeface="+mn-lt"/>
                          <a:ea typeface="+mn-ea"/>
                          <a:cs typeface="+mn-cs"/>
                        </a:rPr>
                        <a:t>항부터 제</a:t>
                      </a:r>
                      <a:r>
                        <a:rPr lang="en-US" altLang="ko-KR" sz="1200" kern="1200" dirty="0">
                          <a:solidFill>
                            <a:schemeClr val="tx1"/>
                          </a:solidFill>
                          <a:effectLst/>
                          <a:latin typeface="+mn-lt"/>
                          <a:ea typeface="+mn-ea"/>
                          <a:cs typeface="+mn-cs"/>
                        </a:rPr>
                        <a:t>13</a:t>
                      </a:r>
                      <a:r>
                        <a:rPr lang="ko-KR" altLang="en-US" sz="1200" kern="1200" dirty="0">
                          <a:solidFill>
                            <a:schemeClr val="tx1"/>
                          </a:solidFill>
                          <a:effectLst/>
                          <a:latin typeface="+mn-lt"/>
                          <a:ea typeface="+mn-ea"/>
                          <a:cs typeface="+mn-cs"/>
                        </a:rPr>
                        <a:t>항까지</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139</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 및 제</a:t>
                      </a:r>
                      <a:r>
                        <a:rPr lang="en-US" altLang="ko-KR" sz="1200" kern="1200" dirty="0">
                          <a:solidFill>
                            <a:schemeClr val="tx1"/>
                          </a:solidFill>
                          <a:effectLst/>
                          <a:latin typeface="+mn-lt"/>
                          <a:ea typeface="+mn-ea"/>
                          <a:cs typeface="+mn-cs"/>
                        </a:rPr>
                        <a:t>140</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a:t>
                      </a:r>
                      <a:r>
                        <a:rPr lang="ko-KR" altLang="en-US" sz="1200" kern="1200" dirty="0" err="1">
                          <a:solidFill>
                            <a:schemeClr val="tx1"/>
                          </a:solidFill>
                          <a:effectLst/>
                          <a:latin typeface="+mn-lt"/>
                          <a:ea typeface="+mn-ea"/>
                          <a:cs typeface="+mn-cs"/>
                        </a:rPr>
                        <a:t>항ㆍ제</a:t>
                      </a:r>
                      <a:r>
                        <a:rPr lang="en-US" altLang="ko-KR" sz="1200" kern="1200" dirty="0">
                          <a:solidFill>
                            <a:schemeClr val="tx1"/>
                          </a:solidFill>
                          <a:effectLst/>
                          <a:latin typeface="+mn-lt"/>
                          <a:ea typeface="+mn-ea"/>
                          <a:cs typeface="+mn-cs"/>
                        </a:rPr>
                        <a:t>2</a:t>
                      </a:r>
                      <a:r>
                        <a:rPr lang="ko-KR" altLang="en-US" sz="1200" kern="1200" dirty="0" err="1">
                          <a:solidFill>
                            <a:schemeClr val="tx1"/>
                          </a:solidFill>
                          <a:effectLst/>
                          <a:latin typeface="+mn-lt"/>
                          <a:ea typeface="+mn-ea"/>
                          <a:cs typeface="+mn-cs"/>
                        </a:rPr>
                        <a:t>항ㆍ제</a:t>
                      </a:r>
                      <a:r>
                        <a:rPr lang="en-US" altLang="ko-KR" sz="1200" kern="1200" dirty="0">
                          <a:solidFill>
                            <a:schemeClr val="tx1"/>
                          </a:solidFill>
                          <a:effectLst/>
                          <a:latin typeface="+mn-lt"/>
                          <a:ea typeface="+mn-ea"/>
                          <a:cs typeface="+mn-cs"/>
                        </a:rPr>
                        <a:t>5</a:t>
                      </a:r>
                      <a:r>
                        <a:rPr lang="ko-KR" altLang="en-US" sz="1200" kern="1200" dirty="0">
                          <a:solidFill>
                            <a:schemeClr val="tx1"/>
                          </a:solidFill>
                          <a:effectLst/>
                          <a:latin typeface="+mn-lt"/>
                          <a:ea typeface="+mn-ea"/>
                          <a:cs typeface="+mn-cs"/>
                        </a:rPr>
                        <a:t>항을 준용한다</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이 경우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11</a:t>
                      </a:r>
                      <a:r>
                        <a:rPr lang="ko-KR" altLang="en-US" sz="1200" kern="1200" dirty="0">
                          <a:solidFill>
                            <a:schemeClr val="tx1"/>
                          </a:solidFill>
                          <a:effectLst/>
                          <a:latin typeface="+mn-lt"/>
                          <a:ea typeface="+mn-ea"/>
                          <a:cs typeface="+mn-cs"/>
                        </a:rPr>
                        <a:t>항 중 “제</a:t>
                      </a:r>
                      <a:r>
                        <a:rPr lang="en-US" altLang="ko-KR" sz="1200" kern="1200" dirty="0">
                          <a:solidFill>
                            <a:schemeClr val="tx1"/>
                          </a:solidFill>
                          <a:effectLst/>
                          <a:latin typeface="+mn-lt"/>
                          <a:ea typeface="+mn-ea"/>
                          <a:cs typeface="+mn-cs"/>
                        </a:rPr>
                        <a:t>162</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항에 따른 심리의 종결이 통지되기 전</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같은 조 제</a:t>
                      </a:r>
                      <a:r>
                        <a:rPr lang="en-US" altLang="ko-KR" sz="1200" kern="1200" dirty="0">
                          <a:solidFill>
                            <a:schemeClr val="tx1"/>
                          </a:solidFill>
                          <a:effectLst/>
                          <a:latin typeface="+mn-lt"/>
                          <a:ea typeface="+mn-ea"/>
                          <a:cs typeface="+mn-cs"/>
                        </a:rPr>
                        <a:t>4</a:t>
                      </a:r>
                      <a:r>
                        <a:rPr lang="ko-KR" altLang="en-US" sz="1200" kern="1200" dirty="0">
                          <a:solidFill>
                            <a:schemeClr val="tx1"/>
                          </a:solidFill>
                          <a:effectLst/>
                          <a:latin typeface="+mn-lt"/>
                          <a:ea typeface="+mn-ea"/>
                          <a:cs typeface="+mn-cs"/>
                        </a:rPr>
                        <a:t>항에 따라 심리가 재개된 경우에는 그 후 다시 같은 조 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항에 따른 심리의 종결이 통지되기 전</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에”는 “제</a:t>
                      </a:r>
                      <a:r>
                        <a:rPr lang="en-US" altLang="ko-KR" sz="1200" kern="1200" dirty="0">
                          <a:solidFill>
                            <a:schemeClr val="tx1"/>
                          </a:solidFill>
                          <a:effectLst/>
                          <a:latin typeface="+mn-lt"/>
                          <a:ea typeface="+mn-ea"/>
                          <a:cs typeface="+mn-cs"/>
                        </a:rPr>
                        <a:t>132</a:t>
                      </a:r>
                      <a:r>
                        <a:rPr lang="ko-KR" altLang="en-US" sz="1200" kern="1200" dirty="0">
                          <a:solidFill>
                            <a:schemeClr val="tx1"/>
                          </a:solidFill>
                          <a:effectLst/>
                          <a:latin typeface="+mn-lt"/>
                          <a:ea typeface="+mn-ea"/>
                          <a:cs typeface="+mn-cs"/>
                        </a:rPr>
                        <a:t>조의</a:t>
                      </a:r>
                      <a:r>
                        <a:rPr lang="en-US" altLang="ko-KR" sz="1200" kern="1200" dirty="0">
                          <a:solidFill>
                            <a:schemeClr val="tx1"/>
                          </a:solidFill>
                          <a:effectLst/>
                          <a:latin typeface="+mn-lt"/>
                          <a:ea typeface="+mn-ea"/>
                          <a:cs typeface="+mn-cs"/>
                        </a:rPr>
                        <a:t>13</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2</a:t>
                      </a:r>
                      <a:r>
                        <a:rPr lang="ko-KR" altLang="en-US" sz="1200" kern="1200" dirty="0">
                          <a:solidFill>
                            <a:schemeClr val="tx1"/>
                          </a:solidFill>
                          <a:effectLst/>
                          <a:latin typeface="+mn-lt"/>
                          <a:ea typeface="+mn-ea"/>
                          <a:cs typeface="+mn-cs"/>
                        </a:rPr>
                        <a:t>항 또는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6</a:t>
                      </a:r>
                      <a:r>
                        <a:rPr lang="ko-KR" altLang="en-US" sz="1200" kern="1200" dirty="0">
                          <a:solidFill>
                            <a:schemeClr val="tx1"/>
                          </a:solidFill>
                          <a:effectLst/>
                          <a:latin typeface="+mn-lt"/>
                          <a:ea typeface="+mn-ea"/>
                          <a:cs typeface="+mn-cs"/>
                        </a:rPr>
                        <a:t>항에 따라 지정된 </a:t>
                      </a:r>
                      <a:r>
                        <a:rPr lang="ko-KR" altLang="en-US" sz="1200" kern="1200" dirty="0" err="1">
                          <a:solidFill>
                            <a:schemeClr val="tx1"/>
                          </a:solidFill>
                          <a:effectLst/>
                          <a:latin typeface="+mn-lt"/>
                          <a:ea typeface="+mn-ea"/>
                          <a:cs typeface="+mn-cs"/>
                        </a:rPr>
                        <a:t>기간에”로</a:t>
                      </a:r>
                      <a:r>
                        <a:rPr lang="ko-KR" altLang="en-US" sz="1200" kern="1200" dirty="0">
                          <a:solidFill>
                            <a:schemeClr val="tx1"/>
                          </a:solidFill>
                          <a:effectLst/>
                          <a:latin typeface="+mn-lt"/>
                          <a:ea typeface="+mn-ea"/>
                          <a:cs typeface="+mn-cs"/>
                        </a:rPr>
                        <a:t> 본다</a:t>
                      </a:r>
                      <a:r>
                        <a:rPr lang="en-US" altLang="ko-KR" sz="1200" kern="1200" dirty="0">
                          <a:solidFill>
                            <a:schemeClr val="tx1"/>
                          </a:solidFill>
                          <a:effectLst/>
                          <a:latin typeface="+mn-lt"/>
                          <a:ea typeface="+mn-ea"/>
                          <a:cs typeface="+mn-cs"/>
                        </a:rPr>
                        <a:t>.</a:t>
                      </a:r>
                      <a:endParaRPr lang="ko-KR" altLang="en-US" sz="1200" kern="1200" dirty="0">
                        <a:solidFill>
                          <a:schemeClr val="tx1"/>
                        </a:solidFill>
                        <a:effectLst/>
                        <a:latin typeface="+mn-lt"/>
                        <a:ea typeface="+mn-ea"/>
                        <a:cs typeface="+mn-cs"/>
                      </a:endParaRPr>
                    </a:p>
                    <a:p>
                      <a:pPr fontAlgn="base" latinLnBrk="1"/>
                      <a:r>
                        <a:rPr lang="ko-KR" altLang="en-US" sz="1200" kern="1200" dirty="0">
                          <a:solidFill>
                            <a:schemeClr val="tx1"/>
                          </a:solidFill>
                          <a:effectLst/>
                          <a:latin typeface="+mn-lt"/>
                          <a:ea typeface="+mn-ea"/>
                          <a:cs typeface="+mn-cs"/>
                        </a:rPr>
                        <a:t>④ 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항에 따른 </a:t>
                      </a:r>
                      <a:r>
                        <a:rPr lang="ko-KR" altLang="en-US" sz="1200" kern="1200" dirty="0" err="1">
                          <a:solidFill>
                            <a:schemeClr val="tx1"/>
                          </a:solidFill>
                          <a:effectLst/>
                          <a:latin typeface="+mn-lt"/>
                          <a:ea typeface="+mn-ea"/>
                          <a:cs typeface="+mn-cs"/>
                        </a:rPr>
                        <a:t>정정청구는</a:t>
                      </a:r>
                      <a:r>
                        <a:rPr lang="ko-KR" altLang="en-US" sz="1200" kern="1200" dirty="0">
                          <a:solidFill>
                            <a:schemeClr val="tx1"/>
                          </a:solidFill>
                          <a:effectLst/>
                          <a:latin typeface="+mn-lt"/>
                          <a:ea typeface="+mn-ea"/>
                          <a:cs typeface="+mn-cs"/>
                        </a:rPr>
                        <a:t> 다음 각 호의 어느 하나에 해당하는 기간에만 취하할 수 있다</a:t>
                      </a:r>
                      <a:r>
                        <a:rPr lang="en-US" altLang="ko-KR" sz="1200" kern="1200" dirty="0">
                          <a:solidFill>
                            <a:schemeClr val="tx1"/>
                          </a:solidFill>
                          <a:effectLst/>
                          <a:latin typeface="+mn-lt"/>
                          <a:ea typeface="+mn-ea"/>
                          <a:cs typeface="+mn-cs"/>
                        </a:rPr>
                        <a:t>.</a:t>
                      </a:r>
                      <a:endParaRPr lang="ko-KR" altLang="en-US" sz="1200" kern="1200" dirty="0">
                        <a:solidFill>
                          <a:schemeClr val="tx1"/>
                        </a:solidFill>
                        <a:effectLst/>
                        <a:latin typeface="+mn-lt"/>
                        <a:ea typeface="+mn-ea"/>
                        <a:cs typeface="+mn-cs"/>
                      </a:endParaRPr>
                    </a:p>
                    <a:p>
                      <a:pPr fontAlgn="base" latinLnBrk="1"/>
                      <a:r>
                        <a:rPr lang="en-US" altLang="ko-KR" sz="1200" kern="1200" dirty="0">
                          <a:solidFill>
                            <a:schemeClr val="tx1"/>
                          </a:solidFill>
                          <a:effectLst/>
                          <a:latin typeface="+mn-lt"/>
                          <a:ea typeface="+mn-ea"/>
                          <a:cs typeface="+mn-cs"/>
                        </a:rPr>
                        <a:t>1. </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항에 따라 정정을 청구할 수 있도록 지정된 기간과 그 기간의 만료일부터 </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개월 이내의 기간</a:t>
                      </a:r>
                    </a:p>
                    <a:p>
                      <a:pPr fontAlgn="base" latinLnBrk="1"/>
                      <a:r>
                        <a:rPr lang="en-US" altLang="ko-KR" sz="1200" kern="1200" dirty="0">
                          <a:solidFill>
                            <a:schemeClr val="tx1"/>
                          </a:solidFill>
                          <a:effectLst/>
                          <a:latin typeface="+mn-lt"/>
                          <a:ea typeface="+mn-ea"/>
                          <a:cs typeface="+mn-cs"/>
                        </a:rPr>
                        <a:t>2. </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항에서 준용하는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6</a:t>
                      </a:r>
                      <a:r>
                        <a:rPr lang="ko-KR" altLang="en-US" sz="1200" kern="1200" dirty="0">
                          <a:solidFill>
                            <a:schemeClr val="tx1"/>
                          </a:solidFill>
                          <a:effectLst/>
                          <a:latin typeface="+mn-lt"/>
                          <a:ea typeface="+mn-ea"/>
                          <a:cs typeface="+mn-cs"/>
                        </a:rPr>
                        <a:t>항에 따라 지정된 기간</a:t>
                      </a:r>
                    </a:p>
                    <a:p>
                      <a:pPr fontAlgn="base" latinLnBrk="1"/>
                      <a:r>
                        <a:rPr lang="ko-KR" altLang="en-US" sz="1200" kern="1200" dirty="0">
                          <a:solidFill>
                            <a:schemeClr val="tx1"/>
                          </a:solidFill>
                          <a:effectLst/>
                          <a:latin typeface="+mn-lt"/>
                          <a:ea typeface="+mn-ea"/>
                          <a:cs typeface="+mn-cs"/>
                        </a:rPr>
                        <a:t>⑤ 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항을 적용할 때 제</a:t>
                      </a:r>
                      <a:r>
                        <a:rPr lang="en-US" altLang="ko-KR" sz="1200" kern="1200" dirty="0">
                          <a:solidFill>
                            <a:schemeClr val="tx1"/>
                          </a:solidFill>
                          <a:effectLst/>
                          <a:latin typeface="+mn-lt"/>
                          <a:ea typeface="+mn-ea"/>
                          <a:cs typeface="+mn-cs"/>
                        </a:rPr>
                        <a:t>132</a:t>
                      </a:r>
                      <a:r>
                        <a:rPr lang="ko-KR" altLang="en-US" sz="1200" kern="1200" dirty="0">
                          <a:solidFill>
                            <a:schemeClr val="tx1"/>
                          </a:solidFill>
                          <a:effectLst/>
                          <a:latin typeface="+mn-lt"/>
                          <a:ea typeface="+mn-ea"/>
                          <a:cs typeface="+mn-cs"/>
                        </a:rPr>
                        <a:t>조의</a:t>
                      </a:r>
                      <a:r>
                        <a:rPr lang="en-US" altLang="ko-KR" sz="1200" kern="1200" dirty="0">
                          <a:solidFill>
                            <a:schemeClr val="tx1"/>
                          </a:solidFill>
                          <a:effectLst/>
                          <a:latin typeface="+mn-lt"/>
                          <a:ea typeface="+mn-ea"/>
                          <a:cs typeface="+mn-cs"/>
                        </a:rPr>
                        <a:t>2</a:t>
                      </a:r>
                      <a:r>
                        <a:rPr lang="ko-KR" altLang="en-US" sz="1200" kern="1200" dirty="0">
                          <a:solidFill>
                            <a:schemeClr val="tx1"/>
                          </a:solidFill>
                          <a:effectLst/>
                          <a:latin typeface="+mn-lt"/>
                          <a:ea typeface="+mn-ea"/>
                          <a:cs typeface="+mn-cs"/>
                        </a:rPr>
                        <a:t>에 따라 특허취소신청이 된 </a:t>
                      </a:r>
                      <a:r>
                        <a:rPr lang="ko-KR" altLang="en-US" sz="1200" kern="1200" dirty="0" err="1">
                          <a:solidFill>
                            <a:schemeClr val="tx1"/>
                          </a:solidFill>
                          <a:effectLst/>
                          <a:latin typeface="+mn-lt"/>
                          <a:ea typeface="+mn-ea"/>
                          <a:cs typeface="+mn-cs"/>
                        </a:rPr>
                        <a:t>청구항을</a:t>
                      </a:r>
                      <a:r>
                        <a:rPr lang="ko-KR" altLang="en-US" sz="1200" kern="1200" dirty="0">
                          <a:solidFill>
                            <a:schemeClr val="tx1"/>
                          </a:solidFill>
                          <a:effectLst/>
                          <a:latin typeface="+mn-lt"/>
                          <a:ea typeface="+mn-ea"/>
                          <a:cs typeface="+mn-cs"/>
                        </a:rPr>
                        <a:t> 정정하는 경우에는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5</a:t>
                      </a:r>
                      <a:r>
                        <a:rPr lang="ko-KR" altLang="en-US" sz="1200" kern="1200" dirty="0">
                          <a:solidFill>
                            <a:schemeClr val="tx1"/>
                          </a:solidFill>
                          <a:effectLst/>
                          <a:latin typeface="+mn-lt"/>
                          <a:ea typeface="+mn-ea"/>
                          <a:cs typeface="+mn-cs"/>
                        </a:rPr>
                        <a:t>항을 준용하지 아니한다</a:t>
                      </a:r>
                      <a:r>
                        <a:rPr lang="en-US" altLang="ko-KR" sz="1200" kern="1200" dirty="0">
                          <a:solidFill>
                            <a:schemeClr val="tx1"/>
                          </a:solidFill>
                          <a:effectLst/>
                          <a:latin typeface="+mn-lt"/>
                          <a:ea typeface="+mn-ea"/>
                          <a:cs typeface="+mn-cs"/>
                        </a:rPr>
                        <a:t>.</a:t>
                      </a:r>
                      <a:endParaRPr lang="ko-KR" altLang="en-US" sz="1200" dirty="0"/>
                    </a:p>
                  </a:txBody>
                  <a:tcPr/>
                </a:tc>
                <a:tc>
                  <a:txBody>
                    <a:bodyPr/>
                    <a:lstStyle/>
                    <a:p>
                      <a:pPr fontAlgn="base" latinLnBrk="0"/>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133</a:t>
                      </a:r>
                      <a:r>
                        <a:rPr lang="ko-KR" altLang="en-US" sz="1200" kern="1200" dirty="0">
                          <a:solidFill>
                            <a:schemeClr val="tx1"/>
                          </a:solidFill>
                          <a:effectLst/>
                          <a:latin typeface="+mn-lt"/>
                          <a:ea typeface="+mn-ea"/>
                          <a:cs typeface="+mn-cs"/>
                        </a:rPr>
                        <a:t>조의</a:t>
                      </a:r>
                      <a:r>
                        <a:rPr lang="en-US" altLang="ko-KR" sz="1200" kern="1200" dirty="0">
                          <a:solidFill>
                            <a:schemeClr val="tx1"/>
                          </a:solidFill>
                          <a:effectLst/>
                          <a:latin typeface="+mn-lt"/>
                          <a:ea typeface="+mn-ea"/>
                          <a:cs typeface="+mn-cs"/>
                        </a:rPr>
                        <a:t>2【</a:t>
                      </a:r>
                      <a:r>
                        <a:rPr lang="ko-KR" altLang="en-US" sz="1200" kern="1200" dirty="0">
                          <a:solidFill>
                            <a:schemeClr val="tx1"/>
                          </a:solidFill>
                          <a:effectLst/>
                          <a:latin typeface="+mn-lt"/>
                          <a:ea typeface="+mn-ea"/>
                          <a:cs typeface="+mn-cs"/>
                        </a:rPr>
                        <a:t>특허무효심판절차에서의 특허의 정정</a:t>
                      </a:r>
                      <a:r>
                        <a:rPr lang="en-US" altLang="ko-KR" sz="1200" kern="1200" dirty="0">
                          <a:solidFill>
                            <a:schemeClr val="tx1"/>
                          </a:solidFill>
                          <a:effectLst/>
                          <a:latin typeface="+mn-lt"/>
                          <a:ea typeface="+mn-ea"/>
                          <a:cs typeface="+mn-cs"/>
                        </a:rPr>
                        <a:t>】</a:t>
                      </a:r>
                      <a:endParaRPr lang="ko-KR" altLang="en-US" sz="1200" kern="1200" dirty="0">
                        <a:solidFill>
                          <a:schemeClr val="tx1"/>
                        </a:solidFill>
                        <a:effectLst/>
                        <a:latin typeface="+mn-lt"/>
                        <a:ea typeface="+mn-ea"/>
                        <a:cs typeface="+mn-cs"/>
                      </a:endParaRPr>
                    </a:p>
                    <a:p>
                      <a:pPr fontAlgn="base" latinLnBrk="1"/>
                      <a:r>
                        <a:rPr lang="ko-KR" altLang="en-US" sz="1200" kern="1200" dirty="0">
                          <a:solidFill>
                            <a:schemeClr val="tx1"/>
                          </a:solidFill>
                          <a:effectLst/>
                          <a:latin typeface="+mn-lt"/>
                          <a:ea typeface="+mn-ea"/>
                          <a:cs typeface="+mn-cs"/>
                        </a:rPr>
                        <a:t>① 제</a:t>
                      </a:r>
                      <a:r>
                        <a:rPr lang="en-US" altLang="ko-KR" sz="1200" kern="1200" dirty="0">
                          <a:solidFill>
                            <a:schemeClr val="tx1"/>
                          </a:solidFill>
                          <a:effectLst/>
                          <a:latin typeface="+mn-lt"/>
                          <a:ea typeface="+mn-ea"/>
                          <a:cs typeface="+mn-cs"/>
                        </a:rPr>
                        <a:t>133</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항에 따른 심판의 피청구인은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 각 호의 어느 하나에 해당하는 경우에만 </a:t>
                      </a:r>
                      <a:r>
                        <a:rPr lang="ko-KR" altLang="en-US" sz="1200" kern="1200" dirty="0">
                          <a:solidFill>
                            <a:srgbClr val="FF0000"/>
                          </a:solidFill>
                          <a:effectLst/>
                          <a:latin typeface="+mn-lt"/>
                          <a:ea typeface="+mn-ea"/>
                          <a:cs typeface="+mn-cs"/>
                        </a:rPr>
                        <a:t>제</a:t>
                      </a:r>
                      <a:r>
                        <a:rPr lang="en-US" altLang="ko-KR" sz="1200" kern="1200" dirty="0">
                          <a:solidFill>
                            <a:srgbClr val="FF0000"/>
                          </a:solidFill>
                          <a:effectLst/>
                          <a:latin typeface="+mn-lt"/>
                          <a:ea typeface="+mn-ea"/>
                          <a:cs typeface="+mn-cs"/>
                        </a:rPr>
                        <a:t>147</a:t>
                      </a:r>
                      <a:r>
                        <a:rPr lang="ko-KR" altLang="en-US" sz="1200" kern="1200" dirty="0">
                          <a:solidFill>
                            <a:srgbClr val="FF0000"/>
                          </a:solidFill>
                          <a:effectLst/>
                          <a:latin typeface="+mn-lt"/>
                          <a:ea typeface="+mn-ea"/>
                          <a:cs typeface="+mn-cs"/>
                        </a:rPr>
                        <a:t>조제</a:t>
                      </a:r>
                      <a:r>
                        <a:rPr lang="en-US" altLang="ko-KR" sz="1200" kern="1200" dirty="0">
                          <a:solidFill>
                            <a:srgbClr val="FF0000"/>
                          </a:solidFill>
                          <a:effectLst/>
                          <a:latin typeface="+mn-lt"/>
                          <a:ea typeface="+mn-ea"/>
                          <a:cs typeface="+mn-cs"/>
                        </a:rPr>
                        <a:t>1</a:t>
                      </a:r>
                      <a:r>
                        <a:rPr lang="ko-KR" altLang="en-US" sz="1200" kern="1200" dirty="0">
                          <a:solidFill>
                            <a:srgbClr val="FF0000"/>
                          </a:solidFill>
                          <a:effectLst/>
                          <a:latin typeface="+mn-lt"/>
                          <a:ea typeface="+mn-ea"/>
                          <a:cs typeface="+mn-cs"/>
                        </a:rPr>
                        <a:t>항 또는 제</a:t>
                      </a:r>
                      <a:r>
                        <a:rPr lang="en-US" altLang="ko-KR" sz="1200" kern="1200" dirty="0">
                          <a:solidFill>
                            <a:srgbClr val="FF0000"/>
                          </a:solidFill>
                          <a:effectLst/>
                          <a:latin typeface="+mn-lt"/>
                          <a:ea typeface="+mn-ea"/>
                          <a:cs typeface="+mn-cs"/>
                        </a:rPr>
                        <a:t>159</a:t>
                      </a:r>
                      <a:r>
                        <a:rPr lang="ko-KR" altLang="en-US" sz="1200" kern="1200" dirty="0">
                          <a:solidFill>
                            <a:srgbClr val="FF0000"/>
                          </a:solidFill>
                          <a:effectLst/>
                          <a:latin typeface="+mn-lt"/>
                          <a:ea typeface="+mn-ea"/>
                          <a:cs typeface="+mn-cs"/>
                        </a:rPr>
                        <a:t>조제</a:t>
                      </a:r>
                      <a:r>
                        <a:rPr lang="en-US" altLang="ko-KR" sz="1200" kern="1200" dirty="0">
                          <a:solidFill>
                            <a:srgbClr val="FF0000"/>
                          </a:solidFill>
                          <a:effectLst/>
                          <a:latin typeface="+mn-lt"/>
                          <a:ea typeface="+mn-ea"/>
                          <a:cs typeface="+mn-cs"/>
                        </a:rPr>
                        <a:t>1</a:t>
                      </a:r>
                      <a:r>
                        <a:rPr lang="ko-KR" altLang="en-US" sz="1200" kern="1200" dirty="0">
                          <a:solidFill>
                            <a:srgbClr val="FF0000"/>
                          </a:solidFill>
                          <a:effectLst/>
                          <a:latin typeface="+mn-lt"/>
                          <a:ea typeface="+mn-ea"/>
                          <a:cs typeface="+mn-cs"/>
                        </a:rPr>
                        <a:t>항 후단에 따라 지정된 기간</a:t>
                      </a:r>
                      <a:r>
                        <a:rPr lang="ko-KR" altLang="en-US" sz="1200" kern="1200" dirty="0">
                          <a:solidFill>
                            <a:schemeClr val="tx1"/>
                          </a:solidFill>
                          <a:effectLst/>
                          <a:latin typeface="+mn-lt"/>
                          <a:ea typeface="+mn-ea"/>
                          <a:cs typeface="+mn-cs"/>
                        </a:rPr>
                        <a:t>에 특허발명의 명세서 또는 도면에 대하여 정정청구를 할 수 있다</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이 경우 </a:t>
                      </a:r>
                      <a:r>
                        <a:rPr lang="ko-KR" altLang="en-US" sz="1200" kern="1200" dirty="0">
                          <a:solidFill>
                            <a:srgbClr val="FF0000"/>
                          </a:solidFill>
                          <a:effectLst/>
                          <a:latin typeface="+mn-lt"/>
                          <a:ea typeface="+mn-ea"/>
                          <a:cs typeface="+mn-cs"/>
                        </a:rPr>
                        <a:t>심판장이 제</a:t>
                      </a:r>
                      <a:r>
                        <a:rPr lang="en-US" altLang="ko-KR" sz="1200" kern="1200" dirty="0">
                          <a:solidFill>
                            <a:srgbClr val="FF0000"/>
                          </a:solidFill>
                          <a:effectLst/>
                          <a:latin typeface="+mn-lt"/>
                          <a:ea typeface="+mn-ea"/>
                          <a:cs typeface="+mn-cs"/>
                        </a:rPr>
                        <a:t>147</a:t>
                      </a:r>
                      <a:r>
                        <a:rPr lang="ko-KR" altLang="en-US" sz="1200" kern="1200" dirty="0">
                          <a:solidFill>
                            <a:srgbClr val="FF0000"/>
                          </a:solidFill>
                          <a:effectLst/>
                          <a:latin typeface="+mn-lt"/>
                          <a:ea typeface="+mn-ea"/>
                          <a:cs typeface="+mn-cs"/>
                        </a:rPr>
                        <a:t>조제</a:t>
                      </a:r>
                      <a:r>
                        <a:rPr lang="en-US" altLang="ko-KR" sz="1200" kern="1200" dirty="0">
                          <a:solidFill>
                            <a:srgbClr val="FF0000"/>
                          </a:solidFill>
                          <a:effectLst/>
                          <a:latin typeface="+mn-lt"/>
                          <a:ea typeface="+mn-ea"/>
                          <a:cs typeface="+mn-cs"/>
                        </a:rPr>
                        <a:t>1</a:t>
                      </a:r>
                      <a:r>
                        <a:rPr lang="ko-KR" altLang="en-US" sz="1200" kern="1200" dirty="0">
                          <a:solidFill>
                            <a:srgbClr val="FF0000"/>
                          </a:solidFill>
                          <a:effectLst/>
                          <a:latin typeface="+mn-lt"/>
                          <a:ea typeface="+mn-ea"/>
                          <a:cs typeface="+mn-cs"/>
                        </a:rPr>
                        <a:t>항에 따라 지정된 기간 후에도 청구인이 증거를 제출하거나 새로운 무효사유를 주장함으로 인하여 정정청구를 허용할 필요가 있다고 인정하는 경우에는 기간을 정하여 정정청구를 하게 할 수 있다</a:t>
                      </a:r>
                      <a:r>
                        <a:rPr lang="en-US" altLang="ko-KR" sz="1200" kern="1200" dirty="0">
                          <a:solidFill>
                            <a:srgbClr val="FF0000"/>
                          </a:solidFill>
                          <a:effectLst/>
                          <a:latin typeface="+mn-lt"/>
                          <a:ea typeface="+mn-ea"/>
                          <a:cs typeface="+mn-cs"/>
                        </a:rPr>
                        <a:t>. </a:t>
                      </a:r>
                    </a:p>
                    <a:p>
                      <a:pPr fontAlgn="base" latinLnBrk="1"/>
                      <a:r>
                        <a:rPr lang="ko-KR" altLang="en-US" sz="1200" kern="1200" dirty="0">
                          <a:solidFill>
                            <a:schemeClr val="tx1"/>
                          </a:solidFill>
                          <a:effectLst/>
                          <a:latin typeface="+mn-lt"/>
                          <a:ea typeface="+mn-ea"/>
                          <a:cs typeface="+mn-cs"/>
                        </a:rPr>
                        <a:t>② 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항에 따른 정정청구를 하였을 때에는 해당 무효심판절차에서 그 </a:t>
                      </a:r>
                      <a:r>
                        <a:rPr lang="ko-KR" altLang="en-US" sz="1200" kern="1200" dirty="0" err="1">
                          <a:solidFill>
                            <a:schemeClr val="tx1"/>
                          </a:solidFill>
                          <a:effectLst/>
                          <a:latin typeface="+mn-lt"/>
                          <a:ea typeface="+mn-ea"/>
                          <a:cs typeface="+mn-cs"/>
                        </a:rPr>
                        <a:t>정정청구</a:t>
                      </a:r>
                      <a:r>
                        <a:rPr lang="ko-KR" altLang="en-US" sz="1200" kern="1200" dirty="0">
                          <a:solidFill>
                            <a:schemeClr val="tx1"/>
                          </a:solidFill>
                          <a:effectLst/>
                          <a:latin typeface="+mn-lt"/>
                          <a:ea typeface="+mn-ea"/>
                          <a:cs typeface="+mn-cs"/>
                        </a:rPr>
                        <a:t> 전에 한 </a:t>
                      </a:r>
                      <a:r>
                        <a:rPr lang="ko-KR" altLang="en-US" sz="1200" kern="1200" dirty="0" err="1">
                          <a:solidFill>
                            <a:schemeClr val="tx1"/>
                          </a:solidFill>
                          <a:effectLst/>
                          <a:latin typeface="+mn-lt"/>
                          <a:ea typeface="+mn-ea"/>
                          <a:cs typeface="+mn-cs"/>
                        </a:rPr>
                        <a:t>정정청구는</a:t>
                      </a:r>
                      <a:r>
                        <a:rPr lang="ko-KR" altLang="en-US" sz="1200" kern="1200" dirty="0">
                          <a:solidFill>
                            <a:schemeClr val="tx1"/>
                          </a:solidFill>
                          <a:effectLst/>
                          <a:latin typeface="+mn-lt"/>
                          <a:ea typeface="+mn-ea"/>
                          <a:cs typeface="+mn-cs"/>
                        </a:rPr>
                        <a:t> 취하된 것으로 본다</a:t>
                      </a:r>
                      <a:r>
                        <a:rPr lang="en-US" altLang="ko-KR" sz="1200" kern="1200" dirty="0">
                          <a:solidFill>
                            <a:schemeClr val="tx1"/>
                          </a:solidFill>
                          <a:effectLst/>
                          <a:latin typeface="+mn-lt"/>
                          <a:ea typeface="+mn-ea"/>
                          <a:cs typeface="+mn-cs"/>
                        </a:rPr>
                        <a:t>.</a:t>
                      </a:r>
                      <a:endParaRPr lang="ko-KR" altLang="en-US" sz="1200" kern="1200" dirty="0">
                        <a:solidFill>
                          <a:schemeClr val="tx1"/>
                        </a:solidFill>
                        <a:effectLst/>
                        <a:latin typeface="+mn-lt"/>
                        <a:ea typeface="+mn-ea"/>
                        <a:cs typeface="+mn-cs"/>
                      </a:endParaRPr>
                    </a:p>
                    <a:p>
                      <a:pPr fontAlgn="base" latinLnBrk="1"/>
                      <a:r>
                        <a:rPr lang="ko-KR" altLang="en-US" sz="1200" kern="1200" dirty="0">
                          <a:solidFill>
                            <a:schemeClr val="accent1"/>
                          </a:solidFill>
                          <a:effectLst/>
                          <a:latin typeface="+mn-lt"/>
                          <a:ea typeface="+mn-ea"/>
                          <a:cs typeface="+mn-cs"/>
                        </a:rPr>
                        <a:t>③ 심판장은 제</a:t>
                      </a:r>
                      <a:r>
                        <a:rPr lang="en-US" altLang="ko-KR" sz="1200" kern="1200" dirty="0">
                          <a:solidFill>
                            <a:schemeClr val="accent1"/>
                          </a:solidFill>
                          <a:effectLst/>
                          <a:latin typeface="+mn-lt"/>
                          <a:ea typeface="+mn-ea"/>
                          <a:cs typeface="+mn-cs"/>
                        </a:rPr>
                        <a:t>1</a:t>
                      </a:r>
                      <a:r>
                        <a:rPr lang="ko-KR" altLang="en-US" sz="1200" kern="1200" dirty="0">
                          <a:solidFill>
                            <a:schemeClr val="accent1"/>
                          </a:solidFill>
                          <a:effectLst/>
                          <a:latin typeface="+mn-lt"/>
                          <a:ea typeface="+mn-ea"/>
                          <a:cs typeface="+mn-cs"/>
                        </a:rPr>
                        <a:t>항에 따른 </a:t>
                      </a:r>
                      <a:r>
                        <a:rPr lang="ko-KR" altLang="en-US" sz="1200" kern="1200" dirty="0" err="1">
                          <a:solidFill>
                            <a:schemeClr val="accent1"/>
                          </a:solidFill>
                          <a:effectLst/>
                          <a:latin typeface="+mn-lt"/>
                          <a:ea typeface="+mn-ea"/>
                          <a:cs typeface="+mn-cs"/>
                        </a:rPr>
                        <a:t>정정청구가</a:t>
                      </a:r>
                      <a:r>
                        <a:rPr lang="ko-KR" altLang="en-US" sz="1200" kern="1200" dirty="0">
                          <a:solidFill>
                            <a:schemeClr val="accent1"/>
                          </a:solidFill>
                          <a:effectLst/>
                          <a:latin typeface="+mn-lt"/>
                          <a:ea typeface="+mn-ea"/>
                          <a:cs typeface="+mn-cs"/>
                        </a:rPr>
                        <a:t> 있을 때에는 그 청구서의 부본을 제</a:t>
                      </a:r>
                      <a:r>
                        <a:rPr lang="en-US" altLang="ko-KR" sz="1200" kern="1200" dirty="0">
                          <a:solidFill>
                            <a:schemeClr val="accent1"/>
                          </a:solidFill>
                          <a:effectLst/>
                          <a:latin typeface="+mn-lt"/>
                          <a:ea typeface="+mn-ea"/>
                          <a:cs typeface="+mn-cs"/>
                        </a:rPr>
                        <a:t>133</a:t>
                      </a:r>
                      <a:r>
                        <a:rPr lang="ko-KR" altLang="en-US" sz="1200" kern="1200" dirty="0">
                          <a:solidFill>
                            <a:schemeClr val="accent1"/>
                          </a:solidFill>
                          <a:effectLst/>
                          <a:latin typeface="+mn-lt"/>
                          <a:ea typeface="+mn-ea"/>
                          <a:cs typeface="+mn-cs"/>
                        </a:rPr>
                        <a:t>조제</a:t>
                      </a:r>
                      <a:r>
                        <a:rPr lang="en-US" altLang="ko-KR" sz="1200" kern="1200" dirty="0">
                          <a:solidFill>
                            <a:schemeClr val="accent1"/>
                          </a:solidFill>
                          <a:effectLst/>
                          <a:latin typeface="+mn-lt"/>
                          <a:ea typeface="+mn-ea"/>
                          <a:cs typeface="+mn-cs"/>
                        </a:rPr>
                        <a:t>1</a:t>
                      </a:r>
                      <a:r>
                        <a:rPr lang="ko-KR" altLang="en-US" sz="1200" kern="1200" dirty="0">
                          <a:solidFill>
                            <a:schemeClr val="accent1"/>
                          </a:solidFill>
                          <a:effectLst/>
                          <a:latin typeface="+mn-lt"/>
                          <a:ea typeface="+mn-ea"/>
                          <a:cs typeface="+mn-cs"/>
                        </a:rPr>
                        <a:t>항에 따른 심판의 청구인에게 송달하여야 한다</a:t>
                      </a:r>
                      <a:r>
                        <a:rPr lang="en-US" altLang="ko-KR" sz="1200" kern="1200" dirty="0">
                          <a:solidFill>
                            <a:schemeClr val="accent1"/>
                          </a:solidFill>
                          <a:effectLst/>
                          <a:latin typeface="+mn-lt"/>
                          <a:ea typeface="+mn-ea"/>
                          <a:cs typeface="+mn-cs"/>
                        </a:rPr>
                        <a:t>.</a:t>
                      </a:r>
                      <a:endParaRPr lang="ko-KR" altLang="en-US" sz="1200" kern="1200" dirty="0">
                        <a:solidFill>
                          <a:schemeClr val="accent1"/>
                        </a:solidFill>
                        <a:effectLst/>
                        <a:latin typeface="+mn-lt"/>
                        <a:ea typeface="+mn-ea"/>
                        <a:cs typeface="+mn-cs"/>
                      </a:endParaRPr>
                    </a:p>
                    <a:p>
                      <a:pPr fontAlgn="base" latinLnBrk="1"/>
                      <a:r>
                        <a:rPr lang="ko-KR" altLang="en-US" sz="1200" kern="1200" dirty="0">
                          <a:solidFill>
                            <a:schemeClr val="tx1"/>
                          </a:solidFill>
                          <a:effectLst/>
                          <a:latin typeface="+mn-lt"/>
                          <a:ea typeface="+mn-ea"/>
                          <a:cs typeface="+mn-cs"/>
                        </a:rPr>
                        <a:t>④ 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항에 따른 </a:t>
                      </a:r>
                      <a:r>
                        <a:rPr lang="ko-KR" altLang="en-US" sz="1200" kern="1200" dirty="0" err="1">
                          <a:solidFill>
                            <a:schemeClr val="tx1"/>
                          </a:solidFill>
                          <a:effectLst/>
                          <a:latin typeface="+mn-lt"/>
                          <a:ea typeface="+mn-ea"/>
                          <a:cs typeface="+mn-cs"/>
                        </a:rPr>
                        <a:t>정정청구에</a:t>
                      </a:r>
                      <a:r>
                        <a:rPr lang="ko-KR" altLang="en-US" sz="1200" kern="1200" dirty="0">
                          <a:solidFill>
                            <a:schemeClr val="tx1"/>
                          </a:solidFill>
                          <a:effectLst/>
                          <a:latin typeface="+mn-lt"/>
                          <a:ea typeface="+mn-ea"/>
                          <a:cs typeface="+mn-cs"/>
                        </a:rPr>
                        <a:t> 관하여는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항부터 제</a:t>
                      </a:r>
                      <a:r>
                        <a:rPr lang="en-US" altLang="ko-KR" sz="1200" kern="1200" dirty="0">
                          <a:solidFill>
                            <a:schemeClr val="tx1"/>
                          </a:solidFill>
                          <a:effectLst/>
                          <a:latin typeface="+mn-lt"/>
                          <a:ea typeface="+mn-ea"/>
                          <a:cs typeface="+mn-cs"/>
                        </a:rPr>
                        <a:t>6</a:t>
                      </a:r>
                      <a:r>
                        <a:rPr lang="ko-KR" altLang="en-US" sz="1200" kern="1200" dirty="0">
                          <a:solidFill>
                            <a:schemeClr val="tx1"/>
                          </a:solidFill>
                          <a:effectLst/>
                          <a:latin typeface="+mn-lt"/>
                          <a:ea typeface="+mn-ea"/>
                          <a:cs typeface="+mn-cs"/>
                        </a:rPr>
                        <a:t>항까지</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8</a:t>
                      </a:r>
                      <a:r>
                        <a:rPr lang="ko-KR" altLang="en-US" sz="1200" kern="1200" dirty="0">
                          <a:solidFill>
                            <a:schemeClr val="tx1"/>
                          </a:solidFill>
                          <a:effectLst/>
                          <a:latin typeface="+mn-lt"/>
                          <a:ea typeface="+mn-ea"/>
                          <a:cs typeface="+mn-cs"/>
                        </a:rPr>
                        <a:t>항 및 제</a:t>
                      </a:r>
                      <a:r>
                        <a:rPr lang="en-US" altLang="ko-KR" sz="1200" kern="1200" dirty="0">
                          <a:solidFill>
                            <a:schemeClr val="tx1"/>
                          </a:solidFill>
                          <a:effectLst/>
                          <a:latin typeface="+mn-lt"/>
                          <a:ea typeface="+mn-ea"/>
                          <a:cs typeface="+mn-cs"/>
                        </a:rPr>
                        <a:t>10</a:t>
                      </a:r>
                      <a:r>
                        <a:rPr lang="ko-KR" altLang="en-US" sz="1200" kern="1200" dirty="0">
                          <a:solidFill>
                            <a:schemeClr val="tx1"/>
                          </a:solidFill>
                          <a:effectLst/>
                          <a:latin typeface="+mn-lt"/>
                          <a:ea typeface="+mn-ea"/>
                          <a:cs typeface="+mn-cs"/>
                        </a:rPr>
                        <a:t>항부터 제</a:t>
                      </a:r>
                      <a:r>
                        <a:rPr lang="en-US" altLang="ko-KR" sz="1200" kern="1200" dirty="0">
                          <a:solidFill>
                            <a:schemeClr val="tx1"/>
                          </a:solidFill>
                          <a:effectLst/>
                          <a:latin typeface="+mn-lt"/>
                          <a:ea typeface="+mn-ea"/>
                          <a:cs typeface="+mn-cs"/>
                        </a:rPr>
                        <a:t>13</a:t>
                      </a:r>
                      <a:r>
                        <a:rPr lang="ko-KR" altLang="en-US" sz="1200" kern="1200" dirty="0">
                          <a:solidFill>
                            <a:schemeClr val="tx1"/>
                          </a:solidFill>
                          <a:effectLst/>
                          <a:latin typeface="+mn-lt"/>
                          <a:ea typeface="+mn-ea"/>
                          <a:cs typeface="+mn-cs"/>
                        </a:rPr>
                        <a:t>항까지</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139</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 및 제</a:t>
                      </a:r>
                      <a:r>
                        <a:rPr lang="en-US" altLang="ko-KR" sz="1200" kern="1200" dirty="0">
                          <a:solidFill>
                            <a:schemeClr val="tx1"/>
                          </a:solidFill>
                          <a:effectLst/>
                          <a:latin typeface="+mn-lt"/>
                          <a:ea typeface="+mn-ea"/>
                          <a:cs typeface="+mn-cs"/>
                        </a:rPr>
                        <a:t>140</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2</a:t>
                      </a:r>
                      <a:r>
                        <a:rPr lang="ko-KR" altLang="en-US" sz="1200" kern="1200" dirty="0">
                          <a:solidFill>
                            <a:schemeClr val="tx1"/>
                          </a:solidFill>
                          <a:effectLst/>
                          <a:latin typeface="+mn-lt"/>
                          <a:ea typeface="+mn-ea"/>
                          <a:cs typeface="+mn-cs"/>
                        </a:rPr>
                        <a:t>항</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5</a:t>
                      </a:r>
                      <a:r>
                        <a:rPr lang="ko-KR" altLang="en-US" sz="1200" kern="1200" dirty="0">
                          <a:solidFill>
                            <a:schemeClr val="tx1"/>
                          </a:solidFill>
                          <a:effectLst/>
                          <a:latin typeface="+mn-lt"/>
                          <a:ea typeface="+mn-ea"/>
                          <a:cs typeface="+mn-cs"/>
                        </a:rPr>
                        <a:t>항을 준용한다</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이 경우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11</a:t>
                      </a:r>
                      <a:r>
                        <a:rPr lang="ko-KR" altLang="en-US" sz="1200" kern="1200" dirty="0">
                          <a:solidFill>
                            <a:schemeClr val="tx1"/>
                          </a:solidFill>
                          <a:effectLst/>
                          <a:latin typeface="+mn-lt"/>
                          <a:ea typeface="+mn-ea"/>
                          <a:cs typeface="+mn-cs"/>
                        </a:rPr>
                        <a:t>항 중 </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162</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항에 따른 심리의 종결이 통지되기 전</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같은 조 제</a:t>
                      </a:r>
                      <a:r>
                        <a:rPr lang="en-US" altLang="ko-KR" sz="1200" kern="1200" dirty="0">
                          <a:solidFill>
                            <a:schemeClr val="tx1"/>
                          </a:solidFill>
                          <a:effectLst/>
                          <a:latin typeface="+mn-lt"/>
                          <a:ea typeface="+mn-ea"/>
                          <a:cs typeface="+mn-cs"/>
                        </a:rPr>
                        <a:t>4</a:t>
                      </a:r>
                      <a:r>
                        <a:rPr lang="ko-KR" altLang="en-US" sz="1200" kern="1200" dirty="0">
                          <a:solidFill>
                            <a:schemeClr val="tx1"/>
                          </a:solidFill>
                          <a:effectLst/>
                          <a:latin typeface="+mn-lt"/>
                          <a:ea typeface="+mn-ea"/>
                          <a:cs typeface="+mn-cs"/>
                        </a:rPr>
                        <a:t>항에 따라 심리가 재개된 경우에는 그 후 다시 같은 조 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항에 따른 심리의 종결이 통지되기 전</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에</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는 </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133</a:t>
                      </a:r>
                      <a:r>
                        <a:rPr lang="ko-KR" altLang="en-US" sz="1200" kern="1200" dirty="0">
                          <a:solidFill>
                            <a:schemeClr val="tx1"/>
                          </a:solidFill>
                          <a:effectLst/>
                          <a:latin typeface="+mn-lt"/>
                          <a:ea typeface="+mn-ea"/>
                          <a:cs typeface="+mn-cs"/>
                        </a:rPr>
                        <a:t>조의</a:t>
                      </a:r>
                      <a:r>
                        <a:rPr lang="en-US" altLang="ko-KR" sz="1200" kern="1200" dirty="0">
                          <a:solidFill>
                            <a:schemeClr val="tx1"/>
                          </a:solidFill>
                          <a:effectLst/>
                          <a:latin typeface="+mn-lt"/>
                          <a:ea typeface="+mn-ea"/>
                          <a:cs typeface="+mn-cs"/>
                        </a:rPr>
                        <a:t>2</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 또는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6</a:t>
                      </a:r>
                      <a:r>
                        <a:rPr lang="ko-KR" altLang="en-US" sz="1200" kern="1200" dirty="0">
                          <a:solidFill>
                            <a:schemeClr val="tx1"/>
                          </a:solidFill>
                          <a:effectLst/>
                          <a:latin typeface="+mn-lt"/>
                          <a:ea typeface="+mn-ea"/>
                          <a:cs typeface="+mn-cs"/>
                        </a:rPr>
                        <a:t>항에 따라 지정된 기간에</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로 본다</a:t>
                      </a:r>
                      <a:r>
                        <a:rPr lang="en-US" altLang="ko-KR" sz="1200" kern="1200" dirty="0">
                          <a:solidFill>
                            <a:schemeClr val="tx1"/>
                          </a:solidFill>
                          <a:effectLst/>
                          <a:latin typeface="+mn-lt"/>
                          <a:ea typeface="+mn-ea"/>
                          <a:cs typeface="+mn-cs"/>
                        </a:rPr>
                        <a:t>. </a:t>
                      </a:r>
                    </a:p>
                    <a:p>
                      <a:pPr fontAlgn="base" latinLnBrk="1"/>
                      <a:r>
                        <a:rPr lang="ko-KR" altLang="en-US" sz="1200" kern="1200" dirty="0">
                          <a:solidFill>
                            <a:schemeClr val="tx1"/>
                          </a:solidFill>
                          <a:effectLst/>
                          <a:latin typeface="+mn-lt"/>
                          <a:ea typeface="+mn-ea"/>
                          <a:cs typeface="+mn-cs"/>
                        </a:rPr>
                        <a:t>⑤ 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항에 따른 </a:t>
                      </a:r>
                      <a:r>
                        <a:rPr lang="ko-KR" altLang="en-US" sz="1200" kern="1200" dirty="0" err="1">
                          <a:solidFill>
                            <a:schemeClr val="tx1"/>
                          </a:solidFill>
                          <a:effectLst/>
                          <a:latin typeface="+mn-lt"/>
                          <a:ea typeface="+mn-ea"/>
                          <a:cs typeface="+mn-cs"/>
                        </a:rPr>
                        <a:t>정정청구는</a:t>
                      </a:r>
                      <a:r>
                        <a:rPr lang="ko-KR" altLang="en-US" sz="1200" kern="1200" dirty="0">
                          <a:solidFill>
                            <a:schemeClr val="tx1"/>
                          </a:solidFill>
                          <a:effectLst/>
                          <a:latin typeface="+mn-lt"/>
                          <a:ea typeface="+mn-ea"/>
                          <a:cs typeface="+mn-cs"/>
                        </a:rPr>
                        <a:t> 다음 각 호의 어느 하나에 해당하는 기간에만 취하할 수 있다</a:t>
                      </a:r>
                      <a:r>
                        <a:rPr lang="en-US" altLang="ko-KR" sz="1200" kern="1200" dirty="0">
                          <a:solidFill>
                            <a:schemeClr val="tx1"/>
                          </a:solidFill>
                          <a:effectLst/>
                          <a:latin typeface="+mn-lt"/>
                          <a:ea typeface="+mn-ea"/>
                          <a:cs typeface="+mn-cs"/>
                        </a:rPr>
                        <a:t>. </a:t>
                      </a:r>
                    </a:p>
                    <a:p>
                      <a:pPr fontAlgn="base" latinLnBrk="1"/>
                      <a:r>
                        <a:rPr lang="en-US" altLang="ko-KR" sz="1200" kern="1200" dirty="0">
                          <a:solidFill>
                            <a:schemeClr val="tx1"/>
                          </a:solidFill>
                          <a:effectLst/>
                          <a:latin typeface="+mn-lt"/>
                          <a:ea typeface="+mn-ea"/>
                          <a:cs typeface="+mn-cs"/>
                        </a:rPr>
                        <a:t>1. </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항에 따라 정정을 청구할 수 있도록 지정된 기간과 그 기간의 만료일부터 </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개월 이내의 기간</a:t>
                      </a:r>
                    </a:p>
                    <a:p>
                      <a:pPr fontAlgn="base" latinLnBrk="1"/>
                      <a:r>
                        <a:rPr lang="en-US" altLang="ko-KR" sz="1200" kern="1200" dirty="0">
                          <a:solidFill>
                            <a:schemeClr val="tx1"/>
                          </a:solidFill>
                          <a:effectLst/>
                          <a:latin typeface="+mn-lt"/>
                          <a:ea typeface="+mn-ea"/>
                          <a:cs typeface="+mn-cs"/>
                        </a:rPr>
                        <a:t>2. </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4</a:t>
                      </a:r>
                      <a:r>
                        <a:rPr lang="ko-KR" altLang="en-US" sz="1200" kern="1200" dirty="0">
                          <a:solidFill>
                            <a:schemeClr val="tx1"/>
                          </a:solidFill>
                          <a:effectLst/>
                          <a:latin typeface="+mn-lt"/>
                          <a:ea typeface="+mn-ea"/>
                          <a:cs typeface="+mn-cs"/>
                        </a:rPr>
                        <a:t>항에서 준용하는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6</a:t>
                      </a:r>
                      <a:r>
                        <a:rPr lang="ko-KR" altLang="en-US" sz="1200" kern="1200" dirty="0">
                          <a:solidFill>
                            <a:schemeClr val="tx1"/>
                          </a:solidFill>
                          <a:effectLst/>
                          <a:latin typeface="+mn-lt"/>
                          <a:ea typeface="+mn-ea"/>
                          <a:cs typeface="+mn-cs"/>
                        </a:rPr>
                        <a:t>항에 따라 지정된 기간</a:t>
                      </a:r>
                    </a:p>
                    <a:p>
                      <a:pPr fontAlgn="base" latinLnBrk="1"/>
                      <a:r>
                        <a:rPr lang="ko-KR" altLang="en-US" sz="1200" kern="1200" dirty="0">
                          <a:solidFill>
                            <a:schemeClr val="tx1"/>
                          </a:solidFill>
                          <a:effectLst/>
                          <a:latin typeface="+mn-lt"/>
                          <a:ea typeface="+mn-ea"/>
                          <a:cs typeface="+mn-cs"/>
                        </a:rPr>
                        <a:t>⑥ 제</a:t>
                      </a:r>
                      <a:r>
                        <a:rPr lang="en-US" altLang="ko-KR" sz="1200" kern="1200" dirty="0">
                          <a:solidFill>
                            <a:schemeClr val="tx1"/>
                          </a:solidFill>
                          <a:effectLst/>
                          <a:latin typeface="+mn-lt"/>
                          <a:ea typeface="+mn-ea"/>
                          <a:cs typeface="+mn-cs"/>
                        </a:rPr>
                        <a:t>4</a:t>
                      </a:r>
                      <a:r>
                        <a:rPr lang="ko-KR" altLang="en-US" sz="1200" kern="1200" dirty="0">
                          <a:solidFill>
                            <a:schemeClr val="tx1"/>
                          </a:solidFill>
                          <a:effectLst/>
                          <a:latin typeface="+mn-lt"/>
                          <a:ea typeface="+mn-ea"/>
                          <a:cs typeface="+mn-cs"/>
                        </a:rPr>
                        <a:t>항을 적용할 때 제</a:t>
                      </a:r>
                      <a:r>
                        <a:rPr lang="en-US" altLang="ko-KR" sz="1200" kern="1200" dirty="0">
                          <a:solidFill>
                            <a:schemeClr val="tx1"/>
                          </a:solidFill>
                          <a:effectLst/>
                          <a:latin typeface="+mn-lt"/>
                          <a:ea typeface="+mn-ea"/>
                          <a:cs typeface="+mn-cs"/>
                        </a:rPr>
                        <a:t>133</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항에 따른 특허무효심판이 청구된 </a:t>
                      </a:r>
                      <a:r>
                        <a:rPr lang="ko-KR" altLang="en-US" sz="1200" kern="1200" dirty="0" err="1">
                          <a:solidFill>
                            <a:schemeClr val="tx1"/>
                          </a:solidFill>
                          <a:effectLst/>
                          <a:latin typeface="+mn-lt"/>
                          <a:ea typeface="+mn-ea"/>
                          <a:cs typeface="+mn-cs"/>
                        </a:rPr>
                        <a:t>청구항을</a:t>
                      </a:r>
                      <a:r>
                        <a:rPr lang="ko-KR" altLang="en-US" sz="1200" kern="1200" dirty="0">
                          <a:solidFill>
                            <a:schemeClr val="tx1"/>
                          </a:solidFill>
                          <a:effectLst/>
                          <a:latin typeface="+mn-lt"/>
                          <a:ea typeface="+mn-ea"/>
                          <a:cs typeface="+mn-cs"/>
                        </a:rPr>
                        <a:t> 정정하는 경우에는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5</a:t>
                      </a:r>
                      <a:r>
                        <a:rPr lang="ko-KR" altLang="en-US" sz="1200" kern="1200" dirty="0">
                          <a:solidFill>
                            <a:schemeClr val="tx1"/>
                          </a:solidFill>
                          <a:effectLst/>
                          <a:latin typeface="+mn-lt"/>
                          <a:ea typeface="+mn-ea"/>
                          <a:cs typeface="+mn-cs"/>
                        </a:rPr>
                        <a:t>항을 준용하지 아니한다</a:t>
                      </a:r>
                      <a:r>
                        <a:rPr lang="en-US" altLang="ko-KR" sz="1200" kern="1200" dirty="0">
                          <a:solidFill>
                            <a:schemeClr val="tx1"/>
                          </a:solidFill>
                          <a:effectLst/>
                          <a:latin typeface="+mn-lt"/>
                          <a:ea typeface="+mn-ea"/>
                          <a:cs typeface="+mn-cs"/>
                        </a:rPr>
                        <a:t>. </a:t>
                      </a:r>
                      <a:endParaRPr lang="ko-KR" altLang="en-US" sz="1200" dirty="0"/>
                    </a:p>
                  </a:txBody>
                  <a:tcPr/>
                </a:tc>
                <a:tc>
                  <a:txBody>
                    <a:bodyPr/>
                    <a:lstStyle/>
                    <a:p>
                      <a:pPr fontAlgn="base" latinLnBrk="0"/>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137</a:t>
                      </a:r>
                      <a:r>
                        <a:rPr lang="ko-KR" altLang="en-US" sz="1200" kern="1200" dirty="0">
                          <a:solidFill>
                            <a:schemeClr val="tx1"/>
                          </a:solidFill>
                          <a:effectLst/>
                          <a:latin typeface="+mn-lt"/>
                          <a:ea typeface="+mn-ea"/>
                          <a:cs typeface="+mn-cs"/>
                        </a:rPr>
                        <a:t>조</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정정의 무효심판</a:t>
                      </a:r>
                      <a:r>
                        <a:rPr lang="en-US" altLang="ko-KR" sz="1200" kern="1200" dirty="0">
                          <a:solidFill>
                            <a:schemeClr val="tx1"/>
                          </a:solidFill>
                          <a:effectLst/>
                          <a:latin typeface="+mn-lt"/>
                          <a:ea typeface="+mn-ea"/>
                          <a:cs typeface="+mn-cs"/>
                        </a:rPr>
                        <a:t>】</a:t>
                      </a:r>
                      <a:endParaRPr lang="ko-KR" altLang="en-US" sz="1200" kern="1200" dirty="0">
                        <a:solidFill>
                          <a:schemeClr val="tx1"/>
                        </a:solidFill>
                        <a:effectLst/>
                        <a:latin typeface="+mn-lt"/>
                        <a:ea typeface="+mn-ea"/>
                        <a:cs typeface="+mn-cs"/>
                      </a:endParaRPr>
                    </a:p>
                    <a:p>
                      <a:pPr fontAlgn="base" latinLnBrk="1"/>
                      <a:r>
                        <a:rPr lang="ko-KR" altLang="en-US" sz="1200" kern="1200" dirty="0">
                          <a:solidFill>
                            <a:schemeClr val="tx1"/>
                          </a:solidFill>
                          <a:effectLst/>
                          <a:latin typeface="+mn-lt"/>
                          <a:ea typeface="+mn-ea"/>
                          <a:cs typeface="+mn-cs"/>
                        </a:rPr>
                        <a:t>③ 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항에 따른 </a:t>
                      </a:r>
                      <a:r>
                        <a:rPr lang="ko-KR" altLang="en-US" sz="1200" kern="1200" dirty="0" err="1">
                          <a:solidFill>
                            <a:schemeClr val="tx1"/>
                          </a:solidFill>
                          <a:effectLst/>
                          <a:latin typeface="+mn-lt"/>
                          <a:ea typeface="+mn-ea"/>
                          <a:cs typeface="+mn-cs"/>
                        </a:rPr>
                        <a:t>무효심판의</a:t>
                      </a:r>
                      <a:r>
                        <a:rPr lang="ko-KR" altLang="en-US" sz="1200" kern="1200" dirty="0">
                          <a:solidFill>
                            <a:schemeClr val="tx1"/>
                          </a:solidFill>
                          <a:effectLst/>
                          <a:latin typeface="+mn-lt"/>
                          <a:ea typeface="+mn-ea"/>
                          <a:cs typeface="+mn-cs"/>
                        </a:rPr>
                        <a:t> 피청구인은 제</a:t>
                      </a:r>
                      <a:r>
                        <a:rPr lang="en-US" altLang="ko-KR" sz="1200" kern="1200" dirty="0">
                          <a:solidFill>
                            <a:schemeClr val="tx1"/>
                          </a:solidFill>
                          <a:effectLst/>
                          <a:latin typeface="+mn-lt"/>
                          <a:ea typeface="+mn-ea"/>
                          <a:cs typeface="+mn-cs"/>
                        </a:rPr>
                        <a:t>136</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 각 호의 어느 하나에 해당하는 경우에만 제</a:t>
                      </a:r>
                      <a:r>
                        <a:rPr lang="en-US" altLang="ko-KR" sz="1200" kern="1200" dirty="0">
                          <a:solidFill>
                            <a:schemeClr val="tx1"/>
                          </a:solidFill>
                          <a:effectLst/>
                          <a:latin typeface="+mn-lt"/>
                          <a:ea typeface="+mn-ea"/>
                          <a:cs typeface="+mn-cs"/>
                        </a:rPr>
                        <a:t>147</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 또는 제</a:t>
                      </a:r>
                      <a:r>
                        <a:rPr lang="en-US" altLang="ko-KR" sz="1200" kern="1200" dirty="0">
                          <a:solidFill>
                            <a:schemeClr val="tx1"/>
                          </a:solidFill>
                          <a:effectLst/>
                          <a:latin typeface="+mn-lt"/>
                          <a:ea typeface="+mn-ea"/>
                          <a:cs typeface="+mn-cs"/>
                        </a:rPr>
                        <a:t>159</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 후단에 따라 지정된 기간에 특허발명의 명세서 또는 도면의 정정을 청구할 수 있다</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이 경우 심판장이 제</a:t>
                      </a:r>
                      <a:r>
                        <a:rPr lang="en-US" altLang="ko-KR" sz="1200" kern="1200" dirty="0">
                          <a:solidFill>
                            <a:schemeClr val="tx1"/>
                          </a:solidFill>
                          <a:effectLst/>
                          <a:latin typeface="+mn-lt"/>
                          <a:ea typeface="+mn-ea"/>
                          <a:cs typeface="+mn-cs"/>
                        </a:rPr>
                        <a:t>147</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항에 따라 지정된 기간 후에도 청구인이 증거를 제출하거나 새로운 무효사유를 주장함으로 인하여 정정의 청구를 허용할 필요가 있다고 인정하는 경우에는 기간을 정하여 정정청구를 하게 할 수 있다</a:t>
                      </a:r>
                      <a:r>
                        <a:rPr lang="en-US" altLang="ko-KR" sz="1200" kern="1200" dirty="0">
                          <a:solidFill>
                            <a:schemeClr val="tx1"/>
                          </a:solidFill>
                          <a:effectLst/>
                          <a:latin typeface="+mn-lt"/>
                          <a:ea typeface="+mn-ea"/>
                          <a:cs typeface="+mn-cs"/>
                        </a:rPr>
                        <a:t>.</a:t>
                      </a:r>
                    </a:p>
                    <a:p>
                      <a:pPr fontAlgn="base" latinLnBrk="1"/>
                      <a:r>
                        <a:rPr lang="ko-KR" altLang="en-US" sz="1200" kern="1200" dirty="0">
                          <a:solidFill>
                            <a:schemeClr val="tx1"/>
                          </a:solidFill>
                          <a:effectLst/>
                          <a:latin typeface="+mn-lt"/>
                          <a:ea typeface="+mn-ea"/>
                          <a:cs typeface="+mn-cs"/>
                        </a:rPr>
                        <a:t>④ 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항에 따른 </a:t>
                      </a:r>
                      <a:r>
                        <a:rPr lang="ko-KR" altLang="en-US" sz="1200" kern="1200" dirty="0" err="1">
                          <a:solidFill>
                            <a:schemeClr val="tx1"/>
                          </a:solidFill>
                          <a:effectLst/>
                          <a:latin typeface="+mn-lt"/>
                          <a:ea typeface="+mn-ea"/>
                          <a:cs typeface="+mn-cs"/>
                        </a:rPr>
                        <a:t>정정청구에</a:t>
                      </a:r>
                      <a:r>
                        <a:rPr lang="ko-KR" altLang="en-US" sz="1200" kern="1200" dirty="0">
                          <a:solidFill>
                            <a:schemeClr val="tx1"/>
                          </a:solidFill>
                          <a:effectLst/>
                          <a:latin typeface="+mn-lt"/>
                          <a:ea typeface="+mn-ea"/>
                          <a:cs typeface="+mn-cs"/>
                        </a:rPr>
                        <a:t> 관하여는 </a:t>
                      </a:r>
                      <a:r>
                        <a:rPr lang="ko-KR" altLang="en-US" sz="1200" kern="1200" dirty="0">
                          <a:solidFill>
                            <a:srgbClr val="FF0000"/>
                          </a:solidFill>
                          <a:effectLst/>
                          <a:latin typeface="+mn-lt"/>
                          <a:ea typeface="+mn-ea"/>
                          <a:cs typeface="+mn-cs"/>
                        </a:rPr>
                        <a:t>제</a:t>
                      </a:r>
                      <a:r>
                        <a:rPr lang="en-US" altLang="ko-KR" sz="1200" kern="1200" dirty="0">
                          <a:solidFill>
                            <a:srgbClr val="FF0000"/>
                          </a:solidFill>
                          <a:effectLst/>
                          <a:latin typeface="+mn-lt"/>
                          <a:ea typeface="+mn-ea"/>
                          <a:cs typeface="+mn-cs"/>
                        </a:rPr>
                        <a:t>133</a:t>
                      </a:r>
                      <a:r>
                        <a:rPr lang="ko-KR" altLang="en-US" sz="1200" kern="1200" dirty="0">
                          <a:solidFill>
                            <a:srgbClr val="FF0000"/>
                          </a:solidFill>
                          <a:effectLst/>
                          <a:latin typeface="+mn-lt"/>
                          <a:ea typeface="+mn-ea"/>
                          <a:cs typeface="+mn-cs"/>
                        </a:rPr>
                        <a:t>조의</a:t>
                      </a:r>
                      <a:r>
                        <a:rPr lang="en-US" altLang="ko-KR" sz="1200" kern="1200" dirty="0">
                          <a:solidFill>
                            <a:srgbClr val="FF0000"/>
                          </a:solidFill>
                          <a:effectLst/>
                          <a:latin typeface="+mn-lt"/>
                          <a:ea typeface="+mn-ea"/>
                          <a:cs typeface="+mn-cs"/>
                        </a:rPr>
                        <a:t>2</a:t>
                      </a:r>
                      <a:r>
                        <a:rPr lang="ko-KR" altLang="en-US" sz="1200" kern="1200" dirty="0">
                          <a:solidFill>
                            <a:srgbClr val="FF0000"/>
                          </a:solidFill>
                          <a:effectLst/>
                          <a:latin typeface="+mn-lt"/>
                          <a:ea typeface="+mn-ea"/>
                          <a:cs typeface="+mn-cs"/>
                        </a:rPr>
                        <a:t>제</a:t>
                      </a:r>
                      <a:r>
                        <a:rPr lang="en-US" altLang="ko-KR" sz="1200" kern="1200" dirty="0">
                          <a:solidFill>
                            <a:srgbClr val="FF0000"/>
                          </a:solidFill>
                          <a:effectLst/>
                          <a:latin typeface="+mn-lt"/>
                          <a:ea typeface="+mn-ea"/>
                          <a:cs typeface="+mn-cs"/>
                        </a:rPr>
                        <a:t>2</a:t>
                      </a:r>
                      <a:r>
                        <a:rPr lang="ko-KR" altLang="en-US" sz="1200" kern="1200" dirty="0">
                          <a:solidFill>
                            <a:srgbClr val="FF0000"/>
                          </a:solidFill>
                          <a:effectLst/>
                          <a:latin typeface="+mn-lt"/>
                          <a:ea typeface="+mn-ea"/>
                          <a:cs typeface="+mn-cs"/>
                        </a:rPr>
                        <a:t>항부터 제</a:t>
                      </a:r>
                      <a:r>
                        <a:rPr lang="en-US" altLang="ko-KR" sz="1200" kern="1200" dirty="0">
                          <a:solidFill>
                            <a:srgbClr val="FF0000"/>
                          </a:solidFill>
                          <a:effectLst/>
                          <a:latin typeface="+mn-lt"/>
                          <a:ea typeface="+mn-ea"/>
                          <a:cs typeface="+mn-cs"/>
                        </a:rPr>
                        <a:t>5</a:t>
                      </a:r>
                      <a:r>
                        <a:rPr lang="ko-KR" altLang="en-US" sz="1200" kern="1200" dirty="0">
                          <a:solidFill>
                            <a:srgbClr val="FF0000"/>
                          </a:solidFill>
                          <a:effectLst/>
                          <a:latin typeface="+mn-lt"/>
                          <a:ea typeface="+mn-ea"/>
                          <a:cs typeface="+mn-cs"/>
                        </a:rPr>
                        <a:t>항까지</a:t>
                      </a:r>
                      <a:r>
                        <a:rPr lang="ko-KR" altLang="en-US" sz="1200" kern="1200" dirty="0">
                          <a:solidFill>
                            <a:schemeClr val="tx1"/>
                          </a:solidFill>
                          <a:effectLst/>
                          <a:latin typeface="+mn-lt"/>
                          <a:ea typeface="+mn-ea"/>
                          <a:cs typeface="+mn-cs"/>
                        </a:rPr>
                        <a:t>의 규정을 준용한다</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이 경우 제</a:t>
                      </a:r>
                      <a:r>
                        <a:rPr lang="en-US" altLang="ko-KR" sz="1200" kern="1200" dirty="0">
                          <a:solidFill>
                            <a:schemeClr val="tx1"/>
                          </a:solidFill>
                          <a:effectLst/>
                          <a:latin typeface="+mn-lt"/>
                          <a:ea typeface="+mn-ea"/>
                          <a:cs typeface="+mn-cs"/>
                        </a:rPr>
                        <a:t>133</a:t>
                      </a:r>
                      <a:r>
                        <a:rPr lang="ko-KR" altLang="en-US" sz="1200" kern="1200" dirty="0">
                          <a:solidFill>
                            <a:schemeClr val="tx1"/>
                          </a:solidFill>
                          <a:effectLst/>
                          <a:latin typeface="+mn-lt"/>
                          <a:ea typeface="+mn-ea"/>
                          <a:cs typeface="+mn-cs"/>
                        </a:rPr>
                        <a:t>조의</a:t>
                      </a:r>
                      <a:r>
                        <a:rPr lang="en-US" altLang="ko-KR" sz="1200" kern="1200" dirty="0">
                          <a:solidFill>
                            <a:schemeClr val="tx1"/>
                          </a:solidFill>
                          <a:effectLst/>
                          <a:latin typeface="+mn-lt"/>
                          <a:ea typeface="+mn-ea"/>
                          <a:cs typeface="+mn-cs"/>
                        </a:rPr>
                        <a:t>2</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 중 </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133</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은 </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137</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으로 보고</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같은 조 제</a:t>
                      </a:r>
                      <a:r>
                        <a:rPr lang="en-US" altLang="ko-KR" sz="1200" kern="1200" dirty="0">
                          <a:solidFill>
                            <a:schemeClr val="tx1"/>
                          </a:solidFill>
                          <a:effectLst/>
                          <a:latin typeface="+mn-lt"/>
                          <a:ea typeface="+mn-ea"/>
                          <a:cs typeface="+mn-cs"/>
                        </a:rPr>
                        <a:t>4</a:t>
                      </a:r>
                      <a:r>
                        <a:rPr lang="ko-KR" altLang="en-US" sz="1200" kern="1200" dirty="0">
                          <a:solidFill>
                            <a:schemeClr val="tx1"/>
                          </a:solidFill>
                          <a:effectLst/>
                          <a:latin typeface="+mn-lt"/>
                          <a:ea typeface="+mn-ea"/>
                          <a:cs typeface="+mn-cs"/>
                        </a:rPr>
                        <a:t>항 후단 중 </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133</a:t>
                      </a:r>
                      <a:r>
                        <a:rPr lang="ko-KR" altLang="en-US" sz="1200" kern="1200" dirty="0">
                          <a:solidFill>
                            <a:schemeClr val="tx1"/>
                          </a:solidFill>
                          <a:effectLst/>
                          <a:latin typeface="+mn-lt"/>
                          <a:ea typeface="+mn-ea"/>
                          <a:cs typeface="+mn-cs"/>
                        </a:rPr>
                        <a:t>조의</a:t>
                      </a:r>
                      <a:r>
                        <a:rPr lang="en-US" altLang="ko-KR" sz="1200" kern="1200" dirty="0">
                          <a:solidFill>
                            <a:schemeClr val="tx1"/>
                          </a:solidFill>
                          <a:effectLst/>
                          <a:latin typeface="+mn-lt"/>
                          <a:ea typeface="+mn-ea"/>
                          <a:cs typeface="+mn-cs"/>
                        </a:rPr>
                        <a:t>2</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을 </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137</a:t>
                      </a:r>
                      <a:r>
                        <a:rPr lang="ko-KR" altLang="en-US" sz="1200" kern="1200" dirty="0">
                          <a:solidFill>
                            <a:schemeClr val="tx1"/>
                          </a:solidFill>
                          <a:effectLst/>
                          <a:latin typeface="+mn-lt"/>
                          <a:ea typeface="+mn-ea"/>
                          <a:cs typeface="+mn-cs"/>
                        </a:rPr>
                        <a:t>조제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으로 보며</a:t>
                      </a:r>
                      <a:r>
                        <a:rPr lang="en-US" altLang="ko-KR" sz="1200" kern="1200" dirty="0">
                          <a:solidFill>
                            <a:schemeClr val="tx1"/>
                          </a:solidFill>
                          <a:effectLst/>
                          <a:latin typeface="+mn-lt"/>
                          <a:ea typeface="+mn-ea"/>
                          <a:cs typeface="+mn-cs"/>
                        </a:rPr>
                        <a:t>, </a:t>
                      </a:r>
                      <a:r>
                        <a:rPr lang="ko-KR" altLang="en-US" sz="1200" kern="1200" dirty="0">
                          <a:solidFill>
                            <a:schemeClr val="tx1"/>
                          </a:solidFill>
                          <a:effectLst/>
                          <a:latin typeface="+mn-lt"/>
                          <a:ea typeface="+mn-ea"/>
                          <a:cs typeface="+mn-cs"/>
                        </a:rPr>
                        <a:t>같은 조 제</a:t>
                      </a:r>
                      <a:r>
                        <a:rPr lang="en-US" altLang="ko-KR" sz="1200" kern="1200" dirty="0">
                          <a:solidFill>
                            <a:schemeClr val="tx1"/>
                          </a:solidFill>
                          <a:effectLst/>
                          <a:latin typeface="+mn-lt"/>
                          <a:ea typeface="+mn-ea"/>
                          <a:cs typeface="+mn-cs"/>
                        </a:rPr>
                        <a:t>5</a:t>
                      </a:r>
                      <a:r>
                        <a:rPr lang="ko-KR" altLang="en-US" sz="1200" kern="1200" dirty="0">
                          <a:solidFill>
                            <a:schemeClr val="tx1"/>
                          </a:solidFill>
                          <a:effectLst/>
                          <a:latin typeface="+mn-lt"/>
                          <a:ea typeface="+mn-ea"/>
                          <a:cs typeface="+mn-cs"/>
                        </a:rPr>
                        <a:t>항 각 호 외의 부분 및 같은 항 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호 중 </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1</a:t>
                      </a:r>
                      <a:r>
                        <a:rPr lang="ko-KR" altLang="en-US" sz="1200" kern="1200" dirty="0">
                          <a:solidFill>
                            <a:schemeClr val="tx1"/>
                          </a:solidFill>
                          <a:effectLst/>
                          <a:latin typeface="+mn-lt"/>
                          <a:ea typeface="+mn-ea"/>
                          <a:cs typeface="+mn-cs"/>
                        </a:rPr>
                        <a:t>항</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을 각각 </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제</a:t>
                      </a:r>
                      <a:r>
                        <a:rPr lang="en-US" altLang="ko-KR" sz="1200" kern="1200" dirty="0">
                          <a:solidFill>
                            <a:schemeClr val="tx1"/>
                          </a:solidFill>
                          <a:effectLst/>
                          <a:latin typeface="+mn-lt"/>
                          <a:ea typeface="+mn-ea"/>
                          <a:cs typeface="+mn-cs"/>
                        </a:rPr>
                        <a:t>3</a:t>
                      </a:r>
                      <a:r>
                        <a:rPr lang="ko-KR" altLang="en-US" sz="1200" kern="1200" dirty="0">
                          <a:solidFill>
                            <a:schemeClr val="tx1"/>
                          </a:solidFill>
                          <a:effectLst/>
                          <a:latin typeface="+mn-lt"/>
                          <a:ea typeface="+mn-ea"/>
                          <a:cs typeface="+mn-cs"/>
                        </a:rPr>
                        <a:t>항</a:t>
                      </a:r>
                      <a:r>
                        <a:rPr lang="en-US" altLang="ko-KR" sz="1200" kern="1200" dirty="0">
                          <a:solidFill>
                            <a:schemeClr val="tx1"/>
                          </a:solidFill>
                          <a:effectLst/>
                          <a:latin typeface="+mn-lt"/>
                          <a:ea typeface="+mn-ea"/>
                          <a:cs typeface="+mn-cs"/>
                        </a:rPr>
                        <a:t>"</a:t>
                      </a:r>
                      <a:r>
                        <a:rPr lang="ko-KR" altLang="en-US" sz="1200" kern="1200" dirty="0">
                          <a:solidFill>
                            <a:schemeClr val="tx1"/>
                          </a:solidFill>
                          <a:effectLst/>
                          <a:latin typeface="+mn-lt"/>
                          <a:ea typeface="+mn-ea"/>
                          <a:cs typeface="+mn-cs"/>
                        </a:rPr>
                        <a:t>으로 본다</a:t>
                      </a:r>
                      <a:r>
                        <a:rPr lang="en-US" altLang="ko-KR" sz="1200" kern="1200" dirty="0">
                          <a:solidFill>
                            <a:schemeClr val="tx1"/>
                          </a:solidFill>
                          <a:effectLst/>
                          <a:latin typeface="+mn-lt"/>
                          <a:ea typeface="+mn-ea"/>
                          <a:cs typeface="+mn-cs"/>
                        </a:rPr>
                        <a:t>.</a:t>
                      </a:r>
                      <a:endParaRPr lang="ko-KR" altLang="en-US" sz="1200" kern="1200" dirty="0">
                        <a:solidFill>
                          <a:schemeClr val="tx1"/>
                        </a:solidFill>
                        <a:effectLst/>
                        <a:latin typeface="+mn-lt"/>
                        <a:ea typeface="+mn-ea"/>
                        <a:cs typeface="+mn-cs"/>
                      </a:endParaRPr>
                    </a:p>
                    <a:p>
                      <a:pPr latinLnBrk="1"/>
                      <a:endParaRPr lang="ko-KR" altLang="en-US" sz="1200" dirty="0"/>
                    </a:p>
                  </a:txBody>
                  <a:tcPr/>
                </a:tc>
                <a:extLst>
                  <a:ext uri="{0D108BD9-81ED-4DB2-BD59-A6C34878D82A}">
                    <a16:rowId xmlns:a16="http://schemas.microsoft.com/office/drawing/2014/main" val="3986305079"/>
                  </a:ext>
                </a:extLst>
              </a:tr>
            </a:tbl>
          </a:graphicData>
        </a:graphic>
      </p:graphicFrame>
      <p:sp>
        <p:nvSpPr>
          <p:cNvPr id="6" name="슬라이드 번호 개체 틀 5"/>
          <p:cNvSpPr>
            <a:spLocks noGrp="1"/>
          </p:cNvSpPr>
          <p:nvPr>
            <p:ph type="sldNum" sz="quarter" idx="4294967295"/>
          </p:nvPr>
        </p:nvSpPr>
        <p:spPr>
          <a:xfrm>
            <a:off x="11125200" y="0"/>
            <a:ext cx="1066800" cy="711200"/>
          </a:xfrm>
        </p:spPr>
        <p:txBody>
          <a:bodyPr/>
          <a:lstStyle/>
          <a:p>
            <a:r>
              <a:rPr lang="en-US" altLang="ko-KR"/>
              <a:t>514</a:t>
            </a:r>
            <a:endParaRPr lang="ko-KR" altLang="en-US" dirty="0"/>
          </a:p>
        </p:txBody>
      </p:sp>
      <p:sp>
        <p:nvSpPr>
          <p:cNvPr id="7" name="직사각형 6">
            <a:extLst>
              <a:ext uri="{FF2B5EF4-FFF2-40B4-BE49-F238E27FC236}">
                <a16:creationId xmlns:a16="http://schemas.microsoft.com/office/drawing/2014/main" id="{A2240D82-FF40-4CC1-98AC-8D6D45658F4A}"/>
              </a:ext>
            </a:extLst>
          </p:cNvPr>
          <p:cNvSpPr/>
          <p:nvPr/>
        </p:nvSpPr>
        <p:spPr>
          <a:xfrm>
            <a:off x="4130040" y="3307186"/>
            <a:ext cx="3870960" cy="54853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9" name="직선 화살표 연결선 8">
            <a:extLst>
              <a:ext uri="{FF2B5EF4-FFF2-40B4-BE49-F238E27FC236}">
                <a16:creationId xmlns:a16="http://schemas.microsoft.com/office/drawing/2014/main" id="{525BEFDB-F323-4DE5-BEEC-827184CF817E}"/>
              </a:ext>
            </a:extLst>
          </p:cNvPr>
          <p:cNvCxnSpPr/>
          <p:nvPr/>
        </p:nvCxnSpPr>
        <p:spPr>
          <a:xfrm flipH="1">
            <a:off x="3169920" y="3566160"/>
            <a:ext cx="944880" cy="0"/>
          </a:xfrm>
          <a:prstGeom prst="straightConnector1">
            <a:avLst/>
          </a:prstGeom>
          <a:ln w="127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B0F4EBAB-DBC3-49AF-9243-9A25D471EC36}"/>
              </a:ext>
            </a:extLst>
          </p:cNvPr>
          <p:cNvSpPr txBox="1"/>
          <p:nvPr/>
        </p:nvSpPr>
        <p:spPr>
          <a:xfrm>
            <a:off x="2533997" y="3276600"/>
            <a:ext cx="620683" cy="646331"/>
          </a:xfrm>
          <a:prstGeom prst="rect">
            <a:avLst/>
          </a:prstGeom>
          <a:noFill/>
        </p:spPr>
        <p:txBody>
          <a:bodyPr wrap="none" rtlCol="0">
            <a:spAutoFit/>
          </a:bodyPr>
          <a:lstStyle/>
          <a:p>
            <a:r>
              <a:rPr lang="en-US" altLang="ko-KR" sz="3600" dirty="0">
                <a:solidFill>
                  <a:srgbClr val="FF0000"/>
                </a:solidFill>
              </a:rPr>
              <a:t> X</a:t>
            </a:r>
            <a:endParaRPr lang="ko-KR" altLang="en-US" sz="3600" dirty="0">
              <a:solidFill>
                <a:srgbClr val="FF0000"/>
              </a:solidFill>
            </a:endParaRPr>
          </a:p>
        </p:txBody>
      </p:sp>
      <p:sp>
        <p:nvSpPr>
          <p:cNvPr id="11" name="직사각형 10">
            <a:extLst>
              <a:ext uri="{FF2B5EF4-FFF2-40B4-BE49-F238E27FC236}">
                <a16:creationId xmlns:a16="http://schemas.microsoft.com/office/drawing/2014/main" id="{3D0F6900-31BA-486E-B2C4-90DD421D8E47}"/>
              </a:ext>
            </a:extLst>
          </p:cNvPr>
          <p:cNvSpPr/>
          <p:nvPr/>
        </p:nvSpPr>
        <p:spPr>
          <a:xfrm>
            <a:off x="184730" y="6200502"/>
            <a:ext cx="7816269" cy="57252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12" name="직선 화살표 연결선 11">
            <a:extLst>
              <a:ext uri="{FF2B5EF4-FFF2-40B4-BE49-F238E27FC236}">
                <a16:creationId xmlns:a16="http://schemas.microsoft.com/office/drawing/2014/main" id="{50102BC7-07B3-420A-8AC5-D288F0546F6C}"/>
              </a:ext>
            </a:extLst>
          </p:cNvPr>
          <p:cNvCxnSpPr>
            <a:cxnSpLocks/>
            <a:stCxn id="11" idx="3"/>
          </p:cNvCxnSpPr>
          <p:nvPr/>
        </p:nvCxnSpPr>
        <p:spPr>
          <a:xfrm flipV="1">
            <a:off x="8000999" y="6449860"/>
            <a:ext cx="1981201" cy="36904"/>
          </a:xfrm>
          <a:prstGeom prst="straightConnector1">
            <a:avLst/>
          </a:prstGeom>
          <a:ln w="12700">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E36DE43-42C2-46DC-9A68-B8AA2C38F706}"/>
              </a:ext>
            </a:extLst>
          </p:cNvPr>
          <p:cNvSpPr txBox="1"/>
          <p:nvPr/>
        </p:nvSpPr>
        <p:spPr>
          <a:xfrm>
            <a:off x="9833957" y="6126695"/>
            <a:ext cx="620683" cy="646331"/>
          </a:xfrm>
          <a:prstGeom prst="rect">
            <a:avLst/>
          </a:prstGeom>
          <a:noFill/>
        </p:spPr>
        <p:txBody>
          <a:bodyPr wrap="none" rtlCol="0">
            <a:spAutoFit/>
          </a:bodyPr>
          <a:lstStyle/>
          <a:p>
            <a:r>
              <a:rPr lang="en-US" altLang="ko-KR" sz="3600" dirty="0">
                <a:solidFill>
                  <a:srgbClr val="FF0000"/>
                </a:solidFill>
              </a:rPr>
              <a:t> X</a:t>
            </a:r>
            <a:endParaRPr lang="ko-KR" altLang="en-US" sz="3600" dirty="0">
              <a:solidFill>
                <a:srgbClr val="FF0000"/>
              </a:solidFill>
            </a:endParaRPr>
          </a:p>
        </p:txBody>
      </p:sp>
    </p:spTree>
    <p:extLst>
      <p:ext uri="{BB962C8B-B14F-4D97-AF65-F5344CB8AC3E}">
        <p14:creationId xmlns:p14="http://schemas.microsoft.com/office/powerpoint/2010/main" val="739980719"/>
      </p:ext>
    </p:extLst>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슬라이드 번호 개체 틀 5"/>
          <p:cNvSpPr>
            <a:spLocks noGrp="1"/>
          </p:cNvSpPr>
          <p:nvPr>
            <p:ph type="sldNum" sz="quarter" idx="4294967295"/>
          </p:nvPr>
        </p:nvSpPr>
        <p:spPr>
          <a:xfrm>
            <a:off x="11125200" y="0"/>
            <a:ext cx="1066800" cy="711200"/>
          </a:xfrm>
        </p:spPr>
        <p:txBody>
          <a:bodyPr/>
          <a:lstStyle/>
          <a:p>
            <a:r>
              <a:rPr lang="en-US" altLang="ko-KR"/>
              <a:t>515</a:t>
            </a:r>
            <a:endParaRPr lang="ko-KR" altLang="en-US" dirty="0"/>
          </a:p>
        </p:txBody>
      </p:sp>
      <p:sp>
        <p:nvSpPr>
          <p:cNvPr id="3" name="제목 2"/>
          <p:cNvSpPr>
            <a:spLocks noGrp="1"/>
          </p:cNvSpPr>
          <p:nvPr>
            <p:ph type="title"/>
          </p:nvPr>
        </p:nvSpPr>
        <p:spPr/>
        <p:txBody>
          <a:bodyPr/>
          <a:lstStyle/>
          <a:p>
            <a:r>
              <a:rPr lang="ko-KR" altLang="en-US" sz="2400" dirty="0"/>
              <a:t>참고노트</a:t>
            </a:r>
            <a:endParaRPr lang="ko-KR" altLang="en-US" dirty="0"/>
          </a:p>
        </p:txBody>
      </p:sp>
      <p:sp>
        <p:nvSpPr>
          <p:cNvPr id="4" name="텍스트 개체 틀 3"/>
          <p:cNvSpPr>
            <a:spLocks noGrp="1"/>
          </p:cNvSpPr>
          <p:nvPr>
            <p:ph type="body" sz="quarter" idx="13"/>
          </p:nvPr>
        </p:nvSpPr>
        <p:spPr/>
        <p:txBody>
          <a:bodyPr>
            <a:normAutofit/>
          </a:bodyPr>
          <a:lstStyle/>
          <a:p>
            <a:pPr fontAlgn="base" latinLnBrk="0"/>
            <a:r>
              <a:rPr lang="ko-KR" altLang="en-US" dirty="0"/>
              <a:t>정정청구의 법조문 구조</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sp>
        <p:nvSpPr>
          <p:cNvPr id="16" name="TextBox 15">
            <a:extLst>
              <a:ext uri="{FF2B5EF4-FFF2-40B4-BE49-F238E27FC236}">
                <a16:creationId xmlns:a16="http://schemas.microsoft.com/office/drawing/2014/main" id="{26969FE3-D782-8DDA-7C2D-881802DFB140}"/>
              </a:ext>
            </a:extLst>
          </p:cNvPr>
          <p:cNvSpPr txBox="1"/>
          <p:nvPr/>
        </p:nvSpPr>
        <p:spPr>
          <a:xfrm>
            <a:off x="238003" y="1342712"/>
            <a:ext cx="2350907" cy="307777"/>
          </a:xfrm>
          <a:prstGeom prst="rect">
            <a:avLst/>
          </a:prstGeom>
          <a:solidFill>
            <a:schemeClr val="tx1">
              <a:lumMod val="95000"/>
              <a:lumOff val="5000"/>
            </a:schemeClr>
          </a:solidFill>
          <a:ln>
            <a:solidFill>
              <a:schemeClr val="bg1">
                <a:lumMod val="50000"/>
              </a:schemeClr>
            </a:solidFill>
          </a:ln>
        </p:spPr>
        <p:txBody>
          <a:bodyPr wrap="square">
            <a:spAutoFit/>
          </a:bodyPr>
          <a:lstStyle/>
          <a:p>
            <a:r>
              <a:rPr lang="ko-KR" altLang="en-US" sz="1400" dirty="0">
                <a:solidFill>
                  <a:schemeClr val="bg1"/>
                </a:solidFill>
              </a:rPr>
              <a:t>제</a:t>
            </a:r>
            <a:r>
              <a:rPr lang="en-US" altLang="ko-KR" sz="1400" dirty="0">
                <a:solidFill>
                  <a:schemeClr val="bg1"/>
                </a:solidFill>
              </a:rPr>
              <a:t>136</a:t>
            </a:r>
            <a:r>
              <a:rPr lang="ko-KR" altLang="en-US" sz="1400" dirty="0">
                <a:solidFill>
                  <a:schemeClr val="bg1"/>
                </a:solidFill>
              </a:rPr>
              <a:t>조</a:t>
            </a:r>
            <a:r>
              <a:rPr lang="en-US" altLang="ko-KR" sz="1400" dirty="0">
                <a:solidFill>
                  <a:schemeClr val="bg1"/>
                </a:solidFill>
              </a:rPr>
              <a:t>【</a:t>
            </a:r>
            <a:r>
              <a:rPr lang="ko-KR" altLang="en-US" sz="1400" dirty="0">
                <a:solidFill>
                  <a:schemeClr val="bg1"/>
                </a:solidFill>
              </a:rPr>
              <a:t>정정심판</a:t>
            </a:r>
            <a:r>
              <a:rPr lang="en-US" altLang="ko-KR" sz="1400" dirty="0">
                <a:solidFill>
                  <a:schemeClr val="bg1"/>
                </a:solidFill>
              </a:rPr>
              <a:t>】</a:t>
            </a:r>
          </a:p>
        </p:txBody>
      </p:sp>
      <p:sp>
        <p:nvSpPr>
          <p:cNvPr id="22" name="TextBox 21">
            <a:extLst>
              <a:ext uri="{FF2B5EF4-FFF2-40B4-BE49-F238E27FC236}">
                <a16:creationId xmlns:a16="http://schemas.microsoft.com/office/drawing/2014/main" id="{EE4EF934-4A13-3FCF-5B73-1B7859EB134F}"/>
              </a:ext>
            </a:extLst>
          </p:cNvPr>
          <p:cNvSpPr txBox="1"/>
          <p:nvPr/>
        </p:nvSpPr>
        <p:spPr>
          <a:xfrm>
            <a:off x="3682296" y="1342712"/>
            <a:ext cx="3994854" cy="307777"/>
          </a:xfrm>
          <a:prstGeom prst="rect">
            <a:avLst/>
          </a:prstGeom>
          <a:solidFill>
            <a:schemeClr val="tx1">
              <a:lumMod val="95000"/>
              <a:lumOff val="5000"/>
            </a:schemeClr>
          </a:solidFill>
          <a:ln>
            <a:solidFill>
              <a:schemeClr val="bg1">
                <a:lumMod val="50000"/>
              </a:schemeClr>
            </a:solidFill>
          </a:ln>
        </p:spPr>
        <p:txBody>
          <a:bodyPr wrap="square">
            <a:spAutoFit/>
          </a:bodyPr>
          <a:lstStyle/>
          <a:p>
            <a:r>
              <a:rPr lang="ko-KR" altLang="en-US" sz="1400" dirty="0">
                <a:solidFill>
                  <a:schemeClr val="bg1"/>
                </a:solidFill>
              </a:rPr>
              <a:t>제</a:t>
            </a:r>
            <a:r>
              <a:rPr lang="en-US" altLang="ko-KR" sz="1400" dirty="0">
                <a:solidFill>
                  <a:schemeClr val="bg1"/>
                </a:solidFill>
              </a:rPr>
              <a:t>133</a:t>
            </a:r>
            <a:r>
              <a:rPr lang="ko-KR" altLang="en-US" sz="1400" dirty="0">
                <a:solidFill>
                  <a:schemeClr val="bg1"/>
                </a:solidFill>
              </a:rPr>
              <a:t>조의</a:t>
            </a:r>
            <a:r>
              <a:rPr lang="en-US" altLang="ko-KR" sz="1400" dirty="0">
                <a:solidFill>
                  <a:schemeClr val="bg1"/>
                </a:solidFill>
              </a:rPr>
              <a:t>2【</a:t>
            </a:r>
            <a:r>
              <a:rPr lang="ko-KR" altLang="en-US" sz="1400" dirty="0">
                <a:solidFill>
                  <a:schemeClr val="bg1"/>
                </a:solidFill>
              </a:rPr>
              <a:t>특허무효심판절차에서의 특허의 정정</a:t>
            </a:r>
            <a:r>
              <a:rPr lang="en-US" altLang="ko-KR" sz="1400" dirty="0">
                <a:solidFill>
                  <a:schemeClr val="bg1"/>
                </a:solidFill>
              </a:rPr>
              <a:t>】</a:t>
            </a:r>
          </a:p>
        </p:txBody>
      </p:sp>
      <p:sp>
        <p:nvSpPr>
          <p:cNvPr id="71" name="도넛 82">
            <a:extLst>
              <a:ext uri="{FF2B5EF4-FFF2-40B4-BE49-F238E27FC236}">
                <a16:creationId xmlns:a16="http://schemas.microsoft.com/office/drawing/2014/main" id="{AED10495-76D5-0A7E-E470-7D51621830CA}"/>
              </a:ext>
            </a:extLst>
          </p:cNvPr>
          <p:cNvSpPr/>
          <p:nvPr/>
        </p:nvSpPr>
        <p:spPr>
          <a:xfrm>
            <a:off x="2780391" y="1736863"/>
            <a:ext cx="199609" cy="184678"/>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79" name="곱셈 기호 85">
            <a:extLst>
              <a:ext uri="{FF2B5EF4-FFF2-40B4-BE49-F238E27FC236}">
                <a16:creationId xmlns:a16="http://schemas.microsoft.com/office/drawing/2014/main" id="{6A250C99-2481-9E86-8AB5-3F5A397FBA4D}"/>
              </a:ext>
            </a:extLst>
          </p:cNvPr>
          <p:cNvSpPr/>
          <p:nvPr/>
        </p:nvSpPr>
        <p:spPr>
          <a:xfrm>
            <a:off x="2980000" y="1840288"/>
            <a:ext cx="311205" cy="316567"/>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2" name="TextBox 11">
            <a:extLst>
              <a:ext uri="{FF2B5EF4-FFF2-40B4-BE49-F238E27FC236}">
                <a16:creationId xmlns:a16="http://schemas.microsoft.com/office/drawing/2014/main" id="{DF467EEE-D6F4-178B-49C2-5728536BB036}"/>
              </a:ext>
            </a:extLst>
          </p:cNvPr>
          <p:cNvSpPr txBox="1"/>
          <p:nvPr/>
        </p:nvSpPr>
        <p:spPr>
          <a:xfrm>
            <a:off x="238003" y="1701289"/>
            <a:ext cx="2350907" cy="280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tIns="0" bIns="0">
            <a:noAutofit/>
          </a:bodyPr>
          <a:lstStyle/>
          <a:p>
            <a:r>
              <a:rPr lang="en-US" altLang="ko-KR" sz="1400" dirty="0"/>
              <a:t>① </a:t>
            </a:r>
            <a:r>
              <a:rPr lang="ko-KR" altLang="en-US" sz="1400" dirty="0"/>
              <a:t>요건</a:t>
            </a:r>
            <a:r>
              <a:rPr lang="en-US" altLang="ko-KR" sz="1400" dirty="0"/>
              <a:t>(</a:t>
            </a:r>
            <a:r>
              <a:rPr lang="ko-KR" altLang="en-US" sz="1400" dirty="0"/>
              <a:t>주체</a:t>
            </a:r>
            <a:r>
              <a:rPr lang="en-US" altLang="ko-KR" sz="1400" dirty="0"/>
              <a:t>/</a:t>
            </a:r>
            <a:r>
              <a:rPr lang="ko-KR" altLang="en-US" sz="1400" dirty="0"/>
              <a:t>객체</a:t>
            </a:r>
            <a:r>
              <a:rPr lang="en-US" altLang="ko-KR" sz="1400" dirty="0"/>
              <a:t>)</a:t>
            </a:r>
          </a:p>
        </p:txBody>
      </p:sp>
      <p:sp>
        <p:nvSpPr>
          <p:cNvPr id="13" name="TextBox 12">
            <a:extLst>
              <a:ext uri="{FF2B5EF4-FFF2-40B4-BE49-F238E27FC236}">
                <a16:creationId xmlns:a16="http://schemas.microsoft.com/office/drawing/2014/main" id="{22ED253D-AB24-AD3A-9669-AE98AA21B4D2}"/>
              </a:ext>
            </a:extLst>
          </p:cNvPr>
          <p:cNvSpPr txBox="1"/>
          <p:nvPr/>
        </p:nvSpPr>
        <p:spPr>
          <a:xfrm>
            <a:off x="238003" y="2024828"/>
            <a:ext cx="2350907" cy="280282"/>
          </a:xfrm>
          <a:prstGeom prst="roundRect">
            <a:avLst>
              <a:gd name="adj" fmla="val 50000"/>
            </a:avLst>
          </a:prstGeom>
          <a:solidFill>
            <a:schemeClr val="tx2">
              <a:lumMod val="50000"/>
            </a:schemeClr>
          </a:solidFill>
          <a:ln>
            <a:solidFill>
              <a:schemeClr val="bg1">
                <a:lumMod val="50000"/>
              </a:schemeClr>
            </a:solidFill>
          </a:ln>
        </p:spPr>
        <p:txBody>
          <a:bodyPr wrap="square" tIns="0" bIns="0">
            <a:noAutofit/>
          </a:bodyPr>
          <a:lstStyle/>
          <a:p>
            <a:r>
              <a:rPr lang="ko-KR" altLang="en-US" sz="1400" dirty="0">
                <a:solidFill>
                  <a:schemeClr val="bg1"/>
                </a:solidFill>
              </a:rPr>
              <a:t>② 요건</a:t>
            </a:r>
            <a:r>
              <a:rPr lang="en-US" altLang="ko-KR" sz="1400" dirty="0">
                <a:solidFill>
                  <a:schemeClr val="bg1"/>
                </a:solidFill>
              </a:rPr>
              <a:t>(</a:t>
            </a:r>
            <a:r>
              <a:rPr lang="ko-KR" altLang="en-US" sz="1400" dirty="0">
                <a:solidFill>
                  <a:schemeClr val="bg1"/>
                </a:solidFill>
              </a:rPr>
              <a:t>시기</a:t>
            </a:r>
            <a:r>
              <a:rPr lang="en-US" altLang="ko-KR" sz="1400" dirty="0">
                <a:solidFill>
                  <a:schemeClr val="bg1"/>
                </a:solidFill>
              </a:rPr>
              <a:t>)</a:t>
            </a:r>
          </a:p>
        </p:txBody>
      </p:sp>
      <p:sp>
        <p:nvSpPr>
          <p:cNvPr id="14" name="TextBox 13">
            <a:extLst>
              <a:ext uri="{FF2B5EF4-FFF2-40B4-BE49-F238E27FC236}">
                <a16:creationId xmlns:a16="http://schemas.microsoft.com/office/drawing/2014/main" id="{B238B995-4BB5-073A-BC68-59512BBEC3F8}"/>
              </a:ext>
            </a:extLst>
          </p:cNvPr>
          <p:cNvSpPr txBox="1"/>
          <p:nvPr/>
        </p:nvSpPr>
        <p:spPr>
          <a:xfrm>
            <a:off x="238003" y="2335863"/>
            <a:ext cx="2350907" cy="280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tIns="0" bIns="0">
            <a:noAutofit/>
          </a:bodyPr>
          <a:lstStyle/>
          <a:p>
            <a:r>
              <a:rPr lang="en-US" altLang="ko-KR" sz="1400" dirty="0"/>
              <a:t>③ </a:t>
            </a:r>
            <a:r>
              <a:rPr lang="ko-KR" altLang="en-US" sz="1400" dirty="0"/>
              <a:t>요건</a:t>
            </a:r>
            <a:r>
              <a:rPr lang="en-US" altLang="ko-KR" sz="1400" dirty="0"/>
              <a:t>(</a:t>
            </a:r>
            <a:r>
              <a:rPr lang="ko-KR" altLang="en-US" sz="1400" dirty="0"/>
              <a:t>객체</a:t>
            </a:r>
            <a:r>
              <a:rPr lang="en-US" altLang="ko-KR" sz="1400" dirty="0"/>
              <a:t>)</a:t>
            </a:r>
          </a:p>
        </p:txBody>
      </p:sp>
      <p:sp>
        <p:nvSpPr>
          <p:cNvPr id="15" name="TextBox 14">
            <a:extLst>
              <a:ext uri="{FF2B5EF4-FFF2-40B4-BE49-F238E27FC236}">
                <a16:creationId xmlns:a16="http://schemas.microsoft.com/office/drawing/2014/main" id="{4D9E91F9-6068-DC4D-08B3-5754ED7755A2}"/>
              </a:ext>
            </a:extLst>
          </p:cNvPr>
          <p:cNvSpPr txBox="1"/>
          <p:nvPr/>
        </p:nvSpPr>
        <p:spPr>
          <a:xfrm>
            <a:off x="238003" y="2641944"/>
            <a:ext cx="2350907" cy="280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tIns="0" bIns="0">
            <a:noAutofit/>
          </a:bodyPr>
          <a:lstStyle/>
          <a:p>
            <a:r>
              <a:rPr lang="en-US" altLang="ko-KR" sz="1400" dirty="0"/>
              <a:t>④ </a:t>
            </a:r>
            <a:r>
              <a:rPr lang="ko-KR" altLang="en-US" sz="1400" dirty="0"/>
              <a:t>요건</a:t>
            </a:r>
            <a:r>
              <a:rPr lang="en-US" altLang="ko-KR" sz="1400" dirty="0"/>
              <a:t>(</a:t>
            </a:r>
            <a:r>
              <a:rPr lang="ko-KR" altLang="en-US" sz="1400" dirty="0"/>
              <a:t>객체</a:t>
            </a:r>
            <a:r>
              <a:rPr lang="en-US" altLang="ko-KR" sz="1400" dirty="0"/>
              <a:t>)</a:t>
            </a:r>
          </a:p>
        </p:txBody>
      </p:sp>
      <p:sp>
        <p:nvSpPr>
          <p:cNvPr id="5" name="TextBox 4">
            <a:extLst>
              <a:ext uri="{FF2B5EF4-FFF2-40B4-BE49-F238E27FC236}">
                <a16:creationId xmlns:a16="http://schemas.microsoft.com/office/drawing/2014/main" id="{321DAD03-260D-6F1E-B50D-DCD41FD435BE}"/>
              </a:ext>
            </a:extLst>
          </p:cNvPr>
          <p:cNvSpPr txBox="1"/>
          <p:nvPr/>
        </p:nvSpPr>
        <p:spPr>
          <a:xfrm>
            <a:off x="238003" y="2961093"/>
            <a:ext cx="2350907" cy="280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tIns="0" bIns="0">
            <a:noAutofit/>
          </a:bodyPr>
          <a:lstStyle/>
          <a:p>
            <a:r>
              <a:rPr lang="ko-KR" altLang="en-US" sz="1400" kern="1200" dirty="0">
                <a:effectLst/>
                <a:latin typeface="+mn-lt"/>
                <a:ea typeface="+mn-ea"/>
                <a:cs typeface="+mn-cs"/>
              </a:rPr>
              <a:t>⑤</a:t>
            </a:r>
            <a:r>
              <a:rPr lang="en-US" altLang="ko-KR" sz="1400" dirty="0"/>
              <a:t> </a:t>
            </a:r>
            <a:r>
              <a:rPr lang="ko-KR" altLang="en-US" sz="1400" dirty="0"/>
              <a:t>요건</a:t>
            </a:r>
            <a:r>
              <a:rPr lang="en-US" altLang="ko-KR" sz="1400" dirty="0"/>
              <a:t>(</a:t>
            </a:r>
            <a:r>
              <a:rPr lang="ko-KR" altLang="en-US" sz="1400" dirty="0"/>
              <a:t>객체</a:t>
            </a:r>
            <a:r>
              <a:rPr lang="en-US" altLang="ko-KR" sz="1400" dirty="0"/>
              <a:t>)</a:t>
            </a:r>
          </a:p>
        </p:txBody>
      </p:sp>
      <p:sp>
        <p:nvSpPr>
          <p:cNvPr id="7" name="TextBox 6">
            <a:extLst>
              <a:ext uri="{FF2B5EF4-FFF2-40B4-BE49-F238E27FC236}">
                <a16:creationId xmlns:a16="http://schemas.microsoft.com/office/drawing/2014/main" id="{ED9C0651-C269-97FF-FD89-EF0FF4D59EB3}"/>
              </a:ext>
            </a:extLst>
          </p:cNvPr>
          <p:cNvSpPr txBox="1"/>
          <p:nvPr/>
        </p:nvSpPr>
        <p:spPr>
          <a:xfrm>
            <a:off x="238003" y="3284632"/>
            <a:ext cx="2350907" cy="280282"/>
          </a:xfrm>
          <a:prstGeom prst="roundRect">
            <a:avLst>
              <a:gd name="adj" fmla="val 50000"/>
            </a:avLst>
          </a:prstGeom>
          <a:solidFill>
            <a:schemeClr val="accent6">
              <a:lumMod val="20000"/>
              <a:lumOff val="80000"/>
            </a:schemeClr>
          </a:solidFill>
          <a:ln>
            <a:solidFill>
              <a:schemeClr val="bg1">
                <a:lumMod val="50000"/>
              </a:schemeClr>
            </a:solidFill>
          </a:ln>
        </p:spPr>
        <p:txBody>
          <a:bodyPr wrap="square" tIns="0" bIns="0">
            <a:noAutofit/>
          </a:bodyPr>
          <a:lstStyle/>
          <a:p>
            <a:r>
              <a:rPr lang="ko-KR" altLang="en-US" sz="1400" dirty="0"/>
              <a:t>⑥ 절차</a:t>
            </a:r>
            <a:r>
              <a:rPr lang="en-US" altLang="ko-KR" sz="1400" dirty="0"/>
              <a:t>(</a:t>
            </a:r>
            <a:r>
              <a:rPr lang="ko-KR" altLang="en-US" sz="1400" dirty="0"/>
              <a:t>직권심리</a:t>
            </a:r>
            <a:r>
              <a:rPr lang="en-US" altLang="ko-KR" sz="1400" dirty="0"/>
              <a:t>)</a:t>
            </a:r>
          </a:p>
        </p:txBody>
      </p:sp>
      <p:sp>
        <p:nvSpPr>
          <p:cNvPr id="8" name="TextBox 7">
            <a:extLst>
              <a:ext uri="{FF2B5EF4-FFF2-40B4-BE49-F238E27FC236}">
                <a16:creationId xmlns:a16="http://schemas.microsoft.com/office/drawing/2014/main" id="{359C1F63-7582-88DB-4DCD-91A0DBC8E65D}"/>
              </a:ext>
            </a:extLst>
          </p:cNvPr>
          <p:cNvSpPr txBox="1"/>
          <p:nvPr/>
        </p:nvSpPr>
        <p:spPr>
          <a:xfrm>
            <a:off x="238003" y="3595668"/>
            <a:ext cx="2350907" cy="280282"/>
          </a:xfrm>
          <a:prstGeom prst="roundRect">
            <a:avLst>
              <a:gd name="adj" fmla="val 50000"/>
            </a:avLst>
          </a:prstGeom>
          <a:solidFill>
            <a:schemeClr val="tx2">
              <a:lumMod val="50000"/>
            </a:schemeClr>
          </a:solidFill>
          <a:ln>
            <a:solidFill>
              <a:schemeClr val="bg1">
                <a:lumMod val="50000"/>
              </a:schemeClr>
            </a:solidFill>
          </a:ln>
        </p:spPr>
        <p:txBody>
          <a:bodyPr wrap="square" tIns="0" bIns="0">
            <a:noAutofit/>
          </a:bodyPr>
          <a:lstStyle/>
          <a:p>
            <a:r>
              <a:rPr lang="en-US" altLang="ko-KR" sz="1400" dirty="0">
                <a:solidFill>
                  <a:schemeClr val="bg1"/>
                </a:solidFill>
              </a:rPr>
              <a:t>⑦ </a:t>
            </a:r>
            <a:r>
              <a:rPr lang="ko-KR" altLang="en-US" sz="1400" dirty="0">
                <a:solidFill>
                  <a:schemeClr val="bg1"/>
                </a:solidFill>
              </a:rPr>
              <a:t>요건</a:t>
            </a:r>
            <a:r>
              <a:rPr lang="en-US" altLang="ko-KR" sz="1400" dirty="0">
                <a:solidFill>
                  <a:schemeClr val="bg1"/>
                </a:solidFill>
              </a:rPr>
              <a:t>(</a:t>
            </a:r>
            <a:r>
              <a:rPr lang="ko-KR" altLang="en-US" sz="1400" dirty="0">
                <a:solidFill>
                  <a:schemeClr val="bg1"/>
                </a:solidFill>
              </a:rPr>
              <a:t>시기</a:t>
            </a:r>
            <a:r>
              <a:rPr lang="en-US" altLang="ko-KR" sz="1400" dirty="0">
                <a:solidFill>
                  <a:schemeClr val="bg1"/>
                </a:solidFill>
              </a:rPr>
              <a:t>)</a:t>
            </a:r>
          </a:p>
        </p:txBody>
      </p:sp>
      <p:sp>
        <p:nvSpPr>
          <p:cNvPr id="9" name="TextBox 8">
            <a:extLst>
              <a:ext uri="{FF2B5EF4-FFF2-40B4-BE49-F238E27FC236}">
                <a16:creationId xmlns:a16="http://schemas.microsoft.com/office/drawing/2014/main" id="{96268ADB-0914-FD79-429A-E5702023EE7F}"/>
              </a:ext>
            </a:extLst>
          </p:cNvPr>
          <p:cNvSpPr txBox="1"/>
          <p:nvPr/>
        </p:nvSpPr>
        <p:spPr>
          <a:xfrm>
            <a:off x="238003" y="3901748"/>
            <a:ext cx="2350907" cy="280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tIns="0" bIns="0">
            <a:noAutofit/>
          </a:bodyPr>
          <a:lstStyle/>
          <a:p>
            <a:r>
              <a:rPr lang="en-US" altLang="ko-KR" sz="1400" dirty="0"/>
              <a:t>⑧ </a:t>
            </a:r>
            <a:r>
              <a:rPr lang="ko-KR" altLang="en-US" sz="1400" dirty="0"/>
              <a:t>요건</a:t>
            </a:r>
            <a:r>
              <a:rPr lang="en-US" altLang="ko-KR" sz="1400" dirty="0"/>
              <a:t>(</a:t>
            </a:r>
            <a:r>
              <a:rPr lang="ko-KR" altLang="en-US" sz="1400" dirty="0"/>
              <a:t>주체</a:t>
            </a:r>
            <a:r>
              <a:rPr lang="en-US" altLang="ko-KR" sz="1400" dirty="0"/>
              <a:t>)</a:t>
            </a:r>
          </a:p>
        </p:txBody>
      </p:sp>
      <p:sp>
        <p:nvSpPr>
          <p:cNvPr id="10" name="TextBox 9">
            <a:extLst>
              <a:ext uri="{FF2B5EF4-FFF2-40B4-BE49-F238E27FC236}">
                <a16:creationId xmlns:a16="http://schemas.microsoft.com/office/drawing/2014/main" id="{1FF59494-E1DA-A82F-B56A-C4CADFE1548F}"/>
              </a:ext>
            </a:extLst>
          </p:cNvPr>
          <p:cNvSpPr txBox="1"/>
          <p:nvPr/>
        </p:nvSpPr>
        <p:spPr>
          <a:xfrm>
            <a:off x="238003" y="4235484"/>
            <a:ext cx="2350907" cy="280282"/>
          </a:xfrm>
          <a:prstGeom prst="roundRect">
            <a:avLst>
              <a:gd name="adj" fmla="val 50000"/>
            </a:avLst>
          </a:prstGeom>
          <a:solidFill>
            <a:schemeClr val="tx2">
              <a:lumMod val="50000"/>
            </a:schemeClr>
          </a:solidFill>
          <a:ln>
            <a:solidFill>
              <a:schemeClr val="bg1">
                <a:lumMod val="50000"/>
              </a:schemeClr>
            </a:solidFill>
          </a:ln>
        </p:spPr>
        <p:txBody>
          <a:bodyPr wrap="square" tIns="0" bIns="0">
            <a:noAutofit/>
          </a:bodyPr>
          <a:lstStyle/>
          <a:p>
            <a:r>
              <a:rPr lang="en-US" altLang="ko-KR" sz="1400" dirty="0">
                <a:solidFill>
                  <a:schemeClr val="bg1"/>
                </a:solidFill>
              </a:rPr>
              <a:t>⑨ </a:t>
            </a:r>
            <a:r>
              <a:rPr lang="ko-KR" altLang="en-US" sz="1400" dirty="0">
                <a:solidFill>
                  <a:schemeClr val="bg1"/>
                </a:solidFill>
              </a:rPr>
              <a:t>절차</a:t>
            </a:r>
            <a:r>
              <a:rPr lang="en-US" altLang="ko-KR" sz="1400" dirty="0">
                <a:solidFill>
                  <a:schemeClr val="bg1"/>
                </a:solidFill>
              </a:rPr>
              <a:t>(</a:t>
            </a:r>
            <a:r>
              <a:rPr lang="ko-KR" altLang="en-US" sz="1400" dirty="0" err="1">
                <a:solidFill>
                  <a:schemeClr val="bg1"/>
                </a:solidFill>
              </a:rPr>
              <a:t>결정계</a:t>
            </a:r>
            <a:r>
              <a:rPr lang="en-US" altLang="ko-KR" sz="1400" dirty="0">
                <a:solidFill>
                  <a:schemeClr val="bg1"/>
                </a:solidFill>
              </a:rPr>
              <a:t>)</a:t>
            </a:r>
          </a:p>
        </p:txBody>
      </p:sp>
      <p:sp>
        <p:nvSpPr>
          <p:cNvPr id="11" name="TextBox 10">
            <a:extLst>
              <a:ext uri="{FF2B5EF4-FFF2-40B4-BE49-F238E27FC236}">
                <a16:creationId xmlns:a16="http://schemas.microsoft.com/office/drawing/2014/main" id="{6E5161DF-0536-999E-9912-CD0F1C84D34C}"/>
              </a:ext>
            </a:extLst>
          </p:cNvPr>
          <p:cNvSpPr txBox="1"/>
          <p:nvPr/>
        </p:nvSpPr>
        <p:spPr>
          <a:xfrm>
            <a:off x="238003" y="4541564"/>
            <a:ext cx="2350907" cy="280282"/>
          </a:xfrm>
          <a:prstGeom prst="roundRect">
            <a:avLst>
              <a:gd name="adj" fmla="val 50000"/>
            </a:avLst>
          </a:prstGeom>
          <a:solidFill>
            <a:schemeClr val="accent2">
              <a:lumMod val="20000"/>
              <a:lumOff val="80000"/>
            </a:schemeClr>
          </a:solidFill>
          <a:ln>
            <a:solidFill>
              <a:schemeClr val="bg1">
                <a:lumMod val="50000"/>
              </a:schemeClr>
            </a:solidFill>
          </a:ln>
        </p:spPr>
        <p:txBody>
          <a:bodyPr wrap="square" tIns="0" bIns="0">
            <a:noAutofit/>
          </a:bodyPr>
          <a:lstStyle/>
          <a:p>
            <a:r>
              <a:rPr lang="en-US" altLang="ko-KR" sz="1400" dirty="0"/>
              <a:t>⑩ </a:t>
            </a:r>
            <a:r>
              <a:rPr lang="ko-KR" altLang="en-US" sz="1400" dirty="0"/>
              <a:t>효과</a:t>
            </a:r>
            <a:endParaRPr lang="en-US" altLang="ko-KR" sz="1400" dirty="0"/>
          </a:p>
        </p:txBody>
      </p:sp>
      <p:sp>
        <p:nvSpPr>
          <p:cNvPr id="17" name="TextBox 16">
            <a:extLst>
              <a:ext uri="{FF2B5EF4-FFF2-40B4-BE49-F238E27FC236}">
                <a16:creationId xmlns:a16="http://schemas.microsoft.com/office/drawing/2014/main" id="{07C330D0-69FB-44EF-ADEA-A9A9293B9EC6}"/>
              </a:ext>
            </a:extLst>
          </p:cNvPr>
          <p:cNvSpPr txBox="1"/>
          <p:nvPr/>
        </p:nvSpPr>
        <p:spPr>
          <a:xfrm>
            <a:off x="238003" y="4868093"/>
            <a:ext cx="2350907" cy="280282"/>
          </a:xfrm>
          <a:prstGeom prst="roundRect">
            <a:avLst>
              <a:gd name="adj" fmla="val 50000"/>
            </a:avLst>
          </a:prstGeom>
          <a:solidFill>
            <a:schemeClr val="accent6">
              <a:lumMod val="20000"/>
              <a:lumOff val="80000"/>
            </a:schemeClr>
          </a:solidFill>
          <a:ln>
            <a:solidFill>
              <a:schemeClr val="bg1">
                <a:lumMod val="50000"/>
              </a:schemeClr>
            </a:solidFill>
          </a:ln>
        </p:spPr>
        <p:txBody>
          <a:bodyPr wrap="square" tIns="0" bIns="0">
            <a:noAutofit/>
          </a:bodyPr>
          <a:lstStyle/>
          <a:p>
            <a:r>
              <a:rPr lang="ko-KR" altLang="en-US" sz="1400" kern="1200" dirty="0">
                <a:effectLst/>
                <a:latin typeface="+mn-lt"/>
                <a:ea typeface="+mn-ea"/>
                <a:cs typeface="+mn-cs"/>
              </a:rPr>
              <a:t>⑪</a:t>
            </a:r>
            <a:r>
              <a:rPr lang="en-US" altLang="ko-KR" sz="1400" dirty="0"/>
              <a:t> </a:t>
            </a:r>
            <a:r>
              <a:rPr lang="ko-KR" altLang="en-US" sz="1400" dirty="0"/>
              <a:t>절차</a:t>
            </a:r>
            <a:r>
              <a:rPr lang="en-US" altLang="ko-KR" sz="1400" dirty="0"/>
              <a:t>(</a:t>
            </a:r>
            <a:r>
              <a:rPr lang="ko-KR" altLang="en-US" sz="1400" dirty="0"/>
              <a:t>보정</a:t>
            </a:r>
            <a:r>
              <a:rPr lang="en-US" altLang="ko-KR" sz="1400" dirty="0"/>
              <a:t>)</a:t>
            </a:r>
          </a:p>
        </p:txBody>
      </p:sp>
      <p:sp>
        <p:nvSpPr>
          <p:cNvPr id="29" name="TextBox 28">
            <a:extLst>
              <a:ext uri="{FF2B5EF4-FFF2-40B4-BE49-F238E27FC236}">
                <a16:creationId xmlns:a16="http://schemas.microsoft.com/office/drawing/2014/main" id="{9BC46909-110F-C1F0-3263-E75A59AD83A1}"/>
              </a:ext>
            </a:extLst>
          </p:cNvPr>
          <p:cNvSpPr txBox="1"/>
          <p:nvPr/>
        </p:nvSpPr>
        <p:spPr>
          <a:xfrm>
            <a:off x="238003" y="5191632"/>
            <a:ext cx="2350907" cy="280282"/>
          </a:xfrm>
          <a:prstGeom prst="roundRect">
            <a:avLst>
              <a:gd name="adj" fmla="val 50000"/>
            </a:avLst>
          </a:prstGeom>
          <a:solidFill>
            <a:schemeClr val="accent6">
              <a:lumMod val="20000"/>
              <a:lumOff val="80000"/>
            </a:schemeClr>
          </a:solidFill>
          <a:ln>
            <a:solidFill>
              <a:schemeClr val="bg1">
                <a:lumMod val="50000"/>
              </a:schemeClr>
            </a:solidFill>
          </a:ln>
        </p:spPr>
        <p:txBody>
          <a:bodyPr wrap="square" tIns="0" bIns="0">
            <a:noAutofit/>
          </a:bodyPr>
          <a:lstStyle/>
          <a:p>
            <a:r>
              <a:rPr lang="ko-KR" altLang="en-US" sz="1400" dirty="0"/>
              <a:t>⑫ 절차</a:t>
            </a:r>
            <a:r>
              <a:rPr lang="en-US" altLang="ko-KR" sz="1400" dirty="0"/>
              <a:t>(</a:t>
            </a:r>
            <a:r>
              <a:rPr lang="ko-KR" altLang="en-US" sz="1400" dirty="0"/>
              <a:t>통지</a:t>
            </a:r>
            <a:r>
              <a:rPr lang="en-US" altLang="ko-KR" sz="1400" dirty="0"/>
              <a:t>)</a:t>
            </a:r>
          </a:p>
        </p:txBody>
      </p:sp>
      <p:sp>
        <p:nvSpPr>
          <p:cNvPr id="30" name="TextBox 29">
            <a:extLst>
              <a:ext uri="{FF2B5EF4-FFF2-40B4-BE49-F238E27FC236}">
                <a16:creationId xmlns:a16="http://schemas.microsoft.com/office/drawing/2014/main" id="{BEE8E1D0-1318-0008-AC9C-A49158EAE745}"/>
              </a:ext>
            </a:extLst>
          </p:cNvPr>
          <p:cNvSpPr txBox="1"/>
          <p:nvPr/>
        </p:nvSpPr>
        <p:spPr>
          <a:xfrm>
            <a:off x="238003" y="5502667"/>
            <a:ext cx="2350907" cy="280282"/>
          </a:xfrm>
          <a:prstGeom prst="roundRect">
            <a:avLst>
              <a:gd name="adj" fmla="val 50000"/>
            </a:avLst>
          </a:prstGeom>
          <a:solidFill>
            <a:schemeClr val="accent6">
              <a:lumMod val="20000"/>
              <a:lumOff val="80000"/>
            </a:schemeClr>
          </a:solidFill>
          <a:ln>
            <a:solidFill>
              <a:schemeClr val="bg1">
                <a:lumMod val="50000"/>
              </a:schemeClr>
            </a:solidFill>
          </a:ln>
        </p:spPr>
        <p:txBody>
          <a:bodyPr wrap="square" tIns="0" bIns="0">
            <a:noAutofit/>
          </a:bodyPr>
          <a:lstStyle/>
          <a:p>
            <a:r>
              <a:rPr lang="en-US" altLang="ko-KR" sz="1400" dirty="0"/>
              <a:t>⑬ </a:t>
            </a:r>
            <a:r>
              <a:rPr lang="ko-KR" altLang="en-US" sz="1400" dirty="0"/>
              <a:t>절차</a:t>
            </a:r>
            <a:r>
              <a:rPr lang="en-US" altLang="ko-KR" sz="1400" dirty="0"/>
              <a:t>(</a:t>
            </a:r>
            <a:r>
              <a:rPr lang="ko-KR" altLang="en-US" sz="1400" dirty="0"/>
              <a:t>게재</a:t>
            </a:r>
            <a:r>
              <a:rPr lang="en-US" altLang="ko-KR" sz="1400" dirty="0"/>
              <a:t>)</a:t>
            </a:r>
          </a:p>
        </p:txBody>
      </p:sp>
      <p:sp>
        <p:nvSpPr>
          <p:cNvPr id="35" name="TextBox 34">
            <a:extLst>
              <a:ext uri="{FF2B5EF4-FFF2-40B4-BE49-F238E27FC236}">
                <a16:creationId xmlns:a16="http://schemas.microsoft.com/office/drawing/2014/main" id="{1D1991AD-E7FD-F01E-19FE-B91F39A77C35}"/>
              </a:ext>
            </a:extLst>
          </p:cNvPr>
          <p:cNvSpPr txBox="1"/>
          <p:nvPr/>
        </p:nvSpPr>
        <p:spPr>
          <a:xfrm>
            <a:off x="3682296" y="1695175"/>
            <a:ext cx="2350907" cy="280282"/>
          </a:xfrm>
          <a:prstGeom prst="roundRect">
            <a:avLst>
              <a:gd name="adj" fmla="val 50000"/>
            </a:avLst>
          </a:prstGeom>
          <a:solidFill>
            <a:schemeClr val="tx2">
              <a:lumMod val="50000"/>
            </a:schemeClr>
          </a:solidFill>
          <a:ln>
            <a:solidFill>
              <a:schemeClr val="bg1">
                <a:lumMod val="50000"/>
              </a:schemeClr>
            </a:solidFill>
          </a:ln>
        </p:spPr>
        <p:txBody>
          <a:bodyPr wrap="square" tIns="0" bIns="0">
            <a:noAutofit/>
          </a:bodyPr>
          <a:lstStyle/>
          <a:p>
            <a:r>
              <a:rPr lang="en-US" altLang="ko-KR" sz="1400" dirty="0">
                <a:solidFill>
                  <a:schemeClr val="bg1"/>
                </a:solidFill>
              </a:rPr>
              <a:t>① </a:t>
            </a:r>
            <a:r>
              <a:rPr lang="ko-KR" altLang="en-US" sz="1400" dirty="0">
                <a:solidFill>
                  <a:schemeClr val="bg1"/>
                </a:solidFill>
              </a:rPr>
              <a:t>요건</a:t>
            </a:r>
            <a:r>
              <a:rPr lang="en-US" altLang="ko-KR" sz="1400" dirty="0">
                <a:solidFill>
                  <a:schemeClr val="bg1"/>
                </a:solidFill>
              </a:rPr>
              <a:t>(</a:t>
            </a:r>
            <a:r>
              <a:rPr lang="ko-KR" altLang="en-US" sz="1400" dirty="0">
                <a:solidFill>
                  <a:schemeClr val="bg1"/>
                </a:solidFill>
              </a:rPr>
              <a:t>주체</a:t>
            </a:r>
            <a:r>
              <a:rPr lang="en-US" altLang="ko-KR" sz="1400" dirty="0">
                <a:solidFill>
                  <a:schemeClr val="bg1"/>
                </a:solidFill>
              </a:rPr>
              <a:t>/</a:t>
            </a:r>
            <a:r>
              <a:rPr lang="ko-KR" altLang="en-US" sz="1400" dirty="0">
                <a:solidFill>
                  <a:schemeClr val="bg1"/>
                </a:solidFill>
              </a:rPr>
              <a:t>객체</a:t>
            </a:r>
            <a:r>
              <a:rPr lang="en-US" altLang="ko-KR" sz="1400" dirty="0">
                <a:solidFill>
                  <a:schemeClr val="bg1"/>
                </a:solidFill>
              </a:rPr>
              <a:t>/</a:t>
            </a:r>
            <a:r>
              <a:rPr lang="ko-KR" altLang="en-US" sz="1400" dirty="0">
                <a:solidFill>
                  <a:schemeClr val="bg1"/>
                </a:solidFill>
              </a:rPr>
              <a:t>시기</a:t>
            </a:r>
            <a:r>
              <a:rPr lang="en-US" altLang="ko-KR" sz="1400" dirty="0">
                <a:solidFill>
                  <a:schemeClr val="bg1"/>
                </a:solidFill>
              </a:rPr>
              <a:t>)</a:t>
            </a:r>
          </a:p>
        </p:txBody>
      </p:sp>
      <p:sp>
        <p:nvSpPr>
          <p:cNvPr id="36" name="TextBox 35">
            <a:extLst>
              <a:ext uri="{FF2B5EF4-FFF2-40B4-BE49-F238E27FC236}">
                <a16:creationId xmlns:a16="http://schemas.microsoft.com/office/drawing/2014/main" id="{69970F3B-FD6C-0EFD-3DD1-4FFE347263E0}"/>
              </a:ext>
            </a:extLst>
          </p:cNvPr>
          <p:cNvSpPr txBox="1"/>
          <p:nvPr/>
        </p:nvSpPr>
        <p:spPr>
          <a:xfrm>
            <a:off x="3682296" y="2018714"/>
            <a:ext cx="2350907" cy="280282"/>
          </a:xfrm>
          <a:prstGeom prst="roundRect">
            <a:avLst>
              <a:gd name="adj" fmla="val 50000"/>
            </a:avLst>
          </a:prstGeom>
          <a:solidFill>
            <a:schemeClr val="accent4">
              <a:lumMod val="20000"/>
              <a:lumOff val="80000"/>
            </a:schemeClr>
          </a:solidFill>
          <a:ln>
            <a:solidFill>
              <a:schemeClr val="bg1">
                <a:lumMod val="50000"/>
              </a:schemeClr>
            </a:solidFill>
          </a:ln>
        </p:spPr>
        <p:txBody>
          <a:bodyPr wrap="square" tIns="0" bIns="0">
            <a:noAutofit/>
          </a:bodyPr>
          <a:lstStyle/>
          <a:p>
            <a:r>
              <a:rPr lang="ko-KR" altLang="en-US" sz="1400" dirty="0"/>
              <a:t>② 절차</a:t>
            </a:r>
            <a:r>
              <a:rPr lang="en-US" altLang="ko-KR" sz="1400" dirty="0"/>
              <a:t>(</a:t>
            </a:r>
            <a:r>
              <a:rPr lang="ko-KR" altLang="en-US" sz="1400" dirty="0"/>
              <a:t>여러 차례 정정</a:t>
            </a:r>
            <a:r>
              <a:rPr lang="en-US" altLang="ko-KR" sz="1400" dirty="0"/>
              <a:t>)</a:t>
            </a:r>
          </a:p>
        </p:txBody>
      </p:sp>
      <p:sp>
        <p:nvSpPr>
          <p:cNvPr id="37" name="TextBox 36">
            <a:extLst>
              <a:ext uri="{FF2B5EF4-FFF2-40B4-BE49-F238E27FC236}">
                <a16:creationId xmlns:a16="http://schemas.microsoft.com/office/drawing/2014/main" id="{6D67899C-FA49-605E-C5DD-76A999F3809F}"/>
              </a:ext>
            </a:extLst>
          </p:cNvPr>
          <p:cNvSpPr txBox="1"/>
          <p:nvPr/>
        </p:nvSpPr>
        <p:spPr>
          <a:xfrm>
            <a:off x="3682296" y="2329749"/>
            <a:ext cx="2350907" cy="280282"/>
          </a:xfrm>
          <a:prstGeom prst="roundRect">
            <a:avLst>
              <a:gd name="adj" fmla="val 50000"/>
            </a:avLst>
          </a:prstGeom>
          <a:solidFill>
            <a:schemeClr val="tx2">
              <a:lumMod val="50000"/>
            </a:schemeClr>
          </a:solidFill>
          <a:ln>
            <a:solidFill>
              <a:schemeClr val="bg1">
                <a:lumMod val="50000"/>
              </a:schemeClr>
            </a:solidFill>
          </a:ln>
        </p:spPr>
        <p:txBody>
          <a:bodyPr wrap="square" tIns="0" bIns="0">
            <a:noAutofit/>
          </a:bodyPr>
          <a:lstStyle/>
          <a:p>
            <a:r>
              <a:rPr lang="en-US" altLang="ko-KR" sz="1400" dirty="0">
                <a:solidFill>
                  <a:schemeClr val="bg1"/>
                </a:solidFill>
              </a:rPr>
              <a:t>③ </a:t>
            </a:r>
            <a:r>
              <a:rPr lang="ko-KR" altLang="en-US" sz="1400" dirty="0">
                <a:solidFill>
                  <a:schemeClr val="bg1"/>
                </a:solidFill>
              </a:rPr>
              <a:t>절차</a:t>
            </a:r>
            <a:r>
              <a:rPr lang="en-US" altLang="ko-KR" sz="1400" dirty="0">
                <a:solidFill>
                  <a:schemeClr val="bg1"/>
                </a:solidFill>
              </a:rPr>
              <a:t>(</a:t>
            </a:r>
            <a:r>
              <a:rPr lang="ko-KR" altLang="en-US" sz="1400" dirty="0">
                <a:solidFill>
                  <a:schemeClr val="bg1"/>
                </a:solidFill>
              </a:rPr>
              <a:t>부본 송달</a:t>
            </a:r>
            <a:r>
              <a:rPr lang="en-US" altLang="ko-KR" sz="1400" dirty="0">
                <a:solidFill>
                  <a:schemeClr val="bg1"/>
                </a:solidFill>
              </a:rPr>
              <a:t>)</a:t>
            </a:r>
          </a:p>
        </p:txBody>
      </p:sp>
      <p:sp>
        <p:nvSpPr>
          <p:cNvPr id="38" name="TextBox 37">
            <a:extLst>
              <a:ext uri="{FF2B5EF4-FFF2-40B4-BE49-F238E27FC236}">
                <a16:creationId xmlns:a16="http://schemas.microsoft.com/office/drawing/2014/main" id="{24C9C2F9-A299-8F68-CB21-D9EEA257C0B8}"/>
              </a:ext>
            </a:extLst>
          </p:cNvPr>
          <p:cNvSpPr txBox="1"/>
          <p:nvPr/>
        </p:nvSpPr>
        <p:spPr>
          <a:xfrm>
            <a:off x="3682296" y="2635830"/>
            <a:ext cx="2350907" cy="280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tIns="0" bIns="0">
            <a:noAutofit/>
          </a:bodyPr>
          <a:lstStyle/>
          <a:p>
            <a:r>
              <a:rPr lang="en-US" altLang="ko-KR" sz="1400" dirty="0"/>
              <a:t>④ </a:t>
            </a:r>
            <a:r>
              <a:rPr lang="ko-KR" altLang="en-US" sz="1400" dirty="0"/>
              <a:t>요건</a:t>
            </a:r>
            <a:r>
              <a:rPr lang="en-US" altLang="ko-KR" sz="1400" dirty="0"/>
              <a:t>/</a:t>
            </a:r>
            <a:r>
              <a:rPr lang="ko-KR" altLang="en-US" sz="1400" dirty="0"/>
              <a:t>절차</a:t>
            </a:r>
            <a:r>
              <a:rPr lang="en-US" altLang="ko-KR" sz="1400" dirty="0"/>
              <a:t>/</a:t>
            </a:r>
            <a:r>
              <a:rPr lang="ko-KR" altLang="en-US" sz="1400" dirty="0"/>
              <a:t>효과</a:t>
            </a:r>
            <a:endParaRPr lang="en-US" altLang="ko-KR" sz="1400" dirty="0"/>
          </a:p>
        </p:txBody>
      </p:sp>
      <p:sp>
        <p:nvSpPr>
          <p:cNvPr id="39" name="TextBox 38">
            <a:extLst>
              <a:ext uri="{FF2B5EF4-FFF2-40B4-BE49-F238E27FC236}">
                <a16:creationId xmlns:a16="http://schemas.microsoft.com/office/drawing/2014/main" id="{EAA3613B-F27E-B8B3-F7EB-4BAD77E47510}"/>
              </a:ext>
            </a:extLst>
          </p:cNvPr>
          <p:cNvSpPr txBox="1"/>
          <p:nvPr/>
        </p:nvSpPr>
        <p:spPr>
          <a:xfrm>
            <a:off x="3682296" y="2954979"/>
            <a:ext cx="2350907" cy="280282"/>
          </a:xfrm>
          <a:prstGeom prst="roundRect">
            <a:avLst>
              <a:gd name="adj" fmla="val 50000"/>
            </a:avLst>
          </a:prstGeom>
          <a:solidFill>
            <a:schemeClr val="accent4">
              <a:lumMod val="20000"/>
              <a:lumOff val="80000"/>
            </a:schemeClr>
          </a:solidFill>
          <a:ln>
            <a:solidFill>
              <a:schemeClr val="bg1">
                <a:lumMod val="50000"/>
              </a:schemeClr>
            </a:solidFill>
          </a:ln>
        </p:spPr>
        <p:txBody>
          <a:bodyPr wrap="square" tIns="0" bIns="0">
            <a:noAutofit/>
          </a:bodyPr>
          <a:lstStyle/>
          <a:p>
            <a:r>
              <a:rPr lang="ko-KR" altLang="en-US" sz="1400" kern="1200" dirty="0">
                <a:effectLst/>
                <a:latin typeface="+mn-lt"/>
                <a:ea typeface="+mn-ea"/>
                <a:cs typeface="+mn-cs"/>
              </a:rPr>
              <a:t>⑤</a:t>
            </a:r>
            <a:r>
              <a:rPr lang="en-US" altLang="ko-KR" sz="1400" dirty="0"/>
              <a:t> </a:t>
            </a:r>
            <a:r>
              <a:rPr lang="ko-KR" altLang="en-US" sz="1400" dirty="0"/>
              <a:t>절차</a:t>
            </a:r>
            <a:r>
              <a:rPr lang="en-US" altLang="ko-KR" sz="1400" dirty="0"/>
              <a:t>(</a:t>
            </a:r>
            <a:r>
              <a:rPr lang="ko-KR" altLang="en-US" sz="1400" dirty="0"/>
              <a:t>취하</a:t>
            </a:r>
            <a:r>
              <a:rPr lang="en-US" altLang="ko-KR" sz="1400" dirty="0"/>
              <a:t>)</a:t>
            </a:r>
          </a:p>
        </p:txBody>
      </p:sp>
      <p:sp>
        <p:nvSpPr>
          <p:cNvPr id="40" name="TextBox 39">
            <a:extLst>
              <a:ext uri="{FF2B5EF4-FFF2-40B4-BE49-F238E27FC236}">
                <a16:creationId xmlns:a16="http://schemas.microsoft.com/office/drawing/2014/main" id="{218F7BF8-3152-B435-02CB-46D9F97B8810}"/>
              </a:ext>
            </a:extLst>
          </p:cNvPr>
          <p:cNvSpPr txBox="1"/>
          <p:nvPr/>
        </p:nvSpPr>
        <p:spPr>
          <a:xfrm>
            <a:off x="3682296" y="3278518"/>
            <a:ext cx="2350907" cy="280282"/>
          </a:xfrm>
          <a:prstGeom prst="roundRect">
            <a:avLst>
              <a:gd name="adj" fmla="val 50000"/>
            </a:avLst>
          </a:prstGeom>
          <a:solidFill>
            <a:schemeClr val="tx2">
              <a:lumMod val="50000"/>
            </a:schemeClr>
          </a:solidFill>
          <a:ln>
            <a:solidFill>
              <a:schemeClr val="bg1">
                <a:lumMod val="50000"/>
              </a:schemeClr>
            </a:solidFill>
          </a:ln>
        </p:spPr>
        <p:txBody>
          <a:bodyPr wrap="square" tIns="0" bIns="0">
            <a:noAutofit/>
          </a:bodyPr>
          <a:lstStyle/>
          <a:p>
            <a:r>
              <a:rPr lang="ko-KR" altLang="en-US" sz="1400" dirty="0">
                <a:solidFill>
                  <a:schemeClr val="bg1"/>
                </a:solidFill>
              </a:rPr>
              <a:t>⑥ 요건</a:t>
            </a:r>
            <a:r>
              <a:rPr lang="en-US" altLang="ko-KR" sz="1400" dirty="0">
                <a:solidFill>
                  <a:schemeClr val="bg1"/>
                </a:solidFill>
              </a:rPr>
              <a:t>(</a:t>
            </a:r>
            <a:r>
              <a:rPr lang="ko-KR" altLang="en-US" sz="1400" dirty="0">
                <a:solidFill>
                  <a:schemeClr val="bg1"/>
                </a:solidFill>
              </a:rPr>
              <a:t>객체</a:t>
            </a:r>
            <a:r>
              <a:rPr lang="en-US" altLang="ko-KR" sz="1400" dirty="0">
                <a:solidFill>
                  <a:schemeClr val="bg1"/>
                </a:solidFill>
              </a:rPr>
              <a:t>)</a:t>
            </a:r>
          </a:p>
        </p:txBody>
      </p:sp>
      <p:cxnSp>
        <p:nvCxnSpPr>
          <p:cNvPr id="42" name="직선 연결선 41">
            <a:extLst>
              <a:ext uri="{FF2B5EF4-FFF2-40B4-BE49-F238E27FC236}">
                <a16:creationId xmlns:a16="http://schemas.microsoft.com/office/drawing/2014/main" id="{80A9A01E-B596-88E3-B03F-6B7C89D943F1}"/>
              </a:ext>
            </a:extLst>
          </p:cNvPr>
          <p:cNvCxnSpPr>
            <a:stCxn id="14" idx="3"/>
            <a:endCxn id="38" idx="1"/>
          </p:cNvCxnSpPr>
          <p:nvPr/>
        </p:nvCxnSpPr>
        <p:spPr>
          <a:xfrm>
            <a:off x="2588910" y="2476004"/>
            <a:ext cx="1093386" cy="29996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직선 연결선 43">
            <a:extLst>
              <a:ext uri="{FF2B5EF4-FFF2-40B4-BE49-F238E27FC236}">
                <a16:creationId xmlns:a16="http://schemas.microsoft.com/office/drawing/2014/main" id="{667F9AA6-6CFD-2DE7-0015-71786FD1B789}"/>
              </a:ext>
            </a:extLst>
          </p:cNvPr>
          <p:cNvCxnSpPr>
            <a:stCxn id="15" idx="3"/>
            <a:endCxn id="38" idx="1"/>
          </p:cNvCxnSpPr>
          <p:nvPr/>
        </p:nvCxnSpPr>
        <p:spPr>
          <a:xfrm flipV="1">
            <a:off x="2588910" y="2775971"/>
            <a:ext cx="1093386" cy="611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직선 연결선 45">
            <a:extLst>
              <a:ext uri="{FF2B5EF4-FFF2-40B4-BE49-F238E27FC236}">
                <a16:creationId xmlns:a16="http://schemas.microsoft.com/office/drawing/2014/main" id="{02BC653F-3312-EA89-2A6E-8B4BFA26E256}"/>
              </a:ext>
            </a:extLst>
          </p:cNvPr>
          <p:cNvCxnSpPr>
            <a:stCxn id="12" idx="3"/>
            <a:endCxn id="35" idx="1"/>
          </p:cNvCxnSpPr>
          <p:nvPr/>
        </p:nvCxnSpPr>
        <p:spPr>
          <a:xfrm flipV="1">
            <a:off x="2588910" y="1835316"/>
            <a:ext cx="1093386" cy="611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직선 연결선 47">
            <a:extLst>
              <a:ext uri="{FF2B5EF4-FFF2-40B4-BE49-F238E27FC236}">
                <a16:creationId xmlns:a16="http://schemas.microsoft.com/office/drawing/2014/main" id="{9A1652E9-1AFB-0D8F-04E8-5635C85F4EB8}"/>
              </a:ext>
            </a:extLst>
          </p:cNvPr>
          <p:cNvCxnSpPr>
            <a:stCxn id="5" idx="3"/>
            <a:endCxn id="38" idx="1"/>
          </p:cNvCxnSpPr>
          <p:nvPr/>
        </p:nvCxnSpPr>
        <p:spPr>
          <a:xfrm flipV="1">
            <a:off x="2588910" y="2775971"/>
            <a:ext cx="1093386" cy="32526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직선 연결선 50">
            <a:extLst>
              <a:ext uri="{FF2B5EF4-FFF2-40B4-BE49-F238E27FC236}">
                <a16:creationId xmlns:a16="http://schemas.microsoft.com/office/drawing/2014/main" id="{A7E4C8A9-FBDF-FB9C-3D02-4D9CB15F59EE}"/>
              </a:ext>
            </a:extLst>
          </p:cNvPr>
          <p:cNvCxnSpPr>
            <a:stCxn id="7" idx="3"/>
            <a:endCxn id="38" idx="1"/>
          </p:cNvCxnSpPr>
          <p:nvPr/>
        </p:nvCxnSpPr>
        <p:spPr>
          <a:xfrm flipV="1">
            <a:off x="2588910" y="2775971"/>
            <a:ext cx="1093386" cy="64880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직선 연결선 54">
            <a:extLst>
              <a:ext uri="{FF2B5EF4-FFF2-40B4-BE49-F238E27FC236}">
                <a16:creationId xmlns:a16="http://schemas.microsoft.com/office/drawing/2014/main" id="{6CB00C41-9D83-5465-D6EB-0290B29DB63F}"/>
              </a:ext>
            </a:extLst>
          </p:cNvPr>
          <p:cNvCxnSpPr>
            <a:stCxn id="9" idx="3"/>
            <a:endCxn id="38" idx="1"/>
          </p:cNvCxnSpPr>
          <p:nvPr/>
        </p:nvCxnSpPr>
        <p:spPr>
          <a:xfrm flipV="1">
            <a:off x="2588910" y="2775971"/>
            <a:ext cx="1093386" cy="126591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직선 연결선 59">
            <a:extLst>
              <a:ext uri="{FF2B5EF4-FFF2-40B4-BE49-F238E27FC236}">
                <a16:creationId xmlns:a16="http://schemas.microsoft.com/office/drawing/2014/main" id="{6083C160-E09E-7583-2F9E-F5CFDE305264}"/>
              </a:ext>
            </a:extLst>
          </p:cNvPr>
          <p:cNvCxnSpPr>
            <a:stCxn id="11" idx="3"/>
            <a:endCxn id="38" idx="1"/>
          </p:cNvCxnSpPr>
          <p:nvPr/>
        </p:nvCxnSpPr>
        <p:spPr>
          <a:xfrm flipV="1">
            <a:off x="2588910" y="2775971"/>
            <a:ext cx="1093386" cy="190573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직선 연결선 62">
            <a:extLst>
              <a:ext uri="{FF2B5EF4-FFF2-40B4-BE49-F238E27FC236}">
                <a16:creationId xmlns:a16="http://schemas.microsoft.com/office/drawing/2014/main" id="{430307D3-6DD1-5876-B6E8-48E8340C7F9C}"/>
              </a:ext>
            </a:extLst>
          </p:cNvPr>
          <p:cNvCxnSpPr>
            <a:stCxn id="17" idx="3"/>
            <a:endCxn id="38" idx="1"/>
          </p:cNvCxnSpPr>
          <p:nvPr/>
        </p:nvCxnSpPr>
        <p:spPr>
          <a:xfrm flipV="1">
            <a:off x="2588910" y="2775971"/>
            <a:ext cx="1093386" cy="223226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직선 연결선 65">
            <a:extLst>
              <a:ext uri="{FF2B5EF4-FFF2-40B4-BE49-F238E27FC236}">
                <a16:creationId xmlns:a16="http://schemas.microsoft.com/office/drawing/2014/main" id="{4F9DFA0E-1108-853F-2059-A4C71B0C8FD2}"/>
              </a:ext>
            </a:extLst>
          </p:cNvPr>
          <p:cNvCxnSpPr>
            <a:stCxn id="29" idx="3"/>
            <a:endCxn id="38" idx="1"/>
          </p:cNvCxnSpPr>
          <p:nvPr/>
        </p:nvCxnSpPr>
        <p:spPr>
          <a:xfrm flipV="1">
            <a:off x="2588910" y="2775971"/>
            <a:ext cx="1093386" cy="255580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직선 연결선 68">
            <a:extLst>
              <a:ext uri="{FF2B5EF4-FFF2-40B4-BE49-F238E27FC236}">
                <a16:creationId xmlns:a16="http://schemas.microsoft.com/office/drawing/2014/main" id="{E4338233-FC38-A2B0-BF43-FC31E5BB81B8}"/>
              </a:ext>
            </a:extLst>
          </p:cNvPr>
          <p:cNvCxnSpPr>
            <a:stCxn id="30" idx="3"/>
            <a:endCxn id="38" idx="1"/>
          </p:cNvCxnSpPr>
          <p:nvPr/>
        </p:nvCxnSpPr>
        <p:spPr>
          <a:xfrm flipV="1">
            <a:off x="2588910" y="2775971"/>
            <a:ext cx="1093386" cy="286683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직선 연결선 71">
            <a:extLst>
              <a:ext uri="{FF2B5EF4-FFF2-40B4-BE49-F238E27FC236}">
                <a16:creationId xmlns:a16="http://schemas.microsoft.com/office/drawing/2014/main" id="{08A9E46A-5D65-6E9E-8D88-6DD911D50D26}"/>
              </a:ext>
            </a:extLst>
          </p:cNvPr>
          <p:cNvCxnSpPr>
            <a:stCxn id="8" idx="3"/>
            <a:endCxn id="35" idx="1"/>
          </p:cNvCxnSpPr>
          <p:nvPr/>
        </p:nvCxnSpPr>
        <p:spPr>
          <a:xfrm flipV="1">
            <a:off x="2588910" y="1835316"/>
            <a:ext cx="1093386" cy="190049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직선 연결선 81">
            <a:extLst>
              <a:ext uri="{FF2B5EF4-FFF2-40B4-BE49-F238E27FC236}">
                <a16:creationId xmlns:a16="http://schemas.microsoft.com/office/drawing/2014/main" id="{30AE12E0-CAAD-C6F2-6127-767A1C736E5C}"/>
              </a:ext>
            </a:extLst>
          </p:cNvPr>
          <p:cNvCxnSpPr>
            <a:stCxn id="13" idx="3"/>
            <a:endCxn id="35" idx="1"/>
          </p:cNvCxnSpPr>
          <p:nvPr/>
        </p:nvCxnSpPr>
        <p:spPr>
          <a:xfrm flipV="1">
            <a:off x="2588910" y="1835316"/>
            <a:ext cx="1093386" cy="329653"/>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직선 연결선 83">
            <a:extLst>
              <a:ext uri="{FF2B5EF4-FFF2-40B4-BE49-F238E27FC236}">
                <a16:creationId xmlns:a16="http://schemas.microsoft.com/office/drawing/2014/main" id="{DD220030-E317-91DD-B1A5-75E7186B5707}"/>
              </a:ext>
            </a:extLst>
          </p:cNvPr>
          <p:cNvCxnSpPr>
            <a:stCxn id="5" idx="3"/>
            <a:endCxn id="40" idx="1"/>
          </p:cNvCxnSpPr>
          <p:nvPr/>
        </p:nvCxnSpPr>
        <p:spPr>
          <a:xfrm>
            <a:off x="2588910" y="3101234"/>
            <a:ext cx="1093386" cy="317425"/>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도넛 82">
            <a:extLst>
              <a:ext uri="{FF2B5EF4-FFF2-40B4-BE49-F238E27FC236}">
                <a16:creationId xmlns:a16="http://schemas.microsoft.com/office/drawing/2014/main" id="{922BECD8-2020-CD23-C9B5-08C8B934A879}"/>
              </a:ext>
            </a:extLst>
          </p:cNvPr>
          <p:cNvSpPr/>
          <p:nvPr/>
        </p:nvSpPr>
        <p:spPr>
          <a:xfrm>
            <a:off x="3520186" y="2651283"/>
            <a:ext cx="324219" cy="299967"/>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86" name="곱셈 기호 85">
            <a:extLst>
              <a:ext uri="{FF2B5EF4-FFF2-40B4-BE49-F238E27FC236}">
                <a16:creationId xmlns:a16="http://schemas.microsoft.com/office/drawing/2014/main" id="{71D24D5E-D584-A6AB-D9D7-D3BF2BD0090B}"/>
              </a:ext>
            </a:extLst>
          </p:cNvPr>
          <p:cNvSpPr/>
          <p:nvPr/>
        </p:nvSpPr>
        <p:spPr>
          <a:xfrm>
            <a:off x="3254320" y="2099003"/>
            <a:ext cx="311205" cy="316567"/>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88" name="곱셈 기호 85">
            <a:extLst>
              <a:ext uri="{FF2B5EF4-FFF2-40B4-BE49-F238E27FC236}">
                <a16:creationId xmlns:a16="http://schemas.microsoft.com/office/drawing/2014/main" id="{073A9BD6-4723-6038-39A0-8EA9F4036319}"/>
              </a:ext>
            </a:extLst>
          </p:cNvPr>
          <p:cNvSpPr/>
          <p:nvPr/>
        </p:nvSpPr>
        <p:spPr>
          <a:xfrm>
            <a:off x="3520186" y="3246219"/>
            <a:ext cx="311205" cy="316567"/>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02" name="TextBox 101">
            <a:extLst>
              <a:ext uri="{FF2B5EF4-FFF2-40B4-BE49-F238E27FC236}">
                <a16:creationId xmlns:a16="http://schemas.microsoft.com/office/drawing/2014/main" id="{F6AE6314-29CB-1786-F548-DF9E106F0409}"/>
              </a:ext>
            </a:extLst>
          </p:cNvPr>
          <p:cNvSpPr txBox="1"/>
          <p:nvPr/>
        </p:nvSpPr>
        <p:spPr>
          <a:xfrm>
            <a:off x="7987591" y="1342712"/>
            <a:ext cx="3994854" cy="307777"/>
          </a:xfrm>
          <a:prstGeom prst="rect">
            <a:avLst/>
          </a:prstGeom>
          <a:solidFill>
            <a:schemeClr val="tx1">
              <a:lumMod val="95000"/>
              <a:lumOff val="5000"/>
            </a:schemeClr>
          </a:solidFill>
          <a:ln>
            <a:solidFill>
              <a:schemeClr val="bg1">
                <a:lumMod val="50000"/>
              </a:schemeClr>
            </a:solidFill>
          </a:ln>
        </p:spPr>
        <p:txBody>
          <a:bodyPr wrap="square">
            <a:spAutoFit/>
          </a:bodyPr>
          <a:lstStyle/>
          <a:p>
            <a:r>
              <a:rPr lang="ko-KR" altLang="en-US" sz="1400" dirty="0">
                <a:solidFill>
                  <a:schemeClr val="bg1"/>
                </a:solidFill>
              </a:rPr>
              <a:t>제</a:t>
            </a:r>
            <a:r>
              <a:rPr lang="en-US" altLang="ko-KR" sz="1400" dirty="0">
                <a:solidFill>
                  <a:schemeClr val="bg1"/>
                </a:solidFill>
              </a:rPr>
              <a:t>132</a:t>
            </a:r>
            <a:r>
              <a:rPr lang="ko-KR" altLang="en-US" sz="1400" dirty="0">
                <a:solidFill>
                  <a:schemeClr val="bg1"/>
                </a:solidFill>
              </a:rPr>
              <a:t>조의</a:t>
            </a:r>
            <a:r>
              <a:rPr lang="en-US" altLang="ko-KR" sz="1400" dirty="0">
                <a:solidFill>
                  <a:schemeClr val="bg1"/>
                </a:solidFill>
              </a:rPr>
              <a:t>3【</a:t>
            </a:r>
            <a:r>
              <a:rPr lang="ko-KR" altLang="en-US" sz="1400" dirty="0">
                <a:solidFill>
                  <a:schemeClr val="bg1"/>
                </a:solidFill>
              </a:rPr>
              <a:t>특허취소신청절차에서의 특허의 정정</a:t>
            </a:r>
            <a:r>
              <a:rPr lang="en-US" altLang="ko-KR" sz="1400" dirty="0">
                <a:solidFill>
                  <a:schemeClr val="bg1"/>
                </a:solidFill>
              </a:rPr>
              <a:t>】</a:t>
            </a:r>
          </a:p>
        </p:txBody>
      </p:sp>
      <p:sp>
        <p:nvSpPr>
          <p:cNvPr id="103" name="TextBox 102">
            <a:extLst>
              <a:ext uri="{FF2B5EF4-FFF2-40B4-BE49-F238E27FC236}">
                <a16:creationId xmlns:a16="http://schemas.microsoft.com/office/drawing/2014/main" id="{E3A3C8E0-1393-03BD-D718-D301F53A34DA}"/>
              </a:ext>
            </a:extLst>
          </p:cNvPr>
          <p:cNvSpPr txBox="1"/>
          <p:nvPr/>
        </p:nvSpPr>
        <p:spPr>
          <a:xfrm>
            <a:off x="7987591" y="1695175"/>
            <a:ext cx="2350907" cy="280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tIns="0" bIns="0">
            <a:noAutofit/>
          </a:bodyPr>
          <a:lstStyle/>
          <a:p>
            <a:r>
              <a:rPr lang="en-US" altLang="ko-KR" sz="1400" dirty="0"/>
              <a:t>① </a:t>
            </a:r>
            <a:r>
              <a:rPr lang="ko-KR" altLang="en-US" sz="1400" dirty="0"/>
              <a:t>요건</a:t>
            </a:r>
            <a:r>
              <a:rPr lang="en-US" altLang="ko-KR" sz="1400" dirty="0"/>
              <a:t>(</a:t>
            </a:r>
            <a:r>
              <a:rPr lang="ko-KR" altLang="en-US" sz="1400" dirty="0"/>
              <a:t>주체</a:t>
            </a:r>
            <a:r>
              <a:rPr lang="en-US" altLang="ko-KR" sz="1400" dirty="0"/>
              <a:t>/</a:t>
            </a:r>
            <a:r>
              <a:rPr lang="ko-KR" altLang="en-US" sz="1400" dirty="0"/>
              <a:t>객체</a:t>
            </a:r>
            <a:r>
              <a:rPr lang="en-US" altLang="ko-KR" sz="1400" dirty="0"/>
              <a:t>/</a:t>
            </a:r>
            <a:r>
              <a:rPr lang="ko-KR" altLang="en-US" sz="1400" dirty="0"/>
              <a:t>시기</a:t>
            </a:r>
            <a:r>
              <a:rPr lang="en-US" altLang="ko-KR" sz="1400" dirty="0"/>
              <a:t>)</a:t>
            </a:r>
          </a:p>
        </p:txBody>
      </p:sp>
      <p:sp>
        <p:nvSpPr>
          <p:cNvPr id="104" name="TextBox 103">
            <a:extLst>
              <a:ext uri="{FF2B5EF4-FFF2-40B4-BE49-F238E27FC236}">
                <a16:creationId xmlns:a16="http://schemas.microsoft.com/office/drawing/2014/main" id="{995740EC-774C-30BE-F592-7D78F71384F2}"/>
              </a:ext>
            </a:extLst>
          </p:cNvPr>
          <p:cNvSpPr txBox="1"/>
          <p:nvPr/>
        </p:nvSpPr>
        <p:spPr>
          <a:xfrm>
            <a:off x="7987591" y="2018714"/>
            <a:ext cx="2350907" cy="280282"/>
          </a:xfrm>
          <a:prstGeom prst="roundRect">
            <a:avLst>
              <a:gd name="adj" fmla="val 50000"/>
            </a:avLst>
          </a:prstGeom>
          <a:solidFill>
            <a:schemeClr val="accent4">
              <a:lumMod val="20000"/>
              <a:lumOff val="80000"/>
            </a:schemeClr>
          </a:solidFill>
          <a:ln>
            <a:solidFill>
              <a:schemeClr val="bg1">
                <a:lumMod val="50000"/>
              </a:schemeClr>
            </a:solidFill>
          </a:ln>
        </p:spPr>
        <p:txBody>
          <a:bodyPr wrap="square" tIns="0" bIns="0">
            <a:noAutofit/>
          </a:bodyPr>
          <a:lstStyle/>
          <a:p>
            <a:r>
              <a:rPr lang="ko-KR" altLang="en-US" sz="1400" dirty="0"/>
              <a:t>② 절차</a:t>
            </a:r>
            <a:r>
              <a:rPr lang="en-US" altLang="ko-KR" sz="1400" dirty="0"/>
              <a:t>(</a:t>
            </a:r>
            <a:r>
              <a:rPr lang="ko-KR" altLang="en-US" sz="1400" dirty="0"/>
              <a:t>여러 차례 정정</a:t>
            </a:r>
            <a:r>
              <a:rPr lang="en-US" altLang="ko-KR" sz="1400" dirty="0"/>
              <a:t>)</a:t>
            </a:r>
          </a:p>
        </p:txBody>
      </p:sp>
      <p:sp>
        <p:nvSpPr>
          <p:cNvPr id="105" name="TextBox 104">
            <a:extLst>
              <a:ext uri="{FF2B5EF4-FFF2-40B4-BE49-F238E27FC236}">
                <a16:creationId xmlns:a16="http://schemas.microsoft.com/office/drawing/2014/main" id="{520344E2-9D8B-A75B-0E3A-B811DDA5E188}"/>
              </a:ext>
            </a:extLst>
          </p:cNvPr>
          <p:cNvSpPr txBox="1"/>
          <p:nvPr/>
        </p:nvSpPr>
        <p:spPr>
          <a:xfrm>
            <a:off x="7987591" y="2329749"/>
            <a:ext cx="2350907" cy="280282"/>
          </a:xfrm>
          <a:prstGeom prst="roundRect">
            <a:avLst>
              <a:gd name="adj" fmla="val 50000"/>
            </a:avLst>
          </a:prstGeom>
          <a:solidFill>
            <a:schemeClr val="accent4">
              <a:lumMod val="20000"/>
              <a:lumOff val="80000"/>
            </a:schemeClr>
          </a:solidFill>
          <a:ln>
            <a:solidFill>
              <a:schemeClr val="bg1">
                <a:lumMod val="50000"/>
              </a:schemeClr>
            </a:solidFill>
          </a:ln>
        </p:spPr>
        <p:txBody>
          <a:bodyPr wrap="square" tIns="0" bIns="0">
            <a:noAutofit/>
          </a:bodyPr>
          <a:lstStyle/>
          <a:p>
            <a:r>
              <a:rPr lang="en-US" altLang="ko-KR" sz="1400" dirty="0"/>
              <a:t>③ </a:t>
            </a:r>
            <a:r>
              <a:rPr lang="ko-KR" altLang="en-US" sz="1400" dirty="0"/>
              <a:t>요건</a:t>
            </a:r>
            <a:r>
              <a:rPr lang="en-US" altLang="ko-KR" sz="1400" dirty="0"/>
              <a:t>/</a:t>
            </a:r>
            <a:r>
              <a:rPr lang="ko-KR" altLang="en-US" sz="1400" dirty="0"/>
              <a:t>절차</a:t>
            </a:r>
            <a:r>
              <a:rPr lang="en-US" altLang="ko-KR" sz="1400" dirty="0"/>
              <a:t>/</a:t>
            </a:r>
            <a:r>
              <a:rPr lang="ko-KR" altLang="en-US" sz="1400" dirty="0"/>
              <a:t>효과</a:t>
            </a:r>
            <a:endParaRPr lang="en-US" altLang="ko-KR" sz="1400" dirty="0"/>
          </a:p>
        </p:txBody>
      </p:sp>
      <p:sp>
        <p:nvSpPr>
          <p:cNvPr id="106" name="TextBox 105">
            <a:extLst>
              <a:ext uri="{FF2B5EF4-FFF2-40B4-BE49-F238E27FC236}">
                <a16:creationId xmlns:a16="http://schemas.microsoft.com/office/drawing/2014/main" id="{F3A33C2B-0B91-5E0A-CB2F-5E53FFBE5C6B}"/>
              </a:ext>
            </a:extLst>
          </p:cNvPr>
          <p:cNvSpPr txBox="1"/>
          <p:nvPr/>
        </p:nvSpPr>
        <p:spPr>
          <a:xfrm>
            <a:off x="7987591" y="2635830"/>
            <a:ext cx="2350907" cy="280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tIns="0" bIns="0">
            <a:noAutofit/>
          </a:bodyPr>
          <a:lstStyle/>
          <a:p>
            <a:r>
              <a:rPr lang="en-US" altLang="ko-KR" sz="1400" dirty="0"/>
              <a:t>④ </a:t>
            </a:r>
            <a:r>
              <a:rPr lang="ko-KR" altLang="en-US" sz="1400" dirty="0"/>
              <a:t>절차</a:t>
            </a:r>
            <a:r>
              <a:rPr lang="en-US" altLang="ko-KR" sz="1400" dirty="0"/>
              <a:t>(</a:t>
            </a:r>
            <a:r>
              <a:rPr lang="ko-KR" altLang="en-US" sz="1400" dirty="0"/>
              <a:t>취하</a:t>
            </a:r>
            <a:r>
              <a:rPr lang="en-US" altLang="ko-KR" sz="1400" dirty="0"/>
              <a:t>)</a:t>
            </a:r>
          </a:p>
        </p:txBody>
      </p:sp>
      <p:sp>
        <p:nvSpPr>
          <p:cNvPr id="107" name="TextBox 106">
            <a:extLst>
              <a:ext uri="{FF2B5EF4-FFF2-40B4-BE49-F238E27FC236}">
                <a16:creationId xmlns:a16="http://schemas.microsoft.com/office/drawing/2014/main" id="{B29E4913-B78E-D1E9-1B8A-3392D2C9C65A}"/>
              </a:ext>
            </a:extLst>
          </p:cNvPr>
          <p:cNvSpPr txBox="1"/>
          <p:nvPr/>
        </p:nvSpPr>
        <p:spPr>
          <a:xfrm>
            <a:off x="7987591" y="2954979"/>
            <a:ext cx="2350907" cy="280282"/>
          </a:xfrm>
          <a:prstGeom prst="roundRect">
            <a:avLst>
              <a:gd name="adj" fmla="val 50000"/>
            </a:avLst>
          </a:prstGeom>
          <a:solidFill>
            <a:schemeClr val="accent4">
              <a:lumMod val="20000"/>
              <a:lumOff val="80000"/>
            </a:schemeClr>
          </a:solidFill>
          <a:ln>
            <a:solidFill>
              <a:schemeClr val="bg1">
                <a:lumMod val="50000"/>
              </a:schemeClr>
            </a:solidFill>
          </a:ln>
        </p:spPr>
        <p:txBody>
          <a:bodyPr wrap="square" tIns="0" bIns="0">
            <a:noAutofit/>
          </a:bodyPr>
          <a:lstStyle/>
          <a:p>
            <a:r>
              <a:rPr lang="ko-KR" altLang="en-US" sz="1400" kern="1200" dirty="0">
                <a:effectLst/>
                <a:latin typeface="+mn-lt"/>
                <a:ea typeface="+mn-ea"/>
                <a:cs typeface="+mn-cs"/>
              </a:rPr>
              <a:t>⑤ 요건</a:t>
            </a:r>
            <a:r>
              <a:rPr lang="en-US" altLang="ko-KR" sz="1400" kern="1200" dirty="0">
                <a:effectLst/>
                <a:latin typeface="+mn-lt"/>
                <a:ea typeface="+mn-ea"/>
                <a:cs typeface="+mn-cs"/>
              </a:rPr>
              <a:t>(</a:t>
            </a:r>
            <a:r>
              <a:rPr lang="ko-KR" altLang="en-US" sz="1400" kern="1200" dirty="0">
                <a:effectLst/>
                <a:latin typeface="+mn-lt"/>
                <a:ea typeface="+mn-ea"/>
                <a:cs typeface="+mn-cs"/>
              </a:rPr>
              <a:t>객체</a:t>
            </a:r>
            <a:r>
              <a:rPr lang="en-US" altLang="ko-KR" sz="1400" kern="1200" dirty="0">
                <a:effectLst/>
                <a:latin typeface="+mn-lt"/>
                <a:ea typeface="+mn-ea"/>
                <a:cs typeface="+mn-cs"/>
              </a:rPr>
              <a:t>)</a:t>
            </a:r>
            <a:endParaRPr lang="en-US" altLang="ko-KR" sz="1400" dirty="0"/>
          </a:p>
        </p:txBody>
      </p:sp>
      <p:sp>
        <p:nvSpPr>
          <p:cNvPr id="109" name="TextBox 108">
            <a:extLst>
              <a:ext uri="{FF2B5EF4-FFF2-40B4-BE49-F238E27FC236}">
                <a16:creationId xmlns:a16="http://schemas.microsoft.com/office/drawing/2014/main" id="{25B7C5F9-EEF8-9E74-87CB-E2715D1B4DDE}"/>
              </a:ext>
            </a:extLst>
          </p:cNvPr>
          <p:cNvSpPr txBox="1"/>
          <p:nvPr/>
        </p:nvSpPr>
        <p:spPr>
          <a:xfrm>
            <a:off x="7987591" y="4182030"/>
            <a:ext cx="3994854" cy="307777"/>
          </a:xfrm>
          <a:prstGeom prst="rect">
            <a:avLst/>
          </a:prstGeom>
          <a:solidFill>
            <a:schemeClr val="tx1">
              <a:lumMod val="95000"/>
              <a:lumOff val="5000"/>
            </a:schemeClr>
          </a:solidFill>
          <a:ln>
            <a:solidFill>
              <a:schemeClr val="bg1">
                <a:lumMod val="50000"/>
              </a:schemeClr>
            </a:solidFill>
          </a:ln>
        </p:spPr>
        <p:txBody>
          <a:bodyPr wrap="square">
            <a:spAutoFit/>
          </a:bodyPr>
          <a:lstStyle/>
          <a:p>
            <a:r>
              <a:rPr lang="ko-KR" altLang="en-US" sz="1400" dirty="0">
                <a:solidFill>
                  <a:schemeClr val="bg1"/>
                </a:solidFill>
              </a:rPr>
              <a:t>제</a:t>
            </a:r>
            <a:r>
              <a:rPr lang="en-US" altLang="ko-KR" sz="1400" dirty="0">
                <a:solidFill>
                  <a:schemeClr val="bg1"/>
                </a:solidFill>
              </a:rPr>
              <a:t>137</a:t>
            </a:r>
            <a:r>
              <a:rPr lang="ko-KR" altLang="en-US" sz="1400" dirty="0">
                <a:solidFill>
                  <a:schemeClr val="bg1"/>
                </a:solidFill>
              </a:rPr>
              <a:t>조</a:t>
            </a:r>
            <a:r>
              <a:rPr lang="en-US" altLang="ko-KR" sz="1400" dirty="0">
                <a:solidFill>
                  <a:schemeClr val="bg1"/>
                </a:solidFill>
              </a:rPr>
              <a:t>【</a:t>
            </a:r>
            <a:r>
              <a:rPr lang="ko-KR" altLang="en-US" sz="1400" dirty="0">
                <a:solidFill>
                  <a:schemeClr val="bg1"/>
                </a:solidFill>
              </a:rPr>
              <a:t>정정의 무효심판</a:t>
            </a:r>
            <a:r>
              <a:rPr lang="en-US" altLang="ko-KR" sz="1400" dirty="0">
                <a:solidFill>
                  <a:schemeClr val="bg1"/>
                </a:solidFill>
              </a:rPr>
              <a:t>】</a:t>
            </a:r>
          </a:p>
        </p:txBody>
      </p:sp>
      <p:sp>
        <p:nvSpPr>
          <p:cNvPr id="110" name="TextBox 109">
            <a:extLst>
              <a:ext uri="{FF2B5EF4-FFF2-40B4-BE49-F238E27FC236}">
                <a16:creationId xmlns:a16="http://schemas.microsoft.com/office/drawing/2014/main" id="{69BD1621-7978-A159-C819-CF9FA586C6C0}"/>
              </a:ext>
            </a:extLst>
          </p:cNvPr>
          <p:cNvSpPr txBox="1"/>
          <p:nvPr/>
        </p:nvSpPr>
        <p:spPr>
          <a:xfrm>
            <a:off x="7987591" y="4534493"/>
            <a:ext cx="2350907" cy="280282"/>
          </a:xfrm>
          <a:prstGeom prst="roundRect">
            <a:avLst>
              <a:gd name="adj" fmla="val 50000"/>
            </a:avLst>
          </a:prstGeom>
          <a:noFill/>
          <a:ln>
            <a:solidFill>
              <a:schemeClr val="bg1">
                <a:lumMod val="50000"/>
              </a:schemeClr>
            </a:solidFill>
          </a:ln>
        </p:spPr>
        <p:txBody>
          <a:bodyPr wrap="square" tIns="0" bIns="0">
            <a:noAutofit/>
          </a:bodyPr>
          <a:lstStyle/>
          <a:p>
            <a:r>
              <a:rPr lang="en-US" altLang="ko-KR" sz="1400" dirty="0"/>
              <a:t>① </a:t>
            </a:r>
            <a:r>
              <a:rPr lang="ko-KR" altLang="en-US" sz="1400" dirty="0"/>
              <a:t>요건</a:t>
            </a:r>
            <a:r>
              <a:rPr lang="en-US" altLang="ko-KR" sz="1400" dirty="0"/>
              <a:t>(</a:t>
            </a:r>
            <a:r>
              <a:rPr lang="ko-KR" altLang="en-US" sz="1400" dirty="0"/>
              <a:t>주체</a:t>
            </a:r>
            <a:r>
              <a:rPr lang="en-US" altLang="ko-KR" sz="1400" dirty="0"/>
              <a:t>/</a:t>
            </a:r>
            <a:r>
              <a:rPr lang="ko-KR" altLang="en-US" sz="1400" dirty="0"/>
              <a:t>객체</a:t>
            </a:r>
            <a:r>
              <a:rPr lang="en-US" altLang="ko-KR" sz="1400" dirty="0"/>
              <a:t>)</a:t>
            </a:r>
          </a:p>
        </p:txBody>
      </p:sp>
      <p:sp>
        <p:nvSpPr>
          <p:cNvPr id="111" name="TextBox 110">
            <a:extLst>
              <a:ext uri="{FF2B5EF4-FFF2-40B4-BE49-F238E27FC236}">
                <a16:creationId xmlns:a16="http://schemas.microsoft.com/office/drawing/2014/main" id="{FCD8DFEE-4DDF-5708-A5C2-831DE3275AE8}"/>
              </a:ext>
            </a:extLst>
          </p:cNvPr>
          <p:cNvSpPr txBox="1"/>
          <p:nvPr/>
        </p:nvSpPr>
        <p:spPr>
          <a:xfrm>
            <a:off x="7987591" y="4858032"/>
            <a:ext cx="2350907" cy="280282"/>
          </a:xfrm>
          <a:prstGeom prst="roundRect">
            <a:avLst>
              <a:gd name="adj" fmla="val 50000"/>
            </a:avLst>
          </a:prstGeom>
          <a:noFill/>
          <a:ln>
            <a:solidFill>
              <a:schemeClr val="bg1">
                <a:lumMod val="50000"/>
              </a:schemeClr>
            </a:solidFill>
          </a:ln>
        </p:spPr>
        <p:txBody>
          <a:bodyPr wrap="square" tIns="0" bIns="0">
            <a:noAutofit/>
          </a:bodyPr>
          <a:lstStyle/>
          <a:p>
            <a:r>
              <a:rPr lang="ko-KR" altLang="en-US" sz="1400" dirty="0"/>
              <a:t>② 요건</a:t>
            </a:r>
            <a:r>
              <a:rPr lang="en-US" altLang="ko-KR" sz="1400" dirty="0"/>
              <a:t>(</a:t>
            </a:r>
            <a:r>
              <a:rPr lang="ko-KR" altLang="en-US" sz="1400" dirty="0"/>
              <a:t>시기</a:t>
            </a:r>
            <a:r>
              <a:rPr lang="en-US" altLang="ko-KR" sz="1400" dirty="0"/>
              <a:t>) </a:t>
            </a:r>
            <a:r>
              <a:rPr lang="ko-KR" altLang="en-US" sz="1400" dirty="0"/>
              <a:t>및 절차</a:t>
            </a:r>
            <a:endParaRPr lang="en-US" altLang="ko-KR" sz="1400" dirty="0"/>
          </a:p>
        </p:txBody>
      </p:sp>
      <p:sp>
        <p:nvSpPr>
          <p:cNvPr id="112" name="TextBox 111">
            <a:extLst>
              <a:ext uri="{FF2B5EF4-FFF2-40B4-BE49-F238E27FC236}">
                <a16:creationId xmlns:a16="http://schemas.microsoft.com/office/drawing/2014/main" id="{6339467A-FA0A-C6BD-341F-01F7B191514F}"/>
              </a:ext>
            </a:extLst>
          </p:cNvPr>
          <p:cNvSpPr txBox="1"/>
          <p:nvPr/>
        </p:nvSpPr>
        <p:spPr>
          <a:xfrm>
            <a:off x="7987591" y="5169067"/>
            <a:ext cx="2350907" cy="280282"/>
          </a:xfrm>
          <a:prstGeom prst="roundRect">
            <a:avLst>
              <a:gd name="adj" fmla="val 50000"/>
            </a:avLst>
          </a:prstGeom>
          <a:solidFill>
            <a:schemeClr val="accent4">
              <a:lumMod val="20000"/>
              <a:lumOff val="80000"/>
            </a:schemeClr>
          </a:solidFill>
          <a:ln>
            <a:solidFill>
              <a:schemeClr val="bg1">
                <a:lumMod val="50000"/>
              </a:schemeClr>
            </a:solidFill>
          </a:ln>
        </p:spPr>
        <p:txBody>
          <a:bodyPr wrap="square" tIns="0" bIns="0">
            <a:noAutofit/>
          </a:bodyPr>
          <a:lstStyle/>
          <a:p>
            <a:r>
              <a:rPr lang="en-US" altLang="ko-KR" sz="1400" dirty="0"/>
              <a:t>③ </a:t>
            </a:r>
            <a:r>
              <a:rPr lang="ko-KR" altLang="en-US" sz="1400" dirty="0"/>
              <a:t>정정청구</a:t>
            </a:r>
            <a:r>
              <a:rPr lang="en-US" altLang="ko-KR" sz="1400" dirty="0"/>
              <a:t>(</a:t>
            </a:r>
            <a:r>
              <a:rPr lang="ko-KR" altLang="en-US" sz="1400" dirty="0"/>
              <a:t>주체</a:t>
            </a:r>
            <a:r>
              <a:rPr lang="en-US" altLang="ko-KR" sz="1400" dirty="0"/>
              <a:t>/</a:t>
            </a:r>
            <a:r>
              <a:rPr lang="ko-KR" altLang="en-US" sz="1400" dirty="0"/>
              <a:t>객체</a:t>
            </a:r>
            <a:r>
              <a:rPr lang="en-US" altLang="ko-KR" sz="1400" dirty="0"/>
              <a:t>/</a:t>
            </a:r>
            <a:r>
              <a:rPr lang="ko-KR" altLang="en-US" sz="1400" dirty="0"/>
              <a:t>시기</a:t>
            </a:r>
            <a:r>
              <a:rPr lang="en-US" altLang="ko-KR" sz="1400" dirty="0"/>
              <a:t>)</a:t>
            </a:r>
          </a:p>
        </p:txBody>
      </p:sp>
      <p:sp>
        <p:nvSpPr>
          <p:cNvPr id="113" name="TextBox 112">
            <a:extLst>
              <a:ext uri="{FF2B5EF4-FFF2-40B4-BE49-F238E27FC236}">
                <a16:creationId xmlns:a16="http://schemas.microsoft.com/office/drawing/2014/main" id="{9793D750-C7D7-F6BB-4D60-CA7FC1C91FA0}"/>
              </a:ext>
            </a:extLst>
          </p:cNvPr>
          <p:cNvSpPr txBox="1"/>
          <p:nvPr/>
        </p:nvSpPr>
        <p:spPr>
          <a:xfrm>
            <a:off x="7987591" y="5475148"/>
            <a:ext cx="2350907" cy="280282"/>
          </a:xfrm>
          <a:prstGeom prst="roundRect">
            <a:avLst>
              <a:gd name="adj" fmla="val 50000"/>
            </a:avLst>
          </a:prstGeom>
          <a:solidFill>
            <a:schemeClr val="accent1">
              <a:lumMod val="20000"/>
              <a:lumOff val="80000"/>
            </a:schemeClr>
          </a:solidFill>
          <a:ln>
            <a:solidFill>
              <a:schemeClr val="bg1">
                <a:lumMod val="50000"/>
              </a:schemeClr>
            </a:solidFill>
          </a:ln>
        </p:spPr>
        <p:txBody>
          <a:bodyPr wrap="square" tIns="0" bIns="0">
            <a:noAutofit/>
          </a:bodyPr>
          <a:lstStyle/>
          <a:p>
            <a:r>
              <a:rPr lang="en-US" altLang="ko-KR" sz="1400" dirty="0"/>
              <a:t>④ </a:t>
            </a:r>
            <a:r>
              <a:rPr lang="ko-KR" altLang="en-US" sz="1400" dirty="0"/>
              <a:t>정정청구</a:t>
            </a:r>
            <a:r>
              <a:rPr lang="en-US" altLang="ko-KR" sz="1400" dirty="0"/>
              <a:t>(</a:t>
            </a:r>
            <a:r>
              <a:rPr lang="ko-KR" altLang="en-US" sz="1400" dirty="0"/>
              <a:t>요건</a:t>
            </a:r>
            <a:r>
              <a:rPr lang="en-US" altLang="ko-KR" sz="1400" dirty="0"/>
              <a:t>/</a:t>
            </a:r>
            <a:r>
              <a:rPr lang="ko-KR" altLang="en-US" sz="1400" dirty="0"/>
              <a:t>절차</a:t>
            </a:r>
            <a:r>
              <a:rPr lang="en-US" altLang="ko-KR" sz="1400" dirty="0"/>
              <a:t>/</a:t>
            </a:r>
            <a:r>
              <a:rPr lang="ko-KR" altLang="en-US" sz="1400" dirty="0"/>
              <a:t>효과</a:t>
            </a:r>
            <a:r>
              <a:rPr lang="en-US" altLang="ko-KR" sz="1400" dirty="0"/>
              <a:t>)</a:t>
            </a:r>
          </a:p>
        </p:txBody>
      </p:sp>
      <p:sp>
        <p:nvSpPr>
          <p:cNvPr id="114" name="TextBox 113">
            <a:extLst>
              <a:ext uri="{FF2B5EF4-FFF2-40B4-BE49-F238E27FC236}">
                <a16:creationId xmlns:a16="http://schemas.microsoft.com/office/drawing/2014/main" id="{AD347D5E-FCF7-7A0D-9C92-3112FC703FA6}"/>
              </a:ext>
            </a:extLst>
          </p:cNvPr>
          <p:cNvSpPr txBox="1"/>
          <p:nvPr/>
        </p:nvSpPr>
        <p:spPr>
          <a:xfrm>
            <a:off x="7987591" y="5794297"/>
            <a:ext cx="2350907" cy="280282"/>
          </a:xfrm>
          <a:prstGeom prst="roundRect">
            <a:avLst>
              <a:gd name="adj" fmla="val 50000"/>
            </a:avLst>
          </a:prstGeom>
          <a:noFill/>
          <a:ln>
            <a:solidFill>
              <a:schemeClr val="bg1">
                <a:lumMod val="50000"/>
              </a:schemeClr>
            </a:solidFill>
          </a:ln>
        </p:spPr>
        <p:txBody>
          <a:bodyPr wrap="square" tIns="0" bIns="0">
            <a:noAutofit/>
          </a:bodyPr>
          <a:lstStyle/>
          <a:p>
            <a:r>
              <a:rPr lang="ko-KR" altLang="en-US" sz="1400" kern="1200" dirty="0">
                <a:effectLst/>
                <a:latin typeface="+mn-lt"/>
                <a:ea typeface="+mn-ea"/>
                <a:cs typeface="+mn-cs"/>
              </a:rPr>
              <a:t>⑤</a:t>
            </a:r>
            <a:r>
              <a:rPr lang="en-US" altLang="ko-KR" sz="1400" dirty="0"/>
              <a:t> </a:t>
            </a:r>
            <a:r>
              <a:rPr lang="ko-KR" altLang="en-US" sz="1400" dirty="0"/>
              <a:t>효과</a:t>
            </a:r>
            <a:endParaRPr lang="en-US" altLang="ko-KR" sz="1400" dirty="0"/>
          </a:p>
        </p:txBody>
      </p:sp>
      <p:cxnSp>
        <p:nvCxnSpPr>
          <p:cNvPr id="121" name="직선 연결선 120">
            <a:extLst>
              <a:ext uri="{FF2B5EF4-FFF2-40B4-BE49-F238E27FC236}">
                <a16:creationId xmlns:a16="http://schemas.microsoft.com/office/drawing/2014/main" id="{425483DF-A5B6-6E95-3401-4EEC52817C36}"/>
              </a:ext>
            </a:extLst>
          </p:cNvPr>
          <p:cNvCxnSpPr>
            <a:cxnSpLocks/>
            <a:stCxn id="35" idx="3"/>
            <a:endCxn id="112" idx="1"/>
          </p:cNvCxnSpPr>
          <p:nvPr/>
        </p:nvCxnSpPr>
        <p:spPr>
          <a:xfrm>
            <a:off x="6033203" y="1835316"/>
            <a:ext cx="1954388" cy="347389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직선 연결선 122">
            <a:extLst>
              <a:ext uri="{FF2B5EF4-FFF2-40B4-BE49-F238E27FC236}">
                <a16:creationId xmlns:a16="http://schemas.microsoft.com/office/drawing/2014/main" id="{5774FEF6-C9AA-994A-81C7-7126378C6ACE}"/>
              </a:ext>
            </a:extLst>
          </p:cNvPr>
          <p:cNvCxnSpPr>
            <a:stCxn id="36" idx="3"/>
            <a:endCxn id="113" idx="1"/>
          </p:cNvCxnSpPr>
          <p:nvPr/>
        </p:nvCxnSpPr>
        <p:spPr>
          <a:xfrm>
            <a:off x="6033203" y="2158855"/>
            <a:ext cx="1954388" cy="3456434"/>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직선 연결선 125">
            <a:extLst>
              <a:ext uri="{FF2B5EF4-FFF2-40B4-BE49-F238E27FC236}">
                <a16:creationId xmlns:a16="http://schemas.microsoft.com/office/drawing/2014/main" id="{CB39A155-A819-D932-D5F2-336A34BFD3E4}"/>
              </a:ext>
            </a:extLst>
          </p:cNvPr>
          <p:cNvCxnSpPr>
            <a:stCxn id="37" idx="3"/>
            <a:endCxn id="113" idx="1"/>
          </p:cNvCxnSpPr>
          <p:nvPr/>
        </p:nvCxnSpPr>
        <p:spPr>
          <a:xfrm>
            <a:off x="6033203" y="2469890"/>
            <a:ext cx="1954388" cy="314539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직선 연결선 127">
            <a:extLst>
              <a:ext uri="{FF2B5EF4-FFF2-40B4-BE49-F238E27FC236}">
                <a16:creationId xmlns:a16="http://schemas.microsoft.com/office/drawing/2014/main" id="{4510327D-73D0-1038-402D-75223ABE086D}"/>
              </a:ext>
            </a:extLst>
          </p:cNvPr>
          <p:cNvCxnSpPr>
            <a:stCxn id="38" idx="3"/>
            <a:endCxn id="113" idx="1"/>
          </p:cNvCxnSpPr>
          <p:nvPr/>
        </p:nvCxnSpPr>
        <p:spPr>
          <a:xfrm>
            <a:off x="6033203" y="2775971"/>
            <a:ext cx="1954388" cy="2839318"/>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직선 연결선 129">
            <a:extLst>
              <a:ext uri="{FF2B5EF4-FFF2-40B4-BE49-F238E27FC236}">
                <a16:creationId xmlns:a16="http://schemas.microsoft.com/office/drawing/2014/main" id="{D13F439B-3ABB-D4EF-2672-3840F9CA7F75}"/>
              </a:ext>
            </a:extLst>
          </p:cNvPr>
          <p:cNvCxnSpPr>
            <a:stCxn id="39" idx="3"/>
            <a:endCxn id="113" idx="1"/>
          </p:cNvCxnSpPr>
          <p:nvPr/>
        </p:nvCxnSpPr>
        <p:spPr>
          <a:xfrm>
            <a:off x="6033203" y="3095120"/>
            <a:ext cx="1954388" cy="25201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1" name="도넛 82">
            <a:extLst>
              <a:ext uri="{FF2B5EF4-FFF2-40B4-BE49-F238E27FC236}">
                <a16:creationId xmlns:a16="http://schemas.microsoft.com/office/drawing/2014/main" id="{039F8EFE-9B83-D0FB-5947-60B624650551}"/>
              </a:ext>
            </a:extLst>
          </p:cNvPr>
          <p:cNvSpPr/>
          <p:nvPr/>
        </p:nvSpPr>
        <p:spPr>
          <a:xfrm>
            <a:off x="7010397" y="3657336"/>
            <a:ext cx="199609" cy="184678"/>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32" name="도넛 82">
            <a:extLst>
              <a:ext uri="{FF2B5EF4-FFF2-40B4-BE49-F238E27FC236}">
                <a16:creationId xmlns:a16="http://schemas.microsoft.com/office/drawing/2014/main" id="{88165DC9-3382-0FFA-F99A-A3C855723FCF}"/>
              </a:ext>
            </a:extLst>
          </p:cNvPr>
          <p:cNvSpPr/>
          <p:nvPr/>
        </p:nvSpPr>
        <p:spPr>
          <a:xfrm>
            <a:off x="7815957" y="5468596"/>
            <a:ext cx="324219" cy="299967"/>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cxnSp>
        <p:nvCxnSpPr>
          <p:cNvPr id="134" name="직선 연결선 133">
            <a:extLst>
              <a:ext uri="{FF2B5EF4-FFF2-40B4-BE49-F238E27FC236}">
                <a16:creationId xmlns:a16="http://schemas.microsoft.com/office/drawing/2014/main" id="{6408736F-101C-E786-9FB9-CCAC8C883CE7}"/>
              </a:ext>
            </a:extLst>
          </p:cNvPr>
          <p:cNvCxnSpPr>
            <a:stCxn id="35" idx="3"/>
            <a:endCxn id="103" idx="1"/>
          </p:cNvCxnSpPr>
          <p:nvPr/>
        </p:nvCxnSpPr>
        <p:spPr>
          <a:xfrm>
            <a:off x="6033203" y="1835316"/>
            <a:ext cx="1954388"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6" name="직선 연결선 135">
            <a:extLst>
              <a:ext uri="{FF2B5EF4-FFF2-40B4-BE49-F238E27FC236}">
                <a16:creationId xmlns:a16="http://schemas.microsoft.com/office/drawing/2014/main" id="{ADA88D2B-563A-31EA-DACA-EDE84EF966EC}"/>
              </a:ext>
            </a:extLst>
          </p:cNvPr>
          <p:cNvCxnSpPr>
            <a:stCxn id="36" idx="3"/>
            <a:endCxn id="104" idx="1"/>
          </p:cNvCxnSpPr>
          <p:nvPr/>
        </p:nvCxnSpPr>
        <p:spPr>
          <a:xfrm>
            <a:off x="6033203" y="2158855"/>
            <a:ext cx="1954388"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8" name="직선 연결선 137">
            <a:extLst>
              <a:ext uri="{FF2B5EF4-FFF2-40B4-BE49-F238E27FC236}">
                <a16:creationId xmlns:a16="http://schemas.microsoft.com/office/drawing/2014/main" id="{7E748A12-B58B-FF1E-7D94-C8A1AA0C6AC6}"/>
              </a:ext>
            </a:extLst>
          </p:cNvPr>
          <p:cNvCxnSpPr>
            <a:stCxn id="38" idx="3"/>
            <a:endCxn id="105" idx="1"/>
          </p:cNvCxnSpPr>
          <p:nvPr/>
        </p:nvCxnSpPr>
        <p:spPr>
          <a:xfrm flipV="1">
            <a:off x="6033203" y="2469890"/>
            <a:ext cx="1954388" cy="30608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직선 연결선 139">
            <a:extLst>
              <a:ext uri="{FF2B5EF4-FFF2-40B4-BE49-F238E27FC236}">
                <a16:creationId xmlns:a16="http://schemas.microsoft.com/office/drawing/2014/main" id="{70521846-8758-2C3A-8D57-A7B5C4E51747}"/>
              </a:ext>
            </a:extLst>
          </p:cNvPr>
          <p:cNvCxnSpPr>
            <a:stCxn id="39" idx="3"/>
            <a:endCxn id="106" idx="1"/>
          </p:cNvCxnSpPr>
          <p:nvPr/>
        </p:nvCxnSpPr>
        <p:spPr>
          <a:xfrm flipV="1">
            <a:off x="6033203" y="2775971"/>
            <a:ext cx="1954388" cy="31914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2" name="직선 연결선 141">
            <a:extLst>
              <a:ext uri="{FF2B5EF4-FFF2-40B4-BE49-F238E27FC236}">
                <a16:creationId xmlns:a16="http://schemas.microsoft.com/office/drawing/2014/main" id="{D335F754-F26E-7BF8-4C8A-263982DC6DEC}"/>
              </a:ext>
            </a:extLst>
          </p:cNvPr>
          <p:cNvCxnSpPr>
            <a:stCxn id="40" idx="3"/>
            <a:endCxn id="107" idx="1"/>
          </p:cNvCxnSpPr>
          <p:nvPr/>
        </p:nvCxnSpPr>
        <p:spPr>
          <a:xfrm flipV="1">
            <a:off x="6033203" y="3095120"/>
            <a:ext cx="1954388" cy="32353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3" name="곱셈 기호 85">
            <a:extLst>
              <a:ext uri="{FF2B5EF4-FFF2-40B4-BE49-F238E27FC236}">
                <a16:creationId xmlns:a16="http://schemas.microsoft.com/office/drawing/2014/main" id="{0DDEB86E-F58B-BA97-6601-5C9372FA1AE0}"/>
              </a:ext>
            </a:extLst>
          </p:cNvPr>
          <p:cNvSpPr/>
          <p:nvPr/>
        </p:nvSpPr>
        <p:spPr>
          <a:xfrm>
            <a:off x="7010397" y="1662719"/>
            <a:ext cx="311205" cy="316567"/>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44" name="도넛 82">
            <a:extLst>
              <a:ext uri="{FF2B5EF4-FFF2-40B4-BE49-F238E27FC236}">
                <a16:creationId xmlns:a16="http://schemas.microsoft.com/office/drawing/2014/main" id="{CC23F2DF-7F73-F520-5578-77B46604DB28}"/>
              </a:ext>
            </a:extLst>
          </p:cNvPr>
          <p:cNvSpPr/>
          <p:nvPr/>
        </p:nvSpPr>
        <p:spPr>
          <a:xfrm>
            <a:off x="7066194" y="2071470"/>
            <a:ext cx="199609" cy="184678"/>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45" name="도넛 82">
            <a:extLst>
              <a:ext uri="{FF2B5EF4-FFF2-40B4-BE49-F238E27FC236}">
                <a16:creationId xmlns:a16="http://schemas.microsoft.com/office/drawing/2014/main" id="{CB303E5A-105F-50AE-6F64-EBE6A67FB7BC}"/>
              </a:ext>
            </a:extLst>
          </p:cNvPr>
          <p:cNvSpPr/>
          <p:nvPr/>
        </p:nvSpPr>
        <p:spPr>
          <a:xfrm>
            <a:off x="7066194" y="2490838"/>
            <a:ext cx="199609" cy="184678"/>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46" name="도넛 82">
            <a:extLst>
              <a:ext uri="{FF2B5EF4-FFF2-40B4-BE49-F238E27FC236}">
                <a16:creationId xmlns:a16="http://schemas.microsoft.com/office/drawing/2014/main" id="{0B65C741-FA24-475E-2512-F19723064AF1}"/>
              </a:ext>
            </a:extLst>
          </p:cNvPr>
          <p:cNvSpPr/>
          <p:nvPr/>
        </p:nvSpPr>
        <p:spPr>
          <a:xfrm>
            <a:off x="7066194" y="2805035"/>
            <a:ext cx="199609" cy="184678"/>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
        <p:nvSpPr>
          <p:cNvPr id="147" name="도넛 82">
            <a:extLst>
              <a:ext uri="{FF2B5EF4-FFF2-40B4-BE49-F238E27FC236}">
                <a16:creationId xmlns:a16="http://schemas.microsoft.com/office/drawing/2014/main" id="{72D4E1E6-8071-BF5F-D2CA-66275D2B7118}"/>
              </a:ext>
            </a:extLst>
          </p:cNvPr>
          <p:cNvSpPr/>
          <p:nvPr/>
        </p:nvSpPr>
        <p:spPr>
          <a:xfrm>
            <a:off x="7066194" y="3118185"/>
            <a:ext cx="199609" cy="184678"/>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solidFill>
                <a:schemeClr val="tx1"/>
              </a:solidFill>
            </a:endParaRPr>
          </a:p>
        </p:txBody>
      </p:sp>
    </p:spTree>
    <p:extLst>
      <p:ext uri="{BB962C8B-B14F-4D97-AF65-F5344CB8AC3E}">
        <p14:creationId xmlns:p14="http://schemas.microsoft.com/office/powerpoint/2010/main" val="2423040467"/>
      </p:ext>
    </p:extLst>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178</a:t>
            </a:r>
            <a:r>
              <a:rPr lang="ko-KR" altLang="en-US" dirty="0"/>
              <a:t>조</a:t>
            </a:r>
            <a:r>
              <a:rPr lang="en-US" altLang="ko-KR" dirty="0"/>
              <a:t>~</a:t>
            </a:r>
            <a:r>
              <a:rPr lang="ko-KR" altLang="en-US" dirty="0"/>
              <a:t>제</a:t>
            </a:r>
            <a:r>
              <a:rPr lang="en-US" altLang="ko-KR" dirty="0"/>
              <a:t>185</a:t>
            </a:r>
            <a:r>
              <a:rPr lang="ko-KR" altLang="en-US" dirty="0"/>
              <a:t>조</a:t>
            </a:r>
          </a:p>
        </p:txBody>
      </p:sp>
      <p:sp>
        <p:nvSpPr>
          <p:cNvPr id="5" name="텍스트 개체 틀 4"/>
          <p:cNvSpPr>
            <a:spLocks noGrp="1"/>
          </p:cNvSpPr>
          <p:nvPr>
            <p:ph type="body" sz="quarter" idx="13"/>
          </p:nvPr>
        </p:nvSpPr>
        <p:spPr/>
        <p:txBody>
          <a:bodyPr/>
          <a:lstStyle/>
          <a:p>
            <a:r>
              <a:rPr lang="ko-KR" altLang="en-US" dirty="0"/>
              <a:t>재심에 대한 조문정리</a:t>
            </a:r>
          </a:p>
        </p:txBody>
      </p:sp>
      <p:sp>
        <p:nvSpPr>
          <p:cNvPr id="30" name="TextBox 29"/>
          <p:cNvSpPr txBox="1"/>
          <p:nvPr/>
        </p:nvSpPr>
        <p:spPr>
          <a:xfrm>
            <a:off x="77875" y="986046"/>
            <a:ext cx="11936323" cy="5262979"/>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178</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재심의 청구</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당사자는 확정된 특허취소결정 또는 확정된 </a:t>
            </a:r>
            <a:r>
              <a:rPr lang="ko-KR" altLang="en-US" sz="1400" dirty="0" err="1">
                <a:solidFill>
                  <a:schemeClr val="tx2"/>
                </a:solidFill>
              </a:rPr>
              <a:t>심결에</a:t>
            </a:r>
            <a:r>
              <a:rPr lang="ko-KR" altLang="en-US" sz="1400" dirty="0">
                <a:solidFill>
                  <a:schemeClr val="tx2"/>
                </a:solidFill>
              </a:rPr>
              <a:t> 대하여 재심을 청구할 수 있다</a:t>
            </a:r>
            <a:r>
              <a:rPr lang="en-US" altLang="ko-KR" sz="1400" dirty="0">
                <a:solidFill>
                  <a:schemeClr val="tx2"/>
                </a:solidFill>
              </a:rPr>
              <a:t>.  &lt;</a:t>
            </a:r>
            <a:r>
              <a:rPr lang="ko-KR" altLang="en-US" sz="1400" dirty="0">
                <a:solidFill>
                  <a:schemeClr val="tx2"/>
                </a:solidFill>
              </a:rPr>
              <a:t>개정 </a:t>
            </a:r>
            <a:r>
              <a:rPr lang="en-US" altLang="ko-KR" sz="1400" dirty="0">
                <a:solidFill>
                  <a:schemeClr val="tx2"/>
                </a:solidFill>
              </a:rPr>
              <a:t>2016.2.29.&gt;</a:t>
            </a:r>
          </a:p>
          <a:p>
            <a:pPr fontAlgn="base"/>
            <a:r>
              <a:rPr lang="en-US" altLang="ko-KR" sz="1400" dirty="0">
                <a:solidFill>
                  <a:schemeClr val="tx2"/>
                </a:solidFill>
              </a:rPr>
              <a:t>②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항의 재심청구에 관하여는 「민사소송법」 제</a:t>
            </a:r>
            <a:r>
              <a:rPr lang="en-US" altLang="ko-KR" sz="1400" dirty="0">
                <a:solidFill>
                  <a:schemeClr val="tx2"/>
                </a:solidFill>
              </a:rPr>
              <a:t>451</a:t>
            </a:r>
            <a:r>
              <a:rPr lang="ko-KR" altLang="en-US" sz="1400" dirty="0">
                <a:solidFill>
                  <a:schemeClr val="tx2"/>
                </a:solidFill>
              </a:rPr>
              <a:t>조 및 제</a:t>
            </a:r>
            <a:r>
              <a:rPr lang="en-US" altLang="ko-KR" sz="1400" dirty="0">
                <a:solidFill>
                  <a:schemeClr val="tx2"/>
                </a:solidFill>
              </a:rPr>
              <a:t>453</a:t>
            </a:r>
            <a:r>
              <a:rPr lang="ko-KR" altLang="en-US" sz="1400" dirty="0">
                <a:solidFill>
                  <a:schemeClr val="tx2"/>
                </a:solidFill>
              </a:rPr>
              <a:t>조를 준용한다</a:t>
            </a:r>
            <a:r>
              <a:rPr lang="en-US" altLang="ko-KR" sz="1400" dirty="0">
                <a:solidFill>
                  <a:schemeClr val="tx2"/>
                </a:solidFill>
              </a:rPr>
              <a:t>.</a:t>
            </a:r>
          </a:p>
          <a:p>
            <a:pPr fontAlgn="base"/>
            <a:r>
              <a:rPr lang="ko-KR" altLang="en-US" sz="1400" b="1" dirty="0">
                <a:solidFill>
                  <a:schemeClr val="accent1"/>
                </a:solidFill>
              </a:rPr>
              <a:t>제</a:t>
            </a:r>
            <a:r>
              <a:rPr lang="en-US" altLang="ko-KR" sz="1400" b="1" dirty="0">
                <a:solidFill>
                  <a:schemeClr val="accent1"/>
                </a:solidFill>
              </a:rPr>
              <a:t>179</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제</a:t>
            </a:r>
            <a:r>
              <a:rPr lang="en-US" altLang="ko-KR" sz="1400" b="1" dirty="0">
                <a:solidFill>
                  <a:schemeClr val="accent1"/>
                </a:solidFill>
              </a:rPr>
              <a:t>3</a:t>
            </a:r>
            <a:r>
              <a:rPr lang="ko-KR" altLang="en-US" sz="1400" b="1" dirty="0">
                <a:solidFill>
                  <a:schemeClr val="accent1"/>
                </a:solidFill>
              </a:rPr>
              <a:t>자에 의한 재심청구</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심판의 당사자가 공모하여 제</a:t>
            </a:r>
            <a:r>
              <a:rPr lang="en-US" altLang="ko-KR" sz="1400" dirty="0">
                <a:solidFill>
                  <a:schemeClr val="tx2"/>
                </a:solidFill>
              </a:rPr>
              <a:t>3</a:t>
            </a:r>
            <a:r>
              <a:rPr lang="ko-KR" altLang="en-US" sz="1400" dirty="0">
                <a:solidFill>
                  <a:schemeClr val="tx2"/>
                </a:solidFill>
              </a:rPr>
              <a:t>자의 권리나 이익을 사해</a:t>
            </a:r>
            <a:r>
              <a:rPr lang="en-US" altLang="ko-KR" sz="1400" dirty="0">
                <a:solidFill>
                  <a:schemeClr val="tx2"/>
                </a:solidFill>
              </a:rPr>
              <a:t>(</a:t>
            </a:r>
            <a:r>
              <a:rPr lang="ko-KR" altLang="en-US" sz="1400" dirty="0">
                <a:solidFill>
                  <a:schemeClr val="tx2"/>
                </a:solidFill>
              </a:rPr>
              <a:t>詐害</a:t>
            </a:r>
            <a:r>
              <a:rPr lang="en-US" altLang="ko-KR" sz="1400" dirty="0">
                <a:solidFill>
                  <a:schemeClr val="tx2"/>
                </a:solidFill>
              </a:rPr>
              <a:t>)</a:t>
            </a:r>
            <a:r>
              <a:rPr lang="ko-KR" altLang="en-US" sz="1400" dirty="0">
                <a:solidFill>
                  <a:schemeClr val="tx2"/>
                </a:solidFill>
              </a:rPr>
              <a:t>할 목적으로 </a:t>
            </a:r>
            <a:r>
              <a:rPr lang="ko-KR" altLang="en-US" sz="1400" dirty="0" err="1">
                <a:solidFill>
                  <a:schemeClr val="tx2"/>
                </a:solidFill>
              </a:rPr>
              <a:t>심결을</a:t>
            </a:r>
            <a:r>
              <a:rPr lang="ko-KR" altLang="en-US" sz="1400" dirty="0">
                <a:solidFill>
                  <a:schemeClr val="tx2"/>
                </a:solidFill>
              </a:rPr>
              <a:t> 하게 하였을 때에는 제</a:t>
            </a:r>
            <a:r>
              <a:rPr lang="en-US" altLang="ko-KR" sz="1400" dirty="0">
                <a:solidFill>
                  <a:schemeClr val="tx2"/>
                </a:solidFill>
              </a:rPr>
              <a:t>3</a:t>
            </a:r>
            <a:r>
              <a:rPr lang="ko-KR" altLang="en-US" sz="1400" dirty="0">
                <a:solidFill>
                  <a:schemeClr val="tx2"/>
                </a:solidFill>
              </a:rPr>
              <a:t>자는 그 확정된 </a:t>
            </a:r>
            <a:r>
              <a:rPr lang="ko-KR" altLang="en-US" sz="1400" dirty="0" err="1">
                <a:solidFill>
                  <a:schemeClr val="tx2"/>
                </a:solidFill>
              </a:rPr>
              <a:t>심결에</a:t>
            </a:r>
            <a:r>
              <a:rPr lang="ko-KR" altLang="en-US" sz="1400" dirty="0">
                <a:solidFill>
                  <a:schemeClr val="tx2"/>
                </a:solidFill>
              </a:rPr>
              <a:t> 대하여 재심을 청구할 수 있다</a:t>
            </a:r>
            <a:r>
              <a:rPr lang="en-US" altLang="ko-KR" sz="1400" dirty="0">
                <a:solidFill>
                  <a:schemeClr val="tx2"/>
                </a:solidFill>
              </a:rPr>
              <a:t>.</a:t>
            </a:r>
          </a:p>
          <a:p>
            <a:pPr fontAlgn="base"/>
            <a:r>
              <a:rPr lang="en-US" altLang="ko-KR" sz="1400" dirty="0">
                <a:solidFill>
                  <a:schemeClr val="tx2"/>
                </a:solidFill>
              </a:rPr>
              <a:t>②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항의 재심청구의 경우에는 심판의 당사자를 공동피청구인으로 한다</a:t>
            </a:r>
            <a:r>
              <a:rPr lang="en-US" altLang="ko-KR" sz="1400" dirty="0">
                <a:solidFill>
                  <a:schemeClr val="tx2"/>
                </a:solidFill>
              </a:rPr>
              <a:t>.</a:t>
            </a:r>
          </a:p>
          <a:p>
            <a:pPr fontAlgn="base"/>
            <a:r>
              <a:rPr lang="ko-KR" altLang="en-US" sz="1400" b="1" dirty="0">
                <a:solidFill>
                  <a:schemeClr val="accent1"/>
                </a:solidFill>
              </a:rPr>
              <a:t>제</a:t>
            </a:r>
            <a:r>
              <a:rPr lang="en-US" altLang="ko-KR" sz="1400" b="1" dirty="0">
                <a:solidFill>
                  <a:schemeClr val="accent1"/>
                </a:solidFill>
              </a:rPr>
              <a:t>180</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재심청구의 기간</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당사자는 특허취소결정 또는 </a:t>
            </a:r>
            <a:r>
              <a:rPr lang="ko-KR" altLang="en-US" sz="1400" dirty="0" err="1">
                <a:solidFill>
                  <a:schemeClr val="tx2"/>
                </a:solidFill>
              </a:rPr>
              <a:t>심결</a:t>
            </a:r>
            <a:r>
              <a:rPr lang="ko-KR" altLang="en-US" sz="1400" dirty="0">
                <a:solidFill>
                  <a:schemeClr val="tx2"/>
                </a:solidFill>
              </a:rPr>
              <a:t> 확정 후 재심사유를 안 날부터 </a:t>
            </a:r>
            <a:r>
              <a:rPr lang="en-US" altLang="ko-KR" sz="1400" dirty="0">
                <a:solidFill>
                  <a:schemeClr val="tx2"/>
                </a:solidFill>
              </a:rPr>
              <a:t>30</a:t>
            </a:r>
            <a:r>
              <a:rPr lang="ko-KR" altLang="en-US" sz="1400" dirty="0">
                <a:solidFill>
                  <a:schemeClr val="tx2"/>
                </a:solidFill>
              </a:rPr>
              <a:t>일 이내에 재심을 청구하여야 한다</a:t>
            </a:r>
            <a:r>
              <a:rPr lang="en-US" altLang="ko-KR" sz="1400" dirty="0">
                <a:solidFill>
                  <a:schemeClr val="tx2"/>
                </a:solidFill>
              </a:rPr>
              <a:t>.  &lt;</a:t>
            </a:r>
            <a:r>
              <a:rPr lang="ko-KR" altLang="en-US" sz="1400" dirty="0">
                <a:solidFill>
                  <a:schemeClr val="tx2"/>
                </a:solidFill>
              </a:rPr>
              <a:t>개정 </a:t>
            </a:r>
            <a:r>
              <a:rPr lang="en-US" altLang="ko-KR" sz="1400" dirty="0">
                <a:solidFill>
                  <a:schemeClr val="tx2"/>
                </a:solidFill>
              </a:rPr>
              <a:t>2016.2.29.&gt;</a:t>
            </a:r>
          </a:p>
          <a:p>
            <a:pPr fontAlgn="base"/>
            <a:r>
              <a:rPr lang="en-US" altLang="ko-KR" sz="1400" dirty="0">
                <a:solidFill>
                  <a:schemeClr val="tx2"/>
                </a:solidFill>
              </a:rPr>
              <a:t>② </a:t>
            </a:r>
            <a:r>
              <a:rPr lang="ko-KR" altLang="en-US" sz="1400" dirty="0">
                <a:solidFill>
                  <a:schemeClr val="tx2"/>
                </a:solidFill>
              </a:rPr>
              <a:t>대리권의 흠을 이유로 재심을 청구하는 경우에 제</a:t>
            </a:r>
            <a:r>
              <a:rPr lang="en-US" altLang="ko-KR" sz="1400" dirty="0">
                <a:solidFill>
                  <a:schemeClr val="tx2"/>
                </a:solidFill>
              </a:rPr>
              <a:t>1</a:t>
            </a:r>
            <a:r>
              <a:rPr lang="ko-KR" altLang="en-US" sz="1400" dirty="0">
                <a:solidFill>
                  <a:schemeClr val="tx2"/>
                </a:solidFill>
              </a:rPr>
              <a:t>항의 기간은 청구인 또는 법정대리인이 특허취소결정등본 또는 </a:t>
            </a:r>
            <a:r>
              <a:rPr lang="ko-KR" altLang="en-US" sz="1400" dirty="0" err="1">
                <a:solidFill>
                  <a:schemeClr val="tx2"/>
                </a:solidFill>
              </a:rPr>
              <a:t>심결등본의</a:t>
            </a:r>
            <a:r>
              <a:rPr lang="ko-KR" altLang="en-US" sz="1400" dirty="0">
                <a:solidFill>
                  <a:schemeClr val="tx2"/>
                </a:solidFill>
              </a:rPr>
              <a:t> 송달에 의하여 특허취소결정 또는 </a:t>
            </a:r>
            <a:r>
              <a:rPr lang="ko-KR" altLang="en-US" sz="1400" dirty="0" err="1">
                <a:solidFill>
                  <a:schemeClr val="tx2"/>
                </a:solidFill>
              </a:rPr>
              <a:t>심결이</a:t>
            </a:r>
            <a:r>
              <a:rPr lang="ko-KR" altLang="en-US" sz="1400" dirty="0">
                <a:solidFill>
                  <a:schemeClr val="tx2"/>
                </a:solidFill>
              </a:rPr>
              <a:t> 있는 것을 안 날의 다음 날부터 기산한다</a:t>
            </a:r>
            <a:r>
              <a:rPr lang="en-US" altLang="ko-KR" sz="1400" dirty="0">
                <a:solidFill>
                  <a:schemeClr val="tx2"/>
                </a:solidFill>
              </a:rPr>
              <a:t>. </a:t>
            </a:r>
          </a:p>
          <a:p>
            <a:pPr fontAlgn="base"/>
            <a:r>
              <a:rPr lang="en-US" altLang="ko-KR" sz="1400" dirty="0">
                <a:solidFill>
                  <a:schemeClr val="tx2"/>
                </a:solidFill>
              </a:rPr>
              <a:t>③ </a:t>
            </a:r>
            <a:r>
              <a:rPr lang="ko-KR" altLang="en-US" sz="1400" dirty="0">
                <a:solidFill>
                  <a:schemeClr val="tx2"/>
                </a:solidFill>
              </a:rPr>
              <a:t>특허취소결정 또는 </a:t>
            </a:r>
            <a:r>
              <a:rPr lang="ko-KR" altLang="en-US" sz="1400" dirty="0" err="1">
                <a:solidFill>
                  <a:schemeClr val="tx2"/>
                </a:solidFill>
              </a:rPr>
              <a:t>심결</a:t>
            </a:r>
            <a:r>
              <a:rPr lang="ko-KR" altLang="en-US" sz="1400" dirty="0">
                <a:solidFill>
                  <a:schemeClr val="tx2"/>
                </a:solidFill>
              </a:rPr>
              <a:t> 확정 후 </a:t>
            </a:r>
            <a:r>
              <a:rPr lang="en-US" altLang="ko-KR" sz="1400" dirty="0">
                <a:solidFill>
                  <a:schemeClr val="tx2"/>
                </a:solidFill>
              </a:rPr>
              <a:t>3</a:t>
            </a:r>
            <a:r>
              <a:rPr lang="ko-KR" altLang="en-US" sz="1400" dirty="0">
                <a:solidFill>
                  <a:schemeClr val="tx2"/>
                </a:solidFill>
              </a:rPr>
              <a:t>년이 지나면 재심을 청구할 수 없다</a:t>
            </a:r>
            <a:r>
              <a:rPr lang="en-US" altLang="ko-KR" sz="1400" dirty="0">
                <a:solidFill>
                  <a:schemeClr val="tx2"/>
                </a:solidFill>
              </a:rPr>
              <a:t>. </a:t>
            </a:r>
          </a:p>
          <a:p>
            <a:pPr fontAlgn="base"/>
            <a:r>
              <a:rPr lang="en-US" altLang="ko-KR" sz="1400" dirty="0">
                <a:solidFill>
                  <a:schemeClr val="tx2"/>
                </a:solidFill>
              </a:rPr>
              <a:t>④ </a:t>
            </a:r>
            <a:r>
              <a:rPr lang="ko-KR" altLang="en-US" sz="1400" dirty="0">
                <a:solidFill>
                  <a:schemeClr val="tx2"/>
                </a:solidFill>
              </a:rPr>
              <a:t>재심사유가 특허취소결정 또는 </a:t>
            </a:r>
            <a:r>
              <a:rPr lang="ko-KR" altLang="en-US" sz="1400" dirty="0" err="1">
                <a:solidFill>
                  <a:schemeClr val="tx2"/>
                </a:solidFill>
              </a:rPr>
              <a:t>심결</a:t>
            </a:r>
            <a:r>
              <a:rPr lang="ko-KR" altLang="en-US" sz="1400" dirty="0">
                <a:solidFill>
                  <a:schemeClr val="tx2"/>
                </a:solidFill>
              </a:rPr>
              <a:t> 확정 후에 생겼을 때에는 제</a:t>
            </a:r>
            <a:r>
              <a:rPr lang="en-US" altLang="ko-KR" sz="1400" dirty="0">
                <a:solidFill>
                  <a:schemeClr val="tx2"/>
                </a:solidFill>
              </a:rPr>
              <a:t>3</a:t>
            </a:r>
            <a:r>
              <a:rPr lang="ko-KR" altLang="en-US" sz="1400" dirty="0">
                <a:solidFill>
                  <a:schemeClr val="tx2"/>
                </a:solidFill>
              </a:rPr>
              <a:t>항의 기간은 그 사유가 발생한 날의 다음 날부터 기산한다</a:t>
            </a:r>
            <a:r>
              <a:rPr lang="en-US" altLang="ko-KR" sz="1400" dirty="0">
                <a:solidFill>
                  <a:schemeClr val="tx2"/>
                </a:solidFill>
              </a:rPr>
              <a:t>. </a:t>
            </a:r>
          </a:p>
          <a:p>
            <a:pPr fontAlgn="base"/>
            <a:r>
              <a:rPr lang="en-US" altLang="ko-KR" sz="1400" dirty="0">
                <a:solidFill>
                  <a:schemeClr val="tx2"/>
                </a:solidFill>
              </a:rPr>
              <a:t>⑤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 및 제</a:t>
            </a:r>
            <a:r>
              <a:rPr lang="en-US" altLang="ko-KR" sz="1400" dirty="0">
                <a:solidFill>
                  <a:schemeClr val="tx2"/>
                </a:solidFill>
              </a:rPr>
              <a:t>3</a:t>
            </a:r>
            <a:r>
              <a:rPr lang="ko-KR" altLang="en-US" sz="1400" dirty="0">
                <a:solidFill>
                  <a:schemeClr val="tx2"/>
                </a:solidFill>
              </a:rPr>
              <a:t>항은 해당 </a:t>
            </a:r>
            <a:r>
              <a:rPr lang="ko-KR" altLang="en-US" sz="1400" dirty="0" err="1">
                <a:solidFill>
                  <a:schemeClr val="tx2"/>
                </a:solidFill>
              </a:rPr>
              <a:t>심결</a:t>
            </a:r>
            <a:r>
              <a:rPr lang="ko-KR" altLang="en-US" sz="1400" dirty="0">
                <a:solidFill>
                  <a:schemeClr val="tx2"/>
                </a:solidFill>
              </a:rPr>
              <a:t> 이전의 </a:t>
            </a:r>
            <a:r>
              <a:rPr lang="ko-KR" altLang="en-US" sz="1400" dirty="0" err="1">
                <a:solidFill>
                  <a:schemeClr val="tx2"/>
                </a:solidFill>
              </a:rPr>
              <a:t>확정심결에</a:t>
            </a:r>
            <a:r>
              <a:rPr lang="ko-KR" altLang="en-US" sz="1400" dirty="0">
                <a:solidFill>
                  <a:schemeClr val="tx2"/>
                </a:solidFill>
              </a:rPr>
              <a:t> 저촉된다는 이유로 재심을 청구하는 경우에는 적용하지 아니한다</a:t>
            </a:r>
            <a:r>
              <a:rPr lang="en-US" altLang="ko-KR" sz="1400" dirty="0">
                <a:solidFill>
                  <a:schemeClr val="tx2"/>
                </a:solidFill>
              </a:rPr>
              <a:t>.</a:t>
            </a:r>
          </a:p>
          <a:p>
            <a:pPr fontAlgn="base"/>
            <a:r>
              <a:rPr lang="ko-KR" altLang="en-US" sz="1400" b="1" dirty="0">
                <a:solidFill>
                  <a:schemeClr val="accent1"/>
                </a:solidFill>
              </a:rPr>
              <a:t>제</a:t>
            </a:r>
            <a:r>
              <a:rPr lang="en-US" altLang="ko-KR" sz="1400" b="1" dirty="0">
                <a:solidFill>
                  <a:schemeClr val="accent1"/>
                </a:solidFill>
              </a:rPr>
              <a:t>181</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재심에 의하여 회복된 특허권의 효력 제한</a:t>
            </a:r>
            <a:r>
              <a:rPr lang="en-US" altLang="ko-KR" sz="1400" b="1" dirty="0">
                <a:solidFill>
                  <a:schemeClr val="accent1"/>
                </a:solidFill>
              </a:rPr>
              <a:t>)</a:t>
            </a:r>
            <a:r>
              <a:rPr lang="en-US" altLang="ko-KR" sz="1400" dirty="0">
                <a:solidFill>
                  <a:schemeClr val="tx2"/>
                </a:solidFill>
              </a:rPr>
              <a:t> ① </a:t>
            </a:r>
            <a:r>
              <a:rPr lang="ko-KR" altLang="en-US" sz="1400" dirty="0">
                <a:solidFill>
                  <a:schemeClr val="tx2"/>
                </a:solidFill>
              </a:rPr>
              <a:t>다음 각 호의 어느 하나에 해당하는 경우에 특허권의 효력은 해당 특허취소결정 또는 </a:t>
            </a:r>
            <a:r>
              <a:rPr lang="ko-KR" altLang="en-US" sz="1400" dirty="0" err="1">
                <a:solidFill>
                  <a:schemeClr val="tx2"/>
                </a:solidFill>
              </a:rPr>
              <a:t>심결이</a:t>
            </a:r>
            <a:r>
              <a:rPr lang="ko-KR" altLang="en-US" sz="1400" dirty="0">
                <a:solidFill>
                  <a:schemeClr val="tx2"/>
                </a:solidFill>
              </a:rPr>
              <a:t> 확정된 후 재심청구 등록 전에 선의로 수출 또는 수입하거나 국내에서 생산 또는 취득한 물건에는 미치지 아니한다</a:t>
            </a:r>
            <a:r>
              <a:rPr lang="en-US" altLang="ko-KR" sz="1400" dirty="0">
                <a:solidFill>
                  <a:schemeClr val="tx2"/>
                </a:solidFill>
              </a:rPr>
              <a:t>.</a:t>
            </a:r>
          </a:p>
          <a:p>
            <a:pPr fontAlgn="base"/>
            <a:r>
              <a:rPr lang="en-US" altLang="ko-KR" sz="1400" dirty="0">
                <a:solidFill>
                  <a:schemeClr val="tx2"/>
                </a:solidFill>
              </a:rPr>
              <a:t>1. </a:t>
            </a:r>
            <a:r>
              <a:rPr lang="ko-KR" altLang="en-US" sz="1400" dirty="0">
                <a:solidFill>
                  <a:schemeClr val="tx2"/>
                </a:solidFill>
              </a:rPr>
              <a:t>무효가 된 특허권</a:t>
            </a:r>
            <a:r>
              <a:rPr lang="en-US" altLang="ko-KR" sz="1400" dirty="0">
                <a:solidFill>
                  <a:schemeClr val="tx2"/>
                </a:solidFill>
              </a:rPr>
              <a:t>(</a:t>
            </a:r>
            <a:r>
              <a:rPr lang="ko-KR" altLang="en-US" sz="1400" dirty="0">
                <a:solidFill>
                  <a:schemeClr val="tx2"/>
                </a:solidFill>
              </a:rPr>
              <a:t>존속기간이 </a:t>
            </a:r>
            <a:r>
              <a:rPr lang="ko-KR" altLang="en-US" sz="1400" dirty="0" err="1">
                <a:solidFill>
                  <a:schemeClr val="tx2"/>
                </a:solidFill>
              </a:rPr>
              <a:t>연장등록된</a:t>
            </a:r>
            <a:r>
              <a:rPr lang="ko-KR" altLang="en-US" sz="1400" dirty="0">
                <a:solidFill>
                  <a:schemeClr val="tx2"/>
                </a:solidFill>
              </a:rPr>
              <a:t> 특허권을 포함한다</a:t>
            </a:r>
            <a:r>
              <a:rPr lang="en-US" altLang="ko-KR" sz="1400" dirty="0">
                <a:solidFill>
                  <a:schemeClr val="tx2"/>
                </a:solidFill>
              </a:rPr>
              <a:t>)</a:t>
            </a:r>
            <a:r>
              <a:rPr lang="ko-KR" altLang="en-US" sz="1400" dirty="0">
                <a:solidFill>
                  <a:schemeClr val="tx2"/>
                </a:solidFill>
              </a:rPr>
              <a:t>이 재심에 의하여 회복된 경우</a:t>
            </a:r>
          </a:p>
          <a:p>
            <a:pPr fontAlgn="base"/>
            <a:r>
              <a:rPr lang="en-US" altLang="ko-KR" sz="1400" dirty="0">
                <a:solidFill>
                  <a:schemeClr val="tx2"/>
                </a:solidFill>
              </a:rPr>
              <a:t>2. </a:t>
            </a:r>
            <a:r>
              <a:rPr lang="ko-KR" altLang="en-US" sz="1400" dirty="0">
                <a:solidFill>
                  <a:schemeClr val="tx2"/>
                </a:solidFill>
              </a:rPr>
              <a:t>특허권의 권리범위에 속하지 아니한다는 </a:t>
            </a:r>
            <a:r>
              <a:rPr lang="ko-KR" altLang="en-US" sz="1400" dirty="0" err="1">
                <a:solidFill>
                  <a:schemeClr val="tx2"/>
                </a:solidFill>
              </a:rPr>
              <a:t>심결이</a:t>
            </a:r>
            <a:r>
              <a:rPr lang="ko-KR" altLang="en-US" sz="1400" dirty="0">
                <a:solidFill>
                  <a:schemeClr val="tx2"/>
                </a:solidFill>
              </a:rPr>
              <a:t> 확정된 후 재심에 의하여 그 </a:t>
            </a:r>
            <a:r>
              <a:rPr lang="ko-KR" altLang="en-US" sz="1400" dirty="0" err="1">
                <a:solidFill>
                  <a:schemeClr val="tx2"/>
                </a:solidFill>
              </a:rPr>
              <a:t>심결과</a:t>
            </a:r>
            <a:r>
              <a:rPr lang="ko-KR" altLang="en-US" sz="1400" dirty="0">
                <a:solidFill>
                  <a:schemeClr val="tx2"/>
                </a:solidFill>
              </a:rPr>
              <a:t> 상반되는 </a:t>
            </a:r>
            <a:r>
              <a:rPr lang="ko-KR" altLang="en-US" sz="1400" dirty="0" err="1">
                <a:solidFill>
                  <a:schemeClr val="tx2"/>
                </a:solidFill>
              </a:rPr>
              <a:t>심결이</a:t>
            </a:r>
            <a:r>
              <a:rPr lang="ko-KR" altLang="en-US" sz="1400" dirty="0">
                <a:solidFill>
                  <a:schemeClr val="tx2"/>
                </a:solidFill>
              </a:rPr>
              <a:t> 확정된 경우</a:t>
            </a:r>
          </a:p>
          <a:p>
            <a:pPr fontAlgn="base"/>
            <a:r>
              <a:rPr lang="en-US" altLang="ko-KR" sz="1400" dirty="0">
                <a:solidFill>
                  <a:schemeClr val="tx2"/>
                </a:solidFill>
              </a:rPr>
              <a:t>3. </a:t>
            </a:r>
            <a:r>
              <a:rPr lang="ko-KR" altLang="en-US" sz="1400" dirty="0">
                <a:solidFill>
                  <a:schemeClr val="tx2"/>
                </a:solidFill>
              </a:rPr>
              <a:t>거절한다는 취지의 </a:t>
            </a:r>
            <a:r>
              <a:rPr lang="ko-KR" altLang="en-US" sz="1400" dirty="0" err="1">
                <a:solidFill>
                  <a:schemeClr val="tx2"/>
                </a:solidFill>
              </a:rPr>
              <a:t>심결이</a:t>
            </a:r>
            <a:r>
              <a:rPr lang="ko-KR" altLang="en-US" sz="1400" dirty="0">
                <a:solidFill>
                  <a:schemeClr val="tx2"/>
                </a:solidFill>
              </a:rPr>
              <a:t> 있었던 특허출원 또는 특허권의 존속기간의 연장등록출원이 재심에 의하여 특허권의 설정등록 또는 특허권의 존속기간의 연장등록이 된 경우</a:t>
            </a:r>
          </a:p>
          <a:p>
            <a:pPr fontAlgn="base"/>
            <a:r>
              <a:rPr lang="en-US" altLang="ko-KR" sz="1400" dirty="0">
                <a:solidFill>
                  <a:schemeClr val="tx2"/>
                </a:solidFill>
              </a:rPr>
              <a:t>4. </a:t>
            </a:r>
            <a:r>
              <a:rPr lang="ko-KR" altLang="en-US" sz="1400" dirty="0">
                <a:solidFill>
                  <a:schemeClr val="tx2"/>
                </a:solidFill>
              </a:rPr>
              <a:t>취소된 특허권이 재심에 의하여 회복된 경우</a:t>
            </a:r>
          </a:p>
          <a:p>
            <a:pPr fontAlgn="base"/>
            <a:r>
              <a:rPr lang="ko-KR" altLang="en-US" sz="1400" dirty="0">
                <a:solidFill>
                  <a:schemeClr val="tx2"/>
                </a:solidFill>
              </a:rPr>
              <a:t>② 제</a:t>
            </a:r>
            <a:r>
              <a:rPr lang="en-US" altLang="ko-KR" sz="1400" dirty="0">
                <a:solidFill>
                  <a:schemeClr val="tx2"/>
                </a:solidFill>
              </a:rPr>
              <a:t>1</a:t>
            </a:r>
            <a:r>
              <a:rPr lang="ko-KR" altLang="en-US" sz="1400" dirty="0">
                <a:solidFill>
                  <a:schemeClr val="tx2"/>
                </a:solidFill>
              </a:rPr>
              <a:t>항 각 호의 어느 하나에 해당하는 경우의 특허권의 효력은 다음 각 호의 어느 하나의 행위에 미치지 아니한다</a:t>
            </a:r>
            <a:r>
              <a:rPr lang="en-US" altLang="ko-KR" sz="1400" dirty="0">
                <a:solidFill>
                  <a:schemeClr val="tx2"/>
                </a:solidFill>
              </a:rPr>
              <a:t>. </a:t>
            </a:r>
          </a:p>
          <a:p>
            <a:pPr fontAlgn="base"/>
            <a:r>
              <a:rPr lang="en-US" altLang="ko-KR" sz="1400" dirty="0">
                <a:solidFill>
                  <a:schemeClr val="tx2"/>
                </a:solidFill>
              </a:rPr>
              <a:t>1. </a:t>
            </a:r>
            <a:r>
              <a:rPr lang="ko-KR" altLang="en-US" sz="1400" dirty="0">
                <a:solidFill>
                  <a:schemeClr val="tx2"/>
                </a:solidFill>
              </a:rPr>
              <a:t>해당 특허취소결정 또는 </a:t>
            </a:r>
            <a:r>
              <a:rPr lang="ko-KR" altLang="en-US" sz="1400" dirty="0" err="1">
                <a:solidFill>
                  <a:schemeClr val="tx2"/>
                </a:solidFill>
              </a:rPr>
              <a:t>심결이</a:t>
            </a:r>
            <a:r>
              <a:rPr lang="ko-KR" altLang="en-US" sz="1400" dirty="0">
                <a:solidFill>
                  <a:schemeClr val="tx2"/>
                </a:solidFill>
              </a:rPr>
              <a:t> 확정된 후 재심청구 등록 전에 한 해당 발명의 선의의 실시</a:t>
            </a:r>
          </a:p>
          <a:p>
            <a:pPr fontAlgn="base"/>
            <a:r>
              <a:rPr lang="en-US" altLang="ko-KR" sz="1400" dirty="0">
                <a:solidFill>
                  <a:schemeClr val="tx2"/>
                </a:solidFill>
              </a:rPr>
              <a:t>2. </a:t>
            </a:r>
            <a:r>
              <a:rPr lang="ko-KR" altLang="en-US" sz="1400" dirty="0">
                <a:solidFill>
                  <a:schemeClr val="tx2"/>
                </a:solidFill>
              </a:rPr>
              <a:t>특허가 물건의 발명인 경우에는 그 물건의 생산에만 사용하는 물건을 해당 특허취소결정 또는 </a:t>
            </a:r>
            <a:r>
              <a:rPr lang="ko-KR" altLang="en-US" sz="1400" dirty="0" err="1">
                <a:solidFill>
                  <a:schemeClr val="tx2"/>
                </a:solidFill>
              </a:rPr>
              <a:t>심결이</a:t>
            </a:r>
            <a:r>
              <a:rPr lang="ko-KR" altLang="en-US" sz="1400" dirty="0">
                <a:solidFill>
                  <a:schemeClr val="tx2"/>
                </a:solidFill>
              </a:rPr>
              <a:t> 확정된 후 재심청구 등록 전에 선의로 </a:t>
            </a:r>
            <a:r>
              <a:rPr lang="ko-KR" altLang="en-US" sz="1400" dirty="0" err="1">
                <a:solidFill>
                  <a:schemeClr val="tx2"/>
                </a:solidFill>
              </a:rPr>
              <a:t>생산ㆍ양도ㆍ대여ㆍ수출</a:t>
            </a:r>
            <a:r>
              <a:rPr lang="ko-KR" altLang="en-US" sz="1400" dirty="0">
                <a:solidFill>
                  <a:schemeClr val="tx2"/>
                </a:solidFill>
              </a:rPr>
              <a:t> 또는 수입하거나 양도 또는 대여의 청약을 하는 행위</a:t>
            </a:r>
          </a:p>
          <a:p>
            <a:pPr fontAlgn="base"/>
            <a:r>
              <a:rPr lang="en-US" altLang="ko-KR" sz="1400" dirty="0">
                <a:solidFill>
                  <a:schemeClr val="tx2"/>
                </a:solidFill>
              </a:rPr>
              <a:t>3. </a:t>
            </a:r>
            <a:r>
              <a:rPr lang="ko-KR" altLang="en-US" sz="1400" dirty="0">
                <a:solidFill>
                  <a:schemeClr val="tx2"/>
                </a:solidFill>
              </a:rPr>
              <a:t>특허가 방법의 발명인 경우에는 그 방법의 실시에만 사용하는 물건을 해당 특허취소결정 또는 </a:t>
            </a:r>
            <a:r>
              <a:rPr lang="ko-KR" altLang="en-US" sz="1400" dirty="0" err="1">
                <a:solidFill>
                  <a:schemeClr val="tx2"/>
                </a:solidFill>
              </a:rPr>
              <a:t>심결이</a:t>
            </a:r>
            <a:r>
              <a:rPr lang="ko-KR" altLang="en-US" sz="1400" dirty="0">
                <a:solidFill>
                  <a:schemeClr val="tx2"/>
                </a:solidFill>
              </a:rPr>
              <a:t> 확정된 후 재심청구 등록 전에 선의로 </a:t>
            </a:r>
            <a:r>
              <a:rPr lang="ko-KR" altLang="en-US" sz="1400" dirty="0" err="1">
                <a:solidFill>
                  <a:schemeClr val="tx2"/>
                </a:solidFill>
              </a:rPr>
              <a:t>생산ㆍ양도ㆍ대여ㆍ수출</a:t>
            </a:r>
            <a:r>
              <a:rPr lang="ko-KR" altLang="en-US" sz="1400" dirty="0">
                <a:solidFill>
                  <a:schemeClr val="tx2"/>
                </a:solidFill>
              </a:rPr>
              <a:t> 또는 수입하거나 양도 또는 대여를 청약하는 행위</a:t>
            </a:r>
          </a:p>
        </p:txBody>
      </p:sp>
      <p:sp>
        <p:nvSpPr>
          <p:cNvPr id="2" name="슬라이드 번호 개체 틀 1"/>
          <p:cNvSpPr>
            <a:spLocks noGrp="1"/>
          </p:cNvSpPr>
          <p:nvPr>
            <p:ph type="sldNum" sz="quarter" idx="4294967295"/>
          </p:nvPr>
        </p:nvSpPr>
        <p:spPr>
          <a:xfrm>
            <a:off x="11125200" y="0"/>
            <a:ext cx="1066800" cy="711200"/>
          </a:xfrm>
        </p:spPr>
        <p:txBody>
          <a:bodyPr/>
          <a:lstStyle/>
          <a:p>
            <a:r>
              <a:rPr lang="en-US" altLang="ko-KR"/>
              <a:t>516</a:t>
            </a:r>
            <a:endParaRPr lang="ko-KR" altLang="en-US" dirty="0"/>
          </a:p>
        </p:txBody>
      </p:sp>
    </p:spTree>
    <p:extLst>
      <p:ext uri="{BB962C8B-B14F-4D97-AF65-F5344CB8AC3E}">
        <p14:creationId xmlns:p14="http://schemas.microsoft.com/office/powerpoint/2010/main" val="2374367106"/>
      </p:ext>
    </p:extLst>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178</a:t>
            </a:r>
            <a:r>
              <a:rPr lang="ko-KR" altLang="en-US" dirty="0"/>
              <a:t>조</a:t>
            </a:r>
            <a:r>
              <a:rPr lang="en-US" altLang="ko-KR" dirty="0"/>
              <a:t>~</a:t>
            </a:r>
            <a:r>
              <a:rPr lang="ko-KR" altLang="en-US" dirty="0"/>
              <a:t>제</a:t>
            </a:r>
            <a:r>
              <a:rPr lang="en-US" altLang="ko-KR" dirty="0"/>
              <a:t>185</a:t>
            </a:r>
            <a:r>
              <a:rPr lang="ko-KR" altLang="en-US" dirty="0"/>
              <a:t>조</a:t>
            </a:r>
          </a:p>
        </p:txBody>
      </p:sp>
      <p:sp>
        <p:nvSpPr>
          <p:cNvPr id="5" name="텍스트 개체 틀 4"/>
          <p:cNvSpPr>
            <a:spLocks noGrp="1"/>
          </p:cNvSpPr>
          <p:nvPr>
            <p:ph type="body" sz="quarter" idx="13"/>
          </p:nvPr>
        </p:nvSpPr>
        <p:spPr/>
        <p:txBody>
          <a:bodyPr/>
          <a:lstStyle/>
          <a:p>
            <a:r>
              <a:rPr lang="ko-KR" altLang="en-US" dirty="0"/>
              <a:t>재심에 대한 조문정리</a:t>
            </a:r>
          </a:p>
        </p:txBody>
      </p:sp>
      <p:sp>
        <p:nvSpPr>
          <p:cNvPr id="30" name="TextBox 29"/>
          <p:cNvSpPr txBox="1"/>
          <p:nvPr/>
        </p:nvSpPr>
        <p:spPr>
          <a:xfrm>
            <a:off x="77875" y="951542"/>
            <a:ext cx="11936323" cy="2246769"/>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182</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재심에 의하여 회복한 특허권에 대한 선사용자의 </a:t>
            </a:r>
            <a:r>
              <a:rPr lang="ko-KR" altLang="en-US" sz="1400" b="1" dirty="0" err="1">
                <a:solidFill>
                  <a:schemeClr val="accent1"/>
                </a:solidFill>
              </a:rPr>
              <a:t>통상실시권</a:t>
            </a:r>
            <a:r>
              <a:rPr lang="en-US" altLang="ko-KR" sz="1400" b="1" dirty="0">
                <a:solidFill>
                  <a:schemeClr val="accent1"/>
                </a:solidFill>
              </a:rPr>
              <a:t>) </a:t>
            </a:r>
            <a:r>
              <a:rPr lang="ko-KR" altLang="en-US" sz="1400" dirty="0">
                <a:solidFill>
                  <a:schemeClr val="tx2"/>
                </a:solidFill>
              </a:rPr>
              <a:t>제</a:t>
            </a:r>
            <a:r>
              <a:rPr lang="en-US" altLang="ko-KR" sz="1400" dirty="0">
                <a:solidFill>
                  <a:schemeClr val="tx2"/>
                </a:solidFill>
              </a:rPr>
              <a:t>181</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각 호의 어느 하나에 해당하는 경우에 해당 특허취소결정 또는 </a:t>
            </a:r>
            <a:r>
              <a:rPr lang="ko-KR" altLang="en-US" sz="1400" dirty="0" err="1">
                <a:solidFill>
                  <a:schemeClr val="tx2"/>
                </a:solidFill>
              </a:rPr>
              <a:t>심결이</a:t>
            </a:r>
            <a:r>
              <a:rPr lang="ko-KR" altLang="en-US" sz="1400" dirty="0">
                <a:solidFill>
                  <a:schemeClr val="tx2"/>
                </a:solidFill>
              </a:rPr>
              <a:t> 확정된 후 재심청구 등록 전에 국내에서 선의로 그 발명의 실시사업을 하고 있는 자 또는 그 사업을 준비하고 있는 자는 실시하고 있거나 준비하고 있는 발명 및 사업목적의 범위에서 그 특허권에 관하여 </a:t>
            </a:r>
            <a:r>
              <a:rPr lang="ko-KR" altLang="en-US" sz="1400" dirty="0" err="1">
                <a:solidFill>
                  <a:schemeClr val="tx2"/>
                </a:solidFill>
              </a:rPr>
              <a:t>통상실시권을</a:t>
            </a:r>
            <a:r>
              <a:rPr lang="ko-KR" altLang="en-US" sz="1400" dirty="0">
                <a:solidFill>
                  <a:schemeClr val="tx2"/>
                </a:solidFill>
              </a:rPr>
              <a:t> 가진다</a:t>
            </a:r>
            <a:r>
              <a:rPr lang="en-US" altLang="ko-KR" sz="1400" dirty="0">
                <a:solidFill>
                  <a:schemeClr val="tx2"/>
                </a:solidFill>
              </a:rPr>
              <a:t>. </a:t>
            </a:r>
          </a:p>
          <a:p>
            <a:pPr fontAlgn="base"/>
            <a:r>
              <a:rPr lang="ko-KR" altLang="en-US" sz="1400" b="1" dirty="0">
                <a:solidFill>
                  <a:schemeClr val="accent1"/>
                </a:solidFill>
              </a:rPr>
              <a:t>제</a:t>
            </a:r>
            <a:r>
              <a:rPr lang="en-US" altLang="ko-KR" sz="1400" b="1" dirty="0">
                <a:solidFill>
                  <a:schemeClr val="accent1"/>
                </a:solidFill>
              </a:rPr>
              <a:t>183</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재심에 의하여 </a:t>
            </a:r>
            <a:r>
              <a:rPr lang="ko-KR" altLang="en-US" sz="1400" b="1" dirty="0" err="1">
                <a:solidFill>
                  <a:schemeClr val="accent1"/>
                </a:solidFill>
              </a:rPr>
              <a:t>통상실시권을</a:t>
            </a:r>
            <a:r>
              <a:rPr lang="ko-KR" altLang="en-US" sz="1400" b="1" dirty="0">
                <a:solidFill>
                  <a:schemeClr val="accent1"/>
                </a:solidFill>
              </a:rPr>
              <a:t> 상실한 </a:t>
            </a:r>
            <a:r>
              <a:rPr lang="ko-KR" altLang="en-US" sz="1400" b="1" dirty="0" err="1">
                <a:solidFill>
                  <a:schemeClr val="accent1"/>
                </a:solidFill>
              </a:rPr>
              <a:t>원권리자의</a:t>
            </a:r>
            <a:r>
              <a:rPr lang="ko-KR" altLang="en-US" sz="1400" b="1" dirty="0">
                <a:solidFill>
                  <a:schemeClr val="accent1"/>
                </a:solidFill>
              </a:rPr>
              <a:t> </a:t>
            </a:r>
            <a:r>
              <a:rPr lang="ko-KR" altLang="en-US" sz="1400" b="1" dirty="0" err="1">
                <a:solidFill>
                  <a:schemeClr val="accent1"/>
                </a:solidFill>
              </a:rPr>
              <a:t>통상실시권</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제</a:t>
            </a:r>
            <a:r>
              <a:rPr lang="en-US" altLang="ko-KR" sz="1400" dirty="0">
                <a:solidFill>
                  <a:schemeClr val="tx2"/>
                </a:solidFill>
              </a:rPr>
              <a:t>138</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또는 제</a:t>
            </a:r>
            <a:r>
              <a:rPr lang="en-US" altLang="ko-KR" sz="1400" dirty="0">
                <a:solidFill>
                  <a:schemeClr val="tx2"/>
                </a:solidFill>
              </a:rPr>
              <a:t>3</a:t>
            </a:r>
            <a:r>
              <a:rPr lang="ko-KR" altLang="en-US" sz="1400" dirty="0">
                <a:solidFill>
                  <a:schemeClr val="tx2"/>
                </a:solidFill>
              </a:rPr>
              <a:t>항에 따라 </a:t>
            </a:r>
            <a:r>
              <a:rPr lang="ko-KR" altLang="en-US" sz="1400" dirty="0" err="1">
                <a:solidFill>
                  <a:schemeClr val="tx2"/>
                </a:solidFill>
              </a:rPr>
              <a:t>통상실시권을</a:t>
            </a:r>
            <a:r>
              <a:rPr lang="ko-KR" altLang="en-US" sz="1400" dirty="0">
                <a:solidFill>
                  <a:schemeClr val="tx2"/>
                </a:solidFill>
              </a:rPr>
              <a:t> 허락한다는 </a:t>
            </a:r>
            <a:r>
              <a:rPr lang="ko-KR" altLang="en-US" sz="1400" dirty="0" err="1">
                <a:solidFill>
                  <a:schemeClr val="tx2"/>
                </a:solidFill>
              </a:rPr>
              <a:t>심결이</a:t>
            </a:r>
            <a:r>
              <a:rPr lang="ko-KR" altLang="en-US" sz="1400" dirty="0">
                <a:solidFill>
                  <a:schemeClr val="tx2"/>
                </a:solidFill>
              </a:rPr>
              <a:t> 확정된 후 재심에서 그 </a:t>
            </a:r>
            <a:r>
              <a:rPr lang="ko-KR" altLang="en-US" sz="1400" dirty="0" err="1">
                <a:solidFill>
                  <a:schemeClr val="tx2"/>
                </a:solidFill>
              </a:rPr>
              <a:t>심결과</a:t>
            </a:r>
            <a:r>
              <a:rPr lang="ko-KR" altLang="en-US" sz="1400" dirty="0">
                <a:solidFill>
                  <a:schemeClr val="tx2"/>
                </a:solidFill>
              </a:rPr>
              <a:t> 상반되는 </a:t>
            </a:r>
            <a:r>
              <a:rPr lang="ko-KR" altLang="en-US" sz="1400" dirty="0" err="1">
                <a:solidFill>
                  <a:schemeClr val="tx2"/>
                </a:solidFill>
              </a:rPr>
              <a:t>심결이</a:t>
            </a:r>
            <a:r>
              <a:rPr lang="ko-KR" altLang="en-US" sz="1400" dirty="0">
                <a:solidFill>
                  <a:schemeClr val="tx2"/>
                </a:solidFill>
              </a:rPr>
              <a:t> 확정된 경우에는 재심청구 등록 전에 선의로 국내에서 그 발명의 실시사업을 하고 있는 자 또는 그 사업을 준비하고 있는 자는 원</a:t>
            </a:r>
            <a:r>
              <a:rPr lang="en-US" altLang="ko-KR" sz="1400" dirty="0">
                <a:solidFill>
                  <a:schemeClr val="tx2"/>
                </a:solidFill>
              </a:rPr>
              <a:t>(</a:t>
            </a:r>
            <a:r>
              <a:rPr lang="ko-KR" altLang="en-US" sz="1400" dirty="0">
                <a:solidFill>
                  <a:schemeClr val="tx2"/>
                </a:solidFill>
              </a:rPr>
              <a:t>原</a:t>
            </a:r>
            <a:r>
              <a:rPr lang="en-US" altLang="ko-KR" sz="1400" dirty="0">
                <a:solidFill>
                  <a:schemeClr val="tx2"/>
                </a:solidFill>
              </a:rPr>
              <a:t>)</a:t>
            </a:r>
            <a:r>
              <a:rPr lang="ko-KR" altLang="en-US" sz="1400" dirty="0" err="1">
                <a:solidFill>
                  <a:schemeClr val="tx2"/>
                </a:solidFill>
              </a:rPr>
              <a:t>통상실시권의</a:t>
            </a:r>
            <a:r>
              <a:rPr lang="ko-KR" altLang="en-US" sz="1400" dirty="0">
                <a:solidFill>
                  <a:schemeClr val="tx2"/>
                </a:solidFill>
              </a:rPr>
              <a:t> 사업목적 및 발명의 범위에서 그 특허권 또는 재심의 </a:t>
            </a:r>
            <a:r>
              <a:rPr lang="ko-KR" altLang="en-US" sz="1400" dirty="0" err="1">
                <a:solidFill>
                  <a:schemeClr val="tx2"/>
                </a:solidFill>
              </a:rPr>
              <a:t>심결이</a:t>
            </a:r>
            <a:r>
              <a:rPr lang="ko-KR" altLang="en-US" sz="1400" dirty="0">
                <a:solidFill>
                  <a:schemeClr val="tx2"/>
                </a:solidFill>
              </a:rPr>
              <a:t> 확정된 당시에 존재하는 </a:t>
            </a:r>
            <a:r>
              <a:rPr lang="ko-KR" altLang="en-US" sz="1400" dirty="0" err="1">
                <a:solidFill>
                  <a:schemeClr val="tx2"/>
                </a:solidFill>
              </a:rPr>
              <a:t>전용실시권에</a:t>
            </a:r>
            <a:r>
              <a:rPr lang="ko-KR" altLang="en-US" sz="1400" dirty="0">
                <a:solidFill>
                  <a:schemeClr val="tx2"/>
                </a:solidFill>
              </a:rPr>
              <a:t> 대하여 </a:t>
            </a:r>
            <a:r>
              <a:rPr lang="ko-KR" altLang="en-US" sz="1400" dirty="0" err="1">
                <a:solidFill>
                  <a:schemeClr val="tx2"/>
                </a:solidFill>
              </a:rPr>
              <a:t>통상실시권을</a:t>
            </a:r>
            <a:r>
              <a:rPr lang="ko-KR" altLang="en-US" sz="1400" dirty="0">
                <a:solidFill>
                  <a:schemeClr val="tx2"/>
                </a:solidFill>
              </a:rPr>
              <a:t> 가진다</a:t>
            </a:r>
            <a:r>
              <a:rPr lang="en-US" altLang="ko-KR" sz="1400" dirty="0">
                <a:solidFill>
                  <a:schemeClr val="tx2"/>
                </a:solidFill>
              </a:rPr>
              <a:t>.</a:t>
            </a:r>
          </a:p>
          <a:p>
            <a:pPr fontAlgn="base"/>
            <a:r>
              <a:rPr lang="en-US" altLang="ko-KR" sz="1400" dirty="0">
                <a:solidFill>
                  <a:schemeClr val="tx2"/>
                </a:solidFill>
              </a:rPr>
              <a:t>②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항에 따라 </a:t>
            </a:r>
            <a:r>
              <a:rPr lang="ko-KR" altLang="en-US" sz="1400" dirty="0" err="1">
                <a:solidFill>
                  <a:schemeClr val="tx2"/>
                </a:solidFill>
              </a:rPr>
              <a:t>통상실시권을</a:t>
            </a:r>
            <a:r>
              <a:rPr lang="ko-KR" altLang="en-US" sz="1400" dirty="0">
                <a:solidFill>
                  <a:schemeClr val="tx2"/>
                </a:solidFill>
              </a:rPr>
              <a:t> 가진 자는 </a:t>
            </a:r>
            <a:r>
              <a:rPr lang="ko-KR" altLang="en-US" sz="1400" dirty="0" err="1">
                <a:solidFill>
                  <a:schemeClr val="tx2"/>
                </a:solidFill>
              </a:rPr>
              <a:t>특허권자</a:t>
            </a:r>
            <a:r>
              <a:rPr lang="ko-KR" altLang="en-US" sz="1400" dirty="0">
                <a:solidFill>
                  <a:schemeClr val="tx2"/>
                </a:solidFill>
              </a:rPr>
              <a:t> 또는 </a:t>
            </a:r>
            <a:r>
              <a:rPr lang="ko-KR" altLang="en-US" sz="1400" dirty="0" err="1">
                <a:solidFill>
                  <a:schemeClr val="tx2"/>
                </a:solidFill>
              </a:rPr>
              <a:t>전용실시권자에게</a:t>
            </a:r>
            <a:r>
              <a:rPr lang="ko-KR" altLang="en-US" sz="1400" dirty="0">
                <a:solidFill>
                  <a:schemeClr val="tx2"/>
                </a:solidFill>
              </a:rPr>
              <a:t> 상당한 대가를 지급하여야 한다</a:t>
            </a:r>
            <a:r>
              <a:rPr lang="en-US" altLang="ko-KR" sz="1400" dirty="0">
                <a:solidFill>
                  <a:schemeClr val="tx2"/>
                </a:solidFill>
              </a:rPr>
              <a:t>.</a:t>
            </a:r>
          </a:p>
          <a:p>
            <a:pPr fontAlgn="base"/>
            <a:r>
              <a:rPr lang="ko-KR" altLang="en-US" sz="1400" b="1" dirty="0">
                <a:solidFill>
                  <a:schemeClr val="accent1"/>
                </a:solidFill>
              </a:rPr>
              <a:t>제</a:t>
            </a:r>
            <a:r>
              <a:rPr lang="en-US" altLang="ko-KR" sz="1400" b="1" dirty="0">
                <a:solidFill>
                  <a:schemeClr val="accent1"/>
                </a:solidFill>
              </a:rPr>
              <a:t>184</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재심에서의 심판규정 등의 준용</a:t>
            </a:r>
            <a:r>
              <a:rPr lang="en-US" altLang="ko-KR" sz="1400" b="1" dirty="0">
                <a:solidFill>
                  <a:schemeClr val="accent1"/>
                </a:solidFill>
              </a:rPr>
              <a:t>) </a:t>
            </a:r>
            <a:r>
              <a:rPr lang="ko-KR" altLang="en-US" sz="1400" dirty="0">
                <a:solidFill>
                  <a:schemeClr val="tx2"/>
                </a:solidFill>
              </a:rPr>
              <a:t>특허취소결정 또는 심판에 대한 재심의 절차에 관하여는 그 성질에 반하지 아니하는 범위에서 특허취소신청 또는 심판의 절차에 관한 규정을 준용한다</a:t>
            </a:r>
            <a:r>
              <a:rPr lang="en-US" altLang="ko-KR" sz="1400" dirty="0">
                <a:solidFill>
                  <a:schemeClr val="tx2"/>
                </a:solidFill>
              </a:rPr>
              <a:t>. </a:t>
            </a:r>
          </a:p>
          <a:p>
            <a:pPr fontAlgn="base"/>
            <a:r>
              <a:rPr lang="ko-KR" altLang="en-US" sz="1400" b="1" dirty="0">
                <a:solidFill>
                  <a:schemeClr val="accent1"/>
                </a:solidFill>
              </a:rPr>
              <a:t>제</a:t>
            </a:r>
            <a:r>
              <a:rPr lang="en-US" altLang="ko-KR" sz="1400" b="1" dirty="0">
                <a:solidFill>
                  <a:schemeClr val="accent1"/>
                </a:solidFill>
              </a:rPr>
              <a:t>185</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「민사소송법」의 준용</a:t>
            </a:r>
            <a:r>
              <a:rPr lang="en-US" altLang="ko-KR" sz="1400" b="1" dirty="0">
                <a:solidFill>
                  <a:schemeClr val="accent1"/>
                </a:solidFill>
              </a:rPr>
              <a:t>)</a:t>
            </a:r>
            <a:r>
              <a:rPr lang="en-US" altLang="ko-KR" sz="1400" dirty="0">
                <a:solidFill>
                  <a:schemeClr val="tx2"/>
                </a:solidFill>
              </a:rPr>
              <a:t> </a:t>
            </a:r>
            <a:r>
              <a:rPr lang="ko-KR" altLang="en-US" sz="1400" dirty="0">
                <a:solidFill>
                  <a:schemeClr val="tx2"/>
                </a:solidFill>
              </a:rPr>
              <a:t>재심청구에 관하여는 「민사소송법」 제</a:t>
            </a:r>
            <a:r>
              <a:rPr lang="en-US" altLang="ko-KR" sz="1400" dirty="0">
                <a:solidFill>
                  <a:schemeClr val="tx2"/>
                </a:solidFill>
              </a:rPr>
              <a:t>459</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항을 준용한다</a:t>
            </a:r>
            <a:r>
              <a:rPr lang="en-US" altLang="ko-KR" sz="1400" dirty="0">
                <a:solidFill>
                  <a:schemeClr val="tx2"/>
                </a:solidFill>
              </a:rPr>
              <a:t>.</a:t>
            </a:r>
            <a:endParaRPr lang="ko-KR" altLang="en-US" sz="1400" dirty="0">
              <a:solidFill>
                <a:schemeClr val="tx2"/>
              </a:solidFill>
            </a:endParaRPr>
          </a:p>
        </p:txBody>
      </p:sp>
      <p:cxnSp>
        <p:nvCxnSpPr>
          <p:cNvPr id="7" name="직선 연결선 6"/>
          <p:cNvCxnSpPr/>
          <p:nvPr/>
        </p:nvCxnSpPr>
        <p:spPr>
          <a:xfrm>
            <a:off x="77875" y="317130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2" name="표 1"/>
          <p:cNvGraphicFramePr>
            <a:graphicFrameLocks noGrp="1"/>
          </p:cNvGraphicFramePr>
          <p:nvPr/>
        </p:nvGraphicFramePr>
        <p:xfrm>
          <a:off x="77875" y="3272767"/>
          <a:ext cx="6564465" cy="3516178"/>
        </p:xfrm>
        <a:graphic>
          <a:graphicData uri="http://schemas.openxmlformats.org/drawingml/2006/table">
            <a:tbl>
              <a:tblPr>
                <a:tableStyleId>{8799B23B-EC83-4686-B30A-512413B5E67A}</a:tableStyleId>
              </a:tblPr>
              <a:tblGrid>
                <a:gridCol w="417206">
                  <a:extLst>
                    <a:ext uri="{9D8B030D-6E8A-4147-A177-3AD203B41FA5}">
                      <a16:colId xmlns:a16="http://schemas.microsoft.com/office/drawing/2014/main" val="20000"/>
                    </a:ext>
                  </a:extLst>
                </a:gridCol>
                <a:gridCol w="513673">
                  <a:extLst>
                    <a:ext uri="{9D8B030D-6E8A-4147-A177-3AD203B41FA5}">
                      <a16:colId xmlns:a16="http://schemas.microsoft.com/office/drawing/2014/main" val="20001"/>
                    </a:ext>
                  </a:extLst>
                </a:gridCol>
                <a:gridCol w="551878">
                  <a:extLst>
                    <a:ext uri="{9D8B030D-6E8A-4147-A177-3AD203B41FA5}">
                      <a16:colId xmlns:a16="http://schemas.microsoft.com/office/drawing/2014/main" val="20002"/>
                    </a:ext>
                  </a:extLst>
                </a:gridCol>
                <a:gridCol w="5081708">
                  <a:extLst>
                    <a:ext uri="{9D8B030D-6E8A-4147-A177-3AD203B41FA5}">
                      <a16:colId xmlns:a16="http://schemas.microsoft.com/office/drawing/2014/main" val="20003"/>
                    </a:ext>
                  </a:extLst>
                </a:gridCol>
              </a:tblGrid>
              <a:tr h="133002">
                <a:tc gridSpan="3">
                  <a:txBody>
                    <a:bodyPr/>
                    <a:lstStyle/>
                    <a:p>
                      <a:pPr marL="0" marR="0" indent="0" algn="ctr" fontAlgn="base" latinLnBrk="0">
                        <a:lnSpc>
                          <a:spcPct val="100000"/>
                        </a:lnSpc>
                        <a:spcBef>
                          <a:spcPts val="0"/>
                        </a:spcBef>
                        <a:spcAft>
                          <a:spcPts val="0"/>
                        </a:spcAft>
                      </a:pPr>
                      <a:r>
                        <a:rPr lang="ko-KR" altLang="en-US" sz="1200" kern="1200" dirty="0"/>
                        <a:t>구분</a:t>
                      </a:r>
                      <a:endParaRPr lang="ko-KR" altLang="en-US" sz="1200" kern="1200" dirty="0">
                        <a:solidFill>
                          <a:schemeClr val="tx2"/>
                        </a:solidFill>
                        <a:latin typeface="+mn-lt"/>
                        <a:ea typeface="+mn-ea"/>
                        <a:cs typeface="+mn-cs"/>
                      </a:endParaRPr>
                    </a:p>
                  </a:txBody>
                  <a:tcPr marL="79001" marR="79001" marT="46633" marB="46633" anchor="ctr">
                    <a:solidFill>
                      <a:schemeClr val="accent1">
                        <a:lumMod val="20000"/>
                        <a:lumOff val="80000"/>
                      </a:schemeClr>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1200" dirty="0"/>
                        <a:t>내 용</a:t>
                      </a:r>
                      <a:endParaRPr lang="ko-KR" altLang="en-US" sz="1200" kern="1200" dirty="0">
                        <a:solidFill>
                          <a:schemeClr val="tx2"/>
                        </a:solidFill>
                        <a:latin typeface="+mn-lt"/>
                        <a:ea typeface="+mn-ea"/>
                        <a:cs typeface="+mn-cs"/>
                      </a:endParaRPr>
                    </a:p>
                  </a:txBody>
                  <a:tcPr marL="15471" marR="15471" marT="15471" marB="15471" anchor="ctr">
                    <a:solidFill>
                      <a:schemeClr val="accent1">
                        <a:lumMod val="20000"/>
                        <a:lumOff val="80000"/>
                      </a:schemeClr>
                    </a:solidFill>
                  </a:tcPr>
                </a:tc>
                <a:extLst>
                  <a:ext uri="{0D108BD9-81ED-4DB2-BD59-A6C34878D82A}">
                    <a16:rowId xmlns:a16="http://schemas.microsoft.com/office/drawing/2014/main" val="10000"/>
                  </a:ext>
                </a:extLst>
              </a:tr>
              <a:tr h="198515">
                <a:tc gridSpan="3">
                  <a:txBody>
                    <a:bodyPr/>
                    <a:lstStyle/>
                    <a:p>
                      <a:pPr marL="0" marR="0" indent="0" algn="ctr" fontAlgn="base" latinLnBrk="0">
                        <a:lnSpc>
                          <a:spcPct val="100000"/>
                        </a:lnSpc>
                        <a:spcBef>
                          <a:spcPts val="0"/>
                        </a:spcBef>
                        <a:spcAft>
                          <a:spcPts val="0"/>
                        </a:spcAft>
                      </a:pPr>
                      <a:r>
                        <a:rPr lang="ko-KR" altLang="en-US" sz="1200" kern="1200" dirty="0"/>
                        <a:t>의의</a:t>
                      </a:r>
                      <a:endParaRPr lang="ko-KR" altLang="en-US" sz="1200" kern="1200" dirty="0">
                        <a:solidFill>
                          <a:schemeClr val="tx2"/>
                        </a:solidFill>
                        <a:latin typeface="+mn-lt"/>
                        <a:ea typeface="+mn-ea"/>
                        <a:cs typeface="+mn-cs"/>
                      </a:endParaRPr>
                    </a:p>
                  </a:txBody>
                  <a:tcPr marL="79001" marR="79001" marT="46633" marB="46633" anchor="ctr"/>
                </a:tc>
                <a:tc hMerge="1">
                  <a:txBody>
                    <a:bodyPr/>
                    <a:lstStyle/>
                    <a:p>
                      <a:pPr latinLnBrk="1"/>
                      <a:endParaRPr lang="ko-KR" altLang="en-US"/>
                    </a:p>
                  </a:txBody>
                  <a:tcPr/>
                </a:tc>
                <a:tc hMerge="1">
                  <a:txBody>
                    <a:bodyPr/>
                    <a:lstStyle/>
                    <a:p>
                      <a:pPr latinLnBrk="1"/>
                      <a:endParaRPr lang="ko-KR" altLang="en-US"/>
                    </a:p>
                  </a:txBody>
                  <a:tcPr/>
                </a:tc>
                <a:tc>
                  <a:txBody>
                    <a:bodyPr/>
                    <a:lstStyle/>
                    <a:p>
                      <a:pPr marL="31750" marR="31750" indent="0" algn="l" fontAlgn="base" latinLnBrk="1">
                        <a:lnSpc>
                          <a:spcPct val="100000"/>
                        </a:lnSpc>
                        <a:spcBef>
                          <a:spcPts val="0"/>
                        </a:spcBef>
                        <a:spcAft>
                          <a:spcPts val="0"/>
                        </a:spcAft>
                      </a:pPr>
                      <a:r>
                        <a:rPr lang="en-US" altLang="ko-KR" sz="1200" kern="1200" dirty="0"/>
                        <a:t>1. </a:t>
                      </a:r>
                      <a:r>
                        <a:rPr lang="ko-KR" altLang="en-US" sz="1200" kern="1200" dirty="0"/>
                        <a:t>확정된 특허취소결정 또는 </a:t>
                      </a:r>
                      <a:r>
                        <a:rPr lang="ko-KR" altLang="en-US" sz="1200" kern="1200" dirty="0" err="1"/>
                        <a:t>심결에</a:t>
                      </a:r>
                      <a:r>
                        <a:rPr lang="ko-KR" altLang="en-US" sz="1200" kern="1200" dirty="0"/>
                        <a:t> 대한 비상의 불복방법</a:t>
                      </a:r>
                      <a:r>
                        <a:rPr lang="en-US" altLang="ko-KR" sz="1200" kern="1200" dirty="0"/>
                        <a:t>(</a:t>
                      </a:r>
                      <a:r>
                        <a:rPr lang="ko-KR" altLang="en-US" sz="1200" kern="1200" dirty="0"/>
                        <a:t>法 </a:t>
                      </a:r>
                      <a:r>
                        <a:rPr lang="en-US" altLang="ko-KR" sz="1200" kern="1200" dirty="0"/>
                        <a:t>178</a:t>
                      </a:r>
                      <a:r>
                        <a:rPr lang="ko-KR" altLang="en-US" sz="1200" kern="1200" dirty="0"/>
                        <a:t>①</a:t>
                      </a:r>
                      <a:r>
                        <a:rPr lang="en-US" altLang="ko-KR" sz="1200" kern="1200" dirty="0"/>
                        <a:t>)</a:t>
                      </a:r>
                      <a:endParaRPr lang="ko-KR" altLang="en-US" sz="1200" kern="1200" dirty="0"/>
                    </a:p>
                    <a:p>
                      <a:pPr marL="31750" marR="31750" indent="0" algn="l" fontAlgn="base" latinLnBrk="1">
                        <a:lnSpc>
                          <a:spcPct val="100000"/>
                        </a:lnSpc>
                        <a:spcBef>
                          <a:spcPts val="0"/>
                        </a:spcBef>
                        <a:spcAft>
                          <a:spcPts val="0"/>
                        </a:spcAft>
                      </a:pPr>
                      <a:r>
                        <a:rPr lang="en-US" altLang="ko-KR" sz="1200" kern="1200" dirty="0"/>
                        <a:t>2. </a:t>
                      </a:r>
                      <a:r>
                        <a:rPr lang="ko-KR" altLang="en-US" sz="1200" kern="1200" dirty="0" err="1"/>
                        <a:t>원특허취소결정</a:t>
                      </a:r>
                      <a:r>
                        <a:rPr lang="ko-KR" altLang="en-US" sz="1200" kern="1200" dirty="0"/>
                        <a:t> 또는 </a:t>
                      </a:r>
                      <a:r>
                        <a:rPr lang="ko-KR" altLang="en-US" sz="1200" kern="1200" dirty="0" err="1"/>
                        <a:t>심결의</a:t>
                      </a:r>
                      <a:r>
                        <a:rPr lang="ko-KR" altLang="en-US" sz="1200" kern="1200" dirty="0"/>
                        <a:t> 취소와 </a:t>
                      </a:r>
                      <a:r>
                        <a:rPr lang="ko-KR" altLang="en-US" sz="1200" kern="1200" dirty="0" err="1"/>
                        <a:t>재심판을</a:t>
                      </a:r>
                      <a:r>
                        <a:rPr lang="ko-KR" altLang="en-US" sz="1200" kern="1200" dirty="0"/>
                        <a:t> 구함</a:t>
                      </a:r>
                      <a:endParaRPr lang="ko-KR" altLang="en-US" sz="1200" kern="1200" dirty="0">
                        <a:solidFill>
                          <a:schemeClr val="tx2"/>
                        </a:solidFill>
                        <a:latin typeface="+mn-lt"/>
                        <a:ea typeface="+mn-ea"/>
                        <a:cs typeface="+mn-cs"/>
                      </a:endParaRPr>
                    </a:p>
                  </a:txBody>
                  <a:tcPr marL="15471" marR="15471" marT="15471" marB="15471" anchor="ctr"/>
                </a:tc>
                <a:extLst>
                  <a:ext uri="{0D108BD9-81ED-4DB2-BD59-A6C34878D82A}">
                    <a16:rowId xmlns:a16="http://schemas.microsoft.com/office/drawing/2014/main" val="10001"/>
                  </a:ext>
                </a:extLst>
              </a:tr>
              <a:tr h="133002">
                <a:tc gridSpan="3">
                  <a:txBody>
                    <a:bodyPr/>
                    <a:lstStyle/>
                    <a:p>
                      <a:pPr marL="0" marR="0" indent="0" algn="ctr" fontAlgn="base" latinLnBrk="0">
                        <a:lnSpc>
                          <a:spcPct val="100000"/>
                        </a:lnSpc>
                        <a:spcBef>
                          <a:spcPts val="0"/>
                        </a:spcBef>
                        <a:spcAft>
                          <a:spcPts val="0"/>
                        </a:spcAft>
                      </a:pPr>
                      <a:r>
                        <a:rPr lang="ko-KR" altLang="en-US" sz="1200" kern="1200" dirty="0"/>
                        <a:t>취지</a:t>
                      </a:r>
                      <a:endParaRPr lang="ko-KR" altLang="en-US" sz="1200" kern="1200" dirty="0">
                        <a:solidFill>
                          <a:schemeClr val="tx2"/>
                        </a:solidFill>
                        <a:latin typeface="+mn-lt"/>
                        <a:ea typeface="+mn-ea"/>
                        <a:cs typeface="+mn-cs"/>
                      </a:endParaRPr>
                    </a:p>
                  </a:txBody>
                  <a:tcPr marL="79001" marR="79001" marT="46633" marB="46633" anchor="ctr"/>
                </a:tc>
                <a:tc hMerge="1">
                  <a:txBody>
                    <a:bodyPr/>
                    <a:lstStyle/>
                    <a:p>
                      <a:pPr latinLnBrk="1"/>
                      <a:endParaRPr lang="ko-KR" altLang="en-US"/>
                    </a:p>
                  </a:txBody>
                  <a:tcPr/>
                </a:tc>
                <a:tc hMerge="1">
                  <a:txBody>
                    <a:bodyPr/>
                    <a:lstStyle/>
                    <a:p>
                      <a:pPr latinLnBrk="1"/>
                      <a:endParaRPr lang="ko-KR" altLang="en-US"/>
                    </a:p>
                  </a:txBody>
                  <a:tcPr/>
                </a:tc>
                <a:tc>
                  <a:txBody>
                    <a:bodyPr/>
                    <a:lstStyle/>
                    <a:p>
                      <a:pPr marL="31750" marR="31750" indent="0" algn="l" fontAlgn="base" latinLnBrk="1">
                        <a:lnSpc>
                          <a:spcPct val="100000"/>
                        </a:lnSpc>
                        <a:spcBef>
                          <a:spcPts val="0"/>
                        </a:spcBef>
                        <a:spcAft>
                          <a:spcPts val="0"/>
                        </a:spcAft>
                      </a:pPr>
                      <a:r>
                        <a:rPr lang="ko-KR" altLang="en-US" sz="1200" kern="1200" dirty="0"/>
                        <a:t>법적 안정성의 바탕 위에 구체적 타당성</a:t>
                      </a:r>
                      <a:r>
                        <a:rPr lang="en-US" altLang="ko-KR" sz="1200" kern="1200" dirty="0"/>
                        <a:t>(</a:t>
                      </a:r>
                      <a:r>
                        <a:rPr lang="ko-KR" altLang="en-US" sz="1200" kern="1200" dirty="0"/>
                        <a:t>재심</a:t>
                      </a:r>
                      <a:r>
                        <a:rPr lang="en-US" altLang="ko-KR" sz="1200" kern="1200" dirty="0"/>
                        <a:t>)</a:t>
                      </a:r>
                      <a:r>
                        <a:rPr lang="ko-KR" altLang="en-US" sz="1200" kern="1200" dirty="0"/>
                        <a:t>의 확보</a:t>
                      </a:r>
                      <a:endParaRPr lang="ko-KR" altLang="en-US" sz="1200" kern="1200" dirty="0">
                        <a:solidFill>
                          <a:schemeClr val="tx2"/>
                        </a:solidFill>
                        <a:latin typeface="+mn-lt"/>
                        <a:ea typeface="+mn-ea"/>
                        <a:cs typeface="+mn-cs"/>
                      </a:endParaRPr>
                    </a:p>
                  </a:txBody>
                  <a:tcPr marL="15471" marR="15471" marT="15471" marB="15471" anchor="ctr"/>
                </a:tc>
                <a:extLst>
                  <a:ext uri="{0D108BD9-81ED-4DB2-BD59-A6C34878D82A}">
                    <a16:rowId xmlns:a16="http://schemas.microsoft.com/office/drawing/2014/main" val="10002"/>
                  </a:ext>
                </a:extLst>
              </a:tr>
              <a:tr h="133002">
                <a:tc rowSpan="3">
                  <a:txBody>
                    <a:bodyPr/>
                    <a:lstStyle/>
                    <a:p>
                      <a:pPr marL="0" marR="0" indent="0" algn="ctr" fontAlgn="base" latinLnBrk="0">
                        <a:lnSpc>
                          <a:spcPct val="100000"/>
                        </a:lnSpc>
                        <a:spcBef>
                          <a:spcPts val="0"/>
                        </a:spcBef>
                        <a:spcAft>
                          <a:spcPts val="0"/>
                        </a:spcAft>
                      </a:pPr>
                      <a:r>
                        <a:rPr lang="ko-KR" altLang="en-US" sz="1200" kern="1200" dirty="0"/>
                        <a:t>요건</a:t>
                      </a:r>
                      <a:endParaRPr lang="ko-KR" altLang="en-US" sz="1200" kern="1200" dirty="0">
                        <a:solidFill>
                          <a:schemeClr val="tx2"/>
                        </a:solidFill>
                        <a:latin typeface="+mn-lt"/>
                        <a:ea typeface="+mn-ea"/>
                        <a:cs typeface="+mn-cs"/>
                      </a:endParaRPr>
                    </a:p>
                  </a:txBody>
                  <a:tcPr marL="79001" marR="79001" marT="46633" marB="46633" anchor="ctr"/>
                </a:tc>
                <a:tc gridSpan="2">
                  <a:txBody>
                    <a:bodyPr/>
                    <a:lstStyle/>
                    <a:p>
                      <a:pPr marL="0" marR="0" indent="0" algn="ctr" fontAlgn="base" latinLnBrk="0">
                        <a:lnSpc>
                          <a:spcPct val="100000"/>
                        </a:lnSpc>
                        <a:spcBef>
                          <a:spcPts val="0"/>
                        </a:spcBef>
                        <a:spcAft>
                          <a:spcPts val="0"/>
                        </a:spcAft>
                      </a:pPr>
                      <a:r>
                        <a:rPr lang="ko-KR" altLang="en-US" sz="1200" kern="1200"/>
                        <a:t>관할</a:t>
                      </a:r>
                      <a:endParaRPr lang="ko-KR" altLang="en-US" sz="1200" kern="1200">
                        <a:solidFill>
                          <a:schemeClr val="tx2"/>
                        </a:solidFill>
                        <a:latin typeface="+mn-lt"/>
                        <a:ea typeface="+mn-ea"/>
                        <a:cs typeface="+mn-cs"/>
                      </a:endParaRPr>
                    </a:p>
                  </a:txBody>
                  <a:tcPr marL="79001" marR="79001" marT="46633" marB="46633" anchor="ctr"/>
                </a:tc>
                <a:tc hMerge="1">
                  <a:txBody>
                    <a:bodyPr/>
                    <a:lstStyle/>
                    <a:p>
                      <a:pPr latinLnBrk="1"/>
                      <a:endParaRPr lang="ko-KR" altLang="en-US"/>
                    </a:p>
                  </a:txBody>
                  <a:tcPr/>
                </a:tc>
                <a:tc>
                  <a:txBody>
                    <a:bodyPr/>
                    <a:lstStyle/>
                    <a:p>
                      <a:pPr marL="31750" marR="31750" indent="0" algn="l" fontAlgn="base" latinLnBrk="1">
                        <a:lnSpc>
                          <a:spcPct val="100000"/>
                        </a:lnSpc>
                        <a:spcBef>
                          <a:spcPts val="0"/>
                        </a:spcBef>
                        <a:spcAft>
                          <a:spcPts val="0"/>
                        </a:spcAft>
                      </a:pPr>
                      <a:r>
                        <a:rPr lang="ko-KR" altLang="en-US" sz="1200" kern="1200" dirty="0"/>
                        <a:t>특허심판원</a:t>
                      </a:r>
                      <a:r>
                        <a:rPr lang="en-US" altLang="ko-KR" sz="1200" kern="1200" dirty="0"/>
                        <a:t>(</a:t>
                      </a:r>
                      <a:r>
                        <a:rPr lang="ko-KR" altLang="en-US" sz="1200" kern="1200" dirty="0"/>
                        <a:t>法 </a:t>
                      </a:r>
                      <a:r>
                        <a:rPr lang="en-US" altLang="ko-KR" sz="1200" kern="1200" dirty="0"/>
                        <a:t>178</a:t>
                      </a:r>
                      <a:r>
                        <a:rPr lang="ko-KR" altLang="en-US" sz="1200" kern="1200" dirty="0"/>
                        <a:t>② 준용 </a:t>
                      </a:r>
                      <a:r>
                        <a:rPr lang="ko-KR" altLang="en-US" sz="1200" kern="1200" dirty="0" err="1"/>
                        <a:t>民訴法</a:t>
                      </a:r>
                      <a:r>
                        <a:rPr lang="ko-KR" altLang="en-US" sz="1200" kern="1200" dirty="0"/>
                        <a:t> </a:t>
                      </a:r>
                      <a:r>
                        <a:rPr lang="en-US" altLang="ko-KR" sz="1200" kern="1200" dirty="0"/>
                        <a:t>453)</a:t>
                      </a:r>
                      <a:endParaRPr lang="ko-KR" altLang="en-US" sz="1200" kern="1200" dirty="0">
                        <a:solidFill>
                          <a:schemeClr val="tx2"/>
                        </a:solidFill>
                        <a:latin typeface="+mn-lt"/>
                        <a:ea typeface="+mn-ea"/>
                        <a:cs typeface="+mn-cs"/>
                      </a:endParaRPr>
                    </a:p>
                  </a:txBody>
                  <a:tcPr marL="15471" marR="15471" marT="15471" marB="15471" anchor="ctr"/>
                </a:tc>
                <a:extLst>
                  <a:ext uri="{0D108BD9-81ED-4DB2-BD59-A6C34878D82A}">
                    <a16:rowId xmlns:a16="http://schemas.microsoft.com/office/drawing/2014/main" val="10003"/>
                  </a:ext>
                </a:extLst>
              </a:tr>
              <a:tr h="198515">
                <a:tc v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1200" kern="1200"/>
                        <a:t>재심사유</a:t>
                      </a:r>
                      <a:endParaRPr lang="ko-KR" altLang="en-US" sz="1200" kern="1200">
                        <a:solidFill>
                          <a:schemeClr val="tx2"/>
                        </a:solidFill>
                        <a:latin typeface="+mn-lt"/>
                        <a:ea typeface="+mn-ea"/>
                        <a:cs typeface="+mn-cs"/>
                      </a:endParaRPr>
                    </a:p>
                  </a:txBody>
                  <a:tcPr marL="79001" marR="79001" marT="46633" marB="46633" anchor="ctr"/>
                </a:tc>
                <a:tc hMerge="1">
                  <a:txBody>
                    <a:bodyPr/>
                    <a:lstStyle/>
                    <a:p>
                      <a:pPr latinLnBrk="1"/>
                      <a:endParaRPr lang="ko-KR" altLang="en-US"/>
                    </a:p>
                  </a:txBody>
                  <a:tcPr/>
                </a:tc>
                <a:tc>
                  <a:txBody>
                    <a:bodyPr/>
                    <a:lstStyle/>
                    <a:p>
                      <a:pPr marL="31750" marR="31750" indent="0" algn="l" fontAlgn="base" latinLnBrk="1">
                        <a:lnSpc>
                          <a:spcPct val="100000"/>
                        </a:lnSpc>
                        <a:spcBef>
                          <a:spcPts val="0"/>
                        </a:spcBef>
                        <a:spcAft>
                          <a:spcPts val="0"/>
                        </a:spcAft>
                      </a:pPr>
                      <a:r>
                        <a:rPr lang="en-US" altLang="ko-KR" sz="1200" kern="1200" dirty="0"/>
                        <a:t>1. </a:t>
                      </a:r>
                      <a:r>
                        <a:rPr lang="ko-KR" altLang="en-US" sz="1200" kern="1200" dirty="0"/>
                        <a:t>일반재심사유</a:t>
                      </a:r>
                      <a:r>
                        <a:rPr lang="en-US" altLang="ko-KR" sz="1200" kern="1200" dirty="0"/>
                        <a:t>(</a:t>
                      </a:r>
                      <a:r>
                        <a:rPr lang="ko-KR" altLang="en-US" sz="1200" kern="1200" dirty="0"/>
                        <a:t>法 </a:t>
                      </a:r>
                      <a:r>
                        <a:rPr lang="en-US" altLang="ko-KR" sz="1200" kern="1200" dirty="0"/>
                        <a:t>178</a:t>
                      </a:r>
                      <a:r>
                        <a:rPr lang="ko-KR" altLang="en-US" sz="1200" kern="1200" dirty="0"/>
                        <a:t>② 준용 </a:t>
                      </a:r>
                      <a:r>
                        <a:rPr lang="ko-KR" altLang="en-US" sz="1200" kern="1200" dirty="0" err="1"/>
                        <a:t>民訴法</a:t>
                      </a:r>
                      <a:r>
                        <a:rPr lang="ko-KR" altLang="en-US" sz="1200" kern="1200" dirty="0"/>
                        <a:t> </a:t>
                      </a:r>
                      <a:r>
                        <a:rPr lang="en-US" altLang="ko-KR" sz="1200" kern="1200" dirty="0"/>
                        <a:t>451)</a:t>
                      </a:r>
                      <a:endParaRPr lang="ko-KR" altLang="en-US" sz="1200" kern="1200" dirty="0"/>
                    </a:p>
                    <a:p>
                      <a:pPr marL="31750" marR="31750" indent="0" algn="l" fontAlgn="base" latinLnBrk="1">
                        <a:lnSpc>
                          <a:spcPct val="100000"/>
                        </a:lnSpc>
                        <a:spcBef>
                          <a:spcPts val="0"/>
                        </a:spcBef>
                        <a:spcAft>
                          <a:spcPts val="0"/>
                        </a:spcAft>
                      </a:pPr>
                      <a:r>
                        <a:rPr lang="en-US" altLang="ko-KR" sz="1200" kern="1200" dirty="0"/>
                        <a:t>2. </a:t>
                      </a:r>
                      <a:r>
                        <a:rPr lang="ko-KR" altLang="en-US" sz="1200" kern="1200" dirty="0" err="1"/>
                        <a:t>사해심결에</a:t>
                      </a:r>
                      <a:r>
                        <a:rPr lang="ko-KR" altLang="en-US" sz="1200" kern="1200" dirty="0"/>
                        <a:t> 대한 재심사유</a:t>
                      </a:r>
                      <a:r>
                        <a:rPr lang="en-US" altLang="ko-KR" sz="1200" kern="1200" dirty="0"/>
                        <a:t>(</a:t>
                      </a:r>
                      <a:r>
                        <a:rPr lang="ko-KR" altLang="en-US" sz="1200" kern="1200" dirty="0"/>
                        <a:t>法 </a:t>
                      </a:r>
                      <a:r>
                        <a:rPr lang="en-US" altLang="ko-KR" sz="1200" kern="1200" dirty="0"/>
                        <a:t>179)</a:t>
                      </a:r>
                      <a:endParaRPr lang="ko-KR" altLang="en-US" sz="1200" kern="1200" dirty="0">
                        <a:solidFill>
                          <a:schemeClr val="tx2"/>
                        </a:solidFill>
                        <a:latin typeface="+mn-lt"/>
                        <a:ea typeface="+mn-ea"/>
                        <a:cs typeface="+mn-cs"/>
                      </a:endParaRPr>
                    </a:p>
                  </a:txBody>
                  <a:tcPr marL="15471" marR="15471" marT="15471" marB="15471" anchor="ctr"/>
                </a:tc>
                <a:extLst>
                  <a:ext uri="{0D108BD9-81ED-4DB2-BD59-A6C34878D82A}">
                    <a16:rowId xmlns:a16="http://schemas.microsoft.com/office/drawing/2014/main" val="10004"/>
                  </a:ext>
                </a:extLst>
              </a:tr>
              <a:tr h="198515">
                <a:tc v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1200" kern="1200" dirty="0"/>
                        <a:t>재심청구</a:t>
                      </a:r>
                      <a:endParaRPr lang="en-US" altLang="ko-KR" sz="1200" kern="1200" dirty="0"/>
                    </a:p>
                    <a:p>
                      <a:pPr marL="0" marR="0" indent="0" algn="ctr" fontAlgn="base" latinLnBrk="0">
                        <a:lnSpc>
                          <a:spcPct val="100000"/>
                        </a:lnSpc>
                        <a:spcBef>
                          <a:spcPts val="0"/>
                        </a:spcBef>
                        <a:spcAft>
                          <a:spcPts val="0"/>
                        </a:spcAft>
                      </a:pPr>
                      <a:r>
                        <a:rPr lang="ko-KR" altLang="en-US" sz="1200" kern="1200" dirty="0"/>
                        <a:t>기간</a:t>
                      </a:r>
                      <a:endParaRPr lang="ko-KR" altLang="en-US" sz="1200" kern="1200" dirty="0">
                        <a:solidFill>
                          <a:schemeClr val="tx2"/>
                        </a:solidFill>
                        <a:latin typeface="+mn-lt"/>
                        <a:ea typeface="+mn-ea"/>
                        <a:cs typeface="+mn-cs"/>
                      </a:endParaRPr>
                    </a:p>
                  </a:txBody>
                  <a:tcPr marL="79001" marR="79001" marT="46633" marB="46633" anchor="ctr"/>
                </a:tc>
                <a:tc hMerge="1">
                  <a:txBody>
                    <a:bodyPr/>
                    <a:lstStyle/>
                    <a:p>
                      <a:pPr latinLnBrk="1"/>
                      <a:endParaRPr lang="ko-KR" altLang="en-US"/>
                    </a:p>
                  </a:txBody>
                  <a:tcPr/>
                </a:tc>
                <a:tc>
                  <a:txBody>
                    <a:bodyPr/>
                    <a:lstStyle/>
                    <a:p>
                      <a:pPr marL="31750" marR="31750" indent="0" algn="l" fontAlgn="base" latinLnBrk="1">
                        <a:lnSpc>
                          <a:spcPct val="100000"/>
                        </a:lnSpc>
                        <a:spcBef>
                          <a:spcPts val="0"/>
                        </a:spcBef>
                        <a:spcAft>
                          <a:spcPts val="0"/>
                        </a:spcAft>
                      </a:pPr>
                      <a:r>
                        <a:rPr lang="en-US" altLang="ko-KR" sz="1200" kern="1200" dirty="0"/>
                        <a:t>1. </a:t>
                      </a:r>
                      <a:r>
                        <a:rPr lang="ko-KR" altLang="en-US" sz="1200" kern="1200" dirty="0"/>
                        <a:t>원칙 </a:t>
                      </a:r>
                      <a:r>
                        <a:rPr lang="en-US" altLang="ko-KR" sz="1200" kern="1200" dirty="0"/>
                        <a:t>- </a:t>
                      </a:r>
                      <a:r>
                        <a:rPr lang="ko-KR" altLang="en-US" sz="1200" kern="1200" dirty="0"/>
                        <a:t>法 </a:t>
                      </a:r>
                      <a:r>
                        <a:rPr lang="en-US" altLang="ko-KR" sz="1200" kern="1200" dirty="0"/>
                        <a:t>180</a:t>
                      </a:r>
                      <a:r>
                        <a:rPr lang="ko-KR" altLang="en-US" sz="1200" kern="1200" dirty="0"/>
                        <a:t>①③</a:t>
                      </a:r>
                    </a:p>
                    <a:p>
                      <a:pPr marL="31750" marR="31750" indent="0" algn="l" fontAlgn="base" latinLnBrk="1">
                        <a:lnSpc>
                          <a:spcPct val="100000"/>
                        </a:lnSpc>
                        <a:spcBef>
                          <a:spcPts val="0"/>
                        </a:spcBef>
                        <a:spcAft>
                          <a:spcPts val="0"/>
                        </a:spcAft>
                      </a:pPr>
                      <a:r>
                        <a:rPr lang="en-US" altLang="ko-KR" sz="1200" kern="1200" dirty="0"/>
                        <a:t>2. </a:t>
                      </a:r>
                      <a:r>
                        <a:rPr lang="ko-KR" altLang="en-US" sz="1200" kern="1200" dirty="0"/>
                        <a:t>예외 </a:t>
                      </a:r>
                      <a:r>
                        <a:rPr lang="en-US" altLang="ko-KR" sz="1200" kern="1200" dirty="0"/>
                        <a:t>- </a:t>
                      </a:r>
                      <a:r>
                        <a:rPr lang="ko-KR" altLang="en-US" sz="1200" kern="1200" dirty="0"/>
                        <a:t>法 </a:t>
                      </a:r>
                      <a:r>
                        <a:rPr lang="en-US" altLang="ko-KR" sz="1200" kern="1200" dirty="0"/>
                        <a:t>180</a:t>
                      </a:r>
                      <a:r>
                        <a:rPr lang="ko-KR" altLang="en-US" sz="1200" kern="1200" dirty="0"/>
                        <a:t>②④⑤</a:t>
                      </a:r>
                      <a:endParaRPr lang="ko-KR" altLang="en-US" sz="1200" kern="1200" dirty="0">
                        <a:solidFill>
                          <a:schemeClr val="tx2"/>
                        </a:solidFill>
                        <a:latin typeface="+mn-lt"/>
                        <a:ea typeface="+mn-ea"/>
                        <a:cs typeface="+mn-cs"/>
                      </a:endParaRPr>
                    </a:p>
                  </a:txBody>
                  <a:tcPr marL="15471" marR="15471" marT="15471" marB="15471" anchor="ctr"/>
                </a:tc>
                <a:extLst>
                  <a:ext uri="{0D108BD9-81ED-4DB2-BD59-A6C34878D82A}">
                    <a16:rowId xmlns:a16="http://schemas.microsoft.com/office/drawing/2014/main" val="10005"/>
                  </a:ext>
                </a:extLst>
              </a:tr>
              <a:tr h="133002">
                <a:tc rowSpan="3">
                  <a:txBody>
                    <a:bodyPr/>
                    <a:lstStyle/>
                    <a:p>
                      <a:pPr marL="0" marR="0" indent="0" algn="ctr" fontAlgn="base" latinLnBrk="0">
                        <a:lnSpc>
                          <a:spcPct val="100000"/>
                        </a:lnSpc>
                        <a:spcBef>
                          <a:spcPts val="0"/>
                        </a:spcBef>
                        <a:spcAft>
                          <a:spcPts val="0"/>
                        </a:spcAft>
                      </a:pPr>
                      <a:r>
                        <a:rPr lang="ko-KR" altLang="en-US" sz="1200" kern="1200" dirty="0"/>
                        <a:t>절차 및 효과</a:t>
                      </a:r>
                      <a:endParaRPr lang="ko-KR" altLang="en-US" sz="1200" kern="1200" dirty="0">
                        <a:solidFill>
                          <a:schemeClr val="tx2"/>
                        </a:solidFill>
                        <a:latin typeface="+mn-lt"/>
                        <a:ea typeface="+mn-ea"/>
                        <a:cs typeface="+mn-cs"/>
                      </a:endParaRPr>
                    </a:p>
                  </a:txBody>
                  <a:tcPr marL="79001" marR="79001" marT="46633" marB="46633" anchor="ctr"/>
                </a:tc>
                <a:tc gridSpan="2">
                  <a:txBody>
                    <a:bodyPr/>
                    <a:lstStyle/>
                    <a:p>
                      <a:pPr marL="0" marR="0" indent="0" algn="ctr" fontAlgn="base" latinLnBrk="0">
                        <a:lnSpc>
                          <a:spcPct val="100000"/>
                        </a:lnSpc>
                        <a:spcBef>
                          <a:spcPts val="0"/>
                        </a:spcBef>
                        <a:spcAft>
                          <a:spcPts val="0"/>
                        </a:spcAft>
                      </a:pPr>
                      <a:r>
                        <a:rPr lang="ko-KR" altLang="en-US" sz="1200" kern="1200" dirty="0"/>
                        <a:t>공통점</a:t>
                      </a:r>
                      <a:endParaRPr lang="ko-KR" altLang="en-US" sz="1200" kern="1200" dirty="0">
                        <a:solidFill>
                          <a:schemeClr val="tx2"/>
                        </a:solidFill>
                        <a:latin typeface="+mn-lt"/>
                        <a:ea typeface="+mn-ea"/>
                        <a:cs typeface="+mn-cs"/>
                      </a:endParaRPr>
                    </a:p>
                  </a:txBody>
                  <a:tcPr marL="79001" marR="79001" marT="46633" marB="46633" anchor="ctr"/>
                </a:tc>
                <a:tc hMerge="1">
                  <a:txBody>
                    <a:bodyPr/>
                    <a:lstStyle/>
                    <a:p>
                      <a:pPr latinLnBrk="1"/>
                      <a:endParaRPr lang="ko-KR" altLang="en-US"/>
                    </a:p>
                  </a:txBody>
                  <a:tcPr/>
                </a:tc>
                <a:tc>
                  <a:txBody>
                    <a:bodyPr/>
                    <a:lstStyle/>
                    <a:p>
                      <a:pPr marL="31750" marR="31750" indent="0" algn="l" fontAlgn="base" latinLnBrk="1">
                        <a:lnSpc>
                          <a:spcPct val="100000"/>
                        </a:lnSpc>
                        <a:spcBef>
                          <a:spcPts val="0"/>
                        </a:spcBef>
                        <a:spcAft>
                          <a:spcPts val="0"/>
                        </a:spcAft>
                      </a:pPr>
                      <a:r>
                        <a:rPr lang="ko-KR" altLang="en-US" sz="1200" kern="1200" dirty="0" err="1"/>
                        <a:t>원심판절차</a:t>
                      </a:r>
                      <a:r>
                        <a:rPr lang="ko-KR" altLang="en-US" sz="1200" kern="1200" dirty="0"/>
                        <a:t> 준용</a:t>
                      </a:r>
                      <a:r>
                        <a:rPr lang="en-US" altLang="ko-KR" sz="1200" kern="1200" dirty="0"/>
                        <a:t>(</a:t>
                      </a:r>
                      <a:r>
                        <a:rPr lang="ko-KR" altLang="en-US" sz="1200" kern="1200" dirty="0"/>
                        <a:t>法 </a:t>
                      </a:r>
                      <a:r>
                        <a:rPr lang="en-US" altLang="ko-KR" sz="1200" kern="1200" dirty="0"/>
                        <a:t>184)</a:t>
                      </a:r>
                      <a:endParaRPr lang="ko-KR" altLang="en-US" sz="1200" kern="1200" dirty="0">
                        <a:solidFill>
                          <a:schemeClr val="tx2"/>
                        </a:solidFill>
                        <a:latin typeface="+mn-lt"/>
                        <a:ea typeface="+mn-ea"/>
                        <a:cs typeface="+mn-cs"/>
                      </a:endParaRPr>
                    </a:p>
                  </a:txBody>
                  <a:tcPr marL="15471" marR="15471" marT="15471" marB="15471" anchor="ctr"/>
                </a:tc>
                <a:extLst>
                  <a:ext uri="{0D108BD9-81ED-4DB2-BD59-A6C34878D82A}">
                    <a16:rowId xmlns:a16="http://schemas.microsoft.com/office/drawing/2014/main" val="10006"/>
                  </a:ext>
                </a:extLst>
              </a:tr>
              <a:tr h="198515">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1200" kern="1200" dirty="0"/>
                        <a:t>차이점</a:t>
                      </a:r>
                      <a:endParaRPr lang="ko-KR" altLang="en-US" sz="1200" kern="1200" dirty="0">
                        <a:solidFill>
                          <a:schemeClr val="tx2"/>
                        </a:solidFill>
                        <a:latin typeface="+mn-lt"/>
                        <a:ea typeface="+mn-ea"/>
                        <a:cs typeface="+mn-cs"/>
                      </a:endParaRPr>
                    </a:p>
                  </a:txBody>
                  <a:tcPr marL="79001" marR="79001" marT="46633" marB="46633" anchor="ctr"/>
                </a:tc>
                <a:tc>
                  <a:txBody>
                    <a:bodyPr/>
                    <a:lstStyle/>
                    <a:p>
                      <a:pPr marL="0" marR="0" indent="0" algn="ctr" fontAlgn="base" latinLnBrk="0">
                        <a:lnSpc>
                          <a:spcPct val="100000"/>
                        </a:lnSpc>
                        <a:spcBef>
                          <a:spcPts val="0"/>
                        </a:spcBef>
                        <a:spcAft>
                          <a:spcPts val="0"/>
                        </a:spcAft>
                      </a:pPr>
                      <a:r>
                        <a:rPr lang="ko-KR" altLang="en-US" sz="1200" kern="1200"/>
                        <a:t>절차</a:t>
                      </a:r>
                      <a:endParaRPr lang="ko-KR" altLang="en-US" sz="1200" kern="1200">
                        <a:solidFill>
                          <a:schemeClr val="tx2"/>
                        </a:solidFill>
                        <a:latin typeface="+mn-lt"/>
                        <a:ea typeface="+mn-ea"/>
                        <a:cs typeface="+mn-cs"/>
                      </a:endParaRPr>
                    </a:p>
                  </a:txBody>
                  <a:tcPr marL="79001" marR="79001" marT="46633" marB="46633" anchor="ctr"/>
                </a:tc>
                <a:tc>
                  <a:txBody>
                    <a:bodyPr/>
                    <a:lstStyle/>
                    <a:p>
                      <a:pPr marL="180975" marR="31750" indent="-149225" algn="l" fontAlgn="base" latinLnBrk="1">
                        <a:lnSpc>
                          <a:spcPct val="100000"/>
                        </a:lnSpc>
                        <a:spcBef>
                          <a:spcPts val="0"/>
                        </a:spcBef>
                        <a:spcAft>
                          <a:spcPts val="0"/>
                        </a:spcAft>
                      </a:pPr>
                      <a:r>
                        <a:rPr lang="en-US" altLang="ko-KR" sz="1200" kern="1200" dirty="0"/>
                        <a:t>1. </a:t>
                      </a:r>
                      <a:r>
                        <a:rPr lang="ko-KR" altLang="en-US" sz="1200" kern="1200" dirty="0"/>
                        <a:t>심리순서 </a:t>
                      </a:r>
                      <a:r>
                        <a:rPr lang="en-US" altLang="ko-KR" sz="1200" kern="1200" dirty="0"/>
                        <a:t>- </a:t>
                      </a:r>
                      <a:r>
                        <a:rPr lang="ko-KR" altLang="en-US" sz="1200" kern="1200" dirty="0"/>
                        <a:t>방식심리</a:t>
                      </a:r>
                      <a:r>
                        <a:rPr lang="en-US" altLang="ko-KR" sz="1200" kern="1200" dirty="0"/>
                        <a:t>, </a:t>
                      </a:r>
                      <a:r>
                        <a:rPr lang="ko-KR" altLang="en-US" sz="1200" kern="1200" dirty="0"/>
                        <a:t>적법성 심리</a:t>
                      </a:r>
                      <a:r>
                        <a:rPr lang="en-US" altLang="ko-KR" sz="1200" kern="1200" dirty="0"/>
                        <a:t>, </a:t>
                      </a:r>
                      <a:r>
                        <a:rPr lang="ko-KR" altLang="en-US" sz="1200" kern="1200" dirty="0"/>
                        <a:t>재심사유의 </a:t>
                      </a:r>
                      <a:r>
                        <a:rPr lang="ko-KR" altLang="en-US" sz="1200" kern="1200" dirty="0" err="1"/>
                        <a:t>존부확인</a:t>
                      </a:r>
                      <a:r>
                        <a:rPr lang="en-US" altLang="ko-KR" sz="1200" kern="1200" dirty="0"/>
                        <a:t>(</a:t>
                      </a:r>
                      <a:r>
                        <a:rPr lang="ko-KR" altLang="en-US" sz="1200" kern="1200" dirty="0" err="1"/>
                        <a:t>원특허취소결정</a:t>
                      </a:r>
                      <a:r>
                        <a:rPr lang="ko-KR" altLang="en-US" sz="1200" kern="1200" dirty="0"/>
                        <a:t> 또는 </a:t>
                      </a:r>
                      <a:r>
                        <a:rPr lang="ko-KR" altLang="en-US" sz="1200" kern="1200" dirty="0" err="1"/>
                        <a:t>심결의</a:t>
                      </a:r>
                      <a:r>
                        <a:rPr lang="ko-KR" altLang="en-US" sz="1200" kern="1200" dirty="0"/>
                        <a:t> 취소</a:t>
                      </a:r>
                      <a:r>
                        <a:rPr lang="en-US" altLang="ko-KR" sz="1200" kern="1200" dirty="0"/>
                        <a:t>), </a:t>
                      </a:r>
                      <a:r>
                        <a:rPr lang="ko-KR" altLang="en-US" sz="1200" kern="1200" dirty="0"/>
                        <a:t>본안심리</a:t>
                      </a:r>
                      <a:r>
                        <a:rPr lang="en-US" altLang="ko-KR" sz="1200" kern="1200" dirty="0"/>
                        <a:t>(</a:t>
                      </a:r>
                      <a:r>
                        <a:rPr lang="ko-KR" altLang="en-US" sz="1200" kern="1200" dirty="0" err="1"/>
                        <a:t>재심판</a:t>
                      </a:r>
                      <a:r>
                        <a:rPr lang="en-US" altLang="ko-KR" sz="1200" kern="1200" dirty="0"/>
                        <a:t>)</a:t>
                      </a:r>
                      <a:endParaRPr lang="ko-KR" altLang="en-US" sz="1200" kern="1200" dirty="0"/>
                    </a:p>
                    <a:p>
                      <a:pPr marL="31750" marR="31750" indent="0" algn="l" fontAlgn="base" latinLnBrk="1">
                        <a:lnSpc>
                          <a:spcPct val="100000"/>
                        </a:lnSpc>
                        <a:spcBef>
                          <a:spcPts val="0"/>
                        </a:spcBef>
                        <a:spcAft>
                          <a:spcPts val="0"/>
                        </a:spcAft>
                      </a:pPr>
                      <a:r>
                        <a:rPr lang="en-US" altLang="ko-KR" sz="1200" kern="1200" dirty="0">
                          <a:solidFill>
                            <a:srgbClr val="FF0000"/>
                          </a:solidFill>
                        </a:rPr>
                        <a:t>2. </a:t>
                      </a:r>
                      <a:r>
                        <a:rPr lang="ko-KR" altLang="en-US" sz="1200" kern="1200" dirty="0">
                          <a:solidFill>
                            <a:srgbClr val="FF0000"/>
                          </a:solidFill>
                        </a:rPr>
                        <a:t>재심사유의 </a:t>
                      </a:r>
                      <a:r>
                        <a:rPr lang="ko-KR" altLang="en-US" sz="1200" kern="1200" dirty="0" err="1">
                          <a:solidFill>
                            <a:srgbClr val="FF0000"/>
                          </a:solidFill>
                        </a:rPr>
                        <a:t>존부확인</a:t>
                      </a:r>
                      <a:r>
                        <a:rPr lang="ko-KR" altLang="en-US" sz="1200" kern="1200" dirty="0">
                          <a:solidFill>
                            <a:srgbClr val="FF0000"/>
                          </a:solidFill>
                        </a:rPr>
                        <a:t> </a:t>
                      </a:r>
                      <a:r>
                        <a:rPr lang="en-US" altLang="ko-KR" sz="1200" kern="1200" dirty="0"/>
                        <a:t>- </a:t>
                      </a:r>
                      <a:r>
                        <a:rPr lang="ko-KR" altLang="en-US" sz="1200" kern="1200" dirty="0"/>
                        <a:t>재심청구이유에 한함</a:t>
                      </a:r>
                      <a:r>
                        <a:rPr lang="en-US" altLang="ko-KR" sz="1200" kern="1200" dirty="0"/>
                        <a:t>(</a:t>
                      </a:r>
                      <a:r>
                        <a:rPr lang="ko-KR" altLang="en-US" sz="1200" kern="1200" dirty="0"/>
                        <a:t>法 </a:t>
                      </a:r>
                      <a:r>
                        <a:rPr lang="en-US" altLang="ko-KR" sz="1200" kern="1200" dirty="0"/>
                        <a:t>185)</a:t>
                      </a:r>
                      <a:endParaRPr lang="ko-KR" altLang="en-US" sz="1200" kern="1200" dirty="0">
                        <a:solidFill>
                          <a:schemeClr val="tx2"/>
                        </a:solidFill>
                        <a:latin typeface="+mn-lt"/>
                        <a:ea typeface="+mn-ea"/>
                        <a:cs typeface="+mn-cs"/>
                      </a:endParaRPr>
                    </a:p>
                  </a:txBody>
                  <a:tcPr marL="15471" marR="15471" marT="15471" marB="15471" anchor="ctr"/>
                </a:tc>
                <a:extLst>
                  <a:ext uri="{0D108BD9-81ED-4DB2-BD59-A6C34878D82A}">
                    <a16:rowId xmlns:a16="http://schemas.microsoft.com/office/drawing/2014/main" val="10007"/>
                  </a:ext>
                </a:extLst>
              </a:tr>
              <a:tr h="291063">
                <a:tc vMerge="1">
                  <a:txBody>
                    <a:bodyPr/>
                    <a:lstStyle/>
                    <a:p>
                      <a:pPr latinLnBrk="1"/>
                      <a:endParaRPr lang="ko-KR" altLang="en-US"/>
                    </a:p>
                  </a:txBody>
                  <a:tcPr/>
                </a:tc>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1200" dirty="0"/>
                        <a:t>효과</a:t>
                      </a:r>
                      <a:endParaRPr lang="ko-KR" altLang="en-US" sz="1200" kern="1200" dirty="0">
                        <a:solidFill>
                          <a:schemeClr val="tx2"/>
                        </a:solidFill>
                        <a:latin typeface="+mn-lt"/>
                        <a:ea typeface="+mn-ea"/>
                        <a:cs typeface="+mn-cs"/>
                      </a:endParaRPr>
                    </a:p>
                  </a:txBody>
                  <a:tcPr marL="79001" marR="79001" marT="46633" marB="46633" anchor="ctr"/>
                </a:tc>
                <a:tc>
                  <a:txBody>
                    <a:bodyPr/>
                    <a:lstStyle/>
                    <a:p>
                      <a:pPr marL="31750" marR="31750" indent="0" algn="l" fontAlgn="base" latinLnBrk="1">
                        <a:lnSpc>
                          <a:spcPct val="100000"/>
                        </a:lnSpc>
                        <a:spcBef>
                          <a:spcPts val="0"/>
                        </a:spcBef>
                        <a:spcAft>
                          <a:spcPts val="0"/>
                        </a:spcAft>
                      </a:pPr>
                      <a:r>
                        <a:rPr lang="ko-KR" altLang="en-US" sz="1200" kern="1200" dirty="0" err="1"/>
                        <a:t>원심판</a:t>
                      </a:r>
                      <a:r>
                        <a:rPr lang="ko-KR" altLang="en-US" sz="1200" kern="1200" dirty="0"/>
                        <a:t> 효과 이외에 </a:t>
                      </a:r>
                      <a:r>
                        <a:rPr lang="en-US" altLang="ko-KR" sz="1200" kern="1200" dirty="0"/>
                        <a:t>plus </a:t>
                      </a:r>
                      <a:r>
                        <a:rPr lang="ko-KR" altLang="en-US" sz="1200" kern="1200" dirty="0"/>
                        <a:t>효과 발생</a:t>
                      </a:r>
                    </a:p>
                    <a:p>
                      <a:pPr marL="31750" marR="31750" indent="0" algn="l" fontAlgn="base" latinLnBrk="1">
                        <a:lnSpc>
                          <a:spcPct val="100000"/>
                        </a:lnSpc>
                        <a:spcBef>
                          <a:spcPts val="0"/>
                        </a:spcBef>
                        <a:spcAft>
                          <a:spcPts val="0"/>
                        </a:spcAft>
                      </a:pPr>
                      <a:r>
                        <a:rPr lang="en-US" altLang="ko-KR" sz="1200" kern="1200" dirty="0"/>
                        <a:t>- </a:t>
                      </a:r>
                      <a:r>
                        <a:rPr lang="ko-KR" altLang="en-US" sz="1200" kern="1200" dirty="0"/>
                        <a:t>法 </a:t>
                      </a:r>
                      <a:r>
                        <a:rPr lang="en-US" altLang="ko-KR" sz="1200" kern="1200" dirty="0"/>
                        <a:t>181, 182(</a:t>
                      </a:r>
                      <a:r>
                        <a:rPr lang="ko-KR" altLang="en-US" sz="1200" kern="1200" dirty="0" err="1"/>
                        <a:t>심결확정</a:t>
                      </a:r>
                      <a:r>
                        <a:rPr lang="en-US" altLang="ko-KR" sz="1200" kern="1200" dirty="0"/>
                        <a:t>(3), </a:t>
                      </a:r>
                      <a:r>
                        <a:rPr lang="ko-KR" altLang="en-US" sz="1200" kern="1200" dirty="0"/>
                        <a:t>취소결정확정</a:t>
                      </a:r>
                      <a:r>
                        <a:rPr lang="en-US" altLang="ko-KR" sz="1200" kern="1200" dirty="0"/>
                        <a:t>(1))</a:t>
                      </a:r>
                      <a:endParaRPr lang="ko-KR" altLang="en-US" sz="1200" kern="1200" dirty="0"/>
                    </a:p>
                    <a:p>
                      <a:pPr marL="31750" marR="31750" indent="0" algn="l" fontAlgn="base" latinLnBrk="1">
                        <a:lnSpc>
                          <a:spcPct val="100000"/>
                        </a:lnSpc>
                        <a:spcBef>
                          <a:spcPts val="0"/>
                        </a:spcBef>
                        <a:spcAft>
                          <a:spcPts val="0"/>
                        </a:spcAft>
                        <a:buFontTx/>
                        <a:buNone/>
                      </a:pPr>
                      <a:r>
                        <a:rPr lang="en-US" altLang="ko-KR" sz="1200" kern="1200" dirty="0"/>
                        <a:t>- </a:t>
                      </a:r>
                      <a:r>
                        <a:rPr lang="ko-KR" altLang="en-US" sz="1200" kern="1200" dirty="0"/>
                        <a:t>法 </a:t>
                      </a:r>
                      <a:r>
                        <a:rPr lang="en-US" altLang="ko-KR" sz="1200" kern="1200" dirty="0"/>
                        <a:t>183(</a:t>
                      </a:r>
                      <a:r>
                        <a:rPr lang="ko-KR" altLang="en-US" sz="1200" kern="1200" dirty="0" err="1"/>
                        <a:t>심결확정</a:t>
                      </a:r>
                      <a:r>
                        <a:rPr lang="en-US" altLang="ko-KR" sz="1200" kern="1200" dirty="0"/>
                        <a:t>(1)): </a:t>
                      </a:r>
                      <a:r>
                        <a:rPr lang="ko-KR" altLang="en-US" sz="1200" kern="1200" dirty="0"/>
                        <a:t>제</a:t>
                      </a:r>
                      <a:r>
                        <a:rPr lang="en-US" altLang="ko-KR" sz="1200" kern="1200" dirty="0"/>
                        <a:t>98</a:t>
                      </a:r>
                      <a:r>
                        <a:rPr lang="ko-KR" altLang="en-US" sz="1200" kern="1200" dirty="0"/>
                        <a:t>조</a:t>
                      </a:r>
                      <a:r>
                        <a:rPr lang="en-US" altLang="ko-KR" sz="1200" kern="1200" dirty="0"/>
                        <a:t>, </a:t>
                      </a:r>
                      <a:r>
                        <a:rPr lang="ko-KR" altLang="en-US" sz="1200" kern="1200" dirty="0"/>
                        <a:t>제</a:t>
                      </a:r>
                      <a:r>
                        <a:rPr lang="en-US" altLang="ko-KR" sz="1200" kern="1200" dirty="0"/>
                        <a:t>138</a:t>
                      </a:r>
                      <a:r>
                        <a:rPr lang="ko-KR" altLang="en-US" sz="1200" kern="1200" dirty="0"/>
                        <a:t>조</a:t>
                      </a:r>
                      <a:endParaRPr lang="ko-KR" altLang="en-US" sz="1200" kern="1200" dirty="0">
                        <a:solidFill>
                          <a:schemeClr val="tx2"/>
                        </a:solidFill>
                        <a:latin typeface="+mn-lt"/>
                        <a:ea typeface="+mn-ea"/>
                        <a:cs typeface="+mn-cs"/>
                      </a:endParaRPr>
                    </a:p>
                  </a:txBody>
                  <a:tcPr marL="15471" marR="15471" marT="15471" marB="15471" anchor="ctr"/>
                </a:tc>
                <a:extLst>
                  <a:ext uri="{0D108BD9-81ED-4DB2-BD59-A6C34878D82A}">
                    <a16:rowId xmlns:a16="http://schemas.microsoft.com/office/drawing/2014/main" val="10008"/>
                  </a:ext>
                </a:extLst>
              </a:tr>
            </a:tbl>
          </a:graphicData>
        </a:graphic>
      </p:graphicFrame>
      <p:sp>
        <p:nvSpPr>
          <p:cNvPr id="3" name="슬라이드 번호 개체 틀 2"/>
          <p:cNvSpPr>
            <a:spLocks noGrp="1"/>
          </p:cNvSpPr>
          <p:nvPr>
            <p:ph type="sldNum" sz="quarter" idx="4294967295"/>
          </p:nvPr>
        </p:nvSpPr>
        <p:spPr>
          <a:xfrm>
            <a:off x="11125200" y="0"/>
            <a:ext cx="1066800" cy="711200"/>
          </a:xfrm>
        </p:spPr>
        <p:txBody>
          <a:bodyPr/>
          <a:lstStyle/>
          <a:p>
            <a:r>
              <a:rPr lang="en-US" altLang="ko-KR"/>
              <a:t>517</a:t>
            </a:r>
            <a:endParaRPr lang="ko-KR" altLang="en-US" dirty="0"/>
          </a:p>
        </p:txBody>
      </p:sp>
      <p:sp>
        <p:nvSpPr>
          <p:cNvPr id="6" name="직사각형 5">
            <a:extLst>
              <a:ext uri="{FF2B5EF4-FFF2-40B4-BE49-F238E27FC236}">
                <a16:creationId xmlns:a16="http://schemas.microsoft.com/office/drawing/2014/main" id="{6A1C2332-8454-E525-88A7-A5CF2048F913}"/>
              </a:ext>
            </a:extLst>
          </p:cNvPr>
          <p:cNvSpPr/>
          <p:nvPr/>
        </p:nvSpPr>
        <p:spPr>
          <a:xfrm>
            <a:off x="9454547" y="3597776"/>
            <a:ext cx="966159" cy="541243"/>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방식심리</a:t>
            </a:r>
          </a:p>
        </p:txBody>
      </p:sp>
      <p:sp>
        <p:nvSpPr>
          <p:cNvPr id="8" name="직사각형 7">
            <a:extLst>
              <a:ext uri="{FF2B5EF4-FFF2-40B4-BE49-F238E27FC236}">
                <a16:creationId xmlns:a16="http://schemas.microsoft.com/office/drawing/2014/main" id="{F52ACCDF-D921-9D4D-B884-96841601040C}"/>
              </a:ext>
            </a:extLst>
          </p:cNvPr>
          <p:cNvSpPr/>
          <p:nvPr/>
        </p:nvSpPr>
        <p:spPr>
          <a:xfrm>
            <a:off x="9454547" y="4479326"/>
            <a:ext cx="966159" cy="541243"/>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재심사유 </a:t>
            </a:r>
            <a:r>
              <a:rPr lang="ko-KR" altLang="en-US" sz="1400" dirty="0" err="1"/>
              <a:t>존부확인</a:t>
            </a:r>
            <a:endParaRPr lang="ko-KR" altLang="en-US" sz="1400" dirty="0"/>
          </a:p>
        </p:txBody>
      </p:sp>
      <p:sp>
        <p:nvSpPr>
          <p:cNvPr id="9" name="직사각형 8">
            <a:extLst>
              <a:ext uri="{FF2B5EF4-FFF2-40B4-BE49-F238E27FC236}">
                <a16:creationId xmlns:a16="http://schemas.microsoft.com/office/drawing/2014/main" id="{2202A6D7-46D2-7668-BE45-BD24B2314FFE}"/>
              </a:ext>
            </a:extLst>
          </p:cNvPr>
          <p:cNvSpPr/>
          <p:nvPr/>
        </p:nvSpPr>
        <p:spPr>
          <a:xfrm>
            <a:off x="9454547" y="5428232"/>
            <a:ext cx="966159" cy="541243"/>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본안심리</a:t>
            </a:r>
          </a:p>
        </p:txBody>
      </p:sp>
      <p:sp>
        <p:nvSpPr>
          <p:cNvPr id="11" name="직사각형 10">
            <a:extLst>
              <a:ext uri="{FF2B5EF4-FFF2-40B4-BE49-F238E27FC236}">
                <a16:creationId xmlns:a16="http://schemas.microsoft.com/office/drawing/2014/main" id="{6CDA22D4-6732-6C6F-E51E-CD544CAF88C0}"/>
              </a:ext>
            </a:extLst>
          </p:cNvPr>
          <p:cNvSpPr/>
          <p:nvPr/>
        </p:nvSpPr>
        <p:spPr>
          <a:xfrm>
            <a:off x="8084505" y="4479326"/>
            <a:ext cx="966159" cy="541243"/>
          </a:xfrm>
          <a:prstGeom prst="rect">
            <a:avLst/>
          </a:prstGeom>
          <a:solidFill>
            <a:schemeClr val="accent1">
              <a:lumMod val="40000"/>
              <a:lumOff val="6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t>적법성</a:t>
            </a:r>
            <a:endParaRPr lang="en-US" altLang="ko-KR" sz="1400" dirty="0"/>
          </a:p>
          <a:p>
            <a:pPr algn="ctr"/>
            <a:r>
              <a:rPr lang="ko-KR" altLang="en-US" sz="1400" dirty="0"/>
              <a:t>심리</a:t>
            </a:r>
          </a:p>
        </p:txBody>
      </p:sp>
      <p:cxnSp>
        <p:nvCxnSpPr>
          <p:cNvPr id="15" name="연결선: 꺾임 14">
            <a:extLst>
              <a:ext uri="{FF2B5EF4-FFF2-40B4-BE49-F238E27FC236}">
                <a16:creationId xmlns:a16="http://schemas.microsoft.com/office/drawing/2014/main" id="{81F71D08-17AB-5FAA-4407-A29B918F8AE1}"/>
              </a:ext>
            </a:extLst>
          </p:cNvPr>
          <p:cNvCxnSpPr>
            <a:stCxn id="6" idx="1"/>
            <a:endCxn id="11" idx="0"/>
          </p:cNvCxnSpPr>
          <p:nvPr/>
        </p:nvCxnSpPr>
        <p:spPr>
          <a:xfrm rot="10800000" flipV="1">
            <a:off x="8567585" y="3868398"/>
            <a:ext cx="886962" cy="610928"/>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 name="연결선: 꺾임 16">
            <a:extLst>
              <a:ext uri="{FF2B5EF4-FFF2-40B4-BE49-F238E27FC236}">
                <a16:creationId xmlns:a16="http://schemas.microsoft.com/office/drawing/2014/main" id="{F3012A8F-462A-4D05-1E84-E13136237084}"/>
              </a:ext>
            </a:extLst>
          </p:cNvPr>
          <p:cNvCxnSpPr>
            <a:stCxn id="11" idx="2"/>
            <a:endCxn id="9" idx="1"/>
          </p:cNvCxnSpPr>
          <p:nvPr/>
        </p:nvCxnSpPr>
        <p:spPr>
          <a:xfrm rot="16200000" flipH="1">
            <a:off x="8671924" y="4916230"/>
            <a:ext cx="678285" cy="886962"/>
          </a:xfrm>
          <a:prstGeom prst="bentConnector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9" name="직선 화살표 연결선 18">
            <a:extLst>
              <a:ext uri="{FF2B5EF4-FFF2-40B4-BE49-F238E27FC236}">
                <a16:creationId xmlns:a16="http://schemas.microsoft.com/office/drawing/2014/main" id="{C76B05AC-2BE2-D831-84DF-835B672490A4}"/>
              </a:ext>
            </a:extLst>
          </p:cNvPr>
          <p:cNvCxnSpPr>
            <a:stCxn id="11" idx="3"/>
            <a:endCxn id="8" idx="1"/>
          </p:cNvCxnSpPr>
          <p:nvPr/>
        </p:nvCxnSpPr>
        <p:spPr>
          <a:xfrm>
            <a:off x="9050664" y="4749948"/>
            <a:ext cx="403883"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1" name="직선 화살표 연결선 20">
            <a:extLst>
              <a:ext uri="{FF2B5EF4-FFF2-40B4-BE49-F238E27FC236}">
                <a16:creationId xmlns:a16="http://schemas.microsoft.com/office/drawing/2014/main" id="{92B7054E-E4FB-76F7-1B9D-3C4ECC232D0C}"/>
              </a:ext>
            </a:extLst>
          </p:cNvPr>
          <p:cNvCxnSpPr>
            <a:stCxn id="6" idx="2"/>
            <a:endCxn id="8" idx="0"/>
          </p:cNvCxnSpPr>
          <p:nvPr/>
        </p:nvCxnSpPr>
        <p:spPr>
          <a:xfrm>
            <a:off x="9937627" y="4139019"/>
            <a:ext cx="0" cy="34030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3" name="직선 화살표 연결선 22">
            <a:extLst>
              <a:ext uri="{FF2B5EF4-FFF2-40B4-BE49-F238E27FC236}">
                <a16:creationId xmlns:a16="http://schemas.microsoft.com/office/drawing/2014/main" id="{969EFF7A-A238-F65F-404F-179D4D6BE939}"/>
              </a:ext>
            </a:extLst>
          </p:cNvPr>
          <p:cNvCxnSpPr>
            <a:stCxn id="8" idx="2"/>
            <a:endCxn id="9" idx="0"/>
          </p:cNvCxnSpPr>
          <p:nvPr/>
        </p:nvCxnSpPr>
        <p:spPr>
          <a:xfrm>
            <a:off x="9937627" y="5020569"/>
            <a:ext cx="0" cy="40766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8" name="직사각형 27">
            <a:extLst>
              <a:ext uri="{FF2B5EF4-FFF2-40B4-BE49-F238E27FC236}">
                <a16:creationId xmlns:a16="http://schemas.microsoft.com/office/drawing/2014/main" id="{4A745F3F-1112-B07A-BAF6-DD1820F4402D}"/>
              </a:ext>
            </a:extLst>
          </p:cNvPr>
          <p:cNvSpPr/>
          <p:nvPr/>
        </p:nvSpPr>
        <p:spPr>
          <a:xfrm>
            <a:off x="10754262" y="5557624"/>
            <a:ext cx="966159" cy="282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lumMod val="50000"/>
                    <a:lumOff val="50000"/>
                  </a:schemeClr>
                </a:solidFill>
              </a:rPr>
              <a:t>기각심결</a:t>
            </a:r>
            <a:endParaRPr lang="en-US" altLang="ko-KR" sz="1400" dirty="0">
              <a:solidFill>
                <a:schemeClr val="tx1">
                  <a:lumMod val="50000"/>
                  <a:lumOff val="50000"/>
                </a:schemeClr>
              </a:solidFill>
            </a:endParaRPr>
          </a:p>
          <a:p>
            <a:pPr algn="ctr"/>
            <a:r>
              <a:rPr lang="en-US" altLang="ko-KR" sz="1400" dirty="0">
                <a:solidFill>
                  <a:schemeClr val="tx1">
                    <a:lumMod val="50000"/>
                    <a:lumOff val="50000"/>
                  </a:schemeClr>
                </a:solidFill>
              </a:rPr>
              <a:t>(</a:t>
            </a:r>
            <a:r>
              <a:rPr lang="ko-KR" altLang="en-US" sz="1400" dirty="0">
                <a:solidFill>
                  <a:schemeClr val="tx1">
                    <a:lumMod val="50000"/>
                    <a:lumOff val="50000"/>
                  </a:schemeClr>
                </a:solidFill>
              </a:rPr>
              <a:t>결정</a:t>
            </a:r>
            <a:r>
              <a:rPr lang="en-US" altLang="ko-KR" sz="1400" dirty="0">
                <a:solidFill>
                  <a:schemeClr val="tx1">
                    <a:lumMod val="50000"/>
                    <a:lumOff val="50000"/>
                  </a:schemeClr>
                </a:solidFill>
              </a:rPr>
              <a:t>)</a:t>
            </a:r>
            <a:endParaRPr lang="ko-KR" altLang="en-US" sz="1400" dirty="0">
              <a:solidFill>
                <a:schemeClr val="tx1">
                  <a:lumMod val="50000"/>
                  <a:lumOff val="50000"/>
                </a:schemeClr>
              </a:solidFill>
            </a:endParaRPr>
          </a:p>
        </p:txBody>
      </p:sp>
      <p:sp>
        <p:nvSpPr>
          <p:cNvPr id="29" name="직사각형 28">
            <a:extLst>
              <a:ext uri="{FF2B5EF4-FFF2-40B4-BE49-F238E27FC236}">
                <a16:creationId xmlns:a16="http://schemas.microsoft.com/office/drawing/2014/main" id="{25DB2CA0-F599-6054-D506-EF4664A85829}"/>
              </a:ext>
            </a:extLst>
          </p:cNvPr>
          <p:cNvSpPr/>
          <p:nvPr/>
        </p:nvSpPr>
        <p:spPr>
          <a:xfrm>
            <a:off x="9454547" y="6368510"/>
            <a:ext cx="966159" cy="282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lumMod val="50000"/>
                    <a:lumOff val="50000"/>
                  </a:schemeClr>
                </a:solidFill>
              </a:rPr>
              <a:t>인용심결</a:t>
            </a:r>
            <a:r>
              <a:rPr lang="en-US" altLang="ko-KR" sz="1400" dirty="0">
                <a:solidFill>
                  <a:schemeClr val="tx1">
                    <a:lumMod val="50000"/>
                    <a:lumOff val="50000"/>
                  </a:schemeClr>
                </a:solidFill>
              </a:rPr>
              <a:t>(</a:t>
            </a:r>
            <a:r>
              <a:rPr lang="ko-KR" altLang="en-US" sz="1400" dirty="0">
                <a:solidFill>
                  <a:schemeClr val="tx1">
                    <a:lumMod val="50000"/>
                    <a:lumOff val="50000"/>
                  </a:schemeClr>
                </a:solidFill>
              </a:rPr>
              <a:t>취소결정</a:t>
            </a:r>
            <a:r>
              <a:rPr lang="en-US" altLang="ko-KR" sz="1400" dirty="0">
                <a:solidFill>
                  <a:schemeClr val="tx1">
                    <a:lumMod val="50000"/>
                    <a:lumOff val="50000"/>
                  </a:schemeClr>
                </a:solidFill>
              </a:rPr>
              <a:t>)</a:t>
            </a:r>
            <a:endParaRPr lang="ko-KR" altLang="en-US" sz="1400" dirty="0">
              <a:solidFill>
                <a:schemeClr val="tx1">
                  <a:lumMod val="50000"/>
                  <a:lumOff val="50000"/>
                </a:schemeClr>
              </a:solidFill>
            </a:endParaRPr>
          </a:p>
        </p:txBody>
      </p:sp>
      <p:cxnSp>
        <p:nvCxnSpPr>
          <p:cNvPr id="32" name="직선 화살표 연결선 31">
            <a:extLst>
              <a:ext uri="{FF2B5EF4-FFF2-40B4-BE49-F238E27FC236}">
                <a16:creationId xmlns:a16="http://schemas.microsoft.com/office/drawing/2014/main" id="{907A94DB-F09B-BCF6-5230-2DAE19A0C788}"/>
              </a:ext>
            </a:extLst>
          </p:cNvPr>
          <p:cNvCxnSpPr>
            <a:stCxn id="9" idx="3"/>
            <a:endCxn id="28" idx="1"/>
          </p:cNvCxnSpPr>
          <p:nvPr/>
        </p:nvCxnSpPr>
        <p:spPr>
          <a:xfrm>
            <a:off x="10420706" y="5698854"/>
            <a:ext cx="333556"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4" name="직선 화살표 연결선 33">
            <a:extLst>
              <a:ext uri="{FF2B5EF4-FFF2-40B4-BE49-F238E27FC236}">
                <a16:creationId xmlns:a16="http://schemas.microsoft.com/office/drawing/2014/main" id="{12359E57-E78E-CFB4-FE19-A1FDFDA449AB}"/>
              </a:ext>
            </a:extLst>
          </p:cNvPr>
          <p:cNvCxnSpPr>
            <a:cxnSpLocks/>
            <a:stCxn id="9" idx="2"/>
          </p:cNvCxnSpPr>
          <p:nvPr/>
        </p:nvCxnSpPr>
        <p:spPr>
          <a:xfrm>
            <a:off x="9937627" y="5969475"/>
            <a:ext cx="0" cy="32780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5" name="직사각형 34">
            <a:extLst>
              <a:ext uri="{FF2B5EF4-FFF2-40B4-BE49-F238E27FC236}">
                <a16:creationId xmlns:a16="http://schemas.microsoft.com/office/drawing/2014/main" id="{06A50414-7446-CBF8-485D-DE1CFE8B5241}"/>
              </a:ext>
            </a:extLst>
          </p:cNvPr>
          <p:cNvSpPr/>
          <p:nvPr/>
        </p:nvSpPr>
        <p:spPr>
          <a:xfrm>
            <a:off x="10754262" y="4608290"/>
            <a:ext cx="966159" cy="282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lumMod val="50000"/>
                    <a:lumOff val="50000"/>
                  </a:schemeClr>
                </a:solidFill>
              </a:rPr>
              <a:t>기각심결</a:t>
            </a:r>
            <a:endParaRPr lang="en-US" altLang="ko-KR" sz="1400" dirty="0">
              <a:solidFill>
                <a:schemeClr val="tx1">
                  <a:lumMod val="50000"/>
                  <a:lumOff val="50000"/>
                </a:schemeClr>
              </a:solidFill>
            </a:endParaRPr>
          </a:p>
          <a:p>
            <a:pPr algn="ctr"/>
            <a:r>
              <a:rPr lang="en-US" altLang="ko-KR" sz="1400" dirty="0">
                <a:solidFill>
                  <a:schemeClr val="tx1">
                    <a:lumMod val="50000"/>
                    <a:lumOff val="50000"/>
                  </a:schemeClr>
                </a:solidFill>
              </a:rPr>
              <a:t>(</a:t>
            </a:r>
            <a:r>
              <a:rPr lang="ko-KR" altLang="en-US" sz="1400" dirty="0">
                <a:solidFill>
                  <a:schemeClr val="tx1">
                    <a:lumMod val="50000"/>
                    <a:lumOff val="50000"/>
                  </a:schemeClr>
                </a:solidFill>
              </a:rPr>
              <a:t>결정</a:t>
            </a:r>
            <a:r>
              <a:rPr lang="en-US" altLang="ko-KR" sz="1400" dirty="0">
                <a:solidFill>
                  <a:schemeClr val="tx1">
                    <a:lumMod val="50000"/>
                    <a:lumOff val="50000"/>
                  </a:schemeClr>
                </a:solidFill>
              </a:rPr>
              <a:t>)</a:t>
            </a:r>
            <a:endParaRPr lang="ko-KR" altLang="en-US" sz="1400" dirty="0">
              <a:solidFill>
                <a:schemeClr val="tx1">
                  <a:lumMod val="50000"/>
                  <a:lumOff val="50000"/>
                </a:schemeClr>
              </a:solidFill>
            </a:endParaRPr>
          </a:p>
        </p:txBody>
      </p:sp>
      <p:cxnSp>
        <p:nvCxnSpPr>
          <p:cNvPr id="36" name="직선 화살표 연결선 35">
            <a:extLst>
              <a:ext uri="{FF2B5EF4-FFF2-40B4-BE49-F238E27FC236}">
                <a16:creationId xmlns:a16="http://schemas.microsoft.com/office/drawing/2014/main" id="{B4C1E1B8-3D66-6ACA-AF93-3D7E8A4F5D98}"/>
              </a:ext>
            </a:extLst>
          </p:cNvPr>
          <p:cNvCxnSpPr>
            <a:cxnSpLocks/>
            <a:stCxn id="8" idx="3"/>
            <a:endCxn id="35" idx="1"/>
          </p:cNvCxnSpPr>
          <p:nvPr/>
        </p:nvCxnSpPr>
        <p:spPr>
          <a:xfrm flipV="1">
            <a:off x="10420706" y="4749520"/>
            <a:ext cx="333556" cy="42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8" name="직사각형 37">
            <a:extLst>
              <a:ext uri="{FF2B5EF4-FFF2-40B4-BE49-F238E27FC236}">
                <a16:creationId xmlns:a16="http://schemas.microsoft.com/office/drawing/2014/main" id="{2869CB96-E831-A815-1852-4060D67D8BD9}"/>
              </a:ext>
            </a:extLst>
          </p:cNvPr>
          <p:cNvSpPr/>
          <p:nvPr/>
        </p:nvSpPr>
        <p:spPr>
          <a:xfrm>
            <a:off x="10754262" y="3732432"/>
            <a:ext cx="966159" cy="282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lumMod val="50000"/>
                    <a:lumOff val="50000"/>
                  </a:schemeClr>
                </a:solidFill>
              </a:rPr>
              <a:t>각하결정</a:t>
            </a:r>
          </a:p>
        </p:txBody>
      </p:sp>
      <p:cxnSp>
        <p:nvCxnSpPr>
          <p:cNvPr id="39" name="직선 화살표 연결선 38">
            <a:extLst>
              <a:ext uri="{FF2B5EF4-FFF2-40B4-BE49-F238E27FC236}">
                <a16:creationId xmlns:a16="http://schemas.microsoft.com/office/drawing/2014/main" id="{262F0F60-1A30-21C8-9CF5-50451AB1D7A9}"/>
              </a:ext>
            </a:extLst>
          </p:cNvPr>
          <p:cNvCxnSpPr>
            <a:cxnSpLocks/>
            <a:stCxn id="6" idx="3"/>
            <a:endCxn id="38" idx="1"/>
          </p:cNvCxnSpPr>
          <p:nvPr/>
        </p:nvCxnSpPr>
        <p:spPr>
          <a:xfrm>
            <a:off x="10420706" y="3868398"/>
            <a:ext cx="333556" cy="5264"/>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2" name="직사각형 41">
            <a:extLst>
              <a:ext uri="{FF2B5EF4-FFF2-40B4-BE49-F238E27FC236}">
                <a16:creationId xmlns:a16="http://schemas.microsoft.com/office/drawing/2014/main" id="{B2E80492-A9AE-F070-DA48-CB6BEEF87656}"/>
              </a:ext>
            </a:extLst>
          </p:cNvPr>
          <p:cNvSpPr/>
          <p:nvPr/>
        </p:nvSpPr>
        <p:spPr>
          <a:xfrm>
            <a:off x="6916404" y="4608290"/>
            <a:ext cx="966159" cy="282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err="1">
                <a:solidFill>
                  <a:schemeClr val="tx1">
                    <a:lumMod val="50000"/>
                    <a:lumOff val="50000"/>
                  </a:schemeClr>
                </a:solidFill>
              </a:rPr>
              <a:t>각하심결</a:t>
            </a:r>
            <a:endParaRPr lang="en-US" altLang="ko-KR" sz="1400" dirty="0">
              <a:solidFill>
                <a:schemeClr val="tx1">
                  <a:lumMod val="50000"/>
                  <a:lumOff val="50000"/>
                </a:schemeClr>
              </a:solidFill>
            </a:endParaRPr>
          </a:p>
          <a:p>
            <a:pPr algn="ctr"/>
            <a:r>
              <a:rPr lang="en-US" altLang="ko-KR" sz="1400" dirty="0">
                <a:solidFill>
                  <a:schemeClr val="tx1">
                    <a:lumMod val="50000"/>
                    <a:lumOff val="50000"/>
                  </a:schemeClr>
                </a:solidFill>
              </a:rPr>
              <a:t>(</a:t>
            </a:r>
            <a:r>
              <a:rPr lang="ko-KR" altLang="en-US" sz="1400" dirty="0">
                <a:solidFill>
                  <a:schemeClr val="tx1">
                    <a:lumMod val="50000"/>
                    <a:lumOff val="50000"/>
                  </a:schemeClr>
                </a:solidFill>
              </a:rPr>
              <a:t>결정</a:t>
            </a:r>
            <a:r>
              <a:rPr lang="en-US" altLang="ko-KR" sz="1400" dirty="0">
                <a:solidFill>
                  <a:schemeClr val="tx1">
                    <a:lumMod val="50000"/>
                    <a:lumOff val="50000"/>
                  </a:schemeClr>
                </a:solidFill>
              </a:rPr>
              <a:t>)</a:t>
            </a:r>
            <a:endParaRPr lang="ko-KR" altLang="en-US" sz="1400" dirty="0">
              <a:solidFill>
                <a:schemeClr val="tx1">
                  <a:lumMod val="50000"/>
                  <a:lumOff val="50000"/>
                </a:schemeClr>
              </a:solidFill>
            </a:endParaRPr>
          </a:p>
        </p:txBody>
      </p:sp>
      <p:cxnSp>
        <p:nvCxnSpPr>
          <p:cNvPr id="43" name="직선 화살표 연결선 42">
            <a:extLst>
              <a:ext uri="{FF2B5EF4-FFF2-40B4-BE49-F238E27FC236}">
                <a16:creationId xmlns:a16="http://schemas.microsoft.com/office/drawing/2014/main" id="{DFFBE6F0-8F16-0F9E-77B0-D88E5100155C}"/>
              </a:ext>
            </a:extLst>
          </p:cNvPr>
          <p:cNvCxnSpPr>
            <a:cxnSpLocks/>
            <a:stCxn id="11" idx="1"/>
            <a:endCxn id="42" idx="3"/>
          </p:cNvCxnSpPr>
          <p:nvPr/>
        </p:nvCxnSpPr>
        <p:spPr>
          <a:xfrm flipH="1" flipV="1">
            <a:off x="7882563" y="4749520"/>
            <a:ext cx="201942" cy="42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8" name="직사각형 47">
            <a:extLst>
              <a:ext uri="{FF2B5EF4-FFF2-40B4-BE49-F238E27FC236}">
                <a16:creationId xmlns:a16="http://schemas.microsoft.com/office/drawing/2014/main" id="{98B1F64D-F5B0-E18C-F462-1355369B5733}"/>
              </a:ext>
            </a:extLst>
          </p:cNvPr>
          <p:cNvSpPr/>
          <p:nvPr/>
        </p:nvSpPr>
        <p:spPr>
          <a:xfrm>
            <a:off x="9454547" y="3022117"/>
            <a:ext cx="966159" cy="2824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lumMod val="50000"/>
                    <a:lumOff val="50000"/>
                  </a:schemeClr>
                </a:solidFill>
              </a:rPr>
              <a:t>재심청구</a:t>
            </a:r>
          </a:p>
        </p:txBody>
      </p:sp>
      <p:cxnSp>
        <p:nvCxnSpPr>
          <p:cNvPr id="49" name="직선 화살표 연결선 48">
            <a:extLst>
              <a:ext uri="{FF2B5EF4-FFF2-40B4-BE49-F238E27FC236}">
                <a16:creationId xmlns:a16="http://schemas.microsoft.com/office/drawing/2014/main" id="{772BF6B0-9BB3-5BCD-1505-F7DBA7D71CDB}"/>
              </a:ext>
            </a:extLst>
          </p:cNvPr>
          <p:cNvCxnSpPr>
            <a:cxnSpLocks/>
            <a:stCxn id="48" idx="2"/>
            <a:endCxn id="6" idx="0"/>
          </p:cNvCxnSpPr>
          <p:nvPr/>
        </p:nvCxnSpPr>
        <p:spPr>
          <a:xfrm>
            <a:off x="9937627" y="3304577"/>
            <a:ext cx="0" cy="293199"/>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54345560"/>
      </p:ext>
    </p:extLst>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180</a:t>
            </a:r>
            <a:r>
              <a:rPr lang="ko-KR" altLang="en-US" dirty="0"/>
              <a:t>조</a:t>
            </a:r>
          </a:p>
        </p:txBody>
      </p:sp>
      <p:sp>
        <p:nvSpPr>
          <p:cNvPr id="5" name="텍스트 개체 틀 4"/>
          <p:cNvSpPr>
            <a:spLocks noGrp="1"/>
          </p:cNvSpPr>
          <p:nvPr>
            <p:ph type="body" sz="quarter" idx="13"/>
          </p:nvPr>
        </p:nvSpPr>
        <p:spPr/>
        <p:txBody>
          <a:bodyPr/>
          <a:lstStyle/>
          <a:p>
            <a:r>
              <a:rPr lang="ko-KR" altLang="en-US" dirty="0"/>
              <a:t>재심청구기간</a:t>
            </a:r>
          </a:p>
        </p:txBody>
      </p:sp>
      <p:sp>
        <p:nvSpPr>
          <p:cNvPr id="6" name="TextBox 5"/>
          <p:cNvSpPr txBox="1"/>
          <p:nvPr/>
        </p:nvSpPr>
        <p:spPr>
          <a:xfrm>
            <a:off x="557031" y="3160833"/>
            <a:ext cx="11330169" cy="400110"/>
          </a:xfrm>
          <a:prstGeom prst="rect">
            <a:avLst/>
          </a:prstGeom>
          <a:noFill/>
        </p:spPr>
        <p:txBody>
          <a:bodyPr wrap="square" rtlCol="0">
            <a:spAutoFit/>
          </a:bodyPr>
          <a:lstStyle/>
          <a:p>
            <a:r>
              <a:rPr lang="ko-KR" altLang="en-US" sz="2000" dirty="0">
                <a:solidFill>
                  <a:srgbClr val="FF0000"/>
                </a:solidFill>
              </a:rPr>
              <a:t>재심사유를 안 날부터 </a:t>
            </a:r>
            <a:r>
              <a:rPr lang="en-US" altLang="ko-KR" sz="2000" dirty="0">
                <a:solidFill>
                  <a:srgbClr val="FF0000"/>
                </a:solidFill>
              </a:rPr>
              <a:t>30</a:t>
            </a:r>
            <a:r>
              <a:rPr lang="ko-KR" altLang="en-US" sz="2000" dirty="0">
                <a:solidFill>
                  <a:srgbClr val="FF0000"/>
                </a:solidFill>
              </a:rPr>
              <a:t>일 이내</a:t>
            </a:r>
            <a:r>
              <a:rPr lang="en-US" altLang="ko-KR" sz="2000" dirty="0">
                <a:solidFill>
                  <a:srgbClr val="FF0000"/>
                </a:solidFill>
              </a:rPr>
              <a:t>(</a:t>
            </a:r>
            <a:r>
              <a:rPr lang="ko-KR" altLang="en-US" sz="2000" dirty="0">
                <a:solidFill>
                  <a:srgbClr val="FF0000"/>
                </a:solidFill>
              </a:rPr>
              <a:t>제</a:t>
            </a:r>
            <a:r>
              <a:rPr lang="en-US" altLang="ko-KR" sz="2000" dirty="0">
                <a:solidFill>
                  <a:srgbClr val="FF0000"/>
                </a:solidFill>
              </a:rPr>
              <a:t>180</a:t>
            </a:r>
            <a:r>
              <a:rPr lang="ko-KR" altLang="en-US" sz="2000" dirty="0">
                <a:solidFill>
                  <a:srgbClr val="FF0000"/>
                </a:solidFill>
              </a:rPr>
              <a:t>조제</a:t>
            </a:r>
            <a:r>
              <a:rPr lang="en-US" altLang="ko-KR" sz="2000" dirty="0">
                <a:solidFill>
                  <a:srgbClr val="FF0000"/>
                </a:solidFill>
              </a:rPr>
              <a:t>1</a:t>
            </a:r>
            <a:r>
              <a:rPr lang="ko-KR" altLang="en-US" sz="2000" dirty="0">
                <a:solidFill>
                  <a:srgbClr val="FF0000"/>
                </a:solidFill>
              </a:rPr>
              <a:t>항</a:t>
            </a:r>
            <a:r>
              <a:rPr lang="en-US" altLang="ko-KR" sz="2000" dirty="0">
                <a:solidFill>
                  <a:srgbClr val="FF0000"/>
                </a:solidFill>
              </a:rPr>
              <a:t>) </a:t>
            </a:r>
            <a:r>
              <a:rPr lang="ko-KR" altLang="en-US" sz="2000" dirty="0">
                <a:solidFill>
                  <a:srgbClr val="FF0000"/>
                </a:solidFill>
              </a:rPr>
              <a:t>및 특허취소결정 또는 </a:t>
            </a:r>
            <a:r>
              <a:rPr lang="ko-KR" altLang="en-US" sz="2000" dirty="0" err="1">
                <a:solidFill>
                  <a:srgbClr val="FF0000"/>
                </a:solidFill>
              </a:rPr>
              <a:t>심결</a:t>
            </a:r>
            <a:r>
              <a:rPr lang="ko-KR" altLang="en-US" sz="2000" dirty="0">
                <a:solidFill>
                  <a:srgbClr val="FF0000"/>
                </a:solidFill>
              </a:rPr>
              <a:t> 확정 후 </a:t>
            </a:r>
            <a:r>
              <a:rPr lang="en-US" altLang="ko-KR" sz="2000" dirty="0">
                <a:solidFill>
                  <a:srgbClr val="FF0000"/>
                </a:solidFill>
              </a:rPr>
              <a:t>3</a:t>
            </a:r>
            <a:r>
              <a:rPr lang="ko-KR" altLang="en-US" sz="2000" dirty="0">
                <a:solidFill>
                  <a:srgbClr val="FF0000"/>
                </a:solidFill>
              </a:rPr>
              <a:t>년</a:t>
            </a:r>
            <a:r>
              <a:rPr lang="en-US" altLang="ko-KR" sz="2000" dirty="0">
                <a:solidFill>
                  <a:srgbClr val="FF0000"/>
                </a:solidFill>
              </a:rPr>
              <a:t>(</a:t>
            </a:r>
            <a:r>
              <a:rPr lang="ko-KR" altLang="en-US" sz="2000" dirty="0">
                <a:solidFill>
                  <a:srgbClr val="FF0000"/>
                </a:solidFill>
              </a:rPr>
              <a:t>제</a:t>
            </a:r>
            <a:r>
              <a:rPr lang="en-US" altLang="ko-KR" sz="2000" dirty="0">
                <a:solidFill>
                  <a:srgbClr val="FF0000"/>
                </a:solidFill>
              </a:rPr>
              <a:t>180</a:t>
            </a:r>
            <a:r>
              <a:rPr lang="ko-KR" altLang="en-US" sz="2000" dirty="0">
                <a:solidFill>
                  <a:srgbClr val="FF0000"/>
                </a:solidFill>
              </a:rPr>
              <a:t>조제</a:t>
            </a:r>
            <a:r>
              <a:rPr lang="en-US" altLang="ko-KR" sz="2000" dirty="0">
                <a:solidFill>
                  <a:srgbClr val="FF0000"/>
                </a:solidFill>
              </a:rPr>
              <a:t>3</a:t>
            </a:r>
            <a:r>
              <a:rPr lang="ko-KR" altLang="en-US" sz="2000" dirty="0">
                <a:solidFill>
                  <a:srgbClr val="FF0000"/>
                </a:solidFill>
              </a:rPr>
              <a:t>항</a:t>
            </a:r>
            <a:r>
              <a:rPr lang="en-US" altLang="ko-KR" sz="2000" dirty="0">
                <a:solidFill>
                  <a:srgbClr val="FF0000"/>
                </a:solidFill>
              </a:rPr>
              <a:t>)</a:t>
            </a:r>
            <a:endParaRPr lang="ko-KR" altLang="en-US" sz="2000" dirty="0">
              <a:solidFill>
                <a:srgbClr val="FF0000"/>
              </a:solidFill>
            </a:endParaRPr>
          </a:p>
        </p:txBody>
      </p:sp>
      <p:cxnSp>
        <p:nvCxnSpPr>
          <p:cNvPr id="7" name="직선 연결선 6"/>
          <p:cNvCxnSpPr/>
          <p:nvPr/>
        </p:nvCxnSpPr>
        <p:spPr>
          <a:xfrm>
            <a:off x="685800" y="3560943"/>
            <a:ext cx="2116667"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직선 연결선 28"/>
          <p:cNvCxnSpPr/>
          <p:nvPr/>
        </p:nvCxnSpPr>
        <p:spPr>
          <a:xfrm>
            <a:off x="0" y="236951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77875" y="986046"/>
            <a:ext cx="11936323" cy="1384995"/>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180</a:t>
            </a:r>
            <a:r>
              <a:rPr lang="ko-KR" altLang="en-US" sz="1400" b="1" dirty="0">
                <a:solidFill>
                  <a:schemeClr val="accent1"/>
                </a:solidFill>
              </a:rPr>
              <a:t>조</a:t>
            </a:r>
            <a:r>
              <a:rPr lang="en-US" altLang="ko-KR" sz="1400" b="1" dirty="0">
                <a:solidFill>
                  <a:schemeClr val="accent1"/>
                </a:solidFill>
              </a:rPr>
              <a:t>(</a:t>
            </a:r>
            <a:r>
              <a:rPr lang="ko-KR" altLang="en-US" sz="1400" b="1" dirty="0">
                <a:solidFill>
                  <a:schemeClr val="accent1"/>
                </a:solidFill>
              </a:rPr>
              <a:t>재심청구의 기간</a:t>
            </a:r>
            <a:r>
              <a:rPr lang="en-US" altLang="ko-KR" sz="1400" b="1" dirty="0">
                <a:solidFill>
                  <a:schemeClr val="accent1"/>
                </a:solidFill>
              </a:rPr>
              <a:t>) </a:t>
            </a:r>
            <a:r>
              <a:rPr lang="en-US" altLang="ko-KR" sz="1400" dirty="0">
                <a:solidFill>
                  <a:schemeClr val="tx2"/>
                </a:solidFill>
              </a:rPr>
              <a:t>① </a:t>
            </a:r>
            <a:r>
              <a:rPr lang="ko-KR" altLang="en-US" sz="1400" dirty="0">
                <a:solidFill>
                  <a:schemeClr val="tx2"/>
                </a:solidFill>
              </a:rPr>
              <a:t>당사자는 특허취소결정 또는 </a:t>
            </a:r>
            <a:r>
              <a:rPr lang="ko-KR" altLang="en-US" sz="1400" dirty="0" err="1">
                <a:solidFill>
                  <a:schemeClr val="tx2"/>
                </a:solidFill>
              </a:rPr>
              <a:t>심결</a:t>
            </a:r>
            <a:r>
              <a:rPr lang="ko-KR" altLang="en-US" sz="1400" dirty="0">
                <a:solidFill>
                  <a:schemeClr val="tx2"/>
                </a:solidFill>
              </a:rPr>
              <a:t> 확정 후 재심사유를 안 날부터 </a:t>
            </a:r>
            <a:r>
              <a:rPr lang="en-US" altLang="ko-KR" sz="1400" dirty="0">
                <a:solidFill>
                  <a:schemeClr val="tx2"/>
                </a:solidFill>
              </a:rPr>
              <a:t>30</a:t>
            </a:r>
            <a:r>
              <a:rPr lang="ko-KR" altLang="en-US" sz="1400" dirty="0">
                <a:solidFill>
                  <a:schemeClr val="tx2"/>
                </a:solidFill>
              </a:rPr>
              <a:t>일 이내에 재심을 청구하여야 한다</a:t>
            </a:r>
            <a:r>
              <a:rPr lang="en-US" altLang="ko-KR" sz="1400" dirty="0">
                <a:solidFill>
                  <a:schemeClr val="tx2"/>
                </a:solidFill>
              </a:rPr>
              <a:t>.</a:t>
            </a:r>
          </a:p>
          <a:p>
            <a:pPr fontAlgn="base"/>
            <a:r>
              <a:rPr lang="en-US" altLang="ko-KR" sz="1400" dirty="0">
                <a:solidFill>
                  <a:schemeClr val="tx2"/>
                </a:solidFill>
              </a:rPr>
              <a:t>② </a:t>
            </a:r>
            <a:r>
              <a:rPr lang="ko-KR" altLang="en-US" sz="1400" dirty="0">
                <a:solidFill>
                  <a:schemeClr val="tx2"/>
                </a:solidFill>
              </a:rPr>
              <a:t>대리권의 흠을 이유로 재심을 청구하는 경우에 제</a:t>
            </a:r>
            <a:r>
              <a:rPr lang="en-US" altLang="ko-KR" sz="1400" dirty="0">
                <a:solidFill>
                  <a:schemeClr val="tx2"/>
                </a:solidFill>
              </a:rPr>
              <a:t>1</a:t>
            </a:r>
            <a:r>
              <a:rPr lang="ko-KR" altLang="en-US" sz="1400" dirty="0">
                <a:solidFill>
                  <a:schemeClr val="tx2"/>
                </a:solidFill>
              </a:rPr>
              <a:t>항의 기간은 청구인 또는 법정대리인이 특허취소결정등본 또는 </a:t>
            </a:r>
            <a:r>
              <a:rPr lang="ko-KR" altLang="en-US" sz="1400" dirty="0" err="1">
                <a:solidFill>
                  <a:schemeClr val="tx2"/>
                </a:solidFill>
              </a:rPr>
              <a:t>심결등본의</a:t>
            </a:r>
            <a:r>
              <a:rPr lang="ko-KR" altLang="en-US" sz="1400" dirty="0">
                <a:solidFill>
                  <a:schemeClr val="tx2"/>
                </a:solidFill>
              </a:rPr>
              <a:t> 송달에 의하여 특허취소결정 또는 </a:t>
            </a:r>
            <a:r>
              <a:rPr lang="ko-KR" altLang="en-US" sz="1400" dirty="0" err="1">
                <a:solidFill>
                  <a:schemeClr val="tx2"/>
                </a:solidFill>
              </a:rPr>
              <a:t>심결이</a:t>
            </a:r>
            <a:r>
              <a:rPr lang="ko-KR" altLang="en-US" sz="1400" dirty="0">
                <a:solidFill>
                  <a:schemeClr val="tx2"/>
                </a:solidFill>
              </a:rPr>
              <a:t> 있는 것을 안 날의 다음 날부터 기산한다</a:t>
            </a:r>
            <a:r>
              <a:rPr lang="en-US" altLang="ko-KR" sz="1400" dirty="0">
                <a:solidFill>
                  <a:schemeClr val="tx2"/>
                </a:solidFill>
              </a:rPr>
              <a:t>.</a:t>
            </a:r>
          </a:p>
          <a:p>
            <a:pPr fontAlgn="base"/>
            <a:r>
              <a:rPr lang="en-US" altLang="ko-KR" sz="1400" dirty="0">
                <a:solidFill>
                  <a:schemeClr val="tx2"/>
                </a:solidFill>
              </a:rPr>
              <a:t>③ </a:t>
            </a:r>
            <a:r>
              <a:rPr lang="ko-KR" altLang="en-US" sz="1400" dirty="0">
                <a:solidFill>
                  <a:schemeClr val="tx2"/>
                </a:solidFill>
              </a:rPr>
              <a:t>특허취소결정 또는 </a:t>
            </a:r>
            <a:r>
              <a:rPr lang="ko-KR" altLang="en-US" sz="1400" dirty="0" err="1">
                <a:solidFill>
                  <a:schemeClr val="tx2"/>
                </a:solidFill>
              </a:rPr>
              <a:t>심결</a:t>
            </a:r>
            <a:r>
              <a:rPr lang="ko-KR" altLang="en-US" sz="1400" dirty="0">
                <a:solidFill>
                  <a:schemeClr val="tx2"/>
                </a:solidFill>
              </a:rPr>
              <a:t> 확정 후 </a:t>
            </a:r>
            <a:r>
              <a:rPr lang="en-US" altLang="ko-KR" sz="1400" dirty="0">
                <a:solidFill>
                  <a:schemeClr val="tx2"/>
                </a:solidFill>
              </a:rPr>
              <a:t>3</a:t>
            </a:r>
            <a:r>
              <a:rPr lang="ko-KR" altLang="en-US" sz="1400" dirty="0">
                <a:solidFill>
                  <a:schemeClr val="tx2"/>
                </a:solidFill>
              </a:rPr>
              <a:t>년이 지나면 재심을 청구할 수 없다</a:t>
            </a:r>
            <a:r>
              <a:rPr lang="en-US" altLang="ko-KR" sz="1400" dirty="0">
                <a:solidFill>
                  <a:schemeClr val="tx2"/>
                </a:solidFill>
              </a:rPr>
              <a:t>.</a:t>
            </a:r>
          </a:p>
          <a:p>
            <a:pPr fontAlgn="base"/>
            <a:r>
              <a:rPr lang="en-US" altLang="ko-KR" sz="1400" dirty="0">
                <a:solidFill>
                  <a:schemeClr val="tx2"/>
                </a:solidFill>
              </a:rPr>
              <a:t>④ </a:t>
            </a:r>
            <a:r>
              <a:rPr lang="ko-KR" altLang="en-US" sz="1400" dirty="0">
                <a:solidFill>
                  <a:schemeClr val="tx2"/>
                </a:solidFill>
              </a:rPr>
              <a:t>재심사유가 특허취소결정 또는 </a:t>
            </a:r>
            <a:r>
              <a:rPr lang="ko-KR" altLang="en-US" sz="1400" dirty="0" err="1">
                <a:solidFill>
                  <a:schemeClr val="tx2"/>
                </a:solidFill>
              </a:rPr>
              <a:t>심결</a:t>
            </a:r>
            <a:r>
              <a:rPr lang="ko-KR" altLang="en-US" sz="1400" dirty="0">
                <a:solidFill>
                  <a:schemeClr val="tx2"/>
                </a:solidFill>
              </a:rPr>
              <a:t> 확정 후에 생겼을 때에는 제</a:t>
            </a:r>
            <a:r>
              <a:rPr lang="en-US" altLang="ko-KR" sz="1400" dirty="0">
                <a:solidFill>
                  <a:schemeClr val="tx2"/>
                </a:solidFill>
              </a:rPr>
              <a:t>3</a:t>
            </a:r>
            <a:r>
              <a:rPr lang="ko-KR" altLang="en-US" sz="1400" dirty="0">
                <a:solidFill>
                  <a:schemeClr val="tx2"/>
                </a:solidFill>
              </a:rPr>
              <a:t>항의 기간은 그 사유가 발생한 날의 다음 날부터 기산한다</a:t>
            </a:r>
            <a:r>
              <a:rPr lang="en-US" altLang="ko-KR" sz="1400" dirty="0">
                <a:solidFill>
                  <a:schemeClr val="tx2"/>
                </a:solidFill>
              </a:rPr>
              <a:t>. </a:t>
            </a:r>
          </a:p>
          <a:p>
            <a:pPr fontAlgn="base"/>
            <a:r>
              <a:rPr lang="en-US" altLang="ko-KR" sz="1400" dirty="0">
                <a:solidFill>
                  <a:schemeClr val="tx2"/>
                </a:solidFill>
              </a:rPr>
              <a:t>⑤ </a:t>
            </a:r>
            <a:r>
              <a:rPr lang="ko-KR" altLang="en-US" sz="1400" dirty="0">
                <a:solidFill>
                  <a:schemeClr val="tx2"/>
                </a:solidFill>
              </a:rPr>
              <a:t>제</a:t>
            </a:r>
            <a:r>
              <a:rPr lang="en-US" altLang="ko-KR" sz="1400" dirty="0">
                <a:solidFill>
                  <a:schemeClr val="tx2"/>
                </a:solidFill>
              </a:rPr>
              <a:t>1</a:t>
            </a:r>
            <a:r>
              <a:rPr lang="ko-KR" altLang="en-US" sz="1400" dirty="0">
                <a:solidFill>
                  <a:schemeClr val="tx2"/>
                </a:solidFill>
              </a:rPr>
              <a:t>항 및 제</a:t>
            </a:r>
            <a:r>
              <a:rPr lang="en-US" altLang="ko-KR" sz="1400" dirty="0">
                <a:solidFill>
                  <a:schemeClr val="tx2"/>
                </a:solidFill>
              </a:rPr>
              <a:t>3</a:t>
            </a:r>
            <a:r>
              <a:rPr lang="ko-KR" altLang="en-US" sz="1400" dirty="0">
                <a:solidFill>
                  <a:schemeClr val="tx2"/>
                </a:solidFill>
              </a:rPr>
              <a:t>항은 해당 </a:t>
            </a:r>
            <a:r>
              <a:rPr lang="ko-KR" altLang="en-US" sz="1400" dirty="0" err="1">
                <a:solidFill>
                  <a:schemeClr val="tx2"/>
                </a:solidFill>
              </a:rPr>
              <a:t>심결</a:t>
            </a:r>
            <a:r>
              <a:rPr lang="ko-KR" altLang="en-US" sz="1400" dirty="0">
                <a:solidFill>
                  <a:schemeClr val="tx2"/>
                </a:solidFill>
              </a:rPr>
              <a:t> 이전의 </a:t>
            </a:r>
            <a:r>
              <a:rPr lang="ko-KR" altLang="en-US" sz="1400" dirty="0" err="1">
                <a:solidFill>
                  <a:schemeClr val="tx2"/>
                </a:solidFill>
              </a:rPr>
              <a:t>확정심결에</a:t>
            </a:r>
            <a:r>
              <a:rPr lang="ko-KR" altLang="en-US" sz="1400" dirty="0">
                <a:solidFill>
                  <a:schemeClr val="tx2"/>
                </a:solidFill>
              </a:rPr>
              <a:t> 저촉된다는 이유로 재심을 청구하는 경우에는 적용하지 아니한다</a:t>
            </a:r>
            <a:r>
              <a:rPr lang="en-US" altLang="ko-KR" sz="1400" dirty="0">
                <a:solidFill>
                  <a:schemeClr val="tx2"/>
                </a:solidFill>
              </a:rPr>
              <a:t>.</a:t>
            </a:r>
            <a:endParaRPr lang="ko-KR" altLang="en-US" sz="1400" dirty="0">
              <a:solidFill>
                <a:schemeClr val="tx2"/>
              </a:solidFill>
            </a:endParaRPr>
          </a:p>
        </p:txBody>
      </p:sp>
      <p:sp>
        <p:nvSpPr>
          <p:cNvPr id="32" name="TextBox 31"/>
          <p:cNvSpPr txBox="1"/>
          <p:nvPr/>
        </p:nvSpPr>
        <p:spPr>
          <a:xfrm>
            <a:off x="557031" y="4837232"/>
            <a:ext cx="4226635" cy="338554"/>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r>
              <a:rPr lang="ko-KR" altLang="en-US" sz="1600" dirty="0"/>
              <a:t>대리권의 흠을 이유로 재심을 청구</a:t>
            </a:r>
            <a:r>
              <a:rPr lang="en-US" altLang="ko-KR" sz="1600" dirty="0"/>
              <a:t>(</a:t>
            </a:r>
            <a:r>
              <a:rPr lang="ko-KR" altLang="en-US" sz="1600" dirty="0"/>
              <a:t>제</a:t>
            </a:r>
            <a:r>
              <a:rPr lang="en-US" altLang="ko-KR" sz="1600" dirty="0"/>
              <a:t>180</a:t>
            </a:r>
            <a:r>
              <a:rPr lang="ko-KR" altLang="en-US" sz="1600" dirty="0"/>
              <a:t>조제</a:t>
            </a:r>
            <a:r>
              <a:rPr lang="en-US" altLang="ko-KR" sz="1600" dirty="0"/>
              <a:t>2</a:t>
            </a:r>
            <a:r>
              <a:rPr lang="ko-KR" altLang="en-US" sz="1600" dirty="0"/>
              <a:t>항</a:t>
            </a:r>
            <a:r>
              <a:rPr lang="en-US" altLang="ko-KR" sz="1600" dirty="0"/>
              <a:t>)</a:t>
            </a:r>
            <a:endParaRPr lang="ko-KR" altLang="en-US" sz="1600" dirty="0"/>
          </a:p>
        </p:txBody>
      </p:sp>
      <p:sp>
        <p:nvSpPr>
          <p:cNvPr id="33" name="TextBox 32"/>
          <p:cNvSpPr txBox="1"/>
          <p:nvPr/>
        </p:nvSpPr>
        <p:spPr>
          <a:xfrm>
            <a:off x="4792182" y="4837232"/>
            <a:ext cx="2998968" cy="338554"/>
          </a:xfrm>
          <a:prstGeom prst="rect">
            <a:avLst/>
          </a:prstGeom>
          <a:noFill/>
          <a:ln>
            <a:noFill/>
          </a:ln>
        </p:spPr>
        <p:txBody>
          <a:bodyPr wrap="square" rtlCol="0">
            <a:spAutoFit/>
          </a:bodyPr>
          <a:lstStyle/>
          <a:p>
            <a:r>
              <a:rPr lang="ko-KR" altLang="en-US" sz="1600" dirty="0"/>
              <a:t>등본 송달일의 다음 날 기산</a:t>
            </a:r>
          </a:p>
        </p:txBody>
      </p:sp>
      <p:cxnSp>
        <p:nvCxnSpPr>
          <p:cNvPr id="35" name="꺾인 연결선 34"/>
          <p:cNvCxnSpPr>
            <a:stCxn id="32" idx="0"/>
          </p:cNvCxnSpPr>
          <p:nvPr/>
        </p:nvCxnSpPr>
        <p:spPr>
          <a:xfrm rot="16200000" flipV="1">
            <a:off x="1593310" y="3760193"/>
            <a:ext cx="1276288" cy="87779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직선 연결선 36"/>
          <p:cNvCxnSpPr/>
          <p:nvPr/>
        </p:nvCxnSpPr>
        <p:spPr>
          <a:xfrm>
            <a:off x="2924446" y="3560943"/>
            <a:ext cx="1058333"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3453612" y="4029811"/>
            <a:ext cx="2117455" cy="338554"/>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algn="ctr"/>
            <a:r>
              <a:rPr lang="ko-KR" altLang="en-US" sz="1600" dirty="0"/>
              <a:t>추후보완 가능</a:t>
            </a:r>
            <a:r>
              <a:rPr lang="en-US" altLang="ko-KR" sz="1600" dirty="0"/>
              <a:t>(</a:t>
            </a:r>
            <a:r>
              <a:rPr lang="ko-KR" altLang="en-US" sz="1600" dirty="0"/>
              <a:t>제</a:t>
            </a:r>
            <a:r>
              <a:rPr lang="en-US" altLang="ko-KR" sz="1600" dirty="0"/>
              <a:t>17</a:t>
            </a:r>
            <a:r>
              <a:rPr lang="ko-KR" altLang="en-US" sz="1600" dirty="0"/>
              <a:t>조</a:t>
            </a:r>
            <a:r>
              <a:rPr lang="en-US" altLang="ko-KR" sz="1600" dirty="0"/>
              <a:t>)</a:t>
            </a:r>
            <a:endParaRPr lang="ko-KR" altLang="en-US" sz="1600" dirty="0"/>
          </a:p>
        </p:txBody>
      </p:sp>
      <p:cxnSp>
        <p:nvCxnSpPr>
          <p:cNvPr id="43" name="꺾인 연결선 42"/>
          <p:cNvCxnSpPr>
            <a:stCxn id="39" idx="1"/>
          </p:cNvCxnSpPr>
          <p:nvPr/>
        </p:nvCxnSpPr>
        <p:spPr>
          <a:xfrm rot="10800000" flipH="1">
            <a:off x="3453612" y="3560948"/>
            <a:ext cx="119320" cy="638141"/>
          </a:xfrm>
          <a:prstGeom prst="bentConnector4">
            <a:avLst>
              <a:gd name="adj1" fmla="val -191586"/>
              <a:gd name="adj2" fmla="val 6326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직선 연결선 45"/>
          <p:cNvCxnSpPr>
            <a:cxnSpLocks/>
          </p:cNvCxnSpPr>
          <p:nvPr/>
        </p:nvCxnSpPr>
        <p:spPr>
          <a:xfrm>
            <a:off x="6003985" y="3560943"/>
            <a:ext cx="3673415" cy="0"/>
          </a:xfrm>
          <a:prstGeom prst="line">
            <a:avLst/>
          </a:prstGeom>
          <a:ln w="285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5450766" y="5638991"/>
            <a:ext cx="3532368" cy="338554"/>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r>
              <a:rPr lang="ko-KR" altLang="en-US" sz="1600" dirty="0"/>
              <a:t>확정 후에 재심사유 발생</a:t>
            </a:r>
            <a:r>
              <a:rPr lang="en-US" altLang="ko-KR" sz="1600" dirty="0"/>
              <a:t>(</a:t>
            </a:r>
            <a:r>
              <a:rPr lang="ko-KR" altLang="en-US" sz="1600" dirty="0"/>
              <a:t>제</a:t>
            </a:r>
            <a:r>
              <a:rPr lang="en-US" altLang="ko-KR" sz="1600" dirty="0"/>
              <a:t>180</a:t>
            </a:r>
            <a:r>
              <a:rPr lang="ko-KR" altLang="en-US" sz="1600" dirty="0"/>
              <a:t>조제</a:t>
            </a:r>
            <a:r>
              <a:rPr lang="en-US" altLang="ko-KR" sz="1600" dirty="0"/>
              <a:t>4</a:t>
            </a:r>
            <a:r>
              <a:rPr lang="ko-KR" altLang="en-US" sz="1600" dirty="0"/>
              <a:t>항</a:t>
            </a:r>
            <a:r>
              <a:rPr lang="en-US" altLang="ko-KR" sz="1600" dirty="0"/>
              <a:t>)</a:t>
            </a:r>
            <a:endParaRPr lang="ko-KR" altLang="en-US" sz="1600" dirty="0"/>
          </a:p>
        </p:txBody>
      </p:sp>
      <p:sp>
        <p:nvSpPr>
          <p:cNvPr id="50" name="TextBox 49"/>
          <p:cNvSpPr txBox="1"/>
          <p:nvPr/>
        </p:nvSpPr>
        <p:spPr>
          <a:xfrm>
            <a:off x="8983134" y="5638991"/>
            <a:ext cx="2998968" cy="338554"/>
          </a:xfrm>
          <a:prstGeom prst="rect">
            <a:avLst/>
          </a:prstGeom>
          <a:noFill/>
          <a:ln>
            <a:noFill/>
          </a:ln>
        </p:spPr>
        <p:txBody>
          <a:bodyPr wrap="square" rtlCol="0">
            <a:spAutoFit/>
          </a:bodyPr>
          <a:lstStyle/>
          <a:p>
            <a:r>
              <a:rPr lang="ko-KR" altLang="en-US" sz="1600" dirty="0"/>
              <a:t>사유발생일의 다음 날 기산</a:t>
            </a:r>
          </a:p>
        </p:txBody>
      </p:sp>
      <p:cxnSp>
        <p:nvCxnSpPr>
          <p:cNvPr id="52" name="꺾인 연결선 51"/>
          <p:cNvCxnSpPr>
            <a:endCxn id="49" idx="0"/>
          </p:cNvCxnSpPr>
          <p:nvPr/>
        </p:nvCxnSpPr>
        <p:spPr>
          <a:xfrm rot="5400000">
            <a:off x="6974237" y="3803661"/>
            <a:ext cx="2078043" cy="159261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3" name="직사각형 52"/>
          <p:cNvSpPr/>
          <p:nvPr/>
        </p:nvSpPr>
        <p:spPr>
          <a:xfrm>
            <a:off x="448733" y="2971800"/>
            <a:ext cx="11142134" cy="702733"/>
          </a:xfrm>
          <a:prstGeom prst="rect">
            <a:avLst/>
          </a:prstGeom>
          <a:no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4" name="TextBox 53"/>
          <p:cNvSpPr txBox="1"/>
          <p:nvPr/>
        </p:nvSpPr>
        <p:spPr>
          <a:xfrm>
            <a:off x="6279614" y="2633246"/>
            <a:ext cx="2864386" cy="338554"/>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algn="ctr"/>
            <a:r>
              <a:rPr lang="ko-KR" altLang="en-US" sz="1600" dirty="0" err="1"/>
              <a:t>확정심결과</a:t>
            </a:r>
            <a:r>
              <a:rPr lang="ko-KR" altLang="en-US" sz="1600" dirty="0"/>
              <a:t> 저촉</a:t>
            </a:r>
            <a:r>
              <a:rPr lang="en-US" altLang="ko-KR" sz="1600" dirty="0"/>
              <a:t>(</a:t>
            </a:r>
            <a:r>
              <a:rPr lang="ko-KR" altLang="en-US" sz="1600" dirty="0"/>
              <a:t>제</a:t>
            </a:r>
            <a:r>
              <a:rPr lang="en-US" altLang="ko-KR" sz="1600" dirty="0"/>
              <a:t>180</a:t>
            </a:r>
            <a:r>
              <a:rPr lang="ko-KR" altLang="en-US" sz="1600" dirty="0"/>
              <a:t>조제</a:t>
            </a:r>
            <a:r>
              <a:rPr lang="en-US" altLang="ko-KR" sz="1600" dirty="0"/>
              <a:t>5</a:t>
            </a:r>
            <a:r>
              <a:rPr lang="ko-KR" altLang="en-US" sz="1600" dirty="0"/>
              <a:t>항</a:t>
            </a:r>
            <a:r>
              <a:rPr lang="en-US" altLang="ko-KR" sz="1600" dirty="0"/>
              <a:t>)</a:t>
            </a:r>
            <a:endParaRPr lang="ko-KR" altLang="en-US" sz="1600" dirty="0"/>
          </a:p>
        </p:txBody>
      </p:sp>
      <p:sp>
        <p:nvSpPr>
          <p:cNvPr id="55" name="TextBox 54"/>
          <p:cNvSpPr txBox="1"/>
          <p:nvPr/>
        </p:nvSpPr>
        <p:spPr>
          <a:xfrm>
            <a:off x="9144000" y="2635899"/>
            <a:ext cx="2116667" cy="338554"/>
          </a:xfrm>
          <a:prstGeom prst="rect">
            <a:avLst/>
          </a:prstGeom>
          <a:noFill/>
          <a:ln>
            <a:noFill/>
          </a:ln>
        </p:spPr>
        <p:txBody>
          <a:bodyPr wrap="square" rtlCol="0">
            <a:spAutoFit/>
          </a:bodyPr>
          <a:lstStyle/>
          <a:p>
            <a:r>
              <a:rPr lang="ko-KR" altLang="en-US" sz="1600" dirty="0"/>
              <a:t>기간 제한</a:t>
            </a:r>
            <a:r>
              <a:rPr lang="en-US" altLang="ko-KR" sz="1600" dirty="0"/>
              <a:t>×</a:t>
            </a:r>
            <a:endParaRPr lang="ko-KR" altLang="en-US" sz="1600" dirty="0"/>
          </a:p>
        </p:txBody>
      </p:sp>
      <p:sp>
        <p:nvSpPr>
          <p:cNvPr id="2" name="슬라이드 번호 개체 틀 1"/>
          <p:cNvSpPr>
            <a:spLocks noGrp="1"/>
          </p:cNvSpPr>
          <p:nvPr>
            <p:ph type="sldNum" sz="quarter" idx="4294967295"/>
          </p:nvPr>
        </p:nvSpPr>
        <p:spPr>
          <a:xfrm>
            <a:off x="11125200" y="0"/>
            <a:ext cx="1066800" cy="711200"/>
          </a:xfrm>
        </p:spPr>
        <p:txBody>
          <a:bodyPr/>
          <a:lstStyle/>
          <a:p>
            <a:r>
              <a:rPr lang="en-US" altLang="ko-KR"/>
              <a:t>518</a:t>
            </a:r>
            <a:endParaRPr lang="ko-KR" altLang="en-US" dirty="0"/>
          </a:p>
        </p:txBody>
      </p:sp>
    </p:spTree>
    <p:extLst>
      <p:ext uri="{BB962C8B-B14F-4D97-AF65-F5344CB8AC3E}">
        <p14:creationId xmlns:p14="http://schemas.microsoft.com/office/powerpoint/2010/main" val="1404951051"/>
      </p:ext>
    </p:extLst>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2"/>
          <p:cNvSpPr/>
          <p:nvPr/>
        </p:nvSpPr>
        <p:spPr>
          <a:xfrm>
            <a:off x="736300" y="3079372"/>
            <a:ext cx="1024766" cy="914400"/>
          </a:xfrm>
          <a:prstGeom prst="rect">
            <a:avLst/>
          </a:prstGeom>
          <a:solidFill>
            <a:schemeClr val="accent6">
              <a:lumMod val="50000"/>
            </a:schemeClr>
          </a:solidFill>
          <a:ln w="381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2400" dirty="0">
                <a:solidFill>
                  <a:schemeClr val="bg1"/>
                </a:solidFill>
              </a:rPr>
              <a:t>소송</a:t>
            </a:r>
            <a:endParaRPr lang="en-US" altLang="ko-KR" sz="2400" dirty="0">
              <a:solidFill>
                <a:schemeClr val="bg1"/>
              </a:solidFill>
            </a:endParaRPr>
          </a:p>
          <a:p>
            <a:pPr algn="ctr"/>
            <a:r>
              <a:rPr lang="ko-KR" altLang="en-US" sz="2400" dirty="0">
                <a:solidFill>
                  <a:schemeClr val="bg1"/>
                </a:solidFill>
              </a:rPr>
              <a:t>제도</a:t>
            </a:r>
          </a:p>
        </p:txBody>
      </p:sp>
      <p:sp>
        <p:nvSpPr>
          <p:cNvPr id="12" name="직사각형 11"/>
          <p:cNvSpPr/>
          <p:nvPr/>
        </p:nvSpPr>
        <p:spPr>
          <a:xfrm>
            <a:off x="2905626" y="1776248"/>
            <a:ext cx="1440160" cy="434464"/>
          </a:xfrm>
          <a:prstGeom prst="rect">
            <a:avLst/>
          </a:prstGeom>
          <a:solidFill>
            <a:schemeClr val="accent4"/>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소송요건</a:t>
            </a:r>
            <a:endParaRPr lang="en-US" altLang="ko-KR" sz="1100" dirty="0"/>
          </a:p>
          <a:p>
            <a:pPr algn="ctr"/>
            <a:r>
              <a:rPr lang="en-US" altLang="ko-KR" sz="1100" dirty="0"/>
              <a:t>(</a:t>
            </a:r>
            <a:r>
              <a:rPr lang="ko-KR" altLang="en-US" sz="1100" dirty="0"/>
              <a:t>法</a:t>
            </a:r>
            <a:r>
              <a:rPr lang="en-US" altLang="ko-KR" sz="1100" dirty="0"/>
              <a:t> 186, 187)</a:t>
            </a:r>
            <a:endParaRPr lang="ko-KR" altLang="en-US" sz="1100" dirty="0"/>
          </a:p>
        </p:txBody>
      </p:sp>
      <p:sp>
        <p:nvSpPr>
          <p:cNvPr id="13" name="직사각형 12"/>
          <p:cNvSpPr/>
          <p:nvPr/>
        </p:nvSpPr>
        <p:spPr>
          <a:xfrm>
            <a:off x="2905626" y="2986247"/>
            <a:ext cx="1440160" cy="43446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소송의 제기</a:t>
            </a:r>
          </a:p>
        </p:txBody>
      </p:sp>
      <p:sp>
        <p:nvSpPr>
          <p:cNvPr id="20" name="직사각형 19"/>
          <p:cNvSpPr/>
          <p:nvPr/>
        </p:nvSpPr>
        <p:spPr>
          <a:xfrm>
            <a:off x="2905626" y="4215607"/>
            <a:ext cx="1440160" cy="434464"/>
          </a:xfrm>
          <a:prstGeom prst="rect">
            <a:avLst/>
          </a:prstGeom>
          <a:solidFill>
            <a:schemeClr val="accent4"/>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소송의 심리</a:t>
            </a:r>
          </a:p>
        </p:txBody>
      </p:sp>
      <p:sp>
        <p:nvSpPr>
          <p:cNvPr id="21" name="직사각형 20"/>
          <p:cNvSpPr/>
          <p:nvPr/>
        </p:nvSpPr>
        <p:spPr>
          <a:xfrm>
            <a:off x="2905626" y="5472099"/>
            <a:ext cx="1440160" cy="43446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소송의 종료</a:t>
            </a:r>
          </a:p>
        </p:txBody>
      </p:sp>
      <p:sp>
        <p:nvSpPr>
          <p:cNvPr id="22" name="직사각형 21"/>
          <p:cNvSpPr/>
          <p:nvPr/>
        </p:nvSpPr>
        <p:spPr>
          <a:xfrm>
            <a:off x="5360193" y="1113837"/>
            <a:ext cx="2568674" cy="223614"/>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err="1"/>
              <a:t>소송물</a:t>
            </a:r>
            <a:endParaRPr lang="ko-KR" altLang="en-US" sz="1100" dirty="0"/>
          </a:p>
        </p:txBody>
      </p:sp>
      <p:sp>
        <p:nvSpPr>
          <p:cNvPr id="23" name="직사각형 22"/>
          <p:cNvSpPr/>
          <p:nvPr/>
        </p:nvSpPr>
        <p:spPr>
          <a:xfrm>
            <a:off x="5360193" y="1399215"/>
            <a:ext cx="2568674" cy="223614"/>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소의 이익</a:t>
            </a:r>
          </a:p>
        </p:txBody>
      </p:sp>
      <p:sp>
        <p:nvSpPr>
          <p:cNvPr id="24" name="직사각형 23"/>
          <p:cNvSpPr/>
          <p:nvPr/>
        </p:nvSpPr>
        <p:spPr>
          <a:xfrm>
            <a:off x="5360193" y="1679657"/>
            <a:ext cx="2568674" cy="223614"/>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관할</a:t>
            </a:r>
          </a:p>
        </p:txBody>
      </p:sp>
      <p:sp>
        <p:nvSpPr>
          <p:cNvPr id="26" name="직사각형 25"/>
          <p:cNvSpPr/>
          <p:nvPr/>
        </p:nvSpPr>
        <p:spPr>
          <a:xfrm>
            <a:off x="5360193" y="2805926"/>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소장의 제출</a:t>
            </a:r>
          </a:p>
        </p:txBody>
      </p:sp>
      <p:sp>
        <p:nvSpPr>
          <p:cNvPr id="27" name="직사각형 26"/>
          <p:cNvSpPr/>
          <p:nvPr/>
        </p:nvSpPr>
        <p:spPr>
          <a:xfrm>
            <a:off x="5360193" y="3091304"/>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심판원장에게 통지</a:t>
            </a:r>
            <a:r>
              <a:rPr lang="en-US" altLang="ko-KR" sz="1100" dirty="0"/>
              <a:t>(</a:t>
            </a:r>
            <a:r>
              <a:rPr lang="ko-KR" altLang="en-US" sz="1100" dirty="0"/>
              <a:t>法</a:t>
            </a:r>
            <a:r>
              <a:rPr lang="en-US" altLang="ko-KR" sz="1100" dirty="0"/>
              <a:t> 188)</a:t>
            </a:r>
            <a:endParaRPr lang="ko-KR" altLang="en-US" sz="1100" dirty="0"/>
          </a:p>
        </p:txBody>
      </p:sp>
      <p:sp>
        <p:nvSpPr>
          <p:cNvPr id="29" name="직사각형 28"/>
          <p:cNvSpPr/>
          <p:nvPr/>
        </p:nvSpPr>
        <p:spPr>
          <a:xfrm>
            <a:off x="5360193" y="4315834"/>
            <a:ext cx="2568674" cy="223614"/>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err="1"/>
              <a:t>본안심리</a:t>
            </a:r>
            <a:endParaRPr lang="ko-KR" altLang="en-US" sz="1100" dirty="0"/>
          </a:p>
        </p:txBody>
      </p:sp>
      <p:sp>
        <p:nvSpPr>
          <p:cNvPr id="30" name="직사각형 29"/>
          <p:cNvSpPr/>
          <p:nvPr/>
        </p:nvSpPr>
        <p:spPr>
          <a:xfrm>
            <a:off x="5360193" y="4597628"/>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기술심리관의 관여</a:t>
            </a:r>
            <a:r>
              <a:rPr lang="en-US" altLang="ko-KR" sz="1100" dirty="0"/>
              <a:t>(</a:t>
            </a:r>
            <a:r>
              <a:rPr lang="ko-KR" altLang="en-US" sz="1100" dirty="0"/>
              <a:t>法</a:t>
            </a:r>
            <a:r>
              <a:rPr lang="en-US" altLang="ko-KR" sz="1100" dirty="0"/>
              <a:t> 188</a:t>
            </a:r>
            <a:r>
              <a:rPr lang="ko-KR" altLang="en-US" sz="1100" dirty="0"/>
              <a:t>의</a:t>
            </a:r>
            <a:r>
              <a:rPr lang="en-US" altLang="ko-KR" sz="1100" dirty="0"/>
              <a:t>2)</a:t>
            </a:r>
            <a:endParaRPr lang="ko-KR" altLang="en-US" sz="1100" dirty="0"/>
          </a:p>
        </p:txBody>
      </p:sp>
      <p:sp>
        <p:nvSpPr>
          <p:cNvPr id="32" name="직사각형 31"/>
          <p:cNvSpPr/>
          <p:nvPr/>
        </p:nvSpPr>
        <p:spPr>
          <a:xfrm>
            <a:off x="5360193" y="5421465"/>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당사자에 의한 종결</a:t>
            </a:r>
          </a:p>
        </p:txBody>
      </p:sp>
      <p:sp>
        <p:nvSpPr>
          <p:cNvPr id="33" name="직사각형 32"/>
          <p:cNvSpPr/>
          <p:nvPr/>
        </p:nvSpPr>
        <p:spPr>
          <a:xfrm>
            <a:off x="5360193" y="5703259"/>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종국판결에 의한 종결</a:t>
            </a:r>
            <a:r>
              <a:rPr lang="en-US" altLang="ko-KR" sz="1100" dirty="0"/>
              <a:t> (</a:t>
            </a:r>
            <a:r>
              <a:rPr lang="ko-KR" altLang="en-US" sz="1100" dirty="0"/>
              <a:t>法</a:t>
            </a:r>
            <a:r>
              <a:rPr lang="en-US" altLang="ko-KR" sz="1100" dirty="0"/>
              <a:t> 189)</a:t>
            </a:r>
            <a:endParaRPr lang="ko-KR" altLang="en-US" sz="1100" dirty="0"/>
          </a:p>
        </p:txBody>
      </p:sp>
      <p:cxnSp>
        <p:nvCxnSpPr>
          <p:cNvPr id="7" name="꺾인 연결선 6"/>
          <p:cNvCxnSpPr>
            <a:stCxn id="3" idx="3"/>
            <a:endCxn id="12" idx="1"/>
          </p:cNvCxnSpPr>
          <p:nvPr/>
        </p:nvCxnSpPr>
        <p:spPr>
          <a:xfrm flipV="1">
            <a:off x="1761066" y="1993480"/>
            <a:ext cx="1144560" cy="154309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꺾인 연결선 8"/>
          <p:cNvCxnSpPr>
            <a:stCxn id="3" idx="3"/>
            <a:endCxn id="21" idx="1"/>
          </p:cNvCxnSpPr>
          <p:nvPr/>
        </p:nvCxnSpPr>
        <p:spPr>
          <a:xfrm>
            <a:off x="1761066" y="3536572"/>
            <a:ext cx="1144560" cy="215275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꺾인 연결선 51"/>
          <p:cNvCxnSpPr>
            <a:stCxn id="3" idx="3"/>
            <a:endCxn id="13" idx="1"/>
          </p:cNvCxnSpPr>
          <p:nvPr/>
        </p:nvCxnSpPr>
        <p:spPr>
          <a:xfrm flipV="1">
            <a:off x="1761066" y="3203479"/>
            <a:ext cx="1144560" cy="33309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꺾인 연결선 53"/>
          <p:cNvCxnSpPr>
            <a:stCxn id="3" idx="3"/>
            <a:endCxn id="20" idx="1"/>
          </p:cNvCxnSpPr>
          <p:nvPr/>
        </p:nvCxnSpPr>
        <p:spPr>
          <a:xfrm>
            <a:off x="1761066" y="3536572"/>
            <a:ext cx="1144560" cy="89626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꺾인 연결선 55"/>
          <p:cNvCxnSpPr>
            <a:stCxn id="12" idx="3"/>
            <a:endCxn id="22" idx="1"/>
          </p:cNvCxnSpPr>
          <p:nvPr/>
        </p:nvCxnSpPr>
        <p:spPr>
          <a:xfrm flipV="1">
            <a:off x="4345786" y="1225644"/>
            <a:ext cx="1014407" cy="76783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꺾인 연결선 57"/>
          <p:cNvCxnSpPr>
            <a:stCxn id="12" idx="3"/>
            <a:endCxn id="24" idx="1"/>
          </p:cNvCxnSpPr>
          <p:nvPr/>
        </p:nvCxnSpPr>
        <p:spPr>
          <a:xfrm flipV="1">
            <a:off x="4345786" y="1791464"/>
            <a:ext cx="1014407" cy="20201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꺾인 연결선 59"/>
          <p:cNvCxnSpPr>
            <a:stCxn id="12" idx="3"/>
            <a:endCxn id="23" idx="1"/>
          </p:cNvCxnSpPr>
          <p:nvPr/>
        </p:nvCxnSpPr>
        <p:spPr>
          <a:xfrm flipV="1">
            <a:off x="4345786" y="1511022"/>
            <a:ext cx="1014407" cy="48245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꺾인 연결선 61"/>
          <p:cNvCxnSpPr>
            <a:stCxn id="13" idx="3"/>
            <a:endCxn id="26" idx="1"/>
          </p:cNvCxnSpPr>
          <p:nvPr/>
        </p:nvCxnSpPr>
        <p:spPr>
          <a:xfrm flipV="1">
            <a:off x="4345786" y="2917733"/>
            <a:ext cx="1014407" cy="28574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꺾인 연결선 63"/>
          <p:cNvCxnSpPr>
            <a:stCxn id="13" idx="3"/>
            <a:endCxn id="27" idx="1"/>
          </p:cNvCxnSpPr>
          <p:nvPr/>
        </p:nvCxnSpPr>
        <p:spPr>
          <a:xfrm flipV="1">
            <a:off x="4345786" y="3203111"/>
            <a:ext cx="1014407" cy="36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20" idx="3"/>
            <a:endCxn id="29" idx="1"/>
          </p:cNvCxnSpPr>
          <p:nvPr/>
        </p:nvCxnSpPr>
        <p:spPr>
          <a:xfrm flipV="1">
            <a:off x="4345786" y="4427641"/>
            <a:ext cx="1014407" cy="519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69"/>
          <p:cNvCxnSpPr>
            <a:stCxn id="20" idx="3"/>
            <a:endCxn id="30" idx="1"/>
          </p:cNvCxnSpPr>
          <p:nvPr/>
        </p:nvCxnSpPr>
        <p:spPr>
          <a:xfrm>
            <a:off x="4345786" y="4432839"/>
            <a:ext cx="1014407" cy="27659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꺾인 연결선 78"/>
          <p:cNvCxnSpPr>
            <a:stCxn id="21" idx="3"/>
            <a:endCxn id="32" idx="1"/>
          </p:cNvCxnSpPr>
          <p:nvPr/>
        </p:nvCxnSpPr>
        <p:spPr>
          <a:xfrm flipV="1">
            <a:off x="4345786" y="5533272"/>
            <a:ext cx="1014407" cy="15605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꺾인 연결선 80"/>
          <p:cNvCxnSpPr>
            <a:stCxn id="21" idx="3"/>
            <a:endCxn id="33" idx="1"/>
          </p:cNvCxnSpPr>
          <p:nvPr/>
        </p:nvCxnSpPr>
        <p:spPr>
          <a:xfrm>
            <a:off x="4345786" y="5689331"/>
            <a:ext cx="1014407" cy="12573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제목 45"/>
          <p:cNvSpPr>
            <a:spLocks noGrp="1"/>
          </p:cNvSpPr>
          <p:nvPr>
            <p:ph type="title"/>
          </p:nvPr>
        </p:nvSpPr>
        <p:spPr/>
        <p:txBody>
          <a:bodyPr/>
          <a:lstStyle/>
          <a:p>
            <a:r>
              <a:rPr lang="ko-KR" altLang="en-US" dirty="0"/>
              <a:t>참고노트</a:t>
            </a:r>
          </a:p>
        </p:txBody>
      </p:sp>
      <p:sp>
        <p:nvSpPr>
          <p:cNvPr id="47" name="텍스트 개체 틀 46"/>
          <p:cNvSpPr>
            <a:spLocks noGrp="1"/>
          </p:cNvSpPr>
          <p:nvPr>
            <p:ph type="body" sz="quarter" idx="13"/>
          </p:nvPr>
        </p:nvSpPr>
        <p:spPr/>
        <p:txBody>
          <a:bodyPr/>
          <a:lstStyle/>
          <a:p>
            <a:r>
              <a:rPr lang="ko-KR" altLang="en-US" dirty="0"/>
              <a:t>소송</a:t>
            </a:r>
            <a:r>
              <a:rPr lang="en-US" altLang="ko-KR" dirty="0"/>
              <a:t>(</a:t>
            </a:r>
            <a:r>
              <a:rPr lang="ko-KR" altLang="en-US" dirty="0"/>
              <a:t>제도</a:t>
            </a:r>
            <a:r>
              <a:rPr lang="en-US" altLang="ko-KR" dirty="0"/>
              <a:t>)</a:t>
            </a:r>
            <a:r>
              <a:rPr lang="ko-KR" altLang="en-US" dirty="0"/>
              <a:t> 체계</a:t>
            </a:r>
            <a:r>
              <a:rPr lang="en-US" altLang="ko-KR" dirty="0"/>
              <a:t>: </a:t>
            </a:r>
            <a:r>
              <a:rPr lang="ko-KR" altLang="en-US" dirty="0"/>
              <a:t>제</a:t>
            </a:r>
            <a:r>
              <a:rPr lang="en-US" altLang="ko-KR" dirty="0"/>
              <a:t>9</a:t>
            </a:r>
            <a:r>
              <a:rPr lang="ko-KR" altLang="en-US" dirty="0"/>
              <a:t>장</a:t>
            </a:r>
          </a:p>
        </p:txBody>
      </p:sp>
      <p:sp>
        <p:nvSpPr>
          <p:cNvPr id="94" name="직사각형 93"/>
          <p:cNvSpPr/>
          <p:nvPr/>
        </p:nvSpPr>
        <p:spPr>
          <a:xfrm>
            <a:off x="5360193" y="1973636"/>
            <a:ext cx="2568674" cy="223614"/>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당사자</a:t>
            </a:r>
          </a:p>
        </p:txBody>
      </p:sp>
      <p:sp>
        <p:nvSpPr>
          <p:cNvPr id="96" name="직사각형 95"/>
          <p:cNvSpPr/>
          <p:nvPr/>
        </p:nvSpPr>
        <p:spPr>
          <a:xfrm>
            <a:off x="5360193" y="4043401"/>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소송요건의 심리</a:t>
            </a:r>
            <a:endParaRPr lang="en-US" altLang="ko-KR" sz="1100" dirty="0"/>
          </a:p>
        </p:txBody>
      </p:sp>
      <p:sp>
        <p:nvSpPr>
          <p:cNvPr id="103" name="직사각형 102"/>
          <p:cNvSpPr/>
          <p:nvPr/>
        </p:nvSpPr>
        <p:spPr>
          <a:xfrm>
            <a:off x="8772280" y="3714677"/>
            <a:ext cx="2568674" cy="223614"/>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err="1"/>
              <a:t>변론주의</a:t>
            </a:r>
            <a:r>
              <a:rPr lang="ko-KR" altLang="en-US" sz="1100" dirty="0"/>
              <a:t> 원칙</a:t>
            </a:r>
            <a:r>
              <a:rPr lang="en-US" altLang="ko-KR" sz="1100" dirty="0"/>
              <a:t>(</a:t>
            </a:r>
            <a:r>
              <a:rPr lang="ko-KR" altLang="en-US" sz="1100" dirty="0"/>
              <a:t>직권주의 가미</a:t>
            </a:r>
            <a:r>
              <a:rPr lang="en-US" altLang="ko-KR" sz="1100" dirty="0"/>
              <a:t>)</a:t>
            </a:r>
            <a:endParaRPr lang="ko-KR" altLang="en-US" sz="1100" dirty="0"/>
          </a:p>
        </p:txBody>
      </p:sp>
      <p:sp>
        <p:nvSpPr>
          <p:cNvPr id="110" name="직사각형 109"/>
          <p:cNvSpPr/>
          <p:nvPr/>
        </p:nvSpPr>
        <p:spPr>
          <a:xfrm>
            <a:off x="8772280" y="3996471"/>
            <a:ext cx="2568674" cy="223614"/>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위법판단의 기준시점</a:t>
            </a:r>
          </a:p>
        </p:txBody>
      </p:sp>
      <p:sp>
        <p:nvSpPr>
          <p:cNvPr id="112" name="직사각형 111"/>
          <p:cNvSpPr/>
          <p:nvPr/>
        </p:nvSpPr>
        <p:spPr>
          <a:xfrm>
            <a:off x="8772280" y="4278959"/>
            <a:ext cx="2568674" cy="223614"/>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심리범위</a:t>
            </a:r>
          </a:p>
        </p:txBody>
      </p:sp>
      <p:sp>
        <p:nvSpPr>
          <p:cNvPr id="113" name="직사각형 112"/>
          <p:cNvSpPr/>
          <p:nvPr/>
        </p:nvSpPr>
        <p:spPr>
          <a:xfrm>
            <a:off x="8772280" y="4553810"/>
            <a:ext cx="2568674" cy="223614"/>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주장증명책임</a:t>
            </a:r>
          </a:p>
        </p:txBody>
      </p:sp>
      <p:sp>
        <p:nvSpPr>
          <p:cNvPr id="115" name="직사각형 114"/>
          <p:cNvSpPr/>
          <p:nvPr/>
        </p:nvSpPr>
        <p:spPr>
          <a:xfrm>
            <a:off x="8772280" y="4833209"/>
            <a:ext cx="2568674" cy="223614"/>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자백</a:t>
            </a:r>
          </a:p>
        </p:txBody>
      </p:sp>
      <p:sp>
        <p:nvSpPr>
          <p:cNvPr id="116" name="직사각형 115"/>
          <p:cNvSpPr/>
          <p:nvPr/>
        </p:nvSpPr>
        <p:spPr>
          <a:xfrm>
            <a:off x="5360193" y="3384840"/>
            <a:ext cx="2568674" cy="223614"/>
          </a:xfrm>
          <a:prstGeom prst="rect">
            <a:avLst/>
          </a:prstGeom>
          <a:solidFill>
            <a:schemeClr val="accent6">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소장의 심사</a:t>
            </a:r>
            <a:endParaRPr lang="en-US" altLang="ko-KR" sz="1100" dirty="0"/>
          </a:p>
        </p:txBody>
      </p:sp>
      <p:sp>
        <p:nvSpPr>
          <p:cNvPr id="117" name="직사각형 116"/>
          <p:cNvSpPr/>
          <p:nvPr/>
        </p:nvSpPr>
        <p:spPr>
          <a:xfrm>
            <a:off x="5360193" y="2269968"/>
            <a:ext cx="2568674" cy="223614"/>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100" dirty="0"/>
              <a:t>제소기간</a:t>
            </a:r>
          </a:p>
        </p:txBody>
      </p:sp>
      <p:cxnSp>
        <p:nvCxnSpPr>
          <p:cNvPr id="84" name="꺾인 연결선 83"/>
          <p:cNvCxnSpPr>
            <a:stCxn id="12" idx="3"/>
            <a:endCxn id="94" idx="1"/>
          </p:cNvCxnSpPr>
          <p:nvPr/>
        </p:nvCxnSpPr>
        <p:spPr>
          <a:xfrm>
            <a:off x="4345786" y="1993480"/>
            <a:ext cx="1014407" cy="9196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꺾인 연결선 87"/>
          <p:cNvCxnSpPr>
            <a:stCxn id="12" idx="3"/>
            <a:endCxn id="117" idx="1"/>
          </p:cNvCxnSpPr>
          <p:nvPr/>
        </p:nvCxnSpPr>
        <p:spPr>
          <a:xfrm>
            <a:off x="4345786" y="1993480"/>
            <a:ext cx="1014407" cy="38829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꺾인 연결선 91"/>
          <p:cNvCxnSpPr>
            <a:stCxn id="13" idx="3"/>
            <a:endCxn id="116" idx="1"/>
          </p:cNvCxnSpPr>
          <p:nvPr/>
        </p:nvCxnSpPr>
        <p:spPr>
          <a:xfrm>
            <a:off x="4345786" y="3203479"/>
            <a:ext cx="1014407" cy="29316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꺾인 연결선 118"/>
          <p:cNvCxnSpPr>
            <a:stCxn id="20" idx="3"/>
            <a:endCxn id="96" idx="1"/>
          </p:cNvCxnSpPr>
          <p:nvPr/>
        </p:nvCxnSpPr>
        <p:spPr>
          <a:xfrm flipV="1">
            <a:off x="4345786" y="4155208"/>
            <a:ext cx="1014407" cy="27763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꺾인 연결선 120"/>
          <p:cNvCxnSpPr>
            <a:stCxn id="29" idx="3"/>
            <a:endCxn id="103" idx="1"/>
          </p:cNvCxnSpPr>
          <p:nvPr/>
        </p:nvCxnSpPr>
        <p:spPr>
          <a:xfrm flipV="1">
            <a:off x="7928867" y="3826484"/>
            <a:ext cx="843413" cy="60115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꺾인 연결선 122"/>
          <p:cNvCxnSpPr>
            <a:stCxn id="29" idx="3"/>
            <a:endCxn id="110" idx="1"/>
          </p:cNvCxnSpPr>
          <p:nvPr/>
        </p:nvCxnSpPr>
        <p:spPr>
          <a:xfrm flipV="1">
            <a:off x="7928867" y="4108278"/>
            <a:ext cx="843413" cy="31936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5" name="꺾인 연결선 124"/>
          <p:cNvCxnSpPr>
            <a:stCxn id="29" idx="3"/>
            <a:endCxn id="112" idx="1"/>
          </p:cNvCxnSpPr>
          <p:nvPr/>
        </p:nvCxnSpPr>
        <p:spPr>
          <a:xfrm flipV="1">
            <a:off x="7928867" y="4390766"/>
            <a:ext cx="843413" cy="3687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7" name="꺾인 연결선 126"/>
          <p:cNvCxnSpPr>
            <a:stCxn id="29" idx="3"/>
            <a:endCxn id="113" idx="1"/>
          </p:cNvCxnSpPr>
          <p:nvPr/>
        </p:nvCxnSpPr>
        <p:spPr>
          <a:xfrm>
            <a:off x="7928867" y="4427641"/>
            <a:ext cx="843413" cy="23797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꺾인 연결선 128"/>
          <p:cNvCxnSpPr>
            <a:endCxn id="115" idx="1"/>
          </p:cNvCxnSpPr>
          <p:nvPr/>
        </p:nvCxnSpPr>
        <p:spPr>
          <a:xfrm>
            <a:off x="7928867" y="4432839"/>
            <a:ext cx="843413" cy="51217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4294967295"/>
          </p:nvPr>
        </p:nvSpPr>
        <p:spPr>
          <a:xfrm>
            <a:off x="11125200" y="0"/>
            <a:ext cx="1066800" cy="711200"/>
          </a:xfrm>
        </p:spPr>
        <p:txBody>
          <a:bodyPr/>
          <a:lstStyle/>
          <a:p>
            <a:r>
              <a:rPr lang="en-US" altLang="ko-KR"/>
              <a:t>519</a:t>
            </a:r>
            <a:endParaRPr lang="ko-KR" altLang="en-US" dirty="0"/>
          </a:p>
        </p:txBody>
      </p:sp>
    </p:spTree>
    <p:extLst>
      <p:ext uri="{BB962C8B-B14F-4D97-AF65-F5344CB8AC3E}">
        <p14:creationId xmlns:p14="http://schemas.microsoft.com/office/powerpoint/2010/main" val="3653533199"/>
      </p:ext>
    </p:extLst>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제목 45"/>
          <p:cNvSpPr>
            <a:spLocks noGrp="1"/>
          </p:cNvSpPr>
          <p:nvPr>
            <p:ph type="title"/>
          </p:nvPr>
        </p:nvSpPr>
        <p:spPr/>
        <p:txBody>
          <a:bodyPr/>
          <a:lstStyle/>
          <a:p>
            <a:r>
              <a:rPr lang="ko-KR" altLang="en-US" dirty="0"/>
              <a:t>참고노트</a:t>
            </a:r>
          </a:p>
        </p:txBody>
      </p:sp>
      <p:sp>
        <p:nvSpPr>
          <p:cNvPr id="47" name="텍스트 개체 틀 46"/>
          <p:cNvSpPr>
            <a:spLocks noGrp="1"/>
          </p:cNvSpPr>
          <p:nvPr>
            <p:ph type="body" sz="quarter" idx="13"/>
          </p:nvPr>
        </p:nvSpPr>
        <p:spPr/>
        <p:txBody>
          <a:bodyPr/>
          <a:lstStyle/>
          <a:p>
            <a:r>
              <a:rPr lang="ko-KR" altLang="en-US" dirty="0"/>
              <a:t>소송절차의 진행</a:t>
            </a:r>
          </a:p>
        </p:txBody>
      </p:sp>
      <p:cxnSp>
        <p:nvCxnSpPr>
          <p:cNvPr id="87" name="직선 연결선 86"/>
          <p:cNvCxnSpPr>
            <a:cxnSpLocks/>
          </p:cNvCxnSpPr>
          <p:nvPr/>
        </p:nvCxnSpPr>
        <p:spPr>
          <a:xfrm flipV="1">
            <a:off x="3951776" y="902477"/>
            <a:ext cx="0" cy="556360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슬라이드 번호 개체 틀 2"/>
          <p:cNvSpPr>
            <a:spLocks noGrp="1"/>
          </p:cNvSpPr>
          <p:nvPr>
            <p:ph type="sldNum" sz="quarter" idx="4294967295"/>
          </p:nvPr>
        </p:nvSpPr>
        <p:spPr>
          <a:xfrm>
            <a:off x="11125200" y="0"/>
            <a:ext cx="1066800" cy="711200"/>
          </a:xfrm>
        </p:spPr>
        <p:txBody>
          <a:bodyPr/>
          <a:lstStyle/>
          <a:p>
            <a:r>
              <a:rPr lang="en-US" altLang="ko-KR"/>
              <a:t>520</a:t>
            </a:r>
            <a:endParaRPr lang="ko-KR" altLang="en-US" dirty="0"/>
          </a:p>
        </p:txBody>
      </p:sp>
      <p:sp>
        <p:nvSpPr>
          <p:cNvPr id="5" name="사각형: 둥근 모서리 4">
            <a:extLst>
              <a:ext uri="{FF2B5EF4-FFF2-40B4-BE49-F238E27FC236}">
                <a16:creationId xmlns:a16="http://schemas.microsoft.com/office/drawing/2014/main" id="{65D01DB6-7538-102D-9460-D7405DDE2AFD}"/>
              </a:ext>
            </a:extLst>
          </p:cNvPr>
          <p:cNvSpPr/>
          <p:nvPr/>
        </p:nvSpPr>
        <p:spPr>
          <a:xfrm>
            <a:off x="1559515" y="2488541"/>
            <a:ext cx="1045054" cy="331000"/>
          </a:xfrm>
          <a:prstGeom prst="roundRect">
            <a:avLst>
              <a:gd name="adj" fmla="val 50000"/>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심판원</a:t>
            </a:r>
          </a:p>
        </p:txBody>
      </p:sp>
      <p:sp>
        <p:nvSpPr>
          <p:cNvPr id="7" name="사각형: 둥근 모서리 6">
            <a:extLst>
              <a:ext uri="{FF2B5EF4-FFF2-40B4-BE49-F238E27FC236}">
                <a16:creationId xmlns:a16="http://schemas.microsoft.com/office/drawing/2014/main" id="{06257919-CA3E-B0D6-DF1C-7D92E07D44FE}"/>
              </a:ext>
            </a:extLst>
          </p:cNvPr>
          <p:cNvSpPr/>
          <p:nvPr/>
        </p:nvSpPr>
        <p:spPr>
          <a:xfrm>
            <a:off x="1559515" y="3837445"/>
            <a:ext cx="1045054" cy="330693"/>
          </a:xfrm>
          <a:prstGeom prst="roundRect">
            <a:avLst>
              <a:gd name="adj" fmla="val 49198"/>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특허법원</a:t>
            </a:r>
          </a:p>
        </p:txBody>
      </p:sp>
      <p:sp>
        <p:nvSpPr>
          <p:cNvPr id="11" name="TextBox 10">
            <a:extLst>
              <a:ext uri="{FF2B5EF4-FFF2-40B4-BE49-F238E27FC236}">
                <a16:creationId xmlns:a16="http://schemas.microsoft.com/office/drawing/2014/main" id="{24CF0CED-9B2A-83AB-4D3E-6E98FC8CDC04}"/>
              </a:ext>
            </a:extLst>
          </p:cNvPr>
          <p:cNvSpPr txBox="1"/>
          <p:nvPr/>
        </p:nvSpPr>
        <p:spPr>
          <a:xfrm>
            <a:off x="2895187" y="3143993"/>
            <a:ext cx="646331" cy="246221"/>
          </a:xfrm>
          <a:prstGeom prst="rect">
            <a:avLst/>
          </a:prstGeom>
          <a:noFill/>
          <a:ln>
            <a:solidFill>
              <a:schemeClr val="bg1">
                <a:lumMod val="50000"/>
              </a:schemeClr>
            </a:solidFill>
          </a:ln>
        </p:spPr>
        <p:txBody>
          <a:bodyPr wrap="none" rtlCol="0">
            <a:spAutoFit/>
          </a:bodyPr>
          <a:lstStyle/>
          <a:p>
            <a:r>
              <a:rPr lang="ko-KR" altLang="en-US" sz="1000" dirty="0" err="1"/>
              <a:t>인용심결</a:t>
            </a:r>
            <a:endParaRPr lang="ko-KR" altLang="en-US" sz="1000" dirty="0"/>
          </a:p>
        </p:txBody>
      </p:sp>
      <p:sp>
        <p:nvSpPr>
          <p:cNvPr id="12" name="TextBox 11">
            <a:extLst>
              <a:ext uri="{FF2B5EF4-FFF2-40B4-BE49-F238E27FC236}">
                <a16:creationId xmlns:a16="http://schemas.microsoft.com/office/drawing/2014/main" id="{1B255E55-C774-1A9E-3DC5-85057DCB4637}"/>
              </a:ext>
            </a:extLst>
          </p:cNvPr>
          <p:cNvSpPr txBox="1"/>
          <p:nvPr/>
        </p:nvSpPr>
        <p:spPr>
          <a:xfrm>
            <a:off x="605387" y="3147527"/>
            <a:ext cx="646331" cy="246221"/>
          </a:xfrm>
          <a:prstGeom prst="rect">
            <a:avLst/>
          </a:prstGeom>
          <a:noFill/>
          <a:ln>
            <a:solidFill>
              <a:schemeClr val="bg1">
                <a:lumMod val="50000"/>
              </a:schemeClr>
            </a:solidFill>
          </a:ln>
        </p:spPr>
        <p:txBody>
          <a:bodyPr wrap="none" rtlCol="0">
            <a:spAutoFit/>
          </a:bodyPr>
          <a:lstStyle/>
          <a:p>
            <a:r>
              <a:rPr lang="ko-KR" altLang="en-US" sz="1000" dirty="0" err="1"/>
              <a:t>기각심결</a:t>
            </a:r>
            <a:endParaRPr lang="ko-KR" altLang="en-US" sz="1000" dirty="0"/>
          </a:p>
        </p:txBody>
      </p:sp>
      <p:sp>
        <p:nvSpPr>
          <p:cNvPr id="21" name="TextBox 20">
            <a:extLst>
              <a:ext uri="{FF2B5EF4-FFF2-40B4-BE49-F238E27FC236}">
                <a16:creationId xmlns:a16="http://schemas.microsoft.com/office/drawing/2014/main" id="{C49B34BC-C496-A14C-8B7A-75DE90B1CE79}"/>
              </a:ext>
            </a:extLst>
          </p:cNvPr>
          <p:cNvSpPr txBox="1"/>
          <p:nvPr/>
        </p:nvSpPr>
        <p:spPr>
          <a:xfrm>
            <a:off x="2131759" y="3147526"/>
            <a:ext cx="646331" cy="246221"/>
          </a:xfrm>
          <a:prstGeom prst="rect">
            <a:avLst/>
          </a:prstGeom>
          <a:noFill/>
          <a:ln>
            <a:solidFill>
              <a:schemeClr val="bg1">
                <a:lumMod val="50000"/>
              </a:schemeClr>
            </a:solidFill>
          </a:ln>
        </p:spPr>
        <p:txBody>
          <a:bodyPr wrap="none" rtlCol="0">
            <a:spAutoFit/>
          </a:bodyPr>
          <a:lstStyle/>
          <a:p>
            <a:r>
              <a:rPr lang="ko-KR" altLang="en-US" sz="1000"/>
              <a:t>각하심결</a:t>
            </a:r>
            <a:endParaRPr lang="ko-KR" altLang="en-US" sz="1000" dirty="0"/>
          </a:p>
        </p:txBody>
      </p:sp>
      <p:sp>
        <p:nvSpPr>
          <p:cNvPr id="22" name="TextBox 21">
            <a:extLst>
              <a:ext uri="{FF2B5EF4-FFF2-40B4-BE49-F238E27FC236}">
                <a16:creationId xmlns:a16="http://schemas.microsoft.com/office/drawing/2014/main" id="{CEB425E2-13A3-0548-AE29-4130F97DA273}"/>
              </a:ext>
            </a:extLst>
          </p:cNvPr>
          <p:cNvSpPr txBox="1"/>
          <p:nvPr/>
        </p:nvSpPr>
        <p:spPr>
          <a:xfrm>
            <a:off x="1348617" y="3147527"/>
            <a:ext cx="646331" cy="246221"/>
          </a:xfrm>
          <a:prstGeom prst="rect">
            <a:avLst/>
          </a:prstGeom>
          <a:noFill/>
          <a:ln>
            <a:solidFill>
              <a:schemeClr val="bg1">
                <a:lumMod val="50000"/>
              </a:schemeClr>
            </a:solidFill>
          </a:ln>
        </p:spPr>
        <p:txBody>
          <a:bodyPr wrap="none" rtlCol="0">
            <a:spAutoFit/>
          </a:bodyPr>
          <a:lstStyle/>
          <a:p>
            <a:r>
              <a:rPr lang="ko-KR" altLang="en-US" sz="1000" dirty="0"/>
              <a:t>각하결정</a:t>
            </a:r>
          </a:p>
        </p:txBody>
      </p:sp>
      <p:cxnSp>
        <p:nvCxnSpPr>
          <p:cNvPr id="49" name="연결선: 꺾임 48">
            <a:extLst>
              <a:ext uri="{FF2B5EF4-FFF2-40B4-BE49-F238E27FC236}">
                <a16:creationId xmlns:a16="http://schemas.microsoft.com/office/drawing/2014/main" id="{F6A2EB4C-55DB-E6A3-0296-6A9A9E2A1F03}"/>
              </a:ext>
            </a:extLst>
          </p:cNvPr>
          <p:cNvCxnSpPr>
            <a:cxnSpLocks/>
            <a:stCxn id="5" idx="2"/>
            <a:endCxn id="12" idx="0"/>
          </p:cNvCxnSpPr>
          <p:nvPr/>
        </p:nvCxnSpPr>
        <p:spPr>
          <a:xfrm rot="5400000">
            <a:off x="1341305" y="2406790"/>
            <a:ext cx="327986" cy="115348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연결선: 꺾임 50">
            <a:extLst>
              <a:ext uri="{FF2B5EF4-FFF2-40B4-BE49-F238E27FC236}">
                <a16:creationId xmlns:a16="http://schemas.microsoft.com/office/drawing/2014/main" id="{F53186E9-EFCD-C9E7-A9CC-882873B7868F}"/>
              </a:ext>
            </a:extLst>
          </p:cNvPr>
          <p:cNvCxnSpPr>
            <a:cxnSpLocks/>
            <a:stCxn id="5" idx="2"/>
            <a:endCxn id="11" idx="0"/>
          </p:cNvCxnSpPr>
          <p:nvPr/>
        </p:nvCxnSpPr>
        <p:spPr>
          <a:xfrm rot="16200000" flipH="1">
            <a:off x="2487971" y="2413611"/>
            <a:ext cx="324452" cy="1136311"/>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연결선: 꺾임 53">
            <a:extLst>
              <a:ext uri="{FF2B5EF4-FFF2-40B4-BE49-F238E27FC236}">
                <a16:creationId xmlns:a16="http://schemas.microsoft.com/office/drawing/2014/main" id="{BEAD132A-2809-5A50-F3DF-B5D1C69DC881}"/>
              </a:ext>
            </a:extLst>
          </p:cNvPr>
          <p:cNvCxnSpPr>
            <a:cxnSpLocks/>
            <a:stCxn id="5" idx="2"/>
            <a:endCxn id="22" idx="0"/>
          </p:cNvCxnSpPr>
          <p:nvPr/>
        </p:nvCxnSpPr>
        <p:spPr>
          <a:xfrm rot="5400000">
            <a:off x="1712920" y="2778405"/>
            <a:ext cx="327986" cy="41025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연결선: 꺾임 57">
            <a:extLst>
              <a:ext uri="{FF2B5EF4-FFF2-40B4-BE49-F238E27FC236}">
                <a16:creationId xmlns:a16="http://schemas.microsoft.com/office/drawing/2014/main" id="{038168B7-2749-089C-83A7-D547A7982E77}"/>
              </a:ext>
            </a:extLst>
          </p:cNvPr>
          <p:cNvCxnSpPr>
            <a:cxnSpLocks/>
            <a:stCxn id="5" idx="2"/>
            <a:endCxn id="21" idx="0"/>
          </p:cNvCxnSpPr>
          <p:nvPr/>
        </p:nvCxnSpPr>
        <p:spPr>
          <a:xfrm rot="16200000" flipH="1">
            <a:off x="2104491" y="2797091"/>
            <a:ext cx="327985" cy="37288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연결선: 꺾임 60">
            <a:extLst>
              <a:ext uri="{FF2B5EF4-FFF2-40B4-BE49-F238E27FC236}">
                <a16:creationId xmlns:a16="http://schemas.microsoft.com/office/drawing/2014/main" id="{069F948F-C2EC-4CB8-DB10-C025CEE06FF8}"/>
              </a:ext>
            </a:extLst>
          </p:cNvPr>
          <p:cNvCxnSpPr>
            <a:cxnSpLocks/>
            <a:stCxn id="12" idx="2"/>
            <a:endCxn id="7" idx="0"/>
          </p:cNvCxnSpPr>
          <p:nvPr/>
        </p:nvCxnSpPr>
        <p:spPr>
          <a:xfrm rot="16200000" flipH="1">
            <a:off x="1283449" y="3038851"/>
            <a:ext cx="443697" cy="1153489"/>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4" name="연결선: 꺾임 63">
            <a:extLst>
              <a:ext uri="{FF2B5EF4-FFF2-40B4-BE49-F238E27FC236}">
                <a16:creationId xmlns:a16="http://schemas.microsoft.com/office/drawing/2014/main" id="{BBE51216-73C2-D1B3-6CE0-98586D7D14C8}"/>
              </a:ext>
            </a:extLst>
          </p:cNvPr>
          <p:cNvCxnSpPr>
            <a:cxnSpLocks/>
            <a:stCxn id="11" idx="2"/>
            <a:endCxn id="7" idx="0"/>
          </p:cNvCxnSpPr>
          <p:nvPr/>
        </p:nvCxnSpPr>
        <p:spPr>
          <a:xfrm rot="5400000">
            <a:off x="2426583" y="3045674"/>
            <a:ext cx="447231" cy="1136311"/>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6" name="연결선: 꺾임 65">
            <a:extLst>
              <a:ext uri="{FF2B5EF4-FFF2-40B4-BE49-F238E27FC236}">
                <a16:creationId xmlns:a16="http://schemas.microsoft.com/office/drawing/2014/main" id="{DD8DBBAE-8273-5A23-8098-E1272FBD2B13}"/>
              </a:ext>
            </a:extLst>
          </p:cNvPr>
          <p:cNvCxnSpPr>
            <a:cxnSpLocks/>
            <a:stCxn id="22" idx="2"/>
            <a:endCxn id="7" idx="0"/>
          </p:cNvCxnSpPr>
          <p:nvPr/>
        </p:nvCxnSpPr>
        <p:spPr>
          <a:xfrm rot="16200000" flipH="1">
            <a:off x="1655064" y="3410466"/>
            <a:ext cx="443697" cy="410259"/>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 name="연결선: 꺾임 75">
            <a:extLst>
              <a:ext uri="{FF2B5EF4-FFF2-40B4-BE49-F238E27FC236}">
                <a16:creationId xmlns:a16="http://schemas.microsoft.com/office/drawing/2014/main" id="{34F147A3-0890-7578-33E0-BA4A245144D3}"/>
              </a:ext>
            </a:extLst>
          </p:cNvPr>
          <p:cNvCxnSpPr>
            <a:cxnSpLocks/>
            <a:stCxn id="21" idx="2"/>
            <a:endCxn id="7" idx="0"/>
          </p:cNvCxnSpPr>
          <p:nvPr/>
        </p:nvCxnSpPr>
        <p:spPr>
          <a:xfrm rot="5400000">
            <a:off x="2046635" y="3429155"/>
            <a:ext cx="443698" cy="372883"/>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9" name="사각형: 둥근 모서리 78">
            <a:extLst>
              <a:ext uri="{FF2B5EF4-FFF2-40B4-BE49-F238E27FC236}">
                <a16:creationId xmlns:a16="http://schemas.microsoft.com/office/drawing/2014/main" id="{C0FCBA1A-5F98-5E74-12D2-4A3CBB46BC9B}"/>
              </a:ext>
            </a:extLst>
          </p:cNvPr>
          <p:cNvSpPr/>
          <p:nvPr/>
        </p:nvSpPr>
        <p:spPr>
          <a:xfrm>
            <a:off x="1559515" y="5102875"/>
            <a:ext cx="1045054" cy="330693"/>
          </a:xfrm>
          <a:prstGeom prst="roundRect">
            <a:avLst>
              <a:gd name="adj" fmla="val 50000"/>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solidFill>
              </a:rPr>
              <a:t>대법원</a:t>
            </a:r>
          </a:p>
        </p:txBody>
      </p:sp>
      <p:sp>
        <p:nvSpPr>
          <p:cNvPr id="80" name="TextBox 79">
            <a:extLst>
              <a:ext uri="{FF2B5EF4-FFF2-40B4-BE49-F238E27FC236}">
                <a16:creationId xmlns:a16="http://schemas.microsoft.com/office/drawing/2014/main" id="{F055767F-E9C3-A45B-B2F0-5C4B3CB92E7E}"/>
              </a:ext>
            </a:extLst>
          </p:cNvPr>
          <p:cNvSpPr txBox="1"/>
          <p:nvPr/>
        </p:nvSpPr>
        <p:spPr>
          <a:xfrm>
            <a:off x="2895187" y="4463210"/>
            <a:ext cx="646331" cy="246221"/>
          </a:xfrm>
          <a:prstGeom prst="rect">
            <a:avLst/>
          </a:prstGeom>
          <a:solidFill>
            <a:schemeClr val="accent4">
              <a:lumMod val="50000"/>
            </a:schemeClr>
          </a:solidFill>
          <a:ln>
            <a:solidFill>
              <a:schemeClr val="bg1">
                <a:lumMod val="50000"/>
              </a:schemeClr>
            </a:solidFill>
          </a:ln>
        </p:spPr>
        <p:txBody>
          <a:bodyPr wrap="none" rtlCol="0">
            <a:spAutoFit/>
          </a:bodyPr>
          <a:lstStyle/>
          <a:p>
            <a:r>
              <a:rPr lang="ko-KR" altLang="en-US" sz="1000" dirty="0">
                <a:solidFill>
                  <a:schemeClr val="bg1">
                    <a:lumMod val="95000"/>
                  </a:schemeClr>
                </a:solidFill>
              </a:rPr>
              <a:t>인용판결</a:t>
            </a:r>
          </a:p>
        </p:txBody>
      </p:sp>
      <p:sp>
        <p:nvSpPr>
          <p:cNvPr id="81" name="TextBox 80">
            <a:extLst>
              <a:ext uri="{FF2B5EF4-FFF2-40B4-BE49-F238E27FC236}">
                <a16:creationId xmlns:a16="http://schemas.microsoft.com/office/drawing/2014/main" id="{86685282-B2FB-BA1A-732E-8DFCCE7A6E36}"/>
              </a:ext>
            </a:extLst>
          </p:cNvPr>
          <p:cNvSpPr txBox="1"/>
          <p:nvPr/>
        </p:nvSpPr>
        <p:spPr>
          <a:xfrm>
            <a:off x="605387" y="4466744"/>
            <a:ext cx="646331" cy="246221"/>
          </a:xfrm>
          <a:prstGeom prst="rect">
            <a:avLst/>
          </a:prstGeom>
          <a:noFill/>
          <a:ln>
            <a:solidFill>
              <a:schemeClr val="bg1">
                <a:lumMod val="50000"/>
              </a:schemeClr>
            </a:solidFill>
          </a:ln>
        </p:spPr>
        <p:txBody>
          <a:bodyPr wrap="none" rtlCol="0">
            <a:spAutoFit/>
          </a:bodyPr>
          <a:lstStyle/>
          <a:p>
            <a:r>
              <a:rPr lang="ko-KR" altLang="en-US" sz="1000" dirty="0" err="1"/>
              <a:t>소장각하</a:t>
            </a:r>
            <a:endParaRPr lang="ko-KR" altLang="en-US" sz="1000" dirty="0"/>
          </a:p>
        </p:txBody>
      </p:sp>
      <p:sp>
        <p:nvSpPr>
          <p:cNvPr id="82" name="TextBox 81">
            <a:extLst>
              <a:ext uri="{FF2B5EF4-FFF2-40B4-BE49-F238E27FC236}">
                <a16:creationId xmlns:a16="http://schemas.microsoft.com/office/drawing/2014/main" id="{A4940293-5ADB-D478-8D23-0D3062340311}"/>
              </a:ext>
            </a:extLst>
          </p:cNvPr>
          <p:cNvSpPr txBox="1"/>
          <p:nvPr/>
        </p:nvSpPr>
        <p:spPr>
          <a:xfrm>
            <a:off x="2131759" y="4466743"/>
            <a:ext cx="646331" cy="246221"/>
          </a:xfrm>
          <a:prstGeom prst="rect">
            <a:avLst/>
          </a:prstGeom>
          <a:noFill/>
          <a:ln>
            <a:solidFill>
              <a:schemeClr val="bg1">
                <a:lumMod val="50000"/>
              </a:schemeClr>
            </a:solidFill>
          </a:ln>
        </p:spPr>
        <p:txBody>
          <a:bodyPr wrap="none" rtlCol="0">
            <a:spAutoFit/>
          </a:bodyPr>
          <a:lstStyle/>
          <a:p>
            <a:r>
              <a:rPr lang="ko-KR" altLang="en-US" sz="1000" dirty="0"/>
              <a:t>기각판결</a:t>
            </a:r>
          </a:p>
        </p:txBody>
      </p:sp>
      <p:sp>
        <p:nvSpPr>
          <p:cNvPr id="84" name="TextBox 83">
            <a:extLst>
              <a:ext uri="{FF2B5EF4-FFF2-40B4-BE49-F238E27FC236}">
                <a16:creationId xmlns:a16="http://schemas.microsoft.com/office/drawing/2014/main" id="{716BFAF9-7192-EE9E-0294-D24028F1B35D}"/>
              </a:ext>
            </a:extLst>
          </p:cNvPr>
          <p:cNvSpPr txBox="1"/>
          <p:nvPr/>
        </p:nvSpPr>
        <p:spPr>
          <a:xfrm>
            <a:off x="1348616" y="4466744"/>
            <a:ext cx="702424" cy="246221"/>
          </a:xfrm>
          <a:prstGeom prst="rect">
            <a:avLst/>
          </a:prstGeom>
          <a:solidFill>
            <a:schemeClr val="accent5">
              <a:lumMod val="20000"/>
              <a:lumOff val="80000"/>
            </a:schemeClr>
          </a:solidFill>
          <a:ln>
            <a:solidFill>
              <a:schemeClr val="bg1">
                <a:lumMod val="50000"/>
              </a:schemeClr>
            </a:solidFill>
          </a:ln>
        </p:spPr>
        <p:txBody>
          <a:bodyPr wrap="square" rtlCol="0">
            <a:spAutoFit/>
          </a:bodyPr>
          <a:lstStyle/>
          <a:p>
            <a:pPr algn="ctr"/>
            <a:r>
              <a:rPr lang="ko-KR" altLang="en-US" sz="1000"/>
              <a:t>소각하</a:t>
            </a:r>
            <a:endParaRPr lang="ko-KR" altLang="en-US" sz="1000" dirty="0"/>
          </a:p>
        </p:txBody>
      </p:sp>
      <p:cxnSp>
        <p:nvCxnSpPr>
          <p:cNvPr id="88" name="연결선: 꺾임 87">
            <a:extLst>
              <a:ext uri="{FF2B5EF4-FFF2-40B4-BE49-F238E27FC236}">
                <a16:creationId xmlns:a16="http://schemas.microsoft.com/office/drawing/2014/main" id="{8A900608-A403-6C06-531D-F049EA3F3E00}"/>
              </a:ext>
            </a:extLst>
          </p:cNvPr>
          <p:cNvCxnSpPr>
            <a:cxnSpLocks/>
            <a:stCxn id="7" idx="2"/>
            <a:endCxn id="81" idx="0"/>
          </p:cNvCxnSpPr>
          <p:nvPr/>
        </p:nvCxnSpPr>
        <p:spPr>
          <a:xfrm rot="5400000">
            <a:off x="1355995" y="3740697"/>
            <a:ext cx="298606" cy="1153489"/>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연결선: 꺾임 91">
            <a:extLst>
              <a:ext uri="{FF2B5EF4-FFF2-40B4-BE49-F238E27FC236}">
                <a16:creationId xmlns:a16="http://schemas.microsoft.com/office/drawing/2014/main" id="{DEA9E644-8AE1-B3B8-A994-B68E4D021312}"/>
              </a:ext>
            </a:extLst>
          </p:cNvPr>
          <p:cNvCxnSpPr>
            <a:cxnSpLocks/>
            <a:stCxn id="7" idx="2"/>
            <a:endCxn id="80" idx="0"/>
          </p:cNvCxnSpPr>
          <p:nvPr/>
        </p:nvCxnSpPr>
        <p:spPr>
          <a:xfrm rot="16200000" flipH="1">
            <a:off x="2502661" y="3747518"/>
            <a:ext cx="295072" cy="1136311"/>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연결선: 꺾임 93">
            <a:extLst>
              <a:ext uri="{FF2B5EF4-FFF2-40B4-BE49-F238E27FC236}">
                <a16:creationId xmlns:a16="http://schemas.microsoft.com/office/drawing/2014/main" id="{23F4DA66-88BA-CBD6-9659-FBE01C4D3A3E}"/>
              </a:ext>
            </a:extLst>
          </p:cNvPr>
          <p:cNvCxnSpPr>
            <a:cxnSpLocks/>
            <a:stCxn id="7" idx="2"/>
            <a:endCxn id="84" idx="0"/>
          </p:cNvCxnSpPr>
          <p:nvPr/>
        </p:nvCxnSpPr>
        <p:spPr>
          <a:xfrm rot="5400000">
            <a:off x="1741632" y="4126334"/>
            <a:ext cx="298606" cy="382214"/>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연결선: 꺾임 95">
            <a:extLst>
              <a:ext uri="{FF2B5EF4-FFF2-40B4-BE49-F238E27FC236}">
                <a16:creationId xmlns:a16="http://schemas.microsoft.com/office/drawing/2014/main" id="{9D4FD930-708E-06B4-EDA3-82D6990A0C04}"/>
              </a:ext>
            </a:extLst>
          </p:cNvPr>
          <p:cNvCxnSpPr>
            <a:cxnSpLocks/>
            <a:stCxn id="7" idx="2"/>
            <a:endCxn id="82" idx="0"/>
          </p:cNvCxnSpPr>
          <p:nvPr/>
        </p:nvCxnSpPr>
        <p:spPr>
          <a:xfrm rot="16200000" flipH="1">
            <a:off x="2119181" y="4130998"/>
            <a:ext cx="298605" cy="372883"/>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연결선: 꺾임 97">
            <a:extLst>
              <a:ext uri="{FF2B5EF4-FFF2-40B4-BE49-F238E27FC236}">
                <a16:creationId xmlns:a16="http://schemas.microsoft.com/office/drawing/2014/main" id="{75C906D9-8CD8-E83B-0CD2-D98A1B1A6EC8}"/>
              </a:ext>
            </a:extLst>
          </p:cNvPr>
          <p:cNvCxnSpPr>
            <a:cxnSpLocks/>
            <a:stCxn id="81" idx="2"/>
            <a:endCxn id="79" idx="0"/>
          </p:cNvCxnSpPr>
          <p:nvPr/>
        </p:nvCxnSpPr>
        <p:spPr>
          <a:xfrm rot="16200000" flipH="1">
            <a:off x="1310342" y="4331175"/>
            <a:ext cx="389910" cy="1153489"/>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0" name="연결선: 꺾임 99">
            <a:extLst>
              <a:ext uri="{FF2B5EF4-FFF2-40B4-BE49-F238E27FC236}">
                <a16:creationId xmlns:a16="http://schemas.microsoft.com/office/drawing/2014/main" id="{D1406833-CE10-7FE8-39C3-B8E643675BE1}"/>
              </a:ext>
            </a:extLst>
          </p:cNvPr>
          <p:cNvCxnSpPr>
            <a:cxnSpLocks/>
            <a:stCxn id="80" idx="2"/>
            <a:endCxn id="79" idx="0"/>
          </p:cNvCxnSpPr>
          <p:nvPr/>
        </p:nvCxnSpPr>
        <p:spPr>
          <a:xfrm rot="5400000">
            <a:off x="2453476" y="4337998"/>
            <a:ext cx="393444" cy="1136311"/>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2" name="연결선: 꺾임 101">
            <a:extLst>
              <a:ext uri="{FF2B5EF4-FFF2-40B4-BE49-F238E27FC236}">
                <a16:creationId xmlns:a16="http://schemas.microsoft.com/office/drawing/2014/main" id="{873EC34C-1E1A-D54A-A0B5-81AFEAB99EF7}"/>
              </a:ext>
            </a:extLst>
          </p:cNvPr>
          <p:cNvCxnSpPr>
            <a:cxnSpLocks/>
            <a:stCxn id="84" idx="2"/>
            <a:endCxn id="79" idx="0"/>
          </p:cNvCxnSpPr>
          <p:nvPr/>
        </p:nvCxnSpPr>
        <p:spPr>
          <a:xfrm rot="16200000" flipH="1">
            <a:off x="1695980" y="4716813"/>
            <a:ext cx="389910" cy="382214"/>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3" name="연결선: 꺾임 102">
            <a:extLst>
              <a:ext uri="{FF2B5EF4-FFF2-40B4-BE49-F238E27FC236}">
                <a16:creationId xmlns:a16="http://schemas.microsoft.com/office/drawing/2014/main" id="{1BC194DA-7106-35A0-8F90-F9FDA0E43964}"/>
              </a:ext>
            </a:extLst>
          </p:cNvPr>
          <p:cNvCxnSpPr>
            <a:cxnSpLocks/>
            <a:stCxn id="82" idx="2"/>
            <a:endCxn id="79" idx="0"/>
          </p:cNvCxnSpPr>
          <p:nvPr/>
        </p:nvCxnSpPr>
        <p:spPr>
          <a:xfrm rot="5400000">
            <a:off x="2073529" y="4721478"/>
            <a:ext cx="389911" cy="372883"/>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4" name="TextBox 133">
            <a:extLst>
              <a:ext uri="{FF2B5EF4-FFF2-40B4-BE49-F238E27FC236}">
                <a16:creationId xmlns:a16="http://schemas.microsoft.com/office/drawing/2014/main" id="{D79A5373-6EBC-0BFB-0DFE-94C44C33F0EA}"/>
              </a:ext>
            </a:extLst>
          </p:cNvPr>
          <p:cNvSpPr txBox="1"/>
          <p:nvPr/>
        </p:nvSpPr>
        <p:spPr>
          <a:xfrm>
            <a:off x="2895187" y="5800353"/>
            <a:ext cx="646331" cy="246221"/>
          </a:xfrm>
          <a:prstGeom prst="rect">
            <a:avLst/>
          </a:prstGeom>
          <a:solidFill>
            <a:schemeClr val="accent6">
              <a:lumMod val="50000"/>
            </a:schemeClr>
          </a:solidFill>
          <a:ln>
            <a:solidFill>
              <a:schemeClr val="bg1">
                <a:lumMod val="50000"/>
              </a:schemeClr>
            </a:solidFill>
          </a:ln>
        </p:spPr>
        <p:txBody>
          <a:bodyPr wrap="none" rtlCol="0">
            <a:spAutoFit/>
          </a:bodyPr>
          <a:lstStyle/>
          <a:p>
            <a:r>
              <a:rPr lang="ko-KR" altLang="en-US" sz="1000" dirty="0">
                <a:solidFill>
                  <a:schemeClr val="bg1">
                    <a:lumMod val="95000"/>
                  </a:schemeClr>
                </a:solidFill>
              </a:rPr>
              <a:t>인용판결</a:t>
            </a:r>
          </a:p>
        </p:txBody>
      </p:sp>
      <p:sp>
        <p:nvSpPr>
          <p:cNvPr id="135" name="TextBox 134">
            <a:extLst>
              <a:ext uri="{FF2B5EF4-FFF2-40B4-BE49-F238E27FC236}">
                <a16:creationId xmlns:a16="http://schemas.microsoft.com/office/drawing/2014/main" id="{97947B24-DBFE-BC29-66D4-7D936539EEBF}"/>
              </a:ext>
            </a:extLst>
          </p:cNvPr>
          <p:cNvSpPr txBox="1"/>
          <p:nvPr/>
        </p:nvSpPr>
        <p:spPr>
          <a:xfrm>
            <a:off x="605387" y="5803887"/>
            <a:ext cx="646331" cy="246221"/>
          </a:xfrm>
          <a:prstGeom prst="rect">
            <a:avLst/>
          </a:prstGeom>
          <a:noFill/>
          <a:ln>
            <a:solidFill>
              <a:schemeClr val="bg1">
                <a:lumMod val="50000"/>
              </a:schemeClr>
            </a:solidFill>
          </a:ln>
        </p:spPr>
        <p:txBody>
          <a:bodyPr wrap="none" rtlCol="0">
            <a:spAutoFit/>
          </a:bodyPr>
          <a:lstStyle/>
          <a:p>
            <a:r>
              <a:rPr lang="ko-KR" altLang="en-US" sz="1000" dirty="0" err="1"/>
              <a:t>소장각하</a:t>
            </a:r>
            <a:endParaRPr lang="ko-KR" altLang="en-US" sz="1000" dirty="0"/>
          </a:p>
        </p:txBody>
      </p:sp>
      <p:sp>
        <p:nvSpPr>
          <p:cNvPr id="138" name="TextBox 137">
            <a:extLst>
              <a:ext uri="{FF2B5EF4-FFF2-40B4-BE49-F238E27FC236}">
                <a16:creationId xmlns:a16="http://schemas.microsoft.com/office/drawing/2014/main" id="{F422707F-A087-2BA4-1F58-CD46C07B9DB4}"/>
              </a:ext>
            </a:extLst>
          </p:cNvPr>
          <p:cNvSpPr txBox="1"/>
          <p:nvPr/>
        </p:nvSpPr>
        <p:spPr>
          <a:xfrm>
            <a:off x="2131759" y="5803886"/>
            <a:ext cx="646331" cy="246221"/>
          </a:xfrm>
          <a:prstGeom prst="rect">
            <a:avLst/>
          </a:prstGeom>
          <a:noFill/>
          <a:ln>
            <a:solidFill>
              <a:schemeClr val="bg1">
                <a:lumMod val="50000"/>
              </a:schemeClr>
            </a:solidFill>
          </a:ln>
        </p:spPr>
        <p:txBody>
          <a:bodyPr wrap="none" rtlCol="0">
            <a:spAutoFit/>
          </a:bodyPr>
          <a:lstStyle/>
          <a:p>
            <a:r>
              <a:rPr lang="ko-KR" altLang="en-US" sz="1000" dirty="0"/>
              <a:t>기각판결</a:t>
            </a:r>
          </a:p>
        </p:txBody>
      </p:sp>
      <p:sp>
        <p:nvSpPr>
          <p:cNvPr id="139" name="TextBox 138">
            <a:extLst>
              <a:ext uri="{FF2B5EF4-FFF2-40B4-BE49-F238E27FC236}">
                <a16:creationId xmlns:a16="http://schemas.microsoft.com/office/drawing/2014/main" id="{A00A03DF-7277-9B0F-0D8D-401A5843D50F}"/>
              </a:ext>
            </a:extLst>
          </p:cNvPr>
          <p:cNvSpPr txBox="1"/>
          <p:nvPr/>
        </p:nvSpPr>
        <p:spPr>
          <a:xfrm>
            <a:off x="1348616" y="5803887"/>
            <a:ext cx="702424" cy="246221"/>
          </a:xfrm>
          <a:prstGeom prst="rect">
            <a:avLst/>
          </a:prstGeom>
          <a:noFill/>
          <a:ln>
            <a:solidFill>
              <a:schemeClr val="bg1">
                <a:lumMod val="50000"/>
              </a:schemeClr>
            </a:solidFill>
          </a:ln>
        </p:spPr>
        <p:txBody>
          <a:bodyPr wrap="square" rtlCol="0">
            <a:spAutoFit/>
          </a:bodyPr>
          <a:lstStyle/>
          <a:p>
            <a:pPr algn="ctr"/>
            <a:r>
              <a:rPr lang="ko-KR" altLang="en-US" sz="1000"/>
              <a:t>소각하</a:t>
            </a:r>
            <a:endParaRPr lang="ko-KR" altLang="en-US" sz="1000" dirty="0"/>
          </a:p>
        </p:txBody>
      </p:sp>
      <p:cxnSp>
        <p:nvCxnSpPr>
          <p:cNvPr id="140" name="연결선: 꺾임 139">
            <a:extLst>
              <a:ext uri="{FF2B5EF4-FFF2-40B4-BE49-F238E27FC236}">
                <a16:creationId xmlns:a16="http://schemas.microsoft.com/office/drawing/2014/main" id="{F40F4401-616C-3AE3-6CD9-CC8F1BA2EA7C}"/>
              </a:ext>
            </a:extLst>
          </p:cNvPr>
          <p:cNvCxnSpPr>
            <a:cxnSpLocks/>
            <a:stCxn id="79" idx="2"/>
            <a:endCxn id="135" idx="0"/>
          </p:cNvCxnSpPr>
          <p:nvPr/>
        </p:nvCxnSpPr>
        <p:spPr>
          <a:xfrm rot="5400000">
            <a:off x="1320139" y="5041983"/>
            <a:ext cx="370319" cy="1153489"/>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연결선: 꺾임 143">
            <a:extLst>
              <a:ext uri="{FF2B5EF4-FFF2-40B4-BE49-F238E27FC236}">
                <a16:creationId xmlns:a16="http://schemas.microsoft.com/office/drawing/2014/main" id="{4616FE5D-1557-4BDF-6C67-3A2DABD7D989}"/>
              </a:ext>
            </a:extLst>
          </p:cNvPr>
          <p:cNvCxnSpPr>
            <a:cxnSpLocks/>
            <a:stCxn id="79" idx="2"/>
            <a:endCxn id="134" idx="0"/>
          </p:cNvCxnSpPr>
          <p:nvPr/>
        </p:nvCxnSpPr>
        <p:spPr>
          <a:xfrm rot="16200000" flipH="1">
            <a:off x="2466805" y="5048804"/>
            <a:ext cx="366785" cy="1136311"/>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연결선: 꺾임 144">
            <a:extLst>
              <a:ext uri="{FF2B5EF4-FFF2-40B4-BE49-F238E27FC236}">
                <a16:creationId xmlns:a16="http://schemas.microsoft.com/office/drawing/2014/main" id="{D3BA6768-AF6F-9DB9-3E8F-33952706BB72}"/>
              </a:ext>
            </a:extLst>
          </p:cNvPr>
          <p:cNvCxnSpPr>
            <a:cxnSpLocks/>
            <a:stCxn id="79" idx="2"/>
            <a:endCxn id="139" idx="0"/>
          </p:cNvCxnSpPr>
          <p:nvPr/>
        </p:nvCxnSpPr>
        <p:spPr>
          <a:xfrm rot="5400000">
            <a:off x="1705776" y="5427620"/>
            <a:ext cx="370319" cy="382214"/>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연결선: 꺾임 145">
            <a:extLst>
              <a:ext uri="{FF2B5EF4-FFF2-40B4-BE49-F238E27FC236}">
                <a16:creationId xmlns:a16="http://schemas.microsoft.com/office/drawing/2014/main" id="{D1540982-A558-0F38-DE2F-954E6CF49338}"/>
              </a:ext>
            </a:extLst>
          </p:cNvPr>
          <p:cNvCxnSpPr>
            <a:cxnSpLocks/>
            <a:stCxn id="79" idx="2"/>
            <a:endCxn id="138" idx="0"/>
          </p:cNvCxnSpPr>
          <p:nvPr/>
        </p:nvCxnSpPr>
        <p:spPr>
          <a:xfrm rot="16200000" flipH="1">
            <a:off x="2083324" y="5432285"/>
            <a:ext cx="370318" cy="372883"/>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연결선: 꺾임 147">
            <a:extLst>
              <a:ext uri="{FF2B5EF4-FFF2-40B4-BE49-F238E27FC236}">
                <a16:creationId xmlns:a16="http://schemas.microsoft.com/office/drawing/2014/main" id="{3A521ECC-8A89-6EF6-51C5-F2D0458E839E}"/>
              </a:ext>
            </a:extLst>
          </p:cNvPr>
          <p:cNvCxnSpPr>
            <a:cxnSpLocks/>
            <a:stCxn id="80" idx="3"/>
            <a:endCxn id="5" idx="3"/>
          </p:cNvCxnSpPr>
          <p:nvPr/>
        </p:nvCxnSpPr>
        <p:spPr>
          <a:xfrm flipH="1" flipV="1">
            <a:off x="2604569" y="2654041"/>
            <a:ext cx="936949" cy="1932280"/>
          </a:xfrm>
          <a:prstGeom prst="bentConnector3">
            <a:avLst>
              <a:gd name="adj1" fmla="val -24398"/>
            </a:avLst>
          </a:prstGeom>
          <a:ln w="28575">
            <a:solidFill>
              <a:schemeClr val="accent4">
                <a:lumMod val="7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2" name="TextBox 151">
            <a:extLst>
              <a:ext uri="{FF2B5EF4-FFF2-40B4-BE49-F238E27FC236}">
                <a16:creationId xmlns:a16="http://schemas.microsoft.com/office/drawing/2014/main" id="{F2224EDE-E7CD-A734-2FAB-31521B835351}"/>
              </a:ext>
            </a:extLst>
          </p:cNvPr>
          <p:cNvSpPr txBox="1"/>
          <p:nvPr/>
        </p:nvSpPr>
        <p:spPr>
          <a:xfrm>
            <a:off x="3137564" y="3684409"/>
            <a:ext cx="583369" cy="261610"/>
          </a:xfrm>
          <a:prstGeom prst="rect">
            <a:avLst/>
          </a:prstGeom>
          <a:noFill/>
          <a:ln>
            <a:noFill/>
          </a:ln>
        </p:spPr>
        <p:txBody>
          <a:bodyPr wrap="none" rtlCol="0">
            <a:spAutoFit/>
          </a:bodyPr>
          <a:lstStyle/>
          <a:p>
            <a:r>
              <a:rPr lang="ko-KR" altLang="en-US" sz="1050" dirty="0" err="1">
                <a:solidFill>
                  <a:srgbClr val="FF0000"/>
                </a:solidFill>
              </a:rPr>
              <a:t>취소환송</a:t>
            </a:r>
            <a:endParaRPr lang="ko-KR" altLang="en-US" sz="1050" dirty="0">
              <a:solidFill>
                <a:srgbClr val="FF0000"/>
              </a:solidFill>
            </a:endParaRPr>
          </a:p>
        </p:txBody>
      </p:sp>
      <p:cxnSp>
        <p:nvCxnSpPr>
          <p:cNvPr id="153" name="연결선: 꺾임 152">
            <a:extLst>
              <a:ext uri="{FF2B5EF4-FFF2-40B4-BE49-F238E27FC236}">
                <a16:creationId xmlns:a16="http://schemas.microsoft.com/office/drawing/2014/main" id="{60969078-E61E-4520-FBCF-D0B502835767}"/>
              </a:ext>
            </a:extLst>
          </p:cNvPr>
          <p:cNvCxnSpPr>
            <a:cxnSpLocks/>
            <a:stCxn id="134" idx="3"/>
            <a:endCxn id="7" idx="1"/>
          </p:cNvCxnSpPr>
          <p:nvPr/>
        </p:nvCxnSpPr>
        <p:spPr>
          <a:xfrm flipH="1" flipV="1">
            <a:off x="1559515" y="4002792"/>
            <a:ext cx="1982003" cy="1920672"/>
          </a:xfrm>
          <a:prstGeom prst="bentConnector5">
            <a:avLst>
              <a:gd name="adj1" fmla="val -11534"/>
              <a:gd name="adj2" fmla="val -22046"/>
              <a:gd name="adj3" fmla="val 164454"/>
            </a:avLst>
          </a:prstGeom>
          <a:ln w="28575">
            <a:solidFill>
              <a:schemeClr val="accent6">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1" name="TextBox 160">
            <a:extLst>
              <a:ext uri="{FF2B5EF4-FFF2-40B4-BE49-F238E27FC236}">
                <a16:creationId xmlns:a16="http://schemas.microsoft.com/office/drawing/2014/main" id="{EF387971-05B0-D898-EDC2-C640B5AD0517}"/>
              </a:ext>
            </a:extLst>
          </p:cNvPr>
          <p:cNvSpPr txBox="1"/>
          <p:nvPr/>
        </p:nvSpPr>
        <p:spPr>
          <a:xfrm>
            <a:off x="1583039" y="6347957"/>
            <a:ext cx="671979" cy="253916"/>
          </a:xfrm>
          <a:prstGeom prst="rect">
            <a:avLst/>
          </a:prstGeom>
          <a:noFill/>
          <a:ln>
            <a:noFill/>
          </a:ln>
        </p:spPr>
        <p:txBody>
          <a:bodyPr wrap="none" rtlCol="0">
            <a:spAutoFit/>
          </a:bodyPr>
          <a:lstStyle/>
          <a:p>
            <a:r>
              <a:rPr lang="ko-KR" altLang="en-US" sz="1050" dirty="0" err="1">
                <a:solidFill>
                  <a:srgbClr val="FF0000"/>
                </a:solidFill>
              </a:rPr>
              <a:t>파기환송</a:t>
            </a:r>
            <a:endParaRPr lang="ko-KR" altLang="en-US" sz="1050" dirty="0">
              <a:solidFill>
                <a:srgbClr val="FF0000"/>
              </a:solidFill>
            </a:endParaRPr>
          </a:p>
        </p:txBody>
      </p:sp>
      <p:sp>
        <p:nvSpPr>
          <p:cNvPr id="164" name="직사각형 163">
            <a:extLst>
              <a:ext uri="{FF2B5EF4-FFF2-40B4-BE49-F238E27FC236}">
                <a16:creationId xmlns:a16="http://schemas.microsoft.com/office/drawing/2014/main" id="{60DE5784-C050-99D3-F908-39E44DF4F8FA}"/>
              </a:ext>
            </a:extLst>
          </p:cNvPr>
          <p:cNvSpPr/>
          <p:nvPr/>
        </p:nvSpPr>
        <p:spPr>
          <a:xfrm>
            <a:off x="512637" y="4402751"/>
            <a:ext cx="2353027" cy="382189"/>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65" name="TextBox 164">
            <a:extLst>
              <a:ext uri="{FF2B5EF4-FFF2-40B4-BE49-F238E27FC236}">
                <a16:creationId xmlns:a16="http://schemas.microsoft.com/office/drawing/2014/main" id="{315BC58C-AF3F-44B7-39FA-91D2C95D7AD5}"/>
              </a:ext>
            </a:extLst>
          </p:cNvPr>
          <p:cNvSpPr txBox="1"/>
          <p:nvPr/>
        </p:nvSpPr>
        <p:spPr>
          <a:xfrm>
            <a:off x="473054" y="4054911"/>
            <a:ext cx="690249" cy="261610"/>
          </a:xfrm>
          <a:prstGeom prst="rect">
            <a:avLst/>
          </a:prstGeom>
          <a:noFill/>
          <a:ln>
            <a:noFill/>
          </a:ln>
        </p:spPr>
        <p:txBody>
          <a:bodyPr wrap="none" rtlCol="0">
            <a:spAutoFit/>
          </a:bodyPr>
          <a:lstStyle/>
          <a:p>
            <a:r>
              <a:rPr lang="ko-KR" altLang="en-US" sz="1050" dirty="0" err="1">
                <a:solidFill>
                  <a:srgbClr val="FF0000"/>
                </a:solidFill>
              </a:rPr>
              <a:t>원심결유지</a:t>
            </a:r>
            <a:endParaRPr lang="ko-KR" altLang="en-US" sz="1050" dirty="0">
              <a:solidFill>
                <a:srgbClr val="FF0000"/>
              </a:solidFill>
            </a:endParaRPr>
          </a:p>
        </p:txBody>
      </p:sp>
      <p:sp>
        <p:nvSpPr>
          <p:cNvPr id="166" name="직사각형 165">
            <a:extLst>
              <a:ext uri="{FF2B5EF4-FFF2-40B4-BE49-F238E27FC236}">
                <a16:creationId xmlns:a16="http://schemas.microsoft.com/office/drawing/2014/main" id="{A0BA4238-E316-69AD-4F90-5635F0B4D67F}"/>
              </a:ext>
            </a:extLst>
          </p:cNvPr>
          <p:cNvSpPr/>
          <p:nvPr/>
        </p:nvSpPr>
        <p:spPr>
          <a:xfrm>
            <a:off x="512637" y="5730395"/>
            <a:ext cx="2353027" cy="400647"/>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sz="1200"/>
          </a:p>
        </p:txBody>
      </p:sp>
      <p:sp>
        <p:nvSpPr>
          <p:cNvPr id="167" name="TextBox 166">
            <a:extLst>
              <a:ext uri="{FF2B5EF4-FFF2-40B4-BE49-F238E27FC236}">
                <a16:creationId xmlns:a16="http://schemas.microsoft.com/office/drawing/2014/main" id="{516F8BB3-EE5E-DB01-7ED8-DF5334650588}"/>
              </a:ext>
            </a:extLst>
          </p:cNvPr>
          <p:cNvSpPr txBox="1"/>
          <p:nvPr/>
        </p:nvSpPr>
        <p:spPr>
          <a:xfrm>
            <a:off x="473054" y="5463236"/>
            <a:ext cx="690249" cy="261610"/>
          </a:xfrm>
          <a:prstGeom prst="rect">
            <a:avLst/>
          </a:prstGeom>
          <a:noFill/>
          <a:ln>
            <a:noFill/>
          </a:ln>
        </p:spPr>
        <p:txBody>
          <a:bodyPr wrap="none" rtlCol="0">
            <a:spAutoFit/>
          </a:bodyPr>
          <a:lstStyle/>
          <a:p>
            <a:r>
              <a:rPr lang="ko-KR" altLang="en-US" sz="1050" dirty="0">
                <a:solidFill>
                  <a:srgbClr val="FF0000"/>
                </a:solidFill>
              </a:rPr>
              <a:t>원판결유지</a:t>
            </a:r>
          </a:p>
        </p:txBody>
      </p:sp>
      <p:sp>
        <p:nvSpPr>
          <p:cNvPr id="89" name="직사각형 88"/>
          <p:cNvSpPr/>
          <p:nvPr/>
        </p:nvSpPr>
        <p:spPr>
          <a:xfrm>
            <a:off x="9661736" y="2099947"/>
            <a:ext cx="930523" cy="644129"/>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err="1">
                <a:solidFill>
                  <a:schemeClr val="tx1"/>
                </a:solidFill>
              </a:rPr>
              <a:t>심사국</a:t>
            </a:r>
            <a:endParaRPr lang="ko-KR" altLang="en-US" sz="1100" dirty="0">
              <a:solidFill>
                <a:schemeClr val="tx1"/>
              </a:solidFill>
            </a:endParaRPr>
          </a:p>
        </p:txBody>
      </p:sp>
      <p:sp>
        <p:nvSpPr>
          <p:cNvPr id="90" name="직사각형 89"/>
          <p:cNvSpPr/>
          <p:nvPr/>
        </p:nvSpPr>
        <p:spPr>
          <a:xfrm>
            <a:off x="9661736" y="3329267"/>
            <a:ext cx="930523" cy="644129"/>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심판원</a:t>
            </a:r>
          </a:p>
        </p:txBody>
      </p:sp>
      <p:sp>
        <p:nvSpPr>
          <p:cNvPr id="91" name="직사각형 90"/>
          <p:cNvSpPr/>
          <p:nvPr/>
        </p:nvSpPr>
        <p:spPr>
          <a:xfrm>
            <a:off x="9661736" y="4519894"/>
            <a:ext cx="930523" cy="643532"/>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특허법원</a:t>
            </a:r>
          </a:p>
        </p:txBody>
      </p:sp>
      <p:sp>
        <p:nvSpPr>
          <p:cNvPr id="93" name="직사각형 92"/>
          <p:cNvSpPr/>
          <p:nvPr/>
        </p:nvSpPr>
        <p:spPr>
          <a:xfrm>
            <a:off x="9661736" y="5739093"/>
            <a:ext cx="930523" cy="644129"/>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100" dirty="0">
                <a:solidFill>
                  <a:schemeClr val="tx1"/>
                </a:solidFill>
              </a:rPr>
              <a:t>대법원</a:t>
            </a:r>
          </a:p>
        </p:txBody>
      </p:sp>
      <p:cxnSp>
        <p:nvCxnSpPr>
          <p:cNvPr id="41" name="직선 화살표 연결선 40"/>
          <p:cNvCxnSpPr>
            <a:stCxn id="42" idx="2"/>
            <a:endCxn id="89" idx="0"/>
          </p:cNvCxnSpPr>
          <p:nvPr/>
        </p:nvCxnSpPr>
        <p:spPr>
          <a:xfrm>
            <a:off x="10117705" y="1792826"/>
            <a:ext cx="9293" cy="307121"/>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9794539" y="1546605"/>
            <a:ext cx="646331" cy="246221"/>
          </a:xfrm>
          <a:prstGeom prst="rect">
            <a:avLst/>
          </a:prstGeom>
          <a:noFill/>
        </p:spPr>
        <p:txBody>
          <a:bodyPr wrap="none" rtlCol="0">
            <a:spAutoFit/>
          </a:bodyPr>
          <a:lstStyle/>
          <a:p>
            <a:r>
              <a:rPr lang="ko-KR" altLang="en-US" sz="1000" dirty="0"/>
              <a:t>특허출원</a:t>
            </a:r>
          </a:p>
        </p:txBody>
      </p:sp>
      <p:sp>
        <p:nvSpPr>
          <p:cNvPr id="95" name="TextBox 94"/>
          <p:cNvSpPr txBox="1"/>
          <p:nvPr/>
        </p:nvSpPr>
        <p:spPr>
          <a:xfrm>
            <a:off x="10773430" y="2099947"/>
            <a:ext cx="646331" cy="246221"/>
          </a:xfrm>
          <a:prstGeom prst="rect">
            <a:avLst/>
          </a:prstGeom>
          <a:noFill/>
          <a:ln>
            <a:solidFill>
              <a:schemeClr val="bg1">
                <a:lumMod val="50000"/>
              </a:schemeClr>
            </a:solidFill>
          </a:ln>
        </p:spPr>
        <p:txBody>
          <a:bodyPr wrap="none" rtlCol="0">
            <a:spAutoFit/>
          </a:bodyPr>
          <a:lstStyle/>
          <a:p>
            <a:r>
              <a:rPr lang="ko-KR" altLang="en-US" sz="1000" dirty="0"/>
              <a:t>특허결정</a:t>
            </a:r>
          </a:p>
        </p:txBody>
      </p:sp>
      <p:sp>
        <p:nvSpPr>
          <p:cNvPr id="97" name="TextBox 96"/>
          <p:cNvSpPr txBox="1"/>
          <p:nvPr/>
        </p:nvSpPr>
        <p:spPr>
          <a:xfrm>
            <a:off x="10773430" y="2436299"/>
            <a:ext cx="646331" cy="246221"/>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1000" dirty="0"/>
              <a:t>거절결정</a:t>
            </a:r>
          </a:p>
        </p:txBody>
      </p:sp>
      <p:cxnSp>
        <p:nvCxnSpPr>
          <p:cNvPr id="99" name="직선 화살표 연결선 98"/>
          <p:cNvCxnSpPr>
            <a:stCxn id="89" idx="2"/>
            <a:endCxn id="90" idx="0"/>
          </p:cNvCxnSpPr>
          <p:nvPr/>
        </p:nvCxnSpPr>
        <p:spPr>
          <a:xfrm>
            <a:off x="10126998" y="2744076"/>
            <a:ext cx="0" cy="585191"/>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1" name="직선 화살표 연결선 100"/>
          <p:cNvCxnSpPr>
            <a:stCxn id="90" idx="2"/>
            <a:endCxn id="91" idx="0"/>
          </p:cNvCxnSpPr>
          <p:nvPr/>
        </p:nvCxnSpPr>
        <p:spPr>
          <a:xfrm>
            <a:off x="10126998" y="3973396"/>
            <a:ext cx="0" cy="546498"/>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6" name="직선 화살표 연결선 105"/>
          <p:cNvCxnSpPr>
            <a:stCxn id="91" idx="2"/>
            <a:endCxn id="93" idx="0"/>
          </p:cNvCxnSpPr>
          <p:nvPr/>
        </p:nvCxnSpPr>
        <p:spPr>
          <a:xfrm>
            <a:off x="10126998" y="5163426"/>
            <a:ext cx="0" cy="575667"/>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2" name="꺾인 연결선 71"/>
          <p:cNvCxnSpPr>
            <a:stCxn id="97" idx="2"/>
            <a:endCxn id="90" idx="0"/>
          </p:cNvCxnSpPr>
          <p:nvPr/>
        </p:nvCxnSpPr>
        <p:spPr>
          <a:xfrm rot="5400000">
            <a:off x="10288424" y="2521094"/>
            <a:ext cx="646747" cy="969598"/>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TextBox 113"/>
          <p:cNvSpPr txBox="1"/>
          <p:nvPr/>
        </p:nvSpPr>
        <p:spPr>
          <a:xfrm>
            <a:off x="8812175" y="3329267"/>
            <a:ext cx="646331" cy="246221"/>
          </a:xfrm>
          <a:prstGeom prst="rect">
            <a:avLst/>
          </a:prstGeom>
          <a:noFill/>
          <a:ln>
            <a:solidFill>
              <a:schemeClr val="bg1">
                <a:lumMod val="50000"/>
              </a:schemeClr>
            </a:solidFill>
          </a:ln>
        </p:spPr>
        <p:txBody>
          <a:bodyPr wrap="none" rtlCol="0">
            <a:spAutoFit/>
          </a:bodyPr>
          <a:lstStyle/>
          <a:p>
            <a:r>
              <a:rPr lang="ko-KR" altLang="en-US" sz="1000" dirty="0" err="1"/>
              <a:t>인용심결</a:t>
            </a:r>
            <a:endParaRPr lang="ko-KR" altLang="en-US" sz="1000" dirty="0"/>
          </a:p>
        </p:txBody>
      </p:sp>
      <p:sp>
        <p:nvSpPr>
          <p:cNvPr id="118" name="TextBox 117"/>
          <p:cNvSpPr txBox="1"/>
          <p:nvPr/>
        </p:nvSpPr>
        <p:spPr>
          <a:xfrm>
            <a:off x="8812175" y="3665619"/>
            <a:ext cx="646331" cy="246221"/>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1000" dirty="0" err="1"/>
              <a:t>기각심결</a:t>
            </a:r>
            <a:endParaRPr lang="ko-KR" altLang="en-US" sz="1000" dirty="0"/>
          </a:p>
        </p:txBody>
      </p:sp>
      <p:cxnSp>
        <p:nvCxnSpPr>
          <p:cNvPr id="104" name="꺾인 연결선 103"/>
          <p:cNvCxnSpPr>
            <a:stCxn id="118" idx="2"/>
            <a:endCxn id="91" idx="0"/>
          </p:cNvCxnSpPr>
          <p:nvPr/>
        </p:nvCxnSpPr>
        <p:spPr>
          <a:xfrm rot="16200000" flipH="1">
            <a:off x="9327142" y="3720038"/>
            <a:ext cx="608054" cy="991657"/>
          </a:xfrm>
          <a:prstGeom prst="bentConnector3">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TextBox 121"/>
          <p:cNvSpPr txBox="1"/>
          <p:nvPr/>
        </p:nvSpPr>
        <p:spPr>
          <a:xfrm>
            <a:off x="10773431" y="4519297"/>
            <a:ext cx="646331" cy="246221"/>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1000" dirty="0"/>
              <a:t>인용판결</a:t>
            </a:r>
          </a:p>
        </p:txBody>
      </p:sp>
      <p:sp>
        <p:nvSpPr>
          <p:cNvPr id="124" name="TextBox 123"/>
          <p:cNvSpPr txBox="1"/>
          <p:nvPr/>
        </p:nvSpPr>
        <p:spPr>
          <a:xfrm>
            <a:off x="10773431" y="4855649"/>
            <a:ext cx="646331" cy="246221"/>
          </a:xfrm>
          <a:prstGeom prst="rect">
            <a:avLst/>
          </a:prstGeom>
          <a:solidFill>
            <a:schemeClr val="accent1">
              <a:lumMod val="20000"/>
              <a:lumOff val="80000"/>
            </a:schemeClr>
          </a:solidFill>
          <a:ln>
            <a:solidFill>
              <a:schemeClr val="bg1">
                <a:lumMod val="50000"/>
              </a:schemeClr>
            </a:solidFill>
          </a:ln>
        </p:spPr>
        <p:txBody>
          <a:bodyPr wrap="none" rtlCol="0">
            <a:spAutoFit/>
          </a:bodyPr>
          <a:lstStyle/>
          <a:p>
            <a:r>
              <a:rPr lang="ko-KR" altLang="en-US" sz="1000" dirty="0"/>
              <a:t>기각판결</a:t>
            </a:r>
          </a:p>
        </p:txBody>
      </p:sp>
      <p:cxnSp>
        <p:nvCxnSpPr>
          <p:cNvPr id="130" name="꺾인 연결선 129"/>
          <p:cNvCxnSpPr>
            <a:stCxn id="122" idx="3"/>
            <a:endCxn id="93" idx="0"/>
          </p:cNvCxnSpPr>
          <p:nvPr/>
        </p:nvCxnSpPr>
        <p:spPr>
          <a:xfrm flipH="1">
            <a:off x="10126998" y="4642408"/>
            <a:ext cx="1292764" cy="1096685"/>
          </a:xfrm>
          <a:prstGeom prst="bentConnector4">
            <a:avLst>
              <a:gd name="adj1" fmla="val -17683"/>
              <a:gd name="adj2" fmla="val 55613"/>
            </a:avLst>
          </a:prstGeom>
          <a:ln w="12700">
            <a:solidFill>
              <a:schemeClr val="bg1">
                <a:lumMod val="50000"/>
              </a:schemeClr>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124" idx="3"/>
            <a:endCxn id="93" idx="0"/>
          </p:cNvCxnSpPr>
          <p:nvPr/>
        </p:nvCxnSpPr>
        <p:spPr>
          <a:xfrm flipH="1">
            <a:off x="10126998" y="4978760"/>
            <a:ext cx="1292764" cy="760333"/>
          </a:xfrm>
          <a:prstGeom prst="bentConnector4">
            <a:avLst>
              <a:gd name="adj1" fmla="val -17683"/>
              <a:gd name="adj2" fmla="val 58096"/>
            </a:avLst>
          </a:prstGeom>
          <a:ln w="12700">
            <a:solidFill>
              <a:schemeClr val="bg1">
                <a:lumMod val="50000"/>
              </a:schemeClr>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a:off x="8812175" y="5739093"/>
            <a:ext cx="646331" cy="246221"/>
          </a:xfrm>
          <a:prstGeom prst="rect">
            <a:avLst/>
          </a:prstGeom>
          <a:noFill/>
          <a:ln>
            <a:solidFill>
              <a:schemeClr val="bg1">
                <a:lumMod val="50000"/>
              </a:schemeClr>
            </a:solidFill>
          </a:ln>
        </p:spPr>
        <p:txBody>
          <a:bodyPr wrap="none" rtlCol="0">
            <a:spAutoFit/>
          </a:bodyPr>
          <a:lstStyle/>
          <a:p>
            <a:r>
              <a:rPr lang="ko-KR" altLang="en-US" sz="1000" dirty="0"/>
              <a:t>인용판결</a:t>
            </a:r>
          </a:p>
        </p:txBody>
      </p:sp>
      <p:sp>
        <p:nvSpPr>
          <p:cNvPr id="137" name="TextBox 136"/>
          <p:cNvSpPr txBox="1"/>
          <p:nvPr/>
        </p:nvSpPr>
        <p:spPr>
          <a:xfrm>
            <a:off x="8812175" y="6075445"/>
            <a:ext cx="646331" cy="246221"/>
          </a:xfrm>
          <a:prstGeom prst="rect">
            <a:avLst/>
          </a:prstGeom>
          <a:solidFill>
            <a:schemeClr val="bg1"/>
          </a:solidFill>
          <a:ln>
            <a:solidFill>
              <a:schemeClr val="bg1">
                <a:lumMod val="50000"/>
              </a:schemeClr>
            </a:solidFill>
          </a:ln>
        </p:spPr>
        <p:txBody>
          <a:bodyPr wrap="none" rtlCol="0">
            <a:spAutoFit/>
          </a:bodyPr>
          <a:lstStyle/>
          <a:p>
            <a:r>
              <a:rPr lang="ko-KR" altLang="en-US" sz="1000" dirty="0"/>
              <a:t>기각판결</a:t>
            </a:r>
          </a:p>
        </p:txBody>
      </p:sp>
      <p:sp>
        <p:nvSpPr>
          <p:cNvPr id="141" name="모서리가 둥근 사각형 설명선 140"/>
          <p:cNvSpPr/>
          <p:nvPr/>
        </p:nvSpPr>
        <p:spPr>
          <a:xfrm>
            <a:off x="8471382" y="2603199"/>
            <a:ext cx="1025799" cy="535187"/>
          </a:xfrm>
          <a:prstGeom prst="wedgeRoundRectCallout">
            <a:avLst>
              <a:gd name="adj1" fmla="val 21996"/>
              <a:gd name="adj2" fmla="val 81868"/>
              <a:gd name="adj3" fmla="val 16667"/>
            </a:avLst>
          </a:prstGeom>
          <a:solidFill>
            <a:schemeClr val="tx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거절결정취소</a:t>
            </a:r>
            <a:endParaRPr lang="en-US" altLang="ko-KR" sz="1000" dirty="0"/>
          </a:p>
          <a:p>
            <a:pPr algn="ctr"/>
            <a:r>
              <a:rPr lang="ko-KR" altLang="en-US" sz="1000" dirty="0"/>
              <a:t>자판 또는 환송</a:t>
            </a:r>
          </a:p>
        </p:txBody>
      </p:sp>
      <p:sp>
        <p:nvSpPr>
          <p:cNvPr id="142" name="모서리가 둥근 사각형 설명선 141"/>
          <p:cNvSpPr/>
          <p:nvPr/>
        </p:nvSpPr>
        <p:spPr>
          <a:xfrm>
            <a:off x="10906861" y="3826799"/>
            <a:ext cx="1025799" cy="391627"/>
          </a:xfrm>
          <a:prstGeom prst="wedgeRoundRectCallout">
            <a:avLst>
              <a:gd name="adj1" fmla="val -34369"/>
              <a:gd name="adj2" fmla="val 113009"/>
              <a:gd name="adj3" fmla="val 16667"/>
            </a:avLst>
          </a:prstGeom>
          <a:solidFill>
            <a:schemeClr val="tx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취소환송</a:t>
            </a:r>
          </a:p>
        </p:txBody>
      </p:sp>
      <p:sp>
        <p:nvSpPr>
          <p:cNvPr id="143" name="모서리가 둥근 사각형 설명선 142"/>
          <p:cNvSpPr/>
          <p:nvPr/>
        </p:nvSpPr>
        <p:spPr>
          <a:xfrm>
            <a:off x="8355669" y="5059632"/>
            <a:ext cx="1025799" cy="391627"/>
          </a:xfrm>
          <a:prstGeom prst="wedgeRoundRectCallout">
            <a:avLst>
              <a:gd name="adj1" fmla="val 35307"/>
              <a:gd name="adj2" fmla="val 121879"/>
              <a:gd name="adj3" fmla="val 16667"/>
            </a:avLst>
          </a:prstGeom>
          <a:solidFill>
            <a:schemeClr val="tx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000" dirty="0"/>
              <a:t>파기환송</a:t>
            </a:r>
          </a:p>
        </p:txBody>
      </p:sp>
      <p:sp>
        <p:nvSpPr>
          <p:cNvPr id="168" name="TextBox 167">
            <a:extLst>
              <a:ext uri="{FF2B5EF4-FFF2-40B4-BE49-F238E27FC236}">
                <a16:creationId xmlns:a16="http://schemas.microsoft.com/office/drawing/2014/main" id="{29416010-0290-E48A-94A5-AAECA5A576D6}"/>
              </a:ext>
            </a:extLst>
          </p:cNvPr>
          <p:cNvSpPr txBox="1"/>
          <p:nvPr/>
        </p:nvSpPr>
        <p:spPr>
          <a:xfrm>
            <a:off x="8630508" y="2344661"/>
            <a:ext cx="627095" cy="246221"/>
          </a:xfrm>
          <a:prstGeom prst="rect">
            <a:avLst/>
          </a:prstGeom>
          <a:noFill/>
          <a:ln>
            <a:noFill/>
          </a:ln>
        </p:spPr>
        <p:txBody>
          <a:bodyPr wrap="none" rtlCol="0">
            <a:spAutoFit/>
          </a:bodyPr>
          <a:lstStyle/>
          <a:p>
            <a:r>
              <a:rPr lang="ko-KR" altLang="en-US" sz="1000" dirty="0">
                <a:solidFill>
                  <a:srgbClr val="FF0000"/>
                </a:solidFill>
              </a:rPr>
              <a:t>제</a:t>
            </a:r>
            <a:r>
              <a:rPr lang="en-US" altLang="ko-KR" sz="1000" dirty="0">
                <a:solidFill>
                  <a:srgbClr val="FF0000"/>
                </a:solidFill>
              </a:rPr>
              <a:t>176</a:t>
            </a:r>
            <a:r>
              <a:rPr lang="ko-KR" altLang="en-US" sz="1000" dirty="0">
                <a:solidFill>
                  <a:srgbClr val="FF0000"/>
                </a:solidFill>
              </a:rPr>
              <a:t>조</a:t>
            </a:r>
          </a:p>
        </p:txBody>
      </p:sp>
      <p:sp>
        <p:nvSpPr>
          <p:cNvPr id="169" name="TextBox 168">
            <a:extLst>
              <a:ext uri="{FF2B5EF4-FFF2-40B4-BE49-F238E27FC236}">
                <a16:creationId xmlns:a16="http://schemas.microsoft.com/office/drawing/2014/main" id="{D27BC84F-8430-9B72-2CD4-DF599AE5FF9C}"/>
              </a:ext>
            </a:extLst>
          </p:cNvPr>
          <p:cNvSpPr txBox="1"/>
          <p:nvPr/>
        </p:nvSpPr>
        <p:spPr>
          <a:xfrm>
            <a:off x="11118655" y="3553253"/>
            <a:ext cx="627095" cy="246221"/>
          </a:xfrm>
          <a:prstGeom prst="rect">
            <a:avLst/>
          </a:prstGeom>
          <a:noFill/>
          <a:ln>
            <a:noFill/>
          </a:ln>
        </p:spPr>
        <p:txBody>
          <a:bodyPr wrap="none" rtlCol="0">
            <a:spAutoFit/>
          </a:bodyPr>
          <a:lstStyle/>
          <a:p>
            <a:r>
              <a:rPr lang="ko-KR" altLang="en-US" sz="1000" dirty="0">
                <a:solidFill>
                  <a:srgbClr val="FF0000"/>
                </a:solidFill>
              </a:rPr>
              <a:t>제</a:t>
            </a:r>
            <a:r>
              <a:rPr lang="en-US" altLang="ko-KR" sz="1000" dirty="0">
                <a:solidFill>
                  <a:srgbClr val="FF0000"/>
                </a:solidFill>
              </a:rPr>
              <a:t>189</a:t>
            </a:r>
            <a:r>
              <a:rPr lang="ko-KR" altLang="en-US" sz="1000" dirty="0">
                <a:solidFill>
                  <a:srgbClr val="FF0000"/>
                </a:solidFill>
              </a:rPr>
              <a:t>조</a:t>
            </a:r>
          </a:p>
        </p:txBody>
      </p:sp>
      <p:sp>
        <p:nvSpPr>
          <p:cNvPr id="175" name="사각형: 둥근 모서리 174">
            <a:extLst>
              <a:ext uri="{FF2B5EF4-FFF2-40B4-BE49-F238E27FC236}">
                <a16:creationId xmlns:a16="http://schemas.microsoft.com/office/drawing/2014/main" id="{3BB63EC6-873A-69CA-4C49-550BE8319CC2}"/>
              </a:ext>
            </a:extLst>
          </p:cNvPr>
          <p:cNvSpPr/>
          <p:nvPr/>
        </p:nvSpPr>
        <p:spPr>
          <a:xfrm>
            <a:off x="7932033" y="956267"/>
            <a:ext cx="1950712" cy="337007"/>
          </a:xfrm>
          <a:prstGeom prst="roundRect">
            <a:avLst>
              <a:gd name="adj" fmla="val 50000"/>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거절결정불복심판 사례</a:t>
            </a:r>
          </a:p>
        </p:txBody>
      </p:sp>
      <p:cxnSp>
        <p:nvCxnSpPr>
          <p:cNvPr id="184" name="직선 연결선 183">
            <a:extLst>
              <a:ext uri="{FF2B5EF4-FFF2-40B4-BE49-F238E27FC236}">
                <a16:creationId xmlns:a16="http://schemas.microsoft.com/office/drawing/2014/main" id="{0F86F56E-D72E-14AD-885C-0A0417A64422}"/>
              </a:ext>
            </a:extLst>
          </p:cNvPr>
          <p:cNvCxnSpPr>
            <a:cxnSpLocks/>
          </p:cNvCxnSpPr>
          <p:nvPr/>
        </p:nvCxnSpPr>
        <p:spPr>
          <a:xfrm flipV="1">
            <a:off x="7716953" y="902477"/>
            <a:ext cx="0" cy="556360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06" name="그룹 205">
            <a:extLst>
              <a:ext uri="{FF2B5EF4-FFF2-40B4-BE49-F238E27FC236}">
                <a16:creationId xmlns:a16="http://schemas.microsoft.com/office/drawing/2014/main" id="{5775DDB6-4816-C7DF-FA88-54A66840EC66}"/>
              </a:ext>
            </a:extLst>
          </p:cNvPr>
          <p:cNvGrpSpPr/>
          <p:nvPr/>
        </p:nvGrpSpPr>
        <p:grpSpPr>
          <a:xfrm>
            <a:off x="4202322" y="1546605"/>
            <a:ext cx="3183894" cy="4919474"/>
            <a:chOff x="476250" y="1238250"/>
            <a:chExt cx="3867150" cy="5343524"/>
          </a:xfrm>
        </p:grpSpPr>
        <p:sp>
          <p:nvSpPr>
            <p:cNvPr id="185" name="직사각형 184">
              <a:extLst>
                <a:ext uri="{FF2B5EF4-FFF2-40B4-BE49-F238E27FC236}">
                  <a16:creationId xmlns:a16="http://schemas.microsoft.com/office/drawing/2014/main" id="{D6E5E24E-E7B2-27F2-5209-8AFB5713811C}"/>
                </a:ext>
              </a:extLst>
            </p:cNvPr>
            <p:cNvSpPr/>
            <p:nvPr/>
          </p:nvSpPr>
          <p:spPr>
            <a:xfrm>
              <a:off x="876300" y="1238250"/>
              <a:ext cx="1238250" cy="400050"/>
            </a:xfrm>
            <a:prstGeom prst="rect">
              <a:avLst/>
            </a:prstGeom>
            <a:solidFill>
              <a:schemeClr val="accent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accent4"/>
                  </a:solidFill>
                </a:rPr>
                <a:t>소의 제기</a:t>
              </a:r>
            </a:p>
          </p:txBody>
        </p:sp>
        <p:sp>
          <p:nvSpPr>
            <p:cNvPr id="186" name="순서도: 판단 185">
              <a:extLst>
                <a:ext uri="{FF2B5EF4-FFF2-40B4-BE49-F238E27FC236}">
                  <a16:creationId xmlns:a16="http://schemas.microsoft.com/office/drawing/2014/main" id="{FBD2A952-B663-8FC3-AC1E-689FDFB18E86}"/>
                </a:ext>
              </a:extLst>
            </p:cNvPr>
            <p:cNvSpPr/>
            <p:nvPr/>
          </p:nvSpPr>
          <p:spPr>
            <a:xfrm>
              <a:off x="476250" y="2076450"/>
              <a:ext cx="2038350" cy="809625"/>
            </a:xfrm>
            <a:prstGeom prst="flowChartDecision">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a:solidFill>
                    <a:schemeClr val="bg1">
                      <a:lumMod val="50000"/>
                    </a:schemeClr>
                  </a:solidFill>
                </a:rPr>
                <a:t>소장심사</a:t>
              </a:r>
            </a:p>
          </p:txBody>
        </p:sp>
        <p:sp>
          <p:nvSpPr>
            <p:cNvPr id="187" name="순서도: 판단 186">
              <a:extLst>
                <a:ext uri="{FF2B5EF4-FFF2-40B4-BE49-F238E27FC236}">
                  <a16:creationId xmlns:a16="http://schemas.microsoft.com/office/drawing/2014/main" id="{5430E2D6-35FA-1EB3-74EE-4A7C34DC7129}"/>
                </a:ext>
              </a:extLst>
            </p:cNvPr>
            <p:cNvSpPr/>
            <p:nvPr/>
          </p:nvSpPr>
          <p:spPr>
            <a:xfrm>
              <a:off x="476250" y="3343275"/>
              <a:ext cx="2038350" cy="809625"/>
            </a:xfrm>
            <a:prstGeom prst="flowChartDecision">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a:solidFill>
                    <a:schemeClr val="bg1">
                      <a:lumMod val="50000"/>
                    </a:schemeClr>
                  </a:solidFill>
                </a:rPr>
                <a:t>소송요건</a:t>
              </a:r>
              <a:endParaRPr lang="en-US" altLang="ko-KR" sz="1200" dirty="0">
                <a:solidFill>
                  <a:schemeClr val="bg1">
                    <a:lumMod val="50000"/>
                  </a:schemeClr>
                </a:solidFill>
              </a:endParaRPr>
            </a:p>
            <a:p>
              <a:pPr algn="ctr"/>
              <a:r>
                <a:rPr lang="ko-KR" altLang="en-US" sz="1200" dirty="0">
                  <a:solidFill>
                    <a:schemeClr val="bg1">
                      <a:lumMod val="50000"/>
                    </a:schemeClr>
                  </a:solidFill>
                </a:rPr>
                <a:t>심리</a:t>
              </a:r>
            </a:p>
          </p:txBody>
        </p:sp>
        <p:sp>
          <p:nvSpPr>
            <p:cNvPr id="188" name="순서도: 판단 187">
              <a:extLst>
                <a:ext uri="{FF2B5EF4-FFF2-40B4-BE49-F238E27FC236}">
                  <a16:creationId xmlns:a16="http://schemas.microsoft.com/office/drawing/2014/main" id="{7C2DDD98-7C94-334E-EC7C-634CB3B98404}"/>
                </a:ext>
              </a:extLst>
            </p:cNvPr>
            <p:cNvSpPr/>
            <p:nvPr/>
          </p:nvSpPr>
          <p:spPr>
            <a:xfrm>
              <a:off x="476250" y="4695825"/>
              <a:ext cx="2038350" cy="809625"/>
            </a:xfrm>
            <a:prstGeom prst="flowChartDecision">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200" dirty="0" err="1">
                  <a:solidFill>
                    <a:schemeClr val="bg1">
                      <a:lumMod val="50000"/>
                    </a:schemeClr>
                  </a:solidFill>
                </a:rPr>
                <a:t>본안심리</a:t>
              </a:r>
              <a:endParaRPr lang="ko-KR" altLang="en-US" sz="1200" dirty="0">
                <a:solidFill>
                  <a:schemeClr val="bg1">
                    <a:lumMod val="50000"/>
                  </a:schemeClr>
                </a:solidFill>
              </a:endParaRPr>
            </a:p>
          </p:txBody>
        </p:sp>
        <p:cxnSp>
          <p:nvCxnSpPr>
            <p:cNvPr id="189" name="직선 화살표 연결선 188">
              <a:extLst>
                <a:ext uri="{FF2B5EF4-FFF2-40B4-BE49-F238E27FC236}">
                  <a16:creationId xmlns:a16="http://schemas.microsoft.com/office/drawing/2014/main" id="{5DB5AA12-5C22-55A0-8466-A71AEE8B75F2}"/>
                </a:ext>
              </a:extLst>
            </p:cNvPr>
            <p:cNvCxnSpPr>
              <a:stCxn id="185" idx="2"/>
              <a:endCxn id="186" idx="0"/>
            </p:cNvCxnSpPr>
            <p:nvPr/>
          </p:nvCxnSpPr>
          <p:spPr>
            <a:xfrm>
              <a:off x="1495425" y="1638300"/>
              <a:ext cx="0" cy="43815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0" name="직선 화살표 연결선 189">
              <a:extLst>
                <a:ext uri="{FF2B5EF4-FFF2-40B4-BE49-F238E27FC236}">
                  <a16:creationId xmlns:a16="http://schemas.microsoft.com/office/drawing/2014/main" id="{B1DB3530-54D9-B4E3-6F30-5542AC0F80EC}"/>
                </a:ext>
              </a:extLst>
            </p:cNvPr>
            <p:cNvCxnSpPr>
              <a:stCxn id="186" idx="2"/>
              <a:endCxn id="187" idx="0"/>
            </p:cNvCxnSpPr>
            <p:nvPr/>
          </p:nvCxnSpPr>
          <p:spPr>
            <a:xfrm>
              <a:off x="1495425" y="2886075"/>
              <a:ext cx="0" cy="45720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1" name="직선 화살표 연결선 190">
              <a:extLst>
                <a:ext uri="{FF2B5EF4-FFF2-40B4-BE49-F238E27FC236}">
                  <a16:creationId xmlns:a16="http://schemas.microsoft.com/office/drawing/2014/main" id="{F25ED9B7-4632-472A-0C1E-60576EA2C9D9}"/>
                </a:ext>
              </a:extLst>
            </p:cNvPr>
            <p:cNvCxnSpPr>
              <a:stCxn id="187" idx="2"/>
              <a:endCxn id="188" idx="0"/>
            </p:cNvCxnSpPr>
            <p:nvPr/>
          </p:nvCxnSpPr>
          <p:spPr>
            <a:xfrm>
              <a:off x="1495425" y="4152900"/>
              <a:ext cx="0" cy="542925"/>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2" name="TextBox 191">
              <a:extLst>
                <a:ext uri="{FF2B5EF4-FFF2-40B4-BE49-F238E27FC236}">
                  <a16:creationId xmlns:a16="http://schemas.microsoft.com/office/drawing/2014/main" id="{0A51B763-A757-A6F8-0808-ED83968EC29C}"/>
                </a:ext>
              </a:extLst>
            </p:cNvPr>
            <p:cNvSpPr txBox="1"/>
            <p:nvPr/>
          </p:nvSpPr>
          <p:spPr>
            <a:xfrm>
              <a:off x="1495425" y="2905125"/>
              <a:ext cx="518604" cy="276999"/>
            </a:xfrm>
            <a:prstGeom prst="rect">
              <a:avLst/>
            </a:prstGeom>
            <a:noFill/>
          </p:spPr>
          <p:txBody>
            <a:bodyPr wrap="none" rtlCol="0">
              <a:spAutoFit/>
            </a:bodyPr>
            <a:lstStyle/>
            <a:p>
              <a:r>
                <a:rPr lang="en-US" altLang="ko-KR" sz="1200" dirty="0"/>
                <a:t>Yes</a:t>
              </a:r>
              <a:endParaRPr lang="ko-KR" altLang="en-US" sz="1200" dirty="0"/>
            </a:p>
          </p:txBody>
        </p:sp>
        <p:sp>
          <p:nvSpPr>
            <p:cNvPr id="193" name="TextBox 192">
              <a:extLst>
                <a:ext uri="{FF2B5EF4-FFF2-40B4-BE49-F238E27FC236}">
                  <a16:creationId xmlns:a16="http://schemas.microsoft.com/office/drawing/2014/main" id="{3A30914E-EECE-45D5-B9EE-48472A6D6F7F}"/>
                </a:ext>
              </a:extLst>
            </p:cNvPr>
            <p:cNvSpPr txBox="1"/>
            <p:nvPr/>
          </p:nvSpPr>
          <p:spPr>
            <a:xfrm>
              <a:off x="1495425" y="4152900"/>
              <a:ext cx="518604" cy="276999"/>
            </a:xfrm>
            <a:prstGeom prst="rect">
              <a:avLst/>
            </a:prstGeom>
            <a:noFill/>
          </p:spPr>
          <p:txBody>
            <a:bodyPr wrap="none" rtlCol="0">
              <a:spAutoFit/>
            </a:bodyPr>
            <a:lstStyle/>
            <a:p>
              <a:r>
                <a:rPr lang="en-US" altLang="ko-KR" sz="1200" dirty="0"/>
                <a:t>Yes</a:t>
              </a:r>
              <a:endParaRPr lang="ko-KR" altLang="en-US" sz="1200" dirty="0"/>
            </a:p>
          </p:txBody>
        </p:sp>
        <p:sp>
          <p:nvSpPr>
            <p:cNvPr id="194" name="TextBox 193">
              <a:extLst>
                <a:ext uri="{FF2B5EF4-FFF2-40B4-BE49-F238E27FC236}">
                  <a16:creationId xmlns:a16="http://schemas.microsoft.com/office/drawing/2014/main" id="{4E40373D-9A14-C037-CB6C-88CE8F4DFDA5}"/>
                </a:ext>
              </a:extLst>
            </p:cNvPr>
            <p:cNvSpPr txBox="1"/>
            <p:nvPr/>
          </p:nvSpPr>
          <p:spPr>
            <a:xfrm>
              <a:off x="1495425" y="5505450"/>
              <a:ext cx="518604" cy="276999"/>
            </a:xfrm>
            <a:prstGeom prst="rect">
              <a:avLst/>
            </a:prstGeom>
            <a:noFill/>
          </p:spPr>
          <p:txBody>
            <a:bodyPr wrap="none" rtlCol="0">
              <a:spAutoFit/>
            </a:bodyPr>
            <a:lstStyle/>
            <a:p>
              <a:r>
                <a:rPr lang="en-US" altLang="ko-KR" sz="1200" dirty="0"/>
                <a:t>Yes</a:t>
              </a:r>
              <a:endParaRPr lang="ko-KR" altLang="en-US" sz="1200" dirty="0"/>
            </a:p>
          </p:txBody>
        </p:sp>
        <p:sp>
          <p:nvSpPr>
            <p:cNvPr id="195" name="직사각형 194">
              <a:extLst>
                <a:ext uri="{FF2B5EF4-FFF2-40B4-BE49-F238E27FC236}">
                  <a16:creationId xmlns:a16="http://schemas.microsoft.com/office/drawing/2014/main" id="{CD31ADE4-A549-FA7B-A898-8AB81BFA5371}"/>
                </a:ext>
              </a:extLst>
            </p:cNvPr>
            <p:cNvSpPr/>
            <p:nvPr/>
          </p:nvSpPr>
          <p:spPr>
            <a:xfrm>
              <a:off x="876300" y="6019799"/>
              <a:ext cx="1238250" cy="561975"/>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50000"/>
                    </a:schemeClr>
                  </a:solidFill>
                </a:rPr>
                <a:t>인용판결</a:t>
              </a:r>
              <a:endParaRPr lang="en-US" altLang="ko-KR" sz="1200" dirty="0">
                <a:solidFill>
                  <a:schemeClr val="bg1">
                    <a:lumMod val="50000"/>
                  </a:schemeClr>
                </a:solidFill>
              </a:endParaRPr>
            </a:p>
            <a:p>
              <a:pPr algn="ctr"/>
              <a:r>
                <a:rPr lang="en-US" altLang="ko-KR" sz="1200" dirty="0">
                  <a:solidFill>
                    <a:schemeClr val="bg1">
                      <a:lumMod val="50000"/>
                    </a:schemeClr>
                  </a:solidFill>
                </a:rPr>
                <a:t>(</a:t>
              </a:r>
              <a:r>
                <a:rPr lang="ko-KR" altLang="en-US" sz="1200" dirty="0">
                  <a:solidFill>
                    <a:schemeClr val="bg1">
                      <a:lumMod val="50000"/>
                    </a:schemeClr>
                  </a:solidFill>
                </a:rPr>
                <a:t>취소환송</a:t>
              </a:r>
              <a:r>
                <a:rPr lang="en-US" altLang="ko-KR" sz="1200" dirty="0">
                  <a:solidFill>
                    <a:schemeClr val="bg1">
                      <a:lumMod val="50000"/>
                    </a:schemeClr>
                  </a:solidFill>
                </a:rPr>
                <a:t>)</a:t>
              </a:r>
              <a:endParaRPr lang="ko-KR" altLang="en-US" sz="1200" dirty="0">
                <a:solidFill>
                  <a:schemeClr val="bg1">
                    <a:lumMod val="50000"/>
                  </a:schemeClr>
                </a:solidFill>
              </a:endParaRPr>
            </a:p>
          </p:txBody>
        </p:sp>
        <p:cxnSp>
          <p:nvCxnSpPr>
            <p:cNvPr id="196" name="직선 화살표 연결선 195">
              <a:extLst>
                <a:ext uri="{FF2B5EF4-FFF2-40B4-BE49-F238E27FC236}">
                  <a16:creationId xmlns:a16="http://schemas.microsoft.com/office/drawing/2014/main" id="{F6CCD13B-A964-3039-226C-913CE3857D0A}"/>
                </a:ext>
              </a:extLst>
            </p:cNvPr>
            <p:cNvCxnSpPr>
              <a:stCxn id="188" idx="2"/>
              <a:endCxn id="195" idx="0"/>
            </p:cNvCxnSpPr>
            <p:nvPr/>
          </p:nvCxnSpPr>
          <p:spPr>
            <a:xfrm>
              <a:off x="1495425" y="5505450"/>
              <a:ext cx="0" cy="51434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7" name="직사각형 196">
              <a:extLst>
                <a:ext uri="{FF2B5EF4-FFF2-40B4-BE49-F238E27FC236}">
                  <a16:creationId xmlns:a16="http://schemas.microsoft.com/office/drawing/2014/main" id="{16AEBCD6-8499-9EBD-9E44-583DF3704231}"/>
                </a:ext>
              </a:extLst>
            </p:cNvPr>
            <p:cNvSpPr/>
            <p:nvPr/>
          </p:nvSpPr>
          <p:spPr>
            <a:xfrm>
              <a:off x="3105150" y="4819649"/>
              <a:ext cx="1238250" cy="561975"/>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50000"/>
                    </a:schemeClr>
                  </a:solidFill>
                </a:rPr>
                <a:t>기각판결</a:t>
              </a:r>
            </a:p>
          </p:txBody>
        </p:sp>
        <p:sp>
          <p:nvSpPr>
            <p:cNvPr id="198" name="직사각형 197">
              <a:extLst>
                <a:ext uri="{FF2B5EF4-FFF2-40B4-BE49-F238E27FC236}">
                  <a16:creationId xmlns:a16="http://schemas.microsoft.com/office/drawing/2014/main" id="{5DE607D2-0BDD-0789-7722-0DD19F838E15}"/>
                </a:ext>
              </a:extLst>
            </p:cNvPr>
            <p:cNvSpPr/>
            <p:nvPr/>
          </p:nvSpPr>
          <p:spPr>
            <a:xfrm>
              <a:off x="3105150" y="3467099"/>
              <a:ext cx="1238250" cy="561975"/>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50000"/>
                    </a:schemeClr>
                  </a:solidFill>
                </a:rPr>
                <a:t>소 각하</a:t>
              </a:r>
            </a:p>
          </p:txBody>
        </p:sp>
        <p:sp>
          <p:nvSpPr>
            <p:cNvPr id="199" name="직사각형 198">
              <a:extLst>
                <a:ext uri="{FF2B5EF4-FFF2-40B4-BE49-F238E27FC236}">
                  <a16:creationId xmlns:a16="http://schemas.microsoft.com/office/drawing/2014/main" id="{57713FE9-C832-8FB1-B62C-0B7A94112DAC}"/>
                </a:ext>
              </a:extLst>
            </p:cNvPr>
            <p:cNvSpPr/>
            <p:nvPr/>
          </p:nvSpPr>
          <p:spPr>
            <a:xfrm>
              <a:off x="3105150" y="2200274"/>
              <a:ext cx="1238250" cy="561975"/>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chemeClr val="bg1">
                      <a:lumMod val="50000"/>
                    </a:schemeClr>
                  </a:solidFill>
                </a:rPr>
                <a:t>소장 각하</a:t>
              </a:r>
            </a:p>
          </p:txBody>
        </p:sp>
        <p:cxnSp>
          <p:nvCxnSpPr>
            <p:cNvPr id="200" name="직선 연결선 199">
              <a:extLst>
                <a:ext uri="{FF2B5EF4-FFF2-40B4-BE49-F238E27FC236}">
                  <a16:creationId xmlns:a16="http://schemas.microsoft.com/office/drawing/2014/main" id="{C14A4BA1-AC50-8312-A78B-530938185C8E}"/>
                </a:ext>
              </a:extLst>
            </p:cNvPr>
            <p:cNvCxnSpPr>
              <a:stCxn id="186" idx="3"/>
              <a:endCxn id="199" idx="1"/>
            </p:cNvCxnSpPr>
            <p:nvPr/>
          </p:nvCxnSpPr>
          <p:spPr>
            <a:xfrm flipV="1">
              <a:off x="2514600" y="2481262"/>
              <a:ext cx="590550"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1" name="직선 연결선 200">
              <a:extLst>
                <a:ext uri="{FF2B5EF4-FFF2-40B4-BE49-F238E27FC236}">
                  <a16:creationId xmlns:a16="http://schemas.microsoft.com/office/drawing/2014/main" id="{85772DA6-CF69-9324-7161-9E2A881957E6}"/>
                </a:ext>
              </a:extLst>
            </p:cNvPr>
            <p:cNvCxnSpPr>
              <a:stCxn id="187" idx="3"/>
              <a:endCxn id="198" idx="1"/>
            </p:cNvCxnSpPr>
            <p:nvPr/>
          </p:nvCxnSpPr>
          <p:spPr>
            <a:xfrm flipV="1">
              <a:off x="2514600" y="3748087"/>
              <a:ext cx="590550"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2" name="직선 연결선 201">
              <a:extLst>
                <a:ext uri="{FF2B5EF4-FFF2-40B4-BE49-F238E27FC236}">
                  <a16:creationId xmlns:a16="http://schemas.microsoft.com/office/drawing/2014/main" id="{07939EA1-A72B-B8F3-3835-A924103F575A}"/>
                </a:ext>
              </a:extLst>
            </p:cNvPr>
            <p:cNvCxnSpPr>
              <a:stCxn id="188" idx="3"/>
              <a:endCxn id="197" idx="1"/>
            </p:cNvCxnSpPr>
            <p:nvPr/>
          </p:nvCxnSpPr>
          <p:spPr>
            <a:xfrm flipV="1">
              <a:off x="2514600" y="5100637"/>
              <a:ext cx="590550"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2FB6E75C-44B8-3601-A9CC-B0D96C7F1296}"/>
                </a:ext>
              </a:extLst>
            </p:cNvPr>
            <p:cNvSpPr txBox="1"/>
            <p:nvPr/>
          </p:nvSpPr>
          <p:spPr>
            <a:xfrm>
              <a:off x="2382899" y="2204264"/>
              <a:ext cx="473511" cy="276999"/>
            </a:xfrm>
            <a:prstGeom prst="rect">
              <a:avLst/>
            </a:prstGeom>
            <a:noFill/>
          </p:spPr>
          <p:txBody>
            <a:bodyPr wrap="none" rtlCol="0">
              <a:spAutoFit/>
            </a:bodyPr>
            <a:lstStyle/>
            <a:p>
              <a:r>
                <a:rPr lang="en-US" altLang="ko-KR" sz="1200" dirty="0"/>
                <a:t>No</a:t>
              </a:r>
              <a:endParaRPr lang="ko-KR" altLang="en-US" sz="1200" dirty="0"/>
            </a:p>
          </p:txBody>
        </p:sp>
        <p:sp>
          <p:nvSpPr>
            <p:cNvPr id="204" name="TextBox 203">
              <a:extLst>
                <a:ext uri="{FF2B5EF4-FFF2-40B4-BE49-F238E27FC236}">
                  <a16:creationId xmlns:a16="http://schemas.microsoft.com/office/drawing/2014/main" id="{398005A6-C440-08BB-EA9B-9CF40E5749E0}"/>
                </a:ext>
              </a:extLst>
            </p:cNvPr>
            <p:cNvSpPr txBox="1"/>
            <p:nvPr/>
          </p:nvSpPr>
          <p:spPr>
            <a:xfrm>
              <a:off x="2382899" y="3467099"/>
              <a:ext cx="473511" cy="276999"/>
            </a:xfrm>
            <a:prstGeom prst="rect">
              <a:avLst/>
            </a:prstGeom>
            <a:noFill/>
          </p:spPr>
          <p:txBody>
            <a:bodyPr wrap="none" rtlCol="0">
              <a:spAutoFit/>
            </a:bodyPr>
            <a:lstStyle/>
            <a:p>
              <a:r>
                <a:rPr lang="en-US" altLang="ko-KR" sz="1200" dirty="0"/>
                <a:t>No</a:t>
              </a:r>
              <a:endParaRPr lang="ko-KR" altLang="en-US" sz="1200" dirty="0"/>
            </a:p>
          </p:txBody>
        </p:sp>
        <p:sp>
          <p:nvSpPr>
            <p:cNvPr id="205" name="TextBox 204">
              <a:extLst>
                <a:ext uri="{FF2B5EF4-FFF2-40B4-BE49-F238E27FC236}">
                  <a16:creationId xmlns:a16="http://schemas.microsoft.com/office/drawing/2014/main" id="{18B68543-71E3-B295-91B0-8BBF9DA6B5F8}"/>
                </a:ext>
              </a:extLst>
            </p:cNvPr>
            <p:cNvSpPr txBox="1"/>
            <p:nvPr/>
          </p:nvSpPr>
          <p:spPr>
            <a:xfrm>
              <a:off x="2382899" y="4819649"/>
              <a:ext cx="473511" cy="276999"/>
            </a:xfrm>
            <a:prstGeom prst="rect">
              <a:avLst/>
            </a:prstGeom>
            <a:noFill/>
          </p:spPr>
          <p:txBody>
            <a:bodyPr wrap="none" rtlCol="0">
              <a:spAutoFit/>
            </a:bodyPr>
            <a:lstStyle/>
            <a:p>
              <a:r>
                <a:rPr lang="en-US" altLang="ko-KR" sz="1200" dirty="0"/>
                <a:t>No</a:t>
              </a:r>
              <a:endParaRPr lang="ko-KR" altLang="en-US" sz="1200" dirty="0"/>
            </a:p>
          </p:txBody>
        </p:sp>
      </p:grpSp>
      <p:sp>
        <p:nvSpPr>
          <p:cNvPr id="207" name="사각형: 둥근 모서리 206">
            <a:extLst>
              <a:ext uri="{FF2B5EF4-FFF2-40B4-BE49-F238E27FC236}">
                <a16:creationId xmlns:a16="http://schemas.microsoft.com/office/drawing/2014/main" id="{D724894B-4404-A41C-5F5B-7FF4EB9F2441}"/>
              </a:ext>
            </a:extLst>
          </p:cNvPr>
          <p:cNvSpPr/>
          <p:nvPr/>
        </p:nvSpPr>
        <p:spPr>
          <a:xfrm>
            <a:off x="4062533" y="956267"/>
            <a:ext cx="1950712" cy="337007"/>
          </a:xfrm>
          <a:prstGeom prst="roundRect">
            <a:avLst>
              <a:gd name="adj" fmla="val 50000"/>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특허법원의 절차진행</a:t>
            </a:r>
          </a:p>
        </p:txBody>
      </p:sp>
      <p:sp>
        <p:nvSpPr>
          <p:cNvPr id="208" name="사각형: 둥근 모서리 207">
            <a:extLst>
              <a:ext uri="{FF2B5EF4-FFF2-40B4-BE49-F238E27FC236}">
                <a16:creationId xmlns:a16="http://schemas.microsoft.com/office/drawing/2014/main" id="{DDF59170-EF48-3124-2595-9970D9D0409C}"/>
              </a:ext>
            </a:extLst>
          </p:cNvPr>
          <p:cNvSpPr/>
          <p:nvPr/>
        </p:nvSpPr>
        <p:spPr>
          <a:xfrm>
            <a:off x="131329" y="956267"/>
            <a:ext cx="1950712" cy="337007"/>
          </a:xfrm>
          <a:prstGeom prst="roundRect">
            <a:avLst>
              <a:gd name="adj" fmla="val 50000"/>
            </a:avLst>
          </a:prstGeom>
          <a:solidFill>
            <a:schemeClr val="accent5">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bg1"/>
                </a:solidFill>
              </a:rPr>
              <a:t>특허소송절차의 개괄</a:t>
            </a:r>
          </a:p>
        </p:txBody>
      </p:sp>
      <p:sp>
        <p:nvSpPr>
          <p:cNvPr id="9" name="TextBox 8">
            <a:extLst>
              <a:ext uri="{FF2B5EF4-FFF2-40B4-BE49-F238E27FC236}">
                <a16:creationId xmlns:a16="http://schemas.microsoft.com/office/drawing/2014/main" id="{64F0C160-F809-82B5-3400-268A72EABD2D}"/>
              </a:ext>
            </a:extLst>
          </p:cNvPr>
          <p:cNvSpPr txBox="1"/>
          <p:nvPr/>
        </p:nvSpPr>
        <p:spPr>
          <a:xfrm>
            <a:off x="8197956" y="4762827"/>
            <a:ext cx="1239442" cy="246221"/>
          </a:xfrm>
          <a:prstGeom prst="rect">
            <a:avLst/>
          </a:prstGeom>
          <a:noFill/>
          <a:ln>
            <a:noFill/>
          </a:ln>
        </p:spPr>
        <p:txBody>
          <a:bodyPr wrap="none" rtlCol="0">
            <a:spAutoFit/>
          </a:bodyPr>
          <a:lstStyle/>
          <a:p>
            <a:r>
              <a:rPr lang="ko-KR" altLang="en-US" sz="1000" dirty="0">
                <a:solidFill>
                  <a:srgbClr val="FF0000"/>
                </a:solidFill>
              </a:rPr>
              <a:t>민사소송법 </a:t>
            </a:r>
            <a:r>
              <a:rPr lang="ko-KR" altLang="en-US" sz="1000">
                <a:solidFill>
                  <a:srgbClr val="FF0000"/>
                </a:solidFill>
              </a:rPr>
              <a:t>제</a:t>
            </a:r>
            <a:r>
              <a:rPr lang="en-US" altLang="ko-KR" sz="1000" dirty="0">
                <a:solidFill>
                  <a:srgbClr val="FF0000"/>
                </a:solidFill>
              </a:rPr>
              <a:t>436</a:t>
            </a:r>
            <a:r>
              <a:rPr lang="ko-KR" altLang="en-US" sz="1000" dirty="0">
                <a:solidFill>
                  <a:srgbClr val="FF0000"/>
                </a:solidFill>
              </a:rPr>
              <a:t>조</a:t>
            </a:r>
          </a:p>
        </p:txBody>
      </p:sp>
      <p:cxnSp>
        <p:nvCxnSpPr>
          <p:cNvPr id="13" name="연결선: 꺾임 12">
            <a:extLst>
              <a:ext uri="{FF2B5EF4-FFF2-40B4-BE49-F238E27FC236}">
                <a16:creationId xmlns:a16="http://schemas.microsoft.com/office/drawing/2014/main" id="{780D6B36-BC72-C898-A2D0-0E6050300EA7}"/>
              </a:ext>
            </a:extLst>
          </p:cNvPr>
          <p:cNvCxnSpPr>
            <a:stCxn id="93" idx="2"/>
            <a:endCxn id="136" idx="1"/>
          </p:cNvCxnSpPr>
          <p:nvPr/>
        </p:nvCxnSpPr>
        <p:spPr>
          <a:xfrm rot="5400000" flipH="1">
            <a:off x="9209078" y="5465302"/>
            <a:ext cx="521018" cy="1314823"/>
          </a:xfrm>
          <a:prstGeom prst="bentConnector4">
            <a:avLst>
              <a:gd name="adj1" fmla="val -43876"/>
              <a:gd name="adj2" fmla="val 117386"/>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연결선: 꺾임 14">
            <a:extLst>
              <a:ext uri="{FF2B5EF4-FFF2-40B4-BE49-F238E27FC236}">
                <a16:creationId xmlns:a16="http://schemas.microsoft.com/office/drawing/2014/main" id="{D1AEAE4D-FBDF-F371-6870-1F144B665977}"/>
              </a:ext>
            </a:extLst>
          </p:cNvPr>
          <p:cNvCxnSpPr>
            <a:stCxn id="93" idx="2"/>
            <a:endCxn id="137" idx="1"/>
          </p:cNvCxnSpPr>
          <p:nvPr/>
        </p:nvCxnSpPr>
        <p:spPr>
          <a:xfrm rot="5400000" flipH="1">
            <a:off x="9377254" y="5633478"/>
            <a:ext cx="184666" cy="1314823"/>
          </a:xfrm>
          <a:prstGeom prst="bentConnector4">
            <a:avLst>
              <a:gd name="adj1" fmla="val -123791"/>
              <a:gd name="adj2" fmla="val 117386"/>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66AF12D8-1F0E-A76D-FF76-6528E737FA13}"/>
              </a:ext>
            </a:extLst>
          </p:cNvPr>
          <p:cNvSpPr txBox="1"/>
          <p:nvPr/>
        </p:nvSpPr>
        <p:spPr>
          <a:xfrm>
            <a:off x="1678675" y="4889307"/>
            <a:ext cx="428322" cy="253916"/>
          </a:xfrm>
          <a:prstGeom prst="rect">
            <a:avLst/>
          </a:prstGeom>
          <a:noFill/>
          <a:ln>
            <a:noFill/>
          </a:ln>
        </p:spPr>
        <p:txBody>
          <a:bodyPr wrap="none" rtlCol="0">
            <a:spAutoFit/>
          </a:bodyPr>
          <a:lstStyle/>
          <a:p>
            <a:r>
              <a:rPr lang="ko-KR" altLang="en-US" sz="1050" dirty="0">
                <a:solidFill>
                  <a:schemeClr val="accent1">
                    <a:lumMod val="50000"/>
                  </a:schemeClr>
                </a:solidFill>
              </a:rPr>
              <a:t>상고</a:t>
            </a:r>
          </a:p>
        </p:txBody>
      </p:sp>
      <p:sp>
        <p:nvSpPr>
          <p:cNvPr id="28" name="TextBox 27">
            <a:extLst>
              <a:ext uri="{FF2B5EF4-FFF2-40B4-BE49-F238E27FC236}">
                <a16:creationId xmlns:a16="http://schemas.microsoft.com/office/drawing/2014/main" id="{D8B19997-5752-FA05-3470-9AF5652437FC}"/>
              </a:ext>
            </a:extLst>
          </p:cNvPr>
          <p:cNvSpPr txBox="1"/>
          <p:nvPr/>
        </p:nvSpPr>
        <p:spPr>
          <a:xfrm>
            <a:off x="1678675" y="3615999"/>
            <a:ext cx="428322" cy="253916"/>
          </a:xfrm>
          <a:prstGeom prst="rect">
            <a:avLst/>
          </a:prstGeom>
          <a:noFill/>
          <a:ln>
            <a:noFill/>
          </a:ln>
        </p:spPr>
        <p:txBody>
          <a:bodyPr wrap="none" rtlCol="0">
            <a:spAutoFit/>
          </a:bodyPr>
          <a:lstStyle/>
          <a:p>
            <a:r>
              <a:rPr lang="ko-KR" altLang="en-US" sz="1050" dirty="0">
                <a:solidFill>
                  <a:schemeClr val="accent1">
                    <a:lumMod val="50000"/>
                  </a:schemeClr>
                </a:solidFill>
              </a:rPr>
              <a:t>항고</a:t>
            </a:r>
          </a:p>
        </p:txBody>
      </p:sp>
      <p:cxnSp>
        <p:nvCxnSpPr>
          <p:cNvPr id="53" name="직선 화살표 연결선 52">
            <a:extLst>
              <a:ext uri="{FF2B5EF4-FFF2-40B4-BE49-F238E27FC236}">
                <a16:creationId xmlns:a16="http://schemas.microsoft.com/office/drawing/2014/main" id="{CA876066-060B-CCFC-D30B-B93ED7EA0831}"/>
              </a:ext>
            </a:extLst>
          </p:cNvPr>
          <p:cNvCxnSpPr>
            <a:stCxn id="134" idx="0"/>
          </p:cNvCxnSpPr>
          <p:nvPr/>
        </p:nvCxnSpPr>
        <p:spPr>
          <a:xfrm flipH="1" flipV="1">
            <a:off x="1994948" y="4732057"/>
            <a:ext cx="1223405" cy="1068296"/>
          </a:xfrm>
          <a:prstGeom prst="straightConnector1">
            <a:avLst/>
          </a:prstGeom>
          <a:ln w="28575">
            <a:solidFill>
              <a:schemeClr val="accent5"/>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B09E6640-B12E-89D1-F99B-24A930F99974}"/>
              </a:ext>
            </a:extLst>
          </p:cNvPr>
          <p:cNvSpPr txBox="1"/>
          <p:nvPr/>
        </p:nvSpPr>
        <p:spPr>
          <a:xfrm>
            <a:off x="2738679" y="5253076"/>
            <a:ext cx="793807" cy="253916"/>
          </a:xfrm>
          <a:prstGeom prst="rect">
            <a:avLst/>
          </a:prstGeom>
          <a:noFill/>
          <a:ln>
            <a:noFill/>
          </a:ln>
        </p:spPr>
        <p:txBody>
          <a:bodyPr wrap="none" rtlCol="0">
            <a:spAutoFit/>
          </a:bodyPr>
          <a:lstStyle/>
          <a:p>
            <a:r>
              <a:rPr lang="ko-KR" altLang="en-US" sz="1050" dirty="0" err="1">
                <a:solidFill>
                  <a:srgbClr val="FF0000"/>
                </a:solidFill>
              </a:rPr>
              <a:t>파기소각하</a:t>
            </a:r>
            <a:endParaRPr lang="ko-KR" altLang="en-US" sz="1050" dirty="0">
              <a:solidFill>
                <a:srgbClr val="FF0000"/>
              </a:solidFill>
            </a:endParaRPr>
          </a:p>
        </p:txBody>
      </p:sp>
      <p:sp>
        <p:nvSpPr>
          <p:cNvPr id="59" name="TextBox 58">
            <a:extLst>
              <a:ext uri="{FF2B5EF4-FFF2-40B4-BE49-F238E27FC236}">
                <a16:creationId xmlns:a16="http://schemas.microsoft.com/office/drawing/2014/main" id="{36E2F949-2BA6-C3CE-807B-2ECFAE12584A}"/>
              </a:ext>
            </a:extLst>
          </p:cNvPr>
          <p:cNvSpPr txBox="1"/>
          <p:nvPr/>
        </p:nvSpPr>
        <p:spPr>
          <a:xfrm>
            <a:off x="402680" y="1447338"/>
            <a:ext cx="415498" cy="246221"/>
          </a:xfrm>
          <a:prstGeom prst="rect">
            <a:avLst/>
          </a:prstGeom>
          <a:noFill/>
          <a:ln>
            <a:solidFill>
              <a:schemeClr val="bg1">
                <a:lumMod val="50000"/>
              </a:schemeClr>
            </a:solidFill>
          </a:ln>
        </p:spPr>
        <p:txBody>
          <a:bodyPr wrap="none" rtlCol="0">
            <a:spAutoFit/>
          </a:bodyPr>
          <a:lstStyle/>
          <a:p>
            <a:r>
              <a:rPr lang="ko-KR" altLang="en-US" sz="1000"/>
              <a:t>상소</a:t>
            </a:r>
            <a:endParaRPr lang="ko-KR" altLang="en-US" sz="1000" dirty="0"/>
          </a:p>
        </p:txBody>
      </p:sp>
      <p:sp>
        <p:nvSpPr>
          <p:cNvPr id="60" name="TextBox 59">
            <a:extLst>
              <a:ext uri="{FF2B5EF4-FFF2-40B4-BE49-F238E27FC236}">
                <a16:creationId xmlns:a16="http://schemas.microsoft.com/office/drawing/2014/main" id="{CD36D581-3C17-D9E9-8C31-E245C5FD589D}"/>
              </a:ext>
            </a:extLst>
          </p:cNvPr>
          <p:cNvSpPr txBox="1"/>
          <p:nvPr/>
        </p:nvSpPr>
        <p:spPr>
          <a:xfrm>
            <a:off x="1020687" y="1447338"/>
            <a:ext cx="415498" cy="246221"/>
          </a:xfrm>
          <a:prstGeom prst="rect">
            <a:avLst/>
          </a:prstGeom>
          <a:noFill/>
          <a:ln>
            <a:solidFill>
              <a:schemeClr val="bg1">
                <a:lumMod val="50000"/>
              </a:schemeClr>
            </a:solidFill>
          </a:ln>
        </p:spPr>
        <p:txBody>
          <a:bodyPr wrap="none" rtlCol="0">
            <a:spAutoFit/>
          </a:bodyPr>
          <a:lstStyle/>
          <a:p>
            <a:r>
              <a:rPr lang="ko-KR" altLang="en-US" sz="1000"/>
              <a:t>항소</a:t>
            </a:r>
            <a:endParaRPr lang="ko-KR" altLang="en-US" sz="1000" dirty="0"/>
          </a:p>
        </p:txBody>
      </p:sp>
      <p:sp>
        <p:nvSpPr>
          <p:cNvPr id="62" name="TextBox 61">
            <a:extLst>
              <a:ext uri="{FF2B5EF4-FFF2-40B4-BE49-F238E27FC236}">
                <a16:creationId xmlns:a16="http://schemas.microsoft.com/office/drawing/2014/main" id="{75D0FE5A-49DC-8935-BBA4-A0EC4FE76ECE}"/>
              </a:ext>
            </a:extLst>
          </p:cNvPr>
          <p:cNvSpPr txBox="1"/>
          <p:nvPr/>
        </p:nvSpPr>
        <p:spPr>
          <a:xfrm>
            <a:off x="1020687" y="1753392"/>
            <a:ext cx="415498" cy="246221"/>
          </a:xfrm>
          <a:prstGeom prst="rect">
            <a:avLst/>
          </a:prstGeom>
          <a:noFill/>
          <a:ln>
            <a:solidFill>
              <a:schemeClr val="bg1">
                <a:lumMod val="50000"/>
              </a:schemeClr>
            </a:solidFill>
          </a:ln>
        </p:spPr>
        <p:txBody>
          <a:bodyPr wrap="none" rtlCol="0">
            <a:spAutoFit/>
          </a:bodyPr>
          <a:lstStyle/>
          <a:p>
            <a:r>
              <a:rPr lang="ko-KR" altLang="en-US" sz="1000" dirty="0"/>
              <a:t>상고</a:t>
            </a:r>
          </a:p>
        </p:txBody>
      </p:sp>
      <p:sp>
        <p:nvSpPr>
          <p:cNvPr id="63" name="TextBox 62">
            <a:extLst>
              <a:ext uri="{FF2B5EF4-FFF2-40B4-BE49-F238E27FC236}">
                <a16:creationId xmlns:a16="http://schemas.microsoft.com/office/drawing/2014/main" id="{DD698C6F-3F56-96C2-6A6E-86B5DBEB2E7B}"/>
              </a:ext>
            </a:extLst>
          </p:cNvPr>
          <p:cNvSpPr txBox="1"/>
          <p:nvPr/>
        </p:nvSpPr>
        <p:spPr>
          <a:xfrm>
            <a:off x="1020687" y="2040080"/>
            <a:ext cx="415498" cy="246221"/>
          </a:xfrm>
          <a:prstGeom prst="rect">
            <a:avLst/>
          </a:prstGeom>
          <a:noFill/>
          <a:ln>
            <a:solidFill>
              <a:schemeClr val="bg1">
                <a:lumMod val="50000"/>
              </a:schemeClr>
            </a:solidFill>
          </a:ln>
        </p:spPr>
        <p:txBody>
          <a:bodyPr wrap="none" rtlCol="0">
            <a:spAutoFit/>
          </a:bodyPr>
          <a:lstStyle/>
          <a:p>
            <a:r>
              <a:rPr lang="ko-KR" altLang="en-US" sz="1000" dirty="0"/>
              <a:t>항고</a:t>
            </a:r>
          </a:p>
        </p:txBody>
      </p:sp>
      <p:cxnSp>
        <p:nvCxnSpPr>
          <p:cNvPr id="67" name="연결선: 꺾임 66">
            <a:extLst>
              <a:ext uri="{FF2B5EF4-FFF2-40B4-BE49-F238E27FC236}">
                <a16:creationId xmlns:a16="http://schemas.microsoft.com/office/drawing/2014/main" id="{15C41B99-C7C9-233E-5B8B-A454E65C03C1}"/>
              </a:ext>
            </a:extLst>
          </p:cNvPr>
          <p:cNvCxnSpPr>
            <a:stCxn id="59" idx="3"/>
            <a:endCxn id="63" idx="1"/>
          </p:cNvCxnSpPr>
          <p:nvPr/>
        </p:nvCxnSpPr>
        <p:spPr>
          <a:xfrm>
            <a:off x="818178" y="1570449"/>
            <a:ext cx="202509" cy="59274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연결선: 꺾임 68">
            <a:extLst>
              <a:ext uri="{FF2B5EF4-FFF2-40B4-BE49-F238E27FC236}">
                <a16:creationId xmlns:a16="http://schemas.microsoft.com/office/drawing/2014/main" id="{15033FDD-3BFE-1771-4496-15EB4C4E77BD}"/>
              </a:ext>
            </a:extLst>
          </p:cNvPr>
          <p:cNvCxnSpPr>
            <a:stCxn id="59" idx="3"/>
            <a:endCxn id="60" idx="1"/>
          </p:cNvCxnSpPr>
          <p:nvPr/>
        </p:nvCxnSpPr>
        <p:spPr>
          <a:xfrm>
            <a:off x="818178" y="1570449"/>
            <a:ext cx="202509"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연결선: 꺾임 70">
            <a:extLst>
              <a:ext uri="{FF2B5EF4-FFF2-40B4-BE49-F238E27FC236}">
                <a16:creationId xmlns:a16="http://schemas.microsoft.com/office/drawing/2014/main" id="{DB09A750-4B12-B442-F7DF-F723EABE9B71}"/>
              </a:ext>
            </a:extLst>
          </p:cNvPr>
          <p:cNvCxnSpPr>
            <a:stCxn id="59" idx="3"/>
            <a:endCxn id="62" idx="1"/>
          </p:cNvCxnSpPr>
          <p:nvPr/>
        </p:nvCxnSpPr>
        <p:spPr>
          <a:xfrm>
            <a:off x="818178" y="1570449"/>
            <a:ext cx="202509" cy="30605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2ED5411A-C216-B635-2E9F-9FCE7F1A4C4B}"/>
              </a:ext>
            </a:extLst>
          </p:cNvPr>
          <p:cNvSpPr txBox="1"/>
          <p:nvPr/>
        </p:nvSpPr>
        <p:spPr>
          <a:xfrm>
            <a:off x="1518392" y="1447338"/>
            <a:ext cx="1745991" cy="246221"/>
          </a:xfrm>
          <a:prstGeom prst="rect">
            <a:avLst/>
          </a:prstGeom>
          <a:noFill/>
          <a:ln>
            <a:noFill/>
          </a:ln>
        </p:spPr>
        <p:txBody>
          <a:bodyPr wrap="none" rtlCol="0">
            <a:spAutoFit/>
          </a:bodyPr>
          <a:lstStyle/>
          <a:p>
            <a:r>
              <a:rPr lang="ko-KR" altLang="en-US" sz="1000" dirty="0"/>
              <a:t>제</a:t>
            </a:r>
            <a:r>
              <a:rPr lang="en-US" altLang="ko-KR" sz="1000" dirty="0"/>
              <a:t>1</a:t>
            </a:r>
            <a:r>
              <a:rPr lang="ko-KR" altLang="en-US" sz="1000" dirty="0"/>
              <a:t>심 법원이 선고한 종국판결</a:t>
            </a:r>
          </a:p>
        </p:txBody>
      </p:sp>
      <p:sp>
        <p:nvSpPr>
          <p:cNvPr id="75" name="TextBox 74">
            <a:extLst>
              <a:ext uri="{FF2B5EF4-FFF2-40B4-BE49-F238E27FC236}">
                <a16:creationId xmlns:a16="http://schemas.microsoft.com/office/drawing/2014/main" id="{B99205AD-575A-B041-3B08-C6693FDE7A5D}"/>
              </a:ext>
            </a:extLst>
          </p:cNvPr>
          <p:cNvSpPr txBox="1"/>
          <p:nvPr/>
        </p:nvSpPr>
        <p:spPr>
          <a:xfrm>
            <a:off x="1518392" y="1778338"/>
            <a:ext cx="2257349" cy="246221"/>
          </a:xfrm>
          <a:prstGeom prst="rect">
            <a:avLst/>
          </a:prstGeom>
          <a:noFill/>
          <a:ln>
            <a:noFill/>
          </a:ln>
        </p:spPr>
        <p:txBody>
          <a:bodyPr wrap="none" rtlCol="0">
            <a:spAutoFit/>
          </a:bodyPr>
          <a:lstStyle/>
          <a:p>
            <a:r>
              <a:rPr lang="ko-KR" altLang="en-US" sz="1000" dirty="0"/>
              <a:t>제</a:t>
            </a:r>
            <a:r>
              <a:rPr lang="en-US" altLang="ko-KR" sz="1000" dirty="0"/>
              <a:t>2</a:t>
            </a:r>
            <a:r>
              <a:rPr lang="ko-KR" altLang="en-US" sz="1000" dirty="0"/>
              <a:t>심 법원</a:t>
            </a:r>
            <a:r>
              <a:rPr lang="en-US" altLang="ko-KR" sz="1000" dirty="0"/>
              <a:t>/</a:t>
            </a:r>
            <a:r>
              <a:rPr lang="ko-KR" altLang="en-US" sz="1000" dirty="0"/>
              <a:t>고등법원이 선고한 종국판결</a:t>
            </a:r>
          </a:p>
        </p:txBody>
      </p:sp>
      <p:sp>
        <p:nvSpPr>
          <p:cNvPr id="77" name="TextBox 76">
            <a:extLst>
              <a:ext uri="{FF2B5EF4-FFF2-40B4-BE49-F238E27FC236}">
                <a16:creationId xmlns:a16="http://schemas.microsoft.com/office/drawing/2014/main" id="{C96E6E1F-57A6-45C3-8B15-8DA44C194ED2}"/>
              </a:ext>
            </a:extLst>
          </p:cNvPr>
          <p:cNvSpPr txBox="1"/>
          <p:nvPr/>
        </p:nvSpPr>
        <p:spPr>
          <a:xfrm>
            <a:off x="1518392" y="2046221"/>
            <a:ext cx="1409360" cy="246221"/>
          </a:xfrm>
          <a:prstGeom prst="rect">
            <a:avLst/>
          </a:prstGeom>
          <a:noFill/>
          <a:ln>
            <a:noFill/>
          </a:ln>
        </p:spPr>
        <p:txBody>
          <a:bodyPr wrap="none" rtlCol="0">
            <a:spAutoFit/>
          </a:bodyPr>
          <a:lstStyle/>
          <a:p>
            <a:r>
              <a:rPr lang="ko-KR" altLang="en-US" sz="1000" dirty="0"/>
              <a:t>행정청의 위법한 </a:t>
            </a:r>
            <a:r>
              <a:rPr lang="ko-KR" altLang="en-US" sz="1000" dirty="0" err="1"/>
              <a:t>처분등</a:t>
            </a:r>
            <a:endParaRPr lang="ko-KR" altLang="en-US" sz="1000" dirty="0"/>
          </a:p>
        </p:txBody>
      </p:sp>
      <p:sp>
        <p:nvSpPr>
          <p:cNvPr id="78" name="직사각형 77">
            <a:extLst>
              <a:ext uri="{FF2B5EF4-FFF2-40B4-BE49-F238E27FC236}">
                <a16:creationId xmlns:a16="http://schemas.microsoft.com/office/drawing/2014/main" id="{D3E86736-D227-B6EE-BBC8-6714F0E63246}"/>
              </a:ext>
            </a:extLst>
          </p:cNvPr>
          <p:cNvSpPr/>
          <p:nvPr/>
        </p:nvSpPr>
        <p:spPr>
          <a:xfrm>
            <a:off x="131329" y="1371600"/>
            <a:ext cx="3709685" cy="1000707"/>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918215339"/>
      </p:ext>
    </p:extLst>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186</a:t>
            </a:r>
            <a:r>
              <a:rPr lang="ko-KR" altLang="en-US" dirty="0"/>
              <a:t>조</a:t>
            </a:r>
          </a:p>
        </p:txBody>
      </p:sp>
      <p:sp>
        <p:nvSpPr>
          <p:cNvPr id="3" name="텍스트 개체 틀 2"/>
          <p:cNvSpPr>
            <a:spLocks noGrp="1"/>
          </p:cNvSpPr>
          <p:nvPr>
            <p:ph type="body" sz="quarter" idx="13"/>
          </p:nvPr>
        </p:nvSpPr>
        <p:spPr/>
        <p:txBody>
          <a:bodyPr/>
          <a:lstStyle/>
          <a:p>
            <a:r>
              <a:rPr lang="ko-KR" altLang="en-US" dirty="0"/>
              <a:t>소의 이익</a:t>
            </a:r>
          </a:p>
        </p:txBody>
      </p:sp>
      <p:sp>
        <p:nvSpPr>
          <p:cNvPr id="51" name="직사각형 50"/>
          <p:cNvSpPr/>
          <p:nvPr/>
        </p:nvSpPr>
        <p:spPr>
          <a:xfrm>
            <a:off x="1560950" y="1592417"/>
            <a:ext cx="9594730" cy="824059"/>
          </a:xfrm>
          <a:prstGeom prst="rect">
            <a:avLst/>
          </a:prstGeom>
          <a:no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r>
              <a:rPr lang="en-US" altLang="ko-KR" sz="1400" dirty="0">
                <a:solidFill>
                  <a:schemeClr val="tx1"/>
                </a:solidFill>
              </a:rPr>
              <a:t>* </a:t>
            </a:r>
            <a:r>
              <a:rPr lang="ko-KR" altLang="en-US" sz="1400" dirty="0">
                <a:solidFill>
                  <a:srgbClr val="FF0000"/>
                </a:solidFill>
              </a:rPr>
              <a:t>원고가 소를 통해 </a:t>
            </a:r>
            <a:r>
              <a:rPr lang="ko-KR" altLang="en-US" sz="1400" dirty="0" err="1">
                <a:solidFill>
                  <a:srgbClr val="FF0000"/>
                </a:solidFill>
              </a:rPr>
              <a:t>심결을</a:t>
            </a:r>
            <a:r>
              <a:rPr lang="ko-KR" altLang="en-US" sz="1400" dirty="0">
                <a:solidFill>
                  <a:srgbClr val="FF0000"/>
                </a:solidFill>
              </a:rPr>
              <a:t> 취소하고자 하는 이익</a:t>
            </a:r>
            <a:endParaRPr lang="en-US" altLang="ko-KR" sz="1400" dirty="0">
              <a:solidFill>
                <a:srgbClr val="FF0000"/>
              </a:solidFill>
            </a:endParaRPr>
          </a:p>
          <a:p>
            <a:r>
              <a:rPr lang="en-US" altLang="ko-KR" sz="1400" dirty="0">
                <a:solidFill>
                  <a:schemeClr val="tx1"/>
                </a:solidFill>
              </a:rPr>
              <a:t>* </a:t>
            </a:r>
            <a:r>
              <a:rPr lang="ko-KR" altLang="en-US" sz="1400" dirty="0">
                <a:solidFill>
                  <a:schemeClr val="tx1"/>
                </a:solidFill>
              </a:rPr>
              <a:t>소의 이익이 부정되는 경우 </a:t>
            </a:r>
            <a:r>
              <a:rPr lang="ko-KR" altLang="en-US" sz="1400" dirty="0" err="1">
                <a:solidFill>
                  <a:schemeClr val="tx1"/>
                </a:solidFill>
              </a:rPr>
              <a:t>소각하</a:t>
            </a:r>
            <a:endParaRPr lang="ko-KR" altLang="en-US" sz="1400" dirty="0">
              <a:solidFill>
                <a:schemeClr val="tx1"/>
              </a:solidFill>
            </a:endParaRPr>
          </a:p>
        </p:txBody>
      </p:sp>
      <p:sp>
        <p:nvSpPr>
          <p:cNvPr id="10" name="모서리가 둥근 직사각형 9"/>
          <p:cNvSpPr/>
          <p:nvPr/>
        </p:nvSpPr>
        <p:spPr>
          <a:xfrm>
            <a:off x="713232" y="1592417"/>
            <a:ext cx="850392" cy="824059"/>
          </a:xfrm>
          <a:prstGeom prst="roundRect">
            <a:avLst>
              <a:gd name="adj" fmla="val 50000"/>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의의</a:t>
            </a:r>
          </a:p>
        </p:txBody>
      </p:sp>
      <p:sp>
        <p:nvSpPr>
          <p:cNvPr id="40" name="직사각형 39"/>
          <p:cNvSpPr/>
          <p:nvPr/>
        </p:nvSpPr>
        <p:spPr>
          <a:xfrm>
            <a:off x="1560950" y="2634995"/>
            <a:ext cx="9594730" cy="1218274"/>
          </a:xfrm>
          <a:prstGeom prst="rect">
            <a:avLst/>
          </a:prstGeom>
          <a:no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r>
              <a:rPr lang="en-US" altLang="ko-KR" sz="1400" dirty="0">
                <a:solidFill>
                  <a:schemeClr val="tx1"/>
                </a:solidFill>
              </a:rPr>
              <a:t>* </a:t>
            </a:r>
            <a:r>
              <a:rPr lang="ko-KR" altLang="en-US" sz="1400" dirty="0">
                <a:solidFill>
                  <a:schemeClr val="tx1"/>
                </a:solidFill>
              </a:rPr>
              <a:t>원칙</a:t>
            </a:r>
            <a:r>
              <a:rPr lang="en-US" altLang="ko-KR" sz="1400" dirty="0">
                <a:solidFill>
                  <a:schemeClr val="tx1"/>
                </a:solidFill>
              </a:rPr>
              <a:t>: </a:t>
            </a:r>
            <a:r>
              <a:rPr lang="ko-KR" altLang="en-US" sz="1400" dirty="0">
                <a:solidFill>
                  <a:schemeClr val="tx1"/>
                </a:solidFill>
              </a:rPr>
              <a:t>소의 이익 긍정</a:t>
            </a:r>
            <a:endParaRPr lang="en-US" altLang="ko-KR" sz="1400" dirty="0">
              <a:solidFill>
                <a:schemeClr val="tx1"/>
              </a:solidFill>
            </a:endParaRPr>
          </a:p>
          <a:p>
            <a:r>
              <a:rPr lang="en-US" altLang="ko-KR" sz="1400" dirty="0">
                <a:solidFill>
                  <a:schemeClr val="tx1"/>
                </a:solidFill>
              </a:rPr>
              <a:t>* </a:t>
            </a:r>
            <a:r>
              <a:rPr lang="ko-KR" altLang="en-US" sz="1400" dirty="0">
                <a:solidFill>
                  <a:schemeClr val="tx1"/>
                </a:solidFill>
              </a:rPr>
              <a:t>예외</a:t>
            </a:r>
            <a:r>
              <a:rPr lang="en-US" altLang="ko-KR" sz="1400" dirty="0">
                <a:solidFill>
                  <a:schemeClr val="tx1"/>
                </a:solidFill>
              </a:rPr>
              <a:t>: </a:t>
            </a:r>
            <a:r>
              <a:rPr lang="ko-KR" altLang="en-US" sz="1400" dirty="0">
                <a:solidFill>
                  <a:schemeClr val="tx1"/>
                </a:solidFill>
              </a:rPr>
              <a:t>다음의 경우 부정 </a:t>
            </a:r>
            <a:endParaRPr lang="en-US" altLang="ko-KR" sz="1400" dirty="0">
              <a:solidFill>
                <a:schemeClr val="tx1"/>
              </a:solidFill>
            </a:endParaRPr>
          </a:p>
          <a:p>
            <a:r>
              <a:rPr lang="en-US" altLang="ko-KR" sz="1400" dirty="0">
                <a:solidFill>
                  <a:schemeClr val="tx1"/>
                </a:solidFill>
              </a:rPr>
              <a:t>  - </a:t>
            </a:r>
            <a:r>
              <a:rPr lang="ko-KR" altLang="en-US" sz="1400" dirty="0" err="1">
                <a:solidFill>
                  <a:srgbClr val="FF0000"/>
                </a:solidFill>
              </a:rPr>
              <a:t>사정변경</a:t>
            </a:r>
            <a:r>
              <a:rPr lang="ko-KR" altLang="en-US" sz="1400" dirty="0" err="1">
                <a:solidFill>
                  <a:schemeClr val="tx1"/>
                </a:solidFill>
              </a:rPr>
              <a:t>에</a:t>
            </a:r>
            <a:r>
              <a:rPr lang="ko-KR" altLang="en-US" sz="1400" dirty="0">
                <a:solidFill>
                  <a:schemeClr val="tx1"/>
                </a:solidFill>
              </a:rPr>
              <a:t> </a:t>
            </a:r>
            <a:r>
              <a:rPr lang="ko-KR" altLang="en-US" sz="1400" dirty="0" err="1">
                <a:solidFill>
                  <a:schemeClr val="tx1"/>
                </a:solidFill>
              </a:rPr>
              <a:t>심결</a:t>
            </a:r>
            <a:r>
              <a:rPr lang="ko-KR" altLang="en-US" sz="1400" dirty="0">
                <a:solidFill>
                  <a:schemeClr val="tx1"/>
                </a:solidFill>
              </a:rPr>
              <a:t> 자체가 무의미하게 된 경우</a:t>
            </a:r>
            <a:endParaRPr lang="en-US" altLang="ko-KR" sz="1400" dirty="0">
              <a:solidFill>
                <a:schemeClr val="tx1"/>
              </a:solidFill>
            </a:endParaRPr>
          </a:p>
          <a:p>
            <a:pPr marL="177800" indent="-177800"/>
            <a:r>
              <a:rPr lang="en-US" altLang="ko-KR" sz="1400" dirty="0">
                <a:solidFill>
                  <a:schemeClr val="tx1"/>
                </a:solidFill>
              </a:rPr>
              <a:t>  - </a:t>
            </a:r>
            <a:r>
              <a:rPr lang="ko-KR" altLang="en-US" sz="1400" dirty="0" err="1">
                <a:solidFill>
                  <a:schemeClr val="tx1"/>
                </a:solidFill>
              </a:rPr>
              <a:t>심결을</a:t>
            </a:r>
            <a:r>
              <a:rPr lang="ko-KR" altLang="en-US" sz="1400" dirty="0">
                <a:solidFill>
                  <a:schemeClr val="tx1"/>
                </a:solidFill>
              </a:rPr>
              <a:t> 취소하더라도 유리한 </a:t>
            </a:r>
            <a:r>
              <a:rPr lang="ko-KR" altLang="en-US" sz="1400" dirty="0" err="1">
                <a:solidFill>
                  <a:schemeClr val="tx1"/>
                </a:solidFill>
              </a:rPr>
              <a:t>심결을</a:t>
            </a:r>
            <a:r>
              <a:rPr lang="ko-KR" altLang="en-US" sz="1400" dirty="0">
                <a:solidFill>
                  <a:schemeClr val="tx1"/>
                </a:solidFill>
              </a:rPr>
              <a:t> 받을 가능성이 없는 경우</a:t>
            </a:r>
            <a:r>
              <a:rPr lang="en-US" altLang="ko-KR" sz="1400" dirty="0">
                <a:solidFill>
                  <a:schemeClr val="tx1"/>
                </a:solidFill>
              </a:rPr>
              <a:t>(</a:t>
            </a:r>
            <a:r>
              <a:rPr lang="ko-KR" altLang="en-US" sz="1400" dirty="0" err="1">
                <a:solidFill>
                  <a:srgbClr val="FF0000"/>
                </a:solidFill>
              </a:rPr>
              <a:t>각하되어야</a:t>
            </a:r>
            <a:r>
              <a:rPr lang="ko-KR" altLang="en-US" sz="1400" dirty="0">
                <a:solidFill>
                  <a:srgbClr val="FF0000"/>
                </a:solidFill>
              </a:rPr>
              <a:t> 할 </a:t>
            </a:r>
            <a:r>
              <a:rPr lang="ko-KR" altLang="en-US" sz="1400" dirty="0" err="1">
                <a:solidFill>
                  <a:srgbClr val="FF0000"/>
                </a:solidFill>
              </a:rPr>
              <a:t>심결이</a:t>
            </a:r>
            <a:r>
              <a:rPr lang="ko-KR" altLang="en-US" sz="1400" dirty="0">
                <a:solidFill>
                  <a:srgbClr val="FF0000"/>
                </a:solidFill>
              </a:rPr>
              <a:t> 기각된 경우</a:t>
            </a:r>
            <a:r>
              <a:rPr lang="en-US" altLang="ko-KR" sz="1400" dirty="0">
                <a:solidFill>
                  <a:schemeClr val="tx1"/>
                </a:solidFill>
              </a:rPr>
              <a:t>)</a:t>
            </a:r>
          </a:p>
        </p:txBody>
      </p:sp>
      <p:sp>
        <p:nvSpPr>
          <p:cNvPr id="41" name="모서리가 둥근 직사각형 40"/>
          <p:cNvSpPr/>
          <p:nvPr/>
        </p:nvSpPr>
        <p:spPr>
          <a:xfrm>
            <a:off x="713232" y="2845307"/>
            <a:ext cx="850392" cy="824059"/>
          </a:xfrm>
          <a:prstGeom prst="roundRect">
            <a:avLst>
              <a:gd name="adj" fmla="val 50000"/>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내용</a:t>
            </a:r>
          </a:p>
        </p:txBody>
      </p:sp>
      <p:sp>
        <p:nvSpPr>
          <p:cNvPr id="42" name="직사각형 41"/>
          <p:cNvSpPr/>
          <p:nvPr/>
        </p:nvSpPr>
        <p:spPr>
          <a:xfrm>
            <a:off x="1560950" y="4032704"/>
            <a:ext cx="9594730" cy="824059"/>
          </a:xfrm>
          <a:prstGeom prst="rect">
            <a:avLst/>
          </a:prstGeom>
          <a:no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nSpc>
                <a:spcPct val="150000"/>
              </a:lnSpc>
            </a:pPr>
            <a:r>
              <a:rPr lang="en-US" altLang="ko-KR" sz="1400" dirty="0">
                <a:solidFill>
                  <a:schemeClr val="tx1"/>
                </a:solidFill>
              </a:rPr>
              <a:t>* </a:t>
            </a:r>
            <a:r>
              <a:rPr lang="ko-KR" altLang="en-US" sz="1400" dirty="0">
                <a:solidFill>
                  <a:srgbClr val="FF0000"/>
                </a:solidFill>
              </a:rPr>
              <a:t>변론종결 시</a:t>
            </a:r>
            <a:r>
              <a:rPr lang="ko-KR" altLang="en-US" sz="1400" dirty="0">
                <a:solidFill>
                  <a:schemeClr val="tx1"/>
                </a:solidFill>
              </a:rPr>
              <a:t>를 기준으로 판단</a:t>
            </a:r>
            <a:endParaRPr lang="en-US" altLang="ko-KR" sz="1400" dirty="0">
              <a:solidFill>
                <a:schemeClr val="tx1"/>
              </a:solidFill>
            </a:endParaRPr>
          </a:p>
          <a:p>
            <a:r>
              <a:rPr lang="en-US" altLang="ko-KR" sz="1400" dirty="0">
                <a:solidFill>
                  <a:schemeClr val="tx1"/>
                </a:solidFill>
              </a:rPr>
              <a:t>* </a:t>
            </a:r>
            <a:r>
              <a:rPr lang="ko-KR" altLang="en-US" sz="1400" dirty="0">
                <a:solidFill>
                  <a:schemeClr val="tx1"/>
                </a:solidFill>
              </a:rPr>
              <a:t>다만</a:t>
            </a:r>
            <a:r>
              <a:rPr lang="en-US" altLang="ko-KR" sz="1400" dirty="0">
                <a:solidFill>
                  <a:schemeClr val="tx1"/>
                </a:solidFill>
              </a:rPr>
              <a:t>, </a:t>
            </a:r>
            <a:r>
              <a:rPr lang="ko-KR" altLang="en-US" sz="1400" dirty="0">
                <a:solidFill>
                  <a:srgbClr val="FF0000"/>
                </a:solidFill>
              </a:rPr>
              <a:t>상고심 계속 중에 생긴 사정</a:t>
            </a:r>
            <a:r>
              <a:rPr lang="ko-KR" altLang="en-US" sz="1400" dirty="0">
                <a:solidFill>
                  <a:schemeClr val="tx1"/>
                </a:solidFill>
              </a:rPr>
              <a:t>도 고려</a:t>
            </a:r>
          </a:p>
        </p:txBody>
      </p:sp>
      <p:sp>
        <p:nvSpPr>
          <p:cNvPr id="43" name="모서리가 둥근 직사각형 42"/>
          <p:cNvSpPr/>
          <p:nvPr/>
        </p:nvSpPr>
        <p:spPr>
          <a:xfrm>
            <a:off x="713232" y="4032704"/>
            <a:ext cx="850392" cy="824059"/>
          </a:xfrm>
          <a:prstGeom prst="roundRect">
            <a:avLst>
              <a:gd name="adj" fmla="val 50000"/>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판단</a:t>
            </a:r>
          </a:p>
        </p:txBody>
      </p:sp>
      <p:sp>
        <p:nvSpPr>
          <p:cNvPr id="44" name="직사각형 43"/>
          <p:cNvSpPr/>
          <p:nvPr/>
        </p:nvSpPr>
        <p:spPr>
          <a:xfrm>
            <a:off x="1560950" y="5110271"/>
            <a:ext cx="9594730" cy="824059"/>
          </a:xfrm>
          <a:prstGeom prst="rect">
            <a:avLst/>
          </a:prstGeom>
          <a:noFill/>
          <a:ln w="1270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nSpc>
                <a:spcPct val="150000"/>
              </a:lnSpc>
            </a:pPr>
            <a:r>
              <a:rPr lang="ko-KR" altLang="en-US" sz="1400" dirty="0">
                <a:solidFill>
                  <a:schemeClr val="tx1"/>
                </a:solidFill>
              </a:rPr>
              <a:t>* 소의 이익이 있음을 전제로 </a:t>
            </a:r>
            <a:r>
              <a:rPr lang="ko-KR" altLang="en-US" sz="1400" dirty="0" err="1">
                <a:solidFill>
                  <a:schemeClr val="tx1"/>
                </a:solidFill>
              </a:rPr>
              <a:t>본안심리</a:t>
            </a:r>
            <a:endParaRPr lang="ko-KR" altLang="en-US" sz="1400" dirty="0">
              <a:solidFill>
                <a:schemeClr val="tx1"/>
              </a:solidFill>
            </a:endParaRPr>
          </a:p>
          <a:p>
            <a:r>
              <a:rPr lang="ko-KR" altLang="en-US" sz="1400" dirty="0">
                <a:solidFill>
                  <a:schemeClr val="tx1"/>
                </a:solidFill>
              </a:rPr>
              <a:t>* 사정변경에 의하여 소의 이익과 </a:t>
            </a:r>
            <a:r>
              <a:rPr lang="ko-KR" altLang="en-US" sz="1400" dirty="0" err="1">
                <a:solidFill>
                  <a:schemeClr val="tx1"/>
                </a:solidFill>
              </a:rPr>
              <a:t>심결이</a:t>
            </a:r>
            <a:r>
              <a:rPr lang="ko-KR" altLang="en-US" sz="1400" dirty="0">
                <a:solidFill>
                  <a:schemeClr val="tx1"/>
                </a:solidFill>
              </a:rPr>
              <a:t> 모두 위법한 경우에는 소각하</a:t>
            </a:r>
          </a:p>
        </p:txBody>
      </p:sp>
      <p:sp>
        <p:nvSpPr>
          <p:cNvPr id="45" name="모서리가 둥근 직사각형 44"/>
          <p:cNvSpPr/>
          <p:nvPr/>
        </p:nvSpPr>
        <p:spPr>
          <a:xfrm>
            <a:off x="713232" y="5110271"/>
            <a:ext cx="850392" cy="824059"/>
          </a:xfrm>
          <a:prstGeom prst="roundRect">
            <a:avLst>
              <a:gd name="adj" fmla="val 50000"/>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dirty="0"/>
              <a:t>비고</a:t>
            </a:r>
          </a:p>
        </p:txBody>
      </p:sp>
      <p:sp>
        <p:nvSpPr>
          <p:cNvPr id="4" name="슬라이드 번호 개체 틀 3"/>
          <p:cNvSpPr>
            <a:spLocks noGrp="1"/>
          </p:cNvSpPr>
          <p:nvPr>
            <p:ph type="sldNum" sz="quarter" idx="4294967295"/>
          </p:nvPr>
        </p:nvSpPr>
        <p:spPr>
          <a:xfrm>
            <a:off x="11125200" y="0"/>
            <a:ext cx="1066800" cy="711200"/>
          </a:xfrm>
        </p:spPr>
        <p:txBody>
          <a:bodyPr/>
          <a:lstStyle/>
          <a:p>
            <a:r>
              <a:rPr lang="en-US" altLang="ko-KR"/>
              <a:t>521</a:t>
            </a:r>
            <a:endParaRPr lang="ko-KR" altLang="en-US" dirty="0"/>
          </a:p>
        </p:txBody>
      </p:sp>
    </p:spTree>
    <p:extLst>
      <p:ext uri="{BB962C8B-B14F-4D97-AF65-F5344CB8AC3E}">
        <p14:creationId xmlns:p14="http://schemas.microsoft.com/office/powerpoint/2010/main" val="3823258453"/>
      </p:ext>
    </p:extLst>
  </p:cSld>
  <p:clrMapOvr>
    <a:masterClrMapping/>
  </p:clrMapOvr>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186</a:t>
            </a:r>
            <a:r>
              <a:rPr lang="ko-KR" altLang="en-US" dirty="0"/>
              <a:t>조</a:t>
            </a:r>
          </a:p>
        </p:txBody>
      </p:sp>
      <p:sp>
        <p:nvSpPr>
          <p:cNvPr id="3" name="텍스트 개체 틀 2"/>
          <p:cNvSpPr>
            <a:spLocks noGrp="1"/>
          </p:cNvSpPr>
          <p:nvPr>
            <p:ph type="body" sz="quarter" idx="13"/>
          </p:nvPr>
        </p:nvSpPr>
        <p:spPr/>
        <p:txBody>
          <a:bodyPr/>
          <a:lstStyle/>
          <a:p>
            <a:r>
              <a:rPr lang="ko-KR" altLang="en-US" dirty="0"/>
              <a:t>소의 이익 </a:t>
            </a:r>
            <a:r>
              <a:rPr lang="en-US" altLang="ko-KR" dirty="0"/>
              <a:t>CASE</a:t>
            </a:r>
            <a:endParaRPr lang="ko-KR" altLang="en-US" dirty="0"/>
          </a:p>
        </p:txBody>
      </p:sp>
      <p:cxnSp>
        <p:nvCxnSpPr>
          <p:cNvPr id="19" name="직선 연결선 18"/>
          <p:cNvCxnSpPr/>
          <p:nvPr/>
        </p:nvCxnSpPr>
        <p:spPr>
          <a:xfrm>
            <a:off x="258317" y="2826436"/>
            <a:ext cx="11600307"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 name="Rectangle 14"/>
          <p:cNvSpPr>
            <a:spLocks noChangeArrowheads="1"/>
          </p:cNvSpPr>
          <p:nvPr/>
        </p:nvSpPr>
        <p:spPr bwMode="auto">
          <a:xfrm flipV="1">
            <a:off x="960626" y="2749905"/>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21" name="TextBox 20"/>
          <p:cNvSpPr txBox="1"/>
          <p:nvPr/>
        </p:nvSpPr>
        <p:spPr>
          <a:xfrm>
            <a:off x="343806" y="2157337"/>
            <a:ext cx="1370694"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무효심판청구</a:t>
            </a:r>
            <a:endParaRPr lang="en-US" altLang="ko-KR" sz="1200" dirty="0"/>
          </a:p>
          <a:p>
            <a:pPr algn="ctr"/>
            <a:r>
              <a:rPr lang="en-US" altLang="ko-KR" sz="1200" dirty="0"/>
              <a:t>(</a:t>
            </a:r>
            <a:r>
              <a:rPr lang="ko-KR" altLang="en-US" sz="1200" dirty="0"/>
              <a:t>이해관계인</a:t>
            </a:r>
            <a:r>
              <a:rPr lang="en-US" altLang="ko-KR" sz="1200" dirty="0"/>
              <a:t>, </a:t>
            </a:r>
            <a:r>
              <a:rPr lang="ko-KR" altLang="en-US" sz="1200" dirty="0"/>
              <a:t>甲</a:t>
            </a:r>
            <a:r>
              <a:rPr lang="en-US" altLang="ko-KR" sz="1200" dirty="0"/>
              <a:t>)</a:t>
            </a:r>
            <a:endParaRPr lang="ko-KR" altLang="en-US" sz="1200" dirty="0"/>
          </a:p>
        </p:txBody>
      </p:sp>
      <p:cxnSp>
        <p:nvCxnSpPr>
          <p:cNvPr id="23" name="직선 연결선 22"/>
          <p:cNvCxnSpPr>
            <a:stCxn id="21" idx="2"/>
            <a:endCxn id="20" idx="4"/>
          </p:cNvCxnSpPr>
          <p:nvPr/>
        </p:nvCxnSpPr>
        <p:spPr>
          <a:xfrm>
            <a:off x="1029153" y="2619002"/>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804092" y="2157337"/>
            <a:ext cx="526208"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a:t>무효심결</a:t>
            </a:r>
            <a:endParaRPr lang="ko-KR" altLang="en-US" sz="1200" dirty="0"/>
          </a:p>
        </p:txBody>
      </p:sp>
      <p:cxnSp>
        <p:nvCxnSpPr>
          <p:cNvPr id="27" name="직선 연결선 26"/>
          <p:cNvCxnSpPr>
            <a:stCxn id="25" idx="2"/>
          </p:cNvCxnSpPr>
          <p:nvPr/>
        </p:nvCxnSpPr>
        <p:spPr>
          <a:xfrm>
            <a:off x="2067196" y="2619002"/>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Rectangle 14"/>
          <p:cNvSpPr>
            <a:spLocks noChangeArrowheads="1"/>
          </p:cNvSpPr>
          <p:nvPr/>
        </p:nvSpPr>
        <p:spPr bwMode="auto">
          <a:xfrm flipV="1">
            <a:off x="2000276" y="2749905"/>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 name="직사각형 4"/>
          <p:cNvSpPr/>
          <p:nvPr/>
        </p:nvSpPr>
        <p:spPr>
          <a:xfrm>
            <a:off x="258317" y="1332197"/>
            <a:ext cx="11600307" cy="646331"/>
          </a:xfrm>
          <a:prstGeom prst="rect">
            <a:avLst/>
          </a:prstGeom>
          <a:solidFill>
            <a:schemeClr val="accent2">
              <a:lumMod val="20000"/>
              <a:lumOff val="80000"/>
            </a:schemeClr>
          </a:solidFill>
          <a:ln>
            <a:solidFill>
              <a:schemeClr val="bg1">
                <a:lumMod val="50000"/>
              </a:schemeClr>
            </a:solidFill>
          </a:ln>
        </p:spPr>
        <p:txBody>
          <a:bodyPr wrap="square">
            <a:spAutoFit/>
          </a:bodyPr>
          <a:lstStyle/>
          <a:p>
            <a:r>
              <a:rPr lang="en-US" altLang="ko-KR" sz="1200" b="1" dirty="0">
                <a:solidFill>
                  <a:schemeClr val="accent1"/>
                </a:solidFill>
              </a:rPr>
              <a:t>(</a:t>
            </a:r>
            <a:r>
              <a:rPr lang="ko-KR" altLang="en-US" sz="1200" b="1" dirty="0">
                <a:solidFill>
                  <a:schemeClr val="accent1"/>
                </a:solidFill>
              </a:rPr>
              <a:t>대법원 </a:t>
            </a:r>
            <a:r>
              <a:rPr lang="en-US" altLang="ko-KR" sz="1200" b="1" dirty="0">
                <a:solidFill>
                  <a:schemeClr val="accent1"/>
                </a:solidFill>
              </a:rPr>
              <a:t>2001. 5. 8. </a:t>
            </a:r>
            <a:r>
              <a:rPr lang="ko-KR" altLang="en-US" sz="1200" b="1" dirty="0">
                <a:solidFill>
                  <a:schemeClr val="accent1"/>
                </a:solidFill>
              </a:rPr>
              <a:t>선고 </a:t>
            </a:r>
            <a:r>
              <a:rPr lang="en-US" altLang="ko-KR" sz="1200" b="1" dirty="0">
                <a:solidFill>
                  <a:schemeClr val="accent1"/>
                </a:solidFill>
              </a:rPr>
              <a:t>98</a:t>
            </a:r>
            <a:r>
              <a:rPr lang="ko-KR" altLang="en-US" sz="1200" b="1" dirty="0">
                <a:solidFill>
                  <a:schemeClr val="accent1"/>
                </a:solidFill>
              </a:rPr>
              <a:t>후</a:t>
            </a:r>
            <a:r>
              <a:rPr lang="en-US" altLang="ko-KR" sz="1200" b="1" dirty="0">
                <a:solidFill>
                  <a:schemeClr val="accent1"/>
                </a:solidFill>
              </a:rPr>
              <a:t>1921) </a:t>
            </a:r>
            <a:r>
              <a:rPr lang="ko-KR" altLang="en-US" sz="1200" dirty="0"/>
              <a:t>특허를 무효로 한 </a:t>
            </a:r>
            <a:r>
              <a:rPr lang="ko-KR" altLang="en-US" sz="1200" dirty="0" err="1"/>
              <a:t>심결에</a:t>
            </a:r>
            <a:r>
              <a:rPr lang="ko-KR" altLang="en-US" sz="1200" dirty="0"/>
              <a:t> 대한 심결취소소송에서 원고의 청구가 기각되어 상고심에 계속 중</a:t>
            </a:r>
            <a:r>
              <a:rPr lang="en-US" altLang="ko-KR" sz="1200" dirty="0"/>
              <a:t>, </a:t>
            </a:r>
            <a:r>
              <a:rPr lang="ko-KR" altLang="en-US" sz="1200" dirty="0"/>
              <a:t>제</a:t>
            </a:r>
            <a:r>
              <a:rPr lang="en-US" altLang="ko-KR" sz="1200" dirty="0"/>
              <a:t>3</a:t>
            </a:r>
            <a:r>
              <a:rPr lang="ko-KR" altLang="en-US" sz="1200" dirty="0"/>
              <a:t>자가 제기한 특허무효심판에서 특허를 무효로 하는 </a:t>
            </a:r>
            <a:r>
              <a:rPr lang="ko-KR" altLang="en-US" sz="1200" dirty="0" err="1"/>
              <a:t>심결이</a:t>
            </a:r>
            <a:r>
              <a:rPr lang="ko-KR" altLang="en-US" sz="1200" dirty="0"/>
              <a:t> 확정된 때에는 그 특허권은 처음부터 없었던 것으로 보게 되므로</a:t>
            </a:r>
            <a:r>
              <a:rPr lang="en-US" altLang="ko-KR" sz="1200" dirty="0"/>
              <a:t>, </a:t>
            </a:r>
            <a:r>
              <a:rPr lang="ko-KR" altLang="en-US" sz="1200" dirty="0"/>
              <a:t>결과적으로 존재하지 않은 특허를 대상으로 판단한 </a:t>
            </a:r>
            <a:r>
              <a:rPr lang="ko-KR" altLang="en-US" sz="1200" dirty="0" err="1"/>
              <a:t>심결은</a:t>
            </a:r>
            <a:r>
              <a:rPr lang="ko-KR" altLang="en-US" sz="1200" dirty="0"/>
              <a:t> 위법하게 되나</a:t>
            </a:r>
            <a:r>
              <a:rPr lang="en-US" altLang="ko-KR" sz="1200" dirty="0"/>
              <a:t>, </a:t>
            </a:r>
            <a:r>
              <a:rPr lang="ko-KR" altLang="en-US" sz="1200" dirty="0"/>
              <a:t>특허가 무효로 확정된 이상 </a:t>
            </a:r>
            <a:r>
              <a:rPr lang="ko-KR" altLang="en-US" sz="1200" dirty="0" err="1"/>
              <a:t>심결의</a:t>
            </a:r>
            <a:r>
              <a:rPr lang="ko-KR" altLang="en-US" sz="1200" dirty="0"/>
              <a:t> 취소를 구할 법률상 이익도 없어졌다고 봄이 상당하다</a:t>
            </a:r>
            <a:r>
              <a:rPr lang="en-US" altLang="ko-KR" sz="1200" dirty="0"/>
              <a:t>.</a:t>
            </a:r>
            <a:endParaRPr lang="ko-KR" altLang="en-US" sz="1200" dirty="0"/>
          </a:p>
        </p:txBody>
      </p:sp>
      <p:sp>
        <p:nvSpPr>
          <p:cNvPr id="7" name="직사각형 6"/>
          <p:cNvSpPr/>
          <p:nvPr/>
        </p:nvSpPr>
        <p:spPr>
          <a:xfrm>
            <a:off x="258318" y="1026873"/>
            <a:ext cx="1481496" cy="307777"/>
          </a:xfrm>
          <a:prstGeom prst="rect">
            <a:avLst/>
          </a:prstGeom>
          <a:solidFill>
            <a:schemeClr val="accent2"/>
          </a:solidFill>
          <a:ln>
            <a:solidFill>
              <a:schemeClr val="bg1">
                <a:lumMod val="50000"/>
              </a:schemeClr>
            </a:solidFill>
          </a:ln>
        </p:spPr>
        <p:txBody>
          <a:bodyPr wrap="none">
            <a:spAutoFit/>
          </a:bodyPr>
          <a:lstStyle/>
          <a:p>
            <a:r>
              <a:rPr lang="ko-KR" altLang="en-US" sz="1400" dirty="0">
                <a:solidFill>
                  <a:schemeClr val="bg1"/>
                </a:solidFill>
              </a:rPr>
              <a:t>사정변경의 </a:t>
            </a:r>
            <a:r>
              <a:rPr lang="en-US" altLang="ko-KR" sz="1400" dirty="0">
                <a:solidFill>
                  <a:schemeClr val="bg1"/>
                </a:solidFill>
              </a:rPr>
              <a:t>CASE</a:t>
            </a:r>
            <a:endParaRPr lang="ko-KR" altLang="en-US" sz="1400" dirty="0">
              <a:solidFill>
                <a:schemeClr val="bg1"/>
              </a:solidFill>
            </a:endParaRPr>
          </a:p>
        </p:txBody>
      </p:sp>
      <p:sp>
        <p:nvSpPr>
          <p:cNvPr id="29" name="Rectangle 14"/>
          <p:cNvSpPr>
            <a:spLocks noChangeArrowheads="1"/>
          </p:cNvSpPr>
          <p:nvPr/>
        </p:nvSpPr>
        <p:spPr bwMode="auto">
          <a:xfrm flipV="1">
            <a:off x="3157382" y="2749905"/>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0" name="TextBox 29"/>
          <p:cNvSpPr txBox="1"/>
          <p:nvPr/>
        </p:nvSpPr>
        <p:spPr>
          <a:xfrm>
            <a:off x="2405285" y="2157337"/>
            <a:ext cx="1641248"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심결취소소송제기</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乙</a:t>
            </a:r>
            <a:r>
              <a:rPr lang="en-US" altLang="ko-KR" sz="1200" dirty="0"/>
              <a:t>)</a:t>
            </a:r>
            <a:endParaRPr lang="ko-KR" altLang="en-US" sz="1200" dirty="0"/>
          </a:p>
        </p:txBody>
      </p:sp>
      <p:cxnSp>
        <p:nvCxnSpPr>
          <p:cNvPr id="31" name="직선 연결선 30"/>
          <p:cNvCxnSpPr>
            <a:stCxn id="30" idx="2"/>
            <a:endCxn id="29" idx="4"/>
          </p:cNvCxnSpPr>
          <p:nvPr/>
        </p:nvCxnSpPr>
        <p:spPr>
          <a:xfrm>
            <a:off x="3225909" y="2619002"/>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4165572" y="2157337"/>
            <a:ext cx="577760"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기각판결</a:t>
            </a:r>
            <a:endParaRPr lang="ko-KR" altLang="en-US" sz="1200" dirty="0"/>
          </a:p>
        </p:txBody>
      </p:sp>
      <p:cxnSp>
        <p:nvCxnSpPr>
          <p:cNvPr id="33" name="직선 연결선 32"/>
          <p:cNvCxnSpPr>
            <a:stCxn id="32" idx="2"/>
            <a:endCxn id="34" idx="4"/>
          </p:cNvCxnSpPr>
          <p:nvPr/>
        </p:nvCxnSpPr>
        <p:spPr>
          <a:xfrm>
            <a:off x="4454452" y="2619002"/>
            <a:ext cx="4518"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Rectangle 14"/>
          <p:cNvSpPr>
            <a:spLocks noChangeArrowheads="1"/>
          </p:cNvSpPr>
          <p:nvPr/>
        </p:nvSpPr>
        <p:spPr bwMode="auto">
          <a:xfrm flipV="1">
            <a:off x="4387532" y="2749905"/>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5" name="TextBox 34"/>
          <p:cNvSpPr txBox="1"/>
          <p:nvPr/>
        </p:nvSpPr>
        <p:spPr>
          <a:xfrm>
            <a:off x="4878907" y="2157337"/>
            <a:ext cx="1047974"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상고</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乙</a:t>
            </a:r>
            <a:r>
              <a:rPr lang="en-US" altLang="ko-KR" sz="1200" dirty="0"/>
              <a:t>)</a:t>
            </a:r>
            <a:endParaRPr lang="ko-KR" altLang="en-US" sz="1200" dirty="0"/>
          </a:p>
        </p:txBody>
      </p:sp>
      <p:cxnSp>
        <p:nvCxnSpPr>
          <p:cNvPr id="36" name="직선 연결선 35"/>
          <p:cNvCxnSpPr>
            <a:stCxn id="35" idx="2"/>
            <a:endCxn id="37" idx="4"/>
          </p:cNvCxnSpPr>
          <p:nvPr/>
        </p:nvCxnSpPr>
        <p:spPr>
          <a:xfrm>
            <a:off x="5402894" y="2619002"/>
            <a:ext cx="4518"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 name="Rectangle 14"/>
          <p:cNvSpPr>
            <a:spLocks noChangeArrowheads="1"/>
          </p:cNvSpPr>
          <p:nvPr/>
        </p:nvSpPr>
        <p:spPr bwMode="auto">
          <a:xfrm flipV="1">
            <a:off x="5335974" y="2749905"/>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8" name="Rectangle 14"/>
          <p:cNvSpPr>
            <a:spLocks noChangeArrowheads="1"/>
          </p:cNvSpPr>
          <p:nvPr/>
        </p:nvSpPr>
        <p:spPr bwMode="auto">
          <a:xfrm flipV="1">
            <a:off x="1541678" y="2749905"/>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9" name="TextBox 38"/>
          <p:cNvSpPr txBox="1"/>
          <p:nvPr/>
        </p:nvSpPr>
        <p:spPr>
          <a:xfrm>
            <a:off x="924858" y="3068695"/>
            <a:ext cx="1370694"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무효심판청구</a:t>
            </a:r>
            <a:endParaRPr lang="en-US" altLang="ko-KR" sz="1200" dirty="0"/>
          </a:p>
          <a:p>
            <a:pPr algn="ctr"/>
            <a:r>
              <a:rPr lang="en-US" altLang="ko-KR" sz="1200" dirty="0"/>
              <a:t>(</a:t>
            </a:r>
            <a:r>
              <a:rPr lang="ko-KR" altLang="en-US" sz="1200" dirty="0"/>
              <a:t>이해관계인</a:t>
            </a:r>
            <a:r>
              <a:rPr lang="en-US" altLang="ko-KR" sz="1200" dirty="0"/>
              <a:t>, </a:t>
            </a:r>
            <a:r>
              <a:rPr lang="ko-KR" altLang="en-US" sz="1200" dirty="0"/>
              <a:t>丙</a:t>
            </a:r>
            <a:r>
              <a:rPr lang="en-US" altLang="ko-KR" sz="1200" dirty="0"/>
              <a:t>)</a:t>
            </a:r>
            <a:endParaRPr lang="ko-KR" altLang="en-US" sz="1200" dirty="0"/>
          </a:p>
        </p:txBody>
      </p:sp>
      <p:cxnSp>
        <p:nvCxnSpPr>
          <p:cNvPr id="44" name="직선 연결선 43"/>
          <p:cNvCxnSpPr>
            <a:stCxn id="39" idx="0"/>
            <a:endCxn id="38" idx="0"/>
          </p:cNvCxnSpPr>
          <p:nvPr/>
        </p:nvCxnSpPr>
        <p:spPr>
          <a:xfrm flipV="1">
            <a:off x="1610205" y="2902967"/>
            <a:ext cx="2911" cy="1657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Rectangle 14"/>
          <p:cNvSpPr>
            <a:spLocks noChangeArrowheads="1"/>
          </p:cNvSpPr>
          <p:nvPr/>
        </p:nvSpPr>
        <p:spPr bwMode="auto">
          <a:xfrm flipV="1">
            <a:off x="5795276" y="2749905"/>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6" name="TextBox 45"/>
          <p:cNvSpPr txBox="1"/>
          <p:nvPr/>
        </p:nvSpPr>
        <p:spPr>
          <a:xfrm>
            <a:off x="5355381" y="3068695"/>
            <a:ext cx="1016844"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무효심결확정</a:t>
            </a:r>
          </a:p>
        </p:txBody>
      </p:sp>
      <p:cxnSp>
        <p:nvCxnSpPr>
          <p:cNvPr id="47" name="직선 연결선 46"/>
          <p:cNvCxnSpPr>
            <a:stCxn id="46" idx="0"/>
            <a:endCxn id="45" idx="0"/>
          </p:cNvCxnSpPr>
          <p:nvPr/>
        </p:nvCxnSpPr>
        <p:spPr>
          <a:xfrm flipV="1">
            <a:off x="5863803" y="2902967"/>
            <a:ext cx="2911" cy="1657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6440752" y="2386907"/>
            <a:ext cx="5113073" cy="853270"/>
          </a:xfrm>
          <a:prstGeom prst="rect">
            <a:avLst/>
          </a:prstGeom>
          <a:solidFill>
            <a:schemeClr val="bg1">
              <a:lumMod val="95000"/>
            </a:schemeClr>
          </a:solidFill>
          <a:ln>
            <a:solidFill>
              <a:schemeClr val="bg1">
                <a:lumMod val="50000"/>
              </a:schemeClr>
            </a:solidFill>
          </a:ln>
        </p:spPr>
        <p:txBody>
          <a:bodyPr wrap="square" rtlCol="0" anchor="ctr">
            <a:noAutofit/>
          </a:bodyPr>
          <a:lstStyle/>
          <a:p>
            <a:r>
              <a:rPr lang="ko-KR" altLang="en-US" sz="1200" dirty="0">
                <a:solidFill>
                  <a:schemeClr val="tx2"/>
                </a:solidFill>
              </a:rPr>
              <a:t>원칙은 무효심결확정으로 판결이 없는 특허를 대상으로 하였기 때문에 판결의 기초가 된 행정처분이 바뀐 경우인 민소법 제</a:t>
            </a:r>
            <a:r>
              <a:rPr lang="en-US" altLang="ko-KR" sz="1200" dirty="0">
                <a:solidFill>
                  <a:schemeClr val="tx2"/>
                </a:solidFill>
              </a:rPr>
              <a:t>451</a:t>
            </a:r>
            <a:r>
              <a:rPr lang="ko-KR" altLang="en-US" sz="1200" dirty="0">
                <a:solidFill>
                  <a:schemeClr val="tx2"/>
                </a:solidFill>
              </a:rPr>
              <a:t>조제</a:t>
            </a:r>
            <a:r>
              <a:rPr lang="en-US" altLang="ko-KR" sz="1200" dirty="0">
                <a:solidFill>
                  <a:schemeClr val="tx2"/>
                </a:solidFill>
              </a:rPr>
              <a:t>1</a:t>
            </a:r>
            <a:r>
              <a:rPr lang="ko-KR" altLang="en-US" sz="1200" dirty="0" err="1">
                <a:solidFill>
                  <a:schemeClr val="tx2"/>
                </a:solidFill>
              </a:rPr>
              <a:t>항제</a:t>
            </a:r>
            <a:r>
              <a:rPr lang="en-US" altLang="ko-KR" sz="1200" dirty="0">
                <a:solidFill>
                  <a:schemeClr val="tx2"/>
                </a:solidFill>
              </a:rPr>
              <a:t>8</a:t>
            </a:r>
            <a:r>
              <a:rPr lang="ko-KR" altLang="en-US" sz="1200" dirty="0">
                <a:solidFill>
                  <a:schemeClr val="tx2"/>
                </a:solidFill>
              </a:rPr>
              <a:t>호의 재심사유라는 법령위반이 존재하여 대법원에서 파기환송하면 특허법원에서 소각하하여야 하나</a:t>
            </a:r>
            <a:r>
              <a:rPr lang="en-US" altLang="ko-KR" sz="1200" dirty="0">
                <a:solidFill>
                  <a:schemeClr val="tx2"/>
                </a:solidFill>
              </a:rPr>
              <a:t>, </a:t>
            </a:r>
            <a:r>
              <a:rPr lang="ko-KR" altLang="en-US" sz="1200" dirty="0">
                <a:solidFill>
                  <a:schemeClr val="tx2"/>
                </a:solidFill>
              </a:rPr>
              <a:t>대법원에서 직접 파기소각하를 하는 경우가 대부분임 </a:t>
            </a:r>
          </a:p>
        </p:txBody>
      </p:sp>
      <p:cxnSp>
        <p:nvCxnSpPr>
          <p:cNvPr id="64" name="직선 연결선 63"/>
          <p:cNvCxnSpPr/>
          <p:nvPr/>
        </p:nvCxnSpPr>
        <p:spPr>
          <a:xfrm flipH="1">
            <a:off x="336431" y="3887140"/>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직사각형 64"/>
          <p:cNvSpPr/>
          <p:nvPr/>
        </p:nvSpPr>
        <p:spPr>
          <a:xfrm>
            <a:off x="258317" y="4367609"/>
            <a:ext cx="11600307" cy="646331"/>
          </a:xfrm>
          <a:prstGeom prst="rect">
            <a:avLst/>
          </a:prstGeom>
          <a:solidFill>
            <a:schemeClr val="accent2">
              <a:lumMod val="20000"/>
              <a:lumOff val="80000"/>
            </a:schemeClr>
          </a:solidFill>
          <a:ln>
            <a:solidFill>
              <a:schemeClr val="bg1">
                <a:lumMod val="50000"/>
              </a:schemeClr>
            </a:solidFill>
          </a:ln>
        </p:spPr>
        <p:txBody>
          <a:bodyPr wrap="square">
            <a:spAutoFit/>
          </a:bodyPr>
          <a:lstStyle/>
          <a:p>
            <a:r>
              <a:rPr lang="ko-KR" altLang="en-US" sz="1200" dirty="0">
                <a:solidFill>
                  <a:schemeClr val="tx2"/>
                </a:solidFill>
              </a:rPr>
              <a:t>당사자 간의 합의가 </a:t>
            </a:r>
            <a:r>
              <a:rPr lang="ko-KR" altLang="en-US" sz="1200" dirty="0" err="1">
                <a:solidFill>
                  <a:schemeClr val="tx2"/>
                </a:solidFill>
              </a:rPr>
              <a:t>심결</a:t>
            </a:r>
            <a:r>
              <a:rPr lang="ko-KR" altLang="en-US" sz="1200" dirty="0">
                <a:solidFill>
                  <a:schemeClr val="tx2"/>
                </a:solidFill>
              </a:rPr>
              <a:t> 이후에 있으면 소의 이익이 없으므로 소를 각하하여야 하나</a:t>
            </a:r>
            <a:r>
              <a:rPr lang="en-US" altLang="ko-KR" sz="1200" dirty="0">
                <a:solidFill>
                  <a:schemeClr val="tx2"/>
                </a:solidFill>
              </a:rPr>
              <a:t>, </a:t>
            </a:r>
            <a:r>
              <a:rPr lang="ko-KR" altLang="en-US" sz="1200" dirty="0">
                <a:solidFill>
                  <a:schemeClr val="tx2"/>
                </a:solidFill>
              </a:rPr>
              <a:t>심판단계에서 당사자 간의 합의가 이루어질 경우에는 심판의 이익이 없으므로 심판청구를 각하하여야 함에도 불구하고 실체 판단을 한 </a:t>
            </a:r>
            <a:r>
              <a:rPr lang="ko-KR" altLang="en-US" sz="1200" dirty="0" err="1">
                <a:solidFill>
                  <a:schemeClr val="tx2"/>
                </a:solidFill>
              </a:rPr>
              <a:t>심결은</a:t>
            </a:r>
            <a:r>
              <a:rPr lang="ko-KR" altLang="en-US" sz="1200" dirty="0">
                <a:solidFill>
                  <a:schemeClr val="tx2"/>
                </a:solidFill>
              </a:rPr>
              <a:t> 위법하므로 그 </a:t>
            </a:r>
            <a:r>
              <a:rPr lang="ko-KR" altLang="en-US" sz="1200" dirty="0" err="1">
                <a:solidFill>
                  <a:schemeClr val="tx2"/>
                </a:solidFill>
              </a:rPr>
              <a:t>심결은</a:t>
            </a:r>
            <a:r>
              <a:rPr lang="ko-KR" altLang="en-US" sz="1200" dirty="0">
                <a:solidFill>
                  <a:schemeClr val="tx2"/>
                </a:solidFill>
              </a:rPr>
              <a:t> 취소되어야 한다</a:t>
            </a:r>
            <a:r>
              <a:rPr lang="en-US" altLang="ko-KR" sz="1200" dirty="0">
                <a:solidFill>
                  <a:schemeClr val="tx2"/>
                </a:solidFill>
              </a:rPr>
              <a:t>. </a:t>
            </a:r>
            <a:r>
              <a:rPr lang="ko-KR" altLang="en-US" sz="1200" dirty="0">
                <a:solidFill>
                  <a:schemeClr val="tx2"/>
                </a:solidFill>
              </a:rPr>
              <a:t>다만</a:t>
            </a:r>
            <a:r>
              <a:rPr lang="en-US" altLang="ko-KR" sz="1200" dirty="0">
                <a:solidFill>
                  <a:schemeClr val="tx2"/>
                </a:solidFill>
              </a:rPr>
              <a:t>, </a:t>
            </a:r>
            <a:r>
              <a:rPr lang="ko-KR" altLang="en-US" sz="1200" dirty="0">
                <a:solidFill>
                  <a:schemeClr val="tx2"/>
                </a:solidFill>
              </a:rPr>
              <a:t>예외적으로 </a:t>
            </a:r>
            <a:r>
              <a:rPr lang="ko-KR" altLang="en-US" sz="1200" dirty="0" err="1">
                <a:solidFill>
                  <a:schemeClr val="tx2"/>
                </a:solidFill>
              </a:rPr>
              <a:t>권리범위확인심판청구를</a:t>
            </a:r>
            <a:r>
              <a:rPr lang="ko-KR" altLang="en-US" sz="1200" dirty="0">
                <a:solidFill>
                  <a:schemeClr val="tx2"/>
                </a:solidFill>
              </a:rPr>
              <a:t> 기각한 </a:t>
            </a:r>
            <a:r>
              <a:rPr lang="ko-KR" altLang="en-US" sz="1200" dirty="0" err="1">
                <a:solidFill>
                  <a:schemeClr val="tx2"/>
                </a:solidFill>
              </a:rPr>
              <a:t>심결의</a:t>
            </a:r>
            <a:r>
              <a:rPr lang="ko-KR" altLang="en-US" sz="1200" dirty="0">
                <a:solidFill>
                  <a:schemeClr val="tx2"/>
                </a:solidFill>
              </a:rPr>
              <a:t> 취소소송에서는 소의 이익을 인정하기가 곤란할 것이다</a:t>
            </a:r>
            <a:r>
              <a:rPr lang="en-US" altLang="ko-KR" sz="1200" dirty="0">
                <a:solidFill>
                  <a:schemeClr val="tx2"/>
                </a:solidFill>
              </a:rPr>
              <a:t>. </a:t>
            </a:r>
            <a:r>
              <a:rPr lang="ko-KR" altLang="en-US" sz="1200" dirty="0">
                <a:solidFill>
                  <a:schemeClr val="tx2"/>
                </a:solidFill>
              </a:rPr>
              <a:t>법원에서 원고 청구를 인용하여 </a:t>
            </a:r>
            <a:r>
              <a:rPr lang="ko-KR" altLang="en-US" sz="1200" dirty="0" err="1">
                <a:solidFill>
                  <a:schemeClr val="tx2"/>
                </a:solidFill>
              </a:rPr>
              <a:t>심결을</a:t>
            </a:r>
            <a:r>
              <a:rPr lang="ko-KR" altLang="en-US" sz="1200" dirty="0">
                <a:solidFill>
                  <a:schemeClr val="tx2"/>
                </a:solidFill>
              </a:rPr>
              <a:t> 취소하더라도 특허심판원은 어차피 원고의 </a:t>
            </a:r>
            <a:r>
              <a:rPr lang="ko-KR" altLang="en-US" sz="1200" dirty="0" err="1">
                <a:solidFill>
                  <a:schemeClr val="tx2"/>
                </a:solidFill>
              </a:rPr>
              <a:t>권리범위확인심판청구를</a:t>
            </a:r>
            <a:r>
              <a:rPr lang="ko-KR" altLang="en-US" sz="1200" dirty="0">
                <a:solidFill>
                  <a:schemeClr val="tx2"/>
                </a:solidFill>
              </a:rPr>
              <a:t> 각하할 것이므로</a:t>
            </a:r>
            <a:r>
              <a:rPr lang="en-US" altLang="ko-KR" sz="1200" dirty="0">
                <a:solidFill>
                  <a:schemeClr val="tx2"/>
                </a:solidFill>
              </a:rPr>
              <a:t>, </a:t>
            </a:r>
            <a:r>
              <a:rPr lang="ko-KR" altLang="en-US" sz="1200" dirty="0">
                <a:solidFill>
                  <a:schemeClr val="tx2"/>
                </a:solidFill>
              </a:rPr>
              <a:t>굳이 </a:t>
            </a:r>
            <a:r>
              <a:rPr lang="ko-KR" altLang="en-US" sz="1200" dirty="0" err="1">
                <a:solidFill>
                  <a:schemeClr val="tx2"/>
                </a:solidFill>
              </a:rPr>
              <a:t>기각심결의</a:t>
            </a:r>
            <a:r>
              <a:rPr lang="ko-KR" altLang="en-US" sz="1200" dirty="0">
                <a:solidFill>
                  <a:schemeClr val="tx2"/>
                </a:solidFill>
              </a:rPr>
              <a:t> 취소를 구할 이익이 없기 때문이다</a:t>
            </a:r>
            <a:r>
              <a:rPr lang="en-US" altLang="ko-KR" sz="1200" dirty="0">
                <a:solidFill>
                  <a:schemeClr val="tx2"/>
                </a:solidFill>
              </a:rPr>
              <a:t>.</a:t>
            </a:r>
            <a:endParaRPr lang="ko-KR" altLang="en-US" sz="1200" dirty="0">
              <a:solidFill>
                <a:schemeClr val="tx2"/>
              </a:solidFill>
            </a:endParaRPr>
          </a:p>
        </p:txBody>
      </p:sp>
      <p:sp>
        <p:nvSpPr>
          <p:cNvPr id="66" name="직사각형 65"/>
          <p:cNvSpPr/>
          <p:nvPr/>
        </p:nvSpPr>
        <p:spPr>
          <a:xfrm>
            <a:off x="258318" y="4062285"/>
            <a:ext cx="3137397" cy="307777"/>
          </a:xfrm>
          <a:prstGeom prst="rect">
            <a:avLst/>
          </a:prstGeom>
          <a:solidFill>
            <a:schemeClr val="accent2"/>
          </a:solidFill>
          <a:ln>
            <a:solidFill>
              <a:schemeClr val="bg1">
                <a:lumMod val="50000"/>
              </a:schemeClr>
            </a:solidFill>
          </a:ln>
        </p:spPr>
        <p:txBody>
          <a:bodyPr wrap="none">
            <a:spAutoFit/>
          </a:bodyPr>
          <a:lstStyle/>
          <a:p>
            <a:r>
              <a:rPr lang="ko-KR" altLang="en-US" sz="1400" dirty="0">
                <a:solidFill>
                  <a:schemeClr val="bg1"/>
                </a:solidFill>
              </a:rPr>
              <a:t>유리한 </a:t>
            </a:r>
            <a:r>
              <a:rPr lang="ko-KR" altLang="en-US" sz="1400" dirty="0" err="1">
                <a:solidFill>
                  <a:schemeClr val="bg1"/>
                </a:solidFill>
              </a:rPr>
              <a:t>심결을</a:t>
            </a:r>
            <a:r>
              <a:rPr lang="ko-KR" altLang="en-US" sz="1400" dirty="0">
                <a:solidFill>
                  <a:schemeClr val="bg1"/>
                </a:solidFill>
              </a:rPr>
              <a:t> 받을 가능성이 없는 </a:t>
            </a:r>
            <a:r>
              <a:rPr lang="en-US" altLang="ko-KR" sz="1400" dirty="0">
                <a:solidFill>
                  <a:schemeClr val="bg1"/>
                </a:solidFill>
              </a:rPr>
              <a:t>CASE</a:t>
            </a:r>
            <a:endParaRPr lang="ko-KR" altLang="en-US" sz="1400" dirty="0">
              <a:solidFill>
                <a:schemeClr val="bg1"/>
              </a:solidFill>
            </a:endParaRPr>
          </a:p>
        </p:txBody>
      </p:sp>
      <p:cxnSp>
        <p:nvCxnSpPr>
          <p:cNvPr id="67" name="직선 연결선 66"/>
          <p:cNvCxnSpPr/>
          <p:nvPr/>
        </p:nvCxnSpPr>
        <p:spPr>
          <a:xfrm>
            <a:off x="258317" y="6043220"/>
            <a:ext cx="11600307"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8" name="Rectangle 14"/>
          <p:cNvSpPr>
            <a:spLocks noChangeArrowheads="1"/>
          </p:cNvSpPr>
          <p:nvPr/>
        </p:nvSpPr>
        <p:spPr bwMode="auto">
          <a:xfrm flipV="1">
            <a:off x="1425008" y="596668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69" name="TextBox 68"/>
          <p:cNvSpPr txBox="1"/>
          <p:nvPr/>
        </p:nvSpPr>
        <p:spPr>
          <a:xfrm>
            <a:off x="339879" y="5374121"/>
            <a:ext cx="2307312"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적극적권리범위확인심판청구</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甲</a:t>
            </a:r>
            <a:r>
              <a:rPr lang="en-US" altLang="ko-KR" sz="1200" dirty="0"/>
              <a:t>)</a:t>
            </a:r>
            <a:endParaRPr lang="ko-KR" altLang="en-US" sz="1200" dirty="0"/>
          </a:p>
        </p:txBody>
      </p:sp>
      <p:cxnSp>
        <p:nvCxnSpPr>
          <p:cNvPr id="70" name="직선 연결선 69"/>
          <p:cNvCxnSpPr>
            <a:stCxn id="69" idx="2"/>
            <a:endCxn id="68" idx="4"/>
          </p:cNvCxnSpPr>
          <p:nvPr/>
        </p:nvCxnSpPr>
        <p:spPr>
          <a:xfrm>
            <a:off x="1493535" y="5835786"/>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TextBox 70"/>
          <p:cNvSpPr txBox="1"/>
          <p:nvPr/>
        </p:nvSpPr>
        <p:spPr>
          <a:xfrm>
            <a:off x="2756592" y="5374121"/>
            <a:ext cx="526208"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부쟁</a:t>
            </a:r>
            <a:r>
              <a:rPr lang="ko-KR" altLang="en-US" sz="1200" dirty="0"/>
              <a:t> 합의</a:t>
            </a:r>
          </a:p>
        </p:txBody>
      </p:sp>
      <p:cxnSp>
        <p:nvCxnSpPr>
          <p:cNvPr id="72" name="직선 연결선 71"/>
          <p:cNvCxnSpPr>
            <a:stCxn id="71" idx="2"/>
          </p:cNvCxnSpPr>
          <p:nvPr/>
        </p:nvCxnSpPr>
        <p:spPr>
          <a:xfrm>
            <a:off x="3019696" y="5835786"/>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Rectangle 14"/>
          <p:cNvSpPr>
            <a:spLocks noChangeArrowheads="1"/>
          </p:cNvSpPr>
          <p:nvPr/>
        </p:nvSpPr>
        <p:spPr bwMode="auto">
          <a:xfrm flipV="1">
            <a:off x="2952776" y="596668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4" name="Rectangle 14"/>
          <p:cNvSpPr>
            <a:spLocks noChangeArrowheads="1"/>
          </p:cNvSpPr>
          <p:nvPr/>
        </p:nvSpPr>
        <p:spPr bwMode="auto">
          <a:xfrm flipV="1">
            <a:off x="3595532" y="596668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5" name="TextBox 74"/>
          <p:cNvSpPr txBox="1"/>
          <p:nvPr/>
        </p:nvSpPr>
        <p:spPr>
          <a:xfrm>
            <a:off x="3396624" y="5374121"/>
            <a:ext cx="534870"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a:t>기각심결</a:t>
            </a:r>
            <a:endParaRPr lang="ko-KR" altLang="en-US" sz="1200" dirty="0"/>
          </a:p>
        </p:txBody>
      </p:sp>
      <p:cxnSp>
        <p:nvCxnSpPr>
          <p:cNvPr id="76" name="직선 연결선 75"/>
          <p:cNvCxnSpPr>
            <a:stCxn id="75" idx="2"/>
            <a:endCxn id="74" idx="4"/>
          </p:cNvCxnSpPr>
          <p:nvPr/>
        </p:nvCxnSpPr>
        <p:spPr>
          <a:xfrm>
            <a:off x="3664059" y="5835786"/>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7" name="TextBox 76"/>
          <p:cNvSpPr txBox="1"/>
          <p:nvPr/>
        </p:nvSpPr>
        <p:spPr>
          <a:xfrm>
            <a:off x="4078578" y="5374121"/>
            <a:ext cx="1476716"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심결취소소송제기</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甲</a:t>
            </a:r>
            <a:r>
              <a:rPr lang="en-US" altLang="ko-KR" sz="1200" dirty="0"/>
              <a:t>)</a:t>
            </a:r>
            <a:endParaRPr lang="ko-KR" altLang="en-US" sz="1200" dirty="0"/>
          </a:p>
        </p:txBody>
      </p:sp>
      <p:cxnSp>
        <p:nvCxnSpPr>
          <p:cNvPr id="78" name="직선 연결선 77"/>
          <p:cNvCxnSpPr>
            <a:stCxn id="77" idx="2"/>
          </p:cNvCxnSpPr>
          <p:nvPr/>
        </p:nvCxnSpPr>
        <p:spPr>
          <a:xfrm>
            <a:off x="4816936" y="5835786"/>
            <a:ext cx="0" cy="15102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8" name="Rectangle 14"/>
          <p:cNvSpPr>
            <a:spLocks noChangeArrowheads="1"/>
          </p:cNvSpPr>
          <p:nvPr/>
        </p:nvSpPr>
        <p:spPr bwMode="auto">
          <a:xfrm flipV="1">
            <a:off x="4740265" y="596668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117" name="TextBox 116"/>
          <p:cNvSpPr txBox="1"/>
          <p:nvPr/>
        </p:nvSpPr>
        <p:spPr>
          <a:xfrm>
            <a:off x="6440752" y="5395676"/>
            <a:ext cx="5113073" cy="490774"/>
          </a:xfrm>
          <a:prstGeom prst="rect">
            <a:avLst/>
          </a:prstGeom>
          <a:solidFill>
            <a:schemeClr val="bg1">
              <a:lumMod val="95000"/>
            </a:schemeClr>
          </a:solidFill>
          <a:ln>
            <a:solidFill>
              <a:schemeClr val="bg1">
                <a:lumMod val="50000"/>
              </a:schemeClr>
            </a:solidFill>
          </a:ln>
        </p:spPr>
        <p:txBody>
          <a:bodyPr wrap="square" rtlCol="0" anchor="ctr">
            <a:noAutofit/>
          </a:bodyPr>
          <a:lstStyle/>
          <a:p>
            <a:r>
              <a:rPr lang="ko-KR" altLang="en-US" sz="1200" dirty="0" err="1">
                <a:solidFill>
                  <a:schemeClr val="tx2"/>
                </a:solidFill>
              </a:rPr>
              <a:t>특허권자</a:t>
            </a:r>
            <a:r>
              <a:rPr lang="ko-KR" altLang="en-US" sz="1200" dirty="0">
                <a:solidFill>
                  <a:schemeClr val="tx2"/>
                </a:solidFill>
              </a:rPr>
              <a:t> 입장에서 기각이든지 각하든지 심판에서 지는 것은 매한가지이기 </a:t>
            </a:r>
          </a:p>
          <a:p>
            <a:r>
              <a:rPr lang="ko-KR" altLang="en-US" sz="1200" dirty="0">
                <a:solidFill>
                  <a:schemeClr val="tx2"/>
                </a:solidFill>
              </a:rPr>
              <a:t>때문에 </a:t>
            </a:r>
            <a:r>
              <a:rPr lang="ko-KR" altLang="en-US" sz="1200" dirty="0" err="1">
                <a:solidFill>
                  <a:schemeClr val="tx2"/>
                </a:solidFill>
              </a:rPr>
              <a:t>소각하를</a:t>
            </a:r>
            <a:r>
              <a:rPr lang="ko-KR" altLang="en-US" sz="1200" dirty="0">
                <a:solidFill>
                  <a:schemeClr val="tx2"/>
                </a:solidFill>
              </a:rPr>
              <a:t> 함</a:t>
            </a:r>
            <a:r>
              <a:rPr lang="en-US" altLang="ko-KR" sz="1200" dirty="0">
                <a:solidFill>
                  <a:schemeClr val="tx2"/>
                </a:solidFill>
              </a:rPr>
              <a:t>(</a:t>
            </a:r>
            <a:r>
              <a:rPr lang="ko-KR" altLang="en-US" sz="1200" dirty="0" err="1">
                <a:solidFill>
                  <a:schemeClr val="tx2"/>
                </a:solidFill>
              </a:rPr>
              <a:t>기각심결</a:t>
            </a:r>
            <a:r>
              <a:rPr lang="ko-KR" altLang="en-US" sz="1200" dirty="0">
                <a:solidFill>
                  <a:schemeClr val="tx2"/>
                </a:solidFill>
              </a:rPr>
              <a:t> 확정</a:t>
            </a:r>
            <a:r>
              <a:rPr lang="en-US" altLang="ko-KR" sz="1200" dirty="0">
                <a:solidFill>
                  <a:schemeClr val="tx2"/>
                </a:solidFill>
              </a:rPr>
              <a:t>)</a:t>
            </a:r>
          </a:p>
        </p:txBody>
      </p:sp>
      <p:sp>
        <p:nvSpPr>
          <p:cNvPr id="119" name="TextBox 118"/>
          <p:cNvSpPr txBox="1"/>
          <p:nvPr/>
        </p:nvSpPr>
        <p:spPr>
          <a:xfrm>
            <a:off x="339879" y="6265263"/>
            <a:ext cx="2307312"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적극적권리범위확인심판청구</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甲</a:t>
            </a:r>
            <a:r>
              <a:rPr lang="en-US" altLang="ko-KR" sz="1200" dirty="0"/>
              <a:t>)</a:t>
            </a:r>
            <a:endParaRPr lang="ko-KR" altLang="en-US" sz="1200" dirty="0"/>
          </a:p>
        </p:txBody>
      </p:sp>
      <p:cxnSp>
        <p:nvCxnSpPr>
          <p:cNvPr id="120" name="직선 연결선 119"/>
          <p:cNvCxnSpPr>
            <a:stCxn id="119" idx="0"/>
            <a:endCxn id="68" idx="0"/>
          </p:cNvCxnSpPr>
          <p:nvPr/>
        </p:nvCxnSpPr>
        <p:spPr>
          <a:xfrm flipV="1">
            <a:off x="1493535" y="6119751"/>
            <a:ext cx="2911" cy="14551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1" name="TextBox 120"/>
          <p:cNvSpPr txBox="1"/>
          <p:nvPr/>
        </p:nvSpPr>
        <p:spPr>
          <a:xfrm>
            <a:off x="2756592" y="6265263"/>
            <a:ext cx="526208"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err="1"/>
              <a:t>부쟁</a:t>
            </a:r>
            <a:r>
              <a:rPr lang="ko-KR" altLang="en-US" sz="1200" dirty="0"/>
              <a:t> 합의</a:t>
            </a:r>
          </a:p>
        </p:txBody>
      </p:sp>
      <p:sp>
        <p:nvSpPr>
          <p:cNvPr id="125" name="TextBox 124"/>
          <p:cNvSpPr txBox="1"/>
          <p:nvPr/>
        </p:nvSpPr>
        <p:spPr>
          <a:xfrm>
            <a:off x="3396624" y="6265263"/>
            <a:ext cx="534870"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인용심결</a:t>
            </a:r>
            <a:endParaRPr lang="ko-KR" altLang="en-US" sz="1200" dirty="0"/>
          </a:p>
        </p:txBody>
      </p:sp>
      <p:sp>
        <p:nvSpPr>
          <p:cNvPr id="127" name="TextBox 126"/>
          <p:cNvSpPr txBox="1"/>
          <p:nvPr/>
        </p:nvSpPr>
        <p:spPr>
          <a:xfrm>
            <a:off x="4078578" y="6265263"/>
            <a:ext cx="1476716"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심결취소소송제기</a:t>
            </a:r>
            <a:endParaRPr lang="en-US" altLang="ko-KR" sz="1200" dirty="0"/>
          </a:p>
          <a:p>
            <a:pPr algn="ctr"/>
            <a:r>
              <a:rPr lang="en-US" altLang="ko-KR" sz="1200" dirty="0"/>
              <a:t>(</a:t>
            </a:r>
            <a:r>
              <a:rPr lang="ko-KR" altLang="en-US" sz="1200" dirty="0"/>
              <a:t>이해관계인</a:t>
            </a:r>
            <a:r>
              <a:rPr lang="en-US" altLang="ko-KR" sz="1200" dirty="0"/>
              <a:t>, </a:t>
            </a:r>
            <a:r>
              <a:rPr lang="ko-KR" altLang="en-US" sz="1200" dirty="0"/>
              <a:t>乙</a:t>
            </a:r>
            <a:r>
              <a:rPr lang="en-US" altLang="ko-KR" sz="1200" dirty="0"/>
              <a:t>)</a:t>
            </a:r>
            <a:endParaRPr lang="ko-KR" altLang="en-US" sz="1200" dirty="0"/>
          </a:p>
        </p:txBody>
      </p:sp>
      <p:cxnSp>
        <p:nvCxnSpPr>
          <p:cNvPr id="133" name="직선 연결선 132"/>
          <p:cNvCxnSpPr/>
          <p:nvPr/>
        </p:nvCxnSpPr>
        <p:spPr>
          <a:xfrm flipV="1">
            <a:off x="3018240" y="6119751"/>
            <a:ext cx="2911" cy="14551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4" name="직선 연결선 133"/>
          <p:cNvCxnSpPr/>
          <p:nvPr/>
        </p:nvCxnSpPr>
        <p:spPr>
          <a:xfrm flipV="1">
            <a:off x="3672399" y="6119751"/>
            <a:ext cx="2911" cy="14551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5" name="직선 연결선 134"/>
          <p:cNvCxnSpPr/>
          <p:nvPr/>
        </p:nvCxnSpPr>
        <p:spPr>
          <a:xfrm flipV="1">
            <a:off x="4811703" y="6119751"/>
            <a:ext cx="2911" cy="14551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a:off x="6440752" y="6265263"/>
            <a:ext cx="5113073" cy="490774"/>
          </a:xfrm>
          <a:prstGeom prst="rect">
            <a:avLst/>
          </a:prstGeom>
          <a:solidFill>
            <a:schemeClr val="bg1">
              <a:lumMod val="95000"/>
            </a:schemeClr>
          </a:solidFill>
          <a:ln>
            <a:solidFill>
              <a:schemeClr val="bg1">
                <a:lumMod val="50000"/>
              </a:schemeClr>
            </a:solidFill>
          </a:ln>
        </p:spPr>
        <p:txBody>
          <a:bodyPr wrap="square" rtlCol="0" anchor="ctr">
            <a:noAutofit/>
          </a:bodyPr>
          <a:lstStyle/>
          <a:p>
            <a:r>
              <a:rPr lang="ko-KR" altLang="en-US" sz="1200" dirty="0" err="1">
                <a:solidFill>
                  <a:schemeClr val="tx2"/>
                </a:solidFill>
              </a:rPr>
              <a:t>심결이</a:t>
            </a:r>
            <a:r>
              <a:rPr lang="ko-KR" altLang="en-US" sz="1200" dirty="0">
                <a:solidFill>
                  <a:schemeClr val="tx2"/>
                </a:solidFill>
              </a:rPr>
              <a:t> 위법하여 특허법원에서 취소환송하면</a:t>
            </a:r>
            <a:r>
              <a:rPr lang="en-US" altLang="ko-KR" sz="1200" dirty="0">
                <a:solidFill>
                  <a:schemeClr val="tx2"/>
                </a:solidFill>
              </a:rPr>
              <a:t>, </a:t>
            </a:r>
            <a:r>
              <a:rPr lang="ko-KR" altLang="en-US" sz="1200" dirty="0">
                <a:solidFill>
                  <a:schemeClr val="tx2"/>
                </a:solidFill>
              </a:rPr>
              <a:t>특허심판원에서 </a:t>
            </a:r>
            <a:r>
              <a:rPr lang="ko-KR" altLang="en-US" sz="1200" dirty="0" err="1">
                <a:solidFill>
                  <a:schemeClr val="tx2"/>
                </a:solidFill>
              </a:rPr>
              <a:t>심결각하함</a:t>
            </a:r>
            <a:endParaRPr lang="en-US" altLang="ko-KR" sz="1200" dirty="0">
              <a:solidFill>
                <a:schemeClr val="tx2"/>
              </a:solidFill>
            </a:endParaRPr>
          </a:p>
        </p:txBody>
      </p:sp>
    </p:spTree>
    <p:extLst>
      <p:ext uri="{BB962C8B-B14F-4D97-AF65-F5344CB8AC3E}">
        <p14:creationId xmlns:p14="http://schemas.microsoft.com/office/powerpoint/2010/main" val="1293193800"/>
      </p:ext>
    </p:extLst>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186</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소의 이익 </a:t>
            </a:r>
            <a:r>
              <a:rPr lang="en-US" altLang="ko-KR" dirty="0">
                <a:solidFill>
                  <a:srgbClr val="525252"/>
                </a:solidFill>
              </a:rPr>
              <a:t>CASE</a:t>
            </a:r>
            <a:endParaRPr lang="ko-KR" altLang="en-US" dirty="0">
              <a:solidFill>
                <a:srgbClr val="525252"/>
              </a:solidFill>
            </a:endParaRPr>
          </a:p>
        </p:txBody>
      </p:sp>
      <p:cxnSp>
        <p:nvCxnSpPr>
          <p:cNvPr id="19" name="직선 연결선 18"/>
          <p:cNvCxnSpPr/>
          <p:nvPr/>
        </p:nvCxnSpPr>
        <p:spPr>
          <a:xfrm>
            <a:off x="258317" y="2717351"/>
            <a:ext cx="11600307"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 name="Rectangle 14"/>
          <p:cNvSpPr>
            <a:spLocks noChangeArrowheads="1"/>
          </p:cNvSpPr>
          <p:nvPr/>
        </p:nvSpPr>
        <p:spPr bwMode="auto">
          <a:xfrm flipV="1">
            <a:off x="960626" y="264082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21" name="TextBox 20"/>
          <p:cNvSpPr txBox="1"/>
          <p:nvPr/>
        </p:nvSpPr>
        <p:spPr>
          <a:xfrm>
            <a:off x="343806" y="2048252"/>
            <a:ext cx="1370694"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정정심판청구</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甲</a:t>
            </a:r>
            <a:r>
              <a:rPr lang="en-US" altLang="ko-KR" sz="1200" dirty="0"/>
              <a:t>)</a:t>
            </a:r>
            <a:endParaRPr lang="ko-KR" altLang="en-US" sz="1200" dirty="0"/>
          </a:p>
        </p:txBody>
      </p:sp>
      <p:cxnSp>
        <p:nvCxnSpPr>
          <p:cNvPr id="23" name="직선 연결선 22"/>
          <p:cNvCxnSpPr>
            <a:stCxn id="21" idx="2"/>
            <a:endCxn id="20" idx="4"/>
          </p:cNvCxnSpPr>
          <p:nvPr/>
        </p:nvCxnSpPr>
        <p:spPr>
          <a:xfrm>
            <a:off x="1029153" y="2509917"/>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804092" y="2048252"/>
            <a:ext cx="526208"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기각</a:t>
            </a:r>
            <a:endParaRPr lang="en-US" altLang="ko-KR" sz="1200" dirty="0"/>
          </a:p>
          <a:p>
            <a:pPr algn="ctr"/>
            <a:r>
              <a:rPr lang="ko-KR" altLang="en-US" sz="1200" dirty="0" err="1"/>
              <a:t>심결</a:t>
            </a:r>
            <a:endParaRPr lang="ko-KR" altLang="en-US" sz="1200" dirty="0"/>
          </a:p>
        </p:txBody>
      </p:sp>
      <p:cxnSp>
        <p:nvCxnSpPr>
          <p:cNvPr id="27" name="직선 연결선 26"/>
          <p:cNvCxnSpPr>
            <a:stCxn id="25" idx="2"/>
          </p:cNvCxnSpPr>
          <p:nvPr/>
        </p:nvCxnSpPr>
        <p:spPr>
          <a:xfrm>
            <a:off x="2067196" y="2509917"/>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Rectangle 14"/>
          <p:cNvSpPr>
            <a:spLocks noChangeArrowheads="1"/>
          </p:cNvSpPr>
          <p:nvPr/>
        </p:nvSpPr>
        <p:spPr bwMode="auto">
          <a:xfrm flipV="1">
            <a:off x="2000276" y="264082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 name="직사각형 4"/>
          <p:cNvSpPr/>
          <p:nvPr/>
        </p:nvSpPr>
        <p:spPr>
          <a:xfrm>
            <a:off x="258317" y="1332197"/>
            <a:ext cx="11686033" cy="646331"/>
          </a:xfrm>
          <a:prstGeom prst="rect">
            <a:avLst/>
          </a:prstGeom>
          <a:solidFill>
            <a:schemeClr val="accent2">
              <a:lumMod val="20000"/>
              <a:lumOff val="80000"/>
            </a:schemeClr>
          </a:solidFill>
          <a:ln>
            <a:solidFill>
              <a:schemeClr val="bg1">
                <a:lumMod val="50000"/>
              </a:schemeClr>
            </a:solidFill>
          </a:ln>
        </p:spPr>
        <p:txBody>
          <a:bodyPr wrap="square">
            <a:spAutoFit/>
          </a:bodyPr>
          <a:lstStyle/>
          <a:p>
            <a:pPr fontAlgn="base"/>
            <a:r>
              <a:rPr lang="en-US" altLang="ko-KR" sz="1200" b="1" dirty="0">
                <a:solidFill>
                  <a:schemeClr val="accent1"/>
                </a:solidFill>
              </a:rPr>
              <a:t>(</a:t>
            </a:r>
            <a:r>
              <a:rPr lang="ko-KR" altLang="en-US" sz="1200" b="1" dirty="0">
                <a:solidFill>
                  <a:schemeClr val="accent1"/>
                </a:solidFill>
              </a:rPr>
              <a:t>특허법원 </a:t>
            </a:r>
            <a:r>
              <a:rPr lang="en-US" altLang="ko-KR" sz="1200" b="1" dirty="0">
                <a:solidFill>
                  <a:schemeClr val="accent1"/>
                </a:solidFill>
              </a:rPr>
              <a:t>2009. 10. 12. </a:t>
            </a:r>
            <a:r>
              <a:rPr lang="ko-KR" altLang="en-US" sz="1200" b="1" dirty="0">
                <a:solidFill>
                  <a:schemeClr val="accent1"/>
                </a:solidFill>
              </a:rPr>
              <a:t>선고 </a:t>
            </a:r>
            <a:r>
              <a:rPr lang="en-US" altLang="ko-KR" sz="1200" b="1" dirty="0">
                <a:solidFill>
                  <a:schemeClr val="accent1"/>
                </a:solidFill>
              </a:rPr>
              <a:t>2008</a:t>
            </a:r>
            <a:r>
              <a:rPr lang="ko-KR" altLang="en-US" sz="1200" b="1" dirty="0">
                <a:solidFill>
                  <a:schemeClr val="accent1"/>
                </a:solidFill>
              </a:rPr>
              <a:t>허</a:t>
            </a:r>
            <a:r>
              <a:rPr lang="en-US" altLang="ko-KR" sz="1200" b="1" dirty="0">
                <a:solidFill>
                  <a:schemeClr val="accent1"/>
                </a:solidFill>
              </a:rPr>
              <a:t>9498) </a:t>
            </a:r>
            <a:r>
              <a:rPr lang="ko-KR" altLang="en-US" sz="1200" dirty="0"/>
              <a:t>특허발명의 전체 </a:t>
            </a:r>
            <a:r>
              <a:rPr lang="ko-KR" altLang="en-US" sz="1200" dirty="0" err="1"/>
              <a:t>청구항에</a:t>
            </a:r>
            <a:r>
              <a:rPr lang="ko-KR" altLang="en-US" sz="1200" dirty="0"/>
              <a:t> 대한 </a:t>
            </a:r>
            <a:r>
              <a:rPr lang="ko-KR" altLang="en-US" sz="1200" dirty="0" err="1">
                <a:highlight>
                  <a:srgbClr val="FFFF00"/>
                </a:highlight>
              </a:rPr>
              <a:t>무효심결이</a:t>
            </a:r>
            <a:r>
              <a:rPr lang="ko-KR" altLang="en-US" sz="1200" dirty="0">
                <a:highlight>
                  <a:srgbClr val="FFFF00"/>
                </a:highlight>
              </a:rPr>
              <a:t> 확정되어 소급하여 소멸한 경우 </a:t>
            </a:r>
            <a:r>
              <a:rPr lang="ko-KR" altLang="en-US" sz="1200" dirty="0"/>
              <a:t>정정을 구하는 정정심판은 그 정정의 대상이 없어지게 되어 그 정정심판을 구할 이익도 없게 되고</a:t>
            </a:r>
            <a:r>
              <a:rPr lang="en-US" altLang="ko-KR" sz="1200" dirty="0"/>
              <a:t>, </a:t>
            </a:r>
            <a:r>
              <a:rPr lang="ko-KR" altLang="en-US" sz="1200" dirty="0" err="1"/>
              <a:t>특허발명이</a:t>
            </a:r>
            <a:r>
              <a:rPr lang="ko-KR" altLang="en-US" sz="1200" dirty="0"/>
              <a:t> 소급하여 무효로 된 이상 </a:t>
            </a:r>
            <a:r>
              <a:rPr lang="ko-KR" altLang="en-US" sz="1200" dirty="0" err="1"/>
              <a:t>정정심결의</a:t>
            </a:r>
            <a:r>
              <a:rPr lang="ko-KR" altLang="en-US" sz="1200" dirty="0"/>
              <a:t> 취소를 구할 법률상의 이익도 없게 되기 때문에 특허법원에 계속 중이거나 대법원에 계속 중인 경우 심결취소소송의 소는 </a:t>
            </a:r>
            <a:r>
              <a:rPr lang="ko-KR" altLang="en-US" sz="1200" dirty="0" err="1"/>
              <a:t>각하된다</a:t>
            </a:r>
            <a:r>
              <a:rPr lang="en-US" altLang="ko-KR" sz="1200" dirty="0"/>
              <a:t>.</a:t>
            </a:r>
            <a:endParaRPr lang="ko-KR" altLang="en-US" sz="1200" dirty="0"/>
          </a:p>
        </p:txBody>
      </p:sp>
      <p:sp>
        <p:nvSpPr>
          <p:cNvPr id="7" name="직사각형 6"/>
          <p:cNvSpPr/>
          <p:nvPr/>
        </p:nvSpPr>
        <p:spPr>
          <a:xfrm>
            <a:off x="258318" y="1026873"/>
            <a:ext cx="1481496" cy="307777"/>
          </a:xfrm>
          <a:prstGeom prst="rect">
            <a:avLst/>
          </a:prstGeom>
          <a:solidFill>
            <a:schemeClr val="accent2"/>
          </a:solidFill>
          <a:ln>
            <a:solidFill>
              <a:schemeClr val="bg1">
                <a:lumMod val="50000"/>
              </a:schemeClr>
            </a:solidFill>
          </a:ln>
        </p:spPr>
        <p:txBody>
          <a:bodyPr wrap="none">
            <a:spAutoFit/>
          </a:bodyPr>
          <a:lstStyle/>
          <a:p>
            <a:r>
              <a:rPr lang="ko-KR" altLang="en-US" sz="1400" dirty="0">
                <a:solidFill>
                  <a:schemeClr val="bg1"/>
                </a:solidFill>
              </a:rPr>
              <a:t>사정변경의 </a:t>
            </a:r>
            <a:r>
              <a:rPr lang="en-US" altLang="ko-KR" sz="1400" dirty="0">
                <a:solidFill>
                  <a:schemeClr val="bg1"/>
                </a:solidFill>
              </a:rPr>
              <a:t>CASE</a:t>
            </a:r>
            <a:endParaRPr lang="ko-KR" altLang="en-US" sz="1400" dirty="0">
              <a:solidFill>
                <a:schemeClr val="bg1"/>
              </a:solidFill>
            </a:endParaRPr>
          </a:p>
        </p:txBody>
      </p:sp>
      <p:sp>
        <p:nvSpPr>
          <p:cNvPr id="29" name="Rectangle 14"/>
          <p:cNvSpPr>
            <a:spLocks noChangeArrowheads="1"/>
          </p:cNvSpPr>
          <p:nvPr/>
        </p:nvSpPr>
        <p:spPr bwMode="auto">
          <a:xfrm flipV="1">
            <a:off x="3157382" y="264082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0" name="TextBox 29"/>
          <p:cNvSpPr txBox="1"/>
          <p:nvPr/>
        </p:nvSpPr>
        <p:spPr>
          <a:xfrm>
            <a:off x="2405285" y="2048252"/>
            <a:ext cx="1641248"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심결취소소송제기</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甲</a:t>
            </a:r>
            <a:r>
              <a:rPr lang="en-US" altLang="ko-KR" sz="1200" dirty="0"/>
              <a:t>)</a:t>
            </a:r>
            <a:endParaRPr lang="ko-KR" altLang="en-US" sz="1200" dirty="0"/>
          </a:p>
        </p:txBody>
      </p:sp>
      <p:cxnSp>
        <p:nvCxnSpPr>
          <p:cNvPr id="31" name="직선 연결선 30"/>
          <p:cNvCxnSpPr>
            <a:stCxn id="30" idx="2"/>
            <a:endCxn id="29" idx="4"/>
          </p:cNvCxnSpPr>
          <p:nvPr/>
        </p:nvCxnSpPr>
        <p:spPr>
          <a:xfrm>
            <a:off x="3225909" y="2509917"/>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4165572" y="2048252"/>
            <a:ext cx="577760"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기각판결</a:t>
            </a:r>
            <a:endParaRPr lang="ko-KR" altLang="en-US" sz="1200" dirty="0"/>
          </a:p>
        </p:txBody>
      </p:sp>
      <p:cxnSp>
        <p:nvCxnSpPr>
          <p:cNvPr id="33" name="직선 연결선 32"/>
          <p:cNvCxnSpPr>
            <a:stCxn id="32" idx="2"/>
            <a:endCxn id="34" idx="4"/>
          </p:cNvCxnSpPr>
          <p:nvPr/>
        </p:nvCxnSpPr>
        <p:spPr>
          <a:xfrm>
            <a:off x="4454452" y="2509917"/>
            <a:ext cx="4518"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Rectangle 14"/>
          <p:cNvSpPr>
            <a:spLocks noChangeArrowheads="1"/>
          </p:cNvSpPr>
          <p:nvPr/>
        </p:nvSpPr>
        <p:spPr bwMode="auto">
          <a:xfrm flipV="1">
            <a:off x="4387532" y="264082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5" name="TextBox 34"/>
          <p:cNvSpPr txBox="1"/>
          <p:nvPr/>
        </p:nvSpPr>
        <p:spPr>
          <a:xfrm>
            <a:off x="4878907" y="2048252"/>
            <a:ext cx="1047974"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상고</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甲</a:t>
            </a:r>
            <a:r>
              <a:rPr lang="en-US" altLang="ko-KR" sz="1200" dirty="0"/>
              <a:t>)</a:t>
            </a:r>
            <a:endParaRPr lang="ko-KR" altLang="en-US" sz="1200" dirty="0"/>
          </a:p>
        </p:txBody>
      </p:sp>
      <p:cxnSp>
        <p:nvCxnSpPr>
          <p:cNvPr id="36" name="직선 연결선 35"/>
          <p:cNvCxnSpPr>
            <a:stCxn id="35" idx="2"/>
            <a:endCxn id="37" idx="4"/>
          </p:cNvCxnSpPr>
          <p:nvPr/>
        </p:nvCxnSpPr>
        <p:spPr>
          <a:xfrm>
            <a:off x="5402894" y="2509917"/>
            <a:ext cx="4518"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 name="Rectangle 14"/>
          <p:cNvSpPr>
            <a:spLocks noChangeArrowheads="1"/>
          </p:cNvSpPr>
          <p:nvPr/>
        </p:nvSpPr>
        <p:spPr bwMode="auto">
          <a:xfrm flipV="1">
            <a:off x="5335974" y="264082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5" name="Rectangle 14"/>
          <p:cNvSpPr>
            <a:spLocks noChangeArrowheads="1"/>
          </p:cNvSpPr>
          <p:nvPr/>
        </p:nvSpPr>
        <p:spPr bwMode="auto">
          <a:xfrm flipV="1">
            <a:off x="5795276" y="2640820"/>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6" name="TextBox 45"/>
          <p:cNvSpPr txBox="1"/>
          <p:nvPr/>
        </p:nvSpPr>
        <p:spPr>
          <a:xfrm>
            <a:off x="5355381" y="2959610"/>
            <a:ext cx="1016844"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인용심결확정</a:t>
            </a:r>
          </a:p>
        </p:txBody>
      </p:sp>
      <p:cxnSp>
        <p:nvCxnSpPr>
          <p:cNvPr id="47" name="직선 연결선 46"/>
          <p:cNvCxnSpPr>
            <a:stCxn id="46" idx="0"/>
            <a:endCxn id="45" idx="0"/>
          </p:cNvCxnSpPr>
          <p:nvPr/>
        </p:nvCxnSpPr>
        <p:spPr>
          <a:xfrm flipV="1">
            <a:off x="5863803" y="2793882"/>
            <a:ext cx="2911" cy="1657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6440752" y="2192949"/>
            <a:ext cx="5113073" cy="1023016"/>
          </a:xfrm>
          <a:prstGeom prst="rect">
            <a:avLst/>
          </a:prstGeom>
          <a:solidFill>
            <a:schemeClr val="bg1">
              <a:lumMod val="95000"/>
            </a:schemeClr>
          </a:solidFill>
          <a:ln>
            <a:solidFill>
              <a:schemeClr val="bg1">
                <a:lumMod val="50000"/>
              </a:schemeClr>
            </a:solidFill>
          </a:ln>
        </p:spPr>
        <p:txBody>
          <a:bodyPr wrap="square" rtlCol="0" anchor="ctr">
            <a:noAutofit/>
          </a:bodyPr>
          <a:lstStyle/>
          <a:p>
            <a:r>
              <a:rPr lang="ko-KR" altLang="en-US" sz="1200" dirty="0">
                <a:solidFill>
                  <a:schemeClr val="tx2"/>
                </a:solidFill>
              </a:rPr>
              <a:t>원칙은 무효심결확정으로 판결이 없는 특허를 대상으로 하였기 때문에 판결의 기초가 된 행정처분이 바뀐 경우인 민소법 제</a:t>
            </a:r>
            <a:r>
              <a:rPr lang="en-US" altLang="ko-KR" sz="1200" dirty="0">
                <a:solidFill>
                  <a:schemeClr val="tx2"/>
                </a:solidFill>
              </a:rPr>
              <a:t>451</a:t>
            </a:r>
            <a:r>
              <a:rPr lang="ko-KR" altLang="en-US" sz="1200" dirty="0">
                <a:solidFill>
                  <a:schemeClr val="tx2"/>
                </a:solidFill>
              </a:rPr>
              <a:t>조제</a:t>
            </a:r>
            <a:r>
              <a:rPr lang="en-US" altLang="ko-KR" sz="1200" dirty="0">
                <a:solidFill>
                  <a:schemeClr val="tx2"/>
                </a:solidFill>
              </a:rPr>
              <a:t>1</a:t>
            </a:r>
            <a:r>
              <a:rPr lang="ko-KR" altLang="en-US" sz="1200" dirty="0" err="1">
                <a:solidFill>
                  <a:schemeClr val="tx2"/>
                </a:solidFill>
              </a:rPr>
              <a:t>항제</a:t>
            </a:r>
            <a:r>
              <a:rPr lang="en-US" altLang="ko-KR" sz="1200" dirty="0">
                <a:solidFill>
                  <a:schemeClr val="tx2"/>
                </a:solidFill>
              </a:rPr>
              <a:t>8</a:t>
            </a:r>
            <a:r>
              <a:rPr lang="ko-KR" altLang="en-US" sz="1200" dirty="0">
                <a:solidFill>
                  <a:schemeClr val="tx2"/>
                </a:solidFill>
              </a:rPr>
              <a:t>호의 재심사유라는 법령위반이 존재하여 대법원에서 파기환송하면 특허법원에서 소각하하여야 하나</a:t>
            </a:r>
            <a:r>
              <a:rPr lang="en-US" altLang="ko-KR" sz="1200" dirty="0">
                <a:solidFill>
                  <a:schemeClr val="tx2"/>
                </a:solidFill>
              </a:rPr>
              <a:t>, </a:t>
            </a:r>
            <a:r>
              <a:rPr lang="ko-KR" altLang="en-US" sz="1200" dirty="0">
                <a:solidFill>
                  <a:schemeClr val="tx2"/>
                </a:solidFill>
              </a:rPr>
              <a:t>대법원에서 직접 파기소각하를 하는 경우가 대부분임 </a:t>
            </a:r>
          </a:p>
        </p:txBody>
      </p:sp>
      <p:cxnSp>
        <p:nvCxnSpPr>
          <p:cNvPr id="64" name="직선 연결선 63"/>
          <p:cNvCxnSpPr/>
          <p:nvPr/>
        </p:nvCxnSpPr>
        <p:spPr>
          <a:xfrm flipH="1">
            <a:off x="336431" y="3510812"/>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Rectangle 14"/>
          <p:cNvSpPr>
            <a:spLocks noChangeArrowheads="1"/>
          </p:cNvSpPr>
          <p:nvPr/>
        </p:nvSpPr>
        <p:spPr bwMode="auto">
          <a:xfrm flipV="1">
            <a:off x="3619934" y="2640820"/>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56" name="TextBox 55"/>
          <p:cNvSpPr txBox="1"/>
          <p:nvPr/>
        </p:nvSpPr>
        <p:spPr>
          <a:xfrm>
            <a:off x="3003114" y="2959610"/>
            <a:ext cx="1370694"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무효심판청구</a:t>
            </a:r>
            <a:endParaRPr lang="en-US" altLang="ko-KR" sz="1200" dirty="0"/>
          </a:p>
          <a:p>
            <a:pPr algn="ctr"/>
            <a:r>
              <a:rPr lang="en-US" altLang="ko-KR" sz="1200" dirty="0"/>
              <a:t>(</a:t>
            </a:r>
            <a:r>
              <a:rPr lang="ko-KR" altLang="en-US" sz="1200" dirty="0"/>
              <a:t>이해관계인</a:t>
            </a:r>
            <a:r>
              <a:rPr lang="en-US" altLang="ko-KR" sz="1200" dirty="0"/>
              <a:t>, </a:t>
            </a:r>
            <a:r>
              <a:rPr lang="ko-KR" altLang="en-US" sz="1200" dirty="0"/>
              <a:t>乙</a:t>
            </a:r>
            <a:r>
              <a:rPr lang="en-US" altLang="ko-KR" sz="1200" dirty="0"/>
              <a:t>)</a:t>
            </a:r>
            <a:endParaRPr lang="ko-KR" altLang="en-US" sz="1200" dirty="0"/>
          </a:p>
        </p:txBody>
      </p:sp>
      <p:cxnSp>
        <p:nvCxnSpPr>
          <p:cNvPr id="57" name="직선 연결선 56"/>
          <p:cNvCxnSpPr>
            <a:stCxn id="56" idx="0"/>
            <a:endCxn id="55" idx="0"/>
          </p:cNvCxnSpPr>
          <p:nvPr/>
        </p:nvCxnSpPr>
        <p:spPr>
          <a:xfrm flipV="1">
            <a:off x="3688461" y="2793882"/>
            <a:ext cx="2911" cy="1657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8" name="직선 연결선 57"/>
          <p:cNvCxnSpPr/>
          <p:nvPr/>
        </p:nvCxnSpPr>
        <p:spPr>
          <a:xfrm>
            <a:off x="258317" y="6024753"/>
            <a:ext cx="11600307"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Rectangle 14"/>
          <p:cNvSpPr>
            <a:spLocks noChangeArrowheads="1"/>
          </p:cNvSpPr>
          <p:nvPr/>
        </p:nvSpPr>
        <p:spPr bwMode="auto">
          <a:xfrm flipV="1">
            <a:off x="960626" y="594822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60" name="TextBox 59"/>
          <p:cNvSpPr txBox="1"/>
          <p:nvPr/>
        </p:nvSpPr>
        <p:spPr>
          <a:xfrm>
            <a:off x="343806" y="5355654"/>
            <a:ext cx="1370694"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무효심판청구</a:t>
            </a:r>
            <a:endParaRPr lang="en-US" altLang="ko-KR" sz="1200" dirty="0"/>
          </a:p>
          <a:p>
            <a:pPr algn="ctr"/>
            <a:r>
              <a:rPr lang="en-US" altLang="ko-KR" sz="1200" dirty="0"/>
              <a:t>(</a:t>
            </a:r>
            <a:r>
              <a:rPr lang="ko-KR" altLang="en-US" sz="1200" dirty="0"/>
              <a:t>이해관계인</a:t>
            </a:r>
            <a:r>
              <a:rPr lang="en-US" altLang="ko-KR" sz="1200" dirty="0"/>
              <a:t>, </a:t>
            </a:r>
            <a:r>
              <a:rPr lang="ko-KR" altLang="en-US" sz="1200" dirty="0"/>
              <a:t>甲</a:t>
            </a:r>
            <a:r>
              <a:rPr lang="en-US" altLang="ko-KR" sz="1200" dirty="0"/>
              <a:t>)</a:t>
            </a:r>
            <a:endParaRPr lang="ko-KR" altLang="en-US" sz="1200" dirty="0"/>
          </a:p>
        </p:txBody>
      </p:sp>
      <p:cxnSp>
        <p:nvCxnSpPr>
          <p:cNvPr id="61" name="직선 연결선 60"/>
          <p:cNvCxnSpPr>
            <a:cxnSpLocks/>
            <a:stCxn id="60" idx="2"/>
            <a:endCxn id="59" idx="4"/>
          </p:cNvCxnSpPr>
          <p:nvPr/>
        </p:nvCxnSpPr>
        <p:spPr>
          <a:xfrm>
            <a:off x="1029153" y="5817319"/>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TextBox 61"/>
          <p:cNvSpPr txBox="1"/>
          <p:nvPr/>
        </p:nvSpPr>
        <p:spPr>
          <a:xfrm>
            <a:off x="1804092" y="5355654"/>
            <a:ext cx="526208"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a:t>무효심결</a:t>
            </a:r>
            <a:endParaRPr lang="ko-KR" altLang="en-US" sz="1200" dirty="0"/>
          </a:p>
        </p:txBody>
      </p:sp>
      <p:cxnSp>
        <p:nvCxnSpPr>
          <p:cNvPr id="63" name="직선 연결선 62"/>
          <p:cNvCxnSpPr>
            <a:cxnSpLocks/>
            <a:stCxn id="62" idx="2"/>
          </p:cNvCxnSpPr>
          <p:nvPr/>
        </p:nvCxnSpPr>
        <p:spPr>
          <a:xfrm>
            <a:off x="2067196" y="5817319"/>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Rectangle 14"/>
          <p:cNvSpPr>
            <a:spLocks noChangeArrowheads="1"/>
          </p:cNvSpPr>
          <p:nvPr/>
        </p:nvSpPr>
        <p:spPr bwMode="auto">
          <a:xfrm flipV="1">
            <a:off x="2000276" y="594822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0" name="직사각형 79"/>
          <p:cNvSpPr/>
          <p:nvPr/>
        </p:nvSpPr>
        <p:spPr>
          <a:xfrm>
            <a:off x="258317" y="3863232"/>
            <a:ext cx="11686033" cy="1384995"/>
          </a:xfrm>
          <a:prstGeom prst="rect">
            <a:avLst/>
          </a:prstGeom>
          <a:solidFill>
            <a:schemeClr val="accent2">
              <a:lumMod val="20000"/>
              <a:lumOff val="80000"/>
            </a:schemeClr>
          </a:solidFill>
          <a:ln>
            <a:solidFill>
              <a:schemeClr val="bg1">
                <a:lumMod val="50000"/>
              </a:schemeClr>
            </a:solidFill>
          </a:ln>
        </p:spPr>
        <p:txBody>
          <a:bodyPr wrap="square">
            <a:spAutoFit/>
          </a:bodyPr>
          <a:lstStyle/>
          <a:p>
            <a:r>
              <a:rPr lang="en-US" altLang="ko-KR" sz="1200" b="1" dirty="0">
                <a:solidFill>
                  <a:schemeClr val="accent1"/>
                </a:solidFill>
              </a:rPr>
              <a:t>(</a:t>
            </a:r>
            <a:r>
              <a:rPr lang="ko-KR" altLang="en-US" sz="1200" b="1" dirty="0">
                <a:solidFill>
                  <a:schemeClr val="accent1"/>
                </a:solidFill>
              </a:rPr>
              <a:t>대법원 </a:t>
            </a:r>
            <a:r>
              <a:rPr lang="en-US" altLang="ko-KR" sz="1200" b="1" dirty="0">
                <a:solidFill>
                  <a:schemeClr val="accent1"/>
                </a:solidFill>
              </a:rPr>
              <a:t>2020. 1. 22. </a:t>
            </a:r>
            <a:r>
              <a:rPr lang="ko-KR" altLang="en-US" sz="1200" b="1" dirty="0">
                <a:solidFill>
                  <a:schemeClr val="accent1"/>
                </a:solidFill>
              </a:rPr>
              <a:t>선고 </a:t>
            </a:r>
            <a:r>
              <a:rPr lang="en-US" altLang="ko-KR" sz="1200" b="1" dirty="0">
                <a:solidFill>
                  <a:schemeClr val="accent1"/>
                </a:solidFill>
              </a:rPr>
              <a:t>2016</a:t>
            </a:r>
            <a:r>
              <a:rPr lang="ko-KR" altLang="en-US" sz="1200" b="1" dirty="0">
                <a:solidFill>
                  <a:schemeClr val="accent1"/>
                </a:solidFill>
              </a:rPr>
              <a:t>후</a:t>
            </a:r>
            <a:r>
              <a:rPr lang="en-US" altLang="ko-KR" sz="1200" b="1" dirty="0">
                <a:solidFill>
                  <a:schemeClr val="accent1"/>
                </a:solidFill>
              </a:rPr>
              <a:t>2522 </a:t>
            </a:r>
            <a:r>
              <a:rPr lang="ko-KR" altLang="en-US" sz="1200" b="1" dirty="0">
                <a:solidFill>
                  <a:schemeClr val="accent1"/>
                </a:solidFill>
              </a:rPr>
              <a:t>전원합의체</a:t>
            </a:r>
            <a:r>
              <a:rPr lang="en-US" altLang="ko-KR" sz="1200" b="1" dirty="0">
                <a:solidFill>
                  <a:schemeClr val="accent1"/>
                </a:solidFill>
              </a:rPr>
              <a:t>)</a:t>
            </a:r>
            <a:r>
              <a:rPr lang="ko-KR" altLang="en-US" sz="1200" dirty="0"/>
              <a:t> 행정소송법 제</a:t>
            </a:r>
            <a:r>
              <a:rPr lang="en-US" altLang="ko-KR" sz="1200" dirty="0"/>
              <a:t>8</a:t>
            </a:r>
            <a:r>
              <a:rPr lang="ko-KR" altLang="en-US" sz="1200" dirty="0"/>
              <a:t>조에 따라 </a:t>
            </a:r>
            <a:r>
              <a:rPr lang="ko-KR" altLang="en-US" sz="1200" dirty="0" err="1"/>
              <a:t>심결취소소송에</a:t>
            </a:r>
            <a:r>
              <a:rPr lang="ko-KR" altLang="en-US" sz="1200" dirty="0"/>
              <a:t> 준용되는 민사소송법 제</a:t>
            </a:r>
            <a:r>
              <a:rPr lang="en-US" altLang="ko-KR" sz="1200" dirty="0"/>
              <a:t>451</a:t>
            </a:r>
            <a:r>
              <a:rPr lang="ko-KR" altLang="en-US" sz="1200" dirty="0"/>
              <a:t>조 제</a:t>
            </a:r>
            <a:r>
              <a:rPr lang="en-US" altLang="ko-KR" sz="1200" dirty="0"/>
              <a:t>1</a:t>
            </a:r>
            <a:r>
              <a:rPr lang="ko-KR" altLang="en-US" sz="1200" dirty="0"/>
              <a:t>항 제</a:t>
            </a:r>
            <a:r>
              <a:rPr lang="en-US" altLang="ko-KR" sz="1200" dirty="0"/>
              <a:t>8</a:t>
            </a:r>
            <a:r>
              <a:rPr lang="ko-KR" altLang="en-US" sz="1200" dirty="0"/>
              <a:t>호는 “판결의 기초로 된 행정처분이 다른 행정처분에 의하여 변경된 </a:t>
            </a:r>
            <a:r>
              <a:rPr lang="ko-KR" altLang="en-US" sz="1200" dirty="0" err="1"/>
              <a:t>때”를</a:t>
            </a:r>
            <a:r>
              <a:rPr lang="ko-KR" altLang="en-US" sz="1200" dirty="0"/>
              <a:t> 재심사유로 규정하고 있다</a:t>
            </a:r>
            <a:r>
              <a:rPr lang="en-US" altLang="ko-KR" sz="1200" dirty="0"/>
              <a:t>. </a:t>
            </a:r>
            <a:r>
              <a:rPr lang="ko-KR" altLang="en-US" sz="1200" dirty="0"/>
              <a:t>이는 판결의 심리</a:t>
            </a:r>
            <a:r>
              <a:rPr lang="en-US" altLang="ko-KR" sz="1200" dirty="0"/>
              <a:t>·</a:t>
            </a:r>
            <a:r>
              <a:rPr lang="ko-KR" altLang="en-US" sz="1200" dirty="0"/>
              <a:t>판단 대상이 되는 행정처분 그 자체가 그 후 다른 행정처분에 의하여 확정적</a:t>
            </a:r>
            <a:r>
              <a:rPr lang="en-US" altLang="ko-KR" sz="1200" dirty="0"/>
              <a:t>·</a:t>
            </a:r>
            <a:r>
              <a:rPr lang="ko-KR" altLang="en-US" sz="1200" dirty="0"/>
              <a:t>소급적으로 변경된 경우를 말하는 것이 아니고</a:t>
            </a:r>
            <a:r>
              <a:rPr lang="en-US" altLang="ko-KR" sz="1200" dirty="0"/>
              <a:t>, </a:t>
            </a:r>
            <a:r>
              <a:rPr lang="ko-KR" altLang="en-US" sz="1200" dirty="0"/>
              <a:t>확정판결에 법률적으로 구속력을 미치거나 또는 그 확정판결에서 사실인정의 자료가 된 행정처분이 다른 행정처분에 의하여 확정적</a:t>
            </a:r>
            <a:r>
              <a:rPr lang="en-US" altLang="ko-KR" sz="1200" dirty="0"/>
              <a:t>·</a:t>
            </a:r>
            <a:r>
              <a:rPr lang="ko-KR" altLang="en-US" sz="1200" dirty="0"/>
              <a:t>소급적으로 변경된 경우를 말하는 것이다</a:t>
            </a:r>
            <a:r>
              <a:rPr lang="en-US" altLang="ko-KR" sz="1200" dirty="0"/>
              <a:t>. </a:t>
            </a:r>
            <a:r>
              <a:rPr lang="ko-KR" altLang="en-US" sz="1200" dirty="0"/>
              <a:t>여기서 ‘사실인정의 자료가 </a:t>
            </a:r>
            <a:r>
              <a:rPr lang="ko-KR" altLang="en-US" sz="1200" dirty="0" err="1"/>
              <a:t>되었다’는</a:t>
            </a:r>
            <a:r>
              <a:rPr lang="ko-KR" altLang="en-US" sz="1200" dirty="0"/>
              <a:t> 것은 그 행정처분이 확정판결의 사실인정에 있어서 증거자료로 채택되었고 그 행정처분의 변경이 확정판결의 사실인정에 영향을 미칠 가능성이 있는 경우를 말한다</a:t>
            </a:r>
            <a:r>
              <a:rPr lang="en-US" altLang="ko-KR" sz="1200" dirty="0"/>
              <a:t>(</a:t>
            </a:r>
            <a:r>
              <a:rPr lang="ko-KR" altLang="en-US" sz="1200" dirty="0"/>
              <a:t>대법원 </a:t>
            </a:r>
            <a:r>
              <a:rPr lang="en-US" altLang="ko-KR" sz="1200" dirty="0"/>
              <a:t>1994. 11. 25. </a:t>
            </a:r>
            <a:r>
              <a:rPr lang="ko-KR" altLang="en-US" sz="1200" dirty="0"/>
              <a:t>선고 </a:t>
            </a:r>
            <a:r>
              <a:rPr lang="en-US" altLang="ko-KR" sz="1200" dirty="0"/>
              <a:t>94</a:t>
            </a:r>
            <a:r>
              <a:rPr lang="ko-KR" altLang="en-US" sz="1200" dirty="0"/>
              <a:t>다</a:t>
            </a:r>
            <a:r>
              <a:rPr lang="en-US" altLang="ko-KR" sz="1200" dirty="0"/>
              <a:t>33897 </a:t>
            </a:r>
            <a:r>
              <a:rPr lang="ko-KR" altLang="en-US" sz="1200" dirty="0"/>
              <a:t>판결</a:t>
            </a:r>
            <a:r>
              <a:rPr lang="en-US" altLang="ko-KR" sz="1200" dirty="0"/>
              <a:t>, </a:t>
            </a:r>
            <a:r>
              <a:rPr lang="ko-KR" altLang="en-US" sz="1200" dirty="0"/>
              <a:t>대법원 </a:t>
            </a:r>
            <a:r>
              <a:rPr lang="en-US" altLang="ko-KR" sz="1200" dirty="0"/>
              <a:t>2001. 12. 14. </a:t>
            </a:r>
            <a:r>
              <a:rPr lang="ko-KR" altLang="en-US" sz="1200" dirty="0"/>
              <a:t>선고 </a:t>
            </a:r>
            <a:r>
              <a:rPr lang="en-US" altLang="ko-KR" sz="1200" dirty="0"/>
              <a:t>2000</a:t>
            </a:r>
            <a:r>
              <a:rPr lang="ko-KR" altLang="en-US" sz="1200" dirty="0"/>
              <a:t>다</a:t>
            </a:r>
            <a:r>
              <a:rPr lang="en-US" altLang="ko-KR" sz="1200" dirty="0"/>
              <a:t>12679 </a:t>
            </a:r>
            <a:r>
              <a:rPr lang="ko-KR" altLang="en-US" sz="1200" dirty="0"/>
              <a:t>판결 등 참조</a:t>
            </a:r>
            <a:r>
              <a:rPr lang="en-US" altLang="ko-KR" sz="1200" dirty="0"/>
              <a:t>). </a:t>
            </a:r>
            <a:r>
              <a:rPr lang="ko-KR" altLang="en-US" sz="1200" dirty="0"/>
              <a:t>이에 따르면 특허권자가 정정심판을 청구하여 특허무효심판에 대한 </a:t>
            </a:r>
            <a:r>
              <a:rPr lang="ko-KR" altLang="en-US" sz="1200" dirty="0" err="1"/>
              <a:t>심결취소소송의</a:t>
            </a:r>
            <a:r>
              <a:rPr lang="ko-KR" altLang="en-US" sz="1200" dirty="0"/>
              <a:t> 사실심 변론종결 이후에 특허발명의 명세서 또는 도면</a:t>
            </a:r>
            <a:r>
              <a:rPr lang="en-US" altLang="ko-KR" sz="1200" dirty="0"/>
              <a:t>(</a:t>
            </a:r>
            <a:r>
              <a:rPr lang="ko-KR" altLang="en-US" sz="1200" dirty="0"/>
              <a:t>이하 ‘명세서 </a:t>
            </a:r>
            <a:r>
              <a:rPr lang="ko-KR" altLang="en-US" sz="1200" dirty="0" err="1"/>
              <a:t>등’이라</a:t>
            </a:r>
            <a:r>
              <a:rPr lang="ko-KR" altLang="en-US" sz="1200" dirty="0"/>
              <a:t> 한다</a:t>
            </a:r>
            <a:r>
              <a:rPr lang="en-US" altLang="ko-KR" sz="1200" dirty="0"/>
              <a:t>)</a:t>
            </a:r>
            <a:r>
              <a:rPr lang="ko-KR" altLang="en-US" sz="1200" dirty="0"/>
              <a:t>에 대하여 정정을 한다는 </a:t>
            </a:r>
            <a:r>
              <a:rPr lang="ko-KR" altLang="en-US" sz="1200" dirty="0" err="1"/>
              <a:t>심결</a:t>
            </a:r>
            <a:r>
              <a:rPr lang="en-US" altLang="ko-KR" sz="1200" dirty="0"/>
              <a:t>(</a:t>
            </a:r>
            <a:r>
              <a:rPr lang="ko-KR" altLang="en-US" sz="1200" dirty="0"/>
              <a:t>이하 ‘</a:t>
            </a:r>
            <a:r>
              <a:rPr lang="ko-KR" altLang="en-US" sz="1200" dirty="0" err="1"/>
              <a:t>정정심결’이라</a:t>
            </a:r>
            <a:r>
              <a:rPr lang="ko-KR" altLang="en-US" sz="1200" dirty="0"/>
              <a:t> 한다</a:t>
            </a:r>
            <a:r>
              <a:rPr lang="en-US" altLang="ko-KR" sz="1200" dirty="0"/>
              <a:t>)</a:t>
            </a:r>
            <a:r>
              <a:rPr lang="ko-KR" altLang="en-US" sz="1200" dirty="0"/>
              <a:t>이 확정되더라도 정정 전 명세서 등으로 판단한 원심판결에 민사소송법 제</a:t>
            </a:r>
            <a:r>
              <a:rPr lang="en-US" altLang="ko-KR" sz="1200" dirty="0"/>
              <a:t>451</a:t>
            </a:r>
            <a:r>
              <a:rPr lang="ko-KR" altLang="en-US" sz="1200" dirty="0"/>
              <a:t>조 제</a:t>
            </a:r>
            <a:r>
              <a:rPr lang="en-US" altLang="ko-KR" sz="1200" dirty="0"/>
              <a:t>1</a:t>
            </a:r>
            <a:r>
              <a:rPr lang="ko-KR" altLang="en-US" sz="1200" dirty="0"/>
              <a:t>항 제</a:t>
            </a:r>
            <a:r>
              <a:rPr lang="en-US" altLang="ko-KR" sz="1200" dirty="0"/>
              <a:t>8</a:t>
            </a:r>
            <a:r>
              <a:rPr lang="ko-KR" altLang="en-US" sz="1200" dirty="0"/>
              <a:t>호가 규정한 재심사유가 있다고 볼 수 없다</a:t>
            </a:r>
            <a:r>
              <a:rPr lang="en-US" altLang="ko-KR" sz="1200" dirty="0"/>
              <a:t>.</a:t>
            </a:r>
            <a:endParaRPr lang="ko-KR" altLang="en-US" sz="1200" dirty="0"/>
          </a:p>
        </p:txBody>
      </p:sp>
      <p:sp>
        <p:nvSpPr>
          <p:cNvPr id="81" name="직사각형 80"/>
          <p:cNvSpPr/>
          <p:nvPr/>
        </p:nvSpPr>
        <p:spPr>
          <a:xfrm>
            <a:off x="258318" y="3557908"/>
            <a:ext cx="508473" cy="307777"/>
          </a:xfrm>
          <a:prstGeom prst="rect">
            <a:avLst/>
          </a:prstGeom>
          <a:solidFill>
            <a:schemeClr val="accent2"/>
          </a:solidFill>
          <a:ln>
            <a:solidFill>
              <a:schemeClr val="bg1">
                <a:lumMod val="50000"/>
              </a:schemeClr>
            </a:solidFill>
          </a:ln>
        </p:spPr>
        <p:txBody>
          <a:bodyPr wrap="none">
            <a:spAutoFit/>
          </a:bodyPr>
          <a:lstStyle/>
          <a:p>
            <a:r>
              <a:rPr lang="ko-KR" altLang="en-US" sz="1400" dirty="0">
                <a:solidFill>
                  <a:schemeClr val="bg1"/>
                </a:solidFill>
              </a:rPr>
              <a:t>참고</a:t>
            </a:r>
          </a:p>
        </p:txBody>
      </p:sp>
      <p:sp>
        <p:nvSpPr>
          <p:cNvPr id="82" name="Rectangle 14"/>
          <p:cNvSpPr>
            <a:spLocks noChangeArrowheads="1"/>
          </p:cNvSpPr>
          <p:nvPr/>
        </p:nvSpPr>
        <p:spPr bwMode="auto">
          <a:xfrm flipV="1">
            <a:off x="3157382" y="594822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3" name="TextBox 82"/>
          <p:cNvSpPr txBox="1"/>
          <p:nvPr/>
        </p:nvSpPr>
        <p:spPr>
          <a:xfrm>
            <a:off x="2405285" y="5355654"/>
            <a:ext cx="1641248"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심결취소소송제기</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乙</a:t>
            </a:r>
            <a:r>
              <a:rPr lang="en-US" altLang="ko-KR" sz="1200" dirty="0"/>
              <a:t>)</a:t>
            </a:r>
            <a:endParaRPr lang="ko-KR" altLang="en-US" sz="1200" dirty="0"/>
          </a:p>
        </p:txBody>
      </p:sp>
      <p:cxnSp>
        <p:nvCxnSpPr>
          <p:cNvPr id="84" name="직선 연결선 83"/>
          <p:cNvCxnSpPr>
            <a:cxnSpLocks/>
            <a:stCxn id="83" idx="2"/>
            <a:endCxn id="82" idx="4"/>
          </p:cNvCxnSpPr>
          <p:nvPr/>
        </p:nvCxnSpPr>
        <p:spPr>
          <a:xfrm>
            <a:off x="3225909" y="5817319"/>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4165572" y="5355654"/>
            <a:ext cx="577760"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기각판결</a:t>
            </a:r>
            <a:endParaRPr lang="ko-KR" altLang="en-US" sz="1200" dirty="0"/>
          </a:p>
        </p:txBody>
      </p:sp>
      <p:cxnSp>
        <p:nvCxnSpPr>
          <p:cNvPr id="86" name="직선 연결선 85"/>
          <p:cNvCxnSpPr>
            <a:cxnSpLocks/>
            <a:stCxn id="85" idx="2"/>
            <a:endCxn id="87" idx="4"/>
          </p:cNvCxnSpPr>
          <p:nvPr/>
        </p:nvCxnSpPr>
        <p:spPr>
          <a:xfrm>
            <a:off x="4454452" y="5817319"/>
            <a:ext cx="4518"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Rectangle 14"/>
          <p:cNvSpPr>
            <a:spLocks noChangeArrowheads="1"/>
          </p:cNvSpPr>
          <p:nvPr/>
        </p:nvSpPr>
        <p:spPr bwMode="auto">
          <a:xfrm flipV="1">
            <a:off x="4387532" y="594822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88" name="TextBox 87"/>
          <p:cNvSpPr txBox="1"/>
          <p:nvPr/>
        </p:nvSpPr>
        <p:spPr>
          <a:xfrm>
            <a:off x="4878907" y="5355654"/>
            <a:ext cx="1047974"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상고</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乙</a:t>
            </a:r>
            <a:r>
              <a:rPr lang="en-US" altLang="ko-KR" sz="1200" dirty="0"/>
              <a:t>)</a:t>
            </a:r>
            <a:endParaRPr lang="ko-KR" altLang="en-US" sz="1200" dirty="0"/>
          </a:p>
        </p:txBody>
      </p:sp>
      <p:cxnSp>
        <p:nvCxnSpPr>
          <p:cNvPr id="89" name="직선 연결선 88"/>
          <p:cNvCxnSpPr>
            <a:cxnSpLocks/>
            <a:stCxn id="88" idx="2"/>
            <a:endCxn id="90" idx="4"/>
          </p:cNvCxnSpPr>
          <p:nvPr/>
        </p:nvCxnSpPr>
        <p:spPr>
          <a:xfrm>
            <a:off x="5402894" y="5817319"/>
            <a:ext cx="4518"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Rectangle 14"/>
          <p:cNvSpPr>
            <a:spLocks noChangeArrowheads="1"/>
          </p:cNvSpPr>
          <p:nvPr/>
        </p:nvSpPr>
        <p:spPr bwMode="auto">
          <a:xfrm flipV="1">
            <a:off x="5335974" y="594822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1" name="Rectangle 14"/>
          <p:cNvSpPr>
            <a:spLocks noChangeArrowheads="1"/>
          </p:cNvSpPr>
          <p:nvPr/>
        </p:nvSpPr>
        <p:spPr bwMode="auto">
          <a:xfrm flipV="1">
            <a:off x="5795276" y="5948222"/>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2" name="TextBox 91"/>
          <p:cNvSpPr txBox="1"/>
          <p:nvPr/>
        </p:nvSpPr>
        <p:spPr>
          <a:xfrm>
            <a:off x="5355381" y="6267012"/>
            <a:ext cx="1016844"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인용심결확정</a:t>
            </a:r>
          </a:p>
        </p:txBody>
      </p:sp>
      <p:cxnSp>
        <p:nvCxnSpPr>
          <p:cNvPr id="93" name="직선 연결선 92"/>
          <p:cNvCxnSpPr>
            <a:cxnSpLocks/>
            <a:stCxn id="92" idx="0"/>
            <a:endCxn id="91" idx="0"/>
          </p:cNvCxnSpPr>
          <p:nvPr/>
        </p:nvCxnSpPr>
        <p:spPr>
          <a:xfrm flipV="1">
            <a:off x="5863803" y="6101284"/>
            <a:ext cx="2911" cy="1657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4" name="TextBox 93"/>
          <p:cNvSpPr txBox="1"/>
          <p:nvPr/>
        </p:nvSpPr>
        <p:spPr>
          <a:xfrm>
            <a:off x="6440752" y="5396838"/>
            <a:ext cx="5113073" cy="1288593"/>
          </a:xfrm>
          <a:prstGeom prst="rect">
            <a:avLst/>
          </a:prstGeom>
          <a:solidFill>
            <a:schemeClr val="bg1">
              <a:lumMod val="95000"/>
            </a:schemeClr>
          </a:solidFill>
          <a:ln>
            <a:solidFill>
              <a:schemeClr val="bg1">
                <a:lumMod val="50000"/>
              </a:schemeClr>
            </a:solidFill>
          </a:ln>
        </p:spPr>
        <p:txBody>
          <a:bodyPr wrap="square" rtlCol="0" anchor="ctr">
            <a:noAutofit/>
          </a:bodyPr>
          <a:lstStyle/>
          <a:p>
            <a:r>
              <a:rPr lang="ko-KR" altLang="en-US" sz="1200" dirty="0" err="1">
                <a:solidFill>
                  <a:srgbClr val="FF0000"/>
                </a:solidFill>
                <a:highlight>
                  <a:srgbClr val="FFFF00"/>
                </a:highlight>
              </a:rPr>
              <a:t>인용심결확정으로</a:t>
            </a:r>
            <a:r>
              <a:rPr lang="ko-KR" altLang="en-US" sz="1200" dirty="0">
                <a:solidFill>
                  <a:srgbClr val="FF0000"/>
                </a:solidFill>
                <a:highlight>
                  <a:srgbClr val="FFFF00"/>
                </a:highlight>
              </a:rPr>
              <a:t> 정정된 내용대로 출원</a:t>
            </a:r>
            <a:r>
              <a:rPr lang="en-US" altLang="ko-KR" sz="1200" dirty="0">
                <a:solidFill>
                  <a:srgbClr val="FF0000"/>
                </a:solidFill>
                <a:highlight>
                  <a:srgbClr val="FFFF00"/>
                </a:highlight>
              </a:rPr>
              <a:t>, </a:t>
            </a:r>
            <a:r>
              <a:rPr lang="ko-KR" altLang="en-US" sz="1200" dirty="0">
                <a:solidFill>
                  <a:srgbClr val="FF0000"/>
                </a:solidFill>
                <a:highlight>
                  <a:srgbClr val="FFFF00"/>
                </a:highlight>
              </a:rPr>
              <a:t>특허결정</a:t>
            </a:r>
            <a:r>
              <a:rPr lang="en-US" altLang="ko-KR" sz="1200" dirty="0">
                <a:solidFill>
                  <a:srgbClr val="FF0000"/>
                </a:solidFill>
                <a:highlight>
                  <a:srgbClr val="FFFF00"/>
                </a:highlight>
              </a:rPr>
              <a:t>, </a:t>
            </a:r>
            <a:r>
              <a:rPr lang="ko-KR" altLang="en-US" sz="1200" dirty="0">
                <a:solidFill>
                  <a:srgbClr val="FF0000"/>
                </a:solidFill>
                <a:highlight>
                  <a:srgbClr val="FFFF00"/>
                </a:highlight>
              </a:rPr>
              <a:t>등록된 것으로 보지만</a:t>
            </a:r>
            <a:r>
              <a:rPr lang="en-US" altLang="ko-KR" sz="1200" dirty="0">
                <a:solidFill>
                  <a:srgbClr val="FF0000"/>
                </a:solidFill>
              </a:rPr>
              <a:t>, </a:t>
            </a:r>
            <a:r>
              <a:rPr lang="ko-KR" altLang="en-US" sz="1200" dirty="0">
                <a:solidFill>
                  <a:srgbClr val="FF0000"/>
                </a:solidFill>
              </a:rPr>
              <a:t>특허결정은 </a:t>
            </a:r>
            <a:r>
              <a:rPr lang="ko-KR" altLang="en-US" sz="1200" dirty="0" err="1">
                <a:solidFill>
                  <a:srgbClr val="FF0000"/>
                </a:solidFill>
              </a:rPr>
              <a:t>심결취소소송에서</a:t>
            </a:r>
            <a:r>
              <a:rPr lang="ko-KR" altLang="en-US" sz="1200" dirty="0">
                <a:solidFill>
                  <a:srgbClr val="FF0000"/>
                </a:solidFill>
              </a:rPr>
              <a:t> 심리</a:t>
            </a:r>
            <a:r>
              <a:rPr lang="en-US" altLang="ko-KR" sz="1200" dirty="0">
                <a:solidFill>
                  <a:srgbClr val="FF0000"/>
                </a:solidFill>
              </a:rPr>
              <a:t>, </a:t>
            </a:r>
            <a:r>
              <a:rPr lang="ko-KR" altLang="en-US" sz="1200" dirty="0">
                <a:solidFill>
                  <a:srgbClr val="FF0000"/>
                </a:solidFill>
              </a:rPr>
              <a:t>판단해야 할 대상일 뿐 판결의 기초가 된 행정처분으로 볼 수 없기 때문에 민소법 제</a:t>
            </a:r>
            <a:r>
              <a:rPr lang="en-US" altLang="ko-KR" sz="1200" dirty="0">
                <a:solidFill>
                  <a:srgbClr val="FF0000"/>
                </a:solidFill>
              </a:rPr>
              <a:t>451</a:t>
            </a:r>
            <a:r>
              <a:rPr lang="ko-KR" altLang="en-US" sz="1200" dirty="0">
                <a:solidFill>
                  <a:srgbClr val="FF0000"/>
                </a:solidFill>
              </a:rPr>
              <a:t>조제</a:t>
            </a:r>
            <a:r>
              <a:rPr lang="en-US" altLang="ko-KR" sz="1200" dirty="0">
                <a:solidFill>
                  <a:srgbClr val="FF0000"/>
                </a:solidFill>
              </a:rPr>
              <a:t>1</a:t>
            </a:r>
            <a:r>
              <a:rPr lang="ko-KR" altLang="en-US" sz="1200" dirty="0" err="1">
                <a:solidFill>
                  <a:srgbClr val="FF0000"/>
                </a:solidFill>
              </a:rPr>
              <a:t>항제</a:t>
            </a:r>
            <a:r>
              <a:rPr lang="en-US" altLang="ko-KR" sz="1200" dirty="0">
                <a:solidFill>
                  <a:srgbClr val="FF0000"/>
                </a:solidFill>
              </a:rPr>
              <a:t>8</a:t>
            </a:r>
            <a:r>
              <a:rPr lang="ko-KR" altLang="en-US" sz="1200" dirty="0">
                <a:solidFill>
                  <a:srgbClr val="FF0000"/>
                </a:solidFill>
              </a:rPr>
              <a:t>호의 재심사유라는 할 수 없고</a:t>
            </a:r>
            <a:r>
              <a:rPr lang="en-US" altLang="ko-KR" sz="1200" dirty="0">
                <a:solidFill>
                  <a:srgbClr val="FF0000"/>
                </a:solidFill>
              </a:rPr>
              <a:t>, </a:t>
            </a:r>
            <a:r>
              <a:rPr lang="ko-KR" altLang="en-US" sz="1200" dirty="0">
                <a:solidFill>
                  <a:srgbClr val="FF0000"/>
                </a:solidFill>
              </a:rPr>
              <a:t>따라서 법률심인 대법원에서는 정정 전 특허발명에 의하여 다른 법령 위반이 존재하는지 판단함</a:t>
            </a:r>
            <a:r>
              <a:rPr lang="en-US" altLang="ko-KR" sz="1200" dirty="0">
                <a:solidFill>
                  <a:srgbClr val="FF0000"/>
                </a:solidFill>
              </a:rPr>
              <a:t>. </a:t>
            </a:r>
            <a:r>
              <a:rPr lang="ko-KR" altLang="en-US" sz="1200" dirty="0">
                <a:solidFill>
                  <a:srgbClr val="FF0000"/>
                </a:solidFill>
              </a:rPr>
              <a:t>만일 법령위반이 존재하여 대법원에서 </a:t>
            </a:r>
            <a:r>
              <a:rPr lang="ko-KR" altLang="en-US" sz="1200" dirty="0" err="1">
                <a:solidFill>
                  <a:srgbClr val="FF0000"/>
                </a:solidFill>
              </a:rPr>
              <a:t>파기환송하면</a:t>
            </a:r>
            <a:r>
              <a:rPr lang="ko-KR" altLang="en-US" sz="1200" dirty="0">
                <a:solidFill>
                  <a:srgbClr val="FF0000"/>
                </a:solidFill>
              </a:rPr>
              <a:t> 사실심인 특허법원에서 정정 후 명세서 또는 도면을 대상으로 무효사유를 심리함</a:t>
            </a:r>
          </a:p>
        </p:txBody>
      </p:sp>
      <p:sp>
        <p:nvSpPr>
          <p:cNvPr id="95" name="Rectangle 14"/>
          <p:cNvSpPr>
            <a:spLocks noChangeArrowheads="1"/>
          </p:cNvSpPr>
          <p:nvPr/>
        </p:nvSpPr>
        <p:spPr bwMode="auto">
          <a:xfrm flipV="1">
            <a:off x="3619934" y="5948222"/>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96" name="TextBox 95"/>
          <p:cNvSpPr txBox="1"/>
          <p:nvPr/>
        </p:nvSpPr>
        <p:spPr>
          <a:xfrm>
            <a:off x="3003114" y="6267012"/>
            <a:ext cx="1370694" cy="461665"/>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200" dirty="0"/>
              <a:t>정정심판청구</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乙</a:t>
            </a:r>
            <a:r>
              <a:rPr lang="en-US" altLang="ko-KR" sz="1200" dirty="0"/>
              <a:t>)</a:t>
            </a:r>
            <a:endParaRPr lang="ko-KR" altLang="en-US" sz="1200" dirty="0"/>
          </a:p>
        </p:txBody>
      </p:sp>
      <p:cxnSp>
        <p:nvCxnSpPr>
          <p:cNvPr id="97" name="직선 연결선 96"/>
          <p:cNvCxnSpPr>
            <a:cxnSpLocks/>
            <a:stCxn id="96" idx="0"/>
            <a:endCxn id="95" idx="0"/>
          </p:cNvCxnSpPr>
          <p:nvPr/>
        </p:nvCxnSpPr>
        <p:spPr>
          <a:xfrm flipV="1">
            <a:off x="3688461" y="6101284"/>
            <a:ext cx="2911" cy="165728"/>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5672382"/>
      </p:ext>
    </p:extLst>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186</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침해소송과 권리범위확인심판</a:t>
            </a:r>
          </a:p>
        </p:txBody>
      </p:sp>
      <p:sp>
        <p:nvSpPr>
          <p:cNvPr id="5" name="직사각형 4"/>
          <p:cNvSpPr/>
          <p:nvPr/>
        </p:nvSpPr>
        <p:spPr>
          <a:xfrm>
            <a:off x="77638" y="1218295"/>
            <a:ext cx="12033849" cy="1200329"/>
          </a:xfrm>
          <a:prstGeom prst="rect">
            <a:avLst/>
          </a:prstGeom>
          <a:noFill/>
          <a:ln>
            <a:noFill/>
          </a:ln>
        </p:spPr>
        <p:txBody>
          <a:bodyPr wrap="square">
            <a:spAutoFit/>
          </a:bodyPr>
          <a:lstStyle/>
          <a:p>
            <a:pPr algn="just" fontAlgn="base"/>
            <a:r>
              <a:rPr lang="en-US" altLang="ko-KR" sz="1200" dirty="0"/>
              <a:t>2007. 3. 21. </a:t>
            </a:r>
            <a:r>
              <a:rPr lang="ko-KR" altLang="en-US" sz="1200" dirty="0"/>
              <a:t>피고를 상대로 특허심판원에 이 사건 소극적 권리범위확인심판을 제기하였으나 특허심판원이 </a:t>
            </a:r>
            <a:r>
              <a:rPr lang="en-US" altLang="ko-KR" sz="1200" dirty="0"/>
              <a:t>2008. 4. 28. </a:t>
            </a:r>
            <a:r>
              <a:rPr lang="ko-KR" altLang="en-US" sz="1200" dirty="0"/>
              <a:t>확인대상표장이 이 사건 등록상표의 권리범위에 속한다는 이유로 청구를 기각하는 </a:t>
            </a:r>
            <a:r>
              <a:rPr lang="ko-KR" altLang="en-US" sz="1200" dirty="0" err="1"/>
              <a:t>심결</a:t>
            </a:r>
            <a:r>
              <a:rPr lang="en-US" altLang="ko-KR" sz="1200" dirty="0"/>
              <a:t>(</a:t>
            </a:r>
            <a:r>
              <a:rPr lang="ko-KR" altLang="en-US" sz="1200" dirty="0"/>
              <a:t>이하 “이 사건 </a:t>
            </a:r>
            <a:r>
              <a:rPr lang="ko-KR" altLang="en-US" sz="1200" dirty="0" err="1"/>
              <a:t>심결”이라</a:t>
            </a:r>
            <a:r>
              <a:rPr lang="ko-KR" altLang="en-US" sz="1200" dirty="0"/>
              <a:t> 한다</a:t>
            </a:r>
            <a:r>
              <a:rPr lang="en-US" altLang="ko-KR" sz="1200" dirty="0"/>
              <a:t>)</a:t>
            </a:r>
            <a:r>
              <a:rPr lang="ko-KR" altLang="en-US" sz="1200" dirty="0"/>
              <a:t>을 한 점</a:t>
            </a:r>
            <a:r>
              <a:rPr lang="en-US" altLang="ko-KR" sz="1200" dirty="0"/>
              <a:t>, </a:t>
            </a:r>
            <a:r>
              <a:rPr lang="ko-KR" altLang="en-US" sz="1200" dirty="0"/>
              <a:t>비록 피고가 이 사건 등록상표의 상표권 침해와 관련된 민사소송을 </a:t>
            </a:r>
            <a:r>
              <a:rPr lang="en-US" altLang="ko-KR" sz="1200" dirty="0"/>
              <a:t>2006. 7. 11. </a:t>
            </a:r>
            <a:r>
              <a:rPr lang="ko-KR" altLang="en-US" sz="1200" dirty="0"/>
              <a:t>제기하여 </a:t>
            </a:r>
            <a:r>
              <a:rPr lang="en-US" altLang="ko-KR" sz="1200" dirty="0"/>
              <a:t>2008. 7. 25. </a:t>
            </a:r>
            <a:r>
              <a:rPr lang="ko-KR" altLang="en-US" sz="1200" dirty="0"/>
              <a:t>원고 승소판결이 선고되었고</a:t>
            </a:r>
            <a:r>
              <a:rPr lang="en-US" altLang="ko-KR" sz="1200" dirty="0"/>
              <a:t>, </a:t>
            </a:r>
            <a:r>
              <a:rPr lang="ko-KR" altLang="en-US" sz="1200" dirty="0"/>
              <a:t>그 과정에서 이 사건 </a:t>
            </a:r>
            <a:r>
              <a:rPr lang="ko-KR" altLang="en-US" sz="1200" dirty="0" err="1"/>
              <a:t>심결이</a:t>
            </a:r>
            <a:r>
              <a:rPr lang="ko-KR" altLang="en-US" sz="1200" dirty="0"/>
              <a:t> 먼저 내려져 위 민사판결에 고려될 수 있었으며 이 사건 </a:t>
            </a:r>
            <a:r>
              <a:rPr lang="ko-KR" altLang="en-US" sz="1200" dirty="0" err="1"/>
              <a:t>심결취소소송의</a:t>
            </a:r>
            <a:r>
              <a:rPr lang="ko-KR" altLang="en-US" sz="1200" dirty="0"/>
              <a:t> 상고심 계속 중 위 </a:t>
            </a:r>
            <a:r>
              <a:rPr lang="ko-KR" altLang="en-US" sz="1200" dirty="0">
                <a:highlight>
                  <a:srgbClr val="FFFF00"/>
                </a:highlight>
              </a:rPr>
              <a:t>민사판결이 </a:t>
            </a:r>
            <a:r>
              <a:rPr lang="en-US" altLang="ko-KR" sz="1200" dirty="0">
                <a:highlight>
                  <a:srgbClr val="FFFF00"/>
                </a:highlight>
              </a:rPr>
              <a:t>2010. 5. 13. </a:t>
            </a:r>
            <a:r>
              <a:rPr lang="ko-KR" altLang="en-US" sz="1200" dirty="0">
                <a:highlight>
                  <a:srgbClr val="FFFF00"/>
                </a:highlight>
              </a:rPr>
              <a:t>그대로 확정되었다고 하더라도 여전히 원고에게 불리한 이 사건 </a:t>
            </a:r>
            <a:r>
              <a:rPr lang="ko-KR" altLang="en-US" sz="1200" dirty="0" err="1">
                <a:highlight>
                  <a:srgbClr val="FFFF00"/>
                </a:highlight>
              </a:rPr>
              <a:t>심결이</a:t>
            </a:r>
            <a:r>
              <a:rPr lang="ko-KR" altLang="en-US" sz="1200" dirty="0">
                <a:highlight>
                  <a:srgbClr val="FFFF00"/>
                </a:highlight>
              </a:rPr>
              <a:t> 유효하게 존속하고 있는 점</a:t>
            </a:r>
            <a:r>
              <a:rPr lang="en-US" altLang="ko-KR" sz="1200" dirty="0">
                <a:highlight>
                  <a:srgbClr val="FFFF00"/>
                </a:highlight>
              </a:rPr>
              <a:t>, </a:t>
            </a:r>
            <a:r>
              <a:rPr lang="ko-KR" altLang="en-US" sz="1200" dirty="0">
                <a:highlight>
                  <a:srgbClr val="FFFF00"/>
                </a:highlight>
              </a:rPr>
              <a:t>확정된 위 민사판결은 이 사건 </a:t>
            </a:r>
            <a:r>
              <a:rPr lang="ko-KR" altLang="en-US" sz="1200" dirty="0" err="1">
                <a:highlight>
                  <a:srgbClr val="FFFF00"/>
                </a:highlight>
              </a:rPr>
              <a:t>심결취소소송을</a:t>
            </a:r>
            <a:r>
              <a:rPr lang="ko-KR" altLang="en-US" sz="1200" dirty="0">
                <a:highlight>
                  <a:srgbClr val="FFFF00"/>
                </a:highlight>
              </a:rPr>
              <a:t> 담당하는 법원에 대하여 법적 기속력이 없으므로 원고는 위 민사판결이 확정되었음에도 불구하고 자신에게 불리한 이 사건 </a:t>
            </a:r>
            <a:r>
              <a:rPr lang="ko-KR" altLang="en-US" sz="1200" dirty="0" err="1">
                <a:highlight>
                  <a:srgbClr val="FFFF00"/>
                </a:highlight>
              </a:rPr>
              <a:t>심결을</a:t>
            </a:r>
            <a:r>
              <a:rPr lang="ko-KR" altLang="en-US" sz="1200" dirty="0">
                <a:highlight>
                  <a:srgbClr val="FFFF00"/>
                </a:highlight>
              </a:rPr>
              <a:t> 취소할 법률상 이익이 있고</a:t>
            </a:r>
            <a:r>
              <a:rPr lang="en-US" altLang="ko-KR" sz="1200" dirty="0">
                <a:highlight>
                  <a:srgbClr val="FFFF00"/>
                </a:highlight>
              </a:rPr>
              <a:t>, </a:t>
            </a:r>
            <a:r>
              <a:rPr lang="ko-KR" altLang="en-US" sz="1200" dirty="0">
                <a:highlight>
                  <a:srgbClr val="FFFF00"/>
                </a:highlight>
              </a:rPr>
              <a:t>달리 이 사건 </a:t>
            </a:r>
            <a:r>
              <a:rPr lang="ko-KR" altLang="en-US" sz="1200" dirty="0" err="1">
                <a:highlight>
                  <a:srgbClr val="FFFF00"/>
                </a:highlight>
              </a:rPr>
              <a:t>심결</a:t>
            </a:r>
            <a:r>
              <a:rPr lang="ko-KR" altLang="en-US" sz="1200" dirty="0">
                <a:highlight>
                  <a:srgbClr val="FFFF00"/>
                </a:highlight>
              </a:rPr>
              <a:t> 이후 이 사건 등록상표의 상표권이 </a:t>
            </a:r>
            <a:r>
              <a:rPr lang="ko-KR" altLang="en-US" sz="1200" dirty="0" err="1">
                <a:highlight>
                  <a:srgbClr val="FFFF00"/>
                </a:highlight>
              </a:rPr>
              <a:t>소멸되었다거나</a:t>
            </a:r>
            <a:r>
              <a:rPr lang="ko-KR" altLang="en-US" sz="1200" dirty="0">
                <a:highlight>
                  <a:srgbClr val="FFFF00"/>
                </a:highlight>
              </a:rPr>
              <a:t> 당사자 사이의 합의로 이해관계가 소멸되었다는 등 이 사건 </a:t>
            </a:r>
            <a:r>
              <a:rPr lang="ko-KR" altLang="en-US" sz="1200" dirty="0" err="1">
                <a:highlight>
                  <a:srgbClr val="FFFF00"/>
                </a:highlight>
              </a:rPr>
              <a:t>심결</a:t>
            </a:r>
            <a:r>
              <a:rPr lang="ko-KR" altLang="en-US" sz="1200" dirty="0">
                <a:highlight>
                  <a:srgbClr val="FFFF00"/>
                </a:highlight>
              </a:rPr>
              <a:t> 이후 </a:t>
            </a:r>
            <a:r>
              <a:rPr lang="ko-KR" altLang="en-US" sz="1200" dirty="0" err="1">
                <a:highlight>
                  <a:srgbClr val="FFFF00"/>
                </a:highlight>
              </a:rPr>
              <a:t>심결을</a:t>
            </a:r>
            <a:r>
              <a:rPr lang="ko-KR" altLang="en-US" sz="1200" dirty="0">
                <a:highlight>
                  <a:srgbClr val="FFFF00"/>
                </a:highlight>
              </a:rPr>
              <a:t> 취소할 법률상 이익이 소멸되었다는 사정도 보이지 아니하는 점 등</a:t>
            </a:r>
            <a:r>
              <a:rPr lang="ko-KR" altLang="en-US" sz="1200" dirty="0"/>
              <a:t>에 비추어 원고는 이 사건 </a:t>
            </a:r>
            <a:r>
              <a:rPr lang="ko-KR" altLang="en-US" sz="1200" dirty="0" err="1"/>
              <a:t>심결의</a:t>
            </a:r>
            <a:r>
              <a:rPr lang="ko-KR" altLang="en-US" sz="1200" dirty="0"/>
              <a:t> 취소를 구할 소의 이익이 있다고 할 것이다</a:t>
            </a:r>
            <a:r>
              <a:rPr lang="en-US" altLang="ko-KR" sz="1200" dirty="0"/>
              <a:t>.</a:t>
            </a:r>
            <a:endParaRPr lang="ko-KR" altLang="en-US" sz="1200" dirty="0"/>
          </a:p>
        </p:txBody>
      </p:sp>
      <p:sp>
        <p:nvSpPr>
          <p:cNvPr id="7" name="직사각형 6"/>
          <p:cNvSpPr/>
          <p:nvPr/>
        </p:nvSpPr>
        <p:spPr>
          <a:xfrm>
            <a:off x="77638" y="955849"/>
            <a:ext cx="6303329" cy="276999"/>
          </a:xfrm>
          <a:prstGeom prst="rect">
            <a:avLst/>
          </a:prstGeom>
          <a:solidFill>
            <a:schemeClr val="accent1">
              <a:lumMod val="50000"/>
            </a:schemeClr>
          </a:solidFill>
          <a:ln>
            <a:solidFill>
              <a:schemeClr val="bg1">
                <a:lumMod val="50000"/>
              </a:schemeClr>
            </a:solidFill>
          </a:ln>
        </p:spPr>
        <p:txBody>
          <a:bodyPr wrap="none">
            <a:spAutoFit/>
          </a:bodyPr>
          <a:lstStyle/>
          <a:p>
            <a:r>
              <a:rPr lang="ko-KR" altLang="en-US" sz="1200" dirty="0">
                <a:solidFill>
                  <a:schemeClr val="bg1"/>
                </a:solidFill>
              </a:rPr>
              <a:t>권리범위확인심판의 소의 이익</a:t>
            </a:r>
            <a:r>
              <a:rPr lang="en-US" altLang="ko-KR" sz="1200" dirty="0">
                <a:solidFill>
                  <a:schemeClr val="bg1"/>
                </a:solidFill>
              </a:rPr>
              <a:t>: </a:t>
            </a:r>
            <a:r>
              <a:rPr lang="ko-KR" altLang="en-US" sz="1200" dirty="0">
                <a:solidFill>
                  <a:schemeClr val="bg1"/>
                </a:solidFill>
              </a:rPr>
              <a:t>대법원 </a:t>
            </a:r>
            <a:r>
              <a:rPr lang="en-US" altLang="ko-KR" sz="1200" dirty="0">
                <a:solidFill>
                  <a:schemeClr val="bg1"/>
                </a:solidFill>
              </a:rPr>
              <a:t>2011. 2. 24. </a:t>
            </a:r>
            <a:r>
              <a:rPr lang="ko-KR" altLang="en-US" sz="1200" dirty="0">
                <a:solidFill>
                  <a:schemeClr val="bg1"/>
                </a:solidFill>
              </a:rPr>
              <a:t>선고 </a:t>
            </a:r>
            <a:r>
              <a:rPr lang="en-US" altLang="ko-KR" sz="1200" dirty="0">
                <a:solidFill>
                  <a:schemeClr val="bg1"/>
                </a:solidFill>
              </a:rPr>
              <a:t>2008</a:t>
            </a:r>
            <a:r>
              <a:rPr lang="ko-KR" altLang="en-US" sz="1200" dirty="0">
                <a:solidFill>
                  <a:schemeClr val="bg1"/>
                </a:solidFill>
              </a:rPr>
              <a:t>후</a:t>
            </a:r>
            <a:r>
              <a:rPr lang="en-US" altLang="ko-KR" sz="1200" dirty="0">
                <a:solidFill>
                  <a:schemeClr val="bg1"/>
                </a:solidFill>
              </a:rPr>
              <a:t>4486 </a:t>
            </a:r>
            <a:r>
              <a:rPr lang="ko-KR" altLang="en-US" sz="1200" dirty="0">
                <a:solidFill>
                  <a:schemeClr val="bg1"/>
                </a:solidFill>
              </a:rPr>
              <a:t>판결 </a:t>
            </a:r>
            <a:r>
              <a:rPr lang="en-US" altLang="ko-KR" sz="1200" dirty="0">
                <a:solidFill>
                  <a:schemeClr val="bg1"/>
                </a:solidFill>
              </a:rPr>
              <a:t>【</a:t>
            </a:r>
            <a:r>
              <a:rPr lang="ko-KR" altLang="en-US" sz="1200" dirty="0">
                <a:solidFill>
                  <a:schemeClr val="bg1"/>
                </a:solidFill>
              </a:rPr>
              <a:t>권리범위확인</a:t>
            </a:r>
            <a:r>
              <a:rPr lang="en-US" altLang="ko-KR" sz="1200" dirty="0">
                <a:solidFill>
                  <a:schemeClr val="bg1"/>
                </a:solidFill>
              </a:rPr>
              <a:t>(</a:t>
            </a:r>
            <a:r>
              <a:rPr lang="ko-KR" altLang="en-US" sz="1200" dirty="0">
                <a:solidFill>
                  <a:schemeClr val="bg1"/>
                </a:solidFill>
              </a:rPr>
              <a:t>상</a:t>
            </a:r>
            <a:r>
              <a:rPr lang="en-US" altLang="ko-KR" sz="1200" dirty="0">
                <a:solidFill>
                  <a:schemeClr val="bg1"/>
                </a:solidFill>
              </a:rPr>
              <a:t>)】</a:t>
            </a:r>
            <a:endParaRPr lang="ko-KR" altLang="en-US" sz="1200" dirty="0">
              <a:solidFill>
                <a:schemeClr val="bg1"/>
              </a:solidFill>
            </a:endParaRPr>
          </a:p>
        </p:txBody>
      </p:sp>
      <p:grpSp>
        <p:nvGrpSpPr>
          <p:cNvPr id="26" name="그룹 25">
            <a:extLst>
              <a:ext uri="{FF2B5EF4-FFF2-40B4-BE49-F238E27FC236}">
                <a16:creationId xmlns:a16="http://schemas.microsoft.com/office/drawing/2014/main" id="{A6486015-9168-4D8B-BD9D-92F9B2CC9B7E}"/>
              </a:ext>
            </a:extLst>
          </p:cNvPr>
          <p:cNvGrpSpPr/>
          <p:nvPr/>
        </p:nvGrpSpPr>
        <p:grpSpPr>
          <a:xfrm>
            <a:off x="178415" y="2457214"/>
            <a:ext cx="11743291" cy="1164314"/>
            <a:chOff x="178415" y="2552100"/>
            <a:chExt cx="11743291" cy="1164314"/>
          </a:xfrm>
        </p:grpSpPr>
        <p:cxnSp>
          <p:nvCxnSpPr>
            <p:cNvPr id="19" name="직선 연결선 18"/>
            <p:cNvCxnSpPr>
              <a:cxnSpLocks/>
            </p:cNvCxnSpPr>
            <p:nvPr/>
          </p:nvCxnSpPr>
          <p:spPr>
            <a:xfrm>
              <a:off x="178415" y="3163988"/>
              <a:ext cx="11743291"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 name="Rectangle 14"/>
            <p:cNvSpPr>
              <a:spLocks noChangeArrowheads="1"/>
            </p:cNvSpPr>
            <p:nvPr/>
          </p:nvSpPr>
          <p:spPr bwMode="auto">
            <a:xfrm flipV="1">
              <a:off x="1242026" y="308745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21" name="TextBox 20"/>
            <p:cNvSpPr txBox="1"/>
            <p:nvPr/>
          </p:nvSpPr>
          <p:spPr>
            <a:xfrm>
              <a:off x="553942" y="2552100"/>
              <a:ext cx="1513222" cy="431088"/>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100" dirty="0"/>
                <a:t>소극적 확인심판청구</a:t>
              </a:r>
              <a:endParaRPr lang="en-US" altLang="ko-KR" sz="1100" dirty="0"/>
            </a:p>
            <a:p>
              <a:pPr algn="ctr"/>
              <a:r>
                <a:rPr lang="en-US" altLang="ko-KR" sz="1100" dirty="0"/>
                <a:t>(</a:t>
              </a:r>
              <a:r>
                <a:rPr lang="ko-KR" altLang="en-US" sz="1100" dirty="0"/>
                <a:t>이해관계인</a:t>
              </a:r>
              <a:r>
                <a:rPr lang="en-US" altLang="ko-KR" sz="1100" dirty="0"/>
                <a:t>, </a:t>
              </a:r>
              <a:r>
                <a:rPr lang="ko-KR" altLang="en-US" sz="1100" dirty="0"/>
                <a:t>乙</a:t>
              </a:r>
              <a:r>
                <a:rPr lang="en-US" altLang="ko-KR" sz="1100" dirty="0"/>
                <a:t>)</a:t>
              </a:r>
              <a:endParaRPr lang="ko-KR" altLang="en-US" sz="1100" dirty="0"/>
            </a:p>
          </p:txBody>
        </p:sp>
        <p:cxnSp>
          <p:nvCxnSpPr>
            <p:cNvPr id="23" name="직선 연결선 22"/>
            <p:cNvCxnSpPr>
              <a:cxnSpLocks/>
              <a:stCxn id="21" idx="2"/>
              <a:endCxn id="20" idx="4"/>
            </p:cNvCxnSpPr>
            <p:nvPr/>
          </p:nvCxnSpPr>
          <p:spPr>
            <a:xfrm>
              <a:off x="1310553" y="2983188"/>
              <a:ext cx="2911" cy="10426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4142516" y="2552100"/>
              <a:ext cx="526208" cy="431088"/>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100" dirty="0"/>
                <a:t>기각</a:t>
              </a:r>
              <a:endParaRPr lang="en-US" altLang="ko-KR" sz="1100" dirty="0"/>
            </a:p>
            <a:p>
              <a:pPr algn="ctr"/>
              <a:r>
                <a:rPr lang="ko-KR" altLang="en-US" sz="1100" dirty="0" err="1"/>
                <a:t>심결</a:t>
              </a:r>
              <a:endParaRPr lang="ko-KR" altLang="en-US" sz="1100" dirty="0"/>
            </a:p>
          </p:txBody>
        </p:sp>
        <p:cxnSp>
          <p:nvCxnSpPr>
            <p:cNvPr id="27" name="직선 연결선 26"/>
            <p:cNvCxnSpPr>
              <a:cxnSpLocks/>
              <a:stCxn id="25" idx="2"/>
            </p:cNvCxnSpPr>
            <p:nvPr/>
          </p:nvCxnSpPr>
          <p:spPr>
            <a:xfrm>
              <a:off x="4405620" y="2983188"/>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Rectangle 14"/>
            <p:cNvSpPr>
              <a:spLocks noChangeArrowheads="1"/>
            </p:cNvSpPr>
            <p:nvPr/>
          </p:nvSpPr>
          <p:spPr bwMode="auto">
            <a:xfrm flipV="1">
              <a:off x="4338700" y="308745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29" name="Rectangle 14"/>
            <p:cNvSpPr>
              <a:spLocks noChangeArrowheads="1"/>
            </p:cNvSpPr>
            <p:nvPr/>
          </p:nvSpPr>
          <p:spPr bwMode="auto">
            <a:xfrm flipV="1">
              <a:off x="5508288" y="308745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30" name="TextBox 29"/>
            <p:cNvSpPr txBox="1"/>
            <p:nvPr/>
          </p:nvSpPr>
          <p:spPr>
            <a:xfrm>
              <a:off x="4907611" y="2552100"/>
              <a:ext cx="1338408" cy="431088"/>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100" dirty="0" err="1"/>
                <a:t>심결취소소송제기</a:t>
              </a:r>
              <a:endParaRPr lang="en-US" altLang="ko-KR" sz="1100" dirty="0"/>
            </a:p>
            <a:p>
              <a:pPr algn="ctr"/>
              <a:r>
                <a:rPr lang="en-US" altLang="ko-KR" sz="1100" dirty="0"/>
                <a:t>(</a:t>
              </a:r>
              <a:r>
                <a:rPr lang="ko-KR" altLang="en-US" sz="1100" dirty="0"/>
                <a:t>乙</a:t>
              </a:r>
              <a:r>
                <a:rPr lang="en-US" altLang="ko-KR" sz="1100" dirty="0"/>
                <a:t>)</a:t>
              </a:r>
              <a:endParaRPr lang="ko-KR" altLang="en-US" sz="1100" dirty="0"/>
            </a:p>
          </p:txBody>
        </p:sp>
        <p:cxnSp>
          <p:nvCxnSpPr>
            <p:cNvPr id="31" name="직선 연결선 30"/>
            <p:cNvCxnSpPr>
              <a:cxnSpLocks/>
              <a:stCxn id="30" idx="2"/>
              <a:endCxn id="29" idx="4"/>
            </p:cNvCxnSpPr>
            <p:nvPr/>
          </p:nvCxnSpPr>
          <p:spPr>
            <a:xfrm>
              <a:off x="5576815" y="2983188"/>
              <a:ext cx="2911" cy="10426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7670441" y="2552100"/>
              <a:ext cx="509692" cy="431088"/>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100" dirty="0" err="1"/>
                <a:t>기각판결</a:t>
              </a:r>
              <a:endParaRPr lang="ko-KR" altLang="en-US" sz="1100" dirty="0"/>
            </a:p>
          </p:txBody>
        </p:sp>
        <p:cxnSp>
          <p:nvCxnSpPr>
            <p:cNvPr id="33" name="직선 연결선 32"/>
            <p:cNvCxnSpPr>
              <a:cxnSpLocks/>
              <a:stCxn id="32" idx="2"/>
              <a:endCxn id="34" idx="4"/>
            </p:cNvCxnSpPr>
            <p:nvPr/>
          </p:nvCxnSpPr>
          <p:spPr>
            <a:xfrm>
              <a:off x="7925287" y="2983188"/>
              <a:ext cx="4518" cy="10426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Rectangle 14"/>
            <p:cNvSpPr>
              <a:spLocks noChangeArrowheads="1"/>
            </p:cNvSpPr>
            <p:nvPr/>
          </p:nvSpPr>
          <p:spPr bwMode="auto">
            <a:xfrm flipV="1">
              <a:off x="7858367" y="308745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35" name="TextBox 34"/>
            <p:cNvSpPr txBox="1"/>
            <p:nvPr/>
          </p:nvSpPr>
          <p:spPr>
            <a:xfrm>
              <a:off x="8770569" y="2552100"/>
              <a:ext cx="638804" cy="431088"/>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100" dirty="0"/>
                <a:t>상고</a:t>
              </a:r>
              <a:endParaRPr lang="en-US" altLang="ko-KR" sz="1100" dirty="0"/>
            </a:p>
            <a:p>
              <a:pPr algn="ctr"/>
              <a:r>
                <a:rPr lang="en-US" altLang="ko-KR" sz="1100" dirty="0"/>
                <a:t>(</a:t>
              </a:r>
              <a:r>
                <a:rPr lang="ko-KR" altLang="en-US" sz="1100" dirty="0"/>
                <a:t>乙</a:t>
              </a:r>
              <a:r>
                <a:rPr lang="en-US" altLang="ko-KR" sz="1100" dirty="0"/>
                <a:t>)</a:t>
              </a:r>
              <a:endParaRPr lang="ko-KR" altLang="en-US" sz="1100" dirty="0"/>
            </a:p>
          </p:txBody>
        </p:sp>
        <p:cxnSp>
          <p:nvCxnSpPr>
            <p:cNvPr id="36" name="직선 연결선 35"/>
            <p:cNvCxnSpPr>
              <a:cxnSpLocks/>
              <a:stCxn id="35" idx="2"/>
              <a:endCxn id="37" idx="4"/>
            </p:cNvCxnSpPr>
            <p:nvPr/>
          </p:nvCxnSpPr>
          <p:spPr>
            <a:xfrm>
              <a:off x="9089971" y="2983188"/>
              <a:ext cx="4518" cy="10426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 name="Rectangle 14"/>
            <p:cNvSpPr>
              <a:spLocks noChangeArrowheads="1"/>
            </p:cNvSpPr>
            <p:nvPr/>
          </p:nvSpPr>
          <p:spPr bwMode="auto">
            <a:xfrm flipV="1">
              <a:off x="9023051" y="308745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45" name="Rectangle 14"/>
            <p:cNvSpPr>
              <a:spLocks noChangeArrowheads="1"/>
            </p:cNvSpPr>
            <p:nvPr/>
          </p:nvSpPr>
          <p:spPr bwMode="auto">
            <a:xfrm flipV="1">
              <a:off x="10355956" y="3087457"/>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46" name="TextBox 45"/>
            <p:cNvSpPr txBox="1"/>
            <p:nvPr/>
          </p:nvSpPr>
          <p:spPr>
            <a:xfrm>
              <a:off x="10023273" y="3361858"/>
              <a:ext cx="802420" cy="354556"/>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100" dirty="0"/>
                <a:t>승소판결</a:t>
              </a:r>
              <a:endParaRPr lang="en-US" altLang="ko-KR" sz="1100" dirty="0"/>
            </a:p>
            <a:p>
              <a:pPr algn="ctr"/>
              <a:r>
                <a:rPr lang="ko-KR" altLang="en-US" sz="1100" dirty="0"/>
                <a:t>확정</a:t>
              </a:r>
            </a:p>
          </p:txBody>
        </p:sp>
        <p:cxnSp>
          <p:nvCxnSpPr>
            <p:cNvPr id="47" name="직선 연결선 46"/>
            <p:cNvCxnSpPr>
              <a:cxnSpLocks/>
              <a:stCxn id="46" idx="0"/>
              <a:endCxn id="45" idx="0"/>
            </p:cNvCxnSpPr>
            <p:nvPr/>
          </p:nvCxnSpPr>
          <p:spPr>
            <a:xfrm flipV="1">
              <a:off x="10424483" y="3240519"/>
              <a:ext cx="2911" cy="12133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Rectangle 14"/>
            <p:cNvSpPr>
              <a:spLocks noChangeArrowheads="1"/>
            </p:cNvSpPr>
            <p:nvPr/>
          </p:nvSpPr>
          <p:spPr bwMode="auto">
            <a:xfrm flipV="1">
              <a:off x="6670544" y="3087457"/>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56" name="TextBox 55"/>
            <p:cNvSpPr txBox="1"/>
            <p:nvPr/>
          </p:nvSpPr>
          <p:spPr>
            <a:xfrm>
              <a:off x="6463953" y="3361858"/>
              <a:ext cx="550236" cy="354556"/>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100"/>
                <a:t>승소판결</a:t>
              </a:r>
              <a:endParaRPr lang="ko-KR" altLang="en-US" sz="1100" dirty="0"/>
            </a:p>
          </p:txBody>
        </p:sp>
        <p:cxnSp>
          <p:nvCxnSpPr>
            <p:cNvPr id="57" name="직선 연결선 56"/>
            <p:cNvCxnSpPr>
              <a:cxnSpLocks/>
              <a:stCxn id="56" idx="0"/>
              <a:endCxn id="55" idx="0"/>
            </p:cNvCxnSpPr>
            <p:nvPr/>
          </p:nvCxnSpPr>
          <p:spPr>
            <a:xfrm flipV="1">
              <a:off x="6739071" y="3240519"/>
              <a:ext cx="2911" cy="12133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Rectangle 14">
              <a:extLst>
                <a:ext uri="{FF2B5EF4-FFF2-40B4-BE49-F238E27FC236}">
                  <a16:creationId xmlns:a16="http://schemas.microsoft.com/office/drawing/2014/main" id="{E41F5C06-EC8B-4C42-848B-B342E9391CB0}"/>
                </a:ext>
              </a:extLst>
            </p:cNvPr>
            <p:cNvSpPr>
              <a:spLocks noChangeArrowheads="1"/>
            </p:cNvSpPr>
            <p:nvPr/>
          </p:nvSpPr>
          <p:spPr bwMode="auto">
            <a:xfrm flipV="1">
              <a:off x="2947310" y="3087457"/>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66" name="TextBox 65">
              <a:extLst>
                <a:ext uri="{FF2B5EF4-FFF2-40B4-BE49-F238E27FC236}">
                  <a16:creationId xmlns:a16="http://schemas.microsoft.com/office/drawing/2014/main" id="{B2F3DEC2-A72C-4008-AAEE-536E131A411A}"/>
                </a:ext>
              </a:extLst>
            </p:cNvPr>
            <p:cNvSpPr txBox="1"/>
            <p:nvPr/>
          </p:nvSpPr>
          <p:spPr>
            <a:xfrm>
              <a:off x="2330490" y="3361858"/>
              <a:ext cx="1370694" cy="354556"/>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100" dirty="0"/>
                <a:t>침해소송제기</a:t>
              </a:r>
              <a:endParaRPr lang="en-US" altLang="ko-KR" sz="1100" dirty="0"/>
            </a:p>
            <a:p>
              <a:pPr algn="ctr"/>
              <a:r>
                <a:rPr lang="en-US" altLang="ko-KR" sz="1100" dirty="0"/>
                <a:t>(</a:t>
              </a:r>
              <a:r>
                <a:rPr lang="ko-KR" altLang="en-US" sz="1100" dirty="0"/>
                <a:t>특허권자</a:t>
              </a:r>
              <a:r>
                <a:rPr lang="en-US" altLang="ko-KR" sz="1100" dirty="0"/>
                <a:t>, </a:t>
              </a:r>
              <a:r>
                <a:rPr lang="ko-KR" altLang="en-US" sz="1100" dirty="0"/>
                <a:t>甲</a:t>
              </a:r>
              <a:r>
                <a:rPr lang="en-US" altLang="ko-KR" sz="1100" dirty="0"/>
                <a:t>)</a:t>
              </a:r>
              <a:endParaRPr lang="ko-KR" altLang="en-US" sz="1100" dirty="0"/>
            </a:p>
          </p:txBody>
        </p:sp>
        <p:cxnSp>
          <p:nvCxnSpPr>
            <p:cNvPr id="67" name="직선 연결선 66">
              <a:extLst>
                <a:ext uri="{FF2B5EF4-FFF2-40B4-BE49-F238E27FC236}">
                  <a16:creationId xmlns:a16="http://schemas.microsoft.com/office/drawing/2014/main" id="{D7829ED1-7CE3-447E-826E-B4E5DA73AE1A}"/>
                </a:ext>
              </a:extLst>
            </p:cNvPr>
            <p:cNvCxnSpPr>
              <a:cxnSpLocks/>
              <a:stCxn id="66" idx="0"/>
              <a:endCxn id="65" idx="0"/>
            </p:cNvCxnSpPr>
            <p:nvPr/>
          </p:nvCxnSpPr>
          <p:spPr>
            <a:xfrm flipV="1">
              <a:off x="3015837" y="3240519"/>
              <a:ext cx="2911" cy="12133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8" name="직선 연결선 7">
            <a:extLst>
              <a:ext uri="{FF2B5EF4-FFF2-40B4-BE49-F238E27FC236}">
                <a16:creationId xmlns:a16="http://schemas.microsoft.com/office/drawing/2014/main" id="{9C1CA82A-2205-4C7D-9E50-41B6FC289BEA}"/>
              </a:ext>
            </a:extLst>
          </p:cNvPr>
          <p:cNvCxnSpPr/>
          <p:nvPr/>
        </p:nvCxnSpPr>
        <p:spPr>
          <a:xfrm>
            <a:off x="0" y="2375494"/>
            <a:ext cx="12191999"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3" name="직사각형 72">
            <a:extLst>
              <a:ext uri="{FF2B5EF4-FFF2-40B4-BE49-F238E27FC236}">
                <a16:creationId xmlns:a16="http://schemas.microsoft.com/office/drawing/2014/main" id="{87FFE25B-B07F-4EBE-8352-F9B682D16362}"/>
              </a:ext>
            </a:extLst>
          </p:cNvPr>
          <p:cNvSpPr/>
          <p:nvPr/>
        </p:nvSpPr>
        <p:spPr>
          <a:xfrm>
            <a:off x="77638" y="3999300"/>
            <a:ext cx="12033849" cy="1569660"/>
          </a:xfrm>
          <a:prstGeom prst="rect">
            <a:avLst/>
          </a:prstGeom>
          <a:noFill/>
          <a:ln>
            <a:noFill/>
          </a:ln>
        </p:spPr>
        <p:txBody>
          <a:bodyPr wrap="square">
            <a:spAutoFit/>
          </a:bodyPr>
          <a:lstStyle/>
          <a:p>
            <a:pPr algn="just" fontAlgn="base"/>
            <a:r>
              <a:rPr lang="ko-KR" altLang="en-US" sz="1200" dirty="0"/>
              <a:t>권리범위확인심판은 특허권 침해에 관한 민사소송</a:t>
            </a:r>
            <a:r>
              <a:rPr lang="en-US" altLang="ko-KR" sz="1200" dirty="0"/>
              <a:t>(</a:t>
            </a:r>
            <a:r>
              <a:rPr lang="ko-KR" altLang="en-US" sz="1200" dirty="0"/>
              <a:t>이하 ‘</a:t>
            </a:r>
            <a:r>
              <a:rPr lang="ko-KR" altLang="en-US" sz="1200" dirty="0" err="1"/>
              <a:t>침해소송’이라</a:t>
            </a:r>
            <a:r>
              <a:rPr lang="ko-KR" altLang="en-US" sz="1200" dirty="0"/>
              <a:t> 한다</a:t>
            </a:r>
            <a:r>
              <a:rPr lang="en-US" altLang="ko-KR" sz="1200" dirty="0"/>
              <a:t>)</a:t>
            </a:r>
            <a:r>
              <a:rPr lang="ko-KR" altLang="en-US" sz="1200" dirty="0"/>
              <a:t>과 같이 침해금지청구권이나 손해배상청구권의 </a:t>
            </a:r>
            <a:r>
              <a:rPr lang="ko-KR" altLang="en-US" sz="1200" dirty="0" err="1"/>
              <a:t>존부와</a:t>
            </a:r>
            <a:r>
              <a:rPr lang="ko-KR" altLang="en-US" sz="1200" dirty="0"/>
              <a:t> 같은 분쟁 당사자 사이의 권리관계를 최종적으로 확정하는 절차가 아니고</a:t>
            </a:r>
            <a:r>
              <a:rPr lang="en-US" altLang="ko-KR" sz="1200" dirty="0"/>
              <a:t>, </a:t>
            </a:r>
            <a:r>
              <a:rPr lang="ko-KR" altLang="en-US" sz="1200" dirty="0"/>
              <a:t>그 절차에서의 판단이 침해소송에 기속력을 미치는 것도 아니지만</a:t>
            </a:r>
            <a:r>
              <a:rPr lang="en-US" altLang="ko-KR" sz="1200" dirty="0"/>
              <a:t>, </a:t>
            </a:r>
            <a:r>
              <a:rPr lang="ko-KR" altLang="en-US" sz="1200" dirty="0">
                <a:highlight>
                  <a:srgbClr val="FFFF00"/>
                </a:highlight>
              </a:rPr>
              <a:t>간이하고 신속하게 확인대상발명이 특허권의 객관적인 효력범위에 포함되는지를 판단함으로써 당사자 사이의 분쟁을 사전에 예방하거나 조속히 </a:t>
            </a:r>
            <a:r>
              <a:rPr lang="ko-KR" altLang="en-US" sz="1200" dirty="0" err="1">
                <a:highlight>
                  <a:srgbClr val="FFFF00"/>
                </a:highlight>
              </a:rPr>
              <a:t>종결시키는</a:t>
            </a:r>
            <a:r>
              <a:rPr lang="ko-KR" altLang="en-US" sz="1200" dirty="0">
                <a:highlight>
                  <a:srgbClr val="FFFF00"/>
                </a:highlight>
              </a:rPr>
              <a:t> 데에 이바지한다는 점에서 고유한 기능</a:t>
            </a:r>
            <a:r>
              <a:rPr lang="ko-KR" altLang="en-US" sz="1200" dirty="0"/>
              <a:t>을 가진다</a:t>
            </a:r>
            <a:r>
              <a:rPr lang="en-US" altLang="ko-KR" sz="1200" dirty="0"/>
              <a:t>. </a:t>
            </a:r>
            <a:r>
              <a:rPr lang="ko-KR" altLang="en-US" sz="1200" dirty="0">
                <a:highlight>
                  <a:srgbClr val="CCECFF"/>
                </a:highlight>
              </a:rPr>
              <a:t>특허법 제</a:t>
            </a:r>
            <a:r>
              <a:rPr lang="en-US" altLang="ko-KR" sz="1200" dirty="0">
                <a:highlight>
                  <a:srgbClr val="CCECFF"/>
                </a:highlight>
              </a:rPr>
              <a:t>164</a:t>
            </a:r>
            <a:r>
              <a:rPr lang="ko-KR" altLang="en-US" sz="1200" dirty="0">
                <a:highlight>
                  <a:srgbClr val="CCECFF"/>
                </a:highlight>
              </a:rPr>
              <a:t>조 제</a:t>
            </a:r>
            <a:r>
              <a:rPr lang="en-US" altLang="ko-KR" sz="1200" dirty="0">
                <a:highlight>
                  <a:srgbClr val="CCECFF"/>
                </a:highlight>
              </a:rPr>
              <a:t>1</a:t>
            </a:r>
            <a:r>
              <a:rPr lang="ko-KR" altLang="en-US" sz="1200" dirty="0">
                <a:highlight>
                  <a:srgbClr val="CCECFF"/>
                </a:highlight>
              </a:rPr>
              <a:t>항</a:t>
            </a:r>
            <a:r>
              <a:rPr lang="ko-KR" altLang="en-US" sz="1200" dirty="0"/>
              <a:t>은 심판장이 소송절차가 완결될 때까지 심판절차를 중지할 수 있다고 규정하고</a:t>
            </a:r>
            <a:r>
              <a:rPr lang="en-US" altLang="ko-KR" sz="1200" dirty="0"/>
              <a:t>, </a:t>
            </a:r>
            <a:r>
              <a:rPr lang="ko-KR" altLang="en-US" sz="1200" dirty="0">
                <a:highlight>
                  <a:srgbClr val="CCECFF"/>
                </a:highlight>
              </a:rPr>
              <a:t>제</a:t>
            </a:r>
            <a:r>
              <a:rPr lang="en-US" altLang="ko-KR" sz="1200" dirty="0">
                <a:highlight>
                  <a:srgbClr val="CCECFF"/>
                </a:highlight>
              </a:rPr>
              <a:t>2</a:t>
            </a:r>
            <a:r>
              <a:rPr lang="ko-KR" altLang="en-US" sz="1200" dirty="0">
                <a:highlight>
                  <a:srgbClr val="CCECFF"/>
                </a:highlight>
              </a:rPr>
              <a:t>항</a:t>
            </a:r>
            <a:r>
              <a:rPr lang="ko-KR" altLang="en-US" sz="1200" dirty="0"/>
              <a:t>은 법원은 특허에 관한 </a:t>
            </a:r>
            <a:r>
              <a:rPr lang="ko-KR" altLang="en-US" sz="1200" dirty="0" err="1"/>
              <a:t>심결이</a:t>
            </a:r>
            <a:r>
              <a:rPr lang="ko-KR" altLang="en-US" sz="1200" dirty="0"/>
              <a:t> 확정될 때까지 소송절차를 중지할 수 있다고 규정하며</a:t>
            </a:r>
            <a:r>
              <a:rPr lang="en-US" altLang="ko-KR" sz="1200" dirty="0"/>
              <a:t>, </a:t>
            </a:r>
            <a:r>
              <a:rPr lang="ko-KR" altLang="en-US" sz="1200" dirty="0">
                <a:highlight>
                  <a:srgbClr val="CCECFF"/>
                </a:highlight>
              </a:rPr>
              <a:t>제</a:t>
            </a:r>
            <a:r>
              <a:rPr lang="en-US" altLang="ko-KR" sz="1200" dirty="0">
                <a:highlight>
                  <a:srgbClr val="CCECFF"/>
                </a:highlight>
              </a:rPr>
              <a:t>3</a:t>
            </a:r>
            <a:r>
              <a:rPr lang="ko-KR" altLang="en-US" sz="1200" dirty="0">
                <a:highlight>
                  <a:srgbClr val="CCECFF"/>
                </a:highlight>
              </a:rPr>
              <a:t>항</a:t>
            </a:r>
            <a:r>
              <a:rPr lang="ko-KR" altLang="en-US" sz="1200" dirty="0"/>
              <a:t>은 법원은 침해소송이 제기되거나 종료되었을 때에 그 취지를 특허심판원장에게 통보하도록 규정하고</a:t>
            </a:r>
            <a:r>
              <a:rPr lang="en-US" altLang="ko-KR" sz="1200" dirty="0"/>
              <a:t>, </a:t>
            </a:r>
            <a:r>
              <a:rPr lang="ko-KR" altLang="en-US" sz="1200" dirty="0">
                <a:highlight>
                  <a:srgbClr val="CCECFF"/>
                </a:highlight>
              </a:rPr>
              <a:t>제</a:t>
            </a:r>
            <a:r>
              <a:rPr lang="en-US" altLang="ko-KR" sz="1200" dirty="0">
                <a:highlight>
                  <a:srgbClr val="CCECFF"/>
                </a:highlight>
              </a:rPr>
              <a:t>4</a:t>
            </a:r>
            <a:r>
              <a:rPr lang="ko-KR" altLang="en-US" sz="1200" dirty="0">
                <a:highlight>
                  <a:srgbClr val="CCECFF"/>
                </a:highlight>
              </a:rPr>
              <a:t>항</a:t>
            </a:r>
            <a:r>
              <a:rPr lang="ko-KR" altLang="en-US" sz="1200" dirty="0"/>
              <a:t>은 특허심판원장은 제</a:t>
            </a:r>
            <a:r>
              <a:rPr lang="en-US" altLang="ko-KR" sz="1200" dirty="0"/>
              <a:t>3</a:t>
            </a:r>
            <a:r>
              <a:rPr lang="ko-KR" altLang="en-US" sz="1200" dirty="0"/>
              <a:t>항에 따른 특허권 또는 전용실시권의 침해에 관한 소에 대응하여 그 특허권에 관한 무효심판 등이 청구된 경우에는 그 취지를 제</a:t>
            </a:r>
            <a:r>
              <a:rPr lang="en-US" altLang="ko-KR" sz="1200" dirty="0"/>
              <a:t>3</a:t>
            </a:r>
            <a:r>
              <a:rPr lang="ko-KR" altLang="en-US" sz="1200" dirty="0"/>
              <a:t>항에 해당하는 법원에 통보하여야 한다고 규정하고 있다</a:t>
            </a:r>
            <a:r>
              <a:rPr lang="en-US" altLang="ko-KR" sz="1200" dirty="0"/>
              <a:t>. </a:t>
            </a:r>
            <a:r>
              <a:rPr lang="ko-KR" altLang="en-US" sz="1200" dirty="0">
                <a:highlight>
                  <a:srgbClr val="CCECFF"/>
                </a:highlight>
              </a:rPr>
              <a:t>이와 같이 특허법이 권리범위확인심판과 소송절차를 각 절차의 개시 선후나 진행경과 등과 무관하게 별개의 독립된 절차로 인정됨을 전제로 규정하고 있는 것</a:t>
            </a:r>
            <a:r>
              <a:rPr lang="ko-KR" altLang="en-US" sz="1200" dirty="0"/>
              <a:t>도 앞서 본 권리범위확인심판 제도의 기능을 존중하는 취지로 이해할 수 있다</a:t>
            </a:r>
            <a:r>
              <a:rPr lang="en-US" altLang="ko-KR" sz="1200" dirty="0"/>
              <a:t>. </a:t>
            </a:r>
            <a:r>
              <a:rPr lang="ko-KR" altLang="en-US" sz="1200" dirty="0"/>
              <a:t>이와 같은 </a:t>
            </a:r>
            <a:r>
              <a:rPr lang="ko-KR" altLang="en-US" sz="1200" dirty="0">
                <a:highlight>
                  <a:srgbClr val="00B0F0"/>
                </a:highlight>
              </a:rPr>
              <a:t>권리범위확인심판 제도의 성질과 기능</a:t>
            </a:r>
            <a:r>
              <a:rPr lang="en-US" altLang="ko-KR" sz="1200" dirty="0">
                <a:highlight>
                  <a:srgbClr val="00B0F0"/>
                </a:highlight>
              </a:rPr>
              <a:t>, </a:t>
            </a:r>
            <a:r>
              <a:rPr lang="ko-KR" altLang="en-US" sz="1200" dirty="0">
                <a:highlight>
                  <a:srgbClr val="00B0F0"/>
                </a:highlight>
              </a:rPr>
              <a:t>특허법의 규정 내용과 취지 등에 비추어 보면</a:t>
            </a:r>
            <a:r>
              <a:rPr lang="en-US" altLang="ko-KR" sz="1200" dirty="0">
                <a:highlight>
                  <a:srgbClr val="00B0F0"/>
                </a:highlight>
              </a:rPr>
              <a:t>,</a:t>
            </a:r>
            <a:r>
              <a:rPr lang="en-US" altLang="ko-KR" sz="1200" dirty="0"/>
              <a:t> </a:t>
            </a:r>
            <a:r>
              <a:rPr lang="ko-KR" altLang="en-US" sz="1200" dirty="0"/>
              <a:t>침해소송이 계속 중이어서 그 소송에서 특허권의 효력이 미치는 범위를 확정할 수 있더라도 이를 이유로 침해소송과 별개로 청구된 권리범위확인심판의 심판청구의 이익이 부정된다고 볼 수는 없다</a:t>
            </a:r>
            <a:r>
              <a:rPr lang="en-US" altLang="ko-KR" sz="1200" dirty="0"/>
              <a:t>.</a:t>
            </a:r>
            <a:endParaRPr lang="ko-KR" altLang="en-US" sz="1200" dirty="0"/>
          </a:p>
        </p:txBody>
      </p:sp>
      <p:sp>
        <p:nvSpPr>
          <p:cNvPr id="74" name="직사각형 73">
            <a:extLst>
              <a:ext uri="{FF2B5EF4-FFF2-40B4-BE49-F238E27FC236}">
                <a16:creationId xmlns:a16="http://schemas.microsoft.com/office/drawing/2014/main" id="{033628E5-8EE3-4191-9C46-044000B9FB04}"/>
              </a:ext>
            </a:extLst>
          </p:cNvPr>
          <p:cNvSpPr/>
          <p:nvPr/>
        </p:nvSpPr>
        <p:spPr>
          <a:xfrm>
            <a:off x="77638" y="3685098"/>
            <a:ext cx="6271269" cy="276999"/>
          </a:xfrm>
          <a:prstGeom prst="rect">
            <a:avLst/>
          </a:prstGeom>
          <a:solidFill>
            <a:schemeClr val="accent1">
              <a:lumMod val="50000"/>
            </a:schemeClr>
          </a:solidFill>
          <a:ln>
            <a:solidFill>
              <a:schemeClr val="bg1">
                <a:lumMod val="50000"/>
              </a:schemeClr>
            </a:solidFill>
          </a:ln>
        </p:spPr>
        <p:txBody>
          <a:bodyPr wrap="none">
            <a:spAutoFit/>
          </a:bodyPr>
          <a:lstStyle/>
          <a:p>
            <a:r>
              <a:rPr lang="ko-KR" altLang="en-US" sz="1200" dirty="0">
                <a:solidFill>
                  <a:schemeClr val="bg1"/>
                </a:solidFill>
              </a:rPr>
              <a:t>권리범위확인심판의 심판의 이익</a:t>
            </a:r>
            <a:r>
              <a:rPr lang="en-US" altLang="ko-KR" sz="1200" dirty="0">
                <a:solidFill>
                  <a:schemeClr val="bg1"/>
                </a:solidFill>
              </a:rPr>
              <a:t>: </a:t>
            </a:r>
            <a:r>
              <a:rPr lang="ko-KR" altLang="en-US" sz="1200" dirty="0">
                <a:solidFill>
                  <a:schemeClr val="bg1"/>
                </a:solidFill>
              </a:rPr>
              <a:t>대법원 </a:t>
            </a:r>
            <a:r>
              <a:rPr lang="en-US" altLang="ko-KR" sz="1200" dirty="0">
                <a:solidFill>
                  <a:schemeClr val="bg1"/>
                </a:solidFill>
              </a:rPr>
              <a:t>2018. 2. 8. </a:t>
            </a:r>
            <a:r>
              <a:rPr lang="ko-KR" altLang="en-US" sz="1200" dirty="0">
                <a:solidFill>
                  <a:schemeClr val="bg1"/>
                </a:solidFill>
              </a:rPr>
              <a:t>선고 </a:t>
            </a:r>
            <a:r>
              <a:rPr lang="en-US" altLang="ko-KR" sz="1200" dirty="0">
                <a:solidFill>
                  <a:schemeClr val="bg1"/>
                </a:solidFill>
              </a:rPr>
              <a:t>2016</a:t>
            </a:r>
            <a:r>
              <a:rPr lang="ko-KR" altLang="en-US" sz="1200" dirty="0">
                <a:solidFill>
                  <a:schemeClr val="bg1"/>
                </a:solidFill>
              </a:rPr>
              <a:t>후</a:t>
            </a:r>
            <a:r>
              <a:rPr lang="en-US" altLang="ko-KR" sz="1200" dirty="0">
                <a:solidFill>
                  <a:schemeClr val="bg1"/>
                </a:solidFill>
              </a:rPr>
              <a:t>328 </a:t>
            </a:r>
            <a:r>
              <a:rPr lang="ko-KR" altLang="en-US" sz="1200" dirty="0">
                <a:solidFill>
                  <a:schemeClr val="bg1"/>
                </a:solidFill>
              </a:rPr>
              <a:t>판결 </a:t>
            </a:r>
            <a:r>
              <a:rPr lang="en-US" altLang="ko-KR" sz="1200" dirty="0">
                <a:solidFill>
                  <a:schemeClr val="bg1"/>
                </a:solidFill>
              </a:rPr>
              <a:t>【</a:t>
            </a:r>
            <a:r>
              <a:rPr lang="ko-KR" altLang="en-US" sz="1200" dirty="0">
                <a:solidFill>
                  <a:schemeClr val="bg1"/>
                </a:solidFill>
              </a:rPr>
              <a:t>권리범위확인</a:t>
            </a:r>
            <a:r>
              <a:rPr lang="en-US" altLang="ko-KR" sz="1200" dirty="0">
                <a:solidFill>
                  <a:schemeClr val="bg1"/>
                </a:solidFill>
              </a:rPr>
              <a:t>(</a:t>
            </a:r>
            <a:r>
              <a:rPr lang="ko-KR" altLang="en-US" sz="1200" dirty="0" err="1">
                <a:solidFill>
                  <a:schemeClr val="bg1"/>
                </a:solidFill>
              </a:rPr>
              <a:t>특</a:t>
            </a:r>
            <a:r>
              <a:rPr lang="en-US" altLang="ko-KR" sz="1200" dirty="0">
                <a:solidFill>
                  <a:schemeClr val="bg1"/>
                </a:solidFill>
              </a:rPr>
              <a:t>)】</a:t>
            </a:r>
            <a:endParaRPr lang="ko-KR" altLang="en-US" sz="1200" dirty="0">
              <a:solidFill>
                <a:schemeClr val="bg1"/>
              </a:solidFill>
            </a:endParaRPr>
          </a:p>
        </p:txBody>
      </p:sp>
      <p:cxnSp>
        <p:nvCxnSpPr>
          <p:cNvPr id="101" name="직선 연결선 100">
            <a:extLst>
              <a:ext uri="{FF2B5EF4-FFF2-40B4-BE49-F238E27FC236}">
                <a16:creationId xmlns:a16="http://schemas.microsoft.com/office/drawing/2014/main" id="{58E53AA5-BCB9-4A00-9F86-93598F823E19}"/>
              </a:ext>
            </a:extLst>
          </p:cNvPr>
          <p:cNvCxnSpPr/>
          <p:nvPr/>
        </p:nvCxnSpPr>
        <p:spPr>
          <a:xfrm>
            <a:off x="0" y="5570565"/>
            <a:ext cx="12191999"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직선 연결선 101">
            <a:extLst>
              <a:ext uri="{FF2B5EF4-FFF2-40B4-BE49-F238E27FC236}">
                <a16:creationId xmlns:a16="http://schemas.microsoft.com/office/drawing/2014/main" id="{0377373D-229F-4DE3-804D-74362F7EA24A}"/>
              </a:ext>
            </a:extLst>
          </p:cNvPr>
          <p:cNvCxnSpPr>
            <a:cxnSpLocks/>
          </p:cNvCxnSpPr>
          <p:nvPr/>
        </p:nvCxnSpPr>
        <p:spPr>
          <a:xfrm>
            <a:off x="178415" y="6248628"/>
            <a:ext cx="11743291"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Rectangle 14">
            <a:extLst>
              <a:ext uri="{FF2B5EF4-FFF2-40B4-BE49-F238E27FC236}">
                <a16:creationId xmlns:a16="http://schemas.microsoft.com/office/drawing/2014/main" id="{410EA947-A692-4698-8EF2-D2932BDF5A4C}"/>
              </a:ext>
            </a:extLst>
          </p:cNvPr>
          <p:cNvSpPr>
            <a:spLocks noChangeArrowheads="1"/>
          </p:cNvSpPr>
          <p:nvPr/>
        </p:nvSpPr>
        <p:spPr bwMode="auto">
          <a:xfrm flipV="1">
            <a:off x="2655162" y="617209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104" name="TextBox 103">
            <a:extLst>
              <a:ext uri="{FF2B5EF4-FFF2-40B4-BE49-F238E27FC236}">
                <a16:creationId xmlns:a16="http://schemas.microsoft.com/office/drawing/2014/main" id="{30B6972F-FC87-4DDF-9A3D-89A2B56DE719}"/>
              </a:ext>
            </a:extLst>
          </p:cNvPr>
          <p:cNvSpPr txBox="1"/>
          <p:nvPr/>
        </p:nvSpPr>
        <p:spPr>
          <a:xfrm>
            <a:off x="1967078" y="5710688"/>
            <a:ext cx="1513222" cy="357140"/>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100" dirty="0"/>
              <a:t>소극적 확인심판청구</a:t>
            </a:r>
            <a:endParaRPr lang="en-US" altLang="ko-KR" sz="1100" dirty="0"/>
          </a:p>
          <a:p>
            <a:pPr algn="ctr"/>
            <a:r>
              <a:rPr lang="en-US" altLang="ko-KR" sz="1100" dirty="0"/>
              <a:t>(</a:t>
            </a:r>
            <a:r>
              <a:rPr lang="ko-KR" altLang="en-US" sz="1100" dirty="0"/>
              <a:t>이해관계인</a:t>
            </a:r>
            <a:r>
              <a:rPr lang="en-US" altLang="ko-KR" sz="1100" dirty="0"/>
              <a:t>, </a:t>
            </a:r>
            <a:r>
              <a:rPr lang="ko-KR" altLang="en-US" sz="1100" dirty="0"/>
              <a:t>乙</a:t>
            </a:r>
            <a:r>
              <a:rPr lang="en-US" altLang="ko-KR" sz="1100" dirty="0"/>
              <a:t>)</a:t>
            </a:r>
            <a:endParaRPr lang="ko-KR" altLang="en-US" sz="1100" dirty="0"/>
          </a:p>
        </p:txBody>
      </p:sp>
      <p:cxnSp>
        <p:nvCxnSpPr>
          <p:cNvPr id="105" name="직선 연결선 104">
            <a:extLst>
              <a:ext uri="{FF2B5EF4-FFF2-40B4-BE49-F238E27FC236}">
                <a16:creationId xmlns:a16="http://schemas.microsoft.com/office/drawing/2014/main" id="{296FEAE1-2BE5-490B-B56E-FE269B642FEA}"/>
              </a:ext>
            </a:extLst>
          </p:cNvPr>
          <p:cNvCxnSpPr>
            <a:cxnSpLocks/>
            <a:stCxn id="104" idx="2"/>
            <a:endCxn id="103" idx="4"/>
          </p:cNvCxnSpPr>
          <p:nvPr/>
        </p:nvCxnSpPr>
        <p:spPr>
          <a:xfrm>
            <a:off x="2723689" y="6067828"/>
            <a:ext cx="2911" cy="10426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6" name="TextBox 105">
            <a:extLst>
              <a:ext uri="{FF2B5EF4-FFF2-40B4-BE49-F238E27FC236}">
                <a16:creationId xmlns:a16="http://schemas.microsoft.com/office/drawing/2014/main" id="{8B975700-EF12-4A7E-BEA3-18883013AE5E}"/>
              </a:ext>
            </a:extLst>
          </p:cNvPr>
          <p:cNvSpPr txBox="1"/>
          <p:nvPr/>
        </p:nvSpPr>
        <p:spPr>
          <a:xfrm>
            <a:off x="4056674" y="5710688"/>
            <a:ext cx="526208" cy="357140"/>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100" dirty="0"/>
              <a:t>인용</a:t>
            </a:r>
            <a:endParaRPr lang="en-US" altLang="ko-KR" sz="1100" dirty="0"/>
          </a:p>
          <a:p>
            <a:pPr algn="ctr"/>
            <a:r>
              <a:rPr lang="ko-KR" altLang="en-US" sz="1100" dirty="0" err="1"/>
              <a:t>심결</a:t>
            </a:r>
            <a:endParaRPr lang="ko-KR" altLang="en-US" sz="1100" dirty="0"/>
          </a:p>
        </p:txBody>
      </p:sp>
      <p:cxnSp>
        <p:nvCxnSpPr>
          <p:cNvPr id="107" name="직선 연결선 106">
            <a:extLst>
              <a:ext uri="{FF2B5EF4-FFF2-40B4-BE49-F238E27FC236}">
                <a16:creationId xmlns:a16="http://schemas.microsoft.com/office/drawing/2014/main" id="{10E1B181-A157-47AF-B31A-693A6E9B099E}"/>
              </a:ext>
            </a:extLst>
          </p:cNvPr>
          <p:cNvCxnSpPr>
            <a:cxnSpLocks/>
            <a:stCxn id="106" idx="2"/>
          </p:cNvCxnSpPr>
          <p:nvPr/>
        </p:nvCxnSpPr>
        <p:spPr>
          <a:xfrm>
            <a:off x="4319778" y="6067828"/>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8" name="Rectangle 14">
            <a:extLst>
              <a:ext uri="{FF2B5EF4-FFF2-40B4-BE49-F238E27FC236}">
                <a16:creationId xmlns:a16="http://schemas.microsoft.com/office/drawing/2014/main" id="{782CF3C6-F9E0-4364-8568-12C4E849EEC2}"/>
              </a:ext>
            </a:extLst>
          </p:cNvPr>
          <p:cNvSpPr>
            <a:spLocks noChangeArrowheads="1"/>
          </p:cNvSpPr>
          <p:nvPr/>
        </p:nvSpPr>
        <p:spPr bwMode="auto">
          <a:xfrm flipV="1">
            <a:off x="4252858" y="617209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109" name="Rectangle 14">
            <a:extLst>
              <a:ext uri="{FF2B5EF4-FFF2-40B4-BE49-F238E27FC236}">
                <a16:creationId xmlns:a16="http://schemas.microsoft.com/office/drawing/2014/main" id="{414FD2E4-3A0E-49BC-81D5-FA431C78242E}"/>
              </a:ext>
            </a:extLst>
          </p:cNvPr>
          <p:cNvSpPr>
            <a:spLocks noChangeArrowheads="1"/>
          </p:cNvSpPr>
          <p:nvPr/>
        </p:nvSpPr>
        <p:spPr bwMode="auto">
          <a:xfrm flipV="1">
            <a:off x="5735757" y="617209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110" name="TextBox 109">
            <a:extLst>
              <a:ext uri="{FF2B5EF4-FFF2-40B4-BE49-F238E27FC236}">
                <a16:creationId xmlns:a16="http://schemas.microsoft.com/office/drawing/2014/main" id="{BECE65E4-7AEA-4B4F-B4CC-EEAC0F0257C5}"/>
              </a:ext>
            </a:extLst>
          </p:cNvPr>
          <p:cNvSpPr txBox="1"/>
          <p:nvPr/>
        </p:nvSpPr>
        <p:spPr>
          <a:xfrm>
            <a:off x="5135080" y="5710688"/>
            <a:ext cx="1338408" cy="357140"/>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100" dirty="0" err="1"/>
              <a:t>심결취소소송제기</a:t>
            </a:r>
            <a:endParaRPr lang="en-US" altLang="ko-KR" sz="1100" dirty="0"/>
          </a:p>
          <a:p>
            <a:pPr algn="ctr"/>
            <a:r>
              <a:rPr lang="en-US" altLang="ko-KR" sz="1100" dirty="0"/>
              <a:t>(</a:t>
            </a:r>
            <a:r>
              <a:rPr lang="ko-KR" altLang="en-US" sz="1100" dirty="0"/>
              <a:t>甲</a:t>
            </a:r>
            <a:r>
              <a:rPr lang="en-US" altLang="ko-KR" sz="1100" dirty="0"/>
              <a:t>)</a:t>
            </a:r>
            <a:endParaRPr lang="ko-KR" altLang="en-US" sz="1100" dirty="0"/>
          </a:p>
        </p:txBody>
      </p:sp>
      <p:cxnSp>
        <p:nvCxnSpPr>
          <p:cNvPr id="111" name="직선 연결선 110">
            <a:extLst>
              <a:ext uri="{FF2B5EF4-FFF2-40B4-BE49-F238E27FC236}">
                <a16:creationId xmlns:a16="http://schemas.microsoft.com/office/drawing/2014/main" id="{BC1E4D70-93E3-47D5-AD60-9DA27F808800}"/>
              </a:ext>
            </a:extLst>
          </p:cNvPr>
          <p:cNvCxnSpPr>
            <a:cxnSpLocks/>
            <a:stCxn id="110" idx="2"/>
            <a:endCxn id="109" idx="4"/>
          </p:cNvCxnSpPr>
          <p:nvPr/>
        </p:nvCxnSpPr>
        <p:spPr>
          <a:xfrm>
            <a:off x="5804284" y="6067828"/>
            <a:ext cx="2911" cy="10426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TextBox 111">
            <a:extLst>
              <a:ext uri="{FF2B5EF4-FFF2-40B4-BE49-F238E27FC236}">
                <a16:creationId xmlns:a16="http://schemas.microsoft.com/office/drawing/2014/main" id="{22FC4676-57A3-4371-AB42-1D4C558D495D}"/>
              </a:ext>
            </a:extLst>
          </p:cNvPr>
          <p:cNvSpPr txBox="1"/>
          <p:nvPr/>
        </p:nvSpPr>
        <p:spPr>
          <a:xfrm>
            <a:off x="8257454" y="5710688"/>
            <a:ext cx="475022" cy="357140"/>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100" dirty="0"/>
              <a:t>인용판결</a:t>
            </a:r>
          </a:p>
        </p:txBody>
      </p:sp>
      <p:cxnSp>
        <p:nvCxnSpPr>
          <p:cNvPr id="113" name="직선 연결선 112">
            <a:extLst>
              <a:ext uri="{FF2B5EF4-FFF2-40B4-BE49-F238E27FC236}">
                <a16:creationId xmlns:a16="http://schemas.microsoft.com/office/drawing/2014/main" id="{47D4E1C7-C7B5-479D-9897-5189D08FF4E0}"/>
              </a:ext>
            </a:extLst>
          </p:cNvPr>
          <p:cNvCxnSpPr>
            <a:cxnSpLocks/>
            <a:stCxn id="112" idx="2"/>
            <a:endCxn id="114" idx="4"/>
          </p:cNvCxnSpPr>
          <p:nvPr/>
        </p:nvCxnSpPr>
        <p:spPr>
          <a:xfrm>
            <a:off x="8494965" y="6067828"/>
            <a:ext cx="4518" cy="10426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Rectangle 14">
            <a:extLst>
              <a:ext uri="{FF2B5EF4-FFF2-40B4-BE49-F238E27FC236}">
                <a16:creationId xmlns:a16="http://schemas.microsoft.com/office/drawing/2014/main" id="{67FDBB8C-42A4-49CB-A8AE-B9A14B4DA9E8}"/>
              </a:ext>
            </a:extLst>
          </p:cNvPr>
          <p:cNvSpPr>
            <a:spLocks noChangeArrowheads="1"/>
          </p:cNvSpPr>
          <p:nvPr/>
        </p:nvSpPr>
        <p:spPr bwMode="auto">
          <a:xfrm flipV="1">
            <a:off x="8428045" y="617209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115" name="TextBox 114">
            <a:extLst>
              <a:ext uri="{FF2B5EF4-FFF2-40B4-BE49-F238E27FC236}">
                <a16:creationId xmlns:a16="http://schemas.microsoft.com/office/drawing/2014/main" id="{2A5FC9EA-1588-4132-89AE-D64809DC1A38}"/>
              </a:ext>
            </a:extLst>
          </p:cNvPr>
          <p:cNvSpPr txBox="1"/>
          <p:nvPr/>
        </p:nvSpPr>
        <p:spPr>
          <a:xfrm>
            <a:off x="9723078" y="5710688"/>
            <a:ext cx="638804" cy="357140"/>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100" dirty="0"/>
              <a:t>상고</a:t>
            </a:r>
            <a:endParaRPr lang="en-US" altLang="ko-KR" sz="1100" dirty="0"/>
          </a:p>
          <a:p>
            <a:pPr algn="ctr"/>
            <a:r>
              <a:rPr lang="en-US" altLang="ko-KR" sz="1100" dirty="0"/>
              <a:t>(</a:t>
            </a:r>
            <a:r>
              <a:rPr lang="ko-KR" altLang="en-US" sz="1100" dirty="0"/>
              <a:t>乙</a:t>
            </a:r>
            <a:r>
              <a:rPr lang="en-US" altLang="ko-KR" sz="1100" dirty="0"/>
              <a:t>)</a:t>
            </a:r>
            <a:endParaRPr lang="ko-KR" altLang="en-US" sz="1100" dirty="0"/>
          </a:p>
        </p:txBody>
      </p:sp>
      <p:cxnSp>
        <p:nvCxnSpPr>
          <p:cNvPr id="116" name="직선 연결선 115">
            <a:extLst>
              <a:ext uri="{FF2B5EF4-FFF2-40B4-BE49-F238E27FC236}">
                <a16:creationId xmlns:a16="http://schemas.microsoft.com/office/drawing/2014/main" id="{08788B97-5A6B-4BE9-9E5D-35F33A05D507}"/>
              </a:ext>
            </a:extLst>
          </p:cNvPr>
          <p:cNvCxnSpPr>
            <a:cxnSpLocks/>
            <a:stCxn id="115" idx="2"/>
            <a:endCxn id="118" idx="4"/>
          </p:cNvCxnSpPr>
          <p:nvPr/>
        </p:nvCxnSpPr>
        <p:spPr>
          <a:xfrm>
            <a:off x="10042480" y="6067828"/>
            <a:ext cx="4518" cy="10426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8" name="Rectangle 14">
            <a:extLst>
              <a:ext uri="{FF2B5EF4-FFF2-40B4-BE49-F238E27FC236}">
                <a16:creationId xmlns:a16="http://schemas.microsoft.com/office/drawing/2014/main" id="{164673DA-61FD-4E72-8BFB-334E10662F27}"/>
              </a:ext>
            </a:extLst>
          </p:cNvPr>
          <p:cNvSpPr>
            <a:spLocks noChangeArrowheads="1"/>
          </p:cNvSpPr>
          <p:nvPr/>
        </p:nvSpPr>
        <p:spPr bwMode="auto">
          <a:xfrm flipV="1">
            <a:off x="9975560" y="617209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119" name="Rectangle 14">
            <a:extLst>
              <a:ext uri="{FF2B5EF4-FFF2-40B4-BE49-F238E27FC236}">
                <a16:creationId xmlns:a16="http://schemas.microsoft.com/office/drawing/2014/main" id="{FDA1A33C-8672-4DCF-99D5-8F3805B763B9}"/>
              </a:ext>
            </a:extLst>
          </p:cNvPr>
          <p:cNvSpPr>
            <a:spLocks noChangeArrowheads="1"/>
          </p:cNvSpPr>
          <p:nvPr/>
        </p:nvSpPr>
        <p:spPr bwMode="auto">
          <a:xfrm flipV="1">
            <a:off x="7171211" y="6172097"/>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120" name="TextBox 119">
            <a:extLst>
              <a:ext uri="{FF2B5EF4-FFF2-40B4-BE49-F238E27FC236}">
                <a16:creationId xmlns:a16="http://schemas.microsoft.com/office/drawing/2014/main" id="{9369E6AB-C851-475A-985A-F18215D4491D}"/>
              </a:ext>
            </a:extLst>
          </p:cNvPr>
          <p:cNvSpPr txBox="1"/>
          <p:nvPr/>
        </p:nvSpPr>
        <p:spPr>
          <a:xfrm>
            <a:off x="6965553" y="6446498"/>
            <a:ext cx="548370" cy="342448"/>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100" dirty="0"/>
              <a:t>패소판결</a:t>
            </a:r>
          </a:p>
        </p:txBody>
      </p:sp>
      <p:cxnSp>
        <p:nvCxnSpPr>
          <p:cNvPr id="121" name="직선 연결선 120">
            <a:extLst>
              <a:ext uri="{FF2B5EF4-FFF2-40B4-BE49-F238E27FC236}">
                <a16:creationId xmlns:a16="http://schemas.microsoft.com/office/drawing/2014/main" id="{12864AA2-3E2D-4F9B-91AF-6F91F03391B7}"/>
              </a:ext>
            </a:extLst>
          </p:cNvPr>
          <p:cNvCxnSpPr>
            <a:cxnSpLocks/>
            <a:stCxn id="120" idx="0"/>
            <a:endCxn id="119" idx="0"/>
          </p:cNvCxnSpPr>
          <p:nvPr/>
        </p:nvCxnSpPr>
        <p:spPr>
          <a:xfrm flipV="1">
            <a:off x="7239738" y="6325159"/>
            <a:ext cx="2911" cy="12133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Rectangle 14">
            <a:extLst>
              <a:ext uri="{FF2B5EF4-FFF2-40B4-BE49-F238E27FC236}">
                <a16:creationId xmlns:a16="http://schemas.microsoft.com/office/drawing/2014/main" id="{8889104E-6845-451E-AA8F-9126D2D67EF5}"/>
              </a:ext>
            </a:extLst>
          </p:cNvPr>
          <p:cNvSpPr>
            <a:spLocks noChangeArrowheads="1"/>
          </p:cNvSpPr>
          <p:nvPr/>
        </p:nvSpPr>
        <p:spPr bwMode="auto">
          <a:xfrm flipV="1">
            <a:off x="915473" y="6172097"/>
            <a:ext cx="142876" cy="153062"/>
          </a:xfrm>
          <a:prstGeom prst="ellipse">
            <a:avLst/>
          </a:prstGeom>
          <a:solidFill>
            <a:schemeClr val="accent4"/>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900" b="0" i="0" u="none" strike="noStrike" kern="0" cap="none" spc="0" normalizeH="0" baseline="0" noProof="0" dirty="0">
              <a:ln>
                <a:noFill/>
              </a:ln>
              <a:solidFill>
                <a:prstClr val="black"/>
              </a:solidFill>
              <a:effectLst/>
              <a:uLnTx/>
              <a:uFillTx/>
              <a:latin typeface="+mn-ea"/>
            </a:endParaRPr>
          </a:p>
        </p:txBody>
      </p:sp>
      <p:sp>
        <p:nvSpPr>
          <p:cNvPr id="123" name="TextBox 122">
            <a:extLst>
              <a:ext uri="{FF2B5EF4-FFF2-40B4-BE49-F238E27FC236}">
                <a16:creationId xmlns:a16="http://schemas.microsoft.com/office/drawing/2014/main" id="{A55C597C-8A4C-47AD-AECE-FBE9B99924A3}"/>
              </a:ext>
            </a:extLst>
          </p:cNvPr>
          <p:cNvSpPr txBox="1"/>
          <p:nvPr/>
        </p:nvSpPr>
        <p:spPr>
          <a:xfrm>
            <a:off x="298653" y="6446498"/>
            <a:ext cx="1370694" cy="342448"/>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algn="ctr"/>
            <a:r>
              <a:rPr lang="ko-KR" altLang="en-US" sz="1100" dirty="0"/>
              <a:t>침해소송제기</a:t>
            </a:r>
            <a:endParaRPr lang="en-US" altLang="ko-KR" sz="1100" dirty="0"/>
          </a:p>
          <a:p>
            <a:pPr algn="ctr"/>
            <a:r>
              <a:rPr lang="en-US" altLang="ko-KR" sz="1100" dirty="0"/>
              <a:t>(</a:t>
            </a:r>
            <a:r>
              <a:rPr lang="ko-KR" altLang="en-US" sz="1100" dirty="0"/>
              <a:t>특허권자</a:t>
            </a:r>
            <a:r>
              <a:rPr lang="en-US" altLang="ko-KR" sz="1100" dirty="0"/>
              <a:t>, </a:t>
            </a:r>
            <a:r>
              <a:rPr lang="ko-KR" altLang="en-US" sz="1100" dirty="0"/>
              <a:t>甲</a:t>
            </a:r>
            <a:r>
              <a:rPr lang="en-US" altLang="ko-KR" sz="1100" dirty="0"/>
              <a:t>)</a:t>
            </a:r>
            <a:endParaRPr lang="ko-KR" altLang="en-US" sz="1100" dirty="0"/>
          </a:p>
        </p:txBody>
      </p:sp>
      <p:cxnSp>
        <p:nvCxnSpPr>
          <p:cNvPr id="124" name="직선 연결선 123">
            <a:extLst>
              <a:ext uri="{FF2B5EF4-FFF2-40B4-BE49-F238E27FC236}">
                <a16:creationId xmlns:a16="http://schemas.microsoft.com/office/drawing/2014/main" id="{9D1F65ED-739A-4CDE-B377-F2EDA776A784}"/>
              </a:ext>
            </a:extLst>
          </p:cNvPr>
          <p:cNvCxnSpPr>
            <a:cxnSpLocks/>
            <a:stCxn id="123" idx="0"/>
            <a:endCxn id="122" idx="0"/>
          </p:cNvCxnSpPr>
          <p:nvPr/>
        </p:nvCxnSpPr>
        <p:spPr>
          <a:xfrm flipV="1">
            <a:off x="984000" y="6325159"/>
            <a:ext cx="2911" cy="121339"/>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CB9D80B0-11D8-5A52-C4D9-44DC24AAC9D0}"/>
              </a:ext>
            </a:extLst>
          </p:cNvPr>
          <p:cNvSpPr txBox="1"/>
          <p:nvPr/>
        </p:nvSpPr>
        <p:spPr>
          <a:xfrm>
            <a:off x="6473488" y="908239"/>
            <a:ext cx="1537600" cy="338554"/>
          </a:xfrm>
          <a:prstGeom prst="rect">
            <a:avLst/>
          </a:prstGeom>
          <a:noFill/>
          <a:ln w="38100">
            <a:solidFill>
              <a:srgbClr val="FF0000"/>
            </a:solidFill>
          </a:ln>
        </p:spPr>
        <p:txBody>
          <a:bodyPr wrap="none" rtlCol="0">
            <a:spAutoFit/>
          </a:bodyPr>
          <a:lstStyle/>
          <a:p>
            <a:r>
              <a:rPr lang="ko-KR" altLang="en-US" sz="1600" dirty="0"/>
              <a:t>소의 이익 </a:t>
            </a:r>
            <a:r>
              <a:rPr lang="en-US" altLang="ko-KR" sz="1600" dirty="0"/>
              <a:t>CASE</a:t>
            </a:r>
            <a:endParaRPr lang="ko-KR" altLang="en-US" sz="1600" dirty="0"/>
          </a:p>
        </p:txBody>
      </p:sp>
      <p:sp>
        <p:nvSpPr>
          <p:cNvPr id="10" name="TextBox 9">
            <a:extLst>
              <a:ext uri="{FF2B5EF4-FFF2-40B4-BE49-F238E27FC236}">
                <a16:creationId xmlns:a16="http://schemas.microsoft.com/office/drawing/2014/main" id="{442CC8DA-2771-581D-5264-E06D70E811D2}"/>
              </a:ext>
            </a:extLst>
          </p:cNvPr>
          <p:cNvSpPr txBox="1"/>
          <p:nvPr/>
        </p:nvSpPr>
        <p:spPr>
          <a:xfrm>
            <a:off x="6473488" y="3681823"/>
            <a:ext cx="1721946" cy="338554"/>
          </a:xfrm>
          <a:prstGeom prst="rect">
            <a:avLst/>
          </a:prstGeom>
          <a:noFill/>
          <a:ln w="38100">
            <a:solidFill>
              <a:srgbClr val="FF0000"/>
            </a:solidFill>
          </a:ln>
        </p:spPr>
        <p:txBody>
          <a:bodyPr wrap="none" rtlCol="0">
            <a:spAutoFit/>
          </a:bodyPr>
          <a:lstStyle/>
          <a:p>
            <a:r>
              <a:rPr lang="ko-KR" altLang="en-US" sz="1600" dirty="0"/>
              <a:t>심판의 이익 </a:t>
            </a:r>
            <a:r>
              <a:rPr lang="en-US" altLang="ko-KR" sz="1600" dirty="0"/>
              <a:t>CASE</a:t>
            </a:r>
            <a:endParaRPr lang="ko-KR" altLang="en-US" sz="1600" dirty="0"/>
          </a:p>
        </p:txBody>
      </p:sp>
    </p:spTree>
    <p:extLst>
      <p:ext uri="{BB962C8B-B14F-4D97-AF65-F5344CB8AC3E}">
        <p14:creationId xmlns:p14="http://schemas.microsoft.com/office/powerpoint/2010/main" val="1462261772"/>
      </p:ext>
    </p:extLst>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187</a:t>
            </a:r>
            <a:r>
              <a:rPr lang="ko-KR" altLang="en-US" dirty="0"/>
              <a:t>조</a:t>
            </a:r>
          </a:p>
        </p:txBody>
      </p:sp>
      <p:sp>
        <p:nvSpPr>
          <p:cNvPr id="3" name="텍스트 개체 틀 2"/>
          <p:cNvSpPr>
            <a:spLocks noGrp="1"/>
          </p:cNvSpPr>
          <p:nvPr>
            <p:ph type="body" sz="quarter" idx="13"/>
          </p:nvPr>
        </p:nvSpPr>
        <p:spPr/>
        <p:txBody>
          <a:bodyPr/>
          <a:lstStyle/>
          <a:p>
            <a:r>
              <a:rPr lang="ko-KR" altLang="en-US" dirty="0"/>
              <a:t>소송의 당사자</a:t>
            </a:r>
          </a:p>
        </p:txBody>
      </p:sp>
      <p:cxnSp>
        <p:nvCxnSpPr>
          <p:cNvPr id="5" name="직선 연결선 4"/>
          <p:cNvCxnSpPr/>
          <p:nvPr/>
        </p:nvCxnSpPr>
        <p:spPr>
          <a:xfrm>
            <a:off x="77875" y="1931009"/>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7875" y="976902"/>
            <a:ext cx="12036250" cy="954107"/>
          </a:xfrm>
          <a:prstGeom prst="rect">
            <a:avLst/>
          </a:prstGeom>
          <a:noFill/>
        </p:spPr>
        <p:txBody>
          <a:bodyPr wrap="square" rtlCol="0">
            <a:spAutoFit/>
          </a:bodyPr>
          <a:lstStyle/>
          <a:p>
            <a:pPr fontAlgn="base"/>
            <a:r>
              <a:rPr lang="ko-KR" altLang="en-US" sz="1400" b="1" dirty="0">
                <a:solidFill>
                  <a:schemeClr val="accent1"/>
                </a:solidFill>
              </a:rPr>
              <a:t>제</a:t>
            </a:r>
            <a:r>
              <a:rPr lang="en-US" altLang="ko-KR" sz="1400" b="1" dirty="0">
                <a:solidFill>
                  <a:schemeClr val="accent1"/>
                </a:solidFill>
              </a:rPr>
              <a:t>186</a:t>
            </a:r>
            <a:r>
              <a:rPr lang="ko-KR" altLang="en-US" sz="1400" b="1" dirty="0">
                <a:solidFill>
                  <a:schemeClr val="accent1"/>
                </a:solidFill>
              </a:rPr>
              <a:t>조</a:t>
            </a:r>
            <a:r>
              <a:rPr lang="en-US" altLang="ko-KR" sz="1400" b="1" dirty="0">
                <a:solidFill>
                  <a:schemeClr val="accent1"/>
                </a:solidFill>
              </a:rPr>
              <a:t>(</a:t>
            </a:r>
            <a:r>
              <a:rPr lang="ko-KR" altLang="en-US" sz="1400" b="1" dirty="0" err="1">
                <a:solidFill>
                  <a:schemeClr val="accent1"/>
                </a:solidFill>
              </a:rPr>
              <a:t>심결</a:t>
            </a:r>
            <a:r>
              <a:rPr lang="ko-KR" altLang="en-US" sz="1400" b="1" dirty="0">
                <a:solidFill>
                  <a:schemeClr val="accent1"/>
                </a:solidFill>
              </a:rPr>
              <a:t> 등에 대한 소</a:t>
            </a:r>
            <a:r>
              <a:rPr lang="en-US" altLang="ko-KR" sz="1400" b="1" dirty="0">
                <a:solidFill>
                  <a:schemeClr val="accent1"/>
                </a:solidFill>
              </a:rPr>
              <a:t>)</a:t>
            </a:r>
            <a:r>
              <a:rPr lang="en-US" altLang="ko-KR" sz="1400" dirty="0">
                <a:solidFill>
                  <a:schemeClr val="tx2"/>
                </a:solidFill>
              </a:rPr>
              <a:t> ① </a:t>
            </a:r>
            <a:r>
              <a:rPr lang="ko-KR" altLang="en-US" sz="1400" dirty="0">
                <a:solidFill>
                  <a:schemeClr val="tx2"/>
                </a:solidFill>
              </a:rPr>
              <a:t>특허취소결정 또는 </a:t>
            </a:r>
            <a:r>
              <a:rPr lang="ko-KR" altLang="en-US" sz="1400" dirty="0" err="1">
                <a:solidFill>
                  <a:schemeClr val="tx2"/>
                </a:solidFill>
              </a:rPr>
              <a:t>심결에</a:t>
            </a:r>
            <a:r>
              <a:rPr lang="ko-KR" altLang="en-US" sz="1400" dirty="0">
                <a:solidFill>
                  <a:schemeClr val="tx2"/>
                </a:solidFill>
              </a:rPr>
              <a:t> 대한 소 및 </a:t>
            </a:r>
            <a:r>
              <a:rPr lang="ko-KR" altLang="en-US" sz="1400" dirty="0" err="1">
                <a:solidFill>
                  <a:schemeClr val="tx2"/>
                </a:solidFill>
              </a:rPr>
              <a:t>특허취소신청서ㆍ심판청구서ㆍ재심청구서의</a:t>
            </a:r>
            <a:r>
              <a:rPr lang="ko-KR" altLang="en-US" sz="1400" dirty="0">
                <a:solidFill>
                  <a:schemeClr val="tx2"/>
                </a:solidFill>
              </a:rPr>
              <a:t> </a:t>
            </a:r>
            <a:r>
              <a:rPr lang="ko-KR" altLang="en-US" sz="1400" dirty="0" err="1">
                <a:solidFill>
                  <a:schemeClr val="tx2"/>
                </a:solidFill>
              </a:rPr>
              <a:t>각하결정에</a:t>
            </a:r>
            <a:r>
              <a:rPr lang="ko-KR" altLang="en-US" sz="1400" dirty="0">
                <a:solidFill>
                  <a:schemeClr val="tx2"/>
                </a:solidFill>
              </a:rPr>
              <a:t> 대한 소는 특허법원의 전속관할로 한다</a:t>
            </a:r>
            <a:r>
              <a:rPr lang="en-US" altLang="ko-KR" sz="1400" dirty="0">
                <a:solidFill>
                  <a:schemeClr val="tx2"/>
                </a:solidFill>
              </a:rPr>
              <a:t>.  </a:t>
            </a:r>
          </a:p>
          <a:p>
            <a:pPr fontAlgn="base"/>
            <a:r>
              <a:rPr lang="ko-KR" altLang="en-US" sz="1400" b="1" dirty="0">
                <a:solidFill>
                  <a:schemeClr val="accent1"/>
                </a:solidFill>
              </a:rPr>
              <a:t>제</a:t>
            </a:r>
            <a:r>
              <a:rPr lang="en-US" altLang="ko-KR" sz="1400" b="1" dirty="0">
                <a:solidFill>
                  <a:schemeClr val="accent1"/>
                </a:solidFill>
              </a:rPr>
              <a:t>187</a:t>
            </a:r>
            <a:r>
              <a:rPr lang="ko-KR" altLang="en-US" sz="1400" b="1" dirty="0">
                <a:solidFill>
                  <a:schemeClr val="accent1"/>
                </a:solidFill>
              </a:rPr>
              <a:t>조</a:t>
            </a:r>
            <a:r>
              <a:rPr lang="en-US" altLang="ko-KR" sz="1400" b="1" dirty="0">
                <a:solidFill>
                  <a:schemeClr val="accent1"/>
                </a:solidFill>
              </a:rPr>
              <a:t>(</a:t>
            </a:r>
            <a:r>
              <a:rPr lang="ko-KR" altLang="en-US" sz="1400" b="1" dirty="0" err="1">
                <a:solidFill>
                  <a:schemeClr val="accent1"/>
                </a:solidFill>
              </a:rPr>
              <a:t>피고적격</a:t>
            </a:r>
            <a:r>
              <a:rPr lang="en-US" altLang="ko-KR" sz="1400" b="1" dirty="0">
                <a:solidFill>
                  <a:schemeClr val="accent1"/>
                </a:solidFill>
              </a:rPr>
              <a:t>) </a:t>
            </a:r>
            <a:r>
              <a:rPr lang="ko-KR" altLang="en-US" sz="1400" dirty="0">
                <a:solidFill>
                  <a:schemeClr val="tx2"/>
                </a:solidFill>
              </a:rPr>
              <a:t>제</a:t>
            </a:r>
            <a:r>
              <a:rPr lang="en-US" altLang="ko-KR" sz="1400" dirty="0">
                <a:solidFill>
                  <a:schemeClr val="tx2"/>
                </a:solidFill>
              </a:rPr>
              <a:t>186</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항에 따라 소를 제기하는 경우에는 지식재산처장을 피고로 하여야 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133</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134</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항ㆍ제</a:t>
            </a:r>
            <a:r>
              <a:rPr lang="en-US" altLang="ko-KR" sz="1400" dirty="0">
                <a:solidFill>
                  <a:schemeClr val="tx2"/>
                </a:solidFill>
              </a:rPr>
              <a:t>2</a:t>
            </a:r>
            <a:r>
              <a:rPr lang="ko-KR" altLang="en-US" sz="1400" dirty="0">
                <a:solidFill>
                  <a:schemeClr val="tx2"/>
                </a:solidFill>
              </a:rPr>
              <a:t>항</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135</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항ㆍ제</a:t>
            </a:r>
            <a:r>
              <a:rPr lang="en-US" altLang="ko-KR" sz="1400" dirty="0">
                <a:solidFill>
                  <a:schemeClr val="tx2"/>
                </a:solidFill>
              </a:rPr>
              <a:t>2</a:t>
            </a:r>
            <a:r>
              <a:rPr lang="ko-KR" altLang="en-US" sz="1400" dirty="0">
                <a:solidFill>
                  <a:schemeClr val="tx2"/>
                </a:solidFill>
              </a:rPr>
              <a:t>항</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137</a:t>
            </a:r>
            <a:r>
              <a:rPr lang="ko-KR" altLang="en-US" sz="1400" dirty="0">
                <a:solidFill>
                  <a:schemeClr val="tx2"/>
                </a:solidFill>
              </a:rPr>
              <a:t>조제</a:t>
            </a:r>
            <a:r>
              <a:rPr lang="en-US" altLang="ko-KR" sz="1400" dirty="0">
                <a:solidFill>
                  <a:schemeClr val="tx2"/>
                </a:solidFill>
              </a:rPr>
              <a:t>1</a:t>
            </a:r>
            <a:r>
              <a:rPr lang="ko-KR" altLang="en-US" sz="1400" dirty="0">
                <a:solidFill>
                  <a:schemeClr val="tx2"/>
                </a:solidFill>
              </a:rPr>
              <a:t>항 또는 제</a:t>
            </a:r>
            <a:r>
              <a:rPr lang="en-US" altLang="ko-KR" sz="1400" dirty="0">
                <a:solidFill>
                  <a:schemeClr val="tx2"/>
                </a:solidFill>
              </a:rPr>
              <a:t>138</a:t>
            </a:r>
            <a:r>
              <a:rPr lang="ko-KR" altLang="en-US" sz="1400" dirty="0">
                <a:solidFill>
                  <a:schemeClr val="tx2"/>
                </a:solidFill>
              </a:rPr>
              <a:t>조제</a:t>
            </a:r>
            <a:r>
              <a:rPr lang="en-US" altLang="ko-KR" sz="1400" dirty="0">
                <a:solidFill>
                  <a:schemeClr val="tx2"/>
                </a:solidFill>
              </a:rPr>
              <a:t>1</a:t>
            </a:r>
            <a:r>
              <a:rPr lang="ko-KR" altLang="en-US" sz="1400" dirty="0" err="1">
                <a:solidFill>
                  <a:schemeClr val="tx2"/>
                </a:solidFill>
              </a:rPr>
              <a:t>항ㆍ제</a:t>
            </a:r>
            <a:r>
              <a:rPr lang="en-US" altLang="ko-KR" sz="1400" dirty="0">
                <a:solidFill>
                  <a:schemeClr val="tx2"/>
                </a:solidFill>
              </a:rPr>
              <a:t>3</a:t>
            </a:r>
            <a:r>
              <a:rPr lang="ko-KR" altLang="en-US" sz="1400" dirty="0">
                <a:solidFill>
                  <a:schemeClr val="tx2"/>
                </a:solidFill>
              </a:rPr>
              <a:t>항에 따른 심판 또는 그 재심의 </a:t>
            </a:r>
            <a:r>
              <a:rPr lang="ko-KR" altLang="en-US" sz="1400" dirty="0" err="1">
                <a:solidFill>
                  <a:schemeClr val="tx2"/>
                </a:solidFill>
              </a:rPr>
              <a:t>심결에</a:t>
            </a:r>
            <a:r>
              <a:rPr lang="ko-KR" altLang="en-US" sz="1400" dirty="0">
                <a:solidFill>
                  <a:schemeClr val="tx2"/>
                </a:solidFill>
              </a:rPr>
              <a:t> 대한 소를 제기하는 경우에는 그 청구인 또는 피청구인을 피고로 하여야 한다</a:t>
            </a:r>
            <a:r>
              <a:rPr lang="en-US" altLang="ko-KR" sz="1400" dirty="0">
                <a:solidFill>
                  <a:schemeClr val="tx2"/>
                </a:solidFill>
              </a:rPr>
              <a:t>.  </a:t>
            </a:r>
          </a:p>
        </p:txBody>
      </p:sp>
      <p:graphicFrame>
        <p:nvGraphicFramePr>
          <p:cNvPr id="8" name="표 7"/>
          <p:cNvGraphicFramePr>
            <a:graphicFrameLocks noGrp="1"/>
          </p:cNvGraphicFramePr>
          <p:nvPr/>
        </p:nvGraphicFramePr>
        <p:xfrm>
          <a:off x="622935" y="2530340"/>
          <a:ext cx="10873740" cy="3790696"/>
        </p:xfrm>
        <a:graphic>
          <a:graphicData uri="http://schemas.openxmlformats.org/drawingml/2006/table">
            <a:tbl>
              <a:tblPr>
                <a:tableStyleId>{8799B23B-EC83-4686-B30A-512413B5E67A}</a:tableStyleId>
              </a:tblPr>
              <a:tblGrid>
                <a:gridCol w="2718435">
                  <a:extLst>
                    <a:ext uri="{9D8B030D-6E8A-4147-A177-3AD203B41FA5}">
                      <a16:colId xmlns:a16="http://schemas.microsoft.com/office/drawing/2014/main" val="2828809677"/>
                    </a:ext>
                  </a:extLst>
                </a:gridCol>
                <a:gridCol w="2718435">
                  <a:extLst>
                    <a:ext uri="{9D8B030D-6E8A-4147-A177-3AD203B41FA5}">
                      <a16:colId xmlns:a16="http://schemas.microsoft.com/office/drawing/2014/main" val="4121456705"/>
                    </a:ext>
                  </a:extLst>
                </a:gridCol>
                <a:gridCol w="2718435">
                  <a:extLst>
                    <a:ext uri="{9D8B030D-6E8A-4147-A177-3AD203B41FA5}">
                      <a16:colId xmlns:a16="http://schemas.microsoft.com/office/drawing/2014/main" val="1733953960"/>
                    </a:ext>
                  </a:extLst>
                </a:gridCol>
                <a:gridCol w="2718435">
                  <a:extLst>
                    <a:ext uri="{9D8B030D-6E8A-4147-A177-3AD203B41FA5}">
                      <a16:colId xmlns:a16="http://schemas.microsoft.com/office/drawing/2014/main" val="1270088139"/>
                    </a:ext>
                  </a:extLst>
                </a:gridCol>
              </a:tblGrid>
              <a:tr h="173482">
                <a:tc>
                  <a:txBody>
                    <a:bodyPr/>
                    <a:lstStyle/>
                    <a:p>
                      <a:pPr marL="0" marR="0" indent="0" algn="ctr" fontAlgn="base" latinLnBrk="0">
                        <a:lnSpc>
                          <a:spcPct val="130000"/>
                        </a:lnSpc>
                        <a:spcBef>
                          <a:spcPts val="0"/>
                        </a:spcBef>
                        <a:spcAft>
                          <a:spcPts val="0"/>
                        </a:spcAft>
                      </a:pPr>
                      <a:r>
                        <a:rPr lang="ko-KR" altLang="en-US" sz="1400" kern="1200" dirty="0"/>
                        <a:t>심판의 종류</a:t>
                      </a:r>
                      <a:endParaRPr lang="ko-KR" altLang="en-US" sz="14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1200"/>
                        <a:t>결정</a:t>
                      </a:r>
                      <a:r>
                        <a:rPr lang="en-US" altLang="ko-KR" sz="1400" kern="1200"/>
                        <a:t>/</a:t>
                      </a:r>
                      <a:r>
                        <a:rPr lang="ko-KR" altLang="en-US" sz="1400" kern="1200"/>
                        <a:t>심결</a:t>
                      </a:r>
                      <a:endParaRPr lang="ko-KR" altLang="en-US" sz="1400" kern="120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1200"/>
                        <a:t>원고</a:t>
                      </a:r>
                      <a:endParaRPr lang="ko-KR" altLang="en-US" sz="1400" kern="1200">
                        <a:solidFill>
                          <a:schemeClr val="tx2"/>
                        </a:solidFill>
                        <a:latin typeface="+mn-lt"/>
                        <a:ea typeface="+mn-ea"/>
                        <a:cs typeface="+mn-cs"/>
                      </a:endParaRPr>
                    </a:p>
                  </a:txBody>
                  <a:tcPr marL="17907" marR="17907"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1200" dirty="0"/>
                        <a:t>피고</a:t>
                      </a:r>
                      <a:endParaRPr lang="ko-KR" altLang="en-US" sz="1400" kern="1200" dirty="0">
                        <a:solidFill>
                          <a:schemeClr val="tx2"/>
                        </a:solidFill>
                        <a:latin typeface="+mn-lt"/>
                        <a:ea typeface="+mn-ea"/>
                        <a:cs typeface="+mn-cs"/>
                      </a:endParaRPr>
                    </a:p>
                  </a:txBody>
                  <a:tcPr marL="17907" marR="17907" marT="17907" marB="17907" anchor="ctr">
                    <a:solidFill>
                      <a:schemeClr val="accent1">
                        <a:lumMod val="20000"/>
                        <a:lumOff val="80000"/>
                      </a:schemeClr>
                    </a:solidFill>
                  </a:tcPr>
                </a:tc>
                <a:extLst>
                  <a:ext uri="{0D108BD9-81ED-4DB2-BD59-A6C34878D82A}">
                    <a16:rowId xmlns:a16="http://schemas.microsoft.com/office/drawing/2014/main" val="2250473272"/>
                  </a:ext>
                </a:extLst>
              </a:tr>
              <a:tr h="173482">
                <a:tc rowSpan="4">
                  <a:txBody>
                    <a:bodyPr/>
                    <a:lstStyle/>
                    <a:p>
                      <a:pPr marL="0" marR="0" indent="0" algn="ctr" fontAlgn="base" latinLnBrk="0">
                        <a:lnSpc>
                          <a:spcPct val="130000"/>
                        </a:lnSpc>
                        <a:spcBef>
                          <a:spcPts val="0"/>
                        </a:spcBef>
                        <a:spcAft>
                          <a:spcPts val="0"/>
                        </a:spcAft>
                      </a:pPr>
                      <a:r>
                        <a:rPr lang="ko-KR" altLang="en-US" sz="1400" kern="1200" dirty="0"/>
                        <a:t>특허취소신청</a:t>
                      </a:r>
                      <a:endParaRPr lang="ko-KR" altLang="en-US" sz="1400" kern="1200" dirty="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a:solidFill>
                            <a:srgbClr val="FF0000"/>
                          </a:solidFill>
                        </a:rPr>
                        <a:t>취소신청서 각하결정</a:t>
                      </a:r>
                      <a:r>
                        <a:rPr lang="en-US" altLang="ko-KR" sz="1400" kern="1200" dirty="0">
                          <a:solidFill>
                            <a:srgbClr val="FF0000"/>
                          </a:solidFill>
                        </a:rPr>
                        <a:t>(</a:t>
                      </a:r>
                      <a:r>
                        <a:rPr lang="ko-KR" altLang="en-US" sz="1400" kern="1200" dirty="0">
                          <a:solidFill>
                            <a:srgbClr val="FF0000"/>
                          </a:solidFill>
                        </a:rPr>
                        <a:t>심판장</a:t>
                      </a:r>
                      <a:r>
                        <a:rPr lang="en-US" altLang="ko-KR" sz="1400" kern="1200" dirty="0">
                          <a:solidFill>
                            <a:srgbClr val="FF0000"/>
                          </a:solidFill>
                        </a:rPr>
                        <a:t>)</a:t>
                      </a:r>
                      <a:endParaRPr lang="ko-KR" altLang="en-US" sz="1400" kern="1200" dirty="0">
                        <a:solidFill>
                          <a:srgbClr val="FF0000"/>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특허취소신청인</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a:t>지식재산처장</a:t>
                      </a:r>
                      <a:endParaRPr lang="ko-KR" altLang="en-US" sz="14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3384290880"/>
                  </a:ext>
                </a:extLst>
              </a:tr>
              <a:tr h="173482">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dirty="0"/>
                        <a:t>취소신청 각하결정</a:t>
                      </a:r>
                      <a:r>
                        <a:rPr lang="en-US" altLang="ko-KR" sz="1400" kern="1200" dirty="0"/>
                        <a:t>(</a:t>
                      </a:r>
                      <a:r>
                        <a:rPr lang="ko-KR" altLang="en-US" sz="1400" kern="1200" dirty="0"/>
                        <a:t>심판관합의체</a:t>
                      </a:r>
                      <a:r>
                        <a:rPr lang="en-US" altLang="ko-KR" sz="1400" kern="1200" dirty="0"/>
                        <a:t>)</a:t>
                      </a:r>
                      <a:endParaRPr lang="ko-KR" altLang="en-US" sz="1400" kern="1200" dirty="0">
                        <a:solidFill>
                          <a:schemeClr val="tx2"/>
                        </a:solidFill>
                        <a:latin typeface="+mn-lt"/>
                        <a:ea typeface="+mn-ea"/>
                        <a:cs typeface="+mn-cs"/>
                      </a:endParaRPr>
                    </a:p>
                  </a:txBody>
                  <a:tcPr marL="17907" marR="17907" marT="17907" marB="17907" anchor="ctr"/>
                </a:tc>
                <a:tc gridSpan="2">
                  <a:txBody>
                    <a:bodyPr/>
                    <a:lstStyle/>
                    <a:p>
                      <a:pPr marL="17780" marR="17780" indent="0" algn="ctr" fontAlgn="base" latinLnBrk="0">
                        <a:lnSpc>
                          <a:spcPct val="130000"/>
                        </a:lnSpc>
                        <a:spcBef>
                          <a:spcPts val="0"/>
                        </a:spcBef>
                        <a:spcAft>
                          <a:spcPts val="0"/>
                        </a:spcAft>
                      </a:pPr>
                      <a:r>
                        <a:rPr lang="ko-KR" altLang="en-US" sz="1400" kern="1200"/>
                        <a:t>불복</a:t>
                      </a:r>
                      <a:r>
                        <a:rPr lang="en-US" altLang="ko-KR" sz="1400" kern="1200"/>
                        <a:t>×</a:t>
                      </a:r>
                      <a:endParaRPr lang="ko-KR" altLang="en-US" sz="1400" kern="1200">
                        <a:solidFill>
                          <a:schemeClr val="tx2"/>
                        </a:solidFill>
                        <a:latin typeface="+mn-lt"/>
                        <a:ea typeface="+mn-ea"/>
                        <a:cs typeface="+mn-cs"/>
                      </a:endParaRPr>
                    </a:p>
                  </a:txBody>
                  <a:tcPr marL="17907" marR="17907" marT="17907" marB="17907" anchor="ctr"/>
                </a:tc>
                <a:tc hMerge="1">
                  <a:txBody>
                    <a:bodyPr/>
                    <a:lstStyle/>
                    <a:p>
                      <a:pPr latinLnBrk="1"/>
                      <a:endParaRPr lang="ko-KR" altLang="en-US"/>
                    </a:p>
                  </a:txBody>
                  <a:tcPr/>
                </a:tc>
                <a:extLst>
                  <a:ext uri="{0D108BD9-81ED-4DB2-BD59-A6C34878D82A}">
                    <a16:rowId xmlns:a16="http://schemas.microsoft.com/office/drawing/2014/main" val="524610179"/>
                  </a:ext>
                </a:extLst>
              </a:tr>
              <a:tr h="173482">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dirty="0">
                          <a:solidFill>
                            <a:srgbClr val="FF0000"/>
                          </a:solidFill>
                        </a:rPr>
                        <a:t>취소신청 취소결정</a:t>
                      </a:r>
                      <a:endParaRPr lang="ko-KR" altLang="en-US" sz="1400" kern="1200" dirty="0">
                        <a:solidFill>
                          <a:srgbClr val="FF0000"/>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특허권자</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a:t>지식재산처장</a:t>
                      </a:r>
                      <a:endParaRPr lang="ko-KR" altLang="en-US" sz="14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2246637213"/>
                  </a:ext>
                </a:extLst>
              </a:tr>
              <a:tr h="173482">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dirty="0"/>
                        <a:t>취소신청 기각결정</a:t>
                      </a:r>
                      <a:endParaRPr lang="ko-KR" altLang="en-US" sz="1400" kern="1200" dirty="0">
                        <a:solidFill>
                          <a:schemeClr val="tx2"/>
                        </a:solidFill>
                        <a:latin typeface="+mn-lt"/>
                        <a:ea typeface="+mn-ea"/>
                        <a:cs typeface="+mn-cs"/>
                      </a:endParaRPr>
                    </a:p>
                  </a:txBody>
                  <a:tcPr marL="17907" marR="17907" marT="17907" marB="17907" anchor="ctr"/>
                </a:tc>
                <a:tc gridSpan="2">
                  <a:txBody>
                    <a:bodyPr/>
                    <a:lstStyle/>
                    <a:p>
                      <a:pPr marL="17780" marR="17780" indent="0" algn="ctr" fontAlgn="base" latinLnBrk="0">
                        <a:lnSpc>
                          <a:spcPct val="130000"/>
                        </a:lnSpc>
                        <a:spcBef>
                          <a:spcPts val="0"/>
                        </a:spcBef>
                        <a:spcAft>
                          <a:spcPts val="0"/>
                        </a:spcAft>
                      </a:pPr>
                      <a:r>
                        <a:rPr lang="ko-KR" altLang="en-US" sz="1400" kern="1200"/>
                        <a:t>불복</a:t>
                      </a:r>
                      <a:r>
                        <a:rPr lang="en-US" altLang="ko-KR" sz="1400" kern="1200"/>
                        <a:t>×</a:t>
                      </a:r>
                      <a:endParaRPr lang="ko-KR" altLang="en-US" sz="1400" kern="1200">
                        <a:solidFill>
                          <a:schemeClr val="tx2"/>
                        </a:solidFill>
                        <a:latin typeface="+mn-lt"/>
                        <a:ea typeface="+mn-ea"/>
                        <a:cs typeface="+mn-cs"/>
                      </a:endParaRPr>
                    </a:p>
                  </a:txBody>
                  <a:tcPr marL="17907" marR="17907" marT="17907" marB="17907" anchor="ctr"/>
                </a:tc>
                <a:tc hMerge="1">
                  <a:txBody>
                    <a:bodyPr/>
                    <a:lstStyle/>
                    <a:p>
                      <a:pPr latinLnBrk="1"/>
                      <a:endParaRPr lang="ko-KR" altLang="en-US"/>
                    </a:p>
                  </a:txBody>
                  <a:tcPr/>
                </a:tc>
                <a:extLst>
                  <a:ext uri="{0D108BD9-81ED-4DB2-BD59-A6C34878D82A}">
                    <a16:rowId xmlns:a16="http://schemas.microsoft.com/office/drawing/2014/main" val="484667016"/>
                  </a:ext>
                </a:extLst>
              </a:tr>
              <a:tr h="173482">
                <a:tc rowSpan="4">
                  <a:txBody>
                    <a:bodyPr/>
                    <a:lstStyle/>
                    <a:p>
                      <a:pPr marL="0" marR="0" indent="0" algn="ctr" fontAlgn="base" latinLnBrk="0">
                        <a:lnSpc>
                          <a:spcPct val="130000"/>
                        </a:lnSpc>
                        <a:spcBef>
                          <a:spcPts val="0"/>
                        </a:spcBef>
                        <a:spcAft>
                          <a:spcPts val="0"/>
                        </a:spcAft>
                      </a:pPr>
                      <a:r>
                        <a:rPr lang="ko-KR" altLang="en-US" sz="1400" kern="1200"/>
                        <a:t>당사자계 심판</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a:solidFill>
                            <a:srgbClr val="FF0000"/>
                          </a:solidFill>
                        </a:rPr>
                        <a:t>심판청구서 각하결정</a:t>
                      </a:r>
                      <a:endParaRPr lang="ko-KR" altLang="en-US" sz="1400" kern="1200" dirty="0">
                        <a:solidFill>
                          <a:srgbClr val="FF0000"/>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err="1"/>
                        <a:t>심판청구인</a:t>
                      </a:r>
                      <a:endParaRPr lang="ko-KR" altLang="en-US" sz="1400" kern="1200" dirty="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a:t>지식재산처장</a:t>
                      </a:r>
                      <a:endParaRPr lang="ko-KR" altLang="en-US" sz="14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829831092"/>
                  </a:ext>
                </a:extLst>
              </a:tr>
              <a:tr h="173482">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dirty="0"/>
                        <a:t>심판청구 </a:t>
                      </a:r>
                      <a:r>
                        <a:rPr lang="ko-KR" altLang="en-US" sz="1400" kern="1200" dirty="0" err="1"/>
                        <a:t>각하심결</a:t>
                      </a:r>
                      <a:endParaRPr lang="ko-KR" altLang="en-US" sz="1400" kern="1200" dirty="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err="1"/>
                        <a:t>심판청구인</a:t>
                      </a:r>
                      <a:endParaRPr lang="ko-KR" altLang="en-US" sz="1400" kern="1200" dirty="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심판피청구인</a:t>
                      </a:r>
                      <a:endParaRPr lang="ko-KR" altLang="en-US" sz="1400" kern="120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3796930482"/>
                  </a:ext>
                </a:extLst>
              </a:tr>
              <a:tr h="173482">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dirty="0"/>
                        <a:t>심판청구 </a:t>
                      </a:r>
                      <a:r>
                        <a:rPr lang="ko-KR" altLang="en-US" sz="1400" kern="1200" dirty="0" err="1"/>
                        <a:t>인용심결</a:t>
                      </a:r>
                      <a:endParaRPr lang="ko-KR" altLang="en-US" sz="1400" kern="1200" dirty="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a:t>심판피청구인</a:t>
                      </a:r>
                      <a:endParaRPr lang="ko-KR" altLang="en-US" sz="1400" kern="1200" dirty="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심판청구인</a:t>
                      </a:r>
                      <a:endParaRPr lang="ko-KR" altLang="en-US" sz="1400" kern="120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316376450"/>
                  </a:ext>
                </a:extLst>
              </a:tr>
              <a:tr h="173482">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dirty="0"/>
                        <a:t>심판청구 </a:t>
                      </a:r>
                      <a:r>
                        <a:rPr lang="ko-KR" altLang="en-US" sz="1400" kern="1200" dirty="0" err="1"/>
                        <a:t>기각심결</a:t>
                      </a:r>
                      <a:endParaRPr lang="ko-KR" altLang="en-US" sz="1400" kern="1200" dirty="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err="1"/>
                        <a:t>심판청구인</a:t>
                      </a:r>
                      <a:endParaRPr lang="ko-KR" altLang="en-US" sz="1400" kern="1200" dirty="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심판피청구인</a:t>
                      </a:r>
                      <a:endParaRPr lang="ko-KR" altLang="en-US" sz="1400" kern="120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66992601"/>
                  </a:ext>
                </a:extLst>
              </a:tr>
              <a:tr h="173482">
                <a:tc rowSpan="4">
                  <a:txBody>
                    <a:bodyPr/>
                    <a:lstStyle/>
                    <a:p>
                      <a:pPr marL="0" marR="0" indent="0" algn="ctr" fontAlgn="base" latinLnBrk="0">
                        <a:lnSpc>
                          <a:spcPct val="130000"/>
                        </a:lnSpc>
                        <a:spcBef>
                          <a:spcPts val="0"/>
                        </a:spcBef>
                        <a:spcAft>
                          <a:spcPts val="0"/>
                        </a:spcAft>
                      </a:pPr>
                      <a:r>
                        <a:rPr lang="ko-KR" altLang="en-US" sz="1400" kern="1200"/>
                        <a:t>결정계 심판</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a:solidFill>
                            <a:srgbClr val="FF0000"/>
                          </a:solidFill>
                        </a:rPr>
                        <a:t>심판청구서 각하결정</a:t>
                      </a:r>
                      <a:endParaRPr lang="ko-KR" altLang="en-US" sz="1400" kern="1200" dirty="0">
                        <a:solidFill>
                          <a:srgbClr val="FF0000"/>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심판청구인</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a:t>지식재산처장</a:t>
                      </a:r>
                      <a:endParaRPr lang="ko-KR" altLang="en-US" sz="14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939720721"/>
                  </a:ext>
                </a:extLst>
              </a:tr>
              <a:tr h="173482">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dirty="0">
                          <a:solidFill>
                            <a:srgbClr val="FF0000"/>
                          </a:solidFill>
                        </a:rPr>
                        <a:t>심판청구 </a:t>
                      </a:r>
                      <a:r>
                        <a:rPr lang="ko-KR" altLang="en-US" sz="1400" kern="1200" dirty="0" err="1">
                          <a:solidFill>
                            <a:srgbClr val="FF0000"/>
                          </a:solidFill>
                        </a:rPr>
                        <a:t>각하심결</a:t>
                      </a:r>
                      <a:endParaRPr lang="ko-KR" altLang="en-US" sz="1400" kern="1200" dirty="0">
                        <a:solidFill>
                          <a:srgbClr val="FF0000"/>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심판청구인</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a:t>지식재산처장</a:t>
                      </a:r>
                      <a:endParaRPr lang="ko-KR" altLang="en-US" sz="14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10288350"/>
                  </a:ext>
                </a:extLst>
              </a:tr>
              <a:tr h="173482">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dirty="0"/>
                        <a:t>심판청구 </a:t>
                      </a:r>
                      <a:r>
                        <a:rPr lang="ko-KR" altLang="en-US" sz="1400" kern="1200" dirty="0" err="1"/>
                        <a:t>인용심결</a:t>
                      </a:r>
                      <a:endParaRPr lang="ko-KR" altLang="en-US" sz="1400" kern="1200" dirty="0">
                        <a:solidFill>
                          <a:schemeClr val="tx2"/>
                        </a:solidFill>
                        <a:latin typeface="+mn-lt"/>
                        <a:ea typeface="+mn-ea"/>
                        <a:cs typeface="+mn-cs"/>
                      </a:endParaRPr>
                    </a:p>
                  </a:txBody>
                  <a:tcPr marL="17907" marR="17907" marT="17907" marB="17907" anchor="ctr"/>
                </a:tc>
                <a:tc gridSpan="2">
                  <a:txBody>
                    <a:bodyPr/>
                    <a:lstStyle/>
                    <a:p>
                      <a:pPr marL="17780" marR="17780" indent="0" algn="ctr" fontAlgn="base" latinLnBrk="0">
                        <a:lnSpc>
                          <a:spcPct val="130000"/>
                        </a:lnSpc>
                        <a:spcBef>
                          <a:spcPts val="0"/>
                        </a:spcBef>
                        <a:spcAft>
                          <a:spcPts val="0"/>
                        </a:spcAft>
                      </a:pPr>
                      <a:r>
                        <a:rPr lang="ko-KR" altLang="en-US" sz="1400" kern="1200" dirty="0"/>
                        <a:t>불복</a:t>
                      </a:r>
                      <a:r>
                        <a:rPr lang="en-US" altLang="ko-KR" sz="1400" kern="1200" dirty="0"/>
                        <a:t>×</a:t>
                      </a:r>
                      <a:endParaRPr lang="ko-KR" altLang="en-US" sz="1400" kern="1200" dirty="0">
                        <a:solidFill>
                          <a:schemeClr val="tx2"/>
                        </a:solidFill>
                        <a:latin typeface="+mn-lt"/>
                        <a:ea typeface="+mn-ea"/>
                        <a:cs typeface="+mn-cs"/>
                      </a:endParaRPr>
                    </a:p>
                  </a:txBody>
                  <a:tcPr marL="17907" marR="17907" marT="17907" marB="17907" anchor="ctr"/>
                </a:tc>
                <a:tc hMerge="1">
                  <a:txBody>
                    <a:bodyPr/>
                    <a:lstStyle/>
                    <a:p>
                      <a:pPr latinLnBrk="1"/>
                      <a:endParaRPr lang="ko-KR" altLang="en-US"/>
                    </a:p>
                  </a:txBody>
                  <a:tcPr/>
                </a:tc>
                <a:extLst>
                  <a:ext uri="{0D108BD9-81ED-4DB2-BD59-A6C34878D82A}">
                    <a16:rowId xmlns:a16="http://schemas.microsoft.com/office/drawing/2014/main" val="4281709875"/>
                  </a:ext>
                </a:extLst>
              </a:tr>
              <a:tr h="173482">
                <a:tc vMerge="1">
                  <a:txBody>
                    <a:bodyPr/>
                    <a:lstStyle/>
                    <a:p>
                      <a:pPr latinLnBrk="1"/>
                      <a:endParaRPr lang="ko-KR" altLang="en-US"/>
                    </a:p>
                  </a:txBody>
                  <a:tcPr/>
                </a:tc>
                <a:tc>
                  <a:txBody>
                    <a:bodyPr/>
                    <a:lstStyle/>
                    <a:p>
                      <a:pPr marL="17780" marR="17780" indent="0" algn="ctr" fontAlgn="base" latinLnBrk="0">
                        <a:lnSpc>
                          <a:spcPct val="130000"/>
                        </a:lnSpc>
                        <a:spcBef>
                          <a:spcPts val="0"/>
                        </a:spcBef>
                        <a:spcAft>
                          <a:spcPts val="0"/>
                        </a:spcAft>
                      </a:pPr>
                      <a:r>
                        <a:rPr lang="ko-KR" altLang="en-US" sz="1400" kern="1200" dirty="0">
                          <a:solidFill>
                            <a:srgbClr val="FF0000"/>
                          </a:solidFill>
                        </a:rPr>
                        <a:t>심판청구 </a:t>
                      </a:r>
                      <a:r>
                        <a:rPr lang="ko-KR" altLang="en-US" sz="1400" kern="1200" dirty="0" err="1">
                          <a:solidFill>
                            <a:srgbClr val="FF0000"/>
                          </a:solidFill>
                        </a:rPr>
                        <a:t>기각심결</a:t>
                      </a:r>
                      <a:endParaRPr lang="ko-KR" altLang="en-US" sz="1400" kern="1200" dirty="0">
                        <a:solidFill>
                          <a:srgbClr val="FF0000"/>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a:t>심판청구인</a:t>
                      </a:r>
                      <a:endParaRPr lang="ko-KR" altLang="en-US" sz="1400" kern="1200">
                        <a:solidFill>
                          <a:schemeClr val="tx2"/>
                        </a:solidFill>
                        <a:latin typeface="+mn-lt"/>
                        <a:ea typeface="+mn-ea"/>
                        <a:cs typeface="+mn-cs"/>
                      </a:endParaRPr>
                    </a:p>
                  </a:txBody>
                  <a:tcPr marL="17907" marR="17907" marT="17907" marB="17907" anchor="ctr"/>
                </a:tc>
                <a:tc>
                  <a:txBody>
                    <a:bodyPr/>
                    <a:lstStyle/>
                    <a:p>
                      <a:pPr marL="17780" marR="17780" indent="0" algn="ctr" fontAlgn="base" latinLnBrk="0">
                        <a:lnSpc>
                          <a:spcPct val="130000"/>
                        </a:lnSpc>
                        <a:spcBef>
                          <a:spcPts val="0"/>
                        </a:spcBef>
                        <a:spcAft>
                          <a:spcPts val="0"/>
                        </a:spcAft>
                      </a:pPr>
                      <a:r>
                        <a:rPr lang="ko-KR" altLang="en-US" sz="1400" kern="1200" dirty="0"/>
                        <a:t>지식재산처장</a:t>
                      </a:r>
                      <a:endParaRPr lang="ko-KR" altLang="en-US" sz="1400" kern="1200" dirty="0">
                        <a:solidFill>
                          <a:schemeClr val="tx2"/>
                        </a:solidFill>
                        <a:latin typeface="+mn-lt"/>
                        <a:ea typeface="+mn-ea"/>
                        <a:cs typeface="+mn-cs"/>
                      </a:endParaRPr>
                    </a:p>
                  </a:txBody>
                  <a:tcPr marL="17907" marR="17907" marT="17907" marB="17907" anchor="ctr"/>
                </a:tc>
                <a:extLst>
                  <a:ext uri="{0D108BD9-81ED-4DB2-BD59-A6C34878D82A}">
                    <a16:rowId xmlns:a16="http://schemas.microsoft.com/office/drawing/2014/main" val="1006888354"/>
                  </a:ext>
                </a:extLst>
              </a:tr>
            </a:tbl>
          </a:graphicData>
        </a:graphic>
      </p:graphicFrame>
      <p:sp>
        <p:nvSpPr>
          <p:cNvPr id="4" name="슬라이드 번호 개체 틀 3"/>
          <p:cNvSpPr>
            <a:spLocks noGrp="1"/>
          </p:cNvSpPr>
          <p:nvPr>
            <p:ph type="sldNum" sz="quarter" idx="4294967295"/>
          </p:nvPr>
        </p:nvSpPr>
        <p:spPr>
          <a:xfrm>
            <a:off x="11125200" y="0"/>
            <a:ext cx="1066800" cy="711200"/>
          </a:xfrm>
        </p:spPr>
        <p:txBody>
          <a:bodyPr/>
          <a:lstStyle/>
          <a:p>
            <a:r>
              <a:rPr lang="en-US" altLang="ko-KR"/>
              <a:t>525</a:t>
            </a:r>
            <a:endParaRPr lang="ko-KR" altLang="en-US" dirty="0"/>
          </a:p>
        </p:txBody>
      </p:sp>
      <p:sp>
        <p:nvSpPr>
          <p:cNvPr id="7" name="직사각형 6">
            <a:extLst>
              <a:ext uri="{FF2B5EF4-FFF2-40B4-BE49-F238E27FC236}">
                <a16:creationId xmlns:a16="http://schemas.microsoft.com/office/drawing/2014/main" id="{FA288F37-F828-47FE-8F00-8EDEC65F986D}"/>
              </a:ext>
            </a:extLst>
          </p:cNvPr>
          <p:cNvSpPr/>
          <p:nvPr/>
        </p:nvSpPr>
        <p:spPr>
          <a:xfrm>
            <a:off x="1562058" y="1431984"/>
            <a:ext cx="6031048" cy="22084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TextBox 8">
            <a:extLst>
              <a:ext uri="{FF2B5EF4-FFF2-40B4-BE49-F238E27FC236}">
                <a16:creationId xmlns:a16="http://schemas.microsoft.com/office/drawing/2014/main" id="{7206F2F4-4B88-40B7-8E3C-01F7D8CEFA2C}"/>
              </a:ext>
            </a:extLst>
          </p:cNvPr>
          <p:cNvSpPr txBox="1"/>
          <p:nvPr/>
        </p:nvSpPr>
        <p:spPr>
          <a:xfrm>
            <a:off x="2311880" y="2076114"/>
            <a:ext cx="3446777" cy="307777"/>
          </a:xfrm>
          <a:prstGeom prst="rect">
            <a:avLst/>
          </a:prstGeom>
          <a:noFill/>
          <a:ln>
            <a:solidFill>
              <a:srgbClr val="FF0000"/>
            </a:solidFill>
          </a:ln>
        </p:spPr>
        <p:txBody>
          <a:bodyPr wrap="none" rtlCol="0">
            <a:spAutoFit/>
          </a:bodyPr>
          <a:lstStyle/>
          <a:p>
            <a:r>
              <a:rPr lang="ko-KR" altLang="en-US" sz="1400" dirty="0"/>
              <a:t>취소결정</a:t>
            </a:r>
            <a:r>
              <a:rPr lang="en-US" altLang="ko-KR" sz="1400" dirty="0"/>
              <a:t>, </a:t>
            </a:r>
            <a:r>
              <a:rPr lang="ko-KR" altLang="en-US" sz="1400" dirty="0" err="1"/>
              <a:t>결정계</a:t>
            </a:r>
            <a:r>
              <a:rPr lang="ko-KR" altLang="en-US" sz="1400" dirty="0"/>
              <a:t> 심판의 </a:t>
            </a:r>
            <a:r>
              <a:rPr lang="ko-KR" altLang="en-US" sz="1400" dirty="0" err="1"/>
              <a:t>심결</a:t>
            </a:r>
            <a:r>
              <a:rPr lang="en-US" altLang="ko-KR" sz="1400" dirty="0"/>
              <a:t>, </a:t>
            </a:r>
            <a:r>
              <a:rPr lang="ko-KR" altLang="en-US" sz="1400" dirty="0"/>
              <a:t>서의 각하결정</a:t>
            </a:r>
          </a:p>
        </p:txBody>
      </p:sp>
      <p:cxnSp>
        <p:nvCxnSpPr>
          <p:cNvPr id="11" name="직선 연결선 10">
            <a:extLst>
              <a:ext uri="{FF2B5EF4-FFF2-40B4-BE49-F238E27FC236}">
                <a16:creationId xmlns:a16="http://schemas.microsoft.com/office/drawing/2014/main" id="{6F9A0B44-0956-49AD-B2B5-0F5A15C4EAA3}"/>
              </a:ext>
            </a:extLst>
          </p:cNvPr>
          <p:cNvCxnSpPr>
            <a:cxnSpLocks/>
            <a:stCxn id="7" idx="2"/>
            <a:endCxn id="9" idx="0"/>
          </p:cNvCxnSpPr>
          <p:nvPr/>
        </p:nvCxnSpPr>
        <p:spPr>
          <a:xfrm flipH="1">
            <a:off x="4035269" y="1652824"/>
            <a:ext cx="542313" cy="423290"/>
          </a:xfrm>
          <a:prstGeom prst="line">
            <a:avLst/>
          </a:prstGeom>
          <a:ln w="28575">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79027455"/>
      </p:ext>
    </p:extLst>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187</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복수 당사자의 원피고 적격</a:t>
            </a:r>
          </a:p>
        </p:txBody>
      </p:sp>
      <p:graphicFrame>
        <p:nvGraphicFramePr>
          <p:cNvPr id="5" name="표 4">
            <a:extLst>
              <a:ext uri="{FF2B5EF4-FFF2-40B4-BE49-F238E27FC236}">
                <a16:creationId xmlns:a16="http://schemas.microsoft.com/office/drawing/2014/main" id="{E44843E6-A727-45AE-9330-63574D55F8C5}"/>
              </a:ext>
            </a:extLst>
          </p:cNvPr>
          <p:cNvGraphicFramePr>
            <a:graphicFrameLocks noGrp="1"/>
          </p:cNvGraphicFramePr>
          <p:nvPr/>
        </p:nvGraphicFramePr>
        <p:xfrm>
          <a:off x="590550" y="1304162"/>
          <a:ext cx="11068050" cy="4630811"/>
        </p:xfrm>
        <a:graphic>
          <a:graphicData uri="http://schemas.openxmlformats.org/drawingml/2006/table">
            <a:tbl>
              <a:tblPr>
                <a:tableStyleId>{8799B23B-EC83-4686-B30A-512413B5E67A}</a:tableStyleId>
              </a:tblPr>
              <a:tblGrid>
                <a:gridCol w="1920401">
                  <a:extLst>
                    <a:ext uri="{9D8B030D-6E8A-4147-A177-3AD203B41FA5}">
                      <a16:colId xmlns:a16="http://schemas.microsoft.com/office/drawing/2014/main" val="1786503385"/>
                    </a:ext>
                  </a:extLst>
                </a:gridCol>
                <a:gridCol w="5748291">
                  <a:extLst>
                    <a:ext uri="{9D8B030D-6E8A-4147-A177-3AD203B41FA5}">
                      <a16:colId xmlns:a16="http://schemas.microsoft.com/office/drawing/2014/main" val="3044541518"/>
                    </a:ext>
                  </a:extLst>
                </a:gridCol>
                <a:gridCol w="3399358">
                  <a:extLst>
                    <a:ext uri="{9D8B030D-6E8A-4147-A177-3AD203B41FA5}">
                      <a16:colId xmlns:a16="http://schemas.microsoft.com/office/drawing/2014/main" val="692515153"/>
                    </a:ext>
                  </a:extLst>
                </a:gridCol>
              </a:tblGrid>
              <a:tr h="321141">
                <a:tc>
                  <a:txBody>
                    <a:bodyPr/>
                    <a:lstStyle/>
                    <a:p>
                      <a:pPr marL="0" marR="0" indent="0" algn="ctr" fontAlgn="base" latinLnBrk="0">
                        <a:lnSpc>
                          <a:spcPct val="130000"/>
                        </a:lnSpc>
                        <a:spcBef>
                          <a:spcPts val="0"/>
                        </a:spcBef>
                        <a:spcAft>
                          <a:spcPts val="0"/>
                        </a:spcAft>
                      </a:pPr>
                      <a:r>
                        <a:rPr lang="ko-KR" altLang="en-US" sz="1400" kern="0" spc="-100" dirty="0">
                          <a:effectLst/>
                        </a:rPr>
                        <a:t>구 분</a:t>
                      </a:r>
                      <a:endParaRPr lang="ko-KR" altLang="en-US" sz="1400" kern="0" spc="-100" dirty="0">
                        <a:solidFill>
                          <a:srgbClr val="000000"/>
                        </a:solidFill>
                        <a:effectLst/>
                        <a:latin typeface="+mn-ea"/>
                        <a:ea typeface="+mn-ea"/>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0" spc="-100" dirty="0">
                          <a:effectLst/>
                        </a:rPr>
                        <a:t>원 고</a:t>
                      </a:r>
                      <a:endParaRPr lang="ko-KR" altLang="en-US" sz="1400" kern="0" spc="-100" dirty="0">
                        <a:solidFill>
                          <a:srgbClr val="000000"/>
                        </a:solidFill>
                        <a:effectLst/>
                        <a:latin typeface="+mn-ea"/>
                        <a:ea typeface="+mn-ea"/>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0" spc="-100" dirty="0">
                          <a:effectLst/>
                        </a:rPr>
                        <a:t>피 고</a:t>
                      </a:r>
                      <a:endParaRPr lang="ko-KR" altLang="en-US" sz="1400" kern="0" spc="-100" dirty="0">
                        <a:solidFill>
                          <a:srgbClr val="000000"/>
                        </a:solidFill>
                        <a:effectLst/>
                        <a:latin typeface="+mn-ea"/>
                        <a:ea typeface="+mn-ea"/>
                      </a:endParaRPr>
                    </a:p>
                  </a:txBody>
                  <a:tcPr marL="72000" marR="72000" marT="17907" marB="17907" anchor="ctr">
                    <a:solidFill>
                      <a:schemeClr val="accent1">
                        <a:lumMod val="20000"/>
                        <a:lumOff val="80000"/>
                      </a:schemeClr>
                    </a:solidFill>
                  </a:tcPr>
                </a:tc>
                <a:extLst>
                  <a:ext uri="{0D108BD9-81ED-4DB2-BD59-A6C34878D82A}">
                    <a16:rowId xmlns:a16="http://schemas.microsoft.com/office/drawing/2014/main" val="4175247145"/>
                  </a:ext>
                </a:extLst>
              </a:tr>
              <a:tr h="2460311">
                <a:tc>
                  <a:txBody>
                    <a:bodyPr/>
                    <a:lstStyle/>
                    <a:p>
                      <a:pPr marL="0" marR="0" indent="0" algn="ctr" fontAlgn="base" latinLnBrk="0">
                        <a:lnSpc>
                          <a:spcPct val="130000"/>
                        </a:lnSpc>
                        <a:spcBef>
                          <a:spcPts val="0"/>
                        </a:spcBef>
                        <a:spcAft>
                          <a:spcPts val="0"/>
                        </a:spcAft>
                      </a:pPr>
                      <a:r>
                        <a:rPr lang="ko-KR" altLang="en-US" sz="1400" kern="0" spc="-100" dirty="0" err="1">
                          <a:effectLst/>
                        </a:rPr>
                        <a:t>공유특허권자</a:t>
                      </a:r>
                      <a:r>
                        <a:rPr lang="ko-KR" altLang="en-US" sz="1400" kern="0" spc="-100" dirty="0">
                          <a:effectLst/>
                        </a:rPr>
                        <a:t> 중 </a:t>
                      </a:r>
                      <a:r>
                        <a:rPr lang="en-US" altLang="ko-KR" sz="1400" kern="0" spc="-100" dirty="0">
                          <a:effectLst/>
                        </a:rPr>
                        <a:t>1</a:t>
                      </a:r>
                      <a:r>
                        <a:rPr lang="ko-KR" altLang="en-US" sz="1400" kern="0" spc="-100" dirty="0">
                          <a:effectLst/>
                        </a:rPr>
                        <a:t>명</a:t>
                      </a:r>
                      <a:endParaRPr lang="ko-KR" altLang="en-US" sz="1400" kern="0" spc="-100" dirty="0">
                        <a:solidFill>
                          <a:srgbClr val="000000"/>
                        </a:solidFill>
                        <a:effectLst/>
                        <a:latin typeface="+mn-ea"/>
                        <a:ea typeface="+mn-ea"/>
                      </a:endParaRPr>
                    </a:p>
                  </a:txBody>
                  <a:tcPr marL="72000" marR="72000" marT="17907" marB="17907"/>
                </a:tc>
                <a:tc>
                  <a:txBody>
                    <a:bodyPr/>
                    <a:lstStyle/>
                    <a:p>
                      <a:pPr marL="17780" marR="17780" indent="0" algn="just" fontAlgn="base" latinLnBrk="1">
                        <a:lnSpc>
                          <a:spcPct val="130000"/>
                        </a:lnSpc>
                        <a:spcBef>
                          <a:spcPts val="0"/>
                        </a:spcBef>
                        <a:spcAft>
                          <a:spcPts val="0"/>
                        </a:spcAft>
                      </a:pPr>
                      <a:r>
                        <a:rPr lang="ko-KR" altLang="en-US" sz="1400" kern="0" spc="-50" dirty="0">
                          <a:solidFill>
                            <a:srgbClr val="FF0000"/>
                          </a:solidFill>
                          <a:effectLst/>
                        </a:rPr>
                        <a:t>判例가 긍정 </a:t>
                      </a:r>
                      <a:endParaRPr lang="en-US" altLang="ko-KR" sz="1400" kern="0" spc="-50" dirty="0">
                        <a:solidFill>
                          <a:srgbClr val="FF0000"/>
                        </a:solidFill>
                        <a:effectLst/>
                      </a:endParaRPr>
                    </a:p>
                    <a:p>
                      <a:pPr marL="360680" marR="17780" indent="-342900" algn="just" fontAlgn="base" latinLnBrk="1">
                        <a:lnSpc>
                          <a:spcPct val="130000"/>
                        </a:lnSpc>
                        <a:spcBef>
                          <a:spcPts val="0"/>
                        </a:spcBef>
                        <a:spcAft>
                          <a:spcPts val="0"/>
                        </a:spcAft>
                        <a:buAutoNum type="arabicParenBoth"/>
                      </a:pPr>
                      <a:r>
                        <a:rPr lang="ko-KR" altLang="en-US" sz="1400" kern="0" spc="-50" dirty="0">
                          <a:effectLst/>
                        </a:rPr>
                        <a:t>다른 공유자의 이익을 </a:t>
                      </a:r>
                      <a:r>
                        <a:rPr lang="ko-KR" altLang="en-US" sz="1400" kern="0" spc="-50" dirty="0" err="1">
                          <a:effectLst/>
                        </a:rPr>
                        <a:t>해한다거나</a:t>
                      </a:r>
                      <a:r>
                        <a:rPr lang="ko-KR" altLang="en-US" sz="1400" kern="0" spc="-50" dirty="0">
                          <a:effectLst/>
                        </a:rPr>
                        <a:t> </a:t>
                      </a:r>
                      <a:r>
                        <a:rPr lang="ko-KR" altLang="en-US" sz="1400" kern="0" spc="-50" dirty="0">
                          <a:solidFill>
                            <a:srgbClr val="FF0000"/>
                          </a:solidFill>
                          <a:effectLst/>
                        </a:rPr>
                        <a:t>합일확정</a:t>
                      </a:r>
                      <a:r>
                        <a:rPr lang="ko-KR" altLang="en-US" sz="1400" kern="0" spc="-50" dirty="0">
                          <a:effectLst/>
                        </a:rPr>
                        <a:t>의 요청에 반하는 사태가 생긴다고 볼 수 없기 때문</a:t>
                      </a:r>
                      <a:r>
                        <a:rPr lang="en-US" altLang="ko-KR" sz="1400" kern="0" spc="-50" dirty="0">
                          <a:effectLst/>
                        </a:rPr>
                        <a:t>(</a:t>
                      </a:r>
                      <a:r>
                        <a:rPr lang="ko-KR" altLang="en-US" sz="1400" kern="0" spc="-50" dirty="0">
                          <a:effectLst/>
                        </a:rPr>
                        <a:t>승소할 경우에는 그 취소판결의 효력은 행정소송법 제</a:t>
                      </a:r>
                      <a:r>
                        <a:rPr lang="en-US" altLang="ko-KR" sz="1400" kern="0" spc="-50" dirty="0">
                          <a:effectLst/>
                        </a:rPr>
                        <a:t>29</a:t>
                      </a:r>
                      <a:r>
                        <a:rPr lang="ko-KR" altLang="en-US" sz="1400" kern="0" spc="-50" dirty="0">
                          <a:effectLst/>
                        </a:rPr>
                        <a:t>조제</a:t>
                      </a:r>
                      <a:r>
                        <a:rPr lang="en-US" altLang="ko-KR" sz="1400" kern="0" spc="-50" dirty="0">
                          <a:effectLst/>
                        </a:rPr>
                        <a:t>1</a:t>
                      </a:r>
                      <a:r>
                        <a:rPr lang="ko-KR" altLang="en-US" sz="1400" kern="0" spc="-50" dirty="0">
                          <a:effectLst/>
                        </a:rPr>
                        <a:t>항에 의하여 다른 공유자에게도 미쳐 특허심판원에서 공유자 모두와의 관계에서 심판절차가 재개됨으로써 충족되고</a:t>
                      </a:r>
                      <a:r>
                        <a:rPr lang="en-US" altLang="ko-KR" sz="1400" kern="0" spc="-50" dirty="0">
                          <a:effectLst/>
                        </a:rPr>
                        <a:t>, </a:t>
                      </a:r>
                      <a:r>
                        <a:rPr lang="ko-KR" altLang="en-US" sz="1400" kern="0" spc="-50" dirty="0">
                          <a:effectLst/>
                        </a:rPr>
                        <a:t>그 소송에서 패소하더라도 이미 심판절차에서 패소한 다른 공유자의 권리에 영향을 미치지 아니함</a:t>
                      </a:r>
                      <a:r>
                        <a:rPr lang="en-US" altLang="ko-KR" sz="1400" kern="0" spc="-50" dirty="0">
                          <a:effectLst/>
                        </a:rPr>
                        <a:t>)</a:t>
                      </a:r>
                    </a:p>
                    <a:p>
                      <a:pPr marL="360680" marR="17780" indent="-342900" algn="just" fontAlgn="base" latinLnBrk="1">
                        <a:lnSpc>
                          <a:spcPct val="130000"/>
                        </a:lnSpc>
                        <a:spcBef>
                          <a:spcPts val="0"/>
                        </a:spcBef>
                        <a:spcAft>
                          <a:spcPts val="0"/>
                        </a:spcAft>
                        <a:buAutoNum type="arabicParenBoth"/>
                      </a:pPr>
                      <a:r>
                        <a:rPr lang="ko-KR" altLang="en-US" sz="1400" kern="0" spc="-50" dirty="0">
                          <a:solidFill>
                            <a:srgbClr val="000000"/>
                          </a:solidFill>
                          <a:effectLst/>
                          <a:latin typeface="+mn-ea"/>
                          <a:ea typeface="+mn-ea"/>
                        </a:rPr>
                        <a:t>모두가 제기해야 한다면 소 제기에 협력할 수 없거나 이해관계가 달라 협력하지 않은 경우에 소 제기를 할 수 없어 부당하게 재산권 침해 </a:t>
                      </a:r>
                      <a:endParaRPr lang="en-US" altLang="ko-KR" sz="1400" kern="0" spc="-50" dirty="0">
                        <a:solidFill>
                          <a:srgbClr val="000000"/>
                        </a:solidFill>
                        <a:effectLst/>
                        <a:latin typeface="+mn-ea"/>
                        <a:ea typeface="+mn-ea"/>
                      </a:endParaRPr>
                    </a:p>
                  </a:txBody>
                  <a:tcPr marL="72000" marR="72000" marT="17907" marB="17907"/>
                </a:tc>
                <a:tc>
                  <a:txBody>
                    <a:bodyPr/>
                    <a:lstStyle/>
                    <a:p>
                      <a:pPr marL="17780" marR="17780" indent="0" algn="just" fontAlgn="base" latinLnBrk="1">
                        <a:lnSpc>
                          <a:spcPct val="130000"/>
                        </a:lnSpc>
                        <a:spcBef>
                          <a:spcPts val="0"/>
                        </a:spcBef>
                        <a:spcAft>
                          <a:spcPts val="0"/>
                        </a:spcAft>
                      </a:pPr>
                      <a:r>
                        <a:rPr lang="ko-KR" altLang="en-US" sz="1400" kern="0" spc="-50" dirty="0">
                          <a:solidFill>
                            <a:schemeClr val="accent1"/>
                          </a:solidFill>
                          <a:effectLst/>
                        </a:rPr>
                        <a:t>判例가 부정 </a:t>
                      </a:r>
                      <a:endParaRPr lang="en-US" altLang="ko-KR" sz="1400" kern="0" spc="-50" dirty="0">
                        <a:solidFill>
                          <a:schemeClr val="accent1"/>
                        </a:solidFill>
                        <a:effectLst/>
                      </a:endParaRPr>
                    </a:p>
                    <a:p>
                      <a:pPr marL="17780" marR="17780" indent="0" algn="just" fontAlgn="base" latinLnBrk="1">
                        <a:lnSpc>
                          <a:spcPct val="130000"/>
                        </a:lnSpc>
                        <a:spcBef>
                          <a:spcPts val="0"/>
                        </a:spcBef>
                        <a:spcAft>
                          <a:spcPts val="0"/>
                        </a:spcAft>
                      </a:pPr>
                      <a:r>
                        <a:rPr lang="ko-KR" altLang="en-US" sz="1400" kern="0" spc="-50" dirty="0">
                          <a:effectLst/>
                        </a:rPr>
                        <a:t>모두를 대상으로 하여야 한다고 해석하더라도 공유자가 원고인 경우와 달리 특별히 부당한 결과가 발생하는 것이 아니기 때문</a:t>
                      </a:r>
                      <a:endParaRPr lang="ko-KR" altLang="en-US" sz="1400" kern="0" spc="-50" dirty="0">
                        <a:solidFill>
                          <a:srgbClr val="000000"/>
                        </a:solidFill>
                        <a:effectLst/>
                        <a:latin typeface="+mn-ea"/>
                        <a:ea typeface="+mn-ea"/>
                      </a:endParaRPr>
                    </a:p>
                  </a:txBody>
                  <a:tcPr marL="72000" marR="72000" marT="17907" marB="17907"/>
                </a:tc>
                <a:extLst>
                  <a:ext uri="{0D108BD9-81ED-4DB2-BD59-A6C34878D82A}">
                    <a16:rowId xmlns:a16="http://schemas.microsoft.com/office/drawing/2014/main" val="1513073221"/>
                  </a:ext>
                </a:extLst>
              </a:tr>
              <a:tr h="1849359">
                <a:tc>
                  <a:txBody>
                    <a:bodyPr/>
                    <a:lstStyle/>
                    <a:p>
                      <a:pPr marL="0" marR="0" indent="0" algn="ctr" fontAlgn="base" latinLnBrk="0">
                        <a:lnSpc>
                          <a:spcPct val="130000"/>
                        </a:lnSpc>
                        <a:spcBef>
                          <a:spcPts val="0"/>
                        </a:spcBef>
                        <a:spcAft>
                          <a:spcPts val="0"/>
                        </a:spcAft>
                      </a:pPr>
                      <a:r>
                        <a:rPr lang="ko-KR" altLang="en-US" sz="1400" kern="0" spc="-100" dirty="0">
                          <a:effectLst/>
                        </a:rPr>
                        <a:t>공동심판청구인 중 </a:t>
                      </a:r>
                      <a:r>
                        <a:rPr lang="en-US" altLang="ko-KR" sz="1400" kern="0" spc="-100" dirty="0">
                          <a:effectLst/>
                        </a:rPr>
                        <a:t>1</a:t>
                      </a:r>
                      <a:r>
                        <a:rPr lang="ko-KR" altLang="en-US" sz="1400" kern="0" spc="-100" dirty="0">
                          <a:effectLst/>
                        </a:rPr>
                        <a:t>명</a:t>
                      </a:r>
                      <a:endParaRPr lang="ko-KR" altLang="en-US" sz="1400" kern="0" spc="-100" dirty="0">
                        <a:solidFill>
                          <a:srgbClr val="000000"/>
                        </a:solidFill>
                        <a:effectLst/>
                        <a:latin typeface="+mn-ea"/>
                        <a:ea typeface="+mn-ea"/>
                      </a:endParaRPr>
                    </a:p>
                  </a:txBody>
                  <a:tcPr marL="72000" marR="72000" marT="17907" marB="17907"/>
                </a:tc>
                <a:tc>
                  <a:txBody>
                    <a:bodyPr/>
                    <a:lstStyle/>
                    <a:p>
                      <a:pPr marL="17780" marR="17780" indent="0" algn="just" fontAlgn="base" latinLnBrk="1">
                        <a:lnSpc>
                          <a:spcPct val="130000"/>
                        </a:lnSpc>
                        <a:spcBef>
                          <a:spcPts val="0"/>
                        </a:spcBef>
                        <a:spcAft>
                          <a:spcPts val="0"/>
                        </a:spcAft>
                      </a:pPr>
                      <a:r>
                        <a:rPr lang="ko-KR" altLang="en-US" sz="1400" kern="0" spc="-50" dirty="0">
                          <a:solidFill>
                            <a:srgbClr val="FF0000"/>
                          </a:solidFill>
                          <a:effectLst/>
                        </a:rPr>
                        <a:t>학설이 긍정 </a:t>
                      </a:r>
                      <a:endParaRPr lang="en-US" altLang="ko-KR" sz="1400" kern="0" spc="-50" dirty="0">
                        <a:solidFill>
                          <a:srgbClr val="FF0000"/>
                        </a:solidFill>
                        <a:effectLst/>
                      </a:endParaRPr>
                    </a:p>
                    <a:p>
                      <a:pPr marL="17780" marR="17780" indent="0" algn="just" fontAlgn="base" latinLnBrk="1">
                        <a:lnSpc>
                          <a:spcPct val="130000"/>
                        </a:lnSpc>
                        <a:spcBef>
                          <a:spcPts val="0"/>
                        </a:spcBef>
                        <a:spcAft>
                          <a:spcPts val="0"/>
                        </a:spcAft>
                      </a:pPr>
                      <a:r>
                        <a:rPr lang="ko-KR" altLang="en-US" sz="1400" kern="0" spc="-50" dirty="0" err="1">
                          <a:effectLst/>
                        </a:rPr>
                        <a:t>심결이</a:t>
                      </a:r>
                      <a:r>
                        <a:rPr lang="ko-KR" altLang="en-US" sz="1400" kern="0" spc="-50" dirty="0">
                          <a:effectLst/>
                        </a:rPr>
                        <a:t> 있은 후 공동심판청구인 모두에 대하여 출소기간이 지나야 </a:t>
                      </a:r>
                      <a:r>
                        <a:rPr lang="ko-KR" altLang="en-US" sz="1400" kern="0" spc="-50" dirty="0" err="1">
                          <a:effectLst/>
                        </a:rPr>
                        <a:t>심결이</a:t>
                      </a:r>
                      <a:r>
                        <a:rPr lang="ko-KR" altLang="en-US" sz="1400" kern="0" spc="-50" dirty="0">
                          <a:effectLst/>
                        </a:rPr>
                        <a:t> 확정되므로 </a:t>
                      </a:r>
                      <a:r>
                        <a:rPr lang="en-US" altLang="ko-KR" sz="1400" kern="0" spc="-50" dirty="0">
                          <a:effectLst/>
                        </a:rPr>
                        <a:t>1</a:t>
                      </a:r>
                      <a:r>
                        <a:rPr lang="ko-KR" altLang="en-US" sz="1400" kern="0" spc="-50" dirty="0">
                          <a:effectLst/>
                        </a:rPr>
                        <a:t>명이라도 </a:t>
                      </a:r>
                      <a:r>
                        <a:rPr lang="ko-KR" altLang="en-US" sz="1400" kern="0" spc="-50" dirty="0" err="1">
                          <a:effectLst/>
                        </a:rPr>
                        <a:t>심결취소소송을</a:t>
                      </a:r>
                      <a:r>
                        <a:rPr lang="ko-KR" altLang="en-US" sz="1400" kern="0" spc="-50" dirty="0">
                          <a:effectLst/>
                        </a:rPr>
                        <a:t> 제기하면 </a:t>
                      </a:r>
                      <a:r>
                        <a:rPr lang="ko-KR" altLang="en-US" sz="1400" kern="0" spc="-50" dirty="0" err="1">
                          <a:effectLst/>
                        </a:rPr>
                        <a:t>심결은</a:t>
                      </a:r>
                      <a:r>
                        <a:rPr lang="ko-KR" altLang="en-US" sz="1400" kern="0" spc="-50" dirty="0">
                          <a:effectLst/>
                        </a:rPr>
                        <a:t> 확정되지 않고</a:t>
                      </a:r>
                      <a:r>
                        <a:rPr lang="en-US" altLang="ko-KR" sz="1400" kern="0" spc="-50" dirty="0">
                          <a:effectLst/>
                        </a:rPr>
                        <a:t>, </a:t>
                      </a:r>
                      <a:r>
                        <a:rPr lang="ko-KR" altLang="en-US" sz="1400" kern="0" spc="-50" dirty="0">
                          <a:effectLst/>
                        </a:rPr>
                        <a:t>출소기간을 지난 공동심판청구인은 스스로 </a:t>
                      </a:r>
                      <a:r>
                        <a:rPr lang="ko-KR" altLang="en-US" sz="1400" kern="0" spc="-50" dirty="0" err="1">
                          <a:effectLst/>
                        </a:rPr>
                        <a:t>심결취소소송을</a:t>
                      </a:r>
                      <a:r>
                        <a:rPr lang="ko-KR" altLang="en-US" sz="1400" kern="0" spc="-50" dirty="0">
                          <a:effectLst/>
                        </a:rPr>
                        <a:t> 제기할 수는 없지만</a:t>
                      </a:r>
                      <a:r>
                        <a:rPr lang="en-US" altLang="ko-KR" sz="1400" kern="0" spc="-50" dirty="0">
                          <a:effectLst/>
                        </a:rPr>
                        <a:t>, </a:t>
                      </a:r>
                      <a:r>
                        <a:rPr lang="ko-KR" altLang="en-US" sz="1400" kern="0" spc="-50" dirty="0" err="1">
                          <a:effectLst/>
                        </a:rPr>
                        <a:t>심결이</a:t>
                      </a:r>
                      <a:r>
                        <a:rPr lang="ko-KR" altLang="en-US" sz="1400" kern="0" spc="-50" dirty="0">
                          <a:effectLst/>
                        </a:rPr>
                        <a:t> 확정되지는 않았으므로 승소의 확정판결에 의하여 다시 심판이 계속되면 그 심판에서 </a:t>
                      </a:r>
                      <a:r>
                        <a:rPr lang="ko-KR" altLang="en-US" sz="1400" kern="0" spc="-50" dirty="0" err="1">
                          <a:effectLst/>
                        </a:rPr>
                        <a:t>심결취소소송을</a:t>
                      </a:r>
                      <a:r>
                        <a:rPr lang="ko-KR" altLang="en-US" sz="1400" kern="0" spc="-50" dirty="0">
                          <a:effectLst/>
                        </a:rPr>
                        <a:t> 제기하지 아니한 공동심판청구인도 심판청구인의 지위를 유지</a:t>
                      </a:r>
                      <a:endParaRPr lang="ko-KR" altLang="en-US" sz="1400" kern="0" spc="-50" dirty="0">
                        <a:solidFill>
                          <a:srgbClr val="000000"/>
                        </a:solidFill>
                        <a:effectLst/>
                        <a:latin typeface="+mn-ea"/>
                        <a:ea typeface="+mn-ea"/>
                      </a:endParaRPr>
                    </a:p>
                  </a:txBody>
                  <a:tcPr marL="72000" marR="72000" marT="17907" marB="17907"/>
                </a:tc>
                <a:tc>
                  <a:txBody>
                    <a:bodyPr/>
                    <a:lstStyle/>
                    <a:p>
                      <a:pPr marL="17780" marR="17780" indent="0" algn="just" fontAlgn="base" latinLnBrk="1">
                        <a:lnSpc>
                          <a:spcPct val="130000"/>
                        </a:lnSpc>
                        <a:spcBef>
                          <a:spcPts val="0"/>
                        </a:spcBef>
                        <a:spcAft>
                          <a:spcPts val="0"/>
                        </a:spcAft>
                      </a:pPr>
                      <a:r>
                        <a:rPr lang="ko-KR" altLang="en-US" sz="1400" kern="0" spc="-50" dirty="0">
                          <a:solidFill>
                            <a:srgbClr val="FF0000"/>
                          </a:solidFill>
                          <a:effectLst/>
                        </a:rPr>
                        <a:t>判例가 긍정</a:t>
                      </a:r>
                      <a:endParaRPr lang="en-US" altLang="ko-KR" sz="1400" kern="0" spc="-50" dirty="0">
                        <a:solidFill>
                          <a:srgbClr val="FF0000"/>
                        </a:solidFill>
                        <a:effectLst/>
                      </a:endParaRPr>
                    </a:p>
                    <a:p>
                      <a:pPr marL="360680" marR="17780" indent="-342900" algn="just" fontAlgn="base" latinLnBrk="1">
                        <a:lnSpc>
                          <a:spcPct val="130000"/>
                        </a:lnSpc>
                        <a:spcBef>
                          <a:spcPts val="0"/>
                        </a:spcBef>
                        <a:spcAft>
                          <a:spcPts val="0"/>
                        </a:spcAft>
                        <a:buAutoNum type="arabicParenBoth"/>
                      </a:pPr>
                      <a:r>
                        <a:rPr lang="en-US" altLang="ko-KR" sz="1400" kern="0" spc="-50" dirty="0">
                          <a:effectLst/>
                        </a:rPr>
                        <a:t>1</a:t>
                      </a:r>
                      <a:r>
                        <a:rPr lang="ko-KR" altLang="en-US" sz="1400" kern="0" spc="-50" dirty="0">
                          <a:effectLst/>
                        </a:rPr>
                        <a:t>명의 피고를 상대로 </a:t>
                      </a:r>
                      <a:r>
                        <a:rPr lang="ko-KR" altLang="en-US" sz="1400" kern="0" spc="-50" dirty="0" err="1">
                          <a:effectLst/>
                        </a:rPr>
                        <a:t>심결취소소송을</a:t>
                      </a:r>
                      <a:r>
                        <a:rPr lang="ko-KR" altLang="en-US" sz="1400" kern="0" spc="-50" dirty="0">
                          <a:effectLst/>
                        </a:rPr>
                        <a:t> 제기함으로써 그 </a:t>
                      </a:r>
                      <a:r>
                        <a:rPr lang="ko-KR" altLang="en-US" sz="1400" kern="0" spc="-50" dirty="0" err="1">
                          <a:effectLst/>
                        </a:rPr>
                        <a:t>심결은</a:t>
                      </a:r>
                      <a:r>
                        <a:rPr lang="ko-KR" altLang="en-US" sz="1400" kern="0" spc="-50" dirty="0">
                          <a:effectLst/>
                        </a:rPr>
                        <a:t> 확정되지 아니한 것이 되고</a:t>
                      </a:r>
                      <a:r>
                        <a:rPr lang="en-US" altLang="ko-KR" sz="1400" kern="0" spc="-50" dirty="0">
                          <a:effectLst/>
                        </a:rPr>
                        <a:t>, </a:t>
                      </a:r>
                      <a:r>
                        <a:rPr lang="ko-KR" altLang="en-US" sz="1400" kern="0" spc="-50" dirty="0">
                          <a:effectLst/>
                        </a:rPr>
                        <a:t>원고가 패소판결이 확정된 경우에만 비로소 </a:t>
                      </a:r>
                      <a:r>
                        <a:rPr lang="ko-KR" altLang="en-US" sz="1400" kern="0" spc="-50" dirty="0" err="1">
                          <a:effectLst/>
                        </a:rPr>
                        <a:t>심결이</a:t>
                      </a:r>
                      <a:r>
                        <a:rPr lang="ko-KR" altLang="en-US" sz="1400" kern="0" spc="-50" dirty="0">
                          <a:effectLst/>
                        </a:rPr>
                        <a:t> 확정됨 </a:t>
                      </a:r>
                      <a:endParaRPr lang="en-US" altLang="ko-KR" sz="1400" kern="0" spc="-50" dirty="0">
                        <a:solidFill>
                          <a:srgbClr val="FF0000"/>
                        </a:solidFill>
                        <a:effectLst/>
                      </a:endParaRPr>
                    </a:p>
                    <a:p>
                      <a:pPr marL="360680" marR="17780" indent="-342900" algn="just" fontAlgn="base" latinLnBrk="1">
                        <a:lnSpc>
                          <a:spcPct val="130000"/>
                        </a:lnSpc>
                        <a:spcBef>
                          <a:spcPts val="0"/>
                        </a:spcBef>
                        <a:spcAft>
                          <a:spcPts val="0"/>
                        </a:spcAft>
                        <a:buAutoNum type="arabicParenBoth"/>
                      </a:pPr>
                      <a:r>
                        <a:rPr lang="ko-KR" altLang="en-US" sz="1400" kern="0" spc="-50" dirty="0">
                          <a:solidFill>
                            <a:srgbClr val="000000"/>
                          </a:solidFill>
                          <a:effectLst/>
                          <a:latin typeface="+mn-ea"/>
                          <a:ea typeface="+mn-ea"/>
                        </a:rPr>
                        <a:t>나머지 피고를 추가하는 보정 불인정</a:t>
                      </a:r>
                    </a:p>
                  </a:txBody>
                  <a:tcPr marL="72000" marR="72000" marT="17907" marB="17907"/>
                </a:tc>
                <a:extLst>
                  <a:ext uri="{0D108BD9-81ED-4DB2-BD59-A6C34878D82A}">
                    <a16:rowId xmlns:a16="http://schemas.microsoft.com/office/drawing/2014/main" val="941126666"/>
                  </a:ext>
                </a:extLst>
              </a:tr>
            </a:tbl>
          </a:graphicData>
        </a:graphic>
      </p:graphicFrame>
    </p:spTree>
    <p:extLst>
      <p:ext uri="{BB962C8B-B14F-4D97-AF65-F5344CB8AC3E}">
        <p14:creationId xmlns:p14="http://schemas.microsoft.com/office/powerpoint/2010/main" val="1985539542"/>
      </p:ext>
    </p:extLst>
  </p:cSld>
  <p:clrMapOvr>
    <a:masterClrMapping/>
  </p:clrMapOvr>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양쪽 모서리가 둥근 사각형 160">
            <a:extLst>
              <a:ext uri="{FF2B5EF4-FFF2-40B4-BE49-F238E27FC236}">
                <a16:creationId xmlns:a16="http://schemas.microsoft.com/office/drawing/2014/main" id="{9459E056-6850-487C-ADDF-31BD5C8D8676}"/>
              </a:ext>
            </a:extLst>
          </p:cNvPr>
          <p:cNvSpPr/>
          <p:nvPr/>
        </p:nvSpPr>
        <p:spPr>
          <a:xfrm>
            <a:off x="5827544" y="3741503"/>
            <a:ext cx="2123113" cy="363303"/>
          </a:xfrm>
          <a:prstGeom prst="round2SameRect">
            <a:avLst>
              <a:gd name="adj1" fmla="val 50000"/>
              <a:gd name="adj2" fmla="val 0"/>
            </a:avLst>
          </a:prstGeom>
          <a:pattFill prst="dot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5" name="Line 5">
            <a:extLst>
              <a:ext uri="{FF2B5EF4-FFF2-40B4-BE49-F238E27FC236}">
                <a16:creationId xmlns:a16="http://schemas.microsoft.com/office/drawing/2014/main" id="{89A7BBA8-4E00-44C3-A470-536BA2A58222}"/>
              </a:ext>
            </a:extLst>
          </p:cNvPr>
          <p:cNvSpPr>
            <a:spLocks noChangeShapeType="1"/>
          </p:cNvSpPr>
          <p:nvPr/>
        </p:nvSpPr>
        <p:spPr bwMode="auto">
          <a:xfrm>
            <a:off x="607658" y="4091306"/>
            <a:ext cx="10943112"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2" name="제목 1"/>
          <p:cNvSpPr>
            <a:spLocks noGrp="1"/>
          </p:cNvSpPr>
          <p:nvPr>
            <p:ph type="title"/>
          </p:nvPr>
        </p:nvSpPr>
        <p:spPr/>
        <p:txBody>
          <a:bodyPr/>
          <a:lstStyle/>
          <a:p>
            <a:r>
              <a:rPr lang="ko-KR" altLang="en-US" dirty="0"/>
              <a:t>제</a:t>
            </a:r>
            <a:r>
              <a:rPr lang="en-US" altLang="ko-KR" dirty="0"/>
              <a:t>187</a:t>
            </a:r>
            <a:r>
              <a:rPr lang="ko-KR" altLang="en-US" dirty="0"/>
              <a:t>조</a:t>
            </a:r>
          </a:p>
        </p:txBody>
      </p:sp>
      <p:sp>
        <p:nvSpPr>
          <p:cNvPr id="3" name="텍스트 개체 틀 2"/>
          <p:cNvSpPr>
            <a:spLocks noGrp="1"/>
          </p:cNvSpPr>
          <p:nvPr>
            <p:ph type="body" sz="quarter" idx="13"/>
          </p:nvPr>
        </p:nvSpPr>
        <p:spPr/>
        <p:txBody>
          <a:bodyPr/>
          <a:lstStyle/>
          <a:p>
            <a:r>
              <a:rPr lang="ko-KR" altLang="en-US" dirty="0" err="1">
                <a:solidFill>
                  <a:srgbClr val="525252"/>
                </a:solidFill>
              </a:rPr>
              <a:t>출원후</a:t>
            </a:r>
            <a:r>
              <a:rPr lang="ko-KR" altLang="en-US" dirty="0">
                <a:solidFill>
                  <a:srgbClr val="525252"/>
                </a:solidFill>
              </a:rPr>
              <a:t> 승계 </a:t>
            </a:r>
            <a:r>
              <a:rPr lang="en-US" altLang="ko-KR" dirty="0">
                <a:solidFill>
                  <a:srgbClr val="525252"/>
                </a:solidFill>
              </a:rPr>
              <a:t>CASE</a:t>
            </a:r>
            <a:endParaRPr lang="ko-KR" altLang="en-US" dirty="0">
              <a:solidFill>
                <a:srgbClr val="525252"/>
              </a:solidFill>
            </a:endParaRPr>
          </a:p>
        </p:txBody>
      </p:sp>
      <p:cxnSp>
        <p:nvCxnSpPr>
          <p:cNvPr id="23" name="직선 연결선 22">
            <a:extLst>
              <a:ext uri="{FF2B5EF4-FFF2-40B4-BE49-F238E27FC236}">
                <a16:creationId xmlns:a16="http://schemas.microsoft.com/office/drawing/2014/main" id="{BC744699-A9D8-41E8-AC09-E31EE1EB6442}"/>
              </a:ext>
            </a:extLst>
          </p:cNvPr>
          <p:cNvCxnSpPr>
            <a:cxnSpLocks/>
          </p:cNvCxnSpPr>
          <p:nvPr/>
        </p:nvCxnSpPr>
        <p:spPr>
          <a:xfrm>
            <a:off x="0" y="2505236"/>
            <a:ext cx="8782965"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직사각형 54">
            <a:extLst>
              <a:ext uri="{FF2B5EF4-FFF2-40B4-BE49-F238E27FC236}">
                <a16:creationId xmlns:a16="http://schemas.microsoft.com/office/drawing/2014/main" id="{88F9BA11-776F-458B-AEBF-785908167EF1}"/>
              </a:ext>
            </a:extLst>
          </p:cNvPr>
          <p:cNvSpPr/>
          <p:nvPr/>
        </p:nvSpPr>
        <p:spPr>
          <a:xfrm>
            <a:off x="232372" y="1269047"/>
            <a:ext cx="11681987" cy="1200329"/>
          </a:xfrm>
          <a:prstGeom prst="rect">
            <a:avLst/>
          </a:prstGeom>
        </p:spPr>
        <p:txBody>
          <a:bodyPr wrap="square">
            <a:spAutoFit/>
          </a:bodyPr>
          <a:lstStyle/>
          <a:p>
            <a:pPr fontAlgn="base"/>
            <a:r>
              <a:rPr lang="ko-KR" altLang="en-US" sz="1200" dirty="0"/>
              <a:t>특허법 제</a:t>
            </a:r>
            <a:r>
              <a:rPr lang="en-US" altLang="ko-KR" sz="1200" dirty="0"/>
              <a:t>186</a:t>
            </a:r>
            <a:r>
              <a:rPr lang="ko-KR" altLang="en-US" sz="1200" dirty="0"/>
              <a:t>조는 제</a:t>
            </a:r>
            <a:r>
              <a:rPr lang="en-US" altLang="ko-KR" sz="1200" dirty="0"/>
              <a:t>2</a:t>
            </a:r>
            <a:r>
              <a:rPr lang="ko-KR" altLang="en-US" sz="1200" dirty="0"/>
              <a:t>항에서 특허심판원의 </a:t>
            </a:r>
            <a:r>
              <a:rPr lang="ko-KR" altLang="en-US" sz="1200" dirty="0" err="1"/>
              <a:t>심결에</a:t>
            </a:r>
            <a:r>
              <a:rPr lang="ko-KR" altLang="en-US" sz="1200" dirty="0"/>
              <a:t> 대한 취소의 소는 당사자</a:t>
            </a:r>
            <a:r>
              <a:rPr lang="en-US" altLang="ko-KR" sz="1200" dirty="0"/>
              <a:t>, </a:t>
            </a:r>
            <a:r>
              <a:rPr lang="ko-KR" altLang="en-US" sz="1200" dirty="0"/>
              <a:t>참가인</a:t>
            </a:r>
            <a:r>
              <a:rPr lang="en-US" altLang="ko-KR" sz="1200" dirty="0"/>
              <a:t>, </a:t>
            </a:r>
            <a:r>
              <a:rPr lang="ko-KR" altLang="en-US" sz="1200" dirty="0"/>
              <a:t>해당 심판이나 재심에 참가신청을 하였으나 신청이 거부된 자가 제기할 수 있다고 규정하고</a:t>
            </a:r>
            <a:r>
              <a:rPr lang="en-US" altLang="ko-KR" sz="1200" dirty="0"/>
              <a:t>, </a:t>
            </a:r>
            <a:r>
              <a:rPr lang="ko-KR" altLang="en-US" sz="1200" dirty="0"/>
              <a:t>제</a:t>
            </a:r>
            <a:r>
              <a:rPr lang="en-US" altLang="ko-KR" sz="1200" dirty="0"/>
              <a:t>3</a:t>
            </a:r>
            <a:r>
              <a:rPr lang="ko-KR" altLang="en-US" sz="1200" dirty="0"/>
              <a:t>항에서 그 취소의 소는 </a:t>
            </a:r>
            <a:r>
              <a:rPr lang="ko-KR" altLang="en-US" sz="1200" dirty="0" err="1"/>
              <a:t>심결의</a:t>
            </a:r>
            <a:r>
              <a:rPr lang="ko-KR" altLang="en-US" sz="1200" dirty="0"/>
              <a:t> 등본을 </a:t>
            </a:r>
            <a:r>
              <a:rPr lang="ko-KR" altLang="en-US" sz="1200" dirty="0" err="1"/>
              <a:t>송달받은</a:t>
            </a:r>
            <a:r>
              <a:rPr lang="ko-KR" altLang="en-US" sz="1200" dirty="0"/>
              <a:t> 날부터 </a:t>
            </a:r>
            <a:r>
              <a:rPr lang="en-US" altLang="ko-KR" sz="1200" dirty="0"/>
              <a:t>30</a:t>
            </a:r>
            <a:r>
              <a:rPr lang="ko-KR" altLang="en-US" sz="1200" dirty="0"/>
              <a:t>일 이내에 제기하여야 한다고 규정하고 있다</a:t>
            </a:r>
            <a:r>
              <a:rPr lang="en-US" altLang="ko-KR" sz="1200" dirty="0"/>
              <a:t>. </a:t>
            </a:r>
            <a:r>
              <a:rPr lang="ko-KR" altLang="en-US" sz="1200" dirty="0"/>
              <a:t>한편 특허법 제</a:t>
            </a:r>
            <a:r>
              <a:rPr lang="en-US" altLang="ko-KR" sz="1200" dirty="0"/>
              <a:t>38</a:t>
            </a:r>
            <a:r>
              <a:rPr lang="ko-KR" altLang="en-US" sz="1200" dirty="0"/>
              <a:t>조 제</a:t>
            </a:r>
            <a:r>
              <a:rPr lang="en-US" altLang="ko-KR" sz="1200" dirty="0"/>
              <a:t>4</a:t>
            </a:r>
            <a:r>
              <a:rPr lang="ko-KR" altLang="en-US" sz="1200" dirty="0"/>
              <a:t>항은 특허출원 후에는 특허를 받을 수 있는 권리의 승계는 상속</a:t>
            </a:r>
            <a:r>
              <a:rPr lang="en-US" altLang="ko-KR" sz="1200" dirty="0"/>
              <a:t>, </a:t>
            </a:r>
            <a:r>
              <a:rPr lang="ko-KR" altLang="en-US" sz="1200" dirty="0"/>
              <a:t>그 밖의 일반승계의 경우를 제외하고는 </a:t>
            </a:r>
            <a:r>
              <a:rPr lang="ko-KR" altLang="en-US" sz="1200" dirty="0" err="1"/>
              <a:t>특허출원인변경신고를</a:t>
            </a:r>
            <a:r>
              <a:rPr lang="ko-KR" altLang="en-US" sz="1200" dirty="0"/>
              <a:t> 하여야만 그 효력이 발생한다고 규정하고 있다</a:t>
            </a:r>
            <a:r>
              <a:rPr lang="en-US" altLang="ko-KR" sz="1200" dirty="0"/>
              <a:t>. </a:t>
            </a:r>
            <a:r>
              <a:rPr lang="ko-KR" altLang="en-US" sz="1200" dirty="0"/>
              <a:t>이러한 규정들에 의하면</a:t>
            </a:r>
            <a:r>
              <a:rPr lang="en-US" altLang="ko-KR" sz="1200" dirty="0"/>
              <a:t>, </a:t>
            </a:r>
            <a:r>
              <a:rPr lang="ko-KR" altLang="en-US" sz="1200" dirty="0" err="1">
                <a:highlight>
                  <a:srgbClr val="FFFF00"/>
                </a:highlight>
              </a:rPr>
              <a:t>특허출원인으로부터</a:t>
            </a:r>
            <a:r>
              <a:rPr lang="ko-KR" altLang="en-US" sz="1200" dirty="0">
                <a:highlight>
                  <a:srgbClr val="FFFF00"/>
                </a:highlight>
              </a:rPr>
              <a:t> 특허를 받을 수 있는 권리를 양수한 특정승계인은 </a:t>
            </a:r>
            <a:r>
              <a:rPr lang="ko-KR" altLang="en-US" sz="1200" dirty="0" err="1">
                <a:highlight>
                  <a:srgbClr val="FFFF00"/>
                </a:highlight>
              </a:rPr>
              <a:t>특허출원인변경신고를</a:t>
            </a:r>
            <a:r>
              <a:rPr lang="ko-KR" altLang="en-US" sz="1200" dirty="0">
                <a:highlight>
                  <a:srgbClr val="FFFF00"/>
                </a:highlight>
              </a:rPr>
              <a:t> 하지 않은 상태에서는 그 양수의 효력이 발생하지 않아서 특허심판원의 거절결정 불복심판 </a:t>
            </a:r>
            <a:r>
              <a:rPr lang="ko-KR" altLang="en-US" sz="1200" dirty="0" err="1">
                <a:highlight>
                  <a:srgbClr val="FFFF00"/>
                </a:highlight>
              </a:rPr>
              <a:t>심결에</a:t>
            </a:r>
            <a:r>
              <a:rPr lang="ko-KR" altLang="en-US" sz="1200" dirty="0">
                <a:highlight>
                  <a:srgbClr val="FFFF00"/>
                </a:highlight>
              </a:rPr>
              <a:t> 대하여 취소의 소를 제기할 수 있는 당사자 등에 해당하지 아니하므로</a:t>
            </a:r>
            <a:r>
              <a:rPr lang="en-US" altLang="ko-KR" sz="1200" dirty="0">
                <a:highlight>
                  <a:srgbClr val="FFFF00"/>
                </a:highlight>
              </a:rPr>
              <a:t>, </a:t>
            </a:r>
            <a:r>
              <a:rPr lang="ko-KR" altLang="en-US" sz="1200" dirty="0">
                <a:highlight>
                  <a:srgbClr val="FFFF00"/>
                </a:highlight>
              </a:rPr>
              <a:t>그가 제기한 취소의 소는 </a:t>
            </a:r>
            <a:r>
              <a:rPr lang="ko-KR" altLang="en-US" sz="1200" dirty="0" err="1">
                <a:highlight>
                  <a:srgbClr val="FFFF00"/>
                </a:highlight>
              </a:rPr>
              <a:t>부적법하다</a:t>
            </a:r>
            <a:r>
              <a:rPr lang="en-US" altLang="ko-KR" sz="1200" dirty="0">
                <a:highlight>
                  <a:srgbClr val="FFFF00"/>
                </a:highlight>
              </a:rPr>
              <a:t>. </a:t>
            </a:r>
            <a:r>
              <a:rPr lang="ko-KR" altLang="en-US" sz="1200" dirty="0">
                <a:highlight>
                  <a:srgbClr val="FFFF00"/>
                </a:highlight>
              </a:rPr>
              <a:t>특정승계인이 취소의 소를 제기한 후 </a:t>
            </a:r>
            <a:r>
              <a:rPr lang="ko-KR" altLang="en-US" sz="1200" dirty="0" err="1">
                <a:highlight>
                  <a:srgbClr val="FFFF00"/>
                </a:highlight>
              </a:rPr>
              <a:t>특허출원인변경신고를</a:t>
            </a:r>
            <a:r>
              <a:rPr lang="ko-KR" altLang="en-US" sz="1200" dirty="0">
                <a:highlight>
                  <a:srgbClr val="FFFF00"/>
                </a:highlight>
              </a:rPr>
              <a:t> 하였더라도</a:t>
            </a:r>
            <a:r>
              <a:rPr lang="en-US" altLang="ko-KR" sz="1200" dirty="0">
                <a:highlight>
                  <a:srgbClr val="FFFF00"/>
                </a:highlight>
              </a:rPr>
              <a:t>, </a:t>
            </a:r>
            <a:r>
              <a:rPr lang="ko-KR" altLang="en-US" sz="1200" dirty="0">
                <a:highlight>
                  <a:srgbClr val="FFFF00"/>
                </a:highlight>
              </a:rPr>
              <a:t>그 변경신고 시기가 취소의 소 제기기간이 지난 후라면 제기기간 내에 적법한 취소의 소 제기는 없었던 것이므로</a:t>
            </a:r>
            <a:r>
              <a:rPr lang="en-US" altLang="ko-KR" sz="1200" dirty="0">
                <a:highlight>
                  <a:srgbClr val="FFFF00"/>
                </a:highlight>
              </a:rPr>
              <a:t>, </a:t>
            </a:r>
            <a:r>
              <a:rPr lang="ko-KR" altLang="en-US" sz="1200" dirty="0">
                <a:highlight>
                  <a:srgbClr val="FFFF00"/>
                </a:highlight>
              </a:rPr>
              <a:t>취소의 소가 </a:t>
            </a:r>
            <a:r>
              <a:rPr lang="ko-KR" altLang="en-US" sz="1200" dirty="0" err="1">
                <a:highlight>
                  <a:srgbClr val="FFFF00"/>
                </a:highlight>
              </a:rPr>
              <a:t>부적법하기는</a:t>
            </a:r>
            <a:r>
              <a:rPr lang="ko-KR" altLang="en-US" sz="1200" dirty="0">
                <a:highlight>
                  <a:srgbClr val="FFFF00"/>
                </a:highlight>
              </a:rPr>
              <a:t> 마찬가지이다</a:t>
            </a:r>
            <a:r>
              <a:rPr lang="en-US" altLang="ko-KR" sz="1200" dirty="0">
                <a:highlight>
                  <a:srgbClr val="FFFF00"/>
                </a:highlight>
              </a:rPr>
              <a:t>. </a:t>
            </a:r>
            <a:endParaRPr lang="ko-KR" altLang="en-US" sz="1200" dirty="0">
              <a:highlight>
                <a:srgbClr val="FFFF00"/>
              </a:highlight>
            </a:endParaRPr>
          </a:p>
        </p:txBody>
      </p:sp>
      <p:sp>
        <p:nvSpPr>
          <p:cNvPr id="27" name="타원 26">
            <a:extLst>
              <a:ext uri="{FF2B5EF4-FFF2-40B4-BE49-F238E27FC236}">
                <a16:creationId xmlns:a16="http://schemas.microsoft.com/office/drawing/2014/main" id="{845B491D-8404-4504-83DB-F8CBD9B10B19}"/>
              </a:ext>
            </a:extLst>
          </p:cNvPr>
          <p:cNvSpPr/>
          <p:nvPr/>
        </p:nvSpPr>
        <p:spPr>
          <a:xfrm>
            <a:off x="1140390" y="4004457"/>
            <a:ext cx="141148" cy="14716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7" name="TextBox 36">
            <a:extLst>
              <a:ext uri="{FF2B5EF4-FFF2-40B4-BE49-F238E27FC236}">
                <a16:creationId xmlns:a16="http://schemas.microsoft.com/office/drawing/2014/main" id="{2C7F855E-63E7-4276-9A07-944733EA92D5}"/>
              </a:ext>
            </a:extLst>
          </p:cNvPr>
          <p:cNvSpPr txBox="1"/>
          <p:nvPr/>
        </p:nvSpPr>
        <p:spPr>
          <a:xfrm>
            <a:off x="616572" y="3286777"/>
            <a:ext cx="701285"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甲 출원</a:t>
            </a:r>
            <a:endParaRPr lang="en-US" altLang="ko-KR" sz="1200" dirty="0">
              <a:solidFill>
                <a:schemeClr val="tx1"/>
              </a:solidFill>
              <a:latin typeface="+mn-ea"/>
            </a:endParaRPr>
          </a:p>
        </p:txBody>
      </p:sp>
      <p:sp>
        <p:nvSpPr>
          <p:cNvPr id="61" name="타원 60">
            <a:extLst>
              <a:ext uri="{FF2B5EF4-FFF2-40B4-BE49-F238E27FC236}">
                <a16:creationId xmlns:a16="http://schemas.microsoft.com/office/drawing/2014/main" id="{0E0EF7D2-5FEE-4A2F-ABD4-9147C82EBFE2}"/>
              </a:ext>
            </a:extLst>
          </p:cNvPr>
          <p:cNvSpPr/>
          <p:nvPr/>
        </p:nvSpPr>
        <p:spPr>
          <a:xfrm>
            <a:off x="1794628" y="399737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 name="연결선: 꺾임 8">
            <a:extLst>
              <a:ext uri="{FF2B5EF4-FFF2-40B4-BE49-F238E27FC236}">
                <a16:creationId xmlns:a16="http://schemas.microsoft.com/office/drawing/2014/main" id="{2F7C9590-F96C-443E-8904-DE90258FAF82}"/>
              </a:ext>
            </a:extLst>
          </p:cNvPr>
          <p:cNvCxnSpPr>
            <a:cxnSpLocks/>
            <a:stCxn id="37" idx="2"/>
            <a:endCxn id="27" idx="0"/>
          </p:cNvCxnSpPr>
          <p:nvPr/>
        </p:nvCxnSpPr>
        <p:spPr>
          <a:xfrm rot="16200000" flipH="1">
            <a:off x="868749" y="3662241"/>
            <a:ext cx="440681" cy="243749"/>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C178A8E6-8843-432E-B2B7-F049BC13ECC2}"/>
              </a:ext>
            </a:extLst>
          </p:cNvPr>
          <p:cNvSpPr txBox="1"/>
          <p:nvPr/>
        </p:nvSpPr>
        <p:spPr>
          <a:xfrm>
            <a:off x="1490507" y="3286777"/>
            <a:ext cx="1132450"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거절결정</a:t>
            </a:r>
          </a:p>
        </p:txBody>
      </p:sp>
      <p:cxnSp>
        <p:nvCxnSpPr>
          <p:cNvPr id="84" name="연결선: 꺾임 83">
            <a:extLst>
              <a:ext uri="{FF2B5EF4-FFF2-40B4-BE49-F238E27FC236}">
                <a16:creationId xmlns:a16="http://schemas.microsoft.com/office/drawing/2014/main" id="{212386C3-0CC1-42F1-B941-40D96C54403B}"/>
              </a:ext>
            </a:extLst>
          </p:cNvPr>
          <p:cNvCxnSpPr>
            <a:cxnSpLocks/>
            <a:stCxn id="83" idx="2"/>
            <a:endCxn id="61" idx="0"/>
          </p:cNvCxnSpPr>
          <p:nvPr/>
        </p:nvCxnSpPr>
        <p:spPr>
          <a:xfrm rot="5400000">
            <a:off x="1747567" y="3688207"/>
            <a:ext cx="433596" cy="184735"/>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5" name="타원 84">
            <a:extLst>
              <a:ext uri="{FF2B5EF4-FFF2-40B4-BE49-F238E27FC236}">
                <a16:creationId xmlns:a16="http://schemas.microsoft.com/office/drawing/2014/main" id="{F5F209D4-546B-45E0-9FC8-78934FA6AC87}"/>
              </a:ext>
            </a:extLst>
          </p:cNvPr>
          <p:cNvSpPr/>
          <p:nvPr/>
        </p:nvSpPr>
        <p:spPr>
          <a:xfrm>
            <a:off x="3315312" y="399737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86" name="TextBox 85">
            <a:extLst>
              <a:ext uri="{FF2B5EF4-FFF2-40B4-BE49-F238E27FC236}">
                <a16:creationId xmlns:a16="http://schemas.microsoft.com/office/drawing/2014/main" id="{5542F93E-BC94-427B-895D-B20B68F6D95E}"/>
              </a:ext>
            </a:extLst>
          </p:cNvPr>
          <p:cNvSpPr txBox="1"/>
          <p:nvPr/>
        </p:nvSpPr>
        <p:spPr>
          <a:xfrm>
            <a:off x="2756780" y="3286777"/>
            <a:ext cx="1010364"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불복심판청구</a:t>
            </a:r>
          </a:p>
        </p:txBody>
      </p:sp>
      <p:cxnSp>
        <p:nvCxnSpPr>
          <p:cNvPr id="87" name="연결선: 꺾임 86">
            <a:extLst>
              <a:ext uri="{FF2B5EF4-FFF2-40B4-BE49-F238E27FC236}">
                <a16:creationId xmlns:a16="http://schemas.microsoft.com/office/drawing/2014/main" id="{A351E9F3-9FFB-4B2E-A4A4-E5AA09B24698}"/>
              </a:ext>
            </a:extLst>
          </p:cNvPr>
          <p:cNvCxnSpPr>
            <a:cxnSpLocks/>
            <a:stCxn id="86" idx="2"/>
            <a:endCxn id="85" idx="0"/>
          </p:cNvCxnSpPr>
          <p:nvPr/>
        </p:nvCxnSpPr>
        <p:spPr>
          <a:xfrm rot="16200000" flipH="1">
            <a:off x="3110523" y="3715214"/>
            <a:ext cx="433596" cy="130719"/>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9" name="타원 88">
            <a:extLst>
              <a:ext uri="{FF2B5EF4-FFF2-40B4-BE49-F238E27FC236}">
                <a16:creationId xmlns:a16="http://schemas.microsoft.com/office/drawing/2014/main" id="{D0BCFBF0-4BEE-4BCF-B574-F09834429646}"/>
              </a:ext>
            </a:extLst>
          </p:cNvPr>
          <p:cNvSpPr/>
          <p:nvPr/>
        </p:nvSpPr>
        <p:spPr>
          <a:xfrm>
            <a:off x="6518804" y="399737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90" name="TextBox 89">
            <a:extLst>
              <a:ext uri="{FF2B5EF4-FFF2-40B4-BE49-F238E27FC236}">
                <a16:creationId xmlns:a16="http://schemas.microsoft.com/office/drawing/2014/main" id="{9DEC9646-AB01-4AB9-8CF9-DE60BB0A9C0E}"/>
              </a:ext>
            </a:extLst>
          </p:cNvPr>
          <p:cNvSpPr txBox="1"/>
          <p:nvPr/>
        </p:nvSpPr>
        <p:spPr>
          <a:xfrm>
            <a:off x="5668169" y="4394265"/>
            <a:ext cx="1211623" cy="646331"/>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ko-KR" altLang="en-US" sz="1200" dirty="0">
                <a:solidFill>
                  <a:schemeClr val="tx1"/>
                </a:solidFill>
                <a:latin typeface="+mn-ea"/>
              </a:rPr>
              <a:t>乙에게 특허를 받을 수 있는 권리의 양도</a:t>
            </a:r>
          </a:p>
        </p:txBody>
      </p:sp>
      <p:cxnSp>
        <p:nvCxnSpPr>
          <p:cNvPr id="91" name="연결선: 꺾임 90">
            <a:extLst>
              <a:ext uri="{FF2B5EF4-FFF2-40B4-BE49-F238E27FC236}">
                <a16:creationId xmlns:a16="http://schemas.microsoft.com/office/drawing/2014/main" id="{41787710-DFF3-444B-8773-13BD50582944}"/>
              </a:ext>
            </a:extLst>
          </p:cNvPr>
          <p:cNvCxnSpPr>
            <a:cxnSpLocks/>
            <a:stCxn id="90" idx="0"/>
            <a:endCxn id="89" idx="4"/>
          </p:cNvCxnSpPr>
          <p:nvPr/>
        </p:nvCxnSpPr>
        <p:spPr>
          <a:xfrm rot="5400000" flipH="1" flipV="1">
            <a:off x="6317300" y="4115392"/>
            <a:ext cx="235555" cy="322192"/>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1" name="사각형: 둥근 모서리 110">
            <a:extLst>
              <a:ext uri="{FF2B5EF4-FFF2-40B4-BE49-F238E27FC236}">
                <a16:creationId xmlns:a16="http://schemas.microsoft.com/office/drawing/2014/main" id="{554490DD-F0E6-414B-856D-491321691AA4}"/>
              </a:ext>
            </a:extLst>
          </p:cNvPr>
          <p:cNvSpPr/>
          <p:nvPr/>
        </p:nvSpPr>
        <p:spPr>
          <a:xfrm>
            <a:off x="113937" y="964867"/>
            <a:ext cx="4743612" cy="302955"/>
          </a:xfrm>
          <a:prstGeom prst="roundRect">
            <a:avLst>
              <a:gd name="adj" fmla="val 50000"/>
            </a:avLst>
          </a:prstGeom>
          <a:solidFill>
            <a:schemeClr val="bg1">
              <a:lumMod val="85000"/>
            </a:schemeClr>
          </a:solidFill>
          <a:ln>
            <a:solidFill>
              <a:schemeClr val="bg1">
                <a:lumMod val="65000"/>
              </a:schemeClr>
            </a:solidFill>
          </a:ln>
        </p:spPr>
        <p:txBody>
          <a:bodyPr wrap="square" tIns="0" bIns="0">
            <a:spAutoFit/>
          </a:bodyPr>
          <a:lstStyle/>
          <a:p>
            <a:r>
              <a:rPr lang="ko-KR" altLang="en-US" sz="1400" dirty="0"/>
              <a:t>대법원 </a:t>
            </a:r>
            <a:r>
              <a:rPr lang="en-US" altLang="ko-KR" sz="1400" dirty="0"/>
              <a:t>2017. 11. 23. </a:t>
            </a:r>
            <a:r>
              <a:rPr lang="ko-KR" altLang="en-US" sz="1400" dirty="0"/>
              <a:t>선고 </a:t>
            </a:r>
            <a:r>
              <a:rPr lang="en-US" altLang="ko-KR" sz="1400" dirty="0"/>
              <a:t>2015</a:t>
            </a:r>
            <a:r>
              <a:rPr lang="ko-KR" altLang="en-US" sz="1400" dirty="0"/>
              <a:t>후</a:t>
            </a:r>
            <a:r>
              <a:rPr lang="en-US" altLang="ko-KR" sz="1400" dirty="0"/>
              <a:t>321 </a:t>
            </a:r>
            <a:r>
              <a:rPr lang="ko-KR" altLang="en-US" sz="1400" dirty="0"/>
              <a:t>판결 </a:t>
            </a:r>
            <a:r>
              <a:rPr lang="en-US" altLang="ko-KR" sz="1400" dirty="0"/>
              <a:t>【</a:t>
            </a:r>
            <a:r>
              <a:rPr lang="ko-KR" altLang="en-US" sz="1400" dirty="0"/>
              <a:t>거절결정</a:t>
            </a:r>
            <a:r>
              <a:rPr lang="en-US" altLang="ko-KR" sz="1400" dirty="0"/>
              <a:t>(</a:t>
            </a:r>
            <a:r>
              <a:rPr lang="ko-KR" altLang="en-US" sz="1400" dirty="0" err="1"/>
              <a:t>특</a:t>
            </a:r>
            <a:r>
              <a:rPr lang="en-US" altLang="ko-KR" sz="1400" dirty="0"/>
              <a:t>)】</a:t>
            </a:r>
            <a:endParaRPr lang="ko-KR" altLang="en-US" sz="1400" dirty="0"/>
          </a:p>
        </p:txBody>
      </p:sp>
      <p:sp>
        <p:nvSpPr>
          <p:cNvPr id="46" name="타원 45">
            <a:extLst>
              <a:ext uri="{FF2B5EF4-FFF2-40B4-BE49-F238E27FC236}">
                <a16:creationId xmlns:a16="http://schemas.microsoft.com/office/drawing/2014/main" id="{0F72D162-96CA-4791-8955-A1860C204697}"/>
              </a:ext>
            </a:extLst>
          </p:cNvPr>
          <p:cNvSpPr/>
          <p:nvPr/>
        </p:nvSpPr>
        <p:spPr>
          <a:xfrm>
            <a:off x="4539311" y="399737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47" name="TextBox 46">
            <a:extLst>
              <a:ext uri="{FF2B5EF4-FFF2-40B4-BE49-F238E27FC236}">
                <a16:creationId xmlns:a16="http://schemas.microsoft.com/office/drawing/2014/main" id="{DC6405EF-8F1B-4602-9B83-5CE4E374C4C6}"/>
              </a:ext>
            </a:extLst>
          </p:cNvPr>
          <p:cNvSpPr txBox="1"/>
          <p:nvPr/>
        </p:nvSpPr>
        <p:spPr>
          <a:xfrm>
            <a:off x="3980779" y="3286777"/>
            <a:ext cx="1010364"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cxnSp>
        <p:nvCxnSpPr>
          <p:cNvPr id="48" name="연결선: 꺾임 47">
            <a:extLst>
              <a:ext uri="{FF2B5EF4-FFF2-40B4-BE49-F238E27FC236}">
                <a16:creationId xmlns:a16="http://schemas.microsoft.com/office/drawing/2014/main" id="{8EF045C2-4EE6-4BBB-8B46-423E576BF99D}"/>
              </a:ext>
            </a:extLst>
          </p:cNvPr>
          <p:cNvCxnSpPr>
            <a:cxnSpLocks/>
            <a:stCxn id="47" idx="2"/>
            <a:endCxn id="46" idx="0"/>
          </p:cNvCxnSpPr>
          <p:nvPr/>
        </p:nvCxnSpPr>
        <p:spPr>
          <a:xfrm rot="16200000" flipH="1">
            <a:off x="4334522" y="3715214"/>
            <a:ext cx="433596" cy="130719"/>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 name="타원 48">
            <a:extLst>
              <a:ext uri="{FF2B5EF4-FFF2-40B4-BE49-F238E27FC236}">
                <a16:creationId xmlns:a16="http://schemas.microsoft.com/office/drawing/2014/main" id="{4AB3798F-0C35-4A79-ACAE-6FC628819C6A}"/>
              </a:ext>
            </a:extLst>
          </p:cNvPr>
          <p:cNvSpPr/>
          <p:nvPr/>
        </p:nvSpPr>
        <p:spPr>
          <a:xfrm>
            <a:off x="7047248" y="399737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50" name="TextBox 49">
            <a:extLst>
              <a:ext uri="{FF2B5EF4-FFF2-40B4-BE49-F238E27FC236}">
                <a16:creationId xmlns:a16="http://schemas.microsoft.com/office/drawing/2014/main" id="{5BDA05F7-92B6-464B-93EB-21350818CCE7}"/>
              </a:ext>
            </a:extLst>
          </p:cNvPr>
          <p:cNvSpPr txBox="1"/>
          <p:nvPr/>
        </p:nvSpPr>
        <p:spPr>
          <a:xfrm>
            <a:off x="6960691" y="4394265"/>
            <a:ext cx="605812"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ko-KR" altLang="en-US" sz="1200">
                <a:solidFill>
                  <a:schemeClr val="tx1"/>
                </a:solidFill>
                <a:latin typeface="+mn-ea"/>
              </a:rPr>
              <a:t>소제기</a:t>
            </a:r>
            <a:endParaRPr lang="ko-KR" altLang="en-US" sz="1200" dirty="0">
              <a:solidFill>
                <a:schemeClr val="tx1"/>
              </a:solidFill>
              <a:latin typeface="+mn-ea"/>
            </a:endParaRPr>
          </a:p>
        </p:txBody>
      </p:sp>
      <p:cxnSp>
        <p:nvCxnSpPr>
          <p:cNvPr id="51" name="연결선: 꺾임 50">
            <a:extLst>
              <a:ext uri="{FF2B5EF4-FFF2-40B4-BE49-F238E27FC236}">
                <a16:creationId xmlns:a16="http://schemas.microsoft.com/office/drawing/2014/main" id="{F792F579-C267-49CC-AA23-220980DB7619}"/>
              </a:ext>
            </a:extLst>
          </p:cNvPr>
          <p:cNvCxnSpPr>
            <a:cxnSpLocks/>
            <a:stCxn id="50" idx="0"/>
            <a:endCxn id="49" idx="4"/>
          </p:cNvCxnSpPr>
          <p:nvPr/>
        </p:nvCxnSpPr>
        <p:spPr>
          <a:xfrm rot="16200000" flipV="1">
            <a:off x="7076330" y="4206998"/>
            <a:ext cx="235555" cy="138980"/>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4" name="타원 53">
            <a:extLst>
              <a:ext uri="{FF2B5EF4-FFF2-40B4-BE49-F238E27FC236}">
                <a16:creationId xmlns:a16="http://schemas.microsoft.com/office/drawing/2014/main" id="{52E2AC8F-775A-45C2-8C72-098C63C3E625}"/>
              </a:ext>
            </a:extLst>
          </p:cNvPr>
          <p:cNvSpPr/>
          <p:nvPr/>
        </p:nvSpPr>
        <p:spPr>
          <a:xfrm>
            <a:off x="9460535" y="399737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56" name="TextBox 55">
            <a:extLst>
              <a:ext uri="{FF2B5EF4-FFF2-40B4-BE49-F238E27FC236}">
                <a16:creationId xmlns:a16="http://schemas.microsoft.com/office/drawing/2014/main" id="{0D78343C-B5B5-4461-BFBA-A9A067750E84}"/>
              </a:ext>
            </a:extLst>
          </p:cNvPr>
          <p:cNvSpPr txBox="1"/>
          <p:nvPr/>
        </p:nvSpPr>
        <p:spPr>
          <a:xfrm>
            <a:off x="9373978" y="4394265"/>
            <a:ext cx="605812"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ko-KR" altLang="en-US" sz="1200" dirty="0">
                <a:solidFill>
                  <a:schemeClr val="tx1"/>
                </a:solidFill>
                <a:latin typeface="+mn-ea"/>
              </a:rPr>
              <a:t>소각하</a:t>
            </a:r>
          </a:p>
        </p:txBody>
      </p:sp>
      <p:cxnSp>
        <p:nvCxnSpPr>
          <p:cNvPr id="57" name="연결선: 꺾임 56">
            <a:extLst>
              <a:ext uri="{FF2B5EF4-FFF2-40B4-BE49-F238E27FC236}">
                <a16:creationId xmlns:a16="http://schemas.microsoft.com/office/drawing/2014/main" id="{89061774-009C-425E-A9AE-6C1D604565F7}"/>
              </a:ext>
            </a:extLst>
          </p:cNvPr>
          <p:cNvCxnSpPr>
            <a:cxnSpLocks/>
            <a:stCxn id="56" idx="0"/>
            <a:endCxn id="54" idx="4"/>
          </p:cNvCxnSpPr>
          <p:nvPr/>
        </p:nvCxnSpPr>
        <p:spPr>
          <a:xfrm rot="16200000" flipV="1">
            <a:off x="9489617" y="4206998"/>
            <a:ext cx="235555" cy="138980"/>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8" name="타원 57">
            <a:extLst>
              <a:ext uri="{FF2B5EF4-FFF2-40B4-BE49-F238E27FC236}">
                <a16:creationId xmlns:a16="http://schemas.microsoft.com/office/drawing/2014/main" id="{3D859F7C-CC0E-4DE3-B615-3EEDC08AED98}"/>
              </a:ext>
            </a:extLst>
          </p:cNvPr>
          <p:cNvSpPr/>
          <p:nvPr/>
        </p:nvSpPr>
        <p:spPr>
          <a:xfrm>
            <a:off x="8628227" y="399737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59" name="TextBox 58">
            <a:extLst>
              <a:ext uri="{FF2B5EF4-FFF2-40B4-BE49-F238E27FC236}">
                <a16:creationId xmlns:a16="http://schemas.microsoft.com/office/drawing/2014/main" id="{FD7001B5-2162-43CD-BC60-A3FF93333158}"/>
              </a:ext>
            </a:extLst>
          </p:cNvPr>
          <p:cNvSpPr txBox="1"/>
          <p:nvPr/>
        </p:nvSpPr>
        <p:spPr>
          <a:xfrm>
            <a:off x="7777592" y="4394265"/>
            <a:ext cx="1211623"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ko-KR" altLang="en-US" sz="1200" dirty="0" err="1">
                <a:solidFill>
                  <a:schemeClr val="tx1"/>
                </a:solidFill>
                <a:latin typeface="+mn-ea"/>
              </a:rPr>
              <a:t>출원인변경신고</a:t>
            </a:r>
            <a:endParaRPr lang="ko-KR" altLang="en-US" sz="1200" dirty="0">
              <a:solidFill>
                <a:schemeClr val="tx1"/>
              </a:solidFill>
              <a:latin typeface="+mn-ea"/>
            </a:endParaRPr>
          </a:p>
        </p:txBody>
      </p:sp>
      <p:cxnSp>
        <p:nvCxnSpPr>
          <p:cNvPr id="60" name="연결선: 꺾임 59">
            <a:extLst>
              <a:ext uri="{FF2B5EF4-FFF2-40B4-BE49-F238E27FC236}">
                <a16:creationId xmlns:a16="http://schemas.microsoft.com/office/drawing/2014/main" id="{7F074DA7-4B80-41E6-81E0-88D03C4D71D2}"/>
              </a:ext>
            </a:extLst>
          </p:cNvPr>
          <p:cNvCxnSpPr>
            <a:cxnSpLocks/>
            <a:stCxn id="59" idx="0"/>
            <a:endCxn id="58" idx="4"/>
          </p:cNvCxnSpPr>
          <p:nvPr/>
        </p:nvCxnSpPr>
        <p:spPr>
          <a:xfrm rot="5400000" flipH="1" flipV="1">
            <a:off x="8426723" y="4115392"/>
            <a:ext cx="235555" cy="322192"/>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2" name="타원 61">
            <a:extLst>
              <a:ext uri="{FF2B5EF4-FFF2-40B4-BE49-F238E27FC236}">
                <a16:creationId xmlns:a16="http://schemas.microsoft.com/office/drawing/2014/main" id="{DBF4D37C-33F2-4007-9986-FED568C66CC9}"/>
              </a:ext>
            </a:extLst>
          </p:cNvPr>
          <p:cNvSpPr/>
          <p:nvPr/>
        </p:nvSpPr>
        <p:spPr>
          <a:xfrm>
            <a:off x="10428283" y="3997372"/>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63" name="TextBox 62">
            <a:extLst>
              <a:ext uri="{FF2B5EF4-FFF2-40B4-BE49-F238E27FC236}">
                <a16:creationId xmlns:a16="http://schemas.microsoft.com/office/drawing/2014/main" id="{3B431107-8891-403E-B82A-7511184236E0}"/>
              </a:ext>
            </a:extLst>
          </p:cNvPr>
          <p:cNvSpPr txBox="1"/>
          <p:nvPr/>
        </p:nvSpPr>
        <p:spPr>
          <a:xfrm>
            <a:off x="10341726" y="4394265"/>
            <a:ext cx="605812"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상고</a:t>
            </a:r>
          </a:p>
        </p:txBody>
      </p:sp>
      <p:cxnSp>
        <p:nvCxnSpPr>
          <p:cNvPr id="64" name="연결선: 꺾임 63">
            <a:extLst>
              <a:ext uri="{FF2B5EF4-FFF2-40B4-BE49-F238E27FC236}">
                <a16:creationId xmlns:a16="http://schemas.microsoft.com/office/drawing/2014/main" id="{12FA22C6-F0CF-46A8-9B3D-A9456B1DEE36}"/>
              </a:ext>
            </a:extLst>
          </p:cNvPr>
          <p:cNvCxnSpPr>
            <a:cxnSpLocks/>
            <a:stCxn id="63" idx="0"/>
            <a:endCxn id="62" idx="4"/>
          </p:cNvCxnSpPr>
          <p:nvPr/>
        </p:nvCxnSpPr>
        <p:spPr>
          <a:xfrm rot="16200000" flipV="1">
            <a:off x="10457365" y="4206998"/>
            <a:ext cx="235555" cy="138980"/>
          </a:xfrm>
          <a:prstGeom prst="bentConnector3">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6" name="타원 35">
            <a:extLst>
              <a:ext uri="{FF2B5EF4-FFF2-40B4-BE49-F238E27FC236}">
                <a16:creationId xmlns:a16="http://schemas.microsoft.com/office/drawing/2014/main" id="{13D7FF91-29C7-46C3-AF0B-78FA113ACB55}"/>
              </a:ext>
            </a:extLst>
          </p:cNvPr>
          <p:cNvSpPr/>
          <p:nvPr/>
        </p:nvSpPr>
        <p:spPr>
          <a:xfrm>
            <a:off x="5730793" y="399737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38" name="TextBox 37">
            <a:extLst>
              <a:ext uri="{FF2B5EF4-FFF2-40B4-BE49-F238E27FC236}">
                <a16:creationId xmlns:a16="http://schemas.microsoft.com/office/drawing/2014/main" id="{FCAD6803-723F-4C94-B5D4-43C31035AABF}"/>
              </a:ext>
            </a:extLst>
          </p:cNvPr>
          <p:cNvSpPr txBox="1"/>
          <p:nvPr/>
        </p:nvSpPr>
        <p:spPr>
          <a:xfrm>
            <a:off x="5172261" y="3286777"/>
            <a:ext cx="1010364"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등본송달</a:t>
            </a:r>
          </a:p>
        </p:txBody>
      </p:sp>
      <p:cxnSp>
        <p:nvCxnSpPr>
          <p:cNvPr id="39" name="연결선: 꺾임 38">
            <a:extLst>
              <a:ext uri="{FF2B5EF4-FFF2-40B4-BE49-F238E27FC236}">
                <a16:creationId xmlns:a16="http://schemas.microsoft.com/office/drawing/2014/main" id="{C351FE53-39B3-4B64-A1FF-446AB907D6D6}"/>
              </a:ext>
            </a:extLst>
          </p:cNvPr>
          <p:cNvCxnSpPr>
            <a:cxnSpLocks/>
            <a:stCxn id="38" idx="2"/>
            <a:endCxn id="36" idx="0"/>
          </p:cNvCxnSpPr>
          <p:nvPr/>
        </p:nvCxnSpPr>
        <p:spPr>
          <a:xfrm rot="16200000" flipH="1">
            <a:off x="5526004" y="3715214"/>
            <a:ext cx="433596" cy="130719"/>
          </a:xfrm>
          <a:prstGeom prst="bentConnector3">
            <a:avLst>
              <a:gd name="adj1" fmla="val 50000"/>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4E4C9C81-7749-4FFF-B7CA-537378C9D0EF}"/>
              </a:ext>
            </a:extLst>
          </p:cNvPr>
          <p:cNvSpPr txBox="1"/>
          <p:nvPr/>
        </p:nvSpPr>
        <p:spPr>
          <a:xfrm>
            <a:off x="6865454" y="3437144"/>
            <a:ext cx="605812" cy="276999"/>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en-US" altLang="ko-KR" sz="1200" dirty="0">
                <a:solidFill>
                  <a:schemeClr val="tx1"/>
                </a:solidFill>
                <a:latin typeface="+mn-ea"/>
              </a:rPr>
              <a:t>30</a:t>
            </a:r>
            <a:r>
              <a:rPr lang="ko-KR" altLang="en-US" sz="1200" dirty="0">
                <a:solidFill>
                  <a:schemeClr val="tx1"/>
                </a:solidFill>
                <a:latin typeface="+mn-ea"/>
              </a:rPr>
              <a:t>일</a:t>
            </a:r>
          </a:p>
        </p:txBody>
      </p:sp>
    </p:spTree>
    <p:extLst>
      <p:ext uri="{BB962C8B-B14F-4D97-AF65-F5344CB8AC3E}">
        <p14:creationId xmlns:p14="http://schemas.microsoft.com/office/powerpoint/2010/main" val="561905780"/>
      </p:ext>
    </p:extLst>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186</a:t>
            </a:r>
            <a:r>
              <a:rPr lang="ko-KR" altLang="en-US" dirty="0"/>
              <a:t>조</a:t>
            </a:r>
          </a:p>
        </p:txBody>
      </p:sp>
      <p:sp>
        <p:nvSpPr>
          <p:cNvPr id="3" name="텍스트 개체 틀 2"/>
          <p:cNvSpPr>
            <a:spLocks noGrp="1"/>
          </p:cNvSpPr>
          <p:nvPr>
            <p:ph type="body" sz="quarter" idx="13"/>
          </p:nvPr>
        </p:nvSpPr>
        <p:spPr/>
        <p:txBody>
          <a:bodyPr/>
          <a:lstStyle/>
          <a:p>
            <a:r>
              <a:rPr lang="ko-KR" altLang="en-US" dirty="0" err="1"/>
              <a:t>위법판단의</a:t>
            </a:r>
            <a:r>
              <a:rPr lang="ko-KR" altLang="en-US" dirty="0"/>
              <a:t> </a:t>
            </a:r>
            <a:r>
              <a:rPr lang="ko-KR" altLang="en-US" dirty="0" err="1"/>
              <a:t>기준시점</a:t>
            </a:r>
            <a:endParaRPr lang="ko-KR" altLang="en-US" dirty="0"/>
          </a:p>
        </p:txBody>
      </p:sp>
      <p:cxnSp>
        <p:nvCxnSpPr>
          <p:cNvPr id="5" name="직선 연결선 4"/>
          <p:cNvCxnSpPr/>
          <p:nvPr/>
        </p:nvCxnSpPr>
        <p:spPr>
          <a:xfrm>
            <a:off x="77875" y="324097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7875" y="976902"/>
            <a:ext cx="11936323" cy="2246769"/>
          </a:xfrm>
          <a:prstGeom prst="rect">
            <a:avLst/>
          </a:prstGeom>
          <a:noFill/>
        </p:spPr>
        <p:txBody>
          <a:bodyPr wrap="square" rtlCol="0">
            <a:spAutoFit/>
          </a:bodyPr>
          <a:lstStyle/>
          <a:p>
            <a:pPr fontAlgn="base"/>
            <a:r>
              <a:rPr lang="ko-KR" altLang="en-US" sz="1400" dirty="0" err="1">
                <a:solidFill>
                  <a:schemeClr val="tx2"/>
                </a:solidFill>
              </a:rPr>
              <a:t>심결취소소송에</a:t>
            </a:r>
            <a:r>
              <a:rPr lang="ko-KR" altLang="en-US" sz="1400" dirty="0">
                <a:solidFill>
                  <a:schemeClr val="tx2"/>
                </a:solidFill>
              </a:rPr>
              <a:t> 있어서도 </a:t>
            </a:r>
            <a:r>
              <a:rPr lang="ko-KR" altLang="en-US" sz="1400" dirty="0" err="1">
                <a:solidFill>
                  <a:schemeClr val="tx2"/>
                </a:solidFill>
              </a:rPr>
              <a:t>심결의</a:t>
            </a:r>
            <a:r>
              <a:rPr lang="ko-KR" altLang="en-US" sz="1400" dirty="0">
                <a:solidFill>
                  <a:schemeClr val="tx2"/>
                </a:solidFill>
              </a:rPr>
              <a:t> 위법 여부는 </a:t>
            </a:r>
            <a:r>
              <a:rPr lang="ko-KR" altLang="en-US" sz="1400" dirty="0" err="1">
                <a:highlight>
                  <a:srgbClr val="FFFF00"/>
                </a:highlight>
              </a:rPr>
              <a:t>심결</a:t>
            </a:r>
            <a:r>
              <a:rPr lang="ko-KR" altLang="en-US" sz="1400" dirty="0">
                <a:highlight>
                  <a:srgbClr val="FFFF00"/>
                </a:highlight>
              </a:rPr>
              <a:t> 당시의 법령과 사실 상태를 기준으로 판단</a:t>
            </a:r>
            <a:r>
              <a:rPr lang="ko-KR" altLang="en-US" sz="1400" dirty="0">
                <a:solidFill>
                  <a:schemeClr val="tx2"/>
                </a:solidFill>
              </a:rPr>
              <a:t>하여야 하고</a:t>
            </a:r>
            <a:r>
              <a:rPr lang="en-US" altLang="ko-KR" sz="1400" dirty="0">
                <a:solidFill>
                  <a:schemeClr val="tx2"/>
                </a:solidFill>
              </a:rPr>
              <a:t>, </a:t>
            </a:r>
            <a:r>
              <a:rPr lang="ko-KR" altLang="en-US" sz="1400" dirty="0">
                <a:solidFill>
                  <a:schemeClr val="tx2"/>
                </a:solidFill>
              </a:rPr>
              <a:t>원칙적으로 </a:t>
            </a:r>
            <a:r>
              <a:rPr lang="ko-KR" altLang="en-US" sz="1400" dirty="0" err="1">
                <a:solidFill>
                  <a:schemeClr val="tx2"/>
                </a:solidFill>
              </a:rPr>
              <a:t>심결이</a:t>
            </a:r>
            <a:r>
              <a:rPr lang="ko-KR" altLang="en-US" sz="1400" dirty="0">
                <a:solidFill>
                  <a:schemeClr val="tx2"/>
                </a:solidFill>
              </a:rPr>
              <a:t> 있는 이후 비로소 발생한 사실을 고려하여 판단의 근거로 하여서는 아니 된다</a:t>
            </a:r>
            <a:r>
              <a:rPr lang="en-US" altLang="ko-KR" sz="1400" dirty="0">
                <a:solidFill>
                  <a:schemeClr val="tx2"/>
                </a:solidFill>
              </a:rPr>
              <a:t>.</a:t>
            </a:r>
            <a:r>
              <a:rPr lang="ko-KR" altLang="en-US" sz="1400" dirty="0">
                <a:solidFill>
                  <a:schemeClr val="tx2"/>
                </a:solidFill>
              </a:rPr>
              <a:t> 예컨대</a:t>
            </a:r>
            <a:r>
              <a:rPr lang="en-US" altLang="ko-KR" sz="1400" dirty="0">
                <a:solidFill>
                  <a:schemeClr val="tx2"/>
                </a:solidFill>
              </a:rPr>
              <a:t>, </a:t>
            </a:r>
            <a:r>
              <a:rPr lang="ko-KR" altLang="en-US" sz="1400" dirty="0" err="1">
                <a:solidFill>
                  <a:schemeClr val="tx2"/>
                </a:solidFill>
              </a:rPr>
              <a:t>심결</a:t>
            </a:r>
            <a:r>
              <a:rPr lang="ko-KR" altLang="en-US" sz="1400" dirty="0">
                <a:solidFill>
                  <a:schemeClr val="tx2"/>
                </a:solidFill>
              </a:rPr>
              <a:t> 시 이후에 발생한 확인대상발명의 특허등록사실을 고려하여 권리 대 </a:t>
            </a:r>
            <a:r>
              <a:rPr lang="ko-KR" altLang="en-US" sz="1400" dirty="0" err="1">
                <a:solidFill>
                  <a:schemeClr val="tx2"/>
                </a:solidFill>
              </a:rPr>
              <a:t>권리간의</a:t>
            </a:r>
            <a:r>
              <a:rPr lang="ko-KR" altLang="en-US" sz="1400" dirty="0">
                <a:solidFill>
                  <a:schemeClr val="tx2"/>
                </a:solidFill>
              </a:rPr>
              <a:t> 적극적 권리범위확인심판의 위법 여부 판단의 근거로서 활용될 수 없다</a:t>
            </a:r>
            <a:r>
              <a:rPr lang="en-US" altLang="ko-KR" sz="1400" dirty="0">
                <a:solidFill>
                  <a:schemeClr val="tx2"/>
                </a:solidFill>
              </a:rPr>
              <a:t>. </a:t>
            </a:r>
            <a:r>
              <a:rPr lang="ko-KR" altLang="en-US" sz="1400" dirty="0">
                <a:solidFill>
                  <a:schemeClr val="tx2"/>
                </a:solidFill>
              </a:rPr>
              <a:t>즉</a:t>
            </a:r>
            <a:r>
              <a:rPr lang="en-US" altLang="ko-KR" sz="1400" dirty="0">
                <a:solidFill>
                  <a:schemeClr val="tx2"/>
                </a:solidFill>
              </a:rPr>
              <a:t>, </a:t>
            </a:r>
            <a:r>
              <a:rPr lang="ko-KR" altLang="en-US" sz="1400" dirty="0" err="1">
                <a:solidFill>
                  <a:schemeClr val="tx2"/>
                </a:solidFill>
              </a:rPr>
              <a:t>심판계속</a:t>
            </a:r>
            <a:r>
              <a:rPr lang="ko-KR" altLang="en-US" sz="1400" dirty="0">
                <a:solidFill>
                  <a:schemeClr val="tx2"/>
                </a:solidFill>
              </a:rPr>
              <a:t> 중 확인대상발명이 등록된 경우에는 특허권</a:t>
            </a:r>
            <a:r>
              <a:rPr lang="en-US" altLang="ko-KR" sz="1400" dirty="0">
                <a:solidFill>
                  <a:schemeClr val="tx2"/>
                </a:solidFill>
              </a:rPr>
              <a:t>(</a:t>
            </a:r>
            <a:r>
              <a:rPr lang="ko-KR" altLang="en-US" sz="1400" dirty="0">
                <a:solidFill>
                  <a:schemeClr val="tx2"/>
                </a:solidFill>
              </a:rPr>
              <a:t>실용신안권</a:t>
            </a:r>
            <a:r>
              <a:rPr lang="en-US" altLang="ko-KR" sz="1400" dirty="0">
                <a:solidFill>
                  <a:schemeClr val="tx2"/>
                </a:solidFill>
              </a:rPr>
              <a:t>) </a:t>
            </a:r>
            <a:r>
              <a:rPr lang="ko-KR" altLang="en-US" sz="1400" dirty="0">
                <a:solidFill>
                  <a:schemeClr val="tx2"/>
                </a:solidFill>
              </a:rPr>
              <a:t>사이</a:t>
            </a:r>
            <a:r>
              <a:rPr lang="ko-KR" altLang="en-US" sz="1400" dirty="0"/>
              <a:t>의 </a:t>
            </a:r>
            <a:r>
              <a:rPr lang="ko-KR" altLang="en-US" sz="1400" dirty="0">
                <a:solidFill>
                  <a:schemeClr val="tx2"/>
                </a:solidFill>
              </a:rPr>
              <a:t>저촉관계를 확인하는 적극적 권리범위확인심판은 </a:t>
            </a:r>
            <a:r>
              <a:rPr lang="ko-KR" altLang="en-US" sz="1400" dirty="0" err="1">
                <a:solidFill>
                  <a:schemeClr val="tx2"/>
                </a:solidFill>
              </a:rPr>
              <a:t>부적법한</a:t>
            </a:r>
            <a:r>
              <a:rPr lang="ko-KR" altLang="en-US" sz="1400" dirty="0">
                <a:solidFill>
                  <a:schemeClr val="tx2"/>
                </a:solidFill>
              </a:rPr>
              <a:t> 것으로 되지만</a:t>
            </a:r>
            <a:r>
              <a:rPr lang="en-US" altLang="ko-KR" sz="1400" dirty="0">
                <a:solidFill>
                  <a:schemeClr val="tx2"/>
                </a:solidFill>
              </a:rPr>
              <a:t>, </a:t>
            </a:r>
            <a:r>
              <a:rPr lang="ko-KR" altLang="en-US" sz="1400" dirty="0" err="1">
                <a:solidFill>
                  <a:schemeClr val="tx2"/>
                </a:solidFill>
              </a:rPr>
              <a:t>인용심결이</a:t>
            </a:r>
            <a:r>
              <a:rPr lang="ko-KR" altLang="en-US" sz="1400" dirty="0">
                <a:solidFill>
                  <a:schemeClr val="tx2"/>
                </a:solidFill>
              </a:rPr>
              <a:t> 있는 후에 그 </a:t>
            </a:r>
            <a:r>
              <a:rPr lang="ko-KR" altLang="en-US" sz="1400" dirty="0" err="1">
                <a:solidFill>
                  <a:schemeClr val="tx2"/>
                </a:solidFill>
              </a:rPr>
              <a:t>심결에</a:t>
            </a:r>
            <a:r>
              <a:rPr lang="ko-KR" altLang="en-US" sz="1400" dirty="0">
                <a:solidFill>
                  <a:schemeClr val="tx2"/>
                </a:solidFill>
              </a:rPr>
              <a:t> 대한 취소소송 계속 중에 확인대상발명이 등록된 경우에는 그 심판 자체가 </a:t>
            </a:r>
            <a:r>
              <a:rPr lang="ko-KR" altLang="en-US" sz="1400" dirty="0" err="1">
                <a:solidFill>
                  <a:schemeClr val="tx2"/>
                </a:solidFill>
              </a:rPr>
              <a:t>부적법한</a:t>
            </a:r>
            <a:r>
              <a:rPr lang="ko-KR" altLang="en-US" sz="1400" dirty="0">
                <a:solidFill>
                  <a:schemeClr val="tx2"/>
                </a:solidFill>
              </a:rPr>
              <a:t> 것으로 되는 것은 아니게 된다</a:t>
            </a:r>
            <a:r>
              <a:rPr lang="en-US" altLang="ko-KR" sz="1400" dirty="0">
                <a:solidFill>
                  <a:schemeClr val="tx2"/>
                </a:solidFill>
              </a:rPr>
              <a:t>. </a:t>
            </a:r>
            <a:r>
              <a:rPr lang="ko-KR" altLang="en-US" sz="1400" dirty="0">
                <a:solidFill>
                  <a:schemeClr val="tx2"/>
                </a:solidFill>
              </a:rPr>
              <a:t>이 경우 특허법원에서 </a:t>
            </a:r>
            <a:r>
              <a:rPr lang="ko-KR" altLang="en-US" sz="1400" dirty="0" err="1">
                <a:solidFill>
                  <a:schemeClr val="tx2"/>
                </a:solidFill>
              </a:rPr>
              <a:t>심결의</a:t>
            </a:r>
            <a:r>
              <a:rPr lang="ko-KR" altLang="en-US" sz="1400" dirty="0">
                <a:solidFill>
                  <a:schemeClr val="tx2"/>
                </a:solidFill>
              </a:rPr>
              <a:t> 위법성 여부에 대한 실체판단 후 </a:t>
            </a:r>
            <a:r>
              <a:rPr lang="ko-KR" altLang="en-US" sz="1400" dirty="0" err="1">
                <a:solidFill>
                  <a:schemeClr val="tx2"/>
                </a:solidFill>
              </a:rPr>
              <a:t>심결이</a:t>
            </a:r>
            <a:r>
              <a:rPr lang="ko-KR" altLang="en-US" sz="1400" dirty="0">
                <a:solidFill>
                  <a:schemeClr val="tx2"/>
                </a:solidFill>
              </a:rPr>
              <a:t> 위법하면 그 </a:t>
            </a:r>
            <a:r>
              <a:rPr lang="ko-KR" altLang="en-US" sz="1400" dirty="0" err="1">
                <a:solidFill>
                  <a:schemeClr val="tx2"/>
                </a:solidFill>
              </a:rPr>
              <a:t>심결을</a:t>
            </a:r>
            <a:r>
              <a:rPr lang="ko-KR" altLang="en-US" sz="1400" dirty="0">
                <a:solidFill>
                  <a:schemeClr val="tx2"/>
                </a:solidFill>
              </a:rPr>
              <a:t> </a:t>
            </a:r>
            <a:r>
              <a:rPr lang="ko-KR" altLang="en-US" sz="1400" dirty="0" err="1">
                <a:solidFill>
                  <a:schemeClr val="tx2"/>
                </a:solidFill>
              </a:rPr>
              <a:t>취소환송하게</a:t>
            </a:r>
            <a:r>
              <a:rPr lang="ko-KR" altLang="en-US" sz="1400" dirty="0">
                <a:solidFill>
                  <a:schemeClr val="tx2"/>
                </a:solidFill>
              </a:rPr>
              <a:t> 되고</a:t>
            </a:r>
            <a:r>
              <a:rPr lang="en-US" altLang="ko-KR" sz="1400" dirty="0">
                <a:solidFill>
                  <a:schemeClr val="tx2"/>
                </a:solidFill>
              </a:rPr>
              <a:t>, </a:t>
            </a:r>
            <a:r>
              <a:rPr lang="ko-KR" altLang="en-US" sz="1400" dirty="0">
                <a:solidFill>
                  <a:schemeClr val="tx2"/>
                </a:solidFill>
              </a:rPr>
              <a:t>심판원에서 심판청구를 </a:t>
            </a:r>
            <a:r>
              <a:rPr lang="ko-KR" altLang="en-US" sz="1400" dirty="0" err="1">
                <a:solidFill>
                  <a:schemeClr val="tx2"/>
                </a:solidFill>
              </a:rPr>
              <a:t>심결각하하게</a:t>
            </a:r>
            <a:r>
              <a:rPr lang="ko-KR" altLang="en-US" sz="1400" dirty="0">
                <a:solidFill>
                  <a:schemeClr val="tx2"/>
                </a:solidFill>
              </a:rPr>
              <a:t> 된다</a:t>
            </a:r>
            <a:r>
              <a:rPr lang="en-US" altLang="ko-KR" sz="1400" dirty="0">
                <a:solidFill>
                  <a:schemeClr val="tx2"/>
                </a:solidFill>
              </a:rPr>
              <a:t>. </a:t>
            </a:r>
            <a:r>
              <a:rPr lang="ko-KR" altLang="en-US" sz="1400" dirty="0">
                <a:solidFill>
                  <a:schemeClr val="tx2"/>
                </a:solidFill>
              </a:rPr>
              <a:t>만약 </a:t>
            </a:r>
            <a:r>
              <a:rPr lang="ko-KR" altLang="en-US" sz="1400" dirty="0" err="1">
                <a:solidFill>
                  <a:schemeClr val="tx2"/>
                </a:solidFill>
              </a:rPr>
              <a:t>심결이</a:t>
            </a:r>
            <a:r>
              <a:rPr lang="ko-KR" altLang="en-US" sz="1400" dirty="0">
                <a:solidFill>
                  <a:schemeClr val="tx2"/>
                </a:solidFill>
              </a:rPr>
              <a:t> 위법하지 않으면 기각판결을 하게 되고 그 결과 최종적으로 심판원의 </a:t>
            </a:r>
            <a:r>
              <a:rPr lang="ko-KR" altLang="en-US" sz="1400" dirty="0" err="1">
                <a:solidFill>
                  <a:schemeClr val="tx2"/>
                </a:solidFill>
              </a:rPr>
              <a:t>인용심결이</a:t>
            </a:r>
            <a:r>
              <a:rPr lang="ko-KR" altLang="en-US" sz="1400" dirty="0">
                <a:solidFill>
                  <a:schemeClr val="tx2"/>
                </a:solidFill>
              </a:rPr>
              <a:t> 확정될 수 있다</a:t>
            </a:r>
            <a:r>
              <a:rPr lang="en-US" altLang="ko-KR" sz="1400" dirty="0">
                <a:solidFill>
                  <a:schemeClr val="tx2"/>
                </a:solidFill>
              </a:rPr>
              <a:t>. </a:t>
            </a:r>
            <a:r>
              <a:rPr lang="ko-KR" altLang="en-US" sz="1400" dirty="0">
                <a:solidFill>
                  <a:schemeClr val="tx2"/>
                </a:solidFill>
              </a:rPr>
              <a:t>이는 의도치 않게 특허권 사이의 저촉관계를 확인하는 적극적 권리범위확인심판의 </a:t>
            </a:r>
            <a:r>
              <a:rPr lang="ko-KR" altLang="en-US" sz="1400" dirty="0" err="1">
                <a:solidFill>
                  <a:schemeClr val="tx2"/>
                </a:solidFill>
              </a:rPr>
              <a:t>인용심결이</a:t>
            </a:r>
            <a:r>
              <a:rPr lang="ko-KR" altLang="en-US" sz="1400" dirty="0">
                <a:solidFill>
                  <a:schemeClr val="tx2"/>
                </a:solidFill>
              </a:rPr>
              <a:t> 확정된 경우로서 어쩔 수 없는 상황이라 할 것이다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highlight>
                  <a:srgbClr val="FFFF00"/>
                </a:highlight>
              </a:rPr>
              <a:t>적극적 권리범위확인심판을 기각하는 </a:t>
            </a:r>
            <a:r>
              <a:rPr lang="ko-KR" altLang="en-US" sz="1400" dirty="0" err="1">
                <a:highlight>
                  <a:srgbClr val="FFFF00"/>
                </a:highlight>
              </a:rPr>
              <a:t>심결인</a:t>
            </a:r>
            <a:r>
              <a:rPr lang="ko-KR" altLang="en-US" sz="1400" dirty="0">
                <a:highlight>
                  <a:srgbClr val="FFFF00"/>
                </a:highlight>
              </a:rPr>
              <a:t> 경우</a:t>
            </a:r>
            <a:r>
              <a:rPr lang="ko-KR" altLang="en-US" sz="1400" dirty="0">
                <a:solidFill>
                  <a:schemeClr val="tx2"/>
                </a:solidFill>
              </a:rPr>
              <a:t>에 소의 이익을 긍정할 것인지 여부에 대하여 소의 이익이 부정된다고 하면 </a:t>
            </a:r>
            <a:r>
              <a:rPr lang="ko-KR" altLang="en-US" sz="1400" dirty="0" err="1">
                <a:solidFill>
                  <a:schemeClr val="tx2"/>
                </a:solidFill>
              </a:rPr>
              <a:t>기각심결이</a:t>
            </a:r>
            <a:r>
              <a:rPr lang="ko-KR" altLang="en-US" sz="1400" dirty="0">
                <a:solidFill>
                  <a:schemeClr val="tx2"/>
                </a:solidFill>
              </a:rPr>
              <a:t> 확정되는데</a:t>
            </a:r>
            <a:r>
              <a:rPr lang="en-US" altLang="ko-KR" sz="1400" dirty="0">
                <a:solidFill>
                  <a:schemeClr val="tx2"/>
                </a:solidFill>
              </a:rPr>
              <a:t>, </a:t>
            </a:r>
            <a:r>
              <a:rPr lang="ko-KR" altLang="en-US" sz="1400" dirty="0">
                <a:solidFill>
                  <a:schemeClr val="tx2"/>
                </a:solidFill>
              </a:rPr>
              <a:t>적극적 권리범위확인심판을 구하는 대상이 등록되었다가 후에 </a:t>
            </a:r>
            <a:r>
              <a:rPr lang="ko-KR" altLang="en-US" sz="1400" dirty="0" err="1">
                <a:solidFill>
                  <a:schemeClr val="tx2"/>
                </a:solidFill>
              </a:rPr>
              <a:t>등록무효심결에</a:t>
            </a:r>
            <a:r>
              <a:rPr lang="ko-KR" altLang="en-US" sz="1400" dirty="0">
                <a:solidFill>
                  <a:schemeClr val="tx2"/>
                </a:solidFill>
              </a:rPr>
              <a:t> 따라 소급하여 소멸한 경우에는 위 </a:t>
            </a:r>
            <a:r>
              <a:rPr lang="ko-KR" altLang="en-US" sz="1400" dirty="0" err="1">
                <a:solidFill>
                  <a:schemeClr val="tx2"/>
                </a:solidFill>
                <a:highlight>
                  <a:srgbClr val="00FFFF"/>
                </a:highlight>
              </a:rPr>
              <a:t>기각심결이</a:t>
            </a:r>
            <a:r>
              <a:rPr lang="ko-KR" altLang="en-US" sz="1400" dirty="0">
                <a:solidFill>
                  <a:schemeClr val="tx2"/>
                </a:solidFill>
                <a:highlight>
                  <a:srgbClr val="00FFFF"/>
                </a:highlight>
              </a:rPr>
              <a:t> 일사부재리의 효력을 갖게 되어 더 이상 다툴 수 없게 되는 문제가 발생하므로</a:t>
            </a:r>
            <a:r>
              <a:rPr lang="en-US" altLang="ko-KR" sz="1400" dirty="0">
                <a:solidFill>
                  <a:schemeClr val="tx2"/>
                </a:solidFill>
                <a:highlight>
                  <a:srgbClr val="00FFFF"/>
                </a:highlight>
              </a:rPr>
              <a:t>, </a:t>
            </a:r>
            <a:r>
              <a:rPr lang="ko-KR" altLang="en-US" sz="1400" dirty="0">
                <a:solidFill>
                  <a:schemeClr val="tx2"/>
                </a:solidFill>
                <a:highlight>
                  <a:srgbClr val="00FFFF"/>
                </a:highlight>
              </a:rPr>
              <a:t>소의 이익이 긍정된다는 견해</a:t>
            </a:r>
            <a:r>
              <a:rPr lang="ko-KR" altLang="en-US" sz="1400" dirty="0">
                <a:solidFill>
                  <a:schemeClr val="tx2"/>
                </a:solidFill>
              </a:rPr>
              <a:t>가 있으나</a:t>
            </a:r>
            <a:r>
              <a:rPr lang="en-US" altLang="ko-KR" sz="1400" dirty="0">
                <a:solidFill>
                  <a:schemeClr val="tx2"/>
                </a:solidFill>
              </a:rPr>
              <a:t>, </a:t>
            </a:r>
            <a:r>
              <a:rPr lang="ko-KR" altLang="en-US" sz="1400" dirty="0">
                <a:solidFill>
                  <a:schemeClr val="tx2"/>
                </a:solidFill>
              </a:rPr>
              <a:t>판례는 </a:t>
            </a:r>
            <a:r>
              <a:rPr lang="ko-KR" altLang="en-US" sz="1400" dirty="0">
                <a:highlight>
                  <a:srgbClr val="FFFF00"/>
                </a:highlight>
              </a:rPr>
              <a:t>단순히 각하되어야 할 것이 기각된 것에 불과하여 </a:t>
            </a:r>
            <a:r>
              <a:rPr lang="ko-KR" altLang="en-US" sz="1400" dirty="0" err="1">
                <a:highlight>
                  <a:srgbClr val="FFFF00"/>
                </a:highlight>
              </a:rPr>
              <a:t>심결취소를</a:t>
            </a:r>
            <a:r>
              <a:rPr lang="ko-KR" altLang="en-US" sz="1400" dirty="0">
                <a:highlight>
                  <a:srgbClr val="FFFF00"/>
                </a:highlight>
              </a:rPr>
              <a:t> 구할 법률상 이익이 인정되지 아니하여 소의 이익이 부정된다는 입장</a:t>
            </a:r>
            <a:r>
              <a:rPr lang="ko-KR" altLang="en-US" sz="1400" dirty="0">
                <a:solidFill>
                  <a:schemeClr val="tx2"/>
                </a:solidFill>
              </a:rPr>
              <a:t>이다</a:t>
            </a:r>
            <a:r>
              <a:rPr lang="en-US" altLang="ko-KR" sz="1400" dirty="0">
                <a:solidFill>
                  <a:schemeClr val="tx2"/>
                </a:solidFill>
              </a:rPr>
              <a:t>.</a:t>
            </a:r>
            <a:endParaRPr lang="ko-KR" altLang="en-US" sz="1400" dirty="0">
              <a:solidFill>
                <a:schemeClr val="tx2"/>
              </a:solidFill>
            </a:endParaRPr>
          </a:p>
        </p:txBody>
      </p:sp>
      <p:cxnSp>
        <p:nvCxnSpPr>
          <p:cNvPr id="31" name="직선 연결선 30"/>
          <p:cNvCxnSpPr/>
          <p:nvPr/>
        </p:nvCxnSpPr>
        <p:spPr>
          <a:xfrm>
            <a:off x="258317" y="4185845"/>
            <a:ext cx="11600307"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Rectangle 14"/>
          <p:cNvSpPr>
            <a:spLocks noChangeArrowheads="1"/>
          </p:cNvSpPr>
          <p:nvPr/>
        </p:nvSpPr>
        <p:spPr bwMode="auto">
          <a:xfrm flipV="1">
            <a:off x="1244033" y="410931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33" name="TextBox 32"/>
          <p:cNvSpPr txBox="1"/>
          <p:nvPr/>
        </p:nvSpPr>
        <p:spPr>
          <a:xfrm>
            <a:off x="275499" y="3516746"/>
            <a:ext cx="2074122"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적극적권리범위확인심판청구</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甲</a:t>
            </a:r>
            <a:r>
              <a:rPr lang="en-US" altLang="ko-KR" sz="1200" dirty="0"/>
              <a:t>)</a:t>
            </a:r>
            <a:endParaRPr lang="ko-KR" altLang="en-US" sz="1200" dirty="0"/>
          </a:p>
        </p:txBody>
      </p:sp>
      <p:cxnSp>
        <p:nvCxnSpPr>
          <p:cNvPr id="34" name="직선 연결선 33"/>
          <p:cNvCxnSpPr>
            <a:stCxn id="33" idx="2"/>
            <a:endCxn id="32" idx="4"/>
          </p:cNvCxnSpPr>
          <p:nvPr/>
        </p:nvCxnSpPr>
        <p:spPr>
          <a:xfrm>
            <a:off x="1312560" y="3978411"/>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2426757" y="3516746"/>
            <a:ext cx="497418"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인용심결</a:t>
            </a:r>
            <a:endParaRPr lang="ko-KR" altLang="en-US" sz="1200" dirty="0"/>
          </a:p>
        </p:txBody>
      </p:sp>
      <p:cxnSp>
        <p:nvCxnSpPr>
          <p:cNvPr id="36" name="직선 연결선 35"/>
          <p:cNvCxnSpPr>
            <a:stCxn id="35" idx="2"/>
          </p:cNvCxnSpPr>
          <p:nvPr/>
        </p:nvCxnSpPr>
        <p:spPr>
          <a:xfrm>
            <a:off x="2675466" y="3978411"/>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 name="Rectangle 14"/>
          <p:cNvSpPr>
            <a:spLocks noChangeArrowheads="1"/>
          </p:cNvSpPr>
          <p:nvPr/>
        </p:nvSpPr>
        <p:spPr bwMode="auto">
          <a:xfrm flipV="1">
            <a:off x="2608546" y="410931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1" name="TextBox 40"/>
          <p:cNvSpPr txBox="1"/>
          <p:nvPr/>
        </p:nvSpPr>
        <p:spPr>
          <a:xfrm>
            <a:off x="3004472" y="3516746"/>
            <a:ext cx="1281778"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심결취소소송제기</a:t>
            </a:r>
            <a:endParaRPr lang="en-US" altLang="ko-KR" sz="1200" dirty="0"/>
          </a:p>
          <a:p>
            <a:pPr algn="ctr"/>
            <a:r>
              <a:rPr lang="en-US" altLang="ko-KR" sz="1200" dirty="0"/>
              <a:t>(</a:t>
            </a:r>
            <a:r>
              <a:rPr lang="ko-KR" altLang="en-US" sz="1200" dirty="0"/>
              <a:t>이해관계인</a:t>
            </a:r>
            <a:r>
              <a:rPr lang="en-US" altLang="ko-KR" sz="1200" dirty="0"/>
              <a:t>, </a:t>
            </a:r>
            <a:r>
              <a:rPr lang="ko-KR" altLang="en-US" sz="1200" dirty="0"/>
              <a:t>乙</a:t>
            </a:r>
            <a:r>
              <a:rPr lang="en-US" altLang="ko-KR" sz="1200" dirty="0"/>
              <a:t>)</a:t>
            </a:r>
            <a:endParaRPr lang="ko-KR" altLang="en-US" sz="1200" dirty="0"/>
          </a:p>
        </p:txBody>
      </p:sp>
      <p:cxnSp>
        <p:nvCxnSpPr>
          <p:cNvPr id="42" name="직선 연결선 41"/>
          <p:cNvCxnSpPr>
            <a:stCxn id="41" idx="2"/>
          </p:cNvCxnSpPr>
          <p:nvPr/>
        </p:nvCxnSpPr>
        <p:spPr>
          <a:xfrm>
            <a:off x="3645361" y="3978411"/>
            <a:ext cx="0" cy="15102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3" name="Rectangle 14"/>
          <p:cNvSpPr>
            <a:spLocks noChangeArrowheads="1"/>
          </p:cNvSpPr>
          <p:nvPr/>
        </p:nvSpPr>
        <p:spPr bwMode="auto">
          <a:xfrm flipV="1">
            <a:off x="3568690" y="410931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44" name="TextBox 43"/>
          <p:cNvSpPr txBox="1"/>
          <p:nvPr/>
        </p:nvSpPr>
        <p:spPr>
          <a:xfrm>
            <a:off x="5753100" y="3644739"/>
            <a:ext cx="5543550" cy="1127286"/>
          </a:xfrm>
          <a:prstGeom prst="rect">
            <a:avLst/>
          </a:prstGeom>
          <a:solidFill>
            <a:schemeClr val="bg1">
              <a:lumMod val="95000"/>
            </a:schemeClr>
          </a:solidFill>
          <a:ln>
            <a:solidFill>
              <a:schemeClr val="bg1">
                <a:lumMod val="50000"/>
              </a:schemeClr>
            </a:solidFill>
          </a:ln>
        </p:spPr>
        <p:txBody>
          <a:bodyPr wrap="square" rtlCol="0" anchor="ctr">
            <a:noAutofit/>
          </a:bodyPr>
          <a:lstStyle/>
          <a:p>
            <a:r>
              <a:rPr lang="ko-KR" altLang="en-US" sz="1200" dirty="0">
                <a:solidFill>
                  <a:schemeClr val="tx2"/>
                </a:solidFill>
              </a:rPr>
              <a:t>이해관계인 乙의 입장에서는 확인대상발명등록 여부와 무관하게 </a:t>
            </a:r>
            <a:r>
              <a:rPr lang="ko-KR" altLang="en-US" sz="1200" dirty="0" err="1">
                <a:solidFill>
                  <a:schemeClr val="tx2"/>
                </a:solidFill>
              </a:rPr>
              <a:t>인용심결을</a:t>
            </a:r>
            <a:r>
              <a:rPr lang="ko-KR" altLang="en-US" sz="1200" dirty="0">
                <a:solidFill>
                  <a:schemeClr val="tx2"/>
                </a:solidFill>
              </a:rPr>
              <a:t> 취소할 필요가 있기 때문에 소의 이익이 긍정된다</a:t>
            </a:r>
            <a:r>
              <a:rPr lang="en-US" altLang="ko-KR" sz="1200" dirty="0">
                <a:solidFill>
                  <a:schemeClr val="tx2"/>
                </a:solidFill>
              </a:rPr>
              <a:t>. </a:t>
            </a:r>
            <a:r>
              <a:rPr lang="ko-KR" altLang="en-US" sz="1200" dirty="0">
                <a:solidFill>
                  <a:schemeClr val="tx2"/>
                </a:solidFill>
              </a:rPr>
              <a:t>따라서</a:t>
            </a:r>
            <a:r>
              <a:rPr lang="en-US" altLang="ko-KR" sz="1200" dirty="0">
                <a:solidFill>
                  <a:schemeClr val="tx2"/>
                </a:solidFill>
              </a:rPr>
              <a:t>, </a:t>
            </a:r>
            <a:r>
              <a:rPr lang="ko-KR" altLang="en-US" sz="1200" dirty="0" err="1">
                <a:solidFill>
                  <a:schemeClr val="tx2"/>
                </a:solidFill>
              </a:rPr>
              <a:t>심결의</a:t>
            </a:r>
            <a:r>
              <a:rPr lang="ko-KR" altLang="en-US" sz="1200" dirty="0">
                <a:solidFill>
                  <a:schemeClr val="tx2"/>
                </a:solidFill>
              </a:rPr>
              <a:t> 위법성 여부를 판단하게 되는데</a:t>
            </a:r>
            <a:r>
              <a:rPr lang="en-US" altLang="ko-KR" sz="1200" dirty="0">
                <a:solidFill>
                  <a:schemeClr val="tx2"/>
                </a:solidFill>
              </a:rPr>
              <a:t>, </a:t>
            </a:r>
            <a:r>
              <a:rPr lang="ko-KR" altLang="en-US" sz="1200" dirty="0">
                <a:solidFill>
                  <a:schemeClr val="tx2"/>
                </a:solidFill>
              </a:rPr>
              <a:t>확인대상발명의 등록은 </a:t>
            </a:r>
            <a:r>
              <a:rPr lang="ko-KR" altLang="en-US" sz="1200" dirty="0" err="1">
                <a:solidFill>
                  <a:schemeClr val="tx2"/>
                </a:solidFill>
              </a:rPr>
              <a:t>심결시</a:t>
            </a:r>
            <a:r>
              <a:rPr lang="ko-KR" altLang="en-US" sz="1200" dirty="0">
                <a:solidFill>
                  <a:schemeClr val="tx2"/>
                </a:solidFill>
              </a:rPr>
              <a:t> 이후에 발생한 사실이기 때문에 그 판단에 영향을 미치지 아니한다</a:t>
            </a:r>
            <a:r>
              <a:rPr lang="en-US" altLang="ko-KR" sz="1200" dirty="0">
                <a:solidFill>
                  <a:schemeClr val="tx2"/>
                </a:solidFill>
              </a:rPr>
              <a:t>. </a:t>
            </a:r>
            <a:r>
              <a:rPr lang="ko-KR" altLang="en-US" sz="1200" dirty="0">
                <a:solidFill>
                  <a:schemeClr val="tx2"/>
                </a:solidFill>
              </a:rPr>
              <a:t>구체적으로 </a:t>
            </a:r>
            <a:r>
              <a:rPr lang="ko-KR" altLang="en-US" sz="1200" dirty="0" err="1">
                <a:solidFill>
                  <a:schemeClr val="tx2"/>
                </a:solidFill>
              </a:rPr>
              <a:t>심결이</a:t>
            </a:r>
            <a:r>
              <a:rPr lang="ko-KR" altLang="en-US" sz="1200" dirty="0">
                <a:solidFill>
                  <a:schemeClr val="tx2"/>
                </a:solidFill>
              </a:rPr>
              <a:t> 위법하지 않으면 기각판결되어 </a:t>
            </a:r>
            <a:r>
              <a:rPr lang="ko-KR" altLang="en-US" sz="1200" dirty="0" err="1">
                <a:solidFill>
                  <a:schemeClr val="tx2"/>
                </a:solidFill>
              </a:rPr>
              <a:t>인용심결이</a:t>
            </a:r>
            <a:r>
              <a:rPr lang="ko-KR" altLang="en-US" sz="1200" dirty="0">
                <a:solidFill>
                  <a:schemeClr val="tx2"/>
                </a:solidFill>
              </a:rPr>
              <a:t> 확정되고</a:t>
            </a:r>
            <a:r>
              <a:rPr lang="en-US" altLang="ko-KR" sz="1200" dirty="0">
                <a:solidFill>
                  <a:schemeClr val="tx2"/>
                </a:solidFill>
              </a:rPr>
              <a:t>, </a:t>
            </a:r>
            <a:r>
              <a:rPr lang="ko-KR" altLang="en-US" sz="1200" dirty="0" err="1">
                <a:solidFill>
                  <a:schemeClr val="tx2"/>
                </a:solidFill>
              </a:rPr>
              <a:t>심결이</a:t>
            </a:r>
            <a:r>
              <a:rPr lang="ko-KR" altLang="en-US" sz="1200" dirty="0">
                <a:solidFill>
                  <a:schemeClr val="tx2"/>
                </a:solidFill>
              </a:rPr>
              <a:t> 위법하면 취소환송되고 특허심판원에서 </a:t>
            </a:r>
            <a:r>
              <a:rPr lang="ko-KR" altLang="en-US" sz="1200" dirty="0" err="1">
                <a:solidFill>
                  <a:schemeClr val="tx2"/>
                </a:solidFill>
              </a:rPr>
              <a:t>심결각하하게</a:t>
            </a:r>
            <a:r>
              <a:rPr lang="ko-KR" altLang="en-US" sz="1200" dirty="0">
                <a:solidFill>
                  <a:schemeClr val="tx2"/>
                </a:solidFill>
              </a:rPr>
              <a:t> 된다</a:t>
            </a:r>
            <a:r>
              <a:rPr lang="en-US" altLang="ko-KR" sz="1200" dirty="0">
                <a:solidFill>
                  <a:schemeClr val="tx2"/>
                </a:solidFill>
              </a:rPr>
              <a:t>.</a:t>
            </a:r>
          </a:p>
        </p:txBody>
      </p:sp>
      <p:sp>
        <p:nvSpPr>
          <p:cNvPr id="57" name="TextBox 56"/>
          <p:cNvSpPr txBox="1"/>
          <p:nvPr/>
        </p:nvSpPr>
        <p:spPr>
          <a:xfrm>
            <a:off x="4356552" y="3516746"/>
            <a:ext cx="1281778" cy="461665"/>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algn="ctr"/>
            <a:r>
              <a:rPr lang="ko-KR" altLang="en-US" sz="1200" dirty="0"/>
              <a:t>확인대상발명</a:t>
            </a:r>
            <a:endParaRPr lang="en-US" altLang="ko-KR" sz="1200" dirty="0"/>
          </a:p>
          <a:p>
            <a:pPr algn="ctr"/>
            <a:r>
              <a:rPr lang="ko-KR" altLang="en-US" sz="1200" dirty="0"/>
              <a:t>등록</a:t>
            </a:r>
          </a:p>
        </p:txBody>
      </p:sp>
      <p:cxnSp>
        <p:nvCxnSpPr>
          <p:cNvPr id="58" name="직선 연결선 57"/>
          <p:cNvCxnSpPr>
            <a:stCxn id="57" idx="2"/>
          </p:cNvCxnSpPr>
          <p:nvPr/>
        </p:nvCxnSpPr>
        <p:spPr>
          <a:xfrm>
            <a:off x="4997441" y="3978411"/>
            <a:ext cx="0" cy="15102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Rectangle 14"/>
          <p:cNvSpPr>
            <a:spLocks noChangeArrowheads="1"/>
          </p:cNvSpPr>
          <p:nvPr/>
        </p:nvSpPr>
        <p:spPr bwMode="auto">
          <a:xfrm flipV="1">
            <a:off x="4920770" y="410931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cxnSp>
        <p:nvCxnSpPr>
          <p:cNvPr id="60" name="직선 연결선 59"/>
          <p:cNvCxnSpPr/>
          <p:nvPr/>
        </p:nvCxnSpPr>
        <p:spPr>
          <a:xfrm>
            <a:off x="258317" y="6042625"/>
            <a:ext cx="11600307"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Rectangle 14"/>
          <p:cNvSpPr>
            <a:spLocks noChangeArrowheads="1"/>
          </p:cNvSpPr>
          <p:nvPr/>
        </p:nvSpPr>
        <p:spPr bwMode="auto">
          <a:xfrm flipV="1">
            <a:off x="1244033" y="596609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62" name="TextBox 61"/>
          <p:cNvSpPr txBox="1"/>
          <p:nvPr/>
        </p:nvSpPr>
        <p:spPr>
          <a:xfrm>
            <a:off x="275499" y="5373526"/>
            <a:ext cx="2074122" cy="461665"/>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적극적권리범위확인심판청구</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甲</a:t>
            </a:r>
            <a:r>
              <a:rPr lang="en-US" altLang="ko-KR" sz="1200" dirty="0"/>
              <a:t>)</a:t>
            </a:r>
            <a:endParaRPr lang="ko-KR" altLang="en-US" sz="1200" dirty="0"/>
          </a:p>
        </p:txBody>
      </p:sp>
      <p:cxnSp>
        <p:nvCxnSpPr>
          <p:cNvPr id="63" name="직선 연결선 62"/>
          <p:cNvCxnSpPr>
            <a:stCxn id="62" idx="2"/>
            <a:endCxn id="61" idx="4"/>
          </p:cNvCxnSpPr>
          <p:nvPr/>
        </p:nvCxnSpPr>
        <p:spPr>
          <a:xfrm>
            <a:off x="1312560" y="5835191"/>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2426757" y="5373526"/>
            <a:ext cx="497418" cy="461665"/>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200" dirty="0"/>
              <a:t>기각</a:t>
            </a:r>
            <a:endParaRPr lang="en-US" altLang="ko-KR" sz="1200" dirty="0"/>
          </a:p>
          <a:p>
            <a:pPr algn="ctr"/>
            <a:r>
              <a:rPr lang="ko-KR" altLang="en-US" sz="1200" dirty="0" err="1"/>
              <a:t>심결</a:t>
            </a:r>
            <a:endParaRPr lang="ko-KR" altLang="en-US" sz="1200" dirty="0"/>
          </a:p>
        </p:txBody>
      </p:sp>
      <p:cxnSp>
        <p:nvCxnSpPr>
          <p:cNvPr id="65" name="직선 연결선 64"/>
          <p:cNvCxnSpPr>
            <a:stCxn id="64" idx="2"/>
          </p:cNvCxnSpPr>
          <p:nvPr/>
        </p:nvCxnSpPr>
        <p:spPr>
          <a:xfrm>
            <a:off x="2675466" y="5835191"/>
            <a:ext cx="2911" cy="13090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6" name="Rectangle 14"/>
          <p:cNvSpPr>
            <a:spLocks noChangeArrowheads="1"/>
          </p:cNvSpPr>
          <p:nvPr/>
        </p:nvSpPr>
        <p:spPr bwMode="auto">
          <a:xfrm flipV="1">
            <a:off x="2608546" y="596609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67" name="TextBox 66"/>
          <p:cNvSpPr txBox="1"/>
          <p:nvPr/>
        </p:nvSpPr>
        <p:spPr>
          <a:xfrm>
            <a:off x="3004472" y="5373526"/>
            <a:ext cx="1281778" cy="461665"/>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200" dirty="0" err="1"/>
              <a:t>심결취소소송제기</a:t>
            </a:r>
            <a:endParaRPr lang="en-US" altLang="ko-KR" sz="1200" dirty="0"/>
          </a:p>
          <a:p>
            <a:pPr algn="ctr"/>
            <a:r>
              <a:rPr lang="en-US" altLang="ko-KR" sz="1200" dirty="0"/>
              <a:t>(</a:t>
            </a:r>
            <a:r>
              <a:rPr lang="ko-KR" altLang="en-US" sz="1200" dirty="0" err="1"/>
              <a:t>특허권자</a:t>
            </a:r>
            <a:r>
              <a:rPr lang="en-US" altLang="ko-KR" sz="1200" dirty="0"/>
              <a:t>, </a:t>
            </a:r>
            <a:r>
              <a:rPr lang="ko-KR" altLang="en-US" sz="1200" dirty="0"/>
              <a:t>甲</a:t>
            </a:r>
            <a:r>
              <a:rPr lang="en-US" altLang="ko-KR" sz="1200" dirty="0"/>
              <a:t>)</a:t>
            </a:r>
            <a:endParaRPr lang="ko-KR" altLang="en-US" sz="1200" dirty="0"/>
          </a:p>
        </p:txBody>
      </p:sp>
      <p:cxnSp>
        <p:nvCxnSpPr>
          <p:cNvPr id="68" name="직선 연결선 67"/>
          <p:cNvCxnSpPr>
            <a:stCxn id="67" idx="2"/>
          </p:cNvCxnSpPr>
          <p:nvPr/>
        </p:nvCxnSpPr>
        <p:spPr>
          <a:xfrm>
            <a:off x="3645361" y="5835191"/>
            <a:ext cx="0" cy="15102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Rectangle 14"/>
          <p:cNvSpPr>
            <a:spLocks noChangeArrowheads="1"/>
          </p:cNvSpPr>
          <p:nvPr/>
        </p:nvSpPr>
        <p:spPr bwMode="auto">
          <a:xfrm flipV="1">
            <a:off x="3568690" y="596609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
        <p:nvSpPr>
          <p:cNvPr id="70" name="TextBox 69"/>
          <p:cNvSpPr txBox="1"/>
          <p:nvPr/>
        </p:nvSpPr>
        <p:spPr>
          <a:xfrm>
            <a:off x="5753100" y="5643799"/>
            <a:ext cx="5543550" cy="842726"/>
          </a:xfrm>
          <a:prstGeom prst="rect">
            <a:avLst/>
          </a:prstGeom>
          <a:solidFill>
            <a:schemeClr val="bg1">
              <a:lumMod val="95000"/>
            </a:schemeClr>
          </a:solidFill>
          <a:ln>
            <a:solidFill>
              <a:schemeClr val="bg1">
                <a:lumMod val="50000"/>
              </a:schemeClr>
            </a:solidFill>
          </a:ln>
        </p:spPr>
        <p:txBody>
          <a:bodyPr wrap="square" rtlCol="0" anchor="ctr">
            <a:noAutofit/>
          </a:bodyPr>
          <a:lstStyle/>
          <a:p>
            <a:r>
              <a:rPr lang="ko-KR" altLang="en-US" sz="1200" dirty="0" err="1">
                <a:solidFill>
                  <a:schemeClr val="tx2"/>
                </a:solidFill>
              </a:rPr>
              <a:t>특허권자</a:t>
            </a:r>
            <a:r>
              <a:rPr lang="ko-KR" altLang="en-US" sz="1200" dirty="0">
                <a:solidFill>
                  <a:schemeClr val="tx2"/>
                </a:solidFill>
              </a:rPr>
              <a:t> 甲의 입장에서는 소의 이익이 긍정되고 본안심리에서 인용</a:t>
            </a:r>
            <a:r>
              <a:rPr lang="en-US" altLang="ko-KR" sz="1200" dirty="0">
                <a:solidFill>
                  <a:schemeClr val="tx2"/>
                </a:solidFill>
              </a:rPr>
              <a:t>(</a:t>
            </a:r>
            <a:r>
              <a:rPr lang="ko-KR" altLang="en-US" sz="1200" dirty="0">
                <a:solidFill>
                  <a:schemeClr val="tx2"/>
                </a:solidFill>
              </a:rPr>
              <a:t>파기환송</a:t>
            </a:r>
            <a:r>
              <a:rPr lang="en-US" altLang="ko-KR" sz="1200" dirty="0">
                <a:solidFill>
                  <a:schemeClr val="tx2"/>
                </a:solidFill>
              </a:rPr>
              <a:t>)</a:t>
            </a:r>
            <a:r>
              <a:rPr lang="ko-KR" altLang="en-US" sz="1200" dirty="0">
                <a:solidFill>
                  <a:schemeClr val="tx2"/>
                </a:solidFill>
              </a:rPr>
              <a:t>되더라도 특허심판원에서 </a:t>
            </a:r>
            <a:r>
              <a:rPr lang="ko-KR" altLang="en-US" sz="1200" dirty="0" err="1">
                <a:solidFill>
                  <a:schemeClr val="tx2"/>
                </a:solidFill>
              </a:rPr>
              <a:t>심결각하하게</a:t>
            </a:r>
            <a:r>
              <a:rPr lang="ko-KR" altLang="en-US" sz="1200" dirty="0">
                <a:solidFill>
                  <a:schemeClr val="tx2"/>
                </a:solidFill>
              </a:rPr>
              <a:t> 된다</a:t>
            </a:r>
            <a:r>
              <a:rPr lang="en-US" altLang="ko-KR" sz="1200" dirty="0">
                <a:solidFill>
                  <a:schemeClr val="tx2"/>
                </a:solidFill>
              </a:rPr>
              <a:t>. </a:t>
            </a:r>
            <a:r>
              <a:rPr lang="ko-KR" altLang="en-US" sz="1200" dirty="0">
                <a:solidFill>
                  <a:schemeClr val="tx2"/>
                </a:solidFill>
              </a:rPr>
              <a:t>그런데</a:t>
            </a:r>
            <a:r>
              <a:rPr lang="en-US" altLang="ko-KR" sz="1200" dirty="0">
                <a:solidFill>
                  <a:schemeClr val="tx2"/>
                </a:solidFill>
              </a:rPr>
              <a:t>, </a:t>
            </a:r>
            <a:r>
              <a:rPr lang="ko-KR" altLang="en-US" sz="1200" dirty="0" err="1">
                <a:solidFill>
                  <a:schemeClr val="tx2"/>
                </a:solidFill>
              </a:rPr>
              <a:t>특허권자</a:t>
            </a:r>
            <a:r>
              <a:rPr lang="ko-KR" altLang="en-US" sz="1200" dirty="0">
                <a:solidFill>
                  <a:schemeClr val="tx2"/>
                </a:solidFill>
              </a:rPr>
              <a:t> 입장에서 기각이든지 각하든지 심판에서 지는 것은 매한가지이기 때문에 법원은 소 각하를 하여 </a:t>
            </a:r>
            <a:r>
              <a:rPr lang="ko-KR" altLang="en-US" sz="1200" dirty="0" err="1">
                <a:solidFill>
                  <a:schemeClr val="tx2"/>
                </a:solidFill>
              </a:rPr>
              <a:t>기각심결을</a:t>
            </a:r>
            <a:r>
              <a:rPr lang="ko-KR" altLang="en-US" sz="1200" dirty="0">
                <a:solidFill>
                  <a:schemeClr val="tx2"/>
                </a:solidFill>
              </a:rPr>
              <a:t> </a:t>
            </a:r>
            <a:r>
              <a:rPr lang="ko-KR" altLang="en-US" sz="1200" dirty="0" err="1">
                <a:solidFill>
                  <a:schemeClr val="tx2"/>
                </a:solidFill>
              </a:rPr>
              <a:t>확정시키고</a:t>
            </a:r>
            <a:r>
              <a:rPr lang="ko-KR" altLang="en-US" sz="1200" dirty="0">
                <a:solidFill>
                  <a:schemeClr val="tx2"/>
                </a:solidFill>
              </a:rPr>
              <a:t> 있다</a:t>
            </a:r>
            <a:r>
              <a:rPr lang="en-US" altLang="ko-KR" sz="1200" dirty="0">
                <a:solidFill>
                  <a:schemeClr val="tx2"/>
                </a:solidFill>
              </a:rPr>
              <a:t>. </a:t>
            </a:r>
          </a:p>
        </p:txBody>
      </p:sp>
      <p:sp>
        <p:nvSpPr>
          <p:cNvPr id="71" name="TextBox 70"/>
          <p:cNvSpPr txBox="1"/>
          <p:nvPr/>
        </p:nvSpPr>
        <p:spPr>
          <a:xfrm>
            <a:off x="4356552" y="5373526"/>
            <a:ext cx="1281778" cy="461665"/>
          </a:xfrm>
          <a:prstGeom prst="rect">
            <a:avLst/>
          </a:prstGeom>
          <a:solidFill>
            <a:schemeClr val="accent2">
              <a:lumMod val="20000"/>
              <a:lumOff val="80000"/>
            </a:schemeClr>
          </a:solidFill>
          <a:ln>
            <a:solidFill>
              <a:schemeClr val="bg1">
                <a:lumMod val="50000"/>
              </a:schemeClr>
            </a:solidFill>
          </a:ln>
        </p:spPr>
        <p:txBody>
          <a:bodyPr wrap="square" rtlCol="0" anchor="ctr">
            <a:noAutofit/>
          </a:bodyPr>
          <a:lstStyle/>
          <a:p>
            <a:pPr algn="ctr"/>
            <a:r>
              <a:rPr lang="ko-KR" altLang="en-US" sz="1200" dirty="0"/>
              <a:t>확인대상발명</a:t>
            </a:r>
            <a:endParaRPr lang="en-US" altLang="ko-KR" sz="1200" dirty="0"/>
          </a:p>
          <a:p>
            <a:pPr algn="ctr"/>
            <a:r>
              <a:rPr lang="ko-KR" altLang="en-US" sz="1200" dirty="0"/>
              <a:t>등록</a:t>
            </a:r>
          </a:p>
        </p:txBody>
      </p:sp>
      <p:cxnSp>
        <p:nvCxnSpPr>
          <p:cNvPr id="72" name="직선 연결선 71"/>
          <p:cNvCxnSpPr>
            <a:stCxn id="71" idx="2"/>
          </p:cNvCxnSpPr>
          <p:nvPr/>
        </p:nvCxnSpPr>
        <p:spPr>
          <a:xfrm>
            <a:off x="4997441" y="5835191"/>
            <a:ext cx="0" cy="15102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3" name="Rectangle 14"/>
          <p:cNvSpPr>
            <a:spLocks noChangeArrowheads="1"/>
          </p:cNvSpPr>
          <p:nvPr/>
        </p:nvSpPr>
        <p:spPr bwMode="auto">
          <a:xfrm flipV="1">
            <a:off x="4920770" y="5966094"/>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mn-ea"/>
            </a:endParaRPr>
          </a:p>
        </p:txBody>
      </p:sp>
    </p:spTree>
    <p:extLst>
      <p:ext uri="{BB962C8B-B14F-4D97-AF65-F5344CB8AC3E}">
        <p14:creationId xmlns:p14="http://schemas.microsoft.com/office/powerpoint/2010/main" val="1305533127"/>
      </p:ext>
    </p:extLst>
  </p:cSld>
  <p:clrMapOvr>
    <a:masterClrMapping/>
  </p:clrMapOvr>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186</a:t>
            </a:r>
            <a:r>
              <a:rPr lang="ko-KR" altLang="en-US" dirty="0"/>
              <a:t>조</a:t>
            </a:r>
          </a:p>
        </p:txBody>
      </p:sp>
      <p:sp>
        <p:nvSpPr>
          <p:cNvPr id="3" name="텍스트 개체 틀 2"/>
          <p:cNvSpPr>
            <a:spLocks noGrp="1"/>
          </p:cNvSpPr>
          <p:nvPr>
            <p:ph type="body" sz="quarter" idx="13"/>
          </p:nvPr>
        </p:nvSpPr>
        <p:spPr/>
        <p:txBody>
          <a:bodyPr/>
          <a:lstStyle/>
          <a:p>
            <a:r>
              <a:rPr lang="ko-KR" altLang="en-US" dirty="0"/>
              <a:t>거절결정불복심판 </a:t>
            </a:r>
            <a:r>
              <a:rPr lang="ko-KR" altLang="en-US" dirty="0" err="1"/>
              <a:t>심결취소소송의</a:t>
            </a:r>
            <a:r>
              <a:rPr lang="ko-KR" altLang="en-US" dirty="0"/>
              <a:t> 심리범위 </a:t>
            </a:r>
          </a:p>
        </p:txBody>
      </p:sp>
      <p:sp>
        <p:nvSpPr>
          <p:cNvPr id="6" name="TextBox 5"/>
          <p:cNvSpPr txBox="1"/>
          <p:nvPr/>
        </p:nvSpPr>
        <p:spPr>
          <a:xfrm>
            <a:off x="1507881" y="1337902"/>
            <a:ext cx="10347869" cy="1384995"/>
          </a:xfrm>
          <a:prstGeom prst="rect">
            <a:avLst/>
          </a:prstGeom>
          <a:noFill/>
          <a:ln>
            <a:solidFill>
              <a:schemeClr val="bg1">
                <a:lumMod val="50000"/>
              </a:schemeClr>
            </a:solidFill>
          </a:ln>
        </p:spPr>
        <p:txBody>
          <a:bodyPr wrap="square" rtlCol="0">
            <a:spAutoFit/>
          </a:bodyPr>
          <a:lstStyle/>
          <a:p>
            <a:pPr fontAlgn="base"/>
            <a:r>
              <a:rPr lang="ko-KR" altLang="en-US" sz="1400" dirty="0">
                <a:solidFill>
                  <a:schemeClr val="tx2"/>
                </a:solidFill>
              </a:rPr>
              <a:t>특허출원에 대한 </a:t>
            </a:r>
            <a:r>
              <a:rPr lang="ko-KR" altLang="en-US" sz="1400" dirty="0">
                <a:solidFill>
                  <a:schemeClr val="tx2"/>
                </a:solidFill>
                <a:highlight>
                  <a:srgbClr val="FFFF00"/>
                </a:highlight>
              </a:rPr>
              <a:t>심사단계</a:t>
            </a:r>
            <a:r>
              <a:rPr lang="ko-KR" altLang="en-US" sz="1400" dirty="0">
                <a:solidFill>
                  <a:schemeClr val="tx2"/>
                </a:solidFill>
              </a:rPr>
              <a:t>에서 거절결정을 하려면 그에 앞서 출원인에게 거절이유를 통지하여 </a:t>
            </a:r>
            <a:r>
              <a:rPr lang="ko-KR" altLang="en-US" sz="1400" dirty="0">
                <a:solidFill>
                  <a:schemeClr val="tx2"/>
                </a:solidFill>
                <a:highlight>
                  <a:srgbClr val="FFFF00"/>
                </a:highlight>
              </a:rPr>
              <a:t>의견제출의 기회</a:t>
            </a:r>
            <a:r>
              <a:rPr lang="ko-KR" altLang="en-US" sz="1400" dirty="0">
                <a:solidFill>
                  <a:schemeClr val="tx2"/>
                </a:solidFill>
              </a:rPr>
              <a:t>를 주어야 하고</a:t>
            </a:r>
            <a:r>
              <a:rPr lang="en-US" altLang="ko-KR" sz="1400" dirty="0">
                <a:solidFill>
                  <a:schemeClr val="tx2"/>
                </a:solidFill>
              </a:rPr>
              <a:t>, </a:t>
            </a:r>
            <a:r>
              <a:rPr lang="ko-KR" altLang="en-US" sz="1400" dirty="0">
                <a:solidFill>
                  <a:schemeClr val="tx2"/>
                </a:solidFill>
              </a:rPr>
              <a:t>거절결정에 대한 특허심판원의 </a:t>
            </a:r>
            <a:r>
              <a:rPr lang="ko-KR" altLang="en-US" sz="1400" dirty="0">
                <a:solidFill>
                  <a:schemeClr val="tx2"/>
                </a:solidFill>
                <a:highlight>
                  <a:srgbClr val="FFFF00"/>
                </a:highlight>
              </a:rPr>
              <a:t>심판절차</a:t>
            </a:r>
            <a:r>
              <a:rPr lang="ko-KR" altLang="en-US" sz="1400" dirty="0">
                <a:solidFill>
                  <a:schemeClr val="tx2"/>
                </a:solidFill>
              </a:rPr>
              <a:t>에서 그와 다른 사유로 거절결정이 정당하다고 하려면 먼저 그 사유에 대해 </a:t>
            </a:r>
            <a:r>
              <a:rPr lang="ko-KR" altLang="en-US" sz="1400" dirty="0">
                <a:solidFill>
                  <a:schemeClr val="tx2"/>
                </a:solidFill>
                <a:highlight>
                  <a:srgbClr val="FFFF00"/>
                </a:highlight>
              </a:rPr>
              <a:t>의견제출의 기회</a:t>
            </a:r>
            <a:r>
              <a:rPr lang="ko-KR" altLang="en-US" sz="1400" dirty="0">
                <a:solidFill>
                  <a:schemeClr val="tx2"/>
                </a:solidFill>
              </a:rPr>
              <a:t>를 주어야만 이를 </a:t>
            </a:r>
            <a:r>
              <a:rPr lang="ko-KR" altLang="en-US" sz="1400" dirty="0" err="1">
                <a:solidFill>
                  <a:schemeClr val="tx2"/>
                </a:solidFill>
              </a:rPr>
              <a:t>심결의</a:t>
            </a:r>
            <a:r>
              <a:rPr lang="ko-KR" altLang="en-US" sz="1400" dirty="0">
                <a:solidFill>
                  <a:schemeClr val="tx2"/>
                </a:solidFill>
              </a:rPr>
              <a:t> 이유로 할 수 있다</a:t>
            </a:r>
            <a:r>
              <a:rPr lang="en-US" altLang="ko-KR" sz="1400" dirty="0">
                <a:solidFill>
                  <a:schemeClr val="tx2"/>
                </a:solidFill>
              </a:rPr>
              <a:t>(</a:t>
            </a:r>
            <a:r>
              <a:rPr lang="ko-KR" altLang="en-US" sz="1400" dirty="0">
                <a:solidFill>
                  <a:schemeClr val="tx2"/>
                </a:solidFill>
              </a:rPr>
              <a:t>특허법 제</a:t>
            </a:r>
            <a:r>
              <a:rPr lang="en-US" altLang="ko-KR" sz="1400" dirty="0">
                <a:solidFill>
                  <a:schemeClr val="tx2"/>
                </a:solidFill>
              </a:rPr>
              <a:t>62</a:t>
            </a:r>
            <a:r>
              <a:rPr lang="ko-KR" altLang="en-US" sz="1400" dirty="0">
                <a:solidFill>
                  <a:schemeClr val="tx2"/>
                </a:solidFill>
              </a:rPr>
              <a:t>조</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63</a:t>
            </a:r>
            <a:r>
              <a:rPr lang="ko-KR" altLang="en-US" sz="1400" dirty="0">
                <a:solidFill>
                  <a:schemeClr val="tx2"/>
                </a:solidFill>
              </a:rPr>
              <a:t>조</a:t>
            </a:r>
            <a:r>
              <a:rPr lang="en-US" altLang="ko-KR" sz="1400" dirty="0">
                <a:solidFill>
                  <a:schemeClr val="tx2"/>
                </a:solidFill>
              </a:rPr>
              <a:t>, </a:t>
            </a:r>
            <a:r>
              <a:rPr lang="ko-KR" altLang="en-US" sz="1400" dirty="0">
                <a:solidFill>
                  <a:schemeClr val="tx2"/>
                </a:solidFill>
              </a:rPr>
              <a:t>제</a:t>
            </a:r>
            <a:r>
              <a:rPr lang="en-US" altLang="ko-KR" sz="1400" dirty="0">
                <a:solidFill>
                  <a:schemeClr val="tx2"/>
                </a:solidFill>
              </a:rPr>
              <a:t>170</a:t>
            </a:r>
            <a:r>
              <a:rPr lang="ko-KR" altLang="en-US" sz="1400" dirty="0">
                <a:solidFill>
                  <a:schemeClr val="tx2"/>
                </a:solidFill>
              </a:rPr>
              <a:t>조 참조</a:t>
            </a:r>
            <a:r>
              <a:rPr lang="en-US" altLang="ko-KR" sz="1400" dirty="0">
                <a:solidFill>
                  <a:schemeClr val="tx2"/>
                </a:solidFill>
              </a:rPr>
              <a:t>). </a:t>
            </a:r>
            <a:r>
              <a:rPr lang="ko-KR" altLang="en-US" sz="1400" dirty="0">
                <a:solidFill>
                  <a:schemeClr val="tx2"/>
                </a:solidFill>
              </a:rPr>
              <a:t>위와 같은 절차적 권리를 보장하는 특허법의 규정은</a:t>
            </a:r>
            <a:r>
              <a:rPr lang="ko-KR" altLang="en-US" sz="1400" dirty="0">
                <a:solidFill>
                  <a:schemeClr val="tx2"/>
                </a:solidFill>
                <a:highlight>
                  <a:srgbClr val="FFFF00"/>
                </a:highlight>
              </a:rPr>
              <a:t> </a:t>
            </a:r>
            <a:r>
              <a:rPr lang="ko-KR" altLang="en-US" sz="1400" dirty="0" err="1">
                <a:solidFill>
                  <a:schemeClr val="tx2"/>
                </a:solidFill>
                <a:highlight>
                  <a:srgbClr val="FFFF00"/>
                </a:highlight>
              </a:rPr>
              <a:t>강행규정</a:t>
            </a:r>
            <a:r>
              <a:rPr lang="ko-KR" altLang="en-US" sz="1400" dirty="0" err="1">
                <a:solidFill>
                  <a:schemeClr val="tx2"/>
                </a:solidFill>
              </a:rPr>
              <a:t>이므로</a:t>
            </a:r>
            <a:r>
              <a:rPr lang="ko-KR" altLang="en-US" sz="1400" dirty="0">
                <a:solidFill>
                  <a:schemeClr val="tx2"/>
                </a:solidFill>
              </a:rPr>
              <a:t> 의견제출의 기회를 부여한 바 없는 새로운 거절이유를 들어서 거절결정이 결과에 있어 정당하다는 이유로 거절결정불복심판청구를 기각한 </a:t>
            </a:r>
            <a:r>
              <a:rPr lang="ko-KR" altLang="en-US" sz="1400" dirty="0" err="1">
                <a:solidFill>
                  <a:schemeClr val="tx2"/>
                </a:solidFill>
              </a:rPr>
              <a:t>심결은</a:t>
            </a:r>
            <a:r>
              <a:rPr lang="ko-KR" altLang="en-US" sz="1400" dirty="0">
                <a:solidFill>
                  <a:schemeClr val="tx2"/>
                </a:solidFill>
              </a:rPr>
              <a:t> 위법하다</a:t>
            </a:r>
            <a:r>
              <a:rPr lang="en-US" altLang="ko-KR" sz="1400" dirty="0">
                <a:solidFill>
                  <a:schemeClr val="tx2"/>
                </a:solidFill>
              </a:rPr>
              <a:t>. </a:t>
            </a:r>
            <a:r>
              <a:rPr lang="ko-KR" altLang="en-US" sz="1400" dirty="0">
                <a:solidFill>
                  <a:schemeClr val="tx2"/>
                </a:solidFill>
              </a:rPr>
              <a:t>같은 취지에서 거절결정불복심판청구 기각 </a:t>
            </a:r>
            <a:r>
              <a:rPr lang="ko-KR" altLang="en-US" sz="1400" dirty="0" err="1">
                <a:solidFill>
                  <a:schemeClr val="tx2"/>
                </a:solidFill>
                <a:highlight>
                  <a:srgbClr val="FFFF00"/>
                </a:highlight>
              </a:rPr>
              <a:t>심결의</a:t>
            </a:r>
            <a:r>
              <a:rPr lang="ko-KR" altLang="en-US" sz="1400" dirty="0">
                <a:solidFill>
                  <a:schemeClr val="tx2"/>
                </a:solidFill>
                <a:highlight>
                  <a:srgbClr val="FFFF00"/>
                </a:highlight>
              </a:rPr>
              <a:t> 취소소송절차에서도 지식재산처장은 심사 또는 심판단계에서 의견제출의 기회를 부여한 바 없는 새로운 거절이유를 주장할 수 없다</a:t>
            </a:r>
            <a:r>
              <a:rPr lang="ko-KR" altLang="en-US" sz="1400" dirty="0">
                <a:solidFill>
                  <a:schemeClr val="tx2"/>
                </a:solidFill>
              </a:rPr>
              <a:t>고 보아야 한다</a:t>
            </a:r>
            <a:r>
              <a:rPr lang="en-US" altLang="ko-KR" sz="1400" dirty="0">
                <a:solidFill>
                  <a:schemeClr val="tx2"/>
                </a:solidFill>
              </a:rPr>
              <a:t>.</a:t>
            </a:r>
            <a:endParaRPr lang="ko-KR" altLang="en-US" sz="1400" dirty="0">
              <a:solidFill>
                <a:schemeClr val="tx2"/>
              </a:solidFill>
            </a:endParaRPr>
          </a:p>
        </p:txBody>
      </p:sp>
      <p:sp>
        <p:nvSpPr>
          <p:cNvPr id="38" name="직사각형 37"/>
          <p:cNvSpPr/>
          <p:nvPr/>
        </p:nvSpPr>
        <p:spPr>
          <a:xfrm>
            <a:off x="1507378" y="1030125"/>
            <a:ext cx="3044423" cy="307777"/>
          </a:xfrm>
          <a:prstGeom prst="rect">
            <a:avLst/>
          </a:prstGeom>
          <a:solidFill>
            <a:schemeClr val="tx1">
              <a:lumMod val="50000"/>
              <a:lumOff val="50000"/>
            </a:schemeClr>
          </a:solidFill>
          <a:ln>
            <a:solidFill>
              <a:schemeClr val="bg1">
                <a:lumMod val="50000"/>
              </a:schemeClr>
            </a:solidFill>
          </a:ln>
        </p:spPr>
        <p:txBody>
          <a:bodyPr wrap="none">
            <a:spAutoFit/>
          </a:bodyPr>
          <a:lstStyle/>
          <a:p>
            <a:pPr algn="ctr" fontAlgn="base"/>
            <a:r>
              <a:rPr lang="ko-KR" altLang="en-US" sz="1400" dirty="0">
                <a:solidFill>
                  <a:schemeClr val="bg1"/>
                </a:solidFill>
              </a:rPr>
              <a:t>대법원 </a:t>
            </a:r>
            <a:r>
              <a:rPr lang="en-US" altLang="ko-KR" sz="1400" dirty="0">
                <a:solidFill>
                  <a:schemeClr val="bg1"/>
                </a:solidFill>
              </a:rPr>
              <a:t>2013. 9. 26. </a:t>
            </a:r>
            <a:r>
              <a:rPr lang="ko-KR" altLang="en-US" sz="1400" dirty="0">
                <a:solidFill>
                  <a:schemeClr val="bg1"/>
                </a:solidFill>
              </a:rPr>
              <a:t>선고 </a:t>
            </a:r>
            <a:r>
              <a:rPr lang="en-US" altLang="ko-KR" sz="1400" dirty="0">
                <a:solidFill>
                  <a:schemeClr val="bg1"/>
                </a:solidFill>
              </a:rPr>
              <a:t>2013</a:t>
            </a:r>
            <a:r>
              <a:rPr lang="ko-KR" altLang="en-US" sz="1400" dirty="0">
                <a:solidFill>
                  <a:schemeClr val="bg1"/>
                </a:solidFill>
              </a:rPr>
              <a:t>후</a:t>
            </a:r>
            <a:r>
              <a:rPr lang="en-US" altLang="ko-KR" sz="1400" dirty="0">
                <a:solidFill>
                  <a:schemeClr val="bg1"/>
                </a:solidFill>
              </a:rPr>
              <a:t>1054</a:t>
            </a:r>
            <a:endParaRPr lang="ko-KR" altLang="en-US" sz="1400" dirty="0">
              <a:solidFill>
                <a:schemeClr val="bg1"/>
              </a:solidFill>
            </a:endParaRPr>
          </a:p>
        </p:txBody>
      </p:sp>
      <p:sp>
        <p:nvSpPr>
          <p:cNvPr id="5" name="타원 4">
            <a:extLst>
              <a:ext uri="{FF2B5EF4-FFF2-40B4-BE49-F238E27FC236}">
                <a16:creationId xmlns:a16="http://schemas.microsoft.com/office/drawing/2014/main" id="{9B2C7075-838B-4561-B422-0224523004BC}"/>
              </a:ext>
            </a:extLst>
          </p:cNvPr>
          <p:cNvSpPr/>
          <p:nvPr/>
        </p:nvSpPr>
        <p:spPr>
          <a:xfrm>
            <a:off x="336250" y="1589007"/>
            <a:ext cx="1043797" cy="1043797"/>
          </a:xfrm>
          <a:prstGeom prst="ellipse">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a:t>일반</a:t>
            </a:r>
            <a:endParaRPr lang="en-US" altLang="ko-KR" dirty="0"/>
          </a:p>
          <a:p>
            <a:pPr algn="ctr"/>
            <a:r>
              <a:rPr lang="ko-KR" altLang="en-US" dirty="0"/>
              <a:t>법리</a:t>
            </a:r>
          </a:p>
        </p:txBody>
      </p:sp>
      <p:sp>
        <p:nvSpPr>
          <p:cNvPr id="51" name="타원 50">
            <a:extLst>
              <a:ext uri="{FF2B5EF4-FFF2-40B4-BE49-F238E27FC236}">
                <a16:creationId xmlns:a16="http://schemas.microsoft.com/office/drawing/2014/main" id="{20ED4DA3-F117-433E-ADE7-CAED54899E6A}"/>
              </a:ext>
            </a:extLst>
          </p:cNvPr>
          <p:cNvSpPr/>
          <p:nvPr/>
        </p:nvSpPr>
        <p:spPr>
          <a:xfrm>
            <a:off x="336250" y="3210740"/>
            <a:ext cx="1043797" cy="1043797"/>
          </a:xfrm>
          <a:prstGeom prst="ellipse">
            <a:avLst/>
          </a:prstGeom>
          <a:solidFill>
            <a:schemeClr val="accent3">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altLang="ko-KR" dirty="0"/>
              <a:t>CASE</a:t>
            </a:r>
          </a:p>
          <a:p>
            <a:pPr algn="ctr"/>
            <a:r>
              <a:rPr lang="en-US" altLang="ko-KR" dirty="0"/>
              <a:t>1</a:t>
            </a:r>
            <a:endParaRPr lang="ko-KR" altLang="en-US" dirty="0"/>
          </a:p>
        </p:txBody>
      </p:sp>
      <p:sp>
        <p:nvSpPr>
          <p:cNvPr id="7" name="TextBox 6">
            <a:extLst>
              <a:ext uri="{FF2B5EF4-FFF2-40B4-BE49-F238E27FC236}">
                <a16:creationId xmlns:a16="http://schemas.microsoft.com/office/drawing/2014/main" id="{08417F8E-2692-875C-A8C1-A515189790C4}"/>
              </a:ext>
            </a:extLst>
          </p:cNvPr>
          <p:cNvSpPr txBox="1"/>
          <p:nvPr/>
        </p:nvSpPr>
        <p:spPr>
          <a:xfrm>
            <a:off x="1507229" y="3164885"/>
            <a:ext cx="10338975" cy="1384995"/>
          </a:xfrm>
          <a:prstGeom prst="rect">
            <a:avLst/>
          </a:prstGeom>
          <a:noFill/>
          <a:ln>
            <a:solidFill>
              <a:schemeClr val="bg1">
                <a:lumMod val="50000"/>
              </a:schemeClr>
            </a:solidFill>
          </a:ln>
        </p:spPr>
        <p:txBody>
          <a:bodyPr wrap="square" rtlCol="0">
            <a:spAutoFit/>
          </a:bodyPr>
          <a:lstStyle/>
          <a:p>
            <a:pPr fontAlgn="base"/>
            <a:r>
              <a:rPr lang="ko-KR" altLang="en-US" sz="1400" dirty="0">
                <a:highlight>
                  <a:srgbClr val="CCECFF"/>
                </a:highlight>
              </a:rPr>
              <a:t>다만 거절결정불복심판청구 </a:t>
            </a:r>
            <a:r>
              <a:rPr lang="ko-KR" altLang="en-US" sz="1400" dirty="0" err="1">
                <a:highlight>
                  <a:srgbClr val="CCECFF"/>
                </a:highlight>
              </a:rPr>
              <a:t>기각심결의</a:t>
            </a:r>
            <a:r>
              <a:rPr lang="ko-KR" altLang="en-US" sz="1400" dirty="0">
                <a:highlight>
                  <a:srgbClr val="CCECFF"/>
                </a:highlight>
              </a:rPr>
              <a:t> 취소소송절차에서 지식재산처장이 비로소 주장하는 사유라고 하더라도 심사 또는 심판 단계에서 의견제출의 기회를 부여한 거절이유와 주요한 취지가 부합하여 이미 통지된 거절이유를 보충하는 데 지나지 아니하는 것이면 이를 </a:t>
            </a:r>
            <a:r>
              <a:rPr lang="ko-KR" altLang="en-US" sz="1400" dirty="0" err="1">
                <a:highlight>
                  <a:srgbClr val="CCECFF"/>
                </a:highlight>
              </a:rPr>
              <a:t>심결의</a:t>
            </a:r>
            <a:r>
              <a:rPr lang="ko-KR" altLang="en-US" sz="1400" dirty="0">
                <a:highlight>
                  <a:srgbClr val="CCECFF"/>
                </a:highlight>
              </a:rPr>
              <a:t> 당부를 판단하는 근거로 할 수 있다 할 것이다</a:t>
            </a:r>
            <a:r>
              <a:rPr lang="en-US" altLang="ko-KR" sz="1400" dirty="0">
                <a:highlight>
                  <a:srgbClr val="CCECFF"/>
                </a:highlight>
              </a:rPr>
              <a:t>. </a:t>
            </a:r>
            <a:r>
              <a:rPr lang="ko-KR" altLang="en-US" sz="1400" dirty="0">
                <a:highlight>
                  <a:srgbClr val="CCECFF"/>
                </a:highlight>
              </a:rPr>
              <a:t>특히 이미 통지된 거절이유가 비교대상발명에 의하여 출원발명의 진보성이 부정된다는 취지인 경우에</a:t>
            </a:r>
            <a:r>
              <a:rPr lang="en-US" altLang="ko-KR" sz="1400" dirty="0">
                <a:highlight>
                  <a:srgbClr val="CCECFF"/>
                </a:highlight>
              </a:rPr>
              <a:t>, </a:t>
            </a:r>
            <a:r>
              <a:rPr lang="ko-KR" altLang="en-US" sz="1400" dirty="0">
                <a:highlight>
                  <a:srgbClr val="CCECFF"/>
                </a:highlight>
              </a:rPr>
              <a:t>위 비교대상발명을 보충하여 특허출원 당시 그 기술분야에 널리 알려진 주지관용기술의 존재를 증명하기 위한 자료는 새로운 공지기술에 관한 것에 해당하지 아니하므로</a:t>
            </a:r>
            <a:r>
              <a:rPr lang="en-US" altLang="ko-KR" sz="1400" dirty="0">
                <a:highlight>
                  <a:srgbClr val="CCECFF"/>
                </a:highlight>
              </a:rPr>
              <a:t>, </a:t>
            </a:r>
            <a:r>
              <a:rPr lang="ko-KR" altLang="en-US" sz="1400" dirty="0" err="1">
                <a:solidFill>
                  <a:schemeClr val="tx2"/>
                </a:solidFill>
              </a:rPr>
              <a:t>심결취소소송의</a:t>
            </a:r>
            <a:r>
              <a:rPr lang="ko-KR" altLang="en-US" sz="1400" dirty="0">
                <a:solidFill>
                  <a:schemeClr val="tx2"/>
                </a:solidFill>
              </a:rPr>
              <a:t> 법원이 이를 진보성을 부정하는 판단의 근거로 채택하였다고 하더라도 이미 통지된 거절이유와 주요한 취지가 부합하지 아니하는 새로운 거절이유를 판결의 기초로 삼은 것이라고 할 수 없다</a:t>
            </a:r>
            <a:r>
              <a:rPr lang="en-US" altLang="ko-KR" sz="1400" dirty="0">
                <a:solidFill>
                  <a:schemeClr val="tx2"/>
                </a:solidFill>
              </a:rPr>
              <a:t>.</a:t>
            </a:r>
            <a:endParaRPr lang="ko-KR" altLang="en-US" sz="1400" dirty="0">
              <a:solidFill>
                <a:schemeClr val="tx2"/>
              </a:solidFill>
            </a:endParaRPr>
          </a:p>
        </p:txBody>
      </p:sp>
      <p:sp>
        <p:nvSpPr>
          <p:cNvPr id="10" name="직사각형 9">
            <a:extLst>
              <a:ext uri="{FF2B5EF4-FFF2-40B4-BE49-F238E27FC236}">
                <a16:creationId xmlns:a16="http://schemas.microsoft.com/office/drawing/2014/main" id="{E40413D2-E258-35CA-FE7F-92CFF6D64121}"/>
              </a:ext>
            </a:extLst>
          </p:cNvPr>
          <p:cNvSpPr/>
          <p:nvPr/>
        </p:nvSpPr>
        <p:spPr>
          <a:xfrm>
            <a:off x="1507229" y="2857108"/>
            <a:ext cx="3044423" cy="307777"/>
          </a:xfrm>
          <a:prstGeom prst="rect">
            <a:avLst/>
          </a:prstGeom>
          <a:solidFill>
            <a:schemeClr val="tx1">
              <a:lumMod val="50000"/>
              <a:lumOff val="50000"/>
            </a:schemeClr>
          </a:solidFill>
          <a:ln>
            <a:solidFill>
              <a:schemeClr val="bg1">
                <a:lumMod val="50000"/>
              </a:schemeClr>
            </a:solidFill>
          </a:ln>
        </p:spPr>
        <p:txBody>
          <a:bodyPr wrap="none">
            <a:spAutoFit/>
          </a:bodyPr>
          <a:lstStyle/>
          <a:p>
            <a:pPr algn="ctr" fontAlgn="base"/>
            <a:r>
              <a:rPr lang="ko-KR" altLang="en-US" sz="1400" dirty="0">
                <a:solidFill>
                  <a:schemeClr val="bg1"/>
                </a:solidFill>
              </a:rPr>
              <a:t>대법원 </a:t>
            </a:r>
            <a:r>
              <a:rPr lang="en-US" altLang="ko-KR" sz="1400" dirty="0">
                <a:solidFill>
                  <a:schemeClr val="bg1"/>
                </a:solidFill>
              </a:rPr>
              <a:t>2013. 9. 26. </a:t>
            </a:r>
            <a:r>
              <a:rPr lang="ko-KR" altLang="en-US" sz="1400" dirty="0">
                <a:solidFill>
                  <a:schemeClr val="bg1"/>
                </a:solidFill>
              </a:rPr>
              <a:t>선고 </a:t>
            </a:r>
            <a:r>
              <a:rPr lang="en-US" altLang="ko-KR" sz="1400" dirty="0">
                <a:solidFill>
                  <a:schemeClr val="bg1"/>
                </a:solidFill>
              </a:rPr>
              <a:t>2013</a:t>
            </a:r>
            <a:r>
              <a:rPr lang="ko-KR" altLang="en-US" sz="1400" dirty="0">
                <a:solidFill>
                  <a:schemeClr val="bg1"/>
                </a:solidFill>
              </a:rPr>
              <a:t>후</a:t>
            </a:r>
            <a:r>
              <a:rPr lang="en-US" altLang="ko-KR" sz="1400" dirty="0">
                <a:solidFill>
                  <a:schemeClr val="bg1"/>
                </a:solidFill>
              </a:rPr>
              <a:t>1054</a:t>
            </a:r>
            <a:endParaRPr lang="ko-KR" altLang="en-US" sz="1400" dirty="0">
              <a:solidFill>
                <a:schemeClr val="bg1"/>
              </a:solidFill>
            </a:endParaRPr>
          </a:p>
        </p:txBody>
      </p:sp>
      <p:sp>
        <p:nvSpPr>
          <p:cNvPr id="11" name="타원 10">
            <a:extLst>
              <a:ext uri="{FF2B5EF4-FFF2-40B4-BE49-F238E27FC236}">
                <a16:creationId xmlns:a16="http://schemas.microsoft.com/office/drawing/2014/main" id="{AAAF87C6-B10F-9B74-7CE3-FAEC5E1866B0}"/>
              </a:ext>
            </a:extLst>
          </p:cNvPr>
          <p:cNvSpPr/>
          <p:nvPr/>
        </p:nvSpPr>
        <p:spPr>
          <a:xfrm>
            <a:off x="345775" y="4959885"/>
            <a:ext cx="1043797" cy="1043797"/>
          </a:xfrm>
          <a:prstGeom prst="ellipse">
            <a:avLst/>
          </a:prstGeom>
          <a:solidFill>
            <a:schemeClr val="accent3">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altLang="ko-KR" dirty="0"/>
              <a:t>CASE</a:t>
            </a:r>
          </a:p>
          <a:p>
            <a:pPr algn="ctr"/>
            <a:r>
              <a:rPr lang="en-US" altLang="ko-KR" dirty="0"/>
              <a:t>2</a:t>
            </a:r>
            <a:endParaRPr lang="ko-KR" altLang="en-US" dirty="0"/>
          </a:p>
        </p:txBody>
      </p:sp>
      <p:sp>
        <p:nvSpPr>
          <p:cNvPr id="57" name="TextBox 56">
            <a:extLst>
              <a:ext uri="{FF2B5EF4-FFF2-40B4-BE49-F238E27FC236}">
                <a16:creationId xmlns:a16="http://schemas.microsoft.com/office/drawing/2014/main" id="{B8C4A44E-C0D8-3305-C3EB-55A9EA70489C}"/>
              </a:ext>
            </a:extLst>
          </p:cNvPr>
          <p:cNvSpPr txBox="1"/>
          <p:nvPr/>
        </p:nvSpPr>
        <p:spPr>
          <a:xfrm>
            <a:off x="1506265" y="4976685"/>
            <a:ext cx="10339960" cy="1384995"/>
          </a:xfrm>
          <a:prstGeom prst="rect">
            <a:avLst/>
          </a:prstGeom>
          <a:noFill/>
          <a:ln>
            <a:solidFill>
              <a:schemeClr val="bg1">
                <a:lumMod val="50000"/>
              </a:schemeClr>
            </a:solidFill>
          </a:ln>
        </p:spPr>
        <p:txBody>
          <a:bodyPr wrap="square" rtlCol="0">
            <a:spAutoFit/>
          </a:bodyPr>
          <a:lstStyle/>
          <a:p>
            <a:pPr fontAlgn="base"/>
            <a:r>
              <a:rPr lang="ko-KR" altLang="en-US" sz="1400" dirty="0">
                <a:highlight>
                  <a:srgbClr val="FFFF00"/>
                </a:highlight>
              </a:rPr>
              <a:t>특허거절결정에 대한 불복심판청구를 기각한 </a:t>
            </a:r>
            <a:r>
              <a:rPr lang="ko-KR" altLang="en-US" sz="1400" dirty="0" err="1">
                <a:highlight>
                  <a:srgbClr val="FFFF00"/>
                </a:highlight>
              </a:rPr>
              <a:t>심결의</a:t>
            </a:r>
            <a:r>
              <a:rPr lang="ko-KR" altLang="en-US" sz="1400" dirty="0">
                <a:highlight>
                  <a:srgbClr val="FFFF00"/>
                </a:highlight>
              </a:rPr>
              <a:t> 취소소송에서 법원은 특허거절결정을 유지한 </a:t>
            </a:r>
            <a:r>
              <a:rPr lang="ko-KR" altLang="en-US" sz="1400" dirty="0" err="1">
                <a:highlight>
                  <a:srgbClr val="FFFF00"/>
                </a:highlight>
              </a:rPr>
              <a:t>심결의</a:t>
            </a:r>
            <a:r>
              <a:rPr lang="ko-KR" altLang="en-US" sz="1400" dirty="0">
                <a:highlight>
                  <a:srgbClr val="FFFF00"/>
                </a:highlight>
              </a:rPr>
              <a:t> 위법성 여부를 판단하는 것일 뿐 특허출원에 대하여 직접 특허결정 또는 특허거절결정을 하는 것은 아니다</a:t>
            </a:r>
            <a:r>
              <a:rPr lang="en-US" altLang="ko-KR" sz="1400" dirty="0">
                <a:highlight>
                  <a:srgbClr val="FFFF00"/>
                </a:highlight>
              </a:rPr>
              <a:t>.</a:t>
            </a:r>
            <a:r>
              <a:rPr lang="ko-KR" altLang="en-US" sz="1400" dirty="0">
                <a:highlight>
                  <a:srgbClr val="FFFF00"/>
                </a:highlight>
              </a:rPr>
              <a:t> </a:t>
            </a:r>
            <a:r>
              <a:rPr lang="ko-KR" altLang="en-US" sz="1400" dirty="0"/>
              <a:t>따라서 심사관이 특허출원의 보정에 대한 </a:t>
            </a:r>
            <a:r>
              <a:rPr lang="ko-KR" altLang="en-US" sz="1400" dirty="0" err="1"/>
              <a:t>각하결정을</a:t>
            </a:r>
            <a:r>
              <a:rPr lang="ko-KR" altLang="en-US" sz="1400" dirty="0"/>
              <a:t> 한 후 ‘보정 전의 특허출원’에 대하여 거절결정을 하였고</a:t>
            </a:r>
            <a:r>
              <a:rPr lang="en-US" altLang="ko-KR" sz="1400" dirty="0"/>
              <a:t>, </a:t>
            </a:r>
            <a:r>
              <a:rPr lang="ko-KR" altLang="en-US" sz="1400" dirty="0"/>
              <a:t>그에 대한 불복심판 절차에서 위 </a:t>
            </a:r>
            <a:r>
              <a:rPr lang="ko-KR" altLang="en-US" sz="1400" dirty="0" err="1"/>
              <a:t>보정각하결정</a:t>
            </a:r>
            <a:r>
              <a:rPr lang="ko-KR" altLang="en-US" sz="1400" dirty="0"/>
              <a:t> 및 거절결정이 적법하다는 이유로 심판청구를 기각하는 특허심판원의 </a:t>
            </a:r>
            <a:r>
              <a:rPr lang="ko-KR" altLang="en-US" sz="1400" dirty="0" err="1"/>
              <a:t>심결이</a:t>
            </a:r>
            <a:r>
              <a:rPr lang="ko-KR" altLang="en-US" sz="1400" dirty="0"/>
              <a:t> 있었던 경우</a:t>
            </a:r>
            <a:r>
              <a:rPr lang="en-US" altLang="ko-KR" sz="1400" dirty="0"/>
              <a:t>, </a:t>
            </a:r>
            <a:r>
              <a:rPr lang="ko-KR" altLang="en-US" sz="1400" dirty="0"/>
              <a:t>그 </a:t>
            </a:r>
            <a:r>
              <a:rPr lang="ko-KR" altLang="en-US" sz="1400" dirty="0" err="1"/>
              <a:t>심결취소소송에서</a:t>
            </a:r>
            <a:r>
              <a:rPr lang="ko-KR" altLang="en-US" sz="1400" dirty="0"/>
              <a:t> </a:t>
            </a:r>
            <a:r>
              <a:rPr lang="ko-KR" altLang="en-US" sz="1400" dirty="0">
                <a:highlight>
                  <a:srgbClr val="FFFF00"/>
                </a:highlight>
              </a:rPr>
              <a:t>법원은 위 </a:t>
            </a:r>
            <a:r>
              <a:rPr lang="ko-KR" altLang="en-US" sz="1400" dirty="0" err="1">
                <a:highlight>
                  <a:srgbClr val="FFFF00"/>
                </a:highlight>
              </a:rPr>
              <a:t>보정각하결정이</a:t>
            </a:r>
            <a:r>
              <a:rPr lang="ko-KR" altLang="en-US" sz="1400" dirty="0">
                <a:highlight>
                  <a:srgbClr val="FFFF00"/>
                </a:highlight>
              </a:rPr>
              <a:t> </a:t>
            </a:r>
            <a:r>
              <a:rPr lang="ko-KR" altLang="en-US" sz="1400" dirty="0" err="1">
                <a:highlight>
                  <a:srgbClr val="FFFF00"/>
                </a:highlight>
              </a:rPr>
              <a:t>위법하다면</a:t>
            </a:r>
            <a:r>
              <a:rPr lang="ko-KR" altLang="en-US" sz="1400" dirty="0">
                <a:highlight>
                  <a:srgbClr val="FFFF00"/>
                </a:highlight>
              </a:rPr>
              <a:t> 그것만을 이유로 곧바로 </a:t>
            </a:r>
            <a:r>
              <a:rPr lang="ko-KR" altLang="en-US" sz="1400" dirty="0" err="1">
                <a:highlight>
                  <a:srgbClr val="FFFF00"/>
                </a:highlight>
              </a:rPr>
              <a:t>심결을</a:t>
            </a:r>
            <a:r>
              <a:rPr lang="ko-KR" altLang="en-US" sz="1400" dirty="0">
                <a:highlight>
                  <a:srgbClr val="FFFF00"/>
                </a:highlight>
              </a:rPr>
              <a:t> 취소하여야 하는 것이지</a:t>
            </a:r>
            <a:r>
              <a:rPr lang="en-US" altLang="ko-KR" sz="1400" dirty="0">
                <a:highlight>
                  <a:srgbClr val="FFFF00"/>
                </a:highlight>
              </a:rPr>
              <a:t>, </a:t>
            </a:r>
            <a:r>
              <a:rPr lang="ko-KR" altLang="en-US" sz="1400" dirty="0">
                <a:highlight>
                  <a:srgbClr val="FFFF00"/>
                </a:highlight>
              </a:rPr>
              <a:t>심사관 또는 특허심판원이 하지도 아니한 ‘보정 이후의 특허출원’에 대한 거절결정의 위법성 여부까지 스스로 심리하여 이 역시 위법한 경우에만 </a:t>
            </a:r>
            <a:r>
              <a:rPr lang="ko-KR" altLang="en-US" sz="1400" dirty="0" err="1">
                <a:highlight>
                  <a:srgbClr val="FFFF00"/>
                </a:highlight>
              </a:rPr>
              <a:t>심결을</a:t>
            </a:r>
            <a:r>
              <a:rPr lang="ko-KR" altLang="en-US" sz="1400" dirty="0">
                <a:highlight>
                  <a:srgbClr val="FFFF00"/>
                </a:highlight>
              </a:rPr>
              <a:t> 취소할 것은 아니다</a:t>
            </a:r>
            <a:r>
              <a:rPr lang="en-US" altLang="ko-KR" sz="1400" dirty="0">
                <a:highlight>
                  <a:srgbClr val="FFFF00"/>
                </a:highlight>
              </a:rPr>
              <a:t>.</a:t>
            </a:r>
            <a:endParaRPr lang="ko-KR" altLang="en-US" sz="1400" dirty="0">
              <a:highlight>
                <a:srgbClr val="FFFF00"/>
              </a:highlight>
            </a:endParaRPr>
          </a:p>
        </p:txBody>
      </p:sp>
      <p:sp>
        <p:nvSpPr>
          <p:cNvPr id="58" name="직사각형 57">
            <a:extLst>
              <a:ext uri="{FF2B5EF4-FFF2-40B4-BE49-F238E27FC236}">
                <a16:creationId xmlns:a16="http://schemas.microsoft.com/office/drawing/2014/main" id="{5AF1447E-54AC-0621-7ED5-98F8C4604A70}"/>
              </a:ext>
            </a:extLst>
          </p:cNvPr>
          <p:cNvSpPr/>
          <p:nvPr/>
        </p:nvSpPr>
        <p:spPr>
          <a:xfrm>
            <a:off x="1506265" y="4668908"/>
            <a:ext cx="3025989" cy="307777"/>
          </a:xfrm>
          <a:prstGeom prst="rect">
            <a:avLst/>
          </a:prstGeom>
          <a:solidFill>
            <a:schemeClr val="tx1">
              <a:lumMod val="50000"/>
              <a:lumOff val="50000"/>
            </a:schemeClr>
          </a:solidFill>
          <a:ln>
            <a:solidFill>
              <a:schemeClr val="bg1">
                <a:lumMod val="50000"/>
              </a:schemeClr>
            </a:solidFill>
          </a:ln>
        </p:spPr>
        <p:txBody>
          <a:bodyPr wrap="square">
            <a:spAutoFit/>
          </a:bodyPr>
          <a:lstStyle/>
          <a:p>
            <a:pPr algn="ctr" fontAlgn="base"/>
            <a:r>
              <a:rPr lang="ko-KR" altLang="en-US" sz="1400" dirty="0">
                <a:solidFill>
                  <a:schemeClr val="bg1"/>
                </a:solidFill>
              </a:rPr>
              <a:t>대법원 </a:t>
            </a:r>
            <a:r>
              <a:rPr lang="en-US" altLang="ko-KR" sz="1400" dirty="0">
                <a:solidFill>
                  <a:schemeClr val="bg1"/>
                </a:solidFill>
              </a:rPr>
              <a:t>2014. 7. 10. </a:t>
            </a:r>
            <a:r>
              <a:rPr lang="ko-KR" altLang="en-US" sz="1400" dirty="0">
                <a:solidFill>
                  <a:schemeClr val="bg1"/>
                </a:solidFill>
              </a:rPr>
              <a:t>선고 </a:t>
            </a:r>
            <a:r>
              <a:rPr lang="en-US" altLang="ko-KR" sz="1400" dirty="0">
                <a:solidFill>
                  <a:schemeClr val="bg1"/>
                </a:solidFill>
              </a:rPr>
              <a:t>2012</a:t>
            </a:r>
            <a:r>
              <a:rPr lang="ko-KR" altLang="en-US" sz="1400" dirty="0">
                <a:solidFill>
                  <a:schemeClr val="bg1"/>
                </a:solidFill>
              </a:rPr>
              <a:t>후</a:t>
            </a:r>
            <a:r>
              <a:rPr lang="en-US" altLang="ko-KR" sz="1400" dirty="0">
                <a:solidFill>
                  <a:schemeClr val="bg1"/>
                </a:solidFill>
              </a:rPr>
              <a:t>3121</a:t>
            </a:r>
            <a:endParaRPr lang="ko-KR" altLang="en-US" sz="1400" dirty="0">
              <a:solidFill>
                <a:schemeClr val="bg1"/>
              </a:solidFill>
            </a:endParaRPr>
          </a:p>
        </p:txBody>
      </p:sp>
    </p:spTree>
    <p:extLst>
      <p:ext uri="{BB962C8B-B14F-4D97-AF65-F5344CB8AC3E}">
        <p14:creationId xmlns:p14="http://schemas.microsoft.com/office/powerpoint/2010/main" val="878107996"/>
      </p:ext>
    </p:extLst>
  </p:cSld>
  <p:clrMapOvr>
    <a:masterClrMapping/>
  </p:clrMapOvr>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00458A-7D9F-2AC1-3B57-4F20A2E1D7B2}"/>
            </a:ext>
          </a:extLst>
        </p:cNvPr>
        <p:cNvGrpSpPr/>
        <p:nvPr/>
      </p:nvGrpSpPr>
      <p:grpSpPr>
        <a:xfrm>
          <a:off x="0" y="0"/>
          <a:ext cx="0" cy="0"/>
          <a:chOff x="0" y="0"/>
          <a:chExt cx="0" cy="0"/>
        </a:xfrm>
      </p:grpSpPr>
      <p:sp>
        <p:nvSpPr>
          <p:cNvPr id="2" name="제목 1">
            <a:extLst>
              <a:ext uri="{FF2B5EF4-FFF2-40B4-BE49-F238E27FC236}">
                <a16:creationId xmlns:a16="http://schemas.microsoft.com/office/drawing/2014/main" id="{8ECCF29C-427B-5AC2-B244-DCD7BEC330AD}"/>
              </a:ext>
            </a:extLst>
          </p:cNvPr>
          <p:cNvSpPr>
            <a:spLocks noGrp="1"/>
          </p:cNvSpPr>
          <p:nvPr>
            <p:ph type="title"/>
          </p:nvPr>
        </p:nvSpPr>
        <p:spPr/>
        <p:txBody>
          <a:bodyPr/>
          <a:lstStyle/>
          <a:p>
            <a:r>
              <a:rPr lang="ko-KR" altLang="en-US" dirty="0"/>
              <a:t>제</a:t>
            </a:r>
            <a:r>
              <a:rPr lang="en-US" altLang="ko-KR" dirty="0"/>
              <a:t>186</a:t>
            </a:r>
            <a:r>
              <a:rPr lang="ko-KR" altLang="en-US" dirty="0"/>
              <a:t>조</a:t>
            </a:r>
          </a:p>
        </p:txBody>
      </p:sp>
      <p:sp>
        <p:nvSpPr>
          <p:cNvPr id="3" name="텍스트 개체 틀 2">
            <a:extLst>
              <a:ext uri="{FF2B5EF4-FFF2-40B4-BE49-F238E27FC236}">
                <a16:creationId xmlns:a16="http://schemas.microsoft.com/office/drawing/2014/main" id="{C10F07BB-489C-6D0C-3230-C5F3EB967920}"/>
              </a:ext>
            </a:extLst>
          </p:cNvPr>
          <p:cNvSpPr>
            <a:spLocks noGrp="1"/>
          </p:cNvSpPr>
          <p:nvPr>
            <p:ph type="body" sz="quarter" idx="13"/>
          </p:nvPr>
        </p:nvSpPr>
        <p:spPr/>
        <p:txBody>
          <a:bodyPr/>
          <a:lstStyle/>
          <a:p>
            <a:r>
              <a:rPr lang="ko-KR" altLang="en-US" dirty="0"/>
              <a:t>거절결정불복심판 </a:t>
            </a:r>
            <a:r>
              <a:rPr lang="ko-KR" altLang="en-US" dirty="0" err="1"/>
              <a:t>심결취소소송의</a:t>
            </a:r>
            <a:r>
              <a:rPr lang="ko-KR" altLang="en-US" dirty="0"/>
              <a:t> 심리범위 </a:t>
            </a:r>
          </a:p>
        </p:txBody>
      </p:sp>
      <p:sp>
        <p:nvSpPr>
          <p:cNvPr id="51" name="타원 50">
            <a:extLst>
              <a:ext uri="{FF2B5EF4-FFF2-40B4-BE49-F238E27FC236}">
                <a16:creationId xmlns:a16="http://schemas.microsoft.com/office/drawing/2014/main" id="{D49E01EA-0B50-511E-2555-E444A153DB61}"/>
              </a:ext>
            </a:extLst>
          </p:cNvPr>
          <p:cNvSpPr/>
          <p:nvPr/>
        </p:nvSpPr>
        <p:spPr>
          <a:xfrm>
            <a:off x="336250" y="1104035"/>
            <a:ext cx="1043797" cy="1043797"/>
          </a:xfrm>
          <a:prstGeom prst="ellipse">
            <a:avLst/>
          </a:prstGeom>
          <a:solidFill>
            <a:schemeClr val="accent3">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altLang="ko-KR" dirty="0"/>
              <a:t>CASE</a:t>
            </a:r>
          </a:p>
          <a:p>
            <a:pPr algn="ctr"/>
            <a:r>
              <a:rPr lang="en-US" altLang="ko-KR" dirty="0"/>
              <a:t>3</a:t>
            </a:r>
            <a:endParaRPr lang="ko-KR" altLang="en-US" dirty="0"/>
          </a:p>
        </p:txBody>
      </p:sp>
      <p:sp>
        <p:nvSpPr>
          <p:cNvPr id="8" name="직사각형 7">
            <a:extLst>
              <a:ext uri="{FF2B5EF4-FFF2-40B4-BE49-F238E27FC236}">
                <a16:creationId xmlns:a16="http://schemas.microsoft.com/office/drawing/2014/main" id="{8BD80824-5866-B44B-08CA-A7E312BB6934}"/>
              </a:ext>
            </a:extLst>
          </p:cNvPr>
          <p:cNvSpPr/>
          <p:nvPr/>
        </p:nvSpPr>
        <p:spPr>
          <a:xfrm>
            <a:off x="1514085" y="1411812"/>
            <a:ext cx="10347868" cy="738664"/>
          </a:xfrm>
          <a:prstGeom prst="rect">
            <a:avLst/>
          </a:prstGeom>
          <a:ln>
            <a:solidFill>
              <a:schemeClr val="bg1">
                <a:lumMod val="50000"/>
              </a:schemeClr>
            </a:solidFill>
          </a:ln>
        </p:spPr>
        <p:txBody>
          <a:bodyPr wrap="square">
            <a:spAutoFit/>
          </a:bodyPr>
          <a:lstStyle/>
          <a:p>
            <a:r>
              <a:rPr lang="ko-KR" altLang="en-US" sz="1400" dirty="0"/>
              <a:t>거절결정불복심판청구 기각 </a:t>
            </a:r>
            <a:r>
              <a:rPr lang="ko-KR" altLang="en-US" sz="1400" dirty="0" err="1"/>
              <a:t>심결의</a:t>
            </a:r>
            <a:r>
              <a:rPr lang="ko-KR" altLang="en-US" sz="1400" dirty="0"/>
              <a:t> 취소소송절차에서 지식재산처장은 거절결정의 이유 외에도 심사나 심판 단계에서 의견서 제출의 기회를 부여한 사유 및 이와 주요한 취지가 부합하는 사유를 해당 </a:t>
            </a:r>
            <a:r>
              <a:rPr lang="ko-KR" altLang="en-US" sz="1400" dirty="0" err="1"/>
              <a:t>심결의</a:t>
            </a:r>
            <a:r>
              <a:rPr lang="ko-KR" altLang="en-US" sz="1400" dirty="0"/>
              <a:t> 결론을 정당하게 하는 사유로 주장할 수 있고</a:t>
            </a:r>
            <a:r>
              <a:rPr lang="en-US" altLang="ko-KR" sz="1400" dirty="0"/>
              <a:t>, </a:t>
            </a:r>
            <a:r>
              <a:rPr lang="ko-KR" altLang="en-US" sz="1400" dirty="0" err="1"/>
              <a:t>심결취소소송의</a:t>
            </a:r>
            <a:r>
              <a:rPr lang="ko-KR" altLang="en-US" sz="1400" dirty="0"/>
              <a:t> 법원은 이를 심리</a:t>
            </a:r>
            <a:r>
              <a:rPr lang="en-US" altLang="ko-KR" sz="1400" dirty="0"/>
              <a:t>·</a:t>
            </a:r>
            <a:r>
              <a:rPr lang="ko-KR" altLang="en-US" sz="1400" dirty="0"/>
              <a:t>판단하여 </a:t>
            </a:r>
            <a:r>
              <a:rPr lang="ko-KR" altLang="en-US" sz="1400" dirty="0" err="1"/>
              <a:t>심결의</a:t>
            </a:r>
            <a:r>
              <a:rPr lang="ko-KR" altLang="en-US" sz="1400" dirty="0"/>
              <a:t> 당부를 판단하는 근거로 삼을 수 있다</a:t>
            </a:r>
          </a:p>
        </p:txBody>
      </p:sp>
      <p:sp>
        <p:nvSpPr>
          <p:cNvPr id="9" name="직사각형 8">
            <a:extLst>
              <a:ext uri="{FF2B5EF4-FFF2-40B4-BE49-F238E27FC236}">
                <a16:creationId xmlns:a16="http://schemas.microsoft.com/office/drawing/2014/main" id="{DA58FDB4-AAF7-783A-2CC8-CD32267CC6CA}"/>
              </a:ext>
            </a:extLst>
          </p:cNvPr>
          <p:cNvSpPr/>
          <p:nvPr/>
        </p:nvSpPr>
        <p:spPr>
          <a:xfrm>
            <a:off x="1507882" y="1104035"/>
            <a:ext cx="3194118" cy="307777"/>
          </a:xfrm>
          <a:prstGeom prst="rect">
            <a:avLst/>
          </a:prstGeom>
          <a:solidFill>
            <a:schemeClr val="tx1">
              <a:lumMod val="50000"/>
              <a:lumOff val="50000"/>
            </a:schemeClr>
          </a:solidFill>
          <a:ln>
            <a:solidFill>
              <a:schemeClr val="bg1">
                <a:lumMod val="50000"/>
              </a:schemeClr>
            </a:solidFill>
          </a:ln>
        </p:spPr>
        <p:txBody>
          <a:bodyPr wrap="square">
            <a:spAutoFit/>
          </a:bodyPr>
          <a:lstStyle/>
          <a:p>
            <a:pPr algn="ctr" fontAlgn="base"/>
            <a:r>
              <a:rPr lang="ko-KR" altLang="en-US" sz="1400" dirty="0">
                <a:solidFill>
                  <a:schemeClr val="bg1"/>
                </a:solidFill>
              </a:rPr>
              <a:t>대법원 </a:t>
            </a:r>
            <a:r>
              <a:rPr lang="en-US" altLang="ko-KR" sz="1400" dirty="0">
                <a:solidFill>
                  <a:schemeClr val="bg1"/>
                </a:solidFill>
              </a:rPr>
              <a:t>2016. 3. 24. </a:t>
            </a:r>
            <a:r>
              <a:rPr lang="ko-KR" altLang="en-US" sz="1400" dirty="0">
                <a:solidFill>
                  <a:schemeClr val="bg1"/>
                </a:solidFill>
              </a:rPr>
              <a:t>선고 </a:t>
            </a:r>
            <a:r>
              <a:rPr lang="en-US" altLang="ko-KR" sz="1400" dirty="0">
                <a:solidFill>
                  <a:schemeClr val="bg1"/>
                </a:solidFill>
              </a:rPr>
              <a:t>2015</a:t>
            </a:r>
            <a:r>
              <a:rPr lang="ko-KR" altLang="en-US" sz="1400" dirty="0">
                <a:solidFill>
                  <a:schemeClr val="bg1"/>
                </a:solidFill>
              </a:rPr>
              <a:t>후</a:t>
            </a:r>
            <a:r>
              <a:rPr lang="en-US" altLang="ko-KR" sz="1400" dirty="0">
                <a:solidFill>
                  <a:schemeClr val="bg1"/>
                </a:solidFill>
              </a:rPr>
              <a:t>1997</a:t>
            </a:r>
            <a:endParaRPr lang="ko-KR" altLang="en-US" sz="1400" dirty="0">
              <a:solidFill>
                <a:schemeClr val="bg1"/>
              </a:solidFill>
            </a:endParaRPr>
          </a:p>
        </p:txBody>
      </p:sp>
      <p:sp>
        <p:nvSpPr>
          <p:cNvPr id="13" name="Line 5">
            <a:extLst>
              <a:ext uri="{FF2B5EF4-FFF2-40B4-BE49-F238E27FC236}">
                <a16:creationId xmlns:a16="http://schemas.microsoft.com/office/drawing/2014/main" id="{6F9CB830-7CE8-9714-49C5-9439F1347922}"/>
              </a:ext>
            </a:extLst>
          </p:cNvPr>
          <p:cNvSpPr>
            <a:spLocks noChangeShapeType="1"/>
          </p:cNvSpPr>
          <p:nvPr/>
        </p:nvSpPr>
        <p:spPr bwMode="auto">
          <a:xfrm>
            <a:off x="157297" y="2420148"/>
            <a:ext cx="1180233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14" name="TextBox 13">
            <a:extLst>
              <a:ext uri="{FF2B5EF4-FFF2-40B4-BE49-F238E27FC236}">
                <a16:creationId xmlns:a16="http://schemas.microsoft.com/office/drawing/2014/main" id="{A572078C-A59C-89CE-BA42-08C24F24E26B}"/>
              </a:ext>
            </a:extLst>
          </p:cNvPr>
          <p:cNvSpPr txBox="1"/>
          <p:nvPr/>
        </p:nvSpPr>
        <p:spPr>
          <a:xfrm>
            <a:off x="281334" y="2676323"/>
            <a:ext cx="702185"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a:solidFill>
                  <a:schemeClr val="tx1"/>
                </a:solidFill>
                <a:latin typeface="+mn-ea"/>
              </a:rPr>
              <a:t>출원</a:t>
            </a:r>
            <a:endParaRPr lang="ko-KR" altLang="en-US" sz="1200" dirty="0">
              <a:solidFill>
                <a:schemeClr val="tx1"/>
              </a:solidFill>
              <a:latin typeface="+mn-ea"/>
            </a:endParaRPr>
          </a:p>
        </p:txBody>
      </p:sp>
      <p:sp>
        <p:nvSpPr>
          <p:cNvPr id="15" name="타원 14">
            <a:extLst>
              <a:ext uri="{FF2B5EF4-FFF2-40B4-BE49-F238E27FC236}">
                <a16:creationId xmlns:a16="http://schemas.microsoft.com/office/drawing/2014/main" id="{3A66E91F-4CFA-AF5B-7331-AFBFB7C89128}"/>
              </a:ext>
            </a:extLst>
          </p:cNvPr>
          <p:cNvSpPr/>
          <p:nvPr/>
        </p:nvSpPr>
        <p:spPr>
          <a:xfrm>
            <a:off x="564938" y="2326214"/>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6" name="직선 연결선 15">
            <a:extLst>
              <a:ext uri="{FF2B5EF4-FFF2-40B4-BE49-F238E27FC236}">
                <a16:creationId xmlns:a16="http://schemas.microsoft.com/office/drawing/2014/main" id="{C75FD533-3CF2-F141-7F78-F158C763DE7D}"/>
              </a:ext>
            </a:extLst>
          </p:cNvPr>
          <p:cNvCxnSpPr>
            <a:cxnSpLocks/>
            <a:stCxn id="14" idx="0"/>
            <a:endCxn id="15" idx="4"/>
          </p:cNvCxnSpPr>
          <p:nvPr/>
        </p:nvCxnSpPr>
        <p:spPr>
          <a:xfrm flipH="1" flipV="1">
            <a:off x="632426" y="248755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8A054494-4CA4-9302-54E4-A118AE154930}"/>
              </a:ext>
            </a:extLst>
          </p:cNvPr>
          <p:cNvSpPr txBox="1"/>
          <p:nvPr/>
        </p:nvSpPr>
        <p:spPr>
          <a:xfrm>
            <a:off x="1281904" y="2676025"/>
            <a:ext cx="662376"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a:t>
            </a:r>
            <a:endParaRPr lang="ko-KR" altLang="en-US" sz="1200" dirty="0">
              <a:solidFill>
                <a:schemeClr val="tx1"/>
              </a:solidFill>
              <a:latin typeface="+mn-ea"/>
            </a:endParaRPr>
          </a:p>
        </p:txBody>
      </p:sp>
      <p:sp>
        <p:nvSpPr>
          <p:cNvPr id="18" name="타원 17">
            <a:extLst>
              <a:ext uri="{FF2B5EF4-FFF2-40B4-BE49-F238E27FC236}">
                <a16:creationId xmlns:a16="http://schemas.microsoft.com/office/drawing/2014/main" id="{FB76F0E0-D480-618F-469F-52479728070B}"/>
              </a:ext>
            </a:extLst>
          </p:cNvPr>
          <p:cNvSpPr/>
          <p:nvPr/>
        </p:nvSpPr>
        <p:spPr>
          <a:xfrm>
            <a:off x="1545604" y="2326214"/>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9" name="직선 연결선 18">
            <a:extLst>
              <a:ext uri="{FF2B5EF4-FFF2-40B4-BE49-F238E27FC236}">
                <a16:creationId xmlns:a16="http://schemas.microsoft.com/office/drawing/2014/main" id="{24B540DF-3989-164A-4F21-579508A0F5B0}"/>
              </a:ext>
            </a:extLst>
          </p:cNvPr>
          <p:cNvCxnSpPr>
            <a:cxnSpLocks/>
            <a:stCxn id="17" idx="0"/>
            <a:endCxn id="18" idx="4"/>
          </p:cNvCxnSpPr>
          <p:nvPr/>
        </p:nvCxnSpPr>
        <p:spPr>
          <a:xfrm flipH="1" flipV="1">
            <a:off x="1613091" y="2487552"/>
            <a:ext cx="1"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53CAB348-27BB-E2CF-FC77-9E270A72EDCF}"/>
              </a:ext>
            </a:extLst>
          </p:cNvPr>
          <p:cNvSpPr txBox="1"/>
          <p:nvPr/>
        </p:nvSpPr>
        <p:spPr>
          <a:xfrm>
            <a:off x="1135781" y="3142093"/>
            <a:ext cx="95462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선출원위반</a:t>
            </a:r>
          </a:p>
        </p:txBody>
      </p:sp>
      <p:cxnSp>
        <p:nvCxnSpPr>
          <p:cNvPr id="21" name="직선 연결선 20">
            <a:extLst>
              <a:ext uri="{FF2B5EF4-FFF2-40B4-BE49-F238E27FC236}">
                <a16:creationId xmlns:a16="http://schemas.microsoft.com/office/drawing/2014/main" id="{5C17BDEF-E468-E498-70B8-BF4742CFB756}"/>
              </a:ext>
            </a:extLst>
          </p:cNvPr>
          <p:cNvCxnSpPr>
            <a:cxnSpLocks/>
            <a:stCxn id="20" idx="0"/>
            <a:endCxn id="17" idx="2"/>
          </p:cNvCxnSpPr>
          <p:nvPr/>
        </p:nvCxnSpPr>
        <p:spPr>
          <a:xfrm flipV="1">
            <a:off x="1613092" y="2953024"/>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809403C0-2291-D764-8D34-0C1314C9A840}"/>
              </a:ext>
            </a:extLst>
          </p:cNvPr>
          <p:cNvSpPr txBox="1"/>
          <p:nvPr/>
        </p:nvSpPr>
        <p:spPr>
          <a:xfrm>
            <a:off x="2208131" y="2676323"/>
            <a:ext cx="702185"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보정</a:t>
            </a:r>
          </a:p>
        </p:txBody>
      </p:sp>
      <p:sp>
        <p:nvSpPr>
          <p:cNvPr id="23" name="타원 22">
            <a:extLst>
              <a:ext uri="{FF2B5EF4-FFF2-40B4-BE49-F238E27FC236}">
                <a16:creationId xmlns:a16="http://schemas.microsoft.com/office/drawing/2014/main" id="{73414E37-4073-2EBB-16E6-7BF665236BB4}"/>
              </a:ext>
            </a:extLst>
          </p:cNvPr>
          <p:cNvSpPr/>
          <p:nvPr/>
        </p:nvSpPr>
        <p:spPr>
          <a:xfrm>
            <a:off x="2491736" y="2326214"/>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24" name="직선 연결선 23">
            <a:extLst>
              <a:ext uri="{FF2B5EF4-FFF2-40B4-BE49-F238E27FC236}">
                <a16:creationId xmlns:a16="http://schemas.microsoft.com/office/drawing/2014/main" id="{84E388D1-82AD-1DC1-F32E-FCCEDA302DE8}"/>
              </a:ext>
            </a:extLst>
          </p:cNvPr>
          <p:cNvCxnSpPr>
            <a:cxnSpLocks/>
            <a:stCxn id="22" idx="0"/>
            <a:endCxn id="23" idx="4"/>
          </p:cNvCxnSpPr>
          <p:nvPr/>
        </p:nvCxnSpPr>
        <p:spPr>
          <a:xfrm flipH="1" flipV="1">
            <a:off x="2559223" y="248755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94A46020-7E9C-29BF-22B9-BBF3CB8E08FE}"/>
              </a:ext>
            </a:extLst>
          </p:cNvPr>
          <p:cNvSpPr txBox="1"/>
          <p:nvPr/>
        </p:nvSpPr>
        <p:spPr>
          <a:xfrm>
            <a:off x="8863580" y="2676323"/>
            <a:ext cx="702185"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소제기</a:t>
            </a:r>
          </a:p>
        </p:txBody>
      </p:sp>
      <p:sp>
        <p:nvSpPr>
          <p:cNvPr id="26" name="타원 25">
            <a:extLst>
              <a:ext uri="{FF2B5EF4-FFF2-40B4-BE49-F238E27FC236}">
                <a16:creationId xmlns:a16="http://schemas.microsoft.com/office/drawing/2014/main" id="{7D00E6E3-8AB3-C5F7-C019-BFD30D648113}"/>
              </a:ext>
            </a:extLst>
          </p:cNvPr>
          <p:cNvSpPr/>
          <p:nvPr/>
        </p:nvSpPr>
        <p:spPr>
          <a:xfrm>
            <a:off x="9147184" y="2326214"/>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27" name="직선 연결선 26">
            <a:extLst>
              <a:ext uri="{FF2B5EF4-FFF2-40B4-BE49-F238E27FC236}">
                <a16:creationId xmlns:a16="http://schemas.microsoft.com/office/drawing/2014/main" id="{CF940A3F-5107-ADC0-0104-9AB518B4B396}"/>
              </a:ext>
            </a:extLst>
          </p:cNvPr>
          <p:cNvCxnSpPr>
            <a:cxnSpLocks/>
            <a:stCxn id="25" idx="0"/>
            <a:endCxn id="26" idx="4"/>
          </p:cNvCxnSpPr>
          <p:nvPr/>
        </p:nvCxnSpPr>
        <p:spPr>
          <a:xfrm flipH="1" flipV="1">
            <a:off x="9214672" y="248755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0BCB4C71-634B-4128-ABA4-63011B1BDEE0}"/>
              </a:ext>
            </a:extLst>
          </p:cNvPr>
          <p:cNvSpPr txBox="1"/>
          <p:nvPr/>
        </p:nvSpPr>
        <p:spPr>
          <a:xfrm>
            <a:off x="3211488" y="2676025"/>
            <a:ext cx="662376"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a:t>
            </a:r>
            <a:endParaRPr lang="ko-KR" altLang="en-US" sz="1200" dirty="0">
              <a:solidFill>
                <a:schemeClr val="tx1"/>
              </a:solidFill>
              <a:latin typeface="+mn-ea"/>
            </a:endParaRPr>
          </a:p>
        </p:txBody>
      </p:sp>
      <p:sp>
        <p:nvSpPr>
          <p:cNvPr id="29" name="타원 28">
            <a:extLst>
              <a:ext uri="{FF2B5EF4-FFF2-40B4-BE49-F238E27FC236}">
                <a16:creationId xmlns:a16="http://schemas.microsoft.com/office/drawing/2014/main" id="{56CF5C93-8A6D-F1F7-62DE-FB2E632E885E}"/>
              </a:ext>
            </a:extLst>
          </p:cNvPr>
          <p:cNvSpPr/>
          <p:nvPr/>
        </p:nvSpPr>
        <p:spPr>
          <a:xfrm>
            <a:off x="3475187" y="2326214"/>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0" name="직선 연결선 29">
            <a:extLst>
              <a:ext uri="{FF2B5EF4-FFF2-40B4-BE49-F238E27FC236}">
                <a16:creationId xmlns:a16="http://schemas.microsoft.com/office/drawing/2014/main" id="{543DBED4-BC1C-C0D2-392E-F0A75F6C50C8}"/>
              </a:ext>
            </a:extLst>
          </p:cNvPr>
          <p:cNvCxnSpPr>
            <a:cxnSpLocks/>
            <a:stCxn id="28" idx="0"/>
            <a:endCxn id="29" idx="4"/>
          </p:cNvCxnSpPr>
          <p:nvPr/>
        </p:nvCxnSpPr>
        <p:spPr>
          <a:xfrm flipH="1" flipV="1">
            <a:off x="3542675" y="2487552"/>
            <a:ext cx="1"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28BC65D1-4A7B-EEFD-4654-AB8ED28CCFE8}"/>
              </a:ext>
            </a:extLst>
          </p:cNvPr>
          <p:cNvSpPr txBox="1"/>
          <p:nvPr/>
        </p:nvSpPr>
        <p:spPr>
          <a:xfrm>
            <a:off x="3065365" y="3142093"/>
            <a:ext cx="95462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진보성위반</a:t>
            </a:r>
          </a:p>
        </p:txBody>
      </p:sp>
      <p:cxnSp>
        <p:nvCxnSpPr>
          <p:cNvPr id="32" name="직선 연결선 31">
            <a:extLst>
              <a:ext uri="{FF2B5EF4-FFF2-40B4-BE49-F238E27FC236}">
                <a16:creationId xmlns:a16="http://schemas.microsoft.com/office/drawing/2014/main" id="{E198830B-DE28-28BD-EC0D-6D88A6573FE9}"/>
              </a:ext>
            </a:extLst>
          </p:cNvPr>
          <p:cNvCxnSpPr>
            <a:cxnSpLocks/>
            <a:stCxn id="31" idx="0"/>
            <a:endCxn id="28" idx="2"/>
          </p:cNvCxnSpPr>
          <p:nvPr/>
        </p:nvCxnSpPr>
        <p:spPr>
          <a:xfrm flipV="1">
            <a:off x="3542676" y="2953024"/>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2F6569CF-68D8-64F8-219C-C6D67A942B97}"/>
              </a:ext>
            </a:extLst>
          </p:cNvPr>
          <p:cNvSpPr txBox="1"/>
          <p:nvPr/>
        </p:nvSpPr>
        <p:spPr>
          <a:xfrm>
            <a:off x="4137715" y="2676323"/>
            <a:ext cx="702185"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보정</a:t>
            </a:r>
          </a:p>
        </p:txBody>
      </p:sp>
      <p:sp>
        <p:nvSpPr>
          <p:cNvPr id="34" name="타원 33">
            <a:extLst>
              <a:ext uri="{FF2B5EF4-FFF2-40B4-BE49-F238E27FC236}">
                <a16:creationId xmlns:a16="http://schemas.microsoft.com/office/drawing/2014/main" id="{0946CFF6-E800-2F34-D03F-8821AEB9BD7C}"/>
              </a:ext>
            </a:extLst>
          </p:cNvPr>
          <p:cNvSpPr/>
          <p:nvPr/>
        </p:nvSpPr>
        <p:spPr>
          <a:xfrm>
            <a:off x="4421319" y="2326214"/>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5" name="직선 연결선 34">
            <a:extLst>
              <a:ext uri="{FF2B5EF4-FFF2-40B4-BE49-F238E27FC236}">
                <a16:creationId xmlns:a16="http://schemas.microsoft.com/office/drawing/2014/main" id="{24DB3BB2-2E61-FA49-A3DF-CB1890FB8C78}"/>
              </a:ext>
            </a:extLst>
          </p:cNvPr>
          <p:cNvCxnSpPr>
            <a:cxnSpLocks/>
            <a:stCxn id="33" idx="0"/>
            <a:endCxn id="34" idx="4"/>
          </p:cNvCxnSpPr>
          <p:nvPr/>
        </p:nvCxnSpPr>
        <p:spPr>
          <a:xfrm flipH="1" flipV="1">
            <a:off x="4488807" y="248755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361F1ED5-F235-BA64-7C3C-486A339C2BE1}"/>
              </a:ext>
            </a:extLst>
          </p:cNvPr>
          <p:cNvSpPr txBox="1"/>
          <p:nvPr/>
        </p:nvSpPr>
        <p:spPr>
          <a:xfrm>
            <a:off x="5095960" y="2676025"/>
            <a:ext cx="781562"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거절결정</a:t>
            </a:r>
          </a:p>
        </p:txBody>
      </p:sp>
      <p:sp>
        <p:nvSpPr>
          <p:cNvPr id="37" name="타원 36">
            <a:extLst>
              <a:ext uri="{FF2B5EF4-FFF2-40B4-BE49-F238E27FC236}">
                <a16:creationId xmlns:a16="http://schemas.microsoft.com/office/drawing/2014/main" id="{D683DF9E-3D59-323E-6D25-206B4BDCBB65}"/>
              </a:ext>
            </a:extLst>
          </p:cNvPr>
          <p:cNvSpPr/>
          <p:nvPr/>
        </p:nvSpPr>
        <p:spPr>
          <a:xfrm>
            <a:off x="5419253" y="2326214"/>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9" name="직선 연결선 38">
            <a:extLst>
              <a:ext uri="{FF2B5EF4-FFF2-40B4-BE49-F238E27FC236}">
                <a16:creationId xmlns:a16="http://schemas.microsoft.com/office/drawing/2014/main" id="{F8202466-4A53-E8AC-848D-CEED25FEED69}"/>
              </a:ext>
            </a:extLst>
          </p:cNvPr>
          <p:cNvCxnSpPr>
            <a:cxnSpLocks/>
            <a:stCxn id="36" idx="0"/>
            <a:endCxn id="37" idx="4"/>
          </p:cNvCxnSpPr>
          <p:nvPr/>
        </p:nvCxnSpPr>
        <p:spPr>
          <a:xfrm flipV="1">
            <a:off x="5486741" y="2487552"/>
            <a:ext cx="0"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898EE00F-6EF5-C6B1-FC3B-ACD118C5A960}"/>
              </a:ext>
            </a:extLst>
          </p:cNvPr>
          <p:cNvSpPr txBox="1"/>
          <p:nvPr/>
        </p:nvSpPr>
        <p:spPr>
          <a:xfrm>
            <a:off x="5009430" y="3142093"/>
            <a:ext cx="95462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진보성위반</a:t>
            </a:r>
          </a:p>
        </p:txBody>
      </p:sp>
      <p:cxnSp>
        <p:nvCxnSpPr>
          <p:cNvPr id="41" name="직선 연결선 40">
            <a:extLst>
              <a:ext uri="{FF2B5EF4-FFF2-40B4-BE49-F238E27FC236}">
                <a16:creationId xmlns:a16="http://schemas.microsoft.com/office/drawing/2014/main" id="{162B8C00-B7D9-099F-9EC5-02464CF6A2D1}"/>
              </a:ext>
            </a:extLst>
          </p:cNvPr>
          <p:cNvCxnSpPr>
            <a:cxnSpLocks/>
            <a:stCxn id="40" idx="0"/>
            <a:endCxn id="36" idx="2"/>
          </p:cNvCxnSpPr>
          <p:nvPr/>
        </p:nvCxnSpPr>
        <p:spPr>
          <a:xfrm flipV="1">
            <a:off x="5486741" y="2953024"/>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F9E6D32C-B63A-F879-1800-4477F29FBF35}"/>
              </a:ext>
            </a:extLst>
          </p:cNvPr>
          <p:cNvSpPr txBox="1"/>
          <p:nvPr/>
        </p:nvSpPr>
        <p:spPr>
          <a:xfrm>
            <a:off x="6017620" y="2676323"/>
            <a:ext cx="75488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심판청구</a:t>
            </a:r>
          </a:p>
        </p:txBody>
      </p:sp>
      <p:sp>
        <p:nvSpPr>
          <p:cNvPr id="43" name="타원 42">
            <a:extLst>
              <a:ext uri="{FF2B5EF4-FFF2-40B4-BE49-F238E27FC236}">
                <a16:creationId xmlns:a16="http://schemas.microsoft.com/office/drawing/2014/main" id="{0FAC8E88-E320-BD34-418C-E4A0805E429E}"/>
              </a:ext>
            </a:extLst>
          </p:cNvPr>
          <p:cNvSpPr/>
          <p:nvPr/>
        </p:nvSpPr>
        <p:spPr>
          <a:xfrm>
            <a:off x="6327575" y="2326214"/>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4" name="직선 연결선 43">
            <a:extLst>
              <a:ext uri="{FF2B5EF4-FFF2-40B4-BE49-F238E27FC236}">
                <a16:creationId xmlns:a16="http://schemas.microsoft.com/office/drawing/2014/main" id="{701B32F4-022E-8AF9-D8EF-5A16F7ABF125}"/>
              </a:ext>
            </a:extLst>
          </p:cNvPr>
          <p:cNvCxnSpPr>
            <a:cxnSpLocks/>
            <a:stCxn id="42" idx="0"/>
            <a:endCxn id="43" idx="4"/>
          </p:cNvCxnSpPr>
          <p:nvPr/>
        </p:nvCxnSpPr>
        <p:spPr>
          <a:xfrm flipH="1" flipV="1">
            <a:off x="6395063" y="248755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AA07AF60-A5B7-AE0A-FB42-BD50A6AEBC8B}"/>
              </a:ext>
            </a:extLst>
          </p:cNvPr>
          <p:cNvSpPr txBox="1"/>
          <p:nvPr/>
        </p:nvSpPr>
        <p:spPr>
          <a:xfrm>
            <a:off x="7960611" y="2676025"/>
            <a:ext cx="781562"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46" name="타원 45">
            <a:extLst>
              <a:ext uri="{FF2B5EF4-FFF2-40B4-BE49-F238E27FC236}">
                <a16:creationId xmlns:a16="http://schemas.microsoft.com/office/drawing/2014/main" id="{B2DBFDD2-DE6C-B7F4-945C-6FAEB85280FB}"/>
              </a:ext>
            </a:extLst>
          </p:cNvPr>
          <p:cNvSpPr/>
          <p:nvPr/>
        </p:nvSpPr>
        <p:spPr>
          <a:xfrm>
            <a:off x="8283903" y="2326214"/>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7" name="직선 연결선 46">
            <a:extLst>
              <a:ext uri="{FF2B5EF4-FFF2-40B4-BE49-F238E27FC236}">
                <a16:creationId xmlns:a16="http://schemas.microsoft.com/office/drawing/2014/main" id="{89812C10-0274-2A35-B4EA-4A64329B5DEE}"/>
              </a:ext>
            </a:extLst>
          </p:cNvPr>
          <p:cNvCxnSpPr>
            <a:cxnSpLocks/>
            <a:stCxn id="45" idx="0"/>
            <a:endCxn id="46" idx="4"/>
          </p:cNvCxnSpPr>
          <p:nvPr/>
        </p:nvCxnSpPr>
        <p:spPr>
          <a:xfrm flipH="1" flipV="1">
            <a:off x="8351391" y="2487552"/>
            <a:ext cx="1"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22A0DD02-932C-D5C6-EBA2-4784ABD4B59E}"/>
              </a:ext>
            </a:extLst>
          </p:cNvPr>
          <p:cNvSpPr txBox="1"/>
          <p:nvPr/>
        </p:nvSpPr>
        <p:spPr>
          <a:xfrm>
            <a:off x="7874081" y="3142093"/>
            <a:ext cx="95462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선출원위반</a:t>
            </a:r>
          </a:p>
        </p:txBody>
      </p:sp>
      <p:cxnSp>
        <p:nvCxnSpPr>
          <p:cNvPr id="49" name="직선 연결선 48">
            <a:extLst>
              <a:ext uri="{FF2B5EF4-FFF2-40B4-BE49-F238E27FC236}">
                <a16:creationId xmlns:a16="http://schemas.microsoft.com/office/drawing/2014/main" id="{CCCAE455-D119-7A12-0E9E-800C98ABFF2E}"/>
              </a:ext>
            </a:extLst>
          </p:cNvPr>
          <p:cNvCxnSpPr>
            <a:cxnSpLocks/>
            <a:stCxn id="48" idx="0"/>
            <a:endCxn id="45" idx="2"/>
          </p:cNvCxnSpPr>
          <p:nvPr/>
        </p:nvCxnSpPr>
        <p:spPr>
          <a:xfrm flipV="1">
            <a:off x="8351392" y="2953024"/>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AD0CC558-DB76-54D2-4DC8-2EF2E5B8AE8B}"/>
              </a:ext>
            </a:extLst>
          </p:cNvPr>
          <p:cNvSpPr txBox="1"/>
          <p:nvPr/>
        </p:nvSpPr>
        <p:spPr>
          <a:xfrm>
            <a:off x="6974989" y="2676025"/>
            <a:ext cx="662376"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rgbClr val="FFFF00"/>
                </a:solidFill>
                <a:latin typeface="+mn-ea"/>
              </a:rPr>
              <a:t>OA </a:t>
            </a:r>
            <a:endParaRPr lang="ko-KR" altLang="en-US" sz="1200" dirty="0">
              <a:solidFill>
                <a:srgbClr val="FFFF00"/>
              </a:solidFill>
              <a:latin typeface="+mn-ea"/>
            </a:endParaRPr>
          </a:p>
        </p:txBody>
      </p:sp>
      <p:sp>
        <p:nvSpPr>
          <p:cNvPr id="52" name="타원 51">
            <a:extLst>
              <a:ext uri="{FF2B5EF4-FFF2-40B4-BE49-F238E27FC236}">
                <a16:creationId xmlns:a16="http://schemas.microsoft.com/office/drawing/2014/main" id="{F725C40D-4F8C-9DBB-0F28-1DCFB9B156F1}"/>
              </a:ext>
            </a:extLst>
          </p:cNvPr>
          <p:cNvSpPr/>
          <p:nvPr/>
        </p:nvSpPr>
        <p:spPr>
          <a:xfrm>
            <a:off x="7238689" y="2326214"/>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3" name="직선 연결선 52">
            <a:extLst>
              <a:ext uri="{FF2B5EF4-FFF2-40B4-BE49-F238E27FC236}">
                <a16:creationId xmlns:a16="http://schemas.microsoft.com/office/drawing/2014/main" id="{22DD0256-BCAC-B30A-FA95-7520229D2488}"/>
              </a:ext>
            </a:extLst>
          </p:cNvPr>
          <p:cNvCxnSpPr>
            <a:cxnSpLocks/>
            <a:stCxn id="50" idx="0"/>
            <a:endCxn id="52" idx="4"/>
          </p:cNvCxnSpPr>
          <p:nvPr/>
        </p:nvCxnSpPr>
        <p:spPr>
          <a:xfrm flipH="1" flipV="1">
            <a:off x="7306176" y="2487552"/>
            <a:ext cx="1"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말풍선: 모서리가 둥근 사각형 53">
            <a:extLst>
              <a:ext uri="{FF2B5EF4-FFF2-40B4-BE49-F238E27FC236}">
                <a16:creationId xmlns:a16="http://schemas.microsoft.com/office/drawing/2014/main" id="{9658A04D-7F9A-781C-6466-E87D42A023A9}"/>
              </a:ext>
            </a:extLst>
          </p:cNvPr>
          <p:cNvSpPr/>
          <p:nvPr/>
        </p:nvSpPr>
        <p:spPr>
          <a:xfrm>
            <a:off x="9703385" y="2673758"/>
            <a:ext cx="2386871" cy="711185"/>
          </a:xfrm>
          <a:prstGeom prst="wedgeRoundRectCallout">
            <a:avLst>
              <a:gd name="adj1" fmla="val -38587"/>
              <a:gd name="adj2" fmla="val -79692"/>
              <a:gd name="adj3" fmla="val 16667"/>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rPr>
              <a:t>지식재산처장의 주장</a:t>
            </a:r>
            <a:r>
              <a:rPr lang="en-US" altLang="ko-KR" sz="1200" dirty="0">
                <a:solidFill>
                  <a:schemeClr val="tx1"/>
                </a:solidFill>
              </a:rPr>
              <a:t>: </a:t>
            </a:r>
            <a:r>
              <a:rPr lang="ko-KR" altLang="en-US" sz="1200" dirty="0">
                <a:solidFill>
                  <a:schemeClr val="tx1"/>
                </a:solidFill>
              </a:rPr>
              <a:t>진보성 위반으로 거절결정을 유지하는 </a:t>
            </a:r>
            <a:r>
              <a:rPr lang="ko-KR" altLang="en-US" sz="1200" dirty="0" err="1">
                <a:solidFill>
                  <a:schemeClr val="tx1"/>
                </a:solidFill>
              </a:rPr>
              <a:t>기각심결이</a:t>
            </a:r>
            <a:r>
              <a:rPr lang="ko-KR" altLang="en-US" sz="1200" dirty="0">
                <a:solidFill>
                  <a:schemeClr val="tx1"/>
                </a:solidFill>
              </a:rPr>
              <a:t> 타당하다</a:t>
            </a:r>
            <a:r>
              <a:rPr lang="en-US" altLang="ko-KR" sz="1200" dirty="0">
                <a:solidFill>
                  <a:schemeClr val="tx1"/>
                </a:solidFill>
              </a:rPr>
              <a:t>.</a:t>
            </a:r>
            <a:endParaRPr lang="ko-KR" altLang="en-US" sz="1200" dirty="0">
              <a:solidFill>
                <a:schemeClr val="tx1"/>
              </a:solidFill>
            </a:endParaRPr>
          </a:p>
        </p:txBody>
      </p:sp>
      <p:sp>
        <p:nvSpPr>
          <p:cNvPr id="55" name="TextBox 54">
            <a:extLst>
              <a:ext uri="{FF2B5EF4-FFF2-40B4-BE49-F238E27FC236}">
                <a16:creationId xmlns:a16="http://schemas.microsoft.com/office/drawing/2014/main" id="{F1F4600F-4B06-FF47-62D1-45E086A85B3C}"/>
              </a:ext>
            </a:extLst>
          </p:cNvPr>
          <p:cNvSpPr txBox="1"/>
          <p:nvPr/>
        </p:nvSpPr>
        <p:spPr>
          <a:xfrm>
            <a:off x="6828865" y="3142093"/>
            <a:ext cx="954622"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rgbClr val="FFFF00"/>
                </a:solidFill>
                <a:latin typeface="+mn-ea"/>
              </a:rPr>
              <a:t>선출원위반</a:t>
            </a:r>
          </a:p>
        </p:txBody>
      </p:sp>
      <p:cxnSp>
        <p:nvCxnSpPr>
          <p:cNvPr id="56" name="직선 연결선 55">
            <a:extLst>
              <a:ext uri="{FF2B5EF4-FFF2-40B4-BE49-F238E27FC236}">
                <a16:creationId xmlns:a16="http://schemas.microsoft.com/office/drawing/2014/main" id="{1E3FDE60-32B4-4D06-BDF5-29217CC07D7A}"/>
              </a:ext>
            </a:extLst>
          </p:cNvPr>
          <p:cNvCxnSpPr>
            <a:cxnSpLocks/>
            <a:stCxn id="55" idx="0"/>
          </p:cNvCxnSpPr>
          <p:nvPr/>
        </p:nvCxnSpPr>
        <p:spPr>
          <a:xfrm flipV="1">
            <a:off x="7306176" y="2953024"/>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직사각형 9">
            <a:extLst>
              <a:ext uri="{FF2B5EF4-FFF2-40B4-BE49-F238E27FC236}">
                <a16:creationId xmlns:a16="http://schemas.microsoft.com/office/drawing/2014/main" id="{682D5FF4-B807-1AEB-1486-4495AD962E31}"/>
              </a:ext>
            </a:extLst>
          </p:cNvPr>
          <p:cNvSpPr/>
          <p:nvPr/>
        </p:nvSpPr>
        <p:spPr>
          <a:xfrm>
            <a:off x="1507882" y="3871939"/>
            <a:ext cx="10406477" cy="1169551"/>
          </a:xfrm>
          <a:prstGeom prst="rect">
            <a:avLst/>
          </a:prstGeom>
          <a:ln>
            <a:solidFill>
              <a:schemeClr val="bg1">
                <a:lumMod val="50000"/>
              </a:schemeClr>
            </a:solidFill>
          </a:ln>
        </p:spPr>
        <p:txBody>
          <a:bodyPr wrap="square">
            <a:spAutoFit/>
          </a:bodyPr>
          <a:lstStyle/>
          <a:p>
            <a:pPr algn="just"/>
            <a:r>
              <a:rPr lang="ko-KR" altLang="en-US" sz="1400" dirty="0"/>
              <a:t>거절이유 통지를 하지 아니한 채 거절결정의 이유와 다른 거절이유를 들어서 거절결정이 결과에 있어 정당하다는 이유로 거절결정불복심판청구를 기각한 </a:t>
            </a:r>
            <a:r>
              <a:rPr lang="ko-KR" altLang="en-US" sz="1400" dirty="0" err="1"/>
              <a:t>심결은</a:t>
            </a:r>
            <a:r>
              <a:rPr lang="ko-KR" altLang="en-US" sz="1400" dirty="0"/>
              <a:t> 위법하다</a:t>
            </a:r>
            <a:r>
              <a:rPr lang="en-US" altLang="ko-KR" sz="1400" dirty="0"/>
              <a:t>. </a:t>
            </a:r>
            <a:r>
              <a:rPr lang="ko-KR" altLang="en-US" sz="1400" dirty="0"/>
              <a:t>예를 들어</a:t>
            </a:r>
            <a:r>
              <a:rPr lang="en-US" altLang="ko-KR" sz="1400" dirty="0"/>
              <a:t>, </a:t>
            </a:r>
            <a:r>
              <a:rPr lang="ko-KR" altLang="en-US" sz="1400" dirty="0"/>
              <a:t>심사 단계에서 미리 거절이유를 통지한 사유라고 하더라도 그 사유를 거절결정에서 거절이유로 삼지 않았다면 이와 같은 사유는 거절결정에 대한 심판절차에서는 ‘거절결정의 이유와 다른 </a:t>
            </a:r>
            <a:r>
              <a:rPr lang="ko-KR" altLang="en-US" sz="1400" dirty="0" err="1"/>
              <a:t>거절이유’에</a:t>
            </a:r>
            <a:r>
              <a:rPr lang="ko-KR" altLang="en-US" sz="1400" dirty="0"/>
              <a:t> 해당하므로</a:t>
            </a:r>
            <a:r>
              <a:rPr lang="en-US" altLang="ko-KR" sz="1400" dirty="0"/>
              <a:t>, </a:t>
            </a:r>
            <a:r>
              <a:rPr lang="ko-KR" altLang="en-US" sz="1400" dirty="0"/>
              <a:t>심판 단계에서 심판청구인이 위 사유에 대해 실질적으로 의견서 제출 및 보정의 기회를 </a:t>
            </a:r>
            <a:r>
              <a:rPr lang="ko-KR" altLang="en-US" sz="1400" dirty="0" err="1"/>
              <a:t>부여받았다고</a:t>
            </a:r>
            <a:r>
              <a:rPr lang="ko-KR" altLang="en-US" sz="1400" dirty="0"/>
              <a:t> 볼만한 특별한 사정이 없는 한 이를 </a:t>
            </a:r>
            <a:r>
              <a:rPr lang="ko-KR" altLang="en-US" sz="1400" dirty="0" err="1"/>
              <a:t>심결의</a:t>
            </a:r>
            <a:r>
              <a:rPr lang="ko-KR" altLang="en-US" sz="1400" dirty="0"/>
              <a:t> 이유로 하기 위해서는 다시 그 사유에 대해 거절이유를 통지하여야 한다</a:t>
            </a:r>
            <a:r>
              <a:rPr lang="en-US" altLang="ko-KR" sz="1400" dirty="0"/>
              <a:t>. </a:t>
            </a:r>
          </a:p>
        </p:txBody>
      </p:sp>
      <p:sp>
        <p:nvSpPr>
          <p:cNvPr id="11" name="Line 5">
            <a:extLst>
              <a:ext uri="{FF2B5EF4-FFF2-40B4-BE49-F238E27FC236}">
                <a16:creationId xmlns:a16="http://schemas.microsoft.com/office/drawing/2014/main" id="{B40CBB39-9721-CCDC-FF3C-713C635713BE}"/>
              </a:ext>
            </a:extLst>
          </p:cNvPr>
          <p:cNvSpPr>
            <a:spLocks noChangeShapeType="1"/>
          </p:cNvSpPr>
          <p:nvPr/>
        </p:nvSpPr>
        <p:spPr bwMode="auto">
          <a:xfrm>
            <a:off x="157297" y="5429729"/>
            <a:ext cx="1180233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57" name="TextBox 56">
            <a:extLst>
              <a:ext uri="{FF2B5EF4-FFF2-40B4-BE49-F238E27FC236}">
                <a16:creationId xmlns:a16="http://schemas.microsoft.com/office/drawing/2014/main" id="{7764508E-5EAE-EA81-A470-C87C3A4005E5}"/>
              </a:ext>
            </a:extLst>
          </p:cNvPr>
          <p:cNvSpPr txBox="1"/>
          <p:nvPr/>
        </p:nvSpPr>
        <p:spPr>
          <a:xfrm>
            <a:off x="281334" y="5685904"/>
            <a:ext cx="702185"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a:solidFill>
                  <a:schemeClr val="tx1"/>
                </a:solidFill>
                <a:latin typeface="+mn-ea"/>
              </a:rPr>
              <a:t>출원</a:t>
            </a:r>
            <a:endParaRPr lang="ko-KR" altLang="en-US" sz="1200" dirty="0">
              <a:solidFill>
                <a:schemeClr val="tx1"/>
              </a:solidFill>
              <a:latin typeface="+mn-ea"/>
            </a:endParaRPr>
          </a:p>
        </p:txBody>
      </p:sp>
      <p:sp>
        <p:nvSpPr>
          <p:cNvPr id="58" name="타원 57">
            <a:extLst>
              <a:ext uri="{FF2B5EF4-FFF2-40B4-BE49-F238E27FC236}">
                <a16:creationId xmlns:a16="http://schemas.microsoft.com/office/drawing/2014/main" id="{DA7C6097-AF16-B1C7-22F2-F8CA51390574}"/>
              </a:ext>
            </a:extLst>
          </p:cNvPr>
          <p:cNvSpPr/>
          <p:nvPr/>
        </p:nvSpPr>
        <p:spPr>
          <a:xfrm>
            <a:off x="564938" y="5335795"/>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9" name="직선 연결선 58">
            <a:extLst>
              <a:ext uri="{FF2B5EF4-FFF2-40B4-BE49-F238E27FC236}">
                <a16:creationId xmlns:a16="http://schemas.microsoft.com/office/drawing/2014/main" id="{0CCCDAC6-1576-DA4E-24C3-90B8BBA92F82}"/>
              </a:ext>
            </a:extLst>
          </p:cNvPr>
          <p:cNvCxnSpPr>
            <a:cxnSpLocks/>
            <a:stCxn id="57" idx="0"/>
            <a:endCxn id="58" idx="4"/>
          </p:cNvCxnSpPr>
          <p:nvPr/>
        </p:nvCxnSpPr>
        <p:spPr>
          <a:xfrm flipH="1" flipV="1">
            <a:off x="632426" y="549713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34E09068-590C-95DF-1CE1-EE2A45AC88B5}"/>
              </a:ext>
            </a:extLst>
          </p:cNvPr>
          <p:cNvSpPr txBox="1"/>
          <p:nvPr/>
        </p:nvSpPr>
        <p:spPr>
          <a:xfrm>
            <a:off x="1281904" y="5685606"/>
            <a:ext cx="662376"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a:t>
            </a:r>
            <a:endParaRPr lang="ko-KR" altLang="en-US" sz="1200" dirty="0">
              <a:solidFill>
                <a:schemeClr val="tx1"/>
              </a:solidFill>
              <a:latin typeface="+mn-ea"/>
            </a:endParaRPr>
          </a:p>
        </p:txBody>
      </p:sp>
      <p:sp>
        <p:nvSpPr>
          <p:cNvPr id="61" name="타원 60">
            <a:extLst>
              <a:ext uri="{FF2B5EF4-FFF2-40B4-BE49-F238E27FC236}">
                <a16:creationId xmlns:a16="http://schemas.microsoft.com/office/drawing/2014/main" id="{4B232B8B-B3C5-533F-2BED-92F4F61CA374}"/>
              </a:ext>
            </a:extLst>
          </p:cNvPr>
          <p:cNvSpPr/>
          <p:nvPr/>
        </p:nvSpPr>
        <p:spPr>
          <a:xfrm>
            <a:off x="1545604" y="5335795"/>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2" name="직선 연결선 61">
            <a:extLst>
              <a:ext uri="{FF2B5EF4-FFF2-40B4-BE49-F238E27FC236}">
                <a16:creationId xmlns:a16="http://schemas.microsoft.com/office/drawing/2014/main" id="{7235A078-CF9C-C99D-EC5D-1BB562D19A5B}"/>
              </a:ext>
            </a:extLst>
          </p:cNvPr>
          <p:cNvCxnSpPr>
            <a:cxnSpLocks/>
            <a:stCxn id="60" idx="0"/>
            <a:endCxn id="61" idx="4"/>
          </p:cNvCxnSpPr>
          <p:nvPr/>
        </p:nvCxnSpPr>
        <p:spPr>
          <a:xfrm flipH="1" flipV="1">
            <a:off x="1613091" y="5497133"/>
            <a:ext cx="1"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AEB8FE19-84D6-BA24-46D9-08651BF087A9}"/>
              </a:ext>
            </a:extLst>
          </p:cNvPr>
          <p:cNvSpPr txBox="1"/>
          <p:nvPr/>
        </p:nvSpPr>
        <p:spPr>
          <a:xfrm>
            <a:off x="1135781" y="6151674"/>
            <a:ext cx="95462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선출원위반</a:t>
            </a:r>
          </a:p>
        </p:txBody>
      </p:sp>
      <p:cxnSp>
        <p:nvCxnSpPr>
          <p:cNvPr id="64" name="직선 연결선 63">
            <a:extLst>
              <a:ext uri="{FF2B5EF4-FFF2-40B4-BE49-F238E27FC236}">
                <a16:creationId xmlns:a16="http://schemas.microsoft.com/office/drawing/2014/main" id="{63464B3C-B9F8-9E08-FCCD-B146DE470574}"/>
              </a:ext>
            </a:extLst>
          </p:cNvPr>
          <p:cNvCxnSpPr>
            <a:cxnSpLocks/>
            <a:stCxn id="63" idx="0"/>
            <a:endCxn id="60" idx="2"/>
          </p:cNvCxnSpPr>
          <p:nvPr/>
        </p:nvCxnSpPr>
        <p:spPr>
          <a:xfrm flipV="1">
            <a:off x="1613092" y="5962605"/>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C26EBE0F-5230-E4D6-B2DE-5E0DC82E7A15}"/>
              </a:ext>
            </a:extLst>
          </p:cNvPr>
          <p:cNvSpPr txBox="1"/>
          <p:nvPr/>
        </p:nvSpPr>
        <p:spPr>
          <a:xfrm>
            <a:off x="2208131" y="5685904"/>
            <a:ext cx="702185"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보정</a:t>
            </a:r>
          </a:p>
        </p:txBody>
      </p:sp>
      <p:sp>
        <p:nvSpPr>
          <p:cNvPr id="66" name="타원 65">
            <a:extLst>
              <a:ext uri="{FF2B5EF4-FFF2-40B4-BE49-F238E27FC236}">
                <a16:creationId xmlns:a16="http://schemas.microsoft.com/office/drawing/2014/main" id="{1723C3D7-D6EB-4F72-CA73-7099C68F8FA2}"/>
              </a:ext>
            </a:extLst>
          </p:cNvPr>
          <p:cNvSpPr/>
          <p:nvPr/>
        </p:nvSpPr>
        <p:spPr>
          <a:xfrm>
            <a:off x="2491736" y="5335795"/>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7" name="직선 연결선 66">
            <a:extLst>
              <a:ext uri="{FF2B5EF4-FFF2-40B4-BE49-F238E27FC236}">
                <a16:creationId xmlns:a16="http://schemas.microsoft.com/office/drawing/2014/main" id="{6A5EB910-9A18-478B-36EE-10DD584F3EA8}"/>
              </a:ext>
            </a:extLst>
          </p:cNvPr>
          <p:cNvCxnSpPr>
            <a:cxnSpLocks/>
            <a:stCxn id="65" idx="0"/>
            <a:endCxn id="66" idx="4"/>
          </p:cNvCxnSpPr>
          <p:nvPr/>
        </p:nvCxnSpPr>
        <p:spPr>
          <a:xfrm flipH="1" flipV="1">
            <a:off x="2559223" y="549713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4A830981-3DD7-FE00-0689-997544D679ED}"/>
              </a:ext>
            </a:extLst>
          </p:cNvPr>
          <p:cNvSpPr txBox="1"/>
          <p:nvPr/>
        </p:nvSpPr>
        <p:spPr>
          <a:xfrm>
            <a:off x="8863580" y="5685904"/>
            <a:ext cx="702185"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소제기</a:t>
            </a:r>
          </a:p>
        </p:txBody>
      </p:sp>
      <p:sp>
        <p:nvSpPr>
          <p:cNvPr id="69" name="타원 68">
            <a:extLst>
              <a:ext uri="{FF2B5EF4-FFF2-40B4-BE49-F238E27FC236}">
                <a16:creationId xmlns:a16="http://schemas.microsoft.com/office/drawing/2014/main" id="{9A38201B-21E1-4EE2-CFD6-BA063B73BFCF}"/>
              </a:ext>
            </a:extLst>
          </p:cNvPr>
          <p:cNvSpPr/>
          <p:nvPr/>
        </p:nvSpPr>
        <p:spPr>
          <a:xfrm>
            <a:off x="9147184" y="5335795"/>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0" name="직선 연결선 69">
            <a:extLst>
              <a:ext uri="{FF2B5EF4-FFF2-40B4-BE49-F238E27FC236}">
                <a16:creationId xmlns:a16="http://schemas.microsoft.com/office/drawing/2014/main" id="{46105B88-4D9F-738C-6EC0-C2DCF6B19EE2}"/>
              </a:ext>
            </a:extLst>
          </p:cNvPr>
          <p:cNvCxnSpPr>
            <a:cxnSpLocks/>
            <a:stCxn id="68" idx="0"/>
            <a:endCxn id="69" idx="4"/>
          </p:cNvCxnSpPr>
          <p:nvPr/>
        </p:nvCxnSpPr>
        <p:spPr>
          <a:xfrm flipH="1" flipV="1">
            <a:off x="9214672" y="549713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566B1906-8E85-FE86-FA4F-58B0179690AC}"/>
              </a:ext>
            </a:extLst>
          </p:cNvPr>
          <p:cNvSpPr txBox="1"/>
          <p:nvPr/>
        </p:nvSpPr>
        <p:spPr>
          <a:xfrm>
            <a:off x="3211488" y="5685606"/>
            <a:ext cx="662376"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a:t>
            </a:r>
            <a:endParaRPr lang="ko-KR" altLang="en-US" sz="1200" dirty="0">
              <a:solidFill>
                <a:schemeClr val="tx1"/>
              </a:solidFill>
              <a:latin typeface="+mn-ea"/>
            </a:endParaRPr>
          </a:p>
        </p:txBody>
      </p:sp>
      <p:sp>
        <p:nvSpPr>
          <p:cNvPr id="72" name="타원 71">
            <a:extLst>
              <a:ext uri="{FF2B5EF4-FFF2-40B4-BE49-F238E27FC236}">
                <a16:creationId xmlns:a16="http://schemas.microsoft.com/office/drawing/2014/main" id="{624A9138-5C4D-B7D7-0190-0B9A5BF93ACD}"/>
              </a:ext>
            </a:extLst>
          </p:cNvPr>
          <p:cNvSpPr/>
          <p:nvPr/>
        </p:nvSpPr>
        <p:spPr>
          <a:xfrm>
            <a:off x="3475187" y="5335795"/>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3" name="직선 연결선 72">
            <a:extLst>
              <a:ext uri="{FF2B5EF4-FFF2-40B4-BE49-F238E27FC236}">
                <a16:creationId xmlns:a16="http://schemas.microsoft.com/office/drawing/2014/main" id="{DF7DB0E2-C7FD-DE28-9A65-F3596F4D7E7A}"/>
              </a:ext>
            </a:extLst>
          </p:cNvPr>
          <p:cNvCxnSpPr>
            <a:cxnSpLocks/>
            <a:stCxn id="71" idx="0"/>
            <a:endCxn id="72" idx="4"/>
          </p:cNvCxnSpPr>
          <p:nvPr/>
        </p:nvCxnSpPr>
        <p:spPr>
          <a:xfrm flipH="1" flipV="1">
            <a:off x="3542675" y="5497133"/>
            <a:ext cx="1"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815D6C93-7249-85CB-8278-58528657E117}"/>
              </a:ext>
            </a:extLst>
          </p:cNvPr>
          <p:cNvSpPr txBox="1"/>
          <p:nvPr/>
        </p:nvSpPr>
        <p:spPr>
          <a:xfrm>
            <a:off x="3065365" y="6151674"/>
            <a:ext cx="954622"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진보성위반</a:t>
            </a:r>
          </a:p>
        </p:txBody>
      </p:sp>
      <p:cxnSp>
        <p:nvCxnSpPr>
          <p:cNvPr id="75" name="직선 연결선 74">
            <a:extLst>
              <a:ext uri="{FF2B5EF4-FFF2-40B4-BE49-F238E27FC236}">
                <a16:creationId xmlns:a16="http://schemas.microsoft.com/office/drawing/2014/main" id="{1FD3126D-CB4B-FFC7-AF6D-DA0B6ED3D96F}"/>
              </a:ext>
            </a:extLst>
          </p:cNvPr>
          <p:cNvCxnSpPr>
            <a:cxnSpLocks/>
            <a:stCxn id="74" idx="0"/>
            <a:endCxn id="71" idx="2"/>
          </p:cNvCxnSpPr>
          <p:nvPr/>
        </p:nvCxnSpPr>
        <p:spPr>
          <a:xfrm flipV="1">
            <a:off x="3542676" y="5962605"/>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E4033259-C887-FBB5-89B4-1D71457572F6}"/>
              </a:ext>
            </a:extLst>
          </p:cNvPr>
          <p:cNvSpPr txBox="1"/>
          <p:nvPr/>
        </p:nvSpPr>
        <p:spPr>
          <a:xfrm>
            <a:off x="4137715" y="5685904"/>
            <a:ext cx="702185"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보정</a:t>
            </a:r>
          </a:p>
        </p:txBody>
      </p:sp>
      <p:sp>
        <p:nvSpPr>
          <p:cNvPr id="77" name="타원 76">
            <a:extLst>
              <a:ext uri="{FF2B5EF4-FFF2-40B4-BE49-F238E27FC236}">
                <a16:creationId xmlns:a16="http://schemas.microsoft.com/office/drawing/2014/main" id="{236AC528-DC71-8351-DBB2-10D259DAE223}"/>
              </a:ext>
            </a:extLst>
          </p:cNvPr>
          <p:cNvSpPr/>
          <p:nvPr/>
        </p:nvSpPr>
        <p:spPr>
          <a:xfrm>
            <a:off x="4421319" y="5335795"/>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8" name="직선 연결선 77">
            <a:extLst>
              <a:ext uri="{FF2B5EF4-FFF2-40B4-BE49-F238E27FC236}">
                <a16:creationId xmlns:a16="http://schemas.microsoft.com/office/drawing/2014/main" id="{3D6CF2CE-902D-55BD-C4E4-3092692BB26F}"/>
              </a:ext>
            </a:extLst>
          </p:cNvPr>
          <p:cNvCxnSpPr>
            <a:cxnSpLocks/>
            <a:stCxn id="76" idx="0"/>
            <a:endCxn id="77" idx="4"/>
          </p:cNvCxnSpPr>
          <p:nvPr/>
        </p:nvCxnSpPr>
        <p:spPr>
          <a:xfrm flipH="1" flipV="1">
            <a:off x="4488807" y="549713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64810ABF-6A3A-7C8C-CD3F-DC30D66C2D4E}"/>
              </a:ext>
            </a:extLst>
          </p:cNvPr>
          <p:cNvSpPr txBox="1"/>
          <p:nvPr/>
        </p:nvSpPr>
        <p:spPr>
          <a:xfrm>
            <a:off x="5095960" y="5685606"/>
            <a:ext cx="781562"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거절결정</a:t>
            </a:r>
          </a:p>
        </p:txBody>
      </p:sp>
      <p:sp>
        <p:nvSpPr>
          <p:cNvPr id="80" name="타원 79">
            <a:extLst>
              <a:ext uri="{FF2B5EF4-FFF2-40B4-BE49-F238E27FC236}">
                <a16:creationId xmlns:a16="http://schemas.microsoft.com/office/drawing/2014/main" id="{81830F42-C0DA-42F4-883F-7D21FB8C2F61}"/>
              </a:ext>
            </a:extLst>
          </p:cNvPr>
          <p:cNvSpPr/>
          <p:nvPr/>
        </p:nvSpPr>
        <p:spPr>
          <a:xfrm>
            <a:off x="5419253" y="5335795"/>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1" name="직선 연결선 80">
            <a:extLst>
              <a:ext uri="{FF2B5EF4-FFF2-40B4-BE49-F238E27FC236}">
                <a16:creationId xmlns:a16="http://schemas.microsoft.com/office/drawing/2014/main" id="{EE2A0E3F-0B61-86E7-19E4-007BCE9743D3}"/>
              </a:ext>
            </a:extLst>
          </p:cNvPr>
          <p:cNvCxnSpPr>
            <a:cxnSpLocks/>
            <a:stCxn id="79" idx="0"/>
            <a:endCxn id="80" idx="4"/>
          </p:cNvCxnSpPr>
          <p:nvPr/>
        </p:nvCxnSpPr>
        <p:spPr>
          <a:xfrm flipV="1">
            <a:off x="5486741" y="5497133"/>
            <a:ext cx="0"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TextBox 81">
            <a:extLst>
              <a:ext uri="{FF2B5EF4-FFF2-40B4-BE49-F238E27FC236}">
                <a16:creationId xmlns:a16="http://schemas.microsoft.com/office/drawing/2014/main" id="{CC45F637-210F-36D5-8F43-23EE3053D8CC}"/>
              </a:ext>
            </a:extLst>
          </p:cNvPr>
          <p:cNvSpPr txBox="1"/>
          <p:nvPr/>
        </p:nvSpPr>
        <p:spPr>
          <a:xfrm>
            <a:off x="5009430" y="6151674"/>
            <a:ext cx="954622"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rgbClr val="FFFF00"/>
                </a:solidFill>
                <a:latin typeface="+mn-ea"/>
              </a:rPr>
              <a:t>진보성위반</a:t>
            </a:r>
          </a:p>
        </p:txBody>
      </p:sp>
      <p:cxnSp>
        <p:nvCxnSpPr>
          <p:cNvPr id="83" name="직선 연결선 82">
            <a:extLst>
              <a:ext uri="{FF2B5EF4-FFF2-40B4-BE49-F238E27FC236}">
                <a16:creationId xmlns:a16="http://schemas.microsoft.com/office/drawing/2014/main" id="{E33C9DA7-4B58-ED9D-8AA7-572A5087A52E}"/>
              </a:ext>
            </a:extLst>
          </p:cNvPr>
          <p:cNvCxnSpPr>
            <a:cxnSpLocks/>
            <a:stCxn id="82" idx="0"/>
            <a:endCxn id="79" idx="2"/>
          </p:cNvCxnSpPr>
          <p:nvPr/>
        </p:nvCxnSpPr>
        <p:spPr>
          <a:xfrm flipV="1">
            <a:off x="5486741" y="5962605"/>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2A3BCF77-A93B-D248-3C04-4B216A780772}"/>
              </a:ext>
            </a:extLst>
          </p:cNvPr>
          <p:cNvSpPr txBox="1"/>
          <p:nvPr/>
        </p:nvSpPr>
        <p:spPr>
          <a:xfrm>
            <a:off x="6017620" y="5685904"/>
            <a:ext cx="754888"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심판청구</a:t>
            </a:r>
          </a:p>
        </p:txBody>
      </p:sp>
      <p:sp>
        <p:nvSpPr>
          <p:cNvPr id="85" name="타원 84">
            <a:extLst>
              <a:ext uri="{FF2B5EF4-FFF2-40B4-BE49-F238E27FC236}">
                <a16:creationId xmlns:a16="http://schemas.microsoft.com/office/drawing/2014/main" id="{33AA4CE6-CF44-C1F8-5C76-13A11E0ECB12}"/>
              </a:ext>
            </a:extLst>
          </p:cNvPr>
          <p:cNvSpPr/>
          <p:nvPr/>
        </p:nvSpPr>
        <p:spPr>
          <a:xfrm>
            <a:off x="6327575" y="5335795"/>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6" name="직선 연결선 85">
            <a:extLst>
              <a:ext uri="{FF2B5EF4-FFF2-40B4-BE49-F238E27FC236}">
                <a16:creationId xmlns:a16="http://schemas.microsoft.com/office/drawing/2014/main" id="{28C8A78C-990A-6278-1015-EDD0327AA4F1}"/>
              </a:ext>
            </a:extLst>
          </p:cNvPr>
          <p:cNvCxnSpPr>
            <a:cxnSpLocks/>
            <a:stCxn id="84" idx="0"/>
            <a:endCxn id="85" idx="4"/>
          </p:cNvCxnSpPr>
          <p:nvPr/>
        </p:nvCxnSpPr>
        <p:spPr>
          <a:xfrm flipH="1" flipV="1">
            <a:off x="6395063" y="549713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CE28E9B0-FFDD-B9A1-B635-939629F8033E}"/>
              </a:ext>
            </a:extLst>
          </p:cNvPr>
          <p:cNvSpPr txBox="1"/>
          <p:nvPr/>
        </p:nvSpPr>
        <p:spPr>
          <a:xfrm>
            <a:off x="7839846" y="5685606"/>
            <a:ext cx="781562"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88" name="타원 87">
            <a:extLst>
              <a:ext uri="{FF2B5EF4-FFF2-40B4-BE49-F238E27FC236}">
                <a16:creationId xmlns:a16="http://schemas.microsoft.com/office/drawing/2014/main" id="{CF447975-4A60-BD84-1D2C-91B9977C0D32}"/>
              </a:ext>
            </a:extLst>
          </p:cNvPr>
          <p:cNvSpPr/>
          <p:nvPr/>
        </p:nvSpPr>
        <p:spPr>
          <a:xfrm>
            <a:off x="8163138" y="5335795"/>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9" name="직선 연결선 88">
            <a:extLst>
              <a:ext uri="{FF2B5EF4-FFF2-40B4-BE49-F238E27FC236}">
                <a16:creationId xmlns:a16="http://schemas.microsoft.com/office/drawing/2014/main" id="{9B74298B-1615-28CD-3E6E-EE76E1107269}"/>
              </a:ext>
            </a:extLst>
          </p:cNvPr>
          <p:cNvCxnSpPr>
            <a:cxnSpLocks/>
            <a:stCxn id="87" idx="0"/>
            <a:endCxn id="88" idx="4"/>
          </p:cNvCxnSpPr>
          <p:nvPr/>
        </p:nvCxnSpPr>
        <p:spPr>
          <a:xfrm flipH="1" flipV="1">
            <a:off x="8230626" y="5497133"/>
            <a:ext cx="1"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TextBox 89">
            <a:extLst>
              <a:ext uri="{FF2B5EF4-FFF2-40B4-BE49-F238E27FC236}">
                <a16:creationId xmlns:a16="http://schemas.microsoft.com/office/drawing/2014/main" id="{89B27F0E-88E2-1953-7BB4-B49EE4054DD4}"/>
              </a:ext>
            </a:extLst>
          </p:cNvPr>
          <p:cNvSpPr txBox="1"/>
          <p:nvPr/>
        </p:nvSpPr>
        <p:spPr>
          <a:xfrm>
            <a:off x="7753316" y="6151674"/>
            <a:ext cx="954622" cy="276999"/>
          </a:xfrm>
          <a:prstGeom prst="rect">
            <a:avLst/>
          </a:prstGeom>
          <a:solidFill>
            <a:schemeClr val="tx1">
              <a:lumMod val="95000"/>
              <a:lumOff val="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rgbClr val="FFFF00"/>
                </a:solidFill>
                <a:latin typeface="+mn-ea"/>
              </a:rPr>
              <a:t>선출원위반</a:t>
            </a:r>
          </a:p>
        </p:txBody>
      </p:sp>
      <p:cxnSp>
        <p:nvCxnSpPr>
          <p:cNvPr id="91" name="직선 연결선 90">
            <a:extLst>
              <a:ext uri="{FF2B5EF4-FFF2-40B4-BE49-F238E27FC236}">
                <a16:creationId xmlns:a16="http://schemas.microsoft.com/office/drawing/2014/main" id="{A8D21358-1A4F-406E-4A43-A9B411646BF1}"/>
              </a:ext>
            </a:extLst>
          </p:cNvPr>
          <p:cNvCxnSpPr>
            <a:cxnSpLocks/>
            <a:stCxn id="90" idx="0"/>
            <a:endCxn id="87" idx="2"/>
          </p:cNvCxnSpPr>
          <p:nvPr/>
        </p:nvCxnSpPr>
        <p:spPr>
          <a:xfrm flipV="1">
            <a:off x="8230627" y="5962605"/>
            <a:ext cx="0" cy="1890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3ABFFA74-F119-171E-C711-601F912D5F3E}"/>
              </a:ext>
            </a:extLst>
          </p:cNvPr>
          <p:cNvSpPr txBox="1"/>
          <p:nvPr/>
        </p:nvSpPr>
        <p:spPr>
          <a:xfrm>
            <a:off x="6974989" y="5685606"/>
            <a:ext cx="662376"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 × </a:t>
            </a:r>
            <a:endParaRPr lang="ko-KR" altLang="en-US" sz="1200" dirty="0">
              <a:solidFill>
                <a:schemeClr val="tx1"/>
              </a:solidFill>
              <a:latin typeface="+mn-ea"/>
            </a:endParaRPr>
          </a:p>
        </p:txBody>
      </p:sp>
      <p:sp>
        <p:nvSpPr>
          <p:cNvPr id="93" name="타원 92">
            <a:extLst>
              <a:ext uri="{FF2B5EF4-FFF2-40B4-BE49-F238E27FC236}">
                <a16:creationId xmlns:a16="http://schemas.microsoft.com/office/drawing/2014/main" id="{68B15920-B180-7D17-11DB-94AF3E526B99}"/>
              </a:ext>
            </a:extLst>
          </p:cNvPr>
          <p:cNvSpPr/>
          <p:nvPr/>
        </p:nvSpPr>
        <p:spPr>
          <a:xfrm>
            <a:off x="7238689" y="5335795"/>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4" name="직선 연결선 93">
            <a:extLst>
              <a:ext uri="{FF2B5EF4-FFF2-40B4-BE49-F238E27FC236}">
                <a16:creationId xmlns:a16="http://schemas.microsoft.com/office/drawing/2014/main" id="{7F92B882-A130-7680-E061-2E36B79F662B}"/>
              </a:ext>
            </a:extLst>
          </p:cNvPr>
          <p:cNvCxnSpPr>
            <a:cxnSpLocks/>
            <a:stCxn id="92" idx="0"/>
            <a:endCxn id="93" idx="4"/>
          </p:cNvCxnSpPr>
          <p:nvPr/>
        </p:nvCxnSpPr>
        <p:spPr>
          <a:xfrm flipH="1" flipV="1">
            <a:off x="7306176" y="5497133"/>
            <a:ext cx="1"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5" name="말풍선: 모서리가 둥근 사각형 94">
            <a:extLst>
              <a:ext uri="{FF2B5EF4-FFF2-40B4-BE49-F238E27FC236}">
                <a16:creationId xmlns:a16="http://schemas.microsoft.com/office/drawing/2014/main" id="{41220676-E9F5-DAE7-79F2-7AC28A738751}"/>
              </a:ext>
            </a:extLst>
          </p:cNvPr>
          <p:cNvSpPr/>
          <p:nvPr/>
        </p:nvSpPr>
        <p:spPr>
          <a:xfrm>
            <a:off x="9703385" y="5683339"/>
            <a:ext cx="2386871" cy="886047"/>
          </a:xfrm>
          <a:prstGeom prst="wedgeRoundRectCallout">
            <a:avLst>
              <a:gd name="adj1" fmla="val -41871"/>
              <a:gd name="adj2" fmla="val -72345"/>
              <a:gd name="adj3" fmla="val 16667"/>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a:solidFill>
                  <a:srgbClr val="FF0000"/>
                </a:solidFill>
              </a:rPr>
              <a:t>지식재산처장의 주장</a:t>
            </a:r>
            <a:r>
              <a:rPr lang="en-US" altLang="ko-KR" sz="1200" dirty="0">
                <a:solidFill>
                  <a:schemeClr val="tx1"/>
                </a:solidFill>
              </a:rPr>
              <a:t>: </a:t>
            </a:r>
            <a:r>
              <a:rPr lang="ko-KR" altLang="en-US" sz="1200" dirty="0" err="1">
                <a:solidFill>
                  <a:schemeClr val="tx1"/>
                </a:solidFill>
              </a:rPr>
              <a:t>선출원</a:t>
            </a:r>
            <a:r>
              <a:rPr lang="ko-KR" altLang="en-US" sz="1200" dirty="0">
                <a:solidFill>
                  <a:schemeClr val="tx1"/>
                </a:solidFill>
              </a:rPr>
              <a:t> 위반은 이미 심사단계에서 출원인에게 대응기회를 부여했기 때문에 </a:t>
            </a:r>
            <a:r>
              <a:rPr lang="ko-KR" altLang="en-US" sz="1200" dirty="0" err="1">
                <a:solidFill>
                  <a:schemeClr val="tx1"/>
                </a:solidFill>
              </a:rPr>
              <a:t>기각심결이</a:t>
            </a:r>
            <a:r>
              <a:rPr lang="ko-KR" altLang="en-US" sz="1200" dirty="0">
                <a:solidFill>
                  <a:schemeClr val="tx1"/>
                </a:solidFill>
              </a:rPr>
              <a:t> 타당하다</a:t>
            </a:r>
          </a:p>
        </p:txBody>
      </p:sp>
      <p:sp>
        <p:nvSpPr>
          <p:cNvPr id="96" name="TextBox 95">
            <a:extLst>
              <a:ext uri="{FF2B5EF4-FFF2-40B4-BE49-F238E27FC236}">
                <a16:creationId xmlns:a16="http://schemas.microsoft.com/office/drawing/2014/main" id="{80F6CE6F-BA57-398F-43D6-FD4796B9820A}"/>
              </a:ext>
            </a:extLst>
          </p:cNvPr>
          <p:cNvSpPr txBox="1"/>
          <p:nvPr/>
        </p:nvSpPr>
        <p:spPr>
          <a:xfrm>
            <a:off x="9474509" y="4867208"/>
            <a:ext cx="2457383"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rgbClr val="FF0000"/>
                </a:solidFill>
                <a:latin typeface="+mn-ea"/>
              </a:rPr>
              <a:t>법원의 판단</a:t>
            </a:r>
            <a:r>
              <a:rPr lang="en-US" altLang="ko-KR" sz="1200" dirty="0">
                <a:solidFill>
                  <a:schemeClr val="tx1"/>
                </a:solidFill>
                <a:latin typeface="+mn-ea"/>
              </a:rPr>
              <a:t>: </a:t>
            </a:r>
            <a:r>
              <a:rPr lang="ko-KR" altLang="en-US" sz="1200" dirty="0">
                <a:solidFill>
                  <a:schemeClr val="tx1"/>
                </a:solidFill>
                <a:latin typeface="+mn-ea"/>
              </a:rPr>
              <a:t>제</a:t>
            </a:r>
            <a:r>
              <a:rPr lang="en-US" altLang="ko-KR" sz="1200" dirty="0">
                <a:solidFill>
                  <a:schemeClr val="tx1"/>
                </a:solidFill>
                <a:latin typeface="+mn-ea"/>
              </a:rPr>
              <a:t>170</a:t>
            </a:r>
            <a:r>
              <a:rPr lang="ko-KR" altLang="en-US" sz="1200" dirty="0">
                <a:solidFill>
                  <a:schemeClr val="tx1"/>
                </a:solidFill>
                <a:latin typeface="+mn-ea"/>
              </a:rPr>
              <a:t>조제</a:t>
            </a:r>
            <a:r>
              <a:rPr lang="en-US" altLang="ko-KR" sz="1200" dirty="0">
                <a:solidFill>
                  <a:schemeClr val="tx1"/>
                </a:solidFill>
                <a:latin typeface="+mn-ea"/>
              </a:rPr>
              <a:t>2</a:t>
            </a:r>
            <a:r>
              <a:rPr lang="ko-KR" altLang="en-US" sz="1200" dirty="0">
                <a:solidFill>
                  <a:schemeClr val="tx1"/>
                </a:solidFill>
                <a:latin typeface="+mn-ea"/>
              </a:rPr>
              <a:t>항 위반</a:t>
            </a:r>
          </a:p>
        </p:txBody>
      </p:sp>
      <p:sp>
        <p:nvSpPr>
          <p:cNvPr id="97" name="타원 96">
            <a:extLst>
              <a:ext uri="{FF2B5EF4-FFF2-40B4-BE49-F238E27FC236}">
                <a16:creationId xmlns:a16="http://schemas.microsoft.com/office/drawing/2014/main" id="{FC818FFD-6EF5-CCDD-8A28-16815B3F8C2E}"/>
              </a:ext>
            </a:extLst>
          </p:cNvPr>
          <p:cNvSpPr/>
          <p:nvPr/>
        </p:nvSpPr>
        <p:spPr>
          <a:xfrm>
            <a:off x="10635714" y="5335795"/>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8" name="연결선: 꺾임 97">
            <a:extLst>
              <a:ext uri="{FF2B5EF4-FFF2-40B4-BE49-F238E27FC236}">
                <a16:creationId xmlns:a16="http://schemas.microsoft.com/office/drawing/2014/main" id="{A372B2D3-B67B-55A0-F599-07417FF60773}"/>
              </a:ext>
            </a:extLst>
          </p:cNvPr>
          <p:cNvCxnSpPr>
            <a:stCxn id="96" idx="2"/>
            <a:endCxn id="97" idx="0"/>
          </p:cNvCxnSpPr>
          <p:nvPr/>
        </p:nvCxnSpPr>
        <p:spPr>
          <a:xfrm rot="16200000" flipH="1">
            <a:off x="10607407" y="5240000"/>
            <a:ext cx="191588" cy="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타원 98">
            <a:extLst>
              <a:ext uri="{FF2B5EF4-FFF2-40B4-BE49-F238E27FC236}">
                <a16:creationId xmlns:a16="http://schemas.microsoft.com/office/drawing/2014/main" id="{7697BC92-CEF6-7F34-1F78-C14818B10040}"/>
              </a:ext>
            </a:extLst>
          </p:cNvPr>
          <p:cNvSpPr/>
          <p:nvPr/>
        </p:nvSpPr>
        <p:spPr>
          <a:xfrm>
            <a:off x="336250" y="3943036"/>
            <a:ext cx="1043797" cy="1043797"/>
          </a:xfrm>
          <a:prstGeom prst="ellipse">
            <a:avLst/>
          </a:prstGeom>
          <a:solidFill>
            <a:schemeClr val="accent3">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n-US" altLang="ko-KR" dirty="0"/>
              <a:t>CASE</a:t>
            </a:r>
          </a:p>
          <a:p>
            <a:pPr algn="ctr"/>
            <a:r>
              <a:rPr lang="en-US" altLang="ko-KR" dirty="0"/>
              <a:t>4</a:t>
            </a:r>
            <a:endParaRPr lang="ko-KR" altLang="en-US" dirty="0"/>
          </a:p>
        </p:txBody>
      </p:sp>
      <p:sp>
        <p:nvSpPr>
          <p:cNvPr id="100" name="직사각형 99">
            <a:extLst>
              <a:ext uri="{FF2B5EF4-FFF2-40B4-BE49-F238E27FC236}">
                <a16:creationId xmlns:a16="http://schemas.microsoft.com/office/drawing/2014/main" id="{6CC54F93-E3D7-FC76-E2D6-0881F0C9308D}"/>
              </a:ext>
            </a:extLst>
          </p:cNvPr>
          <p:cNvSpPr/>
          <p:nvPr/>
        </p:nvSpPr>
        <p:spPr>
          <a:xfrm>
            <a:off x="1507882" y="3559508"/>
            <a:ext cx="3194118" cy="307777"/>
          </a:xfrm>
          <a:prstGeom prst="rect">
            <a:avLst/>
          </a:prstGeom>
          <a:solidFill>
            <a:schemeClr val="tx1">
              <a:lumMod val="50000"/>
              <a:lumOff val="50000"/>
            </a:schemeClr>
          </a:solidFill>
          <a:ln>
            <a:solidFill>
              <a:schemeClr val="bg1">
                <a:lumMod val="50000"/>
              </a:schemeClr>
            </a:solidFill>
          </a:ln>
        </p:spPr>
        <p:txBody>
          <a:bodyPr wrap="square">
            <a:spAutoFit/>
          </a:bodyPr>
          <a:lstStyle/>
          <a:p>
            <a:pPr algn="ctr" fontAlgn="base"/>
            <a:r>
              <a:rPr lang="ko-KR" altLang="en-US" sz="1400" dirty="0">
                <a:solidFill>
                  <a:schemeClr val="bg1"/>
                </a:solidFill>
              </a:rPr>
              <a:t>대법원 </a:t>
            </a:r>
            <a:r>
              <a:rPr lang="en-US" altLang="ko-KR" sz="1400" dirty="0">
                <a:solidFill>
                  <a:schemeClr val="bg1"/>
                </a:solidFill>
              </a:rPr>
              <a:t>2020. 11. 12. </a:t>
            </a:r>
            <a:r>
              <a:rPr lang="ko-KR" altLang="en-US" sz="1400" dirty="0">
                <a:solidFill>
                  <a:schemeClr val="bg1"/>
                </a:solidFill>
              </a:rPr>
              <a:t>선고 </a:t>
            </a:r>
            <a:r>
              <a:rPr lang="en-US" altLang="ko-KR" sz="1400" dirty="0">
                <a:solidFill>
                  <a:schemeClr val="bg1"/>
                </a:solidFill>
              </a:rPr>
              <a:t>2017</a:t>
            </a:r>
            <a:r>
              <a:rPr lang="ko-KR" altLang="en-US" sz="1400" dirty="0">
                <a:solidFill>
                  <a:schemeClr val="bg1"/>
                </a:solidFill>
              </a:rPr>
              <a:t>후</a:t>
            </a:r>
            <a:r>
              <a:rPr lang="en-US" altLang="ko-KR" sz="1400" dirty="0">
                <a:solidFill>
                  <a:schemeClr val="bg1"/>
                </a:solidFill>
              </a:rPr>
              <a:t>1779</a:t>
            </a:r>
            <a:endParaRPr lang="ko-KR" altLang="en-US" sz="1400" dirty="0">
              <a:solidFill>
                <a:schemeClr val="bg1"/>
              </a:solidFill>
            </a:endParaRPr>
          </a:p>
        </p:txBody>
      </p:sp>
    </p:spTree>
    <p:extLst>
      <p:ext uri="{BB962C8B-B14F-4D97-AF65-F5344CB8AC3E}">
        <p14:creationId xmlns:p14="http://schemas.microsoft.com/office/powerpoint/2010/main" val="1294407037"/>
      </p:ext>
    </p:extLst>
  </p:cSld>
  <p:clrMapOvr>
    <a:masterClrMapping/>
  </p:clrMapOvr>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TextBox 121">
            <a:extLst>
              <a:ext uri="{FF2B5EF4-FFF2-40B4-BE49-F238E27FC236}">
                <a16:creationId xmlns:a16="http://schemas.microsoft.com/office/drawing/2014/main" id="{D2D161A2-C7A3-28C8-6628-41E4EDE81D8E}"/>
              </a:ext>
            </a:extLst>
          </p:cNvPr>
          <p:cNvSpPr txBox="1"/>
          <p:nvPr/>
        </p:nvSpPr>
        <p:spPr>
          <a:xfrm>
            <a:off x="8809406" y="2613365"/>
            <a:ext cx="781562"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 </a:t>
            </a:r>
            <a:r>
              <a:rPr lang="ko-KR" altLang="en-US" sz="1200" dirty="0">
                <a:solidFill>
                  <a:schemeClr val="tx1"/>
                </a:solidFill>
                <a:latin typeface="+mn-ea"/>
              </a:rPr>
              <a:t>불가</a:t>
            </a:r>
          </a:p>
        </p:txBody>
      </p:sp>
      <p:sp>
        <p:nvSpPr>
          <p:cNvPr id="2" name="제목 1"/>
          <p:cNvSpPr>
            <a:spLocks noGrp="1"/>
          </p:cNvSpPr>
          <p:nvPr>
            <p:ph type="title"/>
          </p:nvPr>
        </p:nvSpPr>
        <p:spPr/>
        <p:txBody>
          <a:bodyPr/>
          <a:lstStyle/>
          <a:p>
            <a:r>
              <a:rPr lang="ko-KR" altLang="en-US" dirty="0"/>
              <a:t>제</a:t>
            </a:r>
            <a:r>
              <a:rPr lang="en-US" altLang="ko-KR" dirty="0"/>
              <a:t>186</a:t>
            </a:r>
            <a:r>
              <a:rPr lang="ko-KR" altLang="en-US" dirty="0"/>
              <a:t>조</a:t>
            </a:r>
          </a:p>
        </p:txBody>
      </p:sp>
      <p:sp>
        <p:nvSpPr>
          <p:cNvPr id="3" name="텍스트 개체 틀 2"/>
          <p:cNvSpPr>
            <a:spLocks noGrp="1"/>
          </p:cNvSpPr>
          <p:nvPr>
            <p:ph type="body" sz="quarter" idx="13"/>
          </p:nvPr>
        </p:nvSpPr>
        <p:spPr/>
        <p:txBody>
          <a:bodyPr>
            <a:normAutofit/>
          </a:bodyPr>
          <a:lstStyle/>
          <a:p>
            <a:r>
              <a:rPr lang="ko-KR" altLang="en-US" dirty="0"/>
              <a:t>강행규정</a:t>
            </a:r>
            <a:r>
              <a:rPr lang="en-US" altLang="ko-KR" sz="2000" dirty="0"/>
              <a:t>(</a:t>
            </a:r>
            <a:r>
              <a:rPr lang="ko-KR" altLang="en-US" sz="2000" dirty="0"/>
              <a:t>제</a:t>
            </a:r>
            <a:r>
              <a:rPr lang="en-US" altLang="ko-KR" sz="2000" dirty="0"/>
              <a:t>63</a:t>
            </a:r>
            <a:r>
              <a:rPr lang="ko-KR" altLang="en-US" sz="2000" dirty="0"/>
              <a:t>조</a:t>
            </a:r>
            <a:r>
              <a:rPr lang="en-US" altLang="ko-KR" sz="2000" dirty="0"/>
              <a:t>, </a:t>
            </a:r>
            <a:r>
              <a:rPr lang="ko-KR" altLang="en-US" sz="2000" dirty="0"/>
              <a:t>제</a:t>
            </a:r>
            <a:r>
              <a:rPr lang="en-US" altLang="ko-KR" sz="2000" dirty="0"/>
              <a:t>136</a:t>
            </a:r>
            <a:r>
              <a:rPr lang="ko-KR" altLang="en-US" sz="2000" dirty="0"/>
              <a:t>조제</a:t>
            </a:r>
            <a:r>
              <a:rPr lang="en-US" altLang="ko-KR" sz="2000" dirty="0"/>
              <a:t>6</a:t>
            </a:r>
            <a:r>
              <a:rPr lang="ko-KR" altLang="en-US" sz="2000" dirty="0"/>
              <a:t>항</a:t>
            </a:r>
            <a:r>
              <a:rPr lang="en-US" altLang="ko-KR" sz="2000" dirty="0"/>
              <a:t>, </a:t>
            </a:r>
            <a:r>
              <a:rPr lang="ko-KR" altLang="en-US" sz="2000" dirty="0"/>
              <a:t>제</a:t>
            </a:r>
            <a:r>
              <a:rPr lang="en-US" altLang="ko-KR" sz="2000" dirty="0"/>
              <a:t>132</a:t>
            </a:r>
            <a:r>
              <a:rPr lang="ko-KR" altLang="en-US" sz="2000" dirty="0"/>
              <a:t>조의</a:t>
            </a:r>
            <a:r>
              <a:rPr lang="en-US" altLang="ko-KR" sz="2000" dirty="0"/>
              <a:t>13</a:t>
            </a:r>
            <a:r>
              <a:rPr lang="ko-KR" altLang="en-US" sz="2000" dirty="0"/>
              <a:t>제</a:t>
            </a:r>
            <a:r>
              <a:rPr lang="en-US" altLang="ko-KR" sz="2000" dirty="0"/>
              <a:t>2</a:t>
            </a:r>
            <a:r>
              <a:rPr lang="ko-KR" altLang="en-US" sz="2000" dirty="0"/>
              <a:t>항</a:t>
            </a:r>
            <a:r>
              <a:rPr lang="en-US" altLang="ko-KR" sz="2000" dirty="0"/>
              <a:t>)</a:t>
            </a:r>
            <a:r>
              <a:rPr lang="ko-KR" altLang="en-US" dirty="0"/>
              <a:t>과 심리범위</a:t>
            </a:r>
          </a:p>
        </p:txBody>
      </p:sp>
      <p:sp>
        <p:nvSpPr>
          <p:cNvPr id="35" name="Line 5">
            <a:extLst>
              <a:ext uri="{FF2B5EF4-FFF2-40B4-BE49-F238E27FC236}">
                <a16:creationId xmlns:a16="http://schemas.microsoft.com/office/drawing/2014/main" id="{5251183A-4BFE-3E40-8177-FD4A199E65CB}"/>
              </a:ext>
            </a:extLst>
          </p:cNvPr>
          <p:cNvSpPr>
            <a:spLocks noChangeShapeType="1"/>
          </p:cNvSpPr>
          <p:nvPr/>
        </p:nvSpPr>
        <p:spPr bwMode="auto">
          <a:xfrm>
            <a:off x="143435" y="2357488"/>
            <a:ext cx="1180233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36" name="TextBox 35">
            <a:extLst>
              <a:ext uri="{FF2B5EF4-FFF2-40B4-BE49-F238E27FC236}">
                <a16:creationId xmlns:a16="http://schemas.microsoft.com/office/drawing/2014/main" id="{EBAA2809-E4AC-393B-2F0A-56115BB530B3}"/>
              </a:ext>
            </a:extLst>
          </p:cNvPr>
          <p:cNvSpPr txBox="1"/>
          <p:nvPr/>
        </p:nvSpPr>
        <p:spPr>
          <a:xfrm>
            <a:off x="432937" y="2613663"/>
            <a:ext cx="702185"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특허</a:t>
            </a:r>
            <a:endParaRPr lang="en-US" altLang="ko-KR" sz="1200" dirty="0">
              <a:solidFill>
                <a:schemeClr val="tx1"/>
              </a:solidFill>
              <a:latin typeface="+mn-ea"/>
            </a:endParaRPr>
          </a:p>
          <a:p>
            <a:pPr algn="ctr"/>
            <a:r>
              <a:rPr lang="ko-KR" altLang="en-US" sz="1200" dirty="0">
                <a:solidFill>
                  <a:schemeClr val="tx1"/>
                </a:solidFill>
                <a:latin typeface="+mn-ea"/>
              </a:rPr>
              <a:t>출원</a:t>
            </a:r>
          </a:p>
        </p:txBody>
      </p:sp>
      <p:sp>
        <p:nvSpPr>
          <p:cNvPr id="37" name="타원 36">
            <a:extLst>
              <a:ext uri="{FF2B5EF4-FFF2-40B4-BE49-F238E27FC236}">
                <a16:creationId xmlns:a16="http://schemas.microsoft.com/office/drawing/2014/main" id="{991E54A5-20BA-7C0A-2369-DA8B71034AB1}"/>
              </a:ext>
            </a:extLst>
          </p:cNvPr>
          <p:cNvSpPr/>
          <p:nvPr/>
        </p:nvSpPr>
        <p:spPr>
          <a:xfrm>
            <a:off x="716541" y="2263554"/>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8" name="직선 연결선 37">
            <a:extLst>
              <a:ext uri="{FF2B5EF4-FFF2-40B4-BE49-F238E27FC236}">
                <a16:creationId xmlns:a16="http://schemas.microsoft.com/office/drawing/2014/main" id="{DB39136A-1982-1784-35D4-41CA5C6A4957}"/>
              </a:ext>
            </a:extLst>
          </p:cNvPr>
          <p:cNvCxnSpPr>
            <a:cxnSpLocks/>
            <a:stCxn id="36" idx="0"/>
            <a:endCxn id="37" idx="4"/>
          </p:cNvCxnSpPr>
          <p:nvPr/>
        </p:nvCxnSpPr>
        <p:spPr>
          <a:xfrm flipH="1" flipV="1">
            <a:off x="784029" y="242489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2B3BEBB6-2058-2A08-7294-35D20B639859}"/>
              </a:ext>
            </a:extLst>
          </p:cNvPr>
          <p:cNvSpPr txBox="1"/>
          <p:nvPr/>
        </p:nvSpPr>
        <p:spPr>
          <a:xfrm>
            <a:off x="1430870" y="2613663"/>
            <a:ext cx="702185"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a:t>
            </a:r>
            <a:endParaRPr lang="ko-KR" altLang="en-US" sz="1200" dirty="0">
              <a:solidFill>
                <a:schemeClr val="tx1"/>
              </a:solidFill>
              <a:latin typeface="+mn-ea"/>
            </a:endParaRPr>
          </a:p>
        </p:txBody>
      </p:sp>
      <p:sp>
        <p:nvSpPr>
          <p:cNvPr id="40" name="타원 39">
            <a:extLst>
              <a:ext uri="{FF2B5EF4-FFF2-40B4-BE49-F238E27FC236}">
                <a16:creationId xmlns:a16="http://schemas.microsoft.com/office/drawing/2014/main" id="{ECE2926F-1813-F163-394B-4AED7D5655CC}"/>
              </a:ext>
            </a:extLst>
          </p:cNvPr>
          <p:cNvSpPr/>
          <p:nvPr/>
        </p:nvSpPr>
        <p:spPr>
          <a:xfrm>
            <a:off x="1714475" y="2263554"/>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1" name="직선 연결선 40">
            <a:extLst>
              <a:ext uri="{FF2B5EF4-FFF2-40B4-BE49-F238E27FC236}">
                <a16:creationId xmlns:a16="http://schemas.microsoft.com/office/drawing/2014/main" id="{6CFDE729-E7E7-39C4-4743-1FA96BB6C4A3}"/>
              </a:ext>
            </a:extLst>
          </p:cNvPr>
          <p:cNvCxnSpPr>
            <a:cxnSpLocks/>
            <a:stCxn id="39" idx="0"/>
            <a:endCxn id="40" idx="4"/>
          </p:cNvCxnSpPr>
          <p:nvPr/>
        </p:nvCxnSpPr>
        <p:spPr>
          <a:xfrm flipV="1">
            <a:off x="1781963" y="2424892"/>
            <a:ext cx="0"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3" name="타원 42">
            <a:extLst>
              <a:ext uri="{FF2B5EF4-FFF2-40B4-BE49-F238E27FC236}">
                <a16:creationId xmlns:a16="http://schemas.microsoft.com/office/drawing/2014/main" id="{9E51AC77-1144-B5B6-175D-E3DB76FC385E}"/>
              </a:ext>
            </a:extLst>
          </p:cNvPr>
          <p:cNvSpPr/>
          <p:nvPr/>
        </p:nvSpPr>
        <p:spPr>
          <a:xfrm>
            <a:off x="9123323" y="2263554"/>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45" name="TextBox 44">
            <a:extLst>
              <a:ext uri="{FF2B5EF4-FFF2-40B4-BE49-F238E27FC236}">
                <a16:creationId xmlns:a16="http://schemas.microsoft.com/office/drawing/2014/main" id="{A9B6DE8C-1AD1-8376-5461-A90304E4E2CF}"/>
              </a:ext>
            </a:extLst>
          </p:cNvPr>
          <p:cNvSpPr txBox="1"/>
          <p:nvPr/>
        </p:nvSpPr>
        <p:spPr>
          <a:xfrm>
            <a:off x="4964463" y="2613365"/>
            <a:ext cx="781562"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a:t>
            </a:r>
            <a:endParaRPr lang="ko-KR" altLang="en-US" sz="1200" dirty="0">
              <a:solidFill>
                <a:schemeClr val="tx1"/>
              </a:solidFill>
              <a:latin typeface="+mn-ea"/>
            </a:endParaRPr>
          </a:p>
        </p:txBody>
      </p:sp>
      <p:sp>
        <p:nvSpPr>
          <p:cNvPr id="46" name="타원 45">
            <a:extLst>
              <a:ext uri="{FF2B5EF4-FFF2-40B4-BE49-F238E27FC236}">
                <a16:creationId xmlns:a16="http://schemas.microsoft.com/office/drawing/2014/main" id="{09FC626B-B4D4-75C2-1B35-34F283EA424D}"/>
              </a:ext>
            </a:extLst>
          </p:cNvPr>
          <p:cNvSpPr/>
          <p:nvPr/>
        </p:nvSpPr>
        <p:spPr>
          <a:xfrm>
            <a:off x="5287756" y="2263554"/>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7" name="직선 연결선 46">
            <a:extLst>
              <a:ext uri="{FF2B5EF4-FFF2-40B4-BE49-F238E27FC236}">
                <a16:creationId xmlns:a16="http://schemas.microsoft.com/office/drawing/2014/main" id="{9C1DBB0E-F8F0-8397-4FF6-44BEDF241AD2}"/>
              </a:ext>
            </a:extLst>
          </p:cNvPr>
          <p:cNvCxnSpPr>
            <a:cxnSpLocks/>
            <a:stCxn id="45" idx="0"/>
            <a:endCxn id="46" idx="4"/>
          </p:cNvCxnSpPr>
          <p:nvPr/>
        </p:nvCxnSpPr>
        <p:spPr>
          <a:xfrm flipV="1">
            <a:off x="5355244" y="2424892"/>
            <a:ext cx="0"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9EEC1B28-B911-5480-5650-59F43F470A0C}"/>
              </a:ext>
            </a:extLst>
          </p:cNvPr>
          <p:cNvSpPr txBox="1"/>
          <p:nvPr/>
        </p:nvSpPr>
        <p:spPr>
          <a:xfrm>
            <a:off x="3758929" y="2613663"/>
            <a:ext cx="819482" cy="461665"/>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불복심판청구</a:t>
            </a:r>
          </a:p>
        </p:txBody>
      </p:sp>
      <p:sp>
        <p:nvSpPr>
          <p:cNvPr id="54" name="타원 53">
            <a:extLst>
              <a:ext uri="{FF2B5EF4-FFF2-40B4-BE49-F238E27FC236}">
                <a16:creationId xmlns:a16="http://schemas.microsoft.com/office/drawing/2014/main" id="{3161A2F4-F6FD-8E6D-F9DC-5AD24E2A1D86}"/>
              </a:ext>
            </a:extLst>
          </p:cNvPr>
          <p:cNvSpPr/>
          <p:nvPr/>
        </p:nvSpPr>
        <p:spPr>
          <a:xfrm>
            <a:off x="4101182" y="2263554"/>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5" name="직선 연결선 54">
            <a:extLst>
              <a:ext uri="{FF2B5EF4-FFF2-40B4-BE49-F238E27FC236}">
                <a16:creationId xmlns:a16="http://schemas.microsoft.com/office/drawing/2014/main" id="{0B0D88FA-F799-231D-D5BA-D90E75E1F900}"/>
              </a:ext>
            </a:extLst>
          </p:cNvPr>
          <p:cNvCxnSpPr>
            <a:cxnSpLocks/>
            <a:stCxn id="51" idx="0"/>
            <a:endCxn id="54" idx="4"/>
          </p:cNvCxnSpPr>
          <p:nvPr/>
        </p:nvCxnSpPr>
        <p:spPr>
          <a:xfrm flipV="1">
            <a:off x="4168670" y="2424892"/>
            <a:ext cx="0"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FF0A12D0-910A-6A29-7CCD-93A14FD367D2}"/>
              </a:ext>
            </a:extLst>
          </p:cNvPr>
          <p:cNvSpPr txBox="1"/>
          <p:nvPr/>
        </p:nvSpPr>
        <p:spPr>
          <a:xfrm>
            <a:off x="6271638" y="2614117"/>
            <a:ext cx="777318" cy="275496"/>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57" name="타원 56">
            <a:extLst>
              <a:ext uri="{FF2B5EF4-FFF2-40B4-BE49-F238E27FC236}">
                <a16:creationId xmlns:a16="http://schemas.microsoft.com/office/drawing/2014/main" id="{9488DA1C-E8BE-3E48-ACF2-EFB467DC3219}"/>
              </a:ext>
            </a:extLst>
          </p:cNvPr>
          <p:cNvSpPr/>
          <p:nvPr/>
        </p:nvSpPr>
        <p:spPr>
          <a:xfrm>
            <a:off x="6593175" y="2263991"/>
            <a:ext cx="134244" cy="160464"/>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8" name="직선 연결선 57">
            <a:extLst>
              <a:ext uri="{FF2B5EF4-FFF2-40B4-BE49-F238E27FC236}">
                <a16:creationId xmlns:a16="http://schemas.microsoft.com/office/drawing/2014/main" id="{CB8A35CE-FD57-AD15-ADE3-F6B1D1F9865B}"/>
              </a:ext>
            </a:extLst>
          </p:cNvPr>
          <p:cNvCxnSpPr>
            <a:cxnSpLocks/>
            <a:stCxn id="56" idx="0"/>
            <a:endCxn id="57" idx="4"/>
          </p:cNvCxnSpPr>
          <p:nvPr/>
        </p:nvCxnSpPr>
        <p:spPr>
          <a:xfrm flipV="1">
            <a:off x="6660297" y="2424455"/>
            <a:ext cx="0" cy="18966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B1EE0471-801D-FB62-B3BB-953C56503CDC}"/>
              </a:ext>
            </a:extLst>
          </p:cNvPr>
          <p:cNvSpPr txBox="1"/>
          <p:nvPr/>
        </p:nvSpPr>
        <p:spPr>
          <a:xfrm>
            <a:off x="7646572" y="2613663"/>
            <a:ext cx="702185"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소제기</a:t>
            </a:r>
          </a:p>
        </p:txBody>
      </p:sp>
      <p:sp>
        <p:nvSpPr>
          <p:cNvPr id="60" name="타원 59">
            <a:extLst>
              <a:ext uri="{FF2B5EF4-FFF2-40B4-BE49-F238E27FC236}">
                <a16:creationId xmlns:a16="http://schemas.microsoft.com/office/drawing/2014/main" id="{1E998AF9-3FE4-2476-DE51-FB77E0FBEAED}"/>
              </a:ext>
            </a:extLst>
          </p:cNvPr>
          <p:cNvSpPr/>
          <p:nvPr/>
        </p:nvSpPr>
        <p:spPr>
          <a:xfrm>
            <a:off x="7930176" y="2263554"/>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1" name="직선 연결선 60">
            <a:extLst>
              <a:ext uri="{FF2B5EF4-FFF2-40B4-BE49-F238E27FC236}">
                <a16:creationId xmlns:a16="http://schemas.microsoft.com/office/drawing/2014/main" id="{C3ADDDC1-287D-2018-87F2-42596EF44B8C}"/>
              </a:ext>
            </a:extLst>
          </p:cNvPr>
          <p:cNvCxnSpPr>
            <a:cxnSpLocks/>
            <a:stCxn id="59" idx="0"/>
            <a:endCxn id="60" idx="4"/>
          </p:cNvCxnSpPr>
          <p:nvPr/>
        </p:nvCxnSpPr>
        <p:spPr>
          <a:xfrm flipH="1" flipV="1">
            <a:off x="7997664" y="242489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0A3A4E63-822E-A02A-5757-9E4545184A5A}"/>
              </a:ext>
            </a:extLst>
          </p:cNvPr>
          <p:cNvSpPr txBox="1"/>
          <p:nvPr/>
        </p:nvSpPr>
        <p:spPr>
          <a:xfrm>
            <a:off x="9888641" y="2613663"/>
            <a:ext cx="990634"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a:t>
            </a:r>
          </a:p>
        </p:txBody>
      </p:sp>
      <p:sp>
        <p:nvSpPr>
          <p:cNvPr id="63" name="타원 62">
            <a:extLst>
              <a:ext uri="{FF2B5EF4-FFF2-40B4-BE49-F238E27FC236}">
                <a16:creationId xmlns:a16="http://schemas.microsoft.com/office/drawing/2014/main" id="{AFD6DBDF-88C8-ED51-1C7A-E85890343AA0}"/>
              </a:ext>
            </a:extLst>
          </p:cNvPr>
          <p:cNvSpPr/>
          <p:nvPr/>
        </p:nvSpPr>
        <p:spPr>
          <a:xfrm>
            <a:off x="10316469" y="2263554"/>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4" name="직선 연결선 63">
            <a:extLst>
              <a:ext uri="{FF2B5EF4-FFF2-40B4-BE49-F238E27FC236}">
                <a16:creationId xmlns:a16="http://schemas.microsoft.com/office/drawing/2014/main" id="{DC737A00-111A-3A9F-FCC8-CB11743D87DC}"/>
              </a:ext>
            </a:extLst>
          </p:cNvPr>
          <p:cNvCxnSpPr>
            <a:cxnSpLocks/>
            <a:stCxn id="62" idx="0"/>
            <a:endCxn id="63" idx="4"/>
          </p:cNvCxnSpPr>
          <p:nvPr/>
        </p:nvCxnSpPr>
        <p:spPr>
          <a:xfrm flipH="1" flipV="1">
            <a:off x="10383957" y="242489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5" name="연결선: 구부러짐 74">
            <a:extLst>
              <a:ext uri="{FF2B5EF4-FFF2-40B4-BE49-F238E27FC236}">
                <a16:creationId xmlns:a16="http://schemas.microsoft.com/office/drawing/2014/main" id="{97241A9C-B9C1-F9BA-70BB-543DA042478A}"/>
              </a:ext>
            </a:extLst>
          </p:cNvPr>
          <p:cNvCxnSpPr>
            <a:stCxn id="46" idx="0"/>
            <a:endCxn id="57" idx="1"/>
          </p:cNvCxnSpPr>
          <p:nvPr/>
        </p:nvCxnSpPr>
        <p:spPr>
          <a:xfrm rot="16200000" flipH="1">
            <a:off x="5972071" y="1646727"/>
            <a:ext cx="23936" cy="1257591"/>
          </a:xfrm>
          <a:prstGeom prst="curvedConnector3">
            <a:avLst>
              <a:gd name="adj1" fmla="val -955047"/>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연결선: 구부러짐 75">
            <a:extLst>
              <a:ext uri="{FF2B5EF4-FFF2-40B4-BE49-F238E27FC236}">
                <a16:creationId xmlns:a16="http://schemas.microsoft.com/office/drawing/2014/main" id="{9C65E5E9-5EC4-EA75-8410-F17065E0F73C}"/>
              </a:ext>
            </a:extLst>
          </p:cNvPr>
          <p:cNvCxnSpPr>
            <a:cxnSpLocks/>
            <a:stCxn id="80" idx="7"/>
            <a:endCxn id="57" idx="1"/>
          </p:cNvCxnSpPr>
          <p:nvPr/>
        </p:nvCxnSpPr>
        <p:spPr>
          <a:xfrm rot="16200000" flipH="1">
            <a:off x="4759476" y="434132"/>
            <a:ext cx="309" cy="3706407"/>
          </a:xfrm>
          <a:prstGeom prst="curvedConnector3">
            <a:avLst>
              <a:gd name="adj1" fmla="val -191872492"/>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7" name="TextBox 76">
            <a:extLst>
              <a:ext uri="{FF2B5EF4-FFF2-40B4-BE49-F238E27FC236}">
                <a16:creationId xmlns:a16="http://schemas.microsoft.com/office/drawing/2014/main" id="{C06503DF-6812-7CB6-CD62-3DF2020FD6DC}"/>
              </a:ext>
            </a:extLst>
          </p:cNvPr>
          <p:cNvSpPr txBox="1"/>
          <p:nvPr/>
        </p:nvSpPr>
        <p:spPr>
          <a:xfrm>
            <a:off x="3999057" y="1524148"/>
            <a:ext cx="922047" cy="338554"/>
          </a:xfrm>
          <a:prstGeom prst="rect">
            <a:avLst/>
          </a:prstGeom>
          <a:noFill/>
        </p:spPr>
        <p:txBody>
          <a:bodyPr wrap="square" rtlCol="0">
            <a:spAutoFit/>
          </a:bodyPr>
          <a:lstStyle/>
          <a:p>
            <a:r>
              <a:rPr lang="ko-KR" altLang="en-US" sz="1600" dirty="0">
                <a:solidFill>
                  <a:schemeClr val="bg1">
                    <a:lumMod val="95000"/>
                  </a:schemeClr>
                </a:solidFill>
                <a:highlight>
                  <a:srgbClr val="FF0000"/>
                </a:highlight>
              </a:rPr>
              <a:t>주지부합</a:t>
            </a:r>
          </a:p>
        </p:txBody>
      </p:sp>
      <p:sp>
        <p:nvSpPr>
          <p:cNvPr id="79" name="TextBox 78">
            <a:extLst>
              <a:ext uri="{FF2B5EF4-FFF2-40B4-BE49-F238E27FC236}">
                <a16:creationId xmlns:a16="http://schemas.microsoft.com/office/drawing/2014/main" id="{AF4F9257-6F1A-2E45-4589-8D0748A6D231}"/>
              </a:ext>
            </a:extLst>
          </p:cNvPr>
          <p:cNvSpPr txBox="1"/>
          <p:nvPr/>
        </p:nvSpPr>
        <p:spPr>
          <a:xfrm>
            <a:off x="2432031" y="2613663"/>
            <a:ext cx="853354"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a:solidFill>
                  <a:schemeClr val="tx1"/>
                </a:solidFill>
                <a:latin typeface="+mn-ea"/>
              </a:rPr>
              <a:t>거절결정</a:t>
            </a:r>
            <a:endParaRPr lang="ko-KR" altLang="en-US" sz="1200" dirty="0">
              <a:solidFill>
                <a:schemeClr val="tx1"/>
              </a:solidFill>
              <a:latin typeface="+mn-ea"/>
            </a:endParaRPr>
          </a:p>
        </p:txBody>
      </p:sp>
      <p:sp>
        <p:nvSpPr>
          <p:cNvPr id="80" name="타원 79">
            <a:extLst>
              <a:ext uri="{FF2B5EF4-FFF2-40B4-BE49-F238E27FC236}">
                <a16:creationId xmlns:a16="http://schemas.microsoft.com/office/drawing/2014/main" id="{55590291-1751-6EB2-6193-6F42F85AD9FE}"/>
              </a:ext>
            </a:extLst>
          </p:cNvPr>
          <p:cNvSpPr/>
          <p:nvPr/>
        </p:nvSpPr>
        <p:spPr>
          <a:xfrm>
            <a:off x="2791220" y="2263554"/>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1" name="직선 연결선 80">
            <a:extLst>
              <a:ext uri="{FF2B5EF4-FFF2-40B4-BE49-F238E27FC236}">
                <a16:creationId xmlns:a16="http://schemas.microsoft.com/office/drawing/2014/main" id="{FACACB0A-A4DE-A4DC-730B-F190D29CAE2C}"/>
              </a:ext>
            </a:extLst>
          </p:cNvPr>
          <p:cNvCxnSpPr>
            <a:cxnSpLocks/>
            <a:stCxn id="79" idx="0"/>
            <a:endCxn id="80" idx="4"/>
          </p:cNvCxnSpPr>
          <p:nvPr/>
        </p:nvCxnSpPr>
        <p:spPr>
          <a:xfrm flipV="1">
            <a:off x="2858708" y="2424892"/>
            <a:ext cx="0"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연결선: 구부러짐 82">
            <a:extLst>
              <a:ext uri="{FF2B5EF4-FFF2-40B4-BE49-F238E27FC236}">
                <a16:creationId xmlns:a16="http://schemas.microsoft.com/office/drawing/2014/main" id="{64DA3D9A-DB75-883B-CA62-E62C8DBB7507}"/>
              </a:ext>
            </a:extLst>
          </p:cNvPr>
          <p:cNvCxnSpPr>
            <a:cxnSpLocks/>
            <a:stCxn id="40" idx="0"/>
            <a:endCxn id="80" idx="0"/>
          </p:cNvCxnSpPr>
          <p:nvPr/>
        </p:nvCxnSpPr>
        <p:spPr>
          <a:xfrm rot="5400000" flipH="1" flipV="1">
            <a:off x="2320335" y="1725182"/>
            <a:ext cx="12700" cy="1076745"/>
          </a:xfrm>
          <a:prstGeom prst="curvedConnector3">
            <a:avLst>
              <a:gd name="adj1" fmla="val 1800000"/>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9C061E1D-8A5D-9B5C-97F2-A24799232175}"/>
              </a:ext>
            </a:extLst>
          </p:cNvPr>
          <p:cNvSpPr txBox="1"/>
          <p:nvPr/>
        </p:nvSpPr>
        <p:spPr>
          <a:xfrm>
            <a:off x="1888593" y="1899156"/>
            <a:ext cx="922047" cy="338554"/>
          </a:xfrm>
          <a:prstGeom prst="rect">
            <a:avLst/>
          </a:prstGeom>
          <a:noFill/>
        </p:spPr>
        <p:txBody>
          <a:bodyPr wrap="square" rtlCol="0">
            <a:spAutoFit/>
          </a:bodyPr>
          <a:lstStyle/>
          <a:p>
            <a:r>
              <a:rPr lang="ko-KR" altLang="en-US" sz="1600" dirty="0">
                <a:solidFill>
                  <a:schemeClr val="bg1">
                    <a:lumMod val="95000"/>
                  </a:schemeClr>
                </a:solidFill>
                <a:highlight>
                  <a:srgbClr val="FF0000"/>
                </a:highlight>
              </a:rPr>
              <a:t>주지부합</a:t>
            </a:r>
          </a:p>
        </p:txBody>
      </p:sp>
      <p:sp>
        <p:nvSpPr>
          <p:cNvPr id="92" name="TextBox 91">
            <a:extLst>
              <a:ext uri="{FF2B5EF4-FFF2-40B4-BE49-F238E27FC236}">
                <a16:creationId xmlns:a16="http://schemas.microsoft.com/office/drawing/2014/main" id="{C480AA7B-489A-C562-9860-63699DC2002E}"/>
              </a:ext>
            </a:extLst>
          </p:cNvPr>
          <p:cNvSpPr txBox="1"/>
          <p:nvPr/>
        </p:nvSpPr>
        <p:spPr>
          <a:xfrm>
            <a:off x="5523015" y="1908782"/>
            <a:ext cx="922047" cy="338554"/>
          </a:xfrm>
          <a:prstGeom prst="rect">
            <a:avLst/>
          </a:prstGeom>
          <a:noFill/>
        </p:spPr>
        <p:txBody>
          <a:bodyPr wrap="square" rtlCol="0">
            <a:spAutoFit/>
          </a:bodyPr>
          <a:lstStyle/>
          <a:p>
            <a:r>
              <a:rPr lang="ko-KR" altLang="en-US" sz="1600" dirty="0">
                <a:solidFill>
                  <a:schemeClr val="tx1">
                    <a:lumMod val="95000"/>
                    <a:lumOff val="5000"/>
                  </a:schemeClr>
                </a:solidFill>
                <a:highlight>
                  <a:srgbClr val="FFFF00"/>
                </a:highlight>
              </a:rPr>
              <a:t>주지부합</a:t>
            </a:r>
          </a:p>
        </p:txBody>
      </p:sp>
      <p:cxnSp>
        <p:nvCxnSpPr>
          <p:cNvPr id="95" name="연결선: 구부러짐 94">
            <a:extLst>
              <a:ext uri="{FF2B5EF4-FFF2-40B4-BE49-F238E27FC236}">
                <a16:creationId xmlns:a16="http://schemas.microsoft.com/office/drawing/2014/main" id="{CD6A29F1-F8BC-ADB3-F99A-68A5DC0C4D12}"/>
              </a:ext>
            </a:extLst>
          </p:cNvPr>
          <p:cNvCxnSpPr>
            <a:cxnSpLocks/>
            <a:stCxn id="80" idx="7"/>
            <a:endCxn id="63" idx="0"/>
          </p:cNvCxnSpPr>
          <p:nvPr/>
        </p:nvCxnSpPr>
        <p:spPr>
          <a:xfrm rot="5400000" flipH="1" flipV="1">
            <a:off x="6633379" y="-1463396"/>
            <a:ext cx="23627" cy="7477529"/>
          </a:xfrm>
          <a:prstGeom prst="curvedConnector3">
            <a:avLst>
              <a:gd name="adj1" fmla="val 4178834"/>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84F7B1A1-5E10-4BB1-8077-290AECE45BB5}"/>
              </a:ext>
            </a:extLst>
          </p:cNvPr>
          <p:cNvSpPr txBox="1"/>
          <p:nvPr/>
        </p:nvSpPr>
        <p:spPr>
          <a:xfrm>
            <a:off x="5749478" y="1137956"/>
            <a:ext cx="922047" cy="338554"/>
          </a:xfrm>
          <a:prstGeom prst="rect">
            <a:avLst/>
          </a:prstGeom>
          <a:noFill/>
        </p:spPr>
        <p:txBody>
          <a:bodyPr wrap="square" rtlCol="0">
            <a:spAutoFit/>
          </a:bodyPr>
          <a:lstStyle/>
          <a:p>
            <a:r>
              <a:rPr lang="ko-KR" altLang="en-US" sz="1600" dirty="0">
                <a:solidFill>
                  <a:schemeClr val="bg1">
                    <a:lumMod val="95000"/>
                  </a:schemeClr>
                </a:solidFill>
                <a:highlight>
                  <a:srgbClr val="FF0000"/>
                </a:highlight>
              </a:rPr>
              <a:t>주지부합</a:t>
            </a:r>
          </a:p>
        </p:txBody>
      </p:sp>
      <p:cxnSp>
        <p:nvCxnSpPr>
          <p:cNvPr id="103" name="연결선: 구부러짐 102">
            <a:extLst>
              <a:ext uri="{FF2B5EF4-FFF2-40B4-BE49-F238E27FC236}">
                <a16:creationId xmlns:a16="http://schemas.microsoft.com/office/drawing/2014/main" id="{C8F8CA34-98C6-11FE-3F27-5EDF6291FC80}"/>
              </a:ext>
            </a:extLst>
          </p:cNvPr>
          <p:cNvCxnSpPr>
            <a:cxnSpLocks/>
            <a:stCxn id="57" idx="0"/>
            <a:endCxn id="63" idx="1"/>
          </p:cNvCxnSpPr>
          <p:nvPr/>
        </p:nvCxnSpPr>
        <p:spPr>
          <a:xfrm rot="16200000" flipH="1">
            <a:off x="8486671" y="437617"/>
            <a:ext cx="23190" cy="3675939"/>
          </a:xfrm>
          <a:prstGeom prst="curvedConnector3">
            <a:avLst>
              <a:gd name="adj1" fmla="val -2417999"/>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F7355778-B2D5-9A6B-FE21-04CD8C783FF4}"/>
              </a:ext>
            </a:extLst>
          </p:cNvPr>
          <p:cNvSpPr txBox="1"/>
          <p:nvPr/>
        </p:nvSpPr>
        <p:spPr>
          <a:xfrm>
            <a:off x="7754359" y="1538023"/>
            <a:ext cx="922047" cy="338554"/>
          </a:xfrm>
          <a:prstGeom prst="rect">
            <a:avLst/>
          </a:prstGeom>
          <a:noFill/>
        </p:spPr>
        <p:txBody>
          <a:bodyPr wrap="square" rtlCol="0">
            <a:spAutoFit/>
          </a:bodyPr>
          <a:lstStyle/>
          <a:p>
            <a:r>
              <a:rPr lang="ko-KR" altLang="en-US" sz="1600" dirty="0">
                <a:solidFill>
                  <a:schemeClr val="tx1">
                    <a:lumMod val="95000"/>
                    <a:lumOff val="5000"/>
                  </a:schemeClr>
                </a:solidFill>
                <a:highlight>
                  <a:srgbClr val="FFFF00"/>
                </a:highlight>
              </a:rPr>
              <a:t>주지부합</a:t>
            </a:r>
          </a:p>
        </p:txBody>
      </p:sp>
      <p:sp>
        <p:nvSpPr>
          <p:cNvPr id="118" name="타원 117">
            <a:extLst>
              <a:ext uri="{FF2B5EF4-FFF2-40B4-BE49-F238E27FC236}">
                <a16:creationId xmlns:a16="http://schemas.microsoft.com/office/drawing/2014/main" id="{A09A4EEA-5CB0-309F-3B93-087C2F41CBD3}"/>
              </a:ext>
            </a:extLst>
          </p:cNvPr>
          <p:cNvSpPr/>
          <p:nvPr/>
        </p:nvSpPr>
        <p:spPr>
          <a:xfrm>
            <a:off x="1322290" y="2707907"/>
            <a:ext cx="269967" cy="269967"/>
          </a:xfrm>
          <a:prstGeom prst="ellipse">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119" name="타원 118">
            <a:extLst>
              <a:ext uri="{FF2B5EF4-FFF2-40B4-BE49-F238E27FC236}">
                <a16:creationId xmlns:a16="http://schemas.microsoft.com/office/drawing/2014/main" id="{993C5F1E-B870-2CC6-0E90-E23723210857}"/>
              </a:ext>
            </a:extLst>
          </p:cNvPr>
          <p:cNvSpPr/>
          <p:nvPr/>
        </p:nvSpPr>
        <p:spPr>
          <a:xfrm>
            <a:off x="8676406" y="2754629"/>
            <a:ext cx="269967" cy="269967"/>
          </a:xfrm>
          <a:prstGeom prst="ellipse">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sp>
        <p:nvSpPr>
          <p:cNvPr id="120" name="타원 119">
            <a:extLst>
              <a:ext uri="{FF2B5EF4-FFF2-40B4-BE49-F238E27FC236}">
                <a16:creationId xmlns:a16="http://schemas.microsoft.com/office/drawing/2014/main" id="{A6853D2F-2028-E902-DD72-923DF8B62712}"/>
              </a:ext>
            </a:extLst>
          </p:cNvPr>
          <p:cNvSpPr/>
          <p:nvPr/>
        </p:nvSpPr>
        <p:spPr>
          <a:xfrm>
            <a:off x="4864433" y="2716609"/>
            <a:ext cx="269967" cy="269967"/>
          </a:xfrm>
          <a:prstGeom prst="ellipse">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121" name="말풍선: 모서리가 둥근 사각형 120">
            <a:extLst>
              <a:ext uri="{FF2B5EF4-FFF2-40B4-BE49-F238E27FC236}">
                <a16:creationId xmlns:a16="http://schemas.microsoft.com/office/drawing/2014/main" id="{828F91E2-ACDC-37E9-6237-924C08623DA9}"/>
              </a:ext>
            </a:extLst>
          </p:cNvPr>
          <p:cNvSpPr/>
          <p:nvPr/>
        </p:nvSpPr>
        <p:spPr>
          <a:xfrm>
            <a:off x="1820125" y="3164766"/>
            <a:ext cx="1312986" cy="461665"/>
          </a:xfrm>
          <a:prstGeom prst="wedgeRoundRectCallout">
            <a:avLst>
              <a:gd name="adj1" fmla="val -51794"/>
              <a:gd name="adj2" fmla="val -102697"/>
              <a:gd name="adj3" fmla="val 16667"/>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100" dirty="0"/>
              <a:t>출원인의 의견서</a:t>
            </a:r>
            <a:r>
              <a:rPr lang="en-US" altLang="ko-KR" sz="1100" dirty="0"/>
              <a:t>/</a:t>
            </a:r>
          </a:p>
          <a:p>
            <a:pPr algn="ctr"/>
            <a:r>
              <a:rPr lang="ko-KR" altLang="en-US" sz="1100" dirty="0"/>
              <a:t>보정서 제출 기회</a:t>
            </a:r>
          </a:p>
        </p:txBody>
      </p:sp>
      <p:cxnSp>
        <p:nvCxnSpPr>
          <p:cNvPr id="123" name="직선 연결선 122">
            <a:extLst>
              <a:ext uri="{FF2B5EF4-FFF2-40B4-BE49-F238E27FC236}">
                <a16:creationId xmlns:a16="http://schemas.microsoft.com/office/drawing/2014/main" id="{977D3656-4257-BB5D-D125-61572B8ED1BC}"/>
              </a:ext>
            </a:extLst>
          </p:cNvPr>
          <p:cNvCxnSpPr>
            <a:cxnSpLocks/>
            <a:stCxn id="122" idx="0"/>
          </p:cNvCxnSpPr>
          <p:nvPr/>
        </p:nvCxnSpPr>
        <p:spPr>
          <a:xfrm flipV="1">
            <a:off x="9200187" y="2424892"/>
            <a:ext cx="0"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5" name="말풍선: 모서리가 둥근 사각형 124">
            <a:extLst>
              <a:ext uri="{FF2B5EF4-FFF2-40B4-BE49-F238E27FC236}">
                <a16:creationId xmlns:a16="http://schemas.microsoft.com/office/drawing/2014/main" id="{2882B026-0058-641C-0A13-69CADA28EA5A}"/>
              </a:ext>
            </a:extLst>
          </p:cNvPr>
          <p:cNvSpPr/>
          <p:nvPr/>
        </p:nvSpPr>
        <p:spPr>
          <a:xfrm>
            <a:off x="9123322" y="3164766"/>
            <a:ext cx="1849477" cy="461665"/>
          </a:xfrm>
          <a:prstGeom prst="wedgeRoundRectCallout">
            <a:avLst>
              <a:gd name="adj1" fmla="val -44106"/>
              <a:gd name="adj2" fmla="val -108523"/>
              <a:gd name="adj3" fmla="val 16667"/>
            </a:avLst>
          </a:prstGeom>
          <a:solidFill>
            <a:schemeClr val="bg1">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100" dirty="0"/>
              <a:t>지식재산처장이 </a:t>
            </a:r>
            <a:endParaRPr lang="en-US" altLang="ko-KR" sz="1100" dirty="0"/>
          </a:p>
          <a:p>
            <a:pPr algn="ctr"/>
            <a:r>
              <a:rPr lang="ko-KR" altLang="en-US" sz="1100" dirty="0"/>
              <a:t>새로운 거절이유 주장 불가</a:t>
            </a:r>
          </a:p>
        </p:txBody>
      </p:sp>
      <p:sp>
        <p:nvSpPr>
          <p:cNvPr id="126" name="사각형: 둥근 모서리 125">
            <a:extLst>
              <a:ext uri="{FF2B5EF4-FFF2-40B4-BE49-F238E27FC236}">
                <a16:creationId xmlns:a16="http://schemas.microsoft.com/office/drawing/2014/main" id="{83CADD08-8FA2-EDBA-AD8C-169FB317E54F}"/>
              </a:ext>
            </a:extLst>
          </p:cNvPr>
          <p:cNvSpPr/>
          <p:nvPr/>
        </p:nvSpPr>
        <p:spPr>
          <a:xfrm>
            <a:off x="367737" y="1037196"/>
            <a:ext cx="2917648" cy="431004"/>
          </a:xfrm>
          <a:prstGeom prst="roundRect">
            <a:avLst>
              <a:gd name="adj" fmla="val 50000"/>
            </a:avLst>
          </a:prstGeom>
          <a:solidFill>
            <a:schemeClr val="accent3">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600" dirty="0"/>
              <a:t>거절결정불복심판의 취소소송</a:t>
            </a:r>
          </a:p>
        </p:txBody>
      </p:sp>
      <p:cxnSp>
        <p:nvCxnSpPr>
          <p:cNvPr id="142" name="직선 연결선 141">
            <a:extLst>
              <a:ext uri="{FF2B5EF4-FFF2-40B4-BE49-F238E27FC236}">
                <a16:creationId xmlns:a16="http://schemas.microsoft.com/office/drawing/2014/main" id="{D64F20E5-B5A3-BF60-DD12-F2593091AAA8}"/>
              </a:ext>
            </a:extLst>
          </p:cNvPr>
          <p:cNvCxnSpPr/>
          <p:nvPr/>
        </p:nvCxnSpPr>
        <p:spPr>
          <a:xfrm>
            <a:off x="0" y="3818964"/>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3" name="TextBox 142">
            <a:extLst>
              <a:ext uri="{FF2B5EF4-FFF2-40B4-BE49-F238E27FC236}">
                <a16:creationId xmlns:a16="http://schemas.microsoft.com/office/drawing/2014/main" id="{44D324CD-38EC-7CA2-4024-53F8929DAD4D}"/>
              </a:ext>
            </a:extLst>
          </p:cNvPr>
          <p:cNvSpPr txBox="1"/>
          <p:nvPr/>
        </p:nvSpPr>
        <p:spPr>
          <a:xfrm>
            <a:off x="8809406" y="5631236"/>
            <a:ext cx="781562"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 </a:t>
            </a:r>
            <a:r>
              <a:rPr lang="ko-KR" altLang="en-US" sz="1200" dirty="0">
                <a:solidFill>
                  <a:schemeClr val="tx1"/>
                </a:solidFill>
                <a:latin typeface="+mn-ea"/>
              </a:rPr>
              <a:t>불가</a:t>
            </a:r>
          </a:p>
        </p:txBody>
      </p:sp>
      <p:sp>
        <p:nvSpPr>
          <p:cNvPr id="144" name="Line 5">
            <a:extLst>
              <a:ext uri="{FF2B5EF4-FFF2-40B4-BE49-F238E27FC236}">
                <a16:creationId xmlns:a16="http://schemas.microsoft.com/office/drawing/2014/main" id="{68CCFA0C-613F-7910-2E67-C351191C2F96}"/>
              </a:ext>
            </a:extLst>
          </p:cNvPr>
          <p:cNvSpPr>
            <a:spLocks noChangeShapeType="1"/>
          </p:cNvSpPr>
          <p:nvPr/>
        </p:nvSpPr>
        <p:spPr bwMode="auto">
          <a:xfrm>
            <a:off x="143435" y="5375359"/>
            <a:ext cx="1180233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145" name="TextBox 144">
            <a:extLst>
              <a:ext uri="{FF2B5EF4-FFF2-40B4-BE49-F238E27FC236}">
                <a16:creationId xmlns:a16="http://schemas.microsoft.com/office/drawing/2014/main" id="{6562E5EA-A1AF-F192-46CA-B8FF84F691B8}"/>
              </a:ext>
            </a:extLst>
          </p:cNvPr>
          <p:cNvSpPr txBox="1"/>
          <p:nvPr/>
        </p:nvSpPr>
        <p:spPr>
          <a:xfrm>
            <a:off x="432937" y="5631534"/>
            <a:ext cx="702185"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특허</a:t>
            </a:r>
            <a:endParaRPr lang="en-US" altLang="ko-KR" sz="1200" dirty="0">
              <a:solidFill>
                <a:schemeClr val="tx1"/>
              </a:solidFill>
              <a:latin typeface="+mn-ea"/>
            </a:endParaRPr>
          </a:p>
          <a:p>
            <a:pPr algn="ctr"/>
            <a:r>
              <a:rPr lang="ko-KR" altLang="en-US" sz="1200" dirty="0">
                <a:solidFill>
                  <a:schemeClr val="tx1"/>
                </a:solidFill>
                <a:latin typeface="+mn-ea"/>
              </a:rPr>
              <a:t>출원</a:t>
            </a:r>
          </a:p>
        </p:txBody>
      </p:sp>
      <p:sp>
        <p:nvSpPr>
          <p:cNvPr id="146" name="타원 145">
            <a:extLst>
              <a:ext uri="{FF2B5EF4-FFF2-40B4-BE49-F238E27FC236}">
                <a16:creationId xmlns:a16="http://schemas.microsoft.com/office/drawing/2014/main" id="{C9C4E930-662A-B2B4-AD72-581A61189FC2}"/>
              </a:ext>
            </a:extLst>
          </p:cNvPr>
          <p:cNvSpPr/>
          <p:nvPr/>
        </p:nvSpPr>
        <p:spPr>
          <a:xfrm>
            <a:off x="716541" y="5281425"/>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47" name="직선 연결선 146">
            <a:extLst>
              <a:ext uri="{FF2B5EF4-FFF2-40B4-BE49-F238E27FC236}">
                <a16:creationId xmlns:a16="http://schemas.microsoft.com/office/drawing/2014/main" id="{36395C82-6B15-4E71-5043-9357C3D9F0E4}"/>
              </a:ext>
            </a:extLst>
          </p:cNvPr>
          <p:cNvCxnSpPr>
            <a:cxnSpLocks/>
            <a:stCxn id="145" idx="0"/>
            <a:endCxn id="146" idx="4"/>
          </p:cNvCxnSpPr>
          <p:nvPr/>
        </p:nvCxnSpPr>
        <p:spPr>
          <a:xfrm flipH="1" flipV="1">
            <a:off x="784029" y="544276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1" name="타원 150">
            <a:extLst>
              <a:ext uri="{FF2B5EF4-FFF2-40B4-BE49-F238E27FC236}">
                <a16:creationId xmlns:a16="http://schemas.microsoft.com/office/drawing/2014/main" id="{9A61E924-4FF8-BB25-60C7-573FC981744F}"/>
              </a:ext>
            </a:extLst>
          </p:cNvPr>
          <p:cNvSpPr/>
          <p:nvPr/>
        </p:nvSpPr>
        <p:spPr>
          <a:xfrm>
            <a:off x="9123323" y="5281425"/>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sp>
        <p:nvSpPr>
          <p:cNvPr id="152" name="TextBox 151">
            <a:extLst>
              <a:ext uri="{FF2B5EF4-FFF2-40B4-BE49-F238E27FC236}">
                <a16:creationId xmlns:a16="http://schemas.microsoft.com/office/drawing/2014/main" id="{B84B7A51-0C4B-FC89-8808-C93639A22599}"/>
              </a:ext>
            </a:extLst>
          </p:cNvPr>
          <p:cNvSpPr txBox="1"/>
          <p:nvPr/>
        </p:nvSpPr>
        <p:spPr>
          <a:xfrm>
            <a:off x="4479194" y="5631236"/>
            <a:ext cx="781562"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a:t>
            </a:r>
            <a:endParaRPr lang="ko-KR" altLang="en-US" sz="1200" dirty="0">
              <a:solidFill>
                <a:schemeClr val="tx1"/>
              </a:solidFill>
              <a:latin typeface="+mn-ea"/>
            </a:endParaRPr>
          </a:p>
        </p:txBody>
      </p:sp>
      <p:sp>
        <p:nvSpPr>
          <p:cNvPr id="153" name="타원 152">
            <a:extLst>
              <a:ext uri="{FF2B5EF4-FFF2-40B4-BE49-F238E27FC236}">
                <a16:creationId xmlns:a16="http://schemas.microsoft.com/office/drawing/2014/main" id="{1116D8E9-09BF-9967-39E1-6AE3C4E293FE}"/>
              </a:ext>
            </a:extLst>
          </p:cNvPr>
          <p:cNvSpPr/>
          <p:nvPr/>
        </p:nvSpPr>
        <p:spPr>
          <a:xfrm>
            <a:off x="4802487" y="5281425"/>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54" name="직선 연결선 153">
            <a:extLst>
              <a:ext uri="{FF2B5EF4-FFF2-40B4-BE49-F238E27FC236}">
                <a16:creationId xmlns:a16="http://schemas.microsoft.com/office/drawing/2014/main" id="{13D2B1EB-84D5-2E82-4DA6-FFFF51878D7D}"/>
              </a:ext>
            </a:extLst>
          </p:cNvPr>
          <p:cNvCxnSpPr>
            <a:cxnSpLocks/>
            <a:stCxn id="152" idx="0"/>
            <a:endCxn id="153" idx="4"/>
          </p:cNvCxnSpPr>
          <p:nvPr/>
        </p:nvCxnSpPr>
        <p:spPr>
          <a:xfrm flipV="1">
            <a:off x="4869975" y="5442763"/>
            <a:ext cx="0"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25BFA228-BADF-9A90-27C0-58050E6F7538}"/>
              </a:ext>
            </a:extLst>
          </p:cNvPr>
          <p:cNvSpPr txBox="1"/>
          <p:nvPr/>
        </p:nvSpPr>
        <p:spPr>
          <a:xfrm>
            <a:off x="3131926" y="5631534"/>
            <a:ext cx="819482"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취소신청</a:t>
            </a:r>
          </a:p>
        </p:txBody>
      </p:sp>
      <p:sp>
        <p:nvSpPr>
          <p:cNvPr id="156" name="타원 155">
            <a:extLst>
              <a:ext uri="{FF2B5EF4-FFF2-40B4-BE49-F238E27FC236}">
                <a16:creationId xmlns:a16="http://schemas.microsoft.com/office/drawing/2014/main" id="{527F46D6-8781-5396-3B68-4EC07B898D5F}"/>
              </a:ext>
            </a:extLst>
          </p:cNvPr>
          <p:cNvSpPr/>
          <p:nvPr/>
        </p:nvSpPr>
        <p:spPr>
          <a:xfrm>
            <a:off x="3474179" y="5281425"/>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57" name="직선 연결선 156">
            <a:extLst>
              <a:ext uri="{FF2B5EF4-FFF2-40B4-BE49-F238E27FC236}">
                <a16:creationId xmlns:a16="http://schemas.microsoft.com/office/drawing/2014/main" id="{9E21326D-57EF-E325-5809-7200E06418E0}"/>
              </a:ext>
            </a:extLst>
          </p:cNvPr>
          <p:cNvCxnSpPr>
            <a:cxnSpLocks/>
            <a:stCxn id="155" idx="0"/>
            <a:endCxn id="156" idx="4"/>
          </p:cNvCxnSpPr>
          <p:nvPr/>
        </p:nvCxnSpPr>
        <p:spPr>
          <a:xfrm flipV="1">
            <a:off x="3541667" y="5442763"/>
            <a:ext cx="0"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8" name="TextBox 157">
            <a:extLst>
              <a:ext uri="{FF2B5EF4-FFF2-40B4-BE49-F238E27FC236}">
                <a16:creationId xmlns:a16="http://schemas.microsoft.com/office/drawing/2014/main" id="{A26CE16E-F193-9C52-9D4B-1AF87B385187}"/>
              </a:ext>
            </a:extLst>
          </p:cNvPr>
          <p:cNvSpPr txBox="1"/>
          <p:nvPr/>
        </p:nvSpPr>
        <p:spPr>
          <a:xfrm>
            <a:off x="6271638" y="5631988"/>
            <a:ext cx="777318" cy="275496"/>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취소결정</a:t>
            </a:r>
          </a:p>
        </p:txBody>
      </p:sp>
      <p:sp>
        <p:nvSpPr>
          <p:cNvPr id="159" name="타원 158">
            <a:extLst>
              <a:ext uri="{FF2B5EF4-FFF2-40B4-BE49-F238E27FC236}">
                <a16:creationId xmlns:a16="http://schemas.microsoft.com/office/drawing/2014/main" id="{FFE426F8-B09E-328B-5FBB-B98C9C63902B}"/>
              </a:ext>
            </a:extLst>
          </p:cNvPr>
          <p:cNvSpPr/>
          <p:nvPr/>
        </p:nvSpPr>
        <p:spPr>
          <a:xfrm>
            <a:off x="6593175" y="5281862"/>
            <a:ext cx="134244" cy="160464"/>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60" name="직선 연결선 159">
            <a:extLst>
              <a:ext uri="{FF2B5EF4-FFF2-40B4-BE49-F238E27FC236}">
                <a16:creationId xmlns:a16="http://schemas.microsoft.com/office/drawing/2014/main" id="{97B56DCD-96F0-6039-35A7-4C0BA1960D80}"/>
              </a:ext>
            </a:extLst>
          </p:cNvPr>
          <p:cNvCxnSpPr>
            <a:cxnSpLocks/>
            <a:stCxn id="158" idx="0"/>
            <a:endCxn id="159" idx="4"/>
          </p:cNvCxnSpPr>
          <p:nvPr/>
        </p:nvCxnSpPr>
        <p:spPr>
          <a:xfrm flipV="1">
            <a:off x="6660297" y="5442326"/>
            <a:ext cx="0" cy="18966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1" name="TextBox 160">
            <a:extLst>
              <a:ext uri="{FF2B5EF4-FFF2-40B4-BE49-F238E27FC236}">
                <a16:creationId xmlns:a16="http://schemas.microsoft.com/office/drawing/2014/main" id="{3E0AD063-6565-3C51-6FD9-FCDEEE18FD25}"/>
              </a:ext>
            </a:extLst>
          </p:cNvPr>
          <p:cNvSpPr txBox="1"/>
          <p:nvPr/>
        </p:nvSpPr>
        <p:spPr>
          <a:xfrm>
            <a:off x="7646572" y="5631534"/>
            <a:ext cx="702185"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소제기</a:t>
            </a:r>
          </a:p>
        </p:txBody>
      </p:sp>
      <p:sp>
        <p:nvSpPr>
          <p:cNvPr id="162" name="타원 161">
            <a:extLst>
              <a:ext uri="{FF2B5EF4-FFF2-40B4-BE49-F238E27FC236}">
                <a16:creationId xmlns:a16="http://schemas.microsoft.com/office/drawing/2014/main" id="{AA79E3A4-A6E1-DBB3-697B-FCCC3315F1C4}"/>
              </a:ext>
            </a:extLst>
          </p:cNvPr>
          <p:cNvSpPr/>
          <p:nvPr/>
        </p:nvSpPr>
        <p:spPr>
          <a:xfrm>
            <a:off x="7930176" y="5281425"/>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63" name="직선 연결선 162">
            <a:extLst>
              <a:ext uri="{FF2B5EF4-FFF2-40B4-BE49-F238E27FC236}">
                <a16:creationId xmlns:a16="http://schemas.microsoft.com/office/drawing/2014/main" id="{4CEFBD0D-37C9-25F9-C561-581C330454F5}"/>
              </a:ext>
            </a:extLst>
          </p:cNvPr>
          <p:cNvCxnSpPr>
            <a:cxnSpLocks/>
            <a:stCxn id="161" idx="0"/>
            <a:endCxn id="162" idx="4"/>
          </p:cNvCxnSpPr>
          <p:nvPr/>
        </p:nvCxnSpPr>
        <p:spPr>
          <a:xfrm flipH="1" flipV="1">
            <a:off x="7997664" y="544276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4" name="TextBox 163">
            <a:extLst>
              <a:ext uri="{FF2B5EF4-FFF2-40B4-BE49-F238E27FC236}">
                <a16:creationId xmlns:a16="http://schemas.microsoft.com/office/drawing/2014/main" id="{B113E255-1B49-E451-F3B8-F4F06E572B05}"/>
              </a:ext>
            </a:extLst>
          </p:cNvPr>
          <p:cNvSpPr txBox="1"/>
          <p:nvPr/>
        </p:nvSpPr>
        <p:spPr>
          <a:xfrm>
            <a:off x="9888641" y="5631534"/>
            <a:ext cx="990634"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a:t>
            </a:r>
          </a:p>
        </p:txBody>
      </p:sp>
      <p:sp>
        <p:nvSpPr>
          <p:cNvPr id="165" name="타원 164">
            <a:extLst>
              <a:ext uri="{FF2B5EF4-FFF2-40B4-BE49-F238E27FC236}">
                <a16:creationId xmlns:a16="http://schemas.microsoft.com/office/drawing/2014/main" id="{A9EEEED0-A77D-50FC-A17B-B6EC93ADD017}"/>
              </a:ext>
            </a:extLst>
          </p:cNvPr>
          <p:cNvSpPr/>
          <p:nvPr/>
        </p:nvSpPr>
        <p:spPr>
          <a:xfrm>
            <a:off x="10316469" y="5281425"/>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66" name="직선 연결선 165">
            <a:extLst>
              <a:ext uri="{FF2B5EF4-FFF2-40B4-BE49-F238E27FC236}">
                <a16:creationId xmlns:a16="http://schemas.microsoft.com/office/drawing/2014/main" id="{56FBF0C9-3E3D-6D8B-4A0B-F7543A4699CA}"/>
              </a:ext>
            </a:extLst>
          </p:cNvPr>
          <p:cNvCxnSpPr>
            <a:cxnSpLocks/>
            <a:stCxn id="164" idx="0"/>
            <a:endCxn id="165" idx="4"/>
          </p:cNvCxnSpPr>
          <p:nvPr/>
        </p:nvCxnSpPr>
        <p:spPr>
          <a:xfrm flipH="1" flipV="1">
            <a:off x="10383957" y="5442763"/>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7" name="연결선: 구부러짐 166">
            <a:extLst>
              <a:ext uri="{FF2B5EF4-FFF2-40B4-BE49-F238E27FC236}">
                <a16:creationId xmlns:a16="http://schemas.microsoft.com/office/drawing/2014/main" id="{A9F1974D-A794-C394-D53C-011F70838EBF}"/>
              </a:ext>
            </a:extLst>
          </p:cNvPr>
          <p:cNvCxnSpPr>
            <a:stCxn id="153" idx="0"/>
            <a:endCxn id="159" idx="1"/>
          </p:cNvCxnSpPr>
          <p:nvPr/>
        </p:nvCxnSpPr>
        <p:spPr>
          <a:xfrm rot="16200000" flipH="1">
            <a:off x="5729437" y="4421963"/>
            <a:ext cx="23936" cy="1742860"/>
          </a:xfrm>
          <a:prstGeom prst="curvedConnector3">
            <a:avLst>
              <a:gd name="adj1" fmla="val -955047"/>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9" name="TextBox 168">
            <a:extLst>
              <a:ext uri="{FF2B5EF4-FFF2-40B4-BE49-F238E27FC236}">
                <a16:creationId xmlns:a16="http://schemas.microsoft.com/office/drawing/2014/main" id="{86E5723C-F3E8-91B6-EDE3-8335AAABC4A7}"/>
              </a:ext>
            </a:extLst>
          </p:cNvPr>
          <p:cNvSpPr txBox="1"/>
          <p:nvPr/>
        </p:nvSpPr>
        <p:spPr>
          <a:xfrm>
            <a:off x="5355226" y="4894448"/>
            <a:ext cx="922047" cy="338554"/>
          </a:xfrm>
          <a:prstGeom prst="rect">
            <a:avLst/>
          </a:prstGeom>
          <a:noFill/>
        </p:spPr>
        <p:txBody>
          <a:bodyPr wrap="square" rtlCol="0">
            <a:spAutoFit/>
          </a:bodyPr>
          <a:lstStyle/>
          <a:p>
            <a:r>
              <a:rPr lang="ko-KR" altLang="en-US" sz="1600" dirty="0">
                <a:solidFill>
                  <a:schemeClr val="bg1">
                    <a:lumMod val="95000"/>
                  </a:schemeClr>
                </a:solidFill>
                <a:highlight>
                  <a:srgbClr val="FF0000"/>
                </a:highlight>
              </a:rPr>
              <a:t>주지부합</a:t>
            </a:r>
          </a:p>
        </p:txBody>
      </p:sp>
      <p:sp>
        <p:nvSpPr>
          <p:cNvPr id="170" name="TextBox 169">
            <a:extLst>
              <a:ext uri="{FF2B5EF4-FFF2-40B4-BE49-F238E27FC236}">
                <a16:creationId xmlns:a16="http://schemas.microsoft.com/office/drawing/2014/main" id="{189AADBE-B9B0-9383-6A80-54E6AFB7F605}"/>
              </a:ext>
            </a:extLst>
          </p:cNvPr>
          <p:cNvSpPr txBox="1"/>
          <p:nvPr/>
        </p:nvSpPr>
        <p:spPr>
          <a:xfrm>
            <a:off x="1786490" y="5631534"/>
            <a:ext cx="853354" cy="276999"/>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등록</a:t>
            </a:r>
          </a:p>
        </p:txBody>
      </p:sp>
      <p:sp>
        <p:nvSpPr>
          <p:cNvPr id="171" name="타원 170">
            <a:extLst>
              <a:ext uri="{FF2B5EF4-FFF2-40B4-BE49-F238E27FC236}">
                <a16:creationId xmlns:a16="http://schemas.microsoft.com/office/drawing/2014/main" id="{29115FCE-8D9A-42AE-CA4E-5187E9B4F7EE}"/>
              </a:ext>
            </a:extLst>
          </p:cNvPr>
          <p:cNvSpPr/>
          <p:nvPr/>
        </p:nvSpPr>
        <p:spPr>
          <a:xfrm>
            <a:off x="2145679" y="5281425"/>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72" name="직선 연결선 171">
            <a:extLst>
              <a:ext uri="{FF2B5EF4-FFF2-40B4-BE49-F238E27FC236}">
                <a16:creationId xmlns:a16="http://schemas.microsoft.com/office/drawing/2014/main" id="{B4BE6546-5B61-132C-6410-BD6CFF73695C}"/>
              </a:ext>
            </a:extLst>
          </p:cNvPr>
          <p:cNvCxnSpPr>
            <a:cxnSpLocks/>
            <a:stCxn id="170" idx="0"/>
            <a:endCxn id="171" idx="4"/>
          </p:cNvCxnSpPr>
          <p:nvPr/>
        </p:nvCxnSpPr>
        <p:spPr>
          <a:xfrm flipV="1">
            <a:off x="2213167" y="5442763"/>
            <a:ext cx="0"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8" name="연결선: 구부러짐 177">
            <a:extLst>
              <a:ext uri="{FF2B5EF4-FFF2-40B4-BE49-F238E27FC236}">
                <a16:creationId xmlns:a16="http://schemas.microsoft.com/office/drawing/2014/main" id="{9B62A5B2-E6C5-130F-E726-08A20F2C286A}"/>
              </a:ext>
            </a:extLst>
          </p:cNvPr>
          <p:cNvCxnSpPr>
            <a:cxnSpLocks/>
            <a:stCxn id="159" idx="0"/>
            <a:endCxn id="165" idx="1"/>
          </p:cNvCxnSpPr>
          <p:nvPr/>
        </p:nvCxnSpPr>
        <p:spPr>
          <a:xfrm rot="16200000" flipH="1">
            <a:off x="8486671" y="3455488"/>
            <a:ext cx="23190" cy="3675939"/>
          </a:xfrm>
          <a:prstGeom prst="curvedConnector3">
            <a:avLst>
              <a:gd name="adj1" fmla="val -2417999"/>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81" name="타원 180">
            <a:extLst>
              <a:ext uri="{FF2B5EF4-FFF2-40B4-BE49-F238E27FC236}">
                <a16:creationId xmlns:a16="http://schemas.microsoft.com/office/drawing/2014/main" id="{8B3DD5CC-AB50-E6EE-6E53-F387F1FD266B}"/>
              </a:ext>
            </a:extLst>
          </p:cNvPr>
          <p:cNvSpPr/>
          <p:nvPr/>
        </p:nvSpPr>
        <p:spPr>
          <a:xfrm>
            <a:off x="8676406" y="5772500"/>
            <a:ext cx="269967" cy="269967"/>
          </a:xfrm>
          <a:prstGeom prst="ellipse">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cxnSp>
        <p:nvCxnSpPr>
          <p:cNvPr id="184" name="직선 연결선 183">
            <a:extLst>
              <a:ext uri="{FF2B5EF4-FFF2-40B4-BE49-F238E27FC236}">
                <a16:creationId xmlns:a16="http://schemas.microsoft.com/office/drawing/2014/main" id="{C483A70D-2E1D-4150-2B6C-EFD175F5FAE8}"/>
              </a:ext>
            </a:extLst>
          </p:cNvPr>
          <p:cNvCxnSpPr>
            <a:cxnSpLocks/>
            <a:stCxn id="143" idx="0"/>
          </p:cNvCxnSpPr>
          <p:nvPr/>
        </p:nvCxnSpPr>
        <p:spPr>
          <a:xfrm flipV="1">
            <a:off x="9200187" y="5442763"/>
            <a:ext cx="0"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5" name="말풍선: 모서리가 둥근 사각형 184">
            <a:extLst>
              <a:ext uri="{FF2B5EF4-FFF2-40B4-BE49-F238E27FC236}">
                <a16:creationId xmlns:a16="http://schemas.microsoft.com/office/drawing/2014/main" id="{DC81713C-D072-BCF6-CB1E-7EC39FA54000}"/>
              </a:ext>
            </a:extLst>
          </p:cNvPr>
          <p:cNvSpPr/>
          <p:nvPr/>
        </p:nvSpPr>
        <p:spPr>
          <a:xfrm>
            <a:off x="9123322" y="6182637"/>
            <a:ext cx="1849477" cy="461665"/>
          </a:xfrm>
          <a:prstGeom prst="wedgeRoundRectCallout">
            <a:avLst>
              <a:gd name="adj1" fmla="val -44106"/>
              <a:gd name="adj2" fmla="val -108523"/>
              <a:gd name="adj3" fmla="val 16667"/>
            </a:avLst>
          </a:prstGeom>
          <a:solidFill>
            <a:schemeClr val="bg1">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100" dirty="0"/>
              <a:t>지식재산처장이 </a:t>
            </a:r>
            <a:endParaRPr lang="en-US" altLang="ko-KR" sz="1100" dirty="0"/>
          </a:p>
          <a:p>
            <a:pPr algn="ctr"/>
            <a:r>
              <a:rPr lang="ko-KR" altLang="en-US" sz="1100" dirty="0"/>
              <a:t>새로운 취소사유 주장 불가</a:t>
            </a:r>
          </a:p>
        </p:txBody>
      </p:sp>
      <p:sp>
        <p:nvSpPr>
          <p:cNvPr id="186" name="사각형: 둥근 모서리 185">
            <a:extLst>
              <a:ext uri="{FF2B5EF4-FFF2-40B4-BE49-F238E27FC236}">
                <a16:creationId xmlns:a16="http://schemas.microsoft.com/office/drawing/2014/main" id="{667A8B85-44E3-0332-4777-C111669222A9}"/>
              </a:ext>
            </a:extLst>
          </p:cNvPr>
          <p:cNvSpPr/>
          <p:nvPr/>
        </p:nvSpPr>
        <p:spPr>
          <a:xfrm>
            <a:off x="367737" y="4055067"/>
            <a:ext cx="2917648" cy="431004"/>
          </a:xfrm>
          <a:prstGeom prst="roundRect">
            <a:avLst>
              <a:gd name="adj" fmla="val 50000"/>
            </a:avLst>
          </a:prstGeom>
          <a:solidFill>
            <a:schemeClr val="accent3">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600" dirty="0"/>
              <a:t>특허취소결정의 취소소송</a:t>
            </a:r>
          </a:p>
        </p:txBody>
      </p:sp>
      <p:sp>
        <p:nvSpPr>
          <p:cNvPr id="190" name="타원 189">
            <a:extLst>
              <a:ext uri="{FF2B5EF4-FFF2-40B4-BE49-F238E27FC236}">
                <a16:creationId xmlns:a16="http://schemas.microsoft.com/office/drawing/2014/main" id="{6516B277-02FC-B159-32AC-B962DF339C5A}"/>
              </a:ext>
            </a:extLst>
          </p:cNvPr>
          <p:cNvSpPr/>
          <p:nvPr/>
        </p:nvSpPr>
        <p:spPr>
          <a:xfrm>
            <a:off x="4352442" y="5769735"/>
            <a:ext cx="269967" cy="269967"/>
          </a:xfrm>
          <a:prstGeom prst="ellipse">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191" name="TextBox 190">
            <a:extLst>
              <a:ext uri="{FF2B5EF4-FFF2-40B4-BE49-F238E27FC236}">
                <a16:creationId xmlns:a16="http://schemas.microsoft.com/office/drawing/2014/main" id="{C4CBB2EA-1639-5214-E8AC-D4D3D3B25751}"/>
              </a:ext>
            </a:extLst>
          </p:cNvPr>
          <p:cNvSpPr txBox="1"/>
          <p:nvPr/>
        </p:nvSpPr>
        <p:spPr>
          <a:xfrm>
            <a:off x="7930176" y="4592161"/>
            <a:ext cx="922047" cy="338554"/>
          </a:xfrm>
          <a:prstGeom prst="rect">
            <a:avLst/>
          </a:prstGeom>
          <a:noFill/>
        </p:spPr>
        <p:txBody>
          <a:bodyPr wrap="square" rtlCol="0">
            <a:spAutoFit/>
          </a:bodyPr>
          <a:lstStyle/>
          <a:p>
            <a:r>
              <a:rPr lang="ko-KR" altLang="en-US" sz="1600" dirty="0">
                <a:solidFill>
                  <a:schemeClr val="bg1">
                    <a:lumMod val="95000"/>
                  </a:schemeClr>
                </a:solidFill>
                <a:highlight>
                  <a:srgbClr val="FF0000"/>
                </a:highlight>
              </a:rPr>
              <a:t>주지부합</a:t>
            </a:r>
          </a:p>
        </p:txBody>
      </p:sp>
      <p:sp>
        <p:nvSpPr>
          <p:cNvPr id="192" name="말풍선: 모서리가 둥근 사각형 191">
            <a:extLst>
              <a:ext uri="{FF2B5EF4-FFF2-40B4-BE49-F238E27FC236}">
                <a16:creationId xmlns:a16="http://schemas.microsoft.com/office/drawing/2014/main" id="{DFC431A8-454E-8F50-C25D-224F713846EA}"/>
              </a:ext>
            </a:extLst>
          </p:cNvPr>
          <p:cNvSpPr/>
          <p:nvPr/>
        </p:nvSpPr>
        <p:spPr>
          <a:xfrm>
            <a:off x="4999416" y="6169397"/>
            <a:ext cx="1445646" cy="461665"/>
          </a:xfrm>
          <a:prstGeom prst="wedgeRoundRectCallout">
            <a:avLst>
              <a:gd name="adj1" fmla="val -51794"/>
              <a:gd name="adj2" fmla="val -102697"/>
              <a:gd name="adj3" fmla="val 16667"/>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100" dirty="0"/>
              <a:t>특허권자의 </a:t>
            </a:r>
            <a:r>
              <a:rPr lang="ko-KR" altLang="en-US" sz="1100"/>
              <a:t>의견서</a:t>
            </a:r>
            <a:r>
              <a:rPr lang="en-US" altLang="ko-KR" sz="1100" dirty="0"/>
              <a:t>/</a:t>
            </a:r>
            <a:r>
              <a:rPr lang="ko-KR" altLang="en-US" sz="1100" dirty="0"/>
              <a:t>정정청구 제출 기회</a:t>
            </a:r>
          </a:p>
        </p:txBody>
      </p:sp>
      <p:sp>
        <p:nvSpPr>
          <p:cNvPr id="193" name="TextBox 192">
            <a:extLst>
              <a:ext uri="{FF2B5EF4-FFF2-40B4-BE49-F238E27FC236}">
                <a16:creationId xmlns:a16="http://schemas.microsoft.com/office/drawing/2014/main" id="{FE4292AD-3683-5A00-35FB-256CE3EF797D}"/>
              </a:ext>
            </a:extLst>
          </p:cNvPr>
          <p:cNvSpPr txBox="1"/>
          <p:nvPr/>
        </p:nvSpPr>
        <p:spPr>
          <a:xfrm>
            <a:off x="1246757" y="2949503"/>
            <a:ext cx="707245" cy="307777"/>
          </a:xfrm>
          <a:prstGeom prst="rect">
            <a:avLst/>
          </a:prstGeom>
          <a:noFill/>
        </p:spPr>
        <p:txBody>
          <a:bodyPr wrap="none" rtlCol="0">
            <a:spAutoFit/>
          </a:bodyPr>
          <a:lstStyle/>
          <a:p>
            <a:r>
              <a:rPr lang="ko-KR" altLang="en-US" sz="1400" dirty="0">
                <a:solidFill>
                  <a:srgbClr val="FF0000"/>
                </a:solidFill>
              </a:rPr>
              <a:t>제</a:t>
            </a:r>
            <a:r>
              <a:rPr lang="en-US" altLang="ko-KR" sz="1400" dirty="0">
                <a:solidFill>
                  <a:srgbClr val="FF0000"/>
                </a:solidFill>
              </a:rPr>
              <a:t>63</a:t>
            </a:r>
            <a:r>
              <a:rPr lang="ko-KR" altLang="en-US" sz="1400" dirty="0">
                <a:solidFill>
                  <a:srgbClr val="FF0000"/>
                </a:solidFill>
              </a:rPr>
              <a:t>조</a:t>
            </a:r>
          </a:p>
        </p:txBody>
      </p:sp>
      <p:sp>
        <p:nvSpPr>
          <p:cNvPr id="194" name="TextBox 193">
            <a:extLst>
              <a:ext uri="{FF2B5EF4-FFF2-40B4-BE49-F238E27FC236}">
                <a16:creationId xmlns:a16="http://schemas.microsoft.com/office/drawing/2014/main" id="{C6D3376C-3AB3-3419-6EC6-AA04869E05A3}"/>
              </a:ext>
            </a:extLst>
          </p:cNvPr>
          <p:cNvSpPr txBox="1"/>
          <p:nvPr/>
        </p:nvSpPr>
        <p:spPr>
          <a:xfrm>
            <a:off x="4831416" y="3011687"/>
            <a:ext cx="1752403" cy="307777"/>
          </a:xfrm>
          <a:prstGeom prst="rect">
            <a:avLst/>
          </a:prstGeom>
          <a:noFill/>
        </p:spPr>
        <p:txBody>
          <a:bodyPr wrap="none" rtlCol="0">
            <a:spAutoFit/>
          </a:bodyPr>
          <a:lstStyle/>
          <a:p>
            <a:r>
              <a:rPr lang="ko-KR" altLang="en-US" sz="1400" dirty="0">
                <a:solidFill>
                  <a:srgbClr val="FF0000"/>
                </a:solidFill>
              </a:rPr>
              <a:t>제</a:t>
            </a:r>
            <a:r>
              <a:rPr lang="en-US" altLang="ko-KR" sz="1400" dirty="0">
                <a:solidFill>
                  <a:srgbClr val="FF0000"/>
                </a:solidFill>
              </a:rPr>
              <a:t>170</a:t>
            </a:r>
            <a:r>
              <a:rPr lang="ko-KR" altLang="en-US" sz="1400" dirty="0">
                <a:solidFill>
                  <a:srgbClr val="FF0000"/>
                </a:solidFill>
              </a:rPr>
              <a:t>조 준용 제</a:t>
            </a:r>
            <a:r>
              <a:rPr lang="en-US" altLang="ko-KR" sz="1400" dirty="0">
                <a:solidFill>
                  <a:srgbClr val="FF0000"/>
                </a:solidFill>
              </a:rPr>
              <a:t>63</a:t>
            </a:r>
            <a:r>
              <a:rPr lang="ko-KR" altLang="en-US" sz="1400" dirty="0">
                <a:solidFill>
                  <a:srgbClr val="FF0000"/>
                </a:solidFill>
              </a:rPr>
              <a:t>조</a:t>
            </a:r>
          </a:p>
        </p:txBody>
      </p:sp>
      <p:sp>
        <p:nvSpPr>
          <p:cNvPr id="195" name="TextBox 194">
            <a:extLst>
              <a:ext uri="{FF2B5EF4-FFF2-40B4-BE49-F238E27FC236}">
                <a16:creationId xmlns:a16="http://schemas.microsoft.com/office/drawing/2014/main" id="{92BA783B-4275-911E-641F-F8EB2F12DE7E}"/>
              </a:ext>
            </a:extLst>
          </p:cNvPr>
          <p:cNvSpPr txBox="1"/>
          <p:nvPr/>
        </p:nvSpPr>
        <p:spPr>
          <a:xfrm>
            <a:off x="3882534" y="6046734"/>
            <a:ext cx="1167307" cy="523220"/>
          </a:xfrm>
          <a:prstGeom prst="rect">
            <a:avLst/>
          </a:prstGeom>
          <a:noFill/>
        </p:spPr>
        <p:txBody>
          <a:bodyPr wrap="none" rtlCol="0">
            <a:spAutoFit/>
          </a:bodyPr>
          <a:lstStyle/>
          <a:p>
            <a:pPr algn="ctr"/>
            <a:r>
              <a:rPr lang="ko-KR" altLang="en-US" sz="1400" dirty="0">
                <a:solidFill>
                  <a:srgbClr val="FF0000"/>
                </a:solidFill>
              </a:rPr>
              <a:t>제</a:t>
            </a:r>
            <a:r>
              <a:rPr lang="en-US" altLang="ko-KR" sz="1400" dirty="0">
                <a:solidFill>
                  <a:srgbClr val="FF0000"/>
                </a:solidFill>
              </a:rPr>
              <a:t>132</a:t>
            </a:r>
            <a:r>
              <a:rPr lang="ko-KR" altLang="en-US" sz="1400" dirty="0">
                <a:solidFill>
                  <a:srgbClr val="FF0000"/>
                </a:solidFill>
              </a:rPr>
              <a:t>조의</a:t>
            </a:r>
            <a:r>
              <a:rPr lang="en-US" altLang="ko-KR" sz="1400" dirty="0">
                <a:solidFill>
                  <a:srgbClr val="FF0000"/>
                </a:solidFill>
              </a:rPr>
              <a:t>13</a:t>
            </a:r>
          </a:p>
          <a:p>
            <a:pPr algn="ctr"/>
            <a:r>
              <a:rPr lang="ko-KR" altLang="en-US" sz="1400" dirty="0">
                <a:solidFill>
                  <a:srgbClr val="FF0000"/>
                </a:solidFill>
              </a:rPr>
              <a:t>제</a:t>
            </a:r>
            <a:r>
              <a:rPr lang="en-US" altLang="ko-KR" sz="1400" dirty="0">
                <a:solidFill>
                  <a:srgbClr val="FF0000"/>
                </a:solidFill>
              </a:rPr>
              <a:t>2</a:t>
            </a:r>
            <a:r>
              <a:rPr lang="ko-KR" altLang="en-US" sz="1400" dirty="0">
                <a:solidFill>
                  <a:srgbClr val="FF0000"/>
                </a:solidFill>
              </a:rPr>
              <a:t>항</a:t>
            </a:r>
          </a:p>
        </p:txBody>
      </p:sp>
      <p:sp>
        <p:nvSpPr>
          <p:cNvPr id="5" name="TextBox 4">
            <a:extLst>
              <a:ext uri="{FF2B5EF4-FFF2-40B4-BE49-F238E27FC236}">
                <a16:creationId xmlns:a16="http://schemas.microsoft.com/office/drawing/2014/main" id="{45D38941-ECC3-57C2-AF37-110CE1535D7A}"/>
              </a:ext>
            </a:extLst>
          </p:cNvPr>
          <p:cNvSpPr txBox="1"/>
          <p:nvPr/>
        </p:nvSpPr>
        <p:spPr>
          <a:xfrm>
            <a:off x="4999416" y="1813303"/>
            <a:ext cx="355810" cy="289321"/>
          </a:xfrm>
          <a:prstGeom prst="rect">
            <a:avLst/>
          </a:prstGeom>
          <a:solidFill>
            <a:schemeClr val="accent2">
              <a:lumMod val="20000"/>
              <a:lumOff val="80000"/>
            </a:schemeClr>
          </a:solidFill>
          <a:ln w="38100">
            <a:solidFill>
              <a:srgbClr val="FF0000"/>
            </a:solidFill>
          </a:ln>
        </p:spPr>
        <p:txBody>
          <a:bodyPr wrap="none" lIns="36000" tIns="0" rIns="36000" bIns="0" rtlCol="0" anchor="ctr">
            <a:noAutofit/>
          </a:bodyPr>
          <a:lstStyle/>
          <a:p>
            <a:pPr algn="ctr"/>
            <a:r>
              <a:rPr lang="en-US" altLang="ko-KR" dirty="0"/>
              <a:t>or</a:t>
            </a:r>
            <a:endParaRPr lang="ko-KR" altLang="en-US" dirty="0"/>
          </a:p>
        </p:txBody>
      </p:sp>
      <p:sp>
        <p:nvSpPr>
          <p:cNvPr id="6" name="TextBox 5">
            <a:extLst>
              <a:ext uri="{FF2B5EF4-FFF2-40B4-BE49-F238E27FC236}">
                <a16:creationId xmlns:a16="http://schemas.microsoft.com/office/drawing/2014/main" id="{CA544679-AECA-EB3C-C287-185469008347}"/>
              </a:ext>
            </a:extLst>
          </p:cNvPr>
          <p:cNvSpPr txBox="1"/>
          <p:nvPr/>
        </p:nvSpPr>
        <p:spPr>
          <a:xfrm>
            <a:off x="7029387" y="1413969"/>
            <a:ext cx="355810" cy="289321"/>
          </a:xfrm>
          <a:prstGeom prst="rect">
            <a:avLst/>
          </a:prstGeom>
          <a:solidFill>
            <a:schemeClr val="accent2">
              <a:lumMod val="20000"/>
              <a:lumOff val="80000"/>
            </a:schemeClr>
          </a:solidFill>
          <a:ln w="38100">
            <a:solidFill>
              <a:srgbClr val="FF0000"/>
            </a:solidFill>
          </a:ln>
        </p:spPr>
        <p:txBody>
          <a:bodyPr wrap="none" lIns="36000" tIns="0" rIns="36000" bIns="0" rtlCol="0" anchor="ctr">
            <a:noAutofit/>
          </a:bodyPr>
          <a:lstStyle/>
          <a:p>
            <a:pPr algn="ctr"/>
            <a:r>
              <a:rPr lang="en-US" altLang="ko-KR" dirty="0"/>
              <a:t>or</a:t>
            </a:r>
            <a:endParaRPr lang="ko-KR" altLang="en-US" dirty="0"/>
          </a:p>
        </p:txBody>
      </p:sp>
      <p:sp>
        <p:nvSpPr>
          <p:cNvPr id="7" name="TextBox 6">
            <a:extLst>
              <a:ext uri="{FF2B5EF4-FFF2-40B4-BE49-F238E27FC236}">
                <a16:creationId xmlns:a16="http://schemas.microsoft.com/office/drawing/2014/main" id="{68664634-E66D-9CFA-7990-7C5941F9551B}"/>
              </a:ext>
            </a:extLst>
          </p:cNvPr>
          <p:cNvSpPr txBox="1"/>
          <p:nvPr/>
        </p:nvSpPr>
        <p:spPr>
          <a:xfrm>
            <a:off x="3324331" y="3925658"/>
            <a:ext cx="8621434" cy="646331"/>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fontAlgn="base"/>
            <a:r>
              <a:rPr lang="ko-KR" altLang="en-US" sz="1200" dirty="0"/>
              <a:t>특허취소결정에 대한 취소소송에서도</a:t>
            </a:r>
            <a:r>
              <a:rPr lang="en-US" altLang="ko-KR" sz="1200" dirty="0"/>
              <a:t>, </a:t>
            </a:r>
            <a:r>
              <a:rPr lang="ko-KR" altLang="en-US" sz="1200" dirty="0"/>
              <a:t>피고인 지식재산처장이 특허취소결정 당시 취소신청이유로 삼지 아니한 새로운 사유를 주장할 수 있다면 특허권자는 새로운 취소신청이유에 대하여 의견서를 제출하거나 정정청구를 할 수 있는 기회를 박탈당하는 결과가 되므로</a:t>
            </a:r>
            <a:r>
              <a:rPr lang="en-US" altLang="ko-KR" sz="1200" dirty="0"/>
              <a:t>, </a:t>
            </a:r>
            <a:r>
              <a:rPr lang="ko-KR" altLang="en-US" sz="1200" dirty="0"/>
              <a:t>이를 제한함이 바람직할 것이다</a:t>
            </a:r>
            <a:r>
              <a:rPr lang="en-US" altLang="ko-KR" sz="1200" dirty="0"/>
              <a:t>.</a:t>
            </a:r>
            <a:endParaRPr lang="ko-KR" altLang="en-US" sz="1200" dirty="0"/>
          </a:p>
        </p:txBody>
      </p:sp>
    </p:spTree>
    <p:extLst>
      <p:ext uri="{BB962C8B-B14F-4D97-AF65-F5344CB8AC3E}">
        <p14:creationId xmlns:p14="http://schemas.microsoft.com/office/powerpoint/2010/main" val="1152914502"/>
      </p:ext>
    </p:extLst>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186</a:t>
            </a:r>
            <a:r>
              <a:rPr lang="ko-KR" altLang="en-US" dirty="0"/>
              <a:t>조</a:t>
            </a:r>
          </a:p>
        </p:txBody>
      </p:sp>
      <p:sp>
        <p:nvSpPr>
          <p:cNvPr id="4" name="텍스트 개체 틀 3"/>
          <p:cNvSpPr>
            <a:spLocks noGrp="1"/>
          </p:cNvSpPr>
          <p:nvPr>
            <p:ph type="body" sz="quarter" idx="13"/>
          </p:nvPr>
        </p:nvSpPr>
        <p:spPr/>
        <p:txBody>
          <a:bodyPr/>
          <a:lstStyle/>
          <a:p>
            <a:r>
              <a:rPr lang="ko-KR" altLang="en-US" dirty="0" err="1"/>
              <a:t>주지관용기술과</a:t>
            </a:r>
            <a:r>
              <a:rPr lang="ko-KR" altLang="en-US" dirty="0"/>
              <a:t> </a:t>
            </a:r>
            <a:r>
              <a:rPr lang="ko-KR" altLang="en-US" dirty="0" err="1"/>
              <a:t>불요증사실</a:t>
            </a:r>
            <a:endParaRPr lang="ko-KR" altLang="en-US" dirty="0"/>
          </a:p>
        </p:txBody>
      </p:sp>
      <p:cxnSp>
        <p:nvCxnSpPr>
          <p:cNvPr id="30" name="직선 연결선 29">
            <a:extLst>
              <a:ext uri="{FF2B5EF4-FFF2-40B4-BE49-F238E27FC236}">
                <a16:creationId xmlns:a16="http://schemas.microsoft.com/office/drawing/2014/main" id="{5EB7B38F-3E35-4B4C-A188-B7F37445C734}"/>
              </a:ext>
            </a:extLst>
          </p:cNvPr>
          <p:cNvCxnSpPr/>
          <p:nvPr/>
        </p:nvCxnSpPr>
        <p:spPr>
          <a:xfrm>
            <a:off x="77875" y="367075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22730C24-90B4-4700-B6CB-DB769C067B3B}"/>
              </a:ext>
            </a:extLst>
          </p:cNvPr>
          <p:cNvSpPr txBox="1"/>
          <p:nvPr/>
        </p:nvSpPr>
        <p:spPr>
          <a:xfrm>
            <a:off x="77875" y="976902"/>
            <a:ext cx="11936323" cy="2677656"/>
          </a:xfrm>
          <a:prstGeom prst="rect">
            <a:avLst/>
          </a:prstGeom>
          <a:noFill/>
        </p:spPr>
        <p:txBody>
          <a:bodyPr wrap="square" rtlCol="0">
            <a:spAutoFit/>
          </a:bodyPr>
          <a:lstStyle/>
          <a:p>
            <a:pPr fontAlgn="base"/>
            <a:r>
              <a:rPr lang="ko-KR" altLang="en-US" sz="1400" dirty="0">
                <a:solidFill>
                  <a:schemeClr val="tx2"/>
                </a:solidFill>
              </a:rPr>
              <a:t> 지식재산처의 심사 및 특허심판원의 심판절차에서는</a:t>
            </a:r>
            <a:r>
              <a:rPr lang="en-US" altLang="ko-KR" sz="1400" dirty="0">
                <a:solidFill>
                  <a:schemeClr val="tx2"/>
                </a:solidFill>
              </a:rPr>
              <a:t>, </a:t>
            </a:r>
            <a:r>
              <a:rPr lang="ko-KR" altLang="en-US" sz="1400" dirty="0" err="1">
                <a:solidFill>
                  <a:schemeClr val="tx2"/>
                </a:solidFill>
              </a:rPr>
              <a:t>주지관용기술이</a:t>
            </a:r>
            <a:r>
              <a:rPr lang="ko-KR" altLang="en-US" sz="1400" dirty="0">
                <a:solidFill>
                  <a:schemeClr val="tx2"/>
                </a:solidFill>
              </a:rPr>
              <a:t> 심사관</a:t>
            </a:r>
            <a:r>
              <a:rPr lang="en-US" altLang="ko-KR" sz="1400" dirty="0">
                <a:solidFill>
                  <a:schemeClr val="tx2"/>
                </a:solidFill>
              </a:rPr>
              <a:t>, </a:t>
            </a:r>
            <a:r>
              <a:rPr lang="ko-KR" altLang="en-US" sz="1400" dirty="0">
                <a:solidFill>
                  <a:schemeClr val="tx2"/>
                </a:solidFill>
              </a:rPr>
              <a:t>심판관 사이에 현저한 사실이므로 별도의 증거없이 이를 인정할 수 있다</a:t>
            </a:r>
            <a:r>
              <a:rPr lang="en-US" altLang="ko-KR" sz="1400" dirty="0">
                <a:solidFill>
                  <a:schemeClr val="tx2"/>
                </a:solidFill>
              </a:rPr>
              <a:t>. </a:t>
            </a:r>
            <a:r>
              <a:rPr lang="ko-KR" altLang="en-US" sz="1400" dirty="0">
                <a:solidFill>
                  <a:schemeClr val="tx2"/>
                </a:solidFill>
              </a:rPr>
              <a:t>구체적으로 심사관</a:t>
            </a:r>
            <a:r>
              <a:rPr lang="en-US" altLang="ko-KR" sz="1400" dirty="0">
                <a:solidFill>
                  <a:schemeClr val="tx2"/>
                </a:solidFill>
              </a:rPr>
              <a:t>, </a:t>
            </a:r>
            <a:r>
              <a:rPr lang="ko-KR" altLang="en-US" sz="1400" dirty="0">
                <a:solidFill>
                  <a:schemeClr val="tx2"/>
                </a:solidFill>
              </a:rPr>
              <a:t>심판관은 </a:t>
            </a:r>
            <a:r>
              <a:rPr lang="ko-KR" altLang="en-US" sz="1400" dirty="0" err="1">
                <a:solidFill>
                  <a:schemeClr val="tx2"/>
                </a:solidFill>
              </a:rPr>
              <a:t>주지관용기술에</a:t>
            </a:r>
            <a:r>
              <a:rPr lang="ko-KR" altLang="en-US" sz="1400" dirty="0">
                <a:solidFill>
                  <a:schemeClr val="tx2"/>
                </a:solidFill>
              </a:rPr>
              <a:t> 해당된다고 인정되는 경우 증거자료를 첨부하지 않고 거절이유를 통지할 수 있으나</a:t>
            </a:r>
            <a:r>
              <a:rPr lang="en-US" altLang="ko-KR" sz="1400" dirty="0">
                <a:solidFill>
                  <a:schemeClr val="tx2"/>
                </a:solidFill>
              </a:rPr>
              <a:t>, </a:t>
            </a:r>
            <a:r>
              <a:rPr lang="ko-KR" altLang="en-US" sz="1400" dirty="0">
                <a:solidFill>
                  <a:schemeClr val="tx2"/>
                </a:solidFill>
              </a:rPr>
              <a:t>출원인이 </a:t>
            </a:r>
            <a:r>
              <a:rPr lang="ko-KR" altLang="en-US" sz="1400" dirty="0" err="1">
                <a:solidFill>
                  <a:schemeClr val="tx2"/>
                </a:solidFill>
              </a:rPr>
              <a:t>주지관용기술이</a:t>
            </a:r>
            <a:r>
              <a:rPr lang="ko-KR" altLang="en-US" sz="1400" dirty="0">
                <a:solidFill>
                  <a:schemeClr val="tx2"/>
                </a:solidFill>
              </a:rPr>
              <a:t> 아니라고 주장하는 경우 심사관</a:t>
            </a:r>
            <a:r>
              <a:rPr lang="en-US" altLang="ko-KR" sz="1400" dirty="0">
                <a:solidFill>
                  <a:schemeClr val="tx2"/>
                </a:solidFill>
              </a:rPr>
              <a:t>, </a:t>
            </a:r>
            <a:r>
              <a:rPr lang="ko-KR" altLang="en-US" sz="1400" dirty="0">
                <a:solidFill>
                  <a:schemeClr val="tx2"/>
                </a:solidFill>
              </a:rPr>
              <a:t>심판관은 원칙적으로 그 거절이유에 대한 증거자료를 제시하여야 한다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문헌 등에 의한 증거자료의 제시가 곤란한 경우라면 심사관은 </a:t>
            </a:r>
            <a:r>
              <a:rPr lang="ko-KR" altLang="en-US" sz="1400" dirty="0" err="1">
                <a:solidFill>
                  <a:schemeClr val="tx2"/>
                </a:solidFill>
              </a:rPr>
              <a:t>주지관용기술이라는</a:t>
            </a:r>
            <a:r>
              <a:rPr lang="ko-KR" altLang="en-US" sz="1400" dirty="0">
                <a:solidFill>
                  <a:schemeClr val="tx2"/>
                </a:solidFill>
              </a:rPr>
              <a:t> 점에 관하여 충분히 설명하거나 </a:t>
            </a:r>
            <a:r>
              <a:rPr lang="ko-KR" altLang="en-US" sz="1400" dirty="0" err="1">
                <a:solidFill>
                  <a:schemeClr val="tx2"/>
                </a:solidFill>
              </a:rPr>
              <a:t>주지관용기술이</a:t>
            </a:r>
            <a:r>
              <a:rPr lang="ko-KR" altLang="en-US" sz="1400" dirty="0">
                <a:solidFill>
                  <a:schemeClr val="tx2"/>
                </a:solidFill>
              </a:rPr>
              <a:t> 아니라는 출원인의 주장이 적절하지 아니한 이유를 지적하여 거절할 수 있다</a:t>
            </a:r>
            <a:r>
              <a:rPr lang="en-US" altLang="ko-KR" sz="1400" dirty="0">
                <a:solidFill>
                  <a:schemeClr val="tx2"/>
                </a:solidFill>
              </a:rPr>
              <a:t>. </a:t>
            </a:r>
            <a:r>
              <a:rPr lang="ko-KR" altLang="en-US" sz="1400" dirty="0" err="1">
                <a:solidFill>
                  <a:schemeClr val="tx2"/>
                </a:solidFill>
              </a:rPr>
              <a:t>주지관용기술임을</a:t>
            </a:r>
            <a:r>
              <a:rPr lang="ko-KR" altLang="en-US" sz="1400" dirty="0">
                <a:solidFill>
                  <a:schemeClr val="tx2"/>
                </a:solidFill>
              </a:rPr>
              <a:t> 나타내는 증거자료로는 교과서</a:t>
            </a:r>
            <a:r>
              <a:rPr lang="en-US" altLang="ko-KR" sz="1400" dirty="0">
                <a:solidFill>
                  <a:schemeClr val="tx2"/>
                </a:solidFill>
              </a:rPr>
              <a:t>, </a:t>
            </a:r>
            <a:r>
              <a:rPr lang="ko-KR" altLang="en-US" sz="1400" dirty="0">
                <a:solidFill>
                  <a:schemeClr val="tx2"/>
                </a:solidFill>
              </a:rPr>
              <a:t>초학자를 대상으로 하는 서적</a:t>
            </a:r>
            <a:r>
              <a:rPr lang="en-US" altLang="ko-KR" sz="1400" dirty="0">
                <a:solidFill>
                  <a:schemeClr val="tx2"/>
                </a:solidFill>
              </a:rPr>
              <a:t>, </a:t>
            </a:r>
            <a:r>
              <a:rPr lang="ko-KR" altLang="en-US" sz="1400" dirty="0">
                <a:solidFill>
                  <a:schemeClr val="tx2"/>
                </a:solidFill>
              </a:rPr>
              <a:t>기술 표준 사전</a:t>
            </a:r>
            <a:r>
              <a:rPr lang="en-US" altLang="ko-KR" sz="1400" dirty="0">
                <a:solidFill>
                  <a:schemeClr val="tx2"/>
                </a:solidFill>
              </a:rPr>
              <a:t>, </a:t>
            </a:r>
            <a:r>
              <a:rPr lang="ko-KR" altLang="en-US" sz="1400" dirty="0">
                <a:solidFill>
                  <a:schemeClr val="tx2"/>
                </a:solidFill>
              </a:rPr>
              <a:t>해당 기술분야의 국가표준</a:t>
            </a:r>
            <a:r>
              <a:rPr lang="en-US" altLang="ko-KR" sz="1400" dirty="0">
                <a:solidFill>
                  <a:schemeClr val="tx2"/>
                </a:solidFill>
              </a:rPr>
              <a:t>(KS) </a:t>
            </a:r>
            <a:r>
              <a:rPr lang="ko-KR" altLang="en-US" sz="1400" dirty="0">
                <a:solidFill>
                  <a:schemeClr val="tx2"/>
                </a:solidFill>
              </a:rPr>
              <a:t>규격 등이 있다</a:t>
            </a:r>
            <a:r>
              <a:rPr lang="en-US" altLang="ko-KR" sz="1400" dirty="0">
                <a:solidFill>
                  <a:schemeClr val="tx2"/>
                </a:solidFill>
              </a:rPr>
              <a:t>. </a:t>
            </a:r>
          </a:p>
          <a:p>
            <a:pPr fontAlgn="base"/>
            <a:r>
              <a:rPr lang="ko-KR" altLang="en-US" sz="1400" dirty="0">
                <a:highlight>
                  <a:srgbClr val="FFFF00"/>
                </a:highlight>
              </a:rPr>
              <a:t>그러나 </a:t>
            </a:r>
            <a:r>
              <a:rPr lang="ko-KR" altLang="en-US" sz="1400" dirty="0" err="1">
                <a:highlight>
                  <a:srgbClr val="FFFF00"/>
                </a:highlight>
              </a:rPr>
              <a:t>심결취소소송절차에서는</a:t>
            </a:r>
            <a:r>
              <a:rPr lang="ko-KR" altLang="en-US" sz="1400" dirty="0">
                <a:highlight>
                  <a:srgbClr val="FFFF00"/>
                </a:highlight>
              </a:rPr>
              <a:t> </a:t>
            </a:r>
            <a:r>
              <a:rPr lang="ko-KR" altLang="en-US" sz="1400" dirty="0" err="1">
                <a:highlight>
                  <a:srgbClr val="FFFF00"/>
                </a:highlight>
              </a:rPr>
              <a:t>주지관용기술이</a:t>
            </a:r>
            <a:r>
              <a:rPr lang="ko-KR" altLang="en-US" sz="1400" dirty="0">
                <a:highlight>
                  <a:srgbClr val="FFFF00"/>
                </a:highlight>
              </a:rPr>
              <a:t> 소송상 공지 또는 현저한 사실이라고 볼 수 있을 만큼 일반적으로 알려져 있지 아니한 경우에 증명을 필요로 한다</a:t>
            </a:r>
            <a:r>
              <a:rPr lang="en-US" altLang="ko-KR" sz="1400" dirty="0">
                <a:highlight>
                  <a:srgbClr val="FFFF00"/>
                </a:highlight>
              </a:rPr>
              <a:t>(</a:t>
            </a:r>
            <a:r>
              <a:rPr lang="ko-KR" altLang="en-US" sz="1400" dirty="0">
                <a:highlight>
                  <a:srgbClr val="FFFF00"/>
                </a:highlight>
              </a:rPr>
              <a:t>변론주의 원칙</a:t>
            </a:r>
            <a:r>
              <a:rPr lang="en-US" altLang="ko-KR" sz="1400" dirty="0">
                <a:highlight>
                  <a:srgbClr val="FFFF00"/>
                </a:highlight>
              </a:rPr>
              <a:t>). </a:t>
            </a:r>
            <a:r>
              <a:rPr lang="ko-KR" altLang="en-US" sz="1400" dirty="0">
                <a:highlight>
                  <a:srgbClr val="FFFF00"/>
                </a:highlight>
              </a:rPr>
              <a:t>다만</a:t>
            </a:r>
            <a:r>
              <a:rPr lang="en-US" altLang="ko-KR" sz="1400" dirty="0">
                <a:highlight>
                  <a:srgbClr val="FFFF00"/>
                </a:highlight>
              </a:rPr>
              <a:t>, </a:t>
            </a:r>
            <a:r>
              <a:rPr lang="ko-KR" altLang="en-US" sz="1400" dirty="0">
                <a:highlight>
                  <a:srgbClr val="FFFF00"/>
                </a:highlight>
              </a:rPr>
              <a:t>법원은 자유로운 심증에 의하여 증거 등 기록에 나타난 자료를 통하여 주지관용의 기술을 인정할 수 있으나</a:t>
            </a:r>
            <a:r>
              <a:rPr lang="en-US" altLang="ko-KR" sz="1400" dirty="0">
                <a:highlight>
                  <a:srgbClr val="FFFF00"/>
                </a:highlight>
              </a:rPr>
              <a:t>(</a:t>
            </a:r>
            <a:r>
              <a:rPr lang="ko-KR" altLang="en-US" sz="1400" dirty="0">
                <a:highlight>
                  <a:srgbClr val="FFFF00"/>
                </a:highlight>
              </a:rPr>
              <a:t>직권주의 가미</a:t>
            </a:r>
            <a:r>
              <a:rPr lang="en-US" altLang="ko-KR" sz="1400" dirty="0">
                <a:highlight>
                  <a:srgbClr val="FFFF00"/>
                </a:highlight>
              </a:rPr>
              <a:t>), </a:t>
            </a:r>
            <a:r>
              <a:rPr lang="ko-KR" altLang="en-US" sz="1400" dirty="0">
                <a:highlight>
                  <a:srgbClr val="FFFF00"/>
                </a:highlight>
              </a:rPr>
              <a:t>변론종결 후 제출된 참고자료까지 여기의 증거 등 기록에 나타난 자료에 포함된다고 볼 수는 없다</a:t>
            </a:r>
            <a:r>
              <a:rPr lang="en-US" altLang="ko-KR" sz="1400" dirty="0">
                <a:solidFill>
                  <a:schemeClr val="tx2"/>
                </a:solidFill>
              </a:rPr>
              <a:t>(</a:t>
            </a:r>
            <a:r>
              <a:rPr lang="ko-KR" altLang="en-US" sz="1400" dirty="0">
                <a:solidFill>
                  <a:schemeClr val="tx2"/>
                </a:solidFill>
              </a:rPr>
              <a:t>대법원 </a:t>
            </a:r>
            <a:r>
              <a:rPr lang="en-US" altLang="ko-KR" sz="1400" dirty="0">
                <a:solidFill>
                  <a:schemeClr val="tx2"/>
                </a:solidFill>
              </a:rPr>
              <a:t>2013. 4. 11. </a:t>
            </a:r>
            <a:r>
              <a:rPr lang="ko-KR" altLang="en-US" sz="1400" dirty="0">
                <a:solidFill>
                  <a:schemeClr val="tx2"/>
                </a:solidFill>
              </a:rPr>
              <a:t>선고 </a:t>
            </a:r>
            <a:r>
              <a:rPr lang="en-US" altLang="ko-KR" sz="1400" dirty="0">
                <a:solidFill>
                  <a:schemeClr val="tx2"/>
                </a:solidFill>
              </a:rPr>
              <a:t>2012</a:t>
            </a:r>
            <a:r>
              <a:rPr lang="ko-KR" altLang="en-US" sz="1400" dirty="0">
                <a:solidFill>
                  <a:schemeClr val="tx2"/>
                </a:solidFill>
              </a:rPr>
              <a:t>후</a:t>
            </a:r>
            <a:r>
              <a:rPr lang="en-US" altLang="ko-KR" sz="1400" dirty="0">
                <a:solidFill>
                  <a:schemeClr val="tx2"/>
                </a:solidFill>
              </a:rPr>
              <a:t>436). </a:t>
            </a:r>
            <a:r>
              <a:rPr lang="ko-KR" altLang="en-US" sz="1400" dirty="0">
                <a:solidFill>
                  <a:schemeClr val="tx2"/>
                </a:solidFill>
              </a:rPr>
              <a:t>변론종결 후 제출된 참고자료까지 근거로 삼아 </a:t>
            </a:r>
            <a:r>
              <a:rPr lang="ko-KR" altLang="en-US" sz="1400" dirty="0" err="1">
                <a:solidFill>
                  <a:schemeClr val="tx2"/>
                </a:solidFill>
              </a:rPr>
              <a:t>주지관용기술을</a:t>
            </a:r>
            <a:r>
              <a:rPr lang="ko-KR" altLang="en-US" sz="1400" dirty="0">
                <a:solidFill>
                  <a:schemeClr val="tx2"/>
                </a:solidFill>
              </a:rPr>
              <a:t> 인정한다면 이는 서면심리에 의하여 판단하는 특허심판원 절차와 별반 다를 것이 없어지고</a:t>
            </a:r>
            <a:r>
              <a:rPr lang="en-US" altLang="ko-KR" sz="1400" dirty="0">
                <a:solidFill>
                  <a:schemeClr val="tx2"/>
                </a:solidFill>
              </a:rPr>
              <a:t>, </a:t>
            </a:r>
            <a:r>
              <a:rPr lang="ko-KR" altLang="en-US" sz="1400" dirty="0" err="1">
                <a:solidFill>
                  <a:schemeClr val="tx2"/>
                </a:solidFill>
              </a:rPr>
              <a:t>소송절차로서의</a:t>
            </a:r>
            <a:r>
              <a:rPr lang="ko-KR" altLang="en-US" sz="1400" dirty="0">
                <a:solidFill>
                  <a:schemeClr val="tx2"/>
                </a:solidFill>
              </a:rPr>
              <a:t> 본질에 반한다는 문제가 있다</a:t>
            </a:r>
            <a:r>
              <a:rPr lang="en-US" altLang="ko-KR" sz="1400" dirty="0">
                <a:solidFill>
                  <a:schemeClr val="tx2"/>
                </a:solidFill>
              </a:rPr>
              <a:t>. </a:t>
            </a:r>
            <a:r>
              <a:rPr lang="ko-KR" altLang="en-US" sz="1400" dirty="0" err="1">
                <a:solidFill>
                  <a:schemeClr val="tx2"/>
                </a:solidFill>
              </a:rPr>
              <a:t>심결취소소송은</a:t>
            </a:r>
            <a:r>
              <a:rPr lang="ko-KR" altLang="en-US" sz="1400" dirty="0">
                <a:solidFill>
                  <a:schemeClr val="tx2"/>
                </a:solidFill>
              </a:rPr>
              <a:t> 원칙적으로 민사소송절차에 따라 구술변론과 증거조사를 통해 </a:t>
            </a:r>
            <a:r>
              <a:rPr lang="ko-KR" altLang="en-US" sz="1400" dirty="0" err="1">
                <a:solidFill>
                  <a:schemeClr val="tx2"/>
                </a:solidFill>
              </a:rPr>
              <a:t>심결의</a:t>
            </a:r>
            <a:r>
              <a:rPr lang="ko-KR" altLang="en-US" sz="1400" dirty="0">
                <a:solidFill>
                  <a:schemeClr val="tx2"/>
                </a:solidFill>
              </a:rPr>
              <a:t> 위법 여부를 심리</a:t>
            </a:r>
            <a:r>
              <a:rPr lang="en-US" altLang="ko-KR" sz="1400" dirty="0">
                <a:solidFill>
                  <a:schemeClr val="tx2"/>
                </a:solidFill>
              </a:rPr>
              <a:t>, </a:t>
            </a:r>
            <a:r>
              <a:rPr lang="ko-KR" altLang="en-US" sz="1400" dirty="0">
                <a:solidFill>
                  <a:schemeClr val="tx2"/>
                </a:solidFill>
              </a:rPr>
              <a:t>판단하는 절차이지</a:t>
            </a:r>
            <a:r>
              <a:rPr lang="en-US" altLang="ko-KR" sz="1400" dirty="0">
                <a:solidFill>
                  <a:schemeClr val="tx2"/>
                </a:solidFill>
              </a:rPr>
              <a:t>, </a:t>
            </a:r>
            <a:r>
              <a:rPr lang="ko-KR" altLang="en-US" sz="1400" dirty="0">
                <a:solidFill>
                  <a:schemeClr val="tx2"/>
                </a:solidFill>
              </a:rPr>
              <a:t>서면심리에 의하여 판단하는 절차가 아니다</a:t>
            </a:r>
            <a:r>
              <a:rPr lang="en-US" altLang="ko-KR" sz="1400" dirty="0">
                <a:solidFill>
                  <a:schemeClr val="tx2"/>
                </a:solidFill>
              </a:rPr>
              <a:t>. </a:t>
            </a:r>
            <a:r>
              <a:rPr lang="ko-KR" altLang="en-US" sz="1400" dirty="0">
                <a:solidFill>
                  <a:schemeClr val="tx2"/>
                </a:solidFill>
              </a:rPr>
              <a:t>또한 아무리 정식으로 </a:t>
            </a:r>
            <a:r>
              <a:rPr lang="ko-KR" altLang="en-US" sz="1400" dirty="0" err="1">
                <a:solidFill>
                  <a:schemeClr val="tx2"/>
                </a:solidFill>
              </a:rPr>
              <a:t>증거조사된</a:t>
            </a:r>
            <a:r>
              <a:rPr lang="ko-KR" altLang="en-US" sz="1400" dirty="0">
                <a:solidFill>
                  <a:schemeClr val="tx2"/>
                </a:solidFill>
              </a:rPr>
              <a:t> 것 이외의 자료를 판단의 근거로 삼는다고 하더라도 이는 어디까지나 상대방에게 송달 등의 방법으로 </a:t>
            </a:r>
            <a:r>
              <a:rPr lang="ko-KR" altLang="en-US" sz="1400" dirty="0" err="1">
                <a:solidFill>
                  <a:schemeClr val="tx2"/>
                </a:solidFill>
              </a:rPr>
              <a:t>현출되어</a:t>
            </a:r>
            <a:r>
              <a:rPr lang="ko-KR" altLang="en-US" sz="1400" dirty="0">
                <a:solidFill>
                  <a:schemeClr val="tx2"/>
                </a:solidFill>
              </a:rPr>
              <a:t> 다툴 수 있는 기회가 부여됨을 전제로 하는 것이지</a:t>
            </a:r>
            <a:r>
              <a:rPr lang="en-US" altLang="ko-KR" sz="1400" dirty="0">
                <a:solidFill>
                  <a:schemeClr val="tx2"/>
                </a:solidFill>
              </a:rPr>
              <a:t>, </a:t>
            </a:r>
            <a:r>
              <a:rPr lang="ko-KR" altLang="en-US" sz="1400" dirty="0">
                <a:solidFill>
                  <a:schemeClr val="tx2"/>
                </a:solidFill>
              </a:rPr>
              <a:t>이러한 기회 부여도 없이 함부로 </a:t>
            </a:r>
            <a:r>
              <a:rPr lang="ko-KR" altLang="en-US" sz="1400" dirty="0" err="1">
                <a:solidFill>
                  <a:schemeClr val="tx2"/>
                </a:solidFill>
              </a:rPr>
              <a:t>주지관용기술</a:t>
            </a:r>
            <a:r>
              <a:rPr lang="ko-KR" altLang="en-US" sz="1400" dirty="0">
                <a:solidFill>
                  <a:schemeClr val="tx2"/>
                </a:solidFill>
              </a:rPr>
              <a:t> 판단의 근거로 삼을 수는 없다고 할 것이다</a:t>
            </a:r>
            <a:r>
              <a:rPr lang="en-US" altLang="ko-KR" sz="1400" dirty="0">
                <a:solidFill>
                  <a:schemeClr val="tx2"/>
                </a:solidFill>
              </a:rPr>
              <a:t>. </a:t>
            </a:r>
            <a:endParaRPr lang="ko-KR" altLang="en-US" sz="1400" dirty="0">
              <a:solidFill>
                <a:schemeClr val="tx2"/>
              </a:solidFill>
            </a:endParaRPr>
          </a:p>
        </p:txBody>
      </p:sp>
      <p:sp>
        <p:nvSpPr>
          <p:cNvPr id="11" name="TextBox 10">
            <a:extLst>
              <a:ext uri="{FF2B5EF4-FFF2-40B4-BE49-F238E27FC236}">
                <a16:creationId xmlns:a16="http://schemas.microsoft.com/office/drawing/2014/main" id="{C7DA5772-2D2D-4969-89C0-43EFFD6D2C2A}"/>
              </a:ext>
            </a:extLst>
          </p:cNvPr>
          <p:cNvSpPr txBox="1"/>
          <p:nvPr/>
        </p:nvSpPr>
        <p:spPr>
          <a:xfrm>
            <a:off x="195319" y="5686559"/>
            <a:ext cx="11936323" cy="646331"/>
          </a:xfrm>
          <a:prstGeom prst="rect">
            <a:avLst/>
          </a:prstGeom>
          <a:noFill/>
        </p:spPr>
        <p:txBody>
          <a:bodyPr wrap="square" rtlCol="0">
            <a:spAutoFit/>
          </a:bodyPr>
          <a:lstStyle/>
          <a:p>
            <a:r>
              <a:rPr lang="en-US" altLang="ko-KR" sz="1200" dirty="0"/>
              <a:t>  * </a:t>
            </a:r>
            <a:r>
              <a:rPr lang="ko-KR" altLang="en-US" sz="1200" dirty="0"/>
              <a:t>민사소송법 제</a:t>
            </a:r>
            <a:r>
              <a:rPr lang="en-US" altLang="ko-KR" sz="1200" dirty="0"/>
              <a:t>288</a:t>
            </a:r>
            <a:r>
              <a:rPr lang="ko-KR" altLang="en-US" sz="1200" dirty="0"/>
              <a:t>조</a:t>
            </a:r>
            <a:r>
              <a:rPr lang="en-US" altLang="ko-KR" sz="1200" dirty="0"/>
              <a:t>(</a:t>
            </a:r>
            <a:r>
              <a:rPr lang="ko-KR" altLang="en-US" sz="1200" dirty="0" err="1"/>
              <a:t>불요증사실</a:t>
            </a:r>
            <a:r>
              <a:rPr lang="en-US" altLang="ko-KR" sz="1200" dirty="0"/>
              <a:t>) </a:t>
            </a:r>
          </a:p>
          <a:p>
            <a:r>
              <a:rPr lang="en-US" altLang="ko-KR" sz="1200" dirty="0"/>
              <a:t>  </a:t>
            </a:r>
            <a:r>
              <a:rPr lang="ko-KR" altLang="en-US" sz="1200" dirty="0"/>
              <a:t>법원에서 당사자가 자백한 사실과 현저한 사실은 증명을 필요로 하지 아니한다</a:t>
            </a:r>
            <a:r>
              <a:rPr lang="en-US" altLang="ko-KR" sz="1200" dirty="0"/>
              <a:t>. </a:t>
            </a:r>
            <a:r>
              <a:rPr lang="ko-KR" altLang="en-US" sz="1200" dirty="0"/>
              <a:t>다만</a:t>
            </a:r>
            <a:r>
              <a:rPr lang="en-US" altLang="ko-KR" sz="1200" dirty="0"/>
              <a:t>,  </a:t>
            </a:r>
            <a:r>
              <a:rPr lang="ko-KR" altLang="en-US" sz="1200" dirty="0"/>
              <a:t>진실에 어긋나는 자백은 그것이 착오로 말미암은 것임을 증명한 때에는 취소할 수 있다</a:t>
            </a:r>
            <a:r>
              <a:rPr lang="en-US" altLang="ko-KR" sz="1200" dirty="0"/>
              <a:t>. </a:t>
            </a:r>
          </a:p>
          <a:p>
            <a:endParaRPr lang="ko-KR" altLang="en-US" sz="1200" dirty="0"/>
          </a:p>
        </p:txBody>
      </p:sp>
      <p:sp>
        <p:nvSpPr>
          <p:cNvPr id="41" name="TextBox 40">
            <a:extLst>
              <a:ext uri="{FF2B5EF4-FFF2-40B4-BE49-F238E27FC236}">
                <a16:creationId xmlns:a16="http://schemas.microsoft.com/office/drawing/2014/main" id="{E8538357-4E92-4413-9E16-8FC8BD7C8EDD}"/>
              </a:ext>
            </a:extLst>
          </p:cNvPr>
          <p:cNvSpPr txBox="1"/>
          <p:nvPr/>
        </p:nvSpPr>
        <p:spPr>
          <a:xfrm>
            <a:off x="268446" y="3939812"/>
            <a:ext cx="3895618" cy="307777"/>
          </a:xfrm>
          <a:prstGeom prst="rect">
            <a:avLst/>
          </a:prstGeom>
          <a:noFill/>
          <a:ln>
            <a:solidFill>
              <a:schemeClr val="bg1">
                <a:lumMod val="65000"/>
              </a:schemeClr>
            </a:solidFill>
          </a:ln>
        </p:spPr>
        <p:txBody>
          <a:bodyPr wrap="none" rtlCol="0">
            <a:spAutoFit/>
          </a:bodyPr>
          <a:lstStyle/>
          <a:p>
            <a:r>
              <a:rPr lang="ko-KR" altLang="en-US" sz="1400" dirty="0"/>
              <a:t>거절결정불복심판에 대한 </a:t>
            </a:r>
            <a:r>
              <a:rPr lang="ko-KR" altLang="en-US" sz="1400" dirty="0" err="1"/>
              <a:t>심결취소소송의</a:t>
            </a:r>
            <a:r>
              <a:rPr lang="ko-KR" altLang="en-US" sz="1400" dirty="0"/>
              <a:t> 심리범위</a:t>
            </a:r>
          </a:p>
        </p:txBody>
      </p:sp>
      <p:sp>
        <p:nvSpPr>
          <p:cNvPr id="43" name="TextBox 42">
            <a:extLst>
              <a:ext uri="{FF2B5EF4-FFF2-40B4-BE49-F238E27FC236}">
                <a16:creationId xmlns:a16="http://schemas.microsoft.com/office/drawing/2014/main" id="{8BECBB32-2292-4FB3-87E6-73C3E45DDC27}"/>
              </a:ext>
            </a:extLst>
          </p:cNvPr>
          <p:cNvSpPr txBox="1"/>
          <p:nvPr/>
        </p:nvSpPr>
        <p:spPr>
          <a:xfrm>
            <a:off x="766031" y="4358406"/>
            <a:ext cx="4256293" cy="523220"/>
          </a:xfrm>
          <a:prstGeom prst="rect">
            <a:avLst/>
          </a:prstGeom>
          <a:noFill/>
          <a:ln>
            <a:solidFill>
              <a:schemeClr val="bg1">
                <a:lumMod val="50000"/>
              </a:schemeClr>
            </a:solidFill>
          </a:ln>
        </p:spPr>
        <p:txBody>
          <a:bodyPr wrap="none" rtlCol="0">
            <a:spAutoFit/>
          </a:bodyPr>
          <a:lstStyle/>
          <a:p>
            <a:r>
              <a:rPr lang="ko-KR" altLang="en-US" sz="1400" dirty="0"/>
              <a:t>출원인의 대응기회 확보 위해 새로운 거절이유 심리 불가</a:t>
            </a:r>
            <a:endParaRPr lang="en-US" altLang="ko-KR" sz="1400" dirty="0"/>
          </a:p>
          <a:p>
            <a:r>
              <a:rPr lang="ko-KR" altLang="en-US" sz="1400" dirty="0"/>
              <a:t>다만</a:t>
            </a:r>
            <a:r>
              <a:rPr lang="en-US" altLang="ko-KR" sz="1400" dirty="0"/>
              <a:t>, </a:t>
            </a:r>
            <a:r>
              <a:rPr lang="ko-KR" altLang="en-US" sz="1400" dirty="0"/>
              <a:t>이미 통지한 거절이유를 보충하는 정도는 가능</a:t>
            </a:r>
          </a:p>
        </p:txBody>
      </p:sp>
      <p:sp>
        <p:nvSpPr>
          <p:cNvPr id="47" name="TextBox 46">
            <a:extLst>
              <a:ext uri="{FF2B5EF4-FFF2-40B4-BE49-F238E27FC236}">
                <a16:creationId xmlns:a16="http://schemas.microsoft.com/office/drawing/2014/main" id="{AB3EFE16-93A5-4E99-AA91-5C6AE432C592}"/>
              </a:ext>
            </a:extLst>
          </p:cNvPr>
          <p:cNvSpPr txBox="1"/>
          <p:nvPr/>
        </p:nvSpPr>
        <p:spPr>
          <a:xfrm>
            <a:off x="1122338" y="5037512"/>
            <a:ext cx="11009304" cy="523220"/>
          </a:xfrm>
          <a:prstGeom prst="rect">
            <a:avLst/>
          </a:prstGeom>
          <a:noFill/>
          <a:ln>
            <a:solidFill>
              <a:schemeClr val="bg1">
                <a:lumMod val="50000"/>
              </a:schemeClr>
            </a:solidFill>
          </a:ln>
        </p:spPr>
        <p:txBody>
          <a:bodyPr wrap="square" rtlCol="0">
            <a:spAutoFit/>
          </a:bodyPr>
          <a:lstStyle/>
          <a:p>
            <a:r>
              <a:rPr lang="ko-KR" altLang="en-US" sz="1400" dirty="0"/>
              <a:t>진보성 위반이라는 거절이유를 보충하는 것으로서</a:t>
            </a:r>
            <a:r>
              <a:rPr lang="en-US" altLang="ko-KR" sz="1400" dirty="0"/>
              <a:t>, </a:t>
            </a:r>
            <a:r>
              <a:rPr lang="ko-KR" altLang="en-US" sz="1400" dirty="0" err="1"/>
              <a:t>주지관용기술의</a:t>
            </a:r>
            <a:r>
              <a:rPr lang="ko-KR" altLang="en-US" sz="1400" dirty="0"/>
              <a:t> 경우 </a:t>
            </a:r>
            <a:r>
              <a:rPr lang="ko-KR" altLang="en-US" sz="1400" dirty="0" err="1"/>
              <a:t>불요증사실</a:t>
            </a:r>
            <a:r>
              <a:rPr lang="en-US" altLang="ko-KR" sz="1400" dirty="0"/>
              <a:t>*</a:t>
            </a:r>
            <a:r>
              <a:rPr lang="ko-KR" altLang="en-US" sz="1400" dirty="0"/>
              <a:t>이 아니라면 지식재산처장이 증명</a:t>
            </a:r>
            <a:r>
              <a:rPr lang="en-US" altLang="ko-KR" sz="1400" dirty="0"/>
              <a:t>(</a:t>
            </a:r>
            <a:r>
              <a:rPr lang="ko-KR" altLang="en-US" sz="1400" dirty="0"/>
              <a:t>변론주의의 원칙</a:t>
            </a:r>
            <a:r>
              <a:rPr lang="en-US" altLang="ko-KR" sz="1400" dirty="0"/>
              <a:t>)</a:t>
            </a:r>
          </a:p>
          <a:p>
            <a:r>
              <a:rPr lang="ko-KR" altLang="en-US" sz="1400" dirty="0"/>
              <a:t>다만</a:t>
            </a:r>
            <a:r>
              <a:rPr lang="en-US" altLang="ko-KR" sz="1400" dirty="0"/>
              <a:t>, </a:t>
            </a:r>
            <a:r>
              <a:rPr lang="ko-KR" altLang="en-US" sz="1400" dirty="0"/>
              <a:t>변론종결전까지 제출된 증거 등 기록에 나타낸 자료를 통해 인정 가능</a:t>
            </a:r>
            <a:r>
              <a:rPr lang="en-US" altLang="ko-KR" sz="1400" dirty="0"/>
              <a:t>(</a:t>
            </a:r>
            <a:r>
              <a:rPr lang="ko-KR" altLang="en-US" sz="1400" dirty="0"/>
              <a:t>직권주의 가미</a:t>
            </a:r>
            <a:r>
              <a:rPr lang="en-US" altLang="ko-KR" sz="1400" dirty="0"/>
              <a:t>)</a:t>
            </a:r>
            <a:endParaRPr lang="ko-KR" altLang="en-US" sz="1400" dirty="0"/>
          </a:p>
        </p:txBody>
      </p:sp>
      <p:cxnSp>
        <p:nvCxnSpPr>
          <p:cNvPr id="21" name="연결선: 꺾임 20">
            <a:extLst>
              <a:ext uri="{FF2B5EF4-FFF2-40B4-BE49-F238E27FC236}">
                <a16:creationId xmlns:a16="http://schemas.microsoft.com/office/drawing/2014/main" id="{B7365C6A-6918-444E-A72C-574D6D37719E}"/>
              </a:ext>
            </a:extLst>
          </p:cNvPr>
          <p:cNvCxnSpPr>
            <a:endCxn id="43" idx="1"/>
          </p:cNvCxnSpPr>
          <p:nvPr/>
        </p:nvCxnSpPr>
        <p:spPr>
          <a:xfrm rot="16200000" flipH="1">
            <a:off x="468054" y="4322039"/>
            <a:ext cx="341650" cy="254304"/>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연결선: 꺾임 22">
            <a:extLst>
              <a:ext uri="{FF2B5EF4-FFF2-40B4-BE49-F238E27FC236}">
                <a16:creationId xmlns:a16="http://schemas.microsoft.com/office/drawing/2014/main" id="{7318102A-C696-4967-B2ED-9EA38B0B4CAA}"/>
              </a:ext>
            </a:extLst>
          </p:cNvPr>
          <p:cNvCxnSpPr>
            <a:cxnSpLocks/>
            <a:endCxn id="47" idx="1"/>
          </p:cNvCxnSpPr>
          <p:nvPr/>
        </p:nvCxnSpPr>
        <p:spPr>
          <a:xfrm rot="16200000" flipH="1">
            <a:off x="869026" y="5045809"/>
            <a:ext cx="365797" cy="140828"/>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4582895"/>
      </p:ext>
    </p:extLst>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186</a:t>
            </a:r>
            <a:r>
              <a:rPr lang="ko-KR" altLang="en-US" dirty="0"/>
              <a:t>조</a:t>
            </a:r>
          </a:p>
        </p:txBody>
      </p:sp>
      <p:sp>
        <p:nvSpPr>
          <p:cNvPr id="4" name="텍스트 개체 틀 3"/>
          <p:cNvSpPr>
            <a:spLocks noGrp="1"/>
          </p:cNvSpPr>
          <p:nvPr>
            <p:ph type="body" sz="quarter" idx="13"/>
          </p:nvPr>
        </p:nvSpPr>
        <p:spPr/>
        <p:txBody>
          <a:bodyPr>
            <a:normAutofit/>
          </a:bodyPr>
          <a:lstStyle/>
          <a:p>
            <a:pPr fontAlgn="base" latinLnBrk="0"/>
            <a:r>
              <a:rPr lang="ko-KR" altLang="en-US" dirty="0">
                <a:solidFill>
                  <a:schemeClr val="tx1">
                    <a:lumMod val="65000"/>
                    <a:lumOff val="35000"/>
                  </a:schemeClr>
                </a:solidFill>
              </a:rPr>
              <a:t>정정심판 </a:t>
            </a:r>
            <a:r>
              <a:rPr lang="ko-KR" altLang="en-US" dirty="0" err="1">
                <a:solidFill>
                  <a:schemeClr val="tx1">
                    <a:lumMod val="65000"/>
                    <a:lumOff val="35000"/>
                  </a:schemeClr>
                </a:solidFill>
              </a:rPr>
              <a:t>심결취소소송의</a:t>
            </a:r>
            <a:r>
              <a:rPr lang="ko-KR" altLang="en-US" dirty="0">
                <a:solidFill>
                  <a:schemeClr val="tx1">
                    <a:lumMod val="65000"/>
                    <a:lumOff val="35000"/>
                  </a:schemeClr>
                </a:solidFill>
              </a:rPr>
              <a:t> 심리범위</a:t>
            </a:r>
          </a:p>
        </p:txBody>
      </p:sp>
      <p:sp>
        <p:nvSpPr>
          <p:cNvPr id="2" name="Rectangle 1"/>
          <p:cNvSpPr>
            <a:spLocks noChangeArrowheads="1"/>
          </p:cNvSpPr>
          <p:nvPr/>
        </p:nvSpPr>
        <p:spPr bwMode="auto">
          <a:xfrm>
            <a:off x="0"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ko-KR" altLang="ko-KR" sz="1800" b="0" i="0" u="none" strike="noStrike" cap="none" normalizeH="0" baseline="0" dirty="0">
              <a:ln>
                <a:noFill/>
              </a:ln>
              <a:solidFill>
                <a:schemeClr val="tx1"/>
              </a:solidFill>
              <a:effectLst/>
              <a:latin typeface="Arial" panose="020B0604020202020204" pitchFamily="34" charset="0"/>
            </a:endParaRPr>
          </a:p>
        </p:txBody>
      </p:sp>
      <p:cxnSp>
        <p:nvCxnSpPr>
          <p:cNvPr id="25" name="직선 연결선 24">
            <a:extLst>
              <a:ext uri="{FF2B5EF4-FFF2-40B4-BE49-F238E27FC236}">
                <a16:creationId xmlns:a16="http://schemas.microsoft.com/office/drawing/2014/main" id="{7672B6BB-2D77-4E43-8B42-06D030FA91F0}"/>
              </a:ext>
            </a:extLst>
          </p:cNvPr>
          <p:cNvCxnSpPr/>
          <p:nvPr/>
        </p:nvCxnSpPr>
        <p:spPr>
          <a:xfrm>
            <a:off x="0" y="3930127"/>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직사각형 25">
            <a:extLst>
              <a:ext uri="{FF2B5EF4-FFF2-40B4-BE49-F238E27FC236}">
                <a16:creationId xmlns:a16="http://schemas.microsoft.com/office/drawing/2014/main" id="{635ED18D-A35C-4094-A735-ACF778B95324}"/>
              </a:ext>
            </a:extLst>
          </p:cNvPr>
          <p:cNvSpPr/>
          <p:nvPr/>
        </p:nvSpPr>
        <p:spPr>
          <a:xfrm>
            <a:off x="232372" y="1357007"/>
            <a:ext cx="11681987" cy="2462213"/>
          </a:xfrm>
          <a:prstGeom prst="rect">
            <a:avLst/>
          </a:prstGeom>
        </p:spPr>
        <p:txBody>
          <a:bodyPr wrap="square">
            <a:spAutoFit/>
          </a:bodyPr>
          <a:lstStyle/>
          <a:p>
            <a:pPr algn="just" fontAlgn="base"/>
            <a:r>
              <a:rPr lang="en-US" altLang="ko-KR" sz="1400" dirty="0"/>
              <a:t>[1]  </a:t>
            </a:r>
            <a:r>
              <a:rPr lang="ko-KR" altLang="en-US" sz="1400" dirty="0"/>
              <a:t>구 특허법</a:t>
            </a:r>
            <a:r>
              <a:rPr lang="en-US" altLang="ko-KR" sz="1400" dirty="0"/>
              <a:t>(2001. 2. 3. </a:t>
            </a:r>
            <a:r>
              <a:rPr lang="ko-KR" altLang="en-US" sz="1400" dirty="0"/>
              <a:t>법률 제</a:t>
            </a:r>
            <a:r>
              <a:rPr lang="en-US" altLang="ko-KR" sz="1400" dirty="0"/>
              <a:t>6411</a:t>
            </a:r>
            <a:r>
              <a:rPr lang="ko-KR" altLang="en-US" sz="1400" dirty="0"/>
              <a:t>호로 개정되기 전의 것</a:t>
            </a:r>
            <a:r>
              <a:rPr lang="en-US" altLang="ko-KR" sz="1400" dirty="0"/>
              <a:t>) </a:t>
            </a:r>
            <a:r>
              <a:rPr lang="ko-KR" altLang="en-US" sz="1400" dirty="0"/>
              <a:t>제</a:t>
            </a:r>
            <a:r>
              <a:rPr lang="en-US" altLang="ko-KR" sz="1400" dirty="0"/>
              <a:t>29</a:t>
            </a:r>
            <a:r>
              <a:rPr lang="ko-KR" altLang="en-US" sz="1400" dirty="0"/>
              <a:t>조 제</a:t>
            </a:r>
            <a:r>
              <a:rPr lang="en-US" altLang="ko-KR" sz="1400" dirty="0"/>
              <a:t>1</a:t>
            </a:r>
            <a:r>
              <a:rPr lang="ko-KR" altLang="en-US" sz="1400" dirty="0"/>
              <a:t>항 제</a:t>
            </a:r>
            <a:r>
              <a:rPr lang="en-US" altLang="ko-KR" sz="1400" dirty="0"/>
              <a:t>1</a:t>
            </a:r>
            <a:r>
              <a:rPr lang="ko-KR" altLang="en-US" sz="1400" dirty="0"/>
              <a:t>호 소정의 ‘특허출원 전에 국내에서 공지되었거나 공연히 실시된 </a:t>
            </a:r>
            <a:r>
              <a:rPr lang="ko-KR" altLang="en-US" sz="1400" dirty="0" err="1"/>
              <a:t>발명’에서</a:t>
            </a:r>
            <a:r>
              <a:rPr lang="ko-KR" altLang="en-US" sz="1400" dirty="0"/>
              <a:t> ‘특허출원 </a:t>
            </a:r>
            <a:r>
              <a:rPr lang="ko-KR" altLang="en-US" sz="1400" dirty="0" err="1"/>
              <a:t>전’의</a:t>
            </a:r>
            <a:r>
              <a:rPr lang="ko-KR" altLang="en-US" sz="1400" dirty="0"/>
              <a:t> 의미는 발명의 공지 또는 공연 실시된 시점이 특허출원 전이라는 의미이지 그 공지 또는 공연 실시된 사실을 인정하기 위한 증거가 특허출원 전에 작성된 것을 의미하는 것은 아니므로</a:t>
            </a:r>
            <a:r>
              <a:rPr lang="en-US" altLang="ko-KR" sz="1400" dirty="0"/>
              <a:t>,</a:t>
            </a:r>
            <a:r>
              <a:rPr lang="en-US" altLang="ko-KR" sz="1400" dirty="0">
                <a:solidFill>
                  <a:srgbClr val="FF0000"/>
                </a:solidFill>
              </a:rPr>
              <a:t> </a:t>
            </a:r>
            <a:r>
              <a:rPr lang="ko-KR" altLang="en-US" sz="1400" dirty="0">
                <a:highlight>
                  <a:srgbClr val="FFFF00"/>
                </a:highlight>
              </a:rPr>
              <a:t>법원은 특허출원 후에 작성된 문건들에 기초하여 어떤 발명 또는 기술이 특허출원 전에 공지 또는 공연 실시된 것인지 여부를 인정</a:t>
            </a:r>
            <a:r>
              <a:rPr lang="ko-KR" altLang="en-US" sz="1400" dirty="0"/>
              <a:t>할 수 있다</a:t>
            </a:r>
            <a:r>
              <a:rPr lang="en-US" altLang="ko-KR" sz="1400" dirty="0"/>
              <a:t>.</a:t>
            </a:r>
          </a:p>
          <a:p>
            <a:pPr algn="just" fontAlgn="base"/>
            <a:r>
              <a:rPr lang="en-US" altLang="ko-KR" sz="1400" dirty="0"/>
              <a:t>[2] </a:t>
            </a:r>
            <a:r>
              <a:rPr lang="ko-KR" altLang="en-US" sz="1400" dirty="0"/>
              <a:t>의견서 제출기회를 부여하는 구 특허법</a:t>
            </a:r>
            <a:r>
              <a:rPr lang="en-US" altLang="ko-KR" sz="1400" dirty="0"/>
              <a:t>(2001. 2. 3. </a:t>
            </a:r>
            <a:r>
              <a:rPr lang="ko-KR" altLang="en-US" sz="1400" dirty="0"/>
              <a:t>법률 제</a:t>
            </a:r>
            <a:r>
              <a:rPr lang="en-US" altLang="ko-KR" sz="1400" dirty="0"/>
              <a:t>6411</a:t>
            </a:r>
            <a:r>
              <a:rPr lang="ko-KR" altLang="en-US" sz="1400" dirty="0"/>
              <a:t>호로 개정되기 전의 것</a:t>
            </a:r>
            <a:r>
              <a:rPr lang="en-US" altLang="ko-KR" sz="1400" dirty="0"/>
              <a:t>) </a:t>
            </a:r>
            <a:r>
              <a:rPr lang="ko-KR" altLang="en-US" sz="1400" dirty="0"/>
              <a:t>제</a:t>
            </a:r>
            <a:r>
              <a:rPr lang="en-US" altLang="ko-KR" sz="1400" dirty="0"/>
              <a:t>136</a:t>
            </a:r>
            <a:r>
              <a:rPr lang="ko-KR" altLang="en-US" sz="1400" dirty="0"/>
              <a:t>조 제</a:t>
            </a:r>
            <a:r>
              <a:rPr lang="en-US" altLang="ko-KR" sz="1400" dirty="0"/>
              <a:t>4</a:t>
            </a:r>
            <a:r>
              <a:rPr lang="ko-KR" altLang="en-US" sz="1400" dirty="0"/>
              <a:t>항은 정정청구에 대한 심사의 적정을 기하고 심사제도의 신용을 유지하기 위한 공익상의 요구에 기인하는 이른바 </a:t>
            </a:r>
            <a:r>
              <a:rPr lang="ko-KR" altLang="en-US" sz="1400" dirty="0" err="1"/>
              <a:t>강행규정이므로</a:t>
            </a:r>
            <a:r>
              <a:rPr lang="en-US" altLang="ko-KR" sz="1400" dirty="0"/>
              <a:t>, </a:t>
            </a:r>
            <a:r>
              <a:rPr lang="ko-KR" altLang="en-US" sz="1400" dirty="0">
                <a:highlight>
                  <a:srgbClr val="CCECFF"/>
                </a:highlight>
              </a:rPr>
              <a:t>정정심판이나 그 </a:t>
            </a:r>
            <a:r>
              <a:rPr lang="ko-KR" altLang="en-US" sz="1400" dirty="0" err="1">
                <a:highlight>
                  <a:srgbClr val="CCECFF"/>
                </a:highlight>
              </a:rPr>
              <a:t>심결취소소송에서</a:t>
            </a:r>
            <a:r>
              <a:rPr lang="ko-KR" altLang="en-US" sz="1400" dirty="0">
                <a:highlight>
                  <a:srgbClr val="CCECFF"/>
                </a:highlight>
              </a:rPr>
              <a:t> 정정의견제출통지서를 통하여 심판청구인에게 의견서 제출 기회를 부여한 바 없는 사유를 들어 정정심판청구를 기각하는 </a:t>
            </a:r>
            <a:r>
              <a:rPr lang="ko-KR" altLang="en-US" sz="1400" dirty="0" err="1">
                <a:highlight>
                  <a:srgbClr val="CCECFF"/>
                </a:highlight>
              </a:rPr>
              <a:t>심결을</a:t>
            </a:r>
            <a:r>
              <a:rPr lang="ko-KR" altLang="en-US" sz="1400" dirty="0">
                <a:highlight>
                  <a:srgbClr val="CCECFF"/>
                </a:highlight>
              </a:rPr>
              <a:t> 하거나 </a:t>
            </a:r>
            <a:r>
              <a:rPr lang="ko-KR" altLang="en-US" sz="1400" dirty="0" err="1">
                <a:highlight>
                  <a:srgbClr val="CCECFF"/>
                </a:highlight>
              </a:rPr>
              <a:t>심결취소청구를</a:t>
            </a:r>
            <a:r>
              <a:rPr lang="ko-KR" altLang="en-US" sz="1400" dirty="0">
                <a:highlight>
                  <a:srgbClr val="CCECFF"/>
                </a:highlight>
              </a:rPr>
              <a:t> 기각하는 것은 위법하나</a:t>
            </a:r>
            <a:r>
              <a:rPr lang="en-US" altLang="ko-KR" sz="1400" dirty="0">
                <a:highlight>
                  <a:srgbClr val="CCECFF"/>
                </a:highlight>
              </a:rPr>
              <a:t>, </a:t>
            </a:r>
            <a:r>
              <a:rPr lang="ko-KR" altLang="en-US" sz="1400" dirty="0">
                <a:highlight>
                  <a:srgbClr val="CCECFF"/>
                </a:highlight>
              </a:rPr>
              <a:t>정정의견제출통지서에 기재된 사유와 다른 별개의 새로운 사유가 아니고 주된 취지에 있어서 정정의견제출통지서에 기재된 사유와 실질적으로 동일한 사유로 정정심판을 기각하는 </a:t>
            </a:r>
            <a:r>
              <a:rPr lang="ko-KR" altLang="en-US" sz="1400" dirty="0" err="1">
                <a:highlight>
                  <a:srgbClr val="CCECFF"/>
                </a:highlight>
              </a:rPr>
              <a:t>심결을</a:t>
            </a:r>
            <a:r>
              <a:rPr lang="ko-KR" altLang="en-US" sz="1400" dirty="0">
                <a:highlight>
                  <a:srgbClr val="CCECFF"/>
                </a:highlight>
              </a:rPr>
              <a:t> 하거나 그 </a:t>
            </a:r>
            <a:r>
              <a:rPr lang="ko-KR" altLang="en-US" sz="1400" dirty="0" err="1">
                <a:highlight>
                  <a:srgbClr val="CCECFF"/>
                </a:highlight>
              </a:rPr>
              <a:t>심결에</a:t>
            </a:r>
            <a:r>
              <a:rPr lang="ko-KR" altLang="en-US" sz="1400" dirty="0">
                <a:highlight>
                  <a:srgbClr val="CCECFF"/>
                </a:highlight>
              </a:rPr>
              <a:t> 대한 취소청구를 기각하는 것은 허용된다</a:t>
            </a:r>
            <a:r>
              <a:rPr lang="en-US" altLang="ko-KR" sz="1400" dirty="0">
                <a:highlight>
                  <a:srgbClr val="CCECFF"/>
                </a:highlight>
              </a:rPr>
              <a:t>.</a:t>
            </a:r>
          </a:p>
          <a:p>
            <a:pPr algn="just" fontAlgn="base"/>
            <a:r>
              <a:rPr lang="en-US" altLang="ko-KR" sz="1400" dirty="0"/>
              <a:t>[3] </a:t>
            </a:r>
            <a:r>
              <a:rPr lang="ko-KR" altLang="en-US" sz="1400" dirty="0"/>
              <a:t>정정의견제출통지서에 기재된 증거가 </a:t>
            </a:r>
            <a:r>
              <a:rPr lang="ko-KR" altLang="en-US" sz="1400" dirty="0" err="1">
                <a:highlight>
                  <a:srgbClr val="FFFF00"/>
                </a:highlight>
              </a:rPr>
              <a:t>아니라도</a:t>
            </a:r>
            <a:r>
              <a:rPr lang="ko-KR" altLang="en-US" sz="1400" dirty="0">
                <a:highlight>
                  <a:srgbClr val="FFFF00"/>
                </a:highlight>
              </a:rPr>
              <a:t> </a:t>
            </a:r>
            <a:r>
              <a:rPr lang="ko-KR" altLang="en-US" sz="1400" dirty="0" err="1">
                <a:highlight>
                  <a:srgbClr val="FFFF00"/>
                </a:highlight>
              </a:rPr>
              <a:t>정정거절이유를</a:t>
            </a:r>
            <a:r>
              <a:rPr lang="ko-KR" altLang="en-US" sz="1400" dirty="0">
                <a:highlight>
                  <a:srgbClr val="FFFF00"/>
                </a:highlight>
              </a:rPr>
              <a:t> 보충하는 것이라면 새로운 </a:t>
            </a:r>
            <a:r>
              <a:rPr lang="ko-KR" altLang="en-US" sz="1400" dirty="0" err="1">
                <a:highlight>
                  <a:srgbClr val="FFFF00"/>
                </a:highlight>
              </a:rPr>
              <a:t>정정거절이유라고</a:t>
            </a:r>
            <a:r>
              <a:rPr lang="ko-KR" altLang="en-US" sz="1400" dirty="0">
                <a:highlight>
                  <a:srgbClr val="FFFF00"/>
                </a:highlight>
              </a:rPr>
              <a:t> 할 수 없으므로</a:t>
            </a:r>
            <a:r>
              <a:rPr lang="en-US" altLang="ko-KR" sz="1400" dirty="0">
                <a:solidFill>
                  <a:srgbClr val="FF0000"/>
                </a:solidFill>
              </a:rPr>
              <a:t>, </a:t>
            </a:r>
            <a:r>
              <a:rPr lang="ko-KR" altLang="en-US" sz="1400" dirty="0"/>
              <a:t>특허법원이 그 증거를 채용하여 정정청구를 기각한 </a:t>
            </a:r>
            <a:r>
              <a:rPr lang="ko-KR" altLang="en-US" sz="1400" dirty="0" err="1"/>
              <a:t>심결이</a:t>
            </a:r>
            <a:r>
              <a:rPr lang="ko-KR" altLang="en-US" sz="1400" dirty="0"/>
              <a:t> 정당하다는 사유의 하나로 삼았다고 하여 심리범위를 일탈하였다고 할 수 없다</a:t>
            </a:r>
            <a:r>
              <a:rPr lang="en-US" altLang="ko-KR" sz="1400" dirty="0"/>
              <a:t>.</a:t>
            </a:r>
            <a:endParaRPr lang="ko-KR" altLang="en-US" sz="1400" dirty="0">
              <a:solidFill>
                <a:srgbClr val="FF0000"/>
              </a:solidFill>
            </a:endParaRPr>
          </a:p>
        </p:txBody>
      </p:sp>
      <p:sp>
        <p:nvSpPr>
          <p:cNvPr id="27" name="모서리가 둥근 직사각형 10">
            <a:extLst>
              <a:ext uri="{FF2B5EF4-FFF2-40B4-BE49-F238E27FC236}">
                <a16:creationId xmlns:a16="http://schemas.microsoft.com/office/drawing/2014/main" id="{45EA68D6-B151-4236-8FC3-05A69090F573}"/>
              </a:ext>
            </a:extLst>
          </p:cNvPr>
          <p:cNvSpPr/>
          <p:nvPr/>
        </p:nvSpPr>
        <p:spPr bwMode="auto">
          <a:xfrm>
            <a:off x="378418" y="1002199"/>
            <a:ext cx="5717582"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2007. 4. 27. </a:t>
            </a:r>
            <a:r>
              <a:rPr lang="ko-KR" altLang="en-US" sz="1400" dirty="0"/>
              <a:t>선고 </a:t>
            </a:r>
            <a:r>
              <a:rPr lang="en-US" altLang="ko-KR" sz="1400" dirty="0"/>
              <a:t>2006</a:t>
            </a:r>
            <a:r>
              <a:rPr lang="ko-KR" altLang="en-US" sz="1400" dirty="0"/>
              <a:t>후</a:t>
            </a:r>
            <a:r>
              <a:rPr lang="en-US" altLang="ko-KR" sz="1400" dirty="0"/>
              <a:t>2660 </a:t>
            </a:r>
            <a:r>
              <a:rPr lang="ko-KR" altLang="en-US" sz="1400" dirty="0"/>
              <a:t>판결 </a:t>
            </a:r>
            <a:r>
              <a:rPr lang="en-US" altLang="ko-KR" sz="1400" dirty="0"/>
              <a:t>【</a:t>
            </a:r>
            <a:r>
              <a:rPr lang="ko-KR" altLang="en-US" sz="1400" dirty="0"/>
              <a:t>정정</a:t>
            </a:r>
            <a:r>
              <a:rPr lang="en-US" altLang="ko-KR" sz="1400" dirty="0"/>
              <a:t>(</a:t>
            </a:r>
            <a:r>
              <a:rPr lang="ko-KR" altLang="en-US" sz="1400" dirty="0" err="1"/>
              <a:t>특</a:t>
            </a:r>
            <a:r>
              <a:rPr lang="en-US" altLang="ko-KR" sz="1400" dirty="0"/>
              <a:t>)】</a:t>
            </a:r>
          </a:p>
        </p:txBody>
      </p:sp>
      <p:sp>
        <p:nvSpPr>
          <p:cNvPr id="6" name="Line 5">
            <a:extLst>
              <a:ext uri="{FF2B5EF4-FFF2-40B4-BE49-F238E27FC236}">
                <a16:creationId xmlns:a16="http://schemas.microsoft.com/office/drawing/2014/main" id="{01ECBABA-428D-E2D1-C380-557DAB7A7145}"/>
              </a:ext>
            </a:extLst>
          </p:cNvPr>
          <p:cNvSpPr>
            <a:spLocks noChangeShapeType="1"/>
          </p:cNvSpPr>
          <p:nvPr/>
        </p:nvSpPr>
        <p:spPr bwMode="auto">
          <a:xfrm>
            <a:off x="157297" y="4734258"/>
            <a:ext cx="11802330"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7" name="TextBox 6">
            <a:extLst>
              <a:ext uri="{FF2B5EF4-FFF2-40B4-BE49-F238E27FC236}">
                <a16:creationId xmlns:a16="http://schemas.microsoft.com/office/drawing/2014/main" id="{D6D10B70-E27A-0C7F-E74A-4506A5549F29}"/>
              </a:ext>
            </a:extLst>
          </p:cNvPr>
          <p:cNvSpPr txBox="1"/>
          <p:nvPr/>
        </p:nvSpPr>
        <p:spPr>
          <a:xfrm>
            <a:off x="446799" y="4990433"/>
            <a:ext cx="702185"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특허</a:t>
            </a:r>
            <a:endParaRPr lang="en-US" altLang="ko-KR" sz="1200" dirty="0">
              <a:solidFill>
                <a:schemeClr val="tx1"/>
              </a:solidFill>
              <a:latin typeface="+mn-ea"/>
            </a:endParaRPr>
          </a:p>
          <a:p>
            <a:pPr algn="ctr"/>
            <a:r>
              <a:rPr lang="ko-KR" altLang="en-US" sz="1200" dirty="0">
                <a:solidFill>
                  <a:schemeClr val="tx1"/>
                </a:solidFill>
                <a:latin typeface="+mn-ea"/>
              </a:rPr>
              <a:t>출원</a:t>
            </a:r>
          </a:p>
        </p:txBody>
      </p:sp>
      <p:sp>
        <p:nvSpPr>
          <p:cNvPr id="8" name="타원 7">
            <a:extLst>
              <a:ext uri="{FF2B5EF4-FFF2-40B4-BE49-F238E27FC236}">
                <a16:creationId xmlns:a16="http://schemas.microsoft.com/office/drawing/2014/main" id="{03DA2624-2A04-BB52-1B01-F54728EB38F1}"/>
              </a:ext>
            </a:extLst>
          </p:cNvPr>
          <p:cNvSpPr/>
          <p:nvPr/>
        </p:nvSpPr>
        <p:spPr>
          <a:xfrm>
            <a:off x="730403" y="4640324"/>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 name="직선 연결선 8">
            <a:extLst>
              <a:ext uri="{FF2B5EF4-FFF2-40B4-BE49-F238E27FC236}">
                <a16:creationId xmlns:a16="http://schemas.microsoft.com/office/drawing/2014/main" id="{5BD71592-ABC9-D497-D7A6-53D77FF4FE84}"/>
              </a:ext>
            </a:extLst>
          </p:cNvPr>
          <p:cNvCxnSpPr>
            <a:cxnSpLocks/>
            <a:stCxn id="7" idx="0"/>
            <a:endCxn id="8" idx="4"/>
          </p:cNvCxnSpPr>
          <p:nvPr/>
        </p:nvCxnSpPr>
        <p:spPr>
          <a:xfrm flipH="1" flipV="1">
            <a:off x="797891" y="480166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30F8D084-A4EC-1E1B-BC68-9B5EDF7C6B75}"/>
              </a:ext>
            </a:extLst>
          </p:cNvPr>
          <p:cNvSpPr txBox="1"/>
          <p:nvPr/>
        </p:nvSpPr>
        <p:spPr>
          <a:xfrm>
            <a:off x="1444732" y="4990433"/>
            <a:ext cx="702185" cy="461665"/>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특허</a:t>
            </a:r>
            <a:endParaRPr lang="en-US" altLang="ko-KR" sz="1200" dirty="0">
              <a:solidFill>
                <a:schemeClr val="tx1"/>
              </a:solidFill>
              <a:latin typeface="+mn-ea"/>
            </a:endParaRPr>
          </a:p>
          <a:p>
            <a:pPr algn="ctr"/>
            <a:r>
              <a:rPr lang="ko-KR" altLang="en-US" sz="1200" dirty="0">
                <a:solidFill>
                  <a:schemeClr val="tx1"/>
                </a:solidFill>
                <a:latin typeface="+mn-ea"/>
              </a:rPr>
              <a:t>등록</a:t>
            </a:r>
          </a:p>
        </p:txBody>
      </p:sp>
      <p:sp>
        <p:nvSpPr>
          <p:cNvPr id="16" name="타원 15">
            <a:extLst>
              <a:ext uri="{FF2B5EF4-FFF2-40B4-BE49-F238E27FC236}">
                <a16:creationId xmlns:a16="http://schemas.microsoft.com/office/drawing/2014/main" id="{D287ED81-95A3-7B9A-4C55-C59CA63E7F40}"/>
              </a:ext>
            </a:extLst>
          </p:cNvPr>
          <p:cNvSpPr/>
          <p:nvPr/>
        </p:nvSpPr>
        <p:spPr>
          <a:xfrm>
            <a:off x="1728337" y="4640324"/>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7" name="직선 연결선 16">
            <a:extLst>
              <a:ext uri="{FF2B5EF4-FFF2-40B4-BE49-F238E27FC236}">
                <a16:creationId xmlns:a16="http://schemas.microsoft.com/office/drawing/2014/main" id="{C85B8F3E-702D-CDC1-B95D-F3A45F182B08}"/>
              </a:ext>
            </a:extLst>
          </p:cNvPr>
          <p:cNvCxnSpPr>
            <a:cxnSpLocks/>
            <a:stCxn id="15" idx="0"/>
            <a:endCxn id="16" idx="4"/>
          </p:cNvCxnSpPr>
          <p:nvPr/>
        </p:nvCxnSpPr>
        <p:spPr>
          <a:xfrm flipV="1">
            <a:off x="1795825" y="4801662"/>
            <a:ext cx="0"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579DC096-00AC-5B48-E590-BEFCA636E65F}"/>
              </a:ext>
            </a:extLst>
          </p:cNvPr>
          <p:cNvSpPr txBox="1"/>
          <p:nvPr/>
        </p:nvSpPr>
        <p:spPr>
          <a:xfrm>
            <a:off x="7602478" y="4990433"/>
            <a:ext cx="855648"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 </a:t>
            </a:r>
            <a:r>
              <a:rPr lang="ko-KR" altLang="en-US" sz="1200" dirty="0">
                <a:solidFill>
                  <a:schemeClr val="tx1"/>
                </a:solidFill>
                <a:latin typeface="+mn-ea"/>
              </a:rPr>
              <a:t>불가 </a:t>
            </a:r>
            <a:endParaRPr lang="en-US" altLang="ko-KR" sz="1200" dirty="0">
              <a:solidFill>
                <a:schemeClr val="tx1"/>
              </a:solidFill>
              <a:latin typeface="+mn-ea"/>
            </a:endParaRPr>
          </a:p>
        </p:txBody>
      </p:sp>
      <p:sp>
        <p:nvSpPr>
          <p:cNvPr id="19" name="타원 18">
            <a:extLst>
              <a:ext uri="{FF2B5EF4-FFF2-40B4-BE49-F238E27FC236}">
                <a16:creationId xmlns:a16="http://schemas.microsoft.com/office/drawing/2014/main" id="{CA53FEAC-51B6-AF90-4B7C-DED961E5E368}"/>
              </a:ext>
            </a:extLst>
          </p:cNvPr>
          <p:cNvSpPr/>
          <p:nvPr/>
        </p:nvSpPr>
        <p:spPr>
          <a:xfrm>
            <a:off x="7962813" y="4640324"/>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20" name="직선 연결선 19">
            <a:extLst>
              <a:ext uri="{FF2B5EF4-FFF2-40B4-BE49-F238E27FC236}">
                <a16:creationId xmlns:a16="http://schemas.microsoft.com/office/drawing/2014/main" id="{42579842-2886-BD2C-FC9C-C1F413B855CD}"/>
              </a:ext>
            </a:extLst>
          </p:cNvPr>
          <p:cNvCxnSpPr>
            <a:cxnSpLocks/>
            <a:stCxn id="18" idx="0"/>
            <a:endCxn id="19" idx="4"/>
          </p:cNvCxnSpPr>
          <p:nvPr/>
        </p:nvCxnSpPr>
        <p:spPr>
          <a:xfrm flipH="1" flipV="1">
            <a:off x="8030301" y="480166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649C01E2-65C3-4BF1-5D0C-97BA590093D9}"/>
              </a:ext>
            </a:extLst>
          </p:cNvPr>
          <p:cNvSpPr txBox="1"/>
          <p:nvPr/>
        </p:nvSpPr>
        <p:spPr>
          <a:xfrm>
            <a:off x="3803953" y="4990135"/>
            <a:ext cx="781562" cy="276999"/>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OA</a:t>
            </a:r>
            <a:endParaRPr lang="ko-KR" altLang="en-US" sz="1200" dirty="0">
              <a:solidFill>
                <a:schemeClr val="tx1"/>
              </a:solidFill>
              <a:latin typeface="+mn-ea"/>
            </a:endParaRPr>
          </a:p>
        </p:txBody>
      </p:sp>
      <p:sp>
        <p:nvSpPr>
          <p:cNvPr id="33" name="타원 32">
            <a:extLst>
              <a:ext uri="{FF2B5EF4-FFF2-40B4-BE49-F238E27FC236}">
                <a16:creationId xmlns:a16="http://schemas.microsoft.com/office/drawing/2014/main" id="{54049E49-3A16-6EE1-DB67-674F94F5762F}"/>
              </a:ext>
            </a:extLst>
          </p:cNvPr>
          <p:cNvSpPr/>
          <p:nvPr/>
        </p:nvSpPr>
        <p:spPr>
          <a:xfrm>
            <a:off x="4127246" y="4640324"/>
            <a:ext cx="134975"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4" name="직선 연결선 33">
            <a:extLst>
              <a:ext uri="{FF2B5EF4-FFF2-40B4-BE49-F238E27FC236}">
                <a16:creationId xmlns:a16="http://schemas.microsoft.com/office/drawing/2014/main" id="{590FD696-CF16-3DCC-FB4A-7C3E55EC73CE}"/>
              </a:ext>
            </a:extLst>
          </p:cNvPr>
          <p:cNvCxnSpPr>
            <a:cxnSpLocks/>
            <a:stCxn id="32" idx="0"/>
            <a:endCxn id="33" idx="4"/>
          </p:cNvCxnSpPr>
          <p:nvPr/>
        </p:nvCxnSpPr>
        <p:spPr>
          <a:xfrm flipV="1">
            <a:off x="4194734" y="4801662"/>
            <a:ext cx="0" cy="18847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C590DB45-41CE-9ADD-DF60-815DBC3DD04A}"/>
              </a:ext>
            </a:extLst>
          </p:cNvPr>
          <p:cNvSpPr txBox="1"/>
          <p:nvPr/>
        </p:nvSpPr>
        <p:spPr>
          <a:xfrm>
            <a:off x="3042405" y="5619990"/>
            <a:ext cx="2304658"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인용발명과 </a:t>
            </a:r>
            <a:r>
              <a:rPr lang="ko-KR" altLang="en-US" sz="1200" dirty="0" err="1">
                <a:solidFill>
                  <a:schemeClr val="tx1"/>
                </a:solidFill>
                <a:latin typeface="+mn-ea"/>
              </a:rPr>
              <a:t>주지관용기술에</a:t>
            </a:r>
            <a:r>
              <a:rPr lang="ko-KR" altLang="en-US" sz="1200" dirty="0">
                <a:solidFill>
                  <a:schemeClr val="tx1"/>
                </a:solidFill>
                <a:latin typeface="+mn-ea"/>
              </a:rPr>
              <a:t> 의해 </a:t>
            </a:r>
            <a:endParaRPr lang="en-US" altLang="ko-KR" sz="1200" dirty="0">
              <a:solidFill>
                <a:schemeClr val="tx1"/>
              </a:solidFill>
              <a:latin typeface="+mn-ea"/>
            </a:endParaRPr>
          </a:p>
          <a:p>
            <a:pPr algn="ctr"/>
            <a:r>
              <a:rPr lang="ko-KR" altLang="en-US" sz="1200" dirty="0">
                <a:solidFill>
                  <a:schemeClr val="tx1"/>
                </a:solidFill>
                <a:latin typeface="+mn-ea"/>
              </a:rPr>
              <a:t>진보성위반</a:t>
            </a:r>
          </a:p>
        </p:txBody>
      </p:sp>
      <p:cxnSp>
        <p:nvCxnSpPr>
          <p:cNvPr id="36" name="직선 연결선 35">
            <a:extLst>
              <a:ext uri="{FF2B5EF4-FFF2-40B4-BE49-F238E27FC236}">
                <a16:creationId xmlns:a16="http://schemas.microsoft.com/office/drawing/2014/main" id="{29A6F4E2-B899-ADDD-6D44-60288A8899CD}"/>
              </a:ext>
            </a:extLst>
          </p:cNvPr>
          <p:cNvCxnSpPr>
            <a:cxnSpLocks/>
            <a:stCxn id="35" idx="0"/>
            <a:endCxn id="32" idx="2"/>
          </p:cNvCxnSpPr>
          <p:nvPr/>
        </p:nvCxnSpPr>
        <p:spPr>
          <a:xfrm flipV="1">
            <a:off x="4194734" y="5267134"/>
            <a:ext cx="0" cy="35285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말풍선: 모서리가 둥근 사각형 47">
            <a:extLst>
              <a:ext uri="{FF2B5EF4-FFF2-40B4-BE49-F238E27FC236}">
                <a16:creationId xmlns:a16="http://schemas.microsoft.com/office/drawing/2014/main" id="{74465509-663E-BD47-F756-7036143289ED}"/>
              </a:ext>
            </a:extLst>
          </p:cNvPr>
          <p:cNvSpPr/>
          <p:nvPr/>
        </p:nvSpPr>
        <p:spPr>
          <a:xfrm>
            <a:off x="8177808" y="6327281"/>
            <a:ext cx="2009643" cy="461664"/>
          </a:xfrm>
          <a:prstGeom prst="wedgeRoundRectCallout">
            <a:avLst>
              <a:gd name="adj1" fmla="val 17"/>
              <a:gd name="adj2" fmla="val -129676"/>
              <a:gd name="adj3" fmla="val 16667"/>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200" dirty="0" err="1">
                <a:solidFill>
                  <a:schemeClr val="tx1"/>
                </a:solidFill>
              </a:rPr>
              <a:t>주지관용기술임을</a:t>
            </a:r>
            <a:r>
              <a:rPr lang="ko-KR" altLang="en-US" sz="1200" dirty="0">
                <a:solidFill>
                  <a:schemeClr val="tx1"/>
                </a:solidFill>
              </a:rPr>
              <a:t> 증명하는 서류 제출</a:t>
            </a:r>
          </a:p>
        </p:txBody>
      </p:sp>
      <p:sp>
        <p:nvSpPr>
          <p:cNvPr id="51" name="TextBox 50">
            <a:extLst>
              <a:ext uri="{FF2B5EF4-FFF2-40B4-BE49-F238E27FC236}">
                <a16:creationId xmlns:a16="http://schemas.microsoft.com/office/drawing/2014/main" id="{3F1BAD4E-CC5C-33CA-9907-49C8B0D82A6F}"/>
              </a:ext>
            </a:extLst>
          </p:cNvPr>
          <p:cNvSpPr txBox="1"/>
          <p:nvPr/>
        </p:nvSpPr>
        <p:spPr>
          <a:xfrm>
            <a:off x="2598419" y="4990433"/>
            <a:ext cx="819482" cy="461665"/>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정정심판</a:t>
            </a:r>
            <a:endParaRPr lang="en-US" altLang="ko-KR" sz="1200" dirty="0">
              <a:solidFill>
                <a:schemeClr val="tx1"/>
              </a:solidFill>
              <a:latin typeface="+mn-ea"/>
            </a:endParaRPr>
          </a:p>
          <a:p>
            <a:pPr algn="ctr"/>
            <a:r>
              <a:rPr lang="ko-KR" altLang="en-US" sz="1200" dirty="0">
                <a:solidFill>
                  <a:schemeClr val="tx1"/>
                </a:solidFill>
                <a:latin typeface="+mn-ea"/>
              </a:rPr>
              <a:t>청구</a:t>
            </a:r>
          </a:p>
        </p:txBody>
      </p:sp>
      <p:sp>
        <p:nvSpPr>
          <p:cNvPr id="52" name="타원 51">
            <a:extLst>
              <a:ext uri="{FF2B5EF4-FFF2-40B4-BE49-F238E27FC236}">
                <a16:creationId xmlns:a16="http://schemas.microsoft.com/office/drawing/2014/main" id="{5B0EF63B-BF82-A0D3-12FF-313168187241}"/>
              </a:ext>
            </a:extLst>
          </p:cNvPr>
          <p:cNvSpPr/>
          <p:nvPr/>
        </p:nvSpPr>
        <p:spPr>
          <a:xfrm>
            <a:off x="2940672" y="4640324"/>
            <a:ext cx="134975"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53" name="직선 연결선 52">
            <a:extLst>
              <a:ext uri="{FF2B5EF4-FFF2-40B4-BE49-F238E27FC236}">
                <a16:creationId xmlns:a16="http://schemas.microsoft.com/office/drawing/2014/main" id="{EA5C2154-DD9C-0692-A062-A4DC2CD9CD97}"/>
              </a:ext>
            </a:extLst>
          </p:cNvPr>
          <p:cNvCxnSpPr>
            <a:cxnSpLocks/>
            <a:stCxn id="51" idx="0"/>
            <a:endCxn id="52" idx="4"/>
          </p:cNvCxnSpPr>
          <p:nvPr/>
        </p:nvCxnSpPr>
        <p:spPr>
          <a:xfrm flipV="1">
            <a:off x="3008160" y="4801662"/>
            <a:ext cx="0"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DA5DD739-152F-8E6D-7403-B2A0EC4AC5F1}"/>
              </a:ext>
            </a:extLst>
          </p:cNvPr>
          <p:cNvSpPr txBox="1"/>
          <p:nvPr/>
        </p:nvSpPr>
        <p:spPr>
          <a:xfrm>
            <a:off x="5111128" y="4990887"/>
            <a:ext cx="777318" cy="275496"/>
          </a:xfrm>
          <a:prstGeom prst="rect">
            <a:avLst/>
          </a:prstGeom>
          <a:solidFill>
            <a:schemeClr val="accent2">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60" name="타원 59">
            <a:extLst>
              <a:ext uri="{FF2B5EF4-FFF2-40B4-BE49-F238E27FC236}">
                <a16:creationId xmlns:a16="http://schemas.microsoft.com/office/drawing/2014/main" id="{45C4EBAB-79B2-9F07-1594-52775696CFEF}"/>
              </a:ext>
            </a:extLst>
          </p:cNvPr>
          <p:cNvSpPr/>
          <p:nvPr/>
        </p:nvSpPr>
        <p:spPr>
          <a:xfrm>
            <a:off x="5432665" y="4640761"/>
            <a:ext cx="134244" cy="160464"/>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1" name="직선 연결선 60">
            <a:extLst>
              <a:ext uri="{FF2B5EF4-FFF2-40B4-BE49-F238E27FC236}">
                <a16:creationId xmlns:a16="http://schemas.microsoft.com/office/drawing/2014/main" id="{78F2F618-5724-1488-3FE1-40945A741CAF}"/>
              </a:ext>
            </a:extLst>
          </p:cNvPr>
          <p:cNvCxnSpPr>
            <a:cxnSpLocks/>
            <a:stCxn id="59" idx="0"/>
            <a:endCxn id="60" idx="4"/>
          </p:cNvCxnSpPr>
          <p:nvPr/>
        </p:nvCxnSpPr>
        <p:spPr>
          <a:xfrm flipV="1">
            <a:off x="5499787" y="4801225"/>
            <a:ext cx="0" cy="18966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5A99DC69-CB2D-C7B9-9093-9FAF90957FD2}"/>
              </a:ext>
            </a:extLst>
          </p:cNvPr>
          <p:cNvSpPr txBox="1"/>
          <p:nvPr/>
        </p:nvSpPr>
        <p:spPr>
          <a:xfrm>
            <a:off x="6486062" y="4990433"/>
            <a:ext cx="702185"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소제기</a:t>
            </a:r>
          </a:p>
        </p:txBody>
      </p:sp>
      <p:sp>
        <p:nvSpPr>
          <p:cNvPr id="63" name="타원 62">
            <a:extLst>
              <a:ext uri="{FF2B5EF4-FFF2-40B4-BE49-F238E27FC236}">
                <a16:creationId xmlns:a16="http://schemas.microsoft.com/office/drawing/2014/main" id="{7BE7FAEC-F70B-E3B9-D431-7BE7CB1F5EEE}"/>
              </a:ext>
            </a:extLst>
          </p:cNvPr>
          <p:cNvSpPr/>
          <p:nvPr/>
        </p:nvSpPr>
        <p:spPr>
          <a:xfrm>
            <a:off x="6769666" y="4640324"/>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4" name="직선 연결선 63">
            <a:extLst>
              <a:ext uri="{FF2B5EF4-FFF2-40B4-BE49-F238E27FC236}">
                <a16:creationId xmlns:a16="http://schemas.microsoft.com/office/drawing/2014/main" id="{7C13A778-785E-4BD4-5A88-B00F0EC17846}"/>
              </a:ext>
            </a:extLst>
          </p:cNvPr>
          <p:cNvCxnSpPr>
            <a:cxnSpLocks/>
            <a:stCxn id="62" idx="0"/>
            <a:endCxn id="63" idx="4"/>
          </p:cNvCxnSpPr>
          <p:nvPr/>
        </p:nvCxnSpPr>
        <p:spPr>
          <a:xfrm flipH="1" flipV="1">
            <a:off x="6837154" y="480166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803D3731-EB07-B33B-2E6A-B36B37E069CB}"/>
              </a:ext>
            </a:extLst>
          </p:cNvPr>
          <p:cNvSpPr txBox="1"/>
          <p:nvPr/>
        </p:nvSpPr>
        <p:spPr>
          <a:xfrm>
            <a:off x="8728131" y="4990433"/>
            <a:ext cx="990634" cy="276999"/>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a:t>
            </a:r>
          </a:p>
        </p:txBody>
      </p:sp>
      <p:sp>
        <p:nvSpPr>
          <p:cNvPr id="69" name="타원 68">
            <a:extLst>
              <a:ext uri="{FF2B5EF4-FFF2-40B4-BE49-F238E27FC236}">
                <a16:creationId xmlns:a16="http://schemas.microsoft.com/office/drawing/2014/main" id="{D4B57807-A92B-6B1B-FB15-644E102CFCBA}"/>
              </a:ext>
            </a:extLst>
          </p:cNvPr>
          <p:cNvSpPr/>
          <p:nvPr/>
        </p:nvSpPr>
        <p:spPr>
          <a:xfrm>
            <a:off x="9155959" y="4640324"/>
            <a:ext cx="134975" cy="161338"/>
          </a:xfrm>
          <a:prstGeom prst="ellipse">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0" name="직선 연결선 69">
            <a:extLst>
              <a:ext uri="{FF2B5EF4-FFF2-40B4-BE49-F238E27FC236}">
                <a16:creationId xmlns:a16="http://schemas.microsoft.com/office/drawing/2014/main" id="{492B32E7-2877-21CE-1DAE-2456426C9A2A}"/>
              </a:ext>
            </a:extLst>
          </p:cNvPr>
          <p:cNvCxnSpPr>
            <a:cxnSpLocks/>
            <a:stCxn id="68" idx="0"/>
            <a:endCxn id="69" idx="4"/>
          </p:cNvCxnSpPr>
          <p:nvPr/>
        </p:nvCxnSpPr>
        <p:spPr>
          <a:xfrm flipH="1" flipV="1">
            <a:off x="9223447" y="4801662"/>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783C920E-B78D-A565-4BAA-C5E9F99EDACC}"/>
              </a:ext>
            </a:extLst>
          </p:cNvPr>
          <p:cNvSpPr txBox="1"/>
          <p:nvPr/>
        </p:nvSpPr>
        <p:spPr>
          <a:xfrm>
            <a:off x="10072922" y="4990887"/>
            <a:ext cx="777318" cy="275496"/>
          </a:xfrm>
          <a:prstGeom prst="rect">
            <a:avLst/>
          </a:prstGeom>
          <a:solidFill>
            <a:schemeClr val="accent5">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상고</a:t>
            </a:r>
          </a:p>
        </p:txBody>
      </p:sp>
      <p:sp>
        <p:nvSpPr>
          <p:cNvPr id="73" name="타원 72">
            <a:extLst>
              <a:ext uri="{FF2B5EF4-FFF2-40B4-BE49-F238E27FC236}">
                <a16:creationId xmlns:a16="http://schemas.microsoft.com/office/drawing/2014/main" id="{7E5EB23F-BD09-A75D-F53B-54D12C117DFA}"/>
              </a:ext>
            </a:extLst>
          </p:cNvPr>
          <p:cNvSpPr/>
          <p:nvPr/>
        </p:nvSpPr>
        <p:spPr>
          <a:xfrm>
            <a:off x="10394459" y="4640761"/>
            <a:ext cx="134244" cy="160464"/>
          </a:xfrm>
          <a:prstGeom prst="ellipse">
            <a:avLst/>
          </a:prstGeom>
          <a:solidFill>
            <a:schemeClr val="accent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4" name="직선 연결선 73">
            <a:extLst>
              <a:ext uri="{FF2B5EF4-FFF2-40B4-BE49-F238E27FC236}">
                <a16:creationId xmlns:a16="http://schemas.microsoft.com/office/drawing/2014/main" id="{911E25DE-E6A5-29E0-3C71-2DA8EDF66865}"/>
              </a:ext>
            </a:extLst>
          </p:cNvPr>
          <p:cNvCxnSpPr>
            <a:cxnSpLocks/>
            <a:stCxn id="72" idx="0"/>
            <a:endCxn id="73" idx="4"/>
          </p:cNvCxnSpPr>
          <p:nvPr/>
        </p:nvCxnSpPr>
        <p:spPr>
          <a:xfrm flipV="1">
            <a:off x="10461581" y="4801225"/>
            <a:ext cx="0" cy="18966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C7C1A4AC-D633-0FF4-6D55-0999B390F75F}"/>
              </a:ext>
            </a:extLst>
          </p:cNvPr>
          <p:cNvSpPr txBox="1"/>
          <p:nvPr/>
        </p:nvSpPr>
        <p:spPr>
          <a:xfrm>
            <a:off x="11005450" y="4990887"/>
            <a:ext cx="777318" cy="275496"/>
          </a:xfrm>
          <a:prstGeom prst="rect">
            <a:avLst/>
          </a:prstGeom>
          <a:solidFill>
            <a:schemeClr val="accent5">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a:t>
            </a:r>
          </a:p>
        </p:txBody>
      </p:sp>
      <p:sp>
        <p:nvSpPr>
          <p:cNvPr id="76" name="타원 75">
            <a:extLst>
              <a:ext uri="{FF2B5EF4-FFF2-40B4-BE49-F238E27FC236}">
                <a16:creationId xmlns:a16="http://schemas.microsoft.com/office/drawing/2014/main" id="{1D5D104D-0371-DBE7-2EEA-9D9F10330D96}"/>
              </a:ext>
            </a:extLst>
          </p:cNvPr>
          <p:cNvSpPr/>
          <p:nvPr/>
        </p:nvSpPr>
        <p:spPr>
          <a:xfrm>
            <a:off x="11326987" y="4640761"/>
            <a:ext cx="134244" cy="160464"/>
          </a:xfrm>
          <a:prstGeom prst="ellipse">
            <a:avLst/>
          </a:prstGeom>
          <a:solidFill>
            <a:schemeClr val="accent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7" name="직선 연결선 76">
            <a:extLst>
              <a:ext uri="{FF2B5EF4-FFF2-40B4-BE49-F238E27FC236}">
                <a16:creationId xmlns:a16="http://schemas.microsoft.com/office/drawing/2014/main" id="{8E39389F-6774-1C0B-D93D-EAA30DCDC907}"/>
              </a:ext>
            </a:extLst>
          </p:cNvPr>
          <p:cNvCxnSpPr>
            <a:cxnSpLocks/>
            <a:stCxn id="75" idx="0"/>
            <a:endCxn id="76" idx="4"/>
          </p:cNvCxnSpPr>
          <p:nvPr/>
        </p:nvCxnSpPr>
        <p:spPr>
          <a:xfrm flipV="1">
            <a:off x="11394109" y="4801225"/>
            <a:ext cx="0" cy="18966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072E47BE-B5D1-B823-A487-E900E539B2B8}"/>
              </a:ext>
            </a:extLst>
          </p:cNvPr>
          <p:cNvSpPr txBox="1"/>
          <p:nvPr/>
        </p:nvSpPr>
        <p:spPr>
          <a:xfrm>
            <a:off x="3042405" y="6249547"/>
            <a:ext cx="2304658" cy="461665"/>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인용발명이 출원 전 공지되었다는 증거를 출원 후 작성</a:t>
            </a:r>
          </a:p>
        </p:txBody>
      </p:sp>
      <p:cxnSp>
        <p:nvCxnSpPr>
          <p:cNvPr id="81" name="직선 연결선 80">
            <a:extLst>
              <a:ext uri="{FF2B5EF4-FFF2-40B4-BE49-F238E27FC236}">
                <a16:creationId xmlns:a16="http://schemas.microsoft.com/office/drawing/2014/main" id="{A2409878-C3FC-0A47-02A4-ED286D3548FB}"/>
              </a:ext>
            </a:extLst>
          </p:cNvPr>
          <p:cNvCxnSpPr>
            <a:stCxn id="79" idx="0"/>
            <a:endCxn id="35" idx="2"/>
          </p:cNvCxnSpPr>
          <p:nvPr/>
        </p:nvCxnSpPr>
        <p:spPr>
          <a:xfrm flipV="1">
            <a:off x="4194734" y="6081655"/>
            <a:ext cx="0" cy="16789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2" name="타원 81">
            <a:extLst>
              <a:ext uri="{FF2B5EF4-FFF2-40B4-BE49-F238E27FC236}">
                <a16:creationId xmlns:a16="http://schemas.microsoft.com/office/drawing/2014/main" id="{D81804DC-48DB-4A1D-40CC-C5D05A4842A8}"/>
              </a:ext>
            </a:extLst>
          </p:cNvPr>
          <p:cNvSpPr/>
          <p:nvPr/>
        </p:nvSpPr>
        <p:spPr>
          <a:xfrm>
            <a:off x="2760888" y="6380285"/>
            <a:ext cx="269967" cy="269967"/>
          </a:xfrm>
          <a:prstGeom prst="ellipse">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1</a:t>
            </a:r>
            <a:endParaRPr lang="ko-KR" altLang="en-US" dirty="0"/>
          </a:p>
        </p:txBody>
      </p:sp>
      <p:sp>
        <p:nvSpPr>
          <p:cNvPr id="83" name="타원 82">
            <a:extLst>
              <a:ext uri="{FF2B5EF4-FFF2-40B4-BE49-F238E27FC236}">
                <a16:creationId xmlns:a16="http://schemas.microsoft.com/office/drawing/2014/main" id="{E4EC884C-BBA8-DA96-5BDB-DEB01CF17C59}"/>
              </a:ext>
            </a:extLst>
          </p:cNvPr>
          <p:cNvSpPr/>
          <p:nvPr/>
        </p:nvSpPr>
        <p:spPr>
          <a:xfrm>
            <a:off x="8030300" y="6423129"/>
            <a:ext cx="269967" cy="269967"/>
          </a:xfrm>
          <a:prstGeom prst="ellipse">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3</a:t>
            </a:r>
            <a:endParaRPr lang="ko-KR" altLang="en-US" dirty="0"/>
          </a:p>
        </p:txBody>
      </p:sp>
      <p:cxnSp>
        <p:nvCxnSpPr>
          <p:cNvPr id="85" name="연결선: 구부러짐 84">
            <a:extLst>
              <a:ext uri="{FF2B5EF4-FFF2-40B4-BE49-F238E27FC236}">
                <a16:creationId xmlns:a16="http://schemas.microsoft.com/office/drawing/2014/main" id="{C95D0382-D1DA-FD7A-C4F8-F82B163FBD74}"/>
              </a:ext>
            </a:extLst>
          </p:cNvPr>
          <p:cNvCxnSpPr>
            <a:stCxn id="33" idx="0"/>
            <a:endCxn id="60" idx="1"/>
          </p:cNvCxnSpPr>
          <p:nvPr/>
        </p:nvCxnSpPr>
        <p:spPr>
          <a:xfrm rot="16200000" flipH="1">
            <a:off x="4811561" y="4023497"/>
            <a:ext cx="23936" cy="1257591"/>
          </a:xfrm>
          <a:prstGeom prst="curvedConnector3">
            <a:avLst>
              <a:gd name="adj1" fmla="val -955047"/>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6" name="연결선: 구부러짐 85">
            <a:extLst>
              <a:ext uri="{FF2B5EF4-FFF2-40B4-BE49-F238E27FC236}">
                <a16:creationId xmlns:a16="http://schemas.microsoft.com/office/drawing/2014/main" id="{19A6F204-FC37-21C7-1F6B-87F2BC704456}"/>
              </a:ext>
            </a:extLst>
          </p:cNvPr>
          <p:cNvCxnSpPr>
            <a:cxnSpLocks/>
            <a:stCxn id="60" idx="0"/>
            <a:endCxn id="69" idx="1"/>
          </p:cNvCxnSpPr>
          <p:nvPr/>
        </p:nvCxnSpPr>
        <p:spPr>
          <a:xfrm rot="16200000" flipH="1">
            <a:off x="7326161" y="2814387"/>
            <a:ext cx="23190" cy="3675939"/>
          </a:xfrm>
          <a:prstGeom prst="curvedConnector3">
            <a:avLst>
              <a:gd name="adj1" fmla="val -2417986"/>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0" name="TextBox 89">
            <a:extLst>
              <a:ext uri="{FF2B5EF4-FFF2-40B4-BE49-F238E27FC236}">
                <a16:creationId xmlns:a16="http://schemas.microsoft.com/office/drawing/2014/main" id="{08BAD44D-22D2-17A7-0752-9240CB7A92CE}"/>
              </a:ext>
            </a:extLst>
          </p:cNvPr>
          <p:cNvSpPr txBox="1"/>
          <p:nvPr/>
        </p:nvSpPr>
        <p:spPr>
          <a:xfrm>
            <a:off x="4404108" y="4366765"/>
            <a:ext cx="922047" cy="338554"/>
          </a:xfrm>
          <a:prstGeom prst="rect">
            <a:avLst/>
          </a:prstGeom>
          <a:noFill/>
        </p:spPr>
        <p:txBody>
          <a:bodyPr wrap="square" rtlCol="0">
            <a:spAutoFit/>
          </a:bodyPr>
          <a:lstStyle/>
          <a:p>
            <a:r>
              <a:rPr lang="ko-KR" altLang="en-US" sz="1600" dirty="0">
                <a:solidFill>
                  <a:schemeClr val="bg1">
                    <a:lumMod val="95000"/>
                  </a:schemeClr>
                </a:solidFill>
                <a:highlight>
                  <a:srgbClr val="FF0000"/>
                </a:highlight>
              </a:rPr>
              <a:t>주지부합</a:t>
            </a:r>
          </a:p>
        </p:txBody>
      </p:sp>
      <p:sp>
        <p:nvSpPr>
          <p:cNvPr id="92" name="TextBox 91">
            <a:extLst>
              <a:ext uri="{FF2B5EF4-FFF2-40B4-BE49-F238E27FC236}">
                <a16:creationId xmlns:a16="http://schemas.microsoft.com/office/drawing/2014/main" id="{DDECAD3A-E16A-82A1-FDAA-61BF9CAA4737}"/>
              </a:ext>
            </a:extLst>
          </p:cNvPr>
          <p:cNvSpPr txBox="1"/>
          <p:nvPr/>
        </p:nvSpPr>
        <p:spPr>
          <a:xfrm>
            <a:off x="6536469" y="3923531"/>
            <a:ext cx="922047" cy="338554"/>
          </a:xfrm>
          <a:prstGeom prst="rect">
            <a:avLst/>
          </a:prstGeom>
          <a:noFill/>
        </p:spPr>
        <p:txBody>
          <a:bodyPr wrap="square" rtlCol="0">
            <a:spAutoFit/>
          </a:bodyPr>
          <a:lstStyle/>
          <a:p>
            <a:r>
              <a:rPr lang="ko-KR" altLang="en-US" sz="1600" dirty="0">
                <a:solidFill>
                  <a:schemeClr val="bg1">
                    <a:lumMod val="95000"/>
                  </a:schemeClr>
                </a:solidFill>
                <a:highlight>
                  <a:srgbClr val="FF0000"/>
                </a:highlight>
              </a:rPr>
              <a:t>주지부합</a:t>
            </a:r>
          </a:p>
        </p:txBody>
      </p:sp>
      <p:sp>
        <p:nvSpPr>
          <p:cNvPr id="93" name="타원 92">
            <a:extLst>
              <a:ext uri="{FF2B5EF4-FFF2-40B4-BE49-F238E27FC236}">
                <a16:creationId xmlns:a16="http://schemas.microsoft.com/office/drawing/2014/main" id="{8AB91872-BF0F-EAF6-CD53-115E37DC3F49}"/>
              </a:ext>
            </a:extLst>
          </p:cNvPr>
          <p:cNvSpPr/>
          <p:nvPr/>
        </p:nvSpPr>
        <p:spPr>
          <a:xfrm>
            <a:off x="6351078" y="3971423"/>
            <a:ext cx="269967" cy="269967"/>
          </a:xfrm>
          <a:prstGeom prst="ellipse">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t>2</a:t>
            </a:r>
            <a:endParaRPr lang="ko-KR" altLang="en-US" dirty="0"/>
          </a:p>
        </p:txBody>
      </p:sp>
      <p:sp>
        <p:nvSpPr>
          <p:cNvPr id="11" name="TextBox 10">
            <a:extLst>
              <a:ext uri="{FF2B5EF4-FFF2-40B4-BE49-F238E27FC236}">
                <a16:creationId xmlns:a16="http://schemas.microsoft.com/office/drawing/2014/main" id="{BA8B0E27-0F31-F74A-0942-AAB0A7D1A238}"/>
              </a:ext>
            </a:extLst>
          </p:cNvPr>
          <p:cNvSpPr txBox="1"/>
          <p:nvPr/>
        </p:nvSpPr>
        <p:spPr>
          <a:xfrm>
            <a:off x="6877972" y="5619990"/>
            <a:ext cx="2304658" cy="276999"/>
          </a:xfrm>
          <a:prstGeom prst="rect">
            <a:avLst/>
          </a:prstGeom>
          <a:solidFill>
            <a:schemeClr val="bg1"/>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새로운 정정부적법 사유 주장 불가</a:t>
            </a:r>
          </a:p>
        </p:txBody>
      </p:sp>
      <p:cxnSp>
        <p:nvCxnSpPr>
          <p:cNvPr id="12" name="직선 연결선 11">
            <a:extLst>
              <a:ext uri="{FF2B5EF4-FFF2-40B4-BE49-F238E27FC236}">
                <a16:creationId xmlns:a16="http://schemas.microsoft.com/office/drawing/2014/main" id="{C6C81273-69AF-6E97-E79A-26CAC1272471}"/>
              </a:ext>
            </a:extLst>
          </p:cNvPr>
          <p:cNvCxnSpPr>
            <a:cxnSpLocks/>
            <a:stCxn id="11" idx="0"/>
          </p:cNvCxnSpPr>
          <p:nvPr/>
        </p:nvCxnSpPr>
        <p:spPr>
          <a:xfrm flipV="1">
            <a:off x="8030301" y="5267134"/>
            <a:ext cx="0" cy="35285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말풍선: 모서리가 둥근 사각형 12">
            <a:extLst>
              <a:ext uri="{FF2B5EF4-FFF2-40B4-BE49-F238E27FC236}">
                <a16:creationId xmlns:a16="http://schemas.microsoft.com/office/drawing/2014/main" id="{30760454-DEAB-C273-764D-C4FDC7C9BC26}"/>
              </a:ext>
            </a:extLst>
          </p:cNvPr>
          <p:cNvSpPr/>
          <p:nvPr/>
        </p:nvSpPr>
        <p:spPr>
          <a:xfrm>
            <a:off x="2373934" y="3972304"/>
            <a:ext cx="1564575" cy="461665"/>
          </a:xfrm>
          <a:prstGeom prst="wedgeRoundRectCallout">
            <a:avLst>
              <a:gd name="adj1" fmla="val 61001"/>
              <a:gd name="adj2" fmla="val 101194"/>
              <a:gd name="adj3" fmla="val 16667"/>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ko-KR" altLang="en-US" sz="1100" dirty="0"/>
              <a:t>특허권자의 의견서</a:t>
            </a:r>
            <a:r>
              <a:rPr lang="en-US" altLang="ko-KR" sz="1100" dirty="0"/>
              <a:t>/</a:t>
            </a:r>
          </a:p>
          <a:p>
            <a:pPr algn="ctr"/>
            <a:r>
              <a:rPr lang="ko-KR" altLang="en-US" sz="1100" dirty="0"/>
              <a:t>정정명세서 </a:t>
            </a:r>
            <a:r>
              <a:rPr lang="ko-KR" altLang="en-US" sz="1100" dirty="0" err="1"/>
              <a:t>재보정</a:t>
            </a:r>
            <a:r>
              <a:rPr lang="ko-KR" altLang="en-US" sz="1100" dirty="0"/>
              <a:t> 기회</a:t>
            </a:r>
            <a:endParaRPr lang="en-US" altLang="ko-KR" sz="1100" dirty="0"/>
          </a:p>
        </p:txBody>
      </p:sp>
      <p:sp>
        <p:nvSpPr>
          <p:cNvPr id="22" name="TextBox 21">
            <a:extLst>
              <a:ext uri="{FF2B5EF4-FFF2-40B4-BE49-F238E27FC236}">
                <a16:creationId xmlns:a16="http://schemas.microsoft.com/office/drawing/2014/main" id="{E6E2D57C-A45A-5501-EF46-155AD99D5D45}"/>
              </a:ext>
            </a:extLst>
          </p:cNvPr>
          <p:cNvSpPr txBox="1"/>
          <p:nvPr/>
        </p:nvSpPr>
        <p:spPr>
          <a:xfrm>
            <a:off x="4465355" y="5203091"/>
            <a:ext cx="806631" cy="523220"/>
          </a:xfrm>
          <a:prstGeom prst="rect">
            <a:avLst/>
          </a:prstGeom>
          <a:noFill/>
        </p:spPr>
        <p:txBody>
          <a:bodyPr wrap="none" rtlCol="0">
            <a:spAutoFit/>
          </a:bodyPr>
          <a:lstStyle/>
          <a:p>
            <a:pPr algn="ctr"/>
            <a:r>
              <a:rPr lang="ko-KR" altLang="en-US" sz="1400" dirty="0">
                <a:solidFill>
                  <a:srgbClr val="FF0000"/>
                </a:solidFill>
              </a:rPr>
              <a:t>제</a:t>
            </a:r>
            <a:r>
              <a:rPr lang="en-US" altLang="ko-KR" sz="1400" dirty="0">
                <a:solidFill>
                  <a:srgbClr val="FF0000"/>
                </a:solidFill>
              </a:rPr>
              <a:t>136</a:t>
            </a:r>
            <a:r>
              <a:rPr lang="ko-KR" altLang="en-US" sz="1400" dirty="0">
                <a:solidFill>
                  <a:srgbClr val="FF0000"/>
                </a:solidFill>
              </a:rPr>
              <a:t>조</a:t>
            </a:r>
            <a:endParaRPr lang="en-US" altLang="ko-KR" sz="1400" dirty="0">
              <a:solidFill>
                <a:srgbClr val="FF0000"/>
              </a:solidFill>
            </a:endParaRPr>
          </a:p>
          <a:p>
            <a:pPr algn="ctr"/>
            <a:r>
              <a:rPr lang="ko-KR" altLang="en-US" sz="1400" dirty="0">
                <a:solidFill>
                  <a:srgbClr val="FF0000"/>
                </a:solidFill>
              </a:rPr>
              <a:t>제</a:t>
            </a:r>
            <a:r>
              <a:rPr lang="en-US" altLang="ko-KR" sz="1400" dirty="0">
                <a:solidFill>
                  <a:srgbClr val="FF0000"/>
                </a:solidFill>
              </a:rPr>
              <a:t>6</a:t>
            </a:r>
            <a:r>
              <a:rPr lang="ko-KR" altLang="en-US" sz="1400" dirty="0">
                <a:solidFill>
                  <a:srgbClr val="FF0000"/>
                </a:solidFill>
              </a:rPr>
              <a:t>항</a:t>
            </a:r>
          </a:p>
        </p:txBody>
      </p:sp>
    </p:spTree>
    <p:extLst>
      <p:ext uri="{BB962C8B-B14F-4D97-AF65-F5344CB8AC3E}">
        <p14:creationId xmlns:p14="http://schemas.microsoft.com/office/powerpoint/2010/main" val="1191267042"/>
      </p:ext>
    </p:extLst>
  </p:cSld>
  <p:clrMapOvr>
    <a:masterClrMapping/>
  </p:clrMapOvr>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186</a:t>
            </a:r>
            <a:r>
              <a:rPr lang="ko-KR" altLang="en-US" dirty="0"/>
              <a:t>조</a:t>
            </a:r>
          </a:p>
        </p:txBody>
      </p:sp>
      <p:sp>
        <p:nvSpPr>
          <p:cNvPr id="3" name="텍스트 개체 틀 2"/>
          <p:cNvSpPr>
            <a:spLocks noGrp="1"/>
          </p:cNvSpPr>
          <p:nvPr>
            <p:ph type="body" sz="quarter" idx="13"/>
          </p:nvPr>
        </p:nvSpPr>
        <p:spPr/>
        <p:txBody>
          <a:bodyPr/>
          <a:lstStyle/>
          <a:p>
            <a:r>
              <a:rPr lang="ko-KR" altLang="en-US" dirty="0"/>
              <a:t>자백과 자백간주</a:t>
            </a:r>
          </a:p>
        </p:txBody>
      </p:sp>
      <p:cxnSp>
        <p:nvCxnSpPr>
          <p:cNvPr id="10" name="직선 연결선 9"/>
          <p:cNvCxnSpPr/>
          <p:nvPr/>
        </p:nvCxnSpPr>
        <p:spPr>
          <a:xfrm>
            <a:off x="77875" y="215532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77875" y="976902"/>
            <a:ext cx="11936323" cy="1169551"/>
          </a:xfrm>
          <a:prstGeom prst="rect">
            <a:avLst/>
          </a:prstGeom>
          <a:noFill/>
        </p:spPr>
        <p:txBody>
          <a:bodyPr wrap="square" rtlCol="0">
            <a:spAutoFit/>
          </a:bodyPr>
          <a:lstStyle/>
          <a:p>
            <a:pPr fontAlgn="base"/>
            <a:r>
              <a:rPr lang="ko-KR" altLang="en-US" sz="1400" dirty="0">
                <a:solidFill>
                  <a:schemeClr val="tx2"/>
                </a:solidFill>
              </a:rPr>
              <a:t>특허법이나 행정소송법에 자백 또는 자백간주에 대하여 아무런 특별규정을 두고 있지 않으므로 </a:t>
            </a:r>
            <a:r>
              <a:rPr lang="ko-KR" altLang="en-US" sz="1400" dirty="0" err="1">
                <a:solidFill>
                  <a:schemeClr val="tx2"/>
                </a:solidFill>
              </a:rPr>
              <a:t>심결취소소송에</a:t>
            </a:r>
            <a:r>
              <a:rPr lang="ko-KR" altLang="en-US" sz="1400" dirty="0">
                <a:solidFill>
                  <a:schemeClr val="tx2"/>
                </a:solidFill>
              </a:rPr>
              <a:t> 민사소송법의 자백 또는 자백간주 규정이 준용되는지 문제이다</a:t>
            </a:r>
            <a:r>
              <a:rPr lang="en-US" altLang="ko-KR" sz="1400" dirty="0">
                <a:solidFill>
                  <a:schemeClr val="tx2"/>
                </a:solidFill>
              </a:rPr>
              <a:t>. </a:t>
            </a:r>
            <a:r>
              <a:rPr lang="ko-KR" altLang="en-US" sz="1400" dirty="0">
                <a:solidFill>
                  <a:schemeClr val="tx2"/>
                </a:solidFill>
              </a:rPr>
              <a:t>이에 대하여 대법원 </a:t>
            </a:r>
            <a:r>
              <a:rPr lang="en-US" altLang="ko-KR" sz="1400" dirty="0">
                <a:solidFill>
                  <a:schemeClr val="tx2"/>
                </a:solidFill>
              </a:rPr>
              <a:t>2000. 12. 12. </a:t>
            </a:r>
            <a:r>
              <a:rPr lang="ko-KR" altLang="en-US" sz="1400" dirty="0">
                <a:solidFill>
                  <a:schemeClr val="tx2"/>
                </a:solidFill>
              </a:rPr>
              <a:t>선고 </a:t>
            </a:r>
            <a:r>
              <a:rPr lang="en-US" altLang="ko-KR" sz="1400" dirty="0">
                <a:solidFill>
                  <a:schemeClr val="tx2"/>
                </a:solidFill>
              </a:rPr>
              <a:t>2000</a:t>
            </a:r>
            <a:r>
              <a:rPr lang="ko-KR" altLang="en-US" sz="1400" dirty="0">
                <a:solidFill>
                  <a:schemeClr val="tx2"/>
                </a:solidFill>
              </a:rPr>
              <a:t>후</a:t>
            </a:r>
            <a:r>
              <a:rPr lang="en-US" altLang="ko-KR" sz="1400" dirty="0">
                <a:solidFill>
                  <a:schemeClr val="tx2"/>
                </a:solidFill>
              </a:rPr>
              <a:t>1542 </a:t>
            </a:r>
            <a:r>
              <a:rPr lang="ko-KR" altLang="en-US" sz="1400" dirty="0">
                <a:solidFill>
                  <a:schemeClr val="tx2"/>
                </a:solidFill>
              </a:rPr>
              <a:t>판결은 “행정소송인 </a:t>
            </a:r>
            <a:r>
              <a:rPr lang="ko-KR" altLang="en-US" sz="1400" dirty="0" err="1">
                <a:solidFill>
                  <a:schemeClr val="tx2"/>
                </a:solidFill>
              </a:rPr>
              <a:t>심결취소소송에서도</a:t>
            </a:r>
            <a:r>
              <a:rPr lang="ko-KR" altLang="en-US" sz="1400" dirty="0">
                <a:solidFill>
                  <a:schemeClr val="tx2"/>
                </a:solidFill>
              </a:rPr>
              <a:t> </a:t>
            </a:r>
            <a:r>
              <a:rPr lang="ko-KR" altLang="en-US" sz="1400" dirty="0">
                <a:solidFill>
                  <a:schemeClr val="accent3">
                    <a:lumMod val="50000"/>
                  </a:schemeClr>
                </a:solidFill>
                <a:highlight>
                  <a:srgbClr val="FFFF00"/>
                </a:highlight>
              </a:rPr>
              <a:t>원칙적으로 변론주의가 적용되고</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따라서 자백 또는 자백간주도 인정되나</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자백의 대상은 사실이고 이러한 사실에 대한 법적 판단 내지 평가는 자백의 대상이 되지 아니한다</a:t>
            </a:r>
            <a:r>
              <a:rPr lang="en-US" altLang="ko-KR" sz="1400" dirty="0">
                <a:solidFill>
                  <a:schemeClr val="accent3">
                    <a:lumMod val="50000"/>
                  </a:schemeClr>
                </a:solidFill>
                <a:highlight>
                  <a:srgbClr val="FFFF00"/>
                </a:highlight>
              </a:rPr>
              <a:t>.”</a:t>
            </a:r>
            <a:r>
              <a:rPr lang="ko-KR" altLang="en-US" sz="1400" dirty="0">
                <a:solidFill>
                  <a:schemeClr val="tx2"/>
                </a:solidFill>
              </a:rPr>
              <a:t>고 하여</a:t>
            </a:r>
            <a:r>
              <a:rPr lang="en-US" altLang="ko-KR" sz="1400" dirty="0">
                <a:solidFill>
                  <a:schemeClr val="tx2"/>
                </a:solidFill>
              </a:rPr>
              <a:t>, </a:t>
            </a:r>
            <a:r>
              <a:rPr lang="ko-KR" altLang="en-US" sz="1400" dirty="0">
                <a:solidFill>
                  <a:schemeClr val="tx2"/>
                </a:solidFill>
              </a:rPr>
              <a:t>「</a:t>
            </a:r>
            <a:r>
              <a:rPr lang="ko-KR" altLang="en-US" sz="1400" dirty="0" err="1">
                <a:solidFill>
                  <a:schemeClr val="tx2"/>
                </a:solidFill>
              </a:rPr>
              <a:t>사실」과</a:t>
            </a:r>
            <a:r>
              <a:rPr lang="ko-KR" altLang="en-US" sz="1400" dirty="0">
                <a:solidFill>
                  <a:schemeClr val="tx2"/>
                </a:solidFill>
              </a:rPr>
              <a:t> 「법적 판단 내지 </a:t>
            </a:r>
            <a:r>
              <a:rPr lang="ko-KR" altLang="en-US" sz="1400" dirty="0" err="1">
                <a:solidFill>
                  <a:schemeClr val="tx2"/>
                </a:solidFill>
              </a:rPr>
              <a:t>평가」를</a:t>
            </a:r>
            <a:r>
              <a:rPr lang="ko-KR" altLang="en-US" sz="1400" dirty="0">
                <a:solidFill>
                  <a:schemeClr val="tx2"/>
                </a:solidFill>
              </a:rPr>
              <a:t> 구분하고 있다</a:t>
            </a:r>
            <a:r>
              <a:rPr lang="en-US" altLang="ko-KR" sz="1400" dirty="0">
                <a:solidFill>
                  <a:schemeClr val="tx2"/>
                </a:solidFill>
              </a:rPr>
              <a:t>. </a:t>
            </a:r>
            <a:r>
              <a:rPr lang="ko-KR" altLang="en-US" sz="1400" dirty="0">
                <a:solidFill>
                  <a:schemeClr val="tx2"/>
                </a:solidFill>
              </a:rPr>
              <a:t>다만</a:t>
            </a:r>
            <a:r>
              <a:rPr lang="en-US" altLang="ko-KR" sz="1400" dirty="0">
                <a:solidFill>
                  <a:schemeClr val="tx2"/>
                </a:solidFill>
              </a:rPr>
              <a:t>, </a:t>
            </a:r>
            <a:r>
              <a:rPr lang="ko-KR" altLang="en-US" sz="1400" dirty="0">
                <a:solidFill>
                  <a:schemeClr val="tx2"/>
                </a:solidFill>
              </a:rPr>
              <a:t>어떤 개념이 사실개념인지 아니면 평가개념인지에 대한 구별은 쉽지 아니하다</a:t>
            </a:r>
            <a:r>
              <a:rPr lang="en-US" altLang="ko-KR" sz="1400" dirty="0">
                <a:solidFill>
                  <a:schemeClr val="tx2"/>
                </a:solidFill>
              </a:rPr>
              <a:t>. </a:t>
            </a:r>
            <a:r>
              <a:rPr lang="ko-KR" altLang="en-US" sz="1400" dirty="0">
                <a:solidFill>
                  <a:schemeClr val="accent3">
                    <a:lumMod val="50000"/>
                  </a:schemeClr>
                </a:solidFill>
                <a:highlight>
                  <a:srgbClr val="FFFF00"/>
                </a:highlight>
              </a:rPr>
              <a:t>사실에 대한 </a:t>
            </a:r>
            <a:r>
              <a:rPr lang="ko-KR" altLang="en-US" sz="1400" dirty="0">
                <a:solidFill>
                  <a:schemeClr val="accent3">
                    <a:lumMod val="50000"/>
                  </a:schemeClr>
                </a:solidFill>
                <a:highlight>
                  <a:srgbClr val="00FFFF"/>
                </a:highlight>
              </a:rPr>
              <a:t>진술</a:t>
            </a:r>
            <a:r>
              <a:rPr lang="ko-KR" altLang="en-US" sz="1400" dirty="0">
                <a:solidFill>
                  <a:schemeClr val="accent3">
                    <a:lumMod val="50000"/>
                  </a:schemeClr>
                </a:solidFill>
                <a:highlight>
                  <a:srgbClr val="FFFF00"/>
                </a:highlight>
              </a:rPr>
              <a:t>인지 아니면 법적 판단 내지 평가에 관한 </a:t>
            </a:r>
            <a:r>
              <a:rPr lang="ko-KR" altLang="en-US" sz="1400" dirty="0">
                <a:solidFill>
                  <a:schemeClr val="accent3">
                    <a:lumMod val="50000"/>
                  </a:schemeClr>
                </a:solidFill>
                <a:highlight>
                  <a:srgbClr val="00FFFF"/>
                </a:highlight>
              </a:rPr>
              <a:t>진술</a:t>
            </a:r>
            <a:r>
              <a:rPr lang="ko-KR" altLang="en-US" sz="1400" dirty="0">
                <a:solidFill>
                  <a:schemeClr val="accent3">
                    <a:lumMod val="50000"/>
                  </a:schemeClr>
                </a:solidFill>
                <a:highlight>
                  <a:srgbClr val="FFFF00"/>
                </a:highlight>
              </a:rPr>
              <a:t>인지는 당사자 진술의 구체적 내용과 경위</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변론의 진행 경과 등을 종합적으로 고려하여 판단</a:t>
            </a:r>
            <a:r>
              <a:rPr lang="ko-KR" altLang="en-US" sz="1400" dirty="0">
                <a:solidFill>
                  <a:schemeClr val="tx2"/>
                </a:solidFill>
              </a:rPr>
              <a:t>하여야 한다</a:t>
            </a:r>
            <a:r>
              <a:rPr lang="en-US" altLang="ko-KR" sz="1400" dirty="0">
                <a:solidFill>
                  <a:schemeClr val="tx2"/>
                </a:solidFill>
              </a:rPr>
              <a:t>.</a:t>
            </a:r>
          </a:p>
        </p:txBody>
      </p:sp>
      <p:graphicFrame>
        <p:nvGraphicFramePr>
          <p:cNvPr id="12" name="표 11"/>
          <p:cNvGraphicFramePr>
            <a:graphicFrameLocks noGrp="1"/>
          </p:cNvGraphicFramePr>
          <p:nvPr/>
        </p:nvGraphicFramePr>
        <p:xfrm>
          <a:off x="708025" y="2472266"/>
          <a:ext cx="6759576" cy="1112520"/>
        </p:xfrm>
        <a:graphic>
          <a:graphicData uri="http://schemas.openxmlformats.org/drawingml/2006/table">
            <a:tbl>
              <a:tblPr>
                <a:tableStyleId>{8799B23B-EC83-4686-B30A-512413B5E67A}</a:tableStyleId>
              </a:tblPr>
              <a:tblGrid>
                <a:gridCol w="2253192">
                  <a:extLst>
                    <a:ext uri="{9D8B030D-6E8A-4147-A177-3AD203B41FA5}">
                      <a16:colId xmlns:a16="http://schemas.microsoft.com/office/drawing/2014/main" val="20000"/>
                    </a:ext>
                  </a:extLst>
                </a:gridCol>
                <a:gridCol w="2253192">
                  <a:extLst>
                    <a:ext uri="{9D8B030D-6E8A-4147-A177-3AD203B41FA5}">
                      <a16:colId xmlns:a16="http://schemas.microsoft.com/office/drawing/2014/main" val="20001"/>
                    </a:ext>
                  </a:extLst>
                </a:gridCol>
                <a:gridCol w="2253192">
                  <a:extLst>
                    <a:ext uri="{9D8B030D-6E8A-4147-A177-3AD203B41FA5}">
                      <a16:colId xmlns:a16="http://schemas.microsoft.com/office/drawing/2014/main" val="20002"/>
                    </a:ext>
                  </a:extLst>
                </a:gridCol>
              </a:tblGrid>
              <a:tr h="370840">
                <a:tc>
                  <a:txBody>
                    <a:bodyPr/>
                    <a:lstStyle/>
                    <a:p>
                      <a:pPr algn="ctr" latinLnBrk="1"/>
                      <a:r>
                        <a:rPr lang="ko-KR" altLang="en-US" sz="1600" dirty="0"/>
                        <a:t>특허심판</a:t>
                      </a:r>
                    </a:p>
                  </a:txBody>
                  <a:tcPr>
                    <a:solidFill>
                      <a:schemeClr val="accent1">
                        <a:lumMod val="20000"/>
                        <a:lumOff val="80000"/>
                      </a:schemeClr>
                    </a:solidFill>
                  </a:tcPr>
                </a:tc>
                <a:tc>
                  <a:txBody>
                    <a:bodyPr/>
                    <a:lstStyle/>
                    <a:p>
                      <a:pPr algn="ctr" latinLnBrk="1"/>
                      <a:r>
                        <a:rPr lang="ko-KR" altLang="en-US" sz="1600" dirty="0"/>
                        <a:t>사실</a:t>
                      </a:r>
                    </a:p>
                  </a:txBody>
                  <a:tcPr>
                    <a:solidFill>
                      <a:schemeClr val="accent1">
                        <a:lumMod val="20000"/>
                        <a:lumOff val="80000"/>
                      </a:schemeClr>
                    </a:solidFill>
                  </a:tcPr>
                </a:tc>
                <a:tc>
                  <a:txBody>
                    <a:bodyPr/>
                    <a:lstStyle/>
                    <a:p>
                      <a:pPr algn="ctr" latinLnBrk="1"/>
                      <a:r>
                        <a:rPr lang="ko-KR" altLang="en-US" sz="1600" dirty="0"/>
                        <a:t>법적 판단 내지 평가</a:t>
                      </a:r>
                    </a:p>
                  </a:txBody>
                  <a:tcPr>
                    <a:solidFill>
                      <a:schemeClr val="accent1">
                        <a:lumMod val="20000"/>
                        <a:lumOff val="80000"/>
                      </a:schemeClr>
                    </a:solidFill>
                  </a:tcPr>
                </a:tc>
                <a:extLst>
                  <a:ext uri="{0D108BD9-81ED-4DB2-BD59-A6C34878D82A}">
                    <a16:rowId xmlns:a16="http://schemas.microsoft.com/office/drawing/2014/main" val="10000"/>
                  </a:ext>
                </a:extLst>
              </a:tr>
              <a:tr h="370840">
                <a:tc>
                  <a:txBody>
                    <a:bodyPr/>
                    <a:lstStyle/>
                    <a:p>
                      <a:pPr algn="ctr" latinLnBrk="1"/>
                      <a:r>
                        <a:rPr lang="ko-KR" altLang="en-US" sz="1600" dirty="0"/>
                        <a:t>특허심판원 </a:t>
                      </a:r>
                      <a:r>
                        <a:rPr lang="ko-KR" altLang="en-US" sz="1600" dirty="0" err="1"/>
                        <a:t>계속중</a:t>
                      </a:r>
                      <a:endParaRPr lang="ko-KR" altLang="en-US" sz="1600" dirty="0"/>
                    </a:p>
                  </a:txBody>
                  <a:tcPr/>
                </a:tc>
                <a:tc>
                  <a:txBody>
                    <a:bodyPr/>
                    <a:lstStyle/>
                    <a:p>
                      <a:pPr algn="ctr" latinLnBrk="1"/>
                      <a:r>
                        <a:rPr lang="ko-KR" altLang="en-US" sz="1600" dirty="0"/>
                        <a:t>자백 불인정</a:t>
                      </a:r>
                    </a:p>
                  </a:txBody>
                  <a:tcPr/>
                </a:tc>
                <a:tc>
                  <a:txBody>
                    <a:bodyPr/>
                    <a:lstStyle/>
                    <a:p>
                      <a:pPr algn="ctr" latinLnBrk="1"/>
                      <a:r>
                        <a:rPr lang="ko-KR" altLang="en-US" sz="1600" dirty="0"/>
                        <a:t>자백 불인정</a:t>
                      </a:r>
                    </a:p>
                  </a:txBody>
                  <a:tcPr/>
                </a:tc>
                <a:extLst>
                  <a:ext uri="{0D108BD9-81ED-4DB2-BD59-A6C34878D82A}">
                    <a16:rowId xmlns:a16="http://schemas.microsoft.com/office/drawing/2014/main" val="10001"/>
                  </a:ext>
                </a:extLst>
              </a:tr>
              <a:tr h="370840">
                <a:tc>
                  <a:txBody>
                    <a:bodyPr/>
                    <a:lstStyle/>
                    <a:p>
                      <a:pPr algn="ctr" latinLnBrk="1"/>
                      <a:r>
                        <a:rPr lang="ko-KR" altLang="en-US" sz="1600" dirty="0"/>
                        <a:t>특허법원 </a:t>
                      </a:r>
                      <a:r>
                        <a:rPr lang="ko-KR" altLang="en-US" sz="1600" dirty="0" err="1"/>
                        <a:t>계속중</a:t>
                      </a:r>
                      <a:endParaRPr lang="ko-KR" altLang="en-US" sz="1600" dirty="0"/>
                    </a:p>
                  </a:txBody>
                  <a:tcPr/>
                </a:tc>
                <a:tc>
                  <a:txBody>
                    <a:bodyPr/>
                    <a:lstStyle/>
                    <a:p>
                      <a:pPr algn="ctr" latinLnBrk="1"/>
                      <a:r>
                        <a:rPr lang="ko-KR" altLang="en-US" sz="1600" dirty="0"/>
                        <a:t>자백 인정</a:t>
                      </a:r>
                    </a:p>
                  </a:txBody>
                  <a:tcPr/>
                </a:tc>
                <a:tc>
                  <a:txBody>
                    <a:bodyPr/>
                    <a:lstStyle/>
                    <a:p>
                      <a:pPr algn="ctr" latinLnBrk="1"/>
                      <a:r>
                        <a:rPr lang="ko-KR" altLang="en-US" sz="1600" dirty="0"/>
                        <a:t>자백 불인정</a:t>
                      </a:r>
                    </a:p>
                  </a:txBody>
                  <a:tcPr/>
                </a:tc>
                <a:extLst>
                  <a:ext uri="{0D108BD9-81ED-4DB2-BD59-A6C34878D82A}">
                    <a16:rowId xmlns:a16="http://schemas.microsoft.com/office/drawing/2014/main" val="10002"/>
                  </a:ext>
                </a:extLst>
              </a:tr>
            </a:tbl>
          </a:graphicData>
        </a:graphic>
      </p:graphicFrame>
      <p:sp>
        <p:nvSpPr>
          <p:cNvPr id="14" name="모서리가 둥근 사각형 설명선 13"/>
          <p:cNvSpPr/>
          <p:nvPr/>
        </p:nvSpPr>
        <p:spPr>
          <a:xfrm>
            <a:off x="514350" y="4191001"/>
            <a:ext cx="4657725" cy="1830237"/>
          </a:xfrm>
          <a:prstGeom prst="wedgeRoundRectCallout">
            <a:avLst>
              <a:gd name="adj1" fmla="val 31760"/>
              <a:gd name="adj2" fmla="val -93341"/>
              <a:gd name="adj3" fmla="val 16667"/>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Tx/>
              <a:buChar char="-"/>
            </a:pPr>
            <a:r>
              <a:rPr lang="ko-KR" altLang="en-US" sz="1400" dirty="0">
                <a:solidFill>
                  <a:schemeClr val="tx1"/>
                </a:solidFill>
              </a:rPr>
              <a:t>특허발명의 진보성 판단에 제공되는 선행발명이 어떤 구성요소를 가지고 있는지 여부</a:t>
            </a:r>
            <a:endParaRPr lang="en-US" altLang="ko-KR" sz="1400" dirty="0">
              <a:solidFill>
                <a:schemeClr val="tx1"/>
              </a:solidFill>
            </a:endParaRPr>
          </a:p>
          <a:p>
            <a:r>
              <a:rPr lang="en-US" altLang="ko-KR" sz="1400" dirty="0">
                <a:solidFill>
                  <a:schemeClr val="tx1"/>
                </a:solidFill>
              </a:rPr>
              <a:t>      (</a:t>
            </a:r>
            <a:r>
              <a:rPr lang="ko-KR" altLang="en-US" sz="1400" dirty="0">
                <a:solidFill>
                  <a:schemeClr val="tx1"/>
                </a:solidFill>
              </a:rPr>
              <a:t>대법원 </a:t>
            </a:r>
            <a:r>
              <a:rPr lang="en-US" altLang="ko-KR" sz="1400" dirty="0">
                <a:solidFill>
                  <a:schemeClr val="tx1"/>
                </a:solidFill>
              </a:rPr>
              <a:t>2006. 8. 24. </a:t>
            </a:r>
            <a:r>
              <a:rPr lang="ko-KR" altLang="en-US" sz="1400" dirty="0">
                <a:solidFill>
                  <a:schemeClr val="tx1"/>
                </a:solidFill>
              </a:rPr>
              <a:t>선고 </a:t>
            </a:r>
            <a:r>
              <a:rPr lang="en-US" altLang="ko-KR" sz="1400" dirty="0">
                <a:solidFill>
                  <a:schemeClr val="tx1"/>
                </a:solidFill>
              </a:rPr>
              <a:t>2004</a:t>
            </a:r>
            <a:r>
              <a:rPr lang="ko-KR" altLang="en-US" sz="1400" dirty="0">
                <a:solidFill>
                  <a:schemeClr val="tx1"/>
                </a:solidFill>
              </a:rPr>
              <a:t>후</a:t>
            </a:r>
            <a:r>
              <a:rPr lang="en-US" altLang="ko-KR" sz="1400" dirty="0">
                <a:solidFill>
                  <a:schemeClr val="tx1"/>
                </a:solidFill>
              </a:rPr>
              <a:t>905)</a:t>
            </a:r>
          </a:p>
          <a:p>
            <a:pPr marL="285750" indent="-285750">
              <a:buFontTx/>
              <a:buChar char="-"/>
            </a:pPr>
            <a:r>
              <a:rPr lang="ko-KR" altLang="en-US" sz="1400" dirty="0">
                <a:solidFill>
                  <a:schemeClr val="tx1"/>
                </a:solidFill>
              </a:rPr>
              <a:t>피심판청구인의 확인대상발명 실시 여부</a:t>
            </a:r>
            <a:endParaRPr lang="en-US" altLang="ko-KR" sz="1400" dirty="0">
              <a:solidFill>
                <a:schemeClr val="tx1"/>
              </a:solidFill>
            </a:endParaRPr>
          </a:p>
          <a:p>
            <a:r>
              <a:rPr lang="en-US" altLang="ko-KR" sz="1400" dirty="0">
                <a:solidFill>
                  <a:schemeClr val="tx1"/>
                </a:solidFill>
              </a:rPr>
              <a:t>      (</a:t>
            </a:r>
            <a:r>
              <a:rPr lang="ko-KR" altLang="en-US" sz="1400" dirty="0">
                <a:solidFill>
                  <a:schemeClr val="tx1"/>
                </a:solidFill>
              </a:rPr>
              <a:t>특허법원 </a:t>
            </a:r>
            <a:r>
              <a:rPr lang="en-US" altLang="ko-KR" sz="1400" dirty="0">
                <a:solidFill>
                  <a:schemeClr val="tx1"/>
                </a:solidFill>
              </a:rPr>
              <a:t>2012. 7. 26. </a:t>
            </a:r>
            <a:r>
              <a:rPr lang="ko-KR" altLang="en-US" sz="1400" dirty="0">
                <a:solidFill>
                  <a:schemeClr val="tx1"/>
                </a:solidFill>
              </a:rPr>
              <a:t>선고 </a:t>
            </a:r>
            <a:r>
              <a:rPr lang="en-US" altLang="ko-KR" sz="1400" dirty="0">
                <a:solidFill>
                  <a:schemeClr val="tx1"/>
                </a:solidFill>
              </a:rPr>
              <a:t>2011</a:t>
            </a:r>
            <a:r>
              <a:rPr lang="ko-KR" altLang="en-US" sz="1400" dirty="0">
                <a:solidFill>
                  <a:schemeClr val="tx1"/>
                </a:solidFill>
              </a:rPr>
              <a:t>허</a:t>
            </a:r>
            <a:r>
              <a:rPr lang="en-US" altLang="ko-KR" sz="1400" dirty="0">
                <a:solidFill>
                  <a:schemeClr val="tx1"/>
                </a:solidFill>
              </a:rPr>
              <a:t>11255)</a:t>
            </a:r>
          </a:p>
          <a:p>
            <a:pPr marL="285750" indent="-285750">
              <a:buFontTx/>
              <a:buChar char="-"/>
            </a:pPr>
            <a:r>
              <a:rPr lang="ko-KR" altLang="en-US" sz="1400" dirty="0">
                <a:solidFill>
                  <a:schemeClr val="tx1"/>
                </a:solidFill>
              </a:rPr>
              <a:t>침해대상제품이 어떤 구성요소를 가지고 있는지 여부</a:t>
            </a:r>
            <a:endParaRPr lang="en-US" altLang="ko-KR" sz="1400" dirty="0">
              <a:solidFill>
                <a:schemeClr val="tx1"/>
              </a:solidFill>
            </a:endParaRPr>
          </a:p>
          <a:p>
            <a:r>
              <a:rPr lang="en-US" altLang="ko-KR" sz="1400" dirty="0">
                <a:solidFill>
                  <a:schemeClr val="tx1"/>
                </a:solidFill>
              </a:rPr>
              <a:t>      (</a:t>
            </a:r>
            <a:r>
              <a:rPr lang="ko-KR" altLang="en-US" sz="1400" dirty="0">
                <a:solidFill>
                  <a:schemeClr val="tx1"/>
                </a:solidFill>
              </a:rPr>
              <a:t>대법원 </a:t>
            </a:r>
            <a:r>
              <a:rPr lang="en-US" altLang="ko-KR" sz="1400" dirty="0">
                <a:solidFill>
                  <a:schemeClr val="tx1"/>
                </a:solidFill>
              </a:rPr>
              <a:t>2022. 01. 27. </a:t>
            </a:r>
            <a:r>
              <a:rPr lang="ko-KR" altLang="en-US" sz="1400" dirty="0">
                <a:solidFill>
                  <a:schemeClr val="tx1"/>
                </a:solidFill>
              </a:rPr>
              <a:t>선고 </a:t>
            </a:r>
            <a:r>
              <a:rPr lang="en-US" altLang="ko-KR" sz="1400" dirty="0">
                <a:solidFill>
                  <a:schemeClr val="tx1"/>
                </a:solidFill>
              </a:rPr>
              <a:t>2019</a:t>
            </a:r>
            <a:r>
              <a:rPr lang="ko-KR" altLang="en-US" sz="1400" dirty="0">
                <a:solidFill>
                  <a:schemeClr val="tx1"/>
                </a:solidFill>
              </a:rPr>
              <a:t>다</a:t>
            </a:r>
            <a:r>
              <a:rPr lang="en-US" altLang="ko-KR" sz="1400" dirty="0">
                <a:solidFill>
                  <a:schemeClr val="tx1"/>
                </a:solidFill>
              </a:rPr>
              <a:t>277751)</a:t>
            </a:r>
            <a:endParaRPr lang="ko-KR" altLang="en-US" sz="1400" dirty="0">
              <a:solidFill>
                <a:schemeClr val="tx1"/>
              </a:solidFill>
            </a:endParaRPr>
          </a:p>
        </p:txBody>
      </p:sp>
      <p:sp>
        <p:nvSpPr>
          <p:cNvPr id="22" name="모서리가 둥근 사각형 설명선 21"/>
          <p:cNvSpPr/>
          <p:nvPr/>
        </p:nvSpPr>
        <p:spPr>
          <a:xfrm>
            <a:off x="6143625" y="4105276"/>
            <a:ext cx="5498041" cy="1915962"/>
          </a:xfrm>
          <a:prstGeom prst="wedgeRoundRectCallout">
            <a:avLst>
              <a:gd name="adj1" fmla="val -42303"/>
              <a:gd name="adj2" fmla="val -85379"/>
              <a:gd name="adj3" fmla="val 16667"/>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Tx/>
              <a:buChar char="-"/>
            </a:pPr>
            <a:r>
              <a:rPr lang="ko-KR" altLang="en-US" sz="1400" dirty="0">
                <a:solidFill>
                  <a:schemeClr val="tx1"/>
                </a:solidFill>
              </a:rPr>
              <a:t>등록고안과 확인대상고안의 동일 여부</a:t>
            </a:r>
            <a:endParaRPr lang="en-US" altLang="ko-KR" sz="1400" dirty="0">
              <a:solidFill>
                <a:schemeClr val="tx1"/>
              </a:solidFill>
            </a:endParaRPr>
          </a:p>
          <a:p>
            <a:r>
              <a:rPr lang="en-US" altLang="ko-KR" sz="1400" dirty="0">
                <a:solidFill>
                  <a:schemeClr val="tx1"/>
                </a:solidFill>
              </a:rPr>
              <a:t>      (</a:t>
            </a:r>
            <a:r>
              <a:rPr lang="ko-KR" altLang="en-US" sz="1400" dirty="0">
                <a:solidFill>
                  <a:schemeClr val="tx1"/>
                </a:solidFill>
              </a:rPr>
              <a:t>특허법원 </a:t>
            </a:r>
            <a:r>
              <a:rPr lang="en-US" altLang="ko-KR" sz="1400" dirty="0">
                <a:solidFill>
                  <a:schemeClr val="tx1"/>
                </a:solidFill>
              </a:rPr>
              <a:t>1999. 3. 5. </a:t>
            </a:r>
            <a:r>
              <a:rPr lang="ko-KR" altLang="en-US" sz="1400" dirty="0">
                <a:solidFill>
                  <a:schemeClr val="tx1"/>
                </a:solidFill>
              </a:rPr>
              <a:t>선고 </a:t>
            </a:r>
            <a:r>
              <a:rPr lang="en-US" altLang="ko-KR" sz="1400" dirty="0">
                <a:solidFill>
                  <a:schemeClr val="tx1"/>
                </a:solidFill>
              </a:rPr>
              <a:t>98</a:t>
            </a:r>
            <a:r>
              <a:rPr lang="ko-KR" altLang="en-US" sz="1400" dirty="0">
                <a:solidFill>
                  <a:schemeClr val="tx1"/>
                </a:solidFill>
              </a:rPr>
              <a:t>허</a:t>
            </a:r>
            <a:r>
              <a:rPr lang="en-US" altLang="ko-KR" sz="1400" dirty="0">
                <a:solidFill>
                  <a:schemeClr val="tx1"/>
                </a:solidFill>
              </a:rPr>
              <a:t>4883)</a:t>
            </a:r>
          </a:p>
          <a:p>
            <a:pPr marL="285750" indent="-285750">
              <a:buFontTx/>
              <a:buChar char="-"/>
            </a:pPr>
            <a:r>
              <a:rPr lang="ko-KR" altLang="en-US" sz="1400" dirty="0">
                <a:solidFill>
                  <a:schemeClr val="tx1"/>
                </a:solidFill>
              </a:rPr>
              <a:t>신규성 또는 진보성이 있는지 여부</a:t>
            </a:r>
            <a:endParaRPr lang="en-US" altLang="ko-KR" sz="1400" dirty="0">
              <a:solidFill>
                <a:schemeClr val="tx1"/>
              </a:solidFill>
            </a:endParaRPr>
          </a:p>
          <a:p>
            <a:r>
              <a:rPr lang="en-US" altLang="ko-KR" sz="1400" dirty="0">
                <a:solidFill>
                  <a:schemeClr val="tx1"/>
                </a:solidFill>
              </a:rPr>
              <a:t>      (</a:t>
            </a:r>
            <a:r>
              <a:rPr lang="ko-KR" altLang="en-US" sz="1400" dirty="0">
                <a:solidFill>
                  <a:schemeClr val="tx1"/>
                </a:solidFill>
              </a:rPr>
              <a:t>특허법원 </a:t>
            </a:r>
            <a:r>
              <a:rPr lang="en-US" altLang="ko-KR" sz="1400" dirty="0">
                <a:solidFill>
                  <a:schemeClr val="tx1"/>
                </a:solidFill>
              </a:rPr>
              <a:t>2000. 3. 31. </a:t>
            </a:r>
            <a:r>
              <a:rPr lang="ko-KR" altLang="en-US" sz="1400" dirty="0">
                <a:solidFill>
                  <a:schemeClr val="tx1"/>
                </a:solidFill>
              </a:rPr>
              <a:t>선고 </a:t>
            </a:r>
            <a:r>
              <a:rPr lang="en-US" altLang="ko-KR" sz="1400" dirty="0">
                <a:solidFill>
                  <a:schemeClr val="tx1"/>
                </a:solidFill>
              </a:rPr>
              <a:t>99</a:t>
            </a:r>
            <a:r>
              <a:rPr lang="ko-KR" altLang="en-US" sz="1400" dirty="0">
                <a:solidFill>
                  <a:schemeClr val="tx1"/>
                </a:solidFill>
              </a:rPr>
              <a:t>허</a:t>
            </a:r>
            <a:r>
              <a:rPr lang="en-US" altLang="ko-KR" sz="1400" dirty="0">
                <a:solidFill>
                  <a:schemeClr val="tx1"/>
                </a:solidFill>
              </a:rPr>
              <a:t>6640)</a:t>
            </a:r>
          </a:p>
          <a:p>
            <a:pPr marL="285750" indent="-285750">
              <a:buFontTx/>
              <a:buChar char="-"/>
            </a:pPr>
            <a:r>
              <a:rPr lang="ko-KR" altLang="en-US" sz="1400" dirty="0">
                <a:solidFill>
                  <a:schemeClr val="tx1"/>
                </a:solidFill>
              </a:rPr>
              <a:t>특허청구항의 해석</a:t>
            </a:r>
            <a:r>
              <a:rPr lang="en-US" altLang="ko-KR" sz="1400" dirty="0">
                <a:solidFill>
                  <a:schemeClr val="tx1"/>
                </a:solidFill>
              </a:rPr>
              <a:t>(</a:t>
            </a:r>
            <a:r>
              <a:rPr lang="ko-KR" altLang="en-US" sz="1400" dirty="0">
                <a:solidFill>
                  <a:schemeClr val="tx1"/>
                </a:solidFill>
              </a:rPr>
              <a:t>특허법원 </a:t>
            </a:r>
            <a:r>
              <a:rPr lang="en-US" altLang="ko-KR" sz="1400" dirty="0">
                <a:solidFill>
                  <a:schemeClr val="tx1"/>
                </a:solidFill>
              </a:rPr>
              <a:t>2000. 9. 21. </a:t>
            </a:r>
            <a:r>
              <a:rPr lang="ko-KR" altLang="en-US" sz="1400" dirty="0">
                <a:solidFill>
                  <a:schemeClr val="tx1"/>
                </a:solidFill>
              </a:rPr>
              <a:t>선고 </a:t>
            </a:r>
            <a:r>
              <a:rPr lang="en-US" altLang="ko-KR" sz="1400" dirty="0">
                <a:solidFill>
                  <a:schemeClr val="tx1"/>
                </a:solidFill>
              </a:rPr>
              <a:t>99</a:t>
            </a:r>
            <a:r>
              <a:rPr lang="ko-KR" altLang="en-US" sz="1400" dirty="0">
                <a:solidFill>
                  <a:schemeClr val="tx1"/>
                </a:solidFill>
              </a:rPr>
              <a:t>허</a:t>
            </a:r>
            <a:r>
              <a:rPr lang="en-US" altLang="ko-KR" sz="1400" dirty="0">
                <a:solidFill>
                  <a:schemeClr val="tx1"/>
                </a:solidFill>
              </a:rPr>
              <a:t>5654)</a:t>
            </a:r>
          </a:p>
          <a:p>
            <a:pPr marL="285750" indent="-285750">
              <a:buFontTx/>
              <a:buChar char="-"/>
            </a:pPr>
            <a:r>
              <a:rPr lang="ko-KR" altLang="en-US" sz="1400" dirty="0">
                <a:solidFill>
                  <a:schemeClr val="tx1"/>
                </a:solidFill>
              </a:rPr>
              <a:t>정정요건에 해당하는지 여부</a:t>
            </a:r>
            <a:r>
              <a:rPr lang="en-US" altLang="ko-KR" sz="1400" dirty="0">
                <a:solidFill>
                  <a:schemeClr val="tx1"/>
                </a:solidFill>
              </a:rPr>
              <a:t>(</a:t>
            </a:r>
            <a:r>
              <a:rPr lang="ko-KR" altLang="en-US" sz="1400" dirty="0">
                <a:solidFill>
                  <a:schemeClr val="tx1"/>
                </a:solidFill>
              </a:rPr>
              <a:t>대법원 </a:t>
            </a:r>
            <a:r>
              <a:rPr lang="en-US" altLang="ko-KR" sz="1400" dirty="0">
                <a:solidFill>
                  <a:schemeClr val="tx1"/>
                </a:solidFill>
              </a:rPr>
              <a:t>2014. 5. 16. </a:t>
            </a:r>
            <a:r>
              <a:rPr lang="ko-KR" altLang="en-US" sz="1400" dirty="0">
                <a:solidFill>
                  <a:schemeClr val="tx1"/>
                </a:solidFill>
              </a:rPr>
              <a:t>선고 </a:t>
            </a:r>
            <a:r>
              <a:rPr lang="en-US" altLang="ko-KR" sz="1400" dirty="0">
                <a:solidFill>
                  <a:schemeClr val="tx1"/>
                </a:solidFill>
              </a:rPr>
              <a:t>2012</a:t>
            </a:r>
            <a:r>
              <a:rPr lang="ko-KR" altLang="en-US" sz="1400" dirty="0">
                <a:solidFill>
                  <a:schemeClr val="tx1"/>
                </a:solidFill>
              </a:rPr>
              <a:t>후</a:t>
            </a:r>
            <a:r>
              <a:rPr lang="en-US" altLang="ko-KR" sz="1400" dirty="0">
                <a:solidFill>
                  <a:schemeClr val="tx1"/>
                </a:solidFill>
              </a:rPr>
              <a:t>238)</a:t>
            </a:r>
          </a:p>
          <a:p>
            <a:pPr marL="285750" indent="-285750">
              <a:buFontTx/>
              <a:buChar char="-"/>
            </a:pPr>
            <a:r>
              <a:rPr lang="ko-KR" altLang="en-US" sz="1400" dirty="0">
                <a:solidFill>
                  <a:schemeClr val="tx1"/>
                </a:solidFill>
              </a:rPr>
              <a:t>침해대상제품의 구성요소가 특허발명의 구성요소와 동일 또는 균등한지 여부 </a:t>
            </a:r>
            <a:r>
              <a:rPr lang="en-US" altLang="ko-KR" sz="1400" dirty="0">
                <a:solidFill>
                  <a:schemeClr val="tx1"/>
                </a:solidFill>
              </a:rPr>
              <a:t>(</a:t>
            </a:r>
            <a:r>
              <a:rPr lang="ko-KR" altLang="en-US" sz="1400" dirty="0">
                <a:solidFill>
                  <a:schemeClr val="tx1"/>
                </a:solidFill>
              </a:rPr>
              <a:t>대법원 </a:t>
            </a:r>
            <a:r>
              <a:rPr lang="en-US" altLang="ko-KR" sz="1400" dirty="0">
                <a:solidFill>
                  <a:schemeClr val="tx1"/>
                </a:solidFill>
              </a:rPr>
              <a:t>2022. 01. 27. </a:t>
            </a:r>
            <a:r>
              <a:rPr lang="ko-KR" altLang="en-US" sz="1400" dirty="0">
                <a:solidFill>
                  <a:schemeClr val="tx1"/>
                </a:solidFill>
              </a:rPr>
              <a:t>선고 </a:t>
            </a:r>
            <a:r>
              <a:rPr lang="en-US" altLang="ko-KR" sz="1400" dirty="0">
                <a:solidFill>
                  <a:schemeClr val="tx1"/>
                </a:solidFill>
              </a:rPr>
              <a:t>2019</a:t>
            </a:r>
            <a:r>
              <a:rPr lang="ko-KR" altLang="en-US" sz="1400" dirty="0">
                <a:solidFill>
                  <a:schemeClr val="tx1"/>
                </a:solidFill>
              </a:rPr>
              <a:t>다</a:t>
            </a:r>
            <a:r>
              <a:rPr lang="en-US" altLang="ko-KR" sz="1400" dirty="0">
                <a:solidFill>
                  <a:schemeClr val="tx1"/>
                </a:solidFill>
              </a:rPr>
              <a:t>277751)</a:t>
            </a:r>
            <a:endParaRPr lang="ko-KR" altLang="en-US" sz="1400" dirty="0">
              <a:solidFill>
                <a:schemeClr val="tx1"/>
              </a:solidFill>
            </a:endParaRPr>
          </a:p>
        </p:txBody>
      </p:sp>
    </p:spTree>
    <p:extLst>
      <p:ext uri="{BB962C8B-B14F-4D97-AF65-F5344CB8AC3E}">
        <p14:creationId xmlns:p14="http://schemas.microsoft.com/office/powerpoint/2010/main" val="688166186"/>
      </p:ext>
    </p:extLst>
  </p:cSld>
  <p:clrMapOvr>
    <a:masterClrMapping/>
  </p:clrMapOvr>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186</a:t>
            </a:r>
            <a:r>
              <a:rPr lang="ko-KR" altLang="en-US" dirty="0"/>
              <a:t>조</a:t>
            </a:r>
          </a:p>
        </p:txBody>
      </p:sp>
      <p:sp>
        <p:nvSpPr>
          <p:cNvPr id="3" name="텍스트 개체 틀 2"/>
          <p:cNvSpPr>
            <a:spLocks noGrp="1"/>
          </p:cNvSpPr>
          <p:nvPr>
            <p:ph type="body" sz="quarter" idx="13"/>
          </p:nvPr>
        </p:nvSpPr>
        <p:spPr/>
        <p:txBody>
          <a:bodyPr/>
          <a:lstStyle/>
          <a:p>
            <a:r>
              <a:rPr lang="ko-KR" altLang="en-US" dirty="0">
                <a:solidFill>
                  <a:srgbClr val="525252"/>
                </a:solidFill>
              </a:rPr>
              <a:t>침해소송에서의 자백 </a:t>
            </a:r>
            <a:r>
              <a:rPr lang="en-US" altLang="ko-KR" dirty="0">
                <a:solidFill>
                  <a:srgbClr val="525252"/>
                </a:solidFill>
              </a:rPr>
              <a:t>CASE</a:t>
            </a:r>
            <a:endParaRPr lang="ko-KR" altLang="en-US" dirty="0">
              <a:solidFill>
                <a:srgbClr val="525252"/>
              </a:solidFill>
            </a:endParaRPr>
          </a:p>
        </p:txBody>
      </p:sp>
      <p:sp>
        <p:nvSpPr>
          <p:cNvPr id="46" name="모서리가 둥근 직사각형 10">
            <a:extLst>
              <a:ext uri="{FF2B5EF4-FFF2-40B4-BE49-F238E27FC236}">
                <a16:creationId xmlns:a16="http://schemas.microsoft.com/office/drawing/2014/main" id="{EA6D0AA3-A795-463F-A932-E97DEE7EE09B}"/>
              </a:ext>
            </a:extLst>
          </p:cNvPr>
          <p:cNvSpPr/>
          <p:nvPr/>
        </p:nvSpPr>
        <p:spPr bwMode="auto">
          <a:xfrm>
            <a:off x="335288" y="1008637"/>
            <a:ext cx="5142485"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200" dirty="0"/>
              <a:t>대법원 </a:t>
            </a:r>
            <a:r>
              <a:rPr lang="en-US" altLang="ko-KR" sz="1200" dirty="0"/>
              <a:t>2022. 01. 27. </a:t>
            </a:r>
            <a:r>
              <a:rPr lang="ko-KR" altLang="en-US" sz="1200" dirty="0"/>
              <a:t>선고 </a:t>
            </a:r>
            <a:r>
              <a:rPr lang="en-US" altLang="ko-KR" sz="1200" dirty="0"/>
              <a:t>2019</a:t>
            </a:r>
            <a:r>
              <a:rPr lang="ko-KR" altLang="en-US" sz="1200" dirty="0"/>
              <a:t>다</a:t>
            </a:r>
            <a:r>
              <a:rPr lang="en-US" altLang="ko-KR" sz="1200" dirty="0"/>
              <a:t>277751 </a:t>
            </a:r>
            <a:r>
              <a:rPr lang="ko-KR" altLang="en-US" sz="1200" dirty="0"/>
              <a:t>판결 </a:t>
            </a:r>
            <a:r>
              <a:rPr lang="en-US" altLang="ko-KR" sz="1200" dirty="0"/>
              <a:t>【</a:t>
            </a:r>
            <a:r>
              <a:rPr lang="ko-KR" altLang="en-US" sz="1200" dirty="0"/>
              <a:t>특허권 침해금지 청구의 소</a:t>
            </a:r>
            <a:r>
              <a:rPr lang="en-US" altLang="ko-KR" sz="1200" dirty="0"/>
              <a:t>】</a:t>
            </a:r>
          </a:p>
        </p:txBody>
      </p:sp>
      <p:sp>
        <p:nvSpPr>
          <p:cNvPr id="6" name="직사각형 5">
            <a:extLst>
              <a:ext uri="{FF2B5EF4-FFF2-40B4-BE49-F238E27FC236}">
                <a16:creationId xmlns:a16="http://schemas.microsoft.com/office/drawing/2014/main" id="{D8297537-B24B-4300-B18D-EAD87B250EF1}"/>
              </a:ext>
            </a:extLst>
          </p:cNvPr>
          <p:cNvSpPr/>
          <p:nvPr/>
        </p:nvSpPr>
        <p:spPr>
          <a:xfrm>
            <a:off x="232372" y="1363747"/>
            <a:ext cx="11887741" cy="3754874"/>
          </a:xfrm>
          <a:prstGeom prst="rect">
            <a:avLst/>
          </a:prstGeom>
        </p:spPr>
        <p:txBody>
          <a:bodyPr wrap="square">
            <a:spAutoFit/>
          </a:bodyPr>
          <a:lstStyle/>
          <a:p>
            <a:r>
              <a:rPr lang="en-US" altLang="ko-KR" sz="1400" dirty="0"/>
              <a:t>[1] </a:t>
            </a:r>
            <a:r>
              <a:rPr lang="ko-KR" altLang="en-US" sz="1400" dirty="0"/>
              <a:t>침해대상발명이 특허발명의 특정 구성요소 포함하고 있다는 진술로 자백이 성립하였는지</a:t>
            </a:r>
            <a:r>
              <a:rPr lang="en-US" altLang="ko-KR" sz="1400" dirty="0"/>
              <a:t>, </a:t>
            </a:r>
            <a:r>
              <a:rPr lang="ko-KR" altLang="en-US" sz="1400" dirty="0"/>
              <a:t>자백이 성립하였다면 그 자백이 적법하게 취소되었는지</a:t>
            </a:r>
            <a:r>
              <a:rPr lang="en-US" altLang="ko-KR" sz="1400" dirty="0"/>
              <a:t>: </a:t>
            </a:r>
            <a:r>
              <a:rPr lang="ko-KR" altLang="en-US" sz="1400" dirty="0">
                <a:highlight>
                  <a:srgbClr val="FFFF00"/>
                </a:highlight>
              </a:rPr>
              <a:t>특허침해소송에서 상대방이 제조하는 제품</a:t>
            </a:r>
            <a:r>
              <a:rPr lang="en-US" altLang="ko-KR" sz="1400" dirty="0">
                <a:highlight>
                  <a:srgbClr val="FFFF00"/>
                </a:highlight>
              </a:rPr>
              <a:t>(</a:t>
            </a:r>
            <a:r>
              <a:rPr lang="ko-KR" altLang="en-US" sz="1400" dirty="0">
                <a:highlight>
                  <a:srgbClr val="FFFF00"/>
                </a:highlight>
              </a:rPr>
              <a:t>이하 ‘</a:t>
            </a:r>
            <a:r>
              <a:rPr lang="ko-KR" altLang="en-US" sz="1400" dirty="0" err="1">
                <a:highlight>
                  <a:srgbClr val="FFFF00"/>
                </a:highlight>
              </a:rPr>
              <a:t>침해대상제품’이라</a:t>
            </a:r>
            <a:r>
              <a:rPr lang="ko-KR" altLang="en-US" sz="1400" dirty="0">
                <a:highlight>
                  <a:srgbClr val="FFFF00"/>
                </a:highlight>
              </a:rPr>
              <a:t> 한다</a:t>
            </a:r>
            <a:r>
              <a:rPr lang="en-US" altLang="ko-KR" sz="1400" dirty="0">
                <a:highlight>
                  <a:srgbClr val="FFFF00"/>
                </a:highlight>
              </a:rPr>
              <a:t>)</a:t>
            </a:r>
            <a:r>
              <a:rPr lang="ko-KR" altLang="en-US" sz="1400" dirty="0">
                <a:highlight>
                  <a:srgbClr val="FFFF00"/>
                </a:highlight>
              </a:rPr>
              <a:t>이 어떤 구성요소를 가지고 있는지는 침해판단의 전제가 되는 주요사실로서 재판상 자백의 대상이 될 수 있다</a:t>
            </a:r>
            <a:r>
              <a:rPr lang="en-US" altLang="ko-KR" sz="1400" dirty="0"/>
              <a:t>(</a:t>
            </a:r>
            <a:r>
              <a:rPr lang="ko-KR" altLang="en-US" sz="1400" dirty="0"/>
              <a:t>대법원 </a:t>
            </a:r>
            <a:r>
              <a:rPr lang="en-US" altLang="ko-KR" sz="1400" dirty="0"/>
              <a:t>2006. 8. 24. </a:t>
            </a:r>
            <a:r>
              <a:rPr lang="ko-KR" altLang="en-US" sz="1400" dirty="0"/>
              <a:t>선고 </a:t>
            </a:r>
            <a:r>
              <a:rPr lang="en-US" altLang="ko-KR" sz="1400" dirty="0"/>
              <a:t>2004</a:t>
            </a:r>
            <a:r>
              <a:rPr lang="ko-KR" altLang="en-US" sz="1400" dirty="0"/>
              <a:t>후</a:t>
            </a:r>
            <a:r>
              <a:rPr lang="en-US" altLang="ko-KR" sz="1400" dirty="0"/>
              <a:t>905 </a:t>
            </a:r>
            <a:r>
              <a:rPr lang="ko-KR" altLang="en-US" sz="1400" dirty="0"/>
              <a:t>판결 등 참조</a:t>
            </a:r>
            <a:r>
              <a:rPr lang="en-US" altLang="ko-KR" sz="1400" dirty="0"/>
              <a:t>).</a:t>
            </a:r>
            <a:r>
              <a:rPr lang="en-US" altLang="ko-KR" sz="1400" dirty="0">
                <a:solidFill>
                  <a:srgbClr val="FF0000"/>
                </a:solidFill>
              </a:rPr>
              <a:t> </a:t>
            </a:r>
            <a:r>
              <a:rPr lang="en-US" altLang="ko-KR" sz="1400" dirty="0">
                <a:highlight>
                  <a:srgbClr val="FFFF00"/>
                </a:highlight>
              </a:rPr>
              <a:t>“</a:t>
            </a:r>
            <a:r>
              <a:rPr lang="ko-KR" altLang="en-US" sz="1400" dirty="0">
                <a:highlight>
                  <a:srgbClr val="FFFF00"/>
                </a:highlight>
              </a:rPr>
              <a:t>침해대상제품 등이 어떤 구성요소를 가지고 있다</a:t>
            </a:r>
            <a:r>
              <a:rPr lang="en-US" altLang="ko-KR" sz="1400" dirty="0">
                <a:highlight>
                  <a:srgbClr val="FFFF00"/>
                </a:highlight>
              </a:rPr>
              <a:t>.”</a:t>
            </a:r>
            <a:r>
              <a:rPr lang="ko-KR" altLang="en-US" sz="1400" dirty="0">
                <a:highlight>
                  <a:srgbClr val="FFFF00"/>
                </a:highlight>
              </a:rPr>
              <a:t>는 표현이 사실에 대한 진술인지</a:t>
            </a:r>
            <a:r>
              <a:rPr lang="en-US" altLang="ko-KR" sz="1400" dirty="0">
                <a:highlight>
                  <a:srgbClr val="FFFF00"/>
                </a:highlight>
              </a:rPr>
              <a:t>, </a:t>
            </a:r>
            <a:r>
              <a:rPr lang="ko-KR" altLang="en-US" sz="1400" dirty="0">
                <a:highlight>
                  <a:srgbClr val="FFFF00"/>
                </a:highlight>
              </a:rPr>
              <a:t>아니면 그 구성요소가 특허발명의 구성요소와 동일 또는 균등하다는 법적 판단 내지 평가에 관한 진술인지는 당사자 진술의 구체적 내용과 경위</a:t>
            </a:r>
            <a:r>
              <a:rPr lang="en-US" altLang="ko-KR" sz="1400" dirty="0">
                <a:highlight>
                  <a:srgbClr val="FFFF00"/>
                </a:highlight>
              </a:rPr>
              <a:t>, </a:t>
            </a:r>
            <a:r>
              <a:rPr lang="ko-KR" altLang="en-US" sz="1400" dirty="0">
                <a:highlight>
                  <a:srgbClr val="FFFF00"/>
                </a:highlight>
              </a:rPr>
              <a:t>변론의 진행 경과 등을 종합적으로 고려하여 판단</a:t>
            </a:r>
            <a:r>
              <a:rPr lang="ko-KR" altLang="en-US" sz="1400" dirty="0"/>
              <a:t>하여야 한다</a:t>
            </a:r>
            <a:r>
              <a:rPr lang="en-US" altLang="ko-KR" sz="1400" dirty="0"/>
              <a:t>. </a:t>
            </a:r>
            <a:r>
              <a:rPr lang="ko-KR" altLang="en-US" sz="1400" dirty="0"/>
              <a:t>그리고 일단 재판상 자백이 성립하면 그것이 적법하게 취소</a:t>
            </a:r>
            <a:r>
              <a:rPr lang="en-US" altLang="ko-KR" sz="1400" dirty="0"/>
              <a:t>*</a:t>
            </a:r>
            <a:r>
              <a:rPr lang="ko-KR" altLang="en-US" sz="1400" dirty="0"/>
              <a:t>되지 않는 한 법원은 이에 구속되므로 법원은 자백과 배치되는 사실을 증거에 의하여 인정할 수 없다</a:t>
            </a:r>
            <a:r>
              <a:rPr lang="en-US" altLang="ko-KR" sz="1400" dirty="0"/>
              <a:t>(</a:t>
            </a:r>
            <a:r>
              <a:rPr lang="ko-KR" altLang="en-US" sz="1400" dirty="0"/>
              <a:t>대법원 </a:t>
            </a:r>
            <a:r>
              <a:rPr lang="en-US" altLang="ko-KR" sz="1400" dirty="0"/>
              <a:t>2018. 10. 4. </a:t>
            </a:r>
            <a:r>
              <a:rPr lang="ko-KR" altLang="en-US" sz="1400" dirty="0"/>
              <a:t>선고 </a:t>
            </a:r>
            <a:r>
              <a:rPr lang="en-US" altLang="ko-KR" sz="1400" dirty="0"/>
              <a:t>2016</a:t>
            </a:r>
            <a:r>
              <a:rPr lang="ko-KR" altLang="en-US" sz="1400" dirty="0"/>
              <a:t>다</a:t>
            </a:r>
            <a:r>
              <a:rPr lang="en-US" altLang="ko-KR" sz="1400" dirty="0"/>
              <a:t>41869 </a:t>
            </a:r>
            <a:r>
              <a:rPr lang="ko-KR" altLang="en-US" sz="1400" dirty="0"/>
              <a:t>판결 등 참조</a:t>
            </a:r>
            <a:r>
              <a:rPr lang="en-US" altLang="ko-KR" sz="1400" dirty="0"/>
              <a:t>).</a:t>
            </a:r>
          </a:p>
          <a:p>
            <a:endParaRPr lang="en-US" altLang="ko-KR" sz="1400" dirty="0"/>
          </a:p>
          <a:p>
            <a:r>
              <a:rPr lang="ko-KR" altLang="en-US" sz="1400" dirty="0">
                <a:highlight>
                  <a:srgbClr val="CCECFF"/>
                </a:highlight>
              </a:rPr>
              <a:t>* 민사소송법 제</a:t>
            </a:r>
            <a:r>
              <a:rPr lang="en-US" altLang="ko-KR" sz="1400" dirty="0">
                <a:highlight>
                  <a:srgbClr val="CCECFF"/>
                </a:highlight>
              </a:rPr>
              <a:t>288</a:t>
            </a:r>
            <a:r>
              <a:rPr lang="ko-KR" altLang="en-US" sz="1400" dirty="0">
                <a:highlight>
                  <a:srgbClr val="CCECFF"/>
                </a:highlight>
              </a:rPr>
              <a:t>조</a:t>
            </a:r>
            <a:r>
              <a:rPr lang="en-US" altLang="ko-KR" sz="1400" dirty="0">
                <a:highlight>
                  <a:srgbClr val="CCECFF"/>
                </a:highlight>
              </a:rPr>
              <a:t>(</a:t>
            </a:r>
            <a:r>
              <a:rPr lang="ko-KR" altLang="en-US" sz="1400" dirty="0" err="1">
                <a:highlight>
                  <a:srgbClr val="CCECFF"/>
                </a:highlight>
              </a:rPr>
              <a:t>불요증사실</a:t>
            </a:r>
            <a:r>
              <a:rPr lang="en-US" altLang="ko-KR" sz="1400" dirty="0">
                <a:highlight>
                  <a:srgbClr val="CCECFF"/>
                </a:highlight>
              </a:rPr>
              <a:t>) </a:t>
            </a:r>
            <a:r>
              <a:rPr lang="ko-KR" altLang="en-US" sz="1400" dirty="0">
                <a:highlight>
                  <a:srgbClr val="CCECFF"/>
                </a:highlight>
              </a:rPr>
              <a:t>법원에서 당사자가 자백한 사실과 현저한 사실은 증명을 필요로 하지 아니한다</a:t>
            </a:r>
            <a:r>
              <a:rPr lang="en-US" altLang="ko-KR" sz="1400" dirty="0">
                <a:highlight>
                  <a:srgbClr val="CCECFF"/>
                </a:highlight>
              </a:rPr>
              <a:t>. </a:t>
            </a:r>
            <a:r>
              <a:rPr lang="ko-KR" altLang="en-US" sz="1400" dirty="0">
                <a:highlight>
                  <a:srgbClr val="CCECFF"/>
                </a:highlight>
              </a:rPr>
              <a:t>다만</a:t>
            </a:r>
            <a:r>
              <a:rPr lang="en-US" altLang="ko-KR" sz="1400" dirty="0">
                <a:highlight>
                  <a:srgbClr val="CCECFF"/>
                </a:highlight>
              </a:rPr>
              <a:t>, </a:t>
            </a:r>
            <a:r>
              <a:rPr lang="ko-KR" altLang="en-US" sz="1400" dirty="0">
                <a:highlight>
                  <a:srgbClr val="CCECFF"/>
                </a:highlight>
              </a:rPr>
              <a:t>진실에 어긋나는 자백은 그것이 착오로 말미암은 것임을 증명한 때에는 취소할 수 있다</a:t>
            </a:r>
            <a:r>
              <a:rPr lang="en-US" altLang="ko-KR" sz="1400" dirty="0">
                <a:highlight>
                  <a:srgbClr val="CCECFF"/>
                </a:highlight>
              </a:rPr>
              <a:t>.</a:t>
            </a:r>
          </a:p>
          <a:p>
            <a:endParaRPr lang="en-US" altLang="ko-KR" sz="1400" dirty="0"/>
          </a:p>
          <a:p>
            <a:r>
              <a:rPr lang="en-US" altLang="ko-KR" sz="1400" dirty="0"/>
              <a:t>[2] </a:t>
            </a:r>
            <a:r>
              <a:rPr lang="ko-KR" altLang="en-US" sz="1400" dirty="0"/>
              <a:t>이 사건 특허발명이 명세서 기재요건 중 명확성 요건을 충족하는지</a:t>
            </a:r>
            <a:r>
              <a:rPr lang="en-US" altLang="ko-KR" sz="1400" dirty="0"/>
              <a:t>: </a:t>
            </a:r>
            <a:r>
              <a:rPr lang="ko-KR" altLang="en-US" sz="1400" dirty="0"/>
              <a:t>특허법 제</a:t>
            </a:r>
            <a:r>
              <a:rPr lang="en-US" altLang="ko-KR" sz="1400" dirty="0"/>
              <a:t>42</a:t>
            </a:r>
            <a:r>
              <a:rPr lang="ko-KR" altLang="en-US" sz="1400" dirty="0"/>
              <a:t>조 제</a:t>
            </a:r>
            <a:r>
              <a:rPr lang="en-US" altLang="ko-KR" sz="1400" dirty="0"/>
              <a:t>4</a:t>
            </a:r>
            <a:r>
              <a:rPr lang="ko-KR" altLang="en-US" sz="1400" dirty="0"/>
              <a:t>항 제</a:t>
            </a:r>
            <a:r>
              <a:rPr lang="en-US" altLang="ko-KR" sz="1400" dirty="0"/>
              <a:t>2</a:t>
            </a:r>
            <a:r>
              <a:rPr lang="ko-KR" altLang="en-US" sz="1400" dirty="0"/>
              <a:t>호는 청구범위에는 발명이 명확하고 간결하게 적혀야 한다고 규정하고 있다</a:t>
            </a:r>
            <a:r>
              <a:rPr lang="en-US" altLang="ko-KR" sz="1400" dirty="0"/>
              <a:t>. </a:t>
            </a:r>
            <a:r>
              <a:rPr lang="ko-KR" altLang="en-US" sz="1400" dirty="0"/>
              <a:t>그리고 특허법 제</a:t>
            </a:r>
            <a:r>
              <a:rPr lang="en-US" altLang="ko-KR" sz="1400" dirty="0"/>
              <a:t>97</a:t>
            </a:r>
            <a:r>
              <a:rPr lang="ko-KR" altLang="en-US" sz="1400" dirty="0"/>
              <a:t>조는 특허발명의 보호범위는 청구범위에 적혀 있는 사항에 의하여 </a:t>
            </a:r>
            <a:r>
              <a:rPr lang="ko-KR" altLang="en-US" sz="1400" dirty="0" err="1"/>
              <a:t>정하여진다고</a:t>
            </a:r>
            <a:r>
              <a:rPr lang="ko-KR" altLang="en-US" sz="1400" dirty="0"/>
              <a:t> 규정하고 있다</a:t>
            </a:r>
            <a:r>
              <a:rPr lang="en-US" altLang="ko-KR" sz="1400" dirty="0"/>
              <a:t>(</a:t>
            </a:r>
            <a:r>
              <a:rPr lang="ko-KR" altLang="en-US" sz="1400" dirty="0"/>
              <a:t>이 사건에 적용되는 </a:t>
            </a:r>
            <a:r>
              <a:rPr lang="en-US" altLang="ko-KR" sz="1400" dirty="0"/>
              <a:t>2014. 6. 11. </a:t>
            </a:r>
            <a:r>
              <a:rPr lang="ko-KR" altLang="en-US" sz="1400" dirty="0"/>
              <a:t>법률 제</a:t>
            </a:r>
            <a:r>
              <a:rPr lang="en-US" altLang="ko-KR" sz="1400" dirty="0"/>
              <a:t>12753</a:t>
            </a:r>
            <a:r>
              <a:rPr lang="ko-KR" altLang="en-US" sz="1400" dirty="0"/>
              <a:t>호로 개정되기 전의 구 특허법에도 일부 표현은 다르지만 같은 취지로 규정되어 있다</a:t>
            </a:r>
            <a:r>
              <a:rPr lang="en-US" altLang="ko-KR" sz="1400" dirty="0"/>
              <a:t>). </a:t>
            </a:r>
            <a:r>
              <a:rPr lang="ko-KR" altLang="en-US" sz="1400" dirty="0"/>
              <a:t>이는 발명의 보호범위는 청구범위에 기재된 사항에 의하여 </a:t>
            </a:r>
            <a:r>
              <a:rPr lang="ko-KR" altLang="en-US" sz="1400" dirty="0" err="1"/>
              <a:t>정하여진다는</a:t>
            </a:r>
            <a:r>
              <a:rPr lang="ko-KR" altLang="en-US" sz="1400" dirty="0"/>
              <a:t> 점에서</a:t>
            </a:r>
            <a:r>
              <a:rPr lang="en-US" altLang="ko-KR" sz="1400" dirty="0"/>
              <a:t>(</a:t>
            </a:r>
            <a:r>
              <a:rPr lang="ko-KR" altLang="en-US" sz="1400" dirty="0"/>
              <a:t>특허법 제</a:t>
            </a:r>
            <a:r>
              <a:rPr lang="en-US" altLang="ko-KR" sz="1400" dirty="0"/>
              <a:t>97</a:t>
            </a:r>
            <a:r>
              <a:rPr lang="ko-KR" altLang="en-US" sz="1400" dirty="0"/>
              <a:t>조</a:t>
            </a:r>
            <a:r>
              <a:rPr lang="en-US" altLang="ko-KR" sz="1400" dirty="0"/>
              <a:t>) </a:t>
            </a:r>
            <a:r>
              <a:rPr lang="ko-KR" altLang="en-US" sz="1400" dirty="0"/>
              <a:t>청구항에는 명확한 기재만이 허용되는 것으로</a:t>
            </a:r>
            <a:r>
              <a:rPr lang="en-US" altLang="ko-KR" sz="1400" dirty="0"/>
              <a:t>, </a:t>
            </a:r>
            <a:r>
              <a:rPr lang="ko-KR" altLang="en-US" sz="1400" dirty="0"/>
              <a:t>발명의 구성을 불명료하게 표현하는 용어는 원칙적으로 허용되지 않는다는 취지이다</a:t>
            </a:r>
            <a:r>
              <a:rPr lang="en-US" altLang="ko-KR" sz="1400" dirty="0"/>
              <a:t>(</a:t>
            </a:r>
            <a:r>
              <a:rPr lang="ko-KR" altLang="en-US" sz="1400" dirty="0"/>
              <a:t>대법원 </a:t>
            </a:r>
            <a:r>
              <a:rPr lang="en-US" altLang="ko-KR" sz="1400" dirty="0"/>
              <a:t>2006. 11. 24. </a:t>
            </a:r>
            <a:r>
              <a:rPr lang="ko-KR" altLang="en-US" sz="1400" dirty="0"/>
              <a:t>선고 </a:t>
            </a:r>
            <a:r>
              <a:rPr lang="en-US" altLang="ko-KR" sz="1400" dirty="0"/>
              <a:t>2003</a:t>
            </a:r>
            <a:r>
              <a:rPr lang="ko-KR" altLang="en-US" sz="1400" dirty="0"/>
              <a:t>후</a:t>
            </a:r>
            <a:r>
              <a:rPr lang="en-US" altLang="ko-KR" sz="1400" dirty="0"/>
              <a:t>2072 </a:t>
            </a:r>
            <a:r>
              <a:rPr lang="ko-KR" altLang="en-US" sz="1400" dirty="0"/>
              <a:t>판결</a:t>
            </a:r>
            <a:r>
              <a:rPr lang="en-US" altLang="ko-KR" sz="1400" dirty="0"/>
              <a:t>, </a:t>
            </a:r>
            <a:r>
              <a:rPr lang="ko-KR" altLang="en-US" sz="1400" dirty="0"/>
              <a:t>대법원 </a:t>
            </a:r>
            <a:r>
              <a:rPr lang="en-US" altLang="ko-KR" sz="1400" dirty="0"/>
              <a:t>2014. 7. 24. </a:t>
            </a:r>
            <a:r>
              <a:rPr lang="ko-KR" altLang="en-US" sz="1400" dirty="0"/>
              <a:t>선고 </a:t>
            </a:r>
            <a:r>
              <a:rPr lang="en-US" altLang="ko-KR" sz="1400" dirty="0"/>
              <a:t>2012</a:t>
            </a:r>
            <a:r>
              <a:rPr lang="ko-KR" altLang="en-US" sz="1400" dirty="0"/>
              <a:t>후</a:t>
            </a:r>
            <a:r>
              <a:rPr lang="en-US" altLang="ko-KR" sz="1400" dirty="0"/>
              <a:t>1613 </a:t>
            </a:r>
            <a:r>
              <a:rPr lang="ko-KR" altLang="en-US" sz="1400" dirty="0"/>
              <a:t>판결 등 참조</a:t>
            </a:r>
            <a:r>
              <a:rPr lang="en-US" altLang="ko-KR" sz="1400" dirty="0"/>
              <a:t>). </a:t>
            </a:r>
            <a:r>
              <a:rPr lang="ko-KR" altLang="en-US" sz="1400" dirty="0"/>
              <a:t>또한 발명이 명확하게 적혀 있는지 여부는 그 발명이 속하는 기술분야에서 통상의 지식을 가진 사람이 발명의 설명이나 도면 등의 기재와 출원 당시의 기술상식을 고려하여 청구범위에 기재된 사항으로부터 특허를 받고자 하는 발명을 명확하게 파악할 수 있는지에 따라 개별적으로 판단하여야 한다</a:t>
            </a:r>
            <a:r>
              <a:rPr lang="en-US" altLang="ko-KR" sz="1400" dirty="0"/>
              <a:t>(</a:t>
            </a:r>
            <a:r>
              <a:rPr lang="ko-KR" altLang="en-US" sz="1400" dirty="0"/>
              <a:t>대법원 </a:t>
            </a:r>
            <a:r>
              <a:rPr lang="en-US" altLang="ko-KR" sz="1400" dirty="0"/>
              <a:t>2017. 4. 7. </a:t>
            </a:r>
            <a:r>
              <a:rPr lang="ko-KR" altLang="en-US" sz="1400" dirty="0"/>
              <a:t>선고 </a:t>
            </a:r>
            <a:r>
              <a:rPr lang="en-US" altLang="ko-KR" sz="1400" dirty="0"/>
              <a:t>2014</a:t>
            </a:r>
            <a:r>
              <a:rPr lang="ko-KR" altLang="en-US" sz="1400" dirty="0"/>
              <a:t>후</a:t>
            </a:r>
            <a:r>
              <a:rPr lang="en-US" altLang="ko-KR" sz="1400" dirty="0"/>
              <a:t>1563 </a:t>
            </a:r>
            <a:r>
              <a:rPr lang="ko-KR" altLang="en-US" sz="1400" dirty="0"/>
              <a:t>판결 등 참조</a:t>
            </a:r>
            <a:r>
              <a:rPr lang="en-US" altLang="ko-KR" sz="1400" dirty="0"/>
              <a:t>).</a:t>
            </a:r>
          </a:p>
        </p:txBody>
      </p:sp>
    </p:spTree>
    <p:extLst>
      <p:ext uri="{BB962C8B-B14F-4D97-AF65-F5344CB8AC3E}">
        <p14:creationId xmlns:p14="http://schemas.microsoft.com/office/powerpoint/2010/main" val="3142736486"/>
      </p:ext>
    </p:extLst>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189</a:t>
            </a:r>
            <a:r>
              <a:rPr lang="ko-KR" altLang="en-US" dirty="0"/>
              <a:t>조</a:t>
            </a:r>
          </a:p>
        </p:txBody>
      </p:sp>
      <p:sp>
        <p:nvSpPr>
          <p:cNvPr id="4" name="텍스트 개체 틀 3"/>
          <p:cNvSpPr>
            <a:spLocks noGrp="1"/>
          </p:cNvSpPr>
          <p:nvPr>
            <p:ph type="body" sz="quarter" idx="13"/>
          </p:nvPr>
        </p:nvSpPr>
        <p:spPr/>
        <p:txBody>
          <a:bodyPr/>
          <a:lstStyle/>
          <a:p>
            <a:r>
              <a:rPr lang="ko-KR" altLang="en-US" dirty="0"/>
              <a:t>확정된 취소판결의 기속력이 미치는 범위</a:t>
            </a:r>
          </a:p>
        </p:txBody>
      </p:sp>
      <p:sp>
        <p:nvSpPr>
          <p:cNvPr id="31" name="모서리가 둥근 직사각형 10">
            <a:extLst>
              <a:ext uri="{FF2B5EF4-FFF2-40B4-BE49-F238E27FC236}">
                <a16:creationId xmlns:a16="http://schemas.microsoft.com/office/drawing/2014/main" id="{83E8DC17-A890-4A8F-8AF6-87049ACC89A5}"/>
              </a:ext>
            </a:extLst>
          </p:cNvPr>
          <p:cNvSpPr/>
          <p:nvPr/>
        </p:nvSpPr>
        <p:spPr bwMode="auto">
          <a:xfrm>
            <a:off x="378418" y="1002199"/>
            <a:ext cx="4737046"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ko-KR" altLang="en-US" sz="1400" dirty="0"/>
              <a:t>대법원 </a:t>
            </a:r>
            <a:r>
              <a:rPr lang="en-US" altLang="ko-KR" sz="1400" dirty="0"/>
              <a:t>2021. 1. 14. </a:t>
            </a:r>
            <a:r>
              <a:rPr lang="ko-KR" altLang="en-US" sz="1400" dirty="0"/>
              <a:t>선고 </a:t>
            </a:r>
            <a:r>
              <a:rPr lang="en-US" altLang="ko-KR" sz="1400" dirty="0"/>
              <a:t>2017</a:t>
            </a:r>
            <a:r>
              <a:rPr lang="ko-KR" altLang="en-US" sz="1400" dirty="0"/>
              <a:t>후</a:t>
            </a:r>
            <a:r>
              <a:rPr lang="en-US" altLang="ko-KR" sz="1400" dirty="0"/>
              <a:t>1830 </a:t>
            </a:r>
            <a:r>
              <a:rPr lang="ko-KR" altLang="en-US" sz="1400" dirty="0"/>
              <a:t>판결 </a:t>
            </a:r>
            <a:r>
              <a:rPr lang="en-US" altLang="ko-KR" sz="1400" dirty="0"/>
              <a:t>【</a:t>
            </a:r>
            <a:r>
              <a:rPr lang="ko-KR" altLang="en-US" sz="1400" dirty="0"/>
              <a:t>등록무효</a:t>
            </a:r>
            <a:r>
              <a:rPr lang="en-US" altLang="ko-KR" sz="1400" dirty="0"/>
              <a:t>(</a:t>
            </a:r>
            <a:r>
              <a:rPr lang="ko-KR" altLang="en-US" sz="1400" dirty="0" err="1"/>
              <a:t>특</a:t>
            </a:r>
            <a:r>
              <a:rPr lang="en-US" altLang="ko-KR" sz="1400" dirty="0"/>
              <a:t>)】</a:t>
            </a:r>
          </a:p>
        </p:txBody>
      </p:sp>
      <p:sp>
        <p:nvSpPr>
          <p:cNvPr id="32" name="직사각형 31">
            <a:extLst>
              <a:ext uri="{FF2B5EF4-FFF2-40B4-BE49-F238E27FC236}">
                <a16:creationId xmlns:a16="http://schemas.microsoft.com/office/drawing/2014/main" id="{AB016C75-8430-4388-9E51-7B3101DE3CF1}"/>
              </a:ext>
            </a:extLst>
          </p:cNvPr>
          <p:cNvSpPr/>
          <p:nvPr/>
        </p:nvSpPr>
        <p:spPr>
          <a:xfrm>
            <a:off x="232372" y="1333658"/>
            <a:ext cx="11681987" cy="1384995"/>
          </a:xfrm>
          <a:prstGeom prst="rect">
            <a:avLst/>
          </a:prstGeom>
        </p:spPr>
        <p:txBody>
          <a:bodyPr wrap="square">
            <a:spAutoFit/>
          </a:bodyPr>
          <a:lstStyle/>
          <a:p>
            <a:pPr algn="just"/>
            <a:r>
              <a:rPr lang="ko-KR" altLang="en-US" sz="1400" dirty="0" err="1">
                <a:solidFill>
                  <a:schemeClr val="accent3">
                    <a:lumMod val="50000"/>
                  </a:schemeClr>
                </a:solidFill>
                <a:highlight>
                  <a:srgbClr val="FFFF00"/>
                </a:highlight>
              </a:rPr>
              <a:t>심결을</a:t>
            </a:r>
            <a:r>
              <a:rPr lang="ko-KR" altLang="en-US" sz="1400" dirty="0">
                <a:solidFill>
                  <a:schemeClr val="accent3">
                    <a:lumMod val="50000"/>
                  </a:schemeClr>
                </a:solidFill>
                <a:highlight>
                  <a:srgbClr val="FFFF00"/>
                </a:highlight>
              </a:rPr>
              <a:t> 취소하는 판결이 확정된 경우</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그 취소의 기본이 된 이유는 그 사건에 대하여 특허심판원을 </a:t>
            </a:r>
            <a:r>
              <a:rPr lang="ko-KR" altLang="en-US" sz="1400" dirty="0" err="1">
                <a:solidFill>
                  <a:schemeClr val="accent3">
                    <a:lumMod val="50000"/>
                  </a:schemeClr>
                </a:solidFill>
                <a:highlight>
                  <a:srgbClr val="FFFF00"/>
                </a:highlight>
              </a:rPr>
              <a:t>기속하는</a:t>
            </a:r>
            <a:r>
              <a:rPr lang="ko-KR" altLang="en-US" sz="1400" dirty="0">
                <a:solidFill>
                  <a:schemeClr val="accent3">
                    <a:lumMod val="50000"/>
                  </a:schemeClr>
                </a:solidFill>
                <a:highlight>
                  <a:srgbClr val="FFFF00"/>
                </a:highlight>
              </a:rPr>
              <a:t> 것이고</a:t>
            </a:r>
            <a:r>
              <a:rPr lang="en-US" altLang="ko-KR" sz="1400" dirty="0">
                <a:solidFill>
                  <a:schemeClr val="accent3">
                    <a:lumMod val="50000"/>
                  </a:schemeClr>
                </a:solidFill>
                <a:highlight>
                  <a:srgbClr val="FFFF00"/>
                </a:highlight>
              </a:rPr>
              <a:t>, </a:t>
            </a:r>
            <a:r>
              <a:rPr lang="ko-KR" altLang="en-US" sz="1400" dirty="0">
                <a:solidFill>
                  <a:schemeClr val="accent3">
                    <a:lumMod val="50000"/>
                  </a:schemeClr>
                </a:solidFill>
                <a:highlight>
                  <a:srgbClr val="FFFF00"/>
                </a:highlight>
              </a:rPr>
              <a:t>이 경우의 기속력은 취소의 이유가 된 </a:t>
            </a:r>
            <a:r>
              <a:rPr lang="ko-KR" altLang="en-US" sz="1400" dirty="0" err="1">
                <a:solidFill>
                  <a:schemeClr val="accent3">
                    <a:lumMod val="50000"/>
                  </a:schemeClr>
                </a:solidFill>
                <a:highlight>
                  <a:srgbClr val="FFFF00"/>
                </a:highlight>
              </a:rPr>
              <a:t>심결의</a:t>
            </a:r>
            <a:r>
              <a:rPr lang="ko-KR" altLang="en-US" sz="1400" dirty="0">
                <a:solidFill>
                  <a:schemeClr val="accent3">
                    <a:lumMod val="50000"/>
                  </a:schemeClr>
                </a:solidFill>
                <a:highlight>
                  <a:srgbClr val="FFFF00"/>
                </a:highlight>
              </a:rPr>
              <a:t> 사실상 및 법률상 판단이 정당하지 않다는 점에서 발생한다</a:t>
            </a:r>
            <a:r>
              <a:rPr lang="en-US" altLang="ko-KR" sz="1400" dirty="0"/>
              <a:t>(</a:t>
            </a:r>
            <a:r>
              <a:rPr lang="ko-KR" altLang="en-US" sz="1400" dirty="0"/>
              <a:t>대법원 </a:t>
            </a:r>
            <a:r>
              <a:rPr lang="en-US" altLang="ko-KR" sz="1400" dirty="0"/>
              <a:t>2002. 1. 11. </a:t>
            </a:r>
            <a:r>
              <a:rPr lang="ko-KR" altLang="en-US" sz="1400" dirty="0"/>
              <a:t>선고 </a:t>
            </a:r>
            <a:r>
              <a:rPr lang="en-US" altLang="ko-KR" sz="1400" dirty="0"/>
              <a:t>99</a:t>
            </a:r>
            <a:r>
              <a:rPr lang="ko-KR" altLang="en-US" sz="1400" dirty="0"/>
              <a:t>후</a:t>
            </a:r>
            <a:r>
              <a:rPr lang="en-US" altLang="ko-KR" sz="1400" dirty="0"/>
              <a:t>2860 </a:t>
            </a:r>
            <a:r>
              <a:rPr lang="ko-KR" altLang="en-US" sz="1400" dirty="0"/>
              <a:t>판결</a:t>
            </a:r>
            <a:r>
              <a:rPr lang="en-US" altLang="ko-KR" sz="1400" dirty="0"/>
              <a:t>, </a:t>
            </a:r>
            <a:r>
              <a:rPr lang="ko-KR" altLang="en-US" sz="1400" dirty="0"/>
              <a:t>대법원 </a:t>
            </a:r>
            <a:r>
              <a:rPr lang="en-US" altLang="ko-KR" sz="1400" dirty="0"/>
              <a:t>2002. 12. 26. </a:t>
            </a:r>
            <a:r>
              <a:rPr lang="ko-KR" altLang="en-US" sz="1400" dirty="0"/>
              <a:t>선고 </a:t>
            </a:r>
            <a:r>
              <a:rPr lang="en-US" altLang="ko-KR" sz="1400" dirty="0"/>
              <a:t>2001</a:t>
            </a:r>
            <a:r>
              <a:rPr lang="ko-KR" altLang="en-US" sz="1400" dirty="0"/>
              <a:t>후</a:t>
            </a:r>
            <a:r>
              <a:rPr lang="en-US" altLang="ko-KR" sz="1400" dirty="0"/>
              <a:t>96 </a:t>
            </a:r>
            <a:r>
              <a:rPr lang="ko-KR" altLang="en-US" sz="1400" dirty="0"/>
              <a:t>판결 등 참조</a:t>
            </a:r>
            <a:r>
              <a:rPr lang="en-US" altLang="ko-KR" sz="1400" dirty="0"/>
              <a:t>). </a:t>
            </a:r>
            <a:r>
              <a:rPr lang="ko-KR" altLang="en-US" sz="1400" dirty="0"/>
              <a:t>위 법리에 비추어 이 사건에서 확정된 취소판결의 기속력이 미치는 범위에 관하여 본다</a:t>
            </a:r>
            <a:r>
              <a:rPr lang="en-US" altLang="ko-KR" sz="1400" dirty="0"/>
              <a:t>. </a:t>
            </a:r>
            <a:r>
              <a:rPr lang="ko-KR" altLang="en-US" sz="1400" dirty="0"/>
              <a:t>확정된 취소판결은 정정청구가 이 사건 제</a:t>
            </a:r>
            <a:r>
              <a:rPr lang="en-US" altLang="ko-KR" sz="1400" dirty="0"/>
              <a:t>1</a:t>
            </a:r>
            <a:r>
              <a:rPr lang="ko-KR" altLang="en-US" sz="1400" dirty="0"/>
              <a:t>항 </a:t>
            </a:r>
            <a:r>
              <a:rPr lang="ko-KR" altLang="en-US" sz="1400" dirty="0" err="1"/>
              <a:t>정정발명뿐만</a:t>
            </a:r>
            <a:r>
              <a:rPr lang="ko-KR" altLang="en-US" sz="1400" dirty="0"/>
              <a:t> 아니라 이 사건 제</a:t>
            </a:r>
            <a:r>
              <a:rPr lang="en-US" altLang="ko-KR" sz="1400" dirty="0"/>
              <a:t>3</a:t>
            </a:r>
            <a:r>
              <a:rPr lang="ko-KR" altLang="en-US" sz="1400" dirty="0"/>
              <a:t>항 내지 제</a:t>
            </a:r>
            <a:r>
              <a:rPr lang="en-US" altLang="ko-KR" sz="1400" dirty="0"/>
              <a:t>5</a:t>
            </a:r>
            <a:r>
              <a:rPr lang="ko-KR" altLang="en-US" sz="1400" dirty="0"/>
              <a:t>항 정정발명에도 모두 걸쳐 있다는 이유로 이 사건 제</a:t>
            </a:r>
            <a:r>
              <a:rPr lang="en-US" altLang="ko-KR" sz="1400" dirty="0"/>
              <a:t>3</a:t>
            </a:r>
            <a:r>
              <a:rPr lang="ko-KR" altLang="en-US" sz="1400" dirty="0"/>
              <a:t>항 내지 제</a:t>
            </a:r>
            <a:r>
              <a:rPr lang="en-US" altLang="ko-KR" sz="1400" dirty="0"/>
              <a:t>5</a:t>
            </a:r>
            <a:r>
              <a:rPr lang="ko-KR" altLang="en-US" sz="1400" dirty="0"/>
              <a:t>항 정정발명에 관한 부분까지 포함하여 이 사건 </a:t>
            </a:r>
            <a:r>
              <a:rPr lang="ko-KR" altLang="en-US" sz="1400" dirty="0" err="1"/>
              <a:t>원심결을</a:t>
            </a:r>
            <a:r>
              <a:rPr lang="ko-KR" altLang="en-US" sz="1400" dirty="0"/>
              <a:t> 전부 취소하기는 하였으나</a:t>
            </a:r>
            <a:r>
              <a:rPr lang="en-US" altLang="ko-KR" sz="1400" dirty="0"/>
              <a:t>, </a:t>
            </a:r>
            <a:r>
              <a:rPr lang="ko-KR" altLang="en-US" sz="1400" dirty="0"/>
              <a:t>취소의 기본이 된 이유는 이 사건 제</a:t>
            </a:r>
            <a:r>
              <a:rPr lang="en-US" altLang="ko-KR" sz="1400" dirty="0"/>
              <a:t>1</a:t>
            </a:r>
            <a:r>
              <a:rPr lang="ko-KR" altLang="en-US" sz="1400" dirty="0"/>
              <a:t>항 정정발명에 관한 원심결의 위법성 부분이라고 할 것이다</a:t>
            </a:r>
            <a:r>
              <a:rPr lang="en-US" altLang="ko-KR" sz="1400" dirty="0"/>
              <a:t>. </a:t>
            </a:r>
            <a:r>
              <a:rPr lang="ko-KR" altLang="en-US" sz="1400" dirty="0"/>
              <a:t>따라서 확정된 취소판결의 기속력은 이 사건 제</a:t>
            </a:r>
            <a:r>
              <a:rPr lang="en-US" altLang="ko-KR" sz="1400" dirty="0"/>
              <a:t>1</a:t>
            </a:r>
            <a:r>
              <a:rPr lang="ko-KR" altLang="en-US" sz="1400" dirty="0"/>
              <a:t>항 정정발명에 관한 원심결의 사실상 및 법률상 판단이 정당하지 않다는 점에서 발생한다</a:t>
            </a:r>
            <a:r>
              <a:rPr lang="en-US" altLang="ko-KR" sz="1400" dirty="0"/>
              <a:t>.</a:t>
            </a:r>
            <a:endParaRPr lang="en-US" altLang="ko-KR" sz="1400" dirty="0">
              <a:solidFill>
                <a:srgbClr val="FF0000"/>
              </a:solidFill>
            </a:endParaRPr>
          </a:p>
        </p:txBody>
      </p:sp>
      <p:sp>
        <p:nvSpPr>
          <p:cNvPr id="42" name="Line 5">
            <a:extLst>
              <a:ext uri="{FF2B5EF4-FFF2-40B4-BE49-F238E27FC236}">
                <a16:creationId xmlns:a16="http://schemas.microsoft.com/office/drawing/2014/main" id="{C3D521F3-C89A-4691-A233-1BC4F6DB64D3}"/>
              </a:ext>
            </a:extLst>
          </p:cNvPr>
          <p:cNvSpPr>
            <a:spLocks noChangeShapeType="1"/>
          </p:cNvSpPr>
          <p:nvPr/>
        </p:nvSpPr>
        <p:spPr bwMode="auto">
          <a:xfrm>
            <a:off x="514351" y="5143300"/>
            <a:ext cx="11530012" cy="0"/>
          </a:xfrm>
          <a:prstGeom prst="line">
            <a:avLst/>
          </a:prstGeom>
          <a:noFill/>
          <a:ln w="57150">
            <a:solidFill>
              <a:schemeClr val="bg1">
                <a:lumMod val="50000"/>
              </a:schemeClr>
            </a:solidFill>
            <a:round/>
            <a:headEnd/>
            <a:tailEnd type="stealth" w="med" len="med"/>
          </a:ln>
        </p:spPr>
        <p:txBody>
          <a:bodyPr/>
          <a:lstStyle/>
          <a:p>
            <a:endParaRPr lang="ko-KR" altLang="en-US" sz="1200">
              <a:latin typeface="+mn-ea"/>
            </a:endParaRPr>
          </a:p>
        </p:txBody>
      </p:sp>
      <p:sp>
        <p:nvSpPr>
          <p:cNvPr id="44" name="TextBox 43">
            <a:extLst>
              <a:ext uri="{FF2B5EF4-FFF2-40B4-BE49-F238E27FC236}">
                <a16:creationId xmlns:a16="http://schemas.microsoft.com/office/drawing/2014/main" id="{890F57E0-0C93-429E-B52D-950B18A62824}"/>
              </a:ext>
            </a:extLst>
          </p:cNvPr>
          <p:cNvSpPr txBox="1"/>
          <p:nvPr/>
        </p:nvSpPr>
        <p:spPr>
          <a:xfrm>
            <a:off x="381971" y="5408107"/>
            <a:ext cx="1049336" cy="461665"/>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무효심판청구</a:t>
            </a:r>
            <a:endParaRPr lang="en-US" altLang="ko-KR" sz="1200" dirty="0">
              <a:solidFill>
                <a:schemeClr val="tx1"/>
              </a:solidFill>
              <a:latin typeface="+mn-ea"/>
            </a:endParaRPr>
          </a:p>
          <a:p>
            <a:pPr algn="ctr"/>
            <a:r>
              <a:rPr lang="en-US" altLang="ko-KR" sz="1200" dirty="0">
                <a:solidFill>
                  <a:schemeClr val="tx1"/>
                </a:solidFill>
                <a:latin typeface="+mn-ea"/>
              </a:rPr>
              <a:t>(1, 3-5)</a:t>
            </a:r>
            <a:endParaRPr lang="ko-KR" altLang="en-US" sz="1200" dirty="0">
              <a:solidFill>
                <a:schemeClr val="tx1"/>
              </a:solidFill>
              <a:latin typeface="+mn-ea"/>
            </a:endParaRPr>
          </a:p>
        </p:txBody>
      </p:sp>
      <p:sp>
        <p:nvSpPr>
          <p:cNvPr id="47" name="타원 46">
            <a:extLst>
              <a:ext uri="{FF2B5EF4-FFF2-40B4-BE49-F238E27FC236}">
                <a16:creationId xmlns:a16="http://schemas.microsoft.com/office/drawing/2014/main" id="{1E416A6A-17E0-4A3B-8C28-9560A00280A4}"/>
              </a:ext>
            </a:extLst>
          </p:cNvPr>
          <p:cNvSpPr/>
          <p:nvPr/>
        </p:nvSpPr>
        <p:spPr>
          <a:xfrm>
            <a:off x="829269" y="505799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8" name="직선 연결선 47">
            <a:extLst>
              <a:ext uri="{FF2B5EF4-FFF2-40B4-BE49-F238E27FC236}">
                <a16:creationId xmlns:a16="http://schemas.microsoft.com/office/drawing/2014/main" id="{94B9FD84-6472-4A38-96A7-0961D12BE1A4}"/>
              </a:ext>
            </a:extLst>
          </p:cNvPr>
          <p:cNvCxnSpPr>
            <a:cxnSpLocks/>
            <a:stCxn id="44" idx="0"/>
            <a:endCxn id="47" idx="4"/>
          </p:cNvCxnSpPr>
          <p:nvPr/>
        </p:nvCxnSpPr>
        <p:spPr>
          <a:xfrm flipH="1" flipV="1">
            <a:off x="906638" y="521933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B93DE314-156B-4AE0-A6A1-A3E38D2DAD5E}"/>
              </a:ext>
            </a:extLst>
          </p:cNvPr>
          <p:cNvSpPr txBox="1"/>
          <p:nvPr/>
        </p:nvSpPr>
        <p:spPr>
          <a:xfrm>
            <a:off x="1007674" y="4503464"/>
            <a:ext cx="803324" cy="276999"/>
          </a:xfrm>
          <a:prstGeom prst="rect">
            <a:avLst/>
          </a:prstGeom>
          <a:solidFill>
            <a:schemeClr val="accent6">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정정청구</a:t>
            </a:r>
          </a:p>
        </p:txBody>
      </p:sp>
      <p:sp>
        <p:nvSpPr>
          <p:cNvPr id="29" name="타원 28">
            <a:extLst>
              <a:ext uri="{FF2B5EF4-FFF2-40B4-BE49-F238E27FC236}">
                <a16:creationId xmlns:a16="http://schemas.microsoft.com/office/drawing/2014/main" id="{BF25F9F4-5090-4DB9-9E09-63BBFFE26323}"/>
              </a:ext>
            </a:extLst>
          </p:cNvPr>
          <p:cNvSpPr/>
          <p:nvPr/>
        </p:nvSpPr>
        <p:spPr>
          <a:xfrm>
            <a:off x="1331966" y="5057998"/>
            <a:ext cx="154738" cy="161338"/>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30" name="직선 연결선 29">
            <a:extLst>
              <a:ext uri="{FF2B5EF4-FFF2-40B4-BE49-F238E27FC236}">
                <a16:creationId xmlns:a16="http://schemas.microsoft.com/office/drawing/2014/main" id="{80124424-B4CE-4C83-9036-BBB347007F6C}"/>
              </a:ext>
            </a:extLst>
          </p:cNvPr>
          <p:cNvCxnSpPr>
            <a:cxnSpLocks/>
            <a:stCxn id="28" idx="2"/>
            <a:endCxn id="29" idx="0"/>
          </p:cNvCxnSpPr>
          <p:nvPr/>
        </p:nvCxnSpPr>
        <p:spPr>
          <a:xfrm flipH="1">
            <a:off x="1409335" y="4780463"/>
            <a:ext cx="1" cy="27753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직선 연결선 38">
            <a:extLst>
              <a:ext uri="{FF2B5EF4-FFF2-40B4-BE49-F238E27FC236}">
                <a16:creationId xmlns:a16="http://schemas.microsoft.com/office/drawing/2014/main" id="{8EBEB81B-2590-4C97-916A-77B3A16D975F}"/>
              </a:ext>
            </a:extLst>
          </p:cNvPr>
          <p:cNvCxnSpPr/>
          <p:nvPr/>
        </p:nvCxnSpPr>
        <p:spPr>
          <a:xfrm>
            <a:off x="0" y="2731532"/>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4B0894F6-A169-4E1F-809A-03F33BB32B57}"/>
              </a:ext>
            </a:extLst>
          </p:cNvPr>
          <p:cNvSpPr txBox="1"/>
          <p:nvPr/>
        </p:nvSpPr>
        <p:spPr>
          <a:xfrm>
            <a:off x="1887503" y="4322786"/>
            <a:ext cx="803324" cy="461665"/>
          </a:xfrm>
          <a:prstGeom prst="rect">
            <a:avLst/>
          </a:prstGeom>
          <a:solidFill>
            <a:schemeClr val="accent5">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정정인정</a:t>
            </a:r>
            <a:endParaRPr lang="en-US" altLang="ko-KR" sz="1200" dirty="0">
              <a:solidFill>
                <a:schemeClr val="tx1"/>
              </a:solidFill>
              <a:latin typeface="+mn-ea"/>
            </a:endParaRPr>
          </a:p>
          <a:p>
            <a:pPr algn="ctr"/>
            <a:r>
              <a:rPr lang="ko-KR" altLang="en-US" sz="1200" dirty="0" err="1">
                <a:solidFill>
                  <a:schemeClr val="tx1"/>
                </a:solidFill>
                <a:latin typeface="+mn-ea"/>
              </a:rPr>
              <a:t>기각심결</a:t>
            </a:r>
            <a:endParaRPr lang="ko-KR" altLang="en-US" sz="1200" dirty="0">
              <a:solidFill>
                <a:schemeClr val="tx1"/>
              </a:solidFill>
              <a:latin typeface="+mn-ea"/>
            </a:endParaRPr>
          </a:p>
        </p:txBody>
      </p:sp>
      <p:sp>
        <p:nvSpPr>
          <p:cNvPr id="46" name="타원 45">
            <a:extLst>
              <a:ext uri="{FF2B5EF4-FFF2-40B4-BE49-F238E27FC236}">
                <a16:creationId xmlns:a16="http://schemas.microsoft.com/office/drawing/2014/main" id="{686AB63F-920C-469C-8BF3-1A6C02B1039B}"/>
              </a:ext>
            </a:extLst>
          </p:cNvPr>
          <p:cNvSpPr/>
          <p:nvPr/>
        </p:nvSpPr>
        <p:spPr>
          <a:xfrm>
            <a:off x="2211795" y="5057998"/>
            <a:ext cx="154738" cy="161338"/>
          </a:xfrm>
          <a:prstGeom prst="ellipse">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49" name="직선 연결선 48">
            <a:extLst>
              <a:ext uri="{FF2B5EF4-FFF2-40B4-BE49-F238E27FC236}">
                <a16:creationId xmlns:a16="http://schemas.microsoft.com/office/drawing/2014/main" id="{5C5D6EB5-F279-4CB1-89B6-5503FAFAAD69}"/>
              </a:ext>
            </a:extLst>
          </p:cNvPr>
          <p:cNvCxnSpPr>
            <a:cxnSpLocks/>
            <a:stCxn id="45" idx="2"/>
            <a:endCxn id="46" idx="0"/>
          </p:cNvCxnSpPr>
          <p:nvPr/>
        </p:nvCxnSpPr>
        <p:spPr>
          <a:xfrm flipH="1">
            <a:off x="2289164" y="4784451"/>
            <a:ext cx="1" cy="27354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24909182-AB1B-4A77-BF36-D67A9FE229E9}"/>
              </a:ext>
            </a:extLst>
          </p:cNvPr>
          <p:cNvSpPr txBox="1"/>
          <p:nvPr/>
        </p:nvSpPr>
        <p:spPr>
          <a:xfrm>
            <a:off x="2233794" y="5408107"/>
            <a:ext cx="1044240"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a:solidFill>
                  <a:schemeClr val="tx1"/>
                </a:solidFill>
                <a:latin typeface="+mn-ea"/>
              </a:rPr>
              <a:t>소제기</a:t>
            </a:r>
            <a:endParaRPr lang="ko-KR" altLang="en-US" sz="1200" dirty="0">
              <a:solidFill>
                <a:schemeClr val="tx1"/>
              </a:solidFill>
              <a:latin typeface="+mn-ea"/>
            </a:endParaRPr>
          </a:p>
        </p:txBody>
      </p:sp>
      <p:sp>
        <p:nvSpPr>
          <p:cNvPr id="61" name="타원 60">
            <a:extLst>
              <a:ext uri="{FF2B5EF4-FFF2-40B4-BE49-F238E27FC236}">
                <a16:creationId xmlns:a16="http://schemas.microsoft.com/office/drawing/2014/main" id="{841A1E23-3915-4280-A6E2-AFDE0F15286A}"/>
              </a:ext>
            </a:extLst>
          </p:cNvPr>
          <p:cNvSpPr/>
          <p:nvPr/>
        </p:nvSpPr>
        <p:spPr>
          <a:xfrm>
            <a:off x="2678544" y="505799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2" name="직선 연결선 61">
            <a:extLst>
              <a:ext uri="{FF2B5EF4-FFF2-40B4-BE49-F238E27FC236}">
                <a16:creationId xmlns:a16="http://schemas.microsoft.com/office/drawing/2014/main" id="{6FFC3CF7-2AF4-4BCF-844F-B02990BE574A}"/>
              </a:ext>
            </a:extLst>
          </p:cNvPr>
          <p:cNvCxnSpPr>
            <a:cxnSpLocks/>
            <a:stCxn id="60" idx="0"/>
            <a:endCxn id="61" idx="4"/>
          </p:cNvCxnSpPr>
          <p:nvPr/>
        </p:nvCxnSpPr>
        <p:spPr>
          <a:xfrm flipH="1" flipV="1">
            <a:off x="2755913" y="521933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1E4790B0-C75D-4196-8BAB-DA3D9ED06240}"/>
              </a:ext>
            </a:extLst>
          </p:cNvPr>
          <p:cNvSpPr txBox="1"/>
          <p:nvPr/>
        </p:nvSpPr>
        <p:spPr>
          <a:xfrm>
            <a:off x="2769320" y="4141632"/>
            <a:ext cx="1664658" cy="646331"/>
          </a:xfrm>
          <a:prstGeom prst="rect">
            <a:avLst/>
          </a:prstGeom>
          <a:solidFill>
            <a:schemeClr val="accent5">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정정 </a:t>
            </a:r>
            <a:r>
              <a:rPr lang="en-US" altLang="ko-KR" sz="1200" dirty="0">
                <a:solidFill>
                  <a:schemeClr val="tx1"/>
                </a:solidFill>
                <a:latin typeface="+mn-ea"/>
              </a:rPr>
              <a:t>1</a:t>
            </a:r>
            <a:r>
              <a:rPr lang="ko-KR" altLang="en-US" sz="1200" dirty="0">
                <a:solidFill>
                  <a:schemeClr val="tx1"/>
                </a:solidFill>
                <a:latin typeface="+mn-ea"/>
              </a:rPr>
              <a:t>항 신규성 부정</a:t>
            </a:r>
            <a:r>
              <a:rPr lang="en-US" altLang="ko-KR" sz="1200" dirty="0">
                <a:solidFill>
                  <a:schemeClr val="tx1"/>
                </a:solidFill>
                <a:latin typeface="+mn-ea"/>
              </a:rPr>
              <a:t>/</a:t>
            </a:r>
          </a:p>
          <a:p>
            <a:pPr algn="ctr"/>
            <a:r>
              <a:rPr lang="ko-KR" altLang="en-US" sz="1200" dirty="0">
                <a:solidFill>
                  <a:schemeClr val="tx1"/>
                </a:solidFill>
                <a:latin typeface="+mn-ea"/>
              </a:rPr>
              <a:t>정정 </a:t>
            </a:r>
            <a:r>
              <a:rPr lang="en-US" altLang="ko-KR" sz="1200" dirty="0">
                <a:solidFill>
                  <a:schemeClr val="tx1"/>
                </a:solidFill>
                <a:latin typeface="+mn-ea"/>
              </a:rPr>
              <a:t>3-5</a:t>
            </a:r>
            <a:r>
              <a:rPr lang="ko-KR" altLang="en-US" sz="1200" dirty="0">
                <a:solidFill>
                  <a:schemeClr val="tx1"/>
                </a:solidFill>
                <a:latin typeface="+mn-ea"/>
              </a:rPr>
              <a:t>항 진보성 적법</a:t>
            </a:r>
            <a:r>
              <a:rPr lang="en-US" altLang="ko-KR" sz="1200" dirty="0">
                <a:solidFill>
                  <a:schemeClr val="tx1"/>
                </a:solidFill>
                <a:latin typeface="+mn-ea"/>
              </a:rPr>
              <a:t>: </a:t>
            </a:r>
          </a:p>
          <a:p>
            <a:pPr algn="ctr"/>
            <a:r>
              <a:rPr lang="ko-KR" altLang="en-US" sz="1200" dirty="0" err="1">
                <a:solidFill>
                  <a:srgbClr val="FF0000"/>
                </a:solidFill>
                <a:highlight>
                  <a:srgbClr val="FFFF00"/>
                </a:highlight>
                <a:latin typeface="+mn-ea"/>
              </a:rPr>
              <a:t>원심결</a:t>
            </a:r>
            <a:r>
              <a:rPr lang="ko-KR" altLang="en-US" sz="1200" dirty="0">
                <a:solidFill>
                  <a:srgbClr val="FF0000"/>
                </a:solidFill>
                <a:highlight>
                  <a:srgbClr val="FFFF00"/>
                </a:highlight>
                <a:latin typeface="+mn-ea"/>
              </a:rPr>
              <a:t> 전부 </a:t>
            </a:r>
            <a:r>
              <a:rPr lang="ko-KR" altLang="en-US" sz="1200" dirty="0" err="1">
                <a:solidFill>
                  <a:srgbClr val="FF0000"/>
                </a:solidFill>
                <a:highlight>
                  <a:srgbClr val="FFFF00"/>
                </a:highlight>
                <a:latin typeface="+mn-ea"/>
              </a:rPr>
              <a:t>취소환송</a:t>
            </a:r>
            <a:endParaRPr lang="ko-KR" altLang="en-US" sz="1200" dirty="0">
              <a:solidFill>
                <a:srgbClr val="FF0000"/>
              </a:solidFill>
              <a:highlight>
                <a:srgbClr val="FFFF00"/>
              </a:highlight>
              <a:latin typeface="+mn-ea"/>
            </a:endParaRPr>
          </a:p>
        </p:txBody>
      </p:sp>
      <p:sp>
        <p:nvSpPr>
          <p:cNvPr id="67" name="타원 66">
            <a:extLst>
              <a:ext uri="{FF2B5EF4-FFF2-40B4-BE49-F238E27FC236}">
                <a16:creationId xmlns:a16="http://schemas.microsoft.com/office/drawing/2014/main" id="{412A264E-3B2B-442B-BE42-6675F355234F}"/>
              </a:ext>
            </a:extLst>
          </p:cNvPr>
          <p:cNvSpPr/>
          <p:nvPr/>
        </p:nvSpPr>
        <p:spPr>
          <a:xfrm>
            <a:off x="3524279" y="5057998"/>
            <a:ext cx="154738" cy="161338"/>
          </a:xfrm>
          <a:prstGeom prst="ellipse">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68" name="직선 연결선 67">
            <a:extLst>
              <a:ext uri="{FF2B5EF4-FFF2-40B4-BE49-F238E27FC236}">
                <a16:creationId xmlns:a16="http://schemas.microsoft.com/office/drawing/2014/main" id="{7530FFF1-3359-4672-AEB9-0D2ADB31F77F}"/>
              </a:ext>
            </a:extLst>
          </p:cNvPr>
          <p:cNvCxnSpPr>
            <a:cxnSpLocks/>
            <a:stCxn id="63" idx="2"/>
            <a:endCxn id="67" idx="0"/>
          </p:cNvCxnSpPr>
          <p:nvPr/>
        </p:nvCxnSpPr>
        <p:spPr>
          <a:xfrm flipH="1">
            <a:off x="3601648" y="4787963"/>
            <a:ext cx="1" cy="27003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FC8526F5-84DD-43F5-8A8F-52EED9F60E45}"/>
              </a:ext>
            </a:extLst>
          </p:cNvPr>
          <p:cNvSpPr txBox="1"/>
          <p:nvPr/>
        </p:nvSpPr>
        <p:spPr>
          <a:xfrm>
            <a:off x="4496286" y="4503464"/>
            <a:ext cx="803324" cy="276999"/>
          </a:xfrm>
          <a:prstGeom prst="rect">
            <a:avLst/>
          </a:prstGeom>
          <a:solidFill>
            <a:schemeClr val="accent6">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상고</a:t>
            </a:r>
          </a:p>
        </p:txBody>
      </p:sp>
      <p:sp>
        <p:nvSpPr>
          <p:cNvPr id="70" name="타원 69">
            <a:extLst>
              <a:ext uri="{FF2B5EF4-FFF2-40B4-BE49-F238E27FC236}">
                <a16:creationId xmlns:a16="http://schemas.microsoft.com/office/drawing/2014/main" id="{D00C8239-335C-4E49-BD25-387E187C1611}"/>
              </a:ext>
            </a:extLst>
          </p:cNvPr>
          <p:cNvSpPr/>
          <p:nvPr/>
        </p:nvSpPr>
        <p:spPr>
          <a:xfrm>
            <a:off x="4820578" y="5057998"/>
            <a:ext cx="154738" cy="161338"/>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1" name="직선 연결선 70">
            <a:extLst>
              <a:ext uri="{FF2B5EF4-FFF2-40B4-BE49-F238E27FC236}">
                <a16:creationId xmlns:a16="http://schemas.microsoft.com/office/drawing/2014/main" id="{908CE7F6-2183-47A9-81BD-D2E11500F8E0}"/>
              </a:ext>
            </a:extLst>
          </p:cNvPr>
          <p:cNvCxnSpPr>
            <a:cxnSpLocks/>
            <a:stCxn id="69" idx="2"/>
            <a:endCxn id="70" idx="0"/>
          </p:cNvCxnSpPr>
          <p:nvPr/>
        </p:nvCxnSpPr>
        <p:spPr>
          <a:xfrm flipH="1">
            <a:off x="4897947" y="4780463"/>
            <a:ext cx="1" cy="27753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4E5B69E-AF29-4B3E-8340-213CDF4FE71F}"/>
              </a:ext>
            </a:extLst>
          </p:cNvPr>
          <p:cNvSpPr txBox="1"/>
          <p:nvPr/>
        </p:nvSpPr>
        <p:spPr>
          <a:xfrm>
            <a:off x="5365810" y="4391322"/>
            <a:ext cx="803324" cy="384721"/>
          </a:xfrm>
          <a:prstGeom prst="rect">
            <a:avLst/>
          </a:prstGeom>
          <a:solidFill>
            <a:schemeClr val="accent5">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a:t>
            </a:r>
            <a:endParaRPr lang="en-US" altLang="ko-KR" sz="1200" dirty="0">
              <a:solidFill>
                <a:schemeClr val="tx1"/>
              </a:solidFill>
              <a:latin typeface="+mn-ea"/>
            </a:endParaRPr>
          </a:p>
          <a:p>
            <a:pPr algn="ctr"/>
            <a:r>
              <a:rPr lang="en-US" altLang="ko-KR" sz="700" dirty="0">
                <a:solidFill>
                  <a:schemeClr val="tx1"/>
                </a:solidFill>
                <a:latin typeface="+mn-ea"/>
              </a:rPr>
              <a:t>(2016</a:t>
            </a:r>
            <a:r>
              <a:rPr lang="ko-KR" altLang="en-US" sz="700" dirty="0">
                <a:solidFill>
                  <a:schemeClr val="tx1"/>
                </a:solidFill>
                <a:latin typeface="+mn-ea"/>
              </a:rPr>
              <a:t>후</a:t>
            </a:r>
            <a:r>
              <a:rPr lang="en-US" altLang="ko-KR" sz="700" dirty="0">
                <a:solidFill>
                  <a:schemeClr val="tx1"/>
                </a:solidFill>
                <a:latin typeface="+mn-ea"/>
              </a:rPr>
              <a:t>1390)</a:t>
            </a:r>
            <a:endParaRPr lang="ko-KR" altLang="en-US" sz="700" dirty="0">
              <a:solidFill>
                <a:schemeClr val="tx1"/>
              </a:solidFill>
              <a:latin typeface="+mn-ea"/>
            </a:endParaRPr>
          </a:p>
        </p:txBody>
      </p:sp>
      <p:sp>
        <p:nvSpPr>
          <p:cNvPr id="74" name="타원 73">
            <a:extLst>
              <a:ext uri="{FF2B5EF4-FFF2-40B4-BE49-F238E27FC236}">
                <a16:creationId xmlns:a16="http://schemas.microsoft.com/office/drawing/2014/main" id="{32E8ECE5-543F-48EF-8DB5-A350E0824CA5}"/>
              </a:ext>
            </a:extLst>
          </p:cNvPr>
          <p:cNvSpPr/>
          <p:nvPr/>
        </p:nvSpPr>
        <p:spPr>
          <a:xfrm>
            <a:off x="5690102" y="5057998"/>
            <a:ext cx="154738" cy="161338"/>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77" name="직선 연결선 76">
            <a:extLst>
              <a:ext uri="{FF2B5EF4-FFF2-40B4-BE49-F238E27FC236}">
                <a16:creationId xmlns:a16="http://schemas.microsoft.com/office/drawing/2014/main" id="{A9E92333-BBE2-499F-A7BF-2BBE6A8C4A5B}"/>
              </a:ext>
            </a:extLst>
          </p:cNvPr>
          <p:cNvCxnSpPr>
            <a:cxnSpLocks/>
            <a:stCxn id="72" idx="2"/>
            <a:endCxn id="74" idx="0"/>
          </p:cNvCxnSpPr>
          <p:nvPr/>
        </p:nvCxnSpPr>
        <p:spPr>
          <a:xfrm flipH="1">
            <a:off x="5767471" y="4776043"/>
            <a:ext cx="1" cy="281955"/>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E9FF6C6-38C8-4DF2-9CE6-8413EFA3EA1F}"/>
              </a:ext>
            </a:extLst>
          </p:cNvPr>
          <p:cNvSpPr txBox="1"/>
          <p:nvPr/>
        </p:nvSpPr>
        <p:spPr>
          <a:xfrm>
            <a:off x="381971" y="6026752"/>
            <a:ext cx="1049336"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인용발명 </a:t>
            </a:r>
            <a:r>
              <a:rPr lang="en-US" altLang="ko-KR" sz="1200" dirty="0">
                <a:solidFill>
                  <a:schemeClr val="tx1"/>
                </a:solidFill>
                <a:latin typeface="+mn-ea"/>
              </a:rPr>
              <a:t>1-4</a:t>
            </a:r>
            <a:endParaRPr lang="ko-KR" altLang="en-US" sz="1200" dirty="0">
              <a:solidFill>
                <a:schemeClr val="tx1"/>
              </a:solidFill>
              <a:latin typeface="+mn-ea"/>
            </a:endParaRPr>
          </a:p>
        </p:txBody>
      </p:sp>
      <p:cxnSp>
        <p:nvCxnSpPr>
          <p:cNvPr id="21" name="직선 연결선 20">
            <a:extLst>
              <a:ext uri="{FF2B5EF4-FFF2-40B4-BE49-F238E27FC236}">
                <a16:creationId xmlns:a16="http://schemas.microsoft.com/office/drawing/2014/main" id="{1A3D2573-FE15-408D-8225-CB55285EF82A}"/>
              </a:ext>
            </a:extLst>
          </p:cNvPr>
          <p:cNvCxnSpPr>
            <a:stCxn id="78" idx="0"/>
            <a:endCxn id="44" idx="2"/>
          </p:cNvCxnSpPr>
          <p:nvPr/>
        </p:nvCxnSpPr>
        <p:spPr>
          <a:xfrm flipV="1">
            <a:off x="906639" y="5869772"/>
            <a:ext cx="0" cy="15698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TextBox 80">
            <a:extLst>
              <a:ext uri="{FF2B5EF4-FFF2-40B4-BE49-F238E27FC236}">
                <a16:creationId xmlns:a16="http://schemas.microsoft.com/office/drawing/2014/main" id="{6D27929D-F223-4121-90BE-2197D33AD49E}"/>
              </a:ext>
            </a:extLst>
          </p:cNvPr>
          <p:cNvSpPr txBox="1"/>
          <p:nvPr/>
        </p:nvSpPr>
        <p:spPr>
          <a:xfrm>
            <a:off x="2233794" y="6026752"/>
            <a:ext cx="1044240" cy="27699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인용발명 </a:t>
            </a:r>
            <a:r>
              <a:rPr lang="en-US" altLang="ko-KR" sz="1200" dirty="0">
                <a:solidFill>
                  <a:schemeClr val="tx1"/>
                </a:solidFill>
                <a:latin typeface="+mn-ea"/>
              </a:rPr>
              <a:t>1-</a:t>
            </a:r>
            <a:r>
              <a:rPr lang="en-US" altLang="ko-KR" sz="1200" dirty="0">
                <a:solidFill>
                  <a:srgbClr val="FF0000"/>
                </a:solidFill>
                <a:latin typeface="+mn-ea"/>
              </a:rPr>
              <a:t>5</a:t>
            </a:r>
            <a:endParaRPr lang="ko-KR" altLang="en-US" sz="1200" dirty="0">
              <a:solidFill>
                <a:srgbClr val="FF0000"/>
              </a:solidFill>
              <a:latin typeface="+mn-ea"/>
            </a:endParaRPr>
          </a:p>
        </p:txBody>
      </p:sp>
      <p:cxnSp>
        <p:nvCxnSpPr>
          <p:cNvPr id="27" name="직선 연결선 26">
            <a:extLst>
              <a:ext uri="{FF2B5EF4-FFF2-40B4-BE49-F238E27FC236}">
                <a16:creationId xmlns:a16="http://schemas.microsoft.com/office/drawing/2014/main" id="{BA8512FB-C819-418B-8941-659F0137494B}"/>
              </a:ext>
            </a:extLst>
          </p:cNvPr>
          <p:cNvCxnSpPr>
            <a:stCxn id="81" idx="0"/>
            <a:endCxn id="60" idx="2"/>
          </p:cNvCxnSpPr>
          <p:nvPr/>
        </p:nvCxnSpPr>
        <p:spPr>
          <a:xfrm flipV="1">
            <a:off x="2755914" y="5685106"/>
            <a:ext cx="0" cy="34164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2" name="TextBox 81">
            <a:extLst>
              <a:ext uri="{FF2B5EF4-FFF2-40B4-BE49-F238E27FC236}">
                <a16:creationId xmlns:a16="http://schemas.microsoft.com/office/drawing/2014/main" id="{2D77F300-098D-4E1F-9192-A2A14C1CA63A}"/>
              </a:ext>
            </a:extLst>
          </p:cNvPr>
          <p:cNvSpPr txBox="1"/>
          <p:nvPr/>
        </p:nvSpPr>
        <p:spPr>
          <a:xfrm>
            <a:off x="6264528" y="4322786"/>
            <a:ext cx="1571128" cy="461665"/>
          </a:xfrm>
          <a:prstGeom prst="rect">
            <a:avLst/>
          </a:prstGeom>
          <a:solidFill>
            <a:schemeClr val="accent5">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정정인정</a:t>
            </a:r>
            <a:endParaRPr lang="en-US" altLang="ko-KR" sz="1200" dirty="0">
              <a:solidFill>
                <a:schemeClr val="tx1"/>
              </a:solidFill>
              <a:latin typeface="+mn-ea"/>
            </a:endParaRPr>
          </a:p>
          <a:p>
            <a:pPr algn="ctr"/>
            <a:r>
              <a:rPr lang="en-US" altLang="ko-KR" sz="1200" dirty="0">
                <a:solidFill>
                  <a:schemeClr val="tx1"/>
                </a:solidFill>
                <a:latin typeface="+mn-ea"/>
              </a:rPr>
              <a:t>1</a:t>
            </a:r>
            <a:r>
              <a:rPr lang="ko-KR" altLang="en-US" sz="1200" dirty="0">
                <a:solidFill>
                  <a:schemeClr val="tx1"/>
                </a:solidFill>
                <a:latin typeface="+mn-ea"/>
              </a:rPr>
              <a:t>항 무효</a:t>
            </a:r>
            <a:r>
              <a:rPr lang="en-US" altLang="ko-KR" sz="1200" dirty="0">
                <a:solidFill>
                  <a:schemeClr val="tx1"/>
                </a:solidFill>
                <a:latin typeface="+mn-ea"/>
              </a:rPr>
              <a:t>/3-5</a:t>
            </a:r>
            <a:r>
              <a:rPr lang="ko-KR" altLang="en-US" sz="1200" dirty="0">
                <a:solidFill>
                  <a:schemeClr val="tx1"/>
                </a:solidFill>
                <a:latin typeface="+mn-ea"/>
              </a:rPr>
              <a:t>항</a:t>
            </a:r>
            <a:r>
              <a:rPr lang="en-US" altLang="ko-KR" sz="1200" dirty="0">
                <a:solidFill>
                  <a:schemeClr val="tx1"/>
                </a:solidFill>
                <a:latin typeface="+mn-ea"/>
              </a:rPr>
              <a:t>: </a:t>
            </a:r>
            <a:r>
              <a:rPr lang="ko-KR" altLang="en-US" sz="1200" dirty="0">
                <a:solidFill>
                  <a:schemeClr val="tx1"/>
                </a:solidFill>
                <a:latin typeface="+mn-ea"/>
              </a:rPr>
              <a:t>유효</a:t>
            </a:r>
          </a:p>
        </p:txBody>
      </p:sp>
      <p:sp>
        <p:nvSpPr>
          <p:cNvPr id="83" name="타원 82">
            <a:extLst>
              <a:ext uri="{FF2B5EF4-FFF2-40B4-BE49-F238E27FC236}">
                <a16:creationId xmlns:a16="http://schemas.microsoft.com/office/drawing/2014/main" id="{386FA315-3F6B-4A11-A8E1-583FC58F7EDF}"/>
              </a:ext>
            </a:extLst>
          </p:cNvPr>
          <p:cNvSpPr/>
          <p:nvPr/>
        </p:nvSpPr>
        <p:spPr>
          <a:xfrm>
            <a:off x="6972722" y="5057998"/>
            <a:ext cx="154738" cy="161338"/>
          </a:xfrm>
          <a:prstGeom prst="ellipse">
            <a:avLst/>
          </a:prstGeom>
          <a:solidFill>
            <a:schemeClr val="accent5">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84" name="직선 연결선 83">
            <a:extLst>
              <a:ext uri="{FF2B5EF4-FFF2-40B4-BE49-F238E27FC236}">
                <a16:creationId xmlns:a16="http://schemas.microsoft.com/office/drawing/2014/main" id="{75B5A761-D98B-4D19-B666-2AE0D7659356}"/>
              </a:ext>
            </a:extLst>
          </p:cNvPr>
          <p:cNvCxnSpPr>
            <a:cxnSpLocks/>
            <a:stCxn id="82" idx="2"/>
            <a:endCxn id="83" idx="0"/>
          </p:cNvCxnSpPr>
          <p:nvPr/>
        </p:nvCxnSpPr>
        <p:spPr>
          <a:xfrm flipH="1">
            <a:off x="7050091" y="4784451"/>
            <a:ext cx="1" cy="273547"/>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8" name="TextBox 87">
            <a:extLst>
              <a:ext uri="{FF2B5EF4-FFF2-40B4-BE49-F238E27FC236}">
                <a16:creationId xmlns:a16="http://schemas.microsoft.com/office/drawing/2014/main" id="{5226F174-D8D1-4713-B31E-8E4F6656663E}"/>
              </a:ext>
            </a:extLst>
          </p:cNvPr>
          <p:cNvSpPr txBox="1"/>
          <p:nvPr/>
        </p:nvSpPr>
        <p:spPr>
          <a:xfrm>
            <a:off x="7273442" y="5408107"/>
            <a:ext cx="1044240"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a:solidFill>
                  <a:schemeClr val="tx1"/>
                </a:solidFill>
                <a:latin typeface="+mn-ea"/>
              </a:rPr>
              <a:t>소제기</a:t>
            </a:r>
            <a:endParaRPr lang="ko-KR" altLang="en-US" sz="1200" dirty="0">
              <a:solidFill>
                <a:schemeClr val="tx1"/>
              </a:solidFill>
              <a:latin typeface="+mn-ea"/>
            </a:endParaRPr>
          </a:p>
        </p:txBody>
      </p:sp>
      <p:sp>
        <p:nvSpPr>
          <p:cNvPr id="89" name="타원 88">
            <a:extLst>
              <a:ext uri="{FF2B5EF4-FFF2-40B4-BE49-F238E27FC236}">
                <a16:creationId xmlns:a16="http://schemas.microsoft.com/office/drawing/2014/main" id="{19C3862D-6040-4935-A637-A8EB1F433E84}"/>
              </a:ext>
            </a:extLst>
          </p:cNvPr>
          <p:cNvSpPr/>
          <p:nvPr/>
        </p:nvSpPr>
        <p:spPr>
          <a:xfrm>
            <a:off x="7718192" y="505799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0" name="직선 연결선 89">
            <a:extLst>
              <a:ext uri="{FF2B5EF4-FFF2-40B4-BE49-F238E27FC236}">
                <a16:creationId xmlns:a16="http://schemas.microsoft.com/office/drawing/2014/main" id="{B98568BA-2F6E-4698-B903-B61717FCB031}"/>
              </a:ext>
            </a:extLst>
          </p:cNvPr>
          <p:cNvCxnSpPr>
            <a:cxnSpLocks/>
            <a:stCxn id="88" idx="0"/>
            <a:endCxn id="89" idx="4"/>
          </p:cNvCxnSpPr>
          <p:nvPr/>
        </p:nvCxnSpPr>
        <p:spPr>
          <a:xfrm flipH="1" flipV="1">
            <a:off x="7795561" y="521933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1" name="직선 연결선 90">
            <a:extLst>
              <a:ext uri="{FF2B5EF4-FFF2-40B4-BE49-F238E27FC236}">
                <a16:creationId xmlns:a16="http://schemas.microsoft.com/office/drawing/2014/main" id="{A4B351D4-5E06-43B9-B4E9-0E4A826F3501}"/>
              </a:ext>
            </a:extLst>
          </p:cNvPr>
          <p:cNvCxnSpPr>
            <a:endCxn id="88" idx="2"/>
          </p:cNvCxnSpPr>
          <p:nvPr/>
        </p:nvCxnSpPr>
        <p:spPr>
          <a:xfrm flipV="1">
            <a:off x="7795562" y="5685106"/>
            <a:ext cx="0" cy="34164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3" name="TextBox 92">
            <a:extLst>
              <a:ext uri="{FF2B5EF4-FFF2-40B4-BE49-F238E27FC236}">
                <a16:creationId xmlns:a16="http://schemas.microsoft.com/office/drawing/2014/main" id="{B7384906-3A99-4960-918A-462C7085DED3}"/>
              </a:ext>
            </a:extLst>
          </p:cNvPr>
          <p:cNvSpPr txBox="1"/>
          <p:nvPr/>
        </p:nvSpPr>
        <p:spPr>
          <a:xfrm>
            <a:off x="6264527" y="6026752"/>
            <a:ext cx="2053153"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altLang="ko-KR" sz="1200" dirty="0">
                <a:solidFill>
                  <a:schemeClr val="tx1"/>
                </a:solidFill>
                <a:latin typeface="+mn-ea"/>
              </a:rPr>
              <a:t>3</a:t>
            </a:r>
            <a:r>
              <a:rPr lang="ko-KR" altLang="en-US" sz="1200" dirty="0">
                <a:solidFill>
                  <a:schemeClr val="tx1"/>
                </a:solidFill>
                <a:latin typeface="+mn-ea"/>
              </a:rPr>
              <a:t>항 발명이 인용발명 </a:t>
            </a:r>
            <a:r>
              <a:rPr lang="en-US" altLang="ko-KR" sz="1200" dirty="0">
                <a:solidFill>
                  <a:schemeClr val="tx1"/>
                </a:solidFill>
                <a:latin typeface="+mn-ea"/>
              </a:rPr>
              <a:t>5,</a:t>
            </a:r>
            <a:r>
              <a:rPr lang="en-US" altLang="ko-KR" sz="1200" dirty="0">
                <a:solidFill>
                  <a:srgbClr val="FF0000"/>
                </a:solidFill>
                <a:latin typeface="+mn-ea"/>
              </a:rPr>
              <a:t>7</a:t>
            </a:r>
            <a:r>
              <a:rPr lang="en-US" altLang="ko-KR" sz="1200" dirty="0">
                <a:solidFill>
                  <a:schemeClr val="tx1"/>
                </a:solidFill>
                <a:latin typeface="+mn-ea"/>
              </a:rPr>
              <a:t> </a:t>
            </a:r>
            <a:r>
              <a:rPr lang="ko-KR" altLang="en-US" sz="1200" dirty="0">
                <a:solidFill>
                  <a:schemeClr val="tx1"/>
                </a:solidFill>
                <a:latin typeface="+mn-ea"/>
              </a:rPr>
              <a:t>또는 </a:t>
            </a:r>
            <a:endParaRPr lang="en-US" altLang="ko-KR" sz="1200" dirty="0">
              <a:solidFill>
                <a:schemeClr val="tx1"/>
              </a:solidFill>
              <a:latin typeface="+mn-ea"/>
            </a:endParaRPr>
          </a:p>
          <a:p>
            <a:pPr algn="ctr"/>
            <a:r>
              <a:rPr lang="en-US" altLang="ko-KR" sz="1200" dirty="0">
                <a:solidFill>
                  <a:srgbClr val="FF0000"/>
                </a:solidFill>
                <a:latin typeface="+mn-ea"/>
              </a:rPr>
              <a:t>6,7</a:t>
            </a:r>
            <a:r>
              <a:rPr lang="ko-KR" altLang="en-US" sz="1200" dirty="0">
                <a:solidFill>
                  <a:schemeClr val="tx1"/>
                </a:solidFill>
                <a:latin typeface="+mn-ea"/>
              </a:rPr>
              <a:t>에 의하여 진보성이 부정 </a:t>
            </a:r>
          </a:p>
        </p:txBody>
      </p:sp>
      <p:sp>
        <p:nvSpPr>
          <p:cNvPr id="95" name="TextBox 94">
            <a:extLst>
              <a:ext uri="{FF2B5EF4-FFF2-40B4-BE49-F238E27FC236}">
                <a16:creationId xmlns:a16="http://schemas.microsoft.com/office/drawing/2014/main" id="{4831A5D3-AEC6-4596-9421-0D84A6AA24AF}"/>
              </a:ext>
            </a:extLst>
          </p:cNvPr>
          <p:cNvSpPr txBox="1"/>
          <p:nvPr/>
        </p:nvSpPr>
        <p:spPr>
          <a:xfrm>
            <a:off x="8102095" y="4494836"/>
            <a:ext cx="803324" cy="276999"/>
          </a:xfrm>
          <a:prstGeom prst="rect">
            <a:avLst/>
          </a:prstGeom>
          <a:solidFill>
            <a:schemeClr val="accent5">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a:t>
            </a:r>
            <a:endParaRPr lang="en-US" altLang="ko-KR" sz="1200" dirty="0">
              <a:solidFill>
                <a:schemeClr val="tx1"/>
              </a:solidFill>
              <a:latin typeface="+mn-ea"/>
            </a:endParaRPr>
          </a:p>
        </p:txBody>
      </p:sp>
      <p:sp>
        <p:nvSpPr>
          <p:cNvPr id="96" name="타원 95">
            <a:extLst>
              <a:ext uri="{FF2B5EF4-FFF2-40B4-BE49-F238E27FC236}">
                <a16:creationId xmlns:a16="http://schemas.microsoft.com/office/drawing/2014/main" id="{93A0A591-7F94-493F-9F93-2E4633B5AB77}"/>
              </a:ext>
            </a:extLst>
          </p:cNvPr>
          <p:cNvSpPr/>
          <p:nvPr/>
        </p:nvSpPr>
        <p:spPr>
          <a:xfrm>
            <a:off x="8426387" y="5057998"/>
            <a:ext cx="154738" cy="161338"/>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97" name="직선 연결선 96">
            <a:extLst>
              <a:ext uri="{FF2B5EF4-FFF2-40B4-BE49-F238E27FC236}">
                <a16:creationId xmlns:a16="http://schemas.microsoft.com/office/drawing/2014/main" id="{3BC4A66E-60FF-474E-87DE-98F8A9AF983E}"/>
              </a:ext>
            </a:extLst>
          </p:cNvPr>
          <p:cNvCxnSpPr>
            <a:cxnSpLocks/>
            <a:stCxn id="95" idx="2"/>
            <a:endCxn id="96" idx="0"/>
          </p:cNvCxnSpPr>
          <p:nvPr/>
        </p:nvCxnSpPr>
        <p:spPr>
          <a:xfrm flipH="1">
            <a:off x="8503756" y="4771835"/>
            <a:ext cx="1" cy="28616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152D92B1-B25C-4D44-AB66-C1F41464A4A5}"/>
              </a:ext>
            </a:extLst>
          </p:cNvPr>
          <p:cNvSpPr txBox="1"/>
          <p:nvPr/>
        </p:nvSpPr>
        <p:spPr>
          <a:xfrm>
            <a:off x="158642" y="2999311"/>
            <a:ext cx="11755717" cy="1015663"/>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ko-KR" altLang="en-US" sz="1200" b="0" i="0" dirty="0" err="1">
                <a:solidFill>
                  <a:srgbClr val="333333"/>
                </a:solidFill>
                <a:effectLst/>
                <a:latin typeface="+mn-ea"/>
              </a:rPr>
              <a:t>심결을</a:t>
            </a:r>
            <a:r>
              <a:rPr lang="ko-KR" altLang="en-US" sz="1200" b="0" i="0" dirty="0">
                <a:solidFill>
                  <a:srgbClr val="333333"/>
                </a:solidFill>
                <a:effectLst/>
                <a:latin typeface="+mn-ea"/>
              </a:rPr>
              <a:t> 취소하는 판결이 확정된 경우 그 취소의 기본이 된 이유는 그 사건에 대하여 특허심판원을 </a:t>
            </a:r>
            <a:r>
              <a:rPr lang="ko-KR" altLang="en-US" sz="1200" b="0" i="0" dirty="0" err="1">
                <a:solidFill>
                  <a:srgbClr val="333333"/>
                </a:solidFill>
                <a:effectLst/>
                <a:latin typeface="+mn-ea"/>
              </a:rPr>
              <a:t>기속하는</a:t>
            </a:r>
            <a:r>
              <a:rPr lang="ko-KR" altLang="en-US" sz="1200" b="0" i="0" dirty="0">
                <a:solidFill>
                  <a:srgbClr val="333333"/>
                </a:solidFill>
                <a:effectLst/>
                <a:latin typeface="+mn-ea"/>
              </a:rPr>
              <a:t> 것이고</a:t>
            </a:r>
            <a:r>
              <a:rPr lang="en-US" altLang="ko-KR" sz="1200" b="0" i="0" dirty="0">
                <a:solidFill>
                  <a:srgbClr val="333333"/>
                </a:solidFill>
                <a:effectLst/>
                <a:latin typeface="+mn-ea"/>
              </a:rPr>
              <a:t>, </a:t>
            </a:r>
            <a:r>
              <a:rPr lang="ko-KR" altLang="en-US" sz="1200" b="0" i="0" dirty="0">
                <a:solidFill>
                  <a:srgbClr val="333333"/>
                </a:solidFill>
                <a:effectLst/>
                <a:latin typeface="+mn-ea"/>
              </a:rPr>
              <a:t>이 경우의 기속력은 취소의 이유가 된 </a:t>
            </a:r>
            <a:r>
              <a:rPr lang="ko-KR" altLang="en-US" sz="1200" b="0" i="0" dirty="0" err="1">
                <a:solidFill>
                  <a:srgbClr val="333333"/>
                </a:solidFill>
                <a:effectLst/>
                <a:latin typeface="+mn-ea"/>
              </a:rPr>
              <a:t>심결의</a:t>
            </a:r>
            <a:r>
              <a:rPr lang="ko-KR" altLang="en-US" sz="1200" b="0" i="0" dirty="0">
                <a:solidFill>
                  <a:srgbClr val="333333"/>
                </a:solidFill>
                <a:effectLst/>
                <a:latin typeface="+mn-ea"/>
              </a:rPr>
              <a:t> 사실상 및 법률상 판단이 정당하지 않다는 점에 있어서 발생하는 것이므로</a:t>
            </a:r>
            <a:r>
              <a:rPr lang="en-US" altLang="ko-KR" sz="1200" b="0" i="0" dirty="0">
                <a:solidFill>
                  <a:srgbClr val="333333"/>
                </a:solidFill>
                <a:effectLst/>
                <a:latin typeface="+mn-ea"/>
              </a:rPr>
              <a:t>, </a:t>
            </a:r>
            <a:r>
              <a:rPr lang="ko-KR" altLang="en-US" sz="1200" b="0" i="0" dirty="0">
                <a:solidFill>
                  <a:srgbClr val="333333"/>
                </a:solidFill>
                <a:effectLst/>
                <a:latin typeface="+mn-ea"/>
              </a:rPr>
              <a:t>취소 후의 심리과정에서 새로운 증거가 제출되어 </a:t>
            </a:r>
            <a:r>
              <a:rPr lang="ko-KR" altLang="en-US" sz="1200" b="0" i="0" dirty="0" err="1">
                <a:solidFill>
                  <a:srgbClr val="333333"/>
                </a:solidFill>
                <a:effectLst/>
                <a:latin typeface="+mn-ea"/>
              </a:rPr>
              <a:t>기속적</a:t>
            </a:r>
            <a:r>
              <a:rPr lang="ko-KR" altLang="en-US" sz="1200" b="0" i="0" dirty="0">
                <a:solidFill>
                  <a:srgbClr val="333333"/>
                </a:solidFill>
                <a:effectLst/>
                <a:latin typeface="+mn-ea"/>
              </a:rPr>
              <a:t> 판단의 기초가 되는 증거관계에 변동이 생기는 등의 특단의 사정이 없는 한</a:t>
            </a:r>
            <a:r>
              <a:rPr lang="en-US" altLang="ko-KR" sz="1200" b="0" i="0" dirty="0">
                <a:solidFill>
                  <a:srgbClr val="333333"/>
                </a:solidFill>
                <a:effectLst/>
                <a:latin typeface="+mn-ea"/>
              </a:rPr>
              <a:t>, </a:t>
            </a:r>
            <a:r>
              <a:rPr lang="ko-KR" altLang="en-US" sz="1200" b="0" i="0" dirty="0">
                <a:solidFill>
                  <a:srgbClr val="333333"/>
                </a:solidFill>
                <a:effectLst/>
                <a:latin typeface="+mn-ea"/>
              </a:rPr>
              <a:t>특허심판원은 위 확정된 취소판결에서 위법이라고 판단된 이유와 동일한 이유로 종전의 </a:t>
            </a:r>
            <a:r>
              <a:rPr lang="ko-KR" altLang="en-US" sz="1200" b="0" i="0" dirty="0" err="1">
                <a:solidFill>
                  <a:srgbClr val="333333"/>
                </a:solidFill>
                <a:effectLst/>
                <a:latin typeface="+mn-ea"/>
              </a:rPr>
              <a:t>심결과</a:t>
            </a:r>
            <a:r>
              <a:rPr lang="ko-KR" altLang="en-US" sz="1200" b="0" i="0" dirty="0">
                <a:solidFill>
                  <a:srgbClr val="333333"/>
                </a:solidFill>
                <a:effectLst/>
                <a:latin typeface="+mn-ea"/>
              </a:rPr>
              <a:t> 동일한 결론의 </a:t>
            </a:r>
            <a:r>
              <a:rPr lang="ko-KR" altLang="en-US" sz="1200" b="0" i="0" dirty="0" err="1">
                <a:solidFill>
                  <a:srgbClr val="333333"/>
                </a:solidFill>
                <a:effectLst/>
                <a:latin typeface="+mn-ea"/>
              </a:rPr>
              <a:t>심결을</a:t>
            </a:r>
            <a:r>
              <a:rPr lang="ko-KR" altLang="en-US" sz="1200" b="0" i="0" dirty="0">
                <a:solidFill>
                  <a:srgbClr val="333333"/>
                </a:solidFill>
                <a:effectLst/>
                <a:latin typeface="+mn-ea"/>
              </a:rPr>
              <a:t> 할 수 없고</a:t>
            </a:r>
            <a:r>
              <a:rPr lang="en-US" altLang="ko-KR" sz="1200" b="0" i="0" dirty="0">
                <a:solidFill>
                  <a:srgbClr val="333333"/>
                </a:solidFill>
                <a:effectLst/>
                <a:latin typeface="+mn-ea"/>
              </a:rPr>
              <a:t>, </a:t>
            </a:r>
            <a:r>
              <a:rPr lang="ko-KR" altLang="en-US" sz="1200" b="0" i="0" dirty="0">
                <a:solidFill>
                  <a:srgbClr val="333333"/>
                </a:solidFill>
                <a:effectLst/>
                <a:latin typeface="+mn-ea"/>
              </a:rPr>
              <a:t>여기에서 </a:t>
            </a:r>
            <a:r>
              <a:rPr lang="ko-KR" altLang="en-US" sz="1200" b="0" i="0" dirty="0">
                <a:solidFill>
                  <a:schemeClr val="tx1">
                    <a:lumMod val="75000"/>
                    <a:lumOff val="25000"/>
                  </a:schemeClr>
                </a:solidFill>
                <a:effectLst/>
                <a:latin typeface="+mn-ea"/>
              </a:rPr>
              <a:t>새로운 증거라 함은 적어도 취소된 </a:t>
            </a:r>
            <a:r>
              <a:rPr lang="ko-KR" altLang="en-US" sz="1200" b="0" i="0" dirty="0" err="1">
                <a:solidFill>
                  <a:schemeClr val="tx1">
                    <a:lumMod val="75000"/>
                    <a:lumOff val="25000"/>
                  </a:schemeClr>
                </a:solidFill>
                <a:effectLst/>
                <a:latin typeface="+mn-ea"/>
              </a:rPr>
              <a:t>심결이</a:t>
            </a:r>
            <a:r>
              <a:rPr lang="ko-KR" altLang="en-US" sz="1200" b="0" i="0" dirty="0">
                <a:solidFill>
                  <a:schemeClr val="tx1">
                    <a:lumMod val="75000"/>
                    <a:lumOff val="25000"/>
                  </a:schemeClr>
                </a:solidFill>
                <a:effectLst/>
                <a:latin typeface="+mn-ea"/>
              </a:rPr>
              <a:t> </a:t>
            </a:r>
            <a:r>
              <a:rPr lang="ko-KR" altLang="en-US" sz="1200" b="0" i="0" dirty="0" err="1">
                <a:solidFill>
                  <a:schemeClr val="tx1">
                    <a:lumMod val="75000"/>
                    <a:lumOff val="25000"/>
                  </a:schemeClr>
                </a:solidFill>
                <a:effectLst/>
                <a:latin typeface="+mn-ea"/>
              </a:rPr>
              <a:t>행하여진</a:t>
            </a:r>
            <a:r>
              <a:rPr lang="ko-KR" altLang="en-US" sz="1200" b="0" i="0" dirty="0">
                <a:solidFill>
                  <a:schemeClr val="tx1">
                    <a:lumMod val="75000"/>
                    <a:lumOff val="25000"/>
                  </a:schemeClr>
                </a:solidFill>
                <a:effectLst/>
                <a:latin typeface="+mn-ea"/>
              </a:rPr>
              <a:t> 심판절차 내지는 그 </a:t>
            </a:r>
            <a:r>
              <a:rPr lang="ko-KR" altLang="en-US" sz="1200" b="0" i="0" dirty="0" err="1">
                <a:solidFill>
                  <a:schemeClr val="tx1">
                    <a:lumMod val="75000"/>
                    <a:lumOff val="25000"/>
                  </a:schemeClr>
                </a:solidFill>
                <a:effectLst/>
                <a:latin typeface="+mn-ea"/>
              </a:rPr>
              <a:t>심결의</a:t>
            </a:r>
            <a:r>
              <a:rPr lang="ko-KR" altLang="en-US" sz="1200" b="0" i="0" dirty="0">
                <a:solidFill>
                  <a:schemeClr val="tx1">
                    <a:lumMod val="75000"/>
                    <a:lumOff val="25000"/>
                  </a:schemeClr>
                </a:solidFill>
                <a:effectLst/>
                <a:latin typeface="+mn-ea"/>
              </a:rPr>
              <a:t> 취소소송에서 채택</a:t>
            </a:r>
            <a:r>
              <a:rPr lang="en-US" altLang="ko-KR" sz="1200" b="0" i="0" dirty="0">
                <a:solidFill>
                  <a:schemeClr val="tx1">
                    <a:lumMod val="75000"/>
                    <a:lumOff val="25000"/>
                  </a:schemeClr>
                </a:solidFill>
                <a:effectLst/>
                <a:latin typeface="+mn-ea"/>
              </a:rPr>
              <a:t>, </a:t>
            </a:r>
            <a:r>
              <a:rPr lang="ko-KR" altLang="en-US" sz="1200" b="0" i="0" dirty="0">
                <a:solidFill>
                  <a:schemeClr val="tx1">
                    <a:lumMod val="75000"/>
                    <a:lumOff val="25000"/>
                  </a:schemeClr>
                </a:solidFill>
                <a:effectLst/>
                <a:latin typeface="+mn-ea"/>
              </a:rPr>
              <a:t>조사되지 않은 것으로서 </a:t>
            </a:r>
            <a:r>
              <a:rPr lang="ko-KR" altLang="en-US" sz="1200" b="0" i="0" dirty="0" err="1">
                <a:solidFill>
                  <a:schemeClr val="tx1">
                    <a:lumMod val="75000"/>
                    <a:lumOff val="25000"/>
                  </a:schemeClr>
                </a:solidFill>
                <a:effectLst/>
                <a:latin typeface="+mn-ea"/>
              </a:rPr>
              <a:t>심결취소판결의</a:t>
            </a:r>
            <a:r>
              <a:rPr lang="ko-KR" altLang="en-US" sz="1200" b="0" i="0" dirty="0">
                <a:solidFill>
                  <a:schemeClr val="tx1">
                    <a:lumMod val="75000"/>
                    <a:lumOff val="25000"/>
                  </a:schemeClr>
                </a:solidFill>
                <a:effectLst/>
                <a:latin typeface="+mn-ea"/>
              </a:rPr>
              <a:t> 결론을 번복하기에 족한 </a:t>
            </a:r>
            <a:r>
              <a:rPr lang="ko-KR" altLang="en-US" sz="1200" b="0" i="0" dirty="0" err="1">
                <a:solidFill>
                  <a:schemeClr val="tx1">
                    <a:lumMod val="75000"/>
                    <a:lumOff val="25000"/>
                  </a:schemeClr>
                </a:solidFill>
                <a:effectLst/>
                <a:latin typeface="+mn-ea"/>
              </a:rPr>
              <a:t>증명력을</a:t>
            </a:r>
            <a:r>
              <a:rPr lang="ko-KR" altLang="en-US" sz="1200" b="0" i="0" dirty="0">
                <a:solidFill>
                  <a:schemeClr val="tx1">
                    <a:lumMod val="75000"/>
                    <a:lumOff val="25000"/>
                  </a:schemeClr>
                </a:solidFill>
                <a:effectLst/>
                <a:latin typeface="+mn-ea"/>
              </a:rPr>
              <a:t> 가지는 증거라고 보아야 할 것이다</a:t>
            </a:r>
            <a:r>
              <a:rPr lang="en-US" altLang="ko-KR" sz="1200" b="0" i="0" dirty="0">
                <a:solidFill>
                  <a:schemeClr val="tx1">
                    <a:lumMod val="75000"/>
                    <a:lumOff val="25000"/>
                  </a:schemeClr>
                </a:solidFill>
                <a:effectLst/>
                <a:latin typeface="+mn-ea"/>
              </a:rPr>
              <a:t> (</a:t>
            </a:r>
            <a:r>
              <a:rPr lang="ko-KR" altLang="en-US" sz="1200" b="0" i="0" u="none" strike="noStrike" dirty="0">
                <a:solidFill>
                  <a:schemeClr val="tx1">
                    <a:lumMod val="75000"/>
                    <a:lumOff val="25000"/>
                  </a:schemeClr>
                </a:solidFill>
                <a:effectLst/>
                <a:latin typeface="+mn-ea"/>
              </a:rPr>
              <a:t>대법원 </a:t>
            </a:r>
            <a:r>
              <a:rPr lang="en-US" altLang="ko-KR" sz="1200" b="0" i="0" u="none" strike="noStrike" dirty="0">
                <a:solidFill>
                  <a:schemeClr val="tx1">
                    <a:lumMod val="75000"/>
                    <a:lumOff val="25000"/>
                  </a:schemeClr>
                </a:solidFill>
                <a:effectLst/>
                <a:latin typeface="+mn-ea"/>
              </a:rPr>
              <a:t>2002. 12. 26. </a:t>
            </a:r>
            <a:r>
              <a:rPr lang="ko-KR" altLang="en-US" sz="1200" b="0" i="0" u="none" strike="noStrike" dirty="0">
                <a:solidFill>
                  <a:schemeClr val="tx1">
                    <a:lumMod val="75000"/>
                    <a:lumOff val="25000"/>
                  </a:schemeClr>
                </a:solidFill>
                <a:effectLst/>
                <a:latin typeface="+mn-ea"/>
              </a:rPr>
              <a:t>선고 </a:t>
            </a:r>
            <a:r>
              <a:rPr lang="en-US" altLang="ko-KR" sz="1200" b="0" i="0" u="none" strike="noStrike" dirty="0">
                <a:solidFill>
                  <a:schemeClr val="tx1">
                    <a:lumMod val="75000"/>
                    <a:lumOff val="25000"/>
                  </a:schemeClr>
                </a:solidFill>
                <a:effectLst/>
                <a:latin typeface="+mn-ea"/>
              </a:rPr>
              <a:t>2001</a:t>
            </a:r>
            <a:r>
              <a:rPr lang="ko-KR" altLang="en-US" sz="1200" b="0" i="0" u="none" strike="noStrike" dirty="0">
                <a:solidFill>
                  <a:schemeClr val="tx1">
                    <a:lumMod val="75000"/>
                    <a:lumOff val="25000"/>
                  </a:schemeClr>
                </a:solidFill>
                <a:effectLst/>
                <a:latin typeface="+mn-ea"/>
              </a:rPr>
              <a:t>후</a:t>
            </a:r>
            <a:r>
              <a:rPr lang="en-US" altLang="ko-KR" sz="1200" b="0" i="0" u="none" strike="noStrike" dirty="0">
                <a:solidFill>
                  <a:schemeClr val="tx1">
                    <a:lumMod val="75000"/>
                    <a:lumOff val="25000"/>
                  </a:schemeClr>
                </a:solidFill>
                <a:effectLst/>
                <a:latin typeface="+mn-ea"/>
              </a:rPr>
              <a:t>96 </a:t>
            </a:r>
            <a:r>
              <a:rPr lang="ko-KR" altLang="en-US" sz="1200" b="0" i="0" u="none" strike="noStrike" dirty="0">
                <a:solidFill>
                  <a:schemeClr val="tx1">
                    <a:lumMod val="75000"/>
                    <a:lumOff val="25000"/>
                  </a:schemeClr>
                </a:solidFill>
                <a:effectLst/>
                <a:latin typeface="+mn-ea"/>
              </a:rPr>
              <a:t>판결</a:t>
            </a:r>
            <a:r>
              <a:rPr lang="en-US" altLang="ko-KR" sz="1200" b="0" i="0" u="none" strike="noStrike" dirty="0">
                <a:solidFill>
                  <a:schemeClr val="tx1">
                    <a:lumMod val="75000"/>
                    <a:lumOff val="25000"/>
                  </a:schemeClr>
                </a:solidFill>
                <a:effectLst/>
                <a:latin typeface="+mn-ea"/>
              </a:rPr>
              <a:t>). </a:t>
            </a:r>
            <a:r>
              <a:rPr lang="ko-KR" altLang="en-US" sz="1200" b="0" i="0" u="none" strike="noStrike" dirty="0">
                <a:solidFill>
                  <a:schemeClr val="tx1">
                    <a:lumMod val="75000"/>
                    <a:lumOff val="25000"/>
                  </a:schemeClr>
                </a:solidFill>
                <a:effectLst/>
                <a:latin typeface="+mn-ea"/>
              </a:rPr>
              <a:t>그런데</a:t>
            </a:r>
            <a:r>
              <a:rPr lang="en-US" altLang="ko-KR" sz="1200" b="0" i="0" u="none" strike="noStrike" dirty="0">
                <a:solidFill>
                  <a:schemeClr val="tx1">
                    <a:lumMod val="75000"/>
                    <a:lumOff val="25000"/>
                  </a:schemeClr>
                </a:solidFill>
                <a:effectLst/>
                <a:latin typeface="+mn-ea"/>
              </a:rPr>
              <a:t>, </a:t>
            </a:r>
            <a:r>
              <a:rPr lang="ko-KR" altLang="en-US" sz="1200" b="0" i="0" u="none" strike="noStrike" dirty="0">
                <a:solidFill>
                  <a:schemeClr val="tx1">
                    <a:lumMod val="75000"/>
                    <a:lumOff val="25000"/>
                  </a:schemeClr>
                </a:solidFill>
                <a:effectLst/>
                <a:highlight>
                  <a:srgbClr val="FFFF00"/>
                </a:highlight>
                <a:latin typeface="+mn-ea"/>
              </a:rPr>
              <a:t>인용발명 </a:t>
            </a:r>
            <a:r>
              <a:rPr lang="en-US" altLang="ko-KR" sz="1200" b="0" i="0" u="none" strike="noStrike" dirty="0">
                <a:solidFill>
                  <a:schemeClr val="tx1">
                    <a:lumMod val="75000"/>
                    <a:lumOff val="25000"/>
                  </a:schemeClr>
                </a:solidFill>
                <a:effectLst/>
                <a:highlight>
                  <a:srgbClr val="FFFF00"/>
                </a:highlight>
                <a:latin typeface="+mn-ea"/>
              </a:rPr>
              <a:t>6, 7</a:t>
            </a:r>
            <a:r>
              <a:rPr lang="ko-KR" altLang="en-US" sz="1200" b="0" i="0" u="none" strike="noStrike" dirty="0">
                <a:solidFill>
                  <a:schemeClr val="tx1">
                    <a:lumMod val="75000"/>
                    <a:lumOff val="25000"/>
                  </a:schemeClr>
                </a:solidFill>
                <a:effectLst/>
                <a:highlight>
                  <a:srgbClr val="FFFF00"/>
                </a:highlight>
                <a:latin typeface="+mn-ea"/>
              </a:rPr>
              <a:t>은 </a:t>
            </a:r>
            <a:r>
              <a:rPr lang="ko-KR" altLang="en-US" sz="1200" b="0" i="0" dirty="0">
                <a:solidFill>
                  <a:schemeClr val="tx1">
                    <a:lumMod val="75000"/>
                    <a:lumOff val="25000"/>
                  </a:schemeClr>
                </a:solidFill>
                <a:effectLst/>
                <a:highlight>
                  <a:srgbClr val="FFFF00"/>
                </a:highlight>
                <a:latin typeface="+mn-ea"/>
              </a:rPr>
              <a:t>원판결의 결론을 번복하기에 족한 </a:t>
            </a:r>
            <a:r>
              <a:rPr lang="ko-KR" altLang="en-US" sz="1200" b="0" i="0" dirty="0" err="1">
                <a:solidFill>
                  <a:schemeClr val="tx1">
                    <a:lumMod val="75000"/>
                    <a:lumOff val="25000"/>
                  </a:schemeClr>
                </a:solidFill>
                <a:effectLst/>
                <a:highlight>
                  <a:srgbClr val="FFFF00"/>
                </a:highlight>
                <a:latin typeface="+mn-ea"/>
              </a:rPr>
              <a:t>증명력을</a:t>
            </a:r>
            <a:r>
              <a:rPr lang="ko-KR" altLang="en-US" sz="1200" b="0" i="0" dirty="0">
                <a:solidFill>
                  <a:schemeClr val="tx1">
                    <a:lumMod val="75000"/>
                    <a:lumOff val="25000"/>
                  </a:schemeClr>
                </a:solidFill>
                <a:effectLst/>
                <a:highlight>
                  <a:srgbClr val="FFFF00"/>
                </a:highlight>
                <a:latin typeface="+mn-ea"/>
              </a:rPr>
              <a:t> 갖는 증거라고 보기도 어렵다</a:t>
            </a:r>
            <a:r>
              <a:rPr lang="en-US" altLang="ko-KR" sz="1200" b="0" i="0" dirty="0">
                <a:solidFill>
                  <a:schemeClr val="tx1">
                    <a:lumMod val="75000"/>
                    <a:lumOff val="25000"/>
                  </a:schemeClr>
                </a:solidFill>
                <a:effectLst/>
                <a:highlight>
                  <a:srgbClr val="FFFF00"/>
                </a:highlight>
                <a:latin typeface="+mn-ea"/>
              </a:rPr>
              <a:t>.</a:t>
            </a:r>
            <a:endParaRPr lang="ko-KR" altLang="en-US" sz="1200" dirty="0">
              <a:solidFill>
                <a:schemeClr val="tx1">
                  <a:lumMod val="75000"/>
                  <a:lumOff val="25000"/>
                </a:schemeClr>
              </a:solidFill>
              <a:highlight>
                <a:srgbClr val="FFFF00"/>
              </a:highlight>
              <a:latin typeface="+mn-ea"/>
            </a:endParaRPr>
          </a:p>
        </p:txBody>
      </p:sp>
      <p:cxnSp>
        <p:nvCxnSpPr>
          <p:cNvPr id="100" name="연결선: 꺾임 99">
            <a:extLst>
              <a:ext uri="{FF2B5EF4-FFF2-40B4-BE49-F238E27FC236}">
                <a16:creationId xmlns:a16="http://schemas.microsoft.com/office/drawing/2014/main" id="{F880A470-6DA2-466C-B839-2B62C647862E}"/>
              </a:ext>
            </a:extLst>
          </p:cNvPr>
          <p:cNvCxnSpPr>
            <a:stCxn id="98" idx="2"/>
            <a:endCxn id="95" idx="0"/>
          </p:cNvCxnSpPr>
          <p:nvPr/>
        </p:nvCxnSpPr>
        <p:spPr>
          <a:xfrm rot="16200000" flipH="1">
            <a:off x="7030198" y="3021277"/>
            <a:ext cx="479862" cy="246725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65D65578-7C63-44DC-88BC-8EF015178FC5}"/>
              </a:ext>
            </a:extLst>
          </p:cNvPr>
          <p:cNvSpPr txBox="1"/>
          <p:nvPr/>
        </p:nvSpPr>
        <p:spPr>
          <a:xfrm>
            <a:off x="8764317" y="5408107"/>
            <a:ext cx="1044240" cy="276999"/>
          </a:xfrm>
          <a:prstGeom prst="rect">
            <a:avLst/>
          </a:prstGeom>
          <a:solidFill>
            <a:schemeClr val="accent4"/>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상고</a:t>
            </a:r>
          </a:p>
        </p:txBody>
      </p:sp>
      <p:sp>
        <p:nvSpPr>
          <p:cNvPr id="102" name="타원 101">
            <a:extLst>
              <a:ext uri="{FF2B5EF4-FFF2-40B4-BE49-F238E27FC236}">
                <a16:creationId xmlns:a16="http://schemas.microsoft.com/office/drawing/2014/main" id="{4C02B89A-D744-47C9-9E52-2531916D9B5F}"/>
              </a:ext>
            </a:extLst>
          </p:cNvPr>
          <p:cNvSpPr/>
          <p:nvPr/>
        </p:nvSpPr>
        <p:spPr>
          <a:xfrm>
            <a:off x="9209067" y="5057998"/>
            <a:ext cx="154738" cy="161338"/>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3" name="직선 연결선 102">
            <a:extLst>
              <a:ext uri="{FF2B5EF4-FFF2-40B4-BE49-F238E27FC236}">
                <a16:creationId xmlns:a16="http://schemas.microsoft.com/office/drawing/2014/main" id="{5FE29E06-0C40-4752-A427-FDCC54EF4D50}"/>
              </a:ext>
            </a:extLst>
          </p:cNvPr>
          <p:cNvCxnSpPr>
            <a:cxnSpLocks/>
            <a:stCxn id="101" idx="0"/>
            <a:endCxn id="102" idx="4"/>
          </p:cNvCxnSpPr>
          <p:nvPr/>
        </p:nvCxnSpPr>
        <p:spPr>
          <a:xfrm flipH="1" flipV="1">
            <a:off x="9286436" y="5219336"/>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149E6F3-09D3-4F0A-9F84-74E4C3914B14}"/>
              </a:ext>
            </a:extLst>
          </p:cNvPr>
          <p:cNvSpPr txBox="1"/>
          <p:nvPr/>
        </p:nvSpPr>
        <p:spPr>
          <a:xfrm>
            <a:off x="9465265" y="4382694"/>
            <a:ext cx="803324" cy="384721"/>
          </a:xfrm>
          <a:prstGeom prst="rect">
            <a:avLst/>
          </a:prstGeom>
          <a:solidFill>
            <a:schemeClr val="accent5">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ko-KR" altLang="en-US" sz="1200" dirty="0">
                <a:solidFill>
                  <a:schemeClr val="tx1"/>
                </a:solidFill>
                <a:latin typeface="+mn-ea"/>
              </a:rPr>
              <a:t>기각판결</a:t>
            </a:r>
            <a:endParaRPr lang="en-US" altLang="ko-KR" sz="1200" dirty="0">
              <a:solidFill>
                <a:schemeClr val="tx1"/>
              </a:solidFill>
              <a:latin typeface="+mn-ea"/>
            </a:endParaRPr>
          </a:p>
          <a:p>
            <a:pPr algn="ctr"/>
            <a:r>
              <a:rPr lang="en-US" altLang="ko-KR" sz="700" dirty="0">
                <a:solidFill>
                  <a:schemeClr val="tx1"/>
                </a:solidFill>
                <a:latin typeface="+mn-ea"/>
              </a:rPr>
              <a:t>(2017</a:t>
            </a:r>
            <a:r>
              <a:rPr lang="ko-KR" altLang="en-US" sz="700" dirty="0">
                <a:solidFill>
                  <a:schemeClr val="tx1"/>
                </a:solidFill>
                <a:latin typeface="+mn-ea"/>
              </a:rPr>
              <a:t>후</a:t>
            </a:r>
            <a:r>
              <a:rPr lang="en-US" altLang="ko-KR" sz="700" dirty="0">
                <a:solidFill>
                  <a:schemeClr val="tx1"/>
                </a:solidFill>
                <a:latin typeface="+mn-ea"/>
              </a:rPr>
              <a:t>1830)</a:t>
            </a:r>
          </a:p>
        </p:txBody>
      </p:sp>
      <p:sp>
        <p:nvSpPr>
          <p:cNvPr id="106" name="타원 105">
            <a:extLst>
              <a:ext uri="{FF2B5EF4-FFF2-40B4-BE49-F238E27FC236}">
                <a16:creationId xmlns:a16="http://schemas.microsoft.com/office/drawing/2014/main" id="{B9CD0D05-93C7-425F-8F42-374323C7F8CF}"/>
              </a:ext>
            </a:extLst>
          </p:cNvPr>
          <p:cNvSpPr/>
          <p:nvPr/>
        </p:nvSpPr>
        <p:spPr>
          <a:xfrm>
            <a:off x="9789557" y="5057998"/>
            <a:ext cx="154738" cy="161338"/>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200">
              <a:latin typeface="+mn-ea"/>
            </a:endParaRPr>
          </a:p>
        </p:txBody>
      </p:sp>
      <p:cxnSp>
        <p:nvCxnSpPr>
          <p:cNvPr id="107" name="직선 연결선 106">
            <a:extLst>
              <a:ext uri="{FF2B5EF4-FFF2-40B4-BE49-F238E27FC236}">
                <a16:creationId xmlns:a16="http://schemas.microsoft.com/office/drawing/2014/main" id="{6061F475-021D-45E5-ADCA-ECA143F4FA48}"/>
              </a:ext>
            </a:extLst>
          </p:cNvPr>
          <p:cNvCxnSpPr>
            <a:cxnSpLocks/>
            <a:stCxn id="105" idx="2"/>
            <a:endCxn id="106" idx="0"/>
          </p:cNvCxnSpPr>
          <p:nvPr/>
        </p:nvCxnSpPr>
        <p:spPr>
          <a:xfrm flipH="1">
            <a:off x="9866926" y="4767415"/>
            <a:ext cx="1" cy="29058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9" name="TextBox 108">
            <a:extLst>
              <a:ext uri="{FF2B5EF4-FFF2-40B4-BE49-F238E27FC236}">
                <a16:creationId xmlns:a16="http://schemas.microsoft.com/office/drawing/2014/main" id="{912B9A04-FAE1-4FAD-8C04-6ECE26D83801}"/>
              </a:ext>
            </a:extLst>
          </p:cNvPr>
          <p:cNvSpPr txBox="1"/>
          <p:nvPr/>
        </p:nvSpPr>
        <p:spPr>
          <a:xfrm>
            <a:off x="8764317" y="5905720"/>
            <a:ext cx="3280046" cy="646331"/>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en-US" altLang="ko-KR" sz="1200" dirty="0">
                <a:solidFill>
                  <a:srgbClr val="FF0000"/>
                </a:solidFill>
                <a:highlight>
                  <a:srgbClr val="FFFF00"/>
                </a:highlight>
                <a:latin typeface="+mn-ea"/>
              </a:rPr>
              <a:t>3</a:t>
            </a:r>
            <a:r>
              <a:rPr lang="ko-KR" altLang="en-US" sz="1200" dirty="0">
                <a:solidFill>
                  <a:srgbClr val="FF0000"/>
                </a:solidFill>
                <a:highlight>
                  <a:srgbClr val="FFFF00"/>
                </a:highlight>
                <a:latin typeface="+mn-ea"/>
              </a:rPr>
              <a:t>항은 확정된 취소판결의 기속력이 미치지 않아서 원심의 </a:t>
            </a:r>
            <a:r>
              <a:rPr lang="ko-KR" altLang="en-US" sz="1200" dirty="0" err="1">
                <a:solidFill>
                  <a:srgbClr val="FF0000"/>
                </a:solidFill>
                <a:highlight>
                  <a:srgbClr val="FFFF00"/>
                </a:highlight>
                <a:latin typeface="+mn-ea"/>
              </a:rPr>
              <a:t>이유설시에</a:t>
            </a:r>
            <a:r>
              <a:rPr lang="ko-KR" altLang="en-US" sz="1200" dirty="0">
                <a:solidFill>
                  <a:srgbClr val="FF0000"/>
                </a:solidFill>
                <a:highlight>
                  <a:srgbClr val="FFFF00"/>
                </a:highlight>
                <a:latin typeface="+mn-ea"/>
              </a:rPr>
              <a:t> 부적절한 부분이 있으나</a:t>
            </a:r>
            <a:r>
              <a:rPr lang="en-US" altLang="ko-KR" sz="1200" dirty="0">
                <a:solidFill>
                  <a:schemeClr val="tx1">
                    <a:lumMod val="75000"/>
                    <a:lumOff val="25000"/>
                  </a:schemeClr>
                </a:solidFill>
                <a:highlight>
                  <a:srgbClr val="FFFF00"/>
                </a:highlight>
                <a:latin typeface="+mn-ea"/>
              </a:rPr>
              <a:t>, </a:t>
            </a:r>
          </a:p>
          <a:p>
            <a:r>
              <a:rPr lang="en-US" altLang="ko-KR" sz="1200" dirty="0">
                <a:solidFill>
                  <a:schemeClr val="tx1">
                    <a:lumMod val="75000"/>
                    <a:lumOff val="25000"/>
                  </a:schemeClr>
                </a:solidFill>
                <a:latin typeface="+mn-ea"/>
              </a:rPr>
              <a:t>3</a:t>
            </a:r>
            <a:r>
              <a:rPr lang="ko-KR" altLang="en-US" sz="1200" dirty="0">
                <a:solidFill>
                  <a:schemeClr val="tx1">
                    <a:lumMod val="75000"/>
                    <a:lumOff val="25000"/>
                  </a:schemeClr>
                </a:solidFill>
                <a:latin typeface="+mn-ea"/>
              </a:rPr>
              <a:t>항이 진보성 위반되지 않는다는 판단은 적절</a:t>
            </a:r>
          </a:p>
        </p:txBody>
      </p:sp>
      <p:cxnSp>
        <p:nvCxnSpPr>
          <p:cNvPr id="111" name="연결선: 꺾임 110">
            <a:extLst>
              <a:ext uri="{FF2B5EF4-FFF2-40B4-BE49-F238E27FC236}">
                <a16:creationId xmlns:a16="http://schemas.microsoft.com/office/drawing/2014/main" id="{93763580-34B2-422D-B6B6-8DE6DD96CB21}"/>
              </a:ext>
            </a:extLst>
          </p:cNvPr>
          <p:cNvCxnSpPr>
            <a:stCxn id="105" idx="3"/>
            <a:endCxn id="109" idx="0"/>
          </p:cNvCxnSpPr>
          <p:nvPr/>
        </p:nvCxnSpPr>
        <p:spPr>
          <a:xfrm>
            <a:off x="10268589" y="4575055"/>
            <a:ext cx="135751" cy="1330665"/>
          </a:xfrm>
          <a:prstGeom prst="bentConnector2">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4300028"/>
      </p:ext>
    </p:extLst>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제목 45"/>
          <p:cNvSpPr>
            <a:spLocks noGrp="1"/>
          </p:cNvSpPr>
          <p:nvPr>
            <p:ph type="title"/>
          </p:nvPr>
        </p:nvSpPr>
        <p:spPr/>
        <p:txBody>
          <a:bodyPr/>
          <a:lstStyle/>
          <a:p>
            <a:r>
              <a:rPr lang="ko-KR" altLang="en-US" dirty="0"/>
              <a:t>참고노트</a:t>
            </a:r>
          </a:p>
        </p:txBody>
      </p:sp>
      <p:sp>
        <p:nvSpPr>
          <p:cNvPr id="47" name="텍스트 개체 틀 46"/>
          <p:cNvSpPr>
            <a:spLocks noGrp="1"/>
          </p:cNvSpPr>
          <p:nvPr>
            <p:ph type="body" sz="quarter" idx="13"/>
          </p:nvPr>
        </p:nvSpPr>
        <p:spPr/>
        <p:txBody>
          <a:bodyPr/>
          <a:lstStyle/>
          <a:p>
            <a:r>
              <a:rPr lang="ko-KR" altLang="en-US" dirty="0" err="1"/>
              <a:t>심결취소소송</a:t>
            </a:r>
            <a:r>
              <a:rPr lang="ko-KR" altLang="en-US" dirty="0"/>
              <a:t> 절차의 정리</a:t>
            </a:r>
          </a:p>
        </p:txBody>
      </p:sp>
      <p:sp>
        <p:nvSpPr>
          <p:cNvPr id="2" name="직사각형 1"/>
          <p:cNvSpPr/>
          <p:nvPr/>
        </p:nvSpPr>
        <p:spPr>
          <a:xfrm>
            <a:off x="1786102" y="1238250"/>
            <a:ext cx="899714" cy="385788"/>
          </a:xfrm>
          <a:prstGeom prst="rect">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소의 제기</a:t>
            </a:r>
          </a:p>
        </p:txBody>
      </p:sp>
      <p:sp>
        <p:nvSpPr>
          <p:cNvPr id="4" name="순서도: 판단 3"/>
          <p:cNvSpPr/>
          <p:nvPr/>
        </p:nvSpPr>
        <p:spPr>
          <a:xfrm>
            <a:off x="1495425" y="2046568"/>
            <a:ext cx="1481067" cy="780762"/>
          </a:xfrm>
          <a:prstGeom prst="flowChartDecision">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a:solidFill>
                  <a:schemeClr val="bg1">
                    <a:lumMod val="50000"/>
                  </a:schemeClr>
                </a:solidFill>
              </a:rPr>
              <a:t>소장심사</a:t>
            </a:r>
          </a:p>
        </p:txBody>
      </p:sp>
      <p:sp>
        <p:nvSpPr>
          <p:cNvPr id="53" name="순서도: 판단 52"/>
          <p:cNvSpPr/>
          <p:nvPr/>
        </p:nvSpPr>
        <p:spPr>
          <a:xfrm>
            <a:off x="1495425" y="3268230"/>
            <a:ext cx="1481067" cy="780762"/>
          </a:xfrm>
          <a:prstGeom prst="flowChartDecision">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a:solidFill>
                  <a:schemeClr val="bg1">
                    <a:lumMod val="50000"/>
                  </a:schemeClr>
                </a:solidFill>
              </a:rPr>
              <a:t>소송요건</a:t>
            </a:r>
            <a:endParaRPr lang="en-US" altLang="ko-KR" sz="1400" dirty="0">
              <a:solidFill>
                <a:schemeClr val="bg1">
                  <a:lumMod val="50000"/>
                </a:schemeClr>
              </a:solidFill>
            </a:endParaRPr>
          </a:p>
          <a:p>
            <a:pPr algn="ctr"/>
            <a:r>
              <a:rPr lang="ko-KR" altLang="en-US" sz="1400" dirty="0">
                <a:solidFill>
                  <a:schemeClr val="bg1">
                    <a:lumMod val="50000"/>
                  </a:schemeClr>
                </a:solidFill>
              </a:rPr>
              <a:t>심리</a:t>
            </a:r>
          </a:p>
        </p:txBody>
      </p:sp>
      <p:sp>
        <p:nvSpPr>
          <p:cNvPr id="55" name="순서도: 판단 54"/>
          <p:cNvSpPr/>
          <p:nvPr/>
        </p:nvSpPr>
        <p:spPr>
          <a:xfrm>
            <a:off x="1495425" y="4572561"/>
            <a:ext cx="1481067" cy="780762"/>
          </a:xfrm>
          <a:prstGeom prst="flowChartDecision">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ko-KR" altLang="en-US" sz="1400" dirty="0" err="1">
                <a:solidFill>
                  <a:schemeClr val="bg1">
                    <a:lumMod val="50000"/>
                  </a:schemeClr>
                </a:solidFill>
              </a:rPr>
              <a:t>본안심리</a:t>
            </a:r>
            <a:endParaRPr lang="ko-KR" altLang="en-US" sz="1400" dirty="0">
              <a:solidFill>
                <a:schemeClr val="bg1">
                  <a:lumMod val="50000"/>
                </a:schemeClr>
              </a:solidFill>
            </a:endParaRPr>
          </a:p>
        </p:txBody>
      </p:sp>
      <p:cxnSp>
        <p:nvCxnSpPr>
          <p:cNvPr id="6" name="직선 화살표 연결선 5"/>
          <p:cNvCxnSpPr>
            <a:stCxn id="2" idx="2"/>
            <a:endCxn id="4" idx="0"/>
          </p:cNvCxnSpPr>
          <p:nvPr/>
        </p:nvCxnSpPr>
        <p:spPr>
          <a:xfrm>
            <a:off x="2235959" y="1624038"/>
            <a:ext cx="0" cy="42253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9" name="직선 화살표 연결선 58"/>
          <p:cNvCxnSpPr>
            <a:stCxn id="4" idx="2"/>
            <a:endCxn id="53" idx="0"/>
          </p:cNvCxnSpPr>
          <p:nvPr/>
        </p:nvCxnSpPr>
        <p:spPr>
          <a:xfrm>
            <a:off x="2235959" y="2827329"/>
            <a:ext cx="0" cy="440901"/>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3" name="직선 화살표 연결선 62"/>
          <p:cNvCxnSpPr>
            <a:stCxn id="53" idx="2"/>
            <a:endCxn id="55" idx="0"/>
          </p:cNvCxnSpPr>
          <p:nvPr/>
        </p:nvCxnSpPr>
        <p:spPr>
          <a:xfrm>
            <a:off x="2235959" y="4048991"/>
            <a:ext cx="0" cy="523569"/>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2235959" y="2845700"/>
            <a:ext cx="305396" cy="252283"/>
          </a:xfrm>
          <a:prstGeom prst="rect">
            <a:avLst/>
          </a:prstGeom>
          <a:noFill/>
        </p:spPr>
        <p:txBody>
          <a:bodyPr wrap="none" rtlCol="0">
            <a:spAutoFit/>
          </a:bodyPr>
          <a:lstStyle/>
          <a:p>
            <a:r>
              <a:rPr lang="en-US" altLang="ko-KR" sz="1050" dirty="0"/>
              <a:t>Yes</a:t>
            </a:r>
            <a:endParaRPr lang="ko-KR" altLang="en-US" sz="1050" dirty="0"/>
          </a:p>
        </p:txBody>
      </p:sp>
      <p:sp>
        <p:nvSpPr>
          <p:cNvPr id="67" name="TextBox 66"/>
          <p:cNvSpPr txBox="1"/>
          <p:nvPr/>
        </p:nvSpPr>
        <p:spPr>
          <a:xfrm>
            <a:off x="2235959" y="4048991"/>
            <a:ext cx="305396" cy="252283"/>
          </a:xfrm>
          <a:prstGeom prst="rect">
            <a:avLst/>
          </a:prstGeom>
          <a:noFill/>
        </p:spPr>
        <p:txBody>
          <a:bodyPr wrap="none" rtlCol="0">
            <a:spAutoFit/>
          </a:bodyPr>
          <a:lstStyle/>
          <a:p>
            <a:r>
              <a:rPr lang="en-US" altLang="ko-KR" sz="1050" dirty="0"/>
              <a:t>Yes</a:t>
            </a:r>
            <a:endParaRPr lang="ko-KR" altLang="en-US" sz="1050" dirty="0"/>
          </a:p>
        </p:txBody>
      </p:sp>
      <p:sp>
        <p:nvSpPr>
          <p:cNvPr id="68" name="TextBox 67"/>
          <p:cNvSpPr txBox="1"/>
          <p:nvPr/>
        </p:nvSpPr>
        <p:spPr>
          <a:xfrm>
            <a:off x="2235959" y="5353322"/>
            <a:ext cx="305396" cy="252283"/>
          </a:xfrm>
          <a:prstGeom prst="rect">
            <a:avLst/>
          </a:prstGeom>
          <a:noFill/>
        </p:spPr>
        <p:txBody>
          <a:bodyPr wrap="none" rtlCol="0">
            <a:spAutoFit/>
          </a:bodyPr>
          <a:lstStyle/>
          <a:p>
            <a:r>
              <a:rPr lang="en-US" altLang="ko-KR" sz="1050" dirty="0"/>
              <a:t>Yes</a:t>
            </a:r>
            <a:endParaRPr lang="ko-KR" altLang="en-US" sz="1050" dirty="0"/>
          </a:p>
        </p:txBody>
      </p:sp>
      <p:sp>
        <p:nvSpPr>
          <p:cNvPr id="69" name="직사각형 68"/>
          <p:cNvSpPr/>
          <p:nvPr/>
        </p:nvSpPr>
        <p:spPr>
          <a:xfrm>
            <a:off x="1786102" y="5849335"/>
            <a:ext cx="899714" cy="541940"/>
          </a:xfrm>
          <a:prstGeom prst="rect">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인용판결</a:t>
            </a:r>
            <a:endParaRPr lang="en-US" altLang="ko-KR" sz="1400" dirty="0">
              <a:solidFill>
                <a:schemeClr val="tx1"/>
              </a:solidFill>
            </a:endParaRPr>
          </a:p>
          <a:p>
            <a:pPr algn="ctr"/>
            <a:r>
              <a:rPr lang="en-US" altLang="ko-KR" sz="1400" dirty="0">
                <a:solidFill>
                  <a:schemeClr val="tx1"/>
                </a:solidFill>
              </a:rPr>
              <a:t>(</a:t>
            </a:r>
            <a:r>
              <a:rPr lang="ko-KR" altLang="en-US" sz="1400" dirty="0">
                <a:solidFill>
                  <a:schemeClr val="tx1"/>
                </a:solidFill>
              </a:rPr>
              <a:t>취소환송</a:t>
            </a:r>
            <a:r>
              <a:rPr lang="en-US" altLang="ko-KR" sz="1400" dirty="0">
                <a:solidFill>
                  <a:schemeClr val="tx1"/>
                </a:solidFill>
              </a:rPr>
              <a:t>)</a:t>
            </a:r>
            <a:endParaRPr lang="ko-KR" altLang="en-US" sz="1400" dirty="0">
              <a:solidFill>
                <a:schemeClr val="tx1"/>
              </a:solidFill>
            </a:endParaRPr>
          </a:p>
        </p:txBody>
      </p:sp>
      <p:cxnSp>
        <p:nvCxnSpPr>
          <p:cNvPr id="71" name="직선 화살표 연결선 70"/>
          <p:cNvCxnSpPr>
            <a:stCxn id="55" idx="2"/>
            <a:endCxn id="69" idx="0"/>
          </p:cNvCxnSpPr>
          <p:nvPr/>
        </p:nvCxnSpPr>
        <p:spPr>
          <a:xfrm>
            <a:off x="2235959" y="5353322"/>
            <a:ext cx="0" cy="496012"/>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4" name="직사각형 73"/>
          <p:cNvSpPr/>
          <p:nvPr/>
        </p:nvSpPr>
        <p:spPr>
          <a:xfrm>
            <a:off x="281386" y="4691971"/>
            <a:ext cx="899714" cy="541940"/>
          </a:xfrm>
          <a:prstGeom prst="rect">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기각판결</a:t>
            </a:r>
          </a:p>
        </p:txBody>
      </p:sp>
      <p:sp>
        <p:nvSpPr>
          <p:cNvPr id="75" name="직사각형 74"/>
          <p:cNvSpPr/>
          <p:nvPr/>
        </p:nvSpPr>
        <p:spPr>
          <a:xfrm>
            <a:off x="281386" y="3387640"/>
            <a:ext cx="899714" cy="541940"/>
          </a:xfrm>
          <a:prstGeom prst="rect">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소 각하</a:t>
            </a:r>
          </a:p>
        </p:txBody>
      </p:sp>
      <p:sp>
        <p:nvSpPr>
          <p:cNvPr id="77" name="직사각형 76"/>
          <p:cNvSpPr/>
          <p:nvPr/>
        </p:nvSpPr>
        <p:spPr>
          <a:xfrm>
            <a:off x="281386" y="2165977"/>
            <a:ext cx="899714" cy="541940"/>
          </a:xfrm>
          <a:prstGeom prst="rect">
            <a:avLst/>
          </a:prstGeom>
          <a:solidFill>
            <a:schemeClr val="bg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ko-KR" altLang="en-US" sz="1400" dirty="0">
                <a:solidFill>
                  <a:schemeClr val="tx1"/>
                </a:solidFill>
              </a:rPr>
              <a:t>소장 각하</a:t>
            </a:r>
          </a:p>
        </p:txBody>
      </p:sp>
      <p:cxnSp>
        <p:nvCxnSpPr>
          <p:cNvPr id="34" name="직선 연결선 33"/>
          <p:cNvCxnSpPr>
            <a:stCxn id="4" idx="1"/>
            <a:endCxn id="77" idx="3"/>
          </p:cNvCxnSpPr>
          <p:nvPr/>
        </p:nvCxnSpPr>
        <p:spPr>
          <a:xfrm flipH="1" flipV="1">
            <a:off x="1181100" y="2436947"/>
            <a:ext cx="314325" cy="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6" name="직선 연결선 35"/>
          <p:cNvCxnSpPr>
            <a:stCxn id="53" idx="1"/>
            <a:endCxn id="75" idx="3"/>
          </p:cNvCxnSpPr>
          <p:nvPr/>
        </p:nvCxnSpPr>
        <p:spPr>
          <a:xfrm flipH="1" flipV="1">
            <a:off x="1181100" y="3658610"/>
            <a:ext cx="314325"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8" name="직선 연결선 37"/>
          <p:cNvCxnSpPr>
            <a:stCxn id="55" idx="1"/>
            <a:endCxn id="74" idx="3"/>
          </p:cNvCxnSpPr>
          <p:nvPr/>
        </p:nvCxnSpPr>
        <p:spPr>
          <a:xfrm flipH="1" flipV="1">
            <a:off x="1181100" y="4962941"/>
            <a:ext cx="314325"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3" name="TextBox 82"/>
          <p:cNvSpPr txBox="1"/>
          <p:nvPr/>
        </p:nvSpPr>
        <p:spPr>
          <a:xfrm>
            <a:off x="1280598" y="2198400"/>
            <a:ext cx="271618" cy="252283"/>
          </a:xfrm>
          <a:prstGeom prst="rect">
            <a:avLst/>
          </a:prstGeom>
          <a:noFill/>
        </p:spPr>
        <p:txBody>
          <a:bodyPr wrap="none" rtlCol="0">
            <a:spAutoFit/>
          </a:bodyPr>
          <a:lstStyle/>
          <a:p>
            <a:r>
              <a:rPr lang="en-US" altLang="ko-KR" sz="1050" dirty="0"/>
              <a:t>No</a:t>
            </a:r>
            <a:endParaRPr lang="ko-KR" altLang="en-US" sz="1050" dirty="0"/>
          </a:p>
        </p:txBody>
      </p:sp>
      <p:sp>
        <p:nvSpPr>
          <p:cNvPr id="85" name="TextBox 84"/>
          <p:cNvSpPr txBox="1"/>
          <p:nvPr/>
        </p:nvSpPr>
        <p:spPr>
          <a:xfrm>
            <a:off x="1280598" y="3416215"/>
            <a:ext cx="271618" cy="252283"/>
          </a:xfrm>
          <a:prstGeom prst="rect">
            <a:avLst/>
          </a:prstGeom>
          <a:noFill/>
        </p:spPr>
        <p:txBody>
          <a:bodyPr wrap="none" rtlCol="0">
            <a:spAutoFit/>
          </a:bodyPr>
          <a:lstStyle/>
          <a:p>
            <a:r>
              <a:rPr lang="en-US" altLang="ko-KR" sz="1050" dirty="0"/>
              <a:t>No</a:t>
            </a:r>
            <a:endParaRPr lang="ko-KR" altLang="en-US" sz="1050" dirty="0"/>
          </a:p>
        </p:txBody>
      </p:sp>
      <p:sp>
        <p:nvSpPr>
          <p:cNvPr id="86" name="TextBox 85"/>
          <p:cNvSpPr txBox="1"/>
          <p:nvPr/>
        </p:nvSpPr>
        <p:spPr>
          <a:xfrm>
            <a:off x="1280598" y="4720546"/>
            <a:ext cx="271618" cy="252283"/>
          </a:xfrm>
          <a:prstGeom prst="rect">
            <a:avLst/>
          </a:prstGeom>
          <a:noFill/>
        </p:spPr>
        <p:txBody>
          <a:bodyPr wrap="none" rtlCol="0">
            <a:spAutoFit/>
          </a:bodyPr>
          <a:lstStyle/>
          <a:p>
            <a:r>
              <a:rPr lang="en-US" altLang="ko-KR" sz="1050" dirty="0"/>
              <a:t>No</a:t>
            </a:r>
            <a:endParaRPr lang="ko-KR" altLang="en-US" sz="1050" dirty="0"/>
          </a:p>
        </p:txBody>
      </p:sp>
      <p:sp>
        <p:nvSpPr>
          <p:cNvPr id="61" name="직사각형 60"/>
          <p:cNvSpPr/>
          <p:nvPr/>
        </p:nvSpPr>
        <p:spPr>
          <a:xfrm>
            <a:off x="3350418" y="1323976"/>
            <a:ext cx="2568674" cy="374932"/>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200" dirty="0" err="1"/>
              <a:t>소송물</a:t>
            </a:r>
            <a:endParaRPr lang="ko-KR" altLang="en-US" sz="1200" dirty="0"/>
          </a:p>
        </p:txBody>
      </p:sp>
      <p:sp>
        <p:nvSpPr>
          <p:cNvPr id="62" name="직사각형 61"/>
          <p:cNvSpPr/>
          <p:nvPr/>
        </p:nvSpPr>
        <p:spPr>
          <a:xfrm>
            <a:off x="3350418" y="1802468"/>
            <a:ext cx="2568674" cy="374932"/>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200" dirty="0"/>
              <a:t>소의 이익</a:t>
            </a:r>
          </a:p>
        </p:txBody>
      </p:sp>
      <p:sp>
        <p:nvSpPr>
          <p:cNvPr id="64" name="직사각형 63"/>
          <p:cNvSpPr/>
          <p:nvPr/>
        </p:nvSpPr>
        <p:spPr>
          <a:xfrm>
            <a:off x="3350418" y="2272682"/>
            <a:ext cx="2568674" cy="374932"/>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200" dirty="0"/>
              <a:t>관할</a:t>
            </a:r>
          </a:p>
        </p:txBody>
      </p:sp>
      <p:sp>
        <p:nvSpPr>
          <p:cNvPr id="65" name="직사각형 64"/>
          <p:cNvSpPr/>
          <p:nvPr/>
        </p:nvSpPr>
        <p:spPr>
          <a:xfrm>
            <a:off x="3350418" y="2765595"/>
            <a:ext cx="2568674" cy="374932"/>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200" dirty="0"/>
              <a:t>당사자</a:t>
            </a:r>
          </a:p>
        </p:txBody>
      </p:sp>
      <p:sp>
        <p:nvSpPr>
          <p:cNvPr id="66" name="직사각형 65"/>
          <p:cNvSpPr/>
          <p:nvPr/>
        </p:nvSpPr>
        <p:spPr>
          <a:xfrm>
            <a:off x="3350418" y="3262452"/>
            <a:ext cx="2568674" cy="374932"/>
          </a:xfrm>
          <a:prstGeom prst="rect">
            <a:avLst/>
          </a:prstGeom>
          <a:solidFill>
            <a:schemeClr val="accent4">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200" dirty="0"/>
              <a:t>제소기간</a:t>
            </a:r>
          </a:p>
        </p:txBody>
      </p:sp>
      <p:sp>
        <p:nvSpPr>
          <p:cNvPr id="70" name="직사각형 69"/>
          <p:cNvSpPr/>
          <p:nvPr/>
        </p:nvSpPr>
        <p:spPr>
          <a:xfrm>
            <a:off x="3350418" y="4102810"/>
            <a:ext cx="2568674" cy="374932"/>
          </a:xfrm>
          <a:prstGeom prst="rect">
            <a:avLst/>
          </a:prstGeom>
          <a:solidFill>
            <a:schemeClr val="accent2">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200" dirty="0" err="1"/>
              <a:t>변론주의</a:t>
            </a:r>
            <a:r>
              <a:rPr lang="ko-KR" altLang="en-US" sz="1200" dirty="0"/>
              <a:t> 원칙</a:t>
            </a:r>
            <a:r>
              <a:rPr lang="en-US" altLang="ko-KR" sz="1200" dirty="0"/>
              <a:t>(</a:t>
            </a:r>
            <a:r>
              <a:rPr lang="ko-KR" altLang="en-US" sz="1200" dirty="0"/>
              <a:t>직권주의 가미</a:t>
            </a:r>
            <a:r>
              <a:rPr lang="en-US" altLang="ko-KR" sz="1200" dirty="0"/>
              <a:t>)</a:t>
            </a:r>
            <a:endParaRPr lang="ko-KR" altLang="en-US" sz="1200" dirty="0"/>
          </a:p>
        </p:txBody>
      </p:sp>
      <p:sp>
        <p:nvSpPr>
          <p:cNvPr id="73" name="직사각형 72"/>
          <p:cNvSpPr/>
          <p:nvPr/>
        </p:nvSpPr>
        <p:spPr>
          <a:xfrm>
            <a:off x="3350418" y="4575291"/>
            <a:ext cx="2568674" cy="374932"/>
          </a:xfrm>
          <a:prstGeom prst="rect">
            <a:avLst/>
          </a:prstGeom>
          <a:solidFill>
            <a:schemeClr val="accent2">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200" dirty="0"/>
              <a:t>위법판단의 기준시점</a:t>
            </a:r>
          </a:p>
        </p:txBody>
      </p:sp>
      <p:sp>
        <p:nvSpPr>
          <p:cNvPr id="76" name="직사각형 75"/>
          <p:cNvSpPr/>
          <p:nvPr/>
        </p:nvSpPr>
        <p:spPr>
          <a:xfrm>
            <a:off x="3350418" y="5048938"/>
            <a:ext cx="2568674" cy="374932"/>
          </a:xfrm>
          <a:prstGeom prst="rect">
            <a:avLst/>
          </a:prstGeom>
          <a:solidFill>
            <a:schemeClr val="accent2">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200" dirty="0"/>
              <a:t>심리범위</a:t>
            </a:r>
          </a:p>
        </p:txBody>
      </p:sp>
      <p:sp>
        <p:nvSpPr>
          <p:cNvPr id="78" name="직사각형 77"/>
          <p:cNvSpPr/>
          <p:nvPr/>
        </p:nvSpPr>
        <p:spPr>
          <a:xfrm>
            <a:off x="3350418" y="5509778"/>
            <a:ext cx="2568674" cy="374932"/>
          </a:xfrm>
          <a:prstGeom prst="rect">
            <a:avLst/>
          </a:prstGeom>
          <a:solidFill>
            <a:schemeClr val="accent2">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200" dirty="0"/>
              <a:t>주장증명책임</a:t>
            </a:r>
          </a:p>
        </p:txBody>
      </p:sp>
      <p:sp>
        <p:nvSpPr>
          <p:cNvPr id="79" name="직사각형 78"/>
          <p:cNvSpPr/>
          <p:nvPr/>
        </p:nvSpPr>
        <p:spPr>
          <a:xfrm>
            <a:off x="3350418" y="5978244"/>
            <a:ext cx="2568674" cy="374932"/>
          </a:xfrm>
          <a:prstGeom prst="rect">
            <a:avLst/>
          </a:prstGeom>
          <a:solidFill>
            <a:schemeClr val="accent2">
              <a:lumMod val="20000"/>
              <a:lumOff val="80000"/>
            </a:schemeClr>
          </a:solidFill>
          <a:ln>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ko-KR" altLang="en-US" sz="1200" dirty="0"/>
              <a:t>자백</a:t>
            </a:r>
          </a:p>
        </p:txBody>
      </p:sp>
      <p:sp>
        <p:nvSpPr>
          <p:cNvPr id="80" name="직사각형 79"/>
          <p:cNvSpPr/>
          <p:nvPr/>
        </p:nvSpPr>
        <p:spPr>
          <a:xfrm>
            <a:off x="5947667" y="1323976"/>
            <a:ext cx="5910958" cy="374932"/>
          </a:xfrm>
          <a:prstGeom prst="rect">
            <a:avLst/>
          </a:prstGeom>
          <a:solidFill>
            <a:schemeClr val="bg1"/>
          </a:solidFill>
          <a:ln>
            <a:noFill/>
          </a:ln>
        </p:spPr>
        <p:style>
          <a:lnRef idx="2">
            <a:schemeClr val="accent1"/>
          </a:lnRef>
          <a:fillRef idx="1">
            <a:schemeClr val="lt1"/>
          </a:fillRef>
          <a:effectRef idx="0">
            <a:schemeClr val="accent1"/>
          </a:effectRef>
          <a:fontRef idx="minor">
            <a:schemeClr val="dk1"/>
          </a:fontRef>
        </p:style>
        <p:txBody>
          <a:bodyPr rtlCol="0" anchor="ctr"/>
          <a:lstStyle/>
          <a:p>
            <a:r>
              <a:rPr lang="ko-KR" altLang="en-US" sz="1200" dirty="0"/>
              <a:t>행정처분의 위법성 일반</a:t>
            </a:r>
            <a:r>
              <a:rPr lang="en-US" altLang="ko-KR" sz="1200" dirty="0"/>
              <a:t>(</a:t>
            </a:r>
            <a:r>
              <a:rPr lang="ko-KR" altLang="en-US" sz="1200" dirty="0"/>
              <a:t>실체상</a:t>
            </a:r>
            <a:r>
              <a:rPr lang="en-US" altLang="ko-KR" sz="1200" dirty="0"/>
              <a:t>/</a:t>
            </a:r>
            <a:r>
              <a:rPr lang="ko-KR" altLang="en-US" sz="1200" dirty="0"/>
              <a:t>절차상 위법</a:t>
            </a:r>
            <a:r>
              <a:rPr lang="en-US" altLang="ko-KR" sz="1200" dirty="0"/>
              <a:t>, </a:t>
            </a:r>
            <a:r>
              <a:rPr lang="ko-KR" altLang="en-US" sz="1200" dirty="0"/>
              <a:t>판단누락</a:t>
            </a:r>
            <a:r>
              <a:rPr lang="en-US" altLang="ko-KR" sz="1200" dirty="0"/>
              <a:t>(</a:t>
            </a:r>
            <a:r>
              <a:rPr lang="ko-KR" altLang="en-US" sz="1200" dirty="0"/>
              <a:t>유탈</a:t>
            </a:r>
            <a:r>
              <a:rPr lang="en-US" altLang="ko-KR" sz="1200" dirty="0"/>
              <a:t>)</a:t>
            </a:r>
            <a:r>
              <a:rPr lang="ko-KR" altLang="en-US" sz="1200" dirty="0"/>
              <a:t>의 유무 등</a:t>
            </a:r>
            <a:r>
              <a:rPr lang="en-US" altLang="ko-KR" sz="1200" dirty="0"/>
              <a:t>)</a:t>
            </a:r>
            <a:endParaRPr lang="ko-KR" altLang="en-US" sz="1200" dirty="0"/>
          </a:p>
        </p:txBody>
      </p:sp>
      <p:sp>
        <p:nvSpPr>
          <p:cNvPr id="81" name="직사각형 80"/>
          <p:cNvSpPr/>
          <p:nvPr/>
        </p:nvSpPr>
        <p:spPr>
          <a:xfrm>
            <a:off x="5947667" y="1802468"/>
            <a:ext cx="5910958" cy="374932"/>
          </a:xfrm>
          <a:prstGeom prst="rect">
            <a:avLst/>
          </a:prstGeom>
          <a:solidFill>
            <a:schemeClr val="bg1"/>
          </a:solidFill>
          <a:ln>
            <a:noFill/>
          </a:ln>
        </p:spPr>
        <p:style>
          <a:lnRef idx="2">
            <a:schemeClr val="accent1"/>
          </a:lnRef>
          <a:fillRef idx="1">
            <a:schemeClr val="lt1"/>
          </a:fillRef>
          <a:effectRef idx="0">
            <a:schemeClr val="accent1"/>
          </a:effectRef>
          <a:fontRef idx="minor">
            <a:schemeClr val="dk1"/>
          </a:fontRef>
        </p:style>
        <p:txBody>
          <a:bodyPr rtlCol="0" anchor="ctr"/>
          <a:lstStyle/>
          <a:p>
            <a:r>
              <a:rPr lang="ko-KR" altLang="en-US" sz="1200" dirty="0"/>
              <a:t>원고가 </a:t>
            </a:r>
            <a:r>
              <a:rPr lang="ko-KR" altLang="en-US" sz="1200" dirty="0" err="1"/>
              <a:t>심결을</a:t>
            </a:r>
            <a:r>
              <a:rPr lang="ko-KR" altLang="en-US" sz="1200" dirty="0"/>
              <a:t> 취소할 이익</a:t>
            </a:r>
            <a:r>
              <a:rPr lang="en-US" altLang="ko-KR" sz="1200" dirty="0"/>
              <a:t>/</a:t>
            </a:r>
            <a:r>
              <a:rPr lang="ko-KR" altLang="en-US" sz="1200" dirty="0" err="1"/>
              <a:t>사정변경되거나</a:t>
            </a:r>
            <a:r>
              <a:rPr lang="ko-KR" altLang="en-US" sz="1200" dirty="0"/>
              <a:t> 유리한 </a:t>
            </a:r>
            <a:r>
              <a:rPr lang="ko-KR" altLang="en-US" sz="1200" dirty="0" err="1"/>
              <a:t>심결을</a:t>
            </a:r>
            <a:r>
              <a:rPr lang="ko-KR" altLang="en-US" sz="1200" dirty="0"/>
              <a:t> 받을 가능성이 없는 경우 소의 이익 부정</a:t>
            </a:r>
            <a:r>
              <a:rPr lang="en-US" altLang="ko-KR" sz="1200" dirty="0"/>
              <a:t>/</a:t>
            </a:r>
            <a:r>
              <a:rPr lang="ko-KR" altLang="en-US" sz="1200" dirty="0" err="1"/>
              <a:t>변론종결시를</a:t>
            </a:r>
            <a:r>
              <a:rPr lang="ko-KR" altLang="en-US" sz="1200" dirty="0"/>
              <a:t> 기준으로 판단하나 상고심 계속 중 생긴 사정도 고려</a:t>
            </a:r>
          </a:p>
        </p:txBody>
      </p:sp>
      <p:sp>
        <p:nvSpPr>
          <p:cNvPr id="82" name="직사각형 81"/>
          <p:cNvSpPr/>
          <p:nvPr/>
        </p:nvSpPr>
        <p:spPr>
          <a:xfrm>
            <a:off x="5947667" y="2272682"/>
            <a:ext cx="5910958" cy="374932"/>
          </a:xfrm>
          <a:prstGeom prst="rect">
            <a:avLst/>
          </a:prstGeom>
          <a:solidFill>
            <a:schemeClr val="bg1"/>
          </a:solidFill>
          <a:ln>
            <a:noFill/>
          </a:ln>
        </p:spPr>
        <p:style>
          <a:lnRef idx="2">
            <a:schemeClr val="accent1"/>
          </a:lnRef>
          <a:fillRef idx="1">
            <a:schemeClr val="lt1"/>
          </a:fillRef>
          <a:effectRef idx="0">
            <a:schemeClr val="accent1"/>
          </a:effectRef>
          <a:fontRef idx="minor">
            <a:schemeClr val="dk1"/>
          </a:fontRef>
        </p:style>
        <p:txBody>
          <a:bodyPr rtlCol="0" anchor="ctr"/>
          <a:lstStyle/>
          <a:p>
            <a:r>
              <a:rPr lang="ko-KR" altLang="en-US" sz="1200" dirty="0"/>
              <a:t>심급관할</a:t>
            </a:r>
            <a:r>
              <a:rPr lang="en-US" altLang="ko-KR" sz="1200" dirty="0"/>
              <a:t>/</a:t>
            </a:r>
            <a:r>
              <a:rPr lang="ko-KR" altLang="en-US" sz="1200" dirty="0"/>
              <a:t>전속관할</a:t>
            </a:r>
            <a:r>
              <a:rPr lang="en-US" altLang="ko-KR" sz="1200" dirty="0"/>
              <a:t>(</a:t>
            </a:r>
            <a:r>
              <a:rPr lang="ko-KR" altLang="en-US" sz="1200" dirty="0"/>
              <a:t>제</a:t>
            </a:r>
            <a:r>
              <a:rPr lang="en-US" altLang="ko-KR" sz="1200" dirty="0"/>
              <a:t>186</a:t>
            </a:r>
            <a:r>
              <a:rPr lang="ko-KR" altLang="en-US" sz="1200" dirty="0"/>
              <a:t>조제</a:t>
            </a:r>
            <a:r>
              <a:rPr lang="en-US" altLang="ko-KR" sz="1200" dirty="0"/>
              <a:t>1</a:t>
            </a:r>
            <a:r>
              <a:rPr lang="ko-KR" altLang="en-US" sz="1200" dirty="0"/>
              <a:t>항</a:t>
            </a:r>
            <a:r>
              <a:rPr lang="en-US" altLang="ko-KR" sz="1200" dirty="0"/>
              <a:t>, </a:t>
            </a:r>
            <a:r>
              <a:rPr lang="ko-KR" altLang="en-US" sz="1200" dirty="0"/>
              <a:t>제</a:t>
            </a:r>
            <a:r>
              <a:rPr lang="en-US" altLang="ko-KR" sz="1200" dirty="0"/>
              <a:t>6</a:t>
            </a:r>
            <a:r>
              <a:rPr lang="ko-KR" altLang="en-US" sz="1200" dirty="0"/>
              <a:t>항 내지 제</a:t>
            </a:r>
            <a:r>
              <a:rPr lang="en-US" altLang="ko-KR" sz="1200" dirty="0"/>
              <a:t>8</a:t>
            </a:r>
            <a:r>
              <a:rPr lang="ko-KR" altLang="en-US" sz="1200" dirty="0"/>
              <a:t>항</a:t>
            </a:r>
            <a:r>
              <a:rPr lang="en-US" altLang="ko-KR" sz="1200" dirty="0"/>
              <a:t>)</a:t>
            </a:r>
            <a:endParaRPr lang="ko-KR" altLang="en-US" sz="1200" dirty="0"/>
          </a:p>
        </p:txBody>
      </p:sp>
      <p:sp>
        <p:nvSpPr>
          <p:cNvPr id="84" name="직사각형 83"/>
          <p:cNvSpPr/>
          <p:nvPr/>
        </p:nvSpPr>
        <p:spPr>
          <a:xfrm>
            <a:off x="5947667" y="2765595"/>
            <a:ext cx="5910958" cy="374932"/>
          </a:xfrm>
          <a:prstGeom prst="rect">
            <a:avLst/>
          </a:prstGeom>
          <a:solidFill>
            <a:schemeClr val="bg1"/>
          </a:solidFill>
          <a:ln>
            <a:noFill/>
          </a:ln>
        </p:spPr>
        <p:style>
          <a:lnRef idx="2">
            <a:schemeClr val="accent1"/>
          </a:lnRef>
          <a:fillRef idx="1">
            <a:schemeClr val="lt1"/>
          </a:fillRef>
          <a:effectRef idx="0">
            <a:schemeClr val="accent1"/>
          </a:effectRef>
          <a:fontRef idx="minor">
            <a:schemeClr val="dk1"/>
          </a:fontRef>
        </p:style>
        <p:txBody>
          <a:bodyPr rtlCol="0" anchor="ctr"/>
          <a:lstStyle/>
          <a:p>
            <a:r>
              <a:rPr lang="ko-KR" altLang="en-US" sz="1200" dirty="0"/>
              <a:t>원피고 적격</a:t>
            </a:r>
            <a:r>
              <a:rPr lang="en-US" altLang="ko-KR" sz="1200" dirty="0"/>
              <a:t>(</a:t>
            </a:r>
            <a:r>
              <a:rPr lang="ko-KR" altLang="en-US" sz="1200" dirty="0"/>
              <a:t>제</a:t>
            </a:r>
            <a:r>
              <a:rPr lang="en-US" altLang="ko-KR" sz="1200" dirty="0"/>
              <a:t>186</a:t>
            </a:r>
            <a:r>
              <a:rPr lang="ko-KR" altLang="en-US" sz="1200" dirty="0"/>
              <a:t>조제</a:t>
            </a:r>
            <a:r>
              <a:rPr lang="en-US" altLang="ko-KR" sz="1200" dirty="0"/>
              <a:t>2</a:t>
            </a:r>
            <a:r>
              <a:rPr lang="ko-KR" altLang="en-US" sz="1200" dirty="0"/>
              <a:t>항</a:t>
            </a:r>
            <a:r>
              <a:rPr lang="en-US" altLang="ko-KR" sz="1200" dirty="0"/>
              <a:t>, </a:t>
            </a:r>
            <a:r>
              <a:rPr lang="ko-KR" altLang="en-US" sz="1200" dirty="0"/>
              <a:t>제</a:t>
            </a:r>
            <a:r>
              <a:rPr lang="en-US" altLang="ko-KR" sz="1200" dirty="0"/>
              <a:t>187</a:t>
            </a:r>
            <a:r>
              <a:rPr lang="ko-KR" altLang="en-US" sz="1200" dirty="0"/>
              <a:t>조</a:t>
            </a:r>
            <a:r>
              <a:rPr lang="en-US" altLang="ko-KR" sz="1200" dirty="0"/>
              <a:t>)/</a:t>
            </a:r>
            <a:r>
              <a:rPr lang="ko-KR" altLang="en-US" sz="1200" dirty="0"/>
              <a:t>복수 당사자</a:t>
            </a:r>
          </a:p>
        </p:txBody>
      </p:sp>
      <p:sp>
        <p:nvSpPr>
          <p:cNvPr id="88" name="직사각형 87"/>
          <p:cNvSpPr/>
          <p:nvPr/>
        </p:nvSpPr>
        <p:spPr>
          <a:xfrm>
            <a:off x="5947667" y="3262452"/>
            <a:ext cx="5910958" cy="374932"/>
          </a:xfrm>
          <a:prstGeom prst="rect">
            <a:avLst/>
          </a:prstGeom>
          <a:solidFill>
            <a:schemeClr val="bg1"/>
          </a:solidFill>
          <a:ln>
            <a:noFill/>
          </a:ln>
        </p:spPr>
        <p:style>
          <a:lnRef idx="2">
            <a:schemeClr val="accent1"/>
          </a:lnRef>
          <a:fillRef idx="1">
            <a:schemeClr val="lt1"/>
          </a:fillRef>
          <a:effectRef idx="0">
            <a:schemeClr val="accent1"/>
          </a:effectRef>
          <a:fontRef idx="minor">
            <a:schemeClr val="dk1"/>
          </a:fontRef>
        </p:style>
        <p:txBody>
          <a:bodyPr rtlCol="0" anchor="ctr"/>
          <a:lstStyle/>
          <a:p>
            <a:r>
              <a:rPr lang="ko-KR" altLang="en-US" sz="1200" dirty="0"/>
              <a:t>등본 </a:t>
            </a:r>
            <a:r>
              <a:rPr lang="ko-KR" altLang="en-US" sz="1200" dirty="0" err="1"/>
              <a:t>송달받은</a:t>
            </a:r>
            <a:r>
              <a:rPr lang="ko-KR" altLang="en-US" sz="1200" dirty="0"/>
              <a:t> 날로부터 </a:t>
            </a:r>
            <a:r>
              <a:rPr lang="en-US" altLang="ko-KR" sz="1200" dirty="0"/>
              <a:t>30</a:t>
            </a:r>
            <a:r>
              <a:rPr lang="ko-KR" altLang="en-US" sz="1200" dirty="0"/>
              <a:t>일</a:t>
            </a:r>
            <a:r>
              <a:rPr lang="en-US" altLang="ko-KR" sz="1200" dirty="0"/>
              <a:t>/</a:t>
            </a:r>
            <a:r>
              <a:rPr lang="ko-KR" altLang="en-US" sz="1200" dirty="0"/>
              <a:t>심판장 직권으로 부가기간</a:t>
            </a:r>
            <a:r>
              <a:rPr lang="en-US" altLang="ko-KR" sz="1200" dirty="0"/>
              <a:t>(</a:t>
            </a:r>
            <a:r>
              <a:rPr lang="ko-KR" altLang="en-US" sz="1200" dirty="0"/>
              <a:t>제</a:t>
            </a:r>
            <a:r>
              <a:rPr lang="en-US" altLang="ko-KR" sz="1200" dirty="0"/>
              <a:t>186</a:t>
            </a:r>
            <a:r>
              <a:rPr lang="ko-KR" altLang="en-US" sz="1200" dirty="0"/>
              <a:t>조제</a:t>
            </a:r>
            <a:r>
              <a:rPr lang="en-US" altLang="ko-KR" sz="1200" dirty="0"/>
              <a:t>3</a:t>
            </a:r>
            <a:r>
              <a:rPr lang="ko-KR" altLang="en-US" sz="1200" dirty="0"/>
              <a:t>항 내지 제</a:t>
            </a:r>
            <a:r>
              <a:rPr lang="en-US" altLang="ko-KR" sz="1200" dirty="0"/>
              <a:t>5</a:t>
            </a:r>
            <a:r>
              <a:rPr lang="ko-KR" altLang="en-US" sz="1200" dirty="0"/>
              <a:t>항</a:t>
            </a:r>
            <a:r>
              <a:rPr lang="en-US" altLang="ko-KR" sz="1200" dirty="0"/>
              <a:t>)</a:t>
            </a:r>
            <a:endParaRPr lang="ko-KR" altLang="en-US" sz="1200" dirty="0"/>
          </a:p>
        </p:txBody>
      </p:sp>
      <p:sp>
        <p:nvSpPr>
          <p:cNvPr id="92" name="직사각형 91"/>
          <p:cNvSpPr/>
          <p:nvPr/>
        </p:nvSpPr>
        <p:spPr>
          <a:xfrm>
            <a:off x="5947667" y="4102810"/>
            <a:ext cx="5910958" cy="374932"/>
          </a:xfrm>
          <a:prstGeom prst="rect">
            <a:avLst/>
          </a:prstGeom>
          <a:solidFill>
            <a:schemeClr val="bg1"/>
          </a:solidFill>
          <a:ln>
            <a:noFill/>
          </a:ln>
        </p:spPr>
        <p:style>
          <a:lnRef idx="2">
            <a:schemeClr val="accent1"/>
          </a:lnRef>
          <a:fillRef idx="1">
            <a:schemeClr val="lt1"/>
          </a:fillRef>
          <a:effectRef idx="0">
            <a:schemeClr val="accent1"/>
          </a:effectRef>
          <a:fontRef idx="minor">
            <a:schemeClr val="dk1"/>
          </a:fontRef>
        </p:style>
        <p:txBody>
          <a:bodyPr rtlCol="0" anchor="ctr"/>
          <a:lstStyle/>
          <a:p>
            <a:r>
              <a:rPr lang="ko-KR" altLang="en-US" sz="1200" dirty="0">
                <a:solidFill>
                  <a:schemeClr val="tx1"/>
                </a:solidFill>
              </a:rPr>
              <a:t>당사자가 주장한 사항에 대하여 심리</a:t>
            </a:r>
            <a:r>
              <a:rPr lang="en-US" altLang="ko-KR" sz="1200" dirty="0">
                <a:solidFill>
                  <a:schemeClr val="tx1"/>
                </a:solidFill>
              </a:rPr>
              <a:t>/</a:t>
            </a:r>
            <a:r>
              <a:rPr lang="ko-KR" altLang="en-US" sz="1200" dirty="0">
                <a:solidFill>
                  <a:schemeClr val="tx1"/>
                </a:solidFill>
              </a:rPr>
              <a:t>단</a:t>
            </a:r>
            <a:r>
              <a:rPr lang="en-US" altLang="ko-KR" sz="1200" dirty="0">
                <a:solidFill>
                  <a:schemeClr val="tx1"/>
                </a:solidFill>
              </a:rPr>
              <a:t>, </a:t>
            </a:r>
            <a:r>
              <a:rPr lang="ko-KR" altLang="en-US" sz="1200" dirty="0">
                <a:solidFill>
                  <a:schemeClr val="tx1"/>
                </a:solidFill>
              </a:rPr>
              <a:t>변론종결전까지 일건 기록에 현출되어 있는 사항에 대해서는 직권주의 가미 </a:t>
            </a:r>
          </a:p>
        </p:txBody>
      </p:sp>
      <p:sp>
        <p:nvSpPr>
          <p:cNvPr id="94" name="직사각형 93"/>
          <p:cNvSpPr/>
          <p:nvPr/>
        </p:nvSpPr>
        <p:spPr>
          <a:xfrm>
            <a:off x="5947667" y="4575291"/>
            <a:ext cx="5910958" cy="374932"/>
          </a:xfrm>
          <a:prstGeom prst="rect">
            <a:avLst/>
          </a:prstGeom>
          <a:solidFill>
            <a:schemeClr val="bg1"/>
          </a:solidFill>
          <a:ln>
            <a:noFill/>
          </a:ln>
        </p:spPr>
        <p:style>
          <a:lnRef idx="2">
            <a:schemeClr val="accent1"/>
          </a:lnRef>
          <a:fillRef idx="1">
            <a:schemeClr val="lt1"/>
          </a:fillRef>
          <a:effectRef idx="0">
            <a:schemeClr val="accent1"/>
          </a:effectRef>
          <a:fontRef idx="minor">
            <a:schemeClr val="dk1"/>
          </a:fontRef>
        </p:style>
        <p:txBody>
          <a:bodyPr rtlCol="0" anchor="ctr"/>
          <a:lstStyle/>
          <a:p>
            <a:r>
              <a:rPr lang="ko-KR" altLang="en-US" sz="1200" dirty="0" err="1"/>
              <a:t>심결</a:t>
            </a:r>
            <a:r>
              <a:rPr lang="ko-KR" altLang="en-US" sz="1200" dirty="0"/>
              <a:t> 당시의 법령과 사실상태를 기준으로 판단</a:t>
            </a:r>
            <a:r>
              <a:rPr lang="en-US" altLang="ko-KR" sz="1200" dirty="0"/>
              <a:t>(</a:t>
            </a:r>
            <a:r>
              <a:rPr lang="ko-KR" altLang="en-US" sz="1200" dirty="0"/>
              <a:t>단</a:t>
            </a:r>
            <a:r>
              <a:rPr lang="en-US" altLang="ko-KR" sz="1200" dirty="0"/>
              <a:t>, </a:t>
            </a:r>
            <a:r>
              <a:rPr lang="ko-KR" altLang="en-US" sz="1200" dirty="0" err="1"/>
              <a:t>심결후라도</a:t>
            </a:r>
            <a:r>
              <a:rPr lang="ko-KR" altLang="en-US" sz="1200" dirty="0"/>
              <a:t> 소급효가 인정되는 경우는 예외</a:t>
            </a:r>
            <a:r>
              <a:rPr lang="en-US" altLang="ko-KR" sz="1200" dirty="0"/>
              <a:t>)</a:t>
            </a:r>
            <a:endParaRPr lang="ko-KR" altLang="en-US" sz="1200" dirty="0"/>
          </a:p>
        </p:txBody>
      </p:sp>
      <p:sp>
        <p:nvSpPr>
          <p:cNvPr id="96" name="직사각형 95"/>
          <p:cNvSpPr/>
          <p:nvPr/>
        </p:nvSpPr>
        <p:spPr>
          <a:xfrm>
            <a:off x="5947667" y="5048938"/>
            <a:ext cx="5910958" cy="374932"/>
          </a:xfrm>
          <a:prstGeom prst="rect">
            <a:avLst/>
          </a:prstGeom>
          <a:solidFill>
            <a:schemeClr val="bg1"/>
          </a:solidFill>
          <a:ln>
            <a:noFill/>
          </a:ln>
        </p:spPr>
        <p:style>
          <a:lnRef idx="2">
            <a:schemeClr val="accent1"/>
          </a:lnRef>
          <a:fillRef idx="1">
            <a:schemeClr val="lt1"/>
          </a:fillRef>
          <a:effectRef idx="0">
            <a:schemeClr val="accent1"/>
          </a:effectRef>
          <a:fontRef idx="minor">
            <a:schemeClr val="dk1"/>
          </a:fontRef>
        </p:style>
        <p:txBody>
          <a:bodyPr rtlCol="0" anchor="ctr"/>
          <a:lstStyle/>
          <a:p>
            <a:r>
              <a:rPr lang="ko-KR" altLang="en-US" sz="1200" dirty="0">
                <a:solidFill>
                  <a:schemeClr val="tx1"/>
                </a:solidFill>
              </a:rPr>
              <a:t>심판원에서 주장하지 아니한 사항을 주장할 때 심리할 수 있는지 여부</a:t>
            </a:r>
            <a:r>
              <a:rPr lang="en-US" altLang="ko-KR" sz="1200" dirty="0">
                <a:solidFill>
                  <a:schemeClr val="tx1"/>
                </a:solidFill>
              </a:rPr>
              <a:t>/</a:t>
            </a:r>
            <a:r>
              <a:rPr lang="ko-KR" altLang="en-US" sz="1200" dirty="0">
                <a:solidFill>
                  <a:schemeClr val="tx1"/>
                </a:solidFill>
              </a:rPr>
              <a:t>원칙은 무제한설이나 특허취소결정과 </a:t>
            </a:r>
            <a:r>
              <a:rPr lang="ko-KR" altLang="en-US" sz="1200" dirty="0" err="1">
                <a:solidFill>
                  <a:schemeClr val="tx1"/>
                </a:solidFill>
              </a:rPr>
              <a:t>결정계</a:t>
            </a:r>
            <a:r>
              <a:rPr lang="ko-KR" altLang="en-US" sz="1200" dirty="0">
                <a:solidFill>
                  <a:schemeClr val="tx1"/>
                </a:solidFill>
              </a:rPr>
              <a:t> 심판의 </a:t>
            </a:r>
            <a:r>
              <a:rPr lang="ko-KR" altLang="en-US" sz="1200" dirty="0" err="1">
                <a:solidFill>
                  <a:schemeClr val="tx1"/>
                </a:solidFill>
              </a:rPr>
              <a:t>심결에</a:t>
            </a:r>
            <a:r>
              <a:rPr lang="ko-KR" altLang="en-US" sz="1200" dirty="0">
                <a:solidFill>
                  <a:schemeClr val="tx1"/>
                </a:solidFill>
              </a:rPr>
              <a:t> 대한 취소소송의 경우에는 강행규정</a:t>
            </a:r>
            <a:r>
              <a:rPr lang="en-US" altLang="ko-KR" sz="1200" dirty="0">
                <a:solidFill>
                  <a:schemeClr val="tx1"/>
                </a:solidFill>
              </a:rPr>
              <a:t>(</a:t>
            </a:r>
            <a:r>
              <a:rPr lang="ko-KR" altLang="en-US" sz="1200" dirty="0">
                <a:solidFill>
                  <a:schemeClr val="tx1"/>
                </a:solidFill>
              </a:rPr>
              <a:t>대응기회 부여</a:t>
            </a:r>
            <a:r>
              <a:rPr lang="en-US" altLang="ko-KR" sz="1200" dirty="0">
                <a:solidFill>
                  <a:schemeClr val="tx1"/>
                </a:solidFill>
              </a:rPr>
              <a:t>)</a:t>
            </a:r>
            <a:r>
              <a:rPr lang="ko-KR" altLang="en-US" sz="1200" dirty="0">
                <a:solidFill>
                  <a:schemeClr val="tx1"/>
                </a:solidFill>
              </a:rPr>
              <a:t>에 위반되지 않기 위해서 지식재산처장이 새로운 주장</a:t>
            </a:r>
            <a:r>
              <a:rPr lang="en-US" altLang="ko-KR" sz="1200" dirty="0">
                <a:solidFill>
                  <a:schemeClr val="tx1"/>
                </a:solidFill>
              </a:rPr>
              <a:t>/</a:t>
            </a:r>
            <a:r>
              <a:rPr lang="ko-KR" altLang="en-US" sz="1200" dirty="0">
                <a:solidFill>
                  <a:schemeClr val="tx1"/>
                </a:solidFill>
              </a:rPr>
              <a:t>증거 제출 불가</a:t>
            </a:r>
          </a:p>
        </p:txBody>
      </p:sp>
      <p:sp>
        <p:nvSpPr>
          <p:cNvPr id="98" name="직사각형 97"/>
          <p:cNvSpPr/>
          <p:nvPr/>
        </p:nvSpPr>
        <p:spPr>
          <a:xfrm>
            <a:off x="5947667" y="5509778"/>
            <a:ext cx="5910958" cy="374932"/>
          </a:xfrm>
          <a:prstGeom prst="rect">
            <a:avLst/>
          </a:prstGeom>
          <a:solidFill>
            <a:schemeClr val="bg1"/>
          </a:solidFill>
          <a:ln>
            <a:noFill/>
          </a:ln>
        </p:spPr>
        <p:style>
          <a:lnRef idx="2">
            <a:schemeClr val="accent1"/>
          </a:lnRef>
          <a:fillRef idx="1">
            <a:schemeClr val="lt1"/>
          </a:fillRef>
          <a:effectRef idx="0">
            <a:schemeClr val="accent1"/>
          </a:effectRef>
          <a:fontRef idx="minor">
            <a:schemeClr val="dk1"/>
          </a:fontRef>
        </p:style>
        <p:txBody>
          <a:bodyPr rtlCol="0" anchor="ctr"/>
          <a:lstStyle/>
          <a:p>
            <a:r>
              <a:rPr lang="ko-KR" altLang="en-US" sz="1200" dirty="0" err="1"/>
              <a:t>법률요건분류설</a:t>
            </a:r>
            <a:r>
              <a:rPr lang="en-US" altLang="ko-KR" sz="1200" dirty="0"/>
              <a:t>(</a:t>
            </a:r>
            <a:r>
              <a:rPr lang="ko-KR" altLang="en-US" sz="1200" dirty="0"/>
              <a:t>자기에게 유리한 조문은 자기가 주장증명</a:t>
            </a:r>
            <a:r>
              <a:rPr lang="en-US" altLang="ko-KR" sz="1200" dirty="0"/>
              <a:t>) – </a:t>
            </a:r>
            <a:r>
              <a:rPr lang="ko-KR" altLang="en-US" sz="1200" dirty="0"/>
              <a:t>특허발생요건</a:t>
            </a:r>
            <a:r>
              <a:rPr lang="en-US" altLang="ko-KR" sz="1200" dirty="0"/>
              <a:t>, </a:t>
            </a:r>
            <a:r>
              <a:rPr lang="ko-KR" altLang="en-US" sz="1200" dirty="0"/>
              <a:t>특허장애요건</a:t>
            </a:r>
          </a:p>
        </p:txBody>
      </p:sp>
      <p:sp>
        <p:nvSpPr>
          <p:cNvPr id="100" name="직사각형 99"/>
          <p:cNvSpPr/>
          <p:nvPr/>
        </p:nvSpPr>
        <p:spPr>
          <a:xfrm>
            <a:off x="5947667" y="5978244"/>
            <a:ext cx="5910958" cy="374932"/>
          </a:xfrm>
          <a:prstGeom prst="rect">
            <a:avLst/>
          </a:prstGeom>
          <a:solidFill>
            <a:schemeClr val="bg1"/>
          </a:solidFill>
          <a:ln>
            <a:noFill/>
          </a:ln>
        </p:spPr>
        <p:style>
          <a:lnRef idx="2">
            <a:schemeClr val="accent1"/>
          </a:lnRef>
          <a:fillRef idx="1">
            <a:schemeClr val="lt1"/>
          </a:fillRef>
          <a:effectRef idx="0">
            <a:schemeClr val="accent1"/>
          </a:effectRef>
          <a:fontRef idx="minor">
            <a:schemeClr val="dk1"/>
          </a:fontRef>
        </p:style>
        <p:txBody>
          <a:bodyPr rtlCol="0" anchor="ctr"/>
          <a:lstStyle/>
          <a:p>
            <a:r>
              <a:rPr lang="ko-KR" altLang="en-US" sz="1200" dirty="0"/>
              <a:t>사실 인정</a:t>
            </a:r>
            <a:r>
              <a:rPr lang="en-US" altLang="ko-KR" sz="1200" dirty="0"/>
              <a:t>/</a:t>
            </a:r>
            <a:r>
              <a:rPr lang="ko-KR" altLang="en-US" sz="1200" dirty="0"/>
              <a:t>법적 판단 내지 평가는 불인정</a:t>
            </a:r>
          </a:p>
        </p:txBody>
      </p:sp>
      <p:cxnSp>
        <p:nvCxnSpPr>
          <p:cNvPr id="22" name="꺾인 연결선 21"/>
          <p:cNvCxnSpPr>
            <a:stCxn id="53" idx="3"/>
            <a:endCxn id="61" idx="1"/>
          </p:cNvCxnSpPr>
          <p:nvPr/>
        </p:nvCxnSpPr>
        <p:spPr>
          <a:xfrm flipV="1">
            <a:off x="2976492" y="1511442"/>
            <a:ext cx="373926" cy="214716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stCxn id="53" idx="3"/>
            <a:endCxn id="62" idx="1"/>
          </p:cNvCxnSpPr>
          <p:nvPr/>
        </p:nvCxnSpPr>
        <p:spPr>
          <a:xfrm flipV="1">
            <a:off x="2976492" y="1989934"/>
            <a:ext cx="373926" cy="166867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stCxn id="53" idx="3"/>
            <a:endCxn id="64" idx="1"/>
          </p:cNvCxnSpPr>
          <p:nvPr/>
        </p:nvCxnSpPr>
        <p:spPr>
          <a:xfrm flipV="1">
            <a:off x="2976492" y="2460148"/>
            <a:ext cx="373926" cy="119846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stCxn id="53" idx="3"/>
            <a:endCxn id="65" idx="1"/>
          </p:cNvCxnSpPr>
          <p:nvPr/>
        </p:nvCxnSpPr>
        <p:spPr>
          <a:xfrm flipV="1">
            <a:off x="2976492" y="2953061"/>
            <a:ext cx="373926" cy="7055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꺾인 연결선 29"/>
          <p:cNvCxnSpPr>
            <a:stCxn id="53" idx="3"/>
            <a:endCxn id="66" idx="1"/>
          </p:cNvCxnSpPr>
          <p:nvPr/>
        </p:nvCxnSpPr>
        <p:spPr>
          <a:xfrm flipV="1">
            <a:off x="2976492" y="3449918"/>
            <a:ext cx="373926" cy="20869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꺾인 연결선 31"/>
          <p:cNvCxnSpPr>
            <a:stCxn id="55" idx="3"/>
            <a:endCxn id="70" idx="1"/>
          </p:cNvCxnSpPr>
          <p:nvPr/>
        </p:nvCxnSpPr>
        <p:spPr>
          <a:xfrm flipV="1">
            <a:off x="2976492" y="4290276"/>
            <a:ext cx="373926" cy="67266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꺾인 연결선 34"/>
          <p:cNvCxnSpPr>
            <a:stCxn id="55" idx="3"/>
            <a:endCxn id="79" idx="1"/>
          </p:cNvCxnSpPr>
          <p:nvPr/>
        </p:nvCxnSpPr>
        <p:spPr>
          <a:xfrm>
            <a:off x="2976492" y="4962942"/>
            <a:ext cx="373926" cy="120276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55" idx="3"/>
            <a:endCxn id="73" idx="1"/>
          </p:cNvCxnSpPr>
          <p:nvPr/>
        </p:nvCxnSpPr>
        <p:spPr>
          <a:xfrm flipV="1">
            <a:off x="2976492" y="4762757"/>
            <a:ext cx="373926" cy="20018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55" idx="3"/>
            <a:endCxn id="76" idx="1"/>
          </p:cNvCxnSpPr>
          <p:nvPr/>
        </p:nvCxnSpPr>
        <p:spPr>
          <a:xfrm>
            <a:off x="2976492" y="4962942"/>
            <a:ext cx="373926" cy="27346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55" idx="3"/>
            <a:endCxn id="78" idx="1"/>
          </p:cNvCxnSpPr>
          <p:nvPr/>
        </p:nvCxnSpPr>
        <p:spPr>
          <a:xfrm>
            <a:off x="2976492" y="4962942"/>
            <a:ext cx="373926" cy="73430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슬라이드 번호 개체 틀 2"/>
          <p:cNvSpPr>
            <a:spLocks noGrp="1"/>
          </p:cNvSpPr>
          <p:nvPr>
            <p:ph type="sldNum" sz="quarter" idx="4294967295"/>
          </p:nvPr>
        </p:nvSpPr>
        <p:spPr>
          <a:xfrm>
            <a:off x="11125200" y="0"/>
            <a:ext cx="1066800" cy="711200"/>
          </a:xfrm>
        </p:spPr>
        <p:txBody>
          <a:bodyPr/>
          <a:lstStyle/>
          <a:p>
            <a:r>
              <a:rPr lang="en-US" altLang="ko-KR"/>
              <a:t>537</a:t>
            </a:r>
            <a:endParaRPr lang="ko-KR" altLang="en-US" dirty="0"/>
          </a:p>
        </p:txBody>
      </p:sp>
      <p:sp>
        <p:nvSpPr>
          <p:cNvPr id="5" name="TextBox 4">
            <a:extLst>
              <a:ext uri="{FF2B5EF4-FFF2-40B4-BE49-F238E27FC236}">
                <a16:creationId xmlns:a16="http://schemas.microsoft.com/office/drawing/2014/main" id="{8DA49D19-81F5-4BA7-ADA0-B9444784EC80}"/>
              </a:ext>
            </a:extLst>
          </p:cNvPr>
          <p:cNvSpPr txBox="1"/>
          <p:nvPr/>
        </p:nvSpPr>
        <p:spPr>
          <a:xfrm>
            <a:off x="1866699" y="6421764"/>
            <a:ext cx="715260" cy="276999"/>
          </a:xfrm>
          <a:prstGeom prst="rect">
            <a:avLst/>
          </a:prstGeom>
          <a:noFill/>
        </p:spPr>
        <p:txBody>
          <a:bodyPr wrap="none" rtlCol="0">
            <a:spAutoFit/>
          </a:bodyPr>
          <a:lstStyle/>
          <a:p>
            <a:r>
              <a:rPr lang="ko-KR" altLang="en-US" sz="1200"/>
              <a:t>제</a:t>
            </a:r>
            <a:r>
              <a:rPr lang="en-US" altLang="ko-KR" sz="1200" dirty="0"/>
              <a:t>189</a:t>
            </a:r>
            <a:r>
              <a:rPr lang="ko-KR" altLang="en-US" sz="1200" dirty="0"/>
              <a:t>조</a:t>
            </a:r>
          </a:p>
        </p:txBody>
      </p:sp>
    </p:spTree>
    <p:extLst>
      <p:ext uri="{BB962C8B-B14F-4D97-AF65-F5344CB8AC3E}">
        <p14:creationId xmlns:p14="http://schemas.microsoft.com/office/powerpoint/2010/main" val="3598089199"/>
      </p:ext>
    </p:extLst>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40082EFE-82C3-48A1-9349-997F08A9CE9A}"/>
            </a:ext>
          </a:extLst>
        </p:cNvPr>
        <p:cNvGrpSpPr/>
        <p:nvPr/>
      </p:nvGrpSpPr>
      <p:grpSpPr>
        <a:xfrm>
          <a:off x="0" y="0"/>
          <a:ext cx="0" cy="0"/>
          <a:chOff x="0" y="0"/>
          <a:chExt cx="0" cy="0"/>
        </a:xfrm>
      </p:grpSpPr>
    </p:spTree>
    <p:extLst>
      <p:ext uri="{BB962C8B-B14F-4D97-AF65-F5344CB8AC3E}">
        <p14:creationId xmlns:p14="http://schemas.microsoft.com/office/powerpoint/2010/main" val="2491283971"/>
      </p:ext>
    </p:extLst>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 name="직사각형 11"/>
          <p:cNvSpPr/>
          <p:nvPr/>
        </p:nvSpPr>
        <p:spPr>
          <a:xfrm>
            <a:off x="11153595" y="44623"/>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총칙</a:t>
            </a:r>
            <a:r>
              <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err="1">
                <a:ln>
                  <a:noFill/>
                </a:ln>
                <a:solidFill>
                  <a:prstClr val="white"/>
                </a:solidFill>
                <a:effectLst/>
                <a:uLnTx/>
                <a:uFillTx/>
                <a:latin typeface="Frutiger LT 65 Bold"/>
                <a:ea typeface="Rix모던고딕 B"/>
                <a:cs typeface="+mn-cs"/>
              </a:rPr>
              <a:t>보칙</a:t>
            </a:r>
            <a:endPar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3" name="직사각형 12"/>
          <p:cNvSpPr/>
          <p:nvPr/>
        </p:nvSpPr>
        <p:spPr>
          <a:xfrm>
            <a:off x="11153595" y="1011588"/>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특허</a:t>
            </a:r>
            <a:endPar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요건</a:t>
            </a:r>
          </a:p>
        </p:txBody>
      </p:sp>
      <p:sp>
        <p:nvSpPr>
          <p:cNvPr id="14" name="직사각형 13"/>
          <p:cNvSpPr/>
          <p:nvPr/>
        </p:nvSpPr>
        <p:spPr>
          <a:xfrm>
            <a:off x="11153595" y="1978552"/>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이익</a:t>
            </a:r>
            <a:endPar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제도</a:t>
            </a:r>
          </a:p>
        </p:txBody>
      </p:sp>
      <p:sp>
        <p:nvSpPr>
          <p:cNvPr id="15" name="직사각형 14"/>
          <p:cNvSpPr/>
          <p:nvPr/>
        </p:nvSpPr>
        <p:spPr>
          <a:xfrm>
            <a:off x="11153595" y="2945517"/>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심사</a:t>
            </a:r>
            <a:endPar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제도</a:t>
            </a:r>
            <a:r>
              <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6" name="직사각형 15"/>
          <p:cNvSpPr/>
          <p:nvPr/>
        </p:nvSpPr>
        <p:spPr>
          <a:xfrm>
            <a:off x="11153595" y="3912483"/>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특허권</a:t>
            </a:r>
          </a:p>
        </p:txBody>
      </p:sp>
      <p:sp>
        <p:nvSpPr>
          <p:cNvPr id="17" name="직사각형 16"/>
          <p:cNvSpPr/>
          <p:nvPr/>
        </p:nvSpPr>
        <p:spPr>
          <a:xfrm>
            <a:off x="11153595" y="4879448"/>
            <a:ext cx="1062789" cy="966965"/>
          </a:xfrm>
          <a:prstGeom prst="rect">
            <a:avLst/>
          </a:prstGeom>
          <a:solidFill>
            <a:schemeClr val="bg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심판</a:t>
            </a:r>
            <a:r>
              <a:rPr kumimoji="0" lang="en-US" altLang="ko-KR" sz="2000" b="1" i="0" u="none" strike="noStrike" kern="1200" cap="none" spc="0" normalizeH="0" baseline="0" noProof="0" dirty="0">
                <a:ln>
                  <a:noFill/>
                </a:ln>
                <a:solidFill>
                  <a:prstClr val="white"/>
                </a:solidFill>
                <a:effectLst/>
                <a:uLnTx/>
                <a:uFillTx/>
                <a:latin typeface="Frutiger LT 65 Bold"/>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2000" b="1" i="0" u="none" strike="noStrike" kern="1200" cap="none" spc="0" normalizeH="0" baseline="0" noProof="0" dirty="0">
                <a:ln>
                  <a:noFill/>
                </a:ln>
                <a:solidFill>
                  <a:prstClr val="white"/>
                </a:solidFill>
                <a:effectLst/>
                <a:uLnTx/>
                <a:uFillTx/>
                <a:latin typeface="Frutiger LT 65 Bold"/>
                <a:ea typeface="Rix모던고딕 B"/>
                <a:cs typeface="+mn-cs"/>
              </a:rPr>
              <a:t>소송</a:t>
            </a:r>
          </a:p>
        </p:txBody>
      </p:sp>
      <p:sp>
        <p:nvSpPr>
          <p:cNvPr id="18" name="직사각형 17"/>
          <p:cNvSpPr/>
          <p:nvPr/>
        </p:nvSpPr>
        <p:spPr>
          <a:xfrm>
            <a:off x="11153595" y="5846412"/>
            <a:ext cx="1062789" cy="966965"/>
          </a:xfrm>
          <a:prstGeom prst="rect">
            <a:avLst/>
          </a:prstGeom>
          <a:solidFill>
            <a:schemeClr val="tx1">
              <a:lumMod val="65000"/>
              <a:lumOff val="3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FFC000"/>
                </a:solidFill>
                <a:effectLst/>
                <a:uLnTx/>
                <a:uFillTx/>
                <a:latin typeface="Frutiger LT 65 Bold"/>
                <a:ea typeface="Rix모던고딕 B"/>
                <a:cs typeface="+mn-cs"/>
              </a:rPr>
              <a:t>PCT</a:t>
            </a:r>
            <a:endParaRPr kumimoji="0" lang="ko-KR" altLang="en-US" sz="2000" b="1" i="0" u="none" strike="noStrike" kern="1200" cap="none" spc="0" normalizeH="0" baseline="0" noProof="0" dirty="0">
              <a:ln>
                <a:noFill/>
              </a:ln>
              <a:solidFill>
                <a:srgbClr val="FFC000"/>
              </a:solidFill>
              <a:effectLst/>
              <a:uLnTx/>
              <a:uFillTx/>
              <a:latin typeface="Frutiger LT 65 Bold"/>
              <a:ea typeface="Rix모던고딕 B"/>
              <a:cs typeface="+mn-cs"/>
            </a:endParaRPr>
          </a:p>
        </p:txBody>
      </p:sp>
      <p:sp>
        <p:nvSpPr>
          <p:cNvPr id="2" name="제목 1">
            <a:extLst>
              <a:ext uri="{FF2B5EF4-FFF2-40B4-BE49-F238E27FC236}">
                <a16:creationId xmlns:a16="http://schemas.microsoft.com/office/drawing/2014/main" id="{3AE100E5-DCC6-E87C-8064-4DC1E148F356}"/>
              </a:ext>
            </a:extLst>
          </p:cNvPr>
          <p:cNvSpPr txBox="1">
            <a:spLocks/>
          </p:cNvSpPr>
          <p:nvPr/>
        </p:nvSpPr>
        <p:spPr>
          <a:xfrm>
            <a:off x="1961128" y="1991045"/>
            <a:ext cx="7162800" cy="1193800"/>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2400" kern="1200">
                <a:solidFill>
                  <a:schemeClr val="accent4"/>
                </a:solidFill>
                <a:latin typeface="Rix모던명조 B" panose="02020603020101020101" pitchFamily="18" charset="-127"/>
                <a:ea typeface="Rix모던명조 B" panose="02020603020101020101" pitchFamily="18" charset="-127"/>
                <a:cs typeface="+mj-cs"/>
              </a:defRPr>
            </a:lvl1pPr>
          </a:lstStyle>
          <a:p>
            <a:pPr marL="0" marR="0" lvl="0" indent="0" algn="ctr" defTabSz="914400" rtl="0" eaLnBrk="1" fontAlgn="auto" latinLnBrk="1" hangingPunct="1">
              <a:lnSpc>
                <a:spcPct val="90000"/>
              </a:lnSpc>
              <a:spcBef>
                <a:spcPct val="0"/>
              </a:spcBef>
              <a:spcAft>
                <a:spcPts val="0"/>
              </a:spcAft>
              <a:buClrTx/>
              <a:buSzTx/>
              <a:buFontTx/>
              <a:buNone/>
              <a:tabLst/>
              <a:defRPr/>
            </a:pPr>
            <a:r>
              <a:rPr kumimoji="0" lang="ko-KR" altLang="en-US" sz="8000" b="0" i="0" u="none" strike="noStrike" kern="1200" cap="none" spc="0" normalizeH="0" baseline="0" noProof="0" dirty="0">
                <a:ln>
                  <a:noFill/>
                </a:ln>
                <a:solidFill>
                  <a:prstClr val="black">
                    <a:lumMod val="50000"/>
                    <a:lumOff val="50000"/>
                  </a:prstClr>
                </a:solidFill>
                <a:effectLst/>
                <a:uLnTx/>
                <a:uFillTx/>
                <a:latin typeface="Rix모던고딕 EB" panose="02020603020101020101" pitchFamily="18" charset="-127"/>
                <a:ea typeface="Rix모던고딕 EB" panose="02020603020101020101" pitchFamily="18" charset="-127"/>
                <a:cs typeface="+mj-cs"/>
              </a:rPr>
              <a:t>특허법 강의노트</a:t>
            </a:r>
          </a:p>
        </p:txBody>
      </p:sp>
      <p:sp>
        <p:nvSpPr>
          <p:cNvPr id="3" name="제목 1">
            <a:extLst>
              <a:ext uri="{FF2B5EF4-FFF2-40B4-BE49-F238E27FC236}">
                <a16:creationId xmlns:a16="http://schemas.microsoft.com/office/drawing/2014/main" id="{6AC93467-3A7C-76ED-286D-A792BFB75919}"/>
              </a:ext>
            </a:extLst>
          </p:cNvPr>
          <p:cNvSpPr txBox="1">
            <a:spLocks/>
          </p:cNvSpPr>
          <p:nvPr/>
        </p:nvSpPr>
        <p:spPr>
          <a:xfrm>
            <a:off x="2185246" y="3197545"/>
            <a:ext cx="6684682" cy="104455"/>
          </a:xfrm>
          <a:prstGeom prst="rect">
            <a:avLst/>
          </a:prstGeom>
          <a:solidFill>
            <a:schemeClr val="bg2">
              <a:lumMod val="90000"/>
            </a:schemeClr>
          </a:solidFill>
        </p:spPr>
        <p:txBody>
          <a:bodyPr vert="horz" lIns="540000" tIns="0" rIns="54000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pPr marL="0" marR="0" lvl="0" indent="0" algn="dist" defTabSz="914400" rtl="0" eaLnBrk="1" fontAlgn="auto" latinLnBrk="1" hangingPunct="1">
              <a:lnSpc>
                <a:spcPct val="90000"/>
              </a:lnSpc>
              <a:spcBef>
                <a:spcPct val="0"/>
              </a:spcBef>
              <a:spcAft>
                <a:spcPts val="0"/>
              </a:spcAft>
              <a:buClrTx/>
              <a:buSzTx/>
              <a:buFontTx/>
              <a:buNone/>
              <a:tabLst/>
              <a:defRPr/>
            </a:pPr>
            <a:endParaRPr kumimoji="0" lang="ko-KR" altLang="en-US" sz="4000" b="0" i="0" u="none" strike="noStrike" kern="1200" cap="none" spc="0" normalizeH="0" baseline="0" noProof="0" dirty="0">
              <a:ln>
                <a:noFill/>
              </a:ln>
              <a:solidFill>
                <a:srgbClr val="FFC000"/>
              </a:solidFill>
              <a:effectLst/>
              <a:uLnTx/>
              <a:uFillTx/>
              <a:latin typeface="Rix모던고딕 B"/>
              <a:ea typeface="Rix모던고딕 B"/>
              <a:cs typeface="Tahoma" panose="020B0604030504040204" pitchFamily="34" charset="0"/>
            </a:endParaRPr>
          </a:p>
        </p:txBody>
      </p:sp>
      <p:sp>
        <p:nvSpPr>
          <p:cNvPr id="4" name="제목 1">
            <a:extLst>
              <a:ext uri="{FF2B5EF4-FFF2-40B4-BE49-F238E27FC236}">
                <a16:creationId xmlns:a16="http://schemas.microsoft.com/office/drawing/2014/main" id="{84F91C4D-47FA-4A2D-448E-50BB09FD5735}"/>
              </a:ext>
            </a:extLst>
          </p:cNvPr>
          <p:cNvSpPr txBox="1">
            <a:spLocks/>
          </p:cNvSpPr>
          <p:nvPr/>
        </p:nvSpPr>
        <p:spPr>
          <a:xfrm>
            <a:off x="4565375" y="4873198"/>
            <a:ext cx="1954306" cy="649061"/>
          </a:xfrm>
          <a:prstGeom prst="rect">
            <a:avLst/>
          </a:prstGeom>
        </p:spPr>
        <p:txBody>
          <a:bodyPr vert="horz" lIns="91440" tIns="45720" rIns="91440" bIns="45720" rtlCol="0" anchor="t">
            <a:norm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1" hangingPunct="1">
              <a:lnSpc>
                <a:spcPct val="90000"/>
              </a:lnSpc>
              <a:spcBef>
                <a:spcPct val="0"/>
              </a:spcBef>
              <a:spcAft>
                <a:spcPts val="0"/>
              </a:spcAft>
              <a:buClrTx/>
              <a:buSzTx/>
              <a:buFontTx/>
              <a:buNone/>
              <a:tabLst/>
              <a:defRPr/>
            </a:pPr>
            <a:r>
              <a:rPr kumimoji="0" lang="en-US" altLang="ko-KR" sz="3600" b="0" i="0" u="none" strike="noStrike" kern="1200" cap="none" spc="0" normalizeH="0" baseline="0" noProof="0" dirty="0">
                <a:ln>
                  <a:noFill/>
                </a:ln>
                <a:solidFill>
                  <a:prstClr val="black">
                    <a:lumMod val="50000"/>
                    <a:lumOff val="50000"/>
                  </a:prstClr>
                </a:solidFill>
                <a:effectLst/>
                <a:uLnTx/>
                <a:uFillTx/>
                <a:latin typeface="Rix모던고딕 EB" panose="02020603020101020101" pitchFamily="18" charset="-127"/>
                <a:ea typeface="Rix모던고딕 EB" panose="02020603020101020101" pitchFamily="18" charset="-127"/>
                <a:cs typeface="+mj-cs"/>
              </a:rPr>
              <a:t>2026</a:t>
            </a:r>
            <a:endParaRPr kumimoji="0" lang="ko-KR" altLang="en-US" sz="3600" b="0" i="0" u="none" strike="noStrike" kern="1200" cap="none" spc="0" normalizeH="0" baseline="0" noProof="0" dirty="0">
              <a:ln>
                <a:noFill/>
              </a:ln>
              <a:solidFill>
                <a:prstClr val="black">
                  <a:lumMod val="50000"/>
                  <a:lumOff val="50000"/>
                </a:prstClr>
              </a:solidFill>
              <a:effectLst/>
              <a:uLnTx/>
              <a:uFillTx/>
              <a:latin typeface="Rix모던고딕 EB" panose="02020603020101020101" pitchFamily="18" charset="-127"/>
              <a:ea typeface="Rix모던고딕 EB" panose="02020603020101020101" pitchFamily="18" charset="-127"/>
              <a:cs typeface="+mj-cs"/>
            </a:endParaRPr>
          </a:p>
        </p:txBody>
      </p:sp>
      <p:sp>
        <p:nvSpPr>
          <p:cNvPr id="5" name="제목 1">
            <a:extLst>
              <a:ext uri="{FF2B5EF4-FFF2-40B4-BE49-F238E27FC236}">
                <a16:creationId xmlns:a16="http://schemas.microsoft.com/office/drawing/2014/main" id="{F864050F-99F9-30B0-660F-736B37A0AF58}"/>
              </a:ext>
            </a:extLst>
          </p:cNvPr>
          <p:cNvSpPr txBox="1">
            <a:spLocks/>
          </p:cNvSpPr>
          <p:nvPr/>
        </p:nvSpPr>
        <p:spPr>
          <a:xfrm>
            <a:off x="2185246" y="3467433"/>
            <a:ext cx="6684682" cy="545768"/>
          </a:xfrm>
          <a:prstGeom prst="roundRect">
            <a:avLst>
              <a:gd name="adj" fmla="val 50000"/>
            </a:avLst>
          </a:prstGeom>
          <a:solidFill>
            <a:schemeClr val="accent4"/>
          </a:solidFill>
        </p:spPr>
        <p:txBody>
          <a:bodyPr vert="horz" lIns="0" tIns="0" rIns="0" bIns="0" rtlCol="0" anchor="ctr">
            <a:noAutofit/>
          </a:bodyPr>
          <a:lstStyle>
            <a:lvl1pPr algn="ctr" defTabSz="914400" rtl="0" eaLnBrk="1" latinLnBrk="1"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1" hangingPunct="1">
              <a:lnSpc>
                <a:spcPct val="90000"/>
              </a:lnSpc>
              <a:spcBef>
                <a:spcPct val="0"/>
              </a:spcBef>
              <a:spcAft>
                <a:spcPts val="0"/>
              </a:spcAft>
              <a:buClrTx/>
              <a:buSzTx/>
              <a:buFontTx/>
              <a:buNone/>
              <a:tabLst/>
              <a:defRPr/>
            </a:pPr>
            <a:r>
              <a:rPr kumimoji="0" lang="en-US" altLang="ko-KR" sz="2800" b="0" i="0" u="none" strike="noStrike" kern="1200" cap="none" spc="0" normalizeH="0" baseline="0" noProof="0" dirty="0" err="1">
                <a:ln>
                  <a:noFill/>
                </a:ln>
                <a:solidFill>
                  <a:prstClr val="white"/>
                </a:solidFill>
                <a:effectLst/>
                <a:uLnTx/>
                <a:uFillTx/>
                <a:latin typeface="Rix모던고딕 EB" panose="02020603020101020101" pitchFamily="18" charset="-127"/>
                <a:ea typeface="Rix모던고딕 EB" panose="02020603020101020101" pitchFamily="18" charset="-127"/>
                <a:cs typeface="+mj-cs"/>
              </a:rPr>
              <a:t>Yim</a:t>
            </a:r>
            <a:r>
              <a:rPr kumimoji="0" lang="en-US" altLang="ko-KR" sz="2800" b="0" i="0" u="none" strike="noStrike" kern="1200" cap="none" spc="0" normalizeH="0" baseline="0" noProof="0" dirty="0">
                <a:ln>
                  <a:noFill/>
                </a:ln>
                <a:solidFill>
                  <a:prstClr val="white"/>
                </a:solidFill>
                <a:effectLst/>
                <a:uLnTx/>
                <a:uFillTx/>
                <a:latin typeface="Rix모던고딕 EB" panose="02020603020101020101" pitchFamily="18" charset="-127"/>
                <a:ea typeface="Rix모던고딕 EB" panose="02020603020101020101" pitchFamily="18" charset="-127"/>
                <a:cs typeface="+mj-cs"/>
              </a:rPr>
              <a:t>, </a:t>
            </a:r>
            <a:r>
              <a:rPr kumimoji="0" lang="en-US" altLang="ko-KR" sz="2800" b="0" i="0" u="none" strike="noStrike" kern="1200" cap="none" spc="0" normalizeH="0" baseline="0" noProof="0" dirty="0" err="1">
                <a:ln>
                  <a:noFill/>
                </a:ln>
                <a:solidFill>
                  <a:prstClr val="white"/>
                </a:solidFill>
                <a:effectLst/>
                <a:uLnTx/>
                <a:uFillTx/>
                <a:latin typeface="Rix모던고딕 EB" panose="02020603020101020101" pitchFamily="18" charset="-127"/>
                <a:ea typeface="Rix모던고딕 EB" panose="02020603020101020101" pitchFamily="18" charset="-127"/>
                <a:cs typeface="+mj-cs"/>
              </a:rPr>
              <a:t>Byung-Woong</a:t>
            </a:r>
            <a:r>
              <a:rPr kumimoji="0" lang="en-US" altLang="ko-KR" sz="2800" b="0" i="0" u="none" strike="noStrike" kern="1200" cap="none" spc="0" normalizeH="0" baseline="0" noProof="0" dirty="0">
                <a:ln>
                  <a:noFill/>
                </a:ln>
                <a:solidFill>
                  <a:prstClr val="white"/>
                </a:solidFill>
                <a:effectLst/>
                <a:uLnTx/>
                <a:uFillTx/>
                <a:latin typeface="Rix모던고딕 EB" panose="02020603020101020101" pitchFamily="18" charset="-127"/>
                <a:ea typeface="Rix모던고딕 EB" panose="02020603020101020101" pitchFamily="18" charset="-127"/>
                <a:cs typeface="+mj-cs"/>
              </a:rPr>
              <a:t> All Rights Reserved.</a:t>
            </a:r>
            <a:endParaRPr kumimoji="0" lang="ko-KR" altLang="en-US" sz="2800" b="0" i="0" u="none" strike="noStrike" kern="1200" cap="none" spc="0" normalizeH="0" baseline="0" noProof="0" dirty="0">
              <a:ln>
                <a:noFill/>
              </a:ln>
              <a:solidFill>
                <a:prstClr val="white"/>
              </a:solidFill>
              <a:effectLst/>
              <a:uLnTx/>
              <a:uFillTx/>
              <a:latin typeface="Rix모던고딕 EB" panose="02020603020101020101" pitchFamily="18" charset="-127"/>
              <a:ea typeface="Rix모던고딕 EB" panose="02020603020101020101" pitchFamily="18" charset="-127"/>
              <a:cs typeface="+mj-cs"/>
            </a:endParaRPr>
          </a:p>
        </p:txBody>
      </p:sp>
    </p:spTree>
    <p:extLst>
      <p:ext uri="{BB962C8B-B14F-4D97-AF65-F5344CB8AC3E}">
        <p14:creationId xmlns:p14="http://schemas.microsoft.com/office/powerpoint/2010/main" val="1205196066"/>
      </p:ext>
    </p:extLst>
  </p:cSld>
  <p:clrMapOvr>
    <a:masterClrMapping/>
  </p:clrMapOvr>
  <mc:AlternateContent xmlns:mc="http://schemas.openxmlformats.org/markup-compatibility/2006" xmlns:p14="http://schemas.microsoft.com/office/powerpoint/2010/main">
    <mc:Choice Requires="p14">
      <p:transition spd="slow" p14:dur="2000" advTm="0"/>
    </mc:Choice>
    <mc:Fallback xmlns="">
      <p:transition spd="slow" advTm="0"/>
    </mc:Fallback>
  </mc:AlternateContent>
</p:sld>
</file>

<file path=ppt/slides/slide5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021479272"/>
      </p:ext>
    </p:extLst>
  </p:cSld>
  <p:clrMapOvr>
    <a:masterClrMapping/>
  </p:clrMapOvr>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539</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6" name="직사각형 5"/>
          <p:cNvSpPr/>
          <p:nvPr/>
        </p:nvSpPr>
        <p:spPr>
          <a:xfrm>
            <a:off x="1244284" y="2152137"/>
            <a:ext cx="552862" cy="498328"/>
          </a:xfrm>
          <a:prstGeom prst="rect">
            <a:avLst/>
          </a:prstGeom>
          <a:ln w="6350"/>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총칙</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white"/>
                </a:solidFill>
                <a:effectLst/>
                <a:uLnTx/>
                <a:uFillTx/>
                <a:latin typeface="Frutiger LT 65 Bold"/>
                <a:ea typeface="Rix모던고딕 B"/>
                <a:cs typeface="+mn-cs"/>
              </a:rPr>
              <a:t>보칙</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7" name="직사각형 6"/>
          <p:cNvSpPr/>
          <p:nvPr/>
        </p:nvSpPr>
        <p:spPr>
          <a:xfrm>
            <a:off x="2118397" y="99429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목적</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 name="직사각형 7"/>
          <p:cNvSpPr/>
          <p:nvPr/>
        </p:nvSpPr>
        <p:spPr>
          <a:xfrm>
            <a:off x="2118397" y="12362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정의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 name="직사각형 8"/>
          <p:cNvSpPr/>
          <p:nvPr/>
        </p:nvSpPr>
        <p:spPr>
          <a:xfrm>
            <a:off x="2118397" y="1471128"/>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행위능력</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3~5①)</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 name="직사각형 9"/>
          <p:cNvSpPr/>
          <p:nvPr/>
        </p:nvSpPr>
        <p:spPr>
          <a:xfrm>
            <a:off x="2118397" y="1713120"/>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대리인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3②, 5②~10, 12)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 name="직사각형 10"/>
          <p:cNvSpPr/>
          <p:nvPr/>
        </p:nvSpPr>
        <p:spPr>
          <a:xfrm>
            <a:off x="2118397" y="1945643"/>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복수당사자 대표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 name="직사각형 11"/>
          <p:cNvSpPr/>
          <p:nvPr/>
        </p:nvSpPr>
        <p:spPr>
          <a:xfrm>
            <a:off x="2118397" y="218763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재외자의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재판관할</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 name="직사각형 12"/>
          <p:cNvSpPr/>
          <p:nvPr/>
        </p:nvSpPr>
        <p:spPr>
          <a:xfrm>
            <a:off x="2118397" y="2438415"/>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기일과 기간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14, 15)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4" name="직사각형 13"/>
          <p:cNvSpPr/>
          <p:nvPr/>
        </p:nvSpPr>
        <p:spPr>
          <a:xfrm>
            <a:off x="2118397" y="2670267"/>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특허에 관한 절차 일반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 28~28</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 name="직사각형 14"/>
          <p:cNvSpPr/>
          <p:nvPr/>
        </p:nvSpPr>
        <p:spPr>
          <a:xfrm>
            <a:off x="2118397" y="290844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추후보완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17, 67</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a:ln>
                  <a:noFill/>
                </a:ln>
                <a:solidFill>
                  <a:prstClr val="black"/>
                </a:solidFill>
                <a:effectLst/>
                <a:uLnTx/>
                <a:uFillTx/>
                <a:latin typeface="Frutiger LT 65 Bold"/>
                <a:ea typeface="Rix모던고딕 B"/>
                <a:cs typeface="+mn-cs"/>
              </a:rPr>
              <a:t>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6" name="직사각형 15"/>
          <p:cNvSpPr/>
          <p:nvPr/>
        </p:nvSpPr>
        <p:spPr>
          <a:xfrm>
            <a:off x="2118397" y="3139884"/>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절차의 효력의 승계 및 절차의 속행</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18, 19)</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7" name="직사각형 16"/>
          <p:cNvSpPr/>
          <p:nvPr/>
        </p:nvSpPr>
        <p:spPr>
          <a:xfrm>
            <a:off x="2118397" y="337173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절차의 정지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20~24, 78, 164)</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8" name="꺾인 연결선 17"/>
          <p:cNvCxnSpPr>
            <a:cxnSpLocks/>
            <a:stCxn id="6" idx="3"/>
            <a:endCxn id="7" idx="1"/>
          </p:cNvCxnSpPr>
          <p:nvPr/>
        </p:nvCxnSpPr>
        <p:spPr>
          <a:xfrm flipV="1">
            <a:off x="1797146" y="1085041"/>
            <a:ext cx="321251" cy="131626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cxnSpLocks/>
            <a:stCxn id="6" idx="3"/>
            <a:endCxn id="17" idx="1"/>
          </p:cNvCxnSpPr>
          <p:nvPr/>
        </p:nvCxnSpPr>
        <p:spPr>
          <a:xfrm>
            <a:off x="1797146" y="2401301"/>
            <a:ext cx="321251" cy="106118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꺾인 연결선 19"/>
          <p:cNvCxnSpPr>
            <a:cxnSpLocks/>
            <a:stCxn id="6" idx="3"/>
            <a:endCxn id="8" idx="1"/>
          </p:cNvCxnSpPr>
          <p:nvPr/>
        </p:nvCxnSpPr>
        <p:spPr>
          <a:xfrm flipV="1">
            <a:off x="1797146" y="1327033"/>
            <a:ext cx="321251" cy="107426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cxnSpLocks/>
            <a:stCxn id="6" idx="3"/>
            <a:endCxn id="9" idx="1"/>
          </p:cNvCxnSpPr>
          <p:nvPr/>
        </p:nvCxnSpPr>
        <p:spPr>
          <a:xfrm flipV="1">
            <a:off x="1797146" y="1561875"/>
            <a:ext cx="321251" cy="8394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꺾인 연결선 21"/>
          <p:cNvCxnSpPr>
            <a:cxnSpLocks/>
            <a:stCxn id="6" idx="3"/>
            <a:endCxn id="13" idx="1"/>
          </p:cNvCxnSpPr>
          <p:nvPr/>
        </p:nvCxnSpPr>
        <p:spPr>
          <a:xfrm>
            <a:off x="1797146" y="2401301"/>
            <a:ext cx="321251" cy="12786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cxnSpLocks/>
            <a:stCxn id="6" idx="3"/>
            <a:endCxn id="14" idx="1"/>
          </p:cNvCxnSpPr>
          <p:nvPr/>
        </p:nvCxnSpPr>
        <p:spPr>
          <a:xfrm>
            <a:off x="1797146" y="2401301"/>
            <a:ext cx="321251" cy="35971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cxnSpLocks/>
            <a:stCxn id="6" idx="3"/>
            <a:endCxn id="15" idx="1"/>
          </p:cNvCxnSpPr>
          <p:nvPr/>
        </p:nvCxnSpPr>
        <p:spPr>
          <a:xfrm>
            <a:off x="1797146" y="2401301"/>
            <a:ext cx="321251" cy="5978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cxnSpLocks/>
            <a:stCxn id="6" idx="3"/>
            <a:endCxn id="16" idx="1"/>
          </p:cNvCxnSpPr>
          <p:nvPr/>
        </p:nvCxnSpPr>
        <p:spPr>
          <a:xfrm>
            <a:off x="1797146" y="2401301"/>
            <a:ext cx="321251" cy="82933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꺾인 연결선 25"/>
          <p:cNvCxnSpPr>
            <a:cxnSpLocks/>
            <a:stCxn id="6" idx="3"/>
            <a:endCxn id="10" idx="1"/>
          </p:cNvCxnSpPr>
          <p:nvPr/>
        </p:nvCxnSpPr>
        <p:spPr>
          <a:xfrm flipV="1">
            <a:off x="1797146" y="1803867"/>
            <a:ext cx="321251" cy="59743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cxnSpLocks/>
            <a:stCxn id="6" idx="3"/>
            <a:endCxn id="11" idx="1"/>
          </p:cNvCxnSpPr>
          <p:nvPr/>
        </p:nvCxnSpPr>
        <p:spPr>
          <a:xfrm flipV="1">
            <a:off x="1797146" y="2036390"/>
            <a:ext cx="321251" cy="364911"/>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꺾인 연결선 27"/>
          <p:cNvCxnSpPr>
            <a:cxnSpLocks/>
            <a:stCxn id="6" idx="3"/>
            <a:endCxn id="12" idx="1"/>
          </p:cNvCxnSpPr>
          <p:nvPr/>
        </p:nvCxnSpPr>
        <p:spPr>
          <a:xfrm flipV="1">
            <a:off x="1797146" y="2278382"/>
            <a:ext cx="321251" cy="122919"/>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9" name="그룹 28"/>
          <p:cNvGrpSpPr/>
          <p:nvPr/>
        </p:nvGrpSpPr>
        <p:grpSpPr>
          <a:xfrm>
            <a:off x="6536267" y="1171792"/>
            <a:ext cx="4444979" cy="2279356"/>
            <a:chOff x="3987793" y="1037128"/>
            <a:chExt cx="3733785" cy="1752532"/>
          </a:xfrm>
        </p:grpSpPr>
        <p:sp>
          <p:nvSpPr>
            <p:cNvPr id="30" name="직사각형 29"/>
            <p:cNvSpPr/>
            <p:nvPr/>
          </p:nvSpPr>
          <p:spPr>
            <a:xfrm>
              <a:off x="3987793" y="1888138"/>
              <a:ext cx="398311" cy="385993"/>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특허</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요건</a:t>
              </a:r>
            </a:p>
          </p:txBody>
        </p:sp>
        <p:sp>
          <p:nvSpPr>
            <p:cNvPr id="31" name="직사각형 30"/>
            <p:cNvSpPr/>
            <p:nvPr/>
          </p:nvSpPr>
          <p:spPr>
            <a:xfrm>
              <a:off x="4546567" y="160536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없는 발명</a:t>
              </a:r>
            </a:p>
          </p:txBody>
        </p:sp>
        <p:sp>
          <p:nvSpPr>
            <p:cNvPr id="32" name="직사각형 31"/>
            <p:cNvSpPr/>
            <p:nvPr/>
          </p:nvSpPr>
          <p:spPr>
            <a:xfrm>
              <a:off x="4546568" y="1990474"/>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있는 자</a:t>
              </a:r>
            </a:p>
          </p:txBody>
        </p:sp>
        <p:sp>
          <p:nvSpPr>
            <p:cNvPr id="33" name="직사각형 32"/>
            <p:cNvSpPr/>
            <p:nvPr/>
          </p:nvSpPr>
          <p:spPr>
            <a:xfrm>
              <a:off x="4546567" y="1205114"/>
              <a:ext cx="950303" cy="337776"/>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있는 발명</a:t>
              </a:r>
            </a:p>
          </p:txBody>
        </p:sp>
        <p:sp>
          <p:nvSpPr>
            <p:cNvPr id="34" name="직사각형 33"/>
            <p:cNvSpPr/>
            <p:nvPr/>
          </p:nvSpPr>
          <p:spPr>
            <a:xfrm>
              <a:off x="4546568" y="2378317"/>
              <a:ext cx="950302" cy="337776"/>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있는 출원</a:t>
              </a:r>
            </a:p>
          </p:txBody>
        </p:sp>
        <p:grpSp>
          <p:nvGrpSpPr>
            <p:cNvPr id="35" name="그룹 34"/>
            <p:cNvGrpSpPr/>
            <p:nvPr/>
          </p:nvGrpSpPr>
          <p:grpSpPr>
            <a:xfrm>
              <a:off x="5713090" y="1037128"/>
              <a:ext cx="2008488" cy="1752532"/>
              <a:chOff x="9836379" y="3177270"/>
              <a:chExt cx="2251744" cy="1752532"/>
            </a:xfrm>
            <a:solidFill>
              <a:schemeClr val="accent1">
                <a:lumMod val="20000"/>
                <a:lumOff val="80000"/>
              </a:schemeClr>
            </a:solidFill>
          </p:grpSpPr>
          <p:sp>
            <p:nvSpPr>
              <p:cNvPr id="49" name="직사각형 48"/>
              <p:cNvSpPr/>
              <p:nvPr/>
            </p:nvSpPr>
            <p:spPr>
              <a:xfrm>
                <a:off x="9836379" y="317727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협의의 특허요건</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29)</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0" name="직사각형 49"/>
              <p:cNvSpPr/>
              <p:nvPr/>
            </p:nvSpPr>
            <p:spPr>
              <a:xfrm>
                <a:off x="9836379" y="338513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선출원주의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36)</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1" name="직사각형 50"/>
              <p:cNvSpPr/>
              <p:nvPr/>
            </p:nvSpPr>
            <p:spPr>
              <a:xfrm>
                <a:off x="9836379" y="3574340"/>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불특허발명</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2" name="직사각형 51"/>
              <p:cNvSpPr/>
              <p:nvPr/>
            </p:nvSpPr>
            <p:spPr>
              <a:xfrm>
                <a:off x="9836379" y="3782202"/>
                <a:ext cx="2251744" cy="155896"/>
              </a:xfrm>
              <a:prstGeom prst="rect">
                <a:avLst/>
              </a:prstGeom>
              <a:grp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국방상 필요한 발명</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41, 106)</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3" name="직사각형 52"/>
              <p:cNvSpPr/>
              <p:nvPr/>
            </p:nvSpPr>
            <p:spPr>
              <a:xfrm>
                <a:off x="9836379" y="3969271"/>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25, 33, 44)</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4" name="직사각형 53"/>
              <p:cNvSpPr/>
              <p:nvPr/>
            </p:nvSpPr>
            <p:spPr>
              <a:xfrm>
                <a:off x="9836379" y="4160199"/>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특허를 받을 수 있는 권리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37, 38)</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5" name="직사각형 54"/>
              <p:cNvSpPr/>
              <p:nvPr/>
            </p:nvSpPr>
            <p:spPr>
              <a:xfrm>
                <a:off x="9836379" y="435867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직무발명</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발진법</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 10~19, 58)</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6" name="직사각형 55"/>
              <p:cNvSpPr/>
              <p:nvPr/>
            </p:nvSpPr>
            <p:spPr>
              <a:xfrm>
                <a:off x="9836379" y="4558495"/>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42~42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3, 43)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7" name="직사각형 56"/>
              <p:cNvSpPr/>
              <p:nvPr/>
            </p:nvSpPr>
            <p:spPr>
              <a:xfrm>
                <a:off x="9836379" y="4773906"/>
                <a:ext cx="2251744" cy="155896"/>
              </a:xfrm>
              <a:prstGeom prst="rect">
                <a:avLst/>
              </a:prstGeom>
              <a:grp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하나의 특허출원의 범위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45)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cxnSp>
          <p:nvCxnSpPr>
            <p:cNvPr id="36" name="꺾인 연결선 35"/>
            <p:cNvCxnSpPr>
              <a:stCxn id="30" idx="3"/>
              <a:endCxn id="33" idx="1"/>
            </p:cNvCxnSpPr>
            <p:nvPr/>
          </p:nvCxnSpPr>
          <p:spPr>
            <a:xfrm flipV="1">
              <a:off x="4386104" y="1374002"/>
              <a:ext cx="160463" cy="70713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30" idx="3"/>
              <a:endCxn id="34" idx="1"/>
            </p:cNvCxnSpPr>
            <p:nvPr/>
          </p:nvCxnSpPr>
          <p:spPr>
            <a:xfrm>
              <a:off x="4386104" y="2081135"/>
              <a:ext cx="160464" cy="46607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꺾인 연결선 37"/>
            <p:cNvCxnSpPr>
              <a:stCxn id="30" idx="3"/>
              <a:endCxn id="31" idx="1"/>
            </p:cNvCxnSpPr>
            <p:nvPr/>
          </p:nvCxnSpPr>
          <p:spPr>
            <a:xfrm flipV="1">
              <a:off x="4386104" y="1774252"/>
              <a:ext cx="160463" cy="306883"/>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30" idx="3"/>
              <a:endCxn id="32" idx="1"/>
            </p:cNvCxnSpPr>
            <p:nvPr/>
          </p:nvCxnSpPr>
          <p:spPr>
            <a:xfrm>
              <a:off x="4386104" y="2081135"/>
              <a:ext cx="160464" cy="7822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꺾인 연결선 39"/>
            <p:cNvCxnSpPr>
              <a:stCxn id="33" idx="3"/>
              <a:endCxn id="49" idx="1"/>
            </p:cNvCxnSpPr>
            <p:nvPr/>
          </p:nvCxnSpPr>
          <p:spPr>
            <a:xfrm flipV="1">
              <a:off x="5496870" y="1115076"/>
              <a:ext cx="216220" cy="25892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꺾인 연결선 40"/>
            <p:cNvCxnSpPr>
              <a:stCxn id="33" idx="3"/>
              <a:endCxn id="50" idx="1"/>
            </p:cNvCxnSpPr>
            <p:nvPr/>
          </p:nvCxnSpPr>
          <p:spPr>
            <a:xfrm flipV="1">
              <a:off x="5496870" y="1322938"/>
              <a:ext cx="216220" cy="5106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31" idx="3"/>
              <a:endCxn id="51" idx="1"/>
            </p:cNvCxnSpPr>
            <p:nvPr/>
          </p:nvCxnSpPr>
          <p:spPr>
            <a:xfrm flipV="1">
              <a:off x="5496870" y="1512146"/>
              <a:ext cx="216220" cy="26210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31" idx="3"/>
              <a:endCxn id="52" idx="1"/>
            </p:cNvCxnSpPr>
            <p:nvPr/>
          </p:nvCxnSpPr>
          <p:spPr>
            <a:xfrm flipV="1">
              <a:off x="5496870" y="1720008"/>
              <a:ext cx="216220" cy="5424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꺾인 연결선 43"/>
            <p:cNvCxnSpPr>
              <a:stCxn id="32" idx="3"/>
              <a:endCxn id="53" idx="1"/>
            </p:cNvCxnSpPr>
            <p:nvPr/>
          </p:nvCxnSpPr>
          <p:spPr>
            <a:xfrm flipV="1">
              <a:off x="5496870" y="1907077"/>
              <a:ext cx="216220" cy="25228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꺾인 연결선 44"/>
            <p:cNvCxnSpPr>
              <a:stCxn id="32" idx="3"/>
              <a:endCxn id="54" idx="1"/>
            </p:cNvCxnSpPr>
            <p:nvPr/>
          </p:nvCxnSpPr>
          <p:spPr>
            <a:xfrm flipV="1">
              <a:off x="5496870" y="2098005"/>
              <a:ext cx="216220" cy="613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32" idx="3"/>
              <a:endCxn id="55" idx="1"/>
            </p:cNvCxnSpPr>
            <p:nvPr/>
          </p:nvCxnSpPr>
          <p:spPr>
            <a:xfrm>
              <a:off x="5496870" y="2159362"/>
              <a:ext cx="216220" cy="137120"/>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꺾인 연결선 46"/>
            <p:cNvCxnSpPr>
              <a:stCxn id="34" idx="3"/>
              <a:endCxn id="56" idx="1"/>
            </p:cNvCxnSpPr>
            <p:nvPr/>
          </p:nvCxnSpPr>
          <p:spPr>
            <a:xfrm flipV="1">
              <a:off x="5496870" y="2496301"/>
              <a:ext cx="216220" cy="50904"/>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34" idx="3"/>
              <a:endCxn id="57" idx="1"/>
            </p:cNvCxnSpPr>
            <p:nvPr/>
          </p:nvCxnSpPr>
          <p:spPr>
            <a:xfrm>
              <a:off x="5496870" y="2547205"/>
              <a:ext cx="216220" cy="16450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9" name="직사각형 58"/>
          <p:cNvSpPr/>
          <p:nvPr/>
        </p:nvSpPr>
        <p:spPr>
          <a:xfrm>
            <a:off x="906097" y="4898289"/>
            <a:ext cx="472526" cy="503727"/>
          </a:xfrm>
          <a:prstGeom prst="rect">
            <a:avLst/>
          </a:prstGeom>
          <a:ln w="6350">
            <a:solidFill>
              <a:schemeClr val="bg1">
                <a:lumMod val="50000"/>
              </a:schemeClr>
            </a:solidFill>
          </a:ln>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이익</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제도</a:t>
            </a:r>
          </a:p>
        </p:txBody>
      </p:sp>
      <p:sp>
        <p:nvSpPr>
          <p:cNvPr id="72" name="직사각형 71"/>
          <p:cNvSpPr/>
          <p:nvPr/>
        </p:nvSpPr>
        <p:spPr>
          <a:xfrm>
            <a:off x="2487992" y="422619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공지예외적용주장출원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30)</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3" name="직사각형 72"/>
          <p:cNvSpPr/>
          <p:nvPr/>
        </p:nvSpPr>
        <p:spPr>
          <a:xfrm>
            <a:off x="2487992" y="4599179"/>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정당한 권리자의 보호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34, 35, 99</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4" name="직사각형 73"/>
          <p:cNvSpPr/>
          <p:nvPr/>
        </p:nvSpPr>
        <p:spPr>
          <a:xfrm>
            <a:off x="2487992" y="48704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보정</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46, 47, 51)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5" name="직사각형 74"/>
          <p:cNvSpPr/>
          <p:nvPr/>
        </p:nvSpPr>
        <p:spPr>
          <a:xfrm>
            <a:off x="2487992" y="5446506"/>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분리출원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6" name="직사각형 75"/>
          <p:cNvSpPr/>
          <p:nvPr/>
        </p:nvSpPr>
        <p:spPr>
          <a:xfrm>
            <a:off x="2487992" y="5717771"/>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변경출원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7" name="직사각형 76"/>
          <p:cNvSpPr/>
          <p:nvPr/>
        </p:nvSpPr>
        <p:spPr>
          <a:xfrm>
            <a:off x="2487992" y="6022943"/>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조약우선권주장출원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54)</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8" name="직사각형 77"/>
          <p:cNvSpPr/>
          <p:nvPr/>
        </p:nvSpPr>
        <p:spPr>
          <a:xfrm>
            <a:off x="2487992" y="6294208"/>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국내우선권주장출원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55, 56)</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1" name="직사각형 60"/>
          <p:cNvSpPr/>
          <p:nvPr/>
        </p:nvSpPr>
        <p:spPr>
          <a:xfrm>
            <a:off x="1519197" y="5145136"/>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출원일</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소급제도</a:t>
            </a:r>
          </a:p>
        </p:txBody>
      </p:sp>
      <p:sp>
        <p:nvSpPr>
          <p:cNvPr id="62" name="직사각형 61"/>
          <p:cNvSpPr/>
          <p:nvPr/>
        </p:nvSpPr>
        <p:spPr>
          <a:xfrm>
            <a:off x="1519197" y="6056851"/>
            <a:ext cx="722622" cy="440804"/>
          </a:xfrm>
          <a:prstGeom prst="rect">
            <a:avLst/>
          </a:prstGeom>
          <a:solidFill>
            <a:schemeClr val="accent4">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판단시점</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prstClr val="black"/>
                </a:solidFill>
                <a:effectLst/>
                <a:uLnTx/>
                <a:uFillTx/>
                <a:latin typeface="Frutiger LT 65 Bold"/>
                <a:ea typeface="Rix모던고딕 B"/>
                <a:cs typeface="+mn-cs"/>
              </a:rPr>
              <a:t>소급제도</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63" name="꺾인 연결선 62"/>
          <p:cNvCxnSpPr>
            <a:stCxn id="59" idx="3"/>
            <a:endCxn id="72" idx="1"/>
          </p:cNvCxnSpPr>
          <p:nvPr/>
        </p:nvCxnSpPr>
        <p:spPr>
          <a:xfrm flipV="1">
            <a:off x="1378623" y="4327915"/>
            <a:ext cx="1109369" cy="822238"/>
          </a:xfrm>
          <a:prstGeom prst="bentConnector3">
            <a:avLst>
              <a:gd name="adj1" fmla="val 6212"/>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꺾인 연결선 63"/>
          <p:cNvCxnSpPr>
            <a:stCxn id="59" idx="3"/>
            <a:endCxn id="62" idx="1"/>
          </p:cNvCxnSpPr>
          <p:nvPr/>
        </p:nvCxnSpPr>
        <p:spPr>
          <a:xfrm>
            <a:off x="1378623" y="5150153"/>
            <a:ext cx="140574" cy="1127101"/>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꺾인 연결선 64"/>
          <p:cNvCxnSpPr>
            <a:stCxn id="59" idx="3"/>
            <a:endCxn id="61" idx="1"/>
          </p:cNvCxnSpPr>
          <p:nvPr/>
        </p:nvCxnSpPr>
        <p:spPr>
          <a:xfrm>
            <a:off x="1378623" y="5150153"/>
            <a:ext cx="140574" cy="215386"/>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꺾인 연결선 65"/>
          <p:cNvCxnSpPr>
            <a:stCxn id="61" idx="3"/>
            <a:endCxn id="73" idx="1"/>
          </p:cNvCxnSpPr>
          <p:nvPr/>
        </p:nvCxnSpPr>
        <p:spPr>
          <a:xfrm flipV="1">
            <a:off x="2241819" y="4700903"/>
            <a:ext cx="246173" cy="664635"/>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꺾인 연결선 66"/>
          <p:cNvCxnSpPr>
            <a:stCxn id="61" idx="3"/>
            <a:endCxn id="76" idx="1"/>
          </p:cNvCxnSpPr>
          <p:nvPr/>
        </p:nvCxnSpPr>
        <p:spPr>
          <a:xfrm>
            <a:off x="2241819" y="5365539"/>
            <a:ext cx="246173" cy="453957"/>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꺾인 연결선 67"/>
          <p:cNvCxnSpPr>
            <a:stCxn id="61" idx="3"/>
            <a:endCxn id="74" idx="1"/>
          </p:cNvCxnSpPr>
          <p:nvPr/>
        </p:nvCxnSpPr>
        <p:spPr>
          <a:xfrm flipV="1">
            <a:off x="2241819" y="4972167"/>
            <a:ext cx="246173" cy="393371"/>
          </a:xfrm>
          <a:prstGeom prst="bentConnector3">
            <a:avLst>
              <a:gd name="adj1" fmla="val 50001"/>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꺾인 연결선 68"/>
          <p:cNvCxnSpPr>
            <a:stCxn id="61" idx="3"/>
            <a:endCxn id="75" idx="1"/>
          </p:cNvCxnSpPr>
          <p:nvPr/>
        </p:nvCxnSpPr>
        <p:spPr>
          <a:xfrm>
            <a:off x="2241819" y="5365539"/>
            <a:ext cx="246173" cy="182692"/>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꺾인 연결선 69"/>
          <p:cNvCxnSpPr>
            <a:cxnSpLocks/>
            <a:stCxn id="62" idx="3"/>
            <a:endCxn id="77" idx="1"/>
          </p:cNvCxnSpPr>
          <p:nvPr/>
        </p:nvCxnSpPr>
        <p:spPr>
          <a:xfrm flipV="1">
            <a:off x="2241819" y="6124667"/>
            <a:ext cx="246173" cy="152586"/>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1" name="꺾인 연결선 70"/>
          <p:cNvCxnSpPr>
            <a:cxnSpLocks/>
            <a:stCxn id="62" idx="3"/>
            <a:endCxn id="78" idx="1"/>
          </p:cNvCxnSpPr>
          <p:nvPr/>
        </p:nvCxnSpPr>
        <p:spPr>
          <a:xfrm>
            <a:off x="2241819" y="6277254"/>
            <a:ext cx="246173" cy="118678"/>
          </a:xfrm>
          <a:prstGeom prst="bentConnector3">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9" name="그룹 78"/>
          <p:cNvGrpSpPr/>
          <p:nvPr/>
        </p:nvGrpSpPr>
        <p:grpSpPr>
          <a:xfrm>
            <a:off x="7001934" y="4076201"/>
            <a:ext cx="3979312" cy="2368895"/>
            <a:chOff x="7340600" y="4076201"/>
            <a:chExt cx="3640645" cy="2368895"/>
          </a:xfrm>
        </p:grpSpPr>
        <p:sp>
          <p:nvSpPr>
            <p:cNvPr id="80" name="직사각형 79"/>
            <p:cNvSpPr/>
            <p:nvPr/>
          </p:nvSpPr>
          <p:spPr>
            <a:xfrm>
              <a:off x="7340600" y="5011587"/>
              <a:ext cx="448769" cy="399529"/>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심사</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제도</a:t>
              </a: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grpSp>
          <p:nvGrpSpPr>
            <p:cNvPr id="81" name="그룹 80"/>
            <p:cNvGrpSpPr/>
            <p:nvPr/>
          </p:nvGrpSpPr>
          <p:grpSpPr>
            <a:xfrm>
              <a:off x="7967112" y="4305504"/>
              <a:ext cx="471444" cy="1770110"/>
              <a:chOff x="2707314" y="4441447"/>
              <a:chExt cx="786730" cy="1770110"/>
            </a:xfrm>
          </p:grpSpPr>
          <p:sp>
            <p:nvSpPr>
              <p:cNvPr id="108" name="직사각형 107"/>
              <p:cNvSpPr/>
              <p:nvPr/>
            </p:nvSpPr>
            <p:spPr>
              <a:xfrm>
                <a:off x="2707314" y="4441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주체</a:t>
                </a:r>
              </a:p>
            </p:txBody>
          </p:sp>
          <p:sp>
            <p:nvSpPr>
              <p:cNvPr id="109" name="직사각형 108"/>
              <p:cNvSpPr/>
              <p:nvPr/>
            </p:nvSpPr>
            <p:spPr>
              <a:xfrm>
                <a:off x="2707314" y="4839210"/>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청구</a:t>
                </a:r>
              </a:p>
            </p:txBody>
          </p:sp>
          <p:sp>
            <p:nvSpPr>
              <p:cNvPr id="110" name="직사각형 109"/>
              <p:cNvSpPr/>
              <p:nvPr/>
            </p:nvSpPr>
            <p:spPr>
              <a:xfrm>
                <a:off x="2707314" y="5258685"/>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진행</a:t>
                </a:r>
              </a:p>
            </p:txBody>
          </p:sp>
          <p:sp>
            <p:nvSpPr>
              <p:cNvPr id="111" name="직사각형 110"/>
              <p:cNvSpPr/>
              <p:nvPr/>
            </p:nvSpPr>
            <p:spPr>
              <a:xfrm>
                <a:off x="2707314" y="5656447"/>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종료</a:t>
                </a:r>
              </a:p>
            </p:txBody>
          </p:sp>
          <p:sp>
            <p:nvSpPr>
              <p:cNvPr id="112" name="직사각형 111"/>
              <p:cNvSpPr/>
              <p:nvPr/>
            </p:nvSpPr>
            <p:spPr>
              <a:xfrm>
                <a:off x="2707314" y="6036746"/>
                <a:ext cx="786730" cy="174811"/>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관련</a:t>
                </a:r>
              </a:p>
            </p:txBody>
          </p:sp>
        </p:grpSp>
        <p:cxnSp>
          <p:nvCxnSpPr>
            <p:cNvPr id="82" name="꺾인 연결선 81"/>
            <p:cNvCxnSpPr>
              <a:stCxn id="80" idx="3"/>
              <a:endCxn id="108" idx="1"/>
            </p:cNvCxnSpPr>
            <p:nvPr/>
          </p:nvCxnSpPr>
          <p:spPr>
            <a:xfrm flipV="1">
              <a:off x="7789369" y="4392910"/>
              <a:ext cx="177743" cy="81844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꺾인 연결선 82"/>
            <p:cNvCxnSpPr>
              <a:stCxn id="80" idx="3"/>
              <a:endCxn id="112" idx="1"/>
            </p:cNvCxnSpPr>
            <p:nvPr/>
          </p:nvCxnSpPr>
          <p:spPr>
            <a:xfrm>
              <a:off x="7789369" y="5211352"/>
              <a:ext cx="177743" cy="77685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꺾인 연결선 83"/>
            <p:cNvCxnSpPr>
              <a:stCxn id="80" idx="3"/>
              <a:endCxn id="109" idx="1"/>
            </p:cNvCxnSpPr>
            <p:nvPr/>
          </p:nvCxnSpPr>
          <p:spPr>
            <a:xfrm flipV="1">
              <a:off x="7789369" y="4790673"/>
              <a:ext cx="177743" cy="42067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꺾인 연결선 84"/>
            <p:cNvCxnSpPr>
              <a:stCxn id="80" idx="3"/>
              <a:endCxn id="111" idx="1"/>
            </p:cNvCxnSpPr>
            <p:nvPr/>
          </p:nvCxnSpPr>
          <p:spPr>
            <a:xfrm>
              <a:off x="7789369" y="5211352"/>
              <a:ext cx="177743" cy="3965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꺾인 연결선 85"/>
            <p:cNvCxnSpPr>
              <a:stCxn id="80" idx="3"/>
              <a:endCxn id="110" idx="1"/>
            </p:cNvCxnSpPr>
            <p:nvPr/>
          </p:nvCxnSpPr>
          <p:spPr>
            <a:xfrm flipV="1">
              <a:off x="7789369" y="5210148"/>
              <a:ext cx="177743" cy="120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 name="그룹 86"/>
            <p:cNvGrpSpPr/>
            <p:nvPr/>
          </p:nvGrpSpPr>
          <p:grpSpPr>
            <a:xfrm>
              <a:off x="8563424" y="4076201"/>
              <a:ext cx="2417821" cy="2368895"/>
              <a:chOff x="3618912" y="4212144"/>
              <a:chExt cx="3438525" cy="2368895"/>
            </a:xfrm>
          </p:grpSpPr>
          <p:sp>
            <p:nvSpPr>
              <p:cNvPr id="98" name="직사각형 97"/>
              <p:cNvSpPr/>
              <p:nvPr/>
            </p:nvSpPr>
            <p:spPr>
              <a:xfrm>
                <a:off x="3618912" y="4212144"/>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심사관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57</a:t>
                </a:r>
                <a:r>
                  <a:rPr kumimoji="0" lang="en-US" altLang="ko-KR" sz="1000" b="0" i="0" u="none" strike="noStrike" kern="1200" cap="none" spc="0" normalizeH="0" baseline="0" noProof="0">
                    <a:ln>
                      <a:noFill/>
                    </a:ln>
                    <a:solidFill>
                      <a:prstClr val="black"/>
                    </a:solidFill>
                    <a:effectLst/>
                    <a:uLnTx/>
                    <a:uFillTx/>
                    <a:latin typeface="Frutiger LT 65 Bold"/>
                    <a:ea typeface="Rix모던고딕 B"/>
                    <a:cs typeface="+mn-cs"/>
                  </a:rPr>
                  <a:t>, 68)</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9" name="직사각형 98"/>
              <p:cNvSpPr/>
              <p:nvPr/>
            </p:nvSpPr>
            <p:spPr>
              <a:xfrm>
                <a:off x="3618912" y="4435206"/>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전문기관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58, 58</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0" name="직사각형 99"/>
              <p:cNvSpPr/>
              <p:nvPr/>
            </p:nvSpPr>
            <p:spPr>
              <a:xfrm>
                <a:off x="3618912" y="547999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출원의 무효</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취하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포기</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1" name="직사각형 100"/>
              <p:cNvSpPr/>
              <p:nvPr/>
            </p:nvSpPr>
            <p:spPr>
              <a:xfrm>
                <a:off x="3618912" y="5703059"/>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특허여부결정</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62, 63, 66~67</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2" name="직사각형 101"/>
              <p:cNvSpPr/>
              <p:nvPr/>
            </p:nvSpPr>
            <p:spPr>
              <a:xfrm>
                <a:off x="3618912" y="466874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심사청구제도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59, 60)</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3" name="직사각형 102"/>
              <p:cNvSpPr/>
              <p:nvPr/>
            </p:nvSpPr>
            <p:spPr>
              <a:xfrm>
                <a:off x="3618912" y="489180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우선심사제도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61)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4" name="직사각형 103"/>
              <p:cNvSpPr/>
              <p:nvPr/>
            </p:nvSpPr>
            <p:spPr>
              <a:xfrm>
                <a:off x="3618912" y="5178975"/>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심사의 진행</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62, 63, 63</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5" name="직사각형 104"/>
              <p:cNvSpPr/>
              <p:nvPr/>
            </p:nvSpPr>
            <p:spPr>
              <a:xfrm>
                <a:off x="3618912" y="5955831"/>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정보제공제도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63</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6" name="직사각형 105"/>
              <p:cNvSpPr/>
              <p:nvPr/>
            </p:nvSpPr>
            <p:spPr>
              <a:xfrm>
                <a:off x="3618912" y="6178893"/>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출원공개제도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64, 65)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7" name="직사각형 106"/>
              <p:cNvSpPr/>
              <p:nvPr/>
            </p:nvSpPr>
            <p:spPr>
              <a:xfrm>
                <a:off x="3618912" y="6406228"/>
                <a:ext cx="3438525" cy="17481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타절차와의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관계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78)</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cxnSp>
          <p:nvCxnSpPr>
            <p:cNvPr id="88" name="꺾인 연결선 87"/>
            <p:cNvCxnSpPr>
              <a:stCxn id="108" idx="3"/>
              <a:endCxn id="98" idx="1"/>
            </p:cNvCxnSpPr>
            <p:nvPr/>
          </p:nvCxnSpPr>
          <p:spPr>
            <a:xfrm flipV="1">
              <a:off x="8438556" y="4163607"/>
              <a:ext cx="124868" cy="22930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꺾인 연결선 88"/>
            <p:cNvCxnSpPr>
              <a:stCxn id="108" idx="3"/>
              <a:endCxn id="99" idx="1"/>
            </p:cNvCxnSpPr>
            <p:nvPr/>
          </p:nvCxnSpPr>
          <p:spPr>
            <a:xfrm flipV="1">
              <a:off x="8438556" y="4386669"/>
              <a:ext cx="124868" cy="62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꺾인 연결선 89"/>
            <p:cNvCxnSpPr>
              <a:stCxn id="109" idx="3"/>
              <a:endCxn id="102" idx="1"/>
            </p:cNvCxnSpPr>
            <p:nvPr/>
          </p:nvCxnSpPr>
          <p:spPr>
            <a:xfrm flipV="1">
              <a:off x="8438556" y="4620206"/>
              <a:ext cx="124868" cy="1704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꺾인 연결선 90"/>
            <p:cNvCxnSpPr>
              <a:stCxn id="109" idx="3"/>
              <a:endCxn id="103" idx="1"/>
            </p:cNvCxnSpPr>
            <p:nvPr/>
          </p:nvCxnSpPr>
          <p:spPr>
            <a:xfrm>
              <a:off x="8438556" y="4790673"/>
              <a:ext cx="124868" cy="525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꺾인 연결선 91"/>
            <p:cNvCxnSpPr>
              <a:stCxn id="110" idx="3"/>
              <a:endCxn id="104" idx="1"/>
            </p:cNvCxnSpPr>
            <p:nvPr/>
          </p:nvCxnSpPr>
          <p:spPr>
            <a:xfrm flipV="1">
              <a:off x="8438556" y="5130438"/>
              <a:ext cx="124868" cy="797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꺾인 연결선 92"/>
            <p:cNvCxnSpPr>
              <a:stCxn id="111" idx="3"/>
              <a:endCxn id="100" idx="1"/>
            </p:cNvCxnSpPr>
            <p:nvPr/>
          </p:nvCxnSpPr>
          <p:spPr>
            <a:xfrm flipV="1">
              <a:off x="8438556" y="5431461"/>
              <a:ext cx="124868" cy="17644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꺾인 연결선 93"/>
            <p:cNvCxnSpPr>
              <a:stCxn id="111" idx="3"/>
              <a:endCxn id="101" idx="1"/>
            </p:cNvCxnSpPr>
            <p:nvPr/>
          </p:nvCxnSpPr>
          <p:spPr>
            <a:xfrm>
              <a:off x="8438556" y="5607910"/>
              <a:ext cx="124868" cy="466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꺾인 연결선 94"/>
            <p:cNvCxnSpPr>
              <a:stCxn id="112" idx="3"/>
              <a:endCxn id="105" idx="1"/>
            </p:cNvCxnSpPr>
            <p:nvPr/>
          </p:nvCxnSpPr>
          <p:spPr>
            <a:xfrm flipV="1">
              <a:off x="8438556" y="5907294"/>
              <a:ext cx="124868" cy="809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꺾인 연결선 95"/>
            <p:cNvCxnSpPr>
              <a:stCxn id="112" idx="3"/>
              <a:endCxn id="106" idx="1"/>
            </p:cNvCxnSpPr>
            <p:nvPr/>
          </p:nvCxnSpPr>
          <p:spPr>
            <a:xfrm>
              <a:off x="8438556" y="5988209"/>
              <a:ext cx="124868" cy="14214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꺾인 연결선 96"/>
            <p:cNvCxnSpPr>
              <a:stCxn id="112" idx="3"/>
              <a:endCxn id="107" idx="1"/>
            </p:cNvCxnSpPr>
            <p:nvPr/>
          </p:nvCxnSpPr>
          <p:spPr>
            <a:xfrm>
              <a:off x="8438556" y="5988209"/>
              <a:ext cx="124868" cy="36948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13" name="직사각형 112"/>
          <p:cNvSpPr/>
          <p:nvPr/>
        </p:nvSpPr>
        <p:spPr>
          <a:xfrm>
            <a:off x="5960556" y="3393490"/>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특허법</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체계도</a:t>
            </a:r>
          </a:p>
        </p:txBody>
      </p:sp>
      <p:sp>
        <p:nvSpPr>
          <p:cNvPr id="114" name="타원 113"/>
          <p:cNvSpPr/>
          <p:nvPr/>
        </p:nvSpPr>
        <p:spPr>
          <a:xfrm>
            <a:off x="880857" y="2219587"/>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1</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15" name="타원 114"/>
          <p:cNvSpPr/>
          <p:nvPr/>
        </p:nvSpPr>
        <p:spPr>
          <a:xfrm>
            <a:off x="6163733" y="2366819"/>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16" name="타원 115"/>
          <p:cNvSpPr/>
          <p:nvPr/>
        </p:nvSpPr>
        <p:spPr>
          <a:xfrm>
            <a:off x="542670" y="5005703"/>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3</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17" name="타원 116"/>
          <p:cNvSpPr/>
          <p:nvPr/>
        </p:nvSpPr>
        <p:spPr>
          <a:xfrm>
            <a:off x="6647019" y="5043860"/>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4</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18" name="자유형 117"/>
          <p:cNvSpPr/>
          <p:nvPr/>
        </p:nvSpPr>
        <p:spPr>
          <a:xfrm>
            <a:off x="1049867" y="2582332"/>
            <a:ext cx="4893733" cy="1423457"/>
          </a:xfrm>
          <a:custGeom>
            <a:avLst/>
            <a:gdLst>
              <a:gd name="connsiteX0" fmla="*/ 4893733 w 4893733"/>
              <a:gd name="connsiteY0" fmla="*/ 1295400 h 1295400"/>
              <a:gd name="connsiteX1" fmla="*/ 4893733 w 4893733"/>
              <a:gd name="connsiteY1" fmla="*/ 1295400 h 1295400"/>
              <a:gd name="connsiteX2" fmla="*/ 0 w 4893733"/>
              <a:gd name="connsiteY2" fmla="*/ 1295400 h 1295400"/>
              <a:gd name="connsiteX3" fmla="*/ 0 w 4893733"/>
              <a:gd name="connsiteY3" fmla="*/ 0 h 1295400"/>
            </a:gdLst>
            <a:ahLst/>
            <a:cxnLst>
              <a:cxn ang="0">
                <a:pos x="connsiteX0" y="connsiteY0"/>
              </a:cxn>
              <a:cxn ang="0">
                <a:pos x="connsiteX1" y="connsiteY1"/>
              </a:cxn>
              <a:cxn ang="0">
                <a:pos x="connsiteX2" y="connsiteY2"/>
              </a:cxn>
              <a:cxn ang="0">
                <a:pos x="connsiteX3" y="connsiteY3"/>
              </a:cxn>
            </a:cxnLst>
            <a:rect l="l" t="t" r="r" b="b"/>
            <a:pathLst>
              <a:path w="4893733" h="1295400">
                <a:moveTo>
                  <a:pt x="4893733" y="1295400"/>
                </a:moveTo>
                <a:lnTo>
                  <a:pt x="4893733" y="1295400"/>
                </a:lnTo>
                <a:lnTo>
                  <a:pt x="0" y="1295400"/>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119" name="자유형 118"/>
          <p:cNvSpPr/>
          <p:nvPr/>
        </p:nvSpPr>
        <p:spPr>
          <a:xfrm>
            <a:off x="718458" y="3993619"/>
            <a:ext cx="5233610" cy="997811"/>
          </a:xfrm>
          <a:custGeom>
            <a:avLst/>
            <a:gdLst>
              <a:gd name="connsiteX0" fmla="*/ 5215467 w 5215467"/>
              <a:gd name="connsiteY0" fmla="*/ 0 h 965200"/>
              <a:gd name="connsiteX1" fmla="*/ 0 w 5215467"/>
              <a:gd name="connsiteY1" fmla="*/ 0 h 965200"/>
              <a:gd name="connsiteX2" fmla="*/ 0 w 5215467"/>
              <a:gd name="connsiteY2" fmla="*/ 965200 h 965200"/>
            </a:gdLst>
            <a:ahLst/>
            <a:cxnLst>
              <a:cxn ang="0">
                <a:pos x="connsiteX0" y="connsiteY0"/>
              </a:cxn>
              <a:cxn ang="0">
                <a:pos x="connsiteX1" y="connsiteY1"/>
              </a:cxn>
              <a:cxn ang="0">
                <a:pos x="connsiteX2" y="connsiteY2"/>
              </a:cxn>
            </a:cxnLst>
            <a:rect l="l" t="t" r="r" b="b"/>
            <a:pathLst>
              <a:path w="5215467" h="965200">
                <a:moveTo>
                  <a:pt x="5215467" y="0"/>
                </a:moveTo>
                <a:lnTo>
                  <a:pt x="0" y="0"/>
                </a:lnTo>
                <a:lnTo>
                  <a:pt x="0" y="9652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120" name="자유형 119"/>
          <p:cNvSpPr/>
          <p:nvPr/>
        </p:nvSpPr>
        <p:spPr>
          <a:xfrm>
            <a:off x="6383867" y="2726267"/>
            <a:ext cx="0" cy="668866"/>
          </a:xfrm>
          <a:custGeom>
            <a:avLst/>
            <a:gdLst>
              <a:gd name="connsiteX0" fmla="*/ 0 w 0"/>
              <a:gd name="connsiteY0" fmla="*/ 668866 h 668866"/>
              <a:gd name="connsiteX1" fmla="*/ 0 w 0"/>
              <a:gd name="connsiteY1" fmla="*/ 0 h 668866"/>
            </a:gdLst>
            <a:ahLst/>
            <a:cxnLst>
              <a:cxn ang="0">
                <a:pos x="connsiteX0" y="connsiteY0"/>
              </a:cxn>
              <a:cxn ang="0">
                <a:pos x="connsiteX1" y="connsiteY1"/>
              </a:cxn>
            </a:cxnLst>
            <a:rect l="l" t="t" r="r" b="b"/>
            <a:pathLst>
              <a:path h="668866">
                <a:moveTo>
                  <a:pt x="0" y="668866"/>
                </a:move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cxnSp>
        <p:nvCxnSpPr>
          <p:cNvPr id="121" name="직선 연결선 120"/>
          <p:cNvCxnSpPr>
            <a:stCxn id="113" idx="2"/>
            <a:endCxn id="113" idx="2"/>
          </p:cNvCxnSpPr>
          <p:nvPr/>
        </p:nvCxnSpPr>
        <p:spPr>
          <a:xfrm>
            <a:off x="6417756" y="4307890"/>
            <a:ext cx="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2" name="자유형 121"/>
          <p:cNvSpPr/>
          <p:nvPr/>
        </p:nvSpPr>
        <p:spPr>
          <a:xfrm>
            <a:off x="6400800" y="4318000"/>
            <a:ext cx="262467" cy="897467"/>
          </a:xfrm>
          <a:custGeom>
            <a:avLst/>
            <a:gdLst>
              <a:gd name="connsiteX0" fmla="*/ 0 w 262467"/>
              <a:gd name="connsiteY0" fmla="*/ 0 h 897467"/>
              <a:gd name="connsiteX1" fmla="*/ 0 w 262467"/>
              <a:gd name="connsiteY1" fmla="*/ 0 h 897467"/>
              <a:gd name="connsiteX2" fmla="*/ 0 w 262467"/>
              <a:gd name="connsiteY2" fmla="*/ 897467 h 897467"/>
              <a:gd name="connsiteX3" fmla="*/ 262467 w 262467"/>
              <a:gd name="connsiteY3" fmla="*/ 897467 h 897467"/>
            </a:gdLst>
            <a:ahLst/>
            <a:cxnLst>
              <a:cxn ang="0">
                <a:pos x="connsiteX0" y="connsiteY0"/>
              </a:cxn>
              <a:cxn ang="0">
                <a:pos x="connsiteX1" y="connsiteY1"/>
              </a:cxn>
              <a:cxn ang="0">
                <a:pos x="connsiteX2" y="connsiteY2"/>
              </a:cxn>
              <a:cxn ang="0">
                <a:pos x="connsiteX3" y="connsiteY3"/>
              </a:cxn>
            </a:cxnLst>
            <a:rect l="l" t="t" r="r" b="b"/>
            <a:pathLst>
              <a:path w="262467" h="897467">
                <a:moveTo>
                  <a:pt x="0" y="0"/>
                </a:moveTo>
                <a:lnTo>
                  <a:pt x="0" y="0"/>
                </a:lnTo>
                <a:lnTo>
                  <a:pt x="0" y="897467"/>
                </a:lnTo>
                <a:lnTo>
                  <a:pt x="262467" y="897467"/>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125" name="직사각형 124">
            <a:extLst>
              <a:ext uri="{FF2B5EF4-FFF2-40B4-BE49-F238E27FC236}">
                <a16:creationId xmlns:a16="http://schemas.microsoft.com/office/drawing/2014/main" id="{9012F393-65ED-4311-A56D-1073EA0A0D99}"/>
              </a:ext>
            </a:extLst>
          </p:cNvPr>
          <p:cNvSpPr/>
          <p:nvPr/>
        </p:nvSpPr>
        <p:spPr>
          <a:xfrm>
            <a:off x="2487992" y="5160972"/>
            <a:ext cx="2634340" cy="203447"/>
          </a:xfrm>
          <a:prstGeom prst="rect">
            <a:avLst/>
          </a:prstGeom>
          <a:solidFill>
            <a:schemeClr val="accent1">
              <a:lumMod val="20000"/>
              <a:lumOff val="80000"/>
            </a:schemeClr>
          </a:solidFill>
          <a:ln w="6350">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분할출원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27" name="꺾인 연결선 67">
            <a:extLst>
              <a:ext uri="{FF2B5EF4-FFF2-40B4-BE49-F238E27FC236}">
                <a16:creationId xmlns:a16="http://schemas.microsoft.com/office/drawing/2014/main" id="{E6B18D36-32CC-497B-A148-E8CED33A916F}"/>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꺾인 연결선 68">
            <a:extLst>
              <a:ext uri="{FF2B5EF4-FFF2-40B4-BE49-F238E27FC236}">
                <a16:creationId xmlns:a16="http://schemas.microsoft.com/office/drawing/2014/main" id="{15731FFB-002A-4D1A-B931-E4E3AE5EC565}"/>
              </a:ext>
            </a:extLst>
          </p:cNvPr>
          <p:cNvCxnSpPr>
            <a:cxnSpLocks/>
            <a:stCxn id="61" idx="3"/>
            <a:endCxn id="125" idx="1"/>
          </p:cNvCxnSpPr>
          <p:nvPr/>
        </p:nvCxnSpPr>
        <p:spPr>
          <a:xfrm flipV="1">
            <a:off x="2241819" y="5262696"/>
            <a:ext cx="246173" cy="102842"/>
          </a:xfrm>
          <a:prstGeom prst="bentConnector3">
            <a:avLst>
              <a:gd name="adj1" fmla="val 50000"/>
            </a:avLst>
          </a:prstGeom>
          <a:ln w="635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6" name="직사각형 135">
            <a:extLst>
              <a:ext uri="{FF2B5EF4-FFF2-40B4-BE49-F238E27FC236}">
                <a16:creationId xmlns:a16="http://schemas.microsoft.com/office/drawing/2014/main" id="{88952097-4047-B4C7-1974-88AE224120C6}"/>
              </a:ext>
            </a:extLst>
          </p:cNvPr>
          <p:cNvSpPr/>
          <p:nvPr/>
        </p:nvSpPr>
        <p:spPr>
          <a:xfrm>
            <a:off x="2118397" y="3622486"/>
            <a:ext cx="2591118" cy="181494"/>
          </a:xfrm>
          <a:prstGeom prst="rect">
            <a:avLst/>
          </a:prstGeom>
          <a:solidFill>
            <a:schemeClr val="accent1">
              <a:lumMod val="20000"/>
              <a:lumOff val="80000"/>
            </a:schemeClr>
          </a:solidFill>
          <a:ln w="6350">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보칙</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215-224</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Tree>
    <p:extLst>
      <p:ext uri="{BB962C8B-B14F-4D97-AF65-F5344CB8AC3E}">
        <p14:creationId xmlns:p14="http://schemas.microsoft.com/office/powerpoint/2010/main" val="4153814557"/>
      </p:ext>
    </p:extLst>
  </p:cSld>
  <p:clrMapOvr>
    <a:masterClrMapping/>
  </p:clrMapOvr>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540</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a:t>특허법 체계</a:t>
            </a:r>
          </a:p>
        </p:txBody>
      </p:sp>
      <p:sp>
        <p:nvSpPr>
          <p:cNvPr id="124" name="직사각형 123"/>
          <p:cNvSpPr/>
          <p:nvPr/>
        </p:nvSpPr>
        <p:spPr>
          <a:xfrm>
            <a:off x="680604" y="2547021"/>
            <a:ext cx="545064" cy="552230"/>
          </a:xfrm>
          <a:prstGeom prst="rect">
            <a:avLst/>
          </a:prstGeom>
          <a:ln w="3175"/>
        </p:spPr>
        <p:style>
          <a:lnRef idx="2">
            <a:schemeClr val="accent5">
              <a:shade val="50000"/>
            </a:schemeClr>
          </a:lnRef>
          <a:fillRef idx="1">
            <a:schemeClr val="accent5"/>
          </a:fillRef>
          <a:effectRef idx="0">
            <a:schemeClr val="accent5"/>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white"/>
                </a:solidFill>
                <a:effectLst/>
                <a:uLnTx/>
                <a:uFillTx/>
                <a:latin typeface="Frutiger LT 65 Bold"/>
                <a:ea typeface="Rix모던고딕 B"/>
                <a:cs typeface="+mn-cs"/>
              </a:rPr>
              <a:t>특허권</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25" name="직사각형 124"/>
          <p:cNvSpPr/>
          <p:nvPr/>
        </p:nvSpPr>
        <p:spPr>
          <a:xfrm>
            <a:off x="1383335" y="123999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발생</a:t>
            </a:r>
          </a:p>
        </p:txBody>
      </p:sp>
      <p:sp>
        <p:nvSpPr>
          <p:cNvPr id="126" name="직사각형 125"/>
          <p:cNvSpPr/>
          <p:nvPr/>
        </p:nvSpPr>
        <p:spPr>
          <a:xfrm>
            <a:off x="1383335" y="1789781"/>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효력</a:t>
            </a:r>
          </a:p>
        </p:txBody>
      </p:sp>
      <p:sp>
        <p:nvSpPr>
          <p:cNvPr id="127" name="직사각형 126"/>
          <p:cNvSpPr/>
          <p:nvPr/>
        </p:nvSpPr>
        <p:spPr>
          <a:xfrm>
            <a:off x="1383335" y="2944739"/>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변동</a:t>
            </a:r>
          </a:p>
        </p:txBody>
      </p:sp>
      <p:sp>
        <p:nvSpPr>
          <p:cNvPr id="128" name="직사각형 127"/>
          <p:cNvSpPr/>
          <p:nvPr/>
        </p:nvSpPr>
        <p:spPr>
          <a:xfrm>
            <a:off x="1383335" y="3668083"/>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소멸</a:t>
            </a:r>
          </a:p>
        </p:txBody>
      </p:sp>
      <p:sp>
        <p:nvSpPr>
          <p:cNvPr id="129" name="직사각형 128"/>
          <p:cNvSpPr/>
          <p:nvPr/>
        </p:nvSpPr>
        <p:spPr>
          <a:xfrm>
            <a:off x="1383335" y="4175764"/>
            <a:ext cx="391011" cy="241623"/>
          </a:xfrm>
          <a:prstGeom prst="rect">
            <a:avLst/>
          </a:prstGeom>
          <a:solidFill>
            <a:schemeClr val="accent4">
              <a:lumMod val="40000"/>
              <a:lumOff val="6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관련</a:t>
            </a:r>
          </a:p>
        </p:txBody>
      </p:sp>
      <p:cxnSp>
        <p:nvCxnSpPr>
          <p:cNvPr id="130" name="꺾인 연결선 129"/>
          <p:cNvCxnSpPr>
            <a:stCxn id="124" idx="3"/>
            <a:endCxn id="125" idx="1"/>
          </p:cNvCxnSpPr>
          <p:nvPr/>
        </p:nvCxnSpPr>
        <p:spPr>
          <a:xfrm flipV="1">
            <a:off x="1225668" y="1360804"/>
            <a:ext cx="157667" cy="146233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1" name="꺾인 연결선 130"/>
          <p:cNvCxnSpPr>
            <a:stCxn id="124" idx="3"/>
            <a:endCxn id="129" idx="1"/>
          </p:cNvCxnSpPr>
          <p:nvPr/>
        </p:nvCxnSpPr>
        <p:spPr>
          <a:xfrm>
            <a:off x="1225668" y="2823136"/>
            <a:ext cx="157667" cy="147344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2" name="꺾인 연결선 131"/>
          <p:cNvCxnSpPr>
            <a:stCxn id="124" idx="3"/>
            <a:endCxn id="126" idx="1"/>
          </p:cNvCxnSpPr>
          <p:nvPr/>
        </p:nvCxnSpPr>
        <p:spPr>
          <a:xfrm flipV="1">
            <a:off x="1225668" y="1910593"/>
            <a:ext cx="157667" cy="9125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3" name="꺾인 연결선 132"/>
          <p:cNvCxnSpPr>
            <a:stCxn id="124" idx="3"/>
            <a:endCxn id="128" idx="1"/>
          </p:cNvCxnSpPr>
          <p:nvPr/>
        </p:nvCxnSpPr>
        <p:spPr>
          <a:xfrm>
            <a:off x="1225668" y="2823136"/>
            <a:ext cx="157667" cy="96575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stCxn id="124" idx="3"/>
            <a:endCxn id="127" idx="1"/>
          </p:cNvCxnSpPr>
          <p:nvPr/>
        </p:nvCxnSpPr>
        <p:spPr>
          <a:xfrm>
            <a:off x="1225668" y="2823136"/>
            <a:ext cx="157667" cy="24241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5" name="직사각형 134"/>
          <p:cNvSpPr/>
          <p:nvPr/>
        </p:nvSpPr>
        <p:spPr>
          <a:xfrm>
            <a:off x="1927293" y="1027643"/>
            <a:ext cx="1744315" cy="12863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특허료의 납부 등</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79~86)</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36" name="직사각형 135"/>
          <p:cNvSpPr/>
          <p:nvPr/>
        </p:nvSpPr>
        <p:spPr>
          <a:xfrm>
            <a:off x="1927294" y="1199840"/>
            <a:ext cx="1744314" cy="14679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설정등록 및 등록공고</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87)</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37" name="직사각형 136"/>
          <p:cNvSpPr/>
          <p:nvPr/>
        </p:nvSpPr>
        <p:spPr>
          <a:xfrm>
            <a:off x="1927295" y="3385001"/>
            <a:ext cx="991185" cy="18765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질권</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121~123)</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38" name="직사각형 137"/>
          <p:cNvSpPr/>
          <p:nvPr/>
        </p:nvSpPr>
        <p:spPr>
          <a:xfrm>
            <a:off x="1931244" y="3908454"/>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효과</a:t>
            </a:r>
          </a:p>
        </p:txBody>
      </p:sp>
      <p:sp>
        <p:nvSpPr>
          <p:cNvPr id="139" name="직사각형 138"/>
          <p:cNvSpPr/>
          <p:nvPr/>
        </p:nvSpPr>
        <p:spPr>
          <a:xfrm>
            <a:off x="1927295" y="1600786"/>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범위</a:t>
            </a:r>
          </a:p>
        </p:txBody>
      </p:sp>
      <p:sp>
        <p:nvSpPr>
          <p:cNvPr id="140" name="직사각형 139"/>
          <p:cNvSpPr/>
          <p:nvPr/>
        </p:nvSpPr>
        <p:spPr>
          <a:xfrm>
            <a:off x="1927295" y="2235641"/>
            <a:ext cx="387474"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내용</a:t>
            </a:r>
          </a:p>
        </p:txBody>
      </p:sp>
      <p:sp>
        <p:nvSpPr>
          <p:cNvPr id="141" name="직사각형 140"/>
          <p:cNvSpPr/>
          <p:nvPr/>
        </p:nvSpPr>
        <p:spPr>
          <a:xfrm>
            <a:off x="1927295" y="3187241"/>
            <a:ext cx="99118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44546A"/>
                </a:solidFill>
                <a:effectLst/>
                <a:uLnTx/>
                <a:uFillTx/>
                <a:latin typeface="Frutiger LT 65 Bold"/>
                <a:ea typeface="Rix모던고딕 B"/>
                <a:cs typeface="+mn-cs"/>
              </a:rPr>
              <a:t>실시권</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42" name="직사각형 141"/>
          <p:cNvSpPr/>
          <p:nvPr/>
        </p:nvSpPr>
        <p:spPr>
          <a:xfrm>
            <a:off x="1926619" y="4143059"/>
            <a:ext cx="1355344" cy="15351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실시보고</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125)</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43" name="직사각형 142"/>
          <p:cNvSpPr/>
          <p:nvPr/>
        </p:nvSpPr>
        <p:spPr>
          <a:xfrm>
            <a:off x="1926619" y="4320845"/>
            <a:ext cx="1355344" cy="134176"/>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44546A"/>
                </a:solidFill>
                <a:effectLst/>
                <a:uLnTx/>
                <a:uFillTx/>
                <a:latin typeface="Frutiger LT 65 Bold"/>
                <a:ea typeface="Rix모던고딕 B"/>
                <a:cs typeface="+mn-cs"/>
              </a:rPr>
              <a:t>집행권원</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125</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144" name="꺾인 연결선 143"/>
          <p:cNvCxnSpPr>
            <a:stCxn id="125" idx="3"/>
            <a:endCxn id="135" idx="1"/>
          </p:cNvCxnSpPr>
          <p:nvPr/>
        </p:nvCxnSpPr>
        <p:spPr>
          <a:xfrm flipV="1">
            <a:off x="1774346" y="1091961"/>
            <a:ext cx="152947" cy="26884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꺾인 연결선 144"/>
          <p:cNvCxnSpPr>
            <a:stCxn id="125" idx="3"/>
            <a:endCxn id="136" idx="1"/>
          </p:cNvCxnSpPr>
          <p:nvPr/>
        </p:nvCxnSpPr>
        <p:spPr>
          <a:xfrm flipV="1">
            <a:off x="1774346" y="1273240"/>
            <a:ext cx="152948" cy="875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꺾인 연결선 145"/>
          <p:cNvCxnSpPr>
            <a:stCxn id="126" idx="3"/>
            <a:endCxn id="139" idx="1"/>
          </p:cNvCxnSpPr>
          <p:nvPr/>
        </p:nvCxnSpPr>
        <p:spPr>
          <a:xfrm flipV="1">
            <a:off x="1774346" y="1680091"/>
            <a:ext cx="152949" cy="2305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꺾인 연결선 146"/>
          <p:cNvCxnSpPr>
            <a:stCxn id="126" idx="3"/>
            <a:endCxn id="140" idx="1"/>
          </p:cNvCxnSpPr>
          <p:nvPr/>
        </p:nvCxnSpPr>
        <p:spPr>
          <a:xfrm>
            <a:off x="1774346" y="1910593"/>
            <a:ext cx="152949" cy="4043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8" name="꺾인 연결선 147"/>
          <p:cNvCxnSpPr>
            <a:stCxn id="127" idx="3"/>
            <a:endCxn id="141" idx="1"/>
          </p:cNvCxnSpPr>
          <p:nvPr/>
        </p:nvCxnSpPr>
        <p:spPr>
          <a:xfrm>
            <a:off x="1774346" y="3065551"/>
            <a:ext cx="152949" cy="20099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꺾인 연결선 148"/>
          <p:cNvCxnSpPr>
            <a:stCxn id="128" idx="3"/>
            <a:endCxn id="138" idx="1"/>
          </p:cNvCxnSpPr>
          <p:nvPr/>
        </p:nvCxnSpPr>
        <p:spPr>
          <a:xfrm>
            <a:off x="1774346" y="3788895"/>
            <a:ext cx="156898" cy="19886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0" name="꺾인 연결선 149"/>
          <p:cNvCxnSpPr>
            <a:stCxn id="129" idx="3"/>
            <a:endCxn id="142" idx="1"/>
          </p:cNvCxnSpPr>
          <p:nvPr/>
        </p:nvCxnSpPr>
        <p:spPr>
          <a:xfrm flipV="1">
            <a:off x="1774346" y="4219817"/>
            <a:ext cx="152273" cy="767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1" name="꺾인 연결선 150"/>
          <p:cNvCxnSpPr>
            <a:stCxn id="129" idx="3"/>
            <a:endCxn id="143" idx="1"/>
          </p:cNvCxnSpPr>
          <p:nvPr/>
        </p:nvCxnSpPr>
        <p:spPr>
          <a:xfrm>
            <a:off x="1774346" y="4296575"/>
            <a:ext cx="152273" cy="9135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2" name="직사각형 151"/>
          <p:cNvSpPr/>
          <p:nvPr/>
        </p:nvSpPr>
        <p:spPr>
          <a:xfrm>
            <a:off x="2490834" y="1502332"/>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시간적</a:t>
            </a:r>
          </a:p>
        </p:txBody>
      </p:sp>
      <p:sp>
        <p:nvSpPr>
          <p:cNvPr id="153" name="직사각형 152"/>
          <p:cNvSpPr/>
          <p:nvPr/>
        </p:nvSpPr>
        <p:spPr>
          <a:xfrm>
            <a:off x="2490834" y="1753955"/>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내용적</a:t>
            </a:r>
          </a:p>
        </p:txBody>
      </p:sp>
      <p:sp>
        <p:nvSpPr>
          <p:cNvPr id="154" name="직사각형 153"/>
          <p:cNvSpPr/>
          <p:nvPr/>
        </p:nvSpPr>
        <p:spPr>
          <a:xfrm>
            <a:off x="2490834" y="1966576"/>
            <a:ext cx="427647"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지역적</a:t>
            </a:r>
          </a:p>
        </p:txBody>
      </p:sp>
      <p:sp>
        <p:nvSpPr>
          <p:cNvPr id="155" name="직사각형 154"/>
          <p:cNvSpPr/>
          <p:nvPr/>
        </p:nvSpPr>
        <p:spPr>
          <a:xfrm>
            <a:off x="3028012" y="1406769"/>
            <a:ext cx="1665788"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존속기간</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88)</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56" name="직사각형 155"/>
          <p:cNvSpPr/>
          <p:nvPr/>
        </p:nvSpPr>
        <p:spPr>
          <a:xfrm>
            <a:off x="3028012" y="1577847"/>
            <a:ext cx="1665790" cy="149257"/>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존속기간의 연장</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8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89~93, 95)</a:t>
            </a:r>
            <a:endParaRPr kumimoji="0" lang="ko-KR" altLang="en-US" sz="8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57" name="직사각형 156"/>
          <p:cNvSpPr/>
          <p:nvPr/>
        </p:nvSpPr>
        <p:spPr>
          <a:xfrm>
            <a:off x="3028012" y="1745004"/>
            <a:ext cx="1665788" cy="18577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청구범위</a:t>
            </a:r>
          </a:p>
        </p:txBody>
      </p:sp>
      <p:sp>
        <p:nvSpPr>
          <p:cNvPr id="158" name="직사각형 157"/>
          <p:cNvSpPr/>
          <p:nvPr/>
        </p:nvSpPr>
        <p:spPr>
          <a:xfrm>
            <a:off x="3028011" y="1966575"/>
            <a:ext cx="1665789" cy="158611"/>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속지주의</a:t>
            </a:r>
          </a:p>
        </p:txBody>
      </p:sp>
      <p:sp>
        <p:nvSpPr>
          <p:cNvPr id="159" name="직사각형 158"/>
          <p:cNvSpPr/>
          <p:nvPr/>
        </p:nvSpPr>
        <p:spPr>
          <a:xfrm>
            <a:off x="2500115" y="2247804"/>
            <a:ext cx="41836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의의</a:t>
            </a:r>
          </a:p>
        </p:txBody>
      </p:sp>
      <p:sp>
        <p:nvSpPr>
          <p:cNvPr id="160" name="직사각형 159"/>
          <p:cNvSpPr/>
          <p:nvPr/>
        </p:nvSpPr>
        <p:spPr>
          <a:xfrm>
            <a:off x="2500114" y="2523982"/>
            <a:ext cx="2193687" cy="163408"/>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제한</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81</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3④, 96, 181/98)</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1" name="직사각형 160"/>
          <p:cNvSpPr/>
          <p:nvPr/>
        </p:nvSpPr>
        <p:spPr>
          <a:xfrm>
            <a:off x="2500114" y="2714241"/>
            <a:ext cx="2193687"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확장</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127)</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2" name="직사각형 161"/>
          <p:cNvSpPr/>
          <p:nvPr/>
        </p:nvSpPr>
        <p:spPr>
          <a:xfrm>
            <a:off x="1927295" y="2927413"/>
            <a:ext cx="1564240" cy="19388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이전 및 공유</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99, 99</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3" name="직사각형 162"/>
          <p:cNvSpPr/>
          <p:nvPr/>
        </p:nvSpPr>
        <p:spPr>
          <a:xfrm>
            <a:off x="3109057" y="3518950"/>
            <a:ext cx="2829345" cy="133282"/>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44546A"/>
                </a:solidFill>
                <a:effectLst/>
                <a:uLnTx/>
                <a:uFillTx/>
                <a:latin typeface="Frutiger LT 65 Bold"/>
                <a:ea typeface="Rix모던고딕 B"/>
                <a:cs typeface="+mn-cs"/>
              </a:rPr>
              <a:t>강제실시권</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106</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2, 107~115, 138)</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4" name="직사각형 163"/>
          <p:cNvSpPr/>
          <p:nvPr/>
        </p:nvSpPr>
        <p:spPr>
          <a:xfrm>
            <a:off x="3109057" y="3339094"/>
            <a:ext cx="2829345" cy="139733"/>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srgbClr val="44546A"/>
                </a:solidFill>
                <a:effectLst/>
                <a:uLnTx/>
                <a:uFillTx/>
                <a:latin typeface="Frutiger LT 65 Bold"/>
                <a:ea typeface="Rix모던고딕 B"/>
                <a:cs typeface="+mn-cs"/>
              </a:rPr>
              <a:t>법정실시권</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8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81</a:t>
            </a:r>
            <a:r>
              <a:rPr kumimoji="0" lang="ko-KR" altLang="en-US" sz="800" b="0" i="0" u="none" strike="noStrike" kern="1200" cap="none" spc="0" normalizeH="0" baseline="0" noProof="0" dirty="0">
                <a:ln>
                  <a:noFill/>
                </a:ln>
                <a:solidFill>
                  <a:srgbClr val="44546A"/>
                </a:solidFill>
                <a:effectLst/>
                <a:uLnTx/>
                <a:uFillTx/>
                <a:latin typeface="Frutiger LT 65 Bold"/>
                <a:ea typeface="Rix모던고딕 B"/>
                <a:cs typeface="+mn-cs"/>
              </a:rPr>
              <a:t>의</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3, 103~105, 122, 182,183, </a:t>
            </a:r>
            <a:r>
              <a:rPr kumimoji="0" lang="ko-KR" altLang="en-US" sz="800" b="0" i="0" u="none" strike="noStrike" kern="1200" cap="none" spc="0" normalizeH="0" baseline="0" noProof="0" dirty="0" err="1">
                <a:ln>
                  <a:noFill/>
                </a:ln>
                <a:solidFill>
                  <a:srgbClr val="44546A"/>
                </a:solidFill>
                <a:effectLst/>
                <a:uLnTx/>
                <a:uFillTx/>
                <a:latin typeface="Frutiger LT 65 Bold"/>
                <a:ea typeface="Rix모던고딕 B"/>
                <a:cs typeface="+mn-cs"/>
              </a:rPr>
              <a:t>발진법</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10</a:t>
            </a:r>
            <a:r>
              <a:rPr kumimoji="0" lang="ko-KR" altLang="en-US" sz="800" b="0" i="0" u="none" strike="noStrike" kern="1200" cap="none" spc="0" normalizeH="0" baseline="0" noProof="0" dirty="0">
                <a:ln>
                  <a:noFill/>
                </a:ln>
                <a:solidFill>
                  <a:srgbClr val="44546A"/>
                </a:solidFill>
                <a:effectLst/>
                <a:uLnTx/>
                <a:uFillTx/>
                <a:latin typeface="Frutiger LT 65 Bold"/>
                <a:ea typeface="Rix모던고딕 B"/>
                <a:cs typeface="+mn-cs"/>
              </a:rPr>
              <a:t>①</a:t>
            </a:r>
            <a:r>
              <a:rPr kumimoji="0" lang="en-US" altLang="ko-KR" sz="8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8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5" name="직사각형 164"/>
          <p:cNvSpPr/>
          <p:nvPr/>
        </p:nvSpPr>
        <p:spPr>
          <a:xfrm>
            <a:off x="3109057" y="3151440"/>
            <a:ext cx="2829345"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일반론</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100~102, 118)</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6" name="직사각형 165"/>
          <p:cNvSpPr/>
          <p:nvPr/>
        </p:nvSpPr>
        <p:spPr>
          <a:xfrm>
            <a:off x="1931244" y="3709590"/>
            <a:ext cx="383526"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원인</a:t>
            </a:r>
          </a:p>
        </p:txBody>
      </p:sp>
      <p:sp>
        <p:nvSpPr>
          <p:cNvPr id="167" name="직사각형 166"/>
          <p:cNvSpPr/>
          <p:nvPr/>
        </p:nvSpPr>
        <p:spPr>
          <a:xfrm>
            <a:off x="2426794" y="3883877"/>
            <a:ext cx="1721991" cy="20938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장래소멸</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119, 120, 124)</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68" name="직사각형 167"/>
          <p:cNvSpPr/>
          <p:nvPr/>
        </p:nvSpPr>
        <p:spPr>
          <a:xfrm>
            <a:off x="2426794" y="3698412"/>
            <a:ext cx="1721991" cy="158610"/>
          </a:xfrm>
          <a:prstGeom prst="rect">
            <a:avLst/>
          </a:prstGeom>
          <a:solidFill>
            <a:schemeClr val="accent1">
              <a:lumMod val="20000"/>
              <a:lumOff val="80000"/>
            </a:schemeClr>
          </a:solidFill>
          <a:ln w="3175">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소급소멸</a:t>
            </a:r>
          </a:p>
        </p:txBody>
      </p:sp>
      <p:cxnSp>
        <p:nvCxnSpPr>
          <p:cNvPr id="169" name="꺾인 연결선 168"/>
          <p:cNvCxnSpPr>
            <a:stCxn id="139" idx="3"/>
            <a:endCxn id="152" idx="1"/>
          </p:cNvCxnSpPr>
          <p:nvPr/>
        </p:nvCxnSpPr>
        <p:spPr>
          <a:xfrm flipV="1">
            <a:off x="2314769" y="1581638"/>
            <a:ext cx="176065" cy="984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꺾인 연결선 169"/>
          <p:cNvCxnSpPr>
            <a:stCxn id="139" idx="3"/>
            <a:endCxn id="153" idx="1"/>
          </p:cNvCxnSpPr>
          <p:nvPr/>
        </p:nvCxnSpPr>
        <p:spPr>
          <a:xfrm>
            <a:off x="2314769" y="1680091"/>
            <a:ext cx="176065" cy="15316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1" name="꺾인 연결선 170"/>
          <p:cNvCxnSpPr>
            <a:stCxn id="139" idx="3"/>
            <a:endCxn id="154" idx="1"/>
          </p:cNvCxnSpPr>
          <p:nvPr/>
        </p:nvCxnSpPr>
        <p:spPr>
          <a:xfrm>
            <a:off x="2314769" y="1680091"/>
            <a:ext cx="176065" cy="36579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2" name="꺾인 연결선 171"/>
          <p:cNvCxnSpPr>
            <a:stCxn id="152" idx="3"/>
            <a:endCxn id="155" idx="1"/>
          </p:cNvCxnSpPr>
          <p:nvPr/>
        </p:nvCxnSpPr>
        <p:spPr>
          <a:xfrm flipV="1">
            <a:off x="2918481" y="1486075"/>
            <a:ext cx="109531" cy="95563"/>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꺾인 연결선 172"/>
          <p:cNvCxnSpPr>
            <a:stCxn id="152" idx="3"/>
            <a:endCxn id="156" idx="1"/>
          </p:cNvCxnSpPr>
          <p:nvPr/>
        </p:nvCxnSpPr>
        <p:spPr>
          <a:xfrm>
            <a:off x="2918481" y="1581638"/>
            <a:ext cx="109531" cy="7083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직선 연결선 173"/>
          <p:cNvCxnSpPr>
            <a:stCxn id="153" idx="3"/>
            <a:endCxn id="157" idx="1"/>
          </p:cNvCxnSpPr>
          <p:nvPr/>
        </p:nvCxnSpPr>
        <p:spPr>
          <a:xfrm>
            <a:off x="2918481" y="1833260"/>
            <a:ext cx="109531" cy="4630"/>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5" name="직선 연결선 174"/>
          <p:cNvCxnSpPr>
            <a:stCxn id="154" idx="3"/>
            <a:endCxn id="158" idx="1"/>
          </p:cNvCxnSpPr>
          <p:nvPr/>
        </p:nvCxnSpPr>
        <p:spPr>
          <a:xfrm flipV="1">
            <a:off x="2918481" y="2045880"/>
            <a:ext cx="109530" cy="1"/>
          </a:xfrm>
          <a:prstGeom prst="line">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6" name="꺾인 연결선 175"/>
          <p:cNvCxnSpPr>
            <a:stCxn id="140" idx="3"/>
            <a:endCxn id="161" idx="1"/>
          </p:cNvCxnSpPr>
          <p:nvPr/>
        </p:nvCxnSpPr>
        <p:spPr>
          <a:xfrm>
            <a:off x="2314769" y="2314946"/>
            <a:ext cx="185345" cy="4786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7" name="꺾인 연결선 176"/>
          <p:cNvCxnSpPr>
            <a:stCxn id="140" idx="3"/>
            <a:endCxn id="159" idx="1"/>
          </p:cNvCxnSpPr>
          <p:nvPr/>
        </p:nvCxnSpPr>
        <p:spPr>
          <a:xfrm>
            <a:off x="2314769" y="2314946"/>
            <a:ext cx="185346" cy="1216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8" name="꺾인 연결선 177"/>
          <p:cNvCxnSpPr>
            <a:stCxn id="140" idx="3"/>
            <a:endCxn id="160" idx="1"/>
          </p:cNvCxnSpPr>
          <p:nvPr/>
        </p:nvCxnSpPr>
        <p:spPr>
          <a:xfrm>
            <a:off x="2314769" y="2314946"/>
            <a:ext cx="185345" cy="2907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9" name="꺾인 연결선 178"/>
          <p:cNvCxnSpPr>
            <a:stCxn id="127" idx="3"/>
            <a:endCxn id="162" idx="1"/>
          </p:cNvCxnSpPr>
          <p:nvPr/>
        </p:nvCxnSpPr>
        <p:spPr>
          <a:xfrm flipV="1">
            <a:off x="1774346" y="3024355"/>
            <a:ext cx="152949" cy="411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꺾인 연결선 179"/>
          <p:cNvCxnSpPr>
            <a:stCxn id="127" idx="3"/>
            <a:endCxn id="137" idx="1"/>
          </p:cNvCxnSpPr>
          <p:nvPr/>
        </p:nvCxnSpPr>
        <p:spPr>
          <a:xfrm>
            <a:off x="1774346" y="3065551"/>
            <a:ext cx="152949" cy="4132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꺾인 연결선 180"/>
          <p:cNvCxnSpPr>
            <a:stCxn id="141" idx="3"/>
            <a:endCxn id="163" idx="1"/>
          </p:cNvCxnSpPr>
          <p:nvPr/>
        </p:nvCxnSpPr>
        <p:spPr>
          <a:xfrm>
            <a:off x="2918481" y="3266547"/>
            <a:ext cx="190576" cy="31904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꺾인 연결선 181"/>
          <p:cNvCxnSpPr>
            <a:stCxn id="141" idx="3"/>
            <a:endCxn id="165" idx="1"/>
          </p:cNvCxnSpPr>
          <p:nvPr/>
        </p:nvCxnSpPr>
        <p:spPr>
          <a:xfrm flipV="1">
            <a:off x="2918481" y="3230745"/>
            <a:ext cx="190576" cy="3580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3" name="꺾인 연결선 182"/>
          <p:cNvCxnSpPr>
            <a:stCxn id="141" idx="3"/>
            <a:endCxn id="164" idx="1"/>
          </p:cNvCxnSpPr>
          <p:nvPr/>
        </p:nvCxnSpPr>
        <p:spPr>
          <a:xfrm>
            <a:off x="2918481" y="3266547"/>
            <a:ext cx="190576" cy="14241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4" name="꺾인 연결선 183"/>
          <p:cNvCxnSpPr>
            <a:stCxn id="128" idx="3"/>
            <a:endCxn id="166" idx="1"/>
          </p:cNvCxnSpPr>
          <p:nvPr/>
        </p:nvCxnSpPr>
        <p:spPr>
          <a:xfrm>
            <a:off x="1774346" y="3788895"/>
            <a:ext cx="156898" cy="1270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5" name="꺾인 연결선 184"/>
          <p:cNvCxnSpPr>
            <a:stCxn id="166" idx="3"/>
            <a:endCxn id="167" idx="1"/>
          </p:cNvCxnSpPr>
          <p:nvPr/>
        </p:nvCxnSpPr>
        <p:spPr>
          <a:xfrm>
            <a:off x="2314770" y="3788895"/>
            <a:ext cx="112024" cy="1996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6" name="꺾인 연결선 185"/>
          <p:cNvCxnSpPr>
            <a:stCxn id="166" idx="3"/>
            <a:endCxn id="168" idx="1"/>
          </p:cNvCxnSpPr>
          <p:nvPr/>
        </p:nvCxnSpPr>
        <p:spPr>
          <a:xfrm flipV="1">
            <a:off x="2314770" y="3777717"/>
            <a:ext cx="112024" cy="1117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7" name="직사각형 186"/>
          <p:cNvSpPr/>
          <p:nvPr/>
        </p:nvSpPr>
        <p:spPr>
          <a:xfrm>
            <a:off x="3281962" y="2158301"/>
            <a:ext cx="1411839" cy="16756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적극적 효력</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94)</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88" name="직사각형 187"/>
          <p:cNvSpPr/>
          <p:nvPr/>
        </p:nvSpPr>
        <p:spPr>
          <a:xfrm>
            <a:off x="3281962" y="2341797"/>
            <a:ext cx="1411839" cy="15393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소극적 효력</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침해</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189" name="꺾인 연결선 188"/>
          <p:cNvCxnSpPr>
            <a:stCxn id="159" idx="3"/>
            <a:endCxn id="188" idx="1"/>
          </p:cNvCxnSpPr>
          <p:nvPr/>
        </p:nvCxnSpPr>
        <p:spPr>
          <a:xfrm>
            <a:off x="2918481" y="2327109"/>
            <a:ext cx="363481" cy="9165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0" name="꺾인 연결선 189"/>
          <p:cNvCxnSpPr>
            <a:stCxn id="159" idx="3"/>
            <a:endCxn id="187" idx="1"/>
          </p:cNvCxnSpPr>
          <p:nvPr/>
        </p:nvCxnSpPr>
        <p:spPr>
          <a:xfrm flipV="1">
            <a:off x="2918481" y="2242081"/>
            <a:ext cx="363481" cy="850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1" name="직사각형 190"/>
          <p:cNvSpPr/>
          <p:nvPr/>
        </p:nvSpPr>
        <p:spPr>
          <a:xfrm>
            <a:off x="4891070" y="1400340"/>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성립요건</a:t>
            </a:r>
          </a:p>
        </p:txBody>
      </p:sp>
      <p:sp>
        <p:nvSpPr>
          <p:cNvPr id="192" name="직사각형 191"/>
          <p:cNvSpPr/>
          <p:nvPr/>
        </p:nvSpPr>
        <p:spPr>
          <a:xfrm>
            <a:off x="4891070" y="1771241"/>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종류</a:t>
            </a:r>
          </a:p>
        </p:txBody>
      </p:sp>
      <p:sp>
        <p:nvSpPr>
          <p:cNvPr id="193" name="직사각형 192"/>
          <p:cNvSpPr/>
          <p:nvPr/>
        </p:nvSpPr>
        <p:spPr>
          <a:xfrm>
            <a:off x="4891070" y="2381537"/>
            <a:ext cx="561412" cy="158610"/>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조치</a:t>
            </a:r>
          </a:p>
        </p:txBody>
      </p:sp>
      <p:cxnSp>
        <p:nvCxnSpPr>
          <p:cNvPr id="194" name="꺾인 연결선 193"/>
          <p:cNvCxnSpPr>
            <a:stCxn id="188" idx="3"/>
            <a:endCxn id="191" idx="1"/>
          </p:cNvCxnSpPr>
          <p:nvPr/>
        </p:nvCxnSpPr>
        <p:spPr>
          <a:xfrm flipV="1">
            <a:off x="4693801" y="1479645"/>
            <a:ext cx="197269" cy="939118"/>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5" name="꺾인 연결선 194"/>
          <p:cNvCxnSpPr>
            <a:stCxn id="188" idx="3"/>
            <a:endCxn id="193" idx="1"/>
          </p:cNvCxnSpPr>
          <p:nvPr/>
        </p:nvCxnSpPr>
        <p:spPr>
          <a:xfrm>
            <a:off x="4693801" y="2418763"/>
            <a:ext cx="197269" cy="42079"/>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6" name="꺾인 연결선 195"/>
          <p:cNvCxnSpPr>
            <a:stCxn id="188" idx="3"/>
            <a:endCxn id="192" idx="1"/>
          </p:cNvCxnSpPr>
          <p:nvPr/>
        </p:nvCxnSpPr>
        <p:spPr>
          <a:xfrm flipV="1">
            <a:off x="4693801" y="1850546"/>
            <a:ext cx="197269" cy="568217"/>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7" name="직사각형 196"/>
          <p:cNvSpPr/>
          <p:nvPr/>
        </p:nvSpPr>
        <p:spPr>
          <a:xfrm>
            <a:off x="5586610" y="1528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직접침해</a:t>
            </a:r>
            <a:endPar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97, 98)</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198" name="직사각형 197"/>
          <p:cNvSpPr/>
          <p:nvPr/>
        </p:nvSpPr>
        <p:spPr>
          <a:xfrm>
            <a:off x="5586610" y="1904907"/>
            <a:ext cx="833380" cy="321621"/>
          </a:xfrm>
          <a:prstGeom prst="rect">
            <a:avLst/>
          </a:prstGeom>
          <a:solidFill>
            <a:schemeClr val="accent1">
              <a:lumMod val="20000"/>
              <a:lumOff val="80000"/>
            </a:schemeClr>
          </a:solidFill>
          <a:ln w="3175">
            <a:solidFill>
              <a:schemeClr val="bg1">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간접침해</a:t>
            </a:r>
            <a:endPar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127)</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199" name="꺾인 연결선 198"/>
          <p:cNvCxnSpPr>
            <a:stCxn id="192" idx="3"/>
            <a:endCxn id="197" idx="1"/>
          </p:cNvCxnSpPr>
          <p:nvPr/>
        </p:nvCxnSpPr>
        <p:spPr>
          <a:xfrm flipV="1">
            <a:off x="5452482" y="1689718"/>
            <a:ext cx="134128" cy="1608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0" name="꺾인 연결선 199"/>
          <p:cNvCxnSpPr>
            <a:stCxn id="192" idx="3"/>
            <a:endCxn id="198" idx="1"/>
          </p:cNvCxnSpPr>
          <p:nvPr/>
        </p:nvCxnSpPr>
        <p:spPr>
          <a:xfrm>
            <a:off x="5452482" y="1850546"/>
            <a:ext cx="134128" cy="21517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1" name="모서리가 둥근 직사각형 200"/>
          <p:cNvSpPr/>
          <p:nvPr/>
        </p:nvSpPr>
        <p:spPr>
          <a:xfrm>
            <a:off x="5586610" y="2318465"/>
            <a:ext cx="833380" cy="300825"/>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민사적 조치</a:t>
            </a:r>
            <a:endPar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126-132)</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202" name="모서리가 둥근 직사각형 201"/>
          <p:cNvSpPr/>
          <p:nvPr/>
        </p:nvSpPr>
        <p:spPr>
          <a:xfrm>
            <a:off x="5586609" y="2663316"/>
            <a:ext cx="833381" cy="341821"/>
          </a:xfrm>
          <a:prstGeom prst="roundRect">
            <a:avLst>
              <a:gd name="adj" fmla="val 0"/>
            </a:avLst>
          </a:prstGeom>
          <a:solidFill>
            <a:schemeClr val="accent1">
              <a:lumMod val="20000"/>
              <a:lumOff val="80000"/>
            </a:schemeClr>
          </a:solidFill>
          <a:ln w="3175">
            <a:solidFill>
              <a:schemeClr val="bg1">
                <a:lumMod val="50000"/>
              </a:schemeClr>
            </a:solidFill>
          </a:ln>
        </p:spPr>
        <p:style>
          <a:lnRef idx="1">
            <a:schemeClr val="accent5"/>
          </a:lnRef>
          <a:fillRef idx="3">
            <a:schemeClr val="accent5"/>
          </a:fillRef>
          <a:effectRef idx="2">
            <a:schemeClr val="accent5"/>
          </a:effectRef>
          <a:fontRef idx="minor">
            <a:schemeClr val="lt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형사적 조치</a:t>
            </a:r>
            <a:endPar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srgbClr val="44546A"/>
                </a:solidFill>
                <a:effectLst/>
                <a:uLnTx/>
                <a:uFillTx/>
                <a:latin typeface="Frutiger LT 65 Bold"/>
                <a:ea typeface="Rix모던고딕 B"/>
                <a:cs typeface="+mn-cs"/>
              </a:rPr>
              <a:t>225-232)</a:t>
            </a:r>
            <a:endParaRPr kumimoji="0" lang="ko-KR" altLang="en-US" sz="10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cxnSp>
        <p:nvCxnSpPr>
          <p:cNvPr id="203" name="꺾인 연결선 202"/>
          <p:cNvCxnSpPr>
            <a:stCxn id="193" idx="3"/>
            <a:endCxn id="201" idx="1"/>
          </p:cNvCxnSpPr>
          <p:nvPr/>
        </p:nvCxnSpPr>
        <p:spPr>
          <a:xfrm>
            <a:off x="5452482" y="2460843"/>
            <a:ext cx="134128" cy="803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4" name="꺾인 연결선 203"/>
          <p:cNvCxnSpPr>
            <a:stCxn id="193" idx="3"/>
            <a:endCxn id="202" idx="1"/>
          </p:cNvCxnSpPr>
          <p:nvPr/>
        </p:nvCxnSpPr>
        <p:spPr>
          <a:xfrm>
            <a:off x="5452482" y="2460843"/>
            <a:ext cx="134127" cy="37338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5" name="직사각형 204"/>
          <p:cNvSpPr/>
          <p:nvPr/>
        </p:nvSpPr>
        <p:spPr>
          <a:xfrm>
            <a:off x="7780806" y="2184608"/>
            <a:ext cx="555844" cy="610645"/>
          </a:xfrm>
          <a:prstGeom prst="rect">
            <a:avLst/>
          </a:prstGeom>
          <a:solidFill>
            <a:schemeClr val="accent6">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rPr>
              <a:t>심판절차 </a:t>
            </a:r>
            <a:endPar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rPr>
              <a:t>일반</a:t>
            </a:r>
            <a:endPar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rPr>
              <a:t>총론</a:t>
            </a:r>
            <a:r>
              <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206" name="직사각형 205"/>
          <p:cNvSpPr/>
          <p:nvPr/>
        </p:nvSpPr>
        <p:spPr>
          <a:xfrm>
            <a:off x="7780806" y="4163272"/>
            <a:ext cx="555844" cy="610645"/>
          </a:xfrm>
          <a:prstGeom prst="rect">
            <a:avLst/>
          </a:prstGeom>
          <a:solidFill>
            <a:schemeClr val="accent5">
              <a:lumMod val="50000"/>
            </a:schemeClr>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rPr>
              <a:t>심판의</a:t>
            </a:r>
            <a:endPar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rPr>
              <a:t>종류</a:t>
            </a:r>
            <a:endPar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rPr>
              <a:t>각론</a:t>
            </a:r>
            <a:r>
              <a:rPr kumimoji="0" lang="en-US" altLang="ko-KR" sz="10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207" name="직사각형 206"/>
          <p:cNvSpPr/>
          <p:nvPr/>
        </p:nvSpPr>
        <p:spPr>
          <a:xfrm>
            <a:off x="8500191" y="131308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prstClr val="black"/>
                </a:solidFill>
                <a:effectLst/>
                <a:uLnTx/>
                <a:uFillTx/>
                <a:latin typeface="Frutiger LT 65 Bold"/>
                <a:ea typeface="Rix모던고딕 B"/>
                <a:cs typeface="+mn-cs"/>
              </a:rPr>
              <a:t>주체</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08" name="직사각형 207"/>
          <p:cNvSpPr/>
          <p:nvPr/>
        </p:nvSpPr>
        <p:spPr>
          <a:xfrm>
            <a:off x="8500191" y="1804594"/>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청구</a:t>
            </a:r>
          </a:p>
        </p:txBody>
      </p:sp>
      <p:sp>
        <p:nvSpPr>
          <p:cNvPr id="209" name="직사각형 208"/>
          <p:cNvSpPr/>
          <p:nvPr/>
        </p:nvSpPr>
        <p:spPr>
          <a:xfrm>
            <a:off x="8500191" y="2449052"/>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진행</a:t>
            </a:r>
          </a:p>
        </p:txBody>
      </p:sp>
      <p:sp>
        <p:nvSpPr>
          <p:cNvPr id="210" name="직사각형 209"/>
          <p:cNvSpPr/>
          <p:nvPr/>
        </p:nvSpPr>
        <p:spPr>
          <a:xfrm>
            <a:off x="8500191" y="2977875"/>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종료</a:t>
            </a:r>
          </a:p>
        </p:txBody>
      </p:sp>
      <p:sp>
        <p:nvSpPr>
          <p:cNvPr id="211" name="직사각형 210"/>
          <p:cNvSpPr/>
          <p:nvPr/>
        </p:nvSpPr>
        <p:spPr>
          <a:xfrm>
            <a:off x="9363869" y="8056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 143~153</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2" name="직사각형 211"/>
          <p:cNvSpPr/>
          <p:nvPr/>
        </p:nvSpPr>
        <p:spPr>
          <a:xfrm>
            <a:off x="9363869" y="9962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심판의 당사자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139)</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3" name="직사각형 212"/>
          <p:cNvSpPr/>
          <p:nvPr/>
        </p:nvSpPr>
        <p:spPr>
          <a:xfrm>
            <a:off x="9363869" y="118351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심판의 참가인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155, 156)</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4" name="직사각형 213"/>
          <p:cNvSpPr/>
          <p:nvPr/>
        </p:nvSpPr>
        <p:spPr>
          <a:xfrm>
            <a:off x="9363869" y="1703773"/>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심판의 청구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140, 140</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5" name="직사각형 214"/>
          <p:cNvSpPr/>
          <p:nvPr/>
        </p:nvSpPr>
        <p:spPr>
          <a:xfrm>
            <a:off x="9363869" y="1894351"/>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심판청구서의 보정</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140②, 140</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2②)</a:t>
            </a:r>
          </a:p>
        </p:txBody>
      </p:sp>
      <p:sp>
        <p:nvSpPr>
          <p:cNvPr id="216" name="직사각형 215"/>
          <p:cNvSpPr/>
          <p:nvPr/>
        </p:nvSpPr>
        <p:spPr>
          <a:xfrm>
            <a:off x="9363869" y="226982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방식심리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141)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7" name="직사각형 216"/>
          <p:cNvSpPr/>
          <p:nvPr/>
        </p:nvSpPr>
        <p:spPr>
          <a:xfrm>
            <a:off x="9363869" y="245801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적법성 심리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142)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8" name="직사각형 217"/>
          <p:cNvSpPr/>
          <p:nvPr/>
        </p:nvSpPr>
        <p:spPr>
          <a:xfrm>
            <a:off x="9363869" y="264666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본안심리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154, 157-160)</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9" name="직사각형 218"/>
          <p:cNvSpPr/>
          <p:nvPr/>
        </p:nvSpPr>
        <p:spPr>
          <a:xfrm>
            <a:off x="9363869" y="2884499"/>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심판청구의 취하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0" name="직사각형 219"/>
          <p:cNvSpPr/>
          <p:nvPr/>
        </p:nvSpPr>
        <p:spPr>
          <a:xfrm>
            <a:off x="9363869" y="3072684"/>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심결</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162, 163)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1" name="직사각형 220"/>
          <p:cNvSpPr/>
          <p:nvPr/>
        </p:nvSpPr>
        <p:spPr>
          <a:xfrm>
            <a:off x="8500191" y="4104276"/>
            <a:ext cx="710030" cy="171015"/>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결정계</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심판</a:t>
            </a:r>
          </a:p>
        </p:txBody>
      </p:sp>
      <p:sp>
        <p:nvSpPr>
          <p:cNvPr id="222" name="직사각형 221"/>
          <p:cNvSpPr/>
          <p:nvPr/>
        </p:nvSpPr>
        <p:spPr>
          <a:xfrm>
            <a:off x="8500191" y="4475324"/>
            <a:ext cx="710030" cy="364286"/>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당사자계 </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a:t>
            </a:r>
          </a:p>
        </p:txBody>
      </p:sp>
      <p:sp>
        <p:nvSpPr>
          <p:cNvPr id="223" name="직사각형 222"/>
          <p:cNvSpPr/>
          <p:nvPr/>
        </p:nvSpPr>
        <p:spPr>
          <a:xfrm>
            <a:off x="8500189" y="5251229"/>
            <a:ext cx="1308145"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재심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178~185)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4" name="직사각형 223"/>
          <p:cNvSpPr/>
          <p:nvPr/>
        </p:nvSpPr>
        <p:spPr>
          <a:xfrm>
            <a:off x="9363869" y="401219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거절결정불복심판</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132</a:t>
            </a:r>
            <a:r>
              <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17, 170~172, 176)</a:t>
            </a:r>
            <a:endPar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5" name="직사각형 224"/>
          <p:cNvSpPr/>
          <p:nvPr/>
        </p:nvSpPr>
        <p:spPr>
          <a:xfrm>
            <a:off x="9363869" y="420277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정정심판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136)</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6" name="직사각형 225"/>
          <p:cNvSpPr/>
          <p:nvPr/>
        </p:nvSpPr>
        <p:spPr>
          <a:xfrm>
            <a:off x="9363869" y="438375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무효심판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133, 134, 137)</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7" name="직사각형 226"/>
          <p:cNvSpPr/>
          <p:nvPr/>
        </p:nvSpPr>
        <p:spPr>
          <a:xfrm>
            <a:off x="9363869" y="4579753"/>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권리범위확인심판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28" name="직사각형 227"/>
          <p:cNvSpPr/>
          <p:nvPr/>
        </p:nvSpPr>
        <p:spPr>
          <a:xfrm>
            <a:off x="9363869" y="4770331"/>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통상실시권허락심판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138)</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29" name="꺾인 연결선 228"/>
          <p:cNvCxnSpPr>
            <a:stCxn id="205" idx="1"/>
            <a:endCxn id="252" idx="3"/>
          </p:cNvCxnSpPr>
          <p:nvPr/>
        </p:nvCxnSpPr>
        <p:spPr>
          <a:xfrm rot="10800000" flipV="1">
            <a:off x="7557110" y="2489931"/>
            <a:ext cx="223697" cy="347276"/>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0" name="꺾인 연결선 229"/>
          <p:cNvCxnSpPr>
            <a:stCxn id="205" idx="3"/>
            <a:endCxn id="207" idx="1"/>
          </p:cNvCxnSpPr>
          <p:nvPr/>
        </p:nvCxnSpPr>
        <p:spPr>
          <a:xfrm flipV="1">
            <a:off x="8336650" y="1398592"/>
            <a:ext cx="163541" cy="109133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1" name="꺾인 연결선 230"/>
          <p:cNvCxnSpPr>
            <a:stCxn id="205" idx="3"/>
            <a:endCxn id="210" idx="1"/>
          </p:cNvCxnSpPr>
          <p:nvPr/>
        </p:nvCxnSpPr>
        <p:spPr>
          <a:xfrm>
            <a:off x="8336650" y="2489931"/>
            <a:ext cx="163541" cy="573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2" name="꺾인 연결선 231"/>
          <p:cNvCxnSpPr>
            <a:stCxn id="205" idx="3"/>
            <a:endCxn id="208" idx="1"/>
          </p:cNvCxnSpPr>
          <p:nvPr/>
        </p:nvCxnSpPr>
        <p:spPr>
          <a:xfrm flipV="1">
            <a:off x="8336650" y="1890102"/>
            <a:ext cx="163541" cy="5998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3" name="꺾인 연결선 232"/>
          <p:cNvCxnSpPr>
            <a:stCxn id="205" idx="3"/>
            <a:endCxn id="209" idx="1"/>
          </p:cNvCxnSpPr>
          <p:nvPr/>
        </p:nvCxnSpPr>
        <p:spPr>
          <a:xfrm>
            <a:off x="8336650" y="2489931"/>
            <a:ext cx="163541" cy="44629"/>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4" name="꺾인 연결선 233"/>
          <p:cNvCxnSpPr>
            <a:stCxn id="207" idx="3"/>
            <a:endCxn id="211" idx="1"/>
          </p:cNvCxnSpPr>
          <p:nvPr/>
        </p:nvCxnSpPr>
        <p:spPr>
          <a:xfrm flipV="1">
            <a:off x="9210221" y="874930"/>
            <a:ext cx="153648" cy="52366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5" name="꺾인 연결선 234"/>
          <p:cNvCxnSpPr>
            <a:stCxn id="207" idx="3"/>
            <a:endCxn id="213" idx="1"/>
          </p:cNvCxnSpPr>
          <p:nvPr/>
        </p:nvCxnSpPr>
        <p:spPr>
          <a:xfrm flipV="1">
            <a:off x="9210221" y="1252790"/>
            <a:ext cx="153648" cy="14580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6" name="꺾인 연결선 235"/>
          <p:cNvCxnSpPr>
            <a:cxnSpLocks/>
            <a:stCxn id="207" idx="3"/>
            <a:endCxn id="288" idx="1"/>
          </p:cNvCxnSpPr>
          <p:nvPr/>
        </p:nvCxnSpPr>
        <p:spPr>
          <a:xfrm>
            <a:off x="9210221" y="1398592"/>
            <a:ext cx="148622" cy="1108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7" name="꺾인 연결선 236"/>
          <p:cNvCxnSpPr>
            <a:stCxn id="208" idx="3"/>
            <a:endCxn id="214" idx="1"/>
          </p:cNvCxnSpPr>
          <p:nvPr/>
        </p:nvCxnSpPr>
        <p:spPr>
          <a:xfrm flipV="1">
            <a:off x="9210221" y="1773052"/>
            <a:ext cx="153648" cy="11705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8" name="꺾인 연결선 237"/>
          <p:cNvCxnSpPr>
            <a:stCxn id="208" idx="3"/>
            <a:endCxn id="215" idx="1"/>
          </p:cNvCxnSpPr>
          <p:nvPr/>
        </p:nvCxnSpPr>
        <p:spPr>
          <a:xfrm>
            <a:off x="9210221" y="1890102"/>
            <a:ext cx="153648" cy="7352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9" name="꺾인 연결선 238"/>
          <p:cNvCxnSpPr>
            <a:stCxn id="209" idx="3"/>
            <a:endCxn id="216" idx="1"/>
          </p:cNvCxnSpPr>
          <p:nvPr/>
        </p:nvCxnSpPr>
        <p:spPr>
          <a:xfrm flipV="1">
            <a:off x="9210221" y="2339108"/>
            <a:ext cx="153648" cy="19545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0" name="꺾인 연결선 239"/>
          <p:cNvCxnSpPr>
            <a:stCxn id="209" idx="3"/>
            <a:endCxn id="218" idx="1"/>
          </p:cNvCxnSpPr>
          <p:nvPr/>
        </p:nvCxnSpPr>
        <p:spPr>
          <a:xfrm>
            <a:off x="9210221" y="2534560"/>
            <a:ext cx="153648" cy="18138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1" name="꺾인 연결선 240"/>
          <p:cNvCxnSpPr>
            <a:stCxn id="209" idx="3"/>
            <a:endCxn id="217" idx="1"/>
          </p:cNvCxnSpPr>
          <p:nvPr/>
        </p:nvCxnSpPr>
        <p:spPr>
          <a:xfrm flipV="1">
            <a:off x="9210221" y="2527293"/>
            <a:ext cx="153648" cy="726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2" name="꺾인 연결선 241"/>
          <p:cNvCxnSpPr>
            <a:stCxn id="221" idx="1"/>
            <a:endCxn id="206" idx="3"/>
          </p:cNvCxnSpPr>
          <p:nvPr/>
        </p:nvCxnSpPr>
        <p:spPr>
          <a:xfrm rot="10800000" flipV="1">
            <a:off x="8336651" y="4189783"/>
            <a:ext cx="163541" cy="2788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3" name="꺾인 연결선 242"/>
          <p:cNvCxnSpPr>
            <a:stCxn id="206" idx="3"/>
            <a:endCxn id="223" idx="1"/>
          </p:cNvCxnSpPr>
          <p:nvPr/>
        </p:nvCxnSpPr>
        <p:spPr>
          <a:xfrm>
            <a:off x="8336650" y="4468595"/>
            <a:ext cx="163539" cy="86197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4" name="꺾인 연결선 243"/>
          <p:cNvCxnSpPr>
            <a:stCxn id="206" idx="3"/>
            <a:endCxn id="222" idx="1"/>
          </p:cNvCxnSpPr>
          <p:nvPr/>
        </p:nvCxnSpPr>
        <p:spPr>
          <a:xfrm>
            <a:off x="8336650" y="4468595"/>
            <a:ext cx="163541" cy="18887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꺾인 연결선 244"/>
          <p:cNvCxnSpPr>
            <a:stCxn id="210" idx="3"/>
            <a:endCxn id="219" idx="1"/>
          </p:cNvCxnSpPr>
          <p:nvPr/>
        </p:nvCxnSpPr>
        <p:spPr>
          <a:xfrm flipV="1">
            <a:off x="9210221" y="2953778"/>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꺾인 연결선 245"/>
          <p:cNvCxnSpPr>
            <a:stCxn id="210" idx="3"/>
            <a:endCxn id="220" idx="1"/>
          </p:cNvCxnSpPr>
          <p:nvPr/>
        </p:nvCxnSpPr>
        <p:spPr>
          <a:xfrm>
            <a:off x="9210221" y="3063383"/>
            <a:ext cx="153648" cy="7858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7" name="꺾인 연결선 246"/>
          <p:cNvCxnSpPr>
            <a:stCxn id="221" idx="3"/>
            <a:endCxn id="224" idx="1"/>
          </p:cNvCxnSpPr>
          <p:nvPr/>
        </p:nvCxnSpPr>
        <p:spPr>
          <a:xfrm flipV="1">
            <a:off x="9210221" y="4081472"/>
            <a:ext cx="153648" cy="108312"/>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8" name="꺾인 연결선 247"/>
          <p:cNvCxnSpPr>
            <a:stCxn id="221" idx="3"/>
            <a:endCxn id="225" idx="1"/>
          </p:cNvCxnSpPr>
          <p:nvPr/>
        </p:nvCxnSpPr>
        <p:spPr>
          <a:xfrm>
            <a:off x="9210221" y="4189784"/>
            <a:ext cx="153648" cy="8226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9" name="꺾인 연결선 248"/>
          <p:cNvCxnSpPr>
            <a:stCxn id="222" idx="3"/>
            <a:endCxn id="226" idx="1"/>
          </p:cNvCxnSpPr>
          <p:nvPr/>
        </p:nvCxnSpPr>
        <p:spPr>
          <a:xfrm flipV="1">
            <a:off x="9210221" y="4453030"/>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0" name="꺾인 연결선 249"/>
          <p:cNvCxnSpPr>
            <a:stCxn id="222" idx="3"/>
            <a:endCxn id="227" idx="1"/>
          </p:cNvCxnSpPr>
          <p:nvPr/>
        </p:nvCxnSpPr>
        <p:spPr>
          <a:xfrm flipV="1">
            <a:off x="9210221" y="4649032"/>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1" name="꺾인 연결선 250"/>
          <p:cNvCxnSpPr>
            <a:stCxn id="222" idx="3"/>
            <a:endCxn id="228" idx="1"/>
          </p:cNvCxnSpPr>
          <p:nvPr/>
        </p:nvCxnSpPr>
        <p:spPr>
          <a:xfrm>
            <a:off x="9210221" y="4657467"/>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2" name="직사각형 251"/>
          <p:cNvSpPr/>
          <p:nvPr/>
        </p:nvSpPr>
        <p:spPr>
          <a:xfrm>
            <a:off x="7136327" y="2620124"/>
            <a:ext cx="420782" cy="434166"/>
          </a:xfrm>
          <a:prstGeom prst="rect">
            <a:avLst/>
          </a:prstGeom>
          <a:solidFill>
            <a:schemeClr val="accent5"/>
          </a:solidFill>
          <a:ln w="3175">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심판</a:t>
            </a:r>
            <a:endPar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제도</a:t>
            </a:r>
          </a:p>
        </p:txBody>
      </p:sp>
      <p:cxnSp>
        <p:nvCxnSpPr>
          <p:cNvPr id="253" name="꺾인 연결선 252"/>
          <p:cNvCxnSpPr>
            <a:stCxn id="252" idx="3"/>
            <a:endCxn id="206" idx="1"/>
          </p:cNvCxnSpPr>
          <p:nvPr/>
        </p:nvCxnSpPr>
        <p:spPr>
          <a:xfrm>
            <a:off x="7557109" y="2837207"/>
            <a:ext cx="223697" cy="163138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4" name="직사각형 253"/>
          <p:cNvSpPr/>
          <p:nvPr/>
        </p:nvSpPr>
        <p:spPr>
          <a:xfrm>
            <a:off x="8500189" y="5000342"/>
            <a:ext cx="2075729" cy="15867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특허취소신청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132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2~132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15)</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55" name="꺾인 연결선 254"/>
          <p:cNvCxnSpPr>
            <a:stCxn id="206" idx="3"/>
            <a:endCxn id="254" idx="1"/>
          </p:cNvCxnSpPr>
          <p:nvPr/>
        </p:nvCxnSpPr>
        <p:spPr>
          <a:xfrm>
            <a:off x="8336650" y="4468595"/>
            <a:ext cx="163539" cy="6110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6" name="직사각형 255"/>
          <p:cNvSpPr/>
          <p:nvPr/>
        </p:nvSpPr>
        <p:spPr>
          <a:xfrm>
            <a:off x="9363869" y="2079620"/>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중복심판청구금지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154⑧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준용</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민소</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259)</a:t>
            </a:r>
          </a:p>
        </p:txBody>
      </p:sp>
      <p:sp>
        <p:nvSpPr>
          <p:cNvPr id="257" name="직사각형 256"/>
          <p:cNvSpPr/>
          <p:nvPr/>
        </p:nvSpPr>
        <p:spPr>
          <a:xfrm>
            <a:off x="8237008" y="5752000"/>
            <a:ext cx="420212"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Frutiger LT 65 Bold"/>
                <a:ea typeface="Rix모던고딕 B"/>
                <a:cs typeface="+mn-cs"/>
              </a:rPr>
              <a:t>PCT</a:t>
            </a:r>
            <a:endPar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258" name="직사각형 257"/>
          <p:cNvSpPr/>
          <p:nvPr/>
        </p:nvSpPr>
        <p:spPr>
          <a:xfrm>
            <a:off x="8810868" y="566042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특허출원절차</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192~198)</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59" name="직사각형 258"/>
          <p:cNvSpPr/>
          <p:nvPr/>
        </p:nvSpPr>
        <p:spPr>
          <a:xfrm>
            <a:off x="8810868" y="5856429"/>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국제조사 및 국제예비심사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198</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60" name="직사각형 259"/>
          <p:cNvSpPr/>
          <p:nvPr/>
        </p:nvSpPr>
        <p:spPr>
          <a:xfrm>
            <a:off x="8810868" y="6047007"/>
            <a:ext cx="2333212" cy="138557"/>
          </a:xfrm>
          <a:prstGeom prst="rect">
            <a:avLst/>
          </a:prstGeom>
          <a:solidFill>
            <a:schemeClr val="accent5">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국제특허출원에 관한 특례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199~214)</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61" name="꺾인 연결선 260"/>
          <p:cNvCxnSpPr>
            <a:stCxn id="257" idx="3"/>
            <a:endCxn id="258" idx="1"/>
          </p:cNvCxnSpPr>
          <p:nvPr/>
        </p:nvCxnSpPr>
        <p:spPr>
          <a:xfrm flipV="1">
            <a:off x="8657220" y="5729706"/>
            <a:ext cx="153648"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꺾인 연결선 261"/>
          <p:cNvCxnSpPr>
            <a:stCxn id="257" idx="3"/>
            <a:endCxn id="259" idx="1"/>
          </p:cNvCxnSpPr>
          <p:nvPr/>
        </p:nvCxnSpPr>
        <p:spPr>
          <a:xfrm flipV="1">
            <a:off x="8657220" y="5925708"/>
            <a:ext cx="153648"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꺾인 연결선 262"/>
          <p:cNvCxnSpPr>
            <a:stCxn id="257" idx="3"/>
            <a:endCxn id="260" idx="1"/>
          </p:cNvCxnSpPr>
          <p:nvPr/>
        </p:nvCxnSpPr>
        <p:spPr>
          <a:xfrm>
            <a:off x="8657220" y="5934143"/>
            <a:ext cx="153648"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꺾인 연결선 263"/>
          <p:cNvCxnSpPr>
            <a:stCxn id="273" idx="3"/>
            <a:endCxn id="295" idx="1"/>
          </p:cNvCxnSpPr>
          <p:nvPr/>
        </p:nvCxnSpPr>
        <p:spPr>
          <a:xfrm flipV="1">
            <a:off x="4278775" y="4164703"/>
            <a:ext cx="168733" cy="44072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5" name="꺾인 연결선 264"/>
          <p:cNvCxnSpPr>
            <a:stCxn id="273" idx="3"/>
            <a:endCxn id="296" idx="1"/>
          </p:cNvCxnSpPr>
          <p:nvPr/>
        </p:nvCxnSpPr>
        <p:spPr>
          <a:xfrm flipV="1">
            <a:off x="4278775" y="4328505"/>
            <a:ext cx="168733" cy="27692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6" name="직사각형 265"/>
          <p:cNvSpPr/>
          <p:nvPr/>
        </p:nvSpPr>
        <p:spPr>
          <a:xfrm>
            <a:off x="612833" y="5324052"/>
            <a:ext cx="355015" cy="364286"/>
          </a:xfrm>
          <a:prstGeom prst="rect">
            <a:avLst/>
          </a:prstGeom>
          <a:solidFill>
            <a:schemeClr val="accent5"/>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Frutiger LT 65 Bold"/>
                <a:ea typeface="Rix모던고딕 B"/>
                <a:cs typeface="+mn-cs"/>
              </a:rPr>
              <a:t>소송</a:t>
            </a:r>
          </a:p>
        </p:txBody>
      </p:sp>
      <p:sp>
        <p:nvSpPr>
          <p:cNvPr id="267" name="직사각형 266"/>
          <p:cNvSpPr/>
          <p:nvPr/>
        </p:nvSpPr>
        <p:spPr>
          <a:xfrm>
            <a:off x="1121497" y="523247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심결취소소송</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186~189)</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68" name="직사각형 267"/>
          <p:cNvSpPr/>
          <p:nvPr/>
        </p:nvSpPr>
        <p:spPr>
          <a:xfrm>
            <a:off x="1121497" y="5428481"/>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보상금</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대가에 대한 소송</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190, 191)</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69" name="직사각형 268"/>
          <p:cNvSpPr/>
          <p:nvPr/>
        </p:nvSpPr>
        <p:spPr>
          <a:xfrm>
            <a:off x="1121497" y="5619059"/>
            <a:ext cx="2333212" cy="138557"/>
          </a:xfrm>
          <a:prstGeom prst="rect">
            <a:avLst/>
          </a:prstGeom>
          <a:solidFill>
            <a:schemeClr val="accent4">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변리사 보수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191</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70" name="꺾인 연결선 269"/>
          <p:cNvCxnSpPr>
            <a:stCxn id="266" idx="3"/>
            <a:endCxn id="267" idx="1"/>
          </p:cNvCxnSpPr>
          <p:nvPr/>
        </p:nvCxnSpPr>
        <p:spPr>
          <a:xfrm flipV="1">
            <a:off x="967848" y="5301758"/>
            <a:ext cx="153649" cy="204437"/>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1" name="꺾인 연결선 270"/>
          <p:cNvCxnSpPr>
            <a:stCxn id="266" idx="3"/>
            <a:endCxn id="268" idx="1"/>
          </p:cNvCxnSpPr>
          <p:nvPr/>
        </p:nvCxnSpPr>
        <p:spPr>
          <a:xfrm flipV="1">
            <a:off x="967848" y="5497760"/>
            <a:ext cx="153649" cy="843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2" name="꺾인 연결선 271"/>
          <p:cNvCxnSpPr>
            <a:stCxn id="266" idx="3"/>
            <a:endCxn id="269" idx="1"/>
          </p:cNvCxnSpPr>
          <p:nvPr/>
        </p:nvCxnSpPr>
        <p:spPr>
          <a:xfrm>
            <a:off x="967848" y="5506195"/>
            <a:ext cx="153649" cy="1821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73" name="직사각형 272"/>
          <p:cNvSpPr/>
          <p:nvPr/>
        </p:nvSpPr>
        <p:spPr>
          <a:xfrm>
            <a:off x="3609544" y="4480740"/>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소송요건</a:t>
            </a:r>
            <a:endParaRPr kumimoji="0" lang="en-US" altLang="ko-KR" sz="10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7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a:t>
            </a:r>
            <a:r>
              <a:rPr kumimoji="0" lang="ko-KR" altLang="en-US" sz="7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法 </a:t>
            </a:r>
            <a:r>
              <a:rPr kumimoji="0" lang="en-US" altLang="ko-KR" sz="7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186, 187)</a:t>
            </a:r>
            <a:endParaRPr kumimoji="0" lang="ko-KR" altLang="en-US" sz="7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endParaRPr>
          </a:p>
        </p:txBody>
      </p:sp>
      <p:sp>
        <p:nvSpPr>
          <p:cNvPr id="274" name="직사각형 273"/>
          <p:cNvSpPr/>
          <p:nvPr/>
        </p:nvSpPr>
        <p:spPr>
          <a:xfrm>
            <a:off x="3609544" y="5109654"/>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소송제기</a:t>
            </a:r>
          </a:p>
        </p:txBody>
      </p:sp>
      <p:sp>
        <p:nvSpPr>
          <p:cNvPr id="275" name="직사각형 274"/>
          <p:cNvSpPr/>
          <p:nvPr/>
        </p:nvSpPr>
        <p:spPr>
          <a:xfrm>
            <a:off x="3609544" y="5640678"/>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소송심리</a:t>
            </a:r>
          </a:p>
        </p:txBody>
      </p:sp>
      <p:sp>
        <p:nvSpPr>
          <p:cNvPr id="276" name="직사각형 275"/>
          <p:cNvSpPr/>
          <p:nvPr/>
        </p:nvSpPr>
        <p:spPr>
          <a:xfrm>
            <a:off x="3609544" y="6249551"/>
            <a:ext cx="669231" cy="249375"/>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소송종료</a:t>
            </a:r>
          </a:p>
        </p:txBody>
      </p:sp>
      <p:cxnSp>
        <p:nvCxnSpPr>
          <p:cNvPr id="277" name="꺾인 연결선 276"/>
          <p:cNvCxnSpPr>
            <a:stCxn id="267" idx="3"/>
            <a:endCxn id="273" idx="1"/>
          </p:cNvCxnSpPr>
          <p:nvPr/>
        </p:nvCxnSpPr>
        <p:spPr>
          <a:xfrm flipV="1">
            <a:off x="3454709" y="4605428"/>
            <a:ext cx="154835" cy="696330"/>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꺾인 연결선 277"/>
          <p:cNvCxnSpPr>
            <a:stCxn id="267" idx="3"/>
            <a:endCxn id="276" idx="1"/>
          </p:cNvCxnSpPr>
          <p:nvPr/>
        </p:nvCxnSpPr>
        <p:spPr>
          <a:xfrm>
            <a:off x="3454709" y="5301758"/>
            <a:ext cx="154835" cy="1072481"/>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꺾인 연결선 278"/>
          <p:cNvCxnSpPr>
            <a:stCxn id="267" idx="3"/>
            <a:endCxn id="274" idx="1"/>
          </p:cNvCxnSpPr>
          <p:nvPr/>
        </p:nvCxnSpPr>
        <p:spPr>
          <a:xfrm flipV="1">
            <a:off x="3454709" y="5234342"/>
            <a:ext cx="154835" cy="6741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꺾인 연결선 279"/>
          <p:cNvCxnSpPr>
            <a:stCxn id="267" idx="3"/>
            <a:endCxn id="275" idx="1"/>
          </p:cNvCxnSpPr>
          <p:nvPr/>
        </p:nvCxnSpPr>
        <p:spPr>
          <a:xfrm>
            <a:off x="3454709" y="5301758"/>
            <a:ext cx="154835" cy="463608"/>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꺾인 연결선 280"/>
          <p:cNvCxnSpPr>
            <a:stCxn id="273" idx="3"/>
            <a:endCxn id="297" idx="1"/>
          </p:cNvCxnSpPr>
          <p:nvPr/>
        </p:nvCxnSpPr>
        <p:spPr>
          <a:xfrm flipV="1">
            <a:off x="4278775" y="4489475"/>
            <a:ext cx="168733" cy="11595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2" name="꺾인 연결선 281"/>
          <p:cNvCxnSpPr>
            <a:stCxn id="274" idx="3"/>
            <a:endCxn id="298" idx="1"/>
          </p:cNvCxnSpPr>
          <p:nvPr/>
        </p:nvCxnSpPr>
        <p:spPr>
          <a:xfrm flipV="1">
            <a:off x="4278775" y="5070329"/>
            <a:ext cx="168733" cy="16401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3" name="꺾인 연결선 282"/>
          <p:cNvCxnSpPr>
            <a:stCxn id="274" idx="3"/>
            <a:endCxn id="299" idx="1"/>
          </p:cNvCxnSpPr>
          <p:nvPr/>
        </p:nvCxnSpPr>
        <p:spPr>
          <a:xfrm flipV="1">
            <a:off x="4278775" y="5234131"/>
            <a:ext cx="168733" cy="21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4" name="꺾인 연결선 283"/>
          <p:cNvCxnSpPr>
            <a:stCxn id="275" idx="3"/>
            <a:endCxn id="300" idx="1"/>
          </p:cNvCxnSpPr>
          <p:nvPr/>
        </p:nvCxnSpPr>
        <p:spPr>
          <a:xfrm flipV="1">
            <a:off x="4278775" y="5762383"/>
            <a:ext cx="168733" cy="298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5" name="꺾인 연결선 284"/>
          <p:cNvCxnSpPr>
            <a:cxnSpLocks/>
            <a:stCxn id="275" idx="3"/>
            <a:endCxn id="301" idx="1"/>
          </p:cNvCxnSpPr>
          <p:nvPr/>
        </p:nvCxnSpPr>
        <p:spPr>
          <a:xfrm>
            <a:off x="4278775" y="5765366"/>
            <a:ext cx="168733" cy="24859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6" name="꺾인 연결선 285"/>
          <p:cNvCxnSpPr>
            <a:stCxn id="276" idx="3"/>
            <a:endCxn id="302" idx="1"/>
          </p:cNvCxnSpPr>
          <p:nvPr/>
        </p:nvCxnSpPr>
        <p:spPr>
          <a:xfrm flipV="1">
            <a:off x="4278775" y="6284664"/>
            <a:ext cx="168733" cy="895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7" name="꺾인 연결선 286"/>
          <p:cNvCxnSpPr>
            <a:cxnSpLocks/>
            <a:stCxn id="276" idx="3"/>
            <a:endCxn id="303" idx="1"/>
          </p:cNvCxnSpPr>
          <p:nvPr/>
        </p:nvCxnSpPr>
        <p:spPr>
          <a:xfrm>
            <a:off x="4278775" y="6374239"/>
            <a:ext cx="168733" cy="174441"/>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9" name="직사각형 288"/>
          <p:cNvSpPr/>
          <p:nvPr/>
        </p:nvSpPr>
        <p:spPr>
          <a:xfrm>
            <a:off x="5954614" y="5228714"/>
            <a:ext cx="1396961" cy="32899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변론주의 원칙</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직권주의 가미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90" name="직사각형 289"/>
          <p:cNvSpPr/>
          <p:nvPr/>
        </p:nvSpPr>
        <p:spPr>
          <a:xfrm>
            <a:off x="5954614" y="5591097"/>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위법판단의 기준시점</a:t>
            </a:r>
          </a:p>
        </p:txBody>
      </p:sp>
      <p:sp>
        <p:nvSpPr>
          <p:cNvPr id="291" name="직사각형 290"/>
          <p:cNvSpPr/>
          <p:nvPr/>
        </p:nvSpPr>
        <p:spPr>
          <a:xfrm>
            <a:off x="5954614" y="575324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심리범위</a:t>
            </a:r>
          </a:p>
        </p:txBody>
      </p:sp>
      <p:sp>
        <p:nvSpPr>
          <p:cNvPr id="292" name="직사각형 291"/>
          <p:cNvSpPr/>
          <p:nvPr/>
        </p:nvSpPr>
        <p:spPr>
          <a:xfrm>
            <a:off x="5954614" y="5911001"/>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주장증명책임</a:t>
            </a:r>
          </a:p>
        </p:txBody>
      </p:sp>
      <p:sp>
        <p:nvSpPr>
          <p:cNvPr id="293" name="직사각형 292"/>
          <p:cNvSpPr/>
          <p:nvPr/>
        </p:nvSpPr>
        <p:spPr>
          <a:xfrm>
            <a:off x="5954614" y="6071372"/>
            <a:ext cx="1396961"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자백</a:t>
            </a:r>
          </a:p>
        </p:txBody>
      </p:sp>
      <p:sp>
        <p:nvSpPr>
          <p:cNvPr id="295" name="직사각형 294"/>
          <p:cNvSpPr/>
          <p:nvPr/>
        </p:nvSpPr>
        <p:spPr>
          <a:xfrm>
            <a:off x="4447508" y="410052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소송물</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96" name="직사각형 295"/>
          <p:cNvSpPr/>
          <p:nvPr/>
        </p:nvSpPr>
        <p:spPr>
          <a:xfrm>
            <a:off x="4447508" y="426432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소의 이익</a:t>
            </a:r>
          </a:p>
        </p:txBody>
      </p:sp>
      <p:sp>
        <p:nvSpPr>
          <p:cNvPr id="297" name="직사각형 296"/>
          <p:cNvSpPr/>
          <p:nvPr/>
        </p:nvSpPr>
        <p:spPr>
          <a:xfrm>
            <a:off x="4447508" y="4425299"/>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관할</a:t>
            </a:r>
          </a:p>
        </p:txBody>
      </p:sp>
      <p:sp>
        <p:nvSpPr>
          <p:cNvPr id="298" name="직사각형 297"/>
          <p:cNvSpPr/>
          <p:nvPr/>
        </p:nvSpPr>
        <p:spPr>
          <a:xfrm>
            <a:off x="4447508" y="5006153"/>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소장의 제출</a:t>
            </a:r>
          </a:p>
        </p:txBody>
      </p:sp>
      <p:sp>
        <p:nvSpPr>
          <p:cNvPr id="299" name="직사각형 298"/>
          <p:cNvSpPr/>
          <p:nvPr/>
        </p:nvSpPr>
        <p:spPr>
          <a:xfrm>
            <a:off x="4447508" y="516995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심판원장에게 통지</a:t>
            </a:r>
            <a:r>
              <a:rPr kumimoji="0" lang="en-US" altLang="ko-KR" sz="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6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600" b="0" i="0" u="none" strike="noStrike" kern="1200" cap="none" spc="0" normalizeH="0" baseline="0" noProof="0" dirty="0">
                <a:ln>
                  <a:noFill/>
                </a:ln>
                <a:solidFill>
                  <a:prstClr val="black"/>
                </a:solidFill>
                <a:effectLst/>
                <a:uLnTx/>
                <a:uFillTx/>
                <a:latin typeface="Frutiger LT 65 Bold"/>
                <a:ea typeface="Rix모던고딕 B"/>
                <a:cs typeface="+mn-cs"/>
              </a:rPr>
              <a:t>188)</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0" name="직사각형 299"/>
          <p:cNvSpPr/>
          <p:nvPr/>
        </p:nvSpPr>
        <p:spPr>
          <a:xfrm>
            <a:off x="4447508" y="5698207"/>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본안심리</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1" name="직사각형 300"/>
          <p:cNvSpPr/>
          <p:nvPr/>
        </p:nvSpPr>
        <p:spPr>
          <a:xfrm>
            <a:off x="4447508" y="5859952"/>
            <a:ext cx="1380067" cy="308020"/>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기술심리관의 관여</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8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188</a:t>
            </a:r>
            <a:r>
              <a:rPr kumimoji="0" lang="ko-KR" altLang="en-US" sz="8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2" name="직사각형 301"/>
          <p:cNvSpPr/>
          <p:nvPr/>
        </p:nvSpPr>
        <p:spPr>
          <a:xfrm>
            <a:off x="4447508" y="622048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당사자에 의한 종결</a:t>
            </a:r>
          </a:p>
        </p:txBody>
      </p:sp>
      <p:sp>
        <p:nvSpPr>
          <p:cNvPr id="303" name="직사각형 302"/>
          <p:cNvSpPr/>
          <p:nvPr/>
        </p:nvSpPr>
        <p:spPr>
          <a:xfrm>
            <a:off x="4447508" y="6382234"/>
            <a:ext cx="1380067" cy="33289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종국판결에 의한 종결</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8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189)</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4" name="직사각형 303"/>
          <p:cNvSpPr/>
          <p:nvPr/>
        </p:nvSpPr>
        <p:spPr>
          <a:xfrm>
            <a:off x="4447508" y="459403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당사자</a:t>
            </a:r>
          </a:p>
        </p:txBody>
      </p:sp>
      <p:sp>
        <p:nvSpPr>
          <p:cNvPr id="305" name="직사각형 304"/>
          <p:cNvSpPr/>
          <p:nvPr/>
        </p:nvSpPr>
        <p:spPr>
          <a:xfrm>
            <a:off x="4447508" y="5541835"/>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소송요건의 심리</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6" name="직사각형 305"/>
          <p:cNvSpPr/>
          <p:nvPr/>
        </p:nvSpPr>
        <p:spPr>
          <a:xfrm>
            <a:off x="4447508" y="5338441"/>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소장의 심사</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7" name="직사각형 306"/>
          <p:cNvSpPr/>
          <p:nvPr/>
        </p:nvSpPr>
        <p:spPr>
          <a:xfrm>
            <a:off x="4447508" y="4764128"/>
            <a:ext cx="1380067" cy="128351"/>
          </a:xfrm>
          <a:prstGeom prst="rect">
            <a:avLst/>
          </a:prstGeom>
          <a:solidFill>
            <a:schemeClr val="accent1">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제소기간</a:t>
            </a:r>
          </a:p>
        </p:txBody>
      </p:sp>
      <p:cxnSp>
        <p:nvCxnSpPr>
          <p:cNvPr id="309" name="꺾인 연결선 308"/>
          <p:cNvCxnSpPr>
            <a:stCxn id="273" idx="3"/>
            <a:endCxn id="304" idx="1"/>
          </p:cNvCxnSpPr>
          <p:nvPr/>
        </p:nvCxnSpPr>
        <p:spPr>
          <a:xfrm>
            <a:off x="4278775" y="4605428"/>
            <a:ext cx="168733" cy="5278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0" name="꺾인 연결선 309"/>
          <p:cNvCxnSpPr>
            <a:stCxn id="273" idx="3"/>
            <a:endCxn id="307" idx="1"/>
          </p:cNvCxnSpPr>
          <p:nvPr/>
        </p:nvCxnSpPr>
        <p:spPr>
          <a:xfrm>
            <a:off x="4278775" y="4605428"/>
            <a:ext cx="168733" cy="222876"/>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1" name="꺾인 연결선 310"/>
          <p:cNvCxnSpPr>
            <a:stCxn id="274" idx="3"/>
            <a:endCxn id="306" idx="1"/>
          </p:cNvCxnSpPr>
          <p:nvPr/>
        </p:nvCxnSpPr>
        <p:spPr>
          <a:xfrm>
            <a:off x="4278775" y="5234342"/>
            <a:ext cx="168733" cy="16827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2" name="꺾인 연결선 311"/>
          <p:cNvCxnSpPr>
            <a:stCxn id="275" idx="3"/>
            <a:endCxn id="305" idx="1"/>
          </p:cNvCxnSpPr>
          <p:nvPr/>
        </p:nvCxnSpPr>
        <p:spPr>
          <a:xfrm flipV="1">
            <a:off x="4278775" y="5606011"/>
            <a:ext cx="168733" cy="15935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3" name="꺾인 연결선 312"/>
          <p:cNvCxnSpPr>
            <a:stCxn id="300" idx="3"/>
            <a:endCxn id="289" idx="1"/>
          </p:cNvCxnSpPr>
          <p:nvPr/>
        </p:nvCxnSpPr>
        <p:spPr>
          <a:xfrm flipV="1">
            <a:off x="5827575" y="5393209"/>
            <a:ext cx="127039" cy="36917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4" name="꺾인 연결선 313"/>
          <p:cNvCxnSpPr>
            <a:stCxn id="300" idx="3"/>
            <a:endCxn id="290" idx="1"/>
          </p:cNvCxnSpPr>
          <p:nvPr/>
        </p:nvCxnSpPr>
        <p:spPr>
          <a:xfrm flipV="1">
            <a:off x="5827575" y="5655273"/>
            <a:ext cx="127039" cy="10711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5" name="꺾인 연결선 314"/>
          <p:cNvCxnSpPr>
            <a:stCxn id="300" idx="3"/>
            <a:endCxn id="291" idx="1"/>
          </p:cNvCxnSpPr>
          <p:nvPr/>
        </p:nvCxnSpPr>
        <p:spPr>
          <a:xfrm>
            <a:off x="5827575" y="5762383"/>
            <a:ext cx="127039" cy="5503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6" name="꺾인 연결선 315"/>
          <p:cNvCxnSpPr>
            <a:stCxn id="300" idx="3"/>
            <a:endCxn id="292" idx="1"/>
          </p:cNvCxnSpPr>
          <p:nvPr/>
        </p:nvCxnSpPr>
        <p:spPr>
          <a:xfrm>
            <a:off x="5827575" y="5762383"/>
            <a:ext cx="127039" cy="212794"/>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7" name="꺾인 연결선 316"/>
          <p:cNvCxnSpPr>
            <a:endCxn id="293" idx="1"/>
          </p:cNvCxnSpPr>
          <p:nvPr/>
        </p:nvCxnSpPr>
        <p:spPr>
          <a:xfrm rot="16200000" flipH="1">
            <a:off x="5802218" y="5983152"/>
            <a:ext cx="293982" cy="10810"/>
          </a:xfrm>
          <a:prstGeom prst="bentConnector2">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8" name="직사각형 317"/>
          <p:cNvSpPr/>
          <p:nvPr/>
        </p:nvSpPr>
        <p:spPr>
          <a:xfrm>
            <a:off x="6103431" y="3574465"/>
            <a:ext cx="914400" cy="914400"/>
          </a:xfrm>
          <a:prstGeom prst="rect">
            <a:avLst/>
          </a:prstGeom>
          <a:solidFill>
            <a:schemeClr val="accent4"/>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특허법</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체계도</a:t>
            </a:r>
          </a:p>
        </p:txBody>
      </p:sp>
      <p:sp>
        <p:nvSpPr>
          <p:cNvPr id="319" name="타원 318"/>
          <p:cNvSpPr/>
          <p:nvPr/>
        </p:nvSpPr>
        <p:spPr>
          <a:xfrm>
            <a:off x="322118" y="268689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5</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20" name="타원 319"/>
          <p:cNvSpPr/>
          <p:nvPr/>
        </p:nvSpPr>
        <p:spPr>
          <a:xfrm>
            <a:off x="262164" y="5316045"/>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7</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21" name="타원 320"/>
          <p:cNvSpPr/>
          <p:nvPr/>
        </p:nvSpPr>
        <p:spPr>
          <a:xfrm>
            <a:off x="7873581" y="5757616"/>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8</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22" name="타원 321"/>
          <p:cNvSpPr/>
          <p:nvPr/>
        </p:nvSpPr>
        <p:spPr>
          <a:xfrm>
            <a:off x="6772900" y="2666961"/>
            <a:ext cx="363427" cy="363427"/>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6</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23" name="자유형 322"/>
          <p:cNvSpPr/>
          <p:nvPr/>
        </p:nvSpPr>
        <p:spPr>
          <a:xfrm>
            <a:off x="523875" y="3059642"/>
            <a:ext cx="5571067" cy="1845733"/>
          </a:xfrm>
          <a:custGeom>
            <a:avLst/>
            <a:gdLst>
              <a:gd name="connsiteX0" fmla="*/ 5571067 w 5571067"/>
              <a:gd name="connsiteY0" fmla="*/ 872066 h 1845733"/>
              <a:gd name="connsiteX1" fmla="*/ 3708400 w 5571067"/>
              <a:gd name="connsiteY1" fmla="*/ 872066 h 1845733"/>
              <a:gd name="connsiteX2" fmla="*/ 3708400 w 5571067"/>
              <a:gd name="connsiteY2" fmla="*/ 1244600 h 1845733"/>
              <a:gd name="connsiteX3" fmla="*/ 2853267 w 5571067"/>
              <a:gd name="connsiteY3" fmla="*/ 1244600 h 1845733"/>
              <a:gd name="connsiteX4" fmla="*/ 2853267 w 5571067"/>
              <a:gd name="connsiteY4" fmla="*/ 1845733 h 1845733"/>
              <a:gd name="connsiteX5" fmla="*/ 0 w 5571067"/>
              <a:gd name="connsiteY5" fmla="*/ 1845733 h 1845733"/>
              <a:gd name="connsiteX6" fmla="*/ 0 w 5571067"/>
              <a:gd name="connsiteY6" fmla="*/ 0 h 184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1067" h="1845733">
                <a:moveTo>
                  <a:pt x="5571067" y="872066"/>
                </a:moveTo>
                <a:lnTo>
                  <a:pt x="3708400" y="872066"/>
                </a:lnTo>
                <a:lnTo>
                  <a:pt x="3708400" y="1244600"/>
                </a:lnTo>
                <a:lnTo>
                  <a:pt x="2853267" y="1244600"/>
                </a:lnTo>
                <a:lnTo>
                  <a:pt x="2853267" y="1845733"/>
                </a:lnTo>
                <a:lnTo>
                  <a:pt x="0" y="1845733"/>
                </a:lnTo>
                <a:lnTo>
                  <a:pt x="0"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324" name="자유형 323"/>
          <p:cNvSpPr/>
          <p:nvPr/>
        </p:nvSpPr>
        <p:spPr>
          <a:xfrm>
            <a:off x="422275" y="4905375"/>
            <a:ext cx="84667" cy="397933"/>
          </a:xfrm>
          <a:custGeom>
            <a:avLst/>
            <a:gdLst>
              <a:gd name="connsiteX0" fmla="*/ 84667 w 84667"/>
              <a:gd name="connsiteY0" fmla="*/ 0 h 397933"/>
              <a:gd name="connsiteX1" fmla="*/ 0 w 84667"/>
              <a:gd name="connsiteY1" fmla="*/ 0 h 397933"/>
              <a:gd name="connsiteX2" fmla="*/ 0 w 84667"/>
              <a:gd name="connsiteY2" fmla="*/ 397933 h 397933"/>
            </a:gdLst>
            <a:ahLst/>
            <a:cxnLst>
              <a:cxn ang="0">
                <a:pos x="connsiteX0" y="connsiteY0"/>
              </a:cxn>
              <a:cxn ang="0">
                <a:pos x="connsiteX1" y="connsiteY1"/>
              </a:cxn>
              <a:cxn ang="0">
                <a:pos x="connsiteX2" y="connsiteY2"/>
              </a:cxn>
            </a:cxnLst>
            <a:rect l="l" t="t" r="r" b="b"/>
            <a:pathLst>
              <a:path w="84667" h="397933">
                <a:moveTo>
                  <a:pt x="84667" y="0"/>
                </a:moveTo>
                <a:lnTo>
                  <a:pt x="0" y="0"/>
                </a:lnTo>
                <a:lnTo>
                  <a:pt x="0" y="397933"/>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325" name="자유형 324"/>
          <p:cNvSpPr/>
          <p:nvPr/>
        </p:nvSpPr>
        <p:spPr>
          <a:xfrm>
            <a:off x="6569075" y="2839508"/>
            <a:ext cx="186267" cy="745067"/>
          </a:xfrm>
          <a:custGeom>
            <a:avLst/>
            <a:gdLst>
              <a:gd name="connsiteX0" fmla="*/ 0 w 186267"/>
              <a:gd name="connsiteY0" fmla="*/ 745067 h 745067"/>
              <a:gd name="connsiteX1" fmla="*/ 0 w 186267"/>
              <a:gd name="connsiteY1" fmla="*/ 745067 h 745067"/>
              <a:gd name="connsiteX2" fmla="*/ 0 w 186267"/>
              <a:gd name="connsiteY2" fmla="*/ 0 h 745067"/>
              <a:gd name="connsiteX3" fmla="*/ 186267 w 186267"/>
              <a:gd name="connsiteY3" fmla="*/ 0 h 745067"/>
            </a:gdLst>
            <a:ahLst/>
            <a:cxnLst>
              <a:cxn ang="0">
                <a:pos x="connsiteX0" y="connsiteY0"/>
              </a:cxn>
              <a:cxn ang="0">
                <a:pos x="connsiteX1" y="connsiteY1"/>
              </a:cxn>
              <a:cxn ang="0">
                <a:pos x="connsiteX2" y="connsiteY2"/>
              </a:cxn>
              <a:cxn ang="0">
                <a:pos x="connsiteX3" y="connsiteY3"/>
              </a:cxn>
            </a:cxnLst>
            <a:rect l="l" t="t" r="r" b="b"/>
            <a:pathLst>
              <a:path w="186267" h="745067">
                <a:moveTo>
                  <a:pt x="0" y="745067"/>
                </a:moveTo>
                <a:lnTo>
                  <a:pt x="0" y="745067"/>
                </a:lnTo>
                <a:lnTo>
                  <a:pt x="0" y="0"/>
                </a:lnTo>
                <a:lnTo>
                  <a:pt x="186267" y="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326" name="자유형 325"/>
          <p:cNvSpPr/>
          <p:nvPr/>
        </p:nvSpPr>
        <p:spPr>
          <a:xfrm>
            <a:off x="6577542" y="4498975"/>
            <a:ext cx="1498600" cy="1244600"/>
          </a:xfrm>
          <a:custGeom>
            <a:avLst/>
            <a:gdLst>
              <a:gd name="connsiteX0" fmla="*/ 0 w 1498600"/>
              <a:gd name="connsiteY0" fmla="*/ 0 h 1244600"/>
              <a:gd name="connsiteX1" fmla="*/ 0 w 1498600"/>
              <a:gd name="connsiteY1" fmla="*/ 423333 h 1244600"/>
              <a:gd name="connsiteX2" fmla="*/ 1498600 w 1498600"/>
              <a:gd name="connsiteY2" fmla="*/ 423333 h 1244600"/>
              <a:gd name="connsiteX3" fmla="*/ 1498600 w 1498600"/>
              <a:gd name="connsiteY3" fmla="*/ 1244600 h 1244600"/>
            </a:gdLst>
            <a:ahLst/>
            <a:cxnLst>
              <a:cxn ang="0">
                <a:pos x="connsiteX0" y="connsiteY0"/>
              </a:cxn>
              <a:cxn ang="0">
                <a:pos x="connsiteX1" y="connsiteY1"/>
              </a:cxn>
              <a:cxn ang="0">
                <a:pos x="connsiteX2" y="connsiteY2"/>
              </a:cxn>
              <a:cxn ang="0">
                <a:pos x="connsiteX3" y="connsiteY3"/>
              </a:cxn>
            </a:cxnLst>
            <a:rect l="l" t="t" r="r" b="b"/>
            <a:pathLst>
              <a:path w="1498600" h="1244600">
                <a:moveTo>
                  <a:pt x="0" y="0"/>
                </a:moveTo>
                <a:lnTo>
                  <a:pt x="0" y="423333"/>
                </a:lnTo>
                <a:lnTo>
                  <a:pt x="1498600" y="423333"/>
                </a:lnTo>
                <a:lnTo>
                  <a:pt x="1498600" y="1244600"/>
                </a:lnTo>
              </a:path>
            </a:pathLst>
          </a:cu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294" name="직사각형 293">
            <a:extLst>
              <a:ext uri="{FF2B5EF4-FFF2-40B4-BE49-F238E27FC236}">
                <a16:creationId xmlns:a16="http://schemas.microsoft.com/office/drawing/2014/main" id="{9B6DE0DF-BFFF-497F-9FD1-C58A8CA97621}"/>
              </a:ext>
            </a:extLst>
          </p:cNvPr>
          <p:cNvSpPr/>
          <p:nvPr/>
        </p:nvSpPr>
        <p:spPr>
          <a:xfrm>
            <a:off x="8500191" y="3384273"/>
            <a:ext cx="710030" cy="171015"/>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관련</a:t>
            </a:r>
          </a:p>
        </p:txBody>
      </p:sp>
      <p:sp>
        <p:nvSpPr>
          <p:cNvPr id="327" name="직사각형 326">
            <a:extLst>
              <a:ext uri="{FF2B5EF4-FFF2-40B4-BE49-F238E27FC236}">
                <a16:creationId xmlns:a16="http://schemas.microsoft.com/office/drawing/2014/main" id="{A6BC253F-D9C4-4A98-984C-D8D62D28E8E9}"/>
              </a:ext>
            </a:extLst>
          </p:cNvPr>
          <p:cNvSpPr/>
          <p:nvPr/>
        </p:nvSpPr>
        <p:spPr>
          <a:xfrm>
            <a:off x="9363869" y="3290897"/>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타절차와의 관계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164)</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28" name="직사각형 327">
            <a:extLst>
              <a:ext uri="{FF2B5EF4-FFF2-40B4-BE49-F238E27FC236}">
                <a16:creationId xmlns:a16="http://schemas.microsoft.com/office/drawing/2014/main" id="{855EA2A3-2862-42AE-AC8B-FB8E8761530B}"/>
              </a:ext>
            </a:extLst>
          </p:cNvPr>
          <p:cNvSpPr/>
          <p:nvPr/>
        </p:nvSpPr>
        <p:spPr>
          <a:xfrm>
            <a:off x="9363869" y="3720622"/>
            <a:ext cx="2333212" cy="138557"/>
          </a:xfrm>
          <a:prstGeom prst="rect">
            <a:avLst/>
          </a:prstGeom>
          <a:solidFill>
            <a:schemeClr val="accent6">
              <a:lumMod val="20000"/>
              <a:lumOff val="80000"/>
            </a:schemeClr>
          </a:solidFill>
          <a:ln w="3175">
            <a:solidFill>
              <a:schemeClr val="tx1">
                <a:lumMod val="50000"/>
                <a:lumOff val="50000"/>
              </a:schemeClr>
            </a:solidFill>
          </a:ln>
        </p:spPr>
        <p:style>
          <a:lnRef idx="2">
            <a:schemeClr val="accent1"/>
          </a:lnRef>
          <a:fillRef idx="1">
            <a:schemeClr val="lt1"/>
          </a:fillRef>
          <a:effectRef idx="0">
            <a:schemeClr val="accent1"/>
          </a:effectRef>
          <a:fontRef idx="minor">
            <a:schemeClr val="dk1"/>
          </a:fontRef>
        </p:style>
        <p:txBody>
          <a:bodyPr lIns="0" rIns="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심판비용</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165, 166)</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329" name="꺾인 연결선 244">
            <a:extLst>
              <a:ext uri="{FF2B5EF4-FFF2-40B4-BE49-F238E27FC236}">
                <a16:creationId xmlns:a16="http://schemas.microsoft.com/office/drawing/2014/main" id="{A54F89B3-B4E9-4E0A-BB23-C1DB0F7A25D8}"/>
              </a:ext>
            </a:extLst>
          </p:cNvPr>
          <p:cNvCxnSpPr>
            <a:cxnSpLocks/>
            <a:stCxn id="294" idx="3"/>
            <a:endCxn id="308" idx="1"/>
          </p:cNvCxnSpPr>
          <p:nvPr/>
        </p:nvCxnSpPr>
        <p:spPr>
          <a:xfrm>
            <a:off x="9210221" y="3469781"/>
            <a:ext cx="151225" cy="107743"/>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0" name="꺾인 연결선 245">
            <a:extLst>
              <a:ext uri="{FF2B5EF4-FFF2-40B4-BE49-F238E27FC236}">
                <a16:creationId xmlns:a16="http://schemas.microsoft.com/office/drawing/2014/main" id="{48543D6B-7C92-4D3D-B213-6D84DC780C17}"/>
              </a:ext>
            </a:extLst>
          </p:cNvPr>
          <p:cNvCxnSpPr>
            <a:cxnSpLocks/>
            <a:stCxn id="294" idx="3"/>
            <a:endCxn id="328" idx="1"/>
          </p:cNvCxnSpPr>
          <p:nvPr/>
        </p:nvCxnSpPr>
        <p:spPr>
          <a:xfrm>
            <a:off x="9210221" y="3469781"/>
            <a:ext cx="153648" cy="320120"/>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연결선: 꺾임 6">
            <a:extLst>
              <a:ext uri="{FF2B5EF4-FFF2-40B4-BE49-F238E27FC236}">
                <a16:creationId xmlns:a16="http://schemas.microsoft.com/office/drawing/2014/main" id="{B370871F-6F80-4244-8543-0634A44D09BD}"/>
              </a:ext>
            </a:extLst>
          </p:cNvPr>
          <p:cNvCxnSpPr>
            <a:stCxn id="205" idx="3"/>
            <a:endCxn id="294" idx="1"/>
          </p:cNvCxnSpPr>
          <p:nvPr/>
        </p:nvCxnSpPr>
        <p:spPr>
          <a:xfrm>
            <a:off x="8336650" y="2489931"/>
            <a:ext cx="163541" cy="97985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8" name="직사각형 287">
            <a:extLst>
              <a:ext uri="{FF2B5EF4-FFF2-40B4-BE49-F238E27FC236}">
                <a16:creationId xmlns:a16="http://schemas.microsoft.com/office/drawing/2014/main" id="{CCF75EB5-ACDA-45AD-A3D7-EAD9647556E3}"/>
              </a:ext>
            </a:extLst>
          </p:cNvPr>
          <p:cNvSpPr/>
          <p:nvPr/>
        </p:nvSpPr>
        <p:spPr>
          <a:xfrm>
            <a:off x="9358843" y="1365202"/>
            <a:ext cx="2333212" cy="288480"/>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국선대리인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전문심리위원 및 참고인</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139</a:t>
            </a:r>
            <a:r>
              <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2, 154</a:t>
            </a:r>
            <a:r>
              <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2, 154</a:t>
            </a:r>
            <a:r>
              <a:rPr kumimoji="0" lang="ko-KR" altLang="en-US" sz="9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900" b="0" i="0" u="none" strike="noStrike" kern="1200" cap="none" spc="0" normalizeH="0" baseline="0" noProof="0" dirty="0">
                <a:ln>
                  <a:noFill/>
                </a:ln>
                <a:solidFill>
                  <a:prstClr val="black"/>
                </a:solidFill>
                <a:effectLst/>
                <a:uLnTx/>
                <a:uFillTx/>
                <a:latin typeface="Frutiger LT 65 Bold"/>
                <a:ea typeface="Rix모던고딕 B"/>
                <a:cs typeface="+mn-cs"/>
              </a:rPr>
              <a:t>3)</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08" name="직사각형 307">
            <a:extLst>
              <a:ext uri="{FF2B5EF4-FFF2-40B4-BE49-F238E27FC236}">
                <a16:creationId xmlns:a16="http://schemas.microsoft.com/office/drawing/2014/main" id="{FBCE5317-4D8A-4C1C-92B6-ECD14431C289}"/>
              </a:ext>
            </a:extLst>
          </p:cNvPr>
          <p:cNvSpPr/>
          <p:nvPr/>
        </p:nvSpPr>
        <p:spPr>
          <a:xfrm>
            <a:off x="9361446" y="3486404"/>
            <a:ext cx="2330609" cy="182239"/>
          </a:xfrm>
          <a:prstGeom prst="rect">
            <a:avLst/>
          </a:prstGeom>
          <a:solidFill>
            <a:schemeClr val="accent6">
              <a:lumMod val="20000"/>
              <a:lumOff val="80000"/>
            </a:schemeClr>
          </a:solidFill>
          <a:ln w="6350">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조정위원회 회부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164</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331" name="꺾인 연결선 245">
            <a:extLst>
              <a:ext uri="{FF2B5EF4-FFF2-40B4-BE49-F238E27FC236}">
                <a16:creationId xmlns:a16="http://schemas.microsoft.com/office/drawing/2014/main" id="{8272E89B-C399-461C-82CA-028F1E621707}"/>
              </a:ext>
            </a:extLst>
          </p:cNvPr>
          <p:cNvCxnSpPr>
            <a:cxnSpLocks/>
            <a:stCxn id="294" idx="3"/>
            <a:endCxn id="327" idx="1"/>
          </p:cNvCxnSpPr>
          <p:nvPr/>
        </p:nvCxnSpPr>
        <p:spPr>
          <a:xfrm flipV="1">
            <a:off x="9210221" y="3360176"/>
            <a:ext cx="153648" cy="109605"/>
          </a:xfrm>
          <a:prstGeom prst="bentConnector3">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136645"/>
      </p:ext>
    </p:extLst>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표 6"/>
          <p:cNvGraphicFramePr>
            <a:graphicFrameLocks noGrp="1"/>
          </p:cNvGraphicFramePr>
          <p:nvPr/>
        </p:nvGraphicFramePr>
        <p:xfrm>
          <a:off x="546483" y="2458715"/>
          <a:ext cx="11041222" cy="3602345"/>
        </p:xfrm>
        <a:graphic>
          <a:graphicData uri="http://schemas.openxmlformats.org/drawingml/2006/table">
            <a:tbl>
              <a:tblPr>
                <a:tableStyleId>{8799B23B-EC83-4686-B30A-512413B5E67A}</a:tableStyleId>
              </a:tblPr>
              <a:tblGrid>
                <a:gridCol w="1363561">
                  <a:extLst>
                    <a:ext uri="{9D8B030D-6E8A-4147-A177-3AD203B41FA5}">
                      <a16:colId xmlns:a16="http://schemas.microsoft.com/office/drawing/2014/main" val="20000"/>
                    </a:ext>
                  </a:extLst>
                </a:gridCol>
                <a:gridCol w="1886460">
                  <a:extLst>
                    <a:ext uri="{9D8B030D-6E8A-4147-A177-3AD203B41FA5}">
                      <a16:colId xmlns:a16="http://schemas.microsoft.com/office/drawing/2014/main" val="20001"/>
                    </a:ext>
                  </a:extLst>
                </a:gridCol>
                <a:gridCol w="1878416">
                  <a:extLst>
                    <a:ext uri="{9D8B030D-6E8A-4147-A177-3AD203B41FA5}">
                      <a16:colId xmlns:a16="http://schemas.microsoft.com/office/drawing/2014/main" val="20002"/>
                    </a:ext>
                  </a:extLst>
                </a:gridCol>
                <a:gridCol w="1882437">
                  <a:extLst>
                    <a:ext uri="{9D8B030D-6E8A-4147-A177-3AD203B41FA5}">
                      <a16:colId xmlns:a16="http://schemas.microsoft.com/office/drawing/2014/main" val="20003"/>
                    </a:ext>
                  </a:extLst>
                </a:gridCol>
                <a:gridCol w="1709480">
                  <a:extLst>
                    <a:ext uri="{9D8B030D-6E8A-4147-A177-3AD203B41FA5}">
                      <a16:colId xmlns:a16="http://schemas.microsoft.com/office/drawing/2014/main" val="20004"/>
                    </a:ext>
                  </a:extLst>
                </a:gridCol>
                <a:gridCol w="2320868">
                  <a:extLst>
                    <a:ext uri="{9D8B030D-6E8A-4147-A177-3AD203B41FA5}">
                      <a16:colId xmlns:a16="http://schemas.microsoft.com/office/drawing/2014/main" val="20005"/>
                    </a:ext>
                  </a:extLst>
                </a:gridCol>
              </a:tblGrid>
              <a:tr h="318109">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a:ln>
                            <a:noFill/>
                          </a:ln>
                          <a:effectLst/>
                        </a:rPr>
                        <a:t>구분</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a:ln>
                            <a:noFill/>
                          </a:ln>
                          <a:effectLst/>
                        </a:rPr>
                        <a:t>단계</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a:ln>
                            <a:noFill/>
                          </a:ln>
                          <a:effectLst/>
                        </a:rPr>
                        <a:t>국내대리인</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a:ln>
                            <a:noFill/>
                          </a:ln>
                          <a:effectLst/>
                        </a:rPr>
                        <a:t>현지대리인</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err="1">
                          <a:ln>
                            <a:noFill/>
                          </a:ln>
                          <a:effectLst/>
                        </a:rPr>
                        <a:t>관납료</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a:ln>
                            <a:noFill/>
                          </a:ln>
                          <a:effectLst/>
                        </a:rPr>
                        <a:t>계</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1">
                        <a:lumMod val="20000"/>
                        <a:lumOff val="80000"/>
                      </a:schemeClr>
                    </a:solidFill>
                  </a:tcPr>
                </a:tc>
                <a:extLst>
                  <a:ext uri="{0D108BD9-81ED-4DB2-BD59-A6C34878D82A}">
                    <a16:rowId xmlns:a16="http://schemas.microsoft.com/office/drawing/2014/main" val="10000"/>
                  </a:ext>
                </a:extLst>
              </a:tr>
              <a:tr h="318109">
                <a:tc rowSpan="5">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PCT</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a:ln>
                            <a:noFill/>
                          </a:ln>
                          <a:effectLst/>
                        </a:rPr>
                        <a:t>출원단계</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200~400</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160~250</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360~650</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tc>
                <a:extLst>
                  <a:ext uri="{0D108BD9-81ED-4DB2-BD59-A6C34878D82A}">
                    <a16:rowId xmlns:a16="http://schemas.microsoft.com/office/drawing/2014/main" val="10001"/>
                  </a:ext>
                </a:extLst>
              </a:tr>
              <a:tr h="318109">
                <a:tc vMerge="1">
                  <a:txBody>
                    <a:bodyPr/>
                    <a:lstStyle/>
                    <a:p>
                      <a:pPr latinLnBrk="1"/>
                      <a:endParaRPr lang="ko-KR" altLang="en-US"/>
                    </a:p>
                  </a:txBody>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19</a:t>
                      </a:r>
                      <a:r>
                        <a:rPr kumimoji="0" lang="ko-KR" altLang="en-US" sz="1000" u="none" strike="noStrike" cap="none" normalizeH="0" baseline="0" dirty="0">
                          <a:ln>
                            <a:noFill/>
                          </a:ln>
                          <a:effectLst/>
                        </a:rPr>
                        <a:t>조 보정</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20~50</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a:ln>
                            <a:noFill/>
                          </a:ln>
                          <a:effectLst/>
                        </a:rPr>
                        <a:t>　</a:t>
                      </a:r>
                      <a:endParaRPr kumimoji="0" lang="ko-KR" altLang="en-US" sz="1000" b="0" i="0" u="none" strike="noStrike" cap="none" normalizeH="0" baseline="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a:ln>
                            <a:noFill/>
                          </a:ln>
                          <a:effectLst/>
                        </a:rPr>
                        <a:t>20~50</a:t>
                      </a:r>
                      <a:endParaRPr kumimoji="0" lang="ko-KR" altLang="en-US" sz="1000" b="0" i="0" u="none" strike="noStrike" cap="none" normalizeH="0" baseline="0">
                        <a:ln>
                          <a:noFill/>
                        </a:ln>
                        <a:solidFill>
                          <a:schemeClr val="bg1"/>
                        </a:solidFill>
                        <a:effectLst/>
                        <a:latin typeface="HY각헤드라인M" pitchFamily="18" charset="-127"/>
                        <a:ea typeface="HY각헤드라인M" pitchFamily="18" charset="-127"/>
                      </a:endParaRPr>
                    </a:p>
                  </a:txBody>
                  <a:tcPr marL="23876" marR="23876" marT="0" marB="0" anchor="ctr" horzOverflow="overflow"/>
                </a:tc>
                <a:extLst>
                  <a:ext uri="{0D108BD9-81ED-4DB2-BD59-A6C34878D82A}">
                    <a16:rowId xmlns:a16="http://schemas.microsoft.com/office/drawing/2014/main" val="10002"/>
                  </a:ext>
                </a:extLst>
              </a:tr>
              <a:tr h="376767">
                <a:tc vMerge="1">
                  <a:txBody>
                    <a:bodyPr/>
                    <a:lstStyle/>
                    <a:p>
                      <a:pPr latinLnBrk="1"/>
                      <a:endParaRPr lang="ko-KR" altLang="en-US"/>
                    </a:p>
                  </a:txBody>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a:ln>
                            <a:noFill/>
                          </a:ln>
                          <a:effectLst/>
                        </a:rPr>
                        <a:t>국제예비심사</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7~30</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34~53</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a:ln>
                            <a:noFill/>
                          </a:ln>
                          <a:effectLst/>
                        </a:rPr>
                        <a:t>41~83</a:t>
                      </a:r>
                      <a:endParaRPr kumimoji="0" lang="ko-KR" altLang="en-US" sz="1000" b="0" i="0" u="none" strike="noStrike" cap="none" normalizeH="0" baseline="0">
                        <a:ln>
                          <a:noFill/>
                        </a:ln>
                        <a:solidFill>
                          <a:schemeClr val="bg1"/>
                        </a:solidFill>
                        <a:effectLst/>
                        <a:latin typeface="HY각헤드라인M" pitchFamily="18" charset="-127"/>
                        <a:ea typeface="HY각헤드라인M" pitchFamily="18" charset="-127"/>
                      </a:endParaRPr>
                    </a:p>
                  </a:txBody>
                  <a:tcPr marL="23876" marR="23876" marT="0" marB="0" anchor="ctr" horzOverflow="overflow"/>
                </a:tc>
                <a:extLst>
                  <a:ext uri="{0D108BD9-81ED-4DB2-BD59-A6C34878D82A}">
                    <a16:rowId xmlns:a16="http://schemas.microsoft.com/office/drawing/2014/main" val="10003"/>
                  </a:ext>
                </a:extLst>
              </a:tr>
              <a:tr h="318109">
                <a:tc vMerge="1">
                  <a:txBody>
                    <a:bodyPr/>
                    <a:lstStyle/>
                    <a:p>
                      <a:pPr latinLnBrk="1"/>
                      <a:endParaRPr lang="ko-KR" altLang="en-US"/>
                    </a:p>
                  </a:txBody>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34</a:t>
                      </a:r>
                      <a:r>
                        <a:rPr kumimoji="0" lang="ko-KR" altLang="en-US" sz="1000" u="none" strike="noStrike" cap="none" normalizeH="0" baseline="0" dirty="0">
                          <a:ln>
                            <a:noFill/>
                          </a:ln>
                          <a:effectLst/>
                        </a:rPr>
                        <a:t>조 보정</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20~50</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a:ln>
                            <a:noFill/>
                          </a:ln>
                          <a:effectLst/>
                        </a:rPr>
                        <a:t>　</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20~50</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tc>
                <a:extLst>
                  <a:ext uri="{0D108BD9-81ED-4DB2-BD59-A6C34878D82A}">
                    <a16:rowId xmlns:a16="http://schemas.microsoft.com/office/drawing/2014/main" val="10004"/>
                  </a:ext>
                </a:extLst>
              </a:tr>
              <a:tr h="340353">
                <a:tc vMerge="1">
                  <a:txBody>
                    <a:bodyPr/>
                    <a:lstStyle/>
                    <a:p>
                      <a:pPr latinLnBrk="1"/>
                      <a:endParaRPr lang="ko-KR" altLang="en-US"/>
                    </a:p>
                  </a:txBody>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a:ln>
                            <a:noFill/>
                          </a:ln>
                          <a:effectLst/>
                        </a:rPr>
                        <a:t>계</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3">
                        <a:lumMod val="20000"/>
                        <a:lumOff val="80000"/>
                      </a:schemeClr>
                    </a:solidFill>
                  </a:tcPr>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247~530</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3">
                        <a:lumMod val="20000"/>
                        <a:lumOff val="80000"/>
                      </a:schemeClr>
                    </a:solidFill>
                  </a:tcPr>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3">
                        <a:lumMod val="20000"/>
                        <a:lumOff val="80000"/>
                      </a:schemeClr>
                    </a:solidFill>
                  </a:tcPr>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194~303</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3">
                        <a:lumMod val="20000"/>
                        <a:lumOff val="80000"/>
                      </a:schemeClr>
                    </a:solidFill>
                  </a:tcPr>
                </a:tc>
                <a:tc>
                  <a:txBody>
                    <a:bodyPr/>
                    <a:lstStyle/>
                    <a:p>
                      <a:pPr marL="5397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441~833</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3">
                        <a:lumMod val="20000"/>
                        <a:lumOff val="80000"/>
                      </a:schemeClr>
                    </a:solidFill>
                  </a:tcPr>
                </a:tc>
                <a:extLst>
                  <a:ext uri="{0D108BD9-81ED-4DB2-BD59-A6C34878D82A}">
                    <a16:rowId xmlns:a16="http://schemas.microsoft.com/office/drawing/2014/main" val="10005"/>
                  </a:ext>
                </a:extLst>
              </a:tr>
              <a:tr h="340353">
                <a:tc rowSpan="5">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err="1">
                          <a:ln>
                            <a:noFill/>
                          </a:ln>
                          <a:effectLst/>
                        </a:rPr>
                        <a:t>개별국</a:t>
                      </a:r>
                      <a:endParaRPr kumimoji="0" lang="en-US" altLang="ko-KR" sz="1000" u="none" strike="noStrike" cap="none" normalizeH="0" baseline="0" dirty="0">
                        <a:ln>
                          <a:noFill/>
                        </a:ln>
                        <a:effectLst/>
                      </a:endParaRPr>
                    </a:p>
                    <a:p>
                      <a:pPr marL="0"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(1</a:t>
                      </a:r>
                      <a:r>
                        <a:rPr kumimoji="0" lang="ko-KR" altLang="en-US" sz="1000" u="none" strike="noStrike" cap="none" normalizeH="0" baseline="0" dirty="0">
                          <a:ln>
                            <a:noFill/>
                          </a:ln>
                          <a:effectLst/>
                        </a:rPr>
                        <a:t>국기준</a:t>
                      </a:r>
                      <a:r>
                        <a:rPr kumimoji="0" lang="en-US" altLang="ko-KR" sz="1000" u="none" strike="noStrike" cap="none" normalizeH="0" baseline="0" dirty="0">
                          <a:ln>
                            <a:noFill/>
                          </a:ln>
                          <a:effectLst/>
                        </a:rPr>
                        <a:t>)</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err="1">
                          <a:ln>
                            <a:noFill/>
                          </a:ln>
                          <a:effectLst/>
                        </a:rPr>
                        <a:t>번역료</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200~400</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200~400</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tc>
                <a:extLst>
                  <a:ext uri="{0D108BD9-81ED-4DB2-BD59-A6C34878D82A}">
                    <a16:rowId xmlns:a16="http://schemas.microsoft.com/office/drawing/2014/main" val="10006"/>
                  </a:ext>
                </a:extLst>
              </a:tr>
              <a:tr h="318109">
                <a:tc vMerge="1">
                  <a:txBody>
                    <a:bodyPr/>
                    <a:lstStyle/>
                    <a:p>
                      <a:pPr latinLnBrk="1"/>
                      <a:endParaRPr lang="ko-KR" altLang="en-US"/>
                    </a:p>
                  </a:txBody>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a:ln>
                            <a:noFill/>
                          </a:ln>
                          <a:effectLst/>
                        </a:rPr>
                        <a:t>출원단계</a:t>
                      </a:r>
                      <a:endParaRPr kumimoji="0" lang="ko-KR" altLang="en-US" sz="1000" b="0" i="0" u="none" strike="noStrike" cap="none" normalizeH="0" baseline="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80~300</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200~800</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150~500</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430~1600</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tc>
                <a:extLst>
                  <a:ext uri="{0D108BD9-81ED-4DB2-BD59-A6C34878D82A}">
                    <a16:rowId xmlns:a16="http://schemas.microsoft.com/office/drawing/2014/main" val="10007"/>
                  </a:ext>
                </a:extLst>
              </a:tr>
              <a:tr h="318109">
                <a:tc vMerge="1">
                  <a:txBody>
                    <a:bodyPr/>
                    <a:lstStyle/>
                    <a:p>
                      <a:pPr latinLnBrk="1"/>
                      <a:endParaRPr lang="ko-KR" altLang="en-US"/>
                    </a:p>
                  </a:txBody>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a:ln>
                            <a:noFill/>
                          </a:ln>
                          <a:effectLst/>
                        </a:rPr>
                        <a:t>OA</a:t>
                      </a:r>
                      <a:endParaRPr kumimoji="0" lang="en-US" altLang="ko-KR" sz="1000" b="0" i="0" u="none" strike="noStrike" cap="none" normalizeH="0" baseline="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a:ln>
                            <a:noFill/>
                          </a:ln>
                          <a:effectLst/>
                        </a:rPr>
                        <a:t>20~150</a:t>
                      </a:r>
                      <a:endParaRPr kumimoji="0" lang="ko-KR" altLang="en-US" sz="1000" b="0" i="0" u="none" strike="noStrike" cap="none" normalizeH="0" baseline="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200~500</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a:ln>
                            <a:noFill/>
                          </a:ln>
                          <a:effectLst/>
                        </a:rPr>
                        <a:t>　</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220~650</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tc>
                <a:extLst>
                  <a:ext uri="{0D108BD9-81ED-4DB2-BD59-A6C34878D82A}">
                    <a16:rowId xmlns:a16="http://schemas.microsoft.com/office/drawing/2014/main" val="10008"/>
                  </a:ext>
                </a:extLst>
              </a:tr>
              <a:tr h="318109">
                <a:tc vMerge="1">
                  <a:txBody>
                    <a:bodyPr/>
                    <a:lstStyle/>
                    <a:p>
                      <a:pPr latinLnBrk="1"/>
                      <a:endParaRPr lang="ko-KR" altLang="en-US"/>
                    </a:p>
                  </a:txBody>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a:ln>
                            <a:noFill/>
                          </a:ln>
                          <a:effectLst/>
                        </a:rPr>
                        <a:t>등록단계</a:t>
                      </a:r>
                      <a:endParaRPr kumimoji="0" lang="ko-KR" altLang="en-US" sz="1000" b="0" i="0" u="none" strike="noStrike" cap="none" normalizeH="0" baseline="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a:ln>
                            <a:noFill/>
                          </a:ln>
                          <a:effectLst/>
                        </a:rPr>
                        <a:t>80~200</a:t>
                      </a:r>
                      <a:endParaRPr kumimoji="0" lang="ko-KR" altLang="en-US" sz="1000" b="0" i="0" u="none" strike="noStrike" cap="none" normalizeH="0" baseline="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100~500</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150~700</a:t>
                      </a:r>
                      <a:endParaRPr kumimoji="0" lang="ko-KR" altLang="en-US" sz="1000" b="0" i="0" u="none" strike="noStrike" cap="none" normalizeH="0" baseline="0" dirty="0">
                        <a:ln>
                          <a:noFill/>
                        </a:ln>
                        <a:solidFill>
                          <a:srgbClr val="000000"/>
                        </a:solidFill>
                        <a:effectLst/>
                        <a:latin typeface="HY각헤드라인M" pitchFamily="18" charset="-127"/>
                        <a:ea typeface="HY각헤드라인M" pitchFamily="18" charset="-127"/>
                      </a:endParaRPr>
                    </a:p>
                  </a:txBody>
                  <a:tcPr marL="23876" marR="23876" marT="0" marB="0" anchor="ctr" horzOverflow="overflow"/>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330~1400</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tc>
                <a:extLst>
                  <a:ext uri="{0D108BD9-81ED-4DB2-BD59-A6C34878D82A}">
                    <a16:rowId xmlns:a16="http://schemas.microsoft.com/office/drawing/2014/main" val="10009"/>
                  </a:ext>
                </a:extLst>
              </a:tr>
              <a:tr h="318109">
                <a:tc vMerge="1">
                  <a:txBody>
                    <a:bodyPr/>
                    <a:lstStyle/>
                    <a:p>
                      <a:pPr latinLnBrk="1"/>
                      <a:endParaRPr lang="ko-KR" altLang="en-US"/>
                    </a:p>
                  </a:txBody>
                  <a:tcPr/>
                </a:tc>
                <a:tc>
                  <a:txBody>
                    <a:bodyPr/>
                    <a:lstStyle/>
                    <a:p>
                      <a:pPr marL="0" marR="0" lvl="0" indent="0" algn="ctr" defTabSz="914400" rtl="0" eaLnBrk="1" fontAlgn="base" latinLnBrk="1" hangingPunct="1">
                        <a:lnSpc>
                          <a:spcPct val="160000"/>
                        </a:lnSpc>
                        <a:spcBef>
                          <a:spcPct val="0"/>
                        </a:spcBef>
                        <a:spcAft>
                          <a:spcPct val="0"/>
                        </a:spcAft>
                        <a:buClrTx/>
                        <a:buSzTx/>
                        <a:buFontTx/>
                        <a:buNone/>
                        <a:tabLst/>
                      </a:pPr>
                      <a:r>
                        <a:rPr kumimoji="0" lang="ko-KR" altLang="en-US" sz="1000" u="none" strike="noStrike" cap="none" normalizeH="0" baseline="0" dirty="0">
                          <a:ln>
                            <a:noFill/>
                          </a:ln>
                          <a:effectLst/>
                        </a:rPr>
                        <a:t>계</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4">
                        <a:lumMod val="20000"/>
                        <a:lumOff val="80000"/>
                      </a:schemeClr>
                    </a:solidFill>
                  </a:tcPr>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180~550</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4">
                        <a:lumMod val="20000"/>
                        <a:lumOff val="80000"/>
                      </a:schemeClr>
                    </a:solidFill>
                  </a:tcPr>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700~2200</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4">
                        <a:lumMod val="20000"/>
                        <a:lumOff val="80000"/>
                      </a:schemeClr>
                    </a:solidFill>
                  </a:tcPr>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300~1200</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4">
                        <a:lumMod val="20000"/>
                        <a:lumOff val="80000"/>
                      </a:schemeClr>
                    </a:solidFill>
                  </a:tcPr>
                </a:tc>
                <a:tc>
                  <a:txBody>
                    <a:bodyPr/>
                    <a:lstStyle/>
                    <a:p>
                      <a:pPr marL="34925" marR="0" lvl="0" indent="0" algn="ctr" defTabSz="914400" rtl="0" eaLnBrk="1" fontAlgn="base" latinLnBrk="1" hangingPunct="1">
                        <a:lnSpc>
                          <a:spcPct val="160000"/>
                        </a:lnSpc>
                        <a:spcBef>
                          <a:spcPct val="0"/>
                        </a:spcBef>
                        <a:spcAft>
                          <a:spcPct val="0"/>
                        </a:spcAft>
                        <a:buClrTx/>
                        <a:buSzTx/>
                        <a:buFontTx/>
                        <a:buNone/>
                        <a:tabLst/>
                      </a:pPr>
                      <a:r>
                        <a:rPr kumimoji="0" lang="en-US" altLang="ko-KR" sz="1000" u="none" strike="noStrike" cap="none" normalizeH="0" baseline="0" dirty="0">
                          <a:ln>
                            <a:noFill/>
                          </a:ln>
                          <a:effectLst/>
                        </a:rPr>
                        <a:t>1180~3950</a:t>
                      </a:r>
                      <a:endParaRPr kumimoji="0" lang="ko-KR" altLang="en-US" sz="1000" b="0" i="0" u="none" strike="noStrike" cap="none" normalizeH="0" baseline="0" dirty="0">
                        <a:ln>
                          <a:noFill/>
                        </a:ln>
                        <a:solidFill>
                          <a:schemeClr val="bg1"/>
                        </a:solidFill>
                        <a:effectLst/>
                        <a:latin typeface="HY각헤드라인M" pitchFamily="18" charset="-127"/>
                        <a:ea typeface="HY각헤드라인M" pitchFamily="18" charset="-127"/>
                      </a:endParaRPr>
                    </a:p>
                  </a:txBody>
                  <a:tcPr marL="23876" marR="23876" marT="0" marB="0" anchor="ctr" horzOverflow="overflow">
                    <a:solidFill>
                      <a:schemeClr val="accent4">
                        <a:lumMod val="20000"/>
                        <a:lumOff val="80000"/>
                      </a:schemeClr>
                    </a:solidFill>
                  </a:tcPr>
                </a:tc>
                <a:extLst>
                  <a:ext uri="{0D108BD9-81ED-4DB2-BD59-A6C34878D82A}">
                    <a16:rowId xmlns:a16="http://schemas.microsoft.com/office/drawing/2014/main" val="10010"/>
                  </a:ext>
                </a:extLst>
              </a:tr>
            </a:tbl>
          </a:graphicData>
        </a:graphic>
      </p:graphicFrame>
      <p:sp>
        <p:nvSpPr>
          <p:cNvPr id="9" name="TextBox 8"/>
          <p:cNvSpPr txBox="1"/>
          <p:nvPr/>
        </p:nvSpPr>
        <p:spPr>
          <a:xfrm>
            <a:off x="10721762" y="2197104"/>
            <a:ext cx="865943" cy="261610"/>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단위</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만원</a:t>
            </a:r>
            <a:r>
              <a:rPr kumimoji="0"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t>
            </a:r>
            <a:endParaRPr kumimoji="0"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13" name="직선 연결선 12"/>
          <p:cNvCxnSpPr/>
          <p:nvPr/>
        </p:nvCxnSpPr>
        <p:spPr>
          <a:xfrm>
            <a:off x="77875" y="150012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77875" y="976902"/>
            <a:ext cx="11936323" cy="523220"/>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한국의 경우 특허등록까지 건당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400~600</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만원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PCT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출원의 경우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400~800</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만원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개별국가의 경우 특허등록까지 건당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1200~3000</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만원의 비용이 소용되기 때문에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ROI(Return On Invest)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를 고려해야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4" name="제목 3"/>
          <p:cNvSpPr>
            <a:spLocks noGrp="1"/>
          </p:cNvSpPr>
          <p:nvPr>
            <p:ph type="title"/>
          </p:nvPr>
        </p:nvSpPr>
        <p:spPr/>
        <p:txBody>
          <a:bodyPr/>
          <a:lstStyle/>
          <a:p>
            <a:r>
              <a:rPr lang="ko-KR" altLang="en-US" dirty="0" err="1"/>
              <a:t>참고노트</a:t>
            </a:r>
            <a:endParaRPr lang="ko-KR" altLang="en-US" dirty="0"/>
          </a:p>
        </p:txBody>
      </p:sp>
      <p:sp>
        <p:nvSpPr>
          <p:cNvPr id="5" name="텍스트 개체 틀 4"/>
          <p:cNvSpPr>
            <a:spLocks noGrp="1"/>
          </p:cNvSpPr>
          <p:nvPr>
            <p:ph type="body" sz="quarter" idx="13"/>
          </p:nvPr>
        </p:nvSpPr>
        <p:spPr/>
        <p:txBody>
          <a:bodyPr/>
          <a:lstStyle/>
          <a:p>
            <a:r>
              <a:rPr lang="ko-KR" altLang="en-US" dirty="0"/>
              <a:t>왜 해외출원전략이 필요한가</a:t>
            </a:r>
            <a:r>
              <a:rPr lang="en-US" altLang="ko-KR" dirty="0"/>
              <a:t>?</a:t>
            </a:r>
            <a:endParaRPr lang="ko-KR" altLang="en-US" dirty="0"/>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541</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568874097"/>
      </p:ext>
    </p:extLst>
  </p:cSld>
  <p:clrMapOvr>
    <a:masterClrMapping/>
  </p:clrMapOvr>
  <p:transition/>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 name="직선 연결선 12"/>
          <p:cNvCxnSpPr/>
          <p:nvPr/>
        </p:nvCxnSpPr>
        <p:spPr>
          <a:xfrm>
            <a:off x="77875" y="126938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77875" y="976902"/>
            <a:ext cx="11936323" cy="307777"/>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국가별로 시장이 상이하며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시장은 고정되어 있지 않고 계속 변화되어 가기 때문에 시장을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정조준할</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수 있는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출원전략이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필요하다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4" name="제목 3"/>
          <p:cNvSpPr>
            <a:spLocks noGrp="1"/>
          </p:cNvSpPr>
          <p:nvPr>
            <p:ph type="title"/>
          </p:nvPr>
        </p:nvSpPr>
        <p:spPr/>
        <p:txBody>
          <a:bodyPr/>
          <a:lstStyle/>
          <a:p>
            <a:r>
              <a:rPr lang="ko-KR" altLang="en-US" dirty="0" err="1"/>
              <a:t>참고노트</a:t>
            </a:r>
            <a:endParaRPr lang="ko-KR" altLang="en-US" dirty="0"/>
          </a:p>
        </p:txBody>
      </p:sp>
      <p:sp>
        <p:nvSpPr>
          <p:cNvPr id="5" name="텍스트 개체 틀 4"/>
          <p:cNvSpPr>
            <a:spLocks noGrp="1"/>
          </p:cNvSpPr>
          <p:nvPr>
            <p:ph type="body" sz="quarter" idx="13"/>
          </p:nvPr>
        </p:nvSpPr>
        <p:spPr/>
        <p:txBody>
          <a:bodyPr/>
          <a:lstStyle/>
          <a:p>
            <a:r>
              <a:rPr lang="ko-KR" altLang="en-US" dirty="0"/>
              <a:t>왜 해외출원전략이 필요한가</a:t>
            </a:r>
            <a:r>
              <a:rPr lang="en-US" altLang="ko-KR" dirty="0"/>
              <a:t>?</a:t>
            </a:r>
            <a:endParaRPr lang="ko-KR" altLang="en-US" dirty="0"/>
          </a:p>
        </p:txBody>
      </p:sp>
      <p:sp>
        <p:nvSpPr>
          <p:cNvPr id="8" name="직사각형 7"/>
          <p:cNvSpPr/>
          <p:nvPr/>
        </p:nvSpPr>
        <p:spPr>
          <a:xfrm>
            <a:off x="857214" y="1795927"/>
            <a:ext cx="10477574" cy="2160240"/>
          </a:xfrm>
          <a:prstGeom prst="rect">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10" name="Text Box 25"/>
          <p:cNvSpPr txBox="1">
            <a:spLocks noChangeArrowheads="1"/>
          </p:cNvSpPr>
          <p:nvPr/>
        </p:nvSpPr>
        <p:spPr bwMode="auto">
          <a:xfrm>
            <a:off x="1047715" y="3308096"/>
            <a:ext cx="10096571" cy="500063"/>
          </a:xfrm>
          <a:prstGeom prst="rect">
            <a:avLst/>
          </a:prstGeom>
          <a:solidFill>
            <a:schemeClr val="tx1">
              <a:lumMod val="85000"/>
              <a:lumOff val="15000"/>
              <a:alpha val="79999"/>
            </a:schemeClr>
          </a:solidFill>
          <a:ln w="12700" algn="ctr">
            <a:solidFill>
              <a:schemeClr val="bg2"/>
            </a:solidFill>
            <a:miter lim="800000"/>
            <a:headEnd/>
            <a:tailEnd/>
          </a:ln>
        </p:spPr>
        <p:txBody>
          <a:bodyPr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Rix모던고딕 B"/>
                <a:ea typeface="Rix모던고딕 B"/>
                <a:cs typeface="+mn-cs"/>
              </a:rPr>
              <a:t>PCT</a:t>
            </a: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를 경유하여 미국에서 특허를 받는 경우 대략 </a:t>
            </a:r>
            <a:r>
              <a:rPr kumimoji="0" lang="en-US" altLang="ko-KR" sz="1200" b="0" i="0" u="none" strike="noStrike" kern="1200" cap="none" spc="0" normalizeH="0" baseline="0" noProof="0" dirty="0">
                <a:ln>
                  <a:noFill/>
                </a:ln>
                <a:solidFill>
                  <a:prstClr val="white"/>
                </a:solidFill>
                <a:effectLst/>
                <a:uLnTx/>
                <a:uFillTx/>
                <a:latin typeface="Rix모던고딕 B"/>
                <a:ea typeface="Rix모던고딕 B"/>
                <a:cs typeface="+mn-cs"/>
              </a:rPr>
              <a:t>5</a:t>
            </a: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년의 시간이 필요하다</a:t>
            </a:r>
            <a:r>
              <a:rPr kumimoji="0" lang="en-US" altLang="ko-KR" sz="1200" b="0" i="0" u="none" strike="noStrike" kern="1200" cap="none" spc="0" normalizeH="0" baseline="0" noProof="0" dirty="0">
                <a:ln>
                  <a:noFill/>
                </a:ln>
                <a:solidFill>
                  <a:prstClr val="white"/>
                </a:solidFill>
                <a:effectLst/>
                <a:uLnTx/>
                <a:uFillTx/>
                <a:latin typeface="Rix모던고딕 B"/>
                <a:ea typeface="Rix모던고딕 B"/>
                <a:cs typeface="+mn-cs"/>
              </a:rPr>
              <a:t>. 5</a:t>
            </a: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년 후에도 미국에서 특허에 대한 시장이 있을까</a:t>
            </a:r>
            <a:r>
              <a:rPr kumimoji="0" lang="en-US" altLang="ko-KR" sz="1200" b="0" i="0" u="none" strike="noStrike" kern="1200" cap="none" spc="0" normalizeH="0" baseline="0" noProof="0" dirty="0">
                <a:ln>
                  <a:noFill/>
                </a:ln>
                <a:solidFill>
                  <a:prstClr val="white"/>
                </a:solidFill>
                <a:effectLst/>
                <a:uLnTx/>
                <a:uFillTx/>
                <a:latin typeface="Rix모던고딕 B"/>
                <a:ea typeface="Rix모던고딕 B"/>
                <a:cs typeface="+mn-cs"/>
              </a:rPr>
              <a:t>? </a:t>
            </a:r>
          </a:p>
        </p:txBody>
      </p:sp>
      <p:sp>
        <p:nvSpPr>
          <p:cNvPr id="11" name="Rectangle 3"/>
          <p:cNvSpPr>
            <a:spLocks noChangeArrowheads="1"/>
          </p:cNvSpPr>
          <p:nvPr/>
        </p:nvSpPr>
        <p:spPr bwMode="auto">
          <a:xfrm>
            <a:off x="2250021" y="1742164"/>
            <a:ext cx="8894264" cy="345981"/>
          </a:xfrm>
          <a:prstGeom prst="rect">
            <a:avLst/>
          </a:prstGeom>
          <a:noFill/>
          <a:ln w="9525">
            <a:noFill/>
            <a:miter lim="800000"/>
            <a:headEnd/>
            <a:tailEnd/>
          </a:ln>
        </p:spPr>
        <p:txBody>
          <a:bodyPr/>
          <a:lstStyle/>
          <a:p>
            <a:pPr marL="342900" marR="0" lvl="0" indent="-342900" algn="l" defTabSz="914400" rtl="0" eaLnBrk="1" fontAlgn="auto" latinLnBrk="1" hangingPunct="1">
              <a:lnSpc>
                <a:spcPct val="100000"/>
              </a:lnSpc>
              <a:spcBef>
                <a:spcPts val="0"/>
              </a:spcBef>
              <a:spcAft>
                <a:spcPct val="30000"/>
              </a:spcAft>
              <a:buClrTx/>
              <a:buSzTx/>
              <a:buFont typeface="Wingdings" pitchFamily="2" charset="2"/>
              <a:buChar char="§"/>
              <a:tabLst/>
              <a:defRPr/>
            </a:pPr>
            <a:endParaRPr kumimoji="0" lang="en-US" altLang="ko-KR" sz="1400" b="0" i="0" u="sng" strike="noStrike" kern="1200" cap="none" spc="0" normalizeH="0" baseline="0" noProof="0" dirty="0">
              <a:ln>
                <a:noFill/>
              </a:ln>
              <a:solidFill>
                <a:srgbClr val="4D4D4D"/>
              </a:solidFill>
              <a:effectLst/>
              <a:uLnTx/>
              <a:uFillTx/>
              <a:latin typeface="Rix모던고딕 B"/>
              <a:ea typeface="Rix모던고딕 B"/>
              <a:cs typeface="+mn-cs"/>
            </a:endParaRPr>
          </a:p>
        </p:txBody>
      </p:sp>
      <p:grpSp>
        <p:nvGrpSpPr>
          <p:cNvPr id="12" name="그룹 63"/>
          <p:cNvGrpSpPr/>
          <p:nvPr/>
        </p:nvGrpSpPr>
        <p:grpSpPr>
          <a:xfrm>
            <a:off x="1428717" y="1939943"/>
            <a:ext cx="9245600" cy="1257834"/>
            <a:chOff x="1763713" y="1851411"/>
            <a:chExt cx="6934200" cy="1310118"/>
          </a:xfrm>
        </p:grpSpPr>
        <p:sp>
          <p:nvSpPr>
            <p:cNvPr id="15" name="Line 4"/>
            <p:cNvSpPr>
              <a:spLocks noChangeShapeType="1"/>
            </p:cNvSpPr>
            <p:nvPr/>
          </p:nvSpPr>
          <p:spPr bwMode="auto">
            <a:xfrm>
              <a:off x="1763713" y="2601913"/>
              <a:ext cx="6934200" cy="0"/>
            </a:xfrm>
            <a:prstGeom prst="line">
              <a:avLst/>
            </a:prstGeom>
            <a:noFill/>
            <a:ln w="9525">
              <a:solidFill>
                <a:srgbClr val="777777"/>
              </a:solidFill>
              <a:round/>
              <a:headEnd type="triangle" w="med" len="med"/>
              <a:tailEnd type="triangle" w="med" len="med"/>
            </a:ln>
          </p:spPr>
          <p:txBody>
            <a:bodyPr wrap="none" anchor="ctr" anchorCtr="1"/>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16" name="Line 5"/>
            <p:cNvSpPr>
              <a:spLocks noChangeShapeType="1"/>
            </p:cNvSpPr>
            <p:nvPr/>
          </p:nvSpPr>
          <p:spPr bwMode="auto">
            <a:xfrm>
              <a:off x="2171700" y="2552700"/>
              <a:ext cx="1588" cy="230188"/>
            </a:xfrm>
            <a:prstGeom prst="line">
              <a:avLst/>
            </a:prstGeom>
            <a:noFill/>
            <a:ln w="9525">
              <a:solidFill>
                <a:srgbClr val="777777"/>
              </a:solidFill>
              <a:round/>
              <a:headEnd/>
              <a:tailEnd/>
            </a:ln>
          </p:spPr>
          <p:txBody>
            <a:bodyPr wrap="none" anchor="ctr" anchorCtr="1"/>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0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17" name="Text Box 6"/>
            <p:cNvSpPr txBox="1">
              <a:spLocks noChangeArrowheads="1"/>
            </p:cNvSpPr>
            <p:nvPr/>
          </p:nvSpPr>
          <p:spPr bwMode="auto">
            <a:xfrm>
              <a:off x="1763713" y="2744788"/>
              <a:ext cx="792162" cy="256455"/>
            </a:xfrm>
            <a:prstGeom prst="rect">
              <a:avLst/>
            </a:prstGeom>
            <a:noFill/>
            <a:ln w="9525">
              <a:noFill/>
              <a:miter lim="800000"/>
              <a:headEnd/>
              <a:tailEnd/>
            </a:ln>
          </p:spPr>
          <p:txBody>
            <a:bodyPr anchorCtr="1">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한국출원</a:t>
              </a:r>
            </a:p>
          </p:txBody>
        </p:sp>
        <p:sp>
          <p:nvSpPr>
            <p:cNvPr id="18" name="Line 7"/>
            <p:cNvSpPr>
              <a:spLocks noChangeShapeType="1"/>
            </p:cNvSpPr>
            <p:nvPr/>
          </p:nvSpPr>
          <p:spPr bwMode="auto">
            <a:xfrm>
              <a:off x="6153150" y="2528888"/>
              <a:ext cx="1588" cy="230187"/>
            </a:xfrm>
            <a:prstGeom prst="line">
              <a:avLst/>
            </a:prstGeom>
            <a:noFill/>
            <a:ln w="9525">
              <a:solidFill>
                <a:srgbClr val="777777"/>
              </a:solidFill>
              <a:round/>
              <a:headEnd/>
              <a:tailEnd/>
            </a:ln>
          </p:spPr>
          <p:txBody>
            <a:bodyPr wrap="none" anchor="ctr" anchorCtr="1"/>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19" name="Text Box 11"/>
            <p:cNvSpPr txBox="1">
              <a:spLocks noChangeArrowheads="1"/>
            </p:cNvSpPr>
            <p:nvPr/>
          </p:nvSpPr>
          <p:spPr bwMode="auto">
            <a:xfrm>
              <a:off x="2987675" y="2744788"/>
              <a:ext cx="868363" cy="256455"/>
            </a:xfrm>
            <a:prstGeom prst="rect">
              <a:avLst/>
            </a:prstGeom>
            <a:solidFill>
              <a:srgbClr val="CCFFCC"/>
            </a:solidFill>
            <a:ln w="9525">
              <a:solidFill>
                <a:srgbClr val="777777"/>
              </a:solidFill>
              <a:miter lim="800000"/>
              <a:headEnd/>
              <a:tailEnd/>
            </a:ln>
          </p:spPr>
          <p:txBody>
            <a:bodyPr anchorCtr="1">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a:ln>
                    <a:noFill/>
                  </a:ln>
                  <a:solidFill>
                    <a:prstClr val="black"/>
                  </a:solidFill>
                  <a:effectLst/>
                  <a:uLnTx/>
                  <a:uFillTx/>
                  <a:latin typeface="Rix모던고딕 B"/>
                  <a:ea typeface="Rix모던고딕 B"/>
                  <a:cs typeface="+mn-cs"/>
                </a:rPr>
                <a:t>PCT</a:t>
              </a:r>
              <a:r>
                <a:rPr kumimoji="0" lang="ko-KR" altLang="en-US" sz="1000" b="0" i="0" u="none" strike="noStrike" kern="1200" cap="none" spc="0" normalizeH="0" baseline="0" noProof="0">
                  <a:ln>
                    <a:noFill/>
                  </a:ln>
                  <a:solidFill>
                    <a:prstClr val="black"/>
                  </a:solidFill>
                  <a:effectLst/>
                  <a:uLnTx/>
                  <a:uFillTx/>
                  <a:latin typeface="Rix모던고딕 B"/>
                  <a:ea typeface="Rix모던고딕 B"/>
                  <a:cs typeface="+mn-cs"/>
                </a:rPr>
                <a:t>출원</a:t>
              </a:r>
            </a:p>
          </p:txBody>
        </p:sp>
        <p:sp>
          <p:nvSpPr>
            <p:cNvPr id="20" name="Line 15"/>
            <p:cNvSpPr>
              <a:spLocks noChangeShapeType="1"/>
            </p:cNvSpPr>
            <p:nvPr/>
          </p:nvSpPr>
          <p:spPr bwMode="auto">
            <a:xfrm>
              <a:off x="4572000" y="2528888"/>
              <a:ext cx="1588" cy="230187"/>
            </a:xfrm>
            <a:prstGeom prst="line">
              <a:avLst/>
            </a:prstGeom>
            <a:noFill/>
            <a:ln w="9525">
              <a:solidFill>
                <a:srgbClr val="777777"/>
              </a:solidFill>
              <a:round/>
              <a:headEnd/>
              <a:tailEnd/>
            </a:ln>
          </p:spPr>
          <p:txBody>
            <a:bodyPr wrap="none" anchor="ctr" anchorCtr="1"/>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21" name="Text Box 16"/>
            <p:cNvSpPr txBox="1">
              <a:spLocks noChangeArrowheads="1"/>
            </p:cNvSpPr>
            <p:nvPr/>
          </p:nvSpPr>
          <p:spPr bwMode="auto">
            <a:xfrm>
              <a:off x="4211638" y="2744788"/>
              <a:ext cx="792162" cy="416741"/>
            </a:xfrm>
            <a:prstGeom prst="rect">
              <a:avLst/>
            </a:prstGeom>
            <a:noFill/>
            <a:ln w="9525">
              <a:noFill/>
              <a:miter lim="800000"/>
              <a:headEnd/>
              <a:tailEnd/>
            </a:ln>
          </p:spPr>
          <p:txBody>
            <a:bodyPr anchorCtr="1">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prstClr val="black"/>
                  </a:solidFill>
                  <a:effectLst/>
                  <a:uLnTx/>
                  <a:uFillTx/>
                  <a:latin typeface="Rix모던고딕 B"/>
                  <a:ea typeface="Rix모던고딕 B"/>
                  <a:cs typeface="+mn-cs"/>
                </a:rPr>
                <a:t>미국국내단계진입</a:t>
              </a:r>
            </a:p>
          </p:txBody>
        </p:sp>
        <p:sp>
          <p:nvSpPr>
            <p:cNvPr id="22" name="Line 17"/>
            <p:cNvSpPr>
              <a:spLocks noChangeShapeType="1"/>
            </p:cNvSpPr>
            <p:nvPr/>
          </p:nvSpPr>
          <p:spPr bwMode="auto">
            <a:xfrm>
              <a:off x="7234238" y="2528888"/>
              <a:ext cx="1587" cy="230187"/>
            </a:xfrm>
            <a:prstGeom prst="line">
              <a:avLst/>
            </a:prstGeom>
            <a:noFill/>
            <a:ln w="9525">
              <a:solidFill>
                <a:srgbClr val="777777"/>
              </a:solidFill>
              <a:round/>
              <a:headEnd/>
              <a:tailEnd/>
            </a:ln>
          </p:spPr>
          <p:txBody>
            <a:bodyPr wrap="none" anchor="ctr" anchorCtr="1"/>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23" name="Text Box 18"/>
            <p:cNvSpPr txBox="1">
              <a:spLocks noChangeArrowheads="1"/>
            </p:cNvSpPr>
            <p:nvPr/>
          </p:nvSpPr>
          <p:spPr bwMode="auto">
            <a:xfrm>
              <a:off x="6948488" y="2817813"/>
              <a:ext cx="609600" cy="256455"/>
            </a:xfrm>
            <a:prstGeom prst="rect">
              <a:avLst/>
            </a:prstGeom>
            <a:noFill/>
            <a:ln w="9525">
              <a:noFill/>
              <a:miter lim="800000"/>
              <a:headEnd/>
              <a:tailEnd/>
            </a:ln>
          </p:spPr>
          <p:txBody>
            <a:bodyPr anchorCtr="1">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prstClr val="black"/>
                  </a:solidFill>
                  <a:effectLst/>
                  <a:uLnTx/>
                  <a:uFillTx/>
                  <a:latin typeface="Rix모던고딕 B"/>
                  <a:ea typeface="Rix모던고딕 B"/>
                  <a:cs typeface="+mn-cs"/>
                </a:rPr>
                <a:t>등록</a:t>
              </a:r>
            </a:p>
          </p:txBody>
        </p:sp>
        <p:sp>
          <p:nvSpPr>
            <p:cNvPr id="24" name="Line 31"/>
            <p:cNvSpPr>
              <a:spLocks noChangeShapeType="1"/>
            </p:cNvSpPr>
            <p:nvPr/>
          </p:nvSpPr>
          <p:spPr bwMode="auto">
            <a:xfrm>
              <a:off x="3419475" y="2528888"/>
              <a:ext cx="0" cy="215900"/>
            </a:xfrm>
            <a:prstGeom prst="line">
              <a:avLst/>
            </a:prstGeom>
            <a:noFill/>
            <a:ln w="9525">
              <a:solidFill>
                <a:srgbClr val="777777"/>
              </a:solidFill>
              <a:round/>
              <a:headEnd/>
              <a:tailEnd/>
            </a:ln>
          </p:spPr>
          <p:txBody>
            <a:bodyPr wrap="none" anchor="ctr" anchorCtr="1"/>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25" name="Text Box 33"/>
            <p:cNvSpPr txBox="1">
              <a:spLocks noChangeArrowheads="1"/>
            </p:cNvSpPr>
            <p:nvPr/>
          </p:nvSpPr>
          <p:spPr bwMode="auto">
            <a:xfrm>
              <a:off x="5867400" y="2817813"/>
              <a:ext cx="609600" cy="256455"/>
            </a:xfrm>
            <a:prstGeom prst="rect">
              <a:avLst/>
            </a:prstGeom>
            <a:noFill/>
            <a:ln w="9525">
              <a:noFill/>
              <a:miter lim="800000"/>
              <a:headEnd/>
              <a:tailEnd/>
            </a:ln>
          </p:spPr>
          <p:txBody>
            <a:bodyPr anchorCtr="1">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a:ln>
                    <a:noFill/>
                  </a:ln>
                  <a:solidFill>
                    <a:prstClr val="black"/>
                  </a:solidFill>
                  <a:effectLst/>
                  <a:uLnTx/>
                  <a:uFillTx/>
                  <a:latin typeface="Rix모던고딕 B"/>
                  <a:ea typeface="Rix모던고딕 B"/>
                  <a:cs typeface="+mn-cs"/>
                </a:rPr>
                <a:t>OA </a:t>
              </a:r>
              <a:r>
                <a:rPr kumimoji="0" lang="ko-KR" altLang="en-US" sz="1000" b="0" i="0" u="none" strike="noStrike" kern="1200" cap="none" spc="0" normalizeH="0" baseline="0" noProof="0">
                  <a:ln>
                    <a:noFill/>
                  </a:ln>
                  <a:solidFill>
                    <a:prstClr val="black"/>
                  </a:solidFill>
                  <a:effectLst/>
                  <a:uLnTx/>
                  <a:uFillTx/>
                  <a:latin typeface="Rix모던고딕 B"/>
                  <a:ea typeface="Rix모던고딕 B"/>
                  <a:cs typeface="+mn-cs"/>
                </a:rPr>
                <a:t>등</a:t>
              </a:r>
            </a:p>
          </p:txBody>
        </p:sp>
        <p:cxnSp>
          <p:nvCxnSpPr>
            <p:cNvPr id="26" name="AutoShape 34"/>
            <p:cNvCxnSpPr>
              <a:cxnSpLocks noChangeShapeType="1"/>
              <a:stCxn id="16" idx="0"/>
              <a:endCxn id="24" idx="0"/>
            </p:cNvCxnSpPr>
            <p:nvPr/>
          </p:nvCxnSpPr>
          <p:spPr bwMode="auto">
            <a:xfrm rot="16200000">
              <a:off x="2783682" y="1916906"/>
              <a:ext cx="23812" cy="1247775"/>
            </a:xfrm>
            <a:prstGeom prst="curvedConnector3">
              <a:avLst>
                <a:gd name="adj1" fmla="val 960000"/>
              </a:avLst>
            </a:prstGeom>
            <a:noFill/>
            <a:ln w="9525" cap="rnd">
              <a:solidFill>
                <a:srgbClr val="777777"/>
              </a:solidFill>
              <a:prstDash val="sysDot"/>
              <a:round/>
              <a:headEnd/>
              <a:tailEnd/>
            </a:ln>
          </p:spPr>
        </p:cxnSp>
        <p:sp>
          <p:nvSpPr>
            <p:cNvPr id="27" name="Text Box 13"/>
            <p:cNvSpPr txBox="1">
              <a:spLocks noChangeArrowheads="1"/>
            </p:cNvSpPr>
            <p:nvPr/>
          </p:nvSpPr>
          <p:spPr bwMode="auto">
            <a:xfrm>
              <a:off x="2484438" y="2168525"/>
              <a:ext cx="647700" cy="238125"/>
            </a:xfrm>
            <a:prstGeom prst="rect">
              <a:avLst/>
            </a:prstGeom>
            <a:solidFill>
              <a:srgbClr val="FFFFFF"/>
            </a:solidFill>
            <a:ln w="9525">
              <a:solidFill>
                <a:srgbClr val="777777"/>
              </a:solidFill>
              <a:miter lim="800000"/>
              <a:headEnd/>
              <a:tailEnd/>
            </a:ln>
          </p:spPr>
          <p:txBody>
            <a:bodyPr anchorCtr="1">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a:ln>
                    <a:noFill/>
                  </a:ln>
                  <a:solidFill>
                    <a:prstClr val="black"/>
                  </a:solidFill>
                  <a:effectLst/>
                  <a:uLnTx/>
                  <a:uFillTx/>
                  <a:latin typeface="Rix모던고딕 B"/>
                  <a:ea typeface="Rix모던고딕 B"/>
                  <a:cs typeface="+mn-cs"/>
                </a:rPr>
                <a:t>1</a:t>
              </a:r>
              <a:r>
                <a:rPr kumimoji="0" lang="ko-KR" altLang="en-US" sz="900" b="0" i="0" u="none" strike="noStrike" kern="1200" cap="none" spc="0" normalizeH="0" baseline="0" noProof="0">
                  <a:ln>
                    <a:noFill/>
                  </a:ln>
                  <a:solidFill>
                    <a:prstClr val="black"/>
                  </a:solidFill>
                  <a:effectLst/>
                  <a:uLnTx/>
                  <a:uFillTx/>
                  <a:latin typeface="Rix모던고딕 B"/>
                  <a:ea typeface="Rix모던고딕 B"/>
                  <a:cs typeface="+mn-cs"/>
                </a:rPr>
                <a:t>년이내</a:t>
              </a:r>
            </a:p>
          </p:txBody>
        </p:sp>
        <p:cxnSp>
          <p:nvCxnSpPr>
            <p:cNvPr id="28" name="AutoShape 35"/>
            <p:cNvCxnSpPr>
              <a:cxnSpLocks noChangeShapeType="1"/>
              <a:stCxn id="16" idx="0"/>
              <a:endCxn id="20" idx="0"/>
            </p:cNvCxnSpPr>
            <p:nvPr/>
          </p:nvCxnSpPr>
          <p:spPr bwMode="auto">
            <a:xfrm rot="16200000">
              <a:off x="3359944" y="1340644"/>
              <a:ext cx="23812" cy="2400300"/>
            </a:xfrm>
            <a:prstGeom prst="curvedConnector3">
              <a:avLst>
                <a:gd name="adj1" fmla="val 2350779"/>
              </a:avLst>
            </a:prstGeom>
            <a:noFill/>
            <a:ln w="9525" cap="rnd">
              <a:solidFill>
                <a:srgbClr val="777777"/>
              </a:solidFill>
              <a:prstDash val="sysDot"/>
              <a:round/>
              <a:headEnd/>
              <a:tailEnd/>
            </a:ln>
          </p:spPr>
        </p:cxnSp>
        <p:sp>
          <p:nvSpPr>
            <p:cNvPr id="29" name="Text Box 36"/>
            <p:cNvSpPr txBox="1">
              <a:spLocks noChangeArrowheads="1"/>
            </p:cNvSpPr>
            <p:nvPr/>
          </p:nvSpPr>
          <p:spPr bwMode="auto">
            <a:xfrm>
              <a:off x="3059113" y="1864532"/>
              <a:ext cx="647700" cy="238125"/>
            </a:xfrm>
            <a:prstGeom prst="rect">
              <a:avLst/>
            </a:prstGeom>
            <a:solidFill>
              <a:srgbClr val="FFFFFF"/>
            </a:solidFill>
            <a:ln w="9525">
              <a:solidFill>
                <a:srgbClr val="777777"/>
              </a:solidFill>
              <a:miter lim="800000"/>
              <a:headEnd/>
              <a:tailEnd/>
            </a:ln>
          </p:spPr>
          <p:txBody>
            <a:bodyPr anchorCtr="1">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black"/>
                  </a:solidFill>
                  <a:effectLst/>
                  <a:uLnTx/>
                  <a:uFillTx/>
                  <a:latin typeface="Rix모던고딕 B"/>
                  <a:ea typeface="Rix모던고딕 B"/>
                  <a:cs typeface="+mn-cs"/>
                </a:rPr>
                <a:t>30</a:t>
              </a:r>
              <a:r>
                <a:rPr kumimoji="0" lang="ko-KR" altLang="en-US" sz="900" b="0" i="0" u="none" strike="noStrike" kern="1200" cap="none" spc="0" normalizeH="0" baseline="0" noProof="0" dirty="0">
                  <a:ln>
                    <a:noFill/>
                  </a:ln>
                  <a:solidFill>
                    <a:prstClr val="black"/>
                  </a:solidFill>
                  <a:effectLst/>
                  <a:uLnTx/>
                  <a:uFillTx/>
                  <a:latin typeface="Rix모던고딕 B"/>
                  <a:ea typeface="Rix모던고딕 B"/>
                  <a:cs typeface="+mn-cs"/>
                </a:rPr>
                <a:t>개월</a:t>
              </a:r>
            </a:p>
          </p:txBody>
        </p:sp>
        <p:cxnSp>
          <p:nvCxnSpPr>
            <p:cNvPr id="30" name="AutoShape 37"/>
            <p:cNvCxnSpPr>
              <a:cxnSpLocks noChangeShapeType="1"/>
              <a:stCxn id="20" idx="0"/>
              <a:endCxn id="18" idx="0"/>
            </p:cNvCxnSpPr>
            <p:nvPr/>
          </p:nvCxnSpPr>
          <p:spPr bwMode="auto">
            <a:xfrm rot="5400000" flipV="1">
              <a:off x="5361781" y="1739107"/>
              <a:ext cx="1587" cy="1581150"/>
            </a:xfrm>
            <a:prstGeom prst="curvedConnector3">
              <a:avLst>
                <a:gd name="adj1" fmla="val -14400005"/>
              </a:avLst>
            </a:prstGeom>
            <a:noFill/>
            <a:ln w="9525" cap="rnd">
              <a:solidFill>
                <a:srgbClr val="777777"/>
              </a:solidFill>
              <a:prstDash val="sysDot"/>
              <a:round/>
              <a:headEnd/>
              <a:tailEnd/>
            </a:ln>
          </p:spPr>
        </p:cxnSp>
        <p:sp>
          <p:nvSpPr>
            <p:cNvPr id="31" name="Text Box 38"/>
            <p:cNvSpPr txBox="1">
              <a:spLocks noChangeArrowheads="1"/>
            </p:cNvSpPr>
            <p:nvPr/>
          </p:nvSpPr>
          <p:spPr bwMode="auto">
            <a:xfrm>
              <a:off x="5003800" y="2168525"/>
              <a:ext cx="936625" cy="238125"/>
            </a:xfrm>
            <a:prstGeom prst="rect">
              <a:avLst/>
            </a:prstGeom>
            <a:solidFill>
              <a:srgbClr val="FFFFFF"/>
            </a:solidFill>
            <a:ln w="9525">
              <a:solidFill>
                <a:srgbClr val="777777"/>
              </a:solidFill>
              <a:miter lim="800000"/>
              <a:headEnd/>
              <a:tailEnd/>
            </a:ln>
          </p:spPr>
          <p:txBody>
            <a:bodyPr anchorCtr="1">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prstClr val="black"/>
                  </a:solidFill>
                  <a:effectLst/>
                  <a:uLnTx/>
                  <a:uFillTx/>
                  <a:latin typeface="Rix모던고딕 B"/>
                  <a:ea typeface="Rix모던고딕 B"/>
                  <a:cs typeface="+mn-cs"/>
                </a:rPr>
                <a:t>평균</a:t>
              </a:r>
              <a:r>
                <a:rPr kumimoji="0" lang="en-US" altLang="ko-KR" sz="900" b="0" i="0" u="none" strike="noStrike" kern="1200" cap="none" spc="0" normalizeH="0" baseline="0" noProof="0">
                  <a:ln>
                    <a:noFill/>
                  </a:ln>
                  <a:solidFill>
                    <a:prstClr val="black"/>
                  </a:solidFill>
                  <a:effectLst/>
                  <a:uLnTx/>
                  <a:uFillTx/>
                  <a:latin typeface="Rix모던고딕 B"/>
                  <a:ea typeface="Rix모던고딕 B"/>
                  <a:cs typeface="+mn-cs"/>
                </a:rPr>
                <a:t>25.6</a:t>
              </a:r>
              <a:r>
                <a:rPr kumimoji="0" lang="ko-KR" altLang="en-US" sz="900" b="0" i="0" u="none" strike="noStrike" kern="1200" cap="none" spc="0" normalizeH="0" baseline="0" noProof="0">
                  <a:ln>
                    <a:noFill/>
                  </a:ln>
                  <a:solidFill>
                    <a:prstClr val="black"/>
                  </a:solidFill>
                  <a:effectLst/>
                  <a:uLnTx/>
                  <a:uFillTx/>
                  <a:latin typeface="Rix모던고딕 B"/>
                  <a:ea typeface="Rix모던고딕 B"/>
                  <a:cs typeface="+mn-cs"/>
                </a:rPr>
                <a:t>개월</a:t>
              </a:r>
            </a:p>
          </p:txBody>
        </p:sp>
        <p:cxnSp>
          <p:nvCxnSpPr>
            <p:cNvPr id="32" name="AutoShape 39"/>
            <p:cNvCxnSpPr>
              <a:cxnSpLocks noChangeShapeType="1"/>
              <a:stCxn id="20" idx="0"/>
              <a:endCxn id="22" idx="0"/>
            </p:cNvCxnSpPr>
            <p:nvPr/>
          </p:nvCxnSpPr>
          <p:spPr bwMode="auto">
            <a:xfrm rot="5400000" flipV="1">
              <a:off x="5902325" y="1198563"/>
              <a:ext cx="1587" cy="2662238"/>
            </a:xfrm>
            <a:prstGeom prst="curvedConnector3">
              <a:avLst>
                <a:gd name="adj1" fmla="val -34130326"/>
              </a:avLst>
            </a:prstGeom>
            <a:noFill/>
            <a:ln w="9525" cap="rnd">
              <a:solidFill>
                <a:srgbClr val="777777"/>
              </a:solidFill>
              <a:prstDash val="sysDot"/>
              <a:round/>
              <a:headEnd/>
              <a:tailEnd/>
            </a:ln>
          </p:spPr>
        </p:cxnSp>
        <p:sp>
          <p:nvSpPr>
            <p:cNvPr id="33" name="Text Box 40"/>
            <p:cNvSpPr txBox="1">
              <a:spLocks noChangeArrowheads="1"/>
            </p:cNvSpPr>
            <p:nvPr/>
          </p:nvSpPr>
          <p:spPr bwMode="auto">
            <a:xfrm>
              <a:off x="5651500" y="1851411"/>
              <a:ext cx="1008063" cy="238125"/>
            </a:xfrm>
            <a:prstGeom prst="rect">
              <a:avLst/>
            </a:prstGeom>
            <a:solidFill>
              <a:srgbClr val="FFFFFF"/>
            </a:solidFill>
            <a:ln w="9525">
              <a:solidFill>
                <a:srgbClr val="777777"/>
              </a:solidFill>
              <a:miter lim="800000"/>
              <a:headEnd/>
              <a:tailEnd/>
            </a:ln>
          </p:spPr>
          <p:txBody>
            <a:bodyPr anchorCtr="1">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a:ln>
                    <a:noFill/>
                  </a:ln>
                  <a:solidFill>
                    <a:prstClr val="black"/>
                  </a:solidFill>
                  <a:effectLst/>
                  <a:uLnTx/>
                  <a:uFillTx/>
                  <a:latin typeface="Rix모던고딕 B"/>
                  <a:ea typeface="Rix모던고딕 B"/>
                  <a:cs typeface="+mn-cs"/>
                </a:rPr>
                <a:t>평균</a:t>
              </a:r>
              <a:r>
                <a:rPr kumimoji="0" lang="en-US" altLang="ko-KR" sz="900" b="0" i="0" u="none" strike="noStrike" kern="1200" cap="none" spc="0" normalizeH="0" baseline="0" noProof="0">
                  <a:ln>
                    <a:noFill/>
                  </a:ln>
                  <a:solidFill>
                    <a:prstClr val="black"/>
                  </a:solidFill>
                  <a:effectLst/>
                  <a:uLnTx/>
                  <a:uFillTx/>
                  <a:latin typeface="Rix모던고딕 B"/>
                  <a:ea typeface="Rix모던고딕 B"/>
                  <a:cs typeface="+mn-cs"/>
                </a:rPr>
                <a:t>32.2</a:t>
              </a:r>
              <a:r>
                <a:rPr kumimoji="0" lang="ko-KR" altLang="en-US" sz="900" b="0" i="0" u="none" strike="noStrike" kern="1200" cap="none" spc="0" normalizeH="0" baseline="0" noProof="0">
                  <a:ln>
                    <a:noFill/>
                  </a:ln>
                  <a:solidFill>
                    <a:prstClr val="black"/>
                  </a:solidFill>
                  <a:effectLst/>
                  <a:uLnTx/>
                  <a:uFillTx/>
                  <a:latin typeface="Rix모던고딕 B"/>
                  <a:ea typeface="Rix모던고딕 B"/>
                  <a:cs typeface="+mn-cs"/>
                </a:rPr>
                <a:t>개월</a:t>
              </a:r>
            </a:p>
          </p:txBody>
        </p:sp>
      </p:grpSp>
      <p:sp>
        <p:nvSpPr>
          <p:cNvPr id="34" name="Freeform 31"/>
          <p:cNvSpPr>
            <a:spLocks/>
          </p:cNvSpPr>
          <p:nvPr/>
        </p:nvSpPr>
        <p:spPr bwMode="auto">
          <a:xfrm rot="1038601">
            <a:off x="3695142" y="4609722"/>
            <a:ext cx="1848492" cy="670914"/>
          </a:xfrm>
          <a:custGeom>
            <a:avLst/>
            <a:gdLst>
              <a:gd name="T0" fmla="*/ 0 w 1361"/>
              <a:gd name="T1" fmla="*/ 2147483647 h 408"/>
              <a:gd name="T2" fmla="*/ 2147483647 w 1361"/>
              <a:gd name="T3" fmla="*/ 0 h 408"/>
              <a:gd name="T4" fmla="*/ 2147483647 w 1361"/>
              <a:gd name="T5" fmla="*/ 2147483647 h 408"/>
              <a:gd name="T6" fmla="*/ 0 60000 65536"/>
              <a:gd name="T7" fmla="*/ 0 60000 65536"/>
              <a:gd name="T8" fmla="*/ 0 60000 65536"/>
              <a:gd name="T9" fmla="*/ 0 w 1361"/>
              <a:gd name="T10" fmla="*/ 0 h 408"/>
              <a:gd name="T11" fmla="*/ 1361 w 1361"/>
              <a:gd name="T12" fmla="*/ 408 h 408"/>
            </a:gdLst>
            <a:ahLst/>
            <a:cxnLst>
              <a:cxn ang="T6">
                <a:pos x="T0" y="T1"/>
              </a:cxn>
              <a:cxn ang="T7">
                <a:pos x="T2" y="T3"/>
              </a:cxn>
              <a:cxn ang="T8">
                <a:pos x="T4" y="T5"/>
              </a:cxn>
            </a:cxnLst>
            <a:rect l="T9" t="T10" r="T11" b="T12"/>
            <a:pathLst>
              <a:path w="1361" h="408">
                <a:moveTo>
                  <a:pt x="0" y="408"/>
                </a:moveTo>
                <a:cubicBezTo>
                  <a:pt x="204" y="204"/>
                  <a:pt x="408" y="0"/>
                  <a:pt x="635" y="0"/>
                </a:cubicBezTo>
                <a:cubicBezTo>
                  <a:pt x="862" y="0"/>
                  <a:pt x="1233" y="340"/>
                  <a:pt x="1361" y="408"/>
                </a:cubicBezTo>
              </a:path>
            </a:pathLst>
          </a:custGeom>
          <a:noFill/>
          <a:ln w="9525">
            <a:solidFill>
              <a:schemeClr val="tx1"/>
            </a:solidFill>
            <a:prstDash val="lgDash"/>
            <a:round/>
            <a:headEnd/>
            <a:tailEnd/>
          </a:ln>
        </p:spPr>
        <p:txBody>
          <a:bodyPr wrap="none" anchor="ctr" anchorCtr="1"/>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35" name="Freeform 32"/>
          <p:cNvSpPr>
            <a:spLocks/>
          </p:cNvSpPr>
          <p:nvPr/>
        </p:nvSpPr>
        <p:spPr bwMode="auto">
          <a:xfrm rot="521027">
            <a:off x="3652302" y="4637018"/>
            <a:ext cx="5004059" cy="798903"/>
          </a:xfrm>
          <a:custGeom>
            <a:avLst/>
            <a:gdLst>
              <a:gd name="T0" fmla="*/ 0 w 1361"/>
              <a:gd name="T1" fmla="*/ 2147483647 h 408"/>
              <a:gd name="T2" fmla="*/ 2147483647 w 1361"/>
              <a:gd name="T3" fmla="*/ 0 h 408"/>
              <a:gd name="T4" fmla="*/ 2147483647 w 1361"/>
              <a:gd name="T5" fmla="*/ 2147483647 h 408"/>
              <a:gd name="T6" fmla="*/ 0 60000 65536"/>
              <a:gd name="T7" fmla="*/ 0 60000 65536"/>
              <a:gd name="T8" fmla="*/ 0 60000 65536"/>
              <a:gd name="T9" fmla="*/ 0 w 1361"/>
              <a:gd name="T10" fmla="*/ 0 h 408"/>
              <a:gd name="T11" fmla="*/ 1361 w 1361"/>
              <a:gd name="T12" fmla="*/ 408 h 408"/>
            </a:gdLst>
            <a:ahLst/>
            <a:cxnLst>
              <a:cxn ang="T6">
                <a:pos x="T0" y="T1"/>
              </a:cxn>
              <a:cxn ang="T7">
                <a:pos x="T2" y="T3"/>
              </a:cxn>
              <a:cxn ang="T8">
                <a:pos x="T4" y="T5"/>
              </a:cxn>
            </a:cxnLst>
            <a:rect l="T9" t="T10" r="T11" b="T12"/>
            <a:pathLst>
              <a:path w="1361" h="408">
                <a:moveTo>
                  <a:pt x="0" y="408"/>
                </a:moveTo>
                <a:cubicBezTo>
                  <a:pt x="204" y="204"/>
                  <a:pt x="408" y="0"/>
                  <a:pt x="635" y="0"/>
                </a:cubicBezTo>
                <a:cubicBezTo>
                  <a:pt x="862" y="0"/>
                  <a:pt x="1233" y="340"/>
                  <a:pt x="1361" y="408"/>
                </a:cubicBezTo>
              </a:path>
            </a:pathLst>
          </a:custGeom>
          <a:noFill/>
          <a:ln w="9525">
            <a:solidFill>
              <a:schemeClr val="tx1"/>
            </a:solidFill>
            <a:prstDash val="lgDash"/>
            <a:round/>
            <a:headEnd/>
            <a:tailEnd/>
          </a:ln>
        </p:spPr>
        <p:txBody>
          <a:bodyPr wrap="none" anchor="ctr" anchorCtr="1"/>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Rix모던고딕 B"/>
              <a:ea typeface="Rix모던고딕 B"/>
              <a:cs typeface="+mn-cs"/>
            </a:endParaRPr>
          </a:p>
        </p:txBody>
      </p:sp>
      <p:pic>
        <p:nvPicPr>
          <p:cNvPr id="36" name="Picture 3" descr="MCj04215420000[1]"/>
          <p:cNvPicPr>
            <a:picLocks noChangeAspect="1" noChangeArrowheads="1"/>
          </p:cNvPicPr>
          <p:nvPr/>
        </p:nvPicPr>
        <p:blipFill>
          <a:blip r:embed="rId3" cstate="print"/>
          <a:srcRect/>
          <a:stretch>
            <a:fillRect/>
          </a:stretch>
        </p:blipFill>
        <p:spPr bwMode="auto">
          <a:xfrm>
            <a:off x="2222532" y="4740445"/>
            <a:ext cx="1473135" cy="1237541"/>
          </a:xfrm>
          <a:prstGeom prst="rect">
            <a:avLst/>
          </a:prstGeom>
          <a:noFill/>
          <a:ln w="9525">
            <a:noFill/>
            <a:miter lim="800000"/>
            <a:headEnd/>
            <a:tailEnd/>
          </a:ln>
        </p:spPr>
      </p:pic>
      <p:sp>
        <p:nvSpPr>
          <p:cNvPr id="37" name="Freeform 26"/>
          <p:cNvSpPr>
            <a:spLocks/>
          </p:cNvSpPr>
          <p:nvPr/>
        </p:nvSpPr>
        <p:spPr bwMode="auto">
          <a:xfrm rot="467151">
            <a:off x="3722027" y="4743752"/>
            <a:ext cx="6184549" cy="668992"/>
          </a:xfrm>
          <a:custGeom>
            <a:avLst/>
            <a:gdLst>
              <a:gd name="T0" fmla="*/ 0 w 1361"/>
              <a:gd name="T1" fmla="*/ 2147483647 h 408"/>
              <a:gd name="T2" fmla="*/ 2147483647 w 1361"/>
              <a:gd name="T3" fmla="*/ 0 h 408"/>
              <a:gd name="T4" fmla="*/ 2147483647 w 1361"/>
              <a:gd name="T5" fmla="*/ 2147483647 h 408"/>
              <a:gd name="T6" fmla="*/ 0 60000 65536"/>
              <a:gd name="T7" fmla="*/ 0 60000 65536"/>
              <a:gd name="T8" fmla="*/ 0 60000 65536"/>
              <a:gd name="T9" fmla="*/ 0 w 1361"/>
              <a:gd name="T10" fmla="*/ 0 h 408"/>
              <a:gd name="T11" fmla="*/ 1361 w 1361"/>
              <a:gd name="T12" fmla="*/ 408 h 408"/>
            </a:gdLst>
            <a:ahLst/>
            <a:cxnLst>
              <a:cxn ang="T6">
                <a:pos x="T0" y="T1"/>
              </a:cxn>
              <a:cxn ang="T7">
                <a:pos x="T2" y="T3"/>
              </a:cxn>
              <a:cxn ang="T8">
                <a:pos x="T4" y="T5"/>
              </a:cxn>
            </a:cxnLst>
            <a:rect l="T9" t="T10" r="T11" b="T12"/>
            <a:pathLst>
              <a:path w="1361" h="408">
                <a:moveTo>
                  <a:pt x="0" y="408"/>
                </a:moveTo>
                <a:cubicBezTo>
                  <a:pt x="204" y="204"/>
                  <a:pt x="408" y="0"/>
                  <a:pt x="635" y="0"/>
                </a:cubicBezTo>
                <a:cubicBezTo>
                  <a:pt x="862" y="0"/>
                  <a:pt x="1233" y="340"/>
                  <a:pt x="1361" y="408"/>
                </a:cubicBezTo>
              </a:path>
            </a:pathLst>
          </a:custGeom>
          <a:noFill/>
          <a:ln w="9525">
            <a:solidFill>
              <a:schemeClr val="tx1"/>
            </a:solidFill>
            <a:prstDash val="lgDash"/>
            <a:round/>
            <a:headEnd/>
            <a:tailEnd/>
          </a:ln>
        </p:spPr>
        <p:txBody>
          <a:bodyPr wrap="none" anchor="ctr" anchorCtr="1"/>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Rix모던고딕 B"/>
              <a:ea typeface="Rix모던고딕 B"/>
              <a:cs typeface="+mn-cs"/>
            </a:endParaRPr>
          </a:p>
        </p:txBody>
      </p:sp>
      <p:pic>
        <p:nvPicPr>
          <p:cNvPr id="38" name="Picture 4" descr="j0283267"/>
          <p:cNvPicPr>
            <a:picLocks noChangeAspect="1" noChangeArrowheads="1" noCrop="1"/>
          </p:cNvPicPr>
          <p:nvPr/>
        </p:nvPicPr>
        <p:blipFill>
          <a:blip r:embed="rId4" cstate="print"/>
          <a:srcRect/>
          <a:stretch>
            <a:fillRect/>
          </a:stretch>
        </p:blipFill>
        <p:spPr bwMode="auto">
          <a:xfrm flipH="1">
            <a:off x="5228828" y="5217627"/>
            <a:ext cx="1026152" cy="573986"/>
          </a:xfrm>
          <a:prstGeom prst="roundRect">
            <a:avLst>
              <a:gd name="adj" fmla="val 6980"/>
            </a:avLst>
          </a:prstGeom>
          <a:noFill/>
        </p:spPr>
      </p:pic>
      <p:pic>
        <p:nvPicPr>
          <p:cNvPr id="39" name="Picture 27" descr="j0283267"/>
          <p:cNvPicPr>
            <a:picLocks noChangeAspect="1" noChangeArrowheads="1" noCrop="1"/>
          </p:cNvPicPr>
          <p:nvPr/>
        </p:nvPicPr>
        <p:blipFill>
          <a:blip r:embed="rId4" cstate="print"/>
          <a:srcRect/>
          <a:stretch>
            <a:fillRect/>
          </a:stretch>
        </p:blipFill>
        <p:spPr bwMode="auto">
          <a:xfrm flipH="1">
            <a:off x="8851017" y="5302512"/>
            <a:ext cx="1027783" cy="573986"/>
          </a:xfrm>
          <a:prstGeom prst="rect">
            <a:avLst/>
          </a:prstGeom>
          <a:noFill/>
          <a:ln w="9525">
            <a:noFill/>
            <a:miter lim="800000"/>
            <a:headEnd/>
            <a:tailEnd/>
          </a:ln>
        </p:spPr>
      </p:pic>
      <p:pic>
        <p:nvPicPr>
          <p:cNvPr id="40" name="Picture 28" descr="j0283267"/>
          <p:cNvPicPr>
            <a:picLocks noChangeAspect="1" noChangeArrowheads="1" noCrop="1"/>
          </p:cNvPicPr>
          <p:nvPr/>
        </p:nvPicPr>
        <p:blipFill>
          <a:blip r:embed="rId4" cstate="print"/>
          <a:srcRect/>
          <a:stretch>
            <a:fillRect/>
          </a:stretch>
        </p:blipFill>
        <p:spPr bwMode="auto">
          <a:xfrm flipH="1">
            <a:off x="6408810" y="5302512"/>
            <a:ext cx="1027783" cy="573986"/>
          </a:xfrm>
          <a:prstGeom prst="rect">
            <a:avLst/>
          </a:prstGeom>
          <a:noFill/>
          <a:ln w="9525">
            <a:noFill/>
            <a:miter lim="800000"/>
            <a:headEnd/>
            <a:tailEnd/>
          </a:ln>
        </p:spPr>
      </p:pic>
      <p:pic>
        <p:nvPicPr>
          <p:cNvPr id="41" name="Picture 29" descr="j0283267"/>
          <p:cNvPicPr>
            <a:picLocks noChangeAspect="1" noChangeArrowheads="1" noCrop="1"/>
          </p:cNvPicPr>
          <p:nvPr/>
        </p:nvPicPr>
        <p:blipFill>
          <a:blip r:embed="rId4" cstate="print"/>
          <a:srcRect/>
          <a:stretch>
            <a:fillRect/>
          </a:stretch>
        </p:blipFill>
        <p:spPr bwMode="auto">
          <a:xfrm flipH="1">
            <a:off x="7666620" y="5302512"/>
            <a:ext cx="1027783" cy="573986"/>
          </a:xfrm>
          <a:prstGeom prst="rect">
            <a:avLst/>
          </a:prstGeom>
          <a:noFill/>
          <a:ln w="9525">
            <a:noFill/>
            <a:miter lim="800000"/>
            <a:headEnd/>
            <a:tailEnd/>
          </a:ln>
        </p:spPr>
      </p:pic>
      <p:sp>
        <p:nvSpPr>
          <p:cNvPr id="42" name="TextBox 41"/>
          <p:cNvSpPr txBox="1"/>
          <p:nvPr/>
        </p:nvSpPr>
        <p:spPr>
          <a:xfrm>
            <a:off x="4742812" y="4897866"/>
            <a:ext cx="76815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rPr>
              <a:t>한국특허</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43" name="TextBox 42"/>
          <p:cNvSpPr txBox="1"/>
          <p:nvPr/>
        </p:nvSpPr>
        <p:spPr>
          <a:xfrm>
            <a:off x="5136842" y="5833970"/>
            <a:ext cx="814647"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한국 시장</a:t>
            </a:r>
          </a:p>
        </p:txBody>
      </p:sp>
      <p:sp>
        <p:nvSpPr>
          <p:cNvPr id="44" name="TextBox 43"/>
          <p:cNvSpPr txBox="1"/>
          <p:nvPr/>
        </p:nvSpPr>
        <p:spPr>
          <a:xfrm>
            <a:off x="6422416" y="5905978"/>
            <a:ext cx="814647"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미국 시장</a:t>
            </a:r>
          </a:p>
        </p:txBody>
      </p:sp>
      <p:sp>
        <p:nvSpPr>
          <p:cNvPr id="45" name="TextBox 44"/>
          <p:cNvSpPr txBox="1"/>
          <p:nvPr/>
        </p:nvSpPr>
        <p:spPr>
          <a:xfrm>
            <a:off x="7669972" y="5905978"/>
            <a:ext cx="814647"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중국</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시장</a:t>
            </a:r>
          </a:p>
        </p:txBody>
      </p:sp>
      <p:sp>
        <p:nvSpPr>
          <p:cNvPr id="46" name="TextBox 45"/>
          <p:cNvSpPr txBox="1"/>
          <p:nvPr/>
        </p:nvSpPr>
        <p:spPr>
          <a:xfrm>
            <a:off x="8870688" y="5905978"/>
            <a:ext cx="814647"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유럽</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시장</a:t>
            </a:r>
          </a:p>
        </p:txBody>
      </p:sp>
      <p:sp>
        <p:nvSpPr>
          <p:cNvPr id="47" name="TextBox 46"/>
          <p:cNvSpPr txBox="1"/>
          <p:nvPr/>
        </p:nvSpPr>
        <p:spPr>
          <a:xfrm>
            <a:off x="5750924" y="4897866"/>
            <a:ext cx="76815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미국특허</a:t>
            </a:r>
          </a:p>
        </p:txBody>
      </p:sp>
      <p:sp>
        <p:nvSpPr>
          <p:cNvPr id="48" name="TextBox 47"/>
          <p:cNvSpPr txBox="1"/>
          <p:nvPr/>
        </p:nvSpPr>
        <p:spPr>
          <a:xfrm>
            <a:off x="6615020" y="4897866"/>
            <a:ext cx="76815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중국특허</a:t>
            </a:r>
          </a:p>
        </p:txBody>
      </p:sp>
      <p:sp>
        <p:nvSpPr>
          <p:cNvPr id="49" name="TextBox 48"/>
          <p:cNvSpPr txBox="1"/>
          <p:nvPr/>
        </p:nvSpPr>
        <p:spPr>
          <a:xfrm>
            <a:off x="7623132" y="4897866"/>
            <a:ext cx="768159"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유럽특허</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542</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505742287"/>
      </p:ext>
    </p:extLst>
  </p:cSld>
  <p:clrMapOvr>
    <a:masterClrMapping/>
  </p:clrMapOvr>
  <p:transition/>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 name="직선 연결선 12"/>
          <p:cNvCxnSpPr/>
          <p:nvPr/>
        </p:nvCxnSpPr>
        <p:spPr>
          <a:xfrm>
            <a:off x="77875" y="126938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77875" y="976902"/>
            <a:ext cx="11936323" cy="307777"/>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특허는 항상 무효화 가능성을 내포하고 있기 때문에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1~2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건의 특허에 의해서 침해소송에서 승소하기는 어렵다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따라서 강력한 특허포트폴리오를 구축해야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4" name="제목 3"/>
          <p:cNvSpPr>
            <a:spLocks noGrp="1"/>
          </p:cNvSpPr>
          <p:nvPr>
            <p:ph type="title"/>
          </p:nvPr>
        </p:nvSpPr>
        <p:spPr/>
        <p:txBody>
          <a:bodyPr/>
          <a:lstStyle/>
          <a:p>
            <a:r>
              <a:rPr lang="ko-KR" altLang="en-US" dirty="0" err="1"/>
              <a:t>참고노트</a:t>
            </a:r>
            <a:endParaRPr lang="ko-KR" altLang="en-US" dirty="0"/>
          </a:p>
        </p:txBody>
      </p:sp>
      <p:sp>
        <p:nvSpPr>
          <p:cNvPr id="5" name="텍스트 개체 틀 4"/>
          <p:cNvSpPr>
            <a:spLocks noGrp="1"/>
          </p:cNvSpPr>
          <p:nvPr>
            <p:ph type="body" sz="quarter" idx="13"/>
          </p:nvPr>
        </p:nvSpPr>
        <p:spPr/>
        <p:txBody>
          <a:bodyPr/>
          <a:lstStyle/>
          <a:p>
            <a:r>
              <a:rPr lang="ko-KR" altLang="en-US" dirty="0"/>
              <a:t>왜 해외출원전략이 필요한가</a:t>
            </a:r>
            <a:r>
              <a:rPr lang="en-US" altLang="ko-KR" dirty="0"/>
              <a:t>?</a:t>
            </a:r>
            <a:endParaRPr lang="ko-KR" altLang="en-US" dirty="0"/>
          </a:p>
        </p:txBody>
      </p:sp>
      <p:sp>
        <p:nvSpPr>
          <p:cNvPr id="50" name="모서리가 둥근 직사각형 49"/>
          <p:cNvSpPr/>
          <p:nvPr/>
        </p:nvSpPr>
        <p:spPr bwMode="auto">
          <a:xfrm>
            <a:off x="548901" y="2492896"/>
            <a:ext cx="5048249" cy="3600400"/>
          </a:xfrm>
          <a:prstGeom prst="roundRect">
            <a:avLst/>
          </a:prstGeom>
          <a:ln>
            <a:solidFill>
              <a:schemeClr val="bg1">
                <a:lumMod val="50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lIns="90000" tIns="46800" rIns="90000" bIns="4680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0" cap="none" spc="0" normalizeH="0" baseline="0" noProof="0">
              <a:ln>
                <a:noFill/>
              </a:ln>
              <a:solidFill>
                <a:sysClr val="windowText" lastClr="000000"/>
              </a:solidFill>
              <a:effectLst/>
              <a:uLnTx/>
              <a:uFillTx/>
              <a:latin typeface="Rix모던고딕 B"/>
              <a:ea typeface="Rix모던고딕 B"/>
              <a:cs typeface="Arial" charset="0"/>
            </a:endParaRPr>
          </a:p>
        </p:txBody>
      </p:sp>
      <p:cxnSp>
        <p:nvCxnSpPr>
          <p:cNvPr id="51" name="직선 화살표 연결선 50"/>
          <p:cNvCxnSpPr/>
          <p:nvPr/>
        </p:nvCxnSpPr>
        <p:spPr bwMode="auto">
          <a:xfrm>
            <a:off x="1768100" y="5266208"/>
            <a:ext cx="3155949" cy="0"/>
          </a:xfrm>
          <a:prstGeom prst="straightConnector1">
            <a:avLst/>
          </a:prstGeom>
          <a:noFill/>
          <a:ln w="38100" cap="flat" cmpd="sng" algn="ctr">
            <a:solidFill>
              <a:srgbClr val="C0504D"/>
            </a:solidFill>
            <a:prstDash val="solid"/>
            <a:headEnd type="none" w="med" len="med"/>
            <a:tailEnd type="triangle"/>
          </a:ln>
          <a:effectLst>
            <a:outerShdw blurRad="40000" dist="23000" dir="5400000" rotWithShape="0">
              <a:srgbClr val="000000">
                <a:alpha val="35000"/>
              </a:srgbClr>
            </a:outerShdw>
          </a:effectLst>
        </p:spPr>
      </p:cxnSp>
      <p:cxnSp>
        <p:nvCxnSpPr>
          <p:cNvPr id="52" name="직선 화살표 연결선 51"/>
          <p:cNvCxnSpPr/>
          <p:nvPr/>
        </p:nvCxnSpPr>
        <p:spPr bwMode="auto">
          <a:xfrm rot="5400000" flipH="1" flipV="1">
            <a:off x="702096" y="4226926"/>
            <a:ext cx="2111375" cy="2117"/>
          </a:xfrm>
          <a:prstGeom prst="straightConnector1">
            <a:avLst/>
          </a:prstGeom>
          <a:noFill/>
          <a:ln w="38100" cap="flat" cmpd="sng" algn="ctr">
            <a:solidFill>
              <a:srgbClr val="C0504D"/>
            </a:solidFill>
            <a:prstDash val="solid"/>
            <a:headEnd type="none" w="med" len="med"/>
            <a:tailEnd type="triangle"/>
          </a:ln>
          <a:effectLst>
            <a:outerShdw blurRad="40000" dist="23000" dir="5400000" rotWithShape="0">
              <a:srgbClr val="000000">
                <a:alpha val="35000"/>
              </a:srgbClr>
            </a:outerShdw>
          </a:effectLst>
        </p:spPr>
      </p:cxnSp>
      <p:sp>
        <p:nvSpPr>
          <p:cNvPr id="53" name="TextBox 52"/>
          <p:cNvSpPr txBox="1"/>
          <p:nvPr/>
        </p:nvSpPr>
        <p:spPr>
          <a:xfrm>
            <a:off x="1502848" y="2863970"/>
            <a:ext cx="598241" cy="276999"/>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0" cap="none" spc="0" normalizeH="0" baseline="0" noProof="0" dirty="0">
                <a:ln>
                  <a:noFill/>
                </a:ln>
                <a:solidFill>
                  <a:srgbClr val="C00000"/>
                </a:solidFill>
                <a:effectLst/>
                <a:uLnTx/>
                <a:uFillTx/>
                <a:latin typeface="Rix모던고딕 B"/>
                <a:ea typeface="Rix모던고딕 B"/>
                <a:cs typeface="Arial" charset="0"/>
              </a:rPr>
              <a:t>완벽성</a:t>
            </a:r>
          </a:p>
        </p:txBody>
      </p:sp>
      <p:sp>
        <p:nvSpPr>
          <p:cNvPr id="54" name="자유형 53"/>
          <p:cNvSpPr/>
          <p:nvPr/>
        </p:nvSpPr>
        <p:spPr bwMode="auto">
          <a:xfrm>
            <a:off x="1799850" y="3789040"/>
            <a:ext cx="3045884" cy="1459706"/>
          </a:xfrm>
          <a:custGeom>
            <a:avLst/>
            <a:gdLst>
              <a:gd name="connsiteX0" fmla="*/ 0 w 3585029"/>
              <a:gd name="connsiteY0" fmla="*/ 2322286 h 2322286"/>
              <a:gd name="connsiteX1" fmla="*/ 1509486 w 3585029"/>
              <a:gd name="connsiteY1" fmla="*/ 435428 h 2322286"/>
              <a:gd name="connsiteX2" fmla="*/ 3585029 w 3585029"/>
              <a:gd name="connsiteY2" fmla="*/ 0 h 2322286"/>
            </a:gdLst>
            <a:ahLst/>
            <a:cxnLst>
              <a:cxn ang="0">
                <a:pos x="connsiteX0" y="connsiteY0"/>
              </a:cxn>
              <a:cxn ang="0">
                <a:pos x="connsiteX1" y="connsiteY1"/>
              </a:cxn>
              <a:cxn ang="0">
                <a:pos x="connsiteX2" y="connsiteY2"/>
              </a:cxn>
            </a:cxnLst>
            <a:rect l="l" t="t" r="r" b="b"/>
            <a:pathLst>
              <a:path w="3585029" h="2322286">
                <a:moveTo>
                  <a:pt x="0" y="2322286"/>
                </a:moveTo>
                <a:cubicBezTo>
                  <a:pt x="455990" y="1572381"/>
                  <a:pt x="911981" y="822476"/>
                  <a:pt x="1509486" y="435428"/>
                </a:cubicBezTo>
                <a:cubicBezTo>
                  <a:pt x="2106991" y="48380"/>
                  <a:pt x="2846010" y="24190"/>
                  <a:pt x="3585029" y="0"/>
                </a:cubicBezTo>
              </a:path>
            </a:pathLst>
          </a:custGeom>
          <a:noFill/>
          <a:ln w="76200" cap="flat" cmpd="sng" algn="ctr">
            <a:solidFill>
              <a:srgbClr val="4BACC6">
                <a:lumMod val="50000"/>
              </a:srgbClr>
            </a:solidFill>
            <a:prstDash val="solid"/>
            <a:headEnd type="none" w="med" len="med"/>
            <a:tailEnd type="none"/>
          </a:ln>
          <a:effectLst>
            <a:outerShdw blurRad="40000" dist="23000" dir="5400000" rotWithShape="0">
              <a:srgbClr val="000000">
                <a:alpha val="35000"/>
              </a:srgb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0" cap="none" spc="0" normalizeH="0" baseline="0" noProof="0">
              <a:ln>
                <a:noFill/>
              </a:ln>
              <a:solidFill>
                <a:sysClr val="windowText" lastClr="000000"/>
              </a:solidFill>
              <a:effectLst/>
              <a:uLnTx/>
              <a:uFillTx/>
              <a:latin typeface="Rix모던고딕 B"/>
              <a:ea typeface="Rix모던고딕 B"/>
              <a:cs typeface="+mn-cs"/>
            </a:endParaRPr>
          </a:p>
        </p:txBody>
      </p:sp>
      <p:cxnSp>
        <p:nvCxnSpPr>
          <p:cNvPr id="55" name="직선 연결선 54"/>
          <p:cNvCxnSpPr/>
          <p:nvPr/>
        </p:nvCxnSpPr>
        <p:spPr bwMode="auto">
          <a:xfrm>
            <a:off x="1768101" y="3443758"/>
            <a:ext cx="3094567" cy="0"/>
          </a:xfrm>
          <a:prstGeom prst="line">
            <a:avLst/>
          </a:prstGeom>
          <a:noFill/>
          <a:ln w="19050" cap="flat" cmpd="sng" algn="ctr">
            <a:solidFill>
              <a:sysClr val="windowText" lastClr="000000"/>
            </a:solidFill>
            <a:prstDash val="sysDot"/>
            <a:headEnd type="none" w="med" len="med"/>
            <a:tailEnd type="none"/>
          </a:ln>
          <a:effectLst>
            <a:outerShdw blurRad="40000" dist="23000" dir="5400000" rotWithShape="0">
              <a:srgbClr val="000000">
                <a:alpha val="35000"/>
              </a:srgbClr>
            </a:outerShdw>
          </a:effectLst>
        </p:spPr>
      </p:cxnSp>
      <p:sp>
        <p:nvSpPr>
          <p:cNvPr id="56" name="TextBox 55"/>
          <p:cNvSpPr txBox="1"/>
          <p:nvPr/>
        </p:nvSpPr>
        <p:spPr>
          <a:xfrm>
            <a:off x="1111170" y="3285008"/>
            <a:ext cx="551753" cy="253916"/>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sysClr val="windowText" lastClr="000000"/>
                </a:solidFill>
                <a:effectLst/>
                <a:uLnTx/>
                <a:uFillTx/>
                <a:latin typeface="Rix모던고딕 B"/>
                <a:ea typeface="Rix모던고딕 B"/>
                <a:cs typeface="Arial" charset="0"/>
              </a:rPr>
              <a:t>100%</a:t>
            </a:r>
            <a:endParaRPr kumimoji="0" lang="ko-KR" altLang="en-US" sz="1050" b="0" i="0" u="none" strike="noStrike" kern="0" cap="none" spc="0" normalizeH="0" baseline="0" noProof="0" dirty="0">
              <a:ln>
                <a:noFill/>
              </a:ln>
              <a:solidFill>
                <a:sysClr val="windowText" lastClr="000000"/>
              </a:solidFill>
              <a:effectLst/>
              <a:uLnTx/>
              <a:uFillTx/>
              <a:latin typeface="Rix모던고딕 B"/>
              <a:ea typeface="Rix모던고딕 B"/>
              <a:cs typeface="Arial" charset="0"/>
            </a:endParaRPr>
          </a:p>
        </p:txBody>
      </p:sp>
      <p:sp>
        <p:nvSpPr>
          <p:cNvPr id="57" name="TextBox 56"/>
          <p:cNvSpPr txBox="1"/>
          <p:nvPr/>
        </p:nvSpPr>
        <p:spPr>
          <a:xfrm>
            <a:off x="828365" y="4002558"/>
            <a:ext cx="708848" cy="253916"/>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solidFill>
                  <a:sysClr val="windowText" lastClr="000000"/>
                </a:solidFill>
                <a:effectLst/>
                <a:uLnTx/>
                <a:uFillTx/>
                <a:latin typeface="Rix모던고딕 B"/>
                <a:ea typeface="Rix모던고딕 B"/>
                <a:cs typeface="Arial" charset="0"/>
              </a:rPr>
              <a:t>60~70%</a:t>
            </a:r>
            <a:endParaRPr kumimoji="0" lang="ko-KR" altLang="en-US" sz="1050" b="0" i="0" u="none" strike="noStrike" kern="0" cap="none" spc="0" normalizeH="0" baseline="0" noProof="0" dirty="0">
              <a:ln>
                <a:noFill/>
              </a:ln>
              <a:solidFill>
                <a:sysClr val="windowText" lastClr="000000"/>
              </a:solidFill>
              <a:effectLst/>
              <a:uLnTx/>
              <a:uFillTx/>
              <a:latin typeface="Rix모던고딕 B"/>
              <a:ea typeface="Rix모던고딕 B"/>
              <a:cs typeface="Arial" charset="0"/>
            </a:endParaRPr>
          </a:p>
        </p:txBody>
      </p:sp>
      <p:cxnSp>
        <p:nvCxnSpPr>
          <p:cNvPr id="58" name="직선 연결선 57"/>
          <p:cNvCxnSpPr/>
          <p:nvPr/>
        </p:nvCxnSpPr>
        <p:spPr bwMode="auto">
          <a:xfrm>
            <a:off x="1780801" y="4135908"/>
            <a:ext cx="1058333" cy="7938"/>
          </a:xfrm>
          <a:prstGeom prst="line">
            <a:avLst/>
          </a:prstGeom>
          <a:noFill/>
          <a:ln w="19050" cap="flat" cmpd="sng" algn="ctr">
            <a:solidFill>
              <a:sysClr val="windowText" lastClr="000000"/>
            </a:solidFill>
            <a:prstDash val="sysDot"/>
            <a:headEnd type="none" w="med" len="med"/>
            <a:tailEnd type="none"/>
          </a:ln>
          <a:effectLst>
            <a:outerShdw blurRad="40000" dist="23000" dir="5400000" rotWithShape="0">
              <a:srgbClr val="000000">
                <a:alpha val="35000"/>
              </a:srgbClr>
            </a:outerShdw>
          </a:effectLst>
        </p:spPr>
      </p:cxnSp>
      <p:cxnSp>
        <p:nvCxnSpPr>
          <p:cNvPr id="59" name="직선 연결선 58"/>
          <p:cNvCxnSpPr/>
          <p:nvPr/>
        </p:nvCxnSpPr>
        <p:spPr bwMode="auto">
          <a:xfrm rot="16200000" flipH="1">
            <a:off x="2294357" y="4737307"/>
            <a:ext cx="1081087" cy="8467"/>
          </a:xfrm>
          <a:prstGeom prst="line">
            <a:avLst/>
          </a:prstGeom>
          <a:noFill/>
          <a:ln w="19050" cap="flat" cmpd="sng" algn="ctr">
            <a:solidFill>
              <a:sysClr val="windowText" lastClr="000000"/>
            </a:solidFill>
            <a:prstDash val="sysDot"/>
            <a:headEnd type="none" w="med" len="med"/>
            <a:tailEnd type="none"/>
          </a:ln>
          <a:effectLst>
            <a:outerShdw blurRad="40000" dist="23000" dir="5400000" rotWithShape="0">
              <a:srgbClr val="000000">
                <a:alpha val="35000"/>
              </a:srgbClr>
            </a:outerShdw>
          </a:effectLst>
        </p:spPr>
      </p:cxnSp>
      <p:sp>
        <p:nvSpPr>
          <p:cNvPr id="60" name="TextBox 59"/>
          <p:cNvSpPr txBox="1"/>
          <p:nvPr/>
        </p:nvSpPr>
        <p:spPr>
          <a:xfrm>
            <a:off x="4477312" y="5378922"/>
            <a:ext cx="813043" cy="276999"/>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200" b="0" i="0" u="none" strike="noStrike" kern="0" cap="none" spc="0" normalizeH="0" baseline="0" noProof="0">
                <a:ln>
                  <a:noFill/>
                </a:ln>
                <a:solidFill>
                  <a:srgbClr val="C00000"/>
                </a:solidFill>
                <a:effectLst/>
                <a:uLnTx/>
                <a:uFillTx/>
                <a:latin typeface="Rix모던고딕 B"/>
                <a:ea typeface="Rix모던고딕 B"/>
                <a:cs typeface="Arial" charset="0"/>
              </a:rPr>
              <a:t>비용</a:t>
            </a:r>
            <a:r>
              <a:rPr kumimoji="0" lang="en-US" altLang="ko-KR" sz="1200" b="0" i="0" u="none" strike="noStrike" kern="0" cap="none" spc="0" normalizeH="0" baseline="0" noProof="0" dirty="0">
                <a:ln>
                  <a:noFill/>
                </a:ln>
                <a:solidFill>
                  <a:srgbClr val="C00000"/>
                </a:solidFill>
                <a:effectLst/>
                <a:uLnTx/>
                <a:uFillTx/>
                <a:latin typeface="Rix모던고딕 B"/>
                <a:ea typeface="Rix모던고딕 B"/>
                <a:cs typeface="Arial" charset="0"/>
              </a:rPr>
              <a:t>/</a:t>
            </a:r>
            <a:r>
              <a:rPr kumimoji="0" lang="ko-KR" altLang="en-US" sz="1200" b="0" i="0" u="none" strike="noStrike" kern="0" cap="none" spc="0" normalizeH="0" baseline="0" noProof="0" dirty="0">
                <a:ln>
                  <a:noFill/>
                </a:ln>
                <a:solidFill>
                  <a:srgbClr val="C00000"/>
                </a:solidFill>
                <a:effectLst/>
                <a:uLnTx/>
                <a:uFillTx/>
                <a:latin typeface="Rix모던고딕 B"/>
                <a:ea typeface="Rix모던고딕 B"/>
                <a:cs typeface="Arial" charset="0"/>
              </a:rPr>
              <a:t>시간</a:t>
            </a:r>
          </a:p>
        </p:txBody>
      </p:sp>
      <p:sp>
        <p:nvSpPr>
          <p:cNvPr id="61" name="곱셈 기호 60"/>
          <p:cNvSpPr/>
          <p:nvPr/>
        </p:nvSpPr>
        <p:spPr bwMode="auto">
          <a:xfrm>
            <a:off x="2492001" y="3864446"/>
            <a:ext cx="666749" cy="571500"/>
          </a:xfrm>
          <a:prstGeom prst="mathMultiply">
            <a:avLst/>
          </a:prstGeom>
          <a:solidFill>
            <a:srgbClr val="C0504D">
              <a:lumMod val="75000"/>
            </a:srgbClr>
          </a:solidFill>
          <a:ln w="28575" cap="flat" cmpd="sng" algn="ctr">
            <a:solidFill>
              <a:srgbClr val="EEECE1"/>
            </a:solidFill>
            <a:prstDash val="solid"/>
            <a:round/>
            <a:headEnd type="none" w="med" len="med"/>
            <a:tailEnd type="none" w="med" len="med"/>
          </a:ln>
          <a:effectLst/>
        </p:spPr>
        <p:txBody>
          <a:bodyPr lIns="90000" tIns="46800" rIns="90000" bIns="4680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0" cap="none" spc="0" normalizeH="0" baseline="0" noProof="0">
              <a:ln>
                <a:noFill/>
              </a:ln>
              <a:solidFill>
                <a:sysClr val="windowText" lastClr="000000"/>
              </a:solidFill>
              <a:effectLst/>
              <a:uLnTx/>
              <a:uFillTx/>
              <a:latin typeface="Rix모던고딕 B"/>
              <a:ea typeface="Rix모던고딕 B"/>
              <a:cs typeface="Arial" charset="0"/>
            </a:endParaRPr>
          </a:p>
        </p:txBody>
      </p:sp>
      <p:sp>
        <p:nvSpPr>
          <p:cNvPr id="62" name="AutoShape 300"/>
          <p:cNvSpPr>
            <a:spLocks noChangeArrowheads="1"/>
          </p:cNvSpPr>
          <p:nvPr/>
        </p:nvSpPr>
        <p:spPr bwMode="gray">
          <a:xfrm>
            <a:off x="1220975" y="2276872"/>
            <a:ext cx="2466637" cy="360040"/>
          </a:xfrm>
          <a:prstGeom prst="roundRect">
            <a:avLst>
              <a:gd name="adj" fmla="val 50000"/>
            </a:avLst>
          </a:prstGeom>
          <a:solidFill>
            <a:schemeClr val="accent4"/>
          </a:solidFill>
          <a:ln>
            <a:solidFill>
              <a:schemeClr val="bg1">
                <a:lumMod val="50000"/>
              </a:schemeClr>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Rix모던고딕 B"/>
                <a:ea typeface="Rix모던고딕 B"/>
                <a:cs typeface="+mn-cs"/>
              </a:rPr>
              <a:t>특허의 완벽성</a:t>
            </a:r>
          </a:p>
        </p:txBody>
      </p:sp>
      <p:graphicFrame>
        <p:nvGraphicFramePr>
          <p:cNvPr id="63" name="표 62"/>
          <p:cNvGraphicFramePr>
            <a:graphicFrameLocks noGrp="1"/>
          </p:cNvGraphicFramePr>
          <p:nvPr/>
        </p:nvGraphicFramePr>
        <p:xfrm>
          <a:off x="6096000" y="2778034"/>
          <a:ext cx="5376598" cy="3243254"/>
        </p:xfrm>
        <a:graphic>
          <a:graphicData uri="http://schemas.openxmlformats.org/drawingml/2006/table">
            <a:tbl>
              <a:tblPr>
                <a:tableStyleId>{8799B23B-EC83-4686-B30A-512413B5E67A}</a:tableStyleId>
              </a:tblPr>
              <a:tblGrid>
                <a:gridCol w="2688299">
                  <a:extLst>
                    <a:ext uri="{9D8B030D-6E8A-4147-A177-3AD203B41FA5}">
                      <a16:colId xmlns:a16="http://schemas.microsoft.com/office/drawing/2014/main" val="20000"/>
                    </a:ext>
                  </a:extLst>
                </a:gridCol>
                <a:gridCol w="2688299">
                  <a:extLst>
                    <a:ext uri="{9D8B030D-6E8A-4147-A177-3AD203B41FA5}">
                      <a16:colId xmlns:a16="http://schemas.microsoft.com/office/drawing/2014/main" val="20001"/>
                    </a:ext>
                  </a:extLst>
                </a:gridCol>
              </a:tblGrid>
              <a:tr h="520171">
                <a:tc>
                  <a:txBody>
                    <a:bodyPr/>
                    <a:lstStyle/>
                    <a:p>
                      <a:pPr algn="ctr" latinLnBrk="1"/>
                      <a:r>
                        <a:rPr lang="ko-KR" altLang="en-US" sz="1600" dirty="0" err="1"/>
                        <a:t>앰피맨닷컴</a:t>
                      </a:r>
                      <a:endParaRPr lang="ko-KR" altLang="en-US" sz="1600" b="0" dirty="0"/>
                    </a:p>
                  </a:txBody>
                  <a:tcPr marL="121920" marR="121920" anchor="ctr">
                    <a:solidFill>
                      <a:schemeClr val="accent1">
                        <a:lumMod val="20000"/>
                        <a:lumOff val="80000"/>
                      </a:schemeClr>
                    </a:solidFill>
                  </a:tcPr>
                </a:tc>
                <a:tc>
                  <a:txBody>
                    <a:bodyPr/>
                    <a:lstStyle/>
                    <a:p>
                      <a:pPr algn="ctr" latinLnBrk="1"/>
                      <a:r>
                        <a:rPr lang="ko-KR" altLang="en-US" sz="1600" dirty="0" err="1"/>
                        <a:t>프라운호프</a:t>
                      </a:r>
                      <a:endParaRPr lang="ko-KR" altLang="en-US" sz="1600" b="0" dirty="0"/>
                    </a:p>
                  </a:txBody>
                  <a:tcPr marL="121920" marR="121920" anchor="ctr">
                    <a:solidFill>
                      <a:schemeClr val="accent1">
                        <a:lumMod val="20000"/>
                        <a:lumOff val="80000"/>
                      </a:schemeClr>
                    </a:solidFill>
                  </a:tcPr>
                </a:tc>
                <a:extLst>
                  <a:ext uri="{0D108BD9-81ED-4DB2-BD59-A6C34878D82A}">
                    <a16:rowId xmlns:a16="http://schemas.microsoft.com/office/drawing/2014/main" val="10000"/>
                  </a:ext>
                </a:extLst>
              </a:tr>
              <a:tr h="2723083">
                <a:tc>
                  <a:txBody>
                    <a:bodyPr/>
                    <a:lstStyle/>
                    <a:p>
                      <a:pPr marL="85725" lvl="1" indent="-85725">
                        <a:buFont typeface="Wingdings" pitchFamily="2" charset="2"/>
                        <a:buChar char="§"/>
                        <a:tabLst>
                          <a:tab pos="85725" algn="l"/>
                        </a:tabLst>
                      </a:pPr>
                      <a:endParaRPr lang="en-US" altLang="ko-KR" sz="1200" dirty="0"/>
                    </a:p>
                    <a:p>
                      <a:pPr marL="85725" lvl="1" indent="-85725">
                        <a:buFont typeface="Wingdings" pitchFamily="2" charset="2"/>
                        <a:buChar char="§"/>
                        <a:tabLst>
                          <a:tab pos="85725" algn="l"/>
                        </a:tabLst>
                      </a:pPr>
                      <a:r>
                        <a:rPr lang="en-US" altLang="ko-KR" sz="1200" dirty="0"/>
                        <a:t>MP3</a:t>
                      </a:r>
                      <a:r>
                        <a:rPr lang="ko-KR" altLang="en-US" sz="1200" dirty="0"/>
                        <a:t>에 활용되는 파일 압축기술은 </a:t>
                      </a:r>
                      <a:r>
                        <a:rPr lang="en-US" altLang="ko-KR" sz="1200" dirty="0"/>
                        <a:t>80</a:t>
                      </a:r>
                      <a:r>
                        <a:rPr lang="ko-KR" altLang="en-US" sz="1200" dirty="0"/>
                        <a:t>년대 초 독일의 </a:t>
                      </a:r>
                      <a:r>
                        <a:rPr lang="ko-KR" altLang="en-US" sz="1200" dirty="0" err="1"/>
                        <a:t>프라운호프가</a:t>
                      </a:r>
                      <a:r>
                        <a:rPr lang="ko-KR" altLang="en-US" sz="1200" dirty="0"/>
                        <a:t> 개발했으나</a:t>
                      </a:r>
                      <a:r>
                        <a:rPr lang="en-US" altLang="ko-KR" sz="1200" dirty="0"/>
                        <a:t>, </a:t>
                      </a:r>
                      <a:r>
                        <a:rPr lang="ko-KR" altLang="en-US" sz="1200" dirty="0"/>
                        <a:t>이를 오디오에 활용한 것은 한국 기업이 최초</a:t>
                      </a:r>
                      <a:endParaRPr lang="en-US" altLang="ko-KR" sz="1200" dirty="0"/>
                    </a:p>
                    <a:p>
                      <a:pPr marL="0" lvl="1" indent="0">
                        <a:buFont typeface="Wingdings" pitchFamily="2" charset="2"/>
                        <a:buNone/>
                        <a:tabLst>
                          <a:tab pos="85725" algn="l"/>
                        </a:tabLst>
                      </a:pPr>
                      <a:r>
                        <a:rPr lang="ko-KR" altLang="en-US" sz="1200" dirty="0"/>
                        <a:t> </a:t>
                      </a:r>
                      <a:endParaRPr lang="en-US" altLang="ko-KR" sz="1200" dirty="0"/>
                    </a:p>
                    <a:p>
                      <a:pPr marL="85725" lvl="1" indent="-85725">
                        <a:buFont typeface="Wingdings" pitchFamily="2" charset="2"/>
                        <a:buChar char="§"/>
                        <a:tabLst>
                          <a:tab pos="85725" algn="l"/>
                        </a:tabLst>
                      </a:pPr>
                      <a:r>
                        <a:rPr lang="ko-KR" altLang="en-US" sz="1200" dirty="0"/>
                        <a:t>관련 특허 </a:t>
                      </a:r>
                      <a:r>
                        <a:rPr lang="en-US" altLang="ko-KR" sz="1200" dirty="0"/>
                        <a:t>2</a:t>
                      </a:r>
                      <a:r>
                        <a:rPr lang="ko-KR" altLang="en-US" sz="1200" dirty="0"/>
                        <a:t>건 확보</a:t>
                      </a:r>
                      <a:endParaRPr lang="en-US" altLang="ko-KR" sz="1200" dirty="0"/>
                    </a:p>
                    <a:p>
                      <a:pPr marL="85725" lvl="1" indent="-85725">
                        <a:buFont typeface="Wingdings" pitchFamily="2" charset="2"/>
                        <a:buChar char="§"/>
                        <a:tabLst>
                          <a:tab pos="85725" algn="l"/>
                        </a:tabLst>
                      </a:pPr>
                      <a:endParaRPr lang="en-US" altLang="ko-KR" sz="1200" dirty="0"/>
                    </a:p>
                    <a:p>
                      <a:pPr marL="85725" lvl="1" indent="-85725">
                        <a:buFont typeface="Wingdings" pitchFamily="2" charset="2"/>
                        <a:buChar char="§"/>
                        <a:tabLst>
                          <a:tab pos="85725" algn="l"/>
                        </a:tabLst>
                      </a:pPr>
                      <a:r>
                        <a:rPr lang="ko-KR" altLang="en-US" sz="1200" dirty="0"/>
                        <a:t>후발 주자가 특허 무효 소송으로 대응하며 로열티 지불 거부</a:t>
                      </a:r>
                    </a:p>
                  </a:txBody>
                  <a:tcPr marL="121920" marR="121920"/>
                </a:tc>
                <a:tc>
                  <a:txBody>
                    <a:bodyPr/>
                    <a:lstStyle/>
                    <a:p>
                      <a:pPr marL="85725" lvl="1" indent="-85725">
                        <a:buFont typeface="Wingdings" pitchFamily="2" charset="2"/>
                        <a:buChar char="§"/>
                      </a:pPr>
                      <a:endParaRPr lang="en-US" altLang="ko-KR" sz="1200" dirty="0"/>
                    </a:p>
                    <a:p>
                      <a:pPr marL="85725" lvl="1" indent="-85725">
                        <a:buFont typeface="Wingdings" pitchFamily="2" charset="2"/>
                        <a:buChar char="§"/>
                      </a:pPr>
                      <a:r>
                        <a:rPr lang="en-US" altLang="ko-KR" sz="1200" dirty="0"/>
                        <a:t>MP3</a:t>
                      </a:r>
                      <a:r>
                        <a:rPr lang="ko-KR" altLang="en-US" sz="1200" dirty="0"/>
                        <a:t>에 활용되는 파일 압축기술 개발</a:t>
                      </a:r>
                      <a:endParaRPr lang="en-US" altLang="ko-KR" sz="1200" dirty="0"/>
                    </a:p>
                    <a:p>
                      <a:pPr marL="85725" lvl="1" indent="-85725">
                        <a:buFont typeface="Wingdings" pitchFamily="2" charset="2"/>
                        <a:buChar char="§"/>
                      </a:pPr>
                      <a:endParaRPr lang="en-US" altLang="ko-KR" sz="1200" dirty="0"/>
                    </a:p>
                    <a:p>
                      <a:pPr marL="85725" lvl="1" indent="-85725">
                        <a:buFont typeface="Wingdings" pitchFamily="2" charset="2"/>
                        <a:buChar char="§"/>
                      </a:pPr>
                      <a:r>
                        <a:rPr lang="ko-KR" altLang="en-US" sz="1200" dirty="0"/>
                        <a:t>관련 특허</a:t>
                      </a:r>
                      <a:r>
                        <a:rPr lang="en-US" altLang="ko-KR" sz="1200" dirty="0"/>
                        <a:t> 40</a:t>
                      </a:r>
                      <a:r>
                        <a:rPr lang="ko-KR" altLang="en-US" sz="1200" dirty="0" err="1"/>
                        <a:t>여개</a:t>
                      </a:r>
                      <a:r>
                        <a:rPr lang="ko-KR" altLang="en-US" sz="1200" dirty="0"/>
                        <a:t> 특허 확보</a:t>
                      </a:r>
                      <a:endParaRPr lang="en-US" altLang="ko-KR" sz="1200" dirty="0"/>
                    </a:p>
                    <a:p>
                      <a:pPr marL="85725" lvl="1" indent="-85725">
                        <a:buFont typeface="Wingdings" pitchFamily="2" charset="2"/>
                        <a:buChar char="§"/>
                      </a:pPr>
                      <a:endParaRPr lang="en-US" altLang="ko-KR" sz="1200" dirty="0"/>
                    </a:p>
                    <a:p>
                      <a:pPr marL="85725" lvl="1" indent="-85725">
                        <a:buFont typeface="Wingdings" pitchFamily="2" charset="2"/>
                        <a:buChar char="§"/>
                      </a:pPr>
                      <a:r>
                        <a:rPr lang="en-US" altLang="ko-KR" sz="1200" dirty="0"/>
                        <a:t>MP3 </a:t>
                      </a:r>
                      <a:r>
                        <a:rPr lang="ko-KR" altLang="en-US" sz="1200" dirty="0"/>
                        <a:t>제조업체로부터 대당 </a:t>
                      </a:r>
                      <a:r>
                        <a:rPr lang="en-US" altLang="ko-KR" sz="1200" dirty="0"/>
                        <a:t>25</a:t>
                      </a:r>
                      <a:r>
                        <a:rPr lang="ko-KR" altLang="en-US" sz="1200" dirty="0"/>
                        <a:t>센트</a:t>
                      </a:r>
                      <a:r>
                        <a:rPr lang="en-US" altLang="ko-KR" sz="1200" dirty="0"/>
                        <a:t>~1</a:t>
                      </a:r>
                      <a:r>
                        <a:rPr lang="ko-KR" altLang="en-US" sz="1200" dirty="0"/>
                        <a:t>달러 로열티 지급</a:t>
                      </a:r>
                    </a:p>
                    <a:p>
                      <a:pPr latinLnBrk="1"/>
                      <a:endParaRPr lang="ko-KR" altLang="en-US" sz="1200" dirty="0"/>
                    </a:p>
                  </a:txBody>
                  <a:tcPr marL="121920" marR="121920"/>
                </a:tc>
                <a:extLst>
                  <a:ext uri="{0D108BD9-81ED-4DB2-BD59-A6C34878D82A}">
                    <a16:rowId xmlns:a16="http://schemas.microsoft.com/office/drawing/2014/main" val="10001"/>
                  </a:ext>
                </a:extLst>
              </a:tr>
            </a:tbl>
          </a:graphicData>
        </a:graphic>
      </p:graphicFrame>
      <p:sp>
        <p:nvSpPr>
          <p:cNvPr id="64" name="AutoShape 300"/>
          <p:cNvSpPr>
            <a:spLocks noChangeArrowheads="1"/>
          </p:cNvSpPr>
          <p:nvPr/>
        </p:nvSpPr>
        <p:spPr bwMode="gray">
          <a:xfrm>
            <a:off x="7524765" y="2276872"/>
            <a:ext cx="2807100" cy="360040"/>
          </a:xfrm>
          <a:prstGeom prst="roundRect">
            <a:avLst>
              <a:gd name="adj" fmla="val 50000"/>
            </a:avLst>
          </a:prstGeom>
          <a:solidFill>
            <a:schemeClr val="accent1"/>
          </a:solidFill>
          <a:ln>
            <a:solidFill>
              <a:schemeClr val="bg1">
                <a:lumMod val="50000"/>
              </a:schemeClr>
            </a:solidFill>
            <a:headEnd/>
            <a:tailEnd/>
          </a:ln>
        </p:spPr>
        <p:style>
          <a:lnRef idx="1">
            <a:schemeClr val="accent5"/>
          </a:lnRef>
          <a:fillRef idx="3">
            <a:schemeClr val="accent5"/>
          </a:fillRef>
          <a:effectRef idx="2">
            <a:schemeClr val="accent5"/>
          </a:effectRef>
          <a:fontRef idx="minor">
            <a:schemeClr val="lt1"/>
          </a:fontRef>
        </p:style>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err="1">
                <a:ln>
                  <a:noFill/>
                </a:ln>
                <a:solidFill>
                  <a:prstClr val="white"/>
                </a:solidFill>
                <a:effectLst/>
                <a:uLnTx/>
                <a:uFillTx/>
                <a:latin typeface="Rix모던고딕 B"/>
                <a:ea typeface="Rix모던고딕 B"/>
                <a:cs typeface="+mn-cs"/>
              </a:rPr>
              <a:t>앰피맨닷컴</a:t>
            </a:r>
            <a:r>
              <a:rPr kumimoji="0" lang="ko-KR" altLang="en-US" sz="1600" b="0" i="0" u="none" strike="noStrike" kern="1200" cap="none" spc="0" normalizeH="0" baseline="0" noProof="0" dirty="0">
                <a:ln>
                  <a:noFill/>
                </a:ln>
                <a:solidFill>
                  <a:prstClr val="white"/>
                </a:solidFill>
                <a:effectLst/>
                <a:uLnTx/>
                <a:uFillTx/>
                <a:latin typeface="Rix모던고딕 B"/>
                <a:ea typeface="Rix모던고딕 B"/>
                <a:cs typeface="+mn-cs"/>
              </a:rPr>
              <a:t> </a:t>
            </a:r>
            <a:r>
              <a:rPr kumimoji="0" lang="en-US" altLang="ko-KR" sz="1600" b="0" i="0" u="none" strike="noStrike" kern="1200" cap="none" spc="0" normalizeH="0" baseline="0" noProof="0" dirty="0">
                <a:ln>
                  <a:noFill/>
                </a:ln>
                <a:solidFill>
                  <a:prstClr val="white"/>
                </a:solidFill>
                <a:effectLst/>
                <a:uLnTx/>
                <a:uFillTx/>
                <a:latin typeface="Rix모던고딕 B"/>
                <a:ea typeface="Rix모던고딕 B"/>
                <a:cs typeface="+mn-cs"/>
              </a:rPr>
              <a:t>vs </a:t>
            </a:r>
            <a:r>
              <a:rPr kumimoji="0" lang="ko-KR" altLang="en-US" sz="1600" b="0" i="0" u="none" strike="noStrike" kern="1200" cap="none" spc="0" normalizeH="0" baseline="0" noProof="0" dirty="0" err="1">
                <a:ln>
                  <a:noFill/>
                </a:ln>
                <a:solidFill>
                  <a:prstClr val="white"/>
                </a:solidFill>
                <a:effectLst/>
                <a:uLnTx/>
                <a:uFillTx/>
                <a:latin typeface="Rix모던고딕 B"/>
                <a:ea typeface="Rix모던고딕 B"/>
                <a:cs typeface="+mn-cs"/>
              </a:rPr>
              <a:t>프라운호프</a:t>
            </a:r>
            <a:endParaRPr kumimoji="0" lang="ko-KR" altLang="en-US" sz="1600" b="0" i="0" u="none" strike="noStrike" kern="1200" cap="none" spc="0" normalizeH="0" baseline="0" noProof="0" dirty="0">
              <a:ln>
                <a:noFill/>
              </a:ln>
              <a:solidFill>
                <a:prstClr val="white"/>
              </a:solidFill>
              <a:effectLst/>
              <a:uLnTx/>
              <a:uFillTx/>
              <a:latin typeface="Rix모던고딕 B"/>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543</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05181226"/>
      </p:ext>
    </p:extLst>
  </p:cSld>
  <p:clrMapOvr>
    <a:masterClrMapping/>
  </p:clrMapOvr>
  <p:transition/>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다이어그램 5"/>
          <p:cNvGraphicFramePr/>
          <p:nvPr/>
        </p:nvGraphicFramePr>
        <p:xfrm>
          <a:off x="6191103" y="1901058"/>
          <a:ext cx="5664629" cy="332814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1" name="자유형 10"/>
          <p:cNvSpPr/>
          <p:nvPr/>
        </p:nvSpPr>
        <p:spPr>
          <a:xfrm>
            <a:off x="2390459" y="1700809"/>
            <a:ext cx="3513519" cy="1177253"/>
          </a:xfrm>
          <a:custGeom>
            <a:avLst/>
            <a:gdLst>
              <a:gd name="connsiteX0" fmla="*/ 0 w 3255154"/>
              <a:gd name="connsiteY0" fmla="*/ 158750 h 1269999"/>
              <a:gd name="connsiteX1" fmla="*/ 2620155 w 3255154"/>
              <a:gd name="connsiteY1" fmla="*/ 158750 h 1269999"/>
              <a:gd name="connsiteX2" fmla="*/ 2620155 w 3255154"/>
              <a:gd name="connsiteY2" fmla="*/ 0 h 1269999"/>
              <a:gd name="connsiteX3" fmla="*/ 3255154 w 3255154"/>
              <a:gd name="connsiteY3" fmla="*/ 635000 h 1269999"/>
              <a:gd name="connsiteX4" fmla="*/ 2620155 w 3255154"/>
              <a:gd name="connsiteY4" fmla="*/ 1269999 h 1269999"/>
              <a:gd name="connsiteX5" fmla="*/ 2620155 w 3255154"/>
              <a:gd name="connsiteY5" fmla="*/ 1111249 h 1269999"/>
              <a:gd name="connsiteX6" fmla="*/ 0 w 3255154"/>
              <a:gd name="connsiteY6" fmla="*/ 1111249 h 1269999"/>
              <a:gd name="connsiteX7" fmla="*/ 0 w 3255154"/>
              <a:gd name="connsiteY7" fmla="*/ 158750 h 1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5154" h="1269999">
                <a:moveTo>
                  <a:pt x="0" y="158750"/>
                </a:moveTo>
                <a:lnTo>
                  <a:pt x="2620155" y="158750"/>
                </a:lnTo>
                <a:lnTo>
                  <a:pt x="2620155" y="0"/>
                </a:lnTo>
                <a:lnTo>
                  <a:pt x="3255154" y="635000"/>
                </a:lnTo>
                <a:lnTo>
                  <a:pt x="2620155" y="1269999"/>
                </a:lnTo>
                <a:lnTo>
                  <a:pt x="2620155" y="1111249"/>
                </a:lnTo>
                <a:lnTo>
                  <a:pt x="0" y="1111249"/>
                </a:lnTo>
                <a:lnTo>
                  <a:pt x="0" y="158750"/>
                </a:lnTo>
                <a:close/>
              </a:path>
            </a:pathLst>
          </a:custGeom>
          <a:solidFill>
            <a:schemeClr val="accent2">
              <a:lumMod val="40000"/>
              <a:lumOff val="60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spcFirstLastPara="0" vert="horz" wrap="square" lIns="216000" tIns="166370" rIns="483870" bIns="166370" numCol="1" spcCol="1270" anchor="ctr" anchorCtr="0">
            <a:noAutofit/>
          </a:bodyPr>
          <a:lstStyle/>
          <a:p>
            <a:pPr marL="114300" marR="0" lvl="1" indent="-114300" algn="l" defTabSz="533400" rtl="0" eaLnBrk="1" fontAlgn="auto" latinLnBrk="1" hangingPunct="1">
              <a:lnSpc>
                <a:spcPct val="90000"/>
              </a:lnSpc>
              <a:spcBef>
                <a:spcPct val="0"/>
              </a:spcBef>
              <a:spcAft>
                <a:spcPct val="1500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소요되는 시간 및 비용 대비</a:t>
            </a:r>
            <a:b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b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효율적 특허출원 필요 </a:t>
            </a:r>
          </a:p>
          <a:p>
            <a:pPr marL="114300" marR="0" lvl="1" indent="-114300" algn="l" defTabSz="533400" rtl="0" eaLnBrk="1" fontAlgn="auto" latinLnBrk="1" hangingPunct="1">
              <a:lnSpc>
                <a:spcPct val="90000"/>
              </a:lnSpc>
              <a:spcBef>
                <a:spcPct val="0"/>
              </a:spcBef>
              <a:spcAft>
                <a:spcPct val="1500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선택과 집중 필요</a:t>
            </a:r>
          </a:p>
        </p:txBody>
      </p:sp>
      <p:sp>
        <p:nvSpPr>
          <p:cNvPr id="12" name="자유형 11"/>
          <p:cNvSpPr/>
          <p:nvPr/>
        </p:nvSpPr>
        <p:spPr>
          <a:xfrm>
            <a:off x="335361" y="1700809"/>
            <a:ext cx="1871127" cy="1177253"/>
          </a:xfrm>
          <a:custGeom>
            <a:avLst/>
            <a:gdLst>
              <a:gd name="connsiteX0" fmla="*/ 0 w 1882079"/>
              <a:gd name="connsiteY0" fmla="*/ 211671 h 1269999"/>
              <a:gd name="connsiteX1" fmla="*/ 211671 w 1882079"/>
              <a:gd name="connsiteY1" fmla="*/ 0 h 1269999"/>
              <a:gd name="connsiteX2" fmla="*/ 1670408 w 1882079"/>
              <a:gd name="connsiteY2" fmla="*/ 0 h 1269999"/>
              <a:gd name="connsiteX3" fmla="*/ 1882079 w 1882079"/>
              <a:gd name="connsiteY3" fmla="*/ 211671 h 1269999"/>
              <a:gd name="connsiteX4" fmla="*/ 1882079 w 1882079"/>
              <a:gd name="connsiteY4" fmla="*/ 1058328 h 1269999"/>
              <a:gd name="connsiteX5" fmla="*/ 1670408 w 1882079"/>
              <a:gd name="connsiteY5" fmla="*/ 1269999 h 1269999"/>
              <a:gd name="connsiteX6" fmla="*/ 211671 w 1882079"/>
              <a:gd name="connsiteY6" fmla="*/ 1269999 h 1269999"/>
              <a:gd name="connsiteX7" fmla="*/ 0 w 1882079"/>
              <a:gd name="connsiteY7" fmla="*/ 1058328 h 1269999"/>
              <a:gd name="connsiteX8" fmla="*/ 0 w 1882079"/>
              <a:gd name="connsiteY8" fmla="*/ 211671 h 1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2079" h="1269999">
                <a:moveTo>
                  <a:pt x="0" y="211671"/>
                </a:moveTo>
                <a:cubicBezTo>
                  <a:pt x="0" y="94768"/>
                  <a:pt x="94768" y="0"/>
                  <a:pt x="211671" y="0"/>
                </a:cubicBezTo>
                <a:lnTo>
                  <a:pt x="1670408" y="0"/>
                </a:lnTo>
                <a:cubicBezTo>
                  <a:pt x="1787311" y="0"/>
                  <a:pt x="1882079" y="94768"/>
                  <a:pt x="1882079" y="211671"/>
                </a:cubicBezTo>
                <a:lnTo>
                  <a:pt x="1882079" y="1058328"/>
                </a:lnTo>
                <a:cubicBezTo>
                  <a:pt x="1882079" y="1175231"/>
                  <a:pt x="1787311" y="1269999"/>
                  <a:pt x="1670408" y="1269999"/>
                </a:cubicBezTo>
                <a:lnTo>
                  <a:pt x="211671" y="1269999"/>
                </a:lnTo>
                <a:cubicBezTo>
                  <a:pt x="94768" y="1269999"/>
                  <a:pt x="0" y="1175231"/>
                  <a:pt x="0" y="1058328"/>
                </a:cubicBezTo>
                <a:lnTo>
                  <a:pt x="0" y="211671"/>
                </a:lnTo>
                <a:close/>
              </a:path>
            </a:pathLst>
          </a:custGeom>
        </p:spPr>
        <p:style>
          <a:lnRef idx="3">
            <a:schemeClr val="lt1">
              <a:hueOff val="0"/>
              <a:satOff val="0"/>
              <a:lumOff val="0"/>
              <a:alphaOff val="0"/>
            </a:schemeClr>
          </a:lnRef>
          <a:fillRef idx="1">
            <a:schemeClr val="accent2">
              <a:hueOff val="0"/>
              <a:satOff val="0"/>
              <a:lumOff val="0"/>
              <a:alphaOff val="0"/>
            </a:schemeClr>
          </a:fillRef>
          <a:effectRef idx="1">
            <a:schemeClr val="accent2">
              <a:hueOff val="0"/>
              <a:satOff val="0"/>
              <a:lumOff val="0"/>
              <a:alphaOff val="0"/>
            </a:schemeClr>
          </a:effectRef>
          <a:fontRef idx="minor">
            <a:schemeClr val="lt1"/>
          </a:fontRef>
        </p:style>
        <p:txBody>
          <a:bodyPr spcFirstLastPara="0" vert="horz" wrap="square" lIns="130576" tIns="96286" rIns="130576" bIns="96286" numCol="1" spcCol="1270" anchor="ctr" anchorCtr="0">
            <a:noAutofit/>
          </a:bodyPr>
          <a:lstStyle/>
          <a:p>
            <a:pPr marL="0" marR="0" lvl="0" indent="0" algn="ctr" defTabSz="800100" rtl="0" eaLnBrk="1" fontAlgn="auto" latinLnBrk="1" hangingPunct="1">
              <a:lnSpc>
                <a:spcPct val="90000"/>
              </a:lnSpc>
              <a:spcBef>
                <a:spcPct val="0"/>
              </a:spcBef>
              <a:spcAft>
                <a:spcPct val="3500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Rix모던고딕 B"/>
                <a:ea typeface="Rix모던고딕 B"/>
                <a:cs typeface="+mn-cs"/>
              </a:rPr>
              <a:t>특허는</a:t>
            </a:r>
            <a:br>
              <a:rPr kumimoji="0" lang="en-US" altLang="ko-KR" sz="1800" b="0" i="0" u="none" strike="noStrike" kern="1200" cap="none" spc="0" normalizeH="0" baseline="0" noProof="0" dirty="0">
                <a:ln>
                  <a:noFill/>
                </a:ln>
                <a:solidFill>
                  <a:prstClr val="white"/>
                </a:solidFill>
                <a:effectLst/>
                <a:uLnTx/>
                <a:uFillTx/>
                <a:latin typeface="Rix모던고딕 B"/>
                <a:ea typeface="Rix모던고딕 B"/>
                <a:cs typeface="+mn-cs"/>
              </a:rPr>
            </a:br>
            <a:r>
              <a:rPr kumimoji="0" lang="ko-KR" altLang="en-US" sz="1800" b="0" i="0" u="none" strike="noStrike" kern="1200" cap="none" spc="0" normalizeH="0" baseline="0" noProof="0" dirty="0">
                <a:ln>
                  <a:noFill/>
                </a:ln>
                <a:solidFill>
                  <a:prstClr val="white"/>
                </a:solidFill>
                <a:effectLst/>
                <a:uLnTx/>
                <a:uFillTx/>
                <a:latin typeface="Rix모던고딕 B"/>
                <a:ea typeface="Rix모던고딕 B"/>
                <a:cs typeface="+mn-cs"/>
              </a:rPr>
              <a:t>돈이다</a:t>
            </a:r>
          </a:p>
        </p:txBody>
      </p:sp>
      <p:sp>
        <p:nvSpPr>
          <p:cNvPr id="14" name="자유형 13"/>
          <p:cNvSpPr/>
          <p:nvPr/>
        </p:nvSpPr>
        <p:spPr>
          <a:xfrm>
            <a:off x="2390459" y="2995788"/>
            <a:ext cx="3513519" cy="1177253"/>
          </a:xfrm>
          <a:custGeom>
            <a:avLst/>
            <a:gdLst>
              <a:gd name="connsiteX0" fmla="*/ 0 w 3255154"/>
              <a:gd name="connsiteY0" fmla="*/ 158750 h 1269999"/>
              <a:gd name="connsiteX1" fmla="*/ 2620155 w 3255154"/>
              <a:gd name="connsiteY1" fmla="*/ 158750 h 1269999"/>
              <a:gd name="connsiteX2" fmla="*/ 2620155 w 3255154"/>
              <a:gd name="connsiteY2" fmla="*/ 0 h 1269999"/>
              <a:gd name="connsiteX3" fmla="*/ 3255154 w 3255154"/>
              <a:gd name="connsiteY3" fmla="*/ 635000 h 1269999"/>
              <a:gd name="connsiteX4" fmla="*/ 2620155 w 3255154"/>
              <a:gd name="connsiteY4" fmla="*/ 1269999 h 1269999"/>
              <a:gd name="connsiteX5" fmla="*/ 2620155 w 3255154"/>
              <a:gd name="connsiteY5" fmla="*/ 1111249 h 1269999"/>
              <a:gd name="connsiteX6" fmla="*/ 0 w 3255154"/>
              <a:gd name="connsiteY6" fmla="*/ 1111249 h 1269999"/>
              <a:gd name="connsiteX7" fmla="*/ 0 w 3255154"/>
              <a:gd name="connsiteY7" fmla="*/ 158750 h 1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5154" h="1269999">
                <a:moveTo>
                  <a:pt x="0" y="158750"/>
                </a:moveTo>
                <a:lnTo>
                  <a:pt x="2620155" y="158750"/>
                </a:lnTo>
                <a:lnTo>
                  <a:pt x="2620155" y="0"/>
                </a:lnTo>
                <a:lnTo>
                  <a:pt x="3255154" y="635000"/>
                </a:lnTo>
                <a:lnTo>
                  <a:pt x="2620155" y="1269999"/>
                </a:lnTo>
                <a:lnTo>
                  <a:pt x="2620155" y="1111249"/>
                </a:lnTo>
                <a:lnTo>
                  <a:pt x="0" y="1111249"/>
                </a:lnTo>
                <a:lnTo>
                  <a:pt x="0" y="158750"/>
                </a:lnTo>
                <a:close/>
              </a:path>
            </a:pathLst>
          </a:custGeom>
          <a:solidFill>
            <a:schemeClr val="accent3">
              <a:lumMod val="40000"/>
              <a:lumOff val="6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spcFirstLastPara="0" vert="horz" wrap="square" lIns="216000" tIns="166370" rIns="483870" bIns="166370" numCol="1" spcCol="1270" anchor="ctr" anchorCtr="0">
            <a:noAutofit/>
          </a:bodyPr>
          <a:lstStyle/>
          <a:p>
            <a:pPr marL="114300" marR="0" lvl="1" indent="-114300" algn="l" defTabSz="533400" rtl="0" eaLnBrk="1" fontAlgn="auto" latinLnBrk="1" hangingPunct="1">
              <a:lnSpc>
                <a:spcPct val="90000"/>
              </a:lnSpc>
              <a:spcBef>
                <a:spcPts val="0"/>
              </a:spcBef>
              <a:spcAft>
                <a:spcPct val="15000"/>
              </a:spcAft>
              <a:buClrTx/>
              <a:buSzTx/>
              <a:buFontTx/>
              <a:buChar char="••"/>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정확한 시장 현황 및</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전망</a:t>
            </a:r>
            <a:b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b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파악에 따른 출원전략이 필요</a:t>
            </a:r>
          </a:p>
        </p:txBody>
      </p:sp>
      <p:sp>
        <p:nvSpPr>
          <p:cNvPr id="15" name="자유형 14"/>
          <p:cNvSpPr/>
          <p:nvPr/>
        </p:nvSpPr>
        <p:spPr>
          <a:xfrm>
            <a:off x="335361" y="2995788"/>
            <a:ext cx="1871127" cy="1177253"/>
          </a:xfrm>
          <a:custGeom>
            <a:avLst/>
            <a:gdLst>
              <a:gd name="connsiteX0" fmla="*/ 0 w 1882079"/>
              <a:gd name="connsiteY0" fmla="*/ 211671 h 1269999"/>
              <a:gd name="connsiteX1" fmla="*/ 211671 w 1882079"/>
              <a:gd name="connsiteY1" fmla="*/ 0 h 1269999"/>
              <a:gd name="connsiteX2" fmla="*/ 1670408 w 1882079"/>
              <a:gd name="connsiteY2" fmla="*/ 0 h 1269999"/>
              <a:gd name="connsiteX3" fmla="*/ 1882079 w 1882079"/>
              <a:gd name="connsiteY3" fmla="*/ 211671 h 1269999"/>
              <a:gd name="connsiteX4" fmla="*/ 1882079 w 1882079"/>
              <a:gd name="connsiteY4" fmla="*/ 1058328 h 1269999"/>
              <a:gd name="connsiteX5" fmla="*/ 1670408 w 1882079"/>
              <a:gd name="connsiteY5" fmla="*/ 1269999 h 1269999"/>
              <a:gd name="connsiteX6" fmla="*/ 211671 w 1882079"/>
              <a:gd name="connsiteY6" fmla="*/ 1269999 h 1269999"/>
              <a:gd name="connsiteX7" fmla="*/ 0 w 1882079"/>
              <a:gd name="connsiteY7" fmla="*/ 1058328 h 1269999"/>
              <a:gd name="connsiteX8" fmla="*/ 0 w 1882079"/>
              <a:gd name="connsiteY8" fmla="*/ 211671 h 1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2079" h="1269999">
                <a:moveTo>
                  <a:pt x="0" y="211671"/>
                </a:moveTo>
                <a:cubicBezTo>
                  <a:pt x="0" y="94768"/>
                  <a:pt x="94768" y="0"/>
                  <a:pt x="211671" y="0"/>
                </a:cubicBezTo>
                <a:lnTo>
                  <a:pt x="1670408" y="0"/>
                </a:lnTo>
                <a:cubicBezTo>
                  <a:pt x="1787311" y="0"/>
                  <a:pt x="1882079" y="94768"/>
                  <a:pt x="1882079" y="211671"/>
                </a:cubicBezTo>
                <a:lnTo>
                  <a:pt x="1882079" y="1058328"/>
                </a:lnTo>
                <a:cubicBezTo>
                  <a:pt x="1882079" y="1175231"/>
                  <a:pt x="1787311" y="1269999"/>
                  <a:pt x="1670408" y="1269999"/>
                </a:cubicBezTo>
                <a:lnTo>
                  <a:pt x="211671" y="1269999"/>
                </a:lnTo>
                <a:cubicBezTo>
                  <a:pt x="94768" y="1269999"/>
                  <a:pt x="0" y="1175231"/>
                  <a:pt x="0" y="1058328"/>
                </a:cubicBezTo>
                <a:lnTo>
                  <a:pt x="0" y="211671"/>
                </a:lnTo>
                <a:close/>
              </a:path>
            </a:pathLst>
          </a:custGeom>
        </p:spPr>
        <p:style>
          <a:lnRef idx="3">
            <a:schemeClr val="lt1">
              <a:hueOff val="0"/>
              <a:satOff val="0"/>
              <a:lumOff val="0"/>
              <a:alphaOff val="0"/>
            </a:schemeClr>
          </a:lnRef>
          <a:fillRef idx="1">
            <a:schemeClr val="accent3">
              <a:hueOff val="0"/>
              <a:satOff val="0"/>
              <a:lumOff val="0"/>
              <a:alphaOff val="0"/>
            </a:schemeClr>
          </a:fillRef>
          <a:effectRef idx="1">
            <a:schemeClr val="accent3">
              <a:hueOff val="0"/>
              <a:satOff val="0"/>
              <a:lumOff val="0"/>
              <a:alphaOff val="0"/>
            </a:schemeClr>
          </a:effectRef>
          <a:fontRef idx="minor">
            <a:schemeClr val="lt1"/>
          </a:fontRef>
        </p:style>
        <p:txBody>
          <a:bodyPr spcFirstLastPara="0" vert="horz" wrap="square" lIns="130576" tIns="96286" rIns="130576" bIns="96286" numCol="1" spcCol="1270" anchor="ctr" anchorCtr="0">
            <a:noAutofit/>
          </a:bodyPr>
          <a:lstStyle/>
          <a:p>
            <a:pPr marL="0" marR="0" lvl="0" indent="0" algn="ctr" defTabSz="800100" rtl="0" eaLnBrk="1" fontAlgn="auto" latinLnBrk="1" hangingPunct="1">
              <a:lnSpc>
                <a:spcPct val="90000"/>
              </a:lnSpc>
              <a:spcBef>
                <a:spcPts val="0"/>
              </a:spcBef>
              <a:spcAft>
                <a:spcPct val="3500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Rix모던고딕 B"/>
                <a:ea typeface="Rix모던고딕 B"/>
                <a:cs typeface="+mn-cs"/>
              </a:rPr>
              <a:t>시장은</a:t>
            </a:r>
            <a:br>
              <a:rPr kumimoji="0" lang="en-US" altLang="ko-KR" sz="1800" b="0" i="0" u="none" strike="noStrike" kern="1200" cap="none" spc="0" normalizeH="0" baseline="0" noProof="0" dirty="0">
                <a:ln>
                  <a:noFill/>
                </a:ln>
                <a:solidFill>
                  <a:prstClr val="white"/>
                </a:solidFill>
                <a:effectLst/>
                <a:uLnTx/>
                <a:uFillTx/>
                <a:latin typeface="Rix모던고딕 B"/>
                <a:ea typeface="Rix모던고딕 B"/>
                <a:cs typeface="+mn-cs"/>
              </a:rPr>
            </a:br>
            <a:r>
              <a:rPr kumimoji="0" lang="ko-KR" altLang="en-US" sz="1800" b="0" i="0" u="none" strike="noStrike" kern="1200" cap="none" spc="0" normalizeH="0" baseline="0" noProof="0" dirty="0">
                <a:ln>
                  <a:noFill/>
                </a:ln>
                <a:solidFill>
                  <a:prstClr val="white"/>
                </a:solidFill>
                <a:effectLst/>
                <a:uLnTx/>
                <a:uFillTx/>
                <a:latin typeface="Rix모던고딕 B"/>
                <a:ea typeface="Rix모던고딕 B"/>
                <a:cs typeface="+mn-cs"/>
              </a:rPr>
              <a:t>변화한다</a:t>
            </a:r>
          </a:p>
        </p:txBody>
      </p:sp>
      <p:sp>
        <p:nvSpPr>
          <p:cNvPr id="16" name="자유형 15"/>
          <p:cNvSpPr/>
          <p:nvPr/>
        </p:nvSpPr>
        <p:spPr>
          <a:xfrm>
            <a:off x="2390459" y="4290766"/>
            <a:ext cx="3513519" cy="1177253"/>
          </a:xfrm>
          <a:custGeom>
            <a:avLst/>
            <a:gdLst>
              <a:gd name="connsiteX0" fmla="*/ 0 w 3255154"/>
              <a:gd name="connsiteY0" fmla="*/ 158750 h 1269999"/>
              <a:gd name="connsiteX1" fmla="*/ 2620155 w 3255154"/>
              <a:gd name="connsiteY1" fmla="*/ 158750 h 1269999"/>
              <a:gd name="connsiteX2" fmla="*/ 2620155 w 3255154"/>
              <a:gd name="connsiteY2" fmla="*/ 0 h 1269999"/>
              <a:gd name="connsiteX3" fmla="*/ 3255154 w 3255154"/>
              <a:gd name="connsiteY3" fmla="*/ 635000 h 1269999"/>
              <a:gd name="connsiteX4" fmla="*/ 2620155 w 3255154"/>
              <a:gd name="connsiteY4" fmla="*/ 1269999 h 1269999"/>
              <a:gd name="connsiteX5" fmla="*/ 2620155 w 3255154"/>
              <a:gd name="connsiteY5" fmla="*/ 1111249 h 1269999"/>
              <a:gd name="connsiteX6" fmla="*/ 0 w 3255154"/>
              <a:gd name="connsiteY6" fmla="*/ 1111249 h 1269999"/>
              <a:gd name="connsiteX7" fmla="*/ 0 w 3255154"/>
              <a:gd name="connsiteY7" fmla="*/ 158750 h 1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5154" h="1269999">
                <a:moveTo>
                  <a:pt x="0" y="158750"/>
                </a:moveTo>
                <a:lnTo>
                  <a:pt x="2620155" y="158750"/>
                </a:lnTo>
                <a:lnTo>
                  <a:pt x="2620155" y="0"/>
                </a:lnTo>
                <a:lnTo>
                  <a:pt x="3255154" y="635000"/>
                </a:lnTo>
                <a:lnTo>
                  <a:pt x="2620155" y="1269999"/>
                </a:lnTo>
                <a:lnTo>
                  <a:pt x="2620155" y="1111249"/>
                </a:lnTo>
                <a:lnTo>
                  <a:pt x="0" y="1111249"/>
                </a:lnTo>
                <a:lnTo>
                  <a:pt x="0" y="158750"/>
                </a:lnTo>
                <a:close/>
              </a:path>
            </a:pathLst>
          </a:custGeom>
          <a:ln>
            <a:noFill/>
          </a:ln>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216000" tIns="166370" rIns="483870" bIns="166370" numCol="1" spcCol="1270" anchor="ctr" anchorCtr="0">
            <a:noAutofit/>
          </a:bodyPr>
          <a:lstStyle/>
          <a:p>
            <a:pPr marL="114300" marR="0" lvl="1" indent="-114300" algn="l" defTabSz="533400" rtl="0" eaLnBrk="1" fontAlgn="auto" latinLnBrk="1" hangingPunct="1">
              <a:lnSpc>
                <a:spcPct val="90000"/>
              </a:lnSpc>
              <a:spcBef>
                <a:spcPct val="0"/>
              </a:spcBef>
              <a:spcAft>
                <a:spcPct val="15000"/>
              </a:spcAft>
              <a:buClrTx/>
              <a:buSzTx/>
              <a:buFontTx/>
              <a:buChar char="••"/>
              <a:tabLst/>
              <a:defRPr/>
            </a:pPr>
            <a:r>
              <a:rPr kumimoji="0" lang="ko-KR" altLang="en-US" sz="1200" b="0" i="0" u="none" strike="noStrike" kern="1200" cap="none" spc="0" normalizeH="0" baseline="0" noProof="0" dirty="0">
                <a:ln>
                  <a:noFill/>
                </a:ln>
                <a:solidFill>
                  <a:prstClr val="black">
                    <a:hueOff val="0"/>
                    <a:satOff val="0"/>
                    <a:lumOff val="0"/>
                    <a:alphaOff val="0"/>
                  </a:prstClr>
                </a:solidFill>
                <a:effectLst/>
                <a:uLnTx/>
                <a:uFillTx/>
                <a:latin typeface="Rix모던고딕 B"/>
                <a:ea typeface="Rix모던고딕 B"/>
                <a:cs typeface="+mn-cs"/>
              </a:rPr>
              <a:t>언제든지 무효화 가능성 내포</a:t>
            </a:r>
            <a:endParaRPr kumimoji="0" lang="en-US" altLang="ko-KR" sz="1200" b="0" i="0" u="none" strike="noStrike" kern="1200" cap="none" spc="0" normalizeH="0" baseline="0" noProof="0" dirty="0">
              <a:ln>
                <a:noFill/>
              </a:ln>
              <a:solidFill>
                <a:prstClr val="black">
                  <a:hueOff val="0"/>
                  <a:satOff val="0"/>
                  <a:lumOff val="0"/>
                  <a:alphaOff val="0"/>
                </a:prstClr>
              </a:solidFill>
              <a:effectLst/>
              <a:uLnTx/>
              <a:uFillTx/>
              <a:latin typeface="Rix모던고딕 B"/>
              <a:ea typeface="Rix모던고딕 B"/>
              <a:cs typeface="+mn-cs"/>
            </a:endParaRPr>
          </a:p>
          <a:p>
            <a:pPr marL="114300" marR="0" lvl="1" indent="-114300" algn="l" defTabSz="533400" rtl="0" eaLnBrk="1" fontAlgn="auto" latinLnBrk="1" hangingPunct="1">
              <a:lnSpc>
                <a:spcPct val="90000"/>
              </a:lnSpc>
              <a:spcBef>
                <a:spcPct val="0"/>
              </a:spcBef>
              <a:spcAft>
                <a:spcPct val="15000"/>
              </a:spcAft>
              <a:buClrTx/>
              <a:buSzTx/>
              <a:buFontTx/>
              <a:buChar char="••"/>
              <a:tabLst/>
              <a:defRPr/>
            </a:pPr>
            <a:r>
              <a:rPr kumimoji="0" lang="ko-KR" altLang="en-US" sz="1200" b="0" i="0" u="none" strike="noStrike" kern="1200" cap="none" spc="0" normalizeH="0" baseline="0" noProof="0" dirty="0">
                <a:ln>
                  <a:noFill/>
                </a:ln>
                <a:solidFill>
                  <a:prstClr val="black">
                    <a:hueOff val="0"/>
                    <a:satOff val="0"/>
                    <a:lumOff val="0"/>
                    <a:alphaOff val="0"/>
                  </a:prstClr>
                </a:solidFill>
                <a:effectLst/>
                <a:uLnTx/>
                <a:uFillTx/>
                <a:latin typeface="Rix모던고딕 B"/>
                <a:ea typeface="Rix모던고딕 B"/>
                <a:cs typeface="+mn-cs"/>
              </a:rPr>
              <a:t>회피설계기술의 등장 가능성</a:t>
            </a:r>
          </a:p>
        </p:txBody>
      </p:sp>
      <p:sp>
        <p:nvSpPr>
          <p:cNvPr id="17" name="자유형 16"/>
          <p:cNvSpPr/>
          <p:nvPr/>
        </p:nvSpPr>
        <p:spPr>
          <a:xfrm>
            <a:off x="335361" y="4290766"/>
            <a:ext cx="1871127" cy="1177253"/>
          </a:xfrm>
          <a:custGeom>
            <a:avLst/>
            <a:gdLst>
              <a:gd name="connsiteX0" fmla="*/ 0 w 1882079"/>
              <a:gd name="connsiteY0" fmla="*/ 211671 h 1269999"/>
              <a:gd name="connsiteX1" fmla="*/ 211671 w 1882079"/>
              <a:gd name="connsiteY1" fmla="*/ 0 h 1269999"/>
              <a:gd name="connsiteX2" fmla="*/ 1670408 w 1882079"/>
              <a:gd name="connsiteY2" fmla="*/ 0 h 1269999"/>
              <a:gd name="connsiteX3" fmla="*/ 1882079 w 1882079"/>
              <a:gd name="connsiteY3" fmla="*/ 211671 h 1269999"/>
              <a:gd name="connsiteX4" fmla="*/ 1882079 w 1882079"/>
              <a:gd name="connsiteY4" fmla="*/ 1058328 h 1269999"/>
              <a:gd name="connsiteX5" fmla="*/ 1670408 w 1882079"/>
              <a:gd name="connsiteY5" fmla="*/ 1269999 h 1269999"/>
              <a:gd name="connsiteX6" fmla="*/ 211671 w 1882079"/>
              <a:gd name="connsiteY6" fmla="*/ 1269999 h 1269999"/>
              <a:gd name="connsiteX7" fmla="*/ 0 w 1882079"/>
              <a:gd name="connsiteY7" fmla="*/ 1058328 h 1269999"/>
              <a:gd name="connsiteX8" fmla="*/ 0 w 1882079"/>
              <a:gd name="connsiteY8" fmla="*/ 211671 h 126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2079" h="1269999">
                <a:moveTo>
                  <a:pt x="0" y="211671"/>
                </a:moveTo>
                <a:cubicBezTo>
                  <a:pt x="0" y="94768"/>
                  <a:pt x="94768" y="0"/>
                  <a:pt x="211671" y="0"/>
                </a:cubicBezTo>
                <a:lnTo>
                  <a:pt x="1670408" y="0"/>
                </a:lnTo>
                <a:cubicBezTo>
                  <a:pt x="1787311" y="0"/>
                  <a:pt x="1882079" y="94768"/>
                  <a:pt x="1882079" y="211671"/>
                </a:cubicBezTo>
                <a:lnTo>
                  <a:pt x="1882079" y="1058328"/>
                </a:lnTo>
                <a:cubicBezTo>
                  <a:pt x="1882079" y="1175231"/>
                  <a:pt x="1787311" y="1269999"/>
                  <a:pt x="1670408" y="1269999"/>
                </a:cubicBezTo>
                <a:lnTo>
                  <a:pt x="211671" y="1269999"/>
                </a:lnTo>
                <a:cubicBezTo>
                  <a:pt x="94768" y="1269999"/>
                  <a:pt x="0" y="1175231"/>
                  <a:pt x="0" y="1058328"/>
                </a:cubicBezTo>
                <a:lnTo>
                  <a:pt x="0" y="211671"/>
                </a:lnTo>
                <a:close/>
              </a:path>
            </a:pathLst>
          </a:custGeom>
        </p:spPr>
        <p:style>
          <a:lnRef idx="3">
            <a:schemeClr val="lt1">
              <a:hueOff val="0"/>
              <a:satOff val="0"/>
              <a:lumOff val="0"/>
              <a:alphaOff val="0"/>
            </a:schemeClr>
          </a:lnRef>
          <a:fillRef idx="1">
            <a:schemeClr val="accent4">
              <a:hueOff val="0"/>
              <a:satOff val="0"/>
              <a:lumOff val="0"/>
              <a:alphaOff val="0"/>
            </a:schemeClr>
          </a:fillRef>
          <a:effectRef idx="1">
            <a:schemeClr val="accent4">
              <a:hueOff val="0"/>
              <a:satOff val="0"/>
              <a:lumOff val="0"/>
              <a:alphaOff val="0"/>
            </a:schemeClr>
          </a:effectRef>
          <a:fontRef idx="minor">
            <a:schemeClr val="lt1"/>
          </a:fontRef>
        </p:style>
        <p:txBody>
          <a:bodyPr spcFirstLastPara="0" vert="horz" wrap="square" lIns="130576" tIns="96286" rIns="130576" bIns="96286" numCol="1" spcCol="1270" anchor="ctr" anchorCtr="0">
            <a:noAutofit/>
          </a:bodyPr>
          <a:lstStyle/>
          <a:p>
            <a:pPr marL="0" marR="0" lvl="0" indent="0" algn="ctr" defTabSz="800100" rtl="0" eaLnBrk="1" fontAlgn="auto" latinLnBrk="1" hangingPunct="1">
              <a:lnSpc>
                <a:spcPct val="9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Rix모던고딕 B"/>
                <a:ea typeface="Rix모던고딕 B"/>
                <a:cs typeface="+mn-cs"/>
              </a:rPr>
              <a:t>특허는</a:t>
            </a:r>
            <a:br>
              <a:rPr kumimoji="0" lang="en-US" altLang="ko-KR" sz="1800" b="0" i="0" u="none" strike="noStrike" kern="1200" cap="none" spc="0" normalizeH="0" baseline="0" noProof="0" dirty="0">
                <a:ln>
                  <a:noFill/>
                </a:ln>
                <a:solidFill>
                  <a:prstClr val="white"/>
                </a:solidFill>
                <a:effectLst/>
                <a:uLnTx/>
                <a:uFillTx/>
                <a:latin typeface="Rix모던고딕 B"/>
                <a:ea typeface="Rix모던고딕 B"/>
                <a:cs typeface="+mn-cs"/>
              </a:rPr>
            </a:br>
            <a:r>
              <a:rPr kumimoji="0" lang="ko-KR" altLang="en-US" sz="1800" b="0" i="0" u="none" strike="noStrike" kern="1200" cap="none" spc="0" normalizeH="0" baseline="0" noProof="0" dirty="0">
                <a:ln>
                  <a:noFill/>
                </a:ln>
                <a:solidFill>
                  <a:prstClr val="white"/>
                </a:solidFill>
                <a:effectLst/>
                <a:uLnTx/>
                <a:uFillTx/>
                <a:latin typeface="Rix모던고딕 B"/>
                <a:ea typeface="Rix모던고딕 B"/>
                <a:cs typeface="+mn-cs"/>
              </a:rPr>
              <a:t>완벽하지</a:t>
            </a:r>
            <a:endParaRPr kumimoji="0" lang="en-US" altLang="ko-KR" sz="1800" b="0" i="0" u="none" strike="noStrike" kern="1200" cap="none" spc="0" normalizeH="0" baseline="0" noProof="0" dirty="0">
              <a:ln>
                <a:noFill/>
              </a:ln>
              <a:solidFill>
                <a:prstClr val="white"/>
              </a:solidFill>
              <a:effectLst/>
              <a:uLnTx/>
              <a:uFillTx/>
              <a:latin typeface="Rix모던고딕 B"/>
              <a:ea typeface="Rix모던고딕 B"/>
              <a:cs typeface="+mn-cs"/>
            </a:endParaRPr>
          </a:p>
          <a:p>
            <a:pPr marL="0" marR="0" lvl="0" indent="0" algn="ctr" defTabSz="800100" rtl="0" eaLnBrk="1" fontAlgn="auto" latinLnBrk="1" hangingPunct="1">
              <a:lnSpc>
                <a:spcPct val="9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Rix모던고딕 B"/>
                <a:ea typeface="Rix모던고딕 B"/>
                <a:cs typeface="+mn-cs"/>
              </a:rPr>
              <a:t>않다</a:t>
            </a:r>
          </a:p>
        </p:txBody>
      </p:sp>
      <p:sp>
        <p:nvSpPr>
          <p:cNvPr id="4" name="제목 3"/>
          <p:cNvSpPr>
            <a:spLocks noGrp="1"/>
          </p:cNvSpPr>
          <p:nvPr>
            <p:ph type="title"/>
          </p:nvPr>
        </p:nvSpPr>
        <p:spPr/>
        <p:txBody>
          <a:bodyPr/>
          <a:lstStyle/>
          <a:p>
            <a:r>
              <a:rPr lang="ko-KR" altLang="en-US" dirty="0" err="1"/>
              <a:t>참고노트</a:t>
            </a:r>
            <a:endParaRPr lang="ko-KR" altLang="en-US" dirty="0"/>
          </a:p>
        </p:txBody>
      </p:sp>
      <p:sp>
        <p:nvSpPr>
          <p:cNvPr id="5" name="텍스트 개체 틀 4"/>
          <p:cNvSpPr>
            <a:spLocks noGrp="1"/>
          </p:cNvSpPr>
          <p:nvPr>
            <p:ph type="body" sz="quarter" idx="13"/>
          </p:nvPr>
        </p:nvSpPr>
        <p:spPr/>
        <p:txBody>
          <a:bodyPr/>
          <a:lstStyle/>
          <a:p>
            <a:r>
              <a:rPr lang="ko-KR" altLang="en-US" dirty="0" err="1"/>
              <a:t>해외출원의</a:t>
            </a:r>
            <a:r>
              <a:rPr lang="ko-KR" altLang="en-US" dirty="0"/>
              <a:t> 추진방향은</a:t>
            </a:r>
            <a:r>
              <a:rPr lang="en-US" altLang="ko-KR" dirty="0"/>
              <a:t>?</a:t>
            </a:r>
            <a:endParaRPr lang="ko-KR" altLang="en-US" dirty="0"/>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544</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449311737"/>
      </p:ext>
    </p:extLst>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한쪽 모서리가 잘린 사각형 67"/>
          <p:cNvSpPr/>
          <p:nvPr/>
        </p:nvSpPr>
        <p:spPr bwMode="auto">
          <a:xfrm>
            <a:off x="911424" y="4942976"/>
            <a:ext cx="10369152" cy="1472560"/>
          </a:xfrm>
          <a:prstGeom prst="snip1Rect">
            <a:avLst/>
          </a:prstGeom>
          <a:ln>
            <a:headEnd type="none" w="med" len="med"/>
            <a:tailEnd type="none"/>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66" name="한쪽 모서리가 잘린 사각형 65"/>
          <p:cNvSpPr/>
          <p:nvPr/>
        </p:nvSpPr>
        <p:spPr bwMode="auto">
          <a:xfrm>
            <a:off x="911424" y="1335938"/>
            <a:ext cx="10369152" cy="1474068"/>
          </a:xfrm>
          <a:prstGeom prst="snip1Rect">
            <a:avLst/>
          </a:prstGeom>
          <a:ln>
            <a:headEnd type="none" w="med" len="med"/>
            <a:tailEnd type="none"/>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67" name="한쪽 모서리가 잘린 사각형 66"/>
          <p:cNvSpPr/>
          <p:nvPr/>
        </p:nvSpPr>
        <p:spPr bwMode="auto">
          <a:xfrm>
            <a:off x="911424" y="3136342"/>
            <a:ext cx="10369152" cy="1473865"/>
          </a:xfrm>
          <a:prstGeom prst="snip1Rect">
            <a:avLst/>
          </a:prstGeom>
          <a:ln>
            <a:headEnd type="none" w="med" len="med"/>
            <a:tailEnd type="none"/>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361475" name="Rectangle 53"/>
          <p:cNvSpPr>
            <a:spLocks noChangeArrowheads="1"/>
          </p:cNvSpPr>
          <p:nvPr/>
        </p:nvSpPr>
        <p:spPr bwMode="auto">
          <a:xfrm>
            <a:off x="2993788" y="1657879"/>
            <a:ext cx="1248833" cy="287337"/>
          </a:xfrm>
          <a:prstGeom prst="rect">
            <a:avLst/>
          </a:prstGeom>
          <a:solidFill>
            <a:schemeClr val="accent2">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A</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출원</a:t>
            </a:r>
          </a:p>
        </p:txBody>
      </p:sp>
      <p:sp>
        <p:nvSpPr>
          <p:cNvPr id="361476" name="Rectangle 54"/>
          <p:cNvSpPr>
            <a:spLocks noChangeArrowheads="1"/>
          </p:cNvSpPr>
          <p:nvPr/>
        </p:nvSpPr>
        <p:spPr bwMode="auto">
          <a:xfrm>
            <a:off x="2993788" y="2018240"/>
            <a:ext cx="1248833" cy="287338"/>
          </a:xfrm>
          <a:prstGeom prst="rect">
            <a:avLst/>
          </a:prstGeom>
          <a:solidFill>
            <a:schemeClr val="accent2">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B</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출원</a:t>
            </a:r>
          </a:p>
        </p:txBody>
      </p:sp>
      <p:sp>
        <p:nvSpPr>
          <p:cNvPr id="361477" name="Rectangle 55"/>
          <p:cNvSpPr>
            <a:spLocks noChangeArrowheads="1"/>
          </p:cNvSpPr>
          <p:nvPr/>
        </p:nvSpPr>
        <p:spPr bwMode="auto">
          <a:xfrm>
            <a:off x="2993788" y="2378604"/>
            <a:ext cx="1248833" cy="287337"/>
          </a:xfrm>
          <a:prstGeom prst="rect">
            <a:avLst/>
          </a:prstGeom>
          <a:solidFill>
            <a:schemeClr val="accent2">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C</a:t>
            </a:r>
            <a:r>
              <a:rPr kumimoji="1"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국 출원</a:t>
            </a:r>
          </a:p>
        </p:txBody>
      </p:sp>
      <p:sp>
        <p:nvSpPr>
          <p:cNvPr id="361478" name="Rectangle 57"/>
          <p:cNvSpPr>
            <a:spLocks noChangeArrowheads="1"/>
          </p:cNvSpPr>
          <p:nvPr/>
        </p:nvSpPr>
        <p:spPr bwMode="auto">
          <a:xfrm>
            <a:off x="5298836" y="1657879"/>
            <a:ext cx="2305051" cy="287337"/>
          </a:xfrm>
          <a:prstGeom prst="rect">
            <a:avLst/>
          </a:prstGeom>
          <a:solidFill>
            <a:schemeClr val="accent2">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A</a:t>
            </a:r>
            <a:r>
              <a:rPr kumimoji="1"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국 특허담당 정부기관 심사</a:t>
            </a:r>
          </a:p>
        </p:txBody>
      </p:sp>
      <p:sp>
        <p:nvSpPr>
          <p:cNvPr id="361479" name="Rectangle 58"/>
          <p:cNvSpPr>
            <a:spLocks noChangeArrowheads="1"/>
          </p:cNvSpPr>
          <p:nvPr/>
        </p:nvSpPr>
        <p:spPr bwMode="auto">
          <a:xfrm>
            <a:off x="5298836" y="2018240"/>
            <a:ext cx="2305051" cy="287338"/>
          </a:xfrm>
          <a:prstGeom prst="rect">
            <a:avLst/>
          </a:prstGeom>
          <a:solidFill>
            <a:schemeClr val="accent2">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B</a:t>
            </a:r>
            <a:r>
              <a:rPr kumimoji="1"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국 특허담당 정부기관 심사</a:t>
            </a:r>
          </a:p>
        </p:txBody>
      </p:sp>
      <p:sp>
        <p:nvSpPr>
          <p:cNvPr id="361480" name="Rectangle 59"/>
          <p:cNvSpPr>
            <a:spLocks noChangeArrowheads="1"/>
          </p:cNvSpPr>
          <p:nvPr/>
        </p:nvSpPr>
        <p:spPr bwMode="auto">
          <a:xfrm>
            <a:off x="5298836" y="2378604"/>
            <a:ext cx="2305051" cy="287337"/>
          </a:xfrm>
          <a:prstGeom prst="rect">
            <a:avLst/>
          </a:prstGeom>
          <a:solidFill>
            <a:schemeClr val="accent2">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C</a:t>
            </a:r>
            <a:r>
              <a:rPr kumimoji="1"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국 특허담당 정부기관 심사</a:t>
            </a:r>
          </a:p>
        </p:txBody>
      </p:sp>
      <p:sp>
        <p:nvSpPr>
          <p:cNvPr id="361481" name="Rectangle 60"/>
          <p:cNvSpPr>
            <a:spLocks noChangeArrowheads="1"/>
          </p:cNvSpPr>
          <p:nvPr/>
        </p:nvSpPr>
        <p:spPr bwMode="auto">
          <a:xfrm>
            <a:off x="8657988" y="1657879"/>
            <a:ext cx="1248833" cy="287337"/>
          </a:xfrm>
          <a:prstGeom prst="rect">
            <a:avLst/>
          </a:prstGeom>
          <a:solidFill>
            <a:schemeClr val="accent2">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A</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특허권</a:t>
            </a:r>
          </a:p>
        </p:txBody>
      </p:sp>
      <p:sp>
        <p:nvSpPr>
          <p:cNvPr id="361482" name="Rectangle 61"/>
          <p:cNvSpPr>
            <a:spLocks noChangeArrowheads="1"/>
          </p:cNvSpPr>
          <p:nvPr/>
        </p:nvSpPr>
        <p:spPr bwMode="auto">
          <a:xfrm>
            <a:off x="8657988" y="2018240"/>
            <a:ext cx="1248833" cy="287338"/>
          </a:xfrm>
          <a:prstGeom prst="rect">
            <a:avLst/>
          </a:prstGeom>
          <a:solidFill>
            <a:schemeClr val="accent2">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B</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특허권</a:t>
            </a:r>
          </a:p>
        </p:txBody>
      </p:sp>
      <p:sp>
        <p:nvSpPr>
          <p:cNvPr id="361483" name="Rectangle 62"/>
          <p:cNvSpPr>
            <a:spLocks noChangeArrowheads="1"/>
          </p:cNvSpPr>
          <p:nvPr/>
        </p:nvSpPr>
        <p:spPr bwMode="auto">
          <a:xfrm>
            <a:off x="8657988" y="2378604"/>
            <a:ext cx="1248833" cy="287337"/>
          </a:xfrm>
          <a:prstGeom prst="rect">
            <a:avLst/>
          </a:prstGeom>
          <a:solidFill>
            <a:schemeClr val="accent2">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C</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특허권</a:t>
            </a:r>
          </a:p>
        </p:txBody>
      </p:sp>
      <p:sp>
        <p:nvSpPr>
          <p:cNvPr id="361485" name="Rectangle 64"/>
          <p:cNvSpPr>
            <a:spLocks noChangeArrowheads="1"/>
          </p:cNvSpPr>
          <p:nvPr/>
        </p:nvSpPr>
        <p:spPr bwMode="auto">
          <a:xfrm>
            <a:off x="3115669" y="3539863"/>
            <a:ext cx="1248833" cy="287337"/>
          </a:xfrm>
          <a:prstGeom prst="rect">
            <a:avLst/>
          </a:prstGeom>
          <a:solidFill>
            <a:schemeClr val="accent1">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A</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출원</a:t>
            </a:r>
          </a:p>
        </p:txBody>
      </p:sp>
      <p:sp>
        <p:nvSpPr>
          <p:cNvPr id="361486" name="Rectangle 65"/>
          <p:cNvSpPr>
            <a:spLocks noChangeArrowheads="1"/>
          </p:cNvSpPr>
          <p:nvPr/>
        </p:nvSpPr>
        <p:spPr bwMode="auto">
          <a:xfrm>
            <a:off x="3115669" y="3827199"/>
            <a:ext cx="1248833" cy="287338"/>
          </a:xfrm>
          <a:prstGeom prst="rect">
            <a:avLst/>
          </a:prstGeom>
          <a:solidFill>
            <a:schemeClr val="accent1">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B</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출원</a:t>
            </a:r>
          </a:p>
        </p:txBody>
      </p:sp>
      <p:sp>
        <p:nvSpPr>
          <p:cNvPr id="361487" name="Rectangle 66"/>
          <p:cNvSpPr>
            <a:spLocks noChangeArrowheads="1"/>
          </p:cNvSpPr>
          <p:nvPr/>
        </p:nvSpPr>
        <p:spPr bwMode="auto">
          <a:xfrm>
            <a:off x="3115669" y="4107415"/>
            <a:ext cx="1248833" cy="287338"/>
          </a:xfrm>
          <a:prstGeom prst="rect">
            <a:avLst/>
          </a:prstGeom>
          <a:solidFill>
            <a:schemeClr val="accent1">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C</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출원</a:t>
            </a:r>
          </a:p>
        </p:txBody>
      </p:sp>
      <p:sp>
        <p:nvSpPr>
          <p:cNvPr id="361488" name="Rectangle 70"/>
          <p:cNvSpPr>
            <a:spLocks noChangeArrowheads="1"/>
          </p:cNvSpPr>
          <p:nvPr/>
        </p:nvSpPr>
        <p:spPr bwMode="auto">
          <a:xfrm>
            <a:off x="8657988" y="3458129"/>
            <a:ext cx="1248833" cy="287337"/>
          </a:xfrm>
          <a:prstGeom prst="rect">
            <a:avLst/>
          </a:prstGeom>
          <a:solidFill>
            <a:schemeClr val="accent1">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A</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특허권</a:t>
            </a:r>
          </a:p>
        </p:txBody>
      </p:sp>
      <p:sp>
        <p:nvSpPr>
          <p:cNvPr id="361489" name="Rectangle 71"/>
          <p:cNvSpPr>
            <a:spLocks noChangeArrowheads="1"/>
          </p:cNvSpPr>
          <p:nvPr/>
        </p:nvSpPr>
        <p:spPr bwMode="auto">
          <a:xfrm>
            <a:off x="8657988" y="3818490"/>
            <a:ext cx="1248833" cy="287338"/>
          </a:xfrm>
          <a:prstGeom prst="rect">
            <a:avLst/>
          </a:prstGeom>
          <a:solidFill>
            <a:schemeClr val="accent1">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B</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특허권</a:t>
            </a:r>
          </a:p>
        </p:txBody>
      </p:sp>
      <p:sp>
        <p:nvSpPr>
          <p:cNvPr id="361490" name="Rectangle 72"/>
          <p:cNvSpPr>
            <a:spLocks noChangeArrowheads="1"/>
          </p:cNvSpPr>
          <p:nvPr/>
        </p:nvSpPr>
        <p:spPr bwMode="auto">
          <a:xfrm>
            <a:off x="8657988" y="4178854"/>
            <a:ext cx="1248833" cy="287337"/>
          </a:xfrm>
          <a:prstGeom prst="rect">
            <a:avLst/>
          </a:prstGeom>
          <a:solidFill>
            <a:schemeClr val="accent1">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C</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특허권</a:t>
            </a:r>
          </a:p>
        </p:txBody>
      </p:sp>
      <p:sp>
        <p:nvSpPr>
          <p:cNvPr id="361491" name="Rectangle 73"/>
          <p:cNvSpPr>
            <a:spLocks noChangeArrowheads="1"/>
          </p:cNvSpPr>
          <p:nvPr/>
        </p:nvSpPr>
        <p:spPr bwMode="auto">
          <a:xfrm>
            <a:off x="2444685" y="3531153"/>
            <a:ext cx="673100" cy="863600"/>
          </a:xfrm>
          <a:prstGeom prst="rect">
            <a:avLst/>
          </a:prstGeom>
          <a:solidFill>
            <a:schemeClr val="accent1">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국제</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1"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출원</a:t>
            </a:r>
          </a:p>
        </p:txBody>
      </p:sp>
      <p:sp>
        <p:nvSpPr>
          <p:cNvPr id="361492" name="Rectangle 74"/>
          <p:cNvSpPr>
            <a:spLocks noChangeArrowheads="1"/>
          </p:cNvSpPr>
          <p:nvPr/>
        </p:nvSpPr>
        <p:spPr bwMode="auto">
          <a:xfrm>
            <a:off x="4751851" y="3675616"/>
            <a:ext cx="1151467" cy="576263"/>
          </a:xfrm>
          <a:prstGeom prst="rect">
            <a:avLst/>
          </a:prstGeom>
          <a:solidFill>
            <a:schemeClr val="accent1">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국제조사</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국제공개</a:t>
            </a:r>
          </a:p>
        </p:txBody>
      </p:sp>
      <p:sp>
        <p:nvSpPr>
          <p:cNvPr id="361493" name="Rectangle 75"/>
          <p:cNvSpPr>
            <a:spLocks noChangeArrowheads="1"/>
          </p:cNvSpPr>
          <p:nvPr/>
        </p:nvSpPr>
        <p:spPr bwMode="auto">
          <a:xfrm>
            <a:off x="7123403" y="3458129"/>
            <a:ext cx="1151467" cy="287337"/>
          </a:xfrm>
          <a:prstGeom prst="rect">
            <a:avLst/>
          </a:prstGeom>
          <a:solidFill>
            <a:schemeClr val="accent1">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A</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심사</a:t>
            </a:r>
          </a:p>
        </p:txBody>
      </p:sp>
      <p:sp>
        <p:nvSpPr>
          <p:cNvPr id="361494" name="Rectangle 76"/>
          <p:cNvSpPr>
            <a:spLocks noChangeArrowheads="1"/>
          </p:cNvSpPr>
          <p:nvPr/>
        </p:nvSpPr>
        <p:spPr bwMode="auto">
          <a:xfrm>
            <a:off x="7123403" y="3818490"/>
            <a:ext cx="1151467" cy="287338"/>
          </a:xfrm>
          <a:prstGeom prst="rect">
            <a:avLst/>
          </a:prstGeom>
          <a:solidFill>
            <a:schemeClr val="accent1">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B</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심사</a:t>
            </a:r>
          </a:p>
        </p:txBody>
      </p:sp>
      <p:sp>
        <p:nvSpPr>
          <p:cNvPr id="361495" name="Rectangle 77"/>
          <p:cNvSpPr>
            <a:spLocks noChangeArrowheads="1"/>
          </p:cNvSpPr>
          <p:nvPr/>
        </p:nvSpPr>
        <p:spPr bwMode="auto">
          <a:xfrm>
            <a:off x="7123403" y="4178854"/>
            <a:ext cx="1151467" cy="287337"/>
          </a:xfrm>
          <a:prstGeom prst="rect">
            <a:avLst/>
          </a:prstGeom>
          <a:solidFill>
            <a:schemeClr val="accent1">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C</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심사</a:t>
            </a:r>
          </a:p>
        </p:txBody>
      </p:sp>
      <p:cxnSp>
        <p:nvCxnSpPr>
          <p:cNvPr id="361499" name="AutoShape 82"/>
          <p:cNvCxnSpPr>
            <a:cxnSpLocks noChangeShapeType="1"/>
            <a:stCxn id="361475" idx="3"/>
            <a:endCxn id="361478" idx="1"/>
          </p:cNvCxnSpPr>
          <p:nvPr/>
        </p:nvCxnSpPr>
        <p:spPr bwMode="auto">
          <a:xfrm>
            <a:off x="4242620" y="1801547"/>
            <a:ext cx="1056216" cy="1588"/>
          </a:xfrm>
          <a:prstGeom prst="straightConnector1">
            <a:avLst/>
          </a:prstGeom>
          <a:noFill/>
          <a:ln w="9525">
            <a:solidFill>
              <a:schemeClr val="bg1">
                <a:lumMod val="50000"/>
              </a:schemeClr>
            </a:solidFill>
            <a:round/>
            <a:headEnd/>
            <a:tailEnd type="triangle" w="med" len="med"/>
          </a:ln>
        </p:spPr>
      </p:cxnSp>
      <p:cxnSp>
        <p:nvCxnSpPr>
          <p:cNvPr id="361500" name="AutoShape 83"/>
          <p:cNvCxnSpPr>
            <a:cxnSpLocks noChangeShapeType="1"/>
            <a:stCxn id="361476" idx="3"/>
            <a:endCxn id="361479" idx="1"/>
          </p:cNvCxnSpPr>
          <p:nvPr/>
        </p:nvCxnSpPr>
        <p:spPr bwMode="auto">
          <a:xfrm>
            <a:off x="4242620" y="2161909"/>
            <a:ext cx="1056216" cy="1588"/>
          </a:xfrm>
          <a:prstGeom prst="straightConnector1">
            <a:avLst/>
          </a:prstGeom>
          <a:noFill/>
          <a:ln w="9525">
            <a:solidFill>
              <a:schemeClr val="bg1">
                <a:lumMod val="50000"/>
              </a:schemeClr>
            </a:solidFill>
            <a:round/>
            <a:headEnd/>
            <a:tailEnd type="triangle" w="med" len="med"/>
          </a:ln>
        </p:spPr>
      </p:cxnSp>
      <p:cxnSp>
        <p:nvCxnSpPr>
          <p:cNvPr id="361501" name="AutoShape 84"/>
          <p:cNvCxnSpPr>
            <a:cxnSpLocks noChangeShapeType="1"/>
            <a:stCxn id="361477" idx="3"/>
            <a:endCxn id="361480" idx="1"/>
          </p:cNvCxnSpPr>
          <p:nvPr/>
        </p:nvCxnSpPr>
        <p:spPr bwMode="auto">
          <a:xfrm>
            <a:off x="4242620" y="2522272"/>
            <a:ext cx="1056216" cy="1588"/>
          </a:xfrm>
          <a:prstGeom prst="straightConnector1">
            <a:avLst/>
          </a:prstGeom>
          <a:noFill/>
          <a:ln w="9525">
            <a:solidFill>
              <a:schemeClr val="bg1">
                <a:lumMod val="50000"/>
              </a:schemeClr>
            </a:solidFill>
            <a:round/>
            <a:headEnd/>
            <a:tailEnd type="triangle" w="med" len="med"/>
          </a:ln>
        </p:spPr>
      </p:cxnSp>
      <p:cxnSp>
        <p:nvCxnSpPr>
          <p:cNvPr id="361502" name="AutoShape 85"/>
          <p:cNvCxnSpPr>
            <a:cxnSpLocks noChangeShapeType="1"/>
            <a:stCxn id="361478" idx="3"/>
            <a:endCxn id="361481" idx="1"/>
          </p:cNvCxnSpPr>
          <p:nvPr/>
        </p:nvCxnSpPr>
        <p:spPr bwMode="auto">
          <a:xfrm>
            <a:off x="7603887" y="1801547"/>
            <a:ext cx="1054100" cy="1588"/>
          </a:xfrm>
          <a:prstGeom prst="straightConnector1">
            <a:avLst/>
          </a:prstGeom>
          <a:noFill/>
          <a:ln w="9525">
            <a:solidFill>
              <a:schemeClr val="bg1">
                <a:lumMod val="50000"/>
              </a:schemeClr>
            </a:solidFill>
            <a:round/>
            <a:headEnd/>
            <a:tailEnd type="triangle" w="med" len="med"/>
          </a:ln>
        </p:spPr>
      </p:cxnSp>
      <p:cxnSp>
        <p:nvCxnSpPr>
          <p:cNvPr id="361503" name="AutoShape 86"/>
          <p:cNvCxnSpPr>
            <a:cxnSpLocks noChangeShapeType="1"/>
            <a:stCxn id="361479" idx="3"/>
            <a:endCxn id="361482" idx="1"/>
          </p:cNvCxnSpPr>
          <p:nvPr/>
        </p:nvCxnSpPr>
        <p:spPr bwMode="auto">
          <a:xfrm>
            <a:off x="7603887" y="2161909"/>
            <a:ext cx="1054100" cy="1588"/>
          </a:xfrm>
          <a:prstGeom prst="straightConnector1">
            <a:avLst/>
          </a:prstGeom>
          <a:noFill/>
          <a:ln w="9525">
            <a:solidFill>
              <a:schemeClr val="bg1">
                <a:lumMod val="50000"/>
              </a:schemeClr>
            </a:solidFill>
            <a:round/>
            <a:headEnd/>
            <a:tailEnd type="triangle" w="med" len="med"/>
          </a:ln>
        </p:spPr>
      </p:cxnSp>
      <p:cxnSp>
        <p:nvCxnSpPr>
          <p:cNvPr id="361504" name="AutoShape 87"/>
          <p:cNvCxnSpPr>
            <a:cxnSpLocks noChangeShapeType="1"/>
            <a:stCxn id="361480" idx="3"/>
            <a:endCxn id="361483" idx="1"/>
          </p:cNvCxnSpPr>
          <p:nvPr/>
        </p:nvCxnSpPr>
        <p:spPr bwMode="auto">
          <a:xfrm>
            <a:off x="7603887" y="2522272"/>
            <a:ext cx="1054100" cy="1588"/>
          </a:xfrm>
          <a:prstGeom prst="straightConnector1">
            <a:avLst/>
          </a:prstGeom>
          <a:noFill/>
          <a:ln w="9525">
            <a:solidFill>
              <a:schemeClr val="bg1">
                <a:lumMod val="50000"/>
              </a:schemeClr>
            </a:solidFill>
            <a:round/>
            <a:headEnd/>
            <a:tailEnd type="triangle" w="med" len="med"/>
          </a:ln>
        </p:spPr>
      </p:cxnSp>
      <p:cxnSp>
        <p:nvCxnSpPr>
          <p:cNvPr id="361506" name="AutoShape 89"/>
          <p:cNvCxnSpPr>
            <a:cxnSpLocks noChangeShapeType="1"/>
            <a:stCxn id="361486" idx="3"/>
            <a:endCxn id="361492" idx="1"/>
          </p:cNvCxnSpPr>
          <p:nvPr/>
        </p:nvCxnSpPr>
        <p:spPr bwMode="auto">
          <a:xfrm flipV="1">
            <a:off x="4364502" y="3963748"/>
            <a:ext cx="387349" cy="7120"/>
          </a:xfrm>
          <a:prstGeom prst="straightConnector1">
            <a:avLst/>
          </a:prstGeom>
          <a:noFill/>
          <a:ln w="9525">
            <a:solidFill>
              <a:schemeClr val="bg1">
                <a:lumMod val="50000"/>
              </a:schemeClr>
            </a:solidFill>
            <a:round/>
            <a:headEnd/>
            <a:tailEnd type="triangle" w="med" len="med"/>
          </a:ln>
        </p:spPr>
      </p:cxnSp>
      <p:cxnSp>
        <p:nvCxnSpPr>
          <p:cNvPr id="361507" name="AutoShape 90"/>
          <p:cNvCxnSpPr>
            <a:cxnSpLocks noChangeShapeType="1"/>
            <a:stCxn id="361492" idx="3"/>
            <a:endCxn id="361494" idx="1"/>
          </p:cNvCxnSpPr>
          <p:nvPr/>
        </p:nvCxnSpPr>
        <p:spPr bwMode="auto">
          <a:xfrm flipV="1">
            <a:off x="5903318" y="3962159"/>
            <a:ext cx="1220085" cy="1588"/>
          </a:xfrm>
          <a:prstGeom prst="straightConnector1">
            <a:avLst/>
          </a:prstGeom>
          <a:noFill/>
          <a:ln w="9525">
            <a:solidFill>
              <a:schemeClr val="bg1">
                <a:lumMod val="50000"/>
              </a:schemeClr>
            </a:solidFill>
            <a:round/>
            <a:headEnd/>
            <a:tailEnd type="triangle" w="med" len="med"/>
          </a:ln>
        </p:spPr>
      </p:cxnSp>
      <p:cxnSp>
        <p:nvCxnSpPr>
          <p:cNvPr id="361508" name="AutoShape 91"/>
          <p:cNvCxnSpPr>
            <a:cxnSpLocks noChangeShapeType="1"/>
            <a:stCxn id="361493" idx="3"/>
            <a:endCxn id="361488" idx="1"/>
          </p:cNvCxnSpPr>
          <p:nvPr/>
        </p:nvCxnSpPr>
        <p:spPr bwMode="auto">
          <a:xfrm>
            <a:off x="8274870" y="3601797"/>
            <a:ext cx="383117" cy="1588"/>
          </a:xfrm>
          <a:prstGeom prst="straightConnector1">
            <a:avLst/>
          </a:prstGeom>
          <a:noFill/>
          <a:ln w="9525">
            <a:solidFill>
              <a:schemeClr val="bg1">
                <a:lumMod val="50000"/>
              </a:schemeClr>
            </a:solidFill>
            <a:round/>
            <a:headEnd/>
            <a:tailEnd type="triangle" w="med" len="med"/>
          </a:ln>
        </p:spPr>
      </p:cxnSp>
      <p:cxnSp>
        <p:nvCxnSpPr>
          <p:cNvPr id="361509" name="AutoShape 92"/>
          <p:cNvCxnSpPr>
            <a:cxnSpLocks noChangeShapeType="1"/>
            <a:stCxn id="361494" idx="3"/>
            <a:endCxn id="361489" idx="1"/>
          </p:cNvCxnSpPr>
          <p:nvPr/>
        </p:nvCxnSpPr>
        <p:spPr bwMode="auto">
          <a:xfrm>
            <a:off x="8274870" y="3962159"/>
            <a:ext cx="383117" cy="1588"/>
          </a:xfrm>
          <a:prstGeom prst="straightConnector1">
            <a:avLst/>
          </a:prstGeom>
          <a:noFill/>
          <a:ln w="9525">
            <a:solidFill>
              <a:schemeClr val="bg1">
                <a:lumMod val="50000"/>
              </a:schemeClr>
            </a:solidFill>
            <a:round/>
            <a:headEnd/>
            <a:tailEnd type="triangle" w="med" len="med"/>
          </a:ln>
        </p:spPr>
      </p:cxnSp>
      <p:cxnSp>
        <p:nvCxnSpPr>
          <p:cNvPr id="361510" name="AutoShape 93"/>
          <p:cNvCxnSpPr>
            <a:cxnSpLocks noChangeShapeType="1"/>
            <a:stCxn id="361495" idx="3"/>
            <a:endCxn id="361490" idx="1"/>
          </p:cNvCxnSpPr>
          <p:nvPr/>
        </p:nvCxnSpPr>
        <p:spPr bwMode="auto">
          <a:xfrm>
            <a:off x="8274870" y="4322522"/>
            <a:ext cx="383117" cy="1588"/>
          </a:xfrm>
          <a:prstGeom prst="straightConnector1">
            <a:avLst/>
          </a:prstGeom>
          <a:noFill/>
          <a:ln w="9525">
            <a:solidFill>
              <a:schemeClr val="bg1">
                <a:lumMod val="50000"/>
              </a:schemeClr>
            </a:solidFill>
            <a:round/>
            <a:headEnd/>
            <a:tailEnd type="triangle" w="med" len="med"/>
          </a:ln>
        </p:spPr>
      </p:cxnSp>
      <p:sp>
        <p:nvSpPr>
          <p:cNvPr id="361513" name="Text Box 96"/>
          <p:cNvSpPr txBox="1">
            <a:spLocks noChangeArrowheads="1"/>
          </p:cNvSpPr>
          <p:nvPr/>
        </p:nvSpPr>
        <p:spPr bwMode="auto">
          <a:xfrm>
            <a:off x="5903285" y="3709483"/>
            <a:ext cx="1248833" cy="515526"/>
          </a:xfrm>
          <a:prstGeom prst="rect">
            <a:avLst/>
          </a:prstGeom>
          <a:noFill/>
          <a:ln w="9525">
            <a:noFill/>
            <a:miter lim="800000"/>
            <a:headEnd/>
            <a:tailEnd/>
          </a:ln>
        </p:spPr>
        <p:txBody>
          <a:bodyPr>
            <a:spAutoFit/>
          </a:bodyPr>
          <a:lstStyle/>
          <a:p>
            <a:pPr marL="0" marR="0" lvl="0" indent="0" algn="l" defTabSz="914400" rtl="0" eaLnBrk="1" fontAlgn="auto" latinLnBrk="1" hangingPunct="1">
              <a:lnSpc>
                <a:spcPct val="100000"/>
              </a:lnSpc>
              <a:spcBef>
                <a:spcPct val="50000"/>
              </a:spcBef>
              <a:spcAft>
                <a:spcPts val="0"/>
              </a:spcAft>
              <a:buClrTx/>
              <a:buSzTx/>
              <a:buFontTx/>
              <a:buNone/>
              <a:tabLst/>
              <a:defRPr/>
            </a:pPr>
            <a:r>
              <a:rPr kumimoji="1" lang="ko-KR" altLang="en-US" sz="1100" b="1" i="0" u="none" strike="noStrike" kern="1200" cap="none" spc="0" normalizeH="0" baseline="0" noProof="0" dirty="0">
                <a:ln>
                  <a:noFill/>
                </a:ln>
                <a:solidFill>
                  <a:srgbClr val="402B06"/>
                </a:solidFill>
                <a:effectLst/>
                <a:uLnTx/>
                <a:uFillTx/>
                <a:latin typeface="Rix모던고딕 B"/>
                <a:ea typeface="Rix모던고딕 B"/>
                <a:cs typeface="+mn-cs"/>
              </a:rPr>
              <a:t>각지정국에</a:t>
            </a:r>
          </a:p>
          <a:p>
            <a:pPr marL="0" marR="0" lvl="0" indent="0" algn="l" defTabSz="914400" rtl="0" eaLnBrk="1" fontAlgn="auto" latinLnBrk="1" hangingPunct="1">
              <a:lnSpc>
                <a:spcPct val="100000"/>
              </a:lnSpc>
              <a:spcBef>
                <a:spcPct val="50000"/>
              </a:spcBef>
              <a:spcAft>
                <a:spcPts val="0"/>
              </a:spcAft>
              <a:buClrTx/>
              <a:buSzTx/>
              <a:buFontTx/>
              <a:buNone/>
              <a:tabLst/>
              <a:defRPr/>
            </a:pPr>
            <a:r>
              <a:rPr kumimoji="1" lang="ko-KR" altLang="en-US" sz="1100" b="1" i="0" u="none" strike="noStrike" kern="1200" cap="none" spc="0" normalizeH="0" baseline="0" noProof="0" dirty="0">
                <a:ln>
                  <a:noFill/>
                </a:ln>
                <a:solidFill>
                  <a:srgbClr val="402B06"/>
                </a:solidFill>
                <a:effectLst/>
                <a:uLnTx/>
                <a:uFillTx/>
                <a:latin typeface="Rix모던고딕 B"/>
                <a:ea typeface="Rix모던고딕 B"/>
                <a:cs typeface="+mn-cs"/>
              </a:rPr>
              <a:t>번역문제출</a:t>
            </a:r>
          </a:p>
        </p:txBody>
      </p:sp>
      <p:sp>
        <p:nvSpPr>
          <p:cNvPr id="361518" name="Rectangle 101"/>
          <p:cNvSpPr>
            <a:spLocks noChangeArrowheads="1"/>
          </p:cNvSpPr>
          <p:nvPr/>
        </p:nvSpPr>
        <p:spPr bwMode="auto">
          <a:xfrm>
            <a:off x="8779869" y="5269159"/>
            <a:ext cx="1248833" cy="287337"/>
          </a:xfrm>
          <a:prstGeom prst="rect">
            <a:avLst/>
          </a:prstGeom>
          <a:solidFill>
            <a:schemeClr val="accent3">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A</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특허권</a:t>
            </a:r>
          </a:p>
        </p:txBody>
      </p:sp>
      <p:sp>
        <p:nvSpPr>
          <p:cNvPr id="361519" name="Rectangle 102"/>
          <p:cNvSpPr>
            <a:spLocks noChangeArrowheads="1"/>
          </p:cNvSpPr>
          <p:nvPr/>
        </p:nvSpPr>
        <p:spPr bwMode="auto">
          <a:xfrm>
            <a:off x="8779869" y="5629520"/>
            <a:ext cx="1248833" cy="287338"/>
          </a:xfrm>
          <a:prstGeom prst="rect">
            <a:avLst/>
          </a:prstGeom>
          <a:solidFill>
            <a:schemeClr val="accent3">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B</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특허권</a:t>
            </a:r>
          </a:p>
        </p:txBody>
      </p:sp>
      <p:sp>
        <p:nvSpPr>
          <p:cNvPr id="361520" name="Rectangle 103"/>
          <p:cNvSpPr>
            <a:spLocks noChangeArrowheads="1"/>
          </p:cNvSpPr>
          <p:nvPr/>
        </p:nvSpPr>
        <p:spPr bwMode="auto">
          <a:xfrm>
            <a:off x="8783605" y="5989884"/>
            <a:ext cx="1248833" cy="287337"/>
          </a:xfrm>
          <a:prstGeom prst="rect">
            <a:avLst/>
          </a:prstGeom>
          <a:solidFill>
            <a:schemeClr val="accent3">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C</a:t>
            </a: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국 특허권</a:t>
            </a:r>
          </a:p>
        </p:txBody>
      </p:sp>
      <p:sp>
        <p:nvSpPr>
          <p:cNvPr id="361521" name="Rectangle 104"/>
          <p:cNvSpPr>
            <a:spLocks noChangeArrowheads="1"/>
          </p:cNvSpPr>
          <p:nvPr/>
        </p:nvSpPr>
        <p:spPr bwMode="auto">
          <a:xfrm>
            <a:off x="2444684" y="5342183"/>
            <a:ext cx="1915387" cy="863600"/>
          </a:xfrm>
          <a:prstGeom prst="rect">
            <a:avLst/>
          </a:prstGeom>
          <a:solidFill>
            <a:schemeClr val="accent3">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EPO</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출원</a:t>
            </a:r>
          </a:p>
        </p:txBody>
      </p:sp>
      <p:sp>
        <p:nvSpPr>
          <p:cNvPr id="361522" name="Rectangle 105"/>
          <p:cNvSpPr>
            <a:spLocks noChangeArrowheads="1"/>
          </p:cNvSpPr>
          <p:nvPr/>
        </p:nvSpPr>
        <p:spPr bwMode="auto">
          <a:xfrm>
            <a:off x="4751851" y="5486646"/>
            <a:ext cx="1151467" cy="576263"/>
          </a:xfrm>
          <a:prstGeom prst="rect">
            <a:avLst/>
          </a:prstGeom>
          <a:solidFill>
            <a:schemeClr val="accent3">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조사</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dirty="0">
                <a:ln>
                  <a:noFill/>
                </a:ln>
                <a:solidFill>
                  <a:prstClr val="black"/>
                </a:solidFill>
                <a:effectLst/>
                <a:uLnTx/>
                <a:uFillTx/>
                <a:latin typeface="Rix모던고딕 B"/>
                <a:ea typeface="Rix모던고딕 B"/>
                <a:cs typeface="+mn-cs"/>
              </a:rPr>
              <a:t>EPO </a:t>
            </a:r>
            <a:r>
              <a:rPr kumimoji="1" lang="ko-KR" altLang="en-US" sz="1100" b="0" i="0" u="none" strike="noStrike" kern="1200" cap="none" spc="0" normalizeH="0" baseline="0" noProof="0" dirty="0">
                <a:ln>
                  <a:noFill/>
                </a:ln>
                <a:solidFill>
                  <a:prstClr val="black"/>
                </a:solidFill>
                <a:effectLst/>
                <a:uLnTx/>
                <a:uFillTx/>
                <a:latin typeface="Rix모던고딕 B"/>
                <a:ea typeface="Rix모던고딕 B"/>
                <a:cs typeface="+mn-cs"/>
              </a:rPr>
              <a:t>공개</a:t>
            </a:r>
          </a:p>
        </p:txBody>
      </p:sp>
      <p:cxnSp>
        <p:nvCxnSpPr>
          <p:cNvPr id="361524" name="AutoShape 110"/>
          <p:cNvCxnSpPr>
            <a:cxnSpLocks noChangeShapeType="1"/>
            <a:stCxn id="361521" idx="3"/>
            <a:endCxn id="361522" idx="1"/>
          </p:cNvCxnSpPr>
          <p:nvPr/>
        </p:nvCxnSpPr>
        <p:spPr bwMode="auto">
          <a:xfrm>
            <a:off x="4360071" y="5773983"/>
            <a:ext cx="391780" cy="795"/>
          </a:xfrm>
          <a:prstGeom prst="straightConnector1">
            <a:avLst/>
          </a:prstGeom>
          <a:noFill/>
          <a:ln w="9525">
            <a:solidFill>
              <a:schemeClr val="bg1">
                <a:lumMod val="50000"/>
              </a:schemeClr>
            </a:solidFill>
            <a:round/>
            <a:headEnd/>
            <a:tailEnd type="triangle" w="med" len="med"/>
          </a:ln>
        </p:spPr>
      </p:cxnSp>
      <p:sp>
        <p:nvSpPr>
          <p:cNvPr id="361526" name="Rectangle 117"/>
          <p:cNvSpPr>
            <a:spLocks noChangeArrowheads="1"/>
          </p:cNvSpPr>
          <p:nvPr/>
        </p:nvSpPr>
        <p:spPr bwMode="auto">
          <a:xfrm>
            <a:off x="6284318" y="5486646"/>
            <a:ext cx="768351" cy="576263"/>
          </a:xfrm>
          <a:prstGeom prst="rect">
            <a:avLst/>
          </a:prstGeom>
          <a:solidFill>
            <a:schemeClr val="accent3">
              <a:lumMod val="20000"/>
              <a:lumOff val="80000"/>
            </a:schemeClr>
          </a:solidFill>
          <a:ln>
            <a:solidFill>
              <a:schemeClr val="bg1">
                <a:lumMod val="50000"/>
              </a:schemeClr>
            </a:solidFill>
            <a:headEnd/>
            <a:tailEnd/>
          </a:ln>
        </p:spPr>
        <p:style>
          <a:lnRef idx="2">
            <a:schemeClr val="accent4"/>
          </a:lnRef>
          <a:fillRef idx="1">
            <a:schemeClr val="lt1"/>
          </a:fillRef>
          <a:effectRef idx="0">
            <a:schemeClr val="accent4"/>
          </a:effectRef>
          <a:fontRef idx="minor">
            <a:schemeClr val="dk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1" lang="en-US" altLang="ko-KR" sz="1100" b="0" i="0" u="none" strike="noStrike" kern="1200" cap="none" spc="0" normalizeH="0" baseline="0" noProof="0">
                <a:ln>
                  <a:noFill/>
                </a:ln>
                <a:solidFill>
                  <a:prstClr val="black"/>
                </a:solidFill>
                <a:effectLst/>
                <a:uLnTx/>
                <a:uFillTx/>
                <a:latin typeface="Rix모던고딕 B"/>
                <a:ea typeface="Rix모던고딕 B"/>
                <a:cs typeface="+mn-cs"/>
              </a:rPr>
              <a:t>EPO</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1" lang="ko-KR" altLang="en-US" sz="1100" b="0" i="0" u="none" strike="noStrike" kern="1200" cap="none" spc="0" normalizeH="0" baseline="0" noProof="0">
                <a:ln>
                  <a:noFill/>
                </a:ln>
                <a:solidFill>
                  <a:prstClr val="black"/>
                </a:solidFill>
                <a:effectLst/>
                <a:uLnTx/>
                <a:uFillTx/>
                <a:latin typeface="Rix모던고딕 B"/>
                <a:ea typeface="Rix모던고딕 B"/>
                <a:cs typeface="+mn-cs"/>
              </a:rPr>
              <a:t>심사</a:t>
            </a:r>
          </a:p>
        </p:txBody>
      </p:sp>
      <p:cxnSp>
        <p:nvCxnSpPr>
          <p:cNvPr id="361527" name="AutoShape 118"/>
          <p:cNvCxnSpPr>
            <a:cxnSpLocks noChangeShapeType="1"/>
            <a:stCxn id="361522" idx="3"/>
            <a:endCxn id="361526" idx="1"/>
          </p:cNvCxnSpPr>
          <p:nvPr/>
        </p:nvCxnSpPr>
        <p:spPr bwMode="auto">
          <a:xfrm>
            <a:off x="5903317" y="5774777"/>
            <a:ext cx="381000" cy="1588"/>
          </a:xfrm>
          <a:prstGeom prst="straightConnector1">
            <a:avLst/>
          </a:prstGeom>
          <a:noFill/>
          <a:ln w="9525">
            <a:solidFill>
              <a:schemeClr val="bg1">
                <a:lumMod val="50000"/>
              </a:schemeClr>
            </a:solidFill>
            <a:round/>
            <a:headEnd/>
            <a:tailEnd type="triangle" w="med" len="med"/>
          </a:ln>
        </p:spPr>
      </p:cxnSp>
      <p:cxnSp>
        <p:nvCxnSpPr>
          <p:cNvPr id="361528" name="AutoShape 119"/>
          <p:cNvCxnSpPr>
            <a:cxnSpLocks noChangeShapeType="1"/>
            <a:stCxn id="361526" idx="3"/>
            <a:endCxn id="361519" idx="1"/>
          </p:cNvCxnSpPr>
          <p:nvPr/>
        </p:nvCxnSpPr>
        <p:spPr bwMode="auto">
          <a:xfrm flipV="1">
            <a:off x="7052668" y="5773189"/>
            <a:ext cx="1727200" cy="1588"/>
          </a:xfrm>
          <a:prstGeom prst="straightConnector1">
            <a:avLst/>
          </a:prstGeom>
          <a:noFill/>
          <a:ln w="9525">
            <a:solidFill>
              <a:schemeClr val="bg1">
                <a:lumMod val="50000"/>
              </a:schemeClr>
            </a:solidFill>
            <a:round/>
            <a:headEnd/>
            <a:tailEnd type="triangle" w="med" len="med"/>
          </a:ln>
        </p:spPr>
      </p:cxnSp>
      <p:sp>
        <p:nvSpPr>
          <p:cNvPr id="361529" name="Text Box 120"/>
          <p:cNvSpPr txBox="1">
            <a:spLocks noChangeArrowheads="1"/>
          </p:cNvSpPr>
          <p:nvPr/>
        </p:nvSpPr>
        <p:spPr bwMode="auto">
          <a:xfrm>
            <a:off x="7057099" y="5486645"/>
            <a:ext cx="1727200" cy="261610"/>
          </a:xfrm>
          <a:prstGeom prst="rect">
            <a:avLst/>
          </a:prstGeom>
          <a:noFill/>
          <a:ln w="9525">
            <a:noFill/>
            <a:miter lim="800000"/>
            <a:headEnd/>
            <a:tailEnd/>
          </a:ln>
        </p:spPr>
        <p:txBody>
          <a:bodyPr>
            <a:spAutoFit/>
          </a:bodyPr>
          <a:lstStyle/>
          <a:p>
            <a:pPr marL="0" marR="0" lvl="0" indent="0" algn="l" defTabSz="914400" rtl="0" eaLnBrk="1" fontAlgn="auto" latinLnBrk="1" hangingPunct="1">
              <a:lnSpc>
                <a:spcPct val="100000"/>
              </a:lnSpc>
              <a:spcBef>
                <a:spcPct val="50000"/>
              </a:spcBef>
              <a:spcAft>
                <a:spcPts val="0"/>
              </a:spcAft>
              <a:buClrTx/>
              <a:buSzTx/>
              <a:buFontTx/>
              <a:buNone/>
              <a:tabLst/>
              <a:defRPr/>
            </a:pPr>
            <a:r>
              <a:rPr kumimoji="1" lang="ko-KR" altLang="en-US" sz="1100" b="1" i="0" u="none" strike="noStrike" kern="1200" cap="none" spc="0" normalizeH="0" baseline="0" noProof="0" dirty="0">
                <a:ln>
                  <a:noFill/>
                </a:ln>
                <a:solidFill>
                  <a:srgbClr val="402B06"/>
                </a:solidFill>
                <a:effectLst/>
                <a:uLnTx/>
                <a:uFillTx/>
                <a:latin typeface="Rix모던고딕 B"/>
                <a:ea typeface="Rix모던고딕 B"/>
                <a:cs typeface="+mn-cs"/>
              </a:rPr>
              <a:t>각지정국에 등록</a:t>
            </a:r>
          </a:p>
        </p:txBody>
      </p:sp>
      <p:sp>
        <p:nvSpPr>
          <p:cNvPr id="361533" name="AutoShape 134"/>
          <p:cNvSpPr>
            <a:spLocks noChangeArrowheads="1"/>
          </p:cNvSpPr>
          <p:nvPr/>
        </p:nvSpPr>
        <p:spPr bwMode="gray">
          <a:xfrm>
            <a:off x="1294972" y="1153822"/>
            <a:ext cx="2305049" cy="360362"/>
          </a:xfrm>
          <a:prstGeom prst="homePlate">
            <a:avLst>
              <a:gd name="adj" fmla="val 53571"/>
            </a:avLst>
          </a:prstGeom>
          <a:ln>
            <a:headEnd/>
            <a:tailEnd/>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FFFF"/>
                </a:solidFill>
                <a:effectLst/>
                <a:uLnTx/>
                <a:uFillTx/>
                <a:latin typeface="Rix모던고딕 B"/>
                <a:ea typeface="Rix모던고딕 B"/>
                <a:cs typeface="+mn-cs"/>
              </a:rPr>
              <a:t>직접해외출원</a:t>
            </a:r>
          </a:p>
        </p:txBody>
      </p:sp>
      <p:sp>
        <p:nvSpPr>
          <p:cNvPr id="361534" name="AutoShape 135"/>
          <p:cNvSpPr>
            <a:spLocks noChangeArrowheads="1"/>
          </p:cNvSpPr>
          <p:nvPr/>
        </p:nvSpPr>
        <p:spPr bwMode="gray">
          <a:xfrm>
            <a:off x="1294972" y="2954022"/>
            <a:ext cx="2305049" cy="360362"/>
          </a:xfrm>
          <a:prstGeom prst="homePlate">
            <a:avLst>
              <a:gd name="adj" fmla="val 53571"/>
            </a:avLst>
          </a:prstGeom>
          <a:ln>
            <a:headEnd/>
            <a:tailEnd/>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FFFFFF"/>
                </a:solidFill>
                <a:effectLst/>
                <a:uLnTx/>
                <a:uFillTx/>
                <a:latin typeface="Rix모던고딕 B"/>
                <a:ea typeface="Rix모던고딕 B"/>
                <a:cs typeface="+mn-cs"/>
              </a:rPr>
              <a:t>PCT</a:t>
            </a:r>
            <a:r>
              <a:rPr kumimoji="0" lang="ko-KR" altLang="en-US" sz="1200" b="0" i="0" u="none" strike="noStrike" kern="1200" cap="none" spc="0" normalizeH="0" baseline="0" noProof="0" dirty="0">
                <a:ln>
                  <a:noFill/>
                </a:ln>
                <a:solidFill>
                  <a:srgbClr val="FFFFFF"/>
                </a:solidFill>
                <a:effectLst/>
                <a:uLnTx/>
                <a:uFillTx/>
                <a:latin typeface="Rix모던고딕 B"/>
                <a:ea typeface="Rix모던고딕 B"/>
                <a:cs typeface="+mn-cs"/>
              </a:rPr>
              <a:t>출원</a:t>
            </a:r>
            <a:r>
              <a:rPr kumimoji="0" lang="en-US" altLang="ko-KR" sz="1200" b="0" i="0" u="none" strike="noStrike" kern="1200" cap="none" spc="0" normalizeH="0" baseline="0" noProof="0" dirty="0">
                <a:ln>
                  <a:noFill/>
                </a:ln>
                <a:solidFill>
                  <a:srgbClr val="FFFFFF"/>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srgbClr val="FFFFFF"/>
                </a:solidFill>
                <a:effectLst/>
                <a:uLnTx/>
                <a:uFillTx/>
                <a:latin typeface="Rix모던고딕 B"/>
                <a:ea typeface="Rix모던고딕 B"/>
                <a:cs typeface="+mn-cs"/>
              </a:rPr>
              <a:t>국제출원</a:t>
            </a:r>
            <a:r>
              <a:rPr kumimoji="0" lang="en-US" altLang="ko-KR" sz="1200" b="0" i="0" u="none" strike="noStrike" kern="1200" cap="none" spc="0" normalizeH="0" baseline="0" noProof="0" dirty="0">
                <a:ln>
                  <a:noFill/>
                </a:ln>
                <a:solidFill>
                  <a:srgbClr val="FFFFFF"/>
                </a:solidFill>
                <a:effectLst/>
                <a:uLnTx/>
                <a:uFillTx/>
                <a:latin typeface="Rix모던고딕 B"/>
                <a:ea typeface="Rix모던고딕 B"/>
                <a:cs typeface="+mn-cs"/>
              </a:rPr>
              <a:t>)</a:t>
            </a:r>
            <a:endParaRPr kumimoji="0" lang="ko-KR" altLang="en-US" sz="120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361535" name="AutoShape 136"/>
          <p:cNvSpPr>
            <a:spLocks noChangeArrowheads="1"/>
          </p:cNvSpPr>
          <p:nvPr/>
        </p:nvSpPr>
        <p:spPr bwMode="gray">
          <a:xfrm>
            <a:off x="1294972" y="4754222"/>
            <a:ext cx="2305049" cy="360362"/>
          </a:xfrm>
          <a:prstGeom prst="homePlate">
            <a:avLst>
              <a:gd name="adj" fmla="val 53571"/>
            </a:avLst>
          </a:prstGeom>
          <a:ln>
            <a:headEnd/>
            <a:tailEnd/>
          </a:ln>
        </p:spPr>
        <p:style>
          <a:lnRef idx="2">
            <a:schemeClr val="accent3">
              <a:shade val="50000"/>
            </a:schemeClr>
          </a:lnRef>
          <a:fillRef idx="1">
            <a:schemeClr val="accent3"/>
          </a:fillRef>
          <a:effectRef idx="0">
            <a:schemeClr val="accent3"/>
          </a:effectRef>
          <a:fontRef idx="minor">
            <a:schemeClr val="lt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FFFFFF"/>
                </a:solidFill>
                <a:effectLst/>
                <a:uLnTx/>
                <a:uFillTx/>
                <a:latin typeface="Rix모던고딕 B"/>
                <a:ea typeface="Rix모던고딕 B"/>
                <a:cs typeface="+mn-cs"/>
              </a:rPr>
              <a:t>EPO</a:t>
            </a:r>
            <a:r>
              <a:rPr kumimoji="0" lang="ko-KR" altLang="en-US" sz="1200" b="0" i="0" u="none" strike="noStrike" kern="1200" cap="none" spc="0" normalizeH="0" baseline="0" noProof="0" dirty="0">
                <a:ln>
                  <a:noFill/>
                </a:ln>
                <a:solidFill>
                  <a:srgbClr val="FFFFFF"/>
                </a:solidFill>
                <a:effectLst/>
                <a:uLnTx/>
                <a:uFillTx/>
                <a:latin typeface="Rix모던고딕 B"/>
                <a:ea typeface="Rix모던고딕 B"/>
                <a:cs typeface="+mn-cs"/>
              </a:rPr>
              <a:t>출원</a:t>
            </a:r>
          </a:p>
        </p:txBody>
      </p:sp>
      <p:sp>
        <p:nvSpPr>
          <p:cNvPr id="4" name="제목 3"/>
          <p:cNvSpPr>
            <a:spLocks noGrp="1"/>
          </p:cNvSpPr>
          <p:nvPr>
            <p:ph type="title"/>
          </p:nvPr>
        </p:nvSpPr>
        <p:spPr/>
        <p:txBody>
          <a:bodyPr/>
          <a:lstStyle/>
          <a:p>
            <a:r>
              <a:rPr lang="ko-KR" altLang="en-US" dirty="0" err="1"/>
              <a:t>참고노트</a:t>
            </a:r>
            <a:endParaRPr lang="ko-KR" altLang="en-US" dirty="0"/>
          </a:p>
        </p:txBody>
      </p:sp>
      <p:sp>
        <p:nvSpPr>
          <p:cNvPr id="5" name="텍스트 개체 틀 4"/>
          <p:cNvSpPr>
            <a:spLocks noGrp="1"/>
          </p:cNvSpPr>
          <p:nvPr>
            <p:ph type="body" sz="quarter" idx="13"/>
          </p:nvPr>
        </p:nvSpPr>
        <p:spPr/>
        <p:txBody>
          <a:bodyPr/>
          <a:lstStyle/>
          <a:p>
            <a:r>
              <a:rPr lang="ko-KR" altLang="en-US" dirty="0"/>
              <a:t>해외출원루트의 선택</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545</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814843991"/>
      </p:ext>
    </p:extLst>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 name="직사각형 227"/>
          <p:cNvSpPr/>
          <p:nvPr/>
        </p:nvSpPr>
        <p:spPr>
          <a:xfrm>
            <a:off x="6269372" y="1258993"/>
            <a:ext cx="5044403" cy="3639857"/>
          </a:xfrm>
          <a:prstGeom prst="rect">
            <a:avLst/>
          </a:prstGeom>
          <a:no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27" name="직사각형 226"/>
          <p:cNvSpPr/>
          <p:nvPr/>
        </p:nvSpPr>
        <p:spPr>
          <a:xfrm>
            <a:off x="752601" y="4960561"/>
            <a:ext cx="5044403" cy="1450155"/>
          </a:xfrm>
          <a:prstGeom prst="rect">
            <a:avLst/>
          </a:prstGeom>
          <a:no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26" name="직사각형 225"/>
          <p:cNvSpPr/>
          <p:nvPr/>
        </p:nvSpPr>
        <p:spPr>
          <a:xfrm>
            <a:off x="6269372" y="4960561"/>
            <a:ext cx="5044403" cy="1450155"/>
          </a:xfrm>
          <a:prstGeom prst="rect">
            <a:avLst/>
          </a:prstGeom>
          <a:noFill/>
          <a:ln>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1" name="Rectangle 14"/>
          <p:cNvSpPr>
            <a:spLocks noChangeArrowheads="1"/>
          </p:cNvSpPr>
          <p:nvPr/>
        </p:nvSpPr>
        <p:spPr bwMode="auto">
          <a:xfrm>
            <a:off x="1904729" y="1605089"/>
            <a:ext cx="3744417" cy="458321"/>
          </a:xfrm>
          <a:prstGeom prst="rect">
            <a:avLst/>
          </a:prstGeom>
          <a:noFill/>
          <a:ln w="9525" algn="ctr">
            <a:solidFill>
              <a:schemeClr val="bg1">
                <a:lumMod val="50000"/>
              </a:schemeClr>
            </a:solidFill>
            <a:miter lim="800000"/>
            <a:headEnd/>
            <a:tailEnd/>
          </a:ln>
        </p:spPr>
        <p:txBody>
          <a:bodyPr wrap="square" anchor="b"/>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각국 국내법에서 정하는 방식</a:t>
            </a: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EB"/>
                <a:cs typeface="+mn-cs"/>
              </a:rPr>
              <a:t> </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및 언어로 작성된 출원서류를 각국 특허담당 정부기관에 제출</a:t>
            </a:r>
          </a:p>
        </p:txBody>
      </p:sp>
      <p:sp>
        <p:nvSpPr>
          <p:cNvPr id="6" name="Rectangle 13"/>
          <p:cNvSpPr>
            <a:spLocks noChangeArrowheads="1"/>
          </p:cNvSpPr>
          <p:nvPr/>
        </p:nvSpPr>
        <p:spPr bwMode="auto">
          <a:xfrm>
            <a:off x="4778578" y="956652"/>
            <a:ext cx="1801284" cy="246688"/>
          </a:xfrm>
          <a:prstGeom prst="rect">
            <a:avLst/>
          </a:prstGeom>
          <a:solidFill>
            <a:schemeClr val="accent2"/>
          </a:solidFill>
          <a:ln w="9525" algn="ctr">
            <a:solidFill>
              <a:srgbClr val="5F5F5F"/>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Rix모던고딕 EB"/>
                <a:ea typeface="Rix모던고딕 EB"/>
                <a:cs typeface="+mn-cs"/>
              </a:rPr>
              <a:t>출원인</a:t>
            </a:r>
          </a:p>
        </p:txBody>
      </p:sp>
      <p:sp>
        <p:nvSpPr>
          <p:cNvPr id="7" name="Rectangle 14"/>
          <p:cNvSpPr>
            <a:spLocks noChangeArrowheads="1"/>
          </p:cNvSpPr>
          <p:nvPr/>
        </p:nvSpPr>
        <p:spPr bwMode="auto">
          <a:xfrm>
            <a:off x="895358" y="1445774"/>
            <a:ext cx="1801284" cy="245491"/>
          </a:xfrm>
          <a:prstGeom prst="roundRect">
            <a:avLst>
              <a:gd name="adj" fmla="val 50000"/>
            </a:avLst>
          </a:prstGeom>
          <a:solidFill>
            <a:schemeClr val="accent1">
              <a:lumMod val="40000"/>
              <a:lumOff val="6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일반해외출원</a:t>
            </a:r>
          </a:p>
        </p:txBody>
      </p:sp>
      <p:sp>
        <p:nvSpPr>
          <p:cNvPr id="19" name="Rectangle 14"/>
          <p:cNvSpPr>
            <a:spLocks noChangeArrowheads="1"/>
          </p:cNvSpPr>
          <p:nvPr/>
        </p:nvSpPr>
        <p:spPr bwMode="auto">
          <a:xfrm>
            <a:off x="912688" y="5252911"/>
            <a:ext cx="1088053" cy="35445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EB"/>
                <a:cs typeface="+mn-cs"/>
              </a:rPr>
              <a:t>A</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국 특허담당</a:t>
            </a:r>
            <a:endParaRPr kumimoji="0" lang="en-US" altLang="ko-KR" sz="1000" b="0" i="0" u="none" strike="noStrike" kern="1200" cap="none" spc="0" normalizeH="0" baseline="0" noProof="0" dirty="0">
              <a:ln>
                <a:noFill/>
              </a:ln>
              <a:solidFill>
                <a:prstClr val="black"/>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정부기관</a:t>
            </a:r>
          </a:p>
        </p:txBody>
      </p:sp>
      <p:cxnSp>
        <p:nvCxnSpPr>
          <p:cNvPr id="24" name="직선 화살표 연결선 23"/>
          <p:cNvCxnSpPr>
            <a:cxnSpLocks/>
            <a:stCxn id="19" idx="2"/>
            <a:endCxn id="154" idx="0"/>
          </p:cNvCxnSpPr>
          <p:nvPr/>
        </p:nvCxnSpPr>
        <p:spPr>
          <a:xfrm>
            <a:off x="1456715" y="5607362"/>
            <a:ext cx="0" cy="10631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Rectangle 14"/>
          <p:cNvSpPr>
            <a:spLocks noChangeArrowheads="1"/>
          </p:cNvSpPr>
          <p:nvPr/>
        </p:nvSpPr>
        <p:spPr bwMode="auto">
          <a:xfrm>
            <a:off x="2224927" y="5252911"/>
            <a:ext cx="1088053" cy="35445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EB"/>
                <a:cs typeface="+mn-cs"/>
              </a:rPr>
              <a:t>B</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국 </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B"/>
                <a:cs typeface="+mn-cs"/>
              </a:rPr>
              <a:t>특허담당</a:t>
            </a:r>
            <a:endParaRPr kumimoji="0" lang="en-US" altLang="ko-KR" sz="1000" b="0" i="0" u="none" strike="noStrike" kern="1200" cap="none" spc="0" normalizeH="0" baseline="0" noProof="0" dirty="0">
              <a:ln>
                <a:noFill/>
              </a:ln>
              <a:solidFill>
                <a:prstClr val="black"/>
              </a:solidFill>
              <a:effectLst/>
              <a:uLnTx/>
              <a:uFillTx/>
              <a:latin typeface="Rix모던고딕 E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B"/>
                <a:cs typeface="+mn-cs"/>
              </a:rPr>
              <a:t>정부기관</a:t>
            </a:r>
            <a:endPar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96" name="Rectangle 14"/>
          <p:cNvSpPr>
            <a:spLocks noChangeArrowheads="1"/>
          </p:cNvSpPr>
          <p:nvPr/>
        </p:nvSpPr>
        <p:spPr bwMode="auto">
          <a:xfrm>
            <a:off x="3537166" y="5252911"/>
            <a:ext cx="1088053" cy="35445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EB"/>
                <a:cs typeface="+mn-cs"/>
              </a:rPr>
              <a:t>C</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국 </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B"/>
                <a:cs typeface="+mn-cs"/>
              </a:rPr>
              <a:t>특허담당</a:t>
            </a:r>
            <a:endParaRPr kumimoji="0" lang="en-US" altLang="ko-KR" sz="1000" b="0" i="0" u="none" strike="noStrike" kern="1200" cap="none" spc="0" normalizeH="0" baseline="0" noProof="0" dirty="0">
              <a:ln>
                <a:noFill/>
              </a:ln>
              <a:solidFill>
                <a:prstClr val="black"/>
              </a:solidFill>
              <a:effectLst/>
              <a:uLnTx/>
              <a:uFillTx/>
              <a:latin typeface="Rix모던고딕 E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B"/>
                <a:cs typeface="+mn-cs"/>
              </a:rPr>
              <a:t>정부기관</a:t>
            </a:r>
            <a:endPar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121" name="Rectangle 14"/>
          <p:cNvSpPr>
            <a:spLocks noChangeArrowheads="1"/>
          </p:cNvSpPr>
          <p:nvPr/>
        </p:nvSpPr>
        <p:spPr bwMode="auto">
          <a:xfrm>
            <a:off x="7426602" y="1652224"/>
            <a:ext cx="3744417" cy="421649"/>
          </a:xfrm>
          <a:prstGeom prst="rect">
            <a:avLst/>
          </a:prstGeom>
          <a:solidFill>
            <a:schemeClr val="bg1"/>
          </a:solidFill>
          <a:ln w="9525" algn="ctr">
            <a:solidFill>
              <a:schemeClr val="bg1">
                <a:lumMod val="50000"/>
              </a:schemeClr>
            </a:solidFill>
            <a:miter lim="800000"/>
            <a:headEnd/>
            <a:tailEnd/>
          </a:ln>
        </p:spPr>
        <p:txBody>
          <a:bodyPr wrap="square" anchor="b"/>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EB"/>
                <a:cs typeface="+mn-cs"/>
              </a:rPr>
              <a:t>PCT</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에서 정하는 방식 및 언어로 지정국이 기재된 출원서 등을 수리관청이나 국제사무국에 제출</a:t>
            </a:r>
          </a:p>
        </p:txBody>
      </p:sp>
      <p:sp>
        <p:nvSpPr>
          <p:cNvPr id="122" name="Rectangle 14"/>
          <p:cNvSpPr>
            <a:spLocks noChangeArrowheads="1"/>
          </p:cNvSpPr>
          <p:nvPr/>
        </p:nvSpPr>
        <p:spPr bwMode="auto">
          <a:xfrm>
            <a:off x="6417231" y="1440014"/>
            <a:ext cx="1801284" cy="245491"/>
          </a:xfrm>
          <a:prstGeom prst="roundRect">
            <a:avLst>
              <a:gd name="adj" fmla="val 50000"/>
            </a:avLst>
          </a:prstGeom>
          <a:solidFill>
            <a:schemeClr val="accent6">
              <a:lumMod val="40000"/>
              <a:lumOff val="6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EB"/>
                <a:cs typeface="+mn-cs"/>
              </a:rPr>
              <a:t>PCT</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출원</a:t>
            </a: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EB"/>
                <a:cs typeface="+mn-cs"/>
              </a:rPr>
              <a:t>(</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국제출원</a:t>
            </a: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EB"/>
                <a:cs typeface="+mn-cs"/>
              </a:rPr>
              <a:t>)</a:t>
            </a:r>
            <a:endPar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142" name="Rectangle 14"/>
          <p:cNvSpPr>
            <a:spLocks noChangeArrowheads="1"/>
          </p:cNvSpPr>
          <p:nvPr/>
        </p:nvSpPr>
        <p:spPr bwMode="auto">
          <a:xfrm>
            <a:off x="7426602" y="2305537"/>
            <a:ext cx="3744417" cy="258216"/>
          </a:xfrm>
          <a:prstGeom prst="rect">
            <a:avLst/>
          </a:prstGeom>
          <a:solidFill>
            <a:schemeClr val="bg1"/>
          </a:solidFill>
          <a:ln w="9525" algn="ctr">
            <a:solidFill>
              <a:schemeClr val="bg1">
                <a:lumMod val="50000"/>
              </a:schemeClr>
            </a:solidFill>
            <a:miter lim="800000"/>
            <a:headEnd/>
            <a:tailEnd/>
          </a:ln>
        </p:spPr>
        <p:txBody>
          <a:bodyPr wrap="square" anchor="b"/>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prstClr val="black"/>
                </a:solidFill>
                <a:effectLst/>
                <a:uLnTx/>
                <a:uFillTx/>
                <a:latin typeface="Rix모던고딕 EB"/>
                <a:ea typeface="Rix모던고딕 EB"/>
                <a:cs typeface="+mn-cs"/>
              </a:rPr>
              <a:t>선행기술조사 및 </a:t>
            </a:r>
            <a:r>
              <a:rPr kumimoji="0" lang="ko-KR" altLang="en-US" sz="1000" b="0" i="0" u="none" strike="noStrike" kern="1200" cap="none" spc="0" normalizeH="0" baseline="0" noProof="0" dirty="0" err="1">
                <a:ln>
                  <a:noFill/>
                </a:ln>
                <a:solidFill>
                  <a:prstClr val="black"/>
                </a:solidFill>
                <a:effectLst/>
                <a:uLnTx/>
                <a:uFillTx/>
                <a:latin typeface="Rix모던고딕 EB"/>
                <a:ea typeface="Rix모던고딕 EB"/>
                <a:cs typeface="+mn-cs"/>
              </a:rPr>
              <a:t>특허성</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 검토</a:t>
            </a:r>
          </a:p>
        </p:txBody>
      </p:sp>
      <p:sp>
        <p:nvSpPr>
          <p:cNvPr id="143" name="Rectangle 14"/>
          <p:cNvSpPr>
            <a:spLocks noChangeArrowheads="1"/>
          </p:cNvSpPr>
          <p:nvPr/>
        </p:nvSpPr>
        <p:spPr bwMode="auto">
          <a:xfrm>
            <a:off x="6417231" y="2104935"/>
            <a:ext cx="1801284" cy="245491"/>
          </a:xfrm>
          <a:prstGeom prst="roundRect">
            <a:avLst/>
          </a:prstGeom>
          <a:solidFill>
            <a:schemeClr val="accent3">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Rix모던고딕 EB"/>
                <a:ea typeface="Rix모던고딕 EB"/>
                <a:cs typeface="+mn-cs"/>
              </a:rPr>
              <a:t>국제조사</a:t>
            </a:r>
          </a:p>
        </p:txBody>
      </p:sp>
      <p:sp>
        <p:nvSpPr>
          <p:cNvPr id="147" name="Rectangle 14"/>
          <p:cNvSpPr>
            <a:spLocks noChangeArrowheads="1"/>
          </p:cNvSpPr>
          <p:nvPr/>
        </p:nvSpPr>
        <p:spPr bwMode="auto">
          <a:xfrm>
            <a:off x="6417231" y="3335235"/>
            <a:ext cx="1801284" cy="245491"/>
          </a:xfrm>
          <a:prstGeom prst="roundRect">
            <a:avLst>
              <a:gd name="adj" fmla="val 50000"/>
            </a:avLst>
          </a:prstGeom>
          <a:solidFill>
            <a:schemeClr val="accent6">
              <a:lumMod val="40000"/>
              <a:lumOff val="6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국제예비심사청구</a:t>
            </a:r>
          </a:p>
        </p:txBody>
      </p:sp>
      <p:sp>
        <p:nvSpPr>
          <p:cNvPr id="148" name="Rectangle 14"/>
          <p:cNvSpPr>
            <a:spLocks noChangeArrowheads="1"/>
          </p:cNvSpPr>
          <p:nvPr/>
        </p:nvSpPr>
        <p:spPr bwMode="auto">
          <a:xfrm>
            <a:off x="7426602" y="2835065"/>
            <a:ext cx="3744417" cy="405634"/>
          </a:xfrm>
          <a:prstGeom prst="rect">
            <a:avLst/>
          </a:prstGeom>
          <a:solidFill>
            <a:schemeClr val="bg1"/>
          </a:solidFill>
          <a:ln w="9525" algn="ctr">
            <a:solidFill>
              <a:schemeClr val="bg1">
                <a:lumMod val="50000"/>
              </a:schemeClr>
            </a:solidFill>
            <a:miter lim="800000"/>
            <a:headEnd/>
            <a:tailEnd/>
          </a:ln>
        </p:spPr>
        <p:txBody>
          <a:bodyPr wrap="square" anchor="b"/>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국제출원서류 및 국제조사보고서를 전자적 형태로 공개</a:t>
            </a:r>
          </a:p>
        </p:txBody>
      </p:sp>
      <p:sp>
        <p:nvSpPr>
          <p:cNvPr id="149" name="Rectangle 14"/>
          <p:cNvSpPr>
            <a:spLocks noChangeArrowheads="1"/>
          </p:cNvSpPr>
          <p:nvPr/>
        </p:nvSpPr>
        <p:spPr bwMode="auto">
          <a:xfrm>
            <a:off x="6417231" y="2648121"/>
            <a:ext cx="1801284" cy="245491"/>
          </a:xfrm>
          <a:prstGeom prst="roundRect">
            <a:avLst/>
          </a:prstGeom>
          <a:solidFill>
            <a:schemeClr val="accent3">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Rix모던고딕 EB"/>
                <a:ea typeface="Rix모던고딕 EB"/>
                <a:cs typeface="+mn-cs"/>
              </a:rPr>
              <a:t>국제공개</a:t>
            </a:r>
          </a:p>
        </p:txBody>
      </p:sp>
      <p:sp>
        <p:nvSpPr>
          <p:cNvPr id="150" name="Rectangle 14"/>
          <p:cNvSpPr>
            <a:spLocks noChangeArrowheads="1"/>
          </p:cNvSpPr>
          <p:nvPr/>
        </p:nvSpPr>
        <p:spPr bwMode="auto">
          <a:xfrm>
            <a:off x="7426602" y="3896951"/>
            <a:ext cx="3744417" cy="245491"/>
          </a:xfrm>
          <a:prstGeom prst="rect">
            <a:avLst/>
          </a:prstGeom>
          <a:solidFill>
            <a:schemeClr val="bg1"/>
          </a:solidFill>
          <a:ln w="9525" algn="ctr">
            <a:solidFill>
              <a:schemeClr val="bg1">
                <a:lumMod val="50000"/>
              </a:schemeClr>
            </a:solidFill>
            <a:miter lim="800000"/>
            <a:headEnd/>
            <a:tailEnd/>
          </a:ln>
        </p:spPr>
        <p:txBody>
          <a:bodyPr wrap="square" anchor="b"/>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Rix모던고딕 EB"/>
                <a:ea typeface="Rix모던고딕 EB"/>
                <a:cs typeface="+mn-cs"/>
              </a:rPr>
              <a:t>특허성</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 유무에 대한 예비적 판단</a:t>
            </a: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EB"/>
                <a:cs typeface="+mn-cs"/>
              </a:rPr>
              <a:t>(</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임의적 단계</a:t>
            </a: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EB"/>
                <a:cs typeface="+mn-cs"/>
              </a:rPr>
              <a:t>)</a:t>
            </a:r>
            <a:endPar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151" name="Rectangle 14"/>
          <p:cNvSpPr>
            <a:spLocks noChangeArrowheads="1"/>
          </p:cNvSpPr>
          <p:nvPr/>
        </p:nvSpPr>
        <p:spPr bwMode="auto">
          <a:xfrm>
            <a:off x="6417231" y="3677495"/>
            <a:ext cx="1801284" cy="245491"/>
          </a:xfrm>
          <a:prstGeom prst="roundRect">
            <a:avLst/>
          </a:prstGeom>
          <a:solidFill>
            <a:schemeClr val="accent3">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Rix모던고딕 EB"/>
                <a:ea typeface="Rix모던고딕 EB"/>
                <a:cs typeface="+mn-cs"/>
              </a:rPr>
              <a:t>국제예비심사</a:t>
            </a:r>
          </a:p>
        </p:txBody>
      </p:sp>
      <p:sp>
        <p:nvSpPr>
          <p:cNvPr id="152" name="Rectangle 14"/>
          <p:cNvSpPr>
            <a:spLocks noChangeArrowheads="1"/>
          </p:cNvSpPr>
          <p:nvPr/>
        </p:nvSpPr>
        <p:spPr bwMode="auto">
          <a:xfrm>
            <a:off x="7426602" y="4378507"/>
            <a:ext cx="3744417" cy="403997"/>
          </a:xfrm>
          <a:prstGeom prst="rect">
            <a:avLst/>
          </a:prstGeom>
          <a:solidFill>
            <a:schemeClr val="bg1"/>
          </a:solidFill>
          <a:ln w="9525" algn="ctr">
            <a:solidFill>
              <a:schemeClr val="bg1">
                <a:lumMod val="50000"/>
              </a:schemeClr>
            </a:solidFill>
            <a:miter lim="800000"/>
            <a:headEnd/>
            <a:tailEnd/>
          </a:ln>
        </p:spPr>
        <p:txBody>
          <a:bodyPr wrap="square" anchor="b"/>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기준일 전에 각 지정국이 요구하는 언어로 작성된 번역문을 각 지정관청에 제출</a:t>
            </a:r>
          </a:p>
        </p:txBody>
      </p:sp>
      <p:sp>
        <p:nvSpPr>
          <p:cNvPr id="153" name="Rectangle 14"/>
          <p:cNvSpPr>
            <a:spLocks noChangeArrowheads="1"/>
          </p:cNvSpPr>
          <p:nvPr/>
        </p:nvSpPr>
        <p:spPr bwMode="auto">
          <a:xfrm>
            <a:off x="6417231" y="4177905"/>
            <a:ext cx="1801284" cy="245491"/>
          </a:xfrm>
          <a:prstGeom prst="roundRect">
            <a:avLst>
              <a:gd name="adj" fmla="val 50000"/>
            </a:avLst>
          </a:prstGeom>
          <a:solidFill>
            <a:schemeClr val="accent6">
              <a:lumMod val="40000"/>
              <a:lumOff val="6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번역문 제출</a:t>
            </a:r>
          </a:p>
        </p:txBody>
      </p:sp>
      <p:sp>
        <p:nvSpPr>
          <p:cNvPr id="154" name="Rectangle 14"/>
          <p:cNvSpPr>
            <a:spLocks noChangeArrowheads="1"/>
          </p:cNvSpPr>
          <p:nvPr/>
        </p:nvSpPr>
        <p:spPr bwMode="auto">
          <a:xfrm>
            <a:off x="912688" y="5713672"/>
            <a:ext cx="1088053" cy="24549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심사</a:t>
            </a:r>
          </a:p>
        </p:txBody>
      </p:sp>
      <p:cxnSp>
        <p:nvCxnSpPr>
          <p:cNvPr id="155" name="직선 화살표 연결선 154"/>
          <p:cNvCxnSpPr>
            <a:stCxn id="154" idx="2"/>
            <a:endCxn id="156" idx="0"/>
          </p:cNvCxnSpPr>
          <p:nvPr/>
        </p:nvCxnSpPr>
        <p:spPr>
          <a:xfrm>
            <a:off x="1456715" y="5959164"/>
            <a:ext cx="0" cy="10892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6" name="Rectangle 14"/>
          <p:cNvSpPr>
            <a:spLocks noChangeArrowheads="1"/>
          </p:cNvSpPr>
          <p:nvPr/>
        </p:nvSpPr>
        <p:spPr bwMode="auto">
          <a:xfrm>
            <a:off x="912688" y="6068084"/>
            <a:ext cx="1088053" cy="24549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특허</a:t>
            </a:r>
          </a:p>
        </p:txBody>
      </p:sp>
      <p:cxnSp>
        <p:nvCxnSpPr>
          <p:cNvPr id="158" name="직선 화살표 연결선 157"/>
          <p:cNvCxnSpPr>
            <a:endCxn id="159" idx="0"/>
          </p:cNvCxnSpPr>
          <p:nvPr/>
        </p:nvCxnSpPr>
        <p:spPr>
          <a:xfrm>
            <a:off x="2768953" y="5607361"/>
            <a:ext cx="0" cy="10631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9" name="Rectangle 14"/>
          <p:cNvSpPr>
            <a:spLocks noChangeArrowheads="1"/>
          </p:cNvSpPr>
          <p:nvPr/>
        </p:nvSpPr>
        <p:spPr bwMode="auto">
          <a:xfrm>
            <a:off x="2224927" y="5713672"/>
            <a:ext cx="1088053" cy="24549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심사</a:t>
            </a:r>
          </a:p>
        </p:txBody>
      </p:sp>
      <p:cxnSp>
        <p:nvCxnSpPr>
          <p:cNvPr id="160" name="직선 화살표 연결선 159"/>
          <p:cNvCxnSpPr>
            <a:stCxn id="159" idx="2"/>
            <a:endCxn id="161" idx="0"/>
          </p:cNvCxnSpPr>
          <p:nvPr/>
        </p:nvCxnSpPr>
        <p:spPr>
          <a:xfrm>
            <a:off x="2768953" y="5959164"/>
            <a:ext cx="0" cy="10892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1" name="Rectangle 14"/>
          <p:cNvSpPr>
            <a:spLocks noChangeArrowheads="1"/>
          </p:cNvSpPr>
          <p:nvPr/>
        </p:nvSpPr>
        <p:spPr bwMode="auto">
          <a:xfrm>
            <a:off x="2224927" y="6068084"/>
            <a:ext cx="1088053" cy="24549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특허</a:t>
            </a:r>
          </a:p>
        </p:txBody>
      </p:sp>
      <p:cxnSp>
        <p:nvCxnSpPr>
          <p:cNvPr id="162" name="직선 화살표 연결선 161"/>
          <p:cNvCxnSpPr>
            <a:endCxn id="165" idx="0"/>
          </p:cNvCxnSpPr>
          <p:nvPr/>
        </p:nvCxnSpPr>
        <p:spPr>
          <a:xfrm>
            <a:off x="4081191" y="5607362"/>
            <a:ext cx="0" cy="460723"/>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5" name="Rectangle 14"/>
          <p:cNvSpPr>
            <a:spLocks noChangeArrowheads="1"/>
          </p:cNvSpPr>
          <p:nvPr/>
        </p:nvSpPr>
        <p:spPr bwMode="auto">
          <a:xfrm>
            <a:off x="3537164" y="6068084"/>
            <a:ext cx="1088053" cy="24549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특허</a:t>
            </a:r>
          </a:p>
        </p:txBody>
      </p:sp>
      <p:cxnSp>
        <p:nvCxnSpPr>
          <p:cNvPr id="170" name="직선 화살표 연결선 169"/>
          <p:cNvCxnSpPr>
            <a:stCxn id="122" idx="2"/>
            <a:endCxn id="143" idx="0"/>
          </p:cNvCxnSpPr>
          <p:nvPr/>
        </p:nvCxnSpPr>
        <p:spPr>
          <a:xfrm>
            <a:off x="7317873" y="1685504"/>
            <a:ext cx="0" cy="419430"/>
          </a:xfrm>
          <a:prstGeom prst="straightConnector1">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2" name="직선 화살표 연결선 171"/>
          <p:cNvCxnSpPr>
            <a:stCxn id="143" idx="2"/>
            <a:endCxn id="149" idx="0"/>
          </p:cNvCxnSpPr>
          <p:nvPr/>
        </p:nvCxnSpPr>
        <p:spPr>
          <a:xfrm>
            <a:off x="7317873" y="2350426"/>
            <a:ext cx="0" cy="297695"/>
          </a:xfrm>
          <a:prstGeom prst="straightConnector1">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4" name="직선 화살표 연결선 173"/>
          <p:cNvCxnSpPr>
            <a:endCxn id="147" idx="0"/>
          </p:cNvCxnSpPr>
          <p:nvPr/>
        </p:nvCxnSpPr>
        <p:spPr>
          <a:xfrm>
            <a:off x="7317873" y="2893612"/>
            <a:ext cx="0" cy="441623"/>
          </a:xfrm>
          <a:prstGeom prst="straightConnector1">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6" name="직선 화살표 연결선 175"/>
          <p:cNvCxnSpPr>
            <a:stCxn id="147" idx="2"/>
            <a:endCxn id="151" idx="0"/>
          </p:cNvCxnSpPr>
          <p:nvPr/>
        </p:nvCxnSpPr>
        <p:spPr>
          <a:xfrm>
            <a:off x="7317873" y="3580726"/>
            <a:ext cx="0" cy="96769"/>
          </a:xfrm>
          <a:prstGeom prst="straightConnector1">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78" name="직선 화살표 연결선 177"/>
          <p:cNvCxnSpPr>
            <a:stCxn id="153" idx="2"/>
            <a:endCxn id="186" idx="0"/>
          </p:cNvCxnSpPr>
          <p:nvPr/>
        </p:nvCxnSpPr>
        <p:spPr>
          <a:xfrm>
            <a:off x="7317873" y="4423396"/>
            <a:ext cx="0" cy="405333"/>
          </a:xfrm>
          <a:prstGeom prst="straightConnector1">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0" name="직선 화살표 연결선 179"/>
          <p:cNvCxnSpPr>
            <a:cxnSpLocks/>
            <a:stCxn id="19" idx="0"/>
          </p:cNvCxnSpPr>
          <p:nvPr/>
        </p:nvCxnSpPr>
        <p:spPr>
          <a:xfrm flipV="1">
            <a:off x="1456715" y="1685504"/>
            <a:ext cx="0" cy="3567407"/>
          </a:xfrm>
          <a:prstGeom prst="straightConnector1">
            <a:avLst/>
          </a:prstGeom>
          <a:ln w="3175">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2" name="꺾인 연결선 181"/>
          <p:cNvCxnSpPr>
            <a:cxnSpLocks/>
            <a:stCxn id="19" idx="0"/>
            <a:endCxn id="96" idx="0"/>
          </p:cNvCxnSpPr>
          <p:nvPr/>
        </p:nvCxnSpPr>
        <p:spPr>
          <a:xfrm rot="5400000" flipH="1" flipV="1">
            <a:off x="2768954" y="3940672"/>
            <a:ext cx="12700" cy="2624478"/>
          </a:xfrm>
          <a:prstGeom prst="bentConnector3">
            <a:avLst>
              <a:gd name="adj1" fmla="val 1800000"/>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4" name="꺾인 연결선 183"/>
          <p:cNvCxnSpPr>
            <a:cxnSpLocks/>
            <a:stCxn id="19" idx="0"/>
            <a:endCxn id="90" idx="0"/>
          </p:cNvCxnSpPr>
          <p:nvPr/>
        </p:nvCxnSpPr>
        <p:spPr>
          <a:xfrm rot="5400000" flipH="1" flipV="1">
            <a:off x="2112834" y="4596792"/>
            <a:ext cx="12700" cy="1312239"/>
          </a:xfrm>
          <a:prstGeom prst="bentConnector3">
            <a:avLst>
              <a:gd name="adj1" fmla="val 1800000"/>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86" name="Rectangle 14"/>
          <p:cNvSpPr>
            <a:spLocks noChangeArrowheads="1"/>
          </p:cNvSpPr>
          <p:nvPr/>
        </p:nvSpPr>
        <p:spPr bwMode="auto">
          <a:xfrm>
            <a:off x="6417231" y="4828729"/>
            <a:ext cx="1801284" cy="245491"/>
          </a:xfrm>
          <a:prstGeom prst="roundRect">
            <a:avLst/>
          </a:prstGeom>
          <a:solidFill>
            <a:srgbClr val="00B0F0"/>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Rix모던고딕 EB"/>
                <a:ea typeface="Rix모던고딕 EB"/>
                <a:cs typeface="+mn-cs"/>
              </a:rPr>
              <a:t>기준일</a:t>
            </a:r>
          </a:p>
        </p:txBody>
      </p:sp>
      <p:sp>
        <p:nvSpPr>
          <p:cNvPr id="202" name="Rectangle 14"/>
          <p:cNvSpPr>
            <a:spLocks noChangeArrowheads="1"/>
          </p:cNvSpPr>
          <p:nvPr/>
        </p:nvSpPr>
        <p:spPr bwMode="auto">
          <a:xfrm>
            <a:off x="6767074" y="5292081"/>
            <a:ext cx="1088053" cy="31528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B"/>
                <a:cs typeface="+mn-cs"/>
              </a:rPr>
              <a:t>A</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B"/>
                <a:cs typeface="+mn-cs"/>
              </a:rPr>
              <a:t>국 특허담당</a:t>
            </a:r>
            <a:endParaRPr kumimoji="0" lang="en-US" altLang="ko-KR" sz="1000" b="0" i="0" u="none" strike="noStrike" kern="1200" cap="none" spc="0" normalizeH="0" baseline="0" noProof="0" dirty="0">
              <a:ln>
                <a:noFill/>
              </a:ln>
              <a:solidFill>
                <a:prstClr val="black"/>
              </a:solidFill>
              <a:effectLst/>
              <a:uLnTx/>
              <a:uFillTx/>
              <a:latin typeface="Rix모던고딕 E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B"/>
                <a:cs typeface="+mn-cs"/>
              </a:rPr>
              <a:t>정부기관</a:t>
            </a:r>
          </a:p>
        </p:txBody>
      </p:sp>
      <p:cxnSp>
        <p:nvCxnSpPr>
          <p:cNvPr id="203" name="직선 화살표 연결선 202"/>
          <p:cNvCxnSpPr>
            <a:cxnSpLocks/>
            <a:stCxn id="202" idx="2"/>
            <a:endCxn id="206" idx="0"/>
          </p:cNvCxnSpPr>
          <p:nvPr/>
        </p:nvCxnSpPr>
        <p:spPr>
          <a:xfrm>
            <a:off x="7311101" y="5607362"/>
            <a:ext cx="0" cy="10631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4" name="Rectangle 14"/>
          <p:cNvSpPr>
            <a:spLocks noChangeArrowheads="1"/>
          </p:cNvSpPr>
          <p:nvPr/>
        </p:nvSpPr>
        <p:spPr bwMode="auto">
          <a:xfrm>
            <a:off x="8070846" y="5292081"/>
            <a:ext cx="1088053" cy="31528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B"/>
                <a:cs typeface="+mn-cs"/>
              </a:rPr>
              <a:t>B</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B"/>
                <a:cs typeface="+mn-cs"/>
              </a:rPr>
              <a:t>국 특허담당</a:t>
            </a:r>
            <a:endParaRPr kumimoji="0" lang="en-US" altLang="ko-KR" sz="1000" b="0" i="0" u="none" strike="noStrike" kern="1200" cap="none" spc="0" normalizeH="0" baseline="0" noProof="0" dirty="0">
              <a:ln>
                <a:noFill/>
              </a:ln>
              <a:solidFill>
                <a:prstClr val="black"/>
              </a:solidFill>
              <a:effectLst/>
              <a:uLnTx/>
              <a:uFillTx/>
              <a:latin typeface="Rix모던고딕 E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B"/>
                <a:cs typeface="+mn-cs"/>
              </a:rPr>
              <a:t>정부기관</a:t>
            </a:r>
          </a:p>
        </p:txBody>
      </p:sp>
      <p:sp>
        <p:nvSpPr>
          <p:cNvPr id="205" name="Rectangle 14"/>
          <p:cNvSpPr>
            <a:spLocks noChangeArrowheads="1"/>
          </p:cNvSpPr>
          <p:nvPr/>
        </p:nvSpPr>
        <p:spPr bwMode="auto">
          <a:xfrm>
            <a:off x="9383084" y="5292081"/>
            <a:ext cx="1088053" cy="31528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Rix모던고딕 EB"/>
                <a:ea typeface="Rix모던고딕 B"/>
                <a:cs typeface="+mn-cs"/>
              </a:rPr>
              <a:t>C</a:t>
            </a: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B"/>
                <a:cs typeface="+mn-cs"/>
              </a:rPr>
              <a:t>국 특허담당</a:t>
            </a:r>
            <a:endParaRPr kumimoji="0" lang="en-US" altLang="ko-KR" sz="1000" b="0" i="0" u="none" strike="noStrike" kern="1200" cap="none" spc="0" normalizeH="0" baseline="0" noProof="0" dirty="0">
              <a:ln>
                <a:noFill/>
              </a:ln>
              <a:solidFill>
                <a:prstClr val="black"/>
              </a:solidFill>
              <a:effectLst/>
              <a:uLnTx/>
              <a:uFillTx/>
              <a:latin typeface="Rix모던고딕 E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B"/>
                <a:cs typeface="+mn-cs"/>
              </a:rPr>
              <a:t>정부기관</a:t>
            </a:r>
          </a:p>
        </p:txBody>
      </p:sp>
      <p:sp>
        <p:nvSpPr>
          <p:cNvPr id="206" name="Rectangle 14"/>
          <p:cNvSpPr>
            <a:spLocks noChangeArrowheads="1"/>
          </p:cNvSpPr>
          <p:nvPr/>
        </p:nvSpPr>
        <p:spPr bwMode="auto">
          <a:xfrm>
            <a:off x="6767074" y="5713672"/>
            <a:ext cx="1088053" cy="24549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심사</a:t>
            </a:r>
          </a:p>
        </p:txBody>
      </p:sp>
      <p:cxnSp>
        <p:nvCxnSpPr>
          <p:cNvPr id="207" name="직선 화살표 연결선 206"/>
          <p:cNvCxnSpPr>
            <a:stCxn id="206" idx="2"/>
            <a:endCxn id="208" idx="0"/>
          </p:cNvCxnSpPr>
          <p:nvPr/>
        </p:nvCxnSpPr>
        <p:spPr>
          <a:xfrm>
            <a:off x="7311100" y="5959164"/>
            <a:ext cx="0" cy="10892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8" name="Rectangle 14"/>
          <p:cNvSpPr>
            <a:spLocks noChangeArrowheads="1"/>
          </p:cNvSpPr>
          <p:nvPr/>
        </p:nvSpPr>
        <p:spPr bwMode="auto">
          <a:xfrm>
            <a:off x="6767074" y="6068084"/>
            <a:ext cx="1088053" cy="24549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특허</a:t>
            </a:r>
          </a:p>
        </p:txBody>
      </p:sp>
      <p:cxnSp>
        <p:nvCxnSpPr>
          <p:cNvPr id="209" name="직선 화살표 연결선 208"/>
          <p:cNvCxnSpPr>
            <a:endCxn id="210" idx="0"/>
          </p:cNvCxnSpPr>
          <p:nvPr/>
        </p:nvCxnSpPr>
        <p:spPr>
          <a:xfrm>
            <a:off x="8614872" y="5607361"/>
            <a:ext cx="0" cy="10631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0" name="Rectangle 14"/>
          <p:cNvSpPr>
            <a:spLocks noChangeArrowheads="1"/>
          </p:cNvSpPr>
          <p:nvPr/>
        </p:nvSpPr>
        <p:spPr bwMode="auto">
          <a:xfrm>
            <a:off x="8070846" y="5713672"/>
            <a:ext cx="1088053" cy="24549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심사</a:t>
            </a:r>
          </a:p>
        </p:txBody>
      </p:sp>
      <p:cxnSp>
        <p:nvCxnSpPr>
          <p:cNvPr id="211" name="직선 화살표 연결선 210"/>
          <p:cNvCxnSpPr>
            <a:stCxn id="210" idx="2"/>
            <a:endCxn id="212" idx="0"/>
          </p:cNvCxnSpPr>
          <p:nvPr/>
        </p:nvCxnSpPr>
        <p:spPr>
          <a:xfrm>
            <a:off x="8614872" y="5959164"/>
            <a:ext cx="0" cy="10892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2" name="Rectangle 14"/>
          <p:cNvSpPr>
            <a:spLocks noChangeArrowheads="1"/>
          </p:cNvSpPr>
          <p:nvPr/>
        </p:nvSpPr>
        <p:spPr bwMode="auto">
          <a:xfrm>
            <a:off x="8070846" y="6068084"/>
            <a:ext cx="1088053" cy="24549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특허</a:t>
            </a:r>
          </a:p>
        </p:txBody>
      </p:sp>
      <p:cxnSp>
        <p:nvCxnSpPr>
          <p:cNvPr id="213" name="직선 화살표 연결선 212"/>
          <p:cNvCxnSpPr>
            <a:endCxn id="214" idx="0"/>
          </p:cNvCxnSpPr>
          <p:nvPr/>
        </p:nvCxnSpPr>
        <p:spPr>
          <a:xfrm>
            <a:off x="9927109" y="5607362"/>
            <a:ext cx="0" cy="460723"/>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4" name="Rectangle 14"/>
          <p:cNvSpPr>
            <a:spLocks noChangeArrowheads="1"/>
          </p:cNvSpPr>
          <p:nvPr/>
        </p:nvSpPr>
        <p:spPr bwMode="auto">
          <a:xfrm>
            <a:off x="9383083" y="6068084"/>
            <a:ext cx="1088053" cy="245491"/>
          </a:xfrm>
          <a:prstGeom prst="rect">
            <a:avLst/>
          </a:prstGeom>
          <a:solidFill>
            <a:schemeClr val="accent4">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EB"/>
                <a:ea typeface="Rix모던고딕 EB"/>
                <a:cs typeface="+mn-cs"/>
              </a:rPr>
              <a:t>특허</a:t>
            </a:r>
          </a:p>
        </p:txBody>
      </p:sp>
      <p:cxnSp>
        <p:nvCxnSpPr>
          <p:cNvPr id="215" name="꺾인 연결선 214"/>
          <p:cNvCxnSpPr>
            <a:cxnSpLocks/>
            <a:stCxn id="186" idx="2"/>
            <a:endCxn id="205" idx="0"/>
          </p:cNvCxnSpPr>
          <p:nvPr/>
        </p:nvCxnSpPr>
        <p:spPr>
          <a:xfrm rot="16200000" flipH="1">
            <a:off x="8513562" y="3878531"/>
            <a:ext cx="217861" cy="2609238"/>
          </a:xfrm>
          <a:prstGeom prst="bentConnector3">
            <a:avLst>
              <a:gd name="adj1" fmla="val 50000"/>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16" name="꺾인 연결선 215"/>
          <p:cNvCxnSpPr>
            <a:cxnSpLocks/>
            <a:stCxn id="186" idx="2"/>
            <a:endCxn id="204" idx="0"/>
          </p:cNvCxnSpPr>
          <p:nvPr/>
        </p:nvCxnSpPr>
        <p:spPr>
          <a:xfrm rot="16200000" flipH="1">
            <a:off x="7857443" y="4534650"/>
            <a:ext cx="217861" cy="1297000"/>
          </a:xfrm>
          <a:prstGeom prst="bentConnector3">
            <a:avLst>
              <a:gd name="adj1" fmla="val 50000"/>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19" name="직선 화살표 연결선 218"/>
          <p:cNvCxnSpPr>
            <a:stCxn id="151" idx="2"/>
            <a:endCxn id="153" idx="0"/>
          </p:cNvCxnSpPr>
          <p:nvPr/>
        </p:nvCxnSpPr>
        <p:spPr>
          <a:xfrm>
            <a:off x="7317873" y="3922986"/>
            <a:ext cx="0" cy="254919"/>
          </a:xfrm>
          <a:prstGeom prst="straightConnector1">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2" name="직선 화살표 연결선 221"/>
          <p:cNvCxnSpPr>
            <a:cxnSpLocks/>
            <a:stCxn id="186" idx="2"/>
            <a:endCxn id="202" idx="0"/>
          </p:cNvCxnSpPr>
          <p:nvPr/>
        </p:nvCxnSpPr>
        <p:spPr>
          <a:xfrm flipH="1">
            <a:off x="7311101" y="5074220"/>
            <a:ext cx="6772" cy="217861"/>
          </a:xfrm>
          <a:prstGeom prst="straightConnector1">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32" name="꺾인 연결선 231"/>
          <p:cNvCxnSpPr>
            <a:stCxn id="6" idx="2"/>
            <a:endCxn id="7" idx="0"/>
          </p:cNvCxnSpPr>
          <p:nvPr/>
        </p:nvCxnSpPr>
        <p:spPr>
          <a:xfrm rot="5400000">
            <a:off x="3616395" y="-617053"/>
            <a:ext cx="242433" cy="3883220"/>
          </a:xfrm>
          <a:prstGeom prst="bentConnector3">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34" name="꺾인 연결선 233"/>
          <p:cNvCxnSpPr>
            <a:stCxn id="6" idx="2"/>
            <a:endCxn id="122" idx="0"/>
          </p:cNvCxnSpPr>
          <p:nvPr/>
        </p:nvCxnSpPr>
        <p:spPr>
          <a:xfrm rot="16200000" flipH="1">
            <a:off x="6380211" y="502350"/>
            <a:ext cx="236673" cy="1638653"/>
          </a:xfrm>
          <a:prstGeom prst="bentConnector3">
            <a:avLst>
              <a:gd name="adj1" fmla="val 50000"/>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37" name="Rectangle 14"/>
          <p:cNvSpPr>
            <a:spLocks noChangeArrowheads="1"/>
          </p:cNvSpPr>
          <p:nvPr/>
        </p:nvSpPr>
        <p:spPr bwMode="auto">
          <a:xfrm>
            <a:off x="11390365" y="2296110"/>
            <a:ext cx="370265" cy="1302752"/>
          </a:xfrm>
          <a:prstGeom prst="rect">
            <a:avLst/>
          </a:prstGeom>
          <a:noFill/>
          <a:ln w="9525" algn="ctr">
            <a:noFill/>
            <a:miter lim="800000"/>
            <a:headEnd/>
            <a:tailEnd/>
          </a:ln>
        </p:spPr>
        <p:txBody>
          <a:bodyPr wrap="square" anchor="b"/>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rPr>
              <a:t>국</a:t>
            </a:r>
            <a:endParaRPr kumimoji="0" lang="en-US" altLang="ko-KR"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rPr>
              <a:t>제</a:t>
            </a:r>
            <a:endParaRPr kumimoji="0" lang="en-US" altLang="ko-KR"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rPr>
              <a:t>단</a:t>
            </a:r>
            <a:endParaRPr kumimoji="0" lang="en-US" altLang="ko-KR"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rPr>
              <a:t>계</a:t>
            </a:r>
          </a:p>
        </p:txBody>
      </p:sp>
      <p:sp>
        <p:nvSpPr>
          <p:cNvPr id="238" name="Rectangle 14"/>
          <p:cNvSpPr>
            <a:spLocks noChangeArrowheads="1"/>
          </p:cNvSpPr>
          <p:nvPr/>
        </p:nvSpPr>
        <p:spPr bwMode="auto">
          <a:xfrm>
            <a:off x="11390365" y="4930831"/>
            <a:ext cx="370265" cy="1302752"/>
          </a:xfrm>
          <a:prstGeom prst="rect">
            <a:avLst/>
          </a:prstGeom>
          <a:noFill/>
          <a:ln w="9525" algn="ctr">
            <a:noFill/>
            <a:miter lim="800000"/>
            <a:headEnd/>
            <a:tailEnd/>
          </a:ln>
        </p:spPr>
        <p:txBody>
          <a:bodyPr wrap="square" anchor="b"/>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rPr>
              <a:t>국</a:t>
            </a:r>
            <a:endParaRPr kumimoji="0" lang="en-US" altLang="ko-KR"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rPr>
              <a:t>내</a:t>
            </a:r>
            <a:endParaRPr kumimoji="0" lang="en-US" altLang="ko-KR"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rPr>
              <a:t>단</a:t>
            </a:r>
            <a:endParaRPr kumimoji="0" lang="en-US" altLang="ko-KR"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rPr>
              <a:t>계</a:t>
            </a:r>
          </a:p>
        </p:txBody>
      </p:sp>
      <p:sp>
        <p:nvSpPr>
          <p:cNvPr id="239" name="Rectangle 14"/>
          <p:cNvSpPr>
            <a:spLocks noChangeArrowheads="1"/>
          </p:cNvSpPr>
          <p:nvPr/>
        </p:nvSpPr>
        <p:spPr bwMode="auto">
          <a:xfrm>
            <a:off x="353058" y="4930831"/>
            <a:ext cx="370265" cy="1302752"/>
          </a:xfrm>
          <a:prstGeom prst="rect">
            <a:avLst/>
          </a:prstGeom>
          <a:noFill/>
          <a:ln w="9525" algn="ctr">
            <a:noFill/>
            <a:miter lim="800000"/>
            <a:headEnd/>
            <a:tailEnd/>
          </a:ln>
        </p:spPr>
        <p:txBody>
          <a:bodyPr wrap="square" anchor="b"/>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rPr>
              <a:t>국</a:t>
            </a:r>
            <a:endParaRPr kumimoji="0" lang="en-US" altLang="ko-KR"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rPr>
              <a:t>내</a:t>
            </a:r>
            <a:endParaRPr kumimoji="0" lang="en-US" altLang="ko-KR"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rPr>
              <a:t>단</a:t>
            </a:r>
            <a:endParaRPr kumimoji="0" lang="en-US" altLang="ko-KR"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srgbClr val="70AD47">
                    <a:lumMod val="50000"/>
                  </a:srgbClr>
                </a:solidFill>
                <a:effectLst/>
                <a:uLnTx/>
                <a:uFillTx/>
                <a:latin typeface="Rix모던고딕 EB"/>
                <a:ea typeface="Rix모던고딕 EB"/>
                <a:cs typeface="+mn-cs"/>
              </a:rPr>
              <a:t>계</a:t>
            </a:r>
          </a:p>
        </p:txBody>
      </p:sp>
      <p:sp>
        <p:nvSpPr>
          <p:cNvPr id="4" name="제목 3"/>
          <p:cNvSpPr>
            <a:spLocks noGrp="1"/>
          </p:cNvSpPr>
          <p:nvPr>
            <p:ph type="title"/>
          </p:nvPr>
        </p:nvSpPr>
        <p:spPr/>
        <p:txBody>
          <a:bodyPr/>
          <a:lstStyle/>
          <a:p>
            <a:r>
              <a:rPr lang="ko-KR" altLang="en-US" dirty="0" err="1"/>
              <a:t>참고노트</a:t>
            </a:r>
            <a:endParaRPr lang="ko-KR" altLang="en-US" dirty="0"/>
          </a:p>
        </p:txBody>
      </p:sp>
      <p:sp>
        <p:nvSpPr>
          <p:cNvPr id="5" name="텍스트 개체 틀 4"/>
          <p:cNvSpPr>
            <a:spLocks noGrp="1"/>
          </p:cNvSpPr>
          <p:nvPr>
            <p:ph type="body" sz="quarter" idx="13"/>
          </p:nvPr>
        </p:nvSpPr>
        <p:spPr/>
        <p:txBody>
          <a:bodyPr/>
          <a:lstStyle/>
          <a:p>
            <a:r>
              <a:rPr lang="ko-KR" altLang="en-US" dirty="0"/>
              <a:t>해외출원루트의 선택</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546</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91790836"/>
      </p:ext>
    </p:extLst>
  </p:cSld>
  <p:clrMapOvr>
    <a:masterClrMapping/>
  </p:clrMapOvr>
  <p:transition/>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err="1"/>
              <a:t>참고노트</a:t>
            </a:r>
            <a:endParaRPr lang="ko-KR" altLang="en-US" dirty="0"/>
          </a:p>
        </p:txBody>
      </p:sp>
      <p:sp>
        <p:nvSpPr>
          <p:cNvPr id="5" name="텍스트 개체 틀 4"/>
          <p:cNvSpPr>
            <a:spLocks noGrp="1"/>
          </p:cNvSpPr>
          <p:nvPr>
            <p:ph type="body" sz="quarter" idx="13"/>
          </p:nvPr>
        </p:nvSpPr>
        <p:spPr/>
        <p:txBody>
          <a:bodyPr/>
          <a:lstStyle/>
          <a:p>
            <a:r>
              <a:rPr lang="ko-KR" altLang="en-US" dirty="0"/>
              <a:t>해외출원루트의 선택</a:t>
            </a:r>
          </a:p>
        </p:txBody>
      </p:sp>
      <p:cxnSp>
        <p:nvCxnSpPr>
          <p:cNvPr id="65" name="직선 연결선 64"/>
          <p:cNvCxnSpPr/>
          <p:nvPr/>
        </p:nvCxnSpPr>
        <p:spPr>
          <a:xfrm>
            <a:off x="77875" y="148620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77875" y="976902"/>
            <a:ext cx="11936323" cy="52322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Rix모던고딕 B"/>
                <a:ea typeface="Rix모던고딕 B"/>
                <a:cs typeface="+mn-cs"/>
              </a:rPr>
              <a:t>해외출원할</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 수 있는 </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4</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가지 방법 中 </a:t>
            </a:r>
            <a:r>
              <a:rPr kumimoji="0" lang="ko-KR" altLang="en-US" sz="1400" b="0" i="0" u="none" strike="noStrike" kern="1200" cap="none" spc="0" normalizeH="0" baseline="0" noProof="0" dirty="0" err="1">
                <a:ln>
                  <a:noFill/>
                </a:ln>
                <a:solidFill>
                  <a:prstClr val="black"/>
                </a:solidFill>
                <a:effectLst/>
                <a:uLnTx/>
                <a:uFillTx/>
                <a:latin typeface="Rix모던고딕 B"/>
                <a:ea typeface="Rix모던고딕 B"/>
                <a:cs typeface="+mn-cs"/>
              </a:rPr>
              <a:t>우선기간의</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 이익을 최대한 활용한 </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D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유형이 가장 많이 이용되고 있으며</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그 다음 순으로는 </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B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유형</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sym typeface="Wingdings" pitchFamily="2" charset="2"/>
              </a:rPr>
              <a:t></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C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유형</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sym typeface="Wingdings" pitchFamily="2" charset="2"/>
              </a:rPr>
              <a:t></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유형이 활용되고 있다</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67" name="Rectangle 44"/>
          <p:cNvSpPr>
            <a:spLocks noChangeArrowheads="1"/>
          </p:cNvSpPr>
          <p:nvPr/>
        </p:nvSpPr>
        <p:spPr bwMode="auto">
          <a:xfrm>
            <a:off x="1649786" y="2191356"/>
            <a:ext cx="4152879" cy="1789953"/>
          </a:xfrm>
          <a:prstGeom prst="rect">
            <a:avLst/>
          </a:prstGeom>
          <a:solidFill>
            <a:schemeClr val="accent2">
              <a:lumMod val="20000"/>
              <a:lumOff val="80000"/>
            </a:schemeClr>
          </a:solidFill>
          <a:ln w="9525">
            <a:solidFill>
              <a:schemeClr val="bg1">
                <a:lumMod val="50000"/>
              </a:schemeClr>
            </a:solidFill>
            <a:headEnd/>
            <a:tailEnd/>
          </a:ln>
        </p:spPr>
        <p:style>
          <a:lnRef idx="3">
            <a:schemeClr val="lt1"/>
          </a:lnRef>
          <a:fillRef idx="1">
            <a:schemeClr val="accent1"/>
          </a:fillRef>
          <a:effectRef idx="1">
            <a:schemeClr val="accent1"/>
          </a:effectRef>
          <a:fontRef idx="minor">
            <a:schemeClr val="lt1"/>
          </a:fontRef>
        </p:style>
        <p:txBody>
          <a:bodyPr wrap="none" anchor="ctr"/>
          <a:lstStyle/>
          <a:p>
            <a:pPr marL="0" marR="0" lvl="0" indent="0" algn="ctr" defTabSz="914400" rtl="0" eaLnBrk="1" fontAlgn="auto" latinLnBrk="1" hangingPunct="1">
              <a:lnSpc>
                <a:spcPct val="100000"/>
              </a:lnSpc>
              <a:spcBef>
                <a:spcPct val="0"/>
              </a:spcBef>
              <a:spcAft>
                <a:spcPts val="0"/>
              </a:spcAft>
              <a:buClrTx/>
              <a:buSzTx/>
              <a:buFontTx/>
              <a:buNone/>
              <a:tabLst/>
              <a:defRPr/>
            </a:pPr>
            <a:endParaRPr kumimoji="0" lang="ko-KR" altLang="ko-KR" sz="2000" b="0" i="0" u="none" strike="noStrike" kern="1200" cap="none" spc="0" normalizeH="0" baseline="0" noProof="0">
              <a:ln>
                <a:noFill/>
              </a:ln>
              <a:solidFill>
                <a:srgbClr val="000000"/>
              </a:solidFill>
              <a:effectLst/>
              <a:uLnTx/>
              <a:uFillTx/>
              <a:latin typeface="Rix모던고딕 B"/>
              <a:ea typeface="Rix모던고딕 B"/>
              <a:cs typeface="+mn-cs"/>
            </a:endParaRPr>
          </a:p>
        </p:txBody>
      </p:sp>
      <p:sp>
        <p:nvSpPr>
          <p:cNvPr id="68" name="Rectangle 36"/>
          <p:cNvSpPr>
            <a:spLocks noChangeArrowheads="1"/>
          </p:cNvSpPr>
          <p:nvPr/>
        </p:nvSpPr>
        <p:spPr bwMode="auto">
          <a:xfrm>
            <a:off x="5864104" y="2191356"/>
            <a:ext cx="5365747" cy="1789953"/>
          </a:xfrm>
          <a:prstGeom prst="rect">
            <a:avLst/>
          </a:prstGeom>
          <a:solidFill>
            <a:schemeClr val="accent2">
              <a:lumMod val="20000"/>
              <a:lumOff val="80000"/>
            </a:schemeClr>
          </a:solidFill>
          <a:ln w="9525">
            <a:solidFill>
              <a:schemeClr val="bg1">
                <a:lumMod val="50000"/>
              </a:schemeClr>
            </a:solidFill>
            <a:headEnd/>
            <a:tailEnd/>
          </a:ln>
        </p:spPr>
        <p:style>
          <a:lnRef idx="3">
            <a:schemeClr val="lt1"/>
          </a:lnRef>
          <a:fillRef idx="1">
            <a:schemeClr val="accent1"/>
          </a:fillRef>
          <a:effectRef idx="1">
            <a:schemeClr val="accent1"/>
          </a:effectRef>
          <a:fontRef idx="minor">
            <a:schemeClr val="lt1"/>
          </a:fontRef>
        </p:style>
        <p:txBody>
          <a:bodyPr wrap="none" anchor="ctr"/>
          <a:lstStyle/>
          <a:p>
            <a:pPr marL="0" marR="0" lvl="0" indent="0" algn="ctr" defTabSz="914400" rtl="0" eaLnBrk="1" fontAlgn="auto" latinLnBrk="1" hangingPunct="1">
              <a:lnSpc>
                <a:spcPct val="100000"/>
              </a:lnSpc>
              <a:spcBef>
                <a:spcPct val="0"/>
              </a:spcBef>
              <a:spcAft>
                <a:spcPts val="0"/>
              </a:spcAft>
              <a:buClrTx/>
              <a:buSzTx/>
              <a:buFontTx/>
              <a:buNone/>
              <a:tabLst/>
              <a:defRPr/>
            </a:pPr>
            <a:endParaRPr kumimoji="0" lang="ko-KR" altLang="ko-KR" sz="2000" b="0" i="0" u="none" strike="noStrike" kern="1200" cap="none" spc="0" normalizeH="0" baseline="0" noProof="0">
              <a:ln>
                <a:noFill/>
              </a:ln>
              <a:solidFill>
                <a:srgbClr val="000000"/>
              </a:solidFill>
              <a:effectLst/>
              <a:uLnTx/>
              <a:uFillTx/>
              <a:latin typeface="Rix모던고딕 B"/>
              <a:ea typeface="Rix모던고딕 B"/>
              <a:cs typeface="+mn-cs"/>
            </a:endParaRPr>
          </a:p>
        </p:txBody>
      </p:sp>
      <p:sp>
        <p:nvSpPr>
          <p:cNvPr id="69" name="Rectangle 35"/>
          <p:cNvSpPr>
            <a:spLocks noChangeArrowheads="1"/>
          </p:cNvSpPr>
          <p:nvPr/>
        </p:nvSpPr>
        <p:spPr bwMode="auto">
          <a:xfrm>
            <a:off x="5864104" y="4094760"/>
            <a:ext cx="5365747" cy="1953955"/>
          </a:xfrm>
          <a:prstGeom prst="rect">
            <a:avLst/>
          </a:prstGeom>
          <a:solidFill>
            <a:schemeClr val="accent1">
              <a:lumMod val="20000"/>
              <a:lumOff val="80000"/>
            </a:schemeClr>
          </a:solidFill>
          <a:ln w="9525">
            <a:solidFill>
              <a:schemeClr val="bg1">
                <a:lumMod val="50000"/>
              </a:schemeClr>
            </a:solidFill>
            <a:headEnd/>
            <a:tailEnd/>
          </a:ln>
        </p:spPr>
        <p:style>
          <a:lnRef idx="3">
            <a:schemeClr val="lt1"/>
          </a:lnRef>
          <a:fillRef idx="1">
            <a:schemeClr val="accent1"/>
          </a:fillRef>
          <a:effectRef idx="1">
            <a:schemeClr val="accent1"/>
          </a:effectRef>
          <a:fontRef idx="minor">
            <a:schemeClr val="lt1"/>
          </a:fontRef>
        </p:style>
        <p:txBody>
          <a:bodyPr wrap="none" anchor="ctr"/>
          <a:lstStyle/>
          <a:p>
            <a:pPr marL="0" marR="0" lvl="0" indent="0" algn="ctr" defTabSz="914400" rtl="0" eaLnBrk="1" fontAlgn="auto" latinLnBrk="1" hangingPunct="1">
              <a:lnSpc>
                <a:spcPct val="100000"/>
              </a:lnSpc>
              <a:spcBef>
                <a:spcPct val="0"/>
              </a:spcBef>
              <a:spcAft>
                <a:spcPts val="0"/>
              </a:spcAft>
              <a:buClrTx/>
              <a:buSzTx/>
              <a:buFontTx/>
              <a:buNone/>
              <a:tabLst/>
              <a:defRPr/>
            </a:pPr>
            <a:endParaRPr kumimoji="0" lang="ko-KR" altLang="ko-KR" sz="2000" b="0" i="0" u="none" strike="noStrike" kern="1200" cap="none" spc="0" normalizeH="0" baseline="0" noProof="0">
              <a:ln>
                <a:noFill/>
              </a:ln>
              <a:solidFill>
                <a:srgbClr val="000000"/>
              </a:solidFill>
              <a:effectLst/>
              <a:uLnTx/>
              <a:uFillTx/>
              <a:latin typeface="Rix모던고딕 B"/>
              <a:ea typeface="Rix모던고딕 B"/>
              <a:cs typeface="+mn-cs"/>
            </a:endParaRPr>
          </a:p>
        </p:txBody>
      </p:sp>
      <p:sp>
        <p:nvSpPr>
          <p:cNvPr id="70" name="Rectangle 45"/>
          <p:cNvSpPr>
            <a:spLocks noChangeArrowheads="1"/>
          </p:cNvSpPr>
          <p:nvPr/>
        </p:nvSpPr>
        <p:spPr bwMode="auto">
          <a:xfrm>
            <a:off x="1649786" y="4094760"/>
            <a:ext cx="4152879" cy="1953955"/>
          </a:xfrm>
          <a:prstGeom prst="rect">
            <a:avLst/>
          </a:prstGeom>
          <a:solidFill>
            <a:schemeClr val="accent1">
              <a:lumMod val="20000"/>
              <a:lumOff val="80000"/>
            </a:schemeClr>
          </a:solidFill>
          <a:ln w="9525">
            <a:solidFill>
              <a:schemeClr val="bg1">
                <a:lumMod val="50000"/>
              </a:schemeClr>
            </a:solidFill>
            <a:headEnd/>
            <a:tailEnd/>
          </a:ln>
        </p:spPr>
        <p:style>
          <a:lnRef idx="3">
            <a:schemeClr val="lt1"/>
          </a:lnRef>
          <a:fillRef idx="1">
            <a:schemeClr val="accent1"/>
          </a:fillRef>
          <a:effectRef idx="1">
            <a:schemeClr val="accent1"/>
          </a:effectRef>
          <a:fontRef idx="minor">
            <a:schemeClr val="lt1"/>
          </a:fontRef>
        </p:style>
        <p:txBody>
          <a:bodyPr wrap="none" anchor="ctr"/>
          <a:lstStyle/>
          <a:p>
            <a:pPr marL="0" marR="0" lvl="0" indent="0" algn="ctr" defTabSz="914400" rtl="0" eaLnBrk="1" fontAlgn="auto" latinLnBrk="1" hangingPunct="1">
              <a:lnSpc>
                <a:spcPct val="100000"/>
              </a:lnSpc>
              <a:spcBef>
                <a:spcPct val="0"/>
              </a:spcBef>
              <a:spcAft>
                <a:spcPts val="0"/>
              </a:spcAft>
              <a:buClrTx/>
              <a:buSzTx/>
              <a:buFontTx/>
              <a:buNone/>
              <a:tabLst/>
              <a:defRPr/>
            </a:pPr>
            <a:endParaRPr kumimoji="0" lang="ko-KR" altLang="ko-KR" sz="2000" b="0" i="0" u="none" strike="noStrike" kern="1200" cap="none" spc="0" normalizeH="0" baseline="0" noProof="0">
              <a:ln>
                <a:noFill/>
              </a:ln>
              <a:solidFill>
                <a:srgbClr val="000000"/>
              </a:solidFill>
              <a:effectLst/>
              <a:uLnTx/>
              <a:uFillTx/>
              <a:latin typeface="Rix모던고딕 B"/>
              <a:ea typeface="Rix모던고딕 B"/>
              <a:cs typeface="+mn-cs"/>
            </a:endParaRPr>
          </a:p>
        </p:txBody>
      </p:sp>
      <p:cxnSp>
        <p:nvCxnSpPr>
          <p:cNvPr id="71" name="직선 연결선 70"/>
          <p:cNvCxnSpPr/>
          <p:nvPr/>
        </p:nvCxnSpPr>
        <p:spPr bwMode="auto">
          <a:xfrm rot="16200000" flipH="1">
            <a:off x="467486" y="4120037"/>
            <a:ext cx="3857356" cy="0"/>
          </a:xfrm>
          <a:prstGeom prst="line">
            <a:avLst/>
          </a:prstGeom>
          <a:ln w="6350">
            <a:solidFill>
              <a:schemeClr val="accent5">
                <a:lumMod val="50000"/>
              </a:schemeClr>
            </a:solidFill>
            <a:headEnd type="none" w="med" len="med"/>
            <a:tailEnd type="none" w="lg" len="lg"/>
          </a:ln>
        </p:spPr>
        <p:style>
          <a:lnRef idx="2">
            <a:schemeClr val="accent4"/>
          </a:lnRef>
          <a:fillRef idx="0">
            <a:schemeClr val="accent4"/>
          </a:fillRef>
          <a:effectRef idx="1">
            <a:schemeClr val="accent4"/>
          </a:effectRef>
          <a:fontRef idx="minor">
            <a:schemeClr val="tx1"/>
          </a:fontRef>
        </p:style>
      </p:cxnSp>
      <p:cxnSp>
        <p:nvCxnSpPr>
          <p:cNvPr id="72" name="직선 연결선 71"/>
          <p:cNvCxnSpPr/>
          <p:nvPr/>
        </p:nvCxnSpPr>
        <p:spPr bwMode="auto">
          <a:xfrm rot="16200000" flipH="1">
            <a:off x="2130913" y="4120037"/>
            <a:ext cx="3857356" cy="0"/>
          </a:xfrm>
          <a:prstGeom prst="line">
            <a:avLst/>
          </a:prstGeom>
          <a:ln w="6350">
            <a:solidFill>
              <a:schemeClr val="accent5">
                <a:lumMod val="50000"/>
              </a:schemeClr>
            </a:solidFill>
            <a:headEnd type="none" w="med" len="med"/>
            <a:tailEnd type="none" w="lg" len="lg"/>
          </a:ln>
        </p:spPr>
        <p:style>
          <a:lnRef idx="2">
            <a:schemeClr val="accent4"/>
          </a:lnRef>
          <a:fillRef idx="0">
            <a:schemeClr val="accent4"/>
          </a:fillRef>
          <a:effectRef idx="1">
            <a:schemeClr val="accent4"/>
          </a:effectRef>
          <a:fontRef idx="minor">
            <a:schemeClr val="tx1"/>
          </a:fontRef>
        </p:style>
      </p:cxnSp>
      <p:cxnSp>
        <p:nvCxnSpPr>
          <p:cNvPr id="73" name="직선 연결선 72"/>
          <p:cNvCxnSpPr/>
          <p:nvPr/>
        </p:nvCxnSpPr>
        <p:spPr bwMode="auto">
          <a:xfrm rot="16200000" flipH="1">
            <a:off x="4754623" y="4120037"/>
            <a:ext cx="3857356" cy="0"/>
          </a:xfrm>
          <a:prstGeom prst="line">
            <a:avLst/>
          </a:prstGeom>
          <a:ln w="6350">
            <a:solidFill>
              <a:schemeClr val="accent5">
                <a:lumMod val="50000"/>
              </a:schemeClr>
            </a:solidFill>
            <a:headEnd type="none" w="med" len="med"/>
            <a:tailEnd type="none" w="lg" len="lg"/>
          </a:ln>
        </p:spPr>
        <p:style>
          <a:lnRef idx="2">
            <a:schemeClr val="accent4"/>
          </a:lnRef>
          <a:fillRef idx="0">
            <a:schemeClr val="accent4"/>
          </a:fillRef>
          <a:effectRef idx="1">
            <a:schemeClr val="accent4"/>
          </a:effectRef>
          <a:fontRef idx="minor">
            <a:schemeClr val="tx1"/>
          </a:fontRef>
        </p:style>
      </p:cxnSp>
      <p:cxnSp>
        <p:nvCxnSpPr>
          <p:cNvPr id="74" name="직선 연결선 73"/>
          <p:cNvCxnSpPr/>
          <p:nvPr/>
        </p:nvCxnSpPr>
        <p:spPr bwMode="auto">
          <a:xfrm rot="16200000" flipH="1">
            <a:off x="6124503" y="4120037"/>
            <a:ext cx="3857356" cy="0"/>
          </a:xfrm>
          <a:prstGeom prst="line">
            <a:avLst/>
          </a:prstGeom>
          <a:ln w="6350">
            <a:solidFill>
              <a:schemeClr val="accent5">
                <a:lumMod val="50000"/>
              </a:schemeClr>
            </a:solidFill>
            <a:headEnd type="none" w="med" len="med"/>
            <a:tailEnd type="none" w="lg" len="lg"/>
          </a:ln>
        </p:spPr>
        <p:style>
          <a:lnRef idx="2">
            <a:schemeClr val="accent4"/>
          </a:lnRef>
          <a:fillRef idx="0">
            <a:schemeClr val="accent4"/>
          </a:fillRef>
          <a:effectRef idx="1">
            <a:schemeClr val="accent4"/>
          </a:effectRef>
          <a:fontRef idx="minor">
            <a:schemeClr val="tx1"/>
          </a:fontRef>
        </p:style>
      </p:cxnSp>
      <p:cxnSp>
        <p:nvCxnSpPr>
          <p:cNvPr id="75" name="직선 연결선 74"/>
          <p:cNvCxnSpPr/>
          <p:nvPr/>
        </p:nvCxnSpPr>
        <p:spPr bwMode="auto">
          <a:xfrm rot="16200000" flipH="1">
            <a:off x="7708546" y="4120037"/>
            <a:ext cx="3857356" cy="0"/>
          </a:xfrm>
          <a:prstGeom prst="line">
            <a:avLst/>
          </a:prstGeom>
          <a:ln w="6350">
            <a:solidFill>
              <a:schemeClr val="accent5">
                <a:lumMod val="50000"/>
              </a:schemeClr>
            </a:solidFill>
            <a:headEnd type="none" w="med" len="med"/>
            <a:tailEnd type="none" w="lg" len="lg"/>
          </a:ln>
        </p:spPr>
        <p:style>
          <a:lnRef idx="2">
            <a:schemeClr val="accent4"/>
          </a:lnRef>
          <a:fillRef idx="0">
            <a:schemeClr val="accent4"/>
          </a:fillRef>
          <a:effectRef idx="1">
            <a:schemeClr val="accent4"/>
          </a:effectRef>
          <a:fontRef idx="minor">
            <a:schemeClr val="tx1"/>
          </a:fontRef>
        </p:style>
      </p:cxnSp>
      <p:sp>
        <p:nvSpPr>
          <p:cNvPr id="76" name="Rectangle 6"/>
          <p:cNvSpPr>
            <a:spLocks noChangeArrowheads="1"/>
          </p:cNvSpPr>
          <p:nvPr/>
        </p:nvSpPr>
        <p:spPr bwMode="auto">
          <a:xfrm>
            <a:off x="7689151" y="2389153"/>
            <a:ext cx="762308" cy="274750"/>
          </a:xfrm>
          <a:prstGeom prst="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US</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77" name="Rectangle 7"/>
          <p:cNvSpPr>
            <a:spLocks noChangeArrowheads="1"/>
          </p:cNvSpPr>
          <p:nvPr/>
        </p:nvSpPr>
        <p:spPr bwMode="auto">
          <a:xfrm>
            <a:off x="7689151" y="2894676"/>
            <a:ext cx="762308" cy="274750"/>
          </a:xfrm>
          <a:prstGeom prst="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JP</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78" name="Rectangle 8"/>
          <p:cNvSpPr>
            <a:spLocks noChangeArrowheads="1"/>
          </p:cNvSpPr>
          <p:nvPr/>
        </p:nvSpPr>
        <p:spPr bwMode="auto">
          <a:xfrm>
            <a:off x="7689151" y="3400198"/>
            <a:ext cx="762308" cy="274750"/>
          </a:xfrm>
          <a:prstGeom prst="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a:ln>
                  <a:noFill/>
                </a:ln>
                <a:solidFill>
                  <a:srgbClr val="FFFFFF"/>
                </a:solidFill>
                <a:effectLst/>
                <a:uLnTx/>
                <a:uFillTx/>
                <a:latin typeface="Rix모던고딕 B"/>
                <a:ea typeface="Rix모던고딕 B"/>
                <a:cs typeface="+mn-cs"/>
              </a:rPr>
              <a:t>EPO</a:t>
            </a:r>
          </a:p>
        </p:txBody>
      </p:sp>
      <p:sp>
        <p:nvSpPr>
          <p:cNvPr id="79" name="Rectangle 9"/>
          <p:cNvSpPr>
            <a:spLocks noChangeArrowheads="1"/>
          </p:cNvSpPr>
          <p:nvPr/>
        </p:nvSpPr>
        <p:spPr bwMode="auto">
          <a:xfrm>
            <a:off x="8833753" y="3400198"/>
            <a:ext cx="757759" cy="274750"/>
          </a:xfrm>
          <a:prstGeom prst="rect">
            <a:avLst/>
          </a:prstGeom>
          <a:solidFill>
            <a:schemeClr val="accent4"/>
          </a:solidFill>
          <a:ln>
            <a:solidFill>
              <a:schemeClr val="bg1">
                <a:lumMod val="50000"/>
              </a:schemeClr>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GR</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80" name="Rectangle 10"/>
          <p:cNvSpPr>
            <a:spLocks noChangeArrowheads="1"/>
          </p:cNvSpPr>
          <p:nvPr/>
        </p:nvSpPr>
        <p:spPr bwMode="auto">
          <a:xfrm>
            <a:off x="8833753" y="2982596"/>
            <a:ext cx="757759" cy="272966"/>
          </a:xfrm>
          <a:prstGeom prst="rect">
            <a:avLst/>
          </a:prstGeom>
          <a:solidFill>
            <a:schemeClr val="accent4"/>
          </a:solidFill>
          <a:ln>
            <a:solidFill>
              <a:schemeClr val="bg1">
                <a:lumMod val="50000"/>
              </a:schemeClr>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FR</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86" name="Rectangle 18"/>
          <p:cNvSpPr>
            <a:spLocks noChangeArrowheads="1"/>
          </p:cNvSpPr>
          <p:nvPr/>
        </p:nvSpPr>
        <p:spPr bwMode="auto">
          <a:xfrm>
            <a:off x="7621000" y="6110496"/>
            <a:ext cx="762309" cy="338480"/>
          </a:xfrm>
          <a:prstGeom prst="rect">
            <a:avLst/>
          </a:prstGeom>
          <a:noFill/>
          <a:ln w="9525" algn="ctr">
            <a:noFill/>
            <a:miter lim="800000"/>
            <a:headEnd/>
            <a:tailEnd/>
          </a:ln>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a:ln>
                  <a:noFill/>
                </a:ln>
                <a:solidFill>
                  <a:srgbClr val="5B9BD5">
                    <a:lumMod val="50000"/>
                  </a:srgbClr>
                </a:solidFill>
                <a:effectLst/>
                <a:uLnTx/>
                <a:uFillTx/>
                <a:latin typeface="Rix모던고딕 B"/>
                <a:ea typeface="Rix모던고딕 B"/>
                <a:cs typeface="Arial" charset="0"/>
              </a:rPr>
              <a:t>12</a:t>
            </a:r>
            <a:r>
              <a:rPr kumimoji="0" lang="ko-KR" altLang="en-US" sz="1050" b="0" i="0" u="none" strike="noStrike" kern="1200" cap="none" spc="0" normalizeH="0" baseline="0" noProof="0">
                <a:ln>
                  <a:noFill/>
                </a:ln>
                <a:solidFill>
                  <a:srgbClr val="5B9BD5">
                    <a:lumMod val="50000"/>
                  </a:srgbClr>
                </a:solidFill>
                <a:effectLst/>
                <a:uLnTx/>
                <a:uFillTx/>
                <a:latin typeface="Rix모던고딕 B"/>
                <a:ea typeface="Rix모던고딕 B"/>
                <a:cs typeface="Arial" charset="0"/>
              </a:rPr>
              <a:t>월</a:t>
            </a:r>
          </a:p>
        </p:txBody>
      </p:sp>
      <p:sp>
        <p:nvSpPr>
          <p:cNvPr id="87" name="Rectangle 20"/>
          <p:cNvSpPr>
            <a:spLocks noChangeArrowheads="1"/>
          </p:cNvSpPr>
          <p:nvPr/>
        </p:nvSpPr>
        <p:spPr bwMode="auto">
          <a:xfrm>
            <a:off x="8833697" y="6119925"/>
            <a:ext cx="1526895" cy="338480"/>
          </a:xfrm>
          <a:prstGeom prst="rect">
            <a:avLst/>
          </a:prstGeom>
          <a:noFill/>
          <a:ln w="9525" algn="ctr">
            <a:noFill/>
            <a:miter lim="800000"/>
            <a:headEnd/>
            <a:tailEnd/>
          </a:ln>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5B9BD5">
                    <a:lumMod val="50000"/>
                  </a:srgbClr>
                </a:solidFill>
                <a:effectLst/>
                <a:uLnTx/>
                <a:uFillTx/>
                <a:latin typeface="Rix모던고딕 B"/>
                <a:ea typeface="Rix모던고딕 B"/>
                <a:cs typeface="Arial" charset="0"/>
              </a:rPr>
              <a:t>30/31</a:t>
            </a:r>
            <a:r>
              <a:rPr kumimoji="0" lang="ko-KR" altLang="en-US" sz="1050" b="0" i="0" u="none" strike="noStrike" kern="1200" cap="none" spc="0" normalizeH="0" baseline="0" noProof="0" dirty="0">
                <a:ln>
                  <a:noFill/>
                </a:ln>
                <a:solidFill>
                  <a:srgbClr val="5B9BD5">
                    <a:lumMod val="50000"/>
                  </a:srgbClr>
                </a:solidFill>
                <a:effectLst/>
                <a:uLnTx/>
                <a:uFillTx/>
                <a:latin typeface="Rix모던고딕 B"/>
                <a:ea typeface="Rix모던고딕 B"/>
                <a:cs typeface="Arial" charset="0"/>
              </a:rPr>
              <a:t>월</a:t>
            </a:r>
          </a:p>
        </p:txBody>
      </p:sp>
      <p:cxnSp>
        <p:nvCxnSpPr>
          <p:cNvPr id="88" name="AutoShape 21"/>
          <p:cNvCxnSpPr>
            <a:cxnSpLocks noChangeShapeType="1"/>
          </p:cNvCxnSpPr>
          <p:nvPr/>
        </p:nvCxnSpPr>
        <p:spPr bwMode="auto">
          <a:xfrm>
            <a:off x="7061043" y="2525443"/>
            <a:ext cx="628052" cy="2199"/>
          </a:xfrm>
          <a:prstGeom prst="straightConnector1">
            <a:avLst/>
          </a:prstGeom>
          <a:noFill/>
          <a:ln w="19050">
            <a:solidFill>
              <a:srgbClr val="800000"/>
            </a:solidFill>
            <a:round/>
            <a:headEnd/>
            <a:tailEnd type="stealth" w="med" len="med"/>
          </a:ln>
        </p:spPr>
      </p:cxnSp>
      <p:cxnSp>
        <p:nvCxnSpPr>
          <p:cNvPr id="89" name="AutoShape 22"/>
          <p:cNvCxnSpPr>
            <a:cxnSpLocks noChangeShapeType="1"/>
          </p:cNvCxnSpPr>
          <p:nvPr/>
        </p:nvCxnSpPr>
        <p:spPr bwMode="auto">
          <a:xfrm>
            <a:off x="7061043" y="2525443"/>
            <a:ext cx="628052" cy="505523"/>
          </a:xfrm>
          <a:prstGeom prst="bentConnector3">
            <a:avLst>
              <a:gd name="adj1" fmla="val 50000"/>
            </a:avLst>
          </a:prstGeom>
          <a:noFill/>
          <a:ln w="19050">
            <a:solidFill>
              <a:srgbClr val="800000"/>
            </a:solidFill>
            <a:miter lim="800000"/>
            <a:headEnd/>
            <a:tailEnd type="stealth" w="med" len="med"/>
          </a:ln>
        </p:spPr>
      </p:cxnSp>
      <p:cxnSp>
        <p:nvCxnSpPr>
          <p:cNvPr id="91" name="AutoShape 23"/>
          <p:cNvCxnSpPr>
            <a:cxnSpLocks noChangeShapeType="1"/>
          </p:cNvCxnSpPr>
          <p:nvPr/>
        </p:nvCxnSpPr>
        <p:spPr bwMode="auto">
          <a:xfrm>
            <a:off x="7061043" y="2525443"/>
            <a:ext cx="628052" cy="1011045"/>
          </a:xfrm>
          <a:prstGeom prst="bentConnector3">
            <a:avLst>
              <a:gd name="adj1" fmla="val 50000"/>
            </a:avLst>
          </a:prstGeom>
          <a:noFill/>
          <a:ln w="19050">
            <a:solidFill>
              <a:srgbClr val="800000"/>
            </a:solidFill>
            <a:miter lim="800000"/>
            <a:headEnd/>
            <a:tailEnd type="stealth" w="med" len="med"/>
          </a:ln>
        </p:spPr>
      </p:cxnSp>
      <p:sp>
        <p:nvSpPr>
          <p:cNvPr id="92" name="Rectangle 25"/>
          <p:cNvSpPr>
            <a:spLocks noChangeArrowheads="1"/>
          </p:cNvSpPr>
          <p:nvPr/>
        </p:nvSpPr>
        <p:spPr bwMode="auto">
          <a:xfrm>
            <a:off x="7689151" y="4382656"/>
            <a:ext cx="762308" cy="274750"/>
          </a:xfrm>
          <a:prstGeom prst="rect">
            <a:avLst/>
          </a:prstGeom>
          <a:solidFill>
            <a:schemeClr val="accent2"/>
          </a:solidFill>
          <a:ln>
            <a:solidFill>
              <a:schemeClr val="bg1">
                <a:lumMod val="50000"/>
              </a:schemeClr>
            </a:solidFill>
            <a:headEnd/>
            <a:tailEnd/>
          </a:ln>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PCT</a:t>
            </a:r>
          </a:p>
        </p:txBody>
      </p:sp>
      <p:cxnSp>
        <p:nvCxnSpPr>
          <p:cNvPr id="93" name="AutoShape 26"/>
          <p:cNvCxnSpPr>
            <a:cxnSpLocks noChangeShapeType="1"/>
          </p:cNvCxnSpPr>
          <p:nvPr/>
        </p:nvCxnSpPr>
        <p:spPr bwMode="auto">
          <a:xfrm>
            <a:off x="7061043" y="4518959"/>
            <a:ext cx="628052" cy="2198"/>
          </a:xfrm>
          <a:prstGeom prst="straightConnector1">
            <a:avLst/>
          </a:prstGeom>
          <a:noFill/>
          <a:ln w="19050">
            <a:solidFill>
              <a:srgbClr val="800000"/>
            </a:solidFill>
            <a:round/>
            <a:headEnd/>
            <a:tailEnd type="stealth" w="med" len="med"/>
          </a:ln>
        </p:spPr>
      </p:cxnSp>
      <p:cxnSp>
        <p:nvCxnSpPr>
          <p:cNvPr id="94" name="AutoShape 28"/>
          <p:cNvCxnSpPr>
            <a:cxnSpLocks noChangeShapeType="1"/>
            <a:stCxn id="92" idx="3"/>
            <a:endCxn id="137" idx="1"/>
          </p:cNvCxnSpPr>
          <p:nvPr/>
        </p:nvCxnSpPr>
        <p:spPr bwMode="auto">
          <a:xfrm>
            <a:off x="8451459" y="4520031"/>
            <a:ext cx="806885" cy="0"/>
          </a:xfrm>
          <a:prstGeom prst="straightConnector1">
            <a:avLst/>
          </a:prstGeom>
          <a:noFill/>
          <a:ln w="19050">
            <a:solidFill>
              <a:srgbClr val="800000"/>
            </a:solidFill>
            <a:round/>
            <a:headEnd/>
            <a:tailEnd type="stealth" w="med" len="med"/>
          </a:ln>
        </p:spPr>
      </p:cxnSp>
      <p:cxnSp>
        <p:nvCxnSpPr>
          <p:cNvPr id="95" name="AutoShape 29"/>
          <p:cNvCxnSpPr>
            <a:cxnSpLocks noChangeShapeType="1"/>
            <a:endCxn id="146" idx="1"/>
          </p:cNvCxnSpPr>
          <p:nvPr/>
        </p:nvCxnSpPr>
        <p:spPr bwMode="auto">
          <a:xfrm>
            <a:off x="8451405" y="4518960"/>
            <a:ext cx="806939" cy="798048"/>
          </a:xfrm>
          <a:prstGeom prst="bentConnector3">
            <a:avLst>
              <a:gd name="adj1" fmla="val 50000"/>
            </a:avLst>
          </a:prstGeom>
          <a:noFill/>
          <a:ln w="19050">
            <a:solidFill>
              <a:srgbClr val="800000"/>
            </a:solidFill>
            <a:miter lim="800000"/>
            <a:headEnd/>
            <a:tailEnd type="stealth" w="med" len="med"/>
          </a:ln>
        </p:spPr>
      </p:cxnSp>
      <p:cxnSp>
        <p:nvCxnSpPr>
          <p:cNvPr id="97" name="AutoShape 30"/>
          <p:cNvCxnSpPr>
            <a:cxnSpLocks noChangeShapeType="1"/>
            <a:stCxn id="92" idx="3"/>
            <a:endCxn id="139" idx="1"/>
          </p:cNvCxnSpPr>
          <p:nvPr/>
        </p:nvCxnSpPr>
        <p:spPr bwMode="auto">
          <a:xfrm>
            <a:off x="8451459" y="4520031"/>
            <a:ext cx="806885" cy="1193500"/>
          </a:xfrm>
          <a:prstGeom prst="bentConnector3">
            <a:avLst>
              <a:gd name="adj1" fmla="val 50000"/>
            </a:avLst>
          </a:prstGeom>
          <a:noFill/>
          <a:ln w="19050">
            <a:solidFill>
              <a:srgbClr val="800000"/>
            </a:solidFill>
            <a:miter lim="800000"/>
            <a:headEnd/>
            <a:tailEnd type="stealth" w="med" len="med"/>
          </a:ln>
        </p:spPr>
      </p:cxnSp>
      <p:cxnSp>
        <p:nvCxnSpPr>
          <p:cNvPr id="98" name="AutoShape 31"/>
          <p:cNvCxnSpPr>
            <a:cxnSpLocks noChangeShapeType="1"/>
          </p:cNvCxnSpPr>
          <p:nvPr/>
        </p:nvCxnSpPr>
        <p:spPr bwMode="auto">
          <a:xfrm>
            <a:off x="8451405" y="3536488"/>
            <a:ext cx="382292" cy="2199"/>
          </a:xfrm>
          <a:prstGeom prst="straightConnector1">
            <a:avLst/>
          </a:prstGeom>
          <a:noFill/>
          <a:ln w="19050">
            <a:solidFill>
              <a:srgbClr val="800000"/>
            </a:solidFill>
            <a:round/>
            <a:headEnd/>
            <a:tailEnd type="stealth" w="med" len="med"/>
          </a:ln>
        </p:spPr>
      </p:cxnSp>
      <p:cxnSp>
        <p:nvCxnSpPr>
          <p:cNvPr id="99" name="AutoShape 32"/>
          <p:cNvCxnSpPr>
            <a:cxnSpLocks noChangeShapeType="1"/>
          </p:cNvCxnSpPr>
          <p:nvPr/>
        </p:nvCxnSpPr>
        <p:spPr bwMode="auto">
          <a:xfrm flipV="1">
            <a:off x="8451405" y="3118882"/>
            <a:ext cx="382292" cy="417605"/>
          </a:xfrm>
          <a:prstGeom prst="bentConnector3">
            <a:avLst>
              <a:gd name="adj1" fmla="val 50000"/>
            </a:avLst>
          </a:prstGeom>
          <a:noFill/>
          <a:ln w="19050">
            <a:solidFill>
              <a:srgbClr val="800000"/>
            </a:solidFill>
            <a:miter lim="800000"/>
            <a:headEnd/>
            <a:tailEnd type="stealth" w="med" len="med"/>
          </a:ln>
        </p:spPr>
      </p:cxnSp>
      <p:sp>
        <p:nvSpPr>
          <p:cNvPr id="102" name="Rectangle 4"/>
          <p:cNvSpPr>
            <a:spLocks noChangeArrowheads="1"/>
          </p:cNvSpPr>
          <p:nvPr/>
        </p:nvSpPr>
        <p:spPr bwMode="auto">
          <a:xfrm>
            <a:off x="6303340" y="2389153"/>
            <a:ext cx="757759" cy="274750"/>
          </a:xfrm>
          <a:prstGeom prst="rect">
            <a:avLst/>
          </a:prstGeom>
          <a:solidFill>
            <a:schemeClr val="tx1">
              <a:lumMod val="50000"/>
              <a:lumOff val="50000"/>
            </a:schemeClr>
          </a:solidFill>
          <a:ln>
            <a:solidFill>
              <a:schemeClr val="bg1">
                <a:lumMod val="50000"/>
              </a:schemeClr>
            </a:solidFill>
            <a:headEnd/>
            <a:tailEnd/>
          </a:ln>
        </p:spPr>
        <p:style>
          <a:lnRef idx="1">
            <a:schemeClr val="accent3"/>
          </a:lnRef>
          <a:fillRef idx="3">
            <a:schemeClr val="accent3"/>
          </a:fillRef>
          <a:effectRef idx="2">
            <a:schemeClr val="accent3"/>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KR</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03" name="Rectangle 24"/>
          <p:cNvSpPr>
            <a:spLocks noChangeArrowheads="1"/>
          </p:cNvSpPr>
          <p:nvPr/>
        </p:nvSpPr>
        <p:spPr bwMode="auto">
          <a:xfrm>
            <a:off x="6303340" y="4382656"/>
            <a:ext cx="757759" cy="274750"/>
          </a:xfrm>
          <a:prstGeom prst="rect">
            <a:avLst/>
          </a:prstGeom>
          <a:solidFill>
            <a:schemeClr val="tx1">
              <a:lumMod val="50000"/>
              <a:lumOff val="50000"/>
            </a:schemeClr>
          </a:solidFill>
          <a:ln>
            <a:solidFill>
              <a:schemeClr val="bg1">
                <a:lumMod val="50000"/>
              </a:schemeClr>
            </a:solidFill>
            <a:headEnd/>
            <a:tailEnd/>
          </a:ln>
        </p:spPr>
        <p:style>
          <a:lnRef idx="1">
            <a:schemeClr val="accent3"/>
          </a:lnRef>
          <a:fillRef idx="3">
            <a:schemeClr val="accent3"/>
          </a:fillRef>
          <a:effectRef idx="2">
            <a:schemeClr val="accent3"/>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KR</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04" name="Rectangle 43"/>
          <p:cNvSpPr>
            <a:spLocks noChangeArrowheads="1"/>
          </p:cNvSpPr>
          <p:nvPr/>
        </p:nvSpPr>
        <p:spPr bwMode="auto">
          <a:xfrm>
            <a:off x="6301010" y="6110496"/>
            <a:ext cx="762308" cy="338480"/>
          </a:xfrm>
          <a:prstGeom prst="rect">
            <a:avLst/>
          </a:prstGeom>
          <a:noFill/>
          <a:ln w="9525" algn="ctr">
            <a:noFill/>
            <a:miter lim="800000"/>
            <a:headEnd/>
            <a:tailEnd/>
          </a:ln>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50" b="0" i="0" u="none" strike="noStrike" kern="1200" cap="none" spc="0" normalizeH="0" baseline="0" noProof="0">
                <a:ln>
                  <a:noFill/>
                </a:ln>
                <a:solidFill>
                  <a:srgbClr val="5B9BD5">
                    <a:lumMod val="50000"/>
                  </a:srgbClr>
                </a:solidFill>
                <a:effectLst/>
                <a:uLnTx/>
                <a:uFillTx/>
                <a:latin typeface="Rix모던고딕 B"/>
                <a:ea typeface="Rix모던고딕 B"/>
                <a:cs typeface="Arial" charset="0"/>
              </a:rPr>
              <a:t>우선일</a:t>
            </a:r>
          </a:p>
        </p:txBody>
      </p:sp>
      <p:sp>
        <p:nvSpPr>
          <p:cNvPr id="105" name="Rectangle 47"/>
          <p:cNvSpPr>
            <a:spLocks noChangeArrowheads="1"/>
          </p:cNvSpPr>
          <p:nvPr/>
        </p:nvSpPr>
        <p:spPr bwMode="auto">
          <a:xfrm>
            <a:off x="2018410" y="2389153"/>
            <a:ext cx="762308" cy="274750"/>
          </a:xfrm>
          <a:prstGeom prst="rect">
            <a:avLst/>
          </a:prstGeom>
          <a:solidFill>
            <a:schemeClr val="tx1">
              <a:lumMod val="50000"/>
              <a:lumOff val="50000"/>
            </a:schemeClr>
          </a:solidFill>
          <a:ln>
            <a:solidFill>
              <a:schemeClr val="bg1">
                <a:lumMod val="50000"/>
              </a:schemeClr>
            </a:solidFill>
            <a:headEnd/>
            <a:tailEnd/>
          </a:ln>
        </p:spPr>
        <p:style>
          <a:lnRef idx="1">
            <a:schemeClr val="accent3"/>
          </a:lnRef>
          <a:fillRef idx="3">
            <a:schemeClr val="accent3"/>
          </a:fillRef>
          <a:effectRef idx="2">
            <a:schemeClr val="accent3"/>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KR</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06" name="Rectangle 48"/>
          <p:cNvSpPr>
            <a:spLocks noChangeArrowheads="1"/>
          </p:cNvSpPr>
          <p:nvPr/>
        </p:nvSpPr>
        <p:spPr bwMode="auto">
          <a:xfrm>
            <a:off x="2018410" y="2789182"/>
            <a:ext cx="762308" cy="274750"/>
          </a:xfrm>
          <a:prstGeom prst="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US</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07" name="Rectangle 49"/>
          <p:cNvSpPr>
            <a:spLocks noChangeArrowheads="1"/>
          </p:cNvSpPr>
          <p:nvPr/>
        </p:nvSpPr>
        <p:spPr bwMode="auto">
          <a:xfrm>
            <a:off x="2018410" y="3580440"/>
            <a:ext cx="762308" cy="274750"/>
          </a:xfrm>
          <a:prstGeom prst="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a:ln>
                  <a:noFill/>
                </a:ln>
                <a:solidFill>
                  <a:srgbClr val="FFFFFF"/>
                </a:solidFill>
                <a:effectLst/>
                <a:uLnTx/>
                <a:uFillTx/>
                <a:latin typeface="Rix모던고딕 B"/>
                <a:ea typeface="Rix모던고딕 B"/>
                <a:cs typeface="+mn-cs"/>
              </a:rPr>
              <a:t>EPO</a:t>
            </a:r>
          </a:p>
        </p:txBody>
      </p:sp>
      <p:sp>
        <p:nvSpPr>
          <p:cNvPr id="108" name="Rectangle 50"/>
          <p:cNvSpPr>
            <a:spLocks noChangeArrowheads="1"/>
          </p:cNvSpPr>
          <p:nvPr/>
        </p:nvSpPr>
        <p:spPr bwMode="auto">
          <a:xfrm>
            <a:off x="3163011" y="3576040"/>
            <a:ext cx="757759" cy="274750"/>
          </a:xfrm>
          <a:prstGeom prst="rect">
            <a:avLst/>
          </a:prstGeom>
          <a:solidFill>
            <a:schemeClr val="accent4"/>
          </a:solidFill>
          <a:ln>
            <a:solidFill>
              <a:schemeClr val="bg1">
                <a:lumMod val="50000"/>
              </a:schemeClr>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GE</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09" name="Rectangle 51"/>
          <p:cNvSpPr>
            <a:spLocks noChangeArrowheads="1"/>
          </p:cNvSpPr>
          <p:nvPr/>
        </p:nvSpPr>
        <p:spPr bwMode="auto">
          <a:xfrm>
            <a:off x="3163011" y="3180410"/>
            <a:ext cx="757759" cy="272966"/>
          </a:xfrm>
          <a:prstGeom prst="rect">
            <a:avLst/>
          </a:prstGeom>
          <a:solidFill>
            <a:schemeClr val="accent4"/>
          </a:solidFill>
          <a:ln>
            <a:solidFill>
              <a:schemeClr val="bg1">
                <a:lumMod val="50000"/>
              </a:schemeClr>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FR</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10" name="Rectangle 53"/>
          <p:cNvSpPr>
            <a:spLocks noChangeArrowheads="1"/>
          </p:cNvSpPr>
          <p:nvPr/>
        </p:nvSpPr>
        <p:spPr bwMode="auto">
          <a:xfrm>
            <a:off x="3672735" y="4382656"/>
            <a:ext cx="757759" cy="274750"/>
          </a:xfrm>
          <a:prstGeom prst="rect">
            <a:avLst/>
          </a:prstGeom>
          <a:solidFill>
            <a:schemeClr val="tx1">
              <a:lumMod val="50000"/>
              <a:lumOff val="50000"/>
            </a:schemeClr>
          </a:solidFill>
          <a:ln>
            <a:solidFill>
              <a:schemeClr val="bg1">
                <a:lumMod val="50000"/>
              </a:schemeClr>
            </a:solidFill>
            <a:headEnd/>
            <a:tailEnd/>
          </a:ln>
        </p:spPr>
        <p:style>
          <a:lnRef idx="1">
            <a:schemeClr val="accent3"/>
          </a:lnRef>
          <a:fillRef idx="3">
            <a:schemeClr val="accent3"/>
          </a:fillRef>
          <a:effectRef idx="2">
            <a:schemeClr val="accent3"/>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KR</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11" name="Rectangle 54"/>
          <p:cNvSpPr>
            <a:spLocks noChangeArrowheads="1"/>
          </p:cNvSpPr>
          <p:nvPr/>
        </p:nvSpPr>
        <p:spPr bwMode="auto">
          <a:xfrm>
            <a:off x="3672735" y="4784895"/>
            <a:ext cx="757759" cy="272965"/>
          </a:xfrm>
          <a:prstGeom prst="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US</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12" name="Rectangle 55"/>
          <p:cNvSpPr>
            <a:spLocks noChangeArrowheads="1"/>
          </p:cNvSpPr>
          <p:nvPr/>
        </p:nvSpPr>
        <p:spPr bwMode="auto">
          <a:xfrm>
            <a:off x="3672735" y="5576156"/>
            <a:ext cx="757759" cy="274750"/>
          </a:xfrm>
          <a:prstGeom prst="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EPO</a:t>
            </a:r>
          </a:p>
        </p:txBody>
      </p:sp>
      <p:sp>
        <p:nvSpPr>
          <p:cNvPr id="113" name="Rectangle 56"/>
          <p:cNvSpPr>
            <a:spLocks noChangeArrowheads="1"/>
          </p:cNvSpPr>
          <p:nvPr/>
        </p:nvSpPr>
        <p:spPr bwMode="auto">
          <a:xfrm>
            <a:off x="4805958" y="5576156"/>
            <a:ext cx="760033" cy="274750"/>
          </a:xfrm>
          <a:prstGeom prst="rect">
            <a:avLst/>
          </a:prstGeom>
          <a:solidFill>
            <a:schemeClr val="accent4"/>
          </a:solidFill>
          <a:ln>
            <a:solidFill>
              <a:schemeClr val="bg1">
                <a:lumMod val="50000"/>
              </a:schemeClr>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GE</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14" name="Rectangle 57"/>
          <p:cNvSpPr>
            <a:spLocks noChangeArrowheads="1"/>
          </p:cNvSpPr>
          <p:nvPr/>
        </p:nvSpPr>
        <p:spPr bwMode="auto">
          <a:xfrm>
            <a:off x="4805958" y="5173913"/>
            <a:ext cx="760033" cy="274750"/>
          </a:xfrm>
          <a:prstGeom prst="rect">
            <a:avLst/>
          </a:prstGeom>
          <a:solidFill>
            <a:schemeClr val="accent4"/>
          </a:solidFill>
          <a:ln>
            <a:solidFill>
              <a:schemeClr val="bg1">
                <a:lumMod val="50000"/>
              </a:schemeClr>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FR</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15" name="Rectangle 58"/>
          <p:cNvSpPr>
            <a:spLocks noChangeArrowheads="1"/>
          </p:cNvSpPr>
          <p:nvPr/>
        </p:nvSpPr>
        <p:spPr bwMode="auto">
          <a:xfrm>
            <a:off x="2032078" y="6110496"/>
            <a:ext cx="762308" cy="338480"/>
          </a:xfrm>
          <a:prstGeom prst="rect">
            <a:avLst/>
          </a:prstGeom>
          <a:noFill/>
          <a:ln w="9525" algn="ctr">
            <a:noFill/>
            <a:miter lim="800000"/>
            <a:headEnd/>
            <a:tailEnd/>
          </a:ln>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50" b="0" i="0" u="none" strike="noStrike" kern="1200" cap="none" spc="0" normalizeH="0" baseline="0" noProof="0">
                <a:ln>
                  <a:noFill/>
                </a:ln>
                <a:solidFill>
                  <a:srgbClr val="5B9BD5">
                    <a:lumMod val="50000"/>
                  </a:srgbClr>
                </a:solidFill>
                <a:effectLst/>
                <a:uLnTx/>
                <a:uFillTx/>
                <a:latin typeface="Rix모던고딕 B"/>
                <a:ea typeface="Rix모던고딕 B"/>
                <a:cs typeface="Arial" charset="0"/>
              </a:rPr>
              <a:t>우선일</a:t>
            </a:r>
          </a:p>
        </p:txBody>
      </p:sp>
      <p:sp>
        <p:nvSpPr>
          <p:cNvPr id="116" name="Rectangle 59"/>
          <p:cNvSpPr>
            <a:spLocks noChangeArrowheads="1"/>
          </p:cNvSpPr>
          <p:nvPr/>
        </p:nvSpPr>
        <p:spPr bwMode="auto">
          <a:xfrm>
            <a:off x="3329141" y="6110496"/>
            <a:ext cx="1524619" cy="338480"/>
          </a:xfrm>
          <a:prstGeom prst="rect">
            <a:avLst/>
          </a:prstGeom>
          <a:noFill/>
          <a:ln w="9525" algn="ctr">
            <a:noFill/>
            <a:miter lim="800000"/>
            <a:headEnd/>
            <a:tailEnd/>
          </a:ln>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a:ln>
                  <a:noFill/>
                </a:ln>
                <a:solidFill>
                  <a:srgbClr val="5B9BD5">
                    <a:lumMod val="50000"/>
                  </a:srgbClr>
                </a:solidFill>
                <a:effectLst/>
                <a:uLnTx/>
                <a:uFillTx/>
                <a:latin typeface="Rix모던고딕 B"/>
                <a:ea typeface="Rix모던고딕 B"/>
                <a:cs typeface="Arial" charset="0"/>
              </a:rPr>
              <a:t>30/31</a:t>
            </a:r>
            <a:r>
              <a:rPr kumimoji="0" lang="ko-KR" altLang="en-US" sz="1050" b="0" i="0" u="none" strike="noStrike" kern="1200" cap="none" spc="0" normalizeH="0" baseline="0" noProof="0">
                <a:ln>
                  <a:noFill/>
                </a:ln>
                <a:solidFill>
                  <a:srgbClr val="5B9BD5">
                    <a:lumMod val="50000"/>
                  </a:srgbClr>
                </a:solidFill>
                <a:effectLst/>
                <a:uLnTx/>
                <a:uFillTx/>
                <a:latin typeface="Rix모던고딕 B"/>
                <a:ea typeface="Rix모던고딕 B"/>
                <a:cs typeface="Arial" charset="0"/>
              </a:rPr>
              <a:t>월</a:t>
            </a:r>
          </a:p>
        </p:txBody>
      </p:sp>
      <p:sp>
        <p:nvSpPr>
          <p:cNvPr id="117" name="Rectangle 63"/>
          <p:cNvSpPr>
            <a:spLocks noChangeArrowheads="1"/>
          </p:cNvSpPr>
          <p:nvPr/>
        </p:nvSpPr>
        <p:spPr bwMode="auto">
          <a:xfrm>
            <a:off x="2029787" y="4382656"/>
            <a:ext cx="762309" cy="274750"/>
          </a:xfrm>
          <a:prstGeom prst="rect">
            <a:avLst/>
          </a:prstGeom>
          <a:solidFill>
            <a:schemeClr val="accent2"/>
          </a:solidFill>
          <a:ln>
            <a:solidFill>
              <a:schemeClr val="bg1">
                <a:lumMod val="50000"/>
              </a:schemeClr>
            </a:solidFill>
            <a:headEnd/>
            <a:tailEnd/>
          </a:ln>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PCT</a:t>
            </a:r>
          </a:p>
        </p:txBody>
      </p:sp>
      <p:cxnSp>
        <p:nvCxnSpPr>
          <p:cNvPr id="118" name="AutoShape 65"/>
          <p:cNvCxnSpPr>
            <a:cxnSpLocks noChangeShapeType="1"/>
          </p:cNvCxnSpPr>
          <p:nvPr/>
        </p:nvCxnSpPr>
        <p:spPr bwMode="auto">
          <a:xfrm>
            <a:off x="2792111" y="4518959"/>
            <a:ext cx="880637" cy="2198"/>
          </a:xfrm>
          <a:prstGeom prst="straightConnector1">
            <a:avLst/>
          </a:prstGeom>
          <a:noFill/>
          <a:ln w="19050">
            <a:solidFill>
              <a:srgbClr val="800000"/>
            </a:solidFill>
            <a:round/>
            <a:headEnd/>
            <a:tailEnd type="stealth" w="med" len="med"/>
          </a:ln>
        </p:spPr>
      </p:cxnSp>
      <p:cxnSp>
        <p:nvCxnSpPr>
          <p:cNvPr id="119" name="AutoShape 66"/>
          <p:cNvCxnSpPr>
            <a:cxnSpLocks noChangeShapeType="1"/>
          </p:cNvCxnSpPr>
          <p:nvPr/>
        </p:nvCxnSpPr>
        <p:spPr bwMode="auto">
          <a:xfrm>
            <a:off x="2792111" y="4518960"/>
            <a:ext cx="880637" cy="402220"/>
          </a:xfrm>
          <a:prstGeom prst="bentConnector3">
            <a:avLst>
              <a:gd name="adj1" fmla="val 50000"/>
            </a:avLst>
          </a:prstGeom>
          <a:noFill/>
          <a:ln w="19050">
            <a:solidFill>
              <a:srgbClr val="800000"/>
            </a:solidFill>
            <a:miter lim="800000"/>
            <a:headEnd/>
            <a:tailEnd type="stealth" w="med" len="med"/>
          </a:ln>
        </p:spPr>
      </p:cxnSp>
      <p:cxnSp>
        <p:nvCxnSpPr>
          <p:cNvPr id="120" name="AutoShape 67"/>
          <p:cNvCxnSpPr>
            <a:cxnSpLocks noChangeShapeType="1"/>
          </p:cNvCxnSpPr>
          <p:nvPr/>
        </p:nvCxnSpPr>
        <p:spPr bwMode="auto">
          <a:xfrm>
            <a:off x="2792111" y="4518960"/>
            <a:ext cx="880637" cy="1195671"/>
          </a:xfrm>
          <a:prstGeom prst="bentConnector3">
            <a:avLst>
              <a:gd name="adj1" fmla="val 50000"/>
            </a:avLst>
          </a:prstGeom>
          <a:noFill/>
          <a:ln w="19050">
            <a:solidFill>
              <a:srgbClr val="800000"/>
            </a:solidFill>
            <a:miter lim="800000"/>
            <a:headEnd/>
            <a:tailEnd type="stealth" w="med" len="med"/>
          </a:ln>
        </p:spPr>
      </p:cxnSp>
      <p:cxnSp>
        <p:nvCxnSpPr>
          <p:cNvPr id="123" name="AutoShape 68"/>
          <p:cNvCxnSpPr>
            <a:cxnSpLocks noChangeShapeType="1"/>
          </p:cNvCxnSpPr>
          <p:nvPr/>
        </p:nvCxnSpPr>
        <p:spPr bwMode="auto">
          <a:xfrm flipV="1">
            <a:off x="2780734" y="3714519"/>
            <a:ext cx="382292" cy="4395"/>
          </a:xfrm>
          <a:prstGeom prst="straightConnector1">
            <a:avLst/>
          </a:prstGeom>
          <a:noFill/>
          <a:ln w="19050">
            <a:solidFill>
              <a:srgbClr val="800000"/>
            </a:solidFill>
            <a:round/>
            <a:headEnd/>
            <a:tailEnd type="stealth" w="med" len="med"/>
          </a:ln>
        </p:spPr>
      </p:cxnSp>
      <p:cxnSp>
        <p:nvCxnSpPr>
          <p:cNvPr id="124" name="AutoShape 69"/>
          <p:cNvCxnSpPr>
            <a:cxnSpLocks noChangeShapeType="1"/>
          </p:cNvCxnSpPr>
          <p:nvPr/>
        </p:nvCxnSpPr>
        <p:spPr bwMode="auto">
          <a:xfrm flipV="1">
            <a:off x="2780734" y="3316694"/>
            <a:ext cx="382292" cy="402221"/>
          </a:xfrm>
          <a:prstGeom prst="bentConnector3">
            <a:avLst>
              <a:gd name="adj1" fmla="val 50000"/>
            </a:avLst>
          </a:prstGeom>
          <a:noFill/>
          <a:ln w="19050">
            <a:solidFill>
              <a:srgbClr val="800000"/>
            </a:solidFill>
            <a:miter lim="800000"/>
            <a:headEnd/>
            <a:tailEnd type="stealth" w="med" len="med"/>
          </a:ln>
        </p:spPr>
      </p:cxnSp>
      <p:cxnSp>
        <p:nvCxnSpPr>
          <p:cNvPr id="125" name="AutoShape 70"/>
          <p:cNvCxnSpPr>
            <a:cxnSpLocks noChangeShapeType="1"/>
          </p:cNvCxnSpPr>
          <p:nvPr/>
        </p:nvCxnSpPr>
        <p:spPr bwMode="auto">
          <a:xfrm flipV="1">
            <a:off x="4430508" y="5310212"/>
            <a:ext cx="375465" cy="404418"/>
          </a:xfrm>
          <a:prstGeom prst="bentConnector3">
            <a:avLst>
              <a:gd name="adj1" fmla="val 50000"/>
            </a:avLst>
          </a:prstGeom>
          <a:noFill/>
          <a:ln w="19050">
            <a:solidFill>
              <a:srgbClr val="800000"/>
            </a:solidFill>
            <a:miter lim="800000"/>
            <a:headEnd/>
            <a:tailEnd type="stealth" w="med" len="med"/>
          </a:ln>
        </p:spPr>
      </p:cxnSp>
      <p:cxnSp>
        <p:nvCxnSpPr>
          <p:cNvPr id="126" name="AutoShape 71"/>
          <p:cNvCxnSpPr>
            <a:cxnSpLocks noChangeShapeType="1"/>
          </p:cNvCxnSpPr>
          <p:nvPr/>
        </p:nvCxnSpPr>
        <p:spPr bwMode="auto">
          <a:xfrm>
            <a:off x="4430508" y="5714629"/>
            <a:ext cx="375465" cy="2198"/>
          </a:xfrm>
          <a:prstGeom prst="straightConnector1">
            <a:avLst/>
          </a:prstGeom>
          <a:noFill/>
          <a:ln w="19050">
            <a:solidFill>
              <a:srgbClr val="800000"/>
            </a:solidFill>
            <a:round/>
            <a:headEnd/>
            <a:tailEnd type="stealth" w="med" len="med"/>
          </a:ln>
        </p:spPr>
      </p:cxnSp>
      <p:sp>
        <p:nvSpPr>
          <p:cNvPr id="127" name="Rectangle 77"/>
          <p:cNvSpPr>
            <a:spLocks noChangeArrowheads="1"/>
          </p:cNvSpPr>
          <p:nvPr/>
        </p:nvSpPr>
        <p:spPr bwMode="auto">
          <a:xfrm>
            <a:off x="1649787" y="1762815"/>
            <a:ext cx="4152878" cy="395627"/>
          </a:xfrm>
          <a:prstGeom prst="roundRect">
            <a:avLst>
              <a:gd name="adj" fmla="val 50000"/>
            </a:avLst>
          </a:prstGeom>
          <a:solidFill>
            <a:schemeClr val="bg2">
              <a:lumMod val="50000"/>
            </a:schemeClr>
          </a:solidFill>
          <a:ln>
            <a:headEnd/>
            <a:tailEnd/>
          </a:ln>
        </p:spPr>
        <p:style>
          <a:lnRef idx="3">
            <a:schemeClr val="lt1"/>
          </a:lnRef>
          <a:fillRef idx="1">
            <a:schemeClr val="accent2"/>
          </a:fillRef>
          <a:effectRef idx="1">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400" b="0" i="0" u="none" strike="noStrike" kern="1200" cap="none" spc="0" normalizeH="0" baseline="0" noProof="0" dirty="0">
                <a:ln>
                  <a:noFill/>
                </a:ln>
                <a:solidFill>
                  <a:srgbClr val="FFFFFF"/>
                </a:solidFill>
                <a:effectLst/>
                <a:uLnTx/>
                <a:uFillTx/>
                <a:latin typeface="Rix모던고딕 B"/>
                <a:ea typeface="Rix모던고딕 B"/>
                <a:cs typeface="+mn-cs"/>
              </a:rPr>
              <a:t>우선권주장을 수반하지 않은 경우</a:t>
            </a:r>
          </a:p>
        </p:txBody>
      </p:sp>
      <p:sp>
        <p:nvSpPr>
          <p:cNvPr id="128" name="Rectangle 78"/>
          <p:cNvSpPr>
            <a:spLocks noChangeArrowheads="1"/>
          </p:cNvSpPr>
          <p:nvPr/>
        </p:nvSpPr>
        <p:spPr bwMode="auto">
          <a:xfrm>
            <a:off x="5848178" y="1762815"/>
            <a:ext cx="5381673" cy="386200"/>
          </a:xfrm>
          <a:prstGeom prst="roundRect">
            <a:avLst>
              <a:gd name="adj" fmla="val 50000"/>
            </a:avLst>
          </a:prstGeom>
          <a:solidFill>
            <a:schemeClr val="bg2">
              <a:lumMod val="50000"/>
            </a:schemeClr>
          </a:solidFill>
          <a:ln>
            <a:headEnd/>
            <a:tailEnd/>
          </a:ln>
        </p:spPr>
        <p:style>
          <a:lnRef idx="3">
            <a:schemeClr val="lt1"/>
          </a:lnRef>
          <a:fillRef idx="1">
            <a:schemeClr val="accent2"/>
          </a:fillRef>
          <a:effectRef idx="1">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400" b="0" i="0" u="none" strike="noStrike" kern="1200" cap="none" spc="0" normalizeH="0" baseline="0" noProof="0" dirty="0">
                <a:ln>
                  <a:noFill/>
                </a:ln>
                <a:solidFill>
                  <a:srgbClr val="FFFFFF"/>
                </a:solidFill>
                <a:effectLst/>
                <a:uLnTx/>
                <a:uFillTx/>
                <a:latin typeface="Rix모던고딕 B"/>
                <a:ea typeface="Rix모던고딕 B"/>
                <a:cs typeface="+mn-cs"/>
              </a:rPr>
              <a:t>우선권주장을 수반하는 경우</a:t>
            </a:r>
          </a:p>
        </p:txBody>
      </p:sp>
      <p:sp>
        <p:nvSpPr>
          <p:cNvPr id="129" name="Rectangle 79"/>
          <p:cNvSpPr>
            <a:spLocks noChangeArrowheads="1"/>
          </p:cNvSpPr>
          <p:nvPr/>
        </p:nvSpPr>
        <p:spPr bwMode="auto">
          <a:xfrm>
            <a:off x="643937" y="2613371"/>
            <a:ext cx="960338" cy="962670"/>
          </a:xfrm>
          <a:prstGeom prst="roundRect">
            <a:avLst>
              <a:gd name="adj" fmla="val 50000"/>
            </a:avLst>
          </a:prstGeom>
          <a:solidFill>
            <a:schemeClr val="accent2">
              <a:lumMod val="75000"/>
            </a:schemeClr>
          </a:solidFill>
          <a:ln>
            <a:headEnd/>
            <a:tailEnd/>
          </a:ln>
        </p:spPr>
        <p:style>
          <a:lnRef idx="3">
            <a:schemeClr val="lt1"/>
          </a:lnRef>
          <a:fillRef idx="1">
            <a:schemeClr val="accent2"/>
          </a:fillRef>
          <a:effectRef idx="1">
            <a:schemeClr val="accent2"/>
          </a:effectRef>
          <a:fontRef idx="minor">
            <a:schemeClr val="lt1"/>
          </a:fontRef>
        </p:style>
        <p:txBody>
          <a:bodyPr wrap="square" lIns="0" tIns="0" rIns="0" bIns="0"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600" b="0" i="0" u="none" strike="noStrike" kern="1200" cap="none" spc="0" normalizeH="0" baseline="0" noProof="0">
                <a:ln>
                  <a:noFill/>
                </a:ln>
                <a:solidFill>
                  <a:srgbClr val="FFFFFF"/>
                </a:solidFill>
                <a:effectLst/>
                <a:uLnTx/>
                <a:uFillTx/>
                <a:latin typeface="Rix모던고딕 B"/>
                <a:ea typeface="Rix모던고딕 B"/>
                <a:cs typeface="+mn-cs"/>
              </a:rPr>
              <a:t>일반</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600" b="0" i="0" u="none" strike="noStrike" kern="1200" cap="none" spc="0" normalizeH="0" baseline="0" noProof="0">
                <a:ln>
                  <a:noFill/>
                </a:ln>
                <a:solidFill>
                  <a:srgbClr val="FFFFFF"/>
                </a:solidFill>
                <a:effectLst/>
                <a:uLnTx/>
                <a:uFillTx/>
                <a:latin typeface="Rix모던고딕 B"/>
                <a:ea typeface="Rix모던고딕 B"/>
                <a:cs typeface="+mn-cs"/>
              </a:rPr>
              <a:t>해외</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600" b="0" i="0" u="none" strike="noStrike" kern="1200" cap="none" spc="0" normalizeH="0" baseline="0" noProof="0">
                <a:ln>
                  <a:noFill/>
                </a:ln>
                <a:solidFill>
                  <a:srgbClr val="FFFFFF"/>
                </a:solidFill>
                <a:effectLst/>
                <a:uLnTx/>
                <a:uFillTx/>
                <a:latin typeface="Rix모던고딕 B"/>
                <a:ea typeface="Rix모던고딕 B"/>
                <a:cs typeface="+mn-cs"/>
              </a:rPr>
              <a:t>출원</a:t>
            </a:r>
          </a:p>
        </p:txBody>
      </p:sp>
      <p:sp>
        <p:nvSpPr>
          <p:cNvPr id="130" name="Rectangle 80"/>
          <p:cNvSpPr>
            <a:spLocks noChangeArrowheads="1"/>
          </p:cNvSpPr>
          <p:nvPr/>
        </p:nvSpPr>
        <p:spPr bwMode="auto">
          <a:xfrm>
            <a:off x="643937" y="4565122"/>
            <a:ext cx="960338" cy="1011034"/>
          </a:xfrm>
          <a:prstGeom prst="roundRect">
            <a:avLst>
              <a:gd name="adj" fmla="val 50000"/>
            </a:avLst>
          </a:prstGeom>
          <a:solidFill>
            <a:schemeClr val="accent1">
              <a:lumMod val="75000"/>
            </a:schemeClr>
          </a:solidFill>
          <a:ln>
            <a:headEnd/>
            <a:tailEnd/>
          </a:ln>
        </p:spPr>
        <p:style>
          <a:lnRef idx="3">
            <a:schemeClr val="lt1"/>
          </a:lnRef>
          <a:fillRef idx="1">
            <a:schemeClr val="accent2"/>
          </a:fillRef>
          <a:effectRef idx="1">
            <a:schemeClr val="accent2"/>
          </a:effectRef>
          <a:fontRef idx="minor">
            <a:schemeClr val="lt1"/>
          </a:fontRef>
        </p:style>
        <p:txBody>
          <a:bodyPr wrap="square" lIns="0" tIns="0" rIns="0" bIns="0"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600" b="0" i="0" u="none" strike="noStrike" kern="1200" cap="none" spc="0" normalizeH="0" baseline="0" noProof="0" dirty="0">
                <a:ln>
                  <a:noFill/>
                </a:ln>
                <a:solidFill>
                  <a:srgbClr val="FFFFFF"/>
                </a:solidFill>
                <a:effectLst/>
                <a:uLnTx/>
                <a:uFillTx/>
                <a:latin typeface="Rix모던고딕 B"/>
                <a:ea typeface="Rix모던고딕 B"/>
                <a:cs typeface="+mn-cs"/>
              </a:rPr>
              <a:t>PCT</a:t>
            </a:r>
            <a:endParaRPr kumimoji="0" lang="ko-KR" altLang="en-US" sz="1600" b="0" i="0" u="none" strike="noStrike" kern="1200" cap="none" spc="0" normalizeH="0" baseline="0" noProof="0" dirty="0">
              <a:ln>
                <a:noFill/>
              </a:ln>
              <a:solidFill>
                <a:srgbClr val="FFFFFF"/>
              </a:solidFill>
              <a:effectLst/>
              <a:uLnTx/>
              <a:uFillTx/>
              <a:latin typeface="Rix모던고딕 B"/>
              <a:ea typeface="Rix모던고딕 B"/>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600" b="0" i="0" u="none" strike="noStrike" kern="1200" cap="none" spc="0" normalizeH="0" baseline="0" noProof="0" dirty="0">
                <a:ln>
                  <a:noFill/>
                </a:ln>
                <a:solidFill>
                  <a:srgbClr val="FFFFFF"/>
                </a:solidFill>
                <a:effectLst/>
                <a:uLnTx/>
                <a:uFillTx/>
                <a:latin typeface="Rix모던고딕 B"/>
                <a:ea typeface="Rix모던고딕 B"/>
                <a:cs typeface="+mn-cs"/>
              </a:rPr>
              <a:t>출원</a:t>
            </a:r>
          </a:p>
        </p:txBody>
      </p:sp>
      <p:sp>
        <p:nvSpPr>
          <p:cNvPr id="131" name="Rectangle 48"/>
          <p:cNvSpPr>
            <a:spLocks noChangeArrowheads="1"/>
          </p:cNvSpPr>
          <p:nvPr/>
        </p:nvSpPr>
        <p:spPr bwMode="auto">
          <a:xfrm>
            <a:off x="2018410" y="3184811"/>
            <a:ext cx="762308" cy="274750"/>
          </a:xfrm>
          <a:prstGeom prst="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JP</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32" name="Rectangle 54"/>
          <p:cNvSpPr>
            <a:spLocks noChangeArrowheads="1"/>
          </p:cNvSpPr>
          <p:nvPr/>
        </p:nvSpPr>
        <p:spPr bwMode="auto">
          <a:xfrm>
            <a:off x="3672735" y="5180525"/>
            <a:ext cx="757759" cy="272965"/>
          </a:xfrm>
          <a:prstGeom prst="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JP</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33" name="직사각형 132"/>
          <p:cNvSpPr/>
          <p:nvPr/>
        </p:nvSpPr>
        <p:spPr bwMode="auto">
          <a:xfrm>
            <a:off x="4740680" y="2257348"/>
            <a:ext cx="960107" cy="353230"/>
          </a:xfrm>
          <a:prstGeom prst="rect">
            <a:avLst/>
          </a:prstGeom>
          <a:ln>
            <a:headEnd type="none" w="med" len="med"/>
            <a:tailEnd type="none"/>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A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유형</a:t>
            </a:r>
          </a:p>
        </p:txBody>
      </p:sp>
      <p:sp>
        <p:nvSpPr>
          <p:cNvPr id="134" name="직사각형 133"/>
          <p:cNvSpPr/>
          <p:nvPr/>
        </p:nvSpPr>
        <p:spPr bwMode="auto">
          <a:xfrm>
            <a:off x="10213288" y="2257348"/>
            <a:ext cx="960107" cy="353230"/>
          </a:xfrm>
          <a:prstGeom prst="rect">
            <a:avLst/>
          </a:prstGeom>
          <a:ln>
            <a:headEnd type="none" w="med" len="med"/>
            <a:tailEnd type="none"/>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B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유형</a:t>
            </a:r>
          </a:p>
        </p:txBody>
      </p:sp>
      <p:sp>
        <p:nvSpPr>
          <p:cNvPr id="135" name="직사각형 134"/>
          <p:cNvSpPr/>
          <p:nvPr/>
        </p:nvSpPr>
        <p:spPr bwMode="auto">
          <a:xfrm>
            <a:off x="10213288" y="4158942"/>
            <a:ext cx="960107" cy="353230"/>
          </a:xfrm>
          <a:prstGeom prst="rect">
            <a:avLst/>
          </a:prstGeom>
          <a:ln>
            <a:headEnd type="none" w="med" len="med"/>
            <a:tailEnd type="none"/>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D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유형</a:t>
            </a:r>
          </a:p>
        </p:txBody>
      </p:sp>
      <p:sp>
        <p:nvSpPr>
          <p:cNvPr id="136" name="직사각형 135"/>
          <p:cNvSpPr/>
          <p:nvPr/>
        </p:nvSpPr>
        <p:spPr bwMode="auto">
          <a:xfrm>
            <a:off x="4740680" y="4158942"/>
            <a:ext cx="960107" cy="353230"/>
          </a:xfrm>
          <a:prstGeom prst="rect">
            <a:avLst/>
          </a:prstGeom>
          <a:ln>
            <a:headEnd type="none" w="med" len="med"/>
            <a:tailEnd type="none"/>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C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유형</a:t>
            </a:r>
          </a:p>
        </p:txBody>
      </p:sp>
      <p:sp>
        <p:nvSpPr>
          <p:cNvPr id="137" name="Rectangle 53"/>
          <p:cNvSpPr>
            <a:spLocks noChangeArrowheads="1"/>
          </p:cNvSpPr>
          <p:nvPr/>
        </p:nvSpPr>
        <p:spPr bwMode="auto">
          <a:xfrm>
            <a:off x="9258344" y="4382656"/>
            <a:ext cx="757759" cy="274750"/>
          </a:xfrm>
          <a:prstGeom prst="rect">
            <a:avLst/>
          </a:prstGeom>
          <a:solidFill>
            <a:schemeClr val="tx1">
              <a:lumMod val="50000"/>
              <a:lumOff val="50000"/>
            </a:schemeClr>
          </a:solidFill>
          <a:ln>
            <a:solidFill>
              <a:schemeClr val="bg1">
                <a:lumMod val="50000"/>
              </a:schemeClr>
            </a:solidFill>
            <a:headEnd/>
            <a:tailEnd/>
          </a:ln>
        </p:spPr>
        <p:style>
          <a:lnRef idx="1">
            <a:schemeClr val="accent3"/>
          </a:lnRef>
          <a:fillRef idx="3">
            <a:schemeClr val="accent3"/>
          </a:fillRef>
          <a:effectRef idx="2">
            <a:schemeClr val="accent3"/>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KR</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38" name="Rectangle 54"/>
          <p:cNvSpPr>
            <a:spLocks noChangeArrowheads="1"/>
          </p:cNvSpPr>
          <p:nvPr/>
        </p:nvSpPr>
        <p:spPr bwMode="auto">
          <a:xfrm>
            <a:off x="9258344" y="4784895"/>
            <a:ext cx="757759" cy="272965"/>
          </a:xfrm>
          <a:prstGeom prst="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US</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39" name="Rectangle 55"/>
          <p:cNvSpPr>
            <a:spLocks noChangeArrowheads="1"/>
          </p:cNvSpPr>
          <p:nvPr/>
        </p:nvSpPr>
        <p:spPr bwMode="auto">
          <a:xfrm>
            <a:off x="9258344" y="5576156"/>
            <a:ext cx="757759" cy="274750"/>
          </a:xfrm>
          <a:prstGeom prst="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EPO</a:t>
            </a:r>
          </a:p>
        </p:txBody>
      </p:sp>
      <p:sp>
        <p:nvSpPr>
          <p:cNvPr id="140" name="Rectangle 56"/>
          <p:cNvSpPr>
            <a:spLocks noChangeArrowheads="1"/>
          </p:cNvSpPr>
          <p:nvPr/>
        </p:nvSpPr>
        <p:spPr bwMode="auto">
          <a:xfrm>
            <a:off x="10391567" y="5576156"/>
            <a:ext cx="760033" cy="274750"/>
          </a:xfrm>
          <a:prstGeom prst="rect">
            <a:avLst/>
          </a:prstGeom>
          <a:solidFill>
            <a:schemeClr val="accent4"/>
          </a:solidFill>
          <a:ln>
            <a:solidFill>
              <a:schemeClr val="bg1">
                <a:lumMod val="50000"/>
              </a:schemeClr>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GE</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141" name="Rectangle 57"/>
          <p:cNvSpPr>
            <a:spLocks noChangeArrowheads="1"/>
          </p:cNvSpPr>
          <p:nvPr/>
        </p:nvSpPr>
        <p:spPr bwMode="auto">
          <a:xfrm>
            <a:off x="10391567" y="5173913"/>
            <a:ext cx="760033" cy="274750"/>
          </a:xfrm>
          <a:prstGeom prst="rect">
            <a:avLst/>
          </a:prstGeom>
          <a:solidFill>
            <a:schemeClr val="accent4"/>
          </a:solidFill>
          <a:ln>
            <a:solidFill>
              <a:schemeClr val="bg1">
                <a:lumMod val="50000"/>
              </a:schemeClr>
            </a:solidFill>
            <a:headEnd/>
            <a:tailEnd/>
          </a:ln>
        </p:spPr>
        <p:style>
          <a:lnRef idx="1">
            <a:schemeClr val="accent4"/>
          </a:lnRef>
          <a:fillRef idx="3">
            <a:schemeClr val="accent4"/>
          </a:fillRef>
          <a:effectRef idx="2">
            <a:schemeClr val="accent4"/>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FR</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cxnSp>
        <p:nvCxnSpPr>
          <p:cNvPr id="144" name="AutoShape 70"/>
          <p:cNvCxnSpPr>
            <a:cxnSpLocks noChangeShapeType="1"/>
          </p:cNvCxnSpPr>
          <p:nvPr/>
        </p:nvCxnSpPr>
        <p:spPr bwMode="auto">
          <a:xfrm flipV="1">
            <a:off x="10016117" y="5310212"/>
            <a:ext cx="375465" cy="404418"/>
          </a:xfrm>
          <a:prstGeom prst="bentConnector3">
            <a:avLst>
              <a:gd name="adj1" fmla="val 50000"/>
            </a:avLst>
          </a:prstGeom>
          <a:noFill/>
          <a:ln w="19050">
            <a:solidFill>
              <a:srgbClr val="800000"/>
            </a:solidFill>
            <a:miter lim="800000"/>
            <a:headEnd/>
            <a:tailEnd type="stealth" w="med" len="med"/>
          </a:ln>
        </p:spPr>
      </p:cxnSp>
      <p:cxnSp>
        <p:nvCxnSpPr>
          <p:cNvPr id="145" name="AutoShape 71"/>
          <p:cNvCxnSpPr>
            <a:cxnSpLocks noChangeShapeType="1"/>
          </p:cNvCxnSpPr>
          <p:nvPr/>
        </p:nvCxnSpPr>
        <p:spPr bwMode="auto">
          <a:xfrm>
            <a:off x="10016117" y="5714629"/>
            <a:ext cx="375465" cy="2198"/>
          </a:xfrm>
          <a:prstGeom prst="straightConnector1">
            <a:avLst/>
          </a:prstGeom>
          <a:noFill/>
          <a:ln w="19050">
            <a:solidFill>
              <a:srgbClr val="800000"/>
            </a:solidFill>
            <a:round/>
            <a:headEnd/>
            <a:tailEnd type="stealth" w="med" len="med"/>
          </a:ln>
        </p:spPr>
      </p:cxnSp>
      <p:sp>
        <p:nvSpPr>
          <p:cNvPr id="146" name="Rectangle 54"/>
          <p:cNvSpPr>
            <a:spLocks noChangeArrowheads="1"/>
          </p:cNvSpPr>
          <p:nvPr/>
        </p:nvSpPr>
        <p:spPr bwMode="auto">
          <a:xfrm>
            <a:off x="9258344" y="5180525"/>
            <a:ext cx="757759" cy="272965"/>
          </a:xfrm>
          <a:prstGeom prst="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50" b="0" i="0" u="none" strike="noStrike" kern="1200" cap="none" spc="0" normalizeH="0" baseline="0" noProof="0" dirty="0">
                <a:ln>
                  <a:noFill/>
                </a:ln>
                <a:solidFill>
                  <a:srgbClr val="FFFFFF"/>
                </a:solidFill>
                <a:effectLst/>
                <a:uLnTx/>
                <a:uFillTx/>
                <a:latin typeface="Rix모던고딕 B"/>
                <a:ea typeface="Rix모던고딕 B"/>
                <a:cs typeface="+mn-cs"/>
              </a:rPr>
              <a:t>JP</a:t>
            </a:r>
            <a:endParaRPr kumimoji="0" lang="ko-KR" altLang="en-US" sz="105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cxnSp>
        <p:nvCxnSpPr>
          <p:cNvPr id="157" name="AutoShape 30"/>
          <p:cNvCxnSpPr>
            <a:cxnSpLocks noChangeShapeType="1"/>
            <a:stCxn id="92" idx="3"/>
            <a:endCxn id="138" idx="1"/>
          </p:cNvCxnSpPr>
          <p:nvPr/>
        </p:nvCxnSpPr>
        <p:spPr bwMode="auto">
          <a:xfrm>
            <a:off x="8451459" y="4520031"/>
            <a:ext cx="806885" cy="401347"/>
          </a:xfrm>
          <a:prstGeom prst="bentConnector3">
            <a:avLst>
              <a:gd name="adj1" fmla="val 50000"/>
            </a:avLst>
          </a:prstGeom>
          <a:noFill/>
          <a:ln w="19050">
            <a:solidFill>
              <a:srgbClr val="800000"/>
            </a:solidFill>
            <a:miter lim="800000"/>
            <a:headEnd/>
            <a:tailEnd type="stealth" w="med" len="med"/>
          </a:ln>
        </p:spPr>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547</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344029334"/>
      </p:ext>
    </p:extLst>
  </p:cSld>
  <p:clrMapOvr>
    <a:masterClrMapping/>
  </p:clrMapOvr>
  <p:transition/>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err="1"/>
              <a:t>참고노트</a:t>
            </a:r>
            <a:endParaRPr lang="ko-KR" altLang="en-US" dirty="0"/>
          </a:p>
        </p:txBody>
      </p:sp>
      <p:sp>
        <p:nvSpPr>
          <p:cNvPr id="5" name="텍스트 개체 틀 4"/>
          <p:cNvSpPr>
            <a:spLocks noGrp="1"/>
          </p:cNvSpPr>
          <p:nvPr>
            <p:ph type="body" sz="quarter" idx="13"/>
          </p:nvPr>
        </p:nvSpPr>
        <p:spPr/>
        <p:txBody>
          <a:bodyPr/>
          <a:lstStyle/>
          <a:p>
            <a:r>
              <a:rPr lang="ko-KR" altLang="en-US" dirty="0"/>
              <a:t>해외출원루트의 선택</a:t>
            </a:r>
          </a:p>
        </p:txBody>
      </p:sp>
      <p:graphicFrame>
        <p:nvGraphicFramePr>
          <p:cNvPr id="81" name="표 80"/>
          <p:cNvGraphicFramePr>
            <a:graphicFrameLocks noGrp="1"/>
          </p:cNvGraphicFramePr>
          <p:nvPr/>
        </p:nvGraphicFramePr>
        <p:xfrm>
          <a:off x="679624" y="1285798"/>
          <a:ext cx="10517855" cy="4993469"/>
        </p:xfrm>
        <a:graphic>
          <a:graphicData uri="http://schemas.openxmlformats.org/drawingml/2006/table">
            <a:tbl>
              <a:tblPr>
                <a:tableStyleId>{8799B23B-EC83-4686-B30A-512413B5E67A}</a:tableStyleId>
              </a:tblPr>
              <a:tblGrid>
                <a:gridCol w="1274965">
                  <a:extLst>
                    <a:ext uri="{9D8B030D-6E8A-4147-A177-3AD203B41FA5}">
                      <a16:colId xmlns:a16="http://schemas.microsoft.com/office/drawing/2014/main" val="430904551"/>
                    </a:ext>
                  </a:extLst>
                </a:gridCol>
                <a:gridCol w="1274965">
                  <a:extLst>
                    <a:ext uri="{9D8B030D-6E8A-4147-A177-3AD203B41FA5}">
                      <a16:colId xmlns:a16="http://schemas.microsoft.com/office/drawing/2014/main" val="20000"/>
                    </a:ext>
                  </a:extLst>
                </a:gridCol>
                <a:gridCol w="4339914">
                  <a:extLst>
                    <a:ext uri="{9D8B030D-6E8A-4147-A177-3AD203B41FA5}">
                      <a16:colId xmlns:a16="http://schemas.microsoft.com/office/drawing/2014/main" val="20001"/>
                    </a:ext>
                  </a:extLst>
                </a:gridCol>
                <a:gridCol w="3628011">
                  <a:extLst>
                    <a:ext uri="{9D8B030D-6E8A-4147-A177-3AD203B41FA5}">
                      <a16:colId xmlns:a16="http://schemas.microsoft.com/office/drawing/2014/main" val="20002"/>
                    </a:ext>
                  </a:extLst>
                </a:gridCol>
              </a:tblGrid>
              <a:tr h="313887">
                <a:tc grid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항목</a:t>
                      </a:r>
                      <a:endParaRPr kumimoji="0" lang="ko-KR" altLang="en-US" sz="1400" b="1" i="0" u="none" strike="noStrike" cap="none" normalizeH="0" baseline="0" dirty="0">
                        <a:ln>
                          <a:noFill/>
                        </a:ln>
                        <a:solidFill>
                          <a:schemeClr val="bg1"/>
                        </a:solidFill>
                        <a:effectLst/>
                        <a:latin typeface="+mn-ea"/>
                        <a:ea typeface="+mn-ea"/>
                      </a:endParaRPr>
                    </a:p>
                  </a:txBody>
                  <a:tcPr marL="72000" marR="72000" marT="10242" marB="10242" anchor="ctr" horzOverflow="overflow">
                    <a:solidFill>
                      <a:schemeClr val="accent1">
                        <a:lumMod val="20000"/>
                        <a:lumOff val="80000"/>
                      </a:schemeClr>
                    </a:solidFill>
                  </a:tcPr>
                </a:tc>
                <a:tc hMerge="1">
                  <a:txBody>
                    <a:bodyPr/>
                    <a:lstStyle/>
                    <a:p>
                      <a:endParaRPr dirty="0"/>
                    </a:p>
                  </a:txBody>
                  <a:tcPr marL="72000" marR="72000" marT="10242" marB="10242"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dirty="0">
                          <a:ln>
                            <a:noFill/>
                          </a:ln>
                          <a:effectLst/>
                        </a:rPr>
                        <a:t>PCT </a:t>
                      </a:r>
                      <a:r>
                        <a:rPr kumimoji="0" lang="ko-KR" altLang="en-US" sz="1400" u="none" strike="noStrike" cap="none" normalizeH="0" baseline="0" dirty="0">
                          <a:ln>
                            <a:noFill/>
                          </a:ln>
                          <a:effectLst/>
                        </a:rPr>
                        <a:t>해외 출원</a:t>
                      </a:r>
                      <a:endParaRPr kumimoji="0" lang="ko-KR" altLang="en-US" sz="1400" b="1" i="0" u="none" strike="noStrike" cap="none" normalizeH="0" baseline="0" dirty="0">
                        <a:ln>
                          <a:noFill/>
                        </a:ln>
                        <a:solidFill>
                          <a:schemeClr val="bg1"/>
                        </a:solidFill>
                        <a:effectLst/>
                        <a:latin typeface="+mn-ea"/>
                        <a:ea typeface="+mn-ea"/>
                      </a:endParaRPr>
                    </a:p>
                  </a:txBody>
                  <a:tcPr marL="72000" marR="72000" marT="10242" marB="10242" anchor="ctr" horzOverflow="overflow">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일반 해외 출원</a:t>
                      </a:r>
                      <a:endParaRPr kumimoji="0" lang="ko-KR" altLang="en-US" sz="1400" b="1" i="0" u="none" strike="noStrike" cap="none" normalizeH="0" baseline="0" dirty="0">
                        <a:ln>
                          <a:noFill/>
                        </a:ln>
                        <a:solidFill>
                          <a:schemeClr val="bg1"/>
                        </a:solidFill>
                        <a:effectLst/>
                        <a:latin typeface="+mn-ea"/>
                        <a:ea typeface="+mn-ea"/>
                      </a:endParaRPr>
                    </a:p>
                  </a:txBody>
                  <a:tcPr marL="72000" marR="72000" marT="10242" marB="10242" anchor="ctr" horzOverflow="overflow">
                    <a:solidFill>
                      <a:schemeClr val="accent1">
                        <a:lumMod val="20000"/>
                        <a:lumOff val="80000"/>
                      </a:schemeClr>
                    </a:solidFill>
                  </a:tcPr>
                </a:tc>
                <a:extLst>
                  <a:ext uri="{0D108BD9-81ED-4DB2-BD59-A6C34878D82A}">
                    <a16:rowId xmlns:a16="http://schemas.microsoft.com/office/drawing/2014/main" val="10000"/>
                  </a:ext>
                </a:extLst>
              </a:tr>
              <a:tr h="544356">
                <a:tc rowSpan="2">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b="0" i="0" u="none" strike="noStrike" cap="none" normalizeH="0" baseline="0" dirty="0">
                          <a:ln>
                            <a:noFill/>
                          </a:ln>
                          <a:solidFill>
                            <a:schemeClr val="tx1"/>
                          </a:solidFill>
                          <a:effectLst/>
                          <a:latin typeface="+mn-ea"/>
                          <a:ea typeface="+mn-ea"/>
                        </a:rPr>
                        <a:t>출원단계</a:t>
                      </a:r>
                    </a:p>
                  </a:txBody>
                  <a:tcPr marL="72000" marR="72000" marT="10242" marB="10242"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출원</a:t>
                      </a:r>
                      <a:endParaRPr kumimoji="0" lang="ko-KR" altLang="en-US" sz="1400" b="1" i="0" u="none" strike="noStrike" cap="none" normalizeH="0" baseline="0" dirty="0">
                        <a:ln>
                          <a:noFill/>
                        </a:ln>
                        <a:solidFill>
                          <a:schemeClr val="bg1"/>
                        </a:solidFill>
                        <a:effectLst/>
                        <a:latin typeface="+mn-ea"/>
                        <a:ea typeface="+mn-ea"/>
                      </a:endParaRPr>
                    </a:p>
                  </a:txBody>
                  <a:tcPr marL="72000" marR="72000" marT="10242" marB="10242" anchor="ctr" horzOverflow="overflow"/>
                </a:tc>
                <a:tc>
                  <a:txBody>
                    <a:bodyPr/>
                    <a:lstStyle/>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50" dirty="0">
                          <a:effectLst/>
                        </a:rPr>
                        <a:t>하나의 방식으로 </a:t>
                      </a:r>
                      <a:r>
                        <a:rPr lang="en-US" altLang="ko-KR" sz="1400" kern="0" spc="-50" dirty="0">
                          <a:effectLst/>
                        </a:rPr>
                        <a:t>PCT </a:t>
                      </a:r>
                      <a:r>
                        <a:rPr lang="ko-KR" altLang="en-US" sz="1400" kern="0" spc="-50" dirty="0">
                          <a:effectLst/>
                        </a:rPr>
                        <a:t>출원을 하면 세계 여러 국가에 </a:t>
                      </a:r>
                      <a:r>
                        <a:rPr lang="ko-KR" altLang="en-US" sz="1400" kern="0" spc="-50" dirty="0" err="1">
                          <a:effectLst/>
                        </a:rPr>
                        <a:t>출원되는</a:t>
                      </a:r>
                      <a:r>
                        <a:rPr lang="ko-KR" altLang="en-US" sz="1400" kern="0" spc="-50" dirty="0">
                          <a:effectLst/>
                        </a:rPr>
                        <a:t> 효과 발생</a:t>
                      </a:r>
                      <a:endParaRPr lang="en-US" altLang="ko-KR" sz="1400" kern="0" spc="-50" dirty="0">
                        <a:solidFill>
                          <a:srgbClr val="000000"/>
                        </a:solidFill>
                        <a:effectLst/>
                      </a:endParaRPr>
                    </a:p>
                  </a:txBody>
                  <a:tcPr marL="72000" marR="72000" marT="17907" marB="17907" anchor="ctr"/>
                </a:tc>
                <a:tc>
                  <a:txBody>
                    <a:bodyPr/>
                    <a:lstStyle/>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50" dirty="0">
                          <a:effectLst/>
                        </a:rPr>
                        <a:t>각 국가의 국내법에서 정하는 방식 및 언어로 각 국가에 개별 출원</a:t>
                      </a:r>
                      <a:endParaRPr lang="ko-KR" altLang="en-US" sz="1400" kern="0" spc="-50" dirty="0">
                        <a:solidFill>
                          <a:srgbClr val="000000"/>
                        </a:solidFill>
                        <a:effectLst/>
                      </a:endParaRPr>
                    </a:p>
                  </a:txBody>
                  <a:tcPr marL="72000" marR="72000" marT="17907" marB="17907" anchor="ctr"/>
                </a:tc>
                <a:extLst>
                  <a:ext uri="{0D108BD9-81ED-4DB2-BD59-A6C34878D82A}">
                    <a16:rowId xmlns:a16="http://schemas.microsoft.com/office/drawing/2014/main" val="10001"/>
                  </a:ext>
                </a:extLst>
              </a:tr>
              <a:tr h="313887">
                <a:tc vMerge="1">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400" b="0" i="0" u="none" strike="noStrike" cap="none" normalizeH="0" baseline="0" dirty="0">
                        <a:ln>
                          <a:noFill/>
                        </a:ln>
                        <a:solidFill>
                          <a:schemeClr val="tx1"/>
                        </a:solidFill>
                        <a:effectLst/>
                        <a:latin typeface="+mn-ea"/>
                        <a:ea typeface="+mn-ea"/>
                      </a:endParaRPr>
                    </a:p>
                  </a:txBody>
                  <a:tcPr marL="72000" marR="72000" marT="10242" marB="10242"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우선기간이용</a:t>
                      </a:r>
                      <a:endParaRPr kumimoji="0" lang="ko-KR" altLang="en-US" sz="1400" b="1" i="0" u="none" strike="noStrike" cap="none" normalizeH="0" baseline="0" dirty="0">
                        <a:ln>
                          <a:noFill/>
                        </a:ln>
                        <a:solidFill>
                          <a:schemeClr val="bg1"/>
                        </a:solidFill>
                        <a:effectLst/>
                        <a:latin typeface="+mn-ea"/>
                        <a:ea typeface="+mn-ea"/>
                      </a:endParaRPr>
                    </a:p>
                  </a:txBody>
                  <a:tcPr marL="72000" marR="72000" marT="10242" marB="10242" anchor="ctr" horzOverflow="overflow"/>
                </a:tc>
                <a:tc>
                  <a:txBody>
                    <a:bodyPr/>
                    <a:lstStyle/>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50" dirty="0">
                          <a:effectLst/>
                        </a:rPr>
                        <a:t>우선일로부터 </a:t>
                      </a:r>
                      <a:r>
                        <a:rPr lang="en-US" altLang="ko-KR" sz="1400" kern="0" spc="-50" dirty="0">
                          <a:effectLst/>
                        </a:rPr>
                        <a:t>1</a:t>
                      </a:r>
                      <a:r>
                        <a:rPr lang="ko-KR" altLang="en-US" sz="1400" kern="0" spc="-50" dirty="0">
                          <a:effectLst/>
                        </a:rPr>
                        <a:t>년 이내 </a:t>
                      </a:r>
                      <a:r>
                        <a:rPr lang="en-US" altLang="ko-KR" sz="1400" kern="0" spc="-50" dirty="0">
                          <a:effectLst/>
                        </a:rPr>
                        <a:t>PCT </a:t>
                      </a:r>
                      <a:r>
                        <a:rPr lang="ko-KR" altLang="en-US" sz="1400" kern="0" spc="-50" dirty="0">
                          <a:effectLst/>
                        </a:rPr>
                        <a:t>출원</a:t>
                      </a:r>
                      <a:endParaRPr lang="ko-KR" altLang="en-US" sz="1400" kern="0" spc="-50" dirty="0">
                        <a:solidFill>
                          <a:srgbClr val="000000"/>
                        </a:solidFill>
                        <a:effectLst/>
                      </a:endParaRPr>
                    </a:p>
                  </a:txBody>
                  <a:tcPr marL="72000" marR="72000" marT="17907" marB="17907" anchor="ctr"/>
                </a:tc>
                <a:tc>
                  <a:txBody>
                    <a:bodyPr/>
                    <a:lstStyle/>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50" dirty="0">
                          <a:effectLst/>
                        </a:rPr>
                        <a:t>우선일로부터 </a:t>
                      </a:r>
                      <a:r>
                        <a:rPr lang="en-US" altLang="ko-KR" sz="1400" kern="0" spc="-50" dirty="0">
                          <a:effectLst/>
                        </a:rPr>
                        <a:t>1</a:t>
                      </a:r>
                      <a:r>
                        <a:rPr lang="ko-KR" altLang="en-US" sz="1400" kern="0" spc="-50" dirty="0">
                          <a:effectLst/>
                        </a:rPr>
                        <a:t>년 이내 각 국가에 모두 출원</a:t>
                      </a:r>
                      <a:endParaRPr lang="ko-KR" altLang="en-US" sz="1400" kern="0" spc="-50" dirty="0">
                        <a:solidFill>
                          <a:srgbClr val="000000"/>
                        </a:solidFill>
                        <a:effectLst/>
                      </a:endParaRPr>
                    </a:p>
                  </a:txBody>
                  <a:tcPr marL="72000" marR="72000" marT="17907" marB="17907" anchor="ctr"/>
                </a:tc>
                <a:extLst>
                  <a:ext uri="{0D108BD9-81ED-4DB2-BD59-A6C34878D82A}">
                    <a16:rowId xmlns:a16="http://schemas.microsoft.com/office/drawing/2014/main" val="10002"/>
                  </a:ext>
                </a:extLst>
              </a:tr>
              <a:tr h="608894">
                <a:tc rowSpan="5">
                  <a:txBody>
                    <a:bodyPr/>
                    <a:lstStyle/>
                    <a:p>
                      <a:pPr marL="0" marR="0" lvl="0" indent="0" algn="ctr" defTabSz="914400" rtl="0" eaLnBrk="1" fontAlgn="base" latinLnBrk="1" hangingPunct="1">
                        <a:lnSpc>
                          <a:spcPct val="100000"/>
                        </a:lnSpc>
                        <a:spcBef>
                          <a:spcPct val="0"/>
                        </a:spcBef>
                        <a:spcAft>
                          <a:spcPct val="0"/>
                        </a:spcAft>
                        <a:buClrTx/>
                        <a:buSzTx/>
                        <a:buFontTx/>
                        <a:buNone/>
                        <a:tabLst/>
                        <a:defRPr/>
                      </a:pPr>
                      <a:r>
                        <a:rPr kumimoji="0" lang="ko-KR" altLang="en-US" sz="1400" b="0" i="0" u="none" strike="noStrike" cap="none" normalizeH="0" baseline="0" dirty="0">
                          <a:ln>
                            <a:noFill/>
                          </a:ln>
                          <a:solidFill>
                            <a:schemeClr val="tx1"/>
                          </a:solidFill>
                          <a:effectLst/>
                          <a:latin typeface="+mn-ea"/>
                          <a:ea typeface="+mn-ea"/>
                        </a:rPr>
                        <a:t>국제단계</a:t>
                      </a:r>
                    </a:p>
                  </a:txBody>
                  <a:tcPr marL="72000" marR="72000" marT="10242" marB="10242"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국내단계진입</a:t>
                      </a:r>
                      <a:endParaRPr kumimoji="0" lang="en-US" altLang="ko-KR" sz="1400" u="none" strike="noStrike" cap="none" normalizeH="0" baseline="0" dirty="0">
                        <a:ln>
                          <a:noFill/>
                        </a:ln>
                        <a:effectLst/>
                      </a:endParaRP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기간확보</a:t>
                      </a:r>
                      <a:endParaRPr kumimoji="0" lang="ko-KR" altLang="en-US" sz="1400" b="1" i="0" u="none" strike="noStrike" cap="none" normalizeH="0" baseline="0" dirty="0">
                        <a:ln>
                          <a:noFill/>
                        </a:ln>
                        <a:solidFill>
                          <a:schemeClr val="bg1"/>
                        </a:solidFill>
                        <a:effectLst/>
                        <a:latin typeface="+mn-ea"/>
                        <a:ea typeface="+mn-ea"/>
                      </a:endParaRPr>
                    </a:p>
                  </a:txBody>
                  <a:tcPr marL="72000" marR="72000" marT="10242" marB="10242" anchor="ctr" horzOverflow="overflow"/>
                </a:tc>
                <a:tc>
                  <a:txBody>
                    <a:bodyPr/>
                    <a:lstStyle/>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50" dirty="0">
                          <a:effectLst/>
                        </a:rPr>
                        <a:t>국내단계진입기간</a:t>
                      </a:r>
                      <a:r>
                        <a:rPr lang="en-US" altLang="ko-KR" sz="1400" kern="0" spc="-50" dirty="0">
                          <a:effectLst/>
                        </a:rPr>
                        <a:t>(30/31</a:t>
                      </a:r>
                      <a:r>
                        <a:rPr lang="ko-KR" altLang="en-US" sz="1400" kern="0" spc="-50" dirty="0">
                          <a:effectLst/>
                        </a:rPr>
                        <a:t>개월</a:t>
                      </a:r>
                      <a:r>
                        <a:rPr lang="en-US" altLang="ko-KR" sz="1400" kern="0" spc="-50" dirty="0">
                          <a:effectLst/>
                        </a:rPr>
                        <a:t>)</a:t>
                      </a:r>
                      <a:r>
                        <a:rPr lang="ko-KR" altLang="en-US" sz="1400" kern="0" spc="-50" dirty="0">
                          <a:effectLst/>
                        </a:rPr>
                        <a:t>의 확보로 무분별한 </a:t>
                      </a:r>
                      <a:r>
                        <a:rPr lang="ko-KR" altLang="en-US" sz="1400" kern="0" spc="-50" dirty="0" err="1">
                          <a:effectLst/>
                        </a:rPr>
                        <a:t>해외출원</a:t>
                      </a:r>
                      <a:r>
                        <a:rPr lang="ko-KR" altLang="en-US" sz="1400" kern="0" spc="-50" dirty="0">
                          <a:effectLst/>
                        </a:rPr>
                        <a:t> 방지</a:t>
                      </a:r>
                      <a:r>
                        <a:rPr lang="en-US" altLang="ko-KR" sz="1400" kern="0" spc="-50" dirty="0">
                          <a:effectLst/>
                        </a:rPr>
                        <a:t>: </a:t>
                      </a:r>
                      <a:r>
                        <a:rPr lang="ko-KR" altLang="en-US" sz="1400" kern="0" spc="-50" dirty="0">
                          <a:effectLst/>
                        </a:rPr>
                        <a:t>사업화 및 </a:t>
                      </a:r>
                      <a:r>
                        <a:rPr lang="ko-KR" altLang="en-US" sz="1400" kern="0" spc="-50" dirty="0" err="1">
                          <a:effectLst/>
                        </a:rPr>
                        <a:t>시장국가</a:t>
                      </a:r>
                      <a:r>
                        <a:rPr lang="ko-KR" altLang="en-US" sz="1400" kern="0" spc="-50" dirty="0">
                          <a:effectLst/>
                        </a:rPr>
                        <a:t> 예측이 곤란한 경우 최종적인 결정의 연기 가능</a:t>
                      </a:r>
                      <a:endParaRPr lang="ko-KR" altLang="en-US" sz="1400" kern="0" spc="-50" dirty="0">
                        <a:solidFill>
                          <a:srgbClr val="000000"/>
                        </a:solidFill>
                        <a:effectLst/>
                      </a:endParaRPr>
                    </a:p>
                  </a:txBody>
                  <a:tcPr marL="72000" marR="72000" marT="17907" marB="17907" anchor="ctr"/>
                </a:tc>
                <a:tc>
                  <a:txBody>
                    <a:bodyPr/>
                    <a:lstStyle/>
                    <a:p>
                      <a:pPr marL="17780" marR="17780" indent="0" algn="ctr" fontAlgn="base" latinLnBrk="1">
                        <a:lnSpc>
                          <a:spcPct val="100000"/>
                        </a:lnSpc>
                        <a:spcBef>
                          <a:spcPts val="0"/>
                        </a:spcBef>
                        <a:spcAft>
                          <a:spcPts val="0"/>
                        </a:spcAft>
                      </a:pPr>
                      <a:r>
                        <a:rPr lang="en-US" sz="1400" kern="0" spc="-50" dirty="0">
                          <a:effectLst/>
                        </a:rPr>
                        <a:t>-</a:t>
                      </a:r>
                      <a:endParaRPr lang="en-US" sz="1400" kern="0" spc="-50" dirty="0">
                        <a:solidFill>
                          <a:srgbClr val="000000"/>
                        </a:solidFill>
                        <a:effectLst/>
                      </a:endParaRPr>
                    </a:p>
                  </a:txBody>
                  <a:tcPr marL="72000" marR="72000" marT="17907" marB="17907" anchor="ctr"/>
                </a:tc>
                <a:extLst>
                  <a:ext uri="{0D108BD9-81ED-4DB2-BD59-A6C34878D82A}">
                    <a16:rowId xmlns:a16="http://schemas.microsoft.com/office/drawing/2014/main" val="10003"/>
                  </a:ext>
                </a:extLst>
              </a:tr>
              <a:tr h="523279">
                <a:tc vMerge="1">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400" b="0" i="0" u="none" strike="noStrike" cap="none" normalizeH="0" baseline="0" dirty="0">
                        <a:ln>
                          <a:noFill/>
                        </a:ln>
                        <a:solidFill>
                          <a:schemeClr val="tx1"/>
                        </a:solidFill>
                        <a:effectLst/>
                        <a:latin typeface="+mn-ea"/>
                        <a:ea typeface="+mn-ea"/>
                      </a:endParaRPr>
                    </a:p>
                  </a:txBody>
                  <a:tcPr marL="72000" marR="72000" marT="10242" marB="10242"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비용</a:t>
                      </a:r>
                      <a:endParaRPr kumimoji="0" lang="ko-KR" altLang="en-US" sz="1400" b="0" i="0" u="none" strike="noStrike" cap="none" normalizeH="0" baseline="0" dirty="0">
                        <a:ln>
                          <a:noFill/>
                        </a:ln>
                        <a:solidFill>
                          <a:schemeClr val="tx1"/>
                        </a:solidFill>
                        <a:effectLst/>
                        <a:latin typeface="+mn-ea"/>
                        <a:ea typeface="+mn-ea"/>
                      </a:endParaRPr>
                    </a:p>
                  </a:txBody>
                  <a:tcPr marL="72000" marR="72000" marT="10242" marB="10242" anchor="ctr" horzOverflow="overflow"/>
                </a:tc>
                <a:tc>
                  <a:txBody>
                    <a:bodyPr/>
                    <a:lstStyle/>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50" dirty="0" err="1">
                          <a:effectLst/>
                        </a:rPr>
                        <a:t>국제단계</a:t>
                      </a:r>
                      <a:r>
                        <a:rPr lang="ko-KR" altLang="en-US" sz="1400" kern="0" spc="-50" dirty="0">
                          <a:effectLst/>
                        </a:rPr>
                        <a:t> </a:t>
                      </a:r>
                      <a:r>
                        <a:rPr lang="en-US" altLang="ko-KR" sz="1400" kern="0" spc="-50" dirty="0">
                          <a:effectLst/>
                        </a:rPr>
                        <a:t>+ </a:t>
                      </a:r>
                      <a:r>
                        <a:rPr lang="ko-KR" altLang="en-US" sz="1400" kern="0" spc="-50" dirty="0" err="1">
                          <a:effectLst/>
                        </a:rPr>
                        <a:t>국내단계</a:t>
                      </a:r>
                      <a:endParaRPr lang="ko-KR" altLang="en-US" sz="1400" kern="0" spc="-90" dirty="0">
                        <a:solidFill>
                          <a:srgbClr val="000000"/>
                        </a:solidFill>
                        <a:effectLst/>
                      </a:endParaRPr>
                    </a:p>
                  </a:txBody>
                  <a:tcPr marL="72000" marR="72000" marT="17907" marB="17907" anchor="ctr"/>
                </a:tc>
                <a:tc>
                  <a:txBody>
                    <a:bodyPr/>
                    <a:lstStyle/>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50" dirty="0" err="1">
                          <a:effectLst/>
                        </a:rPr>
                        <a:t>국내단계</a:t>
                      </a:r>
                      <a:endParaRPr lang="ko-KR" altLang="en-US" sz="1400" kern="0" spc="-50" dirty="0">
                        <a:solidFill>
                          <a:srgbClr val="000000"/>
                        </a:solidFill>
                        <a:effectLst/>
                      </a:endParaRPr>
                    </a:p>
                  </a:txBody>
                  <a:tcPr marL="72000" marR="72000" marT="17907" marB="17907" anchor="ctr"/>
                </a:tc>
                <a:extLst>
                  <a:ext uri="{0D108BD9-81ED-4DB2-BD59-A6C34878D82A}">
                    <a16:rowId xmlns:a16="http://schemas.microsoft.com/office/drawing/2014/main" val="10004"/>
                  </a:ext>
                </a:extLst>
              </a:tr>
              <a:tr h="313887">
                <a:tc vMerge="1">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400" b="0" i="0" u="none" strike="noStrike" cap="none" normalizeH="0" baseline="0" dirty="0">
                        <a:ln>
                          <a:noFill/>
                        </a:ln>
                        <a:solidFill>
                          <a:schemeClr val="tx1"/>
                        </a:solidFill>
                        <a:effectLst/>
                        <a:latin typeface="+mn-ea"/>
                        <a:ea typeface="+mn-ea"/>
                      </a:endParaRPr>
                    </a:p>
                  </a:txBody>
                  <a:tcPr marL="72000" marR="72000" marT="10242" marB="10242"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소요비용분산</a:t>
                      </a:r>
                      <a:endParaRPr kumimoji="0" lang="ko-KR" altLang="en-US" sz="1400" b="1" i="0" u="none" strike="noStrike" cap="none" normalizeH="0" baseline="0" dirty="0">
                        <a:ln>
                          <a:noFill/>
                        </a:ln>
                        <a:solidFill>
                          <a:schemeClr val="bg1"/>
                        </a:solidFill>
                        <a:effectLst/>
                        <a:latin typeface="+mn-ea"/>
                        <a:ea typeface="+mn-ea"/>
                      </a:endParaRPr>
                    </a:p>
                  </a:txBody>
                  <a:tcPr marL="72000" marR="72000" marT="10242" marB="10242" anchor="ctr" horzOverflow="overflow"/>
                </a:tc>
                <a:tc>
                  <a:txBody>
                    <a:bodyPr/>
                    <a:lstStyle/>
                    <a:p>
                      <a:pPr marL="179388" marR="0" lvl="0" indent="-144463" algn="just" defTabSz="914400" rtl="0" eaLnBrk="1" fontAlgn="base" latinLnBrk="1" hangingPunct="1">
                        <a:lnSpc>
                          <a:spcPct val="100000"/>
                        </a:lnSpc>
                        <a:spcBef>
                          <a:spcPct val="0"/>
                        </a:spcBef>
                        <a:spcAft>
                          <a:spcPct val="0"/>
                        </a:spcAft>
                        <a:buClrTx/>
                        <a:buSzTx/>
                        <a:buFont typeface="Wingdings" panose="05000000000000000000" pitchFamily="2" charset="2"/>
                        <a:buChar char="§"/>
                        <a:tabLst/>
                      </a:pPr>
                      <a:r>
                        <a:rPr lang="ko-KR" altLang="en-US" sz="1400" kern="0" spc="-50" dirty="0" err="1">
                          <a:solidFill>
                            <a:schemeClr val="tx1"/>
                          </a:solidFill>
                          <a:effectLst/>
                          <a:latin typeface="+mn-lt"/>
                          <a:ea typeface="+mn-ea"/>
                          <a:cs typeface="+mn-cs"/>
                        </a:rPr>
                        <a:t>국내단계</a:t>
                      </a:r>
                      <a:r>
                        <a:rPr lang="ko-KR" altLang="en-US" sz="1400" kern="0" spc="-50" dirty="0">
                          <a:solidFill>
                            <a:schemeClr val="tx1"/>
                          </a:solidFill>
                          <a:effectLst/>
                          <a:latin typeface="+mn-lt"/>
                          <a:ea typeface="+mn-ea"/>
                          <a:cs typeface="+mn-cs"/>
                        </a:rPr>
                        <a:t> 진입 시기를 달리하여 소요되는 비용의 분산</a:t>
                      </a:r>
                    </a:p>
                  </a:txBody>
                  <a:tcPr marL="72000" marR="72000" marT="10242" marB="10242" anchor="ctr" horzOverflow="overflow"/>
                </a:tc>
                <a:tc>
                  <a:txBody>
                    <a:bodyPr/>
                    <a:lstStyle/>
                    <a:p>
                      <a:pPr marL="179388" marR="0" lvl="0" indent="-144463" algn="just" defTabSz="914400" rtl="0" eaLnBrk="1" fontAlgn="base" latinLnBrk="1" hangingPunct="1">
                        <a:lnSpc>
                          <a:spcPct val="100000"/>
                        </a:lnSpc>
                        <a:spcBef>
                          <a:spcPct val="0"/>
                        </a:spcBef>
                        <a:spcAft>
                          <a:spcPct val="0"/>
                        </a:spcAft>
                        <a:buClrTx/>
                        <a:buSzTx/>
                        <a:buFont typeface="Wingdings" panose="05000000000000000000" pitchFamily="2" charset="2"/>
                        <a:buChar char="§"/>
                        <a:tabLst/>
                      </a:pPr>
                      <a:r>
                        <a:rPr lang="ko-KR" altLang="en-US" sz="1400" kern="0" spc="-50" dirty="0">
                          <a:solidFill>
                            <a:schemeClr val="tx1"/>
                          </a:solidFill>
                          <a:effectLst/>
                          <a:latin typeface="+mn-lt"/>
                          <a:ea typeface="+mn-ea"/>
                          <a:cs typeface="+mn-cs"/>
                        </a:rPr>
                        <a:t>소요비용의 분산이 되지 않음</a:t>
                      </a:r>
                    </a:p>
                  </a:txBody>
                  <a:tcPr marL="72000" marR="72000" marT="10242" marB="10242" anchor="ctr" horzOverflow="overflow"/>
                </a:tc>
                <a:extLst>
                  <a:ext uri="{0D108BD9-81ED-4DB2-BD59-A6C34878D82A}">
                    <a16:rowId xmlns:a16="http://schemas.microsoft.com/office/drawing/2014/main" val="10005"/>
                  </a:ext>
                </a:extLst>
              </a:tr>
              <a:tr h="917796">
                <a:tc vMerge="1">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400" b="0" i="0" u="none" strike="noStrike" cap="none" normalizeH="0" baseline="0" dirty="0">
                        <a:ln>
                          <a:noFill/>
                        </a:ln>
                        <a:solidFill>
                          <a:schemeClr val="tx1"/>
                        </a:solidFill>
                        <a:effectLst/>
                        <a:latin typeface="+mn-ea"/>
                        <a:ea typeface="+mn-ea"/>
                      </a:endParaRPr>
                    </a:p>
                  </a:txBody>
                  <a:tcPr marL="72000" marR="72000" marT="10242" marB="10242"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보고서 </a:t>
                      </a:r>
                      <a:endParaRPr kumimoji="0" lang="en-US" altLang="ko-KR" sz="1400" u="none" strike="noStrike" cap="none" normalizeH="0" baseline="0" dirty="0">
                        <a:ln>
                          <a:noFill/>
                        </a:ln>
                        <a:effectLst/>
                      </a:endParaRPr>
                    </a:p>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활용</a:t>
                      </a:r>
                      <a:endParaRPr kumimoji="0" lang="ko-KR" altLang="en-US" sz="1400" b="1" i="0" u="none" strike="noStrike" cap="none" normalizeH="0" baseline="0" dirty="0">
                        <a:ln>
                          <a:noFill/>
                        </a:ln>
                        <a:solidFill>
                          <a:schemeClr val="bg1"/>
                        </a:solidFill>
                        <a:effectLst/>
                        <a:latin typeface="+mn-ea"/>
                        <a:ea typeface="+mn-ea"/>
                      </a:endParaRPr>
                    </a:p>
                  </a:txBody>
                  <a:tcPr marL="72000" marR="72000" marT="10242" marB="10242" anchor="ctr" horzOverflow="overflow"/>
                </a:tc>
                <a:tc>
                  <a:txBody>
                    <a:bodyPr/>
                    <a:lstStyle/>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50" dirty="0">
                          <a:effectLst/>
                        </a:rPr>
                        <a:t>국제단계에서 국제조사보고서</a:t>
                      </a:r>
                      <a:r>
                        <a:rPr lang="en-US" altLang="ko-KR" sz="1400" kern="0" spc="-50" dirty="0">
                          <a:effectLst/>
                        </a:rPr>
                        <a:t>, </a:t>
                      </a:r>
                      <a:r>
                        <a:rPr lang="ko-KR" altLang="en-US" sz="1400" kern="0" spc="-50" dirty="0">
                          <a:effectLst/>
                        </a:rPr>
                        <a:t>국제예비심사보고서를 활용하여 국내단계진입여부 </a:t>
                      </a:r>
                      <a:r>
                        <a:rPr lang="ko-KR" altLang="en-US" sz="1400" kern="0" spc="-50" dirty="0" err="1">
                          <a:effectLst/>
                        </a:rPr>
                        <a:t>결정가능</a:t>
                      </a:r>
                      <a:endParaRPr lang="ko-KR" altLang="en-US" sz="1400" kern="0" spc="-50" dirty="0">
                        <a:effectLst/>
                      </a:endParaRPr>
                    </a:p>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50" dirty="0">
                          <a:effectLst/>
                        </a:rPr>
                        <a:t>등록 가능성이 없는 경우 국내단계진입을 포기하여 불필요한 비용의 </a:t>
                      </a:r>
                      <a:r>
                        <a:rPr lang="ko-KR" altLang="en-US" sz="1400" kern="0" spc="-50" dirty="0" err="1">
                          <a:effectLst/>
                        </a:rPr>
                        <a:t>절감가능</a:t>
                      </a:r>
                      <a:endParaRPr lang="ko-KR" altLang="en-US" sz="1400" kern="0" spc="-50" dirty="0">
                        <a:solidFill>
                          <a:srgbClr val="000000"/>
                        </a:solidFill>
                        <a:effectLst/>
                      </a:endParaRPr>
                    </a:p>
                  </a:txBody>
                  <a:tcPr marL="72000" marR="72000" marT="17907" marB="17907" anchor="ctr"/>
                </a:tc>
                <a:tc>
                  <a:txBody>
                    <a:bodyPr/>
                    <a:lstStyle/>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50" dirty="0">
                          <a:effectLst/>
                        </a:rPr>
                        <a:t>국내 단계 진입 전에 </a:t>
                      </a:r>
                      <a:r>
                        <a:rPr lang="ko-KR" altLang="en-US" sz="1400" kern="0" spc="-50" dirty="0" err="1">
                          <a:effectLst/>
                        </a:rPr>
                        <a:t>특허성과</a:t>
                      </a:r>
                      <a:r>
                        <a:rPr lang="ko-KR" altLang="en-US" sz="1400" kern="0" spc="-50" dirty="0">
                          <a:effectLst/>
                        </a:rPr>
                        <a:t> 관련하여 참고할 수 있는 공적 보고서 없음</a:t>
                      </a:r>
                      <a:endParaRPr lang="ko-KR" altLang="en-US" sz="1400" kern="0" spc="-50" dirty="0">
                        <a:solidFill>
                          <a:srgbClr val="000000"/>
                        </a:solidFill>
                        <a:effectLst/>
                      </a:endParaRPr>
                    </a:p>
                  </a:txBody>
                  <a:tcPr marL="72000" marR="72000" marT="17907" marB="17907" anchor="ctr"/>
                </a:tc>
                <a:extLst>
                  <a:ext uri="{0D108BD9-81ED-4DB2-BD59-A6C34878D82A}">
                    <a16:rowId xmlns:a16="http://schemas.microsoft.com/office/drawing/2014/main" val="10006"/>
                  </a:ext>
                </a:extLst>
              </a:tr>
              <a:tr h="524455">
                <a:tc vMerge="1">
                  <a:txBody>
                    <a:bodyPr/>
                    <a:lstStyle/>
                    <a:p>
                      <a:pPr marL="0" marR="0" lvl="0" indent="0" algn="ctr" defTabSz="914400" rtl="0" eaLnBrk="1" fontAlgn="base" latinLnBrk="1" hangingPunct="1">
                        <a:lnSpc>
                          <a:spcPct val="100000"/>
                        </a:lnSpc>
                        <a:spcBef>
                          <a:spcPct val="0"/>
                        </a:spcBef>
                        <a:spcAft>
                          <a:spcPct val="0"/>
                        </a:spcAft>
                        <a:buClrTx/>
                        <a:buSzTx/>
                        <a:buFontTx/>
                        <a:buNone/>
                        <a:tabLst/>
                      </a:pPr>
                      <a:endParaRPr kumimoji="0" lang="ko-KR" altLang="en-US" sz="1400" b="0" i="0" u="none" strike="noStrike" cap="none" normalizeH="0" baseline="0" dirty="0">
                        <a:ln>
                          <a:noFill/>
                        </a:ln>
                        <a:solidFill>
                          <a:schemeClr val="tx1"/>
                        </a:solidFill>
                        <a:effectLst/>
                        <a:latin typeface="+mn-ea"/>
                        <a:ea typeface="+mn-ea"/>
                      </a:endParaRPr>
                    </a:p>
                  </a:txBody>
                  <a:tcPr marL="72000" marR="72000" marT="10242" marB="10242"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보정</a:t>
                      </a:r>
                      <a:endParaRPr kumimoji="0" lang="ko-KR" altLang="en-US" sz="1400" b="1" i="0" u="none" strike="noStrike" cap="none" normalizeH="0" baseline="0" dirty="0">
                        <a:ln>
                          <a:noFill/>
                        </a:ln>
                        <a:solidFill>
                          <a:schemeClr val="bg1"/>
                        </a:solidFill>
                        <a:effectLst/>
                        <a:latin typeface="+mn-ea"/>
                        <a:ea typeface="+mn-ea"/>
                      </a:endParaRPr>
                    </a:p>
                  </a:txBody>
                  <a:tcPr marL="72000" marR="72000" marT="10242" marB="10242" anchor="ctr" horzOverflow="overflow"/>
                </a:tc>
                <a:tc>
                  <a:txBody>
                    <a:bodyPr/>
                    <a:lstStyle/>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80" dirty="0">
                          <a:effectLst/>
                        </a:rPr>
                        <a:t>국제단계에서 </a:t>
                      </a:r>
                      <a:r>
                        <a:rPr lang="en-US" altLang="ko-KR" sz="1400" kern="0" spc="-80" dirty="0">
                          <a:effectLst/>
                        </a:rPr>
                        <a:t>PCT </a:t>
                      </a:r>
                      <a:r>
                        <a:rPr lang="ko-KR" altLang="en-US" sz="1400" kern="0" spc="-80" dirty="0">
                          <a:effectLst/>
                        </a:rPr>
                        <a:t>제</a:t>
                      </a:r>
                      <a:r>
                        <a:rPr lang="en-US" altLang="ko-KR" sz="1400" kern="0" spc="-80" dirty="0">
                          <a:effectLst/>
                        </a:rPr>
                        <a:t>19</a:t>
                      </a:r>
                      <a:r>
                        <a:rPr lang="ko-KR" altLang="en-US" sz="1400" kern="0" spc="-80" dirty="0">
                          <a:effectLst/>
                        </a:rPr>
                        <a:t>조 보정</a:t>
                      </a:r>
                      <a:r>
                        <a:rPr lang="en-US" altLang="ko-KR" sz="1400" kern="0" spc="-80" dirty="0">
                          <a:effectLst/>
                        </a:rPr>
                        <a:t>, PCT </a:t>
                      </a:r>
                      <a:r>
                        <a:rPr lang="ko-KR" altLang="en-US" sz="1400" kern="0" spc="-80" dirty="0">
                          <a:effectLst/>
                        </a:rPr>
                        <a:t>제</a:t>
                      </a:r>
                      <a:r>
                        <a:rPr lang="en-US" altLang="ko-KR" sz="1400" kern="0" spc="-80" dirty="0">
                          <a:effectLst/>
                        </a:rPr>
                        <a:t>34</a:t>
                      </a:r>
                      <a:r>
                        <a:rPr lang="ko-KR" altLang="en-US" sz="1400" kern="0" spc="-80" dirty="0">
                          <a:effectLst/>
                        </a:rPr>
                        <a:t>조 보정을 통해 등록 가능성 향상 가능</a:t>
                      </a:r>
                      <a:endParaRPr lang="ko-KR" altLang="en-US" sz="1400" kern="0" spc="-80" dirty="0">
                        <a:solidFill>
                          <a:srgbClr val="000000"/>
                        </a:solidFill>
                        <a:effectLst/>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en-US" sz="1400" kern="0" spc="-50" dirty="0">
                          <a:effectLst/>
                        </a:rPr>
                        <a:t>-</a:t>
                      </a:r>
                      <a:endParaRPr lang="en-US" sz="1400" kern="0" spc="-50" dirty="0">
                        <a:solidFill>
                          <a:srgbClr val="000000"/>
                        </a:solidFill>
                        <a:effectLst/>
                      </a:endParaRPr>
                    </a:p>
                  </a:txBody>
                  <a:tcPr marL="72000" marR="72000" marT="17907" marB="17907" anchor="ctr"/>
                </a:tc>
                <a:extLst>
                  <a:ext uri="{0D108BD9-81ED-4DB2-BD59-A6C34878D82A}">
                    <a16:rowId xmlns:a16="http://schemas.microsoft.com/office/drawing/2014/main" val="10007"/>
                  </a:ext>
                </a:extLst>
              </a:tr>
              <a:tr h="341573">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b="0" i="0" u="none" strike="noStrike" cap="none" normalizeH="0" baseline="0" dirty="0">
                          <a:ln>
                            <a:noFill/>
                          </a:ln>
                          <a:solidFill>
                            <a:schemeClr val="tx1"/>
                          </a:solidFill>
                          <a:effectLst/>
                          <a:latin typeface="+mn-ea"/>
                          <a:ea typeface="+mn-ea"/>
                        </a:rPr>
                        <a:t>국내단계</a:t>
                      </a:r>
                    </a:p>
                  </a:txBody>
                  <a:tcPr marL="72000" marR="72000" marT="10242" marB="10242"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u="none" strike="noStrike" cap="none" normalizeH="0" baseline="0" dirty="0">
                          <a:ln>
                            <a:noFill/>
                          </a:ln>
                          <a:effectLst/>
                        </a:rPr>
                        <a:t>조기권리화</a:t>
                      </a:r>
                      <a:endParaRPr kumimoji="0" lang="ko-KR" altLang="en-US" sz="1400" b="1" i="0" u="none" strike="noStrike" cap="none" normalizeH="0" baseline="0" dirty="0">
                        <a:ln>
                          <a:noFill/>
                        </a:ln>
                        <a:solidFill>
                          <a:srgbClr val="FFFFFF"/>
                        </a:solidFill>
                        <a:effectLst/>
                        <a:latin typeface="+mn-ea"/>
                        <a:ea typeface="+mn-ea"/>
                      </a:endParaRPr>
                    </a:p>
                  </a:txBody>
                  <a:tcPr marL="72000" marR="72000" marT="10242" marB="10242" anchor="ctr" horzOverflow="overflow"/>
                </a:tc>
                <a:tc>
                  <a:txBody>
                    <a:bodyPr/>
                    <a:lstStyle/>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50" dirty="0">
                          <a:effectLst/>
                        </a:rPr>
                        <a:t>국내단계절차진행이 지연되어 등록까지 오랜 시간 소요</a:t>
                      </a:r>
                      <a:endParaRPr lang="ko-KR" altLang="en-US" sz="1400" kern="0" spc="-50" dirty="0">
                        <a:solidFill>
                          <a:srgbClr val="000000"/>
                        </a:solidFill>
                        <a:effectLst/>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en-US" sz="1400" kern="0" spc="-50" dirty="0">
                          <a:effectLst/>
                        </a:rPr>
                        <a:t>-</a:t>
                      </a:r>
                      <a:endParaRPr lang="en-US" sz="1400" kern="0" spc="-50" dirty="0">
                        <a:solidFill>
                          <a:srgbClr val="000000"/>
                        </a:solidFill>
                        <a:effectLst/>
                      </a:endParaRPr>
                    </a:p>
                  </a:txBody>
                  <a:tcPr marL="72000" marR="72000" marT="17907" marB="17907" anchor="ctr"/>
                </a:tc>
                <a:extLst>
                  <a:ext uri="{0D108BD9-81ED-4DB2-BD59-A6C34878D82A}">
                    <a16:rowId xmlns:a16="http://schemas.microsoft.com/office/drawing/2014/main" val="10008"/>
                  </a:ext>
                </a:extLst>
              </a:tr>
              <a:tr h="524455">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ko-KR" altLang="en-US" sz="1400" b="0" i="0" u="none" strike="noStrike" cap="none" normalizeH="0" baseline="0" dirty="0">
                          <a:ln>
                            <a:noFill/>
                          </a:ln>
                          <a:solidFill>
                            <a:schemeClr val="tx1"/>
                          </a:solidFill>
                          <a:effectLst/>
                          <a:latin typeface="+mn-ea"/>
                          <a:ea typeface="+mn-ea"/>
                        </a:rPr>
                        <a:t>기타</a:t>
                      </a:r>
                    </a:p>
                  </a:txBody>
                  <a:tcPr marL="72000" marR="72000" marT="10242" marB="10242" anchor="ctr" horzOverflow="overflow"/>
                </a:tc>
                <a:tc>
                  <a:txBody>
                    <a:bodyPr/>
                    <a:lstStyle/>
                    <a:p>
                      <a:pPr marL="0" marR="0" lvl="0" indent="0" algn="ctr" defTabSz="914400" rtl="0" eaLnBrk="1" fontAlgn="base" latinLnBrk="1" hangingPunct="1">
                        <a:lnSpc>
                          <a:spcPct val="100000"/>
                        </a:lnSpc>
                        <a:spcBef>
                          <a:spcPct val="0"/>
                        </a:spcBef>
                        <a:spcAft>
                          <a:spcPct val="0"/>
                        </a:spcAft>
                        <a:buClrTx/>
                        <a:buSzTx/>
                        <a:buFontTx/>
                        <a:buNone/>
                        <a:tabLst/>
                      </a:pPr>
                      <a:r>
                        <a:rPr kumimoji="0" lang="en-US" altLang="ko-KR" sz="1400" u="none" strike="noStrike" cap="none" normalizeH="0" baseline="0" dirty="0">
                          <a:ln>
                            <a:noFill/>
                          </a:ln>
                          <a:effectLst/>
                        </a:rPr>
                        <a:t>PCT </a:t>
                      </a:r>
                      <a:r>
                        <a:rPr kumimoji="0" lang="ko-KR" altLang="en-US" sz="1400" u="none" strike="noStrike" cap="none" normalizeH="0" baseline="0" dirty="0">
                          <a:ln>
                            <a:noFill/>
                          </a:ln>
                          <a:effectLst/>
                        </a:rPr>
                        <a:t>가입</a:t>
                      </a:r>
                      <a:endParaRPr kumimoji="0" lang="ko-KR" altLang="en-US" sz="1400" b="1" i="0" u="none" strike="noStrike" cap="none" normalizeH="0" baseline="0" dirty="0">
                        <a:ln>
                          <a:noFill/>
                        </a:ln>
                        <a:solidFill>
                          <a:srgbClr val="FFFFFF"/>
                        </a:solidFill>
                        <a:effectLst/>
                        <a:latin typeface="+mn-ea"/>
                        <a:ea typeface="+mn-ea"/>
                      </a:endParaRPr>
                    </a:p>
                  </a:txBody>
                  <a:tcPr marL="72000" marR="72000" marT="10242" marB="10242" anchor="ctr" horzOverflow="overflow"/>
                </a:tc>
                <a:tc>
                  <a:txBody>
                    <a:bodyPr/>
                    <a:lstStyle/>
                    <a:p>
                      <a:pPr marL="17780" marR="17780" indent="0" algn="ctr" fontAlgn="base" latinLnBrk="0">
                        <a:lnSpc>
                          <a:spcPct val="100000"/>
                        </a:lnSpc>
                        <a:spcBef>
                          <a:spcPts val="0"/>
                        </a:spcBef>
                        <a:spcAft>
                          <a:spcPts val="0"/>
                        </a:spcAft>
                      </a:pPr>
                      <a:r>
                        <a:rPr lang="en-US" altLang="ko-KR" sz="1400" kern="0" spc="-50" dirty="0">
                          <a:effectLst/>
                        </a:rPr>
                        <a:t>-</a:t>
                      </a:r>
                      <a:endParaRPr lang="ko-KR" altLang="en-US" sz="1400" kern="0" spc="-50" dirty="0">
                        <a:solidFill>
                          <a:srgbClr val="000000"/>
                        </a:solidFill>
                        <a:effectLst/>
                      </a:endParaRPr>
                    </a:p>
                  </a:txBody>
                  <a:tcPr marL="72000" marR="72000" marT="17907" marB="17907" anchor="ctr"/>
                </a:tc>
                <a:tc>
                  <a:txBody>
                    <a:bodyPr/>
                    <a:lstStyle/>
                    <a:p>
                      <a:pPr marL="179388" marR="17780" indent="-179388" algn="just" fontAlgn="base" latinLnBrk="1">
                        <a:lnSpc>
                          <a:spcPct val="100000"/>
                        </a:lnSpc>
                        <a:spcBef>
                          <a:spcPts val="0"/>
                        </a:spcBef>
                        <a:spcAft>
                          <a:spcPts val="0"/>
                        </a:spcAft>
                        <a:buFont typeface="Wingdings" panose="05000000000000000000" pitchFamily="2" charset="2"/>
                        <a:buChar char="§"/>
                      </a:pPr>
                      <a:r>
                        <a:rPr lang="ko-KR" altLang="en-US" sz="1400" kern="0" spc="-50" dirty="0">
                          <a:effectLst/>
                        </a:rPr>
                        <a:t>대만 등과 같이 </a:t>
                      </a:r>
                      <a:r>
                        <a:rPr lang="en-US" altLang="ko-KR" sz="1400" kern="0" spc="-50" dirty="0">
                          <a:effectLst/>
                        </a:rPr>
                        <a:t>PCT </a:t>
                      </a:r>
                      <a:r>
                        <a:rPr lang="ko-KR" altLang="en-US" sz="1400" kern="0" spc="-50" dirty="0">
                          <a:effectLst/>
                        </a:rPr>
                        <a:t>가입국이 아닌 경우 일반 </a:t>
                      </a:r>
                      <a:r>
                        <a:rPr lang="ko-KR" altLang="en-US" sz="1400" kern="0" spc="-50" dirty="0" err="1">
                          <a:effectLst/>
                        </a:rPr>
                        <a:t>해외출원만</a:t>
                      </a:r>
                      <a:r>
                        <a:rPr lang="ko-KR" altLang="en-US" sz="1400" kern="0" spc="-50" dirty="0">
                          <a:effectLst/>
                        </a:rPr>
                        <a:t> 가능</a:t>
                      </a:r>
                      <a:endParaRPr lang="ko-KR" altLang="en-US" sz="1400" kern="0" spc="-50" dirty="0">
                        <a:solidFill>
                          <a:srgbClr val="000000"/>
                        </a:solidFill>
                        <a:effectLst/>
                      </a:endParaRPr>
                    </a:p>
                  </a:txBody>
                  <a:tcPr marL="72000" marR="72000" marT="17907" marB="17907" anchor="ctr"/>
                </a:tc>
                <a:extLst>
                  <a:ext uri="{0D108BD9-81ED-4DB2-BD59-A6C34878D82A}">
                    <a16:rowId xmlns:a16="http://schemas.microsoft.com/office/drawing/2014/main" val="10009"/>
                  </a:ext>
                </a:extLst>
              </a:tr>
            </a:tbl>
          </a:graphicData>
        </a:graphic>
      </p:graphicFrame>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548</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472753324"/>
      </p:ext>
    </p:extLst>
  </p:cSld>
  <p:clrMapOvr>
    <a:masterClrMapping/>
  </p:clrMapOvr>
  <p:transition/>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err="1"/>
              <a:t>참고노트</a:t>
            </a:r>
            <a:endParaRPr lang="ko-KR" altLang="en-US" dirty="0"/>
          </a:p>
        </p:txBody>
      </p:sp>
      <p:sp>
        <p:nvSpPr>
          <p:cNvPr id="5" name="텍스트 개체 틀 4"/>
          <p:cNvSpPr>
            <a:spLocks noGrp="1"/>
          </p:cNvSpPr>
          <p:nvPr>
            <p:ph type="body" sz="quarter" idx="13"/>
          </p:nvPr>
        </p:nvSpPr>
        <p:spPr/>
        <p:txBody>
          <a:bodyPr/>
          <a:lstStyle/>
          <a:p>
            <a:r>
              <a:rPr lang="ko-KR" altLang="en-US" dirty="0"/>
              <a:t>해외출원국가의 선택</a:t>
            </a:r>
          </a:p>
        </p:txBody>
      </p:sp>
      <p:graphicFrame>
        <p:nvGraphicFramePr>
          <p:cNvPr id="6" name="Group 28"/>
          <p:cNvGraphicFramePr>
            <a:graphicFrameLocks noGrp="1"/>
          </p:cNvGraphicFramePr>
          <p:nvPr/>
        </p:nvGraphicFramePr>
        <p:xfrm>
          <a:off x="6768445" y="2383974"/>
          <a:ext cx="4820100" cy="4104456"/>
        </p:xfrm>
        <a:graphic>
          <a:graphicData uri="http://schemas.openxmlformats.org/drawingml/2006/table">
            <a:tbl>
              <a:tblPr>
                <a:tableStyleId>{BC89EF96-8CEA-46FF-86C4-4CE0E7609802}</a:tableStyleId>
              </a:tblPr>
              <a:tblGrid>
                <a:gridCol w="1946579">
                  <a:extLst>
                    <a:ext uri="{9D8B030D-6E8A-4147-A177-3AD203B41FA5}">
                      <a16:colId xmlns:a16="http://schemas.microsoft.com/office/drawing/2014/main" val="20000"/>
                    </a:ext>
                  </a:extLst>
                </a:gridCol>
                <a:gridCol w="2873521">
                  <a:extLst>
                    <a:ext uri="{9D8B030D-6E8A-4147-A177-3AD203B41FA5}">
                      <a16:colId xmlns:a16="http://schemas.microsoft.com/office/drawing/2014/main" val="20001"/>
                    </a:ext>
                  </a:extLst>
                </a:gridCol>
              </a:tblGrid>
              <a:tr h="457085">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200" b="1" u="none" strike="noStrike" cap="none" normalizeH="0" baseline="0" dirty="0">
                          <a:ln>
                            <a:noFill/>
                          </a:ln>
                          <a:effectLst/>
                          <a:latin typeface="+mn-ea"/>
                          <a:ea typeface="+mn-ea"/>
                        </a:rPr>
                        <a:t>구분</a:t>
                      </a:r>
                      <a:endParaRPr kumimoji="1" lang="ko-KR" altLang="en-US" sz="1200" b="1" i="0" u="none" strike="noStrike" cap="none" normalizeH="0" baseline="0" dirty="0">
                        <a:ln>
                          <a:noFill/>
                        </a:ln>
                        <a:solidFill>
                          <a:schemeClr val="bg1"/>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en-US" altLang="ko-KR" sz="1200" b="1" u="none" strike="noStrike" cap="none" normalizeH="0" baseline="0" dirty="0">
                          <a:ln>
                            <a:noFill/>
                          </a:ln>
                          <a:effectLst/>
                          <a:latin typeface="+mn-ea"/>
                          <a:ea typeface="+mn-ea"/>
                        </a:rPr>
                        <a:t> </a:t>
                      </a:r>
                      <a:r>
                        <a:rPr kumimoji="1" lang="ko-KR" altLang="en-US" sz="1200" b="1" u="none" strike="noStrike" cap="none" normalizeH="0" baseline="0" dirty="0">
                          <a:ln>
                            <a:noFill/>
                          </a:ln>
                          <a:effectLst/>
                          <a:latin typeface="+mn-ea"/>
                          <a:ea typeface="+mn-ea"/>
                        </a:rPr>
                        <a:t>출원 목적</a:t>
                      </a:r>
                      <a:r>
                        <a:rPr kumimoji="1" lang="en-US" altLang="ko-KR" sz="1200" b="1" u="none" strike="noStrike" cap="none" normalizeH="0" baseline="0" dirty="0">
                          <a:ln>
                            <a:noFill/>
                          </a:ln>
                          <a:effectLst/>
                          <a:latin typeface="+mn-ea"/>
                          <a:ea typeface="+mn-ea"/>
                        </a:rPr>
                        <a:t>/</a:t>
                      </a:r>
                      <a:r>
                        <a:rPr kumimoji="1" lang="ko-KR" altLang="en-US" sz="1200" b="1" u="none" strike="noStrike" cap="none" normalizeH="0" baseline="0" dirty="0">
                          <a:ln>
                            <a:noFill/>
                          </a:ln>
                          <a:effectLst/>
                          <a:latin typeface="+mn-ea"/>
                          <a:ea typeface="+mn-ea"/>
                        </a:rPr>
                        <a:t>효과</a:t>
                      </a:r>
                      <a:endParaRPr kumimoji="1" lang="ko-KR" altLang="en-US" sz="1200" b="1" i="0" u="none" strike="noStrike" cap="none" normalizeH="0" baseline="0" dirty="0">
                        <a:ln>
                          <a:noFill/>
                        </a:ln>
                        <a:solidFill>
                          <a:schemeClr val="bg1"/>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457085">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200" b="1" u="none" strike="noStrike" cap="none" normalizeH="0" baseline="0" dirty="0">
                          <a:ln>
                            <a:noFill/>
                          </a:ln>
                          <a:effectLst/>
                          <a:latin typeface="+mn-ea"/>
                          <a:ea typeface="+mn-ea"/>
                        </a:rPr>
                        <a:t>자사 현재 시장 국가</a:t>
                      </a:r>
                      <a:endParaRPr kumimoji="1" lang="ko-KR" altLang="en-US" sz="1200" b="1" i="0" u="none" strike="noStrike" cap="none" normalizeH="0" baseline="0" dirty="0">
                        <a:ln>
                          <a:noFill/>
                        </a:ln>
                        <a:solidFill>
                          <a:srgbClr val="4D4D4D"/>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just" defTabSz="914400" rtl="0" eaLnBrk="1" fontAlgn="base" latinLnBrk="1" hangingPunct="1">
                        <a:lnSpc>
                          <a:spcPct val="100000"/>
                        </a:lnSpc>
                        <a:spcBef>
                          <a:spcPct val="0"/>
                        </a:spcBef>
                        <a:spcAft>
                          <a:spcPct val="30000"/>
                        </a:spcAft>
                        <a:buClr>
                          <a:srgbClr val="003366"/>
                        </a:buClr>
                        <a:buSzPct val="120000"/>
                        <a:buFont typeface="Wingdings" pitchFamily="2" charset="2"/>
                        <a:buChar char="§"/>
                        <a:tabLst/>
                      </a:pP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자사 사업의 유지 확대</a:t>
                      </a:r>
                      <a:endParaRPr kumimoji="1" lang="ko-KR" altLang="en-US" sz="1200" b="0" i="0" u="none" strike="noStrike" cap="none" normalizeH="0" baseline="0" dirty="0">
                        <a:ln>
                          <a:noFill/>
                        </a:ln>
                        <a:solidFill>
                          <a:srgbClr val="4D4D4D"/>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603268">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200" b="1" u="none" strike="noStrike" cap="none" normalizeH="0" baseline="0" dirty="0">
                          <a:ln>
                            <a:noFill/>
                          </a:ln>
                          <a:effectLst/>
                          <a:latin typeface="+mn-ea"/>
                          <a:ea typeface="+mn-ea"/>
                        </a:rPr>
                        <a:t>타사 현재 시장 국가</a:t>
                      </a:r>
                      <a:endParaRPr kumimoji="1" lang="ko-KR" altLang="en-US" sz="1200" b="1" i="0" u="none" strike="noStrike" cap="none" normalizeH="0" baseline="0" dirty="0">
                        <a:ln>
                          <a:noFill/>
                        </a:ln>
                        <a:solidFill>
                          <a:srgbClr val="4D4D4D"/>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base" latinLnBrk="1" hangingPunct="1">
                        <a:lnSpc>
                          <a:spcPct val="100000"/>
                        </a:lnSpc>
                        <a:spcBef>
                          <a:spcPct val="0"/>
                        </a:spcBef>
                        <a:spcAft>
                          <a:spcPct val="30000"/>
                        </a:spcAft>
                        <a:buClr>
                          <a:srgbClr val="003366"/>
                        </a:buClr>
                        <a:buSzPct val="120000"/>
                        <a:buFont typeface="Wingdings" pitchFamily="2" charset="2"/>
                        <a:buChar char="§"/>
                        <a:tabLst/>
                      </a:pP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타사 사업 견제 및 로열티 수입 획득 </a:t>
                      </a:r>
                      <a:endParaRPr kumimoji="1" lang="ko-KR" altLang="en-US" sz="1200" b="0" i="0" u="none" strike="noStrike" cap="none" normalizeH="0" baseline="0" dirty="0">
                        <a:ln>
                          <a:noFill/>
                        </a:ln>
                        <a:solidFill>
                          <a:srgbClr val="4D4D4D"/>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r h="603268">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200" b="1" u="none" strike="noStrike" cap="none" normalizeH="0" baseline="0" dirty="0">
                          <a:ln>
                            <a:noFill/>
                          </a:ln>
                          <a:effectLst/>
                          <a:latin typeface="+mn-ea"/>
                          <a:ea typeface="+mn-ea"/>
                        </a:rPr>
                        <a:t>자사</a:t>
                      </a:r>
                      <a:r>
                        <a:rPr kumimoji="1" lang="en-US" altLang="ko-KR" sz="1200" b="1" u="none" strike="noStrike" cap="none" normalizeH="0" baseline="0" dirty="0">
                          <a:ln>
                            <a:noFill/>
                          </a:ln>
                          <a:effectLst/>
                          <a:latin typeface="+mn-ea"/>
                          <a:ea typeface="+mn-ea"/>
                        </a:rPr>
                        <a:t>/</a:t>
                      </a:r>
                      <a:r>
                        <a:rPr kumimoji="1" lang="ko-KR" altLang="en-US" sz="1200" b="1" u="none" strike="noStrike" cap="none" normalizeH="0" baseline="0" dirty="0">
                          <a:ln>
                            <a:noFill/>
                          </a:ln>
                          <a:effectLst/>
                          <a:latin typeface="+mn-ea"/>
                          <a:ea typeface="+mn-ea"/>
                        </a:rPr>
                        <a:t>타사 장래 시장 국가</a:t>
                      </a:r>
                      <a:endParaRPr kumimoji="1" lang="ko-KR" altLang="en-US" sz="1200" b="1" i="0" u="none" strike="noStrike" cap="none" normalizeH="0" baseline="0" dirty="0">
                        <a:ln>
                          <a:noFill/>
                        </a:ln>
                        <a:solidFill>
                          <a:srgbClr val="4D4D4D"/>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just" defTabSz="914400" rtl="0" eaLnBrk="1" fontAlgn="base" latinLnBrk="1" hangingPunct="1">
                        <a:lnSpc>
                          <a:spcPct val="100000"/>
                        </a:lnSpc>
                        <a:spcBef>
                          <a:spcPct val="0"/>
                        </a:spcBef>
                        <a:spcAft>
                          <a:spcPct val="30000"/>
                        </a:spcAft>
                        <a:buClr>
                          <a:srgbClr val="003366"/>
                        </a:buClr>
                        <a:buSzPct val="120000"/>
                        <a:buFont typeface="Wingdings" pitchFamily="2" charset="2"/>
                        <a:buChar char="§"/>
                        <a:tabLst/>
                      </a:pP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신규 시장 개척</a:t>
                      </a:r>
                      <a:endParaRPr kumimoji="1" lang="ko-KR" altLang="en-US" sz="1200" b="0" i="0" u="none" strike="noStrike" cap="none" normalizeH="0" baseline="0" dirty="0">
                        <a:ln>
                          <a:noFill/>
                        </a:ln>
                        <a:solidFill>
                          <a:srgbClr val="4D4D4D"/>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3"/>
                  </a:ext>
                </a:extLst>
              </a:tr>
              <a:tr h="1170139">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200" b="1" u="none" strike="noStrike" cap="none" normalizeH="0" baseline="0" dirty="0">
                          <a:ln>
                            <a:noFill/>
                          </a:ln>
                          <a:effectLst/>
                          <a:latin typeface="+mn-ea"/>
                          <a:ea typeface="+mn-ea"/>
                        </a:rPr>
                        <a:t>자사 생산</a:t>
                      </a:r>
                      <a:r>
                        <a:rPr kumimoji="1" lang="en-US" altLang="ko-KR" sz="1200" b="1" u="none" strike="noStrike" cap="none" normalizeH="0" baseline="0" dirty="0">
                          <a:ln>
                            <a:noFill/>
                          </a:ln>
                          <a:effectLst/>
                          <a:latin typeface="+mn-ea"/>
                          <a:ea typeface="+mn-ea"/>
                        </a:rPr>
                        <a:t>(</a:t>
                      </a:r>
                      <a:r>
                        <a:rPr kumimoji="1" lang="ko-KR" altLang="en-US" sz="1200" b="1" u="none" strike="noStrike" cap="none" normalizeH="0" baseline="0" dirty="0">
                          <a:ln>
                            <a:noFill/>
                          </a:ln>
                          <a:effectLst/>
                          <a:latin typeface="+mn-ea"/>
                          <a:ea typeface="+mn-ea"/>
                        </a:rPr>
                        <a:t>예정</a:t>
                      </a:r>
                      <a:r>
                        <a:rPr kumimoji="1" lang="en-US" altLang="ko-KR" sz="1200" b="1" u="none" strike="noStrike" cap="none" normalizeH="0" baseline="0" dirty="0">
                          <a:ln>
                            <a:noFill/>
                          </a:ln>
                          <a:effectLst/>
                          <a:latin typeface="+mn-ea"/>
                          <a:ea typeface="+mn-ea"/>
                        </a:rPr>
                        <a:t>) </a:t>
                      </a:r>
                      <a:r>
                        <a:rPr kumimoji="1" lang="ko-KR" altLang="en-US" sz="1200" b="1" u="none" strike="noStrike" cap="none" normalizeH="0" baseline="0" dirty="0">
                          <a:ln>
                            <a:noFill/>
                          </a:ln>
                          <a:effectLst/>
                          <a:latin typeface="+mn-ea"/>
                          <a:ea typeface="+mn-ea"/>
                        </a:rPr>
                        <a:t>국가</a:t>
                      </a:r>
                      <a:endParaRPr kumimoji="1" lang="ko-KR" altLang="en-US" sz="1200" b="1" i="0" u="none" strike="noStrike" cap="none" normalizeH="0" baseline="0" dirty="0">
                        <a:ln>
                          <a:noFill/>
                        </a:ln>
                        <a:solidFill>
                          <a:srgbClr val="4D4D4D"/>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tc>
                  <a:txBody>
                    <a:bodyPr/>
                    <a:lstStyle/>
                    <a:p>
                      <a:pPr marL="0" marR="0" lvl="0" indent="0" algn="just" defTabSz="914400" rtl="0" eaLnBrk="1" fontAlgn="base" latinLnBrk="1" hangingPunct="1">
                        <a:lnSpc>
                          <a:spcPct val="100000"/>
                        </a:lnSpc>
                        <a:spcBef>
                          <a:spcPct val="0"/>
                        </a:spcBef>
                        <a:spcAft>
                          <a:spcPct val="30000"/>
                        </a:spcAft>
                        <a:buClr>
                          <a:srgbClr val="003366"/>
                        </a:buClr>
                        <a:buSzPct val="120000"/>
                        <a:buFont typeface="Wingdings" pitchFamily="2" charset="2"/>
                        <a:buChar char="§"/>
                        <a:tabLst/>
                      </a:pP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자사 사업의 보호</a:t>
                      </a:r>
                    </a:p>
                    <a:p>
                      <a:pPr marL="0" marR="0" lvl="0" indent="0" algn="just" defTabSz="914400" rtl="0" eaLnBrk="1" fontAlgn="base" latinLnBrk="1" hangingPunct="1">
                        <a:lnSpc>
                          <a:spcPct val="100000"/>
                        </a:lnSpc>
                        <a:spcBef>
                          <a:spcPct val="0"/>
                        </a:spcBef>
                        <a:spcAft>
                          <a:spcPct val="30000"/>
                        </a:spcAft>
                        <a:buClr>
                          <a:srgbClr val="003366"/>
                        </a:buClr>
                        <a:buSzPct val="120000"/>
                        <a:buFont typeface="Wingdings" pitchFamily="2" charset="2"/>
                        <a:buChar char="§"/>
                        <a:tabLst/>
                      </a:pPr>
                      <a:r>
                        <a:rPr kumimoji="1" lang="ko-KR" altLang="en-US" sz="1200" u="none" strike="noStrike" cap="none" normalizeH="0" baseline="0" dirty="0">
                          <a:ln>
                            <a:noFill/>
                          </a:ln>
                          <a:effectLst/>
                          <a:latin typeface="+mn-ea"/>
                          <a:ea typeface="+mn-ea"/>
                        </a:rPr>
                        <a:t> 자회사로부터의 </a:t>
                      </a:r>
                      <a:r>
                        <a:rPr kumimoji="1" lang="ko-KR" altLang="en-US" sz="1200" u="none" strike="noStrike" cap="none" normalizeH="0" baseline="0" dirty="0" err="1">
                          <a:ln>
                            <a:noFill/>
                          </a:ln>
                          <a:effectLst/>
                          <a:latin typeface="+mn-ea"/>
                          <a:ea typeface="+mn-ea"/>
                        </a:rPr>
                        <a:t>기술료</a:t>
                      </a:r>
                      <a:r>
                        <a:rPr kumimoji="1" lang="ko-KR" altLang="en-US" sz="1200" u="none" strike="noStrike" cap="none" normalizeH="0" baseline="0" dirty="0">
                          <a:ln>
                            <a:noFill/>
                          </a:ln>
                          <a:effectLst/>
                          <a:latin typeface="+mn-ea"/>
                          <a:ea typeface="+mn-ea"/>
                        </a:rPr>
                        <a:t> 회수</a:t>
                      </a:r>
                    </a:p>
                    <a:p>
                      <a:pPr marL="0" marR="0" lvl="0" indent="0" algn="just" defTabSz="914400" rtl="0" eaLnBrk="1" fontAlgn="base" latinLnBrk="1" hangingPunct="1">
                        <a:lnSpc>
                          <a:spcPct val="100000"/>
                        </a:lnSpc>
                        <a:spcBef>
                          <a:spcPct val="0"/>
                        </a:spcBef>
                        <a:spcAft>
                          <a:spcPct val="30000"/>
                        </a:spcAft>
                        <a:buClr>
                          <a:srgbClr val="003366"/>
                        </a:buClr>
                        <a:buSzPct val="120000"/>
                        <a:buFont typeface="Wingdings" pitchFamily="2" charset="2"/>
                        <a:buChar char="§"/>
                        <a:tabLst/>
                      </a:pPr>
                      <a:r>
                        <a:rPr kumimoji="1" lang="ko-KR" altLang="en-US" sz="1200" u="none" strike="noStrike" cap="none" normalizeH="0" baseline="0" dirty="0">
                          <a:ln>
                            <a:noFill/>
                          </a:ln>
                          <a:effectLst/>
                          <a:latin typeface="+mn-ea"/>
                          <a:ea typeface="+mn-ea"/>
                        </a:rPr>
                        <a:t> 타사 생산 진입의 견제</a:t>
                      </a:r>
                      <a:endParaRPr kumimoji="1" lang="ko-KR" altLang="en-US" sz="1200" b="0" i="0" u="none" strike="noStrike" cap="none" normalizeH="0" baseline="0" dirty="0">
                        <a:ln>
                          <a:noFill/>
                        </a:ln>
                        <a:solidFill>
                          <a:srgbClr val="4D4D4D"/>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813611">
                <a:tc>
                  <a:txBody>
                    <a:bodyPr/>
                    <a:lstStyle/>
                    <a:p>
                      <a:pPr marL="0" marR="0" lvl="0" indent="0" algn="ctr" defTabSz="914400" rtl="0" eaLnBrk="1" fontAlgn="base" latinLnBrk="1" hangingPunct="1">
                        <a:lnSpc>
                          <a:spcPct val="100000"/>
                        </a:lnSpc>
                        <a:spcBef>
                          <a:spcPct val="0"/>
                        </a:spcBef>
                        <a:spcAft>
                          <a:spcPct val="30000"/>
                        </a:spcAft>
                        <a:buClrTx/>
                        <a:buSzTx/>
                        <a:buFontTx/>
                        <a:buNone/>
                        <a:tabLst/>
                      </a:pPr>
                      <a:r>
                        <a:rPr kumimoji="1" lang="ko-KR" altLang="en-US" sz="1200" b="1" u="none" strike="noStrike" cap="none" normalizeH="0" baseline="0" dirty="0">
                          <a:ln>
                            <a:noFill/>
                          </a:ln>
                          <a:effectLst/>
                          <a:latin typeface="+mn-ea"/>
                          <a:ea typeface="+mn-ea"/>
                        </a:rPr>
                        <a:t>타사 생산</a:t>
                      </a:r>
                      <a:r>
                        <a:rPr kumimoji="1" lang="en-US" altLang="ko-KR" sz="1200" b="1" u="none" strike="noStrike" cap="none" normalizeH="0" baseline="0" dirty="0">
                          <a:ln>
                            <a:noFill/>
                          </a:ln>
                          <a:effectLst/>
                          <a:latin typeface="+mn-ea"/>
                          <a:ea typeface="+mn-ea"/>
                        </a:rPr>
                        <a:t>(</a:t>
                      </a:r>
                      <a:r>
                        <a:rPr kumimoji="1" lang="ko-KR" altLang="en-US" sz="1200" b="1" u="none" strike="noStrike" cap="none" normalizeH="0" baseline="0" dirty="0">
                          <a:ln>
                            <a:noFill/>
                          </a:ln>
                          <a:effectLst/>
                          <a:latin typeface="+mn-ea"/>
                          <a:ea typeface="+mn-ea"/>
                        </a:rPr>
                        <a:t>예정</a:t>
                      </a:r>
                      <a:r>
                        <a:rPr kumimoji="1" lang="en-US" altLang="ko-KR" sz="1200" b="1" u="none" strike="noStrike" cap="none" normalizeH="0" baseline="0" dirty="0">
                          <a:ln>
                            <a:noFill/>
                          </a:ln>
                          <a:effectLst/>
                          <a:latin typeface="+mn-ea"/>
                          <a:ea typeface="+mn-ea"/>
                        </a:rPr>
                        <a:t>) </a:t>
                      </a:r>
                      <a:r>
                        <a:rPr kumimoji="1" lang="ko-KR" altLang="en-US" sz="1200" b="1" u="none" strike="noStrike" cap="none" normalizeH="0" baseline="0" dirty="0">
                          <a:ln>
                            <a:noFill/>
                          </a:ln>
                          <a:effectLst/>
                          <a:latin typeface="+mn-ea"/>
                          <a:ea typeface="+mn-ea"/>
                        </a:rPr>
                        <a:t>국가</a:t>
                      </a:r>
                      <a:endParaRPr kumimoji="1" lang="ko-KR" altLang="en-US" sz="1200" b="1" i="0" u="none" strike="noStrike" cap="none" normalizeH="0" baseline="0" dirty="0">
                        <a:ln>
                          <a:noFill/>
                        </a:ln>
                        <a:solidFill>
                          <a:srgbClr val="4D4D4D"/>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marL="0" marR="0" lvl="0" indent="0" algn="just" defTabSz="914400" rtl="0" eaLnBrk="1" fontAlgn="base" latinLnBrk="1" hangingPunct="1">
                        <a:lnSpc>
                          <a:spcPct val="100000"/>
                        </a:lnSpc>
                        <a:spcBef>
                          <a:spcPct val="0"/>
                        </a:spcBef>
                        <a:spcAft>
                          <a:spcPct val="30000"/>
                        </a:spcAft>
                        <a:buClr>
                          <a:srgbClr val="003366"/>
                        </a:buClr>
                        <a:buSzPct val="120000"/>
                        <a:buFont typeface="Wingdings" pitchFamily="2" charset="2"/>
                        <a:buChar char="§"/>
                        <a:tabLst/>
                      </a:pP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타사 생산의 금지</a:t>
                      </a:r>
                      <a:r>
                        <a:rPr kumimoji="1" lang="en-US" altLang="ko-KR" sz="1200" u="none" strike="noStrike" cap="none" normalizeH="0" baseline="0" dirty="0">
                          <a:ln>
                            <a:noFill/>
                          </a:ln>
                          <a:effectLst/>
                          <a:latin typeface="+mn-ea"/>
                          <a:ea typeface="+mn-ea"/>
                        </a:rPr>
                        <a:t>/</a:t>
                      </a:r>
                      <a:r>
                        <a:rPr kumimoji="1" lang="ko-KR" altLang="en-US" sz="1200" u="none" strike="noStrike" cap="none" normalizeH="0" baseline="0" dirty="0">
                          <a:ln>
                            <a:noFill/>
                          </a:ln>
                          <a:effectLst/>
                          <a:latin typeface="+mn-ea"/>
                          <a:ea typeface="+mn-ea"/>
                        </a:rPr>
                        <a:t>저지</a:t>
                      </a:r>
                    </a:p>
                    <a:p>
                      <a:pPr marL="0" marR="0" lvl="0" indent="0" algn="just" defTabSz="914400" rtl="0" eaLnBrk="1" fontAlgn="base" latinLnBrk="1" hangingPunct="1">
                        <a:lnSpc>
                          <a:spcPct val="100000"/>
                        </a:lnSpc>
                        <a:spcBef>
                          <a:spcPct val="0"/>
                        </a:spcBef>
                        <a:spcAft>
                          <a:spcPct val="30000"/>
                        </a:spcAft>
                        <a:buClr>
                          <a:srgbClr val="003366"/>
                        </a:buClr>
                        <a:buSzPct val="120000"/>
                        <a:buFont typeface="Wingdings" pitchFamily="2" charset="2"/>
                        <a:buChar char="§"/>
                        <a:tabLst/>
                      </a:pPr>
                      <a:r>
                        <a:rPr kumimoji="1" lang="ko-KR" altLang="en-US" sz="1200" u="none" strike="noStrike" cap="none" normalizeH="0" baseline="0" dirty="0">
                          <a:ln>
                            <a:noFill/>
                          </a:ln>
                          <a:effectLst/>
                          <a:latin typeface="+mn-ea"/>
                          <a:ea typeface="+mn-ea"/>
                        </a:rPr>
                        <a:t> 기술 로열티 획득</a:t>
                      </a:r>
                      <a:endParaRPr kumimoji="1" lang="ko-KR" altLang="en-US" sz="1200" b="0" i="0" u="none" strike="noStrike" cap="none" normalizeH="0" baseline="0" dirty="0">
                        <a:ln>
                          <a:noFill/>
                        </a:ln>
                        <a:solidFill>
                          <a:srgbClr val="4D4D4D"/>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graphicFrame>
        <p:nvGraphicFramePr>
          <p:cNvPr id="7" name="Group 153"/>
          <p:cNvGraphicFramePr>
            <a:graphicFrameLocks noGrp="1"/>
          </p:cNvGraphicFramePr>
          <p:nvPr/>
        </p:nvGraphicFramePr>
        <p:xfrm>
          <a:off x="649463" y="2383974"/>
          <a:ext cx="4846363" cy="4104459"/>
        </p:xfrm>
        <a:graphic>
          <a:graphicData uri="http://schemas.openxmlformats.org/drawingml/2006/table">
            <a:tbl>
              <a:tblPr bandRow="1">
                <a:tableStyleId>{85BE263C-DBD7-4A20-BB59-AAB30ACAA65A}</a:tableStyleId>
              </a:tblPr>
              <a:tblGrid>
                <a:gridCol w="4846363">
                  <a:extLst>
                    <a:ext uri="{9D8B030D-6E8A-4147-A177-3AD203B41FA5}">
                      <a16:colId xmlns:a16="http://schemas.microsoft.com/office/drawing/2014/main" val="20000"/>
                    </a:ext>
                  </a:extLst>
                </a:gridCol>
              </a:tblGrid>
              <a:tr h="344225">
                <a:tc>
                  <a:txBody>
                    <a:bodyPr/>
                    <a:lstStyle/>
                    <a:p>
                      <a:pPr marL="0" marR="0" lvl="0" indent="0" algn="l"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latin typeface="+mn-ea"/>
                          <a:ea typeface="+mn-ea"/>
                        </a:rPr>
                        <a:t>1. </a:t>
                      </a:r>
                      <a:r>
                        <a:rPr kumimoji="1" lang="ko-KR" altLang="en-US" sz="1200" u="none" strike="noStrike" cap="none" normalizeH="0" baseline="0" dirty="0">
                          <a:ln>
                            <a:noFill/>
                          </a:ln>
                          <a:effectLst/>
                          <a:latin typeface="+mn-ea"/>
                          <a:ea typeface="+mn-ea"/>
                        </a:rPr>
                        <a:t>해당 국가에서 예측되는 수익이 권리화 소요 비용을 상회하는가</a:t>
                      </a:r>
                      <a:r>
                        <a:rPr kumimoji="1" lang="en-US" altLang="ko-KR" sz="1200" u="none" strike="noStrike" cap="none" normalizeH="0" baseline="0" dirty="0">
                          <a:ln>
                            <a:noFill/>
                          </a:ln>
                          <a:effectLst/>
                          <a:latin typeface="+mn-ea"/>
                          <a:ea typeface="+mn-ea"/>
                        </a:rPr>
                        <a:t>?</a:t>
                      </a:r>
                      <a:endParaRPr kumimoji="1" lang="ko-KR" altLang="en-US" sz="1200" b="0"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0"/>
                  </a:ext>
                </a:extLst>
              </a:tr>
              <a:tr h="344225">
                <a:tc>
                  <a:txBody>
                    <a:bodyPr/>
                    <a:lstStyle/>
                    <a:p>
                      <a:pPr marL="0" marR="0" lvl="0" indent="0" algn="l"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latin typeface="+mn-ea"/>
                          <a:ea typeface="+mn-ea"/>
                        </a:rPr>
                        <a:t>2. </a:t>
                      </a:r>
                      <a:r>
                        <a:rPr kumimoji="1" lang="ko-KR" altLang="en-US" sz="1200" u="none" strike="noStrike" cap="none" normalizeH="0" baseline="0" dirty="0">
                          <a:ln>
                            <a:noFill/>
                          </a:ln>
                          <a:effectLst/>
                          <a:latin typeface="+mn-ea"/>
                          <a:ea typeface="+mn-ea"/>
                        </a:rPr>
                        <a:t>수익성 있는 </a:t>
                      </a:r>
                      <a:r>
                        <a:rPr kumimoji="1" lang="en-US" altLang="ko-KR" sz="1200" u="none" strike="noStrike" cap="none" normalizeH="0" baseline="0" dirty="0">
                          <a:ln>
                            <a:noFill/>
                          </a:ln>
                          <a:effectLst/>
                          <a:latin typeface="+mn-ea"/>
                          <a:ea typeface="+mn-ea"/>
                        </a:rPr>
                        <a:t>Licensing</a:t>
                      </a:r>
                      <a:r>
                        <a:rPr kumimoji="1" lang="ko-KR" altLang="en-US" sz="1200" u="none" strike="noStrike" cap="none" normalizeH="0" baseline="0" dirty="0">
                          <a:ln>
                            <a:noFill/>
                          </a:ln>
                          <a:effectLst/>
                          <a:latin typeface="+mn-ea"/>
                          <a:ea typeface="+mn-ea"/>
                        </a:rPr>
                        <a:t>이 </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가능한가</a:t>
                      </a:r>
                      <a:r>
                        <a:rPr kumimoji="1" lang="en-US" altLang="ko-KR" sz="1200" u="none" strike="noStrike" cap="none" normalizeH="0" baseline="0" dirty="0">
                          <a:ln>
                            <a:noFill/>
                          </a:ln>
                          <a:effectLst/>
                          <a:latin typeface="+mn-ea"/>
                          <a:ea typeface="+mn-ea"/>
                        </a:rPr>
                        <a:t>?</a:t>
                      </a:r>
                      <a:endParaRPr kumimoji="1" lang="ko-KR" altLang="en-US" sz="1200" b="0"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1"/>
                  </a:ext>
                </a:extLst>
              </a:tr>
              <a:tr h="344225">
                <a:tc>
                  <a:txBody>
                    <a:bodyPr/>
                    <a:lstStyle/>
                    <a:p>
                      <a:pPr marL="0" marR="0" lvl="0" indent="0" algn="l"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latin typeface="+mn-ea"/>
                          <a:ea typeface="+mn-ea"/>
                        </a:rPr>
                        <a:t>3. </a:t>
                      </a:r>
                      <a:r>
                        <a:rPr kumimoji="1" lang="ko-KR" altLang="en-US" sz="1200" u="none" strike="noStrike" cap="none" normalizeH="0" baseline="0" dirty="0">
                          <a:ln>
                            <a:noFill/>
                          </a:ln>
                          <a:effectLst/>
                          <a:latin typeface="+mn-ea"/>
                          <a:ea typeface="+mn-ea"/>
                        </a:rPr>
                        <a:t>국가 특허로 또는 지역 특허로 할 것 인가</a:t>
                      </a:r>
                      <a:r>
                        <a:rPr kumimoji="1" lang="en-US" altLang="ko-KR" sz="1200" u="none" strike="noStrike" cap="none" normalizeH="0" baseline="0" dirty="0">
                          <a:ln>
                            <a:noFill/>
                          </a:ln>
                          <a:effectLst/>
                          <a:latin typeface="+mn-ea"/>
                          <a:ea typeface="+mn-ea"/>
                        </a:rPr>
                        <a:t>?</a:t>
                      </a:r>
                      <a:endParaRPr kumimoji="1" lang="ko-KR" altLang="en-US" sz="1200" b="0"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2"/>
                  </a:ext>
                </a:extLst>
              </a:tr>
              <a:tr h="500130">
                <a:tc>
                  <a:txBody>
                    <a:bodyPr/>
                    <a:lstStyle/>
                    <a:p>
                      <a:pPr marL="0" marR="0" lvl="0" indent="0" algn="l"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latin typeface="+mn-ea"/>
                          <a:ea typeface="+mn-ea"/>
                        </a:rPr>
                        <a:t>4. </a:t>
                      </a:r>
                      <a:r>
                        <a:rPr kumimoji="1" lang="ko-KR" altLang="en-US" sz="1200" u="none" strike="noStrike" cap="none" normalizeH="0" baseline="0" dirty="0">
                          <a:ln>
                            <a:noFill/>
                          </a:ln>
                          <a:effectLst/>
                          <a:latin typeface="+mn-ea"/>
                          <a:ea typeface="+mn-ea"/>
                        </a:rPr>
                        <a:t>발명의 </a:t>
                      </a:r>
                      <a:r>
                        <a:rPr kumimoji="1" lang="en-US" altLang="ko-KR" sz="1200" u="none" strike="noStrike" cap="none" normalizeH="0" baseline="0" dirty="0">
                          <a:ln>
                            <a:noFill/>
                          </a:ln>
                          <a:effectLst/>
                          <a:latin typeface="+mn-ea"/>
                          <a:ea typeface="+mn-ea"/>
                        </a:rPr>
                        <a:t>economic lifecycle</a:t>
                      </a:r>
                      <a:r>
                        <a:rPr kumimoji="1" lang="ko-KR" altLang="en-US" sz="1200" u="none" strike="noStrike" cap="none" normalizeH="0" baseline="0" dirty="0">
                          <a:ln>
                            <a:noFill/>
                          </a:ln>
                          <a:effectLst/>
                          <a:latin typeface="+mn-ea"/>
                          <a:ea typeface="+mn-ea"/>
                        </a:rPr>
                        <a:t>이 권리화 소요 기간에 비하여 충분히 긴가</a:t>
                      </a:r>
                      <a:r>
                        <a:rPr kumimoji="1" lang="en-US" altLang="ko-KR" sz="1200" u="none" strike="noStrike" cap="none" normalizeH="0" baseline="0" dirty="0">
                          <a:ln>
                            <a:noFill/>
                          </a:ln>
                          <a:effectLst/>
                          <a:latin typeface="+mn-ea"/>
                          <a:ea typeface="+mn-ea"/>
                        </a:rPr>
                        <a:t>?</a:t>
                      </a:r>
                      <a:endParaRPr kumimoji="1" lang="ko-KR" altLang="en-US" sz="1200" b="0"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3"/>
                  </a:ext>
                </a:extLst>
              </a:tr>
              <a:tr h="344225">
                <a:tc>
                  <a:txBody>
                    <a:bodyPr/>
                    <a:lstStyle/>
                    <a:p>
                      <a:pPr marL="0" marR="0" lvl="0" indent="0" algn="l"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latin typeface="+mn-ea"/>
                          <a:ea typeface="+mn-ea"/>
                        </a:rPr>
                        <a:t>5. </a:t>
                      </a:r>
                      <a:r>
                        <a:rPr kumimoji="1" lang="ko-KR" altLang="en-US" sz="1200" u="none" strike="noStrike" cap="none" normalizeH="0" baseline="0" dirty="0">
                          <a:ln>
                            <a:noFill/>
                          </a:ln>
                          <a:effectLst/>
                          <a:latin typeface="+mn-ea"/>
                          <a:ea typeface="+mn-ea"/>
                        </a:rPr>
                        <a:t>해당 국가에서 해당 발명의 보호 및 권리 행사가 가능한가</a:t>
                      </a:r>
                      <a:r>
                        <a:rPr kumimoji="1" lang="en-US" altLang="ko-KR" sz="1200" u="none" strike="noStrike" cap="none" normalizeH="0" baseline="0" dirty="0">
                          <a:ln>
                            <a:noFill/>
                          </a:ln>
                          <a:effectLst/>
                          <a:latin typeface="+mn-ea"/>
                          <a:ea typeface="+mn-ea"/>
                        </a:rPr>
                        <a:t>?</a:t>
                      </a:r>
                      <a:endParaRPr kumimoji="1" lang="ko-KR" altLang="en-US" sz="1200" b="0"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4"/>
                  </a:ext>
                </a:extLst>
              </a:tr>
              <a:tr h="344225">
                <a:tc>
                  <a:txBody>
                    <a:bodyPr/>
                    <a:lstStyle/>
                    <a:p>
                      <a:pPr marL="0" marR="0" lvl="0" indent="0" algn="l" defTabSz="914400" rtl="0" eaLnBrk="1" fontAlgn="base" latinLnBrk="1" hangingPunct="1">
                        <a:lnSpc>
                          <a:spcPct val="100000"/>
                        </a:lnSpc>
                        <a:spcBef>
                          <a:spcPts val="0"/>
                        </a:spcBef>
                        <a:spcAft>
                          <a:spcPts val="0"/>
                        </a:spcAft>
                        <a:buClrTx/>
                        <a:buSzTx/>
                        <a:buFontTx/>
                        <a:buNone/>
                        <a:tabLst/>
                      </a:pPr>
                      <a:r>
                        <a:rPr kumimoji="1" lang="en-US" altLang="ko-KR" sz="1200" u="none" strike="noStrike" cap="none" normalizeH="0" baseline="0" dirty="0">
                          <a:ln>
                            <a:noFill/>
                          </a:ln>
                          <a:effectLst/>
                          <a:latin typeface="+mn-ea"/>
                          <a:ea typeface="+mn-ea"/>
                        </a:rPr>
                        <a:t>6. </a:t>
                      </a:r>
                      <a:r>
                        <a:rPr kumimoji="1" lang="ko-KR" altLang="en-US" sz="1200" u="none" strike="noStrike" cap="none" normalizeH="0" baseline="0" dirty="0">
                          <a:ln>
                            <a:noFill/>
                          </a:ln>
                          <a:effectLst/>
                          <a:latin typeface="+mn-ea"/>
                          <a:ea typeface="+mn-ea"/>
                        </a:rPr>
                        <a:t>특허권자가 특허권 행사할</a:t>
                      </a:r>
                      <a:r>
                        <a:rPr kumimoji="1" lang="en-US" altLang="ko-KR" sz="1200" u="none" strike="noStrike" cap="none" normalizeH="0" baseline="0" dirty="0">
                          <a:ln>
                            <a:noFill/>
                          </a:ln>
                          <a:effectLst/>
                          <a:latin typeface="+mn-ea"/>
                          <a:ea typeface="+mn-ea"/>
                        </a:rPr>
                        <a:t> </a:t>
                      </a:r>
                      <a:r>
                        <a:rPr kumimoji="1" lang="ko-KR" altLang="en-US" sz="1200" u="none" strike="noStrike" cap="none" normalizeH="0" baseline="0" dirty="0">
                          <a:ln>
                            <a:noFill/>
                          </a:ln>
                          <a:effectLst/>
                          <a:latin typeface="+mn-ea"/>
                          <a:ea typeface="+mn-ea"/>
                        </a:rPr>
                        <a:t>의사가 있는가</a:t>
                      </a:r>
                      <a:r>
                        <a:rPr kumimoji="1" lang="en-US" altLang="ko-KR" sz="1200" u="none" strike="noStrike" cap="none" normalizeH="0" baseline="0" dirty="0">
                          <a:ln>
                            <a:noFill/>
                          </a:ln>
                          <a:effectLst/>
                          <a:latin typeface="+mn-ea"/>
                          <a:ea typeface="+mn-ea"/>
                        </a:rPr>
                        <a:t>?</a:t>
                      </a:r>
                      <a:endParaRPr kumimoji="1" lang="ko-KR" altLang="en-US" sz="1200" b="0"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5"/>
                  </a:ext>
                </a:extLst>
              </a:tr>
              <a:tr h="1194754">
                <a:tc>
                  <a:txBody>
                    <a:bodyPr/>
                    <a:lstStyle/>
                    <a:p>
                      <a:pPr marL="0" lvl="2" indent="0" algn="l" fontAlgn="auto">
                        <a:lnSpc>
                          <a:spcPct val="100000"/>
                        </a:lnSpc>
                        <a:spcBef>
                          <a:spcPts val="0"/>
                        </a:spcBef>
                        <a:spcAft>
                          <a:spcPts val="0"/>
                        </a:spcAft>
                        <a:buClr>
                          <a:schemeClr val="tx2"/>
                        </a:buClr>
                        <a:buSzPct val="120000"/>
                        <a:buFontTx/>
                        <a:buNone/>
                        <a:defRPr/>
                      </a:pPr>
                      <a:r>
                        <a:rPr kumimoji="1" lang="en-US" altLang="ko-KR" sz="1200" u="none" strike="noStrike" cap="none" normalizeH="0" baseline="0" dirty="0">
                          <a:ln>
                            <a:noFill/>
                          </a:ln>
                          <a:effectLst/>
                          <a:latin typeface="+mn-ea"/>
                          <a:ea typeface="+mn-ea"/>
                        </a:rPr>
                        <a:t>7. </a:t>
                      </a:r>
                      <a:r>
                        <a:rPr kumimoji="1" lang="ko-KR" altLang="en-US" sz="1200" u="none" strike="noStrike" cap="none" normalizeH="0" baseline="0" dirty="0">
                          <a:ln>
                            <a:noFill/>
                          </a:ln>
                          <a:effectLst/>
                          <a:latin typeface="+mn-ea"/>
                          <a:ea typeface="+mn-ea"/>
                        </a:rPr>
                        <a:t>경쟁기업과 관련된 사항</a:t>
                      </a:r>
                      <a:r>
                        <a:rPr kumimoji="1" lang="en-US" altLang="ko-KR" sz="1200" u="none" strike="noStrike" cap="none" normalizeH="0" baseline="0" dirty="0">
                          <a:ln>
                            <a:noFill/>
                          </a:ln>
                          <a:effectLst/>
                          <a:latin typeface="+mn-ea"/>
                          <a:ea typeface="+mn-ea"/>
                        </a:rPr>
                        <a:t>   </a:t>
                      </a:r>
                    </a:p>
                    <a:p>
                      <a:pPr marL="0" lvl="2" indent="0" algn="l" fontAlgn="auto">
                        <a:lnSpc>
                          <a:spcPct val="100000"/>
                        </a:lnSpc>
                        <a:spcBef>
                          <a:spcPts val="0"/>
                        </a:spcBef>
                        <a:spcAft>
                          <a:spcPts val="0"/>
                        </a:spcAft>
                        <a:buClr>
                          <a:schemeClr val="tx2"/>
                        </a:buClr>
                        <a:buSzPct val="120000"/>
                        <a:buFontTx/>
                        <a:buNone/>
                        <a:defRPr/>
                      </a:pPr>
                      <a:r>
                        <a:rPr kumimoji="1" lang="en-US" altLang="ko-KR" sz="1200" u="none" strike="noStrike" cap="none" normalizeH="0" baseline="0" dirty="0">
                          <a:ln>
                            <a:noFill/>
                          </a:ln>
                          <a:effectLst/>
                          <a:latin typeface="+mn-ea"/>
                          <a:ea typeface="+mn-ea"/>
                        </a:rPr>
                        <a:t> - </a:t>
                      </a:r>
                      <a:r>
                        <a:rPr kumimoji="0" lang="en-US" altLang="ko-KR" sz="1200" dirty="0">
                          <a:latin typeface="+mn-ea"/>
                          <a:ea typeface="+mn-ea"/>
                        </a:rPr>
                        <a:t>Where do competitors manufacture and sell?</a:t>
                      </a:r>
                      <a:r>
                        <a:rPr kumimoji="1" lang="en-US" altLang="ko-KR" sz="1200" u="none" strike="noStrike" cap="none" normalizeH="0" baseline="0" dirty="0">
                          <a:ln>
                            <a:noFill/>
                          </a:ln>
                          <a:effectLst/>
                          <a:latin typeface="+mn-ea"/>
                          <a:ea typeface="+mn-ea"/>
                        </a:rPr>
                        <a:t> </a:t>
                      </a:r>
                      <a:br>
                        <a:rPr kumimoji="1" lang="en-US" altLang="ko-KR" sz="1200" u="none" strike="noStrike" cap="none" normalizeH="0" baseline="0" dirty="0">
                          <a:ln>
                            <a:noFill/>
                          </a:ln>
                          <a:effectLst/>
                          <a:latin typeface="+mn-ea"/>
                          <a:ea typeface="+mn-ea"/>
                        </a:rPr>
                      </a:br>
                      <a:r>
                        <a:rPr kumimoji="1" lang="en-US" altLang="ko-KR" sz="1200" u="none" strike="noStrike" cap="none" normalizeH="0" baseline="0" dirty="0">
                          <a:ln>
                            <a:noFill/>
                          </a:ln>
                          <a:effectLst/>
                          <a:latin typeface="+mn-ea"/>
                          <a:ea typeface="+mn-ea"/>
                        </a:rPr>
                        <a:t> - </a:t>
                      </a:r>
                      <a:r>
                        <a:rPr kumimoji="0" lang="en-US" altLang="ko-KR" sz="1200" dirty="0">
                          <a:latin typeface="+mn-ea"/>
                          <a:ea typeface="+mn-ea"/>
                        </a:rPr>
                        <a:t>Is the competition global or local? </a:t>
                      </a:r>
                    </a:p>
                    <a:p>
                      <a:pPr marL="0" lvl="2" indent="0" algn="l" fontAlgn="auto">
                        <a:lnSpc>
                          <a:spcPct val="100000"/>
                        </a:lnSpc>
                        <a:spcBef>
                          <a:spcPts val="0"/>
                        </a:spcBef>
                        <a:spcAft>
                          <a:spcPts val="0"/>
                        </a:spcAft>
                        <a:buClr>
                          <a:schemeClr val="tx2"/>
                        </a:buClr>
                        <a:buSzPct val="120000"/>
                        <a:buFontTx/>
                        <a:buNone/>
                        <a:defRPr/>
                      </a:pPr>
                      <a:r>
                        <a:rPr kumimoji="0" lang="en-US" altLang="ko-KR" sz="1200" dirty="0">
                          <a:latin typeface="+mn-ea"/>
                          <a:ea typeface="+mn-ea"/>
                        </a:rPr>
                        <a:t> - How difficult or simple would it be to detect infringement?</a:t>
                      </a:r>
                      <a:endParaRPr kumimoji="0" lang="en-US" altLang="ko-KR" sz="1200" b="0" dirty="0">
                        <a:solidFill>
                          <a:srgbClr val="000000"/>
                        </a:solidFill>
                        <a:latin typeface="+mn-ea"/>
                        <a:ea typeface="+mn-ea"/>
                        <a:cs typeface="Arial" charset="0"/>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6"/>
                  </a:ext>
                </a:extLst>
              </a:tr>
              <a:tr h="344225">
                <a:tc>
                  <a:txBody>
                    <a:bodyPr/>
                    <a:lstStyle/>
                    <a:p>
                      <a:pPr marL="0" marR="0" lvl="0" indent="0" algn="l"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latin typeface="+mn-ea"/>
                          <a:ea typeface="+mn-ea"/>
                        </a:rPr>
                        <a:t>8. </a:t>
                      </a:r>
                      <a:r>
                        <a:rPr kumimoji="1" lang="ko-KR" altLang="en-US" sz="1200" u="none" strike="noStrike" cap="none" normalizeH="0" baseline="0" dirty="0">
                          <a:ln>
                            <a:noFill/>
                          </a:ln>
                          <a:effectLst/>
                          <a:latin typeface="+mn-ea"/>
                          <a:ea typeface="+mn-ea"/>
                        </a:rPr>
                        <a:t>권리화로 인해 가격 인상 가능한가</a:t>
                      </a:r>
                      <a:r>
                        <a:rPr kumimoji="1" lang="en-US" altLang="ko-KR" sz="1200" u="none" strike="noStrike" cap="none" normalizeH="0" baseline="0" dirty="0">
                          <a:ln>
                            <a:noFill/>
                          </a:ln>
                          <a:effectLst/>
                          <a:latin typeface="+mn-ea"/>
                          <a:ea typeface="+mn-ea"/>
                        </a:rPr>
                        <a:t>?</a:t>
                      </a:r>
                      <a:endParaRPr kumimoji="1" lang="ko-KR" altLang="en-US" sz="1200" b="0"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7"/>
                  </a:ext>
                </a:extLst>
              </a:tr>
              <a:tr h="344225">
                <a:tc>
                  <a:txBody>
                    <a:bodyPr/>
                    <a:lstStyle/>
                    <a:p>
                      <a:pPr marL="0" marR="0" lvl="0" indent="0" algn="l" defTabSz="914400" rtl="0" eaLnBrk="1" fontAlgn="base" latinLnBrk="1" hangingPunct="1">
                        <a:lnSpc>
                          <a:spcPct val="100000"/>
                        </a:lnSpc>
                        <a:spcBef>
                          <a:spcPct val="0"/>
                        </a:spcBef>
                        <a:spcAft>
                          <a:spcPct val="30000"/>
                        </a:spcAft>
                        <a:buClrTx/>
                        <a:buSzTx/>
                        <a:buFontTx/>
                        <a:buNone/>
                        <a:tabLst/>
                      </a:pPr>
                      <a:r>
                        <a:rPr kumimoji="1" lang="en-US" altLang="ko-KR" sz="1200" u="none" strike="noStrike" cap="none" normalizeH="0" baseline="0" dirty="0">
                          <a:ln>
                            <a:noFill/>
                          </a:ln>
                          <a:effectLst/>
                          <a:latin typeface="+mn-ea"/>
                          <a:ea typeface="+mn-ea"/>
                        </a:rPr>
                        <a:t>9. </a:t>
                      </a:r>
                      <a:r>
                        <a:rPr kumimoji="1" lang="ko-KR" altLang="en-US" sz="1200" u="none" strike="noStrike" cap="none" normalizeH="0" baseline="0" dirty="0">
                          <a:ln>
                            <a:noFill/>
                          </a:ln>
                          <a:effectLst/>
                          <a:latin typeface="+mn-ea"/>
                          <a:ea typeface="+mn-ea"/>
                        </a:rPr>
                        <a:t>권리화로 인해 틈새 시장 공격 가능한가</a:t>
                      </a:r>
                      <a:r>
                        <a:rPr kumimoji="1" lang="en-US" altLang="ko-KR" sz="1200" u="none" strike="noStrike" cap="none" normalizeH="0" baseline="0" dirty="0">
                          <a:ln>
                            <a:noFill/>
                          </a:ln>
                          <a:effectLst/>
                          <a:latin typeface="+mn-ea"/>
                          <a:ea typeface="+mn-ea"/>
                        </a:rPr>
                        <a:t>?</a:t>
                      </a:r>
                      <a:endParaRPr kumimoji="1" lang="ko-KR" altLang="en-US" sz="1200" b="0"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sp>
        <p:nvSpPr>
          <p:cNvPr id="8" name="모서리가 둥근 직사각형 7"/>
          <p:cNvSpPr/>
          <p:nvPr/>
        </p:nvSpPr>
        <p:spPr bwMode="auto">
          <a:xfrm>
            <a:off x="629941" y="1984040"/>
            <a:ext cx="2622306" cy="255918"/>
          </a:xfrm>
          <a:prstGeom prst="roundRect">
            <a:avLst>
              <a:gd name="adj" fmla="val 50000"/>
            </a:avLst>
          </a:prstGeom>
          <a:solidFill>
            <a:schemeClr val="accent1"/>
          </a:solidFill>
          <a:ln>
            <a:solidFill>
              <a:schemeClr val="bg1">
                <a:lumMod val="50000"/>
              </a:schemeClr>
            </a:solidFill>
            <a:headEnd type="none" w="med" len="med"/>
            <a:tailEnd type="none"/>
          </a:ln>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Rix모던고딕 B"/>
                <a:ea typeface="Rix모던고딕 B"/>
                <a:cs typeface="+mn-cs"/>
              </a:rPr>
              <a:t>해외출원국가의 </a:t>
            </a:r>
            <a:r>
              <a:rPr kumimoji="0" lang="ko-KR" altLang="en-US" sz="1400" b="0" i="0" u="none" strike="noStrike" kern="1200" cap="none" spc="0" normalizeH="0" baseline="0" noProof="0" dirty="0" err="1">
                <a:ln>
                  <a:noFill/>
                </a:ln>
                <a:solidFill>
                  <a:prstClr val="white"/>
                </a:solidFill>
                <a:effectLst/>
                <a:uLnTx/>
                <a:uFillTx/>
                <a:latin typeface="Rix모던고딕 B"/>
                <a:ea typeface="Rix모던고딕 B"/>
                <a:cs typeface="+mn-cs"/>
              </a:rPr>
              <a:t>선택시</a:t>
            </a:r>
            <a:r>
              <a:rPr kumimoji="0" lang="ko-KR" altLang="en-US" sz="1400" b="0" i="0" u="none" strike="noStrike" kern="1200" cap="none" spc="0" normalizeH="0" baseline="0" noProof="0" dirty="0">
                <a:ln>
                  <a:noFill/>
                </a:ln>
                <a:solidFill>
                  <a:prstClr val="white"/>
                </a:solidFill>
                <a:effectLst/>
                <a:uLnTx/>
                <a:uFillTx/>
                <a:latin typeface="Rix모던고딕 B"/>
                <a:ea typeface="Rix모던고딕 B"/>
                <a:cs typeface="+mn-cs"/>
              </a:rPr>
              <a:t> 고려사항</a:t>
            </a:r>
          </a:p>
        </p:txBody>
      </p:sp>
      <p:sp>
        <p:nvSpPr>
          <p:cNvPr id="9" name="모서리가 둥근 직사각형 8"/>
          <p:cNvSpPr/>
          <p:nvPr/>
        </p:nvSpPr>
        <p:spPr bwMode="auto">
          <a:xfrm>
            <a:off x="6768445" y="1984040"/>
            <a:ext cx="1668545" cy="255918"/>
          </a:xfrm>
          <a:prstGeom prst="roundRect">
            <a:avLst>
              <a:gd name="adj" fmla="val 50000"/>
            </a:avLst>
          </a:prstGeom>
          <a:solidFill>
            <a:schemeClr val="accent1"/>
          </a:solidFill>
          <a:ln>
            <a:solidFill>
              <a:schemeClr val="bg1">
                <a:lumMod val="50000"/>
              </a:schemeClr>
            </a:solidFill>
            <a:headEnd type="none" w="med" len="med"/>
            <a:tailEnd type="none"/>
          </a:ln>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white"/>
                </a:solidFill>
                <a:effectLst/>
                <a:uLnTx/>
                <a:uFillTx/>
                <a:latin typeface="Rix모던고딕 B"/>
                <a:ea typeface="Rix모던고딕 B"/>
                <a:cs typeface="+mn-cs"/>
              </a:rPr>
              <a:t>핵심적인 선택기준</a:t>
            </a:r>
            <a:endParaRPr kumimoji="0" lang="ko-KR" altLang="en-US" sz="1400" b="0" i="0" u="none" strike="noStrike" kern="1200" cap="none" spc="0" normalizeH="0" baseline="0" noProof="0" dirty="0">
              <a:ln>
                <a:noFill/>
              </a:ln>
              <a:solidFill>
                <a:prstClr val="white"/>
              </a:solidFill>
              <a:effectLst/>
              <a:uLnTx/>
              <a:uFillTx/>
              <a:latin typeface="Rix모던고딕 B"/>
              <a:ea typeface="Rix모던고딕 B"/>
              <a:cs typeface="+mn-cs"/>
            </a:endParaRPr>
          </a:p>
        </p:txBody>
      </p:sp>
      <p:cxnSp>
        <p:nvCxnSpPr>
          <p:cNvPr id="10" name="직선 연결선 9"/>
          <p:cNvCxnSpPr/>
          <p:nvPr/>
        </p:nvCxnSpPr>
        <p:spPr>
          <a:xfrm>
            <a:off x="77875" y="148620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77875" y="976902"/>
            <a:ext cx="11936323" cy="52322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기술의 사업방향</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경쟁사 동향 </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Rix모던고딕 B"/>
                <a:ea typeface="Rix모던고딕 B"/>
                <a:cs typeface="+mn-cs"/>
              </a:rPr>
              <a:t>출원건수</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등록건수 등</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Rix모던고딕 B"/>
                <a:ea typeface="Rix모던고딕 B"/>
                <a:cs typeface="+mn-cs"/>
              </a:rPr>
              <a:t>개별사정</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계약</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예산 등</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당해 국가의 기초 자료</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인구</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GNP,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기술력 등</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등을 고려하여 특허활용가능성이 있는 국가를 선택하며</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핵심적인 선택기준은 시장이 있거나 생산 가능성이 있는 국가인지 여부이다</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 </a:t>
            </a:r>
          </a:p>
        </p:txBody>
      </p:sp>
      <p:cxnSp>
        <p:nvCxnSpPr>
          <p:cNvPr id="12" name="직선 연결선 11"/>
          <p:cNvCxnSpPr/>
          <p:nvPr/>
        </p:nvCxnSpPr>
        <p:spPr>
          <a:xfrm>
            <a:off x="6076950" y="1828800"/>
            <a:ext cx="0" cy="4811097"/>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549</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386867273"/>
      </p:ext>
    </p:extLst>
  </p:cSld>
  <p:clrMapOvr>
    <a:masterClrMapping/>
  </p:clrMapOvr>
  <p:transition/>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err="1"/>
              <a:t>참고노트</a:t>
            </a:r>
            <a:endParaRPr lang="ko-KR" altLang="en-US" dirty="0"/>
          </a:p>
        </p:txBody>
      </p:sp>
      <p:sp>
        <p:nvSpPr>
          <p:cNvPr id="5" name="텍스트 개체 틀 4"/>
          <p:cNvSpPr>
            <a:spLocks noGrp="1"/>
          </p:cNvSpPr>
          <p:nvPr>
            <p:ph type="body" sz="quarter" idx="13"/>
          </p:nvPr>
        </p:nvSpPr>
        <p:spPr/>
        <p:txBody>
          <a:bodyPr/>
          <a:lstStyle/>
          <a:p>
            <a:r>
              <a:rPr lang="en-US" altLang="ko-KR" dirty="0"/>
              <a:t>PCT </a:t>
            </a:r>
            <a:r>
              <a:rPr lang="ko-KR" altLang="en-US" dirty="0"/>
              <a:t>출원 국내단계진입의 결정</a:t>
            </a:r>
          </a:p>
        </p:txBody>
      </p:sp>
      <p:cxnSp>
        <p:nvCxnSpPr>
          <p:cNvPr id="10" name="직선 연결선 9"/>
          <p:cNvCxnSpPr/>
          <p:nvPr/>
        </p:nvCxnSpPr>
        <p:spPr>
          <a:xfrm>
            <a:off x="77875" y="149798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77875" y="976902"/>
            <a:ext cx="11936323" cy="52322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PCT </a:t>
            </a:r>
            <a:r>
              <a:rPr kumimoji="0" lang="ko-KR" altLang="en-US" sz="1400" b="0" i="0" u="none" strike="noStrike" kern="1200" cap="none" spc="0" normalizeH="0" baseline="0" noProof="0" dirty="0" err="1">
                <a:ln>
                  <a:noFill/>
                </a:ln>
                <a:solidFill>
                  <a:prstClr val="black"/>
                </a:solidFill>
                <a:effectLst/>
                <a:uLnTx/>
                <a:uFillTx/>
                <a:latin typeface="Rix모던고딕 B"/>
                <a:ea typeface="Rix모던고딕 B"/>
                <a:cs typeface="+mn-cs"/>
              </a:rPr>
              <a:t>출원시</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 자기지정제도와 </a:t>
            </a:r>
            <a:r>
              <a:rPr kumimoji="0" lang="ko-KR" altLang="en-US" sz="1400" b="0" i="0" u="none" strike="noStrike" kern="1200" cap="none" spc="0" normalizeH="0" baseline="0" noProof="0" dirty="0" err="1">
                <a:ln>
                  <a:noFill/>
                </a:ln>
                <a:solidFill>
                  <a:prstClr val="black"/>
                </a:solidFill>
                <a:effectLst/>
                <a:uLnTx/>
                <a:uFillTx/>
                <a:latin typeface="Rix모던고딕 B"/>
                <a:ea typeface="Rix모던고딕 B"/>
                <a:cs typeface="+mn-cs"/>
              </a:rPr>
              <a:t>국제단계의</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Rix모던고딕 B"/>
                <a:ea typeface="Rix모던고딕 B"/>
                <a:cs typeface="+mn-cs"/>
              </a:rPr>
              <a:t>기간이익을</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 적극 활용하면</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시장의 변화에 대응할 수 있다</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 국제단계기간 동안 해외시장의 상황을 모니터링 하면서</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각 국가별 </a:t>
            </a:r>
            <a:r>
              <a:rPr kumimoji="0" lang="ko-KR" altLang="en-US" sz="1400" b="0" i="0" u="none" strike="noStrike" kern="1200" cap="none" spc="0" normalizeH="0" baseline="0" noProof="0" dirty="0" err="1">
                <a:ln>
                  <a:noFill/>
                </a:ln>
                <a:solidFill>
                  <a:prstClr val="black"/>
                </a:solidFill>
                <a:effectLst/>
                <a:uLnTx/>
                <a:uFillTx/>
                <a:latin typeface="Rix모던고딕 B"/>
                <a:ea typeface="Rix모던고딕 B"/>
                <a:cs typeface="+mn-cs"/>
              </a:rPr>
              <a:t>국내단계</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 진입을 결정하되</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각 국가별 권리범위 재설계의 필요성을 검토한다</a:t>
            </a: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68" name="모서리가 둥근 직사각형 67"/>
          <p:cNvSpPr/>
          <p:nvPr/>
        </p:nvSpPr>
        <p:spPr>
          <a:xfrm>
            <a:off x="3530601" y="1916832"/>
            <a:ext cx="4095751" cy="3927922"/>
          </a:xfrm>
          <a:prstGeom prst="roundRect">
            <a:avLst>
              <a:gd name="adj" fmla="val 11170"/>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latin typeface="Rix모던고딕 B"/>
              <a:ea typeface="Rix모던고딕 B"/>
              <a:cs typeface="+mn-cs"/>
            </a:endParaRPr>
          </a:p>
        </p:txBody>
      </p:sp>
      <p:sp>
        <p:nvSpPr>
          <p:cNvPr id="69" name="TextBox 68"/>
          <p:cNvSpPr txBox="1"/>
          <p:nvPr/>
        </p:nvSpPr>
        <p:spPr>
          <a:xfrm>
            <a:off x="8028419" y="4342182"/>
            <a:ext cx="3642882" cy="658642"/>
          </a:xfrm>
          <a:prstGeom prst="rect">
            <a:avLst/>
          </a:prstGeom>
          <a:noFill/>
        </p:spPr>
        <p:txBody>
          <a:bodyPr wrap="square">
            <a:spAutoFit/>
          </a:bodyPr>
          <a:lstStyle/>
          <a:p>
            <a:pPr marL="0" marR="0" lvl="0" indent="0" algn="l" defTabSz="914400" rtl="0" eaLnBrk="1" fontAlgn="auto" latinLnBrk="1" hangingPunct="1">
              <a:lnSpc>
                <a:spcPct val="100000"/>
              </a:lnSpc>
              <a:spcBef>
                <a:spcPts val="0"/>
              </a:spcBef>
              <a:spcAft>
                <a:spcPct val="30000"/>
              </a:spcAft>
              <a:buClrTx/>
              <a:buSzTx/>
              <a:buFont typeface="Wingdings" pitchFamily="2" charset="2"/>
              <a:buChar char="§"/>
              <a:tabLst/>
              <a:defRPr/>
            </a:pPr>
            <a:r>
              <a:rPr kumimoji="0" lang="ko-KR" altLang="en-US" sz="1600" b="0" i="0" u="none" strike="noStrike" kern="1200" cap="none" spc="0" normalizeH="0" baseline="0" noProof="0" dirty="0">
                <a:ln>
                  <a:noFill/>
                </a:ln>
                <a:solidFill>
                  <a:prstClr val="black">
                    <a:lumMod val="95000"/>
                    <a:lumOff val="5000"/>
                  </a:prstClr>
                </a:solidFill>
                <a:effectLst/>
                <a:uLnTx/>
                <a:uFillTx/>
                <a:latin typeface="Rix모던고딕 B"/>
                <a:ea typeface="Rix모던고딕 B"/>
                <a:cs typeface="Arial" charset="0"/>
              </a:rPr>
              <a:t> 각 국가의 국내단계 진입 여부</a:t>
            </a:r>
            <a:r>
              <a:rPr kumimoji="0" lang="en-US" altLang="ko-KR" sz="1600" b="0" i="0" u="none" strike="noStrike" kern="1200" cap="none" spc="0" normalizeH="0" baseline="0" noProof="0" dirty="0">
                <a:ln>
                  <a:noFill/>
                </a:ln>
                <a:solidFill>
                  <a:prstClr val="black">
                    <a:lumMod val="95000"/>
                    <a:lumOff val="5000"/>
                  </a:prstClr>
                </a:solidFill>
                <a:effectLst/>
                <a:uLnTx/>
                <a:uFillTx/>
                <a:latin typeface="Rix모던고딕 B"/>
                <a:ea typeface="Rix모던고딕 B"/>
                <a:cs typeface="Arial" charset="0"/>
              </a:rPr>
              <a:t>(</a:t>
            </a:r>
            <a:r>
              <a:rPr kumimoji="0" lang="ko-KR" altLang="en-US" sz="1600" b="0" i="0" u="none" strike="noStrike" kern="1200" cap="none" spc="0" normalizeH="0" baseline="0" noProof="0" dirty="0">
                <a:ln>
                  <a:noFill/>
                </a:ln>
                <a:solidFill>
                  <a:prstClr val="black">
                    <a:lumMod val="95000"/>
                    <a:lumOff val="5000"/>
                  </a:prstClr>
                </a:solidFill>
                <a:effectLst/>
                <a:uLnTx/>
                <a:uFillTx/>
                <a:latin typeface="Rix모던고딕 B"/>
                <a:ea typeface="Rix모던고딕 B"/>
                <a:cs typeface="Arial" charset="0"/>
              </a:rPr>
              <a:t>비용절감</a:t>
            </a:r>
            <a:r>
              <a:rPr kumimoji="0" lang="en-US" altLang="ko-KR" sz="1600" b="0" i="0" u="none" strike="noStrike" kern="1200" cap="none" spc="0" normalizeH="0" baseline="0" noProof="0" dirty="0">
                <a:ln>
                  <a:noFill/>
                </a:ln>
                <a:solidFill>
                  <a:prstClr val="black">
                    <a:lumMod val="95000"/>
                    <a:lumOff val="5000"/>
                  </a:prstClr>
                </a:solidFill>
                <a:effectLst/>
                <a:uLnTx/>
                <a:uFillTx/>
                <a:latin typeface="Rix모던고딕 B"/>
                <a:ea typeface="Rix모던고딕 B"/>
                <a:cs typeface="Arial" charset="0"/>
              </a:rPr>
              <a:t>)</a:t>
            </a:r>
          </a:p>
          <a:p>
            <a:pPr marL="0" marR="0" lvl="0" indent="0" algn="l" defTabSz="914400" rtl="0" eaLnBrk="1" fontAlgn="auto" latinLnBrk="1" hangingPunct="1">
              <a:lnSpc>
                <a:spcPct val="100000"/>
              </a:lnSpc>
              <a:spcBef>
                <a:spcPts val="0"/>
              </a:spcBef>
              <a:spcAft>
                <a:spcPct val="30000"/>
              </a:spcAft>
              <a:buClrTx/>
              <a:buSzTx/>
              <a:buFont typeface="Wingdings" pitchFamily="2" charset="2"/>
              <a:buChar char="§"/>
              <a:tabLst/>
              <a:defRPr/>
            </a:pPr>
            <a:r>
              <a:rPr kumimoji="0" lang="en-US" altLang="ko-KR" sz="1600" b="0" i="0" u="none" strike="noStrike" kern="1200" cap="none" spc="0" normalizeH="0" baseline="0" noProof="0" dirty="0">
                <a:ln>
                  <a:noFill/>
                </a:ln>
                <a:solidFill>
                  <a:prstClr val="black">
                    <a:lumMod val="95000"/>
                    <a:lumOff val="5000"/>
                  </a:prstClr>
                </a:solidFill>
                <a:effectLst/>
                <a:uLnTx/>
                <a:uFillTx/>
                <a:latin typeface="Rix모던고딕 B"/>
                <a:ea typeface="Rix모던고딕 B"/>
                <a:cs typeface="Arial" charset="0"/>
              </a:rPr>
              <a:t> CLAIM-REPOSITIONING </a:t>
            </a:r>
            <a:r>
              <a:rPr kumimoji="0" lang="ko-KR" altLang="en-US" sz="1600" b="0" i="0" u="none" strike="noStrike" kern="1200" cap="none" spc="0" normalizeH="0" baseline="0" noProof="0" dirty="0">
                <a:ln>
                  <a:noFill/>
                </a:ln>
                <a:solidFill>
                  <a:prstClr val="black">
                    <a:lumMod val="95000"/>
                    <a:lumOff val="5000"/>
                  </a:prstClr>
                </a:solidFill>
                <a:effectLst/>
                <a:uLnTx/>
                <a:uFillTx/>
                <a:latin typeface="Rix모던고딕 B"/>
                <a:ea typeface="Rix모던고딕 B"/>
                <a:cs typeface="Arial" charset="0"/>
              </a:rPr>
              <a:t>검토</a:t>
            </a:r>
          </a:p>
        </p:txBody>
      </p:sp>
      <p:sp>
        <p:nvSpPr>
          <p:cNvPr id="70" name="TextBox 69"/>
          <p:cNvSpPr txBox="1"/>
          <p:nvPr/>
        </p:nvSpPr>
        <p:spPr>
          <a:xfrm>
            <a:off x="565863" y="2570066"/>
            <a:ext cx="3720890" cy="338554"/>
          </a:xfrm>
          <a:prstGeom prst="rect">
            <a:avLst/>
          </a:prstGeom>
          <a:noFill/>
        </p:spPr>
        <p:txBody>
          <a:bodyPr wrap="none">
            <a:spAutoFit/>
          </a:bodyPr>
          <a:lstStyle/>
          <a:p>
            <a:pPr marL="266700" marR="0" lvl="1" indent="-266700" algn="l" defTabSz="914400" rtl="0" eaLnBrk="1" fontAlgn="auto" latinLnBrk="1" hangingPunct="1">
              <a:lnSpc>
                <a:spcPct val="100000"/>
              </a:lnSpc>
              <a:spcBef>
                <a:spcPts val="0"/>
              </a:spcBef>
              <a:spcAft>
                <a:spcPct val="30000"/>
              </a:spcAft>
              <a:buClrTx/>
              <a:buSzTx/>
              <a:buFontTx/>
              <a:buNone/>
              <a:tabLst/>
              <a:defRPr/>
            </a:pPr>
            <a:r>
              <a:rPr kumimoji="0" lang="ko-KR" altLang="en-US" sz="1600" b="0" i="0" u="none" strike="noStrike" kern="1200" cap="none" spc="0" normalizeH="0" baseline="0" noProof="0" dirty="0">
                <a:ln>
                  <a:noFill/>
                </a:ln>
                <a:solidFill>
                  <a:prstClr val="black">
                    <a:lumMod val="95000"/>
                    <a:lumOff val="5000"/>
                  </a:prstClr>
                </a:solidFill>
                <a:effectLst/>
                <a:uLnTx/>
                <a:uFillTx/>
                <a:latin typeface="Rix모던고딕 B"/>
                <a:ea typeface="Rix모던고딕 B"/>
                <a:cs typeface="Arial" charset="0"/>
              </a:rPr>
              <a:t>한국출원을 기초로 해외출원의 필요성 검토</a:t>
            </a:r>
            <a:endParaRPr kumimoji="0" lang="en-US" altLang="ko-KR" sz="1600" b="0" i="0" u="none" strike="noStrike" kern="1200" cap="none" spc="0" normalizeH="0" baseline="0" noProof="0" dirty="0">
              <a:ln>
                <a:noFill/>
              </a:ln>
              <a:solidFill>
                <a:prstClr val="black">
                  <a:lumMod val="95000"/>
                  <a:lumOff val="5000"/>
                </a:prstClr>
              </a:solidFill>
              <a:effectLst/>
              <a:uLnTx/>
              <a:uFillTx/>
              <a:latin typeface="Rix모던고딕 B"/>
              <a:ea typeface="Rix모던고딕 B"/>
              <a:cs typeface="Arial" charset="0"/>
            </a:endParaRPr>
          </a:p>
        </p:txBody>
      </p:sp>
      <p:sp>
        <p:nvSpPr>
          <p:cNvPr id="72" name="모서리가 둥근 직사각형 71"/>
          <p:cNvSpPr/>
          <p:nvPr/>
        </p:nvSpPr>
        <p:spPr bwMode="auto">
          <a:xfrm>
            <a:off x="4236707" y="2590304"/>
            <a:ext cx="1397033" cy="288032"/>
          </a:xfrm>
          <a:prstGeom prst="roundRect">
            <a:avLst/>
          </a:prstGeom>
          <a:solidFill>
            <a:schemeClr val="accent4"/>
          </a:solidFill>
          <a:ln>
            <a:noFill/>
            <a:headEnd type="none" w="med" len="med"/>
            <a:tailEnd type="triangle" w="med" len="med"/>
          </a:ln>
        </p:spPr>
        <p:style>
          <a:lnRef idx="3">
            <a:schemeClr val="lt1"/>
          </a:lnRef>
          <a:fillRef idx="1">
            <a:schemeClr val="accent4"/>
          </a:fillRef>
          <a:effectRef idx="1">
            <a:schemeClr val="accent4"/>
          </a:effectRef>
          <a:fontRef idx="minor">
            <a:schemeClr val="lt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Rix모던고딕 B"/>
                <a:ea typeface="Rix모던고딕 B"/>
                <a:cs typeface="+mn-cs"/>
              </a:rPr>
              <a:t>우선기간</a:t>
            </a:r>
            <a:r>
              <a:rPr kumimoji="0" lang="en-US" altLang="ko-KR" sz="1400" b="0" i="0" u="none" strike="noStrike" kern="1200" cap="none" spc="0" normalizeH="0" baseline="0" noProof="0" dirty="0">
                <a:ln>
                  <a:noFill/>
                </a:ln>
                <a:solidFill>
                  <a:prstClr val="white"/>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prstClr val="white"/>
                </a:solidFill>
                <a:effectLst/>
                <a:uLnTx/>
                <a:uFillTx/>
                <a:latin typeface="Rix모던고딕 B"/>
                <a:ea typeface="Rix모던고딕 B"/>
                <a:cs typeface="+mn-cs"/>
              </a:rPr>
              <a:t>년</a:t>
            </a:r>
            <a:r>
              <a:rPr kumimoji="0" lang="en-US" altLang="ko-KR" sz="1400" b="0" i="0" u="none" strike="noStrike" kern="1200" cap="none" spc="0" normalizeH="0" baseline="0" noProof="0" dirty="0">
                <a:ln>
                  <a:noFill/>
                </a:ln>
                <a:solidFill>
                  <a:prstClr val="white"/>
                </a:solidFill>
                <a:effectLst/>
                <a:uLnTx/>
                <a:uFillTx/>
                <a:latin typeface="Rix모던고딕 B"/>
                <a:ea typeface="Rix모던고딕 B"/>
                <a:cs typeface="+mn-cs"/>
              </a:rPr>
              <a:t>)</a:t>
            </a:r>
            <a:endParaRPr kumimoji="0" lang="ko-KR" altLang="en-US" sz="1400" b="0" i="0" u="none" strike="noStrike" kern="1200" cap="none" spc="0" normalizeH="0" baseline="0" noProof="0" dirty="0">
              <a:ln>
                <a:noFill/>
              </a:ln>
              <a:solidFill>
                <a:prstClr val="white"/>
              </a:solidFill>
              <a:effectLst/>
              <a:uLnTx/>
              <a:uFillTx/>
              <a:latin typeface="Rix모던고딕 B"/>
              <a:ea typeface="Rix모던고딕 B"/>
              <a:cs typeface="+mn-cs"/>
            </a:endParaRPr>
          </a:p>
        </p:txBody>
      </p:sp>
      <p:sp>
        <p:nvSpPr>
          <p:cNvPr id="74" name="Rectangle 24"/>
          <p:cNvSpPr>
            <a:spLocks noChangeArrowheads="1"/>
          </p:cNvSpPr>
          <p:nvPr/>
        </p:nvSpPr>
        <p:spPr bwMode="auto">
          <a:xfrm>
            <a:off x="6198354" y="4630311"/>
            <a:ext cx="1047757" cy="251520"/>
          </a:xfrm>
          <a:prstGeom prst="round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800" b="0" i="0" u="none" strike="noStrike" kern="1200" cap="none" spc="0" normalizeH="0" baseline="0" noProof="0" dirty="0">
                <a:ln>
                  <a:noFill/>
                </a:ln>
                <a:solidFill>
                  <a:srgbClr val="FFFFFF"/>
                </a:solidFill>
                <a:effectLst/>
                <a:uLnTx/>
                <a:uFillTx/>
                <a:latin typeface="Rix모던고딕 B"/>
                <a:ea typeface="Rix모던고딕 B"/>
                <a:cs typeface="+mn-cs"/>
              </a:rPr>
              <a:t>EPO</a:t>
            </a:r>
            <a:endParaRPr kumimoji="0" lang="ko-KR" altLang="en-US" sz="180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75" name="Rectangle 24"/>
          <p:cNvSpPr>
            <a:spLocks noChangeArrowheads="1"/>
          </p:cNvSpPr>
          <p:nvPr/>
        </p:nvSpPr>
        <p:spPr bwMode="auto">
          <a:xfrm>
            <a:off x="4960095" y="4630311"/>
            <a:ext cx="1047757" cy="251520"/>
          </a:xfrm>
          <a:prstGeom prst="roundRect">
            <a:avLst/>
          </a:prstGeom>
          <a:solidFill>
            <a:schemeClr val="accent2"/>
          </a:solidFill>
          <a:ln>
            <a:solidFill>
              <a:schemeClr val="bg1">
                <a:lumMod val="50000"/>
              </a:schemeClr>
            </a:solidFill>
            <a:headEnd/>
            <a:tailEnd/>
          </a:ln>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800" b="0" i="0" u="none" strike="noStrike" kern="1200" cap="none" spc="0" normalizeH="0" baseline="0" noProof="0" dirty="0">
                <a:ln>
                  <a:noFill/>
                </a:ln>
                <a:solidFill>
                  <a:srgbClr val="FFFFFF"/>
                </a:solidFill>
                <a:effectLst/>
                <a:uLnTx/>
                <a:uFillTx/>
                <a:latin typeface="Rix모던고딕 B"/>
                <a:ea typeface="Rix모던고딕 B"/>
                <a:cs typeface="+mn-cs"/>
              </a:rPr>
              <a:t>KR</a:t>
            </a:r>
            <a:endParaRPr kumimoji="0" lang="ko-KR" altLang="en-US" sz="180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76" name="Rectangle 24"/>
          <p:cNvSpPr>
            <a:spLocks noChangeArrowheads="1"/>
          </p:cNvSpPr>
          <p:nvPr/>
        </p:nvSpPr>
        <p:spPr bwMode="auto">
          <a:xfrm>
            <a:off x="3721836" y="4630311"/>
            <a:ext cx="1047757" cy="251520"/>
          </a:xfrm>
          <a:prstGeom prst="round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800" b="0" i="0" u="none" strike="noStrike" kern="1200" cap="none" spc="0" normalizeH="0" baseline="0" noProof="0" dirty="0">
                <a:ln>
                  <a:noFill/>
                </a:ln>
                <a:solidFill>
                  <a:srgbClr val="FFFFFF"/>
                </a:solidFill>
                <a:effectLst/>
                <a:uLnTx/>
                <a:uFillTx/>
                <a:latin typeface="Rix모던고딕 B"/>
                <a:ea typeface="Rix모던고딕 B"/>
                <a:cs typeface="+mn-cs"/>
              </a:rPr>
              <a:t>US</a:t>
            </a:r>
            <a:endParaRPr kumimoji="0" lang="ko-KR" altLang="en-US" sz="180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77" name="Rectangle 24"/>
          <p:cNvSpPr>
            <a:spLocks noChangeArrowheads="1"/>
          </p:cNvSpPr>
          <p:nvPr/>
        </p:nvSpPr>
        <p:spPr bwMode="auto">
          <a:xfrm>
            <a:off x="6198354" y="5344691"/>
            <a:ext cx="1047757" cy="251520"/>
          </a:xfrm>
          <a:prstGeom prst="round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800" b="0" i="0" u="none" strike="noStrike" kern="1200" cap="none" spc="0" normalizeH="0" baseline="0" noProof="0" dirty="0">
                <a:ln>
                  <a:noFill/>
                </a:ln>
                <a:solidFill>
                  <a:srgbClr val="FFFFFF"/>
                </a:solidFill>
                <a:effectLst/>
                <a:uLnTx/>
                <a:uFillTx/>
                <a:latin typeface="Rix모던고딕 B"/>
                <a:ea typeface="Rix모던고딕 B"/>
                <a:cs typeface="+mn-cs"/>
              </a:rPr>
              <a:t>GE</a:t>
            </a:r>
            <a:endParaRPr kumimoji="0" lang="ko-KR" altLang="en-US" sz="180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78" name="Rectangle 24"/>
          <p:cNvSpPr>
            <a:spLocks noChangeArrowheads="1"/>
          </p:cNvSpPr>
          <p:nvPr/>
        </p:nvSpPr>
        <p:spPr bwMode="auto">
          <a:xfrm>
            <a:off x="4960095" y="5344691"/>
            <a:ext cx="1047757" cy="251520"/>
          </a:xfrm>
          <a:prstGeom prst="round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800" b="0" i="0" u="none" strike="noStrike" kern="1200" cap="none" spc="0" normalizeH="0" baseline="0" noProof="0" dirty="0">
                <a:ln>
                  <a:noFill/>
                </a:ln>
                <a:solidFill>
                  <a:srgbClr val="FFFFFF"/>
                </a:solidFill>
                <a:effectLst/>
                <a:uLnTx/>
                <a:uFillTx/>
                <a:latin typeface="Rix모던고딕 B"/>
                <a:ea typeface="Rix모던고딕 B"/>
                <a:cs typeface="+mn-cs"/>
              </a:rPr>
              <a:t>FR</a:t>
            </a:r>
            <a:endParaRPr kumimoji="0" lang="ko-KR" altLang="en-US" sz="180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cxnSp>
        <p:nvCxnSpPr>
          <p:cNvPr id="79" name="직선 화살표 연결선 78"/>
          <p:cNvCxnSpPr/>
          <p:nvPr/>
        </p:nvCxnSpPr>
        <p:spPr>
          <a:xfrm rot="5400000">
            <a:off x="6311108" y="2720290"/>
            <a:ext cx="820737" cy="2116"/>
          </a:xfrm>
          <a:prstGeom prst="straightConnector1">
            <a:avLst/>
          </a:prstGeom>
          <a:ln w="190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0" name="직선 화살표 연결선 79"/>
          <p:cNvCxnSpPr/>
          <p:nvPr/>
        </p:nvCxnSpPr>
        <p:spPr>
          <a:xfrm rot="5400000">
            <a:off x="6096795" y="4006165"/>
            <a:ext cx="1249363" cy="2116"/>
          </a:xfrm>
          <a:prstGeom prst="straightConnector1">
            <a:avLst/>
          </a:prstGeom>
          <a:ln w="190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1" name="직선 화살표 연결선 80"/>
          <p:cNvCxnSpPr/>
          <p:nvPr/>
        </p:nvCxnSpPr>
        <p:spPr>
          <a:xfrm rot="5400000">
            <a:off x="6489701" y="5113446"/>
            <a:ext cx="463550" cy="2116"/>
          </a:xfrm>
          <a:prstGeom prst="straightConnector1">
            <a:avLst/>
          </a:prstGeom>
          <a:ln w="190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2" name="꺾인 연결선 81"/>
          <p:cNvCxnSpPr/>
          <p:nvPr/>
        </p:nvCxnSpPr>
        <p:spPr>
          <a:xfrm rot="5400000">
            <a:off x="4859603" y="2767385"/>
            <a:ext cx="1249362" cy="2476500"/>
          </a:xfrm>
          <a:prstGeom prst="bentConnector3">
            <a:avLst>
              <a:gd name="adj1" fmla="val 50000"/>
            </a:avLst>
          </a:prstGeom>
          <a:ln w="190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꺾인 연결선 82"/>
          <p:cNvCxnSpPr/>
          <p:nvPr/>
        </p:nvCxnSpPr>
        <p:spPr>
          <a:xfrm rot="5400000">
            <a:off x="5478728" y="3386511"/>
            <a:ext cx="1249362" cy="1238249"/>
          </a:xfrm>
          <a:prstGeom prst="bentConnector3">
            <a:avLst>
              <a:gd name="adj1" fmla="val 50000"/>
            </a:avLst>
          </a:prstGeom>
          <a:ln w="190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4" name="꺾인 연결선 83"/>
          <p:cNvCxnSpPr/>
          <p:nvPr/>
        </p:nvCxnSpPr>
        <p:spPr>
          <a:xfrm rot="5400000">
            <a:off x="5871634" y="4493792"/>
            <a:ext cx="463550" cy="1238249"/>
          </a:xfrm>
          <a:prstGeom prst="bentConnector3">
            <a:avLst>
              <a:gd name="adj1" fmla="val 50000"/>
            </a:avLst>
          </a:prstGeom>
          <a:ln w="190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5" name="오른쪽 중괄호 84"/>
          <p:cNvSpPr/>
          <p:nvPr/>
        </p:nvSpPr>
        <p:spPr>
          <a:xfrm rot="10800000">
            <a:off x="5772151" y="2201441"/>
            <a:ext cx="447044" cy="1071563"/>
          </a:xfrm>
          <a:prstGeom prst="rightBrace">
            <a:avLst>
              <a:gd name="adj1" fmla="val 62165"/>
              <a:gd name="adj2" fmla="val 48815"/>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86" name="오른쪽 중괄호 85"/>
          <p:cNvSpPr/>
          <p:nvPr/>
        </p:nvSpPr>
        <p:spPr>
          <a:xfrm>
            <a:off x="7359651" y="3345581"/>
            <a:ext cx="463549" cy="1427609"/>
          </a:xfrm>
          <a:prstGeom prst="rightBrace">
            <a:avLst>
              <a:gd name="adj1" fmla="val 76451"/>
              <a:gd name="adj2" fmla="val 50352"/>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87" name="모서리가 둥근 직사각형 86"/>
          <p:cNvSpPr/>
          <p:nvPr/>
        </p:nvSpPr>
        <p:spPr bwMode="auto">
          <a:xfrm>
            <a:off x="8028418" y="3896246"/>
            <a:ext cx="2496277" cy="357187"/>
          </a:xfrm>
          <a:prstGeom prst="roundRect">
            <a:avLst/>
          </a:prstGeom>
          <a:solidFill>
            <a:schemeClr val="accent4"/>
          </a:solidFill>
          <a:ln>
            <a:noFill/>
            <a:headEnd type="none" w="med" len="med"/>
            <a:tailEnd type="triangle" w="med" len="med"/>
          </a:ln>
        </p:spPr>
        <p:style>
          <a:lnRef idx="3">
            <a:schemeClr val="lt1"/>
          </a:lnRef>
          <a:fillRef idx="1">
            <a:schemeClr val="accent4"/>
          </a:fillRef>
          <a:effectRef idx="1">
            <a:schemeClr val="accent4"/>
          </a:effectRef>
          <a:fontRef idx="minor">
            <a:schemeClr val="lt1"/>
          </a:fontRef>
        </p:style>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Rix모던고딕 B"/>
                <a:ea typeface="Rix모던고딕 B"/>
                <a:cs typeface="+mn-cs"/>
              </a:rPr>
              <a:t>국제단계기간</a:t>
            </a:r>
            <a:r>
              <a:rPr kumimoji="0" lang="en-US" altLang="ko-KR" sz="1400" b="0" i="0" u="none" strike="noStrike" kern="1200" cap="none" spc="0" normalizeH="0" baseline="0" noProof="0" dirty="0">
                <a:ln>
                  <a:noFill/>
                </a:ln>
                <a:solidFill>
                  <a:prstClr val="white"/>
                </a:solidFill>
                <a:effectLst/>
                <a:uLnTx/>
                <a:uFillTx/>
                <a:latin typeface="Rix모던고딕 B"/>
                <a:ea typeface="Rix모던고딕 B"/>
                <a:cs typeface="+mn-cs"/>
              </a:rPr>
              <a:t>(18/19</a:t>
            </a:r>
            <a:r>
              <a:rPr kumimoji="0" lang="ko-KR" altLang="en-US" sz="1400" b="0" i="0" u="none" strike="noStrike" kern="1200" cap="none" spc="0" normalizeH="0" baseline="0" noProof="0" dirty="0">
                <a:ln>
                  <a:noFill/>
                </a:ln>
                <a:solidFill>
                  <a:prstClr val="white"/>
                </a:solidFill>
                <a:effectLst/>
                <a:uLnTx/>
                <a:uFillTx/>
                <a:latin typeface="Rix모던고딕 B"/>
                <a:ea typeface="Rix모던고딕 B"/>
                <a:cs typeface="+mn-cs"/>
              </a:rPr>
              <a:t>월</a:t>
            </a:r>
            <a:r>
              <a:rPr kumimoji="0" lang="en-US" altLang="ko-KR" sz="1400" b="0" i="0" u="none" strike="noStrike" kern="1200" cap="none" spc="0" normalizeH="0" baseline="0" noProof="0" dirty="0">
                <a:ln>
                  <a:noFill/>
                </a:ln>
                <a:solidFill>
                  <a:prstClr val="white"/>
                </a:solidFill>
                <a:effectLst/>
                <a:uLnTx/>
                <a:uFillTx/>
                <a:latin typeface="Rix모던고딕 B"/>
                <a:ea typeface="Rix모던고딕 B"/>
                <a:cs typeface="+mn-cs"/>
              </a:rPr>
              <a:t>)</a:t>
            </a:r>
            <a:endParaRPr kumimoji="0" lang="ko-KR" altLang="en-US" sz="1400" b="0" i="0" u="none" strike="noStrike" kern="1200" cap="none" spc="0" normalizeH="0" baseline="0" noProof="0" dirty="0">
              <a:ln>
                <a:noFill/>
              </a:ln>
              <a:solidFill>
                <a:prstClr val="white"/>
              </a:solidFill>
              <a:effectLst/>
              <a:uLnTx/>
              <a:uFillTx/>
              <a:latin typeface="Rix모던고딕 B"/>
              <a:ea typeface="Rix모던고딕 B"/>
              <a:cs typeface="+mn-cs"/>
            </a:endParaRPr>
          </a:p>
        </p:txBody>
      </p:sp>
      <p:sp>
        <p:nvSpPr>
          <p:cNvPr id="88" name="모서리가 둥근 사각형 설명선 87"/>
          <p:cNvSpPr/>
          <p:nvPr/>
        </p:nvSpPr>
        <p:spPr bwMode="auto">
          <a:xfrm>
            <a:off x="8097507" y="2820418"/>
            <a:ext cx="2496277" cy="288032"/>
          </a:xfrm>
          <a:prstGeom prst="wedgeRoundRectCallout">
            <a:avLst>
              <a:gd name="adj1" fmla="val -80667"/>
              <a:gd name="adj2" fmla="val 78540"/>
              <a:gd name="adj3" fmla="val 16667"/>
            </a:avLst>
          </a:prstGeom>
          <a:solidFill>
            <a:schemeClr val="accent4"/>
          </a:solidFill>
          <a:ln>
            <a:headEnd type="none" w="med" len="med"/>
            <a:tailEnd type="none"/>
          </a:ln>
        </p:spPr>
        <p:style>
          <a:lnRef idx="1">
            <a:schemeClr val="accent4"/>
          </a:lnRef>
          <a:fillRef idx="3">
            <a:schemeClr val="accent4"/>
          </a:fillRef>
          <a:effectRef idx="2">
            <a:schemeClr val="accent4"/>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Rix모던고딕 B"/>
                <a:ea typeface="Rix모던고딕 B"/>
                <a:cs typeface="+mn-cs"/>
              </a:rPr>
              <a:t>자기지정</a:t>
            </a:r>
            <a:r>
              <a:rPr kumimoji="0" lang="en-US" altLang="ko-KR" sz="1400" b="0" i="0" u="none" strike="noStrike" kern="1200" cap="none" spc="0" normalizeH="0" baseline="0" noProof="0" dirty="0">
                <a:ln>
                  <a:noFill/>
                </a:ln>
                <a:solidFill>
                  <a:prstClr val="white"/>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prstClr val="white"/>
                </a:solidFill>
                <a:effectLst/>
                <a:uLnTx/>
                <a:uFillTx/>
                <a:latin typeface="Rix모던고딕 B"/>
                <a:ea typeface="Rix모던고딕 B"/>
                <a:cs typeface="+mn-cs"/>
              </a:rPr>
              <a:t>포함여부 결정</a:t>
            </a:r>
          </a:p>
        </p:txBody>
      </p:sp>
      <p:sp>
        <p:nvSpPr>
          <p:cNvPr id="89" name="TextBox 88"/>
          <p:cNvSpPr txBox="1"/>
          <p:nvPr/>
        </p:nvSpPr>
        <p:spPr>
          <a:xfrm>
            <a:off x="565863" y="6223693"/>
            <a:ext cx="9536585" cy="338554"/>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Rix모던고딕 B"/>
                <a:ea typeface="Rix모던고딕 B"/>
                <a:cs typeface="+mn-cs"/>
              </a:rPr>
              <a:t>자기지정</a:t>
            </a:r>
            <a:r>
              <a:rPr kumimoji="0" lang="en-US" altLang="ko-KR" sz="1600" b="0" i="0" u="none" strike="noStrike" kern="1200" cap="none" spc="0" normalizeH="0" baseline="0" noProof="0" dirty="0">
                <a:ln>
                  <a:noFill/>
                </a:ln>
                <a:solidFill>
                  <a:prstClr val="black"/>
                </a:solidFill>
                <a:effectLst/>
                <a:uLnTx/>
                <a:uFillTx/>
                <a:latin typeface="Rix모던고딕 B"/>
                <a:ea typeface="Rix모던고딕 B"/>
                <a:cs typeface="+mn-cs"/>
              </a:rPr>
              <a:t>: KR</a:t>
            </a:r>
            <a:r>
              <a:rPr kumimoji="0" lang="ko-KR" altLang="en-US" sz="1600" b="0" i="0" u="none" strike="noStrike" kern="1200" cap="none" spc="0" normalizeH="0" baseline="0" noProof="0" dirty="0">
                <a:ln>
                  <a:noFill/>
                </a:ln>
                <a:solidFill>
                  <a:prstClr val="black"/>
                </a:solidFill>
                <a:effectLst/>
                <a:uLnTx/>
                <a:uFillTx/>
                <a:latin typeface="Rix모던고딕 B"/>
                <a:ea typeface="Rix모던고딕 B"/>
                <a:cs typeface="+mn-cs"/>
              </a:rPr>
              <a:t>의 선출원을 기초로 우선권주장을 수반한 </a:t>
            </a:r>
            <a:r>
              <a:rPr kumimoji="0" lang="en-US" altLang="ko-KR" sz="1600" b="0" i="0" u="none" strike="noStrike" kern="1200" cap="none" spc="0" normalizeH="0" baseline="0" noProof="0" dirty="0">
                <a:ln>
                  <a:noFill/>
                </a:ln>
                <a:solidFill>
                  <a:prstClr val="black"/>
                </a:solidFill>
                <a:effectLst/>
                <a:uLnTx/>
                <a:uFillTx/>
                <a:latin typeface="Rix모던고딕 B"/>
                <a:ea typeface="Rix모던고딕 B"/>
                <a:cs typeface="+mn-cs"/>
              </a:rPr>
              <a:t>PCT </a:t>
            </a:r>
            <a:r>
              <a:rPr kumimoji="0" lang="ko-KR" altLang="en-US" sz="1600" b="0" i="0" u="none" strike="noStrike" kern="1200" cap="none" spc="0" normalizeH="0" baseline="0" noProof="0" dirty="0">
                <a:ln>
                  <a:noFill/>
                </a:ln>
                <a:solidFill>
                  <a:prstClr val="black"/>
                </a:solidFill>
                <a:effectLst/>
                <a:uLnTx/>
                <a:uFillTx/>
                <a:latin typeface="Rix모던고딕 B"/>
                <a:ea typeface="Rix모던고딕 B"/>
                <a:cs typeface="+mn-cs"/>
              </a:rPr>
              <a:t>출원을 하면서 </a:t>
            </a:r>
            <a:r>
              <a:rPr kumimoji="0" lang="en-US" altLang="ko-KR" sz="1600" b="0" i="0" u="none" strike="noStrike" kern="1200" cap="none" spc="0" normalizeH="0" baseline="0" noProof="0" dirty="0">
                <a:ln>
                  <a:noFill/>
                </a:ln>
                <a:solidFill>
                  <a:prstClr val="black"/>
                </a:solidFill>
                <a:effectLst/>
                <a:uLnTx/>
                <a:uFillTx/>
                <a:latin typeface="Rix모던고딕 B"/>
                <a:ea typeface="Rix모던고딕 B"/>
                <a:cs typeface="+mn-cs"/>
              </a:rPr>
              <a:t>KR</a:t>
            </a:r>
            <a:r>
              <a:rPr kumimoji="0" lang="ko-KR" altLang="en-US" sz="1600" b="0" i="0" u="none" strike="noStrike" kern="1200" cap="none" spc="0" normalizeH="0" baseline="0" noProof="0" dirty="0">
                <a:ln>
                  <a:noFill/>
                </a:ln>
                <a:solidFill>
                  <a:prstClr val="black"/>
                </a:solidFill>
                <a:effectLst/>
                <a:uLnTx/>
                <a:uFillTx/>
                <a:latin typeface="Rix모던고딕 B"/>
                <a:ea typeface="Rix모던고딕 B"/>
                <a:cs typeface="+mn-cs"/>
              </a:rPr>
              <a:t>을 지정국에 포함시키는 것을 말함</a:t>
            </a:r>
          </a:p>
        </p:txBody>
      </p:sp>
      <p:sp>
        <p:nvSpPr>
          <p:cNvPr id="71" name="Rectangle 24"/>
          <p:cNvSpPr>
            <a:spLocks noChangeArrowheads="1"/>
          </p:cNvSpPr>
          <p:nvPr/>
        </p:nvSpPr>
        <p:spPr bwMode="auto">
          <a:xfrm>
            <a:off x="6198354" y="2058543"/>
            <a:ext cx="1047757" cy="251520"/>
          </a:xfrm>
          <a:prstGeom prst="roundRect">
            <a:avLst/>
          </a:prstGeom>
          <a:solidFill>
            <a:schemeClr val="accent2"/>
          </a:solidFill>
          <a:ln>
            <a:solidFill>
              <a:schemeClr val="bg1">
                <a:lumMod val="50000"/>
              </a:schemeClr>
            </a:solidFill>
            <a:headEnd/>
            <a:tailEnd/>
          </a:ln>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800" b="0" i="0" u="none" strike="noStrike" kern="1200" cap="none" spc="0" normalizeH="0" baseline="0" noProof="0" dirty="0">
                <a:ln>
                  <a:noFill/>
                </a:ln>
                <a:solidFill>
                  <a:srgbClr val="FFFFFF"/>
                </a:solidFill>
                <a:effectLst/>
                <a:uLnTx/>
                <a:uFillTx/>
                <a:latin typeface="Rix모던고딕 B"/>
                <a:ea typeface="Rix모던고딕 B"/>
                <a:cs typeface="+mn-cs"/>
              </a:rPr>
              <a:t>KR</a:t>
            </a:r>
            <a:endParaRPr kumimoji="0" lang="ko-KR" altLang="en-US" sz="180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73" name="Rectangle 24"/>
          <p:cNvSpPr>
            <a:spLocks noChangeArrowheads="1"/>
          </p:cNvSpPr>
          <p:nvPr/>
        </p:nvSpPr>
        <p:spPr bwMode="auto">
          <a:xfrm>
            <a:off x="6198354" y="3130113"/>
            <a:ext cx="1047757" cy="251520"/>
          </a:xfrm>
          <a:prstGeom prst="roundRect">
            <a:avLst/>
          </a:prstGeom>
          <a:solidFill>
            <a:schemeClr val="accent1"/>
          </a:solidFill>
          <a:ln>
            <a:solidFill>
              <a:schemeClr val="bg1">
                <a:lumMod val="50000"/>
              </a:schemeClr>
            </a:solidFill>
            <a:headEnd/>
            <a:tailEnd/>
          </a:ln>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800" b="0" i="0" u="none" strike="noStrike" kern="1200" cap="none" spc="0" normalizeH="0" baseline="0" noProof="0" dirty="0">
                <a:ln>
                  <a:noFill/>
                </a:ln>
                <a:solidFill>
                  <a:srgbClr val="FFFFFF"/>
                </a:solidFill>
                <a:effectLst/>
                <a:uLnTx/>
                <a:uFillTx/>
                <a:latin typeface="Rix모던고딕 B"/>
                <a:ea typeface="Rix모던고딕 B"/>
                <a:cs typeface="+mn-cs"/>
              </a:rPr>
              <a:t>PCT</a:t>
            </a:r>
            <a:endParaRPr kumimoji="0" lang="ko-KR" altLang="en-US" sz="1800" b="0" i="0" u="none" strike="noStrike" kern="1200" cap="none" spc="0" normalizeH="0" baseline="0" noProof="0" dirty="0">
              <a:ln>
                <a:noFill/>
              </a:ln>
              <a:solidFill>
                <a:srgbClr val="FFFFFF"/>
              </a:solidFill>
              <a:effectLst/>
              <a:uLnTx/>
              <a:uFillTx/>
              <a:latin typeface="Rix모던고딕 B"/>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550</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945190610"/>
      </p:ext>
    </p:extLst>
  </p:cSld>
  <p:clrMapOvr>
    <a:masterClrMapping/>
  </p:clrMapOvr>
  <p:transition/>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자유형 12"/>
          <p:cNvSpPr/>
          <p:nvPr/>
        </p:nvSpPr>
        <p:spPr>
          <a:xfrm>
            <a:off x="2026763" y="4515439"/>
            <a:ext cx="7145517" cy="0"/>
          </a:xfrm>
          <a:custGeom>
            <a:avLst/>
            <a:gdLst>
              <a:gd name="connsiteX0" fmla="*/ 0 w 7145517"/>
              <a:gd name="connsiteY0" fmla="*/ 0 h 0"/>
              <a:gd name="connsiteX1" fmla="*/ 7145517 w 7145517"/>
              <a:gd name="connsiteY1" fmla="*/ 0 h 0"/>
            </a:gdLst>
            <a:ahLst/>
            <a:cxnLst>
              <a:cxn ang="0">
                <a:pos x="connsiteX0" y="connsiteY0"/>
              </a:cxn>
              <a:cxn ang="0">
                <a:pos x="connsiteX1" y="connsiteY1"/>
              </a:cxn>
            </a:cxnLst>
            <a:rect l="l" t="t" r="r" b="b"/>
            <a:pathLst>
              <a:path w="7145517">
                <a:moveTo>
                  <a:pt x="0" y="0"/>
                </a:moveTo>
                <a:lnTo>
                  <a:pt x="7145517" y="0"/>
                </a:lnTo>
              </a:path>
            </a:pathLst>
          </a:custGeom>
          <a:noFill/>
          <a:ln w="571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8" name="직선 화살표 연결선 7"/>
          <p:cNvCxnSpPr/>
          <p:nvPr/>
        </p:nvCxnSpPr>
        <p:spPr>
          <a:xfrm>
            <a:off x="944617" y="4537043"/>
            <a:ext cx="10160158" cy="0"/>
          </a:xfrm>
          <a:prstGeom prst="straightConnector1">
            <a:avLst/>
          </a:prstGeom>
          <a:ln w="28575">
            <a:solidFill>
              <a:schemeClr val="bg1">
                <a:lumMod val="50000"/>
              </a:schemeClr>
            </a:solidFill>
            <a:prstDash val="sysDot"/>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 name="Rectangle 14"/>
          <p:cNvSpPr>
            <a:spLocks noChangeArrowheads="1"/>
          </p:cNvSpPr>
          <p:nvPr/>
        </p:nvSpPr>
        <p:spPr bwMode="auto">
          <a:xfrm>
            <a:off x="1367957" y="4046754"/>
            <a:ext cx="1354688" cy="325438"/>
          </a:xfrm>
          <a:prstGeom prst="rect">
            <a:avLst/>
          </a:prstGeom>
          <a:no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rPr>
              <a:t>PCT </a:t>
            </a: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출원</a:t>
            </a:r>
          </a:p>
        </p:txBody>
      </p:sp>
      <p:sp>
        <p:nvSpPr>
          <p:cNvPr id="11" name="Rectangle 14"/>
          <p:cNvSpPr>
            <a:spLocks noChangeArrowheads="1"/>
          </p:cNvSpPr>
          <p:nvPr/>
        </p:nvSpPr>
        <p:spPr bwMode="auto">
          <a:xfrm>
            <a:off x="1452625" y="3350800"/>
            <a:ext cx="567217" cy="659156"/>
          </a:xfrm>
          <a:prstGeom prst="rect">
            <a:avLst/>
          </a:prstGeom>
          <a:noFill/>
          <a:ln w="9525" algn="ctr">
            <a:solidFill>
              <a:schemeClr val="bg1">
                <a:lumMod val="50000"/>
              </a:schemeClr>
            </a:solidFill>
            <a:miter lim="800000"/>
            <a:headEnd/>
            <a:tailEnd/>
          </a:ln>
        </p:spPr>
        <p:txBody>
          <a:bodyPr wrap="squar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하나</a:t>
            </a:r>
            <a:endPar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방식</a:t>
            </a:r>
          </a:p>
        </p:txBody>
      </p:sp>
      <p:sp>
        <p:nvSpPr>
          <p:cNvPr id="10" name="Rectangle 14"/>
          <p:cNvSpPr>
            <a:spLocks noChangeArrowheads="1"/>
          </p:cNvSpPr>
          <p:nvPr/>
        </p:nvSpPr>
        <p:spPr bwMode="auto">
          <a:xfrm flipV="1">
            <a:off x="1935174" y="4418779"/>
            <a:ext cx="193805" cy="201270"/>
          </a:xfrm>
          <a:prstGeom prst="ellipse">
            <a:avLst/>
          </a:prstGeom>
          <a:solidFill>
            <a:schemeClr val="tx2"/>
          </a:solidFill>
          <a:ln w="2857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12" name="Rectangle 14"/>
          <p:cNvSpPr>
            <a:spLocks noChangeArrowheads="1"/>
          </p:cNvSpPr>
          <p:nvPr/>
        </p:nvSpPr>
        <p:spPr bwMode="auto">
          <a:xfrm flipV="1">
            <a:off x="4031398" y="4418779"/>
            <a:ext cx="193805" cy="201270"/>
          </a:xfrm>
          <a:prstGeom prst="ellipse">
            <a:avLst/>
          </a:prstGeom>
          <a:solidFill>
            <a:schemeClr val="tx2"/>
          </a:solidFill>
          <a:ln w="2857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26" name="Rectangle 14"/>
          <p:cNvSpPr>
            <a:spLocks noChangeArrowheads="1"/>
          </p:cNvSpPr>
          <p:nvPr/>
        </p:nvSpPr>
        <p:spPr bwMode="auto">
          <a:xfrm flipV="1">
            <a:off x="5551948" y="4418779"/>
            <a:ext cx="193805" cy="201270"/>
          </a:xfrm>
          <a:prstGeom prst="ellipse">
            <a:avLst/>
          </a:prstGeom>
          <a:solidFill>
            <a:schemeClr val="tx2"/>
          </a:solidFill>
          <a:ln w="2857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28" name="Rectangle 14"/>
          <p:cNvSpPr>
            <a:spLocks noChangeArrowheads="1"/>
          </p:cNvSpPr>
          <p:nvPr/>
        </p:nvSpPr>
        <p:spPr bwMode="auto">
          <a:xfrm flipV="1">
            <a:off x="7075972" y="4418779"/>
            <a:ext cx="193805" cy="201270"/>
          </a:xfrm>
          <a:prstGeom prst="ellipse">
            <a:avLst/>
          </a:prstGeom>
          <a:solidFill>
            <a:schemeClr val="tx2"/>
          </a:solidFill>
          <a:ln w="2857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33" name="Rectangle 14"/>
          <p:cNvSpPr>
            <a:spLocks noChangeArrowheads="1"/>
          </p:cNvSpPr>
          <p:nvPr/>
        </p:nvSpPr>
        <p:spPr bwMode="auto">
          <a:xfrm>
            <a:off x="1387189" y="4754713"/>
            <a:ext cx="1354688" cy="468298"/>
          </a:xfrm>
          <a:prstGeom prst="rect">
            <a:avLst/>
          </a:prstGeom>
          <a:noFill/>
          <a:ln w="9525" algn="ctr">
            <a:noFill/>
            <a:miter lim="800000"/>
            <a:headEnd/>
            <a:tailEnd/>
          </a:ln>
        </p:spPr>
        <p:txBody>
          <a:bodyPr wrap="none" anchor="t"/>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국제출원</a:t>
            </a:r>
            <a:endPar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rPr>
              <a:t>(</a:t>
            </a: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국제사무국</a:t>
            </a:r>
            <a:r>
              <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rPr>
              <a:t>/</a:t>
            </a: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수리관청</a:t>
            </a:r>
            <a:r>
              <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rPr>
              <a:t>)</a:t>
            </a:r>
            <a:endPar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34" name="Rectangle 14"/>
          <p:cNvSpPr>
            <a:spLocks noChangeArrowheads="1"/>
          </p:cNvSpPr>
          <p:nvPr/>
        </p:nvSpPr>
        <p:spPr bwMode="auto">
          <a:xfrm flipV="1">
            <a:off x="9072743" y="4413592"/>
            <a:ext cx="193805" cy="201270"/>
          </a:xfrm>
          <a:prstGeom prst="ellipse">
            <a:avLst/>
          </a:prstGeom>
          <a:solidFill>
            <a:srgbClr val="FF0000"/>
          </a:solidFill>
          <a:ln w="2857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54" name="Rectangle 14"/>
          <p:cNvSpPr>
            <a:spLocks noChangeArrowheads="1"/>
          </p:cNvSpPr>
          <p:nvPr/>
        </p:nvSpPr>
        <p:spPr bwMode="auto">
          <a:xfrm>
            <a:off x="8029589" y="4539176"/>
            <a:ext cx="1354688" cy="325438"/>
          </a:xfrm>
          <a:prstGeom prst="rect">
            <a:avLst/>
          </a:prstGeom>
          <a:no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기준일</a:t>
            </a:r>
          </a:p>
        </p:txBody>
      </p:sp>
      <p:sp>
        <p:nvSpPr>
          <p:cNvPr id="55" name="TextBox 54"/>
          <p:cNvSpPr txBox="1"/>
          <p:nvPr/>
        </p:nvSpPr>
        <p:spPr>
          <a:xfrm>
            <a:off x="423113" y="6239868"/>
            <a:ext cx="4175782" cy="307777"/>
          </a:xfrm>
          <a:prstGeom prst="rect">
            <a:avLst/>
          </a:prstGeom>
          <a:solidFill>
            <a:schemeClr val="accent4">
              <a:lumMod val="20000"/>
              <a:lumOff val="80000"/>
            </a:schemeClr>
          </a:solidFill>
          <a:ln>
            <a:solidFill>
              <a:schemeClr val="bg1">
                <a:lumMod val="50000"/>
              </a:schemeClr>
            </a:solidFill>
            <a:prstDash val="sysDot"/>
          </a:ln>
        </p:spPr>
        <p:txBody>
          <a:bodyPr wrap="square" rtlCol="0">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대한민국 지식재산처가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수리관청인</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경우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192~198)</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4" name="꺾인 연결선 3"/>
          <p:cNvCxnSpPr>
            <a:stCxn id="34" idx="4"/>
          </p:cNvCxnSpPr>
          <p:nvPr/>
        </p:nvCxnSpPr>
        <p:spPr>
          <a:xfrm rot="5400000" flipH="1" flipV="1">
            <a:off x="9691028" y="3153598"/>
            <a:ext cx="738612" cy="1781376"/>
          </a:xfrm>
          <a:prstGeom prst="bentConnector2">
            <a:avLst/>
          </a:prstGeom>
          <a:ln w="57150">
            <a:solidFill>
              <a:schemeClr val="accent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34" idx="0"/>
          </p:cNvCxnSpPr>
          <p:nvPr/>
        </p:nvCxnSpPr>
        <p:spPr>
          <a:xfrm rot="16200000" flipH="1">
            <a:off x="9702184" y="4082323"/>
            <a:ext cx="716304" cy="1781381"/>
          </a:xfrm>
          <a:prstGeom prst="bentConnector2">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1" name="Rectangle 14"/>
          <p:cNvSpPr>
            <a:spLocks noChangeArrowheads="1"/>
          </p:cNvSpPr>
          <p:nvPr/>
        </p:nvSpPr>
        <p:spPr bwMode="auto">
          <a:xfrm>
            <a:off x="6532704" y="4754713"/>
            <a:ext cx="1354688" cy="468298"/>
          </a:xfrm>
          <a:prstGeom prst="rect">
            <a:avLst/>
          </a:prstGeom>
          <a:noFill/>
          <a:ln w="9525" algn="ctr">
            <a:noFill/>
            <a:miter lim="800000"/>
            <a:headEnd/>
            <a:tailEnd/>
          </a:ln>
        </p:spPr>
        <p:txBody>
          <a:bodyPr wrap="none" anchor="t"/>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국제예비심사</a:t>
            </a:r>
            <a:endPar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rPr>
              <a:t>(</a:t>
            </a: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국제예비심사기관</a:t>
            </a:r>
            <a:r>
              <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rPr>
              <a:t>)</a:t>
            </a:r>
            <a:endPar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42" name="Rectangle 14"/>
          <p:cNvSpPr>
            <a:spLocks noChangeArrowheads="1"/>
          </p:cNvSpPr>
          <p:nvPr/>
        </p:nvSpPr>
        <p:spPr bwMode="auto">
          <a:xfrm>
            <a:off x="5003964" y="4754713"/>
            <a:ext cx="1354688" cy="468298"/>
          </a:xfrm>
          <a:prstGeom prst="rect">
            <a:avLst/>
          </a:prstGeom>
          <a:noFill/>
          <a:ln w="9525" algn="ctr">
            <a:noFill/>
            <a:miter lim="800000"/>
            <a:headEnd/>
            <a:tailEnd/>
          </a:ln>
        </p:spPr>
        <p:txBody>
          <a:bodyPr wrap="none" anchor="t"/>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국제공개</a:t>
            </a:r>
            <a:endPar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rPr>
              <a:t>(</a:t>
            </a: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국제사무국</a:t>
            </a:r>
            <a:r>
              <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rPr>
              <a:t>)</a:t>
            </a:r>
            <a:endPar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43" name="Rectangle 14"/>
          <p:cNvSpPr>
            <a:spLocks noChangeArrowheads="1"/>
          </p:cNvSpPr>
          <p:nvPr/>
        </p:nvSpPr>
        <p:spPr bwMode="auto">
          <a:xfrm>
            <a:off x="3484657" y="4754713"/>
            <a:ext cx="1354688" cy="468298"/>
          </a:xfrm>
          <a:prstGeom prst="rect">
            <a:avLst/>
          </a:prstGeom>
          <a:noFill/>
          <a:ln w="9525" algn="ctr">
            <a:noFill/>
            <a:miter lim="800000"/>
            <a:headEnd/>
            <a:tailEnd/>
          </a:ln>
        </p:spPr>
        <p:txBody>
          <a:bodyPr wrap="none" anchor="t"/>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국제조사</a:t>
            </a:r>
            <a:endPar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rPr>
              <a:t>(</a:t>
            </a: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국제조사기관</a:t>
            </a:r>
            <a:r>
              <a:rPr kumimoji="0" lang="en-US" altLang="ko-KR" sz="1400" b="0" i="0" u="none" strike="noStrike" kern="1200" cap="none" spc="0" normalizeH="0" baseline="0" noProof="0" dirty="0">
                <a:ln>
                  <a:noFill/>
                </a:ln>
                <a:solidFill>
                  <a:prstClr val="black"/>
                </a:solidFill>
                <a:effectLst/>
                <a:uLnTx/>
                <a:uFillTx/>
                <a:latin typeface="Rix모던고딕 EB"/>
                <a:ea typeface="Rix모던고딕 EB"/>
                <a:cs typeface="+mn-cs"/>
              </a:rPr>
              <a:t>)</a:t>
            </a:r>
            <a:endPar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46" name="Rectangle 14"/>
          <p:cNvSpPr>
            <a:spLocks noChangeArrowheads="1"/>
          </p:cNvSpPr>
          <p:nvPr/>
        </p:nvSpPr>
        <p:spPr bwMode="auto">
          <a:xfrm>
            <a:off x="2047403" y="3348401"/>
            <a:ext cx="567217" cy="217670"/>
          </a:xfrm>
          <a:prstGeom prst="rect">
            <a:avLst/>
          </a:prstGeom>
          <a:solidFill>
            <a:schemeClr val="tx2"/>
          </a:solidFill>
          <a:ln w="9525" algn="ctr">
            <a:solidFill>
              <a:schemeClr val="bg1">
                <a:lumMod val="50000"/>
              </a:schemeClr>
            </a:solidFill>
            <a:miter lim="800000"/>
            <a:headEnd/>
            <a:tailEnd/>
          </a:ln>
        </p:spPr>
        <p:txBody>
          <a:bodyPr wrap="squar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Rix모던고딕 EB"/>
                <a:ea typeface="Rix모던고딕 EB"/>
                <a:cs typeface="+mn-cs"/>
              </a:rPr>
              <a:t>한국</a:t>
            </a:r>
          </a:p>
        </p:txBody>
      </p:sp>
      <p:sp>
        <p:nvSpPr>
          <p:cNvPr id="47" name="Rectangle 14"/>
          <p:cNvSpPr>
            <a:spLocks noChangeArrowheads="1"/>
          </p:cNvSpPr>
          <p:nvPr/>
        </p:nvSpPr>
        <p:spPr bwMode="auto">
          <a:xfrm>
            <a:off x="2047403" y="3567900"/>
            <a:ext cx="567217" cy="217670"/>
          </a:xfrm>
          <a:prstGeom prst="rect">
            <a:avLst/>
          </a:prstGeom>
          <a:noFill/>
          <a:ln w="9525" algn="ctr">
            <a:solidFill>
              <a:schemeClr val="bg1">
                <a:lumMod val="50000"/>
              </a:schemeClr>
            </a:solidFill>
            <a:miter lim="800000"/>
            <a:headEnd/>
            <a:tailEnd/>
          </a:ln>
        </p:spPr>
        <p:txBody>
          <a:bodyPr wrap="squar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Rix모던고딕 EB"/>
                <a:ea typeface="Rix모던고딕 EB"/>
                <a:cs typeface="+mn-cs"/>
              </a:rPr>
              <a:t>미국</a:t>
            </a:r>
            <a:endPar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49" name="Rectangle 14"/>
          <p:cNvSpPr>
            <a:spLocks noChangeArrowheads="1"/>
          </p:cNvSpPr>
          <p:nvPr/>
        </p:nvSpPr>
        <p:spPr bwMode="auto">
          <a:xfrm>
            <a:off x="2047403" y="3792285"/>
            <a:ext cx="567217" cy="217670"/>
          </a:xfrm>
          <a:prstGeom prst="rect">
            <a:avLst/>
          </a:prstGeom>
          <a:noFill/>
          <a:ln w="9525" algn="ctr">
            <a:solidFill>
              <a:schemeClr val="bg1">
                <a:lumMod val="50000"/>
              </a:schemeClr>
            </a:solidFill>
            <a:miter lim="800000"/>
            <a:headEnd/>
            <a:tailEnd/>
          </a:ln>
        </p:spPr>
        <p:txBody>
          <a:bodyPr wrap="squar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일본</a:t>
            </a:r>
          </a:p>
        </p:txBody>
      </p:sp>
      <p:sp>
        <p:nvSpPr>
          <p:cNvPr id="50" name="Rectangle 14"/>
          <p:cNvSpPr>
            <a:spLocks noChangeArrowheads="1"/>
          </p:cNvSpPr>
          <p:nvPr/>
        </p:nvSpPr>
        <p:spPr bwMode="auto">
          <a:xfrm>
            <a:off x="9405597" y="3385402"/>
            <a:ext cx="1354688" cy="325438"/>
          </a:xfrm>
          <a:prstGeom prst="rect">
            <a:avLst/>
          </a:prstGeom>
          <a:no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Rix모던고딕 EB"/>
                <a:ea typeface="Rix모던고딕 EB"/>
                <a:cs typeface="+mn-cs"/>
              </a:rPr>
              <a:t>한국의 국내단계</a:t>
            </a:r>
            <a:endPar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56" name="Rectangle 14"/>
          <p:cNvSpPr>
            <a:spLocks noChangeArrowheads="1"/>
          </p:cNvSpPr>
          <p:nvPr/>
        </p:nvSpPr>
        <p:spPr bwMode="auto">
          <a:xfrm>
            <a:off x="9405597" y="4210777"/>
            <a:ext cx="1354688" cy="325438"/>
          </a:xfrm>
          <a:prstGeom prst="rect">
            <a:avLst/>
          </a:prstGeom>
          <a:no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Rix모던고딕 EB"/>
                <a:ea typeface="Rix모던고딕 EB"/>
                <a:cs typeface="+mn-cs"/>
              </a:rPr>
              <a:t>미국의 국내단계</a:t>
            </a:r>
            <a:endPar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58" name="Rectangle 14"/>
          <p:cNvSpPr>
            <a:spLocks noChangeArrowheads="1"/>
          </p:cNvSpPr>
          <p:nvPr/>
        </p:nvSpPr>
        <p:spPr bwMode="auto">
          <a:xfrm>
            <a:off x="9405597" y="5041589"/>
            <a:ext cx="1354688" cy="325438"/>
          </a:xfrm>
          <a:prstGeom prst="rect">
            <a:avLst/>
          </a:prstGeom>
          <a:noFill/>
          <a:ln w="9525" algn="ctr">
            <a:no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EB"/>
                <a:ea typeface="Rix모던고딕 EB"/>
                <a:cs typeface="+mn-cs"/>
              </a:rPr>
              <a:t>일본의 국내단계</a:t>
            </a:r>
          </a:p>
        </p:txBody>
      </p:sp>
      <p:sp>
        <p:nvSpPr>
          <p:cNvPr id="60" name="TextBox 59"/>
          <p:cNvSpPr txBox="1"/>
          <p:nvPr/>
        </p:nvSpPr>
        <p:spPr>
          <a:xfrm>
            <a:off x="5093348" y="5929106"/>
            <a:ext cx="6011427" cy="307777"/>
          </a:xfrm>
          <a:prstGeom prst="rect">
            <a:avLst/>
          </a:prstGeom>
          <a:solidFill>
            <a:schemeClr val="accent4">
              <a:lumMod val="20000"/>
              <a:lumOff val="80000"/>
            </a:schemeClr>
          </a:solidFill>
          <a:ln>
            <a:solidFill>
              <a:schemeClr val="bg1">
                <a:lumMod val="50000"/>
              </a:schemeClr>
            </a:solidFill>
            <a:prstDash val="sysDot"/>
          </a:ln>
        </p:spPr>
        <p:txBody>
          <a:bodyPr wrap="square" rtlCol="0">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대한민국 지식재산처가 국제조사기관 또는 국제예비심사기관인 경우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198</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1" name="TextBox 60"/>
          <p:cNvSpPr txBox="1"/>
          <p:nvPr/>
        </p:nvSpPr>
        <p:spPr>
          <a:xfrm>
            <a:off x="5699106" y="2487438"/>
            <a:ext cx="3271171" cy="523220"/>
          </a:xfrm>
          <a:prstGeom prst="rect">
            <a:avLst/>
          </a:prstGeom>
          <a:solidFill>
            <a:schemeClr val="accent4">
              <a:lumMod val="20000"/>
              <a:lumOff val="80000"/>
            </a:schemeClr>
          </a:solidFill>
          <a:ln>
            <a:solidFill>
              <a:schemeClr val="bg1">
                <a:lumMod val="50000"/>
              </a:schemeClr>
            </a:solidFill>
            <a:prstDash val="sysDot"/>
          </a:ln>
        </p:spPr>
        <p:txBody>
          <a:bodyPr wrap="square" rtlCol="0">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국제특허출원이 국내단계에 진입한 경우</a:t>
            </a: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199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내지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214)</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0" name="꺾인 연결선 19"/>
          <p:cNvCxnSpPr>
            <a:cxnSpLocks/>
            <a:stCxn id="55" idx="0"/>
            <a:endCxn id="33" idx="2"/>
          </p:cNvCxnSpPr>
          <p:nvPr/>
        </p:nvCxnSpPr>
        <p:spPr>
          <a:xfrm rot="16200000" flipV="1">
            <a:off x="1779341" y="5508204"/>
            <a:ext cx="1016857" cy="446471"/>
          </a:xfrm>
          <a:prstGeom prst="bentConnector3">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7" name="꺾인 연결선 26"/>
          <p:cNvCxnSpPr>
            <a:cxnSpLocks/>
            <a:stCxn id="60" idx="0"/>
            <a:endCxn id="41" idx="2"/>
          </p:cNvCxnSpPr>
          <p:nvPr/>
        </p:nvCxnSpPr>
        <p:spPr>
          <a:xfrm rot="16200000" flipV="1">
            <a:off x="7301508" y="5131552"/>
            <a:ext cx="706095" cy="889014"/>
          </a:xfrm>
          <a:prstGeom prst="bentConnector3">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39" name="꺾인 연결선 38"/>
          <p:cNvCxnSpPr>
            <a:cxnSpLocks/>
            <a:stCxn id="60" idx="1"/>
            <a:endCxn id="43" idx="2"/>
          </p:cNvCxnSpPr>
          <p:nvPr/>
        </p:nvCxnSpPr>
        <p:spPr>
          <a:xfrm rot="10800000">
            <a:off x="4162002" y="5223011"/>
            <a:ext cx="931347" cy="859984"/>
          </a:xfrm>
          <a:prstGeom prst="bentConnector2">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2" name="꺾인 연결선 61"/>
          <p:cNvCxnSpPr>
            <a:stCxn id="61" idx="2"/>
            <a:endCxn id="50" idx="0"/>
          </p:cNvCxnSpPr>
          <p:nvPr/>
        </p:nvCxnSpPr>
        <p:spPr>
          <a:xfrm rot="16200000" flipH="1">
            <a:off x="8521444" y="1823905"/>
            <a:ext cx="374744" cy="2748249"/>
          </a:xfrm>
          <a:prstGeom prst="bentConnector3">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 name="제목 15"/>
          <p:cNvSpPr>
            <a:spLocks noGrp="1"/>
          </p:cNvSpPr>
          <p:nvPr>
            <p:ph type="title"/>
          </p:nvPr>
        </p:nvSpPr>
        <p:spPr/>
        <p:txBody>
          <a:bodyPr/>
          <a:lstStyle/>
          <a:p>
            <a:r>
              <a:rPr lang="ko-KR" altLang="en-US" dirty="0"/>
              <a:t>제</a:t>
            </a:r>
            <a:r>
              <a:rPr lang="en-US" altLang="ko-KR" dirty="0"/>
              <a:t>192</a:t>
            </a:r>
            <a:r>
              <a:rPr lang="ko-KR" altLang="en-US" dirty="0"/>
              <a:t>조</a:t>
            </a:r>
            <a:r>
              <a:rPr lang="en-US" altLang="ko-KR" dirty="0"/>
              <a:t>~</a:t>
            </a:r>
            <a:r>
              <a:rPr lang="ko-KR" altLang="en-US" dirty="0"/>
              <a:t>제</a:t>
            </a:r>
            <a:r>
              <a:rPr lang="en-US" altLang="ko-KR" dirty="0"/>
              <a:t>214</a:t>
            </a:r>
            <a:r>
              <a:rPr lang="ko-KR" altLang="en-US" dirty="0"/>
              <a:t>조</a:t>
            </a:r>
          </a:p>
        </p:txBody>
      </p:sp>
      <p:sp>
        <p:nvSpPr>
          <p:cNvPr id="17" name="텍스트 개체 틀 16"/>
          <p:cNvSpPr>
            <a:spLocks noGrp="1"/>
          </p:cNvSpPr>
          <p:nvPr>
            <p:ph type="body" sz="quarter" idx="13"/>
          </p:nvPr>
        </p:nvSpPr>
        <p:spPr/>
        <p:txBody>
          <a:bodyPr/>
          <a:lstStyle/>
          <a:p>
            <a:r>
              <a:rPr lang="ko-KR" altLang="en-US" dirty="0"/>
              <a:t>우리나라 특허법 규정에 반영된 </a:t>
            </a:r>
            <a:r>
              <a:rPr lang="en-US" altLang="ko-KR" dirty="0"/>
              <a:t>PCT</a:t>
            </a:r>
            <a:endParaRPr lang="ko-KR" altLang="en-US" dirty="0"/>
          </a:p>
        </p:txBody>
      </p:sp>
      <p:sp>
        <p:nvSpPr>
          <p:cNvPr id="21" name="모서리가 둥근 사각형 설명선 20"/>
          <p:cNvSpPr/>
          <p:nvPr/>
        </p:nvSpPr>
        <p:spPr>
          <a:xfrm>
            <a:off x="2959100" y="3123376"/>
            <a:ext cx="1266103" cy="262025"/>
          </a:xfrm>
          <a:prstGeom prst="wedgeRoundRectCallout">
            <a:avLst>
              <a:gd name="adj1" fmla="val -71117"/>
              <a:gd name="adj2" fmla="val 50431"/>
              <a:gd name="adj3" fmla="val 16667"/>
            </a:avLst>
          </a:prstGeom>
          <a:solidFill>
            <a:schemeClr val="tx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국제특허출원</a:t>
            </a:r>
          </a:p>
        </p:txBody>
      </p:sp>
      <p:sp>
        <p:nvSpPr>
          <p:cNvPr id="48" name="모서리가 둥근 사각형 설명선 47"/>
          <p:cNvSpPr/>
          <p:nvPr/>
        </p:nvSpPr>
        <p:spPr>
          <a:xfrm>
            <a:off x="2819548" y="4123166"/>
            <a:ext cx="1266103" cy="262025"/>
          </a:xfrm>
          <a:prstGeom prst="wedgeRoundRectCallout">
            <a:avLst>
              <a:gd name="adj1" fmla="val -80796"/>
              <a:gd name="adj2" fmla="val -32316"/>
              <a:gd name="adj3" fmla="val 16667"/>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국제출원</a:t>
            </a:r>
          </a:p>
        </p:txBody>
      </p:sp>
      <p:cxnSp>
        <p:nvCxnSpPr>
          <p:cNvPr id="51" name="직선 연결선 50"/>
          <p:cNvCxnSpPr/>
          <p:nvPr/>
        </p:nvCxnSpPr>
        <p:spPr>
          <a:xfrm>
            <a:off x="77875" y="1929262"/>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77875" y="976902"/>
            <a:ext cx="11936323" cy="954107"/>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우리나라 특허법상 특허협력조약에 의한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국제출원은</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ⅰ)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국제출원절차</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法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192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내지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198</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의</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와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ⅱ)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국제특허출원에 관한 특례</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法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199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내지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214)</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로 구분되어 있다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여기서 국제출원절차</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法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192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내지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198)</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는 어느 나라를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지정국으로</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했는지 여부와 관계없이 우리나라를 수리관청으로 하여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국제출원할</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때 적용되는 규정이고</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국제특허출원에 관한 특례</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法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199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내지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214)</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는 어느 나라를 수리관청으로 했는지 여부와 관계없이 우리나라를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지정국으로</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한 국제출원</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이를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국제특허출원”이라</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국내단계로</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진입시</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적용되는 규정이다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한편</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198</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조의</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는 우리나라가 국제조사 및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국제예비심사기관인</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경우에 적용되는 규정이다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551</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997254551"/>
      </p:ext>
    </p:extLst>
  </p:cSld>
  <p:clrMapOvr>
    <a:masterClrMapping/>
  </p:clrMapOvr>
  <p:transition/>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참고노트</a:t>
            </a:r>
          </a:p>
        </p:txBody>
      </p:sp>
      <p:sp>
        <p:nvSpPr>
          <p:cNvPr id="3" name="텍스트 개체 틀 2"/>
          <p:cNvSpPr>
            <a:spLocks noGrp="1"/>
          </p:cNvSpPr>
          <p:nvPr>
            <p:ph type="body" sz="quarter" idx="13"/>
          </p:nvPr>
        </p:nvSpPr>
        <p:spPr/>
        <p:txBody>
          <a:bodyPr/>
          <a:lstStyle/>
          <a:p>
            <a:r>
              <a:rPr lang="ko-KR" altLang="en-US" dirty="0"/>
              <a:t>특허와 관련된 조약</a:t>
            </a:r>
            <a:r>
              <a:rPr lang="en-US" altLang="ko-KR" dirty="0"/>
              <a:t>: </a:t>
            </a:r>
            <a:r>
              <a:rPr lang="ko-KR" altLang="en-US" dirty="0"/>
              <a:t>발명의 국제적 보호 </a:t>
            </a:r>
            <a:r>
              <a:rPr lang="en-US" altLang="ko-KR" dirty="0"/>
              <a:t>vs </a:t>
            </a:r>
            <a:r>
              <a:rPr lang="ko-KR" altLang="en-US" dirty="0"/>
              <a:t>지배수단</a:t>
            </a:r>
          </a:p>
        </p:txBody>
      </p:sp>
      <p:grpSp>
        <p:nvGrpSpPr>
          <p:cNvPr id="26" name="그룹 25"/>
          <p:cNvGrpSpPr/>
          <p:nvPr/>
        </p:nvGrpSpPr>
        <p:grpSpPr>
          <a:xfrm>
            <a:off x="823235" y="1006129"/>
            <a:ext cx="10318898" cy="5688632"/>
            <a:chOff x="823235" y="1006129"/>
            <a:chExt cx="8280920" cy="5688632"/>
          </a:xfrm>
        </p:grpSpPr>
        <p:cxnSp>
          <p:nvCxnSpPr>
            <p:cNvPr id="19" name="직선 화살표 연결선 18"/>
            <p:cNvCxnSpPr/>
            <p:nvPr/>
          </p:nvCxnSpPr>
          <p:spPr>
            <a:xfrm>
              <a:off x="1039259" y="1290934"/>
              <a:ext cx="0" cy="3352416"/>
            </a:xfrm>
            <a:prstGeom prst="straightConnector1">
              <a:avLst/>
            </a:prstGeom>
            <a:ln w="5715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 name="직사각형 3"/>
            <p:cNvSpPr/>
            <p:nvPr/>
          </p:nvSpPr>
          <p:spPr>
            <a:xfrm>
              <a:off x="823235" y="1006129"/>
              <a:ext cx="1152128" cy="37853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파리조약</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(1883)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 name="직사각형 4"/>
            <p:cNvSpPr/>
            <p:nvPr/>
          </p:nvSpPr>
          <p:spPr>
            <a:xfrm>
              <a:off x="2047371" y="1006129"/>
              <a:ext cx="7056784" cy="626571"/>
            </a:xfrm>
            <a:prstGeom prst="rect">
              <a:avLst/>
            </a:prstGeom>
            <a:solidFill>
              <a:schemeClr val="bg1">
                <a:lumMod val="95000"/>
              </a:schemeClr>
            </a:solidFill>
            <a:ln w="1270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산업재산권의 국제적 보호를 위한 조약</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특색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동맹조약</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다자간 조약</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기본조약의 존속</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동맹국이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개정조약을</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비준하지 아니한 경우</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적용범위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지역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동맹국보다 넓게 적용</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대상</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저작권을 제외하고 광범위하게 인정</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시기</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무제한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탈퇴가능</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대 원칙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내외국인 평등의 원칙</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조약우선권의 원칙</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특허독립의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원칙</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속지주의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 name="직사각형 5"/>
            <p:cNvSpPr/>
            <p:nvPr/>
          </p:nvSpPr>
          <p:spPr>
            <a:xfrm>
              <a:off x="1550437" y="1689661"/>
              <a:ext cx="1577054" cy="37853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err="1">
                  <a:ln>
                    <a:noFill/>
                  </a:ln>
                  <a:solidFill>
                    <a:prstClr val="black"/>
                  </a:solidFill>
                  <a:effectLst/>
                  <a:uLnTx/>
                  <a:uFillTx/>
                  <a:latin typeface="Frutiger LT 65 Bold"/>
                  <a:ea typeface="Rix모던고딕 B"/>
                  <a:cs typeface="+mn-cs"/>
                </a:rPr>
                <a:t>스트라스부르그</a:t>
              </a: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 협정</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(1971)</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 name="직사각형 6"/>
            <p:cNvSpPr/>
            <p:nvPr/>
          </p:nvSpPr>
          <p:spPr>
            <a:xfrm>
              <a:off x="3199499" y="1689661"/>
              <a:ext cx="5904656" cy="509614"/>
            </a:xfrm>
            <a:prstGeom prst="rect">
              <a:avLst/>
            </a:prstGeom>
            <a:solidFill>
              <a:schemeClr val="bg1">
                <a:lumMod val="95000"/>
              </a:schemeClr>
            </a:solidFill>
            <a:ln w="1270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특허나 실용신안에 대하여 통일된 국제특허분류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(IPC)</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라는 분류체계를 사용하여 산업재산권분야에서 국제적 협력 확인</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국제특허분류는 관리적 성격만을 가지며 회원국들은 분류를 주요 또는 보조 분류로 사용할 권한을 가짐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 name="직사각형 7"/>
            <p:cNvSpPr/>
            <p:nvPr/>
          </p:nvSpPr>
          <p:spPr>
            <a:xfrm>
              <a:off x="1550437" y="2259543"/>
              <a:ext cx="1577054" cy="37853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rPr>
                <a:t>부다페스트 조약</a:t>
              </a:r>
              <a:endPar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(1977)</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 name="직사각형 8"/>
            <p:cNvSpPr/>
            <p:nvPr/>
          </p:nvSpPr>
          <p:spPr>
            <a:xfrm>
              <a:off x="3199499" y="2259543"/>
              <a:ext cx="5904656" cy="484168"/>
            </a:xfrm>
            <a:prstGeom prst="rect">
              <a:avLst/>
            </a:prstGeom>
            <a:solidFill>
              <a:schemeClr val="bg1">
                <a:lumMod val="95000"/>
              </a:schemeClr>
            </a:solidFill>
            <a:ln w="1270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미생물의 국제기탁기관의 승인에 관한 조약</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조약이 정한 국제기탁기관이 해당 회원국의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영토내에</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있거나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없거나에</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관계없이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회에 기탁기관에의 기탁을 상호 승인하여야 함</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 name="직사각형 9"/>
            <p:cNvSpPr/>
            <p:nvPr/>
          </p:nvSpPr>
          <p:spPr>
            <a:xfrm>
              <a:off x="1550437" y="2805359"/>
              <a:ext cx="1577054" cy="37853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PCT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(1978)</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 name="직사각형 10"/>
            <p:cNvSpPr/>
            <p:nvPr/>
          </p:nvSpPr>
          <p:spPr>
            <a:xfrm>
              <a:off x="3199499" y="2805359"/>
              <a:ext cx="5904656" cy="678846"/>
            </a:xfrm>
            <a:prstGeom prst="rect">
              <a:avLst/>
            </a:prstGeom>
            <a:solidFill>
              <a:schemeClr val="bg1">
                <a:lumMod val="95000"/>
              </a:schemeClr>
            </a:solidFill>
            <a:ln w="1270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국제출원에 대한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방식요건의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통일화를 위한 조약</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국제출원단계에서 국제조사</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국제공개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&amp;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국제예비심사단계를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통일화함</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어떠한 규정도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파리조약의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당사국 국민 또는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재내자의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파리조약상의 권리를 축소하지 아니함</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PLT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와의 정합성을 위한 활발한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개혁논의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진행중</a:t>
              </a:r>
            </a:p>
          </p:txBody>
        </p:sp>
        <p:sp>
          <p:nvSpPr>
            <p:cNvPr id="12" name="직사각형 11"/>
            <p:cNvSpPr/>
            <p:nvPr/>
          </p:nvSpPr>
          <p:spPr>
            <a:xfrm>
              <a:off x="1550437" y="3543662"/>
              <a:ext cx="1577054" cy="37853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PHT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(1985)</a:t>
              </a:r>
              <a:endParaRPr kumimoji="0" lang="ko-KR" altLang="en-US" sz="11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 name="직사각형 12"/>
            <p:cNvSpPr/>
            <p:nvPr/>
          </p:nvSpPr>
          <p:spPr>
            <a:xfrm>
              <a:off x="4135603" y="3543662"/>
              <a:ext cx="4968552" cy="387676"/>
            </a:xfrm>
            <a:prstGeom prst="rect">
              <a:avLst/>
            </a:prstGeom>
            <a:solidFill>
              <a:schemeClr val="bg1">
                <a:lumMod val="95000"/>
              </a:schemeClr>
            </a:solidFill>
            <a:ln w="1270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국내단계의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실체법 통일화 조약</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각국의 이해관계가 첨예하게 대립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논의중</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4" name="직사각형 13"/>
            <p:cNvSpPr/>
            <p:nvPr/>
          </p:nvSpPr>
          <p:spPr>
            <a:xfrm>
              <a:off x="3350637" y="3543662"/>
              <a:ext cx="712958" cy="37853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srgbClr val="44546A">
                      <a:lumMod val="50000"/>
                    </a:srgbClr>
                  </a:solidFill>
                  <a:effectLst/>
                  <a:uLnTx/>
                  <a:uFillTx/>
                  <a:latin typeface="Frutiger LT 65 Bold"/>
                  <a:ea typeface="Rix모던고딕 B"/>
                  <a:cs typeface="+mn-cs"/>
                </a:rPr>
                <a:t>SPLT</a:t>
              </a:r>
              <a:endParaRPr kumimoji="0" lang="ko-KR" altLang="en-US" sz="1100" b="0" i="0" u="none" strike="noStrike" kern="1200" cap="none" spc="0" normalizeH="0" baseline="0" noProof="0" dirty="0">
                <a:ln>
                  <a:noFill/>
                </a:ln>
                <a:solidFill>
                  <a:srgbClr val="44546A">
                    <a:lumMod val="50000"/>
                  </a:srgbClr>
                </a:solidFill>
                <a:effectLst/>
                <a:uLnTx/>
                <a:uFillTx/>
                <a:latin typeface="Frutiger LT 65 Bold"/>
                <a:ea typeface="Rix모던고딕 B"/>
                <a:cs typeface="+mn-cs"/>
              </a:endParaRPr>
            </a:p>
          </p:txBody>
        </p:sp>
        <p:sp>
          <p:nvSpPr>
            <p:cNvPr id="15" name="직사각형 14"/>
            <p:cNvSpPr/>
            <p:nvPr/>
          </p:nvSpPr>
          <p:spPr>
            <a:xfrm>
              <a:off x="3350637" y="4033693"/>
              <a:ext cx="712958" cy="35273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PLT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(2000)</a:t>
              </a:r>
              <a:endParaRPr kumimoji="0" lang="ko-KR" altLang="en-US" sz="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6" name="직사각형 15"/>
            <p:cNvSpPr/>
            <p:nvPr/>
          </p:nvSpPr>
          <p:spPr>
            <a:xfrm>
              <a:off x="4135603" y="4033693"/>
              <a:ext cx="4968552" cy="374604"/>
            </a:xfrm>
            <a:prstGeom prst="rect">
              <a:avLst/>
            </a:prstGeom>
            <a:solidFill>
              <a:schemeClr val="bg1">
                <a:lumMod val="95000"/>
              </a:schemeClr>
            </a:solidFill>
            <a:ln w="1270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국내단계의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절차법 통일화 조약</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전문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27</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개의 조문이 채택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우리나라는 비준을 함</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단 아직 가입하지 아니함</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7" name="직사각형 16"/>
            <p:cNvSpPr/>
            <p:nvPr/>
          </p:nvSpPr>
          <p:spPr>
            <a:xfrm>
              <a:off x="823235" y="4643350"/>
              <a:ext cx="1152128" cy="37853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100" b="0" i="0" u="none" strike="noStrike" kern="1200" cap="none" spc="0" normalizeH="0" baseline="0" noProof="0" dirty="0">
                  <a:ln>
                    <a:noFill/>
                  </a:ln>
                  <a:solidFill>
                    <a:prstClr val="black"/>
                  </a:solidFill>
                  <a:effectLst/>
                  <a:uLnTx/>
                  <a:uFillTx/>
                  <a:latin typeface="Frutiger LT 65 Bold"/>
                  <a:ea typeface="Rix모던고딕 B"/>
                  <a:cs typeface="+mn-cs"/>
                </a:rPr>
                <a:t>WTO/TRIPs</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800" b="0" i="0" u="none" strike="noStrike" kern="1200" cap="none" spc="0" normalizeH="0" baseline="0" noProof="0" dirty="0">
                  <a:ln>
                    <a:noFill/>
                  </a:ln>
                  <a:solidFill>
                    <a:prstClr val="black"/>
                  </a:solidFill>
                  <a:effectLst/>
                  <a:uLnTx/>
                  <a:uFillTx/>
                  <a:latin typeface="Frutiger LT 65 Bold"/>
                  <a:ea typeface="Rix모던고딕 B"/>
                  <a:cs typeface="+mn-cs"/>
                </a:rPr>
                <a:t>(1993)</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8" name="직사각형 17"/>
            <p:cNvSpPr/>
            <p:nvPr/>
          </p:nvSpPr>
          <p:spPr>
            <a:xfrm>
              <a:off x="2047371" y="4643350"/>
              <a:ext cx="7056784" cy="2051411"/>
            </a:xfrm>
            <a:prstGeom prst="rect">
              <a:avLst/>
            </a:prstGeom>
            <a:solidFill>
              <a:schemeClr val="bg1">
                <a:lumMod val="95000"/>
              </a:schemeClr>
            </a:solidFill>
            <a:ln w="12700">
              <a:solidFill>
                <a:schemeClr val="bg1">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파리조약의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문제점 해결</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지식재산권 침해의 직접적인 구제방법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국제사법재판소가 있으나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강제관할권</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분쟁해결수단 없음</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분쟁해결방안 마련</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다수결의 원칙에 의하여 선진국의 입장 관철의 어려움 → </a:t>
              </a:r>
              <a:r>
                <a:rPr kumimoji="0" lang="en-US" altLang="ko-KR" sz="1000" b="1" i="0" u="none" strike="noStrike" kern="1200" cap="none" spc="0" normalizeH="0" baseline="0" noProof="0" dirty="0">
                  <a:ln>
                    <a:noFill/>
                  </a:ln>
                  <a:solidFill>
                    <a:srgbClr val="FF0000"/>
                  </a:solidFill>
                  <a:effectLst/>
                  <a:uLnTx/>
                  <a:uFillTx/>
                  <a:latin typeface="Frutiger LT 65 Bold"/>
                  <a:ea typeface="Rix모던고딕 B"/>
                  <a:cs typeface="+mn-cs"/>
                </a:rPr>
                <a:t>Consensus</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 도입</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합의가 있을 때까지 계속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약소국의 각개격파</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3.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신기술</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반도체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배치설계</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컴퓨터 프로그램</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보호 미흡 → 보호대상에 포함시킴</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4.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기타</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강제실시권</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엄격하게 적용</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충분한 보상 신설</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개량특허침해의 특별규정 둠</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경쟁촉진규정 둠</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특허권의 최소보호기간 신설</a:t>
              </a:r>
            </a:p>
            <a:p>
              <a:pPr marL="171450" marR="0" lvl="0" indent="-171450" algn="l" defTabSz="914400" rtl="0" eaLnBrk="1" fontAlgn="auto" latinLnBrk="1" hangingPunct="1">
                <a:lnSpc>
                  <a:spcPct val="100000"/>
                </a:lnSpc>
                <a:spcBef>
                  <a:spcPts val="0"/>
                </a:spcBef>
                <a:spcAft>
                  <a:spcPts val="0"/>
                </a:spcAft>
                <a:buClrTx/>
                <a:buSzTx/>
                <a:buFont typeface="Wingdings" panose="05000000000000000000" pitchFamily="2" charset="2"/>
                <a:buChar char="§"/>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기본원칙</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1.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최소보호의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원칙</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국제협정 플러스 방식</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최저보호수준을 정해 개도국의 수준향상</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내국민대우의 원칙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자국민보다 불리한 대우 금지</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파리조약보다 완화</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3.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최혜국대우의 원칙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조약을 체결한 나라 중 가장 유리한 취급</a:t>
              </a:r>
            </a:p>
            <a:p>
              <a:pPr marL="214313" marR="0" lvl="0" indent="-214313" algn="l"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4.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권리소진의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원칙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진정상품병행수입의 경우 국가별로 이해관계를 달리하고 있어 명시적으로 규정을 두지 아니함</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0" name="꺾인 연결선 19"/>
            <p:cNvCxnSpPr>
              <a:cxnSpLocks/>
              <a:stCxn id="4" idx="2"/>
              <a:endCxn id="6" idx="1"/>
            </p:cNvCxnSpPr>
            <p:nvPr/>
          </p:nvCxnSpPr>
          <p:spPr>
            <a:xfrm rot="16200000" flipH="1">
              <a:off x="1227736" y="1556226"/>
              <a:ext cx="494265" cy="151137"/>
            </a:xfrm>
            <a:prstGeom prst="bentConnector2">
              <a:avLst/>
            </a:prstGeom>
            <a:ln w="12700">
              <a:solidFill>
                <a:srgbClr val="00206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cxnSpLocks/>
              <a:stCxn id="4" idx="2"/>
              <a:endCxn id="8" idx="1"/>
            </p:cNvCxnSpPr>
            <p:nvPr/>
          </p:nvCxnSpPr>
          <p:spPr>
            <a:xfrm rot="16200000" flipH="1">
              <a:off x="942795" y="1841167"/>
              <a:ext cx="1064147" cy="151137"/>
            </a:xfrm>
            <a:prstGeom prst="bentConnector2">
              <a:avLst/>
            </a:prstGeom>
            <a:ln w="12700">
              <a:solidFill>
                <a:srgbClr val="00206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꺾인 연결선 21"/>
            <p:cNvCxnSpPr>
              <a:cxnSpLocks/>
              <a:stCxn id="4" idx="2"/>
              <a:endCxn id="10" idx="1"/>
            </p:cNvCxnSpPr>
            <p:nvPr/>
          </p:nvCxnSpPr>
          <p:spPr>
            <a:xfrm rot="16200000" flipH="1">
              <a:off x="669887" y="2114075"/>
              <a:ext cx="1609963" cy="151137"/>
            </a:xfrm>
            <a:prstGeom prst="bentConnector2">
              <a:avLst/>
            </a:prstGeom>
            <a:ln w="12700">
              <a:solidFill>
                <a:srgbClr val="00206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cxnSpLocks/>
              <a:stCxn id="4" idx="2"/>
              <a:endCxn id="12" idx="1"/>
            </p:cNvCxnSpPr>
            <p:nvPr/>
          </p:nvCxnSpPr>
          <p:spPr>
            <a:xfrm rot="16200000" flipH="1">
              <a:off x="300735" y="2483227"/>
              <a:ext cx="2348266" cy="151137"/>
            </a:xfrm>
            <a:prstGeom prst="bentConnector2">
              <a:avLst/>
            </a:prstGeom>
            <a:ln w="12700">
              <a:solidFill>
                <a:srgbClr val="00206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꺾인 연결선 23"/>
            <p:cNvCxnSpPr>
              <a:cxnSpLocks/>
              <a:stCxn id="12" idx="3"/>
              <a:endCxn id="15" idx="1"/>
            </p:cNvCxnSpPr>
            <p:nvPr/>
          </p:nvCxnSpPr>
          <p:spPr>
            <a:xfrm>
              <a:off x="3127491" y="3732929"/>
              <a:ext cx="223146" cy="477133"/>
            </a:xfrm>
            <a:prstGeom prst="bentConnector3">
              <a:avLst/>
            </a:prstGeom>
            <a:ln w="12700">
              <a:solidFill>
                <a:srgbClr val="00206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cxnSpLocks/>
              <a:stCxn id="12" idx="3"/>
              <a:endCxn id="14" idx="1"/>
            </p:cNvCxnSpPr>
            <p:nvPr/>
          </p:nvCxnSpPr>
          <p:spPr>
            <a:xfrm>
              <a:off x="3127491" y="3732929"/>
              <a:ext cx="223146" cy="12700"/>
            </a:xfrm>
            <a:prstGeom prst="bentConnector3">
              <a:avLst/>
            </a:prstGeom>
            <a:ln w="12700">
              <a:solidFill>
                <a:srgbClr val="00206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7" name="슬라이드 번호 개체 틀 26"/>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552</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408915991"/>
      </p:ext>
    </p:extLst>
  </p:cSld>
  <p:clrMapOvr>
    <a:masterClrMapping/>
  </p:clrMapOvr>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제목 15"/>
          <p:cNvSpPr>
            <a:spLocks noGrp="1"/>
          </p:cNvSpPr>
          <p:nvPr>
            <p:ph type="title"/>
          </p:nvPr>
        </p:nvSpPr>
        <p:spPr/>
        <p:txBody>
          <a:bodyPr/>
          <a:lstStyle/>
          <a:p>
            <a:r>
              <a:rPr lang="ko-KR" altLang="en-US" dirty="0"/>
              <a:t>제</a:t>
            </a:r>
            <a:r>
              <a:rPr lang="en-US" altLang="ko-KR" dirty="0"/>
              <a:t>192</a:t>
            </a:r>
            <a:r>
              <a:rPr lang="ko-KR" altLang="en-US" dirty="0"/>
              <a:t>조</a:t>
            </a:r>
            <a:r>
              <a:rPr lang="en-US" altLang="ko-KR" dirty="0"/>
              <a:t>~</a:t>
            </a:r>
            <a:r>
              <a:rPr lang="ko-KR" altLang="en-US" dirty="0"/>
              <a:t>제</a:t>
            </a:r>
            <a:r>
              <a:rPr lang="en-US" altLang="ko-KR" dirty="0"/>
              <a:t>214</a:t>
            </a:r>
            <a:r>
              <a:rPr lang="ko-KR" altLang="en-US" dirty="0"/>
              <a:t>조</a:t>
            </a:r>
          </a:p>
        </p:txBody>
      </p:sp>
      <p:sp>
        <p:nvSpPr>
          <p:cNvPr id="17" name="텍스트 개체 틀 16"/>
          <p:cNvSpPr>
            <a:spLocks noGrp="1"/>
          </p:cNvSpPr>
          <p:nvPr>
            <p:ph type="body" sz="quarter" idx="13"/>
          </p:nvPr>
        </p:nvSpPr>
        <p:spPr/>
        <p:txBody>
          <a:bodyPr/>
          <a:lstStyle/>
          <a:p>
            <a:r>
              <a:rPr lang="en-US" altLang="ko-KR" dirty="0"/>
              <a:t>PCT </a:t>
            </a:r>
            <a:r>
              <a:rPr lang="ko-KR" altLang="en-US" dirty="0"/>
              <a:t>출원의 개략적인 절차</a:t>
            </a:r>
          </a:p>
        </p:txBody>
      </p:sp>
      <p:sp>
        <p:nvSpPr>
          <p:cNvPr id="40" name="타원 39"/>
          <p:cNvSpPr/>
          <p:nvPr/>
        </p:nvSpPr>
        <p:spPr>
          <a:xfrm>
            <a:off x="10081983" y="2966140"/>
            <a:ext cx="142479" cy="10273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4" name="Rectangle 24"/>
          <p:cNvSpPr>
            <a:spLocks noChangeArrowheads="1"/>
          </p:cNvSpPr>
          <p:nvPr/>
        </p:nvSpPr>
        <p:spPr bwMode="auto">
          <a:xfrm>
            <a:off x="3262240" y="1438683"/>
            <a:ext cx="2065675" cy="241815"/>
          </a:xfrm>
          <a:prstGeom prst="roundRect">
            <a:avLst>
              <a:gd name="adj" fmla="val 50000"/>
            </a:avLst>
          </a:prstGeom>
          <a:solidFill>
            <a:schemeClr val="tx2">
              <a:lumMod val="75000"/>
            </a:schemeClr>
          </a:solidFill>
          <a:ln>
            <a:solidFill>
              <a:schemeClr val="tx2">
                <a:lumMod val="50000"/>
              </a:schemeClr>
            </a:solidFill>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출원인</a:t>
            </a:r>
          </a:p>
        </p:txBody>
      </p:sp>
      <p:sp>
        <p:nvSpPr>
          <p:cNvPr id="45" name="Rectangle 24"/>
          <p:cNvSpPr>
            <a:spLocks noChangeArrowheads="1"/>
          </p:cNvSpPr>
          <p:nvPr/>
        </p:nvSpPr>
        <p:spPr bwMode="auto">
          <a:xfrm>
            <a:off x="3262240" y="1891378"/>
            <a:ext cx="2065675" cy="241815"/>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PCT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국제출원</a:t>
            </a:r>
          </a:p>
        </p:txBody>
      </p:sp>
      <p:sp>
        <p:nvSpPr>
          <p:cNvPr id="53" name="Rectangle 24"/>
          <p:cNvSpPr>
            <a:spLocks noChangeArrowheads="1"/>
          </p:cNvSpPr>
          <p:nvPr/>
        </p:nvSpPr>
        <p:spPr bwMode="auto">
          <a:xfrm>
            <a:off x="3262240" y="2338665"/>
            <a:ext cx="2065675" cy="241815"/>
          </a:xfrm>
          <a:prstGeom prst="roundRect">
            <a:avLst>
              <a:gd name="adj" fmla="val 50000"/>
            </a:avLst>
          </a:prstGeom>
          <a:solidFill>
            <a:schemeClr val="accent4"/>
          </a:solidFill>
          <a:ln>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1" i="0" u="none" strike="noStrike" kern="1200" cap="none" spc="0" normalizeH="0" baseline="0" noProof="0" dirty="0">
                <a:ln>
                  <a:noFill/>
                </a:ln>
                <a:solidFill>
                  <a:prstClr val="black"/>
                </a:solidFill>
                <a:effectLst/>
                <a:uLnTx/>
                <a:uFillTx/>
                <a:latin typeface="Rix모던고딕 B"/>
                <a:ea typeface="Rix모던고딕 B"/>
                <a:cs typeface="+mn-cs"/>
              </a:rPr>
              <a:t>수리관청</a:t>
            </a:r>
            <a:r>
              <a:rPr kumimoji="0" lang="en-US" altLang="ko-KR" sz="1200" b="1"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1" i="0" u="none" strike="noStrike" kern="1200" cap="none" spc="0" normalizeH="0" baseline="0" noProof="0" dirty="0">
                <a:ln>
                  <a:noFill/>
                </a:ln>
                <a:solidFill>
                  <a:prstClr val="black"/>
                </a:solidFill>
                <a:effectLst/>
                <a:uLnTx/>
                <a:uFillTx/>
                <a:latin typeface="Rix모던고딕 B"/>
                <a:ea typeface="Rix모던고딕 B"/>
                <a:cs typeface="+mn-cs"/>
              </a:rPr>
              <a:t>국제사무국</a:t>
            </a:r>
          </a:p>
        </p:txBody>
      </p:sp>
      <p:sp>
        <p:nvSpPr>
          <p:cNvPr id="57" name="Rectangle 24"/>
          <p:cNvSpPr>
            <a:spLocks noChangeArrowheads="1"/>
          </p:cNvSpPr>
          <p:nvPr/>
        </p:nvSpPr>
        <p:spPr bwMode="auto">
          <a:xfrm>
            <a:off x="1511260" y="2823271"/>
            <a:ext cx="2065675" cy="241815"/>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조사용사본</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송부</a:t>
            </a:r>
          </a:p>
        </p:txBody>
      </p:sp>
      <p:sp>
        <p:nvSpPr>
          <p:cNvPr id="59" name="Rectangle 24"/>
          <p:cNvSpPr>
            <a:spLocks noChangeArrowheads="1"/>
          </p:cNvSpPr>
          <p:nvPr/>
        </p:nvSpPr>
        <p:spPr bwMode="auto">
          <a:xfrm>
            <a:off x="4847862" y="2823271"/>
            <a:ext cx="2065675" cy="241815"/>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기록원부 송부</a:t>
            </a:r>
          </a:p>
        </p:txBody>
      </p:sp>
      <p:sp>
        <p:nvSpPr>
          <p:cNvPr id="63" name="Rectangle 24"/>
          <p:cNvSpPr>
            <a:spLocks noChangeArrowheads="1"/>
          </p:cNvSpPr>
          <p:nvPr/>
        </p:nvSpPr>
        <p:spPr bwMode="auto">
          <a:xfrm>
            <a:off x="1509640" y="3272726"/>
            <a:ext cx="2065675" cy="241815"/>
          </a:xfrm>
          <a:prstGeom prst="roundRect">
            <a:avLst>
              <a:gd name="adj" fmla="val 50000"/>
            </a:avLst>
          </a:prstGeom>
          <a:solidFill>
            <a:schemeClr val="accent4"/>
          </a:solidFill>
          <a:ln>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1" i="0" u="none" strike="noStrike" kern="1200" cap="none" spc="0" normalizeH="0" baseline="0" noProof="0" dirty="0">
                <a:ln>
                  <a:noFill/>
                </a:ln>
                <a:solidFill>
                  <a:prstClr val="black"/>
                </a:solidFill>
                <a:effectLst/>
                <a:uLnTx/>
                <a:uFillTx/>
                <a:latin typeface="Rix모던고딕 B"/>
                <a:ea typeface="Rix모던고딕 B"/>
                <a:cs typeface="+mn-cs"/>
              </a:rPr>
              <a:t>국제조사기관</a:t>
            </a:r>
          </a:p>
        </p:txBody>
      </p:sp>
      <p:sp>
        <p:nvSpPr>
          <p:cNvPr id="64" name="Rectangle 24"/>
          <p:cNvSpPr>
            <a:spLocks noChangeArrowheads="1"/>
          </p:cNvSpPr>
          <p:nvPr/>
        </p:nvSpPr>
        <p:spPr bwMode="auto">
          <a:xfrm>
            <a:off x="4860562" y="3272726"/>
            <a:ext cx="2065675" cy="241815"/>
          </a:xfrm>
          <a:prstGeom prst="roundRect">
            <a:avLst>
              <a:gd name="adj" fmla="val 50000"/>
            </a:avLst>
          </a:prstGeom>
          <a:solidFill>
            <a:schemeClr val="accent4"/>
          </a:solidFill>
          <a:ln>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1" i="0" u="none" strike="noStrike" kern="1200" cap="none" spc="0" normalizeH="0" baseline="0" noProof="0" dirty="0">
                <a:ln>
                  <a:noFill/>
                </a:ln>
                <a:solidFill>
                  <a:prstClr val="black"/>
                </a:solidFill>
                <a:effectLst/>
                <a:uLnTx/>
                <a:uFillTx/>
                <a:latin typeface="Rix모던고딕 B"/>
                <a:ea typeface="Rix모던고딕 B"/>
                <a:cs typeface="+mn-cs"/>
              </a:rPr>
              <a:t>국제사무국</a:t>
            </a:r>
          </a:p>
        </p:txBody>
      </p:sp>
      <p:sp>
        <p:nvSpPr>
          <p:cNvPr id="65" name="Rectangle 24"/>
          <p:cNvSpPr>
            <a:spLocks noChangeArrowheads="1"/>
          </p:cNvSpPr>
          <p:nvPr/>
        </p:nvSpPr>
        <p:spPr bwMode="auto">
          <a:xfrm>
            <a:off x="1511259" y="3792483"/>
            <a:ext cx="3240591" cy="241815"/>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선행기술조사 및 </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특허성</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유무 판단</a:t>
            </a:r>
          </a:p>
        </p:txBody>
      </p:sp>
      <p:sp>
        <p:nvSpPr>
          <p:cNvPr id="66" name="Rectangle 24"/>
          <p:cNvSpPr>
            <a:spLocks noChangeArrowheads="1"/>
          </p:cNvSpPr>
          <p:nvPr/>
        </p:nvSpPr>
        <p:spPr bwMode="auto">
          <a:xfrm>
            <a:off x="1511259" y="4312192"/>
            <a:ext cx="3240591" cy="241815"/>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국제조사보고서 및 견해서의 작성</a:t>
            </a:r>
          </a:p>
        </p:txBody>
      </p:sp>
      <p:sp>
        <p:nvSpPr>
          <p:cNvPr id="67" name="Rectangle 24"/>
          <p:cNvSpPr>
            <a:spLocks noChangeArrowheads="1"/>
          </p:cNvSpPr>
          <p:nvPr/>
        </p:nvSpPr>
        <p:spPr bwMode="auto">
          <a:xfrm>
            <a:off x="4847862" y="4692466"/>
            <a:ext cx="2065675" cy="241815"/>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국제공개</a:t>
            </a:r>
          </a:p>
        </p:txBody>
      </p:sp>
      <p:sp>
        <p:nvSpPr>
          <p:cNvPr id="68" name="Rectangle 24"/>
          <p:cNvSpPr>
            <a:spLocks noChangeArrowheads="1"/>
          </p:cNvSpPr>
          <p:nvPr/>
        </p:nvSpPr>
        <p:spPr bwMode="auto">
          <a:xfrm>
            <a:off x="3791744" y="5113709"/>
            <a:ext cx="3121792" cy="241815"/>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국제출원</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국제조사보고서 송달</a:t>
            </a:r>
          </a:p>
        </p:txBody>
      </p:sp>
      <p:sp>
        <p:nvSpPr>
          <p:cNvPr id="69" name="Rectangle 24"/>
          <p:cNvSpPr>
            <a:spLocks noChangeArrowheads="1"/>
          </p:cNvSpPr>
          <p:nvPr/>
        </p:nvSpPr>
        <p:spPr bwMode="auto">
          <a:xfrm>
            <a:off x="8158784" y="2823271"/>
            <a:ext cx="2065675" cy="241815"/>
          </a:xfrm>
          <a:prstGeom prst="roundRect">
            <a:avLst>
              <a:gd name="adj" fmla="val 50000"/>
            </a:avLst>
          </a:prstGeom>
          <a:solidFill>
            <a:schemeClr val="tx2">
              <a:lumMod val="75000"/>
            </a:schemeClr>
          </a:solidFill>
          <a:ln>
            <a:solidFill>
              <a:schemeClr val="tx2">
                <a:lumMod val="50000"/>
              </a:schemeClr>
            </a:solidFill>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출원인</a:t>
            </a:r>
          </a:p>
        </p:txBody>
      </p:sp>
      <p:sp>
        <p:nvSpPr>
          <p:cNvPr id="70" name="Rectangle 24"/>
          <p:cNvSpPr>
            <a:spLocks noChangeArrowheads="1"/>
          </p:cNvSpPr>
          <p:nvPr/>
        </p:nvSpPr>
        <p:spPr bwMode="auto">
          <a:xfrm>
            <a:off x="8158784" y="3377107"/>
            <a:ext cx="2065675" cy="241815"/>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국졔예비심사청구</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71" name="Rectangle 24"/>
          <p:cNvSpPr>
            <a:spLocks noChangeArrowheads="1"/>
          </p:cNvSpPr>
          <p:nvPr/>
        </p:nvSpPr>
        <p:spPr bwMode="auto">
          <a:xfrm>
            <a:off x="8158784" y="3896816"/>
            <a:ext cx="2065675" cy="241815"/>
          </a:xfrm>
          <a:prstGeom prst="roundRect">
            <a:avLst>
              <a:gd name="adj" fmla="val 50000"/>
            </a:avLst>
          </a:prstGeom>
          <a:solidFill>
            <a:schemeClr val="accent4"/>
          </a:solidFill>
          <a:ln>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1" i="0" u="none" strike="noStrike" kern="1200" cap="none" spc="0" normalizeH="0" baseline="0" noProof="0" dirty="0">
                <a:ln>
                  <a:noFill/>
                </a:ln>
                <a:solidFill>
                  <a:prstClr val="black"/>
                </a:solidFill>
                <a:effectLst/>
                <a:uLnTx/>
                <a:uFillTx/>
                <a:latin typeface="Rix모던고딕 B"/>
                <a:ea typeface="Rix모던고딕 B"/>
                <a:cs typeface="+mn-cs"/>
              </a:rPr>
              <a:t>국제예비심사기관</a:t>
            </a:r>
          </a:p>
        </p:txBody>
      </p:sp>
      <p:sp>
        <p:nvSpPr>
          <p:cNvPr id="72" name="Rectangle 24"/>
          <p:cNvSpPr>
            <a:spLocks noChangeArrowheads="1"/>
          </p:cNvSpPr>
          <p:nvPr/>
        </p:nvSpPr>
        <p:spPr bwMode="auto">
          <a:xfrm>
            <a:off x="8158784" y="4381422"/>
            <a:ext cx="2065675" cy="241815"/>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특허성</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 유무 판단</a:t>
            </a:r>
          </a:p>
        </p:txBody>
      </p:sp>
      <p:sp>
        <p:nvSpPr>
          <p:cNvPr id="73" name="Rectangle 24"/>
          <p:cNvSpPr>
            <a:spLocks noChangeArrowheads="1"/>
          </p:cNvSpPr>
          <p:nvPr/>
        </p:nvSpPr>
        <p:spPr bwMode="auto">
          <a:xfrm>
            <a:off x="8158784" y="4866028"/>
            <a:ext cx="2065675" cy="241815"/>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견해서의 작성</a:t>
            </a:r>
          </a:p>
        </p:txBody>
      </p:sp>
      <p:sp>
        <p:nvSpPr>
          <p:cNvPr id="74" name="Rectangle 24"/>
          <p:cNvSpPr>
            <a:spLocks noChangeArrowheads="1"/>
          </p:cNvSpPr>
          <p:nvPr/>
        </p:nvSpPr>
        <p:spPr bwMode="auto">
          <a:xfrm>
            <a:off x="8158784" y="5355524"/>
            <a:ext cx="2065675" cy="241815"/>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국제예비심사보고서 작성</a:t>
            </a:r>
          </a:p>
        </p:txBody>
      </p:sp>
      <p:cxnSp>
        <p:nvCxnSpPr>
          <p:cNvPr id="75" name="직선 화살표 연결선 74"/>
          <p:cNvCxnSpPr>
            <a:stCxn id="44" idx="2"/>
            <a:endCxn id="45" idx="0"/>
          </p:cNvCxnSpPr>
          <p:nvPr/>
        </p:nvCxnSpPr>
        <p:spPr>
          <a:xfrm>
            <a:off x="4295078" y="1680497"/>
            <a:ext cx="0" cy="21088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6" name="직선 화살표 연결선 75"/>
          <p:cNvCxnSpPr>
            <a:stCxn id="57" idx="2"/>
            <a:endCxn id="63" idx="0"/>
          </p:cNvCxnSpPr>
          <p:nvPr/>
        </p:nvCxnSpPr>
        <p:spPr>
          <a:xfrm flipH="1">
            <a:off x="2542478" y="3065086"/>
            <a:ext cx="1620" cy="20764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7" name="꺾인 연결선 76"/>
          <p:cNvCxnSpPr>
            <a:stCxn id="53" idx="2"/>
            <a:endCxn id="57" idx="0"/>
          </p:cNvCxnSpPr>
          <p:nvPr/>
        </p:nvCxnSpPr>
        <p:spPr>
          <a:xfrm rot="5400000">
            <a:off x="3298193" y="1826386"/>
            <a:ext cx="242791" cy="1750980"/>
          </a:xfrm>
          <a:prstGeom prst="bentConnector3">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8" name="꺾인 연결선 77"/>
          <p:cNvCxnSpPr>
            <a:stCxn id="53" idx="2"/>
            <a:endCxn id="59" idx="0"/>
          </p:cNvCxnSpPr>
          <p:nvPr/>
        </p:nvCxnSpPr>
        <p:spPr>
          <a:xfrm rot="16200000" flipH="1">
            <a:off x="4966492" y="1909065"/>
            <a:ext cx="242791" cy="1585621"/>
          </a:xfrm>
          <a:prstGeom prst="bentConnector3">
            <a:avLst>
              <a:gd name="adj1" fmla="val 50000"/>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9" name="직선 화살표 연결선 78"/>
          <p:cNvCxnSpPr/>
          <p:nvPr/>
        </p:nvCxnSpPr>
        <p:spPr>
          <a:xfrm flipH="1">
            <a:off x="2542478" y="3515566"/>
            <a:ext cx="1620" cy="276918"/>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0" name="직선 화살표 연결선 79"/>
          <p:cNvCxnSpPr>
            <a:stCxn id="45" idx="2"/>
            <a:endCxn id="53" idx="0"/>
          </p:cNvCxnSpPr>
          <p:nvPr/>
        </p:nvCxnSpPr>
        <p:spPr>
          <a:xfrm>
            <a:off x="4295078" y="2133193"/>
            <a:ext cx="0" cy="205472"/>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1" name="직선 화살표 연결선 80"/>
          <p:cNvCxnSpPr/>
          <p:nvPr/>
        </p:nvCxnSpPr>
        <p:spPr>
          <a:xfrm flipH="1">
            <a:off x="2542478" y="4027644"/>
            <a:ext cx="1620" cy="276918"/>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2" name="직선 화살표 연결선 81"/>
          <p:cNvCxnSpPr>
            <a:stCxn id="59" idx="2"/>
            <a:endCxn id="64" idx="0"/>
          </p:cNvCxnSpPr>
          <p:nvPr/>
        </p:nvCxnSpPr>
        <p:spPr>
          <a:xfrm>
            <a:off x="5880699" y="3065086"/>
            <a:ext cx="12700" cy="20764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3" name="직선 화살표 연결선 82"/>
          <p:cNvCxnSpPr>
            <a:stCxn id="64" idx="2"/>
            <a:endCxn id="67" idx="0"/>
          </p:cNvCxnSpPr>
          <p:nvPr/>
        </p:nvCxnSpPr>
        <p:spPr>
          <a:xfrm flipH="1">
            <a:off x="5880699" y="3514541"/>
            <a:ext cx="12700" cy="1177925"/>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4" name="직선 화살표 연결선 83"/>
          <p:cNvCxnSpPr>
            <a:stCxn id="66" idx="3"/>
          </p:cNvCxnSpPr>
          <p:nvPr/>
        </p:nvCxnSpPr>
        <p:spPr>
          <a:xfrm>
            <a:off x="4751850" y="4433100"/>
            <a:ext cx="1128849" cy="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직선 화살표 연결선 84"/>
          <p:cNvCxnSpPr/>
          <p:nvPr/>
        </p:nvCxnSpPr>
        <p:spPr>
          <a:xfrm flipH="1">
            <a:off x="5891464" y="4934280"/>
            <a:ext cx="1936" cy="179429"/>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6" name="직선 화살표 연결선 85"/>
          <p:cNvCxnSpPr>
            <a:endCxn id="100" idx="0"/>
          </p:cNvCxnSpPr>
          <p:nvPr/>
        </p:nvCxnSpPr>
        <p:spPr>
          <a:xfrm>
            <a:off x="5880699" y="5355524"/>
            <a:ext cx="0" cy="343929"/>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7" name="직선 화살표 연결선 86"/>
          <p:cNvCxnSpPr>
            <a:endCxn id="101" idx="0"/>
          </p:cNvCxnSpPr>
          <p:nvPr/>
        </p:nvCxnSpPr>
        <p:spPr>
          <a:xfrm>
            <a:off x="5880699" y="5941267"/>
            <a:ext cx="0" cy="205017"/>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직선 화살표 연결선 87"/>
          <p:cNvCxnSpPr>
            <a:stCxn id="69" idx="2"/>
            <a:endCxn id="70" idx="0"/>
          </p:cNvCxnSpPr>
          <p:nvPr/>
        </p:nvCxnSpPr>
        <p:spPr>
          <a:xfrm>
            <a:off x="9191621" y="3065086"/>
            <a:ext cx="0" cy="31202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직선 화살표 연결선 88"/>
          <p:cNvCxnSpPr>
            <a:stCxn id="70" idx="2"/>
            <a:endCxn id="71" idx="0"/>
          </p:cNvCxnSpPr>
          <p:nvPr/>
        </p:nvCxnSpPr>
        <p:spPr>
          <a:xfrm>
            <a:off x="9191621" y="3618921"/>
            <a:ext cx="0" cy="277895"/>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0" name="직선 화살표 연결선 89"/>
          <p:cNvCxnSpPr>
            <a:stCxn id="71" idx="2"/>
            <a:endCxn id="72" idx="0"/>
          </p:cNvCxnSpPr>
          <p:nvPr/>
        </p:nvCxnSpPr>
        <p:spPr>
          <a:xfrm>
            <a:off x="9191621" y="4138630"/>
            <a:ext cx="0" cy="24279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1" name="직선 화살표 연결선 90"/>
          <p:cNvCxnSpPr>
            <a:stCxn id="72" idx="2"/>
            <a:endCxn id="73" idx="0"/>
          </p:cNvCxnSpPr>
          <p:nvPr/>
        </p:nvCxnSpPr>
        <p:spPr>
          <a:xfrm>
            <a:off x="9191621" y="4623236"/>
            <a:ext cx="0" cy="24279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2" name="직선 화살표 연결선 91"/>
          <p:cNvCxnSpPr>
            <a:stCxn id="73" idx="2"/>
            <a:endCxn id="74" idx="0"/>
          </p:cNvCxnSpPr>
          <p:nvPr/>
        </p:nvCxnSpPr>
        <p:spPr>
          <a:xfrm>
            <a:off x="9191621" y="5107842"/>
            <a:ext cx="0" cy="24768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꺾인 연결선 92"/>
          <p:cNvCxnSpPr>
            <a:stCxn id="66" idx="1"/>
          </p:cNvCxnSpPr>
          <p:nvPr/>
        </p:nvCxnSpPr>
        <p:spPr>
          <a:xfrm rot="10800000" flipH="1">
            <a:off x="1511258" y="1613008"/>
            <a:ext cx="1704884" cy="2820092"/>
          </a:xfrm>
          <a:prstGeom prst="bentConnector4">
            <a:avLst>
              <a:gd name="adj1" fmla="val -17878"/>
              <a:gd name="adj2" fmla="val 99878"/>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꺾인 연결선 93"/>
          <p:cNvCxnSpPr>
            <a:stCxn id="44" idx="1"/>
            <a:endCxn id="100" idx="1"/>
          </p:cNvCxnSpPr>
          <p:nvPr/>
        </p:nvCxnSpPr>
        <p:spPr>
          <a:xfrm rot="10800000" flipH="1" flipV="1">
            <a:off x="3262240" y="1559589"/>
            <a:ext cx="482944" cy="4260770"/>
          </a:xfrm>
          <a:prstGeom prst="bentConnector3">
            <a:avLst>
              <a:gd name="adj1" fmla="val -468087"/>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직선 화살표 연결선 94"/>
          <p:cNvCxnSpPr>
            <a:stCxn id="74" idx="1"/>
          </p:cNvCxnSpPr>
          <p:nvPr/>
        </p:nvCxnSpPr>
        <p:spPr>
          <a:xfrm flipH="1">
            <a:off x="5880699" y="5476431"/>
            <a:ext cx="2278085" cy="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꺾인 연결선 95"/>
          <p:cNvCxnSpPr>
            <a:stCxn id="74" idx="3"/>
            <a:endCxn id="40" idx="6"/>
          </p:cNvCxnSpPr>
          <p:nvPr/>
        </p:nvCxnSpPr>
        <p:spPr>
          <a:xfrm flipV="1">
            <a:off x="10224459" y="3017508"/>
            <a:ext cx="3" cy="2458922"/>
          </a:xfrm>
          <a:prstGeom prst="bentConnector3">
            <a:avLst>
              <a:gd name="adj1" fmla="val 11430100000"/>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꺾인 연결선 96"/>
          <p:cNvCxnSpPr>
            <a:stCxn id="69" idx="3"/>
            <a:endCxn id="100" idx="3"/>
          </p:cNvCxnSpPr>
          <p:nvPr/>
        </p:nvCxnSpPr>
        <p:spPr>
          <a:xfrm flipH="1">
            <a:off x="8016213" y="2944179"/>
            <a:ext cx="2208245" cy="2876182"/>
          </a:xfrm>
          <a:prstGeom prst="bentConnector3">
            <a:avLst>
              <a:gd name="adj1" fmla="val -47735"/>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8" name="모서리가 둥근 직사각형 97"/>
          <p:cNvSpPr/>
          <p:nvPr/>
        </p:nvSpPr>
        <p:spPr>
          <a:xfrm>
            <a:off x="719403" y="1230994"/>
            <a:ext cx="6432714" cy="5261437"/>
          </a:xfrm>
          <a:prstGeom prst="roundRect">
            <a:avLst>
              <a:gd name="adj" fmla="val 6796"/>
            </a:avLst>
          </a:prstGeom>
          <a:no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99" name="모서리가 둥근 직사각형 98"/>
          <p:cNvSpPr/>
          <p:nvPr/>
        </p:nvSpPr>
        <p:spPr>
          <a:xfrm>
            <a:off x="7344139" y="1230994"/>
            <a:ext cx="4224469" cy="5261437"/>
          </a:xfrm>
          <a:prstGeom prst="roundRect">
            <a:avLst>
              <a:gd name="adj" fmla="val 6796"/>
            </a:avLst>
          </a:prstGeom>
          <a:no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0" name="Rectangle 24"/>
          <p:cNvSpPr>
            <a:spLocks noChangeArrowheads="1"/>
          </p:cNvSpPr>
          <p:nvPr/>
        </p:nvSpPr>
        <p:spPr bwMode="auto">
          <a:xfrm>
            <a:off x="3745184" y="5699453"/>
            <a:ext cx="4271029" cy="241815"/>
          </a:xfrm>
          <a:prstGeom prst="roundRect">
            <a:avLst>
              <a:gd name="adj" fmla="val 50000"/>
            </a:avLst>
          </a:prstGeom>
          <a:solidFill>
            <a:schemeClr val="accent3">
              <a:lumMod val="50000"/>
            </a:schemeClr>
          </a:solidFill>
          <a:ln>
            <a:solidFill>
              <a:schemeClr val="accent3">
                <a:lumMod val="50000"/>
              </a:schemeClr>
            </a:solidFill>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지정</a:t>
            </a:r>
            <a:r>
              <a:rPr kumimoji="0" lang="en-US" altLang="ko-KR" sz="1200" b="0" i="0" u="none" strike="noStrike" kern="1200" cap="none" spc="0" normalizeH="0" baseline="0" noProof="0" dirty="0">
                <a:ln>
                  <a:noFill/>
                </a:ln>
                <a:solidFill>
                  <a:prstClr val="white"/>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선택관청</a:t>
            </a:r>
          </a:p>
        </p:txBody>
      </p:sp>
      <p:sp>
        <p:nvSpPr>
          <p:cNvPr id="101" name="Rectangle 24"/>
          <p:cNvSpPr>
            <a:spLocks noChangeArrowheads="1"/>
          </p:cNvSpPr>
          <p:nvPr/>
        </p:nvSpPr>
        <p:spPr bwMode="auto">
          <a:xfrm>
            <a:off x="3745184" y="6146284"/>
            <a:ext cx="4271029" cy="241815"/>
          </a:xfrm>
          <a:prstGeom prst="rect">
            <a:avLst/>
          </a:prstGeom>
          <a:solidFill>
            <a:schemeClr val="accent3">
              <a:lumMod val="20000"/>
              <a:lumOff val="80000"/>
            </a:schemeClr>
          </a:solid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각국 지식재산처의 국내법에 의하여 개별심사</a:t>
            </a:r>
          </a:p>
        </p:txBody>
      </p:sp>
      <p:sp>
        <p:nvSpPr>
          <p:cNvPr id="102" name="Rectangle 24"/>
          <p:cNvSpPr>
            <a:spLocks noChangeArrowheads="1"/>
          </p:cNvSpPr>
          <p:nvPr/>
        </p:nvSpPr>
        <p:spPr bwMode="auto">
          <a:xfrm>
            <a:off x="1065879" y="1110087"/>
            <a:ext cx="2065675" cy="241815"/>
          </a:xfrm>
          <a:prstGeom prst="rect">
            <a:avLst/>
          </a:prstGeom>
          <a:solidFill>
            <a:schemeClr val="accent2">
              <a:lumMod val="50000"/>
            </a:schemeClr>
          </a:solid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필수적 절차</a:t>
            </a:r>
          </a:p>
        </p:txBody>
      </p:sp>
      <p:sp>
        <p:nvSpPr>
          <p:cNvPr id="103" name="Rectangle 24"/>
          <p:cNvSpPr>
            <a:spLocks noChangeArrowheads="1"/>
          </p:cNvSpPr>
          <p:nvPr/>
        </p:nvSpPr>
        <p:spPr bwMode="auto">
          <a:xfrm>
            <a:off x="7632171" y="1110087"/>
            <a:ext cx="2065675" cy="232858"/>
          </a:xfrm>
          <a:prstGeom prst="rect">
            <a:avLst/>
          </a:prstGeom>
          <a:solidFill>
            <a:schemeClr val="accent2">
              <a:lumMod val="50000"/>
            </a:schemeClr>
          </a:solid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고딕 B"/>
                <a:ea typeface="Rix모던고딕 B"/>
                <a:cs typeface="+mn-cs"/>
              </a:rPr>
              <a:t>선택적 절차</a:t>
            </a:r>
          </a:p>
        </p:txBody>
      </p:sp>
      <p:sp>
        <p:nvSpPr>
          <p:cNvPr id="104" name="Rectangle 24"/>
          <p:cNvSpPr>
            <a:spLocks noChangeArrowheads="1"/>
          </p:cNvSpPr>
          <p:nvPr/>
        </p:nvSpPr>
        <p:spPr bwMode="auto">
          <a:xfrm>
            <a:off x="1368198" y="5682364"/>
            <a:ext cx="2065675" cy="241815"/>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5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번역문 제출</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0" hangingPunct="1">
              <a:lnSpc>
                <a:spcPct val="150000"/>
              </a:lnSpc>
              <a:spcBef>
                <a:spcPct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기준일까지</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105" name="Rectangle 24"/>
          <p:cNvSpPr>
            <a:spLocks noChangeArrowheads="1"/>
          </p:cNvSpPr>
          <p:nvPr/>
        </p:nvSpPr>
        <p:spPr bwMode="auto">
          <a:xfrm>
            <a:off x="8254795" y="5682364"/>
            <a:ext cx="2065675" cy="241815"/>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50000"/>
              </a:lnSpc>
              <a:spcBef>
                <a:spcPct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번역문 제출</a:t>
            </a:r>
            <a:endPar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0" hangingPunct="1">
              <a:lnSpc>
                <a:spcPct val="150000"/>
              </a:lnSpc>
              <a:spcBef>
                <a:spcPct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기준일까지</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553</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973518421"/>
      </p:ext>
    </p:extLst>
  </p:cSld>
  <p:clrMapOvr>
    <a:masterClrMapping/>
  </p:clrMapOvr>
  <p:transition/>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제목 15"/>
          <p:cNvSpPr>
            <a:spLocks noGrp="1"/>
          </p:cNvSpPr>
          <p:nvPr>
            <p:ph type="title"/>
          </p:nvPr>
        </p:nvSpPr>
        <p:spPr/>
        <p:txBody>
          <a:bodyPr/>
          <a:lstStyle/>
          <a:p>
            <a:r>
              <a:rPr lang="ko-KR" altLang="en-US" dirty="0"/>
              <a:t>제</a:t>
            </a:r>
            <a:r>
              <a:rPr lang="en-US" altLang="ko-KR" dirty="0"/>
              <a:t>192</a:t>
            </a:r>
            <a:r>
              <a:rPr lang="ko-KR" altLang="en-US" dirty="0"/>
              <a:t>조</a:t>
            </a:r>
            <a:r>
              <a:rPr lang="en-US" altLang="ko-KR" dirty="0"/>
              <a:t>~</a:t>
            </a:r>
            <a:br>
              <a:rPr lang="en-US" altLang="ko-KR" dirty="0"/>
            </a:br>
            <a:r>
              <a:rPr lang="ko-KR" altLang="en-US" dirty="0"/>
              <a:t>제</a:t>
            </a:r>
            <a:r>
              <a:rPr lang="en-US" altLang="ko-KR" dirty="0"/>
              <a:t>198</a:t>
            </a:r>
            <a:r>
              <a:rPr lang="ko-KR" altLang="en-US" dirty="0"/>
              <a:t>조의</a:t>
            </a:r>
            <a:r>
              <a:rPr lang="en-US" altLang="ko-KR" dirty="0"/>
              <a:t>2</a:t>
            </a:r>
            <a:endParaRPr lang="ko-KR" altLang="en-US" dirty="0"/>
          </a:p>
        </p:txBody>
      </p:sp>
      <p:sp>
        <p:nvSpPr>
          <p:cNvPr id="17" name="텍스트 개체 틀 16"/>
          <p:cNvSpPr>
            <a:spLocks noGrp="1"/>
          </p:cNvSpPr>
          <p:nvPr>
            <p:ph type="body" sz="quarter" idx="13"/>
          </p:nvPr>
        </p:nvSpPr>
        <p:spPr/>
        <p:txBody>
          <a:bodyPr/>
          <a:lstStyle/>
          <a:p>
            <a:r>
              <a:rPr lang="ko-KR" altLang="en-US" dirty="0"/>
              <a:t>국제출원절차 일반</a:t>
            </a:r>
          </a:p>
        </p:txBody>
      </p:sp>
      <p:sp>
        <p:nvSpPr>
          <p:cNvPr id="2" name="직사각형 1"/>
          <p:cNvSpPr/>
          <p:nvPr/>
        </p:nvSpPr>
        <p:spPr>
          <a:xfrm>
            <a:off x="436776" y="3007151"/>
            <a:ext cx="970961" cy="933253"/>
          </a:xfrm>
          <a:prstGeom prst="rect">
            <a:avLst/>
          </a:prstGeom>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국제출원</a:t>
            </a:r>
            <a:endParaRPr kumimoji="0" lang="en-US" altLang="ko-KR" sz="16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절차</a:t>
            </a:r>
          </a:p>
        </p:txBody>
      </p:sp>
      <p:sp>
        <p:nvSpPr>
          <p:cNvPr id="54" name="직사각형 53"/>
          <p:cNvSpPr/>
          <p:nvPr/>
        </p:nvSpPr>
        <p:spPr>
          <a:xfrm>
            <a:off x="1988139" y="1403269"/>
            <a:ext cx="1744875" cy="371189"/>
          </a:xfrm>
          <a:prstGeom prst="rect">
            <a:avLst/>
          </a:prstGeom>
          <a:solidFill>
            <a:schemeClr val="accent1">
              <a:lumMod val="60000"/>
              <a:lumOff val="4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주체</a:t>
            </a:r>
          </a:p>
        </p:txBody>
      </p:sp>
      <p:sp>
        <p:nvSpPr>
          <p:cNvPr id="55" name="직사각형 54"/>
          <p:cNvSpPr/>
          <p:nvPr/>
        </p:nvSpPr>
        <p:spPr>
          <a:xfrm>
            <a:off x="1988139" y="2366410"/>
            <a:ext cx="1744875" cy="371189"/>
          </a:xfrm>
          <a:prstGeom prst="rect">
            <a:avLst/>
          </a:prstGeom>
          <a:solidFill>
            <a:schemeClr val="accent1">
              <a:lumMod val="60000"/>
              <a:lumOff val="4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서류 등의 제출</a:t>
            </a:r>
          </a:p>
        </p:txBody>
      </p:sp>
      <p:sp>
        <p:nvSpPr>
          <p:cNvPr id="58" name="직사각형 57"/>
          <p:cNvSpPr/>
          <p:nvPr/>
        </p:nvSpPr>
        <p:spPr>
          <a:xfrm>
            <a:off x="4325985" y="1238250"/>
            <a:ext cx="3103515" cy="209137"/>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국제출원인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192)</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0" name="직사각형 59"/>
          <p:cNvSpPr/>
          <p:nvPr/>
        </p:nvSpPr>
        <p:spPr>
          <a:xfrm>
            <a:off x="4325985" y="1476840"/>
            <a:ext cx="3103515" cy="209137"/>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대표자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①②</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1" name="직사각형 60"/>
          <p:cNvSpPr/>
          <p:nvPr/>
        </p:nvSpPr>
        <p:spPr>
          <a:xfrm>
            <a:off x="4325985" y="1715429"/>
            <a:ext cx="3103515" cy="209137"/>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대리인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③</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2" name="직사각형 61"/>
          <p:cNvSpPr/>
          <p:nvPr/>
        </p:nvSpPr>
        <p:spPr>
          <a:xfrm>
            <a:off x="4325985" y="2201391"/>
            <a:ext cx="3103515" cy="209137"/>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첨부서류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&amp;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언어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6" name="직사각형 105"/>
          <p:cNvSpPr/>
          <p:nvPr/>
        </p:nvSpPr>
        <p:spPr>
          <a:xfrm>
            <a:off x="4325985" y="2439981"/>
            <a:ext cx="3103515" cy="209137"/>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기재방법</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7" name="직사각형 106"/>
          <p:cNvSpPr/>
          <p:nvPr/>
        </p:nvSpPr>
        <p:spPr>
          <a:xfrm>
            <a:off x="4325985" y="2678571"/>
            <a:ext cx="3103515" cy="209137"/>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수수료의 납부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198)</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8" name="직사각형 107"/>
          <p:cNvSpPr/>
          <p:nvPr/>
        </p:nvSpPr>
        <p:spPr>
          <a:xfrm>
            <a:off x="8099260" y="1740053"/>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err="1">
                <a:ln>
                  <a:noFill/>
                </a:ln>
                <a:solidFill>
                  <a:prstClr val="black"/>
                </a:solidFill>
                <a:effectLst/>
                <a:uLnTx/>
                <a:uFillTx/>
                <a:latin typeface="Frutiger LT 65 Bold"/>
                <a:ea typeface="Rix모던고딕 B"/>
                <a:cs typeface="+mn-cs"/>
              </a:rPr>
              <a:t>발명의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err="1">
                <a:ln>
                  <a:noFill/>
                </a:ln>
                <a:solidFill>
                  <a:prstClr val="black"/>
                </a:solidFill>
                <a:effectLst/>
                <a:uLnTx/>
                <a:uFillTx/>
                <a:latin typeface="Frutiger LT 65 Bold"/>
                <a:ea typeface="Rix모던고딕 B"/>
                <a:cs typeface="+mn-cs"/>
              </a:rPr>
              <a:t>설명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(法 193③)</a:t>
            </a:r>
          </a:p>
        </p:txBody>
      </p:sp>
      <p:sp>
        <p:nvSpPr>
          <p:cNvPr id="109" name="직사각형 108"/>
          <p:cNvSpPr/>
          <p:nvPr/>
        </p:nvSpPr>
        <p:spPr>
          <a:xfrm>
            <a:off x="8099260" y="1978643"/>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err="1">
                <a:ln>
                  <a:noFill/>
                </a:ln>
                <a:solidFill>
                  <a:prstClr val="black"/>
                </a:solidFill>
                <a:effectLst/>
                <a:uLnTx/>
                <a:uFillTx/>
                <a:latin typeface="Frutiger LT 65 Bold"/>
                <a:ea typeface="Rix모던고딕 B"/>
                <a:cs typeface="+mn-cs"/>
              </a:rPr>
              <a:t>청구범위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(法 193④) </a:t>
            </a:r>
          </a:p>
        </p:txBody>
      </p:sp>
      <p:sp>
        <p:nvSpPr>
          <p:cNvPr id="110" name="직사각형 109"/>
          <p:cNvSpPr/>
          <p:nvPr/>
        </p:nvSpPr>
        <p:spPr>
          <a:xfrm>
            <a:off x="8099260" y="2217233"/>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err="1">
                <a:ln>
                  <a:noFill/>
                </a:ln>
                <a:solidFill>
                  <a:prstClr val="black"/>
                </a:solidFill>
                <a:effectLst/>
                <a:uLnTx/>
                <a:uFillTx/>
                <a:latin typeface="Frutiger LT 65 Bold"/>
                <a:ea typeface="Rix모던고딕 B"/>
                <a:cs typeface="+mn-cs"/>
              </a:rPr>
              <a:t>기타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(法 193⑤)</a:t>
            </a:r>
          </a:p>
        </p:txBody>
      </p:sp>
      <p:sp>
        <p:nvSpPr>
          <p:cNvPr id="111" name="직사각형 110"/>
          <p:cNvSpPr/>
          <p:nvPr/>
        </p:nvSpPr>
        <p:spPr>
          <a:xfrm>
            <a:off x="8099260" y="1501463"/>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err="1">
                <a:ln>
                  <a:noFill/>
                </a:ln>
                <a:solidFill>
                  <a:prstClr val="black"/>
                </a:solidFill>
                <a:effectLst/>
                <a:uLnTx/>
                <a:uFillTx/>
                <a:latin typeface="Frutiger LT 65 Bold"/>
                <a:ea typeface="Rix모던고딕 B"/>
                <a:cs typeface="+mn-cs"/>
              </a:rPr>
              <a:t>출원서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(法 193②)</a:t>
            </a:r>
          </a:p>
        </p:txBody>
      </p:sp>
      <p:sp>
        <p:nvSpPr>
          <p:cNvPr id="115" name="직사각형 114"/>
          <p:cNvSpPr/>
          <p:nvPr/>
        </p:nvSpPr>
        <p:spPr>
          <a:xfrm>
            <a:off x="8099260" y="2795482"/>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보완명령</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194②)</a:t>
            </a:r>
          </a:p>
        </p:txBody>
      </p:sp>
      <p:sp>
        <p:nvSpPr>
          <p:cNvPr id="116" name="직사각형 115"/>
          <p:cNvSpPr/>
          <p:nvPr/>
        </p:nvSpPr>
        <p:spPr>
          <a:xfrm>
            <a:off x="8099260" y="3034071"/>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보완한 경우의 효과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194④</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전단부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117" name="직사각형 116"/>
          <p:cNvSpPr/>
          <p:nvPr/>
        </p:nvSpPr>
        <p:spPr>
          <a:xfrm>
            <a:off x="8099260" y="3272661"/>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보완하지 아니한 경우의 효과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194①</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단서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118" name="직사각형 117"/>
          <p:cNvSpPr/>
          <p:nvPr/>
        </p:nvSpPr>
        <p:spPr>
          <a:xfrm>
            <a:off x="8099260" y="2556892"/>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보완사유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194①</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각호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119" name="직사각형 118"/>
          <p:cNvSpPr/>
          <p:nvPr/>
        </p:nvSpPr>
        <p:spPr>
          <a:xfrm>
            <a:off x="4325985" y="3124540"/>
            <a:ext cx="3103515" cy="209137"/>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보완</a:t>
            </a:r>
          </a:p>
        </p:txBody>
      </p:sp>
      <p:sp>
        <p:nvSpPr>
          <p:cNvPr id="120" name="직사각형 119"/>
          <p:cNvSpPr/>
          <p:nvPr/>
        </p:nvSpPr>
        <p:spPr>
          <a:xfrm>
            <a:off x="4325985" y="3944155"/>
            <a:ext cx="3103515" cy="209137"/>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보정</a:t>
            </a:r>
          </a:p>
        </p:txBody>
      </p:sp>
      <p:sp>
        <p:nvSpPr>
          <p:cNvPr id="121" name="직사각형 120"/>
          <p:cNvSpPr/>
          <p:nvPr/>
        </p:nvSpPr>
        <p:spPr>
          <a:xfrm>
            <a:off x="4325985" y="5020944"/>
            <a:ext cx="3103515" cy="209137"/>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누락 부분의 보완</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194③④,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施規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99</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p>
        </p:txBody>
      </p:sp>
      <p:sp>
        <p:nvSpPr>
          <p:cNvPr id="122" name="직사각형 121"/>
          <p:cNvSpPr/>
          <p:nvPr/>
        </p:nvSpPr>
        <p:spPr>
          <a:xfrm>
            <a:off x="8099260" y="3834777"/>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보정한 경우의 효과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명문의 규정 없음</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p:txBody>
      </p:sp>
      <p:sp>
        <p:nvSpPr>
          <p:cNvPr id="123" name="직사각형 122"/>
          <p:cNvSpPr/>
          <p:nvPr/>
        </p:nvSpPr>
        <p:spPr>
          <a:xfrm>
            <a:off x="8099260" y="4073367"/>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보정하지 아니한 경우의 효과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196①Ⅰ,Ⅱ)</a:t>
            </a:r>
          </a:p>
        </p:txBody>
      </p:sp>
      <p:sp>
        <p:nvSpPr>
          <p:cNvPr id="124" name="직사각형 123"/>
          <p:cNvSpPr/>
          <p:nvPr/>
        </p:nvSpPr>
        <p:spPr>
          <a:xfrm>
            <a:off x="8099260" y="4388159"/>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보완사유</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5" name="직사각형 124"/>
          <p:cNvSpPr/>
          <p:nvPr/>
        </p:nvSpPr>
        <p:spPr>
          <a:xfrm>
            <a:off x="8099260" y="3596187"/>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보정사유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195)</a:t>
            </a:r>
          </a:p>
        </p:txBody>
      </p:sp>
      <p:sp>
        <p:nvSpPr>
          <p:cNvPr id="126" name="직사각형 125"/>
          <p:cNvSpPr/>
          <p:nvPr/>
        </p:nvSpPr>
        <p:spPr>
          <a:xfrm>
            <a:off x="4325985" y="5736249"/>
            <a:ext cx="3103515" cy="209137"/>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취하된 것으로 보는 국제출원 등</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196)</a:t>
            </a:r>
          </a:p>
        </p:txBody>
      </p:sp>
      <p:sp>
        <p:nvSpPr>
          <p:cNvPr id="127" name="직사각형 126"/>
          <p:cNvSpPr/>
          <p:nvPr/>
        </p:nvSpPr>
        <p:spPr>
          <a:xfrm>
            <a:off x="4325985" y="5974838"/>
            <a:ext cx="3103515" cy="209137"/>
          </a:xfrm>
          <a:prstGeom prst="rect">
            <a:avLst/>
          </a:prstGeom>
          <a:solidFill>
            <a:schemeClr val="accent1">
              <a:lumMod val="20000"/>
              <a:lumOff val="8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국제조사 및 국제예비심사기관 등</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198</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9" name="직사각형 128"/>
          <p:cNvSpPr/>
          <p:nvPr/>
        </p:nvSpPr>
        <p:spPr>
          <a:xfrm>
            <a:off x="8099260" y="4865336"/>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보완한 경우의 효과</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0" name="직사각형 129"/>
          <p:cNvSpPr/>
          <p:nvPr/>
        </p:nvSpPr>
        <p:spPr>
          <a:xfrm>
            <a:off x="8099260" y="5103925"/>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보완하지 아니한 경우의 효과</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1" name="직사각형 130"/>
          <p:cNvSpPr/>
          <p:nvPr/>
        </p:nvSpPr>
        <p:spPr>
          <a:xfrm>
            <a:off x="8099260" y="5342515"/>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보완의 취하</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2" name="직사각형 131"/>
          <p:cNvSpPr/>
          <p:nvPr/>
        </p:nvSpPr>
        <p:spPr>
          <a:xfrm>
            <a:off x="8099260" y="4626746"/>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명령 또는 의사에 의한 보완</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8" name="직사각형 137"/>
          <p:cNvSpPr/>
          <p:nvPr/>
        </p:nvSpPr>
        <p:spPr>
          <a:xfrm>
            <a:off x="8099260" y="5980276"/>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지정국의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취하간주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196②)</a:t>
            </a:r>
          </a:p>
        </p:txBody>
      </p:sp>
      <p:sp>
        <p:nvSpPr>
          <p:cNvPr id="139" name="직사각형 138"/>
          <p:cNvSpPr/>
          <p:nvPr/>
        </p:nvSpPr>
        <p:spPr>
          <a:xfrm>
            <a:off x="8099260" y="6218865"/>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출원인에게</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통지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196③)</a:t>
            </a:r>
          </a:p>
        </p:txBody>
      </p:sp>
      <p:sp>
        <p:nvSpPr>
          <p:cNvPr id="141" name="직사각형 140"/>
          <p:cNvSpPr/>
          <p:nvPr/>
        </p:nvSpPr>
        <p:spPr>
          <a:xfrm>
            <a:off x="8099260" y="5741686"/>
            <a:ext cx="3406940" cy="194225"/>
          </a:xfrm>
          <a:prstGeom prst="rect">
            <a:avLst/>
          </a:prstGeom>
          <a:solidFill>
            <a:schemeClr val="bg1">
              <a:lumMod val="95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국제출원의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취하간주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196①)</a:t>
            </a:r>
          </a:p>
        </p:txBody>
      </p:sp>
      <p:sp>
        <p:nvSpPr>
          <p:cNvPr id="142" name="직사각형 141"/>
          <p:cNvSpPr/>
          <p:nvPr/>
        </p:nvSpPr>
        <p:spPr>
          <a:xfrm>
            <a:off x="1988139" y="3723090"/>
            <a:ext cx="1744875" cy="371189"/>
          </a:xfrm>
          <a:prstGeom prst="rect">
            <a:avLst/>
          </a:prstGeom>
          <a:solidFill>
            <a:schemeClr val="accent1">
              <a:lumMod val="60000"/>
              <a:lumOff val="4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출원일 인정</a:t>
            </a:r>
          </a:p>
        </p:txBody>
      </p:sp>
      <p:sp>
        <p:nvSpPr>
          <p:cNvPr id="143" name="직사각형 142"/>
          <p:cNvSpPr/>
          <p:nvPr/>
        </p:nvSpPr>
        <p:spPr>
          <a:xfrm>
            <a:off x="1988139" y="5778237"/>
            <a:ext cx="1744875" cy="371189"/>
          </a:xfrm>
          <a:prstGeom prst="rect">
            <a:avLst/>
          </a:prstGeom>
          <a:solidFill>
            <a:schemeClr val="accent1">
              <a:lumMod val="60000"/>
              <a:lumOff val="40000"/>
            </a:schemeClr>
          </a:solidFill>
          <a:ln w="127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기타</a:t>
            </a:r>
          </a:p>
        </p:txBody>
      </p:sp>
      <p:cxnSp>
        <p:nvCxnSpPr>
          <p:cNvPr id="5" name="꺾인 연결선 4"/>
          <p:cNvCxnSpPr>
            <a:stCxn id="54" idx="3"/>
            <a:endCxn id="58" idx="1"/>
          </p:cNvCxnSpPr>
          <p:nvPr/>
        </p:nvCxnSpPr>
        <p:spPr>
          <a:xfrm flipV="1">
            <a:off x="3733014" y="1342819"/>
            <a:ext cx="592971" cy="24604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꺾인 연결선 6"/>
          <p:cNvCxnSpPr>
            <a:stCxn id="54" idx="3"/>
            <a:endCxn id="61" idx="1"/>
          </p:cNvCxnSpPr>
          <p:nvPr/>
        </p:nvCxnSpPr>
        <p:spPr>
          <a:xfrm>
            <a:off x="3733014" y="1588864"/>
            <a:ext cx="592971" cy="23113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꺾인 연결선 8"/>
          <p:cNvCxnSpPr>
            <a:stCxn id="54" idx="3"/>
            <a:endCxn id="60" idx="1"/>
          </p:cNvCxnSpPr>
          <p:nvPr/>
        </p:nvCxnSpPr>
        <p:spPr>
          <a:xfrm flipV="1">
            <a:off x="3733014" y="1581409"/>
            <a:ext cx="592971" cy="745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꺾인 연결선 10"/>
          <p:cNvCxnSpPr>
            <a:stCxn id="55" idx="3"/>
            <a:endCxn id="62" idx="1"/>
          </p:cNvCxnSpPr>
          <p:nvPr/>
        </p:nvCxnSpPr>
        <p:spPr>
          <a:xfrm flipV="1">
            <a:off x="3733014" y="2305960"/>
            <a:ext cx="592971" cy="24604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꺾인 연결선 12"/>
          <p:cNvCxnSpPr>
            <a:stCxn id="55" idx="3"/>
            <a:endCxn id="106" idx="1"/>
          </p:cNvCxnSpPr>
          <p:nvPr/>
        </p:nvCxnSpPr>
        <p:spPr>
          <a:xfrm flipV="1">
            <a:off x="3733014" y="2544550"/>
            <a:ext cx="592971" cy="745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꺾인 연결선 14"/>
          <p:cNvCxnSpPr>
            <a:stCxn id="55" idx="3"/>
            <a:endCxn id="107" idx="1"/>
          </p:cNvCxnSpPr>
          <p:nvPr/>
        </p:nvCxnSpPr>
        <p:spPr>
          <a:xfrm>
            <a:off x="3733014" y="2552005"/>
            <a:ext cx="592971" cy="23113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2" idx="3"/>
            <a:endCxn id="54" idx="1"/>
          </p:cNvCxnSpPr>
          <p:nvPr/>
        </p:nvCxnSpPr>
        <p:spPr>
          <a:xfrm flipV="1">
            <a:off x="1407737" y="1588864"/>
            <a:ext cx="580402" cy="188491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stCxn id="2" idx="3"/>
            <a:endCxn id="143" idx="1"/>
          </p:cNvCxnSpPr>
          <p:nvPr/>
        </p:nvCxnSpPr>
        <p:spPr>
          <a:xfrm>
            <a:off x="1407737" y="3473778"/>
            <a:ext cx="580402" cy="249005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stCxn id="2" idx="3"/>
            <a:endCxn id="55" idx="1"/>
          </p:cNvCxnSpPr>
          <p:nvPr/>
        </p:nvCxnSpPr>
        <p:spPr>
          <a:xfrm flipV="1">
            <a:off x="1407737" y="2552005"/>
            <a:ext cx="580402" cy="921773"/>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stCxn id="2" idx="3"/>
            <a:endCxn id="142" idx="1"/>
          </p:cNvCxnSpPr>
          <p:nvPr/>
        </p:nvCxnSpPr>
        <p:spPr>
          <a:xfrm>
            <a:off x="1407737" y="3473778"/>
            <a:ext cx="580402" cy="43490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stCxn id="142" idx="3"/>
            <a:endCxn id="119" idx="1"/>
          </p:cNvCxnSpPr>
          <p:nvPr/>
        </p:nvCxnSpPr>
        <p:spPr>
          <a:xfrm flipV="1">
            <a:off x="3733014" y="3229109"/>
            <a:ext cx="592971" cy="67957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꺾인 연결선 28"/>
          <p:cNvCxnSpPr>
            <a:stCxn id="142" idx="3"/>
            <a:endCxn id="121" idx="1"/>
          </p:cNvCxnSpPr>
          <p:nvPr/>
        </p:nvCxnSpPr>
        <p:spPr>
          <a:xfrm>
            <a:off x="3733014" y="3908685"/>
            <a:ext cx="592971" cy="121682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꺾인 연결선 30"/>
          <p:cNvCxnSpPr>
            <a:stCxn id="142" idx="3"/>
            <a:endCxn id="120" idx="1"/>
          </p:cNvCxnSpPr>
          <p:nvPr/>
        </p:nvCxnSpPr>
        <p:spPr>
          <a:xfrm>
            <a:off x="3733014" y="3908685"/>
            <a:ext cx="592971" cy="14003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꺾인 연결선 32"/>
          <p:cNvCxnSpPr>
            <a:stCxn id="143" idx="3"/>
            <a:endCxn id="126" idx="1"/>
          </p:cNvCxnSpPr>
          <p:nvPr/>
        </p:nvCxnSpPr>
        <p:spPr>
          <a:xfrm flipV="1">
            <a:off x="3733014" y="5840818"/>
            <a:ext cx="592971" cy="12301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꺾인 연결선 34"/>
          <p:cNvCxnSpPr>
            <a:stCxn id="143" idx="3"/>
            <a:endCxn id="127" idx="1"/>
          </p:cNvCxnSpPr>
          <p:nvPr/>
        </p:nvCxnSpPr>
        <p:spPr>
          <a:xfrm>
            <a:off x="3733014" y="5963832"/>
            <a:ext cx="592971" cy="11557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106" idx="3"/>
            <a:endCxn id="111" idx="1"/>
          </p:cNvCxnSpPr>
          <p:nvPr/>
        </p:nvCxnSpPr>
        <p:spPr>
          <a:xfrm flipV="1">
            <a:off x="7429500" y="1598576"/>
            <a:ext cx="669760" cy="94597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꺾인 연결선 38"/>
          <p:cNvCxnSpPr>
            <a:stCxn id="106" idx="3"/>
            <a:endCxn id="110" idx="1"/>
          </p:cNvCxnSpPr>
          <p:nvPr/>
        </p:nvCxnSpPr>
        <p:spPr>
          <a:xfrm flipV="1">
            <a:off x="7429500" y="2314346"/>
            <a:ext cx="669760" cy="23020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a:stCxn id="106" idx="3"/>
            <a:endCxn id="108" idx="1"/>
          </p:cNvCxnSpPr>
          <p:nvPr/>
        </p:nvCxnSpPr>
        <p:spPr>
          <a:xfrm flipV="1">
            <a:off x="7429500" y="1837166"/>
            <a:ext cx="669760" cy="70738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꺾인 연결선 45"/>
          <p:cNvCxnSpPr>
            <a:stCxn id="106" idx="3"/>
            <a:endCxn id="109" idx="1"/>
          </p:cNvCxnSpPr>
          <p:nvPr/>
        </p:nvCxnSpPr>
        <p:spPr>
          <a:xfrm flipV="1">
            <a:off x="7429500" y="2075756"/>
            <a:ext cx="669760" cy="46879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119" idx="3"/>
            <a:endCxn id="118" idx="1"/>
          </p:cNvCxnSpPr>
          <p:nvPr/>
        </p:nvCxnSpPr>
        <p:spPr>
          <a:xfrm flipV="1">
            <a:off x="7429500" y="2654005"/>
            <a:ext cx="669760" cy="57510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꺾인 연결선 49"/>
          <p:cNvCxnSpPr>
            <a:stCxn id="119" idx="3"/>
            <a:endCxn id="117" idx="1"/>
          </p:cNvCxnSpPr>
          <p:nvPr/>
        </p:nvCxnSpPr>
        <p:spPr>
          <a:xfrm>
            <a:off x="7429500" y="3229109"/>
            <a:ext cx="669760" cy="14066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꺾인 연결선 51"/>
          <p:cNvCxnSpPr>
            <a:stCxn id="119" idx="3"/>
            <a:endCxn id="115" idx="1"/>
          </p:cNvCxnSpPr>
          <p:nvPr/>
        </p:nvCxnSpPr>
        <p:spPr>
          <a:xfrm flipV="1">
            <a:off x="7429500" y="2892595"/>
            <a:ext cx="669760" cy="33651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꺾인 연결선 144"/>
          <p:cNvCxnSpPr>
            <a:stCxn id="119" idx="3"/>
            <a:endCxn id="116" idx="1"/>
          </p:cNvCxnSpPr>
          <p:nvPr/>
        </p:nvCxnSpPr>
        <p:spPr>
          <a:xfrm flipV="1">
            <a:off x="7429500" y="3131184"/>
            <a:ext cx="669760" cy="979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꺾인 연결선 146"/>
          <p:cNvCxnSpPr>
            <a:stCxn id="120" idx="3"/>
            <a:endCxn id="125" idx="1"/>
          </p:cNvCxnSpPr>
          <p:nvPr/>
        </p:nvCxnSpPr>
        <p:spPr>
          <a:xfrm flipV="1">
            <a:off x="7429500" y="3693300"/>
            <a:ext cx="669760" cy="35542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9" name="꺾인 연결선 148"/>
          <p:cNvCxnSpPr>
            <a:stCxn id="121" idx="3"/>
            <a:endCxn id="124" idx="1"/>
          </p:cNvCxnSpPr>
          <p:nvPr/>
        </p:nvCxnSpPr>
        <p:spPr>
          <a:xfrm flipV="1">
            <a:off x="7429500" y="4485272"/>
            <a:ext cx="669760" cy="64024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 name="꺾인 연결선 151"/>
          <p:cNvCxnSpPr>
            <a:stCxn id="120" idx="3"/>
            <a:endCxn id="122" idx="1"/>
          </p:cNvCxnSpPr>
          <p:nvPr/>
        </p:nvCxnSpPr>
        <p:spPr>
          <a:xfrm flipV="1">
            <a:off x="7429500" y="3931890"/>
            <a:ext cx="669760" cy="11683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4" name="꺾인 연결선 153"/>
          <p:cNvCxnSpPr>
            <a:stCxn id="120" idx="3"/>
            <a:endCxn id="123" idx="1"/>
          </p:cNvCxnSpPr>
          <p:nvPr/>
        </p:nvCxnSpPr>
        <p:spPr>
          <a:xfrm>
            <a:off x="7429500" y="4048724"/>
            <a:ext cx="669760" cy="12175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6" name="꺾인 연결선 155"/>
          <p:cNvCxnSpPr>
            <a:stCxn id="121" idx="3"/>
            <a:endCxn id="132" idx="1"/>
          </p:cNvCxnSpPr>
          <p:nvPr/>
        </p:nvCxnSpPr>
        <p:spPr>
          <a:xfrm flipV="1">
            <a:off x="7429500" y="4723859"/>
            <a:ext cx="669760" cy="40165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8" name="꺾인 연결선 157"/>
          <p:cNvCxnSpPr>
            <a:stCxn id="121" idx="3"/>
            <a:endCxn id="131" idx="1"/>
          </p:cNvCxnSpPr>
          <p:nvPr/>
        </p:nvCxnSpPr>
        <p:spPr>
          <a:xfrm>
            <a:off x="7429500" y="5125513"/>
            <a:ext cx="669760" cy="31411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0" name="꺾인 연결선 159"/>
          <p:cNvCxnSpPr>
            <a:stCxn id="121" idx="3"/>
            <a:endCxn id="129" idx="1"/>
          </p:cNvCxnSpPr>
          <p:nvPr/>
        </p:nvCxnSpPr>
        <p:spPr>
          <a:xfrm flipV="1">
            <a:off x="7429500" y="4962449"/>
            <a:ext cx="669760" cy="16306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2" name="꺾인 연결선 161"/>
          <p:cNvCxnSpPr>
            <a:stCxn id="121" idx="3"/>
            <a:endCxn id="130" idx="1"/>
          </p:cNvCxnSpPr>
          <p:nvPr/>
        </p:nvCxnSpPr>
        <p:spPr>
          <a:xfrm>
            <a:off x="7429500" y="5125513"/>
            <a:ext cx="669760" cy="7552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4" name="꺾인 연결선 163"/>
          <p:cNvCxnSpPr>
            <a:stCxn id="126" idx="3"/>
            <a:endCxn id="141" idx="1"/>
          </p:cNvCxnSpPr>
          <p:nvPr/>
        </p:nvCxnSpPr>
        <p:spPr>
          <a:xfrm flipV="1">
            <a:off x="7429500" y="5838799"/>
            <a:ext cx="669760" cy="201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6" name="꺾인 연결선 165"/>
          <p:cNvCxnSpPr>
            <a:stCxn id="126" idx="3"/>
            <a:endCxn id="139" idx="1"/>
          </p:cNvCxnSpPr>
          <p:nvPr/>
        </p:nvCxnSpPr>
        <p:spPr>
          <a:xfrm>
            <a:off x="7429500" y="5840818"/>
            <a:ext cx="669760" cy="47516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8" name="꺾인 연결선 167"/>
          <p:cNvCxnSpPr>
            <a:stCxn id="126" idx="3"/>
            <a:endCxn id="138" idx="1"/>
          </p:cNvCxnSpPr>
          <p:nvPr/>
        </p:nvCxnSpPr>
        <p:spPr>
          <a:xfrm>
            <a:off x="7429500" y="5840818"/>
            <a:ext cx="669760" cy="23657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슬라이드 번호 개체 틀 2"/>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554</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039751121"/>
      </p:ext>
    </p:extLst>
  </p:cSld>
  <p:clrMapOvr>
    <a:masterClrMapping/>
  </p:clrMapOvr>
  <p:transition/>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제목 15"/>
          <p:cNvSpPr>
            <a:spLocks noGrp="1"/>
          </p:cNvSpPr>
          <p:nvPr>
            <p:ph type="title"/>
          </p:nvPr>
        </p:nvSpPr>
        <p:spPr/>
        <p:txBody>
          <a:bodyPr/>
          <a:lstStyle/>
          <a:p>
            <a:r>
              <a:rPr lang="ko-KR" altLang="en-US" dirty="0"/>
              <a:t>제</a:t>
            </a:r>
            <a:r>
              <a:rPr lang="en-US" altLang="ko-KR" dirty="0"/>
              <a:t>192</a:t>
            </a:r>
            <a:r>
              <a:rPr lang="ko-KR" altLang="en-US" dirty="0"/>
              <a:t>조</a:t>
            </a:r>
          </a:p>
        </p:txBody>
      </p:sp>
      <p:sp>
        <p:nvSpPr>
          <p:cNvPr id="17" name="텍스트 개체 틀 16"/>
          <p:cNvSpPr>
            <a:spLocks noGrp="1"/>
          </p:cNvSpPr>
          <p:nvPr>
            <p:ph type="body" sz="quarter" idx="13"/>
          </p:nvPr>
        </p:nvSpPr>
        <p:spPr/>
        <p:txBody>
          <a:bodyPr/>
          <a:lstStyle/>
          <a:p>
            <a:r>
              <a:rPr lang="ko-KR" altLang="en-US" spc="-150" dirty="0" err="1"/>
              <a:t>국제출원할</a:t>
            </a:r>
            <a:r>
              <a:rPr lang="ko-KR" altLang="en-US" spc="-150" dirty="0"/>
              <a:t> 수 있는 자 </a:t>
            </a:r>
            <a:r>
              <a:rPr lang="en-US" altLang="ko-KR" spc="-150" dirty="0"/>
              <a:t>vs </a:t>
            </a:r>
            <a:r>
              <a:rPr lang="ko-KR" altLang="en-US" spc="-150" dirty="0"/>
              <a:t>국제예비심사를 청구할 수 있는 자</a:t>
            </a:r>
          </a:p>
        </p:txBody>
      </p:sp>
      <p:cxnSp>
        <p:nvCxnSpPr>
          <p:cNvPr id="73" name="직선 연결선 72"/>
          <p:cNvCxnSpPr/>
          <p:nvPr/>
        </p:nvCxnSpPr>
        <p:spPr>
          <a:xfrm>
            <a:off x="77875" y="1715566"/>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TextBox 73"/>
          <p:cNvSpPr txBox="1"/>
          <p:nvPr/>
        </p:nvSpPr>
        <p:spPr>
          <a:xfrm>
            <a:off x="77875" y="976902"/>
            <a:ext cx="11936323" cy="738664"/>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총회는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PCT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의 당사국은 아니나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파리조약의</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당사국인 어느 국가의 거주자와 국민이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국제출원을</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하는 것을 인정하도록 결정할 수 있다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(PCT 9(2)).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한편</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총회는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국제출원을</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할 자격을 가지는 자에 대하여 동인</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同人</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 본 조약의 비당사국 또는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PCT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장의 규정</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국제예비심사</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에 구속되지 아니한 당사국의 거주자나 국민인 경우에 있어서도 국제예비심사의 청구를 허용하도록 결정할 수 있다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(PCT 31, PCT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규칙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54.2).</a:t>
            </a:r>
            <a:endPar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endParaRPr>
          </a:p>
        </p:txBody>
      </p:sp>
      <p:sp>
        <p:nvSpPr>
          <p:cNvPr id="4" name="모서리가 둥근 직사각형 3"/>
          <p:cNvSpPr/>
          <p:nvPr/>
        </p:nvSpPr>
        <p:spPr>
          <a:xfrm>
            <a:off x="428625" y="3086098"/>
            <a:ext cx="2895600" cy="2631281"/>
          </a:xfrm>
          <a:prstGeom prst="roundRect">
            <a:avLst>
              <a:gd name="adj" fmla="val 5000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 name="TextBox 5"/>
          <p:cNvSpPr txBox="1"/>
          <p:nvPr/>
        </p:nvSpPr>
        <p:spPr>
          <a:xfrm>
            <a:off x="1285843" y="2901432"/>
            <a:ext cx="1085882" cy="369332"/>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rPr>
              <a:t>파리조약</a:t>
            </a:r>
          </a:p>
        </p:txBody>
      </p:sp>
      <p:sp>
        <p:nvSpPr>
          <p:cNvPr id="89" name="모서리가 둥근 직사각형 88"/>
          <p:cNvSpPr/>
          <p:nvPr/>
        </p:nvSpPr>
        <p:spPr>
          <a:xfrm>
            <a:off x="788837" y="3755883"/>
            <a:ext cx="1678145" cy="1476377"/>
          </a:xfrm>
          <a:prstGeom prst="roundRect">
            <a:avLst>
              <a:gd name="adj" fmla="val 50000"/>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90" name="TextBox 89"/>
          <p:cNvSpPr txBox="1"/>
          <p:nvPr/>
        </p:nvSpPr>
        <p:spPr>
          <a:xfrm>
            <a:off x="1212426" y="3571217"/>
            <a:ext cx="830966" cy="369332"/>
          </a:xfrm>
          <a:prstGeom prst="rect">
            <a:avLst/>
          </a:prstGeom>
          <a:solidFill>
            <a:schemeClr val="accent1">
              <a:lumMod val="20000"/>
              <a:lumOff val="80000"/>
            </a:schemeClr>
          </a:solidFill>
          <a:ln>
            <a:solidFill>
              <a:schemeClr val="bg1">
                <a:lumMod val="50000"/>
              </a:schemeClr>
            </a:solidFill>
          </a:ln>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PCT</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0" name="직선 연결선 9"/>
          <p:cNvCxnSpPr>
            <a:stCxn id="90" idx="2"/>
            <a:endCxn id="89" idx="2"/>
          </p:cNvCxnSpPr>
          <p:nvPr/>
        </p:nvCxnSpPr>
        <p:spPr>
          <a:xfrm>
            <a:off x="1627909" y="3940549"/>
            <a:ext cx="1" cy="1291711"/>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884483" y="4174569"/>
            <a:ext cx="632337" cy="584775"/>
          </a:xfrm>
          <a:prstGeom prst="rect">
            <a:avLst/>
          </a:prstGeom>
          <a:solidFill>
            <a:schemeClr val="accent2">
              <a:lumMod val="20000"/>
              <a:lumOff val="80000"/>
            </a:schemeClr>
          </a:solidFill>
          <a:ln>
            <a:solidFill>
              <a:schemeClr val="bg1">
                <a:lumMod val="50000"/>
              </a:schemeClr>
            </a:solidFill>
          </a:ln>
        </p:spPr>
        <p:txBody>
          <a:bodyPr wrap="square" lIns="72000" rIns="72000"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장</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구속</a:t>
            </a:r>
          </a:p>
        </p:txBody>
      </p:sp>
      <p:sp>
        <p:nvSpPr>
          <p:cNvPr id="94" name="TextBox 93"/>
          <p:cNvSpPr txBox="1"/>
          <p:nvPr/>
        </p:nvSpPr>
        <p:spPr>
          <a:xfrm>
            <a:off x="1656000" y="4174569"/>
            <a:ext cx="725257" cy="584775"/>
          </a:xfrm>
          <a:prstGeom prst="rect">
            <a:avLst/>
          </a:prstGeom>
          <a:solidFill>
            <a:schemeClr val="accent4">
              <a:lumMod val="20000"/>
              <a:lumOff val="80000"/>
            </a:schemeClr>
          </a:solidFill>
          <a:ln>
            <a:solidFill>
              <a:schemeClr val="bg1">
                <a:lumMod val="50000"/>
              </a:schemeClr>
            </a:solidFill>
          </a:ln>
        </p:spPr>
        <p:txBody>
          <a:bodyPr wrap="square" lIns="72000" rIns="72000"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장</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불구속</a:t>
            </a:r>
          </a:p>
        </p:txBody>
      </p:sp>
      <p:sp>
        <p:nvSpPr>
          <p:cNvPr id="14" name="모서리가 둥근 사각형 설명선 13"/>
          <p:cNvSpPr/>
          <p:nvPr/>
        </p:nvSpPr>
        <p:spPr>
          <a:xfrm>
            <a:off x="2595541" y="2703253"/>
            <a:ext cx="1895475" cy="581025"/>
          </a:xfrm>
          <a:prstGeom prst="wedgeRoundRectCallout">
            <a:avLst>
              <a:gd name="adj1" fmla="val -79089"/>
              <a:gd name="adj2" fmla="val 137911"/>
              <a:gd name="adj3" fmla="val 16667"/>
            </a:avLst>
          </a:prstGeom>
          <a:solidFill>
            <a:schemeClr val="tx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white"/>
                </a:solidFill>
                <a:effectLst/>
                <a:uLnTx/>
                <a:uFillTx/>
                <a:latin typeface="Frutiger LT 65 Bold"/>
                <a:ea typeface="Rix모던고딕 B"/>
                <a:cs typeface="+mn-cs"/>
              </a:rPr>
              <a:t>파리조약의</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 특별협정</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 150</a:t>
            </a:r>
            <a:r>
              <a:rPr kumimoji="0" lang="ko-KR" altLang="en-US" sz="1400" b="0" i="0" u="none" strike="noStrike" kern="1200" cap="none" spc="0" normalizeH="0" baseline="0" noProof="0" dirty="0" err="1">
                <a:ln>
                  <a:noFill/>
                </a:ln>
                <a:solidFill>
                  <a:prstClr val="white"/>
                </a:solidFill>
                <a:effectLst/>
                <a:uLnTx/>
                <a:uFillTx/>
                <a:latin typeface="Frutiger LT 65 Bold"/>
                <a:ea typeface="Rix모던고딕 B"/>
                <a:cs typeface="+mn-cs"/>
              </a:rPr>
              <a:t>여개국</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 가입</a:t>
            </a:r>
          </a:p>
        </p:txBody>
      </p:sp>
      <p:graphicFrame>
        <p:nvGraphicFramePr>
          <p:cNvPr id="20" name="표 19"/>
          <p:cNvGraphicFramePr>
            <a:graphicFrameLocks noGrp="1"/>
          </p:cNvGraphicFramePr>
          <p:nvPr/>
        </p:nvGraphicFramePr>
        <p:xfrm>
          <a:off x="5714958" y="2663515"/>
          <a:ext cx="5781717" cy="3068417"/>
        </p:xfrm>
        <a:graphic>
          <a:graphicData uri="http://schemas.openxmlformats.org/drawingml/2006/table">
            <a:tbl>
              <a:tblPr>
                <a:tableStyleId>{8799B23B-EC83-4686-B30A-512413B5E67A}</a:tableStyleId>
              </a:tblPr>
              <a:tblGrid>
                <a:gridCol w="781092">
                  <a:extLst>
                    <a:ext uri="{9D8B030D-6E8A-4147-A177-3AD203B41FA5}">
                      <a16:colId xmlns:a16="http://schemas.microsoft.com/office/drawing/2014/main" val="1664929871"/>
                    </a:ext>
                  </a:extLst>
                </a:gridCol>
                <a:gridCol w="695325">
                  <a:extLst>
                    <a:ext uri="{9D8B030D-6E8A-4147-A177-3AD203B41FA5}">
                      <a16:colId xmlns:a16="http://schemas.microsoft.com/office/drawing/2014/main" val="780551584"/>
                    </a:ext>
                  </a:extLst>
                </a:gridCol>
                <a:gridCol w="2228850">
                  <a:extLst>
                    <a:ext uri="{9D8B030D-6E8A-4147-A177-3AD203B41FA5}">
                      <a16:colId xmlns:a16="http://schemas.microsoft.com/office/drawing/2014/main" val="3693987394"/>
                    </a:ext>
                  </a:extLst>
                </a:gridCol>
                <a:gridCol w="2076450">
                  <a:extLst>
                    <a:ext uri="{9D8B030D-6E8A-4147-A177-3AD203B41FA5}">
                      <a16:colId xmlns:a16="http://schemas.microsoft.com/office/drawing/2014/main" val="3515971832"/>
                    </a:ext>
                  </a:extLst>
                </a:gridCol>
              </a:tblGrid>
              <a:tr h="454982">
                <a:tc gridSpan="2">
                  <a:txBody>
                    <a:bodyPr/>
                    <a:lstStyle/>
                    <a:p>
                      <a:pPr algn="ctr" latinLnBrk="1"/>
                      <a:r>
                        <a:rPr lang="ko-KR" altLang="en-US" sz="1400" dirty="0"/>
                        <a:t>구분</a:t>
                      </a:r>
                    </a:p>
                  </a:txBody>
                  <a:tcPr anchor="ctr">
                    <a:solidFill>
                      <a:schemeClr val="accent1">
                        <a:lumMod val="20000"/>
                        <a:lumOff val="80000"/>
                      </a:schemeClr>
                    </a:solidFill>
                  </a:tcPr>
                </a:tc>
                <a:tc hMerge="1">
                  <a:txBody>
                    <a:bodyPr/>
                    <a:lstStyle/>
                    <a:p>
                      <a:pPr latinLnBrk="1"/>
                      <a:endParaRPr lang="ko-KR" altLang="en-US" dirty="0"/>
                    </a:p>
                  </a:txBody>
                  <a:tcPr/>
                </a:tc>
                <a:tc>
                  <a:txBody>
                    <a:bodyPr/>
                    <a:lstStyle/>
                    <a:p>
                      <a:pPr algn="ctr" latinLnBrk="1"/>
                      <a:r>
                        <a:rPr lang="ko-KR" altLang="en-US" sz="1400" dirty="0" err="1"/>
                        <a:t>국제출원할</a:t>
                      </a:r>
                      <a:r>
                        <a:rPr lang="ko-KR" altLang="en-US" sz="1400" dirty="0"/>
                        <a:t> 수 </a:t>
                      </a:r>
                      <a:endParaRPr lang="en-US" altLang="ko-KR" sz="1400" dirty="0"/>
                    </a:p>
                    <a:p>
                      <a:pPr algn="ctr" latinLnBrk="1"/>
                      <a:r>
                        <a:rPr lang="ko-KR" altLang="en-US" sz="1400" dirty="0"/>
                        <a:t>있는 자</a:t>
                      </a:r>
                    </a:p>
                  </a:txBody>
                  <a:tcPr anchor="ctr">
                    <a:solidFill>
                      <a:schemeClr val="accent1">
                        <a:lumMod val="20000"/>
                        <a:lumOff val="80000"/>
                      </a:schemeClr>
                    </a:solidFill>
                  </a:tcPr>
                </a:tc>
                <a:tc>
                  <a:txBody>
                    <a:bodyPr/>
                    <a:lstStyle/>
                    <a:p>
                      <a:pPr algn="ctr" latinLnBrk="1"/>
                      <a:r>
                        <a:rPr lang="ko-KR" altLang="en-US" sz="1400" dirty="0" err="1"/>
                        <a:t>국제예비심사청구할</a:t>
                      </a:r>
                      <a:r>
                        <a:rPr lang="ko-KR" altLang="en-US" sz="1400" dirty="0"/>
                        <a:t> 수 </a:t>
                      </a:r>
                      <a:endParaRPr lang="en-US" altLang="ko-KR" sz="1400" dirty="0"/>
                    </a:p>
                    <a:p>
                      <a:pPr algn="ctr" latinLnBrk="1"/>
                      <a:r>
                        <a:rPr lang="ko-KR" altLang="en-US" sz="1400" dirty="0"/>
                        <a:t>있는 자</a:t>
                      </a:r>
                    </a:p>
                  </a:txBody>
                  <a:tcPr anchor="ctr">
                    <a:solidFill>
                      <a:schemeClr val="accent1">
                        <a:lumMod val="20000"/>
                        <a:lumOff val="80000"/>
                      </a:schemeClr>
                    </a:solidFill>
                  </a:tcPr>
                </a:tc>
                <a:extLst>
                  <a:ext uri="{0D108BD9-81ED-4DB2-BD59-A6C34878D82A}">
                    <a16:rowId xmlns:a16="http://schemas.microsoft.com/office/drawing/2014/main" val="895244330"/>
                  </a:ext>
                </a:extLst>
              </a:tr>
              <a:tr h="699264">
                <a:tc gridSpan="2">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파리조약 당사국</a:t>
                      </a:r>
                    </a:p>
                  </a:txBody>
                  <a:tcPr anchor="ctr"/>
                </a:tc>
                <a:tc hMerge="1">
                  <a:txBody>
                    <a:bodyPr/>
                    <a:lstStyle/>
                    <a:p>
                      <a:pPr latinLnBrk="1"/>
                      <a:endParaRPr lang="ko-KR" altLang="en-US" dirty="0"/>
                    </a:p>
                  </a:txBody>
                  <a:tcPr/>
                </a:tc>
                <a:tc>
                  <a:txBody>
                    <a:bodyPr/>
                    <a:lstStyle/>
                    <a:p>
                      <a:pPr algn="ctr" latinLnBrk="1"/>
                      <a:r>
                        <a:rPr lang="ko-KR" altLang="en-US" sz="1400" dirty="0"/>
                        <a:t>총회의 결정</a:t>
                      </a:r>
                      <a:endParaRPr lang="en-US" altLang="ko-KR" sz="1400" dirty="0"/>
                    </a:p>
                    <a:p>
                      <a:pPr algn="ctr" latinLnBrk="1"/>
                      <a:r>
                        <a:rPr lang="en-US" altLang="ko-KR" sz="1400" dirty="0"/>
                        <a:t>(</a:t>
                      </a:r>
                      <a:r>
                        <a:rPr lang="ko-KR" altLang="en-US" sz="1400" dirty="0"/>
                        <a:t>국민</a:t>
                      </a:r>
                      <a:r>
                        <a:rPr lang="en-US" altLang="ko-KR" sz="1400" dirty="0"/>
                        <a:t>/</a:t>
                      </a:r>
                      <a:r>
                        <a:rPr lang="ko-KR" altLang="en-US" sz="1400" dirty="0" err="1"/>
                        <a:t>재내자</a:t>
                      </a:r>
                      <a:r>
                        <a:rPr lang="en-US" altLang="ko-KR" sz="1400" dirty="0"/>
                        <a:t>)</a:t>
                      </a:r>
                      <a:endParaRPr lang="ko-KR" altLang="en-US" sz="1400" dirty="0"/>
                    </a:p>
                  </a:txBody>
                  <a:tcPr anchor="ctr"/>
                </a:tc>
                <a:tc>
                  <a:txBody>
                    <a:bodyPr/>
                    <a:lstStyle/>
                    <a:p>
                      <a:pPr algn="ctr" latinLnBrk="1"/>
                      <a:r>
                        <a:rPr lang="ko-KR" altLang="en-US" sz="1400" dirty="0"/>
                        <a:t>총회의 결정</a:t>
                      </a:r>
                      <a:endParaRPr lang="en-US" altLang="ko-KR" sz="1400" dirty="0"/>
                    </a:p>
                    <a:p>
                      <a:pPr algn="ctr" latinLnBrk="1"/>
                      <a:r>
                        <a:rPr lang="en-US" altLang="ko-KR" sz="1400" dirty="0"/>
                        <a:t>(</a:t>
                      </a:r>
                      <a:r>
                        <a:rPr lang="ko-KR" altLang="en-US" sz="1400" dirty="0"/>
                        <a:t>국민</a:t>
                      </a:r>
                      <a:r>
                        <a:rPr lang="en-US" altLang="ko-KR" sz="1400" dirty="0"/>
                        <a:t>/</a:t>
                      </a:r>
                      <a:r>
                        <a:rPr lang="ko-KR" altLang="en-US" sz="1400" dirty="0" err="1"/>
                        <a:t>재내자</a:t>
                      </a:r>
                      <a:r>
                        <a:rPr lang="en-US" altLang="ko-KR" sz="1400" dirty="0"/>
                        <a:t>)</a:t>
                      </a:r>
                      <a:endParaRPr lang="ko-KR" altLang="en-US" sz="1400" dirty="0"/>
                    </a:p>
                  </a:txBody>
                  <a:tcPr anchor="ctr"/>
                </a:tc>
                <a:extLst>
                  <a:ext uri="{0D108BD9-81ED-4DB2-BD59-A6C34878D82A}">
                    <a16:rowId xmlns:a16="http://schemas.microsoft.com/office/drawing/2014/main" val="374892121"/>
                  </a:ext>
                </a:extLst>
              </a:tr>
              <a:tr h="699264">
                <a:tc rowSpan="2">
                  <a:txBody>
                    <a:bodyPr/>
                    <a:lstStyle/>
                    <a:p>
                      <a:pPr algn="ctr"/>
                      <a:r>
                        <a:rPr lang="en-US" altLang="ko-KR" sz="1400" dirty="0"/>
                        <a:t>PCT </a:t>
                      </a:r>
                    </a:p>
                    <a:p>
                      <a:pPr algn="ctr"/>
                      <a:r>
                        <a:rPr lang="ko-KR" altLang="en-US" sz="1400" dirty="0"/>
                        <a:t>당사국</a:t>
                      </a:r>
                    </a:p>
                  </a:txBody>
                  <a:tcPr anchor="ct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제</a:t>
                      </a:r>
                      <a:r>
                        <a:rPr lang="en-US" altLang="ko-KR" sz="1400" dirty="0"/>
                        <a:t>2</a:t>
                      </a:r>
                      <a:r>
                        <a:rPr lang="ko-KR" altLang="en-US" sz="1400" dirty="0"/>
                        <a:t>장 구속</a:t>
                      </a:r>
                    </a:p>
                  </a:txBody>
                  <a:tcPr anchor="ctr"/>
                </a:tc>
                <a:tc rowSpan="2">
                  <a:txBody>
                    <a:bodyPr/>
                    <a:lstStyle/>
                    <a:p>
                      <a:pPr marL="85725" indent="-85725" algn="l" latinLnBrk="1">
                        <a:buFontTx/>
                        <a:buChar char="-"/>
                      </a:pPr>
                      <a:r>
                        <a:rPr lang="ko-KR" altLang="en-US" sz="1400" dirty="0"/>
                        <a:t>국민</a:t>
                      </a:r>
                      <a:endParaRPr lang="en-US" altLang="ko-KR" sz="1400" dirty="0"/>
                    </a:p>
                    <a:p>
                      <a:pPr marL="85725" indent="-85725" algn="l" latinLnBrk="1">
                        <a:buFontTx/>
                        <a:buChar char="-"/>
                      </a:pPr>
                      <a:r>
                        <a:rPr lang="ko-KR" altLang="en-US" sz="1400" dirty="0" err="1"/>
                        <a:t>재내자</a:t>
                      </a:r>
                      <a:endParaRPr lang="en-US" altLang="ko-KR" sz="1400" dirty="0"/>
                    </a:p>
                    <a:p>
                      <a:pPr marL="85725" indent="-85725" algn="l" latinLnBrk="1">
                        <a:buFontTx/>
                        <a:buChar char="-"/>
                      </a:pPr>
                      <a:r>
                        <a:rPr lang="ko-KR" altLang="en-US" sz="1400" dirty="0"/>
                        <a:t>둘 中 한 명 이상을 대표자로 하는 자</a:t>
                      </a:r>
                      <a:endParaRPr lang="en-US" altLang="ko-KR" sz="1400" dirty="0"/>
                    </a:p>
                    <a:p>
                      <a:pPr marL="85725" indent="-85725" algn="l" latinLnBrk="1">
                        <a:buFontTx/>
                        <a:buChar char="-"/>
                      </a:pPr>
                      <a:r>
                        <a:rPr lang="ko-KR" altLang="en-US" sz="1400" dirty="0"/>
                        <a:t>둘 中 한 명 이상과 공동출원하는 자</a:t>
                      </a:r>
                    </a:p>
                  </a:txBody>
                  <a:tcPr anchor="ctr"/>
                </a:tc>
                <a:tc>
                  <a:txBody>
                    <a:bodyPr/>
                    <a:lstStyle/>
                    <a:p>
                      <a:pPr algn="ctr" latinLnBrk="1"/>
                      <a:r>
                        <a:rPr lang="ko-KR" altLang="en-US" sz="1400" dirty="0" err="1"/>
                        <a:t>좌동</a:t>
                      </a:r>
                      <a:endParaRPr lang="ko-KR" altLang="en-US" sz="1400" dirty="0"/>
                    </a:p>
                  </a:txBody>
                  <a:tcPr anchor="ctr"/>
                </a:tc>
                <a:extLst>
                  <a:ext uri="{0D108BD9-81ED-4DB2-BD59-A6C34878D82A}">
                    <a16:rowId xmlns:a16="http://schemas.microsoft.com/office/drawing/2014/main" val="3225950519"/>
                  </a:ext>
                </a:extLst>
              </a:tr>
              <a:tr h="1151729">
                <a:tc vMerge="1">
                  <a:txBody>
                    <a:bodyPr/>
                    <a:lstStyle/>
                    <a:p>
                      <a:endParaRPr lang="ko-KR" altLang="en-US" dirty="0"/>
                    </a:p>
                  </a:txBody>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400" dirty="0"/>
                        <a:t>제</a:t>
                      </a:r>
                      <a:r>
                        <a:rPr lang="en-US" altLang="ko-KR" sz="1400" dirty="0"/>
                        <a:t>2</a:t>
                      </a:r>
                      <a:r>
                        <a:rPr lang="ko-KR" altLang="en-US" sz="1400" dirty="0"/>
                        <a:t>장 불구속</a:t>
                      </a:r>
                    </a:p>
                  </a:txBody>
                  <a:tcPr anchor="ctr"/>
                </a:tc>
                <a:tc vMerge="1">
                  <a:txBody>
                    <a:bodyPr/>
                    <a:lstStyle/>
                    <a:p>
                      <a:pPr latinLnBrk="1"/>
                      <a:endParaRPr lang="ko-KR" altLang="en-US" sz="1400" dirty="0"/>
                    </a:p>
                  </a:txBody>
                  <a:tcPr/>
                </a:tc>
                <a:tc>
                  <a:txBody>
                    <a:bodyPr/>
                    <a:lstStyle/>
                    <a:p>
                      <a:pPr algn="ctr" latinLnBrk="1"/>
                      <a:r>
                        <a:rPr lang="ko-KR" altLang="en-US" sz="1400" dirty="0"/>
                        <a:t>총회의 결정</a:t>
                      </a:r>
                      <a:endParaRPr lang="en-US" altLang="ko-KR" sz="1400" dirty="0"/>
                    </a:p>
                    <a:p>
                      <a:pPr algn="ctr" latinLnBrk="1"/>
                      <a:r>
                        <a:rPr lang="en-US" altLang="ko-KR" sz="1400" dirty="0"/>
                        <a:t>(</a:t>
                      </a:r>
                      <a:r>
                        <a:rPr lang="ko-KR" altLang="en-US" sz="1400" dirty="0"/>
                        <a:t>국민</a:t>
                      </a:r>
                      <a:r>
                        <a:rPr lang="en-US" altLang="ko-KR" sz="1400" dirty="0"/>
                        <a:t>/</a:t>
                      </a:r>
                      <a:r>
                        <a:rPr lang="ko-KR" altLang="en-US" sz="1400" dirty="0" err="1"/>
                        <a:t>재내자</a:t>
                      </a:r>
                      <a:r>
                        <a:rPr lang="en-US" altLang="ko-KR" sz="1400" dirty="0"/>
                        <a:t>)</a:t>
                      </a:r>
                      <a:endParaRPr lang="ko-KR" altLang="en-US" sz="1400" dirty="0"/>
                    </a:p>
                  </a:txBody>
                  <a:tcPr anchor="ctr"/>
                </a:tc>
                <a:extLst>
                  <a:ext uri="{0D108BD9-81ED-4DB2-BD59-A6C34878D82A}">
                    <a16:rowId xmlns:a16="http://schemas.microsoft.com/office/drawing/2014/main" val="545480520"/>
                  </a:ext>
                </a:extLst>
              </a:tr>
            </a:tbl>
          </a:graphicData>
        </a:graphic>
      </p:graphicFrame>
      <p:cxnSp>
        <p:nvCxnSpPr>
          <p:cNvPr id="100" name="직선 연결선 99"/>
          <p:cNvCxnSpPr/>
          <p:nvPr/>
        </p:nvCxnSpPr>
        <p:spPr>
          <a:xfrm flipV="1">
            <a:off x="5035608" y="2292498"/>
            <a:ext cx="0" cy="3571746"/>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555</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600292362"/>
      </p:ext>
    </p:extLst>
  </p:cSld>
  <p:clrMapOvr>
    <a:masterClrMapping/>
  </p:clrMapOvr>
  <p:transition/>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양쪽 모서리가 둥근 사각형 4"/>
          <p:cNvSpPr/>
          <p:nvPr/>
        </p:nvSpPr>
        <p:spPr>
          <a:xfrm>
            <a:off x="730060" y="3609975"/>
            <a:ext cx="3003740" cy="446747"/>
          </a:xfrm>
          <a:prstGeom prst="round2SameRect">
            <a:avLst>
              <a:gd name="adj1" fmla="val 50000"/>
              <a:gd name="adj2" fmla="val 0"/>
            </a:avLst>
          </a:prstGeom>
          <a:pattFill prst="lgGrid">
            <a:fgClr>
              <a:schemeClr val="accent2">
                <a:lumMod val="60000"/>
                <a:lumOff val="4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6" name="제목 15"/>
          <p:cNvSpPr>
            <a:spLocks noGrp="1"/>
          </p:cNvSpPr>
          <p:nvPr>
            <p:ph type="title"/>
          </p:nvPr>
        </p:nvSpPr>
        <p:spPr/>
        <p:txBody>
          <a:bodyPr/>
          <a:lstStyle/>
          <a:p>
            <a:r>
              <a:rPr lang="ko-KR" altLang="en-US" dirty="0"/>
              <a:t>제</a:t>
            </a:r>
            <a:r>
              <a:rPr lang="en-US" altLang="ko-KR" dirty="0"/>
              <a:t>193</a:t>
            </a:r>
            <a:r>
              <a:rPr lang="ko-KR" altLang="en-US" dirty="0"/>
              <a:t>조</a:t>
            </a:r>
          </a:p>
        </p:txBody>
      </p:sp>
      <p:sp>
        <p:nvSpPr>
          <p:cNvPr id="17" name="텍스트 개체 틀 16"/>
          <p:cNvSpPr>
            <a:spLocks noGrp="1"/>
          </p:cNvSpPr>
          <p:nvPr>
            <p:ph type="body" sz="quarter" idx="13"/>
          </p:nvPr>
        </p:nvSpPr>
        <p:spPr/>
        <p:txBody>
          <a:bodyPr/>
          <a:lstStyle/>
          <a:p>
            <a:r>
              <a:rPr lang="ko-KR" altLang="en-US" dirty="0" err="1"/>
              <a:t>출원서의</a:t>
            </a:r>
            <a:r>
              <a:rPr lang="ko-KR" altLang="en-US" dirty="0"/>
              <a:t> 제출로 간주되는 내용</a:t>
            </a:r>
          </a:p>
        </p:txBody>
      </p:sp>
      <p:cxnSp>
        <p:nvCxnSpPr>
          <p:cNvPr id="73" name="직선 연결선 72"/>
          <p:cNvCxnSpPr/>
          <p:nvPr/>
        </p:nvCxnSpPr>
        <p:spPr>
          <a:xfrm>
            <a:off x="77875" y="235374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TextBox 73"/>
          <p:cNvSpPr txBox="1"/>
          <p:nvPr/>
        </p:nvSpPr>
        <p:spPr>
          <a:xfrm>
            <a:off x="77875" y="976902"/>
            <a:ext cx="11936323" cy="1384995"/>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국제출원의</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출원서</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등이 제출된 경우에는 다음의 사항이 행하여진 것으로 본다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施規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93</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의</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p>
          <a:p>
            <a:pPr marL="266700" marR="0" lvl="0" indent="-26670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ⅰ) </a:t>
            </a:r>
            <a:r>
              <a:rPr kumimoji="0" lang="ko-KR" altLang="en-US"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조약 제</a:t>
            </a:r>
            <a:r>
              <a:rPr kumimoji="0" lang="en-US" altLang="ko-KR"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11</a:t>
            </a:r>
            <a:r>
              <a:rPr kumimoji="0" lang="ko-KR" altLang="en-US"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조에 따른 국제출원일에 조약에 구속되는 모든 체약국의 지정</a:t>
            </a:r>
            <a:r>
              <a:rPr kumimoji="0" lang="en-US" altLang="ko-KR"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이를 자동지정제도라 한다</a:t>
            </a:r>
            <a:r>
              <a:rPr kumimoji="0" lang="en-US" altLang="ko-KR"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다만</a:t>
            </a:r>
            <a:r>
              <a:rPr kumimoji="0" lang="en-US" altLang="ko-KR"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lumMod val="50000"/>
                  </a:srgbClr>
                </a:solidFill>
                <a:effectLst/>
                <a:highlight>
                  <a:srgbClr val="FFFF00"/>
                </a:highlight>
                <a:uLnTx/>
                <a:uFillTx/>
                <a:latin typeface="Rix모던고딕 B"/>
                <a:ea typeface="Rix모던고딕 B"/>
                <a:cs typeface="+mn-cs"/>
              </a:rPr>
              <a:t>조약규칙</a:t>
            </a:r>
            <a:r>
              <a:rPr kumimoji="0" lang="ko-KR" altLang="en-US"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 </a:t>
            </a:r>
            <a:r>
              <a:rPr kumimoji="0" lang="en-US" altLang="ko-KR"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4.9(b)</a:t>
            </a:r>
            <a:r>
              <a:rPr kumimoji="0" lang="ko-KR" altLang="en-US"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에 따른 우선권 주장의 기초가 되는 자국내 </a:t>
            </a:r>
            <a:r>
              <a:rPr kumimoji="0" lang="ko-KR" altLang="en-US" sz="1400" b="0" i="0" u="none" strike="noStrike" kern="1200" cap="none" spc="0" normalizeH="0" baseline="0" noProof="0" dirty="0" err="1">
                <a:ln>
                  <a:noFill/>
                </a:ln>
                <a:solidFill>
                  <a:srgbClr val="44546A">
                    <a:lumMod val="50000"/>
                  </a:srgbClr>
                </a:solidFill>
                <a:effectLst/>
                <a:highlight>
                  <a:srgbClr val="FFFF00"/>
                </a:highlight>
                <a:uLnTx/>
                <a:uFillTx/>
                <a:latin typeface="Rix모던고딕 B"/>
                <a:ea typeface="Rix모던고딕 B"/>
                <a:cs typeface="+mn-cs"/>
              </a:rPr>
              <a:t>선출원에</a:t>
            </a:r>
            <a:r>
              <a:rPr kumimoji="0" lang="ko-KR" altLang="en-US"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 대하여 취하되는 효과를 규정하고 있는 체약국에 대해서는 </a:t>
            </a:r>
            <a:r>
              <a:rPr kumimoji="0" lang="ko-KR" altLang="en-US" sz="1400" b="0" i="0" u="none" strike="noStrike" kern="1200" cap="none" spc="0" normalizeH="0" baseline="0" noProof="0" dirty="0" err="1">
                <a:ln>
                  <a:noFill/>
                </a:ln>
                <a:solidFill>
                  <a:srgbClr val="44546A">
                    <a:lumMod val="50000"/>
                  </a:srgbClr>
                </a:solidFill>
                <a:effectLst/>
                <a:highlight>
                  <a:srgbClr val="FFFF00"/>
                </a:highlight>
                <a:uLnTx/>
                <a:uFillTx/>
                <a:latin typeface="Rix모던고딕 B"/>
                <a:ea typeface="Rix모던고딕 B"/>
                <a:cs typeface="+mn-cs"/>
              </a:rPr>
              <a:t>국제출원의</a:t>
            </a:r>
            <a:r>
              <a:rPr kumimoji="0" lang="ko-KR" altLang="en-US"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lumMod val="50000"/>
                  </a:srgbClr>
                </a:solidFill>
                <a:effectLst/>
                <a:highlight>
                  <a:srgbClr val="FFFF00"/>
                </a:highlight>
                <a:uLnTx/>
                <a:uFillTx/>
                <a:latin typeface="Rix모던고딕 B"/>
                <a:ea typeface="Rix모던고딕 B"/>
                <a:cs typeface="+mn-cs"/>
              </a:rPr>
              <a:t>출원인은</a:t>
            </a:r>
            <a:r>
              <a:rPr kumimoji="0" lang="ko-KR" altLang="en-US"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 해당 체약국의 지정을 제외할 수 있다</a:t>
            </a:r>
            <a:r>
              <a:rPr kumimoji="0" lang="en-US" altLang="ko-KR"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rPr>
              <a:t> </a:t>
            </a:r>
            <a:endParaRPr kumimoji="0" lang="en-US" altLang="ko-KR" sz="1400" b="0" i="0" u="none" strike="noStrike" kern="1200" cap="none" spc="0" normalizeH="0" baseline="0" noProof="0" dirty="0">
              <a:ln>
                <a:noFill/>
              </a:ln>
              <a:solidFill>
                <a:srgbClr val="44546A">
                  <a:lumMod val="50000"/>
                </a:srgbClr>
              </a:solidFill>
              <a:effectLst/>
              <a:highlight>
                <a:srgbClr val="FFFF00"/>
              </a:highlight>
              <a:uLnTx/>
              <a:uFillTx/>
              <a:latin typeface="Rix모던고딕 B"/>
              <a:ea typeface="Rix모던고딕 B"/>
              <a:cs typeface="+mn-cs"/>
            </a:endParaRPr>
          </a:p>
          <a:p>
            <a:pPr marL="266700" marR="0" lvl="0" indent="-26670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ⅱ)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지정국</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중 조약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43</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 또는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44</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조가 적용되는 각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지정국에서</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얻을 수 있는 모든 종류의 권리를 위한 것이라는 표시</a:t>
            </a:r>
            <a:endPar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endParaRPr>
          </a:p>
          <a:p>
            <a:pPr marL="266700" marR="0" lvl="0" indent="-26670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ⅲ)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조약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45</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 적용되는 각 지역구의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지역특허</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조약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(ⅳ)</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에 따른 특허를 말한다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및 국내특허</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조약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45</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가 적용되는 경우를 제외한다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를 위한 것이라는 표시</a:t>
            </a:r>
          </a:p>
        </p:txBody>
      </p:sp>
      <p:cxnSp>
        <p:nvCxnSpPr>
          <p:cNvPr id="22" name="직선 연결선 21"/>
          <p:cNvCxnSpPr/>
          <p:nvPr/>
        </p:nvCxnSpPr>
        <p:spPr>
          <a:xfrm>
            <a:off x="319894" y="4055959"/>
            <a:ext cx="5696789"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224152" y="3847172"/>
            <a:ext cx="1011815" cy="41757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국내출원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24" name="TextBox 23"/>
          <p:cNvSpPr txBox="1"/>
          <p:nvPr/>
        </p:nvSpPr>
        <p:spPr>
          <a:xfrm>
            <a:off x="1626677" y="3847172"/>
            <a:ext cx="1011815" cy="41757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국제출원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6" name="TextBox 35"/>
          <p:cNvSpPr txBox="1"/>
          <p:nvPr/>
        </p:nvSpPr>
        <p:spPr>
          <a:xfrm>
            <a:off x="1626677" y="4224192"/>
            <a:ext cx="1011815" cy="322324"/>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우선권주장</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7" name="TextBox 36"/>
          <p:cNvSpPr txBox="1"/>
          <p:nvPr/>
        </p:nvSpPr>
        <p:spPr>
          <a:xfrm>
            <a:off x="224152" y="2967185"/>
            <a:ext cx="1011815" cy="322324"/>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p>
        </p:txBody>
      </p:sp>
      <p:sp>
        <p:nvSpPr>
          <p:cNvPr id="38" name="TextBox 37"/>
          <p:cNvSpPr txBox="1"/>
          <p:nvPr/>
        </p:nvSpPr>
        <p:spPr>
          <a:xfrm>
            <a:off x="224152" y="2644861"/>
            <a:ext cx="1011815" cy="322324"/>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p>
        </p:txBody>
      </p:sp>
      <p:sp>
        <p:nvSpPr>
          <p:cNvPr id="39" name="TextBox 38"/>
          <p:cNvSpPr txBox="1"/>
          <p:nvPr/>
        </p:nvSpPr>
        <p:spPr>
          <a:xfrm>
            <a:off x="1626677" y="2967185"/>
            <a:ext cx="1011815" cy="322324"/>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p>
        </p:txBody>
      </p:sp>
      <p:sp>
        <p:nvSpPr>
          <p:cNvPr id="40" name="TextBox 39"/>
          <p:cNvSpPr txBox="1"/>
          <p:nvPr/>
        </p:nvSpPr>
        <p:spPr>
          <a:xfrm>
            <a:off x="1626677" y="2644861"/>
            <a:ext cx="1011815" cy="322324"/>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p>
        </p:txBody>
      </p:sp>
      <p:sp>
        <p:nvSpPr>
          <p:cNvPr id="41" name="TextBox 40"/>
          <p:cNvSpPr txBox="1"/>
          <p:nvPr/>
        </p:nvSpPr>
        <p:spPr>
          <a:xfrm>
            <a:off x="3206082" y="3847172"/>
            <a:ext cx="1011815" cy="417574"/>
          </a:xfrm>
          <a:prstGeom prst="rect">
            <a:avLst/>
          </a:prstGeom>
          <a:solidFill>
            <a:schemeClr val="bg1"/>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취하간주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cxnSp>
        <p:nvCxnSpPr>
          <p:cNvPr id="3" name="직선 연결선 2"/>
          <p:cNvCxnSpPr>
            <a:stCxn id="37" idx="2"/>
            <a:endCxn id="23" idx="0"/>
          </p:cNvCxnSpPr>
          <p:nvPr/>
        </p:nvCxnSpPr>
        <p:spPr>
          <a:xfrm>
            <a:off x="730060" y="3289509"/>
            <a:ext cx="0" cy="55766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직선 연결선 41"/>
          <p:cNvCxnSpPr/>
          <p:nvPr/>
        </p:nvCxnSpPr>
        <p:spPr>
          <a:xfrm>
            <a:off x="2130235" y="3289509"/>
            <a:ext cx="0" cy="55766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2134360" y="3318219"/>
            <a:ext cx="1011815" cy="322324"/>
          </a:xfrm>
          <a:prstGeom prst="rect">
            <a:avLst/>
          </a:prstGeom>
          <a:noFill/>
          <a:ln>
            <a:no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월</a:t>
            </a:r>
          </a:p>
        </p:txBody>
      </p:sp>
      <p:sp>
        <p:nvSpPr>
          <p:cNvPr id="45" name="TextBox 44"/>
          <p:cNvSpPr txBox="1"/>
          <p:nvPr/>
        </p:nvSpPr>
        <p:spPr>
          <a:xfrm>
            <a:off x="455169" y="5031959"/>
            <a:ext cx="4848893" cy="322324"/>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150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여개 체약국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자동지정</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6" name="TextBox 45"/>
          <p:cNvSpPr txBox="1"/>
          <p:nvPr/>
        </p:nvSpPr>
        <p:spPr>
          <a:xfrm>
            <a:off x="455169" y="5934888"/>
            <a:ext cx="4848893" cy="494538"/>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국내우선권주장의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효과가 발생하지 않기 때문에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취하간주되지</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않고 국내에서의 절차가 진행되며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국제출원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은 국내단계로 진입불가</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7" name="TextBox 46"/>
          <p:cNvSpPr txBox="1"/>
          <p:nvPr/>
        </p:nvSpPr>
        <p:spPr>
          <a:xfrm>
            <a:off x="455169" y="5386560"/>
            <a:ext cx="4848893" cy="494538"/>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불필요하게 한국에 동일한 발명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을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번 출원할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필요가 없기 때문에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한국지정</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배제 가능</a:t>
            </a:r>
            <a:endPar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50" name="직선 연결선 49"/>
          <p:cNvCxnSpPr/>
          <p:nvPr/>
        </p:nvCxnSpPr>
        <p:spPr>
          <a:xfrm flipV="1">
            <a:off x="6092883" y="2700520"/>
            <a:ext cx="0" cy="3571746"/>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4679229" y="3847172"/>
            <a:ext cx="1011815" cy="417574"/>
          </a:xfrm>
          <a:prstGeom prst="rect">
            <a:avLst/>
          </a:prstGeom>
          <a:solidFill>
            <a:schemeClr val="bg1"/>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한국국내</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단계진입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2" name="양쪽 모서리가 둥근 사각형 61"/>
          <p:cNvSpPr/>
          <p:nvPr/>
        </p:nvSpPr>
        <p:spPr>
          <a:xfrm>
            <a:off x="6826060" y="3609975"/>
            <a:ext cx="3003740" cy="446747"/>
          </a:xfrm>
          <a:prstGeom prst="round2SameRect">
            <a:avLst>
              <a:gd name="adj1" fmla="val 50000"/>
              <a:gd name="adj2" fmla="val 0"/>
            </a:avLst>
          </a:prstGeom>
          <a:pattFill prst="lgGrid">
            <a:fgClr>
              <a:schemeClr val="accent2">
                <a:lumMod val="60000"/>
                <a:lumOff val="4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63" name="직선 연결선 62"/>
          <p:cNvCxnSpPr/>
          <p:nvPr/>
        </p:nvCxnSpPr>
        <p:spPr>
          <a:xfrm>
            <a:off x="6415894" y="4055959"/>
            <a:ext cx="5696789"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6320152" y="3847172"/>
            <a:ext cx="1011815" cy="41757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국내출원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65" name="TextBox 64"/>
          <p:cNvSpPr txBox="1"/>
          <p:nvPr/>
        </p:nvSpPr>
        <p:spPr>
          <a:xfrm>
            <a:off x="7722677" y="3847172"/>
            <a:ext cx="1011815" cy="417574"/>
          </a:xfrm>
          <a:prstGeom prst="rect">
            <a:avLst/>
          </a:prstGeom>
          <a:solidFill>
            <a:schemeClr val="accent1">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국제출원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6" name="TextBox 65"/>
          <p:cNvSpPr txBox="1"/>
          <p:nvPr/>
        </p:nvSpPr>
        <p:spPr>
          <a:xfrm>
            <a:off x="7722677" y="4224192"/>
            <a:ext cx="1011815" cy="322324"/>
          </a:xfrm>
          <a:prstGeom prst="rect">
            <a:avLst/>
          </a:prstGeom>
          <a:solidFill>
            <a:schemeClr val="accent4">
              <a:lumMod val="20000"/>
              <a:lumOff val="80000"/>
            </a:schemeClr>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우선권주장</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7" name="TextBox 66"/>
          <p:cNvSpPr txBox="1"/>
          <p:nvPr/>
        </p:nvSpPr>
        <p:spPr>
          <a:xfrm>
            <a:off x="6320152" y="2967185"/>
            <a:ext cx="1011815" cy="322324"/>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p>
        </p:txBody>
      </p:sp>
      <p:sp>
        <p:nvSpPr>
          <p:cNvPr id="68" name="TextBox 67"/>
          <p:cNvSpPr txBox="1"/>
          <p:nvPr/>
        </p:nvSpPr>
        <p:spPr>
          <a:xfrm>
            <a:off x="6320152" y="2644861"/>
            <a:ext cx="1011815" cy="322324"/>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a:t>
            </a:r>
          </a:p>
        </p:txBody>
      </p:sp>
      <p:sp>
        <p:nvSpPr>
          <p:cNvPr id="69" name="TextBox 68"/>
          <p:cNvSpPr txBox="1"/>
          <p:nvPr/>
        </p:nvSpPr>
        <p:spPr>
          <a:xfrm>
            <a:off x="7722677" y="2967185"/>
            <a:ext cx="1011815" cy="322324"/>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a:t>
            </a:r>
          </a:p>
        </p:txBody>
      </p:sp>
      <p:sp>
        <p:nvSpPr>
          <p:cNvPr id="70" name="TextBox 69"/>
          <p:cNvSpPr txBox="1"/>
          <p:nvPr/>
        </p:nvSpPr>
        <p:spPr>
          <a:xfrm>
            <a:off x="7722677" y="2644861"/>
            <a:ext cx="1011815" cy="322324"/>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 B</a:t>
            </a:r>
          </a:p>
        </p:txBody>
      </p:sp>
      <p:sp>
        <p:nvSpPr>
          <p:cNvPr id="71" name="TextBox 70"/>
          <p:cNvSpPr txBox="1"/>
          <p:nvPr/>
        </p:nvSpPr>
        <p:spPr>
          <a:xfrm>
            <a:off x="9302082" y="3847172"/>
            <a:ext cx="1011815" cy="417574"/>
          </a:xfrm>
          <a:prstGeom prst="rect">
            <a:avLst/>
          </a:prstGeom>
          <a:solidFill>
            <a:schemeClr val="bg1"/>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취하간주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cxnSp>
        <p:nvCxnSpPr>
          <p:cNvPr id="72" name="직선 연결선 71"/>
          <p:cNvCxnSpPr>
            <a:stCxn id="67" idx="2"/>
            <a:endCxn id="64" idx="0"/>
          </p:cNvCxnSpPr>
          <p:nvPr/>
        </p:nvCxnSpPr>
        <p:spPr>
          <a:xfrm>
            <a:off x="6826060" y="3289509"/>
            <a:ext cx="0" cy="55766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5" name="직선 연결선 74"/>
          <p:cNvCxnSpPr/>
          <p:nvPr/>
        </p:nvCxnSpPr>
        <p:spPr>
          <a:xfrm>
            <a:off x="8226235" y="3289509"/>
            <a:ext cx="0" cy="55766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6" name="TextBox 75"/>
          <p:cNvSpPr txBox="1"/>
          <p:nvPr/>
        </p:nvSpPr>
        <p:spPr>
          <a:xfrm>
            <a:off x="8230360" y="3318219"/>
            <a:ext cx="1011815" cy="322324"/>
          </a:xfrm>
          <a:prstGeom prst="rect">
            <a:avLst/>
          </a:prstGeom>
          <a:noFill/>
          <a:ln>
            <a:no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월</a:t>
            </a:r>
          </a:p>
        </p:txBody>
      </p:sp>
      <p:sp>
        <p:nvSpPr>
          <p:cNvPr id="77" name="TextBox 76"/>
          <p:cNvSpPr txBox="1"/>
          <p:nvPr/>
        </p:nvSpPr>
        <p:spPr>
          <a:xfrm>
            <a:off x="7313171" y="5031959"/>
            <a:ext cx="4018217" cy="322324"/>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150</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여개 체약국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자동지정</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8" name="TextBox 77"/>
          <p:cNvSpPr txBox="1"/>
          <p:nvPr/>
        </p:nvSpPr>
        <p:spPr>
          <a:xfrm>
            <a:off x="7313171" y="5408647"/>
            <a:ext cx="4018217" cy="494538"/>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B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발명을 보호할 필요가 있기 때문에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한국 지정을 </a:t>
            </a:r>
            <a:endPar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배제하지 않음</a:t>
            </a:r>
            <a:endPar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81" name="TextBox 80"/>
          <p:cNvSpPr txBox="1"/>
          <p:nvPr/>
        </p:nvSpPr>
        <p:spPr>
          <a:xfrm>
            <a:off x="10775229" y="3847172"/>
            <a:ext cx="1011815" cy="417574"/>
          </a:xfrm>
          <a:prstGeom prst="rect">
            <a:avLst/>
          </a:prstGeom>
          <a:solidFill>
            <a:schemeClr val="bg1"/>
          </a:solid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한국국내</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단계진입</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2" name="도넛 81"/>
          <p:cNvSpPr/>
          <p:nvPr/>
        </p:nvSpPr>
        <p:spPr>
          <a:xfrm>
            <a:off x="10129839" y="4150287"/>
            <a:ext cx="368116" cy="351656"/>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83" name="곱셈 기호 82"/>
          <p:cNvSpPr/>
          <p:nvPr/>
        </p:nvSpPr>
        <p:spPr>
          <a:xfrm>
            <a:off x="5445714" y="4055453"/>
            <a:ext cx="573921" cy="602794"/>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4" name="도넛 83"/>
          <p:cNvSpPr/>
          <p:nvPr/>
        </p:nvSpPr>
        <p:spPr>
          <a:xfrm>
            <a:off x="11602986" y="4150287"/>
            <a:ext cx="368116" cy="351656"/>
          </a:xfrm>
          <a:prstGeom prst="donu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85" name="곱셈 기호 84"/>
          <p:cNvSpPr/>
          <p:nvPr/>
        </p:nvSpPr>
        <p:spPr>
          <a:xfrm>
            <a:off x="3930937" y="4055453"/>
            <a:ext cx="573921" cy="602794"/>
          </a:xfrm>
          <a:prstGeom prst="mathMultiply">
            <a:avLst>
              <a:gd name="adj1" fmla="val 16441"/>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556</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4" name="TextBox 3">
            <a:extLst>
              <a:ext uri="{FF2B5EF4-FFF2-40B4-BE49-F238E27FC236}">
                <a16:creationId xmlns:a16="http://schemas.microsoft.com/office/drawing/2014/main" id="{AC3DE519-9AAE-0CC6-B40D-5CA1DB862817}"/>
              </a:ext>
            </a:extLst>
          </p:cNvPr>
          <p:cNvSpPr txBox="1"/>
          <p:nvPr/>
        </p:nvSpPr>
        <p:spPr>
          <a:xfrm>
            <a:off x="7313171" y="5952993"/>
            <a:ext cx="4018217" cy="494538"/>
          </a:xfrm>
          <a:prstGeom prst="rect">
            <a:avLst/>
          </a:prstGeom>
          <a:noFill/>
          <a:ln>
            <a:solidFill>
              <a:schemeClr val="bg1">
                <a:lumMod val="50000"/>
              </a:schemeClr>
            </a:solidFill>
          </a:ln>
        </p:spPr>
        <p:txBody>
          <a:bodyPr wrap="square" rtlCol="0" anchor="ctr">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국내우선권주장의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효과로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취하간주되기</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때문에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국제출원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은 국내단계로 진입해야 함</a:t>
            </a:r>
            <a:endPar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8" name="연결선: 꺾임 7">
            <a:extLst>
              <a:ext uri="{FF2B5EF4-FFF2-40B4-BE49-F238E27FC236}">
                <a16:creationId xmlns:a16="http://schemas.microsoft.com/office/drawing/2014/main" id="{595E6A25-9EFC-76FC-CEE0-9658723936DF}"/>
              </a:ext>
            </a:extLst>
          </p:cNvPr>
          <p:cNvCxnSpPr>
            <a:stCxn id="66" idx="2"/>
            <a:endCxn id="77" idx="0"/>
          </p:cNvCxnSpPr>
          <p:nvPr/>
        </p:nvCxnSpPr>
        <p:spPr>
          <a:xfrm rot="16200000" flipH="1">
            <a:off x="8532711" y="4242389"/>
            <a:ext cx="485443" cy="109369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연결선: 꺾임 11">
            <a:extLst>
              <a:ext uri="{FF2B5EF4-FFF2-40B4-BE49-F238E27FC236}">
                <a16:creationId xmlns:a16="http://schemas.microsoft.com/office/drawing/2014/main" id="{C83A63C9-C46F-B192-1B44-B443382415AD}"/>
              </a:ext>
            </a:extLst>
          </p:cNvPr>
          <p:cNvCxnSpPr>
            <a:stCxn id="36" idx="2"/>
            <a:endCxn id="45" idx="0"/>
          </p:cNvCxnSpPr>
          <p:nvPr/>
        </p:nvCxnSpPr>
        <p:spPr>
          <a:xfrm rot="16200000" flipH="1">
            <a:off x="2263379" y="4415721"/>
            <a:ext cx="485443" cy="747031"/>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31397919"/>
      </p:ext>
    </p:extLst>
  </p:cSld>
  <p:clrMapOvr>
    <a:masterClrMapping/>
  </p:clrMapOvr>
  <p:transition/>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제목 15"/>
          <p:cNvSpPr>
            <a:spLocks noGrp="1"/>
          </p:cNvSpPr>
          <p:nvPr>
            <p:ph type="title"/>
          </p:nvPr>
        </p:nvSpPr>
        <p:spPr/>
        <p:txBody>
          <a:bodyPr/>
          <a:lstStyle/>
          <a:p>
            <a:r>
              <a:rPr lang="ko-KR" altLang="en-US" dirty="0"/>
              <a:t>제</a:t>
            </a:r>
            <a:r>
              <a:rPr lang="en-US" altLang="ko-KR" dirty="0"/>
              <a:t>194</a:t>
            </a:r>
            <a:r>
              <a:rPr lang="ko-KR" altLang="en-US" dirty="0"/>
              <a:t>조</a:t>
            </a:r>
            <a:r>
              <a:rPr lang="en-US" altLang="ko-KR" dirty="0"/>
              <a:t>~</a:t>
            </a:r>
            <a:r>
              <a:rPr lang="ko-KR" altLang="en-US" dirty="0"/>
              <a:t>제</a:t>
            </a:r>
            <a:r>
              <a:rPr lang="en-US" altLang="ko-KR" dirty="0"/>
              <a:t>196</a:t>
            </a:r>
            <a:r>
              <a:rPr lang="ko-KR" altLang="en-US" dirty="0"/>
              <a:t>조</a:t>
            </a:r>
          </a:p>
        </p:txBody>
      </p:sp>
      <p:sp>
        <p:nvSpPr>
          <p:cNvPr id="17" name="텍스트 개체 틀 16"/>
          <p:cNvSpPr>
            <a:spLocks noGrp="1"/>
          </p:cNvSpPr>
          <p:nvPr>
            <p:ph type="body" sz="quarter" idx="13"/>
          </p:nvPr>
        </p:nvSpPr>
        <p:spPr/>
        <p:txBody>
          <a:bodyPr/>
          <a:lstStyle/>
          <a:p>
            <a:r>
              <a:rPr lang="ko-KR" altLang="en-US" dirty="0"/>
              <a:t>국제출원일의 인정</a:t>
            </a:r>
          </a:p>
        </p:txBody>
      </p:sp>
      <p:graphicFrame>
        <p:nvGraphicFramePr>
          <p:cNvPr id="2" name="표 1"/>
          <p:cNvGraphicFramePr>
            <a:graphicFrameLocks noGrp="1"/>
          </p:cNvGraphicFramePr>
          <p:nvPr/>
        </p:nvGraphicFramePr>
        <p:xfrm>
          <a:off x="314325" y="1138037"/>
          <a:ext cx="11544301" cy="5358012"/>
        </p:xfrm>
        <a:graphic>
          <a:graphicData uri="http://schemas.openxmlformats.org/drawingml/2006/table">
            <a:tbl>
              <a:tblPr>
                <a:tableStyleId>{8799B23B-EC83-4686-B30A-512413B5E67A}</a:tableStyleId>
              </a:tblPr>
              <a:tblGrid>
                <a:gridCol w="505391">
                  <a:extLst>
                    <a:ext uri="{9D8B030D-6E8A-4147-A177-3AD203B41FA5}">
                      <a16:colId xmlns:a16="http://schemas.microsoft.com/office/drawing/2014/main" val="2327967961"/>
                    </a:ext>
                  </a:extLst>
                </a:gridCol>
                <a:gridCol w="485209">
                  <a:extLst>
                    <a:ext uri="{9D8B030D-6E8A-4147-A177-3AD203B41FA5}">
                      <a16:colId xmlns:a16="http://schemas.microsoft.com/office/drawing/2014/main" val="2282364325"/>
                    </a:ext>
                  </a:extLst>
                </a:gridCol>
                <a:gridCol w="3924300">
                  <a:extLst>
                    <a:ext uri="{9D8B030D-6E8A-4147-A177-3AD203B41FA5}">
                      <a16:colId xmlns:a16="http://schemas.microsoft.com/office/drawing/2014/main" val="1790334757"/>
                    </a:ext>
                  </a:extLst>
                </a:gridCol>
                <a:gridCol w="2886075">
                  <a:extLst>
                    <a:ext uri="{9D8B030D-6E8A-4147-A177-3AD203B41FA5}">
                      <a16:colId xmlns:a16="http://schemas.microsoft.com/office/drawing/2014/main" val="779416976"/>
                    </a:ext>
                  </a:extLst>
                </a:gridCol>
                <a:gridCol w="3743326">
                  <a:extLst>
                    <a:ext uri="{9D8B030D-6E8A-4147-A177-3AD203B41FA5}">
                      <a16:colId xmlns:a16="http://schemas.microsoft.com/office/drawing/2014/main" val="2560862332"/>
                    </a:ext>
                  </a:extLst>
                </a:gridCol>
              </a:tblGrid>
              <a:tr h="223262">
                <a:tc gridSpan="2">
                  <a:txBody>
                    <a:bodyPr/>
                    <a:lstStyle/>
                    <a:p>
                      <a:pPr marL="0" marR="0" indent="0" algn="ctr" fontAlgn="base" latinLnBrk="0">
                        <a:lnSpc>
                          <a:spcPct val="100000"/>
                        </a:lnSpc>
                        <a:spcBef>
                          <a:spcPts val="0"/>
                        </a:spcBef>
                        <a:spcAft>
                          <a:spcPts val="0"/>
                        </a:spcAft>
                      </a:pPr>
                      <a:r>
                        <a:rPr lang="ko-KR" altLang="en-US" sz="1200" kern="1200" dirty="0">
                          <a:solidFill>
                            <a:schemeClr val="tx1"/>
                          </a:solidFill>
                        </a:rPr>
                        <a:t>구분</a:t>
                      </a:r>
                      <a:endParaRPr lang="ko-KR" altLang="en-US" sz="1200" kern="1200" dirty="0">
                        <a:solidFill>
                          <a:schemeClr val="tx1"/>
                        </a:solidFill>
                        <a:latin typeface="+mn-ea"/>
                        <a:ea typeface="+mn-ea"/>
                        <a:cs typeface="+mn-cs"/>
                      </a:endParaRPr>
                    </a:p>
                  </a:txBody>
                  <a:tcPr marL="36773" marR="36773" marT="10167" marB="10167"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1200" dirty="0">
                          <a:solidFill>
                            <a:schemeClr val="tx1"/>
                          </a:solidFill>
                        </a:rPr>
                        <a:t>보완</a:t>
                      </a:r>
                      <a:endParaRPr lang="ko-KR" altLang="en-US" sz="1200" kern="1200" dirty="0">
                        <a:solidFill>
                          <a:schemeClr val="tx1"/>
                        </a:solidFill>
                        <a:latin typeface="+mn-ea"/>
                        <a:ea typeface="+mn-ea"/>
                        <a:cs typeface="+mn-cs"/>
                      </a:endParaRPr>
                    </a:p>
                  </a:txBody>
                  <a:tcPr marL="36773" marR="36773" marT="10167" marB="1016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1200">
                          <a:solidFill>
                            <a:schemeClr val="tx1"/>
                          </a:solidFill>
                        </a:rPr>
                        <a:t>보정</a:t>
                      </a:r>
                      <a:endParaRPr lang="ko-KR" altLang="en-US" sz="1200" kern="1200">
                        <a:solidFill>
                          <a:schemeClr val="tx1"/>
                        </a:solidFill>
                        <a:latin typeface="+mn-ea"/>
                        <a:ea typeface="+mn-ea"/>
                        <a:cs typeface="+mn-cs"/>
                      </a:endParaRPr>
                    </a:p>
                  </a:txBody>
                  <a:tcPr marL="36773" marR="36773" marT="10167" marB="1016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1200" dirty="0">
                          <a:solidFill>
                            <a:schemeClr val="tx1"/>
                          </a:solidFill>
                        </a:rPr>
                        <a:t>누락된 부분 등의 보완</a:t>
                      </a:r>
                      <a:endParaRPr lang="ko-KR" altLang="en-US" sz="1200" kern="1200" dirty="0">
                        <a:solidFill>
                          <a:schemeClr val="tx1"/>
                        </a:solidFill>
                        <a:latin typeface="+mn-ea"/>
                        <a:ea typeface="+mn-ea"/>
                        <a:cs typeface="+mn-cs"/>
                      </a:endParaRPr>
                    </a:p>
                  </a:txBody>
                  <a:tcPr marL="36773" marR="36773" marT="10167" marB="10167" anchor="ctr">
                    <a:solidFill>
                      <a:schemeClr val="accent1">
                        <a:lumMod val="20000"/>
                        <a:lumOff val="80000"/>
                      </a:schemeClr>
                    </a:solidFill>
                  </a:tcPr>
                </a:tc>
                <a:extLst>
                  <a:ext uri="{0D108BD9-81ED-4DB2-BD59-A6C34878D82A}">
                    <a16:rowId xmlns:a16="http://schemas.microsoft.com/office/drawing/2014/main" val="746599645"/>
                  </a:ext>
                </a:extLst>
              </a:tr>
              <a:tr h="2232482">
                <a:tc gridSpan="2">
                  <a:txBody>
                    <a:bodyPr/>
                    <a:lstStyle/>
                    <a:p>
                      <a:pPr marL="0" marR="0" indent="0" algn="ctr" fontAlgn="base" latinLnBrk="0">
                        <a:lnSpc>
                          <a:spcPct val="100000"/>
                        </a:lnSpc>
                        <a:spcBef>
                          <a:spcPts val="0"/>
                        </a:spcBef>
                        <a:spcAft>
                          <a:spcPts val="0"/>
                        </a:spcAft>
                      </a:pPr>
                      <a:r>
                        <a:rPr lang="ko-KR" altLang="en-US" sz="1200" kern="1200" dirty="0">
                          <a:solidFill>
                            <a:schemeClr val="tx1"/>
                          </a:solidFill>
                        </a:rPr>
                        <a:t>사유</a:t>
                      </a:r>
                      <a:endParaRPr lang="ko-KR" altLang="en-US" sz="1200" kern="1200" dirty="0">
                        <a:solidFill>
                          <a:schemeClr val="tx1"/>
                        </a:solidFill>
                        <a:latin typeface="+mn-ea"/>
                        <a:ea typeface="+mn-ea"/>
                        <a:cs typeface="+mn-cs"/>
                      </a:endParaRPr>
                    </a:p>
                  </a:txBody>
                  <a:tcPr marL="36773" marR="36773" marT="10167" marB="10167" anchor="ctr"/>
                </a:tc>
                <a:tc hMerge="1">
                  <a:txBody>
                    <a:bodyPr/>
                    <a:lstStyle/>
                    <a:p>
                      <a:pPr latinLnBrk="1"/>
                      <a:endParaRPr lang="ko-KR" altLang="en-US"/>
                    </a:p>
                  </a:txBody>
                  <a:tcPr/>
                </a:tc>
                <a:tc>
                  <a:txBody>
                    <a:bodyPr/>
                    <a:lstStyle/>
                    <a:p>
                      <a:pPr marL="114300" marR="17780" indent="-114300" algn="just" fontAlgn="base" latinLnBrk="1">
                        <a:lnSpc>
                          <a:spcPct val="100000"/>
                        </a:lnSpc>
                        <a:spcBef>
                          <a:spcPts val="0"/>
                        </a:spcBef>
                        <a:spcAft>
                          <a:spcPts val="0"/>
                        </a:spcAft>
                      </a:pPr>
                      <a:r>
                        <a:rPr lang="en-US" altLang="ko-KR" sz="1200" kern="1200" dirty="0">
                          <a:solidFill>
                            <a:schemeClr val="tx1"/>
                          </a:solidFill>
                        </a:rPr>
                        <a:t>1.</a:t>
                      </a:r>
                      <a:r>
                        <a:rPr lang="ko-KR" altLang="en-US" sz="1200" kern="1200" dirty="0">
                          <a:solidFill>
                            <a:schemeClr val="tx1"/>
                          </a:solidFill>
                        </a:rPr>
                        <a:t>국제출원서에 발명의 설명 또는 청구범위가 제출되지 아니한 경우</a:t>
                      </a:r>
                    </a:p>
                    <a:p>
                      <a:pPr marL="114300" marR="17780" indent="-114300" algn="just" fontAlgn="base" latinLnBrk="1">
                        <a:lnSpc>
                          <a:spcPct val="100000"/>
                        </a:lnSpc>
                        <a:spcBef>
                          <a:spcPts val="0"/>
                        </a:spcBef>
                        <a:spcAft>
                          <a:spcPts val="0"/>
                        </a:spcAft>
                      </a:pPr>
                      <a:r>
                        <a:rPr lang="en-US" altLang="ko-KR" sz="1200" kern="1200" dirty="0">
                          <a:solidFill>
                            <a:schemeClr val="tx1"/>
                          </a:solidFill>
                        </a:rPr>
                        <a:t>2.</a:t>
                      </a:r>
                      <a:r>
                        <a:rPr lang="ko-KR" altLang="en-US" sz="1200" kern="1200" dirty="0">
                          <a:solidFill>
                            <a:schemeClr val="tx1"/>
                          </a:solidFill>
                        </a:rPr>
                        <a:t>출원인의 성명이나 명칭을 적지 아니한 경우</a:t>
                      </a:r>
                    </a:p>
                    <a:p>
                      <a:pPr marL="137160" marR="17780" indent="-137160" algn="just" fontAlgn="base" latinLnBrk="1">
                        <a:lnSpc>
                          <a:spcPct val="100000"/>
                        </a:lnSpc>
                        <a:spcBef>
                          <a:spcPts val="0"/>
                        </a:spcBef>
                        <a:spcAft>
                          <a:spcPts val="0"/>
                        </a:spcAft>
                      </a:pPr>
                      <a:r>
                        <a:rPr lang="en-US" altLang="ko-KR" sz="1200" kern="1200" dirty="0">
                          <a:solidFill>
                            <a:schemeClr val="tx1"/>
                          </a:solidFill>
                        </a:rPr>
                        <a:t>3.</a:t>
                      </a:r>
                      <a:r>
                        <a:rPr lang="ko-KR" altLang="en-US" sz="1200" kern="1200" dirty="0">
                          <a:solidFill>
                            <a:schemeClr val="tx1"/>
                          </a:solidFill>
                        </a:rPr>
                        <a:t>대한민국에 </a:t>
                      </a:r>
                      <a:r>
                        <a:rPr lang="ko-KR" altLang="en-US" sz="1200" kern="1200" dirty="0" err="1">
                          <a:solidFill>
                            <a:schemeClr val="tx1"/>
                          </a:solidFill>
                        </a:rPr>
                        <a:t>국제출원할</a:t>
                      </a:r>
                      <a:r>
                        <a:rPr lang="ko-KR" altLang="en-US" sz="1200" kern="1200" dirty="0">
                          <a:solidFill>
                            <a:schemeClr val="tx1"/>
                          </a:solidFill>
                        </a:rPr>
                        <a:t> 수 있는 자격</a:t>
                      </a:r>
                      <a:r>
                        <a:rPr lang="en-US" altLang="ko-KR" sz="1200" kern="1200" dirty="0">
                          <a:solidFill>
                            <a:schemeClr val="tx1"/>
                          </a:solidFill>
                        </a:rPr>
                        <a:t>(</a:t>
                      </a:r>
                      <a:r>
                        <a:rPr lang="ko-KR" altLang="en-US" sz="1200" kern="1200" dirty="0">
                          <a:solidFill>
                            <a:schemeClr val="tx1"/>
                          </a:solidFill>
                        </a:rPr>
                        <a:t>法 </a:t>
                      </a:r>
                      <a:r>
                        <a:rPr lang="en-US" altLang="ko-KR" sz="1200" kern="1200" dirty="0">
                          <a:solidFill>
                            <a:schemeClr val="tx1"/>
                          </a:solidFill>
                        </a:rPr>
                        <a:t>192)</a:t>
                      </a:r>
                      <a:r>
                        <a:rPr lang="ko-KR" altLang="en-US" sz="1200" kern="1200" dirty="0">
                          <a:solidFill>
                            <a:schemeClr val="tx1"/>
                          </a:solidFill>
                        </a:rPr>
                        <a:t>을 갖추지 아니한 자가 출원한 경우</a:t>
                      </a:r>
                    </a:p>
                    <a:p>
                      <a:pPr marL="137160" marR="17780" indent="-137160" algn="just" fontAlgn="base" latinLnBrk="1">
                        <a:lnSpc>
                          <a:spcPct val="100000"/>
                        </a:lnSpc>
                        <a:spcBef>
                          <a:spcPts val="0"/>
                        </a:spcBef>
                        <a:spcAft>
                          <a:spcPts val="0"/>
                        </a:spcAft>
                      </a:pPr>
                      <a:r>
                        <a:rPr lang="en-US" altLang="ko-KR" sz="1200" kern="1200" dirty="0">
                          <a:solidFill>
                            <a:schemeClr val="tx1"/>
                          </a:solidFill>
                        </a:rPr>
                        <a:t>4.</a:t>
                      </a:r>
                      <a:r>
                        <a:rPr lang="ko-KR" altLang="en-US" sz="1200" kern="1200" dirty="0">
                          <a:solidFill>
                            <a:schemeClr val="tx1"/>
                          </a:solidFill>
                        </a:rPr>
                        <a:t>국제출원서에 특허협력조약에 따른 </a:t>
                      </a:r>
                      <a:r>
                        <a:rPr lang="ko-KR" altLang="en-US" sz="1200" kern="1200" dirty="0" err="1">
                          <a:solidFill>
                            <a:schemeClr val="tx1"/>
                          </a:solidFill>
                        </a:rPr>
                        <a:t>국제출원이라는</a:t>
                      </a:r>
                      <a:r>
                        <a:rPr lang="ko-KR" altLang="en-US" sz="1200" kern="1200" dirty="0">
                          <a:solidFill>
                            <a:schemeClr val="tx1"/>
                          </a:solidFill>
                        </a:rPr>
                        <a:t> 표시가 되어 있지 아니한 경우</a:t>
                      </a:r>
                    </a:p>
                    <a:p>
                      <a:pPr marL="120650" marR="17780" indent="-120650" algn="just" fontAlgn="base" latinLnBrk="1">
                        <a:lnSpc>
                          <a:spcPct val="100000"/>
                        </a:lnSpc>
                        <a:spcBef>
                          <a:spcPts val="0"/>
                        </a:spcBef>
                        <a:spcAft>
                          <a:spcPts val="0"/>
                        </a:spcAft>
                      </a:pPr>
                      <a:r>
                        <a:rPr lang="en-US" altLang="ko-KR" sz="1200" kern="1200" dirty="0">
                          <a:solidFill>
                            <a:schemeClr val="tx1"/>
                          </a:solidFill>
                        </a:rPr>
                        <a:t>5.</a:t>
                      </a:r>
                      <a:r>
                        <a:rPr lang="ko-KR" altLang="en-US" sz="1200" kern="1200" dirty="0">
                          <a:solidFill>
                            <a:schemeClr val="tx1"/>
                          </a:solidFill>
                        </a:rPr>
                        <a:t>국제출원이 총리령으로 정하는 언어</a:t>
                      </a:r>
                      <a:r>
                        <a:rPr lang="en-US" altLang="ko-KR" sz="1200" kern="1200" dirty="0">
                          <a:solidFill>
                            <a:schemeClr val="tx1"/>
                          </a:solidFill>
                        </a:rPr>
                        <a:t>(</a:t>
                      </a:r>
                      <a:r>
                        <a:rPr lang="ko-KR" altLang="en-US" sz="1200" kern="1200" dirty="0">
                          <a:solidFill>
                            <a:schemeClr val="tx1"/>
                          </a:solidFill>
                        </a:rPr>
                        <a:t>국어</a:t>
                      </a:r>
                      <a:r>
                        <a:rPr lang="en-US" altLang="ko-KR" sz="1200" kern="1200" dirty="0">
                          <a:solidFill>
                            <a:schemeClr val="tx1"/>
                          </a:solidFill>
                        </a:rPr>
                        <a:t>, </a:t>
                      </a:r>
                      <a:r>
                        <a:rPr lang="ko-KR" altLang="en-US" sz="1200" kern="1200" dirty="0">
                          <a:solidFill>
                            <a:schemeClr val="tx1"/>
                          </a:solidFill>
                        </a:rPr>
                        <a:t>영어 또는 일어</a:t>
                      </a:r>
                      <a:r>
                        <a:rPr lang="en-US" altLang="ko-KR" sz="1200" kern="1200" dirty="0">
                          <a:solidFill>
                            <a:schemeClr val="tx1"/>
                          </a:solidFill>
                        </a:rPr>
                        <a:t>)</a:t>
                      </a:r>
                      <a:r>
                        <a:rPr lang="ko-KR" altLang="en-US" sz="1200" kern="1200" dirty="0">
                          <a:solidFill>
                            <a:schemeClr val="tx1"/>
                          </a:solidFill>
                        </a:rPr>
                        <a:t>로 작성되지 아니한 경우</a:t>
                      </a:r>
                    </a:p>
                    <a:p>
                      <a:pPr marL="125730" marR="17780" indent="-125730" algn="just" fontAlgn="base" latinLnBrk="1">
                        <a:lnSpc>
                          <a:spcPct val="100000"/>
                        </a:lnSpc>
                        <a:spcBef>
                          <a:spcPts val="0"/>
                        </a:spcBef>
                        <a:spcAft>
                          <a:spcPts val="0"/>
                        </a:spcAft>
                      </a:pPr>
                      <a:r>
                        <a:rPr lang="en-US" altLang="ko-KR" sz="1200" kern="1200" dirty="0">
                          <a:solidFill>
                            <a:schemeClr val="tx1"/>
                          </a:solidFill>
                        </a:rPr>
                        <a:t>6.</a:t>
                      </a:r>
                      <a:r>
                        <a:rPr lang="ko-KR" altLang="en-US" sz="1200" kern="1200" dirty="0">
                          <a:solidFill>
                            <a:schemeClr val="tx1"/>
                          </a:solidFill>
                        </a:rPr>
                        <a:t>해당 출원된 발명의 보호가 필요한 특허협력조약 체약국의 지정을 하지 아니한 경우</a:t>
                      </a:r>
                      <a:endParaRPr lang="ko-KR" altLang="en-US" sz="1200" kern="1200" dirty="0">
                        <a:solidFill>
                          <a:schemeClr val="tx1"/>
                        </a:solidFill>
                        <a:latin typeface="+mn-ea"/>
                        <a:ea typeface="+mn-ea"/>
                        <a:cs typeface="+mn-cs"/>
                      </a:endParaRPr>
                    </a:p>
                  </a:txBody>
                  <a:tcPr marL="36773" marR="36773" marT="10167" marB="10167" anchor="ctr"/>
                </a:tc>
                <a:tc>
                  <a:txBody>
                    <a:bodyPr/>
                    <a:lstStyle/>
                    <a:p>
                      <a:pPr marL="147320" marR="17780" indent="-147320" algn="just" fontAlgn="base" latinLnBrk="1">
                        <a:lnSpc>
                          <a:spcPct val="100000"/>
                        </a:lnSpc>
                        <a:spcBef>
                          <a:spcPts val="0"/>
                        </a:spcBef>
                        <a:spcAft>
                          <a:spcPts val="0"/>
                        </a:spcAft>
                      </a:pPr>
                      <a:r>
                        <a:rPr lang="en-US" altLang="ko-KR" sz="1200" kern="1200" dirty="0">
                          <a:solidFill>
                            <a:schemeClr val="tx1"/>
                          </a:solidFill>
                        </a:rPr>
                        <a:t>1.</a:t>
                      </a:r>
                      <a:r>
                        <a:rPr lang="ko-KR" altLang="en-US" sz="1200" kern="1200" dirty="0">
                          <a:solidFill>
                            <a:schemeClr val="tx1"/>
                          </a:solidFill>
                        </a:rPr>
                        <a:t>발명의 명칭이 적혀 있지 아니한 경우</a:t>
                      </a:r>
                    </a:p>
                    <a:p>
                      <a:pPr marL="143510" marR="17780" indent="-143510" algn="just" fontAlgn="base" latinLnBrk="1">
                        <a:lnSpc>
                          <a:spcPct val="100000"/>
                        </a:lnSpc>
                        <a:spcBef>
                          <a:spcPts val="0"/>
                        </a:spcBef>
                        <a:spcAft>
                          <a:spcPts val="0"/>
                        </a:spcAft>
                      </a:pPr>
                      <a:r>
                        <a:rPr lang="en-US" altLang="ko-KR" sz="1200" kern="1200" dirty="0">
                          <a:solidFill>
                            <a:schemeClr val="tx1"/>
                          </a:solidFill>
                        </a:rPr>
                        <a:t>2.</a:t>
                      </a:r>
                      <a:r>
                        <a:rPr lang="ko-KR" altLang="en-US" sz="1200" kern="1200" dirty="0" err="1">
                          <a:solidFill>
                            <a:schemeClr val="tx1"/>
                          </a:solidFill>
                        </a:rPr>
                        <a:t>요약서가</a:t>
                      </a:r>
                      <a:r>
                        <a:rPr lang="ko-KR" altLang="en-US" sz="1200" kern="1200" dirty="0">
                          <a:solidFill>
                            <a:schemeClr val="tx1"/>
                          </a:solidFill>
                        </a:rPr>
                        <a:t> 제출되지 아니한 경우</a:t>
                      </a:r>
                    </a:p>
                    <a:p>
                      <a:pPr marL="134620" marR="17780" indent="-134620" algn="just" fontAlgn="base" latinLnBrk="1">
                        <a:lnSpc>
                          <a:spcPct val="100000"/>
                        </a:lnSpc>
                        <a:spcBef>
                          <a:spcPts val="0"/>
                        </a:spcBef>
                        <a:spcAft>
                          <a:spcPts val="0"/>
                        </a:spcAft>
                      </a:pPr>
                      <a:r>
                        <a:rPr lang="en-US" altLang="ko-KR" sz="1200" kern="1200" dirty="0">
                          <a:solidFill>
                            <a:schemeClr val="tx1"/>
                          </a:solidFill>
                        </a:rPr>
                        <a:t>3.</a:t>
                      </a:r>
                      <a:r>
                        <a:rPr lang="ko-KR" altLang="en-US" sz="1200" kern="1200" dirty="0">
                          <a:solidFill>
                            <a:schemeClr val="tx1"/>
                          </a:solidFill>
                        </a:rPr>
                        <a:t>행위제한능력자가 법정대리인에 의하지 않고 절차를 밟거나 선임된 임의대리인이 변리사가 아닌 경우</a:t>
                      </a:r>
                    </a:p>
                    <a:p>
                      <a:pPr marL="134620" marR="17780" indent="-134620" algn="just" fontAlgn="base" latinLnBrk="1">
                        <a:lnSpc>
                          <a:spcPct val="100000"/>
                        </a:lnSpc>
                        <a:spcBef>
                          <a:spcPts val="0"/>
                        </a:spcBef>
                        <a:spcAft>
                          <a:spcPts val="0"/>
                        </a:spcAft>
                      </a:pPr>
                      <a:r>
                        <a:rPr lang="en-US" altLang="ko-KR" sz="1200" kern="1200" dirty="0">
                          <a:solidFill>
                            <a:schemeClr val="tx1"/>
                          </a:solidFill>
                        </a:rPr>
                        <a:t>4.</a:t>
                      </a:r>
                      <a:r>
                        <a:rPr lang="ko-KR" altLang="en-US" sz="1200" kern="1200" dirty="0">
                          <a:solidFill>
                            <a:schemeClr val="tx1"/>
                          </a:solidFill>
                        </a:rPr>
                        <a:t>총리령으로 정하는 방식에 위반된 경우</a:t>
                      </a:r>
                    </a:p>
                    <a:p>
                      <a:pPr marL="124460" marR="17780" indent="-124460" algn="just" fontAlgn="base" latinLnBrk="1">
                        <a:lnSpc>
                          <a:spcPct val="100000"/>
                        </a:lnSpc>
                        <a:spcBef>
                          <a:spcPts val="0"/>
                        </a:spcBef>
                        <a:spcAft>
                          <a:spcPts val="0"/>
                        </a:spcAft>
                      </a:pPr>
                      <a:r>
                        <a:rPr lang="en-US" altLang="ko-KR" sz="1200" kern="1200" dirty="0">
                          <a:solidFill>
                            <a:schemeClr val="tx1"/>
                          </a:solidFill>
                        </a:rPr>
                        <a:t>5.</a:t>
                      </a:r>
                      <a:r>
                        <a:rPr lang="ko-KR" altLang="en-US" sz="1200" kern="1200" dirty="0" err="1">
                          <a:solidFill>
                            <a:schemeClr val="tx1"/>
                          </a:solidFill>
                        </a:rPr>
                        <a:t>국제출원을</a:t>
                      </a:r>
                      <a:r>
                        <a:rPr lang="ko-KR" altLang="en-US" sz="1200" kern="1200" dirty="0">
                          <a:solidFill>
                            <a:schemeClr val="tx1"/>
                          </a:solidFill>
                        </a:rPr>
                        <a:t> 한 자가 수수료를 해당 기간에 내지 아니한 경우</a:t>
                      </a:r>
                      <a:endParaRPr lang="ko-KR" altLang="en-US" sz="1200" kern="1200" dirty="0">
                        <a:solidFill>
                          <a:schemeClr val="tx1"/>
                        </a:solidFill>
                        <a:latin typeface="+mn-ea"/>
                        <a:ea typeface="+mn-ea"/>
                        <a:cs typeface="+mn-cs"/>
                      </a:endParaRPr>
                    </a:p>
                  </a:txBody>
                  <a:tcPr marL="36773" marR="36773" marT="10167" marB="10167" anchor="ctr"/>
                </a:tc>
                <a:tc>
                  <a:txBody>
                    <a:bodyPr/>
                    <a:lstStyle/>
                    <a:p>
                      <a:pPr marL="119380" marR="17780" indent="-119380" algn="just" fontAlgn="base" latinLnBrk="1">
                        <a:lnSpc>
                          <a:spcPct val="100000"/>
                        </a:lnSpc>
                        <a:spcBef>
                          <a:spcPts val="0"/>
                        </a:spcBef>
                        <a:spcAft>
                          <a:spcPts val="0"/>
                        </a:spcAft>
                      </a:pPr>
                      <a:r>
                        <a:rPr lang="en-US" altLang="ko-KR" sz="1200" kern="1200" dirty="0">
                          <a:solidFill>
                            <a:schemeClr val="tx1"/>
                          </a:solidFill>
                        </a:rPr>
                        <a:t>1.</a:t>
                      </a:r>
                      <a:r>
                        <a:rPr lang="ko-KR" altLang="en-US" sz="1200" kern="1200" dirty="0">
                          <a:solidFill>
                            <a:schemeClr val="tx1"/>
                          </a:solidFill>
                        </a:rPr>
                        <a:t>발명의 설명 또는 청구범위의 일부가 누락</a:t>
                      </a:r>
                      <a:r>
                        <a:rPr lang="en-US" altLang="ko-KR" sz="1200" kern="1200" dirty="0">
                          <a:solidFill>
                            <a:schemeClr val="tx1"/>
                          </a:solidFill>
                        </a:rPr>
                        <a:t>(</a:t>
                      </a:r>
                      <a:r>
                        <a:rPr lang="ko-KR" altLang="en-US" sz="1200" kern="1200" dirty="0">
                          <a:solidFill>
                            <a:schemeClr val="tx1"/>
                          </a:solidFill>
                        </a:rPr>
                        <a:t>발명의 설명 또는 청구범위가 제출되지 아니한 경우는 제외한다</a:t>
                      </a:r>
                      <a:r>
                        <a:rPr lang="en-US" altLang="ko-KR" sz="1200" kern="1200" dirty="0">
                          <a:solidFill>
                            <a:schemeClr val="tx1"/>
                          </a:solidFill>
                        </a:rPr>
                        <a:t>)</a:t>
                      </a:r>
                      <a:r>
                        <a:rPr lang="ko-KR" altLang="en-US" sz="1200" kern="1200" dirty="0">
                          <a:solidFill>
                            <a:schemeClr val="tx1"/>
                          </a:solidFill>
                        </a:rPr>
                        <a:t>되어 있거나 잘못 제출된 경우</a:t>
                      </a:r>
                    </a:p>
                    <a:p>
                      <a:pPr marL="127000" marR="17780" indent="-127000" algn="just" fontAlgn="base" latinLnBrk="1">
                        <a:lnSpc>
                          <a:spcPct val="100000"/>
                        </a:lnSpc>
                        <a:spcBef>
                          <a:spcPts val="0"/>
                        </a:spcBef>
                        <a:spcAft>
                          <a:spcPts val="0"/>
                        </a:spcAft>
                      </a:pPr>
                      <a:r>
                        <a:rPr lang="en-US" altLang="ko-KR" sz="1200" kern="1200" dirty="0">
                          <a:solidFill>
                            <a:schemeClr val="tx1"/>
                          </a:solidFill>
                        </a:rPr>
                        <a:t>2.</a:t>
                      </a:r>
                      <a:r>
                        <a:rPr lang="ko-KR" altLang="en-US" sz="1200" kern="1200" dirty="0">
                          <a:solidFill>
                            <a:schemeClr val="tx1"/>
                          </a:solidFill>
                        </a:rPr>
                        <a:t>도면의 전부 또는 일부가 누락되어 있거나 잘못 제출된 경우</a:t>
                      </a:r>
                      <a:endParaRPr lang="ko-KR" altLang="en-US" sz="1200" kern="1200" dirty="0">
                        <a:solidFill>
                          <a:schemeClr val="tx1"/>
                        </a:solidFill>
                        <a:latin typeface="+mn-ea"/>
                        <a:ea typeface="+mn-ea"/>
                        <a:cs typeface="+mn-cs"/>
                      </a:endParaRPr>
                    </a:p>
                  </a:txBody>
                  <a:tcPr marL="36773" marR="36773" marT="10167" marB="10167" anchor="ctr"/>
                </a:tc>
                <a:extLst>
                  <a:ext uri="{0D108BD9-81ED-4DB2-BD59-A6C34878D82A}">
                    <a16:rowId xmlns:a16="http://schemas.microsoft.com/office/drawing/2014/main" val="4228068079"/>
                  </a:ext>
                </a:extLst>
              </a:tr>
              <a:tr h="223262">
                <a:tc rowSpan="2">
                  <a:txBody>
                    <a:bodyPr/>
                    <a:lstStyle/>
                    <a:p>
                      <a:pPr marL="0" marR="0" indent="0" algn="ctr" fontAlgn="base" latinLnBrk="0">
                        <a:lnSpc>
                          <a:spcPct val="100000"/>
                        </a:lnSpc>
                        <a:spcBef>
                          <a:spcPts val="0"/>
                        </a:spcBef>
                        <a:spcAft>
                          <a:spcPts val="0"/>
                        </a:spcAft>
                      </a:pPr>
                      <a:r>
                        <a:rPr lang="ko-KR" altLang="en-US" sz="1200" kern="1200" dirty="0">
                          <a:solidFill>
                            <a:schemeClr val="tx1"/>
                          </a:solidFill>
                        </a:rPr>
                        <a:t>절</a:t>
                      </a:r>
                    </a:p>
                    <a:p>
                      <a:pPr marL="0" marR="0" indent="0" algn="ctr" fontAlgn="base" latinLnBrk="0">
                        <a:lnSpc>
                          <a:spcPct val="100000"/>
                        </a:lnSpc>
                        <a:spcBef>
                          <a:spcPts val="0"/>
                        </a:spcBef>
                        <a:spcAft>
                          <a:spcPts val="0"/>
                        </a:spcAft>
                      </a:pPr>
                      <a:r>
                        <a:rPr lang="ko-KR" altLang="en-US" sz="1200" kern="1200" dirty="0">
                          <a:solidFill>
                            <a:schemeClr val="tx1"/>
                          </a:solidFill>
                        </a:rPr>
                        <a:t>차</a:t>
                      </a:r>
                      <a:endParaRPr lang="ko-KR" altLang="en-US" sz="1200" kern="1200" dirty="0">
                        <a:solidFill>
                          <a:schemeClr val="tx1"/>
                        </a:solidFill>
                        <a:latin typeface="+mn-ea"/>
                        <a:ea typeface="+mn-ea"/>
                        <a:cs typeface="+mn-cs"/>
                      </a:endParaRPr>
                    </a:p>
                  </a:txBody>
                  <a:tcPr marL="51915" marR="51915" marT="10167" marB="10167" anchor="ctr"/>
                </a:tc>
                <a:tc>
                  <a:txBody>
                    <a:bodyPr/>
                    <a:lstStyle/>
                    <a:p>
                      <a:pPr marL="0" marR="0" indent="0" algn="ctr" fontAlgn="base" latinLnBrk="0">
                        <a:lnSpc>
                          <a:spcPct val="100000"/>
                        </a:lnSpc>
                        <a:spcBef>
                          <a:spcPts val="0"/>
                        </a:spcBef>
                        <a:spcAft>
                          <a:spcPts val="0"/>
                        </a:spcAft>
                      </a:pPr>
                      <a:r>
                        <a:rPr lang="ko-KR" altLang="en-US" sz="1200" kern="1200" dirty="0">
                          <a:solidFill>
                            <a:schemeClr val="tx1"/>
                          </a:solidFill>
                        </a:rPr>
                        <a:t>의사</a:t>
                      </a:r>
                      <a:endParaRPr lang="ko-KR" altLang="en-US" sz="1200" kern="1200" dirty="0">
                        <a:solidFill>
                          <a:schemeClr val="tx1"/>
                        </a:solidFill>
                        <a:latin typeface="+mn-ea"/>
                        <a:ea typeface="+mn-ea"/>
                        <a:cs typeface="+mn-cs"/>
                      </a:endParaRPr>
                    </a:p>
                  </a:txBody>
                  <a:tcPr marL="36773" marR="36773" marT="10167" marB="10167" anchor="ctr"/>
                </a:tc>
                <a:tc>
                  <a:txBody>
                    <a:bodyPr/>
                    <a:lstStyle/>
                    <a:p>
                      <a:pPr marL="17780" marR="17780" indent="0" algn="ctr" fontAlgn="base" latinLnBrk="0">
                        <a:lnSpc>
                          <a:spcPct val="100000"/>
                        </a:lnSpc>
                        <a:spcBef>
                          <a:spcPts val="0"/>
                        </a:spcBef>
                        <a:spcAft>
                          <a:spcPts val="0"/>
                        </a:spcAft>
                      </a:pPr>
                      <a:r>
                        <a:rPr lang="en-US" sz="1200" kern="1200">
                          <a:solidFill>
                            <a:schemeClr val="tx1"/>
                          </a:solidFill>
                        </a:rPr>
                        <a:t>-</a:t>
                      </a:r>
                      <a:endParaRPr lang="en-US" sz="1200" kern="1200">
                        <a:solidFill>
                          <a:schemeClr val="tx1"/>
                        </a:solidFill>
                        <a:latin typeface="+mn-ea"/>
                        <a:ea typeface="+mn-ea"/>
                        <a:cs typeface="+mn-cs"/>
                      </a:endParaRPr>
                    </a:p>
                  </a:txBody>
                  <a:tcPr marL="36773" marR="36773" marT="10167" marB="10167" anchor="ctr"/>
                </a:tc>
                <a:tc>
                  <a:txBody>
                    <a:bodyPr/>
                    <a:lstStyle/>
                    <a:p>
                      <a:pPr marL="17780" marR="17780" indent="0" algn="just" fontAlgn="base" latinLnBrk="1">
                        <a:lnSpc>
                          <a:spcPct val="100000"/>
                        </a:lnSpc>
                        <a:spcBef>
                          <a:spcPts val="0"/>
                        </a:spcBef>
                        <a:spcAft>
                          <a:spcPts val="0"/>
                        </a:spcAft>
                      </a:pPr>
                      <a:r>
                        <a:rPr lang="ko-KR" altLang="en-US" sz="1200" kern="1200" dirty="0">
                          <a:solidFill>
                            <a:schemeClr val="tx1"/>
                          </a:solidFill>
                        </a:rPr>
                        <a:t>국제출원 계속 중</a:t>
                      </a:r>
                      <a:endParaRPr lang="ko-KR" altLang="en-US" sz="1200" kern="1200" dirty="0">
                        <a:solidFill>
                          <a:schemeClr val="tx1"/>
                        </a:solidFill>
                        <a:latin typeface="+mn-ea"/>
                        <a:ea typeface="+mn-ea"/>
                        <a:cs typeface="+mn-cs"/>
                      </a:endParaRPr>
                    </a:p>
                  </a:txBody>
                  <a:tcPr marL="36773" marR="36773" marT="10167" marB="10167" anchor="ctr"/>
                </a:tc>
                <a:tc>
                  <a:txBody>
                    <a:bodyPr/>
                    <a:lstStyle/>
                    <a:p>
                      <a:pPr marL="17780" marR="17780" indent="0" algn="just" fontAlgn="base" latinLnBrk="1">
                        <a:lnSpc>
                          <a:spcPct val="100000"/>
                        </a:lnSpc>
                        <a:spcBef>
                          <a:spcPts val="0"/>
                        </a:spcBef>
                        <a:spcAft>
                          <a:spcPts val="0"/>
                        </a:spcAft>
                      </a:pPr>
                      <a:r>
                        <a:rPr lang="ko-KR" altLang="en-US" sz="1200" kern="1200" dirty="0" err="1">
                          <a:solidFill>
                            <a:schemeClr val="tx1"/>
                          </a:solidFill>
                        </a:rPr>
                        <a:t>국제출원의</a:t>
                      </a:r>
                      <a:r>
                        <a:rPr lang="ko-KR" altLang="en-US" sz="1200" kern="1200" dirty="0">
                          <a:solidFill>
                            <a:schemeClr val="tx1"/>
                          </a:solidFill>
                        </a:rPr>
                        <a:t> 접수일로부터 </a:t>
                      </a:r>
                      <a:r>
                        <a:rPr lang="en-US" altLang="ko-KR" sz="1200" kern="1200" dirty="0">
                          <a:solidFill>
                            <a:schemeClr val="tx1"/>
                          </a:solidFill>
                        </a:rPr>
                        <a:t>2</a:t>
                      </a:r>
                      <a:r>
                        <a:rPr lang="ko-KR" altLang="en-US" sz="1200" kern="1200" dirty="0">
                          <a:solidFill>
                            <a:schemeClr val="tx1"/>
                          </a:solidFill>
                        </a:rPr>
                        <a:t>개월 이내 보완</a:t>
                      </a:r>
                      <a:r>
                        <a:rPr lang="en-US" altLang="ko-KR" sz="1200" kern="1200" dirty="0">
                          <a:solidFill>
                            <a:schemeClr val="tx1"/>
                          </a:solidFill>
                        </a:rPr>
                        <a:t>(</a:t>
                      </a:r>
                      <a:r>
                        <a:rPr lang="ko-KR" altLang="en-US" sz="1200" kern="1200" dirty="0">
                          <a:solidFill>
                            <a:schemeClr val="tx1"/>
                          </a:solidFill>
                        </a:rPr>
                        <a:t>施規 </a:t>
                      </a:r>
                      <a:r>
                        <a:rPr lang="en-US" altLang="ko-KR" sz="1200" kern="1200" dirty="0">
                          <a:solidFill>
                            <a:schemeClr val="tx1"/>
                          </a:solidFill>
                        </a:rPr>
                        <a:t>99</a:t>
                      </a:r>
                      <a:r>
                        <a:rPr lang="ko-KR" altLang="en-US" sz="1200" kern="1200" dirty="0">
                          <a:solidFill>
                            <a:schemeClr val="tx1"/>
                          </a:solidFill>
                        </a:rPr>
                        <a:t>의</a:t>
                      </a:r>
                      <a:r>
                        <a:rPr lang="en-US" altLang="ko-KR" sz="1200" kern="1200" dirty="0">
                          <a:solidFill>
                            <a:schemeClr val="tx1"/>
                          </a:solidFill>
                        </a:rPr>
                        <a:t>2</a:t>
                      </a:r>
                      <a:r>
                        <a:rPr lang="ko-KR" altLang="en-US" sz="1200" kern="1200" dirty="0">
                          <a:solidFill>
                            <a:schemeClr val="tx1"/>
                          </a:solidFill>
                        </a:rPr>
                        <a:t>②③</a:t>
                      </a:r>
                      <a:r>
                        <a:rPr lang="en-US" altLang="ko-KR" sz="1200" kern="1200" dirty="0">
                          <a:solidFill>
                            <a:schemeClr val="tx1"/>
                          </a:solidFill>
                        </a:rPr>
                        <a:t>)</a:t>
                      </a:r>
                      <a:endParaRPr lang="ko-KR" altLang="en-US" sz="1200" kern="1200" dirty="0">
                        <a:solidFill>
                          <a:schemeClr val="tx1"/>
                        </a:solidFill>
                        <a:latin typeface="+mn-ea"/>
                        <a:ea typeface="+mn-ea"/>
                        <a:cs typeface="+mn-cs"/>
                      </a:endParaRPr>
                    </a:p>
                  </a:txBody>
                  <a:tcPr marL="36773" marR="36773" marT="10167" marB="10167" anchor="ctr"/>
                </a:tc>
                <a:extLst>
                  <a:ext uri="{0D108BD9-81ED-4DB2-BD59-A6C34878D82A}">
                    <a16:rowId xmlns:a16="http://schemas.microsoft.com/office/drawing/2014/main" val="365670071"/>
                  </a:ext>
                </a:extLst>
              </a:tr>
              <a:tr h="424184">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1200" dirty="0">
                          <a:solidFill>
                            <a:schemeClr val="tx1"/>
                          </a:solidFill>
                        </a:rPr>
                        <a:t>명령</a:t>
                      </a:r>
                      <a:endParaRPr lang="ko-KR" altLang="en-US" sz="1200" kern="1200" dirty="0">
                        <a:solidFill>
                          <a:schemeClr val="tx1"/>
                        </a:solidFill>
                        <a:latin typeface="+mn-ea"/>
                        <a:ea typeface="+mn-ea"/>
                        <a:cs typeface="+mn-cs"/>
                      </a:endParaRPr>
                    </a:p>
                  </a:txBody>
                  <a:tcPr marL="36773" marR="36773" marT="10167" marB="10167" anchor="ctr"/>
                </a:tc>
                <a:tc>
                  <a:txBody>
                    <a:bodyPr/>
                    <a:lstStyle/>
                    <a:p>
                      <a:pPr marL="17780" marR="17780" indent="0" algn="just" fontAlgn="base" latinLnBrk="1">
                        <a:lnSpc>
                          <a:spcPct val="100000"/>
                        </a:lnSpc>
                        <a:spcBef>
                          <a:spcPts val="0"/>
                        </a:spcBef>
                        <a:spcAft>
                          <a:spcPts val="0"/>
                        </a:spcAft>
                      </a:pPr>
                      <a:r>
                        <a:rPr lang="ko-KR" altLang="en-US" sz="1200" kern="1200" dirty="0">
                          <a:solidFill>
                            <a:schemeClr val="tx1"/>
                          </a:solidFill>
                        </a:rPr>
                        <a:t>지식재산처장은 기간을 정하여 보완명령</a:t>
                      </a:r>
                      <a:r>
                        <a:rPr lang="en-US" altLang="ko-KR" sz="1200" kern="1200" dirty="0">
                          <a:solidFill>
                            <a:schemeClr val="tx1"/>
                          </a:solidFill>
                        </a:rPr>
                        <a:t>(</a:t>
                      </a:r>
                      <a:r>
                        <a:rPr lang="ko-KR" altLang="en-US" sz="1200" kern="1200" dirty="0">
                          <a:solidFill>
                            <a:schemeClr val="tx1"/>
                          </a:solidFill>
                        </a:rPr>
                        <a:t>法 </a:t>
                      </a:r>
                      <a:r>
                        <a:rPr lang="en-US" altLang="ko-KR" sz="1200" kern="1200" dirty="0">
                          <a:solidFill>
                            <a:schemeClr val="tx1"/>
                          </a:solidFill>
                        </a:rPr>
                        <a:t>194</a:t>
                      </a:r>
                      <a:r>
                        <a:rPr lang="ko-KR" altLang="en-US" sz="1200" kern="1200" dirty="0">
                          <a:solidFill>
                            <a:schemeClr val="tx1"/>
                          </a:solidFill>
                        </a:rPr>
                        <a:t>②</a:t>
                      </a:r>
                      <a:r>
                        <a:rPr lang="en-US" altLang="ko-KR" sz="1200" kern="1200" dirty="0">
                          <a:solidFill>
                            <a:schemeClr val="tx1"/>
                          </a:solidFill>
                        </a:rPr>
                        <a:t>)</a:t>
                      </a:r>
                      <a:endParaRPr lang="ko-KR" altLang="en-US" sz="1200" kern="1200" dirty="0">
                        <a:solidFill>
                          <a:schemeClr val="tx1"/>
                        </a:solidFill>
                        <a:latin typeface="+mn-ea"/>
                        <a:ea typeface="+mn-ea"/>
                        <a:cs typeface="+mn-cs"/>
                      </a:endParaRPr>
                    </a:p>
                  </a:txBody>
                  <a:tcPr marL="36773" marR="36773" marT="10167" marB="10167" anchor="ctr"/>
                </a:tc>
                <a:tc>
                  <a:txBody>
                    <a:bodyPr/>
                    <a:lstStyle/>
                    <a:p>
                      <a:pPr marL="17780" marR="17780" indent="0" algn="just" fontAlgn="base" latinLnBrk="1">
                        <a:lnSpc>
                          <a:spcPct val="100000"/>
                        </a:lnSpc>
                        <a:spcBef>
                          <a:spcPts val="0"/>
                        </a:spcBef>
                        <a:spcAft>
                          <a:spcPts val="0"/>
                        </a:spcAft>
                      </a:pPr>
                      <a:r>
                        <a:rPr lang="ko-KR" altLang="en-US" sz="1200" kern="1200" dirty="0">
                          <a:solidFill>
                            <a:schemeClr val="tx1"/>
                          </a:solidFill>
                        </a:rPr>
                        <a:t>지식재산처장은 기간을 정하여 보정명령</a:t>
                      </a:r>
                      <a:r>
                        <a:rPr lang="en-US" altLang="ko-KR" sz="1200" kern="1200" dirty="0">
                          <a:solidFill>
                            <a:schemeClr val="tx1"/>
                          </a:solidFill>
                        </a:rPr>
                        <a:t>(</a:t>
                      </a:r>
                      <a:r>
                        <a:rPr lang="ko-KR" altLang="en-US" sz="1200" kern="1200" dirty="0">
                          <a:solidFill>
                            <a:schemeClr val="tx1"/>
                          </a:solidFill>
                        </a:rPr>
                        <a:t>法 </a:t>
                      </a:r>
                      <a:r>
                        <a:rPr lang="en-US" altLang="ko-KR" sz="1200" kern="1200" dirty="0">
                          <a:solidFill>
                            <a:schemeClr val="tx1"/>
                          </a:solidFill>
                        </a:rPr>
                        <a:t>195)</a:t>
                      </a:r>
                      <a:endParaRPr lang="ko-KR" altLang="en-US" sz="1200" kern="1200" dirty="0">
                        <a:solidFill>
                          <a:schemeClr val="tx1"/>
                        </a:solidFill>
                        <a:latin typeface="+mn-ea"/>
                        <a:ea typeface="+mn-ea"/>
                        <a:cs typeface="+mn-cs"/>
                      </a:endParaRPr>
                    </a:p>
                  </a:txBody>
                  <a:tcPr marL="36773" marR="36773" marT="10167" marB="10167" anchor="ctr"/>
                </a:tc>
                <a:tc>
                  <a:txBody>
                    <a:bodyPr/>
                    <a:lstStyle/>
                    <a:p>
                      <a:pPr marL="17780" marR="17780" indent="0" algn="just" fontAlgn="base" latinLnBrk="1">
                        <a:lnSpc>
                          <a:spcPct val="100000"/>
                        </a:lnSpc>
                        <a:spcBef>
                          <a:spcPts val="0"/>
                        </a:spcBef>
                        <a:spcAft>
                          <a:spcPts val="0"/>
                        </a:spcAft>
                      </a:pPr>
                      <a:r>
                        <a:rPr lang="ko-KR" altLang="en-US" sz="1200" kern="1200" dirty="0">
                          <a:solidFill>
                            <a:schemeClr val="tx1"/>
                          </a:solidFill>
                        </a:rPr>
                        <a:t>지식재산처장은 통지일로부터 </a:t>
                      </a:r>
                      <a:r>
                        <a:rPr lang="en-US" altLang="ko-KR" sz="1200" kern="1200" dirty="0">
                          <a:solidFill>
                            <a:schemeClr val="tx1"/>
                          </a:solidFill>
                        </a:rPr>
                        <a:t>2</a:t>
                      </a:r>
                      <a:r>
                        <a:rPr lang="ko-KR" altLang="en-US" sz="1200" kern="1200" dirty="0">
                          <a:solidFill>
                            <a:schemeClr val="tx1"/>
                          </a:solidFill>
                        </a:rPr>
                        <a:t>개월 이내 </a:t>
                      </a:r>
                      <a:r>
                        <a:rPr lang="ko-KR" altLang="en-US" sz="1200" kern="1200" dirty="0" err="1">
                          <a:solidFill>
                            <a:schemeClr val="tx1"/>
                          </a:solidFill>
                        </a:rPr>
                        <a:t>보완명령</a:t>
                      </a:r>
                      <a:r>
                        <a:rPr lang="en-US" altLang="ko-KR" sz="1200" kern="1200" dirty="0">
                          <a:solidFill>
                            <a:schemeClr val="tx1"/>
                          </a:solidFill>
                        </a:rPr>
                        <a:t>(</a:t>
                      </a:r>
                      <a:r>
                        <a:rPr lang="ko-KR" altLang="en-US" sz="1200" kern="1200" dirty="0">
                          <a:solidFill>
                            <a:schemeClr val="tx1"/>
                          </a:solidFill>
                        </a:rPr>
                        <a:t>施規 </a:t>
                      </a:r>
                      <a:r>
                        <a:rPr lang="en-US" altLang="ko-KR" sz="1200" kern="1200" dirty="0">
                          <a:solidFill>
                            <a:schemeClr val="tx1"/>
                          </a:solidFill>
                        </a:rPr>
                        <a:t>99</a:t>
                      </a:r>
                      <a:r>
                        <a:rPr lang="ko-KR" altLang="en-US" sz="1200" kern="1200" dirty="0">
                          <a:solidFill>
                            <a:schemeClr val="tx1"/>
                          </a:solidFill>
                        </a:rPr>
                        <a:t>의</a:t>
                      </a:r>
                      <a:r>
                        <a:rPr lang="en-US" altLang="ko-KR" sz="1200" kern="1200" dirty="0">
                          <a:solidFill>
                            <a:schemeClr val="tx1"/>
                          </a:solidFill>
                        </a:rPr>
                        <a:t>2</a:t>
                      </a:r>
                      <a:r>
                        <a:rPr lang="ko-KR" altLang="en-US" sz="1200" kern="1200" dirty="0">
                          <a:solidFill>
                            <a:schemeClr val="tx1"/>
                          </a:solidFill>
                        </a:rPr>
                        <a:t>③④</a:t>
                      </a:r>
                      <a:r>
                        <a:rPr lang="en-US" altLang="ko-KR" sz="1200" kern="1200" dirty="0">
                          <a:solidFill>
                            <a:schemeClr val="tx1"/>
                          </a:solidFill>
                        </a:rPr>
                        <a:t>)</a:t>
                      </a:r>
                      <a:endParaRPr lang="ko-KR" altLang="en-US" sz="1200" kern="1200" dirty="0">
                        <a:solidFill>
                          <a:schemeClr val="tx1"/>
                        </a:solidFill>
                        <a:latin typeface="+mn-ea"/>
                        <a:ea typeface="+mn-ea"/>
                        <a:cs typeface="+mn-cs"/>
                      </a:endParaRPr>
                    </a:p>
                  </a:txBody>
                  <a:tcPr marL="36773" marR="36773" marT="10167" marB="10167" anchor="ctr"/>
                </a:tc>
                <a:extLst>
                  <a:ext uri="{0D108BD9-81ED-4DB2-BD59-A6C34878D82A}">
                    <a16:rowId xmlns:a16="http://schemas.microsoft.com/office/drawing/2014/main" val="914984191"/>
                  </a:ext>
                </a:extLst>
              </a:tr>
              <a:tr h="1026950">
                <a:tc rowSpan="2">
                  <a:txBody>
                    <a:bodyPr/>
                    <a:lstStyle/>
                    <a:p>
                      <a:pPr marL="0" marR="0" indent="0" algn="ctr" fontAlgn="base" latinLnBrk="0">
                        <a:lnSpc>
                          <a:spcPct val="100000"/>
                        </a:lnSpc>
                        <a:spcBef>
                          <a:spcPts val="0"/>
                        </a:spcBef>
                        <a:spcAft>
                          <a:spcPts val="0"/>
                        </a:spcAft>
                      </a:pPr>
                      <a:r>
                        <a:rPr lang="ko-KR" altLang="en-US" sz="1200" kern="1200" dirty="0">
                          <a:solidFill>
                            <a:schemeClr val="tx1"/>
                          </a:solidFill>
                        </a:rPr>
                        <a:t>효</a:t>
                      </a:r>
                    </a:p>
                    <a:p>
                      <a:pPr marL="0" marR="0" indent="0" algn="ctr" fontAlgn="base" latinLnBrk="0">
                        <a:lnSpc>
                          <a:spcPct val="100000"/>
                        </a:lnSpc>
                        <a:spcBef>
                          <a:spcPts val="0"/>
                        </a:spcBef>
                        <a:spcAft>
                          <a:spcPts val="0"/>
                        </a:spcAft>
                      </a:pPr>
                      <a:r>
                        <a:rPr lang="ko-KR" altLang="en-US" sz="1200" kern="1200" dirty="0">
                          <a:solidFill>
                            <a:schemeClr val="tx1"/>
                          </a:solidFill>
                        </a:rPr>
                        <a:t>과</a:t>
                      </a:r>
                      <a:endParaRPr lang="ko-KR" altLang="en-US" sz="1200" kern="1200" dirty="0">
                        <a:solidFill>
                          <a:schemeClr val="tx1"/>
                        </a:solidFill>
                        <a:latin typeface="+mn-ea"/>
                        <a:ea typeface="+mn-ea"/>
                        <a:cs typeface="+mn-cs"/>
                      </a:endParaRPr>
                    </a:p>
                  </a:txBody>
                  <a:tcPr marL="51915" marR="51915" marT="10167" marB="10167" anchor="ctr"/>
                </a:tc>
                <a:tc>
                  <a:txBody>
                    <a:bodyPr/>
                    <a:lstStyle/>
                    <a:p>
                      <a:pPr marL="0" marR="0" indent="0" algn="ctr" fontAlgn="base" latinLnBrk="0">
                        <a:lnSpc>
                          <a:spcPct val="100000"/>
                        </a:lnSpc>
                        <a:spcBef>
                          <a:spcPts val="0"/>
                        </a:spcBef>
                        <a:spcAft>
                          <a:spcPts val="0"/>
                        </a:spcAft>
                      </a:pPr>
                      <a:r>
                        <a:rPr lang="ko-KR" altLang="en-US" sz="1200" kern="1200" dirty="0">
                          <a:solidFill>
                            <a:schemeClr val="tx1"/>
                          </a:solidFill>
                        </a:rPr>
                        <a:t>적</a:t>
                      </a:r>
                      <a:endParaRPr lang="en-US" altLang="ko-KR" sz="1200" kern="1200" dirty="0">
                        <a:solidFill>
                          <a:schemeClr val="tx1"/>
                        </a:solidFill>
                      </a:endParaRPr>
                    </a:p>
                    <a:p>
                      <a:pPr marL="0" marR="0" indent="0" algn="ctr" fontAlgn="base" latinLnBrk="0">
                        <a:lnSpc>
                          <a:spcPct val="100000"/>
                        </a:lnSpc>
                        <a:spcBef>
                          <a:spcPts val="0"/>
                        </a:spcBef>
                        <a:spcAft>
                          <a:spcPts val="0"/>
                        </a:spcAft>
                      </a:pPr>
                      <a:r>
                        <a:rPr lang="ko-KR" altLang="en-US" sz="1200" kern="1200" dirty="0">
                          <a:solidFill>
                            <a:schemeClr val="tx1"/>
                          </a:solidFill>
                        </a:rPr>
                        <a:t>법</a:t>
                      </a:r>
                      <a:endParaRPr lang="ko-KR" altLang="en-US" sz="1200" kern="1200" dirty="0">
                        <a:solidFill>
                          <a:schemeClr val="tx1"/>
                        </a:solidFill>
                        <a:latin typeface="+mn-ea"/>
                        <a:ea typeface="+mn-ea"/>
                        <a:cs typeface="+mn-cs"/>
                      </a:endParaRPr>
                    </a:p>
                  </a:txBody>
                  <a:tcPr marL="36773" marR="36773" marT="10167" marB="10167" anchor="ctr"/>
                </a:tc>
                <a:tc>
                  <a:txBody>
                    <a:bodyPr/>
                    <a:lstStyle/>
                    <a:p>
                      <a:pPr marL="17780" marR="17780" indent="0" algn="just" fontAlgn="base" latinLnBrk="1">
                        <a:lnSpc>
                          <a:spcPct val="100000"/>
                        </a:lnSpc>
                        <a:spcBef>
                          <a:spcPts val="0"/>
                        </a:spcBef>
                        <a:spcAft>
                          <a:spcPts val="0"/>
                        </a:spcAft>
                      </a:pPr>
                      <a:r>
                        <a:rPr lang="ko-KR" altLang="en-US" sz="1200" kern="1200" dirty="0" err="1">
                          <a:solidFill>
                            <a:schemeClr val="tx1"/>
                          </a:solidFill>
                        </a:rPr>
                        <a:t>보완서</a:t>
                      </a:r>
                      <a:r>
                        <a:rPr lang="ko-KR" altLang="en-US" sz="1200" kern="1200" dirty="0">
                          <a:solidFill>
                            <a:schemeClr val="tx1"/>
                          </a:solidFill>
                        </a:rPr>
                        <a:t> </a:t>
                      </a:r>
                      <a:r>
                        <a:rPr lang="ko-KR" altLang="en-US" sz="1200" kern="1200" dirty="0" err="1">
                          <a:solidFill>
                            <a:schemeClr val="tx1"/>
                          </a:solidFill>
                        </a:rPr>
                        <a:t>도달일을</a:t>
                      </a:r>
                      <a:r>
                        <a:rPr lang="ko-KR" altLang="en-US" sz="1200" kern="1200" dirty="0">
                          <a:solidFill>
                            <a:schemeClr val="tx1"/>
                          </a:solidFill>
                        </a:rPr>
                        <a:t> 국제출원일로 인정</a:t>
                      </a:r>
                      <a:r>
                        <a:rPr lang="en-US" altLang="ko-KR" sz="1200" kern="1200" dirty="0">
                          <a:solidFill>
                            <a:schemeClr val="tx1"/>
                          </a:solidFill>
                        </a:rPr>
                        <a:t>(</a:t>
                      </a:r>
                      <a:r>
                        <a:rPr lang="ko-KR" altLang="en-US" sz="1200" kern="1200" dirty="0">
                          <a:solidFill>
                            <a:schemeClr val="tx1"/>
                          </a:solidFill>
                        </a:rPr>
                        <a:t>法 </a:t>
                      </a:r>
                      <a:r>
                        <a:rPr lang="en-US" altLang="ko-KR" sz="1200" kern="1200" dirty="0">
                          <a:solidFill>
                            <a:schemeClr val="tx1"/>
                          </a:solidFill>
                        </a:rPr>
                        <a:t>194</a:t>
                      </a:r>
                      <a:r>
                        <a:rPr lang="ko-KR" altLang="en-US" sz="1200" kern="1200" dirty="0">
                          <a:solidFill>
                            <a:schemeClr val="tx1"/>
                          </a:solidFill>
                        </a:rPr>
                        <a:t>④</a:t>
                      </a:r>
                      <a:r>
                        <a:rPr lang="ko-KR" altLang="en-US" sz="1200" kern="1200" dirty="0" err="1">
                          <a:solidFill>
                            <a:schemeClr val="tx1"/>
                          </a:solidFill>
                        </a:rPr>
                        <a:t>전단부</a:t>
                      </a:r>
                      <a:r>
                        <a:rPr lang="en-US" altLang="ko-KR" sz="1200" kern="1200" dirty="0">
                          <a:solidFill>
                            <a:schemeClr val="tx1"/>
                          </a:solidFill>
                        </a:rPr>
                        <a:t>)</a:t>
                      </a:r>
                      <a:endParaRPr lang="ko-KR" altLang="en-US" sz="1200" kern="1200" dirty="0">
                        <a:solidFill>
                          <a:schemeClr val="tx1"/>
                        </a:solidFill>
                        <a:latin typeface="+mn-ea"/>
                        <a:ea typeface="+mn-ea"/>
                        <a:cs typeface="+mn-cs"/>
                      </a:endParaRPr>
                    </a:p>
                  </a:txBody>
                  <a:tcPr marL="36773" marR="36773" marT="10167" marB="10167" anchor="ctr"/>
                </a:tc>
                <a:tc>
                  <a:txBody>
                    <a:bodyPr/>
                    <a:lstStyle/>
                    <a:p>
                      <a:pPr marL="17780" marR="17780" indent="0" algn="just" fontAlgn="base" latinLnBrk="1">
                        <a:lnSpc>
                          <a:spcPct val="100000"/>
                        </a:lnSpc>
                        <a:spcBef>
                          <a:spcPts val="0"/>
                        </a:spcBef>
                        <a:spcAft>
                          <a:spcPts val="0"/>
                        </a:spcAft>
                      </a:pPr>
                      <a:r>
                        <a:rPr lang="ko-KR" altLang="en-US" sz="1200" kern="1200" dirty="0">
                          <a:solidFill>
                            <a:schemeClr val="tx1"/>
                          </a:solidFill>
                        </a:rPr>
                        <a:t>보정된 내용대로 출원한 것으로 간주</a:t>
                      </a:r>
                      <a:endParaRPr lang="ko-KR" altLang="en-US" sz="1200" kern="1200" dirty="0">
                        <a:solidFill>
                          <a:schemeClr val="tx1"/>
                        </a:solidFill>
                        <a:latin typeface="+mn-ea"/>
                        <a:ea typeface="+mn-ea"/>
                        <a:cs typeface="+mn-cs"/>
                      </a:endParaRPr>
                    </a:p>
                  </a:txBody>
                  <a:tcPr marL="36773" marR="36773" marT="10167" marB="10167" anchor="ctr"/>
                </a:tc>
                <a:tc>
                  <a:txBody>
                    <a:bodyPr/>
                    <a:lstStyle/>
                    <a:p>
                      <a:pPr marL="140970" marR="17780" indent="-140970" algn="just" fontAlgn="base" latinLnBrk="1">
                        <a:lnSpc>
                          <a:spcPct val="100000"/>
                        </a:lnSpc>
                        <a:spcBef>
                          <a:spcPts val="0"/>
                        </a:spcBef>
                        <a:spcAft>
                          <a:spcPts val="0"/>
                        </a:spcAft>
                      </a:pPr>
                      <a:r>
                        <a:rPr lang="en-US" altLang="ko-KR" sz="1200" kern="1200" dirty="0">
                          <a:solidFill>
                            <a:schemeClr val="tx1"/>
                          </a:solidFill>
                        </a:rPr>
                        <a:t>1.</a:t>
                      </a:r>
                      <a:r>
                        <a:rPr lang="ko-KR" altLang="en-US" sz="1200" kern="1200" dirty="0">
                          <a:solidFill>
                            <a:schemeClr val="tx1"/>
                          </a:solidFill>
                        </a:rPr>
                        <a:t>접수일</a:t>
                      </a:r>
                      <a:r>
                        <a:rPr lang="en-US" altLang="ko-KR" sz="1200" kern="1200" dirty="0">
                          <a:solidFill>
                            <a:schemeClr val="tx1"/>
                          </a:solidFill>
                        </a:rPr>
                        <a:t>(</a:t>
                      </a:r>
                      <a:r>
                        <a:rPr lang="ko-KR" altLang="en-US" sz="1200" kern="1200" dirty="0">
                          <a:solidFill>
                            <a:schemeClr val="tx1"/>
                          </a:solidFill>
                        </a:rPr>
                        <a:t>도달일</a:t>
                      </a:r>
                      <a:r>
                        <a:rPr lang="en-US" altLang="ko-KR" sz="1200" kern="1200" dirty="0">
                          <a:solidFill>
                            <a:schemeClr val="tx1"/>
                          </a:solidFill>
                        </a:rPr>
                        <a:t>)</a:t>
                      </a:r>
                      <a:r>
                        <a:rPr lang="ko-KR" altLang="en-US" sz="1200" kern="1200" dirty="0">
                          <a:solidFill>
                            <a:schemeClr val="tx1"/>
                          </a:solidFill>
                        </a:rPr>
                        <a:t>을 국제출원일로 인정</a:t>
                      </a:r>
                      <a:r>
                        <a:rPr lang="en-US" altLang="ko-KR" sz="1200" kern="1200" dirty="0">
                          <a:solidFill>
                            <a:schemeClr val="tx1"/>
                          </a:solidFill>
                        </a:rPr>
                        <a:t>(</a:t>
                      </a:r>
                      <a:r>
                        <a:rPr lang="ko-KR" altLang="en-US" sz="1200" kern="1200" dirty="0">
                          <a:solidFill>
                            <a:schemeClr val="tx1"/>
                          </a:solidFill>
                        </a:rPr>
                        <a:t>단</a:t>
                      </a:r>
                      <a:r>
                        <a:rPr lang="en-US" altLang="ko-KR" sz="1200" kern="1200" dirty="0">
                          <a:solidFill>
                            <a:schemeClr val="tx1"/>
                          </a:solidFill>
                        </a:rPr>
                        <a:t>, </a:t>
                      </a:r>
                      <a:r>
                        <a:rPr lang="ko-KR" altLang="en-US" sz="1200" kern="1200" dirty="0" err="1">
                          <a:solidFill>
                            <a:schemeClr val="tx1"/>
                          </a:solidFill>
                        </a:rPr>
                        <a:t>국제출원일</a:t>
                      </a:r>
                      <a:r>
                        <a:rPr lang="ko-KR" altLang="en-US" sz="1200" kern="1200" dirty="0">
                          <a:solidFill>
                            <a:schemeClr val="tx1"/>
                          </a:solidFill>
                        </a:rPr>
                        <a:t> 통지일로부터 </a:t>
                      </a:r>
                      <a:r>
                        <a:rPr lang="en-US" altLang="ko-KR" sz="1200" kern="1200" dirty="0">
                          <a:solidFill>
                            <a:schemeClr val="tx1"/>
                          </a:solidFill>
                        </a:rPr>
                        <a:t>1</a:t>
                      </a:r>
                      <a:r>
                        <a:rPr lang="ko-KR" altLang="en-US" sz="1200" kern="1200" dirty="0">
                          <a:solidFill>
                            <a:schemeClr val="tx1"/>
                          </a:solidFill>
                        </a:rPr>
                        <a:t>개월 이내 보완 </a:t>
                      </a:r>
                      <a:r>
                        <a:rPr lang="ko-KR" altLang="en-US" sz="1200" kern="1200" dirty="0" err="1">
                          <a:solidFill>
                            <a:schemeClr val="tx1"/>
                          </a:solidFill>
                        </a:rPr>
                        <a:t>취하시</a:t>
                      </a:r>
                      <a:r>
                        <a:rPr lang="ko-KR" altLang="en-US" sz="1200" kern="1200" dirty="0">
                          <a:solidFill>
                            <a:schemeClr val="tx1"/>
                          </a:solidFill>
                        </a:rPr>
                        <a:t> </a:t>
                      </a:r>
                      <a:r>
                        <a:rPr lang="ko-KR" altLang="en-US" sz="1200" kern="1200" dirty="0" err="1">
                          <a:solidFill>
                            <a:schemeClr val="tx1"/>
                          </a:solidFill>
                        </a:rPr>
                        <a:t>국제출원일</a:t>
                      </a:r>
                      <a:r>
                        <a:rPr lang="ko-KR" altLang="en-US" sz="1200" kern="1200" dirty="0">
                          <a:solidFill>
                            <a:schemeClr val="tx1"/>
                          </a:solidFill>
                        </a:rPr>
                        <a:t> 정정 없었던 것으로 간주</a:t>
                      </a:r>
                      <a:r>
                        <a:rPr lang="en-US" altLang="ko-KR" sz="1200" kern="1200" dirty="0">
                          <a:solidFill>
                            <a:schemeClr val="tx1"/>
                          </a:solidFill>
                        </a:rPr>
                        <a:t>)(</a:t>
                      </a:r>
                      <a:r>
                        <a:rPr lang="ko-KR" altLang="en-US" sz="1200" kern="1200" dirty="0">
                          <a:solidFill>
                            <a:schemeClr val="tx1"/>
                          </a:solidFill>
                        </a:rPr>
                        <a:t>施規 </a:t>
                      </a:r>
                      <a:r>
                        <a:rPr lang="en-US" altLang="ko-KR" sz="1200" kern="1200" dirty="0">
                          <a:solidFill>
                            <a:schemeClr val="tx1"/>
                          </a:solidFill>
                        </a:rPr>
                        <a:t>99</a:t>
                      </a:r>
                      <a:r>
                        <a:rPr lang="ko-KR" altLang="en-US" sz="1200" kern="1200" dirty="0">
                          <a:solidFill>
                            <a:schemeClr val="tx1"/>
                          </a:solidFill>
                        </a:rPr>
                        <a:t>의</a:t>
                      </a:r>
                      <a:r>
                        <a:rPr lang="en-US" altLang="ko-KR" sz="1200" kern="1200" dirty="0">
                          <a:solidFill>
                            <a:schemeClr val="tx1"/>
                          </a:solidFill>
                        </a:rPr>
                        <a:t>2</a:t>
                      </a:r>
                      <a:r>
                        <a:rPr lang="ko-KR" altLang="en-US" sz="1200" kern="1200" dirty="0">
                          <a:solidFill>
                            <a:schemeClr val="tx1"/>
                          </a:solidFill>
                        </a:rPr>
                        <a:t>⑥본문</a:t>
                      </a:r>
                      <a:r>
                        <a:rPr lang="en-US" altLang="ko-KR" sz="1200" kern="1200" dirty="0">
                          <a:solidFill>
                            <a:schemeClr val="tx1"/>
                          </a:solidFill>
                        </a:rPr>
                        <a:t>)</a:t>
                      </a:r>
                      <a:endParaRPr lang="ko-KR" altLang="en-US" sz="1200" kern="1200" dirty="0">
                        <a:solidFill>
                          <a:schemeClr val="tx1"/>
                        </a:solidFill>
                      </a:endParaRPr>
                    </a:p>
                    <a:p>
                      <a:pPr marL="128270" marR="17780" indent="-128270" algn="just" fontAlgn="base" latinLnBrk="1">
                        <a:lnSpc>
                          <a:spcPct val="100000"/>
                        </a:lnSpc>
                        <a:spcBef>
                          <a:spcPts val="0"/>
                        </a:spcBef>
                        <a:spcAft>
                          <a:spcPts val="0"/>
                        </a:spcAft>
                      </a:pPr>
                      <a:r>
                        <a:rPr lang="en-US" altLang="ko-KR" sz="1200" kern="1200" dirty="0">
                          <a:solidFill>
                            <a:schemeClr val="tx1"/>
                          </a:solidFill>
                        </a:rPr>
                        <a:t>2.</a:t>
                      </a:r>
                      <a:r>
                        <a:rPr lang="ko-KR" altLang="en-US" sz="1200" kern="1200" dirty="0">
                          <a:solidFill>
                            <a:schemeClr val="tx1"/>
                          </a:solidFill>
                        </a:rPr>
                        <a:t>제</a:t>
                      </a:r>
                      <a:r>
                        <a:rPr lang="en-US" altLang="ko-KR" sz="1200" kern="1200" dirty="0">
                          <a:solidFill>
                            <a:schemeClr val="tx1"/>
                          </a:solidFill>
                        </a:rPr>
                        <a:t>194</a:t>
                      </a:r>
                      <a:r>
                        <a:rPr lang="ko-KR" altLang="en-US" sz="1200" kern="1200" dirty="0">
                          <a:solidFill>
                            <a:schemeClr val="tx1"/>
                          </a:solidFill>
                        </a:rPr>
                        <a:t>조제</a:t>
                      </a:r>
                      <a:r>
                        <a:rPr lang="en-US" altLang="ko-KR" sz="1200" kern="1200" dirty="0">
                          <a:solidFill>
                            <a:schemeClr val="tx1"/>
                          </a:solidFill>
                        </a:rPr>
                        <a:t>4</a:t>
                      </a:r>
                      <a:r>
                        <a:rPr lang="ko-KR" altLang="en-US" sz="1200" kern="1200" dirty="0">
                          <a:solidFill>
                            <a:schemeClr val="tx1"/>
                          </a:solidFill>
                        </a:rPr>
                        <a:t>항에 따라 국제출원일로 인정되는 날보다 앞서는 경우는 그러하지 아니함</a:t>
                      </a:r>
                      <a:r>
                        <a:rPr lang="en-US" altLang="ko-KR" sz="1200" kern="1200" dirty="0">
                          <a:solidFill>
                            <a:schemeClr val="tx1"/>
                          </a:solidFill>
                        </a:rPr>
                        <a:t>(</a:t>
                      </a:r>
                      <a:r>
                        <a:rPr lang="ko-KR" altLang="en-US" sz="1200" kern="1200" dirty="0">
                          <a:solidFill>
                            <a:schemeClr val="tx1"/>
                          </a:solidFill>
                        </a:rPr>
                        <a:t>施規 </a:t>
                      </a:r>
                      <a:r>
                        <a:rPr lang="en-US" altLang="ko-KR" sz="1200" kern="1200" dirty="0">
                          <a:solidFill>
                            <a:schemeClr val="tx1"/>
                          </a:solidFill>
                        </a:rPr>
                        <a:t>99</a:t>
                      </a:r>
                      <a:r>
                        <a:rPr lang="ko-KR" altLang="en-US" sz="1200" kern="1200" dirty="0">
                          <a:solidFill>
                            <a:schemeClr val="tx1"/>
                          </a:solidFill>
                        </a:rPr>
                        <a:t>의</a:t>
                      </a:r>
                      <a:r>
                        <a:rPr lang="en-US" altLang="ko-KR" sz="1200" kern="1200" dirty="0">
                          <a:solidFill>
                            <a:schemeClr val="tx1"/>
                          </a:solidFill>
                        </a:rPr>
                        <a:t>2</a:t>
                      </a:r>
                      <a:r>
                        <a:rPr lang="ko-KR" altLang="en-US" sz="1200" kern="1200" dirty="0">
                          <a:solidFill>
                            <a:schemeClr val="tx1"/>
                          </a:solidFill>
                        </a:rPr>
                        <a:t>⑥단서</a:t>
                      </a:r>
                      <a:r>
                        <a:rPr lang="en-US" altLang="ko-KR" sz="1200" kern="1200" dirty="0">
                          <a:solidFill>
                            <a:schemeClr val="tx1"/>
                          </a:solidFill>
                        </a:rPr>
                        <a:t>)</a:t>
                      </a:r>
                      <a:endParaRPr lang="ko-KR" altLang="en-US" sz="1200" kern="1200" dirty="0">
                        <a:solidFill>
                          <a:schemeClr val="tx1"/>
                        </a:solidFill>
                        <a:latin typeface="+mn-ea"/>
                        <a:ea typeface="+mn-ea"/>
                        <a:cs typeface="+mn-cs"/>
                      </a:endParaRPr>
                    </a:p>
                  </a:txBody>
                  <a:tcPr marL="36773" marR="36773" marT="10167" marB="10167" anchor="ctr"/>
                </a:tc>
                <a:extLst>
                  <a:ext uri="{0D108BD9-81ED-4DB2-BD59-A6C34878D82A}">
                    <a16:rowId xmlns:a16="http://schemas.microsoft.com/office/drawing/2014/main" val="4220222898"/>
                  </a:ext>
                </a:extLst>
              </a:tr>
              <a:tr h="1227872">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1200" dirty="0">
                          <a:solidFill>
                            <a:schemeClr val="tx1"/>
                          </a:solidFill>
                        </a:rPr>
                        <a:t>부</a:t>
                      </a:r>
                    </a:p>
                    <a:p>
                      <a:pPr marL="0" marR="0" indent="0" algn="ctr" fontAlgn="base" latinLnBrk="0">
                        <a:lnSpc>
                          <a:spcPct val="100000"/>
                        </a:lnSpc>
                        <a:spcBef>
                          <a:spcPts val="0"/>
                        </a:spcBef>
                        <a:spcAft>
                          <a:spcPts val="0"/>
                        </a:spcAft>
                      </a:pPr>
                      <a:r>
                        <a:rPr lang="ko-KR" altLang="en-US" sz="1200" kern="1200" dirty="0">
                          <a:solidFill>
                            <a:schemeClr val="tx1"/>
                          </a:solidFill>
                        </a:rPr>
                        <a:t>적</a:t>
                      </a:r>
                    </a:p>
                    <a:p>
                      <a:pPr marL="0" marR="0" indent="0" algn="ctr" fontAlgn="base" latinLnBrk="0">
                        <a:lnSpc>
                          <a:spcPct val="100000"/>
                        </a:lnSpc>
                        <a:spcBef>
                          <a:spcPts val="0"/>
                        </a:spcBef>
                        <a:spcAft>
                          <a:spcPts val="0"/>
                        </a:spcAft>
                      </a:pPr>
                      <a:r>
                        <a:rPr lang="ko-KR" altLang="en-US" sz="1200" kern="1200" dirty="0">
                          <a:solidFill>
                            <a:schemeClr val="tx1"/>
                          </a:solidFill>
                        </a:rPr>
                        <a:t>법</a:t>
                      </a:r>
                      <a:endParaRPr lang="ko-KR" altLang="en-US" sz="1200" kern="1200" dirty="0">
                        <a:solidFill>
                          <a:schemeClr val="tx1"/>
                        </a:solidFill>
                        <a:latin typeface="+mn-ea"/>
                        <a:ea typeface="+mn-ea"/>
                        <a:cs typeface="+mn-cs"/>
                      </a:endParaRPr>
                    </a:p>
                  </a:txBody>
                  <a:tcPr marL="36773" marR="36773" marT="10167" marB="10167" anchor="ctr"/>
                </a:tc>
                <a:tc>
                  <a:txBody>
                    <a:bodyPr/>
                    <a:lstStyle/>
                    <a:p>
                      <a:pPr marL="17780" marR="17780" indent="0" algn="just" fontAlgn="base" latinLnBrk="1">
                        <a:lnSpc>
                          <a:spcPct val="100000"/>
                        </a:lnSpc>
                        <a:spcBef>
                          <a:spcPts val="0"/>
                        </a:spcBef>
                        <a:spcAft>
                          <a:spcPts val="0"/>
                        </a:spcAft>
                      </a:pPr>
                      <a:r>
                        <a:rPr lang="ko-KR" altLang="en-US" sz="1200" kern="1200">
                          <a:solidFill>
                            <a:schemeClr val="tx1"/>
                          </a:solidFill>
                        </a:rPr>
                        <a:t>국제출원일 불인정</a:t>
                      </a:r>
                      <a:r>
                        <a:rPr lang="en-US" altLang="ko-KR" sz="1200" kern="1200">
                          <a:solidFill>
                            <a:schemeClr val="tx1"/>
                          </a:solidFill>
                        </a:rPr>
                        <a:t>(</a:t>
                      </a:r>
                      <a:r>
                        <a:rPr lang="ko-KR" altLang="en-US" sz="1200" kern="1200">
                          <a:solidFill>
                            <a:schemeClr val="tx1"/>
                          </a:solidFill>
                        </a:rPr>
                        <a:t>法 </a:t>
                      </a:r>
                      <a:r>
                        <a:rPr lang="en-US" altLang="ko-KR" sz="1200" kern="1200">
                          <a:solidFill>
                            <a:schemeClr val="tx1"/>
                          </a:solidFill>
                        </a:rPr>
                        <a:t>194</a:t>
                      </a:r>
                      <a:r>
                        <a:rPr lang="ko-KR" altLang="en-US" sz="1200" kern="1200">
                          <a:solidFill>
                            <a:schemeClr val="tx1"/>
                          </a:solidFill>
                        </a:rPr>
                        <a:t>①단서</a:t>
                      </a:r>
                      <a:r>
                        <a:rPr lang="en-US" altLang="ko-KR" sz="1200" kern="1200">
                          <a:solidFill>
                            <a:schemeClr val="tx1"/>
                          </a:solidFill>
                        </a:rPr>
                        <a:t>)</a:t>
                      </a:r>
                      <a:endParaRPr lang="ko-KR" altLang="en-US" sz="1200" kern="1200">
                        <a:solidFill>
                          <a:schemeClr val="tx1"/>
                        </a:solidFill>
                        <a:latin typeface="+mn-ea"/>
                        <a:ea typeface="+mn-ea"/>
                        <a:cs typeface="+mn-cs"/>
                      </a:endParaRPr>
                    </a:p>
                  </a:txBody>
                  <a:tcPr marL="36773" marR="36773" marT="10167" marB="10167" anchor="ctr"/>
                </a:tc>
                <a:tc>
                  <a:txBody>
                    <a:bodyPr/>
                    <a:lstStyle/>
                    <a:p>
                      <a:pPr marL="17780" marR="17780" indent="0" algn="just" fontAlgn="base" latinLnBrk="1">
                        <a:lnSpc>
                          <a:spcPct val="100000"/>
                        </a:lnSpc>
                        <a:spcBef>
                          <a:spcPts val="0"/>
                        </a:spcBef>
                        <a:spcAft>
                          <a:spcPts val="0"/>
                        </a:spcAft>
                      </a:pPr>
                      <a:r>
                        <a:rPr lang="ko-KR" altLang="en-US" sz="1200" kern="1200" dirty="0" err="1">
                          <a:solidFill>
                            <a:schemeClr val="tx1"/>
                          </a:solidFill>
                        </a:rPr>
                        <a:t>국제출원의</a:t>
                      </a:r>
                      <a:r>
                        <a:rPr lang="ko-KR" altLang="en-US" sz="1200" kern="1200" dirty="0">
                          <a:solidFill>
                            <a:schemeClr val="tx1"/>
                          </a:solidFill>
                        </a:rPr>
                        <a:t> </a:t>
                      </a:r>
                      <a:r>
                        <a:rPr lang="ko-KR" altLang="en-US" sz="1200" kern="1200" dirty="0" err="1">
                          <a:solidFill>
                            <a:schemeClr val="tx1"/>
                          </a:solidFill>
                        </a:rPr>
                        <a:t>취하간주</a:t>
                      </a:r>
                      <a:r>
                        <a:rPr lang="en-US" altLang="ko-KR" sz="1200" kern="1200" dirty="0">
                          <a:solidFill>
                            <a:schemeClr val="tx1"/>
                          </a:solidFill>
                        </a:rPr>
                        <a:t>(</a:t>
                      </a:r>
                      <a:r>
                        <a:rPr lang="ko-KR" altLang="en-US" sz="1200" kern="1200" dirty="0">
                          <a:solidFill>
                            <a:schemeClr val="tx1"/>
                          </a:solidFill>
                        </a:rPr>
                        <a:t>法 </a:t>
                      </a:r>
                      <a:r>
                        <a:rPr lang="en-US" altLang="ko-KR" sz="1200" kern="1200" dirty="0">
                          <a:solidFill>
                            <a:schemeClr val="tx1"/>
                          </a:solidFill>
                        </a:rPr>
                        <a:t>196</a:t>
                      </a:r>
                      <a:r>
                        <a:rPr lang="ko-KR" altLang="en-US" sz="1200" kern="1200" dirty="0">
                          <a:solidFill>
                            <a:schemeClr val="tx1"/>
                          </a:solidFill>
                        </a:rPr>
                        <a:t>①</a:t>
                      </a:r>
                      <a:r>
                        <a:rPr lang="en-US" altLang="ko-KR" sz="1200" kern="1200" dirty="0" err="1">
                          <a:solidFill>
                            <a:schemeClr val="tx1"/>
                          </a:solidFill>
                        </a:rPr>
                        <a:t>ⅠⅡ</a:t>
                      </a:r>
                      <a:r>
                        <a:rPr lang="en-US" altLang="ko-KR" sz="1200" kern="1200" dirty="0">
                          <a:solidFill>
                            <a:schemeClr val="tx1"/>
                          </a:solidFill>
                        </a:rPr>
                        <a:t>)</a:t>
                      </a:r>
                      <a:endParaRPr lang="ko-KR" altLang="en-US" sz="1200" kern="1200" dirty="0">
                        <a:solidFill>
                          <a:schemeClr val="tx1"/>
                        </a:solidFill>
                        <a:latin typeface="+mn-ea"/>
                        <a:ea typeface="+mn-ea"/>
                        <a:cs typeface="+mn-cs"/>
                      </a:endParaRPr>
                    </a:p>
                  </a:txBody>
                  <a:tcPr marL="36773" marR="36773" marT="10167" marB="10167" anchor="ctr"/>
                </a:tc>
                <a:tc>
                  <a:txBody>
                    <a:bodyPr/>
                    <a:lstStyle/>
                    <a:p>
                      <a:pPr marL="137160" marR="17780" indent="-137160" algn="just" fontAlgn="base" latinLnBrk="1">
                        <a:lnSpc>
                          <a:spcPct val="100000"/>
                        </a:lnSpc>
                        <a:spcBef>
                          <a:spcPts val="0"/>
                        </a:spcBef>
                        <a:spcAft>
                          <a:spcPts val="0"/>
                        </a:spcAft>
                      </a:pPr>
                      <a:r>
                        <a:rPr lang="en-US" altLang="ko-KR" sz="1200" kern="1200" dirty="0">
                          <a:solidFill>
                            <a:schemeClr val="tx1"/>
                          </a:solidFill>
                        </a:rPr>
                        <a:t>1.</a:t>
                      </a:r>
                      <a:r>
                        <a:rPr lang="ko-KR" altLang="en-US" sz="1200" kern="1200" dirty="0">
                          <a:solidFill>
                            <a:schemeClr val="tx1"/>
                          </a:solidFill>
                        </a:rPr>
                        <a:t>국제출원절차 진행하고 나중에 기재불비 등의 거절이유가 발생할 가능성 존재</a:t>
                      </a:r>
                    </a:p>
                    <a:p>
                      <a:pPr marL="119380" marR="17780" indent="-119380" algn="just" fontAlgn="base" latinLnBrk="1">
                        <a:lnSpc>
                          <a:spcPct val="100000"/>
                        </a:lnSpc>
                        <a:spcBef>
                          <a:spcPts val="0"/>
                        </a:spcBef>
                        <a:spcAft>
                          <a:spcPts val="0"/>
                        </a:spcAft>
                      </a:pPr>
                      <a:r>
                        <a:rPr lang="en-US" altLang="ko-KR" sz="1200" kern="1200" dirty="0">
                          <a:solidFill>
                            <a:schemeClr val="tx1"/>
                          </a:solidFill>
                        </a:rPr>
                        <a:t>2.</a:t>
                      </a:r>
                      <a:r>
                        <a:rPr lang="ko-KR" altLang="en-US" sz="1200" kern="1200" dirty="0">
                          <a:solidFill>
                            <a:schemeClr val="tx1"/>
                          </a:solidFill>
                        </a:rPr>
                        <a:t>도면에 관하여 기재하고 있으나 그 출원에 도면이 포함되어 있지 아니함에도 불구하고</a:t>
                      </a:r>
                      <a:r>
                        <a:rPr lang="en-US" altLang="ko-KR" sz="1200" kern="1200" dirty="0">
                          <a:solidFill>
                            <a:schemeClr val="tx1"/>
                          </a:solidFill>
                        </a:rPr>
                        <a:t>, </a:t>
                      </a:r>
                      <a:r>
                        <a:rPr lang="ko-KR" altLang="en-US" sz="1200" kern="1200" dirty="0" err="1">
                          <a:solidFill>
                            <a:schemeClr val="tx1"/>
                          </a:solidFill>
                        </a:rPr>
                        <a:t>출원인이</a:t>
                      </a:r>
                      <a:r>
                        <a:rPr lang="ko-KR" altLang="en-US" sz="1200" kern="1200" dirty="0">
                          <a:solidFill>
                            <a:schemeClr val="tx1"/>
                          </a:solidFill>
                        </a:rPr>
                        <a:t> 기간에 도면을 제출하지 아니한 경우에는 그 도면에 관한 기재는 없는 것으로 간주</a:t>
                      </a:r>
                      <a:r>
                        <a:rPr lang="en-US" altLang="ko-KR" sz="1200" kern="1200" dirty="0">
                          <a:solidFill>
                            <a:schemeClr val="tx1"/>
                          </a:solidFill>
                        </a:rPr>
                        <a:t>(</a:t>
                      </a:r>
                      <a:r>
                        <a:rPr lang="ko-KR" altLang="en-US" sz="1200" kern="1200" dirty="0">
                          <a:solidFill>
                            <a:schemeClr val="tx1"/>
                          </a:solidFill>
                        </a:rPr>
                        <a:t>法 </a:t>
                      </a:r>
                      <a:r>
                        <a:rPr lang="en-US" altLang="ko-KR" sz="1200" kern="1200" dirty="0">
                          <a:solidFill>
                            <a:schemeClr val="tx1"/>
                          </a:solidFill>
                        </a:rPr>
                        <a:t>194</a:t>
                      </a:r>
                      <a:r>
                        <a:rPr lang="ko-KR" altLang="en-US" sz="1200" kern="1200" dirty="0">
                          <a:solidFill>
                            <a:schemeClr val="tx1"/>
                          </a:solidFill>
                        </a:rPr>
                        <a:t>④</a:t>
                      </a:r>
                      <a:r>
                        <a:rPr lang="en-US" altLang="ko-KR" sz="1200" kern="1200" dirty="0">
                          <a:solidFill>
                            <a:schemeClr val="tx1"/>
                          </a:solidFill>
                        </a:rPr>
                        <a:t>)</a:t>
                      </a:r>
                      <a:endParaRPr lang="ko-KR" altLang="en-US" sz="1200" kern="1200" dirty="0">
                        <a:solidFill>
                          <a:schemeClr val="tx1"/>
                        </a:solidFill>
                        <a:latin typeface="+mn-ea"/>
                        <a:ea typeface="+mn-ea"/>
                        <a:cs typeface="+mn-cs"/>
                      </a:endParaRPr>
                    </a:p>
                  </a:txBody>
                  <a:tcPr marL="36773" marR="36773" marT="10167" marB="10167" anchor="ctr"/>
                </a:tc>
                <a:extLst>
                  <a:ext uri="{0D108BD9-81ED-4DB2-BD59-A6C34878D82A}">
                    <a16:rowId xmlns:a16="http://schemas.microsoft.com/office/drawing/2014/main" val="3678391353"/>
                  </a:ext>
                </a:extLst>
              </a:tr>
            </a:tbl>
          </a:graphicData>
        </a:graphic>
      </p:graphicFrame>
      <p:sp>
        <p:nvSpPr>
          <p:cNvPr id="3" name="슬라이드 번호 개체 틀 2"/>
          <p:cNvSpPr>
            <a:spLocks noGrp="1"/>
          </p:cNvSpPr>
          <p:nvPr>
            <p:ph type="sldNum" sz="quarter" idx="12"/>
          </p:nvPr>
        </p:nvSpPr>
        <p:spPr>
          <a:noFill/>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prstClr val="white"/>
                </a:solidFill>
                <a:effectLst/>
                <a:uLnTx/>
                <a:uFillTx/>
                <a:latin typeface="Frutiger LT 65 Bold"/>
                <a:ea typeface="Rix모던고딕 B"/>
                <a:cs typeface="+mn-cs"/>
              </a:rPr>
              <a:t>557</a:t>
            </a:r>
            <a:endParaRPr kumimoji="0" lang="ko-KR" altLang="en-US" sz="3600" b="1" i="0" u="none" strike="noStrike" kern="1200" cap="none" spc="0" normalizeH="0" baseline="0" noProof="0" dirty="0">
              <a:ln w="12700">
                <a:solidFill>
                  <a:srgbClr val="44546A">
                    <a:satMod val="155000"/>
                  </a:srgbClr>
                </a:solidFill>
                <a:prstDash val="solid"/>
              </a:ln>
              <a:solidFill>
                <a:prstClr val="white"/>
              </a:solidFill>
              <a:effectLst/>
              <a:uLnTx/>
              <a:uFillTx/>
              <a:latin typeface="Frutiger LT 65 Bold"/>
              <a:ea typeface="Rix모던고딕 B"/>
              <a:cs typeface="+mn-cs"/>
            </a:endParaRPr>
          </a:p>
        </p:txBody>
      </p:sp>
    </p:spTree>
    <p:extLst>
      <p:ext uri="{BB962C8B-B14F-4D97-AF65-F5344CB8AC3E}">
        <p14:creationId xmlns:p14="http://schemas.microsoft.com/office/powerpoint/2010/main" val="2984949438"/>
      </p:ext>
    </p:extLst>
  </p:cSld>
  <p:clrMapOvr>
    <a:masterClrMapping/>
  </p:clrMapOvr>
  <p:transition/>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1" name="꺾인 연결선 110"/>
          <p:cNvCxnSpPr>
            <a:stCxn id="83" idx="2"/>
            <a:endCxn id="80" idx="3"/>
          </p:cNvCxnSpPr>
          <p:nvPr/>
        </p:nvCxnSpPr>
        <p:spPr>
          <a:xfrm rot="5400000">
            <a:off x="6095265" y="3409857"/>
            <a:ext cx="899093" cy="5446437"/>
          </a:xfrm>
          <a:prstGeom prst="bentConnector2">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3" name="Rectangle 24"/>
          <p:cNvSpPr>
            <a:spLocks noChangeArrowheads="1"/>
          </p:cNvSpPr>
          <p:nvPr/>
        </p:nvSpPr>
        <p:spPr bwMode="auto">
          <a:xfrm>
            <a:off x="3868151" y="868246"/>
            <a:ext cx="2065675" cy="203906"/>
          </a:xfrm>
          <a:prstGeom prst="roundRect">
            <a:avLst>
              <a:gd name="adj" fmla="val 50000"/>
            </a:avLst>
          </a:prstGeom>
          <a:solidFill>
            <a:schemeClr val="tx2">
              <a:lumMod val="75000"/>
            </a:schemeClr>
          </a:solidFill>
          <a:ln>
            <a:solidFill>
              <a:schemeClr val="tx2">
                <a:lumMod val="50000"/>
              </a:schemeClr>
            </a:solidFill>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rPr>
              <a:t>출원인</a:t>
            </a:r>
          </a:p>
        </p:txBody>
      </p:sp>
      <p:sp>
        <p:nvSpPr>
          <p:cNvPr id="31" name="Rectangle 24"/>
          <p:cNvSpPr>
            <a:spLocks noChangeArrowheads="1"/>
          </p:cNvSpPr>
          <p:nvPr/>
        </p:nvSpPr>
        <p:spPr bwMode="auto">
          <a:xfrm>
            <a:off x="2812034" y="1198358"/>
            <a:ext cx="4177909" cy="203907"/>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PCT </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국제출원</a:t>
            </a:r>
          </a:p>
        </p:txBody>
      </p:sp>
      <p:sp>
        <p:nvSpPr>
          <p:cNvPr id="40" name="Rectangle 24"/>
          <p:cNvSpPr>
            <a:spLocks noChangeArrowheads="1"/>
          </p:cNvSpPr>
          <p:nvPr/>
        </p:nvSpPr>
        <p:spPr bwMode="auto">
          <a:xfrm>
            <a:off x="3868151" y="1532349"/>
            <a:ext cx="2065675" cy="203906"/>
          </a:xfrm>
          <a:prstGeom prst="roundRect">
            <a:avLst>
              <a:gd name="adj" fmla="val 50000"/>
            </a:avLst>
          </a:prstGeom>
          <a:solidFill>
            <a:schemeClr val="accent2"/>
          </a:solidFill>
          <a:ln>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err="1">
                <a:ln>
                  <a:noFill/>
                </a:ln>
                <a:solidFill>
                  <a:prstClr val="white"/>
                </a:solidFill>
                <a:effectLst/>
                <a:uLnTx/>
                <a:uFillTx/>
                <a:latin typeface="Rix모던고딕 B"/>
                <a:ea typeface="Rix모던고딕 B"/>
                <a:cs typeface="+mn-cs"/>
              </a:rPr>
              <a:t>수리관청</a:t>
            </a:r>
            <a:r>
              <a:rPr kumimoji="0" lang="en-US" altLang="ko-KR" sz="1000" b="1" i="0" u="none" strike="noStrike" kern="1200" cap="none" spc="0" normalizeH="0" baseline="0" noProof="0" dirty="0">
                <a:ln>
                  <a:noFill/>
                </a:ln>
                <a:solidFill>
                  <a:prstClr val="white"/>
                </a:solidFill>
                <a:effectLst/>
                <a:uLnTx/>
                <a:uFillTx/>
                <a:latin typeface="Rix모던고딕 B"/>
                <a:ea typeface="Rix모던고딕 B"/>
                <a:cs typeface="+mn-cs"/>
              </a:rPr>
              <a:t>/</a:t>
            </a:r>
            <a:r>
              <a:rPr kumimoji="0" lang="ko-KR" altLang="en-US" sz="1000" b="1" i="0" u="none" strike="noStrike" kern="1200" cap="none" spc="0" normalizeH="0" baseline="0" noProof="0" dirty="0" err="1">
                <a:ln>
                  <a:noFill/>
                </a:ln>
                <a:solidFill>
                  <a:prstClr val="white"/>
                </a:solidFill>
                <a:effectLst/>
                <a:uLnTx/>
                <a:uFillTx/>
                <a:latin typeface="Rix모던고딕 B"/>
                <a:ea typeface="Rix모던고딕 B"/>
                <a:cs typeface="+mn-cs"/>
              </a:rPr>
              <a:t>국제사무국</a:t>
            </a:r>
            <a:endPar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endParaRPr>
          </a:p>
        </p:txBody>
      </p:sp>
      <p:cxnSp>
        <p:nvCxnSpPr>
          <p:cNvPr id="7" name="직선 화살표 연결선 6"/>
          <p:cNvCxnSpPr>
            <a:stCxn id="113" idx="2"/>
            <a:endCxn id="31" idx="0"/>
          </p:cNvCxnSpPr>
          <p:nvPr/>
        </p:nvCxnSpPr>
        <p:spPr>
          <a:xfrm>
            <a:off x="4900989" y="1072153"/>
            <a:ext cx="0" cy="126206"/>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9" name="직선 화살표 연결선 68"/>
          <p:cNvCxnSpPr>
            <a:stCxn id="31" idx="2"/>
            <a:endCxn id="40" idx="0"/>
          </p:cNvCxnSpPr>
          <p:nvPr/>
        </p:nvCxnSpPr>
        <p:spPr>
          <a:xfrm>
            <a:off x="4900989" y="1402265"/>
            <a:ext cx="0" cy="130084"/>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Rectangle 24"/>
          <p:cNvSpPr>
            <a:spLocks noChangeArrowheads="1"/>
          </p:cNvSpPr>
          <p:nvPr/>
        </p:nvSpPr>
        <p:spPr bwMode="auto">
          <a:xfrm>
            <a:off x="2812034" y="3560649"/>
            <a:ext cx="4177909" cy="203907"/>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선행조사의 확인</a:t>
            </a:r>
          </a:p>
        </p:txBody>
      </p:sp>
      <p:sp>
        <p:nvSpPr>
          <p:cNvPr id="63" name="Rectangle 24"/>
          <p:cNvSpPr>
            <a:spLocks noChangeArrowheads="1"/>
          </p:cNvSpPr>
          <p:nvPr/>
        </p:nvSpPr>
        <p:spPr bwMode="auto">
          <a:xfrm>
            <a:off x="2812034" y="2542470"/>
            <a:ext cx="4177909" cy="203907"/>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국제조사용 사본의 수령통지</a:t>
            </a:r>
          </a:p>
        </p:txBody>
      </p:sp>
      <p:sp>
        <p:nvSpPr>
          <p:cNvPr id="64" name="Rectangle 24"/>
          <p:cNvSpPr>
            <a:spLocks noChangeArrowheads="1"/>
          </p:cNvSpPr>
          <p:nvPr/>
        </p:nvSpPr>
        <p:spPr bwMode="auto">
          <a:xfrm>
            <a:off x="2812034" y="2893998"/>
            <a:ext cx="4177909" cy="203907"/>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국제조사제외대상여부의 확인</a:t>
            </a:r>
          </a:p>
        </p:txBody>
      </p:sp>
      <p:sp>
        <p:nvSpPr>
          <p:cNvPr id="65" name="Rectangle 24"/>
          <p:cNvSpPr>
            <a:spLocks noChangeArrowheads="1"/>
          </p:cNvSpPr>
          <p:nvPr/>
        </p:nvSpPr>
        <p:spPr bwMode="auto">
          <a:xfrm>
            <a:off x="2812034" y="3218697"/>
            <a:ext cx="4177909" cy="203907"/>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발명의 단일성 조사</a:t>
            </a:r>
          </a:p>
        </p:txBody>
      </p:sp>
      <p:sp>
        <p:nvSpPr>
          <p:cNvPr id="72" name="Rectangle 24"/>
          <p:cNvSpPr>
            <a:spLocks noChangeArrowheads="1"/>
          </p:cNvSpPr>
          <p:nvPr/>
        </p:nvSpPr>
        <p:spPr bwMode="auto">
          <a:xfrm>
            <a:off x="2812034" y="4251972"/>
            <a:ext cx="4177909" cy="203907"/>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선행기술의 조사 및 </a:t>
            </a:r>
            <a:r>
              <a:rPr kumimoji="0" lang="ko-KR" altLang="en-US" sz="1000" b="0" i="0" u="none" strike="noStrike" kern="1200" cap="none" spc="0" normalizeH="0" baseline="0" noProof="0" dirty="0" err="1">
                <a:ln>
                  <a:noFill/>
                </a:ln>
                <a:solidFill>
                  <a:prstClr val="black"/>
                </a:solidFill>
                <a:effectLst/>
                <a:uLnTx/>
                <a:uFillTx/>
                <a:latin typeface="Rix모던고딕 B"/>
                <a:ea typeface="Rix모던고딕 B"/>
                <a:cs typeface="+mn-cs"/>
              </a:rPr>
              <a:t>특허성</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 판단</a:t>
            </a:r>
          </a:p>
        </p:txBody>
      </p:sp>
      <p:sp>
        <p:nvSpPr>
          <p:cNvPr id="73" name="Rectangle 24"/>
          <p:cNvSpPr>
            <a:spLocks noChangeArrowheads="1"/>
          </p:cNvSpPr>
          <p:nvPr/>
        </p:nvSpPr>
        <p:spPr bwMode="auto">
          <a:xfrm>
            <a:off x="2812034" y="3910021"/>
            <a:ext cx="4177909" cy="203907"/>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발명의 명칭</a:t>
            </a: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요약서의 누락여부확인</a:t>
            </a:r>
          </a:p>
        </p:txBody>
      </p:sp>
      <p:sp>
        <p:nvSpPr>
          <p:cNvPr id="74" name="Rectangle 24"/>
          <p:cNvSpPr>
            <a:spLocks noChangeArrowheads="1"/>
          </p:cNvSpPr>
          <p:nvPr/>
        </p:nvSpPr>
        <p:spPr bwMode="auto">
          <a:xfrm>
            <a:off x="2812034" y="4593925"/>
            <a:ext cx="4177909" cy="203907"/>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국제조사보고서 및 견해서의 작성</a:t>
            </a:r>
          </a:p>
        </p:txBody>
      </p:sp>
      <p:sp>
        <p:nvSpPr>
          <p:cNvPr id="75" name="Rectangle 24"/>
          <p:cNvSpPr>
            <a:spLocks noChangeArrowheads="1"/>
          </p:cNvSpPr>
          <p:nvPr/>
        </p:nvSpPr>
        <p:spPr bwMode="auto">
          <a:xfrm>
            <a:off x="1755917" y="5163298"/>
            <a:ext cx="2065675" cy="203906"/>
          </a:xfrm>
          <a:prstGeom prst="roundRect">
            <a:avLst>
              <a:gd name="adj" fmla="val 50000"/>
            </a:avLst>
          </a:prstGeom>
          <a:solidFill>
            <a:schemeClr val="accent2"/>
          </a:solidFill>
          <a:ln>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rPr>
              <a:t>국제사무국</a:t>
            </a:r>
          </a:p>
        </p:txBody>
      </p:sp>
      <p:sp>
        <p:nvSpPr>
          <p:cNvPr id="77" name="Rectangle 24"/>
          <p:cNvSpPr>
            <a:spLocks noChangeArrowheads="1"/>
          </p:cNvSpPr>
          <p:nvPr/>
        </p:nvSpPr>
        <p:spPr bwMode="auto">
          <a:xfrm>
            <a:off x="699800" y="5479743"/>
            <a:ext cx="4177909" cy="203907"/>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국제공개</a:t>
            </a:r>
          </a:p>
        </p:txBody>
      </p:sp>
      <p:sp>
        <p:nvSpPr>
          <p:cNvPr id="78" name="Rectangle 24"/>
          <p:cNvSpPr>
            <a:spLocks noChangeArrowheads="1"/>
          </p:cNvSpPr>
          <p:nvPr/>
        </p:nvSpPr>
        <p:spPr bwMode="auto">
          <a:xfrm>
            <a:off x="699800" y="5831272"/>
            <a:ext cx="4177909" cy="203907"/>
          </a:xfrm>
          <a:prstGeom prst="rect">
            <a:avLst/>
          </a:prstGeom>
          <a:noFill/>
          <a:ln>
            <a:solidFill>
              <a:schemeClr val="tx1"/>
            </a:solidFill>
            <a:prstDash val="sysDot"/>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국제예비보고서</a:t>
            </a: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1</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장</a:t>
            </a: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의 발생</a:t>
            </a:r>
          </a:p>
        </p:txBody>
      </p:sp>
      <p:sp>
        <p:nvSpPr>
          <p:cNvPr id="79" name="Rectangle 24"/>
          <p:cNvSpPr>
            <a:spLocks noChangeArrowheads="1"/>
          </p:cNvSpPr>
          <p:nvPr/>
        </p:nvSpPr>
        <p:spPr bwMode="auto">
          <a:xfrm>
            <a:off x="699800" y="6155970"/>
            <a:ext cx="4177909" cy="203907"/>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국제조사 및 국제예비보고서의 송달</a:t>
            </a:r>
          </a:p>
        </p:txBody>
      </p:sp>
      <p:sp>
        <p:nvSpPr>
          <p:cNvPr id="80" name="Rectangle 24"/>
          <p:cNvSpPr>
            <a:spLocks noChangeArrowheads="1"/>
          </p:cNvSpPr>
          <p:nvPr/>
        </p:nvSpPr>
        <p:spPr bwMode="auto">
          <a:xfrm>
            <a:off x="1755917" y="6480670"/>
            <a:ext cx="2065675" cy="203906"/>
          </a:xfrm>
          <a:prstGeom prst="roundRect">
            <a:avLst>
              <a:gd name="adj" fmla="val 50000"/>
            </a:avLst>
          </a:prstGeom>
          <a:solidFill>
            <a:schemeClr val="accent2"/>
          </a:solidFill>
          <a:ln>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rPr>
              <a:t>지정관청</a:t>
            </a:r>
          </a:p>
        </p:txBody>
      </p:sp>
      <p:sp>
        <p:nvSpPr>
          <p:cNvPr id="81" name="Rectangle 24"/>
          <p:cNvSpPr>
            <a:spLocks noChangeArrowheads="1"/>
          </p:cNvSpPr>
          <p:nvPr/>
        </p:nvSpPr>
        <p:spPr bwMode="auto">
          <a:xfrm>
            <a:off x="8235191" y="5149511"/>
            <a:ext cx="2065675" cy="203906"/>
          </a:xfrm>
          <a:prstGeom prst="roundRect">
            <a:avLst>
              <a:gd name="adj" fmla="val 50000"/>
            </a:avLst>
          </a:prstGeom>
          <a:solidFill>
            <a:schemeClr val="tx2">
              <a:lumMod val="75000"/>
            </a:schemeClr>
          </a:solidFill>
          <a:ln>
            <a:solidFill>
              <a:schemeClr val="tx2">
                <a:lumMod val="50000"/>
              </a:schemeClr>
            </a:solidFill>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rPr>
              <a:t>출원인</a:t>
            </a:r>
          </a:p>
        </p:txBody>
      </p:sp>
      <p:sp>
        <p:nvSpPr>
          <p:cNvPr id="83" name="Rectangle 24"/>
          <p:cNvSpPr>
            <a:spLocks noChangeArrowheads="1"/>
          </p:cNvSpPr>
          <p:nvPr/>
        </p:nvSpPr>
        <p:spPr bwMode="auto">
          <a:xfrm>
            <a:off x="7179074" y="5479622"/>
            <a:ext cx="4177909" cy="203907"/>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PCT </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19</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조 보정</a:t>
            </a:r>
          </a:p>
        </p:txBody>
      </p:sp>
      <p:cxnSp>
        <p:nvCxnSpPr>
          <p:cNvPr id="84" name="직선 화살표 연결선 83"/>
          <p:cNvCxnSpPr>
            <a:stCxn id="81" idx="2"/>
            <a:endCxn id="83" idx="0"/>
          </p:cNvCxnSpPr>
          <p:nvPr/>
        </p:nvCxnSpPr>
        <p:spPr>
          <a:xfrm>
            <a:off x="9268029" y="5353417"/>
            <a:ext cx="0" cy="126206"/>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직선 화살표 연결선 84"/>
          <p:cNvCxnSpPr>
            <a:stCxn id="40" idx="2"/>
            <a:endCxn id="59" idx="0"/>
          </p:cNvCxnSpPr>
          <p:nvPr/>
        </p:nvCxnSpPr>
        <p:spPr>
          <a:xfrm>
            <a:off x="4900989" y="1736255"/>
            <a:ext cx="0" cy="124106"/>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7" name="직선 화살표 연결선 86"/>
          <p:cNvCxnSpPr>
            <a:stCxn id="63" idx="2"/>
            <a:endCxn id="64" idx="0"/>
          </p:cNvCxnSpPr>
          <p:nvPr/>
        </p:nvCxnSpPr>
        <p:spPr>
          <a:xfrm>
            <a:off x="4900989" y="2746377"/>
            <a:ext cx="0" cy="14762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직선 화살표 연결선 88"/>
          <p:cNvCxnSpPr>
            <a:stCxn id="64" idx="2"/>
            <a:endCxn id="65" idx="0"/>
          </p:cNvCxnSpPr>
          <p:nvPr/>
        </p:nvCxnSpPr>
        <p:spPr>
          <a:xfrm>
            <a:off x="4900989" y="3097907"/>
            <a:ext cx="0" cy="12079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1" name="직선 화살표 연결선 90"/>
          <p:cNvCxnSpPr>
            <a:stCxn id="65" idx="2"/>
            <a:endCxn id="60" idx="0"/>
          </p:cNvCxnSpPr>
          <p:nvPr/>
        </p:nvCxnSpPr>
        <p:spPr>
          <a:xfrm>
            <a:off x="4900989" y="3422604"/>
            <a:ext cx="0" cy="138044"/>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직선 화살표 연결선 93"/>
          <p:cNvCxnSpPr>
            <a:stCxn id="60" idx="2"/>
            <a:endCxn id="73" idx="0"/>
          </p:cNvCxnSpPr>
          <p:nvPr/>
        </p:nvCxnSpPr>
        <p:spPr>
          <a:xfrm>
            <a:off x="4900989" y="3764556"/>
            <a:ext cx="0" cy="145465"/>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직선 화살표 연결선 96"/>
          <p:cNvCxnSpPr>
            <a:stCxn id="73" idx="2"/>
            <a:endCxn id="72" idx="0"/>
          </p:cNvCxnSpPr>
          <p:nvPr/>
        </p:nvCxnSpPr>
        <p:spPr>
          <a:xfrm>
            <a:off x="4900989" y="4113928"/>
            <a:ext cx="0" cy="138044"/>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0" name="직선 화살표 연결선 99"/>
          <p:cNvCxnSpPr>
            <a:stCxn id="72" idx="2"/>
            <a:endCxn id="74" idx="0"/>
          </p:cNvCxnSpPr>
          <p:nvPr/>
        </p:nvCxnSpPr>
        <p:spPr>
          <a:xfrm>
            <a:off x="4900989" y="4455879"/>
            <a:ext cx="0" cy="138045"/>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74" idx="2"/>
            <a:endCxn id="75" idx="0"/>
          </p:cNvCxnSpPr>
          <p:nvPr/>
        </p:nvCxnSpPr>
        <p:spPr>
          <a:xfrm rot="5400000">
            <a:off x="3662140" y="3924447"/>
            <a:ext cx="365465" cy="2112235"/>
          </a:xfrm>
          <a:prstGeom prst="bentConnector3">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74" idx="2"/>
            <a:endCxn id="81" idx="0"/>
          </p:cNvCxnSpPr>
          <p:nvPr/>
        </p:nvCxnSpPr>
        <p:spPr>
          <a:xfrm rot="16200000" flipH="1">
            <a:off x="6908671" y="2790151"/>
            <a:ext cx="351678" cy="4367040"/>
          </a:xfrm>
          <a:prstGeom prst="bentConnector3">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7" name="직선 화살표 연결선 106"/>
          <p:cNvCxnSpPr>
            <a:stCxn id="75" idx="2"/>
            <a:endCxn id="77" idx="0"/>
          </p:cNvCxnSpPr>
          <p:nvPr/>
        </p:nvCxnSpPr>
        <p:spPr>
          <a:xfrm>
            <a:off x="2788754" y="5367204"/>
            <a:ext cx="0" cy="11254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직선 화살표 연결선 109"/>
          <p:cNvCxnSpPr>
            <a:stCxn id="77" idx="2"/>
            <a:endCxn id="78" idx="0"/>
          </p:cNvCxnSpPr>
          <p:nvPr/>
        </p:nvCxnSpPr>
        <p:spPr>
          <a:xfrm>
            <a:off x="2788754" y="5683650"/>
            <a:ext cx="0" cy="14762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4" name="직선 화살표 연결선 113"/>
          <p:cNvCxnSpPr>
            <a:stCxn id="78" idx="2"/>
            <a:endCxn id="79" idx="0"/>
          </p:cNvCxnSpPr>
          <p:nvPr/>
        </p:nvCxnSpPr>
        <p:spPr>
          <a:xfrm>
            <a:off x="2788754" y="6035180"/>
            <a:ext cx="0" cy="12079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직선 화살표 연결선 116"/>
          <p:cNvCxnSpPr>
            <a:stCxn id="79" idx="2"/>
            <a:endCxn id="80" idx="0"/>
          </p:cNvCxnSpPr>
          <p:nvPr/>
        </p:nvCxnSpPr>
        <p:spPr>
          <a:xfrm>
            <a:off x="2788754" y="6359878"/>
            <a:ext cx="0" cy="12079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1" name="꺾인 연결선 120"/>
          <p:cNvCxnSpPr>
            <a:stCxn id="83" idx="1"/>
            <a:endCxn id="75" idx="3"/>
          </p:cNvCxnSpPr>
          <p:nvPr/>
        </p:nvCxnSpPr>
        <p:spPr>
          <a:xfrm rot="10800000">
            <a:off x="3821591" y="5265251"/>
            <a:ext cx="3357483" cy="316325"/>
          </a:xfrm>
          <a:prstGeom prst="bentConnector3">
            <a:avLst>
              <a:gd name="adj1" fmla="val 50000"/>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2" name="Rectangle 24"/>
          <p:cNvSpPr>
            <a:spLocks noChangeArrowheads="1"/>
          </p:cNvSpPr>
          <p:nvPr/>
        </p:nvSpPr>
        <p:spPr bwMode="auto">
          <a:xfrm>
            <a:off x="7804589" y="3560649"/>
            <a:ext cx="3793867" cy="203907"/>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선행조사의 결과를 이용</a:t>
            </a:r>
          </a:p>
        </p:txBody>
      </p:sp>
      <p:sp>
        <p:nvSpPr>
          <p:cNvPr id="133" name="Rectangle 24"/>
          <p:cNvSpPr>
            <a:spLocks noChangeArrowheads="1"/>
          </p:cNvSpPr>
          <p:nvPr/>
        </p:nvSpPr>
        <p:spPr bwMode="auto">
          <a:xfrm>
            <a:off x="7804589" y="2893998"/>
            <a:ext cx="3793867" cy="203907"/>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국제조사보고서를 작성하지 않는다는 선언</a:t>
            </a:r>
          </a:p>
        </p:txBody>
      </p:sp>
      <p:sp>
        <p:nvSpPr>
          <p:cNvPr id="134" name="Rectangle 24"/>
          <p:cNvSpPr>
            <a:spLocks noChangeArrowheads="1"/>
          </p:cNvSpPr>
          <p:nvPr/>
        </p:nvSpPr>
        <p:spPr bwMode="auto">
          <a:xfrm>
            <a:off x="7804589" y="3218697"/>
            <a:ext cx="3793867" cy="203907"/>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추가수수료 납부 요구</a:t>
            </a:r>
            <a:endPar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Rix모던고딕 B"/>
                <a:ea typeface="Rix모던고딕 B"/>
                <a:cs typeface="+mn-cs"/>
              </a:rPr>
              <a:t>주발명에</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 대해서만 국제조사</a:t>
            </a:r>
          </a:p>
        </p:txBody>
      </p:sp>
      <p:sp>
        <p:nvSpPr>
          <p:cNvPr id="135" name="Rectangle 24"/>
          <p:cNvSpPr>
            <a:spLocks noChangeArrowheads="1"/>
          </p:cNvSpPr>
          <p:nvPr/>
        </p:nvSpPr>
        <p:spPr bwMode="auto">
          <a:xfrm>
            <a:off x="7804589" y="3910021"/>
            <a:ext cx="3793867" cy="203907"/>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직권으로 발명의 명칭 결정 및 요약서 작성</a:t>
            </a:r>
          </a:p>
        </p:txBody>
      </p:sp>
      <p:cxnSp>
        <p:nvCxnSpPr>
          <p:cNvPr id="136" name="직선 화살표 연결선 135"/>
          <p:cNvCxnSpPr>
            <a:stCxn id="64" idx="3"/>
            <a:endCxn id="133" idx="1"/>
          </p:cNvCxnSpPr>
          <p:nvPr/>
        </p:nvCxnSpPr>
        <p:spPr>
          <a:xfrm>
            <a:off x="6989944" y="2995952"/>
            <a:ext cx="814645" cy="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8" name="직선 화살표 연결선 137"/>
          <p:cNvCxnSpPr>
            <a:stCxn id="65" idx="3"/>
            <a:endCxn id="134" idx="1"/>
          </p:cNvCxnSpPr>
          <p:nvPr/>
        </p:nvCxnSpPr>
        <p:spPr>
          <a:xfrm>
            <a:off x="6989944" y="3320651"/>
            <a:ext cx="814645" cy="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1" name="직선 화살표 연결선 140"/>
          <p:cNvCxnSpPr>
            <a:stCxn id="60" idx="3"/>
            <a:endCxn id="132" idx="1"/>
          </p:cNvCxnSpPr>
          <p:nvPr/>
        </p:nvCxnSpPr>
        <p:spPr>
          <a:xfrm>
            <a:off x="6989944" y="3662602"/>
            <a:ext cx="814645" cy="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4" name="직선 화살표 연결선 143"/>
          <p:cNvCxnSpPr>
            <a:stCxn id="73" idx="3"/>
            <a:endCxn id="135" idx="1"/>
          </p:cNvCxnSpPr>
          <p:nvPr/>
        </p:nvCxnSpPr>
        <p:spPr>
          <a:xfrm>
            <a:off x="6989944" y="4011974"/>
            <a:ext cx="814645" cy="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9" name="Rectangle 24"/>
          <p:cNvSpPr>
            <a:spLocks noChangeArrowheads="1"/>
          </p:cNvSpPr>
          <p:nvPr/>
        </p:nvSpPr>
        <p:spPr bwMode="auto">
          <a:xfrm>
            <a:off x="6989943" y="2749855"/>
            <a:ext cx="960107" cy="23428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제외대상</a:t>
            </a:r>
          </a:p>
        </p:txBody>
      </p:sp>
      <p:sp>
        <p:nvSpPr>
          <p:cNvPr id="152" name="Rectangle 24"/>
          <p:cNvSpPr>
            <a:spLocks noChangeArrowheads="1"/>
          </p:cNvSpPr>
          <p:nvPr/>
        </p:nvSpPr>
        <p:spPr bwMode="auto">
          <a:xfrm>
            <a:off x="6989943" y="3061265"/>
            <a:ext cx="960107" cy="23428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위반</a:t>
            </a:r>
          </a:p>
        </p:txBody>
      </p:sp>
      <p:sp>
        <p:nvSpPr>
          <p:cNvPr id="153" name="Rectangle 24"/>
          <p:cNvSpPr>
            <a:spLocks noChangeArrowheads="1"/>
          </p:cNvSpPr>
          <p:nvPr/>
        </p:nvSpPr>
        <p:spPr bwMode="auto">
          <a:xfrm>
            <a:off x="6989943" y="3425654"/>
            <a:ext cx="960107" cy="23428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존재</a:t>
            </a:r>
          </a:p>
        </p:txBody>
      </p:sp>
      <p:sp>
        <p:nvSpPr>
          <p:cNvPr id="154" name="Rectangle 24"/>
          <p:cNvSpPr>
            <a:spLocks noChangeArrowheads="1"/>
          </p:cNvSpPr>
          <p:nvPr/>
        </p:nvSpPr>
        <p:spPr bwMode="auto">
          <a:xfrm>
            <a:off x="6989943" y="3789216"/>
            <a:ext cx="960107" cy="23428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누락</a:t>
            </a:r>
          </a:p>
        </p:txBody>
      </p:sp>
      <p:sp>
        <p:nvSpPr>
          <p:cNvPr id="155" name="Rectangle 24"/>
          <p:cNvSpPr>
            <a:spLocks noChangeArrowheads="1"/>
          </p:cNvSpPr>
          <p:nvPr/>
        </p:nvSpPr>
        <p:spPr bwMode="auto">
          <a:xfrm>
            <a:off x="4438918" y="5059669"/>
            <a:ext cx="960107" cy="23428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보정서 제출</a:t>
            </a:r>
          </a:p>
        </p:txBody>
      </p:sp>
      <p:sp>
        <p:nvSpPr>
          <p:cNvPr id="158" name="Rectangle 24"/>
          <p:cNvSpPr>
            <a:spLocks noChangeArrowheads="1"/>
          </p:cNvSpPr>
          <p:nvPr/>
        </p:nvSpPr>
        <p:spPr bwMode="auto">
          <a:xfrm>
            <a:off x="6112762" y="6348341"/>
            <a:ext cx="960107" cy="23428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번역문 제출</a:t>
            </a:r>
          </a:p>
        </p:txBody>
      </p:sp>
      <p:sp>
        <p:nvSpPr>
          <p:cNvPr id="159" name="Rectangle 24"/>
          <p:cNvSpPr>
            <a:spLocks noChangeArrowheads="1"/>
          </p:cNvSpPr>
          <p:nvPr/>
        </p:nvSpPr>
        <p:spPr bwMode="auto">
          <a:xfrm>
            <a:off x="4863741" y="5825197"/>
            <a:ext cx="960107" cy="23428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국제예비심사단계의 미진행시</a:t>
            </a:r>
          </a:p>
        </p:txBody>
      </p:sp>
      <p:sp>
        <p:nvSpPr>
          <p:cNvPr id="2" name="제목 1"/>
          <p:cNvSpPr>
            <a:spLocks noGrp="1"/>
          </p:cNvSpPr>
          <p:nvPr>
            <p:ph type="title"/>
          </p:nvPr>
        </p:nvSpPr>
        <p:spPr/>
        <p:txBody>
          <a:bodyPr/>
          <a:lstStyle/>
          <a:p>
            <a:r>
              <a:rPr lang="ko-KR" altLang="en-US" dirty="0"/>
              <a:t>제</a:t>
            </a:r>
            <a:r>
              <a:rPr lang="en-US" altLang="ko-KR" dirty="0"/>
              <a:t>198</a:t>
            </a:r>
            <a:r>
              <a:rPr lang="ko-KR" altLang="en-US" dirty="0"/>
              <a:t>조의</a:t>
            </a:r>
            <a:r>
              <a:rPr lang="en-US" altLang="ko-KR" dirty="0"/>
              <a:t>2</a:t>
            </a:r>
            <a:endParaRPr lang="ko-KR" altLang="en-US" dirty="0"/>
          </a:p>
        </p:txBody>
      </p:sp>
      <p:sp>
        <p:nvSpPr>
          <p:cNvPr id="3" name="텍스트 개체 틀 2"/>
          <p:cNvSpPr>
            <a:spLocks noGrp="1"/>
          </p:cNvSpPr>
          <p:nvPr>
            <p:ph type="body" sz="quarter" idx="13"/>
          </p:nvPr>
        </p:nvSpPr>
        <p:spPr/>
        <p:txBody>
          <a:bodyPr/>
          <a:lstStyle/>
          <a:p>
            <a:r>
              <a:rPr lang="ko-KR" altLang="en-US" dirty="0" err="1"/>
              <a:t>국제조사와</a:t>
            </a:r>
            <a:r>
              <a:rPr lang="ko-KR" altLang="en-US" dirty="0"/>
              <a:t> 국제공개절차</a:t>
            </a:r>
          </a:p>
        </p:txBody>
      </p:sp>
      <p:sp>
        <p:nvSpPr>
          <p:cNvPr id="4" name="슬라이드 번호 개체 틀 3"/>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558</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59" name="Rectangle 24"/>
          <p:cNvSpPr>
            <a:spLocks noChangeArrowheads="1"/>
          </p:cNvSpPr>
          <p:nvPr/>
        </p:nvSpPr>
        <p:spPr bwMode="auto">
          <a:xfrm>
            <a:off x="2812034" y="1860361"/>
            <a:ext cx="4177909" cy="203907"/>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조사용 사본 송부</a:t>
            </a:r>
          </a:p>
        </p:txBody>
      </p:sp>
      <p:sp>
        <p:nvSpPr>
          <p:cNvPr id="61" name="Rectangle 24"/>
          <p:cNvSpPr>
            <a:spLocks noChangeArrowheads="1"/>
          </p:cNvSpPr>
          <p:nvPr/>
        </p:nvSpPr>
        <p:spPr bwMode="auto">
          <a:xfrm>
            <a:off x="3868151" y="2215372"/>
            <a:ext cx="2065675" cy="203906"/>
          </a:xfrm>
          <a:prstGeom prst="roundRect">
            <a:avLst>
              <a:gd name="adj" fmla="val 50000"/>
            </a:avLst>
          </a:prstGeom>
          <a:solidFill>
            <a:schemeClr val="accent2"/>
          </a:solidFill>
          <a:ln>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rPr>
              <a:t>국제조사기관</a:t>
            </a:r>
          </a:p>
        </p:txBody>
      </p:sp>
      <p:cxnSp>
        <p:nvCxnSpPr>
          <p:cNvPr id="66" name="직선 화살표 연결선 65"/>
          <p:cNvCxnSpPr>
            <a:stCxn id="59" idx="2"/>
            <a:endCxn id="61" idx="0"/>
          </p:cNvCxnSpPr>
          <p:nvPr/>
        </p:nvCxnSpPr>
        <p:spPr>
          <a:xfrm>
            <a:off x="4900989" y="2064268"/>
            <a:ext cx="0" cy="151104"/>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직선 화살표 연결선 66"/>
          <p:cNvCxnSpPr>
            <a:stCxn id="61" idx="2"/>
            <a:endCxn id="63" idx="0"/>
          </p:cNvCxnSpPr>
          <p:nvPr/>
        </p:nvCxnSpPr>
        <p:spPr>
          <a:xfrm>
            <a:off x="4900989" y="2419278"/>
            <a:ext cx="0" cy="123192"/>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8884168"/>
      </p:ext>
    </p:extLst>
  </p:cSld>
  <p:clrMapOvr>
    <a:masterClrMapping/>
  </p:clrMapOvr>
  <p:transition/>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ko-KR" altLang="en-US" dirty="0"/>
              <a:t>제</a:t>
            </a:r>
            <a:r>
              <a:rPr lang="en-US" altLang="ko-KR" dirty="0"/>
              <a:t>198</a:t>
            </a:r>
            <a:r>
              <a:rPr lang="ko-KR" altLang="en-US" dirty="0"/>
              <a:t>조의</a:t>
            </a:r>
            <a:r>
              <a:rPr lang="en-US" altLang="ko-KR" dirty="0"/>
              <a:t>2</a:t>
            </a:r>
            <a:endParaRPr lang="ko-KR" altLang="en-US" dirty="0"/>
          </a:p>
        </p:txBody>
      </p:sp>
      <p:sp>
        <p:nvSpPr>
          <p:cNvPr id="3" name="텍스트 개체 틀 2"/>
          <p:cNvSpPr>
            <a:spLocks noGrp="1"/>
          </p:cNvSpPr>
          <p:nvPr>
            <p:ph type="body" sz="quarter" idx="13"/>
          </p:nvPr>
        </p:nvSpPr>
        <p:spPr/>
        <p:txBody>
          <a:bodyPr/>
          <a:lstStyle/>
          <a:p>
            <a:r>
              <a:rPr lang="ko-KR" altLang="en-US" dirty="0"/>
              <a:t>국제조사기관 </a:t>
            </a:r>
            <a:r>
              <a:rPr lang="ko-KR" altLang="en-US" dirty="0" err="1"/>
              <a:t>견해서의</a:t>
            </a:r>
            <a:r>
              <a:rPr lang="ko-KR" altLang="en-US" dirty="0"/>
              <a:t> 취급</a:t>
            </a:r>
          </a:p>
        </p:txBody>
      </p:sp>
      <p:sp>
        <p:nvSpPr>
          <p:cNvPr id="4" name="직사각형 3"/>
          <p:cNvSpPr/>
          <p:nvPr/>
        </p:nvSpPr>
        <p:spPr>
          <a:xfrm>
            <a:off x="3451225" y="2686050"/>
            <a:ext cx="2368550" cy="3810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국제조사기관견해서</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5" name="순서도: 판단 54"/>
          <p:cNvSpPr/>
          <p:nvPr/>
        </p:nvSpPr>
        <p:spPr>
          <a:xfrm>
            <a:off x="3451225" y="3495675"/>
            <a:ext cx="2368550" cy="1143000"/>
          </a:xfrm>
          <a:prstGeom prst="flowChartDecision">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국제예비심사단계 진행</a:t>
            </a:r>
          </a:p>
        </p:txBody>
      </p:sp>
      <p:sp>
        <p:nvSpPr>
          <p:cNvPr id="56" name="직사각형 55"/>
          <p:cNvSpPr/>
          <p:nvPr/>
        </p:nvSpPr>
        <p:spPr>
          <a:xfrm>
            <a:off x="3451225" y="5676898"/>
            <a:ext cx="2368550" cy="75247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국제사무국이 </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국제예비보고서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장</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발간</a:t>
            </a:r>
          </a:p>
        </p:txBody>
      </p:sp>
      <p:sp>
        <p:nvSpPr>
          <p:cNvPr id="57" name="직사각형 56"/>
          <p:cNvSpPr/>
          <p:nvPr/>
        </p:nvSpPr>
        <p:spPr>
          <a:xfrm>
            <a:off x="6651625" y="3790950"/>
            <a:ext cx="2368550" cy="55245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국제예비심사기관의 </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견해서로</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간주</a:t>
            </a:r>
          </a:p>
        </p:txBody>
      </p:sp>
      <p:sp>
        <p:nvSpPr>
          <p:cNvPr id="58" name="직사각형 57"/>
          <p:cNvSpPr/>
          <p:nvPr/>
        </p:nvSpPr>
        <p:spPr>
          <a:xfrm>
            <a:off x="6651625" y="4733925"/>
            <a:ext cx="2368550" cy="55245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국제예비심사기관의 </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절차 진행</a:t>
            </a:r>
          </a:p>
        </p:txBody>
      </p:sp>
      <p:sp>
        <p:nvSpPr>
          <p:cNvPr id="61" name="직사각형 60"/>
          <p:cNvSpPr/>
          <p:nvPr/>
        </p:nvSpPr>
        <p:spPr>
          <a:xfrm>
            <a:off x="6651625" y="5676898"/>
            <a:ext cx="2368550" cy="75247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국제예비심사기관이 </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국제예비보고서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장</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발간</a:t>
            </a:r>
          </a:p>
        </p:txBody>
      </p:sp>
      <p:cxnSp>
        <p:nvCxnSpPr>
          <p:cNvPr id="62" name="직선 연결선 61"/>
          <p:cNvCxnSpPr/>
          <p:nvPr/>
        </p:nvCxnSpPr>
        <p:spPr>
          <a:xfrm>
            <a:off x="77875" y="235374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77875" y="976902"/>
            <a:ext cx="11936323" cy="1384995"/>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국제예비심사보고서가 작성되지 않았거나 예정이 없는 경우 국제사무국은 국제조사기관의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견해서와</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동일한 내용의 보고서를 국제조사기관을 대신하여 발행하여야 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그 보고서에는 국제조사기관을 대신하여 국제사무국이 발행한다는 표시와 함께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특허성에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관한 국제예비보고서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특허협력조약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장</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」라는 명칭을 붙여야 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그 후 국제사무국은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출원인과</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지정관청에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국제예비보고서를 송달하여야 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(PCT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규칙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44</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의</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2.2).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한편</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이에 대한 특별한 규정은 없으나 </a:t>
            </a:r>
            <a:r>
              <a:rPr kumimoji="0" lang="ko-KR" altLang="en-US" sz="1400" b="0" i="0" u="none" strike="noStrike" kern="1200" cap="none" spc="0" normalizeH="0" baseline="0" noProof="0" dirty="0">
                <a:ln>
                  <a:noFill/>
                </a:ln>
                <a:solidFill>
                  <a:prstClr val="black"/>
                </a:solidFill>
                <a:effectLst/>
                <a:highlight>
                  <a:srgbClr val="FFFF00"/>
                </a:highlight>
                <a:uLnTx/>
                <a:uFillTx/>
                <a:latin typeface="Rix모던고딕 B"/>
                <a:ea typeface="Rix모던고딕 B"/>
                <a:cs typeface="+mn-cs"/>
              </a:rPr>
              <a:t>국제출원인은 국제조사기관이 작성한 견해서에 대해서 비공식적으로 의견서를 국제사무국에 제출</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할 수 있도록 하여 출원인이 국제예비심사를 청구하지 아니한 경우 국제조사기관이 작성한 견해서에 대하여 출원인에게 반박할 기회를 부여하고 있다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이는 국제예비심사를 청구하지 아니한 경우 국제조사기관의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견해서의</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내용이 국제사무국에 의하여 「국제예비보고서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특허협력조약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장</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」로 발간되어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출원인에게</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불이익을 줄 수 있기 때문이다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endParaRPr>
          </a:p>
        </p:txBody>
      </p:sp>
      <p:cxnSp>
        <p:nvCxnSpPr>
          <p:cNvPr id="6" name="직선 화살표 연결선 5"/>
          <p:cNvCxnSpPr>
            <a:stCxn id="4" idx="2"/>
            <a:endCxn id="55" idx="0"/>
          </p:cNvCxnSpPr>
          <p:nvPr/>
        </p:nvCxnSpPr>
        <p:spPr>
          <a:xfrm>
            <a:off x="4635500" y="3067050"/>
            <a:ext cx="0" cy="42862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 name="직선 화살표 연결선 8"/>
          <p:cNvCxnSpPr>
            <a:stCxn id="55" idx="2"/>
            <a:endCxn id="56" idx="0"/>
          </p:cNvCxnSpPr>
          <p:nvPr/>
        </p:nvCxnSpPr>
        <p:spPr>
          <a:xfrm>
            <a:off x="4635500" y="4638675"/>
            <a:ext cx="0" cy="103822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 name="직선 화살표 연결선 10"/>
          <p:cNvCxnSpPr>
            <a:stCxn id="55" idx="3"/>
            <a:endCxn id="57" idx="1"/>
          </p:cNvCxnSpPr>
          <p:nvPr/>
        </p:nvCxnSpPr>
        <p:spPr>
          <a:xfrm>
            <a:off x="5819775" y="4067175"/>
            <a:ext cx="831850"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3" name="직선 화살표 연결선 12"/>
          <p:cNvCxnSpPr>
            <a:stCxn id="57" idx="2"/>
            <a:endCxn id="58" idx="0"/>
          </p:cNvCxnSpPr>
          <p:nvPr/>
        </p:nvCxnSpPr>
        <p:spPr>
          <a:xfrm>
            <a:off x="7835900" y="4343400"/>
            <a:ext cx="0" cy="39052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6" name="직선 화살표 연결선 75"/>
          <p:cNvCxnSpPr>
            <a:stCxn id="58" idx="2"/>
            <a:endCxn id="61" idx="0"/>
          </p:cNvCxnSpPr>
          <p:nvPr/>
        </p:nvCxnSpPr>
        <p:spPr>
          <a:xfrm>
            <a:off x="7835900" y="5286375"/>
            <a:ext cx="0" cy="390523"/>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2" name="Rectangle 24"/>
          <p:cNvSpPr>
            <a:spLocks noChangeArrowheads="1"/>
          </p:cNvSpPr>
          <p:nvPr/>
        </p:nvSpPr>
        <p:spPr bwMode="auto">
          <a:xfrm>
            <a:off x="5777243" y="3810000"/>
            <a:ext cx="960107" cy="25530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Yes</a:t>
            </a:r>
            <a:endPar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86" name="Rectangle 24"/>
          <p:cNvSpPr>
            <a:spLocks noChangeArrowheads="1"/>
          </p:cNvSpPr>
          <p:nvPr/>
        </p:nvSpPr>
        <p:spPr bwMode="auto">
          <a:xfrm>
            <a:off x="4635500" y="4638675"/>
            <a:ext cx="960107" cy="25530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rPr>
              <a:t>No</a:t>
            </a:r>
            <a:endPar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16" name="모서리가 둥근 사각형 설명선 15"/>
          <p:cNvSpPr/>
          <p:nvPr/>
        </p:nvSpPr>
        <p:spPr>
          <a:xfrm>
            <a:off x="9334500" y="3067050"/>
            <a:ext cx="2143125" cy="428624"/>
          </a:xfrm>
          <a:prstGeom prst="wedgeRoundRectCallout">
            <a:avLst>
              <a:gd name="adj1" fmla="val -62166"/>
              <a:gd name="adj2" fmla="val 170308"/>
              <a:gd name="adj3" fmla="val 16667"/>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A5A5A5">
                    <a:lumMod val="50000"/>
                  </a:srgbClr>
                </a:solidFill>
                <a:effectLst/>
                <a:uLnTx/>
                <a:uFillTx/>
                <a:latin typeface="Frutiger LT 65 Bold"/>
                <a:ea typeface="Rix모던고딕 B"/>
                <a:cs typeface="+mn-cs"/>
              </a:rPr>
              <a:t>출원인과</a:t>
            </a:r>
            <a:r>
              <a:rPr kumimoji="0" lang="ko-KR" altLang="en-US"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 의견교환 ○</a:t>
            </a:r>
            <a:endParaRPr kumimoji="0" lang="ko-KR" altLang="en-US" sz="18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endParaRPr>
          </a:p>
        </p:txBody>
      </p:sp>
      <p:sp>
        <p:nvSpPr>
          <p:cNvPr id="88" name="모서리가 둥근 사각형 설명선 87"/>
          <p:cNvSpPr/>
          <p:nvPr/>
        </p:nvSpPr>
        <p:spPr>
          <a:xfrm>
            <a:off x="990600" y="3262311"/>
            <a:ext cx="2143125" cy="428624"/>
          </a:xfrm>
          <a:prstGeom prst="wedgeRoundRectCallout">
            <a:avLst>
              <a:gd name="adj1" fmla="val 62278"/>
              <a:gd name="adj2" fmla="val -131915"/>
              <a:gd name="adj3" fmla="val 16667"/>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srgbClr val="A5A5A5">
                    <a:lumMod val="50000"/>
                  </a:srgbClr>
                </a:solidFill>
                <a:effectLst/>
                <a:uLnTx/>
                <a:uFillTx/>
                <a:latin typeface="Frutiger LT 65 Bold"/>
                <a:ea typeface="Rix모던고딕 B"/>
                <a:cs typeface="+mn-cs"/>
              </a:rPr>
              <a:t>출원인과</a:t>
            </a:r>
            <a:r>
              <a:rPr kumimoji="0" lang="ko-KR" altLang="en-US"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 의견교환 </a:t>
            </a:r>
            <a:r>
              <a:rPr kumimoji="0" lang="en-US" altLang="ko-KR"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endParaRPr>
          </a:p>
        </p:txBody>
      </p:sp>
      <p:sp>
        <p:nvSpPr>
          <p:cNvPr id="90" name="모서리가 둥근 사각형 설명선 89"/>
          <p:cNvSpPr/>
          <p:nvPr/>
        </p:nvSpPr>
        <p:spPr>
          <a:xfrm>
            <a:off x="971550" y="4733925"/>
            <a:ext cx="2143125" cy="638173"/>
          </a:xfrm>
          <a:prstGeom prst="wedgeRoundRectCallout">
            <a:avLst>
              <a:gd name="adj1" fmla="val 61834"/>
              <a:gd name="adj2" fmla="val 125299"/>
              <a:gd name="adj3" fmla="val 16667"/>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srgbClr val="A5A5A5">
                    <a:lumMod val="50000"/>
                  </a:srgbClr>
                </a:solidFill>
                <a:effectLst/>
                <a:uLnTx/>
                <a:uFillTx/>
                <a:latin typeface="Frutiger LT 65 Bold"/>
                <a:ea typeface="Rix모던고딕 B"/>
                <a:cs typeface="+mn-cs"/>
              </a:rPr>
              <a:t>비공식적으로 국제사무국에 의견서 제출</a:t>
            </a:r>
            <a:endParaRPr kumimoji="0" lang="ko-KR" altLang="en-US" sz="14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endParaRPr>
          </a:p>
        </p:txBody>
      </p:sp>
      <p:sp>
        <p:nvSpPr>
          <p:cNvPr id="5" name="슬라이드 번호 개체 틀 4"/>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559</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4137165297"/>
      </p:ext>
    </p:extLst>
  </p:cSld>
  <p:clrMapOvr>
    <a:masterClrMapping/>
  </p:clrMapOvr>
  <p:transition/>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1" name="꺾인 연결선 110"/>
          <p:cNvCxnSpPr>
            <a:stCxn id="81" idx="2"/>
            <a:endCxn id="80" idx="3"/>
          </p:cNvCxnSpPr>
          <p:nvPr/>
        </p:nvCxnSpPr>
        <p:spPr>
          <a:xfrm rot="5400000">
            <a:off x="6966671" y="1962380"/>
            <a:ext cx="1327851" cy="7386779"/>
          </a:xfrm>
          <a:prstGeom prst="bentConnector2">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3" name="Rectangle 24"/>
          <p:cNvSpPr>
            <a:spLocks noChangeArrowheads="1"/>
          </p:cNvSpPr>
          <p:nvPr/>
        </p:nvSpPr>
        <p:spPr bwMode="auto">
          <a:xfrm>
            <a:off x="2159563" y="1175421"/>
            <a:ext cx="2065675" cy="222201"/>
          </a:xfrm>
          <a:prstGeom prst="roundRect">
            <a:avLst>
              <a:gd name="adj" fmla="val 50000"/>
            </a:avLst>
          </a:prstGeom>
          <a:solidFill>
            <a:schemeClr val="tx2">
              <a:lumMod val="75000"/>
            </a:schemeClr>
          </a:solidFill>
          <a:ln>
            <a:solidFill>
              <a:schemeClr val="tx2">
                <a:lumMod val="50000"/>
              </a:schemeClr>
            </a:solidFill>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rPr>
              <a:t>출원인</a:t>
            </a:r>
          </a:p>
        </p:txBody>
      </p:sp>
      <p:sp>
        <p:nvSpPr>
          <p:cNvPr id="31" name="Rectangle 24"/>
          <p:cNvSpPr>
            <a:spLocks noChangeArrowheads="1"/>
          </p:cNvSpPr>
          <p:nvPr/>
        </p:nvSpPr>
        <p:spPr bwMode="auto">
          <a:xfrm>
            <a:off x="1103446" y="1535150"/>
            <a:ext cx="4177909" cy="222202"/>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국제예비심사</a:t>
            </a:r>
          </a:p>
        </p:txBody>
      </p:sp>
      <p:sp>
        <p:nvSpPr>
          <p:cNvPr id="40" name="Rectangle 24"/>
          <p:cNvSpPr>
            <a:spLocks noChangeArrowheads="1"/>
          </p:cNvSpPr>
          <p:nvPr/>
        </p:nvSpPr>
        <p:spPr bwMode="auto">
          <a:xfrm>
            <a:off x="2159563" y="1933466"/>
            <a:ext cx="2065675" cy="222201"/>
          </a:xfrm>
          <a:prstGeom prst="roundRect">
            <a:avLst>
              <a:gd name="adj" fmla="val 50000"/>
            </a:avLst>
          </a:prstGeom>
          <a:solidFill>
            <a:schemeClr val="accent2"/>
          </a:solidFill>
          <a:ln>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rPr>
              <a:t>국제예비심사기관</a:t>
            </a:r>
          </a:p>
        </p:txBody>
      </p:sp>
      <p:cxnSp>
        <p:nvCxnSpPr>
          <p:cNvPr id="7" name="직선 화살표 연결선 6"/>
          <p:cNvCxnSpPr>
            <a:stCxn id="113" idx="2"/>
            <a:endCxn id="31" idx="0"/>
          </p:cNvCxnSpPr>
          <p:nvPr/>
        </p:nvCxnSpPr>
        <p:spPr>
          <a:xfrm>
            <a:off x="3192400" y="1397622"/>
            <a:ext cx="0" cy="137529"/>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9" name="직선 화살표 연결선 68"/>
          <p:cNvCxnSpPr>
            <a:stCxn id="31" idx="2"/>
            <a:endCxn id="40" idx="0"/>
          </p:cNvCxnSpPr>
          <p:nvPr/>
        </p:nvCxnSpPr>
        <p:spPr>
          <a:xfrm>
            <a:off x="3192400" y="1757353"/>
            <a:ext cx="0" cy="176113"/>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Rectangle 24"/>
          <p:cNvSpPr>
            <a:spLocks noChangeArrowheads="1"/>
          </p:cNvSpPr>
          <p:nvPr/>
        </p:nvSpPr>
        <p:spPr bwMode="auto">
          <a:xfrm>
            <a:off x="1103446" y="3387835"/>
            <a:ext cx="4177909" cy="222202"/>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발명의 단일성 조사</a:t>
            </a:r>
          </a:p>
        </p:txBody>
      </p:sp>
      <p:sp>
        <p:nvSpPr>
          <p:cNvPr id="63" name="Rectangle 24"/>
          <p:cNvSpPr>
            <a:spLocks noChangeArrowheads="1"/>
          </p:cNvSpPr>
          <p:nvPr/>
        </p:nvSpPr>
        <p:spPr bwMode="auto">
          <a:xfrm>
            <a:off x="1103446" y="2278304"/>
            <a:ext cx="4177909" cy="222202"/>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방식심사</a:t>
            </a:r>
          </a:p>
        </p:txBody>
      </p:sp>
      <p:sp>
        <p:nvSpPr>
          <p:cNvPr id="64" name="Rectangle 24"/>
          <p:cNvSpPr>
            <a:spLocks noChangeArrowheads="1"/>
          </p:cNvSpPr>
          <p:nvPr/>
        </p:nvSpPr>
        <p:spPr bwMode="auto">
          <a:xfrm>
            <a:off x="1103446" y="2661372"/>
            <a:ext cx="4177909" cy="222202"/>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Rix모던고딕 B"/>
                <a:ea typeface="Rix모던고딕 B"/>
                <a:cs typeface="+mn-cs"/>
              </a:rPr>
              <a:t>수리일통지</a:t>
            </a:r>
            <a:endPar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65" name="Rectangle 24"/>
          <p:cNvSpPr>
            <a:spLocks noChangeArrowheads="1"/>
          </p:cNvSpPr>
          <p:nvPr/>
        </p:nvSpPr>
        <p:spPr bwMode="auto">
          <a:xfrm>
            <a:off x="1103446" y="3015203"/>
            <a:ext cx="4177909" cy="222202"/>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국제예비심사제외대상여부 확인</a:t>
            </a:r>
          </a:p>
        </p:txBody>
      </p:sp>
      <p:sp>
        <p:nvSpPr>
          <p:cNvPr id="72" name="Rectangle 24"/>
          <p:cNvSpPr>
            <a:spLocks noChangeArrowheads="1"/>
          </p:cNvSpPr>
          <p:nvPr/>
        </p:nvSpPr>
        <p:spPr bwMode="auto">
          <a:xfrm>
            <a:off x="1103446" y="4499203"/>
            <a:ext cx="4177909" cy="222202"/>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견해서의 작성</a:t>
            </a:r>
          </a:p>
        </p:txBody>
      </p:sp>
      <p:sp>
        <p:nvSpPr>
          <p:cNvPr id="73" name="Rectangle 24"/>
          <p:cNvSpPr>
            <a:spLocks noChangeArrowheads="1"/>
          </p:cNvSpPr>
          <p:nvPr/>
        </p:nvSpPr>
        <p:spPr bwMode="auto">
          <a:xfrm>
            <a:off x="1103446" y="4126571"/>
            <a:ext cx="4177909" cy="222202"/>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Rix모던고딕 B"/>
                <a:ea typeface="Rix모던고딕 B"/>
                <a:cs typeface="+mn-cs"/>
              </a:rPr>
              <a:t>특허성</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 여부의 판단</a:t>
            </a:r>
          </a:p>
        </p:txBody>
      </p:sp>
      <p:sp>
        <p:nvSpPr>
          <p:cNvPr id="74" name="Rectangle 24"/>
          <p:cNvSpPr>
            <a:spLocks noChangeArrowheads="1"/>
          </p:cNvSpPr>
          <p:nvPr/>
        </p:nvSpPr>
        <p:spPr bwMode="auto">
          <a:xfrm>
            <a:off x="1103446" y="4871836"/>
            <a:ext cx="4177909" cy="222202"/>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국제예비심사보고서</a:t>
            </a: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2</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장</a:t>
            </a: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의 작성</a:t>
            </a:r>
          </a:p>
        </p:txBody>
      </p:sp>
      <p:sp>
        <p:nvSpPr>
          <p:cNvPr id="75" name="Rectangle 24"/>
          <p:cNvSpPr>
            <a:spLocks noChangeArrowheads="1"/>
          </p:cNvSpPr>
          <p:nvPr/>
        </p:nvSpPr>
        <p:spPr bwMode="auto">
          <a:xfrm>
            <a:off x="1871531" y="5493139"/>
            <a:ext cx="2065675" cy="222201"/>
          </a:xfrm>
          <a:prstGeom prst="roundRect">
            <a:avLst>
              <a:gd name="adj" fmla="val 50000"/>
            </a:avLst>
          </a:prstGeom>
          <a:solidFill>
            <a:schemeClr val="accent2"/>
          </a:solidFill>
          <a:ln>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rPr>
              <a:t>국제사무국</a:t>
            </a:r>
          </a:p>
        </p:txBody>
      </p:sp>
      <p:sp>
        <p:nvSpPr>
          <p:cNvPr id="79" name="Rectangle 24"/>
          <p:cNvSpPr>
            <a:spLocks noChangeArrowheads="1"/>
          </p:cNvSpPr>
          <p:nvPr/>
        </p:nvSpPr>
        <p:spPr bwMode="auto">
          <a:xfrm>
            <a:off x="815414" y="5854763"/>
            <a:ext cx="4177909" cy="222202"/>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국제예비보고서의 송달</a:t>
            </a:r>
          </a:p>
        </p:txBody>
      </p:sp>
      <p:sp>
        <p:nvSpPr>
          <p:cNvPr id="80" name="Rectangle 24"/>
          <p:cNvSpPr>
            <a:spLocks noChangeArrowheads="1"/>
          </p:cNvSpPr>
          <p:nvPr/>
        </p:nvSpPr>
        <p:spPr bwMode="auto">
          <a:xfrm>
            <a:off x="1871531" y="6208595"/>
            <a:ext cx="2065675" cy="222201"/>
          </a:xfrm>
          <a:prstGeom prst="roundRect">
            <a:avLst>
              <a:gd name="adj" fmla="val 50000"/>
            </a:avLst>
          </a:prstGeom>
          <a:solidFill>
            <a:schemeClr val="accent2"/>
          </a:solidFill>
          <a:ln>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rPr>
              <a:t>선택관청</a:t>
            </a:r>
          </a:p>
        </p:txBody>
      </p:sp>
      <p:sp>
        <p:nvSpPr>
          <p:cNvPr id="81" name="Rectangle 24"/>
          <p:cNvSpPr>
            <a:spLocks noChangeArrowheads="1"/>
          </p:cNvSpPr>
          <p:nvPr/>
        </p:nvSpPr>
        <p:spPr bwMode="auto">
          <a:xfrm>
            <a:off x="11175371" y="2278304"/>
            <a:ext cx="297227" cy="2713540"/>
          </a:xfrm>
          <a:prstGeom prst="roundRect">
            <a:avLst>
              <a:gd name="adj" fmla="val 50000"/>
            </a:avLst>
          </a:prstGeom>
          <a:solidFill>
            <a:schemeClr val="tx2">
              <a:lumMod val="75000"/>
            </a:schemeClr>
          </a:solidFill>
          <a:ln>
            <a:solidFill>
              <a:schemeClr val="tx2">
                <a:lumMod val="50000"/>
              </a:schemeClr>
            </a:solidFill>
            <a:headEnd/>
            <a:tailEnd/>
          </a:ln>
          <a:effectLst/>
        </p:spPr>
        <p:style>
          <a:lnRef idx="1">
            <a:schemeClr val="accent2"/>
          </a:lnRef>
          <a:fillRef idx="3">
            <a:schemeClr val="accent2"/>
          </a:fillRef>
          <a:effectRef idx="2">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rPr>
              <a:t>출</a:t>
            </a:r>
            <a:endParaRPr kumimoji="0" lang="en-US" altLang="ko-KR" sz="1000" b="1" i="0" u="none" strike="noStrike" kern="1200" cap="none" spc="0" normalizeH="0" baseline="0" noProof="0" dirty="0">
              <a:ln>
                <a:noFill/>
              </a:ln>
              <a:solidFill>
                <a:prstClr val="white"/>
              </a:solidFill>
              <a:effectLst/>
              <a:uLnTx/>
              <a:uFillTx/>
              <a:latin typeface="Rix모던고딕 B"/>
              <a:ea typeface="Rix모던고딕 B"/>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rPr>
              <a:t>원</a:t>
            </a:r>
            <a:endParaRPr kumimoji="0" lang="en-US" altLang="ko-KR" sz="1000" b="1" i="0" u="none" strike="noStrike" kern="1200" cap="none" spc="0" normalizeH="0" baseline="0" noProof="0" dirty="0">
              <a:ln>
                <a:noFill/>
              </a:ln>
              <a:solidFill>
                <a:prstClr val="white"/>
              </a:solidFill>
              <a:effectLst/>
              <a:uLnTx/>
              <a:uFillTx/>
              <a:latin typeface="Rix모던고딕 B"/>
              <a:ea typeface="Rix모던고딕 B"/>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1" i="0" u="none" strike="noStrike" kern="1200" cap="none" spc="0" normalizeH="0" baseline="0" noProof="0" dirty="0">
                <a:ln>
                  <a:noFill/>
                </a:ln>
                <a:solidFill>
                  <a:prstClr val="white"/>
                </a:solidFill>
                <a:effectLst/>
                <a:uLnTx/>
                <a:uFillTx/>
                <a:latin typeface="Rix모던고딕 B"/>
                <a:ea typeface="Rix모던고딕 B"/>
                <a:cs typeface="+mn-cs"/>
              </a:rPr>
              <a:t>인</a:t>
            </a:r>
          </a:p>
        </p:txBody>
      </p:sp>
      <p:sp>
        <p:nvSpPr>
          <p:cNvPr id="83" name="Rectangle 24"/>
          <p:cNvSpPr>
            <a:spLocks noChangeArrowheads="1"/>
          </p:cNvSpPr>
          <p:nvPr/>
        </p:nvSpPr>
        <p:spPr bwMode="auto">
          <a:xfrm>
            <a:off x="6264740" y="1933465"/>
            <a:ext cx="4177909" cy="222202"/>
          </a:xfrm>
          <a:prstGeom prst="rect">
            <a:avLst/>
          </a:prstGeom>
          <a:no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PCT </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34</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조 보정</a:t>
            </a:r>
          </a:p>
        </p:txBody>
      </p:sp>
      <p:cxnSp>
        <p:nvCxnSpPr>
          <p:cNvPr id="85" name="직선 화살표 연결선 84"/>
          <p:cNvCxnSpPr>
            <a:stCxn id="40" idx="2"/>
            <a:endCxn id="63" idx="0"/>
          </p:cNvCxnSpPr>
          <p:nvPr/>
        </p:nvCxnSpPr>
        <p:spPr>
          <a:xfrm>
            <a:off x="3192400" y="2155666"/>
            <a:ext cx="0" cy="122638"/>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7" name="직선 화살표 연결선 86"/>
          <p:cNvCxnSpPr>
            <a:stCxn id="63" idx="2"/>
            <a:endCxn id="64" idx="0"/>
          </p:cNvCxnSpPr>
          <p:nvPr/>
        </p:nvCxnSpPr>
        <p:spPr>
          <a:xfrm>
            <a:off x="3192400" y="2500506"/>
            <a:ext cx="0" cy="160866"/>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직선 화살표 연결선 88"/>
          <p:cNvCxnSpPr>
            <a:stCxn id="64" idx="2"/>
            <a:endCxn id="65" idx="0"/>
          </p:cNvCxnSpPr>
          <p:nvPr/>
        </p:nvCxnSpPr>
        <p:spPr>
          <a:xfrm>
            <a:off x="3192400" y="2883575"/>
            <a:ext cx="0" cy="131629"/>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1" name="직선 화살표 연결선 90"/>
          <p:cNvCxnSpPr>
            <a:stCxn id="65" idx="2"/>
            <a:endCxn id="60" idx="0"/>
          </p:cNvCxnSpPr>
          <p:nvPr/>
        </p:nvCxnSpPr>
        <p:spPr>
          <a:xfrm>
            <a:off x="3192400" y="3237405"/>
            <a:ext cx="0" cy="15043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직선 화살표 연결선 93"/>
          <p:cNvCxnSpPr>
            <a:stCxn id="60" idx="2"/>
            <a:endCxn id="92" idx="0"/>
          </p:cNvCxnSpPr>
          <p:nvPr/>
        </p:nvCxnSpPr>
        <p:spPr>
          <a:xfrm>
            <a:off x="3192400" y="3610038"/>
            <a:ext cx="0" cy="148977"/>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직선 화살표 연결선 96"/>
          <p:cNvCxnSpPr>
            <a:stCxn id="73" idx="2"/>
            <a:endCxn id="72" idx="0"/>
          </p:cNvCxnSpPr>
          <p:nvPr/>
        </p:nvCxnSpPr>
        <p:spPr>
          <a:xfrm>
            <a:off x="3192400" y="4348773"/>
            <a:ext cx="0" cy="15043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0" name="직선 화살표 연결선 99"/>
          <p:cNvCxnSpPr>
            <a:stCxn id="72" idx="2"/>
            <a:endCxn id="74" idx="0"/>
          </p:cNvCxnSpPr>
          <p:nvPr/>
        </p:nvCxnSpPr>
        <p:spPr>
          <a:xfrm>
            <a:off x="3192400" y="4721406"/>
            <a:ext cx="0" cy="150431"/>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꺾인 연결선 36"/>
          <p:cNvCxnSpPr>
            <a:stCxn id="74" idx="2"/>
            <a:endCxn id="75" idx="0"/>
          </p:cNvCxnSpPr>
          <p:nvPr/>
        </p:nvCxnSpPr>
        <p:spPr>
          <a:xfrm rot="5400000">
            <a:off x="2848834" y="5149572"/>
            <a:ext cx="399100" cy="288032"/>
          </a:xfrm>
          <a:prstGeom prst="bentConnector3">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64" idx="1"/>
            <a:endCxn id="75" idx="1"/>
          </p:cNvCxnSpPr>
          <p:nvPr/>
        </p:nvCxnSpPr>
        <p:spPr>
          <a:xfrm rot="10800000" flipH="1" flipV="1">
            <a:off x="1103446" y="2772473"/>
            <a:ext cx="768085" cy="2831766"/>
          </a:xfrm>
          <a:prstGeom prst="bentConnector3">
            <a:avLst>
              <a:gd name="adj1" fmla="val -39683"/>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7" name="직선 화살표 연결선 106"/>
          <p:cNvCxnSpPr>
            <a:stCxn id="75" idx="2"/>
            <a:endCxn id="79" idx="0"/>
          </p:cNvCxnSpPr>
          <p:nvPr/>
        </p:nvCxnSpPr>
        <p:spPr>
          <a:xfrm>
            <a:off x="2904368" y="5715339"/>
            <a:ext cx="0" cy="139424"/>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직선 화살표 연결선 116"/>
          <p:cNvCxnSpPr>
            <a:stCxn id="79" idx="2"/>
            <a:endCxn id="80" idx="0"/>
          </p:cNvCxnSpPr>
          <p:nvPr/>
        </p:nvCxnSpPr>
        <p:spPr>
          <a:xfrm>
            <a:off x="2904368" y="6076966"/>
            <a:ext cx="0" cy="131629"/>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1" name="꺾인 연결선 120"/>
          <p:cNvCxnSpPr>
            <a:stCxn id="81" idx="0"/>
            <a:endCxn id="83" idx="3"/>
          </p:cNvCxnSpPr>
          <p:nvPr/>
        </p:nvCxnSpPr>
        <p:spPr>
          <a:xfrm rot="16200000" flipV="1">
            <a:off x="10766448" y="1720768"/>
            <a:ext cx="233738" cy="881335"/>
          </a:xfrm>
          <a:prstGeom prst="bentConnector2">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2" name="Rectangle 24"/>
          <p:cNvSpPr>
            <a:spLocks noChangeArrowheads="1"/>
          </p:cNvSpPr>
          <p:nvPr/>
        </p:nvSpPr>
        <p:spPr bwMode="auto">
          <a:xfrm>
            <a:off x="6046549" y="3387835"/>
            <a:ext cx="3793867" cy="222202"/>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추가수수료 납부 및 특허청구범위 감축 요구</a:t>
            </a:r>
            <a:endPar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err="1">
                <a:ln>
                  <a:noFill/>
                </a:ln>
                <a:solidFill>
                  <a:prstClr val="black"/>
                </a:solidFill>
                <a:effectLst/>
                <a:uLnTx/>
                <a:uFillTx/>
                <a:latin typeface="Rix모던고딕 B"/>
                <a:ea typeface="Rix모던고딕 B"/>
                <a:cs typeface="+mn-cs"/>
              </a:rPr>
              <a:t>주발명에</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 대해서만 국제예비심사</a:t>
            </a:r>
          </a:p>
        </p:txBody>
      </p:sp>
      <p:sp>
        <p:nvSpPr>
          <p:cNvPr id="134" name="Rectangle 24"/>
          <p:cNvSpPr>
            <a:spLocks noChangeArrowheads="1"/>
          </p:cNvSpPr>
          <p:nvPr/>
        </p:nvSpPr>
        <p:spPr bwMode="auto">
          <a:xfrm>
            <a:off x="6046549" y="3015203"/>
            <a:ext cx="3793867" cy="222202"/>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국제예비심사대상이 아니라는 보고서 작성</a:t>
            </a:r>
          </a:p>
        </p:txBody>
      </p:sp>
      <p:cxnSp>
        <p:nvCxnSpPr>
          <p:cNvPr id="136" name="직선 화살표 연결선 135"/>
          <p:cNvCxnSpPr>
            <a:stCxn id="64" idx="3"/>
          </p:cNvCxnSpPr>
          <p:nvPr/>
        </p:nvCxnSpPr>
        <p:spPr>
          <a:xfrm>
            <a:off x="5281355" y="2772473"/>
            <a:ext cx="5894016" cy="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8" name="직선 화살표 연결선 137"/>
          <p:cNvCxnSpPr>
            <a:stCxn id="65" idx="3"/>
            <a:endCxn id="134" idx="1"/>
          </p:cNvCxnSpPr>
          <p:nvPr/>
        </p:nvCxnSpPr>
        <p:spPr>
          <a:xfrm>
            <a:off x="5281355" y="3126304"/>
            <a:ext cx="765195" cy="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1" name="직선 화살표 연결선 140"/>
          <p:cNvCxnSpPr>
            <a:stCxn id="60" idx="3"/>
            <a:endCxn id="132" idx="1"/>
          </p:cNvCxnSpPr>
          <p:nvPr/>
        </p:nvCxnSpPr>
        <p:spPr>
          <a:xfrm>
            <a:off x="5281355" y="3498936"/>
            <a:ext cx="765195" cy="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4" name="직선 화살표 연결선 143"/>
          <p:cNvCxnSpPr/>
          <p:nvPr/>
        </p:nvCxnSpPr>
        <p:spPr>
          <a:xfrm>
            <a:off x="5663952" y="4255850"/>
            <a:ext cx="5511419" cy="15915"/>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2" name="Rectangle 24"/>
          <p:cNvSpPr>
            <a:spLocks noChangeArrowheads="1"/>
          </p:cNvSpPr>
          <p:nvPr/>
        </p:nvSpPr>
        <p:spPr bwMode="auto">
          <a:xfrm>
            <a:off x="5231904" y="2843646"/>
            <a:ext cx="960107" cy="25530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제외대상</a:t>
            </a:r>
          </a:p>
        </p:txBody>
      </p:sp>
      <p:sp>
        <p:nvSpPr>
          <p:cNvPr id="153" name="Rectangle 24"/>
          <p:cNvSpPr>
            <a:spLocks noChangeArrowheads="1"/>
          </p:cNvSpPr>
          <p:nvPr/>
        </p:nvSpPr>
        <p:spPr bwMode="auto">
          <a:xfrm>
            <a:off x="5231904" y="3240728"/>
            <a:ext cx="960107" cy="25530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위반</a:t>
            </a:r>
          </a:p>
        </p:txBody>
      </p:sp>
      <p:sp>
        <p:nvSpPr>
          <p:cNvPr id="158" name="Rectangle 24"/>
          <p:cNvSpPr>
            <a:spLocks noChangeArrowheads="1"/>
          </p:cNvSpPr>
          <p:nvPr/>
        </p:nvSpPr>
        <p:spPr bwMode="auto">
          <a:xfrm>
            <a:off x="6972417" y="6320720"/>
            <a:ext cx="960107" cy="25530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번역문 제출</a:t>
            </a:r>
          </a:p>
        </p:txBody>
      </p:sp>
      <p:sp>
        <p:nvSpPr>
          <p:cNvPr id="58" name="Rectangle 24"/>
          <p:cNvSpPr>
            <a:spLocks noChangeArrowheads="1"/>
          </p:cNvSpPr>
          <p:nvPr/>
        </p:nvSpPr>
        <p:spPr bwMode="auto">
          <a:xfrm>
            <a:off x="6046549" y="2278371"/>
            <a:ext cx="3793867" cy="222202"/>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국제예비심사보고서가 제출되지 않았다는 선언</a:t>
            </a:r>
          </a:p>
        </p:txBody>
      </p:sp>
      <p:cxnSp>
        <p:nvCxnSpPr>
          <p:cNvPr id="59" name="직선 화살표 연결선 58"/>
          <p:cNvCxnSpPr>
            <a:stCxn id="63" idx="3"/>
            <a:endCxn id="58" idx="1"/>
          </p:cNvCxnSpPr>
          <p:nvPr/>
        </p:nvCxnSpPr>
        <p:spPr>
          <a:xfrm>
            <a:off x="5281355" y="2389406"/>
            <a:ext cx="765195" cy="67"/>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Rectangle 24"/>
          <p:cNvSpPr>
            <a:spLocks noChangeArrowheads="1"/>
          </p:cNvSpPr>
          <p:nvPr/>
        </p:nvSpPr>
        <p:spPr bwMode="auto">
          <a:xfrm>
            <a:off x="5231904" y="2143873"/>
            <a:ext cx="960107" cy="25530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위반</a:t>
            </a:r>
          </a:p>
        </p:txBody>
      </p:sp>
      <p:cxnSp>
        <p:nvCxnSpPr>
          <p:cNvPr id="76" name="직선 화살표 연결선 75"/>
          <p:cNvCxnSpPr/>
          <p:nvPr/>
        </p:nvCxnSpPr>
        <p:spPr>
          <a:xfrm>
            <a:off x="5281355" y="4922357"/>
            <a:ext cx="5894016" cy="20696"/>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6" name="Rectangle 24"/>
          <p:cNvSpPr>
            <a:spLocks noChangeArrowheads="1"/>
          </p:cNvSpPr>
          <p:nvPr/>
        </p:nvSpPr>
        <p:spPr bwMode="auto">
          <a:xfrm>
            <a:off x="7393589" y="3983733"/>
            <a:ext cx="960107" cy="255301"/>
          </a:xfrm>
          <a:prstGeom prst="rect">
            <a:avLst/>
          </a:prstGeom>
          <a:no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출원인과 충분한 의견교환</a:t>
            </a:r>
          </a:p>
        </p:txBody>
      </p:sp>
      <p:cxnSp>
        <p:nvCxnSpPr>
          <p:cNvPr id="88" name="직선 화살표 연결선 87"/>
          <p:cNvCxnSpPr>
            <a:stCxn id="83" idx="1"/>
            <a:endCxn id="40" idx="3"/>
          </p:cNvCxnSpPr>
          <p:nvPr/>
        </p:nvCxnSpPr>
        <p:spPr>
          <a:xfrm flipH="1">
            <a:off x="4225238" y="2044566"/>
            <a:ext cx="2039503" cy="0"/>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2" name="Rectangle 24"/>
          <p:cNvSpPr>
            <a:spLocks noChangeArrowheads="1"/>
          </p:cNvSpPr>
          <p:nvPr/>
        </p:nvSpPr>
        <p:spPr bwMode="auto">
          <a:xfrm>
            <a:off x="1103446" y="3759014"/>
            <a:ext cx="4177909" cy="222202"/>
          </a:xfrm>
          <a:prstGeom prst="rect">
            <a:avLst/>
          </a:prstGeom>
          <a:solidFill>
            <a:schemeClr val="accent3">
              <a:lumMod val="40000"/>
              <a:lumOff val="60000"/>
            </a:schemeClr>
          </a:solidFill>
          <a:ln>
            <a:solidFill>
              <a:schemeClr val="accent5">
                <a:lumMod val="50000"/>
              </a:schemeClr>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국제조사기관의 </a:t>
            </a:r>
            <a:r>
              <a:rPr kumimoji="0" lang="ko-KR" altLang="en-US" sz="1000" b="0" i="0" u="none" strike="noStrike" kern="1200" cap="none" spc="0" normalizeH="0" baseline="0" noProof="0" dirty="0" err="1">
                <a:ln>
                  <a:noFill/>
                </a:ln>
                <a:solidFill>
                  <a:prstClr val="black"/>
                </a:solidFill>
                <a:effectLst/>
                <a:uLnTx/>
                <a:uFillTx/>
                <a:latin typeface="Rix모던고딕 B"/>
                <a:ea typeface="Rix모던고딕 B"/>
                <a:cs typeface="+mn-cs"/>
              </a:rPr>
              <a:t>견해서를</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en-US" altLang="ko-KR" sz="1000" b="0" i="0" u="none" strike="noStrike" kern="1200" cap="none" spc="0" normalizeH="0" baseline="0" noProof="0" dirty="0">
                <a:ln>
                  <a:noFill/>
                </a:ln>
                <a:solidFill>
                  <a:prstClr val="black"/>
                </a:solidFill>
                <a:effectLst/>
                <a:uLnTx/>
                <a:uFillTx/>
                <a:latin typeface="Rix모던고딕 B"/>
                <a:ea typeface="Rix모던고딕 B"/>
                <a:cs typeface="+mn-cs"/>
              </a:rPr>
              <a:t>1</a:t>
            </a:r>
            <a:r>
              <a:rPr kumimoji="0" lang="ko-KR" altLang="en-US" sz="1000" b="0" i="0" u="none" strike="noStrike" kern="1200" cap="none" spc="0" normalizeH="0" baseline="0" noProof="0" dirty="0">
                <a:ln>
                  <a:noFill/>
                </a:ln>
                <a:solidFill>
                  <a:prstClr val="black"/>
                </a:solidFill>
                <a:effectLst/>
                <a:uLnTx/>
                <a:uFillTx/>
                <a:latin typeface="Rix모던고딕 B"/>
                <a:ea typeface="Rix모던고딕 B"/>
                <a:cs typeface="+mn-cs"/>
              </a:rPr>
              <a:t>차 견해서로 간주</a:t>
            </a:r>
          </a:p>
        </p:txBody>
      </p:sp>
      <p:cxnSp>
        <p:nvCxnSpPr>
          <p:cNvPr id="93" name="직선 화살표 연결선 92"/>
          <p:cNvCxnSpPr>
            <a:stCxn id="92" idx="2"/>
            <a:endCxn id="73" idx="0"/>
          </p:cNvCxnSpPr>
          <p:nvPr/>
        </p:nvCxnSpPr>
        <p:spPr>
          <a:xfrm>
            <a:off x="3192400" y="3981217"/>
            <a:ext cx="0" cy="145355"/>
          </a:xfrm>
          <a:prstGeom prst="straightConnector1">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꺾인 연결선 42"/>
          <p:cNvCxnSpPr>
            <a:stCxn id="92" idx="3"/>
            <a:endCxn id="72" idx="3"/>
          </p:cNvCxnSpPr>
          <p:nvPr/>
        </p:nvCxnSpPr>
        <p:spPr>
          <a:xfrm>
            <a:off x="5281355" y="3870116"/>
            <a:ext cx="16933" cy="740189"/>
          </a:xfrm>
          <a:prstGeom prst="bentConnector3">
            <a:avLst>
              <a:gd name="adj1" fmla="val 180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제목 1"/>
          <p:cNvSpPr>
            <a:spLocks noGrp="1"/>
          </p:cNvSpPr>
          <p:nvPr>
            <p:ph type="title"/>
          </p:nvPr>
        </p:nvSpPr>
        <p:spPr/>
        <p:txBody>
          <a:bodyPr/>
          <a:lstStyle/>
          <a:p>
            <a:r>
              <a:rPr lang="ko-KR" altLang="en-US" dirty="0"/>
              <a:t>제</a:t>
            </a:r>
            <a:r>
              <a:rPr lang="en-US" altLang="ko-KR" dirty="0"/>
              <a:t>198</a:t>
            </a:r>
            <a:r>
              <a:rPr lang="ko-KR" altLang="en-US" dirty="0"/>
              <a:t>조의</a:t>
            </a:r>
            <a:r>
              <a:rPr lang="en-US" altLang="ko-KR" dirty="0"/>
              <a:t>2</a:t>
            </a:r>
            <a:endParaRPr lang="ko-KR" altLang="en-US" dirty="0"/>
          </a:p>
        </p:txBody>
      </p:sp>
      <p:sp>
        <p:nvSpPr>
          <p:cNvPr id="3" name="텍스트 개체 틀 2"/>
          <p:cNvSpPr>
            <a:spLocks noGrp="1"/>
          </p:cNvSpPr>
          <p:nvPr>
            <p:ph type="body" sz="quarter" idx="13"/>
          </p:nvPr>
        </p:nvSpPr>
        <p:spPr/>
        <p:txBody>
          <a:bodyPr/>
          <a:lstStyle/>
          <a:p>
            <a:r>
              <a:rPr lang="ko-KR" altLang="en-US" dirty="0"/>
              <a:t>국제예비심사절차</a:t>
            </a:r>
          </a:p>
        </p:txBody>
      </p:sp>
      <p:sp>
        <p:nvSpPr>
          <p:cNvPr id="4" name="슬라이드 번호 개체 틀 3"/>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560</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847381824"/>
      </p:ext>
    </p:extLst>
  </p:cSld>
  <p:clrMapOvr>
    <a:masterClrMapping/>
  </p:clrMapOvr>
  <p:transition/>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2"/>
          <p:cNvGraphicFramePr>
            <a:graphicFrameLocks noGrp="1"/>
          </p:cNvGraphicFramePr>
          <p:nvPr/>
        </p:nvGraphicFramePr>
        <p:xfrm>
          <a:off x="387242" y="1031841"/>
          <a:ext cx="11328507" cy="5491027"/>
        </p:xfrm>
        <a:graphic>
          <a:graphicData uri="http://schemas.openxmlformats.org/drawingml/2006/table">
            <a:tbl>
              <a:tblPr>
                <a:tableStyleId>{8799B23B-EC83-4686-B30A-512413B5E67A}</a:tableStyleId>
              </a:tblPr>
              <a:tblGrid>
                <a:gridCol w="1055833">
                  <a:extLst>
                    <a:ext uri="{9D8B030D-6E8A-4147-A177-3AD203B41FA5}">
                      <a16:colId xmlns:a16="http://schemas.microsoft.com/office/drawing/2014/main" val="4266357743"/>
                    </a:ext>
                  </a:extLst>
                </a:gridCol>
                <a:gridCol w="5055009">
                  <a:extLst>
                    <a:ext uri="{9D8B030D-6E8A-4147-A177-3AD203B41FA5}">
                      <a16:colId xmlns:a16="http://schemas.microsoft.com/office/drawing/2014/main" val="3085765251"/>
                    </a:ext>
                  </a:extLst>
                </a:gridCol>
                <a:gridCol w="5217665">
                  <a:extLst>
                    <a:ext uri="{9D8B030D-6E8A-4147-A177-3AD203B41FA5}">
                      <a16:colId xmlns:a16="http://schemas.microsoft.com/office/drawing/2014/main" val="3155668004"/>
                    </a:ext>
                  </a:extLst>
                </a:gridCol>
              </a:tblGrid>
              <a:tr h="148539">
                <a:tc>
                  <a:txBody>
                    <a:bodyPr/>
                    <a:lstStyle/>
                    <a:p>
                      <a:pPr marL="0" marR="0" indent="0" algn="ctr" fontAlgn="base" latinLnBrk="0">
                        <a:lnSpc>
                          <a:spcPct val="120000"/>
                        </a:lnSpc>
                        <a:spcBef>
                          <a:spcPts val="0"/>
                        </a:spcBef>
                        <a:spcAft>
                          <a:spcPts val="0"/>
                        </a:spcAft>
                      </a:pPr>
                      <a:r>
                        <a:rPr lang="ko-KR" altLang="en-US" sz="1200" kern="1200" dirty="0"/>
                        <a:t>구 분</a:t>
                      </a:r>
                      <a:endParaRPr lang="ko-KR" altLang="en-US" sz="1200" kern="1200" dirty="0">
                        <a:solidFill>
                          <a:schemeClr val="tx1"/>
                        </a:solidFill>
                        <a:latin typeface="+mn-lt"/>
                        <a:ea typeface="+mn-ea"/>
                        <a:cs typeface="+mn-cs"/>
                      </a:endParaRPr>
                    </a:p>
                  </a:txBody>
                  <a:tcPr marL="14605" marR="14605" marT="14605" marB="14605"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200" dirty="0"/>
                        <a:t>국제조사</a:t>
                      </a:r>
                      <a:endParaRPr lang="ko-KR" altLang="en-US" sz="1200" kern="1200" dirty="0">
                        <a:solidFill>
                          <a:schemeClr val="tx1"/>
                        </a:solidFill>
                        <a:latin typeface="+mn-lt"/>
                        <a:ea typeface="+mn-ea"/>
                        <a:cs typeface="+mn-cs"/>
                      </a:endParaRPr>
                    </a:p>
                  </a:txBody>
                  <a:tcPr marL="14605" marR="14605" marT="14605" marB="14605"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200" dirty="0"/>
                        <a:t>국제예비심사</a:t>
                      </a:r>
                      <a:endParaRPr lang="ko-KR" altLang="en-US" sz="1200" kern="1200" dirty="0">
                        <a:solidFill>
                          <a:schemeClr val="tx1"/>
                        </a:solidFill>
                        <a:latin typeface="+mn-lt"/>
                        <a:ea typeface="+mn-ea"/>
                        <a:cs typeface="+mn-cs"/>
                      </a:endParaRPr>
                    </a:p>
                  </a:txBody>
                  <a:tcPr marL="14605" marR="14605" marT="14605" marB="14605" anchor="ctr">
                    <a:solidFill>
                      <a:schemeClr val="accent1">
                        <a:lumMod val="20000"/>
                        <a:lumOff val="80000"/>
                      </a:schemeClr>
                    </a:solidFill>
                  </a:tcPr>
                </a:tc>
                <a:extLst>
                  <a:ext uri="{0D108BD9-81ED-4DB2-BD59-A6C34878D82A}">
                    <a16:rowId xmlns:a16="http://schemas.microsoft.com/office/drawing/2014/main" val="1219936494"/>
                  </a:ext>
                </a:extLst>
              </a:tr>
              <a:tr h="675572">
                <a:tc>
                  <a:txBody>
                    <a:bodyPr/>
                    <a:lstStyle/>
                    <a:p>
                      <a:pPr marL="0" marR="0" indent="0" algn="ctr" fontAlgn="base" latinLnBrk="0">
                        <a:lnSpc>
                          <a:spcPct val="120000"/>
                        </a:lnSpc>
                        <a:spcBef>
                          <a:spcPts val="0"/>
                        </a:spcBef>
                        <a:spcAft>
                          <a:spcPts val="0"/>
                        </a:spcAft>
                      </a:pPr>
                      <a:r>
                        <a:rPr lang="ko-KR" altLang="en-US" sz="1200" kern="1200"/>
                        <a:t>목 적</a:t>
                      </a:r>
                      <a:endParaRPr lang="ko-KR" altLang="en-US" sz="1200" kern="1200">
                        <a:solidFill>
                          <a:schemeClr val="tx1"/>
                        </a:solidFill>
                        <a:latin typeface="+mn-lt"/>
                        <a:ea typeface="+mn-ea"/>
                        <a:cs typeface="+mn-cs"/>
                      </a:endParaRPr>
                    </a:p>
                  </a:txBody>
                  <a:tcPr marL="14605" marR="14605" marT="14605" marB="14605" anchor="ctr"/>
                </a:tc>
                <a:tc>
                  <a:txBody>
                    <a:bodyPr/>
                    <a:lstStyle/>
                    <a:p>
                      <a:pPr marL="85725" marR="31750" indent="-85725" algn="l" fontAlgn="base" latinLnBrk="1">
                        <a:lnSpc>
                          <a:spcPct val="130000"/>
                        </a:lnSpc>
                        <a:spcBef>
                          <a:spcPts val="0"/>
                        </a:spcBef>
                        <a:spcAft>
                          <a:spcPts val="0"/>
                        </a:spcAft>
                      </a:pPr>
                      <a:r>
                        <a:rPr lang="ko-KR" altLang="en-US" sz="1200" kern="1200" dirty="0"/>
                        <a:t>▪ 국제조사기관이 </a:t>
                      </a:r>
                      <a:r>
                        <a:rPr lang="ko-KR" altLang="en-US" sz="1200" kern="1200" dirty="0" err="1"/>
                        <a:t>국제출원과</a:t>
                      </a:r>
                      <a:r>
                        <a:rPr lang="ko-KR" altLang="en-US" sz="1200" kern="1200" dirty="0"/>
                        <a:t> 관련된 </a:t>
                      </a:r>
                      <a:r>
                        <a:rPr lang="ko-KR" altLang="en-US" sz="1200" kern="1200" dirty="0" err="1"/>
                        <a:t>선행기술의</a:t>
                      </a:r>
                      <a:r>
                        <a:rPr lang="ko-KR" altLang="en-US" sz="1200" kern="1200" dirty="0"/>
                        <a:t> </a:t>
                      </a:r>
                      <a:r>
                        <a:rPr lang="ko-KR" altLang="en-US" sz="1200" kern="1200" dirty="0" err="1"/>
                        <a:t>존재여부의</a:t>
                      </a:r>
                      <a:r>
                        <a:rPr lang="ko-KR" altLang="en-US" sz="1200" kern="1200" dirty="0"/>
                        <a:t> 발견</a:t>
                      </a:r>
                    </a:p>
                    <a:p>
                      <a:pPr marL="91440" marR="31750" indent="-91440" algn="l" fontAlgn="base" latinLnBrk="1">
                        <a:lnSpc>
                          <a:spcPct val="130000"/>
                        </a:lnSpc>
                        <a:spcBef>
                          <a:spcPts val="0"/>
                        </a:spcBef>
                        <a:spcAft>
                          <a:spcPts val="0"/>
                        </a:spcAft>
                      </a:pPr>
                      <a:r>
                        <a:rPr lang="ko-KR" altLang="en-US" sz="1200" kern="1200" dirty="0"/>
                        <a:t>▪ 국제조사기관이 신규성</a:t>
                      </a:r>
                      <a:r>
                        <a:rPr lang="en-US" altLang="ko-KR" sz="1200" kern="1200" dirty="0"/>
                        <a:t>, </a:t>
                      </a:r>
                      <a:r>
                        <a:rPr lang="ko-KR" altLang="en-US" sz="1200" kern="1200" dirty="0"/>
                        <a:t>진보성 및 산업상 이용가능성 인정여부에 대하여 예비적이고 구속력이 없는 견해를 표시</a:t>
                      </a:r>
                      <a:endParaRPr lang="ko-KR" altLang="en-US" sz="1200" kern="1200" dirty="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국제예비심사기관이 신규성</a:t>
                      </a:r>
                      <a:r>
                        <a:rPr lang="en-US" altLang="ko-KR" sz="1200" kern="1200" dirty="0"/>
                        <a:t>, </a:t>
                      </a:r>
                      <a:r>
                        <a:rPr lang="ko-KR" altLang="en-US" sz="1200" kern="1200" dirty="0"/>
                        <a:t>진보성 및 산업상 이용가능성 인정여부에 대하여 예비적이며 구속력이 없는 견해를 표시</a:t>
                      </a:r>
                      <a:endParaRPr lang="ko-KR" altLang="en-US" sz="1200" kern="1200" dirty="0">
                        <a:solidFill>
                          <a:schemeClr val="tx1"/>
                        </a:solidFill>
                        <a:latin typeface="+mn-lt"/>
                        <a:ea typeface="+mn-ea"/>
                        <a:cs typeface="+mn-cs"/>
                      </a:endParaRPr>
                    </a:p>
                  </a:txBody>
                  <a:tcPr marL="14605" marR="14605" marT="14605" marB="14605" anchor="ctr"/>
                </a:tc>
                <a:extLst>
                  <a:ext uri="{0D108BD9-81ED-4DB2-BD59-A6C34878D82A}">
                    <a16:rowId xmlns:a16="http://schemas.microsoft.com/office/drawing/2014/main" val="1386961524"/>
                  </a:ext>
                </a:extLst>
              </a:tr>
              <a:tr h="327324">
                <a:tc>
                  <a:txBody>
                    <a:bodyPr/>
                    <a:lstStyle/>
                    <a:p>
                      <a:pPr marL="0" marR="0" indent="0" algn="ctr" fontAlgn="base" latinLnBrk="0">
                        <a:lnSpc>
                          <a:spcPct val="120000"/>
                        </a:lnSpc>
                        <a:spcBef>
                          <a:spcPts val="0"/>
                        </a:spcBef>
                        <a:spcAft>
                          <a:spcPts val="0"/>
                        </a:spcAft>
                      </a:pPr>
                      <a:r>
                        <a:rPr lang="ko-KR" altLang="en-US" sz="1200" kern="1200"/>
                        <a:t>대 상</a:t>
                      </a:r>
                      <a:endParaRPr lang="ko-KR" altLang="en-US" sz="1200" kern="120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모든 </a:t>
                      </a:r>
                      <a:r>
                        <a:rPr lang="ko-KR" altLang="en-US" sz="1200" kern="1200" dirty="0" err="1"/>
                        <a:t>국제출원이</a:t>
                      </a:r>
                      <a:r>
                        <a:rPr lang="ko-KR" altLang="en-US" sz="1200" kern="1200" dirty="0"/>
                        <a:t> </a:t>
                      </a:r>
                      <a:r>
                        <a:rPr lang="ko-KR" altLang="en-US" sz="1200" kern="1200" dirty="0" err="1"/>
                        <a:t>국제조사의</a:t>
                      </a:r>
                      <a:r>
                        <a:rPr lang="ko-KR" altLang="en-US" sz="1200" kern="1200" dirty="0"/>
                        <a:t> 대상</a:t>
                      </a:r>
                      <a:endParaRPr lang="ko-KR" altLang="en-US" sz="1200" kern="1200" dirty="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국제조사와는 달리 출원인의 선택에 의한 임의적 절차로 </a:t>
                      </a:r>
                      <a:r>
                        <a:rPr lang="ko-KR" altLang="en-US" sz="1200" kern="1200" dirty="0" err="1"/>
                        <a:t>국제출원의</a:t>
                      </a:r>
                      <a:r>
                        <a:rPr lang="ko-KR" altLang="en-US" sz="1200" kern="1200" dirty="0"/>
                        <a:t> </a:t>
                      </a:r>
                      <a:r>
                        <a:rPr lang="ko-KR" altLang="en-US" sz="1200" kern="1200" dirty="0" err="1"/>
                        <a:t>청구범위에</a:t>
                      </a:r>
                      <a:r>
                        <a:rPr lang="ko-KR" altLang="en-US" sz="1200" kern="1200" dirty="0"/>
                        <a:t> 기재되어 있는 발명</a:t>
                      </a:r>
                      <a:endParaRPr lang="ko-KR" altLang="en-US" sz="1200" kern="1200" dirty="0">
                        <a:solidFill>
                          <a:schemeClr val="tx1"/>
                        </a:solidFill>
                        <a:latin typeface="+mn-lt"/>
                        <a:ea typeface="+mn-ea"/>
                        <a:cs typeface="+mn-cs"/>
                      </a:endParaRPr>
                    </a:p>
                  </a:txBody>
                  <a:tcPr marL="14605" marR="14605" marT="14605" marB="14605" anchor="ctr"/>
                </a:tc>
                <a:extLst>
                  <a:ext uri="{0D108BD9-81ED-4DB2-BD59-A6C34878D82A}">
                    <a16:rowId xmlns:a16="http://schemas.microsoft.com/office/drawing/2014/main" val="4041338310"/>
                  </a:ext>
                </a:extLst>
              </a:tr>
              <a:tr h="287755">
                <a:tc>
                  <a:txBody>
                    <a:bodyPr/>
                    <a:lstStyle/>
                    <a:p>
                      <a:pPr marL="0" marR="0" indent="0" algn="ctr" fontAlgn="base" latinLnBrk="0">
                        <a:lnSpc>
                          <a:spcPct val="120000"/>
                        </a:lnSpc>
                        <a:spcBef>
                          <a:spcPts val="0"/>
                        </a:spcBef>
                        <a:spcAft>
                          <a:spcPts val="0"/>
                        </a:spcAft>
                      </a:pPr>
                      <a:r>
                        <a:rPr lang="ko-KR" altLang="en-US" sz="1200" kern="1200"/>
                        <a:t>범 위</a:t>
                      </a:r>
                      <a:endParaRPr lang="ko-KR" altLang="en-US" sz="1200" kern="120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발명의 설명</a:t>
                      </a:r>
                      <a:r>
                        <a:rPr lang="en-US" altLang="ko-KR" sz="1200" kern="1200" dirty="0"/>
                        <a:t>, </a:t>
                      </a:r>
                      <a:r>
                        <a:rPr lang="ko-KR" altLang="en-US" sz="1200" kern="1200" dirty="0"/>
                        <a:t>도면에 타당한 고려를 하여 청구범위를 기초</a:t>
                      </a:r>
                      <a:endParaRPr lang="ko-KR" altLang="en-US" sz="1200" kern="1200" dirty="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a:t>
                      </a:r>
                      <a:r>
                        <a:rPr lang="ko-KR" altLang="en-US" sz="1200" kern="1200" dirty="0" err="1"/>
                        <a:t>청구범위와</a:t>
                      </a:r>
                      <a:r>
                        <a:rPr lang="ko-KR" altLang="en-US" sz="1200" kern="1200" dirty="0"/>
                        <a:t> 발명의 설명</a:t>
                      </a:r>
                      <a:r>
                        <a:rPr lang="en-US" altLang="ko-KR" sz="1200" kern="1200" dirty="0"/>
                        <a:t>, </a:t>
                      </a:r>
                      <a:r>
                        <a:rPr lang="ko-KR" altLang="en-US" sz="1200" kern="1200" dirty="0"/>
                        <a:t>도면을 기초</a:t>
                      </a:r>
                      <a:endParaRPr lang="ko-KR" altLang="en-US" sz="1200" kern="1200" dirty="0">
                        <a:solidFill>
                          <a:schemeClr val="tx1"/>
                        </a:solidFill>
                        <a:latin typeface="+mn-lt"/>
                        <a:ea typeface="+mn-ea"/>
                        <a:cs typeface="+mn-cs"/>
                      </a:endParaRPr>
                    </a:p>
                  </a:txBody>
                  <a:tcPr marL="14605" marR="14605" marT="14605" marB="14605" anchor="ctr"/>
                </a:tc>
                <a:extLst>
                  <a:ext uri="{0D108BD9-81ED-4DB2-BD59-A6C34878D82A}">
                    <a16:rowId xmlns:a16="http://schemas.microsoft.com/office/drawing/2014/main" val="2053629555"/>
                  </a:ext>
                </a:extLst>
              </a:tr>
              <a:tr h="417027">
                <a:tc>
                  <a:txBody>
                    <a:bodyPr/>
                    <a:lstStyle/>
                    <a:p>
                      <a:pPr marL="0" marR="0" indent="0" algn="ctr" fontAlgn="base" latinLnBrk="0">
                        <a:lnSpc>
                          <a:spcPct val="120000"/>
                        </a:lnSpc>
                        <a:spcBef>
                          <a:spcPts val="0"/>
                        </a:spcBef>
                        <a:spcAft>
                          <a:spcPts val="0"/>
                        </a:spcAft>
                      </a:pPr>
                      <a:r>
                        <a:rPr lang="ko-KR" altLang="en-US" sz="1200" kern="1200" dirty="0"/>
                        <a:t>이용할 수 </a:t>
                      </a:r>
                      <a:endParaRPr lang="en-US" altLang="ko-KR" sz="1200" kern="1200" dirty="0"/>
                    </a:p>
                    <a:p>
                      <a:pPr marL="0" marR="0" indent="0" algn="ctr" fontAlgn="base" latinLnBrk="0">
                        <a:lnSpc>
                          <a:spcPct val="120000"/>
                        </a:lnSpc>
                        <a:spcBef>
                          <a:spcPts val="0"/>
                        </a:spcBef>
                        <a:spcAft>
                          <a:spcPts val="0"/>
                        </a:spcAft>
                      </a:pPr>
                      <a:r>
                        <a:rPr lang="ko-KR" altLang="en-US" sz="1200" kern="1200" dirty="0"/>
                        <a:t>있는 자</a:t>
                      </a:r>
                      <a:endParaRPr lang="ko-KR" altLang="en-US" sz="1200" kern="1200" dirty="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a:t>
                      </a:r>
                      <a:r>
                        <a:rPr lang="ko-KR" altLang="en-US" sz="1200" kern="1200" dirty="0" err="1"/>
                        <a:t>국제출원을</a:t>
                      </a:r>
                      <a:r>
                        <a:rPr lang="ko-KR" altLang="en-US" sz="1200" kern="1200" dirty="0"/>
                        <a:t> 할 수 있는 자</a:t>
                      </a:r>
                      <a:endParaRPr lang="ko-KR" altLang="en-US" sz="1200" kern="1200" dirty="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a:t>
                      </a:r>
                      <a:r>
                        <a:rPr lang="en-US" altLang="ko-KR" sz="1200" kern="1200" dirty="0">
                          <a:highlight>
                            <a:srgbClr val="FFFF00"/>
                          </a:highlight>
                        </a:rPr>
                        <a:t>PCT </a:t>
                      </a:r>
                      <a:r>
                        <a:rPr lang="ko-KR" altLang="en-US" sz="1200" kern="1200" dirty="0">
                          <a:highlight>
                            <a:srgbClr val="FFFF00"/>
                          </a:highlight>
                        </a:rPr>
                        <a:t>제</a:t>
                      </a:r>
                      <a:r>
                        <a:rPr lang="en-US" altLang="ko-KR" sz="1200" kern="1200" dirty="0">
                          <a:highlight>
                            <a:srgbClr val="FFFF00"/>
                          </a:highlight>
                        </a:rPr>
                        <a:t>2</a:t>
                      </a:r>
                      <a:r>
                        <a:rPr lang="ko-KR" altLang="en-US" sz="1200" kern="1200" dirty="0">
                          <a:highlight>
                            <a:srgbClr val="FFFF00"/>
                          </a:highlight>
                        </a:rPr>
                        <a:t>장 규정에 구속</a:t>
                      </a:r>
                      <a:r>
                        <a:rPr lang="ko-KR" altLang="en-US" sz="1200" kern="1200" dirty="0"/>
                        <a:t>된 체약국의 거주자 또는 국민으로서 그러한 체약국을 위해 행동하는 </a:t>
                      </a:r>
                      <a:r>
                        <a:rPr lang="ko-KR" altLang="en-US" sz="1200" kern="1200" dirty="0" err="1"/>
                        <a:t>수리관청에</a:t>
                      </a:r>
                      <a:r>
                        <a:rPr lang="ko-KR" altLang="en-US" sz="1200" kern="1200" dirty="0"/>
                        <a:t> 출원한 경우</a:t>
                      </a:r>
                      <a:endParaRPr lang="ko-KR" altLang="en-US" sz="1200" kern="1200" dirty="0">
                        <a:solidFill>
                          <a:schemeClr val="tx1"/>
                        </a:solidFill>
                        <a:latin typeface="+mn-lt"/>
                        <a:ea typeface="+mn-ea"/>
                        <a:cs typeface="+mn-cs"/>
                      </a:endParaRPr>
                    </a:p>
                  </a:txBody>
                  <a:tcPr marL="14605" marR="14605" marT="14605" marB="14605" anchor="ctr"/>
                </a:tc>
                <a:extLst>
                  <a:ext uri="{0D108BD9-81ED-4DB2-BD59-A6C34878D82A}">
                    <a16:rowId xmlns:a16="http://schemas.microsoft.com/office/drawing/2014/main" val="3280514034"/>
                  </a:ext>
                </a:extLst>
              </a:tr>
              <a:tr h="287755">
                <a:tc>
                  <a:txBody>
                    <a:bodyPr/>
                    <a:lstStyle/>
                    <a:p>
                      <a:pPr marL="0" marR="0" indent="0" algn="ctr" fontAlgn="base" latinLnBrk="0">
                        <a:lnSpc>
                          <a:spcPct val="120000"/>
                        </a:lnSpc>
                        <a:spcBef>
                          <a:spcPts val="0"/>
                        </a:spcBef>
                        <a:spcAft>
                          <a:spcPts val="0"/>
                        </a:spcAft>
                      </a:pPr>
                      <a:r>
                        <a:rPr lang="ko-KR" altLang="en-US" sz="1200" kern="1200"/>
                        <a:t>지정</a:t>
                      </a:r>
                      <a:r>
                        <a:rPr lang="en-US" altLang="ko-KR" sz="1200" kern="1200"/>
                        <a:t>/</a:t>
                      </a:r>
                      <a:r>
                        <a:rPr lang="ko-KR" altLang="en-US" sz="1200" kern="1200"/>
                        <a:t>선택</a:t>
                      </a:r>
                      <a:endParaRPr lang="ko-KR" altLang="en-US" sz="1200" kern="120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a:t>
                      </a:r>
                      <a:r>
                        <a:rPr lang="ko-KR" altLang="en-US" sz="1200" kern="1200" dirty="0" err="1"/>
                        <a:t>출원서</a:t>
                      </a:r>
                      <a:r>
                        <a:rPr lang="ko-KR" altLang="en-US" sz="1200" kern="1200" dirty="0"/>
                        <a:t> 제출로 </a:t>
                      </a:r>
                      <a:r>
                        <a:rPr lang="ko-KR" altLang="en-US" sz="1200" kern="1200" dirty="0" err="1"/>
                        <a:t>출원일의</a:t>
                      </a:r>
                      <a:r>
                        <a:rPr lang="ko-KR" altLang="en-US" sz="1200" kern="1200" dirty="0"/>
                        <a:t> 모든 체약국의 지정을 구성</a:t>
                      </a:r>
                      <a:endParaRPr lang="ko-KR" altLang="en-US" sz="1200" kern="1200" dirty="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청구서 제출로 </a:t>
                      </a:r>
                      <a:r>
                        <a:rPr lang="ko-KR" altLang="en-US" sz="1200" kern="1200" dirty="0">
                          <a:highlight>
                            <a:srgbClr val="FFFF00"/>
                          </a:highlight>
                        </a:rPr>
                        <a:t>조약 제</a:t>
                      </a:r>
                      <a:r>
                        <a:rPr lang="en-US" altLang="ko-KR" sz="1200" kern="1200" dirty="0">
                          <a:highlight>
                            <a:srgbClr val="FFFF00"/>
                          </a:highlight>
                        </a:rPr>
                        <a:t>2</a:t>
                      </a:r>
                      <a:r>
                        <a:rPr lang="ko-KR" altLang="en-US" sz="1200" kern="1200" dirty="0">
                          <a:highlight>
                            <a:srgbClr val="FFFF00"/>
                          </a:highlight>
                        </a:rPr>
                        <a:t>장에 구속</a:t>
                      </a:r>
                      <a:r>
                        <a:rPr lang="ko-KR" altLang="en-US" sz="1200" kern="1200" dirty="0"/>
                        <a:t>되는 모든 </a:t>
                      </a:r>
                      <a:r>
                        <a:rPr lang="ko-KR" altLang="en-US" sz="1200" kern="1200" dirty="0" err="1"/>
                        <a:t>지정국의</a:t>
                      </a:r>
                      <a:r>
                        <a:rPr lang="ko-KR" altLang="en-US" sz="1200" kern="1200" dirty="0"/>
                        <a:t> 선택을 구성</a:t>
                      </a:r>
                      <a:endParaRPr lang="ko-KR" altLang="en-US" sz="1200" kern="1200" dirty="0">
                        <a:solidFill>
                          <a:schemeClr val="tx1"/>
                        </a:solidFill>
                        <a:latin typeface="+mn-lt"/>
                        <a:ea typeface="+mn-ea"/>
                        <a:cs typeface="+mn-cs"/>
                      </a:endParaRPr>
                    </a:p>
                  </a:txBody>
                  <a:tcPr marL="14605" marR="14605" marT="14605" marB="14605" anchor="ctr"/>
                </a:tc>
                <a:extLst>
                  <a:ext uri="{0D108BD9-81ED-4DB2-BD59-A6C34878D82A}">
                    <a16:rowId xmlns:a16="http://schemas.microsoft.com/office/drawing/2014/main" val="790369581"/>
                  </a:ext>
                </a:extLst>
              </a:tr>
              <a:tr h="417027">
                <a:tc>
                  <a:txBody>
                    <a:bodyPr/>
                    <a:lstStyle/>
                    <a:p>
                      <a:pPr marL="0" marR="0" indent="0" algn="ctr" fontAlgn="base" latinLnBrk="0">
                        <a:lnSpc>
                          <a:spcPct val="120000"/>
                        </a:lnSpc>
                        <a:spcBef>
                          <a:spcPts val="0"/>
                        </a:spcBef>
                        <a:spcAft>
                          <a:spcPts val="0"/>
                        </a:spcAft>
                      </a:pPr>
                      <a:r>
                        <a:rPr lang="ko-KR" altLang="en-US" sz="1200" kern="1200"/>
                        <a:t>의견교환</a:t>
                      </a:r>
                      <a:endParaRPr lang="ko-KR" altLang="en-US" sz="1200" kern="120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불리한 보고서 작성 전에 </a:t>
                      </a:r>
                      <a:r>
                        <a:rPr lang="ko-KR" altLang="en-US" sz="1200" kern="1200" dirty="0" err="1"/>
                        <a:t>예고받을</a:t>
                      </a:r>
                      <a:r>
                        <a:rPr lang="ko-KR" altLang="en-US" sz="1200" kern="1200" dirty="0"/>
                        <a:t> 권리가 없으며 원칙적으로 국제조사기관과 </a:t>
                      </a:r>
                      <a:r>
                        <a:rPr lang="ko-KR" altLang="en-US" sz="1200" kern="1200" dirty="0" err="1"/>
                        <a:t>출원인간의</a:t>
                      </a:r>
                      <a:r>
                        <a:rPr lang="ko-KR" altLang="en-US" sz="1200" kern="1200" dirty="0"/>
                        <a:t> </a:t>
                      </a:r>
                      <a:r>
                        <a:rPr lang="ko-KR" altLang="en-US" sz="1200" kern="1200" dirty="0">
                          <a:highlight>
                            <a:srgbClr val="FFFF00"/>
                          </a:highlight>
                        </a:rPr>
                        <a:t>의견교환 </a:t>
                      </a:r>
                      <a:r>
                        <a:rPr lang="ko-KR" altLang="en-US" sz="1200" kern="1200" dirty="0" err="1">
                          <a:highlight>
                            <a:srgbClr val="FFFF00"/>
                          </a:highlight>
                        </a:rPr>
                        <a:t>불허용</a:t>
                      </a:r>
                      <a:endParaRPr lang="ko-KR" altLang="en-US" sz="1200" kern="1200" dirty="0">
                        <a:solidFill>
                          <a:schemeClr val="tx1"/>
                        </a:solidFill>
                        <a:highlight>
                          <a:srgbClr val="FFFF00"/>
                        </a:highlight>
                        <a:latin typeface="+mn-lt"/>
                        <a:ea typeface="+mn-ea"/>
                        <a:cs typeface="+mn-cs"/>
                      </a:endParaRPr>
                    </a:p>
                  </a:txBody>
                  <a:tcPr marL="14605" marR="14605" marT="14605" marB="14605" anchor="ctr"/>
                </a:tc>
                <a:tc>
                  <a:txBody>
                    <a:bodyPr/>
                    <a:lstStyle/>
                    <a:p>
                      <a:pPr marL="90488" marR="31750" indent="-90488" algn="l" fontAlgn="base" latinLnBrk="1">
                        <a:lnSpc>
                          <a:spcPct val="130000"/>
                        </a:lnSpc>
                        <a:spcBef>
                          <a:spcPts val="0"/>
                        </a:spcBef>
                        <a:spcAft>
                          <a:spcPts val="0"/>
                        </a:spcAft>
                      </a:pPr>
                      <a:r>
                        <a:rPr lang="ko-KR" altLang="en-US" sz="1200" kern="1200" dirty="0"/>
                        <a:t> ▪불리한 보고서 작성 전에 </a:t>
                      </a:r>
                      <a:r>
                        <a:rPr lang="ko-KR" altLang="en-US" sz="1200" kern="1200" dirty="0" err="1"/>
                        <a:t>예고받을</a:t>
                      </a:r>
                      <a:r>
                        <a:rPr lang="ko-KR" altLang="en-US" sz="1200" kern="1200" dirty="0"/>
                        <a:t> 권리</a:t>
                      </a:r>
                      <a:r>
                        <a:rPr lang="en-US" altLang="ko-KR" sz="1200" kern="1200" dirty="0"/>
                        <a:t>(</a:t>
                      </a:r>
                      <a:r>
                        <a:rPr lang="ko-KR" altLang="en-US" sz="1200" kern="1200" dirty="0"/>
                        <a:t>견해서 송부</a:t>
                      </a:r>
                      <a:r>
                        <a:rPr lang="en-US" altLang="ko-KR" sz="1200" kern="1200" dirty="0"/>
                        <a:t>)</a:t>
                      </a:r>
                      <a:r>
                        <a:rPr lang="ko-KR" altLang="en-US" sz="1200" kern="1200" dirty="0"/>
                        <a:t>있으며 국제예비심사기관과 </a:t>
                      </a:r>
                      <a:r>
                        <a:rPr lang="ko-KR" altLang="en-US" sz="1200" kern="1200" dirty="0" err="1"/>
                        <a:t>출원인간의</a:t>
                      </a:r>
                      <a:r>
                        <a:rPr lang="ko-KR" altLang="en-US" sz="1200" kern="1200" dirty="0"/>
                        <a:t> 구두 또는 서면에 의한 </a:t>
                      </a:r>
                      <a:r>
                        <a:rPr lang="ko-KR" altLang="en-US" sz="1200" kern="1200" dirty="0">
                          <a:highlight>
                            <a:srgbClr val="FFFF00"/>
                          </a:highlight>
                        </a:rPr>
                        <a:t>의견교환 허용</a:t>
                      </a:r>
                      <a:endParaRPr lang="ko-KR" altLang="en-US" sz="1200" kern="1200" dirty="0">
                        <a:solidFill>
                          <a:schemeClr val="tx1"/>
                        </a:solidFill>
                        <a:highlight>
                          <a:srgbClr val="FFFF00"/>
                        </a:highlight>
                        <a:latin typeface="+mn-lt"/>
                        <a:ea typeface="+mn-ea"/>
                        <a:cs typeface="+mn-cs"/>
                      </a:endParaRPr>
                    </a:p>
                  </a:txBody>
                  <a:tcPr marL="0" marR="14605" marT="14605" marB="14605" anchor="ctr"/>
                </a:tc>
                <a:extLst>
                  <a:ext uri="{0D108BD9-81ED-4DB2-BD59-A6C34878D82A}">
                    <a16:rowId xmlns:a16="http://schemas.microsoft.com/office/drawing/2014/main" val="3303866100"/>
                  </a:ext>
                </a:extLst>
              </a:tr>
              <a:tr h="417027">
                <a:tc>
                  <a:txBody>
                    <a:bodyPr/>
                    <a:lstStyle/>
                    <a:p>
                      <a:pPr marL="0" marR="0" indent="0" algn="ctr" fontAlgn="base" latinLnBrk="0">
                        <a:lnSpc>
                          <a:spcPct val="120000"/>
                        </a:lnSpc>
                        <a:spcBef>
                          <a:spcPts val="0"/>
                        </a:spcBef>
                        <a:spcAft>
                          <a:spcPts val="0"/>
                        </a:spcAft>
                      </a:pPr>
                      <a:r>
                        <a:rPr lang="ko-KR" altLang="en-US" sz="1200" kern="1200"/>
                        <a:t>보정의 범위</a:t>
                      </a:r>
                      <a:endParaRPr lang="ko-KR" altLang="en-US" sz="1200" kern="120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highlight>
                            <a:srgbClr val="FFFF00"/>
                          </a:highlight>
                        </a:rPr>
                        <a:t>▪ 국제조사 보고서를 </a:t>
                      </a:r>
                      <a:r>
                        <a:rPr lang="ko-KR" altLang="en-US" sz="1200" kern="1200" dirty="0" err="1">
                          <a:highlight>
                            <a:srgbClr val="FFFF00"/>
                          </a:highlight>
                        </a:rPr>
                        <a:t>송달받은</a:t>
                      </a:r>
                      <a:r>
                        <a:rPr lang="ko-KR" altLang="en-US" sz="1200" kern="1200" dirty="0">
                          <a:highlight>
                            <a:srgbClr val="FFFF00"/>
                          </a:highlight>
                        </a:rPr>
                        <a:t> 후 국제사무국에 대하여 </a:t>
                      </a:r>
                      <a:r>
                        <a:rPr lang="en-US" altLang="ko-KR" sz="1200" kern="1200" dirty="0">
                          <a:highlight>
                            <a:srgbClr val="FFFF00"/>
                          </a:highlight>
                        </a:rPr>
                        <a:t>1</a:t>
                      </a:r>
                      <a:r>
                        <a:rPr lang="ko-KR" altLang="en-US" sz="1200" kern="1200" dirty="0">
                          <a:highlight>
                            <a:srgbClr val="FFFF00"/>
                          </a:highlight>
                        </a:rPr>
                        <a:t>회에 한해 </a:t>
                      </a:r>
                      <a:r>
                        <a:rPr lang="ko-KR" altLang="en-US" sz="1200" kern="1200" dirty="0" err="1">
                          <a:highlight>
                            <a:srgbClr val="FFFF00"/>
                          </a:highlight>
                        </a:rPr>
                        <a:t>청구범위에</a:t>
                      </a:r>
                      <a:r>
                        <a:rPr lang="ko-KR" altLang="en-US" sz="1200" kern="1200" dirty="0">
                          <a:highlight>
                            <a:srgbClr val="FFFF00"/>
                          </a:highlight>
                        </a:rPr>
                        <a:t> 대하여 보정</a:t>
                      </a:r>
                      <a:r>
                        <a:rPr lang="en-US" altLang="ko-KR" sz="1200" kern="1200" dirty="0">
                          <a:highlight>
                            <a:srgbClr val="FFFF00"/>
                          </a:highlight>
                        </a:rPr>
                        <a:t>(PCT 19)</a:t>
                      </a:r>
                      <a:endParaRPr lang="ko-KR" altLang="en-US" sz="1200" kern="1200" dirty="0">
                        <a:highlight>
                          <a:srgbClr val="FFFF00"/>
                        </a:highlight>
                      </a:endParaRPr>
                    </a:p>
                    <a:p>
                      <a:pPr marL="91440" marR="31750" indent="-91440" algn="l" fontAlgn="base" latinLnBrk="1">
                        <a:lnSpc>
                          <a:spcPct val="130000"/>
                        </a:lnSpc>
                        <a:spcBef>
                          <a:spcPts val="0"/>
                        </a:spcBef>
                        <a:spcAft>
                          <a:spcPts val="0"/>
                        </a:spcAft>
                      </a:pPr>
                      <a:r>
                        <a:rPr lang="ko-KR" altLang="en-US" sz="1200" kern="1200" dirty="0"/>
                        <a:t>▪ 동시에 설명서 제출 가능</a:t>
                      </a:r>
                      <a:endParaRPr lang="ko-KR" altLang="en-US" sz="1200" kern="1200" dirty="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highlight>
                            <a:srgbClr val="FFFF00"/>
                          </a:highlight>
                        </a:rPr>
                        <a:t>▪ 국제예비심사 보고서가 작성 전까지 국제예비심사기관에 대하여 </a:t>
                      </a:r>
                      <a:r>
                        <a:rPr lang="ko-KR" altLang="en-US" sz="1200" kern="1200" dirty="0" err="1">
                          <a:highlight>
                            <a:srgbClr val="FFFF00"/>
                          </a:highlight>
                        </a:rPr>
                        <a:t>청구범위</a:t>
                      </a:r>
                      <a:r>
                        <a:rPr lang="en-US" altLang="ko-KR" sz="1200" kern="1200" dirty="0">
                          <a:highlight>
                            <a:srgbClr val="FFFF00"/>
                          </a:highlight>
                        </a:rPr>
                        <a:t>, </a:t>
                      </a:r>
                      <a:r>
                        <a:rPr lang="ko-KR" altLang="en-US" sz="1200" kern="1200" dirty="0">
                          <a:highlight>
                            <a:srgbClr val="FFFF00"/>
                          </a:highlight>
                        </a:rPr>
                        <a:t>발명의 설명 및 도면에 대하여 횟수의 제한없이 보정</a:t>
                      </a:r>
                      <a:r>
                        <a:rPr lang="en-US" altLang="ko-KR" sz="1200" kern="1200" dirty="0">
                          <a:highlight>
                            <a:srgbClr val="FFFF00"/>
                          </a:highlight>
                        </a:rPr>
                        <a:t>(PCT 34)</a:t>
                      </a:r>
                      <a:endParaRPr lang="ko-KR" altLang="en-US" sz="1200" kern="1200" dirty="0">
                        <a:solidFill>
                          <a:schemeClr val="tx1"/>
                        </a:solidFill>
                        <a:highlight>
                          <a:srgbClr val="FFFF00"/>
                        </a:highlight>
                        <a:latin typeface="+mn-lt"/>
                        <a:ea typeface="+mn-ea"/>
                        <a:cs typeface="+mn-cs"/>
                      </a:endParaRPr>
                    </a:p>
                  </a:txBody>
                  <a:tcPr marL="14605" marR="14605" marT="14605" marB="14605" anchor="ctr"/>
                </a:tc>
                <a:extLst>
                  <a:ext uri="{0D108BD9-81ED-4DB2-BD59-A6C34878D82A}">
                    <a16:rowId xmlns:a16="http://schemas.microsoft.com/office/drawing/2014/main" val="2125738142"/>
                  </a:ext>
                </a:extLst>
              </a:tr>
              <a:tr h="758232">
                <a:tc>
                  <a:txBody>
                    <a:bodyPr/>
                    <a:lstStyle/>
                    <a:p>
                      <a:pPr marL="0" marR="0" indent="0" algn="ctr" fontAlgn="base" latinLnBrk="0">
                        <a:lnSpc>
                          <a:spcPct val="120000"/>
                        </a:lnSpc>
                        <a:spcBef>
                          <a:spcPts val="0"/>
                        </a:spcBef>
                        <a:spcAft>
                          <a:spcPts val="0"/>
                        </a:spcAft>
                      </a:pPr>
                      <a:r>
                        <a:rPr lang="ko-KR" altLang="en-US" sz="1200" kern="1200"/>
                        <a:t>발명의 단일성 </a:t>
                      </a:r>
                      <a:endParaRPr lang="ko-KR" altLang="en-US" sz="1200" kern="120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추가수수료의 납부를 요구</a:t>
                      </a:r>
                    </a:p>
                    <a:p>
                      <a:pPr marL="91440" marR="31750" indent="-91440" algn="l" fontAlgn="base" latinLnBrk="1">
                        <a:lnSpc>
                          <a:spcPct val="130000"/>
                        </a:lnSpc>
                        <a:spcBef>
                          <a:spcPts val="0"/>
                        </a:spcBef>
                        <a:spcAft>
                          <a:spcPts val="0"/>
                        </a:spcAft>
                      </a:pPr>
                      <a:r>
                        <a:rPr lang="ko-KR" altLang="en-US" sz="1200" kern="1200" dirty="0"/>
                        <a:t>▪ </a:t>
                      </a:r>
                      <a:r>
                        <a:rPr lang="ko-KR" altLang="en-US" sz="1200" kern="1200" dirty="0" err="1"/>
                        <a:t>주발명에</a:t>
                      </a:r>
                      <a:r>
                        <a:rPr lang="ko-KR" altLang="en-US" sz="1200" kern="1200" dirty="0"/>
                        <a:t> 관계되는 국제출원 부분과 추가수수료가 소정의 기간에 지불된 발명에 관계되는 국제출원 부분에 관하여 국제조사보고서를 작성</a:t>
                      </a:r>
                      <a:endParaRPr lang="ko-KR" altLang="en-US" sz="1200" kern="1200" dirty="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a:t>
                      </a:r>
                      <a:r>
                        <a:rPr lang="ko-KR" altLang="en-US" sz="1200" kern="1200" dirty="0" err="1"/>
                        <a:t>출원인에게</a:t>
                      </a:r>
                      <a:r>
                        <a:rPr lang="ko-KR" altLang="en-US" sz="1200" kern="1200" dirty="0"/>
                        <a:t> 그의 선택에 따라 요건을 충족하도록 </a:t>
                      </a:r>
                      <a:r>
                        <a:rPr lang="ko-KR" altLang="en-US" sz="1200" kern="1200" dirty="0">
                          <a:highlight>
                            <a:srgbClr val="FFFF00"/>
                          </a:highlight>
                        </a:rPr>
                        <a:t>청구범위를 제한</a:t>
                      </a:r>
                      <a:r>
                        <a:rPr lang="ko-KR" altLang="en-US" sz="1200" kern="1200" dirty="0"/>
                        <a:t>하거나 추가수수료를 낼 것을 요구 </a:t>
                      </a:r>
                    </a:p>
                    <a:p>
                      <a:pPr marL="91440" marR="31750" indent="-91440" algn="l" fontAlgn="base" latinLnBrk="1">
                        <a:lnSpc>
                          <a:spcPct val="130000"/>
                        </a:lnSpc>
                        <a:spcBef>
                          <a:spcPts val="0"/>
                        </a:spcBef>
                        <a:spcAft>
                          <a:spcPts val="0"/>
                        </a:spcAft>
                      </a:pPr>
                      <a:r>
                        <a:rPr lang="ko-KR" altLang="en-US" sz="1200" kern="1200" dirty="0"/>
                        <a:t>▪ </a:t>
                      </a:r>
                      <a:r>
                        <a:rPr lang="ko-KR" altLang="en-US" sz="1200" kern="1200" dirty="0" err="1"/>
                        <a:t>주발명에</a:t>
                      </a:r>
                      <a:r>
                        <a:rPr lang="ko-KR" altLang="en-US" sz="1200" kern="1200" dirty="0"/>
                        <a:t> 관계되는 국제출원 부분과 추가수수료가 소정의 기간에 지불된 발명에 관계되는 국제출원 부분에 관하여 국제예비심사보고서를 작성</a:t>
                      </a:r>
                      <a:endParaRPr lang="ko-KR" altLang="en-US" sz="1200" kern="1200" dirty="0">
                        <a:solidFill>
                          <a:schemeClr val="tx1"/>
                        </a:solidFill>
                        <a:latin typeface="+mn-lt"/>
                        <a:ea typeface="+mn-ea"/>
                        <a:cs typeface="+mn-cs"/>
                      </a:endParaRPr>
                    </a:p>
                  </a:txBody>
                  <a:tcPr marL="14605" marR="14605" marT="14605" marB="14605" anchor="ctr"/>
                </a:tc>
                <a:extLst>
                  <a:ext uri="{0D108BD9-81ED-4DB2-BD59-A6C34878D82A}">
                    <a16:rowId xmlns:a16="http://schemas.microsoft.com/office/drawing/2014/main" val="102298458"/>
                  </a:ext>
                </a:extLst>
              </a:tr>
              <a:tr h="327324">
                <a:tc>
                  <a:txBody>
                    <a:bodyPr/>
                    <a:lstStyle/>
                    <a:p>
                      <a:pPr marL="0" marR="0" indent="0" algn="ctr" fontAlgn="base" latinLnBrk="0">
                        <a:lnSpc>
                          <a:spcPct val="120000"/>
                        </a:lnSpc>
                        <a:spcBef>
                          <a:spcPts val="0"/>
                        </a:spcBef>
                        <a:spcAft>
                          <a:spcPts val="0"/>
                        </a:spcAft>
                      </a:pPr>
                      <a:r>
                        <a:rPr lang="ko-KR" altLang="en-US" sz="1200" kern="1200"/>
                        <a:t>공개여부</a:t>
                      </a:r>
                      <a:endParaRPr lang="ko-KR" altLang="en-US" sz="1200" kern="1200">
                        <a:solidFill>
                          <a:schemeClr val="tx1"/>
                        </a:solidFill>
                        <a:latin typeface="+mn-lt"/>
                        <a:ea typeface="+mn-ea"/>
                        <a:cs typeface="+mn-cs"/>
                      </a:endParaRPr>
                    </a:p>
                  </a:txBody>
                  <a:tcPr marL="14502" marR="14502" marT="14502" marB="14502" anchor="ctr"/>
                </a:tc>
                <a:tc>
                  <a:txBody>
                    <a:bodyPr/>
                    <a:lstStyle/>
                    <a:p>
                      <a:pPr marL="91440" marR="31750" indent="-91440" algn="l" fontAlgn="base" latinLnBrk="1">
                        <a:lnSpc>
                          <a:spcPct val="130000"/>
                        </a:lnSpc>
                        <a:spcBef>
                          <a:spcPts val="0"/>
                        </a:spcBef>
                        <a:spcAft>
                          <a:spcPts val="0"/>
                        </a:spcAft>
                      </a:pPr>
                      <a:r>
                        <a:rPr lang="ko-KR" altLang="en-US" sz="1200" kern="1200" dirty="0"/>
                        <a:t>▪ 국제조사보고서와 견해서는 </a:t>
                      </a:r>
                      <a:r>
                        <a:rPr lang="ko-KR" altLang="en-US" sz="1200" kern="1200" dirty="0" err="1"/>
                        <a:t>국제출원의</a:t>
                      </a:r>
                      <a:r>
                        <a:rPr lang="ko-KR" altLang="en-US" sz="1200" kern="1200" dirty="0"/>
                        <a:t> </a:t>
                      </a:r>
                      <a:r>
                        <a:rPr lang="ko-KR" altLang="en-US" sz="1200" kern="1200" dirty="0" err="1"/>
                        <a:t>공개시에</a:t>
                      </a:r>
                      <a:r>
                        <a:rPr lang="ko-KR" altLang="en-US" sz="1200" kern="1200" dirty="0"/>
                        <a:t> </a:t>
                      </a:r>
                      <a:r>
                        <a:rPr lang="ko-KR" altLang="en-US" sz="1200" kern="1200" dirty="0">
                          <a:highlight>
                            <a:srgbClr val="FFFF00"/>
                          </a:highlight>
                        </a:rPr>
                        <a:t>전자적 형태로 공개</a:t>
                      </a:r>
                      <a:endParaRPr lang="ko-KR" altLang="en-US" sz="1200" kern="1200" dirty="0">
                        <a:solidFill>
                          <a:schemeClr val="tx1"/>
                        </a:solidFill>
                        <a:highlight>
                          <a:srgbClr val="FFFF00"/>
                        </a:highlight>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국제예비심사보고서는 </a:t>
                      </a:r>
                      <a:r>
                        <a:rPr lang="ko-KR" altLang="en-US" sz="1200" kern="1200" dirty="0">
                          <a:highlight>
                            <a:srgbClr val="FFFF00"/>
                          </a:highlight>
                        </a:rPr>
                        <a:t>비공개</a:t>
                      </a:r>
                      <a:r>
                        <a:rPr lang="en-US" altLang="ko-KR" sz="1200" kern="1200" dirty="0"/>
                        <a:t>(</a:t>
                      </a:r>
                      <a:r>
                        <a:rPr lang="ko-KR" altLang="en-US" sz="1200" kern="1200" dirty="0" err="1"/>
                        <a:t>선택관청은</a:t>
                      </a:r>
                      <a:r>
                        <a:rPr lang="ko-KR" altLang="en-US" sz="1200" kern="1200" dirty="0"/>
                        <a:t> 제외</a:t>
                      </a:r>
                      <a:r>
                        <a:rPr lang="en-US" altLang="ko-KR" sz="1200" kern="1200" dirty="0"/>
                        <a:t>)</a:t>
                      </a:r>
                      <a:endParaRPr lang="ko-KR" altLang="en-US" sz="1200" kern="1200" dirty="0">
                        <a:solidFill>
                          <a:schemeClr val="tx1"/>
                        </a:solidFill>
                        <a:latin typeface="+mn-lt"/>
                        <a:ea typeface="+mn-ea"/>
                        <a:cs typeface="+mn-cs"/>
                      </a:endParaRPr>
                    </a:p>
                  </a:txBody>
                  <a:tcPr marL="14605" marR="14605" marT="14605" marB="14605" anchor="ctr"/>
                </a:tc>
                <a:extLst>
                  <a:ext uri="{0D108BD9-81ED-4DB2-BD59-A6C34878D82A}">
                    <a16:rowId xmlns:a16="http://schemas.microsoft.com/office/drawing/2014/main" val="1524572152"/>
                  </a:ext>
                </a:extLst>
              </a:tr>
              <a:tr h="287755">
                <a:tc>
                  <a:txBody>
                    <a:bodyPr/>
                    <a:lstStyle/>
                    <a:p>
                      <a:pPr marL="0" marR="0" indent="0" algn="ctr" fontAlgn="base" latinLnBrk="0">
                        <a:lnSpc>
                          <a:spcPct val="120000"/>
                        </a:lnSpc>
                        <a:spcBef>
                          <a:spcPts val="0"/>
                        </a:spcBef>
                        <a:spcAft>
                          <a:spcPts val="0"/>
                        </a:spcAft>
                      </a:pPr>
                      <a:r>
                        <a:rPr lang="ko-KR" altLang="en-US" sz="1200" kern="1200"/>
                        <a:t>종료형식</a:t>
                      </a:r>
                      <a:endParaRPr lang="ko-KR" altLang="en-US" sz="1200" kern="120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국제조사보고서의 작성 또는 국제조사보고서를 작성하지 아니한다는 선언 </a:t>
                      </a:r>
                      <a:r>
                        <a:rPr lang="en-US" altLang="ko-KR" sz="1200" kern="1200" dirty="0"/>
                        <a:t>/ </a:t>
                      </a:r>
                      <a:r>
                        <a:rPr lang="ko-KR" altLang="en-US" sz="1200" kern="1200" dirty="0" err="1"/>
                        <a:t>견해서의</a:t>
                      </a:r>
                      <a:r>
                        <a:rPr lang="ko-KR" altLang="en-US" sz="1200" kern="1200" dirty="0"/>
                        <a:t> 작성</a:t>
                      </a:r>
                      <a:endParaRPr lang="ko-KR" altLang="en-US" sz="1200" kern="1200" dirty="0">
                        <a:solidFill>
                          <a:schemeClr val="tx1"/>
                        </a:solidFill>
                        <a:latin typeface="+mn-lt"/>
                        <a:ea typeface="+mn-ea"/>
                        <a:cs typeface="+mn-cs"/>
                      </a:endParaRPr>
                    </a:p>
                  </a:txBody>
                  <a:tcPr marL="14605" marR="14605" marT="14605" marB="14605" anchor="ctr"/>
                </a:tc>
                <a:tc>
                  <a:txBody>
                    <a:bodyPr/>
                    <a:lstStyle/>
                    <a:p>
                      <a:pPr marL="91440" marR="31750" indent="-91440" algn="l" fontAlgn="base" latinLnBrk="1">
                        <a:lnSpc>
                          <a:spcPct val="130000"/>
                        </a:lnSpc>
                        <a:spcBef>
                          <a:spcPts val="0"/>
                        </a:spcBef>
                        <a:spcAft>
                          <a:spcPts val="0"/>
                        </a:spcAft>
                      </a:pPr>
                      <a:r>
                        <a:rPr lang="ko-KR" altLang="en-US" sz="1200" kern="1200" dirty="0"/>
                        <a:t>▪ 국제예비심사보고서의 작성 </a:t>
                      </a:r>
                      <a:endParaRPr lang="ko-KR" altLang="en-US" sz="1200" kern="1200" dirty="0">
                        <a:solidFill>
                          <a:schemeClr val="tx1"/>
                        </a:solidFill>
                        <a:latin typeface="+mn-lt"/>
                        <a:ea typeface="+mn-ea"/>
                        <a:cs typeface="+mn-cs"/>
                      </a:endParaRPr>
                    </a:p>
                  </a:txBody>
                  <a:tcPr marL="14605" marR="14605" marT="14605" marB="14605" anchor="ctr"/>
                </a:tc>
                <a:extLst>
                  <a:ext uri="{0D108BD9-81ED-4DB2-BD59-A6C34878D82A}">
                    <a16:rowId xmlns:a16="http://schemas.microsoft.com/office/drawing/2014/main" val="4287133499"/>
                  </a:ext>
                </a:extLst>
              </a:tr>
            </a:tbl>
          </a:graphicData>
        </a:graphic>
      </p:graphicFrame>
      <p:sp>
        <p:nvSpPr>
          <p:cNvPr id="9" name="제목 8"/>
          <p:cNvSpPr>
            <a:spLocks noGrp="1"/>
          </p:cNvSpPr>
          <p:nvPr>
            <p:ph type="title"/>
          </p:nvPr>
        </p:nvSpPr>
        <p:spPr/>
        <p:txBody>
          <a:bodyPr/>
          <a:lstStyle/>
          <a:p>
            <a:r>
              <a:rPr lang="ko-KR" altLang="en-US" dirty="0"/>
              <a:t>제</a:t>
            </a:r>
            <a:r>
              <a:rPr lang="en-US" altLang="ko-KR" dirty="0"/>
              <a:t>198</a:t>
            </a:r>
            <a:r>
              <a:rPr lang="ko-KR" altLang="en-US" dirty="0"/>
              <a:t>조의</a:t>
            </a:r>
            <a:r>
              <a:rPr lang="en-US" altLang="ko-KR" dirty="0"/>
              <a:t>2</a:t>
            </a:r>
            <a:endParaRPr lang="ko-KR" altLang="en-US" dirty="0"/>
          </a:p>
        </p:txBody>
      </p:sp>
      <p:sp>
        <p:nvSpPr>
          <p:cNvPr id="10" name="텍스트 개체 틀 9"/>
          <p:cNvSpPr>
            <a:spLocks noGrp="1"/>
          </p:cNvSpPr>
          <p:nvPr>
            <p:ph type="body" sz="quarter" idx="13"/>
          </p:nvPr>
        </p:nvSpPr>
        <p:spPr/>
        <p:txBody>
          <a:bodyPr/>
          <a:lstStyle/>
          <a:p>
            <a:r>
              <a:rPr lang="ko-KR" altLang="en-US" dirty="0" err="1"/>
              <a:t>국제조사와</a:t>
            </a:r>
            <a:r>
              <a:rPr lang="ko-KR" altLang="en-US" dirty="0"/>
              <a:t> 국제예비심사의 비교</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561</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748019435"/>
      </p:ext>
    </p:extLst>
  </p:cSld>
  <p:clrMapOvr>
    <a:masterClrMapping/>
  </p:clrMapOvr>
  <p:transition/>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제목 8"/>
          <p:cNvSpPr>
            <a:spLocks noGrp="1"/>
          </p:cNvSpPr>
          <p:nvPr>
            <p:ph type="title"/>
          </p:nvPr>
        </p:nvSpPr>
        <p:spPr/>
        <p:txBody>
          <a:bodyPr/>
          <a:lstStyle/>
          <a:p>
            <a:r>
              <a:rPr lang="ko-KR" altLang="en-US" dirty="0"/>
              <a:t>제</a:t>
            </a:r>
            <a:r>
              <a:rPr lang="en-US" altLang="ko-KR" dirty="0"/>
              <a:t>199</a:t>
            </a:r>
            <a:r>
              <a:rPr lang="ko-KR" altLang="en-US" dirty="0"/>
              <a:t>조</a:t>
            </a:r>
          </a:p>
        </p:txBody>
      </p:sp>
      <p:sp>
        <p:nvSpPr>
          <p:cNvPr id="10" name="텍스트 개체 틀 9"/>
          <p:cNvSpPr>
            <a:spLocks noGrp="1"/>
          </p:cNvSpPr>
          <p:nvPr>
            <p:ph type="body" sz="quarter" idx="13"/>
          </p:nvPr>
        </p:nvSpPr>
        <p:spPr/>
        <p:txBody>
          <a:bodyPr/>
          <a:lstStyle/>
          <a:p>
            <a:r>
              <a:rPr lang="ko-KR" altLang="en-US" dirty="0"/>
              <a:t>국제출원에 의한 특허출원</a:t>
            </a:r>
          </a:p>
        </p:txBody>
      </p:sp>
      <p:sp>
        <p:nvSpPr>
          <p:cNvPr id="6" name="TextBox 5"/>
          <p:cNvSpPr txBox="1"/>
          <p:nvPr/>
        </p:nvSpPr>
        <p:spPr>
          <a:xfrm>
            <a:off x="77875" y="976902"/>
            <a:ext cx="11936323" cy="738664"/>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199</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국제출원에 의한 특허출원</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「특허협력조약」에 따라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국제출원일이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인정된 국제출원으로서 특허를 받기 위하여 대한민국을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지정국으로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지정한 국제출원은 그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국제출원일에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출원된 특허출원으로 본다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②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특허출원으로 보는 국제출원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이하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국제특허출원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관하여는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조의</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조의</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및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54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조를 적용하지 아니한다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cxnSp>
        <p:nvCxnSpPr>
          <p:cNvPr id="43" name="직선 연결선 42"/>
          <p:cNvCxnSpPr/>
          <p:nvPr/>
        </p:nvCxnSpPr>
        <p:spPr>
          <a:xfrm>
            <a:off x="77875" y="174490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Rectangle 14"/>
          <p:cNvSpPr>
            <a:spLocks noChangeArrowheads="1"/>
          </p:cNvSpPr>
          <p:nvPr/>
        </p:nvSpPr>
        <p:spPr bwMode="auto">
          <a:xfrm>
            <a:off x="734419" y="3511854"/>
            <a:ext cx="1297582" cy="871885"/>
          </a:xfrm>
          <a:prstGeom prst="rect">
            <a:avLst/>
          </a:prstGeom>
          <a:solidFill>
            <a:schemeClr val="accent1">
              <a:lumMod val="50000"/>
            </a:schemeClr>
          </a:solidFill>
          <a:ln w="2857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Rix모던고딕 EB"/>
                <a:ea typeface="Rix모던고딕 EB"/>
                <a:cs typeface="+mn-cs"/>
              </a:rPr>
              <a:t>제</a:t>
            </a:r>
            <a:r>
              <a:rPr kumimoji="0" lang="en-US" altLang="ko-KR" sz="1800" b="0" i="0" u="none" strike="noStrike" kern="1200" cap="none" spc="0" normalizeH="0" baseline="0" noProof="0" dirty="0">
                <a:ln>
                  <a:noFill/>
                </a:ln>
                <a:solidFill>
                  <a:prstClr val="white"/>
                </a:solidFill>
                <a:effectLst/>
                <a:uLnTx/>
                <a:uFillTx/>
                <a:latin typeface="Rix모던고딕 EB"/>
                <a:ea typeface="Rix모던고딕 EB"/>
                <a:cs typeface="+mn-cs"/>
              </a:rPr>
              <a:t>199</a:t>
            </a:r>
            <a:r>
              <a:rPr kumimoji="0" lang="ko-KR" altLang="en-US" sz="1800" b="0" i="0" u="none" strike="noStrike" kern="1200" cap="none" spc="0" normalizeH="0" baseline="0" noProof="0" dirty="0">
                <a:ln>
                  <a:noFill/>
                </a:ln>
                <a:solidFill>
                  <a:prstClr val="white"/>
                </a:solidFill>
                <a:effectLst/>
                <a:uLnTx/>
                <a:uFillTx/>
                <a:latin typeface="Rix모던고딕 EB"/>
                <a:ea typeface="Rix모던고딕 EB"/>
                <a:cs typeface="+mn-cs"/>
              </a:rPr>
              <a:t>조</a:t>
            </a:r>
            <a:endParaRPr kumimoji="0" lang="en-US" altLang="ko-KR" sz="1800" b="0" i="0" u="none" strike="noStrike" kern="1200" cap="none" spc="0" normalizeH="0" baseline="0" noProof="0" dirty="0">
              <a:ln>
                <a:noFill/>
              </a:ln>
              <a:solidFill>
                <a:prstClr val="white"/>
              </a:solidFill>
              <a:effectLst/>
              <a:uLnTx/>
              <a:uFillTx/>
              <a:latin typeface="Rix모던고딕 EB"/>
              <a:ea typeface="Rix모던고딕 E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Rix모던고딕 EB"/>
                <a:ea typeface="Rix모던고딕 EB"/>
                <a:cs typeface="+mn-cs"/>
              </a:rPr>
              <a:t>제</a:t>
            </a:r>
            <a:r>
              <a:rPr kumimoji="0" lang="en-US" altLang="ko-KR" sz="1800" b="0" i="0" u="none" strike="noStrike" kern="1200" cap="none" spc="0" normalizeH="0" baseline="0" noProof="0" dirty="0">
                <a:ln>
                  <a:noFill/>
                </a:ln>
                <a:solidFill>
                  <a:prstClr val="white"/>
                </a:solidFill>
                <a:effectLst/>
                <a:uLnTx/>
                <a:uFillTx/>
                <a:latin typeface="Rix모던고딕 EB"/>
                <a:ea typeface="Rix모던고딕 EB"/>
                <a:cs typeface="+mn-cs"/>
              </a:rPr>
              <a:t>2</a:t>
            </a:r>
            <a:r>
              <a:rPr kumimoji="0" lang="ko-KR" altLang="en-US" sz="1800" b="0" i="0" u="none" strike="noStrike" kern="1200" cap="none" spc="0" normalizeH="0" baseline="0" noProof="0" dirty="0">
                <a:ln>
                  <a:noFill/>
                </a:ln>
                <a:solidFill>
                  <a:prstClr val="white"/>
                </a:solidFill>
                <a:effectLst/>
                <a:uLnTx/>
                <a:uFillTx/>
                <a:latin typeface="Rix모던고딕 EB"/>
                <a:ea typeface="Rix모던고딕 EB"/>
                <a:cs typeface="+mn-cs"/>
              </a:rPr>
              <a:t>항</a:t>
            </a:r>
          </a:p>
        </p:txBody>
      </p:sp>
      <p:grpSp>
        <p:nvGrpSpPr>
          <p:cNvPr id="12" name="그룹 11"/>
          <p:cNvGrpSpPr/>
          <p:nvPr/>
        </p:nvGrpSpPr>
        <p:grpSpPr>
          <a:xfrm>
            <a:off x="2503553" y="2617724"/>
            <a:ext cx="3283301" cy="2665476"/>
            <a:chOff x="2503553" y="3065018"/>
            <a:chExt cx="3283301" cy="1770888"/>
          </a:xfrm>
        </p:grpSpPr>
        <p:sp>
          <p:nvSpPr>
            <p:cNvPr id="54" name="Rectangle 14"/>
            <p:cNvSpPr>
              <a:spLocks noChangeArrowheads="1"/>
            </p:cNvSpPr>
            <p:nvPr/>
          </p:nvSpPr>
          <p:spPr bwMode="auto">
            <a:xfrm>
              <a:off x="2503554" y="3065018"/>
              <a:ext cx="3274946" cy="36118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제</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42</a:t>
              </a: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조의</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2(</a:t>
              </a: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청구범위제출유예</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a:t>
              </a:r>
              <a:endPar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55" name="Rectangle 14"/>
            <p:cNvSpPr>
              <a:spLocks noChangeArrowheads="1"/>
            </p:cNvSpPr>
            <p:nvPr/>
          </p:nvSpPr>
          <p:spPr bwMode="auto">
            <a:xfrm>
              <a:off x="2503553" y="3769125"/>
              <a:ext cx="3283301" cy="358375"/>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제</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42</a:t>
              </a: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조의</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3(</a:t>
              </a: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외국어특허출원</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a:t>
              </a:r>
            </a:p>
          </p:txBody>
        </p:sp>
        <p:sp>
          <p:nvSpPr>
            <p:cNvPr id="57" name="Rectangle 14"/>
            <p:cNvSpPr>
              <a:spLocks noChangeArrowheads="1"/>
            </p:cNvSpPr>
            <p:nvPr/>
          </p:nvSpPr>
          <p:spPr bwMode="auto">
            <a:xfrm>
              <a:off x="2503554" y="4474718"/>
              <a:ext cx="3274946" cy="361188"/>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squar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제</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54</a:t>
              </a: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조</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a:t>
              </a: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조약우선권주장출원</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a:t>
              </a:r>
              <a:endPar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grpSp>
      <p:cxnSp>
        <p:nvCxnSpPr>
          <p:cNvPr id="3" name="꺾인 연결선 2"/>
          <p:cNvCxnSpPr>
            <a:stCxn id="49" idx="3"/>
            <a:endCxn id="54" idx="1"/>
          </p:cNvCxnSpPr>
          <p:nvPr/>
        </p:nvCxnSpPr>
        <p:spPr>
          <a:xfrm flipV="1">
            <a:off x="2032001" y="2889548"/>
            <a:ext cx="471553" cy="105824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 name="꺾인 연결선 4"/>
          <p:cNvCxnSpPr>
            <a:stCxn id="49" idx="3"/>
            <a:endCxn id="57" idx="1"/>
          </p:cNvCxnSpPr>
          <p:nvPr/>
        </p:nvCxnSpPr>
        <p:spPr>
          <a:xfrm>
            <a:off x="2032001" y="3947797"/>
            <a:ext cx="471553" cy="106358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꺾인 연결선 10"/>
          <p:cNvCxnSpPr>
            <a:stCxn id="49" idx="3"/>
            <a:endCxn id="55" idx="1"/>
          </p:cNvCxnSpPr>
          <p:nvPr/>
        </p:nvCxnSpPr>
        <p:spPr>
          <a:xfrm flipV="1">
            <a:off x="2032001" y="3947227"/>
            <a:ext cx="471552" cy="57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0" name="Rectangle 14"/>
          <p:cNvSpPr>
            <a:spLocks noChangeArrowheads="1"/>
          </p:cNvSpPr>
          <p:nvPr/>
        </p:nvSpPr>
        <p:spPr bwMode="auto">
          <a:xfrm>
            <a:off x="5875754" y="2617724"/>
            <a:ext cx="5287545" cy="543647"/>
          </a:xfrm>
          <a:prstGeom prst="rect">
            <a:avLst/>
          </a:prstGeom>
          <a:noFill/>
          <a:ln w="9525" algn="ctr">
            <a:noFill/>
            <a:miter lim="800000"/>
            <a:headEnd/>
            <a:tailEnd/>
          </a:ln>
        </p:spPr>
        <p:txBody>
          <a:bodyPr wrap="square"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국제특허출원은 출원할 때 청구범위를 적지 아니하면 보완사유</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194</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①각호</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에 해당</a:t>
            </a:r>
          </a:p>
        </p:txBody>
      </p:sp>
      <p:sp>
        <p:nvSpPr>
          <p:cNvPr id="41" name="Rectangle 14"/>
          <p:cNvSpPr>
            <a:spLocks noChangeArrowheads="1"/>
          </p:cNvSpPr>
          <p:nvPr/>
        </p:nvSpPr>
        <p:spPr bwMode="auto">
          <a:xfrm>
            <a:off x="5875754" y="3677520"/>
            <a:ext cx="5301035" cy="539413"/>
          </a:xfrm>
          <a:prstGeom prst="rect">
            <a:avLst/>
          </a:prstGeom>
          <a:noFill/>
          <a:ln w="9525" algn="ctr">
            <a:noFill/>
            <a:miter lim="800000"/>
            <a:headEnd/>
            <a:tailEnd/>
          </a:ln>
        </p:spPr>
        <p:txBody>
          <a:bodyPr wrap="square"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외국어국제특허출원은 국어번역문 제출과 관련하여 </a:t>
            </a:r>
            <a:endPar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rPr>
              <a:t>조에서 별도로 규정</a:t>
            </a:r>
          </a:p>
        </p:txBody>
      </p:sp>
      <p:sp>
        <p:nvSpPr>
          <p:cNvPr id="42" name="Rectangle 14"/>
          <p:cNvSpPr>
            <a:spLocks noChangeArrowheads="1"/>
          </p:cNvSpPr>
          <p:nvPr/>
        </p:nvSpPr>
        <p:spPr bwMode="auto">
          <a:xfrm>
            <a:off x="5875754" y="4739553"/>
            <a:ext cx="5287545" cy="543647"/>
          </a:xfrm>
          <a:prstGeom prst="rect">
            <a:avLst/>
          </a:prstGeom>
          <a:noFill/>
          <a:ln w="9525" algn="ctr">
            <a:noFill/>
            <a:miter lim="800000"/>
            <a:headEnd/>
            <a:tailEnd/>
          </a:ln>
        </p:spPr>
        <p:txBody>
          <a:bodyPr wrap="square"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PCT </a:t>
            </a: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제</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8</a:t>
            </a: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조</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(1)</a:t>
            </a: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과 제</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8</a:t>
            </a: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조</a:t>
            </a:r>
            <a:r>
              <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rPr>
              <a:t>(2)(a)</a:t>
            </a: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에 의함</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562</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814743546"/>
      </p:ext>
    </p:extLst>
  </p:cSld>
  <p:clrMapOvr>
    <a:masterClrMapping/>
  </p:clrMapOvr>
  <p:transition/>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제목 8"/>
          <p:cNvSpPr>
            <a:spLocks noGrp="1"/>
          </p:cNvSpPr>
          <p:nvPr>
            <p:ph type="title"/>
          </p:nvPr>
        </p:nvSpPr>
        <p:spPr/>
        <p:txBody>
          <a:bodyPr/>
          <a:lstStyle/>
          <a:p>
            <a:r>
              <a:rPr lang="ko-KR" altLang="en-US" dirty="0"/>
              <a:t>제</a:t>
            </a:r>
            <a:r>
              <a:rPr lang="en-US" altLang="ko-KR" dirty="0"/>
              <a:t>200</a:t>
            </a:r>
            <a:r>
              <a:rPr lang="ko-KR" altLang="en-US" dirty="0"/>
              <a:t>조의</a:t>
            </a:r>
            <a:r>
              <a:rPr lang="en-US" altLang="ko-KR" dirty="0"/>
              <a:t>2</a:t>
            </a:r>
            <a:endParaRPr lang="ko-KR" altLang="en-US" dirty="0"/>
          </a:p>
        </p:txBody>
      </p:sp>
      <p:sp>
        <p:nvSpPr>
          <p:cNvPr id="10" name="텍스트 개체 틀 9"/>
          <p:cNvSpPr>
            <a:spLocks noGrp="1"/>
          </p:cNvSpPr>
          <p:nvPr>
            <p:ph type="body" sz="quarter" idx="13"/>
          </p:nvPr>
        </p:nvSpPr>
        <p:spPr/>
        <p:txBody>
          <a:bodyPr/>
          <a:lstStyle/>
          <a:p>
            <a:r>
              <a:rPr lang="ko-KR" altLang="en-US" dirty="0"/>
              <a:t>국제특허출원의 출원서 등</a:t>
            </a:r>
          </a:p>
        </p:txBody>
      </p:sp>
      <p:sp>
        <p:nvSpPr>
          <p:cNvPr id="6" name="TextBox 5"/>
          <p:cNvSpPr txBox="1"/>
          <p:nvPr/>
        </p:nvSpPr>
        <p:spPr>
          <a:xfrm>
            <a:off x="77875" y="976902"/>
            <a:ext cx="11936323" cy="1384995"/>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200</a:t>
            </a: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조의</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2(</a:t>
            </a: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국제특허출원의 출원서 등</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국제출원일까지</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제출된 출원서는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따라 제출된 특허출원서로 본다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②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국제출원일까지</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제출된 발명의 설명</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청구범위 및 도면은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따른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특허출원서에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최초로 첨부된 명세서 및 도면으로 본다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국제특허출원에 대해서는 다음 각 호의 구분에 따른 요약서 또는 국어번역문을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따른 요약서로 본다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요약서를</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국어로 적은 경우</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국제특허출원의 요약서</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요약서를</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외국어로 적은 경우</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201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따라 제출된 국제특허출원의 요약서의 국어번역문</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201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본문에 따라 새로운 국어번역문을 제출한 경우에는 마지막에 제출한 국제특허출원의 요약서의 국어번역문을 말한다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p:txBody>
      </p:sp>
      <p:cxnSp>
        <p:nvCxnSpPr>
          <p:cNvPr id="20" name="직선 화살표 연결선 19"/>
          <p:cNvCxnSpPr/>
          <p:nvPr/>
        </p:nvCxnSpPr>
        <p:spPr>
          <a:xfrm>
            <a:off x="4207339" y="2801325"/>
            <a:ext cx="3272961"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 name="Rectangle 14"/>
          <p:cNvSpPr>
            <a:spLocks noChangeArrowheads="1"/>
          </p:cNvSpPr>
          <p:nvPr/>
        </p:nvSpPr>
        <p:spPr bwMode="auto">
          <a:xfrm>
            <a:off x="5030854" y="2565762"/>
            <a:ext cx="1574619" cy="482406"/>
          </a:xfrm>
          <a:prstGeom prst="rect">
            <a:avLst/>
          </a:prstGeom>
          <a:solidFill>
            <a:schemeClr val="accent2"/>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a:ln>
                  <a:noFill/>
                </a:ln>
                <a:solidFill>
                  <a:prstClr val="white"/>
                </a:solidFill>
                <a:effectLst/>
                <a:uLnTx/>
                <a:uFillTx/>
                <a:latin typeface="Rix모던고딕 EB"/>
                <a:ea typeface="Rix모던고딕 EB"/>
                <a:cs typeface="+mn-cs"/>
              </a:rPr>
              <a:t>국제출원일</a:t>
            </a:r>
            <a:endParaRPr kumimoji="0" lang="ko-KR" altLang="en-US" sz="1800" b="0" i="0" u="none" strike="noStrike" kern="1200" cap="none" spc="0" normalizeH="0" baseline="0" noProof="0" dirty="0">
              <a:ln>
                <a:noFill/>
              </a:ln>
              <a:solidFill>
                <a:prstClr val="white"/>
              </a:solidFill>
              <a:effectLst/>
              <a:uLnTx/>
              <a:uFillTx/>
              <a:latin typeface="Rix모던고딕 EB"/>
              <a:ea typeface="Rix모던고딕 EB"/>
              <a:cs typeface="+mn-cs"/>
            </a:endParaRPr>
          </a:p>
        </p:txBody>
      </p:sp>
      <p:sp>
        <p:nvSpPr>
          <p:cNvPr id="28" name="Rectangle 14"/>
          <p:cNvSpPr>
            <a:spLocks noChangeArrowheads="1"/>
          </p:cNvSpPr>
          <p:nvPr/>
        </p:nvSpPr>
        <p:spPr bwMode="auto">
          <a:xfrm>
            <a:off x="5030854" y="3880974"/>
            <a:ext cx="1574619" cy="361188"/>
          </a:xfrm>
          <a:prstGeom prst="rect">
            <a:avLst/>
          </a:prstGeom>
          <a:noFill/>
          <a:ln w="9525" algn="ctr">
            <a:solidFill>
              <a:schemeClr val="bg1">
                <a:lumMod val="50000"/>
              </a:schemeClr>
            </a:solidFill>
            <a:miter lim="800000"/>
            <a:headEnd/>
            <a:tailEnd/>
          </a:ln>
        </p:spPr>
        <p:txBody>
          <a:bodyPr wrap="square"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출원서</a:t>
            </a:r>
          </a:p>
        </p:txBody>
      </p:sp>
      <p:sp>
        <p:nvSpPr>
          <p:cNvPr id="37" name="Rectangle 14"/>
          <p:cNvSpPr>
            <a:spLocks noChangeArrowheads="1"/>
          </p:cNvSpPr>
          <p:nvPr/>
        </p:nvSpPr>
        <p:spPr bwMode="auto">
          <a:xfrm>
            <a:off x="5030854" y="4343780"/>
            <a:ext cx="1578636" cy="914381"/>
          </a:xfrm>
          <a:prstGeom prst="rect">
            <a:avLst/>
          </a:prstGeom>
          <a:noFill/>
          <a:ln w="9525" algn="ctr">
            <a:solidFill>
              <a:schemeClr val="bg1">
                <a:lumMod val="50000"/>
              </a:schemeClr>
            </a:solidFill>
            <a:miter lim="800000"/>
            <a:headEnd/>
            <a:tailEnd/>
          </a:ln>
        </p:spPr>
        <p:txBody>
          <a:bodyPr wrap="square" anchor="t"/>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발명의 설명</a:t>
            </a:r>
            <a:endPar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청구범위</a:t>
            </a:r>
            <a:endPar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도면</a:t>
            </a:r>
            <a:endPar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cxnSp>
        <p:nvCxnSpPr>
          <p:cNvPr id="43" name="직선 연결선 42"/>
          <p:cNvCxnSpPr/>
          <p:nvPr/>
        </p:nvCxnSpPr>
        <p:spPr>
          <a:xfrm>
            <a:off x="77875" y="237883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Rectangle 14"/>
          <p:cNvSpPr>
            <a:spLocks noChangeArrowheads="1"/>
          </p:cNvSpPr>
          <p:nvPr/>
        </p:nvSpPr>
        <p:spPr bwMode="auto">
          <a:xfrm>
            <a:off x="5030854" y="3315062"/>
            <a:ext cx="1574619" cy="482406"/>
          </a:xfrm>
          <a:prstGeom prst="rect">
            <a:avLst/>
          </a:prstGeom>
          <a:solidFill>
            <a:schemeClr val="accent2">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44546A"/>
                </a:solidFill>
                <a:effectLst/>
                <a:uLnTx/>
                <a:uFillTx/>
                <a:latin typeface="Rix모던고딕 EB"/>
                <a:ea typeface="Rix모던고딕 EB"/>
                <a:cs typeface="+mn-cs"/>
              </a:rPr>
              <a:t>국제특허출원</a:t>
            </a:r>
          </a:p>
        </p:txBody>
      </p:sp>
      <p:cxnSp>
        <p:nvCxnSpPr>
          <p:cNvPr id="7" name="직선 화살표 연결선 6"/>
          <p:cNvCxnSpPr>
            <a:stCxn id="45" idx="0"/>
            <a:endCxn id="22" idx="2"/>
          </p:cNvCxnSpPr>
          <p:nvPr/>
        </p:nvCxnSpPr>
        <p:spPr>
          <a:xfrm flipV="1">
            <a:off x="5818164" y="3048168"/>
            <a:ext cx="0" cy="266894"/>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9" name="Rectangle 14"/>
          <p:cNvSpPr>
            <a:spLocks noChangeArrowheads="1"/>
          </p:cNvSpPr>
          <p:nvPr/>
        </p:nvSpPr>
        <p:spPr bwMode="auto">
          <a:xfrm>
            <a:off x="9882254" y="3315062"/>
            <a:ext cx="1574619" cy="482406"/>
          </a:xfrm>
          <a:prstGeom prst="rect">
            <a:avLst/>
          </a:prstGeom>
          <a:solidFill>
            <a:schemeClr val="accent1">
              <a:lumMod val="20000"/>
              <a:lumOff val="8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44546A"/>
                </a:solidFill>
                <a:effectLst/>
                <a:uLnTx/>
                <a:uFillTx/>
                <a:latin typeface="Rix모던고딕 EB"/>
                <a:ea typeface="Rix모던고딕 EB"/>
                <a:cs typeface="+mn-cs"/>
              </a:rPr>
              <a:t>국내출원</a:t>
            </a:r>
          </a:p>
        </p:txBody>
      </p:sp>
      <p:sp>
        <p:nvSpPr>
          <p:cNvPr id="53" name="Rectangle 14"/>
          <p:cNvSpPr>
            <a:spLocks noChangeArrowheads="1"/>
          </p:cNvSpPr>
          <p:nvPr/>
        </p:nvSpPr>
        <p:spPr bwMode="auto">
          <a:xfrm>
            <a:off x="5030854" y="5544674"/>
            <a:ext cx="1574619" cy="361188"/>
          </a:xfrm>
          <a:prstGeom prst="rect">
            <a:avLst/>
          </a:prstGeom>
          <a:noFill/>
          <a:ln w="9525" algn="ctr">
            <a:solidFill>
              <a:schemeClr val="bg1">
                <a:lumMod val="50000"/>
              </a:schemeClr>
            </a:solidFill>
            <a:miter lim="800000"/>
            <a:headEnd/>
            <a:tailEnd/>
          </a:ln>
        </p:spPr>
        <p:txBody>
          <a:bodyPr wrap="square"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요약서</a:t>
            </a:r>
          </a:p>
        </p:txBody>
      </p:sp>
      <p:sp>
        <p:nvSpPr>
          <p:cNvPr id="54" name="Rectangle 14"/>
          <p:cNvSpPr>
            <a:spLocks noChangeArrowheads="1"/>
          </p:cNvSpPr>
          <p:nvPr/>
        </p:nvSpPr>
        <p:spPr bwMode="auto">
          <a:xfrm>
            <a:off x="9878237" y="3880974"/>
            <a:ext cx="1574619" cy="361188"/>
          </a:xfrm>
          <a:prstGeom prst="rect">
            <a:avLst/>
          </a:prstGeom>
          <a:noFill/>
          <a:ln w="9525" algn="ctr">
            <a:solidFill>
              <a:schemeClr val="bg1">
                <a:lumMod val="50000"/>
              </a:schemeClr>
            </a:solidFill>
            <a:miter lim="800000"/>
            <a:headEnd/>
            <a:tailEnd/>
          </a:ln>
        </p:spPr>
        <p:txBody>
          <a:bodyPr wrap="square"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출원서</a:t>
            </a:r>
          </a:p>
        </p:txBody>
      </p:sp>
      <p:sp>
        <p:nvSpPr>
          <p:cNvPr id="55" name="Rectangle 14"/>
          <p:cNvSpPr>
            <a:spLocks noChangeArrowheads="1"/>
          </p:cNvSpPr>
          <p:nvPr/>
        </p:nvSpPr>
        <p:spPr bwMode="auto">
          <a:xfrm>
            <a:off x="9878237" y="4343781"/>
            <a:ext cx="1578636" cy="914380"/>
          </a:xfrm>
          <a:prstGeom prst="rect">
            <a:avLst/>
          </a:prstGeom>
          <a:noFill/>
          <a:ln w="9525" algn="ctr">
            <a:solidFill>
              <a:schemeClr val="bg1">
                <a:lumMod val="50000"/>
              </a:schemeClr>
            </a:solidFill>
            <a:miter lim="800000"/>
            <a:headEnd/>
            <a:tailEnd/>
          </a:ln>
        </p:spPr>
        <p:txBody>
          <a:bodyPr wrap="square"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최초로 첨부한 명세서 및 도면</a:t>
            </a:r>
            <a:endParaRPr kumimoji="0" lang="en-US" altLang="ko-KR" sz="18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57" name="Rectangle 14"/>
          <p:cNvSpPr>
            <a:spLocks noChangeArrowheads="1"/>
          </p:cNvSpPr>
          <p:nvPr/>
        </p:nvSpPr>
        <p:spPr bwMode="auto">
          <a:xfrm>
            <a:off x="9878237" y="5544674"/>
            <a:ext cx="1574619" cy="361188"/>
          </a:xfrm>
          <a:prstGeom prst="rect">
            <a:avLst/>
          </a:prstGeom>
          <a:noFill/>
          <a:ln w="9525" algn="ctr">
            <a:solidFill>
              <a:schemeClr val="bg1">
                <a:lumMod val="50000"/>
              </a:schemeClr>
            </a:solidFill>
            <a:miter lim="800000"/>
            <a:headEnd/>
            <a:tailEnd/>
          </a:ln>
        </p:spPr>
        <p:txBody>
          <a:bodyPr wrap="square"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요약서</a:t>
            </a:r>
          </a:p>
        </p:txBody>
      </p:sp>
      <p:cxnSp>
        <p:nvCxnSpPr>
          <p:cNvPr id="59" name="직선 화살표 연결선 58"/>
          <p:cNvCxnSpPr>
            <a:stCxn id="28" idx="3"/>
            <a:endCxn id="54" idx="1"/>
          </p:cNvCxnSpPr>
          <p:nvPr/>
        </p:nvCxnSpPr>
        <p:spPr>
          <a:xfrm>
            <a:off x="6605473" y="4061568"/>
            <a:ext cx="3272764"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TextBox 59"/>
          <p:cNvSpPr txBox="1"/>
          <p:nvPr/>
        </p:nvSpPr>
        <p:spPr>
          <a:xfrm>
            <a:off x="6808875" y="3679536"/>
            <a:ext cx="2438488"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간주</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200</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조의</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항</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61" name="직선 화살표 연결선 60"/>
          <p:cNvCxnSpPr>
            <a:stCxn id="37" idx="3"/>
            <a:endCxn id="55" idx="1"/>
          </p:cNvCxnSpPr>
          <p:nvPr/>
        </p:nvCxnSpPr>
        <p:spPr>
          <a:xfrm>
            <a:off x="6609490" y="4800971"/>
            <a:ext cx="3268747"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TextBox 61"/>
          <p:cNvSpPr txBox="1"/>
          <p:nvPr/>
        </p:nvSpPr>
        <p:spPr>
          <a:xfrm>
            <a:off x="6808875" y="4406354"/>
            <a:ext cx="2438488"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간주</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200</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조의</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항</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67" name="Rectangle 14"/>
          <p:cNvSpPr>
            <a:spLocks noChangeArrowheads="1"/>
          </p:cNvSpPr>
          <p:nvPr/>
        </p:nvSpPr>
        <p:spPr bwMode="auto">
          <a:xfrm>
            <a:off x="6948665" y="5183486"/>
            <a:ext cx="1115835" cy="361188"/>
          </a:xfrm>
          <a:prstGeom prst="rect">
            <a:avLst/>
          </a:prstGeom>
          <a:noFill/>
          <a:ln w="9525" algn="ctr">
            <a:solidFill>
              <a:schemeClr val="bg1">
                <a:lumMod val="50000"/>
              </a:schemeClr>
            </a:solidFill>
            <a:miter lim="800000"/>
            <a:headEnd/>
            <a:tailEnd/>
          </a:ln>
        </p:spPr>
        <p:txBody>
          <a:bodyPr wrap="squar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a:ln>
                  <a:noFill/>
                </a:ln>
                <a:solidFill>
                  <a:prstClr val="black"/>
                </a:solidFill>
                <a:effectLst/>
                <a:uLnTx/>
                <a:uFillTx/>
                <a:latin typeface="Rix모던고딕 EB"/>
                <a:ea typeface="Rix모던고딕 EB"/>
                <a:cs typeface="+mn-cs"/>
              </a:rPr>
              <a:t>국어</a:t>
            </a:r>
            <a:endPar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68" name="Rectangle 14"/>
          <p:cNvSpPr>
            <a:spLocks noChangeArrowheads="1"/>
          </p:cNvSpPr>
          <p:nvPr/>
        </p:nvSpPr>
        <p:spPr bwMode="auto">
          <a:xfrm>
            <a:off x="6948665" y="5905862"/>
            <a:ext cx="1115835" cy="361188"/>
          </a:xfrm>
          <a:prstGeom prst="rect">
            <a:avLst/>
          </a:prstGeom>
          <a:noFill/>
          <a:ln w="9525" algn="ctr">
            <a:solidFill>
              <a:schemeClr val="bg1">
                <a:lumMod val="50000"/>
              </a:schemeClr>
            </a:solidFill>
            <a:miter lim="800000"/>
            <a:headEnd/>
            <a:tailEnd/>
          </a:ln>
        </p:spPr>
        <p:txBody>
          <a:bodyPr wrap="squar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a:ln>
                  <a:noFill/>
                </a:ln>
                <a:solidFill>
                  <a:prstClr val="black"/>
                </a:solidFill>
                <a:effectLst/>
                <a:uLnTx/>
                <a:uFillTx/>
                <a:latin typeface="Rix모던고딕 EB"/>
                <a:ea typeface="Rix모던고딕 EB"/>
                <a:cs typeface="+mn-cs"/>
              </a:rPr>
              <a:t>외국어</a:t>
            </a:r>
            <a:endPar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69" name="Rectangle 14"/>
          <p:cNvSpPr>
            <a:spLocks noChangeArrowheads="1"/>
          </p:cNvSpPr>
          <p:nvPr/>
        </p:nvSpPr>
        <p:spPr bwMode="auto">
          <a:xfrm>
            <a:off x="8432978" y="5905862"/>
            <a:ext cx="1115835" cy="361188"/>
          </a:xfrm>
          <a:prstGeom prst="rect">
            <a:avLst/>
          </a:prstGeom>
          <a:solidFill>
            <a:schemeClr val="accent4"/>
          </a:solidFill>
          <a:ln w="9525" algn="ctr">
            <a:solidFill>
              <a:schemeClr val="bg1">
                <a:lumMod val="50000"/>
              </a:schemeClr>
            </a:solidFill>
            <a:miter lim="800000"/>
            <a:headEnd/>
            <a:tailEnd/>
          </a:ln>
        </p:spPr>
        <p:txBody>
          <a:bodyPr wrap="squar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black"/>
                </a:solidFill>
                <a:effectLst/>
                <a:uLnTx/>
                <a:uFillTx/>
                <a:latin typeface="Rix모던고딕 EB"/>
                <a:ea typeface="Rix모던고딕 EB"/>
                <a:cs typeface="+mn-cs"/>
              </a:rPr>
              <a:t>번역문</a:t>
            </a:r>
          </a:p>
        </p:txBody>
      </p:sp>
      <p:cxnSp>
        <p:nvCxnSpPr>
          <p:cNvPr id="73" name="꺾인 연결선 72"/>
          <p:cNvCxnSpPr>
            <a:stCxn id="53" idx="3"/>
            <a:endCxn id="67" idx="1"/>
          </p:cNvCxnSpPr>
          <p:nvPr/>
        </p:nvCxnSpPr>
        <p:spPr>
          <a:xfrm flipV="1">
            <a:off x="6605473" y="5364080"/>
            <a:ext cx="343192" cy="36118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꺾인 연결선 74"/>
          <p:cNvCxnSpPr>
            <a:stCxn id="53" idx="3"/>
            <a:endCxn id="68" idx="1"/>
          </p:cNvCxnSpPr>
          <p:nvPr/>
        </p:nvCxnSpPr>
        <p:spPr>
          <a:xfrm>
            <a:off x="6605473" y="5725268"/>
            <a:ext cx="343192" cy="36118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직선 연결선 76"/>
          <p:cNvCxnSpPr>
            <a:stCxn id="68" idx="3"/>
            <a:endCxn id="69" idx="1"/>
          </p:cNvCxnSpPr>
          <p:nvPr/>
        </p:nvCxnSpPr>
        <p:spPr>
          <a:xfrm>
            <a:off x="8064500" y="6086456"/>
            <a:ext cx="368478"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꺾인 연결선 78"/>
          <p:cNvCxnSpPr>
            <a:stCxn id="67" idx="3"/>
            <a:endCxn id="57" idx="1"/>
          </p:cNvCxnSpPr>
          <p:nvPr/>
        </p:nvCxnSpPr>
        <p:spPr>
          <a:xfrm>
            <a:off x="8064500" y="5364080"/>
            <a:ext cx="1813737" cy="36118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꺾인 연결선 80"/>
          <p:cNvCxnSpPr>
            <a:stCxn id="69" idx="3"/>
            <a:endCxn id="57" idx="1"/>
          </p:cNvCxnSpPr>
          <p:nvPr/>
        </p:nvCxnSpPr>
        <p:spPr>
          <a:xfrm flipV="1">
            <a:off x="9548813" y="5725268"/>
            <a:ext cx="329424" cy="361188"/>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3" name="타원 82"/>
          <p:cNvSpPr/>
          <p:nvPr/>
        </p:nvSpPr>
        <p:spPr>
          <a:xfrm>
            <a:off x="4912685" y="4133320"/>
            <a:ext cx="1411354" cy="1411354"/>
          </a:xfrm>
          <a:prstGeom prst="ellipse">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4" name="TextBox 83"/>
          <p:cNvSpPr txBox="1"/>
          <p:nvPr/>
        </p:nvSpPr>
        <p:spPr>
          <a:xfrm>
            <a:off x="369975" y="3556265"/>
            <a:ext cx="3490058" cy="1569660"/>
          </a:xfrm>
          <a:prstGeom prst="rect">
            <a:avLst/>
          </a:prstGeom>
          <a:noFill/>
          <a:ln>
            <a:solidFill>
              <a:schemeClr val="bg1">
                <a:lumMod val="50000"/>
              </a:schemeClr>
            </a:solidFill>
          </a:ln>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24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원문에 기재된 범위 내에서</a:t>
            </a:r>
            <a:endParaRPr kumimoji="0" lang="en-US" altLang="ko-KR" sz="24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24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분할출원</a:t>
            </a:r>
            <a:r>
              <a:rPr kumimoji="0" lang="en-US" altLang="ko-KR" sz="24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 </a:t>
            </a:r>
            <a:r>
              <a:rPr kumimoji="0" lang="ko-KR" altLang="en-US" sz="24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변경출원</a:t>
            </a:r>
            <a:r>
              <a:rPr kumimoji="0" lang="en-US" altLang="ko-KR" sz="24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 </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24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국내우선권주장출원 등</a:t>
            </a:r>
            <a:endParaRPr kumimoji="0" lang="en-US" altLang="ko-KR" sz="24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2400" b="0" i="0" u="none" strike="noStrike" kern="1200" cap="none" spc="0" normalizeH="0" baseline="0" noProof="0" dirty="0">
                <a:ln>
                  <a:noFill/>
                </a:ln>
                <a:solidFill>
                  <a:srgbClr val="FF0000"/>
                </a:solidFill>
                <a:effectLst/>
                <a:highlight>
                  <a:srgbClr val="FFFF00"/>
                </a:highlight>
                <a:uLnTx/>
                <a:uFillTx/>
                <a:latin typeface="Frutiger LT 65 Bold"/>
                <a:ea typeface="Rix모던고딕 B"/>
                <a:cs typeface="+mn-cs"/>
              </a:rPr>
              <a:t>가능 </a:t>
            </a:r>
          </a:p>
        </p:txBody>
      </p:sp>
      <p:cxnSp>
        <p:nvCxnSpPr>
          <p:cNvPr id="86" name="직선 화살표 연결선 85"/>
          <p:cNvCxnSpPr>
            <a:endCxn id="84" idx="3"/>
          </p:cNvCxnSpPr>
          <p:nvPr/>
        </p:nvCxnSpPr>
        <p:spPr>
          <a:xfrm flipH="1" flipV="1">
            <a:off x="3860033" y="4341095"/>
            <a:ext cx="1170823" cy="138504"/>
          </a:xfrm>
          <a:prstGeom prst="straightConnector1">
            <a:avLst/>
          </a:prstGeom>
          <a:ln w="38100">
            <a:solidFill>
              <a:srgbClr val="FF0000"/>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563</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33" name="TextBox 32">
            <a:extLst>
              <a:ext uri="{FF2B5EF4-FFF2-40B4-BE49-F238E27FC236}">
                <a16:creationId xmlns:a16="http://schemas.microsoft.com/office/drawing/2014/main" id="{346C7B7A-D8C1-4CFC-AE36-A4C554539C4C}"/>
              </a:ext>
            </a:extLst>
          </p:cNvPr>
          <p:cNvSpPr txBox="1"/>
          <p:nvPr/>
        </p:nvSpPr>
        <p:spPr>
          <a:xfrm>
            <a:off x="6808875" y="6289470"/>
            <a:ext cx="2438488" cy="369332"/>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간주</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200</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조의</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3</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항</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Tree>
    <p:extLst>
      <p:ext uri="{BB962C8B-B14F-4D97-AF65-F5344CB8AC3E}">
        <p14:creationId xmlns:p14="http://schemas.microsoft.com/office/powerpoint/2010/main" val="436492137"/>
      </p:ext>
    </p:extLst>
  </p:cSld>
  <p:clrMapOvr>
    <a:masterClrMapping/>
  </p:clrMapOvr>
  <p:transition/>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제목 8"/>
          <p:cNvSpPr>
            <a:spLocks noGrp="1"/>
          </p:cNvSpPr>
          <p:nvPr>
            <p:ph type="title"/>
          </p:nvPr>
        </p:nvSpPr>
        <p:spPr/>
        <p:txBody>
          <a:bodyPr/>
          <a:lstStyle/>
          <a:p>
            <a:r>
              <a:rPr lang="ko-KR" altLang="en-US" dirty="0"/>
              <a:t>제</a:t>
            </a:r>
            <a:r>
              <a:rPr lang="en-US" altLang="ko-KR" dirty="0"/>
              <a:t>201</a:t>
            </a:r>
            <a:r>
              <a:rPr lang="ko-KR" altLang="en-US" dirty="0"/>
              <a:t>조</a:t>
            </a:r>
          </a:p>
        </p:txBody>
      </p:sp>
      <p:sp>
        <p:nvSpPr>
          <p:cNvPr id="10" name="텍스트 개체 틀 9"/>
          <p:cNvSpPr>
            <a:spLocks noGrp="1"/>
          </p:cNvSpPr>
          <p:nvPr>
            <p:ph type="body" sz="quarter" idx="13"/>
          </p:nvPr>
        </p:nvSpPr>
        <p:spPr/>
        <p:txBody>
          <a:bodyPr/>
          <a:lstStyle/>
          <a:p>
            <a:r>
              <a:rPr lang="ko-KR" altLang="en-US" dirty="0"/>
              <a:t>국제특허출원의 번역문의 법조문 정리</a:t>
            </a:r>
          </a:p>
        </p:txBody>
      </p:sp>
      <p:cxnSp>
        <p:nvCxnSpPr>
          <p:cNvPr id="5" name="직선 연결선 4"/>
          <p:cNvCxnSpPr/>
          <p:nvPr/>
        </p:nvCxnSpPr>
        <p:spPr>
          <a:xfrm>
            <a:off x="77875" y="5173141"/>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7875" y="976902"/>
            <a:ext cx="11936323" cy="4185761"/>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201</a:t>
            </a: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국제특허출원의 </a:t>
            </a:r>
            <a:r>
              <a:rPr kumimoji="0" lang="ko-KR" altLang="en-US" sz="1400" b="1" i="0" u="none" strike="noStrike" kern="1200" cap="none" spc="0" normalizeH="0" baseline="0" noProof="0" dirty="0" err="1">
                <a:ln>
                  <a:noFill/>
                </a:ln>
                <a:solidFill>
                  <a:srgbClr val="5B9BD5"/>
                </a:solidFill>
                <a:effectLst/>
                <a:uLnTx/>
                <a:uFillTx/>
                <a:latin typeface="Rix모던고딕 B"/>
                <a:ea typeface="Rix모던고딕 B"/>
                <a:cs typeface="+mn-cs"/>
              </a:rPr>
              <a:t>국어번역문</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①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국제특허출원을 외국어로 출원한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출원인은</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「특허협력조약」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(xi)</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의 우선일</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이하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우선일</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이라 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부터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년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7</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개월</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이하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국내서면제출기간</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이라 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이내에 다음 각 호의 국어번역문을 지식재산처장에게 제출하여야 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다만</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국어번역문의 제출기간을 연장하여 달라는 취지를 제</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203</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항에 따른 서면에 적어 국내서면제출기간 만료일 전 </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개월부터 그 만료일까지 제출한 경우</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그 서면을 제출하기 전에 국어번역문을 제출한 경우는 제외한다</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에는 국내서면제출기간 만료일부터 </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개월이 되는 날까지 국어번역문을 제출할 수 있다</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국제출원일까지 제출한 발명의 설명</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청구범위</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및 도면</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도면 중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설명부분에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한정한다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국어번역문</a:t>
            </a:r>
            <a:endPar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요약서의</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국어번역문</a:t>
            </a:r>
            <a:endPar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②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항에도 불구하고 국제특허출원을 외국어로 출원한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출원인이</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「특허협력조약」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19</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에 따라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청구범위에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관한 보정을 한 경우에는 국제출원일까지 제출한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청구범위에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대한 국어번역문을 보정 후의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청구범위에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대한 국어번역문으로 대체하여 제출할 수 있다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따라 국어번역문을 제출한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출원인은</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국내서면제출기간</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단서에 따라 취지를 적은 서면이 제출된 경우에는 연장된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국어번역문</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제출 기간을 말한다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이하 이 조에서 같다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에 그 국어번역문을 갈음하여 새로운 국어번역문을 제출할 수 있다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출원인이</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출원심사의</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청구를 한 후에는 그러하지 아니하다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④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따른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출원인이</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국내서면제출기간에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따른 </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발명의 설명 및 청구범위</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의 국어번역문을 제출하지 아니하면 그 국제특허출원을 취하한 것으로 본다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⑤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특허출원인이 국내서면제출기간의 만료일</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국내서면제출기간에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출원인이</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출원심사의</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청구를 한 경우에는 그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청구일을</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말하며</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이하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기준일</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이라 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까지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따라 발명의 설명</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청구범위</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및 도면</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도면 중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설명부분에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한정한다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국어번역문</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본문에 따라 새로운 국어번역문을 제출한 경우에는 마지막에 제출한 국어번역문을 말한다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이하 이 조에서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최종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국어번역문</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이라 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을 제출한 경우에는 국제출원일까지 제출한 발명의 설명</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청구범위</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및 도면</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도면 중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설명부분에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한정한다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을 최종 국어번역문에 따라 국제출원일에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47</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따른 보정을 한 것으로 본다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⑥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특허출원인은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47</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및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208</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따라 보정을 할 수 있는 기간에 최종 국어번역문의 잘못된 번역을 총리령으로 정하는 방법에 따라 정정할 수 있다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 경우 정정된 국어번역문에 관하여는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5</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항을 적용하지 아니한다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⑦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6</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전단에 따라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47</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항제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호 또는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호에 따른 기간에 정정을 하는 경우에는 마지막 정정 전에 한 모든 정정은 처음부터 없었던 것으로 본다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⑧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따라 보정 후의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청구범위에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대한 국어번역문을 제출하는 경우에는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204</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및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항을 적용하지 아니한다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p>
        </p:txBody>
      </p:sp>
      <p:sp>
        <p:nvSpPr>
          <p:cNvPr id="4" name="직사각형 3"/>
          <p:cNvSpPr/>
          <p:nvPr/>
        </p:nvSpPr>
        <p:spPr>
          <a:xfrm>
            <a:off x="5259475" y="5334000"/>
            <a:ext cx="1687425" cy="393700"/>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201</a:t>
            </a: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조</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1" name="직사각형 10"/>
          <p:cNvSpPr/>
          <p:nvPr/>
        </p:nvSpPr>
        <p:spPr>
          <a:xfrm>
            <a:off x="256605" y="6108700"/>
            <a:ext cx="1826327" cy="5080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번역문 제출</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12" name="직사각형 11"/>
          <p:cNvSpPr/>
          <p:nvPr/>
        </p:nvSpPr>
        <p:spPr>
          <a:xfrm>
            <a:off x="2207496" y="6108700"/>
            <a:ext cx="1826327" cy="5080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번역문 교체</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13" name="직사각형 12"/>
          <p:cNvSpPr/>
          <p:nvPr/>
        </p:nvSpPr>
        <p:spPr>
          <a:xfrm>
            <a:off x="4183787" y="6121400"/>
            <a:ext cx="1826327" cy="5080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부제출</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효과</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14" name="직사각형 13"/>
          <p:cNvSpPr/>
          <p:nvPr/>
        </p:nvSpPr>
        <p:spPr>
          <a:xfrm>
            <a:off x="6134678" y="6121400"/>
            <a:ext cx="1826327" cy="5080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제출 효과</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5</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15" name="직사각형 14"/>
          <p:cNvSpPr/>
          <p:nvPr/>
        </p:nvSpPr>
        <p:spPr>
          <a:xfrm>
            <a:off x="8066973" y="6121400"/>
            <a:ext cx="1826327" cy="5080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오역 정정</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6</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7</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16" name="직사각형 15"/>
          <p:cNvSpPr/>
          <p:nvPr/>
        </p:nvSpPr>
        <p:spPr>
          <a:xfrm>
            <a:off x="9999268" y="6121400"/>
            <a:ext cx="1826327" cy="5080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PCT 19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보정 번역문</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8</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cxnSp>
        <p:nvCxnSpPr>
          <p:cNvPr id="17" name="꺾인 연결선 16"/>
          <p:cNvCxnSpPr>
            <a:stCxn id="4" idx="2"/>
            <a:endCxn id="11" idx="0"/>
          </p:cNvCxnSpPr>
          <p:nvPr/>
        </p:nvCxnSpPr>
        <p:spPr>
          <a:xfrm rot="5400000">
            <a:off x="3445979" y="3451491"/>
            <a:ext cx="381000" cy="493341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4" idx="2"/>
            <a:endCxn id="16" idx="0"/>
          </p:cNvCxnSpPr>
          <p:nvPr/>
        </p:nvCxnSpPr>
        <p:spPr>
          <a:xfrm rot="16200000" flipH="1">
            <a:off x="8310960" y="3519928"/>
            <a:ext cx="393700" cy="480924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stCxn id="4" idx="2"/>
            <a:endCxn id="12" idx="0"/>
          </p:cNvCxnSpPr>
          <p:nvPr/>
        </p:nvCxnSpPr>
        <p:spPr>
          <a:xfrm rot="5400000">
            <a:off x="4421424" y="4426936"/>
            <a:ext cx="381000" cy="2982528"/>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stCxn id="4" idx="2"/>
            <a:endCxn id="15" idx="0"/>
          </p:cNvCxnSpPr>
          <p:nvPr/>
        </p:nvCxnSpPr>
        <p:spPr>
          <a:xfrm rot="16200000" flipH="1">
            <a:off x="7344812" y="4486075"/>
            <a:ext cx="393700" cy="287694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꺾인 연결선 24"/>
          <p:cNvCxnSpPr>
            <a:stCxn id="4" idx="2"/>
            <a:endCxn id="13" idx="0"/>
          </p:cNvCxnSpPr>
          <p:nvPr/>
        </p:nvCxnSpPr>
        <p:spPr>
          <a:xfrm rot="5400000">
            <a:off x="5403220" y="5421432"/>
            <a:ext cx="393700" cy="100623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꺾인 연결선 26"/>
          <p:cNvCxnSpPr>
            <a:stCxn id="4" idx="2"/>
            <a:endCxn id="14" idx="0"/>
          </p:cNvCxnSpPr>
          <p:nvPr/>
        </p:nvCxnSpPr>
        <p:spPr>
          <a:xfrm rot="16200000" flipH="1">
            <a:off x="6378665" y="5452223"/>
            <a:ext cx="393700" cy="94465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564</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4173309520"/>
      </p:ext>
    </p:extLst>
  </p:cSld>
  <p:clrMapOvr>
    <a:masterClrMapping/>
  </p:clrMapOvr>
  <p:transition/>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제목 8"/>
          <p:cNvSpPr>
            <a:spLocks noGrp="1"/>
          </p:cNvSpPr>
          <p:nvPr>
            <p:ph type="title"/>
          </p:nvPr>
        </p:nvSpPr>
        <p:spPr/>
        <p:txBody>
          <a:bodyPr/>
          <a:lstStyle/>
          <a:p>
            <a:r>
              <a:rPr lang="ko-KR" altLang="en-US" dirty="0"/>
              <a:t>제</a:t>
            </a:r>
            <a:r>
              <a:rPr lang="en-US" altLang="ko-KR" dirty="0"/>
              <a:t>201</a:t>
            </a:r>
            <a:r>
              <a:rPr lang="ko-KR" altLang="en-US" dirty="0"/>
              <a:t>조</a:t>
            </a:r>
          </a:p>
        </p:txBody>
      </p:sp>
      <p:sp>
        <p:nvSpPr>
          <p:cNvPr id="10" name="텍스트 개체 틀 9"/>
          <p:cNvSpPr>
            <a:spLocks noGrp="1"/>
          </p:cNvSpPr>
          <p:nvPr>
            <p:ph type="body" sz="quarter" idx="13"/>
          </p:nvPr>
        </p:nvSpPr>
        <p:spPr/>
        <p:txBody>
          <a:bodyPr/>
          <a:lstStyle/>
          <a:p>
            <a:r>
              <a:rPr lang="ko-KR" altLang="en-US" dirty="0"/>
              <a:t>번역문 제출의 절차</a:t>
            </a:r>
          </a:p>
        </p:txBody>
      </p:sp>
      <p:cxnSp>
        <p:nvCxnSpPr>
          <p:cNvPr id="20" name="직선 화살표 연결선 19"/>
          <p:cNvCxnSpPr/>
          <p:nvPr/>
        </p:nvCxnSpPr>
        <p:spPr>
          <a:xfrm>
            <a:off x="143339" y="2674953"/>
            <a:ext cx="11521280" cy="0"/>
          </a:xfrm>
          <a:prstGeom prst="straightConnector1">
            <a:avLst/>
          </a:prstGeom>
          <a:ln w="38100">
            <a:solidFill>
              <a:schemeClr val="bg1">
                <a:lumMod val="50000"/>
              </a:schemeClr>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 name="Rectangle 14"/>
          <p:cNvSpPr>
            <a:spLocks noChangeArrowheads="1"/>
          </p:cNvSpPr>
          <p:nvPr/>
        </p:nvSpPr>
        <p:spPr bwMode="auto">
          <a:xfrm>
            <a:off x="966855" y="2259276"/>
            <a:ext cx="849246" cy="265453"/>
          </a:xfrm>
          <a:prstGeom prst="rect">
            <a:avLst/>
          </a:prstGeom>
          <a:solidFill>
            <a:schemeClr val="accent2"/>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Rix모던고딕 EB"/>
                <a:ea typeface="Rix모던고딕 EB"/>
                <a:cs typeface="+mn-cs"/>
              </a:rPr>
              <a:t>PCT </a:t>
            </a:r>
            <a:r>
              <a:rPr kumimoji="0" lang="ko-KR" altLang="en-US" sz="1200" b="0" i="0" u="none" strike="noStrike" kern="1200" cap="none" spc="0" normalizeH="0" baseline="0" noProof="0" dirty="0">
                <a:ln>
                  <a:noFill/>
                </a:ln>
                <a:solidFill>
                  <a:prstClr val="white"/>
                </a:solidFill>
                <a:effectLst/>
                <a:uLnTx/>
                <a:uFillTx/>
                <a:latin typeface="Rix모던고딕 EB"/>
                <a:ea typeface="Rix모던고딕 EB"/>
                <a:cs typeface="+mn-cs"/>
              </a:rPr>
              <a:t>출원</a:t>
            </a:r>
          </a:p>
        </p:txBody>
      </p:sp>
      <p:sp>
        <p:nvSpPr>
          <p:cNvPr id="24" name="Rectangle 14"/>
          <p:cNvSpPr>
            <a:spLocks noChangeArrowheads="1"/>
          </p:cNvSpPr>
          <p:nvPr/>
        </p:nvSpPr>
        <p:spPr bwMode="auto">
          <a:xfrm>
            <a:off x="623392" y="1288778"/>
            <a:ext cx="1289923" cy="299160"/>
          </a:xfrm>
          <a:prstGeom prst="rect">
            <a:avLst/>
          </a:prstGeom>
          <a:solidFill>
            <a:schemeClr val="accent2"/>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white"/>
                </a:solidFill>
                <a:effectLst/>
                <a:uLnTx/>
                <a:uFillTx/>
                <a:latin typeface="Rix모던고딕 EB"/>
                <a:ea typeface="Rix모던고딕 EB"/>
                <a:cs typeface="+mn-cs"/>
              </a:rPr>
              <a:t>PCT </a:t>
            </a:r>
            <a:r>
              <a:rPr kumimoji="0" lang="ko-KR" altLang="en-US" sz="1200" b="0" i="0" u="none" strike="noStrike" kern="1200" cap="none" spc="0" normalizeH="0" baseline="0" noProof="0" dirty="0">
                <a:ln>
                  <a:noFill/>
                </a:ln>
                <a:solidFill>
                  <a:prstClr val="white"/>
                </a:solidFill>
                <a:effectLst/>
                <a:uLnTx/>
                <a:uFillTx/>
                <a:latin typeface="Rix모던고딕 EB"/>
                <a:ea typeface="Rix모던고딕 EB"/>
                <a:cs typeface="+mn-cs"/>
              </a:rPr>
              <a:t>제</a:t>
            </a:r>
            <a:r>
              <a:rPr kumimoji="0" lang="en-US" altLang="ko-KR" sz="1200" b="0" i="0" u="none" strike="noStrike" kern="1200" cap="none" spc="0" normalizeH="0" baseline="0" noProof="0" dirty="0">
                <a:ln>
                  <a:noFill/>
                </a:ln>
                <a:solidFill>
                  <a:prstClr val="white"/>
                </a:solidFill>
                <a:effectLst/>
                <a:uLnTx/>
                <a:uFillTx/>
                <a:latin typeface="Rix모던고딕 EB"/>
                <a:ea typeface="Rix모던고딕 EB"/>
                <a:cs typeface="+mn-cs"/>
              </a:rPr>
              <a:t>19</a:t>
            </a:r>
            <a:r>
              <a:rPr kumimoji="0" lang="ko-KR" altLang="en-US" sz="1200" b="0" i="0" u="none" strike="noStrike" kern="1200" cap="none" spc="0" normalizeH="0" baseline="0" noProof="0" dirty="0">
                <a:ln>
                  <a:noFill/>
                </a:ln>
                <a:solidFill>
                  <a:prstClr val="white"/>
                </a:solidFill>
                <a:effectLst/>
                <a:uLnTx/>
                <a:uFillTx/>
                <a:latin typeface="Rix모던고딕 EB"/>
                <a:ea typeface="Rix모던고딕 EB"/>
                <a:cs typeface="+mn-cs"/>
              </a:rPr>
              <a:t>조 보정</a:t>
            </a:r>
          </a:p>
        </p:txBody>
      </p:sp>
      <p:sp>
        <p:nvSpPr>
          <p:cNvPr id="26" name="Rectangle 14"/>
          <p:cNvSpPr>
            <a:spLocks noChangeArrowheads="1"/>
          </p:cNvSpPr>
          <p:nvPr/>
        </p:nvSpPr>
        <p:spPr bwMode="auto">
          <a:xfrm flipV="1">
            <a:off x="1313415" y="2573926"/>
            <a:ext cx="199746" cy="202054"/>
          </a:xfrm>
          <a:prstGeom prst="ellipse">
            <a:avLst/>
          </a:prstGeom>
          <a:solidFill>
            <a:schemeClr val="tx2"/>
          </a:solidFill>
          <a:ln w="28575" algn="ctr">
            <a:solidFill>
              <a:schemeClr val="accent5">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28" name="Rectangle 14"/>
          <p:cNvSpPr>
            <a:spLocks noChangeArrowheads="1"/>
          </p:cNvSpPr>
          <p:nvPr/>
        </p:nvSpPr>
        <p:spPr bwMode="auto">
          <a:xfrm flipV="1">
            <a:off x="2588291" y="2573926"/>
            <a:ext cx="199746" cy="202054"/>
          </a:xfrm>
          <a:prstGeom prst="ellipse">
            <a:avLst/>
          </a:prstGeom>
          <a:solidFill>
            <a:schemeClr val="tx2"/>
          </a:solidFill>
          <a:ln w="28575" algn="ctr">
            <a:solidFill>
              <a:schemeClr val="accent5">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29" name="Rectangle 14"/>
          <p:cNvSpPr>
            <a:spLocks noChangeArrowheads="1"/>
          </p:cNvSpPr>
          <p:nvPr/>
        </p:nvSpPr>
        <p:spPr bwMode="auto">
          <a:xfrm>
            <a:off x="911424" y="3025326"/>
            <a:ext cx="1536171" cy="230755"/>
          </a:xfrm>
          <a:prstGeom prst="rect">
            <a:avLst/>
          </a:prstGeom>
          <a:noFill/>
          <a:ln w="9525" algn="ctr">
            <a:solidFill>
              <a:schemeClr val="bg1">
                <a:lumMod val="50000"/>
              </a:schemeClr>
            </a:solidFill>
            <a:miter lim="800000"/>
            <a:headEnd/>
            <a:tailEnd/>
          </a:ln>
        </p:spPr>
        <p:txBody>
          <a:bodyPr wrap="none"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EB"/>
                <a:ea typeface="Rix모던고딕 EB"/>
                <a:cs typeface="+mn-cs"/>
              </a:rPr>
              <a:t>출원서</a:t>
            </a:r>
          </a:p>
        </p:txBody>
      </p:sp>
      <p:sp>
        <p:nvSpPr>
          <p:cNvPr id="31" name="Rectangle 14"/>
          <p:cNvSpPr>
            <a:spLocks noChangeArrowheads="1"/>
          </p:cNvSpPr>
          <p:nvPr/>
        </p:nvSpPr>
        <p:spPr bwMode="auto">
          <a:xfrm>
            <a:off x="3328538" y="2224253"/>
            <a:ext cx="1619104" cy="299160"/>
          </a:xfrm>
          <a:prstGeom prst="rect">
            <a:avLst/>
          </a:prstGeom>
          <a:solidFill>
            <a:schemeClr val="accent2"/>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고딕 EB"/>
                <a:ea typeface="Rix모던고딕 EB"/>
                <a:cs typeface="+mn-cs"/>
              </a:rPr>
              <a:t>번역문 제출</a:t>
            </a:r>
          </a:p>
        </p:txBody>
      </p:sp>
      <p:sp>
        <p:nvSpPr>
          <p:cNvPr id="32" name="Rectangle 14"/>
          <p:cNvSpPr>
            <a:spLocks noChangeArrowheads="1"/>
          </p:cNvSpPr>
          <p:nvPr/>
        </p:nvSpPr>
        <p:spPr bwMode="auto">
          <a:xfrm flipV="1">
            <a:off x="4028854" y="2573926"/>
            <a:ext cx="199746" cy="202054"/>
          </a:xfrm>
          <a:prstGeom prst="ellipse">
            <a:avLst/>
          </a:prstGeom>
          <a:solidFill>
            <a:schemeClr val="tx2"/>
          </a:solidFill>
          <a:ln w="28575" algn="ctr">
            <a:solidFill>
              <a:schemeClr val="accent5">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33" name="Rectangle 14"/>
          <p:cNvSpPr>
            <a:spLocks noChangeArrowheads="1"/>
          </p:cNvSpPr>
          <p:nvPr/>
        </p:nvSpPr>
        <p:spPr bwMode="auto">
          <a:xfrm flipV="1">
            <a:off x="5278722" y="2573926"/>
            <a:ext cx="199746" cy="202054"/>
          </a:xfrm>
          <a:prstGeom prst="ellipse">
            <a:avLst/>
          </a:prstGeom>
          <a:solidFill>
            <a:schemeClr val="tx2"/>
          </a:solidFill>
          <a:ln w="28575" algn="ctr">
            <a:solidFill>
              <a:schemeClr val="accent5">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34" name="Rectangle 14"/>
          <p:cNvSpPr>
            <a:spLocks noChangeArrowheads="1"/>
          </p:cNvSpPr>
          <p:nvPr/>
        </p:nvSpPr>
        <p:spPr bwMode="auto">
          <a:xfrm>
            <a:off x="5709825" y="2224253"/>
            <a:ext cx="1451538" cy="299160"/>
          </a:xfrm>
          <a:prstGeom prst="rect">
            <a:avLst/>
          </a:prstGeom>
          <a:solidFill>
            <a:schemeClr val="accent2"/>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고딕 EB"/>
                <a:ea typeface="Rix모던고딕 EB"/>
                <a:cs typeface="+mn-cs"/>
              </a:rPr>
              <a:t>국내서면제출기간</a:t>
            </a:r>
            <a:r>
              <a:rPr kumimoji="0" lang="en-US" altLang="ko-KR" sz="1200" b="0" i="0" u="none" strike="noStrike" kern="1200" cap="none" spc="0" normalizeH="0" baseline="0" noProof="0" dirty="0">
                <a:ln>
                  <a:noFill/>
                </a:ln>
                <a:solidFill>
                  <a:prstClr val="white"/>
                </a:solidFill>
                <a:effectLst/>
                <a:uLnTx/>
                <a:uFillTx/>
                <a:latin typeface="Rix모던고딕 EB"/>
                <a:ea typeface="Rix모던고딕 EB"/>
                <a:cs typeface="+mn-cs"/>
              </a:rPr>
              <a:t>*</a:t>
            </a:r>
            <a:endParaRPr kumimoji="0" lang="ko-KR" altLang="en-US" sz="1200" b="0" i="0" u="none" strike="noStrike" kern="1200" cap="none" spc="0" normalizeH="0" baseline="0" noProof="0" dirty="0">
              <a:ln>
                <a:noFill/>
              </a:ln>
              <a:solidFill>
                <a:prstClr val="white"/>
              </a:solidFill>
              <a:effectLst/>
              <a:uLnTx/>
              <a:uFillTx/>
              <a:latin typeface="Rix모던고딕 EB"/>
              <a:ea typeface="Rix모던고딕 EB"/>
              <a:cs typeface="+mn-cs"/>
            </a:endParaRPr>
          </a:p>
        </p:txBody>
      </p:sp>
      <p:sp>
        <p:nvSpPr>
          <p:cNvPr id="35" name="Rectangle 14"/>
          <p:cNvSpPr>
            <a:spLocks noChangeArrowheads="1"/>
          </p:cNvSpPr>
          <p:nvPr/>
        </p:nvSpPr>
        <p:spPr bwMode="auto">
          <a:xfrm flipV="1">
            <a:off x="6428718" y="2573926"/>
            <a:ext cx="199746" cy="202054"/>
          </a:xfrm>
          <a:prstGeom prst="ellipse">
            <a:avLst/>
          </a:prstGeom>
          <a:solidFill>
            <a:schemeClr val="tx2"/>
          </a:solidFill>
          <a:ln w="28575" algn="ctr">
            <a:solidFill>
              <a:schemeClr val="accent5">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black"/>
              </a:solidFill>
              <a:effectLst/>
              <a:uLnTx/>
              <a:uFillTx/>
              <a:latin typeface="Rix모던고딕 EB"/>
              <a:ea typeface="Rix모던고딕 EB"/>
              <a:cs typeface="+mn-cs"/>
            </a:endParaRPr>
          </a:p>
        </p:txBody>
      </p:sp>
      <p:sp>
        <p:nvSpPr>
          <p:cNvPr id="36" name="TextBox 35"/>
          <p:cNvSpPr txBox="1"/>
          <p:nvPr/>
        </p:nvSpPr>
        <p:spPr>
          <a:xfrm>
            <a:off x="6663940" y="2785018"/>
            <a:ext cx="5288711" cy="763898"/>
          </a:xfrm>
          <a:prstGeom prst="rect">
            <a:avLst/>
          </a:prstGeom>
          <a:solidFill>
            <a:schemeClr val="accent3">
              <a:lumMod val="20000"/>
              <a:lumOff val="80000"/>
            </a:schemeClr>
          </a:solidFill>
          <a:ln>
            <a:solidFill>
              <a:schemeClr val="bg1">
                <a:lumMod val="50000"/>
              </a:schemeClr>
            </a:solidFill>
            <a:prstDash val="sysDot"/>
          </a:ln>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제출하지 않거나 방식위반의 경우 </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보정명령</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203②)</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보정하지 않는 경우 </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국제특허출원절차를 무효</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203③)</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7" name="TextBox 36"/>
          <p:cNvSpPr txBox="1"/>
          <p:nvPr/>
        </p:nvSpPr>
        <p:spPr>
          <a:xfrm>
            <a:off x="6663943" y="3608359"/>
            <a:ext cx="5288710" cy="3034488"/>
          </a:xfrm>
          <a:prstGeom prst="rect">
            <a:avLst/>
          </a:prstGeom>
          <a:solidFill>
            <a:schemeClr val="accent3">
              <a:lumMod val="20000"/>
              <a:lumOff val="80000"/>
            </a:schemeClr>
          </a:solidFill>
          <a:ln>
            <a:solidFill>
              <a:schemeClr val="bg1">
                <a:lumMod val="50000"/>
              </a:schemeClr>
            </a:solidFill>
            <a:prstDash val="sysDot"/>
          </a:ln>
        </p:spPr>
        <p:txBody>
          <a:bodyPr wrap="square" rtlCol="0">
            <a:no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국어번역문을 제출하지 아니한 경우</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발명의 설명 및 청구범위의 번역문 제출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취하간주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④</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177800" marR="0" lvl="0" indent="-17780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도면의 설명부분 또는 요약서에 대한 번역문 제출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기재가 없었던 것으로 간주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보정명령 후 무효</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⑨</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46, 16)</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국어번역문을 제출한 경우</a:t>
            </a:r>
          </a:p>
          <a:p>
            <a:pPr marL="101600" marR="0" lvl="0" indent="-10160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기준일까지 최종 국어번역문을 제출한 경우에는 국제출원일에 제출한 원문을 최종 국어번역문에 따라 국제출원일에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따른 보정을 한 것으로 간주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오역의 정정</a:t>
            </a:r>
          </a:p>
          <a:p>
            <a:pPr marL="101600" marR="0" lvl="0" indent="-10160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특허출원인은</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 및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208</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따라 보정을 할 수 있는 기간에 최종 국어번역문의 잘못된 번역을 총리령으로 정하는 방법에 따라 정정 가능</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 경우 정정된 국어번역문에 관하여는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5</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항을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不적용</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⑥</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p>
          <a:p>
            <a:pPr marL="88900" marR="0" lvl="0" indent="-8890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47</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조제</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1</a:t>
            </a:r>
            <a:r>
              <a:rPr kumimoji="0" lang="ko-KR" altLang="en-US" sz="1200" b="0" i="0" u="none" strike="noStrike" kern="1200" cap="none" spc="0" normalizeH="0" baseline="0" noProof="0" dirty="0" err="1">
                <a:ln>
                  <a:noFill/>
                </a:ln>
                <a:solidFill>
                  <a:prstClr val="black"/>
                </a:solidFill>
                <a:effectLst/>
                <a:uLnTx/>
                <a:uFillTx/>
                <a:latin typeface="Rix모던고딕 B"/>
                <a:ea typeface="Rix모던고딕 B"/>
                <a:cs typeface="+mn-cs"/>
              </a:rPr>
              <a:t>항제</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호 또는 제</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Rix모던고딕 B"/>
                <a:ea typeface="Rix모던고딕 B"/>
                <a:cs typeface="+mn-cs"/>
              </a:rPr>
              <a:t>호에 따른 기간에 정정을 하는 경우에는 마지막 정정 전에 한 모든 정정은 처음부터 없었던 것으로 간주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en-US" altLang="ko-KR" sz="1200" b="0" i="0" u="none" strike="noStrike" kern="1200" cap="none" spc="0" normalizeH="0" baseline="0" noProof="0" dirty="0">
                <a:ln>
                  <a:noFill/>
                </a:ln>
                <a:solidFill>
                  <a:prstClr val="black"/>
                </a:solidFill>
                <a:effectLst/>
                <a:uLnTx/>
                <a:uFillTx/>
                <a:latin typeface="Rix모던고딕 B"/>
                <a:ea typeface="Rix모던고딕 B"/>
                <a:cs typeface="+mn-cs"/>
              </a:rPr>
              <a:t>⑦</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38" name="직선 연결선 37"/>
          <p:cNvCxnSpPr>
            <a:stCxn id="35" idx="0"/>
          </p:cNvCxnSpPr>
          <p:nvPr/>
        </p:nvCxnSpPr>
        <p:spPr>
          <a:xfrm>
            <a:off x="6528591" y="2775980"/>
            <a:ext cx="0" cy="2085942"/>
          </a:xfrm>
          <a:prstGeom prst="line">
            <a:avLst/>
          </a:prstGeom>
          <a:ln w="31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Rectangle 14"/>
          <p:cNvSpPr>
            <a:spLocks noChangeArrowheads="1"/>
          </p:cNvSpPr>
          <p:nvPr/>
        </p:nvSpPr>
        <p:spPr bwMode="auto">
          <a:xfrm>
            <a:off x="911424" y="3415739"/>
            <a:ext cx="1536171" cy="741089"/>
          </a:xfrm>
          <a:prstGeom prst="rect">
            <a:avLst/>
          </a:prstGeom>
          <a:noFill/>
          <a:ln w="9525" algn="ctr">
            <a:solidFill>
              <a:schemeClr val="bg1">
                <a:lumMod val="50000"/>
              </a:schemeClr>
            </a:solidFill>
            <a:miter lim="800000"/>
            <a:headEnd/>
            <a:tailEnd/>
          </a:ln>
        </p:spPr>
        <p:txBody>
          <a:bodyPr wrap="none" anchor="t"/>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EB"/>
                <a:ea typeface="Rix모던고딕 EB"/>
                <a:cs typeface="+mn-cs"/>
              </a:rPr>
              <a:t>발명의 설명</a:t>
            </a:r>
            <a:endParaRPr kumimoji="0" lang="en-US" altLang="ko-KR" sz="1200" b="0" i="0" u="none" strike="noStrike" kern="1200" cap="none" spc="0" normalizeH="0" baseline="0" noProof="0" dirty="0">
              <a:ln>
                <a:noFill/>
              </a:ln>
              <a:solidFill>
                <a:prstClr val="black"/>
              </a:solidFill>
              <a:effectLst/>
              <a:uLnTx/>
              <a:uFillTx/>
              <a:latin typeface="Rix모던고딕 EB"/>
              <a:ea typeface="Rix모던고딕 E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EB"/>
                <a:ea typeface="Rix모던고딕 EB"/>
                <a:cs typeface="+mn-cs"/>
              </a:rPr>
              <a:t>청구범위</a:t>
            </a:r>
            <a:endParaRPr kumimoji="0" lang="en-US" altLang="ko-KR" sz="1200" b="0" i="0" u="none" strike="noStrike" kern="1200" cap="none" spc="0" normalizeH="0" baseline="0" noProof="0" dirty="0">
              <a:ln>
                <a:noFill/>
              </a:ln>
              <a:solidFill>
                <a:prstClr val="black"/>
              </a:solidFill>
              <a:effectLst/>
              <a:uLnTx/>
              <a:uFillTx/>
              <a:latin typeface="Rix모던고딕 EB"/>
              <a:ea typeface="Rix모던고딕 E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EB"/>
                <a:ea typeface="Rix모던고딕 EB"/>
                <a:cs typeface="+mn-cs"/>
              </a:rPr>
              <a:t>도면</a:t>
            </a:r>
            <a:r>
              <a:rPr kumimoji="0" lang="en-US" altLang="ko-KR" sz="1200" b="0" i="0" u="none" strike="noStrike" kern="1200" cap="none" spc="0" normalizeH="0" baseline="0" noProof="0" dirty="0">
                <a:ln>
                  <a:noFill/>
                </a:ln>
                <a:solidFill>
                  <a:prstClr val="black"/>
                </a:solidFill>
                <a:effectLst/>
                <a:uLnTx/>
                <a:uFillTx/>
                <a:latin typeface="Rix모던고딕 EB"/>
                <a:ea typeface="Rix모던고딕 EB"/>
                <a:cs typeface="+mn-cs"/>
              </a:rPr>
              <a:t>(</a:t>
            </a:r>
            <a:r>
              <a:rPr kumimoji="0" lang="ko-KR" altLang="en-US" sz="1200" b="0" i="0" u="none" strike="noStrike" kern="1200" cap="none" spc="0" normalizeH="0" baseline="0" noProof="0" dirty="0">
                <a:ln>
                  <a:noFill/>
                </a:ln>
                <a:solidFill>
                  <a:prstClr val="black"/>
                </a:solidFill>
                <a:effectLst/>
                <a:uLnTx/>
                <a:uFillTx/>
                <a:latin typeface="Rix모던고딕 EB"/>
                <a:ea typeface="Rix모던고딕 EB"/>
                <a:cs typeface="+mn-cs"/>
              </a:rPr>
              <a:t>설명부분포함</a:t>
            </a:r>
            <a:r>
              <a:rPr kumimoji="0" lang="en-US" altLang="ko-KR" sz="1200" b="0" i="0" u="none" strike="noStrike" kern="1200" cap="none" spc="0" normalizeH="0" baseline="0" noProof="0" dirty="0">
                <a:ln>
                  <a:noFill/>
                </a:ln>
                <a:solidFill>
                  <a:prstClr val="black"/>
                </a:solidFill>
                <a:effectLst/>
                <a:uLnTx/>
                <a:uFillTx/>
                <a:latin typeface="Rix모던고딕 EB"/>
                <a:ea typeface="Rix모던고딕 E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Rix모던고딕 EB"/>
                <a:ea typeface="Rix모던고딕 EB"/>
                <a:cs typeface="+mn-cs"/>
              </a:rPr>
              <a:t>요약서</a:t>
            </a:r>
          </a:p>
        </p:txBody>
      </p:sp>
      <p:cxnSp>
        <p:nvCxnSpPr>
          <p:cNvPr id="40" name="직선 화살표 연결선 39"/>
          <p:cNvCxnSpPr>
            <a:stCxn id="29" idx="3"/>
          </p:cNvCxnSpPr>
          <p:nvPr/>
        </p:nvCxnSpPr>
        <p:spPr>
          <a:xfrm>
            <a:off x="2447595" y="3140703"/>
            <a:ext cx="4080995" cy="9272"/>
          </a:xfrm>
          <a:prstGeom prst="straightConnector1">
            <a:avLst/>
          </a:prstGeom>
          <a:ln w="3175">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41" name="꺾인 연결선 40"/>
          <p:cNvCxnSpPr/>
          <p:nvPr/>
        </p:nvCxnSpPr>
        <p:spPr>
          <a:xfrm>
            <a:off x="2588938" y="3503588"/>
            <a:ext cx="3933659" cy="341046"/>
          </a:xfrm>
          <a:prstGeom prst="bentConnector3">
            <a:avLst>
              <a:gd name="adj1" fmla="val 15777"/>
            </a:avLst>
          </a:prstGeom>
          <a:ln w="3175">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꺾인 연결선 41"/>
          <p:cNvCxnSpPr/>
          <p:nvPr/>
        </p:nvCxnSpPr>
        <p:spPr>
          <a:xfrm flipV="1">
            <a:off x="2541474" y="3844634"/>
            <a:ext cx="3887244" cy="221378"/>
          </a:xfrm>
          <a:prstGeom prst="bentConnector3">
            <a:avLst>
              <a:gd name="adj1" fmla="val 17329"/>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3" name="Rectangle 14"/>
          <p:cNvSpPr>
            <a:spLocks noChangeArrowheads="1"/>
          </p:cNvSpPr>
          <p:nvPr/>
        </p:nvSpPr>
        <p:spPr bwMode="auto">
          <a:xfrm>
            <a:off x="2492925" y="2866674"/>
            <a:ext cx="1536171" cy="299160"/>
          </a:xfrm>
          <a:prstGeom prst="rect">
            <a:avLst/>
          </a:prstGeom>
          <a:noFill/>
          <a:ln w="9525" algn="ctr">
            <a:noFill/>
            <a:miter lim="800000"/>
            <a:headEnd/>
            <a:tailEnd/>
          </a:ln>
        </p:spPr>
        <p:txBody>
          <a:bodyPr wrap="none" anchor="ct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국내 진입 의사 표시 서면 제출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4" name="Rectangle 14"/>
          <p:cNvSpPr>
            <a:spLocks noChangeArrowheads="1"/>
          </p:cNvSpPr>
          <p:nvPr/>
        </p:nvSpPr>
        <p:spPr bwMode="auto">
          <a:xfrm>
            <a:off x="3411471" y="3313684"/>
            <a:ext cx="2066996" cy="401215"/>
          </a:xfrm>
          <a:prstGeom prst="rect">
            <a:avLst/>
          </a:prstGeom>
          <a:noFill/>
          <a:ln w="9525" algn="ctr">
            <a:noFill/>
            <a:miter lim="800000"/>
            <a:headEnd/>
            <a:tailEnd/>
          </a:ln>
        </p:spPr>
        <p:txBody>
          <a:bodyPr wrap="none" anchor="ctr"/>
          <a:lstStyle/>
          <a:p>
            <a:pPr marL="0" marR="0" lvl="0" indent="0" algn="ctr" defTabSz="914400" rtl="0" eaLnBrk="1" fontAlgn="base"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외국어 출원의 경우 국어로 </a:t>
            </a:r>
          </a:p>
          <a:p>
            <a:pPr marL="0" marR="0" lvl="0" indent="0" algn="ctr" defTabSz="914400" rtl="0" eaLnBrk="1" fontAlgn="base" latinLnBrk="0"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번역문 제출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①본문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5" name="TextBox 44"/>
          <p:cNvSpPr txBox="1"/>
          <p:nvPr/>
        </p:nvSpPr>
        <p:spPr>
          <a:xfrm>
            <a:off x="7246048" y="986116"/>
            <a:ext cx="4706603" cy="1050107"/>
          </a:xfrm>
          <a:prstGeom prst="rect">
            <a:avLst/>
          </a:prstGeom>
          <a:solidFill>
            <a:schemeClr val="accent4">
              <a:lumMod val="20000"/>
              <a:lumOff val="80000"/>
            </a:schemeClr>
          </a:solidFill>
          <a:ln>
            <a:solidFill>
              <a:schemeClr val="bg1">
                <a:lumMod val="50000"/>
              </a:schemeClr>
            </a:solidFill>
            <a:prstDash val="sysDot"/>
          </a:ln>
        </p:spPr>
        <p:txBody>
          <a:bodyPr wrap="square" rtlCol="0">
            <a:no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기준일까지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국내서면제출기간의 만료일과 출원인의 심사청구 중 </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빠른 때</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③</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심사청구의 특례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210)</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자</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국내서면제출기간이 지난 후</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수수료 납부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국어번역문 제출 후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국내서면제출기간전이라도</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6" name="Rectangle 14"/>
          <p:cNvSpPr>
            <a:spLocks noChangeArrowheads="1"/>
          </p:cNvSpPr>
          <p:nvPr/>
        </p:nvSpPr>
        <p:spPr bwMode="auto">
          <a:xfrm>
            <a:off x="6400830" y="1318429"/>
            <a:ext cx="845218" cy="299160"/>
          </a:xfrm>
          <a:prstGeom prst="rect">
            <a:avLst/>
          </a:prstGeom>
          <a:solidFill>
            <a:schemeClr val="accent2"/>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white"/>
                </a:solidFill>
                <a:effectLst/>
                <a:uLnTx/>
                <a:uFillTx/>
                <a:latin typeface="Rix모던고딕 EB"/>
                <a:ea typeface="Rix모던고딕 EB"/>
                <a:cs typeface="+mn-cs"/>
              </a:rPr>
              <a:t>번역문 교체</a:t>
            </a:r>
          </a:p>
        </p:txBody>
      </p:sp>
      <p:sp>
        <p:nvSpPr>
          <p:cNvPr id="47" name="TextBox 46"/>
          <p:cNvSpPr txBox="1"/>
          <p:nvPr/>
        </p:nvSpPr>
        <p:spPr>
          <a:xfrm>
            <a:off x="1913315" y="986117"/>
            <a:ext cx="4240131" cy="671548"/>
          </a:xfrm>
          <a:prstGeom prst="rect">
            <a:avLst/>
          </a:prstGeom>
          <a:solidFill>
            <a:schemeClr val="accent4">
              <a:lumMod val="20000"/>
              <a:lumOff val="80000"/>
            </a:schemeClr>
          </a:solidFill>
          <a:ln>
            <a:solidFill>
              <a:schemeClr val="bg1">
                <a:lumMod val="50000"/>
              </a:schemeClr>
            </a:solidFill>
            <a:prstDash val="sysDot"/>
          </a:ln>
        </p:spPr>
        <p:txBody>
          <a:bodyPr wrap="square" rtlCol="0">
            <a:no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보정 후의 청구범위에 대한 국어번역문으로 대체 가능</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②</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 및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항의 규정 적용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srgbClr val="A5A5A5">
                    <a:lumMod val="50000"/>
                  </a:srgbClr>
                </a:solidFill>
                <a:effectLst/>
                <a:uLnTx/>
                <a:uFillTx/>
                <a:latin typeface="Frutiger LT 65 Bold"/>
                <a:ea typeface="Rix모던고딕 B"/>
                <a:cs typeface="+mn-cs"/>
              </a:rPr>
              <a:t>201⑧</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- 2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번 국어번역문 제출 不要</a:t>
            </a:r>
          </a:p>
        </p:txBody>
      </p:sp>
      <p:cxnSp>
        <p:nvCxnSpPr>
          <p:cNvPr id="48" name="꺾인 연결선 47"/>
          <p:cNvCxnSpPr>
            <a:stCxn id="33" idx="4"/>
            <a:endCxn id="46" idx="2"/>
          </p:cNvCxnSpPr>
          <p:nvPr/>
        </p:nvCxnSpPr>
        <p:spPr>
          <a:xfrm rot="5400000" flipH="1" flipV="1">
            <a:off x="5622849" y="1373336"/>
            <a:ext cx="956337" cy="1444844"/>
          </a:xfrm>
          <a:prstGeom prst="bentConnector3">
            <a:avLst>
              <a:gd name="adj1" fmla="val 50000"/>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꺾인 연결선 48"/>
          <p:cNvCxnSpPr>
            <a:stCxn id="28" idx="4"/>
            <a:endCxn id="24" idx="1"/>
          </p:cNvCxnSpPr>
          <p:nvPr/>
        </p:nvCxnSpPr>
        <p:spPr>
          <a:xfrm rot="16200000" flipV="1">
            <a:off x="1087994" y="973756"/>
            <a:ext cx="1135568" cy="2064772"/>
          </a:xfrm>
          <a:prstGeom prst="bentConnector4">
            <a:avLst>
              <a:gd name="adj1" fmla="val 43414"/>
              <a:gd name="adj2" fmla="val 111071"/>
            </a:avLst>
          </a:prstGeom>
          <a:ln w="3175">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직사각형 49"/>
          <p:cNvSpPr/>
          <p:nvPr/>
        </p:nvSpPr>
        <p:spPr>
          <a:xfrm>
            <a:off x="143339" y="5762408"/>
            <a:ext cx="6372449" cy="880437"/>
          </a:xfrm>
          <a:prstGeom prst="rect">
            <a:avLst/>
          </a:prstGeom>
          <a:solidFill>
            <a:schemeClr val="accent1">
              <a:lumMod val="20000"/>
              <a:lumOff val="80000"/>
            </a:schemeClr>
          </a:solidFill>
        </p:spPr>
        <p:txBody>
          <a:bodyPr wrap="square">
            <a:no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국어번역문의 제출기간을 연장하여 달라는 취지를 국내 단계 진입 의사 서면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 적어 국내서면제출기간 만료일 전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개월부터 그 만료일까지 제출한 경우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서면을 제출하기 전에 국어번역문을 제출한 경우는 제외한다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에는 국어번역문의 제출기간을 국내서면제출기간 만료일부터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개월까지 연장가능</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①단서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203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②</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565</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5" name="Rectangle 14">
            <a:extLst>
              <a:ext uri="{FF2B5EF4-FFF2-40B4-BE49-F238E27FC236}">
                <a16:creationId xmlns:a16="http://schemas.microsoft.com/office/drawing/2014/main" id="{C4A1EE64-959C-E06D-F1F7-0D606807F3D3}"/>
              </a:ext>
            </a:extLst>
          </p:cNvPr>
          <p:cNvSpPr>
            <a:spLocks noChangeArrowheads="1"/>
          </p:cNvSpPr>
          <p:nvPr/>
        </p:nvSpPr>
        <p:spPr bwMode="auto">
          <a:xfrm>
            <a:off x="3328538" y="1912691"/>
            <a:ext cx="1619104" cy="299160"/>
          </a:xfrm>
          <a:prstGeom prst="rect">
            <a:avLst/>
          </a:prstGeom>
          <a:solidFill>
            <a:schemeClr val="accent1"/>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white"/>
                </a:solidFill>
                <a:effectLst/>
                <a:uLnTx/>
                <a:uFillTx/>
                <a:latin typeface="Rix모던고딕 EB"/>
                <a:ea typeface="Rix모던고딕 EB"/>
                <a:cs typeface="+mn-cs"/>
              </a:rPr>
              <a:t>국내 진입 의사 표시 서면 제출</a:t>
            </a:r>
          </a:p>
        </p:txBody>
      </p:sp>
    </p:spTree>
    <p:extLst>
      <p:ext uri="{BB962C8B-B14F-4D97-AF65-F5344CB8AC3E}">
        <p14:creationId xmlns:p14="http://schemas.microsoft.com/office/powerpoint/2010/main" val="1105727550"/>
      </p:ext>
    </p:extLst>
  </p:cSld>
  <p:clrMapOvr>
    <a:masterClrMapping/>
  </p:clrMapOvr>
  <p:transition/>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201</a:t>
            </a:r>
            <a:r>
              <a:rPr lang="ko-KR" altLang="en-US" dirty="0"/>
              <a:t>조</a:t>
            </a:r>
          </a:p>
        </p:txBody>
      </p:sp>
      <p:sp>
        <p:nvSpPr>
          <p:cNvPr id="5" name="텍스트 개체 틀 4"/>
          <p:cNvSpPr>
            <a:spLocks noGrp="1"/>
          </p:cNvSpPr>
          <p:nvPr>
            <p:ph type="body" sz="quarter" idx="13"/>
          </p:nvPr>
        </p:nvSpPr>
        <p:spPr/>
        <p:txBody>
          <a:bodyPr/>
          <a:lstStyle/>
          <a:p>
            <a:r>
              <a:rPr lang="ko-KR" altLang="en-US" dirty="0"/>
              <a:t>제</a:t>
            </a:r>
            <a:r>
              <a:rPr lang="en-US" altLang="ko-KR" dirty="0"/>
              <a:t>201</a:t>
            </a:r>
            <a:r>
              <a:rPr lang="ko-KR" altLang="en-US" dirty="0"/>
              <a:t>조와 관련된 법조문</a:t>
            </a:r>
          </a:p>
        </p:txBody>
      </p:sp>
      <p:sp>
        <p:nvSpPr>
          <p:cNvPr id="6" name="직사각형 5"/>
          <p:cNvSpPr/>
          <p:nvPr/>
        </p:nvSpPr>
        <p:spPr>
          <a:xfrm>
            <a:off x="825500" y="2667000"/>
            <a:ext cx="1016000" cy="889000"/>
          </a:xfrm>
          <a:prstGeom prst="rect">
            <a:avLst/>
          </a:prstGeom>
          <a:solidFill>
            <a:schemeClr val="accent4"/>
          </a:solidFill>
          <a:ln w="571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201</a:t>
            </a: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조</a:t>
            </a:r>
            <a:endPar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7" name="직사각형 6"/>
          <p:cNvSpPr/>
          <p:nvPr/>
        </p:nvSpPr>
        <p:spPr>
          <a:xfrm>
            <a:off x="2343680" y="1104646"/>
            <a:ext cx="1826327" cy="5080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번역문 제출</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8" name="직사각형 7"/>
          <p:cNvSpPr/>
          <p:nvPr/>
        </p:nvSpPr>
        <p:spPr>
          <a:xfrm>
            <a:off x="2343679" y="1790699"/>
            <a:ext cx="1826327" cy="5080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번역문 교체</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9" name="직사각형 8"/>
          <p:cNvSpPr/>
          <p:nvPr/>
        </p:nvSpPr>
        <p:spPr>
          <a:xfrm>
            <a:off x="2343678" y="3079623"/>
            <a:ext cx="1826327" cy="5080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white">
                    <a:lumMod val="50000"/>
                  </a:prstClr>
                </a:solidFill>
                <a:effectLst/>
                <a:uLnTx/>
                <a:uFillTx/>
                <a:latin typeface="Frutiger LT 65 Bold"/>
                <a:ea typeface="Rix모던고딕 B"/>
                <a:cs typeface="+mn-cs"/>
              </a:rPr>
              <a:t>부제출</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효과</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10" name="직사각형 9"/>
          <p:cNvSpPr/>
          <p:nvPr/>
        </p:nvSpPr>
        <p:spPr>
          <a:xfrm>
            <a:off x="2343677" y="3771647"/>
            <a:ext cx="1826327" cy="5080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제출 효과</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5</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11" name="직사각형 10"/>
          <p:cNvSpPr/>
          <p:nvPr/>
        </p:nvSpPr>
        <p:spPr>
          <a:xfrm>
            <a:off x="2343676" y="4457699"/>
            <a:ext cx="1826327" cy="5080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white">
                    <a:lumMod val="50000"/>
                  </a:prstClr>
                </a:solidFill>
                <a:effectLst/>
                <a:uLnTx/>
                <a:uFillTx/>
                <a:latin typeface="Frutiger LT 65 Bold"/>
                <a:ea typeface="Rix모던고딕 B"/>
                <a:cs typeface="+mn-cs"/>
              </a:rPr>
              <a:t>오역 정정</a:t>
            </a:r>
            <a:endParaRPr kumimoji="0" lang="en-US" altLang="ko-KR" sz="1400" b="0" i="0" u="none" strike="noStrike" kern="1200" cap="none" spc="0" normalizeH="0" baseline="0" noProof="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6</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7</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12" name="직사각형 11"/>
          <p:cNvSpPr/>
          <p:nvPr/>
        </p:nvSpPr>
        <p:spPr>
          <a:xfrm>
            <a:off x="2343675" y="5143751"/>
            <a:ext cx="1826327" cy="50800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 PCT 19 </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보정 번역문</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8</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cxnSp>
        <p:nvCxnSpPr>
          <p:cNvPr id="13" name="꺾인 연결선 12"/>
          <p:cNvCxnSpPr>
            <a:stCxn id="6" idx="3"/>
            <a:endCxn id="7" idx="1"/>
          </p:cNvCxnSpPr>
          <p:nvPr/>
        </p:nvCxnSpPr>
        <p:spPr>
          <a:xfrm flipV="1">
            <a:off x="1841500" y="1358646"/>
            <a:ext cx="502180" cy="1752854"/>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꺾인 연결선 13"/>
          <p:cNvCxnSpPr>
            <a:stCxn id="6" idx="3"/>
            <a:endCxn id="12" idx="1"/>
          </p:cNvCxnSpPr>
          <p:nvPr/>
        </p:nvCxnSpPr>
        <p:spPr>
          <a:xfrm>
            <a:off x="1841500" y="3111500"/>
            <a:ext cx="502175" cy="2286251"/>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꺾인 연결선 14"/>
          <p:cNvCxnSpPr>
            <a:stCxn id="6" idx="3"/>
            <a:endCxn id="8" idx="1"/>
          </p:cNvCxnSpPr>
          <p:nvPr/>
        </p:nvCxnSpPr>
        <p:spPr>
          <a:xfrm flipV="1">
            <a:off x="1841500" y="2044699"/>
            <a:ext cx="502179" cy="1066801"/>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꺾인 연결선 15"/>
          <p:cNvCxnSpPr>
            <a:stCxn id="6" idx="3"/>
            <a:endCxn id="11" idx="1"/>
          </p:cNvCxnSpPr>
          <p:nvPr/>
        </p:nvCxnSpPr>
        <p:spPr>
          <a:xfrm>
            <a:off x="1841500" y="3111500"/>
            <a:ext cx="502176" cy="1600199"/>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꺾인 연결선 16"/>
          <p:cNvCxnSpPr>
            <a:stCxn id="6" idx="3"/>
            <a:endCxn id="9" idx="1"/>
          </p:cNvCxnSpPr>
          <p:nvPr/>
        </p:nvCxnSpPr>
        <p:spPr>
          <a:xfrm>
            <a:off x="1841500" y="3111500"/>
            <a:ext cx="502178" cy="222123"/>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꺾인 연결선 17"/>
          <p:cNvCxnSpPr>
            <a:stCxn id="6" idx="3"/>
            <a:endCxn id="10" idx="1"/>
          </p:cNvCxnSpPr>
          <p:nvPr/>
        </p:nvCxnSpPr>
        <p:spPr>
          <a:xfrm>
            <a:off x="1841500" y="3111500"/>
            <a:ext cx="502177" cy="914147"/>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직사각형 67"/>
          <p:cNvSpPr/>
          <p:nvPr/>
        </p:nvSpPr>
        <p:spPr>
          <a:xfrm>
            <a:off x="4599877" y="1790699"/>
            <a:ext cx="2872126" cy="5080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출원심사청구시기의 제한</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210</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69" name="직사각형 68"/>
          <p:cNvSpPr/>
          <p:nvPr/>
        </p:nvSpPr>
        <p:spPr>
          <a:xfrm>
            <a:off x="4599877" y="1104646"/>
            <a:ext cx="2872126" cy="5080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서면의 제출</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203</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70" name="직사각형 69"/>
          <p:cNvSpPr/>
          <p:nvPr/>
        </p:nvSpPr>
        <p:spPr>
          <a:xfrm>
            <a:off x="4599877" y="4572251"/>
            <a:ext cx="2872126" cy="5080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국제조사보고서를 받은 후의 보정</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204</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71" name="직사각형 70"/>
          <p:cNvSpPr/>
          <p:nvPr/>
        </p:nvSpPr>
        <p:spPr>
          <a:xfrm>
            <a:off x="7910175" y="4572251"/>
            <a:ext cx="2872126" cy="5080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국제예비심사보고서 작정 전의 보정</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205</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72" name="직사각형 71"/>
          <p:cNvSpPr/>
          <p:nvPr/>
        </p:nvSpPr>
        <p:spPr>
          <a:xfrm>
            <a:off x="7910175" y="2831847"/>
            <a:ext cx="2872126" cy="5080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보정의 특례 등</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208</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73" name="직사각형 72"/>
          <p:cNvSpPr/>
          <p:nvPr/>
        </p:nvSpPr>
        <p:spPr>
          <a:xfrm>
            <a:off x="7910175" y="1790699"/>
            <a:ext cx="2872126" cy="5080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변경출원시기의 제한</a:t>
            </a:r>
            <a:endPar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209</a:t>
            </a:r>
            <a:r>
              <a:rPr kumimoji="0" lang="ko-KR" altLang="en-US"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prstClr val="white">
                    <a:lumMod val="50000"/>
                  </a:prstClr>
                </a:solidFill>
                <a:effectLst/>
                <a:uLnTx/>
                <a:uFillTx/>
                <a:latin typeface="Frutiger LT 65 Bold"/>
                <a:ea typeface="Rix모던고딕 B"/>
                <a:cs typeface="+mn-cs"/>
              </a:rPr>
              <a:t>)</a:t>
            </a:r>
          </a:p>
        </p:txBody>
      </p:sp>
      <p:sp>
        <p:nvSpPr>
          <p:cNvPr id="86" name="직사각형 85"/>
          <p:cNvSpPr/>
          <p:nvPr/>
        </p:nvSpPr>
        <p:spPr>
          <a:xfrm>
            <a:off x="825500" y="4140199"/>
            <a:ext cx="1016000" cy="889000"/>
          </a:xfrm>
          <a:prstGeom prst="rect">
            <a:avLst/>
          </a:prstGeom>
          <a:solidFill>
            <a:schemeClr val="accent2"/>
          </a:solidFill>
          <a:ln w="571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42</a:t>
            </a: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조의</a:t>
            </a: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3</a:t>
            </a:r>
          </a:p>
        </p:txBody>
      </p:sp>
      <p:cxnSp>
        <p:nvCxnSpPr>
          <p:cNvPr id="88" name="직선 연결선 87"/>
          <p:cNvCxnSpPr>
            <a:stCxn id="6" idx="2"/>
            <a:endCxn id="86" idx="0"/>
          </p:cNvCxnSpPr>
          <p:nvPr/>
        </p:nvCxnSpPr>
        <p:spPr>
          <a:xfrm>
            <a:off x="1333500" y="3556000"/>
            <a:ext cx="0" cy="584199"/>
          </a:xfrm>
          <a:prstGeom prst="line">
            <a:avLst/>
          </a:prstGeom>
          <a:ln w="127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0" name="직선 연결선 89"/>
          <p:cNvCxnSpPr>
            <a:stCxn id="7" idx="3"/>
            <a:endCxn id="69" idx="1"/>
          </p:cNvCxnSpPr>
          <p:nvPr/>
        </p:nvCxnSpPr>
        <p:spPr>
          <a:xfrm>
            <a:off x="4170007" y="1358646"/>
            <a:ext cx="429870" cy="0"/>
          </a:xfrm>
          <a:prstGeom prst="line">
            <a:avLst/>
          </a:prstGeom>
          <a:ln w="127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1" name="직선 연결선 90"/>
          <p:cNvCxnSpPr>
            <a:stCxn id="8" idx="3"/>
            <a:endCxn id="68" idx="1"/>
          </p:cNvCxnSpPr>
          <p:nvPr/>
        </p:nvCxnSpPr>
        <p:spPr>
          <a:xfrm>
            <a:off x="4170006" y="2044699"/>
            <a:ext cx="429871" cy="0"/>
          </a:xfrm>
          <a:prstGeom prst="line">
            <a:avLst/>
          </a:prstGeom>
          <a:ln w="127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96" name="그룹 95"/>
          <p:cNvGrpSpPr/>
          <p:nvPr/>
        </p:nvGrpSpPr>
        <p:grpSpPr>
          <a:xfrm>
            <a:off x="4599877" y="2368169"/>
            <a:ext cx="317500" cy="647954"/>
            <a:chOff x="4853877" y="3015869"/>
            <a:chExt cx="317500" cy="743330"/>
          </a:xfrm>
        </p:grpSpPr>
        <p:sp>
          <p:nvSpPr>
            <p:cNvPr id="94" name="직사각형 93"/>
            <p:cNvSpPr/>
            <p:nvPr/>
          </p:nvSpPr>
          <p:spPr>
            <a:xfrm>
              <a:off x="4853877" y="3015869"/>
              <a:ext cx="317500" cy="349377"/>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5" name="직사각형 94"/>
            <p:cNvSpPr/>
            <p:nvPr/>
          </p:nvSpPr>
          <p:spPr>
            <a:xfrm>
              <a:off x="4853877" y="3409822"/>
              <a:ext cx="317500" cy="349377"/>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grpSp>
      <p:sp>
        <p:nvSpPr>
          <p:cNvPr id="98" name="직사각형 97"/>
          <p:cNvSpPr/>
          <p:nvPr/>
        </p:nvSpPr>
        <p:spPr>
          <a:xfrm>
            <a:off x="4599877" y="5187569"/>
            <a:ext cx="317500" cy="30454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①</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9" name="직사각형 98"/>
          <p:cNvSpPr/>
          <p:nvPr/>
        </p:nvSpPr>
        <p:spPr>
          <a:xfrm>
            <a:off x="4599877" y="5530974"/>
            <a:ext cx="317500" cy="30454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②</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0" name="직사각형 99"/>
          <p:cNvSpPr/>
          <p:nvPr/>
        </p:nvSpPr>
        <p:spPr>
          <a:xfrm>
            <a:off x="4599877" y="5874379"/>
            <a:ext cx="317500" cy="30454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③</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1" name="직사각형 100"/>
          <p:cNvSpPr/>
          <p:nvPr/>
        </p:nvSpPr>
        <p:spPr>
          <a:xfrm>
            <a:off x="4599877" y="6217784"/>
            <a:ext cx="317500" cy="30454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④</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2" name="직사각형 101"/>
          <p:cNvSpPr/>
          <p:nvPr/>
        </p:nvSpPr>
        <p:spPr>
          <a:xfrm>
            <a:off x="7910175" y="5187569"/>
            <a:ext cx="317500" cy="30454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①</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3" name="직사각형 102"/>
          <p:cNvSpPr/>
          <p:nvPr/>
        </p:nvSpPr>
        <p:spPr>
          <a:xfrm>
            <a:off x="7910175" y="5530974"/>
            <a:ext cx="317500" cy="30454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②</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4" name="직사각형 103"/>
          <p:cNvSpPr/>
          <p:nvPr/>
        </p:nvSpPr>
        <p:spPr>
          <a:xfrm>
            <a:off x="7910175" y="5874379"/>
            <a:ext cx="317500" cy="30454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③</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6" name="직사각형 105"/>
          <p:cNvSpPr/>
          <p:nvPr/>
        </p:nvSpPr>
        <p:spPr>
          <a:xfrm>
            <a:off x="7901878" y="3427987"/>
            <a:ext cx="317500" cy="30454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①</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8" name="직사각형 107"/>
          <p:cNvSpPr/>
          <p:nvPr/>
        </p:nvSpPr>
        <p:spPr>
          <a:xfrm>
            <a:off x="7901878" y="3797297"/>
            <a:ext cx="317500" cy="30454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③</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9" name="직사각형 108"/>
          <p:cNvSpPr/>
          <p:nvPr/>
        </p:nvSpPr>
        <p:spPr>
          <a:xfrm>
            <a:off x="7901878" y="4140702"/>
            <a:ext cx="317500" cy="304549"/>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④</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11" name="꺾인 연결선 110"/>
          <p:cNvCxnSpPr>
            <a:stCxn id="73" idx="2"/>
            <a:endCxn id="94" idx="3"/>
          </p:cNvCxnSpPr>
          <p:nvPr/>
        </p:nvCxnSpPr>
        <p:spPr>
          <a:xfrm rot="5400000">
            <a:off x="7020936" y="195141"/>
            <a:ext cx="221745" cy="4428861"/>
          </a:xfrm>
          <a:prstGeom prst="bentConnector2">
            <a:avLst/>
          </a:pr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2" name="꺾인 연결선 121"/>
          <p:cNvCxnSpPr>
            <a:stCxn id="95" idx="1"/>
            <a:endCxn id="8" idx="2"/>
          </p:cNvCxnSpPr>
          <p:nvPr/>
        </p:nvCxnSpPr>
        <p:spPr>
          <a:xfrm rot="10800000">
            <a:off x="3256843" y="2298699"/>
            <a:ext cx="1343034" cy="565150"/>
          </a:xfrm>
          <a:prstGeom prst="bentConnector2">
            <a:avLst/>
          </a:pr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4" name="꺾인 연결선 123"/>
          <p:cNvCxnSpPr>
            <a:stCxn id="12" idx="3"/>
            <a:endCxn id="70" idx="1"/>
          </p:cNvCxnSpPr>
          <p:nvPr/>
        </p:nvCxnSpPr>
        <p:spPr>
          <a:xfrm flipV="1">
            <a:off x="4170002" y="4826251"/>
            <a:ext cx="429875" cy="571500"/>
          </a:xfrm>
          <a:prstGeom prst="bentConnector3">
            <a:avLst/>
          </a:prstGeom>
          <a:ln w="127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6" name="직선 연결선 125"/>
          <p:cNvCxnSpPr>
            <a:stCxn id="98" idx="3"/>
            <a:endCxn id="102" idx="1"/>
          </p:cNvCxnSpPr>
          <p:nvPr/>
        </p:nvCxnSpPr>
        <p:spPr>
          <a:xfrm>
            <a:off x="4917377" y="5339844"/>
            <a:ext cx="2992798" cy="0"/>
          </a:xfrm>
          <a:prstGeom prst="line">
            <a:avLst/>
          </a:pr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7" name="직선 연결선 126"/>
          <p:cNvCxnSpPr>
            <a:stCxn id="99" idx="3"/>
            <a:endCxn id="103" idx="1"/>
          </p:cNvCxnSpPr>
          <p:nvPr/>
        </p:nvCxnSpPr>
        <p:spPr>
          <a:xfrm>
            <a:off x="4917377" y="5683249"/>
            <a:ext cx="2992798" cy="0"/>
          </a:xfrm>
          <a:prstGeom prst="line">
            <a:avLst/>
          </a:pr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0" name="꺾인 연결선 129"/>
          <p:cNvCxnSpPr>
            <a:stCxn id="104" idx="1"/>
            <a:endCxn id="101" idx="3"/>
          </p:cNvCxnSpPr>
          <p:nvPr/>
        </p:nvCxnSpPr>
        <p:spPr>
          <a:xfrm rot="10800000" flipV="1">
            <a:off x="4917377" y="6026653"/>
            <a:ext cx="2992798" cy="343405"/>
          </a:xfrm>
          <a:prstGeom prst="bentConnector3">
            <a:avLst>
              <a:gd name="adj1" fmla="val 50000"/>
            </a:avLst>
          </a:pr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4" name="꺾인 연결선 133"/>
          <p:cNvCxnSpPr>
            <a:stCxn id="99" idx="1"/>
            <a:endCxn id="106" idx="3"/>
          </p:cNvCxnSpPr>
          <p:nvPr/>
        </p:nvCxnSpPr>
        <p:spPr>
          <a:xfrm rot="10800000" flipH="1">
            <a:off x="4599876" y="3580263"/>
            <a:ext cx="3619501" cy="2102987"/>
          </a:xfrm>
          <a:prstGeom prst="bentConnector5">
            <a:avLst>
              <a:gd name="adj1" fmla="val -6316"/>
              <a:gd name="adj2" fmla="val -43605"/>
              <a:gd name="adj3" fmla="val 194386"/>
            </a:avLst>
          </a:pr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8" name="꺾인 연결선 137"/>
          <p:cNvCxnSpPr>
            <a:stCxn id="103" idx="3"/>
            <a:endCxn id="106" idx="3"/>
          </p:cNvCxnSpPr>
          <p:nvPr/>
        </p:nvCxnSpPr>
        <p:spPr>
          <a:xfrm flipH="1" flipV="1">
            <a:off x="8219378" y="3580262"/>
            <a:ext cx="8297" cy="2102987"/>
          </a:xfrm>
          <a:prstGeom prst="bentConnector3">
            <a:avLst>
              <a:gd name="adj1" fmla="val -41022056"/>
            </a:avLst>
          </a:pr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1" name="직선 화살표 연결선 140"/>
          <p:cNvCxnSpPr>
            <a:stCxn id="68" idx="3"/>
            <a:endCxn id="73" idx="1"/>
          </p:cNvCxnSpPr>
          <p:nvPr/>
        </p:nvCxnSpPr>
        <p:spPr>
          <a:xfrm>
            <a:off x="7472003" y="2044699"/>
            <a:ext cx="438172" cy="0"/>
          </a:xfrm>
          <a:prstGeom prst="straightConnector1">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3" name="직선 화살표 연결선 142"/>
          <p:cNvCxnSpPr>
            <a:stCxn id="70" idx="3"/>
            <a:endCxn id="71" idx="1"/>
          </p:cNvCxnSpPr>
          <p:nvPr/>
        </p:nvCxnSpPr>
        <p:spPr>
          <a:xfrm>
            <a:off x="7472003" y="4826251"/>
            <a:ext cx="438172" cy="0"/>
          </a:xfrm>
          <a:prstGeom prst="straightConnector1">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5" name="꺾인 연결선 144"/>
          <p:cNvCxnSpPr>
            <a:stCxn id="70" idx="0"/>
            <a:endCxn id="72" idx="1"/>
          </p:cNvCxnSpPr>
          <p:nvPr/>
        </p:nvCxnSpPr>
        <p:spPr>
          <a:xfrm rot="5400000" flipH="1" flipV="1">
            <a:off x="6229855" y="2891932"/>
            <a:ext cx="1486404" cy="1874235"/>
          </a:xfrm>
          <a:prstGeom prst="bentConnector2">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7" name="꺾인 연결선 146"/>
          <p:cNvCxnSpPr>
            <a:stCxn id="71" idx="3"/>
            <a:endCxn id="72" idx="3"/>
          </p:cNvCxnSpPr>
          <p:nvPr/>
        </p:nvCxnSpPr>
        <p:spPr>
          <a:xfrm flipV="1">
            <a:off x="10782301" y="3085847"/>
            <a:ext cx="12700" cy="1740404"/>
          </a:xfrm>
          <a:prstGeom prst="bentConnector3">
            <a:avLst>
              <a:gd name="adj1" fmla="val 1800000"/>
            </a:avLst>
          </a:prstGeom>
          <a:ln w="12700">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566</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512641726"/>
      </p:ext>
    </p:extLst>
  </p:cSld>
  <p:clrMapOvr>
    <a:masterClrMapping/>
  </p:clrMapOvr>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203</a:t>
            </a:r>
            <a:r>
              <a:rPr lang="ko-KR" altLang="en-US" dirty="0"/>
              <a:t>조</a:t>
            </a:r>
          </a:p>
        </p:txBody>
      </p:sp>
      <p:sp>
        <p:nvSpPr>
          <p:cNvPr id="5" name="텍스트 개체 틀 4"/>
          <p:cNvSpPr>
            <a:spLocks noGrp="1"/>
          </p:cNvSpPr>
          <p:nvPr>
            <p:ph type="body" sz="quarter" idx="13"/>
          </p:nvPr>
        </p:nvSpPr>
        <p:spPr/>
        <p:txBody>
          <a:bodyPr/>
          <a:lstStyle/>
          <a:p>
            <a:r>
              <a:rPr lang="ko-KR" altLang="en-US" dirty="0"/>
              <a:t>국내진입의사표시서면의 제출</a:t>
            </a:r>
          </a:p>
        </p:txBody>
      </p:sp>
      <p:cxnSp>
        <p:nvCxnSpPr>
          <p:cNvPr id="48" name="직선 연결선 47"/>
          <p:cNvCxnSpPr/>
          <p:nvPr/>
        </p:nvCxnSpPr>
        <p:spPr>
          <a:xfrm>
            <a:off x="77875" y="408544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77875" y="976902"/>
            <a:ext cx="11936323" cy="3108543"/>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203</a:t>
            </a: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서면의 제출</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국제특허출원의 출원인은 국내서면제출기간에 다음 각 호의 사항을 적은 서면을 지식재산처장에게 제출하여야 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이 경우 국제특허출원을 외국어로 출원한 </a:t>
            </a:r>
            <a:r>
              <a:rPr kumimoji="0" lang="ko-KR" altLang="en-US" sz="1400" b="0" i="0" u="none" strike="noStrike" kern="1200" cap="none" spc="0" normalizeH="0" baseline="0" noProof="0" dirty="0" err="1">
                <a:ln>
                  <a:noFill/>
                </a:ln>
                <a:solidFill>
                  <a:srgbClr val="FF0000"/>
                </a:solidFill>
                <a:effectLst/>
                <a:uLnTx/>
                <a:uFillTx/>
                <a:latin typeface="Rix모던고딕 B"/>
                <a:ea typeface="Rix모던고딕 B"/>
                <a:cs typeface="+mn-cs"/>
              </a:rPr>
              <a:t>출원인은</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 제</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201</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항에 따른 국어번역문을 함께 제출하여야 한다</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출원인의 성명 및 주소</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법인인 경우에는 그 명칭 및 영업소의 소재지</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출원인의 대리인이 있는 경우에는 그 대리인의 성명 및 주소나 영업소의 소재지</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대리인이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특허법인ㆍ특허법인</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유한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인 경우에는 그 명칭</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사무소의 소재지 및 지정된 변리사의 성명</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3.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발명의 명칭</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발명자의 성명 및 주소</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5.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국제출원일</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및 국제출원번호</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②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후단에도 불구하고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201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단서에 </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따라 국어번역문의 제출기간을 연장하여 달라는 취지를 적어 제</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항 전단에 따른 서면을 제출하는 경우에는 국어번역문을 함께 제출하지 아니할 수 있다</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지식재산처장은 다음 각 호의 어느 하나에 해당하는 경우에는 보정기간을 정하여 보정을 명하여야 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전단에 따른 서면을 국내서면제출기간에 제출하지 아니한 경우</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전단에 따라 제출된 서면이 이 법 또는 이 법에 따른 명령으로 정하는 방식에 위반되는 경우</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④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따른 보정명령을 받은 자가 지정된 기간에 보정을 하지 아니하면 지식재산처장은 </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해당 국제특허출원을 무효로 할 수 있다</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p>
        </p:txBody>
      </p:sp>
      <p:sp>
        <p:nvSpPr>
          <p:cNvPr id="52" name="양쪽 모서리가 둥근 사각형 51"/>
          <p:cNvSpPr/>
          <p:nvPr/>
        </p:nvSpPr>
        <p:spPr>
          <a:xfrm>
            <a:off x="7444564" y="5004030"/>
            <a:ext cx="1688411" cy="385521"/>
          </a:xfrm>
          <a:prstGeom prst="round2SameRect">
            <a:avLst>
              <a:gd name="adj1" fmla="val 0"/>
              <a:gd name="adj2" fmla="val 50000"/>
            </a:avLst>
          </a:prstGeom>
          <a:pattFill prst="pct1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3" name="양쪽 모서리가 둥근 사각형 52"/>
          <p:cNvSpPr/>
          <p:nvPr/>
        </p:nvSpPr>
        <p:spPr>
          <a:xfrm>
            <a:off x="1402994" y="4580217"/>
            <a:ext cx="7729982" cy="404667"/>
          </a:xfrm>
          <a:prstGeom prst="round2SameRect">
            <a:avLst>
              <a:gd name="adj1" fmla="val 50000"/>
              <a:gd name="adj2" fmla="val 0"/>
            </a:avLst>
          </a:prstGeom>
          <a:pattFill prst="lgGrid">
            <a:fgClr>
              <a:schemeClr val="accent4">
                <a:lumMod val="75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54" name="직선 연결선 53"/>
          <p:cNvCxnSpPr/>
          <p:nvPr/>
        </p:nvCxnSpPr>
        <p:spPr>
          <a:xfrm>
            <a:off x="990600" y="4984884"/>
            <a:ext cx="10459401"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직사각형 54"/>
          <p:cNvSpPr/>
          <p:nvPr/>
        </p:nvSpPr>
        <p:spPr>
          <a:xfrm>
            <a:off x="689336" y="4828329"/>
            <a:ext cx="1190264" cy="33435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국내출원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6" name="직사각형 55"/>
          <p:cNvSpPr/>
          <p:nvPr/>
        </p:nvSpPr>
        <p:spPr>
          <a:xfrm>
            <a:off x="3814943" y="4249360"/>
            <a:ext cx="2886992" cy="2949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개월</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국내서면제출기간의 만료일</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7" name="직사각형 56"/>
          <p:cNvSpPr/>
          <p:nvPr/>
        </p:nvSpPr>
        <p:spPr>
          <a:xfrm>
            <a:off x="2451100" y="4828329"/>
            <a:ext cx="1190264" cy="33435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8" name="직사각형 57"/>
          <p:cNvSpPr/>
          <p:nvPr/>
        </p:nvSpPr>
        <p:spPr>
          <a:xfrm>
            <a:off x="2451100" y="5169166"/>
            <a:ext cx="1190264" cy="334354"/>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우선권주장</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9" name="직사각형 58"/>
          <p:cNvSpPr/>
          <p:nvPr/>
        </p:nvSpPr>
        <p:spPr>
          <a:xfrm>
            <a:off x="4051300" y="4828329"/>
            <a:ext cx="1320800" cy="33435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수수료 납부</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1" name="직사각형 60"/>
          <p:cNvSpPr/>
          <p:nvPr/>
        </p:nvSpPr>
        <p:spPr>
          <a:xfrm>
            <a:off x="7827822" y="5046251"/>
            <a:ext cx="669660" cy="2900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600" b="1"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600" b="1" i="0" u="none" strike="noStrike" kern="1200" cap="none" spc="0" normalizeH="0" baseline="0" noProof="0" dirty="0">
                <a:ln>
                  <a:noFill/>
                </a:ln>
                <a:solidFill>
                  <a:prstClr val="black"/>
                </a:solidFill>
                <a:effectLst/>
                <a:uLnTx/>
                <a:uFillTx/>
                <a:latin typeface="Frutiger LT 65 Bold"/>
                <a:ea typeface="Rix모던고딕 B"/>
                <a:cs typeface="+mn-cs"/>
              </a:rPr>
              <a:t>개월</a:t>
            </a:r>
          </a:p>
        </p:txBody>
      </p:sp>
      <p:sp>
        <p:nvSpPr>
          <p:cNvPr id="74" name="양쪽 모서리가 둥근 사각형 73"/>
          <p:cNvSpPr/>
          <p:nvPr/>
        </p:nvSpPr>
        <p:spPr>
          <a:xfrm>
            <a:off x="9132975" y="5004030"/>
            <a:ext cx="1688411" cy="385521"/>
          </a:xfrm>
          <a:prstGeom prst="round2SameRect">
            <a:avLst>
              <a:gd name="adj1" fmla="val 0"/>
              <a:gd name="adj2" fmla="val 50000"/>
            </a:avLst>
          </a:prstGeom>
          <a:pattFill prst="dotGrid">
            <a:fgClr>
              <a:schemeClr val="accent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5" name="직사각형 74"/>
          <p:cNvSpPr/>
          <p:nvPr/>
        </p:nvSpPr>
        <p:spPr>
          <a:xfrm>
            <a:off x="9516233" y="5046251"/>
            <a:ext cx="669660" cy="2900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600" b="1"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600" b="1" i="0" u="none" strike="noStrike" kern="1200" cap="none" spc="0" normalizeH="0" baseline="0" noProof="0" dirty="0">
                <a:ln>
                  <a:noFill/>
                </a:ln>
                <a:solidFill>
                  <a:prstClr val="black"/>
                </a:solidFill>
                <a:effectLst/>
                <a:uLnTx/>
                <a:uFillTx/>
                <a:latin typeface="Frutiger LT 65 Bold"/>
                <a:ea typeface="Rix모던고딕 B"/>
                <a:cs typeface="+mn-cs"/>
              </a:rPr>
              <a:t>개월</a:t>
            </a:r>
          </a:p>
        </p:txBody>
      </p:sp>
      <p:sp>
        <p:nvSpPr>
          <p:cNvPr id="76" name="직사각형 75"/>
          <p:cNvSpPr/>
          <p:nvPr/>
        </p:nvSpPr>
        <p:spPr>
          <a:xfrm>
            <a:off x="6870700" y="5884322"/>
            <a:ext cx="2262275" cy="491078"/>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국내진입의사표시서면 제출</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9" name="직선 화살표 연결선 18"/>
          <p:cNvCxnSpPr/>
          <p:nvPr/>
        </p:nvCxnSpPr>
        <p:spPr>
          <a:xfrm flipV="1">
            <a:off x="8737600" y="5020775"/>
            <a:ext cx="0" cy="86354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7" name="직사각형 76"/>
          <p:cNvSpPr/>
          <p:nvPr/>
        </p:nvSpPr>
        <p:spPr>
          <a:xfrm>
            <a:off x="9473363" y="5884322"/>
            <a:ext cx="2262275" cy="491078"/>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 제출</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항단서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8" name="직선 화살표 연결선 77"/>
          <p:cNvCxnSpPr/>
          <p:nvPr/>
        </p:nvCxnSpPr>
        <p:spPr>
          <a:xfrm flipV="1">
            <a:off x="10426700" y="5020775"/>
            <a:ext cx="0" cy="86354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567</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673635007"/>
      </p:ext>
    </p:extLst>
  </p:cSld>
  <p:clrMapOvr>
    <a:masterClrMapping/>
  </p:clrMapOvr>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9" name="직선 연결선 78"/>
          <p:cNvCxnSpPr/>
          <p:nvPr/>
        </p:nvCxnSpPr>
        <p:spPr>
          <a:xfrm>
            <a:off x="7251700" y="5160606"/>
            <a:ext cx="0" cy="881367"/>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6" name="양쪽 모서리가 둥근 사각형 135"/>
          <p:cNvSpPr/>
          <p:nvPr/>
        </p:nvSpPr>
        <p:spPr>
          <a:xfrm>
            <a:off x="3352799" y="6061119"/>
            <a:ext cx="7740406" cy="563320"/>
          </a:xfrm>
          <a:prstGeom prst="round2SameRect">
            <a:avLst>
              <a:gd name="adj1" fmla="val 0"/>
              <a:gd name="adj2" fmla="val 50000"/>
            </a:avLst>
          </a:prstGeom>
          <a:pattFill prst="pct10">
            <a:fgClr>
              <a:schemeClr val="bg2">
                <a:lumMod val="50000"/>
              </a:schemeClr>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5" name="양쪽 모서리가 둥근 사각형 44"/>
          <p:cNvSpPr/>
          <p:nvPr/>
        </p:nvSpPr>
        <p:spPr>
          <a:xfrm>
            <a:off x="7166792" y="1598384"/>
            <a:ext cx="3997851" cy="404667"/>
          </a:xfrm>
          <a:prstGeom prst="round2SameRect">
            <a:avLst>
              <a:gd name="adj1" fmla="val 50000"/>
              <a:gd name="adj2" fmla="val 0"/>
            </a:avLst>
          </a:prstGeom>
          <a:pattFill prst="lgGrid">
            <a:fgClr>
              <a:schemeClr val="accent4">
                <a:lumMod val="75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 name="제목 3"/>
          <p:cNvSpPr>
            <a:spLocks noGrp="1"/>
          </p:cNvSpPr>
          <p:nvPr>
            <p:ph type="title"/>
          </p:nvPr>
        </p:nvSpPr>
        <p:spPr/>
        <p:txBody>
          <a:bodyPr/>
          <a:lstStyle/>
          <a:p>
            <a:r>
              <a:rPr lang="ko-KR" altLang="en-US" dirty="0"/>
              <a:t>제</a:t>
            </a:r>
            <a:r>
              <a:rPr lang="en-US" altLang="ko-KR" dirty="0"/>
              <a:t>209</a:t>
            </a:r>
            <a:r>
              <a:rPr lang="ko-KR" altLang="en-US" dirty="0"/>
              <a:t>조</a:t>
            </a:r>
            <a:r>
              <a:rPr lang="en-US" altLang="ko-KR" dirty="0"/>
              <a:t>, </a:t>
            </a:r>
            <a:r>
              <a:rPr lang="ko-KR" altLang="en-US" dirty="0"/>
              <a:t>제</a:t>
            </a:r>
            <a:r>
              <a:rPr lang="en-US" altLang="ko-KR" dirty="0"/>
              <a:t>210</a:t>
            </a:r>
            <a:r>
              <a:rPr lang="ko-KR" altLang="en-US" dirty="0"/>
              <a:t>조</a:t>
            </a:r>
          </a:p>
        </p:txBody>
      </p:sp>
      <p:sp>
        <p:nvSpPr>
          <p:cNvPr id="5" name="텍스트 개체 틀 4"/>
          <p:cNvSpPr>
            <a:spLocks noGrp="1"/>
          </p:cNvSpPr>
          <p:nvPr>
            <p:ph type="body" sz="quarter" idx="13"/>
          </p:nvPr>
        </p:nvSpPr>
        <p:spPr/>
        <p:txBody>
          <a:bodyPr/>
          <a:lstStyle/>
          <a:p>
            <a:r>
              <a:rPr lang="ko-KR" altLang="en-US" dirty="0"/>
              <a:t>기준일의 정의</a:t>
            </a:r>
          </a:p>
        </p:txBody>
      </p:sp>
      <p:sp>
        <p:nvSpPr>
          <p:cNvPr id="3" name="직사각형 2"/>
          <p:cNvSpPr/>
          <p:nvPr/>
        </p:nvSpPr>
        <p:spPr>
          <a:xfrm>
            <a:off x="389118" y="1041400"/>
            <a:ext cx="1663700" cy="444500"/>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a:ln>
                  <a:noFill/>
                </a:ln>
                <a:solidFill>
                  <a:prstClr val="white"/>
                </a:solidFill>
                <a:effectLst/>
                <a:uLnTx/>
                <a:uFillTx/>
                <a:latin typeface="Frutiger LT 65 Bold"/>
                <a:ea typeface="Rix모던고딕 B"/>
                <a:cs typeface="+mn-cs"/>
              </a:rPr>
              <a:t>번역문 교체시기</a:t>
            </a:r>
          </a:p>
        </p:txBody>
      </p:sp>
      <p:sp>
        <p:nvSpPr>
          <p:cNvPr id="51" name="직사각형 50"/>
          <p:cNvSpPr/>
          <p:nvPr/>
        </p:nvSpPr>
        <p:spPr>
          <a:xfrm>
            <a:off x="2095500" y="1041400"/>
            <a:ext cx="2070100" cy="444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2400" b="0" i="0" u="none" strike="noStrike" kern="1200" cap="none" spc="0" normalizeH="0" baseline="0" noProof="0" dirty="0">
                <a:ln>
                  <a:noFill/>
                </a:ln>
                <a:solidFill>
                  <a:srgbClr val="FF0000"/>
                </a:solidFill>
                <a:effectLst/>
                <a:uLnTx/>
                <a:uFillTx/>
                <a:latin typeface="Frutiger LT 65 Bold"/>
                <a:ea typeface="Rix모던고딕 B"/>
                <a:cs typeface="+mn-cs"/>
              </a:rPr>
              <a:t>기준일</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까지 가능</a:t>
            </a:r>
          </a:p>
        </p:txBody>
      </p:sp>
      <p:cxnSp>
        <p:nvCxnSpPr>
          <p:cNvPr id="20" name="직선 연결선 19"/>
          <p:cNvCxnSpPr/>
          <p:nvPr/>
        </p:nvCxnSpPr>
        <p:spPr>
          <a:xfrm>
            <a:off x="2171700" y="1485900"/>
            <a:ext cx="812800" cy="0"/>
          </a:xfrm>
          <a:prstGeom prst="line">
            <a:avLst/>
          </a:prstGeom>
          <a:ln w="57150">
            <a:solidFill>
              <a:schemeClr val="accent2">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 name="직사각형 24"/>
          <p:cNvSpPr/>
          <p:nvPr/>
        </p:nvSpPr>
        <p:spPr>
          <a:xfrm>
            <a:off x="389118" y="1839436"/>
            <a:ext cx="6240282" cy="892552"/>
          </a:xfrm>
          <a:prstGeom prst="rect">
            <a:avLst/>
          </a:prstGeom>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국제단계에서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국내단계로</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진입시점</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국어번역문의 확정일</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기준일이 지난 후에는 더 이상 번역문 교체 불가</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2000" b="0" i="0" u="none" strike="noStrike" kern="1200" cap="none" spc="0" normalizeH="0" baseline="0" noProof="0" dirty="0">
                <a:ln>
                  <a:noFill/>
                </a:ln>
                <a:solidFill>
                  <a:srgbClr val="FF0000"/>
                </a:solidFill>
                <a:effectLst/>
                <a:uLnTx/>
                <a:uFillTx/>
                <a:latin typeface="Frutiger LT 65 Bold"/>
                <a:ea typeface="Rix모던고딕 B"/>
                <a:cs typeface="+mn-cs"/>
              </a:rPr>
              <a:t>국내서면제출기간</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의 만료일과 </a:t>
            </a:r>
            <a:r>
              <a:rPr kumimoji="0" lang="ko-KR" altLang="en-US" sz="2000" b="0" i="0" u="none" strike="noStrike" kern="1200" cap="none" spc="0" normalizeH="0" baseline="0" noProof="0" dirty="0">
                <a:ln>
                  <a:noFill/>
                </a:ln>
                <a:solidFill>
                  <a:srgbClr val="FF0000"/>
                </a:solidFill>
                <a:effectLst/>
                <a:uLnTx/>
                <a:uFillTx/>
                <a:latin typeface="Frutiger LT 65 Bold"/>
                <a:ea typeface="Rix모던고딕 B"/>
                <a:cs typeface="+mn-cs"/>
              </a:rPr>
              <a:t>출원인의 심사청구</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중 빠른 때 </a:t>
            </a:r>
          </a:p>
        </p:txBody>
      </p:sp>
      <p:sp>
        <p:nvSpPr>
          <p:cNvPr id="28" name="자유형 27"/>
          <p:cNvSpPr/>
          <p:nvPr/>
        </p:nvSpPr>
        <p:spPr>
          <a:xfrm>
            <a:off x="190500" y="1511300"/>
            <a:ext cx="2425700" cy="990600"/>
          </a:xfrm>
          <a:custGeom>
            <a:avLst/>
            <a:gdLst>
              <a:gd name="connsiteX0" fmla="*/ 203200 w 2425700"/>
              <a:gd name="connsiteY0" fmla="*/ 762000 h 762000"/>
              <a:gd name="connsiteX1" fmla="*/ 0 w 2425700"/>
              <a:gd name="connsiteY1" fmla="*/ 762000 h 762000"/>
              <a:gd name="connsiteX2" fmla="*/ 0 w 2425700"/>
              <a:gd name="connsiteY2" fmla="*/ 152400 h 762000"/>
              <a:gd name="connsiteX3" fmla="*/ 2425700 w 2425700"/>
              <a:gd name="connsiteY3" fmla="*/ 152400 h 762000"/>
              <a:gd name="connsiteX4" fmla="*/ 2425700 w 2425700"/>
              <a:gd name="connsiteY4" fmla="*/ 0 h 76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5700" h="762000">
                <a:moveTo>
                  <a:pt x="203200" y="762000"/>
                </a:moveTo>
                <a:lnTo>
                  <a:pt x="0" y="762000"/>
                </a:lnTo>
                <a:lnTo>
                  <a:pt x="0" y="152400"/>
                </a:lnTo>
                <a:lnTo>
                  <a:pt x="2425700" y="152400"/>
                </a:lnTo>
                <a:lnTo>
                  <a:pt x="2425700" y="0"/>
                </a:lnTo>
              </a:path>
            </a:pathLst>
          </a:custGeom>
          <a:noFill/>
          <a:ln w="38100">
            <a:solidFill>
              <a:schemeClr val="accent2">
                <a:lumMod val="5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62" name="직선 연결선 61"/>
          <p:cNvCxnSpPr/>
          <p:nvPr/>
        </p:nvCxnSpPr>
        <p:spPr>
          <a:xfrm>
            <a:off x="698500" y="2731988"/>
            <a:ext cx="1828800" cy="0"/>
          </a:xfrm>
          <a:prstGeom prst="line">
            <a:avLst/>
          </a:prstGeom>
          <a:ln w="57150">
            <a:solidFill>
              <a:schemeClr val="accent2">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직사각형 64"/>
          <p:cNvSpPr/>
          <p:nvPr/>
        </p:nvSpPr>
        <p:spPr>
          <a:xfrm>
            <a:off x="389118" y="3065241"/>
            <a:ext cx="5821182" cy="646331"/>
          </a:xfrm>
          <a:prstGeom prst="rect">
            <a:avLst/>
          </a:prstGeom>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번역문 제출기간</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2000" b="0" i="0" u="none" strike="noStrike" kern="1200" cap="none" spc="0" normalizeH="0" baseline="0" noProof="0" dirty="0">
                <a:ln>
                  <a:noFill/>
                </a:ln>
                <a:solidFill>
                  <a:srgbClr val="FF0000"/>
                </a:solidFill>
                <a:effectLst/>
                <a:uLnTx/>
                <a:uFillTx/>
                <a:latin typeface="Frutiger LT 65 Bold"/>
                <a:ea typeface="Rix모던고딕 B"/>
                <a:cs typeface="+mn-cs"/>
              </a:rPr>
              <a:t>우선일</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로부터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7</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월</a:t>
            </a:r>
          </a:p>
        </p:txBody>
      </p:sp>
      <p:cxnSp>
        <p:nvCxnSpPr>
          <p:cNvPr id="74" name="직선 연결선 73"/>
          <p:cNvCxnSpPr/>
          <p:nvPr/>
        </p:nvCxnSpPr>
        <p:spPr>
          <a:xfrm>
            <a:off x="698500" y="3697058"/>
            <a:ext cx="657512" cy="0"/>
          </a:xfrm>
          <a:prstGeom prst="line">
            <a:avLst/>
          </a:prstGeom>
          <a:ln w="57150">
            <a:solidFill>
              <a:schemeClr val="accent2">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직사각형 74"/>
          <p:cNvSpPr/>
          <p:nvPr/>
        </p:nvSpPr>
        <p:spPr>
          <a:xfrm>
            <a:off x="389118" y="4000310"/>
            <a:ext cx="5821182" cy="954107"/>
          </a:xfrm>
          <a:prstGeom prst="rect">
            <a:avLst/>
          </a:prstGeom>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국제출원이</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우선권주장을 수반하는 경우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우선권주장의 최우선일</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국제출원이</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우선권주장을 수반하지 아니한 경우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국제출원일</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88900" marR="0" lvl="0" indent="-8890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일반적으로 조약</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국내우선권주장의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판단시점이</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소급하는 경우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PCT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출원은 우선일 기준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그렇지 아니한 경우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국제출원일</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기준으로 함</a:t>
            </a:r>
          </a:p>
        </p:txBody>
      </p:sp>
      <p:sp>
        <p:nvSpPr>
          <p:cNvPr id="37" name="자유형 36"/>
          <p:cNvSpPr/>
          <p:nvPr/>
        </p:nvSpPr>
        <p:spPr>
          <a:xfrm>
            <a:off x="114300" y="3711572"/>
            <a:ext cx="914400" cy="844099"/>
          </a:xfrm>
          <a:custGeom>
            <a:avLst/>
            <a:gdLst>
              <a:gd name="connsiteX0" fmla="*/ 266700 w 914400"/>
              <a:gd name="connsiteY0" fmla="*/ 952500 h 952500"/>
              <a:gd name="connsiteX1" fmla="*/ 0 w 914400"/>
              <a:gd name="connsiteY1" fmla="*/ 952500 h 952500"/>
              <a:gd name="connsiteX2" fmla="*/ 0 w 914400"/>
              <a:gd name="connsiteY2" fmla="*/ 241300 h 952500"/>
              <a:gd name="connsiteX3" fmla="*/ 914400 w 914400"/>
              <a:gd name="connsiteY3" fmla="*/ 241300 h 952500"/>
              <a:gd name="connsiteX4" fmla="*/ 914400 w 914400"/>
              <a:gd name="connsiteY4" fmla="*/ 0 h 95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00" h="952500">
                <a:moveTo>
                  <a:pt x="266700" y="952500"/>
                </a:moveTo>
                <a:lnTo>
                  <a:pt x="0" y="952500"/>
                </a:lnTo>
                <a:lnTo>
                  <a:pt x="0" y="241300"/>
                </a:lnTo>
                <a:lnTo>
                  <a:pt x="914400" y="241300"/>
                </a:lnTo>
                <a:lnTo>
                  <a:pt x="914400" y="0"/>
                </a:lnTo>
              </a:path>
            </a:pathLst>
          </a:custGeom>
          <a:noFill/>
          <a:ln w="38100">
            <a:solidFill>
              <a:schemeClr val="accent2">
                <a:lumMod val="5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6" name="직사각형 75"/>
          <p:cNvSpPr/>
          <p:nvPr/>
        </p:nvSpPr>
        <p:spPr>
          <a:xfrm>
            <a:off x="6320018" y="3137811"/>
            <a:ext cx="5744982" cy="1815882"/>
          </a:xfrm>
          <a:prstGeom prst="rect">
            <a:avLst/>
          </a:prstGeom>
          <a:ln>
            <a:solidFill>
              <a:schemeClr val="bg1">
                <a:lumMod val="50000"/>
              </a:schemeClr>
            </a:solidFill>
          </a:ln>
        </p:spPr>
        <p:txBody>
          <a:bodyPr wrap="square">
            <a:spAutoFit/>
          </a:bodyPr>
          <a:lstStyle/>
          <a:p>
            <a:pPr marL="266700" marR="0" lvl="0" indent="-266700" algn="l" defTabSz="914400" rtl="0" eaLnBrk="1" fontAlgn="base" latinLnBrk="1" hangingPunct="1">
              <a:lnSpc>
                <a:spcPct val="100000"/>
              </a:lnSpc>
              <a:spcBef>
                <a:spcPts val="0"/>
              </a:spcBef>
              <a:spcAft>
                <a:spcPts val="0"/>
              </a:spcAft>
              <a:buClrTx/>
              <a:buSzTx/>
              <a:buFontTx/>
              <a:buAutoNum type="arabicPeriod"/>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출원인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수수료 납부와 번역문을 제출한 경우에만 심사청구가능</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최소한 심사를 받기 위한 요건</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변경출원시기의</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제한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209</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도 동일</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266700" marR="0" lvl="0" indent="-266700" algn="l" defTabSz="914400" rtl="0" eaLnBrk="1" fontAlgn="base" latinLnBrk="1" hangingPunct="1">
              <a:lnSpc>
                <a:spcPct val="100000"/>
              </a:lnSpc>
              <a:spcBef>
                <a:spcPts val="0"/>
              </a:spcBef>
              <a:spcAft>
                <a:spcPts val="0"/>
              </a:spcAft>
              <a:buClrTx/>
              <a:buSzTx/>
              <a:buFontTx/>
              <a:buAutoNum type="arabicPeriod"/>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자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국내서면제출기간</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항 각 호 외의 부분 단서에 따라 국어번역문의 제출기간을 연장하여 달라는 취지를 적은 서면이 제출된 경우에는 연장된 </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국어번역문</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 제출 기간을 말한다</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이 지난 후 국제출원일로부터 </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년 이내 심사청구가능</a:t>
            </a:r>
          </a:p>
        </p:txBody>
      </p:sp>
      <p:cxnSp>
        <p:nvCxnSpPr>
          <p:cNvPr id="39" name="직선 화살표 연결선 38"/>
          <p:cNvCxnSpPr/>
          <p:nvPr/>
        </p:nvCxnSpPr>
        <p:spPr>
          <a:xfrm flipH="1">
            <a:off x="1611086" y="2741386"/>
            <a:ext cx="4354" cy="323855"/>
          </a:xfrm>
          <a:prstGeom prst="straightConnector1">
            <a:avLst/>
          </a:prstGeom>
          <a:ln w="38100">
            <a:solidFill>
              <a:schemeClr val="accent2">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직선 연결선 77"/>
          <p:cNvCxnSpPr/>
          <p:nvPr/>
        </p:nvCxnSpPr>
        <p:spPr>
          <a:xfrm>
            <a:off x="3556000" y="2731988"/>
            <a:ext cx="1892300" cy="0"/>
          </a:xfrm>
          <a:prstGeom prst="line">
            <a:avLst/>
          </a:prstGeom>
          <a:ln w="57150">
            <a:solidFill>
              <a:schemeClr val="accent2">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직선 연결선 80"/>
          <p:cNvCxnSpPr/>
          <p:nvPr/>
        </p:nvCxnSpPr>
        <p:spPr>
          <a:xfrm>
            <a:off x="6700432" y="2003051"/>
            <a:ext cx="5310593"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Rectangle 14"/>
          <p:cNvSpPr>
            <a:spLocks noChangeArrowheads="1"/>
          </p:cNvSpPr>
          <p:nvPr/>
        </p:nvSpPr>
        <p:spPr bwMode="auto">
          <a:xfrm flipV="1">
            <a:off x="7100116" y="192652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83" name="Rectangle 14"/>
          <p:cNvSpPr>
            <a:spLocks noChangeArrowheads="1"/>
          </p:cNvSpPr>
          <p:nvPr/>
        </p:nvSpPr>
        <p:spPr bwMode="auto">
          <a:xfrm flipV="1">
            <a:off x="11093205" y="1926520"/>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42" name="직사각형 41"/>
          <p:cNvSpPr/>
          <p:nvPr/>
        </p:nvSpPr>
        <p:spPr>
          <a:xfrm>
            <a:off x="6709592" y="959758"/>
            <a:ext cx="914400" cy="2794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우선일</a:t>
            </a:r>
          </a:p>
        </p:txBody>
      </p:sp>
      <p:cxnSp>
        <p:nvCxnSpPr>
          <p:cNvPr id="44" name="직선 화살표 연결선 43"/>
          <p:cNvCxnSpPr>
            <a:stCxn id="42" idx="2"/>
            <a:endCxn id="82" idx="4"/>
          </p:cNvCxnSpPr>
          <p:nvPr/>
        </p:nvCxnSpPr>
        <p:spPr>
          <a:xfrm>
            <a:off x="7166792" y="1239158"/>
            <a:ext cx="4762" cy="68736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9" name="직사각형 88"/>
          <p:cNvSpPr/>
          <p:nvPr/>
        </p:nvSpPr>
        <p:spPr>
          <a:xfrm>
            <a:off x="8206213" y="1395512"/>
            <a:ext cx="2886992" cy="1517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개월</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국내서면제출기간의 만료일</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2" name="직사각형 91"/>
          <p:cNvSpPr/>
          <p:nvPr/>
        </p:nvSpPr>
        <p:spPr>
          <a:xfrm>
            <a:off x="7774512" y="1837951"/>
            <a:ext cx="1153587" cy="34289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심사청구일</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3" name="직사각형 92"/>
          <p:cNvSpPr/>
          <p:nvPr/>
        </p:nvSpPr>
        <p:spPr>
          <a:xfrm>
            <a:off x="7774512" y="2372797"/>
            <a:ext cx="1153587" cy="22163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심사청구 ○</a:t>
            </a:r>
          </a:p>
        </p:txBody>
      </p:sp>
      <p:sp>
        <p:nvSpPr>
          <p:cNvPr id="97" name="직사각형 96"/>
          <p:cNvSpPr/>
          <p:nvPr/>
        </p:nvSpPr>
        <p:spPr>
          <a:xfrm>
            <a:off x="7774512" y="2599584"/>
            <a:ext cx="1153587" cy="221638"/>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기준일</a:t>
            </a:r>
          </a:p>
        </p:txBody>
      </p:sp>
      <p:cxnSp>
        <p:nvCxnSpPr>
          <p:cNvPr id="49" name="직선 화살표 연결선 48"/>
          <p:cNvCxnSpPr>
            <a:stCxn id="93" idx="0"/>
            <a:endCxn id="92" idx="2"/>
          </p:cNvCxnSpPr>
          <p:nvPr/>
        </p:nvCxnSpPr>
        <p:spPr>
          <a:xfrm flipV="1">
            <a:off x="8351306" y="2180850"/>
            <a:ext cx="0" cy="19194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5" name="직사각형 104"/>
          <p:cNvSpPr/>
          <p:nvPr/>
        </p:nvSpPr>
        <p:spPr>
          <a:xfrm>
            <a:off x="10588514" y="2372797"/>
            <a:ext cx="1153587" cy="22163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심사청구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7" name="직사각형 106"/>
          <p:cNvSpPr/>
          <p:nvPr/>
        </p:nvSpPr>
        <p:spPr>
          <a:xfrm>
            <a:off x="10588514" y="2599584"/>
            <a:ext cx="1153587" cy="221638"/>
          </a:xfrm>
          <a:prstGeom prst="rect">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기준일</a:t>
            </a:r>
          </a:p>
        </p:txBody>
      </p:sp>
      <p:cxnSp>
        <p:nvCxnSpPr>
          <p:cNvPr id="110" name="직선 화살표 연결선 109"/>
          <p:cNvCxnSpPr>
            <a:stCxn id="105" idx="0"/>
            <a:endCxn id="83" idx="0"/>
          </p:cNvCxnSpPr>
          <p:nvPr/>
        </p:nvCxnSpPr>
        <p:spPr>
          <a:xfrm flipH="1" flipV="1">
            <a:off x="11164643" y="2079582"/>
            <a:ext cx="665" cy="293215"/>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2" name="양쪽 모서리가 둥근 사각형 111"/>
          <p:cNvSpPr/>
          <p:nvPr/>
        </p:nvSpPr>
        <p:spPr>
          <a:xfrm>
            <a:off x="1695093" y="5637306"/>
            <a:ext cx="7146219" cy="404667"/>
          </a:xfrm>
          <a:prstGeom prst="round2SameRect">
            <a:avLst>
              <a:gd name="adj1" fmla="val 50000"/>
              <a:gd name="adj2" fmla="val 0"/>
            </a:avLst>
          </a:prstGeom>
          <a:pattFill prst="lgGrid">
            <a:fgClr>
              <a:schemeClr val="accent4">
                <a:lumMod val="75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13" name="직선 연결선 112"/>
          <p:cNvCxnSpPr/>
          <p:nvPr/>
        </p:nvCxnSpPr>
        <p:spPr>
          <a:xfrm>
            <a:off x="1282700" y="6041973"/>
            <a:ext cx="10459401"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6" name="직사각형 115"/>
          <p:cNvSpPr/>
          <p:nvPr/>
        </p:nvSpPr>
        <p:spPr>
          <a:xfrm>
            <a:off x="981436" y="5885418"/>
            <a:ext cx="1190264" cy="33435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8" name="직사각형 117"/>
          <p:cNvSpPr/>
          <p:nvPr/>
        </p:nvSpPr>
        <p:spPr>
          <a:xfrm>
            <a:off x="4107043" y="5306449"/>
            <a:ext cx="2886992" cy="2949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개월</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국내서면제출기간의 만료일</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8" name="자유형 57"/>
          <p:cNvSpPr/>
          <p:nvPr/>
        </p:nvSpPr>
        <p:spPr>
          <a:xfrm>
            <a:off x="4644571" y="2741386"/>
            <a:ext cx="2481943" cy="377371"/>
          </a:xfrm>
          <a:custGeom>
            <a:avLst/>
            <a:gdLst>
              <a:gd name="connsiteX0" fmla="*/ 2481943 w 2481943"/>
              <a:gd name="connsiteY0" fmla="*/ 377371 h 377371"/>
              <a:gd name="connsiteX1" fmla="*/ 2481943 w 2481943"/>
              <a:gd name="connsiteY1" fmla="*/ 232228 h 377371"/>
              <a:gd name="connsiteX2" fmla="*/ 0 w 2481943"/>
              <a:gd name="connsiteY2" fmla="*/ 232228 h 377371"/>
              <a:gd name="connsiteX3" fmla="*/ 0 w 2481943"/>
              <a:gd name="connsiteY3" fmla="*/ 0 h 377371"/>
            </a:gdLst>
            <a:ahLst/>
            <a:cxnLst>
              <a:cxn ang="0">
                <a:pos x="connsiteX0" y="connsiteY0"/>
              </a:cxn>
              <a:cxn ang="0">
                <a:pos x="connsiteX1" y="connsiteY1"/>
              </a:cxn>
              <a:cxn ang="0">
                <a:pos x="connsiteX2" y="connsiteY2"/>
              </a:cxn>
              <a:cxn ang="0">
                <a:pos x="connsiteX3" y="connsiteY3"/>
              </a:cxn>
            </a:cxnLst>
            <a:rect l="l" t="t" r="r" b="b"/>
            <a:pathLst>
              <a:path w="2481943" h="377371">
                <a:moveTo>
                  <a:pt x="2481943" y="377371"/>
                </a:moveTo>
                <a:lnTo>
                  <a:pt x="2481943" y="232228"/>
                </a:lnTo>
                <a:lnTo>
                  <a:pt x="0" y="232228"/>
                </a:lnTo>
                <a:lnTo>
                  <a:pt x="0" y="0"/>
                </a:lnTo>
              </a:path>
            </a:pathLst>
          </a:custGeom>
          <a:noFill/>
          <a:ln w="38100">
            <a:solidFill>
              <a:schemeClr val="accent2">
                <a:lumMod val="5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31" name="직사각형 130"/>
          <p:cNvSpPr/>
          <p:nvPr/>
        </p:nvSpPr>
        <p:spPr>
          <a:xfrm>
            <a:off x="2743200" y="5885418"/>
            <a:ext cx="1190264" cy="33435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2" name="직사각형 131"/>
          <p:cNvSpPr/>
          <p:nvPr/>
        </p:nvSpPr>
        <p:spPr>
          <a:xfrm>
            <a:off x="2743200" y="6226255"/>
            <a:ext cx="1190264" cy="334354"/>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우선권주장</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3" name="직사각형 132"/>
          <p:cNvSpPr/>
          <p:nvPr/>
        </p:nvSpPr>
        <p:spPr>
          <a:xfrm>
            <a:off x="4343400" y="5885418"/>
            <a:ext cx="1320800" cy="33435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수수료 납부</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5" name="직사각형 134"/>
          <p:cNvSpPr/>
          <p:nvPr/>
        </p:nvSpPr>
        <p:spPr>
          <a:xfrm>
            <a:off x="6040032" y="5885418"/>
            <a:ext cx="1320800" cy="33435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 제출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7" name="직사각형 136"/>
          <p:cNvSpPr/>
          <p:nvPr/>
        </p:nvSpPr>
        <p:spPr>
          <a:xfrm>
            <a:off x="5885542" y="6368572"/>
            <a:ext cx="2886992" cy="2949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년</a:t>
            </a:r>
          </a:p>
        </p:txBody>
      </p:sp>
      <p:cxnSp>
        <p:nvCxnSpPr>
          <p:cNvPr id="139" name="직선 연결선 138"/>
          <p:cNvCxnSpPr/>
          <p:nvPr/>
        </p:nvCxnSpPr>
        <p:spPr>
          <a:xfrm>
            <a:off x="11080505" y="5160606"/>
            <a:ext cx="0" cy="881367"/>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직선 연결선 139"/>
          <p:cNvCxnSpPr/>
          <p:nvPr/>
        </p:nvCxnSpPr>
        <p:spPr>
          <a:xfrm>
            <a:off x="8841312" y="5601415"/>
            <a:ext cx="0" cy="44055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직선 연결선 84"/>
          <p:cNvCxnSpPr/>
          <p:nvPr/>
        </p:nvCxnSpPr>
        <p:spPr>
          <a:xfrm>
            <a:off x="7251700" y="5306449"/>
            <a:ext cx="3828805" cy="0"/>
          </a:xfrm>
          <a:prstGeom prst="line">
            <a:avLst/>
          </a:prstGeom>
          <a:ln w="38100">
            <a:solidFill>
              <a:schemeClr val="accent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1" name="직사각형 140"/>
          <p:cNvSpPr/>
          <p:nvPr/>
        </p:nvSpPr>
        <p:spPr>
          <a:xfrm>
            <a:off x="7644845" y="4986083"/>
            <a:ext cx="2886992" cy="2949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출원인의 심사청구기간</a:t>
            </a:r>
          </a:p>
        </p:txBody>
      </p:sp>
      <p:cxnSp>
        <p:nvCxnSpPr>
          <p:cNvPr id="142" name="직선 연결선 141"/>
          <p:cNvCxnSpPr>
            <a:stCxn id="112" idx="0"/>
          </p:cNvCxnSpPr>
          <p:nvPr/>
        </p:nvCxnSpPr>
        <p:spPr>
          <a:xfrm flipV="1">
            <a:off x="8841312" y="5821694"/>
            <a:ext cx="2239193" cy="17946"/>
          </a:xfrm>
          <a:prstGeom prst="line">
            <a:avLst/>
          </a:prstGeom>
          <a:ln w="38100">
            <a:solidFill>
              <a:schemeClr val="accent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4" name="직사각형 143"/>
          <p:cNvSpPr/>
          <p:nvPr/>
        </p:nvSpPr>
        <p:spPr>
          <a:xfrm>
            <a:off x="8564563" y="5495532"/>
            <a:ext cx="2886992" cy="2949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자의 심사청구기간</a:t>
            </a:r>
          </a:p>
        </p:txBody>
      </p:sp>
      <p:cxnSp>
        <p:nvCxnSpPr>
          <p:cNvPr id="145" name="직선 연결선 144"/>
          <p:cNvCxnSpPr>
            <a:cxnSpLocks/>
          </p:cNvCxnSpPr>
          <p:nvPr/>
        </p:nvCxnSpPr>
        <p:spPr>
          <a:xfrm>
            <a:off x="8351305" y="2162708"/>
            <a:ext cx="2813338" cy="0"/>
          </a:xfrm>
          <a:prstGeom prst="line">
            <a:avLst/>
          </a:prstGeom>
          <a:ln w="762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0" name="자유형 149"/>
          <p:cNvSpPr/>
          <p:nvPr/>
        </p:nvSpPr>
        <p:spPr>
          <a:xfrm>
            <a:off x="8928100" y="2223592"/>
            <a:ext cx="1155700" cy="506908"/>
          </a:xfrm>
          <a:custGeom>
            <a:avLst/>
            <a:gdLst>
              <a:gd name="connsiteX0" fmla="*/ 0 w 1155700"/>
              <a:gd name="connsiteY0" fmla="*/ 673100 h 673100"/>
              <a:gd name="connsiteX1" fmla="*/ 1155700 w 1155700"/>
              <a:gd name="connsiteY1" fmla="*/ 673100 h 673100"/>
              <a:gd name="connsiteX2" fmla="*/ 1155700 w 1155700"/>
              <a:gd name="connsiteY2" fmla="*/ 0 h 673100"/>
            </a:gdLst>
            <a:ahLst/>
            <a:cxnLst>
              <a:cxn ang="0">
                <a:pos x="connsiteX0" y="connsiteY0"/>
              </a:cxn>
              <a:cxn ang="0">
                <a:pos x="connsiteX1" y="connsiteY1"/>
              </a:cxn>
              <a:cxn ang="0">
                <a:pos x="connsiteX2" y="connsiteY2"/>
              </a:cxn>
            </a:cxnLst>
            <a:rect l="l" t="t" r="r" b="b"/>
            <a:pathLst>
              <a:path w="1155700" h="673100">
                <a:moveTo>
                  <a:pt x="0" y="673100"/>
                </a:moveTo>
                <a:lnTo>
                  <a:pt x="1155700" y="673100"/>
                </a:lnTo>
                <a:lnTo>
                  <a:pt x="1155700" y="0"/>
                </a:lnTo>
              </a:path>
            </a:pathLst>
          </a:custGeom>
          <a:noFill/>
          <a:ln>
            <a:solidFill>
              <a:schemeClr val="bg1">
                <a:lumMod val="5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52" name="직사각형 151"/>
          <p:cNvSpPr/>
          <p:nvPr/>
        </p:nvSpPr>
        <p:spPr>
          <a:xfrm>
            <a:off x="8193513" y="2715338"/>
            <a:ext cx="2886992" cy="2949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 교체 불가</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568</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54" name="직사각형 53"/>
          <p:cNvSpPr/>
          <p:nvPr/>
        </p:nvSpPr>
        <p:spPr>
          <a:xfrm>
            <a:off x="6684948" y="2637871"/>
            <a:ext cx="914400" cy="279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210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a:t>
            </a:r>
          </a:p>
        </p:txBody>
      </p:sp>
    </p:spTree>
    <p:extLst>
      <p:ext uri="{BB962C8B-B14F-4D97-AF65-F5344CB8AC3E}">
        <p14:creationId xmlns:p14="http://schemas.microsoft.com/office/powerpoint/2010/main" val="3563814213"/>
      </p:ext>
    </p:extLst>
  </p:cSld>
  <p:clrMapOvr>
    <a:masterClrMapping/>
  </p:clrMapOvr>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209</a:t>
            </a:r>
            <a:r>
              <a:rPr lang="ko-KR" altLang="en-US" dirty="0"/>
              <a:t>조</a:t>
            </a:r>
            <a:r>
              <a:rPr lang="en-US" altLang="ko-KR" dirty="0"/>
              <a:t>, </a:t>
            </a:r>
            <a:r>
              <a:rPr lang="ko-KR" altLang="en-US" dirty="0"/>
              <a:t>제</a:t>
            </a:r>
            <a:r>
              <a:rPr lang="en-US" altLang="ko-KR" dirty="0"/>
              <a:t>210</a:t>
            </a:r>
            <a:r>
              <a:rPr lang="ko-KR" altLang="en-US" dirty="0"/>
              <a:t>조</a:t>
            </a:r>
          </a:p>
        </p:txBody>
      </p:sp>
      <p:sp>
        <p:nvSpPr>
          <p:cNvPr id="5" name="텍스트 개체 틀 4"/>
          <p:cNvSpPr>
            <a:spLocks noGrp="1"/>
          </p:cNvSpPr>
          <p:nvPr>
            <p:ph type="body" sz="quarter" idx="13"/>
          </p:nvPr>
        </p:nvSpPr>
        <p:spPr/>
        <p:txBody>
          <a:bodyPr/>
          <a:lstStyle/>
          <a:p>
            <a:r>
              <a:rPr lang="ko-KR" altLang="en-US" dirty="0"/>
              <a:t>우선일의 정의 </a:t>
            </a:r>
            <a:r>
              <a:rPr lang="en-US" altLang="ko-KR" dirty="0"/>
              <a:t>CASE</a:t>
            </a:r>
            <a:endParaRPr lang="ko-KR" altLang="en-US" dirty="0"/>
          </a:p>
        </p:txBody>
      </p:sp>
      <p:sp>
        <p:nvSpPr>
          <p:cNvPr id="56" name="모서리가 둥근 직사각형 10">
            <a:extLst>
              <a:ext uri="{FF2B5EF4-FFF2-40B4-BE49-F238E27FC236}">
                <a16:creationId xmlns:a16="http://schemas.microsoft.com/office/drawing/2014/main" id="{CBF276A3-D694-46C9-978B-5D3F4A36E6BB}"/>
              </a:ext>
            </a:extLst>
          </p:cNvPr>
          <p:cNvSpPr/>
          <p:nvPr/>
        </p:nvSpPr>
        <p:spPr bwMode="auto">
          <a:xfrm>
            <a:off x="378418" y="1002199"/>
            <a:ext cx="5258975" cy="313998"/>
          </a:xfrm>
          <a:prstGeom prst="roundRect">
            <a:avLst>
              <a:gd name="adj" fmla="val 50000"/>
            </a:avLst>
          </a:prstGeom>
          <a:ln>
            <a:headEnd type="none" w="med" len="med"/>
            <a:tailEnd type="none"/>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대법원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2017. 4. 28. </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선고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2014</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두</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42490 </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판결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반려처분 취소청구</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p>
        </p:txBody>
      </p:sp>
      <p:sp>
        <p:nvSpPr>
          <p:cNvPr id="57" name="직사각형 56">
            <a:extLst>
              <a:ext uri="{FF2B5EF4-FFF2-40B4-BE49-F238E27FC236}">
                <a16:creationId xmlns:a16="http://schemas.microsoft.com/office/drawing/2014/main" id="{4D2B08DF-5BB2-4DEC-A837-F8CAF2819AFD}"/>
              </a:ext>
            </a:extLst>
          </p:cNvPr>
          <p:cNvSpPr/>
          <p:nvPr/>
        </p:nvSpPr>
        <p:spPr>
          <a:xfrm>
            <a:off x="232372" y="1333658"/>
            <a:ext cx="11681987" cy="1384995"/>
          </a:xfrm>
          <a:prstGeom prst="rect">
            <a:avLst/>
          </a:prstGeom>
        </p:spPr>
        <p:txBody>
          <a:bodyPr wrap="square">
            <a:spAutoFit/>
          </a:bodyPr>
          <a:lstStyle/>
          <a:p>
            <a:pPr marL="0" marR="0" lvl="0" indent="0" algn="just"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특허법과 특허협력조약의 규정들에 의하면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출원인이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국제특허출원을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하면서 파리협약의 당사국에서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행하여진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선출원에 의한 우선권을 주장하였다면 구 특허법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 본문의 우선일은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국제특허출원의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제출일이 아니라 우선권을 주장한 선출원의 제출일이 된다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그리고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우선일은 특허협력조약과 그 규칙에서 </a:t>
            </a:r>
            <a:r>
              <a:rPr kumimoji="0" lang="ko-KR" altLang="en-US" sz="1400" b="0" i="0" u="none" strike="noStrike" kern="1200" cap="none" spc="0" normalizeH="0" baseline="0" noProof="0" dirty="0" err="1">
                <a:ln>
                  <a:noFill/>
                </a:ln>
                <a:solidFill>
                  <a:srgbClr val="A5A5A5">
                    <a:lumMod val="50000"/>
                  </a:srgbClr>
                </a:solidFill>
                <a:effectLst/>
                <a:highlight>
                  <a:srgbClr val="FFFF00"/>
                </a:highlight>
                <a:uLnTx/>
                <a:uFillTx/>
                <a:latin typeface="Frutiger LT 65 Bold"/>
                <a:ea typeface="Rix모던고딕 B"/>
                <a:cs typeface="+mn-cs"/>
              </a:rPr>
              <a:t>국제특허출원의</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국제공개</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국제조사</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국제예비심사 청구 등 국제단계를 구성하는 각종 절차들의 기한을 정하는 기준으로 되어 있고</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구 특허법에서도 명세서 및 청구의 범위 등에 관한 번역문의 제출기한의 기준일로 되어 있는 등</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출원 관계 기관의 업무와 관련자들의 이해관계에 중대한 영향을 미치게 되므로</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우선일은 일률적으로 </a:t>
            </a:r>
            <a:r>
              <a:rPr kumimoji="0" lang="ko-KR" altLang="en-US" sz="1400" b="0" i="0" u="none" strike="noStrike" kern="1200" cap="none" spc="0" normalizeH="0" baseline="0" noProof="0" dirty="0" err="1">
                <a:ln>
                  <a:noFill/>
                </a:ln>
                <a:solidFill>
                  <a:srgbClr val="A5A5A5">
                    <a:lumMod val="50000"/>
                  </a:srgbClr>
                </a:solidFill>
                <a:effectLst/>
                <a:highlight>
                  <a:srgbClr val="FFFF00"/>
                </a:highlight>
                <a:uLnTx/>
                <a:uFillTx/>
                <a:latin typeface="Frutiger LT 65 Bold"/>
                <a:ea typeface="Rix모던고딕 B"/>
                <a:cs typeface="+mn-cs"/>
              </a:rPr>
              <a:t>정하여질</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필요가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따라서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국제특허출원인의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우선권 주장에 명백한 오류가 없다면 그 주장하는 날을 우선일로 보아 이를 기준으로 특허협력조약 및 구 특허법에서 정한 절차를 진행하여야 하며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그 우선권 주장의 실체적 효력 유무에 따라 달리 볼 것은 아니다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cxnSp>
        <p:nvCxnSpPr>
          <p:cNvPr id="59" name="직선 연결선 58">
            <a:extLst>
              <a:ext uri="{FF2B5EF4-FFF2-40B4-BE49-F238E27FC236}">
                <a16:creationId xmlns:a16="http://schemas.microsoft.com/office/drawing/2014/main" id="{EAF19AE7-2A93-453F-AB73-988E5B88DD7E}"/>
              </a:ext>
            </a:extLst>
          </p:cNvPr>
          <p:cNvCxnSpPr/>
          <p:nvPr/>
        </p:nvCxnSpPr>
        <p:spPr>
          <a:xfrm>
            <a:off x="0" y="2759844"/>
            <a:ext cx="12191999"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Line 5">
            <a:extLst>
              <a:ext uri="{FF2B5EF4-FFF2-40B4-BE49-F238E27FC236}">
                <a16:creationId xmlns:a16="http://schemas.microsoft.com/office/drawing/2014/main" id="{C5CA1EA9-492E-4C87-A530-1DEC43417372}"/>
              </a:ext>
            </a:extLst>
          </p:cNvPr>
          <p:cNvSpPr>
            <a:spLocks noChangeShapeType="1"/>
          </p:cNvSpPr>
          <p:nvPr/>
        </p:nvSpPr>
        <p:spPr bwMode="auto">
          <a:xfrm>
            <a:off x="514351" y="3402066"/>
            <a:ext cx="11001374" cy="0"/>
          </a:xfrm>
          <a:prstGeom prst="line">
            <a:avLst/>
          </a:prstGeom>
          <a:noFill/>
          <a:ln w="57150">
            <a:solidFill>
              <a:schemeClr val="bg1">
                <a:lumMod val="50000"/>
              </a:schemeClr>
            </a:solidFill>
            <a:round/>
            <a:headEnd/>
            <a:tailEnd type="stealth" w="med" len="med"/>
          </a:ln>
        </p:spPr>
        <p:txBody>
          <a:bodyPr/>
          <a:lstStyle/>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Rix모던고딕 B"/>
              <a:ea typeface="Rix모던고딕 B"/>
              <a:cs typeface="+mn-cs"/>
            </a:endParaRPr>
          </a:p>
        </p:txBody>
      </p:sp>
      <p:sp>
        <p:nvSpPr>
          <p:cNvPr id="61" name="TextBox 60">
            <a:extLst>
              <a:ext uri="{FF2B5EF4-FFF2-40B4-BE49-F238E27FC236}">
                <a16:creationId xmlns:a16="http://schemas.microsoft.com/office/drawing/2014/main" id="{257471A3-367F-40BE-95E2-EC14DCED88B6}"/>
              </a:ext>
            </a:extLst>
          </p:cNvPr>
          <p:cNvSpPr txBox="1"/>
          <p:nvPr/>
        </p:nvSpPr>
        <p:spPr>
          <a:xfrm>
            <a:off x="1133060" y="3658241"/>
            <a:ext cx="1013644" cy="307777"/>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Rix모던고딕 B"/>
                <a:ea typeface="Rix모던고딕 B"/>
                <a:cs typeface="+mn-cs"/>
              </a:rPr>
              <a:t>미국출원</a:t>
            </a:r>
            <a:endPar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63" name="타원 62">
            <a:extLst>
              <a:ext uri="{FF2B5EF4-FFF2-40B4-BE49-F238E27FC236}">
                <a16:creationId xmlns:a16="http://schemas.microsoft.com/office/drawing/2014/main" id="{427137E2-A460-4CF9-94C6-B084A508E491}"/>
              </a:ext>
            </a:extLst>
          </p:cNvPr>
          <p:cNvSpPr/>
          <p:nvPr/>
        </p:nvSpPr>
        <p:spPr>
          <a:xfrm>
            <a:off x="1562512" y="330813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64" name="직선 연결선 63">
            <a:extLst>
              <a:ext uri="{FF2B5EF4-FFF2-40B4-BE49-F238E27FC236}">
                <a16:creationId xmlns:a16="http://schemas.microsoft.com/office/drawing/2014/main" id="{E928C891-3DF8-4630-92A1-F2E97074F65E}"/>
              </a:ext>
            </a:extLst>
          </p:cNvPr>
          <p:cNvCxnSpPr>
            <a:cxnSpLocks/>
            <a:stCxn id="61" idx="0"/>
            <a:endCxn id="63" idx="4"/>
          </p:cNvCxnSpPr>
          <p:nvPr/>
        </p:nvCxnSpPr>
        <p:spPr>
          <a:xfrm flipH="1" flipV="1">
            <a:off x="1639881" y="3469470"/>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81D15776-BC33-4EB0-BFC6-A7F7E7436233}"/>
              </a:ext>
            </a:extLst>
          </p:cNvPr>
          <p:cNvSpPr txBox="1"/>
          <p:nvPr/>
        </p:nvSpPr>
        <p:spPr>
          <a:xfrm>
            <a:off x="2567649" y="3658241"/>
            <a:ext cx="1151340" cy="307777"/>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Rix모던고딕 B"/>
                <a:ea typeface="Rix모던고딕 B"/>
                <a:cs typeface="+mn-cs"/>
              </a:rPr>
              <a:t>국제특허출원</a:t>
            </a:r>
            <a:endPar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sp>
        <p:nvSpPr>
          <p:cNvPr id="67" name="타원 66">
            <a:extLst>
              <a:ext uri="{FF2B5EF4-FFF2-40B4-BE49-F238E27FC236}">
                <a16:creationId xmlns:a16="http://schemas.microsoft.com/office/drawing/2014/main" id="{DC1B1EB8-8B7C-41CB-9C4C-9853A16E25DB}"/>
              </a:ext>
            </a:extLst>
          </p:cNvPr>
          <p:cNvSpPr/>
          <p:nvPr/>
        </p:nvSpPr>
        <p:spPr>
          <a:xfrm>
            <a:off x="3065949" y="330813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68" name="직선 연결선 67">
            <a:extLst>
              <a:ext uri="{FF2B5EF4-FFF2-40B4-BE49-F238E27FC236}">
                <a16:creationId xmlns:a16="http://schemas.microsoft.com/office/drawing/2014/main" id="{FC96BBCB-2082-4968-BEE6-C951DE595E2B}"/>
              </a:ext>
            </a:extLst>
          </p:cNvPr>
          <p:cNvCxnSpPr>
            <a:cxnSpLocks/>
            <a:stCxn id="66" idx="0"/>
            <a:endCxn id="67" idx="4"/>
          </p:cNvCxnSpPr>
          <p:nvPr/>
        </p:nvCxnSpPr>
        <p:spPr>
          <a:xfrm flipH="1" flipV="1">
            <a:off x="3143318" y="3469470"/>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E8CCF0B-A4FE-4985-9DA1-319FE603654D}"/>
              </a:ext>
            </a:extLst>
          </p:cNvPr>
          <p:cNvSpPr txBox="1"/>
          <p:nvPr/>
        </p:nvSpPr>
        <p:spPr>
          <a:xfrm>
            <a:off x="9590466" y="3658241"/>
            <a:ext cx="688012" cy="307777"/>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기각</a:t>
            </a:r>
          </a:p>
        </p:txBody>
      </p:sp>
      <p:sp>
        <p:nvSpPr>
          <p:cNvPr id="84" name="타원 83">
            <a:extLst>
              <a:ext uri="{FF2B5EF4-FFF2-40B4-BE49-F238E27FC236}">
                <a16:creationId xmlns:a16="http://schemas.microsoft.com/office/drawing/2014/main" id="{DD5816CF-C29B-4FE1-A174-C6EC726C302A}"/>
              </a:ext>
            </a:extLst>
          </p:cNvPr>
          <p:cNvSpPr/>
          <p:nvPr/>
        </p:nvSpPr>
        <p:spPr>
          <a:xfrm>
            <a:off x="9857102" y="3308132"/>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86" name="직선 연결선 85">
            <a:extLst>
              <a:ext uri="{FF2B5EF4-FFF2-40B4-BE49-F238E27FC236}">
                <a16:creationId xmlns:a16="http://schemas.microsoft.com/office/drawing/2014/main" id="{F9B914DB-2C3D-4527-8D88-D74C96244EE4}"/>
              </a:ext>
            </a:extLst>
          </p:cNvPr>
          <p:cNvCxnSpPr>
            <a:cxnSpLocks/>
            <a:stCxn id="80" idx="0"/>
            <a:endCxn id="84" idx="4"/>
          </p:cNvCxnSpPr>
          <p:nvPr/>
        </p:nvCxnSpPr>
        <p:spPr>
          <a:xfrm flipH="1" flipV="1">
            <a:off x="9934471" y="3469470"/>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1" name="TextBox 100">
            <a:extLst>
              <a:ext uri="{FF2B5EF4-FFF2-40B4-BE49-F238E27FC236}">
                <a16:creationId xmlns:a16="http://schemas.microsoft.com/office/drawing/2014/main" id="{97C831F9-2677-4FE5-91C9-50224822DDD8}"/>
              </a:ext>
            </a:extLst>
          </p:cNvPr>
          <p:cNvSpPr txBox="1"/>
          <p:nvPr/>
        </p:nvSpPr>
        <p:spPr>
          <a:xfrm>
            <a:off x="2097815" y="4533229"/>
            <a:ext cx="2091008" cy="461665"/>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2009. 5. 16(</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17(</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이기 때문에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2009. 5. 18</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까지 가능</a:t>
            </a:r>
          </a:p>
        </p:txBody>
      </p:sp>
      <p:sp>
        <p:nvSpPr>
          <p:cNvPr id="9" name="TextBox 8">
            <a:extLst>
              <a:ext uri="{FF2B5EF4-FFF2-40B4-BE49-F238E27FC236}">
                <a16:creationId xmlns:a16="http://schemas.microsoft.com/office/drawing/2014/main" id="{C4B5A09D-94B3-4A61-8FCE-509955B307DE}"/>
              </a:ext>
            </a:extLst>
          </p:cNvPr>
          <p:cNvSpPr txBox="1"/>
          <p:nvPr/>
        </p:nvSpPr>
        <p:spPr>
          <a:xfrm>
            <a:off x="1163628" y="2988400"/>
            <a:ext cx="952505"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2008. 5. 16</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2" name="TextBox 101">
            <a:extLst>
              <a:ext uri="{FF2B5EF4-FFF2-40B4-BE49-F238E27FC236}">
                <a16:creationId xmlns:a16="http://schemas.microsoft.com/office/drawing/2014/main" id="{BCD6DC8A-B907-40C4-B2FA-2D86DA7FB817}"/>
              </a:ext>
            </a:extLst>
          </p:cNvPr>
          <p:cNvSpPr txBox="1"/>
          <p:nvPr/>
        </p:nvSpPr>
        <p:spPr>
          <a:xfrm>
            <a:off x="2667065" y="2988400"/>
            <a:ext cx="952505"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2009. 5. 18</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3" name="TextBox 102">
            <a:extLst>
              <a:ext uri="{FF2B5EF4-FFF2-40B4-BE49-F238E27FC236}">
                <a16:creationId xmlns:a16="http://schemas.microsoft.com/office/drawing/2014/main" id="{AE161997-BA73-49A7-BF91-DF323A774A90}"/>
              </a:ext>
            </a:extLst>
          </p:cNvPr>
          <p:cNvSpPr txBox="1"/>
          <p:nvPr/>
        </p:nvSpPr>
        <p:spPr>
          <a:xfrm>
            <a:off x="2567648" y="3969083"/>
            <a:ext cx="1151339" cy="307777"/>
          </a:xfrm>
          <a:prstGeom prst="rect">
            <a:avLst/>
          </a:prstGeom>
          <a:solidFill>
            <a:schemeClr val="bg1">
              <a:lumMod val="85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우선권주장</a:t>
            </a:r>
            <a:endPar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endParaRPr>
          </a:p>
        </p:txBody>
      </p:sp>
      <p:cxnSp>
        <p:nvCxnSpPr>
          <p:cNvPr id="12" name="직선 연결선 11">
            <a:extLst>
              <a:ext uri="{FF2B5EF4-FFF2-40B4-BE49-F238E27FC236}">
                <a16:creationId xmlns:a16="http://schemas.microsoft.com/office/drawing/2014/main" id="{1DE7CFE7-062E-4760-A7A1-E75F489257B2}"/>
              </a:ext>
            </a:extLst>
          </p:cNvPr>
          <p:cNvCxnSpPr>
            <a:cxnSpLocks/>
            <a:stCxn id="101" idx="0"/>
            <a:endCxn id="103" idx="2"/>
          </p:cNvCxnSpPr>
          <p:nvPr/>
        </p:nvCxnSpPr>
        <p:spPr>
          <a:xfrm flipH="1" flipV="1">
            <a:off x="3143318" y="4276860"/>
            <a:ext cx="1" cy="256369"/>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 name="TextBox 103">
            <a:extLst>
              <a:ext uri="{FF2B5EF4-FFF2-40B4-BE49-F238E27FC236}">
                <a16:creationId xmlns:a16="http://schemas.microsoft.com/office/drawing/2014/main" id="{1BB88535-1FF4-49B9-ACB9-14211CDFC57A}"/>
              </a:ext>
            </a:extLst>
          </p:cNvPr>
          <p:cNvSpPr txBox="1"/>
          <p:nvPr/>
        </p:nvSpPr>
        <p:spPr>
          <a:xfrm>
            <a:off x="4047522" y="3658241"/>
            <a:ext cx="1151340" cy="307777"/>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번역문 제출</a:t>
            </a:r>
          </a:p>
        </p:txBody>
      </p:sp>
      <p:sp>
        <p:nvSpPr>
          <p:cNvPr id="106" name="타원 105">
            <a:extLst>
              <a:ext uri="{FF2B5EF4-FFF2-40B4-BE49-F238E27FC236}">
                <a16:creationId xmlns:a16="http://schemas.microsoft.com/office/drawing/2014/main" id="{ECBE2E8E-014F-4F02-A487-45F3EBE68911}"/>
              </a:ext>
            </a:extLst>
          </p:cNvPr>
          <p:cNvSpPr/>
          <p:nvPr/>
        </p:nvSpPr>
        <p:spPr>
          <a:xfrm>
            <a:off x="4545822" y="330813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108" name="직선 연결선 107">
            <a:extLst>
              <a:ext uri="{FF2B5EF4-FFF2-40B4-BE49-F238E27FC236}">
                <a16:creationId xmlns:a16="http://schemas.microsoft.com/office/drawing/2014/main" id="{D4636C60-A350-4064-B0DC-F15F0886CFF4}"/>
              </a:ext>
            </a:extLst>
          </p:cNvPr>
          <p:cNvCxnSpPr>
            <a:cxnSpLocks/>
            <a:stCxn id="104" idx="0"/>
            <a:endCxn id="106" idx="4"/>
          </p:cNvCxnSpPr>
          <p:nvPr/>
        </p:nvCxnSpPr>
        <p:spPr>
          <a:xfrm flipH="1" flipV="1">
            <a:off x="4623191" y="3469470"/>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9" name="TextBox 108">
            <a:extLst>
              <a:ext uri="{FF2B5EF4-FFF2-40B4-BE49-F238E27FC236}">
                <a16:creationId xmlns:a16="http://schemas.microsoft.com/office/drawing/2014/main" id="{7DBAD8FB-DC6E-486D-BCBA-4360843CA772}"/>
              </a:ext>
            </a:extLst>
          </p:cNvPr>
          <p:cNvSpPr txBox="1"/>
          <p:nvPr/>
        </p:nvSpPr>
        <p:spPr>
          <a:xfrm>
            <a:off x="4146938" y="2988400"/>
            <a:ext cx="1037463" cy="276999"/>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2011. 12. 16</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1" name="TextBox 110">
            <a:extLst>
              <a:ext uri="{FF2B5EF4-FFF2-40B4-BE49-F238E27FC236}">
                <a16:creationId xmlns:a16="http://schemas.microsoft.com/office/drawing/2014/main" id="{253FF830-C61A-4E8A-98C3-F6F3D5C264F9}"/>
              </a:ext>
            </a:extLst>
          </p:cNvPr>
          <p:cNvSpPr txBox="1"/>
          <p:nvPr/>
        </p:nvSpPr>
        <p:spPr>
          <a:xfrm>
            <a:off x="5562208" y="3658241"/>
            <a:ext cx="1151340" cy="523220"/>
          </a:xfrm>
          <a:prstGeom prst="rect">
            <a:avLst/>
          </a:prstGeom>
          <a:solidFill>
            <a:schemeClr val="accent1">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기간경과로</a:t>
            </a:r>
            <a:endParaRPr kumimoji="0" lang="en-US" altLang="ko-KR" sz="1400" b="0" i="0" u="none" strike="noStrike" kern="1200" cap="none" spc="0" normalizeH="0" baseline="0" noProof="0" dirty="0">
              <a:ln>
                <a:noFill/>
              </a:ln>
              <a:solidFill>
                <a:prstClr val="black"/>
              </a:solidFill>
              <a:effectLst/>
              <a:uLnTx/>
              <a:uFillTx/>
              <a:latin typeface="Rix모던고딕 B"/>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번역문 반려</a:t>
            </a:r>
          </a:p>
        </p:txBody>
      </p:sp>
      <p:sp>
        <p:nvSpPr>
          <p:cNvPr id="114" name="타원 113">
            <a:extLst>
              <a:ext uri="{FF2B5EF4-FFF2-40B4-BE49-F238E27FC236}">
                <a16:creationId xmlns:a16="http://schemas.microsoft.com/office/drawing/2014/main" id="{9A39BFC9-A973-40F4-9384-04D67D5D0A53}"/>
              </a:ext>
            </a:extLst>
          </p:cNvPr>
          <p:cNvSpPr/>
          <p:nvPr/>
        </p:nvSpPr>
        <p:spPr>
          <a:xfrm>
            <a:off x="6060508" y="3308132"/>
            <a:ext cx="154738" cy="161338"/>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115" name="직선 연결선 114">
            <a:extLst>
              <a:ext uri="{FF2B5EF4-FFF2-40B4-BE49-F238E27FC236}">
                <a16:creationId xmlns:a16="http://schemas.microsoft.com/office/drawing/2014/main" id="{1C0012DB-48DA-4FF2-BF48-93628B255F93}"/>
              </a:ext>
            </a:extLst>
          </p:cNvPr>
          <p:cNvCxnSpPr>
            <a:cxnSpLocks/>
            <a:stCxn id="111" idx="0"/>
            <a:endCxn id="114" idx="4"/>
          </p:cNvCxnSpPr>
          <p:nvPr/>
        </p:nvCxnSpPr>
        <p:spPr>
          <a:xfrm flipH="1" flipV="1">
            <a:off x="6137877" y="3469470"/>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9" name="TextBox 118">
            <a:extLst>
              <a:ext uri="{FF2B5EF4-FFF2-40B4-BE49-F238E27FC236}">
                <a16:creationId xmlns:a16="http://schemas.microsoft.com/office/drawing/2014/main" id="{E0C26796-E334-4C0B-AB96-5294D8137345}"/>
              </a:ext>
            </a:extLst>
          </p:cNvPr>
          <p:cNvSpPr txBox="1"/>
          <p:nvPr/>
        </p:nvSpPr>
        <p:spPr>
          <a:xfrm>
            <a:off x="7070600" y="3658241"/>
            <a:ext cx="1151340" cy="307777"/>
          </a:xfrm>
          <a:prstGeom prst="rect">
            <a:avLst/>
          </a:prstGeom>
          <a:solidFill>
            <a:schemeClr val="accent4">
              <a:lumMod val="20000"/>
              <a:lumOff val="80000"/>
            </a:schemeClr>
          </a:solid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Rix모던고딕 B"/>
                <a:ea typeface="Rix모던고딕 B"/>
                <a:cs typeface="+mn-cs"/>
              </a:rPr>
              <a:t>소 제기</a:t>
            </a:r>
          </a:p>
        </p:txBody>
      </p:sp>
      <p:sp>
        <p:nvSpPr>
          <p:cNvPr id="120" name="타원 119">
            <a:extLst>
              <a:ext uri="{FF2B5EF4-FFF2-40B4-BE49-F238E27FC236}">
                <a16:creationId xmlns:a16="http://schemas.microsoft.com/office/drawing/2014/main" id="{E3C89A5C-E774-4D94-ABE2-3CD860AD761E}"/>
              </a:ext>
            </a:extLst>
          </p:cNvPr>
          <p:cNvSpPr/>
          <p:nvPr/>
        </p:nvSpPr>
        <p:spPr>
          <a:xfrm>
            <a:off x="7568900" y="3308132"/>
            <a:ext cx="154738" cy="161338"/>
          </a:xfrm>
          <a:prstGeom prst="ellipse">
            <a:avLst/>
          </a:prstGeom>
          <a:solidFill>
            <a:schemeClr val="tx1">
              <a:lumMod val="95000"/>
              <a:lumOff val="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Rix모던고딕 B"/>
              <a:ea typeface="Rix모던고딕 B"/>
              <a:cs typeface="+mn-cs"/>
            </a:endParaRPr>
          </a:p>
        </p:txBody>
      </p:sp>
      <p:cxnSp>
        <p:nvCxnSpPr>
          <p:cNvPr id="121" name="직선 연결선 120">
            <a:extLst>
              <a:ext uri="{FF2B5EF4-FFF2-40B4-BE49-F238E27FC236}">
                <a16:creationId xmlns:a16="http://schemas.microsoft.com/office/drawing/2014/main" id="{3332218F-83EB-46BA-86F8-7BDAB50FE9A2}"/>
              </a:ext>
            </a:extLst>
          </p:cNvPr>
          <p:cNvCxnSpPr>
            <a:cxnSpLocks/>
            <a:stCxn id="119" idx="0"/>
            <a:endCxn id="120" idx="4"/>
          </p:cNvCxnSpPr>
          <p:nvPr/>
        </p:nvCxnSpPr>
        <p:spPr>
          <a:xfrm flipH="1" flipV="1">
            <a:off x="7646269" y="3469470"/>
            <a:ext cx="1" cy="18877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TextBox 121">
            <a:extLst>
              <a:ext uri="{FF2B5EF4-FFF2-40B4-BE49-F238E27FC236}">
                <a16:creationId xmlns:a16="http://schemas.microsoft.com/office/drawing/2014/main" id="{0DD77B1B-6A9F-46D6-9CA7-9E472483A5BE}"/>
              </a:ext>
            </a:extLst>
          </p:cNvPr>
          <p:cNvSpPr txBox="1"/>
          <p:nvPr/>
        </p:nvSpPr>
        <p:spPr>
          <a:xfrm>
            <a:off x="6600765" y="4420018"/>
            <a:ext cx="2091008" cy="1200329"/>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우선일을 결정하기 위해서는 우선권주장의 특허협력조약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8</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에서 정한 조건과 효과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즉 파리협약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(h)</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의 요건을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총족하는지</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여부까지 따져 보어야 한다</a:t>
            </a:r>
          </a:p>
        </p:txBody>
      </p:sp>
      <p:cxnSp>
        <p:nvCxnSpPr>
          <p:cNvPr id="123" name="직선 연결선 122">
            <a:extLst>
              <a:ext uri="{FF2B5EF4-FFF2-40B4-BE49-F238E27FC236}">
                <a16:creationId xmlns:a16="http://schemas.microsoft.com/office/drawing/2014/main" id="{149D5ADC-2CB7-46F4-A191-EE3F66D932B0}"/>
              </a:ext>
            </a:extLst>
          </p:cNvPr>
          <p:cNvCxnSpPr>
            <a:cxnSpLocks/>
            <a:stCxn id="122" idx="0"/>
            <a:endCxn id="119" idx="2"/>
          </p:cNvCxnSpPr>
          <p:nvPr/>
        </p:nvCxnSpPr>
        <p:spPr>
          <a:xfrm flipV="1">
            <a:off x="7646269" y="3966018"/>
            <a:ext cx="1" cy="45400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9C4DEA1E-4A21-4DDD-B323-DB9BA0A806F1}"/>
              </a:ext>
            </a:extLst>
          </p:cNvPr>
          <p:cNvSpPr txBox="1"/>
          <p:nvPr/>
        </p:nvSpPr>
        <p:spPr>
          <a:xfrm>
            <a:off x="8888967" y="4420018"/>
            <a:ext cx="2091008" cy="1938992"/>
          </a:xfrm>
          <a:prstGeom prst="rect">
            <a:avLst/>
          </a:prstGeom>
          <a:noFill/>
          <a:ln>
            <a:solidFill>
              <a:schemeClr val="bg1">
                <a:lumMod val="5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just"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우선일은 일률적으로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정하여질</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필요가 있다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따라서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국제특허출원인의</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우선권 주장에 명백한 오류가 없다면 그 주장하는 날을 우선일로 보아 이를 기준으로 특허협력조약 및 구 특허법에서 정한 절차를 진행하여야 하며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그 우선권 주장의 실체적 효력 유무에 따라 달리 볼 것은 아니다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25" name="직선 연결선 124">
            <a:extLst>
              <a:ext uri="{FF2B5EF4-FFF2-40B4-BE49-F238E27FC236}">
                <a16:creationId xmlns:a16="http://schemas.microsoft.com/office/drawing/2014/main" id="{7B7005C5-4AD6-469F-B557-B1FCF6579C6A}"/>
              </a:ext>
            </a:extLst>
          </p:cNvPr>
          <p:cNvCxnSpPr>
            <a:cxnSpLocks/>
            <a:stCxn id="124" idx="0"/>
          </p:cNvCxnSpPr>
          <p:nvPr/>
        </p:nvCxnSpPr>
        <p:spPr>
          <a:xfrm flipV="1">
            <a:off x="9934471" y="3966018"/>
            <a:ext cx="1" cy="45400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7" name="슬라이드 번호 개체 틀 1"/>
          <p:cNvSpPr txBox="1">
            <a:spLocks/>
          </p:cNvSpPr>
          <p:nvPr/>
        </p:nvSpPr>
        <p:spPr>
          <a:xfrm>
            <a:off x="11126400" y="-3363"/>
            <a:ext cx="1065600" cy="694800"/>
          </a:xfrm>
          <a:prstGeom prst="rect">
            <a:avLst/>
          </a:prstGeom>
        </p:spPr>
        <p:txBody>
          <a:bodyPr vert="horz" lIns="91440" tIns="45720" rIns="91440" bIns="45720" rtlCol="0" anchor="ctr"/>
          <a:lstStyle>
            <a:defPPr>
              <a:defRPr lang="ko-KR"/>
            </a:defPPr>
            <a:lvl1pPr marL="0" algn="ctr" defTabSz="914400" rtl="0" eaLnBrk="1" latinLnBrk="1" hangingPunct="1">
              <a:defRPr sz="3600" b="1" kern="1200" cap="none" spc="0">
                <a:ln w="12700">
                  <a:solidFill>
                    <a:schemeClr val="tx2">
                      <a:satMod val="155000"/>
                    </a:schemeClr>
                  </a:solidFill>
                  <a:prstDash val="solid"/>
                </a:ln>
                <a:solidFill>
                  <a:schemeClr val="bg2">
                    <a:tint val="85000"/>
                    <a:satMod val="155000"/>
                  </a:schemeClr>
                </a:solidFill>
                <a:effectLst/>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559</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117971965"/>
      </p:ext>
    </p:extLst>
  </p:cSld>
  <p:clrMapOvr>
    <a:masterClrMapping/>
  </p:clrMapOvr>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직사각형 22"/>
          <p:cNvSpPr/>
          <p:nvPr/>
        </p:nvSpPr>
        <p:spPr>
          <a:xfrm>
            <a:off x="3225800" y="4112725"/>
            <a:ext cx="8674100" cy="1146085"/>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4" name="제목 3"/>
          <p:cNvSpPr>
            <a:spLocks noGrp="1"/>
          </p:cNvSpPr>
          <p:nvPr>
            <p:ph type="title"/>
          </p:nvPr>
        </p:nvSpPr>
        <p:spPr/>
        <p:txBody>
          <a:bodyPr/>
          <a:lstStyle/>
          <a:p>
            <a:r>
              <a:rPr lang="ko-KR" altLang="en-US" dirty="0"/>
              <a:t>제</a:t>
            </a:r>
            <a:r>
              <a:rPr lang="en-US" altLang="ko-KR" dirty="0"/>
              <a:t>204</a:t>
            </a:r>
            <a:r>
              <a:rPr lang="ko-KR" altLang="en-US" dirty="0"/>
              <a:t>조</a:t>
            </a:r>
            <a:r>
              <a:rPr lang="en-US" altLang="ko-KR" dirty="0"/>
              <a:t>, </a:t>
            </a:r>
            <a:r>
              <a:rPr lang="ko-KR" altLang="en-US" dirty="0"/>
              <a:t>제</a:t>
            </a:r>
            <a:r>
              <a:rPr lang="en-US" altLang="ko-KR" dirty="0"/>
              <a:t>205</a:t>
            </a:r>
            <a:r>
              <a:rPr lang="ko-KR" altLang="en-US" dirty="0"/>
              <a:t>조</a:t>
            </a:r>
            <a:r>
              <a:rPr lang="en-US" altLang="ko-KR" dirty="0"/>
              <a:t>, </a:t>
            </a:r>
            <a:r>
              <a:rPr lang="ko-KR" altLang="en-US" dirty="0"/>
              <a:t>제</a:t>
            </a:r>
            <a:r>
              <a:rPr lang="en-US" altLang="ko-KR" dirty="0"/>
              <a:t>208</a:t>
            </a:r>
            <a:r>
              <a:rPr lang="ko-KR" altLang="en-US" dirty="0"/>
              <a:t>조</a:t>
            </a:r>
          </a:p>
        </p:txBody>
      </p:sp>
      <p:sp>
        <p:nvSpPr>
          <p:cNvPr id="5" name="텍스트 개체 틀 4"/>
          <p:cNvSpPr>
            <a:spLocks noGrp="1"/>
          </p:cNvSpPr>
          <p:nvPr>
            <p:ph type="body" sz="quarter" idx="13"/>
          </p:nvPr>
        </p:nvSpPr>
        <p:spPr/>
        <p:txBody>
          <a:bodyPr/>
          <a:lstStyle/>
          <a:p>
            <a:r>
              <a:rPr lang="ko-KR" altLang="en-US" dirty="0" err="1"/>
              <a:t>국제출원의</a:t>
            </a:r>
            <a:r>
              <a:rPr lang="ko-KR" altLang="en-US" dirty="0"/>
              <a:t> 보정</a:t>
            </a:r>
          </a:p>
        </p:txBody>
      </p:sp>
      <p:cxnSp>
        <p:nvCxnSpPr>
          <p:cNvPr id="113" name="직선 연결선 112"/>
          <p:cNvCxnSpPr/>
          <p:nvPr/>
        </p:nvCxnSpPr>
        <p:spPr>
          <a:xfrm>
            <a:off x="1003300" y="1962284"/>
            <a:ext cx="10459401"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6" name="직사각형 115"/>
          <p:cNvSpPr/>
          <p:nvPr/>
        </p:nvSpPr>
        <p:spPr>
          <a:xfrm>
            <a:off x="702036" y="1805729"/>
            <a:ext cx="1190264" cy="33435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1" name="직사각형 130"/>
          <p:cNvSpPr/>
          <p:nvPr/>
        </p:nvSpPr>
        <p:spPr>
          <a:xfrm>
            <a:off x="2463800" y="1805729"/>
            <a:ext cx="1190264" cy="33435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국제조사</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3" name="직사각형 132"/>
          <p:cNvSpPr/>
          <p:nvPr/>
        </p:nvSpPr>
        <p:spPr>
          <a:xfrm>
            <a:off x="4064000" y="1805729"/>
            <a:ext cx="1485900" cy="33435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국제예비심사</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5" name="직사각형 134"/>
          <p:cNvSpPr/>
          <p:nvPr/>
        </p:nvSpPr>
        <p:spPr>
          <a:xfrm>
            <a:off x="6382932" y="1805729"/>
            <a:ext cx="1320800" cy="334354"/>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 제출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3" name="Rectangle 14"/>
          <p:cNvSpPr>
            <a:spLocks noChangeArrowheads="1"/>
          </p:cNvSpPr>
          <p:nvPr/>
        </p:nvSpPr>
        <p:spPr bwMode="auto">
          <a:xfrm flipV="1">
            <a:off x="8958263" y="188785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54" name="직사각형 53"/>
          <p:cNvSpPr/>
          <p:nvPr/>
        </p:nvSpPr>
        <p:spPr>
          <a:xfrm>
            <a:off x="8434569" y="1266172"/>
            <a:ext cx="1190264" cy="334354"/>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기준일</a:t>
            </a:r>
          </a:p>
        </p:txBody>
      </p:sp>
      <p:cxnSp>
        <p:nvCxnSpPr>
          <p:cNvPr id="6" name="직선 연결선 5"/>
          <p:cNvCxnSpPr>
            <a:stCxn id="54" idx="2"/>
            <a:endCxn id="53" idx="4"/>
          </p:cNvCxnSpPr>
          <p:nvPr/>
        </p:nvCxnSpPr>
        <p:spPr>
          <a:xfrm>
            <a:off x="9029701" y="1600526"/>
            <a:ext cx="0" cy="28733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 name="직사각형 56"/>
          <p:cNvSpPr/>
          <p:nvPr/>
        </p:nvSpPr>
        <p:spPr>
          <a:xfrm>
            <a:off x="2269764" y="2679641"/>
            <a:ext cx="1578336" cy="334354"/>
          </a:xfrm>
          <a:prstGeom prst="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PCT </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19</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 보정</a:t>
            </a:r>
          </a:p>
        </p:txBody>
      </p:sp>
      <p:sp>
        <p:nvSpPr>
          <p:cNvPr id="8" name="직사각형 7"/>
          <p:cNvSpPr/>
          <p:nvPr/>
        </p:nvSpPr>
        <p:spPr>
          <a:xfrm>
            <a:off x="534284" y="5657656"/>
            <a:ext cx="3859032" cy="738664"/>
          </a:xfrm>
          <a:prstGeom prst="rect">
            <a:avLst/>
          </a:prstGeom>
          <a:solidFill>
            <a:schemeClr val="accent1">
              <a:lumMod val="75000"/>
            </a:schemeClr>
          </a:solid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보완</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194①②④)</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보정</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195, 196①)</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3. </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누락 부분의 보완</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194③④, </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施規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99</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의</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a:t>
            </a:r>
            <a:endPar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10" name="직선 화살표 연결선 9"/>
          <p:cNvCxnSpPr/>
          <p:nvPr/>
        </p:nvCxnSpPr>
        <p:spPr>
          <a:xfrm flipV="1">
            <a:off x="1308100" y="2140083"/>
            <a:ext cx="0" cy="3517573"/>
          </a:xfrm>
          <a:prstGeom prst="straightConnector1">
            <a:avLst/>
          </a:prstGeom>
          <a:ln w="28575">
            <a:solidFill>
              <a:schemeClr val="accent4">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 name="직선 화살표 연결선 11"/>
          <p:cNvCxnSpPr>
            <a:stCxn id="57" idx="0"/>
            <a:endCxn id="131" idx="2"/>
          </p:cNvCxnSpPr>
          <p:nvPr/>
        </p:nvCxnSpPr>
        <p:spPr>
          <a:xfrm flipV="1">
            <a:off x="3058932" y="2140083"/>
            <a:ext cx="0" cy="53955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4" name="직사각형 63"/>
          <p:cNvSpPr/>
          <p:nvPr/>
        </p:nvSpPr>
        <p:spPr>
          <a:xfrm>
            <a:off x="4064000" y="2679641"/>
            <a:ext cx="1578336" cy="334354"/>
          </a:xfrm>
          <a:prstGeom prst="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PCT </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34</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 보정</a:t>
            </a:r>
          </a:p>
        </p:txBody>
      </p:sp>
      <p:cxnSp>
        <p:nvCxnSpPr>
          <p:cNvPr id="66" name="직선 화살표 연결선 65"/>
          <p:cNvCxnSpPr>
            <a:stCxn id="64" idx="0"/>
          </p:cNvCxnSpPr>
          <p:nvPr/>
        </p:nvCxnSpPr>
        <p:spPr>
          <a:xfrm flipV="1">
            <a:off x="4853168" y="2140083"/>
            <a:ext cx="0" cy="53955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9" name="직사각형 68"/>
          <p:cNvSpPr/>
          <p:nvPr/>
        </p:nvSpPr>
        <p:spPr>
          <a:xfrm>
            <a:off x="4806950" y="4924456"/>
            <a:ext cx="2489202" cy="3343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사본 제출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6" name="자유형 15"/>
          <p:cNvSpPr/>
          <p:nvPr/>
        </p:nvSpPr>
        <p:spPr>
          <a:xfrm>
            <a:off x="3060700" y="2146300"/>
            <a:ext cx="4064000" cy="2108200"/>
          </a:xfrm>
          <a:custGeom>
            <a:avLst/>
            <a:gdLst>
              <a:gd name="connsiteX0" fmla="*/ 0 w 4064000"/>
              <a:gd name="connsiteY0" fmla="*/ 863600 h 2108200"/>
              <a:gd name="connsiteX1" fmla="*/ 444500 w 4064000"/>
              <a:gd name="connsiteY1" fmla="*/ 2108200 h 2108200"/>
              <a:gd name="connsiteX2" fmla="*/ 4064000 w 4064000"/>
              <a:gd name="connsiteY2" fmla="*/ 2108200 h 2108200"/>
              <a:gd name="connsiteX3" fmla="*/ 4064000 w 4064000"/>
              <a:gd name="connsiteY3" fmla="*/ 0 h 2108200"/>
            </a:gdLst>
            <a:ahLst/>
            <a:cxnLst>
              <a:cxn ang="0">
                <a:pos x="connsiteX0" y="connsiteY0"/>
              </a:cxn>
              <a:cxn ang="0">
                <a:pos x="connsiteX1" y="connsiteY1"/>
              </a:cxn>
              <a:cxn ang="0">
                <a:pos x="connsiteX2" y="connsiteY2"/>
              </a:cxn>
              <a:cxn ang="0">
                <a:pos x="connsiteX3" y="connsiteY3"/>
              </a:cxn>
            </a:cxnLst>
            <a:rect l="l" t="t" r="r" b="b"/>
            <a:pathLst>
              <a:path w="4064000" h="2108200">
                <a:moveTo>
                  <a:pt x="0" y="863600"/>
                </a:moveTo>
                <a:lnTo>
                  <a:pt x="444500" y="2108200"/>
                </a:lnTo>
                <a:lnTo>
                  <a:pt x="4064000" y="2108200"/>
                </a:lnTo>
                <a:lnTo>
                  <a:pt x="4064000" y="0"/>
                </a:lnTo>
              </a:path>
            </a:pathLst>
          </a:custGeom>
          <a:noFill/>
          <a:ln w="28575">
            <a:solidFill>
              <a:schemeClr val="accent2">
                <a:lumMod val="5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1" name="직사각형 70"/>
          <p:cNvSpPr/>
          <p:nvPr/>
        </p:nvSpPr>
        <p:spPr>
          <a:xfrm>
            <a:off x="3502823" y="4222811"/>
            <a:ext cx="3708398" cy="3343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외국어 출원의 번역문 제출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8</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7" name="자유형 16"/>
          <p:cNvSpPr/>
          <p:nvPr/>
        </p:nvSpPr>
        <p:spPr>
          <a:xfrm>
            <a:off x="3048000" y="2095500"/>
            <a:ext cx="5956300" cy="2844800"/>
          </a:xfrm>
          <a:custGeom>
            <a:avLst/>
            <a:gdLst>
              <a:gd name="connsiteX0" fmla="*/ 0 w 5956300"/>
              <a:gd name="connsiteY0" fmla="*/ 927100 h 2844800"/>
              <a:gd name="connsiteX1" fmla="*/ 0 w 5956300"/>
              <a:gd name="connsiteY1" fmla="*/ 2844800 h 2844800"/>
              <a:gd name="connsiteX2" fmla="*/ 5194300 w 5956300"/>
              <a:gd name="connsiteY2" fmla="*/ 2844800 h 2844800"/>
              <a:gd name="connsiteX3" fmla="*/ 5956300 w 5956300"/>
              <a:gd name="connsiteY3" fmla="*/ 0 h 2844800"/>
            </a:gdLst>
            <a:ahLst/>
            <a:cxnLst>
              <a:cxn ang="0">
                <a:pos x="connsiteX0" y="connsiteY0"/>
              </a:cxn>
              <a:cxn ang="0">
                <a:pos x="connsiteX1" y="connsiteY1"/>
              </a:cxn>
              <a:cxn ang="0">
                <a:pos x="connsiteX2" y="connsiteY2"/>
              </a:cxn>
              <a:cxn ang="0">
                <a:pos x="connsiteX3" y="connsiteY3"/>
              </a:cxn>
            </a:cxnLst>
            <a:rect l="l" t="t" r="r" b="b"/>
            <a:pathLst>
              <a:path w="5956300" h="2844800">
                <a:moveTo>
                  <a:pt x="0" y="927100"/>
                </a:moveTo>
                <a:lnTo>
                  <a:pt x="0" y="2844800"/>
                </a:lnTo>
                <a:lnTo>
                  <a:pt x="5194300" y="2844800"/>
                </a:lnTo>
                <a:lnTo>
                  <a:pt x="5956300" y="0"/>
                </a:lnTo>
              </a:path>
            </a:pathLst>
          </a:custGeom>
          <a:noFill/>
          <a:ln w="28575">
            <a:solidFill>
              <a:schemeClr val="accent2">
                <a:lumMod val="5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8" name="자유형 17"/>
          <p:cNvSpPr/>
          <p:nvPr/>
        </p:nvSpPr>
        <p:spPr>
          <a:xfrm>
            <a:off x="4853168" y="2082800"/>
            <a:ext cx="4113032" cy="1612900"/>
          </a:xfrm>
          <a:custGeom>
            <a:avLst/>
            <a:gdLst>
              <a:gd name="connsiteX0" fmla="*/ 0 w 4127500"/>
              <a:gd name="connsiteY0" fmla="*/ 927100 h 1612900"/>
              <a:gd name="connsiteX1" fmla="*/ 0 w 4127500"/>
              <a:gd name="connsiteY1" fmla="*/ 1612900 h 1612900"/>
              <a:gd name="connsiteX2" fmla="*/ 3314700 w 4127500"/>
              <a:gd name="connsiteY2" fmla="*/ 1612900 h 1612900"/>
              <a:gd name="connsiteX3" fmla="*/ 4127500 w 4127500"/>
              <a:gd name="connsiteY3" fmla="*/ 0 h 1612900"/>
            </a:gdLst>
            <a:ahLst/>
            <a:cxnLst>
              <a:cxn ang="0">
                <a:pos x="connsiteX0" y="connsiteY0"/>
              </a:cxn>
              <a:cxn ang="0">
                <a:pos x="connsiteX1" y="connsiteY1"/>
              </a:cxn>
              <a:cxn ang="0">
                <a:pos x="connsiteX2" y="connsiteY2"/>
              </a:cxn>
              <a:cxn ang="0">
                <a:pos x="connsiteX3" y="connsiteY3"/>
              </a:cxn>
            </a:cxnLst>
            <a:rect l="l" t="t" r="r" b="b"/>
            <a:pathLst>
              <a:path w="4127500" h="1612900">
                <a:moveTo>
                  <a:pt x="0" y="927100"/>
                </a:moveTo>
                <a:lnTo>
                  <a:pt x="0" y="1612900"/>
                </a:lnTo>
                <a:lnTo>
                  <a:pt x="3314700" y="1612900"/>
                </a:lnTo>
                <a:lnTo>
                  <a:pt x="4127500" y="0"/>
                </a:lnTo>
              </a:path>
            </a:pathLst>
          </a:custGeom>
          <a:noFill/>
          <a:ln w="28575">
            <a:solidFill>
              <a:schemeClr val="accent5">
                <a:lumMod val="5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7" name="직사각형 76"/>
          <p:cNvSpPr/>
          <p:nvPr/>
        </p:nvSpPr>
        <p:spPr>
          <a:xfrm>
            <a:off x="4838700" y="3654673"/>
            <a:ext cx="2489202" cy="3343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사본 제출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205</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0" name="Rectangle 14"/>
          <p:cNvSpPr>
            <a:spLocks noChangeArrowheads="1"/>
          </p:cNvSpPr>
          <p:nvPr/>
        </p:nvSpPr>
        <p:spPr bwMode="auto">
          <a:xfrm flipV="1">
            <a:off x="10139044" y="1887859"/>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84" name="직사각형 83"/>
          <p:cNvSpPr/>
          <p:nvPr/>
        </p:nvSpPr>
        <p:spPr>
          <a:xfrm>
            <a:off x="9141908" y="2679641"/>
            <a:ext cx="2122992" cy="536418"/>
          </a:xfrm>
          <a:prstGeom prst="rect">
            <a:avLst/>
          </a:prstGeom>
          <a:solidFill>
            <a:schemeClr val="accent1">
              <a:lumMod val="7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국내법 </a:t>
            </a:r>
            <a:r>
              <a:rPr kumimoji="0" lang="ko-KR" altLang="en-US" sz="1400" b="0" i="0" u="none" strike="noStrike" kern="1200" cap="none" spc="0" normalizeH="0" baseline="0" noProof="0" dirty="0" err="1">
                <a:ln>
                  <a:noFill/>
                </a:ln>
                <a:solidFill>
                  <a:prstClr val="white"/>
                </a:solidFill>
                <a:effectLst/>
                <a:uLnTx/>
                <a:uFillTx/>
                <a:latin typeface="Frutiger LT 65 Bold"/>
                <a:ea typeface="Rix모던고딕 B"/>
                <a:cs typeface="+mn-cs"/>
              </a:rPr>
              <a:t>적용받는</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보정</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208</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86" name="직선 화살표 연결선 85"/>
          <p:cNvCxnSpPr>
            <a:stCxn id="84" idx="0"/>
          </p:cNvCxnSpPr>
          <p:nvPr/>
        </p:nvCxnSpPr>
        <p:spPr>
          <a:xfrm flipV="1">
            <a:off x="10203404" y="2140083"/>
            <a:ext cx="0" cy="53955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9017000" y="4237620"/>
            <a:ext cx="2900153" cy="923330"/>
          </a:xfrm>
          <a:prstGeom prst="rect">
            <a:avLst/>
          </a:prstGeom>
          <a:noFill/>
        </p:spPr>
        <p:txBody>
          <a:bodyPr wrap="non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err="1">
                <a:ln>
                  <a:noFill/>
                </a:ln>
                <a:solidFill>
                  <a:srgbClr val="FF0000"/>
                </a:solidFill>
                <a:effectLst/>
                <a:uLnTx/>
                <a:uFillTx/>
                <a:latin typeface="Frutiger LT 65 Bold"/>
                <a:ea typeface="Rix모던고딕 B"/>
                <a:cs typeface="+mn-cs"/>
              </a:rPr>
              <a:t>외국어출원</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&amp; </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번역문 제출 전</a:t>
            </a:r>
            <a:endPar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PCT </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19</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조 보정이라면 </a:t>
            </a:r>
            <a:endPar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출원인의 선택</a:t>
            </a:r>
            <a:endPar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570</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516088492"/>
      </p:ext>
    </p:extLst>
  </p:cSld>
  <p:clrMapOvr>
    <a:masterClrMapping/>
  </p:clrMapOvr>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201</a:t>
            </a:r>
            <a:r>
              <a:rPr lang="ko-KR" altLang="en-US" dirty="0"/>
              <a:t>조</a:t>
            </a:r>
            <a:r>
              <a:rPr lang="en-US" altLang="ko-KR" dirty="0"/>
              <a:t>, </a:t>
            </a:r>
            <a:r>
              <a:rPr lang="ko-KR" altLang="en-US" dirty="0"/>
              <a:t>제</a:t>
            </a:r>
            <a:r>
              <a:rPr lang="en-US" altLang="ko-KR" dirty="0"/>
              <a:t>204</a:t>
            </a:r>
            <a:r>
              <a:rPr lang="ko-KR" altLang="en-US" dirty="0"/>
              <a:t>조</a:t>
            </a:r>
          </a:p>
        </p:txBody>
      </p:sp>
      <p:sp>
        <p:nvSpPr>
          <p:cNvPr id="5" name="텍스트 개체 틀 4"/>
          <p:cNvSpPr>
            <a:spLocks noGrp="1"/>
          </p:cNvSpPr>
          <p:nvPr>
            <p:ph type="body" sz="quarter" idx="13"/>
          </p:nvPr>
        </p:nvSpPr>
        <p:spPr/>
        <p:txBody>
          <a:bodyPr/>
          <a:lstStyle/>
          <a:p>
            <a:r>
              <a:rPr lang="ko-KR" altLang="en-US" dirty="0"/>
              <a:t>원문에 대한 번역문 제출 전후에 있어서 </a:t>
            </a:r>
            <a:r>
              <a:rPr lang="en-US" altLang="ko-KR" dirty="0"/>
              <a:t>PCT </a:t>
            </a:r>
            <a:r>
              <a:rPr lang="ko-KR" altLang="en-US" dirty="0"/>
              <a:t>제</a:t>
            </a:r>
            <a:r>
              <a:rPr lang="en-US" altLang="ko-KR" dirty="0"/>
              <a:t>19</a:t>
            </a:r>
            <a:r>
              <a:rPr lang="ko-KR" altLang="en-US" dirty="0"/>
              <a:t>조 보정</a:t>
            </a:r>
          </a:p>
        </p:txBody>
      </p:sp>
      <p:cxnSp>
        <p:nvCxnSpPr>
          <p:cNvPr id="113" name="직선 연결선 112"/>
          <p:cNvCxnSpPr/>
          <p:nvPr/>
        </p:nvCxnSpPr>
        <p:spPr>
          <a:xfrm>
            <a:off x="850900" y="1712919"/>
            <a:ext cx="10459401"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6" name="직사각형 115"/>
          <p:cNvSpPr/>
          <p:nvPr/>
        </p:nvSpPr>
        <p:spPr>
          <a:xfrm>
            <a:off x="412300" y="1507412"/>
            <a:ext cx="1464936" cy="435557"/>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출원</a:t>
            </a:r>
          </a:p>
        </p:txBody>
      </p:sp>
      <p:sp>
        <p:nvSpPr>
          <p:cNvPr id="131" name="직사각형 130"/>
          <p:cNvSpPr/>
          <p:nvPr/>
        </p:nvSpPr>
        <p:spPr>
          <a:xfrm>
            <a:off x="3276600" y="1507412"/>
            <a:ext cx="1464936" cy="435557"/>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19</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보정</a:t>
            </a:r>
          </a:p>
        </p:txBody>
      </p:sp>
      <p:sp>
        <p:nvSpPr>
          <p:cNvPr id="133" name="직사각형 132"/>
          <p:cNvSpPr/>
          <p:nvPr/>
        </p:nvSpPr>
        <p:spPr>
          <a:xfrm>
            <a:off x="5918200" y="1507412"/>
            <a:ext cx="1464936" cy="435557"/>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원문의 번역문</a:t>
            </a:r>
          </a:p>
        </p:txBody>
      </p:sp>
      <p:sp>
        <p:nvSpPr>
          <p:cNvPr id="135" name="직사각형 134"/>
          <p:cNvSpPr/>
          <p:nvPr/>
        </p:nvSpPr>
        <p:spPr>
          <a:xfrm>
            <a:off x="8803464" y="1507412"/>
            <a:ext cx="1635936" cy="435557"/>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19</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보정의 번역문</a:t>
            </a:r>
          </a:p>
        </p:txBody>
      </p:sp>
      <p:sp>
        <p:nvSpPr>
          <p:cNvPr id="30" name="직사각형 29"/>
          <p:cNvSpPr/>
          <p:nvPr/>
        </p:nvSpPr>
        <p:spPr>
          <a:xfrm>
            <a:off x="412300" y="1935774"/>
            <a:ext cx="1464936" cy="21270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외국어</a:t>
            </a:r>
          </a:p>
        </p:txBody>
      </p:sp>
      <p:sp>
        <p:nvSpPr>
          <p:cNvPr id="32" name="직사각형 31"/>
          <p:cNvSpPr/>
          <p:nvPr/>
        </p:nvSpPr>
        <p:spPr>
          <a:xfrm>
            <a:off x="3276600" y="1935774"/>
            <a:ext cx="1464936" cy="21270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외국어</a:t>
            </a:r>
          </a:p>
        </p:txBody>
      </p:sp>
      <p:sp>
        <p:nvSpPr>
          <p:cNvPr id="33" name="직사각형 32"/>
          <p:cNvSpPr/>
          <p:nvPr/>
        </p:nvSpPr>
        <p:spPr>
          <a:xfrm>
            <a:off x="5918200" y="1935774"/>
            <a:ext cx="1464935" cy="21270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국어</a:t>
            </a:r>
          </a:p>
        </p:txBody>
      </p:sp>
      <p:sp>
        <p:nvSpPr>
          <p:cNvPr id="34" name="직사각형 33"/>
          <p:cNvSpPr/>
          <p:nvPr/>
        </p:nvSpPr>
        <p:spPr>
          <a:xfrm>
            <a:off x="8803463" y="1935774"/>
            <a:ext cx="1635937" cy="21270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국어</a:t>
            </a:r>
          </a:p>
        </p:txBody>
      </p:sp>
      <p:sp>
        <p:nvSpPr>
          <p:cNvPr id="35" name="직사각형 34"/>
          <p:cNvSpPr/>
          <p:nvPr/>
        </p:nvSpPr>
        <p:spPr>
          <a:xfrm>
            <a:off x="412300" y="2237772"/>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출원서</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6" name="직사각형 35"/>
          <p:cNvSpPr/>
          <p:nvPr/>
        </p:nvSpPr>
        <p:spPr>
          <a:xfrm>
            <a:off x="412300" y="2475238"/>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발명의 설명</a:t>
            </a:r>
          </a:p>
        </p:txBody>
      </p:sp>
      <p:sp>
        <p:nvSpPr>
          <p:cNvPr id="37" name="직사각형 36"/>
          <p:cNvSpPr/>
          <p:nvPr/>
        </p:nvSpPr>
        <p:spPr>
          <a:xfrm>
            <a:off x="412300" y="2719799"/>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청구범위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8" name="직사각형 37"/>
          <p:cNvSpPr/>
          <p:nvPr/>
        </p:nvSpPr>
        <p:spPr>
          <a:xfrm>
            <a:off x="412300" y="2957265"/>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도면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설명포함</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9" name="직사각형 38"/>
          <p:cNvSpPr/>
          <p:nvPr/>
        </p:nvSpPr>
        <p:spPr>
          <a:xfrm>
            <a:off x="412300" y="3194731"/>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도면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설명제외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0" name="직사각형 39"/>
          <p:cNvSpPr/>
          <p:nvPr/>
        </p:nvSpPr>
        <p:spPr>
          <a:xfrm>
            <a:off x="412300" y="3432197"/>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요약서</a:t>
            </a:r>
          </a:p>
        </p:txBody>
      </p:sp>
      <p:sp>
        <p:nvSpPr>
          <p:cNvPr id="41" name="직사각형 40"/>
          <p:cNvSpPr/>
          <p:nvPr/>
        </p:nvSpPr>
        <p:spPr>
          <a:xfrm>
            <a:off x="5918200" y="2263172"/>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2" name="직사각형 41"/>
          <p:cNvSpPr/>
          <p:nvPr/>
        </p:nvSpPr>
        <p:spPr>
          <a:xfrm>
            <a:off x="5918200" y="2500638"/>
            <a:ext cx="1464936" cy="212703"/>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a:t>
            </a:r>
          </a:p>
        </p:txBody>
      </p:sp>
      <p:sp>
        <p:nvSpPr>
          <p:cNvPr id="43" name="직사각형 42"/>
          <p:cNvSpPr/>
          <p:nvPr/>
        </p:nvSpPr>
        <p:spPr>
          <a:xfrm>
            <a:off x="5918200" y="2745199"/>
            <a:ext cx="1464936" cy="212703"/>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B</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의 번역문○</a:t>
            </a:r>
          </a:p>
        </p:txBody>
      </p:sp>
      <p:sp>
        <p:nvSpPr>
          <p:cNvPr id="44" name="직사각형 43"/>
          <p:cNvSpPr/>
          <p:nvPr/>
        </p:nvSpPr>
        <p:spPr>
          <a:xfrm>
            <a:off x="5918200" y="2982665"/>
            <a:ext cx="1464936" cy="212703"/>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a:t>
            </a:r>
          </a:p>
        </p:txBody>
      </p:sp>
      <p:sp>
        <p:nvSpPr>
          <p:cNvPr id="45" name="직사각형 44"/>
          <p:cNvSpPr/>
          <p:nvPr/>
        </p:nvSpPr>
        <p:spPr>
          <a:xfrm>
            <a:off x="5918200" y="3220131"/>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6" name="직사각형 45"/>
          <p:cNvSpPr/>
          <p:nvPr/>
        </p:nvSpPr>
        <p:spPr>
          <a:xfrm>
            <a:off x="5918200" y="3457597"/>
            <a:ext cx="1464936" cy="212703"/>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a:t>
            </a:r>
          </a:p>
        </p:txBody>
      </p:sp>
      <p:sp>
        <p:nvSpPr>
          <p:cNvPr id="48" name="직사각형 47"/>
          <p:cNvSpPr/>
          <p:nvPr/>
        </p:nvSpPr>
        <p:spPr>
          <a:xfrm>
            <a:off x="3276600" y="2719799"/>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청구범위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9" name="직사각형 48"/>
          <p:cNvSpPr/>
          <p:nvPr/>
        </p:nvSpPr>
        <p:spPr>
          <a:xfrm>
            <a:off x="8803462" y="2719799"/>
            <a:ext cx="1635937" cy="212703"/>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B</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의 번역문○</a:t>
            </a:r>
          </a:p>
        </p:txBody>
      </p:sp>
      <p:cxnSp>
        <p:nvCxnSpPr>
          <p:cNvPr id="13" name="직선 화살표 연결선 12"/>
          <p:cNvCxnSpPr>
            <a:stCxn id="35" idx="3"/>
            <a:endCxn id="41" idx="1"/>
          </p:cNvCxnSpPr>
          <p:nvPr/>
        </p:nvCxnSpPr>
        <p:spPr>
          <a:xfrm>
            <a:off x="1877236" y="2344124"/>
            <a:ext cx="4040964" cy="2540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5" name="직선 화살표 연결선 14"/>
          <p:cNvCxnSpPr>
            <a:stCxn id="36" idx="3"/>
            <a:endCxn id="42" idx="1"/>
          </p:cNvCxnSpPr>
          <p:nvPr/>
        </p:nvCxnSpPr>
        <p:spPr>
          <a:xfrm>
            <a:off x="1877236" y="2581590"/>
            <a:ext cx="4040964" cy="2540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0" name="직선 화살표 연결선 19"/>
          <p:cNvCxnSpPr>
            <a:stCxn id="37" idx="3"/>
            <a:endCxn id="48" idx="1"/>
          </p:cNvCxnSpPr>
          <p:nvPr/>
        </p:nvCxnSpPr>
        <p:spPr>
          <a:xfrm>
            <a:off x="1877236" y="2826151"/>
            <a:ext cx="1399364"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2" name="직선 화살표 연결선 21"/>
          <p:cNvCxnSpPr>
            <a:stCxn id="48" idx="3"/>
            <a:endCxn id="43" idx="1"/>
          </p:cNvCxnSpPr>
          <p:nvPr/>
        </p:nvCxnSpPr>
        <p:spPr>
          <a:xfrm>
            <a:off x="4741536" y="2826151"/>
            <a:ext cx="1176664" cy="2540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4" name="직선 화살표 연결선 23"/>
          <p:cNvCxnSpPr>
            <a:stCxn id="38" idx="3"/>
            <a:endCxn id="44" idx="1"/>
          </p:cNvCxnSpPr>
          <p:nvPr/>
        </p:nvCxnSpPr>
        <p:spPr>
          <a:xfrm>
            <a:off x="1877236" y="3063617"/>
            <a:ext cx="4040964" cy="2540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 name="직선 화살표 연결선 25"/>
          <p:cNvCxnSpPr>
            <a:stCxn id="39" idx="3"/>
            <a:endCxn id="45" idx="1"/>
          </p:cNvCxnSpPr>
          <p:nvPr/>
        </p:nvCxnSpPr>
        <p:spPr>
          <a:xfrm>
            <a:off x="1877236" y="3301083"/>
            <a:ext cx="4040964" cy="2540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8" name="직선 화살표 연결선 27"/>
          <p:cNvCxnSpPr>
            <a:stCxn id="40" idx="3"/>
            <a:endCxn id="46" idx="1"/>
          </p:cNvCxnSpPr>
          <p:nvPr/>
        </p:nvCxnSpPr>
        <p:spPr>
          <a:xfrm>
            <a:off x="1877236" y="3538549"/>
            <a:ext cx="4040964" cy="2540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 name="직사각형 30"/>
          <p:cNvSpPr/>
          <p:nvPr/>
        </p:nvSpPr>
        <p:spPr>
          <a:xfrm flipH="1" flipV="1">
            <a:off x="8712197" y="1355751"/>
            <a:ext cx="2082801" cy="2022447"/>
          </a:xfrm>
          <a:prstGeom prst="rect">
            <a:avLst/>
          </a:prstGeom>
          <a:noFill/>
          <a:ln w="28575">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5" name="직사각형 64"/>
          <p:cNvSpPr/>
          <p:nvPr/>
        </p:nvSpPr>
        <p:spPr>
          <a:xfrm>
            <a:off x="8394700" y="3419498"/>
            <a:ext cx="2247899" cy="2898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204</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항</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8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800" b="0" i="0" u="none" strike="noStrike" kern="1200" cap="none" spc="0" normalizeH="0" baseline="0" noProof="0" dirty="0">
                <a:ln>
                  <a:noFill/>
                </a:ln>
                <a:solidFill>
                  <a:srgbClr val="FF0000"/>
                </a:solidFill>
                <a:effectLst/>
                <a:uLnTx/>
                <a:uFillTx/>
                <a:latin typeface="Frutiger LT 65 Bold"/>
                <a:ea typeface="Rix모던고딕 B"/>
                <a:cs typeface="+mn-cs"/>
              </a:rPr>
              <a:t>항</a:t>
            </a:r>
          </a:p>
        </p:txBody>
      </p:sp>
      <p:sp>
        <p:nvSpPr>
          <p:cNvPr id="47" name="모서리가 둥근 사각형 설명선 46"/>
          <p:cNvSpPr/>
          <p:nvPr/>
        </p:nvSpPr>
        <p:spPr>
          <a:xfrm>
            <a:off x="7497433" y="2344123"/>
            <a:ext cx="1011563" cy="613141"/>
          </a:xfrm>
          <a:prstGeom prst="wedgeRoundRectCallout">
            <a:avLst>
              <a:gd name="adj1" fmla="val -58226"/>
              <a:gd name="adj2" fmla="val 35807"/>
              <a:gd name="adj3" fmla="val 16667"/>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white"/>
                </a:solidFill>
                <a:effectLst/>
                <a:uLnTx/>
                <a:uFillTx/>
                <a:latin typeface="Frutiger LT 65 Bold"/>
                <a:ea typeface="Rix모던고딕 B"/>
                <a:cs typeface="+mn-cs"/>
              </a:rPr>
              <a:t>201</a:t>
            </a: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조</a:t>
            </a:r>
            <a:endParaRPr kumimoji="0" lang="en-US" altLang="ko-KR" sz="16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white"/>
                </a:solidFill>
                <a:effectLst/>
                <a:uLnTx/>
                <a:uFillTx/>
                <a:latin typeface="Frutiger LT 65 Bold"/>
                <a:ea typeface="Rix모던고딕 B"/>
                <a:cs typeface="+mn-cs"/>
              </a:rPr>
              <a:t>2</a:t>
            </a: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항</a:t>
            </a:r>
          </a:p>
        </p:txBody>
      </p:sp>
      <p:sp>
        <p:nvSpPr>
          <p:cNvPr id="67" name="모서리가 둥근 사각형 설명선 66"/>
          <p:cNvSpPr/>
          <p:nvPr/>
        </p:nvSpPr>
        <p:spPr>
          <a:xfrm>
            <a:off x="10693401" y="3100863"/>
            <a:ext cx="1346198" cy="613141"/>
          </a:xfrm>
          <a:prstGeom prst="wedgeRoundRectCallout">
            <a:avLst>
              <a:gd name="adj1" fmla="val -58226"/>
              <a:gd name="adj2" fmla="val 35807"/>
              <a:gd name="adj3" fmla="val 16667"/>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不要</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8</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68" name="직선 연결선 67"/>
          <p:cNvCxnSpPr/>
          <p:nvPr/>
        </p:nvCxnSpPr>
        <p:spPr>
          <a:xfrm flipH="1">
            <a:off x="374531" y="3963340"/>
            <a:ext cx="11499011" cy="0"/>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직선 연결선 69"/>
          <p:cNvCxnSpPr/>
          <p:nvPr/>
        </p:nvCxnSpPr>
        <p:spPr>
          <a:xfrm>
            <a:off x="850900" y="4745351"/>
            <a:ext cx="10459401"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2" name="직사각형 71"/>
          <p:cNvSpPr/>
          <p:nvPr/>
        </p:nvSpPr>
        <p:spPr>
          <a:xfrm>
            <a:off x="412300" y="4539844"/>
            <a:ext cx="1464936" cy="435557"/>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출원</a:t>
            </a:r>
          </a:p>
        </p:txBody>
      </p:sp>
      <p:sp>
        <p:nvSpPr>
          <p:cNvPr id="73" name="직사각형 72"/>
          <p:cNvSpPr/>
          <p:nvPr/>
        </p:nvSpPr>
        <p:spPr>
          <a:xfrm>
            <a:off x="5918200" y="4539844"/>
            <a:ext cx="1464936" cy="435557"/>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19</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보정</a:t>
            </a:r>
          </a:p>
        </p:txBody>
      </p:sp>
      <p:sp>
        <p:nvSpPr>
          <p:cNvPr id="74" name="직사각형 73"/>
          <p:cNvSpPr/>
          <p:nvPr/>
        </p:nvSpPr>
        <p:spPr>
          <a:xfrm>
            <a:off x="3276600" y="4517316"/>
            <a:ext cx="1464936" cy="435557"/>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원문의 번역문</a:t>
            </a:r>
          </a:p>
        </p:txBody>
      </p:sp>
      <p:sp>
        <p:nvSpPr>
          <p:cNvPr id="75" name="직사각형 74"/>
          <p:cNvSpPr/>
          <p:nvPr/>
        </p:nvSpPr>
        <p:spPr>
          <a:xfrm>
            <a:off x="8803464" y="4539844"/>
            <a:ext cx="1635936" cy="435557"/>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19</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 보정의 번역문</a:t>
            </a:r>
          </a:p>
        </p:txBody>
      </p:sp>
      <p:sp>
        <p:nvSpPr>
          <p:cNvPr id="76" name="직사각형 75"/>
          <p:cNvSpPr/>
          <p:nvPr/>
        </p:nvSpPr>
        <p:spPr>
          <a:xfrm>
            <a:off x="412300" y="4968206"/>
            <a:ext cx="1464936" cy="21270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외국어</a:t>
            </a:r>
          </a:p>
        </p:txBody>
      </p:sp>
      <p:sp>
        <p:nvSpPr>
          <p:cNvPr id="78" name="직사각형 77"/>
          <p:cNvSpPr/>
          <p:nvPr/>
        </p:nvSpPr>
        <p:spPr>
          <a:xfrm>
            <a:off x="5918200" y="4968206"/>
            <a:ext cx="1464936" cy="21270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외국어</a:t>
            </a:r>
          </a:p>
        </p:txBody>
      </p:sp>
      <p:sp>
        <p:nvSpPr>
          <p:cNvPr id="79" name="직사각형 78"/>
          <p:cNvSpPr/>
          <p:nvPr/>
        </p:nvSpPr>
        <p:spPr>
          <a:xfrm>
            <a:off x="3276600" y="4945678"/>
            <a:ext cx="1464935" cy="21270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국어</a:t>
            </a:r>
          </a:p>
        </p:txBody>
      </p:sp>
      <p:sp>
        <p:nvSpPr>
          <p:cNvPr id="81" name="직사각형 80"/>
          <p:cNvSpPr/>
          <p:nvPr/>
        </p:nvSpPr>
        <p:spPr>
          <a:xfrm>
            <a:off x="8803463" y="4968206"/>
            <a:ext cx="1635937" cy="212703"/>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국어</a:t>
            </a:r>
          </a:p>
        </p:txBody>
      </p:sp>
      <p:sp>
        <p:nvSpPr>
          <p:cNvPr id="82" name="직사각형 81"/>
          <p:cNvSpPr/>
          <p:nvPr/>
        </p:nvSpPr>
        <p:spPr>
          <a:xfrm>
            <a:off x="412300" y="5270204"/>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출원서</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3" name="직사각형 82"/>
          <p:cNvSpPr/>
          <p:nvPr/>
        </p:nvSpPr>
        <p:spPr>
          <a:xfrm>
            <a:off x="412300" y="5507670"/>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발명의 설명</a:t>
            </a:r>
          </a:p>
        </p:txBody>
      </p:sp>
      <p:sp>
        <p:nvSpPr>
          <p:cNvPr id="85" name="직사각형 84"/>
          <p:cNvSpPr/>
          <p:nvPr/>
        </p:nvSpPr>
        <p:spPr>
          <a:xfrm>
            <a:off x="412300" y="5752231"/>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청구범위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7" name="직사각형 86"/>
          <p:cNvSpPr/>
          <p:nvPr/>
        </p:nvSpPr>
        <p:spPr>
          <a:xfrm>
            <a:off x="412300" y="5989697"/>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도면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설명포함</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8" name="직사각형 87"/>
          <p:cNvSpPr/>
          <p:nvPr/>
        </p:nvSpPr>
        <p:spPr>
          <a:xfrm>
            <a:off x="412300" y="6227163"/>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도면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설명제외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9" name="직사각형 88"/>
          <p:cNvSpPr/>
          <p:nvPr/>
        </p:nvSpPr>
        <p:spPr>
          <a:xfrm>
            <a:off x="412300" y="6464629"/>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요약서</a:t>
            </a:r>
          </a:p>
        </p:txBody>
      </p:sp>
      <p:sp>
        <p:nvSpPr>
          <p:cNvPr id="90" name="직사각형 89"/>
          <p:cNvSpPr/>
          <p:nvPr/>
        </p:nvSpPr>
        <p:spPr>
          <a:xfrm>
            <a:off x="3276600" y="5273076"/>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1" name="직사각형 90"/>
          <p:cNvSpPr/>
          <p:nvPr/>
        </p:nvSpPr>
        <p:spPr>
          <a:xfrm>
            <a:off x="3276600" y="5510542"/>
            <a:ext cx="1464936" cy="212703"/>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a:t>
            </a:r>
          </a:p>
        </p:txBody>
      </p:sp>
      <p:sp>
        <p:nvSpPr>
          <p:cNvPr id="92" name="직사각형 91"/>
          <p:cNvSpPr/>
          <p:nvPr/>
        </p:nvSpPr>
        <p:spPr>
          <a:xfrm>
            <a:off x="3276600" y="5755103"/>
            <a:ext cx="1464936" cy="212703"/>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의 번역문○</a:t>
            </a:r>
          </a:p>
        </p:txBody>
      </p:sp>
      <p:sp>
        <p:nvSpPr>
          <p:cNvPr id="93" name="직사각형 92"/>
          <p:cNvSpPr/>
          <p:nvPr/>
        </p:nvSpPr>
        <p:spPr>
          <a:xfrm>
            <a:off x="3276600" y="5992569"/>
            <a:ext cx="1464936" cy="212703"/>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a:t>
            </a:r>
          </a:p>
        </p:txBody>
      </p:sp>
      <p:sp>
        <p:nvSpPr>
          <p:cNvPr id="94" name="직사각형 93"/>
          <p:cNvSpPr/>
          <p:nvPr/>
        </p:nvSpPr>
        <p:spPr>
          <a:xfrm>
            <a:off x="3276600" y="6230035"/>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5" name="직사각형 94"/>
          <p:cNvSpPr/>
          <p:nvPr/>
        </p:nvSpPr>
        <p:spPr>
          <a:xfrm>
            <a:off x="3276600" y="6467501"/>
            <a:ext cx="1464936" cy="212703"/>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번역문○</a:t>
            </a:r>
          </a:p>
        </p:txBody>
      </p:sp>
      <p:sp>
        <p:nvSpPr>
          <p:cNvPr id="97" name="직사각형 96"/>
          <p:cNvSpPr/>
          <p:nvPr/>
        </p:nvSpPr>
        <p:spPr>
          <a:xfrm>
            <a:off x="8803462" y="5752231"/>
            <a:ext cx="1635937" cy="212703"/>
          </a:xfrm>
          <a:prstGeom prst="rect">
            <a:avLst/>
          </a:prstGeom>
          <a:solidFill>
            <a:schemeClr val="accent3">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B</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의 번역문○</a:t>
            </a:r>
          </a:p>
        </p:txBody>
      </p:sp>
      <p:cxnSp>
        <p:nvCxnSpPr>
          <p:cNvPr id="98" name="직선 화살표 연결선 97"/>
          <p:cNvCxnSpPr>
            <a:stCxn id="82" idx="3"/>
            <a:endCxn id="90" idx="1"/>
          </p:cNvCxnSpPr>
          <p:nvPr/>
        </p:nvCxnSpPr>
        <p:spPr>
          <a:xfrm>
            <a:off x="1877236" y="5376556"/>
            <a:ext cx="1399364" cy="287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99" name="직선 화살표 연결선 98"/>
          <p:cNvCxnSpPr>
            <a:stCxn id="83" idx="3"/>
            <a:endCxn id="91" idx="1"/>
          </p:cNvCxnSpPr>
          <p:nvPr/>
        </p:nvCxnSpPr>
        <p:spPr>
          <a:xfrm>
            <a:off x="1877236" y="5614022"/>
            <a:ext cx="1399364" cy="287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1" name="직선 화살표 연결선 100"/>
          <p:cNvCxnSpPr>
            <a:stCxn id="85" idx="3"/>
            <a:endCxn id="92" idx="1"/>
          </p:cNvCxnSpPr>
          <p:nvPr/>
        </p:nvCxnSpPr>
        <p:spPr>
          <a:xfrm>
            <a:off x="1877236" y="5858583"/>
            <a:ext cx="1399364" cy="287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2" name="직선 화살표 연결선 101"/>
          <p:cNvCxnSpPr>
            <a:stCxn id="87" idx="3"/>
            <a:endCxn id="93" idx="1"/>
          </p:cNvCxnSpPr>
          <p:nvPr/>
        </p:nvCxnSpPr>
        <p:spPr>
          <a:xfrm>
            <a:off x="1877236" y="6096049"/>
            <a:ext cx="1399364" cy="287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3" name="직선 화살표 연결선 102"/>
          <p:cNvCxnSpPr>
            <a:stCxn id="88" idx="3"/>
            <a:endCxn id="94" idx="1"/>
          </p:cNvCxnSpPr>
          <p:nvPr/>
        </p:nvCxnSpPr>
        <p:spPr>
          <a:xfrm>
            <a:off x="1877236" y="6333515"/>
            <a:ext cx="1399364" cy="287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04" name="직선 화살표 연결선 103"/>
          <p:cNvCxnSpPr>
            <a:stCxn id="89" idx="3"/>
            <a:endCxn id="95" idx="1"/>
          </p:cNvCxnSpPr>
          <p:nvPr/>
        </p:nvCxnSpPr>
        <p:spPr>
          <a:xfrm>
            <a:off x="1877236" y="6570981"/>
            <a:ext cx="1399364" cy="287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0" name="직사각형 109"/>
          <p:cNvSpPr/>
          <p:nvPr/>
        </p:nvSpPr>
        <p:spPr>
          <a:xfrm>
            <a:off x="5918200" y="5752231"/>
            <a:ext cx="1464936" cy="21270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청구범위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(B)</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12" name="직선 화살표 연결선 111"/>
          <p:cNvCxnSpPr>
            <a:stCxn id="92" idx="3"/>
            <a:endCxn id="110" idx="1"/>
          </p:cNvCxnSpPr>
          <p:nvPr/>
        </p:nvCxnSpPr>
        <p:spPr>
          <a:xfrm flipV="1">
            <a:off x="4741536" y="5858583"/>
            <a:ext cx="1176664" cy="287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15" name="직선 화살표 연결선 114"/>
          <p:cNvCxnSpPr>
            <a:stCxn id="110" idx="3"/>
            <a:endCxn id="97" idx="1"/>
          </p:cNvCxnSpPr>
          <p:nvPr/>
        </p:nvCxnSpPr>
        <p:spPr>
          <a:xfrm>
            <a:off x="7383136" y="5858583"/>
            <a:ext cx="1420326" cy="0"/>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9" name="모서리가 둥근 직사각형 108"/>
          <p:cNvSpPr/>
          <p:nvPr/>
        </p:nvSpPr>
        <p:spPr>
          <a:xfrm>
            <a:off x="218121" y="1015635"/>
            <a:ext cx="4023679" cy="39870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원문에 대한 </a:t>
            </a:r>
            <a:r>
              <a:rPr kumimoji="0" lang="ko-KR" altLang="en-US" sz="1600" b="0" i="0" u="none" strike="noStrike" kern="1200" cap="none" spc="0" normalizeH="0" baseline="0" noProof="0" dirty="0" err="1">
                <a:ln>
                  <a:noFill/>
                </a:ln>
                <a:solidFill>
                  <a:prstClr val="white"/>
                </a:solidFill>
                <a:effectLst/>
                <a:uLnTx/>
                <a:uFillTx/>
                <a:latin typeface="Frutiger LT 65 Bold"/>
                <a:ea typeface="Rix모던고딕 B"/>
                <a:cs typeface="+mn-cs"/>
              </a:rPr>
              <a:t>국어번역문</a:t>
            </a: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 제출 전 </a:t>
            </a:r>
            <a:r>
              <a:rPr kumimoji="0" lang="en-US" altLang="ko-KR" sz="1600" b="0" i="0" u="none" strike="noStrike" kern="1200" cap="none" spc="0" normalizeH="0" baseline="0" noProof="0" dirty="0">
                <a:ln>
                  <a:noFill/>
                </a:ln>
                <a:solidFill>
                  <a:prstClr val="white"/>
                </a:solidFill>
                <a:effectLst/>
                <a:uLnTx/>
                <a:uFillTx/>
                <a:latin typeface="Frutiger LT 65 Bold"/>
                <a:ea typeface="Rix모던고딕 B"/>
                <a:cs typeface="+mn-cs"/>
              </a:rPr>
              <a:t>PCT 19 </a:t>
            </a: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보정</a:t>
            </a:r>
          </a:p>
        </p:txBody>
      </p:sp>
      <p:sp>
        <p:nvSpPr>
          <p:cNvPr id="119" name="모서리가 둥근 직사각형 118"/>
          <p:cNvSpPr/>
          <p:nvPr/>
        </p:nvSpPr>
        <p:spPr>
          <a:xfrm>
            <a:off x="218121" y="4038289"/>
            <a:ext cx="4023679" cy="39870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원문에 대한 </a:t>
            </a:r>
            <a:r>
              <a:rPr kumimoji="0" lang="ko-KR" altLang="en-US" sz="1600" b="0" i="0" u="none" strike="noStrike" kern="1200" cap="none" spc="0" normalizeH="0" baseline="0" noProof="0" dirty="0" err="1">
                <a:ln>
                  <a:noFill/>
                </a:ln>
                <a:solidFill>
                  <a:prstClr val="white"/>
                </a:solidFill>
                <a:effectLst/>
                <a:uLnTx/>
                <a:uFillTx/>
                <a:latin typeface="Frutiger LT 65 Bold"/>
                <a:ea typeface="Rix모던고딕 B"/>
                <a:cs typeface="+mn-cs"/>
              </a:rPr>
              <a:t>국어번역문</a:t>
            </a: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 제출 후 </a:t>
            </a:r>
            <a:r>
              <a:rPr kumimoji="0" lang="en-US" altLang="ko-KR" sz="1600" b="0" i="0" u="none" strike="noStrike" kern="1200" cap="none" spc="0" normalizeH="0" baseline="0" noProof="0" dirty="0">
                <a:ln>
                  <a:noFill/>
                </a:ln>
                <a:solidFill>
                  <a:prstClr val="white"/>
                </a:solidFill>
                <a:effectLst/>
                <a:uLnTx/>
                <a:uFillTx/>
                <a:latin typeface="Frutiger LT 65 Bold"/>
                <a:ea typeface="Rix모던고딕 B"/>
                <a:cs typeface="+mn-cs"/>
              </a:rPr>
              <a:t>PCT 19 </a:t>
            </a: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보정</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571</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522610990"/>
      </p:ext>
    </p:extLst>
  </p:cSld>
  <p:clrMapOvr>
    <a:masterClrMapping/>
  </p:clrMapOvr>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204</a:t>
            </a:r>
            <a:r>
              <a:rPr lang="ko-KR" altLang="en-US" dirty="0"/>
              <a:t>조</a:t>
            </a:r>
            <a:r>
              <a:rPr lang="en-US" altLang="ko-KR" dirty="0"/>
              <a:t>, </a:t>
            </a:r>
            <a:r>
              <a:rPr lang="ko-KR" altLang="en-US" dirty="0"/>
              <a:t>제</a:t>
            </a:r>
            <a:r>
              <a:rPr lang="en-US" altLang="ko-KR" dirty="0"/>
              <a:t>205</a:t>
            </a:r>
            <a:r>
              <a:rPr lang="ko-KR" altLang="en-US" dirty="0"/>
              <a:t>조</a:t>
            </a:r>
          </a:p>
        </p:txBody>
      </p:sp>
      <p:sp>
        <p:nvSpPr>
          <p:cNvPr id="5" name="텍스트 개체 틀 4"/>
          <p:cNvSpPr>
            <a:spLocks noGrp="1"/>
          </p:cNvSpPr>
          <p:nvPr>
            <p:ph type="body" sz="quarter" idx="13"/>
          </p:nvPr>
        </p:nvSpPr>
        <p:spPr/>
        <p:txBody>
          <a:bodyPr/>
          <a:lstStyle/>
          <a:p>
            <a:r>
              <a:rPr lang="ko-KR" altLang="en-US" dirty="0" err="1"/>
              <a:t>국제단계의</a:t>
            </a:r>
            <a:r>
              <a:rPr lang="ko-KR" altLang="en-US" dirty="0"/>
              <a:t> 보정에 대한 번역문</a:t>
            </a:r>
            <a:r>
              <a:rPr lang="en-US" altLang="ko-KR" dirty="0"/>
              <a:t>/</a:t>
            </a:r>
            <a:r>
              <a:rPr lang="ko-KR" altLang="en-US" dirty="0"/>
              <a:t>사본 제출 법조문 비교</a:t>
            </a:r>
          </a:p>
        </p:txBody>
      </p:sp>
      <p:graphicFrame>
        <p:nvGraphicFramePr>
          <p:cNvPr id="30" name="표 29"/>
          <p:cNvGraphicFramePr>
            <a:graphicFrameLocks noGrp="1"/>
          </p:cNvGraphicFramePr>
          <p:nvPr/>
        </p:nvGraphicFramePr>
        <p:xfrm>
          <a:off x="317501" y="998181"/>
          <a:ext cx="11569700" cy="5632460"/>
        </p:xfrm>
        <a:graphic>
          <a:graphicData uri="http://schemas.openxmlformats.org/drawingml/2006/table">
            <a:tbl>
              <a:tblPr>
                <a:tableStyleId>{8799B23B-EC83-4686-B30A-512413B5E67A}</a:tableStyleId>
              </a:tblPr>
              <a:tblGrid>
                <a:gridCol w="6007099">
                  <a:extLst>
                    <a:ext uri="{9D8B030D-6E8A-4147-A177-3AD203B41FA5}">
                      <a16:colId xmlns:a16="http://schemas.microsoft.com/office/drawing/2014/main" val="4122316602"/>
                    </a:ext>
                  </a:extLst>
                </a:gridCol>
                <a:gridCol w="5562601">
                  <a:extLst>
                    <a:ext uri="{9D8B030D-6E8A-4147-A177-3AD203B41FA5}">
                      <a16:colId xmlns:a16="http://schemas.microsoft.com/office/drawing/2014/main" val="3501181814"/>
                    </a:ext>
                  </a:extLst>
                </a:gridCol>
              </a:tblGrid>
              <a:tr h="82038">
                <a:tc>
                  <a:txBody>
                    <a:bodyPr/>
                    <a:lstStyle/>
                    <a:p>
                      <a:pPr marL="0" marR="0" indent="0" algn="ctr" fontAlgn="base" latinLnBrk="0">
                        <a:lnSpc>
                          <a:spcPct val="120000"/>
                        </a:lnSpc>
                        <a:spcBef>
                          <a:spcPts val="0"/>
                        </a:spcBef>
                        <a:spcAft>
                          <a:spcPts val="0"/>
                        </a:spcAft>
                      </a:pPr>
                      <a:r>
                        <a:rPr lang="ko-KR" altLang="en-US" sz="1400" b="1" i="0" kern="1200" dirty="0">
                          <a:solidFill>
                            <a:schemeClr val="tx1"/>
                          </a:solidFill>
                          <a:effectLst/>
                          <a:latin typeface="+mn-lt"/>
                          <a:ea typeface="+mn-ea"/>
                          <a:cs typeface="+mn-cs"/>
                        </a:rPr>
                        <a:t>국제조사보고서를 받은 후의 보정</a:t>
                      </a:r>
                      <a:endParaRPr lang="ko-KR" altLang="en-US" sz="14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400" kern="0" spc="-80" dirty="0">
                          <a:effectLst/>
                        </a:rPr>
                        <a:t>국제예비심사보고서 작성 전의 보정</a:t>
                      </a:r>
                      <a:endParaRPr lang="ko-KR" altLang="en-US" sz="1400" kern="0" spc="-100" dirty="0">
                        <a:solidFill>
                          <a:srgbClr val="000000"/>
                        </a:solidFill>
                        <a:effectLst/>
                        <a:latin typeface="+mn-ea"/>
                        <a:ea typeface="+mn-ea"/>
                      </a:endParaRPr>
                    </a:p>
                  </a:txBody>
                  <a:tcPr marL="72000" marR="72000" marT="8067" marB="8067" anchor="ctr">
                    <a:solidFill>
                      <a:schemeClr val="accent1">
                        <a:lumMod val="20000"/>
                        <a:lumOff val="80000"/>
                      </a:schemeClr>
                    </a:solidFill>
                  </a:tcPr>
                </a:tc>
                <a:extLst>
                  <a:ext uri="{0D108BD9-81ED-4DB2-BD59-A6C34878D82A}">
                    <a16:rowId xmlns:a16="http://schemas.microsoft.com/office/drawing/2014/main" val="2907354057"/>
                  </a:ext>
                </a:extLst>
              </a:tr>
              <a:tr h="1795570">
                <a:tc>
                  <a:txBody>
                    <a:bodyPr/>
                    <a:lstStyle/>
                    <a:p>
                      <a:pPr marL="0" marR="0" indent="0" algn="l" fontAlgn="base" latinLnBrk="0">
                        <a:lnSpc>
                          <a:spcPct val="120000"/>
                        </a:lnSpc>
                        <a:spcBef>
                          <a:spcPts val="0"/>
                        </a:spcBef>
                        <a:spcAft>
                          <a:spcPts val="0"/>
                        </a:spcAft>
                        <a:tabLst>
                          <a:tab pos="373380" algn="r"/>
                          <a:tab pos="5478780" algn="r"/>
                          <a:tab pos="373380" algn="r"/>
                          <a:tab pos="5478780" algn="r"/>
                        </a:tabLst>
                      </a:pPr>
                      <a:r>
                        <a:rPr lang="ko-KR" altLang="en-US" sz="1400" b="1" kern="0" spc="-80" dirty="0">
                          <a:solidFill>
                            <a:schemeClr val="accent1"/>
                          </a:solidFill>
                          <a:effectLst/>
                        </a:rPr>
                        <a:t>제</a:t>
                      </a:r>
                      <a:r>
                        <a:rPr lang="en-US" altLang="ko-KR" sz="1400" b="1" kern="0" spc="-80" dirty="0">
                          <a:solidFill>
                            <a:schemeClr val="accent1"/>
                          </a:solidFill>
                          <a:effectLst/>
                        </a:rPr>
                        <a:t>204</a:t>
                      </a:r>
                      <a:r>
                        <a:rPr lang="ko-KR" altLang="en-US" sz="1400" b="1" kern="0" spc="-80" dirty="0">
                          <a:solidFill>
                            <a:schemeClr val="accent1"/>
                          </a:solidFill>
                          <a:effectLst/>
                        </a:rPr>
                        <a:t>조</a:t>
                      </a:r>
                      <a:r>
                        <a:rPr lang="en-US" altLang="ko-KR" sz="1400" b="1" kern="0" spc="-80" dirty="0">
                          <a:solidFill>
                            <a:schemeClr val="accent1"/>
                          </a:solidFill>
                          <a:effectLst/>
                        </a:rPr>
                        <a:t>(</a:t>
                      </a:r>
                      <a:r>
                        <a:rPr lang="ko-KR" altLang="en-US" sz="1400" b="1" kern="0" spc="-80" dirty="0">
                          <a:solidFill>
                            <a:schemeClr val="accent1"/>
                          </a:solidFill>
                          <a:effectLst/>
                        </a:rPr>
                        <a:t>국제조사보고서를 받은 후의 보정</a:t>
                      </a:r>
                      <a:r>
                        <a:rPr lang="en-US" altLang="ko-KR" sz="1400" b="1" kern="0" spc="-80" dirty="0">
                          <a:solidFill>
                            <a:schemeClr val="accent1"/>
                          </a:solidFill>
                          <a:effectLst/>
                        </a:rPr>
                        <a:t>) </a:t>
                      </a:r>
                      <a:r>
                        <a:rPr lang="en-US" altLang="ko-KR" sz="1400" kern="0" spc="-80" dirty="0">
                          <a:effectLst/>
                        </a:rPr>
                        <a:t>① </a:t>
                      </a:r>
                      <a:r>
                        <a:rPr lang="ko-KR" altLang="en-US" sz="1400" kern="0" spc="-80" dirty="0">
                          <a:effectLst/>
                        </a:rPr>
                        <a:t>국제특허출원의 </a:t>
                      </a:r>
                      <a:r>
                        <a:rPr lang="ko-KR" altLang="en-US" sz="1400" kern="0" spc="-80" dirty="0" err="1">
                          <a:effectLst/>
                        </a:rPr>
                        <a:t>출원인은</a:t>
                      </a:r>
                      <a:r>
                        <a:rPr lang="ko-KR" altLang="en-US" sz="1400" kern="0" spc="-80" dirty="0">
                          <a:effectLst/>
                        </a:rPr>
                        <a:t> 「특허협력조약」 제</a:t>
                      </a:r>
                      <a:r>
                        <a:rPr lang="en-US" altLang="ko-KR" sz="1400" kern="0" spc="-80" dirty="0">
                          <a:effectLst/>
                        </a:rPr>
                        <a:t>19</a:t>
                      </a:r>
                      <a:r>
                        <a:rPr lang="ko-KR" altLang="en-US" sz="1400" kern="0" spc="-80" dirty="0">
                          <a:effectLst/>
                        </a:rPr>
                        <a:t>조</a:t>
                      </a:r>
                      <a:r>
                        <a:rPr lang="en-US" altLang="ko-KR" sz="1400" kern="0" spc="-80" dirty="0">
                          <a:effectLst/>
                        </a:rPr>
                        <a:t>(1)</a:t>
                      </a:r>
                      <a:r>
                        <a:rPr lang="ko-KR" altLang="en-US" sz="1400" kern="0" spc="-80" dirty="0">
                          <a:effectLst/>
                        </a:rPr>
                        <a:t>에 따라 국제조사보고서를 받은 후에 국제특허출원의 </a:t>
                      </a:r>
                      <a:r>
                        <a:rPr lang="ko-KR" altLang="en-US" sz="1400" kern="0" spc="-80" dirty="0" err="1">
                          <a:effectLst/>
                        </a:rPr>
                        <a:t>청구범위에</a:t>
                      </a:r>
                      <a:r>
                        <a:rPr lang="ko-KR" altLang="en-US" sz="1400" kern="0" spc="-80" dirty="0">
                          <a:effectLst/>
                        </a:rPr>
                        <a:t> 관하여 보정을 한 경우 기준일까지</a:t>
                      </a:r>
                      <a:r>
                        <a:rPr lang="en-US" altLang="ko-KR" sz="1400" kern="0" spc="-80" dirty="0">
                          <a:effectLst/>
                        </a:rPr>
                        <a:t>(</a:t>
                      </a:r>
                      <a:r>
                        <a:rPr lang="ko-KR" altLang="en-US" sz="1400" kern="0" spc="-80" dirty="0">
                          <a:effectLst/>
                        </a:rPr>
                        <a:t>기준일이 </a:t>
                      </a:r>
                      <a:r>
                        <a:rPr lang="ko-KR" altLang="en-US" sz="1400" kern="0" spc="-80" dirty="0" err="1">
                          <a:effectLst/>
                        </a:rPr>
                        <a:t>출원심사의</a:t>
                      </a:r>
                      <a:r>
                        <a:rPr lang="ko-KR" altLang="en-US" sz="1400" kern="0" spc="-80" dirty="0">
                          <a:effectLst/>
                        </a:rPr>
                        <a:t> </a:t>
                      </a:r>
                      <a:r>
                        <a:rPr lang="ko-KR" altLang="en-US" sz="1400" kern="0" spc="-80" dirty="0" err="1">
                          <a:effectLst/>
                        </a:rPr>
                        <a:t>청구일인</a:t>
                      </a:r>
                      <a:r>
                        <a:rPr lang="ko-KR" altLang="en-US" sz="1400" kern="0" spc="-80" dirty="0">
                          <a:effectLst/>
                        </a:rPr>
                        <a:t> 경우 </a:t>
                      </a:r>
                      <a:r>
                        <a:rPr lang="ko-KR" altLang="en-US" sz="1400" kern="0" spc="-80" dirty="0" err="1">
                          <a:effectLst/>
                        </a:rPr>
                        <a:t>출원심사의</a:t>
                      </a:r>
                      <a:r>
                        <a:rPr lang="ko-KR" altLang="en-US" sz="1400" kern="0" spc="-80" dirty="0">
                          <a:effectLst/>
                        </a:rPr>
                        <a:t> 청구를 한 때까지를 말한다</a:t>
                      </a:r>
                      <a:r>
                        <a:rPr lang="en-US" altLang="ko-KR" sz="1400" kern="0" spc="-80" dirty="0">
                          <a:effectLst/>
                        </a:rPr>
                        <a:t>. </a:t>
                      </a:r>
                      <a:r>
                        <a:rPr lang="ko-KR" altLang="en-US" sz="1400" kern="0" spc="-80" dirty="0">
                          <a:effectLst/>
                        </a:rPr>
                        <a:t>이하 이 조 및 제</a:t>
                      </a:r>
                      <a:r>
                        <a:rPr lang="en-US" altLang="ko-KR" sz="1400" kern="0" spc="-80" dirty="0">
                          <a:effectLst/>
                        </a:rPr>
                        <a:t>205</a:t>
                      </a:r>
                      <a:r>
                        <a:rPr lang="ko-KR" altLang="en-US" sz="1400" kern="0" spc="-80" dirty="0">
                          <a:effectLst/>
                        </a:rPr>
                        <a:t>조에서 같다</a:t>
                      </a:r>
                      <a:r>
                        <a:rPr lang="en-US" altLang="ko-KR" sz="1400" kern="0" spc="-80" dirty="0">
                          <a:effectLst/>
                        </a:rPr>
                        <a:t>) </a:t>
                      </a:r>
                      <a:r>
                        <a:rPr lang="ko-KR" altLang="en-US" sz="1400" kern="0" spc="-80" dirty="0">
                          <a:effectLst/>
                        </a:rPr>
                        <a:t>다음 각 호의 구분에 따른 서류를 지식재산처장에게 제출하여야 한다</a:t>
                      </a:r>
                      <a:r>
                        <a:rPr lang="en-US" altLang="ko-KR" sz="1400" kern="0" spc="-80" dirty="0">
                          <a:effectLst/>
                        </a:rPr>
                        <a:t>.</a:t>
                      </a:r>
                    </a:p>
                    <a:p>
                      <a:pPr marL="0" marR="0" indent="0" algn="l" fontAlgn="base" latinLnBrk="0">
                        <a:lnSpc>
                          <a:spcPct val="120000"/>
                        </a:lnSpc>
                        <a:spcBef>
                          <a:spcPts val="0"/>
                        </a:spcBef>
                        <a:spcAft>
                          <a:spcPts val="0"/>
                        </a:spcAft>
                        <a:tabLst>
                          <a:tab pos="373380" algn="r"/>
                          <a:tab pos="5478780" algn="r"/>
                          <a:tab pos="373380" algn="r"/>
                          <a:tab pos="5478780" algn="r"/>
                        </a:tabLst>
                      </a:pPr>
                      <a:r>
                        <a:rPr lang="en-US" altLang="ko-KR" sz="1400" kern="0" spc="-80" dirty="0">
                          <a:effectLst/>
                        </a:rPr>
                        <a:t>1. </a:t>
                      </a:r>
                      <a:r>
                        <a:rPr lang="ko-KR" altLang="en-US" sz="1400" kern="0" spc="-80" dirty="0">
                          <a:effectLst/>
                        </a:rPr>
                        <a:t>외국어로 출원한 </a:t>
                      </a:r>
                      <a:r>
                        <a:rPr lang="ko-KR" altLang="en-US" sz="1400" kern="0" spc="-80" dirty="0">
                          <a:solidFill>
                            <a:srgbClr val="FF0000"/>
                          </a:solidFill>
                          <a:effectLst/>
                        </a:rPr>
                        <a:t>국제특허출원</a:t>
                      </a:r>
                      <a:r>
                        <a:rPr lang="ko-KR" altLang="en-US" sz="1400" kern="0" spc="-80" dirty="0">
                          <a:effectLst/>
                        </a:rPr>
                        <a:t>인 경우</a:t>
                      </a:r>
                      <a:r>
                        <a:rPr lang="en-US" altLang="ko-KR" sz="1400" kern="0" spc="-80" dirty="0">
                          <a:effectLst/>
                        </a:rPr>
                        <a:t>: </a:t>
                      </a:r>
                      <a:r>
                        <a:rPr lang="ko-KR" altLang="en-US" sz="1400" kern="0" spc="-80" dirty="0">
                          <a:effectLst/>
                        </a:rPr>
                        <a:t>그 </a:t>
                      </a:r>
                      <a:r>
                        <a:rPr lang="ko-KR" altLang="en-US" sz="1400" kern="0" spc="-80" dirty="0" err="1">
                          <a:effectLst/>
                        </a:rPr>
                        <a:t>보정서의</a:t>
                      </a:r>
                      <a:r>
                        <a:rPr lang="ko-KR" altLang="en-US" sz="1400" kern="0" spc="-80" dirty="0">
                          <a:effectLst/>
                        </a:rPr>
                        <a:t> </a:t>
                      </a:r>
                      <a:r>
                        <a:rPr lang="ko-KR" altLang="en-US" sz="1400" kern="0" spc="-80" dirty="0" err="1">
                          <a:effectLst/>
                        </a:rPr>
                        <a:t>국어번역문</a:t>
                      </a:r>
                      <a:endParaRPr lang="ko-KR" altLang="en-US" sz="1400" kern="0" spc="-80" dirty="0">
                        <a:effectLst/>
                      </a:endParaRPr>
                    </a:p>
                    <a:p>
                      <a:pPr marL="0" marR="0" indent="0" algn="l" fontAlgn="base" latinLnBrk="0">
                        <a:lnSpc>
                          <a:spcPct val="120000"/>
                        </a:lnSpc>
                        <a:spcBef>
                          <a:spcPts val="0"/>
                        </a:spcBef>
                        <a:spcAft>
                          <a:spcPts val="0"/>
                        </a:spcAft>
                        <a:tabLst>
                          <a:tab pos="373380" algn="r"/>
                          <a:tab pos="5478780" algn="r"/>
                          <a:tab pos="373380" algn="r"/>
                          <a:tab pos="5478780" algn="r"/>
                        </a:tabLst>
                      </a:pPr>
                      <a:r>
                        <a:rPr lang="en-US" altLang="ko-KR" sz="1400" kern="0" spc="-80" dirty="0">
                          <a:effectLst/>
                        </a:rPr>
                        <a:t>2. </a:t>
                      </a:r>
                      <a:r>
                        <a:rPr lang="ko-KR" altLang="en-US" sz="1400" kern="0" spc="-80" dirty="0">
                          <a:effectLst/>
                        </a:rPr>
                        <a:t>국어로 출원한 </a:t>
                      </a:r>
                      <a:r>
                        <a:rPr lang="ko-KR" altLang="en-US" sz="1400" kern="0" spc="-80" dirty="0">
                          <a:solidFill>
                            <a:srgbClr val="FF0000"/>
                          </a:solidFill>
                          <a:effectLst/>
                        </a:rPr>
                        <a:t>국제특허출원</a:t>
                      </a:r>
                      <a:r>
                        <a:rPr lang="ko-KR" altLang="en-US" sz="1400" kern="0" spc="-80" dirty="0">
                          <a:effectLst/>
                        </a:rPr>
                        <a:t>인 경우</a:t>
                      </a:r>
                      <a:r>
                        <a:rPr lang="en-US" altLang="ko-KR" sz="1400" kern="0" spc="-80" dirty="0">
                          <a:effectLst/>
                        </a:rPr>
                        <a:t>: </a:t>
                      </a:r>
                      <a:r>
                        <a:rPr lang="ko-KR" altLang="en-US" sz="1400" kern="0" spc="-80" dirty="0">
                          <a:effectLst/>
                        </a:rPr>
                        <a:t>그 </a:t>
                      </a:r>
                      <a:r>
                        <a:rPr lang="ko-KR" altLang="en-US" sz="1400" kern="0" spc="-80" dirty="0" err="1">
                          <a:effectLst/>
                        </a:rPr>
                        <a:t>보정서의</a:t>
                      </a:r>
                      <a:r>
                        <a:rPr lang="ko-KR" altLang="en-US" sz="1400" kern="0" spc="-80" dirty="0">
                          <a:effectLst/>
                        </a:rPr>
                        <a:t> 사본</a:t>
                      </a:r>
                    </a:p>
                    <a:p>
                      <a:pPr marL="0" marR="0" indent="0" algn="l" fontAlgn="base" latinLnBrk="0">
                        <a:lnSpc>
                          <a:spcPct val="120000"/>
                        </a:lnSpc>
                        <a:spcBef>
                          <a:spcPts val="0"/>
                        </a:spcBef>
                        <a:spcAft>
                          <a:spcPts val="0"/>
                        </a:spcAft>
                        <a:tabLst>
                          <a:tab pos="373380" algn="r"/>
                          <a:tab pos="5478780" algn="r"/>
                          <a:tab pos="373380" algn="r"/>
                          <a:tab pos="5478780" algn="r"/>
                        </a:tabLst>
                      </a:pPr>
                      <a:r>
                        <a:rPr lang="ko-KR" altLang="en-US" sz="1400" kern="0" spc="-80" dirty="0">
                          <a:effectLst/>
                        </a:rPr>
                        <a:t>② 제</a:t>
                      </a:r>
                      <a:r>
                        <a:rPr lang="en-US" altLang="ko-KR" sz="1400" kern="0" spc="-80" dirty="0">
                          <a:effectLst/>
                        </a:rPr>
                        <a:t>1</a:t>
                      </a:r>
                      <a:r>
                        <a:rPr lang="ko-KR" altLang="en-US" sz="1400" kern="0" spc="-80" dirty="0">
                          <a:effectLst/>
                        </a:rPr>
                        <a:t>항에 따라 </a:t>
                      </a:r>
                      <a:r>
                        <a:rPr lang="ko-KR" altLang="en-US" sz="1400" kern="0" spc="-80" dirty="0" err="1">
                          <a:effectLst/>
                        </a:rPr>
                        <a:t>보정서의</a:t>
                      </a:r>
                      <a:r>
                        <a:rPr lang="ko-KR" altLang="en-US" sz="1400" kern="0" spc="-80" dirty="0">
                          <a:effectLst/>
                        </a:rPr>
                        <a:t> </a:t>
                      </a:r>
                      <a:r>
                        <a:rPr lang="ko-KR" altLang="en-US" sz="1400" kern="0" spc="-80" dirty="0" err="1">
                          <a:effectLst/>
                        </a:rPr>
                        <a:t>국어번역문</a:t>
                      </a:r>
                      <a:r>
                        <a:rPr lang="ko-KR" altLang="en-US" sz="1400" kern="0" spc="-80" dirty="0">
                          <a:effectLst/>
                        </a:rPr>
                        <a:t> 또는 사본이 제출되었을 때에는 그 </a:t>
                      </a:r>
                      <a:r>
                        <a:rPr lang="ko-KR" altLang="en-US" sz="1400" kern="0" spc="-80" dirty="0" err="1">
                          <a:effectLst/>
                        </a:rPr>
                        <a:t>보정서의</a:t>
                      </a:r>
                      <a:r>
                        <a:rPr lang="ko-KR" altLang="en-US" sz="1400" kern="0" spc="-80" dirty="0">
                          <a:effectLst/>
                        </a:rPr>
                        <a:t> </a:t>
                      </a:r>
                      <a:r>
                        <a:rPr lang="ko-KR" altLang="en-US" sz="1400" kern="0" spc="-80" dirty="0" err="1">
                          <a:effectLst/>
                        </a:rPr>
                        <a:t>국어번역문</a:t>
                      </a:r>
                      <a:r>
                        <a:rPr lang="ko-KR" altLang="en-US" sz="1400" kern="0" spc="-80" dirty="0">
                          <a:effectLst/>
                        </a:rPr>
                        <a:t> 또는 사본에 따라 제</a:t>
                      </a:r>
                      <a:r>
                        <a:rPr lang="en-US" altLang="ko-KR" sz="1400" kern="0" spc="-80" dirty="0">
                          <a:effectLst/>
                        </a:rPr>
                        <a:t>47</a:t>
                      </a:r>
                      <a:r>
                        <a:rPr lang="ko-KR" altLang="en-US" sz="1400" kern="0" spc="-80" dirty="0">
                          <a:effectLst/>
                        </a:rPr>
                        <a:t>조제</a:t>
                      </a:r>
                      <a:r>
                        <a:rPr lang="en-US" altLang="ko-KR" sz="1400" kern="0" spc="-80" dirty="0">
                          <a:effectLst/>
                        </a:rPr>
                        <a:t>1</a:t>
                      </a:r>
                      <a:r>
                        <a:rPr lang="ko-KR" altLang="en-US" sz="1400" kern="0" spc="-80" dirty="0">
                          <a:effectLst/>
                        </a:rPr>
                        <a:t>항에 따른 청구범위가 보정된 것으로 본다</a:t>
                      </a:r>
                      <a:r>
                        <a:rPr lang="en-US" altLang="ko-KR" sz="1400" kern="0" spc="-80" dirty="0">
                          <a:effectLst/>
                        </a:rPr>
                        <a:t>. </a:t>
                      </a:r>
                      <a:r>
                        <a:rPr lang="ko-KR" altLang="en-US" sz="1400" kern="0" spc="-80" dirty="0">
                          <a:effectLst/>
                        </a:rPr>
                        <a:t>다만</a:t>
                      </a:r>
                      <a:r>
                        <a:rPr lang="en-US" altLang="ko-KR" sz="1400" kern="0" spc="-80" dirty="0">
                          <a:effectLst/>
                        </a:rPr>
                        <a:t>, </a:t>
                      </a:r>
                      <a:r>
                        <a:rPr lang="ko-KR" altLang="en-US" sz="1400" kern="0" spc="-80" dirty="0">
                          <a:effectLst/>
                        </a:rPr>
                        <a:t>「특허협력조약」 제</a:t>
                      </a:r>
                      <a:r>
                        <a:rPr lang="en-US" altLang="ko-KR" sz="1400" kern="0" spc="-80" dirty="0">
                          <a:effectLst/>
                        </a:rPr>
                        <a:t>20</a:t>
                      </a:r>
                      <a:r>
                        <a:rPr lang="ko-KR" altLang="en-US" sz="1400" kern="0" spc="-80" dirty="0">
                          <a:effectLst/>
                        </a:rPr>
                        <a:t>조에 따라 기준일까지 그 </a:t>
                      </a:r>
                      <a:r>
                        <a:rPr lang="ko-KR" altLang="en-US" sz="1400" kern="0" spc="-80" dirty="0" err="1">
                          <a:effectLst/>
                        </a:rPr>
                        <a:t>보정서</a:t>
                      </a:r>
                      <a:r>
                        <a:rPr lang="en-US" altLang="ko-KR" sz="1400" kern="0" spc="-80" dirty="0">
                          <a:effectLst/>
                        </a:rPr>
                        <a:t>(</a:t>
                      </a:r>
                      <a:r>
                        <a:rPr lang="ko-KR" altLang="en-US" sz="1400" kern="0" spc="-80" dirty="0">
                          <a:effectLst/>
                        </a:rPr>
                        <a:t>국어로 출원한 국제특허출원인 경우에 한정한다</a:t>
                      </a:r>
                      <a:r>
                        <a:rPr lang="en-US" altLang="ko-KR" sz="1400" kern="0" spc="-80" dirty="0">
                          <a:effectLst/>
                        </a:rPr>
                        <a:t>)</a:t>
                      </a:r>
                      <a:r>
                        <a:rPr lang="ko-KR" altLang="en-US" sz="1400" kern="0" spc="-80" dirty="0">
                          <a:effectLst/>
                        </a:rPr>
                        <a:t>가 지식재산처에 송달된 경우에는 그 보정서에 따라 보정된 것으로 본다</a:t>
                      </a:r>
                      <a:r>
                        <a:rPr lang="en-US" altLang="ko-KR" sz="1400" kern="0" spc="-80" dirty="0">
                          <a:effectLst/>
                        </a:rPr>
                        <a:t>.</a:t>
                      </a:r>
                    </a:p>
                    <a:p>
                      <a:pPr marL="0" marR="0" indent="0" algn="l" fontAlgn="base" latinLnBrk="0">
                        <a:lnSpc>
                          <a:spcPct val="120000"/>
                        </a:lnSpc>
                        <a:spcBef>
                          <a:spcPts val="0"/>
                        </a:spcBef>
                        <a:spcAft>
                          <a:spcPts val="0"/>
                        </a:spcAft>
                        <a:tabLst>
                          <a:tab pos="373380" algn="r"/>
                          <a:tab pos="5478780" algn="r"/>
                          <a:tab pos="373380" algn="r"/>
                          <a:tab pos="5478780" algn="r"/>
                        </a:tabLst>
                      </a:pPr>
                      <a:r>
                        <a:rPr lang="en-US" altLang="ko-KR" sz="1400" kern="0" spc="-80" dirty="0">
                          <a:solidFill>
                            <a:srgbClr val="FF0000"/>
                          </a:solidFill>
                          <a:effectLst/>
                        </a:rPr>
                        <a:t>③ </a:t>
                      </a:r>
                      <a:r>
                        <a:rPr lang="ko-KR" altLang="en-US" sz="1400" kern="0" spc="-80" dirty="0">
                          <a:solidFill>
                            <a:srgbClr val="FF0000"/>
                          </a:solidFill>
                          <a:effectLst/>
                        </a:rPr>
                        <a:t>국제특허출원의 </a:t>
                      </a:r>
                      <a:r>
                        <a:rPr lang="ko-KR" altLang="en-US" sz="1400" kern="0" spc="-80" dirty="0" err="1">
                          <a:solidFill>
                            <a:srgbClr val="FF0000"/>
                          </a:solidFill>
                          <a:effectLst/>
                        </a:rPr>
                        <a:t>출원인은</a:t>
                      </a:r>
                      <a:r>
                        <a:rPr lang="ko-KR" altLang="en-US" sz="1400" kern="0" spc="-80" dirty="0">
                          <a:solidFill>
                            <a:srgbClr val="FF0000"/>
                          </a:solidFill>
                          <a:effectLst/>
                        </a:rPr>
                        <a:t> 「특허협력조약」 제</a:t>
                      </a:r>
                      <a:r>
                        <a:rPr lang="en-US" altLang="ko-KR" sz="1400" kern="0" spc="-80" dirty="0">
                          <a:solidFill>
                            <a:srgbClr val="FF0000"/>
                          </a:solidFill>
                          <a:effectLst/>
                        </a:rPr>
                        <a:t>19</a:t>
                      </a:r>
                      <a:r>
                        <a:rPr lang="ko-KR" altLang="en-US" sz="1400" kern="0" spc="-80" dirty="0">
                          <a:solidFill>
                            <a:srgbClr val="FF0000"/>
                          </a:solidFill>
                          <a:effectLst/>
                        </a:rPr>
                        <a:t>조</a:t>
                      </a:r>
                      <a:r>
                        <a:rPr lang="en-US" altLang="ko-KR" sz="1400" kern="0" spc="-80" dirty="0">
                          <a:solidFill>
                            <a:srgbClr val="FF0000"/>
                          </a:solidFill>
                          <a:effectLst/>
                        </a:rPr>
                        <a:t>(1)</a:t>
                      </a:r>
                      <a:r>
                        <a:rPr lang="ko-KR" altLang="en-US" sz="1400" kern="0" spc="-80" dirty="0">
                          <a:solidFill>
                            <a:srgbClr val="FF0000"/>
                          </a:solidFill>
                          <a:effectLst/>
                        </a:rPr>
                        <a:t>에 따른 설명서를 국제사무국에 제출한 경우 다음 각 호의 구분에 따른 서류를 기준일까지 지식재산처장에게 제출하여야 한다</a:t>
                      </a:r>
                      <a:r>
                        <a:rPr lang="en-US" altLang="ko-KR" sz="1400" kern="0" spc="-80" dirty="0">
                          <a:solidFill>
                            <a:srgbClr val="FF0000"/>
                          </a:solidFill>
                          <a:effectLst/>
                        </a:rPr>
                        <a:t>.</a:t>
                      </a:r>
                    </a:p>
                    <a:p>
                      <a:pPr marL="0" marR="0" indent="0" algn="l" fontAlgn="base" latinLnBrk="0">
                        <a:lnSpc>
                          <a:spcPct val="120000"/>
                        </a:lnSpc>
                        <a:spcBef>
                          <a:spcPts val="0"/>
                        </a:spcBef>
                        <a:spcAft>
                          <a:spcPts val="0"/>
                        </a:spcAft>
                        <a:tabLst>
                          <a:tab pos="373380" algn="r"/>
                          <a:tab pos="5478780" algn="r"/>
                          <a:tab pos="373380" algn="r"/>
                          <a:tab pos="5478780" algn="r"/>
                        </a:tabLst>
                      </a:pPr>
                      <a:r>
                        <a:rPr lang="en-US" altLang="ko-KR" sz="1400" kern="0" spc="-80" dirty="0">
                          <a:solidFill>
                            <a:srgbClr val="FF0000"/>
                          </a:solidFill>
                          <a:effectLst/>
                        </a:rPr>
                        <a:t>1. </a:t>
                      </a:r>
                      <a:r>
                        <a:rPr lang="ko-KR" altLang="en-US" sz="1400" kern="0" spc="-80" dirty="0">
                          <a:solidFill>
                            <a:srgbClr val="FF0000"/>
                          </a:solidFill>
                          <a:effectLst/>
                        </a:rPr>
                        <a:t>외국어로 출원한 국제특허출원인 경우</a:t>
                      </a:r>
                      <a:r>
                        <a:rPr lang="en-US" altLang="ko-KR" sz="1400" kern="0" spc="-80" dirty="0">
                          <a:solidFill>
                            <a:srgbClr val="FF0000"/>
                          </a:solidFill>
                          <a:effectLst/>
                        </a:rPr>
                        <a:t>: </a:t>
                      </a:r>
                      <a:r>
                        <a:rPr lang="ko-KR" altLang="en-US" sz="1400" kern="0" spc="-80" dirty="0">
                          <a:solidFill>
                            <a:srgbClr val="FF0000"/>
                          </a:solidFill>
                          <a:effectLst/>
                        </a:rPr>
                        <a:t>그 설명서의 </a:t>
                      </a:r>
                      <a:r>
                        <a:rPr lang="ko-KR" altLang="en-US" sz="1400" kern="0" spc="-80" dirty="0" err="1">
                          <a:solidFill>
                            <a:srgbClr val="FF0000"/>
                          </a:solidFill>
                          <a:effectLst/>
                        </a:rPr>
                        <a:t>국어번역문</a:t>
                      </a:r>
                      <a:endParaRPr lang="ko-KR" altLang="en-US" sz="1400" kern="0" spc="-80" dirty="0">
                        <a:solidFill>
                          <a:srgbClr val="FF0000"/>
                        </a:solidFill>
                        <a:effectLst/>
                      </a:endParaRPr>
                    </a:p>
                    <a:p>
                      <a:pPr marL="0" marR="0" indent="0" algn="l" fontAlgn="base" latinLnBrk="0">
                        <a:lnSpc>
                          <a:spcPct val="120000"/>
                        </a:lnSpc>
                        <a:spcBef>
                          <a:spcPts val="0"/>
                        </a:spcBef>
                        <a:spcAft>
                          <a:spcPts val="0"/>
                        </a:spcAft>
                        <a:tabLst>
                          <a:tab pos="373380" algn="r"/>
                          <a:tab pos="5478780" algn="r"/>
                          <a:tab pos="373380" algn="r"/>
                          <a:tab pos="5478780" algn="r"/>
                        </a:tabLst>
                      </a:pPr>
                      <a:r>
                        <a:rPr lang="en-US" altLang="ko-KR" sz="1400" kern="0" spc="-80" dirty="0">
                          <a:solidFill>
                            <a:srgbClr val="FF0000"/>
                          </a:solidFill>
                          <a:effectLst/>
                        </a:rPr>
                        <a:t>2. </a:t>
                      </a:r>
                      <a:r>
                        <a:rPr lang="ko-KR" altLang="en-US" sz="1400" kern="0" spc="-80" dirty="0">
                          <a:solidFill>
                            <a:srgbClr val="FF0000"/>
                          </a:solidFill>
                          <a:effectLst/>
                        </a:rPr>
                        <a:t>국어로 출원한 국제특허출원인 경우</a:t>
                      </a:r>
                      <a:r>
                        <a:rPr lang="en-US" altLang="ko-KR" sz="1400" kern="0" spc="-80" dirty="0">
                          <a:solidFill>
                            <a:srgbClr val="FF0000"/>
                          </a:solidFill>
                          <a:effectLst/>
                        </a:rPr>
                        <a:t>: </a:t>
                      </a:r>
                      <a:r>
                        <a:rPr lang="ko-KR" altLang="en-US" sz="1400" kern="0" spc="-80" dirty="0">
                          <a:solidFill>
                            <a:srgbClr val="FF0000"/>
                          </a:solidFill>
                          <a:effectLst/>
                        </a:rPr>
                        <a:t>그 설명서의 사본</a:t>
                      </a:r>
                    </a:p>
                    <a:p>
                      <a:pPr marL="0" marR="0" indent="0" algn="l" fontAlgn="base" latinLnBrk="0">
                        <a:lnSpc>
                          <a:spcPct val="120000"/>
                        </a:lnSpc>
                        <a:spcBef>
                          <a:spcPts val="0"/>
                        </a:spcBef>
                        <a:spcAft>
                          <a:spcPts val="0"/>
                        </a:spcAft>
                        <a:tabLst>
                          <a:tab pos="373380" algn="r"/>
                          <a:tab pos="5478780" algn="r"/>
                          <a:tab pos="373380" algn="r"/>
                          <a:tab pos="5478780" algn="r"/>
                        </a:tabLst>
                      </a:pPr>
                      <a:r>
                        <a:rPr lang="ko-KR" altLang="en-US" sz="1400" kern="0" spc="-80" dirty="0">
                          <a:effectLst/>
                        </a:rPr>
                        <a:t>④ 국제특허출원의 </a:t>
                      </a:r>
                      <a:r>
                        <a:rPr lang="ko-KR" altLang="en-US" sz="1400" kern="0" spc="-80" dirty="0" err="1">
                          <a:effectLst/>
                        </a:rPr>
                        <a:t>출원인이</a:t>
                      </a:r>
                      <a:r>
                        <a:rPr lang="ko-KR" altLang="en-US" sz="1400" kern="0" spc="-80" dirty="0">
                          <a:effectLst/>
                        </a:rPr>
                        <a:t> 기준일까지 제</a:t>
                      </a:r>
                      <a:r>
                        <a:rPr lang="en-US" altLang="ko-KR" sz="1400" kern="0" spc="-80" dirty="0">
                          <a:effectLst/>
                        </a:rPr>
                        <a:t>1</a:t>
                      </a:r>
                      <a:r>
                        <a:rPr lang="ko-KR" altLang="en-US" sz="1400" kern="0" spc="-80" dirty="0">
                          <a:effectLst/>
                        </a:rPr>
                        <a:t>항 또는 제</a:t>
                      </a:r>
                      <a:r>
                        <a:rPr lang="en-US" altLang="ko-KR" sz="1400" kern="0" spc="-80" dirty="0">
                          <a:effectLst/>
                        </a:rPr>
                        <a:t>3</a:t>
                      </a:r>
                      <a:r>
                        <a:rPr lang="ko-KR" altLang="en-US" sz="1400" kern="0" spc="-80" dirty="0">
                          <a:effectLst/>
                        </a:rPr>
                        <a:t>항에 따른 절차를 밟지 아니하면 「특허협력조약」 제</a:t>
                      </a:r>
                      <a:r>
                        <a:rPr lang="en-US" altLang="ko-KR" sz="1400" kern="0" spc="-80" dirty="0">
                          <a:effectLst/>
                        </a:rPr>
                        <a:t>19</a:t>
                      </a:r>
                      <a:r>
                        <a:rPr lang="ko-KR" altLang="en-US" sz="1400" kern="0" spc="-80" dirty="0">
                          <a:effectLst/>
                        </a:rPr>
                        <a:t>조</a:t>
                      </a:r>
                      <a:r>
                        <a:rPr lang="en-US" altLang="ko-KR" sz="1400" kern="0" spc="-80" dirty="0">
                          <a:effectLst/>
                        </a:rPr>
                        <a:t>(1)</a:t>
                      </a:r>
                      <a:r>
                        <a:rPr lang="ko-KR" altLang="en-US" sz="1400" kern="0" spc="-80" dirty="0">
                          <a:effectLst/>
                        </a:rPr>
                        <a:t>에 따른 </a:t>
                      </a:r>
                      <a:r>
                        <a:rPr lang="ko-KR" altLang="en-US" sz="1400" kern="0" spc="-80" dirty="0" err="1">
                          <a:effectLst/>
                        </a:rPr>
                        <a:t>보정서</a:t>
                      </a:r>
                      <a:r>
                        <a:rPr lang="ko-KR" altLang="en-US" sz="1400" kern="0" spc="-80" dirty="0">
                          <a:effectLst/>
                        </a:rPr>
                        <a:t> 또는 설명서는 제출되지 아니한 것으로 본다</a:t>
                      </a:r>
                      <a:r>
                        <a:rPr lang="en-US" altLang="ko-KR" sz="1400" kern="0" spc="-80" dirty="0">
                          <a:effectLst/>
                        </a:rPr>
                        <a:t>. </a:t>
                      </a:r>
                      <a:r>
                        <a:rPr lang="ko-KR" altLang="en-US" sz="1400" kern="0" spc="-80" dirty="0">
                          <a:effectLst/>
                        </a:rPr>
                        <a:t>다만</a:t>
                      </a:r>
                      <a:r>
                        <a:rPr lang="en-US" altLang="ko-KR" sz="1400" kern="0" spc="-80" dirty="0">
                          <a:effectLst/>
                        </a:rPr>
                        <a:t>, </a:t>
                      </a:r>
                      <a:r>
                        <a:rPr lang="ko-KR" altLang="en-US" sz="1400" kern="0" spc="-80" dirty="0">
                          <a:effectLst/>
                        </a:rPr>
                        <a:t>국어로 출원한 국제특허출원인 경우에 「특허협력조약」 제</a:t>
                      </a:r>
                      <a:r>
                        <a:rPr lang="en-US" altLang="ko-KR" sz="1400" kern="0" spc="-80" dirty="0">
                          <a:effectLst/>
                        </a:rPr>
                        <a:t>20</a:t>
                      </a:r>
                      <a:r>
                        <a:rPr lang="ko-KR" altLang="en-US" sz="1400" kern="0" spc="-80" dirty="0">
                          <a:effectLst/>
                        </a:rPr>
                        <a:t>조에 따라 기준일까지 그 보정서 또는 그 설명서가 지식재산처에 송달된 경우에는 그러하지 아니하다</a:t>
                      </a:r>
                      <a:r>
                        <a:rPr lang="en-US" altLang="ko-KR" sz="1400" kern="0" spc="-80" dirty="0">
                          <a:effectLst/>
                        </a:rPr>
                        <a:t>.</a:t>
                      </a:r>
                      <a:endParaRPr lang="ko-KR" altLang="en-US" sz="1400" kern="0" spc="-80" dirty="0">
                        <a:solidFill>
                          <a:schemeClr val="tx1"/>
                        </a:solidFill>
                        <a:effectLst/>
                        <a:latin typeface="+mn-ea"/>
                        <a:ea typeface="+mn-ea"/>
                      </a:endParaRPr>
                    </a:p>
                  </a:txBody>
                  <a:tcPr marL="72000" marR="72000" marT="8067" marB="8067"/>
                </a:tc>
                <a:tc>
                  <a:txBody>
                    <a:bodyPr/>
                    <a:lstStyle/>
                    <a:p>
                      <a:pPr marL="0" marR="0" indent="0" algn="l" fontAlgn="base" latinLnBrk="0">
                        <a:lnSpc>
                          <a:spcPct val="120000"/>
                        </a:lnSpc>
                        <a:spcBef>
                          <a:spcPts val="0"/>
                        </a:spcBef>
                        <a:spcAft>
                          <a:spcPts val="0"/>
                        </a:spcAft>
                        <a:tabLst>
                          <a:tab pos="373380" algn="r"/>
                          <a:tab pos="5478780" algn="r"/>
                          <a:tab pos="373380" algn="r"/>
                          <a:tab pos="5478780" algn="r"/>
                        </a:tabLst>
                      </a:pPr>
                      <a:r>
                        <a:rPr lang="ko-KR" altLang="en-US" sz="1400" b="1" kern="0" spc="-80" dirty="0">
                          <a:solidFill>
                            <a:schemeClr val="accent1"/>
                          </a:solidFill>
                          <a:effectLst/>
                        </a:rPr>
                        <a:t>제</a:t>
                      </a:r>
                      <a:r>
                        <a:rPr lang="en-US" altLang="ko-KR" sz="1400" b="1" kern="0" spc="-80" dirty="0">
                          <a:solidFill>
                            <a:schemeClr val="accent1"/>
                          </a:solidFill>
                          <a:effectLst/>
                        </a:rPr>
                        <a:t>205</a:t>
                      </a:r>
                      <a:r>
                        <a:rPr lang="ko-KR" altLang="en-US" sz="1400" b="1" kern="0" spc="-80" dirty="0">
                          <a:solidFill>
                            <a:schemeClr val="accent1"/>
                          </a:solidFill>
                          <a:effectLst/>
                        </a:rPr>
                        <a:t>조</a:t>
                      </a:r>
                      <a:r>
                        <a:rPr lang="en-US" altLang="ko-KR" sz="1400" b="1" kern="0" spc="-80" dirty="0">
                          <a:solidFill>
                            <a:schemeClr val="accent1"/>
                          </a:solidFill>
                          <a:effectLst/>
                        </a:rPr>
                        <a:t>(</a:t>
                      </a:r>
                      <a:r>
                        <a:rPr lang="ko-KR" altLang="en-US" sz="1400" b="1" kern="0" spc="-80" dirty="0">
                          <a:solidFill>
                            <a:schemeClr val="accent1"/>
                          </a:solidFill>
                          <a:effectLst/>
                        </a:rPr>
                        <a:t>국제예비심사보고서 작성 전의 보정</a:t>
                      </a:r>
                      <a:r>
                        <a:rPr lang="en-US" altLang="ko-KR" sz="1400" b="1" kern="0" spc="-80" dirty="0">
                          <a:solidFill>
                            <a:schemeClr val="accent1"/>
                          </a:solidFill>
                          <a:effectLst/>
                        </a:rPr>
                        <a:t>) </a:t>
                      </a:r>
                      <a:r>
                        <a:rPr lang="en-US" altLang="ko-KR" sz="1400" kern="0" spc="-80" dirty="0">
                          <a:effectLst/>
                        </a:rPr>
                        <a:t>① </a:t>
                      </a:r>
                      <a:r>
                        <a:rPr lang="ko-KR" altLang="en-US" sz="1400" kern="0" spc="-80" dirty="0">
                          <a:effectLst/>
                        </a:rPr>
                        <a:t>국제특허출원의 </a:t>
                      </a:r>
                      <a:r>
                        <a:rPr lang="ko-KR" altLang="en-US" sz="1400" kern="0" spc="-80" dirty="0" err="1">
                          <a:effectLst/>
                        </a:rPr>
                        <a:t>출원인은</a:t>
                      </a:r>
                      <a:r>
                        <a:rPr lang="ko-KR" altLang="en-US" sz="1400" kern="0" spc="-80" dirty="0">
                          <a:effectLst/>
                        </a:rPr>
                        <a:t> 「특허협력조약」 제</a:t>
                      </a:r>
                      <a:r>
                        <a:rPr lang="en-US" altLang="ko-KR" sz="1400" kern="0" spc="-80" dirty="0">
                          <a:effectLst/>
                        </a:rPr>
                        <a:t>34</a:t>
                      </a:r>
                      <a:r>
                        <a:rPr lang="ko-KR" altLang="en-US" sz="1400" kern="0" spc="-80" dirty="0">
                          <a:effectLst/>
                        </a:rPr>
                        <a:t>조</a:t>
                      </a:r>
                      <a:r>
                        <a:rPr lang="en-US" altLang="ko-KR" sz="1400" kern="0" spc="-80" dirty="0">
                          <a:effectLst/>
                        </a:rPr>
                        <a:t>(2)(b)</a:t>
                      </a:r>
                      <a:r>
                        <a:rPr lang="ko-KR" altLang="en-US" sz="1400" kern="0" spc="-80" dirty="0">
                          <a:effectLst/>
                        </a:rPr>
                        <a:t>에 따라 국제특허출원의 발명의 설명</a:t>
                      </a:r>
                      <a:r>
                        <a:rPr lang="en-US" altLang="ko-KR" sz="1400" kern="0" spc="-80" dirty="0">
                          <a:effectLst/>
                        </a:rPr>
                        <a:t>, </a:t>
                      </a:r>
                      <a:r>
                        <a:rPr lang="ko-KR" altLang="en-US" sz="1400" kern="0" spc="-80" dirty="0">
                          <a:effectLst/>
                        </a:rPr>
                        <a:t>청구범위 및 도면에 대하여 보정을 한 경우 기준일까지 다음 각 호의 구분에 따른 서류를 지식재산처장에게 제출하여야 한다</a:t>
                      </a:r>
                      <a:r>
                        <a:rPr lang="en-US" altLang="ko-KR" sz="1400" kern="0" spc="-80" dirty="0">
                          <a:effectLst/>
                        </a:rPr>
                        <a:t>.</a:t>
                      </a:r>
                    </a:p>
                    <a:p>
                      <a:pPr marL="0" marR="0" indent="0" algn="l" fontAlgn="base" latinLnBrk="0">
                        <a:lnSpc>
                          <a:spcPct val="120000"/>
                        </a:lnSpc>
                        <a:spcBef>
                          <a:spcPts val="0"/>
                        </a:spcBef>
                        <a:spcAft>
                          <a:spcPts val="0"/>
                        </a:spcAft>
                        <a:tabLst>
                          <a:tab pos="373380" algn="r"/>
                          <a:tab pos="5478780" algn="r"/>
                          <a:tab pos="373380" algn="r"/>
                          <a:tab pos="5478780" algn="r"/>
                        </a:tabLst>
                      </a:pPr>
                      <a:r>
                        <a:rPr lang="en-US" altLang="ko-KR" sz="1400" kern="0" spc="-80" dirty="0">
                          <a:effectLst/>
                        </a:rPr>
                        <a:t>1. </a:t>
                      </a:r>
                      <a:r>
                        <a:rPr lang="ko-KR" altLang="en-US" sz="1400" kern="0" spc="-80" dirty="0">
                          <a:effectLst/>
                        </a:rPr>
                        <a:t>외국어로 작성된 </a:t>
                      </a:r>
                      <a:r>
                        <a:rPr lang="ko-KR" altLang="en-US" sz="1400" kern="0" spc="-80" dirty="0" err="1">
                          <a:solidFill>
                            <a:srgbClr val="FF0000"/>
                          </a:solidFill>
                          <a:effectLst/>
                        </a:rPr>
                        <a:t>보정서</a:t>
                      </a:r>
                      <a:r>
                        <a:rPr lang="ko-KR" altLang="en-US" sz="1400" kern="0" spc="-80" dirty="0" err="1">
                          <a:effectLst/>
                        </a:rPr>
                        <a:t>인</a:t>
                      </a:r>
                      <a:r>
                        <a:rPr lang="ko-KR" altLang="en-US" sz="1400" kern="0" spc="-80" dirty="0">
                          <a:effectLst/>
                        </a:rPr>
                        <a:t> 경우</a:t>
                      </a:r>
                      <a:r>
                        <a:rPr lang="en-US" altLang="ko-KR" sz="1400" kern="0" spc="-80" dirty="0">
                          <a:effectLst/>
                        </a:rPr>
                        <a:t>: </a:t>
                      </a:r>
                      <a:r>
                        <a:rPr lang="ko-KR" altLang="en-US" sz="1400" kern="0" spc="-80" dirty="0">
                          <a:effectLst/>
                        </a:rPr>
                        <a:t>그 </a:t>
                      </a:r>
                      <a:r>
                        <a:rPr lang="ko-KR" altLang="en-US" sz="1400" kern="0" spc="-80" dirty="0" err="1">
                          <a:effectLst/>
                        </a:rPr>
                        <a:t>보정서의</a:t>
                      </a:r>
                      <a:r>
                        <a:rPr lang="ko-KR" altLang="en-US" sz="1400" kern="0" spc="-80" dirty="0">
                          <a:effectLst/>
                        </a:rPr>
                        <a:t> </a:t>
                      </a:r>
                      <a:r>
                        <a:rPr lang="ko-KR" altLang="en-US" sz="1400" kern="0" spc="-80" dirty="0" err="1">
                          <a:effectLst/>
                        </a:rPr>
                        <a:t>국어번역문</a:t>
                      </a:r>
                      <a:endParaRPr lang="ko-KR" altLang="en-US" sz="1400" kern="0" spc="-80" dirty="0">
                        <a:effectLst/>
                      </a:endParaRPr>
                    </a:p>
                    <a:p>
                      <a:pPr marL="0" marR="0" indent="0" algn="l" fontAlgn="base" latinLnBrk="0">
                        <a:lnSpc>
                          <a:spcPct val="120000"/>
                        </a:lnSpc>
                        <a:spcBef>
                          <a:spcPts val="0"/>
                        </a:spcBef>
                        <a:spcAft>
                          <a:spcPts val="0"/>
                        </a:spcAft>
                        <a:tabLst>
                          <a:tab pos="373380" algn="r"/>
                          <a:tab pos="5478780" algn="r"/>
                          <a:tab pos="373380" algn="r"/>
                          <a:tab pos="5478780" algn="r"/>
                        </a:tabLst>
                      </a:pPr>
                      <a:r>
                        <a:rPr lang="en-US" altLang="ko-KR" sz="1400" kern="0" spc="-80" dirty="0">
                          <a:effectLst/>
                        </a:rPr>
                        <a:t>2. </a:t>
                      </a:r>
                      <a:r>
                        <a:rPr lang="ko-KR" altLang="en-US" sz="1400" kern="0" spc="-80" dirty="0">
                          <a:effectLst/>
                        </a:rPr>
                        <a:t>국어로 작성된 </a:t>
                      </a:r>
                      <a:r>
                        <a:rPr lang="ko-KR" altLang="en-US" sz="1400" kern="0" spc="-80" dirty="0" err="1">
                          <a:solidFill>
                            <a:srgbClr val="FF0000"/>
                          </a:solidFill>
                          <a:effectLst/>
                        </a:rPr>
                        <a:t>보정서</a:t>
                      </a:r>
                      <a:r>
                        <a:rPr lang="ko-KR" altLang="en-US" sz="1400" kern="0" spc="-80" dirty="0" err="1">
                          <a:effectLst/>
                        </a:rPr>
                        <a:t>인</a:t>
                      </a:r>
                      <a:r>
                        <a:rPr lang="ko-KR" altLang="en-US" sz="1400" kern="0" spc="-80" dirty="0">
                          <a:effectLst/>
                        </a:rPr>
                        <a:t> 경우</a:t>
                      </a:r>
                      <a:r>
                        <a:rPr lang="en-US" altLang="ko-KR" sz="1400" kern="0" spc="-80" dirty="0">
                          <a:effectLst/>
                        </a:rPr>
                        <a:t>: </a:t>
                      </a:r>
                      <a:r>
                        <a:rPr lang="ko-KR" altLang="en-US" sz="1400" kern="0" spc="-80" dirty="0">
                          <a:effectLst/>
                        </a:rPr>
                        <a:t>그 </a:t>
                      </a:r>
                      <a:r>
                        <a:rPr lang="ko-KR" altLang="en-US" sz="1400" kern="0" spc="-80" dirty="0" err="1">
                          <a:effectLst/>
                        </a:rPr>
                        <a:t>보정서의</a:t>
                      </a:r>
                      <a:r>
                        <a:rPr lang="ko-KR" altLang="en-US" sz="1400" kern="0" spc="-80" dirty="0">
                          <a:effectLst/>
                        </a:rPr>
                        <a:t> 사본</a:t>
                      </a:r>
                    </a:p>
                    <a:p>
                      <a:pPr marL="0" marR="0" indent="0" algn="l" fontAlgn="base" latinLnBrk="0">
                        <a:lnSpc>
                          <a:spcPct val="120000"/>
                        </a:lnSpc>
                        <a:spcBef>
                          <a:spcPts val="0"/>
                        </a:spcBef>
                        <a:spcAft>
                          <a:spcPts val="0"/>
                        </a:spcAft>
                        <a:tabLst>
                          <a:tab pos="373380" algn="r"/>
                          <a:tab pos="5478780" algn="r"/>
                          <a:tab pos="373380" algn="r"/>
                          <a:tab pos="5478780" algn="r"/>
                        </a:tabLst>
                      </a:pPr>
                      <a:endParaRPr lang="en-US" altLang="ko-KR" sz="1400" kern="0" spc="-80" dirty="0">
                        <a:effectLst/>
                      </a:endParaRPr>
                    </a:p>
                    <a:p>
                      <a:pPr marL="0" marR="0" indent="0" algn="l" fontAlgn="base" latinLnBrk="0">
                        <a:lnSpc>
                          <a:spcPct val="120000"/>
                        </a:lnSpc>
                        <a:spcBef>
                          <a:spcPts val="0"/>
                        </a:spcBef>
                        <a:spcAft>
                          <a:spcPts val="0"/>
                        </a:spcAft>
                        <a:tabLst>
                          <a:tab pos="373380" algn="r"/>
                          <a:tab pos="5478780" algn="r"/>
                          <a:tab pos="373380" algn="r"/>
                          <a:tab pos="5478780" algn="r"/>
                        </a:tabLst>
                      </a:pPr>
                      <a:r>
                        <a:rPr lang="ko-KR" altLang="en-US" sz="1400" kern="0" spc="-80" dirty="0">
                          <a:effectLst/>
                        </a:rPr>
                        <a:t>② 제</a:t>
                      </a:r>
                      <a:r>
                        <a:rPr lang="en-US" altLang="ko-KR" sz="1400" kern="0" spc="-80" dirty="0">
                          <a:effectLst/>
                        </a:rPr>
                        <a:t>1</a:t>
                      </a:r>
                      <a:r>
                        <a:rPr lang="ko-KR" altLang="en-US" sz="1400" kern="0" spc="-80" dirty="0">
                          <a:effectLst/>
                        </a:rPr>
                        <a:t>항에 따라 </a:t>
                      </a:r>
                      <a:r>
                        <a:rPr lang="ko-KR" altLang="en-US" sz="1400" kern="0" spc="-80" dirty="0" err="1">
                          <a:effectLst/>
                        </a:rPr>
                        <a:t>보정서의</a:t>
                      </a:r>
                      <a:r>
                        <a:rPr lang="ko-KR" altLang="en-US" sz="1400" kern="0" spc="-80" dirty="0">
                          <a:effectLst/>
                        </a:rPr>
                        <a:t> </a:t>
                      </a:r>
                      <a:r>
                        <a:rPr lang="ko-KR" altLang="en-US" sz="1400" kern="0" spc="-80" dirty="0" err="1">
                          <a:effectLst/>
                        </a:rPr>
                        <a:t>국어번역문</a:t>
                      </a:r>
                      <a:r>
                        <a:rPr lang="ko-KR" altLang="en-US" sz="1400" kern="0" spc="-80" dirty="0">
                          <a:effectLst/>
                        </a:rPr>
                        <a:t> 또는 사본이 제출되었을 때에는 그 </a:t>
                      </a:r>
                      <a:r>
                        <a:rPr lang="ko-KR" altLang="en-US" sz="1400" kern="0" spc="-80" dirty="0" err="1">
                          <a:effectLst/>
                        </a:rPr>
                        <a:t>보정서의</a:t>
                      </a:r>
                      <a:r>
                        <a:rPr lang="ko-KR" altLang="en-US" sz="1400" kern="0" spc="-80" dirty="0">
                          <a:effectLst/>
                        </a:rPr>
                        <a:t> </a:t>
                      </a:r>
                      <a:r>
                        <a:rPr lang="ko-KR" altLang="en-US" sz="1400" kern="0" spc="-80" dirty="0" err="1">
                          <a:effectLst/>
                        </a:rPr>
                        <a:t>국어번역문</a:t>
                      </a:r>
                      <a:r>
                        <a:rPr lang="ko-KR" altLang="en-US" sz="1400" kern="0" spc="-80" dirty="0">
                          <a:effectLst/>
                        </a:rPr>
                        <a:t> 또는 사본에 따라 제</a:t>
                      </a:r>
                      <a:r>
                        <a:rPr lang="en-US" altLang="ko-KR" sz="1400" kern="0" spc="-80" dirty="0">
                          <a:effectLst/>
                        </a:rPr>
                        <a:t>47</a:t>
                      </a:r>
                      <a:r>
                        <a:rPr lang="ko-KR" altLang="en-US" sz="1400" kern="0" spc="-80" dirty="0">
                          <a:effectLst/>
                        </a:rPr>
                        <a:t>조제</a:t>
                      </a:r>
                      <a:r>
                        <a:rPr lang="en-US" altLang="ko-KR" sz="1400" kern="0" spc="-80" dirty="0">
                          <a:effectLst/>
                        </a:rPr>
                        <a:t>1</a:t>
                      </a:r>
                      <a:r>
                        <a:rPr lang="ko-KR" altLang="en-US" sz="1400" kern="0" spc="-80" dirty="0">
                          <a:effectLst/>
                        </a:rPr>
                        <a:t>항에 따른 명세서 및 도면이 보정된 것으로 본다</a:t>
                      </a:r>
                      <a:r>
                        <a:rPr lang="en-US" altLang="ko-KR" sz="1400" kern="0" spc="-80" dirty="0">
                          <a:effectLst/>
                        </a:rPr>
                        <a:t>. </a:t>
                      </a:r>
                      <a:r>
                        <a:rPr lang="ko-KR" altLang="en-US" sz="1400" kern="0" spc="-80" dirty="0">
                          <a:effectLst/>
                        </a:rPr>
                        <a:t>다만</a:t>
                      </a:r>
                      <a:r>
                        <a:rPr lang="en-US" altLang="ko-KR" sz="1400" kern="0" spc="-80" dirty="0">
                          <a:effectLst/>
                        </a:rPr>
                        <a:t>, </a:t>
                      </a:r>
                      <a:r>
                        <a:rPr lang="ko-KR" altLang="en-US" sz="1400" kern="0" spc="-80" dirty="0">
                          <a:effectLst/>
                        </a:rPr>
                        <a:t>「특허협력조약」 제</a:t>
                      </a:r>
                      <a:r>
                        <a:rPr lang="en-US" altLang="ko-KR" sz="1400" kern="0" spc="-80" dirty="0">
                          <a:effectLst/>
                        </a:rPr>
                        <a:t>36</a:t>
                      </a:r>
                      <a:r>
                        <a:rPr lang="ko-KR" altLang="en-US" sz="1400" kern="0" spc="-80" dirty="0">
                          <a:effectLst/>
                        </a:rPr>
                        <a:t>조</a:t>
                      </a:r>
                      <a:r>
                        <a:rPr lang="en-US" altLang="ko-KR" sz="1400" kern="0" spc="-80" dirty="0">
                          <a:effectLst/>
                        </a:rPr>
                        <a:t>(3)(a)</a:t>
                      </a:r>
                      <a:r>
                        <a:rPr lang="ko-KR" altLang="en-US" sz="1400" kern="0" spc="-80" dirty="0">
                          <a:effectLst/>
                        </a:rPr>
                        <a:t>에 따라 기준일까지 그 </a:t>
                      </a:r>
                      <a:r>
                        <a:rPr lang="ko-KR" altLang="en-US" sz="1400" kern="0" spc="-80" dirty="0" err="1">
                          <a:effectLst/>
                        </a:rPr>
                        <a:t>보정서</a:t>
                      </a:r>
                      <a:r>
                        <a:rPr lang="en-US" altLang="ko-KR" sz="1400" kern="0" spc="-80" dirty="0">
                          <a:effectLst/>
                        </a:rPr>
                        <a:t>(</a:t>
                      </a:r>
                      <a:r>
                        <a:rPr lang="ko-KR" altLang="en-US" sz="1400" kern="0" spc="-80" dirty="0">
                          <a:effectLst/>
                        </a:rPr>
                        <a:t>국어로 작성된 </a:t>
                      </a:r>
                      <a:r>
                        <a:rPr lang="ko-KR" altLang="en-US" sz="1400" kern="0" spc="-80" dirty="0" err="1">
                          <a:effectLst/>
                        </a:rPr>
                        <a:t>보정서의</a:t>
                      </a:r>
                      <a:r>
                        <a:rPr lang="ko-KR" altLang="en-US" sz="1400" kern="0" spc="-80" dirty="0">
                          <a:effectLst/>
                        </a:rPr>
                        <a:t> 경우만 해당한다</a:t>
                      </a:r>
                      <a:r>
                        <a:rPr lang="en-US" altLang="ko-KR" sz="1400" kern="0" spc="-80" dirty="0">
                          <a:effectLst/>
                        </a:rPr>
                        <a:t>)</a:t>
                      </a:r>
                      <a:r>
                        <a:rPr lang="ko-KR" altLang="en-US" sz="1400" kern="0" spc="-80" dirty="0">
                          <a:effectLst/>
                        </a:rPr>
                        <a:t>가 지식재산처에 송달된 경우에는 그 보정서에 따라 보정된 것으로 본다</a:t>
                      </a:r>
                      <a:r>
                        <a:rPr lang="en-US" altLang="ko-KR" sz="1400" kern="0" spc="-80" dirty="0">
                          <a:effectLst/>
                        </a:rPr>
                        <a:t>.</a:t>
                      </a:r>
                    </a:p>
                    <a:p>
                      <a:pPr marL="0" marR="0" indent="0" algn="l" fontAlgn="base" latinLnBrk="0">
                        <a:lnSpc>
                          <a:spcPct val="120000"/>
                        </a:lnSpc>
                        <a:spcBef>
                          <a:spcPts val="0"/>
                        </a:spcBef>
                        <a:spcAft>
                          <a:spcPts val="0"/>
                        </a:spcAft>
                        <a:tabLst>
                          <a:tab pos="373380" algn="r"/>
                          <a:tab pos="5478780" algn="r"/>
                          <a:tab pos="373380" algn="r"/>
                          <a:tab pos="5478780" algn="r"/>
                        </a:tabLst>
                      </a:pPr>
                      <a:endParaRPr lang="en-US" altLang="ko-KR" sz="1400" kern="0" spc="-80" dirty="0">
                        <a:effectLst/>
                      </a:endParaRPr>
                    </a:p>
                    <a:p>
                      <a:pPr marL="0" marR="0" indent="0" algn="l" fontAlgn="base" latinLnBrk="0">
                        <a:lnSpc>
                          <a:spcPct val="120000"/>
                        </a:lnSpc>
                        <a:spcBef>
                          <a:spcPts val="0"/>
                        </a:spcBef>
                        <a:spcAft>
                          <a:spcPts val="0"/>
                        </a:spcAft>
                        <a:tabLst>
                          <a:tab pos="373380" algn="r"/>
                          <a:tab pos="5478780" algn="r"/>
                          <a:tab pos="373380" algn="r"/>
                          <a:tab pos="5478780" algn="r"/>
                        </a:tabLst>
                      </a:pPr>
                      <a:endParaRPr lang="en-US" altLang="ko-KR" sz="1400" kern="0" spc="-80" dirty="0">
                        <a:effectLst/>
                      </a:endParaRPr>
                    </a:p>
                    <a:p>
                      <a:pPr marL="0" marR="0" indent="0" algn="l" fontAlgn="base" latinLnBrk="0">
                        <a:lnSpc>
                          <a:spcPct val="120000"/>
                        </a:lnSpc>
                        <a:spcBef>
                          <a:spcPts val="0"/>
                        </a:spcBef>
                        <a:spcAft>
                          <a:spcPts val="0"/>
                        </a:spcAft>
                        <a:tabLst>
                          <a:tab pos="373380" algn="r"/>
                          <a:tab pos="5478780" algn="r"/>
                          <a:tab pos="373380" algn="r"/>
                          <a:tab pos="5478780" algn="r"/>
                        </a:tabLst>
                      </a:pPr>
                      <a:endParaRPr lang="en-US" altLang="ko-KR" sz="1400" kern="0" spc="-80" dirty="0">
                        <a:effectLst/>
                      </a:endParaRPr>
                    </a:p>
                    <a:p>
                      <a:pPr marL="0" marR="0" indent="0" algn="l" fontAlgn="base" latinLnBrk="0">
                        <a:lnSpc>
                          <a:spcPct val="120000"/>
                        </a:lnSpc>
                        <a:spcBef>
                          <a:spcPts val="0"/>
                        </a:spcBef>
                        <a:spcAft>
                          <a:spcPts val="0"/>
                        </a:spcAft>
                        <a:tabLst>
                          <a:tab pos="373380" algn="r"/>
                          <a:tab pos="5478780" algn="r"/>
                          <a:tab pos="373380" algn="r"/>
                          <a:tab pos="5478780" algn="r"/>
                        </a:tabLst>
                      </a:pPr>
                      <a:endParaRPr lang="en-US" altLang="ko-KR" sz="1400" kern="0" spc="-80" dirty="0">
                        <a:effectLst/>
                      </a:endParaRPr>
                    </a:p>
                    <a:p>
                      <a:pPr marL="0" marR="0" indent="0" algn="l" fontAlgn="base" latinLnBrk="0">
                        <a:lnSpc>
                          <a:spcPct val="120000"/>
                        </a:lnSpc>
                        <a:spcBef>
                          <a:spcPts val="0"/>
                        </a:spcBef>
                        <a:spcAft>
                          <a:spcPts val="0"/>
                        </a:spcAft>
                        <a:tabLst>
                          <a:tab pos="373380" algn="r"/>
                          <a:tab pos="5478780" algn="r"/>
                          <a:tab pos="373380" algn="r"/>
                          <a:tab pos="5478780" algn="r"/>
                        </a:tabLst>
                      </a:pPr>
                      <a:r>
                        <a:rPr lang="en-US" altLang="ko-KR" sz="1400" kern="0" spc="-80" dirty="0">
                          <a:effectLst/>
                        </a:rPr>
                        <a:t>③ </a:t>
                      </a:r>
                      <a:r>
                        <a:rPr lang="ko-KR" altLang="en-US" sz="1400" kern="0" spc="-80" dirty="0">
                          <a:effectLst/>
                        </a:rPr>
                        <a:t>국제특허출원의 </a:t>
                      </a:r>
                      <a:r>
                        <a:rPr lang="ko-KR" altLang="en-US" sz="1400" kern="0" spc="-80" dirty="0" err="1">
                          <a:effectLst/>
                        </a:rPr>
                        <a:t>출원인이</a:t>
                      </a:r>
                      <a:r>
                        <a:rPr lang="ko-KR" altLang="en-US" sz="1400" kern="0" spc="-80" dirty="0">
                          <a:effectLst/>
                        </a:rPr>
                        <a:t> 기준일까지 제</a:t>
                      </a:r>
                      <a:r>
                        <a:rPr lang="en-US" altLang="ko-KR" sz="1400" kern="0" spc="-80" dirty="0">
                          <a:effectLst/>
                        </a:rPr>
                        <a:t>1</a:t>
                      </a:r>
                      <a:r>
                        <a:rPr lang="ko-KR" altLang="en-US" sz="1400" kern="0" spc="-80" dirty="0">
                          <a:effectLst/>
                        </a:rPr>
                        <a:t>항에 따른 절차를 밟지 아니하면 「특허협력조약」 제</a:t>
                      </a:r>
                      <a:r>
                        <a:rPr lang="en-US" altLang="ko-KR" sz="1400" kern="0" spc="-80" dirty="0">
                          <a:effectLst/>
                        </a:rPr>
                        <a:t>34</a:t>
                      </a:r>
                      <a:r>
                        <a:rPr lang="ko-KR" altLang="en-US" sz="1400" kern="0" spc="-80" dirty="0">
                          <a:effectLst/>
                        </a:rPr>
                        <a:t>조</a:t>
                      </a:r>
                      <a:r>
                        <a:rPr lang="en-US" altLang="ko-KR" sz="1400" kern="0" spc="-80" dirty="0">
                          <a:effectLst/>
                        </a:rPr>
                        <a:t>(2)(b)</a:t>
                      </a:r>
                      <a:r>
                        <a:rPr lang="ko-KR" altLang="en-US" sz="1400" kern="0" spc="-80" dirty="0">
                          <a:effectLst/>
                        </a:rPr>
                        <a:t>에 따른 </a:t>
                      </a:r>
                      <a:r>
                        <a:rPr lang="ko-KR" altLang="en-US" sz="1400" kern="0" spc="-80" dirty="0" err="1">
                          <a:effectLst/>
                        </a:rPr>
                        <a:t>보정서는</a:t>
                      </a:r>
                      <a:r>
                        <a:rPr lang="ko-KR" altLang="en-US" sz="1400" kern="0" spc="-80" dirty="0">
                          <a:effectLst/>
                        </a:rPr>
                        <a:t> 제출되지 아니한 것으로 본다</a:t>
                      </a:r>
                      <a:r>
                        <a:rPr lang="en-US" altLang="ko-KR" sz="1400" kern="0" spc="-80" dirty="0">
                          <a:effectLst/>
                        </a:rPr>
                        <a:t>. </a:t>
                      </a:r>
                      <a:r>
                        <a:rPr lang="ko-KR" altLang="en-US" sz="1400" kern="0" spc="-80" dirty="0">
                          <a:effectLst/>
                        </a:rPr>
                        <a:t>다만</a:t>
                      </a:r>
                      <a:r>
                        <a:rPr lang="en-US" altLang="ko-KR" sz="1400" kern="0" spc="-80" dirty="0">
                          <a:effectLst/>
                        </a:rPr>
                        <a:t>, </a:t>
                      </a:r>
                      <a:r>
                        <a:rPr lang="ko-KR" altLang="en-US" sz="1400" kern="0" spc="-80" dirty="0">
                          <a:effectLst/>
                        </a:rPr>
                        <a:t>「특허협력조약」 제</a:t>
                      </a:r>
                      <a:r>
                        <a:rPr lang="en-US" altLang="ko-KR" sz="1400" kern="0" spc="-80" dirty="0">
                          <a:effectLst/>
                        </a:rPr>
                        <a:t>36</a:t>
                      </a:r>
                      <a:r>
                        <a:rPr lang="ko-KR" altLang="en-US" sz="1400" kern="0" spc="-80" dirty="0">
                          <a:effectLst/>
                        </a:rPr>
                        <a:t>조</a:t>
                      </a:r>
                      <a:r>
                        <a:rPr lang="en-US" altLang="ko-KR" sz="1400" kern="0" spc="-80" dirty="0">
                          <a:effectLst/>
                        </a:rPr>
                        <a:t>(3)(a)</a:t>
                      </a:r>
                      <a:r>
                        <a:rPr lang="ko-KR" altLang="en-US" sz="1400" kern="0" spc="-80" dirty="0">
                          <a:effectLst/>
                        </a:rPr>
                        <a:t>에 따라 기준일까지 그 </a:t>
                      </a:r>
                      <a:r>
                        <a:rPr lang="ko-KR" altLang="en-US" sz="1400" kern="0" spc="-80" dirty="0" err="1">
                          <a:effectLst/>
                        </a:rPr>
                        <a:t>보정서</a:t>
                      </a:r>
                      <a:r>
                        <a:rPr lang="en-US" altLang="ko-KR" sz="1400" kern="0" spc="-80" dirty="0">
                          <a:effectLst/>
                        </a:rPr>
                        <a:t>(</a:t>
                      </a:r>
                      <a:r>
                        <a:rPr lang="ko-KR" altLang="en-US" sz="1400" kern="0" spc="-80" dirty="0">
                          <a:effectLst/>
                        </a:rPr>
                        <a:t>국어로 작성된 </a:t>
                      </a:r>
                      <a:r>
                        <a:rPr lang="ko-KR" altLang="en-US" sz="1400" kern="0" spc="-80" dirty="0" err="1">
                          <a:effectLst/>
                        </a:rPr>
                        <a:t>보정서의</a:t>
                      </a:r>
                      <a:r>
                        <a:rPr lang="ko-KR" altLang="en-US" sz="1400" kern="0" spc="-80" dirty="0">
                          <a:effectLst/>
                        </a:rPr>
                        <a:t> 경우만 해당한다</a:t>
                      </a:r>
                      <a:r>
                        <a:rPr lang="en-US" altLang="ko-KR" sz="1400" kern="0" spc="-80" dirty="0">
                          <a:effectLst/>
                        </a:rPr>
                        <a:t>)</a:t>
                      </a:r>
                      <a:r>
                        <a:rPr lang="ko-KR" altLang="en-US" sz="1400" kern="0" spc="-80" dirty="0">
                          <a:effectLst/>
                        </a:rPr>
                        <a:t>가 지식재산처에 송달된 경우에는 그러하지 아니하다</a:t>
                      </a:r>
                      <a:r>
                        <a:rPr lang="en-US" altLang="ko-KR" sz="1400" kern="0" spc="-80" dirty="0">
                          <a:effectLst/>
                        </a:rPr>
                        <a:t>.</a:t>
                      </a:r>
                      <a:endParaRPr lang="ko-KR" altLang="en-US" sz="1400" kern="0" spc="-180" dirty="0">
                        <a:solidFill>
                          <a:schemeClr val="tx1"/>
                        </a:solidFill>
                        <a:effectLst/>
                        <a:latin typeface="+mn-ea"/>
                        <a:ea typeface="+mn-ea"/>
                      </a:endParaRPr>
                    </a:p>
                  </a:txBody>
                  <a:tcPr marL="72000" marR="72000" marT="8067" marB="8067"/>
                </a:tc>
                <a:extLst>
                  <a:ext uri="{0D108BD9-81ED-4DB2-BD59-A6C34878D82A}">
                    <a16:rowId xmlns:a16="http://schemas.microsoft.com/office/drawing/2014/main" val="1743411643"/>
                  </a:ext>
                </a:extLst>
              </a:tr>
            </a:tbl>
          </a:graphicData>
        </a:graphic>
      </p:graphicFrame>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572</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509958219"/>
      </p:ext>
    </p:extLst>
  </p:cSld>
  <p:clrMapOvr>
    <a:masterClrMapping/>
  </p:clrMapOvr>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208</a:t>
            </a:r>
            <a:r>
              <a:rPr lang="ko-KR" altLang="en-US" dirty="0"/>
              <a:t>조</a:t>
            </a:r>
          </a:p>
        </p:txBody>
      </p:sp>
      <p:sp>
        <p:nvSpPr>
          <p:cNvPr id="5" name="텍스트 개체 틀 4"/>
          <p:cNvSpPr>
            <a:spLocks noGrp="1"/>
          </p:cNvSpPr>
          <p:nvPr>
            <p:ph type="body" sz="quarter" idx="13"/>
          </p:nvPr>
        </p:nvSpPr>
        <p:spPr/>
        <p:txBody>
          <a:bodyPr/>
          <a:lstStyle/>
          <a:p>
            <a:r>
              <a:rPr lang="ko-KR" altLang="en-US" dirty="0"/>
              <a:t>보정의 특례 등</a:t>
            </a:r>
          </a:p>
        </p:txBody>
      </p:sp>
      <p:cxnSp>
        <p:nvCxnSpPr>
          <p:cNvPr id="6" name="직선 연결선 5"/>
          <p:cNvCxnSpPr/>
          <p:nvPr/>
        </p:nvCxnSpPr>
        <p:spPr>
          <a:xfrm>
            <a:off x="77875" y="365455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77875" y="976902"/>
            <a:ext cx="11936323" cy="2677656"/>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208</a:t>
            </a: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보정의 특례 등</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국제특허출원에 관하여는 다음 각 호의 요건을 모두 갖추지 아니하면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47</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항에도 불구하고 보정</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204</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및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205</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따른 보정은 제외한다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을 할 수 없다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82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따른 수수료를 낼 것</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201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따른 국어번역문을 제출할 것</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국어로 출원된 국제특허출원인 경우는 그러하지 아니하다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3.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기준일</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기준일이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출원심사의</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청구일인</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경우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출원심사를</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청구한 때를 말한다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 지날 것</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② 삭제  </a:t>
            </a:r>
            <a:endPar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외국어로 출원된 국제특허출원의 보정할 수 있는 범위에 관하여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47</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전단을 적용할 때에는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특허출원서에 최초로 첨부한 명세서 또는 도면</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은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국제출원일까지 제출한 발명의 설명</a:t>
            </a:r>
            <a:r>
              <a:rPr kumimoji="0" lang="en-US" altLang="ko-KR"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ED7D31">
                    <a:lumMod val="75000"/>
                  </a:srgbClr>
                </a:solidFill>
                <a:effectLst/>
                <a:uLnTx/>
                <a:uFillTx/>
                <a:latin typeface="Rix모던고딕 B"/>
                <a:ea typeface="Rix모던고딕 B"/>
                <a:cs typeface="+mn-cs"/>
              </a:rPr>
              <a:t>청구범위</a:t>
            </a:r>
            <a:r>
              <a:rPr kumimoji="0" lang="ko-KR" altLang="en-US"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 또는 도면</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으로 본다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④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외국어로 출원된 국제특허출원의 보정할 수 있는 범위에 관하여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47</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후단을 적용할 때에는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외국어특허출원</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은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외국어로 출원된 국제특허출원</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으로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최종 </a:t>
            </a:r>
            <a:r>
              <a:rPr kumimoji="0" lang="ko-KR" altLang="en-US" sz="1400" b="0" i="0" u="none" strike="noStrike" kern="1200" cap="none" spc="0" normalizeH="0" baseline="0" noProof="0" dirty="0" err="1">
                <a:ln>
                  <a:noFill/>
                </a:ln>
                <a:solidFill>
                  <a:srgbClr val="FF0000"/>
                </a:solidFill>
                <a:effectLst/>
                <a:uLnTx/>
                <a:uFillTx/>
                <a:latin typeface="Rix모던고딕 B"/>
                <a:ea typeface="Rix모던고딕 B"/>
                <a:cs typeface="+mn-cs"/>
              </a:rPr>
              <a:t>국어번역문</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42</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조의</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3</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6</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항 전단에 따른 정정이 있는 경우에는 정정된 국어번역문을 말한다</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또는 특허출원서에 최초로 첨부한 도면</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도면 중 </a:t>
            </a:r>
            <a:r>
              <a:rPr kumimoji="0" lang="ko-KR" altLang="en-US" sz="1400" b="0" i="0" u="none" strike="noStrike" kern="1200" cap="none" spc="0" normalizeH="0" baseline="0" noProof="0" dirty="0" err="1">
                <a:ln>
                  <a:noFill/>
                </a:ln>
                <a:solidFill>
                  <a:srgbClr val="FF0000"/>
                </a:solidFill>
                <a:effectLst/>
                <a:uLnTx/>
                <a:uFillTx/>
                <a:latin typeface="Rix모던고딕 B"/>
                <a:ea typeface="Rix모던고딕 B"/>
                <a:cs typeface="+mn-cs"/>
              </a:rPr>
              <a:t>설명부분은</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 제외한다</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은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201</a:t>
            </a:r>
            <a:r>
              <a:rPr kumimoji="0" lang="ko-KR" altLang="en-US"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5</a:t>
            </a:r>
            <a:r>
              <a:rPr kumimoji="0" lang="ko-KR" altLang="en-US"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항에 따른 최종 </a:t>
            </a:r>
            <a:r>
              <a:rPr kumimoji="0" lang="ko-KR" altLang="en-US" sz="1400" b="0" i="0" u="none" strike="noStrike" kern="1200" cap="none" spc="0" normalizeH="0" baseline="0" noProof="0" dirty="0" err="1">
                <a:ln>
                  <a:noFill/>
                </a:ln>
                <a:solidFill>
                  <a:srgbClr val="ED7D31">
                    <a:lumMod val="75000"/>
                  </a:srgbClr>
                </a:solidFill>
                <a:effectLst/>
                <a:uLnTx/>
                <a:uFillTx/>
                <a:latin typeface="Rix모던고딕 B"/>
                <a:ea typeface="Rix모던고딕 B"/>
                <a:cs typeface="+mn-cs"/>
              </a:rPr>
              <a:t>국어번역문</a:t>
            </a:r>
            <a:r>
              <a:rPr kumimoji="0" lang="en-US" altLang="ko-KR"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201</a:t>
            </a:r>
            <a:r>
              <a:rPr kumimoji="0" lang="ko-KR" altLang="en-US"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6</a:t>
            </a:r>
            <a:r>
              <a:rPr kumimoji="0" lang="ko-KR" altLang="en-US"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항 전단에 따른 정정이 있는 경우에는 정정된 국어번역문을 말한다</a:t>
            </a:r>
            <a:r>
              <a:rPr kumimoji="0" lang="en-US" altLang="ko-KR"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또는 국제출원일까지 제출한 도면</a:t>
            </a:r>
            <a:r>
              <a:rPr kumimoji="0" lang="en-US" altLang="ko-KR"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도면 중 </a:t>
            </a:r>
            <a:r>
              <a:rPr kumimoji="0" lang="ko-KR" altLang="en-US" sz="1400" b="0" i="0" u="none" strike="noStrike" kern="1200" cap="none" spc="0" normalizeH="0" baseline="0" noProof="0" dirty="0" err="1">
                <a:ln>
                  <a:noFill/>
                </a:ln>
                <a:solidFill>
                  <a:srgbClr val="ED7D31">
                    <a:lumMod val="75000"/>
                  </a:srgbClr>
                </a:solidFill>
                <a:effectLst/>
                <a:uLnTx/>
                <a:uFillTx/>
                <a:latin typeface="Rix모던고딕 B"/>
                <a:ea typeface="Rix모던고딕 B"/>
                <a:cs typeface="+mn-cs"/>
              </a:rPr>
              <a:t>설명부분은</a:t>
            </a:r>
            <a:r>
              <a:rPr kumimoji="0" lang="ko-KR" altLang="en-US"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 제외한다</a:t>
            </a:r>
            <a:r>
              <a:rPr kumimoji="0" lang="en-US" altLang="ko-KR" sz="1400" b="0" i="0" u="none" strike="noStrike" kern="1200" cap="none" spc="0" normalizeH="0" baseline="0" noProof="0" dirty="0">
                <a:ln>
                  <a:noFill/>
                </a:ln>
                <a:solidFill>
                  <a:srgbClr val="ED7D31">
                    <a:lumMod val="75000"/>
                  </a:srgbClr>
                </a:solidFill>
                <a:effectLst/>
                <a:uLnTx/>
                <a:uFillTx/>
                <a:latin typeface="Rix모던고딕 B"/>
                <a:ea typeface="Rix모던고딕 B"/>
                <a:cs typeface="+mn-cs"/>
              </a:rPr>
              <a:t>)</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으로 본다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p>
        </p:txBody>
      </p:sp>
      <p:sp>
        <p:nvSpPr>
          <p:cNvPr id="8" name="양쪽 모서리가 둥근 사각형 7"/>
          <p:cNvSpPr/>
          <p:nvPr/>
        </p:nvSpPr>
        <p:spPr>
          <a:xfrm>
            <a:off x="709710" y="4228940"/>
            <a:ext cx="4646032" cy="404667"/>
          </a:xfrm>
          <a:prstGeom prst="round2SameRect">
            <a:avLst>
              <a:gd name="adj1" fmla="val 50000"/>
              <a:gd name="adj2" fmla="val 0"/>
            </a:avLst>
          </a:prstGeom>
          <a:pattFill prst="lgGrid">
            <a:fgClr>
              <a:schemeClr val="accent4">
                <a:lumMod val="75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9" name="직선 연결선 8"/>
          <p:cNvCxnSpPr/>
          <p:nvPr/>
        </p:nvCxnSpPr>
        <p:spPr>
          <a:xfrm>
            <a:off x="243350" y="4633607"/>
            <a:ext cx="562405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Rectangle 14"/>
          <p:cNvSpPr>
            <a:spLocks noChangeArrowheads="1"/>
          </p:cNvSpPr>
          <p:nvPr/>
        </p:nvSpPr>
        <p:spPr bwMode="auto">
          <a:xfrm flipV="1">
            <a:off x="643034" y="4557076"/>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12" name="직사각형 11"/>
          <p:cNvSpPr/>
          <p:nvPr/>
        </p:nvSpPr>
        <p:spPr>
          <a:xfrm>
            <a:off x="252510" y="3768114"/>
            <a:ext cx="914400" cy="2794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우선일</a:t>
            </a:r>
          </a:p>
        </p:txBody>
      </p:sp>
      <p:cxnSp>
        <p:nvCxnSpPr>
          <p:cNvPr id="13" name="직선 화살표 연결선 12"/>
          <p:cNvCxnSpPr>
            <a:stCxn id="12" idx="2"/>
            <a:endCxn id="10" idx="4"/>
          </p:cNvCxnSpPr>
          <p:nvPr/>
        </p:nvCxnSpPr>
        <p:spPr>
          <a:xfrm>
            <a:off x="709710" y="4047514"/>
            <a:ext cx="4762" cy="50956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4" name="직사각형 13"/>
          <p:cNvSpPr/>
          <p:nvPr/>
        </p:nvSpPr>
        <p:spPr>
          <a:xfrm>
            <a:off x="1624110" y="4026068"/>
            <a:ext cx="2886992" cy="1517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개월</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국내서면제출기간의 만료일</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 name="직사각형 14"/>
          <p:cNvSpPr/>
          <p:nvPr/>
        </p:nvSpPr>
        <p:spPr>
          <a:xfrm>
            <a:off x="2816030" y="4468507"/>
            <a:ext cx="1153587" cy="34289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심사청구일</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6" name="직사각형 15"/>
          <p:cNvSpPr/>
          <p:nvPr/>
        </p:nvSpPr>
        <p:spPr>
          <a:xfrm>
            <a:off x="2816030" y="5663753"/>
            <a:ext cx="1153587" cy="3045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심사청구 </a:t>
            </a:r>
          </a:p>
        </p:txBody>
      </p:sp>
      <p:cxnSp>
        <p:nvCxnSpPr>
          <p:cNvPr id="18" name="직선 화살표 연결선 17"/>
          <p:cNvCxnSpPr>
            <a:stCxn id="16" idx="0"/>
            <a:endCxn id="15" idx="2"/>
          </p:cNvCxnSpPr>
          <p:nvPr/>
        </p:nvCxnSpPr>
        <p:spPr>
          <a:xfrm flipV="1">
            <a:off x="3392824" y="4811406"/>
            <a:ext cx="0" cy="85234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26" name="직선 연결선 25"/>
          <p:cNvCxnSpPr>
            <a:stCxn id="10" idx="0"/>
          </p:cNvCxnSpPr>
          <p:nvPr/>
        </p:nvCxnSpPr>
        <p:spPr>
          <a:xfrm flipH="1">
            <a:off x="709710" y="4710138"/>
            <a:ext cx="4762" cy="122076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직선 연결선 30"/>
          <p:cNvCxnSpPr/>
          <p:nvPr/>
        </p:nvCxnSpPr>
        <p:spPr>
          <a:xfrm>
            <a:off x="709710" y="5237579"/>
            <a:ext cx="2683114"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직선 연결선 31"/>
          <p:cNvCxnSpPr/>
          <p:nvPr/>
        </p:nvCxnSpPr>
        <p:spPr>
          <a:xfrm>
            <a:off x="3392824" y="5237579"/>
            <a:ext cx="1962918" cy="0"/>
          </a:xfrm>
          <a:prstGeom prst="line">
            <a:avLst/>
          </a:prstGeom>
          <a:ln w="28575">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Rectangle 14"/>
          <p:cNvSpPr>
            <a:spLocks noChangeArrowheads="1"/>
          </p:cNvSpPr>
          <p:nvPr/>
        </p:nvSpPr>
        <p:spPr bwMode="auto">
          <a:xfrm flipV="1">
            <a:off x="5284304" y="4557076"/>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cxnSp>
        <p:nvCxnSpPr>
          <p:cNvPr id="34" name="직선 연결선 33"/>
          <p:cNvCxnSpPr/>
          <p:nvPr/>
        </p:nvCxnSpPr>
        <p:spPr>
          <a:xfrm flipH="1">
            <a:off x="5355742" y="4710138"/>
            <a:ext cx="4762" cy="1220762"/>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직사각형 37"/>
          <p:cNvSpPr/>
          <p:nvPr/>
        </p:nvSpPr>
        <p:spPr>
          <a:xfrm>
            <a:off x="877719" y="4950748"/>
            <a:ext cx="2271776" cy="556050"/>
          </a:xfrm>
          <a:prstGeom prst="rect">
            <a:avLst/>
          </a:prstGeom>
        </p:spPr>
        <p:txBody>
          <a:bodyPr wrap="none">
            <a:spAutoFit/>
          </a:bodyPr>
          <a:lstStyle/>
          <a:p>
            <a:pPr marL="0" marR="0" lvl="0" indent="0" algn="ctr" defTabSz="914400" rtl="0" eaLnBrk="1" fontAlgn="base" latinLnBrk="0" hangingPunct="1">
              <a:lnSpc>
                <a:spcPct val="110000"/>
              </a:lnSpc>
              <a:spcBef>
                <a:spcPts val="0"/>
              </a:spcBef>
              <a:spcAft>
                <a:spcPts val="0"/>
              </a:spcAft>
              <a:buClrTx/>
              <a:buSzTx/>
              <a:buFontTx/>
              <a:buNone/>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defRPr/>
            </a:pPr>
            <a:r>
              <a:rPr kumimoji="0" lang="ko-KR" altLang="en-US" sz="1400" b="0" i="0" u="none" strike="noStrike" kern="0" cap="none" spc="0" normalizeH="0" baseline="0" noProof="0" dirty="0">
                <a:ln>
                  <a:noFill/>
                </a:ln>
                <a:solidFill>
                  <a:srgbClr val="000000"/>
                </a:solidFill>
                <a:effectLst/>
                <a:uLnTx/>
                <a:uFillTx/>
                <a:latin typeface="Rix모던고딕 B"/>
                <a:ea typeface="Rix모던고딕 B"/>
                <a:cs typeface="+mn-cs"/>
              </a:rPr>
              <a:t>국제단계에서의 보정에 대한 </a:t>
            </a:r>
            <a:endParaRPr kumimoji="0" lang="en-US" altLang="ko-KR" sz="1400" b="0" i="0" u="none" strike="noStrike" kern="0" cap="none" spc="0" normalizeH="0" baseline="0" noProof="0" dirty="0">
              <a:ln>
                <a:noFill/>
              </a:ln>
              <a:solidFill>
                <a:srgbClr val="000000"/>
              </a:solidFill>
              <a:effectLst/>
              <a:uLnTx/>
              <a:uFillTx/>
              <a:latin typeface="Rix모던고딕 B"/>
              <a:ea typeface="Rix모던고딕 B"/>
              <a:cs typeface="+mn-cs"/>
            </a:endParaRPr>
          </a:p>
          <a:p>
            <a:pPr marL="0" marR="0" lvl="0" indent="0" algn="ctr" defTabSz="914400" rtl="0" eaLnBrk="1" fontAlgn="base" latinLnBrk="0" hangingPunct="1">
              <a:lnSpc>
                <a:spcPct val="110000"/>
              </a:lnSpc>
              <a:spcBef>
                <a:spcPts val="0"/>
              </a:spcBef>
              <a:spcAft>
                <a:spcPts val="0"/>
              </a:spcAft>
              <a:buClrTx/>
              <a:buSzTx/>
              <a:buFontTx/>
              <a:buNone/>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defRPr/>
            </a:pPr>
            <a:r>
              <a:rPr kumimoji="0" lang="ko-KR" altLang="en-US" sz="1400" b="0" i="0" u="none" strike="noStrike" kern="0" cap="none" spc="0" normalizeH="0" baseline="0" noProof="0" dirty="0">
                <a:ln>
                  <a:noFill/>
                </a:ln>
                <a:solidFill>
                  <a:srgbClr val="000000"/>
                </a:solidFill>
                <a:effectLst/>
                <a:uLnTx/>
                <a:uFillTx/>
                <a:latin typeface="Rix모던고딕 B"/>
                <a:ea typeface="Rix모던고딕 B"/>
                <a:cs typeface="+mn-cs"/>
              </a:rPr>
              <a:t>번역문 또는 사본의 제출</a:t>
            </a:r>
          </a:p>
        </p:txBody>
      </p:sp>
      <p:sp>
        <p:nvSpPr>
          <p:cNvPr id="39" name="직사각형 38"/>
          <p:cNvSpPr/>
          <p:nvPr/>
        </p:nvSpPr>
        <p:spPr>
          <a:xfrm>
            <a:off x="3508390" y="5229872"/>
            <a:ext cx="1689885" cy="329321"/>
          </a:xfrm>
          <a:prstGeom prst="rect">
            <a:avLst/>
          </a:prstGeom>
        </p:spPr>
        <p:txBody>
          <a:bodyPr wrap="none">
            <a:spAutoFit/>
          </a:bodyPr>
          <a:lstStyle/>
          <a:p>
            <a:pPr marL="0" marR="0" lvl="0" indent="0" algn="ctr" defTabSz="914400" rtl="0" eaLnBrk="1" fontAlgn="base" latinLnBrk="0" hangingPunct="1">
              <a:lnSpc>
                <a:spcPct val="110000"/>
              </a:lnSpc>
              <a:spcBef>
                <a:spcPts val="0"/>
              </a:spcBef>
              <a:spcAft>
                <a:spcPts val="0"/>
              </a:spcAft>
              <a:buClrTx/>
              <a:buSzTx/>
              <a:buFontTx/>
              <a:buNone/>
              <a:tabLst>
                <a:tab pos="227330" algn="l"/>
                <a:tab pos="434340" algn="l"/>
                <a:tab pos="563880" algn="l"/>
                <a:tab pos="722630" algn="l"/>
                <a:tab pos="1524000" algn="l"/>
                <a:tab pos="2032000" algn="l"/>
                <a:tab pos="2540000" algn="l"/>
                <a:tab pos="3048000" algn="l"/>
                <a:tab pos="3556000" algn="l"/>
                <a:tab pos="4064000" algn="l"/>
                <a:tab pos="4572000" algn="l"/>
                <a:tab pos="5080000" algn="l"/>
                <a:tab pos="5588000" algn="l"/>
                <a:tab pos="6096000" algn="l"/>
                <a:tab pos="6604000" algn="l"/>
                <a:tab pos="7112000" algn="l"/>
                <a:tab pos="7620000" algn="l"/>
                <a:tab pos="8128000" algn="l"/>
                <a:tab pos="8636000" algn="l"/>
                <a:tab pos="9144000" algn="l"/>
                <a:tab pos="9652000" algn="l"/>
                <a:tab pos="10160000" algn="l"/>
                <a:tab pos="10668000" algn="l"/>
                <a:tab pos="11176000" algn="l"/>
                <a:tab pos="11684000" algn="l"/>
                <a:tab pos="12192000" algn="l"/>
                <a:tab pos="12700000" algn="l"/>
                <a:tab pos="13208000" algn="l"/>
                <a:tab pos="13716000" algn="l"/>
                <a:tab pos="14224000" algn="l"/>
                <a:tab pos="14732000" algn="l"/>
                <a:tab pos="15240000" algn="l"/>
              </a:tabLst>
              <a:defRPr/>
            </a:pPr>
            <a:r>
              <a:rPr kumimoji="0" lang="ko-KR" altLang="en-US" sz="1400" b="0" i="0" u="none" strike="noStrike" kern="0" cap="none" spc="0" normalizeH="0" baseline="0" noProof="0" dirty="0">
                <a:ln>
                  <a:noFill/>
                </a:ln>
                <a:solidFill>
                  <a:srgbClr val="000000"/>
                </a:solidFill>
                <a:effectLst/>
                <a:uLnTx/>
                <a:uFillTx/>
                <a:latin typeface="Rix모던고딕 B"/>
                <a:ea typeface="Rix모던고딕 B"/>
                <a:cs typeface="+mn-cs"/>
              </a:rPr>
              <a:t>국내단계에서의 보정</a:t>
            </a:r>
          </a:p>
        </p:txBody>
      </p:sp>
      <p:sp>
        <p:nvSpPr>
          <p:cNvPr id="41" name="모서리가 둥근 직사각형 40"/>
          <p:cNvSpPr/>
          <p:nvPr/>
        </p:nvSpPr>
        <p:spPr>
          <a:xfrm>
            <a:off x="1508628" y="6267724"/>
            <a:ext cx="3281734" cy="347986"/>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국내법 </a:t>
            </a:r>
            <a:r>
              <a:rPr kumimoji="0" lang="ko-KR" altLang="en-US" sz="1800" b="0" i="0" u="none" strike="noStrike" kern="1200" cap="none" spc="0" normalizeH="0" baseline="0" noProof="0" dirty="0" err="1">
                <a:ln>
                  <a:noFill/>
                </a:ln>
                <a:solidFill>
                  <a:prstClr val="white"/>
                </a:solidFill>
                <a:effectLst/>
                <a:uLnTx/>
                <a:uFillTx/>
                <a:latin typeface="Frutiger LT 65 Bold"/>
                <a:ea typeface="Rix모던고딕 B"/>
                <a:cs typeface="+mn-cs"/>
              </a:rPr>
              <a:t>적용받는</a:t>
            </a:r>
            <a:r>
              <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rPr>
              <a:t> 보정으로 간주</a:t>
            </a:r>
          </a:p>
        </p:txBody>
      </p:sp>
      <p:cxnSp>
        <p:nvCxnSpPr>
          <p:cNvPr id="44" name="꺾인 연결선 43"/>
          <p:cNvCxnSpPr>
            <a:stCxn id="41" idx="0"/>
            <a:endCxn id="38" idx="2"/>
          </p:cNvCxnSpPr>
          <p:nvPr/>
        </p:nvCxnSpPr>
        <p:spPr>
          <a:xfrm rot="16200000" flipV="1">
            <a:off x="2201088" y="5319317"/>
            <a:ext cx="760926" cy="1135888"/>
          </a:xfrm>
          <a:prstGeom prst="bentConnector3">
            <a:avLst>
              <a:gd name="adj1" fmla="val 24965"/>
            </a:avLst>
          </a:prstGeom>
          <a:ln w="12700">
            <a:solidFill>
              <a:schemeClr val="bg1">
                <a:lumMod val="5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꺾인 연결선 47"/>
          <p:cNvCxnSpPr>
            <a:stCxn id="39" idx="2"/>
            <a:endCxn id="41" idx="0"/>
          </p:cNvCxnSpPr>
          <p:nvPr/>
        </p:nvCxnSpPr>
        <p:spPr>
          <a:xfrm rot="5400000">
            <a:off x="3397149" y="5311539"/>
            <a:ext cx="708531" cy="1203838"/>
          </a:xfrm>
          <a:prstGeom prst="bentConnector3">
            <a:avLst>
              <a:gd name="adj1" fmla="val 73302"/>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0" name="직선 연결선 49"/>
          <p:cNvCxnSpPr/>
          <p:nvPr/>
        </p:nvCxnSpPr>
        <p:spPr>
          <a:xfrm flipV="1">
            <a:off x="6092883" y="3975268"/>
            <a:ext cx="0" cy="271055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1" name="직선 연결선 60"/>
          <p:cNvCxnSpPr/>
          <p:nvPr/>
        </p:nvCxnSpPr>
        <p:spPr>
          <a:xfrm>
            <a:off x="6314881" y="5217807"/>
            <a:ext cx="562405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Rectangle 14"/>
          <p:cNvSpPr>
            <a:spLocks noChangeArrowheads="1"/>
          </p:cNvSpPr>
          <p:nvPr/>
        </p:nvSpPr>
        <p:spPr bwMode="auto">
          <a:xfrm flipV="1">
            <a:off x="6714565" y="5141276"/>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63" name="직사각형 62"/>
          <p:cNvSpPr/>
          <p:nvPr/>
        </p:nvSpPr>
        <p:spPr>
          <a:xfrm>
            <a:off x="6324041" y="4695214"/>
            <a:ext cx="914400" cy="2794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국제출원</a:t>
            </a:r>
          </a:p>
        </p:txBody>
      </p:sp>
      <p:cxnSp>
        <p:nvCxnSpPr>
          <p:cNvPr id="64" name="직선 화살표 연결선 63"/>
          <p:cNvCxnSpPr>
            <a:stCxn id="63" idx="2"/>
            <a:endCxn id="62" idx="4"/>
          </p:cNvCxnSpPr>
          <p:nvPr/>
        </p:nvCxnSpPr>
        <p:spPr>
          <a:xfrm>
            <a:off x="6781241" y="4974614"/>
            <a:ext cx="4762" cy="16666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1" name="직사각형 70"/>
          <p:cNvSpPr/>
          <p:nvPr/>
        </p:nvSpPr>
        <p:spPr>
          <a:xfrm>
            <a:off x="6939301" y="5894104"/>
            <a:ext cx="1989647" cy="584775"/>
          </a:xfrm>
          <a:prstGeom prst="rect">
            <a:avLst/>
          </a:prstGeom>
          <a:ln>
            <a:solidFill>
              <a:schemeClr val="bg1">
                <a:lumMod val="50000"/>
              </a:schemeClr>
            </a:solidFill>
          </a:ln>
        </p:spPr>
        <p:txBody>
          <a:bodyPr wrap="none">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47</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항에 따른 </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base" latinLnBrk="0"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보정한 것으로 간주</a:t>
            </a:r>
          </a:p>
        </p:txBody>
      </p:sp>
      <p:sp>
        <p:nvSpPr>
          <p:cNvPr id="74" name="직사각형 73"/>
          <p:cNvSpPr/>
          <p:nvPr/>
        </p:nvSpPr>
        <p:spPr>
          <a:xfrm>
            <a:off x="6324041" y="4338641"/>
            <a:ext cx="914400" cy="2794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B, C</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5" name="직사각형 74"/>
          <p:cNvSpPr/>
          <p:nvPr/>
        </p:nvSpPr>
        <p:spPr>
          <a:xfrm>
            <a:off x="6324041" y="4059240"/>
            <a:ext cx="914400" cy="2794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C</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6" name="Rectangle 14"/>
          <p:cNvSpPr>
            <a:spLocks noChangeArrowheads="1"/>
          </p:cNvSpPr>
          <p:nvPr/>
        </p:nvSpPr>
        <p:spPr bwMode="auto">
          <a:xfrm flipV="1">
            <a:off x="7850059" y="5141276"/>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77" name="직사각형 76"/>
          <p:cNvSpPr/>
          <p:nvPr/>
        </p:nvSpPr>
        <p:spPr>
          <a:xfrm>
            <a:off x="7459535" y="4695214"/>
            <a:ext cx="914400" cy="2794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기준일</a:t>
            </a:r>
          </a:p>
        </p:txBody>
      </p:sp>
      <p:cxnSp>
        <p:nvCxnSpPr>
          <p:cNvPr id="78" name="직선 화살표 연결선 77"/>
          <p:cNvCxnSpPr>
            <a:stCxn id="77" idx="2"/>
            <a:endCxn id="76" idx="4"/>
          </p:cNvCxnSpPr>
          <p:nvPr/>
        </p:nvCxnSpPr>
        <p:spPr>
          <a:xfrm>
            <a:off x="7916735" y="4974614"/>
            <a:ext cx="4762" cy="16666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9" name="직사각형 78"/>
          <p:cNvSpPr/>
          <p:nvPr/>
        </p:nvSpPr>
        <p:spPr>
          <a:xfrm>
            <a:off x="7459535" y="4338641"/>
            <a:ext cx="914400" cy="2794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0" name="직사각형 79"/>
          <p:cNvSpPr/>
          <p:nvPr/>
        </p:nvSpPr>
        <p:spPr>
          <a:xfrm>
            <a:off x="7459535" y="4059240"/>
            <a:ext cx="914400" cy="2794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1" name="Rectangle 14"/>
          <p:cNvSpPr>
            <a:spLocks noChangeArrowheads="1"/>
          </p:cNvSpPr>
          <p:nvPr/>
        </p:nvSpPr>
        <p:spPr bwMode="auto">
          <a:xfrm flipV="1">
            <a:off x="9419262" y="5141276"/>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82" name="직사각형 81"/>
          <p:cNvSpPr/>
          <p:nvPr/>
        </p:nvSpPr>
        <p:spPr>
          <a:xfrm>
            <a:off x="9028738" y="4695214"/>
            <a:ext cx="914400" cy="27940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보정</a:t>
            </a:r>
          </a:p>
        </p:txBody>
      </p:sp>
      <p:cxnSp>
        <p:nvCxnSpPr>
          <p:cNvPr id="83" name="직선 화살표 연결선 82"/>
          <p:cNvCxnSpPr>
            <a:stCxn id="82" idx="2"/>
            <a:endCxn id="81" idx="4"/>
          </p:cNvCxnSpPr>
          <p:nvPr/>
        </p:nvCxnSpPr>
        <p:spPr>
          <a:xfrm>
            <a:off x="9485938" y="4974614"/>
            <a:ext cx="4762" cy="16666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4" name="직사각형 83"/>
          <p:cNvSpPr/>
          <p:nvPr/>
        </p:nvSpPr>
        <p:spPr>
          <a:xfrm>
            <a:off x="9028738" y="4338641"/>
            <a:ext cx="914400" cy="2794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C</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5" name="직사각형 84"/>
          <p:cNvSpPr/>
          <p:nvPr/>
        </p:nvSpPr>
        <p:spPr>
          <a:xfrm>
            <a:off x="9028738" y="4059240"/>
            <a:ext cx="914400" cy="27940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C</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7" name="직사각형 86"/>
          <p:cNvSpPr/>
          <p:nvPr/>
        </p:nvSpPr>
        <p:spPr>
          <a:xfrm>
            <a:off x="9029162" y="5612480"/>
            <a:ext cx="2079257" cy="1077218"/>
          </a:xfrm>
          <a:prstGeom prst="rect">
            <a:avLst/>
          </a:prstGeom>
          <a:ln>
            <a:solidFill>
              <a:schemeClr val="bg1">
                <a:lumMod val="50000"/>
              </a:schemeClr>
            </a:solidFill>
          </a:ln>
        </p:spPr>
        <p:txBody>
          <a:bodyPr wrap="square">
            <a:spAutoFit/>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국어번역문의 범위를 벗어났기 때문에 신규사항추가</a:t>
            </a:r>
            <a:endPar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base" latinLnBrk="0" hangingPunct="1">
              <a:lnSpc>
                <a:spcPct val="100000"/>
              </a:lnSpc>
              <a:spcBef>
                <a:spcPts val="0"/>
              </a:spcBef>
              <a:spcAft>
                <a:spcPts val="0"/>
              </a:spcAft>
              <a:buClrTx/>
              <a:buSzTx/>
              <a:buFontTx/>
              <a:buNone/>
              <a:tabLst/>
              <a:defRPr/>
            </a:pP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47</a:t>
            </a:r>
            <a:r>
              <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600" b="0" i="0" u="none" strike="noStrike" kern="1200" cap="none" spc="0" normalizeH="0" baseline="0" noProof="0" dirty="0" err="1">
                <a:ln>
                  <a:noFill/>
                </a:ln>
                <a:solidFill>
                  <a:prstClr val="black"/>
                </a:solidFill>
                <a:effectLst/>
                <a:uLnTx/>
                <a:uFillTx/>
                <a:latin typeface="Frutiger LT 65 Bold"/>
                <a:ea typeface="Rix모던고딕 B"/>
                <a:cs typeface="+mn-cs"/>
              </a:rPr>
              <a:t>항후단</a:t>
            </a:r>
            <a:r>
              <a:rPr kumimoji="0" lang="en-US" altLang="ko-KR" sz="16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6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1" name="직선 연결선 90"/>
          <p:cNvCxnSpPr>
            <a:cxnSpLocks/>
            <a:stCxn id="76" idx="0"/>
            <a:endCxn id="71" idx="0"/>
          </p:cNvCxnSpPr>
          <p:nvPr/>
        </p:nvCxnSpPr>
        <p:spPr>
          <a:xfrm>
            <a:off x="7921497" y="5294338"/>
            <a:ext cx="12628" cy="59976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573</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17" name="직사각형 16">
            <a:extLst>
              <a:ext uri="{FF2B5EF4-FFF2-40B4-BE49-F238E27FC236}">
                <a16:creationId xmlns:a16="http://schemas.microsoft.com/office/drawing/2014/main" id="{49290804-E0B8-7731-A770-05FACAA54766}"/>
              </a:ext>
            </a:extLst>
          </p:cNvPr>
          <p:cNvSpPr/>
          <p:nvPr/>
        </p:nvSpPr>
        <p:spPr>
          <a:xfrm>
            <a:off x="10384795" y="5045044"/>
            <a:ext cx="1153587" cy="342899"/>
          </a:xfrm>
          <a:prstGeom prst="rect">
            <a:avLst/>
          </a:prstGeom>
          <a:solidFill>
            <a:schemeClr val="tx2">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최초</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OA</a:t>
            </a:r>
            <a:endPar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20" name="연결선: 꺾임 19">
            <a:extLst>
              <a:ext uri="{FF2B5EF4-FFF2-40B4-BE49-F238E27FC236}">
                <a16:creationId xmlns:a16="http://schemas.microsoft.com/office/drawing/2014/main" id="{847B19A1-D690-05CC-F841-E088B9462AC3}"/>
              </a:ext>
            </a:extLst>
          </p:cNvPr>
          <p:cNvCxnSpPr>
            <a:stCxn id="81" idx="7"/>
            <a:endCxn id="87" idx="0"/>
          </p:cNvCxnSpPr>
          <p:nvPr/>
        </p:nvCxnSpPr>
        <p:spPr>
          <a:xfrm rot="16200000" flipH="1">
            <a:off x="9634724" y="5178412"/>
            <a:ext cx="340557" cy="527577"/>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2829451"/>
      </p:ext>
    </p:extLst>
  </p:cSld>
  <p:clrMapOvr>
    <a:masterClrMapping/>
  </p:clrMapOvr>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201</a:t>
            </a:r>
            <a:r>
              <a:rPr lang="ko-KR" altLang="en-US" dirty="0"/>
              <a:t>조</a:t>
            </a:r>
          </a:p>
        </p:txBody>
      </p:sp>
      <p:sp>
        <p:nvSpPr>
          <p:cNvPr id="5" name="텍스트 개체 틀 4"/>
          <p:cNvSpPr>
            <a:spLocks noGrp="1"/>
          </p:cNvSpPr>
          <p:nvPr>
            <p:ph type="body" sz="quarter" idx="13"/>
          </p:nvPr>
        </p:nvSpPr>
        <p:spPr/>
        <p:txBody>
          <a:bodyPr/>
          <a:lstStyle/>
          <a:p>
            <a:r>
              <a:rPr lang="ko-KR" altLang="en-US" dirty="0"/>
              <a:t>제</a:t>
            </a:r>
            <a:r>
              <a:rPr lang="en-US" altLang="ko-KR" dirty="0"/>
              <a:t>42</a:t>
            </a:r>
            <a:r>
              <a:rPr lang="ko-KR" altLang="en-US" dirty="0"/>
              <a:t>조의</a:t>
            </a:r>
            <a:r>
              <a:rPr lang="en-US" altLang="ko-KR" dirty="0"/>
              <a:t>3 vs </a:t>
            </a:r>
            <a:r>
              <a:rPr lang="ko-KR" altLang="en-US" dirty="0"/>
              <a:t>제</a:t>
            </a:r>
            <a:r>
              <a:rPr lang="en-US" altLang="ko-KR" dirty="0"/>
              <a:t>201</a:t>
            </a:r>
            <a:r>
              <a:rPr lang="ko-KR" altLang="en-US" dirty="0"/>
              <a:t>조</a:t>
            </a:r>
          </a:p>
        </p:txBody>
      </p:sp>
      <p:graphicFrame>
        <p:nvGraphicFramePr>
          <p:cNvPr id="2" name="표 1"/>
          <p:cNvGraphicFramePr>
            <a:graphicFrameLocks noGrp="1"/>
          </p:cNvGraphicFramePr>
          <p:nvPr/>
        </p:nvGraphicFramePr>
        <p:xfrm>
          <a:off x="279400" y="980550"/>
          <a:ext cx="11696700" cy="5819015"/>
        </p:xfrm>
        <a:graphic>
          <a:graphicData uri="http://schemas.openxmlformats.org/drawingml/2006/table">
            <a:tbl>
              <a:tblPr>
                <a:tableStyleId>{8799B23B-EC83-4686-B30A-512413B5E67A}</a:tableStyleId>
              </a:tblPr>
              <a:tblGrid>
                <a:gridCol w="444500">
                  <a:extLst>
                    <a:ext uri="{9D8B030D-6E8A-4147-A177-3AD203B41FA5}">
                      <a16:colId xmlns:a16="http://schemas.microsoft.com/office/drawing/2014/main" val="2842912106"/>
                    </a:ext>
                  </a:extLst>
                </a:gridCol>
                <a:gridCol w="5539591">
                  <a:extLst>
                    <a:ext uri="{9D8B030D-6E8A-4147-A177-3AD203B41FA5}">
                      <a16:colId xmlns:a16="http://schemas.microsoft.com/office/drawing/2014/main" val="2904194224"/>
                    </a:ext>
                  </a:extLst>
                </a:gridCol>
                <a:gridCol w="5712609">
                  <a:extLst>
                    <a:ext uri="{9D8B030D-6E8A-4147-A177-3AD203B41FA5}">
                      <a16:colId xmlns:a16="http://schemas.microsoft.com/office/drawing/2014/main" val="3266953995"/>
                    </a:ext>
                  </a:extLst>
                </a:gridCol>
              </a:tblGrid>
              <a:tr h="272694">
                <a:tc>
                  <a:txBody>
                    <a:bodyPr/>
                    <a:lstStyle/>
                    <a:p>
                      <a:pPr marL="0" marR="0" indent="0" algn="ctr" fontAlgn="base" latinLnBrk="0">
                        <a:lnSpc>
                          <a:spcPct val="120000"/>
                        </a:lnSpc>
                        <a:spcBef>
                          <a:spcPts val="0"/>
                        </a:spcBef>
                        <a:spcAft>
                          <a:spcPts val="0"/>
                        </a:spcAft>
                      </a:pPr>
                      <a:r>
                        <a:rPr lang="ko-KR" altLang="en-US" sz="1400" kern="0" spc="-100" dirty="0">
                          <a:effectLst/>
                        </a:rPr>
                        <a:t>구분</a:t>
                      </a:r>
                      <a:endParaRPr lang="ko-KR" altLang="en-US" sz="1400" kern="0" spc="-100" dirty="0">
                        <a:solidFill>
                          <a:srgbClr val="000000"/>
                        </a:solidFill>
                        <a:effectLst/>
                        <a:latin typeface="+mn-ea"/>
                        <a:ea typeface="+mn-ea"/>
                      </a:endParaRPr>
                    </a:p>
                  </a:txBody>
                  <a:tcPr marL="36405" marR="36405" marT="10065" marB="10065"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0" spc="-100" dirty="0">
                          <a:effectLst/>
                        </a:rPr>
                        <a:t>외국어특허출원</a:t>
                      </a:r>
                      <a:r>
                        <a:rPr lang="en-US" altLang="ko-KR" sz="1400" kern="0" spc="-100" dirty="0">
                          <a:effectLst/>
                        </a:rPr>
                        <a:t>(</a:t>
                      </a:r>
                      <a:r>
                        <a:rPr lang="ko-KR" altLang="en-US" sz="1400" kern="0" spc="-100" dirty="0">
                          <a:effectLst/>
                        </a:rPr>
                        <a:t>法 </a:t>
                      </a:r>
                      <a:r>
                        <a:rPr lang="en-US" altLang="ko-KR" sz="1400" kern="0" spc="-100" dirty="0">
                          <a:effectLst/>
                        </a:rPr>
                        <a:t>42</a:t>
                      </a:r>
                      <a:r>
                        <a:rPr lang="ko-KR" altLang="en-US" sz="1400" kern="0" spc="-100" dirty="0">
                          <a:effectLst/>
                        </a:rPr>
                        <a:t>의</a:t>
                      </a:r>
                      <a:r>
                        <a:rPr lang="en-US" altLang="ko-KR" sz="1400" kern="0" spc="-100" dirty="0">
                          <a:effectLst/>
                        </a:rPr>
                        <a:t>3)</a:t>
                      </a:r>
                      <a:endParaRPr lang="ko-KR" altLang="en-US" sz="1400" kern="0" spc="-100" dirty="0">
                        <a:solidFill>
                          <a:srgbClr val="000000"/>
                        </a:solidFill>
                        <a:effectLst/>
                        <a:latin typeface="+mn-ea"/>
                        <a:ea typeface="+mn-ea"/>
                      </a:endParaRPr>
                    </a:p>
                  </a:txBody>
                  <a:tcPr marL="36405" marR="36405" marT="10065" marB="10065"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0" spc="-100" dirty="0">
                          <a:effectLst/>
                        </a:rPr>
                        <a:t>외국어국제특허출원</a:t>
                      </a:r>
                      <a:r>
                        <a:rPr lang="en-US" altLang="ko-KR" sz="1400" kern="0" spc="-100" dirty="0">
                          <a:effectLst/>
                        </a:rPr>
                        <a:t>(</a:t>
                      </a:r>
                      <a:r>
                        <a:rPr lang="ko-KR" altLang="en-US" sz="1400" kern="0" spc="-100" dirty="0">
                          <a:effectLst/>
                        </a:rPr>
                        <a:t>法 </a:t>
                      </a:r>
                      <a:r>
                        <a:rPr lang="en-US" altLang="ko-KR" sz="1400" kern="0" spc="-100" dirty="0">
                          <a:effectLst/>
                        </a:rPr>
                        <a:t>201)</a:t>
                      </a:r>
                      <a:endParaRPr lang="ko-KR" altLang="en-US" sz="1400" kern="0" spc="-100" dirty="0">
                        <a:solidFill>
                          <a:srgbClr val="000000"/>
                        </a:solidFill>
                        <a:effectLst/>
                        <a:latin typeface="+mn-ea"/>
                        <a:ea typeface="+mn-ea"/>
                      </a:endParaRPr>
                    </a:p>
                  </a:txBody>
                  <a:tcPr marL="36405" marR="36405" marT="10065" marB="10065" anchor="ctr">
                    <a:solidFill>
                      <a:schemeClr val="accent1">
                        <a:lumMod val="20000"/>
                        <a:lumOff val="80000"/>
                      </a:schemeClr>
                    </a:solidFill>
                  </a:tcPr>
                </a:tc>
                <a:extLst>
                  <a:ext uri="{0D108BD9-81ED-4DB2-BD59-A6C34878D82A}">
                    <a16:rowId xmlns:a16="http://schemas.microsoft.com/office/drawing/2014/main" val="844225404"/>
                  </a:ext>
                </a:extLst>
              </a:tr>
              <a:tr h="3539409">
                <a:tc>
                  <a:txBody>
                    <a:bodyPr/>
                    <a:lstStyle/>
                    <a:p>
                      <a:pPr marL="0" marR="0" indent="0" algn="ctr" fontAlgn="base" latinLnBrk="0">
                        <a:lnSpc>
                          <a:spcPct val="120000"/>
                        </a:lnSpc>
                        <a:spcBef>
                          <a:spcPts val="0"/>
                        </a:spcBef>
                        <a:spcAft>
                          <a:spcPts val="0"/>
                        </a:spcAft>
                      </a:pPr>
                      <a:r>
                        <a:rPr lang="ko-KR" altLang="en-US" sz="1400" kern="0" spc="-100" dirty="0">
                          <a:effectLst/>
                        </a:rPr>
                        <a:t>제출</a:t>
                      </a:r>
                      <a:endParaRPr lang="ko-KR" altLang="en-US" sz="1400" kern="0" spc="-100" dirty="0">
                        <a:solidFill>
                          <a:srgbClr val="000000"/>
                        </a:solidFill>
                        <a:effectLst/>
                        <a:latin typeface="+mn-ea"/>
                        <a:ea typeface="+mn-ea"/>
                      </a:endParaRPr>
                    </a:p>
                  </a:txBody>
                  <a:tcPr marL="36405" marR="36405" marT="10065" marB="10065"/>
                </a:tc>
                <a:tc>
                  <a:txBody>
                    <a:bodyPr/>
                    <a:lstStyle/>
                    <a:p>
                      <a:pPr marL="91440" marR="31750" indent="-91440" algn="l" fontAlgn="base" latinLnBrk="1">
                        <a:lnSpc>
                          <a:spcPct val="130000"/>
                        </a:lnSpc>
                        <a:spcBef>
                          <a:spcPts val="0"/>
                        </a:spcBef>
                        <a:spcAft>
                          <a:spcPts val="0"/>
                        </a:spcAft>
                      </a:pPr>
                      <a:r>
                        <a:rPr lang="en-US" altLang="ko-KR" sz="1400" kern="0" spc="-60" dirty="0">
                          <a:effectLst/>
                        </a:rPr>
                        <a:t>- </a:t>
                      </a:r>
                      <a:r>
                        <a:rPr lang="ko-KR" altLang="en-US" sz="1400" kern="0" spc="-100" dirty="0">
                          <a:effectLst/>
                        </a:rPr>
                        <a:t>특허출원인이 명세서 및 도면</a:t>
                      </a:r>
                      <a:r>
                        <a:rPr lang="en-US" altLang="ko-KR" sz="1400" kern="0" spc="-60" dirty="0">
                          <a:effectLst/>
                        </a:rPr>
                        <a:t>(</a:t>
                      </a:r>
                      <a:r>
                        <a:rPr lang="ko-KR" altLang="en-US" sz="1400" kern="0" spc="-100" dirty="0">
                          <a:effectLst/>
                        </a:rPr>
                        <a:t>도면 중 </a:t>
                      </a:r>
                      <a:r>
                        <a:rPr lang="ko-KR" altLang="en-US" sz="1400" kern="0" spc="-100" dirty="0" err="1">
                          <a:effectLst/>
                        </a:rPr>
                        <a:t>설명부분에</a:t>
                      </a:r>
                      <a:r>
                        <a:rPr lang="ko-KR" altLang="en-US" sz="1400" kern="0" spc="-100" dirty="0">
                          <a:effectLst/>
                        </a:rPr>
                        <a:t> 한정한다</a:t>
                      </a:r>
                      <a:r>
                        <a:rPr lang="en-US" altLang="ko-KR" sz="1400" kern="0" spc="-60" dirty="0">
                          <a:effectLst/>
                        </a:rPr>
                        <a:t>. </a:t>
                      </a:r>
                      <a:r>
                        <a:rPr lang="ko-KR" altLang="en-US" sz="1400" kern="0" spc="-100" dirty="0">
                          <a:effectLst/>
                        </a:rPr>
                        <a:t>이하 제</a:t>
                      </a:r>
                      <a:r>
                        <a:rPr lang="en-US" altLang="ko-KR" sz="1400" kern="0" spc="-60" dirty="0">
                          <a:effectLst/>
                        </a:rPr>
                        <a:t>2</a:t>
                      </a:r>
                      <a:r>
                        <a:rPr lang="ko-KR" altLang="en-US" sz="1400" kern="0" spc="-100" dirty="0">
                          <a:effectLst/>
                        </a:rPr>
                        <a:t>항 및 제</a:t>
                      </a:r>
                      <a:r>
                        <a:rPr lang="en-US" altLang="ko-KR" sz="1400" kern="0" spc="-60" dirty="0">
                          <a:effectLst/>
                        </a:rPr>
                        <a:t>5</a:t>
                      </a:r>
                      <a:r>
                        <a:rPr lang="ko-KR" altLang="en-US" sz="1400" kern="0" spc="-100" dirty="0">
                          <a:effectLst/>
                        </a:rPr>
                        <a:t>항에서 같다</a:t>
                      </a:r>
                      <a:r>
                        <a:rPr lang="en-US" altLang="ko-KR" sz="1400" kern="0" spc="-60" dirty="0">
                          <a:effectLst/>
                        </a:rPr>
                        <a:t>)</a:t>
                      </a:r>
                      <a:r>
                        <a:rPr lang="ko-KR" altLang="en-US" sz="1400" kern="0" spc="-100" dirty="0">
                          <a:effectLst/>
                        </a:rPr>
                        <a:t>을 국어가 아닌 총리령으로 정하는 언어</a:t>
                      </a:r>
                      <a:r>
                        <a:rPr lang="en-US" altLang="ko-KR" sz="1400" kern="0" spc="-60" dirty="0">
                          <a:effectLst/>
                        </a:rPr>
                        <a:t>(</a:t>
                      </a:r>
                      <a:r>
                        <a:rPr lang="ko-KR" altLang="en-US" sz="1400" kern="0" spc="-100" dirty="0">
                          <a:effectLst/>
                        </a:rPr>
                        <a:t>영어</a:t>
                      </a:r>
                      <a:r>
                        <a:rPr lang="en-US" altLang="ko-KR" sz="1400" kern="0" spc="-60" dirty="0">
                          <a:effectLst/>
                        </a:rPr>
                        <a:t>)</a:t>
                      </a:r>
                      <a:r>
                        <a:rPr lang="ko-KR" altLang="en-US" sz="1400" kern="0" spc="-100" dirty="0">
                          <a:effectLst/>
                        </a:rPr>
                        <a:t>로 적겠다는 취지를 특허출원을 할 때 특허출원서에 적은 경우에는 그 언어로 적을 수 있다</a:t>
                      </a:r>
                      <a:r>
                        <a:rPr lang="en-US" altLang="ko-KR" sz="1400" kern="0" spc="-60" dirty="0">
                          <a:effectLst/>
                        </a:rPr>
                        <a:t>(</a:t>
                      </a:r>
                      <a:r>
                        <a:rPr lang="ko-KR" altLang="en-US" sz="1400" kern="0" spc="-60" dirty="0">
                          <a:effectLst/>
                        </a:rPr>
                        <a:t>法 </a:t>
                      </a:r>
                      <a:r>
                        <a:rPr lang="en-US" altLang="ko-KR" sz="1400" kern="0" spc="-60" dirty="0">
                          <a:effectLst/>
                        </a:rPr>
                        <a:t>42</a:t>
                      </a:r>
                      <a:r>
                        <a:rPr lang="ko-KR" altLang="en-US" sz="1400" kern="0" spc="-100" dirty="0">
                          <a:effectLst/>
                        </a:rPr>
                        <a:t>의</a:t>
                      </a:r>
                      <a:r>
                        <a:rPr lang="en-US" altLang="ko-KR" sz="1400" kern="0" spc="-60" dirty="0">
                          <a:effectLst/>
                        </a:rPr>
                        <a:t>3</a:t>
                      </a:r>
                      <a:r>
                        <a:rPr lang="ko-KR" altLang="en-US" sz="1400" kern="0" spc="-60" dirty="0">
                          <a:effectLst/>
                        </a:rPr>
                        <a:t>①</a:t>
                      </a:r>
                      <a:r>
                        <a:rPr lang="en-US" altLang="ko-KR" sz="1400" kern="0" spc="-60" dirty="0">
                          <a:effectLst/>
                        </a:rPr>
                        <a:t>).</a:t>
                      </a:r>
                      <a:endParaRPr lang="ko-KR" altLang="en-US" sz="1400" kern="0" spc="-60" dirty="0">
                        <a:effectLst/>
                      </a:endParaRPr>
                    </a:p>
                    <a:p>
                      <a:pPr marL="71120" marR="31750" indent="-71120" algn="l" fontAlgn="base" latinLnBrk="1">
                        <a:lnSpc>
                          <a:spcPct val="130000"/>
                        </a:lnSpc>
                        <a:spcBef>
                          <a:spcPts val="0"/>
                        </a:spcBef>
                        <a:spcAft>
                          <a:spcPts val="0"/>
                        </a:spcAft>
                      </a:pPr>
                      <a:r>
                        <a:rPr lang="en-US" altLang="ko-KR" sz="1400" kern="0" spc="-60" dirty="0">
                          <a:effectLst/>
                        </a:rPr>
                        <a:t>- </a:t>
                      </a:r>
                      <a:r>
                        <a:rPr lang="ko-KR" altLang="en-US" sz="1400" kern="0" spc="-100" dirty="0">
                          <a:effectLst/>
                        </a:rPr>
                        <a:t>특허출원인이 특허출원서에 최초로 첨부한 명세서 및 도면을 제</a:t>
                      </a:r>
                      <a:r>
                        <a:rPr lang="en-US" altLang="ko-KR" sz="1400" kern="0" spc="-60" dirty="0">
                          <a:effectLst/>
                        </a:rPr>
                        <a:t>1</a:t>
                      </a:r>
                      <a:r>
                        <a:rPr lang="ko-KR" altLang="en-US" sz="1400" kern="0" spc="-100" dirty="0">
                          <a:effectLst/>
                        </a:rPr>
                        <a:t>항에 따른 언어로 적은 특허출원</a:t>
                      </a:r>
                      <a:r>
                        <a:rPr lang="en-US" altLang="ko-KR" sz="1400" kern="0" spc="-60" dirty="0">
                          <a:effectLst/>
                        </a:rPr>
                        <a:t>(</a:t>
                      </a:r>
                      <a:r>
                        <a:rPr lang="ko-KR" altLang="en-US" sz="1400" kern="0" spc="-100" dirty="0">
                          <a:effectLst/>
                        </a:rPr>
                        <a:t>이하 </a:t>
                      </a:r>
                      <a:r>
                        <a:rPr lang="en-US" altLang="ko-KR" sz="1400" kern="0" spc="-60" dirty="0">
                          <a:effectLst/>
                        </a:rPr>
                        <a:t>"</a:t>
                      </a:r>
                      <a:r>
                        <a:rPr lang="ko-KR" altLang="en-US" sz="1400" kern="0" spc="-100" dirty="0">
                          <a:effectLst/>
                        </a:rPr>
                        <a:t>외국어특허출원</a:t>
                      </a:r>
                      <a:r>
                        <a:rPr lang="en-US" altLang="ko-KR" sz="1400" kern="0" spc="-60" dirty="0">
                          <a:effectLst/>
                        </a:rPr>
                        <a:t>"</a:t>
                      </a:r>
                      <a:r>
                        <a:rPr lang="ko-KR" altLang="en-US" sz="1400" kern="0" spc="-100" dirty="0">
                          <a:effectLst/>
                        </a:rPr>
                        <a:t>이라 한다</a:t>
                      </a:r>
                      <a:r>
                        <a:rPr lang="en-US" altLang="ko-KR" sz="1400" kern="0" spc="-60" dirty="0">
                          <a:effectLst/>
                        </a:rPr>
                        <a:t>)</a:t>
                      </a:r>
                      <a:r>
                        <a:rPr lang="ko-KR" altLang="en-US" sz="1400" kern="0" spc="-100" dirty="0">
                          <a:effectLst/>
                        </a:rPr>
                        <a:t>을 한 경우에는 제</a:t>
                      </a:r>
                      <a:r>
                        <a:rPr lang="en-US" altLang="ko-KR" sz="1400" kern="0" spc="-60" dirty="0">
                          <a:effectLst/>
                        </a:rPr>
                        <a:t>64</a:t>
                      </a:r>
                      <a:r>
                        <a:rPr lang="ko-KR" altLang="en-US" sz="1400" kern="0" spc="-100" dirty="0">
                          <a:effectLst/>
                        </a:rPr>
                        <a:t>조제</a:t>
                      </a:r>
                      <a:r>
                        <a:rPr lang="en-US" altLang="ko-KR" sz="1400" kern="0" spc="-60" dirty="0">
                          <a:effectLst/>
                        </a:rPr>
                        <a:t>1</a:t>
                      </a:r>
                      <a:r>
                        <a:rPr lang="ko-KR" altLang="en-US" sz="1400" kern="0" spc="-100" dirty="0">
                          <a:effectLst/>
                        </a:rPr>
                        <a:t>항 각 호의 구분에 따른 날부터 </a:t>
                      </a:r>
                      <a:r>
                        <a:rPr lang="en-US" altLang="ko-KR" sz="1400" kern="0" spc="-60" dirty="0">
                          <a:effectLst/>
                        </a:rPr>
                        <a:t>1</a:t>
                      </a:r>
                      <a:r>
                        <a:rPr lang="ko-KR" altLang="en-US" sz="1400" kern="0" spc="-100" dirty="0">
                          <a:effectLst/>
                        </a:rPr>
                        <a:t>년 </a:t>
                      </a:r>
                      <a:r>
                        <a:rPr lang="en-US" altLang="ko-KR" sz="1400" kern="0" spc="-60" dirty="0">
                          <a:effectLst/>
                        </a:rPr>
                        <a:t>2</a:t>
                      </a:r>
                      <a:r>
                        <a:rPr lang="ko-KR" altLang="en-US" sz="1400" kern="0" spc="-100" dirty="0">
                          <a:effectLst/>
                        </a:rPr>
                        <a:t>개월이 되는 날까지 그 명세서 및 도면의 국어번역문을 총리령으로 정하는 방법에 따라 제출하여야 한다</a:t>
                      </a:r>
                      <a:r>
                        <a:rPr lang="en-US" altLang="ko-KR" sz="1400" kern="0" spc="-60" dirty="0">
                          <a:effectLst/>
                        </a:rPr>
                        <a:t>. </a:t>
                      </a:r>
                      <a:r>
                        <a:rPr lang="ko-KR" altLang="en-US" sz="1400" kern="0" spc="-100" dirty="0">
                          <a:effectLst/>
                        </a:rPr>
                        <a:t>다만</a:t>
                      </a:r>
                      <a:r>
                        <a:rPr lang="en-US" altLang="ko-KR" sz="1400" kern="0" spc="-60" dirty="0">
                          <a:effectLst/>
                        </a:rPr>
                        <a:t>, </a:t>
                      </a:r>
                      <a:r>
                        <a:rPr lang="ko-KR" altLang="en-US" sz="1400" kern="0" spc="-100" dirty="0">
                          <a:effectLst/>
                        </a:rPr>
                        <a:t>본문에 따른 기한 이전에 제</a:t>
                      </a:r>
                      <a:r>
                        <a:rPr lang="en-US" altLang="ko-KR" sz="1400" kern="0" spc="-60" dirty="0">
                          <a:effectLst/>
                        </a:rPr>
                        <a:t>60</a:t>
                      </a:r>
                      <a:r>
                        <a:rPr lang="ko-KR" altLang="en-US" sz="1400" kern="0" spc="-100" dirty="0">
                          <a:effectLst/>
                        </a:rPr>
                        <a:t>조제</a:t>
                      </a:r>
                      <a:r>
                        <a:rPr lang="en-US" altLang="ko-KR" sz="1400" kern="0" spc="-60" dirty="0">
                          <a:effectLst/>
                        </a:rPr>
                        <a:t>3</a:t>
                      </a:r>
                      <a:r>
                        <a:rPr lang="ko-KR" altLang="en-US" sz="1400" kern="0" spc="-100" dirty="0">
                          <a:effectLst/>
                        </a:rPr>
                        <a:t>항에 따른 </a:t>
                      </a:r>
                      <a:r>
                        <a:rPr lang="ko-KR" altLang="en-US" sz="1400" kern="0" spc="-100" dirty="0" err="1">
                          <a:effectLst/>
                        </a:rPr>
                        <a:t>출원심사</a:t>
                      </a:r>
                      <a:r>
                        <a:rPr lang="ko-KR" altLang="en-US" sz="1400" kern="0" spc="-100" dirty="0">
                          <a:effectLst/>
                        </a:rPr>
                        <a:t> 청구의 취지를 </a:t>
                      </a:r>
                      <a:r>
                        <a:rPr lang="ko-KR" altLang="en-US" sz="1400" kern="0" spc="-100" dirty="0" err="1">
                          <a:effectLst/>
                        </a:rPr>
                        <a:t>통지받은</a:t>
                      </a:r>
                      <a:r>
                        <a:rPr lang="ko-KR" altLang="en-US" sz="1400" kern="0" spc="-100" dirty="0">
                          <a:effectLst/>
                        </a:rPr>
                        <a:t> 경우에는 그 통지를 받은 날부터 </a:t>
                      </a:r>
                      <a:r>
                        <a:rPr lang="en-US" altLang="ko-KR" sz="1400" kern="0" spc="-60" dirty="0">
                          <a:effectLst/>
                        </a:rPr>
                        <a:t>3</a:t>
                      </a:r>
                      <a:r>
                        <a:rPr lang="ko-KR" altLang="en-US" sz="1400" kern="0" spc="-100" dirty="0">
                          <a:effectLst/>
                        </a:rPr>
                        <a:t>개월이 되는 날 또는 제</a:t>
                      </a:r>
                      <a:r>
                        <a:rPr lang="en-US" altLang="ko-KR" sz="1400" kern="0" spc="-60" dirty="0">
                          <a:effectLst/>
                        </a:rPr>
                        <a:t>64</a:t>
                      </a:r>
                      <a:r>
                        <a:rPr lang="ko-KR" altLang="en-US" sz="1400" kern="0" spc="-100" dirty="0">
                          <a:effectLst/>
                        </a:rPr>
                        <a:t>조제</a:t>
                      </a:r>
                      <a:r>
                        <a:rPr lang="en-US" altLang="ko-KR" sz="1400" kern="0" spc="-60" dirty="0">
                          <a:effectLst/>
                        </a:rPr>
                        <a:t>1</a:t>
                      </a:r>
                      <a:r>
                        <a:rPr lang="ko-KR" altLang="en-US" sz="1400" kern="0" spc="-100" dirty="0">
                          <a:effectLst/>
                        </a:rPr>
                        <a:t>항 각 호의 구분에 따른 날부터 </a:t>
                      </a:r>
                      <a:r>
                        <a:rPr lang="en-US" altLang="ko-KR" sz="1400" kern="0" spc="-60" dirty="0">
                          <a:effectLst/>
                        </a:rPr>
                        <a:t>1</a:t>
                      </a:r>
                      <a:r>
                        <a:rPr lang="ko-KR" altLang="en-US" sz="1400" kern="0" spc="-100" dirty="0">
                          <a:effectLst/>
                        </a:rPr>
                        <a:t>년 </a:t>
                      </a:r>
                      <a:r>
                        <a:rPr lang="en-US" altLang="ko-KR" sz="1400" kern="0" spc="-60" dirty="0">
                          <a:effectLst/>
                        </a:rPr>
                        <a:t>2</a:t>
                      </a:r>
                      <a:r>
                        <a:rPr lang="ko-KR" altLang="en-US" sz="1400" kern="0" spc="-100" dirty="0">
                          <a:effectLst/>
                        </a:rPr>
                        <a:t>개월이 되는 날 중 빠른 날까지 제출하여야 한다</a:t>
                      </a:r>
                      <a:r>
                        <a:rPr lang="en-US" altLang="ko-KR" sz="1400" kern="0" spc="-60" dirty="0">
                          <a:effectLst/>
                        </a:rPr>
                        <a:t>(</a:t>
                      </a:r>
                      <a:r>
                        <a:rPr lang="ko-KR" altLang="en-US" sz="1400" kern="0" spc="-60" dirty="0">
                          <a:effectLst/>
                        </a:rPr>
                        <a:t>法 </a:t>
                      </a:r>
                      <a:r>
                        <a:rPr lang="en-US" altLang="ko-KR" sz="1400" kern="0" spc="-60" dirty="0">
                          <a:effectLst/>
                        </a:rPr>
                        <a:t>42</a:t>
                      </a:r>
                      <a:r>
                        <a:rPr lang="ko-KR" altLang="en-US" sz="1400" kern="0" spc="-100" dirty="0">
                          <a:effectLst/>
                        </a:rPr>
                        <a:t>의</a:t>
                      </a:r>
                      <a:r>
                        <a:rPr lang="en-US" altLang="ko-KR" sz="1400" kern="0" spc="-60" dirty="0">
                          <a:effectLst/>
                        </a:rPr>
                        <a:t>3</a:t>
                      </a:r>
                      <a:r>
                        <a:rPr lang="ko-KR" altLang="en-US" sz="1400" kern="0" spc="-60" dirty="0">
                          <a:effectLst/>
                        </a:rPr>
                        <a:t>②</a:t>
                      </a:r>
                      <a:r>
                        <a:rPr lang="en-US" altLang="ko-KR" sz="1400" kern="0" spc="-60" dirty="0">
                          <a:effectLst/>
                        </a:rPr>
                        <a:t>).</a:t>
                      </a:r>
                      <a:endParaRPr lang="ko-KR" altLang="en-US" sz="1400" kern="0" spc="-60" dirty="0">
                        <a:solidFill>
                          <a:srgbClr val="000000"/>
                        </a:solidFill>
                        <a:effectLst/>
                        <a:latin typeface="+mn-ea"/>
                        <a:ea typeface="+mn-ea"/>
                      </a:endParaRPr>
                    </a:p>
                  </a:txBody>
                  <a:tcPr marL="36405" marR="36405" marT="10065" marB="10065"/>
                </a:tc>
                <a:tc>
                  <a:txBody>
                    <a:bodyPr/>
                    <a:lstStyle/>
                    <a:p>
                      <a:pPr marL="74930" marR="31750" indent="-74930" algn="l" fontAlgn="base" latinLnBrk="1">
                        <a:lnSpc>
                          <a:spcPct val="130000"/>
                        </a:lnSpc>
                        <a:spcBef>
                          <a:spcPts val="0"/>
                        </a:spcBef>
                        <a:spcAft>
                          <a:spcPts val="0"/>
                        </a:spcAft>
                      </a:pPr>
                      <a:r>
                        <a:rPr lang="en-US" altLang="ko-KR" sz="1400" kern="0" spc="-60" dirty="0">
                          <a:effectLst/>
                        </a:rPr>
                        <a:t>- </a:t>
                      </a:r>
                      <a:r>
                        <a:rPr lang="ko-KR" altLang="en-US" sz="1400" kern="0" spc="-60" dirty="0">
                          <a:effectLst/>
                        </a:rPr>
                        <a:t>국제특허출원을 외국어로 출원한 </a:t>
                      </a:r>
                      <a:r>
                        <a:rPr lang="ko-KR" altLang="en-US" sz="1400" kern="0" spc="-60" dirty="0" err="1">
                          <a:effectLst/>
                        </a:rPr>
                        <a:t>출원인은</a:t>
                      </a:r>
                      <a:r>
                        <a:rPr lang="ko-KR" altLang="en-US" sz="1400" kern="0" spc="-60" dirty="0">
                          <a:effectLst/>
                        </a:rPr>
                        <a:t> </a:t>
                      </a:r>
                      <a:r>
                        <a:rPr lang="ko-KR" altLang="en-US" sz="1400" kern="0" spc="-60" dirty="0" err="1">
                          <a:effectLst/>
                        </a:rPr>
                        <a:t>우선일부터</a:t>
                      </a:r>
                      <a:r>
                        <a:rPr lang="ko-KR" altLang="en-US" sz="1400" kern="0" spc="-60" dirty="0">
                          <a:effectLst/>
                        </a:rPr>
                        <a:t> </a:t>
                      </a:r>
                      <a:r>
                        <a:rPr lang="en-US" altLang="ko-KR" sz="1400" kern="0" spc="-60" dirty="0">
                          <a:effectLst/>
                        </a:rPr>
                        <a:t>2</a:t>
                      </a:r>
                      <a:r>
                        <a:rPr lang="ko-KR" altLang="en-US" sz="1400" kern="0" spc="-60" dirty="0">
                          <a:effectLst/>
                        </a:rPr>
                        <a:t>년 </a:t>
                      </a:r>
                      <a:r>
                        <a:rPr lang="en-US" altLang="ko-KR" sz="1400" kern="0" spc="-60" dirty="0">
                          <a:effectLst/>
                        </a:rPr>
                        <a:t>7</a:t>
                      </a:r>
                      <a:r>
                        <a:rPr lang="ko-KR" altLang="en-US" sz="1400" kern="0" spc="-60" dirty="0">
                          <a:effectLst/>
                        </a:rPr>
                        <a:t>개월</a:t>
                      </a:r>
                      <a:r>
                        <a:rPr lang="en-US" altLang="ko-KR" sz="1400" kern="0" spc="-60" dirty="0">
                          <a:effectLst/>
                        </a:rPr>
                        <a:t>(</a:t>
                      </a:r>
                      <a:r>
                        <a:rPr lang="ko-KR" altLang="en-US" sz="1400" kern="0" spc="-60" dirty="0">
                          <a:effectLst/>
                        </a:rPr>
                        <a:t>이하 </a:t>
                      </a:r>
                      <a:r>
                        <a:rPr lang="en-US" altLang="ko-KR" sz="1400" kern="0" spc="-60" dirty="0">
                          <a:effectLst/>
                        </a:rPr>
                        <a:t>"</a:t>
                      </a:r>
                      <a:r>
                        <a:rPr lang="ko-KR" altLang="en-US" sz="1400" kern="0" spc="-60" dirty="0">
                          <a:effectLst/>
                        </a:rPr>
                        <a:t>국내서면제출기간</a:t>
                      </a:r>
                      <a:r>
                        <a:rPr lang="en-US" altLang="ko-KR" sz="1400" kern="0" spc="-60" dirty="0">
                          <a:effectLst/>
                        </a:rPr>
                        <a:t>"</a:t>
                      </a:r>
                      <a:r>
                        <a:rPr lang="ko-KR" altLang="en-US" sz="1400" kern="0" spc="-60" dirty="0">
                          <a:effectLst/>
                        </a:rPr>
                        <a:t>이라 한다</a:t>
                      </a:r>
                      <a:r>
                        <a:rPr lang="en-US" altLang="ko-KR" sz="1400" kern="0" spc="-60" dirty="0">
                          <a:effectLst/>
                        </a:rPr>
                        <a:t>) </a:t>
                      </a:r>
                      <a:r>
                        <a:rPr lang="ko-KR" altLang="en-US" sz="1400" kern="0" spc="-60" dirty="0">
                          <a:effectLst/>
                        </a:rPr>
                        <a:t>이내에 다음의 국어번역문을 지식재산처장에게 제출하여야 한다</a:t>
                      </a:r>
                      <a:r>
                        <a:rPr lang="en-US" altLang="ko-KR" sz="1400" kern="0" spc="-60" dirty="0">
                          <a:effectLst/>
                        </a:rPr>
                        <a:t>. </a:t>
                      </a:r>
                      <a:r>
                        <a:rPr lang="ko-KR" altLang="en-US" sz="1400" kern="0" spc="-60" dirty="0">
                          <a:effectLst/>
                        </a:rPr>
                        <a:t>다만</a:t>
                      </a:r>
                      <a:r>
                        <a:rPr lang="en-US" altLang="ko-KR" sz="1400" kern="0" spc="-60" dirty="0">
                          <a:effectLst/>
                        </a:rPr>
                        <a:t>, </a:t>
                      </a:r>
                      <a:r>
                        <a:rPr lang="ko-KR" altLang="en-US" sz="1400" kern="0" spc="-60" dirty="0">
                          <a:effectLst/>
                        </a:rPr>
                        <a:t>국어번역문의 제출기간을 연장하여 달라는 취지를 제</a:t>
                      </a:r>
                      <a:r>
                        <a:rPr lang="en-US" altLang="ko-KR" sz="1400" kern="0" spc="-60" dirty="0">
                          <a:effectLst/>
                        </a:rPr>
                        <a:t>203</a:t>
                      </a:r>
                      <a:r>
                        <a:rPr lang="ko-KR" altLang="en-US" sz="1400" kern="0" spc="-60" dirty="0">
                          <a:effectLst/>
                        </a:rPr>
                        <a:t>조제</a:t>
                      </a:r>
                      <a:r>
                        <a:rPr lang="en-US" altLang="ko-KR" sz="1400" kern="0" spc="-60" dirty="0">
                          <a:effectLst/>
                        </a:rPr>
                        <a:t>1</a:t>
                      </a:r>
                      <a:r>
                        <a:rPr lang="ko-KR" altLang="en-US" sz="1400" kern="0" spc="-60" dirty="0">
                          <a:effectLst/>
                        </a:rPr>
                        <a:t>항에 따른 서면에 적어 국내서면제출기간 만료일 전 </a:t>
                      </a:r>
                      <a:r>
                        <a:rPr lang="en-US" altLang="ko-KR" sz="1400" kern="0" spc="-60" dirty="0">
                          <a:effectLst/>
                        </a:rPr>
                        <a:t>1</a:t>
                      </a:r>
                      <a:r>
                        <a:rPr lang="ko-KR" altLang="en-US" sz="1400" kern="0" spc="-60" dirty="0">
                          <a:effectLst/>
                        </a:rPr>
                        <a:t>개월부터 그 만료일까지 제출한 경우</a:t>
                      </a:r>
                      <a:r>
                        <a:rPr lang="en-US" altLang="ko-KR" sz="1400" kern="0" spc="-60" dirty="0">
                          <a:effectLst/>
                        </a:rPr>
                        <a:t>(</a:t>
                      </a:r>
                      <a:r>
                        <a:rPr lang="ko-KR" altLang="en-US" sz="1400" kern="0" spc="-60" dirty="0">
                          <a:effectLst/>
                        </a:rPr>
                        <a:t>그 서면을 제출하기 전에 국어번역문을 제출한 경우는 제외한다</a:t>
                      </a:r>
                      <a:r>
                        <a:rPr lang="en-US" altLang="ko-KR" sz="1400" kern="0" spc="-60" dirty="0">
                          <a:effectLst/>
                        </a:rPr>
                        <a:t>)</a:t>
                      </a:r>
                      <a:r>
                        <a:rPr lang="ko-KR" altLang="en-US" sz="1400" kern="0" spc="-60" dirty="0">
                          <a:effectLst/>
                        </a:rPr>
                        <a:t>에는 국내서면제출기간 만료일부터 </a:t>
                      </a:r>
                      <a:r>
                        <a:rPr lang="en-US" altLang="ko-KR" sz="1400" kern="0" spc="-60" dirty="0">
                          <a:effectLst/>
                        </a:rPr>
                        <a:t>1</a:t>
                      </a:r>
                      <a:r>
                        <a:rPr lang="ko-KR" altLang="en-US" sz="1400" kern="0" spc="-60" dirty="0">
                          <a:effectLst/>
                        </a:rPr>
                        <a:t>개월이 되는 날까지 국어번역문을 제출할 수 있다</a:t>
                      </a:r>
                      <a:r>
                        <a:rPr lang="en-US" altLang="ko-KR" sz="1400" kern="0" spc="-60" dirty="0">
                          <a:effectLst/>
                        </a:rPr>
                        <a:t>(</a:t>
                      </a:r>
                      <a:r>
                        <a:rPr lang="ko-KR" altLang="en-US" sz="1400" kern="0" spc="-60" dirty="0">
                          <a:effectLst/>
                        </a:rPr>
                        <a:t>法 </a:t>
                      </a:r>
                      <a:r>
                        <a:rPr lang="en-US" altLang="ko-KR" sz="1400" kern="0" spc="-60" dirty="0">
                          <a:effectLst/>
                        </a:rPr>
                        <a:t>201</a:t>
                      </a:r>
                      <a:r>
                        <a:rPr lang="ko-KR" altLang="en-US" sz="1400" kern="0" spc="-60" dirty="0">
                          <a:effectLst/>
                        </a:rPr>
                        <a:t>①</a:t>
                      </a:r>
                      <a:r>
                        <a:rPr lang="en-US" altLang="ko-KR" sz="1400" kern="0" spc="-60" dirty="0">
                          <a:effectLst/>
                        </a:rPr>
                        <a:t>).</a:t>
                      </a:r>
                      <a:endParaRPr lang="ko-KR" altLang="en-US" sz="1400" kern="0" spc="-60" dirty="0">
                        <a:effectLst/>
                      </a:endParaRPr>
                    </a:p>
                    <a:p>
                      <a:pPr marL="254000" marR="31750" indent="-254000" algn="l" fontAlgn="base" latinLnBrk="1">
                        <a:lnSpc>
                          <a:spcPct val="130000"/>
                        </a:lnSpc>
                        <a:spcBef>
                          <a:spcPts val="0"/>
                        </a:spcBef>
                        <a:spcAft>
                          <a:spcPts val="0"/>
                        </a:spcAft>
                      </a:pPr>
                      <a:r>
                        <a:rPr lang="en-US" altLang="ko-KR" sz="1400" kern="0" spc="-90" dirty="0">
                          <a:effectLst/>
                        </a:rPr>
                        <a:t>ⅰ) </a:t>
                      </a:r>
                      <a:r>
                        <a:rPr lang="ko-KR" altLang="en-US" sz="1400" kern="0" spc="-90" dirty="0">
                          <a:effectLst/>
                        </a:rPr>
                        <a:t>국제출원일까지 제출한 발명의 설명</a:t>
                      </a:r>
                      <a:r>
                        <a:rPr lang="en-US" altLang="ko-KR" sz="1400" kern="0" spc="-90" dirty="0">
                          <a:effectLst/>
                        </a:rPr>
                        <a:t>, </a:t>
                      </a:r>
                      <a:r>
                        <a:rPr lang="ko-KR" altLang="en-US" sz="1400" kern="0" spc="-90" dirty="0" err="1">
                          <a:effectLst/>
                        </a:rPr>
                        <a:t>청구범위</a:t>
                      </a:r>
                      <a:r>
                        <a:rPr lang="ko-KR" altLang="en-US" sz="1400" kern="0" spc="-90" dirty="0">
                          <a:effectLst/>
                        </a:rPr>
                        <a:t> 및 도면</a:t>
                      </a:r>
                      <a:r>
                        <a:rPr lang="en-US" altLang="ko-KR" sz="1400" kern="0" spc="-90" dirty="0">
                          <a:effectLst/>
                        </a:rPr>
                        <a:t>(</a:t>
                      </a:r>
                      <a:r>
                        <a:rPr lang="ko-KR" altLang="en-US" sz="1400" kern="0" spc="-90" dirty="0">
                          <a:effectLst/>
                        </a:rPr>
                        <a:t>도면 중 </a:t>
                      </a:r>
                      <a:r>
                        <a:rPr lang="ko-KR" altLang="en-US" sz="1400" kern="0" spc="-90" dirty="0" err="1">
                          <a:effectLst/>
                        </a:rPr>
                        <a:t>설명부분에</a:t>
                      </a:r>
                      <a:r>
                        <a:rPr lang="ko-KR" altLang="en-US" sz="1400" kern="0" spc="-90" dirty="0">
                          <a:effectLst/>
                        </a:rPr>
                        <a:t> 한정</a:t>
                      </a:r>
                      <a:r>
                        <a:rPr lang="en-US" altLang="ko-KR" sz="1400" kern="0" spc="-90" dirty="0">
                          <a:effectLst/>
                        </a:rPr>
                        <a:t>)</a:t>
                      </a:r>
                      <a:r>
                        <a:rPr lang="ko-KR" altLang="en-US" sz="1400" kern="0" spc="-90" dirty="0">
                          <a:effectLst/>
                        </a:rPr>
                        <a:t>의 </a:t>
                      </a:r>
                      <a:r>
                        <a:rPr lang="ko-KR" altLang="en-US" sz="1400" kern="0" spc="-90" dirty="0" err="1">
                          <a:effectLst/>
                        </a:rPr>
                        <a:t>국어번역문</a:t>
                      </a:r>
                      <a:endParaRPr lang="ko-KR" altLang="en-US" sz="1400" kern="0" spc="-90" dirty="0">
                        <a:effectLst/>
                      </a:endParaRPr>
                    </a:p>
                    <a:p>
                      <a:pPr marL="241300" marR="31750" indent="-241300" algn="l" fontAlgn="base" latinLnBrk="1">
                        <a:lnSpc>
                          <a:spcPct val="130000"/>
                        </a:lnSpc>
                        <a:spcBef>
                          <a:spcPts val="0"/>
                        </a:spcBef>
                        <a:spcAft>
                          <a:spcPts val="0"/>
                        </a:spcAft>
                      </a:pPr>
                      <a:r>
                        <a:rPr lang="en-US" altLang="ko-KR" sz="1400" kern="0" spc="-60" dirty="0">
                          <a:effectLst/>
                        </a:rPr>
                        <a:t>ⅱ) </a:t>
                      </a:r>
                      <a:r>
                        <a:rPr lang="ko-KR" altLang="en-US" sz="1400" kern="0" spc="-100" dirty="0">
                          <a:effectLst/>
                        </a:rPr>
                        <a:t>국제특허출원의 </a:t>
                      </a:r>
                      <a:r>
                        <a:rPr lang="ko-KR" altLang="en-US" sz="1400" kern="0" spc="-100" dirty="0" err="1">
                          <a:effectLst/>
                        </a:rPr>
                        <a:t>요약서의</a:t>
                      </a:r>
                      <a:r>
                        <a:rPr lang="ko-KR" altLang="en-US" sz="1400" kern="0" spc="-100" dirty="0">
                          <a:effectLst/>
                        </a:rPr>
                        <a:t> </a:t>
                      </a:r>
                      <a:r>
                        <a:rPr lang="ko-KR" altLang="en-US" sz="1400" kern="0" spc="-100" dirty="0" err="1">
                          <a:effectLst/>
                        </a:rPr>
                        <a:t>국어번역문</a:t>
                      </a:r>
                      <a:endParaRPr lang="ko-KR" altLang="en-US" sz="1400" kern="0" spc="-100" dirty="0">
                        <a:effectLst/>
                      </a:endParaRPr>
                    </a:p>
                    <a:p>
                      <a:pPr marL="80010" marR="31750" indent="-80010" algn="l" fontAlgn="base" latinLnBrk="1">
                        <a:lnSpc>
                          <a:spcPct val="130000"/>
                        </a:lnSpc>
                        <a:spcBef>
                          <a:spcPts val="0"/>
                        </a:spcBef>
                        <a:spcAft>
                          <a:spcPts val="0"/>
                        </a:spcAft>
                      </a:pPr>
                      <a:r>
                        <a:rPr lang="en-US" altLang="ko-KR" sz="1400" kern="0" spc="-60" dirty="0">
                          <a:effectLst/>
                        </a:rPr>
                        <a:t>- </a:t>
                      </a:r>
                      <a:r>
                        <a:rPr lang="ko-KR" altLang="en-US" sz="1400" kern="0" spc="-100" dirty="0">
                          <a:effectLst/>
                        </a:rPr>
                        <a:t>제</a:t>
                      </a:r>
                      <a:r>
                        <a:rPr lang="en-US" altLang="ko-KR" sz="1400" kern="0" spc="-60" dirty="0">
                          <a:effectLst/>
                        </a:rPr>
                        <a:t>1</a:t>
                      </a:r>
                      <a:r>
                        <a:rPr lang="ko-KR" altLang="en-US" sz="1400" kern="0" spc="-100" dirty="0">
                          <a:effectLst/>
                        </a:rPr>
                        <a:t>항에도 불구하고 국제특허출원을 외국어로 출원한 </a:t>
                      </a:r>
                      <a:r>
                        <a:rPr lang="ko-KR" altLang="en-US" sz="1400" kern="0" spc="-100" dirty="0" err="1">
                          <a:effectLst/>
                        </a:rPr>
                        <a:t>출원인이</a:t>
                      </a:r>
                      <a:r>
                        <a:rPr lang="ko-KR" altLang="en-US" sz="1400" kern="0" spc="-100" dirty="0">
                          <a:effectLst/>
                        </a:rPr>
                        <a:t> </a:t>
                      </a:r>
                      <a:r>
                        <a:rPr lang="ko-KR" altLang="en-US" sz="1400" kern="0" spc="-60" dirty="0">
                          <a:effectLst/>
                        </a:rPr>
                        <a:t>「</a:t>
                      </a:r>
                      <a:r>
                        <a:rPr lang="ko-KR" altLang="en-US" sz="1400" kern="0" spc="-100" dirty="0">
                          <a:effectLst/>
                        </a:rPr>
                        <a:t>특허협력조약</a:t>
                      </a:r>
                      <a:r>
                        <a:rPr lang="ko-KR" altLang="en-US" sz="1400" kern="0" spc="-60" dirty="0">
                          <a:effectLst/>
                        </a:rPr>
                        <a:t>」 </a:t>
                      </a:r>
                      <a:r>
                        <a:rPr lang="ko-KR" altLang="en-US" sz="1400" kern="0" spc="-100" dirty="0">
                          <a:effectLst/>
                        </a:rPr>
                        <a:t>제</a:t>
                      </a:r>
                      <a:r>
                        <a:rPr lang="en-US" altLang="ko-KR" sz="1400" kern="0" spc="-60" dirty="0">
                          <a:effectLst/>
                        </a:rPr>
                        <a:t>19</a:t>
                      </a:r>
                      <a:r>
                        <a:rPr lang="ko-KR" altLang="en-US" sz="1400" kern="0" spc="-100" dirty="0">
                          <a:effectLst/>
                        </a:rPr>
                        <a:t>조</a:t>
                      </a:r>
                      <a:r>
                        <a:rPr lang="en-US" altLang="ko-KR" sz="1400" kern="0" spc="-60" dirty="0">
                          <a:effectLst/>
                        </a:rPr>
                        <a:t>(1)</a:t>
                      </a:r>
                      <a:r>
                        <a:rPr lang="ko-KR" altLang="en-US" sz="1400" kern="0" spc="-100" dirty="0">
                          <a:effectLst/>
                        </a:rPr>
                        <a:t>에 따라 </a:t>
                      </a:r>
                      <a:r>
                        <a:rPr lang="ko-KR" altLang="en-US" sz="1400" kern="0" spc="-100" dirty="0" err="1">
                          <a:effectLst/>
                        </a:rPr>
                        <a:t>청구범위에</a:t>
                      </a:r>
                      <a:r>
                        <a:rPr lang="ko-KR" altLang="en-US" sz="1400" kern="0" spc="-100" dirty="0">
                          <a:effectLst/>
                        </a:rPr>
                        <a:t> 관한 보정을 한 경우에는 국제출원일까지 제출한 </a:t>
                      </a:r>
                      <a:r>
                        <a:rPr lang="ko-KR" altLang="en-US" sz="1400" kern="0" spc="-100" dirty="0" err="1">
                          <a:effectLst/>
                        </a:rPr>
                        <a:t>청구범위에</a:t>
                      </a:r>
                      <a:r>
                        <a:rPr lang="ko-KR" altLang="en-US" sz="1400" kern="0" spc="-100" dirty="0">
                          <a:effectLst/>
                        </a:rPr>
                        <a:t> 대한 국어번역문을 보정 후의 </a:t>
                      </a:r>
                      <a:r>
                        <a:rPr lang="ko-KR" altLang="en-US" sz="1400" kern="0" spc="-100" dirty="0" err="1">
                          <a:effectLst/>
                        </a:rPr>
                        <a:t>청구범위에</a:t>
                      </a:r>
                      <a:r>
                        <a:rPr lang="ko-KR" altLang="en-US" sz="1400" kern="0" spc="-100" dirty="0">
                          <a:effectLst/>
                        </a:rPr>
                        <a:t> 대한 국어번역문으로 대체하여 제출할 수 있다</a:t>
                      </a:r>
                      <a:r>
                        <a:rPr lang="en-US" altLang="ko-KR" sz="1400" kern="0" spc="-60" dirty="0">
                          <a:effectLst/>
                        </a:rPr>
                        <a:t>(</a:t>
                      </a:r>
                      <a:r>
                        <a:rPr lang="ko-KR" altLang="en-US" sz="1400" kern="0" spc="-60" dirty="0">
                          <a:effectLst/>
                        </a:rPr>
                        <a:t>法 </a:t>
                      </a:r>
                      <a:r>
                        <a:rPr lang="en-US" altLang="ko-KR" sz="1400" kern="0" spc="-60" dirty="0">
                          <a:effectLst/>
                        </a:rPr>
                        <a:t>201</a:t>
                      </a:r>
                      <a:r>
                        <a:rPr lang="ko-KR" altLang="en-US" sz="1400" kern="0" spc="-60" dirty="0">
                          <a:effectLst/>
                        </a:rPr>
                        <a:t>②</a:t>
                      </a:r>
                      <a:r>
                        <a:rPr lang="en-US" altLang="ko-KR" sz="1400" kern="0" spc="-60" dirty="0">
                          <a:effectLst/>
                        </a:rPr>
                        <a:t>). </a:t>
                      </a:r>
                      <a:r>
                        <a:rPr lang="ko-KR" altLang="en-US" sz="1400" kern="0" spc="-100" dirty="0">
                          <a:effectLst/>
                        </a:rPr>
                        <a:t>보정 후의 </a:t>
                      </a:r>
                      <a:r>
                        <a:rPr lang="ko-KR" altLang="en-US" sz="1400" kern="0" spc="-100" dirty="0" err="1">
                          <a:effectLst/>
                        </a:rPr>
                        <a:t>청구범위에</a:t>
                      </a:r>
                      <a:r>
                        <a:rPr lang="ko-KR" altLang="en-US" sz="1400" kern="0" spc="-100" dirty="0">
                          <a:effectLst/>
                        </a:rPr>
                        <a:t> 대한 국어번역문을 제출하는 경우에는 제</a:t>
                      </a:r>
                      <a:r>
                        <a:rPr lang="en-US" altLang="ko-KR" sz="1400" kern="0" spc="-60" dirty="0">
                          <a:effectLst/>
                        </a:rPr>
                        <a:t>204</a:t>
                      </a:r>
                      <a:r>
                        <a:rPr lang="ko-KR" altLang="en-US" sz="1400" kern="0" spc="-100" dirty="0">
                          <a:effectLst/>
                        </a:rPr>
                        <a:t>조제</a:t>
                      </a:r>
                      <a:r>
                        <a:rPr lang="en-US" altLang="ko-KR" sz="1400" kern="0" spc="-60" dirty="0">
                          <a:effectLst/>
                        </a:rPr>
                        <a:t>1</a:t>
                      </a:r>
                      <a:r>
                        <a:rPr lang="ko-KR" altLang="en-US" sz="1400" kern="0" spc="-100" dirty="0">
                          <a:effectLst/>
                        </a:rPr>
                        <a:t>항 및 제</a:t>
                      </a:r>
                      <a:r>
                        <a:rPr lang="en-US" altLang="ko-KR" sz="1400" kern="0" spc="-60" dirty="0">
                          <a:effectLst/>
                        </a:rPr>
                        <a:t>2</a:t>
                      </a:r>
                      <a:r>
                        <a:rPr lang="ko-KR" altLang="en-US" sz="1400" kern="0" spc="-100" dirty="0">
                          <a:effectLst/>
                        </a:rPr>
                        <a:t>항을 적용하지 아니한다</a:t>
                      </a:r>
                      <a:r>
                        <a:rPr lang="en-US" altLang="ko-KR" sz="1400" kern="0" spc="-60" dirty="0">
                          <a:effectLst/>
                        </a:rPr>
                        <a:t>(</a:t>
                      </a:r>
                      <a:r>
                        <a:rPr lang="ko-KR" altLang="en-US" sz="1400" kern="0" spc="-60" dirty="0">
                          <a:effectLst/>
                        </a:rPr>
                        <a:t>法 </a:t>
                      </a:r>
                      <a:r>
                        <a:rPr lang="en-US" altLang="ko-KR" sz="1400" kern="0" spc="-60" dirty="0">
                          <a:effectLst/>
                        </a:rPr>
                        <a:t>201</a:t>
                      </a:r>
                      <a:r>
                        <a:rPr lang="ko-KR" altLang="en-US" sz="1400" kern="0" spc="-60" dirty="0">
                          <a:effectLst/>
                        </a:rPr>
                        <a:t>⑧</a:t>
                      </a:r>
                      <a:r>
                        <a:rPr lang="en-US" altLang="ko-KR" sz="1400" kern="0" spc="-60" dirty="0">
                          <a:effectLst/>
                        </a:rPr>
                        <a:t>).</a:t>
                      </a:r>
                      <a:endParaRPr lang="ko-KR" altLang="en-US" sz="1400" kern="0" spc="-60" dirty="0">
                        <a:solidFill>
                          <a:srgbClr val="000000"/>
                        </a:solidFill>
                        <a:effectLst/>
                        <a:latin typeface="+mn-ea"/>
                        <a:ea typeface="+mn-ea"/>
                      </a:endParaRPr>
                    </a:p>
                  </a:txBody>
                  <a:tcPr marL="36405" marR="36405" marT="10065" marB="10065"/>
                </a:tc>
                <a:extLst>
                  <a:ext uri="{0D108BD9-81ED-4DB2-BD59-A6C34878D82A}">
                    <a16:rowId xmlns:a16="http://schemas.microsoft.com/office/drawing/2014/main" val="3174655349"/>
                  </a:ext>
                </a:extLst>
              </a:tr>
              <a:tr h="1177840">
                <a:tc>
                  <a:txBody>
                    <a:bodyPr/>
                    <a:lstStyle/>
                    <a:p>
                      <a:pPr marL="0" marR="0" indent="0" algn="ctr" fontAlgn="base" latinLnBrk="0">
                        <a:lnSpc>
                          <a:spcPct val="120000"/>
                        </a:lnSpc>
                        <a:spcBef>
                          <a:spcPts val="0"/>
                        </a:spcBef>
                        <a:spcAft>
                          <a:spcPts val="0"/>
                        </a:spcAft>
                      </a:pPr>
                      <a:r>
                        <a:rPr lang="ko-KR" altLang="en-US" sz="1400" kern="0" spc="-100" dirty="0">
                          <a:effectLst/>
                        </a:rPr>
                        <a:t>교체</a:t>
                      </a:r>
                      <a:endParaRPr lang="ko-KR" altLang="en-US" sz="1400" kern="0" spc="-100" dirty="0">
                        <a:solidFill>
                          <a:srgbClr val="000000"/>
                        </a:solidFill>
                        <a:effectLst/>
                        <a:latin typeface="+mn-ea"/>
                        <a:ea typeface="+mn-ea"/>
                      </a:endParaRPr>
                    </a:p>
                  </a:txBody>
                  <a:tcPr marL="36405" marR="36405" marT="10065" marB="10065"/>
                </a:tc>
                <a:tc>
                  <a:txBody>
                    <a:bodyPr/>
                    <a:lstStyle/>
                    <a:p>
                      <a:pPr marL="31750" marR="31750" indent="0" algn="l" fontAlgn="base" latinLnBrk="1">
                        <a:lnSpc>
                          <a:spcPct val="130000"/>
                        </a:lnSpc>
                        <a:spcBef>
                          <a:spcPts val="0"/>
                        </a:spcBef>
                        <a:spcAft>
                          <a:spcPts val="0"/>
                        </a:spcAft>
                      </a:pPr>
                      <a:r>
                        <a:rPr lang="ko-KR" altLang="en-US" sz="1400" kern="0" spc="-70" dirty="0">
                          <a:effectLst/>
                        </a:rPr>
                        <a:t>국어번역문을 제출한 특허출원인은 기한 이전에 그 국어번역문을 갈음하여 새로운 국어번역문을 제출할 수 있다</a:t>
                      </a:r>
                      <a:r>
                        <a:rPr lang="en-US" altLang="ko-KR" sz="1400" kern="0" spc="-70" dirty="0">
                          <a:effectLst/>
                        </a:rPr>
                        <a:t>. </a:t>
                      </a:r>
                      <a:r>
                        <a:rPr lang="ko-KR" altLang="en-US" sz="1400" kern="0" spc="-70" dirty="0">
                          <a:effectLst/>
                        </a:rPr>
                        <a:t>다만</a:t>
                      </a:r>
                      <a:r>
                        <a:rPr lang="en-US" altLang="ko-KR" sz="1400" kern="0" spc="-70" dirty="0">
                          <a:effectLst/>
                        </a:rPr>
                        <a:t>, </a:t>
                      </a:r>
                      <a:r>
                        <a:rPr lang="ko-KR" altLang="en-US" sz="1400" kern="0" spc="-70" dirty="0">
                          <a:effectLst/>
                        </a:rPr>
                        <a:t>다음의 어느 하나에 해당하는 경우에는 그러하지 아니하다</a:t>
                      </a:r>
                      <a:r>
                        <a:rPr lang="en-US" altLang="ko-KR" sz="1400" kern="0" spc="-70" dirty="0">
                          <a:effectLst/>
                        </a:rPr>
                        <a:t>(</a:t>
                      </a:r>
                      <a:r>
                        <a:rPr lang="ko-KR" altLang="en-US" sz="1400" kern="0" spc="-70" dirty="0">
                          <a:effectLst/>
                        </a:rPr>
                        <a:t>法 </a:t>
                      </a:r>
                      <a:r>
                        <a:rPr lang="en-US" altLang="ko-KR" sz="1400" kern="0" spc="-70" dirty="0">
                          <a:effectLst/>
                        </a:rPr>
                        <a:t>42</a:t>
                      </a:r>
                      <a:r>
                        <a:rPr lang="ko-KR" altLang="en-US" sz="1400" kern="0" spc="-70" dirty="0">
                          <a:effectLst/>
                        </a:rPr>
                        <a:t>의</a:t>
                      </a:r>
                      <a:r>
                        <a:rPr lang="en-US" altLang="ko-KR" sz="1400" kern="0" spc="-70" dirty="0">
                          <a:effectLst/>
                        </a:rPr>
                        <a:t>3</a:t>
                      </a:r>
                      <a:r>
                        <a:rPr lang="ko-KR" altLang="en-US" sz="1400" kern="0" spc="-70" dirty="0">
                          <a:effectLst/>
                        </a:rPr>
                        <a:t>③</a:t>
                      </a:r>
                      <a:r>
                        <a:rPr lang="en-US" altLang="ko-KR" sz="1400" kern="0" spc="-70" dirty="0">
                          <a:effectLst/>
                        </a:rPr>
                        <a:t>).</a:t>
                      </a:r>
                      <a:endParaRPr lang="ko-KR" altLang="en-US" sz="1400" kern="0" spc="-70" dirty="0">
                        <a:effectLst/>
                      </a:endParaRPr>
                    </a:p>
                    <a:p>
                      <a:pPr marL="167640" marR="31750" indent="-167640" algn="l" fontAlgn="base" latinLnBrk="1">
                        <a:lnSpc>
                          <a:spcPct val="130000"/>
                        </a:lnSpc>
                        <a:spcBef>
                          <a:spcPts val="0"/>
                        </a:spcBef>
                        <a:spcAft>
                          <a:spcPts val="0"/>
                        </a:spcAft>
                      </a:pPr>
                      <a:r>
                        <a:rPr lang="en-US" altLang="ko-KR" sz="1400" kern="0" spc="-90" dirty="0">
                          <a:effectLst/>
                        </a:rPr>
                        <a:t>ⅰ) </a:t>
                      </a:r>
                      <a:r>
                        <a:rPr lang="ko-KR" altLang="en-US" sz="1400" kern="0" spc="-90" dirty="0">
                          <a:effectLst/>
                        </a:rPr>
                        <a:t>명세서 또는 도면을 보정</a:t>
                      </a:r>
                      <a:r>
                        <a:rPr lang="en-US" altLang="ko-KR" sz="1400" kern="0" spc="-90" dirty="0">
                          <a:effectLst/>
                        </a:rPr>
                        <a:t>(</a:t>
                      </a:r>
                      <a:r>
                        <a:rPr lang="ko-KR" altLang="en-US" sz="1400" kern="0" spc="-90" dirty="0">
                          <a:effectLst/>
                        </a:rPr>
                        <a:t>제</a:t>
                      </a:r>
                      <a:r>
                        <a:rPr lang="en-US" altLang="ko-KR" sz="1400" kern="0" spc="-90" dirty="0">
                          <a:effectLst/>
                        </a:rPr>
                        <a:t>5</a:t>
                      </a:r>
                      <a:r>
                        <a:rPr lang="ko-KR" altLang="en-US" sz="1400" kern="0" spc="-90" dirty="0">
                          <a:effectLst/>
                        </a:rPr>
                        <a:t>항에 따라 보정한 것으로 보는 경우는 제외</a:t>
                      </a:r>
                      <a:r>
                        <a:rPr lang="en-US" altLang="ko-KR" sz="1400" kern="0" spc="-90" dirty="0">
                          <a:effectLst/>
                        </a:rPr>
                        <a:t>)</a:t>
                      </a:r>
                      <a:r>
                        <a:rPr lang="ko-KR" altLang="en-US" sz="1400" kern="0" spc="-90" dirty="0">
                          <a:effectLst/>
                        </a:rPr>
                        <a:t>한 경우</a:t>
                      </a:r>
                    </a:p>
                    <a:p>
                      <a:pPr marL="177800" marR="31750" indent="-177800" algn="l" fontAlgn="base" latinLnBrk="1">
                        <a:lnSpc>
                          <a:spcPct val="130000"/>
                        </a:lnSpc>
                        <a:spcBef>
                          <a:spcPts val="0"/>
                        </a:spcBef>
                        <a:spcAft>
                          <a:spcPts val="0"/>
                        </a:spcAft>
                      </a:pPr>
                      <a:r>
                        <a:rPr lang="en-US" altLang="ko-KR" sz="1400" kern="0" spc="-130" dirty="0">
                          <a:effectLst/>
                        </a:rPr>
                        <a:t>ⅱ)  </a:t>
                      </a:r>
                      <a:r>
                        <a:rPr lang="ko-KR" altLang="en-US" sz="1400" kern="0" spc="-130" dirty="0">
                          <a:effectLst/>
                        </a:rPr>
                        <a:t>특허출원인이 </a:t>
                      </a:r>
                      <a:r>
                        <a:rPr lang="ko-KR" altLang="en-US" sz="1400" kern="0" spc="-130" dirty="0" err="1">
                          <a:effectLst/>
                        </a:rPr>
                        <a:t>출원심사의</a:t>
                      </a:r>
                      <a:r>
                        <a:rPr lang="ko-KR" altLang="en-US" sz="1400" kern="0" spc="-130" dirty="0">
                          <a:effectLst/>
                        </a:rPr>
                        <a:t> 청구를 한 경우</a:t>
                      </a:r>
                      <a:endParaRPr lang="ko-KR" altLang="en-US" sz="1400" kern="0" spc="-130" dirty="0">
                        <a:solidFill>
                          <a:srgbClr val="000000"/>
                        </a:solidFill>
                        <a:effectLst/>
                        <a:latin typeface="+mn-ea"/>
                        <a:ea typeface="+mn-ea"/>
                      </a:endParaRPr>
                    </a:p>
                  </a:txBody>
                  <a:tcPr marL="36405" marR="36405" marT="10065" marB="10065"/>
                </a:tc>
                <a:tc>
                  <a:txBody>
                    <a:bodyPr/>
                    <a:lstStyle/>
                    <a:p>
                      <a:pPr marL="31750" marR="31750" indent="0" algn="l" fontAlgn="base" latinLnBrk="1">
                        <a:lnSpc>
                          <a:spcPct val="130000"/>
                        </a:lnSpc>
                        <a:spcBef>
                          <a:spcPts val="0"/>
                        </a:spcBef>
                        <a:spcAft>
                          <a:spcPts val="0"/>
                        </a:spcAft>
                      </a:pPr>
                      <a:r>
                        <a:rPr lang="ko-KR" altLang="en-US" sz="1400" kern="0" spc="-100" dirty="0">
                          <a:effectLst/>
                        </a:rPr>
                        <a:t>국어번역문을 제출한 </a:t>
                      </a:r>
                      <a:r>
                        <a:rPr lang="ko-KR" altLang="en-US" sz="1400" kern="0" spc="-100" dirty="0" err="1">
                          <a:effectLst/>
                        </a:rPr>
                        <a:t>출원인은</a:t>
                      </a:r>
                      <a:r>
                        <a:rPr lang="ko-KR" altLang="en-US" sz="1400" kern="0" spc="-100" dirty="0">
                          <a:effectLst/>
                        </a:rPr>
                        <a:t> 국내서면제출기간</a:t>
                      </a:r>
                      <a:r>
                        <a:rPr lang="en-US" altLang="ko-KR" sz="1400" kern="0" spc="-60" dirty="0">
                          <a:effectLst/>
                        </a:rPr>
                        <a:t>(</a:t>
                      </a:r>
                      <a:r>
                        <a:rPr lang="ko-KR" altLang="en-US" sz="1400" kern="0" spc="-100" dirty="0">
                          <a:effectLst/>
                        </a:rPr>
                        <a:t>제</a:t>
                      </a:r>
                      <a:r>
                        <a:rPr lang="en-US" altLang="ko-KR" sz="1400" kern="0" spc="-60" dirty="0">
                          <a:effectLst/>
                        </a:rPr>
                        <a:t>1</a:t>
                      </a:r>
                      <a:r>
                        <a:rPr lang="ko-KR" altLang="en-US" sz="1400" kern="0" spc="-100" dirty="0">
                          <a:effectLst/>
                        </a:rPr>
                        <a:t>항 단서에 따라 취지를 적은 서면이 제출된 경우에는 연장된 </a:t>
                      </a:r>
                      <a:r>
                        <a:rPr lang="ko-KR" altLang="en-US" sz="1400" kern="0" spc="-100" dirty="0" err="1">
                          <a:effectLst/>
                        </a:rPr>
                        <a:t>국어번역문</a:t>
                      </a:r>
                      <a:r>
                        <a:rPr lang="ko-KR" altLang="en-US" sz="1400" kern="0" spc="-100" dirty="0">
                          <a:effectLst/>
                        </a:rPr>
                        <a:t> 제출 기간을 말한다</a:t>
                      </a:r>
                      <a:r>
                        <a:rPr lang="en-US" altLang="ko-KR" sz="1400" kern="0" spc="-60" dirty="0">
                          <a:effectLst/>
                        </a:rPr>
                        <a:t>. </a:t>
                      </a:r>
                      <a:r>
                        <a:rPr lang="ko-KR" altLang="en-US" sz="1400" kern="0" spc="-100" dirty="0">
                          <a:effectLst/>
                        </a:rPr>
                        <a:t>이하 이 조에서 같다</a:t>
                      </a:r>
                      <a:r>
                        <a:rPr lang="en-US" altLang="ko-KR" sz="1400" kern="0" spc="-60" dirty="0">
                          <a:effectLst/>
                        </a:rPr>
                        <a:t>)</a:t>
                      </a:r>
                      <a:r>
                        <a:rPr lang="ko-KR" altLang="en-US" sz="1400" kern="0" spc="-100" dirty="0">
                          <a:effectLst/>
                        </a:rPr>
                        <a:t>에 그 국어번역문을 갈음하여 새로운 국어번역문을 제출할 수 있다</a:t>
                      </a:r>
                      <a:r>
                        <a:rPr lang="en-US" altLang="ko-KR" sz="1400" kern="0" spc="-60" dirty="0">
                          <a:effectLst/>
                        </a:rPr>
                        <a:t>. </a:t>
                      </a:r>
                      <a:r>
                        <a:rPr lang="ko-KR" altLang="en-US" sz="1400" kern="0" spc="-100" dirty="0">
                          <a:effectLst/>
                        </a:rPr>
                        <a:t>다만</a:t>
                      </a:r>
                      <a:r>
                        <a:rPr lang="en-US" altLang="ko-KR" sz="1400" kern="0" spc="-60" dirty="0">
                          <a:effectLst/>
                        </a:rPr>
                        <a:t>, </a:t>
                      </a:r>
                      <a:r>
                        <a:rPr lang="ko-KR" altLang="en-US" sz="1400" kern="0" spc="-100" dirty="0" err="1">
                          <a:effectLst/>
                        </a:rPr>
                        <a:t>출원인이</a:t>
                      </a:r>
                      <a:r>
                        <a:rPr lang="ko-KR" altLang="en-US" sz="1400" kern="0" spc="-100" dirty="0">
                          <a:effectLst/>
                        </a:rPr>
                        <a:t> </a:t>
                      </a:r>
                      <a:r>
                        <a:rPr lang="ko-KR" altLang="en-US" sz="1400" kern="0" spc="-100" dirty="0" err="1">
                          <a:effectLst/>
                        </a:rPr>
                        <a:t>출원심사의</a:t>
                      </a:r>
                      <a:r>
                        <a:rPr lang="ko-KR" altLang="en-US" sz="1400" kern="0" spc="-100" dirty="0">
                          <a:effectLst/>
                        </a:rPr>
                        <a:t> 청구를 한 후에는 그러하지 아니하다</a:t>
                      </a:r>
                      <a:r>
                        <a:rPr lang="en-US" altLang="ko-KR" sz="1400" kern="0" spc="-60" dirty="0">
                          <a:effectLst/>
                        </a:rPr>
                        <a:t>(</a:t>
                      </a:r>
                      <a:r>
                        <a:rPr lang="ko-KR" altLang="en-US" sz="1400" kern="0" spc="-60" dirty="0">
                          <a:effectLst/>
                        </a:rPr>
                        <a:t>法 </a:t>
                      </a:r>
                      <a:r>
                        <a:rPr lang="en-US" altLang="ko-KR" sz="1400" kern="0" spc="-60" dirty="0">
                          <a:effectLst/>
                        </a:rPr>
                        <a:t>201</a:t>
                      </a:r>
                      <a:r>
                        <a:rPr lang="ko-KR" altLang="en-US" sz="1400" kern="0" spc="-60" dirty="0">
                          <a:effectLst/>
                        </a:rPr>
                        <a:t>③</a:t>
                      </a:r>
                      <a:r>
                        <a:rPr lang="en-US" altLang="ko-KR" sz="1400" kern="0" spc="-60" dirty="0">
                          <a:effectLst/>
                        </a:rPr>
                        <a:t>).</a:t>
                      </a:r>
                      <a:endParaRPr lang="ko-KR" altLang="en-US" sz="1400" kern="0" spc="-60" dirty="0">
                        <a:solidFill>
                          <a:srgbClr val="000000"/>
                        </a:solidFill>
                        <a:effectLst/>
                        <a:latin typeface="+mn-ea"/>
                        <a:ea typeface="+mn-ea"/>
                      </a:endParaRPr>
                    </a:p>
                  </a:txBody>
                  <a:tcPr marL="36405" marR="36405" marT="10065" marB="10065"/>
                </a:tc>
                <a:extLst>
                  <a:ext uri="{0D108BD9-81ED-4DB2-BD59-A6C34878D82A}">
                    <a16:rowId xmlns:a16="http://schemas.microsoft.com/office/drawing/2014/main" val="297125106"/>
                  </a:ext>
                </a:extLst>
              </a:tr>
            </a:tbl>
          </a:graphicData>
        </a:graphic>
      </p:graphicFrame>
      <p:sp>
        <p:nvSpPr>
          <p:cNvPr id="3" name="슬라이드 번호 개체 틀 2"/>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574</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2147191100"/>
      </p:ext>
    </p:extLst>
  </p:cSld>
  <p:clrMapOvr>
    <a:masterClrMapping/>
  </p:clrMapOvr>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a:spLocks noGrp="1"/>
          </p:cNvSpPr>
          <p:nvPr>
            <p:ph type="title"/>
          </p:nvPr>
        </p:nvSpPr>
        <p:spPr/>
        <p:txBody>
          <a:bodyPr/>
          <a:lstStyle/>
          <a:p>
            <a:r>
              <a:rPr lang="ko-KR" altLang="en-US" dirty="0"/>
              <a:t>제</a:t>
            </a:r>
            <a:r>
              <a:rPr lang="en-US" altLang="ko-KR" dirty="0"/>
              <a:t>201</a:t>
            </a:r>
            <a:r>
              <a:rPr lang="ko-KR" altLang="en-US" dirty="0"/>
              <a:t>조</a:t>
            </a:r>
          </a:p>
        </p:txBody>
      </p:sp>
      <p:sp>
        <p:nvSpPr>
          <p:cNvPr id="5" name="텍스트 개체 틀 4"/>
          <p:cNvSpPr>
            <a:spLocks noGrp="1"/>
          </p:cNvSpPr>
          <p:nvPr>
            <p:ph type="body" sz="quarter" idx="13"/>
          </p:nvPr>
        </p:nvSpPr>
        <p:spPr/>
        <p:txBody>
          <a:bodyPr/>
          <a:lstStyle/>
          <a:p>
            <a:r>
              <a:rPr lang="ko-KR" altLang="en-US" dirty="0"/>
              <a:t>제</a:t>
            </a:r>
            <a:r>
              <a:rPr lang="en-US" altLang="ko-KR" dirty="0"/>
              <a:t>42</a:t>
            </a:r>
            <a:r>
              <a:rPr lang="ko-KR" altLang="en-US" dirty="0"/>
              <a:t>조의</a:t>
            </a:r>
            <a:r>
              <a:rPr lang="en-US" altLang="ko-KR" dirty="0"/>
              <a:t>3 vs </a:t>
            </a:r>
            <a:r>
              <a:rPr lang="ko-KR" altLang="en-US" dirty="0"/>
              <a:t>제</a:t>
            </a:r>
            <a:r>
              <a:rPr lang="en-US" altLang="ko-KR" dirty="0"/>
              <a:t>201</a:t>
            </a:r>
            <a:r>
              <a:rPr lang="ko-KR" altLang="en-US" dirty="0"/>
              <a:t>조</a:t>
            </a:r>
          </a:p>
        </p:txBody>
      </p:sp>
      <p:graphicFrame>
        <p:nvGraphicFramePr>
          <p:cNvPr id="2" name="표 1"/>
          <p:cNvGraphicFramePr>
            <a:graphicFrameLocks noGrp="1"/>
          </p:cNvGraphicFramePr>
          <p:nvPr/>
        </p:nvGraphicFramePr>
        <p:xfrm>
          <a:off x="292100" y="987424"/>
          <a:ext cx="11709400" cy="5438775"/>
        </p:xfrm>
        <a:graphic>
          <a:graphicData uri="http://schemas.openxmlformats.org/drawingml/2006/table">
            <a:tbl>
              <a:tblPr>
                <a:tableStyleId>{8799B23B-EC83-4686-B30A-512413B5E67A}</a:tableStyleId>
              </a:tblPr>
              <a:tblGrid>
                <a:gridCol w="457200">
                  <a:extLst>
                    <a:ext uri="{9D8B030D-6E8A-4147-A177-3AD203B41FA5}">
                      <a16:colId xmlns:a16="http://schemas.microsoft.com/office/drawing/2014/main" val="2842912106"/>
                    </a:ext>
                  </a:extLst>
                </a:gridCol>
                <a:gridCol w="5539591">
                  <a:extLst>
                    <a:ext uri="{9D8B030D-6E8A-4147-A177-3AD203B41FA5}">
                      <a16:colId xmlns:a16="http://schemas.microsoft.com/office/drawing/2014/main" val="2904194224"/>
                    </a:ext>
                  </a:extLst>
                </a:gridCol>
                <a:gridCol w="5712609">
                  <a:extLst>
                    <a:ext uri="{9D8B030D-6E8A-4147-A177-3AD203B41FA5}">
                      <a16:colId xmlns:a16="http://schemas.microsoft.com/office/drawing/2014/main" val="3266953995"/>
                    </a:ext>
                  </a:extLst>
                </a:gridCol>
              </a:tblGrid>
              <a:tr h="304451">
                <a:tc>
                  <a:txBody>
                    <a:bodyPr/>
                    <a:lstStyle/>
                    <a:p>
                      <a:pPr marL="0" marR="0" indent="0" algn="ctr" fontAlgn="base" latinLnBrk="0">
                        <a:lnSpc>
                          <a:spcPct val="120000"/>
                        </a:lnSpc>
                        <a:spcBef>
                          <a:spcPts val="0"/>
                        </a:spcBef>
                        <a:spcAft>
                          <a:spcPts val="0"/>
                        </a:spcAft>
                      </a:pPr>
                      <a:r>
                        <a:rPr lang="ko-KR" altLang="en-US" sz="1400" kern="0" spc="-100" dirty="0">
                          <a:effectLst/>
                        </a:rPr>
                        <a:t>구분</a:t>
                      </a:r>
                      <a:endParaRPr lang="ko-KR" altLang="en-US" sz="1400" kern="0" spc="-100" dirty="0">
                        <a:solidFill>
                          <a:srgbClr val="000000"/>
                        </a:solidFill>
                        <a:effectLst/>
                        <a:latin typeface="+mn-ea"/>
                        <a:ea typeface="+mn-ea"/>
                      </a:endParaRPr>
                    </a:p>
                  </a:txBody>
                  <a:tcPr marL="36405" marR="36405" marT="10065" marB="10065"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0" spc="-100" dirty="0">
                          <a:effectLst/>
                        </a:rPr>
                        <a:t>외국어특허출원</a:t>
                      </a:r>
                      <a:r>
                        <a:rPr lang="en-US" altLang="ko-KR" sz="1400" kern="0" spc="-100" dirty="0">
                          <a:effectLst/>
                        </a:rPr>
                        <a:t>(</a:t>
                      </a:r>
                      <a:r>
                        <a:rPr lang="ko-KR" altLang="en-US" sz="1400" kern="0" spc="-100" dirty="0">
                          <a:effectLst/>
                        </a:rPr>
                        <a:t>法 </a:t>
                      </a:r>
                      <a:r>
                        <a:rPr lang="en-US" altLang="ko-KR" sz="1400" kern="0" spc="-100" dirty="0">
                          <a:effectLst/>
                        </a:rPr>
                        <a:t>42</a:t>
                      </a:r>
                      <a:r>
                        <a:rPr lang="ko-KR" altLang="en-US" sz="1400" kern="0" spc="-100" dirty="0">
                          <a:effectLst/>
                        </a:rPr>
                        <a:t>의</a:t>
                      </a:r>
                      <a:r>
                        <a:rPr lang="en-US" altLang="ko-KR" sz="1400" kern="0" spc="-100" dirty="0">
                          <a:effectLst/>
                        </a:rPr>
                        <a:t>3)</a:t>
                      </a:r>
                      <a:endParaRPr lang="ko-KR" altLang="en-US" sz="1400" kern="0" spc="-100" dirty="0">
                        <a:solidFill>
                          <a:srgbClr val="000000"/>
                        </a:solidFill>
                        <a:effectLst/>
                        <a:latin typeface="+mn-ea"/>
                        <a:ea typeface="+mn-ea"/>
                      </a:endParaRPr>
                    </a:p>
                  </a:txBody>
                  <a:tcPr marL="36405" marR="36405" marT="10065" marB="10065" anchor="ctr">
                    <a:solidFill>
                      <a:schemeClr val="accent1">
                        <a:lumMod val="20000"/>
                        <a:lumOff val="80000"/>
                      </a:schemeClr>
                    </a:solidFill>
                  </a:tcPr>
                </a:tc>
                <a:tc>
                  <a:txBody>
                    <a:bodyPr/>
                    <a:lstStyle/>
                    <a:p>
                      <a:pPr marL="0" marR="0" indent="0" algn="ctr" fontAlgn="base" latinLnBrk="0">
                        <a:lnSpc>
                          <a:spcPct val="130000"/>
                        </a:lnSpc>
                        <a:spcBef>
                          <a:spcPts val="0"/>
                        </a:spcBef>
                        <a:spcAft>
                          <a:spcPts val="0"/>
                        </a:spcAft>
                      </a:pPr>
                      <a:r>
                        <a:rPr lang="ko-KR" altLang="en-US" sz="1400" kern="0" spc="-100" dirty="0">
                          <a:effectLst/>
                        </a:rPr>
                        <a:t>외국어국제특허출원</a:t>
                      </a:r>
                      <a:r>
                        <a:rPr lang="en-US" altLang="ko-KR" sz="1400" kern="0" spc="-100" dirty="0">
                          <a:effectLst/>
                        </a:rPr>
                        <a:t>(</a:t>
                      </a:r>
                      <a:r>
                        <a:rPr lang="ko-KR" altLang="en-US" sz="1400" kern="0" spc="-100" dirty="0">
                          <a:effectLst/>
                        </a:rPr>
                        <a:t>法 </a:t>
                      </a:r>
                      <a:r>
                        <a:rPr lang="en-US" altLang="ko-KR" sz="1400" kern="0" spc="-100" dirty="0">
                          <a:effectLst/>
                        </a:rPr>
                        <a:t>201)</a:t>
                      </a:r>
                      <a:endParaRPr lang="ko-KR" altLang="en-US" sz="1400" kern="0" spc="-100" dirty="0">
                        <a:solidFill>
                          <a:srgbClr val="000000"/>
                        </a:solidFill>
                        <a:effectLst/>
                        <a:latin typeface="+mn-ea"/>
                        <a:ea typeface="+mn-ea"/>
                      </a:endParaRPr>
                    </a:p>
                  </a:txBody>
                  <a:tcPr marL="36405" marR="36405" marT="10065" marB="10065" anchor="ctr">
                    <a:solidFill>
                      <a:schemeClr val="accent1">
                        <a:lumMod val="20000"/>
                        <a:lumOff val="80000"/>
                      </a:schemeClr>
                    </a:solidFill>
                  </a:tcPr>
                </a:tc>
                <a:extLst>
                  <a:ext uri="{0D108BD9-81ED-4DB2-BD59-A6C34878D82A}">
                    <a16:rowId xmlns:a16="http://schemas.microsoft.com/office/drawing/2014/main" val="844225404"/>
                  </a:ext>
                </a:extLst>
              </a:tr>
              <a:tr h="852673">
                <a:tc>
                  <a:txBody>
                    <a:bodyPr/>
                    <a:lstStyle/>
                    <a:p>
                      <a:pPr marL="0" marR="0" indent="0" algn="ctr" fontAlgn="base" latinLnBrk="0">
                        <a:lnSpc>
                          <a:spcPct val="120000"/>
                        </a:lnSpc>
                        <a:spcBef>
                          <a:spcPts val="0"/>
                        </a:spcBef>
                        <a:spcAft>
                          <a:spcPts val="0"/>
                        </a:spcAft>
                      </a:pPr>
                      <a:r>
                        <a:rPr lang="ko-KR" altLang="en-US" sz="1400" kern="0" spc="-100" dirty="0" err="1">
                          <a:effectLst/>
                        </a:rPr>
                        <a:t>부제출</a:t>
                      </a:r>
                      <a:endParaRPr lang="ko-KR" altLang="en-US" sz="1400" kern="0" spc="-100" dirty="0">
                        <a:effectLst/>
                      </a:endParaRPr>
                    </a:p>
                    <a:p>
                      <a:pPr marL="0" marR="0" indent="0" algn="ctr" fontAlgn="base" latinLnBrk="0">
                        <a:lnSpc>
                          <a:spcPct val="120000"/>
                        </a:lnSpc>
                        <a:spcBef>
                          <a:spcPts val="0"/>
                        </a:spcBef>
                        <a:spcAft>
                          <a:spcPts val="0"/>
                        </a:spcAft>
                      </a:pPr>
                      <a:r>
                        <a:rPr lang="ko-KR" altLang="en-US" sz="1400" kern="0" spc="-100" dirty="0">
                          <a:effectLst/>
                        </a:rPr>
                        <a:t>효과</a:t>
                      </a:r>
                      <a:endParaRPr lang="ko-KR" altLang="en-US" sz="1400" kern="0" spc="-100" dirty="0">
                        <a:solidFill>
                          <a:srgbClr val="000000"/>
                        </a:solidFill>
                        <a:effectLst/>
                        <a:latin typeface="+mn-ea"/>
                        <a:ea typeface="+mn-ea"/>
                      </a:endParaRPr>
                    </a:p>
                  </a:txBody>
                  <a:tcPr marL="36405" marR="36405" marT="10065" marB="10065"/>
                </a:tc>
                <a:tc>
                  <a:txBody>
                    <a:bodyPr/>
                    <a:lstStyle/>
                    <a:p>
                      <a:pPr marL="31750" marR="31750" indent="0" algn="l" fontAlgn="base" latinLnBrk="1">
                        <a:lnSpc>
                          <a:spcPct val="130000"/>
                        </a:lnSpc>
                        <a:spcBef>
                          <a:spcPts val="0"/>
                        </a:spcBef>
                        <a:spcAft>
                          <a:spcPts val="0"/>
                        </a:spcAft>
                      </a:pPr>
                      <a:r>
                        <a:rPr lang="ko-KR" altLang="en-US" sz="1400" kern="0" spc="-140" dirty="0">
                          <a:effectLst/>
                        </a:rPr>
                        <a:t>특허출원인이 명세서의 국어번역문을 제출하지 아니한 경우에는 기한이 되는 날의 다음 날에 해당 특허출원을 취하한 것으로 본다</a:t>
                      </a:r>
                      <a:r>
                        <a:rPr lang="en-US" altLang="ko-KR" sz="1400" kern="0" spc="-140" dirty="0">
                          <a:effectLst/>
                        </a:rPr>
                        <a:t>(</a:t>
                      </a:r>
                      <a:r>
                        <a:rPr lang="ko-KR" altLang="en-US" sz="1400" kern="0" spc="-140" dirty="0">
                          <a:effectLst/>
                        </a:rPr>
                        <a:t>法 </a:t>
                      </a:r>
                      <a:r>
                        <a:rPr lang="en-US" altLang="ko-KR" sz="1400" kern="0" spc="-140" dirty="0">
                          <a:effectLst/>
                        </a:rPr>
                        <a:t>42</a:t>
                      </a:r>
                      <a:r>
                        <a:rPr lang="ko-KR" altLang="en-US" sz="1400" kern="0" spc="-140" dirty="0">
                          <a:effectLst/>
                        </a:rPr>
                        <a:t>의</a:t>
                      </a:r>
                      <a:r>
                        <a:rPr lang="en-US" altLang="ko-KR" sz="1400" kern="0" spc="-140" dirty="0">
                          <a:effectLst/>
                        </a:rPr>
                        <a:t>3</a:t>
                      </a:r>
                      <a:r>
                        <a:rPr lang="ko-KR" altLang="en-US" sz="1400" kern="0" spc="-140" dirty="0">
                          <a:effectLst/>
                        </a:rPr>
                        <a:t>④</a:t>
                      </a:r>
                      <a:r>
                        <a:rPr lang="en-US" altLang="ko-KR" sz="1400" kern="0" spc="-140" dirty="0">
                          <a:effectLst/>
                        </a:rPr>
                        <a:t>).</a:t>
                      </a:r>
                      <a:endParaRPr lang="ko-KR" altLang="en-US" sz="1400" kern="0" spc="-140" dirty="0">
                        <a:solidFill>
                          <a:srgbClr val="000000"/>
                        </a:solidFill>
                        <a:effectLst/>
                        <a:latin typeface="+mn-ea"/>
                        <a:ea typeface="+mn-ea"/>
                      </a:endParaRPr>
                    </a:p>
                  </a:txBody>
                  <a:tcPr marL="36405" marR="36405" marT="10065" marB="10065"/>
                </a:tc>
                <a:tc>
                  <a:txBody>
                    <a:bodyPr/>
                    <a:lstStyle/>
                    <a:p>
                      <a:pPr marL="31750" marR="31750" indent="0" algn="l" fontAlgn="base" latinLnBrk="1">
                        <a:lnSpc>
                          <a:spcPct val="130000"/>
                        </a:lnSpc>
                        <a:spcBef>
                          <a:spcPts val="0"/>
                        </a:spcBef>
                        <a:spcAft>
                          <a:spcPts val="0"/>
                        </a:spcAft>
                      </a:pPr>
                      <a:r>
                        <a:rPr lang="ko-KR" altLang="en-US" sz="1400" kern="0" spc="-100">
                          <a:effectLst/>
                        </a:rPr>
                        <a:t>출원인이 국내서면제출기간에 제</a:t>
                      </a:r>
                      <a:r>
                        <a:rPr lang="en-US" altLang="ko-KR" sz="1400" kern="0" spc="-60">
                          <a:effectLst/>
                        </a:rPr>
                        <a:t>1</a:t>
                      </a:r>
                      <a:r>
                        <a:rPr lang="ko-KR" altLang="en-US" sz="1400" kern="0" spc="-100">
                          <a:effectLst/>
                        </a:rPr>
                        <a:t>항에 따른 발명의 설명 및 청구범위의 국어번역문을 제출하지 아니하면 그 국제특허출원을 취하한 것으로 본다</a:t>
                      </a:r>
                      <a:r>
                        <a:rPr lang="en-US" altLang="ko-KR" sz="1400" kern="0" spc="-60">
                          <a:effectLst/>
                        </a:rPr>
                        <a:t>(</a:t>
                      </a:r>
                      <a:r>
                        <a:rPr lang="ko-KR" altLang="en-US" sz="1400" kern="0" spc="-60">
                          <a:effectLst/>
                        </a:rPr>
                        <a:t>法 </a:t>
                      </a:r>
                      <a:r>
                        <a:rPr lang="en-US" altLang="ko-KR" sz="1400" kern="0" spc="-60">
                          <a:effectLst/>
                        </a:rPr>
                        <a:t>201</a:t>
                      </a:r>
                      <a:r>
                        <a:rPr lang="ko-KR" altLang="en-US" sz="1400" kern="0" spc="-60">
                          <a:effectLst/>
                        </a:rPr>
                        <a:t>④</a:t>
                      </a:r>
                      <a:r>
                        <a:rPr lang="en-US" altLang="ko-KR" sz="1400" kern="0" spc="-60">
                          <a:effectLst/>
                        </a:rPr>
                        <a:t>).</a:t>
                      </a:r>
                      <a:endParaRPr lang="ko-KR" altLang="en-US" sz="1400" kern="0" spc="-60">
                        <a:solidFill>
                          <a:srgbClr val="000000"/>
                        </a:solidFill>
                        <a:effectLst/>
                        <a:latin typeface="+mn-ea"/>
                        <a:ea typeface="+mn-ea"/>
                      </a:endParaRPr>
                    </a:p>
                  </a:txBody>
                  <a:tcPr marL="36405" marR="36405" marT="10065" marB="10065"/>
                </a:tc>
                <a:extLst>
                  <a:ext uri="{0D108BD9-81ED-4DB2-BD59-A6C34878D82A}">
                    <a16:rowId xmlns:a16="http://schemas.microsoft.com/office/drawing/2014/main" val="974338376"/>
                  </a:ext>
                </a:extLst>
              </a:tr>
              <a:tr h="2446888">
                <a:tc>
                  <a:txBody>
                    <a:bodyPr/>
                    <a:lstStyle/>
                    <a:p>
                      <a:pPr marL="0" marR="0" indent="0" algn="ctr" fontAlgn="base" latinLnBrk="0">
                        <a:lnSpc>
                          <a:spcPct val="120000"/>
                        </a:lnSpc>
                        <a:spcBef>
                          <a:spcPts val="0"/>
                        </a:spcBef>
                        <a:spcAft>
                          <a:spcPts val="0"/>
                        </a:spcAft>
                      </a:pPr>
                      <a:r>
                        <a:rPr lang="ko-KR" altLang="en-US" sz="1400" kern="0" spc="-100" dirty="0">
                          <a:effectLst/>
                        </a:rPr>
                        <a:t>제출</a:t>
                      </a:r>
                    </a:p>
                    <a:p>
                      <a:pPr marL="0" marR="0" indent="0" algn="ctr" fontAlgn="base" latinLnBrk="0">
                        <a:lnSpc>
                          <a:spcPct val="120000"/>
                        </a:lnSpc>
                        <a:spcBef>
                          <a:spcPts val="0"/>
                        </a:spcBef>
                        <a:spcAft>
                          <a:spcPts val="0"/>
                        </a:spcAft>
                      </a:pPr>
                      <a:r>
                        <a:rPr lang="ko-KR" altLang="en-US" sz="1400" kern="0" spc="-100" dirty="0">
                          <a:effectLst/>
                        </a:rPr>
                        <a:t>효과</a:t>
                      </a:r>
                      <a:endParaRPr lang="ko-KR" altLang="en-US" sz="1400" kern="0" spc="-100" dirty="0">
                        <a:solidFill>
                          <a:srgbClr val="000000"/>
                        </a:solidFill>
                        <a:effectLst/>
                        <a:latin typeface="+mn-ea"/>
                        <a:ea typeface="+mn-ea"/>
                      </a:endParaRPr>
                    </a:p>
                  </a:txBody>
                  <a:tcPr marL="36405" marR="36405" marT="10065" marB="10065"/>
                </a:tc>
                <a:tc>
                  <a:txBody>
                    <a:bodyPr/>
                    <a:lstStyle/>
                    <a:p>
                      <a:pPr marL="31750" marR="31750" indent="0" algn="l" fontAlgn="base" latinLnBrk="1">
                        <a:lnSpc>
                          <a:spcPct val="130000"/>
                        </a:lnSpc>
                        <a:spcBef>
                          <a:spcPts val="0"/>
                        </a:spcBef>
                        <a:spcAft>
                          <a:spcPts val="0"/>
                        </a:spcAft>
                      </a:pPr>
                      <a:r>
                        <a:rPr lang="ko-KR" altLang="en-US" sz="1400" kern="0" spc="-130" dirty="0">
                          <a:effectLst/>
                        </a:rPr>
                        <a:t>특허출원인이 제</a:t>
                      </a:r>
                      <a:r>
                        <a:rPr lang="en-US" altLang="ko-KR" sz="1400" kern="0" spc="-130" dirty="0">
                          <a:effectLst/>
                        </a:rPr>
                        <a:t>2</a:t>
                      </a:r>
                      <a:r>
                        <a:rPr lang="ko-KR" altLang="en-US" sz="1400" kern="0" spc="-130" dirty="0">
                          <a:effectLst/>
                        </a:rPr>
                        <a:t>항에 따른 </a:t>
                      </a:r>
                      <a:r>
                        <a:rPr lang="ko-KR" altLang="en-US" sz="1400" kern="0" spc="-130" dirty="0" err="1">
                          <a:effectLst/>
                        </a:rPr>
                        <a:t>국어번역문</a:t>
                      </a:r>
                      <a:r>
                        <a:rPr lang="ko-KR" altLang="en-US" sz="1400" kern="0" spc="-130" dirty="0">
                          <a:effectLst/>
                        </a:rPr>
                        <a:t> 또는 제</a:t>
                      </a:r>
                      <a:r>
                        <a:rPr lang="en-US" altLang="ko-KR" sz="1400" kern="0" spc="-130" dirty="0">
                          <a:effectLst/>
                        </a:rPr>
                        <a:t>3</a:t>
                      </a:r>
                      <a:r>
                        <a:rPr lang="ko-KR" altLang="en-US" sz="1400" kern="0" spc="-130" dirty="0">
                          <a:effectLst/>
                        </a:rPr>
                        <a:t>항 본문에 따른 새로운 국어번역문을 제출한 경우에는 외국어특허출원의 특허출원서에 최초로 첨부한 명세서 및 도면을 그 국어번역문에 따라 보정한 것으로 본다</a:t>
                      </a:r>
                      <a:r>
                        <a:rPr lang="en-US" altLang="ko-KR" sz="1400" kern="0" spc="-130" dirty="0">
                          <a:effectLst/>
                        </a:rPr>
                        <a:t>. </a:t>
                      </a:r>
                      <a:r>
                        <a:rPr lang="ko-KR" altLang="en-US" sz="1400" kern="0" spc="-130" dirty="0">
                          <a:effectLst/>
                        </a:rPr>
                        <a:t>다만</a:t>
                      </a:r>
                      <a:r>
                        <a:rPr lang="en-US" altLang="ko-KR" sz="1400" kern="0" spc="-130" dirty="0">
                          <a:effectLst/>
                        </a:rPr>
                        <a:t>, </a:t>
                      </a:r>
                      <a:r>
                        <a:rPr lang="ko-KR" altLang="en-US" sz="1400" kern="0" spc="-130" dirty="0">
                          <a:effectLst/>
                        </a:rPr>
                        <a:t>제</a:t>
                      </a:r>
                      <a:r>
                        <a:rPr lang="en-US" altLang="ko-KR" sz="1400" kern="0" spc="-130" dirty="0">
                          <a:effectLst/>
                        </a:rPr>
                        <a:t>3</a:t>
                      </a:r>
                      <a:r>
                        <a:rPr lang="ko-KR" altLang="en-US" sz="1400" kern="0" spc="-130" dirty="0">
                          <a:effectLst/>
                        </a:rPr>
                        <a:t>항 본문에 따라 새로운 국어번역문을 제출한 경우에는 마지막 </a:t>
                      </a:r>
                      <a:r>
                        <a:rPr lang="ko-KR" altLang="en-US" sz="1400" kern="0" spc="-130" dirty="0" err="1">
                          <a:effectLst/>
                        </a:rPr>
                        <a:t>국어번역문</a:t>
                      </a:r>
                      <a:r>
                        <a:rPr lang="en-US" altLang="ko-KR" sz="1400" kern="0" spc="-130" dirty="0">
                          <a:effectLst/>
                        </a:rPr>
                        <a:t>(</a:t>
                      </a:r>
                      <a:r>
                        <a:rPr lang="ko-KR" altLang="en-US" sz="1400" kern="0" spc="-130" dirty="0">
                          <a:effectLst/>
                        </a:rPr>
                        <a:t>이하 이 조 및 제</a:t>
                      </a:r>
                      <a:r>
                        <a:rPr lang="en-US" altLang="ko-KR" sz="1400" kern="0" spc="-130" dirty="0">
                          <a:effectLst/>
                        </a:rPr>
                        <a:t>47</a:t>
                      </a:r>
                      <a:r>
                        <a:rPr lang="ko-KR" altLang="en-US" sz="1400" kern="0" spc="-130" dirty="0">
                          <a:effectLst/>
                        </a:rPr>
                        <a:t>조제</a:t>
                      </a:r>
                      <a:r>
                        <a:rPr lang="en-US" altLang="ko-KR" sz="1400" kern="0" spc="-130" dirty="0">
                          <a:effectLst/>
                        </a:rPr>
                        <a:t>2</a:t>
                      </a:r>
                      <a:r>
                        <a:rPr lang="ko-KR" altLang="en-US" sz="1400" kern="0" spc="-130" dirty="0">
                          <a:effectLst/>
                        </a:rPr>
                        <a:t>항 후단에서 </a:t>
                      </a:r>
                      <a:r>
                        <a:rPr lang="en-US" altLang="ko-KR" sz="1400" kern="0" spc="-130" dirty="0">
                          <a:effectLst/>
                        </a:rPr>
                        <a:t>"</a:t>
                      </a:r>
                      <a:r>
                        <a:rPr lang="ko-KR" altLang="en-US" sz="1400" kern="0" spc="-130" dirty="0">
                          <a:effectLst/>
                        </a:rPr>
                        <a:t>최종 </a:t>
                      </a:r>
                      <a:r>
                        <a:rPr lang="ko-KR" altLang="en-US" sz="1400" kern="0" spc="-130" dirty="0" err="1">
                          <a:effectLst/>
                        </a:rPr>
                        <a:t>국어번역문</a:t>
                      </a:r>
                      <a:r>
                        <a:rPr lang="en-US" altLang="ko-KR" sz="1400" kern="0" spc="-130" dirty="0">
                          <a:effectLst/>
                        </a:rPr>
                        <a:t>"</a:t>
                      </a:r>
                      <a:r>
                        <a:rPr lang="ko-KR" altLang="en-US" sz="1400" kern="0" spc="-130" dirty="0">
                          <a:effectLst/>
                        </a:rPr>
                        <a:t>이라 한다</a:t>
                      </a:r>
                      <a:r>
                        <a:rPr lang="en-US" altLang="ko-KR" sz="1400" kern="0" spc="-130" dirty="0">
                          <a:effectLst/>
                        </a:rPr>
                        <a:t>) </a:t>
                      </a:r>
                      <a:r>
                        <a:rPr lang="ko-KR" altLang="en-US" sz="1400" kern="0" spc="-130" dirty="0">
                          <a:effectLst/>
                        </a:rPr>
                        <a:t>전에 제출한 국어번역문에 따라 보정한 것으로 보는 모든 보정은 처음부터 없었던 것으로 본다</a:t>
                      </a:r>
                      <a:r>
                        <a:rPr lang="en-US" altLang="ko-KR" sz="1400" kern="0" spc="-130" dirty="0">
                          <a:effectLst/>
                        </a:rPr>
                        <a:t>(</a:t>
                      </a:r>
                      <a:r>
                        <a:rPr lang="ko-KR" altLang="en-US" sz="1400" kern="0" spc="-130" dirty="0">
                          <a:effectLst/>
                        </a:rPr>
                        <a:t>法 </a:t>
                      </a:r>
                      <a:r>
                        <a:rPr lang="en-US" altLang="ko-KR" sz="1400" kern="0" spc="-130" dirty="0">
                          <a:effectLst/>
                        </a:rPr>
                        <a:t>42</a:t>
                      </a:r>
                      <a:r>
                        <a:rPr lang="ko-KR" altLang="en-US" sz="1400" kern="0" spc="-130" dirty="0">
                          <a:effectLst/>
                        </a:rPr>
                        <a:t>의</a:t>
                      </a:r>
                      <a:r>
                        <a:rPr lang="en-US" altLang="ko-KR" sz="1400" kern="0" spc="-130" dirty="0">
                          <a:effectLst/>
                        </a:rPr>
                        <a:t>3</a:t>
                      </a:r>
                      <a:r>
                        <a:rPr lang="ko-KR" altLang="en-US" sz="1400" kern="0" spc="-130" dirty="0">
                          <a:effectLst/>
                        </a:rPr>
                        <a:t>⑤</a:t>
                      </a:r>
                      <a:r>
                        <a:rPr lang="en-US" altLang="ko-KR" sz="1400" kern="0" spc="-130" dirty="0">
                          <a:effectLst/>
                        </a:rPr>
                        <a:t>).</a:t>
                      </a:r>
                      <a:endParaRPr lang="ko-KR" altLang="en-US" sz="1400" kern="0" spc="-130" dirty="0">
                        <a:solidFill>
                          <a:srgbClr val="000000"/>
                        </a:solidFill>
                        <a:effectLst/>
                        <a:latin typeface="+mn-ea"/>
                        <a:ea typeface="+mn-ea"/>
                      </a:endParaRPr>
                    </a:p>
                  </a:txBody>
                  <a:tcPr marL="36405" marR="36405" marT="10065" marB="10065"/>
                </a:tc>
                <a:tc>
                  <a:txBody>
                    <a:bodyPr/>
                    <a:lstStyle/>
                    <a:p>
                      <a:pPr marL="31750" marR="31750" indent="0" algn="l" fontAlgn="base" latinLnBrk="1">
                        <a:lnSpc>
                          <a:spcPct val="130000"/>
                        </a:lnSpc>
                        <a:spcBef>
                          <a:spcPts val="0"/>
                        </a:spcBef>
                        <a:spcAft>
                          <a:spcPts val="0"/>
                        </a:spcAft>
                      </a:pPr>
                      <a:r>
                        <a:rPr lang="ko-KR" altLang="en-US" sz="1400" kern="0" spc="-80">
                          <a:effectLst/>
                        </a:rPr>
                        <a:t>특허출원인이 국내서면제출기간의 만료일</a:t>
                      </a:r>
                      <a:r>
                        <a:rPr lang="en-US" altLang="ko-KR" sz="1400" kern="0" spc="-80">
                          <a:effectLst/>
                        </a:rPr>
                        <a:t>(</a:t>
                      </a:r>
                      <a:r>
                        <a:rPr lang="ko-KR" altLang="en-US" sz="1400" kern="0" spc="-80">
                          <a:effectLst/>
                        </a:rPr>
                        <a:t>국내서면제출기간에 출원인이 출원심사의 청구를 한 경우에는 그 청구일을 말하며</a:t>
                      </a:r>
                      <a:r>
                        <a:rPr lang="en-US" altLang="ko-KR" sz="1400" kern="0" spc="-80">
                          <a:effectLst/>
                        </a:rPr>
                        <a:t>, </a:t>
                      </a:r>
                      <a:r>
                        <a:rPr lang="ko-KR" altLang="en-US" sz="1400" kern="0" spc="-80">
                          <a:effectLst/>
                        </a:rPr>
                        <a:t>이하 </a:t>
                      </a:r>
                      <a:r>
                        <a:rPr lang="en-US" altLang="ko-KR" sz="1400" kern="0" spc="-80">
                          <a:effectLst/>
                        </a:rPr>
                        <a:t>"</a:t>
                      </a:r>
                      <a:r>
                        <a:rPr lang="ko-KR" altLang="en-US" sz="1400" kern="0" spc="-80">
                          <a:effectLst/>
                        </a:rPr>
                        <a:t>기준일</a:t>
                      </a:r>
                      <a:r>
                        <a:rPr lang="en-US" altLang="ko-KR" sz="1400" kern="0" spc="-80">
                          <a:effectLst/>
                        </a:rPr>
                        <a:t>"</a:t>
                      </a:r>
                      <a:r>
                        <a:rPr lang="ko-KR" altLang="en-US" sz="1400" kern="0" spc="-80">
                          <a:effectLst/>
                        </a:rPr>
                        <a:t>이라 한다</a:t>
                      </a:r>
                      <a:r>
                        <a:rPr lang="en-US" altLang="ko-KR" sz="1400" kern="0" spc="-80">
                          <a:effectLst/>
                        </a:rPr>
                        <a:t>)</a:t>
                      </a:r>
                      <a:r>
                        <a:rPr lang="ko-KR" altLang="en-US" sz="1400" kern="0" spc="-80">
                          <a:effectLst/>
                        </a:rPr>
                        <a:t>까지 제</a:t>
                      </a:r>
                      <a:r>
                        <a:rPr lang="en-US" altLang="ko-KR" sz="1400" kern="0" spc="-80">
                          <a:effectLst/>
                        </a:rPr>
                        <a:t>1</a:t>
                      </a:r>
                      <a:r>
                        <a:rPr lang="ko-KR" altLang="en-US" sz="1400" kern="0" spc="-80">
                          <a:effectLst/>
                        </a:rPr>
                        <a:t>항에 따라 발명의 설명</a:t>
                      </a:r>
                      <a:r>
                        <a:rPr lang="en-US" altLang="ko-KR" sz="1400" kern="0" spc="-80">
                          <a:effectLst/>
                        </a:rPr>
                        <a:t>, </a:t>
                      </a:r>
                      <a:r>
                        <a:rPr lang="ko-KR" altLang="en-US" sz="1400" kern="0" spc="-80">
                          <a:effectLst/>
                        </a:rPr>
                        <a:t>청구범위 및 도면</a:t>
                      </a:r>
                      <a:r>
                        <a:rPr lang="en-US" altLang="ko-KR" sz="1400" kern="0" spc="-80">
                          <a:effectLst/>
                        </a:rPr>
                        <a:t>(</a:t>
                      </a:r>
                      <a:r>
                        <a:rPr lang="ko-KR" altLang="en-US" sz="1400" kern="0" spc="-80">
                          <a:effectLst/>
                        </a:rPr>
                        <a:t>도면 중 설명부분에 한정한다</a:t>
                      </a:r>
                      <a:r>
                        <a:rPr lang="en-US" altLang="ko-KR" sz="1400" kern="0" spc="-80">
                          <a:effectLst/>
                        </a:rPr>
                        <a:t>)</a:t>
                      </a:r>
                      <a:r>
                        <a:rPr lang="ko-KR" altLang="en-US" sz="1400" kern="0" spc="-80">
                          <a:effectLst/>
                        </a:rPr>
                        <a:t>의 국어번역문</a:t>
                      </a:r>
                      <a:r>
                        <a:rPr lang="en-US" altLang="ko-KR" sz="1400" kern="0" spc="-80">
                          <a:effectLst/>
                        </a:rPr>
                        <a:t>(</a:t>
                      </a:r>
                      <a:r>
                        <a:rPr lang="ko-KR" altLang="en-US" sz="1400" kern="0" spc="-80">
                          <a:effectLst/>
                        </a:rPr>
                        <a:t>제</a:t>
                      </a:r>
                      <a:r>
                        <a:rPr lang="en-US" altLang="ko-KR" sz="1400" kern="0" spc="-80">
                          <a:effectLst/>
                        </a:rPr>
                        <a:t>3</a:t>
                      </a:r>
                      <a:r>
                        <a:rPr lang="ko-KR" altLang="en-US" sz="1400" kern="0" spc="-80">
                          <a:effectLst/>
                        </a:rPr>
                        <a:t>항 본문에 따라 새로운 국어번역문을 제출한 경우에는 마지막에 제출한 국어번역문을 말한다</a:t>
                      </a:r>
                      <a:r>
                        <a:rPr lang="en-US" altLang="ko-KR" sz="1400" kern="0" spc="-80">
                          <a:effectLst/>
                        </a:rPr>
                        <a:t>. </a:t>
                      </a:r>
                      <a:r>
                        <a:rPr lang="ko-KR" altLang="en-US" sz="1400" kern="0" spc="-80">
                          <a:effectLst/>
                        </a:rPr>
                        <a:t>이하 이 조에서 </a:t>
                      </a:r>
                      <a:r>
                        <a:rPr lang="en-US" altLang="ko-KR" sz="1400" kern="0" spc="-80">
                          <a:effectLst/>
                        </a:rPr>
                        <a:t>"</a:t>
                      </a:r>
                      <a:r>
                        <a:rPr lang="ko-KR" altLang="en-US" sz="1400" kern="0" spc="-80">
                          <a:effectLst/>
                        </a:rPr>
                        <a:t>최종 국어번역문</a:t>
                      </a:r>
                      <a:r>
                        <a:rPr lang="en-US" altLang="ko-KR" sz="1400" kern="0" spc="-80">
                          <a:effectLst/>
                        </a:rPr>
                        <a:t>"</a:t>
                      </a:r>
                      <a:r>
                        <a:rPr lang="ko-KR" altLang="en-US" sz="1400" kern="0" spc="-80">
                          <a:effectLst/>
                        </a:rPr>
                        <a:t>이라 한다</a:t>
                      </a:r>
                      <a:r>
                        <a:rPr lang="en-US" altLang="ko-KR" sz="1400" kern="0" spc="-80">
                          <a:effectLst/>
                        </a:rPr>
                        <a:t>)</a:t>
                      </a:r>
                      <a:r>
                        <a:rPr lang="ko-KR" altLang="en-US" sz="1400" kern="0" spc="-80">
                          <a:effectLst/>
                        </a:rPr>
                        <a:t>을 제출한 경우에는 국제출원일까지 제출한 발명의 설명</a:t>
                      </a:r>
                      <a:r>
                        <a:rPr lang="en-US" altLang="ko-KR" sz="1400" kern="0" spc="-80">
                          <a:effectLst/>
                        </a:rPr>
                        <a:t>, </a:t>
                      </a:r>
                      <a:r>
                        <a:rPr lang="ko-KR" altLang="en-US" sz="1400" kern="0" spc="-80">
                          <a:effectLst/>
                        </a:rPr>
                        <a:t>청구범위 및 도면</a:t>
                      </a:r>
                      <a:r>
                        <a:rPr lang="en-US" altLang="ko-KR" sz="1400" kern="0" spc="-80">
                          <a:effectLst/>
                        </a:rPr>
                        <a:t>(</a:t>
                      </a:r>
                      <a:r>
                        <a:rPr lang="ko-KR" altLang="en-US" sz="1400" kern="0" spc="-80">
                          <a:effectLst/>
                        </a:rPr>
                        <a:t>도면 중 설명부분에 한정한다</a:t>
                      </a:r>
                      <a:r>
                        <a:rPr lang="en-US" altLang="ko-KR" sz="1400" kern="0" spc="-80">
                          <a:effectLst/>
                        </a:rPr>
                        <a:t>)</a:t>
                      </a:r>
                      <a:r>
                        <a:rPr lang="ko-KR" altLang="en-US" sz="1400" kern="0" spc="-80">
                          <a:effectLst/>
                        </a:rPr>
                        <a:t>을 최종 국어번역문에 따라 국제출원일에 제</a:t>
                      </a:r>
                      <a:r>
                        <a:rPr lang="en-US" altLang="ko-KR" sz="1400" kern="0" spc="-80">
                          <a:effectLst/>
                        </a:rPr>
                        <a:t>47</a:t>
                      </a:r>
                      <a:r>
                        <a:rPr lang="ko-KR" altLang="en-US" sz="1400" kern="0" spc="-80">
                          <a:effectLst/>
                        </a:rPr>
                        <a:t>조제</a:t>
                      </a:r>
                      <a:r>
                        <a:rPr lang="en-US" altLang="ko-KR" sz="1400" kern="0" spc="-80">
                          <a:effectLst/>
                        </a:rPr>
                        <a:t>1</a:t>
                      </a:r>
                      <a:r>
                        <a:rPr lang="ko-KR" altLang="en-US" sz="1400" kern="0" spc="-80">
                          <a:effectLst/>
                        </a:rPr>
                        <a:t>항에 따른 보정을 한 것으로 본다</a:t>
                      </a:r>
                      <a:r>
                        <a:rPr lang="en-US" altLang="ko-KR" sz="1400" kern="0" spc="-80">
                          <a:effectLst/>
                        </a:rPr>
                        <a:t>(</a:t>
                      </a:r>
                      <a:r>
                        <a:rPr lang="ko-KR" altLang="en-US" sz="1400" kern="0" spc="-80">
                          <a:effectLst/>
                        </a:rPr>
                        <a:t>法 </a:t>
                      </a:r>
                      <a:r>
                        <a:rPr lang="en-US" altLang="ko-KR" sz="1400" kern="0" spc="-80">
                          <a:effectLst/>
                        </a:rPr>
                        <a:t>201</a:t>
                      </a:r>
                      <a:r>
                        <a:rPr lang="ko-KR" altLang="en-US" sz="1400" kern="0" spc="-80">
                          <a:effectLst/>
                        </a:rPr>
                        <a:t>⑤</a:t>
                      </a:r>
                      <a:r>
                        <a:rPr lang="en-US" altLang="ko-KR" sz="1400" kern="0" spc="-80">
                          <a:effectLst/>
                        </a:rPr>
                        <a:t>).</a:t>
                      </a:r>
                      <a:endParaRPr lang="ko-KR" altLang="en-US" sz="1400" kern="0" spc="-80">
                        <a:solidFill>
                          <a:srgbClr val="000000"/>
                        </a:solidFill>
                        <a:effectLst/>
                        <a:latin typeface="+mn-ea"/>
                        <a:ea typeface="+mn-ea"/>
                      </a:endParaRPr>
                    </a:p>
                  </a:txBody>
                  <a:tcPr marL="36405" marR="36405" marT="10065" marB="10065"/>
                </a:tc>
                <a:extLst>
                  <a:ext uri="{0D108BD9-81ED-4DB2-BD59-A6C34878D82A}">
                    <a16:rowId xmlns:a16="http://schemas.microsoft.com/office/drawing/2014/main" val="2152926381"/>
                  </a:ext>
                </a:extLst>
              </a:tr>
              <a:tr h="1834763">
                <a:tc>
                  <a:txBody>
                    <a:bodyPr/>
                    <a:lstStyle/>
                    <a:p>
                      <a:pPr marL="0" marR="0" indent="0" algn="ctr" fontAlgn="base" latinLnBrk="0">
                        <a:lnSpc>
                          <a:spcPct val="120000"/>
                        </a:lnSpc>
                        <a:spcBef>
                          <a:spcPts val="0"/>
                        </a:spcBef>
                        <a:spcAft>
                          <a:spcPts val="0"/>
                        </a:spcAft>
                      </a:pPr>
                      <a:r>
                        <a:rPr lang="ko-KR" altLang="en-US" sz="1400" kern="0" spc="-100" dirty="0">
                          <a:effectLst/>
                        </a:rPr>
                        <a:t>오역의 정정</a:t>
                      </a:r>
                      <a:endParaRPr lang="ko-KR" altLang="en-US" sz="1400" kern="0" spc="-100" dirty="0">
                        <a:solidFill>
                          <a:srgbClr val="000000"/>
                        </a:solidFill>
                        <a:effectLst/>
                        <a:latin typeface="+mn-ea"/>
                        <a:ea typeface="+mn-ea"/>
                      </a:endParaRPr>
                    </a:p>
                  </a:txBody>
                  <a:tcPr marL="36405" marR="36405" marT="10065" marB="10065"/>
                </a:tc>
                <a:tc>
                  <a:txBody>
                    <a:bodyPr/>
                    <a:lstStyle/>
                    <a:p>
                      <a:pPr marL="31750" marR="31750" indent="0" algn="l" fontAlgn="base" latinLnBrk="1">
                        <a:lnSpc>
                          <a:spcPct val="130000"/>
                        </a:lnSpc>
                        <a:spcBef>
                          <a:spcPts val="0"/>
                        </a:spcBef>
                        <a:spcAft>
                          <a:spcPts val="0"/>
                        </a:spcAft>
                      </a:pPr>
                      <a:r>
                        <a:rPr lang="ko-KR" altLang="en-US" sz="1400" kern="0" spc="-80" dirty="0" err="1">
                          <a:effectLst/>
                        </a:rPr>
                        <a:t>특허출원인은</a:t>
                      </a:r>
                      <a:r>
                        <a:rPr lang="ko-KR" altLang="en-US" sz="1400" kern="0" spc="-80" dirty="0">
                          <a:effectLst/>
                        </a:rPr>
                        <a:t> 제</a:t>
                      </a:r>
                      <a:r>
                        <a:rPr lang="en-US" altLang="ko-KR" sz="1400" kern="0" spc="-80" dirty="0">
                          <a:effectLst/>
                        </a:rPr>
                        <a:t>47</a:t>
                      </a:r>
                      <a:r>
                        <a:rPr lang="ko-KR" altLang="en-US" sz="1400" kern="0" spc="-80" dirty="0">
                          <a:effectLst/>
                        </a:rPr>
                        <a:t>조제</a:t>
                      </a:r>
                      <a:r>
                        <a:rPr lang="en-US" altLang="ko-KR" sz="1400" kern="0" spc="-80" dirty="0">
                          <a:effectLst/>
                        </a:rPr>
                        <a:t>1</a:t>
                      </a:r>
                      <a:r>
                        <a:rPr lang="ko-KR" altLang="en-US" sz="1400" kern="0" spc="-80" dirty="0">
                          <a:effectLst/>
                        </a:rPr>
                        <a:t>항에 따라 보정을 할 수 있는 기간에 최종 국어번역문의 잘못된 번역을 총리령으로 정하는 방법에 따라 정정할 수 있다</a:t>
                      </a:r>
                      <a:r>
                        <a:rPr lang="en-US" altLang="ko-KR" sz="1400" kern="0" spc="-80" dirty="0">
                          <a:effectLst/>
                        </a:rPr>
                        <a:t>. </a:t>
                      </a:r>
                      <a:r>
                        <a:rPr lang="ko-KR" altLang="en-US" sz="1400" kern="0" spc="-80" dirty="0">
                          <a:effectLst/>
                        </a:rPr>
                        <a:t>이 경우 정정된 국어번역문에 관하여는 제</a:t>
                      </a:r>
                      <a:r>
                        <a:rPr lang="en-US" altLang="ko-KR" sz="1400" kern="0" spc="-80" dirty="0">
                          <a:effectLst/>
                        </a:rPr>
                        <a:t>5</a:t>
                      </a:r>
                      <a:r>
                        <a:rPr lang="ko-KR" altLang="en-US" sz="1400" kern="0" spc="-80" dirty="0">
                          <a:effectLst/>
                        </a:rPr>
                        <a:t>항을 적용하지 아니한다</a:t>
                      </a:r>
                      <a:r>
                        <a:rPr lang="en-US" altLang="ko-KR" sz="1400" kern="0" spc="-80" dirty="0">
                          <a:effectLst/>
                        </a:rPr>
                        <a:t>(</a:t>
                      </a:r>
                      <a:r>
                        <a:rPr lang="ko-KR" altLang="en-US" sz="1400" kern="0" spc="-80" dirty="0">
                          <a:effectLst/>
                        </a:rPr>
                        <a:t>法 </a:t>
                      </a:r>
                      <a:r>
                        <a:rPr lang="en-US" altLang="ko-KR" sz="1400" kern="0" spc="-80" dirty="0">
                          <a:effectLst/>
                        </a:rPr>
                        <a:t>42</a:t>
                      </a:r>
                      <a:r>
                        <a:rPr lang="ko-KR" altLang="en-US" sz="1400" kern="0" spc="-80" dirty="0">
                          <a:effectLst/>
                        </a:rPr>
                        <a:t>의</a:t>
                      </a:r>
                      <a:r>
                        <a:rPr lang="en-US" altLang="ko-KR" sz="1400" kern="0" spc="-80" dirty="0">
                          <a:effectLst/>
                        </a:rPr>
                        <a:t>3</a:t>
                      </a:r>
                      <a:r>
                        <a:rPr lang="ko-KR" altLang="en-US" sz="1400" kern="0" spc="-80" dirty="0">
                          <a:effectLst/>
                        </a:rPr>
                        <a:t>⑥</a:t>
                      </a:r>
                      <a:r>
                        <a:rPr lang="en-US" altLang="ko-KR" sz="1400" kern="0" spc="-80" dirty="0">
                          <a:effectLst/>
                        </a:rPr>
                        <a:t>). </a:t>
                      </a:r>
                      <a:r>
                        <a:rPr lang="ko-KR" altLang="en-US" sz="1400" kern="0" spc="-100" dirty="0">
                          <a:effectLst/>
                        </a:rPr>
                        <a:t>최초거절이유통지에 따른 의견서 제출기간</a:t>
                      </a:r>
                      <a:r>
                        <a:rPr lang="en-US" altLang="ko-KR" sz="1400" kern="0" spc="-60" dirty="0">
                          <a:effectLst/>
                        </a:rPr>
                        <a:t>(</a:t>
                      </a:r>
                      <a:r>
                        <a:rPr lang="ko-KR" altLang="en-US" sz="1400" kern="0" spc="-60" dirty="0">
                          <a:effectLst/>
                        </a:rPr>
                        <a:t>法 </a:t>
                      </a:r>
                      <a:r>
                        <a:rPr lang="en-US" altLang="ko-KR" sz="1400" kern="0" spc="-60" dirty="0">
                          <a:effectLst/>
                        </a:rPr>
                        <a:t>47</a:t>
                      </a:r>
                      <a:r>
                        <a:rPr lang="ko-KR" altLang="en-US" sz="1400" kern="0" spc="-60" dirty="0">
                          <a:effectLst/>
                        </a:rPr>
                        <a:t>①</a:t>
                      </a:r>
                      <a:r>
                        <a:rPr lang="en-US" altLang="ko-KR" sz="1400" kern="0" spc="-60" dirty="0">
                          <a:effectLst/>
                        </a:rPr>
                        <a:t>Ⅰ) </a:t>
                      </a:r>
                      <a:r>
                        <a:rPr lang="ko-KR" altLang="en-US" sz="1400" kern="0" spc="-100" dirty="0">
                          <a:effectLst/>
                        </a:rPr>
                        <a:t>또는 최후거절이유통지에 따른 의견서 제출기간</a:t>
                      </a:r>
                      <a:r>
                        <a:rPr lang="en-US" altLang="ko-KR" sz="1400" kern="0" spc="-60" dirty="0">
                          <a:effectLst/>
                        </a:rPr>
                        <a:t>(</a:t>
                      </a:r>
                      <a:r>
                        <a:rPr lang="ko-KR" altLang="en-US" sz="1400" kern="0" spc="-60" dirty="0">
                          <a:effectLst/>
                        </a:rPr>
                        <a:t>法 </a:t>
                      </a:r>
                      <a:r>
                        <a:rPr lang="en-US" altLang="ko-KR" sz="1400" kern="0" spc="-60" dirty="0">
                          <a:effectLst/>
                        </a:rPr>
                        <a:t>47</a:t>
                      </a:r>
                      <a:r>
                        <a:rPr lang="ko-KR" altLang="en-US" sz="1400" kern="0" spc="-60" dirty="0">
                          <a:effectLst/>
                        </a:rPr>
                        <a:t>①</a:t>
                      </a:r>
                      <a:r>
                        <a:rPr lang="en-US" altLang="ko-KR" sz="1400" kern="0" spc="-60" dirty="0">
                          <a:effectLst/>
                        </a:rPr>
                        <a:t>Ⅱ)</a:t>
                      </a:r>
                      <a:r>
                        <a:rPr lang="ko-KR" altLang="en-US" sz="1400" kern="0" spc="-100" dirty="0">
                          <a:effectLst/>
                        </a:rPr>
                        <a:t>에 정정을 하는 경우에는 마지막 정정 전에 한 모든 정정은 처음부터 없었던 것으로 본다</a:t>
                      </a:r>
                      <a:r>
                        <a:rPr lang="en-US" altLang="ko-KR" sz="1400" kern="0" spc="-60" dirty="0">
                          <a:effectLst/>
                        </a:rPr>
                        <a:t>(</a:t>
                      </a:r>
                      <a:r>
                        <a:rPr lang="ko-KR" altLang="en-US" sz="1400" kern="0" spc="-60" dirty="0">
                          <a:effectLst/>
                        </a:rPr>
                        <a:t>法 </a:t>
                      </a:r>
                      <a:r>
                        <a:rPr lang="en-US" altLang="ko-KR" sz="1400" kern="0" spc="-60" dirty="0">
                          <a:effectLst/>
                        </a:rPr>
                        <a:t>42</a:t>
                      </a:r>
                      <a:r>
                        <a:rPr lang="ko-KR" altLang="en-US" sz="1400" kern="0" spc="-100" dirty="0">
                          <a:effectLst/>
                        </a:rPr>
                        <a:t>의</a:t>
                      </a:r>
                      <a:r>
                        <a:rPr lang="en-US" altLang="ko-KR" sz="1400" kern="0" spc="-60" dirty="0">
                          <a:effectLst/>
                        </a:rPr>
                        <a:t>3</a:t>
                      </a:r>
                      <a:r>
                        <a:rPr lang="ko-KR" altLang="en-US" sz="1400" kern="0" spc="-60" dirty="0">
                          <a:effectLst/>
                        </a:rPr>
                        <a:t>⑦</a:t>
                      </a:r>
                      <a:r>
                        <a:rPr lang="en-US" altLang="ko-KR" sz="1400" kern="0" spc="-60" dirty="0">
                          <a:effectLst/>
                        </a:rPr>
                        <a:t>).</a:t>
                      </a:r>
                      <a:endParaRPr lang="ko-KR" altLang="en-US" sz="1400" kern="0" spc="-80" dirty="0">
                        <a:solidFill>
                          <a:srgbClr val="000000"/>
                        </a:solidFill>
                        <a:effectLst/>
                        <a:latin typeface="+mn-ea"/>
                        <a:ea typeface="+mn-ea"/>
                      </a:endParaRPr>
                    </a:p>
                  </a:txBody>
                  <a:tcPr marL="36405" marR="36405" marT="10065" marB="10065"/>
                </a:tc>
                <a:tc>
                  <a:txBody>
                    <a:bodyPr/>
                    <a:lstStyle/>
                    <a:p>
                      <a:pPr marL="31750" marR="31750" indent="0" algn="l" fontAlgn="base" latinLnBrk="1">
                        <a:lnSpc>
                          <a:spcPct val="130000"/>
                        </a:lnSpc>
                        <a:spcBef>
                          <a:spcPts val="0"/>
                        </a:spcBef>
                        <a:spcAft>
                          <a:spcPts val="0"/>
                        </a:spcAft>
                      </a:pPr>
                      <a:r>
                        <a:rPr lang="ko-KR" altLang="en-US" sz="1400" kern="0" spc="-100" dirty="0">
                          <a:effectLst/>
                        </a:rPr>
                        <a:t>특허출원인은 제</a:t>
                      </a:r>
                      <a:r>
                        <a:rPr lang="en-US" altLang="ko-KR" sz="1400" kern="0" spc="-60" dirty="0">
                          <a:effectLst/>
                        </a:rPr>
                        <a:t>47</a:t>
                      </a:r>
                      <a:r>
                        <a:rPr lang="ko-KR" altLang="en-US" sz="1400" kern="0" spc="-100" dirty="0">
                          <a:effectLst/>
                        </a:rPr>
                        <a:t>조제</a:t>
                      </a:r>
                      <a:r>
                        <a:rPr lang="en-US" altLang="ko-KR" sz="1400" kern="0" spc="-60" dirty="0">
                          <a:effectLst/>
                        </a:rPr>
                        <a:t>1</a:t>
                      </a:r>
                      <a:r>
                        <a:rPr lang="ko-KR" altLang="en-US" sz="1400" kern="0" spc="-100" dirty="0">
                          <a:effectLst/>
                        </a:rPr>
                        <a:t>항 및 제</a:t>
                      </a:r>
                      <a:r>
                        <a:rPr lang="en-US" altLang="ko-KR" sz="1400" kern="0" spc="-60" dirty="0">
                          <a:effectLst/>
                        </a:rPr>
                        <a:t>208</a:t>
                      </a:r>
                      <a:r>
                        <a:rPr lang="ko-KR" altLang="en-US" sz="1400" kern="0" spc="-100" dirty="0">
                          <a:effectLst/>
                        </a:rPr>
                        <a:t>조제</a:t>
                      </a:r>
                      <a:r>
                        <a:rPr lang="en-US" altLang="ko-KR" sz="1400" kern="0" spc="-60" dirty="0">
                          <a:effectLst/>
                        </a:rPr>
                        <a:t>1</a:t>
                      </a:r>
                      <a:r>
                        <a:rPr lang="ko-KR" altLang="en-US" sz="1400" kern="0" spc="-100" dirty="0">
                          <a:effectLst/>
                        </a:rPr>
                        <a:t>항에 따라 보정을 할 수 있는 기간에 최종 국어번역문의 잘못된 번역을 총리령으로 정하는 방법에 따라 정정할 수 있다</a:t>
                      </a:r>
                      <a:r>
                        <a:rPr lang="en-US" altLang="ko-KR" sz="1400" kern="0" spc="-60" dirty="0">
                          <a:effectLst/>
                        </a:rPr>
                        <a:t>. </a:t>
                      </a:r>
                      <a:r>
                        <a:rPr lang="ko-KR" altLang="en-US" sz="1400" kern="0" spc="-100" dirty="0">
                          <a:effectLst/>
                        </a:rPr>
                        <a:t>이 경우 정정된 국어번역문에 관하여는 제</a:t>
                      </a:r>
                      <a:r>
                        <a:rPr lang="en-US" altLang="ko-KR" sz="1400" kern="0" spc="-60" dirty="0">
                          <a:effectLst/>
                        </a:rPr>
                        <a:t>5</a:t>
                      </a:r>
                      <a:r>
                        <a:rPr lang="ko-KR" altLang="en-US" sz="1400" kern="0" spc="-100" dirty="0">
                          <a:effectLst/>
                        </a:rPr>
                        <a:t>항을 적용하지 아니한다</a:t>
                      </a:r>
                      <a:r>
                        <a:rPr lang="en-US" altLang="ko-KR" sz="1400" kern="0" spc="-60" dirty="0">
                          <a:effectLst/>
                        </a:rPr>
                        <a:t>(</a:t>
                      </a:r>
                      <a:r>
                        <a:rPr lang="ko-KR" altLang="en-US" sz="1400" kern="0" spc="-60" dirty="0">
                          <a:effectLst/>
                        </a:rPr>
                        <a:t>法 </a:t>
                      </a:r>
                      <a:r>
                        <a:rPr lang="en-US" altLang="ko-KR" sz="1400" kern="0" spc="-60" dirty="0">
                          <a:effectLst/>
                        </a:rPr>
                        <a:t>201</a:t>
                      </a:r>
                      <a:r>
                        <a:rPr lang="ko-KR" altLang="en-US" sz="1400" kern="0" spc="-60" dirty="0">
                          <a:effectLst/>
                        </a:rPr>
                        <a:t>⑥</a:t>
                      </a:r>
                      <a:r>
                        <a:rPr lang="en-US" altLang="ko-KR" sz="1400" kern="0" spc="-60" dirty="0">
                          <a:effectLst/>
                        </a:rPr>
                        <a:t>). </a:t>
                      </a:r>
                      <a:r>
                        <a:rPr lang="ko-KR" altLang="en-US" sz="1400" kern="0" spc="-100" dirty="0">
                          <a:effectLst/>
                        </a:rPr>
                        <a:t>최초거절이유통지에 따른 의견서 제출기간</a:t>
                      </a:r>
                      <a:r>
                        <a:rPr lang="en-US" altLang="ko-KR" sz="1400" kern="0" spc="-60" dirty="0">
                          <a:effectLst/>
                        </a:rPr>
                        <a:t>(</a:t>
                      </a:r>
                      <a:r>
                        <a:rPr lang="ko-KR" altLang="en-US" sz="1400" kern="0" spc="-60" dirty="0">
                          <a:effectLst/>
                        </a:rPr>
                        <a:t>法 </a:t>
                      </a:r>
                      <a:r>
                        <a:rPr lang="en-US" altLang="ko-KR" sz="1400" kern="0" spc="-60" dirty="0">
                          <a:effectLst/>
                        </a:rPr>
                        <a:t>47</a:t>
                      </a:r>
                      <a:r>
                        <a:rPr lang="ko-KR" altLang="en-US" sz="1400" kern="0" spc="-60" dirty="0">
                          <a:effectLst/>
                        </a:rPr>
                        <a:t>①</a:t>
                      </a:r>
                      <a:r>
                        <a:rPr lang="en-US" altLang="ko-KR" sz="1400" kern="0" spc="-60" dirty="0">
                          <a:effectLst/>
                        </a:rPr>
                        <a:t>Ⅰ) </a:t>
                      </a:r>
                      <a:r>
                        <a:rPr lang="ko-KR" altLang="en-US" sz="1400" kern="0" spc="-100" dirty="0">
                          <a:effectLst/>
                        </a:rPr>
                        <a:t>또는 최후거절이유통지에 따른 의견서 제출기간</a:t>
                      </a:r>
                      <a:r>
                        <a:rPr lang="en-US" altLang="ko-KR" sz="1400" kern="0" spc="-60" dirty="0">
                          <a:effectLst/>
                        </a:rPr>
                        <a:t>(</a:t>
                      </a:r>
                      <a:r>
                        <a:rPr lang="ko-KR" altLang="en-US" sz="1400" kern="0" spc="-60" dirty="0">
                          <a:effectLst/>
                        </a:rPr>
                        <a:t>法 </a:t>
                      </a:r>
                      <a:r>
                        <a:rPr lang="en-US" altLang="ko-KR" sz="1400" kern="0" spc="-60" dirty="0">
                          <a:effectLst/>
                        </a:rPr>
                        <a:t>47</a:t>
                      </a:r>
                      <a:r>
                        <a:rPr lang="ko-KR" altLang="en-US" sz="1400" kern="0" spc="-60" dirty="0">
                          <a:effectLst/>
                        </a:rPr>
                        <a:t>①</a:t>
                      </a:r>
                      <a:r>
                        <a:rPr lang="en-US" altLang="ko-KR" sz="1400" kern="0" spc="-60" dirty="0">
                          <a:effectLst/>
                        </a:rPr>
                        <a:t>Ⅱ)</a:t>
                      </a:r>
                      <a:r>
                        <a:rPr lang="ko-KR" altLang="en-US" sz="1400" kern="0" spc="-100" dirty="0">
                          <a:effectLst/>
                        </a:rPr>
                        <a:t>에 정정을 하는 경우에는 마지막 정정 전에 한 모든 정정은 처음부터 없었던 것으로 본다</a:t>
                      </a:r>
                      <a:r>
                        <a:rPr lang="en-US" altLang="ko-KR" sz="1400" kern="0" spc="-60" dirty="0">
                          <a:effectLst/>
                        </a:rPr>
                        <a:t>(</a:t>
                      </a:r>
                      <a:r>
                        <a:rPr lang="ko-KR" altLang="en-US" sz="1400" kern="0" spc="-60" dirty="0">
                          <a:effectLst/>
                        </a:rPr>
                        <a:t>法 </a:t>
                      </a:r>
                      <a:r>
                        <a:rPr lang="en-US" altLang="ko-KR" sz="1400" kern="0" spc="-60" dirty="0">
                          <a:effectLst/>
                        </a:rPr>
                        <a:t>201</a:t>
                      </a:r>
                      <a:r>
                        <a:rPr lang="ko-KR" altLang="en-US" sz="1400" kern="0" spc="-60" dirty="0">
                          <a:effectLst/>
                        </a:rPr>
                        <a:t>⑦</a:t>
                      </a:r>
                      <a:r>
                        <a:rPr lang="en-US" altLang="ko-KR" sz="1400" kern="0" spc="-60" dirty="0">
                          <a:effectLst/>
                        </a:rPr>
                        <a:t>).</a:t>
                      </a:r>
                      <a:endParaRPr lang="ko-KR" altLang="en-US" sz="1400" kern="0" spc="-60" dirty="0">
                        <a:solidFill>
                          <a:srgbClr val="000000"/>
                        </a:solidFill>
                        <a:effectLst/>
                        <a:latin typeface="+mn-ea"/>
                        <a:ea typeface="+mn-ea"/>
                      </a:endParaRPr>
                    </a:p>
                  </a:txBody>
                  <a:tcPr marL="36405" marR="36405" marT="10065" marB="10065"/>
                </a:tc>
                <a:extLst>
                  <a:ext uri="{0D108BD9-81ED-4DB2-BD59-A6C34878D82A}">
                    <a16:rowId xmlns:a16="http://schemas.microsoft.com/office/drawing/2014/main" val="3325381848"/>
                  </a:ext>
                </a:extLst>
              </a:tr>
            </a:tbl>
          </a:graphicData>
        </a:graphic>
      </p:graphicFrame>
      <p:sp>
        <p:nvSpPr>
          <p:cNvPr id="3" name="슬라이드 번호 개체 틀 2"/>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575</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74587446"/>
      </p:ext>
    </p:extLst>
  </p:cSld>
  <p:clrMapOvr>
    <a:masterClrMapping/>
  </p:clrMapOvr>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양쪽 모서리가 둥근 사각형 68"/>
          <p:cNvSpPr/>
          <p:nvPr/>
        </p:nvSpPr>
        <p:spPr>
          <a:xfrm>
            <a:off x="959482" y="6074494"/>
            <a:ext cx="3726817" cy="352883"/>
          </a:xfrm>
          <a:prstGeom prst="round2SameRect">
            <a:avLst>
              <a:gd name="adj1" fmla="val 0"/>
              <a:gd name="adj2" fmla="val 50000"/>
            </a:avLst>
          </a:prstGeom>
          <a:pattFill prst="pct20">
            <a:fgClr>
              <a:schemeClr val="accent2"/>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6" name="양쪽 모서리가 둥근 사각형 65"/>
          <p:cNvSpPr/>
          <p:nvPr/>
        </p:nvSpPr>
        <p:spPr>
          <a:xfrm>
            <a:off x="2593948" y="5706285"/>
            <a:ext cx="2092352" cy="352883"/>
          </a:xfrm>
          <a:prstGeom prst="round2SameRect">
            <a:avLst>
              <a:gd name="adj1" fmla="val 50000"/>
              <a:gd name="adj2" fmla="val 0"/>
            </a:avLst>
          </a:prstGeom>
          <a:pattFill prst="ltHorz">
            <a:fgClr>
              <a:schemeClr val="accent4"/>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23" name="양쪽 모서리가 둥근 사각형 22"/>
          <p:cNvSpPr/>
          <p:nvPr/>
        </p:nvSpPr>
        <p:spPr>
          <a:xfrm>
            <a:off x="972660" y="5706285"/>
            <a:ext cx="1618908" cy="352883"/>
          </a:xfrm>
          <a:prstGeom prst="round2SameRect">
            <a:avLst>
              <a:gd name="adj1" fmla="val 50000"/>
              <a:gd name="adj2" fmla="val 0"/>
            </a:avLst>
          </a:prstGeom>
          <a:pattFill prst="lgGrid">
            <a:fgClr>
              <a:schemeClr val="accent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 name="제목 3"/>
          <p:cNvSpPr>
            <a:spLocks noGrp="1"/>
          </p:cNvSpPr>
          <p:nvPr>
            <p:ph type="title"/>
          </p:nvPr>
        </p:nvSpPr>
        <p:spPr/>
        <p:txBody>
          <a:bodyPr/>
          <a:lstStyle/>
          <a:p>
            <a:r>
              <a:rPr lang="ko-KR" altLang="en-US" dirty="0"/>
              <a:t>제</a:t>
            </a:r>
            <a:r>
              <a:rPr lang="en-US" altLang="ko-KR" dirty="0"/>
              <a:t>29</a:t>
            </a:r>
            <a:r>
              <a:rPr lang="ko-KR" altLang="en-US" dirty="0"/>
              <a:t>조제</a:t>
            </a:r>
            <a:r>
              <a:rPr lang="en-US" altLang="ko-KR" dirty="0"/>
              <a:t>5</a:t>
            </a:r>
            <a:r>
              <a:rPr lang="ko-KR" altLang="en-US" dirty="0"/>
              <a:t>항</a:t>
            </a:r>
            <a:r>
              <a:rPr lang="en-US" altLang="ko-KR" dirty="0"/>
              <a:t>, </a:t>
            </a:r>
            <a:r>
              <a:rPr lang="ko-KR" altLang="en-US" dirty="0"/>
              <a:t>제</a:t>
            </a:r>
            <a:r>
              <a:rPr lang="en-US" altLang="ko-KR" dirty="0"/>
              <a:t>7</a:t>
            </a:r>
            <a:r>
              <a:rPr lang="ko-KR" altLang="en-US" dirty="0"/>
              <a:t>항</a:t>
            </a:r>
          </a:p>
        </p:txBody>
      </p:sp>
      <p:sp>
        <p:nvSpPr>
          <p:cNvPr id="5" name="텍스트 개체 틀 4"/>
          <p:cNvSpPr>
            <a:spLocks noGrp="1"/>
          </p:cNvSpPr>
          <p:nvPr>
            <p:ph type="body" sz="quarter" idx="13"/>
          </p:nvPr>
        </p:nvSpPr>
        <p:spPr/>
        <p:txBody>
          <a:bodyPr/>
          <a:lstStyle/>
          <a:p>
            <a:r>
              <a:rPr lang="ko-KR" altLang="en-US" dirty="0"/>
              <a:t>다른 출원이 국제특허출원인 경우</a:t>
            </a:r>
          </a:p>
        </p:txBody>
      </p:sp>
      <p:cxnSp>
        <p:nvCxnSpPr>
          <p:cNvPr id="6" name="직선 연결선 5"/>
          <p:cNvCxnSpPr/>
          <p:nvPr/>
        </p:nvCxnSpPr>
        <p:spPr>
          <a:xfrm>
            <a:off x="77875" y="322595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77875" y="976902"/>
            <a:ext cx="11936323" cy="2246769"/>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29</a:t>
            </a: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a:t>
            </a:r>
            <a:r>
              <a:rPr kumimoji="0" lang="ko-KR" altLang="en-US" sz="1400" b="1" i="0" u="none" strike="noStrike" kern="1200" cap="none" spc="0" normalizeH="0" baseline="0" noProof="0" dirty="0" err="1">
                <a:ln>
                  <a:noFill/>
                </a:ln>
                <a:solidFill>
                  <a:srgbClr val="5B9BD5"/>
                </a:solidFill>
                <a:effectLst/>
                <a:uLnTx/>
                <a:uFillTx/>
                <a:latin typeface="Rix모던고딕 B"/>
                <a:ea typeface="Rix모던고딕 B"/>
                <a:cs typeface="+mn-cs"/>
              </a:rPr>
              <a:t>특허요건</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③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발명이 다음 각 호의 요건을 모두 갖춘 다른 특허출원의 </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출원서에</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 최초로 첨부된 명세서 또는 도면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기재된 발명과 동일한 경우에 그 발명은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항에도 불구하고 특허를 받을 수 없다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특허출원의 발명자와 다른 특허출원의 발명자가 같거나 그 특허출원을 출원한 때의 출원인과 다른 특허출원의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출원인이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같은 경우에는 그러하지 아니하다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특허출원일 전에 출원된 특허출원일 것</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특허출원 후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조에 따라 </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출원공개</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되거나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87</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등록공고된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특허출원일 것</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⑤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항을 적용할 때 다른 </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특허출원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이 </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199</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항에 따른 국제특허출원</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214</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4</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항에 따라 특허출원으로 보는 </a:t>
            </a:r>
            <a:r>
              <a:rPr kumimoji="0" lang="ko-KR" altLang="en-US" sz="1400" b="0" i="0" u="none" strike="noStrike" kern="1200" cap="none" spc="0" normalizeH="0" baseline="0" noProof="0" dirty="0" err="1">
                <a:ln>
                  <a:noFill/>
                </a:ln>
                <a:solidFill>
                  <a:srgbClr val="ED7D31"/>
                </a:solidFill>
                <a:effectLst/>
                <a:uLnTx/>
                <a:uFillTx/>
                <a:latin typeface="Rix모던고딕 B"/>
                <a:ea typeface="Rix모던고딕 B"/>
                <a:cs typeface="+mn-cs"/>
              </a:rPr>
              <a:t>국제출원을</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 포함한다</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인 경우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본문 중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err="1">
                <a:ln>
                  <a:noFill/>
                </a:ln>
                <a:solidFill>
                  <a:srgbClr val="FF0000"/>
                </a:solidFill>
                <a:effectLst/>
                <a:uLnTx/>
                <a:uFillTx/>
                <a:latin typeface="Rix모던고딕 B"/>
                <a:ea typeface="Rix모던고딕 B"/>
                <a:cs typeface="+mn-cs"/>
              </a:rPr>
              <a:t>출원서에</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 최초로 첨부된 명세서 또는 도면</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은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국제출원일까지 제출한 발명의 설명</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ED7D31"/>
                </a:solidFill>
                <a:effectLst/>
                <a:uLnTx/>
                <a:uFillTx/>
                <a:latin typeface="Rix모던고딕 B"/>
                <a:ea typeface="Rix모던고딕 B"/>
                <a:cs typeface="+mn-cs"/>
              </a:rPr>
              <a:t>청구범위</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 또는 도면</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으로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같은 항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호 중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err="1">
                <a:ln>
                  <a:noFill/>
                </a:ln>
                <a:solidFill>
                  <a:srgbClr val="FF0000"/>
                </a:solidFill>
                <a:effectLst/>
                <a:uLnTx/>
                <a:uFillTx/>
                <a:latin typeface="Rix모던고딕 B"/>
                <a:ea typeface="Rix모던고딕 B"/>
                <a:cs typeface="+mn-cs"/>
              </a:rPr>
              <a:t>출원공개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는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err="1">
                <a:ln>
                  <a:noFill/>
                </a:ln>
                <a:solidFill>
                  <a:srgbClr val="ED7D31"/>
                </a:solidFill>
                <a:effectLst/>
                <a:uLnTx/>
                <a:uFillTx/>
                <a:latin typeface="Rix모던고딕 B"/>
                <a:ea typeface="Rix모던고딕 B"/>
                <a:cs typeface="+mn-cs"/>
              </a:rPr>
              <a:t>출원공개</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 또는 「특허협력조약」 제</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21</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조에 따라 국제공개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로 본다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⑦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 또는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항을 적용할 때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201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따라 취하한 것으로 보는 국제특허출원 또는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실용신안법</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35</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4</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따라 취하한 것으로 보는 국제실용신안등록출원은 다른 특허출원 또는 실용신안등록출원으로 보지 아니한다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p:txBody>
      </p:sp>
      <p:cxnSp>
        <p:nvCxnSpPr>
          <p:cNvPr id="64" name="직선 화살표 연결선 63"/>
          <p:cNvCxnSpPr>
            <a:stCxn id="55" idx="2"/>
            <a:endCxn id="62" idx="4"/>
          </p:cNvCxnSpPr>
          <p:nvPr/>
        </p:nvCxnSpPr>
        <p:spPr>
          <a:xfrm flipH="1">
            <a:off x="959483" y="5320675"/>
            <a:ext cx="477" cy="66196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7" name="모서리가 둥근 직사각형 46"/>
          <p:cNvSpPr/>
          <p:nvPr/>
        </p:nvSpPr>
        <p:spPr>
          <a:xfrm>
            <a:off x="218121" y="3390535"/>
            <a:ext cx="2677479" cy="39870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국어로 </a:t>
            </a:r>
            <a:r>
              <a:rPr kumimoji="0" lang="ko-KR" altLang="en-US" sz="1600" b="0" i="0" u="none" strike="noStrike" kern="1200" cap="none" spc="0" normalizeH="0" baseline="0" noProof="0" dirty="0" err="1">
                <a:ln>
                  <a:noFill/>
                </a:ln>
                <a:solidFill>
                  <a:prstClr val="white"/>
                </a:solidFill>
                <a:effectLst/>
                <a:uLnTx/>
                <a:uFillTx/>
                <a:latin typeface="Frutiger LT 65 Bold"/>
                <a:ea typeface="Rix모던고딕 B"/>
                <a:cs typeface="+mn-cs"/>
              </a:rPr>
              <a:t>국제특허출원한</a:t>
            </a: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 경우</a:t>
            </a:r>
          </a:p>
        </p:txBody>
      </p:sp>
      <p:cxnSp>
        <p:nvCxnSpPr>
          <p:cNvPr id="51" name="직선 화살표 연결선 50"/>
          <p:cNvCxnSpPr>
            <a:stCxn id="56" idx="2"/>
            <a:endCxn id="49" idx="4"/>
          </p:cNvCxnSpPr>
          <p:nvPr/>
        </p:nvCxnSpPr>
        <p:spPr>
          <a:xfrm>
            <a:off x="2589186" y="5320675"/>
            <a:ext cx="4762" cy="661962"/>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2" name="직사각형 51"/>
          <p:cNvSpPr/>
          <p:nvPr/>
        </p:nvSpPr>
        <p:spPr>
          <a:xfrm>
            <a:off x="2131986" y="4855316"/>
            <a:ext cx="914400" cy="23675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국제공개</a:t>
            </a:r>
          </a:p>
        </p:txBody>
      </p:sp>
      <p:grpSp>
        <p:nvGrpSpPr>
          <p:cNvPr id="3" name="그룹 2"/>
          <p:cNvGrpSpPr/>
          <p:nvPr/>
        </p:nvGrpSpPr>
        <p:grpSpPr>
          <a:xfrm>
            <a:off x="312259" y="4316401"/>
            <a:ext cx="1295401" cy="1004274"/>
            <a:chOff x="243521" y="4316401"/>
            <a:chExt cx="914400" cy="1004274"/>
          </a:xfrm>
        </p:grpSpPr>
        <p:sp>
          <p:nvSpPr>
            <p:cNvPr id="63" name="직사각형 62"/>
            <p:cNvSpPr/>
            <p:nvPr/>
          </p:nvSpPr>
          <p:spPr>
            <a:xfrm>
              <a:off x="243521" y="4855316"/>
              <a:ext cx="914400" cy="236759"/>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국제특허출원</a:t>
              </a:r>
            </a:p>
          </p:txBody>
        </p:sp>
        <p:sp>
          <p:nvSpPr>
            <p:cNvPr id="74" name="직사각형 73"/>
            <p:cNvSpPr/>
            <p:nvPr/>
          </p:nvSpPr>
          <p:spPr>
            <a:xfrm>
              <a:off x="243521" y="4553161"/>
              <a:ext cx="914400" cy="23675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B, C</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5" name="직사각형 74"/>
            <p:cNvSpPr/>
            <p:nvPr/>
          </p:nvSpPr>
          <p:spPr>
            <a:xfrm>
              <a:off x="243521" y="4316401"/>
              <a:ext cx="914400" cy="236759"/>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C</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5" name="직사각형 54"/>
            <p:cNvSpPr/>
            <p:nvPr/>
          </p:nvSpPr>
          <p:spPr>
            <a:xfrm>
              <a:off x="243521" y="5083916"/>
              <a:ext cx="914400" cy="23675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국어</a:t>
              </a:r>
            </a:p>
          </p:txBody>
        </p:sp>
      </p:grpSp>
      <p:sp>
        <p:nvSpPr>
          <p:cNvPr id="56" name="직사각형 55"/>
          <p:cNvSpPr/>
          <p:nvPr/>
        </p:nvSpPr>
        <p:spPr>
          <a:xfrm>
            <a:off x="2131986" y="5083916"/>
            <a:ext cx="914400" cy="236759"/>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국어</a:t>
            </a:r>
          </a:p>
        </p:txBody>
      </p:sp>
      <p:sp>
        <p:nvSpPr>
          <p:cNvPr id="65" name="직사각형 64"/>
          <p:cNvSpPr/>
          <p:nvPr/>
        </p:nvSpPr>
        <p:spPr>
          <a:xfrm>
            <a:off x="972660" y="5467927"/>
            <a:ext cx="1580040" cy="2367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확선의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지위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-A,B,C</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7" name="직사각형 66"/>
          <p:cNvSpPr/>
          <p:nvPr/>
        </p:nvSpPr>
        <p:spPr>
          <a:xfrm>
            <a:off x="2568548" y="5467927"/>
            <a:ext cx="1889152" cy="2367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공지기술의 지위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-A,B,C</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0" name="직사각형 69"/>
          <p:cNvSpPr/>
          <p:nvPr/>
        </p:nvSpPr>
        <p:spPr>
          <a:xfrm>
            <a:off x="1806084" y="6434304"/>
            <a:ext cx="2054716" cy="2367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지위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-A,C</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7" name="직사각형 26"/>
          <p:cNvSpPr/>
          <p:nvPr/>
        </p:nvSpPr>
        <p:spPr>
          <a:xfrm>
            <a:off x="4457699" y="5653886"/>
            <a:ext cx="344575" cy="8479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59" name="직선 연결선 58"/>
          <p:cNvCxnSpPr/>
          <p:nvPr/>
        </p:nvCxnSpPr>
        <p:spPr>
          <a:xfrm flipV="1">
            <a:off x="4845280" y="3390535"/>
            <a:ext cx="0" cy="3365348"/>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2" name="모서리가 둥근 직사각형 71"/>
          <p:cNvSpPr/>
          <p:nvPr/>
        </p:nvSpPr>
        <p:spPr>
          <a:xfrm>
            <a:off x="5177196" y="3390535"/>
            <a:ext cx="2849204" cy="39870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외국어로 </a:t>
            </a:r>
            <a:r>
              <a:rPr kumimoji="0" lang="ko-KR" altLang="en-US" sz="1600" b="0" i="0" u="none" strike="noStrike" kern="1200" cap="none" spc="0" normalizeH="0" baseline="0" noProof="0" dirty="0" err="1">
                <a:ln>
                  <a:noFill/>
                </a:ln>
                <a:solidFill>
                  <a:prstClr val="white"/>
                </a:solidFill>
                <a:effectLst/>
                <a:uLnTx/>
                <a:uFillTx/>
                <a:latin typeface="Frutiger LT 65 Bold"/>
                <a:ea typeface="Rix모던고딕 B"/>
                <a:cs typeface="+mn-cs"/>
              </a:rPr>
              <a:t>국제특허출원한</a:t>
            </a:r>
            <a:r>
              <a:rPr kumimoji="0" lang="ko-KR" altLang="en-US" sz="1600" b="0" i="0" u="none" strike="noStrike" kern="1200" cap="none" spc="0" normalizeH="0" baseline="0" noProof="0" dirty="0">
                <a:ln>
                  <a:noFill/>
                </a:ln>
                <a:solidFill>
                  <a:prstClr val="white"/>
                </a:solidFill>
                <a:effectLst/>
                <a:uLnTx/>
                <a:uFillTx/>
                <a:latin typeface="Frutiger LT 65 Bold"/>
                <a:ea typeface="Rix모던고딕 B"/>
                <a:cs typeface="+mn-cs"/>
              </a:rPr>
              <a:t> 경우</a:t>
            </a:r>
          </a:p>
        </p:txBody>
      </p:sp>
      <p:cxnSp>
        <p:nvCxnSpPr>
          <p:cNvPr id="61" name="직선 연결선 60"/>
          <p:cNvCxnSpPr/>
          <p:nvPr/>
        </p:nvCxnSpPr>
        <p:spPr>
          <a:xfrm>
            <a:off x="395921" y="6059168"/>
            <a:ext cx="4234065" cy="15326"/>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2" name="Rectangle 14"/>
          <p:cNvSpPr>
            <a:spLocks noChangeArrowheads="1"/>
          </p:cNvSpPr>
          <p:nvPr/>
        </p:nvSpPr>
        <p:spPr bwMode="auto">
          <a:xfrm flipV="1">
            <a:off x="888045" y="598263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49" name="Rectangle 14"/>
          <p:cNvSpPr>
            <a:spLocks noChangeArrowheads="1"/>
          </p:cNvSpPr>
          <p:nvPr/>
        </p:nvSpPr>
        <p:spPr bwMode="auto">
          <a:xfrm flipV="1">
            <a:off x="2522510" y="598263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86" name="양쪽 모서리가 둥근 사각형 85"/>
          <p:cNvSpPr/>
          <p:nvPr/>
        </p:nvSpPr>
        <p:spPr>
          <a:xfrm>
            <a:off x="5749059" y="6074494"/>
            <a:ext cx="5823990" cy="352883"/>
          </a:xfrm>
          <a:prstGeom prst="round2SameRect">
            <a:avLst>
              <a:gd name="adj1" fmla="val 0"/>
              <a:gd name="adj2" fmla="val 50000"/>
            </a:avLst>
          </a:prstGeom>
          <a:pattFill prst="pct20">
            <a:fgClr>
              <a:schemeClr val="accent2"/>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8" name="양쪽 모서리가 둥근 사각형 87"/>
          <p:cNvSpPr/>
          <p:nvPr/>
        </p:nvSpPr>
        <p:spPr>
          <a:xfrm>
            <a:off x="8216961" y="5706285"/>
            <a:ext cx="3356088" cy="352883"/>
          </a:xfrm>
          <a:prstGeom prst="round2SameRect">
            <a:avLst>
              <a:gd name="adj1" fmla="val 50000"/>
              <a:gd name="adj2" fmla="val 0"/>
            </a:avLst>
          </a:prstGeom>
          <a:pattFill prst="ltHorz">
            <a:fgClr>
              <a:schemeClr val="accent4"/>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9" name="양쪽 모서리가 둥근 사각형 88"/>
          <p:cNvSpPr/>
          <p:nvPr/>
        </p:nvSpPr>
        <p:spPr>
          <a:xfrm>
            <a:off x="5749059" y="5706285"/>
            <a:ext cx="2467902" cy="352883"/>
          </a:xfrm>
          <a:prstGeom prst="round2SameRect">
            <a:avLst>
              <a:gd name="adj1" fmla="val 50000"/>
              <a:gd name="adj2" fmla="val 0"/>
            </a:avLst>
          </a:prstGeom>
          <a:pattFill prst="lgGrid">
            <a:fgClr>
              <a:schemeClr val="accent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90" name="직선 화살표 연결선 89"/>
          <p:cNvCxnSpPr>
            <a:stCxn id="98" idx="2"/>
            <a:endCxn id="105" idx="4"/>
          </p:cNvCxnSpPr>
          <p:nvPr/>
        </p:nvCxnSpPr>
        <p:spPr>
          <a:xfrm>
            <a:off x="5744296" y="5320676"/>
            <a:ext cx="4762" cy="66196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3" name="직사각형 92"/>
          <p:cNvSpPr/>
          <p:nvPr/>
        </p:nvSpPr>
        <p:spPr>
          <a:xfrm>
            <a:off x="5128494" y="4855316"/>
            <a:ext cx="1231604" cy="23676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국제특허출원</a:t>
            </a:r>
          </a:p>
        </p:txBody>
      </p:sp>
      <p:sp>
        <p:nvSpPr>
          <p:cNvPr id="94" name="직사각형 93"/>
          <p:cNvSpPr/>
          <p:nvPr/>
        </p:nvSpPr>
        <p:spPr>
          <a:xfrm>
            <a:off x="5128494" y="4553161"/>
            <a:ext cx="1231604" cy="23676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B, C(1)</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5" name="직사각형 94"/>
          <p:cNvSpPr/>
          <p:nvPr/>
        </p:nvSpPr>
        <p:spPr>
          <a:xfrm>
            <a:off x="5128494" y="4316401"/>
            <a:ext cx="1231604" cy="236760"/>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C(2)</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6" name="직선 화살표 연결선 95"/>
          <p:cNvCxnSpPr>
            <a:stCxn id="99" idx="2"/>
            <a:endCxn id="106" idx="4"/>
          </p:cNvCxnSpPr>
          <p:nvPr/>
        </p:nvCxnSpPr>
        <p:spPr>
          <a:xfrm>
            <a:off x="8216961" y="5320676"/>
            <a:ext cx="4762" cy="66196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7" name="직사각형 96"/>
          <p:cNvSpPr/>
          <p:nvPr/>
        </p:nvSpPr>
        <p:spPr>
          <a:xfrm>
            <a:off x="7601159" y="4855316"/>
            <a:ext cx="1231604" cy="23676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국제공개</a:t>
            </a:r>
          </a:p>
        </p:txBody>
      </p:sp>
      <p:sp>
        <p:nvSpPr>
          <p:cNvPr id="98" name="직사각형 97"/>
          <p:cNvSpPr/>
          <p:nvPr/>
        </p:nvSpPr>
        <p:spPr>
          <a:xfrm>
            <a:off x="5128494" y="5083916"/>
            <a:ext cx="1231604" cy="23676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외국어</a:t>
            </a:r>
          </a:p>
        </p:txBody>
      </p:sp>
      <p:sp>
        <p:nvSpPr>
          <p:cNvPr id="99" name="직사각형 98"/>
          <p:cNvSpPr/>
          <p:nvPr/>
        </p:nvSpPr>
        <p:spPr>
          <a:xfrm>
            <a:off x="7601159" y="5083916"/>
            <a:ext cx="1231604" cy="23676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외국어</a:t>
            </a:r>
          </a:p>
        </p:txBody>
      </p:sp>
      <p:sp>
        <p:nvSpPr>
          <p:cNvPr id="100" name="직사각형 99"/>
          <p:cNvSpPr/>
          <p:nvPr/>
        </p:nvSpPr>
        <p:spPr>
          <a:xfrm>
            <a:off x="5863834" y="5467927"/>
            <a:ext cx="2048265" cy="2367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확선의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지위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-A,B,C(1)</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1" name="직사각형 100"/>
          <p:cNvSpPr/>
          <p:nvPr/>
        </p:nvSpPr>
        <p:spPr>
          <a:xfrm>
            <a:off x="8526522" y="5467927"/>
            <a:ext cx="2230377" cy="2367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공지기술의 지위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-A,B,C(1)</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2" name="직사각형 101"/>
          <p:cNvSpPr/>
          <p:nvPr/>
        </p:nvSpPr>
        <p:spPr>
          <a:xfrm>
            <a:off x="7433859" y="6434304"/>
            <a:ext cx="2054716" cy="2367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지위</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-A(4)</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3" name="직사각형 102"/>
          <p:cNvSpPr/>
          <p:nvPr/>
        </p:nvSpPr>
        <p:spPr>
          <a:xfrm>
            <a:off x="11431674" y="5653886"/>
            <a:ext cx="344575" cy="8479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04" name="직선 연결선 103"/>
          <p:cNvCxnSpPr/>
          <p:nvPr/>
        </p:nvCxnSpPr>
        <p:spPr>
          <a:xfrm>
            <a:off x="5287096" y="6059168"/>
            <a:ext cx="651120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5" name="Rectangle 14"/>
          <p:cNvSpPr>
            <a:spLocks noChangeArrowheads="1"/>
          </p:cNvSpPr>
          <p:nvPr/>
        </p:nvSpPr>
        <p:spPr bwMode="auto">
          <a:xfrm flipV="1">
            <a:off x="5677620" y="598263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106" name="Rectangle 14"/>
          <p:cNvSpPr>
            <a:spLocks noChangeArrowheads="1"/>
          </p:cNvSpPr>
          <p:nvPr/>
        </p:nvSpPr>
        <p:spPr bwMode="auto">
          <a:xfrm flipV="1">
            <a:off x="8150285" y="5982637"/>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cxnSp>
        <p:nvCxnSpPr>
          <p:cNvPr id="107" name="직선 화살표 연결선 106"/>
          <p:cNvCxnSpPr>
            <a:stCxn id="109" idx="2"/>
          </p:cNvCxnSpPr>
          <p:nvPr/>
        </p:nvCxnSpPr>
        <p:spPr>
          <a:xfrm>
            <a:off x="10026798" y="5320676"/>
            <a:ext cx="4762" cy="788961"/>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8" name="직사각형 107"/>
          <p:cNvSpPr/>
          <p:nvPr/>
        </p:nvSpPr>
        <p:spPr>
          <a:xfrm>
            <a:off x="9410996" y="4855316"/>
            <a:ext cx="1231604" cy="23676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국내공개</a:t>
            </a:r>
          </a:p>
        </p:txBody>
      </p:sp>
      <p:sp>
        <p:nvSpPr>
          <p:cNvPr id="109" name="직사각형 108"/>
          <p:cNvSpPr/>
          <p:nvPr/>
        </p:nvSpPr>
        <p:spPr>
          <a:xfrm>
            <a:off x="9410996" y="5083916"/>
            <a:ext cx="1231604" cy="236760"/>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국어</a:t>
            </a:r>
          </a:p>
        </p:txBody>
      </p:sp>
      <p:sp>
        <p:nvSpPr>
          <p:cNvPr id="110" name="직사각형 109"/>
          <p:cNvSpPr/>
          <p:nvPr/>
        </p:nvSpPr>
        <p:spPr>
          <a:xfrm>
            <a:off x="9055396" y="3589889"/>
            <a:ext cx="1942804" cy="519101"/>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최종 국어번역문 확정</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되어 국내단계 진입</a:t>
            </a:r>
          </a:p>
        </p:txBody>
      </p:sp>
      <p:cxnSp>
        <p:nvCxnSpPr>
          <p:cNvPr id="37" name="직선 연결선 36"/>
          <p:cNvCxnSpPr>
            <a:stCxn id="110" idx="2"/>
            <a:endCxn id="108" idx="0"/>
          </p:cNvCxnSpPr>
          <p:nvPr/>
        </p:nvCxnSpPr>
        <p:spPr>
          <a:xfrm>
            <a:off x="10026798" y="4108990"/>
            <a:ext cx="0" cy="746326"/>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1" name="직사각형 110"/>
          <p:cNvSpPr/>
          <p:nvPr/>
        </p:nvSpPr>
        <p:spPr>
          <a:xfrm>
            <a:off x="9418873" y="4553161"/>
            <a:ext cx="1231604" cy="23676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B(3)</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2" name="직사각형 111"/>
          <p:cNvSpPr/>
          <p:nvPr/>
        </p:nvSpPr>
        <p:spPr>
          <a:xfrm>
            <a:off x="9418873" y="4316401"/>
            <a:ext cx="1231604" cy="23676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A(4)</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0" name="직사각형 59"/>
          <p:cNvSpPr/>
          <p:nvPr/>
        </p:nvSpPr>
        <p:spPr>
          <a:xfrm>
            <a:off x="3130884" y="3907389"/>
            <a:ext cx="1326816" cy="519101"/>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국내단계진입</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여부와 무관</a:t>
            </a:r>
          </a:p>
        </p:txBody>
      </p:sp>
      <p:cxnSp>
        <p:nvCxnSpPr>
          <p:cNvPr id="68" name="직선 화살표 연결선 67"/>
          <p:cNvCxnSpPr>
            <a:stCxn id="60" idx="2"/>
          </p:cNvCxnSpPr>
          <p:nvPr/>
        </p:nvCxnSpPr>
        <p:spPr>
          <a:xfrm>
            <a:off x="3794292" y="4426490"/>
            <a:ext cx="0" cy="1556147"/>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576</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792597435"/>
      </p:ext>
    </p:extLst>
  </p:cSld>
  <p:clrMapOvr>
    <a:masterClrMapping/>
  </p:clrMapOvr>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양쪽 모서리가 둥근 사각형 85"/>
          <p:cNvSpPr/>
          <p:nvPr/>
        </p:nvSpPr>
        <p:spPr>
          <a:xfrm>
            <a:off x="1467767" y="5785569"/>
            <a:ext cx="2837533" cy="352883"/>
          </a:xfrm>
          <a:prstGeom prst="round2SameRect">
            <a:avLst>
              <a:gd name="adj1" fmla="val 0"/>
              <a:gd name="adj2" fmla="val 50000"/>
            </a:avLst>
          </a:prstGeom>
          <a:pattFill prst="pct20">
            <a:fgClr>
              <a:schemeClr val="accent2"/>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4" name="제목 3"/>
          <p:cNvSpPr>
            <a:spLocks noGrp="1"/>
          </p:cNvSpPr>
          <p:nvPr>
            <p:ph type="title"/>
          </p:nvPr>
        </p:nvSpPr>
        <p:spPr/>
        <p:txBody>
          <a:bodyPr/>
          <a:lstStyle/>
          <a:p>
            <a:r>
              <a:rPr lang="ko-KR" altLang="en-US" dirty="0"/>
              <a:t>제</a:t>
            </a:r>
            <a:r>
              <a:rPr lang="en-US" altLang="ko-KR" dirty="0"/>
              <a:t>200</a:t>
            </a:r>
            <a:r>
              <a:rPr lang="ko-KR" altLang="en-US" dirty="0"/>
              <a:t>조</a:t>
            </a:r>
          </a:p>
        </p:txBody>
      </p:sp>
      <p:sp>
        <p:nvSpPr>
          <p:cNvPr id="5" name="텍스트 개체 틀 4"/>
          <p:cNvSpPr>
            <a:spLocks noGrp="1"/>
          </p:cNvSpPr>
          <p:nvPr>
            <p:ph type="body" sz="quarter" idx="13"/>
          </p:nvPr>
        </p:nvSpPr>
        <p:spPr/>
        <p:txBody>
          <a:bodyPr/>
          <a:lstStyle/>
          <a:p>
            <a:r>
              <a:rPr lang="ko-KR" altLang="en-US" dirty="0"/>
              <a:t>공지예외적용의 특례</a:t>
            </a:r>
          </a:p>
        </p:txBody>
      </p:sp>
      <p:cxnSp>
        <p:nvCxnSpPr>
          <p:cNvPr id="6" name="직선 연결선 5"/>
          <p:cNvCxnSpPr/>
          <p:nvPr/>
        </p:nvCxnSpPr>
        <p:spPr>
          <a:xfrm>
            <a:off x="77875" y="150027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77875" y="976902"/>
            <a:ext cx="11936323" cy="52322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200</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공지 등이 되지 아니한 발명으로 보는 경우의 특례</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국제특허출원된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발명에 관하여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30</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항제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호</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적용받으려는</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자는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그 취지를 적은 서면 및 이를 증명할 수 있는 서류를 같은 조 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항에도 불구하고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총리령으로 정하는 기간에 지식재산처장에게 제출할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endParaRPr>
          </a:p>
        </p:txBody>
      </p:sp>
      <p:sp>
        <p:nvSpPr>
          <p:cNvPr id="88" name="양쪽 모서리가 둥근 사각형 87"/>
          <p:cNvSpPr/>
          <p:nvPr/>
        </p:nvSpPr>
        <p:spPr>
          <a:xfrm>
            <a:off x="7188261" y="5306046"/>
            <a:ext cx="3356088" cy="464197"/>
          </a:xfrm>
          <a:prstGeom prst="round2SameRect">
            <a:avLst>
              <a:gd name="adj1" fmla="val 50000"/>
              <a:gd name="adj2" fmla="val 0"/>
            </a:avLst>
          </a:prstGeom>
          <a:pattFill prst="ltHorz">
            <a:fgClr>
              <a:schemeClr val="accent4"/>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0" name="직사각형 99"/>
          <p:cNvSpPr/>
          <p:nvPr/>
        </p:nvSpPr>
        <p:spPr>
          <a:xfrm>
            <a:off x="763833" y="5321877"/>
            <a:ext cx="1407868" cy="2367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B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논문발표</a:t>
            </a:r>
          </a:p>
        </p:txBody>
      </p:sp>
      <p:sp>
        <p:nvSpPr>
          <p:cNvPr id="102" name="직사각형 101"/>
          <p:cNvSpPr/>
          <p:nvPr/>
        </p:nvSpPr>
        <p:spPr>
          <a:xfrm>
            <a:off x="1859175" y="6138452"/>
            <a:ext cx="2054716" cy="2367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개월 이내</a:t>
            </a:r>
          </a:p>
        </p:txBody>
      </p:sp>
      <p:cxnSp>
        <p:nvCxnSpPr>
          <p:cNvPr id="104" name="직선 연결선 103"/>
          <p:cNvCxnSpPr/>
          <p:nvPr/>
        </p:nvCxnSpPr>
        <p:spPr>
          <a:xfrm>
            <a:off x="447675" y="5770243"/>
            <a:ext cx="11350625"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5" name="Rectangle 14"/>
          <p:cNvSpPr>
            <a:spLocks noChangeArrowheads="1"/>
          </p:cNvSpPr>
          <p:nvPr/>
        </p:nvSpPr>
        <p:spPr bwMode="auto">
          <a:xfrm flipV="1">
            <a:off x="1396329" y="569371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106" name="Rectangle 14"/>
          <p:cNvSpPr>
            <a:spLocks noChangeArrowheads="1"/>
          </p:cNvSpPr>
          <p:nvPr/>
        </p:nvSpPr>
        <p:spPr bwMode="auto">
          <a:xfrm flipV="1">
            <a:off x="7121585" y="569371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108" name="직사각형 107"/>
          <p:cNvSpPr/>
          <p:nvPr/>
        </p:nvSpPr>
        <p:spPr>
          <a:xfrm>
            <a:off x="3681621" y="5347539"/>
            <a:ext cx="1231604" cy="23676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국제특허출원</a:t>
            </a:r>
          </a:p>
        </p:txBody>
      </p:sp>
      <p:sp>
        <p:nvSpPr>
          <p:cNvPr id="111" name="직사각형 110"/>
          <p:cNvSpPr/>
          <p:nvPr/>
        </p:nvSpPr>
        <p:spPr>
          <a:xfrm>
            <a:off x="3689498" y="5045384"/>
            <a:ext cx="1231604" cy="23676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2" name="직사각형 111"/>
          <p:cNvSpPr/>
          <p:nvPr/>
        </p:nvSpPr>
        <p:spPr>
          <a:xfrm>
            <a:off x="3689498" y="4808624"/>
            <a:ext cx="1231604" cy="236760"/>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 B</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3" name="TextBox 112"/>
          <p:cNvSpPr txBox="1"/>
          <p:nvPr/>
        </p:nvSpPr>
        <p:spPr>
          <a:xfrm>
            <a:off x="77875" y="1567071"/>
            <a:ext cx="11936323" cy="2893100"/>
          </a:xfrm>
          <a:prstGeom prst="rect">
            <a:avLst/>
          </a:prstGeom>
          <a:noFill/>
          <a:ln>
            <a:solidFill>
              <a:schemeClr val="bg1">
                <a:lumMod val="50000"/>
              </a:schemeClr>
            </a:solidFill>
          </a:ln>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30</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공지 등이 되지 아니한 발명으로 보는 경우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권리를 가진 자의 발명이 다음 각 호의 어느 하나에 해당하게 된 경우 그 날부터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개월 이내에 특허출원을 하면 그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발명에 대하여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29</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또는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항을 적용할 때에는 그 발명은 같은 조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각 호의 어느 하나에 해당하지 아니한 것으로 본다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권리를 가진 자에 의하여 그 발명이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29</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각 호의 어느 하나에 해당하게 된 경우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조약 또는 법률에 따라 국내 또는 국외에서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출원공개되거나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등록공고된</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경우는 제외한다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특허를 받을 수 있는 권리를 가진 자의 의사에 반하여 그 발명이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29</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각 호의 어느 하나에 해당하게 된 경우</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② 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항제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호를 </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적용받으려는</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 자는 </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특허출원서에</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 그 취지를 적어 출원하여야 하고</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이를 증명할 수 있는 서류를 총리령으로 정하는 방법에 따라 </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특허출원일부터</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30</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일 이내에 지식재산처장에게 제출하여야 한다</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항에도 불구하고 총리령으로 정하는 보완수수료를 납부한 경우에는 다음 각 호의 어느 하나에 해당하는 기간에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항제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호를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적용받으려는</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취지를 적은 서류 또는 이를 증명할 수 있는 서류를 제출할 수 있다</a:t>
            </a:r>
            <a:endPar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47</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보정할 수 있는 기간</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66</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조에 따른 특허결정 또는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176</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특허거절결정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취소심결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특허등록을 결정한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심결에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한정하되</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재심심결을</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포함한다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의 등본을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송달받은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날부터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개월 이내의 기간</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79</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조에 따른 설정등록을 받으려는 날이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개월보다 짧은 경우에는 그 날까지의 기간</a:t>
            </a:r>
          </a:p>
        </p:txBody>
      </p:sp>
      <p:sp>
        <p:nvSpPr>
          <p:cNvPr id="117" name="Rectangle 14"/>
          <p:cNvSpPr>
            <a:spLocks noChangeArrowheads="1"/>
          </p:cNvSpPr>
          <p:nvPr/>
        </p:nvSpPr>
        <p:spPr bwMode="auto">
          <a:xfrm flipV="1">
            <a:off x="4225985" y="5693712"/>
            <a:ext cx="142876" cy="153062"/>
          </a:xfrm>
          <a:prstGeom prst="ellipse">
            <a:avLst/>
          </a:prstGeom>
          <a:solidFill>
            <a:schemeClr val="tx2">
              <a:lumMod val="50000"/>
            </a:schemeClr>
          </a:solidFill>
          <a:ln w="9525" algn="ctr">
            <a:solidFill>
              <a:schemeClr val="bg1">
                <a:lumMod val="50000"/>
              </a:schemeClr>
            </a:solidFill>
            <a:miter lim="800000"/>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000" b="0" i="0" u="none" strike="noStrike" kern="0" cap="none" spc="0" normalizeH="0" baseline="0" noProof="0" dirty="0">
              <a:ln>
                <a:noFill/>
              </a:ln>
              <a:solidFill>
                <a:prstClr val="black"/>
              </a:solidFill>
              <a:effectLst/>
              <a:uLnTx/>
              <a:uFillTx/>
              <a:latin typeface="Rix모던고딕 B"/>
              <a:ea typeface="Rix모던고딕 B"/>
              <a:cs typeface="+mn-cs"/>
            </a:endParaRPr>
          </a:p>
        </p:txBody>
      </p:sp>
      <p:sp>
        <p:nvSpPr>
          <p:cNvPr id="118" name="직사각형 117"/>
          <p:cNvSpPr/>
          <p:nvPr/>
        </p:nvSpPr>
        <p:spPr>
          <a:xfrm>
            <a:off x="6804146" y="5916778"/>
            <a:ext cx="777754" cy="236760"/>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기준일</a:t>
            </a:r>
          </a:p>
        </p:txBody>
      </p:sp>
      <p:sp>
        <p:nvSpPr>
          <p:cNvPr id="119" name="직사각형 118"/>
          <p:cNvSpPr/>
          <p:nvPr/>
        </p:nvSpPr>
        <p:spPr>
          <a:xfrm>
            <a:off x="9772998" y="5916778"/>
            <a:ext cx="1542702" cy="236760"/>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a:ln>
                  <a:noFill/>
                </a:ln>
                <a:solidFill>
                  <a:prstClr val="black"/>
                </a:solidFill>
                <a:effectLst/>
                <a:uLnTx/>
                <a:uFillTx/>
                <a:latin typeface="Frutiger LT 65 Bold"/>
                <a:ea typeface="Rix모던고딕 B"/>
                <a:cs typeface="+mn-cs"/>
              </a:rPr>
              <a:t>취지 및 증명서류</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0" name="직사각형 119"/>
          <p:cNvSpPr/>
          <p:nvPr/>
        </p:nvSpPr>
        <p:spPr>
          <a:xfrm>
            <a:off x="7917075" y="5069287"/>
            <a:ext cx="2054716" cy="2367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일 이내</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577</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857564284"/>
      </p:ext>
    </p:extLst>
  </p:cSld>
  <p:clrMapOvr>
    <a:masterClrMapping/>
  </p:clrMapOvr>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202</a:t>
            </a:r>
            <a:r>
              <a:rPr lang="ko-KR" altLang="en-US" dirty="0"/>
              <a:t>조</a:t>
            </a:r>
          </a:p>
        </p:txBody>
      </p:sp>
      <p:sp>
        <p:nvSpPr>
          <p:cNvPr id="4" name="텍스트 개체 틀 3"/>
          <p:cNvSpPr>
            <a:spLocks noGrp="1"/>
          </p:cNvSpPr>
          <p:nvPr>
            <p:ph type="body" sz="quarter" idx="13"/>
          </p:nvPr>
        </p:nvSpPr>
        <p:spPr/>
        <p:txBody>
          <a:bodyPr/>
          <a:lstStyle/>
          <a:p>
            <a:r>
              <a:rPr lang="en-US" altLang="ko-KR" dirty="0"/>
              <a:t>PCT 8</a:t>
            </a:r>
            <a:r>
              <a:rPr lang="ko-KR" altLang="en-US" dirty="0"/>
              <a:t>의 해석</a:t>
            </a:r>
          </a:p>
        </p:txBody>
      </p:sp>
      <p:sp>
        <p:nvSpPr>
          <p:cNvPr id="30" name="직사각형 29"/>
          <p:cNvSpPr/>
          <p:nvPr/>
        </p:nvSpPr>
        <p:spPr>
          <a:xfrm>
            <a:off x="3586370" y="1251789"/>
            <a:ext cx="1554769" cy="319836"/>
          </a:xfrm>
          <a:prstGeom prst="rect">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black"/>
                </a:solidFill>
                <a:effectLst/>
                <a:uLnTx/>
                <a:uFillTx/>
                <a:latin typeface="Frutiger LT 65 Bold"/>
                <a:ea typeface="Rix모던고딕 B"/>
                <a:cs typeface="+mn-cs"/>
              </a:rPr>
              <a:t>PCT 8</a:t>
            </a:r>
            <a:endParaRPr kumimoji="0" lang="ko-KR" altLang="en-US" sz="18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 name="직사각형 1"/>
          <p:cNvSpPr/>
          <p:nvPr/>
        </p:nvSpPr>
        <p:spPr>
          <a:xfrm>
            <a:off x="3586372" y="1570060"/>
            <a:ext cx="4233654" cy="307777"/>
          </a:xfrm>
          <a:prstGeom prst="rect">
            <a:avLst/>
          </a:prstGeom>
          <a:ln>
            <a:solidFill>
              <a:schemeClr val="bg1">
                <a:lumMod val="50000"/>
              </a:schemeClr>
            </a:solidFill>
          </a:ln>
        </p:spPr>
        <p:txBody>
          <a:bodyPr wrap="square" anchor="b">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우선권주장선언가능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절차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PCT)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4" name="직사각형 33"/>
          <p:cNvSpPr/>
          <p:nvPr/>
        </p:nvSpPr>
        <p:spPr>
          <a:xfrm>
            <a:off x="3586372" y="1912960"/>
            <a:ext cx="4233654" cy="307777"/>
          </a:xfrm>
          <a:prstGeom prst="rect">
            <a:avLst/>
          </a:prstGeom>
          <a:ln>
            <a:solidFill>
              <a:schemeClr val="bg1">
                <a:lumMod val="50000"/>
              </a:schemeClr>
            </a:solidFill>
          </a:ln>
        </p:spPr>
        <p:txBody>
          <a:bodyPr wrap="square" anchor="b">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일반적인 경우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요건 및 효과</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파리조약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a:t>
            </a:r>
          </a:p>
        </p:txBody>
      </p:sp>
      <p:sp>
        <p:nvSpPr>
          <p:cNvPr id="35" name="직사각형 34"/>
          <p:cNvSpPr/>
          <p:nvPr/>
        </p:nvSpPr>
        <p:spPr>
          <a:xfrm>
            <a:off x="3586372" y="2265385"/>
            <a:ext cx="4233654" cy="307777"/>
          </a:xfrm>
          <a:prstGeom prst="rect">
            <a:avLst/>
          </a:prstGeom>
          <a:ln>
            <a:solidFill>
              <a:schemeClr val="bg1">
                <a:lumMod val="50000"/>
              </a:schemeClr>
            </a:solidFill>
          </a:ln>
        </p:spPr>
        <p:txBody>
          <a:bodyPr wrap="square" anchor="b">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(2)(b)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자기지정의 경우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요건 및 효과</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국내법에 일임</a:t>
            </a:r>
          </a:p>
        </p:txBody>
      </p:sp>
      <p:cxnSp>
        <p:nvCxnSpPr>
          <p:cNvPr id="6" name="꺾인 연결선 5"/>
          <p:cNvCxnSpPr>
            <a:stCxn id="2" idx="3"/>
            <a:endCxn id="34" idx="3"/>
          </p:cNvCxnSpPr>
          <p:nvPr/>
        </p:nvCxnSpPr>
        <p:spPr>
          <a:xfrm>
            <a:off x="7820026" y="1723949"/>
            <a:ext cx="12700" cy="342900"/>
          </a:xfrm>
          <a:prstGeom prst="bentConnector3">
            <a:avLst>
              <a:gd name="adj1" fmla="val 1800000"/>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꺾인 연결선 7"/>
          <p:cNvCxnSpPr>
            <a:stCxn id="2" idx="1"/>
            <a:endCxn id="35" idx="1"/>
          </p:cNvCxnSpPr>
          <p:nvPr/>
        </p:nvCxnSpPr>
        <p:spPr>
          <a:xfrm rot="10800000" flipV="1">
            <a:off x="3586372" y="1723948"/>
            <a:ext cx="12700" cy="695325"/>
          </a:xfrm>
          <a:prstGeom prst="bentConnector3">
            <a:avLst>
              <a:gd name="adj1" fmla="val 1800000"/>
            </a:avLst>
          </a:prstGeom>
          <a:ln w="381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9" name="표 8"/>
          <p:cNvGraphicFramePr>
            <a:graphicFrameLocks noGrp="1"/>
          </p:cNvGraphicFramePr>
          <p:nvPr/>
        </p:nvGraphicFramePr>
        <p:xfrm>
          <a:off x="8134349" y="3072341"/>
          <a:ext cx="3752851" cy="2072640"/>
        </p:xfrm>
        <a:graphic>
          <a:graphicData uri="http://schemas.openxmlformats.org/drawingml/2006/table">
            <a:tbl>
              <a:tblPr>
                <a:tableStyleId>{8799B23B-EC83-4686-B30A-512413B5E67A}</a:tableStyleId>
              </a:tblPr>
              <a:tblGrid>
                <a:gridCol w="1200150">
                  <a:extLst>
                    <a:ext uri="{9D8B030D-6E8A-4147-A177-3AD203B41FA5}">
                      <a16:colId xmlns:a16="http://schemas.microsoft.com/office/drawing/2014/main" val="20000"/>
                    </a:ext>
                  </a:extLst>
                </a:gridCol>
                <a:gridCol w="1200150">
                  <a:extLst>
                    <a:ext uri="{9D8B030D-6E8A-4147-A177-3AD203B41FA5}">
                      <a16:colId xmlns:a16="http://schemas.microsoft.com/office/drawing/2014/main" val="20001"/>
                    </a:ext>
                  </a:extLst>
                </a:gridCol>
                <a:gridCol w="1352551">
                  <a:extLst>
                    <a:ext uri="{9D8B030D-6E8A-4147-A177-3AD203B41FA5}">
                      <a16:colId xmlns:a16="http://schemas.microsoft.com/office/drawing/2014/main" val="20002"/>
                    </a:ext>
                  </a:extLst>
                </a:gridCol>
              </a:tblGrid>
              <a:tr h="370840">
                <a:tc>
                  <a:txBody>
                    <a:bodyPr/>
                    <a:lstStyle/>
                    <a:p>
                      <a:pPr algn="ctr" latinLnBrk="1"/>
                      <a:r>
                        <a:rPr lang="ko-KR" altLang="en-US" sz="1400" dirty="0"/>
                        <a:t>조약우선권</a:t>
                      </a:r>
                      <a:endParaRPr lang="en-US" altLang="ko-KR" sz="1400" dirty="0"/>
                    </a:p>
                    <a:p>
                      <a:pPr algn="ctr" latinLnBrk="1"/>
                      <a:r>
                        <a:rPr lang="ko-KR" altLang="en-US" sz="1400" dirty="0"/>
                        <a:t>주장출원</a:t>
                      </a:r>
                    </a:p>
                  </a:txBody>
                  <a:tcPr anchor="ctr">
                    <a:solidFill>
                      <a:schemeClr val="accent1">
                        <a:lumMod val="20000"/>
                        <a:lumOff val="80000"/>
                      </a:schemeClr>
                    </a:solidFill>
                  </a:tcPr>
                </a:tc>
                <a:tc>
                  <a:txBody>
                    <a:bodyPr/>
                    <a:lstStyle/>
                    <a:p>
                      <a:pPr algn="ctr" latinLnBrk="1"/>
                      <a:r>
                        <a:rPr lang="ko-KR" altLang="en-US" sz="1400" dirty="0"/>
                        <a:t>국제특허</a:t>
                      </a:r>
                      <a:endParaRPr lang="en-US" altLang="ko-KR" sz="1400" dirty="0"/>
                    </a:p>
                    <a:p>
                      <a:pPr algn="ctr" latinLnBrk="1"/>
                      <a:r>
                        <a:rPr lang="ko-KR" altLang="en-US" sz="1400" dirty="0"/>
                        <a:t>출원</a:t>
                      </a:r>
                    </a:p>
                  </a:txBody>
                  <a:tcPr anchor="ctr">
                    <a:solidFill>
                      <a:schemeClr val="accent1">
                        <a:lumMod val="20000"/>
                        <a:lumOff val="80000"/>
                      </a:schemeClr>
                    </a:solidFill>
                  </a:tcPr>
                </a:tc>
                <a:tc>
                  <a:txBody>
                    <a:bodyPr/>
                    <a:lstStyle/>
                    <a:p>
                      <a:pPr algn="ctr" latinLnBrk="1"/>
                      <a:r>
                        <a:rPr lang="ko-KR" altLang="en-US" sz="1400" dirty="0"/>
                        <a:t>특허출원</a:t>
                      </a:r>
                    </a:p>
                  </a:txBody>
                  <a:tcPr anchor="ctr">
                    <a:solidFill>
                      <a:schemeClr val="accent1">
                        <a:lumMod val="20000"/>
                        <a:lumOff val="80000"/>
                      </a:schemeClr>
                    </a:solidFill>
                  </a:tcPr>
                </a:tc>
                <a:extLst>
                  <a:ext uri="{0D108BD9-81ED-4DB2-BD59-A6C34878D82A}">
                    <a16:rowId xmlns:a16="http://schemas.microsoft.com/office/drawing/2014/main" val="10000"/>
                  </a:ext>
                </a:extLst>
              </a:tr>
              <a:tr h="370840">
                <a:tc>
                  <a:txBody>
                    <a:bodyPr/>
                    <a:lstStyle/>
                    <a:p>
                      <a:pPr algn="ctr" latinLnBrk="1"/>
                      <a:r>
                        <a:rPr lang="ko-KR" altLang="en-US" sz="1400" dirty="0"/>
                        <a:t>요건</a:t>
                      </a:r>
                    </a:p>
                  </a:txBody>
                  <a:tcPr anchor="ctr"/>
                </a:tc>
                <a:tc>
                  <a:txBody>
                    <a:bodyPr/>
                    <a:lstStyle/>
                    <a:p>
                      <a:pPr algn="ctr" latinLnBrk="1"/>
                      <a:r>
                        <a:rPr lang="en-US" altLang="ko-KR" sz="1400" dirty="0"/>
                        <a:t>PCT 8(2)(a)</a:t>
                      </a:r>
                    </a:p>
                    <a:p>
                      <a:pPr algn="ctr" latinLnBrk="1"/>
                      <a:r>
                        <a:rPr lang="en-US" altLang="ko-KR" sz="1400" dirty="0"/>
                        <a:t>(</a:t>
                      </a:r>
                      <a:r>
                        <a:rPr lang="ko-KR" altLang="en-US" sz="1400" dirty="0"/>
                        <a:t>파리조약</a:t>
                      </a:r>
                      <a:r>
                        <a:rPr lang="en-US" altLang="ko-KR" sz="1400" dirty="0"/>
                        <a:t>)</a:t>
                      </a:r>
                      <a:endParaRPr lang="ko-KR" altLang="en-US" sz="1400" dirty="0"/>
                    </a:p>
                  </a:txBody>
                  <a:tcPr anchor="ctr"/>
                </a:tc>
                <a:tc>
                  <a:txBody>
                    <a:bodyPr/>
                    <a:lstStyle/>
                    <a:p>
                      <a:pPr algn="ctr" latinLnBrk="1"/>
                      <a:r>
                        <a:rPr lang="ko-KR" altLang="en-US" sz="1400" dirty="0"/>
                        <a:t>제</a:t>
                      </a:r>
                      <a:r>
                        <a:rPr lang="en-US" altLang="ko-KR" sz="1400" dirty="0"/>
                        <a:t>54</a:t>
                      </a:r>
                      <a:r>
                        <a:rPr lang="ko-KR" altLang="en-US" sz="1400" dirty="0"/>
                        <a:t>조</a:t>
                      </a:r>
                      <a:endParaRPr lang="en-US" altLang="ko-KR" sz="1400" dirty="0"/>
                    </a:p>
                    <a:p>
                      <a:pPr algn="ctr" latinLnBrk="1"/>
                      <a:r>
                        <a:rPr lang="en-US" altLang="ko-KR" sz="1400" dirty="0"/>
                        <a:t>(</a:t>
                      </a:r>
                      <a:r>
                        <a:rPr lang="ko-KR" altLang="en-US" sz="1400" dirty="0"/>
                        <a:t>파리조약</a:t>
                      </a:r>
                      <a:r>
                        <a:rPr lang="en-US" altLang="ko-KR" sz="1400" dirty="0"/>
                        <a:t>)</a:t>
                      </a:r>
                      <a:endParaRPr lang="ko-KR" altLang="en-US" sz="1400" dirty="0"/>
                    </a:p>
                  </a:txBody>
                  <a:tcPr anchor="ctr"/>
                </a:tc>
                <a:extLst>
                  <a:ext uri="{0D108BD9-81ED-4DB2-BD59-A6C34878D82A}">
                    <a16:rowId xmlns:a16="http://schemas.microsoft.com/office/drawing/2014/main" val="10001"/>
                  </a:ext>
                </a:extLst>
              </a:tr>
              <a:tr h="370840">
                <a:tc>
                  <a:txBody>
                    <a:bodyPr/>
                    <a:lstStyle/>
                    <a:p>
                      <a:pPr algn="ctr" latinLnBrk="1"/>
                      <a:r>
                        <a:rPr lang="ko-KR" altLang="en-US" sz="1400" dirty="0"/>
                        <a:t>절차</a:t>
                      </a:r>
                    </a:p>
                  </a:txBody>
                  <a:tcPr anchor="ctr">
                    <a:solidFill>
                      <a:schemeClr val="bg1">
                        <a:lumMod val="85000"/>
                      </a:schemeClr>
                    </a:solidFill>
                  </a:tcPr>
                </a:tc>
                <a:tc>
                  <a:txBody>
                    <a:bodyPr/>
                    <a:lstStyle/>
                    <a:p>
                      <a:pPr algn="ctr" latinLnBrk="1"/>
                      <a:r>
                        <a:rPr lang="en-US" altLang="ko-KR" sz="1400" dirty="0"/>
                        <a:t>PCT 8(1)</a:t>
                      </a:r>
                      <a:endParaRPr lang="ko-KR" altLang="en-US" sz="1400" dirty="0"/>
                    </a:p>
                  </a:txBody>
                  <a:tcPr anchor="ctr">
                    <a:solidFill>
                      <a:schemeClr val="bg1">
                        <a:lumMod val="85000"/>
                      </a:schemeClr>
                    </a:solidFill>
                  </a:tcPr>
                </a:tc>
                <a:tc>
                  <a:txBody>
                    <a:bodyPr/>
                    <a:lstStyle/>
                    <a:p>
                      <a:pPr algn="ctr" latinLnBrk="1"/>
                      <a:r>
                        <a:rPr lang="ko-KR" altLang="en-US" sz="1400" dirty="0"/>
                        <a:t>제</a:t>
                      </a:r>
                      <a:r>
                        <a:rPr lang="en-US" altLang="ko-KR" sz="1400" dirty="0"/>
                        <a:t>54</a:t>
                      </a:r>
                      <a:r>
                        <a:rPr lang="ko-KR" altLang="en-US" sz="1400" dirty="0"/>
                        <a:t>조</a:t>
                      </a:r>
                      <a:endParaRPr lang="en-US" altLang="ko-KR" sz="1400" dirty="0"/>
                    </a:p>
                    <a:p>
                      <a:pPr algn="ctr" latinLnBrk="1"/>
                      <a:r>
                        <a:rPr lang="en-US" altLang="ko-KR" sz="1400" dirty="0"/>
                        <a:t>(</a:t>
                      </a:r>
                      <a:r>
                        <a:rPr lang="ko-KR" altLang="en-US" sz="1400" dirty="0"/>
                        <a:t>파리조약</a:t>
                      </a:r>
                      <a:r>
                        <a:rPr lang="en-US" altLang="ko-KR" sz="1400" dirty="0"/>
                        <a:t>)</a:t>
                      </a:r>
                      <a:endParaRPr lang="ko-KR" altLang="en-US" sz="1400" dirty="0"/>
                    </a:p>
                  </a:txBody>
                  <a:tcPr anchor="ctr">
                    <a:solidFill>
                      <a:schemeClr val="bg1">
                        <a:lumMod val="85000"/>
                      </a:schemeClr>
                    </a:solidFill>
                  </a:tcPr>
                </a:tc>
                <a:extLst>
                  <a:ext uri="{0D108BD9-81ED-4DB2-BD59-A6C34878D82A}">
                    <a16:rowId xmlns:a16="http://schemas.microsoft.com/office/drawing/2014/main" val="10002"/>
                  </a:ext>
                </a:extLst>
              </a:tr>
              <a:tr h="370840">
                <a:tc>
                  <a:txBody>
                    <a:bodyPr/>
                    <a:lstStyle/>
                    <a:p>
                      <a:pPr algn="ctr" latinLnBrk="1"/>
                      <a:r>
                        <a:rPr lang="ko-KR" altLang="en-US" sz="1400" dirty="0"/>
                        <a:t>효과</a:t>
                      </a:r>
                    </a:p>
                  </a:txBody>
                  <a:tcPr anchor="ctr"/>
                </a:tc>
                <a:tc>
                  <a:txBody>
                    <a:bodyPr/>
                    <a:lstStyle/>
                    <a:p>
                      <a:pPr algn="ctr" latinLnBrk="1"/>
                      <a:r>
                        <a:rPr lang="en-US" altLang="ko-KR" sz="1400" dirty="0"/>
                        <a:t>PCT 8(2)(a)</a:t>
                      </a:r>
                    </a:p>
                    <a:p>
                      <a:pPr algn="ctr" latinLnBrk="1"/>
                      <a:r>
                        <a:rPr lang="en-US" altLang="ko-KR" sz="1400" dirty="0"/>
                        <a:t>(</a:t>
                      </a:r>
                      <a:r>
                        <a:rPr lang="ko-KR" altLang="en-US" sz="1400" dirty="0"/>
                        <a:t>파리조약</a:t>
                      </a:r>
                      <a:r>
                        <a:rPr lang="en-US" altLang="ko-KR" sz="1400" dirty="0"/>
                        <a:t>)</a:t>
                      </a:r>
                      <a:endParaRPr lang="ko-KR" altLang="en-US" sz="1400" dirty="0"/>
                    </a:p>
                  </a:txBody>
                  <a:tcPr anchor="ctr"/>
                </a:tc>
                <a:tc>
                  <a:txBody>
                    <a:bodyPr/>
                    <a:lstStyle/>
                    <a:p>
                      <a:pPr algn="ctr" latinLnBrk="1"/>
                      <a:r>
                        <a:rPr lang="ko-KR" altLang="en-US" sz="1400" dirty="0"/>
                        <a:t>제</a:t>
                      </a:r>
                      <a:r>
                        <a:rPr lang="en-US" altLang="ko-KR" sz="1400" dirty="0"/>
                        <a:t>54</a:t>
                      </a:r>
                      <a:r>
                        <a:rPr lang="ko-KR" altLang="en-US" sz="1400" dirty="0"/>
                        <a:t>조</a:t>
                      </a:r>
                      <a:endParaRPr lang="en-US" altLang="ko-KR" sz="1400" dirty="0"/>
                    </a:p>
                    <a:p>
                      <a:pPr algn="ctr" latinLnBrk="1"/>
                      <a:r>
                        <a:rPr lang="en-US" altLang="ko-KR" sz="1400" dirty="0"/>
                        <a:t>(</a:t>
                      </a:r>
                      <a:r>
                        <a:rPr lang="ko-KR" altLang="en-US" sz="1400" dirty="0"/>
                        <a:t>파리조약</a:t>
                      </a:r>
                      <a:r>
                        <a:rPr lang="en-US" altLang="ko-KR" sz="1400" dirty="0"/>
                        <a:t>)</a:t>
                      </a:r>
                      <a:endParaRPr lang="ko-KR" altLang="en-US" sz="1400" dirty="0"/>
                    </a:p>
                  </a:txBody>
                  <a:tcPr anchor="ctr"/>
                </a:tc>
                <a:extLst>
                  <a:ext uri="{0D108BD9-81ED-4DB2-BD59-A6C34878D82A}">
                    <a16:rowId xmlns:a16="http://schemas.microsoft.com/office/drawing/2014/main" val="10003"/>
                  </a:ext>
                </a:extLst>
              </a:tr>
            </a:tbl>
          </a:graphicData>
        </a:graphic>
      </p:graphicFrame>
      <p:sp>
        <p:nvSpPr>
          <p:cNvPr id="10" name="자유형 9"/>
          <p:cNvSpPr/>
          <p:nvPr/>
        </p:nvSpPr>
        <p:spPr>
          <a:xfrm>
            <a:off x="8048626" y="1885950"/>
            <a:ext cx="1905000" cy="1171575"/>
          </a:xfrm>
          <a:custGeom>
            <a:avLst/>
            <a:gdLst>
              <a:gd name="connsiteX0" fmla="*/ 0 w 2028825"/>
              <a:gd name="connsiteY0" fmla="*/ 0 h 1171575"/>
              <a:gd name="connsiteX1" fmla="*/ 2028825 w 2028825"/>
              <a:gd name="connsiteY1" fmla="*/ 0 h 1171575"/>
              <a:gd name="connsiteX2" fmla="*/ 2028825 w 2028825"/>
              <a:gd name="connsiteY2" fmla="*/ 1171575 h 1171575"/>
            </a:gdLst>
            <a:ahLst/>
            <a:cxnLst>
              <a:cxn ang="0">
                <a:pos x="connsiteX0" y="connsiteY0"/>
              </a:cxn>
              <a:cxn ang="0">
                <a:pos x="connsiteX1" y="connsiteY1"/>
              </a:cxn>
              <a:cxn ang="0">
                <a:pos x="connsiteX2" y="connsiteY2"/>
              </a:cxn>
            </a:cxnLst>
            <a:rect l="l" t="t" r="r" b="b"/>
            <a:pathLst>
              <a:path w="2028825" h="1171575">
                <a:moveTo>
                  <a:pt x="0" y="0"/>
                </a:moveTo>
                <a:lnTo>
                  <a:pt x="2028825" y="0"/>
                </a:lnTo>
                <a:lnTo>
                  <a:pt x="2028825" y="1171575"/>
                </a:lnTo>
              </a:path>
            </a:pathLst>
          </a:custGeom>
          <a:ln w="381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Frutiger LT 65 Bold"/>
              <a:ea typeface="Rix모던고딕 B"/>
              <a:cs typeface="+mn-cs"/>
            </a:endParaRPr>
          </a:p>
        </p:txBody>
      </p:sp>
      <p:sp>
        <p:nvSpPr>
          <p:cNvPr id="11" name="모서리가 둥근 직사각형 10"/>
          <p:cNvSpPr/>
          <p:nvPr/>
        </p:nvSpPr>
        <p:spPr>
          <a:xfrm>
            <a:off x="9277351" y="2886075"/>
            <a:ext cx="1352550" cy="3095625"/>
          </a:xfrm>
          <a:prstGeom prst="roundRect">
            <a:avLst/>
          </a:pr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2" name="TextBox 11"/>
          <p:cNvSpPr txBox="1"/>
          <p:nvPr/>
        </p:nvSpPr>
        <p:spPr>
          <a:xfrm>
            <a:off x="9279402" y="5282625"/>
            <a:ext cx="1348446" cy="523220"/>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54</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조 부적용</a:t>
            </a:r>
            <a:endPar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199</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graphicFrame>
        <p:nvGraphicFramePr>
          <p:cNvPr id="45" name="표 44"/>
          <p:cNvGraphicFramePr>
            <a:graphicFrameLocks noGrp="1"/>
          </p:cNvGraphicFramePr>
          <p:nvPr/>
        </p:nvGraphicFramePr>
        <p:xfrm>
          <a:off x="304799" y="3057525"/>
          <a:ext cx="3800476" cy="2049780"/>
        </p:xfrm>
        <a:graphic>
          <a:graphicData uri="http://schemas.openxmlformats.org/drawingml/2006/table">
            <a:tbl>
              <a:tblPr>
                <a:tableStyleId>{8799B23B-EC83-4686-B30A-512413B5E67A}</a:tableStyleId>
              </a:tblPr>
              <a:tblGrid>
                <a:gridCol w="1200150">
                  <a:extLst>
                    <a:ext uri="{9D8B030D-6E8A-4147-A177-3AD203B41FA5}">
                      <a16:colId xmlns:a16="http://schemas.microsoft.com/office/drawing/2014/main" val="20000"/>
                    </a:ext>
                  </a:extLst>
                </a:gridCol>
                <a:gridCol w="1200150">
                  <a:extLst>
                    <a:ext uri="{9D8B030D-6E8A-4147-A177-3AD203B41FA5}">
                      <a16:colId xmlns:a16="http://schemas.microsoft.com/office/drawing/2014/main" val="20001"/>
                    </a:ext>
                  </a:extLst>
                </a:gridCol>
                <a:gridCol w="1400176">
                  <a:extLst>
                    <a:ext uri="{9D8B030D-6E8A-4147-A177-3AD203B41FA5}">
                      <a16:colId xmlns:a16="http://schemas.microsoft.com/office/drawing/2014/main" val="20002"/>
                    </a:ext>
                  </a:extLst>
                </a:gridCol>
              </a:tblGrid>
              <a:tr h="571250">
                <a:tc>
                  <a:txBody>
                    <a:bodyPr/>
                    <a:lstStyle/>
                    <a:p>
                      <a:pPr algn="ctr" latinLnBrk="1"/>
                      <a:r>
                        <a:rPr lang="ko-KR" altLang="en-US" sz="1400" dirty="0"/>
                        <a:t>국내우선권</a:t>
                      </a:r>
                      <a:endParaRPr lang="en-US" altLang="ko-KR" sz="1400" dirty="0"/>
                    </a:p>
                    <a:p>
                      <a:pPr algn="ctr" latinLnBrk="1"/>
                      <a:r>
                        <a:rPr lang="ko-KR" altLang="en-US" sz="1400" dirty="0"/>
                        <a:t>주장출원</a:t>
                      </a:r>
                    </a:p>
                  </a:txBody>
                  <a:tcPr anchor="ctr">
                    <a:solidFill>
                      <a:schemeClr val="accent1">
                        <a:lumMod val="20000"/>
                        <a:lumOff val="80000"/>
                      </a:schemeClr>
                    </a:solidFill>
                  </a:tcPr>
                </a:tc>
                <a:tc>
                  <a:txBody>
                    <a:bodyPr/>
                    <a:lstStyle/>
                    <a:p>
                      <a:pPr algn="ctr" latinLnBrk="1"/>
                      <a:r>
                        <a:rPr lang="ko-KR" altLang="en-US" sz="1400" dirty="0"/>
                        <a:t>국제특허</a:t>
                      </a:r>
                      <a:endParaRPr lang="en-US" altLang="ko-KR" sz="1400" dirty="0"/>
                    </a:p>
                    <a:p>
                      <a:pPr algn="ctr" latinLnBrk="1"/>
                      <a:r>
                        <a:rPr lang="ko-KR" altLang="en-US" sz="1400" dirty="0"/>
                        <a:t>출원</a:t>
                      </a:r>
                    </a:p>
                  </a:txBody>
                  <a:tcPr anchor="ctr">
                    <a:solidFill>
                      <a:schemeClr val="accent1">
                        <a:lumMod val="20000"/>
                        <a:lumOff val="80000"/>
                      </a:schemeClr>
                    </a:solidFill>
                  </a:tcPr>
                </a:tc>
                <a:tc>
                  <a:txBody>
                    <a:bodyPr/>
                    <a:lstStyle/>
                    <a:p>
                      <a:pPr algn="ctr" latinLnBrk="1"/>
                      <a:r>
                        <a:rPr lang="ko-KR" altLang="en-US" sz="1400" dirty="0"/>
                        <a:t>특허출원</a:t>
                      </a:r>
                    </a:p>
                  </a:txBody>
                  <a:tcPr anchor="ctr">
                    <a:solidFill>
                      <a:schemeClr val="accent1">
                        <a:lumMod val="20000"/>
                        <a:lumOff val="80000"/>
                      </a:schemeClr>
                    </a:solidFill>
                  </a:tcPr>
                </a:tc>
                <a:extLst>
                  <a:ext uri="{0D108BD9-81ED-4DB2-BD59-A6C34878D82A}">
                    <a16:rowId xmlns:a16="http://schemas.microsoft.com/office/drawing/2014/main" val="10000"/>
                  </a:ext>
                </a:extLst>
              </a:tr>
              <a:tr h="571250">
                <a:tc>
                  <a:txBody>
                    <a:bodyPr/>
                    <a:lstStyle/>
                    <a:p>
                      <a:pPr algn="ctr" latinLnBrk="1"/>
                      <a:r>
                        <a:rPr lang="ko-KR" altLang="en-US" sz="1400" dirty="0"/>
                        <a:t>요건</a:t>
                      </a:r>
                    </a:p>
                  </a:txBody>
                  <a:tcPr anchor="ctr"/>
                </a:tc>
                <a:tc>
                  <a:txBody>
                    <a:bodyPr/>
                    <a:lstStyle/>
                    <a:p>
                      <a:pPr algn="ctr" latinLnBrk="1"/>
                      <a:r>
                        <a:rPr lang="en-US" altLang="ko-KR" sz="1400" dirty="0"/>
                        <a:t>PCT 8(2)(b)</a:t>
                      </a:r>
                    </a:p>
                    <a:p>
                      <a:pPr algn="ctr" latinLnBrk="1"/>
                      <a:r>
                        <a:rPr lang="en-US" altLang="ko-KR" sz="1400" dirty="0"/>
                        <a:t>(</a:t>
                      </a:r>
                      <a:r>
                        <a:rPr lang="ko-KR" altLang="en-US" sz="1400" dirty="0"/>
                        <a:t>제</a:t>
                      </a:r>
                      <a:r>
                        <a:rPr lang="en-US" altLang="ko-KR" sz="1400" dirty="0"/>
                        <a:t>202</a:t>
                      </a:r>
                      <a:r>
                        <a:rPr lang="ko-KR" altLang="en-US" sz="1400" dirty="0"/>
                        <a:t>조</a:t>
                      </a:r>
                      <a:r>
                        <a:rPr lang="en-US" altLang="ko-KR" sz="1400" dirty="0"/>
                        <a:t>)</a:t>
                      </a:r>
                      <a:endParaRPr lang="ko-KR" altLang="en-US" sz="1400" dirty="0"/>
                    </a:p>
                  </a:txBody>
                  <a:tcPr anchor="ctr"/>
                </a:tc>
                <a:tc>
                  <a:txBody>
                    <a:bodyPr/>
                    <a:lstStyle/>
                    <a:p>
                      <a:pPr algn="ctr" latinLnBrk="1"/>
                      <a:r>
                        <a:rPr lang="ko-KR" altLang="en-US" sz="1400" dirty="0"/>
                        <a:t>제</a:t>
                      </a:r>
                      <a:r>
                        <a:rPr lang="en-US" altLang="ko-KR" sz="1400" dirty="0"/>
                        <a:t>55</a:t>
                      </a:r>
                      <a:r>
                        <a:rPr lang="ko-KR" altLang="en-US" sz="1400" dirty="0"/>
                        <a:t>조</a:t>
                      </a:r>
                      <a:r>
                        <a:rPr lang="en-US" altLang="ko-KR" sz="1400" dirty="0"/>
                        <a:t>,</a:t>
                      </a:r>
                      <a:r>
                        <a:rPr lang="ko-KR" altLang="en-US" sz="1400" dirty="0"/>
                        <a:t>제</a:t>
                      </a:r>
                      <a:r>
                        <a:rPr lang="en-US" altLang="ko-KR" sz="1400" dirty="0"/>
                        <a:t>56</a:t>
                      </a:r>
                      <a:r>
                        <a:rPr lang="ko-KR" altLang="en-US" sz="1400" dirty="0"/>
                        <a:t>조</a:t>
                      </a:r>
                      <a:endParaRPr lang="en-US" altLang="ko-KR" sz="1400" dirty="0"/>
                    </a:p>
                  </a:txBody>
                  <a:tcPr anchor="ctr"/>
                </a:tc>
                <a:extLst>
                  <a:ext uri="{0D108BD9-81ED-4DB2-BD59-A6C34878D82A}">
                    <a16:rowId xmlns:a16="http://schemas.microsoft.com/office/drawing/2014/main" val="10001"/>
                  </a:ext>
                </a:extLst>
              </a:tr>
              <a:tr h="336030">
                <a:tc>
                  <a:txBody>
                    <a:bodyPr/>
                    <a:lstStyle/>
                    <a:p>
                      <a:pPr algn="ctr" latinLnBrk="1"/>
                      <a:r>
                        <a:rPr lang="ko-KR" altLang="en-US" sz="1400" dirty="0"/>
                        <a:t>절차</a:t>
                      </a:r>
                    </a:p>
                  </a:txBody>
                  <a:tcPr anchor="ctr">
                    <a:noFill/>
                  </a:tcPr>
                </a:tc>
                <a:tc>
                  <a:txBody>
                    <a:bodyPr/>
                    <a:lstStyle/>
                    <a:p>
                      <a:pPr algn="ctr" latinLnBrk="1"/>
                      <a:r>
                        <a:rPr lang="en-US" altLang="ko-KR" sz="1400" dirty="0"/>
                        <a:t>PCT 8(1)</a:t>
                      </a:r>
                      <a:endParaRPr lang="ko-KR" altLang="en-US" sz="1400" dirty="0"/>
                    </a:p>
                  </a:txBody>
                  <a:tcPr anchor="ctr">
                    <a:noFill/>
                  </a:tcPr>
                </a:tc>
                <a:tc>
                  <a:txBody>
                    <a:bodyPr/>
                    <a:lstStyle/>
                    <a:p>
                      <a:pPr algn="ctr" latinLnBrk="1"/>
                      <a:r>
                        <a:rPr lang="ko-KR" altLang="en-US" sz="1400" dirty="0"/>
                        <a:t>제</a:t>
                      </a:r>
                      <a:r>
                        <a:rPr lang="en-US" altLang="ko-KR" sz="1400" dirty="0"/>
                        <a:t>55</a:t>
                      </a:r>
                      <a:r>
                        <a:rPr lang="ko-KR" altLang="en-US" sz="1400" dirty="0"/>
                        <a:t>조</a:t>
                      </a:r>
                      <a:r>
                        <a:rPr lang="en-US" altLang="ko-KR" sz="1400" dirty="0"/>
                        <a:t>,</a:t>
                      </a:r>
                      <a:r>
                        <a:rPr lang="ko-KR" altLang="en-US" sz="1400" dirty="0"/>
                        <a:t>제</a:t>
                      </a:r>
                      <a:r>
                        <a:rPr lang="en-US" altLang="ko-KR" sz="1400" dirty="0"/>
                        <a:t>56</a:t>
                      </a:r>
                      <a:r>
                        <a:rPr lang="ko-KR" altLang="en-US" sz="1400" dirty="0"/>
                        <a:t>조</a:t>
                      </a:r>
                      <a:endParaRPr lang="en-US" altLang="ko-KR" sz="1400" dirty="0"/>
                    </a:p>
                  </a:txBody>
                  <a:tcPr anchor="ctr">
                    <a:noFill/>
                  </a:tcPr>
                </a:tc>
                <a:extLst>
                  <a:ext uri="{0D108BD9-81ED-4DB2-BD59-A6C34878D82A}">
                    <a16:rowId xmlns:a16="http://schemas.microsoft.com/office/drawing/2014/main" val="10002"/>
                  </a:ext>
                </a:extLst>
              </a:tr>
              <a:tr h="571250">
                <a:tc>
                  <a:txBody>
                    <a:bodyPr/>
                    <a:lstStyle/>
                    <a:p>
                      <a:pPr algn="ctr" latinLnBrk="1"/>
                      <a:r>
                        <a:rPr lang="ko-KR" altLang="en-US" sz="1400" dirty="0"/>
                        <a:t>효과</a:t>
                      </a:r>
                    </a:p>
                  </a:txBody>
                  <a:tcPr anchor="ctr"/>
                </a:tc>
                <a:tc>
                  <a:txBody>
                    <a:bodyPr/>
                    <a:lstStyle/>
                    <a:p>
                      <a:pPr algn="ctr" latinLnBrk="1"/>
                      <a:r>
                        <a:rPr lang="en-US" altLang="ko-KR" sz="1400" dirty="0"/>
                        <a:t>PCT 8(2)(b)</a:t>
                      </a:r>
                    </a:p>
                    <a:p>
                      <a:pPr algn="ctr" latinLnBrk="1"/>
                      <a:r>
                        <a:rPr lang="en-US" altLang="ko-KR" sz="1400" dirty="0"/>
                        <a:t>(</a:t>
                      </a:r>
                      <a:r>
                        <a:rPr lang="ko-KR" altLang="en-US" sz="1400" dirty="0"/>
                        <a:t>제</a:t>
                      </a:r>
                      <a:r>
                        <a:rPr lang="en-US" altLang="ko-KR" sz="1400" dirty="0"/>
                        <a:t>202</a:t>
                      </a:r>
                      <a:r>
                        <a:rPr lang="ko-KR" altLang="en-US" sz="1400" dirty="0"/>
                        <a:t>조</a:t>
                      </a:r>
                      <a:r>
                        <a:rPr lang="en-US" altLang="ko-KR" sz="1400" dirty="0"/>
                        <a:t>)</a:t>
                      </a:r>
                      <a:endParaRPr lang="ko-KR" altLang="en-US" sz="1400" dirty="0"/>
                    </a:p>
                  </a:txBody>
                  <a:tcPr anchor="ctr"/>
                </a:tc>
                <a:tc>
                  <a:txBody>
                    <a:bodyPr/>
                    <a:lstStyle/>
                    <a:p>
                      <a:pPr algn="ctr" latinLnBrk="1"/>
                      <a:r>
                        <a:rPr lang="ko-KR" altLang="en-US" sz="1400" dirty="0"/>
                        <a:t>제</a:t>
                      </a:r>
                      <a:r>
                        <a:rPr lang="en-US" altLang="ko-KR" sz="1400" dirty="0"/>
                        <a:t>55</a:t>
                      </a:r>
                      <a:r>
                        <a:rPr lang="ko-KR" altLang="en-US" sz="1400" dirty="0"/>
                        <a:t>조</a:t>
                      </a:r>
                      <a:r>
                        <a:rPr lang="en-US" altLang="ko-KR" sz="1400" dirty="0"/>
                        <a:t>,</a:t>
                      </a:r>
                      <a:r>
                        <a:rPr lang="ko-KR" altLang="en-US" sz="1400" dirty="0"/>
                        <a:t>제</a:t>
                      </a:r>
                      <a:r>
                        <a:rPr lang="en-US" altLang="ko-KR" sz="1400" dirty="0"/>
                        <a:t>56</a:t>
                      </a:r>
                      <a:r>
                        <a:rPr lang="ko-KR" altLang="en-US" sz="1400" dirty="0"/>
                        <a:t>조</a:t>
                      </a:r>
                      <a:endParaRPr lang="en-US" altLang="ko-KR" sz="1400" dirty="0"/>
                    </a:p>
                  </a:txBody>
                  <a:tcPr anchor="ctr"/>
                </a:tc>
                <a:extLst>
                  <a:ext uri="{0D108BD9-81ED-4DB2-BD59-A6C34878D82A}">
                    <a16:rowId xmlns:a16="http://schemas.microsoft.com/office/drawing/2014/main" val="10003"/>
                  </a:ext>
                </a:extLst>
              </a:tr>
            </a:tbl>
          </a:graphicData>
        </a:graphic>
      </p:graphicFrame>
      <p:cxnSp>
        <p:nvCxnSpPr>
          <p:cNvPr id="14" name="꺾인 연결선 13"/>
          <p:cNvCxnSpPr>
            <a:endCxn id="45" idx="0"/>
          </p:cNvCxnSpPr>
          <p:nvPr/>
        </p:nvCxnSpPr>
        <p:spPr>
          <a:xfrm rot="10800000" flipV="1">
            <a:off x="2205038" y="2157335"/>
            <a:ext cx="1166831" cy="900190"/>
          </a:xfrm>
          <a:prstGeom prst="bentConnector2">
            <a:avLst/>
          </a:prstGeom>
          <a:ln w="381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 name="타원 17"/>
          <p:cNvSpPr/>
          <p:nvPr/>
        </p:nvSpPr>
        <p:spPr>
          <a:xfrm>
            <a:off x="3438544" y="1809750"/>
            <a:ext cx="952481" cy="962025"/>
          </a:xfrm>
          <a:prstGeom prst="ellipse">
            <a:avLst/>
          </a:prstGeom>
          <a:noFill/>
          <a:ln w="5715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52" name="직사각형 51"/>
          <p:cNvSpPr/>
          <p:nvPr/>
        </p:nvSpPr>
        <p:spPr>
          <a:xfrm>
            <a:off x="4505325" y="3248025"/>
            <a:ext cx="3200400" cy="485775"/>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우선순위를 부여하여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8(2)(a)</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가 적용되지 않은 경우에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8(2)(b)</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가 적용</a:t>
            </a:r>
          </a:p>
        </p:txBody>
      </p:sp>
      <p:cxnSp>
        <p:nvCxnSpPr>
          <p:cNvPr id="20" name="꺾인 연결선 19"/>
          <p:cNvCxnSpPr>
            <a:stCxn id="18" idx="4"/>
            <a:endCxn id="52" idx="0"/>
          </p:cNvCxnSpPr>
          <p:nvPr/>
        </p:nvCxnSpPr>
        <p:spPr>
          <a:xfrm rot="16200000" flipH="1">
            <a:off x="4772030" y="1914530"/>
            <a:ext cx="476250" cy="2190740"/>
          </a:xfrm>
          <a:prstGeom prst="bentConnector3">
            <a:avLst>
              <a:gd name="adj1" fmla="val 32000"/>
            </a:avLst>
          </a:prstGeom>
          <a:ln w="38100">
            <a:solidFill>
              <a:srgbClr val="FF0000"/>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 name="직사각형 55"/>
          <p:cNvSpPr/>
          <p:nvPr/>
        </p:nvSpPr>
        <p:spPr>
          <a:xfrm>
            <a:off x="4505325" y="4110037"/>
            <a:ext cx="3200400" cy="485775"/>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8(2)(b)</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가 적용되는 경우를 자기지정이라고 함</a:t>
            </a:r>
          </a:p>
        </p:txBody>
      </p:sp>
      <p:cxnSp>
        <p:nvCxnSpPr>
          <p:cNvPr id="24" name="직선 연결선 23"/>
          <p:cNvCxnSpPr>
            <a:stCxn id="52" idx="2"/>
            <a:endCxn id="56" idx="0"/>
          </p:cNvCxnSpPr>
          <p:nvPr/>
        </p:nvCxnSpPr>
        <p:spPr>
          <a:xfrm>
            <a:off x="6105525" y="3733800"/>
            <a:ext cx="0" cy="37623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직사각형 64"/>
          <p:cNvSpPr/>
          <p:nvPr/>
        </p:nvSpPr>
        <p:spPr>
          <a:xfrm>
            <a:off x="8048626" y="2687576"/>
            <a:ext cx="646331" cy="646331"/>
          </a:xfrm>
          <a:prstGeom prst="rect">
            <a:avLst/>
          </a:prstGeom>
        </p:spPr>
        <p:txBody>
          <a:bodyPr wrap="non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3600" b="0" i="0" u="none" strike="noStrike" kern="1200" cap="none" spc="0" normalizeH="0" baseline="0" noProof="0" dirty="0">
                <a:ln>
                  <a:noFill/>
                </a:ln>
                <a:solidFill>
                  <a:srgbClr val="FF0000"/>
                </a:solidFill>
                <a:effectLst/>
                <a:uLnTx/>
                <a:uFillTx/>
                <a:latin typeface="Frutiger LT 65 Bold"/>
                <a:ea typeface="Rix모던고딕 B"/>
                <a:cs typeface="+mn-cs"/>
              </a:rPr>
              <a:t>❶</a:t>
            </a:r>
          </a:p>
        </p:txBody>
      </p:sp>
      <p:sp>
        <p:nvSpPr>
          <p:cNvPr id="67" name="직사각형 66"/>
          <p:cNvSpPr/>
          <p:nvPr/>
        </p:nvSpPr>
        <p:spPr>
          <a:xfrm>
            <a:off x="4885088" y="2598003"/>
            <a:ext cx="646331" cy="646331"/>
          </a:xfrm>
          <a:prstGeom prst="rect">
            <a:avLst/>
          </a:prstGeom>
        </p:spPr>
        <p:txBody>
          <a:bodyPr wrap="non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3600" b="0" i="0" u="none" strike="noStrike" kern="1200" cap="none" spc="0" normalizeH="0" baseline="0" noProof="0" dirty="0">
                <a:ln>
                  <a:noFill/>
                </a:ln>
                <a:solidFill>
                  <a:srgbClr val="FF0000"/>
                </a:solidFill>
                <a:effectLst/>
                <a:uLnTx/>
                <a:uFillTx/>
                <a:latin typeface="Frutiger LT 65 Bold"/>
                <a:ea typeface="Rix모던고딕 B"/>
                <a:cs typeface="+mn-cs"/>
              </a:rPr>
              <a:t>❷</a:t>
            </a:r>
          </a:p>
        </p:txBody>
      </p:sp>
      <p:sp>
        <p:nvSpPr>
          <p:cNvPr id="68" name="직사각형 67"/>
          <p:cNvSpPr/>
          <p:nvPr/>
        </p:nvSpPr>
        <p:spPr>
          <a:xfrm>
            <a:off x="141200" y="2607430"/>
            <a:ext cx="646331" cy="646331"/>
          </a:xfrm>
          <a:prstGeom prst="rect">
            <a:avLst/>
          </a:prstGeom>
        </p:spPr>
        <p:txBody>
          <a:bodyPr wrap="non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3600" b="0" i="0" u="none" strike="noStrike" kern="1200" cap="none" spc="0" normalizeH="0" baseline="0" noProof="0" dirty="0">
                <a:ln>
                  <a:noFill/>
                </a:ln>
                <a:solidFill>
                  <a:srgbClr val="FF0000"/>
                </a:solidFill>
                <a:effectLst/>
                <a:uLnTx/>
                <a:uFillTx/>
                <a:latin typeface="Frutiger LT 65 Bold"/>
                <a:ea typeface="Rix모던고딕 B"/>
                <a:cs typeface="+mn-cs"/>
              </a:rPr>
              <a:t>❸</a:t>
            </a:r>
          </a:p>
        </p:txBody>
      </p:sp>
      <p:sp>
        <p:nvSpPr>
          <p:cNvPr id="5" name="슬라이드 번호 개체 틀 4"/>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578</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683838238"/>
      </p:ext>
    </p:extLst>
  </p:cSld>
  <p:clrMapOvr>
    <a:masterClrMapping/>
  </p:clrMapOvr>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202</a:t>
            </a:r>
            <a:r>
              <a:rPr lang="ko-KR" altLang="en-US" dirty="0"/>
              <a:t>조</a:t>
            </a:r>
          </a:p>
        </p:txBody>
      </p:sp>
      <p:sp>
        <p:nvSpPr>
          <p:cNvPr id="4" name="텍스트 개체 틀 3"/>
          <p:cNvSpPr>
            <a:spLocks noGrp="1"/>
          </p:cNvSpPr>
          <p:nvPr>
            <p:ph type="body" sz="quarter" idx="13"/>
          </p:nvPr>
        </p:nvSpPr>
        <p:spPr/>
        <p:txBody>
          <a:bodyPr/>
          <a:lstStyle/>
          <a:p>
            <a:r>
              <a:rPr lang="en-US" altLang="ko-KR" dirty="0"/>
              <a:t>PCT 8(2)(b) </a:t>
            </a:r>
            <a:r>
              <a:rPr lang="ko-KR" altLang="en-US" dirty="0"/>
              <a:t>자기지정의 해석</a:t>
            </a:r>
          </a:p>
        </p:txBody>
      </p:sp>
      <p:cxnSp>
        <p:nvCxnSpPr>
          <p:cNvPr id="25" name="직선 연결선 24"/>
          <p:cNvCxnSpPr/>
          <p:nvPr/>
        </p:nvCxnSpPr>
        <p:spPr>
          <a:xfrm>
            <a:off x="77875" y="393232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77875" y="976902"/>
            <a:ext cx="11936323" cy="738664"/>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「자기지정」이란 어느 체약국에서 또는 어느 체약국에 대하여 행하여진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의한 우선권주장을 수반하는 국제출원에 해당 체약국의 지정을 포함하는 것을 말한다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국제출원이 어느 </a:t>
            </a:r>
            <a:r>
              <a:rPr kumimoji="0" lang="ko-KR" altLang="en-US" sz="1400" b="0" i="0" u="none" strike="noStrike" kern="1200" cap="none" spc="0" normalizeH="0" baseline="0" noProof="0" dirty="0" err="1">
                <a:ln>
                  <a:noFill/>
                </a:ln>
                <a:solidFill>
                  <a:srgbClr val="A5A5A5">
                    <a:lumMod val="50000"/>
                  </a:srgbClr>
                </a:solidFill>
                <a:effectLst/>
                <a:highlight>
                  <a:srgbClr val="FFFF00"/>
                </a:highlight>
                <a:uLnTx/>
                <a:uFillTx/>
                <a:latin typeface="Frutiger LT 65 Bold"/>
                <a:ea typeface="Rix모던고딕 B"/>
                <a:cs typeface="+mn-cs"/>
              </a:rPr>
              <a:t>지정국에서</a:t>
            </a:r>
            <a:r>
              <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 또는 어느 지정국에 대하여 행하여진 국내출원에 의한 우선권주장을 수반하는 경우 또는 하나의 국가만의 지정을 포함한 국제출원에 의한 우선권주장을 수반하는 경우에는 해당 지정국에서의 요건 및 효과는 해당 지정국의 국내법령이 정하는 바에 의한다</a:t>
            </a:r>
            <a:r>
              <a:rPr kumimoji="0" lang="en-US" altLang="ko-KR"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rPr>
              <a:t>(PCT 8(2)(b)). </a:t>
            </a:r>
            <a:endParaRPr kumimoji="0" lang="ko-KR" altLang="en-US" sz="1400" b="0" i="0" u="none" strike="noStrike" kern="1200" cap="none" spc="0" normalizeH="0" baseline="0" noProof="0" dirty="0">
              <a:ln>
                <a:noFill/>
              </a:ln>
              <a:solidFill>
                <a:srgbClr val="A5A5A5">
                  <a:lumMod val="50000"/>
                </a:srgbClr>
              </a:solidFill>
              <a:effectLst/>
              <a:highlight>
                <a:srgbClr val="FFFF00"/>
              </a:highlight>
              <a:uLnTx/>
              <a:uFillTx/>
              <a:latin typeface="Frutiger LT 65 Bold"/>
              <a:ea typeface="Rix모던고딕 B"/>
              <a:cs typeface="+mn-cs"/>
            </a:endParaRPr>
          </a:p>
        </p:txBody>
      </p:sp>
      <p:graphicFrame>
        <p:nvGraphicFramePr>
          <p:cNvPr id="7" name="표 6"/>
          <p:cNvGraphicFramePr>
            <a:graphicFrameLocks noGrp="1"/>
          </p:cNvGraphicFramePr>
          <p:nvPr/>
        </p:nvGraphicFramePr>
        <p:xfrm>
          <a:off x="190500" y="1715567"/>
          <a:ext cx="11645901" cy="2135124"/>
        </p:xfrm>
        <a:graphic>
          <a:graphicData uri="http://schemas.openxmlformats.org/drawingml/2006/table">
            <a:tbl>
              <a:tblPr>
                <a:tableStyleId>{8799B23B-EC83-4686-B30A-512413B5E67A}</a:tableStyleId>
              </a:tblPr>
              <a:tblGrid>
                <a:gridCol w="917847">
                  <a:extLst>
                    <a:ext uri="{9D8B030D-6E8A-4147-A177-3AD203B41FA5}">
                      <a16:colId xmlns:a16="http://schemas.microsoft.com/office/drawing/2014/main" val="20000"/>
                    </a:ext>
                  </a:extLst>
                </a:gridCol>
                <a:gridCol w="2777853">
                  <a:extLst>
                    <a:ext uri="{9D8B030D-6E8A-4147-A177-3AD203B41FA5}">
                      <a16:colId xmlns:a16="http://schemas.microsoft.com/office/drawing/2014/main" val="20001"/>
                    </a:ext>
                  </a:extLst>
                </a:gridCol>
                <a:gridCol w="2832100">
                  <a:extLst>
                    <a:ext uri="{9D8B030D-6E8A-4147-A177-3AD203B41FA5}">
                      <a16:colId xmlns:a16="http://schemas.microsoft.com/office/drawing/2014/main" val="20002"/>
                    </a:ext>
                  </a:extLst>
                </a:gridCol>
                <a:gridCol w="5118101">
                  <a:extLst>
                    <a:ext uri="{9D8B030D-6E8A-4147-A177-3AD203B41FA5}">
                      <a16:colId xmlns:a16="http://schemas.microsoft.com/office/drawing/2014/main" val="20003"/>
                    </a:ext>
                  </a:extLst>
                </a:gridCol>
              </a:tblGrid>
              <a:tr h="63141">
                <a:tc>
                  <a:txBody>
                    <a:bodyPr/>
                    <a:lstStyle/>
                    <a:p>
                      <a:pPr marL="0" marR="0" indent="0" algn="ctr" fontAlgn="base" latinLnBrk="0">
                        <a:lnSpc>
                          <a:spcPct val="100000"/>
                        </a:lnSpc>
                        <a:spcBef>
                          <a:spcPts val="0"/>
                        </a:spcBef>
                        <a:spcAft>
                          <a:spcPts val="0"/>
                        </a:spcAft>
                      </a:pPr>
                      <a:r>
                        <a:rPr lang="ko-KR" altLang="en-US" sz="1400" kern="1200" dirty="0"/>
                        <a:t>구 분</a:t>
                      </a:r>
                      <a:endParaRPr lang="ko-KR" altLang="en-US" sz="14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400" kern="1200" dirty="0" err="1"/>
                        <a:t>선출원</a:t>
                      </a:r>
                      <a:endParaRPr lang="ko-KR" altLang="en-US" sz="14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400" kern="1200"/>
                        <a:t>후출원</a:t>
                      </a:r>
                      <a:r>
                        <a:rPr lang="en-US" altLang="ko-KR" sz="1400" kern="1200"/>
                        <a:t>(</a:t>
                      </a:r>
                      <a:r>
                        <a:rPr lang="ko-KR" altLang="en-US" sz="1400" kern="1200"/>
                        <a:t>우선권주장출원</a:t>
                      </a:r>
                      <a:r>
                        <a:rPr lang="en-US" altLang="ko-KR" sz="1400" kern="1200"/>
                        <a:t>)</a:t>
                      </a:r>
                      <a:endParaRPr lang="ko-KR" altLang="en-US" sz="1400" kern="1200">
                        <a:solidFill>
                          <a:schemeClr val="tx2"/>
                        </a:solidFill>
                        <a:latin typeface="+mn-lt"/>
                        <a:ea typeface="+mn-ea"/>
                        <a:cs typeface="+mn-cs"/>
                      </a:endParaRPr>
                    </a:p>
                  </a:txBody>
                  <a:tcPr marL="72000" marR="72000" marT="17907" marB="17907"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400" kern="1200" dirty="0"/>
                        <a:t>비 고</a:t>
                      </a:r>
                      <a:endParaRPr lang="ko-KR" altLang="en-US" sz="1400" kern="1200" dirty="0">
                        <a:solidFill>
                          <a:schemeClr val="tx2"/>
                        </a:solidFill>
                        <a:latin typeface="+mn-lt"/>
                        <a:ea typeface="+mn-ea"/>
                        <a:cs typeface="+mn-cs"/>
                      </a:endParaRPr>
                    </a:p>
                  </a:txBody>
                  <a:tcPr marL="72000" marR="72000" marT="17907" marB="17907" anchor="ctr">
                    <a:solidFill>
                      <a:schemeClr val="accent1">
                        <a:lumMod val="20000"/>
                        <a:lumOff val="80000"/>
                      </a:schemeClr>
                    </a:solidFill>
                  </a:tcPr>
                </a:tc>
                <a:extLst>
                  <a:ext uri="{0D108BD9-81ED-4DB2-BD59-A6C34878D82A}">
                    <a16:rowId xmlns:a16="http://schemas.microsoft.com/office/drawing/2014/main" val="10000"/>
                  </a:ext>
                </a:extLst>
              </a:tr>
              <a:tr h="63141">
                <a:tc rowSpan="2">
                  <a:txBody>
                    <a:bodyPr/>
                    <a:lstStyle/>
                    <a:p>
                      <a:pPr marL="0" marR="0" indent="0" algn="ctr" fontAlgn="base" latinLnBrk="0">
                        <a:lnSpc>
                          <a:spcPct val="100000"/>
                        </a:lnSpc>
                        <a:spcBef>
                          <a:spcPts val="0"/>
                        </a:spcBef>
                        <a:spcAft>
                          <a:spcPts val="0"/>
                        </a:spcAft>
                      </a:pPr>
                      <a:r>
                        <a:rPr lang="ko-KR" altLang="en-US" sz="1400" kern="1200" dirty="0"/>
                        <a:t>자기지정○</a:t>
                      </a:r>
                      <a:endParaRPr lang="ko-KR" altLang="en-US" sz="1400" kern="1200" dirty="0">
                        <a:solidFill>
                          <a:schemeClr val="tx2"/>
                        </a:solidFill>
                        <a:latin typeface="+mn-lt"/>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ko-KR" altLang="en-US" sz="1400" kern="1200"/>
                        <a:t>한국</a:t>
                      </a:r>
                      <a:endParaRPr lang="ko-KR" altLang="en-US" sz="1400" kern="1200">
                        <a:solidFill>
                          <a:schemeClr val="tx2"/>
                        </a:solidFill>
                        <a:latin typeface="+mn-lt"/>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en-US" altLang="ko-KR" sz="1400" kern="1200"/>
                        <a:t>PCT(</a:t>
                      </a:r>
                      <a:r>
                        <a:rPr lang="ko-KR" altLang="en-US" sz="1400" kern="1200"/>
                        <a:t>한국</a:t>
                      </a:r>
                      <a:r>
                        <a:rPr lang="en-US" altLang="ko-KR" sz="1400" kern="1200"/>
                        <a:t>, </a:t>
                      </a:r>
                      <a:r>
                        <a:rPr lang="ko-KR" altLang="en-US" sz="1400" kern="1200"/>
                        <a:t>미국</a:t>
                      </a:r>
                      <a:r>
                        <a:rPr lang="en-US" altLang="ko-KR" sz="1400" kern="1200"/>
                        <a:t>, </a:t>
                      </a:r>
                      <a:r>
                        <a:rPr lang="ko-KR" altLang="en-US" sz="1400" kern="1200"/>
                        <a:t>일본 등</a:t>
                      </a:r>
                      <a:r>
                        <a:rPr lang="en-US" altLang="ko-KR" sz="1400" kern="1200"/>
                        <a:t>)</a:t>
                      </a:r>
                      <a:endParaRPr lang="ko-KR" altLang="en-US" sz="1400" kern="1200">
                        <a:solidFill>
                          <a:schemeClr val="tx2"/>
                        </a:solidFill>
                        <a:latin typeface="+mn-lt"/>
                        <a:ea typeface="+mn-ea"/>
                        <a:cs typeface="+mn-cs"/>
                      </a:endParaRPr>
                    </a:p>
                  </a:txBody>
                  <a:tcPr marL="72000" marR="72000" marT="17907" marB="17907" anchor="ctr"/>
                </a:tc>
                <a:tc rowSpan="2">
                  <a:txBody>
                    <a:bodyPr/>
                    <a:lstStyle/>
                    <a:p>
                      <a:pPr marL="17780" marR="17780" indent="0" algn="just" fontAlgn="base" latinLnBrk="1">
                        <a:lnSpc>
                          <a:spcPct val="100000"/>
                        </a:lnSpc>
                        <a:spcBef>
                          <a:spcPts val="0"/>
                        </a:spcBef>
                        <a:spcAft>
                          <a:spcPts val="0"/>
                        </a:spcAft>
                      </a:pPr>
                      <a:r>
                        <a:rPr lang="ko-KR" altLang="en-US" sz="1400" kern="1200"/>
                        <a:t>지정국 한국에 대해서는 </a:t>
                      </a:r>
                      <a:r>
                        <a:rPr lang="en-US" altLang="ko-KR" sz="1400" kern="1200"/>
                        <a:t>PCT 8(1),(2)b)</a:t>
                      </a:r>
                      <a:r>
                        <a:rPr lang="ko-KR" altLang="en-US" sz="1400" kern="1200"/>
                        <a:t>가 적용이 되며</a:t>
                      </a:r>
                      <a:r>
                        <a:rPr lang="en-US" altLang="ko-KR" sz="1400" kern="1200"/>
                        <a:t>, </a:t>
                      </a:r>
                      <a:r>
                        <a:rPr lang="ko-KR" altLang="en-US" sz="1400" kern="1200"/>
                        <a:t>한국이 아닌 지정국에 대해서는 </a:t>
                      </a:r>
                      <a:r>
                        <a:rPr lang="en-US" altLang="ko-KR" sz="1400" kern="1200"/>
                        <a:t>PCT 8(1),(2)a)</a:t>
                      </a:r>
                      <a:r>
                        <a:rPr lang="ko-KR" altLang="en-US" sz="1400" kern="1200"/>
                        <a:t>가 적용</a:t>
                      </a:r>
                      <a:endParaRPr lang="ko-KR" altLang="en-US" sz="1400" kern="1200">
                        <a:solidFill>
                          <a:schemeClr val="tx2"/>
                        </a:solidFill>
                        <a:latin typeface="+mn-lt"/>
                        <a:ea typeface="+mn-ea"/>
                        <a:cs typeface="+mn-cs"/>
                      </a:endParaRPr>
                    </a:p>
                  </a:txBody>
                  <a:tcPr marL="72000" marR="72000" marT="17907" marB="17907" anchor="ctr"/>
                </a:tc>
                <a:extLst>
                  <a:ext uri="{0D108BD9-81ED-4DB2-BD59-A6C34878D82A}">
                    <a16:rowId xmlns:a16="http://schemas.microsoft.com/office/drawing/2014/main" val="10001"/>
                  </a:ext>
                </a:extLst>
              </a:tr>
              <a:tr h="108132">
                <a:tc vMerge="1">
                  <a:txBody>
                    <a:bodyPr/>
                    <a:lstStyle/>
                    <a:p>
                      <a:pPr latinLnBrk="1"/>
                      <a:endParaRPr lang="ko-KR" altLang="en-US"/>
                    </a:p>
                  </a:txBody>
                  <a:tcPr/>
                </a:tc>
                <a:tc>
                  <a:txBody>
                    <a:bodyPr/>
                    <a:lstStyle/>
                    <a:p>
                      <a:pPr marL="17780" marR="17780" indent="0" algn="ctr" fontAlgn="base" latinLnBrk="0">
                        <a:lnSpc>
                          <a:spcPct val="100000"/>
                        </a:lnSpc>
                        <a:spcBef>
                          <a:spcPts val="0"/>
                        </a:spcBef>
                        <a:spcAft>
                          <a:spcPts val="0"/>
                        </a:spcAft>
                      </a:pPr>
                      <a:r>
                        <a:rPr lang="en-US" sz="1400" kern="1200" dirty="0"/>
                        <a:t>PCT(</a:t>
                      </a:r>
                      <a:r>
                        <a:rPr lang="ko-KR" altLang="en-US" sz="1400" kern="1200" dirty="0"/>
                        <a:t>한국</a:t>
                      </a:r>
                      <a:r>
                        <a:rPr lang="en-US" altLang="ko-KR" sz="1400" kern="1200" dirty="0"/>
                        <a:t>)</a:t>
                      </a:r>
                      <a:endParaRPr lang="ko-KR" altLang="en-US" sz="1400" kern="1200" dirty="0">
                        <a:solidFill>
                          <a:schemeClr val="tx2"/>
                        </a:solidFill>
                        <a:latin typeface="+mn-lt"/>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en-US" altLang="ko-KR" sz="1400" kern="1200" dirty="0"/>
                        <a:t>PCT(</a:t>
                      </a:r>
                      <a:r>
                        <a:rPr lang="ko-KR" altLang="en-US" sz="1400" kern="1200" dirty="0"/>
                        <a:t>한국</a:t>
                      </a:r>
                      <a:r>
                        <a:rPr lang="en-US" altLang="ko-KR" sz="1400" kern="1200" dirty="0"/>
                        <a:t>, </a:t>
                      </a:r>
                      <a:r>
                        <a:rPr lang="ko-KR" altLang="en-US" sz="1400" kern="1200" dirty="0"/>
                        <a:t>미국</a:t>
                      </a:r>
                      <a:r>
                        <a:rPr lang="en-US" altLang="ko-KR" sz="1400" kern="1200" dirty="0"/>
                        <a:t>, </a:t>
                      </a:r>
                      <a:r>
                        <a:rPr lang="ko-KR" altLang="en-US" sz="1400" kern="1200" dirty="0"/>
                        <a:t>일본 등</a:t>
                      </a:r>
                      <a:r>
                        <a:rPr lang="en-US" altLang="ko-KR" sz="1400" kern="1200" dirty="0"/>
                        <a:t>)</a:t>
                      </a:r>
                      <a:endParaRPr lang="ko-KR" altLang="en-US" sz="1400" kern="1200" dirty="0">
                        <a:solidFill>
                          <a:schemeClr val="tx2"/>
                        </a:solidFill>
                        <a:latin typeface="+mn-lt"/>
                        <a:ea typeface="+mn-ea"/>
                        <a:cs typeface="+mn-cs"/>
                      </a:endParaRPr>
                    </a:p>
                  </a:txBody>
                  <a:tcPr marL="72000" marR="72000" marT="17907" marB="17907" anchor="ctr"/>
                </a:tc>
                <a:tc vMerge="1">
                  <a:txBody>
                    <a:bodyPr/>
                    <a:lstStyle/>
                    <a:p>
                      <a:pPr latinLnBrk="1"/>
                      <a:endParaRPr lang="ko-KR" altLang="en-US"/>
                    </a:p>
                  </a:txBody>
                  <a:tcPr/>
                </a:tc>
                <a:extLst>
                  <a:ext uri="{0D108BD9-81ED-4DB2-BD59-A6C34878D82A}">
                    <a16:rowId xmlns:a16="http://schemas.microsoft.com/office/drawing/2014/main" val="10002"/>
                  </a:ext>
                </a:extLst>
              </a:tr>
              <a:tr h="117207">
                <a:tc rowSpan="2">
                  <a:txBody>
                    <a:bodyPr/>
                    <a:lstStyle/>
                    <a:p>
                      <a:pPr marL="0" marR="0" indent="0" algn="ctr" fontAlgn="base" latinLnBrk="0">
                        <a:lnSpc>
                          <a:spcPct val="100000"/>
                        </a:lnSpc>
                        <a:spcBef>
                          <a:spcPts val="0"/>
                        </a:spcBef>
                        <a:spcAft>
                          <a:spcPts val="0"/>
                        </a:spcAft>
                      </a:pPr>
                      <a:r>
                        <a:rPr lang="ko-KR" altLang="en-US" sz="1400" kern="1200"/>
                        <a:t>자기지정</a:t>
                      </a:r>
                      <a:r>
                        <a:rPr lang="en-US" altLang="ko-KR" sz="1400" kern="1200"/>
                        <a:t>×</a:t>
                      </a:r>
                      <a:endParaRPr lang="ko-KR" altLang="en-US" sz="1400" kern="1200">
                        <a:solidFill>
                          <a:schemeClr val="tx2"/>
                        </a:solidFill>
                        <a:latin typeface="+mn-lt"/>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en-US" altLang="ko-KR" sz="1400" kern="1200"/>
                        <a:t>PCT(</a:t>
                      </a:r>
                      <a:r>
                        <a:rPr lang="ko-KR" altLang="en-US" sz="1400" kern="1200"/>
                        <a:t>한국</a:t>
                      </a:r>
                      <a:r>
                        <a:rPr lang="en-US" altLang="ko-KR" sz="1400" kern="1200"/>
                        <a:t>, </a:t>
                      </a:r>
                      <a:r>
                        <a:rPr lang="ko-KR" altLang="en-US" sz="1400" kern="1200"/>
                        <a:t>미국</a:t>
                      </a:r>
                      <a:r>
                        <a:rPr lang="en-US" altLang="ko-KR" sz="1400" kern="1200"/>
                        <a:t>, </a:t>
                      </a:r>
                      <a:r>
                        <a:rPr lang="ko-KR" altLang="en-US" sz="1400" kern="1200"/>
                        <a:t>일본 등</a:t>
                      </a:r>
                      <a:r>
                        <a:rPr lang="en-US" altLang="ko-KR" sz="1400" kern="1200"/>
                        <a:t>)</a:t>
                      </a:r>
                      <a:endParaRPr lang="ko-KR" altLang="en-US" sz="1400" kern="1200">
                        <a:solidFill>
                          <a:schemeClr val="tx2"/>
                        </a:solidFill>
                        <a:latin typeface="+mn-lt"/>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en-US" altLang="ko-KR" sz="1400" kern="1200" dirty="0"/>
                        <a:t>PCT(</a:t>
                      </a:r>
                      <a:r>
                        <a:rPr lang="ko-KR" altLang="en-US" sz="1400" kern="1200" dirty="0"/>
                        <a:t>한국</a:t>
                      </a:r>
                      <a:r>
                        <a:rPr lang="en-US" altLang="ko-KR" sz="1400" kern="1200" dirty="0"/>
                        <a:t>, </a:t>
                      </a:r>
                      <a:r>
                        <a:rPr lang="ko-KR" altLang="en-US" sz="1400" kern="1200" dirty="0"/>
                        <a:t>미국</a:t>
                      </a:r>
                      <a:r>
                        <a:rPr lang="en-US" altLang="ko-KR" sz="1400" kern="1200" dirty="0"/>
                        <a:t>, </a:t>
                      </a:r>
                      <a:r>
                        <a:rPr lang="ko-KR" altLang="en-US" sz="1400" kern="1200" dirty="0"/>
                        <a:t>일본 등</a:t>
                      </a:r>
                      <a:r>
                        <a:rPr lang="en-US" altLang="ko-KR" sz="1400" kern="1200" dirty="0"/>
                        <a:t>)</a:t>
                      </a:r>
                      <a:endParaRPr lang="ko-KR" altLang="en-US" sz="1400" kern="1200" dirty="0">
                        <a:solidFill>
                          <a:schemeClr val="tx2"/>
                        </a:solidFill>
                        <a:latin typeface="+mn-lt"/>
                        <a:ea typeface="+mn-ea"/>
                        <a:cs typeface="+mn-cs"/>
                      </a:endParaRPr>
                    </a:p>
                  </a:txBody>
                  <a:tcPr marL="72000" marR="72000" marT="17907" marB="17907" anchor="ctr"/>
                </a:tc>
                <a:tc>
                  <a:txBody>
                    <a:bodyPr/>
                    <a:lstStyle/>
                    <a:p>
                      <a:pPr marL="17780" marR="17780" indent="0" algn="just" fontAlgn="base" latinLnBrk="1">
                        <a:lnSpc>
                          <a:spcPct val="100000"/>
                        </a:lnSpc>
                        <a:spcBef>
                          <a:spcPts val="0"/>
                        </a:spcBef>
                        <a:spcAft>
                          <a:spcPts val="0"/>
                        </a:spcAft>
                      </a:pPr>
                      <a:r>
                        <a:rPr lang="en-US" altLang="ko-KR" sz="1400" kern="1200"/>
                        <a:t>PCT 8(1),(2)a)</a:t>
                      </a:r>
                      <a:r>
                        <a:rPr lang="ko-KR" altLang="en-US" sz="1400" kern="1200"/>
                        <a:t>에 의한 조약우선권주장의 요건 및 효과 적용</a:t>
                      </a:r>
                      <a:endParaRPr lang="ko-KR" altLang="en-US" sz="1400" kern="1200">
                        <a:solidFill>
                          <a:schemeClr val="tx2"/>
                        </a:solidFill>
                        <a:latin typeface="+mn-lt"/>
                        <a:ea typeface="+mn-ea"/>
                        <a:cs typeface="+mn-cs"/>
                      </a:endParaRPr>
                    </a:p>
                  </a:txBody>
                  <a:tcPr marL="72000" marR="72000" marT="17907" marB="17907" anchor="ctr"/>
                </a:tc>
                <a:extLst>
                  <a:ext uri="{0D108BD9-81ED-4DB2-BD59-A6C34878D82A}">
                    <a16:rowId xmlns:a16="http://schemas.microsoft.com/office/drawing/2014/main" val="10003"/>
                  </a:ext>
                </a:extLst>
              </a:tr>
              <a:tr h="117207">
                <a:tc vMerge="1">
                  <a:txBody>
                    <a:bodyPr/>
                    <a:lstStyle/>
                    <a:p>
                      <a:pPr latinLnBrk="1"/>
                      <a:endParaRPr lang="ko-KR" altLang="en-US"/>
                    </a:p>
                  </a:txBody>
                  <a:tcPr/>
                </a:tc>
                <a:tc>
                  <a:txBody>
                    <a:bodyPr/>
                    <a:lstStyle/>
                    <a:p>
                      <a:pPr marL="17780" marR="17780" indent="0" algn="ctr" fontAlgn="base" latinLnBrk="0">
                        <a:lnSpc>
                          <a:spcPct val="100000"/>
                        </a:lnSpc>
                        <a:spcBef>
                          <a:spcPts val="0"/>
                        </a:spcBef>
                        <a:spcAft>
                          <a:spcPts val="0"/>
                        </a:spcAft>
                      </a:pPr>
                      <a:r>
                        <a:rPr lang="en-US" altLang="ko-KR" sz="1400" kern="1200"/>
                        <a:t>PCT(</a:t>
                      </a:r>
                      <a:r>
                        <a:rPr lang="ko-KR" altLang="en-US" sz="1400" kern="1200"/>
                        <a:t>한국</a:t>
                      </a:r>
                      <a:r>
                        <a:rPr lang="en-US" altLang="ko-KR" sz="1400" kern="1200"/>
                        <a:t>, </a:t>
                      </a:r>
                      <a:r>
                        <a:rPr lang="ko-KR" altLang="en-US" sz="1400" kern="1200"/>
                        <a:t>미국</a:t>
                      </a:r>
                      <a:r>
                        <a:rPr lang="en-US" altLang="ko-KR" sz="1400" kern="1200"/>
                        <a:t>, </a:t>
                      </a:r>
                      <a:r>
                        <a:rPr lang="ko-KR" altLang="en-US" sz="1400" kern="1200"/>
                        <a:t>일본 등</a:t>
                      </a:r>
                      <a:r>
                        <a:rPr lang="en-US" altLang="ko-KR" sz="1400" kern="1200"/>
                        <a:t>)</a:t>
                      </a:r>
                      <a:endParaRPr lang="ko-KR" altLang="en-US" sz="1400" kern="1200">
                        <a:solidFill>
                          <a:schemeClr val="tx2"/>
                        </a:solidFill>
                        <a:latin typeface="+mn-lt"/>
                        <a:ea typeface="+mn-ea"/>
                        <a:cs typeface="+mn-cs"/>
                      </a:endParaRPr>
                    </a:p>
                  </a:txBody>
                  <a:tcPr marL="72000" marR="72000" marT="17907" marB="17907" anchor="ctr"/>
                </a:tc>
                <a:tc>
                  <a:txBody>
                    <a:bodyPr/>
                    <a:lstStyle/>
                    <a:p>
                      <a:pPr marL="17780" marR="17780" indent="0" algn="ctr" fontAlgn="base" latinLnBrk="0">
                        <a:lnSpc>
                          <a:spcPct val="100000"/>
                        </a:lnSpc>
                        <a:spcBef>
                          <a:spcPts val="0"/>
                        </a:spcBef>
                        <a:spcAft>
                          <a:spcPts val="0"/>
                        </a:spcAft>
                      </a:pPr>
                      <a:r>
                        <a:rPr lang="ko-KR" altLang="en-US" sz="1400" kern="1200" dirty="0"/>
                        <a:t>한국</a:t>
                      </a:r>
                      <a:endParaRPr lang="ko-KR" altLang="en-US" sz="1400" kern="1200" dirty="0">
                        <a:solidFill>
                          <a:schemeClr val="tx2"/>
                        </a:solidFill>
                        <a:latin typeface="+mn-lt"/>
                        <a:ea typeface="+mn-ea"/>
                        <a:cs typeface="+mn-cs"/>
                      </a:endParaRPr>
                    </a:p>
                  </a:txBody>
                  <a:tcPr marL="72000" marR="72000" marT="17907" marB="17907" anchor="ctr"/>
                </a:tc>
                <a:tc>
                  <a:txBody>
                    <a:bodyPr/>
                    <a:lstStyle/>
                    <a:p>
                      <a:pPr marL="17780" marR="17780" indent="0" algn="just" fontAlgn="base" latinLnBrk="1">
                        <a:lnSpc>
                          <a:spcPct val="100000"/>
                        </a:lnSpc>
                        <a:spcBef>
                          <a:spcPts val="0"/>
                        </a:spcBef>
                        <a:spcAft>
                          <a:spcPts val="0"/>
                        </a:spcAft>
                      </a:pPr>
                      <a:r>
                        <a:rPr lang="ko-KR" altLang="en-US" sz="1400" kern="1200" dirty="0"/>
                        <a:t>출원인의 의사에 의하여 조약우선권주장</a:t>
                      </a:r>
                      <a:r>
                        <a:rPr lang="en-US" altLang="ko-KR" sz="1400" kern="1200" dirty="0"/>
                        <a:t>(</a:t>
                      </a:r>
                      <a:r>
                        <a:rPr lang="ko-KR" altLang="en-US" sz="1400" kern="1200" dirty="0"/>
                        <a:t>法 </a:t>
                      </a:r>
                      <a:r>
                        <a:rPr lang="en-US" altLang="ko-KR" sz="1400" kern="1200" dirty="0"/>
                        <a:t>54) </a:t>
                      </a:r>
                      <a:r>
                        <a:rPr lang="ko-KR" altLang="en-US" sz="1400" kern="1200" dirty="0"/>
                        <a:t>또는 국내우선권주장 </a:t>
                      </a:r>
                      <a:r>
                        <a:rPr lang="en-US" altLang="ko-KR" sz="1400" kern="1200" dirty="0"/>
                        <a:t>(</a:t>
                      </a:r>
                      <a:r>
                        <a:rPr lang="ko-KR" altLang="en-US" sz="1400" kern="1200" dirty="0"/>
                        <a:t>法 </a:t>
                      </a:r>
                      <a:r>
                        <a:rPr lang="en-US" altLang="ko-KR" sz="1400" kern="1200" dirty="0"/>
                        <a:t>55) </a:t>
                      </a:r>
                      <a:r>
                        <a:rPr lang="ko-KR" altLang="en-US" sz="1400" kern="1200" dirty="0"/>
                        <a:t>중 선택가능</a:t>
                      </a:r>
                      <a:endParaRPr lang="ko-KR" altLang="en-US" sz="1400" kern="1200" dirty="0">
                        <a:solidFill>
                          <a:schemeClr val="tx2"/>
                        </a:solidFill>
                        <a:latin typeface="+mn-lt"/>
                        <a:ea typeface="+mn-ea"/>
                        <a:cs typeface="+mn-cs"/>
                      </a:endParaRPr>
                    </a:p>
                  </a:txBody>
                  <a:tcPr marL="72000" marR="72000" marT="17907" marB="17907" anchor="ctr"/>
                </a:tc>
                <a:extLst>
                  <a:ext uri="{0D108BD9-81ED-4DB2-BD59-A6C34878D82A}">
                    <a16:rowId xmlns:a16="http://schemas.microsoft.com/office/drawing/2014/main" val="10004"/>
                  </a:ext>
                </a:extLst>
              </a:tr>
              <a:tr h="177806">
                <a:tc>
                  <a:txBody>
                    <a:bodyPr/>
                    <a:lstStyle/>
                    <a:p>
                      <a:pPr marL="0" marR="0" indent="0" algn="ctr" fontAlgn="base" latinLnBrk="0">
                        <a:lnSpc>
                          <a:spcPct val="100000"/>
                        </a:lnSpc>
                        <a:spcBef>
                          <a:spcPts val="0"/>
                        </a:spcBef>
                        <a:spcAft>
                          <a:spcPts val="0"/>
                        </a:spcAft>
                      </a:pPr>
                      <a:r>
                        <a:rPr lang="ko-KR" altLang="en-US" sz="1400" kern="1200"/>
                        <a:t>해 설</a:t>
                      </a:r>
                      <a:endParaRPr lang="ko-KR" altLang="en-US" sz="1400" kern="1200">
                        <a:solidFill>
                          <a:schemeClr val="tx2"/>
                        </a:solidFill>
                        <a:latin typeface="+mn-lt"/>
                        <a:ea typeface="+mn-ea"/>
                        <a:cs typeface="+mn-cs"/>
                      </a:endParaRPr>
                    </a:p>
                  </a:txBody>
                  <a:tcPr marL="72000" marR="72000" marT="17907" marB="17907" anchor="ctr"/>
                </a:tc>
                <a:tc gridSpan="3">
                  <a:txBody>
                    <a:bodyPr/>
                    <a:lstStyle/>
                    <a:p>
                      <a:pPr marL="17780" marR="17780" indent="0" algn="just" fontAlgn="base" latinLnBrk="1">
                        <a:lnSpc>
                          <a:spcPct val="100000"/>
                        </a:lnSpc>
                        <a:spcBef>
                          <a:spcPts val="0"/>
                        </a:spcBef>
                        <a:spcAft>
                          <a:spcPts val="0"/>
                        </a:spcAft>
                      </a:pPr>
                      <a:r>
                        <a:rPr lang="en-US" altLang="ko-KR" sz="1400" kern="1200" dirty="0"/>
                        <a:t>PCT </a:t>
                      </a:r>
                      <a:r>
                        <a:rPr lang="ko-KR" altLang="en-US" sz="1400" kern="1200" dirty="0" err="1"/>
                        <a:t>출원서에서는</a:t>
                      </a:r>
                      <a:r>
                        <a:rPr lang="ko-KR" altLang="en-US" sz="1400" kern="1200" dirty="0"/>
                        <a:t> 우선권주장을 체크하는 </a:t>
                      </a:r>
                      <a:r>
                        <a:rPr lang="ko-KR" altLang="en-US" sz="1400" kern="1200" dirty="0" err="1"/>
                        <a:t>란은</a:t>
                      </a:r>
                      <a:r>
                        <a:rPr lang="ko-KR" altLang="en-US" sz="1400" kern="1200" dirty="0"/>
                        <a:t> 있지만 국내우선권과 조약우선권을 구별하는 </a:t>
                      </a:r>
                      <a:r>
                        <a:rPr lang="ko-KR" altLang="en-US" sz="1400" kern="1200" dirty="0" err="1"/>
                        <a:t>란이</a:t>
                      </a:r>
                      <a:r>
                        <a:rPr lang="ko-KR" altLang="en-US" sz="1400" kern="1200" dirty="0"/>
                        <a:t> 존재하지 아니한다</a:t>
                      </a:r>
                      <a:r>
                        <a:rPr lang="en-US" altLang="ko-KR" sz="1400" kern="1200" dirty="0"/>
                        <a:t>. </a:t>
                      </a:r>
                      <a:r>
                        <a:rPr lang="ko-KR" altLang="en-US" sz="1400" kern="1200" dirty="0"/>
                        <a:t>따라서 우선권주장을 체크하였을 때</a:t>
                      </a:r>
                      <a:r>
                        <a:rPr lang="en-US" altLang="ko-KR" sz="1400" kern="1200" dirty="0"/>
                        <a:t>, </a:t>
                      </a:r>
                      <a:r>
                        <a:rPr lang="ko-KR" altLang="en-US" sz="1400" kern="1200" dirty="0"/>
                        <a:t>원칙은 </a:t>
                      </a:r>
                      <a:r>
                        <a:rPr lang="en-US" altLang="ko-KR" sz="1400" kern="1200" dirty="0"/>
                        <a:t>PCT 8(1),(2)a)</a:t>
                      </a:r>
                      <a:r>
                        <a:rPr lang="ko-KR" altLang="en-US" sz="1400" kern="1200" dirty="0"/>
                        <a:t>가 적용이 되며</a:t>
                      </a:r>
                      <a:r>
                        <a:rPr lang="en-US" altLang="ko-KR" sz="1400" kern="1200" dirty="0"/>
                        <a:t>, </a:t>
                      </a:r>
                      <a:r>
                        <a:rPr lang="ko-KR" altLang="en-US" sz="1400" kern="1200" dirty="0"/>
                        <a:t>이를 적용할 수 없는 경우에만 예외적으로 </a:t>
                      </a:r>
                      <a:r>
                        <a:rPr lang="en-US" altLang="ko-KR" sz="1400" kern="1200" dirty="0"/>
                        <a:t>PCT 8(1),(2)b)</a:t>
                      </a:r>
                      <a:r>
                        <a:rPr lang="ko-KR" altLang="en-US" sz="1400" kern="1200" dirty="0"/>
                        <a:t>가 적용되는 것이다</a:t>
                      </a:r>
                      <a:r>
                        <a:rPr lang="en-US" altLang="ko-KR" sz="1400" kern="1200" dirty="0"/>
                        <a:t>. </a:t>
                      </a:r>
                      <a:r>
                        <a:rPr lang="ko-KR" altLang="en-US" sz="1400" kern="1200" dirty="0"/>
                        <a:t>한편</a:t>
                      </a:r>
                      <a:r>
                        <a:rPr lang="en-US" altLang="ko-KR" sz="1400" kern="1200" dirty="0"/>
                        <a:t>, </a:t>
                      </a:r>
                      <a:r>
                        <a:rPr lang="ko-KR" altLang="en-US" sz="1400" kern="1200" dirty="0" err="1"/>
                        <a:t>국내출원서에는</a:t>
                      </a:r>
                      <a:r>
                        <a:rPr lang="ko-KR" altLang="en-US" sz="1400" kern="1200" dirty="0"/>
                        <a:t> 출원 시 조약우선권주장</a:t>
                      </a:r>
                      <a:r>
                        <a:rPr lang="en-US" altLang="ko-KR" sz="1400" kern="1200" dirty="0"/>
                        <a:t>(</a:t>
                      </a:r>
                      <a:r>
                        <a:rPr lang="ko-KR" altLang="en-US" sz="1400" kern="1200" dirty="0"/>
                        <a:t>法 </a:t>
                      </a:r>
                      <a:r>
                        <a:rPr lang="en-US" altLang="ko-KR" sz="1400" kern="1200" dirty="0"/>
                        <a:t>54) </a:t>
                      </a:r>
                      <a:r>
                        <a:rPr lang="ko-KR" altLang="en-US" sz="1400" kern="1200" dirty="0"/>
                        <a:t>또는 국내우선권주장</a:t>
                      </a:r>
                      <a:r>
                        <a:rPr lang="en-US" altLang="ko-KR" sz="1400" kern="1200" dirty="0"/>
                        <a:t>(</a:t>
                      </a:r>
                      <a:r>
                        <a:rPr lang="ko-KR" altLang="en-US" sz="1400" kern="1200" dirty="0"/>
                        <a:t>法 </a:t>
                      </a:r>
                      <a:r>
                        <a:rPr lang="en-US" altLang="ko-KR" sz="1400" kern="1200" dirty="0"/>
                        <a:t>55)</a:t>
                      </a:r>
                      <a:r>
                        <a:rPr lang="ko-KR" altLang="en-US" sz="1400" kern="1200" dirty="0"/>
                        <a:t>을 선택하여 적을 수 있다</a:t>
                      </a:r>
                      <a:r>
                        <a:rPr lang="en-US" altLang="ko-KR" sz="1400" kern="1200" dirty="0"/>
                        <a:t>.</a:t>
                      </a:r>
                      <a:endParaRPr lang="ko-KR" altLang="en-US" sz="1400" kern="1200" dirty="0">
                        <a:solidFill>
                          <a:schemeClr val="tx2"/>
                        </a:solidFill>
                        <a:latin typeface="+mn-lt"/>
                        <a:ea typeface="+mn-ea"/>
                        <a:cs typeface="+mn-cs"/>
                      </a:endParaRPr>
                    </a:p>
                  </a:txBody>
                  <a:tcPr marL="72000" marR="72000" marT="17907" marB="17907" anchor="ct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5"/>
                  </a:ext>
                </a:extLst>
              </a:tr>
            </a:tbl>
          </a:graphicData>
        </a:graphic>
      </p:graphicFrame>
      <p:cxnSp>
        <p:nvCxnSpPr>
          <p:cNvPr id="28" name="직선 연결선 27"/>
          <p:cNvCxnSpPr/>
          <p:nvPr/>
        </p:nvCxnSpPr>
        <p:spPr>
          <a:xfrm flipV="1">
            <a:off x="6089880" y="4203700"/>
            <a:ext cx="0" cy="2475983"/>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직선 연결선 46"/>
          <p:cNvCxnSpPr/>
          <p:nvPr/>
        </p:nvCxnSpPr>
        <p:spPr>
          <a:xfrm>
            <a:off x="395921" y="4585968"/>
            <a:ext cx="5357179" cy="15326"/>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직사각형 37"/>
          <p:cNvSpPr/>
          <p:nvPr/>
        </p:nvSpPr>
        <p:spPr>
          <a:xfrm>
            <a:off x="2617310" y="4434844"/>
            <a:ext cx="1745141" cy="35801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1" name="직사각형 40"/>
          <p:cNvSpPr/>
          <p:nvPr/>
        </p:nvSpPr>
        <p:spPr>
          <a:xfrm>
            <a:off x="2617310" y="4071867"/>
            <a:ext cx="1745141" cy="35801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우선권주장</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(PCT8(1))</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1" name="직사각형 50"/>
          <p:cNvSpPr/>
          <p:nvPr/>
        </p:nvSpPr>
        <p:spPr>
          <a:xfrm>
            <a:off x="708183" y="4434844"/>
            <a:ext cx="1120618" cy="35801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한국출원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54" name="직선 연결선 53"/>
          <p:cNvCxnSpPr/>
          <p:nvPr/>
        </p:nvCxnSpPr>
        <p:spPr>
          <a:xfrm>
            <a:off x="3489880" y="4792860"/>
            <a:ext cx="0" cy="188682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모서리가 둥근 직사각형 54"/>
          <p:cNvSpPr/>
          <p:nvPr/>
        </p:nvSpPr>
        <p:spPr>
          <a:xfrm>
            <a:off x="3182460" y="5279135"/>
            <a:ext cx="614840" cy="358016"/>
          </a:xfrm>
          <a:prstGeom prst="round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한국</a:t>
            </a:r>
          </a:p>
        </p:txBody>
      </p:sp>
      <p:sp>
        <p:nvSpPr>
          <p:cNvPr id="57" name="모서리가 둥근 직사각형 56"/>
          <p:cNvSpPr/>
          <p:nvPr/>
        </p:nvSpPr>
        <p:spPr>
          <a:xfrm>
            <a:off x="3182460" y="5747763"/>
            <a:ext cx="614840" cy="358016"/>
          </a:xfrm>
          <a:prstGeom prst="round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일본</a:t>
            </a:r>
          </a:p>
        </p:txBody>
      </p:sp>
      <p:sp>
        <p:nvSpPr>
          <p:cNvPr id="58" name="모서리가 둥근 직사각형 57"/>
          <p:cNvSpPr/>
          <p:nvPr/>
        </p:nvSpPr>
        <p:spPr>
          <a:xfrm>
            <a:off x="3182460" y="6217663"/>
            <a:ext cx="614840" cy="358016"/>
          </a:xfrm>
          <a:prstGeom prst="round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미국</a:t>
            </a:r>
          </a:p>
        </p:txBody>
      </p:sp>
      <p:sp>
        <p:nvSpPr>
          <p:cNvPr id="59" name="직사각형 58"/>
          <p:cNvSpPr/>
          <p:nvPr/>
        </p:nvSpPr>
        <p:spPr>
          <a:xfrm>
            <a:off x="3489880" y="4861320"/>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자동지정</a:t>
            </a:r>
          </a:p>
        </p:txBody>
      </p:sp>
      <p:cxnSp>
        <p:nvCxnSpPr>
          <p:cNvPr id="27" name="직선 연결선 26"/>
          <p:cNvCxnSpPr>
            <a:stCxn id="51" idx="2"/>
            <a:endCxn id="55" idx="1"/>
          </p:cNvCxnSpPr>
          <p:nvPr/>
        </p:nvCxnSpPr>
        <p:spPr>
          <a:xfrm>
            <a:off x="1268492" y="4792860"/>
            <a:ext cx="1913968" cy="665283"/>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직선 연결선 60"/>
          <p:cNvCxnSpPr>
            <a:stCxn id="51" idx="2"/>
            <a:endCxn id="58" idx="1"/>
          </p:cNvCxnSpPr>
          <p:nvPr/>
        </p:nvCxnSpPr>
        <p:spPr>
          <a:xfrm>
            <a:off x="1268492" y="4792860"/>
            <a:ext cx="1913968" cy="160381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4" name="직선 연결선 63"/>
          <p:cNvCxnSpPr>
            <a:stCxn id="51" idx="2"/>
            <a:endCxn id="57" idx="1"/>
          </p:cNvCxnSpPr>
          <p:nvPr/>
        </p:nvCxnSpPr>
        <p:spPr>
          <a:xfrm>
            <a:off x="1268492" y="4792860"/>
            <a:ext cx="1913968" cy="113391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직사각형 68"/>
          <p:cNvSpPr/>
          <p:nvPr/>
        </p:nvSpPr>
        <p:spPr>
          <a:xfrm>
            <a:off x="3802142" y="5279135"/>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PCT 8(2)(b)</a:t>
            </a:r>
            <a:endPar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70" name="직사각형 69"/>
          <p:cNvSpPr/>
          <p:nvPr/>
        </p:nvSpPr>
        <p:spPr>
          <a:xfrm>
            <a:off x="3802142" y="5736271"/>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8(2)(a)</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1" name="직사각형 70"/>
          <p:cNvSpPr/>
          <p:nvPr/>
        </p:nvSpPr>
        <p:spPr>
          <a:xfrm>
            <a:off x="3802142" y="6217663"/>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8(2)(a)</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3" name="직선 연결선 72"/>
          <p:cNvCxnSpPr/>
          <p:nvPr/>
        </p:nvCxnSpPr>
        <p:spPr>
          <a:xfrm>
            <a:off x="6453821" y="4585968"/>
            <a:ext cx="5357179" cy="15326"/>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4" name="직사각형 73"/>
          <p:cNvSpPr/>
          <p:nvPr/>
        </p:nvSpPr>
        <p:spPr>
          <a:xfrm>
            <a:off x="9030810" y="4434844"/>
            <a:ext cx="1745141" cy="35801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5" name="직사각형 74"/>
          <p:cNvSpPr/>
          <p:nvPr/>
        </p:nvSpPr>
        <p:spPr>
          <a:xfrm>
            <a:off x="9030810" y="4071867"/>
            <a:ext cx="1745141" cy="35801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우선권주장</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(PCT8(1))</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6" name="직사각형 75"/>
          <p:cNvSpPr/>
          <p:nvPr/>
        </p:nvSpPr>
        <p:spPr>
          <a:xfrm>
            <a:off x="6591300" y="4434844"/>
            <a:ext cx="1470184" cy="35801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77" name="직선 연결선 76"/>
          <p:cNvCxnSpPr/>
          <p:nvPr/>
        </p:nvCxnSpPr>
        <p:spPr>
          <a:xfrm>
            <a:off x="9903380" y="4792860"/>
            <a:ext cx="0" cy="188682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8" name="모서리가 둥근 직사각형 77"/>
          <p:cNvSpPr/>
          <p:nvPr/>
        </p:nvSpPr>
        <p:spPr>
          <a:xfrm>
            <a:off x="9595960" y="5279135"/>
            <a:ext cx="614840" cy="358016"/>
          </a:xfrm>
          <a:prstGeom prst="round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한국</a:t>
            </a:r>
          </a:p>
        </p:txBody>
      </p:sp>
      <p:sp>
        <p:nvSpPr>
          <p:cNvPr id="79" name="모서리가 둥근 직사각형 78"/>
          <p:cNvSpPr/>
          <p:nvPr/>
        </p:nvSpPr>
        <p:spPr>
          <a:xfrm>
            <a:off x="9595960" y="5747763"/>
            <a:ext cx="614840" cy="358016"/>
          </a:xfrm>
          <a:prstGeom prst="round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일본</a:t>
            </a:r>
          </a:p>
        </p:txBody>
      </p:sp>
      <p:sp>
        <p:nvSpPr>
          <p:cNvPr id="80" name="모서리가 둥근 직사각형 79"/>
          <p:cNvSpPr/>
          <p:nvPr/>
        </p:nvSpPr>
        <p:spPr>
          <a:xfrm>
            <a:off x="9595960" y="6217663"/>
            <a:ext cx="614840" cy="358016"/>
          </a:xfrm>
          <a:prstGeom prst="round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미국</a:t>
            </a:r>
          </a:p>
        </p:txBody>
      </p:sp>
      <p:sp>
        <p:nvSpPr>
          <p:cNvPr id="81" name="직사각형 80"/>
          <p:cNvSpPr/>
          <p:nvPr/>
        </p:nvSpPr>
        <p:spPr>
          <a:xfrm>
            <a:off x="9903380" y="4861320"/>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자동지정</a:t>
            </a:r>
          </a:p>
        </p:txBody>
      </p:sp>
      <p:sp>
        <p:nvSpPr>
          <p:cNvPr id="85" name="직사각형 84"/>
          <p:cNvSpPr/>
          <p:nvPr/>
        </p:nvSpPr>
        <p:spPr>
          <a:xfrm>
            <a:off x="10215642" y="5279135"/>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PCT 8(2)(a)</a:t>
            </a:r>
            <a:endPar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86" name="직사각형 85"/>
          <p:cNvSpPr/>
          <p:nvPr/>
        </p:nvSpPr>
        <p:spPr>
          <a:xfrm>
            <a:off x="10215642" y="5736271"/>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8(2)(a)</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7" name="직사각형 86"/>
          <p:cNvSpPr/>
          <p:nvPr/>
        </p:nvSpPr>
        <p:spPr>
          <a:xfrm>
            <a:off x="10215642" y="6217663"/>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8(2)(a)</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9" name="직사각형 88"/>
          <p:cNvSpPr/>
          <p:nvPr/>
        </p:nvSpPr>
        <p:spPr>
          <a:xfrm>
            <a:off x="2062240" y="4899835"/>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8(2)(b)</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0" name="직사각형 89"/>
          <p:cNvSpPr/>
          <p:nvPr/>
        </p:nvSpPr>
        <p:spPr>
          <a:xfrm>
            <a:off x="1746207" y="5909942"/>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8(2)(a)</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1" name="직사각형 90"/>
          <p:cNvSpPr/>
          <p:nvPr/>
        </p:nvSpPr>
        <p:spPr>
          <a:xfrm>
            <a:off x="1828801" y="5359815"/>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8(2)(a)</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5" name="직선 연결선 94"/>
          <p:cNvCxnSpPr/>
          <p:nvPr/>
        </p:nvCxnSpPr>
        <p:spPr>
          <a:xfrm>
            <a:off x="7274083" y="4792860"/>
            <a:ext cx="0" cy="188682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6" name="모서리가 둥근 직사각형 95"/>
          <p:cNvSpPr/>
          <p:nvPr/>
        </p:nvSpPr>
        <p:spPr>
          <a:xfrm>
            <a:off x="6966663" y="5279135"/>
            <a:ext cx="614840" cy="358016"/>
          </a:xfrm>
          <a:prstGeom prst="round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한국</a:t>
            </a:r>
          </a:p>
        </p:txBody>
      </p:sp>
      <p:sp>
        <p:nvSpPr>
          <p:cNvPr id="97" name="모서리가 둥근 직사각형 96"/>
          <p:cNvSpPr/>
          <p:nvPr/>
        </p:nvSpPr>
        <p:spPr>
          <a:xfrm>
            <a:off x="6966663" y="5747763"/>
            <a:ext cx="614840" cy="358016"/>
          </a:xfrm>
          <a:prstGeom prst="round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일본</a:t>
            </a:r>
          </a:p>
        </p:txBody>
      </p:sp>
      <p:sp>
        <p:nvSpPr>
          <p:cNvPr id="98" name="모서리가 둥근 직사각형 97"/>
          <p:cNvSpPr/>
          <p:nvPr/>
        </p:nvSpPr>
        <p:spPr>
          <a:xfrm>
            <a:off x="6966663" y="6217663"/>
            <a:ext cx="614840" cy="358016"/>
          </a:xfrm>
          <a:prstGeom prst="roundRect">
            <a:avLst/>
          </a:prstGeom>
          <a:solidFill>
            <a:schemeClr val="accent1">
              <a:lumMod val="60000"/>
              <a:lumOff val="4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미국</a:t>
            </a:r>
          </a:p>
        </p:txBody>
      </p:sp>
      <p:cxnSp>
        <p:nvCxnSpPr>
          <p:cNvPr id="104" name="직선 화살표 연결선 103"/>
          <p:cNvCxnSpPr>
            <a:stCxn id="96" idx="3"/>
            <a:endCxn id="78" idx="1"/>
          </p:cNvCxnSpPr>
          <p:nvPr/>
        </p:nvCxnSpPr>
        <p:spPr>
          <a:xfrm>
            <a:off x="7581503" y="5458143"/>
            <a:ext cx="2014457" cy="0"/>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5" name="직선 화살표 연결선 104"/>
          <p:cNvCxnSpPr>
            <a:stCxn id="97" idx="3"/>
            <a:endCxn id="78" idx="1"/>
          </p:cNvCxnSpPr>
          <p:nvPr/>
        </p:nvCxnSpPr>
        <p:spPr>
          <a:xfrm flipV="1">
            <a:off x="7581503" y="5458143"/>
            <a:ext cx="2014457" cy="468628"/>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8" name="직선 화살표 연결선 107"/>
          <p:cNvCxnSpPr>
            <a:stCxn id="98" idx="3"/>
            <a:endCxn id="78" idx="1"/>
          </p:cNvCxnSpPr>
          <p:nvPr/>
        </p:nvCxnSpPr>
        <p:spPr>
          <a:xfrm flipV="1">
            <a:off x="7581503" y="5458143"/>
            <a:ext cx="2014457" cy="938528"/>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1" name="직사각형 110"/>
          <p:cNvSpPr/>
          <p:nvPr/>
        </p:nvSpPr>
        <p:spPr>
          <a:xfrm>
            <a:off x="7827641" y="5100127"/>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8(2)(b)</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2" name="직사각형 111"/>
          <p:cNvSpPr/>
          <p:nvPr/>
        </p:nvSpPr>
        <p:spPr>
          <a:xfrm>
            <a:off x="7610434" y="5551366"/>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8(2)(a)</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3" name="직사각형 112"/>
          <p:cNvSpPr/>
          <p:nvPr/>
        </p:nvSpPr>
        <p:spPr>
          <a:xfrm>
            <a:off x="7610434" y="5929030"/>
            <a:ext cx="1120618" cy="358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8(2)(a)</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579</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170687810"/>
      </p:ext>
    </p:extLst>
  </p:cSld>
  <p:clrMapOvr>
    <a:masterClrMapping/>
  </p:clrMapOvr>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202</a:t>
            </a:r>
            <a:r>
              <a:rPr lang="ko-KR" altLang="en-US" dirty="0"/>
              <a:t>조</a:t>
            </a:r>
          </a:p>
        </p:txBody>
      </p:sp>
      <p:sp>
        <p:nvSpPr>
          <p:cNvPr id="4" name="텍스트 개체 틀 3"/>
          <p:cNvSpPr>
            <a:spLocks noGrp="1"/>
          </p:cNvSpPr>
          <p:nvPr>
            <p:ph type="body" sz="quarter" idx="13"/>
          </p:nvPr>
        </p:nvSpPr>
        <p:spPr/>
        <p:txBody>
          <a:bodyPr/>
          <a:lstStyle/>
          <a:p>
            <a:r>
              <a:rPr lang="ko-KR" altLang="en-US" dirty="0"/>
              <a:t>우선권주장의 </a:t>
            </a:r>
            <a:r>
              <a:rPr lang="ko-KR" altLang="en-US" dirty="0" err="1"/>
              <a:t>후출원이</a:t>
            </a:r>
            <a:r>
              <a:rPr lang="ko-KR" altLang="en-US" dirty="0"/>
              <a:t> 국제특허출원인 경우</a:t>
            </a:r>
          </a:p>
        </p:txBody>
      </p:sp>
      <p:sp>
        <p:nvSpPr>
          <p:cNvPr id="26" name="TextBox 25"/>
          <p:cNvSpPr txBox="1"/>
          <p:nvPr/>
        </p:nvSpPr>
        <p:spPr>
          <a:xfrm>
            <a:off x="1" y="976902"/>
            <a:ext cx="12192000" cy="954107"/>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202</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특허출원 등에 의한 우선권 주장의 특례</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①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국제특허출원에 관하여는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55</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항 및 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56</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항</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을 적용하지 아니한다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②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55</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항</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을 적용할 때 우선권 주장을 수반하는 특허출원이 국제특허출원인 경우에는 같은 항 중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특허출원의 </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출원서에</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 최초로 첨부된 명세서 또는 도면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은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srgbClr val="ED7D31"/>
                </a:solidFill>
                <a:effectLst/>
                <a:uLnTx/>
                <a:uFillTx/>
                <a:latin typeface="Frutiger LT 65 Bold"/>
                <a:ea typeface="Rix모던고딕 B"/>
                <a:cs typeface="+mn-cs"/>
              </a:rPr>
              <a:t>국제출원일까지</a:t>
            </a: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 제출된 발명의 설명</a:t>
            </a:r>
            <a:r>
              <a:rPr kumimoji="0" lang="en-US" altLang="ko-KR" sz="1400" b="0" i="0" u="none" strike="noStrike" kern="1200" cap="none" spc="0" normalizeH="0" baseline="0" noProof="0" dirty="0">
                <a:ln>
                  <a:noFill/>
                </a:ln>
                <a:solidFill>
                  <a:srgbClr val="ED7D31"/>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청구범위 또는 도면</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으로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출원공개되거나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는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출원공개 또는 「특허협력조약」 제</a:t>
            </a:r>
            <a:r>
              <a:rPr kumimoji="0" lang="en-US" altLang="ko-KR" sz="1400" b="0" i="0" u="none" strike="noStrike" kern="1200" cap="none" spc="0" normalizeH="0" baseline="0" noProof="0" dirty="0">
                <a:ln>
                  <a:noFill/>
                </a:ln>
                <a:solidFill>
                  <a:srgbClr val="ED7D31"/>
                </a:solidFill>
                <a:effectLst/>
                <a:uLnTx/>
                <a:uFillTx/>
                <a:latin typeface="Frutiger LT 65 Bold"/>
                <a:ea typeface="Rix모던고딕 B"/>
                <a:cs typeface="+mn-cs"/>
              </a:rPr>
              <a:t>21</a:t>
            </a:r>
            <a:r>
              <a:rPr kumimoji="0" lang="ko-KR" altLang="en-US" sz="1400" b="0" i="0" u="none" strike="noStrike" kern="1200" cap="none" spc="0" normalizeH="0" baseline="0" noProof="0" dirty="0">
                <a:ln>
                  <a:noFill/>
                </a:ln>
                <a:solidFill>
                  <a:srgbClr val="ED7D31"/>
                </a:solidFill>
                <a:effectLst/>
                <a:uLnTx/>
                <a:uFillTx/>
                <a:latin typeface="Frutiger LT 65 Bold"/>
                <a:ea typeface="Rix모던고딕 B"/>
                <a:cs typeface="+mn-cs"/>
              </a:rPr>
              <a:t>조에 따라 </a:t>
            </a:r>
            <a:r>
              <a:rPr kumimoji="0" lang="ko-KR" altLang="en-US" sz="1400" b="0" i="0" u="none" strike="noStrike" kern="1200" cap="none" spc="0" normalizeH="0" baseline="0" noProof="0" dirty="0" err="1">
                <a:ln>
                  <a:noFill/>
                </a:ln>
                <a:solidFill>
                  <a:srgbClr val="ED7D31"/>
                </a:solidFill>
                <a:effectLst/>
                <a:uLnTx/>
                <a:uFillTx/>
                <a:latin typeface="Frutiger LT 65 Bold"/>
                <a:ea typeface="Rix모던고딕 B"/>
                <a:cs typeface="+mn-cs"/>
              </a:rPr>
              <a:t>국제공개되거나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로 본다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그 국제특허출원이 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항에 따라 취하한 것으로 보는 경우에는 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55</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항을 적용하지 아니한다</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a:t>
            </a:r>
          </a:p>
        </p:txBody>
      </p:sp>
      <p:cxnSp>
        <p:nvCxnSpPr>
          <p:cNvPr id="48" name="직선 연결선 47"/>
          <p:cNvCxnSpPr/>
          <p:nvPr/>
        </p:nvCxnSpPr>
        <p:spPr>
          <a:xfrm>
            <a:off x="77875" y="193903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직사각형 4"/>
          <p:cNvSpPr/>
          <p:nvPr/>
        </p:nvSpPr>
        <p:spPr>
          <a:xfrm>
            <a:off x="77874" y="2028041"/>
            <a:ext cx="12012525" cy="1384995"/>
          </a:xfrm>
          <a:prstGeom prst="rect">
            <a:avLst/>
          </a:prstGeom>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55</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특허출원 등을 기초로 한 우선권 주장</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②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우선권을 주장하려는 자는 특허출원을 할 때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특허출원서에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그 취지와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표시를 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④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우선권 주장을 수반하는 특허출원의 </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출원서에</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 최초로 첨부된 명세서 또는 도면</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기재된 발명 중 해당 우선권 주장의 기초가 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출원서에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최초로 첨부된 명세서 또는 도면에 기재된 발명과 같은 발명은 그 특허출원이 </a:t>
            </a:r>
            <a:r>
              <a:rPr kumimoji="0" lang="ko-KR" altLang="en-US" sz="1400" b="0" i="0" u="none" strike="noStrike" kern="1200" cap="none" spc="0" normalizeH="0" baseline="0" noProof="0" dirty="0" err="1">
                <a:ln>
                  <a:noFill/>
                </a:ln>
                <a:solidFill>
                  <a:srgbClr val="FF0000"/>
                </a:solidFill>
                <a:effectLst/>
                <a:uLnTx/>
                <a:uFillTx/>
                <a:latin typeface="Frutiger LT 65 Bold"/>
                <a:ea typeface="Rix모던고딕 B"/>
                <a:cs typeface="+mn-cs"/>
              </a:rPr>
              <a:t>출원공개</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되거나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특허가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등록공고되었을</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때에 해당 우선권 주장의 기초가 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선출원에</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관하여 출원공개가 된 것으로 보고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29</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본문</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같은 조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본문 또는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실용신안법</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본문ㆍ제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본문을 적용한다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56</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err="1">
                <a:ln>
                  <a:noFill/>
                </a:ln>
                <a:solidFill>
                  <a:srgbClr val="5B9BD5"/>
                </a:solidFill>
                <a:effectLst/>
                <a:uLnTx/>
                <a:uFillTx/>
                <a:latin typeface="Frutiger LT 65 Bold"/>
                <a:ea typeface="Rix모던고딕 B"/>
                <a:cs typeface="+mn-cs"/>
              </a:rPr>
              <a:t>선출원의</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 취하 등</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②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55</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우선권 주장을 수반하는 특허출원의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출원인은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출원일부터</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년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개월이 지난 후에는 그 우선권 주장을 취하할 수 없다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endParaRPr>
          </a:p>
        </p:txBody>
      </p:sp>
      <p:sp>
        <p:nvSpPr>
          <p:cNvPr id="53" name="직사각형 52"/>
          <p:cNvSpPr/>
          <p:nvPr/>
        </p:nvSpPr>
        <p:spPr>
          <a:xfrm>
            <a:off x="790139" y="3991710"/>
            <a:ext cx="815820" cy="526622"/>
          </a:xfrm>
          <a:prstGeom prst="rect">
            <a:avLst/>
          </a:prstGeom>
          <a:solidFill>
            <a:schemeClr val="accent1">
              <a:lumMod val="5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202</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항</a:t>
            </a:r>
          </a:p>
        </p:txBody>
      </p:sp>
      <p:sp>
        <p:nvSpPr>
          <p:cNvPr id="56" name="직사각형 55"/>
          <p:cNvSpPr/>
          <p:nvPr/>
        </p:nvSpPr>
        <p:spPr>
          <a:xfrm>
            <a:off x="790139" y="5201943"/>
            <a:ext cx="815820" cy="526622"/>
          </a:xfrm>
          <a:prstGeom prst="rect">
            <a:avLst/>
          </a:prstGeom>
          <a:solidFill>
            <a:schemeClr val="accent1">
              <a:lumMod val="5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202</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항</a:t>
            </a:r>
          </a:p>
        </p:txBody>
      </p:sp>
      <p:cxnSp>
        <p:nvCxnSpPr>
          <p:cNvPr id="10" name="꺾인 연결선 9"/>
          <p:cNvCxnSpPr>
            <a:stCxn id="53" idx="1"/>
            <a:endCxn id="56" idx="1"/>
          </p:cNvCxnSpPr>
          <p:nvPr/>
        </p:nvCxnSpPr>
        <p:spPr>
          <a:xfrm rot="10800000" flipV="1">
            <a:off x="790139" y="4255020"/>
            <a:ext cx="12700" cy="1210233"/>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직사각형 10"/>
          <p:cNvSpPr/>
          <p:nvPr/>
        </p:nvSpPr>
        <p:spPr>
          <a:xfrm>
            <a:off x="2243870" y="3871836"/>
            <a:ext cx="9548437" cy="307777"/>
          </a:xfrm>
          <a:prstGeom prst="rect">
            <a:avLst/>
          </a:prstGeom>
          <a:solidFill>
            <a:schemeClr val="accent1">
              <a:lumMod val="20000"/>
              <a:lumOff val="80000"/>
            </a:schemeClr>
          </a:solid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55</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우선권주장절차</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不적용</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8(1)</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2" name="직사각형 11"/>
          <p:cNvSpPr/>
          <p:nvPr/>
        </p:nvSpPr>
        <p:spPr>
          <a:xfrm>
            <a:off x="2245743" y="4308764"/>
            <a:ext cx="9546566" cy="307777"/>
          </a:xfrm>
          <a:prstGeom prst="rect">
            <a:avLst/>
          </a:prstGeom>
          <a:solidFill>
            <a:schemeClr val="accent1">
              <a:lumMod val="20000"/>
              <a:lumOff val="80000"/>
            </a:schemeClr>
          </a:solid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56</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우선권주장취하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不적용</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 우선일로부터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개월과 출원인이 출원심사청구 중 빠른 때</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施規</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106</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7)</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 name="직사각형 12"/>
          <p:cNvSpPr/>
          <p:nvPr/>
        </p:nvSpPr>
        <p:spPr>
          <a:xfrm>
            <a:off x="3337525" y="4901412"/>
            <a:ext cx="8454781" cy="307777"/>
          </a:xfrm>
          <a:prstGeom prst="rect">
            <a:avLst/>
          </a:prstGeom>
          <a:solidFill>
            <a:schemeClr val="accent1">
              <a:lumMod val="20000"/>
              <a:lumOff val="80000"/>
            </a:schemeClr>
          </a:solid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후출원의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최ㆍ명ㆍ도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후출원의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발명의 설명</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청구범위 또는 도면</a:t>
            </a:r>
          </a:p>
        </p:txBody>
      </p:sp>
      <p:sp>
        <p:nvSpPr>
          <p:cNvPr id="14" name="직사각형 13"/>
          <p:cNvSpPr/>
          <p:nvPr/>
        </p:nvSpPr>
        <p:spPr>
          <a:xfrm>
            <a:off x="3335866" y="5310943"/>
            <a:ext cx="8456441" cy="307777"/>
          </a:xfrm>
          <a:prstGeom prst="rect">
            <a:avLst/>
          </a:prstGeom>
          <a:solidFill>
            <a:schemeClr val="accent1">
              <a:lumMod val="20000"/>
              <a:lumOff val="80000"/>
            </a:schemeClr>
          </a:solid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후출원의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출원공개」 →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후출원의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출원공개 또는 「특허협력조약」에 따라 국제공개</a:t>
            </a:r>
          </a:p>
        </p:txBody>
      </p:sp>
      <p:sp>
        <p:nvSpPr>
          <p:cNvPr id="15" name="직사각형 14"/>
          <p:cNvSpPr/>
          <p:nvPr/>
        </p:nvSpPr>
        <p:spPr>
          <a:xfrm>
            <a:off x="3337526" y="5701909"/>
            <a:ext cx="8454782" cy="523220"/>
          </a:xfrm>
          <a:prstGeom prst="rect">
            <a:avLst/>
          </a:prstGeom>
          <a:solidFill>
            <a:schemeClr val="accent1">
              <a:lumMod val="20000"/>
              <a:lumOff val="80000"/>
            </a:schemeClr>
          </a:solidFill>
          <a:ln>
            <a:solidFill>
              <a:schemeClr val="bg1">
                <a:lumMod val="50000"/>
              </a:schemeClr>
            </a:solidFill>
          </a:ln>
        </p:spPr>
        <p:txBody>
          <a:bodyPr wrap="square">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다만</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출원인이 국내서면제출기간에 발명의 설명 및 청구범위의 국어번역문을 제출하지 아니하여 그 국제특허출원이 취하된 것으로 보는 경우에는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55</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항은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不적용</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7" name="꺾인 연결선 16"/>
          <p:cNvCxnSpPr>
            <a:stCxn id="53" idx="3"/>
            <a:endCxn id="11" idx="1"/>
          </p:cNvCxnSpPr>
          <p:nvPr/>
        </p:nvCxnSpPr>
        <p:spPr>
          <a:xfrm flipV="1">
            <a:off x="1605959" y="4025725"/>
            <a:ext cx="637911" cy="229296"/>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꺾인 연결선 18"/>
          <p:cNvCxnSpPr>
            <a:stCxn id="53" idx="3"/>
            <a:endCxn id="12" idx="1"/>
          </p:cNvCxnSpPr>
          <p:nvPr/>
        </p:nvCxnSpPr>
        <p:spPr>
          <a:xfrm>
            <a:off x="1605959" y="4255021"/>
            <a:ext cx="639784" cy="20763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꺾인 연결선 20"/>
          <p:cNvCxnSpPr>
            <a:stCxn id="99" idx="3"/>
            <a:endCxn id="13" idx="1"/>
          </p:cNvCxnSpPr>
          <p:nvPr/>
        </p:nvCxnSpPr>
        <p:spPr>
          <a:xfrm flipV="1">
            <a:off x="2867489" y="5055301"/>
            <a:ext cx="470036" cy="409953"/>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꺾인 연결선 22"/>
          <p:cNvCxnSpPr>
            <a:stCxn id="99" idx="3"/>
            <a:endCxn id="15" idx="1"/>
          </p:cNvCxnSpPr>
          <p:nvPr/>
        </p:nvCxnSpPr>
        <p:spPr>
          <a:xfrm>
            <a:off x="2867489" y="5465254"/>
            <a:ext cx="470037" cy="498265"/>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꺾인 연결선 28"/>
          <p:cNvCxnSpPr>
            <a:stCxn id="99" idx="3"/>
            <a:endCxn id="14" idx="1"/>
          </p:cNvCxnSpPr>
          <p:nvPr/>
        </p:nvCxnSpPr>
        <p:spPr>
          <a:xfrm flipV="1">
            <a:off x="2867489" y="5464832"/>
            <a:ext cx="468377" cy="422"/>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직사각형 98"/>
          <p:cNvSpPr/>
          <p:nvPr/>
        </p:nvSpPr>
        <p:spPr>
          <a:xfrm>
            <a:off x="2051669" y="5201943"/>
            <a:ext cx="815820" cy="526622"/>
          </a:xfrm>
          <a:prstGeom prst="rect">
            <a:avLst/>
          </a:prstGeom>
          <a:solidFill>
            <a:schemeClr val="accent1">
              <a:lumMod val="60000"/>
              <a:lumOff val="4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55</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항 中</a:t>
            </a:r>
          </a:p>
        </p:txBody>
      </p:sp>
      <p:cxnSp>
        <p:nvCxnSpPr>
          <p:cNvPr id="68" name="직선 연결선 67"/>
          <p:cNvCxnSpPr>
            <a:stCxn id="56" idx="3"/>
            <a:endCxn id="99" idx="1"/>
          </p:cNvCxnSpPr>
          <p:nvPr/>
        </p:nvCxnSpPr>
        <p:spPr>
          <a:xfrm>
            <a:off x="1605959" y="5465254"/>
            <a:ext cx="44571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580</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957495674"/>
      </p:ext>
    </p:extLst>
  </p:cSld>
  <p:clrMapOvr>
    <a:masterClrMapping/>
  </p:clrMapOvr>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202</a:t>
            </a:r>
            <a:r>
              <a:rPr lang="ko-KR" altLang="en-US" dirty="0"/>
              <a:t>조</a:t>
            </a:r>
          </a:p>
        </p:txBody>
      </p:sp>
      <p:sp>
        <p:nvSpPr>
          <p:cNvPr id="4" name="텍스트 개체 틀 3"/>
          <p:cNvSpPr>
            <a:spLocks noGrp="1"/>
          </p:cNvSpPr>
          <p:nvPr>
            <p:ph type="body" sz="quarter" idx="13"/>
          </p:nvPr>
        </p:nvSpPr>
        <p:spPr/>
        <p:txBody>
          <a:bodyPr/>
          <a:lstStyle/>
          <a:p>
            <a:r>
              <a:rPr lang="ko-KR" altLang="en-US" dirty="0"/>
              <a:t>우선권주장의 </a:t>
            </a:r>
            <a:r>
              <a:rPr lang="ko-KR" altLang="en-US" dirty="0" err="1"/>
              <a:t>선출원이</a:t>
            </a:r>
            <a:r>
              <a:rPr lang="ko-KR" altLang="en-US" dirty="0"/>
              <a:t> 국제특허출원인 경우</a:t>
            </a:r>
          </a:p>
        </p:txBody>
      </p:sp>
      <p:sp>
        <p:nvSpPr>
          <p:cNvPr id="26" name="TextBox 25"/>
          <p:cNvSpPr txBox="1"/>
          <p:nvPr/>
        </p:nvSpPr>
        <p:spPr>
          <a:xfrm>
            <a:off x="1" y="917633"/>
            <a:ext cx="12192000" cy="2123658"/>
          </a:xfrm>
          <a:prstGeom prst="rect">
            <a:avLst/>
          </a:prstGeom>
          <a:noFill/>
        </p:spPr>
        <p:txBody>
          <a:bodyPr wrap="square" rtlCol="0">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200" b="1" i="0" u="none" strike="noStrike" kern="1200" cap="none" spc="0" normalizeH="0" baseline="0" noProof="0" dirty="0">
                <a:ln>
                  <a:noFill/>
                </a:ln>
                <a:solidFill>
                  <a:srgbClr val="5B9BD5"/>
                </a:solidFill>
                <a:effectLst/>
                <a:uLnTx/>
                <a:uFillTx/>
                <a:latin typeface="Frutiger LT 65 Bold"/>
                <a:ea typeface="Rix모던고딕 B"/>
                <a:cs typeface="+mn-cs"/>
              </a:rPr>
              <a:t>202</a:t>
            </a:r>
            <a:r>
              <a:rPr kumimoji="0" lang="ko-KR" altLang="en-US" sz="12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2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200" b="1" i="0" u="none" strike="noStrike" kern="1200" cap="none" spc="0" normalizeH="0" baseline="0" noProof="0" dirty="0">
                <a:ln>
                  <a:noFill/>
                </a:ln>
                <a:solidFill>
                  <a:srgbClr val="5B9BD5"/>
                </a:solidFill>
                <a:effectLst/>
                <a:uLnTx/>
                <a:uFillTx/>
                <a:latin typeface="Frutiger LT 65 Bold"/>
                <a:ea typeface="Rix모던고딕 B"/>
                <a:cs typeface="+mn-cs"/>
              </a:rPr>
              <a:t>특허출원 등에 의한 우선권 주장의 특례</a:t>
            </a:r>
            <a:r>
              <a:rPr kumimoji="0" lang="en-US" altLang="ko-KR" sz="12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③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55</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같은 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항부터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5</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항까지 및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56</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항을 적용할 때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선출원이</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국제특허출원 또는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실용신안법</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따른 국제실용신안등록출원인 경우에는 다음 각 호에 따른다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1.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55</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항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각 호 외의 부분 본문</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같은 조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항 및 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5</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항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각 호 외의 부분 중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출원서에</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최초로 첨부된 명세서 또는 도면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은 다음 각 목의 구분에 따른 것으로 본다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선출원이</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국제특허출원인 경우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FFC000"/>
                </a:solidFill>
                <a:effectLst/>
                <a:uLnTx/>
                <a:uFillTx/>
                <a:latin typeface="Frutiger LT 65 Bold"/>
                <a:ea typeface="Rix모던고딕 B"/>
                <a:cs typeface="+mn-cs"/>
              </a:rPr>
              <a:t>국제출원일까지</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 제출된 국제출원의 발명의 설명</a:t>
            </a:r>
            <a:r>
              <a:rPr kumimoji="0" lang="en-US" altLang="ko-KR" sz="1200" b="0" i="0" u="none" strike="noStrike" kern="1200" cap="none" spc="0" normalizeH="0" baseline="0" noProof="0" dirty="0">
                <a:ln>
                  <a:noFill/>
                </a:ln>
                <a:solidFill>
                  <a:srgbClr val="FFC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청구범위 또는 도면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선출원이</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실용신안법</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따른 국제실용신안등록출원인 경우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FFC000"/>
                </a:solidFill>
                <a:effectLst/>
                <a:uLnTx/>
                <a:uFillTx/>
                <a:latin typeface="Frutiger LT 65 Bold"/>
                <a:ea typeface="Rix모던고딕 B"/>
                <a:cs typeface="+mn-cs"/>
              </a:rPr>
              <a:t>국제출원일까지</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 제출된 국제출원의 고안의 설명</a:t>
            </a:r>
            <a:r>
              <a:rPr kumimoji="0" lang="en-US" altLang="ko-KR" sz="1200" b="0" i="0" u="none" strike="noStrike" kern="1200" cap="none" spc="0" normalizeH="0" baseline="0" noProof="0" dirty="0">
                <a:ln>
                  <a:noFill/>
                </a:ln>
                <a:solidFill>
                  <a:srgbClr val="FFC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청구범위 또는 도면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55</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항</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중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선출원의</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출원서에</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최초로 첨부된 명세서 또는 도면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은 다음 각 목의 구분에 따른 것으로 보고</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선출원에</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관하여 출원공개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는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srgbClr val="FFC000"/>
                </a:solidFill>
                <a:effectLst/>
                <a:uLnTx/>
                <a:uFillTx/>
                <a:latin typeface="Frutiger LT 65 Bold"/>
                <a:ea typeface="Rix모던고딕 B"/>
                <a:cs typeface="+mn-cs"/>
              </a:rPr>
              <a:t>선출원에</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 관하여 출원공개 또는 「특허협력조약」 제</a:t>
            </a:r>
            <a:r>
              <a:rPr kumimoji="0" lang="en-US" altLang="ko-KR" sz="1200" b="0" i="0" u="none" strike="noStrike" kern="1200" cap="none" spc="0" normalizeH="0" baseline="0" noProof="0" dirty="0">
                <a:ln>
                  <a:noFill/>
                </a:ln>
                <a:solidFill>
                  <a:srgbClr val="FFC000"/>
                </a:solidFill>
                <a:effectLst/>
                <a:uLnTx/>
                <a:uFillTx/>
                <a:latin typeface="Frutiger LT 65 Bold"/>
                <a:ea typeface="Rix모던고딕 B"/>
                <a:cs typeface="+mn-cs"/>
              </a:rPr>
              <a:t>21</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조에 따른 국제공개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로 본다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가</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선출원이</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국제특허출원인 경우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FFC000"/>
                </a:solidFill>
                <a:effectLst/>
                <a:uLnTx/>
                <a:uFillTx/>
                <a:latin typeface="Frutiger LT 65 Bold"/>
                <a:ea typeface="Rix모던고딕 B"/>
                <a:cs typeface="+mn-cs"/>
              </a:rPr>
              <a:t>선출원의</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FFC000"/>
                </a:solidFill>
                <a:effectLst/>
                <a:uLnTx/>
                <a:uFillTx/>
                <a:latin typeface="Frutiger LT 65 Bold"/>
                <a:ea typeface="Rix모던고딕 B"/>
                <a:cs typeface="+mn-cs"/>
              </a:rPr>
              <a:t>국제출원일까지</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 제출된 국제출원의 발명의 설명</a:t>
            </a:r>
            <a:r>
              <a:rPr kumimoji="0" lang="en-US" altLang="ko-KR" sz="1200" b="0" i="0" u="none" strike="noStrike" kern="1200" cap="none" spc="0" normalizeH="0" baseline="0" noProof="0" dirty="0">
                <a:ln>
                  <a:noFill/>
                </a:ln>
                <a:solidFill>
                  <a:srgbClr val="FFC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청구범위 또는 도면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나</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선출원이</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실용신안법</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34</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항에 따른 국제실용신안등록출원인 경우</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FFC000"/>
                </a:solidFill>
                <a:effectLst/>
                <a:uLnTx/>
                <a:uFillTx/>
                <a:latin typeface="Frutiger LT 65 Bold"/>
                <a:ea typeface="Rix모던고딕 B"/>
                <a:cs typeface="+mn-cs"/>
              </a:rPr>
              <a:t>선출원의</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FFC000"/>
                </a:solidFill>
                <a:effectLst/>
                <a:uLnTx/>
                <a:uFillTx/>
                <a:latin typeface="Frutiger LT 65 Bold"/>
                <a:ea typeface="Rix모던고딕 B"/>
                <a:cs typeface="+mn-cs"/>
              </a:rPr>
              <a:t>국제출원일까지</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 제출된 국제출원의 고안의 설명</a:t>
            </a:r>
            <a:r>
              <a:rPr kumimoji="0" lang="en-US" altLang="ko-KR" sz="1200" b="0" i="0" u="none" strike="noStrike" kern="1200" cap="none" spc="0" normalizeH="0" baseline="0" noProof="0" dirty="0">
                <a:ln>
                  <a:noFill/>
                </a:ln>
                <a:solidFill>
                  <a:srgbClr val="FFC000"/>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청구범위 또는 도면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56</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항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각 호 외의 부분 본문 중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그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출원일부터</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년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개월이 지난 때</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는 </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srgbClr val="FFC000"/>
                </a:solidFill>
                <a:effectLst/>
                <a:uLnTx/>
                <a:uFillTx/>
                <a:latin typeface="Frutiger LT 65 Bold"/>
                <a:ea typeface="Rix모던고딕 B"/>
                <a:cs typeface="+mn-cs"/>
              </a:rPr>
              <a:t>국제출원일부터</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srgbClr val="FFC000"/>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년 </a:t>
            </a:r>
            <a:r>
              <a:rPr kumimoji="0" lang="en-US" altLang="ko-KR" sz="1200" b="0" i="0" u="none" strike="noStrike" kern="1200" cap="none" spc="0" normalizeH="0" baseline="0" noProof="0" dirty="0">
                <a:ln>
                  <a:noFill/>
                </a:ln>
                <a:solidFill>
                  <a:srgbClr val="FFC000"/>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개월이 지난 때 또는 제</a:t>
            </a:r>
            <a:r>
              <a:rPr kumimoji="0" lang="en-US" altLang="ko-KR" sz="1200" b="0" i="0" u="none" strike="noStrike" kern="1200" cap="none" spc="0" normalizeH="0" baseline="0" noProof="0" dirty="0">
                <a:ln>
                  <a:noFill/>
                </a:ln>
                <a:solidFill>
                  <a:srgbClr val="FFC000"/>
                </a:solidFill>
                <a:effectLst/>
                <a:uLnTx/>
                <a:uFillTx/>
                <a:latin typeface="Frutiger LT 65 Bold"/>
                <a:ea typeface="Rix모던고딕 B"/>
                <a:cs typeface="+mn-cs"/>
              </a:rPr>
              <a:t>201</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FFC000"/>
                </a:solidFill>
                <a:effectLst/>
                <a:uLnTx/>
                <a:uFillTx/>
                <a:latin typeface="Frutiger LT 65 Bold"/>
                <a:ea typeface="Rix모던고딕 B"/>
                <a:cs typeface="+mn-cs"/>
              </a:rPr>
              <a:t>5</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항이나 「</a:t>
            </a:r>
            <a:r>
              <a:rPr kumimoji="0" lang="ko-KR" altLang="en-US" sz="1200" b="0" i="0" u="none" strike="noStrike" kern="1200" cap="none" spc="0" normalizeH="0" baseline="0" noProof="0" dirty="0" err="1">
                <a:ln>
                  <a:noFill/>
                </a:ln>
                <a:solidFill>
                  <a:srgbClr val="FFC000"/>
                </a:solidFill>
                <a:effectLst/>
                <a:uLnTx/>
                <a:uFillTx/>
                <a:latin typeface="Frutiger LT 65 Bold"/>
                <a:ea typeface="Rix모던고딕 B"/>
                <a:cs typeface="+mn-cs"/>
              </a:rPr>
              <a:t>실용신안법</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srgbClr val="FFC000"/>
                </a:solidFill>
                <a:effectLst/>
                <a:uLnTx/>
                <a:uFillTx/>
                <a:latin typeface="Frutiger LT 65 Bold"/>
                <a:ea typeface="Rix모던고딕 B"/>
                <a:cs typeface="+mn-cs"/>
              </a:rPr>
              <a:t>35</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FFC000"/>
                </a:solidFill>
                <a:effectLst/>
                <a:uLnTx/>
                <a:uFillTx/>
                <a:latin typeface="Frutiger LT 65 Bold"/>
                <a:ea typeface="Rix모던고딕 B"/>
                <a:cs typeface="+mn-cs"/>
              </a:rPr>
              <a:t>5</a:t>
            </a:r>
            <a:r>
              <a:rPr kumimoji="0" lang="ko-KR" altLang="en-US" sz="1200" b="0" i="0" u="none" strike="noStrike" kern="1200" cap="none" spc="0" normalizeH="0" baseline="0" noProof="0" dirty="0">
                <a:ln>
                  <a:noFill/>
                </a:ln>
                <a:solidFill>
                  <a:srgbClr val="FFC000"/>
                </a:solidFill>
                <a:effectLst/>
                <a:uLnTx/>
                <a:uFillTx/>
                <a:latin typeface="Frutiger LT 65 Bold"/>
                <a:ea typeface="Rix모던고딕 B"/>
                <a:cs typeface="+mn-cs"/>
              </a:rPr>
              <a:t>항에 따른 기준일 중 늦은 때</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로 본다</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48" name="직선 연결선 47"/>
          <p:cNvCxnSpPr/>
          <p:nvPr/>
        </p:nvCxnSpPr>
        <p:spPr>
          <a:xfrm>
            <a:off x="77875" y="3031277"/>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직사각형 4"/>
          <p:cNvSpPr/>
          <p:nvPr/>
        </p:nvSpPr>
        <p:spPr>
          <a:xfrm>
            <a:off x="77874" y="3052548"/>
            <a:ext cx="12012525" cy="3785652"/>
          </a:xfrm>
          <a:prstGeom prst="rect">
            <a:avLst/>
          </a:prstGeom>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200" b="1" i="0" u="none" strike="noStrike" kern="1200" cap="none" spc="0" normalizeH="0" baseline="0" noProof="0" dirty="0">
                <a:ln>
                  <a:noFill/>
                </a:ln>
                <a:solidFill>
                  <a:srgbClr val="5B9BD5"/>
                </a:solidFill>
                <a:effectLst/>
                <a:uLnTx/>
                <a:uFillTx/>
                <a:latin typeface="Frutiger LT 65 Bold"/>
                <a:ea typeface="Rix모던고딕 B"/>
                <a:cs typeface="+mn-cs"/>
              </a:rPr>
              <a:t>55</a:t>
            </a:r>
            <a:r>
              <a:rPr kumimoji="0" lang="ko-KR" altLang="en-US" sz="12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2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200" b="1" i="0" u="none" strike="noStrike" kern="1200" cap="none" spc="0" normalizeH="0" baseline="0" noProof="0" dirty="0">
                <a:ln>
                  <a:noFill/>
                </a:ln>
                <a:solidFill>
                  <a:srgbClr val="5B9BD5"/>
                </a:solidFill>
                <a:effectLst/>
                <a:uLnTx/>
                <a:uFillTx/>
                <a:latin typeface="Frutiger LT 65 Bold"/>
                <a:ea typeface="Rix모던고딕 B"/>
                <a:cs typeface="+mn-cs"/>
              </a:rPr>
              <a:t>특허출원 등을 기초로 한 우선권 주장</a:t>
            </a:r>
            <a:r>
              <a:rPr kumimoji="0" lang="en-US" altLang="ko-KR" sz="12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① 특허를 받으려는 자는 자신이 특허나 실용신안등록을 받을 수 있는 권리를 가진 특허출원 또는 실용신안등록출원으로 먼저 한 출원</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이하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선출원</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이라 한다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의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출원서에</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최초로 첨부된 명세서 또는 도면</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에 기재된 발명을 기초로 그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특허출원한</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발명에 관하여 우선권을 주장할 수 있다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다음 각 호의 어느 하나에 해당하는 경우에는 그러하지 아니하다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그 특허출원이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선출원의</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출원일부터</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년이 지난 후에 출원된 경우</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선출원이</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52</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실용신안법</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11</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조에 따라 준용되는 경우를 포함한다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에 따른 분할출원이나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53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 또는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실용신안법</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10</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항에 따른 변경출원인 경우</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그 특허출원을 할 때에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선출원이</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포기ㆍ무효</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또는 취하된 경우</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4.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그 특허출원을 할 때에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선출원이</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특허 여부의 결정</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실용신안등록 여부의 결정 또는 거절한다는 취지의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심결이</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확정된 경우</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③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항에 따른 우선권 주장을 수반하는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특허출원된</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발명 중 해당 우선권 주장의 기초가 된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선출원의</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출원서에</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최초로 첨부된 명세서 또는 도면</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에 기재된 발명과 같은 발명에 관하여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29</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항ㆍ제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같은 조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 본문</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같은 조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 본문</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30</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36</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항부터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항까지</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96</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항제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호</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98</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103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105</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항ㆍ제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129</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 및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136</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5</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132</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조의</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 또는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133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조의</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항에 따라 준용되는 경우를 포함한다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실용신안법</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7</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항ㆍ제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 및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25</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「디자인보호법」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95</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 및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103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항을 적용할 때에는 그 특허출원은 그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선출원을</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한 때에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특허출원한</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것으로 본다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&lt;</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개정 </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2016.2.29.&gt;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④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항에 따른 우선권 주장을 수반하는 특허출원의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출원서에</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최초로 첨부된 명세서 또는 도면에 기재된 발명 중 해당 우선권 주장의 기초가 된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선출원의</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출원서에</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최초로 첨부된 명세서 또는 도면</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에 기재된 발명과 같은 발명은 그 특허출원이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출원공개되거나</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특허가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등록공고되었을</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때에 해당 우선권 주장의 기초가 된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선출원에</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관하여 출원공개</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가 된 것으로 보고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29</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 본문</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같은 조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 본문 또는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실용신안법</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본문ㆍ제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 본문을 적용한다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⑤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선출원이</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다음 각 호의 어느 하나에 해당하면 그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선출원의</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출원서에</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최초로 첨부된 명세서 또는 도면</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에 기재된 발명 중 그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선출원에</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관하여 우선권 주장의 기초가 된 출원의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출원서에</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최초로 첨부된 명세서 또는 도면에 기재된 발명에 대해서는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항과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항을 적용하지 아니한다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선출원이</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항에 따른 우선권 주장을 수반하는 출원인 경우</a:t>
            </a: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2.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선출원이</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「공업소유권의 보호를 위한 파리 협약」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D(1)</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에 따른 우선권 주장을 수반하는 출원인 경우</a:t>
            </a:r>
            <a:endPar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endParaRPr>
          </a:p>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2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200" b="1" i="0" u="none" strike="noStrike" kern="1200" cap="none" spc="0" normalizeH="0" baseline="0" noProof="0" dirty="0">
                <a:ln>
                  <a:noFill/>
                </a:ln>
                <a:solidFill>
                  <a:srgbClr val="5B9BD5"/>
                </a:solidFill>
                <a:effectLst/>
                <a:uLnTx/>
                <a:uFillTx/>
                <a:latin typeface="Frutiger LT 65 Bold"/>
                <a:ea typeface="Rix모던고딕 B"/>
                <a:cs typeface="+mn-cs"/>
              </a:rPr>
              <a:t>56</a:t>
            </a:r>
            <a:r>
              <a:rPr kumimoji="0" lang="ko-KR" altLang="en-US" sz="12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2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200" b="1" i="0" u="none" strike="noStrike" kern="1200" cap="none" spc="0" normalizeH="0" baseline="0" noProof="0" dirty="0" err="1">
                <a:ln>
                  <a:noFill/>
                </a:ln>
                <a:solidFill>
                  <a:srgbClr val="5B9BD5"/>
                </a:solidFill>
                <a:effectLst/>
                <a:uLnTx/>
                <a:uFillTx/>
                <a:latin typeface="Frutiger LT 65 Bold"/>
                <a:ea typeface="Rix모던고딕 B"/>
                <a:cs typeface="+mn-cs"/>
              </a:rPr>
              <a:t>선출원의</a:t>
            </a:r>
            <a:r>
              <a:rPr kumimoji="0" lang="ko-KR" altLang="en-US" sz="1200" b="1" i="0" u="none" strike="noStrike" kern="1200" cap="none" spc="0" normalizeH="0" baseline="0" noProof="0" dirty="0">
                <a:ln>
                  <a:noFill/>
                </a:ln>
                <a:solidFill>
                  <a:srgbClr val="5B9BD5"/>
                </a:solidFill>
                <a:effectLst/>
                <a:uLnTx/>
                <a:uFillTx/>
                <a:latin typeface="Frutiger LT 65 Bold"/>
                <a:ea typeface="Rix모던고딕 B"/>
                <a:cs typeface="+mn-cs"/>
              </a:rPr>
              <a:t> 취하 등</a:t>
            </a:r>
            <a:r>
              <a:rPr kumimoji="0" lang="en-US" altLang="ko-KR" sz="12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① 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55</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항에 따른 우선권 주장의 기초가 된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선출원은</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그 </a:t>
            </a:r>
            <a:r>
              <a:rPr kumimoji="0" lang="ko-KR" altLang="en-US" sz="1200" b="0" i="0" u="none" strike="noStrike" kern="1200" cap="none" spc="0" normalizeH="0" baseline="0" noProof="0" dirty="0" err="1">
                <a:ln>
                  <a:noFill/>
                </a:ln>
                <a:solidFill>
                  <a:srgbClr val="FF0000"/>
                </a:solidFill>
                <a:effectLst/>
                <a:uLnTx/>
                <a:uFillTx/>
                <a:latin typeface="Frutiger LT 65 Bold"/>
                <a:ea typeface="Rix모던고딕 B"/>
                <a:cs typeface="+mn-cs"/>
              </a:rPr>
              <a:t>출원일부터</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1</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년 </a:t>
            </a:r>
            <a:r>
              <a:rPr kumimoji="0" lang="en-US" altLang="ko-KR" sz="1200" b="0" i="0" u="none" strike="noStrike" kern="1200" cap="none" spc="0" normalizeH="0" baseline="0" noProof="0" dirty="0">
                <a:ln>
                  <a:noFill/>
                </a:ln>
                <a:solidFill>
                  <a:srgbClr val="FF0000"/>
                </a:solidFill>
                <a:effectLst/>
                <a:uLnTx/>
                <a:uFillTx/>
                <a:latin typeface="Frutiger LT 65 Bold"/>
                <a:ea typeface="Rix모던고딕 B"/>
                <a:cs typeface="+mn-cs"/>
              </a:rPr>
              <a:t>3</a:t>
            </a:r>
            <a:r>
              <a:rPr kumimoji="0" lang="ko-KR" altLang="en-US" sz="1200" b="0" i="0" u="none" strike="noStrike" kern="1200" cap="none" spc="0" normalizeH="0" baseline="0" noProof="0" dirty="0">
                <a:ln>
                  <a:noFill/>
                </a:ln>
                <a:solidFill>
                  <a:srgbClr val="FF0000"/>
                </a:solidFill>
                <a:effectLst/>
                <a:uLnTx/>
                <a:uFillTx/>
                <a:latin typeface="Frutiger LT 65 Bold"/>
                <a:ea typeface="Rix모던고딕 B"/>
                <a:cs typeface="+mn-cs"/>
              </a:rPr>
              <a:t>개월이 지난 때</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에 취하된 것으로 본다</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다만</a:t>
            </a:r>
            <a:r>
              <a:rPr kumimoji="0" lang="en-US" altLang="ko-KR" sz="12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그 </a:t>
            </a:r>
            <a:r>
              <a:rPr kumimoji="0" lang="ko-KR" altLang="en-US" sz="1200" b="0" i="0" u="none" strike="noStrike" kern="1200" cap="none" spc="0" normalizeH="0" baseline="0" noProof="0" dirty="0" err="1">
                <a:ln>
                  <a:noFill/>
                </a:ln>
                <a:solidFill>
                  <a:srgbClr val="44546A"/>
                </a:solidFill>
                <a:effectLst/>
                <a:uLnTx/>
                <a:uFillTx/>
                <a:latin typeface="Frutiger LT 65 Bold"/>
                <a:ea typeface="Rix모던고딕 B"/>
                <a:cs typeface="+mn-cs"/>
              </a:rPr>
              <a:t>선출원이</a:t>
            </a:r>
            <a:r>
              <a:rPr kumimoji="0" lang="ko-KR" altLang="en-US" sz="1200" b="0" i="0" u="none" strike="noStrike" kern="1200" cap="none" spc="0" normalizeH="0" baseline="0" noProof="0" dirty="0">
                <a:ln>
                  <a:noFill/>
                </a:ln>
                <a:solidFill>
                  <a:srgbClr val="44546A"/>
                </a:solidFill>
                <a:effectLst/>
                <a:uLnTx/>
                <a:uFillTx/>
                <a:latin typeface="Frutiger LT 65 Bold"/>
                <a:ea typeface="Rix모던고딕 B"/>
                <a:cs typeface="+mn-cs"/>
              </a:rPr>
              <a:t> 다음 각 호의 어느 하나에 해당하는 경우에는 그러하지 아니하다</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581</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4019720735"/>
      </p:ext>
    </p:extLst>
  </p:cSld>
  <p:clrMapOvr>
    <a:masterClrMapping/>
  </p:clrMapOvr>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202</a:t>
            </a:r>
            <a:r>
              <a:rPr lang="ko-KR" altLang="en-US" dirty="0"/>
              <a:t>조</a:t>
            </a:r>
          </a:p>
        </p:txBody>
      </p:sp>
      <p:sp>
        <p:nvSpPr>
          <p:cNvPr id="4" name="텍스트 개체 틀 3"/>
          <p:cNvSpPr>
            <a:spLocks noGrp="1"/>
          </p:cNvSpPr>
          <p:nvPr>
            <p:ph type="body" sz="quarter" idx="13"/>
          </p:nvPr>
        </p:nvSpPr>
        <p:spPr/>
        <p:txBody>
          <a:bodyPr/>
          <a:lstStyle/>
          <a:p>
            <a:r>
              <a:rPr lang="ko-KR" altLang="en-US" dirty="0"/>
              <a:t>우선권주장의 </a:t>
            </a:r>
            <a:r>
              <a:rPr lang="ko-KR" altLang="en-US" dirty="0" err="1"/>
              <a:t>선출원이</a:t>
            </a:r>
            <a:r>
              <a:rPr lang="ko-KR" altLang="en-US" dirty="0"/>
              <a:t> 국제특허출원인 경우</a:t>
            </a:r>
          </a:p>
        </p:txBody>
      </p:sp>
      <p:sp>
        <p:nvSpPr>
          <p:cNvPr id="17" name="직사각형 16"/>
          <p:cNvSpPr/>
          <p:nvPr/>
        </p:nvSpPr>
        <p:spPr>
          <a:xfrm>
            <a:off x="790139" y="1769511"/>
            <a:ext cx="815820" cy="821300"/>
          </a:xfrm>
          <a:prstGeom prst="rect">
            <a:avLst/>
          </a:prstGeom>
          <a:solidFill>
            <a:schemeClr val="accent1">
              <a:lumMod val="5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202</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항</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호</a:t>
            </a:r>
          </a:p>
        </p:txBody>
      </p:sp>
      <p:sp>
        <p:nvSpPr>
          <p:cNvPr id="22" name="직사각형 21"/>
          <p:cNvSpPr/>
          <p:nvPr/>
        </p:nvSpPr>
        <p:spPr>
          <a:xfrm>
            <a:off x="5698067" y="2022735"/>
            <a:ext cx="6094239" cy="307777"/>
          </a:xfrm>
          <a:prstGeom prst="rect">
            <a:avLst/>
          </a:prstGeom>
          <a:solidFill>
            <a:schemeClr val="accent1">
              <a:lumMod val="20000"/>
              <a:lumOff val="80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최ㆍ명ㆍ도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발명의 설명</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청구범위 또는 도면</a:t>
            </a:r>
          </a:p>
        </p:txBody>
      </p:sp>
      <p:sp>
        <p:nvSpPr>
          <p:cNvPr id="33" name="직사각형 32"/>
          <p:cNvSpPr/>
          <p:nvPr/>
        </p:nvSpPr>
        <p:spPr>
          <a:xfrm>
            <a:off x="2051668" y="1916850"/>
            <a:ext cx="2782799" cy="526622"/>
          </a:xfrm>
          <a:prstGeom prst="rect">
            <a:avLst/>
          </a:prstGeom>
          <a:solidFill>
            <a:schemeClr val="accent1">
              <a:lumMod val="60000"/>
              <a:lumOff val="4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white"/>
                </a:solidFill>
                <a:effectLst/>
                <a:uLnTx/>
                <a:uFillTx/>
                <a:latin typeface="Frutiger LT 65 Bold"/>
                <a:ea typeface="Rix모던고딕 B"/>
                <a:cs typeface="+mn-cs"/>
              </a:rPr>
              <a:t>우선권주장할</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 수 있는 범위</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55</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①</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및 판단시점 소급효 범위</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55</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③⑤</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34" name="직선 연결선 33"/>
          <p:cNvCxnSpPr>
            <a:stCxn id="17" idx="3"/>
            <a:endCxn id="33" idx="1"/>
          </p:cNvCxnSpPr>
          <p:nvPr/>
        </p:nvCxnSpPr>
        <p:spPr>
          <a:xfrm>
            <a:off x="1605959" y="2180161"/>
            <a:ext cx="445709"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직선 연결선 46"/>
          <p:cNvCxnSpPr>
            <a:stCxn id="33" idx="3"/>
            <a:endCxn id="22" idx="1"/>
          </p:cNvCxnSpPr>
          <p:nvPr/>
        </p:nvCxnSpPr>
        <p:spPr>
          <a:xfrm flipV="1">
            <a:off x="4834467" y="2176624"/>
            <a:ext cx="863600" cy="353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직사각형 49"/>
          <p:cNvSpPr/>
          <p:nvPr/>
        </p:nvSpPr>
        <p:spPr>
          <a:xfrm>
            <a:off x="790139" y="3090390"/>
            <a:ext cx="815820" cy="821226"/>
          </a:xfrm>
          <a:prstGeom prst="rect">
            <a:avLst/>
          </a:prstGeom>
          <a:solidFill>
            <a:schemeClr val="accent1">
              <a:lumMod val="5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202</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항</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호</a:t>
            </a:r>
          </a:p>
        </p:txBody>
      </p:sp>
      <p:sp>
        <p:nvSpPr>
          <p:cNvPr id="51" name="직사각형 50"/>
          <p:cNvSpPr/>
          <p:nvPr/>
        </p:nvSpPr>
        <p:spPr>
          <a:xfrm>
            <a:off x="3337525" y="2801689"/>
            <a:ext cx="8454781" cy="307777"/>
          </a:xfrm>
          <a:prstGeom prst="rect">
            <a:avLst/>
          </a:prstGeom>
          <a:solidFill>
            <a:schemeClr val="accent1">
              <a:lumMod val="20000"/>
              <a:lumOff val="80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최ㆍ명ㆍ도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발명의 설명</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청구범위 또는 도면</a:t>
            </a:r>
          </a:p>
        </p:txBody>
      </p:sp>
      <p:sp>
        <p:nvSpPr>
          <p:cNvPr id="52" name="직사각형 51"/>
          <p:cNvSpPr/>
          <p:nvPr/>
        </p:nvSpPr>
        <p:spPr>
          <a:xfrm>
            <a:off x="3335866" y="3211220"/>
            <a:ext cx="8456441" cy="307777"/>
          </a:xfrm>
          <a:prstGeom prst="rect">
            <a:avLst/>
          </a:prstGeom>
          <a:solidFill>
            <a:schemeClr val="accent1">
              <a:lumMod val="20000"/>
              <a:lumOff val="80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관하여 출원공개」→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관하여 출원공개 또는 「특허협력조약」에 따라 국제공개</a:t>
            </a:r>
          </a:p>
        </p:txBody>
      </p:sp>
      <p:cxnSp>
        <p:nvCxnSpPr>
          <p:cNvPr id="53" name="꺾인 연결선 52"/>
          <p:cNvCxnSpPr>
            <a:stCxn id="55" idx="3"/>
            <a:endCxn id="51" idx="1"/>
          </p:cNvCxnSpPr>
          <p:nvPr/>
        </p:nvCxnSpPr>
        <p:spPr>
          <a:xfrm flipV="1">
            <a:off x="2867489" y="2955578"/>
            <a:ext cx="470036" cy="545425"/>
          </a:xfrm>
          <a:prstGeom prst="bentConnector3">
            <a:avLst>
              <a:gd name="adj1" fmla="val 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꺾인 연결선 53"/>
          <p:cNvCxnSpPr>
            <a:stCxn id="55" idx="3"/>
            <a:endCxn id="52" idx="1"/>
          </p:cNvCxnSpPr>
          <p:nvPr/>
        </p:nvCxnSpPr>
        <p:spPr>
          <a:xfrm flipV="1">
            <a:off x="2867489" y="3365109"/>
            <a:ext cx="468377" cy="13589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 name="직사각형 54"/>
          <p:cNvSpPr/>
          <p:nvPr/>
        </p:nvSpPr>
        <p:spPr>
          <a:xfrm>
            <a:off x="2051669" y="3237692"/>
            <a:ext cx="815820" cy="526622"/>
          </a:xfrm>
          <a:prstGeom prst="rect">
            <a:avLst/>
          </a:prstGeom>
          <a:solidFill>
            <a:schemeClr val="accent1">
              <a:lumMod val="60000"/>
              <a:lumOff val="4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55</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항 中</a:t>
            </a:r>
          </a:p>
        </p:txBody>
      </p:sp>
      <p:cxnSp>
        <p:nvCxnSpPr>
          <p:cNvPr id="57" name="직선 연결선 56"/>
          <p:cNvCxnSpPr>
            <a:stCxn id="50" idx="3"/>
            <a:endCxn id="55" idx="1"/>
          </p:cNvCxnSpPr>
          <p:nvPr/>
        </p:nvCxnSpPr>
        <p:spPr>
          <a:xfrm>
            <a:off x="1605959" y="3501003"/>
            <a:ext cx="44571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직사각형 58"/>
          <p:cNvSpPr/>
          <p:nvPr/>
        </p:nvSpPr>
        <p:spPr>
          <a:xfrm>
            <a:off x="3335866" y="3628842"/>
            <a:ext cx="8456441" cy="523220"/>
          </a:xfrm>
          <a:prstGeom prst="rect">
            <a:avLst/>
          </a:prstGeom>
          <a:solidFill>
            <a:schemeClr val="accent1">
              <a:lumMod val="20000"/>
              <a:lumOff val="80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선출원인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국제특허출원이</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항에 따라 취하된 것으로 보는 경우에도 확대된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적용 시 다른 출원의 지위가 인정</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55</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⑥</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61" name="꺾인 연결선 60"/>
          <p:cNvCxnSpPr>
            <a:stCxn id="55" idx="3"/>
            <a:endCxn id="59" idx="1"/>
          </p:cNvCxnSpPr>
          <p:nvPr/>
        </p:nvCxnSpPr>
        <p:spPr>
          <a:xfrm>
            <a:off x="2867489" y="3501003"/>
            <a:ext cx="468377" cy="389449"/>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직사각형 61"/>
          <p:cNvSpPr/>
          <p:nvPr/>
        </p:nvSpPr>
        <p:spPr>
          <a:xfrm>
            <a:off x="790139" y="4453444"/>
            <a:ext cx="815820" cy="821300"/>
          </a:xfrm>
          <a:prstGeom prst="rect">
            <a:avLst/>
          </a:prstGeom>
          <a:solidFill>
            <a:schemeClr val="accent1">
              <a:lumMod val="5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202</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조</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항</a:t>
            </a:r>
            <a:endPar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호</a:t>
            </a:r>
          </a:p>
        </p:txBody>
      </p:sp>
      <p:sp>
        <p:nvSpPr>
          <p:cNvPr id="63" name="직사각형 62"/>
          <p:cNvSpPr/>
          <p:nvPr/>
        </p:nvSpPr>
        <p:spPr>
          <a:xfrm>
            <a:off x="4199467" y="4706668"/>
            <a:ext cx="7592840" cy="307777"/>
          </a:xfrm>
          <a:prstGeom prst="rect">
            <a:avLst/>
          </a:prstGeom>
          <a:solidFill>
            <a:schemeClr val="accent1">
              <a:lumMod val="20000"/>
              <a:lumOff val="80000"/>
            </a:schemeClr>
          </a:solidFill>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「그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출원일부터</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개월이 지난 때」 →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국제출원일부터</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년 </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개월이 지난 때와 기준일 중 늦은 때</a:t>
            </a:r>
          </a:p>
        </p:txBody>
      </p:sp>
      <p:sp>
        <p:nvSpPr>
          <p:cNvPr id="64" name="직사각형 63"/>
          <p:cNvSpPr/>
          <p:nvPr/>
        </p:nvSpPr>
        <p:spPr>
          <a:xfrm>
            <a:off x="2051669" y="4600783"/>
            <a:ext cx="1910732" cy="526622"/>
          </a:xfrm>
          <a:prstGeom prst="rect">
            <a:avLst/>
          </a:prstGeom>
          <a:solidFill>
            <a:schemeClr val="accent1">
              <a:lumMod val="60000"/>
              <a:lumOff val="40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white"/>
                </a:solidFill>
                <a:effectLst/>
                <a:uLnTx/>
                <a:uFillTx/>
                <a:latin typeface="Frutiger LT 65 Bold"/>
                <a:ea typeface="Rix모던고딕 B"/>
                <a:cs typeface="+mn-cs"/>
              </a:rPr>
              <a:t>선출원의</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 취하</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法 </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56</a:t>
            </a:r>
            <a:r>
              <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rPr>
              <a:t>①</a:t>
            </a:r>
            <a:r>
              <a:rPr kumimoji="0" lang="en-US" altLang="ko-KR" sz="14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65" name="직선 연결선 64"/>
          <p:cNvCxnSpPr>
            <a:stCxn id="62" idx="3"/>
            <a:endCxn id="64" idx="1"/>
          </p:cNvCxnSpPr>
          <p:nvPr/>
        </p:nvCxnSpPr>
        <p:spPr>
          <a:xfrm>
            <a:off x="1605959" y="4864094"/>
            <a:ext cx="445710"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직선 연결선 65"/>
          <p:cNvCxnSpPr>
            <a:stCxn id="64" idx="3"/>
            <a:endCxn id="63" idx="1"/>
          </p:cNvCxnSpPr>
          <p:nvPr/>
        </p:nvCxnSpPr>
        <p:spPr>
          <a:xfrm flipV="1">
            <a:off x="3962401" y="4860557"/>
            <a:ext cx="237066" cy="3537"/>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2" name="꺾인 연결선 71"/>
          <p:cNvCxnSpPr>
            <a:stCxn id="17" idx="1"/>
            <a:endCxn id="62" idx="1"/>
          </p:cNvCxnSpPr>
          <p:nvPr/>
        </p:nvCxnSpPr>
        <p:spPr>
          <a:xfrm rot="10800000" flipV="1">
            <a:off x="790139" y="2180160"/>
            <a:ext cx="12700" cy="2683933"/>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4" name="꺾인 연결선 73"/>
          <p:cNvCxnSpPr>
            <a:stCxn id="17" idx="1"/>
            <a:endCxn id="50" idx="1"/>
          </p:cNvCxnSpPr>
          <p:nvPr/>
        </p:nvCxnSpPr>
        <p:spPr>
          <a:xfrm rot="10800000" flipV="1">
            <a:off x="790139" y="2180161"/>
            <a:ext cx="12700" cy="1320842"/>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582</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538254667"/>
      </p:ext>
    </p:extLst>
  </p:cSld>
  <p:clrMapOvr>
    <a:masterClrMapping/>
  </p:clrMapOvr>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202</a:t>
            </a:r>
            <a:r>
              <a:rPr lang="ko-KR" altLang="en-US" dirty="0"/>
              <a:t>조</a:t>
            </a:r>
          </a:p>
        </p:txBody>
      </p:sp>
      <p:sp>
        <p:nvSpPr>
          <p:cNvPr id="2" name="텍스트 개체 틀 1"/>
          <p:cNvSpPr>
            <a:spLocks noGrp="1"/>
          </p:cNvSpPr>
          <p:nvPr>
            <p:ph type="body" sz="quarter" idx="13"/>
          </p:nvPr>
        </p:nvSpPr>
        <p:spPr/>
        <p:txBody>
          <a:bodyPr/>
          <a:lstStyle/>
          <a:p>
            <a:r>
              <a:rPr lang="ko-KR" altLang="en-US" dirty="0"/>
              <a:t>국내우선권주장의 특례 정리</a:t>
            </a:r>
          </a:p>
        </p:txBody>
      </p:sp>
      <p:graphicFrame>
        <p:nvGraphicFramePr>
          <p:cNvPr id="5" name="표 4"/>
          <p:cNvGraphicFramePr>
            <a:graphicFrameLocks noGrp="1"/>
          </p:cNvGraphicFramePr>
          <p:nvPr/>
        </p:nvGraphicFramePr>
        <p:xfrm>
          <a:off x="287867" y="1107687"/>
          <a:ext cx="11616266" cy="5643912"/>
        </p:xfrm>
        <a:graphic>
          <a:graphicData uri="http://schemas.openxmlformats.org/drawingml/2006/table">
            <a:tbl>
              <a:tblPr>
                <a:tableStyleId>{8799B23B-EC83-4686-B30A-512413B5E67A}</a:tableStyleId>
              </a:tblPr>
              <a:tblGrid>
                <a:gridCol w="352038">
                  <a:extLst>
                    <a:ext uri="{9D8B030D-6E8A-4147-A177-3AD203B41FA5}">
                      <a16:colId xmlns:a16="http://schemas.microsoft.com/office/drawing/2014/main" val="20000"/>
                    </a:ext>
                  </a:extLst>
                </a:gridCol>
                <a:gridCol w="588813">
                  <a:extLst>
                    <a:ext uri="{9D8B030D-6E8A-4147-A177-3AD203B41FA5}">
                      <a16:colId xmlns:a16="http://schemas.microsoft.com/office/drawing/2014/main" val="20001"/>
                    </a:ext>
                  </a:extLst>
                </a:gridCol>
                <a:gridCol w="594259">
                  <a:extLst>
                    <a:ext uri="{9D8B030D-6E8A-4147-A177-3AD203B41FA5}">
                      <a16:colId xmlns:a16="http://schemas.microsoft.com/office/drawing/2014/main" val="20002"/>
                    </a:ext>
                  </a:extLst>
                </a:gridCol>
                <a:gridCol w="1233988">
                  <a:extLst>
                    <a:ext uri="{9D8B030D-6E8A-4147-A177-3AD203B41FA5}">
                      <a16:colId xmlns:a16="http://schemas.microsoft.com/office/drawing/2014/main" val="3243061442"/>
                    </a:ext>
                  </a:extLst>
                </a:gridCol>
                <a:gridCol w="1251698">
                  <a:extLst>
                    <a:ext uri="{9D8B030D-6E8A-4147-A177-3AD203B41FA5}">
                      <a16:colId xmlns:a16="http://schemas.microsoft.com/office/drawing/2014/main" val="20003"/>
                    </a:ext>
                  </a:extLst>
                </a:gridCol>
                <a:gridCol w="1360975">
                  <a:extLst>
                    <a:ext uri="{9D8B030D-6E8A-4147-A177-3AD203B41FA5}">
                      <a16:colId xmlns:a16="http://schemas.microsoft.com/office/drawing/2014/main" val="4284271094"/>
                    </a:ext>
                  </a:extLst>
                </a:gridCol>
                <a:gridCol w="1476798">
                  <a:extLst>
                    <a:ext uri="{9D8B030D-6E8A-4147-A177-3AD203B41FA5}">
                      <a16:colId xmlns:a16="http://schemas.microsoft.com/office/drawing/2014/main" val="20004"/>
                    </a:ext>
                  </a:extLst>
                </a:gridCol>
                <a:gridCol w="4757697">
                  <a:extLst>
                    <a:ext uri="{9D8B030D-6E8A-4147-A177-3AD203B41FA5}">
                      <a16:colId xmlns:a16="http://schemas.microsoft.com/office/drawing/2014/main" val="20006"/>
                    </a:ext>
                  </a:extLst>
                </a:gridCol>
              </a:tblGrid>
              <a:tr h="217416">
                <a:tc rowSpan="2">
                  <a:txBody>
                    <a:bodyPr/>
                    <a:lstStyle/>
                    <a:p>
                      <a:pPr marL="0" marR="0" indent="0" algn="ctr" fontAlgn="base" latinLnBrk="0">
                        <a:lnSpc>
                          <a:spcPct val="100000"/>
                        </a:lnSpc>
                        <a:spcBef>
                          <a:spcPts val="0"/>
                        </a:spcBef>
                        <a:spcAft>
                          <a:spcPts val="0"/>
                        </a:spcAft>
                      </a:pPr>
                      <a:r>
                        <a:rPr lang="ko-KR" altLang="en-US" sz="1200" kern="0" spc="-100" dirty="0">
                          <a:effectLst/>
                        </a:rPr>
                        <a:t>구</a:t>
                      </a:r>
                    </a:p>
                    <a:p>
                      <a:pPr marL="0" marR="0" indent="0" algn="ctr" fontAlgn="base" latinLnBrk="0">
                        <a:lnSpc>
                          <a:spcPct val="100000"/>
                        </a:lnSpc>
                        <a:spcBef>
                          <a:spcPts val="0"/>
                        </a:spcBef>
                        <a:spcAft>
                          <a:spcPts val="0"/>
                        </a:spcAft>
                      </a:pPr>
                      <a:r>
                        <a:rPr lang="ko-KR" altLang="en-US" sz="1200" kern="0" spc="-100" dirty="0">
                          <a:effectLst/>
                        </a:rPr>
                        <a:t>분</a:t>
                      </a:r>
                      <a:endParaRPr lang="ko-KR" altLang="en-US" sz="1200" kern="0" spc="-100" dirty="0">
                        <a:solidFill>
                          <a:srgbClr val="000000"/>
                        </a:solidFill>
                        <a:effectLst/>
                        <a:latin typeface="+mn-ea"/>
                        <a:ea typeface="+mn-ea"/>
                      </a:endParaRPr>
                    </a:p>
                  </a:txBody>
                  <a:tcPr marL="72000" marR="72000" marT="10963" marB="10963" anchor="ctr">
                    <a:solidFill>
                      <a:schemeClr val="accent1">
                        <a:lumMod val="20000"/>
                        <a:lumOff val="80000"/>
                      </a:schemeClr>
                    </a:solidFill>
                  </a:tcPr>
                </a:tc>
                <a:tc gridSpan="2">
                  <a:txBody>
                    <a:bodyPr/>
                    <a:lstStyle/>
                    <a:p>
                      <a:pPr marL="0" marR="0" indent="0" algn="ctr" fontAlgn="base" latinLnBrk="0">
                        <a:lnSpc>
                          <a:spcPct val="100000"/>
                        </a:lnSpc>
                        <a:spcBef>
                          <a:spcPts val="0"/>
                        </a:spcBef>
                        <a:spcAft>
                          <a:spcPts val="0"/>
                        </a:spcAft>
                      </a:pPr>
                      <a:r>
                        <a:rPr lang="ko-KR" altLang="en-US" sz="1200" kern="0" spc="-100" dirty="0">
                          <a:effectLst/>
                        </a:rPr>
                        <a:t>유 형</a:t>
                      </a:r>
                      <a:endParaRPr lang="ko-KR" altLang="en-US" sz="1200" kern="0" spc="-100" dirty="0">
                        <a:solidFill>
                          <a:srgbClr val="000000"/>
                        </a:solidFill>
                        <a:effectLst/>
                        <a:latin typeface="+mn-ea"/>
                        <a:ea typeface="+mn-ea"/>
                      </a:endParaRPr>
                    </a:p>
                  </a:txBody>
                  <a:tcPr marL="72000" marR="72000" marT="10963" marB="10963" anchor="ctr">
                    <a:solidFill>
                      <a:schemeClr val="accent1">
                        <a:lumMod val="20000"/>
                        <a:lumOff val="80000"/>
                      </a:schemeClr>
                    </a:solidFill>
                  </a:tcPr>
                </a:tc>
                <a:tc h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ko-KR" altLang="en-US" sz="1200" kern="0" spc="-100" dirty="0">
                          <a:solidFill>
                            <a:srgbClr val="000000"/>
                          </a:solidFill>
                          <a:effectLst/>
                          <a:latin typeface="+mn-ea"/>
                          <a:ea typeface="+mn-ea"/>
                        </a:rPr>
                        <a:t>적용법률</a:t>
                      </a:r>
                    </a:p>
                  </a:txBody>
                  <a:tcPr marL="72000" marR="72000" marT="10963" marB="10963" anchor="ctr">
                    <a:solidFill>
                      <a:schemeClr val="accent1">
                        <a:lumMod val="20000"/>
                        <a:lumOff val="80000"/>
                      </a:schemeClr>
                    </a:solidFill>
                  </a:tcPr>
                </a:tc>
                <a:tc rowSpan="2">
                  <a:txBody>
                    <a:bodyPr/>
                    <a:lstStyle/>
                    <a:p>
                      <a:pPr marL="0" marR="0" indent="0" algn="ctr" fontAlgn="base" latinLnBrk="0">
                        <a:lnSpc>
                          <a:spcPct val="100000"/>
                        </a:lnSpc>
                        <a:spcBef>
                          <a:spcPts val="0"/>
                        </a:spcBef>
                        <a:spcAft>
                          <a:spcPts val="0"/>
                        </a:spcAft>
                      </a:pPr>
                      <a:r>
                        <a:rPr lang="ko-KR" altLang="en-US" sz="1200" kern="0" spc="-100" dirty="0">
                          <a:effectLst/>
                        </a:rPr>
                        <a:t>국내우선권</a:t>
                      </a:r>
                    </a:p>
                    <a:p>
                      <a:pPr marL="0" marR="0" indent="0" algn="ctr" fontAlgn="base" latinLnBrk="0">
                        <a:lnSpc>
                          <a:spcPct val="100000"/>
                        </a:lnSpc>
                        <a:spcBef>
                          <a:spcPts val="0"/>
                        </a:spcBef>
                        <a:spcAft>
                          <a:spcPts val="0"/>
                        </a:spcAft>
                      </a:pPr>
                      <a:r>
                        <a:rPr lang="ko-KR" altLang="en-US" sz="1200" kern="0" spc="-100" dirty="0">
                          <a:effectLst/>
                        </a:rPr>
                        <a:t>주장절차</a:t>
                      </a:r>
                      <a:endParaRPr lang="ko-KR" altLang="en-US" sz="1200" kern="0" spc="-100" dirty="0">
                        <a:solidFill>
                          <a:srgbClr val="000000"/>
                        </a:solidFill>
                        <a:effectLst/>
                        <a:latin typeface="+mn-ea"/>
                        <a:ea typeface="+mn-ea"/>
                      </a:endParaRPr>
                    </a:p>
                  </a:txBody>
                  <a:tcPr marL="72000" marR="72000" marT="10963" marB="10963" anchor="ctr">
                    <a:solidFill>
                      <a:schemeClr val="accent1">
                        <a:lumMod val="20000"/>
                        <a:lumOff val="80000"/>
                      </a:schemeClr>
                    </a:solidFill>
                  </a:tcPr>
                </a:tc>
                <a:tc rowSpan="2">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1200" kern="0" spc="-100" dirty="0" err="1">
                          <a:effectLst/>
                        </a:rPr>
                        <a:t>국내우선권주장의</a:t>
                      </a:r>
                      <a:r>
                        <a:rPr lang="ko-KR" altLang="en-US" sz="1200" kern="0" spc="-100" dirty="0">
                          <a:effectLst/>
                        </a:rPr>
                        <a:t> 취하</a:t>
                      </a:r>
                      <a:endParaRPr lang="ko-KR" altLang="en-US" sz="1200" kern="0" spc="-100" dirty="0">
                        <a:solidFill>
                          <a:srgbClr val="000000"/>
                        </a:solidFill>
                        <a:effectLst/>
                        <a:latin typeface="+mn-ea"/>
                        <a:ea typeface="+mn-ea"/>
                      </a:endParaRPr>
                    </a:p>
                  </a:txBody>
                  <a:tcPr marL="72000" marR="72000" marT="10963" marB="10963" anchor="ctr">
                    <a:solidFill>
                      <a:schemeClr val="accent1">
                        <a:lumMod val="20000"/>
                        <a:lumOff val="80000"/>
                      </a:schemeClr>
                    </a:solidFill>
                  </a:tcPr>
                </a:tc>
                <a:tc rowSpan="2">
                  <a:txBody>
                    <a:bodyPr/>
                    <a:lstStyle/>
                    <a:p>
                      <a:pPr marL="0" marR="0" indent="0" algn="ctr" fontAlgn="base" latinLnBrk="0">
                        <a:lnSpc>
                          <a:spcPct val="100000"/>
                        </a:lnSpc>
                        <a:spcBef>
                          <a:spcPts val="0"/>
                        </a:spcBef>
                        <a:spcAft>
                          <a:spcPts val="0"/>
                        </a:spcAft>
                      </a:pPr>
                      <a:r>
                        <a:rPr lang="ko-KR" altLang="en-US" sz="1200" kern="0" spc="-100" dirty="0">
                          <a:effectLst/>
                        </a:rPr>
                        <a:t>선출원의 </a:t>
                      </a:r>
                    </a:p>
                    <a:p>
                      <a:pPr marL="0" marR="0" indent="0" algn="ctr" fontAlgn="base" latinLnBrk="0">
                        <a:lnSpc>
                          <a:spcPct val="100000"/>
                        </a:lnSpc>
                        <a:spcBef>
                          <a:spcPts val="0"/>
                        </a:spcBef>
                        <a:spcAft>
                          <a:spcPts val="0"/>
                        </a:spcAft>
                      </a:pPr>
                      <a:r>
                        <a:rPr lang="ko-KR" altLang="en-US" sz="1200" kern="0" spc="-100" dirty="0">
                          <a:effectLst/>
                        </a:rPr>
                        <a:t>취하</a:t>
                      </a:r>
                      <a:endParaRPr lang="ko-KR" altLang="en-US" sz="1200" kern="0" spc="-100" dirty="0">
                        <a:solidFill>
                          <a:srgbClr val="000000"/>
                        </a:solidFill>
                        <a:effectLst/>
                        <a:latin typeface="+mn-ea"/>
                        <a:ea typeface="+mn-ea"/>
                      </a:endParaRPr>
                    </a:p>
                  </a:txBody>
                  <a:tcPr marL="72000" marR="72000" marT="10963" marB="10963" anchor="ctr">
                    <a:solidFill>
                      <a:schemeClr val="accent1">
                        <a:lumMod val="20000"/>
                        <a:lumOff val="80000"/>
                      </a:schemeClr>
                    </a:solidFill>
                  </a:tcPr>
                </a:tc>
                <a:tc rowSpan="2">
                  <a:txBody>
                    <a:bodyPr/>
                    <a:lstStyle/>
                    <a:p>
                      <a:pPr marL="0" marR="0" indent="0" algn="ctr" fontAlgn="base" latinLnBrk="0">
                        <a:lnSpc>
                          <a:spcPct val="100000"/>
                        </a:lnSpc>
                        <a:spcBef>
                          <a:spcPts val="0"/>
                        </a:spcBef>
                        <a:spcAft>
                          <a:spcPts val="0"/>
                        </a:spcAft>
                      </a:pPr>
                      <a:r>
                        <a:rPr lang="ko-KR" altLang="en-US" sz="1200" kern="0" spc="-100" dirty="0">
                          <a:effectLst/>
                        </a:rPr>
                        <a:t>확대된 </a:t>
                      </a:r>
                      <a:r>
                        <a:rPr lang="ko-KR" altLang="en-US" sz="1200" kern="0" spc="-100" dirty="0" err="1">
                          <a:effectLst/>
                        </a:rPr>
                        <a:t>선출원</a:t>
                      </a:r>
                      <a:endParaRPr lang="ko-KR" altLang="en-US" sz="1200" kern="0" spc="-100" dirty="0">
                        <a:solidFill>
                          <a:srgbClr val="000000"/>
                        </a:solidFill>
                        <a:effectLst/>
                        <a:latin typeface="+mn-ea"/>
                        <a:ea typeface="+mn-ea"/>
                      </a:endParaRPr>
                    </a:p>
                  </a:txBody>
                  <a:tcPr marL="72000" marR="72000" marT="10963" marB="10963" anchor="ctr">
                    <a:solidFill>
                      <a:schemeClr val="accent1">
                        <a:lumMod val="20000"/>
                        <a:lumOff val="80000"/>
                      </a:schemeClr>
                    </a:solidFill>
                  </a:tcPr>
                </a:tc>
                <a:extLst>
                  <a:ext uri="{0D108BD9-81ED-4DB2-BD59-A6C34878D82A}">
                    <a16:rowId xmlns:a16="http://schemas.microsoft.com/office/drawing/2014/main" val="10000"/>
                  </a:ext>
                </a:extLst>
              </a:tr>
              <a:tr h="217416">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kern="0" spc="-100" dirty="0" err="1">
                          <a:effectLst/>
                        </a:rPr>
                        <a:t>선출원</a:t>
                      </a:r>
                      <a:endParaRPr lang="ko-KR" altLang="en-US" sz="1200" kern="0" spc="-100" dirty="0">
                        <a:solidFill>
                          <a:srgbClr val="000000"/>
                        </a:solidFill>
                        <a:effectLst/>
                        <a:latin typeface="+mn-ea"/>
                        <a:ea typeface="+mn-ea"/>
                      </a:endParaRPr>
                    </a:p>
                  </a:txBody>
                  <a:tcPr marL="72000" marR="72000" marT="10963" marB="10963"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200" kern="0" spc="-100" dirty="0" err="1">
                          <a:effectLst/>
                        </a:rPr>
                        <a:t>후출원</a:t>
                      </a:r>
                      <a:endParaRPr lang="ko-KR" altLang="en-US" sz="1200" kern="0" spc="-100" dirty="0">
                        <a:solidFill>
                          <a:srgbClr val="000000"/>
                        </a:solidFill>
                        <a:effectLst/>
                        <a:latin typeface="+mn-ea"/>
                        <a:ea typeface="+mn-ea"/>
                      </a:endParaRPr>
                    </a:p>
                  </a:txBody>
                  <a:tcPr marL="72000" marR="72000" marT="10963" marB="10963" anchor="ctr">
                    <a:solidFill>
                      <a:schemeClr val="accent1">
                        <a:lumMod val="20000"/>
                        <a:lumOff val="80000"/>
                      </a:schemeClr>
                    </a:solidFill>
                  </a:tcPr>
                </a:tc>
                <a:tc vMerge="1">
                  <a:txBody>
                    <a:bodyPr/>
                    <a:lstStyle/>
                    <a:p>
                      <a:pPr marL="0" marR="0" indent="0" algn="ctr" fontAlgn="base" latinLnBrk="0">
                        <a:lnSpc>
                          <a:spcPct val="100000"/>
                        </a:lnSpc>
                        <a:spcBef>
                          <a:spcPts val="0"/>
                        </a:spcBef>
                        <a:spcAft>
                          <a:spcPts val="0"/>
                        </a:spcAft>
                      </a:pPr>
                      <a:endParaRPr lang="ko-KR" altLang="en-US" sz="1200" kern="0" spc="-100" dirty="0">
                        <a:solidFill>
                          <a:srgbClr val="000000"/>
                        </a:solidFill>
                        <a:effectLst/>
                        <a:latin typeface="+mn-ea"/>
                        <a:ea typeface="+mn-ea"/>
                      </a:endParaRPr>
                    </a:p>
                  </a:txBody>
                  <a:tcPr marL="72000" marR="72000" marT="10963" marB="10963" anchor="ctr">
                    <a:solidFill>
                      <a:schemeClr val="accent1">
                        <a:lumMod val="20000"/>
                        <a:lumOff val="80000"/>
                      </a:schemeClr>
                    </a:solidFill>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extLst>
                  <a:ext uri="{0D108BD9-81ED-4DB2-BD59-A6C34878D82A}">
                    <a16:rowId xmlns:a16="http://schemas.microsoft.com/office/drawing/2014/main" val="10001"/>
                  </a:ext>
                </a:extLst>
              </a:tr>
              <a:tr h="411556">
                <a:tc rowSpan="3">
                  <a:txBody>
                    <a:bodyPr/>
                    <a:lstStyle/>
                    <a:p>
                      <a:pPr marL="0" marR="0" indent="0" algn="ctr" fontAlgn="base" latinLnBrk="0">
                        <a:lnSpc>
                          <a:spcPct val="100000"/>
                        </a:lnSpc>
                        <a:spcBef>
                          <a:spcPts val="0"/>
                        </a:spcBef>
                        <a:spcAft>
                          <a:spcPts val="0"/>
                        </a:spcAft>
                      </a:pPr>
                      <a:r>
                        <a:rPr lang="ko-KR" altLang="en-US" sz="1200" b="1" kern="0" spc="-190" dirty="0">
                          <a:effectLst/>
                        </a:rPr>
                        <a:t>자</a:t>
                      </a:r>
                    </a:p>
                    <a:p>
                      <a:pPr marL="0" marR="0" indent="0" algn="ctr" fontAlgn="base" latinLnBrk="0">
                        <a:lnSpc>
                          <a:spcPct val="100000"/>
                        </a:lnSpc>
                        <a:spcBef>
                          <a:spcPts val="0"/>
                        </a:spcBef>
                        <a:spcAft>
                          <a:spcPts val="0"/>
                        </a:spcAft>
                      </a:pPr>
                      <a:r>
                        <a:rPr lang="ko-KR" altLang="en-US" sz="1200" b="1" kern="0" spc="-190" dirty="0">
                          <a:effectLst/>
                        </a:rPr>
                        <a:t>기</a:t>
                      </a:r>
                    </a:p>
                    <a:p>
                      <a:pPr marL="0" marR="0" indent="0" algn="ctr" fontAlgn="base" latinLnBrk="0">
                        <a:lnSpc>
                          <a:spcPct val="100000"/>
                        </a:lnSpc>
                        <a:spcBef>
                          <a:spcPts val="0"/>
                        </a:spcBef>
                        <a:spcAft>
                          <a:spcPts val="0"/>
                        </a:spcAft>
                      </a:pPr>
                      <a:r>
                        <a:rPr lang="ko-KR" altLang="en-US" sz="1200" b="1" kern="0" spc="-190" dirty="0">
                          <a:effectLst/>
                        </a:rPr>
                        <a:t>지</a:t>
                      </a:r>
                    </a:p>
                    <a:p>
                      <a:pPr marL="0" marR="0" indent="0" algn="ctr" fontAlgn="base" latinLnBrk="0">
                        <a:lnSpc>
                          <a:spcPct val="100000"/>
                        </a:lnSpc>
                        <a:spcBef>
                          <a:spcPts val="0"/>
                        </a:spcBef>
                        <a:spcAft>
                          <a:spcPts val="0"/>
                        </a:spcAft>
                      </a:pPr>
                      <a:r>
                        <a:rPr lang="ko-KR" altLang="en-US" sz="1200" b="1" kern="0" spc="-190" dirty="0">
                          <a:effectLst/>
                        </a:rPr>
                        <a:t>정</a:t>
                      </a:r>
                    </a:p>
                    <a:p>
                      <a:pPr marL="0" marR="0" indent="0" algn="ctr" fontAlgn="base" latinLnBrk="0">
                        <a:lnSpc>
                          <a:spcPct val="100000"/>
                        </a:lnSpc>
                        <a:spcBef>
                          <a:spcPts val="0"/>
                        </a:spcBef>
                        <a:spcAft>
                          <a:spcPts val="0"/>
                        </a:spcAft>
                      </a:pPr>
                      <a:r>
                        <a:rPr lang="en-US" altLang="ko-KR" sz="1200" b="1" kern="0" spc="-190" dirty="0">
                          <a:effectLst/>
                        </a:rPr>
                        <a:t>×</a:t>
                      </a:r>
                      <a:endParaRPr lang="ko-KR" altLang="en-US" sz="1200" b="1" kern="0" spc="-190" dirty="0">
                        <a:solidFill>
                          <a:srgbClr val="000000"/>
                        </a:solidFill>
                        <a:effectLst/>
                        <a:latin typeface="+mn-ea"/>
                        <a:ea typeface="+mn-ea"/>
                      </a:endParaRPr>
                    </a:p>
                  </a:txBody>
                  <a:tcPr marL="72000" marR="72000" marT="10963" marB="10963" anchor="ctr"/>
                </a:tc>
                <a:tc>
                  <a:txBody>
                    <a:bodyPr/>
                    <a:lstStyle/>
                    <a:p>
                      <a:pPr marL="0" marR="0" indent="0" algn="ctr" fontAlgn="base" latinLnBrk="0">
                        <a:lnSpc>
                          <a:spcPct val="100000"/>
                        </a:lnSpc>
                        <a:spcBef>
                          <a:spcPts val="0"/>
                        </a:spcBef>
                        <a:spcAft>
                          <a:spcPts val="0"/>
                        </a:spcAft>
                      </a:pPr>
                      <a:r>
                        <a:rPr lang="ko-KR" altLang="en-US" sz="1200" b="1" kern="0" spc="-100">
                          <a:effectLst/>
                        </a:rPr>
                        <a:t>국내</a:t>
                      </a:r>
                      <a:endParaRPr lang="ko-KR" altLang="en-US" sz="1200" b="1" kern="0" spc="-100">
                        <a:solidFill>
                          <a:srgbClr val="000000"/>
                        </a:solidFill>
                        <a:effectLst/>
                        <a:latin typeface="+mn-ea"/>
                        <a:ea typeface="+mn-ea"/>
                      </a:endParaRPr>
                    </a:p>
                  </a:txBody>
                  <a:tcPr marL="72000" marR="72000" marT="10963" marB="10963" anchor="ctr"/>
                </a:tc>
                <a:tc>
                  <a:txBody>
                    <a:bodyPr/>
                    <a:lstStyle/>
                    <a:p>
                      <a:pPr marL="0" marR="0" indent="0" algn="ctr" fontAlgn="base" latinLnBrk="0">
                        <a:lnSpc>
                          <a:spcPct val="100000"/>
                        </a:lnSpc>
                        <a:spcBef>
                          <a:spcPts val="0"/>
                        </a:spcBef>
                        <a:spcAft>
                          <a:spcPts val="0"/>
                        </a:spcAft>
                      </a:pPr>
                      <a:r>
                        <a:rPr lang="ko-KR" altLang="en-US" sz="1200" b="1" kern="0" spc="-100">
                          <a:effectLst/>
                        </a:rPr>
                        <a:t>국내</a:t>
                      </a:r>
                      <a:endParaRPr lang="ko-KR" altLang="en-US" sz="1200" b="1" kern="0" spc="-100">
                        <a:solidFill>
                          <a:srgbClr val="000000"/>
                        </a:solidFill>
                        <a:effectLst/>
                        <a:latin typeface="+mn-ea"/>
                        <a:ea typeface="+mn-ea"/>
                      </a:endParaRPr>
                    </a:p>
                  </a:txBody>
                  <a:tcPr marL="72000" marR="72000" marT="10963" marB="10963" anchor="ctr"/>
                </a:tc>
                <a:tc>
                  <a:txBody>
                    <a:bodyPr/>
                    <a:lstStyle/>
                    <a:p>
                      <a:pPr marL="0" marR="0" indent="0" algn="ctr" fontAlgn="base" latinLnBrk="0">
                        <a:lnSpc>
                          <a:spcPct val="100000"/>
                        </a:lnSpc>
                        <a:spcBef>
                          <a:spcPts val="0"/>
                        </a:spcBef>
                        <a:spcAft>
                          <a:spcPts val="0"/>
                        </a:spcAft>
                      </a:pPr>
                      <a:r>
                        <a:rPr lang="ko-KR" altLang="en-US" sz="1200" b="1" kern="0" spc="-100" dirty="0">
                          <a:solidFill>
                            <a:srgbClr val="000000"/>
                          </a:solidFill>
                          <a:effectLst/>
                          <a:latin typeface="+mn-ea"/>
                          <a:ea typeface="+mn-ea"/>
                        </a:rPr>
                        <a:t>제</a:t>
                      </a:r>
                      <a:r>
                        <a:rPr lang="en-US" altLang="ko-KR" sz="1200" b="1" kern="0" spc="-100" dirty="0">
                          <a:solidFill>
                            <a:srgbClr val="000000"/>
                          </a:solidFill>
                          <a:effectLst/>
                          <a:latin typeface="+mn-ea"/>
                          <a:ea typeface="+mn-ea"/>
                        </a:rPr>
                        <a:t>55</a:t>
                      </a:r>
                      <a:r>
                        <a:rPr lang="ko-KR" altLang="en-US" sz="1200" b="1" kern="0" spc="-100" dirty="0">
                          <a:solidFill>
                            <a:srgbClr val="000000"/>
                          </a:solidFill>
                          <a:effectLst/>
                          <a:latin typeface="+mn-ea"/>
                          <a:ea typeface="+mn-ea"/>
                        </a:rPr>
                        <a:t>조</a:t>
                      </a:r>
                      <a:endParaRPr lang="en-US" altLang="ko-KR" sz="1200" b="1" kern="0" spc="-100" dirty="0">
                        <a:solidFill>
                          <a:srgbClr val="000000"/>
                        </a:solidFill>
                        <a:effectLst/>
                        <a:latin typeface="+mn-ea"/>
                        <a:ea typeface="+mn-ea"/>
                      </a:endParaRPr>
                    </a:p>
                    <a:p>
                      <a:pPr marL="0" marR="0" indent="0" algn="ctr" fontAlgn="base" latinLnBrk="0">
                        <a:lnSpc>
                          <a:spcPct val="100000"/>
                        </a:lnSpc>
                        <a:spcBef>
                          <a:spcPts val="0"/>
                        </a:spcBef>
                        <a:spcAft>
                          <a:spcPts val="0"/>
                        </a:spcAft>
                      </a:pPr>
                      <a:r>
                        <a:rPr lang="ko-KR" altLang="en-US" sz="1200" b="1" kern="0" spc="-100" dirty="0">
                          <a:solidFill>
                            <a:srgbClr val="000000"/>
                          </a:solidFill>
                          <a:effectLst/>
                          <a:latin typeface="+mn-ea"/>
                          <a:ea typeface="+mn-ea"/>
                        </a:rPr>
                        <a:t>제</a:t>
                      </a:r>
                      <a:r>
                        <a:rPr lang="en-US" altLang="ko-KR" sz="1200" b="1" kern="0" spc="-100" dirty="0">
                          <a:solidFill>
                            <a:srgbClr val="000000"/>
                          </a:solidFill>
                          <a:effectLst/>
                          <a:latin typeface="+mn-ea"/>
                          <a:ea typeface="+mn-ea"/>
                        </a:rPr>
                        <a:t>56 </a:t>
                      </a:r>
                      <a:r>
                        <a:rPr lang="ko-KR" altLang="en-US" sz="1200" b="1" kern="0" spc="-100" dirty="0">
                          <a:solidFill>
                            <a:srgbClr val="000000"/>
                          </a:solidFill>
                          <a:effectLst/>
                          <a:latin typeface="+mn-ea"/>
                          <a:ea typeface="+mn-ea"/>
                        </a:rPr>
                        <a:t>조</a:t>
                      </a:r>
                    </a:p>
                  </a:txBody>
                  <a:tcPr marL="72000" marR="72000" marT="10963" marB="10963" anchor="ctr"/>
                </a:tc>
                <a:tc rowSpan="3">
                  <a:txBody>
                    <a:bodyPr/>
                    <a:lstStyle/>
                    <a:p>
                      <a:pPr marL="17780" marR="17780" indent="0" algn="just" fontAlgn="base" latinLnBrk="1">
                        <a:lnSpc>
                          <a:spcPct val="100000"/>
                        </a:lnSpc>
                        <a:spcBef>
                          <a:spcPts val="0"/>
                        </a:spcBef>
                        <a:spcAft>
                          <a:spcPts val="0"/>
                        </a:spcAft>
                      </a:pPr>
                      <a:r>
                        <a:rPr lang="ko-KR" altLang="en-US" sz="1200" kern="0" spc="-50" dirty="0">
                          <a:effectLst/>
                        </a:rPr>
                        <a:t>특허출원 시 </a:t>
                      </a:r>
                      <a:r>
                        <a:rPr lang="ko-KR" altLang="en-US" sz="1200" kern="0" spc="-50" dirty="0" err="1">
                          <a:effectLst/>
                        </a:rPr>
                        <a:t>특허출원서에</a:t>
                      </a:r>
                      <a:r>
                        <a:rPr lang="ko-KR" altLang="en-US" sz="1200" kern="0" spc="-50" dirty="0">
                          <a:effectLst/>
                        </a:rPr>
                        <a:t> 그 취지 및 선출원의 표시</a:t>
                      </a:r>
                    </a:p>
                    <a:p>
                      <a:pPr marL="17780" marR="17780" indent="0" algn="just" fontAlgn="base" latinLnBrk="1">
                        <a:lnSpc>
                          <a:spcPct val="100000"/>
                        </a:lnSpc>
                        <a:spcBef>
                          <a:spcPts val="0"/>
                        </a:spcBef>
                        <a:spcAft>
                          <a:spcPts val="0"/>
                        </a:spcAft>
                      </a:pPr>
                      <a:r>
                        <a:rPr lang="en-US" altLang="ko-KR" sz="1200" kern="0" spc="-50" dirty="0">
                          <a:effectLst/>
                        </a:rPr>
                        <a:t>(</a:t>
                      </a:r>
                      <a:r>
                        <a:rPr lang="ko-KR" altLang="en-US" sz="1200" kern="0" spc="-50" dirty="0">
                          <a:effectLst/>
                        </a:rPr>
                        <a:t>法 </a:t>
                      </a:r>
                      <a:r>
                        <a:rPr lang="en-US" altLang="ko-KR" sz="1200" kern="0" spc="-50" dirty="0">
                          <a:effectLst/>
                        </a:rPr>
                        <a:t>55</a:t>
                      </a:r>
                      <a:r>
                        <a:rPr lang="ko-KR" altLang="en-US" sz="1200" kern="0" spc="-50" dirty="0">
                          <a:effectLst/>
                        </a:rPr>
                        <a:t>②</a:t>
                      </a:r>
                      <a:r>
                        <a:rPr lang="en-US" altLang="ko-KR" sz="1200" kern="0" spc="-50" dirty="0">
                          <a:effectLst/>
                        </a:rPr>
                        <a:t>)</a:t>
                      </a:r>
                      <a:endParaRPr lang="ko-KR" altLang="en-US" sz="1200" kern="0" spc="-50" dirty="0">
                        <a:solidFill>
                          <a:srgbClr val="000000"/>
                        </a:solidFill>
                        <a:effectLst/>
                        <a:latin typeface="+mn-ea"/>
                        <a:ea typeface="+mn-ea"/>
                      </a:endParaRPr>
                    </a:p>
                  </a:txBody>
                  <a:tcPr marL="72000" marR="72000" marT="10963" marB="10963" anchor="ctr"/>
                </a:tc>
                <a:tc rowSpan="3">
                  <a:txBody>
                    <a:bodyPr/>
                    <a:lstStyle/>
                    <a:p>
                      <a:pPr marL="17780" marR="17780" indent="0" algn="just" fontAlgn="base" latinLnBrk="1">
                        <a:lnSpc>
                          <a:spcPct val="100000"/>
                        </a:lnSpc>
                        <a:spcBef>
                          <a:spcPts val="0"/>
                        </a:spcBef>
                        <a:spcAft>
                          <a:spcPts val="0"/>
                        </a:spcAft>
                      </a:pPr>
                      <a:r>
                        <a:rPr lang="ko-KR" altLang="en-US" sz="1200" kern="0" spc="-50" dirty="0">
                          <a:effectLst/>
                        </a:rPr>
                        <a:t>선출원의 출원일로부터 </a:t>
                      </a:r>
                      <a:r>
                        <a:rPr lang="en-US" altLang="ko-KR" sz="1200" kern="0" spc="-50" dirty="0">
                          <a:effectLst/>
                        </a:rPr>
                        <a:t>1</a:t>
                      </a:r>
                      <a:r>
                        <a:rPr lang="ko-KR" altLang="en-US" sz="1200" kern="0" spc="-50" dirty="0">
                          <a:effectLst/>
                        </a:rPr>
                        <a:t>년 </a:t>
                      </a:r>
                      <a:r>
                        <a:rPr lang="en-US" altLang="ko-KR" sz="1200" kern="0" spc="-50" dirty="0">
                          <a:effectLst/>
                        </a:rPr>
                        <a:t>3</a:t>
                      </a:r>
                      <a:r>
                        <a:rPr lang="ko-KR" altLang="en-US" sz="1200" kern="0" spc="-50" dirty="0">
                          <a:effectLst/>
                        </a:rPr>
                        <a:t>개월을 지나기 전까지 취하 가능</a:t>
                      </a:r>
                      <a:r>
                        <a:rPr lang="en-US" altLang="ko-KR" sz="1200" kern="0" spc="-50" dirty="0">
                          <a:effectLst/>
                        </a:rPr>
                        <a:t>(</a:t>
                      </a:r>
                      <a:r>
                        <a:rPr lang="ko-KR" altLang="en-US" sz="1200" kern="0" spc="-50" dirty="0">
                          <a:effectLst/>
                        </a:rPr>
                        <a:t>法 </a:t>
                      </a:r>
                      <a:r>
                        <a:rPr lang="en-US" altLang="ko-KR" sz="1200" kern="0" spc="-50" dirty="0">
                          <a:effectLst/>
                        </a:rPr>
                        <a:t>56</a:t>
                      </a:r>
                      <a:r>
                        <a:rPr lang="ko-KR" altLang="en-US" sz="1200" kern="0" spc="-50" dirty="0">
                          <a:effectLst/>
                        </a:rPr>
                        <a:t>②</a:t>
                      </a:r>
                      <a:r>
                        <a:rPr lang="en-US" altLang="ko-KR" sz="1200" kern="0" spc="-50" dirty="0">
                          <a:effectLst/>
                        </a:rPr>
                        <a:t>)</a:t>
                      </a:r>
                      <a:endParaRPr lang="ko-KR" altLang="en-US" sz="1200" kern="0" spc="-50" dirty="0">
                        <a:solidFill>
                          <a:srgbClr val="000000"/>
                        </a:solidFill>
                        <a:effectLst/>
                        <a:latin typeface="+mn-ea"/>
                        <a:ea typeface="+mn-ea"/>
                      </a:endParaRPr>
                    </a:p>
                  </a:txBody>
                  <a:tcPr marL="72000" marR="72000" marT="10963" marB="10963" anchor="ctr"/>
                </a:tc>
                <a:tc rowSpan="2">
                  <a:txBody>
                    <a:bodyPr/>
                    <a:lstStyle/>
                    <a:p>
                      <a:pPr marL="17780" marR="17780" indent="0" algn="just" fontAlgn="base" latinLnBrk="1">
                        <a:lnSpc>
                          <a:spcPct val="100000"/>
                        </a:lnSpc>
                        <a:spcBef>
                          <a:spcPts val="0"/>
                        </a:spcBef>
                        <a:spcAft>
                          <a:spcPts val="0"/>
                        </a:spcAft>
                      </a:pPr>
                      <a:r>
                        <a:rPr lang="ko-KR" altLang="en-US" sz="1200" kern="0" spc="-110" dirty="0">
                          <a:effectLst/>
                        </a:rPr>
                        <a:t>선출원일로부터 </a:t>
                      </a:r>
                      <a:r>
                        <a:rPr lang="en-US" altLang="ko-KR" sz="1200" kern="0" spc="-110" dirty="0">
                          <a:effectLst/>
                        </a:rPr>
                        <a:t>1</a:t>
                      </a:r>
                      <a:r>
                        <a:rPr lang="ko-KR" altLang="en-US" sz="1200" kern="0" spc="-110" dirty="0">
                          <a:effectLst/>
                        </a:rPr>
                        <a:t>년 </a:t>
                      </a:r>
                      <a:r>
                        <a:rPr lang="en-US" altLang="ko-KR" sz="1200" kern="0" spc="-110" dirty="0">
                          <a:effectLst/>
                        </a:rPr>
                        <a:t>3</a:t>
                      </a:r>
                      <a:r>
                        <a:rPr lang="ko-KR" altLang="en-US" sz="1200" kern="0" spc="-110" dirty="0">
                          <a:effectLst/>
                        </a:rPr>
                        <a:t>개월이 지난 후 취하간주</a:t>
                      </a:r>
                      <a:r>
                        <a:rPr lang="en-US" altLang="ko-KR" sz="1200" kern="0" spc="-110" dirty="0">
                          <a:effectLst/>
                        </a:rPr>
                        <a:t>(</a:t>
                      </a:r>
                      <a:r>
                        <a:rPr lang="ko-KR" altLang="en-US" sz="1200" kern="0" spc="-110" dirty="0">
                          <a:effectLst/>
                        </a:rPr>
                        <a:t>法 </a:t>
                      </a:r>
                      <a:r>
                        <a:rPr lang="en-US" altLang="ko-KR" sz="1200" kern="0" spc="-110" dirty="0">
                          <a:effectLst/>
                        </a:rPr>
                        <a:t>56</a:t>
                      </a:r>
                      <a:r>
                        <a:rPr lang="ko-KR" altLang="en-US" sz="1200" kern="0" spc="-110" dirty="0">
                          <a:effectLst/>
                        </a:rPr>
                        <a:t>①</a:t>
                      </a:r>
                      <a:r>
                        <a:rPr lang="en-US" altLang="ko-KR" sz="1200" kern="0" spc="-110" dirty="0">
                          <a:effectLst/>
                        </a:rPr>
                        <a:t>)</a:t>
                      </a:r>
                      <a:endParaRPr lang="ko-KR" altLang="en-US" sz="1200" kern="0" spc="-110" dirty="0">
                        <a:solidFill>
                          <a:srgbClr val="000000"/>
                        </a:solidFill>
                        <a:effectLst/>
                        <a:latin typeface="+mn-ea"/>
                        <a:ea typeface="+mn-ea"/>
                      </a:endParaRPr>
                    </a:p>
                  </a:txBody>
                  <a:tcPr marL="72000" marR="72000" marT="10963" marB="10963" anchor="ctr"/>
                </a:tc>
                <a:tc>
                  <a:txBody>
                    <a:bodyPr/>
                    <a:lstStyle/>
                    <a:p>
                      <a:pPr marL="17780" marR="17780" indent="0" algn="just" fontAlgn="base" latinLnBrk="1">
                        <a:lnSpc>
                          <a:spcPct val="100000"/>
                        </a:lnSpc>
                        <a:spcBef>
                          <a:spcPts val="0"/>
                        </a:spcBef>
                        <a:spcAft>
                          <a:spcPts val="0"/>
                        </a:spcAft>
                      </a:pPr>
                      <a:r>
                        <a:rPr lang="ko-KR" altLang="en-US" sz="1200" kern="0" spc="-50" dirty="0" err="1">
                          <a:effectLst/>
                        </a:rPr>
                        <a:t>후출원의</a:t>
                      </a:r>
                      <a:r>
                        <a:rPr lang="ko-KR" altLang="en-US" sz="1200" kern="0" spc="-50" dirty="0">
                          <a:effectLst/>
                        </a:rPr>
                        <a:t> </a:t>
                      </a:r>
                      <a:r>
                        <a:rPr lang="ko-KR" altLang="en-US" sz="1200" kern="0" spc="-50" dirty="0" err="1">
                          <a:effectLst/>
                        </a:rPr>
                        <a:t>최ㆍ명ㆍ도에</a:t>
                      </a:r>
                      <a:r>
                        <a:rPr lang="ko-KR" altLang="en-US" sz="1200" kern="0" spc="-50" dirty="0">
                          <a:effectLst/>
                        </a:rPr>
                        <a:t> 기재된 발명 중 </a:t>
                      </a:r>
                      <a:r>
                        <a:rPr lang="ko-KR" altLang="en-US" sz="1200" kern="0" spc="-50" dirty="0" err="1">
                          <a:effectLst/>
                        </a:rPr>
                        <a:t>선출원의</a:t>
                      </a:r>
                      <a:r>
                        <a:rPr lang="ko-KR" altLang="en-US" sz="1200" kern="0" spc="-50" dirty="0">
                          <a:effectLst/>
                        </a:rPr>
                        <a:t> </a:t>
                      </a:r>
                      <a:r>
                        <a:rPr lang="ko-KR" altLang="en-US" sz="1200" kern="0" spc="-50" dirty="0" err="1">
                          <a:effectLst/>
                        </a:rPr>
                        <a:t>최ㆍ명ㆍ도에</a:t>
                      </a:r>
                      <a:r>
                        <a:rPr lang="ko-KR" altLang="en-US" sz="1200" kern="0" spc="-50" dirty="0">
                          <a:effectLst/>
                        </a:rPr>
                        <a:t> 기재된 발명과 같은 발명은 </a:t>
                      </a:r>
                      <a:r>
                        <a:rPr lang="ko-KR" altLang="en-US" sz="1200" kern="0" spc="-50" dirty="0" err="1">
                          <a:effectLst/>
                        </a:rPr>
                        <a:t>후출원이</a:t>
                      </a:r>
                      <a:r>
                        <a:rPr lang="ko-KR" altLang="en-US" sz="1200" kern="0" spc="-50" dirty="0">
                          <a:effectLst/>
                        </a:rPr>
                        <a:t> 출원공개 또는 </a:t>
                      </a:r>
                      <a:r>
                        <a:rPr lang="ko-KR" altLang="en-US" sz="1200" kern="0" spc="-50" dirty="0" err="1">
                          <a:effectLst/>
                        </a:rPr>
                        <a:t>등록공고되었을</a:t>
                      </a:r>
                      <a:r>
                        <a:rPr lang="ko-KR" altLang="en-US" sz="1200" kern="0" spc="-50" dirty="0">
                          <a:effectLst/>
                        </a:rPr>
                        <a:t> 때에 </a:t>
                      </a:r>
                      <a:r>
                        <a:rPr lang="ko-KR" altLang="en-US" sz="1200" kern="0" spc="-50" dirty="0" err="1">
                          <a:effectLst/>
                        </a:rPr>
                        <a:t>선출원에</a:t>
                      </a:r>
                      <a:r>
                        <a:rPr lang="ko-KR" altLang="en-US" sz="1200" kern="0" spc="-50" dirty="0">
                          <a:effectLst/>
                        </a:rPr>
                        <a:t> 관하여 </a:t>
                      </a:r>
                      <a:r>
                        <a:rPr lang="ko-KR" altLang="en-US" sz="1200" kern="0" spc="-50" dirty="0" err="1">
                          <a:effectLst/>
                        </a:rPr>
                        <a:t>출원공개된</a:t>
                      </a:r>
                      <a:r>
                        <a:rPr lang="ko-KR" altLang="en-US" sz="1200" kern="0" spc="-50" dirty="0">
                          <a:effectLst/>
                        </a:rPr>
                        <a:t> 것으로 간주</a:t>
                      </a:r>
                      <a:endParaRPr lang="ko-KR" altLang="en-US" sz="1200" kern="0" spc="-50" dirty="0">
                        <a:solidFill>
                          <a:srgbClr val="000000"/>
                        </a:solidFill>
                        <a:effectLst/>
                        <a:latin typeface="+mn-ea"/>
                        <a:ea typeface="+mn-ea"/>
                      </a:endParaRPr>
                    </a:p>
                  </a:txBody>
                  <a:tcPr marL="72000" marR="72000" marT="10963" marB="10963" anchor="ctr"/>
                </a:tc>
                <a:extLst>
                  <a:ext uri="{0D108BD9-81ED-4DB2-BD59-A6C34878D82A}">
                    <a16:rowId xmlns:a16="http://schemas.microsoft.com/office/drawing/2014/main" val="10002"/>
                  </a:ext>
                </a:extLst>
              </a:tr>
              <a:tr h="308775">
                <a:tc vMerge="1">
                  <a:txBody>
                    <a:bodyPr/>
                    <a:lstStyle/>
                    <a:p>
                      <a:pPr latinLnBrk="1"/>
                      <a:endParaRPr lang="ko-KR" altLang="en-US"/>
                    </a:p>
                  </a:txBody>
                  <a:tcPr/>
                </a:tc>
                <a:tc rowSpan="2">
                  <a:txBody>
                    <a:bodyPr/>
                    <a:lstStyle/>
                    <a:p>
                      <a:pPr marL="0" marR="0" indent="0" algn="ctr" fontAlgn="base" latinLnBrk="0">
                        <a:lnSpc>
                          <a:spcPct val="100000"/>
                        </a:lnSpc>
                        <a:spcBef>
                          <a:spcPts val="0"/>
                        </a:spcBef>
                        <a:spcAft>
                          <a:spcPts val="0"/>
                        </a:spcAft>
                      </a:pPr>
                      <a:r>
                        <a:rPr lang="en-US" altLang="ko-KR" sz="1200" b="1" kern="0" spc="-140" dirty="0">
                          <a:effectLst/>
                        </a:rPr>
                        <a:t>PCT</a:t>
                      </a:r>
                      <a:endParaRPr lang="ko-KR" altLang="en-US" sz="1200" b="1" kern="0" spc="-140" dirty="0">
                        <a:effectLst/>
                      </a:endParaRPr>
                    </a:p>
                    <a:p>
                      <a:pPr marL="0" marR="0" indent="0" algn="ctr" fontAlgn="base" latinLnBrk="0">
                        <a:lnSpc>
                          <a:spcPct val="100000"/>
                        </a:lnSpc>
                        <a:spcBef>
                          <a:spcPts val="0"/>
                        </a:spcBef>
                        <a:spcAft>
                          <a:spcPts val="0"/>
                        </a:spcAft>
                      </a:pPr>
                      <a:r>
                        <a:rPr lang="en-US" altLang="ko-KR" sz="1200" b="1" kern="0" spc="-140" dirty="0">
                          <a:effectLst/>
                        </a:rPr>
                        <a:t>(</a:t>
                      </a:r>
                      <a:r>
                        <a:rPr lang="ko-KR" altLang="en-US" sz="1200" b="1" kern="0" spc="-140" dirty="0" err="1">
                          <a:effectLst/>
                        </a:rPr>
                        <a:t>지정국</a:t>
                      </a:r>
                      <a:r>
                        <a:rPr lang="ko-KR" altLang="en-US" sz="1200" b="1" kern="0" spc="-140" dirty="0">
                          <a:effectLst/>
                        </a:rPr>
                        <a:t> </a:t>
                      </a:r>
                      <a:r>
                        <a:rPr lang="en-US" altLang="ko-KR" sz="1200" b="1" kern="0" spc="-140" dirty="0">
                          <a:effectLst/>
                        </a:rPr>
                        <a:t>: </a:t>
                      </a:r>
                      <a:endParaRPr lang="ko-KR" altLang="en-US" sz="1200" b="1" kern="0" spc="-140" dirty="0">
                        <a:effectLst/>
                      </a:endParaRPr>
                    </a:p>
                    <a:p>
                      <a:pPr marL="0" marR="0" indent="0" algn="ctr" fontAlgn="base" latinLnBrk="0">
                        <a:lnSpc>
                          <a:spcPct val="100000"/>
                        </a:lnSpc>
                        <a:spcBef>
                          <a:spcPts val="0"/>
                        </a:spcBef>
                        <a:spcAft>
                          <a:spcPts val="0"/>
                        </a:spcAft>
                      </a:pPr>
                      <a:r>
                        <a:rPr lang="ko-KR" altLang="en-US" sz="1200" b="1" kern="0" spc="-140" dirty="0">
                          <a:effectLst/>
                        </a:rPr>
                        <a:t>한국</a:t>
                      </a:r>
                      <a:r>
                        <a:rPr lang="en-US" altLang="ko-KR" sz="1200" b="1" kern="0" spc="-140" dirty="0">
                          <a:effectLst/>
                        </a:rPr>
                        <a:t>, </a:t>
                      </a:r>
                      <a:r>
                        <a:rPr lang="ko-KR" altLang="en-US" sz="1200" b="1" kern="0" spc="-140" dirty="0">
                          <a:effectLst/>
                        </a:rPr>
                        <a:t>일본 등</a:t>
                      </a:r>
                      <a:r>
                        <a:rPr lang="en-US" altLang="ko-KR" sz="1200" b="1" kern="0" spc="-140" dirty="0">
                          <a:effectLst/>
                        </a:rPr>
                        <a:t>)</a:t>
                      </a:r>
                      <a:endParaRPr lang="ko-KR" altLang="en-US" sz="1200" b="1" kern="0" spc="-140" dirty="0">
                        <a:solidFill>
                          <a:srgbClr val="000000"/>
                        </a:solidFill>
                        <a:effectLst/>
                        <a:latin typeface="+mn-ea"/>
                        <a:ea typeface="+mn-ea"/>
                      </a:endParaRPr>
                    </a:p>
                  </a:txBody>
                  <a:tcPr marL="72000" marR="72000" marT="10963" marB="10963" anchor="ctr"/>
                </a:tc>
                <a:tc rowSpan="2">
                  <a:txBody>
                    <a:bodyPr/>
                    <a:lstStyle/>
                    <a:p>
                      <a:pPr marL="0" marR="0" indent="0" algn="ctr" fontAlgn="base" latinLnBrk="0">
                        <a:lnSpc>
                          <a:spcPct val="100000"/>
                        </a:lnSpc>
                        <a:spcBef>
                          <a:spcPts val="0"/>
                        </a:spcBef>
                        <a:spcAft>
                          <a:spcPts val="0"/>
                        </a:spcAft>
                      </a:pPr>
                      <a:r>
                        <a:rPr lang="ko-KR" altLang="en-US" sz="1200" b="1" kern="0" spc="-100">
                          <a:effectLst/>
                        </a:rPr>
                        <a:t>국내</a:t>
                      </a:r>
                    </a:p>
                    <a:p>
                      <a:pPr marL="0" marR="0" indent="0" algn="ctr" fontAlgn="base" latinLnBrk="0">
                        <a:lnSpc>
                          <a:spcPct val="100000"/>
                        </a:lnSpc>
                        <a:spcBef>
                          <a:spcPts val="0"/>
                        </a:spcBef>
                        <a:spcAft>
                          <a:spcPts val="0"/>
                        </a:spcAft>
                      </a:pPr>
                      <a:r>
                        <a:rPr lang="en-US" altLang="ko-KR" sz="1200" b="1" kern="0" spc="-100">
                          <a:effectLst/>
                        </a:rPr>
                        <a:t>(</a:t>
                      </a:r>
                      <a:r>
                        <a:rPr lang="ko-KR" altLang="en-US" sz="1200" b="1" kern="0" spc="-100">
                          <a:effectLst/>
                        </a:rPr>
                        <a:t>국내</a:t>
                      </a:r>
                    </a:p>
                    <a:p>
                      <a:pPr marL="0" marR="0" indent="0" algn="ctr" fontAlgn="base" latinLnBrk="0">
                        <a:lnSpc>
                          <a:spcPct val="100000"/>
                        </a:lnSpc>
                        <a:spcBef>
                          <a:spcPts val="0"/>
                        </a:spcBef>
                        <a:spcAft>
                          <a:spcPts val="0"/>
                        </a:spcAft>
                      </a:pPr>
                      <a:r>
                        <a:rPr lang="ko-KR" altLang="en-US" sz="1200" b="1" kern="0" spc="-100">
                          <a:effectLst/>
                        </a:rPr>
                        <a:t>우선권</a:t>
                      </a:r>
                    </a:p>
                    <a:p>
                      <a:pPr marL="0" marR="0" indent="0" algn="ctr" fontAlgn="base" latinLnBrk="0">
                        <a:lnSpc>
                          <a:spcPct val="100000"/>
                        </a:lnSpc>
                        <a:spcBef>
                          <a:spcPts val="0"/>
                        </a:spcBef>
                        <a:spcAft>
                          <a:spcPts val="0"/>
                        </a:spcAft>
                      </a:pPr>
                      <a:r>
                        <a:rPr lang="ko-KR" altLang="en-US" sz="1200" b="1" kern="0" spc="-100">
                          <a:effectLst/>
                        </a:rPr>
                        <a:t>선택</a:t>
                      </a:r>
                      <a:r>
                        <a:rPr lang="en-US" altLang="ko-KR" sz="1200" b="1" kern="0" spc="-100">
                          <a:effectLst/>
                        </a:rPr>
                        <a:t>)</a:t>
                      </a:r>
                      <a:endParaRPr lang="ko-KR" altLang="en-US" sz="1200" b="1" kern="0" spc="-100">
                        <a:solidFill>
                          <a:srgbClr val="000000"/>
                        </a:solidFill>
                        <a:effectLst/>
                        <a:latin typeface="+mn-ea"/>
                        <a:ea typeface="+mn-ea"/>
                      </a:endParaRPr>
                    </a:p>
                  </a:txBody>
                  <a:tcPr marL="72000" marR="72000" marT="10963" marB="10963" anchor="ctr"/>
                </a:tc>
                <a:tc rowSpan="2">
                  <a:txBody>
                    <a:bodyPr/>
                    <a:lstStyle/>
                    <a:p>
                      <a:pPr marL="0" marR="0" indent="0" algn="ctr" fontAlgn="base" latinLnBrk="0">
                        <a:lnSpc>
                          <a:spcPct val="100000"/>
                        </a:lnSpc>
                        <a:spcBef>
                          <a:spcPts val="0"/>
                        </a:spcBef>
                        <a:spcAft>
                          <a:spcPts val="0"/>
                        </a:spcAft>
                      </a:pPr>
                      <a:r>
                        <a:rPr lang="ko-KR" altLang="en-US" sz="1200" b="1" kern="0" spc="-100" dirty="0">
                          <a:solidFill>
                            <a:srgbClr val="000000"/>
                          </a:solidFill>
                          <a:effectLst/>
                          <a:latin typeface="+mn-ea"/>
                          <a:ea typeface="+mn-ea"/>
                        </a:rPr>
                        <a:t>제</a:t>
                      </a:r>
                      <a:r>
                        <a:rPr lang="en-US" altLang="ko-KR" sz="1200" b="1" kern="0" spc="-100" dirty="0">
                          <a:solidFill>
                            <a:srgbClr val="000000"/>
                          </a:solidFill>
                          <a:effectLst/>
                          <a:latin typeface="+mn-ea"/>
                          <a:ea typeface="+mn-ea"/>
                        </a:rPr>
                        <a:t>55</a:t>
                      </a:r>
                      <a:r>
                        <a:rPr lang="ko-KR" altLang="en-US" sz="1200" b="1" kern="0" spc="-100" dirty="0">
                          <a:solidFill>
                            <a:srgbClr val="000000"/>
                          </a:solidFill>
                          <a:effectLst/>
                          <a:latin typeface="+mn-ea"/>
                          <a:ea typeface="+mn-ea"/>
                        </a:rPr>
                        <a:t>조</a:t>
                      </a:r>
                      <a:endParaRPr lang="en-US" altLang="ko-KR" sz="1200" b="1" kern="0" spc="-100" dirty="0">
                        <a:solidFill>
                          <a:srgbClr val="000000"/>
                        </a:solidFill>
                        <a:effectLst/>
                        <a:latin typeface="+mn-ea"/>
                        <a:ea typeface="+mn-ea"/>
                      </a:endParaRPr>
                    </a:p>
                    <a:p>
                      <a:pPr marL="0" marR="0" indent="0" algn="ctr" fontAlgn="base" latinLnBrk="0">
                        <a:lnSpc>
                          <a:spcPct val="100000"/>
                        </a:lnSpc>
                        <a:spcBef>
                          <a:spcPts val="0"/>
                        </a:spcBef>
                        <a:spcAft>
                          <a:spcPts val="0"/>
                        </a:spcAft>
                      </a:pPr>
                      <a:r>
                        <a:rPr lang="ko-KR" altLang="en-US" sz="1200" b="1" kern="0" spc="-100" dirty="0">
                          <a:solidFill>
                            <a:srgbClr val="000000"/>
                          </a:solidFill>
                          <a:effectLst/>
                          <a:latin typeface="+mn-ea"/>
                          <a:ea typeface="+mn-ea"/>
                        </a:rPr>
                        <a:t>제</a:t>
                      </a:r>
                      <a:r>
                        <a:rPr lang="en-US" altLang="ko-KR" sz="1200" b="1" kern="0" spc="-100" dirty="0">
                          <a:solidFill>
                            <a:srgbClr val="000000"/>
                          </a:solidFill>
                          <a:effectLst/>
                          <a:latin typeface="+mn-ea"/>
                          <a:ea typeface="+mn-ea"/>
                        </a:rPr>
                        <a:t>56</a:t>
                      </a:r>
                      <a:r>
                        <a:rPr lang="ko-KR" altLang="en-US" sz="1200" b="1" kern="0" spc="-100" dirty="0">
                          <a:solidFill>
                            <a:srgbClr val="000000"/>
                          </a:solidFill>
                          <a:effectLst/>
                          <a:latin typeface="+mn-ea"/>
                          <a:ea typeface="+mn-ea"/>
                        </a:rPr>
                        <a:t>조</a:t>
                      </a:r>
                      <a:endParaRPr lang="en-US" altLang="ko-KR" sz="1200" b="1" kern="0" spc="-100" dirty="0">
                        <a:solidFill>
                          <a:srgbClr val="000000"/>
                        </a:solidFill>
                        <a:effectLst/>
                        <a:latin typeface="+mn-ea"/>
                        <a:ea typeface="+mn-ea"/>
                      </a:endParaRPr>
                    </a:p>
                    <a:p>
                      <a:pPr marL="0" marR="0" indent="0" algn="ctr" fontAlgn="base" latinLnBrk="0">
                        <a:lnSpc>
                          <a:spcPct val="100000"/>
                        </a:lnSpc>
                        <a:spcBef>
                          <a:spcPts val="0"/>
                        </a:spcBef>
                        <a:spcAft>
                          <a:spcPts val="0"/>
                        </a:spcAft>
                      </a:pPr>
                      <a:r>
                        <a:rPr lang="ko-KR" altLang="en-US" sz="1200" b="1" kern="0" spc="-100" dirty="0">
                          <a:solidFill>
                            <a:srgbClr val="000000"/>
                          </a:solidFill>
                          <a:effectLst/>
                          <a:latin typeface="+mn-ea"/>
                          <a:ea typeface="+mn-ea"/>
                        </a:rPr>
                        <a:t>제</a:t>
                      </a:r>
                      <a:r>
                        <a:rPr lang="en-US" altLang="ko-KR" sz="1200" b="1" kern="0" spc="-100" dirty="0">
                          <a:solidFill>
                            <a:srgbClr val="000000"/>
                          </a:solidFill>
                          <a:effectLst/>
                          <a:latin typeface="+mn-ea"/>
                          <a:ea typeface="+mn-ea"/>
                        </a:rPr>
                        <a:t>202</a:t>
                      </a:r>
                      <a:r>
                        <a:rPr lang="ko-KR" altLang="en-US" sz="1200" b="1" kern="0" spc="-100" dirty="0">
                          <a:solidFill>
                            <a:srgbClr val="000000"/>
                          </a:solidFill>
                          <a:effectLst/>
                          <a:latin typeface="+mn-ea"/>
                          <a:ea typeface="+mn-ea"/>
                        </a:rPr>
                        <a:t>조제</a:t>
                      </a:r>
                      <a:r>
                        <a:rPr lang="en-US" altLang="ko-KR" sz="1200" b="1" kern="0" spc="-100" dirty="0">
                          <a:solidFill>
                            <a:srgbClr val="000000"/>
                          </a:solidFill>
                          <a:effectLst/>
                          <a:latin typeface="+mn-ea"/>
                          <a:ea typeface="+mn-ea"/>
                        </a:rPr>
                        <a:t>3</a:t>
                      </a:r>
                      <a:r>
                        <a:rPr lang="ko-KR" altLang="en-US" sz="1200" b="1" kern="0" spc="-100" dirty="0">
                          <a:solidFill>
                            <a:srgbClr val="000000"/>
                          </a:solidFill>
                          <a:effectLst/>
                          <a:latin typeface="+mn-ea"/>
                          <a:ea typeface="+mn-ea"/>
                        </a:rPr>
                        <a:t>항</a:t>
                      </a:r>
                      <a:endParaRPr lang="en-US" altLang="ko-KR" sz="1200" b="1" kern="0" spc="-100" dirty="0">
                        <a:solidFill>
                          <a:srgbClr val="000000"/>
                        </a:solidFill>
                        <a:effectLst/>
                        <a:latin typeface="+mn-ea"/>
                        <a:ea typeface="+mn-ea"/>
                      </a:endParaRPr>
                    </a:p>
                  </a:txBody>
                  <a:tcPr marL="72000" marR="72000" marT="10963" marB="10963" anchor="ctr"/>
                </a:tc>
                <a:tc vMerge="1">
                  <a:txBody>
                    <a:bodyPr/>
                    <a:lstStyle/>
                    <a:p>
                      <a:pPr latinLnBrk="1"/>
                      <a:endParaRPr lang="ko-KR" altLang="en-US"/>
                    </a:p>
                  </a:txBody>
                  <a:tcPr/>
                </a:tc>
                <a:tc vMerge="1">
                  <a:txBody>
                    <a:bodyPr/>
                    <a:lstStyle/>
                    <a:p>
                      <a:pPr latinLnBrk="1"/>
                      <a:endParaRPr lang="ko-KR" altLang="en-US" dirty="0"/>
                    </a:p>
                  </a:txBody>
                  <a:tcPr/>
                </a:tc>
                <a:tc vMerge="1">
                  <a:txBody>
                    <a:bodyPr/>
                    <a:lstStyle/>
                    <a:p>
                      <a:pPr marL="17780" marR="17780" indent="0" algn="just" fontAlgn="base" latinLnBrk="1">
                        <a:lnSpc>
                          <a:spcPct val="100000"/>
                        </a:lnSpc>
                        <a:spcBef>
                          <a:spcPts val="0"/>
                        </a:spcBef>
                        <a:spcAft>
                          <a:spcPts val="0"/>
                        </a:spcAft>
                      </a:pPr>
                      <a:r>
                        <a:rPr lang="ko-KR" altLang="en-US" sz="1200" kern="0" spc="-50" dirty="0">
                          <a:effectLst/>
                        </a:rPr>
                        <a:t>국제출원일부터 </a:t>
                      </a:r>
                      <a:r>
                        <a:rPr lang="en-US" altLang="ko-KR" sz="1200" kern="0" spc="-50" dirty="0">
                          <a:effectLst/>
                        </a:rPr>
                        <a:t>1</a:t>
                      </a:r>
                      <a:r>
                        <a:rPr lang="ko-KR" altLang="en-US" sz="1200" kern="0" spc="-50" dirty="0">
                          <a:effectLst/>
                        </a:rPr>
                        <a:t>년 </a:t>
                      </a:r>
                      <a:r>
                        <a:rPr lang="en-US" altLang="ko-KR" sz="1200" kern="0" spc="-50" dirty="0">
                          <a:effectLst/>
                        </a:rPr>
                        <a:t>3</a:t>
                      </a:r>
                      <a:r>
                        <a:rPr lang="ko-KR" altLang="en-US" sz="1200" kern="0" spc="-50" dirty="0">
                          <a:effectLst/>
                        </a:rPr>
                        <a:t>개월이 지난 때와 기준일 중 늦은 때 취하간주</a:t>
                      </a:r>
                    </a:p>
                    <a:p>
                      <a:pPr marL="17780" marR="17780" indent="0" algn="just" fontAlgn="base" latinLnBrk="1">
                        <a:lnSpc>
                          <a:spcPct val="100000"/>
                        </a:lnSpc>
                        <a:spcBef>
                          <a:spcPts val="0"/>
                        </a:spcBef>
                        <a:spcAft>
                          <a:spcPts val="0"/>
                        </a:spcAft>
                      </a:pPr>
                      <a:r>
                        <a:rPr lang="en-US" altLang="ko-KR" sz="1200" kern="0" spc="-50" dirty="0">
                          <a:effectLst/>
                        </a:rPr>
                        <a:t>(</a:t>
                      </a:r>
                      <a:r>
                        <a:rPr lang="ko-KR" altLang="en-US" sz="1200" kern="0" spc="-50" dirty="0">
                          <a:effectLst/>
                        </a:rPr>
                        <a:t>法 </a:t>
                      </a:r>
                      <a:r>
                        <a:rPr lang="en-US" altLang="ko-KR" sz="1200" kern="0" spc="-50" dirty="0">
                          <a:effectLst/>
                        </a:rPr>
                        <a:t>202</a:t>
                      </a:r>
                      <a:r>
                        <a:rPr lang="ko-KR" altLang="en-US" sz="1200" kern="0" spc="-50" dirty="0">
                          <a:effectLst/>
                        </a:rPr>
                        <a:t>③</a:t>
                      </a:r>
                      <a:r>
                        <a:rPr lang="en-US" altLang="ko-KR" sz="1200" kern="0" spc="-50" dirty="0">
                          <a:effectLst/>
                        </a:rPr>
                        <a:t>)</a:t>
                      </a:r>
                      <a:endParaRPr lang="ko-KR" altLang="en-US" sz="1200" kern="0" spc="-50" dirty="0">
                        <a:solidFill>
                          <a:srgbClr val="000000"/>
                        </a:solidFill>
                        <a:effectLst/>
                        <a:latin typeface="+mn-ea"/>
                        <a:ea typeface="+mn-ea"/>
                      </a:endParaRPr>
                    </a:p>
                  </a:txBody>
                  <a:tcPr marL="72000" marR="72000" marT="10963" marB="10963" anchor="ctr"/>
                </a:tc>
                <a:tc rowSpan="2">
                  <a:txBody>
                    <a:bodyPr/>
                    <a:lstStyle/>
                    <a:p>
                      <a:pPr marL="128270" marR="17780" indent="-128270" algn="just" fontAlgn="base" latinLnBrk="1">
                        <a:lnSpc>
                          <a:spcPct val="100000"/>
                        </a:lnSpc>
                        <a:spcBef>
                          <a:spcPts val="0"/>
                        </a:spcBef>
                        <a:spcAft>
                          <a:spcPts val="0"/>
                        </a:spcAft>
                      </a:pPr>
                      <a:r>
                        <a:rPr lang="en-US" altLang="ko-KR" sz="1200" kern="0" spc="-50" dirty="0">
                          <a:effectLst/>
                        </a:rPr>
                        <a:t>1. </a:t>
                      </a:r>
                      <a:r>
                        <a:rPr lang="ko-KR" altLang="en-US" sz="1200" kern="0" spc="-50" dirty="0">
                          <a:effectLst/>
                        </a:rPr>
                        <a:t>후출원의 </a:t>
                      </a:r>
                      <a:r>
                        <a:rPr lang="ko-KR" altLang="en-US" sz="1200" kern="0" spc="-50" dirty="0" err="1">
                          <a:effectLst/>
                        </a:rPr>
                        <a:t>최ㆍ명ㆍ도에</a:t>
                      </a:r>
                      <a:r>
                        <a:rPr lang="ko-KR" altLang="en-US" sz="1200" kern="0" spc="-50" dirty="0">
                          <a:effectLst/>
                        </a:rPr>
                        <a:t> 기재된 발명 중 선출원의 「국제출원일까지 제출된 국제출원의 발명의 설명</a:t>
                      </a:r>
                      <a:r>
                        <a:rPr lang="en-US" altLang="ko-KR" sz="1200" kern="0" spc="-50" dirty="0">
                          <a:effectLst/>
                        </a:rPr>
                        <a:t>, </a:t>
                      </a:r>
                      <a:r>
                        <a:rPr lang="ko-KR" altLang="en-US" sz="1200" kern="0" spc="-50" dirty="0">
                          <a:effectLst/>
                        </a:rPr>
                        <a:t>청구범위 또는 도면에 기재된 </a:t>
                      </a:r>
                      <a:r>
                        <a:rPr lang="ko-KR" altLang="en-US" sz="1200" kern="0" spc="-50" dirty="0" err="1">
                          <a:effectLst/>
                        </a:rPr>
                        <a:t>발명」과</a:t>
                      </a:r>
                      <a:r>
                        <a:rPr lang="ko-KR" altLang="en-US" sz="1200" kern="0" spc="-50" dirty="0">
                          <a:effectLst/>
                        </a:rPr>
                        <a:t> 같은 발명은 후출원이 출원공개 또는 </a:t>
                      </a:r>
                      <a:r>
                        <a:rPr lang="ko-KR" altLang="en-US" sz="1200" kern="0" spc="-50" dirty="0" err="1">
                          <a:effectLst/>
                        </a:rPr>
                        <a:t>등록공고되었을</a:t>
                      </a:r>
                      <a:r>
                        <a:rPr lang="ko-KR" altLang="en-US" sz="1200" kern="0" spc="-50" dirty="0">
                          <a:effectLst/>
                        </a:rPr>
                        <a:t> 때에 「선출원에 관하여 출원공개 또는 「특허협력조약」 제</a:t>
                      </a:r>
                      <a:r>
                        <a:rPr lang="en-US" altLang="ko-KR" sz="1200" kern="0" spc="-50" dirty="0">
                          <a:effectLst/>
                        </a:rPr>
                        <a:t>21</a:t>
                      </a:r>
                      <a:r>
                        <a:rPr lang="ko-KR" altLang="en-US" sz="1200" kern="0" spc="-50" dirty="0">
                          <a:effectLst/>
                        </a:rPr>
                        <a:t>조에 따른 </a:t>
                      </a:r>
                      <a:r>
                        <a:rPr lang="ko-KR" altLang="en-US" sz="1200" kern="0" spc="-50" dirty="0" err="1">
                          <a:effectLst/>
                        </a:rPr>
                        <a:t>국제공개」된</a:t>
                      </a:r>
                      <a:r>
                        <a:rPr lang="ko-KR" altLang="en-US" sz="1200" kern="0" spc="-50" dirty="0">
                          <a:effectLst/>
                        </a:rPr>
                        <a:t> 것으로 간주</a:t>
                      </a:r>
                    </a:p>
                    <a:p>
                      <a:pPr marL="128270" marR="17780" indent="-128270" algn="just" fontAlgn="base" latinLnBrk="1">
                        <a:lnSpc>
                          <a:spcPct val="100000"/>
                        </a:lnSpc>
                        <a:spcBef>
                          <a:spcPts val="0"/>
                        </a:spcBef>
                        <a:spcAft>
                          <a:spcPts val="0"/>
                        </a:spcAft>
                      </a:pPr>
                      <a:r>
                        <a:rPr lang="en-US" altLang="ko-KR" sz="1200" kern="0" spc="-120" dirty="0">
                          <a:effectLst/>
                        </a:rPr>
                        <a:t>2. </a:t>
                      </a:r>
                      <a:r>
                        <a:rPr lang="ko-KR" altLang="en-US" sz="1200" kern="0" spc="-120" dirty="0">
                          <a:effectLst/>
                        </a:rPr>
                        <a:t>선출원인 </a:t>
                      </a:r>
                      <a:r>
                        <a:rPr lang="ko-KR" altLang="en-US" sz="1200" kern="0" spc="-120" dirty="0" err="1">
                          <a:effectLst/>
                        </a:rPr>
                        <a:t>국제특허출원이</a:t>
                      </a:r>
                      <a:r>
                        <a:rPr lang="ko-KR" altLang="en-US" sz="1200" kern="0" spc="-120" dirty="0">
                          <a:effectLst/>
                        </a:rPr>
                        <a:t> 제</a:t>
                      </a:r>
                      <a:r>
                        <a:rPr lang="en-US" altLang="ko-KR" sz="1200" kern="0" spc="-120" dirty="0">
                          <a:effectLst/>
                        </a:rPr>
                        <a:t>201</a:t>
                      </a:r>
                      <a:r>
                        <a:rPr lang="ko-KR" altLang="en-US" sz="1200" kern="0" spc="-120" dirty="0">
                          <a:effectLst/>
                        </a:rPr>
                        <a:t>조</a:t>
                      </a:r>
                      <a:r>
                        <a:rPr lang="en-US" altLang="ko-KR" sz="1200" kern="0" spc="-120" dirty="0">
                          <a:effectLst/>
                        </a:rPr>
                        <a:t>4</a:t>
                      </a:r>
                      <a:r>
                        <a:rPr lang="ko-KR" altLang="en-US" sz="1200" kern="0" spc="-120" dirty="0">
                          <a:effectLst/>
                        </a:rPr>
                        <a:t>항에 따라 취하된 것으로 보는 경우에도 확대된 </a:t>
                      </a:r>
                      <a:r>
                        <a:rPr lang="ko-KR" altLang="en-US" sz="1200" kern="0" spc="-120" dirty="0" err="1">
                          <a:effectLst/>
                        </a:rPr>
                        <a:t>선출원</a:t>
                      </a:r>
                      <a:r>
                        <a:rPr lang="ko-KR" altLang="en-US" sz="1200" kern="0" spc="-120" dirty="0">
                          <a:effectLst/>
                        </a:rPr>
                        <a:t> 적용 시 다른 출원의 지위가 인정된다</a:t>
                      </a:r>
                      <a:r>
                        <a:rPr lang="en-US" altLang="ko-KR" sz="1200" kern="0" spc="-120" dirty="0">
                          <a:effectLst/>
                        </a:rPr>
                        <a:t>(</a:t>
                      </a:r>
                      <a:r>
                        <a:rPr lang="ko-KR" altLang="en-US" sz="1200" kern="0" spc="-120" dirty="0">
                          <a:effectLst/>
                        </a:rPr>
                        <a:t>法 </a:t>
                      </a:r>
                      <a:r>
                        <a:rPr lang="en-US" altLang="ko-KR" sz="1200" kern="0" spc="-120" dirty="0">
                          <a:effectLst/>
                        </a:rPr>
                        <a:t>55</a:t>
                      </a:r>
                      <a:r>
                        <a:rPr lang="ko-KR" altLang="en-US" sz="1200" kern="0" spc="-120" dirty="0">
                          <a:effectLst/>
                        </a:rPr>
                        <a:t>⑥</a:t>
                      </a:r>
                      <a:r>
                        <a:rPr lang="en-US" altLang="ko-KR" sz="1200" kern="0" spc="-120" dirty="0">
                          <a:effectLst/>
                        </a:rPr>
                        <a:t>).</a:t>
                      </a:r>
                      <a:endParaRPr lang="ko-KR" altLang="en-US" sz="1200" kern="0" spc="-120" dirty="0">
                        <a:solidFill>
                          <a:srgbClr val="000000"/>
                        </a:solidFill>
                        <a:effectLst/>
                        <a:latin typeface="+mn-ea"/>
                        <a:ea typeface="+mn-ea"/>
                      </a:endParaRPr>
                    </a:p>
                  </a:txBody>
                  <a:tcPr marL="72000" marR="72000" marT="10963" marB="10963" anchor="ctr"/>
                </a:tc>
                <a:extLst>
                  <a:ext uri="{0D108BD9-81ED-4DB2-BD59-A6C34878D82A}">
                    <a16:rowId xmlns:a16="http://schemas.microsoft.com/office/drawing/2014/main" val="10003"/>
                  </a:ext>
                </a:extLst>
              </a:tr>
              <a:tr h="879341">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vMerge="1">
                  <a:txBody>
                    <a:bodyPr/>
                    <a:lstStyle/>
                    <a:p>
                      <a:pPr latinLnBrk="1"/>
                      <a:endParaRPr lang="ko-KR" altLang="en-US"/>
                    </a:p>
                  </a:txBody>
                  <a:tcPr/>
                </a:tc>
                <a:tc rowSpan="2">
                  <a:txBody>
                    <a:bodyPr/>
                    <a:lstStyle/>
                    <a:p>
                      <a:pPr marL="17780" marR="17780" indent="0" algn="just" fontAlgn="base" latinLnBrk="1">
                        <a:lnSpc>
                          <a:spcPct val="100000"/>
                        </a:lnSpc>
                        <a:spcBef>
                          <a:spcPts val="0"/>
                        </a:spcBef>
                        <a:spcAft>
                          <a:spcPts val="0"/>
                        </a:spcAft>
                      </a:pPr>
                      <a:r>
                        <a:rPr lang="ko-KR" altLang="en-US" sz="1200" kern="0" spc="-50" dirty="0">
                          <a:effectLst/>
                        </a:rPr>
                        <a:t>국제출원일부터 </a:t>
                      </a:r>
                      <a:r>
                        <a:rPr lang="en-US" altLang="ko-KR" sz="1200" kern="0" spc="-50" dirty="0">
                          <a:effectLst/>
                        </a:rPr>
                        <a:t>1</a:t>
                      </a:r>
                      <a:r>
                        <a:rPr lang="ko-KR" altLang="en-US" sz="1200" kern="0" spc="-50" dirty="0">
                          <a:effectLst/>
                        </a:rPr>
                        <a:t>년 </a:t>
                      </a:r>
                      <a:r>
                        <a:rPr lang="en-US" altLang="ko-KR" sz="1200" kern="0" spc="-50" dirty="0">
                          <a:effectLst/>
                        </a:rPr>
                        <a:t>3</a:t>
                      </a:r>
                      <a:r>
                        <a:rPr lang="ko-KR" altLang="en-US" sz="1200" kern="0" spc="-50" dirty="0">
                          <a:effectLst/>
                        </a:rPr>
                        <a:t>개월이 지난 때와 기준일 중 늦은 때 취하간주</a:t>
                      </a:r>
                    </a:p>
                    <a:p>
                      <a:pPr marL="17780" marR="17780" indent="0" algn="just" fontAlgn="base" latinLnBrk="1">
                        <a:lnSpc>
                          <a:spcPct val="100000"/>
                        </a:lnSpc>
                        <a:spcBef>
                          <a:spcPts val="0"/>
                        </a:spcBef>
                        <a:spcAft>
                          <a:spcPts val="0"/>
                        </a:spcAft>
                      </a:pPr>
                      <a:r>
                        <a:rPr lang="en-US" altLang="ko-KR" sz="1200" kern="0" spc="-50" dirty="0">
                          <a:effectLst/>
                        </a:rPr>
                        <a:t>(</a:t>
                      </a:r>
                      <a:r>
                        <a:rPr lang="ko-KR" altLang="en-US" sz="1200" kern="0" spc="-50" dirty="0">
                          <a:effectLst/>
                        </a:rPr>
                        <a:t>法 </a:t>
                      </a:r>
                      <a:r>
                        <a:rPr lang="en-US" altLang="ko-KR" sz="1200" kern="0" spc="-50" dirty="0">
                          <a:effectLst/>
                        </a:rPr>
                        <a:t>202</a:t>
                      </a:r>
                      <a:r>
                        <a:rPr lang="ko-KR" altLang="en-US" sz="1200" kern="0" spc="-50" dirty="0">
                          <a:effectLst/>
                        </a:rPr>
                        <a:t>③</a:t>
                      </a:r>
                      <a:r>
                        <a:rPr lang="en-US" altLang="ko-KR" sz="1200" kern="0" spc="-50" dirty="0">
                          <a:effectLst/>
                        </a:rPr>
                        <a:t>)</a:t>
                      </a:r>
                      <a:endParaRPr lang="ko-KR" altLang="en-US" dirty="0"/>
                    </a:p>
                  </a:txBody>
                  <a:tcPr marL="72000" marR="72000" marT="10963" marB="10963" anchor="ctr"/>
                </a:tc>
                <a:tc vMerge="1">
                  <a:txBody>
                    <a:bodyPr/>
                    <a:lstStyle/>
                    <a:p>
                      <a:pPr latinLnBrk="1"/>
                      <a:endParaRPr lang="ko-KR" altLang="en-US"/>
                    </a:p>
                  </a:txBody>
                  <a:tcPr/>
                </a:tc>
                <a:extLst>
                  <a:ext uri="{0D108BD9-81ED-4DB2-BD59-A6C34878D82A}">
                    <a16:rowId xmlns:a16="http://schemas.microsoft.com/office/drawing/2014/main" val="2255453812"/>
                  </a:ext>
                </a:extLst>
              </a:tr>
              <a:tr h="1770536">
                <a:tc rowSpan="2">
                  <a:txBody>
                    <a:bodyPr/>
                    <a:lstStyle/>
                    <a:p>
                      <a:pPr marL="0" marR="0" indent="0" algn="ctr" fontAlgn="base" latinLnBrk="0">
                        <a:lnSpc>
                          <a:spcPct val="100000"/>
                        </a:lnSpc>
                        <a:spcBef>
                          <a:spcPts val="0"/>
                        </a:spcBef>
                        <a:spcAft>
                          <a:spcPts val="0"/>
                        </a:spcAft>
                      </a:pPr>
                      <a:r>
                        <a:rPr lang="ko-KR" altLang="en-US" sz="1200" b="1" kern="0" spc="-190">
                          <a:effectLst/>
                        </a:rPr>
                        <a:t>자</a:t>
                      </a:r>
                    </a:p>
                    <a:p>
                      <a:pPr marL="0" marR="0" indent="0" algn="ctr" fontAlgn="base" latinLnBrk="0">
                        <a:lnSpc>
                          <a:spcPct val="100000"/>
                        </a:lnSpc>
                        <a:spcBef>
                          <a:spcPts val="0"/>
                        </a:spcBef>
                        <a:spcAft>
                          <a:spcPts val="0"/>
                        </a:spcAft>
                      </a:pPr>
                      <a:r>
                        <a:rPr lang="ko-KR" altLang="en-US" sz="1200" b="1" kern="0" spc="-190">
                          <a:effectLst/>
                        </a:rPr>
                        <a:t>기</a:t>
                      </a:r>
                    </a:p>
                    <a:p>
                      <a:pPr marL="0" marR="0" indent="0" algn="ctr" fontAlgn="base" latinLnBrk="0">
                        <a:lnSpc>
                          <a:spcPct val="100000"/>
                        </a:lnSpc>
                        <a:spcBef>
                          <a:spcPts val="0"/>
                        </a:spcBef>
                        <a:spcAft>
                          <a:spcPts val="0"/>
                        </a:spcAft>
                      </a:pPr>
                      <a:r>
                        <a:rPr lang="ko-KR" altLang="en-US" sz="1200" b="1" kern="0" spc="-190">
                          <a:effectLst/>
                        </a:rPr>
                        <a:t>지</a:t>
                      </a:r>
                    </a:p>
                    <a:p>
                      <a:pPr marL="0" marR="0" indent="0" algn="ctr" fontAlgn="base" latinLnBrk="0">
                        <a:lnSpc>
                          <a:spcPct val="100000"/>
                        </a:lnSpc>
                        <a:spcBef>
                          <a:spcPts val="0"/>
                        </a:spcBef>
                        <a:spcAft>
                          <a:spcPts val="0"/>
                        </a:spcAft>
                      </a:pPr>
                      <a:r>
                        <a:rPr lang="ko-KR" altLang="en-US" sz="1200" b="1" kern="0" spc="-190">
                          <a:effectLst/>
                        </a:rPr>
                        <a:t>정</a:t>
                      </a:r>
                    </a:p>
                    <a:p>
                      <a:pPr marL="0" marR="0" indent="0" algn="ctr" fontAlgn="base" latinLnBrk="0">
                        <a:lnSpc>
                          <a:spcPct val="100000"/>
                        </a:lnSpc>
                        <a:spcBef>
                          <a:spcPts val="0"/>
                        </a:spcBef>
                        <a:spcAft>
                          <a:spcPts val="0"/>
                        </a:spcAft>
                      </a:pPr>
                      <a:r>
                        <a:rPr lang="ko-KR" altLang="en-US" sz="1200" b="1" kern="0" spc="-190">
                          <a:effectLst/>
                        </a:rPr>
                        <a:t>○</a:t>
                      </a:r>
                      <a:endParaRPr lang="ko-KR" altLang="en-US" sz="1200" b="1" kern="0" spc="-190">
                        <a:solidFill>
                          <a:srgbClr val="000000"/>
                        </a:solidFill>
                        <a:effectLst/>
                        <a:latin typeface="+mn-ea"/>
                        <a:ea typeface="+mn-ea"/>
                      </a:endParaRPr>
                    </a:p>
                  </a:txBody>
                  <a:tcPr marL="72000" marR="72000" marT="10963" marB="10963" anchor="ctr"/>
                </a:tc>
                <a:tc>
                  <a:txBody>
                    <a:bodyPr/>
                    <a:lstStyle/>
                    <a:p>
                      <a:pPr marL="0" marR="0" indent="0" algn="ctr" fontAlgn="base" latinLnBrk="0">
                        <a:lnSpc>
                          <a:spcPct val="100000"/>
                        </a:lnSpc>
                        <a:spcBef>
                          <a:spcPts val="0"/>
                        </a:spcBef>
                        <a:spcAft>
                          <a:spcPts val="0"/>
                        </a:spcAft>
                      </a:pPr>
                      <a:r>
                        <a:rPr lang="en-US" sz="1200" b="1" kern="0" spc="-100">
                          <a:effectLst/>
                        </a:rPr>
                        <a:t>PCT</a:t>
                      </a:r>
                    </a:p>
                    <a:p>
                      <a:pPr marL="0" marR="0" indent="0" algn="ctr" fontAlgn="base" latinLnBrk="0">
                        <a:lnSpc>
                          <a:spcPct val="100000"/>
                        </a:lnSpc>
                        <a:spcBef>
                          <a:spcPts val="0"/>
                        </a:spcBef>
                        <a:spcAft>
                          <a:spcPts val="0"/>
                        </a:spcAft>
                      </a:pPr>
                      <a:r>
                        <a:rPr lang="en-US" sz="1200" b="1" kern="0" spc="-190">
                          <a:effectLst/>
                        </a:rPr>
                        <a:t>(</a:t>
                      </a:r>
                      <a:r>
                        <a:rPr lang="ko-KR" altLang="en-US" sz="1200" b="1" kern="0" spc="-190">
                          <a:effectLst/>
                        </a:rPr>
                        <a:t>지정국 </a:t>
                      </a:r>
                      <a:r>
                        <a:rPr lang="en-US" altLang="ko-KR" sz="1200" b="1" kern="0" spc="-190">
                          <a:effectLst/>
                        </a:rPr>
                        <a:t>: </a:t>
                      </a:r>
                      <a:endParaRPr lang="ko-KR" altLang="en-US" sz="1200" b="1" kern="0" spc="-190">
                        <a:effectLst/>
                      </a:endParaRPr>
                    </a:p>
                    <a:p>
                      <a:pPr marL="0" marR="0" indent="0" algn="ctr" fontAlgn="base" latinLnBrk="0">
                        <a:lnSpc>
                          <a:spcPct val="100000"/>
                        </a:lnSpc>
                        <a:spcBef>
                          <a:spcPts val="0"/>
                        </a:spcBef>
                        <a:spcAft>
                          <a:spcPts val="0"/>
                        </a:spcAft>
                      </a:pPr>
                      <a:r>
                        <a:rPr lang="ko-KR" altLang="en-US" sz="1200" b="1" kern="0" spc="-190">
                          <a:effectLst/>
                        </a:rPr>
                        <a:t>한국</a:t>
                      </a:r>
                      <a:r>
                        <a:rPr lang="en-US" altLang="ko-KR" sz="1200" b="1" kern="0" spc="-190">
                          <a:effectLst/>
                        </a:rPr>
                        <a:t>)</a:t>
                      </a:r>
                      <a:endParaRPr lang="ko-KR" altLang="en-US" sz="1200" b="1" kern="0" spc="-190">
                        <a:solidFill>
                          <a:srgbClr val="000000"/>
                        </a:solidFill>
                        <a:effectLst/>
                        <a:latin typeface="+mn-ea"/>
                        <a:ea typeface="+mn-ea"/>
                      </a:endParaRPr>
                    </a:p>
                  </a:txBody>
                  <a:tcPr marL="72000" marR="72000" marT="10963" marB="10963" anchor="ctr"/>
                </a:tc>
                <a:tc>
                  <a:txBody>
                    <a:bodyPr/>
                    <a:lstStyle/>
                    <a:p>
                      <a:pPr marL="0" marR="0" indent="0" algn="ctr" fontAlgn="base" latinLnBrk="0">
                        <a:lnSpc>
                          <a:spcPct val="100000"/>
                        </a:lnSpc>
                        <a:spcBef>
                          <a:spcPts val="0"/>
                        </a:spcBef>
                        <a:spcAft>
                          <a:spcPts val="0"/>
                        </a:spcAft>
                      </a:pPr>
                      <a:r>
                        <a:rPr lang="en-US" altLang="ko-KR" sz="1200" b="1" kern="0" spc="-140">
                          <a:effectLst/>
                        </a:rPr>
                        <a:t>PCT</a:t>
                      </a:r>
                      <a:endParaRPr lang="ko-KR" altLang="en-US" sz="1200" b="1" kern="0" spc="-140">
                        <a:effectLst/>
                      </a:endParaRPr>
                    </a:p>
                    <a:p>
                      <a:pPr marL="0" marR="0" indent="0" algn="ctr" fontAlgn="base" latinLnBrk="0">
                        <a:lnSpc>
                          <a:spcPct val="100000"/>
                        </a:lnSpc>
                        <a:spcBef>
                          <a:spcPts val="0"/>
                        </a:spcBef>
                        <a:spcAft>
                          <a:spcPts val="0"/>
                        </a:spcAft>
                      </a:pPr>
                      <a:r>
                        <a:rPr lang="en-US" altLang="ko-KR" sz="1200" b="1" kern="0" spc="-140">
                          <a:effectLst/>
                        </a:rPr>
                        <a:t>(</a:t>
                      </a:r>
                      <a:r>
                        <a:rPr lang="ko-KR" altLang="en-US" sz="1200" b="1" kern="0" spc="-140">
                          <a:effectLst/>
                        </a:rPr>
                        <a:t>지정국 </a:t>
                      </a:r>
                      <a:r>
                        <a:rPr lang="en-US" altLang="ko-KR" sz="1200" b="1" kern="0" spc="-140">
                          <a:effectLst/>
                        </a:rPr>
                        <a:t>: </a:t>
                      </a:r>
                      <a:endParaRPr lang="ko-KR" altLang="en-US" sz="1200" b="1" kern="0" spc="-140">
                        <a:effectLst/>
                      </a:endParaRPr>
                    </a:p>
                    <a:p>
                      <a:pPr marL="0" marR="0" indent="0" algn="ctr" fontAlgn="base" latinLnBrk="0">
                        <a:lnSpc>
                          <a:spcPct val="100000"/>
                        </a:lnSpc>
                        <a:spcBef>
                          <a:spcPts val="0"/>
                        </a:spcBef>
                        <a:spcAft>
                          <a:spcPts val="0"/>
                        </a:spcAft>
                      </a:pPr>
                      <a:r>
                        <a:rPr lang="ko-KR" altLang="en-US" sz="1200" b="1" kern="0" spc="-140">
                          <a:effectLst/>
                        </a:rPr>
                        <a:t>한국</a:t>
                      </a:r>
                      <a:r>
                        <a:rPr lang="en-US" altLang="ko-KR" sz="1200" b="1" kern="0" spc="-140">
                          <a:effectLst/>
                        </a:rPr>
                        <a:t>, </a:t>
                      </a:r>
                      <a:r>
                        <a:rPr lang="ko-KR" altLang="en-US" sz="1200" b="1" kern="0" spc="-140">
                          <a:effectLst/>
                        </a:rPr>
                        <a:t>일본 등</a:t>
                      </a:r>
                      <a:r>
                        <a:rPr lang="en-US" altLang="ko-KR" sz="1200" b="1" kern="0" spc="-140">
                          <a:effectLst/>
                        </a:rPr>
                        <a:t>)</a:t>
                      </a:r>
                      <a:endParaRPr lang="ko-KR" altLang="en-US" sz="1200" b="1" kern="0" spc="-140">
                        <a:solidFill>
                          <a:srgbClr val="000000"/>
                        </a:solidFill>
                        <a:effectLst/>
                        <a:latin typeface="+mn-ea"/>
                        <a:ea typeface="+mn-ea"/>
                      </a:endParaRPr>
                    </a:p>
                  </a:txBody>
                  <a:tcPr marL="72000" marR="72000" marT="10963" marB="10963" anchor="ctr"/>
                </a:tc>
                <a:tc>
                  <a:txBody>
                    <a:bodyPr/>
                    <a:lstStyle/>
                    <a:p>
                      <a:pPr marL="0" marR="0" indent="0" algn="ctr" fontAlgn="base" latinLnBrk="0">
                        <a:lnSpc>
                          <a:spcPct val="100000"/>
                        </a:lnSpc>
                        <a:spcBef>
                          <a:spcPts val="0"/>
                        </a:spcBef>
                        <a:spcAft>
                          <a:spcPts val="0"/>
                        </a:spcAft>
                      </a:pPr>
                      <a:r>
                        <a:rPr lang="ko-KR" altLang="en-US" sz="1200" b="1" kern="0" spc="-140" dirty="0">
                          <a:solidFill>
                            <a:srgbClr val="000000"/>
                          </a:solidFill>
                          <a:effectLst/>
                          <a:latin typeface="+mn-ea"/>
                          <a:ea typeface="+mn-ea"/>
                        </a:rPr>
                        <a:t>제</a:t>
                      </a:r>
                      <a:r>
                        <a:rPr lang="en-US" altLang="ko-KR" sz="1200" b="1" kern="0" spc="-140" dirty="0">
                          <a:solidFill>
                            <a:srgbClr val="000000"/>
                          </a:solidFill>
                          <a:effectLst/>
                          <a:latin typeface="+mn-ea"/>
                          <a:ea typeface="+mn-ea"/>
                        </a:rPr>
                        <a:t>55</a:t>
                      </a:r>
                      <a:r>
                        <a:rPr lang="ko-KR" altLang="en-US" sz="1200" b="1" kern="0" spc="-140" dirty="0">
                          <a:solidFill>
                            <a:srgbClr val="000000"/>
                          </a:solidFill>
                          <a:effectLst/>
                          <a:latin typeface="+mn-ea"/>
                          <a:ea typeface="+mn-ea"/>
                        </a:rPr>
                        <a:t>조</a:t>
                      </a:r>
                      <a:endParaRPr lang="en-US" altLang="ko-KR" sz="1200" b="1" kern="0" spc="-140" dirty="0">
                        <a:solidFill>
                          <a:srgbClr val="000000"/>
                        </a:solidFill>
                        <a:effectLst/>
                        <a:latin typeface="+mn-ea"/>
                        <a:ea typeface="+mn-ea"/>
                      </a:endParaRPr>
                    </a:p>
                    <a:p>
                      <a:pPr marL="0" marR="0" indent="0" algn="ctr" fontAlgn="base" latinLnBrk="0">
                        <a:lnSpc>
                          <a:spcPct val="100000"/>
                        </a:lnSpc>
                        <a:spcBef>
                          <a:spcPts val="0"/>
                        </a:spcBef>
                        <a:spcAft>
                          <a:spcPts val="0"/>
                        </a:spcAft>
                      </a:pPr>
                      <a:r>
                        <a:rPr lang="ko-KR" altLang="en-US" sz="1200" b="1" kern="0" spc="-140" dirty="0">
                          <a:solidFill>
                            <a:srgbClr val="000000"/>
                          </a:solidFill>
                          <a:effectLst/>
                          <a:latin typeface="+mn-ea"/>
                          <a:ea typeface="+mn-ea"/>
                        </a:rPr>
                        <a:t>제</a:t>
                      </a:r>
                      <a:r>
                        <a:rPr lang="en-US" altLang="ko-KR" sz="1200" b="1" kern="0" spc="-140" dirty="0">
                          <a:solidFill>
                            <a:srgbClr val="000000"/>
                          </a:solidFill>
                          <a:effectLst/>
                          <a:latin typeface="+mn-ea"/>
                          <a:ea typeface="+mn-ea"/>
                        </a:rPr>
                        <a:t>56</a:t>
                      </a:r>
                      <a:r>
                        <a:rPr lang="ko-KR" altLang="en-US" sz="1200" b="1" kern="0" spc="-140" dirty="0">
                          <a:solidFill>
                            <a:srgbClr val="000000"/>
                          </a:solidFill>
                          <a:effectLst/>
                          <a:latin typeface="+mn-ea"/>
                          <a:ea typeface="+mn-ea"/>
                        </a:rPr>
                        <a:t>조</a:t>
                      </a:r>
                      <a:endParaRPr lang="en-US" altLang="ko-KR" sz="1200" b="1" kern="0" spc="-140" dirty="0">
                        <a:solidFill>
                          <a:srgbClr val="000000"/>
                        </a:solidFill>
                        <a:effectLst/>
                        <a:latin typeface="+mn-ea"/>
                        <a:ea typeface="+mn-ea"/>
                      </a:endParaRPr>
                    </a:p>
                    <a:p>
                      <a:pPr marL="0" marR="0" indent="0" algn="ctr" fontAlgn="base" latinLnBrk="0">
                        <a:lnSpc>
                          <a:spcPct val="100000"/>
                        </a:lnSpc>
                        <a:spcBef>
                          <a:spcPts val="0"/>
                        </a:spcBef>
                        <a:spcAft>
                          <a:spcPts val="0"/>
                        </a:spcAft>
                      </a:pPr>
                      <a:r>
                        <a:rPr lang="ko-KR" altLang="en-US" sz="1200" b="1" kern="0" spc="-140" dirty="0">
                          <a:solidFill>
                            <a:srgbClr val="000000"/>
                          </a:solidFill>
                          <a:effectLst/>
                          <a:latin typeface="+mn-ea"/>
                          <a:ea typeface="+mn-ea"/>
                        </a:rPr>
                        <a:t>제</a:t>
                      </a:r>
                      <a:r>
                        <a:rPr lang="en-US" altLang="ko-KR" sz="1200" b="1" kern="0" spc="-140" dirty="0">
                          <a:solidFill>
                            <a:srgbClr val="000000"/>
                          </a:solidFill>
                          <a:effectLst/>
                          <a:latin typeface="+mn-ea"/>
                          <a:ea typeface="+mn-ea"/>
                        </a:rPr>
                        <a:t>202</a:t>
                      </a:r>
                      <a:r>
                        <a:rPr lang="ko-KR" altLang="en-US" sz="1200" b="1" kern="0" spc="-140" dirty="0">
                          <a:solidFill>
                            <a:srgbClr val="000000"/>
                          </a:solidFill>
                          <a:effectLst/>
                          <a:latin typeface="+mn-ea"/>
                          <a:ea typeface="+mn-ea"/>
                        </a:rPr>
                        <a:t>조제</a:t>
                      </a:r>
                      <a:r>
                        <a:rPr lang="en-US" altLang="ko-KR" sz="1200" b="1" kern="0" spc="-140" dirty="0">
                          <a:solidFill>
                            <a:srgbClr val="000000"/>
                          </a:solidFill>
                          <a:effectLst/>
                          <a:latin typeface="+mn-ea"/>
                          <a:ea typeface="+mn-ea"/>
                        </a:rPr>
                        <a:t>1</a:t>
                      </a:r>
                      <a:r>
                        <a:rPr lang="ko-KR" altLang="en-US" sz="1200" b="1" kern="0" spc="-140" dirty="0">
                          <a:solidFill>
                            <a:srgbClr val="000000"/>
                          </a:solidFill>
                          <a:effectLst/>
                          <a:latin typeface="+mn-ea"/>
                          <a:ea typeface="+mn-ea"/>
                        </a:rPr>
                        <a:t>항</a:t>
                      </a:r>
                      <a:r>
                        <a:rPr lang="en-US" altLang="ko-KR" sz="1200" b="1" kern="0" spc="-140" dirty="0">
                          <a:solidFill>
                            <a:srgbClr val="000000"/>
                          </a:solidFill>
                          <a:effectLst/>
                          <a:latin typeface="+mn-ea"/>
                          <a:ea typeface="+mn-ea"/>
                        </a:rPr>
                        <a:t>-</a:t>
                      </a:r>
                      <a:r>
                        <a:rPr lang="ko-KR" altLang="en-US" sz="1200" b="1" kern="0" spc="-140" dirty="0">
                          <a:solidFill>
                            <a:srgbClr val="000000"/>
                          </a:solidFill>
                          <a:effectLst/>
                          <a:latin typeface="+mn-ea"/>
                          <a:ea typeface="+mn-ea"/>
                        </a:rPr>
                        <a:t>제</a:t>
                      </a:r>
                      <a:r>
                        <a:rPr lang="en-US" altLang="ko-KR" sz="1200" b="1" kern="0" spc="-140" dirty="0">
                          <a:solidFill>
                            <a:srgbClr val="000000"/>
                          </a:solidFill>
                          <a:effectLst/>
                          <a:latin typeface="+mn-ea"/>
                          <a:ea typeface="+mn-ea"/>
                        </a:rPr>
                        <a:t>3</a:t>
                      </a:r>
                      <a:r>
                        <a:rPr lang="ko-KR" altLang="en-US" sz="1200" b="1" kern="0" spc="-140" dirty="0">
                          <a:solidFill>
                            <a:srgbClr val="000000"/>
                          </a:solidFill>
                          <a:effectLst/>
                          <a:latin typeface="+mn-ea"/>
                          <a:ea typeface="+mn-ea"/>
                        </a:rPr>
                        <a:t>항</a:t>
                      </a:r>
                      <a:endParaRPr lang="en-US" altLang="ko-KR" sz="1200" b="1" kern="0" spc="-140" dirty="0">
                        <a:solidFill>
                          <a:srgbClr val="000000"/>
                        </a:solidFill>
                        <a:effectLst/>
                        <a:latin typeface="+mn-ea"/>
                        <a:ea typeface="+mn-ea"/>
                      </a:endParaRPr>
                    </a:p>
                  </a:txBody>
                  <a:tcPr marL="72000" marR="72000" marT="10963" marB="10963" anchor="ctr"/>
                </a:tc>
                <a:tc rowSpan="2">
                  <a:txBody>
                    <a:bodyPr/>
                    <a:lstStyle/>
                    <a:p>
                      <a:pPr marL="17780" marR="17780" indent="0" algn="just" fontAlgn="base" latinLnBrk="1">
                        <a:lnSpc>
                          <a:spcPct val="100000"/>
                        </a:lnSpc>
                        <a:spcBef>
                          <a:spcPts val="0"/>
                        </a:spcBef>
                        <a:spcAft>
                          <a:spcPts val="0"/>
                        </a:spcAft>
                      </a:pPr>
                      <a:r>
                        <a:rPr lang="en-US" altLang="ko-KR" sz="1200" kern="0" spc="-50" dirty="0">
                          <a:effectLst/>
                        </a:rPr>
                        <a:t>PCT </a:t>
                      </a:r>
                      <a:r>
                        <a:rPr lang="ko-KR" altLang="en-US" sz="1200" kern="0" spc="-50" dirty="0">
                          <a:effectLst/>
                        </a:rPr>
                        <a:t>제</a:t>
                      </a:r>
                      <a:r>
                        <a:rPr lang="en-US" altLang="ko-KR" sz="1200" kern="0" spc="-50" dirty="0">
                          <a:effectLst/>
                        </a:rPr>
                        <a:t>8</a:t>
                      </a:r>
                      <a:r>
                        <a:rPr lang="ko-KR" altLang="en-US" sz="1200" kern="0" spc="-50" dirty="0">
                          <a:effectLst/>
                        </a:rPr>
                        <a:t>조에 의하여 국제출원서에 우선권주장의 취지 및 선출원의 표시</a:t>
                      </a:r>
                      <a:r>
                        <a:rPr lang="en-US" altLang="ko-KR" sz="1200" kern="0" spc="-50" dirty="0">
                          <a:effectLst/>
                        </a:rPr>
                        <a:t>(</a:t>
                      </a:r>
                      <a:r>
                        <a:rPr lang="ko-KR" altLang="en-US" sz="1200" kern="0" spc="-50" dirty="0">
                          <a:effectLst/>
                        </a:rPr>
                        <a:t>法 </a:t>
                      </a:r>
                      <a:r>
                        <a:rPr lang="en-US" altLang="ko-KR" sz="1200" kern="0" spc="-50" dirty="0">
                          <a:effectLst/>
                        </a:rPr>
                        <a:t>202</a:t>
                      </a:r>
                      <a:r>
                        <a:rPr lang="ko-KR" altLang="en-US" sz="1200" kern="0" spc="-50" dirty="0">
                          <a:effectLst/>
                        </a:rPr>
                        <a:t>①</a:t>
                      </a:r>
                      <a:r>
                        <a:rPr lang="en-US" altLang="ko-KR" sz="1200" kern="0" spc="-50" dirty="0">
                          <a:effectLst/>
                        </a:rPr>
                        <a:t>)</a:t>
                      </a:r>
                      <a:endParaRPr lang="ko-KR" altLang="en-US" sz="1200" kern="0" spc="-50" dirty="0">
                        <a:solidFill>
                          <a:srgbClr val="000000"/>
                        </a:solidFill>
                        <a:effectLst/>
                        <a:latin typeface="+mn-ea"/>
                        <a:ea typeface="+mn-ea"/>
                      </a:endParaRPr>
                    </a:p>
                  </a:txBody>
                  <a:tcPr marL="72000" marR="72000" marT="10963" marB="10963" anchor="ctr"/>
                </a:tc>
                <a:tc rowSpan="2">
                  <a:txBody>
                    <a:bodyPr/>
                    <a:lstStyle/>
                    <a:p>
                      <a:pPr marL="17780" marR="17780" indent="0" algn="just" fontAlgn="base" latinLnBrk="1">
                        <a:lnSpc>
                          <a:spcPct val="100000"/>
                        </a:lnSpc>
                        <a:spcBef>
                          <a:spcPts val="0"/>
                        </a:spcBef>
                        <a:spcAft>
                          <a:spcPts val="0"/>
                        </a:spcAft>
                      </a:pPr>
                      <a:r>
                        <a:rPr lang="ko-KR" altLang="en-US" sz="1200" kern="0" spc="-110" dirty="0">
                          <a:effectLst/>
                        </a:rPr>
                        <a:t>우선일로부터 </a:t>
                      </a:r>
                      <a:r>
                        <a:rPr lang="en-US" altLang="ko-KR" sz="1200" kern="0" spc="-110" dirty="0">
                          <a:effectLst/>
                        </a:rPr>
                        <a:t>2</a:t>
                      </a:r>
                      <a:r>
                        <a:rPr lang="ko-KR" altLang="en-US" sz="1200" kern="0" spc="-110" dirty="0">
                          <a:effectLst/>
                        </a:rPr>
                        <a:t>년 </a:t>
                      </a:r>
                      <a:r>
                        <a:rPr lang="en-US" altLang="ko-KR" sz="1200" kern="0" spc="-110" dirty="0">
                          <a:effectLst/>
                        </a:rPr>
                        <a:t>6</a:t>
                      </a:r>
                      <a:r>
                        <a:rPr lang="ko-KR" altLang="en-US" sz="1200" kern="0" spc="-110" dirty="0">
                          <a:effectLst/>
                        </a:rPr>
                        <a:t>개월을 지나기 전과 </a:t>
                      </a:r>
                      <a:r>
                        <a:rPr lang="ko-KR" altLang="en-US" sz="1200" kern="0" spc="-110" dirty="0" err="1">
                          <a:effectLst/>
                        </a:rPr>
                        <a:t>출원인이</a:t>
                      </a:r>
                      <a:r>
                        <a:rPr lang="ko-KR" altLang="en-US" sz="1200" kern="0" spc="-110" dirty="0">
                          <a:effectLst/>
                        </a:rPr>
                        <a:t> 출원심사청구를 하기 전 중 빠른 때까지 우선권 주장의 일부 또는 전부 취하 가능</a:t>
                      </a:r>
                      <a:r>
                        <a:rPr lang="en-US" altLang="ko-KR" sz="1200" kern="0" spc="-110" dirty="0">
                          <a:effectLst/>
                        </a:rPr>
                        <a:t>(</a:t>
                      </a:r>
                      <a:r>
                        <a:rPr lang="ko-KR" altLang="en-US" sz="1200" kern="0" spc="-110" dirty="0" err="1">
                          <a:effectLst/>
                        </a:rPr>
                        <a:t>施規</a:t>
                      </a:r>
                      <a:r>
                        <a:rPr lang="ko-KR" altLang="en-US" sz="1200" kern="0" spc="-110" dirty="0">
                          <a:effectLst/>
                        </a:rPr>
                        <a:t> </a:t>
                      </a:r>
                      <a:r>
                        <a:rPr lang="en-US" altLang="ko-KR" sz="1200" kern="0" spc="-110" dirty="0">
                          <a:effectLst/>
                        </a:rPr>
                        <a:t>106</a:t>
                      </a:r>
                      <a:r>
                        <a:rPr lang="ko-KR" altLang="en-US" sz="1200" kern="0" spc="-110" dirty="0">
                          <a:effectLst/>
                        </a:rPr>
                        <a:t>의</a:t>
                      </a:r>
                      <a:r>
                        <a:rPr lang="en-US" altLang="ko-KR" sz="1200" kern="0" spc="-110" dirty="0">
                          <a:effectLst/>
                        </a:rPr>
                        <a:t>7)</a:t>
                      </a:r>
                      <a:endParaRPr lang="ko-KR" altLang="en-US" sz="1200" kern="0" spc="-110" dirty="0">
                        <a:solidFill>
                          <a:srgbClr val="000000"/>
                        </a:solidFill>
                        <a:effectLst/>
                        <a:latin typeface="+mn-ea"/>
                        <a:ea typeface="+mn-ea"/>
                      </a:endParaRPr>
                    </a:p>
                  </a:txBody>
                  <a:tcPr marL="72000" marR="72000" marT="10963" marB="10963" anchor="ctr"/>
                </a:tc>
                <a:tc vMerge="1">
                  <a:txBody>
                    <a:bodyPr/>
                    <a:lstStyle/>
                    <a:p>
                      <a:pPr latinLnBrk="1"/>
                      <a:endParaRPr lang="ko-KR" altLang="en-US"/>
                    </a:p>
                  </a:txBody>
                  <a:tcPr/>
                </a:tc>
                <a:tc>
                  <a:txBody>
                    <a:bodyPr/>
                    <a:lstStyle/>
                    <a:p>
                      <a:pPr marL="140970" marR="17780" indent="-140970" algn="just" fontAlgn="base" latinLnBrk="1">
                        <a:lnSpc>
                          <a:spcPct val="100000"/>
                        </a:lnSpc>
                        <a:spcBef>
                          <a:spcPts val="0"/>
                        </a:spcBef>
                        <a:spcAft>
                          <a:spcPts val="0"/>
                        </a:spcAft>
                      </a:pPr>
                      <a:r>
                        <a:rPr lang="en-US" altLang="ko-KR" sz="1200" kern="0" spc="-50" dirty="0">
                          <a:effectLst/>
                        </a:rPr>
                        <a:t>1. </a:t>
                      </a:r>
                      <a:r>
                        <a:rPr lang="ko-KR" altLang="en-US" sz="1200" kern="0" spc="-50" dirty="0">
                          <a:effectLst/>
                        </a:rPr>
                        <a:t>후출원의 「국제출원일까지 제출된 발명의 설명</a:t>
                      </a:r>
                      <a:r>
                        <a:rPr lang="en-US" altLang="ko-KR" sz="1200" kern="0" spc="-50" dirty="0">
                          <a:effectLst/>
                        </a:rPr>
                        <a:t>, </a:t>
                      </a:r>
                      <a:r>
                        <a:rPr lang="ko-KR" altLang="en-US" sz="1200" kern="0" spc="-50" dirty="0">
                          <a:effectLst/>
                        </a:rPr>
                        <a:t>청구범위 또는 </a:t>
                      </a:r>
                      <a:r>
                        <a:rPr lang="ko-KR" altLang="en-US" sz="1200" kern="0" spc="-50" dirty="0" err="1">
                          <a:effectLst/>
                        </a:rPr>
                        <a:t>도면」에</a:t>
                      </a:r>
                      <a:r>
                        <a:rPr lang="ko-KR" altLang="en-US" sz="1200" kern="0" spc="-50" dirty="0">
                          <a:effectLst/>
                        </a:rPr>
                        <a:t> 기재된 발명 중 선출원의 「국제출원일까지 제출된 국제출원의 발명의 설명</a:t>
                      </a:r>
                      <a:r>
                        <a:rPr lang="en-US" altLang="ko-KR" sz="1200" kern="0" spc="-50" dirty="0">
                          <a:effectLst/>
                        </a:rPr>
                        <a:t>, </a:t>
                      </a:r>
                      <a:r>
                        <a:rPr lang="ko-KR" altLang="en-US" sz="1200" kern="0" spc="-50" dirty="0">
                          <a:effectLst/>
                        </a:rPr>
                        <a:t>청구범위 또는 </a:t>
                      </a:r>
                      <a:r>
                        <a:rPr lang="ko-KR" altLang="en-US" sz="1200" kern="0" spc="-50" dirty="0" err="1">
                          <a:effectLst/>
                        </a:rPr>
                        <a:t>도면」에</a:t>
                      </a:r>
                      <a:r>
                        <a:rPr lang="ko-KR" altLang="en-US" sz="1200" kern="0" spc="-50" dirty="0">
                          <a:effectLst/>
                        </a:rPr>
                        <a:t> 기재된 발명과 같은 발명은 후출원이 「출원공개 또는 「특허협력조약」 제</a:t>
                      </a:r>
                      <a:r>
                        <a:rPr lang="en-US" altLang="ko-KR" sz="1200" kern="0" spc="-50" dirty="0">
                          <a:effectLst/>
                        </a:rPr>
                        <a:t>21</a:t>
                      </a:r>
                      <a:r>
                        <a:rPr lang="ko-KR" altLang="en-US" sz="1200" kern="0" spc="-50" dirty="0">
                          <a:effectLst/>
                        </a:rPr>
                        <a:t>조에 따라 </a:t>
                      </a:r>
                      <a:r>
                        <a:rPr lang="ko-KR" altLang="en-US" sz="1200" kern="0" spc="-50" dirty="0" err="1">
                          <a:effectLst/>
                        </a:rPr>
                        <a:t>국제공개되거나</a:t>
                      </a:r>
                      <a:r>
                        <a:rPr lang="ko-KR" altLang="en-US" sz="1200" kern="0" spc="-50" dirty="0">
                          <a:effectLst/>
                        </a:rPr>
                        <a:t>」 또는 </a:t>
                      </a:r>
                      <a:r>
                        <a:rPr lang="ko-KR" altLang="en-US" sz="1200" kern="0" spc="-50" dirty="0" err="1">
                          <a:effectLst/>
                        </a:rPr>
                        <a:t>등록공고되었을</a:t>
                      </a:r>
                      <a:r>
                        <a:rPr lang="ko-KR" altLang="en-US" sz="1200" kern="0" spc="-50" dirty="0">
                          <a:effectLst/>
                        </a:rPr>
                        <a:t> 때에 「선출원에 관하여 출원공개 또는 「특허협력조약」 제</a:t>
                      </a:r>
                      <a:r>
                        <a:rPr lang="en-US" altLang="ko-KR" sz="1200" kern="0" spc="-50" dirty="0">
                          <a:effectLst/>
                        </a:rPr>
                        <a:t>21</a:t>
                      </a:r>
                      <a:r>
                        <a:rPr lang="ko-KR" altLang="en-US" sz="1200" kern="0" spc="-50" dirty="0">
                          <a:effectLst/>
                        </a:rPr>
                        <a:t>조에 따른 </a:t>
                      </a:r>
                      <a:r>
                        <a:rPr lang="ko-KR" altLang="en-US" sz="1200" kern="0" spc="-50" dirty="0" err="1">
                          <a:effectLst/>
                        </a:rPr>
                        <a:t>국제공개」된</a:t>
                      </a:r>
                      <a:r>
                        <a:rPr lang="ko-KR" altLang="en-US" sz="1200" kern="0" spc="-50" dirty="0">
                          <a:effectLst/>
                        </a:rPr>
                        <a:t> 것으로 간주</a:t>
                      </a:r>
                    </a:p>
                    <a:p>
                      <a:pPr marL="128270" marR="17780" indent="-128270" algn="just" fontAlgn="base" latinLnBrk="1">
                        <a:lnSpc>
                          <a:spcPct val="100000"/>
                        </a:lnSpc>
                        <a:spcBef>
                          <a:spcPts val="0"/>
                        </a:spcBef>
                        <a:spcAft>
                          <a:spcPts val="0"/>
                        </a:spcAft>
                      </a:pPr>
                      <a:r>
                        <a:rPr lang="en-US" altLang="ko-KR" sz="1200" kern="0" spc="-120" dirty="0">
                          <a:effectLst/>
                        </a:rPr>
                        <a:t>2. </a:t>
                      </a:r>
                      <a:r>
                        <a:rPr lang="ko-KR" altLang="en-US" sz="1200" kern="0" spc="-120" dirty="0">
                          <a:effectLst/>
                        </a:rPr>
                        <a:t>선출원인 </a:t>
                      </a:r>
                      <a:r>
                        <a:rPr lang="ko-KR" altLang="en-US" sz="1200" kern="0" spc="-120" dirty="0" err="1">
                          <a:effectLst/>
                        </a:rPr>
                        <a:t>국제특허출원이</a:t>
                      </a:r>
                      <a:r>
                        <a:rPr lang="ko-KR" altLang="en-US" sz="1200" kern="0" spc="-120" dirty="0">
                          <a:effectLst/>
                        </a:rPr>
                        <a:t> 제</a:t>
                      </a:r>
                      <a:r>
                        <a:rPr lang="en-US" altLang="ko-KR" sz="1200" kern="0" spc="-120" dirty="0">
                          <a:effectLst/>
                        </a:rPr>
                        <a:t>201</a:t>
                      </a:r>
                      <a:r>
                        <a:rPr lang="ko-KR" altLang="en-US" sz="1200" kern="0" spc="-120" dirty="0">
                          <a:effectLst/>
                        </a:rPr>
                        <a:t>조</a:t>
                      </a:r>
                      <a:r>
                        <a:rPr lang="en-US" altLang="ko-KR" sz="1200" kern="0" spc="-120" dirty="0">
                          <a:effectLst/>
                        </a:rPr>
                        <a:t>4</a:t>
                      </a:r>
                      <a:r>
                        <a:rPr lang="ko-KR" altLang="en-US" sz="1200" kern="0" spc="-120" dirty="0">
                          <a:effectLst/>
                        </a:rPr>
                        <a:t>항에 따라 취하된 것으로 보는 경우에도 확대된 </a:t>
                      </a:r>
                      <a:r>
                        <a:rPr lang="ko-KR" altLang="en-US" sz="1200" kern="0" spc="-120" dirty="0" err="1">
                          <a:effectLst/>
                        </a:rPr>
                        <a:t>선출원</a:t>
                      </a:r>
                      <a:r>
                        <a:rPr lang="ko-KR" altLang="en-US" sz="1200" kern="0" spc="-120" dirty="0">
                          <a:effectLst/>
                        </a:rPr>
                        <a:t> 적용 시 다른 출원의 지위가 인정된다</a:t>
                      </a:r>
                      <a:r>
                        <a:rPr lang="en-US" altLang="ko-KR" sz="1200" kern="0" spc="-120" dirty="0">
                          <a:effectLst/>
                        </a:rPr>
                        <a:t>(</a:t>
                      </a:r>
                      <a:r>
                        <a:rPr lang="ko-KR" altLang="en-US" sz="1200" kern="0" spc="-120" dirty="0">
                          <a:effectLst/>
                        </a:rPr>
                        <a:t>法 </a:t>
                      </a:r>
                      <a:r>
                        <a:rPr lang="en-US" altLang="ko-KR" sz="1200" kern="0" spc="-120" dirty="0">
                          <a:effectLst/>
                        </a:rPr>
                        <a:t>55</a:t>
                      </a:r>
                      <a:r>
                        <a:rPr lang="ko-KR" altLang="en-US" sz="1200" kern="0" spc="-120" dirty="0">
                          <a:effectLst/>
                        </a:rPr>
                        <a:t>⑥</a:t>
                      </a:r>
                      <a:r>
                        <a:rPr lang="en-US" altLang="ko-KR" sz="1200" kern="0" spc="-120" dirty="0">
                          <a:effectLst/>
                        </a:rPr>
                        <a:t>).</a:t>
                      </a:r>
                      <a:endParaRPr lang="ko-KR" altLang="en-US" sz="1200" kern="0" spc="-120" dirty="0">
                        <a:effectLst/>
                      </a:endParaRPr>
                    </a:p>
                    <a:p>
                      <a:pPr marL="140970" marR="17780" indent="-140970" algn="just" fontAlgn="base" latinLnBrk="1">
                        <a:lnSpc>
                          <a:spcPct val="100000"/>
                        </a:lnSpc>
                        <a:spcBef>
                          <a:spcPts val="0"/>
                        </a:spcBef>
                        <a:spcAft>
                          <a:spcPts val="0"/>
                        </a:spcAft>
                      </a:pPr>
                      <a:r>
                        <a:rPr lang="en-US" altLang="ko-KR" sz="1200" kern="0" spc="-50" dirty="0">
                          <a:effectLst/>
                        </a:rPr>
                        <a:t>3. </a:t>
                      </a:r>
                      <a:r>
                        <a:rPr lang="ko-KR" altLang="en-US" sz="1200" kern="0" spc="-50" dirty="0" err="1">
                          <a:effectLst/>
                        </a:rPr>
                        <a:t>후출원인</a:t>
                      </a:r>
                      <a:r>
                        <a:rPr lang="ko-KR" altLang="en-US" sz="1200" kern="0" spc="-50" dirty="0">
                          <a:effectLst/>
                        </a:rPr>
                        <a:t> </a:t>
                      </a:r>
                      <a:r>
                        <a:rPr lang="ko-KR" altLang="en-US" sz="1200" kern="0" spc="-50" dirty="0" err="1">
                          <a:effectLst/>
                        </a:rPr>
                        <a:t>국제특허출원이</a:t>
                      </a:r>
                      <a:r>
                        <a:rPr lang="ko-KR" altLang="en-US" sz="1200" kern="0" spc="-50" dirty="0">
                          <a:effectLst/>
                        </a:rPr>
                        <a:t> 제</a:t>
                      </a:r>
                      <a:r>
                        <a:rPr lang="en-US" altLang="ko-KR" sz="1200" kern="0" spc="-50" dirty="0">
                          <a:effectLst/>
                        </a:rPr>
                        <a:t>201</a:t>
                      </a:r>
                      <a:r>
                        <a:rPr lang="ko-KR" altLang="en-US" sz="1200" kern="0" spc="-50" dirty="0">
                          <a:effectLst/>
                        </a:rPr>
                        <a:t>조제</a:t>
                      </a:r>
                      <a:r>
                        <a:rPr lang="en-US" altLang="ko-KR" sz="1200" kern="0" spc="-50" dirty="0">
                          <a:effectLst/>
                        </a:rPr>
                        <a:t>4</a:t>
                      </a:r>
                      <a:r>
                        <a:rPr lang="ko-KR" altLang="en-US" sz="1200" kern="0" spc="-50" dirty="0">
                          <a:effectLst/>
                        </a:rPr>
                        <a:t>항에 따라 취하한 것으로 보는 경우에는 확대된 </a:t>
                      </a:r>
                      <a:r>
                        <a:rPr lang="ko-KR" altLang="en-US" sz="1200" kern="0" spc="-50" dirty="0" err="1">
                          <a:effectLst/>
                        </a:rPr>
                        <a:t>선출원</a:t>
                      </a:r>
                      <a:r>
                        <a:rPr lang="en-US" altLang="ko-KR" sz="1200" kern="0" spc="-50" dirty="0">
                          <a:effectLst/>
                        </a:rPr>
                        <a:t>(</a:t>
                      </a:r>
                      <a:r>
                        <a:rPr lang="ko-KR" altLang="en-US" sz="1200" kern="0" spc="-50" dirty="0">
                          <a:effectLst/>
                        </a:rPr>
                        <a:t>法 </a:t>
                      </a:r>
                      <a:r>
                        <a:rPr lang="en-US" altLang="ko-KR" sz="1200" kern="0" spc="-50" dirty="0">
                          <a:effectLst/>
                        </a:rPr>
                        <a:t>55</a:t>
                      </a:r>
                      <a:r>
                        <a:rPr lang="ko-KR" altLang="en-US" sz="1200" kern="0" spc="-50" dirty="0">
                          <a:effectLst/>
                        </a:rPr>
                        <a:t>④</a:t>
                      </a:r>
                      <a:r>
                        <a:rPr lang="en-US" altLang="ko-KR" sz="1200" kern="0" spc="-50" dirty="0">
                          <a:effectLst/>
                        </a:rPr>
                        <a:t>) </a:t>
                      </a:r>
                      <a:r>
                        <a:rPr lang="ko-KR" altLang="en-US" sz="1200" kern="0" spc="-50" dirty="0" err="1">
                          <a:effectLst/>
                        </a:rPr>
                        <a:t>不적용</a:t>
                      </a:r>
                      <a:r>
                        <a:rPr lang="en-US" altLang="ko-KR" sz="1200" kern="0" spc="-50" dirty="0">
                          <a:effectLst/>
                        </a:rPr>
                        <a:t>(</a:t>
                      </a:r>
                      <a:r>
                        <a:rPr lang="ko-KR" altLang="en-US" sz="1200" kern="0" spc="-50" dirty="0">
                          <a:effectLst/>
                        </a:rPr>
                        <a:t>法 </a:t>
                      </a:r>
                      <a:r>
                        <a:rPr lang="en-US" altLang="ko-KR" sz="1200" kern="0" spc="-50" dirty="0">
                          <a:effectLst/>
                        </a:rPr>
                        <a:t>202</a:t>
                      </a:r>
                      <a:r>
                        <a:rPr lang="ko-KR" altLang="en-US" sz="1200" kern="0" spc="-50" dirty="0">
                          <a:effectLst/>
                        </a:rPr>
                        <a:t>②단서</a:t>
                      </a:r>
                      <a:r>
                        <a:rPr lang="en-US" altLang="ko-KR" sz="1200" kern="0" spc="-50" dirty="0">
                          <a:effectLst/>
                        </a:rPr>
                        <a:t>).</a:t>
                      </a:r>
                      <a:endParaRPr lang="ko-KR" altLang="en-US" sz="1200" kern="0" spc="-50" dirty="0">
                        <a:solidFill>
                          <a:srgbClr val="000000"/>
                        </a:solidFill>
                        <a:effectLst/>
                        <a:latin typeface="+mn-ea"/>
                        <a:ea typeface="+mn-ea"/>
                      </a:endParaRPr>
                    </a:p>
                  </a:txBody>
                  <a:tcPr marL="72000" marR="72000" marT="10963" marB="10963" anchor="ctr"/>
                </a:tc>
                <a:extLst>
                  <a:ext uri="{0D108BD9-81ED-4DB2-BD59-A6C34878D82A}">
                    <a16:rowId xmlns:a16="http://schemas.microsoft.com/office/drawing/2014/main" val="10004"/>
                  </a:ext>
                </a:extLst>
              </a:tr>
              <a:tr h="1188116">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200" b="1" kern="0" spc="-100">
                          <a:effectLst/>
                        </a:rPr>
                        <a:t>국내</a:t>
                      </a:r>
                      <a:endParaRPr lang="ko-KR" altLang="en-US" sz="1200" b="1" kern="0" spc="-100">
                        <a:solidFill>
                          <a:srgbClr val="000000"/>
                        </a:solidFill>
                        <a:effectLst/>
                        <a:latin typeface="+mn-ea"/>
                        <a:ea typeface="+mn-ea"/>
                      </a:endParaRPr>
                    </a:p>
                  </a:txBody>
                  <a:tcPr marL="72000" marR="72000" marT="10963" marB="10963" anchor="ctr"/>
                </a:tc>
                <a:tc>
                  <a:txBody>
                    <a:bodyPr/>
                    <a:lstStyle/>
                    <a:p>
                      <a:pPr marL="0" marR="0" indent="0" algn="ctr" fontAlgn="base" latinLnBrk="0">
                        <a:lnSpc>
                          <a:spcPct val="100000"/>
                        </a:lnSpc>
                        <a:spcBef>
                          <a:spcPts val="0"/>
                        </a:spcBef>
                        <a:spcAft>
                          <a:spcPts val="0"/>
                        </a:spcAft>
                      </a:pPr>
                      <a:r>
                        <a:rPr lang="en-US" altLang="ko-KR" sz="1200" b="1" kern="0" spc="-100">
                          <a:effectLst/>
                        </a:rPr>
                        <a:t>PCT</a:t>
                      </a:r>
                      <a:endParaRPr lang="ko-KR" altLang="en-US" sz="1200" b="1" kern="0" spc="-100">
                        <a:effectLst/>
                      </a:endParaRPr>
                    </a:p>
                    <a:p>
                      <a:pPr marL="0" marR="0" indent="0" algn="ctr" fontAlgn="base" latinLnBrk="0">
                        <a:lnSpc>
                          <a:spcPct val="100000"/>
                        </a:lnSpc>
                        <a:spcBef>
                          <a:spcPts val="0"/>
                        </a:spcBef>
                        <a:spcAft>
                          <a:spcPts val="0"/>
                        </a:spcAft>
                      </a:pPr>
                      <a:r>
                        <a:rPr lang="en-US" altLang="ko-KR" sz="1200" b="1" kern="0" spc="-150">
                          <a:effectLst/>
                        </a:rPr>
                        <a:t>(</a:t>
                      </a:r>
                      <a:r>
                        <a:rPr lang="ko-KR" altLang="en-US" sz="1200" b="1" kern="0" spc="-150">
                          <a:effectLst/>
                        </a:rPr>
                        <a:t>지정국 </a:t>
                      </a:r>
                      <a:r>
                        <a:rPr lang="en-US" altLang="ko-KR" sz="1200" b="1" kern="0" spc="-150">
                          <a:effectLst/>
                        </a:rPr>
                        <a:t>: </a:t>
                      </a:r>
                      <a:endParaRPr lang="ko-KR" altLang="en-US" sz="1200" b="1" kern="0" spc="-150">
                        <a:effectLst/>
                      </a:endParaRPr>
                    </a:p>
                    <a:p>
                      <a:pPr marL="0" marR="0" indent="0" algn="ctr" fontAlgn="base" latinLnBrk="0">
                        <a:lnSpc>
                          <a:spcPct val="100000"/>
                        </a:lnSpc>
                        <a:spcBef>
                          <a:spcPts val="0"/>
                        </a:spcBef>
                        <a:spcAft>
                          <a:spcPts val="0"/>
                        </a:spcAft>
                      </a:pPr>
                      <a:r>
                        <a:rPr lang="ko-KR" altLang="en-US" sz="1200" b="1" kern="0" spc="-150">
                          <a:effectLst/>
                        </a:rPr>
                        <a:t>한국</a:t>
                      </a:r>
                      <a:r>
                        <a:rPr lang="en-US" altLang="ko-KR" sz="1200" b="1" kern="0" spc="-150">
                          <a:effectLst/>
                        </a:rPr>
                        <a:t>, </a:t>
                      </a:r>
                      <a:r>
                        <a:rPr lang="ko-KR" altLang="en-US" sz="1200" b="1" kern="0" spc="-150">
                          <a:effectLst/>
                        </a:rPr>
                        <a:t>일본 등</a:t>
                      </a:r>
                      <a:r>
                        <a:rPr lang="en-US" altLang="ko-KR" sz="1200" b="1" kern="0" spc="-150">
                          <a:effectLst/>
                        </a:rPr>
                        <a:t>)</a:t>
                      </a:r>
                      <a:endParaRPr lang="ko-KR" altLang="en-US" sz="1200" b="1" kern="0" spc="-150">
                        <a:solidFill>
                          <a:srgbClr val="000000"/>
                        </a:solidFill>
                        <a:effectLst/>
                        <a:latin typeface="+mn-ea"/>
                        <a:ea typeface="+mn-ea"/>
                      </a:endParaRPr>
                    </a:p>
                  </a:txBody>
                  <a:tcPr marL="72000" marR="72000" marT="10963" marB="10963" anchor="ctr"/>
                </a:tc>
                <a:tc>
                  <a:txBody>
                    <a:bodyPr/>
                    <a:lstStyle/>
                    <a:p>
                      <a:pPr marL="0" marR="0" indent="0" algn="ctr" fontAlgn="base" latinLnBrk="0">
                        <a:lnSpc>
                          <a:spcPct val="100000"/>
                        </a:lnSpc>
                        <a:spcBef>
                          <a:spcPts val="0"/>
                        </a:spcBef>
                        <a:spcAft>
                          <a:spcPts val="0"/>
                        </a:spcAft>
                      </a:pPr>
                      <a:r>
                        <a:rPr lang="ko-KR" altLang="en-US" sz="1200" b="1" kern="0" spc="-150" dirty="0">
                          <a:solidFill>
                            <a:srgbClr val="000000"/>
                          </a:solidFill>
                          <a:effectLst/>
                          <a:latin typeface="+mn-ea"/>
                          <a:ea typeface="+mn-ea"/>
                        </a:rPr>
                        <a:t>제</a:t>
                      </a:r>
                      <a:r>
                        <a:rPr lang="en-US" altLang="ko-KR" sz="1200" b="1" kern="0" spc="-150" dirty="0">
                          <a:solidFill>
                            <a:srgbClr val="000000"/>
                          </a:solidFill>
                          <a:effectLst/>
                          <a:latin typeface="+mn-ea"/>
                          <a:ea typeface="+mn-ea"/>
                        </a:rPr>
                        <a:t>55</a:t>
                      </a:r>
                      <a:r>
                        <a:rPr lang="ko-KR" altLang="en-US" sz="1200" b="1" kern="0" spc="-150" dirty="0">
                          <a:solidFill>
                            <a:srgbClr val="000000"/>
                          </a:solidFill>
                          <a:effectLst/>
                          <a:latin typeface="+mn-ea"/>
                          <a:ea typeface="+mn-ea"/>
                        </a:rPr>
                        <a:t>조</a:t>
                      </a:r>
                      <a:endParaRPr lang="en-US" altLang="ko-KR" sz="1200" b="1" kern="0" spc="-150" dirty="0">
                        <a:solidFill>
                          <a:srgbClr val="000000"/>
                        </a:solidFill>
                        <a:effectLst/>
                        <a:latin typeface="+mn-ea"/>
                        <a:ea typeface="+mn-ea"/>
                      </a:endParaRPr>
                    </a:p>
                    <a:p>
                      <a:pPr marL="0" marR="0" indent="0" algn="ctr" fontAlgn="base" latinLnBrk="0">
                        <a:lnSpc>
                          <a:spcPct val="100000"/>
                        </a:lnSpc>
                        <a:spcBef>
                          <a:spcPts val="0"/>
                        </a:spcBef>
                        <a:spcAft>
                          <a:spcPts val="0"/>
                        </a:spcAft>
                      </a:pPr>
                      <a:r>
                        <a:rPr lang="ko-KR" altLang="en-US" sz="1200" b="1" kern="0" spc="-150" dirty="0">
                          <a:solidFill>
                            <a:srgbClr val="000000"/>
                          </a:solidFill>
                          <a:effectLst/>
                          <a:latin typeface="+mn-ea"/>
                          <a:ea typeface="+mn-ea"/>
                        </a:rPr>
                        <a:t>제</a:t>
                      </a:r>
                      <a:r>
                        <a:rPr lang="en-US" altLang="ko-KR" sz="1200" b="1" kern="0" spc="-150" dirty="0">
                          <a:solidFill>
                            <a:srgbClr val="000000"/>
                          </a:solidFill>
                          <a:effectLst/>
                          <a:latin typeface="+mn-ea"/>
                          <a:ea typeface="+mn-ea"/>
                        </a:rPr>
                        <a:t>56</a:t>
                      </a:r>
                      <a:r>
                        <a:rPr lang="ko-KR" altLang="en-US" sz="1200" b="1" kern="0" spc="-150" dirty="0">
                          <a:solidFill>
                            <a:srgbClr val="000000"/>
                          </a:solidFill>
                          <a:effectLst/>
                          <a:latin typeface="+mn-ea"/>
                          <a:ea typeface="+mn-ea"/>
                        </a:rPr>
                        <a:t>조</a:t>
                      </a:r>
                      <a:endParaRPr lang="en-US" altLang="ko-KR" sz="1200" b="1" kern="0" spc="-150" dirty="0">
                        <a:solidFill>
                          <a:srgbClr val="000000"/>
                        </a:solidFill>
                        <a:effectLst/>
                        <a:latin typeface="+mn-ea"/>
                        <a:ea typeface="+mn-ea"/>
                      </a:endParaRPr>
                    </a:p>
                    <a:p>
                      <a:pPr marL="0" marR="0" indent="0" algn="ctr" fontAlgn="base" latinLnBrk="0">
                        <a:lnSpc>
                          <a:spcPct val="100000"/>
                        </a:lnSpc>
                        <a:spcBef>
                          <a:spcPts val="0"/>
                        </a:spcBef>
                        <a:spcAft>
                          <a:spcPts val="0"/>
                        </a:spcAft>
                      </a:pPr>
                      <a:r>
                        <a:rPr lang="ko-KR" altLang="en-US" sz="1200" b="1" kern="0" spc="-150" dirty="0">
                          <a:solidFill>
                            <a:srgbClr val="000000"/>
                          </a:solidFill>
                          <a:effectLst/>
                          <a:latin typeface="+mn-ea"/>
                          <a:ea typeface="+mn-ea"/>
                        </a:rPr>
                        <a:t>제</a:t>
                      </a:r>
                      <a:r>
                        <a:rPr lang="en-US" altLang="ko-KR" sz="1200" b="1" kern="0" spc="-150" dirty="0">
                          <a:solidFill>
                            <a:srgbClr val="000000"/>
                          </a:solidFill>
                          <a:effectLst/>
                          <a:latin typeface="+mn-ea"/>
                          <a:ea typeface="+mn-ea"/>
                        </a:rPr>
                        <a:t>202</a:t>
                      </a:r>
                      <a:r>
                        <a:rPr lang="ko-KR" altLang="en-US" sz="1200" b="1" kern="0" spc="-150" dirty="0">
                          <a:solidFill>
                            <a:srgbClr val="000000"/>
                          </a:solidFill>
                          <a:effectLst/>
                          <a:latin typeface="+mn-ea"/>
                          <a:ea typeface="+mn-ea"/>
                        </a:rPr>
                        <a:t>조제</a:t>
                      </a:r>
                      <a:r>
                        <a:rPr lang="en-US" altLang="ko-KR" sz="1200" b="1" kern="0" spc="-150" dirty="0">
                          <a:solidFill>
                            <a:srgbClr val="000000"/>
                          </a:solidFill>
                          <a:effectLst/>
                          <a:latin typeface="+mn-ea"/>
                          <a:ea typeface="+mn-ea"/>
                        </a:rPr>
                        <a:t>1</a:t>
                      </a:r>
                      <a:r>
                        <a:rPr lang="ko-KR" altLang="en-US" sz="1200" b="1" kern="0" spc="-150" dirty="0">
                          <a:solidFill>
                            <a:srgbClr val="000000"/>
                          </a:solidFill>
                          <a:effectLst/>
                          <a:latin typeface="+mn-ea"/>
                          <a:ea typeface="+mn-ea"/>
                        </a:rPr>
                        <a:t>항</a:t>
                      </a:r>
                      <a:r>
                        <a:rPr lang="en-US" altLang="ko-KR" sz="1200" b="1" kern="0" spc="-150" dirty="0">
                          <a:solidFill>
                            <a:srgbClr val="000000"/>
                          </a:solidFill>
                          <a:effectLst/>
                          <a:latin typeface="+mn-ea"/>
                          <a:ea typeface="+mn-ea"/>
                        </a:rPr>
                        <a:t>-</a:t>
                      </a:r>
                      <a:r>
                        <a:rPr lang="ko-KR" altLang="en-US" sz="1200" b="1" kern="0" spc="-150" dirty="0">
                          <a:solidFill>
                            <a:srgbClr val="000000"/>
                          </a:solidFill>
                          <a:effectLst/>
                          <a:latin typeface="+mn-ea"/>
                          <a:ea typeface="+mn-ea"/>
                        </a:rPr>
                        <a:t>제</a:t>
                      </a:r>
                      <a:r>
                        <a:rPr lang="en-US" altLang="ko-KR" sz="1200" b="1" kern="0" spc="-150" dirty="0">
                          <a:solidFill>
                            <a:srgbClr val="000000"/>
                          </a:solidFill>
                          <a:effectLst/>
                          <a:latin typeface="+mn-ea"/>
                          <a:ea typeface="+mn-ea"/>
                        </a:rPr>
                        <a:t>2</a:t>
                      </a:r>
                      <a:r>
                        <a:rPr lang="ko-KR" altLang="en-US" sz="1200" b="1" kern="0" spc="-150" dirty="0">
                          <a:solidFill>
                            <a:srgbClr val="000000"/>
                          </a:solidFill>
                          <a:effectLst/>
                          <a:latin typeface="+mn-ea"/>
                          <a:ea typeface="+mn-ea"/>
                        </a:rPr>
                        <a:t>항</a:t>
                      </a:r>
                    </a:p>
                  </a:txBody>
                  <a:tcPr marL="72000" marR="72000" marT="10963" marB="10963" anchor="ctr"/>
                </a:tc>
                <a:tc vMerge="1">
                  <a:txBody>
                    <a:bodyPr/>
                    <a:lstStyle/>
                    <a:p>
                      <a:pPr latinLnBrk="1"/>
                      <a:endParaRPr lang="ko-KR" altLang="en-US"/>
                    </a:p>
                  </a:txBody>
                  <a:tcPr/>
                </a:tc>
                <a:tc vMerge="1">
                  <a:txBody>
                    <a:bodyPr/>
                    <a:lstStyle/>
                    <a:p>
                      <a:pPr latinLnBrk="1"/>
                      <a:endParaRPr lang="ko-KR" altLang="en-US" dirty="0"/>
                    </a:p>
                  </a:txBody>
                  <a:tcPr/>
                </a:tc>
                <a:tc>
                  <a:txBody>
                    <a:bodyPr/>
                    <a:lstStyle/>
                    <a:p>
                      <a:pPr marL="17780" marR="17780" indent="0" algn="just" fontAlgn="base" latinLnBrk="1">
                        <a:lnSpc>
                          <a:spcPct val="100000"/>
                        </a:lnSpc>
                        <a:spcBef>
                          <a:spcPts val="0"/>
                        </a:spcBef>
                        <a:spcAft>
                          <a:spcPts val="0"/>
                        </a:spcAft>
                      </a:pPr>
                      <a:r>
                        <a:rPr lang="ko-KR" altLang="en-US" sz="1200" kern="0" spc="-50" dirty="0">
                          <a:effectLst/>
                        </a:rPr>
                        <a:t>선출원일로부터 </a:t>
                      </a:r>
                      <a:r>
                        <a:rPr lang="en-US" altLang="ko-KR" sz="1200" kern="0" spc="-50" dirty="0">
                          <a:effectLst/>
                        </a:rPr>
                        <a:t>1</a:t>
                      </a:r>
                      <a:r>
                        <a:rPr lang="ko-KR" altLang="en-US" sz="1200" kern="0" spc="-50" dirty="0">
                          <a:effectLst/>
                        </a:rPr>
                        <a:t>년 </a:t>
                      </a:r>
                      <a:r>
                        <a:rPr lang="en-US" altLang="ko-KR" sz="1200" kern="0" spc="-50" dirty="0">
                          <a:effectLst/>
                        </a:rPr>
                        <a:t>3</a:t>
                      </a:r>
                      <a:r>
                        <a:rPr lang="ko-KR" altLang="en-US" sz="1200" kern="0" spc="-50" dirty="0">
                          <a:effectLst/>
                        </a:rPr>
                        <a:t>개월이 지난 후 취하간주</a:t>
                      </a:r>
                      <a:r>
                        <a:rPr lang="en-US" altLang="ko-KR" sz="1200" kern="0" spc="-50" dirty="0">
                          <a:effectLst/>
                        </a:rPr>
                        <a:t>(</a:t>
                      </a:r>
                      <a:r>
                        <a:rPr lang="ko-KR" altLang="en-US" sz="1200" kern="0" spc="-50" dirty="0">
                          <a:effectLst/>
                        </a:rPr>
                        <a:t>法 </a:t>
                      </a:r>
                      <a:r>
                        <a:rPr lang="en-US" altLang="ko-KR" sz="1200" kern="0" spc="-50" dirty="0">
                          <a:effectLst/>
                        </a:rPr>
                        <a:t>56</a:t>
                      </a:r>
                      <a:r>
                        <a:rPr lang="ko-KR" altLang="en-US" sz="1200" kern="0" spc="-50" dirty="0">
                          <a:effectLst/>
                        </a:rPr>
                        <a:t>①</a:t>
                      </a:r>
                      <a:r>
                        <a:rPr lang="en-US" altLang="ko-KR" sz="1200" kern="0" spc="-50" dirty="0">
                          <a:effectLst/>
                        </a:rPr>
                        <a:t>)</a:t>
                      </a:r>
                      <a:endParaRPr lang="ko-KR" altLang="en-US" sz="1200" kern="0" spc="-50" dirty="0">
                        <a:solidFill>
                          <a:srgbClr val="000000"/>
                        </a:solidFill>
                        <a:effectLst/>
                        <a:latin typeface="+mn-ea"/>
                        <a:ea typeface="+mn-ea"/>
                      </a:endParaRPr>
                    </a:p>
                  </a:txBody>
                  <a:tcPr marL="72000" marR="72000" marT="10963" marB="10963" anchor="ctr"/>
                </a:tc>
                <a:tc>
                  <a:txBody>
                    <a:bodyPr/>
                    <a:lstStyle/>
                    <a:p>
                      <a:pPr marL="140970" marR="17780" indent="-140970" algn="just" fontAlgn="base" latinLnBrk="1">
                        <a:lnSpc>
                          <a:spcPct val="100000"/>
                        </a:lnSpc>
                        <a:spcBef>
                          <a:spcPts val="0"/>
                        </a:spcBef>
                        <a:spcAft>
                          <a:spcPts val="0"/>
                        </a:spcAft>
                      </a:pPr>
                      <a:r>
                        <a:rPr lang="en-US" altLang="ko-KR" sz="1200" kern="0" spc="-110" dirty="0">
                          <a:effectLst/>
                        </a:rPr>
                        <a:t>1. </a:t>
                      </a:r>
                      <a:r>
                        <a:rPr lang="ko-KR" altLang="en-US" sz="1200" kern="0" spc="-110" dirty="0">
                          <a:effectLst/>
                        </a:rPr>
                        <a:t>후출원의 「국제출원일까지 제출된 발명의 설명</a:t>
                      </a:r>
                      <a:r>
                        <a:rPr lang="en-US" altLang="ko-KR" sz="1200" kern="0" spc="-110" dirty="0">
                          <a:effectLst/>
                        </a:rPr>
                        <a:t>, </a:t>
                      </a:r>
                      <a:r>
                        <a:rPr lang="ko-KR" altLang="en-US" sz="1200" kern="0" spc="-110" dirty="0">
                          <a:effectLst/>
                        </a:rPr>
                        <a:t>청구범위 또는 </a:t>
                      </a:r>
                      <a:r>
                        <a:rPr lang="ko-KR" altLang="en-US" sz="1200" kern="0" spc="-110" dirty="0" err="1">
                          <a:effectLst/>
                        </a:rPr>
                        <a:t>도면」에</a:t>
                      </a:r>
                      <a:r>
                        <a:rPr lang="ko-KR" altLang="en-US" sz="1200" kern="0" spc="-110" dirty="0">
                          <a:effectLst/>
                        </a:rPr>
                        <a:t> 기재된 발명 중 선출원의 </a:t>
                      </a:r>
                      <a:r>
                        <a:rPr lang="ko-KR" altLang="en-US" sz="1200" kern="0" spc="-110" dirty="0" err="1">
                          <a:effectLst/>
                        </a:rPr>
                        <a:t>최ㆍ명ㆍ도에</a:t>
                      </a:r>
                      <a:r>
                        <a:rPr lang="ko-KR" altLang="en-US" sz="1200" kern="0" spc="-110" dirty="0">
                          <a:effectLst/>
                        </a:rPr>
                        <a:t> 기재된 발명과 같은 발명은 후출원이 「출원공개 또는 「특허협력조약」 제</a:t>
                      </a:r>
                      <a:r>
                        <a:rPr lang="en-US" altLang="ko-KR" sz="1200" kern="0" spc="-110" dirty="0">
                          <a:effectLst/>
                        </a:rPr>
                        <a:t>21</a:t>
                      </a:r>
                      <a:r>
                        <a:rPr lang="ko-KR" altLang="en-US" sz="1200" kern="0" spc="-110" dirty="0">
                          <a:effectLst/>
                        </a:rPr>
                        <a:t>조에 따라 </a:t>
                      </a:r>
                      <a:r>
                        <a:rPr lang="ko-KR" altLang="en-US" sz="1200" kern="0" spc="-110" dirty="0" err="1">
                          <a:effectLst/>
                        </a:rPr>
                        <a:t>국제공개되거나</a:t>
                      </a:r>
                      <a:r>
                        <a:rPr lang="ko-KR" altLang="en-US" sz="1200" kern="0" spc="-110" dirty="0">
                          <a:effectLst/>
                        </a:rPr>
                        <a:t>」 또는 </a:t>
                      </a:r>
                      <a:r>
                        <a:rPr lang="ko-KR" altLang="en-US" sz="1200" kern="0" spc="-110" dirty="0" err="1">
                          <a:effectLst/>
                        </a:rPr>
                        <a:t>등록공고되었을</a:t>
                      </a:r>
                      <a:r>
                        <a:rPr lang="ko-KR" altLang="en-US" sz="1200" kern="0" spc="-110" dirty="0">
                          <a:effectLst/>
                        </a:rPr>
                        <a:t> 때에 선출원에 관하여 </a:t>
                      </a:r>
                      <a:r>
                        <a:rPr lang="ko-KR" altLang="en-US" sz="1200" kern="0" spc="-110" dirty="0" err="1">
                          <a:effectLst/>
                        </a:rPr>
                        <a:t>출원공개된</a:t>
                      </a:r>
                      <a:r>
                        <a:rPr lang="ko-KR" altLang="en-US" sz="1200" kern="0" spc="-110" dirty="0">
                          <a:effectLst/>
                        </a:rPr>
                        <a:t> 것으로 간주</a:t>
                      </a:r>
                    </a:p>
                    <a:p>
                      <a:pPr marL="140970" marR="17780" indent="-140970" algn="just" fontAlgn="base" latinLnBrk="1">
                        <a:lnSpc>
                          <a:spcPct val="100000"/>
                        </a:lnSpc>
                        <a:spcBef>
                          <a:spcPts val="0"/>
                        </a:spcBef>
                        <a:spcAft>
                          <a:spcPts val="0"/>
                        </a:spcAft>
                      </a:pPr>
                      <a:r>
                        <a:rPr lang="en-US" altLang="ko-KR" sz="1200" kern="0" spc="-50" dirty="0">
                          <a:effectLst/>
                        </a:rPr>
                        <a:t>2. </a:t>
                      </a:r>
                      <a:r>
                        <a:rPr lang="ko-KR" altLang="en-US" sz="1200" kern="0" spc="-50" dirty="0" err="1">
                          <a:effectLst/>
                        </a:rPr>
                        <a:t>후출원인</a:t>
                      </a:r>
                      <a:r>
                        <a:rPr lang="ko-KR" altLang="en-US" sz="1200" kern="0" spc="-50" dirty="0">
                          <a:effectLst/>
                        </a:rPr>
                        <a:t> </a:t>
                      </a:r>
                      <a:r>
                        <a:rPr lang="ko-KR" altLang="en-US" sz="1200" kern="0" spc="-50" dirty="0" err="1">
                          <a:effectLst/>
                        </a:rPr>
                        <a:t>국제특허출원이</a:t>
                      </a:r>
                      <a:r>
                        <a:rPr lang="ko-KR" altLang="en-US" sz="1200" kern="0" spc="-50" dirty="0">
                          <a:effectLst/>
                        </a:rPr>
                        <a:t> 제</a:t>
                      </a:r>
                      <a:r>
                        <a:rPr lang="en-US" altLang="ko-KR" sz="1200" kern="0" spc="-50" dirty="0">
                          <a:effectLst/>
                        </a:rPr>
                        <a:t>201</a:t>
                      </a:r>
                      <a:r>
                        <a:rPr lang="ko-KR" altLang="en-US" sz="1200" kern="0" spc="-50" dirty="0">
                          <a:effectLst/>
                        </a:rPr>
                        <a:t>조제</a:t>
                      </a:r>
                      <a:r>
                        <a:rPr lang="en-US" altLang="ko-KR" sz="1200" kern="0" spc="-50" dirty="0">
                          <a:effectLst/>
                        </a:rPr>
                        <a:t>4</a:t>
                      </a:r>
                      <a:r>
                        <a:rPr lang="ko-KR" altLang="en-US" sz="1200" kern="0" spc="-50" dirty="0">
                          <a:effectLst/>
                        </a:rPr>
                        <a:t>항에 따라 취하한 것으로 보는 경우에는 확대된 </a:t>
                      </a:r>
                      <a:r>
                        <a:rPr lang="ko-KR" altLang="en-US" sz="1200" kern="0" spc="-50" dirty="0" err="1">
                          <a:effectLst/>
                        </a:rPr>
                        <a:t>선출원</a:t>
                      </a:r>
                      <a:r>
                        <a:rPr lang="en-US" altLang="ko-KR" sz="1200" kern="0" spc="-50" dirty="0">
                          <a:effectLst/>
                        </a:rPr>
                        <a:t>(</a:t>
                      </a:r>
                      <a:r>
                        <a:rPr lang="ko-KR" altLang="en-US" sz="1200" kern="0" spc="-50" dirty="0">
                          <a:effectLst/>
                        </a:rPr>
                        <a:t>法 </a:t>
                      </a:r>
                      <a:r>
                        <a:rPr lang="en-US" altLang="ko-KR" sz="1200" kern="0" spc="-50" dirty="0">
                          <a:effectLst/>
                        </a:rPr>
                        <a:t>55</a:t>
                      </a:r>
                      <a:r>
                        <a:rPr lang="ko-KR" altLang="en-US" sz="1200" kern="0" spc="-50" dirty="0">
                          <a:effectLst/>
                        </a:rPr>
                        <a:t>④</a:t>
                      </a:r>
                      <a:r>
                        <a:rPr lang="en-US" altLang="ko-KR" sz="1200" kern="0" spc="-50" dirty="0">
                          <a:effectLst/>
                        </a:rPr>
                        <a:t>) </a:t>
                      </a:r>
                      <a:r>
                        <a:rPr lang="ko-KR" altLang="en-US" sz="1200" kern="0" spc="-50" dirty="0" err="1">
                          <a:effectLst/>
                        </a:rPr>
                        <a:t>不적용</a:t>
                      </a:r>
                      <a:r>
                        <a:rPr lang="en-US" altLang="ko-KR" sz="1200" kern="0" spc="-50" dirty="0">
                          <a:effectLst/>
                        </a:rPr>
                        <a:t>(</a:t>
                      </a:r>
                      <a:r>
                        <a:rPr lang="ko-KR" altLang="en-US" sz="1200" kern="0" spc="-50" dirty="0">
                          <a:effectLst/>
                        </a:rPr>
                        <a:t>法 </a:t>
                      </a:r>
                      <a:r>
                        <a:rPr lang="en-US" altLang="ko-KR" sz="1200" kern="0" spc="-50" dirty="0">
                          <a:effectLst/>
                        </a:rPr>
                        <a:t>202</a:t>
                      </a:r>
                      <a:r>
                        <a:rPr lang="ko-KR" altLang="en-US" sz="1200" kern="0" spc="-50" dirty="0">
                          <a:effectLst/>
                        </a:rPr>
                        <a:t>②단서</a:t>
                      </a:r>
                      <a:r>
                        <a:rPr lang="en-US" altLang="ko-KR" sz="1200" kern="0" spc="-50" dirty="0">
                          <a:effectLst/>
                        </a:rPr>
                        <a:t>).</a:t>
                      </a:r>
                      <a:endParaRPr lang="ko-KR" altLang="en-US" sz="1200" kern="0" spc="-50" dirty="0">
                        <a:solidFill>
                          <a:srgbClr val="000000"/>
                        </a:solidFill>
                        <a:effectLst/>
                        <a:latin typeface="+mn-ea"/>
                        <a:ea typeface="+mn-ea"/>
                      </a:endParaRPr>
                    </a:p>
                  </a:txBody>
                  <a:tcPr marL="72000" marR="72000" marT="10963" marB="10963" anchor="ctr"/>
                </a:tc>
                <a:extLst>
                  <a:ext uri="{0D108BD9-81ED-4DB2-BD59-A6C34878D82A}">
                    <a16:rowId xmlns:a16="http://schemas.microsoft.com/office/drawing/2014/main" val="10005"/>
                  </a:ext>
                </a:extLst>
              </a:tr>
              <a:tr h="411556">
                <a:tc gridSpan="4">
                  <a:txBody>
                    <a:bodyPr/>
                    <a:lstStyle/>
                    <a:p>
                      <a:pPr marL="0" marR="0" indent="0" algn="ctr" fontAlgn="base" latinLnBrk="0">
                        <a:lnSpc>
                          <a:spcPct val="100000"/>
                        </a:lnSpc>
                        <a:spcBef>
                          <a:spcPts val="0"/>
                        </a:spcBef>
                        <a:spcAft>
                          <a:spcPts val="0"/>
                        </a:spcAft>
                      </a:pPr>
                      <a:r>
                        <a:rPr lang="ko-KR" altLang="en-US" sz="1200" b="1" kern="0" spc="-100" dirty="0">
                          <a:effectLst/>
                        </a:rPr>
                        <a:t>비 고</a:t>
                      </a:r>
                      <a:r>
                        <a:rPr lang="en-US" altLang="ko-KR" sz="1200" b="1" kern="0" spc="-100" dirty="0">
                          <a:effectLst/>
                        </a:rPr>
                        <a:t>(</a:t>
                      </a:r>
                      <a:r>
                        <a:rPr lang="ko-KR" altLang="en-US" sz="1200" b="1" kern="0" spc="-100" dirty="0">
                          <a:effectLst/>
                        </a:rPr>
                        <a:t>판단방법</a:t>
                      </a:r>
                      <a:r>
                        <a:rPr lang="en-US" altLang="ko-KR" sz="1200" b="1" kern="0" spc="-100" dirty="0">
                          <a:effectLst/>
                        </a:rPr>
                        <a:t>)</a:t>
                      </a:r>
                      <a:endParaRPr lang="ko-KR" altLang="en-US" sz="1200" b="1" kern="0" spc="-100" dirty="0">
                        <a:solidFill>
                          <a:srgbClr val="000000"/>
                        </a:solidFill>
                        <a:effectLst/>
                        <a:latin typeface="+mn-ea"/>
                        <a:ea typeface="+mn-ea"/>
                      </a:endParaRPr>
                    </a:p>
                  </a:txBody>
                  <a:tcPr marL="72000" marR="72000" marT="10963" marB="10963" anchor="ctr">
                    <a:solidFill>
                      <a:schemeClr val="accent1">
                        <a:lumMod val="20000"/>
                        <a:lumOff val="80000"/>
                      </a:schemeClr>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marL="0" marR="0" indent="0" algn="ctr" fontAlgn="base" latinLnBrk="0">
                        <a:lnSpc>
                          <a:spcPct val="100000"/>
                        </a:lnSpc>
                        <a:spcBef>
                          <a:spcPts val="0"/>
                        </a:spcBef>
                        <a:spcAft>
                          <a:spcPts val="0"/>
                        </a:spcAft>
                      </a:pPr>
                      <a:endParaRPr lang="ko-KR" altLang="en-US" sz="1200" b="1" kern="0" spc="-100" dirty="0">
                        <a:solidFill>
                          <a:srgbClr val="000000"/>
                        </a:solidFill>
                        <a:effectLst/>
                        <a:latin typeface="+mn-ea"/>
                        <a:ea typeface="+mn-ea"/>
                      </a:endParaRPr>
                    </a:p>
                  </a:txBody>
                  <a:tcPr marL="72000" marR="72000" marT="10963" marB="10963" anchor="ctr">
                    <a:solidFill>
                      <a:schemeClr val="accent1">
                        <a:lumMod val="20000"/>
                        <a:lumOff val="80000"/>
                      </a:schemeClr>
                    </a:solidFill>
                  </a:tcPr>
                </a:tc>
                <a:tc gridSpan="4">
                  <a:txBody>
                    <a:bodyPr/>
                    <a:lstStyle/>
                    <a:p>
                      <a:pPr marL="171450" marR="17780" indent="-171450" algn="just" fontAlgn="base" latinLnBrk="1">
                        <a:lnSpc>
                          <a:spcPct val="100000"/>
                        </a:lnSpc>
                        <a:spcBef>
                          <a:spcPts val="0"/>
                        </a:spcBef>
                        <a:spcAft>
                          <a:spcPts val="0"/>
                        </a:spcAft>
                      </a:pPr>
                      <a:r>
                        <a:rPr lang="en-US" altLang="ko-KR" sz="1200" kern="0" spc="-50" dirty="0">
                          <a:effectLst/>
                        </a:rPr>
                        <a:t>※ </a:t>
                      </a:r>
                      <a:r>
                        <a:rPr lang="ko-KR" altLang="en-US" sz="1200" kern="0" spc="-50" dirty="0">
                          <a:effectLst/>
                        </a:rPr>
                        <a:t>국내우선권주장의 절차</a:t>
                      </a:r>
                      <a:r>
                        <a:rPr lang="en-US" altLang="ko-KR" sz="1200" kern="0" spc="-50" dirty="0">
                          <a:effectLst/>
                        </a:rPr>
                        <a:t>, </a:t>
                      </a:r>
                      <a:r>
                        <a:rPr lang="ko-KR" altLang="en-US" sz="1200" kern="0" spc="-50" dirty="0">
                          <a:effectLst/>
                        </a:rPr>
                        <a:t>국내우선권주장의 취하 → </a:t>
                      </a:r>
                      <a:r>
                        <a:rPr lang="ko-KR" altLang="en-US" sz="1200" kern="0" spc="-50" dirty="0" err="1">
                          <a:effectLst/>
                        </a:rPr>
                        <a:t>후출원을</a:t>
                      </a:r>
                      <a:r>
                        <a:rPr lang="ko-KR" altLang="en-US" sz="1200" kern="0" spc="-50" dirty="0">
                          <a:effectLst/>
                        </a:rPr>
                        <a:t> 기준으로 판단</a:t>
                      </a:r>
                    </a:p>
                    <a:p>
                      <a:pPr marL="17780" marR="17780" indent="0" algn="just" fontAlgn="base" latinLnBrk="1">
                        <a:lnSpc>
                          <a:spcPct val="100000"/>
                        </a:lnSpc>
                        <a:spcBef>
                          <a:spcPts val="0"/>
                        </a:spcBef>
                        <a:spcAft>
                          <a:spcPts val="0"/>
                        </a:spcAft>
                      </a:pPr>
                      <a:r>
                        <a:rPr lang="en-US" altLang="ko-KR" sz="1200" kern="0" spc="-50" dirty="0">
                          <a:effectLst/>
                        </a:rPr>
                        <a:t>※ </a:t>
                      </a:r>
                      <a:r>
                        <a:rPr lang="ko-KR" altLang="en-US" sz="1200" kern="0" spc="-50" dirty="0" err="1">
                          <a:effectLst/>
                        </a:rPr>
                        <a:t>선출원의</a:t>
                      </a:r>
                      <a:r>
                        <a:rPr lang="ko-KR" altLang="en-US" sz="1200" kern="0" spc="-50" dirty="0">
                          <a:effectLst/>
                        </a:rPr>
                        <a:t> 취하간주시기 → </a:t>
                      </a:r>
                      <a:r>
                        <a:rPr lang="ko-KR" altLang="en-US" sz="1200" kern="0" spc="-50" dirty="0" err="1">
                          <a:effectLst/>
                        </a:rPr>
                        <a:t>선출원을</a:t>
                      </a:r>
                      <a:r>
                        <a:rPr lang="ko-KR" altLang="en-US" sz="1200" kern="0" spc="-50" dirty="0">
                          <a:effectLst/>
                        </a:rPr>
                        <a:t> 기준으로 판단</a:t>
                      </a:r>
                      <a:endParaRPr lang="ko-KR" altLang="en-US" sz="1200" kern="0" spc="-50" dirty="0">
                        <a:solidFill>
                          <a:srgbClr val="000000"/>
                        </a:solidFill>
                        <a:effectLst/>
                        <a:latin typeface="+mn-ea"/>
                        <a:ea typeface="+mn-ea"/>
                      </a:endParaRPr>
                    </a:p>
                  </a:txBody>
                  <a:tcPr marL="72000" marR="72000" marT="10963" marB="10963" anchor="ct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006"/>
                  </a:ext>
                </a:extLst>
              </a:tr>
            </a:tbl>
          </a:graphicData>
        </a:graphic>
      </p:graphicFrame>
      <p:sp>
        <p:nvSpPr>
          <p:cNvPr id="4" name="슬라이드 번호 개체 틀 3"/>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583</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
        <p:nvSpPr>
          <p:cNvPr id="6" name="직사각형 5">
            <a:extLst>
              <a:ext uri="{FF2B5EF4-FFF2-40B4-BE49-F238E27FC236}">
                <a16:creationId xmlns:a16="http://schemas.microsoft.com/office/drawing/2014/main" id="{2A36841A-3CDE-E5D0-6149-5BD473E047C9}"/>
              </a:ext>
            </a:extLst>
          </p:cNvPr>
          <p:cNvSpPr/>
          <p:nvPr/>
        </p:nvSpPr>
        <p:spPr>
          <a:xfrm>
            <a:off x="3076847" y="1110136"/>
            <a:ext cx="2570918" cy="43999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7" name="직사각형 6">
            <a:extLst>
              <a:ext uri="{FF2B5EF4-FFF2-40B4-BE49-F238E27FC236}">
                <a16:creationId xmlns:a16="http://schemas.microsoft.com/office/drawing/2014/main" id="{6E612E2C-851A-573C-1E91-F5A3FE9859DD}"/>
              </a:ext>
            </a:extLst>
          </p:cNvPr>
          <p:cNvSpPr/>
          <p:nvPr/>
        </p:nvSpPr>
        <p:spPr>
          <a:xfrm>
            <a:off x="1273527" y="1317812"/>
            <a:ext cx="564238" cy="5002305"/>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8" name="직사각형 7">
            <a:extLst>
              <a:ext uri="{FF2B5EF4-FFF2-40B4-BE49-F238E27FC236}">
                <a16:creationId xmlns:a16="http://schemas.microsoft.com/office/drawing/2014/main" id="{B69353EE-955B-67ED-C04B-9693C1596C15}"/>
              </a:ext>
            </a:extLst>
          </p:cNvPr>
          <p:cNvSpPr/>
          <p:nvPr/>
        </p:nvSpPr>
        <p:spPr>
          <a:xfrm>
            <a:off x="5719482" y="1110136"/>
            <a:ext cx="1394936" cy="461411"/>
          </a:xfrm>
          <a:prstGeom prst="rect">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9" name="직사각형 8">
            <a:extLst>
              <a:ext uri="{FF2B5EF4-FFF2-40B4-BE49-F238E27FC236}">
                <a16:creationId xmlns:a16="http://schemas.microsoft.com/office/drawing/2014/main" id="{A764372A-04FD-A74D-36F7-2C49AC048F2F}"/>
              </a:ext>
            </a:extLst>
          </p:cNvPr>
          <p:cNvSpPr/>
          <p:nvPr/>
        </p:nvSpPr>
        <p:spPr>
          <a:xfrm>
            <a:off x="687207" y="1317812"/>
            <a:ext cx="564238" cy="5002305"/>
          </a:xfrm>
          <a:prstGeom prst="rect">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Tree>
    <p:extLst>
      <p:ext uri="{BB962C8B-B14F-4D97-AF65-F5344CB8AC3E}">
        <p14:creationId xmlns:p14="http://schemas.microsoft.com/office/powerpoint/2010/main" val="1391942336"/>
      </p:ext>
    </p:extLst>
  </p:cSld>
  <p:clrMapOvr>
    <a:masterClrMapping/>
  </p:clrMapOvr>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 name="양쪽 모서리가 둥근 사각형 85">
            <a:extLst>
              <a:ext uri="{FF2B5EF4-FFF2-40B4-BE49-F238E27FC236}">
                <a16:creationId xmlns:a16="http://schemas.microsoft.com/office/drawing/2014/main" id="{6B0964EA-641C-45E2-BF4D-78D044C3F4F9}"/>
              </a:ext>
            </a:extLst>
          </p:cNvPr>
          <p:cNvSpPr/>
          <p:nvPr/>
        </p:nvSpPr>
        <p:spPr>
          <a:xfrm>
            <a:off x="6107654" y="1357389"/>
            <a:ext cx="2136206" cy="243579"/>
          </a:xfrm>
          <a:prstGeom prst="round2SameRect">
            <a:avLst>
              <a:gd name="adj1" fmla="val 0"/>
              <a:gd name="adj2" fmla="val 50000"/>
            </a:avLst>
          </a:prstGeom>
          <a:pattFill prst="pct20">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08" name="양쪽 모서리가 둥근 사각형 22">
            <a:extLst>
              <a:ext uri="{FF2B5EF4-FFF2-40B4-BE49-F238E27FC236}">
                <a16:creationId xmlns:a16="http://schemas.microsoft.com/office/drawing/2014/main" id="{85F5E0D3-931A-4A5A-9DA5-5D0FAF7ED32C}"/>
              </a:ext>
            </a:extLst>
          </p:cNvPr>
          <p:cNvSpPr/>
          <p:nvPr/>
        </p:nvSpPr>
        <p:spPr>
          <a:xfrm>
            <a:off x="5030117" y="1065267"/>
            <a:ext cx="3171850" cy="309718"/>
          </a:xfrm>
          <a:prstGeom prst="round2SameRect">
            <a:avLst>
              <a:gd name="adj1" fmla="val 50000"/>
              <a:gd name="adj2" fmla="val 0"/>
            </a:avLst>
          </a:prstGeom>
          <a:pattFill prst="lg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제</a:t>
            </a:r>
            <a:r>
              <a:rPr lang="en-US" altLang="ko-KR" dirty="0"/>
              <a:t>202</a:t>
            </a:r>
            <a:r>
              <a:rPr lang="ko-KR" altLang="en-US" dirty="0"/>
              <a:t>조</a:t>
            </a:r>
          </a:p>
        </p:txBody>
      </p:sp>
      <p:sp>
        <p:nvSpPr>
          <p:cNvPr id="2" name="텍스트 개체 틀 1"/>
          <p:cNvSpPr>
            <a:spLocks noGrp="1"/>
          </p:cNvSpPr>
          <p:nvPr>
            <p:ph type="body" sz="quarter" idx="13"/>
          </p:nvPr>
        </p:nvSpPr>
        <p:spPr/>
        <p:txBody>
          <a:bodyPr/>
          <a:lstStyle/>
          <a:p>
            <a:r>
              <a:rPr lang="ko-KR" altLang="en-US" dirty="0" err="1"/>
              <a:t>국내우선권주장의</a:t>
            </a:r>
            <a:r>
              <a:rPr lang="ko-KR" altLang="en-US" dirty="0"/>
              <a:t> 확대된 선출원에서 다른 출원의 지위</a:t>
            </a:r>
          </a:p>
        </p:txBody>
      </p:sp>
      <p:sp>
        <p:nvSpPr>
          <p:cNvPr id="4" name="슬라이드 번호 개체 틀 3"/>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584</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cxnSp>
        <p:nvCxnSpPr>
          <p:cNvPr id="21" name="직선 연결선 20">
            <a:extLst>
              <a:ext uri="{FF2B5EF4-FFF2-40B4-BE49-F238E27FC236}">
                <a16:creationId xmlns:a16="http://schemas.microsoft.com/office/drawing/2014/main" id="{075623A6-F2B2-44CB-85B5-771AAE0B9EE8}"/>
              </a:ext>
            </a:extLst>
          </p:cNvPr>
          <p:cNvCxnSpPr>
            <a:cxnSpLocks/>
          </p:cNvCxnSpPr>
          <p:nvPr/>
        </p:nvCxnSpPr>
        <p:spPr>
          <a:xfrm>
            <a:off x="327433" y="5416279"/>
            <a:ext cx="3551146" cy="14031"/>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 name="직사각형 17">
            <a:extLst>
              <a:ext uri="{FF2B5EF4-FFF2-40B4-BE49-F238E27FC236}">
                <a16:creationId xmlns:a16="http://schemas.microsoft.com/office/drawing/2014/main" id="{71063CA7-B074-4DE1-A030-C1EE4D9F89B4}"/>
              </a:ext>
            </a:extLst>
          </p:cNvPr>
          <p:cNvSpPr/>
          <p:nvPr/>
        </p:nvSpPr>
        <p:spPr>
          <a:xfrm>
            <a:off x="776663" y="5276761"/>
            <a:ext cx="955252" cy="30615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선출원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9" name="직사각형 28">
            <a:extLst>
              <a:ext uri="{FF2B5EF4-FFF2-40B4-BE49-F238E27FC236}">
                <a16:creationId xmlns:a16="http://schemas.microsoft.com/office/drawing/2014/main" id="{700DCAA9-2E9E-4D65-8425-231AFA1F2F12}"/>
              </a:ext>
            </a:extLst>
          </p:cNvPr>
          <p:cNvSpPr/>
          <p:nvPr/>
        </p:nvSpPr>
        <p:spPr>
          <a:xfrm>
            <a:off x="2107688" y="5276761"/>
            <a:ext cx="955252" cy="30615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후출원</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(Y)</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71" name="직사각형 70">
            <a:extLst>
              <a:ext uri="{FF2B5EF4-FFF2-40B4-BE49-F238E27FC236}">
                <a16:creationId xmlns:a16="http://schemas.microsoft.com/office/drawing/2014/main" id="{B35669CA-9F46-4F54-9D4F-1A41961DB906}"/>
              </a:ext>
            </a:extLst>
          </p:cNvPr>
          <p:cNvSpPr/>
          <p:nvPr/>
        </p:nvSpPr>
        <p:spPr>
          <a:xfrm>
            <a:off x="852166" y="1107841"/>
            <a:ext cx="1003220" cy="49511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국내출원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85" name="직사각형 84">
            <a:extLst>
              <a:ext uri="{FF2B5EF4-FFF2-40B4-BE49-F238E27FC236}">
                <a16:creationId xmlns:a16="http://schemas.microsoft.com/office/drawing/2014/main" id="{150396DF-B139-4F27-A2A4-CB510BDECC2C}"/>
              </a:ext>
            </a:extLst>
          </p:cNvPr>
          <p:cNvSpPr/>
          <p:nvPr/>
        </p:nvSpPr>
        <p:spPr>
          <a:xfrm>
            <a:off x="2154140" y="1107841"/>
            <a:ext cx="1724439" cy="49511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국내출원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55</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88" name="직선 연결선 87">
            <a:extLst>
              <a:ext uri="{FF2B5EF4-FFF2-40B4-BE49-F238E27FC236}">
                <a16:creationId xmlns:a16="http://schemas.microsoft.com/office/drawing/2014/main" id="{346102AC-628B-4100-8C25-BB3A2143DC3F}"/>
              </a:ext>
            </a:extLst>
          </p:cNvPr>
          <p:cNvCxnSpPr>
            <a:cxnSpLocks/>
            <a:stCxn id="71" idx="3"/>
            <a:endCxn id="85" idx="1"/>
          </p:cNvCxnSpPr>
          <p:nvPr/>
        </p:nvCxnSpPr>
        <p:spPr>
          <a:xfrm>
            <a:off x="1855386" y="1355400"/>
            <a:ext cx="298754"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0" name="직사각형 89">
            <a:extLst>
              <a:ext uri="{FF2B5EF4-FFF2-40B4-BE49-F238E27FC236}">
                <a16:creationId xmlns:a16="http://schemas.microsoft.com/office/drawing/2014/main" id="{DA93B96D-5843-4F75-81B6-DDD2D0C66319}"/>
              </a:ext>
            </a:extLst>
          </p:cNvPr>
          <p:cNvSpPr/>
          <p:nvPr/>
        </p:nvSpPr>
        <p:spPr>
          <a:xfrm>
            <a:off x="852166" y="2091518"/>
            <a:ext cx="1003220" cy="49511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국내출원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1" name="직사각형 90">
            <a:extLst>
              <a:ext uri="{FF2B5EF4-FFF2-40B4-BE49-F238E27FC236}">
                <a16:creationId xmlns:a16="http://schemas.microsoft.com/office/drawing/2014/main" id="{D5EE3227-C0DD-4BE0-8DC7-0F16A8F509D2}"/>
              </a:ext>
            </a:extLst>
          </p:cNvPr>
          <p:cNvSpPr/>
          <p:nvPr/>
        </p:nvSpPr>
        <p:spPr>
          <a:xfrm>
            <a:off x="2154140" y="2091518"/>
            <a:ext cx="1724439" cy="49511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55</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202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2" name="직선 연결선 91">
            <a:extLst>
              <a:ext uri="{FF2B5EF4-FFF2-40B4-BE49-F238E27FC236}">
                <a16:creationId xmlns:a16="http://schemas.microsoft.com/office/drawing/2014/main" id="{A162D748-8B16-4DEA-B942-D6A6CFBA4B58}"/>
              </a:ext>
            </a:extLst>
          </p:cNvPr>
          <p:cNvCxnSpPr>
            <a:cxnSpLocks/>
          </p:cNvCxnSpPr>
          <p:nvPr/>
        </p:nvCxnSpPr>
        <p:spPr>
          <a:xfrm>
            <a:off x="1855386" y="2400037"/>
            <a:ext cx="298754"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3" name="직사각형 92">
            <a:extLst>
              <a:ext uri="{FF2B5EF4-FFF2-40B4-BE49-F238E27FC236}">
                <a16:creationId xmlns:a16="http://schemas.microsoft.com/office/drawing/2014/main" id="{1658C072-1AB1-4853-97F5-5806FF166938}"/>
              </a:ext>
            </a:extLst>
          </p:cNvPr>
          <p:cNvSpPr/>
          <p:nvPr/>
        </p:nvSpPr>
        <p:spPr>
          <a:xfrm>
            <a:off x="852166" y="3072748"/>
            <a:ext cx="1003220" cy="49511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4" name="직사각형 93">
            <a:extLst>
              <a:ext uri="{FF2B5EF4-FFF2-40B4-BE49-F238E27FC236}">
                <a16:creationId xmlns:a16="http://schemas.microsoft.com/office/drawing/2014/main" id="{C7103AF0-E82C-4363-BE7C-EF195AC4A0AE}"/>
              </a:ext>
            </a:extLst>
          </p:cNvPr>
          <p:cNvSpPr/>
          <p:nvPr/>
        </p:nvSpPr>
        <p:spPr>
          <a:xfrm>
            <a:off x="2154140" y="3072748"/>
            <a:ext cx="1724439" cy="49511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국내출원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55</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및 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6</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202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항제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5" name="직선 연결선 94">
            <a:extLst>
              <a:ext uri="{FF2B5EF4-FFF2-40B4-BE49-F238E27FC236}">
                <a16:creationId xmlns:a16="http://schemas.microsoft.com/office/drawing/2014/main" id="{2D21B2CE-5144-4A7E-B171-17D2D082D261}"/>
              </a:ext>
            </a:extLst>
          </p:cNvPr>
          <p:cNvCxnSpPr>
            <a:cxnSpLocks/>
            <a:stCxn id="93" idx="3"/>
            <a:endCxn id="94" idx="1"/>
          </p:cNvCxnSpPr>
          <p:nvPr/>
        </p:nvCxnSpPr>
        <p:spPr>
          <a:xfrm>
            <a:off x="1855386" y="3320307"/>
            <a:ext cx="298754"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9" name="직사각형 98">
            <a:extLst>
              <a:ext uri="{FF2B5EF4-FFF2-40B4-BE49-F238E27FC236}">
                <a16:creationId xmlns:a16="http://schemas.microsoft.com/office/drawing/2014/main" id="{4A669703-E784-4AB0-BDF3-0EF6B88D71AA}"/>
              </a:ext>
            </a:extLst>
          </p:cNvPr>
          <p:cNvSpPr/>
          <p:nvPr/>
        </p:nvSpPr>
        <p:spPr>
          <a:xfrm>
            <a:off x="852166" y="4033699"/>
            <a:ext cx="1003220" cy="495118"/>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00" name="직사각형 99">
            <a:extLst>
              <a:ext uri="{FF2B5EF4-FFF2-40B4-BE49-F238E27FC236}">
                <a16:creationId xmlns:a16="http://schemas.microsoft.com/office/drawing/2014/main" id="{0C74FFD9-0BFB-4E2C-8FD7-438EEFF7F946}"/>
              </a:ext>
            </a:extLst>
          </p:cNvPr>
          <p:cNvSpPr/>
          <p:nvPr/>
        </p:nvSpPr>
        <p:spPr>
          <a:xfrm>
            <a:off x="2154140" y="4033699"/>
            <a:ext cx="1724439" cy="495118"/>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55</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4</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및 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6</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202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 및 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항제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호</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01" name="직선 연결선 100">
            <a:extLst>
              <a:ext uri="{FF2B5EF4-FFF2-40B4-BE49-F238E27FC236}">
                <a16:creationId xmlns:a16="http://schemas.microsoft.com/office/drawing/2014/main" id="{2EB074F8-0F38-40A0-A56C-A63B22BFD250}"/>
              </a:ext>
            </a:extLst>
          </p:cNvPr>
          <p:cNvCxnSpPr>
            <a:cxnSpLocks/>
            <a:stCxn id="99" idx="3"/>
            <a:endCxn id="100" idx="1"/>
          </p:cNvCxnSpPr>
          <p:nvPr/>
        </p:nvCxnSpPr>
        <p:spPr>
          <a:xfrm>
            <a:off x="1855386" y="4281258"/>
            <a:ext cx="298754" cy="0"/>
          </a:xfrm>
          <a:prstGeom prst="line">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직선 연결선 101">
            <a:extLst>
              <a:ext uri="{FF2B5EF4-FFF2-40B4-BE49-F238E27FC236}">
                <a16:creationId xmlns:a16="http://schemas.microsoft.com/office/drawing/2014/main" id="{C41F4D64-20CF-403E-873F-CF162A93DE04}"/>
              </a:ext>
            </a:extLst>
          </p:cNvPr>
          <p:cNvCxnSpPr>
            <a:cxnSpLocks/>
          </p:cNvCxnSpPr>
          <p:nvPr/>
        </p:nvCxnSpPr>
        <p:spPr>
          <a:xfrm flipV="1">
            <a:off x="4020692" y="1357777"/>
            <a:ext cx="6365368"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직사각형 102">
            <a:extLst>
              <a:ext uri="{FF2B5EF4-FFF2-40B4-BE49-F238E27FC236}">
                <a16:creationId xmlns:a16="http://schemas.microsoft.com/office/drawing/2014/main" id="{1F1AC9D2-3D1A-4FC2-8E8D-FB76071F7779}"/>
              </a:ext>
            </a:extLst>
          </p:cNvPr>
          <p:cNvSpPr/>
          <p:nvPr/>
        </p:nvSpPr>
        <p:spPr>
          <a:xfrm>
            <a:off x="4172649" y="1181037"/>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국내출원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104" name="직사각형 103">
            <a:extLst>
              <a:ext uri="{FF2B5EF4-FFF2-40B4-BE49-F238E27FC236}">
                <a16:creationId xmlns:a16="http://schemas.microsoft.com/office/drawing/2014/main" id="{069374EE-10FC-4AE8-8950-EAC4BE6FBE0F}"/>
              </a:ext>
            </a:extLst>
          </p:cNvPr>
          <p:cNvSpPr/>
          <p:nvPr/>
        </p:nvSpPr>
        <p:spPr>
          <a:xfrm>
            <a:off x="5262062" y="1181037"/>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국내출원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p>
        </p:txBody>
      </p:sp>
      <p:sp>
        <p:nvSpPr>
          <p:cNvPr id="106" name="직사각형 105">
            <a:extLst>
              <a:ext uri="{FF2B5EF4-FFF2-40B4-BE49-F238E27FC236}">
                <a16:creationId xmlns:a16="http://schemas.microsoft.com/office/drawing/2014/main" id="{5CD45547-7D12-4961-806D-ACA1F6A5B0CE}"/>
              </a:ext>
            </a:extLst>
          </p:cNvPr>
          <p:cNvSpPr/>
          <p:nvPr/>
        </p:nvSpPr>
        <p:spPr>
          <a:xfrm>
            <a:off x="6426020" y="1181037"/>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취하간주</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107" name="직사각형 106">
            <a:extLst>
              <a:ext uri="{FF2B5EF4-FFF2-40B4-BE49-F238E27FC236}">
                <a16:creationId xmlns:a16="http://schemas.microsoft.com/office/drawing/2014/main" id="{AEB47616-A4FD-4EED-A9DE-84C66857E0A1}"/>
              </a:ext>
            </a:extLst>
          </p:cNvPr>
          <p:cNvSpPr/>
          <p:nvPr/>
        </p:nvSpPr>
        <p:spPr>
          <a:xfrm>
            <a:off x="7782885" y="1181037"/>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출원공개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p>
        </p:txBody>
      </p:sp>
      <p:sp>
        <p:nvSpPr>
          <p:cNvPr id="55" name="양쪽 모서리가 둥근 사각형 22">
            <a:extLst>
              <a:ext uri="{FF2B5EF4-FFF2-40B4-BE49-F238E27FC236}">
                <a16:creationId xmlns:a16="http://schemas.microsoft.com/office/drawing/2014/main" id="{EA31C065-3113-411D-83A5-D8E3AA94DF79}"/>
              </a:ext>
            </a:extLst>
          </p:cNvPr>
          <p:cNvSpPr/>
          <p:nvPr/>
        </p:nvSpPr>
        <p:spPr>
          <a:xfrm>
            <a:off x="9072534" y="5535710"/>
            <a:ext cx="1136153" cy="278387"/>
          </a:xfrm>
          <a:prstGeom prst="round2SameRect">
            <a:avLst>
              <a:gd name="adj1" fmla="val 50000"/>
              <a:gd name="adj2" fmla="val 0"/>
            </a:avLst>
          </a:prstGeom>
          <a:pattFill prst="lgGrid">
            <a:fgClr>
              <a:schemeClr val="accent2"/>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31" name="직사각형 30">
            <a:extLst>
              <a:ext uri="{FF2B5EF4-FFF2-40B4-BE49-F238E27FC236}">
                <a16:creationId xmlns:a16="http://schemas.microsoft.com/office/drawing/2014/main" id="{B58D0EB3-9E91-4F92-8B9A-E8F2E1128995}"/>
              </a:ext>
            </a:extLst>
          </p:cNvPr>
          <p:cNvSpPr/>
          <p:nvPr/>
        </p:nvSpPr>
        <p:spPr>
          <a:xfrm>
            <a:off x="4897248" y="5041278"/>
            <a:ext cx="1003220" cy="352883"/>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국내출원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29</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3</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2" name="직사각형 31">
            <a:extLst>
              <a:ext uri="{FF2B5EF4-FFF2-40B4-BE49-F238E27FC236}">
                <a16:creationId xmlns:a16="http://schemas.microsoft.com/office/drawing/2014/main" id="{76956609-608A-48BD-9560-7D6CDDE5F130}"/>
              </a:ext>
            </a:extLst>
          </p:cNvPr>
          <p:cNvSpPr/>
          <p:nvPr/>
        </p:nvSpPr>
        <p:spPr>
          <a:xfrm>
            <a:off x="4897248" y="5652114"/>
            <a:ext cx="1003220" cy="352883"/>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33" name="직사각형 32">
            <a:extLst>
              <a:ext uri="{FF2B5EF4-FFF2-40B4-BE49-F238E27FC236}">
                <a16:creationId xmlns:a16="http://schemas.microsoft.com/office/drawing/2014/main" id="{2EECD8EE-D68D-46F2-948D-83C7C0557E3C}"/>
              </a:ext>
            </a:extLst>
          </p:cNvPr>
          <p:cNvSpPr/>
          <p:nvPr/>
        </p:nvSpPr>
        <p:spPr>
          <a:xfrm>
            <a:off x="6264320" y="5652114"/>
            <a:ext cx="1287075" cy="352883"/>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국어</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29</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4" name="직사각형 33">
            <a:extLst>
              <a:ext uri="{FF2B5EF4-FFF2-40B4-BE49-F238E27FC236}">
                <a16:creationId xmlns:a16="http://schemas.microsoft.com/office/drawing/2014/main" id="{2B6EA989-151F-4EF0-9264-74F628893A53}"/>
              </a:ext>
            </a:extLst>
          </p:cNvPr>
          <p:cNvSpPr/>
          <p:nvPr/>
        </p:nvSpPr>
        <p:spPr>
          <a:xfrm>
            <a:off x="6264320" y="6342648"/>
            <a:ext cx="1287075" cy="352883"/>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외국어</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29</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조제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5</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7</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항</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36" name="연결선: 꺾임 35">
            <a:extLst>
              <a:ext uri="{FF2B5EF4-FFF2-40B4-BE49-F238E27FC236}">
                <a16:creationId xmlns:a16="http://schemas.microsoft.com/office/drawing/2014/main" id="{AEBD3BBB-4E3E-4F29-B887-B7C449ECA549}"/>
              </a:ext>
            </a:extLst>
          </p:cNvPr>
          <p:cNvCxnSpPr>
            <a:stCxn id="31" idx="1"/>
            <a:endCxn id="32" idx="1"/>
          </p:cNvCxnSpPr>
          <p:nvPr/>
        </p:nvCxnSpPr>
        <p:spPr>
          <a:xfrm rot="10800000" flipV="1">
            <a:off x="4897248" y="5217720"/>
            <a:ext cx="12700" cy="610836"/>
          </a:xfrm>
          <a:prstGeom prst="bentConnector3">
            <a:avLst>
              <a:gd name="adj1" fmla="val 180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연결선: 꺾임 39">
            <a:extLst>
              <a:ext uri="{FF2B5EF4-FFF2-40B4-BE49-F238E27FC236}">
                <a16:creationId xmlns:a16="http://schemas.microsoft.com/office/drawing/2014/main" id="{74FCD58B-87A5-4281-8345-AD5887331DF9}"/>
              </a:ext>
            </a:extLst>
          </p:cNvPr>
          <p:cNvCxnSpPr>
            <a:stCxn id="32" idx="3"/>
            <a:endCxn id="34" idx="1"/>
          </p:cNvCxnSpPr>
          <p:nvPr/>
        </p:nvCxnSpPr>
        <p:spPr>
          <a:xfrm>
            <a:off x="5900468" y="5828556"/>
            <a:ext cx="363852" cy="690534"/>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연결선: 꺾임 41">
            <a:extLst>
              <a:ext uri="{FF2B5EF4-FFF2-40B4-BE49-F238E27FC236}">
                <a16:creationId xmlns:a16="http://schemas.microsoft.com/office/drawing/2014/main" id="{51A2D2DE-7F09-453A-AC58-DB0D0EC8C94D}"/>
              </a:ext>
            </a:extLst>
          </p:cNvPr>
          <p:cNvCxnSpPr>
            <a:stCxn id="32" idx="3"/>
            <a:endCxn id="33" idx="1"/>
          </p:cNvCxnSpPr>
          <p:nvPr/>
        </p:nvCxnSpPr>
        <p:spPr>
          <a:xfrm>
            <a:off x="5900468" y="5828556"/>
            <a:ext cx="363852" cy="12700"/>
          </a:xfrm>
          <a:prstGeom prst="bentConnector3">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직선 연결선 43">
            <a:extLst>
              <a:ext uri="{FF2B5EF4-FFF2-40B4-BE49-F238E27FC236}">
                <a16:creationId xmlns:a16="http://schemas.microsoft.com/office/drawing/2014/main" id="{E58664C1-D37C-4F8D-8DF2-B45503CB7D99}"/>
              </a:ext>
            </a:extLst>
          </p:cNvPr>
          <p:cNvCxnSpPr>
            <a:cxnSpLocks/>
          </p:cNvCxnSpPr>
          <p:nvPr/>
        </p:nvCxnSpPr>
        <p:spPr>
          <a:xfrm flipV="1">
            <a:off x="6135693" y="5218017"/>
            <a:ext cx="3326139"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7" name="직사각형 46">
            <a:extLst>
              <a:ext uri="{FF2B5EF4-FFF2-40B4-BE49-F238E27FC236}">
                <a16:creationId xmlns:a16="http://schemas.microsoft.com/office/drawing/2014/main" id="{FB99CA96-0630-4472-816D-C696A0EC1518}"/>
              </a:ext>
            </a:extLst>
          </p:cNvPr>
          <p:cNvSpPr/>
          <p:nvPr/>
        </p:nvSpPr>
        <p:spPr>
          <a:xfrm>
            <a:off x="6563875" y="5041278"/>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국내출원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50" name="직사각형 49">
            <a:extLst>
              <a:ext uri="{FF2B5EF4-FFF2-40B4-BE49-F238E27FC236}">
                <a16:creationId xmlns:a16="http://schemas.microsoft.com/office/drawing/2014/main" id="{548D521D-4BEC-4F8C-87EF-8658AFA1217F}"/>
              </a:ext>
            </a:extLst>
          </p:cNvPr>
          <p:cNvSpPr/>
          <p:nvPr/>
        </p:nvSpPr>
        <p:spPr>
          <a:xfrm>
            <a:off x="8062863" y="5041278"/>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취하간주</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cxnSp>
        <p:nvCxnSpPr>
          <p:cNvPr id="51" name="직선 연결선 50">
            <a:extLst>
              <a:ext uri="{FF2B5EF4-FFF2-40B4-BE49-F238E27FC236}">
                <a16:creationId xmlns:a16="http://schemas.microsoft.com/office/drawing/2014/main" id="{07E622E9-E503-4067-A247-82654DDCABD7}"/>
              </a:ext>
            </a:extLst>
          </p:cNvPr>
          <p:cNvCxnSpPr>
            <a:cxnSpLocks/>
          </p:cNvCxnSpPr>
          <p:nvPr/>
        </p:nvCxnSpPr>
        <p:spPr>
          <a:xfrm flipV="1">
            <a:off x="7798762" y="5827833"/>
            <a:ext cx="4178382"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2" name="직사각형 51">
            <a:extLst>
              <a:ext uri="{FF2B5EF4-FFF2-40B4-BE49-F238E27FC236}">
                <a16:creationId xmlns:a16="http://schemas.microsoft.com/office/drawing/2014/main" id="{F4C96B5A-6856-43A9-AB2C-9476128A4759}"/>
              </a:ext>
            </a:extLst>
          </p:cNvPr>
          <p:cNvSpPr/>
          <p:nvPr/>
        </p:nvSpPr>
        <p:spPr>
          <a:xfrm>
            <a:off x="8226944" y="5651091"/>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53" name="직사각형 52">
            <a:extLst>
              <a:ext uri="{FF2B5EF4-FFF2-40B4-BE49-F238E27FC236}">
                <a16:creationId xmlns:a16="http://schemas.microsoft.com/office/drawing/2014/main" id="{006442D2-F4FE-4B3A-A117-9B80F719CABF}"/>
              </a:ext>
            </a:extLst>
          </p:cNvPr>
          <p:cNvSpPr/>
          <p:nvPr/>
        </p:nvSpPr>
        <p:spPr>
          <a:xfrm>
            <a:off x="9725932" y="5651091"/>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국제공개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54" name="직사각형 53">
            <a:extLst>
              <a:ext uri="{FF2B5EF4-FFF2-40B4-BE49-F238E27FC236}">
                <a16:creationId xmlns:a16="http://schemas.microsoft.com/office/drawing/2014/main" id="{85410F6F-9E38-441B-9243-E4BFC3EB3525}"/>
              </a:ext>
            </a:extLst>
          </p:cNvPr>
          <p:cNvSpPr/>
          <p:nvPr/>
        </p:nvSpPr>
        <p:spPr>
          <a:xfrm>
            <a:off x="10769663" y="5651091"/>
            <a:ext cx="950306" cy="352883"/>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rPr>
              <a:t>국내단계진입</a:t>
            </a:r>
            <a:endPar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rPr>
              <a:t>여부와 무관</a:t>
            </a:r>
            <a:r>
              <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rPr>
              <a:t>(X)</a:t>
            </a:r>
            <a:endPar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58" name="양쪽 모서리가 둥근 사각형 22">
            <a:extLst>
              <a:ext uri="{FF2B5EF4-FFF2-40B4-BE49-F238E27FC236}">
                <a16:creationId xmlns:a16="http://schemas.microsoft.com/office/drawing/2014/main" id="{14A5C675-D905-4690-A3BD-97E9482D9C50}"/>
              </a:ext>
            </a:extLst>
          </p:cNvPr>
          <p:cNvSpPr/>
          <p:nvPr/>
        </p:nvSpPr>
        <p:spPr>
          <a:xfrm>
            <a:off x="9072534" y="6213902"/>
            <a:ext cx="1136153" cy="270770"/>
          </a:xfrm>
          <a:prstGeom prst="round2SameRect">
            <a:avLst>
              <a:gd name="adj1" fmla="val 50000"/>
              <a:gd name="adj2" fmla="val 0"/>
            </a:avLst>
          </a:prstGeom>
          <a:pattFill prst="lgGrid">
            <a:fgClr>
              <a:schemeClr val="accent2"/>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59" name="직선 연결선 58">
            <a:extLst>
              <a:ext uri="{FF2B5EF4-FFF2-40B4-BE49-F238E27FC236}">
                <a16:creationId xmlns:a16="http://schemas.microsoft.com/office/drawing/2014/main" id="{E05511A3-E6EF-49C5-8616-C1C1EEAE59FA}"/>
              </a:ext>
            </a:extLst>
          </p:cNvPr>
          <p:cNvCxnSpPr>
            <a:cxnSpLocks/>
          </p:cNvCxnSpPr>
          <p:nvPr/>
        </p:nvCxnSpPr>
        <p:spPr>
          <a:xfrm>
            <a:off x="7798762" y="6498409"/>
            <a:ext cx="4178382" cy="0"/>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직사각형 59">
            <a:extLst>
              <a:ext uri="{FF2B5EF4-FFF2-40B4-BE49-F238E27FC236}">
                <a16:creationId xmlns:a16="http://schemas.microsoft.com/office/drawing/2014/main" id="{1C85854B-675B-436C-889B-439E867A4386}"/>
              </a:ext>
            </a:extLst>
          </p:cNvPr>
          <p:cNvSpPr/>
          <p:nvPr/>
        </p:nvSpPr>
        <p:spPr>
          <a:xfrm>
            <a:off x="8226944" y="6321666"/>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61" name="직사각형 60">
            <a:extLst>
              <a:ext uri="{FF2B5EF4-FFF2-40B4-BE49-F238E27FC236}">
                <a16:creationId xmlns:a16="http://schemas.microsoft.com/office/drawing/2014/main" id="{B5971041-8D3E-4E47-B06F-27B00F81E240}"/>
              </a:ext>
            </a:extLst>
          </p:cNvPr>
          <p:cNvSpPr/>
          <p:nvPr/>
        </p:nvSpPr>
        <p:spPr>
          <a:xfrm>
            <a:off x="9725932" y="6321666"/>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국제공개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62" name="직사각형 61">
            <a:extLst>
              <a:ext uri="{FF2B5EF4-FFF2-40B4-BE49-F238E27FC236}">
                <a16:creationId xmlns:a16="http://schemas.microsoft.com/office/drawing/2014/main" id="{ED1A7F0E-84BC-491A-9ED4-A38A14DAE241}"/>
              </a:ext>
            </a:extLst>
          </p:cNvPr>
          <p:cNvSpPr/>
          <p:nvPr/>
        </p:nvSpPr>
        <p:spPr>
          <a:xfrm>
            <a:off x="10769663" y="6321666"/>
            <a:ext cx="950306" cy="352883"/>
          </a:xfrm>
          <a:prstGeom prst="rect">
            <a:avLst/>
          </a:prstGeom>
          <a:solidFill>
            <a:srgbClr val="FF0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rPr>
              <a:t>국내단계진입</a:t>
            </a:r>
            <a:r>
              <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rPr>
              <a:t>(X)</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900" b="0" i="0" u="none" strike="noStrike" kern="1200" cap="none" spc="0" normalizeH="0" baseline="0" noProof="0" dirty="0" err="1">
                <a:ln>
                  <a:noFill/>
                </a:ln>
                <a:solidFill>
                  <a:prstClr val="white"/>
                </a:solidFill>
                <a:effectLst/>
                <a:uLnTx/>
                <a:uFillTx/>
                <a:latin typeface="Frutiger LT 65 Bold"/>
                <a:ea typeface="Rix모던고딕 B"/>
                <a:cs typeface="+mn-cs"/>
              </a:rPr>
              <a:t>최종번역문확정</a:t>
            </a:r>
            <a:r>
              <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09" name="직사각형 108">
            <a:extLst>
              <a:ext uri="{FF2B5EF4-FFF2-40B4-BE49-F238E27FC236}">
                <a16:creationId xmlns:a16="http://schemas.microsoft.com/office/drawing/2014/main" id="{98FF27A6-5BB2-4627-BC80-58DE3751BB1C}"/>
              </a:ext>
            </a:extLst>
          </p:cNvPr>
          <p:cNvSpPr/>
          <p:nvPr/>
        </p:nvSpPr>
        <p:spPr>
          <a:xfrm>
            <a:off x="9214766" y="5257492"/>
            <a:ext cx="845591" cy="3528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원문</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0" name="직사각형 109">
            <a:extLst>
              <a:ext uri="{FF2B5EF4-FFF2-40B4-BE49-F238E27FC236}">
                <a16:creationId xmlns:a16="http://schemas.microsoft.com/office/drawing/2014/main" id="{CDDE869A-2256-4B8F-AE8A-A091C21B503E}"/>
              </a:ext>
            </a:extLst>
          </p:cNvPr>
          <p:cNvSpPr/>
          <p:nvPr/>
        </p:nvSpPr>
        <p:spPr>
          <a:xfrm>
            <a:off x="9214766" y="5938283"/>
            <a:ext cx="845591" cy="3528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원문</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2" name="직사각형 111">
            <a:extLst>
              <a:ext uri="{FF2B5EF4-FFF2-40B4-BE49-F238E27FC236}">
                <a16:creationId xmlns:a16="http://schemas.microsoft.com/office/drawing/2014/main" id="{577E3865-103E-487E-8B82-3B9A1B433714}"/>
              </a:ext>
            </a:extLst>
          </p:cNvPr>
          <p:cNvSpPr/>
          <p:nvPr/>
        </p:nvSpPr>
        <p:spPr>
          <a:xfrm>
            <a:off x="5048853" y="792301"/>
            <a:ext cx="3418872" cy="3528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최명도에 기재된 발명 중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최명도에 기재된 발명</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13" name="직사각형 112">
            <a:extLst>
              <a:ext uri="{FF2B5EF4-FFF2-40B4-BE49-F238E27FC236}">
                <a16:creationId xmlns:a16="http://schemas.microsoft.com/office/drawing/2014/main" id="{6BE14960-1CBE-4A44-BAF0-5DA6FFF7A812}"/>
              </a:ext>
            </a:extLst>
          </p:cNvPr>
          <p:cNvSpPr/>
          <p:nvPr/>
        </p:nvSpPr>
        <p:spPr>
          <a:xfrm>
            <a:off x="5533760" y="1536909"/>
            <a:ext cx="3418872" cy="3528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최명도에 기재된 발명 중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최명도에 기재되지 않은 발명</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2" name="양쪽 모서리가 둥근 사각형 85">
            <a:extLst>
              <a:ext uri="{FF2B5EF4-FFF2-40B4-BE49-F238E27FC236}">
                <a16:creationId xmlns:a16="http://schemas.microsoft.com/office/drawing/2014/main" id="{45A6189F-09FA-4B65-9956-6F664883646C}"/>
              </a:ext>
            </a:extLst>
          </p:cNvPr>
          <p:cNvSpPr/>
          <p:nvPr/>
        </p:nvSpPr>
        <p:spPr>
          <a:xfrm>
            <a:off x="6107654" y="2329063"/>
            <a:ext cx="2136206" cy="243579"/>
          </a:xfrm>
          <a:prstGeom prst="round2SameRect">
            <a:avLst>
              <a:gd name="adj1" fmla="val 0"/>
              <a:gd name="adj2" fmla="val 50000"/>
            </a:avLst>
          </a:prstGeom>
          <a:pattFill prst="pct20">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33" name="양쪽 모서리가 둥근 사각형 22">
            <a:extLst>
              <a:ext uri="{FF2B5EF4-FFF2-40B4-BE49-F238E27FC236}">
                <a16:creationId xmlns:a16="http://schemas.microsoft.com/office/drawing/2014/main" id="{1BBED629-5C89-4936-81CF-73186DC36A9F}"/>
              </a:ext>
            </a:extLst>
          </p:cNvPr>
          <p:cNvSpPr/>
          <p:nvPr/>
        </p:nvSpPr>
        <p:spPr>
          <a:xfrm>
            <a:off x="5030117" y="2036941"/>
            <a:ext cx="3213743" cy="309718"/>
          </a:xfrm>
          <a:prstGeom prst="round2SameRect">
            <a:avLst>
              <a:gd name="adj1" fmla="val 50000"/>
              <a:gd name="adj2" fmla="val 0"/>
            </a:avLst>
          </a:prstGeom>
          <a:pattFill prst="lg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134" name="직선 연결선 133">
            <a:extLst>
              <a:ext uri="{FF2B5EF4-FFF2-40B4-BE49-F238E27FC236}">
                <a16:creationId xmlns:a16="http://schemas.microsoft.com/office/drawing/2014/main" id="{C4DFD2FF-9E17-407D-A01D-5EA74A3C6226}"/>
              </a:ext>
            </a:extLst>
          </p:cNvPr>
          <p:cNvCxnSpPr>
            <a:cxnSpLocks/>
          </p:cNvCxnSpPr>
          <p:nvPr/>
        </p:nvCxnSpPr>
        <p:spPr>
          <a:xfrm flipV="1">
            <a:off x="4020692" y="2329452"/>
            <a:ext cx="7837933"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5" name="직사각형 134">
            <a:extLst>
              <a:ext uri="{FF2B5EF4-FFF2-40B4-BE49-F238E27FC236}">
                <a16:creationId xmlns:a16="http://schemas.microsoft.com/office/drawing/2014/main" id="{E47796A7-268E-4F41-B935-7D87832AEFDC}"/>
              </a:ext>
            </a:extLst>
          </p:cNvPr>
          <p:cNvSpPr/>
          <p:nvPr/>
        </p:nvSpPr>
        <p:spPr>
          <a:xfrm>
            <a:off x="4172649" y="2152711"/>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국내출원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136" name="직사각형 135">
            <a:extLst>
              <a:ext uri="{FF2B5EF4-FFF2-40B4-BE49-F238E27FC236}">
                <a16:creationId xmlns:a16="http://schemas.microsoft.com/office/drawing/2014/main" id="{DBE00D8F-0F88-4B7E-936B-89B8BEF81511}"/>
              </a:ext>
            </a:extLst>
          </p:cNvPr>
          <p:cNvSpPr/>
          <p:nvPr/>
        </p:nvSpPr>
        <p:spPr>
          <a:xfrm>
            <a:off x="5262062" y="2152711"/>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p>
        </p:txBody>
      </p:sp>
      <p:sp>
        <p:nvSpPr>
          <p:cNvPr id="137" name="직사각형 136">
            <a:extLst>
              <a:ext uri="{FF2B5EF4-FFF2-40B4-BE49-F238E27FC236}">
                <a16:creationId xmlns:a16="http://schemas.microsoft.com/office/drawing/2014/main" id="{B5F30BBE-767F-4F91-B6E2-7B15B1CB5050}"/>
              </a:ext>
            </a:extLst>
          </p:cNvPr>
          <p:cNvSpPr/>
          <p:nvPr/>
        </p:nvSpPr>
        <p:spPr>
          <a:xfrm>
            <a:off x="6426020" y="2152711"/>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취하간주</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138" name="직사각형 137">
            <a:extLst>
              <a:ext uri="{FF2B5EF4-FFF2-40B4-BE49-F238E27FC236}">
                <a16:creationId xmlns:a16="http://schemas.microsoft.com/office/drawing/2014/main" id="{9F933E82-E62F-451E-9A50-7CD5F7D4C194}"/>
              </a:ext>
            </a:extLst>
          </p:cNvPr>
          <p:cNvSpPr/>
          <p:nvPr/>
        </p:nvSpPr>
        <p:spPr>
          <a:xfrm>
            <a:off x="7782885" y="2152711"/>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국제공개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p>
        </p:txBody>
      </p:sp>
      <p:sp>
        <p:nvSpPr>
          <p:cNvPr id="139" name="직사각형 138">
            <a:extLst>
              <a:ext uri="{FF2B5EF4-FFF2-40B4-BE49-F238E27FC236}">
                <a16:creationId xmlns:a16="http://schemas.microsoft.com/office/drawing/2014/main" id="{39B0CF67-5E44-4F50-AEA2-32A3A1A3E7D0}"/>
              </a:ext>
            </a:extLst>
          </p:cNvPr>
          <p:cNvSpPr/>
          <p:nvPr/>
        </p:nvSpPr>
        <p:spPr>
          <a:xfrm>
            <a:off x="5048853" y="1763975"/>
            <a:ext cx="3418872" cy="3528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원문에 기재된 발명 중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최명도에 기재된 발명</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40" name="직사각형 139">
            <a:extLst>
              <a:ext uri="{FF2B5EF4-FFF2-40B4-BE49-F238E27FC236}">
                <a16:creationId xmlns:a16="http://schemas.microsoft.com/office/drawing/2014/main" id="{394075A2-1AA7-411B-AE7D-0FF2217A11D1}"/>
              </a:ext>
            </a:extLst>
          </p:cNvPr>
          <p:cNvSpPr/>
          <p:nvPr/>
        </p:nvSpPr>
        <p:spPr>
          <a:xfrm>
            <a:off x="5533760" y="2508583"/>
            <a:ext cx="3418872" cy="3528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원문에 기재된 발명 중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최명도에 기재되지 않은 발명</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42" name="직사각형 141">
            <a:extLst>
              <a:ext uri="{FF2B5EF4-FFF2-40B4-BE49-F238E27FC236}">
                <a16:creationId xmlns:a16="http://schemas.microsoft.com/office/drawing/2014/main" id="{3BDD2710-94DB-4CE0-A143-028E81BFB8FB}"/>
              </a:ext>
            </a:extLst>
          </p:cNvPr>
          <p:cNvSpPr/>
          <p:nvPr/>
        </p:nvSpPr>
        <p:spPr>
          <a:xfrm>
            <a:off x="10739099" y="2151428"/>
            <a:ext cx="950306" cy="352883"/>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rPr>
              <a:t>국내단계진입</a:t>
            </a:r>
            <a:r>
              <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rPr>
              <a:t>(Y)</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900" b="0" i="0" u="none" strike="noStrike" kern="1200" cap="none" spc="0" normalizeH="0" baseline="0" noProof="0" dirty="0" err="1">
                <a:ln>
                  <a:noFill/>
                </a:ln>
                <a:solidFill>
                  <a:prstClr val="white"/>
                </a:solidFill>
                <a:effectLst/>
                <a:uLnTx/>
                <a:uFillTx/>
                <a:latin typeface="Frutiger LT 65 Bold"/>
                <a:ea typeface="Rix모던고딕 B"/>
                <a:cs typeface="+mn-cs"/>
              </a:rPr>
              <a:t>최종번역문확정</a:t>
            </a:r>
            <a:r>
              <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45" name="양쪽 모서리가 둥근 사각형 85">
            <a:extLst>
              <a:ext uri="{FF2B5EF4-FFF2-40B4-BE49-F238E27FC236}">
                <a16:creationId xmlns:a16="http://schemas.microsoft.com/office/drawing/2014/main" id="{5DA54B66-122B-4920-BE8C-8D4F88FB3606}"/>
              </a:ext>
            </a:extLst>
          </p:cNvPr>
          <p:cNvSpPr/>
          <p:nvPr/>
        </p:nvSpPr>
        <p:spPr>
          <a:xfrm>
            <a:off x="6107654" y="3300908"/>
            <a:ext cx="2136206" cy="243579"/>
          </a:xfrm>
          <a:prstGeom prst="round2SameRect">
            <a:avLst>
              <a:gd name="adj1" fmla="val 0"/>
              <a:gd name="adj2" fmla="val 50000"/>
            </a:avLst>
          </a:prstGeom>
          <a:pattFill prst="pct20">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46" name="양쪽 모서리가 둥근 사각형 22">
            <a:extLst>
              <a:ext uri="{FF2B5EF4-FFF2-40B4-BE49-F238E27FC236}">
                <a16:creationId xmlns:a16="http://schemas.microsoft.com/office/drawing/2014/main" id="{E3D9F96D-FA45-4B5D-9CFB-C3B542C3A00B}"/>
              </a:ext>
            </a:extLst>
          </p:cNvPr>
          <p:cNvSpPr/>
          <p:nvPr/>
        </p:nvSpPr>
        <p:spPr>
          <a:xfrm>
            <a:off x="5030117" y="3008786"/>
            <a:ext cx="3213743" cy="309718"/>
          </a:xfrm>
          <a:prstGeom prst="round2SameRect">
            <a:avLst>
              <a:gd name="adj1" fmla="val 50000"/>
              <a:gd name="adj2" fmla="val 0"/>
            </a:avLst>
          </a:prstGeom>
          <a:pattFill prst="lg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147" name="직선 연결선 146">
            <a:extLst>
              <a:ext uri="{FF2B5EF4-FFF2-40B4-BE49-F238E27FC236}">
                <a16:creationId xmlns:a16="http://schemas.microsoft.com/office/drawing/2014/main" id="{CEF4D1B3-A547-441F-BF7B-49B4B54B284A}"/>
              </a:ext>
            </a:extLst>
          </p:cNvPr>
          <p:cNvCxnSpPr>
            <a:cxnSpLocks/>
          </p:cNvCxnSpPr>
          <p:nvPr/>
        </p:nvCxnSpPr>
        <p:spPr>
          <a:xfrm flipV="1">
            <a:off x="4020692" y="3301297"/>
            <a:ext cx="7837933"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8" name="직사각형 147">
            <a:extLst>
              <a:ext uri="{FF2B5EF4-FFF2-40B4-BE49-F238E27FC236}">
                <a16:creationId xmlns:a16="http://schemas.microsoft.com/office/drawing/2014/main" id="{08B2D1AE-4D44-46EC-BCDE-73398456B62B}"/>
              </a:ext>
            </a:extLst>
          </p:cNvPr>
          <p:cNvSpPr/>
          <p:nvPr/>
        </p:nvSpPr>
        <p:spPr>
          <a:xfrm>
            <a:off x="4172649" y="3124556"/>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149" name="직사각형 148">
            <a:extLst>
              <a:ext uri="{FF2B5EF4-FFF2-40B4-BE49-F238E27FC236}">
                <a16:creationId xmlns:a16="http://schemas.microsoft.com/office/drawing/2014/main" id="{133719A3-BF75-4563-BD94-48E232FFBA7F}"/>
              </a:ext>
            </a:extLst>
          </p:cNvPr>
          <p:cNvSpPr/>
          <p:nvPr/>
        </p:nvSpPr>
        <p:spPr>
          <a:xfrm>
            <a:off x="5262062" y="3124556"/>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국내출원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p>
        </p:txBody>
      </p:sp>
      <p:sp>
        <p:nvSpPr>
          <p:cNvPr id="151" name="직사각형 150">
            <a:extLst>
              <a:ext uri="{FF2B5EF4-FFF2-40B4-BE49-F238E27FC236}">
                <a16:creationId xmlns:a16="http://schemas.microsoft.com/office/drawing/2014/main" id="{ECCBA725-FCD9-4FA2-80F7-9CA8B70F602A}"/>
              </a:ext>
            </a:extLst>
          </p:cNvPr>
          <p:cNvSpPr/>
          <p:nvPr/>
        </p:nvSpPr>
        <p:spPr>
          <a:xfrm>
            <a:off x="7782885" y="3124556"/>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국제공개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출원공개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p>
        </p:txBody>
      </p:sp>
      <p:sp>
        <p:nvSpPr>
          <p:cNvPr id="152" name="직사각형 151">
            <a:extLst>
              <a:ext uri="{FF2B5EF4-FFF2-40B4-BE49-F238E27FC236}">
                <a16:creationId xmlns:a16="http://schemas.microsoft.com/office/drawing/2014/main" id="{96641309-39D2-4C8A-AE80-EB12B6414F10}"/>
              </a:ext>
            </a:extLst>
          </p:cNvPr>
          <p:cNvSpPr/>
          <p:nvPr/>
        </p:nvSpPr>
        <p:spPr>
          <a:xfrm>
            <a:off x="5048853" y="2735820"/>
            <a:ext cx="3418872" cy="3528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원문에 기재된 발명 중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최명도에 기재된 발명</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3" name="직사각형 152">
            <a:extLst>
              <a:ext uri="{FF2B5EF4-FFF2-40B4-BE49-F238E27FC236}">
                <a16:creationId xmlns:a16="http://schemas.microsoft.com/office/drawing/2014/main" id="{256BE850-4D8F-411D-96A9-34717D91B433}"/>
              </a:ext>
            </a:extLst>
          </p:cNvPr>
          <p:cNvSpPr/>
          <p:nvPr/>
        </p:nvSpPr>
        <p:spPr>
          <a:xfrm>
            <a:off x="5533760" y="3480428"/>
            <a:ext cx="3418872" cy="3528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원문에 기재된 발명 중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최명도에 기재되지 않은 발명</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5" name="직사각형 154">
            <a:extLst>
              <a:ext uri="{FF2B5EF4-FFF2-40B4-BE49-F238E27FC236}">
                <a16:creationId xmlns:a16="http://schemas.microsoft.com/office/drawing/2014/main" id="{48558FB8-1406-4FE7-A24B-BF90A24DBE0A}"/>
              </a:ext>
            </a:extLst>
          </p:cNvPr>
          <p:cNvSpPr/>
          <p:nvPr/>
        </p:nvSpPr>
        <p:spPr>
          <a:xfrm>
            <a:off x="8760887" y="3124556"/>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취하간주</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156" name="직사각형 155">
            <a:extLst>
              <a:ext uri="{FF2B5EF4-FFF2-40B4-BE49-F238E27FC236}">
                <a16:creationId xmlns:a16="http://schemas.microsoft.com/office/drawing/2014/main" id="{3E0723AC-6686-4199-ADF4-2C490B7771D6}"/>
              </a:ext>
            </a:extLst>
          </p:cNvPr>
          <p:cNvSpPr/>
          <p:nvPr/>
        </p:nvSpPr>
        <p:spPr>
          <a:xfrm>
            <a:off x="9683813" y="3124556"/>
            <a:ext cx="950306" cy="352883"/>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rPr>
              <a:t>국내단계진입</a:t>
            </a:r>
            <a:endPar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rPr>
              <a:t>여부와 무관</a:t>
            </a:r>
            <a:r>
              <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rPr>
              <a:t>(X)</a:t>
            </a:r>
            <a:endPar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57" name="말풍선: 모서리가 둥근 사각형 156">
            <a:extLst>
              <a:ext uri="{FF2B5EF4-FFF2-40B4-BE49-F238E27FC236}">
                <a16:creationId xmlns:a16="http://schemas.microsoft.com/office/drawing/2014/main" id="{69CDD28D-F284-42EC-BAAF-5D6BC240089D}"/>
              </a:ext>
            </a:extLst>
          </p:cNvPr>
          <p:cNvSpPr/>
          <p:nvPr/>
        </p:nvSpPr>
        <p:spPr>
          <a:xfrm>
            <a:off x="8952633" y="1639872"/>
            <a:ext cx="3083044" cy="377406"/>
          </a:xfrm>
          <a:prstGeom prst="wedgeRoundRectCallout">
            <a:avLst>
              <a:gd name="adj1" fmla="val 36546"/>
              <a:gd name="adj2" fmla="val 81048"/>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가 외국어인 경우 국내단계진입해야 하나</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국어인 경우 국내단계진입과 무관하게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확선지위 인정</a:t>
            </a:r>
          </a:p>
        </p:txBody>
      </p:sp>
      <p:sp>
        <p:nvSpPr>
          <p:cNvPr id="158" name="말풍선: 모서리가 둥근 사각형 157">
            <a:extLst>
              <a:ext uri="{FF2B5EF4-FFF2-40B4-BE49-F238E27FC236}">
                <a16:creationId xmlns:a16="http://schemas.microsoft.com/office/drawing/2014/main" id="{833F6544-CF3C-4964-928B-F43161674077}"/>
              </a:ext>
            </a:extLst>
          </p:cNvPr>
          <p:cNvSpPr/>
          <p:nvPr/>
        </p:nvSpPr>
        <p:spPr>
          <a:xfrm>
            <a:off x="9780686" y="2585565"/>
            <a:ext cx="1796408" cy="382296"/>
          </a:xfrm>
          <a:prstGeom prst="wedgeRoundRectCallout">
            <a:avLst>
              <a:gd name="adj1" fmla="val -40682"/>
              <a:gd name="adj2" fmla="val 87304"/>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국내단계진입과 무관하게 </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확선지위 인정</a:t>
            </a:r>
          </a:p>
        </p:txBody>
      </p:sp>
      <p:sp>
        <p:nvSpPr>
          <p:cNvPr id="159" name="양쪽 모서리가 둥근 사각형 85">
            <a:extLst>
              <a:ext uri="{FF2B5EF4-FFF2-40B4-BE49-F238E27FC236}">
                <a16:creationId xmlns:a16="http://schemas.microsoft.com/office/drawing/2014/main" id="{F5ACAFD9-0254-4F8E-9716-AE7E1A4EE9CA}"/>
              </a:ext>
            </a:extLst>
          </p:cNvPr>
          <p:cNvSpPr/>
          <p:nvPr/>
        </p:nvSpPr>
        <p:spPr>
          <a:xfrm>
            <a:off x="6107654" y="4253383"/>
            <a:ext cx="2136206" cy="243579"/>
          </a:xfrm>
          <a:prstGeom prst="round2SameRect">
            <a:avLst>
              <a:gd name="adj1" fmla="val 0"/>
              <a:gd name="adj2" fmla="val 50000"/>
            </a:avLst>
          </a:prstGeom>
          <a:pattFill prst="pct20">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160" name="양쪽 모서리가 둥근 사각형 22">
            <a:extLst>
              <a:ext uri="{FF2B5EF4-FFF2-40B4-BE49-F238E27FC236}">
                <a16:creationId xmlns:a16="http://schemas.microsoft.com/office/drawing/2014/main" id="{0ECE4366-FE96-4C3C-BBC9-F90B383E5668}"/>
              </a:ext>
            </a:extLst>
          </p:cNvPr>
          <p:cNvSpPr/>
          <p:nvPr/>
        </p:nvSpPr>
        <p:spPr>
          <a:xfrm>
            <a:off x="5030117" y="3961261"/>
            <a:ext cx="3213743" cy="309718"/>
          </a:xfrm>
          <a:prstGeom prst="round2SameRect">
            <a:avLst>
              <a:gd name="adj1" fmla="val 50000"/>
              <a:gd name="adj2" fmla="val 0"/>
            </a:avLst>
          </a:prstGeom>
          <a:pattFill prst="lgGrid">
            <a:fgClr>
              <a:schemeClr val="accent1"/>
            </a:fgClr>
            <a:bgClr>
              <a:schemeClr val="bg1"/>
            </a:bgClr>
          </a:patt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cxnSp>
        <p:nvCxnSpPr>
          <p:cNvPr id="161" name="직선 연결선 160">
            <a:extLst>
              <a:ext uri="{FF2B5EF4-FFF2-40B4-BE49-F238E27FC236}">
                <a16:creationId xmlns:a16="http://schemas.microsoft.com/office/drawing/2014/main" id="{68B3C8ED-36EC-4027-9D19-ED0ED5C202EE}"/>
              </a:ext>
            </a:extLst>
          </p:cNvPr>
          <p:cNvCxnSpPr>
            <a:cxnSpLocks/>
          </p:cNvCxnSpPr>
          <p:nvPr/>
        </p:nvCxnSpPr>
        <p:spPr>
          <a:xfrm flipV="1">
            <a:off x="4020692" y="4253772"/>
            <a:ext cx="7837933" cy="1"/>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2" name="직사각형 161">
            <a:extLst>
              <a:ext uri="{FF2B5EF4-FFF2-40B4-BE49-F238E27FC236}">
                <a16:creationId xmlns:a16="http://schemas.microsoft.com/office/drawing/2014/main" id="{F69926FF-FC7A-47EA-98F3-3E41B835E237}"/>
              </a:ext>
            </a:extLst>
          </p:cNvPr>
          <p:cNvSpPr/>
          <p:nvPr/>
        </p:nvSpPr>
        <p:spPr>
          <a:xfrm>
            <a:off x="4172649" y="4077031"/>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163" name="직사각형 162">
            <a:extLst>
              <a:ext uri="{FF2B5EF4-FFF2-40B4-BE49-F238E27FC236}">
                <a16:creationId xmlns:a16="http://schemas.microsoft.com/office/drawing/2014/main" id="{A061726C-A40D-4E0E-BF26-1BE75323A308}"/>
              </a:ext>
            </a:extLst>
          </p:cNvPr>
          <p:cNvSpPr/>
          <p:nvPr/>
        </p:nvSpPr>
        <p:spPr>
          <a:xfrm>
            <a:off x="5262062" y="4077031"/>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출원</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p>
        </p:txBody>
      </p:sp>
      <p:sp>
        <p:nvSpPr>
          <p:cNvPr id="164" name="직사각형 163">
            <a:extLst>
              <a:ext uri="{FF2B5EF4-FFF2-40B4-BE49-F238E27FC236}">
                <a16:creationId xmlns:a16="http://schemas.microsoft.com/office/drawing/2014/main" id="{A77273EA-E55D-4E5F-BB24-36C51C4142D1}"/>
              </a:ext>
            </a:extLst>
          </p:cNvPr>
          <p:cNvSpPr/>
          <p:nvPr/>
        </p:nvSpPr>
        <p:spPr>
          <a:xfrm>
            <a:off x="7782885" y="4077031"/>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국제공개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국제공개</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a:t>
            </a:r>
          </a:p>
        </p:txBody>
      </p:sp>
      <p:sp>
        <p:nvSpPr>
          <p:cNvPr id="165" name="직사각형 164">
            <a:extLst>
              <a:ext uri="{FF2B5EF4-FFF2-40B4-BE49-F238E27FC236}">
                <a16:creationId xmlns:a16="http://schemas.microsoft.com/office/drawing/2014/main" id="{6B19C865-2ED7-413A-9BA4-422CF2C64F34}"/>
              </a:ext>
            </a:extLst>
          </p:cNvPr>
          <p:cNvSpPr/>
          <p:nvPr/>
        </p:nvSpPr>
        <p:spPr>
          <a:xfrm>
            <a:off x="5048853" y="3688295"/>
            <a:ext cx="3418872" cy="3528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원문에 기재된 발명 중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원문에 기재된 발명</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66" name="직사각형 165">
            <a:extLst>
              <a:ext uri="{FF2B5EF4-FFF2-40B4-BE49-F238E27FC236}">
                <a16:creationId xmlns:a16="http://schemas.microsoft.com/office/drawing/2014/main" id="{10447D06-C11A-47A9-A979-3B9E633652F5}"/>
              </a:ext>
            </a:extLst>
          </p:cNvPr>
          <p:cNvSpPr/>
          <p:nvPr/>
        </p:nvSpPr>
        <p:spPr>
          <a:xfrm>
            <a:off x="5533760" y="4432903"/>
            <a:ext cx="3418872" cy="3528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Y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원문에 기재된 발명 중 </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원문에 기재되지 않은 발명</a:t>
            </a:r>
            <a:endPar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67" name="직사각형 166">
            <a:extLst>
              <a:ext uri="{FF2B5EF4-FFF2-40B4-BE49-F238E27FC236}">
                <a16:creationId xmlns:a16="http://schemas.microsoft.com/office/drawing/2014/main" id="{79498B98-479A-4784-AC9B-FF6A6336E7C3}"/>
              </a:ext>
            </a:extLst>
          </p:cNvPr>
          <p:cNvSpPr/>
          <p:nvPr/>
        </p:nvSpPr>
        <p:spPr>
          <a:xfrm>
            <a:off x="8732312" y="4077031"/>
            <a:ext cx="845591" cy="352883"/>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취하간주</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p>
        </p:txBody>
      </p:sp>
      <p:sp>
        <p:nvSpPr>
          <p:cNvPr id="168" name="직사각형 167">
            <a:extLst>
              <a:ext uri="{FF2B5EF4-FFF2-40B4-BE49-F238E27FC236}">
                <a16:creationId xmlns:a16="http://schemas.microsoft.com/office/drawing/2014/main" id="{CDA1B6EB-D09B-4BF8-B03E-484AF14EE827}"/>
              </a:ext>
            </a:extLst>
          </p:cNvPr>
          <p:cNvSpPr/>
          <p:nvPr/>
        </p:nvSpPr>
        <p:spPr>
          <a:xfrm>
            <a:off x="9683813" y="4077031"/>
            <a:ext cx="950306" cy="352883"/>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rPr>
              <a:t>국내단계진입</a:t>
            </a:r>
            <a:endPar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rPr>
              <a:t>여부와 무관</a:t>
            </a:r>
            <a:r>
              <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rPr>
              <a:t>(X)</a:t>
            </a:r>
            <a:endPar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70" name="직사각형 169">
            <a:extLst>
              <a:ext uri="{FF2B5EF4-FFF2-40B4-BE49-F238E27FC236}">
                <a16:creationId xmlns:a16="http://schemas.microsoft.com/office/drawing/2014/main" id="{F90FE05D-7993-4DB8-8C8D-2E2CB73AE39A}"/>
              </a:ext>
            </a:extLst>
          </p:cNvPr>
          <p:cNvSpPr/>
          <p:nvPr/>
        </p:nvSpPr>
        <p:spPr>
          <a:xfrm>
            <a:off x="10739099" y="4086711"/>
            <a:ext cx="950306" cy="352883"/>
          </a:xfrm>
          <a:prstGeom prst="rect">
            <a:avLst/>
          </a:prstGeom>
          <a:solidFill>
            <a:schemeClr val="accent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rPr>
              <a:t>국내단계진입</a:t>
            </a:r>
            <a:r>
              <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rPr>
              <a:t>(Y)</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rPr>
              <a:t>(</a:t>
            </a:r>
            <a:r>
              <a:rPr kumimoji="0" lang="ko-KR" altLang="en-US" sz="900" b="0" i="0" u="none" strike="noStrike" kern="1200" cap="none" spc="0" normalizeH="0" baseline="0" noProof="0" dirty="0" err="1">
                <a:ln>
                  <a:noFill/>
                </a:ln>
                <a:solidFill>
                  <a:prstClr val="white"/>
                </a:solidFill>
                <a:effectLst/>
                <a:uLnTx/>
                <a:uFillTx/>
                <a:latin typeface="Frutiger LT 65 Bold"/>
                <a:ea typeface="Rix모던고딕 B"/>
                <a:cs typeface="+mn-cs"/>
              </a:rPr>
              <a:t>최종번역문확정</a:t>
            </a:r>
            <a:r>
              <a:rPr kumimoji="0" lang="en-US" altLang="ko-KR" sz="900" b="0" i="0" u="none" strike="noStrike" kern="1200" cap="none" spc="0" normalizeH="0" baseline="0" noProof="0" dirty="0">
                <a:ln>
                  <a:noFill/>
                </a:ln>
                <a:solidFill>
                  <a:prstClr val="white"/>
                </a:solidFill>
                <a:effectLst/>
                <a:uLnTx/>
                <a:uFillTx/>
                <a:latin typeface="Frutiger LT 65 Bold"/>
                <a:ea typeface="Rix모던고딕 B"/>
                <a:cs typeface="+mn-cs"/>
              </a:rPr>
              <a:t>)</a:t>
            </a:r>
            <a:endParaRPr kumimoji="0" lang="ko-KR" altLang="en-US" sz="900" b="0" i="0" u="none" strike="noStrike" kern="1200" cap="none" spc="0" normalizeH="0" baseline="0" noProof="0" dirty="0">
              <a:ln>
                <a:noFill/>
              </a:ln>
              <a:solidFill>
                <a:prstClr val="white"/>
              </a:solidFill>
              <a:effectLst/>
              <a:uLnTx/>
              <a:uFillTx/>
              <a:latin typeface="Frutiger LT 65 Bold"/>
              <a:ea typeface="Rix모던고딕 B"/>
              <a:cs typeface="+mn-cs"/>
            </a:endParaRPr>
          </a:p>
        </p:txBody>
      </p:sp>
      <p:sp>
        <p:nvSpPr>
          <p:cNvPr id="171" name="말풍선: 모서리가 둥근 사각형 170">
            <a:extLst>
              <a:ext uri="{FF2B5EF4-FFF2-40B4-BE49-F238E27FC236}">
                <a16:creationId xmlns:a16="http://schemas.microsoft.com/office/drawing/2014/main" id="{6A905468-773E-4E45-A5CA-091BEB2EA81A}"/>
              </a:ext>
            </a:extLst>
          </p:cNvPr>
          <p:cNvSpPr/>
          <p:nvPr/>
        </p:nvSpPr>
        <p:spPr>
          <a:xfrm>
            <a:off x="9780686" y="3613368"/>
            <a:ext cx="1796408" cy="382296"/>
          </a:xfrm>
          <a:prstGeom prst="wedgeRoundRectCallout">
            <a:avLst>
              <a:gd name="adj1" fmla="val -41742"/>
              <a:gd name="adj2" fmla="val -79628"/>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X</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의 경우</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국어인 경우에 한해</a:t>
            </a:r>
            <a:r>
              <a:rPr kumimoji="0" lang="en-US" altLang="ko-KR" sz="10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000" b="0" i="0" u="none" strike="noStrike" kern="1200" cap="none" spc="0" normalizeH="0" baseline="0" noProof="0" dirty="0" err="1">
                <a:ln>
                  <a:noFill/>
                </a:ln>
                <a:solidFill>
                  <a:prstClr val="black"/>
                </a:solidFill>
                <a:effectLst/>
                <a:uLnTx/>
                <a:uFillTx/>
                <a:latin typeface="Frutiger LT 65 Bold"/>
                <a:ea typeface="Rix모던고딕 B"/>
                <a:cs typeface="+mn-cs"/>
              </a:rPr>
              <a:t>확선의</a:t>
            </a:r>
            <a:r>
              <a:rPr kumimoji="0" lang="ko-KR" altLang="en-US" sz="1000" b="0" i="0" u="none" strike="noStrike" kern="1200" cap="none" spc="0" normalizeH="0" baseline="0" noProof="0" dirty="0">
                <a:ln>
                  <a:noFill/>
                </a:ln>
                <a:solidFill>
                  <a:prstClr val="black"/>
                </a:solidFill>
                <a:effectLst/>
                <a:uLnTx/>
                <a:uFillTx/>
                <a:latin typeface="Frutiger LT 65 Bold"/>
                <a:ea typeface="Rix모던고딕 B"/>
                <a:cs typeface="+mn-cs"/>
              </a:rPr>
              <a:t> 지위 인정</a:t>
            </a:r>
          </a:p>
        </p:txBody>
      </p:sp>
      <p:sp>
        <p:nvSpPr>
          <p:cNvPr id="175" name="직사각형 174">
            <a:extLst>
              <a:ext uri="{FF2B5EF4-FFF2-40B4-BE49-F238E27FC236}">
                <a16:creationId xmlns:a16="http://schemas.microsoft.com/office/drawing/2014/main" id="{7CBC5441-43FC-4AA9-88A7-5632AD9CB074}"/>
              </a:ext>
            </a:extLst>
          </p:cNvPr>
          <p:cNvSpPr/>
          <p:nvPr/>
        </p:nvSpPr>
        <p:spPr>
          <a:xfrm>
            <a:off x="171450" y="4785786"/>
            <a:ext cx="3832332" cy="1294766"/>
          </a:xfrm>
          <a:prstGeom prst="rect">
            <a:avLst/>
          </a:prstGeom>
          <a:noFill/>
          <a:ln w="571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77" name="연결선: 꺾임 176">
            <a:extLst>
              <a:ext uri="{FF2B5EF4-FFF2-40B4-BE49-F238E27FC236}">
                <a16:creationId xmlns:a16="http://schemas.microsoft.com/office/drawing/2014/main" id="{6F287838-4FA0-4D45-A1CB-80F81373CD1E}"/>
              </a:ext>
            </a:extLst>
          </p:cNvPr>
          <p:cNvCxnSpPr>
            <a:stCxn id="29" idx="0"/>
            <a:endCxn id="90" idx="1"/>
          </p:cNvCxnSpPr>
          <p:nvPr/>
        </p:nvCxnSpPr>
        <p:spPr>
          <a:xfrm rot="16200000" flipV="1">
            <a:off x="249898" y="2941345"/>
            <a:ext cx="2937684" cy="1733148"/>
          </a:xfrm>
          <a:prstGeom prst="bentConnector4">
            <a:avLst>
              <a:gd name="adj1" fmla="val 8175"/>
              <a:gd name="adj2" fmla="val 11319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연결선: 꺾임 179">
            <a:extLst>
              <a:ext uri="{FF2B5EF4-FFF2-40B4-BE49-F238E27FC236}">
                <a16:creationId xmlns:a16="http://schemas.microsoft.com/office/drawing/2014/main" id="{75909C78-0500-4D30-B822-3CB6352EB959}"/>
              </a:ext>
            </a:extLst>
          </p:cNvPr>
          <p:cNvCxnSpPr>
            <a:stCxn id="29" idx="0"/>
            <a:endCxn id="71" idx="1"/>
          </p:cNvCxnSpPr>
          <p:nvPr/>
        </p:nvCxnSpPr>
        <p:spPr>
          <a:xfrm rot="16200000" flipV="1">
            <a:off x="-241940" y="2449507"/>
            <a:ext cx="3921361" cy="1733148"/>
          </a:xfrm>
          <a:prstGeom prst="bentConnector4">
            <a:avLst>
              <a:gd name="adj1" fmla="val 6036"/>
              <a:gd name="adj2" fmla="val 11319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3" name="연결선: 꺾임 182">
            <a:extLst>
              <a:ext uri="{FF2B5EF4-FFF2-40B4-BE49-F238E27FC236}">
                <a16:creationId xmlns:a16="http://schemas.microsoft.com/office/drawing/2014/main" id="{DD594EE4-1912-4F11-880B-FF2BEAC96903}"/>
              </a:ext>
            </a:extLst>
          </p:cNvPr>
          <p:cNvCxnSpPr>
            <a:stCxn id="99" idx="1"/>
            <a:endCxn id="93" idx="1"/>
          </p:cNvCxnSpPr>
          <p:nvPr/>
        </p:nvCxnSpPr>
        <p:spPr>
          <a:xfrm rot="10800000">
            <a:off x="852166" y="3320308"/>
            <a:ext cx="12700" cy="960951"/>
          </a:xfrm>
          <a:prstGeom prst="bentConnector3">
            <a:avLst>
              <a:gd name="adj1" fmla="val 1950000"/>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89" name="자유형: 도형 188">
            <a:extLst>
              <a:ext uri="{FF2B5EF4-FFF2-40B4-BE49-F238E27FC236}">
                <a16:creationId xmlns:a16="http://schemas.microsoft.com/office/drawing/2014/main" id="{6A0F84BF-5361-4FED-BB24-053394F5AB19}"/>
              </a:ext>
            </a:extLst>
          </p:cNvPr>
          <p:cNvSpPr/>
          <p:nvPr/>
        </p:nvSpPr>
        <p:spPr>
          <a:xfrm>
            <a:off x="1238250" y="5514975"/>
            <a:ext cx="3448050" cy="923925"/>
          </a:xfrm>
          <a:custGeom>
            <a:avLst/>
            <a:gdLst>
              <a:gd name="connsiteX0" fmla="*/ 0 w 3448050"/>
              <a:gd name="connsiteY0" fmla="*/ 57150 h 923925"/>
              <a:gd name="connsiteX1" fmla="*/ 0 w 3448050"/>
              <a:gd name="connsiteY1" fmla="*/ 923925 h 923925"/>
              <a:gd name="connsiteX2" fmla="*/ 3095625 w 3448050"/>
              <a:gd name="connsiteY2" fmla="*/ 923925 h 923925"/>
              <a:gd name="connsiteX3" fmla="*/ 3095625 w 3448050"/>
              <a:gd name="connsiteY3" fmla="*/ 0 h 923925"/>
              <a:gd name="connsiteX4" fmla="*/ 3448050 w 3448050"/>
              <a:gd name="connsiteY4" fmla="*/ 0 h 923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050" h="923925">
                <a:moveTo>
                  <a:pt x="0" y="57150"/>
                </a:moveTo>
                <a:lnTo>
                  <a:pt x="0" y="923925"/>
                </a:lnTo>
                <a:lnTo>
                  <a:pt x="3095625" y="923925"/>
                </a:lnTo>
                <a:lnTo>
                  <a:pt x="3095625" y="0"/>
                </a:lnTo>
                <a:lnTo>
                  <a:pt x="3448050" y="0"/>
                </a:lnTo>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cxnSp>
        <p:nvCxnSpPr>
          <p:cNvPr id="191" name="직선 화살표 연결선 190">
            <a:extLst>
              <a:ext uri="{FF2B5EF4-FFF2-40B4-BE49-F238E27FC236}">
                <a16:creationId xmlns:a16="http://schemas.microsoft.com/office/drawing/2014/main" id="{C837CEED-EA2B-4E30-89A4-BD961BECCD97}"/>
              </a:ext>
            </a:extLst>
          </p:cNvPr>
          <p:cNvCxnSpPr>
            <a:cxnSpLocks/>
            <a:stCxn id="33" idx="3"/>
            <a:endCxn id="171" idx="1"/>
          </p:cNvCxnSpPr>
          <p:nvPr/>
        </p:nvCxnSpPr>
        <p:spPr>
          <a:xfrm flipV="1">
            <a:off x="7551395" y="3804516"/>
            <a:ext cx="2229291" cy="2024040"/>
          </a:xfrm>
          <a:prstGeom prst="straightConnector1">
            <a:avLst/>
          </a:prstGeom>
          <a:ln w="28575">
            <a:solidFill>
              <a:srgbClr val="FF0000"/>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84847212"/>
      </p:ext>
    </p:extLst>
  </p:cSld>
  <p:clrMapOvr>
    <a:masterClrMapping/>
  </p:clrMapOvr>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206</a:t>
            </a:r>
            <a:r>
              <a:rPr lang="ko-KR" altLang="en-US" dirty="0"/>
              <a:t>조</a:t>
            </a:r>
          </a:p>
        </p:txBody>
      </p:sp>
      <p:sp>
        <p:nvSpPr>
          <p:cNvPr id="4" name="텍스트 개체 틀 3"/>
          <p:cNvSpPr>
            <a:spLocks noGrp="1"/>
          </p:cNvSpPr>
          <p:nvPr>
            <p:ph type="body" sz="quarter" idx="13"/>
          </p:nvPr>
        </p:nvSpPr>
        <p:spPr/>
        <p:txBody>
          <a:bodyPr/>
          <a:lstStyle/>
          <a:p>
            <a:r>
              <a:rPr lang="ko-KR" altLang="en-US" dirty="0"/>
              <a:t>재외자의 특허관리인의 특례</a:t>
            </a:r>
          </a:p>
        </p:txBody>
      </p:sp>
      <p:sp>
        <p:nvSpPr>
          <p:cNvPr id="26" name="TextBox 25"/>
          <p:cNvSpPr txBox="1"/>
          <p:nvPr/>
        </p:nvSpPr>
        <p:spPr>
          <a:xfrm>
            <a:off x="1" y="976902"/>
            <a:ext cx="12192000" cy="1169551"/>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206</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재외자의 특허관리인의 특례</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재외자인 국제특허출원의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출원인은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기준일까지는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5</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항에도 불구하고 특허관리인에 의하지 아니하고 특허에 관한 절차를 밟을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②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국어번역문을 제출한 재외자는 총리령으로 정하는 기간에 특허관리인을 선임하여 지식재산처장에게 신고하여야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선임신고가 없으면 그 국제특허출원은 취하된 것으로 본다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endParaRPr>
          </a:p>
        </p:txBody>
      </p:sp>
      <p:cxnSp>
        <p:nvCxnSpPr>
          <p:cNvPr id="48" name="직선 연결선 47"/>
          <p:cNvCxnSpPr/>
          <p:nvPr/>
        </p:nvCxnSpPr>
        <p:spPr>
          <a:xfrm>
            <a:off x="77875" y="1939034"/>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직사각형 4"/>
          <p:cNvSpPr/>
          <p:nvPr/>
        </p:nvSpPr>
        <p:spPr>
          <a:xfrm>
            <a:off x="77874" y="2028041"/>
            <a:ext cx="12012525" cy="738664"/>
          </a:xfrm>
          <a:prstGeom prst="rect">
            <a:avLst/>
          </a:prstGeom>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5</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재외자의 특허관리인</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국내에 주소 또는 영업소가 없는 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이하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재외자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는 재외자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법인의 경우에는 그 대표자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가 국내에 체류하는 경우를 제외하고는 그 재외자의 특허에 관한 대리인으로서 국내에 주소 또는 영업소가 있는 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이하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특허관리인</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의해서만 특허에 관한 절차를 밟거나 이 법 또는 이 법에 따른 명령에 따라 행정청이 한 처분에 대하여 소</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訴</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를 제기할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585</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4114951863"/>
      </p:ext>
    </p:extLst>
  </p:cSld>
  <p:clrMapOvr>
    <a:masterClrMapping/>
  </p:clrMapOvr>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 name="직사각형 101"/>
          <p:cNvSpPr/>
          <p:nvPr/>
        </p:nvSpPr>
        <p:spPr>
          <a:xfrm>
            <a:off x="4914112" y="5540945"/>
            <a:ext cx="6668288" cy="964386"/>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이후 보상금청구권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발생가능</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5" name="양쪽 모서리가 둥근 사각형 64"/>
          <p:cNvSpPr/>
          <p:nvPr/>
        </p:nvSpPr>
        <p:spPr>
          <a:xfrm>
            <a:off x="5501414" y="3806105"/>
            <a:ext cx="5471386" cy="404667"/>
          </a:xfrm>
          <a:prstGeom prst="round2SameRect">
            <a:avLst>
              <a:gd name="adj1" fmla="val 50000"/>
              <a:gd name="adj2" fmla="val 0"/>
            </a:avLst>
          </a:prstGeom>
          <a:pattFill prst="lgGrid">
            <a:fgClr>
              <a:schemeClr val="accent4">
                <a:lumMod val="75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66" name="직사각형 65"/>
          <p:cNvSpPr/>
          <p:nvPr/>
        </p:nvSpPr>
        <p:spPr>
          <a:xfrm>
            <a:off x="6415814" y="3603233"/>
            <a:ext cx="2886992" cy="1517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31</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개월</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국내서면제출기간의 만료일</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 name="제목 3"/>
          <p:cNvSpPr>
            <a:spLocks noGrp="1"/>
          </p:cNvSpPr>
          <p:nvPr>
            <p:ph type="title"/>
          </p:nvPr>
        </p:nvSpPr>
        <p:spPr/>
        <p:txBody>
          <a:bodyPr/>
          <a:lstStyle/>
          <a:p>
            <a:r>
              <a:rPr lang="ko-KR" altLang="en-US" dirty="0"/>
              <a:t>제</a:t>
            </a:r>
            <a:r>
              <a:rPr lang="en-US" altLang="ko-KR" dirty="0"/>
              <a:t>207</a:t>
            </a:r>
            <a:r>
              <a:rPr lang="ko-KR" altLang="en-US" dirty="0"/>
              <a:t>조</a:t>
            </a:r>
          </a:p>
        </p:txBody>
      </p:sp>
      <p:sp>
        <p:nvSpPr>
          <p:cNvPr id="5" name="텍스트 개체 틀 4"/>
          <p:cNvSpPr>
            <a:spLocks noGrp="1"/>
          </p:cNvSpPr>
          <p:nvPr>
            <p:ph type="body" sz="quarter" idx="13"/>
          </p:nvPr>
        </p:nvSpPr>
        <p:spPr/>
        <p:txBody>
          <a:bodyPr/>
          <a:lstStyle/>
          <a:p>
            <a:r>
              <a:rPr lang="ko-KR" altLang="en-US" dirty="0"/>
              <a:t>출원공개시기 및 효과의 특례</a:t>
            </a:r>
          </a:p>
        </p:txBody>
      </p:sp>
      <p:cxnSp>
        <p:nvCxnSpPr>
          <p:cNvPr id="6" name="직선 연결선 5"/>
          <p:cNvCxnSpPr/>
          <p:nvPr/>
        </p:nvCxnSpPr>
        <p:spPr>
          <a:xfrm>
            <a:off x="77875" y="3439115"/>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77875" y="976902"/>
            <a:ext cx="11936323" cy="2462213"/>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207</a:t>
            </a: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Rix모던고딕 B"/>
                <a:ea typeface="Rix모던고딕 B"/>
                <a:cs typeface="+mn-cs"/>
              </a:rPr>
              <a:t>출원공개시기 및 효과의 특례</a:t>
            </a:r>
            <a:r>
              <a:rPr kumimoji="0" lang="en-US" altLang="ko-KR" sz="1400" b="1" i="0" u="none" strike="noStrike" kern="1200" cap="none" spc="0" normalizeH="0" baseline="0" noProof="0" dirty="0">
                <a:ln>
                  <a:noFill/>
                </a:ln>
                <a:solidFill>
                  <a:srgbClr val="5B9BD5"/>
                </a:solidFill>
                <a:effectLst/>
                <a:uLnTx/>
                <a:uFillTx/>
                <a:latin typeface="Rix모던고딕 B"/>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출원공개에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관하여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64</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항을 적용하는 경우에는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다음 각 호의 구분에 따른 날부터 </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년 </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6</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개월이 지난 후</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는 </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국내서면제출기간</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201</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조제</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항 각 호 외의 부분 단서에 따라 국어번역문의 제출기간을 연장해 달라는 취지를 적은 서면이 제출된 경우에는 연장된 </a:t>
            </a:r>
            <a:r>
              <a:rPr kumimoji="0" lang="ko-KR" altLang="en-US" sz="1400" b="0" i="0" u="none" strike="noStrike" kern="1200" cap="none" spc="0" normalizeH="0" baseline="0" noProof="0" dirty="0" err="1">
                <a:ln>
                  <a:noFill/>
                </a:ln>
                <a:solidFill>
                  <a:srgbClr val="ED7D31"/>
                </a:solidFill>
                <a:effectLst/>
                <a:uLnTx/>
                <a:uFillTx/>
                <a:latin typeface="Rix모던고딕 B"/>
                <a:ea typeface="Rix모던고딕 B"/>
                <a:cs typeface="+mn-cs"/>
              </a:rPr>
              <a:t>국어번역문</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 제출 기간을 말한다</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이하 이 항에서 같다</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이 지난 후</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국내서면제출기간에 </a:t>
            </a:r>
            <a:r>
              <a:rPr kumimoji="0" lang="ko-KR" altLang="en-US" sz="1400" b="0" i="0" u="none" strike="noStrike" kern="1200" cap="none" spc="0" normalizeH="0" baseline="0" noProof="0" dirty="0" err="1">
                <a:ln>
                  <a:noFill/>
                </a:ln>
                <a:solidFill>
                  <a:srgbClr val="ED7D31"/>
                </a:solidFill>
                <a:effectLst/>
                <a:uLnTx/>
                <a:uFillTx/>
                <a:latin typeface="Rix모던고딕 B"/>
                <a:ea typeface="Rix모던고딕 B"/>
                <a:cs typeface="+mn-cs"/>
              </a:rPr>
              <a:t>출원인이</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 </a:t>
            </a:r>
            <a:r>
              <a:rPr kumimoji="0" lang="ko-KR" altLang="en-US" sz="1400" b="0" i="0" u="none" strike="noStrike" kern="1200" cap="none" spc="0" normalizeH="0" baseline="0" noProof="0" dirty="0" err="1">
                <a:ln>
                  <a:noFill/>
                </a:ln>
                <a:solidFill>
                  <a:srgbClr val="ED7D31"/>
                </a:solidFill>
                <a:effectLst/>
                <a:uLnTx/>
                <a:uFillTx/>
                <a:latin typeface="Rix모던고딕 B"/>
                <a:ea typeface="Rix모던고딕 B"/>
                <a:cs typeface="+mn-cs"/>
              </a:rPr>
              <a:t>출원심사의</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 청구를 한 </a:t>
            </a:r>
            <a:r>
              <a:rPr kumimoji="0" lang="ko-KR" altLang="en-US" sz="1400" b="0" i="0" u="none" strike="noStrike" kern="1200" cap="none" spc="0" normalizeH="0" baseline="0" noProof="0" dirty="0" err="1">
                <a:ln>
                  <a:noFill/>
                </a:ln>
                <a:solidFill>
                  <a:srgbClr val="ED7D31"/>
                </a:solidFill>
                <a:effectLst/>
                <a:uLnTx/>
                <a:uFillTx/>
                <a:latin typeface="Rix모던고딕 B"/>
                <a:ea typeface="Rix모던고딕 B"/>
                <a:cs typeface="+mn-cs"/>
              </a:rPr>
              <a:t>국제특허출원으로서</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 「특허협력조약」 제</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21</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조에 따라 </a:t>
            </a:r>
            <a:r>
              <a:rPr kumimoji="0" lang="ko-KR" altLang="en-US" sz="1400" b="0" i="0" u="none" strike="noStrike" kern="1200" cap="none" spc="0" normalizeH="0" baseline="0" noProof="0" dirty="0" err="1">
                <a:ln>
                  <a:noFill/>
                </a:ln>
                <a:solidFill>
                  <a:srgbClr val="ED7D31"/>
                </a:solidFill>
                <a:effectLst/>
                <a:uLnTx/>
                <a:uFillTx/>
                <a:latin typeface="Rix모던고딕 B"/>
                <a:ea typeface="Rix모던고딕 B"/>
                <a:cs typeface="+mn-cs"/>
              </a:rPr>
              <a:t>국제공개된</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 경우에는 </a:t>
            </a:r>
            <a:r>
              <a:rPr kumimoji="0" lang="ko-KR" altLang="en-US" sz="1400" b="0" i="0" u="none" strike="noStrike" kern="1200" cap="none" spc="0" normalizeH="0" baseline="0" noProof="0" dirty="0" err="1">
                <a:ln>
                  <a:noFill/>
                </a:ln>
                <a:solidFill>
                  <a:srgbClr val="ED7D31"/>
                </a:solidFill>
                <a:effectLst/>
                <a:uLnTx/>
                <a:uFillTx/>
                <a:latin typeface="Rix모던고딕 B"/>
                <a:ea typeface="Rix모던고딕 B"/>
                <a:cs typeface="+mn-cs"/>
              </a:rPr>
              <a:t>우선일부터</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 </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년 </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6</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개월이 되는 날 또는 </a:t>
            </a:r>
            <a:r>
              <a:rPr kumimoji="0" lang="ko-KR" altLang="en-US" sz="1400" b="0" i="0" u="none" strike="noStrike" kern="1200" cap="none" spc="0" normalizeH="0" baseline="0" noProof="0" dirty="0" err="1">
                <a:ln>
                  <a:noFill/>
                </a:ln>
                <a:solidFill>
                  <a:srgbClr val="ED7D31"/>
                </a:solidFill>
                <a:effectLst/>
                <a:uLnTx/>
                <a:uFillTx/>
                <a:latin typeface="Rix모던고딕 B"/>
                <a:ea typeface="Rix모던고딕 B"/>
                <a:cs typeface="+mn-cs"/>
              </a:rPr>
              <a:t>출원심사의</a:t>
            </a:r>
            <a:r>
              <a:rPr kumimoji="0" lang="ko-KR" altLang="en-US" sz="1400" b="0" i="0" u="none" strike="noStrike" kern="1200" cap="none" spc="0" normalizeH="0" baseline="0" noProof="0" dirty="0">
                <a:ln>
                  <a:noFill/>
                </a:ln>
                <a:solidFill>
                  <a:srgbClr val="ED7D31"/>
                </a:solidFill>
                <a:effectLst/>
                <a:uLnTx/>
                <a:uFillTx/>
                <a:latin typeface="Rix모던고딕 B"/>
                <a:ea typeface="Rix모던고딕 B"/>
                <a:cs typeface="+mn-cs"/>
              </a:rPr>
              <a:t> 청구일 중 늦은 날이 지난 후</a:t>
            </a:r>
            <a:r>
              <a:rPr kumimoji="0" lang="en-US" altLang="ko-KR" sz="1400" b="0" i="0" u="none" strike="noStrike" kern="1200" cap="none" spc="0" normalizeH="0" baseline="0" noProof="0" dirty="0">
                <a:ln>
                  <a:noFill/>
                </a:ln>
                <a:solidFill>
                  <a:srgbClr val="ED7D31"/>
                </a:solidFill>
                <a:effectLst/>
                <a:uLnTx/>
                <a:uFillTx/>
                <a:latin typeface="Rix모던고딕 B"/>
                <a:ea typeface="Rix모던고딕 B"/>
                <a:cs typeface="+mn-cs"/>
              </a:rPr>
              <a:t>)</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로 본다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②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항에도 불구하고 </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국어로 출원한 국제특허출원</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에 관하여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따른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출원공개</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전에 이미 「특허협력조약」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21</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조에 따라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국제공개가</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된 경우에는 그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국제공개가</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된 때에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출원공개가</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된 것으로 본다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출원인은</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국제특허출원에 관하여 </a:t>
            </a:r>
            <a:r>
              <a:rPr kumimoji="0" lang="ko-KR" altLang="en-US" sz="1400" b="0" i="0" u="none" strike="noStrike" kern="1200" cap="none" spc="0" normalizeH="0" baseline="0" noProof="0" dirty="0" err="1">
                <a:ln>
                  <a:noFill/>
                </a:ln>
                <a:solidFill>
                  <a:srgbClr val="FF0000"/>
                </a:solidFill>
                <a:effectLst/>
                <a:uLnTx/>
                <a:uFillTx/>
                <a:latin typeface="Rix모던고딕 B"/>
                <a:ea typeface="Rix모던고딕 B"/>
                <a:cs typeface="+mn-cs"/>
              </a:rPr>
              <a:t>출원공개</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국어로 출원한 국제특허출원인 경우 「특허협력조약」 제</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21</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조에 따른 </a:t>
            </a:r>
            <a:r>
              <a:rPr kumimoji="0" lang="ko-KR" altLang="en-US" sz="1400" b="0" i="0" u="none" strike="noStrike" kern="1200" cap="none" spc="0" normalizeH="0" baseline="0" noProof="0" dirty="0" err="1">
                <a:ln>
                  <a:noFill/>
                </a:ln>
                <a:solidFill>
                  <a:srgbClr val="FF0000"/>
                </a:solidFill>
                <a:effectLst/>
                <a:uLnTx/>
                <a:uFillTx/>
                <a:latin typeface="Rix모던고딕 B"/>
                <a:ea typeface="Rix모던고딕 B"/>
                <a:cs typeface="+mn-cs"/>
              </a:rPr>
              <a:t>국제공개를</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 말한다</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이하 이 조에서 같다</a:t>
            </a:r>
            <a:r>
              <a:rPr kumimoji="0" lang="en-US" altLang="ko-KR" sz="1400" b="0" i="0" u="none" strike="noStrike" kern="1200" cap="none" spc="0" normalizeH="0" baseline="0" noProof="0" dirty="0">
                <a:ln>
                  <a:noFill/>
                </a:ln>
                <a:solidFill>
                  <a:srgbClr val="FF0000"/>
                </a:solidFill>
                <a:effectLst/>
                <a:uLnTx/>
                <a:uFillTx/>
                <a:latin typeface="Rix모던고딕 B"/>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가 있은 후 국제특허출원된 발명을 업으로 실시한 자에게 국제특허출원된 발명인 것을 서면으로 경고할 수 있다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④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국제특허출원의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출원인은</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제</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항에 따른 경고를 받거나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출원공개된</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발명임을 알고도 그 국제특허출원된 발명을 업으로서 실시한 자에게 그 경고를 받거나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출원공개된</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발명임을 안 때부터 특허권의 설정등록 시까지의 기간 동안 그 특허발명의 실시에 대하여 </a:t>
            </a:r>
            <a:r>
              <a:rPr kumimoji="0" lang="ko-KR" altLang="en-US" sz="1400" b="0" i="0" u="none" strike="noStrike" kern="1200" cap="none" spc="0" normalizeH="0" baseline="0" noProof="0" dirty="0">
                <a:ln>
                  <a:noFill/>
                </a:ln>
                <a:solidFill>
                  <a:srgbClr val="FF0000"/>
                </a:solidFill>
                <a:effectLst/>
                <a:uLnTx/>
                <a:uFillTx/>
                <a:latin typeface="Rix모던고딕 B"/>
                <a:ea typeface="Rix모던고딕 B"/>
                <a:cs typeface="+mn-cs"/>
              </a:rPr>
              <a:t>합리적</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으로 받을 수 있는 금액에 상당하는 보상금의 지급을 청구할 수 있다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다만</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그 청구권은 해당 특허출원이 특허권의 </a:t>
            </a:r>
            <a:r>
              <a:rPr kumimoji="0" lang="ko-KR" altLang="en-US" sz="1400" b="0" i="0" u="none" strike="noStrike" kern="1200" cap="none" spc="0" normalizeH="0" baseline="0" noProof="0" dirty="0" err="1">
                <a:ln>
                  <a:noFill/>
                </a:ln>
                <a:solidFill>
                  <a:srgbClr val="44546A"/>
                </a:solidFill>
                <a:effectLst/>
                <a:uLnTx/>
                <a:uFillTx/>
                <a:latin typeface="Rix모던고딕 B"/>
                <a:ea typeface="Rix모던고딕 B"/>
                <a:cs typeface="+mn-cs"/>
              </a:rPr>
              <a:t>설정등록된</a:t>
            </a:r>
            <a:r>
              <a:rPr kumimoji="0" lang="ko-KR" altLang="en-US" sz="1400" b="0" i="0" u="none" strike="noStrike" kern="1200" cap="none" spc="0" normalizeH="0" baseline="0" noProof="0" dirty="0">
                <a:ln>
                  <a:noFill/>
                </a:ln>
                <a:solidFill>
                  <a:srgbClr val="44546A"/>
                </a:solidFill>
                <a:effectLst/>
                <a:uLnTx/>
                <a:uFillTx/>
                <a:latin typeface="Rix모던고딕 B"/>
                <a:ea typeface="Rix모던고딕 B"/>
                <a:cs typeface="+mn-cs"/>
              </a:rPr>
              <a:t> 후에만 행사할 수 있다</a:t>
            </a:r>
            <a:r>
              <a:rPr kumimoji="0" lang="en-US" altLang="ko-KR" sz="1400" b="0" i="0" u="none" strike="noStrike" kern="1200" cap="none" spc="0" normalizeH="0" baseline="0" noProof="0" dirty="0">
                <a:ln>
                  <a:noFill/>
                </a:ln>
                <a:solidFill>
                  <a:srgbClr val="44546A"/>
                </a:solidFill>
                <a:effectLst/>
                <a:uLnTx/>
                <a:uFillTx/>
                <a:latin typeface="Rix모던고딕 B"/>
                <a:ea typeface="Rix모던고딕 B"/>
                <a:cs typeface="+mn-cs"/>
              </a:rPr>
              <a:t>.</a:t>
            </a:r>
          </a:p>
        </p:txBody>
      </p:sp>
      <p:cxnSp>
        <p:nvCxnSpPr>
          <p:cNvPr id="9" name="직선 연결선 8"/>
          <p:cNvCxnSpPr/>
          <p:nvPr/>
        </p:nvCxnSpPr>
        <p:spPr>
          <a:xfrm>
            <a:off x="243350" y="4201807"/>
            <a:ext cx="427785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직사각형 11"/>
          <p:cNvSpPr/>
          <p:nvPr/>
        </p:nvSpPr>
        <p:spPr>
          <a:xfrm>
            <a:off x="219464" y="4008440"/>
            <a:ext cx="1136764" cy="40138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국제특허출원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50" name="직선 연결선 49"/>
          <p:cNvCxnSpPr/>
          <p:nvPr/>
        </p:nvCxnSpPr>
        <p:spPr>
          <a:xfrm flipV="1">
            <a:off x="4659458" y="3733800"/>
            <a:ext cx="0" cy="2952022"/>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7" name="직사각형 46"/>
          <p:cNvSpPr/>
          <p:nvPr/>
        </p:nvSpPr>
        <p:spPr>
          <a:xfrm>
            <a:off x="1608359" y="4008440"/>
            <a:ext cx="1136764" cy="40138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국제공개</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49" name="직사각형 48"/>
          <p:cNvSpPr/>
          <p:nvPr/>
        </p:nvSpPr>
        <p:spPr>
          <a:xfrm>
            <a:off x="3045434" y="4008440"/>
            <a:ext cx="1136764" cy="401386"/>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국내공개</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3" name="직사각형 2"/>
          <p:cNvSpPr/>
          <p:nvPr/>
        </p:nvSpPr>
        <p:spPr>
          <a:xfrm>
            <a:off x="1408190" y="5224028"/>
            <a:ext cx="1549400" cy="471204"/>
          </a:xfrm>
          <a:prstGeom prst="rect">
            <a:avLst/>
          </a:prstGeom>
          <a:solidFill>
            <a:schemeClr val="bg1">
              <a:lumMod val="9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이후 보상금청구권</a:t>
            </a:r>
            <a:endPar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발생가능</a:t>
            </a:r>
            <a:endPar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17" name="직선 연결선 16"/>
          <p:cNvCxnSpPr>
            <a:stCxn id="3" idx="0"/>
            <a:endCxn id="47" idx="2"/>
          </p:cNvCxnSpPr>
          <p:nvPr/>
        </p:nvCxnSpPr>
        <p:spPr>
          <a:xfrm flipH="1" flipV="1">
            <a:off x="2176741" y="4409826"/>
            <a:ext cx="6149" cy="814202"/>
          </a:xfrm>
          <a:prstGeom prst="line">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4" name="직선 연결선 53"/>
          <p:cNvCxnSpPr/>
          <p:nvPr/>
        </p:nvCxnSpPr>
        <p:spPr>
          <a:xfrm>
            <a:off x="5022346" y="4201807"/>
            <a:ext cx="6560054"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 name="직사각형 54"/>
          <p:cNvSpPr/>
          <p:nvPr/>
        </p:nvSpPr>
        <p:spPr>
          <a:xfrm>
            <a:off x="4998460" y="4008440"/>
            <a:ext cx="1136764" cy="40138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국제특허출원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외국어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56" name="직사각형 55"/>
          <p:cNvSpPr/>
          <p:nvPr/>
        </p:nvSpPr>
        <p:spPr>
          <a:xfrm>
            <a:off x="7631955" y="4008440"/>
            <a:ext cx="1136764" cy="401386"/>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국제공개</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외국어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67" name="직사각형 66"/>
          <p:cNvSpPr/>
          <p:nvPr/>
        </p:nvSpPr>
        <p:spPr>
          <a:xfrm>
            <a:off x="5775352" y="4728898"/>
            <a:ext cx="1057248" cy="471204"/>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번역문제출</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 후</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조기공개신청</a:t>
            </a:r>
          </a:p>
        </p:txBody>
      </p:sp>
      <p:cxnSp>
        <p:nvCxnSpPr>
          <p:cNvPr id="25" name="직선 화살표 연결선 24"/>
          <p:cNvCxnSpPr>
            <a:stCxn id="67" idx="0"/>
          </p:cNvCxnSpPr>
          <p:nvPr/>
        </p:nvCxnSpPr>
        <p:spPr>
          <a:xfrm flipV="1">
            <a:off x="6303976" y="4229100"/>
            <a:ext cx="7924" cy="49979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0" name="직사각형 69"/>
          <p:cNvSpPr/>
          <p:nvPr/>
        </p:nvSpPr>
        <p:spPr>
          <a:xfrm>
            <a:off x="7077732" y="4728898"/>
            <a:ext cx="656568" cy="471204"/>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심사</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청구</a:t>
            </a:r>
          </a:p>
        </p:txBody>
      </p:sp>
      <p:cxnSp>
        <p:nvCxnSpPr>
          <p:cNvPr id="72" name="직선 화살표 연결선 71"/>
          <p:cNvCxnSpPr>
            <a:stCxn id="70" idx="0"/>
          </p:cNvCxnSpPr>
          <p:nvPr/>
        </p:nvCxnSpPr>
        <p:spPr>
          <a:xfrm flipV="1">
            <a:off x="7406016" y="4229100"/>
            <a:ext cx="7924" cy="49979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3" name="직사각형 72"/>
          <p:cNvSpPr/>
          <p:nvPr/>
        </p:nvSpPr>
        <p:spPr>
          <a:xfrm>
            <a:off x="8986734" y="4728898"/>
            <a:ext cx="656568" cy="471204"/>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심사</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청구</a:t>
            </a:r>
          </a:p>
        </p:txBody>
      </p:sp>
      <p:cxnSp>
        <p:nvCxnSpPr>
          <p:cNvPr id="86" name="직선 화살표 연결선 85"/>
          <p:cNvCxnSpPr>
            <a:stCxn id="73" idx="0"/>
          </p:cNvCxnSpPr>
          <p:nvPr/>
        </p:nvCxnSpPr>
        <p:spPr>
          <a:xfrm flipV="1">
            <a:off x="9315018" y="4229100"/>
            <a:ext cx="7924" cy="49979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88" name="직사각형 87"/>
          <p:cNvSpPr/>
          <p:nvPr/>
        </p:nvSpPr>
        <p:spPr>
          <a:xfrm>
            <a:off x="10644516" y="4728898"/>
            <a:ext cx="656568" cy="471204"/>
          </a:xfrm>
          <a:prstGeom prst="rect">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심사</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청구</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 ×</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89" name="직선 화살표 연결선 88"/>
          <p:cNvCxnSpPr>
            <a:stCxn id="88" idx="0"/>
          </p:cNvCxnSpPr>
          <p:nvPr/>
        </p:nvCxnSpPr>
        <p:spPr>
          <a:xfrm flipV="1">
            <a:off x="10972800" y="4229100"/>
            <a:ext cx="7924" cy="499798"/>
          </a:xfrm>
          <a:prstGeom prst="straightConnector1">
            <a:avLst/>
          </a:prstGeom>
          <a:ln w="127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0" name="직사각형 89"/>
          <p:cNvSpPr/>
          <p:nvPr/>
        </p:nvSpPr>
        <p:spPr>
          <a:xfrm>
            <a:off x="6569618" y="5695232"/>
            <a:ext cx="745582" cy="40138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국내공개</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3" name="직사각형 92"/>
          <p:cNvSpPr/>
          <p:nvPr/>
        </p:nvSpPr>
        <p:spPr>
          <a:xfrm>
            <a:off x="7827546" y="5695232"/>
            <a:ext cx="745582" cy="40138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국내공개</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4" name="직사각형 93"/>
          <p:cNvSpPr/>
          <p:nvPr/>
        </p:nvSpPr>
        <p:spPr>
          <a:xfrm>
            <a:off x="8940724" y="5695232"/>
            <a:ext cx="745582" cy="40138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국내공개</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95" name="직사각형 94"/>
          <p:cNvSpPr/>
          <p:nvPr/>
        </p:nvSpPr>
        <p:spPr>
          <a:xfrm>
            <a:off x="10600009" y="5695232"/>
            <a:ext cx="745582" cy="401386"/>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국내공개</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국어</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96" name="직선 화살표 연결선 95"/>
          <p:cNvCxnSpPr>
            <a:stCxn id="90" idx="0"/>
          </p:cNvCxnSpPr>
          <p:nvPr/>
        </p:nvCxnSpPr>
        <p:spPr>
          <a:xfrm flipV="1">
            <a:off x="6942409" y="4243974"/>
            <a:ext cx="8187" cy="1451258"/>
          </a:xfrm>
          <a:prstGeom prst="straightConnector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직선 화살표 연결선 96"/>
          <p:cNvCxnSpPr>
            <a:stCxn id="93" idx="0"/>
            <a:endCxn id="56" idx="2"/>
          </p:cNvCxnSpPr>
          <p:nvPr/>
        </p:nvCxnSpPr>
        <p:spPr>
          <a:xfrm flipV="1">
            <a:off x="8200337" y="4409826"/>
            <a:ext cx="0" cy="1285406"/>
          </a:xfrm>
          <a:prstGeom prst="straightConnector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직선 화살표 연결선 98"/>
          <p:cNvCxnSpPr>
            <a:stCxn id="94" idx="0"/>
            <a:endCxn id="73" idx="2"/>
          </p:cNvCxnSpPr>
          <p:nvPr/>
        </p:nvCxnSpPr>
        <p:spPr>
          <a:xfrm flipV="1">
            <a:off x="9313515" y="5200102"/>
            <a:ext cx="1503" cy="495130"/>
          </a:xfrm>
          <a:prstGeom prst="straightConnector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직선 화살표 연결선 99"/>
          <p:cNvCxnSpPr>
            <a:stCxn id="95" idx="0"/>
            <a:endCxn id="88" idx="2"/>
          </p:cNvCxnSpPr>
          <p:nvPr/>
        </p:nvCxnSpPr>
        <p:spPr>
          <a:xfrm flipV="1">
            <a:off x="10972800" y="5200102"/>
            <a:ext cx="0" cy="495130"/>
          </a:xfrm>
          <a:prstGeom prst="straightConnector1">
            <a:avLst/>
          </a:prstGeom>
          <a:ln w="12700">
            <a:solidFill>
              <a:schemeClr val="bg1">
                <a:lumMod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꺾인 연결선 59"/>
          <p:cNvCxnSpPr>
            <a:stCxn id="67" idx="2"/>
            <a:endCxn id="90" idx="1"/>
          </p:cNvCxnSpPr>
          <p:nvPr/>
        </p:nvCxnSpPr>
        <p:spPr>
          <a:xfrm rot="16200000" flipH="1">
            <a:off x="6088886" y="5415192"/>
            <a:ext cx="695823" cy="265642"/>
          </a:xfrm>
          <a:prstGeom prst="bentConnector2">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01" name="직사각형 100"/>
          <p:cNvSpPr/>
          <p:nvPr/>
        </p:nvSpPr>
        <p:spPr>
          <a:xfrm>
            <a:off x="5214720" y="5219925"/>
            <a:ext cx="1059329" cy="31020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약</a:t>
            </a: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2~3</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개월후</a:t>
            </a:r>
            <a:endPar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586</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cxnSp>
        <p:nvCxnSpPr>
          <p:cNvPr id="10" name="연결선: 꺾임 9">
            <a:extLst>
              <a:ext uri="{FF2B5EF4-FFF2-40B4-BE49-F238E27FC236}">
                <a16:creationId xmlns:a16="http://schemas.microsoft.com/office/drawing/2014/main" id="{5FFE0BA9-88F9-4DB1-B204-38AD6471221D}"/>
              </a:ext>
            </a:extLst>
          </p:cNvPr>
          <p:cNvCxnSpPr>
            <a:stCxn id="70" idx="2"/>
            <a:endCxn id="93" idx="1"/>
          </p:cNvCxnSpPr>
          <p:nvPr/>
        </p:nvCxnSpPr>
        <p:spPr>
          <a:xfrm rot="16200000" flipH="1">
            <a:off x="7268870" y="5337248"/>
            <a:ext cx="695823" cy="421530"/>
          </a:xfrm>
          <a:prstGeom prst="bentConnector2">
            <a:avLst/>
          </a:prstGeom>
          <a:ln w="38100">
            <a:solidFill>
              <a:schemeClr val="bg1">
                <a:lumMod val="50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1580448"/>
      </p:ext>
    </p:extLst>
  </p:cSld>
  <p:clrMapOvr>
    <a:masterClrMapping/>
  </p:clrMapOvr>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제</a:t>
            </a:r>
            <a:r>
              <a:rPr lang="en-US" altLang="ko-KR" dirty="0"/>
              <a:t>211</a:t>
            </a:r>
            <a:r>
              <a:rPr lang="ko-KR" altLang="en-US" dirty="0"/>
              <a:t>조</a:t>
            </a:r>
          </a:p>
        </p:txBody>
      </p:sp>
      <p:sp>
        <p:nvSpPr>
          <p:cNvPr id="4" name="텍스트 개체 틀 3"/>
          <p:cNvSpPr>
            <a:spLocks noGrp="1"/>
          </p:cNvSpPr>
          <p:nvPr>
            <p:ph type="body" sz="quarter" idx="13"/>
          </p:nvPr>
        </p:nvSpPr>
        <p:spPr/>
        <p:txBody>
          <a:bodyPr/>
          <a:lstStyle/>
          <a:p>
            <a:r>
              <a:rPr lang="ko-KR" altLang="en-US" dirty="0"/>
              <a:t>국제조사보고서 등에 기재된 문헌의 제출명령</a:t>
            </a:r>
          </a:p>
        </p:txBody>
      </p:sp>
      <p:sp>
        <p:nvSpPr>
          <p:cNvPr id="26" name="TextBox 25"/>
          <p:cNvSpPr txBox="1"/>
          <p:nvPr/>
        </p:nvSpPr>
        <p:spPr>
          <a:xfrm>
            <a:off x="1" y="976902"/>
            <a:ext cx="12192000" cy="52322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211</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국제조사보고서 등에 기재된 문헌의 제출명령</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지식재산처장은 국제특허출원의 출원인에 대하여 기간을 정하여 「특허협력조약」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18</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조의 국제조사보고서 또는 같은 조약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35</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조의 국제예비심사보고서에 적혀 있는 문헌의 사본을 제출하게 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cxnSp>
        <p:nvCxnSpPr>
          <p:cNvPr id="48" name="직선 연결선 47"/>
          <p:cNvCxnSpPr/>
          <p:nvPr/>
        </p:nvCxnSpPr>
        <p:spPr>
          <a:xfrm>
            <a:off x="77875" y="1517223"/>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직사각형 4"/>
          <p:cNvSpPr/>
          <p:nvPr/>
        </p:nvSpPr>
        <p:spPr>
          <a:xfrm>
            <a:off x="77874" y="1587772"/>
            <a:ext cx="12012525" cy="954107"/>
          </a:xfrm>
          <a:prstGeom prst="rect">
            <a:avLst/>
          </a:prstGeom>
          <a:ln>
            <a:solidFill>
              <a:schemeClr val="bg1">
                <a:lumMod val="50000"/>
              </a:schemeClr>
            </a:solidFill>
          </a:ln>
        </p:spPr>
        <p:txBody>
          <a:bodyPr wrap="square">
            <a:spAutoFit/>
          </a:bodyPr>
          <a:lstStyle/>
          <a:p>
            <a:pPr marL="0" marR="0" lvl="0" indent="0" algn="l" defTabSz="914400" rtl="0" eaLnBrk="1" fontAlgn="base"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에 의하면 지정관청 또는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출원인은</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국제조사기관에 대하여 국제조사보고서에서 인용된 문헌의 사본을 제출토록 요구할 수 있으며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20</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국제예비심사기관에 대하여 국제예비심사보고서에 인용되었으나 국제조사보고서에서는 인용되지 아니한 문헌의 사본을 제출토록 요구할 수 있다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(PC</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지식재산처</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36</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(4)).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이에 따라</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특허법은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출원인을</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통하여 문헌의 사본을 </a:t>
            </a:r>
            <a:r>
              <a:rPr kumimoji="0" lang="ko-KR" altLang="en-US" sz="1400" b="0" i="0" u="none" strike="noStrike" kern="1200" cap="none" spc="0" normalizeH="0" baseline="0" noProof="0" dirty="0" err="1">
                <a:ln>
                  <a:noFill/>
                </a:ln>
                <a:solidFill>
                  <a:prstClr val="black"/>
                </a:solidFill>
                <a:effectLst/>
                <a:uLnTx/>
                <a:uFillTx/>
                <a:latin typeface="Frutiger LT 65 Bold"/>
                <a:ea typeface="Rix모던고딕 B"/>
                <a:cs typeface="+mn-cs"/>
              </a:rPr>
              <a:t>제출받도록</a:t>
            </a:r>
            <a:r>
              <a:rPr kumimoji="0" lang="ko-KR" altLang="en-US" sz="1400" b="0" i="0" u="none" strike="noStrike" kern="1200" cap="none" spc="0" normalizeH="0" baseline="0" noProof="0" dirty="0">
                <a:ln>
                  <a:noFill/>
                </a:ln>
                <a:solidFill>
                  <a:prstClr val="black"/>
                </a:solidFill>
                <a:effectLst/>
                <a:uLnTx/>
                <a:uFillTx/>
                <a:latin typeface="Frutiger LT 65 Bold"/>
                <a:ea typeface="Rix모던고딕 B"/>
                <a:cs typeface="+mn-cs"/>
              </a:rPr>
              <a:t> 규정하고 있는 것이다</a:t>
            </a:r>
            <a:r>
              <a:rPr kumimoji="0" lang="en-US" altLang="ko-KR" sz="1400" b="0" i="0" u="none" strike="noStrike" kern="1200" cap="none" spc="0" normalizeH="0" baseline="0" noProof="0" dirty="0">
                <a:ln>
                  <a:noFill/>
                </a:ln>
                <a:solidFill>
                  <a:prstClr val="black"/>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rPr>
              <a:t>물론 지식재산처는 국제조사기관이나 국제예비심사기관에 대하여 직접 문헌 사본의 제출을 요구할 수도 있다</a:t>
            </a:r>
            <a:r>
              <a:rPr kumimoji="0" lang="en-US" altLang="ko-KR" sz="1400" b="0" i="0" u="none" strike="noStrike" kern="1200" cap="none" spc="0" normalizeH="0" baseline="0" noProof="0" dirty="0">
                <a:ln>
                  <a:noFill/>
                </a:ln>
                <a:solidFill>
                  <a:srgbClr val="FF0000"/>
                </a:solidFill>
                <a:effectLst/>
                <a:uLnTx/>
                <a:uFillTx/>
                <a:latin typeface="Frutiger LT 65 Bold"/>
                <a:ea typeface="Rix모던고딕 B"/>
                <a:cs typeface="+mn-cs"/>
              </a:rPr>
              <a:t>.</a:t>
            </a:r>
            <a:endParaRPr kumimoji="0" lang="ko-KR" altLang="en-US" sz="1400" b="0" i="0" u="none" strike="noStrike" kern="1200" cap="none" spc="0" normalizeH="0" baseline="0" noProof="0" dirty="0">
              <a:ln>
                <a:noFill/>
              </a:ln>
              <a:solidFill>
                <a:srgbClr val="FF0000"/>
              </a:solidFill>
              <a:effectLst/>
              <a:uLnTx/>
              <a:uFillTx/>
              <a:latin typeface="Frutiger LT 65 Bold"/>
              <a:ea typeface="Rix모던고딕 B"/>
              <a:cs typeface="+mn-cs"/>
            </a:endParaRPr>
          </a:p>
        </p:txBody>
      </p: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587</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154919185"/>
      </p:ext>
    </p:extLst>
  </p:cSld>
  <p:clrMapOvr>
    <a:masterClrMapping/>
  </p:clrMapOvr>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양쪽 모서리가 둥근 사각형 8"/>
          <p:cNvSpPr/>
          <p:nvPr/>
        </p:nvSpPr>
        <p:spPr>
          <a:xfrm>
            <a:off x="8610545" y="5433414"/>
            <a:ext cx="1689901" cy="333538"/>
          </a:xfrm>
          <a:prstGeom prst="round2SameRect">
            <a:avLst>
              <a:gd name="adj1" fmla="val 50000"/>
              <a:gd name="adj2" fmla="val 0"/>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Frutiger LT 65 Bold"/>
              <a:ea typeface="Rix모던고딕 B"/>
              <a:cs typeface="+mn-cs"/>
            </a:endParaRPr>
          </a:p>
        </p:txBody>
      </p:sp>
      <p:sp>
        <p:nvSpPr>
          <p:cNvPr id="3" name="제목 2"/>
          <p:cNvSpPr>
            <a:spLocks noGrp="1"/>
          </p:cNvSpPr>
          <p:nvPr>
            <p:ph type="title"/>
          </p:nvPr>
        </p:nvSpPr>
        <p:spPr/>
        <p:txBody>
          <a:bodyPr/>
          <a:lstStyle/>
          <a:p>
            <a:r>
              <a:rPr lang="ko-KR" altLang="en-US" dirty="0"/>
              <a:t>제</a:t>
            </a:r>
            <a:r>
              <a:rPr lang="en-US" altLang="ko-KR" dirty="0"/>
              <a:t>214</a:t>
            </a:r>
            <a:r>
              <a:rPr lang="ko-KR" altLang="en-US" dirty="0"/>
              <a:t>조</a:t>
            </a:r>
          </a:p>
        </p:txBody>
      </p:sp>
      <p:sp>
        <p:nvSpPr>
          <p:cNvPr id="4" name="텍스트 개체 틀 3"/>
          <p:cNvSpPr>
            <a:spLocks noGrp="1"/>
          </p:cNvSpPr>
          <p:nvPr>
            <p:ph type="body" sz="quarter" idx="13"/>
          </p:nvPr>
        </p:nvSpPr>
        <p:spPr/>
        <p:txBody>
          <a:bodyPr/>
          <a:lstStyle/>
          <a:p>
            <a:r>
              <a:rPr lang="ko-KR" altLang="en-US" dirty="0"/>
              <a:t>결정에 의하여 특허출원으로 되는 국제출원</a:t>
            </a:r>
          </a:p>
        </p:txBody>
      </p:sp>
      <p:sp>
        <p:nvSpPr>
          <p:cNvPr id="26" name="TextBox 25"/>
          <p:cNvSpPr txBox="1"/>
          <p:nvPr/>
        </p:nvSpPr>
        <p:spPr>
          <a:xfrm>
            <a:off x="1" y="976902"/>
            <a:ext cx="12192000" cy="3539430"/>
          </a:xfrm>
          <a:prstGeom prst="rect">
            <a:avLst/>
          </a:prstGeom>
          <a:noFill/>
        </p:spPr>
        <p:txBody>
          <a:bodyPr wrap="square" rtlCol="0">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제</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214</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조</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a:t>
            </a:r>
            <a:r>
              <a:rPr kumimoji="0" lang="ko-KR" altLang="en-US" sz="1400" b="1" i="0" u="none" strike="noStrike" kern="1200" cap="none" spc="0" normalizeH="0" baseline="0" noProof="0" dirty="0">
                <a:ln>
                  <a:noFill/>
                </a:ln>
                <a:solidFill>
                  <a:srgbClr val="5B9BD5"/>
                </a:solidFill>
                <a:effectLst/>
                <a:uLnTx/>
                <a:uFillTx/>
                <a:latin typeface="Frutiger LT 65 Bold"/>
                <a:ea typeface="Rix모던고딕 B"/>
                <a:cs typeface="+mn-cs"/>
              </a:rPr>
              <a:t>결정에 의하여 특허출원으로 되는 국제출원</a:t>
            </a:r>
            <a:r>
              <a:rPr kumimoji="0" lang="en-US" altLang="ko-KR" sz="1400" b="1" i="0" u="none" strike="noStrike" kern="1200" cap="none" spc="0" normalizeH="0" baseline="0" noProof="0" dirty="0">
                <a:ln>
                  <a:noFill/>
                </a:ln>
                <a:solidFill>
                  <a:srgbClr val="5B9BD5"/>
                </a:solidFill>
                <a:effectLst/>
                <a:uLnTx/>
                <a:uFillTx/>
                <a:latin typeface="Frutiger LT 65 Bold"/>
                <a:ea typeface="Rix모던고딕 B"/>
                <a:cs typeface="+mn-cs"/>
              </a:rPr>
              <a:t>)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①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국제출원의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출원인은</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「특허협력조약」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(1)(ii)</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의 지정국에 대한민국을 포함하는 국제출원</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특허출원만 해당한다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이 다음 각 호의 어느 하나에 해당하는 경우 총리령으로 정하는 기간에 총리령으로 정하는 바에 따라 지식재산처장에게 같은 조약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25</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따른 결정을 하여줄 것을 신청할 수 있다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「특허협력조약」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(xv)</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의 수리관청이 그 국제출원에 대하여 같은 조약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25</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따른 거부를 한 경우</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「특허협력조약」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(xv)</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의 수리관청이 그 국제출원에 대하여 같은 조약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25</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또는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(b)</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따른 선언을 한 경우</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국제사무국이 그 국제출원에 대하여 같은 조약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25</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에 따른 인정을 한 경우</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②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항의 신청을 하려는 자는 그 신청 시 발명의 설명</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청구범위 또는 도면</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도면 중 설명부분에 한정한다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그 밖에 총리령으로 정하는 국제출원에 관한 서류의 국어번역문을 지식재산처장에게 제출하여야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③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지식재산처장은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항의 신청이 있으면 그 신청에 관한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거부ㆍ선언</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또는 인정이 「특허협력조약」 및 같은 조약규칙에 따라 정당하게 된 것인지에 관하여 결정을 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④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지식재산처장은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그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거부ㆍ선언</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또는 인정이 「특허협력조약」 및 같은 조약규칙에 따라 정당하게 된 것이 아니라고 결정을 한 경우에는 그 결정에 관한 국제출원은 그 국제출원에 대하여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거부ㆍ선언</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또는 인정이 없었다면 국제출원일로 인정할 수 있었던 날에 출원된 특허출원으로 본다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⑤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지식재산처장은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3</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따른 정당성 여부의 결정을 하는 경우에는 그 결정의 등본을 국제출원의 </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출원인에게</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 송달하여야 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⑥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특허출원으로 보는 국제출원에 관하여는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199</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200</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200</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조의</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5</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항부터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8</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항까지</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err="1">
                <a:ln>
                  <a:noFill/>
                </a:ln>
                <a:solidFill>
                  <a:srgbClr val="44546A"/>
                </a:solidFill>
                <a:effectLst/>
                <a:uLnTx/>
                <a:uFillTx/>
                <a:latin typeface="Frutiger LT 65 Bold"/>
                <a:ea typeface="Rix모던고딕 B"/>
                <a:cs typeface="+mn-cs"/>
              </a:rPr>
              <a:t>항ㆍ제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208</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 및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210</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조를 준용한다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  </a:t>
            </a: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⑦ </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항에 따라 특허출원으로 보는 국제출원에 관한 출원공개에 관하여는 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64</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 중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다음 각 호의 구분에 따른 날</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을 </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201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조제</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1</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항의 우선일</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r>
              <a:rPr kumimoji="0" lang="ko-KR" altLang="en-US" sz="1400" b="0" i="0" u="none" strike="noStrike" kern="1200" cap="none" spc="0" normalizeH="0" baseline="0" noProof="0" dirty="0">
                <a:ln>
                  <a:noFill/>
                </a:ln>
                <a:solidFill>
                  <a:srgbClr val="44546A"/>
                </a:solidFill>
                <a:effectLst/>
                <a:uLnTx/>
                <a:uFillTx/>
                <a:latin typeface="Frutiger LT 65 Bold"/>
                <a:ea typeface="Rix모던고딕 B"/>
                <a:cs typeface="+mn-cs"/>
              </a:rPr>
              <a:t>로 본다</a:t>
            </a:r>
            <a:r>
              <a:rPr kumimoji="0" lang="en-US" altLang="ko-KR" sz="1400" b="0" i="0" u="none" strike="noStrike" kern="1200" cap="none" spc="0" normalizeH="0" baseline="0" noProof="0" dirty="0">
                <a:ln>
                  <a:noFill/>
                </a:ln>
                <a:solidFill>
                  <a:srgbClr val="44546A"/>
                </a:solidFill>
                <a:effectLst/>
                <a:uLnTx/>
                <a:uFillTx/>
                <a:latin typeface="Frutiger LT 65 Bold"/>
                <a:ea typeface="Rix모던고딕 B"/>
                <a:cs typeface="+mn-cs"/>
              </a:rPr>
              <a:t>.</a:t>
            </a:r>
          </a:p>
        </p:txBody>
      </p:sp>
      <p:cxnSp>
        <p:nvCxnSpPr>
          <p:cNvPr id="48" name="직선 연결선 47"/>
          <p:cNvCxnSpPr/>
          <p:nvPr/>
        </p:nvCxnSpPr>
        <p:spPr>
          <a:xfrm>
            <a:off x="77875" y="4523008"/>
            <a:ext cx="9144000" cy="0"/>
          </a:xfrm>
          <a:prstGeom prst="line">
            <a:avLst/>
          </a:prstGeom>
          <a:ln w="12700">
            <a:solidFill>
              <a:schemeClr val="accent2">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7" name="표 6"/>
          <p:cNvGraphicFramePr>
            <a:graphicFrameLocks noGrp="1"/>
          </p:cNvGraphicFramePr>
          <p:nvPr/>
        </p:nvGraphicFramePr>
        <p:xfrm>
          <a:off x="250165" y="4681790"/>
          <a:ext cx="4149307" cy="1940052"/>
        </p:xfrm>
        <a:graphic>
          <a:graphicData uri="http://schemas.openxmlformats.org/drawingml/2006/table">
            <a:tbl>
              <a:tblPr>
                <a:tableStyleId>{8799B23B-EC83-4686-B30A-512413B5E67A}</a:tableStyleId>
              </a:tblPr>
              <a:tblGrid>
                <a:gridCol w="508957">
                  <a:extLst>
                    <a:ext uri="{9D8B030D-6E8A-4147-A177-3AD203B41FA5}">
                      <a16:colId xmlns:a16="http://schemas.microsoft.com/office/drawing/2014/main" val="3431753954"/>
                    </a:ext>
                  </a:extLst>
                </a:gridCol>
                <a:gridCol w="810884">
                  <a:extLst>
                    <a:ext uri="{9D8B030D-6E8A-4147-A177-3AD203B41FA5}">
                      <a16:colId xmlns:a16="http://schemas.microsoft.com/office/drawing/2014/main" val="4070935302"/>
                    </a:ext>
                  </a:extLst>
                </a:gridCol>
                <a:gridCol w="899943">
                  <a:extLst>
                    <a:ext uri="{9D8B030D-6E8A-4147-A177-3AD203B41FA5}">
                      <a16:colId xmlns:a16="http://schemas.microsoft.com/office/drawing/2014/main" val="738776013"/>
                    </a:ext>
                  </a:extLst>
                </a:gridCol>
                <a:gridCol w="1929523">
                  <a:extLst>
                    <a:ext uri="{9D8B030D-6E8A-4147-A177-3AD203B41FA5}">
                      <a16:colId xmlns:a16="http://schemas.microsoft.com/office/drawing/2014/main" val="4226477471"/>
                    </a:ext>
                  </a:extLst>
                </a:gridCol>
              </a:tblGrid>
              <a:tr h="148671">
                <a:tc>
                  <a:txBody>
                    <a:bodyPr/>
                    <a:lstStyle/>
                    <a:p>
                      <a:pPr marL="0" marR="0" indent="0" algn="ctr" fontAlgn="base" latinLnBrk="0">
                        <a:lnSpc>
                          <a:spcPct val="120000"/>
                        </a:lnSpc>
                        <a:spcBef>
                          <a:spcPts val="0"/>
                        </a:spcBef>
                        <a:spcAft>
                          <a:spcPts val="0"/>
                        </a:spcAft>
                      </a:pPr>
                      <a:r>
                        <a:rPr lang="ko-KR" altLang="en-US" sz="1200" kern="1200" dirty="0"/>
                        <a:t>구 분</a:t>
                      </a:r>
                      <a:endParaRPr lang="ko-KR" altLang="en-US" sz="1200" kern="1200" dirty="0">
                        <a:solidFill>
                          <a:schemeClr val="tx1"/>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200" dirty="0"/>
                        <a:t>경미 </a:t>
                      </a:r>
                      <a:r>
                        <a:rPr lang="ko-KR" altLang="en-US" sz="1200" kern="1200" dirty="0" err="1"/>
                        <a:t>흠결</a:t>
                      </a:r>
                      <a:endParaRPr lang="ko-KR" altLang="en-US" sz="1200" kern="1200" dirty="0">
                        <a:solidFill>
                          <a:schemeClr val="tx1"/>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200" dirty="0"/>
                        <a:t>중대 </a:t>
                      </a:r>
                      <a:r>
                        <a:rPr lang="ko-KR" altLang="en-US" sz="1200" kern="1200" dirty="0" err="1"/>
                        <a:t>흠결</a:t>
                      </a:r>
                      <a:endParaRPr lang="ko-KR" altLang="en-US" sz="1200" kern="1200" dirty="0">
                        <a:solidFill>
                          <a:schemeClr val="tx1"/>
                        </a:solidFill>
                        <a:latin typeface="+mn-lt"/>
                        <a:ea typeface="+mn-ea"/>
                        <a:cs typeface="+mn-cs"/>
                      </a:endParaRPr>
                    </a:p>
                  </a:txBody>
                  <a:tcPr marL="64770" marR="64770" marT="17907" marB="17907" anchor="ctr">
                    <a:solidFill>
                      <a:schemeClr val="accent1">
                        <a:lumMod val="20000"/>
                        <a:lumOff val="80000"/>
                      </a:schemeClr>
                    </a:solidFill>
                  </a:tcPr>
                </a:tc>
                <a:tc>
                  <a:txBody>
                    <a:bodyPr/>
                    <a:lstStyle/>
                    <a:p>
                      <a:pPr marL="0" marR="0" indent="0" algn="ctr" fontAlgn="base" latinLnBrk="0">
                        <a:lnSpc>
                          <a:spcPct val="120000"/>
                        </a:lnSpc>
                        <a:spcBef>
                          <a:spcPts val="0"/>
                        </a:spcBef>
                        <a:spcAft>
                          <a:spcPts val="0"/>
                        </a:spcAft>
                      </a:pPr>
                      <a:r>
                        <a:rPr lang="ko-KR" altLang="en-US" sz="1200" kern="1200" dirty="0"/>
                        <a:t>비고</a:t>
                      </a:r>
                      <a:endParaRPr lang="ko-KR" altLang="en-US" sz="1200" kern="1200" dirty="0">
                        <a:solidFill>
                          <a:schemeClr val="tx1"/>
                        </a:solidFill>
                        <a:latin typeface="+mn-lt"/>
                        <a:ea typeface="+mn-ea"/>
                        <a:cs typeface="+mn-cs"/>
                      </a:endParaRPr>
                    </a:p>
                  </a:txBody>
                  <a:tcPr marL="64770" marR="64770" marT="17907" marB="17907" anchor="ctr">
                    <a:solidFill>
                      <a:schemeClr val="accent1">
                        <a:lumMod val="20000"/>
                        <a:lumOff val="80000"/>
                      </a:schemeClr>
                    </a:solidFill>
                  </a:tcPr>
                </a:tc>
                <a:extLst>
                  <a:ext uri="{0D108BD9-81ED-4DB2-BD59-A6C34878D82A}">
                    <a16:rowId xmlns:a16="http://schemas.microsoft.com/office/drawing/2014/main" val="1675938075"/>
                  </a:ext>
                </a:extLst>
              </a:tr>
              <a:tr h="297786">
                <a:tc>
                  <a:txBody>
                    <a:bodyPr/>
                    <a:lstStyle/>
                    <a:p>
                      <a:pPr marL="0" marR="0" indent="0" algn="ctr" fontAlgn="base" latinLnBrk="0">
                        <a:lnSpc>
                          <a:spcPct val="120000"/>
                        </a:lnSpc>
                        <a:spcBef>
                          <a:spcPts val="0"/>
                        </a:spcBef>
                        <a:spcAft>
                          <a:spcPts val="0"/>
                        </a:spcAft>
                      </a:pPr>
                      <a:r>
                        <a:rPr lang="ko-KR" altLang="en-US" sz="1200" kern="1200"/>
                        <a:t>국내출원</a:t>
                      </a:r>
                      <a:endParaRPr lang="ko-KR" altLang="en-US" sz="1200" kern="1200">
                        <a:solidFill>
                          <a:schemeClr val="tx1"/>
                        </a:solidFill>
                        <a:latin typeface="+mn-lt"/>
                        <a:ea typeface="+mn-ea"/>
                        <a:cs typeface="+mn-cs"/>
                      </a:endParaRPr>
                    </a:p>
                  </a:txBody>
                  <a:tcPr marL="64770" marR="64770" marT="17907" marB="17907" anchor="ctr"/>
                </a:tc>
                <a:tc>
                  <a:txBody>
                    <a:bodyPr/>
                    <a:lstStyle/>
                    <a:p>
                      <a:pPr marL="31750" marR="31750" indent="0" algn="ctr" fontAlgn="base" latinLnBrk="0">
                        <a:lnSpc>
                          <a:spcPct val="130000"/>
                        </a:lnSpc>
                        <a:spcBef>
                          <a:spcPts val="0"/>
                        </a:spcBef>
                        <a:spcAft>
                          <a:spcPts val="0"/>
                        </a:spcAft>
                      </a:pPr>
                      <a:r>
                        <a:rPr lang="ko-KR" altLang="en-US" sz="1200" kern="1200"/>
                        <a:t>무효</a:t>
                      </a:r>
                      <a:endParaRPr lang="ko-KR" altLang="en-US" sz="1200" kern="1200">
                        <a:solidFill>
                          <a:schemeClr val="tx1"/>
                        </a:solidFill>
                        <a:latin typeface="+mn-lt"/>
                        <a:ea typeface="+mn-ea"/>
                        <a:cs typeface="+mn-cs"/>
                      </a:endParaRPr>
                    </a:p>
                  </a:txBody>
                  <a:tcPr marL="64770" marR="64770" marT="17907" marB="17907" anchor="ctr"/>
                </a:tc>
                <a:tc>
                  <a:txBody>
                    <a:bodyPr/>
                    <a:lstStyle/>
                    <a:p>
                      <a:pPr marL="31750" marR="31750" indent="0" algn="ctr" fontAlgn="base" latinLnBrk="0">
                        <a:lnSpc>
                          <a:spcPct val="130000"/>
                        </a:lnSpc>
                        <a:spcBef>
                          <a:spcPts val="0"/>
                        </a:spcBef>
                        <a:spcAft>
                          <a:spcPts val="0"/>
                        </a:spcAft>
                      </a:pPr>
                      <a:r>
                        <a:rPr lang="ko-KR" altLang="en-US" sz="1200" kern="1200"/>
                        <a:t>불수리</a:t>
                      </a:r>
                      <a:endParaRPr lang="ko-KR" altLang="en-US" sz="1200" kern="1200">
                        <a:solidFill>
                          <a:schemeClr val="tx1"/>
                        </a:solidFill>
                        <a:latin typeface="+mn-lt"/>
                        <a:ea typeface="+mn-ea"/>
                        <a:cs typeface="+mn-cs"/>
                      </a:endParaRPr>
                    </a:p>
                  </a:txBody>
                  <a:tcPr marL="64770" marR="64770" marT="17907" marB="17907" anchor="ctr"/>
                </a:tc>
                <a:tc>
                  <a:txBody>
                    <a:bodyPr/>
                    <a:lstStyle/>
                    <a:p>
                      <a:pPr marL="85725" marR="31750" indent="-85725" algn="l" fontAlgn="base" latinLnBrk="1">
                        <a:lnSpc>
                          <a:spcPct val="130000"/>
                        </a:lnSpc>
                        <a:spcBef>
                          <a:spcPts val="0"/>
                        </a:spcBef>
                        <a:spcAft>
                          <a:spcPts val="0"/>
                        </a:spcAft>
                        <a:buFont typeface="Arial" panose="020B0604020202020204" pitchFamily="34" charset="0"/>
                        <a:buChar char="•"/>
                      </a:pPr>
                      <a:r>
                        <a:rPr lang="ko-KR" altLang="en-US" sz="1200" kern="1200" dirty="0"/>
                        <a:t>불복의 대상이 있기 때문에 독립하여 행정소송이나 행정심판으로 불복가능</a:t>
                      </a:r>
                      <a:endParaRPr lang="ko-KR" altLang="en-US" sz="1200" kern="1200" dirty="0">
                        <a:solidFill>
                          <a:schemeClr val="tx1"/>
                        </a:solidFill>
                        <a:latin typeface="+mn-lt"/>
                        <a:ea typeface="+mn-ea"/>
                        <a:cs typeface="+mn-cs"/>
                      </a:endParaRPr>
                    </a:p>
                  </a:txBody>
                  <a:tcPr marL="64770" marR="64770" marT="17907" marB="17907" anchor="ctr"/>
                </a:tc>
                <a:extLst>
                  <a:ext uri="{0D108BD9-81ED-4DB2-BD59-A6C34878D82A}">
                    <a16:rowId xmlns:a16="http://schemas.microsoft.com/office/drawing/2014/main" val="294563081"/>
                  </a:ext>
                </a:extLst>
              </a:tr>
              <a:tr h="297786">
                <a:tc>
                  <a:txBody>
                    <a:bodyPr/>
                    <a:lstStyle/>
                    <a:p>
                      <a:pPr marL="0" marR="0" indent="0" algn="ctr" fontAlgn="base" latinLnBrk="0">
                        <a:lnSpc>
                          <a:spcPct val="120000"/>
                        </a:lnSpc>
                        <a:spcBef>
                          <a:spcPts val="0"/>
                        </a:spcBef>
                        <a:spcAft>
                          <a:spcPts val="0"/>
                        </a:spcAft>
                      </a:pPr>
                      <a:r>
                        <a:rPr lang="ko-KR" altLang="en-US" sz="1200" kern="1200"/>
                        <a:t>국제출원</a:t>
                      </a:r>
                      <a:endParaRPr lang="ko-KR" altLang="en-US" sz="1200" kern="1200">
                        <a:solidFill>
                          <a:schemeClr val="tx1"/>
                        </a:solidFill>
                        <a:latin typeface="+mn-lt"/>
                        <a:ea typeface="+mn-ea"/>
                        <a:cs typeface="+mn-cs"/>
                      </a:endParaRPr>
                    </a:p>
                  </a:txBody>
                  <a:tcPr marL="64770" marR="64770" marT="17907" marB="17907" anchor="ctr"/>
                </a:tc>
                <a:tc>
                  <a:txBody>
                    <a:bodyPr/>
                    <a:lstStyle/>
                    <a:p>
                      <a:pPr marL="31750" marR="31750" indent="0" algn="ctr" fontAlgn="base" latinLnBrk="0">
                        <a:lnSpc>
                          <a:spcPct val="130000"/>
                        </a:lnSpc>
                        <a:spcBef>
                          <a:spcPts val="0"/>
                        </a:spcBef>
                        <a:spcAft>
                          <a:spcPts val="0"/>
                        </a:spcAft>
                      </a:pPr>
                      <a:r>
                        <a:rPr lang="ko-KR" altLang="en-US" sz="1200" kern="1200"/>
                        <a:t>취하간주</a:t>
                      </a:r>
                      <a:endParaRPr lang="ko-KR" altLang="en-US" sz="1200" kern="1200">
                        <a:solidFill>
                          <a:schemeClr val="tx1"/>
                        </a:solidFill>
                        <a:latin typeface="+mn-lt"/>
                        <a:ea typeface="+mn-ea"/>
                        <a:cs typeface="+mn-cs"/>
                      </a:endParaRPr>
                    </a:p>
                  </a:txBody>
                  <a:tcPr marL="64770" marR="64770" marT="17907" marB="17907" anchor="ctr"/>
                </a:tc>
                <a:tc>
                  <a:txBody>
                    <a:bodyPr/>
                    <a:lstStyle/>
                    <a:p>
                      <a:pPr marL="31750" marR="31750" indent="0" algn="ctr" fontAlgn="base" latinLnBrk="0">
                        <a:lnSpc>
                          <a:spcPct val="130000"/>
                        </a:lnSpc>
                        <a:spcBef>
                          <a:spcPts val="0"/>
                        </a:spcBef>
                        <a:spcAft>
                          <a:spcPts val="0"/>
                        </a:spcAft>
                      </a:pPr>
                      <a:r>
                        <a:rPr lang="ko-KR" altLang="en-US" sz="1200" kern="1200"/>
                        <a:t>국제출원일 불인정</a:t>
                      </a:r>
                      <a:endParaRPr lang="ko-KR" altLang="en-US" sz="1200" kern="1200">
                        <a:solidFill>
                          <a:schemeClr val="tx1"/>
                        </a:solidFill>
                        <a:latin typeface="+mn-lt"/>
                        <a:ea typeface="+mn-ea"/>
                        <a:cs typeface="+mn-cs"/>
                      </a:endParaRPr>
                    </a:p>
                  </a:txBody>
                  <a:tcPr marL="64770" marR="64770" marT="17907" marB="17907" anchor="ctr"/>
                </a:tc>
                <a:tc>
                  <a:txBody>
                    <a:bodyPr/>
                    <a:lstStyle/>
                    <a:p>
                      <a:pPr marL="85725" marR="31750" indent="-85725" algn="l" fontAlgn="base" latinLnBrk="1">
                        <a:lnSpc>
                          <a:spcPct val="130000"/>
                        </a:lnSpc>
                        <a:spcBef>
                          <a:spcPts val="0"/>
                        </a:spcBef>
                        <a:spcAft>
                          <a:spcPts val="0"/>
                        </a:spcAft>
                        <a:buFont typeface="Arial" pitchFamily="34" charset="0"/>
                        <a:buChar char="•"/>
                      </a:pPr>
                      <a:r>
                        <a:rPr lang="ko-KR" altLang="en-US" sz="1200" kern="1200" dirty="0"/>
                        <a:t>불복의 대상이 없기 때문에 독립하여 불복 불가능</a:t>
                      </a:r>
                      <a:endParaRPr lang="en-US" altLang="ko-KR" sz="1200" kern="1200" dirty="0"/>
                    </a:p>
                    <a:p>
                      <a:pPr marL="85725" marR="31750" indent="-85725" algn="l" fontAlgn="base" latinLnBrk="1">
                        <a:lnSpc>
                          <a:spcPct val="130000"/>
                        </a:lnSpc>
                        <a:spcBef>
                          <a:spcPts val="0"/>
                        </a:spcBef>
                        <a:spcAft>
                          <a:spcPts val="0"/>
                        </a:spcAft>
                        <a:buFont typeface="Arial" pitchFamily="34" charset="0"/>
                        <a:buChar char="•"/>
                      </a:pPr>
                      <a:r>
                        <a:rPr lang="ko-KR" altLang="en-US" sz="1200" kern="1200" dirty="0">
                          <a:solidFill>
                            <a:srgbClr val="FF0000"/>
                          </a:solidFill>
                        </a:rPr>
                        <a:t>단</a:t>
                      </a:r>
                      <a:r>
                        <a:rPr lang="en-US" altLang="ko-KR" sz="1200" kern="1200" dirty="0">
                          <a:solidFill>
                            <a:srgbClr val="FF0000"/>
                          </a:solidFill>
                        </a:rPr>
                        <a:t>, </a:t>
                      </a:r>
                      <a:r>
                        <a:rPr lang="ko-KR" altLang="en-US" sz="1200" kern="1200" dirty="0">
                          <a:solidFill>
                            <a:srgbClr val="FF0000"/>
                          </a:solidFill>
                        </a:rPr>
                        <a:t>지정국에서의 구제방법</a:t>
                      </a:r>
                      <a:r>
                        <a:rPr lang="en-US" altLang="ko-KR" sz="1200" kern="1200" dirty="0">
                          <a:solidFill>
                            <a:srgbClr val="FF0000"/>
                          </a:solidFill>
                        </a:rPr>
                        <a:t>(</a:t>
                      </a:r>
                      <a:r>
                        <a:rPr lang="ko-KR" altLang="en-US" sz="1200" kern="1200" dirty="0">
                          <a:solidFill>
                            <a:srgbClr val="FF0000"/>
                          </a:solidFill>
                        </a:rPr>
                        <a:t>法 </a:t>
                      </a:r>
                      <a:r>
                        <a:rPr lang="en-US" altLang="ko-KR" sz="1200" kern="1200" dirty="0">
                          <a:solidFill>
                            <a:srgbClr val="FF0000"/>
                          </a:solidFill>
                        </a:rPr>
                        <a:t>214)</a:t>
                      </a:r>
                      <a:r>
                        <a:rPr lang="ko-KR" altLang="en-US" sz="1200" kern="1200" dirty="0">
                          <a:solidFill>
                            <a:srgbClr val="FF0000"/>
                          </a:solidFill>
                        </a:rPr>
                        <a:t>에 의한 구제 가능</a:t>
                      </a:r>
                      <a:endParaRPr lang="ko-KR" altLang="en-US" sz="1200" kern="1200" dirty="0">
                        <a:solidFill>
                          <a:srgbClr val="FF0000"/>
                        </a:solidFill>
                        <a:latin typeface="+mn-lt"/>
                        <a:ea typeface="+mn-ea"/>
                        <a:cs typeface="+mn-cs"/>
                      </a:endParaRPr>
                    </a:p>
                  </a:txBody>
                  <a:tcPr marL="64770" marR="64770" marT="17907" marB="17907" anchor="ctr"/>
                </a:tc>
                <a:extLst>
                  <a:ext uri="{0D108BD9-81ED-4DB2-BD59-A6C34878D82A}">
                    <a16:rowId xmlns:a16="http://schemas.microsoft.com/office/drawing/2014/main" val="1751395225"/>
                  </a:ext>
                </a:extLst>
              </a:tr>
            </a:tbl>
          </a:graphicData>
        </a:graphic>
      </p:graphicFrame>
      <p:cxnSp>
        <p:nvCxnSpPr>
          <p:cNvPr id="8" name="직선 연결선 7"/>
          <p:cNvCxnSpPr/>
          <p:nvPr/>
        </p:nvCxnSpPr>
        <p:spPr>
          <a:xfrm flipV="1">
            <a:off x="4557858" y="4758267"/>
            <a:ext cx="0" cy="1825955"/>
          </a:xfrm>
          <a:prstGeom prst="line">
            <a:avLst/>
          </a:prstGeom>
          <a:ln w="28575">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직선 연결선 9"/>
          <p:cNvCxnSpPr/>
          <p:nvPr/>
        </p:nvCxnSpPr>
        <p:spPr>
          <a:xfrm>
            <a:off x="4781483" y="5768149"/>
            <a:ext cx="7224250" cy="0"/>
          </a:xfrm>
          <a:prstGeom prst="line">
            <a:avLst/>
          </a:prstGeom>
          <a:ln w="5715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직사각형 10"/>
          <p:cNvSpPr/>
          <p:nvPr/>
        </p:nvSpPr>
        <p:spPr>
          <a:xfrm>
            <a:off x="4724392" y="5642518"/>
            <a:ext cx="609601" cy="25059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Frutiger LT 65 Bold"/>
                <a:ea typeface="Rix모던고딕 B"/>
                <a:cs typeface="+mn-cs"/>
              </a:rPr>
              <a:t>선출원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3" name="직사각형 12"/>
          <p:cNvSpPr/>
          <p:nvPr/>
        </p:nvSpPr>
        <p:spPr>
          <a:xfrm>
            <a:off x="5503322" y="5642518"/>
            <a:ext cx="1371600" cy="25059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a:ln>
                  <a:noFill/>
                </a:ln>
                <a:solidFill>
                  <a:prstClr val="black"/>
                </a:solidFill>
                <a:effectLst/>
                <a:uLnTx/>
                <a:uFillTx/>
                <a:latin typeface="Frutiger LT 65 Bold"/>
                <a:ea typeface="Rix모던고딕 B"/>
                <a:cs typeface="+mn-cs"/>
              </a:rPr>
              <a:t>PCT </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출원서류 제출</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4" name="직사각형 13"/>
          <p:cNvSpPr/>
          <p:nvPr/>
        </p:nvSpPr>
        <p:spPr>
          <a:xfrm>
            <a:off x="7035781" y="5642518"/>
            <a:ext cx="1227667" cy="25059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수리관청의 처분</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5" name="직사각형 14"/>
          <p:cNvSpPr/>
          <p:nvPr/>
        </p:nvSpPr>
        <p:spPr>
          <a:xfrm>
            <a:off x="8432776" y="5642518"/>
            <a:ext cx="465675" cy="25059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Frutiger LT 65 Bold"/>
                <a:ea typeface="Rix모던고딕 B"/>
                <a:cs typeface="+mn-cs"/>
              </a:rPr>
              <a:t>통지</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6" name="직사각형 15"/>
          <p:cNvSpPr/>
          <p:nvPr/>
        </p:nvSpPr>
        <p:spPr>
          <a:xfrm>
            <a:off x="9050839" y="5642518"/>
            <a:ext cx="1126075" cy="25059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Frutiger LT 65 Bold"/>
                <a:ea typeface="Rix모던고딕 B"/>
                <a:cs typeface="+mn-cs"/>
              </a:rPr>
              <a:t>출원인의 신청</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7" name="직사각형 16"/>
          <p:cNvSpPr/>
          <p:nvPr/>
        </p:nvSpPr>
        <p:spPr>
          <a:xfrm>
            <a:off x="10397068" y="5642518"/>
            <a:ext cx="1363114" cy="250591"/>
          </a:xfrm>
          <a:prstGeom prst="rect">
            <a:avLst/>
          </a:prstGeom>
          <a:solidFill>
            <a:schemeClr val="accent1">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지식재산처장 결정</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8" name="직사각형 17"/>
          <p:cNvSpPr/>
          <p:nvPr/>
        </p:nvSpPr>
        <p:spPr>
          <a:xfrm>
            <a:off x="5503322" y="5898402"/>
            <a:ext cx="1371600" cy="25059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Frutiger LT 65 Bold"/>
                <a:ea typeface="Rix모던고딕 B"/>
                <a:cs typeface="+mn-cs"/>
              </a:rPr>
              <a:t>우선권주장</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19" name="직사각형 18"/>
          <p:cNvSpPr/>
          <p:nvPr/>
        </p:nvSpPr>
        <p:spPr>
          <a:xfrm>
            <a:off x="7035781" y="5898402"/>
            <a:ext cx="1227667" cy="25059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a:ln>
                  <a:noFill/>
                </a:ln>
                <a:solidFill>
                  <a:prstClr val="black"/>
                </a:solidFill>
                <a:effectLst/>
                <a:uLnTx/>
                <a:uFillTx/>
                <a:latin typeface="Frutiger LT 65 Bold"/>
                <a:ea typeface="Rix모던고딕 B"/>
                <a:cs typeface="+mn-cs"/>
              </a:rPr>
              <a:t>출원일 인정거부</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0" name="직사각형 19"/>
          <p:cNvSpPr/>
          <p:nvPr/>
        </p:nvSpPr>
        <p:spPr>
          <a:xfrm>
            <a:off x="7035781" y="6148993"/>
            <a:ext cx="1227667" cy="25059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취하간주</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1" name="직사각형 20"/>
          <p:cNvSpPr/>
          <p:nvPr/>
        </p:nvSpPr>
        <p:spPr>
          <a:xfrm>
            <a:off x="7035781" y="6399585"/>
            <a:ext cx="1227667" cy="250591"/>
          </a:xfrm>
          <a:prstGeom prst="rect">
            <a:avLst/>
          </a:prstGeom>
          <a:solidFill>
            <a:schemeClr val="accent4">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원본 </a:t>
            </a:r>
            <a:r>
              <a:rPr kumimoji="0" lang="ko-KR" altLang="en-US" sz="1200" b="0" i="0" u="none" strike="noStrike" kern="1200" cap="none" spc="0" normalizeH="0" baseline="0" noProof="0" dirty="0" err="1">
                <a:ln>
                  <a:noFill/>
                </a:ln>
                <a:solidFill>
                  <a:prstClr val="black"/>
                </a:solidFill>
                <a:effectLst/>
                <a:uLnTx/>
                <a:uFillTx/>
                <a:latin typeface="Frutiger LT 65 Bold"/>
                <a:ea typeface="Rix모던고딕 B"/>
                <a:cs typeface="+mn-cs"/>
              </a:rPr>
              <a:t>미도달인정</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4" name="직사각형 23"/>
          <p:cNvSpPr/>
          <p:nvPr/>
        </p:nvSpPr>
        <p:spPr>
          <a:xfrm>
            <a:off x="9050839" y="5182823"/>
            <a:ext cx="609601" cy="2505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rPr>
              <a:t>2</a:t>
            </a: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개월</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sp>
        <p:nvSpPr>
          <p:cNvPr id="25" name="직사각형 24"/>
          <p:cNvSpPr/>
          <p:nvPr/>
        </p:nvSpPr>
        <p:spPr>
          <a:xfrm>
            <a:off x="5554110" y="5064571"/>
            <a:ext cx="2095503" cy="25059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지정국에서의 국내출원</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3" name="직선 화살표 연결선 22"/>
          <p:cNvCxnSpPr>
            <a:endCxn id="13" idx="0"/>
          </p:cNvCxnSpPr>
          <p:nvPr/>
        </p:nvCxnSpPr>
        <p:spPr>
          <a:xfrm>
            <a:off x="6189122" y="5315162"/>
            <a:ext cx="0" cy="327356"/>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직사각형 27"/>
          <p:cNvSpPr/>
          <p:nvPr/>
        </p:nvSpPr>
        <p:spPr>
          <a:xfrm>
            <a:off x="4724392" y="4632971"/>
            <a:ext cx="2925221" cy="250591"/>
          </a:xfrm>
          <a:prstGeom prst="rect">
            <a:avLst/>
          </a:prstGeom>
          <a:solidFill>
            <a:schemeClr val="accent2">
              <a:lumMod val="20000"/>
              <a:lumOff val="8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ko-KR" altLang="en-US" sz="1200" b="0" i="0" u="none" strike="noStrike" kern="1200" cap="none" spc="0" normalizeH="0" baseline="0" noProof="0" dirty="0">
                <a:ln>
                  <a:noFill/>
                </a:ln>
                <a:solidFill>
                  <a:prstClr val="black"/>
                </a:solidFill>
                <a:effectLst/>
                <a:uLnTx/>
                <a:uFillTx/>
                <a:latin typeface="Frutiger LT 65 Bold"/>
                <a:ea typeface="Rix모던고딕 B"/>
                <a:cs typeface="+mn-cs"/>
              </a:rPr>
              <a:t>출원공개시기의 기산일</a:t>
            </a:r>
            <a:endParaRPr kumimoji="0" lang="en-US" altLang="ko-KR" sz="1200" b="0" i="0" u="none" strike="noStrike" kern="1200" cap="none" spc="0" normalizeH="0" baseline="0" noProof="0" dirty="0">
              <a:ln>
                <a:noFill/>
              </a:ln>
              <a:solidFill>
                <a:prstClr val="black"/>
              </a:solidFill>
              <a:effectLst/>
              <a:uLnTx/>
              <a:uFillTx/>
              <a:latin typeface="Frutiger LT 65 Bold"/>
              <a:ea typeface="Rix모던고딕 B"/>
              <a:cs typeface="+mn-cs"/>
            </a:endParaRPr>
          </a:p>
        </p:txBody>
      </p:sp>
      <p:cxnSp>
        <p:nvCxnSpPr>
          <p:cNvPr id="29" name="직선 화살표 연결선 28"/>
          <p:cNvCxnSpPr>
            <a:endCxn id="11" idx="0"/>
          </p:cNvCxnSpPr>
          <p:nvPr/>
        </p:nvCxnSpPr>
        <p:spPr>
          <a:xfrm>
            <a:off x="5029193" y="4883562"/>
            <a:ext cx="0" cy="758956"/>
          </a:xfrm>
          <a:prstGeom prst="straightConnector1">
            <a:avLst/>
          </a:prstGeom>
          <a:ln w="12700">
            <a:solidFill>
              <a:schemeClr val="bg1">
                <a:lumMod val="5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 name="슬라이드 번호 개체 틀 1"/>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588</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3540209850"/>
      </p:ext>
    </p:extLst>
  </p:cSld>
  <p:clrMapOvr>
    <a:masterClrMapping/>
  </p:clrMapOvr>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2"/>
          <p:cNvSpPr>
            <a:spLocks noGrp="1"/>
          </p:cNvSpPr>
          <p:nvPr>
            <p:ph type="title"/>
          </p:nvPr>
        </p:nvSpPr>
        <p:spPr/>
        <p:txBody>
          <a:bodyPr/>
          <a:lstStyle/>
          <a:p>
            <a:r>
              <a:rPr lang="ko-KR" altLang="en-US" dirty="0"/>
              <a:t>참고노트</a:t>
            </a:r>
          </a:p>
        </p:txBody>
      </p:sp>
      <p:sp>
        <p:nvSpPr>
          <p:cNvPr id="4" name="텍스트 개체 틀 3"/>
          <p:cNvSpPr>
            <a:spLocks noGrp="1"/>
          </p:cNvSpPr>
          <p:nvPr>
            <p:ph type="body" sz="quarter" idx="13"/>
          </p:nvPr>
        </p:nvSpPr>
        <p:spPr/>
        <p:txBody>
          <a:bodyPr/>
          <a:lstStyle/>
          <a:p>
            <a:r>
              <a:rPr lang="ko-KR" altLang="en-US" dirty="0" err="1"/>
              <a:t>실용신안법</a:t>
            </a:r>
            <a:endParaRPr lang="ko-KR" altLang="en-US" dirty="0"/>
          </a:p>
        </p:txBody>
      </p:sp>
      <p:graphicFrame>
        <p:nvGraphicFramePr>
          <p:cNvPr id="2" name="표 1"/>
          <p:cNvGraphicFramePr>
            <a:graphicFrameLocks noGrp="1"/>
          </p:cNvGraphicFramePr>
          <p:nvPr/>
        </p:nvGraphicFramePr>
        <p:xfrm>
          <a:off x="279402" y="995885"/>
          <a:ext cx="11573934" cy="5595716"/>
        </p:xfrm>
        <a:graphic>
          <a:graphicData uri="http://schemas.openxmlformats.org/drawingml/2006/table">
            <a:tbl>
              <a:tblPr>
                <a:tableStyleId>{8799B23B-EC83-4686-B30A-512413B5E67A}</a:tableStyleId>
              </a:tblPr>
              <a:tblGrid>
                <a:gridCol w="445447">
                  <a:extLst>
                    <a:ext uri="{9D8B030D-6E8A-4147-A177-3AD203B41FA5}">
                      <a16:colId xmlns:a16="http://schemas.microsoft.com/office/drawing/2014/main" val="20000"/>
                    </a:ext>
                  </a:extLst>
                </a:gridCol>
                <a:gridCol w="1474531">
                  <a:extLst>
                    <a:ext uri="{9D8B030D-6E8A-4147-A177-3AD203B41FA5}">
                      <a16:colId xmlns:a16="http://schemas.microsoft.com/office/drawing/2014/main" val="20001"/>
                    </a:ext>
                  </a:extLst>
                </a:gridCol>
                <a:gridCol w="4826978">
                  <a:extLst>
                    <a:ext uri="{9D8B030D-6E8A-4147-A177-3AD203B41FA5}">
                      <a16:colId xmlns:a16="http://schemas.microsoft.com/office/drawing/2014/main" val="20002"/>
                    </a:ext>
                  </a:extLst>
                </a:gridCol>
                <a:gridCol w="4826978">
                  <a:extLst>
                    <a:ext uri="{9D8B030D-6E8A-4147-A177-3AD203B41FA5}">
                      <a16:colId xmlns:a16="http://schemas.microsoft.com/office/drawing/2014/main" val="20003"/>
                    </a:ext>
                  </a:extLst>
                </a:gridCol>
              </a:tblGrid>
              <a:tr h="151207">
                <a:tc gridSpan="2">
                  <a:txBody>
                    <a:bodyPr/>
                    <a:lstStyle/>
                    <a:p>
                      <a:pPr marL="0" marR="0" indent="0" algn="ctr" fontAlgn="base" latinLnBrk="0">
                        <a:lnSpc>
                          <a:spcPct val="100000"/>
                        </a:lnSpc>
                        <a:spcBef>
                          <a:spcPts val="0"/>
                        </a:spcBef>
                        <a:spcAft>
                          <a:spcPts val="0"/>
                        </a:spcAft>
                      </a:pPr>
                      <a:r>
                        <a:rPr lang="ko-KR" altLang="en-US" sz="1050" kern="0" spc="-100" dirty="0">
                          <a:effectLst/>
                          <a:latin typeface="+mn-ea"/>
                          <a:ea typeface="+mn-ea"/>
                        </a:rPr>
                        <a:t>구분</a:t>
                      </a:r>
                      <a:endParaRPr lang="ko-KR" altLang="en-US" sz="1050" kern="0" spc="-100" dirty="0">
                        <a:solidFill>
                          <a:srgbClr val="000000"/>
                        </a:solidFill>
                        <a:effectLst/>
                        <a:latin typeface="+mn-ea"/>
                        <a:ea typeface="+mn-ea"/>
                      </a:endParaRPr>
                    </a:p>
                  </a:txBody>
                  <a:tcPr marL="72000" marR="72000" marT="11252" marB="11252" anchor="ctr">
                    <a:solidFill>
                      <a:schemeClr val="accent1">
                        <a:lumMod val="20000"/>
                        <a:lumOff val="80000"/>
                      </a:schemeClr>
                    </a:solid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50" kern="0" spc="-100" dirty="0">
                          <a:effectLst/>
                          <a:latin typeface="+mn-ea"/>
                          <a:ea typeface="+mn-ea"/>
                        </a:rPr>
                        <a:t>특허법</a:t>
                      </a:r>
                      <a:endParaRPr lang="ko-KR" altLang="en-US" sz="1050" kern="0" spc="-100" dirty="0">
                        <a:solidFill>
                          <a:srgbClr val="000000"/>
                        </a:solidFill>
                        <a:effectLst/>
                        <a:latin typeface="+mn-ea"/>
                        <a:ea typeface="+mn-ea"/>
                      </a:endParaRPr>
                    </a:p>
                  </a:txBody>
                  <a:tcPr marL="72000" marR="72000" marT="11252" marB="11252" anchor="ctr">
                    <a:solidFill>
                      <a:schemeClr val="accent1">
                        <a:lumMod val="20000"/>
                        <a:lumOff val="80000"/>
                      </a:schemeClr>
                    </a:solidFill>
                  </a:tcPr>
                </a:tc>
                <a:tc>
                  <a:txBody>
                    <a:bodyPr/>
                    <a:lstStyle/>
                    <a:p>
                      <a:pPr marL="0" marR="0" indent="0" algn="ctr" fontAlgn="base" latinLnBrk="0">
                        <a:lnSpc>
                          <a:spcPct val="100000"/>
                        </a:lnSpc>
                        <a:spcBef>
                          <a:spcPts val="0"/>
                        </a:spcBef>
                        <a:spcAft>
                          <a:spcPts val="0"/>
                        </a:spcAft>
                      </a:pPr>
                      <a:r>
                        <a:rPr lang="ko-KR" altLang="en-US" sz="1050" kern="0" spc="-100" dirty="0">
                          <a:effectLst/>
                          <a:latin typeface="+mn-ea"/>
                          <a:ea typeface="+mn-ea"/>
                        </a:rPr>
                        <a:t>실용신안법</a:t>
                      </a:r>
                      <a:endParaRPr lang="ko-KR" altLang="en-US" sz="1050" kern="0" spc="-100" dirty="0">
                        <a:solidFill>
                          <a:srgbClr val="000000"/>
                        </a:solidFill>
                        <a:effectLst/>
                        <a:latin typeface="+mn-ea"/>
                        <a:ea typeface="+mn-ea"/>
                      </a:endParaRPr>
                    </a:p>
                  </a:txBody>
                  <a:tcPr marL="72000" marR="72000" marT="11252" marB="11252" anchor="ctr">
                    <a:solidFill>
                      <a:schemeClr val="accent1">
                        <a:lumMod val="20000"/>
                        <a:lumOff val="80000"/>
                      </a:schemeClr>
                    </a:solidFill>
                  </a:tcPr>
                </a:tc>
                <a:extLst>
                  <a:ext uri="{0D108BD9-81ED-4DB2-BD59-A6C34878D82A}">
                    <a16:rowId xmlns:a16="http://schemas.microsoft.com/office/drawing/2014/main" val="10000"/>
                  </a:ext>
                </a:extLst>
              </a:tr>
              <a:tr h="151207">
                <a:tc gridSpan="2">
                  <a:txBody>
                    <a:bodyPr/>
                    <a:lstStyle/>
                    <a:p>
                      <a:pPr marL="0" marR="0" indent="0" algn="ctr" fontAlgn="base" latinLnBrk="0">
                        <a:lnSpc>
                          <a:spcPct val="100000"/>
                        </a:lnSpc>
                        <a:spcBef>
                          <a:spcPts val="0"/>
                        </a:spcBef>
                        <a:spcAft>
                          <a:spcPts val="0"/>
                        </a:spcAft>
                      </a:pPr>
                      <a:r>
                        <a:rPr lang="ko-KR" altLang="en-US" sz="1050" kern="0" spc="-100">
                          <a:effectLst/>
                          <a:latin typeface="+mn-ea"/>
                          <a:ea typeface="+mn-ea"/>
                        </a:rPr>
                        <a:t>보호대상</a:t>
                      </a:r>
                      <a:endParaRPr lang="ko-KR" altLang="en-US" sz="1050" kern="0" spc="-100">
                        <a:solidFill>
                          <a:srgbClr val="000000"/>
                        </a:solidFill>
                        <a:effectLst/>
                        <a:latin typeface="+mn-ea"/>
                        <a:ea typeface="+mn-ea"/>
                      </a:endParaRPr>
                    </a:p>
                  </a:txBody>
                  <a:tcPr marL="72000" marR="72000" marT="11252" marB="11252" anchor="ct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050" kern="0" spc="-50" dirty="0">
                          <a:effectLst/>
                          <a:latin typeface="+mn-ea"/>
                          <a:ea typeface="+mn-ea"/>
                        </a:rPr>
                        <a:t>발명</a:t>
                      </a:r>
                      <a:r>
                        <a:rPr lang="en-US" altLang="ko-KR" sz="1050" kern="0" spc="-50" dirty="0">
                          <a:effectLst/>
                          <a:latin typeface="+mn-ea"/>
                          <a:ea typeface="+mn-ea"/>
                        </a:rPr>
                        <a:t>(</a:t>
                      </a:r>
                      <a:r>
                        <a:rPr lang="ko-KR" altLang="en-US" sz="1050" kern="0" spc="-50" dirty="0">
                          <a:effectLst/>
                          <a:latin typeface="+mn-ea"/>
                          <a:ea typeface="+mn-ea"/>
                        </a:rPr>
                        <a:t>방법발명</a:t>
                      </a:r>
                      <a:r>
                        <a:rPr lang="en-US" altLang="ko-KR" sz="1050" kern="0" spc="-50" dirty="0">
                          <a:effectLst/>
                          <a:latin typeface="+mn-ea"/>
                          <a:ea typeface="+mn-ea"/>
                        </a:rPr>
                        <a:t>, </a:t>
                      </a:r>
                      <a:r>
                        <a:rPr lang="ko-KR" altLang="en-US" sz="1050" kern="0" spc="-50" dirty="0">
                          <a:effectLst/>
                          <a:latin typeface="+mn-ea"/>
                          <a:ea typeface="+mn-ea"/>
                        </a:rPr>
                        <a:t>물질발명</a:t>
                      </a:r>
                      <a:r>
                        <a:rPr lang="en-US" altLang="ko-KR" sz="1050" kern="0" spc="-50" dirty="0">
                          <a:effectLst/>
                          <a:latin typeface="+mn-ea"/>
                          <a:ea typeface="+mn-ea"/>
                        </a:rPr>
                        <a:t>, </a:t>
                      </a:r>
                      <a:r>
                        <a:rPr lang="ko-KR" altLang="en-US" sz="1050" kern="0" spc="-50" dirty="0">
                          <a:effectLst/>
                          <a:latin typeface="+mn-ea"/>
                          <a:ea typeface="+mn-ea"/>
                        </a:rPr>
                        <a:t>용도발명도 특허 가능</a:t>
                      </a:r>
                      <a:r>
                        <a:rPr lang="en-US" altLang="ko-KR" sz="1050" kern="0" spc="-50" dirty="0">
                          <a:effectLst/>
                          <a:latin typeface="+mn-ea"/>
                          <a:ea typeface="+mn-ea"/>
                        </a:rPr>
                        <a:t>)</a:t>
                      </a:r>
                      <a:endParaRPr lang="ko-KR" altLang="en-US" sz="1050" kern="0" spc="-50" dirty="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130" dirty="0">
                          <a:effectLst/>
                          <a:latin typeface="+mn-ea"/>
                          <a:ea typeface="+mn-ea"/>
                        </a:rPr>
                        <a:t>물품의 </a:t>
                      </a:r>
                      <a:r>
                        <a:rPr lang="ko-KR" altLang="en-US" sz="1050" kern="0" spc="-130" dirty="0" err="1">
                          <a:effectLst/>
                          <a:latin typeface="+mn-ea"/>
                          <a:ea typeface="+mn-ea"/>
                        </a:rPr>
                        <a:t>형상ㆍ구조ㆍ조합에</a:t>
                      </a:r>
                      <a:r>
                        <a:rPr lang="ko-KR" altLang="en-US" sz="1050" kern="0" spc="-130" dirty="0">
                          <a:effectLst/>
                          <a:latin typeface="+mn-ea"/>
                          <a:ea typeface="+mn-ea"/>
                        </a:rPr>
                        <a:t> 관한 고안</a:t>
                      </a:r>
                      <a:r>
                        <a:rPr lang="en-US" altLang="ko-KR" sz="1050" kern="0" spc="-130" dirty="0">
                          <a:effectLst/>
                          <a:latin typeface="+mn-ea"/>
                          <a:ea typeface="+mn-ea"/>
                        </a:rPr>
                        <a:t>(</a:t>
                      </a:r>
                      <a:r>
                        <a:rPr lang="ko-KR" altLang="en-US" sz="1050" kern="0" spc="-130" dirty="0">
                          <a:effectLst/>
                          <a:latin typeface="+mn-ea"/>
                          <a:ea typeface="+mn-ea"/>
                        </a:rPr>
                        <a:t>∴</a:t>
                      </a:r>
                      <a:r>
                        <a:rPr lang="ko-KR" altLang="en-US" sz="1050" kern="0" spc="-130" dirty="0" err="1">
                          <a:effectLst/>
                          <a:latin typeface="+mn-ea"/>
                          <a:ea typeface="+mn-ea"/>
                        </a:rPr>
                        <a:t>물품성要</a:t>
                      </a:r>
                      <a:r>
                        <a:rPr lang="en-US" altLang="ko-KR" sz="1050" kern="0" spc="-130" dirty="0">
                          <a:effectLst/>
                          <a:latin typeface="+mn-ea"/>
                          <a:ea typeface="+mn-ea"/>
                        </a:rPr>
                        <a:t>, </a:t>
                      </a:r>
                      <a:r>
                        <a:rPr lang="ko-KR" altLang="en-US" sz="1050" kern="0" spc="-130" dirty="0">
                          <a:effectLst/>
                          <a:latin typeface="+mn-ea"/>
                          <a:ea typeface="+mn-ea"/>
                        </a:rPr>
                        <a:t>방법 또는 물질에 관한 고안은 등록불가</a:t>
                      </a:r>
                      <a:r>
                        <a:rPr lang="en-US" altLang="ko-KR" sz="1050" kern="0" spc="-130" dirty="0">
                          <a:effectLst/>
                          <a:latin typeface="+mn-ea"/>
                          <a:ea typeface="+mn-ea"/>
                        </a:rPr>
                        <a:t>)</a:t>
                      </a:r>
                      <a:endParaRPr lang="ko-KR" altLang="en-US" sz="1050" kern="0" spc="-130" dirty="0">
                        <a:solidFill>
                          <a:srgbClr val="000000"/>
                        </a:solidFill>
                        <a:effectLst/>
                        <a:latin typeface="+mn-ea"/>
                        <a:ea typeface="+mn-ea"/>
                      </a:endParaRPr>
                    </a:p>
                  </a:txBody>
                  <a:tcPr marL="72000" marR="72000" marT="11252" marB="11252" anchor="ctr"/>
                </a:tc>
                <a:extLst>
                  <a:ext uri="{0D108BD9-81ED-4DB2-BD59-A6C34878D82A}">
                    <a16:rowId xmlns:a16="http://schemas.microsoft.com/office/drawing/2014/main" val="10001"/>
                  </a:ext>
                </a:extLst>
              </a:tr>
              <a:tr h="151207">
                <a:tc gridSpan="2">
                  <a:txBody>
                    <a:bodyPr/>
                    <a:lstStyle/>
                    <a:p>
                      <a:pPr marL="0" marR="0" indent="0" algn="ctr" fontAlgn="base" latinLnBrk="0">
                        <a:lnSpc>
                          <a:spcPct val="100000"/>
                        </a:lnSpc>
                        <a:spcBef>
                          <a:spcPts val="0"/>
                        </a:spcBef>
                        <a:spcAft>
                          <a:spcPts val="0"/>
                        </a:spcAft>
                      </a:pPr>
                      <a:r>
                        <a:rPr lang="ko-KR" altLang="en-US" sz="1050" kern="0" spc="-100">
                          <a:effectLst/>
                          <a:latin typeface="+mn-ea"/>
                          <a:ea typeface="+mn-ea"/>
                        </a:rPr>
                        <a:t>성립요건</a:t>
                      </a:r>
                      <a:endParaRPr lang="ko-KR" altLang="en-US" sz="1050" kern="0" spc="-100">
                        <a:solidFill>
                          <a:srgbClr val="000000"/>
                        </a:solidFill>
                        <a:effectLst/>
                        <a:latin typeface="+mn-ea"/>
                        <a:ea typeface="+mn-ea"/>
                      </a:endParaRPr>
                    </a:p>
                  </a:txBody>
                  <a:tcPr marL="72000" marR="72000" marT="11252" marB="11252" anchor="ctr"/>
                </a:tc>
                <a:tc hMerge="1">
                  <a:txBody>
                    <a:bodyPr/>
                    <a:lstStyle/>
                    <a:p>
                      <a:pPr latinLnBrk="1"/>
                      <a:endParaRPr lang="ko-KR" altLang="en-US"/>
                    </a:p>
                  </a:txBody>
                  <a:tcPr/>
                </a:tc>
                <a:tc>
                  <a:txBody>
                    <a:bodyPr/>
                    <a:lstStyle/>
                    <a:p>
                      <a:pPr marL="17780" marR="17780" indent="0" algn="just" fontAlgn="base" latinLnBrk="1">
                        <a:lnSpc>
                          <a:spcPct val="100000"/>
                        </a:lnSpc>
                        <a:spcBef>
                          <a:spcPts val="0"/>
                        </a:spcBef>
                        <a:spcAft>
                          <a:spcPts val="0"/>
                        </a:spcAft>
                      </a:pPr>
                      <a:r>
                        <a:rPr lang="ko-KR" altLang="en-US" sz="1050" kern="0" spc="-50">
                          <a:effectLst/>
                          <a:latin typeface="+mn-ea"/>
                          <a:ea typeface="+mn-ea"/>
                        </a:rPr>
                        <a:t>고도성 要</a:t>
                      </a:r>
                      <a:endParaRPr lang="ko-KR" altLang="en-US" sz="1050" kern="0" spc="-5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50">
                          <a:effectLst/>
                          <a:latin typeface="+mn-ea"/>
                          <a:ea typeface="+mn-ea"/>
                        </a:rPr>
                        <a:t>고도성 不要</a:t>
                      </a:r>
                      <a:endParaRPr lang="ko-KR" altLang="en-US" sz="1050" kern="0" spc="-50">
                        <a:solidFill>
                          <a:srgbClr val="000000"/>
                        </a:solidFill>
                        <a:effectLst/>
                        <a:latin typeface="+mn-ea"/>
                        <a:ea typeface="+mn-ea"/>
                      </a:endParaRPr>
                    </a:p>
                  </a:txBody>
                  <a:tcPr marL="72000" marR="72000" marT="11252" marB="11252" anchor="ctr"/>
                </a:tc>
                <a:extLst>
                  <a:ext uri="{0D108BD9-81ED-4DB2-BD59-A6C34878D82A}">
                    <a16:rowId xmlns:a16="http://schemas.microsoft.com/office/drawing/2014/main" val="10002"/>
                  </a:ext>
                </a:extLst>
              </a:tr>
              <a:tr h="151207">
                <a:tc rowSpan="2">
                  <a:txBody>
                    <a:bodyPr/>
                    <a:lstStyle/>
                    <a:p>
                      <a:pPr marL="0" marR="0" indent="0" algn="ctr" fontAlgn="base" latinLnBrk="0">
                        <a:lnSpc>
                          <a:spcPct val="100000"/>
                        </a:lnSpc>
                        <a:spcBef>
                          <a:spcPts val="0"/>
                        </a:spcBef>
                        <a:spcAft>
                          <a:spcPts val="0"/>
                        </a:spcAft>
                      </a:pPr>
                      <a:r>
                        <a:rPr lang="ko-KR" altLang="en-US" sz="1050" kern="0" spc="-100">
                          <a:effectLst/>
                          <a:latin typeface="+mn-ea"/>
                          <a:ea typeface="+mn-ea"/>
                        </a:rPr>
                        <a:t>등록요건</a:t>
                      </a:r>
                      <a:endParaRPr lang="ko-KR" altLang="en-US" sz="1050" kern="0" spc="-100">
                        <a:solidFill>
                          <a:srgbClr val="000000"/>
                        </a:solidFill>
                        <a:effectLst/>
                        <a:latin typeface="+mn-ea"/>
                        <a:ea typeface="+mn-ea"/>
                      </a:endParaRPr>
                    </a:p>
                  </a:txBody>
                  <a:tcPr marL="72000" marR="72000" marT="11252" marB="11252" anchor="ctr"/>
                </a:tc>
                <a:tc>
                  <a:txBody>
                    <a:bodyPr/>
                    <a:lstStyle/>
                    <a:p>
                      <a:pPr marL="0" marR="0" indent="0" algn="ctr" fontAlgn="base" latinLnBrk="0">
                        <a:lnSpc>
                          <a:spcPct val="100000"/>
                        </a:lnSpc>
                        <a:spcBef>
                          <a:spcPts val="0"/>
                        </a:spcBef>
                        <a:spcAft>
                          <a:spcPts val="0"/>
                        </a:spcAft>
                      </a:pPr>
                      <a:r>
                        <a:rPr lang="ko-KR" altLang="en-US" sz="1050" kern="0" spc="-100">
                          <a:effectLst/>
                          <a:latin typeface="+mn-ea"/>
                          <a:ea typeface="+mn-ea"/>
                        </a:rPr>
                        <a:t>진보성</a:t>
                      </a:r>
                      <a:endParaRPr lang="ko-KR" altLang="en-US" sz="1050" kern="0" spc="-10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50">
                          <a:effectLst/>
                          <a:latin typeface="+mn-ea"/>
                          <a:ea typeface="+mn-ea"/>
                        </a:rPr>
                        <a:t>용이성</a:t>
                      </a:r>
                      <a:endParaRPr lang="ko-KR" altLang="en-US" sz="1050" kern="0" spc="-5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50">
                          <a:effectLst/>
                          <a:latin typeface="+mn-ea"/>
                          <a:ea typeface="+mn-ea"/>
                        </a:rPr>
                        <a:t>「극히 용이성」</a:t>
                      </a:r>
                      <a:r>
                        <a:rPr lang="en-US" altLang="ko-KR" sz="1050" kern="0" spc="-50">
                          <a:effectLst/>
                          <a:latin typeface="+mn-ea"/>
                          <a:ea typeface="+mn-ea"/>
                        </a:rPr>
                        <a:t>(</a:t>
                      </a:r>
                      <a:r>
                        <a:rPr lang="ko-KR" altLang="en-US" sz="1050" kern="0" spc="-50">
                          <a:effectLst/>
                          <a:latin typeface="+mn-ea"/>
                          <a:ea typeface="+mn-ea"/>
                        </a:rPr>
                        <a:t>즉</a:t>
                      </a:r>
                      <a:r>
                        <a:rPr lang="en-US" altLang="ko-KR" sz="1050" kern="0" spc="-50">
                          <a:effectLst/>
                          <a:latin typeface="+mn-ea"/>
                          <a:ea typeface="+mn-ea"/>
                        </a:rPr>
                        <a:t>, </a:t>
                      </a:r>
                      <a:r>
                        <a:rPr lang="ko-KR" altLang="en-US" sz="1050" kern="0" spc="-50">
                          <a:effectLst/>
                          <a:latin typeface="+mn-ea"/>
                          <a:ea typeface="+mn-ea"/>
                        </a:rPr>
                        <a:t>낮은 수준의 진보성</a:t>
                      </a:r>
                      <a:r>
                        <a:rPr lang="en-US" altLang="ko-KR" sz="1050" kern="0" spc="-50">
                          <a:effectLst/>
                          <a:latin typeface="+mn-ea"/>
                          <a:ea typeface="+mn-ea"/>
                        </a:rPr>
                        <a:t>)</a:t>
                      </a:r>
                      <a:endParaRPr lang="ko-KR" altLang="en-US" sz="1050" kern="0" spc="-50">
                        <a:solidFill>
                          <a:srgbClr val="000000"/>
                        </a:solidFill>
                        <a:effectLst/>
                        <a:latin typeface="+mn-ea"/>
                        <a:ea typeface="+mn-ea"/>
                      </a:endParaRPr>
                    </a:p>
                  </a:txBody>
                  <a:tcPr marL="72000" marR="72000" marT="11252" marB="11252" anchor="ctr"/>
                </a:tc>
                <a:extLst>
                  <a:ext uri="{0D108BD9-81ED-4DB2-BD59-A6C34878D82A}">
                    <a16:rowId xmlns:a16="http://schemas.microsoft.com/office/drawing/2014/main" val="10003"/>
                  </a:ext>
                </a:extLst>
              </a:tr>
              <a:tr h="283771">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50" kern="0" spc="-100">
                          <a:effectLst/>
                          <a:latin typeface="+mn-ea"/>
                          <a:ea typeface="+mn-ea"/>
                        </a:rPr>
                        <a:t>부등록사유</a:t>
                      </a:r>
                      <a:endParaRPr lang="ko-KR" altLang="en-US" sz="1050" kern="0" spc="-10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50" dirty="0">
                          <a:effectLst/>
                          <a:latin typeface="+mn-ea"/>
                          <a:ea typeface="+mn-ea"/>
                        </a:rPr>
                        <a:t>공서양속에 어긋나거나 공중의 위생을 해칠 우려가 있는 발명</a:t>
                      </a:r>
                      <a:endParaRPr lang="ko-KR" altLang="en-US" sz="1050" kern="0" spc="-50" dirty="0">
                        <a:solidFill>
                          <a:srgbClr val="000000"/>
                        </a:solidFill>
                        <a:effectLst/>
                        <a:latin typeface="+mn-ea"/>
                        <a:ea typeface="+mn-ea"/>
                      </a:endParaRPr>
                    </a:p>
                  </a:txBody>
                  <a:tcPr marL="72000" marR="72000" marT="11252" marB="11252" anchor="ctr"/>
                </a:tc>
                <a:tc>
                  <a:txBody>
                    <a:bodyPr/>
                    <a:lstStyle/>
                    <a:p>
                      <a:pPr marL="17780" marR="17780" lvl="0" indent="0" algn="just" defTabSz="914400" rtl="0" eaLnBrk="1" fontAlgn="base" latinLnBrk="1" hangingPunct="1">
                        <a:lnSpc>
                          <a:spcPct val="100000"/>
                        </a:lnSpc>
                        <a:spcBef>
                          <a:spcPts val="0"/>
                        </a:spcBef>
                        <a:spcAft>
                          <a:spcPts val="0"/>
                        </a:spcAft>
                        <a:buClrTx/>
                        <a:buSzTx/>
                        <a:buFontTx/>
                        <a:buNone/>
                        <a:tabLst/>
                        <a:defRPr/>
                      </a:pPr>
                      <a:r>
                        <a:rPr lang="en-US" altLang="ko-KR" sz="1050" kern="0" spc="-50" dirty="0">
                          <a:effectLst/>
                          <a:latin typeface="+mn-ea"/>
                          <a:ea typeface="+mn-ea"/>
                        </a:rPr>
                        <a:t>1. </a:t>
                      </a:r>
                      <a:r>
                        <a:rPr lang="ko-KR" altLang="en-US" sz="1050" kern="0" spc="-50" dirty="0">
                          <a:effectLst/>
                          <a:latin typeface="+mn-ea"/>
                          <a:ea typeface="+mn-ea"/>
                        </a:rPr>
                        <a:t>공서양속에 어긋나거나 공중의 위생을 해칠 우려가 있는 고안</a:t>
                      </a:r>
                      <a:endParaRPr lang="ko-KR" altLang="en-US" sz="1050" kern="0" spc="-50" dirty="0">
                        <a:solidFill>
                          <a:srgbClr val="000000"/>
                        </a:solidFill>
                        <a:effectLst/>
                        <a:latin typeface="+mn-ea"/>
                        <a:ea typeface="+mn-ea"/>
                      </a:endParaRPr>
                    </a:p>
                    <a:p>
                      <a:pPr marL="17780" marR="17780" indent="0" algn="just" fontAlgn="base" latinLnBrk="1">
                        <a:lnSpc>
                          <a:spcPct val="100000"/>
                        </a:lnSpc>
                        <a:spcBef>
                          <a:spcPts val="0"/>
                        </a:spcBef>
                        <a:spcAft>
                          <a:spcPts val="0"/>
                        </a:spcAft>
                      </a:pPr>
                      <a:r>
                        <a:rPr lang="en-US" altLang="ko-KR" sz="1050" kern="0" spc="-50" dirty="0">
                          <a:effectLst/>
                          <a:latin typeface="+mn-ea"/>
                          <a:ea typeface="+mn-ea"/>
                        </a:rPr>
                        <a:t>2. </a:t>
                      </a:r>
                      <a:r>
                        <a:rPr lang="ko-KR" altLang="en-US" sz="1050" kern="0" spc="-50" dirty="0">
                          <a:effectLst/>
                          <a:latin typeface="+mn-ea"/>
                          <a:ea typeface="+mn-ea"/>
                        </a:rPr>
                        <a:t>국기 또는 훈장과 동일하거나 유사한 고안</a:t>
                      </a:r>
                      <a:endParaRPr lang="ko-KR" altLang="en-US" sz="1050" kern="0" spc="-50" dirty="0">
                        <a:solidFill>
                          <a:srgbClr val="000000"/>
                        </a:solidFill>
                        <a:effectLst/>
                        <a:latin typeface="+mn-ea"/>
                        <a:ea typeface="+mn-ea"/>
                      </a:endParaRPr>
                    </a:p>
                  </a:txBody>
                  <a:tcPr marL="72000" marR="72000" marT="11252" marB="11252" anchor="ctr"/>
                </a:tc>
                <a:extLst>
                  <a:ext uri="{0D108BD9-81ED-4DB2-BD59-A6C34878D82A}">
                    <a16:rowId xmlns:a16="http://schemas.microsoft.com/office/drawing/2014/main" val="10004"/>
                  </a:ext>
                </a:extLst>
              </a:tr>
              <a:tr h="170429">
                <a:tc rowSpan="2">
                  <a:txBody>
                    <a:bodyPr/>
                    <a:lstStyle/>
                    <a:p>
                      <a:pPr marL="0" marR="0" indent="0" algn="ctr" fontAlgn="base" latinLnBrk="0">
                        <a:lnSpc>
                          <a:spcPct val="100000"/>
                        </a:lnSpc>
                        <a:spcBef>
                          <a:spcPts val="0"/>
                        </a:spcBef>
                        <a:spcAft>
                          <a:spcPts val="0"/>
                        </a:spcAft>
                      </a:pPr>
                      <a:r>
                        <a:rPr lang="ko-KR" altLang="en-US" sz="1050" kern="0" spc="-100">
                          <a:effectLst/>
                          <a:latin typeface="+mn-ea"/>
                          <a:ea typeface="+mn-ea"/>
                        </a:rPr>
                        <a:t>출원</a:t>
                      </a:r>
                    </a:p>
                    <a:p>
                      <a:pPr marL="0" marR="0" indent="0" algn="ctr" fontAlgn="base" latinLnBrk="0">
                        <a:lnSpc>
                          <a:spcPct val="100000"/>
                        </a:lnSpc>
                        <a:spcBef>
                          <a:spcPts val="0"/>
                        </a:spcBef>
                        <a:spcAft>
                          <a:spcPts val="0"/>
                        </a:spcAft>
                      </a:pPr>
                      <a:r>
                        <a:rPr lang="ko-KR" altLang="en-US" sz="1050" kern="0" spc="-100">
                          <a:effectLst/>
                          <a:latin typeface="+mn-ea"/>
                          <a:ea typeface="+mn-ea"/>
                        </a:rPr>
                        <a:t>및 </a:t>
                      </a:r>
                    </a:p>
                    <a:p>
                      <a:pPr marL="0" marR="0" indent="0" algn="ctr" fontAlgn="base" latinLnBrk="0">
                        <a:lnSpc>
                          <a:spcPct val="100000"/>
                        </a:lnSpc>
                        <a:spcBef>
                          <a:spcPts val="0"/>
                        </a:spcBef>
                        <a:spcAft>
                          <a:spcPts val="0"/>
                        </a:spcAft>
                      </a:pPr>
                      <a:r>
                        <a:rPr lang="ko-KR" altLang="en-US" sz="1050" kern="0" spc="-100">
                          <a:effectLst/>
                          <a:latin typeface="+mn-ea"/>
                          <a:ea typeface="+mn-ea"/>
                        </a:rPr>
                        <a:t>심사</a:t>
                      </a:r>
                      <a:endParaRPr lang="ko-KR" altLang="en-US" sz="1050" kern="0" spc="-100">
                        <a:solidFill>
                          <a:srgbClr val="000000"/>
                        </a:solidFill>
                        <a:effectLst/>
                        <a:latin typeface="+mn-ea"/>
                        <a:ea typeface="+mn-ea"/>
                      </a:endParaRPr>
                    </a:p>
                  </a:txBody>
                  <a:tcPr marL="72000" marR="72000" marT="11252" marB="11252" anchor="ctr"/>
                </a:tc>
                <a:tc>
                  <a:txBody>
                    <a:bodyPr/>
                    <a:lstStyle/>
                    <a:p>
                      <a:pPr marL="0" marR="0" indent="0" algn="ctr" fontAlgn="base" latinLnBrk="0">
                        <a:lnSpc>
                          <a:spcPct val="100000"/>
                        </a:lnSpc>
                        <a:spcBef>
                          <a:spcPts val="0"/>
                        </a:spcBef>
                        <a:spcAft>
                          <a:spcPts val="0"/>
                        </a:spcAft>
                      </a:pPr>
                      <a:r>
                        <a:rPr lang="ko-KR" altLang="en-US" sz="1050" kern="0" spc="-100" dirty="0">
                          <a:effectLst/>
                          <a:latin typeface="+mn-ea"/>
                          <a:ea typeface="+mn-ea"/>
                        </a:rPr>
                        <a:t>도면첨부</a:t>
                      </a:r>
                      <a:endParaRPr lang="ko-KR" altLang="en-US" sz="1050" kern="0" spc="-100" dirty="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50" dirty="0">
                          <a:effectLst/>
                          <a:latin typeface="+mn-ea"/>
                          <a:ea typeface="+mn-ea"/>
                        </a:rPr>
                        <a:t>필요한 경우에만 첨부</a:t>
                      </a:r>
                      <a:endParaRPr lang="ko-KR" altLang="en-US" sz="1050" kern="0" spc="-50" dirty="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50" dirty="0">
                          <a:effectLst/>
                          <a:latin typeface="+mn-ea"/>
                          <a:ea typeface="+mn-ea"/>
                        </a:rPr>
                        <a:t>필수적으로 첨부 </a:t>
                      </a:r>
                      <a:r>
                        <a:rPr lang="en-US" altLang="ko-KR" sz="1050" kern="0" spc="-50" dirty="0">
                          <a:effectLst/>
                          <a:latin typeface="+mn-ea"/>
                          <a:ea typeface="+mn-ea"/>
                        </a:rPr>
                        <a:t>/ </a:t>
                      </a:r>
                      <a:r>
                        <a:rPr lang="ko-KR" altLang="en-US" sz="1050" kern="0" spc="-50" dirty="0" err="1">
                          <a:effectLst/>
                          <a:latin typeface="+mn-ea"/>
                          <a:ea typeface="+mn-ea"/>
                        </a:rPr>
                        <a:t>미첨부시</a:t>
                      </a:r>
                      <a:r>
                        <a:rPr lang="ko-KR" altLang="en-US" sz="1050" kern="0" spc="-50" dirty="0">
                          <a:effectLst/>
                          <a:latin typeface="+mn-ea"/>
                          <a:ea typeface="+mn-ea"/>
                        </a:rPr>
                        <a:t> </a:t>
                      </a:r>
                      <a:r>
                        <a:rPr lang="ko-KR" altLang="en-US" sz="1050" kern="0" spc="-50" dirty="0" err="1">
                          <a:effectLst/>
                          <a:latin typeface="+mn-ea"/>
                          <a:ea typeface="+mn-ea"/>
                        </a:rPr>
                        <a:t>불수리</a:t>
                      </a:r>
                      <a:r>
                        <a:rPr lang="ko-KR" altLang="en-US" sz="1050" kern="0" spc="-50" dirty="0">
                          <a:effectLst/>
                          <a:latin typeface="+mn-ea"/>
                          <a:ea typeface="+mn-ea"/>
                        </a:rPr>
                        <a:t> </a:t>
                      </a:r>
                      <a:endParaRPr lang="ko-KR" altLang="en-US" sz="1050" kern="0" spc="-50" dirty="0">
                        <a:solidFill>
                          <a:srgbClr val="000000"/>
                        </a:solidFill>
                        <a:effectLst/>
                        <a:latin typeface="+mn-ea"/>
                        <a:ea typeface="+mn-ea"/>
                      </a:endParaRPr>
                    </a:p>
                  </a:txBody>
                  <a:tcPr marL="72000" marR="72000" marT="11252" marB="11252" anchor="ctr"/>
                </a:tc>
                <a:extLst>
                  <a:ext uri="{0D108BD9-81ED-4DB2-BD59-A6C34878D82A}">
                    <a16:rowId xmlns:a16="http://schemas.microsoft.com/office/drawing/2014/main" val="10005"/>
                  </a:ext>
                </a:extLst>
              </a:tr>
              <a:tr h="1360886">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50" kern="0" spc="-100" dirty="0">
                          <a:effectLst/>
                          <a:latin typeface="+mn-ea"/>
                          <a:ea typeface="+mn-ea"/>
                        </a:rPr>
                        <a:t>우선심사대상</a:t>
                      </a:r>
                    </a:p>
                    <a:p>
                      <a:pPr marL="0" marR="0" indent="0" algn="ctr" fontAlgn="base" latinLnBrk="0">
                        <a:lnSpc>
                          <a:spcPct val="100000"/>
                        </a:lnSpc>
                        <a:spcBef>
                          <a:spcPts val="0"/>
                        </a:spcBef>
                        <a:spcAft>
                          <a:spcPts val="0"/>
                        </a:spcAft>
                      </a:pPr>
                      <a:r>
                        <a:rPr lang="ko-KR" altLang="en-US" sz="1050" kern="0" spc="-100" dirty="0">
                          <a:effectLst/>
                          <a:latin typeface="+mn-ea"/>
                          <a:ea typeface="+mn-ea"/>
                        </a:rPr>
                        <a:t>의 상이</a:t>
                      </a:r>
                      <a:endParaRPr lang="ko-KR" altLang="en-US" sz="1050" kern="0" spc="-100" dirty="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buNone/>
                      </a:pPr>
                      <a:r>
                        <a:rPr lang="en-US" altLang="ko-KR" sz="1050" kern="0" spc="-50" dirty="0">
                          <a:effectLst/>
                          <a:latin typeface="+mn-ea"/>
                          <a:ea typeface="+mn-ea"/>
                        </a:rPr>
                        <a:t>1.</a:t>
                      </a:r>
                      <a:r>
                        <a:rPr lang="ko-KR" altLang="en-US" sz="1050" kern="0" spc="-50" dirty="0">
                          <a:effectLst/>
                          <a:latin typeface="+mn-ea"/>
                          <a:ea typeface="+mn-ea"/>
                        </a:rPr>
                        <a:t>녹색기술과 직접 관련된 특허출원</a:t>
                      </a:r>
                      <a:endParaRPr lang="en-US" altLang="ko-KR" sz="1050" kern="0" spc="-50" dirty="0">
                        <a:effectLst/>
                        <a:latin typeface="+mn-ea"/>
                        <a:ea typeface="+mn-ea"/>
                      </a:endParaRPr>
                    </a:p>
                    <a:p>
                      <a:pPr marL="17780" marR="17780" indent="0" algn="just" fontAlgn="base" latinLnBrk="1">
                        <a:lnSpc>
                          <a:spcPct val="100000"/>
                        </a:lnSpc>
                        <a:spcBef>
                          <a:spcPts val="0"/>
                        </a:spcBef>
                        <a:spcAft>
                          <a:spcPts val="0"/>
                        </a:spcAft>
                        <a:buNone/>
                      </a:pPr>
                      <a:r>
                        <a:rPr lang="en-US" altLang="ko-KR" sz="1050" kern="0" spc="-50" dirty="0">
                          <a:solidFill>
                            <a:schemeClr val="tx1"/>
                          </a:solidFill>
                          <a:effectLst/>
                          <a:latin typeface="+mn-ea"/>
                          <a:ea typeface="+mn-ea"/>
                        </a:rPr>
                        <a:t>2.</a:t>
                      </a:r>
                      <a:r>
                        <a:rPr lang="ko-KR" altLang="en-US" sz="1050" kern="0" spc="-50" dirty="0">
                          <a:solidFill>
                            <a:schemeClr val="tx1"/>
                          </a:solidFill>
                          <a:effectLst/>
                          <a:latin typeface="+mn-ea"/>
                          <a:ea typeface="+mn-ea"/>
                        </a:rPr>
                        <a:t> 인공지능 또는 사물인터넷 등 </a:t>
                      </a:r>
                      <a:r>
                        <a:rPr lang="en-US" altLang="ko-KR" sz="1050" kern="0" spc="-50" dirty="0">
                          <a:solidFill>
                            <a:schemeClr val="tx1"/>
                          </a:solidFill>
                          <a:effectLst/>
                          <a:latin typeface="+mn-ea"/>
                          <a:ea typeface="+mn-ea"/>
                        </a:rPr>
                        <a:t>4</a:t>
                      </a:r>
                      <a:r>
                        <a:rPr lang="ko-KR" altLang="en-US" sz="1050" kern="0" spc="-50" dirty="0">
                          <a:solidFill>
                            <a:schemeClr val="tx1"/>
                          </a:solidFill>
                          <a:effectLst/>
                          <a:latin typeface="+mn-ea"/>
                          <a:ea typeface="+mn-ea"/>
                        </a:rPr>
                        <a:t>차 산업혁명과 관련된 기술을 활용한 특허출원</a:t>
                      </a:r>
                      <a:endParaRPr lang="en-US" altLang="ko-KR" sz="1050" kern="0" spc="-50" dirty="0">
                        <a:solidFill>
                          <a:schemeClr val="tx1"/>
                        </a:solidFill>
                        <a:effectLst/>
                        <a:latin typeface="+mn-ea"/>
                        <a:ea typeface="+mn-ea"/>
                      </a:endParaRPr>
                    </a:p>
                    <a:p>
                      <a:pPr marL="182563" marR="17780" indent="-165100" algn="just" fontAlgn="base" latinLnBrk="1">
                        <a:lnSpc>
                          <a:spcPct val="100000"/>
                        </a:lnSpc>
                        <a:spcBef>
                          <a:spcPts val="0"/>
                        </a:spcBef>
                        <a:spcAft>
                          <a:spcPts val="0"/>
                        </a:spcAft>
                        <a:buNone/>
                      </a:pPr>
                      <a:r>
                        <a:rPr lang="en-US" altLang="ko-KR" sz="1050" kern="0" spc="-50" dirty="0">
                          <a:solidFill>
                            <a:schemeClr val="tx1"/>
                          </a:solidFill>
                          <a:effectLst/>
                          <a:latin typeface="+mn-ea"/>
                          <a:ea typeface="+mn-ea"/>
                        </a:rPr>
                        <a:t>3. </a:t>
                      </a:r>
                      <a:r>
                        <a:rPr lang="ko-KR" altLang="en-US" sz="1050" kern="0" spc="-50" dirty="0">
                          <a:solidFill>
                            <a:schemeClr val="tx1"/>
                          </a:solidFill>
                          <a:effectLst/>
                          <a:latin typeface="+mn-ea"/>
                          <a:ea typeface="+mn-ea"/>
                        </a:rPr>
                        <a:t>반도체 등 </a:t>
                      </a:r>
                      <a:r>
                        <a:rPr lang="ko-KR" altLang="en-US" sz="1050" kern="0" spc="-50" dirty="0" err="1">
                          <a:solidFill>
                            <a:schemeClr val="tx1"/>
                          </a:solidFill>
                          <a:effectLst/>
                          <a:latin typeface="+mn-ea"/>
                          <a:ea typeface="+mn-ea"/>
                        </a:rPr>
                        <a:t>국민지식재산처및</a:t>
                      </a:r>
                      <a:r>
                        <a:rPr lang="ko-KR" altLang="en-US" sz="1050" kern="0" spc="-50" dirty="0">
                          <a:solidFill>
                            <a:schemeClr val="tx1"/>
                          </a:solidFill>
                          <a:effectLst/>
                          <a:latin typeface="+mn-ea"/>
                          <a:ea typeface="+mn-ea"/>
                        </a:rPr>
                        <a:t> 국가경쟁력 강화에 중요한 첨단기술과 관련된 특허출원</a:t>
                      </a:r>
                      <a:r>
                        <a:rPr lang="en-US" altLang="ko-KR" sz="1050" kern="0" spc="-50" dirty="0">
                          <a:solidFill>
                            <a:schemeClr val="tx1"/>
                          </a:solidFill>
                          <a:effectLst/>
                          <a:latin typeface="+mn-ea"/>
                          <a:ea typeface="+mn-ea"/>
                        </a:rPr>
                        <a:t>(</a:t>
                      </a:r>
                      <a:r>
                        <a:rPr lang="ko-KR" altLang="en-US" sz="1050" kern="0" spc="-50" dirty="0">
                          <a:solidFill>
                            <a:schemeClr val="tx1"/>
                          </a:solidFill>
                          <a:effectLst/>
                          <a:latin typeface="+mn-ea"/>
                          <a:ea typeface="+mn-ea"/>
                        </a:rPr>
                        <a:t>지식재산처장이 우선심사의 구체적인 대상과 신청 기간을 정하여 공고하는 특허출원으로 한정한다</a:t>
                      </a:r>
                      <a:r>
                        <a:rPr lang="en-US" altLang="ko-KR" sz="1050" kern="0" spc="-50" dirty="0">
                          <a:solidFill>
                            <a:schemeClr val="tx1"/>
                          </a:solidFill>
                          <a:effectLst/>
                          <a:latin typeface="+mn-ea"/>
                          <a:ea typeface="+mn-ea"/>
                        </a:rPr>
                        <a:t>)</a:t>
                      </a:r>
                    </a:p>
                    <a:p>
                      <a:pPr marL="147638" marR="17780" indent="-130175" algn="just" fontAlgn="base" latinLnBrk="1">
                        <a:lnSpc>
                          <a:spcPct val="100000"/>
                        </a:lnSpc>
                        <a:spcBef>
                          <a:spcPts val="0"/>
                        </a:spcBef>
                        <a:spcAft>
                          <a:spcPts val="0"/>
                        </a:spcAft>
                        <a:buNone/>
                      </a:pPr>
                      <a:r>
                        <a:rPr lang="en-US" altLang="ko-KR" sz="1050" kern="0" spc="-50" dirty="0">
                          <a:solidFill>
                            <a:schemeClr val="tx1"/>
                          </a:solidFill>
                          <a:effectLst/>
                          <a:latin typeface="+mn-ea"/>
                          <a:ea typeface="+mn-ea"/>
                        </a:rPr>
                        <a:t>4. </a:t>
                      </a:r>
                      <a:r>
                        <a:rPr lang="ko-KR" altLang="en-US" sz="1050" kern="0" spc="-50" dirty="0">
                          <a:solidFill>
                            <a:schemeClr val="tx1"/>
                          </a:solidFill>
                          <a:effectLst/>
                          <a:latin typeface="+mn-ea"/>
                          <a:ea typeface="+mn-ea"/>
                        </a:rPr>
                        <a:t>제</a:t>
                      </a:r>
                      <a:r>
                        <a:rPr lang="en-US" altLang="ko-KR" sz="1050" kern="0" spc="-50" dirty="0">
                          <a:solidFill>
                            <a:schemeClr val="tx1"/>
                          </a:solidFill>
                          <a:effectLst/>
                          <a:latin typeface="+mn-ea"/>
                          <a:ea typeface="+mn-ea"/>
                        </a:rPr>
                        <a:t>198</a:t>
                      </a:r>
                      <a:r>
                        <a:rPr lang="ko-KR" altLang="en-US" sz="1050" kern="0" spc="-50" dirty="0">
                          <a:solidFill>
                            <a:schemeClr val="tx1"/>
                          </a:solidFill>
                          <a:effectLst/>
                          <a:latin typeface="+mn-ea"/>
                          <a:ea typeface="+mn-ea"/>
                        </a:rPr>
                        <a:t>조의</a:t>
                      </a:r>
                      <a:r>
                        <a:rPr lang="en-US" altLang="ko-KR" sz="1050" kern="0" spc="-50" dirty="0">
                          <a:solidFill>
                            <a:schemeClr val="tx1"/>
                          </a:solidFill>
                          <a:effectLst/>
                          <a:latin typeface="+mn-ea"/>
                          <a:ea typeface="+mn-ea"/>
                        </a:rPr>
                        <a:t>2</a:t>
                      </a:r>
                      <a:r>
                        <a:rPr lang="ko-KR" altLang="en-US" sz="1050" kern="0" spc="-50" dirty="0">
                          <a:solidFill>
                            <a:schemeClr val="tx1"/>
                          </a:solidFill>
                          <a:effectLst/>
                          <a:latin typeface="+mn-ea"/>
                          <a:ea typeface="+mn-ea"/>
                        </a:rPr>
                        <a:t>에 따라 지식재산처가 「</a:t>
                      </a:r>
                      <a:r>
                        <a:rPr lang="ko-KR" altLang="en-US" sz="1050" kern="0" spc="-50" dirty="0" err="1">
                          <a:solidFill>
                            <a:schemeClr val="tx1"/>
                          </a:solidFill>
                          <a:effectLst/>
                          <a:latin typeface="+mn-ea"/>
                          <a:ea typeface="+mn-ea"/>
                        </a:rPr>
                        <a:t>특허협력조약」에</a:t>
                      </a:r>
                      <a:r>
                        <a:rPr lang="ko-KR" altLang="en-US" sz="1050" kern="0" spc="-50" dirty="0">
                          <a:solidFill>
                            <a:schemeClr val="tx1"/>
                          </a:solidFill>
                          <a:effectLst/>
                          <a:latin typeface="+mn-ea"/>
                          <a:ea typeface="+mn-ea"/>
                        </a:rPr>
                        <a:t> 따른 국제조사기관으로서 국제조사를 수행한 </a:t>
                      </a:r>
                      <a:r>
                        <a:rPr lang="ko-KR" altLang="en-US" sz="1050" kern="0" spc="-50" dirty="0" err="1">
                          <a:solidFill>
                            <a:schemeClr val="tx1"/>
                          </a:solidFill>
                          <a:effectLst/>
                          <a:latin typeface="+mn-ea"/>
                          <a:ea typeface="+mn-ea"/>
                        </a:rPr>
                        <a:t>국제특허출원</a:t>
                      </a:r>
                      <a:endParaRPr lang="ko-KR" altLang="en-US" sz="1050" kern="0" spc="-50" dirty="0">
                        <a:solidFill>
                          <a:schemeClr val="tx1"/>
                        </a:solidFill>
                        <a:effectLst/>
                        <a:latin typeface="+mn-ea"/>
                        <a:ea typeface="+mn-ea"/>
                      </a:endParaRPr>
                    </a:p>
                    <a:p>
                      <a:pPr marL="114300" marR="17780" indent="-114300" algn="just" fontAlgn="base" latinLnBrk="1">
                        <a:lnSpc>
                          <a:spcPct val="100000"/>
                        </a:lnSpc>
                        <a:spcBef>
                          <a:spcPts val="0"/>
                        </a:spcBef>
                        <a:spcAft>
                          <a:spcPts val="0"/>
                        </a:spcAft>
                      </a:pPr>
                      <a:r>
                        <a:rPr lang="en-US" altLang="ko-KR" sz="1050" kern="0" spc="-50" dirty="0">
                          <a:effectLst/>
                          <a:latin typeface="+mn-ea"/>
                          <a:ea typeface="+mn-ea"/>
                        </a:rPr>
                        <a:t>5.</a:t>
                      </a:r>
                      <a:r>
                        <a:rPr lang="ko-KR" altLang="en-US" sz="1050" kern="0" spc="-50" dirty="0">
                          <a:effectLst/>
                          <a:latin typeface="+mn-ea"/>
                          <a:ea typeface="+mn-ea"/>
                        </a:rPr>
                        <a:t>지식재산처장이 외국 특허담당 정부기관장과 우선심사 하기로 합의한 특허출원</a:t>
                      </a:r>
                    </a:p>
                    <a:p>
                      <a:pPr marL="114300" marR="17780" indent="-114300" algn="just" fontAlgn="base" latinLnBrk="1">
                        <a:lnSpc>
                          <a:spcPct val="100000"/>
                        </a:lnSpc>
                        <a:spcBef>
                          <a:spcPts val="0"/>
                        </a:spcBef>
                        <a:spcAft>
                          <a:spcPts val="0"/>
                        </a:spcAft>
                      </a:pPr>
                      <a:r>
                        <a:rPr lang="en-US" altLang="ko-KR" sz="1050" kern="0" spc="-50" dirty="0">
                          <a:effectLst/>
                          <a:latin typeface="+mn-ea"/>
                          <a:ea typeface="+mn-ea"/>
                        </a:rPr>
                        <a:t>6.</a:t>
                      </a:r>
                      <a:r>
                        <a:rPr lang="ko-KR" altLang="en-US" sz="1050" kern="0" spc="-50" dirty="0" err="1">
                          <a:effectLst/>
                          <a:latin typeface="+mn-ea"/>
                          <a:ea typeface="+mn-ea"/>
                        </a:rPr>
                        <a:t>지역특화발전특구에</a:t>
                      </a:r>
                      <a:r>
                        <a:rPr lang="ko-KR" altLang="en-US" sz="1050" kern="0" spc="-50" dirty="0">
                          <a:effectLst/>
                          <a:latin typeface="+mn-ea"/>
                          <a:ea typeface="+mn-ea"/>
                        </a:rPr>
                        <a:t> 대한 규제특례법 제</a:t>
                      </a:r>
                      <a:r>
                        <a:rPr lang="en-US" altLang="ko-KR" sz="1050" kern="0" spc="-50" dirty="0">
                          <a:effectLst/>
                          <a:latin typeface="+mn-ea"/>
                          <a:ea typeface="+mn-ea"/>
                        </a:rPr>
                        <a:t>36</a:t>
                      </a:r>
                      <a:r>
                        <a:rPr lang="ko-KR" altLang="en-US" sz="1050" kern="0" spc="-50" dirty="0">
                          <a:effectLst/>
                          <a:latin typeface="+mn-ea"/>
                          <a:ea typeface="+mn-ea"/>
                        </a:rPr>
                        <a:t>조의</a:t>
                      </a:r>
                      <a:r>
                        <a:rPr lang="en-US" altLang="ko-KR" sz="1050" kern="0" spc="-50" dirty="0">
                          <a:effectLst/>
                          <a:latin typeface="+mn-ea"/>
                          <a:ea typeface="+mn-ea"/>
                        </a:rPr>
                        <a:t>8</a:t>
                      </a:r>
                      <a:r>
                        <a:rPr lang="ko-KR" altLang="en-US" sz="1050" kern="0" spc="-50" dirty="0">
                          <a:effectLst/>
                          <a:latin typeface="+mn-ea"/>
                          <a:ea typeface="+mn-ea"/>
                        </a:rPr>
                        <a:t>에 따라 규제특례가 적용된 특화사업과 직접 관련된 특허출원</a:t>
                      </a:r>
                    </a:p>
                    <a:p>
                      <a:pPr marL="114300" marR="17780" indent="-114300" algn="just" fontAlgn="base" latinLnBrk="1">
                        <a:lnSpc>
                          <a:spcPct val="100000"/>
                        </a:lnSpc>
                        <a:spcBef>
                          <a:spcPts val="0"/>
                        </a:spcBef>
                        <a:spcAft>
                          <a:spcPts val="0"/>
                        </a:spcAft>
                      </a:pPr>
                      <a:r>
                        <a:rPr lang="en-US" altLang="ko-KR" sz="1050" kern="0" spc="-50" dirty="0">
                          <a:effectLst/>
                          <a:latin typeface="+mn-ea"/>
                          <a:ea typeface="+mn-ea"/>
                        </a:rPr>
                        <a:t>7.</a:t>
                      </a:r>
                      <a:r>
                        <a:rPr lang="ko-KR" altLang="en-US" sz="1050" kern="0" spc="-50" dirty="0">
                          <a:effectLst/>
                          <a:latin typeface="+mn-ea"/>
                          <a:ea typeface="+mn-ea"/>
                        </a:rPr>
                        <a:t>첨단의료복합단지 지정 및 지원에 관한 특별법 제</a:t>
                      </a:r>
                      <a:r>
                        <a:rPr lang="en-US" altLang="ko-KR" sz="1050" kern="0" spc="-50" dirty="0">
                          <a:effectLst/>
                          <a:latin typeface="+mn-ea"/>
                          <a:ea typeface="+mn-ea"/>
                        </a:rPr>
                        <a:t>26</a:t>
                      </a:r>
                      <a:r>
                        <a:rPr lang="ko-KR" altLang="en-US" sz="1050" kern="0" spc="-50" dirty="0">
                          <a:effectLst/>
                          <a:latin typeface="+mn-ea"/>
                          <a:ea typeface="+mn-ea"/>
                        </a:rPr>
                        <a:t>조에 따라 규제 특례가 적용되는 입주의료연구개발기관이 제출한 첨단의료복합단지 안 의료연구개발과 관련한 특허출원</a:t>
                      </a:r>
                      <a:endParaRPr lang="ko-KR" altLang="en-US" sz="1050" kern="0" spc="-50" dirty="0">
                        <a:solidFill>
                          <a:srgbClr val="000000"/>
                        </a:solidFill>
                        <a:effectLst/>
                        <a:latin typeface="+mn-ea"/>
                        <a:ea typeface="+mn-ea"/>
                      </a:endParaRPr>
                    </a:p>
                  </a:txBody>
                  <a:tcPr marL="72000" marR="72000" marT="11252" marB="11252" anchor="ctr"/>
                </a:tc>
                <a:tc>
                  <a:txBody>
                    <a:bodyPr/>
                    <a:lstStyle/>
                    <a:p>
                      <a:pPr marL="182563" marR="17780" indent="-165100" algn="just" fontAlgn="base" latinLnBrk="1">
                        <a:lnSpc>
                          <a:spcPct val="100000"/>
                        </a:lnSpc>
                        <a:spcBef>
                          <a:spcPts val="0"/>
                        </a:spcBef>
                        <a:spcAft>
                          <a:spcPts val="0"/>
                        </a:spcAft>
                        <a:buAutoNum type="arabicPeriod"/>
                      </a:pPr>
                      <a:r>
                        <a:rPr lang="ko-KR" altLang="en-US" sz="1050" kern="0" spc="-50" dirty="0">
                          <a:effectLst/>
                          <a:latin typeface="+mn-ea"/>
                          <a:ea typeface="+mn-ea"/>
                        </a:rPr>
                        <a:t>공해방지에 유용한 실용신안등록출원</a:t>
                      </a:r>
                      <a:endParaRPr lang="en-US" altLang="ko-KR" sz="1050" kern="0" spc="-50" dirty="0">
                        <a:effectLst/>
                        <a:latin typeface="+mn-ea"/>
                        <a:ea typeface="+mn-ea"/>
                      </a:endParaRPr>
                    </a:p>
                    <a:p>
                      <a:pPr marL="182563" marR="17780" indent="-165100" algn="just" fontAlgn="base" latinLnBrk="1">
                        <a:lnSpc>
                          <a:spcPct val="100000"/>
                        </a:lnSpc>
                        <a:spcBef>
                          <a:spcPts val="0"/>
                        </a:spcBef>
                        <a:spcAft>
                          <a:spcPts val="0"/>
                        </a:spcAft>
                        <a:buAutoNum type="arabicPeriod"/>
                      </a:pPr>
                      <a:endParaRPr lang="en-US" altLang="ko-KR" sz="1050" kern="0" spc="-50" dirty="0">
                        <a:effectLst/>
                        <a:latin typeface="+mn-ea"/>
                        <a:ea typeface="+mn-ea"/>
                      </a:endParaRPr>
                    </a:p>
                    <a:p>
                      <a:pPr marL="246380" marR="17780" indent="-228600" algn="just" fontAlgn="base" latinLnBrk="1">
                        <a:lnSpc>
                          <a:spcPct val="100000"/>
                        </a:lnSpc>
                        <a:spcBef>
                          <a:spcPts val="0"/>
                        </a:spcBef>
                        <a:spcAft>
                          <a:spcPts val="0"/>
                        </a:spcAft>
                        <a:buAutoNum type="arabicPeriod"/>
                      </a:pPr>
                      <a:endParaRPr lang="en-US" altLang="ko-KR" sz="1050" kern="0" spc="-50" dirty="0">
                        <a:effectLst/>
                        <a:latin typeface="+mn-ea"/>
                        <a:ea typeface="+mn-ea"/>
                      </a:endParaRPr>
                    </a:p>
                    <a:p>
                      <a:pPr marL="246380" marR="17780" indent="-228600" algn="just" fontAlgn="base" latinLnBrk="1">
                        <a:lnSpc>
                          <a:spcPct val="100000"/>
                        </a:lnSpc>
                        <a:spcBef>
                          <a:spcPts val="0"/>
                        </a:spcBef>
                        <a:spcAft>
                          <a:spcPts val="0"/>
                        </a:spcAft>
                        <a:buAutoNum type="arabicPeriod"/>
                      </a:pPr>
                      <a:endParaRPr lang="en-US" altLang="ko-KR" sz="1050" kern="0" spc="-50" dirty="0">
                        <a:effectLst/>
                        <a:latin typeface="+mn-ea"/>
                        <a:ea typeface="+mn-ea"/>
                      </a:endParaRPr>
                    </a:p>
                    <a:p>
                      <a:pPr marL="246380" marR="17780" indent="-228600" algn="just" fontAlgn="base" latinLnBrk="1">
                        <a:lnSpc>
                          <a:spcPct val="100000"/>
                        </a:lnSpc>
                        <a:spcBef>
                          <a:spcPts val="0"/>
                        </a:spcBef>
                        <a:spcAft>
                          <a:spcPts val="0"/>
                        </a:spcAft>
                        <a:buAutoNum type="arabicPeriod"/>
                      </a:pPr>
                      <a:endParaRPr lang="en-US" altLang="ko-KR" sz="1050" kern="0" spc="-50" dirty="0">
                        <a:effectLst/>
                        <a:latin typeface="+mn-ea"/>
                        <a:ea typeface="+mn-ea"/>
                      </a:endParaRPr>
                    </a:p>
                    <a:p>
                      <a:pPr marL="246380" marR="17780" indent="-228600" algn="just" fontAlgn="base" latinLnBrk="1">
                        <a:lnSpc>
                          <a:spcPct val="100000"/>
                        </a:lnSpc>
                        <a:spcBef>
                          <a:spcPts val="0"/>
                        </a:spcBef>
                        <a:spcAft>
                          <a:spcPts val="0"/>
                        </a:spcAft>
                        <a:buAutoNum type="arabicPeriod"/>
                      </a:pPr>
                      <a:endParaRPr lang="en-US" altLang="ko-KR" sz="1050" kern="0" spc="-50" dirty="0">
                        <a:effectLst/>
                        <a:latin typeface="+mn-ea"/>
                        <a:ea typeface="+mn-ea"/>
                      </a:endParaRPr>
                    </a:p>
                    <a:p>
                      <a:pPr marL="246380" marR="17780" indent="-228600" algn="just" fontAlgn="base" latinLnBrk="1">
                        <a:lnSpc>
                          <a:spcPct val="100000"/>
                        </a:lnSpc>
                        <a:spcBef>
                          <a:spcPts val="0"/>
                        </a:spcBef>
                        <a:spcAft>
                          <a:spcPts val="0"/>
                        </a:spcAft>
                        <a:buAutoNum type="arabicPeriod"/>
                      </a:pPr>
                      <a:endParaRPr lang="en-US" altLang="ko-KR" sz="1050" kern="0" spc="-50" dirty="0">
                        <a:effectLst/>
                        <a:latin typeface="+mn-ea"/>
                        <a:ea typeface="+mn-ea"/>
                      </a:endParaRPr>
                    </a:p>
                    <a:p>
                      <a:pPr marL="246380" marR="17780" indent="-228600" algn="just" fontAlgn="base" latinLnBrk="1">
                        <a:lnSpc>
                          <a:spcPct val="100000"/>
                        </a:lnSpc>
                        <a:spcBef>
                          <a:spcPts val="0"/>
                        </a:spcBef>
                        <a:spcAft>
                          <a:spcPts val="0"/>
                        </a:spcAft>
                        <a:buAutoNum type="arabicPeriod"/>
                      </a:pPr>
                      <a:endParaRPr lang="en-US" altLang="ko-KR" sz="1050" kern="0" spc="-50" dirty="0">
                        <a:effectLst/>
                        <a:latin typeface="+mn-ea"/>
                        <a:ea typeface="+mn-ea"/>
                      </a:endParaRPr>
                    </a:p>
                    <a:p>
                      <a:pPr marL="246380" marR="17780" indent="-228600" algn="just" fontAlgn="base" latinLnBrk="1">
                        <a:lnSpc>
                          <a:spcPct val="100000"/>
                        </a:lnSpc>
                        <a:spcBef>
                          <a:spcPts val="0"/>
                        </a:spcBef>
                        <a:spcAft>
                          <a:spcPts val="0"/>
                        </a:spcAft>
                        <a:buAutoNum type="arabicPeriod"/>
                      </a:pPr>
                      <a:endParaRPr lang="en-US" altLang="ko-KR" sz="1050" kern="0" spc="-50" dirty="0">
                        <a:effectLst/>
                        <a:latin typeface="+mn-ea"/>
                        <a:ea typeface="+mn-ea"/>
                      </a:endParaRPr>
                    </a:p>
                    <a:p>
                      <a:pPr marL="246380" marR="17780" indent="-228600" algn="just" fontAlgn="base" latinLnBrk="1">
                        <a:lnSpc>
                          <a:spcPct val="100000"/>
                        </a:lnSpc>
                        <a:spcBef>
                          <a:spcPts val="0"/>
                        </a:spcBef>
                        <a:spcAft>
                          <a:spcPts val="0"/>
                        </a:spcAft>
                        <a:buAutoNum type="arabicPeriod"/>
                      </a:pPr>
                      <a:endParaRPr lang="en-US" altLang="ko-KR" sz="1050" kern="0" spc="-50" dirty="0">
                        <a:effectLst/>
                        <a:latin typeface="+mn-ea"/>
                        <a:ea typeface="+mn-ea"/>
                      </a:endParaRPr>
                    </a:p>
                    <a:p>
                      <a:pPr marL="246380" marR="17780" indent="-228600" algn="just" fontAlgn="base" latinLnBrk="1">
                        <a:lnSpc>
                          <a:spcPct val="100000"/>
                        </a:lnSpc>
                        <a:spcBef>
                          <a:spcPts val="0"/>
                        </a:spcBef>
                        <a:spcAft>
                          <a:spcPts val="0"/>
                        </a:spcAft>
                        <a:buAutoNum type="arabicPeriod"/>
                      </a:pPr>
                      <a:endParaRPr lang="ko-KR" altLang="en-US" sz="1050" kern="0" spc="-50" dirty="0">
                        <a:effectLst/>
                        <a:latin typeface="+mn-ea"/>
                        <a:ea typeface="+mn-ea"/>
                      </a:endParaRPr>
                    </a:p>
                  </a:txBody>
                  <a:tcPr marL="72000" marR="72000" marT="11252" marB="11252"/>
                </a:tc>
                <a:extLst>
                  <a:ext uri="{0D108BD9-81ED-4DB2-BD59-A6C34878D82A}">
                    <a16:rowId xmlns:a16="http://schemas.microsoft.com/office/drawing/2014/main" val="10007"/>
                  </a:ext>
                </a:extLst>
              </a:tr>
              <a:tr h="151207">
                <a:tc rowSpan="6">
                  <a:txBody>
                    <a:bodyPr/>
                    <a:lstStyle/>
                    <a:p>
                      <a:pPr marL="0" marR="0" indent="0" algn="ctr" fontAlgn="base" latinLnBrk="0">
                        <a:lnSpc>
                          <a:spcPct val="100000"/>
                        </a:lnSpc>
                        <a:spcBef>
                          <a:spcPts val="0"/>
                        </a:spcBef>
                        <a:spcAft>
                          <a:spcPts val="0"/>
                        </a:spcAft>
                      </a:pPr>
                      <a:r>
                        <a:rPr lang="ko-KR" altLang="en-US" sz="1050" kern="0" spc="-100" dirty="0">
                          <a:effectLst/>
                          <a:latin typeface="+mn-ea"/>
                          <a:ea typeface="+mn-ea"/>
                        </a:rPr>
                        <a:t>효력</a:t>
                      </a:r>
                      <a:endParaRPr lang="ko-KR" altLang="en-US" sz="1050" kern="0" spc="-100" dirty="0">
                        <a:solidFill>
                          <a:srgbClr val="000000"/>
                        </a:solidFill>
                        <a:effectLst/>
                        <a:latin typeface="+mn-ea"/>
                        <a:ea typeface="+mn-ea"/>
                      </a:endParaRPr>
                    </a:p>
                  </a:txBody>
                  <a:tcPr marL="72000" marR="72000" marT="11252" marB="11252" anchor="ctr"/>
                </a:tc>
                <a:tc>
                  <a:txBody>
                    <a:bodyPr/>
                    <a:lstStyle/>
                    <a:p>
                      <a:pPr marL="0" marR="0" indent="0" algn="ctr" fontAlgn="base" latinLnBrk="0">
                        <a:lnSpc>
                          <a:spcPct val="100000"/>
                        </a:lnSpc>
                        <a:spcBef>
                          <a:spcPts val="0"/>
                        </a:spcBef>
                        <a:spcAft>
                          <a:spcPts val="0"/>
                        </a:spcAft>
                      </a:pPr>
                      <a:r>
                        <a:rPr lang="ko-KR" altLang="en-US" sz="1050" kern="0" spc="-100">
                          <a:effectLst/>
                          <a:latin typeface="+mn-ea"/>
                          <a:ea typeface="+mn-ea"/>
                        </a:rPr>
                        <a:t>존속기간</a:t>
                      </a:r>
                      <a:endParaRPr lang="ko-KR" altLang="en-US" sz="1050" kern="0" spc="-10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50">
                          <a:effectLst/>
                          <a:latin typeface="+mn-ea"/>
                          <a:ea typeface="+mn-ea"/>
                        </a:rPr>
                        <a:t>특허권 설정등록을 한 날부터 특허출원일 후 </a:t>
                      </a:r>
                      <a:r>
                        <a:rPr lang="en-US" altLang="ko-KR" sz="1050" kern="0" spc="-50">
                          <a:effectLst/>
                          <a:latin typeface="+mn-ea"/>
                          <a:ea typeface="+mn-ea"/>
                        </a:rPr>
                        <a:t>20</a:t>
                      </a:r>
                      <a:r>
                        <a:rPr lang="ko-KR" altLang="en-US" sz="1050" kern="0" spc="-50">
                          <a:effectLst/>
                          <a:latin typeface="+mn-ea"/>
                          <a:ea typeface="+mn-ea"/>
                        </a:rPr>
                        <a:t>년이 되는 날까지</a:t>
                      </a:r>
                      <a:endParaRPr lang="ko-KR" altLang="en-US" sz="1050" kern="0" spc="-5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50">
                          <a:effectLst/>
                          <a:latin typeface="+mn-ea"/>
                          <a:ea typeface="+mn-ea"/>
                        </a:rPr>
                        <a:t>실용신안권 설정등록을 한 날부터 실용신안등록출원일 후 </a:t>
                      </a:r>
                      <a:r>
                        <a:rPr lang="en-US" altLang="ko-KR" sz="1050" kern="0" spc="-50">
                          <a:effectLst/>
                          <a:latin typeface="+mn-ea"/>
                          <a:ea typeface="+mn-ea"/>
                        </a:rPr>
                        <a:t>10</a:t>
                      </a:r>
                      <a:r>
                        <a:rPr lang="ko-KR" altLang="en-US" sz="1050" kern="0" spc="-50">
                          <a:effectLst/>
                          <a:latin typeface="+mn-ea"/>
                          <a:ea typeface="+mn-ea"/>
                        </a:rPr>
                        <a:t>년이 되는 날까지 </a:t>
                      </a:r>
                      <a:endParaRPr lang="ko-KR" altLang="en-US" sz="1050" kern="0" spc="-50">
                        <a:solidFill>
                          <a:srgbClr val="000000"/>
                        </a:solidFill>
                        <a:effectLst/>
                        <a:latin typeface="+mn-ea"/>
                        <a:ea typeface="+mn-ea"/>
                      </a:endParaRPr>
                    </a:p>
                  </a:txBody>
                  <a:tcPr marL="72000" marR="72000" marT="11252" marB="11252" anchor="ctr"/>
                </a:tc>
                <a:extLst>
                  <a:ext uri="{0D108BD9-81ED-4DB2-BD59-A6C34878D82A}">
                    <a16:rowId xmlns:a16="http://schemas.microsoft.com/office/drawing/2014/main" val="10008"/>
                  </a:ext>
                </a:extLst>
              </a:tr>
              <a:tr h="151207">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50" kern="0" spc="-100" dirty="0">
                          <a:effectLst/>
                          <a:latin typeface="+mn-ea"/>
                          <a:ea typeface="+mn-ea"/>
                        </a:rPr>
                        <a:t>존속기간연장</a:t>
                      </a:r>
                      <a:endParaRPr lang="ko-KR" altLang="en-US" sz="1050" kern="0" spc="-100" dirty="0">
                        <a:solidFill>
                          <a:srgbClr val="000000"/>
                        </a:solidFill>
                        <a:effectLst/>
                        <a:latin typeface="+mn-ea"/>
                        <a:ea typeface="+mn-ea"/>
                      </a:endParaRPr>
                    </a:p>
                  </a:txBody>
                  <a:tcPr marL="72000" marR="72000" marT="11252" marB="11252" anchor="ctr"/>
                </a:tc>
                <a:tc>
                  <a:txBody>
                    <a:bodyPr/>
                    <a:lstStyle/>
                    <a:p>
                      <a:pPr marL="17780" marR="17780" lvl="0" indent="0" algn="l" defTabSz="914400" rtl="0" eaLnBrk="1" fontAlgn="base" latinLnBrk="0" hangingPunct="1">
                        <a:lnSpc>
                          <a:spcPct val="100000"/>
                        </a:lnSpc>
                        <a:spcBef>
                          <a:spcPts val="0"/>
                        </a:spcBef>
                        <a:spcAft>
                          <a:spcPts val="0"/>
                        </a:spcAft>
                        <a:buClrTx/>
                        <a:buSzTx/>
                        <a:buFontTx/>
                        <a:buNone/>
                        <a:tabLst/>
                        <a:defRPr/>
                      </a:pPr>
                      <a:r>
                        <a:rPr lang="ko-KR" altLang="en-US" sz="1050" kern="1200" dirty="0">
                          <a:solidFill>
                            <a:schemeClr val="tx1"/>
                          </a:solidFill>
                          <a:effectLst/>
                          <a:latin typeface="+mn-lt"/>
                          <a:ea typeface="+mn-ea"/>
                          <a:cs typeface="+mn-cs"/>
                        </a:rPr>
                        <a:t>허가 등에</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따른 연장 </a:t>
                      </a:r>
                      <a:r>
                        <a:rPr lang="en-US" altLang="ko-KR" sz="1050" kern="1200" dirty="0">
                          <a:solidFill>
                            <a:schemeClr val="tx1"/>
                          </a:solidFill>
                          <a:effectLst/>
                          <a:latin typeface="+mn-lt"/>
                          <a:ea typeface="+mn-ea"/>
                          <a:cs typeface="+mn-cs"/>
                        </a:rPr>
                        <a:t>+ </a:t>
                      </a:r>
                      <a:r>
                        <a:rPr lang="ko-KR" altLang="en-US" sz="1050" kern="1200" dirty="0">
                          <a:solidFill>
                            <a:schemeClr val="tx1"/>
                          </a:solidFill>
                          <a:effectLst/>
                          <a:latin typeface="+mn-lt"/>
                          <a:ea typeface="+mn-ea"/>
                          <a:cs typeface="+mn-cs"/>
                        </a:rPr>
                        <a:t>등록지연에 따른 연장 가능</a:t>
                      </a:r>
                    </a:p>
                  </a:txBody>
                  <a:tcPr marL="72000" marR="72000" marT="11252" marB="11252" anchor="ctr"/>
                </a:tc>
                <a:tc>
                  <a:txBody>
                    <a:bodyPr/>
                    <a:lstStyle/>
                    <a:p>
                      <a:pPr marL="17780" marR="17780" indent="0" algn="l" fontAlgn="base" latinLnBrk="0">
                        <a:lnSpc>
                          <a:spcPct val="100000"/>
                        </a:lnSpc>
                        <a:spcBef>
                          <a:spcPts val="0"/>
                        </a:spcBef>
                        <a:spcAft>
                          <a:spcPts val="0"/>
                        </a:spcAft>
                      </a:pPr>
                      <a:r>
                        <a:rPr lang="ko-KR" altLang="en-US" sz="1050" kern="0" spc="-50" dirty="0">
                          <a:effectLst/>
                          <a:latin typeface="+mn-ea"/>
                          <a:ea typeface="+mn-ea"/>
                        </a:rPr>
                        <a:t>등록지연에 따른 연장만 가능</a:t>
                      </a:r>
                      <a:endParaRPr lang="ko-KR" altLang="en-US" sz="1050" kern="0" spc="-50" dirty="0">
                        <a:solidFill>
                          <a:srgbClr val="000000"/>
                        </a:solidFill>
                        <a:effectLst/>
                        <a:latin typeface="+mn-ea"/>
                        <a:ea typeface="+mn-ea"/>
                      </a:endParaRPr>
                    </a:p>
                  </a:txBody>
                  <a:tcPr marL="72000" marR="72000" marT="11252" marB="11252" anchor="ctr"/>
                </a:tc>
                <a:extLst>
                  <a:ext uri="{0D108BD9-81ED-4DB2-BD59-A6C34878D82A}">
                    <a16:rowId xmlns:a16="http://schemas.microsoft.com/office/drawing/2014/main" val="10009"/>
                  </a:ext>
                </a:extLst>
              </a:tr>
              <a:tr h="151207">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50" kern="0" spc="-100">
                          <a:effectLst/>
                          <a:latin typeface="+mn-ea"/>
                          <a:ea typeface="+mn-ea"/>
                        </a:rPr>
                        <a:t>효력범위제한</a:t>
                      </a:r>
                      <a:endParaRPr lang="ko-KR" altLang="en-US" sz="1050" kern="0" spc="-10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50" dirty="0">
                          <a:effectLst/>
                          <a:latin typeface="+mn-ea"/>
                          <a:ea typeface="+mn-ea"/>
                        </a:rPr>
                        <a:t>의약</a:t>
                      </a:r>
                      <a:r>
                        <a:rPr lang="en-US" altLang="ko-KR" sz="1050" kern="0" spc="-50" dirty="0">
                          <a:effectLst/>
                          <a:latin typeface="+mn-ea"/>
                          <a:ea typeface="+mn-ea"/>
                        </a:rPr>
                        <a:t>, </a:t>
                      </a:r>
                      <a:r>
                        <a:rPr lang="ko-KR" altLang="en-US" sz="1050" kern="0" spc="-50" dirty="0" err="1">
                          <a:effectLst/>
                          <a:latin typeface="+mn-ea"/>
                          <a:ea typeface="+mn-ea"/>
                        </a:rPr>
                        <a:t>의약제법방법</a:t>
                      </a:r>
                      <a:r>
                        <a:rPr lang="ko-KR" altLang="en-US" sz="1050" kern="0" spc="-50" dirty="0">
                          <a:effectLst/>
                          <a:latin typeface="+mn-ea"/>
                          <a:ea typeface="+mn-ea"/>
                        </a:rPr>
                        <a:t> 적용 可</a:t>
                      </a:r>
                      <a:r>
                        <a:rPr lang="en-US" altLang="ko-KR" sz="1050" kern="0" spc="-50" dirty="0">
                          <a:effectLst/>
                          <a:latin typeface="+mn-ea"/>
                          <a:ea typeface="+mn-ea"/>
                        </a:rPr>
                        <a:t>(</a:t>
                      </a:r>
                      <a:r>
                        <a:rPr lang="ko-KR" altLang="en-US" sz="1050" kern="0" spc="-50" dirty="0">
                          <a:effectLst/>
                          <a:latin typeface="+mn-ea"/>
                          <a:ea typeface="+mn-ea"/>
                        </a:rPr>
                        <a:t>法 </a:t>
                      </a:r>
                      <a:r>
                        <a:rPr lang="en-US" altLang="ko-KR" sz="1050" kern="0" spc="-50" dirty="0">
                          <a:effectLst/>
                          <a:latin typeface="+mn-ea"/>
                          <a:ea typeface="+mn-ea"/>
                        </a:rPr>
                        <a:t>96</a:t>
                      </a:r>
                      <a:r>
                        <a:rPr lang="ko-KR" altLang="en-US" sz="1050" kern="0" spc="-50" dirty="0">
                          <a:effectLst/>
                          <a:latin typeface="+mn-ea"/>
                          <a:ea typeface="+mn-ea"/>
                        </a:rPr>
                        <a:t>②</a:t>
                      </a:r>
                      <a:r>
                        <a:rPr lang="en-US" altLang="ko-KR" sz="1050" kern="0" spc="-50" dirty="0">
                          <a:effectLst/>
                          <a:latin typeface="+mn-ea"/>
                          <a:ea typeface="+mn-ea"/>
                        </a:rPr>
                        <a:t>)</a:t>
                      </a:r>
                      <a:endParaRPr lang="ko-KR" altLang="en-US" sz="1050" kern="0" spc="-50" dirty="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50" dirty="0">
                          <a:effectLst/>
                          <a:latin typeface="+mn-ea"/>
                          <a:ea typeface="+mn-ea"/>
                        </a:rPr>
                        <a:t>의약</a:t>
                      </a:r>
                      <a:r>
                        <a:rPr lang="en-US" altLang="ko-KR" sz="1050" kern="0" spc="-50" dirty="0">
                          <a:effectLst/>
                          <a:latin typeface="+mn-ea"/>
                          <a:ea typeface="+mn-ea"/>
                        </a:rPr>
                        <a:t>, </a:t>
                      </a:r>
                      <a:r>
                        <a:rPr lang="ko-KR" altLang="en-US" sz="1050" kern="0" spc="-50" dirty="0" err="1">
                          <a:effectLst/>
                          <a:latin typeface="+mn-ea"/>
                          <a:ea typeface="+mn-ea"/>
                        </a:rPr>
                        <a:t>의약제법방법</a:t>
                      </a:r>
                      <a:r>
                        <a:rPr lang="ko-KR" altLang="en-US" sz="1050" kern="0" spc="-50" dirty="0">
                          <a:effectLst/>
                          <a:latin typeface="+mn-ea"/>
                          <a:ea typeface="+mn-ea"/>
                        </a:rPr>
                        <a:t> 적용 不可</a:t>
                      </a:r>
                      <a:endParaRPr lang="ko-KR" altLang="en-US" sz="1050" kern="0" spc="-50" dirty="0">
                        <a:solidFill>
                          <a:srgbClr val="000000"/>
                        </a:solidFill>
                        <a:effectLst/>
                        <a:latin typeface="+mn-ea"/>
                        <a:ea typeface="+mn-ea"/>
                      </a:endParaRPr>
                    </a:p>
                  </a:txBody>
                  <a:tcPr marL="72000" marR="72000" marT="11252" marB="11252" anchor="ctr"/>
                </a:tc>
                <a:extLst>
                  <a:ext uri="{0D108BD9-81ED-4DB2-BD59-A6C34878D82A}">
                    <a16:rowId xmlns:a16="http://schemas.microsoft.com/office/drawing/2014/main" val="10010"/>
                  </a:ext>
                </a:extLst>
              </a:tr>
              <a:tr h="151207">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50" kern="0" spc="-100">
                          <a:effectLst/>
                          <a:latin typeface="+mn-ea"/>
                          <a:ea typeface="+mn-ea"/>
                        </a:rPr>
                        <a:t>간접침해</a:t>
                      </a:r>
                      <a:endParaRPr lang="ko-KR" altLang="en-US" sz="1050" kern="0" spc="-10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50">
                          <a:effectLst/>
                          <a:latin typeface="+mn-ea"/>
                          <a:ea typeface="+mn-ea"/>
                        </a:rPr>
                        <a:t>물건발명</a:t>
                      </a:r>
                      <a:r>
                        <a:rPr lang="en-US" altLang="ko-KR" sz="1050" kern="0" spc="-50">
                          <a:effectLst/>
                          <a:latin typeface="+mn-ea"/>
                          <a:ea typeface="+mn-ea"/>
                        </a:rPr>
                        <a:t>, </a:t>
                      </a:r>
                      <a:r>
                        <a:rPr lang="ko-KR" altLang="en-US" sz="1050" kern="0" spc="-50">
                          <a:effectLst/>
                          <a:latin typeface="+mn-ea"/>
                          <a:ea typeface="+mn-ea"/>
                        </a:rPr>
                        <a:t>방법발명 모두 적용 可能</a:t>
                      </a:r>
                      <a:endParaRPr lang="ko-KR" altLang="en-US" sz="1050" kern="0" spc="-5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50">
                          <a:effectLst/>
                          <a:latin typeface="+mn-ea"/>
                          <a:ea typeface="+mn-ea"/>
                        </a:rPr>
                        <a:t>방법발명 </a:t>
                      </a:r>
                      <a:r>
                        <a:rPr lang="en-US" altLang="ko-KR" sz="1050" kern="0" spc="-50">
                          <a:effectLst/>
                          <a:latin typeface="+mn-ea"/>
                          <a:ea typeface="+mn-ea"/>
                        </a:rPr>
                        <a:t>/ </a:t>
                      </a:r>
                      <a:r>
                        <a:rPr lang="ko-KR" altLang="en-US" sz="1050" kern="0" spc="-50">
                          <a:effectLst/>
                          <a:latin typeface="+mn-ea"/>
                          <a:ea typeface="+mn-ea"/>
                        </a:rPr>
                        <a:t>물질발명은 적용 不可</a:t>
                      </a:r>
                      <a:endParaRPr lang="ko-KR" altLang="en-US" sz="1050" kern="0" spc="-50">
                        <a:solidFill>
                          <a:srgbClr val="000000"/>
                        </a:solidFill>
                        <a:effectLst/>
                        <a:latin typeface="+mn-ea"/>
                        <a:ea typeface="+mn-ea"/>
                      </a:endParaRPr>
                    </a:p>
                  </a:txBody>
                  <a:tcPr marL="72000" marR="72000" marT="11252" marB="11252" anchor="ctr"/>
                </a:tc>
                <a:extLst>
                  <a:ext uri="{0D108BD9-81ED-4DB2-BD59-A6C34878D82A}">
                    <a16:rowId xmlns:a16="http://schemas.microsoft.com/office/drawing/2014/main" val="10011"/>
                  </a:ext>
                </a:extLst>
              </a:tr>
              <a:tr h="181625">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50" kern="0" spc="-100" dirty="0">
                          <a:effectLst/>
                          <a:latin typeface="+mn-ea"/>
                          <a:ea typeface="+mn-ea"/>
                        </a:rPr>
                        <a:t>생산방법추정</a:t>
                      </a:r>
                      <a:endParaRPr lang="ko-KR" altLang="en-US" sz="1050" kern="0" spc="-100" dirty="0">
                        <a:solidFill>
                          <a:srgbClr val="000000"/>
                        </a:solidFill>
                        <a:effectLst/>
                        <a:latin typeface="+mn-ea"/>
                        <a:ea typeface="+mn-ea"/>
                      </a:endParaRPr>
                    </a:p>
                  </a:txBody>
                  <a:tcPr marL="72000" marR="72000" marT="11252" marB="11252" anchor="ctr"/>
                </a:tc>
                <a:tc>
                  <a:txBody>
                    <a:bodyPr/>
                    <a:lstStyle/>
                    <a:p>
                      <a:pPr marL="17780" marR="17780" indent="0" algn="l" fontAlgn="base" latinLnBrk="0">
                        <a:lnSpc>
                          <a:spcPct val="100000"/>
                        </a:lnSpc>
                        <a:spcBef>
                          <a:spcPts val="0"/>
                        </a:spcBef>
                        <a:spcAft>
                          <a:spcPts val="0"/>
                        </a:spcAft>
                      </a:pPr>
                      <a:r>
                        <a:rPr lang="ko-KR" altLang="en-US" sz="1050" kern="0" spc="-50" dirty="0">
                          <a:effectLst/>
                          <a:latin typeface="+mn-ea"/>
                          <a:ea typeface="+mn-ea"/>
                        </a:rPr>
                        <a:t>有</a:t>
                      </a:r>
                      <a:endParaRPr lang="ko-KR" altLang="en-US" sz="1050" kern="0" spc="-50" dirty="0">
                        <a:solidFill>
                          <a:srgbClr val="000000"/>
                        </a:solidFill>
                        <a:effectLst/>
                        <a:latin typeface="+mn-ea"/>
                        <a:ea typeface="+mn-ea"/>
                      </a:endParaRPr>
                    </a:p>
                  </a:txBody>
                  <a:tcPr marL="72000" marR="72000" marT="11252" marB="11252" anchor="ctr"/>
                </a:tc>
                <a:tc>
                  <a:txBody>
                    <a:bodyPr/>
                    <a:lstStyle/>
                    <a:p>
                      <a:pPr marL="17780" marR="17780" indent="0" algn="l" fontAlgn="base" latinLnBrk="0">
                        <a:lnSpc>
                          <a:spcPct val="100000"/>
                        </a:lnSpc>
                        <a:spcBef>
                          <a:spcPts val="0"/>
                        </a:spcBef>
                        <a:spcAft>
                          <a:spcPts val="0"/>
                        </a:spcAft>
                      </a:pPr>
                      <a:r>
                        <a:rPr lang="ko-KR" altLang="en-US" sz="1050" kern="0" spc="-50" dirty="0">
                          <a:effectLst/>
                          <a:latin typeface="+mn-ea"/>
                          <a:ea typeface="+mn-ea"/>
                        </a:rPr>
                        <a:t>無</a:t>
                      </a:r>
                      <a:endParaRPr lang="ko-KR" altLang="en-US" sz="1050" kern="0" spc="-50" dirty="0">
                        <a:solidFill>
                          <a:srgbClr val="000000"/>
                        </a:solidFill>
                        <a:effectLst/>
                        <a:latin typeface="+mn-ea"/>
                        <a:ea typeface="+mn-ea"/>
                      </a:endParaRPr>
                    </a:p>
                  </a:txBody>
                  <a:tcPr marL="72000" marR="72000" marT="11252" marB="11252" anchor="ctr"/>
                </a:tc>
                <a:extLst>
                  <a:ext uri="{0D108BD9-81ED-4DB2-BD59-A6C34878D82A}">
                    <a16:rowId xmlns:a16="http://schemas.microsoft.com/office/drawing/2014/main" val="10012"/>
                  </a:ext>
                </a:extLst>
              </a:tr>
              <a:tr h="151207">
                <a:tc v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1050" kern="0" spc="-100">
                          <a:effectLst/>
                          <a:latin typeface="+mn-ea"/>
                          <a:ea typeface="+mn-ea"/>
                        </a:rPr>
                        <a:t>몰수규정</a:t>
                      </a:r>
                      <a:endParaRPr lang="ko-KR" altLang="en-US" sz="1050" kern="0" spc="-100">
                        <a:solidFill>
                          <a:srgbClr val="000000"/>
                        </a:solidFill>
                        <a:effectLst/>
                        <a:latin typeface="+mn-ea"/>
                        <a:ea typeface="+mn-ea"/>
                      </a:endParaRPr>
                    </a:p>
                  </a:txBody>
                  <a:tcPr marL="72000" marR="72000" marT="11252" marB="11252" anchor="ctr"/>
                </a:tc>
                <a:tc>
                  <a:txBody>
                    <a:bodyPr/>
                    <a:lstStyle/>
                    <a:p>
                      <a:pPr marL="17780" marR="17780" indent="0" algn="l" fontAlgn="base" latinLnBrk="0">
                        <a:lnSpc>
                          <a:spcPct val="100000"/>
                        </a:lnSpc>
                        <a:spcBef>
                          <a:spcPts val="0"/>
                        </a:spcBef>
                        <a:spcAft>
                          <a:spcPts val="0"/>
                        </a:spcAft>
                      </a:pPr>
                      <a:r>
                        <a:rPr lang="ko-KR" altLang="en-US" sz="1050" kern="0" spc="-50" dirty="0">
                          <a:effectLst/>
                          <a:latin typeface="+mn-ea"/>
                          <a:ea typeface="+mn-ea"/>
                        </a:rPr>
                        <a:t>필요적 몰수</a:t>
                      </a:r>
                      <a:endParaRPr lang="ko-KR" altLang="en-US" sz="1050" kern="0" spc="-50" dirty="0">
                        <a:solidFill>
                          <a:srgbClr val="000000"/>
                        </a:solidFill>
                        <a:effectLst/>
                        <a:latin typeface="+mn-ea"/>
                        <a:ea typeface="+mn-ea"/>
                      </a:endParaRPr>
                    </a:p>
                  </a:txBody>
                  <a:tcPr marL="72000" marR="72000" marT="11252" marB="11252" anchor="ctr"/>
                </a:tc>
                <a:tc>
                  <a:txBody>
                    <a:bodyPr/>
                    <a:lstStyle/>
                    <a:p>
                      <a:pPr marL="17780" marR="17780" indent="0" algn="l" fontAlgn="base" latinLnBrk="0">
                        <a:lnSpc>
                          <a:spcPct val="100000"/>
                        </a:lnSpc>
                        <a:spcBef>
                          <a:spcPts val="0"/>
                        </a:spcBef>
                        <a:spcAft>
                          <a:spcPts val="0"/>
                        </a:spcAft>
                      </a:pPr>
                      <a:r>
                        <a:rPr lang="ko-KR" altLang="en-US" sz="1050" kern="0" spc="-50" dirty="0">
                          <a:effectLst/>
                          <a:latin typeface="+mn-ea"/>
                          <a:ea typeface="+mn-ea"/>
                        </a:rPr>
                        <a:t>임의적 몰수</a:t>
                      </a:r>
                      <a:endParaRPr lang="ko-KR" altLang="en-US" sz="1050" kern="0" spc="-50" dirty="0">
                        <a:solidFill>
                          <a:srgbClr val="000000"/>
                        </a:solidFill>
                        <a:effectLst/>
                        <a:latin typeface="+mn-ea"/>
                        <a:ea typeface="+mn-ea"/>
                      </a:endParaRPr>
                    </a:p>
                  </a:txBody>
                  <a:tcPr marL="72000" marR="72000" marT="11252" marB="11252" anchor="ctr"/>
                </a:tc>
                <a:extLst>
                  <a:ext uri="{0D108BD9-81ED-4DB2-BD59-A6C34878D82A}">
                    <a16:rowId xmlns:a16="http://schemas.microsoft.com/office/drawing/2014/main" val="10013"/>
                  </a:ext>
                </a:extLst>
              </a:tr>
              <a:tr h="1079154">
                <a:tc>
                  <a:txBody>
                    <a:bodyPr/>
                    <a:lstStyle/>
                    <a:p>
                      <a:pPr marL="0" marR="0" indent="0" algn="ctr" fontAlgn="base" latinLnBrk="0">
                        <a:lnSpc>
                          <a:spcPct val="100000"/>
                        </a:lnSpc>
                        <a:spcBef>
                          <a:spcPts val="0"/>
                        </a:spcBef>
                        <a:spcAft>
                          <a:spcPts val="0"/>
                        </a:spcAft>
                      </a:pPr>
                      <a:r>
                        <a:rPr lang="en-US" sz="1050" kern="0" spc="-100">
                          <a:effectLst/>
                          <a:latin typeface="+mn-ea"/>
                          <a:ea typeface="+mn-ea"/>
                        </a:rPr>
                        <a:t>PCT</a:t>
                      </a:r>
                      <a:endParaRPr lang="en-US" sz="1050" kern="0" spc="-100">
                        <a:solidFill>
                          <a:srgbClr val="000000"/>
                        </a:solidFill>
                        <a:effectLst/>
                        <a:latin typeface="+mn-ea"/>
                        <a:ea typeface="+mn-ea"/>
                      </a:endParaRPr>
                    </a:p>
                  </a:txBody>
                  <a:tcPr marL="72000" marR="72000" marT="11252" marB="11252" anchor="ctr"/>
                </a:tc>
                <a:tc>
                  <a:txBody>
                    <a:bodyPr/>
                    <a:lstStyle/>
                    <a:p>
                      <a:pPr marL="0" marR="0" indent="0" algn="ctr" fontAlgn="base" latinLnBrk="0">
                        <a:lnSpc>
                          <a:spcPct val="100000"/>
                        </a:lnSpc>
                        <a:spcBef>
                          <a:spcPts val="0"/>
                        </a:spcBef>
                        <a:spcAft>
                          <a:spcPts val="0"/>
                        </a:spcAft>
                      </a:pPr>
                      <a:r>
                        <a:rPr lang="ko-KR" altLang="en-US" sz="1050" kern="0" spc="-100" dirty="0">
                          <a:effectLst/>
                          <a:latin typeface="+mn-ea"/>
                          <a:ea typeface="+mn-ea"/>
                        </a:rPr>
                        <a:t>도면의 제출</a:t>
                      </a:r>
                      <a:endParaRPr lang="ko-KR" altLang="en-US" sz="1050" kern="0" spc="-100" dirty="0">
                        <a:solidFill>
                          <a:srgbClr val="000000"/>
                        </a:solidFill>
                        <a:effectLst/>
                        <a:latin typeface="+mn-ea"/>
                        <a:ea typeface="+mn-ea"/>
                      </a:endParaRPr>
                    </a:p>
                  </a:txBody>
                  <a:tcPr marL="72000" marR="72000" marT="11252" marB="11252" anchor="ctr"/>
                </a:tc>
                <a:tc>
                  <a:txBody>
                    <a:bodyPr/>
                    <a:lstStyle/>
                    <a:p>
                      <a:pPr marL="17780" marR="17780" indent="0" algn="just" fontAlgn="base" latinLnBrk="1">
                        <a:lnSpc>
                          <a:spcPct val="100000"/>
                        </a:lnSpc>
                        <a:spcBef>
                          <a:spcPts val="0"/>
                        </a:spcBef>
                        <a:spcAft>
                          <a:spcPts val="0"/>
                        </a:spcAft>
                      </a:pPr>
                      <a:r>
                        <a:rPr lang="ko-KR" altLang="en-US" sz="1050" kern="0" spc="-80" dirty="0">
                          <a:effectLst/>
                          <a:latin typeface="+mn-ea"/>
                          <a:ea typeface="+mn-ea"/>
                        </a:rPr>
                        <a:t>도면의 설명부분에 대한 국어번역문을 제출하지 아니한 경우 도면의 설명부분에 대한 기재가 없었던 것으로 본다</a:t>
                      </a:r>
                      <a:r>
                        <a:rPr lang="en-US" altLang="ko-KR" sz="1050" kern="0" spc="-80" dirty="0">
                          <a:effectLst/>
                          <a:latin typeface="+mn-ea"/>
                          <a:ea typeface="+mn-ea"/>
                        </a:rPr>
                        <a:t>(</a:t>
                      </a:r>
                      <a:r>
                        <a:rPr lang="ko-KR" altLang="en-US" sz="1050" kern="0" spc="-80" dirty="0">
                          <a:effectLst/>
                          <a:latin typeface="+mn-ea"/>
                          <a:ea typeface="+mn-ea"/>
                        </a:rPr>
                        <a:t>法 </a:t>
                      </a:r>
                      <a:r>
                        <a:rPr lang="en-US" altLang="ko-KR" sz="1050" kern="0" spc="-80" dirty="0">
                          <a:effectLst/>
                          <a:latin typeface="+mn-ea"/>
                          <a:ea typeface="+mn-ea"/>
                        </a:rPr>
                        <a:t>201</a:t>
                      </a:r>
                      <a:r>
                        <a:rPr lang="ko-KR" altLang="en-US" sz="1050" kern="0" spc="-80" dirty="0">
                          <a:effectLst/>
                          <a:latin typeface="+mn-ea"/>
                          <a:ea typeface="+mn-ea"/>
                        </a:rPr>
                        <a:t>⑤</a:t>
                      </a:r>
                      <a:r>
                        <a:rPr lang="en-US" altLang="ko-KR" sz="1050" kern="0" spc="-80" dirty="0">
                          <a:effectLst/>
                          <a:latin typeface="+mn-ea"/>
                          <a:ea typeface="+mn-ea"/>
                        </a:rPr>
                        <a:t>)</a:t>
                      </a:r>
                      <a:endParaRPr lang="ko-KR" altLang="en-US" sz="1050" kern="0" spc="-80" dirty="0">
                        <a:solidFill>
                          <a:srgbClr val="000000"/>
                        </a:solidFill>
                        <a:effectLst/>
                        <a:latin typeface="+mn-ea"/>
                        <a:ea typeface="+mn-ea"/>
                      </a:endParaRPr>
                    </a:p>
                  </a:txBody>
                  <a:tcPr marL="72000" marR="72000" marT="11252" marB="11252" anchor="ctr"/>
                </a:tc>
                <a:tc>
                  <a:txBody>
                    <a:bodyPr/>
                    <a:lstStyle/>
                    <a:p>
                      <a:pPr marL="111760" marR="17780" indent="-111760" algn="just" fontAlgn="base" latinLnBrk="1">
                        <a:lnSpc>
                          <a:spcPct val="100000"/>
                        </a:lnSpc>
                        <a:spcBef>
                          <a:spcPts val="0"/>
                        </a:spcBef>
                        <a:spcAft>
                          <a:spcPts val="0"/>
                        </a:spcAft>
                      </a:pPr>
                      <a:r>
                        <a:rPr lang="en-US" altLang="ko-KR" sz="1050" kern="0" spc="-70" dirty="0">
                          <a:effectLst/>
                          <a:latin typeface="+mn-ea"/>
                          <a:ea typeface="+mn-ea"/>
                        </a:rPr>
                        <a:t>1.</a:t>
                      </a:r>
                      <a:r>
                        <a:rPr lang="ko-KR" altLang="en-US" sz="1050" kern="0" spc="-70" dirty="0">
                          <a:effectLst/>
                          <a:latin typeface="+mn-ea"/>
                          <a:ea typeface="+mn-ea"/>
                        </a:rPr>
                        <a:t>국제실용신안등록출원이 도면</a:t>
                      </a:r>
                      <a:r>
                        <a:rPr lang="en-US" altLang="ko-KR" sz="1050" kern="0" spc="-70" dirty="0">
                          <a:effectLst/>
                          <a:latin typeface="+mn-ea"/>
                          <a:ea typeface="+mn-ea"/>
                        </a:rPr>
                        <a:t>(</a:t>
                      </a:r>
                      <a:r>
                        <a:rPr lang="ko-KR" altLang="en-US" sz="1050" kern="0" spc="-70" dirty="0">
                          <a:effectLst/>
                          <a:latin typeface="+mn-ea"/>
                          <a:ea typeface="+mn-ea"/>
                        </a:rPr>
                        <a:t>도면에 간단한 설명을 포함</a:t>
                      </a:r>
                      <a:r>
                        <a:rPr lang="en-US" altLang="ko-KR" sz="1050" kern="0" spc="-70" dirty="0">
                          <a:effectLst/>
                          <a:latin typeface="+mn-ea"/>
                          <a:ea typeface="+mn-ea"/>
                        </a:rPr>
                        <a:t>)</a:t>
                      </a:r>
                      <a:r>
                        <a:rPr lang="ko-KR" altLang="en-US" sz="1050" kern="0" spc="-70" dirty="0">
                          <a:effectLst/>
                          <a:latin typeface="+mn-ea"/>
                          <a:ea typeface="+mn-ea"/>
                        </a:rPr>
                        <a:t>을 포함하지 아니한 경우 「기준일」까지 이를 제출</a:t>
                      </a:r>
                      <a:r>
                        <a:rPr lang="en-US" altLang="ko-KR" sz="1050" kern="0" spc="-70" dirty="0">
                          <a:effectLst/>
                          <a:latin typeface="+mn-ea"/>
                          <a:ea typeface="+mn-ea"/>
                        </a:rPr>
                        <a:t>(</a:t>
                      </a:r>
                      <a:r>
                        <a:rPr lang="ko-KR" altLang="en-US" sz="1050" kern="0" spc="-70" dirty="0">
                          <a:effectLst/>
                          <a:latin typeface="+mn-ea"/>
                          <a:ea typeface="+mn-ea"/>
                        </a:rPr>
                        <a:t>實用 </a:t>
                      </a:r>
                      <a:r>
                        <a:rPr lang="en-US" altLang="ko-KR" sz="1050" kern="0" spc="-70" dirty="0">
                          <a:effectLst/>
                          <a:latin typeface="+mn-ea"/>
                          <a:ea typeface="+mn-ea"/>
                        </a:rPr>
                        <a:t>36</a:t>
                      </a:r>
                      <a:r>
                        <a:rPr lang="ko-KR" altLang="en-US" sz="1050" kern="0" spc="-70" dirty="0">
                          <a:effectLst/>
                          <a:latin typeface="+mn-ea"/>
                          <a:ea typeface="+mn-ea"/>
                        </a:rPr>
                        <a:t>①</a:t>
                      </a:r>
                      <a:r>
                        <a:rPr lang="en-US" altLang="ko-KR" sz="1050" kern="0" spc="-70" dirty="0">
                          <a:effectLst/>
                          <a:latin typeface="+mn-ea"/>
                          <a:ea typeface="+mn-ea"/>
                        </a:rPr>
                        <a:t>)</a:t>
                      </a:r>
                      <a:endParaRPr lang="ko-KR" altLang="en-US" sz="1050" kern="0" spc="-70" dirty="0">
                        <a:effectLst/>
                        <a:latin typeface="+mn-ea"/>
                        <a:ea typeface="+mn-ea"/>
                      </a:endParaRPr>
                    </a:p>
                    <a:p>
                      <a:pPr marL="125730" marR="17780" indent="-125730" algn="just" fontAlgn="base" latinLnBrk="1">
                        <a:lnSpc>
                          <a:spcPct val="100000"/>
                        </a:lnSpc>
                        <a:spcBef>
                          <a:spcPts val="0"/>
                        </a:spcBef>
                        <a:spcAft>
                          <a:spcPts val="0"/>
                        </a:spcAft>
                      </a:pPr>
                      <a:r>
                        <a:rPr lang="en-US" altLang="ko-KR" sz="1050" kern="0" spc="-50" dirty="0">
                          <a:effectLst/>
                          <a:latin typeface="+mn-ea"/>
                          <a:ea typeface="+mn-ea"/>
                        </a:rPr>
                        <a:t>2. </a:t>
                      </a:r>
                      <a:r>
                        <a:rPr lang="ko-KR" altLang="en-US" sz="1050" kern="0" spc="-50" dirty="0">
                          <a:effectLst/>
                          <a:latin typeface="+mn-ea"/>
                          <a:ea typeface="+mn-ea"/>
                        </a:rPr>
                        <a:t>미제출시 지식재산처장은 기간을 정하여 도면 및 도면의 설명부분의 국어번역문의 제출을 명령</a:t>
                      </a:r>
                      <a:r>
                        <a:rPr lang="en-US" altLang="ko-KR" sz="1050" kern="0" spc="-50" dirty="0">
                          <a:effectLst/>
                          <a:latin typeface="+mn-ea"/>
                          <a:ea typeface="+mn-ea"/>
                        </a:rPr>
                        <a:t>(</a:t>
                      </a:r>
                      <a:r>
                        <a:rPr lang="ko-KR" altLang="en-US" sz="1050" kern="0" spc="-50" dirty="0">
                          <a:effectLst/>
                          <a:latin typeface="+mn-ea"/>
                          <a:ea typeface="+mn-ea"/>
                        </a:rPr>
                        <a:t>實用 </a:t>
                      </a:r>
                      <a:r>
                        <a:rPr lang="en-US" altLang="ko-KR" sz="1050" kern="0" spc="-50" dirty="0">
                          <a:effectLst/>
                          <a:latin typeface="+mn-ea"/>
                          <a:ea typeface="+mn-ea"/>
                        </a:rPr>
                        <a:t>36</a:t>
                      </a:r>
                      <a:r>
                        <a:rPr lang="ko-KR" altLang="en-US" sz="1050" kern="0" spc="-50" dirty="0">
                          <a:effectLst/>
                          <a:latin typeface="+mn-ea"/>
                          <a:ea typeface="+mn-ea"/>
                        </a:rPr>
                        <a:t>②</a:t>
                      </a:r>
                      <a:r>
                        <a:rPr lang="en-US" altLang="ko-KR" sz="1050" kern="0" spc="-50" dirty="0">
                          <a:effectLst/>
                          <a:latin typeface="+mn-ea"/>
                          <a:ea typeface="+mn-ea"/>
                        </a:rPr>
                        <a:t>)</a:t>
                      </a:r>
                      <a:endParaRPr lang="ko-KR" altLang="en-US" sz="1050" kern="0" spc="-50" dirty="0">
                        <a:effectLst/>
                        <a:latin typeface="+mn-ea"/>
                        <a:ea typeface="+mn-ea"/>
                      </a:endParaRPr>
                    </a:p>
                    <a:p>
                      <a:pPr marL="114300" marR="17780" indent="-114300" algn="just" fontAlgn="base" latinLnBrk="1">
                        <a:lnSpc>
                          <a:spcPct val="100000"/>
                        </a:lnSpc>
                        <a:spcBef>
                          <a:spcPts val="0"/>
                        </a:spcBef>
                        <a:spcAft>
                          <a:spcPts val="0"/>
                        </a:spcAft>
                      </a:pPr>
                      <a:r>
                        <a:rPr lang="en-US" altLang="ko-KR" sz="1050" kern="0" spc="-50" dirty="0">
                          <a:effectLst/>
                          <a:latin typeface="+mn-ea"/>
                          <a:ea typeface="+mn-ea"/>
                        </a:rPr>
                        <a:t>3.</a:t>
                      </a:r>
                      <a:r>
                        <a:rPr lang="ko-KR" altLang="en-US" sz="1050" kern="0" spc="-80" dirty="0">
                          <a:effectLst/>
                          <a:latin typeface="+mn-ea"/>
                          <a:ea typeface="+mn-ea"/>
                        </a:rPr>
                        <a:t>지식재산처장의 명령에도 불구하고 도면을 제출하지 아니한 경우 그 국제실용신안등록출원을 무효로 할 수 있다</a:t>
                      </a:r>
                      <a:r>
                        <a:rPr lang="en-US" altLang="ko-KR" sz="1050" kern="0" spc="-80" dirty="0">
                          <a:effectLst/>
                          <a:latin typeface="+mn-ea"/>
                          <a:ea typeface="+mn-ea"/>
                        </a:rPr>
                        <a:t>(</a:t>
                      </a:r>
                      <a:r>
                        <a:rPr lang="ko-KR" altLang="en-US" sz="1050" kern="0" spc="-80" dirty="0">
                          <a:effectLst/>
                          <a:latin typeface="+mn-ea"/>
                          <a:ea typeface="+mn-ea"/>
                        </a:rPr>
                        <a:t>實用 </a:t>
                      </a:r>
                      <a:r>
                        <a:rPr lang="en-US" altLang="ko-KR" sz="1050" kern="0" spc="-80" dirty="0">
                          <a:effectLst/>
                          <a:latin typeface="+mn-ea"/>
                          <a:ea typeface="+mn-ea"/>
                        </a:rPr>
                        <a:t>36</a:t>
                      </a:r>
                      <a:r>
                        <a:rPr lang="ko-KR" altLang="en-US" sz="1050" kern="0" spc="-80" dirty="0">
                          <a:effectLst/>
                          <a:latin typeface="+mn-ea"/>
                          <a:ea typeface="+mn-ea"/>
                        </a:rPr>
                        <a:t>③</a:t>
                      </a:r>
                      <a:r>
                        <a:rPr lang="en-US" altLang="ko-KR" sz="1050" kern="0" spc="-80" dirty="0">
                          <a:effectLst/>
                          <a:latin typeface="+mn-ea"/>
                          <a:ea typeface="+mn-ea"/>
                        </a:rPr>
                        <a:t>).</a:t>
                      </a:r>
                      <a:endParaRPr lang="ko-KR" altLang="en-US" sz="1050" kern="0" spc="-80" dirty="0">
                        <a:effectLst/>
                        <a:latin typeface="+mn-ea"/>
                        <a:ea typeface="+mn-ea"/>
                      </a:endParaRPr>
                    </a:p>
                    <a:p>
                      <a:pPr marL="116840" marR="17780" indent="-116840" algn="just" fontAlgn="base" latinLnBrk="1">
                        <a:lnSpc>
                          <a:spcPct val="100000"/>
                        </a:lnSpc>
                        <a:spcBef>
                          <a:spcPts val="0"/>
                        </a:spcBef>
                        <a:spcAft>
                          <a:spcPts val="0"/>
                        </a:spcAft>
                      </a:pPr>
                      <a:r>
                        <a:rPr lang="en-US" altLang="ko-KR" sz="1050" kern="0" spc="-50" dirty="0">
                          <a:effectLst/>
                          <a:latin typeface="+mn-ea"/>
                          <a:ea typeface="+mn-ea"/>
                        </a:rPr>
                        <a:t>4. </a:t>
                      </a:r>
                      <a:r>
                        <a:rPr lang="ko-KR" altLang="en-US" sz="1050" kern="0" spc="-150" dirty="0">
                          <a:effectLst/>
                          <a:latin typeface="+mn-ea"/>
                          <a:ea typeface="+mn-ea"/>
                        </a:rPr>
                        <a:t>제출된 도면 및 도면의 설명부분의 국어번역문은 「특허법」 제</a:t>
                      </a:r>
                      <a:r>
                        <a:rPr lang="en-US" altLang="ko-KR" sz="1050" kern="0" spc="-150" dirty="0">
                          <a:effectLst/>
                          <a:latin typeface="+mn-ea"/>
                          <a:ea typeface="+mn-ea"/>
                        </a:rPr>
                        <a:t>47</a:t>
                      </a:r>
                      <a:r>
                        <a:rPr lang="ko-KR" altLang="en-US" sz="1050" kern="0" spc="-150" dirty="0">
                          <a:effectLst/>
                          <a:latin typeface="+mn-ea"/>
                          <a:ea typeface="+mn-ea"/>
                        </a:rPr>
                        <a:t>조제</a:t>
                      </a:r>
                      <a:r>
                        <a:rPr lang="en-US" altLang="ko-KR" sz="1050" kern="0" spc="-150" dirty="0">
                          <a:effectLst/>
                          <a:latin typeface="+mn-ea"/>
                          <a:ea typeface="+mn-ea"/>
                        </a:rPr>
                        <a:t>1</a:t>
                      </a:r>
                      <a:r>
                        <a:rPr lang="ko-KR" altLang="en-US" sz="1050" kern="0" spc="-150" dirty="0">
                          <a:effectLst/>
                          <a:latin typeface="+mn-ea"/>
                          <a:ea typeface="+mn-ea"/>
                        </a:rPr>
                        <a:t>항에 따른 보정으로 간주</a:t>
                      </a:r>
                      <a:r>
                        <a:rPr lang="en-US" altLang="ko-KR" sz="1050" kern="0" spc="-150" dirty="0">
                          <a:effectLst/>
                          <a:latin typeface="+mn-ea"/>
                          <a:ea typeface="+mn-ea"/>
                        </a:rPr>
                        <a:t>(</a:t>
                      </a:r>
                      <a:r>
                        <a:rPr lang="ko-KR" altLang="en-US" sz="1050" kern="0" spc="-150" dirty="0">
                          <a:effectLst/>
                          <a:latin typeface="+mn-ea"/>
                          <a:ea typeface="+mn-ea"/>
                        </a:rPr>
                        <a:t>단</a:t>
                      </a:r>
                      <a:r>
                        <a:rPr lang="en-US" altLang="ko-KR" sz="1050" kern="0" spc="-150" dirty="0">
                          <a:effectLst/>
                          <a:latin typeface="+mn-ea"/>
                          <a:ea typeface="+mn-ea"/>
                        </a:rPr>
                        <a:t>, </a:t>
                      </a:r>
                      <a:r>
                        <a:rPr lang="ko-KR" altLang="en-US" sz="1050" kern="0" spc="-150" dirty="0">
                          <a:effectLst/>
                          <a:latin typeface="+mn-ea"/>
                          <a:ea typeface="+mn-ea"/>
                        </a:rPr>
                        <a:t>보정기간은  부적용</a:t>
                      </a:r>
                      <a:r>
                        <a:rPr lang="en-US" altLang="ko-KR" sz="1050" kern="0" spc="-150" dirty="0">
                          <a:effectLst/>
                          <a:latin typeface="+mn-ea"/>
                          <a:ea typeface="+mn-ea"/>
                        </a:rPr>
                        <a:t>)(</a:t>
                      </a:r>
                      <a:r>
                        <a:rPr lang="ko-KR" altLang="en-US" sz="1050" kern="0" spc="-150" dirty="0">
                          <a:effectLst/>
                          <a:latin typeface="+mn-ea"/>
                          <a:ea typeface="+mn-ea"/>
                        </a:rPr>
                        <a:t>實用 </a:t>
                      </a:r>
                      <a:r>
                        <a:rPr lang="en-US" altLang="ko-KR" sz="1050" kern="0" spc="-150" dirty="0">
                          <a:effectLst/>
                          <a:latin typeface="+mn-ea"/>
                          <a:ea typeface="+mn-ea"/>
                        </a:rPr>
                        <a:t>36</a:t>
                      </a:r>
                      <a:r>
                        <a:rPr lang="ko-KR" altLang="en-US" sz="1050" kern="0" spc="-150" dirty="0">
                          <a:effectLst/>
                          <a:latin typeface="+mn-ea"/>
                          <a:ea typeface="+mn-ea"/>
                        </a:rPr>
                        <a:t>④</a:t>
                      </a:r>
                      <a:r>
                        <a:rPr lang="en-US" altLang="ko-KR" sz="1050" kern="0" spc="-150" dirty="0">
                          <a:effectLst/>
                          <a:latin typeface="+mn-ea"/>
                          <a:ea typeface="+mn-ea"/>
                        </a:rPr>
                        <a:t>).</a:t>
                      </a:r>
                      <a:endParaRPr lang="ko-KR" altLang="en-US" sz="1050" kern="0" spc="-150" dirty="0">
                        <a:solidFill>
                          <a:srgbClr val="000000"/>
                        </a:solidFill>
                        <a:effectLst/>
                        <a:latin typeface="+mn-ea"/>
                        <a:ea typeface="+mn-ea"/>
                      </a:endParaRPr>
                    </a:p>
                  </a:txBody>
                  <a:tcPr marL="72000" marR="72000" marT="11252" marB="11252" anchor="ctr"/>
                </a:tc>
                <a:extLst>
                  <a:ext uri="{0D108BD9-81ED-4DB2-BD59-A6C34878D82A}">
                    <a16:rowId xmlns:a16="http://schemas.microsoft.com/office/drawing/2014/main" val="10014"/>
                  </a:ext>
                </a:extLst>
              </a:tr>
            </a:tbl>
          </a:graphicData>
        </a:graphic>
      </p:graphicFrame>
      <p:sp>
        <p:nvSpPr>
          <p:cNvPr id="5" name="슬라이드 번호 개체 틀 4"/>
          <p:cNvSpPr>
            <a:spLocks noGrp="1"/>
          </p:cNvSpPr>
          <p:nvPr>
            <p:ph type="sldNum" sz="quarter" idx="12"/>
          </p:nvPr>
        </p:nvSpPr>
        <p:spPr/>
        <p:txBody>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rPr>
              <a:t>589</a:t>
            </a:r>
            <a:endParaRPr kumimoji="0" lang="ko-KR" altLang="en-US" sz="3600" b="1" i="0" u="none" strike="noStrike" kern="120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Frutiger LT 65 Bold"/>
              <a:ea typeface="Rix모던고딕 B"/>
              <a:cs typeface="+mn-cs"/>
            </a:endParaRPr>
          </a:p>
        </p:txBody>
      </p:sp>
    </p:spTree>
    <p:extLst>
      <p:ext uri="{BB962C8B-B14F-4D97-AF65-F5344CB8AC3E}">
        <p14:creationId xmlns:p14="http://schemas.microsoft.com/office/powerpoint/2010/main" val="1220980054"/>
      </p:ext>
    </p:extLst>
  </p:cSld>
  <p:clrMapOvr>
    <a:masterClrMapping/>
  </p:clrMapOvr>
</p:sld>
</file>

<file path=ppt/slides/slide6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663303896"/>
      </p:ext>
    </p:extLst>
  </p:cSld>
  <p:clrMapOvr>
    <a:masterClrMapping/>
  </p:clrMapOvr>
</p:sld>
</file>

<file path=ppt/theme/theme1.xml><?xml version="1.0" encoding="utf-8"?>
<a:theme xmlns:a="http://schemas.openxmlformats.org/drawingml/2006/main" name="1_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사용자 지정 1">
      <a:majorFont>
        <a:latin typeface="Frutiger LT 75 Black"/>
        <a:ea typeface="Rix모던고딕 EB"/>
        <a:cs typeface=""/>
      </a:majorFont>
      <a:minorFont>
        <a:latin typeface="Frutiger LT 65 Bold"/>
        <a:ea typeface="Rix모던고딕 B"/>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ln w="12700">
          <a:solidFill>
            <a:schemeClr val="bg1">
              <a:lumMod val="50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디자인 사용자 지정">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사용자 지정 1">
      <a:majorFont>
        <a:latin typeface="Frutiger LT 75 Black"/>
        <a:ea typeface="Rix모던고딕 EB"/>
        <a:cs typeface=""/>
      </a:majorFont>
      <a:minorFont>
        <a:latin typeface="Frutiger LT 65 Bold"/>
        <a:ea typeface="Rix모던고딕 B"/>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ln w="12700">
          <a:solidFill>
            <a:schemeClr val="bg1">
              <a:lumMod val="50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테마 [1781360961733]">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사용자 지정 1">
      <a:majorFont>
        <a:latin typeface="Frutiger LT 75 Black"/>
        <a:ea typeface="Rix모던고딕 EB"/>
        <a:cs typeface=""/>
      </a:majorFont>
      <a:minorFont>
        <a:latin typeface="Frutiger LT 65 Bold"/>
        <a:ea typeface="Rix모던고딕 B"/>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ln>
          <a:solidFill>
            <a:schemeClr val="bg1">
              <a:lumMod val="50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테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맑은 고딕"/>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0">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DFD0AB68-4D1F-4084-A462-2C8AC3CB02BE}">
  <we:reference id="wa200010001" version="1.0.0.1" store="en-US" storeType="OMEX"/>
  <we:alternateReferences>
    <we:reference id="WA200010001" version="1.0.0.1" store="" storeType="OMEX"/>
  </we:alternateReferences>
  <we:properties>
    <we:property name="claude.fileId" value="&quot;646b7620-0c2b-4cc0-8284-66ba8a3418b7&quot;"/>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otalTime>7753</TotalTime>
  <Words>166185</Words>
  <Application>Microsoft Office PowerPoint</Application>
  <PresentationFormat>와이드스크린</PresentationFormat>
  <Paragraphs>22311</Paragraphs>
  <Slides>603</Slides>
  <Notes>215</Notes>
  <HiddenSlides>0</HiddenSlides>
  <MMClips>0</MMClips>
  <ScaleCrop>false</ScaleCrop>
  <HeadingPairs>
    <vt:vector size="6" baseType="variant">
      <vt:variant>
        <vt:lpstr>사용한 글꼴</vt:lpstr>
      </vt:variant>
      <vt:variant>
        <vt:i4>24</vt:i4>
      </vt:variant>
      <vt:variant>
        <vt:lpstr>테마</vt:lpstr>
      </vt:variant>
      <vt:variant>
        <vt:i4>4</vt:i4>
      </vt:variant>
      <vt:variant>
        <vt:lpstr>슬라이드 제목</vt:lpstr>
      </vt:variant>
      <vt:variant>
        <vt:i4>603</vt:i4>
      </vt:variant>
    </vt:vector>
  </HeadingPairs>
  <TitlesOfParts>
    <vt:vector size="631" baseType="lpstr">
      <vt:lpstr>Frutiger LT 65 Bold</vt:lpstr>
      <vt:lpstr>Rix커피향 M</vt:lpstr>
      <vt:lpstr>함초롬바탕</vt:lpstr>
      <vt:lpstr>SandSm</vt:lpstr>
      <vt:lpstr>CourtBT</vt:lpstr>
      <vt:lpstr>Rix모던고딕 B</vt:lpstr>
      <vt:lpstr>Rix모던명조 B</vt:lpstr>
      <vt:lpstr>KoPub바탕체 Medium</vt:lpstr>
      <vt:lpstr>Arial</vt:lpstr>
      <vt:lpstr>Rix모던고딕 EB</vt:lpstr>
      <vt:lpstr>산돌신문제비 L</vt:lpstr>
      <vt:lpstr>HY각헤드라인M</vt:lpstr>
      <vt:lpstr>Yoon가변 윤명조 320_TT</vt:lpstr>
      <vt:lpstr>산돌다솔 L</vt:lpstr>
      <vt:lpstr>Rix모던명조 M</vt:lpstr>
      <vt:lpstr>Rix모던명조 L</vt:lpstr>
      <vt:lpstr>Rix모던고딕 L</vt:lpstr>
      <vt:lpstr>한양신명조</vt:lpstr>
      <vt:lpstr>Wingdings</vt:lpstr>
      <vt:lpstr>Frutiger LT 75 Black</vt:lpstr>
      <vt:lpstr>굴림</vt:lpstr>
      <vt:lpstr>옥션고딕 M</vt:lpstr>
      <vt:lpstr>Rix모던고딕 M</vt:lpstr>
      <vt:lpstr>맑은 고딕</vt:lpstr>
      <vt:lpstr>1_Office 테마</vt:lpstr>
      <vt:lpstr>디자인 사용자 지정</vt:lpstr>
      <vt:lpstr>2_Office 테마</vt:lpstr>
      <vt:lpstr>Office 테마 [1781360961733]</vt:lpstr>
      <vt:lpstr>PowerPoint 프레젠테이션</vt:lpstr>
      <vt:lpstr>참고노트</vt:lpstr>
      <vt:lpstr>참고노트</vt:lpstr>
      <vt:lpstr>제1조</vt:lpstr>
      <vt:lpstr>제1조</vt:lpstr>
      <vt:lpstr>제1조</vt:lpstr>
      <vt:lpstr>제1조</vt:lpstr>
      <vt:lpstr>제1조</vt:lpstr>
      <vt:lpstr>제2조</vt:lpstr>
      <vt:lpstr>참고노트</vt:lpstr>
      <vt:lpstr>참고노트</vt:lpstr>
      <vt:lpstr>참고노트</vt:lpstr>
      <vt:lpstr>참고노트</vt:lpstr>
      <vt:lpstr>제2조</vt:lpstr>
      <vt:lpstr>참고노트</vt:lpstr>
      <vt:lpstr>참고노트</vt:lpstr>
      <vt:lpstr>참고노트</vt:lpstr>
      <vt:lpstr>참고노트</vt:lpstr>
      <vt:lpstr>참고노트</vt:lpstr>
      <vt:lpstr>참고노트</vt:lpstr>
      <vt:lpstr>참고노트</vt:lpstr>
      <vt:lpstr>참고노트</vt:lpstr>
      <vt:lpstr>제2조</vt:lpstr>
      <vt:lpstr>제2조</vt:lpstr>
      <vt:lpstr>제29조</vt:lpstr>
      <vt:lpstr>제2조</vt:lpstr>
      <vt:lpstr>제2조</vt:lpstr>
      <vt:lpstr>제2조</vt:lpstr>
      <vt:lpstr>제2조</vt:lpstr>
      <vt:lpstr>제3조~제5조</vt:lpstr>
      <vt:lpstr>제3조~제5조</vt:lpstr>
      <vt:lpstr>제5조</vt:lpstr>
      <vt:lpstr>제7조</vt:lpstr>
      <vt:lpstr>제8조</vt:lpstr>
      <vt:lpstr>제9조, 제10조</vt:lpstr>
      <vt:lpstr>제11조</vt:lpstr>
      <vt:lpstr>제14조</vt:lpstr>
      <vt:lpstr>제15조</vt:lpstr>
      <vt:lpstr>제16조, 제28조~제28조의5</vt:lpstr>
      <vt:lpstr>제16조</vt:lpstr>
      <vt:lpstr>제16조</vt:lpstr>
      <vt:lpstr>제18조~제19조</vt:lpstr>
      <vt:lpstr>제20조~제24조</vt:lpstr>
      <vt:lpstr>제78조, 제164조</vt:lpstr>
      <vt:lpstr>참고노트</vt:lpstr>
      <vt:lpstr>참고노트</vt:lpstr>
      <vt:lpstr>참고노트</vt:lpstr>
      <vt:lpstr>참고노트</vt:lpstr>
      <vt:lpstr>제216조</vt:lpstr>
      <vt:lpstr>참고노트</vt:lpstr>
      <vt:lpstr>참고노트</vt:lpstr>
      <vt:lpstr>PowerPoint 프레젠테이션</vt:lpstr>
      <vt:lpstr>PowerPoint 프레젠테이션</vt:lpstr>
      <vt:lpstr>참고노트</vt:lpstr>
      <vt:lpstr>참고노트</vt:lpstr>
      <vt:lpstr>참고노트</vt:lpstr>
      <vt:lpstr>제29조제1항본문</vt:lpstr>
      <vt:lpstr>제29조제1항본문</vt:lpstr>
      <vt:lpstr>제29조제1항각호</vt:lpstr>
      <vt:lpstr>제29조제1항각호</vt:lpstr>
      <vt:lpstr>제29조제1항각호</vt:lpstr>
      <vt:lpstr>제29조제1항각호</vt:lpstr>
      <vt:lpstr>제29조제1항각호</vt:lpstr>
      <vt:lpstr>제29조제1항각호</vt:lpstr>
      <vt:lpstr>제29조제1항각호</vt:lpstr>
      <vt:lpstr>제29조제1항각호</vt:lpstr>
      <vt:lpstr>제29조제1항각호</vt:lpstr>
      <vt:lpstr>제29조제1항각호</vt:lpstr>
      <vt:lpstr>제29조제1항각호</vt:lpstr>
      <vt:lpstr>제29조제1항각호</vt:lpstr>
      <vt:lpstr>제29조제1항각호</vt:lpstr>
      <vt:lpstr>제29조제2항</vt:lpstr>
      <vt:lpstr>제29조제2항</vt:lpstr>
      <vt:lpstr>제29조제2항</vt:lpstr>
      <vt:lpstr>제29조제2항</vt:lpstr>
      <vt:lpstr>제29조제2항</vt:lpstr>
      <vt:lpstr>참고노트</vt:lpstr>
      <vt:lpstr>제29조제2항</vt:lpstr>
      <vt:lpstr>제29조제2항</vt:lpstr>
      <vt:lpstr>제29조제2항</vt:lpstr>
      <vt:lpstr>제29조제2항</vt:lpstr>
      <vt:lpstr>제29조제2항</vt:lpstr>
      <vt:lpstr>제36조</vt:lpstr>
      <vt:lpstr>제36조</vt:lpstr>
      <vt:lpstr>제36조</vt:lpstr>
      <vt:lpstr>제36조</vt:lpstr>
      <vt:lpstr>참고노트</vt:lpstr>
      <vt:lpstr>제36조</vt:lpstr>
      <vt:lpstr>제29조제3항</vt:lpstr>
      <vt:lpstr>제29조제3항</vt:lpstr>
      <vt:lpstr>제29조제3항</vt:lpstr>
      <vt:lpstr>제29조제3항</vt:lpstr>
      <vt:lpstr>참고노트</vt:lpstr>
      <vt:lpstr>참고노트</vt:lpstr>
      <vt:lpstr>참고노트</vt:lpstr>
      <vt:lpstr>참고노트</vt:lpstr>
      <vt:lpstr>참고노트</vt:lpstr>
      <vt:lpstr>참고노트</vt:lpstr>
      <vt:lpstr>참고노트</vt:lpstr>
      <vt:lpstr>참고노트</vt:lpstr>
      <vt:lpstr>제41조, 제106조</vt:lpstr>
      <vt:lpstr>제25조, 제33조, 제44조</vt:lpstr>
      <vt:lpstr>제33조제1항, 제44조</vt:lpstr>
      <vt:lpstr>제33조 제1항</vt:lpstr>
      <vt:lpstr>제33조제1항</vt:lpstr>
      <vt:lpstr>제33조제2항</vt:lpstr>
      <vt:lpstr>제33조제2항</vt:lpstr>
      <vt:lpstr>제33조 제1항</vt:lpstr>
      <vt:lpstr>제37조</vt:lpstr>
      <vt:lpstr>제37조</vt:lpstr>
      <vt:lpstr>제37조</vt:lpstr>
      <vt:lpstr>제37조</vt:lpstr>
      <vt:lpstr>제38조</vt:lpstr>
      <vt:lpstr>제38조 제1항</vt:lpstr>
      <vt:lpstr>제38조 제1항</vt:lpstr>
      <vt:lpstr>직무발명</vt:lpstr>
      <vt:lpstr>직무발명</vt:lpstr>
      <vt:lpstr>직무발명</vt:lpstr>
      <vt:lpstr>직무발명</vt:lpstr>
      <vt:lpstr>직무발명</vt:lpstr>
      <vt:lpstr>직무발명</vt:lpstr>
      <vt:lpstr>직무발명</vt:lpstr>
      <vt:lpstr>직무발명</vt:lpstr>
      <vt:lpstr>직무발명</vt:lpstr>
      <vt:lpstr>제42조, 제42조의2</vt:lpstr>
      <vt:lpstr>제42조, 제42조의2</vt:lpstr>
      <vt:lpstr>제42조의2</vt:lpstr>
      <vt:lpstr>제42조의2</vt:lpstr>
      <vt:lpstr>제42조</vt:lpstr>
      <vt:lpstr>제42조</vt:lpstr>
      <vt:lpstr>제42조</vt:lpstr>
      <vt:lpstr>제42조</vt:lpstr>
      <vt:lpstr>제42조</vt:lpstr>
      <vt:lpstr>제42조</vt:lpstr>
      <vt:lpstr>제42조</vt:lpstr>
      <vt:lpstr>제42조</vt:lpstr>
      <vt:lpstr>제42조</vt:lpstr>
      <vt:lpstr>제42조</vt:lpstr>
      <vt:lpstr>제42조</vt:lpstr>
      <vt:lpstr>제42조</vt:lpstr>
      <vt:lpstr>제42조</vt:lpstr>
      <vt:lpstr>제42조</vt:lpstr>
      <vt:lpstr>제42조</vt:lpstr>
      <vt:lpstr>제45조</vt:lpstr>
      <vt:lpstr>제45조</vt:lpstr>
      <vt:lpstr>참고노트</vt:lpstr>
      <vt:lpstr>참고노트</vt:lpstr>
      <vt:lpstr>참고노트</vt:lpstr>
      <vt:lpstr>PowerPoint 프레젠테이션</vt:lpstr>
      <vt:lpstr>PowerPoint 프레젠테이션</vt:lpstr>
      <vt:lpstr>PowerPoint 프레젠테이션</vt:lpstr>
      <vt:lpstr>참고노트</vt:lpstr>
      <vt:lpstr>참고노트</vt:lpstr>
      <vt:lpstr>제30조</vt:lpstr>
      <vt:lpstr>제30조</vt:lpstr>
      <vt:lpstr>제30조</vt:lpstr>
      <vt:lpstr>제30조</vt:lpstr>
      <vt:lpstr>제30조</vt:lpstr>
      <vt:lpstr>참고노트</vt:lpstr>
      <vt:lpstr>제34조, 제35조</vt:lpstr>
      <vt:lpstr>제34조, 제35조</vt:lpstr>
      <vt:lpstr>제34조, 제35조</vt:lpstr>
      <vt:lpstr>제34조, 제35조</vt:lpstr>
      <vt:lpstr>제104조</vt:lpstr>
      <vt:lpstr>제34조, 제35조</vt:lpstr>
      <vt:lpstr>제34조, 제35조</vt:lpstr>
      <vt:lpstr>제99조의2</vt:lpstr>
      <vt:lpstr>제103조의2</vt:lpstr>
      <vt:lpstr>제35조, 제99조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제47조, 제51조</vt:lpstr>
      <vt:lpstr>제42조의3</vt:lpstr>
      <vt:lpstr>제42조의3</vt:lpstr>
      <vt:lpstr>제42조의3, 제47조</vt:lpstr>
      <vt:lpstr>제42조의3, 제47조</vt:lpstr>
      <vt:lpstr>제52조</vt:lpstr>
      <vt:lpstr>제52조</vt:lpstr>
      <vt:lpstr>제52조</vt:lpstr>
      <vt:lpstr>제52조</vt:lpstr>
      <vt:lpstr>제52조</vt:lpstr>
      <vt:lpstr>제52조</vt:lpstr>
      <vt:lpstr>제52조</vt:lpstr>
      <vt:lpstr>제52조</vt:lpstr>
      <vt:lpstr>제52조</vt:lpstr>
      <vt:lpstr>제52조</vt:lpstr>
      <vt:lpstr>제52조</vt:lpstr>
      <vt:lpstr>제52조</vt:lpstr>
      <vt:lpstr>제52조, 제36조</vt:lpstr>
      <vt:lpstr>제52조, 제36조</vt:lpstr>
      <vt:lpstr>제52조의2</vt:lpstr>
      <vt:lpstr>제52조의2</vt:lpstr>
      <vt:lpstr>제52조, 제52조의2</vt:lpstr>
      <vt:lpstr>제53조</vt:lpstr>
      <vt:lpstr>제53조</vt:lpstr>
      <vt:lpstr>제53조</vt:lpstr>
      <vt:lpstr>제53조</vt:lpstr>
      <vt:lpstr>제52조, 제53조</vt:lpstr>
      <vt:lpstr>제52조-제53조</vt:lpstr>
      <vt:lpstr>제54조</vt:lpstr>
      <vt:lpstr>참고노트</vt:lpstr>
      <vt:lpstr>제54조</vt:lpstr>
      <vt:lpstr>제54조</vt:lpstr>
      <vt:lpstr>제54조</vt:lpstr>
      <vt:lpstr>제54조</vt:lpstr>
      <vt:lpstr>제54조</vt:lpstr>
      <vt:lpstr>제54조</vt:lpstr>
      <vt:lpstr>제54조</vt:lpstr>
      <vt:lpstr>제54조</vt:lpstr>
      <vt:lpstr>제54조</vt:lpstr>
      <vt:lpstr>제54조</vt:lpstr>
      <vt:lpstr>제54조</vt:lpstr>
      <vt:lpstr>제54조</vt:lpstr>
      <vt:lpstr>제55조, 제56조</vt:lpstr>
      <vt:lpstr>제55조, 제56조</vt:lpstr>
      <vt:lpstr>제55조</vt:lpstr>
      <vt:lpstr>제55조, 제56조</vt:lpstr>
      <vt:lpstr>제55조, 제56조</vt:lpstr>
      <vt:lpstr>제55조, 제56조</vt:lpstr>
      <vt:lpstr>제55조, 제56조</vt:lpstr>
      <vt:lpstr>제55조, 제56조</vt:lpstr>
      <vt:lpstr>제55조, 제56조</vt:lpstr>
      <vt:lpstr>제55조, 제56조</vt:lpstr>
      <vt:lpstr>제55조, 제56조</vt:lpstr>
      <vt:lpstr>제55조, 제56조</vt:lpstr>
      <vt:lpstr>제34조-제56조</vt:lpstr>
      <vt:lpstr>제52조-제56조</vt:lpstr>
      <vt:lpstr>참고노트</vt:lpstr>
      <vt:lpstr>참고노트</vt:lpstr>
      <vt:lpstr>참고노트</vt:lpstr>
      <vt:lpstr>PowerPoint 프레젠테이션</vt:lpstr>
      <vt:lpstr>PowerPoint 프레젠테이션</vt:lpstr>
      <vt:lpstr>PowerPoint 프레젠테이션</vt:lpstr>
      <vt:lpstr>참고노트</vt:lpstr>
      <vt:lpstr>참고노트</vt:lpstr>
      <vt:lpstr>제68조</vt:lpstr>
      <vt:lpstr>제59조, 제60조</vt:lpstr>
      <vt:lpstr>제59조, 제60조</vt:lpstr>
      <vt:lpstr>제59조, 제60조</vt:lpstr>
      <vt:lpstr>제61조</vt:lpstr>
      <vt:lpstr>제59조, 제60조</vt:lpstr>
      <vt:lpstr>제62조, 제63조</vt:lpstr>
      <vt:lpstr>제62조, 제63조</vt:lpstr>
      <vt:lpstr>제62조, 제63조</vt:lpstr>
      <vt:lpstr>제62조, 제63조</vt:lpstr>
      <vt:lpstr>제62조, 제63조</vt:lpstr>
      <vt:lpstr>제62조, 제63조</vt:lpstr>
      <vt:lpstr>제62조, 제63조</vt:lpstr>
      <vt:lpstr>제62조, 제63조</vt:lpstr>
      <vt:lpstr>제62조, 제63조</vt:lpstr>
      <vt:lpstr>제62조, 제63조</vt:lpstr>
      <vt:lpstr>제62조, 제63조</vt:lpstr>
      <vt:lpstr>제62조, 제63조</vt:lpstr>
      <vt:lpstr>제66조의2</vt:lpstr>
      <vt:lpstr>제42조, 제66조의2</vt:lpstr>
      <vt:lpstr>제42조, 제66조의2</vt:lpstr>
      <vt:lpstr>제66조의2</vt:lpstr>
      <vt:lpstr>제66조의2</vt:lpstr>
      <vt:lpstr>제66조의3</vt:lpstr>
      <vt:lpstr>제66조의3</vt:lpstr>
      <vt:lpstr>제67조의2</vt:lpstr>
      <vt:lpstr>제67조의2</vt:lpstr>
      <vt:lpstr>제62조, 제63조</vt:lpstr>
      <vt:lpstr>제47조</vt:lpstr>
      <vt:lpstr>제64조, 제65조</vt:lpstr>
      <vt:lpstr>제64조, 제65조</vt:lpstr>
      <vt:lpstr>제64조, 제65조</vt:lpstr>
      <vt:lpstr>참고노트</vt:lpstr>
      <vt:lpstr>참고노트</vt:lpstr>
      <vt:lpstr>참고노트</vt:lpstr>
      <vt:lpstr>참고노트</vt:lpstr>
      <vt:lpstr>참고노트</vt:lpstr>
      <vt:lpstr>참고노트</vt:lpstr>
      <vt:lpstr>참고노트</vt:lpstr>
      <vt:lpstr>참고노트</vt:lpstr>
      <vt:lpstr>PowerPoint 프레젠테이션</vt:lpstr>
      <vt:lpstr>PowerPoint 프레젠테이션</vt:lpstr>
      <vt:lpstr>참고노트</vt:lpstr>
      <vt:lpstr>참고노트</vt:lpstr>
      <vt:lpstr>제80조</vt:lpstr>
      <vt:lpstr>제79조~제81조의3</vt:lpstr>
      <vt:lpstr>제83조</vt:lpstr>
      <vt:lpstr>참고노트</vt:lpstr>
      <vt:lpstr>참고노트</vt:lpstr>
      <vt:lpstr>제101조,제118조</vt:lpstr>
      <vt:lpstr>제87조</vt:lpstr>
      <vt:lpstr>제88조</vt:lpstr>
      <vt:lpstr>제89조~제95조</vt:lpstr>
      <vt:lpstr>제89조~제95조</vt:lpstr>
      <vt:lpstr>제89조~제95조</vt:lpstr>
      <vt:lpstr>제89조~제95조</vt:lpstr>
      <vt:lpstr>제89조~제95조</vt:lpstr>
      <vt:lpstr>제89조~제95조</vt:lpstr>
      <vt:lpstr>제89조~제95조</vt:lpstr>
      <vt:lpstr>제89조~제95조</vt:lpstr>
      <vt:lpstr>참고노트</vt:lpstr>
      <vt:lpstr>참고노트</vt:lpstr>
      <vt:lpstr>제94조~제96조</vt:lpstr>
      <vt:lpstr>제94조~제96조</vt:lpstr>
      <vt:lpstr>제94조</vt:lpstr>
      <vt:lpstr>제94조~제96조</vt:lpstr>
      <vt:lpstr>참고노트</vt:lpstr>
      <vt:lpstr>제94조~제96조</vt:lpstr>
      <vt:lpstr>제94조~제96조</vt:lpstr>
      <vt:lpstr>제94조~제96조</vt:lpstr>
      <vt:lpstr>제94조~제96조</vt:lpstr>
      <vt:lpstr>제94조~제96조</vt:lpstr>
      <vt:lpstr>제94조~제96조</vt:lpstr>
      <vt:lpstr>제94조~제96조</vt:lpstr>
      <vt:lpstr>제94조~제96조</vt:lpstr>
      <vt:lpstr>제97조</vt:lpstr>
      <vt:lpstr>제97조</vt:lpstr>
      <vt:lpstr>제97조</vt:lpstr>
      <vt:lpstr>제97조</vt:lpstr>
      <vt:lpstr>제97조</vt:lpstr>
      <vt:lpstr>제97조</vt:lpstr>
      <vt:lpstr>제97조</vt:lpstr>
      <vt:lpstr>제97조</vt:lpstr>
      <vt:lpstr>제97조</vt:lpstr>
      <vt:lpstr>제97조</vt:lpstr>
      <vt:lpstr>제97조</vt:lpstr>
      <vt:lpstr>참고노트</vt:lpstr>
      <vt:lpstr>제97조</vt:lpstr>
      <vt:lpstr>제97조</vt:lpstr>
      <vt:lpstr>제97조</vt:lpstr>
      <vt:lpstr>제97조</vt:lpstr>
      <vt:lpstr>제97조</vt:lpstr>
      <vt:lpstr>제97조</vt:lpstr>
      <vt:lpstr>제97조</vt:lpstr>
      <vt:lpstr>제97조</vt:lpstr>
      <vt:lpstr>제97조</vt:lpstr>
      <vt:lpstr>제97조</vt:lpstr>
      <vt:lpstr>제97조</vt:lpstr>
      <vt:lpstr>제97조</vt:lpstr>
      <vt:lpstr>제97조</vt:lpstr>
      <vt:lpstr>제97조</vt:lpstr>
      <vt:lpstr>제97조</vt:lpstr>
      <vt:lpstr>제97조</vt:lpstr>
      <vt:lpstr>제97조</vt:lpstr>
      <vt:lpstr>제97조</vt:lpstr>
      <vt:lpstr>제97조</vt:lpstr>
      <vt:lpstr>제97조</vt:lpstr>
      <vt:lpstr>제98조</vt:lpstr>
      <vt:lpstr>제98조</vt:lpstr>
      <vt:lpstr>제98조</vt:lpstr>
      <vt:lpstr>제98조</vt:lpstr>
      <vt:lpstr>제98조</vt:lpstr>
      <vt:lpstr>제98조</vt:lpstr>
      <vt:lpstr>제98조</vt:lpstr>
      <vt:lpstr>제98조</vt:lpstr>
      <vt:lpstr>제98조</vt:lpstr>
      <vt:lpstr>제98조</vt:lpstr>
      <vt:lpstr>제98조</vt:lpstr>
      <vt:lpstr>제98조, 제138조</vt:lpstr>
      <vt:lpstr>제98조</vt:lpstr>
      <vt:lpstr>제98조</vt:lpstr>
      <vt:lpstr>제98조</vt:lpstr>
      <vt:lpstr>제98조</vt:lpstr>
      <vt:lpstr>제98조</vt:lpstr>
      <vt:lpstr>제97조, 제98조</vt:lpstr>
      <vt:lpstr>제97조, 제98조</vt:lpstr>
      <vt:lpstr>제97조, 제98조</vt:lpstr>
      <vt:lpstr>제97조</vt:lpstr>
      <vt:lpstr>제97조, 제98조</vt:lpstr>
      <vt:lpstr>제97조, 제98조</vt:lpstr>
      <vt:lpstr>제97조, 제98조</vt:lpstr>
      <vt:lpstr>제126조~제132조 제225조~제232조</vt:lpstr>
      <vt:lpstr>참고노트</vt:lpstr>
      <vt:lpstr>제126조</vt:lpstr>
      <vt:lpstr>제126조</vt:lpstr>
      <vt:lpstr>제128조</vt:lpstr>
      <vt:lpstr>제128조</vt:lpstr>
      <vt:lpstr>제128조</vt:lpstr>
      <vt:lpstr>제128조</vt:lpstr>
      <vt:lpstr>제128조</vt:lpstr>
      <vt:lpstr>제128조</vt:lpstr>
      <vt:lpstr>참고노트</vt:lpstr>
      <vt:lpstr>제127조</vt:lpstr>
      <vt:lpstr>제127조</vt:lpstr>
      <vt:lpstr>제127조</vt:lpstr>
      <vt:lpstr>제127조</vt:lpstr>
      <vt:lpstr>제127조</vt:lpstr>
      <vt:lpstr>제127조</vt:lpstr>
      <vt:lpstr>제127조</vt:lpstr>
      <vt:lpstr>제127조</vt:lpstr>
      <vt:lpstr>제96조제1항제1호, 제127조</vt:lpstr>
      <vt:lpstr>제96조제1항제1호, 제127조</vt:lpstr>
      <vt:lpstr>제94조, 제127조</vt:lpstr>
      <vt:lpstr>참고노트</vt:lpstr>
      <vt:lpstr>제126조의2, 제132조</vt:lpstr>
      <vt:lpstr>제225조~제232조</vt:lpstr>
      <vt:lpstr>제228조</vt:lpstr>
      <vt:lpstr>참고노트</vt:lpstr>
      <vt:lpstr>참고노트</vt:lpstr>
      <vt:lpstr>참고노트</vt:lpstr>
      <vt:lpstr>제99조</vt:lpstr>
      <vt:lpstr>제99조</vt:lpstr>
      <vt:lpstr>제99조</vt:lpstr>
      <vt:lpstr>제99조</vt:lpstr>
      <vt:lpstr>제100조~제118조</vt:lpstr>
      <vt:lpstr>제100조</vt:lpstr>
      <vt:lpstr>제100조</vt:lpstr>
      <vt:lpstr>제101조</vt:lpstr>
      <vt:lpstr>제119조, 제120조</vt:lpstr>
      <vt:lpstr>제118조</vt:lpstr>
      <vt:lpstr>제100조~제118조</vt:lpstr>
      <vt:lpstr>제103조</vt:lpstr>
      <vt:lpstr>제107조~제115조</vt:lpstr>
      <vt:lpstr>제107조~제115조</vt:lpstr>
      <vt:lpstr>제107조~제115조</vt:lpstr>
      <vt:lpstr>제107조~제115조</vt:lpstr>
      <vt:lpstr>제107조~제115조</vt:lpstr>
      <vt:lpstr>제100조~제118조</vt:lpstr>
      <vt:lpstr>제100조~제118조</vt:lpstr>
      <vt:lpstr>제119조, 제120조, 제124조</vt:lpstr>
      <vt:lpstr>참고노트</vt:lpstr>
      <vt:lpstr>참고노트</vt:lpstr>
      <vt:lpstr>참고노트</vt:lpstr>
      <vt:lpstr>PowerPoint 프레젠테이션</vt:lpstr>
      <vt:lpstr>PowerPoint 프레젠테이션</vt:lpstr>
      <vt:lpstr>PowerPoint 프레젠테이션</vt:lpstr>
      <vt:lpstr>참고노트</vt:lpstr>
      <vt:lpstr>참고노트</vt:lpstr>
      <vt:lpstr>참고노트</vt:lpstr>
      <vt:lpstr>참고노트</vt:lpstr>
      <vt:lpstr>참고노트</vt:lpstr>
      <vt:lpstr>제148조, 제149조</vt:lpstr>
      <vt:lpstr>제139조</vt:lpstr>
      <vt:lpstr>제139조</vt:lpstr>
      <vt:lpstr>제139조</vt:lpstr>
      <vt:lpstr>제139조</vt:lpstr>
      <vt:lpstr>제135조</vt:lpstr>
      <vt:lpstr>제155조, 제156조</vt:lpstr>
      <vt:lpstr>제140조, 제140조의2</vt:lpstr>
      <vt:lpstr>제140조, 제140조의2</vt:lpstr>
      <vt:lpstr>제140조, 제140조의2</vt:lpstr>
      <vt:lpstr>제154조</vt:lpstr>
      <vt:lpstr>제154조</vt:lpstr>
      <vt:lpstr>제141조, 제142조</vt:lpstr>
      <vt:lpstr>제141조</vt:lpstr>
      <vt:lpstr>제154조</vt:lpstr>
      <vt:lpstr>제157조~제160조</vt:lpstr>
      <vt:lpstr>제159조</vt:lpstr>
      <vt:lpstr>제163조</vt:lpstr>
      <vt:lpstr>제163조</vt:lpstr>
      <vt:lpstr>제163조</vt:lpstr>
      <vt:lpstr>제163조</vt:lpstr>
      <vt:lpstr>제163조</vt:lpstr>
      <vt:lpstr>제163조</vt:lpstr>
      <vt:lpstr>제163조</vt:lpstr>
      <vt:lpstr>제170조</vt:lpstr>
      <vt:lpstr>제170조</vt:lpstr>
      <vt:lpstr>제170조</vt:lpstr>
      <vt:lpstr>제176조</vt:lpstr>
      <vt:lpstr>제133조</vt:lpstr>
      <vt:lpstr>제133조</vt:lpstr>
      <vt:lpstr>제133조</vt:lpstr>
      <vt:lpstr>제133조</vt:lpstr>
      <vt:lpstr>제133조</vt:lpstr>
      <vt:lpstr>제133조</vt:lpstr>
      <vt:lpstr>제133조</vt:lpstr>
      <vt:lpstr>참고노트</vt:lpstr>
      <vt:lpstr>참고노트</vt:lpstr>
      <vt:lpstr>제135조</vt:lpstr>
      <vt:lpstr>제135조</vt:lpstr>
      <vt:lpstr>제135조</vt:lpstr>
      <vt:lpstr>제135조</vt:lpstr>
      <vt:lpstr>제135조</vt:lpstr>
      <vt:lpstr>제135조</vt:lpstr>
      <vt:lpstr>제135조</vt:lpstr>
      <vt:lpstr>제135조</vt:lpstr>
      <vt:lpstr>제135조</vt:lpstr>
      <vt:lpstr>제135조</vt:lpstr>
      <vt:lpstr>제135조</vt:lpstr>
      <vt:lpstr>제135조</vt:lpstr>
      <vt:lpstr>제136조</vt:lpstr>
      <vt:lpstr>제136조</vt:lpstr>
      <vt:lpstr>제136조</vt:lpstr>
      <vt:lpstr>제136조</vt:lpstr>
      <vt:lpstr>제136조</vt:lpstr>
      <vt:lpstr>제136조</vt:lpstr>
      <vt:lpstr>제136조</vt:lpstr>
      <vt:lpstr>제136조</vt:lpstr>
      <vt:lpstr>제136조</vt:lpstr>
      <vt:lpstr>제136조</vt:lpstr>
      <vt:lpstr>제136조</vt:lpstr>
      <vt:lpstr>제136조</vt:lpstr>
      <vt:lpstr>제137조</vt:lpstr>
      <vt:lpstr>참고노트</vt:lpstr>
      <vt:lpstr>참고노트</vt:lpstr>
      <vt:lpstr>제132조의2~ 제132조의15</vt:lpstr>
      <vt:lpstr>제132조의2~ 제132조의15</vt:lpstr>
      <vt:lpstr>제132조의2~ 제132조의15</vt:lpstr>
      <vt:lpstr>제132조의2~ 제132조의15</vt:lpstr>
      <vt:lpstr>제132조의2~ 제132조의15</vt:lpstr>
      <vt:lpstr>제132조의2~ 제132조의15</vt:lpstr>
      <vt:lpstr>제132조의2~ 제132조의15</vt:lpstr>
      <vt:lpstr>제132조의2~ 제132조의15</vt:lpstr>
      <vt:lpstr>제132조의2~ 제132조의15</vt:lpstr>
      <vt:lpstr>제132조의2~ 제132조의15</vt:lpstr>
      <vt:lpstr>제132조의3,  제133조의2, 제137조</vt:lpstr>
      <vt:lpstr>제132조의3,  제133조의2, 제137조</vt:lpstr>
      <vt:lpstr>제132조의3,  제133조의2, 제137조</vt:lpstr>
      <vt:lpstr>제132조의3,  제133조의2, 제137조</vt:lpstr>
      <vt:lpstr>제132조의3,  제133조의2, 제137조</vt:lpstr>
      <vt:lpstr>참고노트</vt:lpstr>
      <vt:lpstr>참고노트</vt:lpstr>
      <vt:lpstr>참고노트</vt:lpstr>
      <vt:lpstr>제178조~제185조</vt:lpstr>
      <vt:lpstr>제178조~제185조</vt:lpstr>
      <vt:lpstr>제180조</vt:lpstr>
      <vt:lpstr>참고노트</vt:lpstr>
      <vt:lpstr>참고노트</vt:lpstr>
      <vt:lpstr>제186조</vt:lpstr>
      <vt:lpstr>제186조</vt:lpstr>
      <vt:lpstr>제186조</vt:lpstr>
      <vt:lpstr>제186조</vt:lpstr>
      <vt:lpstr>제187조</vt:lpstr>
      <vt:lpstr>제187조</vt:lpstr>
      <vt:lpstr>제187조</vt:lpstr>
      <vt:lpstr>제186조</vt:lpstr>
      <vt:lpstr>제186조</vt:lpstr>
      <vt:lpstr>제186조</vt:lpstr>
      <vt:lpstr>제186조</vt:lpstr>
      <vt:lpstr>제186조</vt:lpstr>
      <vt:lpstr>제186조</vt:lpstr>
      <vt:lpstr>제186조</vt:lpstr>
      <vt:lpstr>제186조</vt:lpstr>
      <vt:lpstr>제189조</vt:lpstr>
      <vt:lpstr>참고노트</vt:lpstr>
      <vt:lpstr>PowerPoint 프레젠테이션</vt:lpstr>
      <vt:lpstr>PowerPoint 프레젠테이션</vt:lpstr>
      <vt:lpstr>PowerPoint 프레젠테이션</vt:lpstr>
      <vt:lpstr>참고노트</vt:lpstr>
      <vt:lpstr>참고노트</vt:lpstr>
      <vt:lpstr>참고노트</vt:lpstr>
      <vt:lpstr>참고노트</vt:lpstr>
      <vt:lpstr>참고노트</vt:lpstr>
      <vt:lpstr>참고노트</vt:lpstr>
      <vt:lpstr>참고노트</vt:lpstr>
      <vt:lpstr>참고노트</vt:lpstr>
      <vt:lpstr>참고노트</vt:lpstr>
      <vt:lpstr>참고노트</vt:lpstr>
      <vt:lpstr>참고노트</vt:lpstr>
      <vt:lpstr>참고노트</vt:lpstr>
      <vt:lpstr>제192조~제214조</vt:lpstr>
      <vt:lpstr>참고노트</vt:lpstr>
      <vt:lpstr>제192조~제214조</vt:lpstr>
      <vt:lpstr>제192조~ 제198조의2</vt:lpstr>
      <vt:lpstr>제192조</vt:lpstr>
      <vt:lpstr>제193조</vt:lpstr>
      <vt:lpstr>제194조~제196조</vt:lpstr>
      <vt:lpstr>제198조의2</vt:lpstr>
      <vt:lpstr>제198조의2</vt:lpstr>
      <vt:lpstr>제198조의2</vt:lpstr>
      <vt:lpstr>제198조의2</vt:lpstr>
      <vt:lpstr>제199조</vt:lpstr>
      <vt:lpstr>제200조의2</vt:lpstr>
      <vt:lpstr>제201조</vt:lpstr>
      <vt:lpstr>제201조</vt:lpstr>
      <vt:lpstr>제201조</vt:lpstr>
      <vt:lpstr>제203조</vt:lpstr>
      <vt:lpstr>제209조, 제210조</vt:lpstr>
      <vt:lpstr>제209조, 제210조</vt:lpstr>
      <vt:lpstr>제204조, 제205조, 제208조</vt:lpstr>
      <vt:lpstr>제201조, 제204조</vt:lpstr>
      <vt:lpstr>제204조, 제205조</vt:lpstr>
      <vt:lpstr>제208조</vt:lpstr>
      <vt:lpstr>제201조</vt:lpstr>
      <vt:lpstr>제201조</vt:lpstr>
      <vt:lpstr>제29조제5항, 제7항</vt:lpstr>
      <vt:lpstr>제200조</vt:lpstr>
      <vt:lpstr>제202조</vt:lpstr>
      <vt:lpstr>제202조</vt:lpstr>
      <vt:lpstr>제202조</vt:lpstr>
      <vt:lpstr>제202조</vt:lpstr>
      <vt:lpstr>제202조</vt:lpstr>
      <vt:lpstr>제202조</vt:lpstr>
      <vt:lpstr>제202조</vt:lpstr>
      <vt:lpstr>제206조</vt:lpstr>
      <vt:lpstr>제207조</vt:lpstr>
      <vt:lpstr>제211조</vt:lpstr>
      <vt:lpstr>제214조</vt:lpstr>
      <vt:lpstr>참고노트</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(주)INVENSTOR</dc:title>
  <dc:creator>Windows 사용자</dc:creator>
  <cp:lastModifiedBy>병웅 임</cp:lastModifiedBy>
  <cp:revision>383</cp:revision>
  <cp:lastPrinted>2021-09-03T08:33:13Z</cp:lastPrinted>
  <dcterms:created xsi:type="dcterms:W3CDTF">2016-02-25T00:12:49Z</dcterms:created>
  <dcterms:modified xsi:type="dcterms:W3CDTF">2026-06-13T14:43:08Z</dcterms:modified>
</cp:coreProperties>
</file>